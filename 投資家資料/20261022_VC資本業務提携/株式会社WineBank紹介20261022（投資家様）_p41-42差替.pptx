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3" r:id="rId2"/>
  </p:sldMasterIdLst>
  <p:notesMasterIdLst>
    <p:notesMasterId r:id="rId23"/>
  </p:notesMasterIdLst>
  <p:sldIdLst>
    <p:sldId id="276" r:id="rId35"/>
    <p:sldId id="280" r:id="rId39"/>
  </p:sldIdLst>
  <p:sldSz cx="9144000" cy="5143500" type="screen16x9"/>
  <p:notesSz cx="6742113" cy="9875838"/>
  <p:embeddedFontLst>
    <p:embeddedFont>
      <p:font typeface="Zen Kaku Gothic New" panose="020B0600070205080204" charset="-128"/>
      <p:regular r:id="rId24"/>
      <p:bold r:id="rId25"/>
    </p:embeddedFont>
    <p:embeddedFont>
      <p:font typeface="Meiryo" panose="020B0604030504040204" pitchFamily="50" charset="-128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o14ScaGfOJJknOnZOEoEMxb95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1C9F7A-4671-4D9E-8BF7-E8BA0D29512F}">
  <a:tblStyle styleId="{EE1C9F7A-4671-4D9E-8BF7-E8BA0D29512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448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customschemas.google.com/relationships/presentationmetadata" Target="meta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1.xml"/><Relationship Id="rId39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4212" y="4691023"/>
            <a:ext cx="5393690" cy="444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2026/10/22：p.41で修正したセグメント営業利益（ワイン・WineTech 0.1/1.0/1.5/2.0、レストラン運営 1.3/1.0/1.0/1.0）を反映し、連結合計を再計算。時価総額をカンテサンスの有無で分けるため、含む・除くを別掲。数値は 組織再編_連結PL_2026-2029.xlsx（セグメント集計_含む除く）と一致。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2026/10/22：p.41のセグメント営業利益の修正を反映。連結営業利益はカンテサンス含む・除くを併記。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40a0e788958_0_229"/>
          <p:cNvSpPr txBox="1">
            <a:spLocks noGrp="1"/>
          </p:cNvSpPr>
          <p:nvPr>
            <p:ph type="ctrTitle"/>
          </p:nvPr>
        </p:nvSpPr>
        <p:spPr>
          <a:xfrm>
            <a:off x="685800" y="2263306"/>
            <a:ext cx="77724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40a0e788958_0_229"/>
          <p:cNvSpPr txBox="1">
            <a:spLocks noGrp="1"/>
          </p:cNvSpPr>
          <p:nvPr>
            <p:ph type="subTitle" idx="1"/>
          </p:nvPr>
        </p:nvSpPr>
        <p:spPr>
          <a:xfrm>
            <a:off x="1185221" y="3165752"/>
            <a:ext cx="68580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4" name="Google Shape;14;g40a0e788958_0_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88635" y="1526420"/>
            <a:ext cx="2550235" cy="69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g40a0e788958_0_229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g40a0e788958_0_229"/>
          <p:cNvSpPr txBox="1">
            <a:spLocks noGrp="1"/>
          </p:cNvSpPr>
          <p:nvPr>
            <p:ph type="sldNum" idx="12"/>
          </p:nvPr>
        </p:nvSpPr>
        <p:spPr>
          <a:xfrm>
            <a:off x="7020654" y="48376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17" name="Google Shape;17;g40a0e788958_0_229"/>
          <p:cNvCxnSpPr/>
          <p:nvPr/>
        </p:nvCxnSpPr>
        <p:spPr>
          <a:xfrm>
            <a:off x="4168702" y="2995442"/>
            <a:ext cx="726300" cy="0"/>
          </a:xfrm>
          <a:prstGeom prst="straightConnector1">
            <a:avLst/>
          </a:prstGeom>
          <a:noFill/>
          <a:ln w="76200" cap="flat" cmpd="sng">
            <a:solidFill>
              <a:srgbClr val="36394B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>
  <p:cSld name="1_タイトル スライド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40a0e788958_0_236"/>
          <p:cNvSpPr txBox="1">
            <a:spLocks noGrp="1"/>
          </p:cNvSpPr>
          <p:nvPr>
            <p:ph type="ctrTitle"/>
          </p:nvPr>
        </p:nvSpPr>
        <p:spPr>
          <a:xfrm>
            <a:off x="474697" y="166544"/>
            <a:ext cx="64686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40a0e788958_0_236"/>
          <p:cNvSpPr txBox="1">
            <a:spLocks noGrp="1"/>
          </p:cNvSpPr>
          <p:nvPr>
            <p:ph type="subTitle" idx="1"/>
          </p:nvPr>
        </p:nvSpPr>
        <p:spPr>
          <a:xfrm>
            <a:off x="1454334" y="1281395"/>
            <a:ext cx="6556500" cy="2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g40a0e788958_0_236"/>
          <p:cNvSpPr txBox="1">
            <a:spLocks noGrp="1"/>
          </p:cNvSpPr>
          <p:nvPr>
            <p:ph type="dt" idx="10"/>
          </p:nvPr>
        </p:nvSpPr>
        <p:spPr>
          <a:xfrm>
            <a:off x="18041" y="487089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40a0e788958_0_236"/>
          <p:cNvSpPr txBox="1">
            <a:spLocks noGrp="1"/>
          </p:cNvSpPr>
          <p:nvPr>
            <p:ph type="sldNum" idx="12"/>
          </p:nvPr>
        </p:nvSpPr>
        <p:spPr>
          <a:xfrm>
            <a:off x="7020654" y="48376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3" name="Google Shape;23;g40a0e788958_0_236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タイトル スライド">
  <p:cSld name="2_タイトル スライド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40a0e788958_0_242"/>
          <p:cNvSpPr txBox="1">
            <a:spLocks noGrp="1"/>
          </p:cNvSpPr>
          <p:nvPr>
            <p:ph type="ctrTitle"/>
          </p:nvPr>
        </p:nvSpPr>
        <p:spPr>
          <a:xfrm>
            <a:off x="199702" y="114790"/>
            <a:ext cx="87450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40a0e788958_0_242"/>
          <p:cNvSpPr txBox="1">
            <a:spLocks noGrp="1"/>
          </p:cNvSpPr>
          <p:nvPr>
            <p:ph type="subTitle" idx="1"/>
          </p:nvPr>
        </p:nvSpPr>
        <p:spPr>
          <a:xfrm>
            <a:off x="199704" y="806666"/>
            <a:ext cx="87450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g40a0e788958_0_242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g40a0e788958_0_2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747" y="4805186"/>
            <a:ext cx="1064290" cy="29050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g40a0e788958_0_242"/>
          <p:cNvSpPr txBox="1">
            <a:spLocks noGrp="1"/>
          </p:cNvSpPr>
          <p:nvPr>
            <p:ph type="dt" idx="10"/>
          </p:nvPr>
        </p:nvSpPr>
        <p:spPr>
          <a:xfrm>
            <a:off x="18041" y="487089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40a0e788958_0_242"/>
          <p:cNvSpPr txBox="1">
            <a:spLocks noGrp="1"/>
          </p:cNvSpPr>
          <p:nvPr>
            <p:ph type="sldNum" idx="12"/>
          </p:nvPr>
        </p:nvSpPr>
        <p:spPr>
          <a:xfrm>
            <a:off x="7020654" y="487277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1" name="Google Shape;31;g40a0e788958_0_242"/>
          <p:cNvSpPr txBox="1">
            <a:spLocks noGrp="1"/>
          </p:cNvSpPr>
          <p:nvPr>
            <p:ph type="ftr" idx="11"/>
          </p:nvPr>
        </p:nvSpPr>
        <p:spPr>
          <a:xfrm>
            <a:off x="3478808" y="4870894"/>
            <a:ext cx="157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40a0e788958_0_2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40a0e788958_0_25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40a0e788958_0_2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タイトル スライド">
  <p:cSld name="3_タイトル スライド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40a0e788958_0_254"/>
          <p:cNvSpPr txBox="1">
            <a:spLocks noGrp="1"/>
          </p:cNvSpPr>
          <p:nvPr>
            <p:ph type="ctrTitle"/>
          </p:nvPr>
        </p:nvSpPr>
        <p:spPr>
          <a:xfrm>
            <a:off x="474697" y="166544"/>
            <a:ext cx="45429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40a0e788958_0_254"/>
          <p:cNvSpPr txBox="1">
            <a:spLocks noGrp="1"/>
          </p:cNvSpPr>
          <p:nvPr>
            <p:ph type="subTitle" idx="1"/>
          </p:nvPr>
        </p:nvSpPr>
        <p:spPr>
          <a:xfrm>
            <a:off x="1265550" y="888463"/>
            <a:ext cx="6556500" cy="2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" name="Google Shape;39;g40a0e788958_0_254"/>
          <p:cNvSpPr txBox="1">
            <a:spLocks noGrp="1"/>
          </p:cNvSpPr>
          <p:nvPr>
            <p:ph type="dt" idx="10"/>
          </p:nvPr>
        </p:nvSpPr>
        <p:spPr>
          <a:xfrm>
            <a:off x="18041" y="487089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40a0e788958_0_254"/>
          <p:cNvSpPr txBox="1">
            <a:spLocks noGrp="1"/>
          </p:cNvSpPr>
          <p:nvPr>
            <p:ph type="ftr" idx="11"/>
          </p:nvPr>
        </p:nvSpPr>
        <p:spPr>
          <a:xfrm>
            <a:off x="3115851" y="4837601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40a0e788958_0_254"/>
          <p:cNvSpPr txBox="1">
            <a:spLocks noGrp="1"/>
          </p:cNvSpPr>
          <p:nvPr>
            <p:ph type="sldNum" idx="12"/>
          </p:nvPr>
        </p:nvSpPr>
        <p:spPr>
          <a:xfrm>
            <a:off x="7020654" y="48376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2" name="Google Shape;42;g40a0e788958_0_254"/>
          <p:cNvSpPr/>
          <p:nvPr/>
        </p:nvSpPr>
        <p:spPr>
          <a:xfrm>
            <a:off x="-408729" y="876770"/>
            <a:ext cx="306600" cy="797100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40a0e788958_0_254"/>
          <p:cNvSpPr/>
          <p:nvPr/>
        </p:nvSpPr>
        <p:spPr>
          <a:xfrm>
            <a:off x="-408730" y="3349355"/>
            <a:ext cx="285900" cy="797100"/>
          </a:xfrm>
          <a:prstGeom prst="rect">
            <a:avLst/>
          </a:prstGeom>
          <a:solidFill>
            <a:srgbClr val="E0D8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40a0e788958_0_254"/>
          <p:cNvSpPr/>
          <p:nvPr/>
        </p:nvSpPr>
        <p:spPr>
          <a:xfrm>
            <a:off x="-398285" y="1691350"/>
            <a:ext cx="285900" cy="803100"/>
          </a:xfrm>
          <a:prstGeom prst="rect">
            <a:avLst/>
          </a:prstGeom>
          <a:solidFill>
            <a:srgbClr val="AB8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40a0e788958_0_254"/>
          <p:cNvSpPr/>
          <p:nvPr/>
        </p:nvSpPr>
        <p:spPr>
          <a:xfrm>
            <a:off x="-410008" y="2529653"/>
            <a:ext cx="306600" cy="797100"/>
          </a:xfrm>
          <a:prstGeom prst="rect">
            <a:avLst/>
          </a:prstGeom>
          <a:solidFill>
            <a:srgbClr val="E5C4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40a0e788958_0_254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40a0e788958_0_254"/>
          <p:cNvSpPr/>
          <p:nvPr/>
        </p:nvSpPr>
        <p:spPr>
          <a:xfrm>
            <a:off x="-408730" y="53243"/>
            <a:ext cx="306600" cy="797100"/>
          </a:xfrm>
          <a:prstGeom prst="rect">
            <a:avLst/>
          </a:prstGeom>
          <a:solidFill>
            <a:srgbClr val="AF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40a0e788958_0_26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g40a0e788958_0_26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40a0e788958_0_26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40a0e788958_0_26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40a0e788958_0_26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40a0e788958_0_27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40a0e788958_0_272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g40a0e788958_0_2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40a0e788958_0_27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40a0e788958_0_27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0a0e788958_0_27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40a0e788958_0_27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40a0e788958_0_27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40a0e788958_0_27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40a0e788958_0_27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40a0e788958_0_2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0a0e788958_0_28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40a0e788958_0_28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g40a0e788958_0_28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40a0e788958_0_28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g40a0e788958_0_28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g40a0e788958_0_28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g40a0e788958_0_28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40a0e788958_0_28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0a0e788958_0_29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40a0e788958_0_29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40a0e788958_0_29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40a0e788958_0_29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0a0e788958_0_29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40a0e788958_0_299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4" name="Google Shape;84;g40a0e788958_0_29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g40a0e788958_0_29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40a0e788958_0_29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40a0e788958_0_29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0a0e788958_0_30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40a0e788958_0_306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g40a0e788958_0_30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g40a0e788958_0_30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40a0e788958_0_30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40a0e788958_0_30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0a0e788958_0_3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g40a0e788958_0_31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g40a0e788958_0_3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40a0e788958_0_3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40a0e788958_0_3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0a0e788958_0_319"/>
          <p:cNvSpPr txBox="1">
            <a:spLocks noGrp="1"/>
          </p:cNvSpPr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40a0e788958_0_319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g40a0e788958_0_3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40a0e788958_0_3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40a0e788958_0_3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6650" y="102393"/>
            <a:ext cx="1448976" cy="40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bg>
      <p:bgPr>
        <a:solidFill>
          <a:srgbClr val="36394B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 descr="株式会社WineBank (@WineBank_O) / X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-451045" y="-101772"/>
            <a:ext cx="5302422" cy="5302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cbfc3592e_0_1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34cbfc3592e_0_1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g34cbfc3592e_0_1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4cbfc3592e_0_1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4cbfc3592e_0_1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20e15c5e1_0_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f20e15c5e1_0_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g3f20e15c5e1_0_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e662f90c6_0_170"/>
          <p:cNvSpPr txBox="1">
            <a:spLocks noGrp="1"/>
          </p:cNvSpPr>
          <p:nvPr>
            <p:ph type="sldNum" idx="12"/>
          </p:nvPr>
        </p:nvSpPr>
        <p:spPr>
          <a:xfrm>
            <a:off x="8586476" y="4943097"/>
            <a:ext cx="5487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タイトル スライド">
  <p:cSld name="1_タイトル スライド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2af4871d9_0_308"/>
          <p:cNvSpPr txBox="1">
            <a:spLocks noGrp="1"/>
          </p:cNvSpPr>
          <p:nvPr>
            <p:ph type="subTitle" idx="1"/>
          </p:nvPr>
        </p:nvSpPr>
        <p:spPr>
          <a:xfrm>
            <a:off x="1371600" y="4245936"/>
            <a:ext cx="64008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g382af4871d9_0_308"/>
          <p:cNvSpPr/>
          <p:nvPr/>
        </p:nvSpPr>
        <p:spPr>
          <a:xfrm>
            <a:off x="0" y="1674421"/>
            <a:ext cx="9144000" cy="1329563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82af4871d9_0_30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theme" Target="../theme/theme2.xml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40a0e788958_0_2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40a0e788958_0_2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g40a0e788958_0_2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g40a0e788958_0_2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g40a0e788958_0_2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86650" y="102393"/>
            <a:ext cx="1448976" cy="407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Google Shape;232;g34a8cbec04a_0_0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ja"/>
              <a:t>2</a:t>
            </a:fld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ファインダイニング ～ビジネスモデルに伴う組織再編～</a:t>
            </a:r>
            <a:endParaRPr sz="1400"/>
          </a:p>
        </p:txBody>
      </p:sp>
      <p:sp>
        <p:nvSpPr>
          <p:cNvPr id="234" name="Rectangle 233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持分をWineBankへ集約し連結運営へ ― 連結売上 42億円（2026年度予算）→ 70億円（2029年度）</a:t>
            </a:r>
            <a:endParaRPr sz="1200"/>
          </a:p>
        </p:txBody>
      </p:sp>
      <p:sp>
        <p:nvSpPr>
          <p:cNvPr id="235" name="TextBox 234"/>
          <p:cNvSpPr txBox="1"/>
          <p:nvPr/>
        </p:nvSpPr>
        <p:spPr>
          <a:xfrm>
            <a:off x="274320" y="1088136"/>
            <a:ext cx="4023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株主：中野邦人／マネーフォワードVP／PrivateBANK／ベクトル／寺田倉庫 ほか</a:t>
            </a:r>
            <a:endParaRPr sz="650"/>
          </a:p>
        </p:txBody>
      </p:sp>
      <p:sp>
        <p:nvSpPr>
          <p:cNvPr id="236" name="Rectangle 235"/>
          <p:cNvSpPr/>
          <p:nvPr/>
        </p:nvSpPr>
        <p:spPr>
          <a:xfrm>
            <a:off x="274320" y="1280160"/>
            <a:ext cx="4023360" cy="512064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株式会社WineBank（親会社）</a:t>
            </a:r>
            <a:endParaRPr sz="900"/>
          </a:p>
          <a:p>
            <a:pPr algn="ctr">
              <a:lnSpc>
                <a:spcPct val="11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ワイン卸・EC ｜ WineTech（ファンド・ST・オークション）｜ ワインマイル ｜ WineBank CLUB</a:t>
            </a:r>
            <a:endParaRPr sz="900"/>
          </a:p>
        </p:txBody>
      </p:sp>
      <p:sp>
        <p:nvSpPr>
          <p:cNvPr id="237" name="TextBox 236"/>
          <p:cNvSpPr txBox="1"/>
          <p:nvPr/>
        </p:nvSpPr>
        <p:spPr>
          <a:xfrm>
            <a:off x="274320" y="1837943"/>
            <a:ext cx="4023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▼ 外部投資家以外の持分（中野個人保有分等）をWineBankへ譲渡・集約</a:t>
            </a:r>
            <a:endParaRPr sz="700"/>
          </a:p>
        </p:txBody>
      </p:sp>
      <p:cxnSp>
        <p:nvCxnSpPr>
          <p:cNvPr id="238" name="Connector 237"/>
          <p:cNvCxnSpPr/>
          <p:nvPr/>
        </p:nvCxnSpPr>
        <p:spPr>
          <a:xfrm>
            <a:off x="2286000" y="2020824"/>
            <a:ext cx="0" cy="73152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49808" y="2093976"/>
            <a:ext cx="3072383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49808" y="2093976"/>
            <a:ext cx="0" cy="6400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274320" y="2157984"/>
            <a:ext cx="950976" cy="219456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グランメゾン</a:t>
            </a:r>
            <a:endParaRPr sz="750"/>
          </a:p>
        </p:txBody>
      </p:sp>
      <p:sp>
        <p:nvSpPr>
          <p:cNvPr id="242" name="Rectangle 241"/>
          <p:cNvSpPr/>
          <p:nvPr/>
        </p:nvSpPr>
        <p:spPr>
          <a:xfrm>
            <a:off x="274320" y="243230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アピシウス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70%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銀座・創業41年</a:t>
            </a:r>
            <a:endParaRPr sz="900"/>
          </a:p>
        </p:txBody>
      </p:sp>
      <p:sp>
        <p:nvSpPr>
          <p:cNvPr id="243" name="Rectangle 242"/>
          <p:cNvSpPr/>
          <p:nvPr/>
        </p:nvSpPr>
        <p:spPr>
          <a:xfrm>
            <a:off x="274320" y="307238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カンテサンス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51%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SPC経由（外部49%）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三つ星／取得協議中</a:t>
            </a:r>
            <a:endParaRPr sz="900"/>
          </a:p>
        </p:txBody>
      </p:sp>
      <p:cxnSp>
        <p:nvCxnSpPr>
          <p:cNvPr id="244" name="Connector 243"/>
          <p:cNvCxnSpPr/>
          <p:nvPr/>
        </p:nvCxnSpPr>
        <p:spPr>
          <a:xfrm>
            <a:off x="1773936" y="2093976"/>
            <a:ext cx="0" cy="6400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Rectangle 244"/>
          <p:cNvSpPr/>
          <p:nvPr/>
        </p:nvSpPr>
        <p:spPr>
          <a:xfrm>
            <a:off x="1298448" y="2157984"/>
            <a:ext cx="950976" cy="219456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ブラッスリー</a:t>
            </a:r>
            <a:endParaRPr sz="750"/>
          </a:p>
        </p:txBody>
      </p:sp>
      <p:sp>
        <p:nvSpPr>
          <p:cNvPr id="246" name="Rectangle 245"/>
          <p:cNvSpPr/>
          <p:nvPr/>
        </p:nvSpPr>
        <p:spPr>
          <a:xfrm>
            <a:off x="1298448" y="243230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Brasserie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Thierry Marx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66.7%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外部投資家33.3%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2027年4月 六本木開業</a:t>
            </a:r>
            <a:endParaRPr sz="900"/>
          </a:p>
        </p:txBody>
      </p:sp>
      <p:sp>
        <p:nvSpPr>
          <p:cNvPr id="247" name="Rectangle 246"/>
          <p:cNvSpPr/>
          <p:nvPr/>
        </p:nvSpPr>
        <p:spPr>
          <a:xfrm>
            <a:off x="1298448" y="307238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ティエリーマルクス×TBS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ライセンス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サブライセンスで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WineBankが運営</a:t>
            </a:r>
            <a:endParaRPr sz="900"/>
          </a:p>
        </p:txBody>
      </p:sp>
      <p:cxnSp>
        <p:nvCxnSpPr>
          <p:cNvPr id="248" name="Connector 247"/>
          <p:cNvCxnSpPr/>
          <p:nvPr/>
        </p:nvCxnSpPr>
        <p:spPr>
          <a:xfrm>
            <a:off x="2798064" y="2093976"/>
            <a:ext cx="0" cy="6400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Rectangle 248"/>
          <p:cNvSpPr/>
          <p:nvPr/>
        </p:nvSpPr>
        <p:spPr>
          <a:xfrm>
            <a:off x="2322576" y="2157984"/>
            <a:ext cx="950976" cy="219456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レストラン運営</a:t>
            </a:r>
            <a:endParaRPr sz="750"/>
          </a:p>
        </p:txBody>
      </p:sp>
      <p:sp>
        <p:nvSpPr>
          <p:cNvPr id="250" name="Rectangle 249"/>
          <p:cNvSpPr/>
          <p:nvPr/>
        </p:nvSpPr>
        <p:spPr>
          <a:xfrm>
            <a:off x="2322576" y="243230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バリューキッチン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60%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Prime42・oto ほか</a:t>
            </a:r>
            <a:endParaRPr sz="900"/>
          </a:p>
        </p:txBody>
      </p:sp>
      <p:sp>
        <p:nvSpPr>
          <p:cNvPr id="251" name="Rectangle 250"/>
          <p:cNvSpPr/>
          <p:nvPr/>
        </p:nvSpPr>
        <p:spPr>
          <a:xfrm>
            <a:off x="2322576" y="307238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その他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60〜75%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飲食</a:t>
            </a:r>
            <a:endParaRPr sz="900"/>
          </a:p>
        </p:txBody>
      </p:sp>
      <p:cxnSp>
        <p:nvCxnSpPr>
          <p:cNvPr id="252" name="Connector 251"/>
          <p:cNvCxnSpPr/>
          <p:nvPr/>
        </p:nvCxnSpPr>
        <p:spPr>
          <a:xfrm>
            <a:off x="3822191" y="2093976"/>
            <a:ext cx="0" cy="6400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Rectangle 252"/>
          <p:cNvSpPr/>
          <p:nvPr/>
        </p:nvSpPr>
        <p:spPr>
          <a:xfrm>
            <a:off x="3346704" y="2157984"/>
            <a:ext cx="950976" cy="21945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持分法等（連結外）</a:t>
            </a:r>
            <a:endParaRPr sz="750"/>
          </a:p>
        </p:txBody>
      </p:sp>
      <p:sp>
        <p:nvSpPr>
          <p:cNvPr id="254" name="Rectangle 253"/>
          <p:cNvSpPr/>
          <p:nvPr/>
        </p:nvSpPr>
        <p:spPr>
          <a:xfrm>
            <a:off x="3346704" y="243230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あどばる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37%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ビジョングループ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（東証プライム）</a:t>
            </a:r>
            <a:endParaRPr sz="900"/>
          </a:p>
        </p:txBody>
      </p:sp>
      <p:sp>
        <p:nvSpPr>
          <p:cNvPr id="255" name="Rectangle 254"/>
          <p:cNvSpPr/>
          <p:nvPr/>
        </p:nvSpPr>
        <p:spPr>
          <a:xfrm>
            <a:off x="274320" y="3730752"/>
            <a:ext cx="4023360" cy="402336"/>
          </a:xfrm>
          <a:prstGeom prst="rect">
            <a:avLst/>
          </a:prstGeom>
          <a:solidFill>
            <a:srgbClr val="F3EDE6"/>
          </a:solidFill>
          <a:ln>
            <a:noFill/>
          </a:ln>
        </p:spPr>
        <p:txBody>
          <a:bodyPr rtlCol="0" anchor="ctr" wrap="square" tIns="18288" bIns="18288"/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WineBank → 各社　</a:t>
            </a:r>
            <a:r>
              <a:rPr sz="6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ワイン卸・経営指導・AM（カンテサンスSPC）</a:t>
            </a:r>
            <a:endParaRPr sz="650"/>
          </a:p>
          <a:p>
            <a:pPr algn="l">
              <a:lnSpc>
                <a:spcPct val="115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各社 → WineBank　</a:t>
            </a:r>
            <a:r>
              <a:rPr sz="6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ワイン代金・経営指導料・AM報酬／ライセンスフィー（TM）</a:t>
            </a:r>
            <a:endParaRPr sz="650"/>
          </a:p>
        </p:txBody>
      </p:sp>
      <p:sp>
        <p:nvSpPr>
          <p:cNvPr id="256" name="TextBox 255"/>
          <p:cNvSpPr txBox="1"/>
          <p:nvPr/>
        </p:nvSpPr>
        <p:spPr>
          <a:xfrm>
            <a:off x="4480560" y="1088136"/>
            <a:ext cx="4389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連結業績計画（億円）</a:t>
            </a:r>
            <a:endParaRPr sz="850"/>
          </a:p>
        </p:txBody>
      </p:sp>
      <p:graphicFrame>
        <p:nvGraphicFramePr>
          <p:cNvPr id="257" name="Table 256"/>
          <p:cNvGraphicFramePr>
            <a:graphicFrameLocks noGrp="1"/>
          </p:cNvGraphicFramePr>
          <p:nvPr/>
        </p:nvGraphicFramePr>
        <p:xfrm>
          <a:off x="4480560" y="1280160"/>
          <a:ext cx="4389120" cy="28895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24128"/>
                <a:gridCol w="585216"/>
                <a:gridCol w="694944"/>
                <a:gridCol w="694944"/>
                <a:gridCol w="694944"/>
                <a:gridCol w="694944"/>
              </a:tblGrid>
              <a:tr h="274320">
                <a:tc gridSpan="2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セグメント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2026年度</a:t>
                      </a:r>
                      <a:endParaRPr sz="800"/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（予算）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2027年度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2028年度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2029年度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182880">
                <a:tc row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ワイン・WineTech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売上高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11.7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12.7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13.8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 v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1.0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2.0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182880">
                <a:tc row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グランメゾン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売上高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17.7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18.2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18.8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19.4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 v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7.3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7.6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182880">
                <a:tc row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ブラッスリー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売上高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1.9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13.1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21.5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 v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0.2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182880">
                <a:tc row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レストラン運営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売上高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15.3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 v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1.3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1.0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1.0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1.0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192024">
                <a:tc gridSpan="2"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連結売上高（カンテサンス含む）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42.1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51.5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60.0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70.4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192024">
                <a:tc gridSpan="2"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連結営業利益（カンテサンス含む）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8.3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9.3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10.6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12.1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192024">
                <a:tc gridSpan="2"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連結売上高（カンテサンス除く）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31.6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40.7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48.8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58.8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</a:tr>
              <a:tr h="192024">
                <a:tc gridSpan="2"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連結営業利益（カンテサンス除く）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3.6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4.6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5.9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C68A65"/>
                    </a:solidFill>
                  </a:tcPr>
                </a:tc>
              </a:tr>
              <a:tr h="192024">
                <a:tc gridSpan="2"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（参考）持分按分後 営業利益　含む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6.6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</a:tr>
              <a:tr h="192024">
                <a:tc gridSpan="2"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（参考）持分按分後 営業利益　除く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1.9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3.6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4.6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</a:tr>
            </a:tbl>
          </a:graphicData>
        </a:graphic>
      </p:graphicFrame>
      <p:sp>
        <p:nvSpPr>
          <p:cNvPr id="258" name="TextBox 257"/>
          <p:cNvSpPr txBox="1"/>
          <p:nvPr/>
        </p:nvSpPr>
        <p:spPr>
          <a:xfrm>
            <a:off x="274320" y="4242816"/>
            <a:ext cx="8595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年度＝WineBank決算期（10月〜翌9月）。2026年度＝2027年9月期の予算。</a:t>
            </a:r>
            <a:r>
              <a:rPr sz="6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ワイン・WineTechとレストラン運営の営業利益は経営判断による修正値。億円未満を四捨五入しているため、内訳の和と合計は一致しない場合がある。</a:t>
            </a:r>
            <a:endParaRPr sz="600"/>
          </a:p>
          <a:p>
            <a:pPr algn="l">
              <a:lnSpc>
                <a:spcPct val="110000"/>
              </a:lnSpc>
            </a:pPr>
            <a:r>
              <a:rPr sz="6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カンテサンス（売上・営業利益、億円）：10.5・5.5／10.9・5.7／11.2・5.9／11.6・6.2。期初取得を仮定したプロフォーマ（IM計画値。取得後の報酬見直し等の改善と役員退職金等の一時費用は含まず）。決算期が異なる子会社は月割りで組替え。グループ内取引の消去は未反映（WineBankのグループ内コンサル料は消去済）。持分按分はアピシウス70%・カンテサンス51%・TM66.7%・バリューキッチン60%等。</a:t>
            </a:r>
            <a:endParaRPr sz="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Google Shape;232;g34a8cbec04a_0_0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ja"/>
              <a:t>2</a:t>
            </a:fld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中長期ロードマップ</a:t>
            </a:r>
            <a:endParaRPr sz="1400"/>
          </a:p>
        </p:txBody>
      </p:sp>
      <p:sp>
        <p:nvSpPr>
          <p:cNvPr id="234" name="Rectangle 233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グループ連結で売上70億円・営業利益12億円（2029年度）へ。IPOを見据えて体制を整備</a:t>
            </a:r>
            <a:endParaRPr sz="1200"/>
          </a:p>
        </p:txBody>
      </p:sp>
      <p:sp>
        <p:nvSpPr>
          <p:cNvPr id="235" name="Rectangle 234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solidFill>
            <a:srgbClr val="F3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11480" y="116128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成長戦略 PhaseⅠ</a:t>
            </a:r>
            <a:endParaRPr sz="750"/>
          </a:p>
        </p:txBody>
      </p:sp>
      <p:sp>
        <p:nvSpPr>
          <p:cNvPr id="237" name="TextBox 236"/>
          <p:cNvSpPr txBox="1"/>
          <p:nvPr/>
        </p:nvSpPr>
        <p:spPr>
          <a:xfrm>
            <a:off x="2514600" y="116128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成長戦略 PhaseⅠ</a:t>
            </a:r>
            <a:endParaRPr sz="750"/>
          </a:p>
        </p:txBody>
      </p:sp>
      <p:sp>
        <p:nvSpPr>
          <p:cNvPr id="238" name="TextBox 237"/>
          <p:cNvSpPr txBox="1"/>
          <p:nvPr/>
        </p:nvSpPr>
        <p:spPr>
          <a:xfrm>
            <a:off x="4617720" y="116128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成長戦略 PhaseⅡ</a:t>
            </a:r>
            <a:endParaRPr sz="750"/>
          </a:p>
        </p:txBody>
      </p:sp>
      <p:sp>
        <p:nvSpPr>
          <p:cNvPr id="239" name="TextBox 238"/>
          <p:cNvSpPr txBox="1"/>
          <p:nvPr/>
        </p:nvSpPr>
        <p:spPr>
          <a:xfrm>
            <a:off x="6720840" y="116128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成長戦略 PhaseⅡ</a:t>
            </a:r>
            <a:endParaRPr sz="750"/>
          </a:p>
        </p:txBody>
      </p:sp>
      <p:sp>
        <p:nvSpPr>
          <p:cNvPr id="240" name="Rectangle 239"/>
          <p:cNvSpPr/>
          <p:nvPr/>
        </p:nvSpPr>
        <p:spPr>
          <a:xfrm>
            <a:off x="411480" y="1463040"/>
            <a:ext cx="2011680" cy="384048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2026年度（予算）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2026/10〜2027/9</a:t>
            </a:r>
            <a:endParaRPr sz="900"/>
          </a:p>
        </p:txBody>
      </p:sp>
      <p:sp>
        <p:nvSpPr>
          <p:cNvPr id="241" name="Rectangle 240"/>
          <p:cNvSpPr/>
          <p:nvPr/>
        </p:nvSpPr>
        <p:spPr>
          <a:xfrm>
            <a:off x="411480" y="1883664"/>
            <a:ext cx="2011680" cy="1152144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21208" y="19385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連結売上高</a:t>
            </a:r>
            <a:endParaRPr sz="700"/>
          </a:p>
        </p:txBody>
      </p:sp>
      <p:sp>
        <p:nvSpPr>
          <p:cNvPr id="243" name="TextBox 242"/>
          <p:cNvSpPr txBox="1"/>
          <p:nvPr/>
        </p:nvSpPr>
        <p:spPr>
          <a:xfrm>
            <a:off x="521208" y="2084831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42.1</a:t>
            </a:r>
            <a:r>
              <a:rPr sz="9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endParaRPr sz="1000"/>
          </a:p>
        </p:txBody>
      </p:sp>
      <p:sp>
        <p:nvSpPr>
          <p:cNvPr id="244" name="TextBox 243"/>
          <p:cNvSpPr txBox="1"/>
          <p:nvPr/>
        </p:nvSpPr>
        <p:spPr>
          <a:xfrm>
            <a:off x="521208" y="2450592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連結営業利益（カンテサンス含む）</a:t>
            </a:r>
            <a:endParaRPr sz="700"/>
          </a:p>
        </p:txBody>
      </p:sp>
      <p:sp>
        <p:nvSpPr>
          <p:cNvPr id="245" name="TextBox 244"/>
          <p:cNvSpPr txBox="1"/>
          <p:nvPr/>
        </p:nvSpPr>
        <p:spPr>
          <a:xfrm>
            <a:off x="521208" y="2578608"/>
            <a:ext cx="1792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8.3</a:t>
            </a:r>
            <a:r>
              <a:rPr sz="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（19.6%）</a:t>
            </a:r>
            <a:endParaRPr sz="1000"/>
          </a:p>
        </p:txBody>
      </p:sp>
      <p:sp>
        <p:nvSpPr>
          <p:cNvPr id="246" name="TextBox 245"/>
          <p:cNvSpPr txBox="1"/>
          <p:nvPr/>
        </p:nvSpPr>
        <p:spPr>
          <a:xfrm>
            <a:off x="521208" y="28529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カンテサンス除く　</a:t>
            </a:r>
            <a:r>
              <a:rPr sz="1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2.8</a:t>
            </a:r>
            <a:r>
              <a:rPr sz="7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6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（8.8%）</a:t>
            </a:r>
            <a:endParaRPr sz="1000"/>
          </a:p>
        </p:txBody>
      </p:sp>
      <p:sp>
        <p:nvSpPr>
          <p:cNvPr id="247" name="Rectangle 246"/>
          <p:cNvSpPr/>
          <p:nvPr/>
        </p:nvSpPr>
        <p:spPr>
          <a:xfrm>
            <a:off x="411480" y="3108960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11480" y="3108960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21208" y="3118103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持分集約による組織再編</a:t>
            </a:r>
            <a:endParaRPr sz="700"/>
          </a:p>
        </p:txBody>
      </p:sp>
      <p:sp>
        <p:nvSpPr>
          <p:cNvPr id="250" name="Rectangle 249"/>
          <p:cNvSpPr/>
          <p:nvPr/>
        </p:nvSpPr>
        <p:spPr>
          <a:xfrm>
            <a:off x="411480" y="3419856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11480" y="3419856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21208" y="3428999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カンテサンス取得（予定）</a:t>
            </a:r>
            <a:endParaRPr sz="700"/>
          </a:p>
        </p:txBody>
      </p:sp>
      <p:sp>
        <p:nvSpPr>
          <p:cNvPr id="253" name="Rectangle 252"/>
          <p:cNvSpPr/>
          <p:nvPr/>
        </p:nvSpPr>
        <p:spPr>
          <a:xfrm>
            <a:off x="411480" y="3730752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11480" y="3730752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521208" y="3739896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Brasserie Thierry Marx</a:t>
            </a:r>
            <a:endParaRPr sz="700"/>
          </a:p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六本木開業（2027年4月）</a:t>
            </a:r>
            <a:endParaRPr sz="700"/>
          </a:p>
        </p:txBody>
      </p:sp>
      <p:sp>
        <p:nvSpPr>
          <p:cNvPr id="256" name="Rectangle 255"/>
          <p:cNvSpPr/>
          <p:nvPr/>
        </p:nvSpPr>
        <p:spPr>
          <a:xfrm>
            <a:off x="411480" y="4041648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411480" y="4041648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521208" y="4050791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WineBank Auction（WEB）</a:t>
            </a:r>
            <a:endParaRPr sz="700"/>
          </a:p>
        </p:txBody>
      </p:sp>
      <p:sp>
        <p:nvSpPr>
          <p:cNvPr id="259" name="Rectangle 258"/>
          <p:cNvSpPr/>
          <p:nvPr/>
        </p:nvSpPr>
        <p:spPr>
          <a:xfrm>
            <a:off x="2514600" y="1463040"/>
            <a:ext cx="2011680" cy="384048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2027年度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2027/10〜2028/9</a:t>
            </a:r>
            <a:endParaRPr sz="900"/>
          </a:p>
        </p:txBody>
      </p:sp>
      <p:sp>
        <p:nvSpPr>
          <p:cNvPr id="260" name="Rectangle 259"/>
          <p:cNvSpPr/>
          <p:nvPr/>
        </p:nvSpPr>
        <p:spPr>
          <a:xfrm>
            <a:off x="2514600" y="1883664"/>
            <a:ext cx="2011680" cy="1152144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2624328" y="19385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連結売上高</a:t>
            </a:r>
            <a:endParaRPr sz="700"/>
          </a:p>
        </p:txBody>
      </p:sp>
      <p:sp>
        <p:nvSpPr>
          <p:cNvPr id="262" name="TextBox 261"/>
          <p:cNvSpPr txBox="1"/>
          <p:nvPr/>
        </p:nvSpPr>
        <p:spPr>
          <a:xfrm>
            <a:off x="2624328" y="2084831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51.5</a:t>
            </a:r>
            <a:r>
              <a:rPr sz="9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endParaRPr sz="1000"/>
          </a:p>
        </p:txBody>
      </p:sp>
      <p:sp>
        <p:nvSpPr>
          <p:cNvPr id="263" name="TextBox 262"/>
          <p:cNvSpPr txBox="1"/>
          <p:nvPr/>
        </p:nvSpPr>
        <p:spPr>
          <a:xfrm>
            <a:off x="2624328" y="2450592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連結営業利益（カンテサンス含む）</a:t>
            </a:r>
            <a:endParaRPr sz="700"/>
          </a:p>
        </p:txBody>
      </p:sp>
      <p:sp>
        <p:nvSpPr>
          <p:cNvPr id="264" name="TextBox 263"/>
          <p:cNvSpPr txBox="1"/>
          <p:nvPr/>
        </p:nvSpPr>
        <p:spPr>
          <a:xfrm>
            <a:off x="2624328" y="2578608"/>
            <a:ext cx="1792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9.3</a:t>
            </a:r>
            <a:r>
              <a:rPr sz="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（18.1%）</a:t>
            </a:r>
            <a:endParaRPr sz="1000"/>
          </a:p>
        </p:txBody>
      </p:sp>
      <p:sp>
        <p:nvSpPr>
          <p:cNvPr id="265" name="TextBox 264"/>
          <p:cNvSpPr txBox="1"/>
          <p:nvPr/>
        </p:nvSpPr>
        <p:spPr>
          <a:xfrm>
            <a:off x="2624328" y="28529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カンテサンス除く　</a:t>
            </a:r>
            <a:r>
              <a:rPr sz="1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3.6</a:t>
            </a:r>
            <a:r>
              <a:rPr sz="7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6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（8.9%）</a:t>
            </a:r>
            <a:endParaRPr sz="1000"/>
          </a:p>
        </p:txBody>
      </p:sp>
      <p:sp>
        <p:nvSpPr>
          <p:cNvPr id="266" name="Rectangle 265"/>
          <p:cNvSpPr/>
          <p:nvPr/>
        </p:nvSpPr>
        <p:spPr>
          <a:xfrm>
            <a:off x="2514600" y="3108960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514600" y="3108960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2624328" y="3118103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ワインマイル本格展開</a:t>
            </a:r>
            <a:endParaRPr sz="700"/>
          </a:p>
        </p:txBody>
      </p:sp>
      <p:sp>
        <p:nvSpPr>
          <p:cNvPr id="269" name="Rectangle 268"/>
          <p:cNvSpPr/>
          <p:nvPr/>
        </p:nvSpPr>
        <p:spPr>
          <a:xfrm>
            <a:off x="2514600" y="3419856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2514600" y="3419856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2624328" y="3428999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私募ファンド・オークション</a:t>
            </a:r>
            <a:endParaRPr sz="700"/>
          </a:p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年3億円規模</a:t>
            </a:r>
            <a:endParaRPr sz="700"/>
          </a:p>
        </p:txBody>
      </p:sp>
      <p:sp>
        <p:nvSpPr>
          <p:cNvPr id="272" name="Rectangle 271"/>
          <p:cNvSpPr/>
          <p:nvPr/>
        </p:nvSpPr>
        <p:spPr>
          <a:xfrm>
            <a:off x="2514600" y="3730752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2514600" y="3730752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624328" y="3739896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Thierry Marx 札幌・大阪（2028年）</a:t>
            </a:r>
            <a:endParaRPr sz="700"/>
          </a:p>
        </p:txBody>
      </p:sp>
      <p:sp>
        <p:nvSpPr>
          <p:cNvPr id="275" name="Rectangle 274"/>
          <p:cNvSpPr/>
          <p:nvPr/>
        </p:nvSpPr>
        <p:spPr>
          <a:xfrm>
            <a:off x="4617720" y="1463040"/>
            <a:ext cx="2011680" cy="384048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2028年度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2028/10〜2029/9</a:t>
            </a:r>
            <a:endParaRPr sz="900"/>
          </a:p>
        </p:txBody>
      </p:sp>
      <p:sp>
        <p:nvSpPr>
          <p:cNvPr id="276" name="Rectangle 275"/>
          <p:cNvSpPr/>
          <p:nvPr/>
        </p:nvSpPr>
        <p:spPr>
          <a:xfrm>
            <a:off x="4617720" y="1883664"/>
            <a:ext cx="2011680" cy="1152144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4727448" y="19385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連結売上高</a:t>
            </a:r>
            <a:endParaRPr sz="700"/>
          </a:p>
        </p:txBody>
      </p:sp>
      <p:sp>
        <p:nvSpPr>
          <p:cNvPr id="278" name="TextBox 277"/>
          <p:cNvSpPr txBox="1"/>
          <p:nvPr/>
        </p:nvSpPr>
        <p:spPr>
          <a:xfrm>
            <a:off x="4727448" y="2084831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60.0</a:t>
            </a:r>
            <a:r>
              <a:rPr sz="9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endParaRPr sz="1000"/>
          </a:p>
        </p:txBody>
      </p:sp>
      <p:sp>
        <p:nvSpPr>
          <p:cNvPr id="279" name="TextBox 278"/>
          <p:cNvSpPr txBox="1"/>
          <p:nvPr/>
        </p:nvSpPr>
        <p:spPr>
          <a:xfrm>
            <a:off x="4727448" y="2450592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連結営業利益（カンテサンス含む）</a:t>
            </a:r>
            <a:endParaRPr sz="700"/>
          </a:p>
        </p:txBody>
      </p:sp>
      <p:sp>
        <p:nvSpPr>
          <p:cNvPr id="280" name="TextBox 279"/>
          <p:cNvSpPr txBox="1"/>
          <p:nvPr/>
        </p:nvSpPr>
        <p:spPr>
          <a:xfrm>
            <a:off x="4727448" y="2578608"/>
            <a:ext cx="1792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10.6</a:t>
            </a:r>
            <a:r>
              <a:rPr sz="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（17.6%）</a:t>
            </a:r>
            <a:endParaRPr sz="1000"/>
          </a:p>
        </p:txBody>
      </p:sp>
      <p:sp>
        <p:nvSpPr>
          <p:cNvPr id="281" name="TextBox 280"/>
          <p:cNvSpPr txBox="1"/>
          <p:nvPr/>
        </p:nvSpPr>
        <p:spPr>
          <a:xfrm>
            <a:off x="4727448" y="28529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カンテサンス除く　</a:t>
            </a:r>
            <a:r>
              <a:rPr sz="1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4.6</a:t>
            </a:r>
            <a:r>
              <a:rPr sz="7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6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（9.5%）</a:t>
            </a:r>
            <a:endParaRPr sz="1000"/>
          </a:p>
        </p:txBody>
      </p:sp>
      <p:sp>
        <p:nvSpPr>
          <p:cNvPr id="282" name="Rectangle 281"/>
          <p:cNvSpPr/>
          <p:nvPr/>
        </p:nvSpPr>
        <p:spPr>
          <a:xfrm>
            <a:off x="4617720" y="3108960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4617720" y="3108960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4727448" y="3118103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Thierry Marx 首都圏・</a:t>
            </a:r>
            <a:endParaRPr sz="700"/>
          </a:p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政令指定都市（2029年）</a:t>
            </a:r>
            <a:endParaRPr sz="700"/>
          </a:p>
        </p:txBody>
      </p:sp>
      <p:sp>
        <p:nvSpPr>
          <p:cNvPr id="285" name="Rectangle 284"/>
          <p:cNvSpPr/>
          <p:nvPr/>
        </p:nvSpPr>
        <p:spPr>
          <a:xfrm>
            <a:off x="4617720" y="3419856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4617720" y="3419856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4727448" y="3428999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ワインマイル会員100名超</a:t>
            </a:r>
            <a:endParaRPr sz="700"/>
          </a:p>
        </p:txBody>
      </p:sp>
      <p:sp>
        <p:nvSpPr>
          <p:cNvPr id="288" name="Rectangle 287"/>
          <p:cNvSpPr/>
          <p:nvPr/>
        </p:nvSpPr>
        <p:spPr>
          <a:xfrm>
            <a:off x="4617720" y="3730752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4617720" y="3730752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727448" y="3739896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オークション C2C・海外展開</a:t>
            </a:r>
            <a:endParaRPr sz="700"/>
          </a:p>
        </p:txBody>
      </p:sp>
      <p:sp>
        <p:nvSpPr>
          <p:cNvPr id="291" name="Rectangle 290"/>
          <p:cNvSpPr/>
          <p:nvPr/>
        </p:nvSpPr>
        <p:spPr>
          <a:xfrm>
            <a:off x="6720840" y="1463040"/>
            <a:ext cx="2011680" cy="384048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2029年度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2029/10〜2030/9</a:t>
            </a:r>
            <a:endParaRPr sz="900"/>
          </a:p>
        </p:txBody>
      </p:sp>
      <p:sp>
        <p:nvSpPr>
          <p:cNvPr id="292" name="Rectangle 291"/>
          <p:cNvSpPr/>
          <p:nvPr/>
        </p:nvSpPr>
        <p:spPr>
          <a:xfrm>
            <a:off x="6720840" y="1883664"/>
            <a:ext cx="2011680" cy="1152144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6830568" y="19385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連結売上高</a:t>
            </a:r>
            <a:endParaRPr sz="700"/>
          </a:p>
        </p:txBody>
      </p:sp>
      <p:sp>
        <p:nvSpPr>
          <p:cNvPr id="294" name="TextBox 293"/>
          <p:cNvSpPr txBox="1"/>
          <p:nvPr/>
        </p:nvSpPr>
        <p:spPr>
          <a:xfrm>
            <a:off x="6830568" y="2084831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70.4</a:t>
            </a:r>
            <a:r>
              <a:rPr sz="9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endParaRPr sz="1000"/>
          </a:p>
        </p:txBody>
      </p:sp>
      <p:sp>
        <p:nvSpPr>
          <p:cNvPr id="295" name="TextBox 294"/>
          <p:cNvSpPr txBox="1"/>
          <p:nvPr/>
        </p:nvSpPr>
        <p:spPr>
          <a:xfrm>
            <a:off x="6830568" y="2450592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連結営業利益（カンテサンス含む）</a:t>
            </a:r>
            <a:endParaRPr sz="700"/>
          </a:p>
        </p:txBody>
      </p:sp>
      <p:sp>
        <p:nvSpPr>
          <p:cNvPr id="296" name="TextBox 295"/>
          <p:cNvSpPr txBox="1"/>
          <p:nvPr/>
        </p:nvSpPr>
        <p:spPr>
          <a:xfrm>
            <a:off x="6830568" y="2578608"/>
            <a:ext cx="1792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12.1</a:t>
            </a:r>
            <a:r>
              <a:rPr sz="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（17.1%）</a:t>
            </a:r>
            <a:endParaRPr sz="1000"/>
          </a:p>
        </p:txBody>
      </p:sp>
      <p:sp>
        <p:nvSpPr>
          <p:cNvPr id="297" name="TextBox 296"/>
          <p:cNvSpPr txBox="1"/>
          <p:nvPr/>
        </p:nvSpPr>
        <p:spPr>
          <a:xfrm>
            <a:off x="6830568" y="28529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カンテサンス除く　</a:t>
            </a:r>
            <a:r>
              <a:rPr sz="1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5.9</a:t>
            </a:r>
            <a:r>
              <a:rPr sz="7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6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（10.0%）</a:t>
            </a:r>
            <a:endParaRPr sz="1000"/>
          </a:p>
        </p:txBody>
      </p:sp>
      <p:sp>
        <p:nvSpPr>
          <p:cNvPr id="298" name="Rectangle 297"/>
          <p:cNvSpPr/>
          <p:nvPr/>
        </p:nvSpPr>
        <p:spPr>
          <a:xfrm>
            <a:off x="6720840" y="3108960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6720840" y="3108960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6830568" y="3118103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Thierry Marx リゾート含め</a:t>
            </a:r>
            <a:endParaRPr sz="700"/>
          </a:p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年2店舗（2030年〜）</a:t>
            </a:r>
            <a:endParaRPr sz="700"/>
          </a:p>
        </p:txBody>
      </p:sp>
      <p:sp>
        <p:nvSpPr>
          <p:cNvPr id="301" name="Rectangle 300"/>
          <p:cNvSpPr/>
          <p:nvPr/>
        </p:nvSpPr>
        <p:spPr>
          <a:xfrm>
            <a:off x="6720840" y="3419856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6720840" y="3419856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6830568" y="3428999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国内オーベルジュ着手</a:t>
            </a:r>
            <a:endParaRPr sz="700"/>
          </a:p>
        </p:txBody>
      </p:sp>
      <p:sp>
        <p:nvSpPr>
          <p:cNvPr id="304" name="Rectangle 303"/>
          <p:cNvSpPr/>
          <p:nvPr/>
        </p:nvSpPr>
        <p:spPr>
          <a:xfrm>
            <a:off x="6720840" y="3730752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6720840" y="3730752"/>
            <a:ext cx="45720" cy="27432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830568" y="3739896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IPOへ</a:t>
            </a:r>
            <a:endParaRPr sz="700"/>
          </a:p>
        </p:txBody>
      </p:sp>
      <p:sp>
        <p:nvSpPr>
          <p:cNvPr id="307" name="TextBox 306"/>
          <p:cNvSpPr txBox="1"/>
          <p:nvPr/>
        </p:nvSpPr>
        <p:spPr>
          <a:xfrm>
            <a:off x="2423160" y="2194560"/>
            <a:ext cx="91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▶</a:t>
            </a:r>
            <a:endParaRPr sz="1000"/>
          </a:p>
        </p:txBody>
      </p:sp>
      <p:sp>
        <p:nvSpPr>
          <p:cNvPr id="308" name="TextBox 307"/>
          <p:cNvSpPr txBox="1"/>
          <p:nvPr/>
        </p:nvSpPr>
        <p:spPr>
          <a:xfrm>
            <a:off x="4526280" y="2194560"/>
            <a:ext cx="91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▶</a:t>
            </a:r>
            <a:endParaRPr sz="1000"/>
          </a:p>
        </p:txBody>
      </p:sp>
      <p:sp>
        <p:nvSpPr>
          <p:cNvPr id="309" name="TextBox 308"/>
          <p:cNvSpPr txBox="1"/>
          <p:nvPr/>
        </p:nvSpPr>
        <p:spPr>
          <a:xfrm>
            <a:off x="6629400" y="2194560"/>
            <a:ext cx="91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▶</a:t>
            </a:r>
            <a:endParaRPr sz="1000"/>
          </a:p>
        </p:txBody>
      </p:sp>
      <p:sp>
        <p:nvSpPr>
          <p:cNvPr id="310" name="TextBox 309"/>
          <p:cNvSpPr txBox="1"/>
          <p:nvPr/>
        </p:nvSpPr>
        <p:spPr>
          <a:xfrm>
            <a:off x="411480" y="4407408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3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数値は組織再編後のプロフォーマ（ファインダイニング～組織再編～の頁を参照）。年度＝WineBank決算期（10月〜翌9月）。カンテサンスは期初取得を仮定し、取得しない場合を「カンテサンス除く」として併記。</a:t>
            </a:r>
            <a:endParaRPr sz="6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ユーザー定義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E99C93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9972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2202</Words>
  <Application>Microsoft Office PowerPoint</Application>
  <PresentationFormat>画面に合わせる (16:9)</PresentationFormat>
  <Paragraphs>324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20</vt:i4>
      </vt:variant>
    </vt:vector>
  </HeadingPairs>
  <TitlesOfParts>
    <vt:vector size="28" baseType="lpstr">
      <vt:lpstr>Zen Kaku Gothic New</vt:lpstr>
      <vt:lpstr>MS PGothic</vt:lpstr>
      <vt:lpstr>Arial</vt:lpstr>
      <vt:lpstr>Times New Roman</vt:lpstr>
      <vt:lpstr>Meiryo</vt:lpstr>
      <vt:lpstr>Calibri</vt:lpstr>
      <vt:lpstr>Office テーマ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戸髙薫</dc:creator>
  <cp:lastModifiedBy>Kunihito Nakano</cp:lastModifiedBy>
  <cp:revision>1</cp:revision>
  <dcterms:modified xsi:type="dcterms:W3CDTF">2026-09-27T13:28:44Z</dcterms:modified>
</cp:coreProperties>
</file>