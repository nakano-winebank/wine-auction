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3" r:id="rId2"/>
  </p:sldMasterIdLst>
  <p:notesMasterIdLst>
    <p:notesMasterId r:id="rId23"/>
  </p:notesMasterIdLst>
  <p:sldIdLst>
    <p:sldId id="276" r:id="rId35"/>
    <p:sldId id="277" r:id="rId36"/>
    <p:sldId id="278" r:id="rId37"/>
    <p:sldId id="279" r:id="rId38"/>
    <p:sldId id="280" r:id="rId39"/>
  </p:sldIdLst>
  <p:sldSz cx="9144000" cy="5143500" type="screen16x9"/>
  <p:notesSz cx="6742113" cy="9875838"/>
  <p:embeddedFontLst>
    <p:embeddedFont>
      <p:font typeface="Zen Kaku Gothic New" panose="020B0600070205080204" charset="-128"/>
      <p:regular r:id="rId24"/>
      <p:bold r:id="rId25"/>
    </p:embeddedFont>
    <p:embeddedFont>
      <p:font typeface="Meiryo" panose="020B0604030504040204" pitchFamily="50" charset="-128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ho14ScaGfOJJknOnZOEoEMxb95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E1C9F7A-4671-4D9E-8BF7-E8BA0D29512F}">
  <a:tblStyle styleId="{EE1C9F7A-4671-4D9E-8BF7-E8BA0D29512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44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font" Target="fonts/font5.fntdata"/><Relationship Id="rId29" Type="http://schemas.openxmlformats.org/officeDocument/2006/relationships/font" Target="fonts/font6.fntdata"/><Relationship Id="rId30" Type="http://customschemas.google.com/relationships/presentationmetadata" Target="meta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0963" y="741363"/>
            <a:ext cx="6580187" cy="37020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4212" y="4691023"/>
            <a:ext cx="5393690" cy="444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元のp.34（売上4⇒30億・スキーム図追加予定）の差替。外部投資家以外の持分をWineBankへ集約した後の連結PL。数値は 組織再編_連結PL_2026-2029.xlsx と一致。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出所：WineBank_ワインマイル経済圏構想_20260929（レートカード・法務整理）、ワインマイル3か年PL（9/2版）を最新レートカードで再計算した値（参考_ワインマイル3か年PL_最新レートカード再計算.xlsx）。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元のp.44（WineBank単体 売上11→17→25億円・レストラン売上30→40→50億円）を、組織再編後のグループ連結数値に置き換えた。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40a0e788958_0_229"/>
          <p:cNvSpPr txBox="1">
            <a:spLocks noGrp="1"/>
          </p:cNvSpPr>
          <p:nvPr>
            <p:ph type="ctrTitle"/>
          </p:nvPr>
        </p:nvSpPr>
        <p:spPr>
          <a:xfrm>
            <a:off x="685800" y="2263306"/>
            <a:ext cx="77724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40a0e788958_0_229"/>
          <p:cNvSpPr txBox="1">
            <a:spLocks noGrp="1"/>
          </p:cNvSpPr>
          <p:nvPr>
            <p:ph type="subTitle" idx="1"/>
          </p:nvPr>
        </p:nvSpPr>
        <p:spPr>
          <a:xfrm>
            <a:off x="1185221" y="3165752"/>
            <a:ext cx="6858000" cy="5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4" name="Google Shape;14;g40a0e788958_0_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88635" y="1526420"/>
            <a:ext cx="2550235" cy="69611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g40a0e788958_0_229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g40a0e788958_0_229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17" name="Google Shape;17;g40a0e788958_0_229"/>
          <p:cNvCxnSpPr/>
          <p:nvPr/>
        </p:nvCxnSpPr>
        <p:spPr>
          <a:xfrm>
            <a:off x="4168702" y="2995442"/>
            <a:ext cx="726300" cy="0"/>
          </a:xfrm>
          <a:prstGeom prst="straightConnector1">
            <a:avLst/>
          </a:prstGeom>
          <a:noFill/>
          <a:ln w="76200" cap="flat" cmpd="sng">
            <a:solidFill>
              <a:srgbClr val="36394B"/>
            </a:solidFill>
            <a:prstDash val="solid"/>
            <a:miter lim="8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タイトル スライド">
  <p:cSld name="1_タイトル スライド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40a0e788958_0_236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64686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40a0e788958_0_236"/>
          <p:cNvSpPr txBox="1">
            <a:spLocks noGrp="1"/>
          </p:cNvSpPr>
          <p:nvPr>
            <p:ph type="subTitle" idx="1"/>
          </p:nvPr>
        </p:nvSpPr>
        <p:spPr>
          <a:xfrm>
            <a:off x="1454334" y="1281395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g40a0e788958_0_236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40a0e788958_0_236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3" name="Google Shape;23;g40a0e788958_0_236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タイトル スライド">
  <p:cSld name="2_タイトル スライド">
    <p:bg>
      <p:bgPr>
        <a:solidFill>
          <a:schemeClr val="lt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40a0e788958_0_242"/>
          <p:cNvSpPr txBox="1">
            <a:spLocks noGrp="1"/>
          </p:cNvSpPr>
          <p:nvPr>
            <p:ph type="ctrTitle"/>
          </p:nvPr>
        </p:nvSpPr>
        <p:spPr>
          <a:xfrm>
            <a:off x="199702" y="114790"/>
            <a:ext cx="8745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40a0e788958_0_242"/>
          <p:cNvSpPr txBox="1">
            <a:spLocks noGrp="1"/>
          </p:cNvSpPr>
          <p:nvPr>
            <p:ph type="subTitle" idx="1"/>
          </p:nvPr>
        </p:nvSpPr>
        <p:spPr>
          <a:xfrm>
            <a:off x="199704" y="806666"/>
            <a:ext cx="8745000" cy="35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g40a0e788958_0_242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g40a0e788958_0_2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3747" y="4805186"/>
            <a:ext cx="1064290" cy="29050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40a0e788958_0_242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40a0e788958_0_242"/>
          <p:cNvSpPr txBox="1">
            <a:spLocks noGrp="1"/>
          </p:cNvSpPr>
          <p:nvPr>
            <p:ph type="sldNum" idx="12"/>
          </p:nvPr>
        </p:nvSpPr>
        <p:spPr>
          <a:xfrm>
            <a:off x="7020654" y="4872770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31" name="Google Shape;31;g40a0e788958_0_242"/>
          <p:cNvSpPr txBox="1">
            <a:spLocks noGrp="1"/>
          </p:cNvSpPr>
          <p:nvPr>
            <p:ph type="ftr" idx="11"/>
          </p:nvPr>
        </p:nvSpPr>
        <p:spPr>
          <a:xfrm>
            <a:off x="3478808" y="4870894"/>
            <a:ext cx="1575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40a0e788958_0_25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40a0e788958_0_25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40a0e788958_0_25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タイトル スライド">
  <p:cSld name="3_タイトル スライド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40a0e788958_0_254"/>
          <p:cNvSpPr txBox="1">
            <a:spLocks noGrp="1"/>
          </p:cNvSpPr>
          <p:nvPr>
            <p:ph type="ctrTitle"/>
          </p:nvPr>
        </p:nvSpPr>
        <p:spPr>
          <a:xfrm>
            <a:off x="474697" y="166544"/>
            <a:ext cx="45429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40a0e788958_0_254"/>
          <p:cNvSpPr txBox="1">
            <a:spLocks noGrp="1"/>
          </p:cNvSpPr>
          <p:nvPr>
            <p:ph type="subTitle" idx="1"/>
          </p:nvPr>
        </p:nvSpPr>
        <p:spPr>
          <a:xfrm>
            <a:off x="1265550" y="888463"/>
            <a:ext cx="6556500" cy="244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9" name="Google Shape;39;g40a0e788958_0_254"/>
          <p:cNvSpPr txBox="1">
            <a:spLocks noGrp="1"/>
          </p:cNvSpPr>
          <p:nvPr>
            <p:ph type="dt" idx="10"/>
          </p:nvPr>
        </p:nvSpPr>
        <p:spPr>
          <a:xfrm>
            <a:off x="18041" y="487089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40a0e788958_0_254"/>
          <p:cNvSpPr txBox="1">
            <a:spLocks noGrp="1"/>
          </p:cNvSpPr>
          <p:nvPr>
            <p:ph type="ftr" idx="11"/>
          </p:nvPr>
        </p:nvSpPr>
        <p:spPr>
          <a:xfrm>
            <a:off x="3115851" y="4837601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40a0e788958_0_254"/>
          <p:cNvSpPr txBox="1">
            <a:spLocks noGrp="1"/>
          </p:cNvSpPr>
          <p:nvPr>
            <p:ph type="sldNum" idx="12"/>
          </p:nvPr>
        </p:nvSpPr>
        <p:spPr>
          <a:xfrm>
            <a:off x="7020654" y="4837601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42" name="Google Shape;42;g40a0e788958_0_254"/>
          <p:cNvSpPr/>
          <p:nvPr/>
        </p:nvSpPr>
        <p:spPr>
          <a:xfrm>
            <a:off x="-408729" y="876770"/>
            <a:ext cx="306600" cy="79710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40a0e788958_0_254"/>
          <p:cNvSpPr/>
          <p:nvPr/>
        </p:nvSpPr>
        <p:spPr>
          <a:xfrm>
            <a:off x="-408730" y="3349355"/>
            <a:ext cx="285900" cy="797100"/>
          </a:xfrm>
          <a:prstGeom prst="rect">
            <a:avLst/>
          </a:prstGeom>
          <a:solidFill>
            <a:srgbClr val="E0D8C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40a0e788958_0_254"/>
          <p:cNvSpPr/>
          <p:nvPr/>
        </p:nvSpPr>
        <p:spPr>
          <a:xfrm>
            <a:off x="-398285" y="1691350"/>
            <a:ext cx="285900" cy="803100"/>
          </a:xfrm>
          <a:prstGeom prst="rect">
            <a:avLst/>
          </a:prstGeom>
          <a:solidFill>
            <a:srgbClr val="AB86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40a0e788958_0_254"/>
          <p:cNvSpPr/>
          <p:nvPr/>
        </p:nvSpPr>
        <p:spPr>
          <a:xfrm>
            <a:off x="-410008" y="2529653"/>
            <a:ext cx="306600" cy="797100"/>
          </a:xfrm>
          <a:prstGeom prst="rect">
            <a:avLst/>
          </a:prstGeom>
          <a:solidFill>
            <a:srgbClr val="E5C4B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40a0e788958_0_254"/>
          <p:cNvSpPr/>
          <p:nvPr/>
        </p:nvSpPr>
        <p:spPr>
          <a:xfrm>
            <a:off x="-408730" y="4209914"/>
            <a:ext cx="285900" cy="797100"/>
          </a:xfrm>
          <a:prstGeom prst="rect">
            <a:avLst/>
          </a:prstGeom>
          <a:solidFill>
            <a:srgbClr val="EBE9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40a0e788958_0_254"/>
          <p:cNvSpPr/>
          <p:nvPr/>
        </p:nvSpPr>
        <p:spPr>
          <a:xfrm>
            <a:off x="-408730" y="53243"/>
            <a:ext cx="306600" cy="797100"/>
          </a:xfrm>
          <a:prstGeom prst="rect">
            <a:avLst/>
          </a:prstGeom>
          <a:solidFill>
            <a:srgbClr val="AF001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40a0e788958_0_26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g40a0e788958_0_26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g40a0e788958_0_26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40a0e788958_0_26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40a0e788958_0_26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40a0e788958_0_272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40a0e788958_0_272"/>
          <p:cNvSpPr txBox="1">
            <a:spLocks noGrp="1"/>
          </p:cNvSpPr>
          <p:nvPr>
            <p:ph type="body" idx="1"/>
          </p:nvPr>
        </p:nvSpPr>
        <p:spPr>
          <a:xfrm>
            <a:off x="623888" y="3442098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g40a0e788958_0_2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40a0e788958_0_2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40a0e788958_0_2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0a0e788958_0_27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g40a0e788958_0_27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g40a0e788958_0_27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g40a0e788958_0_27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g40a0e788958_0_27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40a0e788958_0_27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0a0e788958_0_28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g40a0e788958_0_285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0" name="Google Shape;70;g40a0e788958_0_285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40a0e788958_0_28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2" name="Google Shape;72;g40a0e788958_0_28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g40a0e788958_0_28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g40a0e788958_0_28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g40a0e788958_0_28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40a0e788958_0_29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40a0e788958_0_29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40a0e788958_0_29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40a0e788958_0_29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40a0e788958_0_299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40a0e788958_0_29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4" name="Google Shape;84;g40a0e788958_0_299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g40a0e788958_0_29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40a0e788958_0_29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40a0e788958_0_29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0a0e788958_0_30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g40a0e788958_0_306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g40a0e788958_0_30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g40a0e788958_0_30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40a0e788958_0_30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40a0e788958_0_30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a0e788958_0_3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g40a0e788958_0_313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g40a0e788958_0_3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40a0e788958_0_3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g40a0e788958_0_3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0a0e788958_0_319"/>
          <p:cNvSpPr txBox="1">
            <a:spLocks noGrp="1"/>
          </p:cNvSpPr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g40a0e788958_0_31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7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g40a0e788958_0_3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40a0e788958_0_3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g40a0e788958_0_3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ユーザー設定レイアウト">
  <p:cSld name="ユーザー設定レイアウト">
    <p:bg>
      <p:bgPr>
        <a:solidFill>
          <a:srgbClr val="36394B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3" descr="株式会社WineBank (@WineBank_O) / X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-451045" y="-101772"/>
            <a:ext cx="5302422" cy="53024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cbfc3592e_0_13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34cbfc3592e_0_13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g34cbfc3592e_0_13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34cbfc3592e_0_13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g34cbfc3592e_0_13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20e15c5e1_0_7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f20e15c5e1_0_7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g3f20e15c5e1_0_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ee662f90c6_0_170"/>
          <p:cNvSpPr txBox="1">
            <a:spLocks noGrp="1"/>
          </p:cNvSpPr>
          <p:nvPr>
            <p:ph type="sldNum" idx="12"/>
          </p:nvPr>
        </p:nvSpPr>
        <p:spPr>
          <a:xfrm>
            <a:off x="8586476" y="4943097"/>
            <a:ext cx="548700" cy="1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タイトル スライド">
  <p:cSld name="1_タイトル スライド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2af4871d9_0_308"/>
          <p:cNvSpPr txBox="1">
            <a:spLocks noGrp="1"/>
          </p:cNvSpPr>
          <p:nvPr>
            <p:ph type="subTitle" idx="1"/>
          </p:nvPr>
        </p:nvSpPr>
        <p:spPr>
          <a:xfrm>
            <a:off x="1371600" y="4245936"/>
            <a:ext cx="6400800" cy="5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  <a:latin typeface="MS PGothic"/>
                <a:ea typeface="MS PGothic"/>
                <a:cs typeface="MS PGothic"/>
                <a:sym typeface="MS P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g382af4871d9_0_308"/>
          <p:cNvSpPr/>
          <p:nvPr/>
        </p:nvSpPr>
        <p:spPr>
          <a:xfrm>
            <a:off x="0" y="1674421"/>
            <a:ext cx="9144000" cy="1329563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82af4871d9_0_30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3" name="Google Shape;153;p25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25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5" name="Google Shape;155;p25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27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68" name="Google Shape;168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8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28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75" name="Google Shape;175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9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3" name="Google Shape;193;p3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3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29.xml"/><Relationship Id="rId16" Type="http://schemas.openxmlformats.org/officeDocument/2006/relationships/theme" Target="../theme/theme2.xml"/><Relationship Id="rId17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40a0e788958_0_2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40a0e788958_0_2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g40a0e788958_0_2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g40a0e788958_0_2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g40a0e788958_0_2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pic>
        <p:nvPicPr>
          <p:cNvPr id="113" name="Google Shape;113;p1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7486650" y="102393"/>
            <a:ext cx="1448976" cy="40752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ビジネスモデルに伴う組織再編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持分をWineBankへ集約し連結運営へ ― 連結売上 42億円（2026年度予算）→ 70億円（2029年度）</a:t>
            </a:r>
            <a:endParaRPr sz="1200"/>
          </a:p>
        </p:txBody>
      </p:sp>
      <p:sp>
        <p:nvSpPr>
          <p:cNvPr id="235" name="TextBox 234"/>
          <p:cNvSpPr txBox="1"/>
          <p:nvPr/>
        </p:nvSpPr>
        <p:spPr>
          <a:xfrm>
            <a:off x="274320" y="1088136"/>
            <a:ext cx="4023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株主：中野邦人／マネーフォワードVP／PrivateBANK／ベクトル／寺田倉庫 ほか</a:t>
            </a:r>
            <a:endParaRPr sz="650"/>
          </a:p>
        </p:txBody>
      </p:sp>
      <p:sp>
        <p:nvSpPr>
          <p:cNvPr id="236" name="Rectangle 235"/>
          <p:cNvSpPr/>
          <p:nvPr/>
        </p:nvSpPr>
        <p:spPr>
          <a:xfrm>
            <a:off x="274320" y="1280160"/>
            <a:ext cx="4023360" cy="512064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株式会社WineBank（親会社）</a:t>
            </a:r>
            <a:endParaRPr sz="900"/>
          </a:p>
          <a:p>
            <a:pPr algn="ctr">
              <a:lnSpc>
                <a:spcPct val="11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ワイン卸・EC ｜ WineTech（ファンド・ST・オークション）｜ ワインマイル ｜ WineBank CLUB</a:t>
            </a:r>
            <a:endParaRPr sz="900"/>
          </a:p>
        </p:txBody>
      </p:sp>
      <p:sp>
        <p:nvSpPr>
          <p:cNvPr id="237" name="TextBox 236"/>
          <p:cNvSpPr txBox="1"/>
          <p:nvPr/>
        </p:nvSpPr>
        <p:spPr>
          <a:xfrm>
            <a:off x="274320" y="1837943"/>
            <a:ext cx="4023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▼ 外部投資家以外の持分（中野個人保有分等）をWineBankへ譲渡・集約</a:t>
            </a:r>
            <a:endParaRPr sz="700"/>
          </a:p>
        </p:txBody>
      </p:sp>
      <p:cxnSp>
        <p:nvCxnSpPr>
          <p:cNvPr id="238" name="Connector 237"/>
          <p:cNvCxnSpPr/>
          <p:nvPr/>
        </p:nvCxnSpPr>
        <p:spPr>
          <a:xfrm>
            <a:off x="2286000" y="2020824"/>
            <a:ext cx="0" cy="73152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749808" y="2093976"/>
            <a:ext cx="3072383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749808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274320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グランメゾン</a:t>
            </a:r>
            <a:endParaRPr sz="750"/>
          </a:p>
        </p:txBody>
      </p:sp>
      <p:sp>
        <p:nvSpPr>
          <p:cNvPr id="242" name="Rectangle 241"/>
          <p:cNvSpPr/>
          <p:nvPr/>
        </p:nvSpPr>
        <p:spPr>
          <a:xfrm>
            <a:off x="274320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アピシウス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100%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銀座・創業41年</a:t>
            </a:r>
            <a:endParaRPr sz="900"/>
          </a:p>
        </p:txBody>
      </p:sp>
      <p:sp>
        <p:nvSpPr>
          <p:cNvPr id="243" name="Rectangle 242"/>
          <p:cNvSpPr/>
          <p:nvPr/>
        </p:nvSpPr>
        <p:spPr>
          <a:xfrm>
            <a:off x="274320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カンテサンス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50〜66.7%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SPC経由（外部33.3〜50%）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三つ星／取得協議中</a:t>
            </a:r>
            <a:endParaRPr sz="900"/>
          </a:p>
        </p:txBody>
      </p:sp>
      <p:cxnSp>
        <p:nvCxnSpPr>
          <p:cNvPr id="244" name="Connector 243"/>
          <p:cNvCxnSpPr/>
          <p:nvPr/>
        </p:nvCxnSpPr>
        <p:spPr>
          <a:xfrm>
            <a:off x="1773936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Rectangle 244"/>
          <p:cNvSpPr/>
          <p:nvPr/>
        </p:nvSpPr>
        <p:spPr>
          <a:xfrm>
            <a:off x="1298448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ブラッスリー</a:t>
            </a:r>
            <a:endParaRPr sz="750"/>
          </a:p>
        </p:txBody>
      </p:sp>
      <p:sp>
        <p:nvSpPr>
          <p:cNvPr id="246" name="Rectangle 245"/>
          <p:cNvSpPr/>
          <p:nvPr/>
        </p:nvSpPr>
        <p:spPr>
          <a:xfrm>
            <a:off x="1298448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Brasserie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66.7%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外部投資家33.3%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2027年4月 六本木開業</a:t>
            </a:r>
            <a:endParaRPr sz="900"/>
          </a:p>
        </p:txBody>
      </p:sp>
      <p:sp>
        <p:nvSpPr>
          <p:cNvPr id="247" name="Rectangle 246"/>
          <p:cNvSpPr/>
          <p:nvPr/>
        </p:nvSpPr>
        <p:spPr>
          <a:xfrm>
            <a:off x="1298448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ティエリーマルクス×TBS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ライセンス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サブライセンスで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WineBankが運営</a:t>
            </a:r>
            <a:endParaRPr sz="900"/>
          </a:p>
        </p:txBody>
      </p:sp>
      <p:cxnSp>
        <p:nvCxnSpPr>
          <p:cNvPr id="248" name="Connector 247"/>
          <p:cNvCxnSpPr/>
          <p:nvPr/>
        </p:nvCxnSpPr>
        <p:spPr>
          <a:xfrm>
            <a:off x="2798064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ectangle 248"/>
          <p:cNvSpPr/>
          <p:nvPr/>
        </p:nvSpPr>
        <p:spPr>
          <a:xfrm>
            <a:off x="2322576" y="2157984"/>
            <a:ext cx="950976" cy="219456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レストラン運営</a:t>
            </a:r>
            <a:endParaRPr sz="750"/>
          </a:p>
        </p:txBody>
      </p:sp>
      <p:sp>
        <p:nvSpPr>
          <p:cNvPr id="250" name="Rectangle 249"/>
          <p:cNvSpPr/>
          <p:nvPr/>
        </p:nvSpPr>
        <p:spPr>
          <a:xfrm>
            <a:off x="2322576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バリューキッチン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Prime42・oto ほか</a:t>
            </a:r>
            <a:endParaRPr sz="900"/>
          </a:p>
        </p:txBody>
      </p:sp>
      <p:sp>
        <p:nvSpPr>
          <p:cNvPr id="251" name="Rectangle 250"/>
          <p:cNvSpPr/>
          <p:nvPr/>
        </p:nvSpPr>
        <p:spPr>
          <a:xfrm>
            <a:off x="2322576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バリューテーブル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・エルネット等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60〜75%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飲食・不動産管理</a:t>
            </a:r>
            <a:endParaRPr sz="900"/>
          </a:p>
        </p:txBody>
      </p:sp>
      <p:cxnSp>
        <p:nvCxnSpPr>
          <p:cNvPr id="252" name="Connector 251"/>
          <p:cNvCxnSpPr/>
          <p:nvPr/>
        </p:nvCxnSpPr>
        <p:spPr>
          <a:xfrm>
            <a:off x="3822191" y="2093976"/>
            <a:ext cx="0" cy="64008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Rectangle 252"/>
          <p:cNvSpPr/>
          <p:nvPr/>
        </p:nvSpPr>
        <p:spPr>
          <a:xfrm>
            <a:off x="3346704" y="2157984"/>
            <a:ext cx="950976" cy="219456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75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持分法等（連結外）</a:t>
            </a:r>
            <a:endParaRPr sz="750"/>
          </a:p>
        </p:txBody>
      </p:sp>
      <p:sp>
        <p:nvSpPr>
          <p:cNvPr id="254" name="Rectangle 253"/>
          <p:cNvSpPr/>
          <p:nvPr/>
        </p:nvSpPr>
        <p:spPr>
          <a:xfrm>
            <a:off x="3346704" y="243230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あどばる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37%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ビジョングループ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（東証プライム）</a:t>
            </a:r>
            <a:endParaRPr sz="900"/>
          </a:p>
        </p:txBody>
      </p:sp>
      <p:sp>
        <p:nvSpPr>
          <p:cNvPr id="255" name="Rectangle 254"/>
          <p:cNvSpPr/>
          <p:nvPr/>
        </p:nvSpPr>
        <p:spPr>
          <a:xfrm>
            <a:off x="3346704" y="3072384"/>
            <a:ext cx="950976" cy="585216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 wrap="square" lIns="27432" rIns="27432" tIns="18288" bIns="18288"/>
          <a:lstStyle/>
          <a:p>
            <a:pPr algn="ctr">
              <a:lnSpc>
                <a:spcPct val="100000"/>
              </a:lnSpc>
            </a:pPr>
            <a:r>
              <a:rPr sz="65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KINKA／バーガー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レボリューション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20%／49%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5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持分法の対象</a:t>
            </a:r>
            <a:endParaRPr sz="900"/>
          </a:p>
        </p:txBody>
      </p:sp>
      <p:sp>
        <p:nvSpPr>
          <p:cNvPr id="256" name="Rectangle 255"/>
          <p:cNvSpPr/>
          <p:nvPr/>
        </p:nvSpPr>
        <p:spPr>
          <a:xfrm>
            <a:off x="274320" y="3730752"/>
            <a:ext cx="4023360" cy="402336"/>
          </a:xfrm>
          <a:prstGeom prst="rect">
            <a:avLst/>
          </a:prstGeom>
          <a:solidFill>
            <a:srgbClr val="F3EDE6"/>
          </a:solidFill>
          <a:ln>
            <a:noFill/>
          </a:ln>
        </p:spPr>
        <p:txBody>
          <a:bodyPr rtlCol="0" anchor="ctr" wrap="square" tIns="18288" bIns="18288"/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WineBank → 各社　</a:t>
            </a:r>
            <a:r>
              <a:rPr sz="6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ワイン卸・経営指導・AM（カンテサンスSPC）</a:t>
            </a:r>
            <a:endParaRPr sz="650"/>
          </a:p>
          <a:p>
            <a:pPr algn="l">
              <a:lnSpc>
                <a:spcPct val="115000"/>
              </a:lnSpc>
            </a:pPr>
            <a:r>
              <a:rPr sz="6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各社 → WineBank　</a:t>
            </a:r>
            <a:r>
              <a:rPr sz="65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ワイン代金・経営指導料・AM報酬／ライセンスフィー（TM）</a:t>
            </a:r>
            <a:endParaRPr sz="650"/>
          </a:p>
        </p:txBody>
      </p:sp>
      <p:sp>
        <p:nvSpPr>
          <p:cNvPr id="257" name="TextBox 256"/>
          <p:cNvSpPr txBox="1"/>
          <p:nvPr/>
        </p:nvSpPr>
        <p:spPr>
          <a:xfrm>
            <a:off x="4480560" y="1088136"/>
            <a:ext cx="43891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連結業績計画（億円）</a:t>
            </a:r>
            <a:endParaRPr sz="850"/>
          </a:p>
        </p:txBody>
      </p:sp>
      <p:graphicFrame>
        <p:nvGraphicFramePr>
          <p:cNvPr id="258" name="Table 257"/>
          <p:cNvGraphicFramePr>
            <a:graphicFrameLocks noGrp="1"/>
          </p:cNvGraphicFramePr>
          <p:nvPr/>
        </p:nvGraphicFramePr>
        <p:xfrm>
          <a:off x="4480560" y="1280160"/>
          <a:ext cx="4389120" cy="27432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24128"/>
                <a:gridCol w="585216"/>
                <a:gridCol w="694944"/>
                <a:gridCol w="694944"/>
                <a:gridCol w="694944"/>
                <a:gridCol w="694944"/>
              </a:tblGrid>
              <a:tr h="310896">
                <a:tc gridSpan="2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セグメント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2026年度</a:t>
                      </a:r>
                      <a:endParaRPr sz="800"/>
                    </a:p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（予算）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2027年度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2028年度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2029年度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96596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ワイン・WineTech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6596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96596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グランメゾン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17.7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6596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6.8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7.6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96596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ブラッスリー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1.9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21.5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6596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196596">
                <a:tc row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レストラン運営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15.7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96596">
                <a:tc v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1.3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28600">
                <a:tc grid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連結売上高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42.1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51.5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60.0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70.4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228600">
                <a:tc gridSpan="2"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連結営業利益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11.1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12.5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営業利益率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20.0%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19.6%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17.7%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  <a:tr h="201168">
                <a:tc gridSpan="2"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（参考）持分按分後 営業利益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5.2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6.7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8.4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</a:tbl>
          </a:graphicData>
        </a:graphic>
      </p:graphicFrame>
      <p:sp>
        <p:nvSpPr>
          <p:cNvPr id="259" name="TextBox 258"/>
          <p:cNvSpPr txBox="1"/>
          <p:nvPr/>
        </p:nvSpPr>
        <p:spPr>
          <a:xfrm>
            <a:off x="274320" y="4224528"/>
            <a:ext cx="8595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3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年度＝WineBank決算期（10月〜翌9月）。2026年度＝2027年9月期の予算。</a:t>
            </a:r>
            <a:endParaRPr sz="630"/>
          </a:p>
          <a:p>
            <a:pPr algn="l">
              <a:lnSpc>
                <a:spcPct val="110000"/>
              </a:lnSpc>
            </a:pP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決算期が異なる子会社は月割りで組替え。カンテサンスは期初取得を仮定したプロフォーマ（IM計画値。取得後の報酬見直し等の改善と役員退職金等の一時費用は含まず）。グループ内取引の消去は未反映（WineBankのグループ内コンサル料は消去済）。持分按分後営業利益はカンテサンス50%・TM66.7%・バリューキッチン60%等の下限持分で按分。事業別の内訳と出所は次頁。</a:t>
            </a:r>
            <a:endParaRPr sz="63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組織再編後の連結損益計画（事業別）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2026年度予算〜2029年度 ｜ 単位：百万円 ｜ 年度＝WineBank決算期（10月〜翌9月）</a:t>
            </a:r>
            <a:endParaRPr sz="1200"/>
          </a:p>
        </p:txBody>
      </p:sp>
      <p:graphicFrame>
        <p:nvGraphicFramePr>
          <p:cNvPr id="235" name="Table 234"/>
          <p:cNvGraphicFramePr>
            <a:graphicFrameLocks noGrp="1"/>
          </p:cNvGraphicFramePr>
          <p:nvPr/>
        </p:nvGraphicFramePr>
        <p:xfrm>
          <a:off x="274320" y="1115568"/>
          <a:ext cx="8595360" cy="2971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27632"/>
                <a:gridCol w="457200"/>
                <a:gridCol w="507492"/>
                <a:gridCol w="507492"/>
                <a:gridCol w="507492"/>
                <a:gridCol w="507492"/>
                <a:gridCol w="507492"/>
                <a:gridCol w="507492"/>
                <a:gridCol w="507492"/>
                <a:gridCol w="507492"/>
                <a:gridCol w="2450592"/>
              </a:tblGrid>
              <a:tr h="182880">
                <a:tc row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事業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持分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2026年度（予算）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2027年度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2028年度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2029年度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前提・出所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64592">
                <a:tc v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WineBank｜既存ワイン事業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親会社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23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788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34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827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46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869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銀行提出FY2027プランD（グループ内コンサル料82.5を消去）。以降年5%成長・増分粗利30%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WineBank｜私募・オークション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親会社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90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銀行提出プランEの上積み（私募＋オークション300・粗利率30%）を据置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WineBank｜ワインマイル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親会社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139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ワインマイル3か年PLを最新レートカード（9/29）で再計算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アピシウス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100%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716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133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737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137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759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141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782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145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2026年12月期 着地予想（グループ管理表）。以降売上年3%・利益率据置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カンテサンス（プロフォーマ）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50〜66.7%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1,050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549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1,087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571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1,120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592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1,160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617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IM（2026/9）監修後・売上横ばいケース。2030年は年4%で延長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Brasserie Thierry Marx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66.7%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636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1,310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2,153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145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事業収支統合モデル v4（2026/10/16・4月〜3月期）。2027年4月開業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バリューキッチン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60%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705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726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104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748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107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771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110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着地予想700/100を2027年6月期に充当（2026年6月期 実績645）。以降年3%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 wrap="square"/>
                    <a:lstStyle/>
                    <a:p>
                      <a:pPr algn="l"/>
                      <a:r>
                        <a:rPr sz="73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バリューテーブル・エルネット等</a:t>
                      </a:r>
                      <a:endParaRPr sz="73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0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60〜75%</a:t>
                      </a:r>
                      <a:endParaRPr sz="7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800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バリューテーブル600/20・エルネット100/5・摩耶100/5 の合算を据置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 gridSpan="2"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連結合計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4,212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841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5,152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1,010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6,004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1,114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7,042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1,248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EAD5C7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グループ内取引の消去は未反映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営業利益率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20.0%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19.6%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18.5%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17.7%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連結営業利益／連結売上高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  <a:tr h="192024">
                <a:tc gridSpan="2"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（参考）持分按分後 営業利益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515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666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741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750" b="1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838</a:t>
                      </a:r>
                      <a:endParaRPr sz="75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750"/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580" b="0">
                          <a:solidFill>
                            <a:srgbClr val="595959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下限持分で按分（親会社帰属の目安）</a:t>
                      </a:r>
                      <a:endParaRPr sz="58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3EDE6"/>
                    </a:solidFill>
                  </a:tcPr>
                </a:tc>
              </a:tr>
            </a:tbl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274320" y="4261104"/>
            <a:ext cx="8595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3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連結対象外：</a:t>
            </a: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あどばる（37%・ビジョングループ）、KINKA（20%）、バーガーレボリューション（49%）は持分法等。ワイン・ラ・ターブルは店舗をバリューキッチンへ移管済のため除外。</a:t>
            </a:r>
            <a:endParaRPr sz="630"/>
          </a:p>
          <a:p>
            <a:pPr algn="l">
              <a:lnSpc>
                <a:spcPct val="110000"/>
              </a:lnSpc>
            </a:pPr>
            <a:r>
              <a:rPr sz="630" b="1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仮置きの前提：</a:t>
            </a: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WineBank既存事業の年5%成長、アピシウス・バリューキッチンの年3%成長は計画未策定のための仮置き。カンテサンスの取得後改善（役員報酬見直し等 年約0.8億円）は上振れ要因として含めていない。</a:t>
            </a:r>
            <a:endParaRPr sz="63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ワインマイル経済圏 ―「ワイン貯金」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持つ・貯める・開ける・贈る・譲る。ワインにまつわる体験を、ひとつの通貨でつなぐ</a:t>
            </a:r>
            <a:endParaRPr sz="1300"/>
          </a:p>
        </p:txBody>
      </p:sp>
      <p:sp>
        <p:nvSpPr>
          <p:cNvPr id="235" name="Rectangle 234"/>
          <p:cNvSpPr/>
          <p:nvPr/>
        </p:nvSpPr>
        <p:spPr>
          <a:xfrm>
            <a:off x="536752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1963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貯まる</a:t>
            </a:r>
            <a:endParaRPr sz="950"/>
          </a:p>
        </p:txBody>
      </p:sp>
      <p:sp>
        <p:nvSpPr>
          <p:cNvPr id="237" name="TextBox 236"/>
          <p:cNvSpPr txBox="1"/>
          <p:nvPr/>
        </p:nvSpPr>
        <p:spPr>
          <a:xfrm>
            <a:off x="719632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管理料の、その先へ</a:t>
            </a:r>
            <a:endParaRPr sz="1600"/>
          </a:p>
        </p:txBody>
      </p:sp>
      <p:sp>
        <p:nvSpPr>
          <p:cNvPr id="238" name="TextBox 237"/>
          <p:cNvSpPr txBox="1"/>
          <p:nvPr/>
        </p:nvSpPr>
        <p:spPr>
          <a:xfrm>
            <a:off x="719632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管理料2.75%に対し、マイル還元4〜6%</a:t>
            </a:r>
            <a:endParaRPr sz="750"/>
          </a:p>
        </p:txBody>
      </p:sp>
      <p:sp>
        <p:nvSpPr>
          <p:cNvPr id="239" name="Rectangle 238"/>
          <p:cNvSpPr/>
          <p:nvPr/>
        </p:nvSpPr>
        <p:spPr>
          <a:xfrm>
            <a:off x="3362248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545128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使える</a:t>
            </a:r>
            <a:endParaRPr sz="950"/>
          </a:p>
        </p:txBody>
      </p:sp>
      <p:sp>
        <p:nvSpPr>
          <p:cNvPr id="241" name="TextBox 240"/>
          <p:cNvSpPr txBox="1"/>
          <p:nvPr/>
        </p:nvSpPr>
        <p:spPr>
          <a:xfrm>
            <a:off x="3545128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飲む・贈る・集う</a:t>
            </a:r>
            <a:endParaRPr sz="1600"/>
          </a:p>
        </p:txBody>
      </p:sp>
      <p:sp>
        <p:nvSpPr>
          <p:cNvPr id="242" name="TextBox 241"/>
          <p:cNvSpPr txBox="1"/>
          <p:nvPr/>
        </p:nvSpPr>
        <p:spPr>
          <a:xfrm>
            <a:off x="3545128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系列店・グランメゾン・オークション等</a:t>
            </a:r>
            <a:endParaRPr sz="750"/>
          </a:p>
        </p:txBody>
      </p:sp>
      <p:sp>
        <p:nvSpPr>
          <p:cNvPr id="243" name="Rectangle 242"/>
          <p:cNvSpPr/>
          <p:nvPr/>
        </p:nvSpPr>
        <p:spPr>
          <a:xfrm>
            <a:off x="6268212" y="1115568"/>
            <a:ext cx="2339949" cy="86868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45109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育つ</a:t>
            </a:r>
            <a:endParaRPr sz="950"/>
          </a:p>
        </p:txBody>
      </p:sp>
      <p:sp>
        <p:nvSpPr>
          <p:cNvPr id="245" name="TextBox 244"/>
          <p:cNvSpPr txBox="1"/>
          <p:nvPr/>
        </p:nvSpPr>
        <p:spPr>
          <a:xfrm>
            <a:off x="6451092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値上がりの70%</a:t>
            </a:r>
            <a:endParaRPr sz="1600"/>
          </a:p>
        </p:txBody>
      </p:sp>
      <p:sp>
        <p:nvSpPr>
          <p:cNvPr id="246" name="TextBox 245"/>
          <p:cNvSpPr txBox="1"/>
          <p:nvPr/>
        </p:nvSpPr>
        <p:spPr>
          <a:xfrm>
            <a:off x="6451092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C9B6A8"/>
                </a:solidFill>
                <a:latin typeface="Meiryo"/>
                <a:ea typeface="Meiryo"/>
                <a:cs typeface="Meiryo"/>
                <a:sym typeface="Meiryo"/>
              </a:rPr>
              <a:t>会員のもの。当社は成功報酬30%のみ</a:t>
            </a:r>
            <a:endParaRPr sz="750"/>
          </a:p>
        </p:txBody>
      </p:sp>
      <p:sp>
        <p:nvSpPr>
          <p:cNvPr id="247" name="TextBox 246"/>
          <p:cNvSpPr txBox="1"/>
          <p:nvPr/>
        </p:nvSpPr>
        <p:spPr>
          <a:xfrm>
            <a:off x="536752" y="2103120"/>
            <a:ext cx="40233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新・会員制度（2026年9月改定）</a:t>
            </a:r>
            <a:endParaRPr sz="1000"/>
          </a:p>
        </p:txBody>
      </p:sp>
      <p:graphicFrame>
        <p:nvGraphicFramePr>
          <p:cNvPr id="248" name="Table 247"/>
          <p:cNvGraphicFramePr>
            <a:graphicFrameLocks noGrp="1"/>
          </p:cNvGraphicFramePr>
          <p:nvPr/>
        </p:nvGraphicFramePr>
        <p:xfrm>
          <a:off x="536752" y="2331720"/>
          <a:ext cx="4023360" cy="8229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14400"/>
                <a:gridCol w="868680"/>
                <a:gridCol w="777240"/>
                <a:gridCol w="777240"/>
                <a:gridCol w="685800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ランク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ご購入額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管理手数料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マイル還元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実質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PRESTIGE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100万円〜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2.75%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+1.25%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GOLD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500万円〜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2.75%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+2.25%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SIGNATURE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1,000万円〜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2.75%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6%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+3.25%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9" name="TextBox 248"/>
          <p:cNvSpPr txBox="1"/>
          <p:nvPr/>
        </p:nvSpPr>
        <p:spPr>
          <a:xfrm>
            <a:off x="536752" y="3218688"/>
            <a:ext cx="4023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・</a:t>
            </a:r>
            <a:r>
              <a:rPr sz="730" b="1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所有権は会員のまま。</a:t>
            </a: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当社は保管・保険・真正性管理を担い、賃貸借は使わない</a:t>
            </a:r>
            <a:endParaRPr sz="730"/>
          </a:p>
          <a:p>
            <a:pPr algn="l">
              <a:lnSpc>
                <a:spcPct val="125000"/>
              </a:lnSpc>
            </a:pP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・</a:t>
            </a:r>
            <a:r>
              <a:rPr sz="730" b="1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マイルは管理料に対する無償付与。</a:t>
            </a: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前払式支払手段に当たらないことを法律事務所に確認（2026年9月）</a:t>
            </a:r>
            <a:endParaRPr sz="730"/>
          </a:p>
          <a:p>
            <a:pPr algn="l">
              <a:lnSpc>
                <a:spcPct val="125000"/>
              </a:lnSpc>
            </a:pP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・</a:t>
            </a:r>
            <a:r>
              <a:rPr sz="730" b="1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交流イベントとランク制で継続率を高める。</a:t>
            </a:r>
            <a:r>
              <a:rPr sz="7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使うほど貯まり、ランクが上がる</a:t>
            </a:r>
            <a:endParaRPr sz="730"/>
          </a:p>
        </p:txBody>
      </p:sp>
      <p:sp>
        <p:nvSpPr>
          <p:cNvPr id="250" name="TextBox 249"/>
          <p:cNvSpPr txBox="1"/>
          <p:nvPr/>
        </p:nvSpPr>
        <p:spPr>
          <a:xfrm>
            <a:off x="4800600" y="2103120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3か年計画（ワインマイル事業）</a:t>
            </a:r>
            <a:endParaRPr sz="1000"/>
          </a:p>
        </p:txBody>
      </p:sp>
      <p:graphicFrame>
        <p:nvGraphicFramePr>
          <p:cNvPr id="251" name="Table 250"/>
          <p:cNvGraphicFramePr>
            <a:graphicFrameLocks noGrp="1"/>
          </p:cNvGraphicFramePr>
          <p:nvPr/>
        </p:nvGraphicFramePr>
        <p:xfrm>
          <a:off x="4800600" y="2331720"/>
          <a:ext cx="3767328" cy="102412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188720"/>
                <a:gridCol w="859536"/>
                <a:gridCol w="859536"/>
                <a:gridCol w="859536"/>
              </a:tblGrid>
              <a:tr h="219456"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/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2027年度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2028年度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2029年度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36394B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期末会員数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37名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102名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192名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期末預かり資産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0.75億円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2.07億円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4.02億円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売上高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0.77億円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1.39億円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0">
                          <a:solidFill>
                            <a:srgbClr val="30373F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2.08億円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36394B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営業利益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0.19億円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0.35億円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00" b="1">
                          <a:solidFill>
                            <a:srgbClr val="C68A65"/>
                          </a:solidFill>
                          <a:latin typeface="Meiryo"/>
                          <a:ea typeface="Meiryo"/>
                          <a:cs typeface="Meiryo"/>
                          <a:sym typeface="Meiryo"/>
                        </a:rPr>
                        <a:t>0.52億円</a:t>
                      </a:r>
                      <a:endParaRPr sz="800"/>
                    </a:p>
                  </a:txBody>
                  <a:tcPr marL="45720" marR="45720" marT="9144" marB="9144" anchor="ctr">
                    <a:lnL w="6350" cap="flat" cmpd="sng" algn="ctr">
                      <a:solidFill>
                        <a:srgbClr val="E3E3E3"/>
                      </a:solidFill>
                      <a:prstDash val="solid"/>
                    </a:lnL>
                    <a:lnR w="6350" cap="flat" cmpd="sng" algn="ctr">
                      <a:solidFill>
                        <a:srgbClr val="E3E3E3"/>
                      </a:solidFill>
                      <a:prstDash val="solid"/>
                    </a:lnR>
                    <a:lnT w="6350" cap="flat" cmpd="sng" algn="ctr">
                      <a:solidFill>
                        <a:srgbClr val="E3E3E3"/>
                      </a:solidFill>
                      <a:prstDash val="solid"/>
                    </a:lnT>
                    <a:lnB w="6350" cap="flat" cmpd="sng" algn="ctr">
                      <a:solidFill>
                        <a:srgbClr val="E3E3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2" name="TextBox 251"/>
          <p:cNvSpPr txBox="1"/>
          <p:nvPr/>
        </p:nvSpPr>
        <p:spPr>
          <a:xfrm>
            <a:off x="4800600" y="3456432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最新レートカードで3か年PLを再計算（ワイン販売粗利30%・保管1.05%・マイル費用は期待原価で発行時計上）。人件費・システム費は既存体制で吸収する前提。</a:t>
            </a:r>
            <a:endParaRPr sz="630"/>
          </a:p>
        </p:txBody>
      </p:sp>
      <p:sp>
        <p:nvSpPr>
          <p:cNvPr id="253" name="Rectangle 252"/>
          <p:cNvSpPr/>
          <p:nvPr/>
        </p:nvSpPr>
        <p:spPr>
          <a:xfrm>
            <a:off x="536752" y="4078224"/>
            <a:ext cx="8070494" cy="60350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36752" y="4078224"/>
            <a:ext cx="45720" cy="603504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94944" y="4133087"/>
            <a:ext cx="781812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同じキャッシュで、支配下のワインは2.5倍。</a:t>
            </a:r>
            <a:endParaRPr sz="1000"/>
          </a:p>
          <a:p>
            <a:pPr algn="l">
              <a:lnSpc>
                <a:spcPct val="120000"/>
              </a:lnSpc>
            </a:pPr>
            <a:r>
              <a:rPr sz="78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1億円の在庫を自社で持ち続ける代わりに、会員へ販売して預かり、1.2億円を新規に買い付ける。純CFはほぼ同じ（年▲405万円→▲536万円）のまま、在庫と預かり資産の合計は1億円から2.5億円へ。</a:t>
            </a:r>
            <a:endParaRPr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国内オーベルジュ構想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ワイナリーに隣接し、温泉を持つ。日本にまだ無いオーベルジュをつくります</a:t>
            </a:r>
            <a:endParaRPr sz="1300"/>
          </a:p>
        </p:txBody>
      </p:sp>
      <p:sp>
        <p:nvSpPr>
          <p:cNvPr id="235" name="Rectangle 234"/>
          <p:cNvSpPr/>
          <p:nvPr/>
        </p:nvSpPr>
        <p:spPr>
          <a:xfrm>
            <a:off x="536752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1963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料理</a:t>
            </a:r>
            <a:endParaRPr sz="950"/>
          </a:p>
        </p:txBody>
      </p:sp>
      <p:sp>
        <p:nvSpPr>
          <p:cNvPr id="237" name="TextBox 236"/>
          <p:cNvSpPr txBox="1"/>
          <p:nvPr/>
        </p:nvSpPr>
        <p:spPr>
          <a:xfrm>
            <a:off x="719632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一日十数名だけ</a:t>
            </a:r>
            <a:endParaRPr sz="1800"/>
          </a:p>
        </p:txBody>
      </p:sp>
      <p:sp>
        <p:nvSpPr>
          <p:cNvPr id="238" name="TextBox 237"/>
          <p:cNvSpPr txBox="1"/>
          <p:nvPr/>
        </p:nvSpPr>
        <p:spPr>
          <a:xfrm>
            <a:off x="719632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その土地の生産者と、同じテーブルに</a:t>
            </a:r>
            <a:endParaRPr sz="800"/>
          </a:p>
        </p:txBody>
      </p:sp>
      <p:sp>
        <p:nvSpPr>
          <p:cNvPr id="239" name="Rectangle 238"/>
          <p:cNvSpPr/>
          <p:nvPr/>
        </p:nvSpPr>
        <p:spPr>
          <a:xfrm>
            <a:off x="3362248" y="1115568"/>
            <a:ext cx="2339949" cy="86868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545128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ワイン</a:t>
            </a:r>
            <a:endParaRPr sz="950"/>
          </a:p>
        </p:txBody>
      </p:sp>
      <p:sp>
        <p:nvSpPr>
          <p:cNvPr id="241" name="TextBox 240"/>
          <p:cNvSpPr txBox="1"/>
          <p:nvPr/>
        </p:nvSpPr>
        <p:spPr>
          <a:xfrm>
            <a:off x="3545128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ワイナリー隣接</a:t>
            </a:r>
            <a:endParaRPr sz="1800"/>
          </a:p>
        </p:txBody>
      </p:sp>
      <p:sp>
        <p:nvSpPr>
          <p:cNvPr id="242" name="TextBox 241"/>
          <p:cNvSpPr txBox="1"/>
          <p:nvPr/>
        </p:nvSpPr>
        <p:spPr>
          <a:xfrm>
            <a:off x="3545128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造り手の畑が、窓の外にある</a:t>
            </a:r>
            <a:endParaRPr sz="800"/>
          </a:p>
        </p:txBody>
      </p:sp>
      <p:sp>
        <p:nvSpPr>
          <p:cNvPr id="243" name="Rectangle 242"/>
          <p:cNvSpPr/>
          <p:nvPr/>
        </p:nvSpPr>
        <p:spPr>
          <a:xfrm>
            <a:off x="6268212" y="1115568"/>
            <a:ext cx="2339949" cy="868680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6451092" y="1216152"/>
            <a:ext cx="197418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滞在</a:t>
            </a:r>
            <a:endParaRPr sz="950"/>
          </a:p>
        </p:txBody>
      </p:sp>
      <p:sp>
        <p:nvSpPr>
          <p:cNvPr id="245" name="TextBox 244"/>
          <p:cNvSpPr txBox="1"/>
          <p:nvPr/>
        </p:nvSpPr>
        <p:spPr>
          <a:xfrm>
            <a:off x="6451092" y="1399032"/>
            <a:ext cx="197418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温泉 ＋ 10室</a:t>
            </a:r>
            <a:endParaRPr sz="1800"/>
          </a:p>
        </p:txBody>
      </p:sp>
      <p:sp>
        <p:nvSpPr>
          <p:cNvPr id="246" name="TextBox 245"/>
          <p:cNvSpPr txBox="1"/>
          <p:nvPr/>
        </p:nvSpPr>
        <p:spPr>
          <a:xfrm>
            <a:off x="6451092" y="1755648"/>
            <a:ext cx="197418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C9B6A8"/>
                </a:solidFill>
                <a:latin typeface="Meiryo"/>
                <a:ea typeface="Meiryo"/>
                <a:cs typeface="Meiryo"/>
                <a:sym typeface="Meiryo"/>
              </a:rPr>
              <a:t>食後に、移動しなくていい</a:t>
            </a:r>
            <a:endParaRPr sz="800"/>
          </a:p>
        </p:txBody>
      </p:sp>
      <p:sp>
        <p:nvSpPr>
          <p:cNvPr id="247" name="TextBox 246"/>
          <p:cNvSpPr txBox="1"/>
          <p:nvPr/>
        </p:nvSpPr>
        <p:spPr>
          <a:xfrm>
            <a:off x="536752" y="20756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構想の骨子</a:t>
            </a:r>
            <a:endParaRPr sz="1100"/>
          </a:p>
        </p:txBody>
      </p:sp>
      <p:sp>
        <p:nvSpPr>
          <p:cNvPr id="248" name="Rectangle 247"/>
          <p:cNvSpPr/>
          <p:nvPr/>
        </p:nvSpPr>
        <p:spPr>
          <a:xfrm>
            <a:off x="536752" y="2286000"/>
            <a:ext cx="8070494" cy="283464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646480" y="2313432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/>
            </a:r>
            <a:endParaRPr sz="830"/>
          </a:p>
        </p:txBody>
      </p:sp>
      <p:sp>
        <p:nvSpPr>
          <p:cNvPr id="250" name="TextBox 249"/>
          <p:cNvSpPr txBox="1"/>
          <p:nvPr/>
        </p:nvSpPr>
        <p:spPr>
          <a:xfrm>
            <a:off x="1652320" y="2313432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一般的なオーベルジュ</a:t>
            </a:r>
            <a:endParaRPr sz="830"/>
          </a:p>
        </p:txBody>
      </p:sp>
      <p:sp>
        <p:nvSpPr>
          <p:cNvPr id="251" name="TextBox 250"/>
          <p:cNvSpPr txBox="1"/>
          <p:nvPr/>
        </p:nvSpPr>
        <p:spPr>
          <a:xfrm>
            <a:off x="4304080" y="2313432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当社が考えるオーベルジュ</a:t>
            </a:r>
            <a:endParaRPr sz="830"/>
          </a:p>
        </p:txBody>
      </p:sp>
      <p:sp>
        <p:nvSpPr>
          <p:cNvPr id="252" name="Rectangle 251"/>
          <p:cNvSpPr/>
          <p:nvPr/>
        </p:nvSpPr>
        <p:spPr>
          <a:xfrm>
            <a:off x="536752" y="2569464"/>
            <a:ext cx="8070494" cy="283464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46480" y="2596896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立地</a:t>
            </a:r>
            <a:endParaRPr sz="830"/>
          </a:p>
        </p:txBody>
      </p:sp>
      <p:sp>
        <p:nvSpPr>
          <p:cNvPr id="254" name="TextBox 253"/>
          <p:cNvSpPr txBox="1"/>
          <p:nvPr/>
        </p:nvSpPr>
        <p:spPr>
          <a:xfrm>
            <a:off x="1652320" y="2596896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景勝地・観光地に単独で建つ</a:t>
            </a:r>
            <a:endParaRPr sz="830"/>
          </a:p>
        </p:txBody>
      </p:sp>
      <p:sp>
        <p:nvSpPr>
          <p:cNvPr id="255" name="TextBox 254"/>
          <p:cNvSpPr txBox="1"/>
          <p:nvPr/>
        </p:nvSpPr>
        <p:spPr>
          <a:xfrm>
            <a:off x="4304080" y="2596896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ワイナリーに隣接。造り手が徒歩圏にいる</a:t>
            </a:r>
            <a:endParaRPr sz="830"/>
          </a:p>
        </p:txBody>
      </p:sp>
      <p:sp>
        <p:nvSpPr>
          <p:cNvPr id="256" name="Rectangle 255"/>
          <p:cNvSpPr/>
          <p:nvPr/>
        </p:nvSpPr>
        <p:spPr>
          <a:xfrm>
            <a:off x="536752" y="2852928"/>
            <a:ext cx="8070494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646480" y="2880360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</a:t>
            </a:r>
            <a:endParaRPr sz="830"/>
          </a:p>
        </p:txBody>
      </p:sp>
      <p:sp>
        <p:nvSpPr>
          <p:cNvPr id="258" name="TextBox 257"/>
          <p:cNvSpPr txBox="1"/>
          <p:nvPr/>
        </p:nvSpPr>
        <p:spPr>
          <a:xfrm>
            <a:off x="1652320" y="2880360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地元ワインが中心</a:t>
            </a:r>
            <a:endParaRPr sz="830"/>
          </a:p>
        </p:txBody>
      </p:sp>
      <p:sp>
        <p:nvSpPr>
          <p:cNvPr id="259" name="TextBox 258"/>
          <p:cNvSpPr txBox="1"/>
          <p:nvPr/>
        </p:nvSpPr>
        <p:spPr>
          <a:xfrm>
            <a:off x="4304080" y="2880360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グループ在庫（管理含む32億円）から、世界のファインワインを産地価格で</a:t>
            </a:r>
            <a:endParaRPr sz="830"/>
          </a:p>
        </p:txBody>
      </p:sp>
      <p:sp>
        <p:nvSpPr>
          <p:cNvPr id="260" name="Rectangle 259"/>
          <p:cNvSpPr/>
          <p:nvPr/>
        </p:nvSpPr>
        <p:spPr>
          <a:xfrm>
            <a:off x="536752" y="3136391"/>
            <a:ext cx="8070494" cy="283464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646480" y="3163823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滞在</a:t>
            </a:r>
            <a:endParaRPr sz="830"/>
          </a:p>
        </p:txBody>
      </p:sp>
      <p:sp>
        <p:nvSpPr>
          <p:cNvPr id="262" name="TextBox 261"/>
          <p:cNvSpPr txBox="1"/>
          <p:nvPr/>
        </p:nvSpPr>
        <p:spPr>
          <a:xfrm>
            <a:off x="1652320" y="3163823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宿泊機能のみ</a:t>
            </a:r>
            <a:endParaRPr sz="830"/>
          </a:p>
        </p:txBody>
      </p:sp>
      <p:sp>
        <p:nvSpPr>
          <p:cNvPr id="263" name="TextBox 262"/>
          <p:cNvSpPr txBox="1"/>
          <p:nvPr/>
        </p:nvSpPr>
        <p:spPr>
          <a:xfrm>
            <a:off x="4304080" y="3163823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温泉を併設。地下に大型カーヴとワインバーも備える</a:t>
            </a:r>
            <a:endParaRPr sz="830"/>
          </a:p>
        </p:txBody>
      </p:sp>
      <p:sp>
        <p:nvSpPr>
          <p:cNvPr id="264" name="Rectangle 263"/>
          <p:cNvSpPr/>
          <p:nvPr/>
        </p:nvSpPr>
        <p:spPr>
          <a:xfrm>
            <a:off x="536752" y="3419856"/>
            <a:ext cx="8070494" cy="2834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646480" y="3447288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運営</a:t>
            </a:r>
            <a:endParaRPr sz="830"/>
          </a:p>
        </p:txBody>
      </p:sp>
      <p:sp>
        <p:nvSpPr>
          <p:cNvPr id="266" name="TextBox 265"/>
          <p:cNvSpPr txBox="1"/>
          <p:nvPr/>
        </p:nvSpPr>
        <p:spPr>
          <a:xfrm>
            <a:off x="1652320" y="3447288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オーナーシェフの個人事業</a:t>
            </a:r>
            <a:endParaRPr sz="830"/>
          </a:p>
        </p:txBody>
      </p:sp>
      <p:sp>
        <p:nvSpPr>
          <p:cNvPr id="267" name="TextBox 266"/>
          <p:cNvSpPr txBox="1"/>
          <p:nvPr/>
        </p:nvSpPr>
        <p:spPr>
          <a:xfrm>
            <a:off x="4304080" y="3447288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アピシウス・カンテサンス※を擁するグランメゾン運営グループが担う</a:t>
            </a:r>
            <a:endParaRPr sz="830"/>
          </a:p>
        </p:txBody>
      </p:sp>
      <p:sp>
        <p:nvSpPr>
          <p:cNvPr id="268" name="Rectangle 267"/>
          <p:cNvSpPr/>
          <p:nvPr/>
        </p:nvSpPr>
        <p:spPr>
          <a:xfrm>
            <a:off x="536752" y="3703320"/>
            <a:ext cx="8070494" cy="283464"/>
          </a:xfrm>
          <a:prstGeom prst="rect">
            <a:avLst/>
          </a:prstGeom>
          <a:solidFill>
            <a:srgbClr val="F6F6F6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646480" y="3730752"/>
            <a:ext cx="822960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集客</a:t>
            </a:r>
            <a:endParaRPr sz="830"/>
          </a:p>
        </p:txBody>
      </p:sp>
      <p:sp>
        <p:nvSpPr>
          <p:cNvPr id="270" name="TextBox 269"/>
          <p:cNvSpPr txBox="1"/>
          <p:nvPr/>
        </p:nvSpPr>
        <p:spPr>
          <a:xfrm>
            <a:off x="1652320" y="3730752"/>
            <a:ext cx="2468879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開業後に一から集める</a:t>
            </a:r>
            <a:endParaRPr sz="830"/>
          </a:p>
        </p:txBody>
      </p:sp>
      <p:sp>
        <p:nvSpPr>
          <p:cNvPr id="271" name="TextBox 270"/>
          <p:cNvSpPr txBox="1"/>
          <p:nvPr/>
        </p:nvSpPr>
        <p:spPr>
          <a:xfrm>
            <a:off x="4304080" y="3730752"/>
            <a:ext cx="4230014" cy="228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3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ワインマイルの交換先・会員イベントの舞台として、開業前から送客できる</a:t>
            </a:r>
            <a:endParaRPr sz="830"/>
          </a:p>
        </p:txBody>
      </p:sp>
      <p:sp>
        <p:nvSpPr>
          <p:cNvPr id="272" name="TextBox 271"/>
          <p:cNvSpPr txBox="1"/>
          <p:nvPr/>
        </p:nvSpPr>
        <p:spPr>
          <a:xfrm>
            <a:off x="536752" y="4050791"/>
            <a:ext cx="807049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ブラッスリー出店計画（2027年4月 六本木 → 2028年 札幌・大阪 → 2030年〜 リゾート含め年2店舗）の先に着手。　</a:t>
            </a:r>
            <a:r>
              <a:rPr sz="75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候補地：北海道</a:t>
            </a:r>
            <a:r>
              <a:rPr sz="65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　※カンテサンスは取得に向けた基本合意の協議中</a:t>
            </a:r>
            <a:endParaRPr sz="1000"/>
          </a:p>
        </p:txBody>
      </p:sp>
      <p:sp>
        <p:nvSpPr>
          <p:cNvPr id="273" name="Rectangle 272"/>
          <p:cNvSpPr/>
          <p:nvPr/>
        </p:nvSpPr>
        <p:spPr>
          <a:xfrm>
            <a:off x="536752" y="4261104"/>
            <a:ext cx="8070494" cy="43891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536752" y="4261104"/>
            <a:ext cx="45720" cy="438912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94944" y="4306824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料理人が、一日の終わりまでお客様と過ごせる場所を。</a:t>
            </a:r>
            <a:endParaRPr sz="1000"/>
          </a:p>
          <a:p>
            <a:pPr algn="l">
              <a:lnSpc>
                <a:spcPct val="120000"/>
              </a:lnSpc>
            </a:pPr>
            <a:r>
              <a:rPr sz="830" b="0">
                <a:solidFill>
                  <a:srgbClr val="30373F"/>
                </a:solidFill>
                <a:latin typeface="Meiryo"/>
                <a:ea typeface="Meiryo"/>
                <a:cs typeface="Meiryo"/>
                <a:sym typeface="Meiryo"/>
              </a:rPr>
              <a:t>ゼロから新しい店をつくるより、長い時間をかけて積み上げられたものを、更に発展させ次の世代へ渡す。私たちが得意なのは、そちらです。</a:t>
            </a:r>
            <a:endParaRPr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12740"/>
            <a:ext cx="9144000" cy="130759"/>
          </a:xfrm>
          <a:prstGeom prst="rect">
            <a:avLst/>
          </a:prstGeom>
          <a:solidFill>
            <a:srgbClr val="3037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Google Shape;232;g34a8cbec04a_0_0"/>
          <p:cNvSpPr/>
          <p:nvPr/>
        </p:nvSpPr>
        <p:spPr>
          <a:xfrm>
            <a:off x="4291247" y="4848004"/>
            <a:ext cx="586200" cy="125400"/>
          </a:xfrm>
          <a:prstGeom prst="roundRect">
            <a:avLst>
              <a:gd name="adj" fmla="val 3217"/>
            </a:avLst>
          </a:prstGeom>
          <a:noFill/>
          <a:ln w="9525" cap="flat" cmpd="sng">
            <a:solidFill>
              <a:srgbClr val="FF0000"/>
            </a:solidFill>
            <a:prstDash val="solid"/>
            <a:miter lim="0"/>
            <a:headEnd type="none" w="sm" len="sm"/>
            <a:tailEnd type="none" w="sm" len="sm"/>
          </a:ln>
        </p:spPr>
        <p:txBody>
          <a:bodyPr spcFirstLastPara="1" wrap="square" lIns="68550" tIns="34275" rIns="685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</a:pPr>
            <a:r>
              <a:rPr lang="ja" sz="450" b="0" i="0" u="none" strike="noStrike" cap="none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CONFIDENTIAL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-US" altLang="ja"/>
              <a:t>2</a:t>
            </a:fld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239572" y="287121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"/>
                <a:ea typeface="Meiryo"/>
                <a:cs typeface="Meiryo"/>
                <a:sym typeface="Meiryo"/>
              </a:rPr>
              <a:t>中長期ロードマップ</a:t>
            </a:r>
            <a:endParaRPr sz="1400"/>
          </a:p>
        </p:txBody>
      </p:sp>
      <p:sp>
        <p:nvSpPr>
          <p:cNvPr id="234" name="Rectangle 233"/>
          <p:cNvSpPr/>
          <p:nvPr/>
        </p:nvSpPr>
        <p:spPr>
          <a:xfrm>
            <a:off x="0" y="673912"/>
            <a:ext cx="9144000" cy="328269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グループ連結で売上70億円・営業利益12億円（2029年度）へ。IPOを見据えて体制を整備</a:t>
            </a:r>
            <a:endParaRPr sz="1200"/>
          </a:p>
        </p:txBody>
      </p:sp>
      <p:sp>
        <p:nvSpPr>
          <p:cNvPr id="235" name="Rectangle 234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solidFill>
            <a:srgbClr val="F3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41148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PhaseⅠ</a:t>
            </a:r>
            <a:endParaRPr sz="750"/>
          </a:p>
        </p:txBody>
      </p:sp>
      <p:sp>
        <p:nvSpPr>
          <p:cNvPr id="237" name="TextBox 236"/>
          <p:cNvSpPr txBox="1"/>
          <p:nvPr/>
        </p:nvSpPr>
        <p:spPr>
          <a:xfrm>
            <a:off x="251460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PhaseⅠ</a:t>
            </a:r>
            <a:endParaRPr sz="750"/>
          </a:p>
        </p:txBody>
      </p:sp>
      <p:sp>
        <p:nvSpPr>
          <p:cNvPr id="238" name="TextBox 237"/>
          <p:cNvSpPr txBox="1"/>
          <p:nvPr/>
        </p:nvSpPr>
        <p:spPr>
          <a:xfrm>
            <a:off x="461772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PhaseⅡ</a:t>
            </a:r>
            <a:endParaRPr sz="750"/>
          </a:p>
        </p:txBody>
      </p:sp>
      <p:sp>
        <p:nvSpPr>
          <p:cNvPr id="239" name="TextBox 238"/>
          <p:cNvSpPr txBox="1"/>
          <p:nvPr/>
        </p:nvSpPr>
        <p:spPr>
          <a:xfrm>
            <a:off x="6720840" y="116128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成長戦略 PhaseⅡ</a:t>
            </a:r>
            <a:endParaRPr sz="750"/>
          </a:p>
        </p:txBody>
      </p:sp>
      <p:sp>
        <p:nvSpPr>
          <p:cNvPr id="240" name="Rectangle 239"/>
          <p:cNvSpPr/>
          <p:nvPr/>
        </p:nvSpPr>
        <p:spPr>
          <a:xfrm>
            <a:off x="41148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2026年度（予算）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2026/10〜2027/9</a:t>
            </a:r>
            <a:endParaRPr sz="900"/>
          </a:p>
        </p:txBody>
      </p:sp>
      <p:sp>
        <p:nvSpPr>
          <p:cNvPr id="241" name="Rectangle 240"/>
          <p:cNvSpPr/>
          <p:nvPr/>
        </p:nvSpPr>
        <p:spPr>
          <a:xfrm>
            <a:off x="411480" y="1883664"/>
            <a:ext cx="2011680" cy="98755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2120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43" name="TextBox 242"/>
          <p:cNvSpPr txBox="1"/>
          <p:nvPr/>
        </p:nvSpPr>
        <p:spPr>
          <a:xfrm>
            <a:off x="52120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42.1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44" name="TextBox 243"/>
          <p:cNvSpPr txBox="1"/>
          <p:nvPr/>
        </p:nvSpPr>
        <p:spPr>
          <a:xfrm>
            <a:off x="521208" y="2468880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</a:t>
            </a:r>
            <a:endParaRPr sz="700"/>
          </a:p>
        </p:txBody>
      </p:sp>
      <p:sp>
        <p:nvSpPr>
          <p:cNvPr id="245" name="TextBox 244"/>
          <p:cNvSpPr txBox="1"/>
          <p:nvPr/>
        </p:nvSpPr>
        <p:spPr>
          <a:xfrm>
            <a:off x="521208" y="2596896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8.4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（20.0%）</a:t>
            </a:r>
            <a:endParaRPr sz="1000"/>
          </a:p>
        </p:txBody>
      </p:sp>
      <p:sp>
        <p:nvSpPr>
          <p:cNvPr id="246" name="Rectangle 245"/>
          <p:cNvSpPr/>
          <p:nvPr/>
        </p:nvSpPr>
        <p:spPr>
          <a:xfrm>
            <a:off x="411480" y="294436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11480" y="2944368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521208" y="296265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持分集約による組織再編</a:t>
            </a:r>
            <a:endParaRPr sz="700"/>
          </a:p>
        </p:txBody>
      </p:sp>
      <p:sp>
        <p:nvSpPr>
          <p:cNvPr id="249" name="Rectangle 248"/>
          <p:cNvSpPr/>
          <p:nvPr/>
        </p:nvSpPr>
        <p:spPr>
          <a:xfrm>
            <a:off x="411480" y="327355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11480" y="3273552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521208" y="3291840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カンテサンス取得（予定）</a:t>
            </a:r>
            <a:endParaRPr sz="700"/>
          </a:p>
        </p:txBody>
      </p:sp>
      <p:sp>
        <p:nvSpPr>
          <p:cNvPr id="252" name="Rectangle 251"/>
          <p:cNvSpPr/>
          <p:nvPr/>
        </p:nvSpPr>
        <p:spPr>
          <a:xfrm>
            <a:off x="411480" y="3602736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411480" y="3602736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21208" y="362102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Brasserie Thierry Marx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六本木開業（2027年4月）</a:t>
            </a:r>
            <a:endParaRPr sz="700"/>
          </a:p>
        </p:txBody>
      </p:sp>
      <p:sp>
        <p:nvSpPr>
          <p:cNvPr id="255" name="Rectangle 254"/>
          <p:cNvSpPr/>
          <p:nvPr/>
        </p:nvSpPr>
        <p:spPr>
          <a:xfrm>
            <a:off x="411480" y="3931920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411480" y="3931920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21208" y="3950208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WineBank Auction（WEB）</a:t>
            </a:r>
            <a:endParaRPr sz="700"/>
          </a:p>
        </p:txBody>
      </p:sp>
      <p:sp>
        <p:nvSpPr>
          <p:cNvPr id="258" name="Rectangle 257"/>
          <p:cNvSpPr/>
          <p:nvPr/>
        </p:nvSpPr>
        <p:spPr>
          <a:xfrm>
            <a:off x="251460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2027年度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2027/10〜2028/9</a:t>
            </a:r>
            <a:endParaRPr sz="900"/>
          </a:p>
        </p:txBody>
      </p:sp>
      <p:sp>
        <p:nvSpPr>
          <p:cNvPr id="259" name="Rectangle 258"/>
          <p:cNvSpPr/>
          <p:nvPr/>
        </p:nvSpPr>
        <p:spPr>
          <a:xfrm>
            <a:off x="2514600" y="1883664"/>
            <a:ext cx="2011680" cy="98755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62432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61" name="TextBox 260"/>
          <p:cNvSpPr txBox="1"/>
          <p:nvPr/>
        </p:nvSpPr>
        <p:spPr>
          <a:xfrm>
            <a:off x="262432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51.5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62" name="TextBox 261"/>
          <p:cNvSpPr txBox="1"/>
          <p:nvPr/>
        </p:nvSpPr>
        <p:spPr>
          <a:xfrm>
            <a:off x="2624328" y="2468880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</a:t>
            </a:r>
            <a:endParaRPr sz="700"/>
          </a:p>
        </p:txBody>
      </p:sp>
      <p:sp>
        <p:nvSpPr>
          <p:cNvPr id="263" name="TextBox 262"/>
          <p:cNvSpPr txBox="1"/>
          <p:nvPr/>
        </p:nvSpPr>
        <p:spPr>
          <a:xfrm>
            <a:off x="2624328" y="2596896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10.1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（19.6%）</a:t>
            </a:r>
            <a:endParaRPr sz="1000"/>
          </a:p>
        </p:txBody>
      </p:sp>
      <p:sp>
        <p:nvSpPr>
          <p:cNvPr id="264" name="Rectangle 263"/>
          <p:cNvSpPr/>
          <p:nvPr/>
        </p:nvSpPr>
        <p:spPr>
          <a:xfrm>
            <a:off x="2514600" y="294436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514600" y="2944368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624328" y="296265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ワインマイル本格展開</a:t>
            </a:r>
            <a:endParaRPr sz="700"/>
          </a:p>
        </p:txBody>
      </p:sp>
      <p:sp>
        <p:nvSpPr>
          <p:cNvPr id="267" name="Rectangle 266"/>
          <p:cNvSpPr/>
          <p:nvPr/>
        </p:nvSpPr>
        <p:spPr>
          <a:xfrm>
            <a:off x="2514600" y="327355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514600" y="3273552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2624328" y="3291840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私募ファンド・オークション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年3億円規模</a:t>
            </a:r>
            <a:endParaRPr sz="700"/>
          </a:p>
        </p:txBody>
      </p:sp>
      <p:sp>
        <p:nvSpPr>
          <p:cNvPr id="270" name="Rectangle 269"/>
          <p:cNvSpPr/>
          <p:nvPr/>
        </p:nvSpPr>
        <p:spPr>
          <a:xfrm>
            <a:off x="2514600" y="3602736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2514600" y="3602736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624328" y="362102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札幌・大阪（2028年）</a:t>
            </a:r>
            <a:endParaRPr sz="700"/>
          </a:p>
        </p:txBody>
      </p:sp>
      <p:sp>
        <p:nvSpPr>
          <p:cNvPr id="273" name="Rectangle 272"/>
          <p:cNvSpPr/>
          <p:nvPr/>
        </p:nvSpPr>
        <p:spPr>
          <a:xfrm>
            <a:off x="461772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2028年度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2028/10〜2029/9</a:t>
            </a:r>
            <a:endParaRPr sz="900"/>
          </a:p>
        </p:txBody>
      </p:sp>
      <p:sp>
        <p:nvSpPr>
          <p:cNvPr id="274" name="Rectangle 273"/>
          <p:cNvSpPr/>
          <p:nvPr/>
        </p:nvSpPr>
        <p:spPr>
          <a:xfrm>
            <a:off x="4617720" y="1883664"/>
            <a:ext cx="2011680" cy="98755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72744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76" name="TextBox 275"/>
          <p:cNvSpPr txBox="1"/>
          <p:nvPr/>
        </p:nvSpPr>
        <p:spPr>
          <a:xfrm>
            <a:off x="472744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60.0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77" name="TextBox 276"/>
          <p:cNvSpPr txBox="1"/>
          <p:nvPr/>
        </p:nvSpPr>
        <p:spPr>
          <a:xfrm>
            <a:off x="4727448" y="2468880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</a:t>
            </a:r>
            <a:endParaRPr sz="700"/>
          </a:p>
        </p:txBody>
      </p:sp>
      <p:sp>
        <p:nvSpPr>
          <p:cNvPr id="278" name="TextBox 277"/>
          <p:cNvSpPr txBox="1"/>
          <p:nvPr/>
        </p:nvSpPr>
        <p:spPr>
          <a:xfrm>
            <a:off x="4727448" y="2596896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11.1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（18.5%）</a:t>
            </a:r>
            <a:endParaRPr sz="1000"/>
          </a:p>
        </p:txBody>
      </p:sp>
      <p:sp>
        <p:nvSpPr>
          <p:cNvPr id="279" name="Rectangle 278"/>
          <p:cNvSpPr/>
          <p:nvPr/>
        </p:nvSpPr>
        <p:spPr>
          <a:xfrm>
            <a:off x="4617720" y="294436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4617720" y="2944368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727448" y="296265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首都圏・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政令指定都市（2029年）</a:t>
            </a:r>
            <a:endParaRPr sz="700"/>
          </a:p>
        </p:txBody>
      </p:sp>
      <p:sp>
        <p:nvSpPr>
          <p:cNvPr id="282" name="Rectangle 281"/>
          <p:cNvSpPr/>
          <p:nvPr/>
        </p:nvSpPr>
        <p:spPr>
          <a:xfrm>
            <a:off x="4617720" y="327355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4617720" y="3273552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4727448" y="3291840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ワインマイル会員100名超</a:t>
            </a:r>
            <a:endParaRPr sz="700"/>
          </a:p>
        </p:txBody>
      </p:sp>
      <p:sp>
        <p:nvSpPr>
          <p:cNvPr id="285" name="Rectangle 284"/>
          <p:cNvSpPr/>
          <p:nvPr/>
        </p:nvSpPr>
        <p:spPr>
          <a:xfrm>
            <a:off x="4617720" y="3602736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4617720" y="3602736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4727448" y="362102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オークション C2C・海外展開</a:t>
            </a:r>
            <a:endParaRPr sz="700"/>
          </a:p>
        </p:txBody>
      </p:sp>
      <p:sp>
        <p:nvSpPr>
          <p:cNvPr id="288" name="Rectangle 287"/>
          <p:cNvSpPr/>
          <p:nvPr/>
        </p:nvSpPr>
        <p:spPr>
          <a:xfrm>
            <a:off x="6720840" y="1463040"/>
            <a:ext cx="2011680" cy="384048"/>
          </a:xfrm>
          <a:prstGeom prst="rect">
            <a:avLst/>
          </a:prstGeom>
          <a:solidFill>
            <a:srgbClr val="36394B"/>
          </a:solidFill>
          <a:ln>
            <a:noFill/>
          </a:ln>
        </p:spPr>
        <p:txBody>
          <a:bodyPr rtlCol="0" anchor="ctr" wrap="square" lIns="36576" rIns="36576" tIns="18288" bIns="18288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eiryo"/>
                <a:ea typeface="Meiryo"/>
                <a:cs typeface="Meiryo"/>
                <a:sym typeface="Meiryo"/>
              </a:rPr>
              <a:t>2029年度</a:t>
            </a:r>
            <a:endParaRPr sz="900"/>
          </a:p>
          <a:p>
            <a:pPr algn="ctr">
              <a:lnSpc>
                <a:spcPct val="100000"/>
              </a:lnSpc>
            </a:pPr>
            <a:r>
              <a:rPr sz="650" b="0">
                <a:solidFill>
                  <a:srgbClr val="EAD5C7"/>
                </a:solidFill>
                <a:latin typeface="Meiryo"/>
                <a:ea typeface="Meiryo"/>
                <a:cs typeface="Meiryo"/>
                <a:sym typeface="Meiryo"/>
              </a:rPr>
              <a:t>2029/10〜2030/9</a:t>
            </a:r>
            <a:endParaRPr sz="900"/>
          </a:p>
        </p:txBody>
      </p:sp>
      <p:sp>
        <p:nvSpPr>
          <p:cNvPr id="289" name="Rectangle 288"/>
          <p:cNvSpPr/>
          <p:nvPr/>
        </p:nvSpPr>
        <p:spPr>
          <a:xfrm>
            <a:off x="6720840" y="1883664"/>
            <a:ext cx="2011680" cy="987552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830568" y="1938528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連結売上高</a:t>
            </a:r>
            <a:endParaRPr sz="700"/>
          </a:p>
        </p:txBody>
      </p:sp>
      <p:sp>
        <p:nvSpPr>
          <p:cNvPr id="291" name="TextBox 290"/>
          <p:cNvSpPr txBox="1"/>
          <p:nvPr/>
        </p:nvSpPr>
        <p:spPr>
          <a:xfrm>
            <a:off x="6830568" y="2084831"/>
            <a:ext cx="17922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70.4</a:t>
            </a:r>
            <a:r>
              <a:rPr sz="9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endParaRPr sz="1000"/>
          </a:p>
        </p:txBody>
      </p:sp>
      <p:sp>
        <p:nvSpPr>
          <p:cNvPr id="292" name="TextBox 291"/>
          <p:cNvSpPr txBox="1"/>
          <p:nvPr/>
        </p:nvSpPr>
        <p:spPr>
          <a:xfrm>
            <a:off x="6830568" y="2468880"/>
            <a:ext cx="179222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連結営業利益</a:t>
            </a:r>
            <a:endParaRPr sz="700"/>
          </a:p>
        </p:txBody>
      </p:sp>
      <p:sp>
        <p:nvSpPr>
          <p:cNvPr id="293" name="TextBox 292"/>
          <p:cNvSpPr txBox="1"/>
          <p:nvPr/>
        </p:nvSpPr>
        <p:spPr>
          <a:xfrm>
            <a:off x="6830568" y="2596896"/>
            <a:ext cx="1792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12.5</a:t>
            </a:r>
            <a:r>
              <a:rPr sz="8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 億円</a:t>
            </a:r>
            <a:r>
              <a:rPr sz="70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（17.7%）</a:t>
            </a:r>
            <a:endParaRPr sz="1000"/>
          </a:p>
        </p:txBody>
      </p:sp>
      <p:sp>
        <p:nvSpPr>
          <p:cNvPr id="294" name="Rectangle 293"/>
          <p:cNvSpPr/>
          <p:nvPr/>
        </p:nvSpPr>
        <p:spPr>
          <a:xfrm>
            <a:off x="6720840" y="2944368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720840" y="2944368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6830568" y="2962656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Thierry Marx リゾート含め</a:t>
            </a:r>
            <a:endParaRPr sz="700"/>
          </a:p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年2店舗（2030年〜）</a:t>
            </a:r>
            <a:endParaRPr sz="700"/>
          </a:p>
        </p:txBody>
      </p:sp>
      <p:sp>
        <p:nvSpPr>
          <p:cNvPr id="297" name="Rectangle 296"/>
          <p:cNvSpPr/>
          <p:nvPr/>
        </p:nvSpPr>
        <p:spPr>
          <a:xfrm>
            <a:off x="6720840" y="3273552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6720840" y="3273552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6830568" y="3291840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国内オーベルジュ着手</a:t>
            </a:r>
            <a:endParaRPr sz="700"/>
          </a:p>
        </p:txBody>
      </p:sp>
      <p:sp>
        <p:nvSpPr>
          <p:cNvPr id="300" name="Rectangle 299"/>
          <p:cNvSpPr/>
          <p:nvPr/>
        </p:nvSpPr>
        <p:spPr>
          <a:xfrm>
            <a:off x="6720840" y="3602736"/>
            <a:ext cx="20116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3E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6720840" y="3602736"/>
            <a:ext cx="45720" cy="292608"/>
          </a:xfrm>
          <a:prstGeom prst="rect">
            <a:avLst/>
          </a:prstGeom>
          <a:solidFill>
            <a:srgbClr val="C68A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TextBox 301"/>
          <p:cNvSpPr txBox="1"/>
          <p:nvPr/>
        </p:nvSpPr>
        <p:spPr>
          <a:xfrm>
            <a:off x="6830568" y="3621024"/>
            <a:ext cx="184708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>
                <a:solidFill>
                  <a:srgbClr val="36394B"/>
                </a:solidFill>
                <a:latin typeface="Meiryo"/>
                <a:ea typeface="Meiryo"/>
                <a:cs typeface="Meiryo"/>
                <a:sym typeface="Meiryo"/>
              </a:rPr>
              <a:t>IPOへ</a:t>
            </a:r>
            <a:endParaRPr sz="700"/>
          </a:p>
        </p:txBody>
      </p:sp>
      <p:sp>
        <p:nvSpPr>
          <p:cNvPr id="303" name="TextBox 302"/>
          <p:cNvSpPr txBox="1"/>
          <p:nvPr/>
        </p:nvSpPr>
        <p:spPr>
          <a:xfrm>
            <a:off x="242316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04" name="TextBox 303"/>
          <p:cNvSpPr txBox="1"/>
          <p:nvPr/>
        </p:nvSpPr>
        <p:spPr>
          <a:xfrm>
            <a:off x="452628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05" name="TextBox 304"/>
          <p:cNvSpPr txBox="1"/>
          <p:nvPr/>
        </p:nvSpPr>
        <p:spPr>
          <a:xfrm>
            <a:off x="6629400" y="2194560"/>
            <a:ext cx="914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68A65"/>
                </a:solidFill>
                <a:latin typeface="Meiryo"/>
                <a:ea typeface="Meiryo"/>
                <a:cs typeface="Meiryo"/>
                <a:sym typeface="Meiryo"/>
              </a:rPr>
              <a:t>▶</a:t>
            </a:r>
            <a:endParaRPr sz="1000"/>
          </a:p>
        </p:txBody>
      </p:sp>
      <p:sp>
        <p:nvSpPr>
          <p:cNvPr id="306" name="TextBox 305"/>
          <p:cNvSpPr txBox="1"/>
          <p:nvPr/>
        </p:nvSpPr>
        <p:spPr>
          <a:xfrm>
            <a:off x="411480" y="4315968"/>
            <a:ext cx="8321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30" b="0">
                <a:solidFill>
                  <a:srgbClr val="595959"/>
                </a:solidFill>
                <a:latin typeface="Meiryo"/>
                <a:ea typeface="Meiryo"/>
                <a:cs typeface="Meiryo"/>
                <a:sym typeface="Meiryo"/>
              </a:rPr>
              <a:t>連結数値は組織再編後のプロフォーマ（組織再編の頁・事業別内訳の頁を参照）。年度＝WineBank決算期（10月〜翌9月）。カンテサンスは期初取得を仮定。</a:t>
            </a:r>
            <a:endParaRPr sz="63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ユーザー定義 2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E99C93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9972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2202</Words>
  <Application>Microsoft Office PowerPoint</Application>
  <PresentationFormat>画面に合わせる (16:9)</PresentationFormat>
  <Paragraphs>324</Paragraphs>
  <Slides>20</Slides>
  <Notes>20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20</vt:i4>
      </vt:variant>
    </vt:vector>
  </HeadingPairs>
  <TitlesOfParts>
    <vt:vector size="28" baseType="lpstr">
      <vt:lpstr>Zen Kaku Gothic New</vt:lpstr>
      <vt:lpstr>MS PGothic</vt:lpstr>
      <vt:lpstr>Arial</vt:lpstr>
      <vt:lpstr>Times New Roman</vt:lpstr>
      <vt:lpstr>Meiryo</vt:lpstr>
      <vt:lpstr>Calibri</vt:lpstr>
      <vt:lpstr>Office テーマ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戸髙薫</dc:creator>
  <cp:lastModifiedBy>Kunihito Nakano</cp:lastModifiedBy>
  <cp:revision>1</cp:revision>
  <dcterms:modified xsi:type="dcterms:W3CDTF">2026-09-27T13:28:44Z</dcterms:modified>
</cp:coreProperties>
</file>