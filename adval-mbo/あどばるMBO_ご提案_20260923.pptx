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純資産と有利子負債の変化（億円）</a:t>
            </a:r>
          </a:p>
        </c:rich>
      </c:tx>
      <c:layout/>
      <c:overlay val="0"/>
    </c:title>
    <c:autoTitleDeleted val="0"/>
    <c:plotArea>
      <c:layout/>
      <c:barChart>
        <c:barDir val="col"/>
        <c:grouping val="clustered"/>
        <c:varyColors val="0"/>
        <c:ser>
          <c:idx val="0"/>
          <c:order val="0"/>
          <c:tx>
            <c:strRef>
              <c:f>Sheet1!$B$1</c:f>
              <c:strCache>
                <c:ptCount val="1"/>
                <c:pt idx="0">
                  <c:v>取引前</c:v>
                </c:pt>
              </c:strCache>
            </c:strRef>
          </c:tx>
          <c:spPr>
            <a:solidFill>
              <a:srgbClr val="7C8A9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Sheet1!$B$2:$B$3</c:f>
              <c:numCache>
                <c:formatCode>General</c:formatCode>
                <c:ptCount val="2"/>
                <c:pt idx="0">
                  <c:v>-2.59</c:v>
                </c:pt>
                <c:pt idx="1">
                  <c:v>10.97</c:v>
                </c:pt>
              </c:numCache>
            </c:numRef>
          </c:val>
        </c:ser>
        <c:ser>
          <c:idx val="1"/>
          <c:order val="1"/>
          <c:tx>
            <c:strRef>
              <c:f>Sheet1!$C$1</c:f>
              <c:strCache>
                <c:ptCount val="1"/>
                <c:pt idx="0">
                  <c:v>取引後</c:v>
                </c:pt>
              </c:strCache>
            </c:strRef>
          </c:tx>
          <c:spPr>
            <a:solidFill>
              <a:srgbClr val="6E263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Sheet1!$C$2:$C$3</c:f>
              <c:numCache>
                <c:formatCode>General</c:formatCode>
                <c:ptCount val="2"/>
                <c:pt idx="0">
                  <c:v>3.9</c:v>
                </c:pt>
                <c:pt idx="1">
                  <c:v>6.07</c:v>
                </c:pt>
              </c:numCache>
            </c:numRef>
          </c:val>
        </c:ser>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0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本日お願いしたいのはMBOの一件のみ。別途スペースマーケット社から合併提案を受けているが、当社としては本件を優先する方針。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結論から。今日お願いしたいのは①のエクイティ紹介が本丸。②③はセットでお願いする。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債務超過は隠さず先に出す。そのうえで正常化営業利益2.00億で反転させる。1.14億の裏付けは店舗別PLで別途提出。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銀行には②③が効く。ただし本質は①の出向費と④の速度。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ビジョン社の受取は株式9.41億＋借入返済7.90億＝17.31億。全額現金、借入は額面満額。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銀行は1株単価と分配可能額を必ず聞く。先に出しておく。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本日の主役。債務超過△4.09億が+3.90億に、自己資本比率24.9%になる。単位は千円。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LBOではなく借換えである、という一点を必ず伝える。審査の重さがまったく違う。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①が本丸。②③は同時に出しておく。返済原資の話を必ず添える。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最後は宿題の確認。特に正常化営業利益の裏付けが融資審査の生命線。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ビジョン社からの独立（MBO）</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第三者割当増資と自己株式取得による資本構成の再編、ならびに借換えのご相談</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2026年9月23日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株式会社みずほ銀行 御中</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第10期（2026年5月期）計算書類</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ご提案</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当社がやりたいことは、この一つです</a:t>
            </a:r>
            <a:endParaRPr lang="en-US" sz="2800" dirty="0"/>
          </a:p>
        </p:txBody>
      </p:sp>
      <p:sp>
        <p:nvSpPr>
          <p:cNvPr id="4" name="Shape 2"/>
          <p:cNvSpPr/>
          <p:nvPr/>
        </p:nvSpPr>
        <p:spPr>
          <a:xfrm>
            <a:off x="640080" y="1481328"/>
            <a:ext cx="10881360" cy="1591056"/>
          </a:xfrm>
          <a:prstGeom prst="roundRect">
            <a:avLst>
              <a:gd name="adj" fmla="val 3448"/>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60120" y="1682496"/>
            <a:ext cx="10241280" cy="585216"/>
          </a:xfrm>
          <a:prstGeom prst="rect">
            <a:avLst/>
          </a:prstGeom>
          <a:noFill/>
          <a:ln/>
        </p:spPr>
        <p:txBody>
          <a:bodyPr wrap="square" lIns="0" tIns="0" rIns="0" bIns="0" rtlCol="0" anchor="ctr"/>
          <a:lstStyle/>
          <a:p>
            <a:pPr indent="0" marL="0">
              <a:buNone/>
            </a:pPr>
            <a:r>
              <a:rPr lang="en-US" sz="2000" b="1" dirty="0">
                <a:solidFill>
                  <a:srgbClr val="6E2639"/>
                </a:solidFill>
                <a:latin typeface="Meiryo" pitchFamily="34" charset="0"/>
                <a:ea typeface="Meiryo" pitchFamily="34" charset="-122"/>
                <a:cs typeface="Meiryo" pitchFamily="34" charset="-120"/>
              </a:rPr>
              <a:t>親会社ビジョン社との資本・債権関係をすべて解消し、中野とパートナーの2者で経営する会社にします。</a:t>
            </a:r>
            <a:endParaRPr lang="en-US" sz="2000" dirty="0"/>
          </a:p>
        </p:txBody>
      </p:sp>
      <p:sp>
        <p:nvSpPr>
          <p:cNvPr id="6" name="Text 4"/>
          <p:cNvSpPr txBox="1"/>
          <p:nvPr/>
        </p:nvSpPr>
        <p:spPr>
          <a:xfrm>
            <a:off x="960120" y="2322576"/>
            <a:ext cx="10241280" cy="548640"/>
          </a:xfrm>
          <a:prstGeom prst="rect">
            <a:avLst/>
          </a:prstGeom>
          <a:noFill/>
          <a:ln/>
        </p:spPr>
        <p:txBody>
          <a:bodyPr wrap="square" lIns="0" tIns="0" rIns="0" bIns="0" rtlCol="0" anchor="ctr"/>
          <a:lstStyle/>
          <a:p>
            <a:pPr indent="0" marL="0">
              <a:lnSpc>
                <a:spcPct val="120000"/>
              </a:lnSpc>
              <a:buNone/>
            </a:pPr>
            <a:r>
              <a:rPr lang="en-US" sz="1250" dirty="0">
                <a:solidFill>
                  <a:srgbClr val="3D4E60"/>
                </a:solidFill>
                <a:latin typeface="Meiryo" pitchFamily="34" charset="0"/>
                <a:ea typeface="Meiryo" pitchFamily="34" charset="-122"/>
                <a:cs typeface="Meiryo" pitchFamily="34" charset="-120"/>
              </a:rPr>
              <a:t>そのために第三者割当増資19.57億円を行い、うち12.72億円で中野以外の全株主から自己株式を取得、7.90億円でビジョン社借入を完済します。クロージングは2027年5月31日を想定しています。</a:t>
            </a:r>
            <a:endParaRPr lang="en-US" sz="1250" dirty="0"/>
          </a:p>
        </p:txBody>
      </p:sp>
      <p:sp>
        <p:nvSpPr>
          <p:cNvPr id="7" name="Shape 5"/>
          <p:cNvSpPr/>
          <p:nvPr/>
        </p:nvSpPr>
        <p:spPr>
          <a:xfrm>
            <a:off x="640080"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8" name="Text 6"/>
          <p:cNvSpPr txBox="1"/>
          <p:nvPr/>
        </p:nvSpPr>
        <p:spPr>
          <a:xfrm>
            <a:off x="868680"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何を</a:t>
            </a:r>
            <a:endParaRPr lang="en-US" sz="1100" dirty="0"/>
          </a:p>
        </p:txBody>
      </p:sp>
      <p:sp>
        <p:nvSpPr>
          <p:cNvPr id="9" name="Text 7"/>
          <p:cNvSpPr txBox="1"/>
          <p:nvPr/>
        </p:nvSpPr>
        <p:spPr>
          <a:xfrm>
            <a:off x="868680"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ビジョン社ほか既存株主7社の全株式</a:t>
            </a:r>
            <a:endParaRPr lang="en-US" sz="1500" dirty="0"/>
          </a:p>
        </p:txBody>
      </p:sp>
      <p:sp>
        <p:nvSpPr>
          <p:cNvPr id="10" name="Text 8"/>
          <p:cNvSpPr txBox="1"/>
          <p:nvPr/>
        </p:nvSpPr>
        <p:spPr>
          <a:xfrm>
            <a:off x="868680"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20億円評価・現金対価</a:t>
            </a:r>
            <a:endParaRPr lang="en-US" sz="1000" dirty="0"/>
          </a:p>
        </p:txBody>
      </p:sp>
      <p:sp>
        <p:nvSpPr>
          <p:cNvPr id="11" name="Shape 9"/>
          <p:cNvSpPr/>
          <p:nvPr/>
        </p:nvSpPr>
        <p:spPr>
          <a:xfrm>
            <a:off x="3401568"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2" name="Text 10"/>
          <p:cNvSpPr txBox="1"/>
          <p:nvPr/>
        </p:nvSpPr>
        <p:spPr>
          <a:xfrm>
            <a:off x="3630168"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いくら</a:t>
            </a:r>
            <a:endParaRPr lang="en-US" sz="1100" dirty="0"/>
          </a:p>
        </p:txBody>
      </p:sp>
      <p:sp>
        <p:nvSpPr>
          <p:cNvPr id="13" name="Text 11"/>
          <p:cNvSpPr txBox="1"/>
          <p:nvPr/>
        </p:nvSpPr>
        <p:spPr>
          <a:xfrm>
            <a:off x="3630168" y="3694176"/>
            <a:ext cx="2148840" cy="566928"/>
          </a:xfrm>
          <a:prstGeom prst="rect">
            <a:avLst/>
          </a:prstGeom>
          <a:noFill/>
          <a:ln/>
        </p:spPr>
        <p:txBody>
          <a:bodyPr wrap="square" lIns="0" tIns="0" rIns="0" bIns="0" rtlCol="0" anchor="ctr"/>
          <a:lstStyle/>
          <a:p>
            <a:pPr indent="0" marL="0">
              <a:buNone/>
            </a:pPr>
            <a:r>
              <a:rPr lang="en-US" sz="1500" b="1" dirty="0">
                <a:solidFill>
                  <a:srgbClr val="6E2639"/>
                </a:solidFill>
                <a:latin typeface="Meiryo" pitchFamily="34" charset="0"/>
                <a:ea typeface="Meiryo" pitchFamily="34" charset="-122"/>
                <a:cs typeface="Meiryo" pitchFamily="34" charset="-120"/>
              </a:rPr>
              <a:t>増資 19.57億円</a:t>
            </a:r>
            <a:endParaRPr lang="en-US" sz="1500" dirty="0"/>
          </a:p>
        </p:txBody>
      </p:sp>
      <p:sp>
        <p:nvSpPr>
          <p:cNvPr id="14" name="Text 12"/>
          <p:cNvSpPr txBox="1"/>
          <p:nvPr/>
        </p:nvSpPr>
        <p:spPr>
          <a:xfrm>
            <a:off x="3630168"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中野ファンド6.10億＋パートナー13.47億</a:t>
            </a:r>
            <a:endParaRPr lang="en-US" sz="1000" dirty="0"/>
          </a:p>
        </p:txBody>
      </p:sp>
      <p:sp>
        <p:nvSpPr>
          <p:cNvPr id="15" name="Shape 13"/>
          <p:cNvSpPr/>
          <p:nvPr/>
        </p:nvSpPr>
        <p:spPr>
          <a:xfrm>
            <a:off x="6163056"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6" name="Text 14"/>
          <p:cNvSpPr txBox="1"/>
          <p:nvPr/>
        </p:nvSpPr>
        <p:spPr>
          <a:xfrm>
            <a:off x="6391656"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誰が</a:t>
            </a:r>
            <a:endParaRPr lang="en-US" sz="1100" dirty="0"/>
          </a:p>
        </p:txBody>
      </p:sp>
      <p:sp>
        <p:nvSpPr>
          <p:cNvPr id="17" name="Text 15"/>
          <p:cNvSpPr txBox="1"/>
          <p:nvPr/>
        </p:nvSpPr>
        <p:spPr>
          <a:xfrm>
            <a:off x="6391656"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中野陣営 50.0% ／ パートナー 50.0%</a:t>
            </a:r>
            <a:endParaRPr lang="en-US" sz="1500" dirty="0"/>
          </a:p>
        </p:txBody>
      </p:sp>
      <p:sp>
        <p:nvSpPr>
          <p:cNvPr id="18" name="Text 16"/>
          <p:cNvSpPr txBox="1"/>
          <p:nvPr/>
        </p:nvSpPr>
        <p:spPr>
          <a:xfrm>
            <a:off x="6391656"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取引後の株主は2者のみ</a:t>
            </a:r>
            <a:endParaRPr lang="en-US" sz="1000" dirty="0"/>
          </a:p>
        </p:txBody>
      </p:sp>
      <p:sp>
        <p:nvSpPr>
          <p:cNvPr id="19" name="Shape 17"/>
          <p:cNvSpPr/>
          <p:nvPr/>
        </p:nvSpPr>
        <p:spPr>
          <a:xfrm>
            <a:off x="8924544"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153144"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いつ</a:t>
            </a:r>
            <a:endParaRPr lang="en-US" sz="1100" dirty="0"/>
          </a:p>
        </p:txBody>
      </p:sp>
      <p:sp>
        <p:nvSpPr>
          <p:cNvPr id="21" name="Text 19"/>
          <p:cNvSpPr txBox="1"/>
          <p:nvPr/>
        </p:nvSpPr>
        <p:spPr>
          <a:xfrm>
            <a:off x="9153144"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2027年5月31日</a:t>
            </a:r>
            <a:endParaRPr lang="en-US" sz="1500" dirty="0"/>
          </a:p>
        </p:txBody>
      </p:sp>
      <p:sp>
        <p:nvSpPr>
          <p:cNvPr id="22" name="Text 20"/>
          <p:cNvSpPr txBox="1"/>
          <p:nvPr/>
        </p:nvSpPr>
        <p:spPr>
          <a:xfrm>
            <a:off x="9153144"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減資→増資→自己株式取得→返済</a:t>
            </a:r>
            <a:endParaRPr lang="en-US" sz="1000" dirty="0"/>
          </a:p>
        </p:txBody>
      </p:sp>
      <p:sp>
        <p:nvSpPr>
          <p:cNvPr id="23" name="Shape 21"/>
          <p:cNvSpPr/>
          <p:nvPr/>
        </p:nvSpPr>
        <p:spPr>
          <a:xfrm>
            <a:off x="640080" y="4983480"/>
            <a:ext cx="10881360" cy="1280160"/>
          </a:xfrm>
          <a:prstGeom prst="roundRect">
            <a:avLst>
              <a:gd name="adj" fmla="val 4286"/>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4" name="Text 22"/>
          <p:cNvSpPr txBox="1"/>
          <p:nvPr/>
        </p:nvSpPr>
        <p:spPr>
          <a:xfrm>
            <a:off x="960120" y="5138928"/>
            <a:ext cx="3657600" cy="274320"/>
          </a:xfrm>
          <a:prstGeom prst="rect">
            <a:avLst/>
          </a:prstGeom>
          <a:noFill/>
          <a:ln/>
        </p:spPr>
        <p:txBody>
          <a:bodyPr wrap="square" lIns="0" tIns="0" rIns="0" bIns="0" rtlCol="0" anchor="ctr"/>
          <a:lstStyle/>
          <a:p>
            <a:pPr indent="0" marL="0">
              <a:buNone/>
            </a:pPr>
            <a:r>
              <a:rPr lang="en-US" sz="1350" b="1" dirty="0">
                <a:solidFill>
                  <a:srgbClr val="2C6A4E"/>
                </a:solidFill>
                <a:latin typeface="Meiryo" pitchFamily="34" charset="0"/>
                <a:ea typeface="Meiryo" pitchFamily="34" charset="-122"/>
                <a:cs typeface="Meiryo" pitchFamily="34" charset="-120"/>
              </a:rPr>
              <a:t>みずほ銀行様へのお願い</a:t>
            </a:r>
            <a:endParaRPr lang="en-US" sz="1350" dirty="0"/>
          </a:p>
        </p:txBody>
      </p:sp>
      <p:sp>
        <p:nvSpPr>
          <p:cNvPr id="25" name="Text 23"/>
          <p:cNvSpPr txBox="1"/>
          <p:nvPr/>
        </p:nvSpPr>
        <p:spPr>
          <a:xfrm>
            <a:off x="960120"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① エクイティ13.47億円の引受先のご紹介</a:t>
            </a:r>
            <a:endParaRPr lang="en-US" sz="1150" dirty="0"/>
          </a:p>
        </p:txBody>
      </p:sp>
      <p:sp>
        <p:nvSpPr>
          <p:cNvPr id="26" name="Text 24"/>
          <p:cNvSpPr txBox="1"/>
          <p:nvPr/>
        </p:nvSpPr>
        <p:spPr>
          <a:xfrm>
            <a:off x="960120"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みずほキャピタル様・グループファンドを含めて</a:t>
            </a:r>
            <a:endParaRPr lang="en-US" sz="950" dirty="0"/>
          </a:p>
        </p:txBody>
      </p:sp>
      <p:sp>
        <p:nvSpPr>
          <p:cNvPr id="27" name="Text 25"/>
          <p:cNvSpPr txBox="1"/>
          <p:nvPr/>
        </p:nvSpPr>
        <p:spPr>
          <a:xfrm>
            <a:off x="4453128"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② 経営者保証の解除</a:t>
            </a:r>
            <a:endParaRPr lang="en-US" sz="1150" dirty="0"/>
          </a:p>
        </p:txBody>
      </p:sp>
      <p:sp>
        <p:nvSpPr>
          <p:cNvPr id="28" name="Text 26"/>
          <p:cNvSpPr txBox="1"/>
          <p:nvPr/>
        </p:nvSpPr>
        <p:spPr>
          <a:xfrm>
            <a:off x="4453128"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取引後の財務内容を前提にガイドラインに沿って</a:t>
            </a:r>
            <a:endParaRPr lang="en-US" sz="950" dirty="0"/>
          </a:p>
        </p:txBody>
      </p:sp>
      <p:sp>
        <p:nvSpPr>
          <p:cNvPr id="29" name="Text 27"/>
          <p:cNvSpPr txBox="1"/>
          <p:nvPr/>
        </p:nvSpPr>
        <p:spPr>
          <a:xfrm>
            <a:off x="7946136"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③ 借換え 6.07億円</a:t>
            </a:r>
            <a:endParaRPr lang="en-US" sz="1150" dirty="0"/>
          </a:p>
        </p:txBody>
      </p:sp>
      <p:sp>
        <p:nvSpPr>
          <p:cNvPr id="30" name="Text 28"/>
          <p:cNvSpPr txBox="1"/>
          <p:nvPr/>
        </p:nvSpPr>
        <p:spPr>
          <a:xfrm>
            <a:off x="7946136"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既存3.07億の継続＋ビジョン借入のリファイ3.00億</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現状</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第10期の実績と、バランスシートの課題</a:t>
            </a:r>
            <a:endParaRPr lang="en-US" sz="2800" dirty="0"/>
          </a:p>
        </p:txBody>
      </p:sp>
      <p:sp>
        <p:nvSpPr>
          <p:cNvPr id="4" name="Text 2"/>
          <p:cNvSpPr txBox="1"/>
          <p:nvPr/>
        </p:nvSpPr>
        <p:spPr>
          <a:xfrm>
            <a:off x="64008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売上高</a:t>
            </a:r>
            <a:endParaRPr lang="en-US" sz="1100" dirty="0"/>
          </a:p>
        </p:txBody>
      </p:sp>
      <p:sp>
        <p:nvSpPr>
          <p:cNvPr id="5" name="Text 3"/>
          <p:cNvSpPr txBox="1"/>
          <p:nvPr/>
        </p:nvSpPr>
        <p:spPr>
          <a:xfrm>
            <a:off x="640080" y="1773936"/>
            <a:ext cx="23774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21.80</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6" name="Text 4"/>
          <p:cNvSpPr txBox="1"/>
          <p:nvPr/>
        </p:nvSpPr>
        <p:spPr>
          <a:xfrm>
            <a:off x="64008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前期比 +18.8%</a:t>
            </a:r>
            <a:endParaRPr lang="en-US" sz="1000" dirty="0"/>
          </a:p>
        </p:txBody>
      </p:sp>
      <p:sp>
        <p:nvSpPr>
          <p:cNvPr id="7" name="Text 5"/>
          <p:cNvSpPr txBox="1"/>
          <p:nvPr/>
        </p:nvSpPr>
        <p:spPr>
          <a:xfrm>
            <a:off x="320040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営業利益</a:t>
            </a:r>
            <a:endParaRPr lang="en-US" sz="1100" dirty="0"/>
          </a:p>
        </p:txBody>
      </p:sp>
      <p:sp>
        <p:nvSpPr>
          <p:cNvPr id="8" name="Text 6"/>
          <p:cNvSpPr txBox="1"/>
          <p:nvPr/>
        </p:nvSpPr>
        <p:spPr>
          <a:xfrm>
            <a:off x="3200400" y="1773936"/>
            <a:ext cx="23774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1.58</a:t>
            </a:r>
            <a:pPr indent="0" marL="0">
              <a:buNone/>
            </a:pPr>
            <a:r>
              <a:rPr lang="en-US" sz="1300" b="1" dirty="0">
                <a:solidFill>
                  <a:srgbClr val="1E2A38"/>
                </a:solidFill>
                <a:latin typeface="Meiryo" pitchFamily="34" charset="0"/>
                <a:ea typeface="Meiryo" pitchFamily="34" charset="-122"/>
                <a:cs typeface="Meiryo" pitchFamily="34" charset="-120"/>
              </a:rPr>
              <a:t>億円</a:t>
            </a:r>
            <a:endParaRPr lang="en-US" sz="3000" dirty="0"/>
          </a:p>
        </p:txBody>
      </p:sp>
      <p:sp>
        <p:nvSpPr>
          <p:cNvPr id="9" name="Text 7"/>
          <p:cNvSpPr txBox="1"/>
          <p:nvPr/>
        </p:nvSpPr>
        <p:spPr>
          <a:xfrm>
            <a:off x="320040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前期1.77億から減益</a:t>
            </a:r>
            <a:endParaRPr lang="en-US" sz="1000" dirty="0"/>
          </a:p>
        </p:txBody>
      </p:sp>
      <p:sp>
        <p:nvSpPr>
          <p:cNvPr id="10" name="Text 8"/>
          <p:cNvSpPr txBox="1"/>
          <p:nvPr/>
        </p:nvSpPr>
        <p:spPr>
          <a:xfrm>
            <a:off x="576072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純資産</a:t>
            </a:r>
            <a:endParaRPr lang="en-US" sz="1100" dirty="0"/>
          </a:p>
        </p:txBody>
      </p:sp>
      <p:sp>
        <p:nvSpPr>
          <p:cNvPr id="11" name="Text 9"/>
          <p:cNvSpPr txBox="1"/>
          <p:nvPr/>
        </p:nvSpPr>
        <p:spPr>
          <a:xfrm>
            <a:off x="576072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△4.09</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2" name="Text 10"/>
          <p:cNvSpPr txBox="1"/>
          <p:nvPr/>
        </p:nvSpPr>
        <p:spPr>
          <a:xfrm>
            <a:off x="576072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債務超過</a:t>
            </a:r>
            <a:endParaRPr lang="en-US" sz="1000" dirty="0"/>
          </a:p>
        </p:txBody>
      </p:sp>
      <p:sp>
        <p:nvSpPr>
          <p:cNvPr id="13" name="Text 11"/>
          <p:cNvSpPr txBox="1"/>
          <p:nvPr/>
        </p:nvSpPr>
        <p:spPr>
          <a:xfrm>
            <a:off x="832104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有利子負債</a:t>
            </a:r>
            <a:endParaRPr lang="en-US" sz="1100" dirty="0"/>
          </a:p>
        </p:txBody>
      </p:sp>
      <p:sp>
        <p:nvSpPr>
          <p:cNvPr id="14" name="Text 12"/>
          <p:cNvSpPr txBox="1"/>
          <p:nvPr/>
        </p:nvSpPr>
        <p:spPr>
          <a:xfrm>
            <a:off x="832104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11.57</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832104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うちビジョン 7.90億</a:t>
            </a:r>
            <a:endParaRPr lang="en-US" sz="1000" dirty="0"/>
          </a:p>
        </p:txBody>
      </p:sp>
      <p:sp>
        <p:nvSpPr>
          <p:cNvPr id="16" name="Shape 14"/>
          <p:cNvSpPr/>
          <p:nvPr/>
        </p:nvSpPr>
        <p:spPr>
          <a:xfrm>
            <a:off x="640080" y="2852928"/>
            <a:ext cx="5257800" cy="2926080"/>
          </a:xfrm>
          <a:prstGeom prst="roundRect">
            <a:avLst>
              <a:gd name="adj" fmla="val 187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7" name="Text 15"/>
          <p:cNvSpPr txBox="1"/>
          <p:nvPr/>
        </p:nvSpPr>
        <p:spPr>
          <a:xfrm>
            <a:off x="914400" y="3035808"/>
            <a:ext cx="475488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融資判断の壁になっている3点</a:t>
            </a:r>
            <a:endParaRPr lang="en-US" sz="1400" dirty="0"/>
          </a:p>
        </p:txBody>
      </p:sp>
      <p:sp>
        <p:nvSpPr>
          <p:cNvPr id="18" name="Shape 16"/>
          <p:cNvSpPr/>
          <p:nvPr/>
        </p:nvSpPr>
        <p:spPr>
          <a:xfrm>
            <a:off x="914400" y="3557016"/>
            <a:ext cx="182880" cy="182880"/>
          </a:xfrm>
          <a:prstGeom prst="roundRect">
            <a:avLst>
              <a:gd name="adj" fmla="val 50000"/>
            </a:avLst>
          </a:prstGeom>
          <a:solidFill>
            <a:srgbClr val="6E2639"/>
          </a:solidFill>
          <a:ln/>
        </p:spPr>
      </p:sp>
      <p:sp>
        <p:nvSpPr>
          <p:cNvPr id="19" name="Text 17"/>
          <p:cNvSpPr txBox="1"/>
          <p:nvPr/>
        </p:nvSpPr>
        <p:spPr>
          <a:xfrm>
            <a:off x="1234440" y="347472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純資産が△4.09億の債務超過</a:t>
            </a:r>
            <a:endParaRPr lang="en-US" sz="1250" dirty="0"/>
          </a:p>
        </p:txBody>
      </p:sp>
      <p:sp>
        <p:nvSpPr>
          <p:cNvPr id="20" name="Text 18"/>
          <p:cNvSpPr txBox="1"/>
          <p:nvPr/>
        </p:nvSpPr>
        <p:spPr>
          <a:xfrm>
            <a:off x="1234440" y="375818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この状態では新規融資の稟議が通りません</a:t>
            </a:r>
            <a:endParaRPr lang="en-US" sz="1050" dirty="0"/>
          </a:p>
        </p:txBody>
      </p:sp>
      <p:sp>
        <p:nvSpPr>
          <p:cNvPr id="21" name="Shape 19"/>
          <p:cNvSpPr/>
          <p:nvPr/>
        </p:nvSpPr>
        <p:spPr>
          <a:xfrm>
            <a:off x="914400" y="4288536"/>
            <a:ext cx="182880" cy="182880"/>
          </a:xfrm>
          <a:prstGeom prst="roundRect">
            <a:avLst>
              <a:gd name="adj" fmla="val 50000"/>
            </a:avLst>
          </a:prstGeom>
          <a:solidFill>
            <a:srgbClr val="6E2639"/>
          </a:solidFill>
          <a:ln/>
        </p:spPr>
      </p:sp>
      <p:sp>
        <p:nvSpPr>
          <p:cNvPr id="22" name="Text 20"/>
          <p:cNvSpPr txBox="1"/>
          <p:nvPr/>
        </p:nvSpPr>
        <p:spPr>
          <a:xfrm>
            <a:off x="1234440" y="420624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ビジョン社への借入が7.90億</a:t>
            </a:r>
            <a:endParaRPr lang="en-US" sz="1250" dirty="0"/>
          </a:p>
        </p:txBody>
      </p:sp>
      <p:sp>
        <p:nvSpPr>
          <p:cNvPr id="23" name="Text 21"/>
          <p:cNvSpPr txBox="1"/>
          <p:nvPr/>
        </p:nvSpPr>
        <p:spPr>
          <a:xfrm>
            <a:off x="1234440" y="448970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有利子負債の68%を親会社が占めています</a:t>
            </a:r>
            <a:endParaRPr lang="en-US" sz="1050" dirty="0"/>
          </a:p>
        </p:txBody>
      </p:sp>
      <p:sp>
        <p:nvSpPr>
          <p:cNvPr id="24" name="Shape 22"/>
          <p:cNvSpPr/>
          <p:nvPr/>
        </p:nvSpPr>
        <p:spPr>
          <a:xfrm>
            <a:off x="914400" y="5020056"/>
            <a:ext cx="182880" cy="182880"/>
          </a:xfrm>
          <a:prstGeom prst="roundRect">
            <a:avLst>
              <a:gd name="adj" fmla="val 50000"/>
            </a:avLst>
          </a:prstGeom>
          <a:solidFill>
            <a:srgbClr val="6E2639"/>
          </a:solidFill>
          <a:ln/>
        </p:spPr>
      </p:sp>
      <p:sp>
        <p:nvSpPr>
          <p:cNvPr id="25" name="Text 23"/>
          <p:cNvSpPr txBox="1"/>
          <p:nvPr/>
        </p:nvSpPr>
        <p:spPr>
          <a:xfrm>
            <a:off x="1234440" y="493776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現預金が0.40億</a:t>
            </a:r>
            <a:endParaRPr lang="en-US" sz="1250" dirty="0"/>
          </a:p>
        </p:txBody>
      </p:sp>
      <p:sp>
        <p:nvSpPr>
          <p:cNvPr id="26" name="Text 24"/>
          <p:cNvSpPr txBox="1"/>
          <p:nvPr/>
        </p:nvSpPr>
        <p:spPr>
          <a:xfrm>
            <a:off x="1234440" y="522122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月商1.8億に対し手元流動性が極端に薄い</a:t>
            </a:r>
            <a:endParaRPr lang="en-US" sz="1050" dirty="0"/>
          </a:p>
        </p:txBody>
      </p:sp>
      <p:sp>
        <p:nvSpPr>
          <p:cNvPr id="27" name="Shape 25"/>
          <p:cNvSpPr/>
          <p:nvPr/>
        </p:nvSpPr>
        <p:spPr>
          <a:xfrm>
            <a:off x="6263640" y="2852928"/>
            <a:ext cx="5257800" cy="2926080"/>
          </a:xfrm>
          <a:prstGeom prst="roundRect">
            <a:avLst>
              <a:gd name="adj" fmla="val 1875"/>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8" name="Text 26"/>
          <p:cNvSpPr txBox="1"/>
          <p:nvPr/>
        </p:nvSpPr>
        <p:spPr>
          <a:xfrm>
            <a:off x="6537960" y="3035808"/>
            <a:ext cx="475488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ただし、収益力は別の姿があります</a:t>
            </a:r>
            <a:endParaRPr lang="en-US" sz="1400" dirty="0"/>
          </a:p>
        </p:txBody>
      </p:sp>
      <p:sp>
        <p:nvSpPr>
          <p:cNvPr id="29" name="Text 27"/>
          <p:cNvSpPr txBox="1"/>
          <p:nvPr/>
        </p:nvSpPr>
        <p:spPr>
          <a:xfrm>
            <a:off x="6537960" y="3493008"/>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第10期 報告営業利益</a:t>
            </a:r>
            <a:endParaRPr lang="en-US" sz="1100" dirty="0"/>
          </a:p>
        </p:txBody>
      </p:sp>
      <p:sp>
        <p:nvSpPr>
          <p:cNvPr id="30" name="Text 28"/>
          <p:cNvSpPr txBox="1"/>
          <p:nvPr/>
        </p:nvSpPr>
        <p:spPr>
          <a:xfrm>
            <a:off x="10195560" y="3465576"/>
            <a:ext cx="10972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1.58億</a:t>
            </a:r>
            <a:endParaRPr lang="en-US" sz="1400" dirty="0"/>
          </a:p>
        </p:txBody>
      </p:sp>
      <p:sp>
        <p:nvSpPr>
          <p:cNvPr id="31" name="Text 29"/>
          <p:cNvSpPr txBox="1"/>
          <p:nvPr/>
        </p:nvSpPr>
        <p:spPr>
          <a:xfrm>
            <a:off x="6537960" y="4059936"/>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出向費 年0.72億の喪失</a:t>
            </a:r>
            <a:endParaRPr lang="en-US" sz="1100" dirty="0"/>
          </a:p>
        </p:txBody>
      </p:sp>
      <p:sp>
        <p:nvSpPr>
          <p:cNvPr id="32" name="Text 30"/>
          <p:cNvSpPr txBox="1"/>
          <p:nvPr/>
        </p:nvSpPr>
        <p:spPr>
          <a:xfrm>
            <a:off x="10195560" y="4032504"/>
            <a:ext cx="1097280" cy="310896"/>
          </a:xfrm>
          <a:prstGeom prst="rect">
            <a:avLst/>
          </a:prstGeom>
          <a:noFill/>
          <a:ln/>
        </p:spPr>
        <p:txBody>
          <a:bodyPr wrap="square" lIns="0" tIns="0" rIns="0" bIns="0" rtlCol="0" anchor="ctr"/>
          <a:lstStyle/>
          <a:p>
            <a:pPr algn="r" indent="0" marL="0">
              <a:buNone/>
            </a:pPr>
            <a:r>
              <a:rPr lang="en-US" sz="1400" b="1" dirty="0">
                <a:solidFill>
                  <a:srgbClr val="8A2E26"/>
                </a:solidFill>
                <a:latin typeface="Meiryo" pitchFamily="34" charset="0"/>
                <a:ea typeface="Meiryo" pitchFamily="34" charset="-122"/>
                <a:cs typeface="Meiryo" pitchFamily="34" charset="-120"/>
              </a:rPr>
              <a:t>△0.72億</a:t>
            </a:r>
            <a:endParaRPr lang="en-US" sz="1400" dirty="0"/>
          </a:p>
        </p:txBody>
      </p:sp>
      <p:sp>
        <p:nvSpPr>
          <p:cNvPr id="33" name="Text 31"/>
          <p:cNvSpPr txBox="1"/>
          <p:nvPr/>
        </p:nvSpPr>
        <p:spPr>
          <a:xfrm>
            <a:off x="6537960" y="4626864"/>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撤退店舗の損失解消・大型2施設の通年寄与</a:t>
            </a:r>
            <a:endParaRPr lang="en-US" sz="1100" dirty="0"/>
          </a:p>
        </p:txBody>
      </p:sp>
      <p:sp>
        <p:nvSpPr>
          <p:cNvPr id="34" name="Text 32"/>
          <p:cNvSpPr txBox="1"/>
          <p:nvPr/>
        </p:nvSpPr>
        <p:spPr>
          <a:xfrm>
            <a:off x="10195560" y="4599432"/>
            <a:ext cx="1097280" cy="310896"/>
          </a:xfrm>
          <a:prstGeom prst="rect">
            <a:avLst/>
          </a:prstGeom>
          <a:noFill/>
          <a:ln/>
        </p:spPr>
        <p:txBody>
          <a:bodyPr wrap="square" lIns="0" tIns="0" rIns="0" bIns="0" rtlCol="0" anchor="ctr"/>
          <a:lstStyle/>
          <a:p>
            <a:pPr algn="r" indent="0" marL="0">
              <a:buNone/>
            </a:pPr>
            <a:r>
              <a:rPr lang="en-US" sz="1400" b="1" dirty="0">
                <a:solidFill>
                  <a:srgbClr val="2C6A4E"/>
                </a:solidFill>
                <a:latin typeface="Meiryo" pitchFamily="34" charset="0"/>
                <a:ea typeface="Meiryo" pitchFamily="34" charset="-122"/>
                <a:cs typeface="Meiryo" pitchFamily="34" charset="-120"/>
              </a:rPr>
              <a:t>+1.14億</a:t>
            </a:r>
            <a:endParaRPr lang="en-US" sz="1400" dirty="0"/>
          </a:p>
        </p:txBody>
      </p:sp>
      <p:sp>
        <p:nvSpPr>
          <p:cNvPr id="35" name="Text 33"/>
          <p:cNvSpPr txBox="1"/>
          <p:nvPr/>
        </p:nvSpPr>
        <p:spPr>
          <a:xfrm>
            <a:off x="6537960" y="5193792"/>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正常化営業利益</a:t>
            </a:r>
            <a:endParaRPr lang="en-US" sz="1100" dirty="0"/>
          </a:p>
        </p:txBody>
      </p:sp>
      <p:sp>
        <p:nvSpPr>
          <p:cNvPr id="36" name="Text 34"/>
          <p:cNvSpPr txBox="1"/>
          <p:nvPr/>
        </p:nvSpPr>
        <p:spPr>
          <a:xfrm>
            <a:off x="10195560" y="5166360"/>
            <a:ext cx="1097280" cy="310896"/>
          </a:xfrm>
          <a:prstGeom prst="rect">
            <a:avLst/>
          </a:prstGeom>
          <a:noFill/>
          <a:ln/>
        </p:spPr>
        <p:txBody>
          <a:bodyPr wrap="square" lIns="0" tIns="0" rIns="0" bIns="0" rtlCol="0" anchor="ctr"/>
          <a:lstStyle/>
          <a:p>
            <a:pPr algn="r" indent="0" marL="0">
              <a:buNone/>
            </a:pPr>
            <a:r>
              <a:rPr lang="en-US" sz="1400" b="1" dirty="0">
                <a:solidFill>
                  <a:srgbClr val="6E2639"/>
                </a:solidFill>
                <a:latin typeface="Meiryo" pitchFamily="34" charset="0"/>
                <a:ea typeface="Meiryo" pitchFamily="34" charset="-122"/>
                <a:cs typeface="Meiryo" pitchFamily="34" charset="-120"/>
              </a:rPr>
              <a:t>2.00億</a:t>
            </a:r>
            <a:endParaRPr lang="en-US" sz="1400" dirty="0"/>
          </a:p>
        </p:txBody>
      </p:sp>
      <p:sp>
        <p:nvSpPr>
          <p:cNvPr id="37" name="Text 35"/>
          <p:cNvSpPr txBox="1"/>
          <p:nvPr/>
        </p:nvSpPr>
        <p:spPr>
          <a:xfrm>
            <a:off x="6537960" y="5504688"/>
            <a:ext cx="4754880" cy="274320"/>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正常化EBITDA 2.65億（営業利益2.00＋減価償却0.65）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ご提案の理由</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なぜ、いまMBOなのか</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出向費の負担が年0.72億</a:t>
            </a:r>
            <a:endParaRPr lang="en-US" sz="1450" dirty="0"/>
          </a:p>
        </p:txBody>
      </p:sp>
      <p:sp>
        <p:nvSpPr>
          <p:cNvPr id="7" name="Text 5"/>
          <p:cNvSpPr txBox="1"/>
          <p:nvPr/>
        </p:nvSpPr>
        <p:spPr>
          <a:xfrm>
            <a:off x="4572000" y="191109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+0.72億/年</a:t>
            </a:r>
            <a:endParaRPr lang="en-US" sz="1300" dirty="0"/>
          </a:p>
        </p:txBody>
      </p:sp>
      <p:sp>
        <p:nvSpPr>
          <p:cNvPr id="8" name="Text 6"/>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ビジョン社からの出向者にかかる費用は月600万円超。MBO成立と同時にゼロになり、そのまま営業利益に乗ります。</a:t>
            </a:r>
            <a:endParaRPr lang="en-US" sz="1050" dirty="0"/>
          </a:p>
        </p:txBody>
      </p:sp>
      <p:sp>
        <p:nvSpPr>
          <p:cNvPr id="9" name="Shape 7"/>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10" name="Text 8"/>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1" name="Text 9"/>
          <p:cNvSpPr txBox="1"/>
          <p:nvPr/>
        </p:nvSpPr>
        <p:spPr>
          <a:xfrm>
            <a:off x="7223760" y="189280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親会社借入が調達の足かせ</a:t>
            </a:r>
            <a:endParaRPr lang="en-US" sz="1450" dirty="0"/>
          </a:p>
        </p:txBody>
      </p:sp>
      <p:sp>
        <p:nvSpPr>
          <p:cNvPr id="12" name="Text 10"/>
          <p:cNvSpPr txBox="1"/>
          <p:nvPr/>
        </p:nvSpPr>
        <p:spPr>
          <a:xfrm>
            <a:off x="10104120" y="191109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負債の68%</a:t>
            </a:r>
            <a:endParaRPr lang="en-US" sz="1300" dirty="0"/>
          </a:p>
        </p:txBody>
      </p:sp>
      <p:sp>
        <p:nvSpPr>
          <p:cNvPr id="13" name="Text 11"/>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有利子負債の68%が親会社向けです。この構造のままでは新規の設備投資資金も調達できません。</a:t>
            </a:r>
            <a:endParaRPr lang="en-US" sz="1050" dirty="0"/>
          </a:p>
        </p:txBody>
      </p:sp>
      <p:sp>
        <p:nvSpPr>
          <p:cNvPr id="14" name="Shape 12"/>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5" name="Text 13"/>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6" name="Text 14"/>
          <p:cNvSpPr txBox="1"/>
          <p:nvPr/>
        </p:nvSpPr>
        <p:spPr>
          <a:xfrm>
            <a:off x="1691640" y="404164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既存株主7社に出口がない</a:t>
            </a:r>
            <a:endParaRPr lang="en-US" sz="1450" dirty="0"/>
          </a:p>
        </p:txBody>
      </p:sp>
      <p:sp>
        <p:nvSpPr>
          <p:cNvPr id="17" name="Text 15"/>
          <p:cNvSpPr txBox="1"/>
          <p:nvPr/>
        </p:nvSpPr>
        <p:spPr>
          <a:xfrm>
            <a:off x="4572000" y="405993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7社が退出</a:t>
            </a:r>
            <a:endParaRPr lang="en-US" sz="1300" dirty="0"/>
          </a:p>
        </p:txBody>
      </p:sp>
      <p:sp>
        <p:nvSpPr>
          <p:cNvPr id="18" name="Text 16"/>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非上場のまま10年が経過しました。20億円評価・現金対価で全株主に出口を提供できます。</a:t>
            </a:r>
            <a:endParaRPr lang="en-US" sz="1050" dirty="0"/>
          </a:p>
        </p:txBody>
      </p:sp>
      <p:sp>
        <p:nvSpPr>
          <p:cNvPr id="19" name="Shape 17"/>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20" name="Text 18"/>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21" name="Text 19"/>
          <p:cNvSpPr txBox="1"/>
          <p:nvPr/>
        </p:nvSpPr>
        <p:spPr>
          <a:xfrm>
            <a:off x="7223760" y="404164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意思決定の速度</a:t>
            </a:r>
            <a:endParaRPr lang="en-US" sz="1450" dirty="0"/>
          </a:p>
        </p:txBody>
      </p:sp>
      <p:sp>
        <p:nvSpPr>
          <p:cNvPr id="22" name="Text 20"/>
          <p:cNvSpPr txBox="1"/>
          <p:nvPr/>
        </p:nvSpPr>
        <p:spPr>
          <a:xfrm>
            <a:off x="10104120" y="405993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株主2者</a:t>
            </a:r>
            <a:endParaRPr lang="en-US" sz="1300" dirty="0"/>
          </a:p>
        </p:txBody>
      </p:sp>
      <p:sp>
        <p:nvSpPr>
          <p:cNvPr id="23" name="Text 21"/>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取引後の株主は中野陣営とパートナーの2者のみ。出店判断・撤退判断を現場の速度で決められます。</a:t>
            </a:r>
            <a:endParaRPr lang="en-US" sz="1050" dirty="0"/>
          </a:p>
        </p:txBody>
      </p:sp>
      <p:sp>
        <p:nvSpPr>
          <p:cNvPr id="24" name="Text 22"/>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要するに、MBOは「支配権の移転」であると同時に「収益構造の正常化」です。営業利益は1.58億から2.00億へ回復します。</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スキーム</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資金の流れ</a:t>
            </a:r>
            <a:endParaRPr lang="en-US" sz="2800" dirty="0"/>
          </a:p>
        </p:txBody>
      </p:sp>
      <p:sp>
        <p:nvSpPr>
          <p:cNvPr id="4" name="Shape 2"/>
          <p:cNvSpPr/>
          <p:nvPr/>
        </p:nvSpPr>
        <p:spPr>
          <a:xfrm>
            <a:off x="640080" y="1691640"/>
            <a:ext cx="1828800" cy="2240280"/>
          </a:xfrm>
          <a:prstGeom prst="roundRect">
            <a:avLst>
              <a:gd name="adj" fmla="val 3000"/>
            </a:avLst>
          </a:prstGeom>
          <a:solidFill>
            <a:srgbClr val="26333F"/>
          </a:solidFill>
          <a:ln w="25400">
            <a:solidFill>
              <a:srgbClr val="6E2639"/>
            </a:solidFill>
            <a:prstDash val="solid"/>
          </a:ln>
        </p:spPr>
      </p:sp>
      <p:sp>
        <p:nvSpPr>
          <p:cNvPr id="5" name="Text 3"/>
          <p:cNvSpPr txBox="1"/>
          <p:nvPr/>
        </p:nvSpPr>
        <p:spPr>
          <a:xfrm>
            <a:off x="804672" y="1856232"/>
            <a:ext cx="1517904" cy="457200"/>
          </a:xfrm>
          <a:prstGeom prst="rect">
            <a:avLst/>
          </a:prstGeom>
          <a:noFill/>
          <a:ln/>
        </p:spPr>
        <p:txBody>
          <a:bodyPr wrap="square" lIns="0" tIns="0" rIns="0" bIns="0" rtlCol="0" anchor="ctr"/>
          <a:lstStyle/>
          <a:p>
            <a:pPr indent="0" marL="0">
              <a:buNone/>
            </a:pPr>
            <a:r>
              <a:rPr lang="en-US" sz="1150" b="1" dirty="0">
                <a:solidFill>
                  <a:srgbClr val="A85C6E"/>
                </a:solidFill>
                <a:latin typeface="Meiryo" pitchFamily="34" charset="0"/>
                <a:ea typeface="Meiryo" pitchFamily="34" charset="-122"/>
                <a:cs typeface="Meiryo" pitchFamily="34" charset="-120"/>
              </a:rPr>
              <a:t>① 第三者割当増資</a:t>
            </a:r>
            <a:endParaRPr lang="en-US" sz="1150" dirty="0"/>
          </a:p>
        </p:txBody>
      </p:sp>
      <p:sp>
        <p:nvSpPr>
          <p:cNvPr id="6" name="Text 4"/>
          <p:cNvSpPr txBox="1"/>
          <p:nvPr/>
        </p:nvSpPr>
        <p:spPr>
          <a:xfrm>
            <a:off x="80467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19.57億円</a:t>
            </a:r>
            <a:endParaRPr lang="en-US" sz="1800" dirty="0"/>
          </a:p>
        </p:txBody>
      </p:sp>
      <p:sp>
        <p:nvSpPr>
          <p:cNvPr id="7" name="Text 5"/>
          <p:cNvSpPr txBox="1"/>
          <p:nvPr/>
        </p:nvSpPr>
        <p:spPr>
          <a:xfrm>
            <a:off x="80467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中野ファンド 6.10億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パートナー 13.47億</a:t>
            </a:r>
            <a:endParaRPr lang="en-US" sz="950" dirty="0"/>
          </a:p>
        </p:txBody>
      </p:sp>
      <p:sp>
        <p:nvSpPr>
          <p:cNvPr id="8" name="Shape 6"/>
          <p:cNvSpPr/>
          <p:nvPr/>
        </p:nvSpPr>
        <p:spPr>
          <a:xfrm>
            <a:off x="3703320" y="1691640"/>
            <a:ext cx="1828800" cy="2240280"/>
          </a:xfrm>
          <a:prstGeom prst="roundRect">
            <a:avLst>
              <a:gd name="adj" fmla="val 3000"/>
            </a:avLst>
          </a:prstGeom>
          <a:solidFill>
            <a:srgbClr val="26333F"/>
          </a:solidFill>
          <a:ln w="12700">
            <a:solidFill>
              <a:srgbClr val="3A4854"/>
            </a:solidFill>
            <a:prstDash val="solid"/>
          </a:ln>
        </p:spPr>
      </p:sp>
      <p:sp>
        <p:nvSpPr>
          <p:cNvPr id="9" name="Text 7"/>
          <p:cNvSpPr txBox="1"/>
          <p:nvPr/>
        </p:nvSpPr>
        <p:spPr>
          <a:xfrm>
            <a:off x="386791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② 自己株式取得</a:t>
            </a:r>
            <a:endParaRPr lang="en-US" sz="1150" dirty="0"/>
          </a:p>
        </p:txBody>
      </p:sp>
      <p:sp>
        <p:nvSpPr>
          <p:cNvPr id="10" name="Text 8"/>
          <p:cNvSpPr txBox="1"/>
          <p:nvPr/>
        </p:nvSpPr>
        <p:spPr>
          <a:xfrm>
            <a:off x="386791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12.72億円</a:t>
            </a:r>
            <a:endParaRPr lang="en-US" sz="1800" dirty="0"/>
          </a:p>
        </p:txBody>
      </p:sp>
      <p:sp>
        <p:nvSpPr>
          <p:cNvPr id="11" name="Text 9"/>
          <p:cNvSpPr txBox="1"/>
          <p:nvPr/>
        </p:nvSpPr>
        <p:spPr>
          <a:xfrm>
            <a:off x="386791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中野以外の全株主</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127,616株を会社が買取</a:t>
            </a:r>
            <a:endParaRPr lang="en-US" sz="950" dirty="0"/>
          </a:p>
        </p:txBody>
      </p:sp>
      <p:sp>
        <p:nvSpPr>
          <p:cNvPr id="12" name="Shape 10"/>
          <p:cNvSpPr/>
          <p:nvPr/>
        </p:nvSpPr>
        <p:spPr>
          <a:xfrm>
            <a:off x="6766560" y="1691640"/>
            <a:ext cx="1828800" cy="2240280"/>
          </a:xfrm>
          <a:prstGeom prst="roundRect">
            <a:avLst>
              <a:gd name="adj" fmla="val 3000"/>
            </a:avLst>
          </a:prstGeom>
          <a:solidFill>
            <a:srgbClr val="26333F"/>
          </a:solidFill>
          <a:ln w="12700">
            <a:solidFill>
              <a:srgbClr val="3A4854"/>
            </a:solidFill>
            <a:prstDash val="solid"/>
          </a:ln>
        </p:spPr>
      </p:sp>
      <p:sp>
        <p:nvSpPr>
          <p:cNvPr id="13" name="Text 11"/>
          <p:cNvSpPr txBox="1"/>
          <p:nvPr/>
        </p:nvSpPr>
        <p:spPr>
          <a:xfrm>
            <a:off x="693115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③ ビジョン借入の返済</a:t>
            </a:r>
            <a:endParaRPr lang="en-US" sz="1150" dirty="0"/>
          </a:p>
        </p:txBody>
      </p:sp>
      <p:sp>
        <p:nvSpPr>
          <p:cNvPr id="14" name="Text 12"/>
          <p:cNvSpPr txBox="1"/>
          <p:nvPr/>
        </p:nvSpPr>
        <p:spPr>
          <a:xfrm>
            <a:off x="693115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7.90億円</a:t>
            </a:r>
            <a:endParaRPr lang="en-US" sz="1800" dirty="0"/>
          </a:p>
        </p:txBody>
      </p:sp>
      <p:sp>
        <p:nvSpPr>
          <p:cNvPr id="15" name="Text 13"/>
          <p:cNvSpPr txBox="1"/>
          <p:nvPr/>
        </p:nvSpPr>
        <p:spPr>
          <a:xfrm>
            <a:off x="693115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増資4.90億＋みずほ3.00億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資本・債権関係を完全解消</a:t>
            </a:r>
            <a:endParaRPr lang="en-US" sz="950" dirty="0"/>
          </a:p>
        </p:txBody>
      </p:sp>
      <p:sp>
        <p:nvSpPr>
          <p:cNvPr id="16" name="Shape 14"/>
          <p:cNvSpPr/>
          <p:nvPr/>
        </p:nvSpPr>
        <p:spPr>
          <a:xfrm>
            <a:off x="9829800" y="1691640"/>
            <a:ext cx="1828800" cy="2240280"/>
          </a:xfrm>
          <a:prstGeom prst="roundRect">
            <a:avLst>
              <a:gd name="adj" fmla="val 3000"/>
            </a:avLst>
          </a:prstGeom>
          <a:solidFill>
            <a:srgbClr val="26333F"/>
          </a:solidFill>
          <a:ln w="12700">
            <a:solidFill>
              <a:srgbClr val="3A4854"/>
            </a:solidFill>
            <a:prstDash val="solid"/>
          </a:ln>
        </p:spPr>
      </p:sp>
      <p:sp>
        <p:nvSpPr>
          <p:cNvPr id="17" name="Text 15"/>
          <p:cNvSpPr txBox="1"/>
          <p:nvPr/>
        </p:nvSpPr>
        <p:spPr>
          <a:xfrm>
            <a:off x="999439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④ 手元資金</a:t>
            </a:r>
            <a:endParaRPr lang="en-US" sz="1150" dirty="0"/>
          </a:p>
        </p:txBody>
      </p:sp>
      <p:sp>
        <p:nvSpPr>
          <p:cNvPr id="18" name="Text 16"/>
          <p:cNvSpPr txBox="1"/>
          <p:nvPr/>
        </p:nvSpPr>
        <p:spPr>
          <a:xfrm>
            <a:off x="999439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1.50億円</a:t>
            </a:r>
            <a:endParaRPr lang="en-US" sz="1800" dirty="0"/>
          </a:p>
        </p:txBody>
      </p:sp>
      <p:sp>
        <p:nvSpPr>
          <p:cNvPr id="19" name="Text 17"/>
          <p:cNvSpPr txBox="1"/>
          <p:nvPr/>
        </p:nvSpPr>
        <p:spPr>
          <a:xfrm>
            <a:off x="999439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運転資金として留保</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現預金は2.19億へ</a:t>
            </a:r>
            <a:endParaRPr lang="en-US" sz="950" dirty="0"/>
          </a:p>
        </p:txBody>
      </p:sp>
      <p:sp>
        <p:nvSpPr>
          <p:cNvPr id="20" name="Text 18"/>
          <p:cNvSpPr txBox="1"/>
          <p:nvPr/>
        </p:nvSpPr>
        <p:spPr>
          <a:xfrm>
            <a:off x="251460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1" name="Text 19"/>
          <p:cNvSpPr txBox="1"/>
          <p:nvPr/>
        </p:nvSpPr>
        <p:spPr>
          <a:xfrm>
            <a:off x="557784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864108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640080" y="4206240"/>
            <a:ext cx="10881360" cy="1691640"/>
          </a:xfrm>
          <a:prstGeom prst="roundRect">
            <a:avLst>
              <a:gd name="adj" fmla="val 3243"/>
            </a:avLst>
          </a:prstGeom>
          <a:solidFill>
            <a:srgbClr val="26333F"/>
          </a:solidFill>
          <a:ln w="12700">
            <a:solidFill>
              <a:srgbClr val="3A4854"/>
            </a:solidFill>
            <a:prstDash val="solid"/>
          </a:ln>
        </p:spPr>
      </p:sp>
      <p:sp>
        <p:nvSpPr>
          <p:cNvPr id="24" name="Text 22"/>
          <p:cNvSpPr txBox="1"/>
          <p:nvPr/>
        </p:nvSpPr>
        <p:spPr>
          <a:xfrm>
            <a:off x="914400" y="4389120"/>
            <a:ext cx="5486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取引後の株主は2者のみ</a:t>
            </a:r>
            <a:endParaRPr lang="en-US" sz="1500" dirty="0"/>
          </a:p>
        </p:txBody>
      </p:sp>
      <p:sp>
        <p:nvSpPr>
          <p:cNvPr id="25" name="Text 23"/>
          <p:cNvSpPr txBox="1"/>
          <p:nvPr/>
        </p:nvSpPr>
        <p:spPr>
          <a:xfrm>
            <a:off x="91440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中野陣営</a:t>
            </a:r>
            <a:endParaRPr lang="en-US" sz="1200" dirty="0"/>
          </a:p>
        </p:txBody>
      </p:sp>
      <p:sp>
        <p:nvSpPr>
          <p:cNvPr id="26" name="Text 24"/>
          <p:cNvSpPr txBox="1"/>
          <p:nvPr/>
        </p:nvSpPr>
        <p:spPr>
          <a:xfrm>
            <a:off x="914400" y="5084064"/>
            <a:ext cx="5029200" cy="402336"/>
          </a:xfrm>
          <a:prstGeom prst="rect">
            <a:avLst/>
          </a:prstGeom>
          <a:noFill/>
          <a:ln/>
        </p:spPr>
        <p:txBody>
          <a:bodyPr wrap="square" lIns="0" tIns="0" rIns="0" bIns="0" rtlCol="0" anchor="ctr"/>
          <a:lstStyle/>
          <a:p>
            <a:pPr indent="0" marL="0">
              <a:buNone/>
            </a:pPr>
            <a:r>
              <a:rPr lang="en-US" sz="2400" b="1" dirty="0">
                <a:solidFill>
                  <a:srgbClr val="A85C6E"/>
                </a:solidFill>
                <a:latin typeface="Meiryo" pitchFamily="34" charset="0"/>
                <a:ea typeface="Meiryo" pitchFamily="34" charset="-122"/>
                <a:cs typeface="Meiryo" pitchFamily="34" charset="-120"/>
              </a:rPr>
              <a:t>50.000%</a:t>
            </a:r>
            <a:endParaRPr lang="en-US" sz="2400" dirty="0"/>
          </a:p>
        </p:txBody>
      </p:sp>
      <p:sp>
        <p:nvSpPr>
          <p:cNvPr id="27" name="Text 25"/>
          <p:cNvSpPr txBox="1"/>
          <p:nvPr/>
        </p:nvSpPr>
        <p:spPr>
          <a:xfrm>
            <a:off x="91440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中野邦人 74,000株（SO行使後）＋ 中野ファンド 61,180株</a:t>
            </a:r>
            <a:endParaRPr lang="en-US" sz="950" dirty="0"/>
          </a:p>
        </p:txBody>
      </p:sp>
      <p:sp>
        <p:nvSpPr>
          <p:cNvPr id="28" name="Text 26"/>
          <p:cNvSpPr txBox="1"/>
          <p:nvPr/>
        </p:nvSpPr>
        <p:spPr>
          <a:xfrm>
            <a:off x="626364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パートナー</a:t>
            </a:r>
            <a:endParaRPr lang="en-US" sz="1200" dirty="0"/>
          </a:p>
        </p:txBody>
      </p:sp>
      <p:sp>
        <p:nvSpPr>
          <p:cNvPr id="29" name="Text 27"/>
          <p:cNvSpPr txBox="1"/>
          <p:nvPr/>
        </p:nvSpPr>
        <p:spPr>
          <a:xfrm>
            <a:off x="6263640" y="5084064"/>
            <a:ext cx="5029200" cy="402336"/>
          </a:xfrm>
          <a:prstGeom prst="rect">
            <a:avLst/>
          </a:prstGeom>
          <a:noFill/>
          <a:ln/>
        </p:spPr>
        <p:txBody>
          <a:bodyPr wrap="square" lIns="0" tIns="0" rIns="0" bIns="0" rtlCol="0" anchor="ctr"/>
          <a:lstStyle/>
          <a:p>
            <a:pPr indent="0" marL="0">
              <a:buNone/>
            </a:pPr>
            <a:r>
              <a:rPr lang="en-US" sz="2400" b="1" dirty="0">
                <a:solidFill>
                  <a:srgbClr val="8FB0CC"/>
                </a:solidFill>
                <a:latin typeface="Meiryo" pitchFamily="34" charset="0"/>
                <a:ea typeface="Meiryo" pitchFamily="34" charset="-122"/>
                <a:cs typeface="Meiryo" pitchFamily="34" charset="-120"/>
              </a:rPr>
              <a:t>50.000%</a:t>
            </a:r>
            <a:endParaRPr lang="en-US" sz="2400" dirty="0"/>
          </a:p>
        </p:txBody>
      </p:sp>
      <p:sp>
        <p:nvSpPr>
          <p:cNvPr id="30" name="Text 28"/>
          <p:cNvSpPr txBox="1"/>
          <p:nvPr/>
        </p:nvSpPr>
        <p:spPr>
          <a:xfrm>
            <a:off x="626364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135,180株（ヒューリック／東京建物等を想定）</a:t>
            </a:r>
            <a:endParaRPr lang="en-US" sz="950" dirty="0"/>
          </a:p>
        </p:txBody>
      </p:sp>
      <p:sp>
        <p:nvSpPr>
          <p:cNvPr id="31" name="Text 29"/>
          <p:cNvSpPr txBox="1"/>
          <p:nvPr/>
        </p:nvSpPr>
        <p:spPr>
          <a:xfrm>
            <a:off x="640080" y="6080760"/>
            <a:ext cx="10881360" cy="274320"/>
          </a:xfrm>
          <a:prstGeom prst="rect">
            <a:avLst/>
          </a:prstGeom>
          <a:noFill/>
          <a:ln/>
        </p:spPr>
        <p:txBody>
          <a:bodyPr wrap="square" lIns="0" tIns="0" rIns="0" bIns="0" rtlCol="0" anchor="ctr"/>
          <a:lstStyle/>
          <a:p>
            <a:pPr indent="0" marL="0">
              <a:buNone/>
            </a:pPr>
            <a:r>
              <a:rPr lang="en-US" sz="1050" dirty="0">
                <a:solidFill>
                  <a:srgbClr val="7F8E9B"/>
                </a:solidFill>
                <a:latin typeface="Meiryo" pitchFamily="34" charset="0"/>
                <a:ea typeface="Meiryo" pitchFamily="34" charset="-122"/>
                <a:cs typeface="Meiryo" pitchFamily="34" charset="-120"/>
              </a:rPr>
              <a:t>既存株主7社（ビジョン・BOS・エアトリ・KUMA・フィル・ベクトル・アンビション）は全株を売却し、株主名簿から外れます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スキーム</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取引後の株主構成と1株あたりの条件</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2560320"/>
                <a:gridCol w="1828800"/>
                <a:gridCol w="1737360"/>
                <a:gridCol w="1737360"/>
                <a:gridCol w="3017520"/>
              </a:tblGrid>
              <a:tr h="384048">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議決権比率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払込額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備考</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 邦人</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74,000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27.371%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既存65,000株＋SO行使9,000株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中野ファンド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61,180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22.629%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6.10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新規設立・中野がGP</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　中野陣営 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135,180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6.10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パートナー</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135,180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2E5C8A"/>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13.47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ヒューリック／東京建物等を想定</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議決権株式 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270,360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100.000%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19.57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自己株式（議決権なし）</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127,616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7C8A99"/>
                          </a:solidFill>
                          <a:latin typeface="Meiryo" pitchFamily="34" charset="0"/>
                          <a:ea typeface="Meiryo" pitchFamily="34" charset="-122"/>
                          <a:cs typeface="Meiryo" pitchFamily="34" charset="-120"/>
                        </a:rPr>
                        <a:t>会社が取得・保有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発行済株式 総数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397,976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1株あたり取得価額</a:t>
            </a:r>
            <a:endParaRPr lang="en-US" sz="1100" dirty="0"/>
          </a:p>
        </p:txBody>
      </p:sp>
      <p:sp>
        <p:nvSpPr>
          <p:cNvPr id="6" name="Text 3"/>
          <p:cNvSpPr txBox="1"/>
          <p:nvPr/>
        </p:nvSpPr>
        <p:spPr>
          <a:xfrm>
            <a:off x="640080" y="5129784"/>
            <a:ext cx="26060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9,964</a:t>
            </a:r>
            <a:pPr indent="0" marL="0">
              <a:buNone/>
            </a:pPr>
            <a:r>
              <a:rPr lang="en-US" sz="1300" b="1" dirty="0">
                <a:solidFill>
                  <a:srgbClr val="1E2A38"/>
                </a:solidFill>
                <a:latin typeface="Meiryo" pitchFamily="34" charset="0"/>
                <a:ea typeface="Meiryo" pitchFamily="34" charset="-122"/>
                <a:cs typeface="Meiryo" pitchFamily="34" charset="-120"/>
              </a:rPr>
              <a:t>円</a:t>
            </a:r>
            <a:endParaRPr lang="en-US" sz="3000" dirty="0"/>
          </a:p>
        </p:txBody>
      </p:sp>
      <p:sp>
        <p:nvSpPr>
          <p:cNvPr id="7" name="Text 4"/>
          <p:cNvSpPr txBox="1"/>
          <p:nvPr/>
        </p:nvSpPr>
        <p:spPr>
          <a:xfrm>
            <a:off x="640080"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Pre 20億 ÷ SO行使後201,616株</a:t>
            </a:r>
            <a:endParaRPr lang="en-US" sz="1000" dirty="0"/>
          </a:p>
        </p:txBody>
      </p:sp>
      <p:sp>
        <p:nvSpPr>
          <p:cNvPr id="8" name="Text 5"/>
          <p:cNvSpPr txBox="1"/>
          <p:nvPr/>
        </p:nvSpPr>
        <p:spPr>
          <a:xfrm>
            <a:off x="3401568"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既存株主の受取総額</a:t>
            </a:r>
            <a:endParaRPr lang="en-US" sz="1100" dirty="0"/>
          </a:p>
        </p:txBody>
      </p:sp>
      <p:sp>
        <p:nvSpPr>
          <p:cNvPr id="9" name="Text 6"/>
          <p:cNvSpPr txBox="1"/>
          <p:nvPr/>
        </p:nvSpPr>
        <p:spPr>
          <a:xfrm>
            <a:off x="3401568" y="5129784"/>
            <a:ext cx="260604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12.72</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10" name="Text 7"/>
          <p:cNvSpPr txBox="1"/>
          <p:nvPr/>
        </p:nvSpPr>
        <p:spPr>
          <a:xfrm>
            <a:off x="3401568"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7社・127,616株を現金で</a:t>
            </a:r>
            <a:endParaRPr lang="en-US" sz="1000" dirty="0"/>
          </a:p>
        </p:txBody>
      </p:sp>
      <p:sp>
        <p:nvSpPr>
          <p:cNvPr id="11" name="Text 8"/>
          <p:cNvSpPr txBox="1"/>
          <p:nvPr/>
        </p:nvSpPr>
        <p:spPr>
          <a:xfrm>
            <a:off x="6163056"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ビジョン社への支払総額</a:t>
            </a:r>
            <a:endParaRPr lang="en-US" sz="1100" dirty="0"/>
          </a:p>
        </p:txBody>
      </p:sp>
      <p:sp>
        <p:nvSpPr>
          <p:cNvPr id="12" name="Text 9"/>
          <p:cNvSpPr txBox="1"/>
          <p:nvPr/>
        </p:nvSpPr>
        <p:spPr>
          <a:xfrm>
            <a:off x="6163056" y="5129784"/>
            <a:ext cx="260604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17.31</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13" name="Text 10"/>
          <p:cNvSpPr txBox="1"/>
          <p:nvPr/>
        </p:nvSpPr>
        <p:spPr>
          <a:xfrm>
            <a:off x="6163056"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株式9.41億＋借入返済7.90億</a:t>
            </a:r>
            <a:endParaRPr lang="en-US" sz="1000" dirty="0"/>
          </a:p>
        </p:txBody>
      </p:sp>
      <p:sp>
        <p:nvSpPr>
          <p:cNvPr id="14" name="Text 11"/>
          <p:cNvSpPr txBox="1"/>
          <p:nvPr/>
        </p:nvSpPr>
        <p:spPr>
          <a:xfrm>
            <a:off x="8924544"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分配可能額（取得後）</a:t>
            </a:r>
            <a:endParaRPr lang="en-US" sz="1100" dirty="0"/>
          </a:p>
        </p:txBody>
      </p:sp>
      <p:sp>
        <p:nvSpPr>
          <p:cNvPr id="15" name="Text 12"/>
          <p:cNvSpPr txBox="1"/>
          <p:nvPr/>
        </p:nvSpPr>
        <p:spPr>
          <a:xfrm>
            <a:off x="8924544" y="5129784"/>
            <a:ext cx="26060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17.06</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16" name="Text 13"/>
          <p:cNvSpPr txBox="1"/>
          <p:nvPr/>
        </p:nvSpPr>
        <p:spPr>
          <a:xfrm>
            <a:off x="8924544"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無償減資による欠損填補後</a:t>
            </a:r>
            <a:endParaRPr lang="en-US" sz="1000" dirty="0"/>
          </a:p>
        </p:txBody>
      </p:sp>
      <p:sp>
        <p:nvSpPr>
          <p:cNvPr id="17" name="Text 14"/>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自己株式の取得には分配可能額が必要なため、増資に先立ち資本金・資本準備金を取り崩して繰越欠損金△10.62億を填補します（会社法447条・448条・452条）。</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想定バランスシート</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474720"/>
                <a:gridCol w="2468880"/>
                <a:gridCol w="2468880"/>
                <a:gridCol w="2468880"/>
              </a:tblGrid>
              <a:tr h="329184">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科目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第10期末 実績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クロージング直前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現金及び預金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40,414</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219,000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その他流動資産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395,416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固定資産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1,316,028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1,403,977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1,562,977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有利子負債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1,159,051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1,097,000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607,000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負債合計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1,725,460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1,663,409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1,173,409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資本剰余金等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純資産合計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自己資本比率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△31.1%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△18.5%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24.9%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単位：千円　／　クロージング直前は第10期末から1年間で純資産+1.50億の改善を見込んだ想定値　／　繰越欠損金は無償減資により資本剰余金で填補します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取引後の信用力</a:t>
            </a:r>
            <a:endParaRPr lang="en-US" sz="2800" dirty="0"/>
          </a:p>
        </p:txBody>
      </p:sp>
      <p:sp>
        <p:nvSpPr>
          <p:cNvPr id="4" name="Shape 2"/>
          <p:cNvSpPr/>
          <p:nvPr/>
        </p:nvSpPr>
        <p:spPr>
          <a:xfrm>
            <a:off x="640080"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841248"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自己資本比率</a:t>
            </a:r>
            <a:endParaRPr lang="en-US" sz="1150" dirty="0"/>
          </a:p>
        </p:txBody>
      </p:sp>
      <p:sp>
        <p:nvSpPr>
          <p:cNvPr id="6" name="Text 4"/>
          <p:cNvSpPr txBox="1"/>
          <p:nvPr/>
        </p:nvSpPr>
        <p:spPr>
          <a:xfrm>
            <a:off x="841248"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△18.5%</a:t>
            </a:r>
            <a:endParaRPr lang="en-US" sz="1300" dirty="0"/>
          </a:p>
        </p:txBody>
      </p:sp>
      <p:sp>
        <p:nvSpPr>
          <p:cNvPr id="7" name="Text 5"/>
          <p:cNvSpPr txBox="1"/>
          <p:nvPr/>
        </p:nvSpPr>
        <p:spPr>
          <a:xfrm>
            <a:off x="841248"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8" name="Text 6"/>
          <p:cNvSpPr txBox="1"/>
          <p:nvPr/>
        </p:nvSpPr>
        <p:spPr>
          <a:xfrm>
            <a:off x="841248"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24.9%</a:t>
            </a:r>
            <a:endParaRPr lang="en-US" sz="2600" dirty="0"/>
          </a:p>
        </p:txBody>
      </p:sp>
      <p:sp>
        <p:nvSpPr>
          <p:cNvPr id="9" name="Shape 7"/>
          <p:cNvSpPr/>
          <p:nvPr/>
        </p:nvSpPr>
        <p:spPr>
          <a:xfrm>
            <a:off x="3401568"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Text 8"/>
          <p:cNvSpPr txBox="1"/>
          <p:nvPr/>
        </p:nvSpPr>
        <p:spPr>
          <a:xfrm>
            <a:off x="3602736"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a:t>
            </a:r>
            <a:endParaRPr lang="en-US" sz="1150" dirty="0"/>
          </a:p>
        </p:txBody>
      </p:sp>
      <p:sp>
        <p:nvSpPr>
          <p:cNvPr id="11" name="Text 9"/>
          <p:cNvSpPr txBox="1"/>
          <p:nvPr/>
        </p:nvSpPr>
        <p:spPr>
          <a:xfrm>
            <a:off x="3602736"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10.97億</a:t>
            </a:r>
            <a:endParaRPr lang="en-US" sz="1300" dirty="0"/>
          </a:p>
        </p:txBody>
      </p:sp>
      <p:sp>
        <p:nvSpPr>
          <p:cNvPr id="12" name="Text 10"/>
          <p:cNvSpPr txBox="1"/>
          <p:nvPr/>
        </p:nvSpPr>
        <p:spPr>
          <a:xfrm>
            <a:off x="3602736"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3" name="Text 11"/>
          <p:cNvSpPr txBox="1"/>
          <p:nvPr/>
        </p:nvSpPr>
        <p:spPr>
          <a:xfrm>
            <a:off x="3602736"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6.07億</a:t>
            </a:r>
            <a:endParaRPr lang="en-US" sz="2600" dirty="0"/>
          </a:p>
        </p:txBody>
      </p:sp>
      <p:sp>
        <p:nvSpPr>
          <p:cNvPr id="14" name="Shape 12"/>
          <p:cNvSpPr/>
          <p:nvPr/>
        </p:nvSpPr>
        <p:spPr>
          <a:xfrm>
            <a:off x="6163056"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Text 13"/>
          <p:cNvSpPr txBox="1"/>
          <p:nvPr/>
        </p:nvSpPr>
        <p:spPr>
          <a:xfrm>
            <a:off x="6364224"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 / EBITDA</a:t>
            </a:r>
            <a:endParaRPr lang="en-US" sz="1150" dirty="0"/>
          </a:p>
        </p:txBody>
      </p:sp>
      <p:sp>
        <p:nvSpPr>
          <p:cNvPr id="16" name="Text 14"/>
          <p:cNvSpPr txBox="1"/>
          <p:nvPr/>
        </p:nvSpPr>
        <p:spPr>
          <a:xfrm>
            <a:off x="6364224"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4.1倍</a:t>
            </a:r>
            <a:endParaRPr lang="en-US" sz="1300" dirty="0"/>
          </a:p>
        </p:txBody>
      </p:sp>
      <p:sp>
        <p:nvSpPr>
          <p:cNvPr id="17" name="Text 15"/>
          <p:cNvSpPr txBox="1"/>
          <p:nvPr/>
        </p:nvSpPr>
        <p:spPr>
          <a:xfrm>
            <a:off x="6364224"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8" name="Text 16"/>
          <p:cNvSpPr txBox="1"/>
          <p:nvPr/>
        </p:nvSpPr>
        <p:spPr>
          <a:xfrm>
            <a:off x="6364224"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2.3倍</a:t>
            </a:r>
            <a:endParaRPr lang="en-US" sz="2600" dirty="0"/>
          </a:p>
        </p:txBody>
      </p:sp>
      <p:sp>
        <p:nvSpPr>
          <p:cNvPr id="19" name="Shape 17"/>
          <p:cNvSpPr/>
          <p:nvPr/>
        </p:nvSpPr>
        <p:spPr>
          <a:xfrm>
            <a:off x="8924544"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125712"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DSCR</a:t>
            </a:r>
            <a:endParaRPr lang="en-US" sz="1150" dirty="0"/>
          </a:p>
        </p:txBody>
      </p:sp>
      <p:sp>
        <p:nvSpPr>
          <p:cNvPr id="21" name="Text 19"/>
          <p:cNvSpPr txBox="1"/>
          <p:nvPr/>
        </p:nvSpPr>
        <p:spPr>
          <a:xfrm>
            <a:off x="9125712"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9125712"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23" name="Text 21"/>
          <p:cNvSpPr txBox="1"/>
          <p:nvPr/>
        </p:nvSpPr>
        <p:spPr>
          <a:xfrm>
            <a:off x="9125712"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1.58倍</a:t>
            </a:r>
            <a:endParaRPr lang="en-US" sz="2600" dirty="0"/>
          </a:p>
        </p:txBody>
      </p:sp>
      <p:graphicFrame>
        <p:nvGraphicFramePr>
          <p:cNvPr id="24" name="Chart 0" descr=""/>
          <p:cNvGraphicFramePr/>
          <p:nvPr/>
        </p:nvGraphicFramePr>
        <p:xfrm>
          <a:off x="640080" y="3657600"/>
          <a:ext cx="5669280" cy="22860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6583680" y="3657600"/>
            <a:ext cx="4937760" cy="2286000"/>
          </a:xfrm>
          <a:prstGeom prst="roundRect">
            <a:avLst>
              <a:gd name="adj" fmla="val 24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6" name="Text 23"/>
          <p:cNvSpPr txBox="1"/>
          <p:nvPr/>
        </p:nvSpPr>
        <p:spPr>
          <a:xfrm>
            <a:off x="6858000" y="3840480"/>
            <a:ext cx="4434840" cy="292608"/>
          </a:xfrm>
          <a:prstGeom prst="rect">
            <a:avLst/>
          </a:prstGeom>
          <a:noFill/>
          <a:ln/>
        </p:spPr>
        <p:txBody>
          <a:bodyPr wrap="square" lIns="0" tIns="0" rIns="0" bIns="0" rtlCol="0" anchor="ctr"/>
          <a:lstStyle/>
          <a:p>
            <a:pPr indent="0" marL="0">
              <a:buNone/>
            </a:pPr>
            <a:r>
              <a:rPr lang="en-US" sz="1350" b="1" dirty="0">
                <a:solidFill>
                  <a:srgbClr val="2C6A4E"/>
                </a:solidFill>
                <a:latin typeface="Meiryo" pitchFamily="34" charset="0"/>
                <a:ea typeface="Meiryo" pitchFamily="34" charset="-122"/>
                <a:cs typeface="Meiryo" pitchFamily="34" charset="-120"/>
              </a:rPr>
              <a:t>ご依頼は買収ファイナンスではなく借換えです</a:t>
            </a:r>
            <a:endParaRPr lang="en-US" sz="1350" dirty="0"/>
          </a:p>
        </p:txBody>
      </p:sp>
      <p:sp>
        <p:nvSpPr>
          <p:cNvPr id="27" name="Text 24"/>
          <p:cNvSpPr txBox="1"/>
          <p:nvPr/>
        </p:nvSpPr>
        <p:spPr>
          <a:xfrm>
            <a:off x="6858000" y="4178808"/>
            <a:ext cx="4434840" cy="1645920"/>
          </a:xfrm>
          <a:prstGeom prst="rect">
            <a:avLst/>
          </a:prstGeom>
          <a:noFill/>
          <a:ln/>
        </p:spPr>
        <p:txBody>
          <a:bodyPr wrap="square" lIns="0" tIns="0" rIns="0" bIns="0" rtlCol="0" anchor="ctr"/>
          <a:lstStyle/>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取引後のあどばるは、自己資本比率24.9%・有利子負債2.3倍・DSCR1.58倍の会社になります。株式取得資金はすべてエクイティで賄うため、LBOローンは発生しません。</a:t>
            </a:r>
            <a:endParaRPr lang="en-US" sz="1100" dirty="0"/>
          </a:p>
          <a:p>
            <a:pPr indent="0" marL="0">
              <a:lnSpc>
                <a:spcPct val="115000"/>
              </a:lnSpc>
              <a:buNone/>
            </a:pP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・既存借入 3.07億円の継続</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・ビジョン借入のリファイ 3.00億円</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・返済原資は正常化EBITDA 2.65億円</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ご相談</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みずほ銀行様にお願いしたい3点</a:t>
            </a:r>
            <a:endParaRPr lang="en-US" sz="2800" dirty="0"/>
          </a:p>
        </p:txBody>
      </p:sp>
      <p:sp>
        <p:nvSpPr>
          <p:cNvPr id="4" name="Shape 2"/>
          <p:cNvSpPr/>
          <p:nvPr/>
        </p:nvSpPr>
        <p:spPr>
          <a:xfrm>
            <a:off x="640080" y="1691640"/>
            <a:ext cx="10881360" cy="1280160"/>
          </a:xfrm>
          <a:prstGeom prst="roundRect">
            <a:avLst>
              <a:gd name="adj" fmla="val 4286"/>
            </a:avLst>
          </a:prstGeom>
          <a:solidFill>
            <a:srgbClr val="26333F"/>
          </a:solidFill>
          <a:ln w="12700">
            <a:solidFill>
              <a:srgbClr val="3A4854"/>
            </a:solidFill>
            <a:prstDash val="solid"/>
          </a:ln>
        </p:spPr>
      </p:sp>
      <p:sp>
        <p:nvSpPr>
          <p:cNvPr id="5" name="Shape 3"/>
          <p:cNvSpPr/>
          <p:nvPr/>
        </p:nvSpPr>
        <p:spPr>
          <a:xfrm>
            <a:off x="914400" y="2020824"/>
            <a:ext cx="621792" cy="621792"/>
          </a:xfrm>
          <a:prstGeom prst="roundRect">
            <a:avLst>
              <a:gd name="adj" fmla="val 50000"/>
            </a:avLst>
          </a:prstGeom>
          <a:solidFill>
            <a:srgbClr val="6E2639"/>
          </a:solidFill>
          <a:ln/>
        </p:spPr>
      </p:sp>
      <p:sp>
        <p:nvSpPr>
          <p:cNvPr id="6" name="Text 4"/>
          <p:cNvSpPr txBox="1"/>
          <p:nvPr/>
        </p:nvSpPr>
        <p:spPr>
          <a:xfrm>
            <a:off x="914400" y="2020824"/>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7" name="Text 5"/>
          <p:cNvSpPr txBox="1"/>
          <p:nvPr/>
        </p:nvSpPr>
        <p:spPr>
          <a:xfrm>
            <a:off x="1783080" y="1911096"/>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グループのエクイティ機能のご紹介</a:t>
            </a:r>
            <a:endParaRPr lang="en-US" sz="1600" dirty="0"/>
          </a:p>
        </p:txBody>
      </p:sp>
      <p:sp>
        <p:nvSpPr>
          <p:cNvPr id="8" name="Text 6"/>
          <p:cNvSpPr txBox="1"/>
          <p:nvPr/>
        </p:nvSpPr>
        <p:spPr>
          <a:xfrm>
            <a:off x="1783080" y="2295144"/>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パートナー13.47億円の引受先として、ヒューリック・東京建物に加え、みずほキャピタル様やみずほグループのファンドをご紹介いただけないでしょうか。本件で最もお願いしたい点です。</a:t>
            </a:r>
            <a:endParaRPr lang="en-US" sz="1050" dirty="0"/>
          </a:p>
        </p:txBody>
      </p:sp>
      <p:sp>
        <p:nvSpPr>
          <p:cNvPr id="9" name="Text 7"/>
          <p:cNvSpPr txBox="1"/>
          <p:nvPr/>
        </p:nvSpPr>
        <p:spPr>
          <a:xfrm>
            <a:off x="8778240" y="2148840"/>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13.47億円</a:t>
            </a:r>
            <a:endParaRPr lang="en-US" sz="1500" dirty="0"/>
          </a:p>
        </p:txBody>
      </p:sp>
      <p:sp>
        <p:nvSpPr>
          <p:cNvPr id="10" name="Shape 8"/>
          <p:cNvSpPr/>
          <p:nvPr/>
        </p:nvSpPr>
        <p:spPr>
          <a:xfrm>
            <a:off x="640080" y="3136392"/>
            <a:ext cx="10881360" cy="1280160"/>
          </a:xfrm>
          <a:prstGeom prst="roundRect">
            <a:avLst>
              <a:gd name="adj" fmla="val 4286"/>
            </a:avLst>
          </a:prstGeom>
          <a:solidFill>
            <a:srgbClr val="26333F"/>
          </a:solidFill>
          <a:ln w="12700">
            <a:solidFill>
              <a:srgbClr val="3A4854"/>
            </a:solidFill>
            <a:prstDash val="solid"/>
          </a:ln>
        </p:spPr>
      </p:sp>
      <p:sp>
        <p:nvSpPr>
          <p:cNvPr id="11" name="Shape 9"/>
          <p:cNvSpPr/>
          <p:nvPr/>
        </p:nvSpPr>
        <p:spPr>
          <a:xfrm>
            <a:off x="914400" y="3465576"/>
            <a:ext cx="621792" cy="621792"/>
          </a:xfrm>
          <a:prstGeom prst="roundRect">
            <a:avLst>
              <a:gd name="adj" fmla="val 50000"/>
            </a:avLst>
          </a:prstGeom>
          <a:solidFill>
            <a:srgbClr val="6E2639"/>
          </a:solidFill>
          <a:ln/>
        </p:spPr>
      </p:sp>
      <p:sp>
        <p:nvSpPr>
          <p:cNvPr id="12" name="Text 10"/>
          <p:cNvSpPr txBox="1"/>
          <p:nvPr/>
        </p:nvSpPr>
        <p:spPr>
          <a:xfrm>
            <a:off x="914400" y="3465576"/>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13" name="Text 11"/>
          <p:cNvSpPr txBox="1"/>
          <p:nvPr/>
        </p:nvSpPr>
        <p:spPr>
          <a:xfrm>
            <a:off x="1783080" y="3355848"/>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経営者保証の解除</a:t>
            </a:r>
            <a:endParaRPr lang="en-US" sz="1600" dirty="0"/>
          </a:p>
        </p:txBody>
      </p:sp>
      <p:sp>
        <p:nvSpPr>
          <p:cNvPr id="14" name="Text 12"/>
          <p:cNvSpPr txBox="1"/>
          <p:nvPr/>
        </p:nvSpPr>
        <p:spPr>
          <a:xfrm>
            <a:off x="1783080" y="3739896"/>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自己資本比率24.9%・DSCR1.58倍となる取引後の財務内容を前提に、経営者保証ガイドラインに沿った解除をご検討いただきたく存じます。</a:t>
            </a:r>
            <a:endParaRPr lang="en-US" sz="1050" dirty="0"/>
          </a:p>
        </p:txBody>
      </p:sp>
      <p:sp>
        <p:nvSpPr>
          <p:cNvPr id="15" name="Text 13"/>
          <p:cNvSpPr txBox="1"/>
          <p:nvPr/>
        </p:nvSpPr>
        <p:spPr>
          <a:xfrm>
            <a:off x="8778240" y="3593592"/>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ガイドライン適用</a:t>
            </a:r>
            <a:endParaRPr lang="en-US" sz="1500" dirty="0"/>
          </a:p>
        </p:txBody>
      </p:sp>
      <p:sp>
        <p:nvSpPr>
          <p:cNvPr id="16" name="Shape 14"/>
          <p:cNvSpPr/>
          <p:nvPr/>
        </p:nvSpPr>
        <p:spPr>
          <a:xfrm>
            <a:off x="640080" y="4581144"/>
            <a:ext cx="10881360" cy="1280160"/>
          </a:xfrm>
          <a:prstGeom prst="roundRect">
            <a:avLst>
              <a:gd name="adj" fmla="val 4286"/>
            </a:avLst>
          </a:prstGeom>
          <a:solidFill>
            <a:srgbClr val="26333F"/>
          </a:solidFill>
          <a:ln w="12700">
            <a:solidFill>
              <a:srgbClr val="3A4854"/>
            </a:solidFill>
            <a:prstDash val="solid"/>
          </a:ln>
        </p:spPr>
      </p:sp>
      <p:sp>
        <p:nvSpPr>
          <p:cNvPr id="17" name="Shape 15"/>
          <p:cNvSpPr/>
          <p:nvPr/>
        </p:nvSpPr>
        <p:spPr>
          <a:xfrm>
            <a:off x="914400" y="4910328"/>
            <a:ext cx="621792" cy="621792"/>
          </a:xfrm>
          <a:prstGeom prst="roundRect">
            <a:avLst>
              <a:gd name="adj" fmla="val 50000"/>
            </a:avLst>
          </a:prstGeom>
          <a:solidFill>
            <a:srgbClr val="6E2639"/>
          </a:solidFill>
          <a:ln/>
        </p:spPr>
      </p:sp>
      <p:sp>
        <p:nvSpPr>
          <p:cNvPr id="18" name="Text 16"/>
          <p:cNvSpPr txBox="1"/>
          <p:nvPr/>
        </p:nvSpPr>
        <p:spPr>
          <a:xfrm>
            <a:off x="914400" y="4910328"/>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19" name="Text 17"/>
          <p:cNvSpPr txBox="1"/>
          <p:nvPr/>
        </p:nvSpPr>
        <p:spPr>
          <a:xfrm>
            <a:off x="1783080" y="4800600"/>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既存借入の継続とビジョン借入のリファイ</a:t>
            </a:r>
            <a:endParaRPr lang="en-US" sz="1600" dirty="0"/>
          </a:p>
        </p:txBody>
      </p:sp>
      <p:sp>
        <p:nvSpPr>
          <p:cNvPr id="20" name="Text 18"/>
          <p:cNvSpPr txBox="1"/>
          <p:nvPr/>
        </p:nvSpPr>
        <p:spPr>
          <a:xfrm>
            <a:off x="1783080" y="5184648"/>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既存3.07億円の継続に加え、ビジョン社借入のうち3.00億円のリファイナンスをお願いしたく存じます。LBOローンではなく、通常の事業性融資としてのご検討です。</a:t>
            </a:r>
            <a:endParaRPr lang="en-US" sz="1050" dirty="0"/>
          </a:p>
        </p:txBody>
      </p:sp>
      <p:sp>
        <p:nvSpPr>
          <p:cNvPr id="21" name="Text 19"/>
          <p:cNvSpPr txBox="1"/>
          <p:nvPr/>
        </p:nvSpPr>
        <p:spPr>
          <a:xfrm>
            <a:off x="8778240" y="5038344"/>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合計 6.07億円</a:t>
            </a:r>
            <a:endParaRPr lang="en-US" sz="1500" dirty="0"/>
          </a:p>
        </p:txBody>
      </p:sp>
      <p:sp>
        <p:nvSpPr>
          <p:cNvPr id="22" name="Text 20"/>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ご返済原資は正常化EBITDA 2.65億円です。年間元利返済1.68億円に対しDSCR 1.58倍を確保しています。</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クロージングまでの手順と、先に固める論点</a:t>
            </a:r>
            <a:endParaRPr lang="en-US" sz="2800" dirty="0"/>
          </a:p>
        </p:txBody>
      </p:sp>
      <p:sp>
        <p:nvSpPr>
          <p:cNvPr id="4" name="Text 2"/>
          <p:cNvSpPr txBox="1"/>
          <p:nvPr/>
        </p:nvSpPr>
        <p:spPr>
          <a:xfrm>
            <a:off x="640080" y="1536192"/>
            <a:ext cx="1088136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会社法上の手続き（クロージング 2027年5月31日を想定）</a:t>
            </a:r>
            <a:endParaRPr lang="en-US" sz="1400" dirty="0"/>
          </a:p>
        </p:txBody>
      </p:sp>
      <p:sp>
        <p:nvSpPr>
          <p:cNvPr id="5" name="Shape 3"/>
          <p:cNvSpPr/>
          <p:nvPr/>
        </p:nvSpPr>
        <p:spPr>
          <a:xfrm>
            <a:off x="640080"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6" name="Shape 4"/>
          <p:cNvSpPr/>
          <p:nvPr/>
        </p:nvSpPr>
        <p:spPr>
          <a:xfrm>
            <a:off x="841248" y="2103120"/>
            <a:ext cx="1051560" cy="310896"/>
          </a:xfrm>
          <a:prstGeom prst="roundRect">
            <a:avLst>
              <a:gd name="adj" fmla="val 50000"/>
            </a:avLst>
          </a:prstGeom>
          <a:solidFill>
            <a:srgbClr val="6E2639"/>
          </a:solidFill>
          <a:ln/>
        </p:spPr>
      </p:sp>
      <p:sp>
        <p:nvSpPr>
          <p:cNvPr id="7" name="Text 5"/>
          <p:cNvSpPr txBox="1"/>
          <p:nvPr/>
        </p:nvSpPr>
        <p:spPr>
          <a:xfrm>
            <a:off x="841248"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1</a:t>
            </a:r>
            <a:endParaRPr lang="en-US" sz="1150" dirty="0"/>
          </a:p>
        </p:txBody>
      </p:sp>
      <p:sp>
        <p:nvSpPr>
          <p:cNvPr id="8" name="Text 6"/>
          <p:cNvSpPr txBox="1"/>
          <p:nvPr/>
        </p:nvSpPr>
        <p:spPr>
          <a:xfrm>
            <a:off x="841248"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無償減資・欠損填補</a:t>
            </a:r>
            <a:endParaRPr lang="en-US" sz="1250" dirty="0"/>
          </a:p>
        </p:txBody>
      </p:sp>
      <p:sp>
        <p:nvSpPr>
          <p:cNvPr id="9" name="Text 7"/>
          <p:cNvSpPr txBox="1"/>
          <p:nvPr/>
        </p:nvSpPr>
        <p:spPr>
          <a:xfrm>
            <a:off x="841248"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資本金・資本準備金を取り崩し、繰越欠損金△10.62億を填補。分配可能額をつくります。</a:t>
            </a:r>
            <a:endParaRPr lang="en-US" sz="950" dirty="0"/>
          </a:p>
        </p:txBody>
      </p:sp>
      <p:sp>
        <p:nvSpPr>
          <p:cNvPr id="10" name="Shape 8"/>
          <p:cNvSpPr/>
          <p:nvPr/>
        </p:nvSpPr>
        <p:spPr>
          <a:xfrm>
            <a:off x="3401568"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3602736" y="2103120"/>
            <a:ext cx="1051560" cy="310896"/>
          </a:xfrm>
          <a:prstGeom prst="roundRect">
            <a:avLst>
              <a:gd name="adj" fmla="val 50000"/>
            </a:avLst>
          </a:prstGeom>
          <a:solidFill>
            <a:srgbClr val="6E2639"/>
          </a:solidFill>
          <a:ln/>
        </p:spPr>
      </p:sp>
      <p:sp>
        <p:nvSpPr>
          <p:cNvPr id="12" name="Text 10"/>
          <p:cNvSpPr txBox="1"/>
          <p:nvPr/>
        </p:nvSpPr>
        <p:spPr>
          <a:xfrm>
            <a:off x="3602736"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2</a:t>
            </a:r>
            <a:endParaRPr lang="en-US" sz="1150" dirty="0"/>
          </a:p>
        </p:txBody>
      </p:sp>
      <p:sp>
        <p:nvSpPr>
          <p:cNvPr id="13" name="Text 11"/>
          <p:cNvSpPr txBox="1"/>
          <p:nvPr/>
        </p:nvSpPr>
        <p:spPr>
          <a:xfrm>
            <a:off x="3602736"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第三者割当増資 19.57億円</a:t>
            </a:r>
            <a:endParaRPr lang="en-US" sz="1250" dirty="0"/>
          </a:p>
        </p:txBody>
      </p:sp>
      <p:sp>
        <p:nvSpPr>
          <p:cNvPr id="14" name="Text 12"/>
          <p:cNvSpPr txBox="1"/>
          <p:nvPr/>
        </p:nvSpPr>
        <p:spPr>
          <a:xfrm>
            <a:off x="3602736"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中野ファンド6.10億・パートナー13.47億。払込により債務超過が解消します。</a:t>
            </a:r>
            <a:endParaRPr lang="en-US" sz="950" dirty="0"/>
          </a:p>
        </p:txBody>
      </p:sp>
      <p:sp>
        <p:nvSpPr>
          <p:cNvPr id="15" name="Shape 13"/>
          <p:cNvSpPr/>
          <p:nvPr/>
        </p:nvSpPr>
        <p:spPr>
          <a:xfrm>
            <a:off x="6163056"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6" name="Shape 14"/>
          <p:cNvSpPr/>
          <p:nvPr/>
        </p:nvSpPr>
        <p:spPr>
          <a:xfrm>
            <a:off x="6364224" y="2103120"/>
            <a:ext cx="1051560" cy="310896"/>
          </a:xfrm>
          <a:prstGeom prst="roundRect">
            <a:avLst>
              <a:gd name="adj" fmla="val 50000"/>
            </a:avLst>
          </a:prstGeom>
          <a:solidFill>
            <a:srgbClr val="6E2639"/>
          </a:solidFill>
          <a:ln/>
        </p:spPr>
      </p:sp>
      <p:sp>
        <p:nvSpPr>
          <p:cNvPr id="17" name="Text 15"/>
          <p:cNvSpPr txBox="1"/>
          <p:nvPr/>
        </p:nvSpPr>
        <p:spPr>
          <a:xfrm>
            <a:off x="6364224"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3</a:t>
            </a:r>
            <a:endParaRPr lang="en-US" sz="1150" dirty="0"/>
          </a:p>
        </p:txBody>
      </p:sp>
      <p:sp>
        <p:nvSpPr>
          <p:cNvPr id="18" name="Text 16"/>
          <p:cNvSpPr txBox="1"/>
          <p:nvPr/>
        </p:nvSpPr>
        <p:spPr>
          <a:xfrm>
            <a:off x="6364224"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自己株式取得 12.72億円</a:t>
            </a:r>
            <a:endParaRPr lang="en-US" sz="1250" dirty="0"/>
          </a:p>
        </p:txBody>
      </p:sp>
      <p:sp>
        <p:nvSpPr>
          <p:cNvPr id="19" name="Text 17"/>
          <p:cNvSpPr txBox="1"/>
          <p:nvPr/>
        </p:nvSpPr>
        <p:spPr>
          <a:xfrm>
            <a:off x="6364224"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中野以外の全株主から127,616株を取得。売主追加請求権・特別利害関係人の処理が必要です。</a:t>
            </a:r>
            <a:endParaRPr lang="en-US" sz="950" dirty="0"/>
          </a:p>
        </p:txBody>
      </p:sp>
      <p:sp>
        <p:nvSpPr>
          <p:cNvPr id="20" name="Shape 18"/>
          <p:cNvSpPr/>
          <p:nvPr/>
        </p:nvSpPr>
        <p:spPr>
          <a:xfrm>
            <a:off x="8924544"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1" name="Shape 19"/>
          <p:cNvSpPr/>
          <p:nvPr/>
        </p:nvSpPr>
        <p:spPr>
          <a:xfrm>
            <a:off x="9125712" y="2103120"/>
            <a:ext cx="1051560" cy="310896"/>
          </a:xfrm>
          <a:prstGeom prst="roundRect">
            <a:avLst>
              <a:gd name="adj" fmla="val 50000"/>
            </a:avLst>
          </a:prstGeom>
          <a:solidFill>
            <a:srgbClr val="2C6A4E"/>
          </a:solidFill>
          <a:ln/>
        </p:spPr>
      </p:sp>
      <p:sp>
        <p:nvSpPr>
          <p:cNvPr id="22" name="Text 20"/>
          <p:cNvSpPr txBox="1"/>
          <p:nvPr/>
        </p:nvSpPr>
        <p:spPr>
          <a:xfrm>
            <a:off x="9125712"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4</a:t>
            </a:r>
            <a:endParaRPr lang="en-US" sz="1150" dirty="0"/>
          </a:p>
        </p:txBody>
      </p:sp>
      <p:sp>
        <p:nvSpPr>
          <p:cNvPr id="23" name="Text 21"/>
          <p:cNvSpPr txBox="1"/>
          <p:nvPr/>
        </p:nvSpPr>
        <p:spPr>
          <a:xfrm>
            <a:off x="9125712"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ビジョン借入の返済</a:t>
            </a:r>
            <a:endParaRPr lang="en-US" sz="1250" dirty="0"/>
          </a:p>
        </p:txBody>
      </p:sp>
      <p:sp>
        <p:nvSpPr>
          <p:cNvPr id="24" name="Text 22"/>
          <p:cNvSpPr txBox="1"/>
          <p:nvPr/>
        </p:nvSpPr>
        <p:spPr>
          <a:xfrm>
            <a:off x="9125712"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7.90億円。増資4.90億＋みずほ様3.00億で、ビジョン社との債権債務を完全に解消します。</a:t>
            </a:r>
            <a:endParaRPr lang="en-US" sz="950" dirty="0"/>
          </a:p>
        </p:txBody>
      </p:sp>
      <p:sp>
        <p:nvSpPr>
          <p:cNvPr id="25" name="Shape 23"/>
          <p:cNvSpPr/>
          <p:nvPr/>
        </p:nvSpPr>
        <p:spPr>
          <a:xfrm>
            <a:off x="640080" y="3950208"/>
            <a:ext cx="5349240" cy="2011680"/>
          </a:xfrm>
          <a:prstGeom prst="roundRect">
            <a:avLst>
              <a:gd name="adj" fmla="val 272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6" name="Text 24"/>
          <p:cNvSpPr txBox="1"/>
          <p:nvPr/>
        </p:nvSpPr>
        <p:spPr>
          <a:xfrm>
            <a:off x="914400" y="4114800"/>
            <a:ext cx="4800600" cy="292608"/>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当社で固める論点</a:t>
            </a:r>
            <a:endParaRPr lang="en-US" sz="1350" dirty="0"/>
          </a:p>
        </p:txBody>
      </p:sp>
      <p:sp>
        <p:nvSpPr>
          <p:cNvPr id="27" name="Shape 25"/>
          <p:cNvSpPr/>
          <p:nvPr/>
        </p:nvSpPr>
        <p:spPr>
          <a:xfrm>
            <a:off x="932688" y="4581144"/>
            <a:ext cx="128016" cy="128016"/>
          </a:xfrm>
          <a:prstGeom prst="roundRect">
            <a:avLst>
              <a:gd name="adj" fmla="val 50000"/>
            </a:avLst>
          </a:prstGeom>
          <a:solidFill>
            <a:srgbClr val="6E2639"/>
          </a:solidFill>
          <a:ln/>
        </p:spPr>
      </p:sp>
      <p:sp>
        <p:nvSpPr>
          <p:cNvPr id="28" name="Text 26"/>
          <p:cNvSpPr txBox="1"/>
          <p:nvPr/>
        </p:nvSpPr>
        <p:spPr>
          <a:xfrm>
            <a:off x="120700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正常化営業利益2.00億円の店舗別PLによる裏付け</a:t>
            </a:r>
            <a:endParaRPr lang="en-US" sz="1050" dirty="0"/>
          </a:p>
        </p:txBody>
      </p:sp>
      <p:sp>
        <p:nvSpPr>
          <p:cNvPr id="29" name="Shape 27"/>
          <p:cNvSpPr/>
          <p:nvPr/>
        </p:nvSpPr>
        <p:spPr>
          <a:xfrm>
            <a:off x="932688" y="4919472"/>
            <a:ext cx="128016" cy="128016"/>
          </a:xfrm>
          <a:prstGeom prst="roundRect">
            <a:avLst>
              <a:gd name="adj" fmla="val 50000"/>
            </a:avLst>
          </a:prstGeom>
          <a:solidFill>
            <a:srgbClr val="6E2639"/>
          </a:solidFill>
          <a:ln/>
        </p:spPr>
      </p:sp>
      <p:sp>
        <p:nvSpPr>
          <p:cNvPr id="30" name="Text 28"/>
          <p:cNvSpPr txBox="1"/>
          <p:nvPr/>
        </p:nvSpPr>
        <p:spPr>
          <a:xfrm>
            <a:off x="120700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パートナーとのデッドロック解消条項（50:50のため必須）</a:t>
            </a:r>
            <a:endParaRPr lang="en-US" sz="1050" dirty="0"/>
          </a:p>
        </p:txBody>
      </p:sp>
      <p:sp>
        <p:nvSpPr>
          <p:cNvPr id="31" name="Shape 29"/>
          <p:cNvSpPr/>
          <p:nvPr/>
        </p:nvSpPr>
        <p:spPr>
          <a:xfrm>
            <a:off x="932688" y="5257800"/>
            <a:ext cx="128016" cy="128016"/>
          </a:xfrm>
          <a:prstGeom prst="roundRect">
            <a:avLst>
              <a:gd name="adj" fmla="val 50000"/>
            </a:avLst>
          </a:prstGeom>
          <a:solidFill>
            <a:srgbClr val="6E2639"/>
          </a:solidFill>
          <a:ln/>
        </p:spPr>
      </p:sp>
      <p:sp>
        <p:nvSpPr>
          <p:cNvPr id="32" name="Text 30"/>
          <p:cNvSpPr txBox="1"/>
          <p:nvPr/>
        </p:nvSpPr>
        <p:spPr>
          <a:xfrm>
            <a:off x="120700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中野ファンドのGP議決権集約と金商法63条の届出</a:t>
            </a:r>
            <a:endParaRPr lang="en-US" sz="1050" dirty="0"/>
          </a:p>
        </p:txBody>
      </p:sp>
      <p:sp>
        <p:nvSpPr>
          <p:cNvPr id="33" name="Shape 31"/>
          <p:cNvSpPr/>
          <p:nvPr/>
        </p:nvSpPr>
        <p:spPr>
          <a:xfrm>
            <a:off x="932688" y="5596128"/>
            <a:ext cx="128016" cy="128016"/>
          </a:xfrm>
          <a:prstGeom prst="roundRect">
            <a:avLst>
              <a:gd name="adj" fmla="val 50000"/>
            </a:avLst>
          </a:prstGeom>
          <a:solidFill>
            <a:srgbClr val="6E2639"/>
          </a:solidFill>
          <a:ln/>
        </p:spPr>
      </p:sp>
      <p:sp>
        <p:nvSpPr>
          <p:cNvPr id="34" name="Text 32"/>
          <p:cNvSpPr txBox="1"/>
          <p:nvPr/>
        </p:nvSpPr>
        <p:spPr>
          <a:xfrm>
            <a:off x="120700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ストックオプション9,000株の行使方法と税制適格性</a:t>
            </a:r>
            <a:endParaRPr lang="en-US" sz="1050" dirty="0"/>
          </a:p>
        </p:txBody>
      </p:sp>
      <p:sp>
        <p:nvSpPr>
          <p:cNvPr id="35" name="Shape 33"/>
          <p:cNvSpPr/>
          <p:nvPr/>
        </p:nvSpPr>
        <p:spPr>
          <a:xfrm>
            <a:off x="6172200" y="3950208"/>
            <a:ext cx="5349240" cy="2011680"/>
          </a:xfrm>
          <a:prstGeom prst="roundRect">
            <a:avLst>
              <a:gd name="adj" fmla="val 2727"/>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36" name="Text 34"/>
          <p:cNvSpPr txBox="1"/>
          <p:nvPr/>
        </p:nvSpPr>
        <p:spPr>
          <a:xfrm>
            <a:off x="6446520" y="4114800"/>
            <a:ext cx="4800600" cy="292608"/>
          </a:xfrm>
          <a:prstGeom prst="rect">
            <a:avLst/>
          </a:prstGeom>
          <a:noFill/>
          <a:ln/>
        </p:spPr>
        <p:txBody>
          <a:bodyPr wrap="square" lIns="0" tIns="0" rIns="0" bIns="0" rtlCol="0" anchor="ctr"/>
          <a:lstStyle/>
          <a:p>
            <a:pPr indent="0" marL="0">
              <a:buNone/>
            </a:pPr>
            <a:r>
              <a:rPr lang="en-US" sz="1350" b="1" dirty="0">
                <a:solidFill>
                  <a:srgbClr val="2E5C8A"/>
                </a:solidFill>
                <a:latin typeface="Meiryo" pitchFamily="34" charset="0"/>
                <a:ea typeface="Meiryo" pitchFamily="34" charset="-122"/>
                <a:cs typeface="Meiryo" pitchFamily="34" charset="-120"/>
              </a:rPr>
              <a:t>ビジョン社との交渉事項</a:t>
            </a:r>
            <a:endParaRPr lang="en-US" sz="1350" dirty="0"/>
          </a:p>
        </p:txBody>
      </p:sp>
      <p:sp>
        <p:nvSpPr>
          <p:cNvPr id="37" name="Shape 35"/>
          <p:cNvSpPr/>
          <p:nvPr/>
        </p:nvSpPr>
        <p:spPr>
          <a:xfrm>
            <a:off x="6464808" y="4581144"/>
            <a:ext cx="128016" cy="128016"/>
          </a:xfrm>
          <a:prstGeom prst="roundRect">
            <a:avLst>
              <a:gd name="adj" fmla="val 50000"/>
            </a:avLst>
          </a:prstGeom>
          <a:solidFill>
            <a:srgbClr val="2E5C8A"/>
          </a:solidFill>
          <a:ln/>
        </p:spPr>
      </p:sp>
      <p:sp>
        <p:nvSpPr>
          <p:cNvPr id="38" name="Text 36"/>
          <p:cNvSpPr txBox="1"/>
          <p:nvPr/>
        </p:nvSpPr>
        <p:spPr>
          <a:xfrm>
            <a:off x="673912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譲渡価格20億円評価の合意（第三者評価書の要否）</a:t>
            </a:r>
            <a:endParaRPr lang="en-US" sz="1050" dirty="0"/>
          </a:p>
        </p:txBody>
      </p:sp>
      <p:sp>
        <p:nvSpPr>
          <p:cNvPr id="39" name="Shape 37"/>
          <p:cNvSpPr/>
          <p:nvPr/>
        </p:nvSpPr>
        <p:spPr>
          <a:xfrm>
            <a:off x="6464808" y="4919472"/>
            <a:ext cx="128016" cy="128016"/>
          </a:xfrm>
          <a:prstGeom prst="roundRect">
            <a:avLst>
              <a:gd name="adj" fmla="val 50000"/>
            </a:avLst>
          </a:prstGeom>
          <a:solidFill>
            <a:srgbClr val="2E5C8A"/>
          </a:solidFill>
          <a:ln/>
        </p:spPr>
      </p:sp>
      <p:sp>
        <p:nvSpPr>
          <p:cNvPr id="40" name="Text 38"/>
          <p:cNvSpPr txBox="1"/>
          <p:nvPr/>
        </p:nvSpPr>
        <p:spPr>
          <a:xfrm>
            <a:off x="673912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借入7.90億円の額面満額・一括返済の確認</a:t>
            </a:r>
            <a:endParaRPr lang="en-US" sz="1050" dirty="0"/>
          </a:p>
        </p:txBody>
      </p:sp>
      <p:sp>
        <p:nvSpPr>
          <p:cNvPr id="41" name="Shape 39"/>
          <p:cNvSpPr/>
          <p:nvPr/>
        </p:nvSpPr>
        <p:spPr>
          <a:xfrm>
            <a:off x="6464808" y="5257800"/>
            <a:ext cx="128016" cy="128016"/>
          </a:xfrm>
          <a:prstGeom prst="roundRect">
            <a:avLst>
              <a:gd name="adj" fmla="val 50000"/>
            </a:avLst>
          </a:prstGeom>
          <a:solidFill>
            <a:srgbClr val="2E5C8A"/>
          </a:solidFill>
          <a:ln/>
        </p:spPr>
      </p:sp>
      <p:sp>
        <p:nvSpPr>
          <p:cNvPr id="42" name="Text 40"/>
          <p:cNvSpPr txBox="1"/>
          <p:nvPr/>
        </p:nvSpPr>
        <p:spPr>
          <a:xfrm>
            <a:off x="673912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出向者の引揚げ時期と引継ぎ（出向費は成立時にゼロ）</a:t>
            </a:r>
            <a:endParaRPr lang="en-US" sz="1050" dirty="0"/>
          </a:p>
        </p:txBody>
      </p:sp>
      <p:sp>
        <p:nvSpPr>
          <p:cNvPr id="43" name="Shape 41"/>
          <p:cNvSpPr/>
          <p:nvPr/>
        </p:nvSpPr>
        <p:spPr>
          <a:xfrm>
            <a:off x="6464808" y="5596128"/>
            <a:ext cx="128016" cy="128016"/>
          </a:xfrm>
          <a:prstGeom prst="roundRect">
            <a:avLst>
              <a:gd name="adj" fmla="val 50000"/>
            </a:avLst>
          </a:prstGeom>
          <a:solidFill>
            <a:srgbClr val="2E5C8A"/>
          </a:solidFill>
          <a:ln/>
        </p:spPr>
      </p:sp>
      <p:sp>
        <p:nvSpPr>
          <p:cNvPr id="44" name="Text 42"/>
          <p:cNvSpPr txBox="1"/>
          <p:nvPr/>
        </p:nvSpPr>
        <p:spPr>
          <a:xfrm>
            <a:off x="673912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取引先・許認可のチェンジオブコントロール条項</a:t>
            </a:r>
            <a:endParaRPr lang="en-US" sz="1050" dirty="0"/>
          </a:p>
        </p:txBody>
      </p:sp>
      <p:sp>
        <p:nvSpPr>
          <p:cNvPr id="45" name="Text 43"/>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本資料は検討段階の想定値です。数値は第10期計算書類にもとづく試算であり、実行にあたっては弁護士・会計士・税理士の確認を要します。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2026-09-23T13:52:59Z</dcterms:created>
  <dcterms:modified xsi:type="dcterms:W3CDTF">2026-09-23T13:52:59Z</dcterms:modified>
</cp:coreProperties>
</file>