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面談で条件が具体化した。前回の「44.68%をTOBで」から「30%を3億で」に変わった。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放棄額は7億と8億で食い違い。文字起こしの聞き違いの可能性もあるので確認する。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値段は悪くない。問題は再建の手間と、スマサポ案との資金の取り合い。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放棄はBSの前提条件。8億か7億かで純資産が1億違う。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時価総額で決めると株価次第で変わる。1株単価で握るべき。</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Aは純投資、Bは事業統合。Bは裏口上場の審査が論点。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本命は上段の2つ（店舗の集約とIPコラボ）。あどばるとの直接のシナジーは小さい。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最大のリスクは再建が進まないこと。資金と時間の取り合いも見落とせない。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01と02を先に握る。そのうえでスマサポ案との優先順位を決める。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A38"/>
        </a:solidFill>
      </p:bgPr>
    </p:bg>
    <p:spTree>
      <p:nvGrpSpPr>
        <p:cNvPr id="1" name=""/>
        <p:cNvGrpSpPr/>
        <p:nvPr/>
      </p:nvGrpSpPr>
      <p:grpSpPr>
        <a:xfrm>
          <a:off x="0" y="0"/>
          <a:ext cx="0" cy="0"/>
          <a:chOff x="0" y="0"/>
          <a:chExt cx="0" cy="0"/>
        </a:xfrm>
      </p:grpSpPr>
      <p:sp>
        <p:nvSpPr>
          <p:cNvPr id="2" name="Text 0"/>
          <p:cNvSpPr txBox="1"/>
          <p:nvPr/>
        </p:nvSpPr>
        <p:spPr>
          <a:xfrm>
            <a:off x="822960" y="1645920"/>
            <a:ext cx="10515600" cy="365760"/>
          </a:xfrm>
          <a:prstGeom prst="rect">
            <a:avLst/>
          </a:prstGeom>
          <a:noFill/>
          <a:ln/>
        </p:spPr>
        <p:txBody>
          <a:bodyPr wrap="square" lIns="0" tIns="0" rIns="0" bIns="0" rtlCol="0" anchor="ctr"/>
          <a:lstStyle/>
          <a:p>
            <a:pPr indent="0" marL="0">
              <a:buNone/>
            </a:pPr>
            <a:r>
              <a:rPr lang="en-US" sz="1400" b="1" spc="300" kern="0" dirty="0">
                <a:solidFill>
                  <a:srgbClr val="A85C6E"/>
                </a:solidFill>
                <a:latin typeface="Meiryo" pitchFamily="34" charset="0"/>
                <a:ea typeface="Meiryo" pitchFamily="34" charset="-122"/>
                <a:cs typeface="Meiryo" pitchFamily="34" charset="-120"/>
              </a:rPr>
              <a:t>株式会社あどばる</a:t>
            </a:r>
            <a:endParaRPr lang="en-US" sz="1400" dirty="0"/>
          </a:p>
        </p:txBody>
      </p:sp>
      <p:sp>
        <p:nvSpPr>
          <p:cNvPr id="3" name="Text 1"/>
          <p:cNvSpPr txBox="1"/>
          <p:nvPr/>
        </p:nvSpPr>
        <p:spPr>
          <a:xfrm>
            <a:off x="822960" y="2057400"/>
            <a:ext cx="10515600" cy="868680"/>
          </a:xfrm>
          <a:prstGeom prst="rect">
            <a:avLst/>
          </a:prstGeom>
          <a:noFill/>
          <a:ln/>
        </p:spPr>
        <p:txBody>
          <a:bodyPr wrap="square" lIns="0" tIns="0" rIns="0" bIns="0" rtlCol="0" anchor="ctr"/>
          <a:lstStyle/>
          <a:p>
            <a:pPr indent="0" marL="0">
              <a:buNone/>
            </a:pPr>
            <a:r>
              <a:rPr lang="en-US" sz="4000" b="1" dirty="0">
                <a:solidFill>
                  <a:srgbClr val="FFFFFF"/>
                </a:solidFill>
                <a:latin typeface="Meiryo" pitchFamily="34" charset="0"/>
                <a:ea typeface="Meiryo" pitchFamily="34" charset="-122"/>
                <a:cs typeface="Meiryo" pitchFamily="34" charset="-120"/>
              </a:rPr>
              <a:t>夢展望（3185）の買収検討</a:t>
            </a:r>
            <a:endParaRPr lang="en-US" sz="4000" dirty="0"/>
          </a:p>
        </p:txBody>
      </p:sp>
      <p:sp>
        <p:nvSpPr>
          <p:cNvPr id="4" name="Text 2"/>
          <p:cNvSpPr txBox="1"/>
          <p:nvPr/>
        </p:nvSpPr>
        <p:spPr>
          <a:xfrm>
            <a:off x="822960" y="3017520"/>
            <a:ext cx="10241280" cy="411480"/>
          </a:xfrm>
          <a:prstGeom prst="rect">
            <a:avLst/>
          </a:prstGeom>
          <a:noFill/>
          <a:ln/>
        </p:spPr>
        <p:txBody>
          <a:bodyPr wrap="square" lIns="0" tIns="0" rIns="0" bIns="0" rtlCol="0" anchor="ctr"/>
          <a:lstStyle/>
          <a:p>
            <a:pPr indent="0" marL="0">
              <a:buNone/>
            </a:pPr>
            <a:r>
              <a:rPr lang="en-US" sz="1700" dirty="0">
                <a:solidFill>
                  <a:srgbClr val="B9C4CF"/>
                </a:solidFill>
                <a:latin typeface="Meiryo" pitchFamily="34" charset="0"/>
                <a:ea typeface="Meiryo" pitchFamily="34" charset="-122"/>
                <a:cs typeface="Meiryo" pitchFamily="34" charset="-120"/>
              </a:rPr>
              <a:t>面談結果を反映した改訂版 ─ RIZAP社保有株30%の取得と、あどばるとの関係</a:t>
            </a:r>
            <a:endParaRPr lang="en-US" sz="1700" dirty="0"/>
          </a:p>
        </p:txBody>
      </p:sp>
      <p:sp>
        <p:nvSpPr>
          <p:cNvPr id="5" name="Text 3"/>
          <p:cNvSpPr txBox="1"/>
          <p:nvPr/>
        </p:nvSpPr>
        <p:spPr>
          <a:xfrm>
            <a:off x="822960" y="3474720"/>
            <a:ext cx="10058400" cy="274320"/>
          </a:xfrm>
          <a:prstGeom prst="rect">
            <a:avLst/>
          </a:prstGeom>
          <a:noFill/>
          <a:ln/>
        </p:spPr>
        <p:txBody>
          <a:bodyPr wrap="square" lIns="0" tIns="0" rIns="0" bIns="0" rtlCol="0" anchor="ctr"/>
          <a:lstStyle/>
          <a:p>
            <a:pPr indent="0" marL="0">
              <a:buNone/>
            </a:pPr>
            <a:r>
              <a:rPr lang="en-US" sz="1300" dirty="0">
                <a:solidFill>
                  <a:srgbClr val="A85C6E"/>
                </a:solidFill>
                <a:latin typeface="Meiryo" pitchFamily="34" charset="0"/>
                <a:ea typeface="Meiryo" pitchFamily="34" charset="-122"/>
                <a:cs typeface="Meiryo" pitchFamily="34" charset="-120"/>
              </a:rPr>
              <a:t>2026年10月29日</a:t>
            </a:r>
            <a:endParaRPr lang="en-US" sz="1300" dirty="0"/>
          </a:p>
        </p:txBody>
      </p:sp>
      <p:sp>
        <p:nvSpPr>
          <p:cNvPr id="6" name="Shape 4"/>
          <p:cNvSpPr/>
          <p:nvPr/>
        </p:nvSpPr>
        <p:spPr>
          <a:xfrm>
            <a:off x="822960" y="3877056"/>
            <a:ext cx="2926080" cy="0"/>
          </a:xfrm>
          <a:prstGeom prst="line">
            <a:avLst/>
          </a:prstGeom>
          <a:noFill/>
          <a:ln w="25400">
            <a:solidFill>
              <a:srgbClr val="6E2639"/>
            </a:solidFill>
            <a:prstDash val="solid"/>
          </a:ln>
        </p:spPr>
      </p:sp>
      <p:sp>
        <p:nvSpPr>
          <p:cNvPr id="7" name="Text 5"/>
          <p:cNvSpPr txBox="1"/>
          <p:nvPr/>
        </p:nvSpPr>
        <p:spPr>
          <a:xfrm>
            <a:off x="822960" y="4187952"/>
            <a:ext cx="1554480" cy="274320"/>
          </a:xfrm>
          <a:prstGeom prst="rect">
            <a:avLst/>
          </a:prstGeom>
          <a:noFill/>
          <a:ln/>
        </p:spPr>
        <p:txBody>
          <a:bodyPr wrap="square" lIns="0" tIns="0" rIns="0" bIns="0" rtlCol="0" anchor="ctr"/>
          <a:lstStyle/>
          <a:p>
            <a:pPr indent="0" marL="0">
              <a:buNone/>
            </a:pPr>
            <a:r>
              <a:rPr lang="en-US" sz="1000" dirty="0">
                <a:solidFill>
                  <a:srgbClr val="7C8A99"/>
                </a:solidFill>
                <a:latin typeface="Meiryo" pitchFamily="34" charset="0"/>
                <a:ea typeface="Meiryo" pitchFamily="34" charset="-122"/>
                <a:cs typeface="Meiryo" pitchFamily="34" charset="-120"/>
              </a:rPr>
              <a:t>作成</a:t>
            </a:r>
            <a:endParaRPr lang="en-US" sz="1000" dirty="0"/>
          </a:p>
        </p:txBody>
      </p:sp>
      <p:sp>
        <p:nvSpPr>
          <p:cNvPr id="8" name="Text 6"/>
          <p:cNvSpPr txBox="1"/>
          <p:nvPr/>
        </p:nvSpPr>
        <p:spPr>
          <a:xfrm>
            <a:off x="2468880" y="4187952"/>
            <a:ext cx="8686800" cy="274320"/>
          </a:xfrm>
          <a:prstGeom prst="rect">
            <a:avLst/>
          </a:prstGeom>
          <a:noFill/>
          <a:ln/>
        </p:spPr>
        <p:txBody>
          <a:bodyPr wrap="square" lIns="0" tIns="0" rIns="0" bIns="0" rtlCol="0" anchor="ctr"/>
          <a:lstStyle/>
          <a:p>
            <a:pPr indent="0" marL="0">
              <a:buNone/>
            </a:pPr>
            <a:r>
              <a:rPr lang="en-US" sz="1200" dirty="0">
                <a:solidFill>
                  <a:srgbClr val="D5DDE5"/>
                </a:solidFill>
                <a:latin typeface="Meiryo" pitchFamily="34" charset="0"/>
                <a:ea typeface="Meiryo" pitchFamily="34" charset="-122"/>
                <a:cs typeface="Meiryo" pitchFamily="34" charset="-120"/>
              </a:rPr>
              <a:t>株式会社あどばる 代表取締役 中野 邦人</a:t>
            </a:r>
            <a:endParaRPr lang="en-US" sz="1200" dirty="0"/>
          </a:p>
        </p:txBody>
      </p:sp>
      <p:sp>
        <p:nvSpPr>
          <p:cNvPr id="9" name="Text 7"/>
          <p:cNvSpPr txBox="1"/>
          <p:nvPr/>
        </p:nvSpPr>
        <p:spPr>
          <a:xfrm>
            <a:off x="822960" y="4572000"/>
            <a:ext cx="1554480" cy="274320"/>
          </a:xfrm>
          <a:prstGeom prst="rect">
            <a:avLst/>
          </a:prstGeom>
          <a:noFill/>
          <a:ln/>
        </p:spPr>
        <p:txBody>
          <a:bodyPr wrap="square" lIns="0" tIns="0" rIns="0" bIns="0" rtlCol="0" anchor="ctr"/>
          <a:lstStyle/>
          <a:p>
            <a:pPr indent="0" marL="0">
              <a:buNone/>
            </a:pPr>
            <a:r>
              <a:rPr lang="en-US" sz="1000" dirty="0">
                <a:solidFill>
                  <a:srgbClr val="7C8A99"/>
                </a:solidFill>
                <a:latin typeface="Meiryo" pitchFamily="34" charset="0"/>
                <a:ea typeface="Meiryo" pitchFamily="34" charset="-122"/>
                <a:cs typeface="Meiryo" pitchFamily="34" charset="-120"/>
              </a:rPr>
              <a:t>前提</a:t>
            </a:r>
            <a:endParaRPr lang="en-US" sz="1000" dirty="0"/>
          </a:p>
        </p:txBody>
      </p:sp>
      <p:sp>
        <p:nvSpPr>
          <p:cNvPr id="10" name="Text 8"/>
          <p:cNvSpPr txBox="1"/>
          <p:nvPr/>
        </p:nvSpPr>
        <p:spPr>
          <a:xfrm>
            <a:off x="2468880" y="4572000"/>
            <a:ext cx="8686800" cy="274320"/>
          </a:xfrm>
          <a:prstGeom prst="rect">
            <a:avLst/>
          </a:prstGeom>
          <a:noFill/>
          <a:ln/>
        </p:spPr>
        <p:txBody>
          <a:bodyPr wrap="square" lIns="0" tIns="0" rIns="0" bIns="0" rtlCol="0" anchor="ctr"/>
          <a:lstStyle/>
          <a:p>
            <a:pPr indent="0" marL="0">
              <a:buNone/>
            </a:pPr>
            <a:r>
              <a:rPr lang="en-US" sz="1200" dirty="0">
                <a:solidFill>
                  <a:srgbClr val="D5DDE5"/>
                </a:solidFill>
                <a:latin typeface="Meiryo" pitchFamily="34" charset="0"/>
                <a:ea typeface="Meiryo" pitchFamily="34" charset="-122"/>
                <a:cs typeface="Meiryo" pitchFamily="34" charset="-120"/>
              </a:rPr>
              <a:t>面談で出た条件（30%を約3億円・8億円の債権放棄）と夢展望社の公開情報</a:t>
            </a:r>
            <a:endParaRPr lang="en-US" sz="1200" dirty="0"/>
          </a:p>
        </p:txBody>
      </p:sp>
      <p:sp>
        <p:nvSpPr>
          <p:cNvPr id="11" name="Text 9"/>
          <p:cNvSpPr txBox="1"/>
          <p:nvPr/>
        </p:nvSpPr>
        <p:spPr>
          <a:xfrm>
            <a:off x="822960" y="4956048"/>
            <a:ext cx="1554480" cy="274320"/>
          </a:xfrm>
          <a:prstGeom prst="rect">
            <a:avLst/>
          </a:prstGeom>
          <a:noFill/>
          <a:ln/>
        </p:spPr>
        <p:txBody>
          <a:bodyPr wrap="square" lIns="0" tIns="0" rIns="0" bIns="0" rtlCol="0" anchor="ctr"/>
          <a:lstStyle/>
          <a:p>
            <a:pPr indent="0" marL="0">
              <a:buNone/>
            </a:pPr>
            <a:r>
              <a:rPr lang="en-US" sz="1000" dirty="0">
                <a:solidFill>
                  <a:srgbClr val="7C8A99"/>
                </a:solidFill>
                <a:latin typeface="Meiryo" pitchFamily="34" charset="0"/>
                <a:ea typeface="Meiryo" pitchFamily="34" charset="-122"/>
                <a:cs typeface="Meiryo" pitchFamily="34" charset="-120"/>
              </a:rPr>
              <a:t>注記</a:t>
            </a:r>
            <a:endParaRPr lang="en-US" sz="1000" dirty="0"/>
          </a:p>
        </p:txBody>
      </p:sp>
      <p:sp>
        <p:nvSpPr>
          <p:cNvPr id="12" name="Text 10"/>
          <p:cNvSpPr txBox="1"/>
          <p:nvPr/>
        </p:nvSpPr>
        <p:spPr>
          <a:xfrm>
            <a:off x="2468880" y="4956048"/>
            <a:ext cx="8686800" cy="274320"/>
          </a:xfrm>
          <a:prstGeom prst="rect">
            <a:avLst/>
          </a:prstGeom>
          <a:noFill/>
          <a:ln/>
        </p:spPr>
        <p:txBody>
          <a:bodyPr wrap="square" lIns="0" tIns="0" rIns="0" bIns="0" rtlCol="0" anchor="ctr"/>
          <a:lstStyle/>
          <a:p>
            <a:pPr indent="0" marL="0">
              <a:buNone/>
            </a:pPr>
            <a:r>
              <a:rPr lang="en-US" sz="1200" dirty="0">
                <a:solidFill>
                  <a:srgbClr val="D5DDE5"/>
                </a:solidFill>
                <a:latin typeface="Meiryo" pitchFamily="34" charset="0"/>
                <a:ea typeface="Meiryo" pitchFamily="34" charset="-122"/>
                <a:cs typeface="Meiryo" pitchFamily="34" charset="-120"/>
              </a:rPr>
              <a:t>面談記録は音声の文字起こしのため、数字の一部は聞き取りの解釈を含みます</a:t>
            </a:r>
            <a:endParaRPr lang="en-US" sz="1200" dirty="0"/>
          </a:p>
        </p:txBody>
      </p:sp>
      <p:sp>
        <p:nvSpPr>
          <p:cNvPr id="13" name="Text 11"/>
          <p:cNvSpPr txBox="1"/>
          <p:nvPr/>
        </p:nvSpPr>
        <p:spPr>
          <a:xfrm>
            <a:off x="822960" y="6217920"/>
            <a:ext cx="10515600" cy="274320"/>
          </a:xfrm>
          <a:prstGeom prst="rect">
            <a:avLst/>
          </a:prstGeom>
          <a:noFill/>
          <a:ln/>
        </p:spPr>
        <p:txBody>
          <a:bodyPr wrap="square" lIns="0" tIns="0" rIns="0" bIns="0" rtlCol="0" anchor="ctr"/>
          <a:lstStyle/>
          <a:p>
            <a:pPr indent="0" marL="0">
              <a:buNone/>
            </a:pPr>
            <a:r>
              <a:rPr lang="en-US" sz="900" dirty="0">
                <a:solidFill>
                  <a:srgbClr val="6D7A87"/>
                </a:solidFill>
                <a:latin typeface="Meiryo" pitchFamily="34" charset="0"/>
                <a:ea typeface="Meiryo" pitchFamily="34" charset="-122"/>
                <a:cs typeface="Meiryo" pitchFamily="34" charset="-120"/>
              </a:rPr>
              <a:t>試算であり、法務・税務・会計上の助言ではありません</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7F9"/>
        </a:solidFill>
      </p:bgPr>
    </p:bg>
    <p:spTree>
      <p:nvGrpSpPr>
        <p:cNvPr id="1" name=""/>
        <p:cNvGrpSpPr/>
        <p:nvPr/>
      </p:nvGrpSpPr>
      <p:grpSpPr>
        <a:xfrm>
          <a:off x="0" y="0"/>
          <a:ext cx="0" cy="0"/>
          <a:chOff x="0" y="0"/>
          <a:chExt cx="0" cy="0"/>
        </a:xfrm>
      </p:grpSpPr>
      <p:sp>
        <p:nvSpPr>
          <p:cNvPr id="2" name="Text 0"/>
          <p:cNvSpPr txBox="1"/>
          <p:nvPr/>
        </p:nvSpPr>
        <p:spPr>
          <a:xfrm>
            <a:off x="640080" y="384048"/>
            <a:ext cx="10881360" cy="256032"/>
          </a:xfrm>
          <a:prstGeom prst="rect">
            <a:avLst/>
          </a:prstGeom>
          <a:noFill/>
          <a:ln/>
        </p:spPr>
        <p:txBody>
          <a:bodyPr wrap="square" lIns="0" tIns="0" rIns="0" bIns="0" rtlCol="0" anchor="ctr"/>
          <a:lstStyle/>
          <a:p>
            <a:pPr indent="0" marL="0">
              <a:buNone/>
            </a:pPr>
            <a:r>
              <a:rPr lang="en-US" sz="1100" b="1" spc="200" kern="0" dirty="0">
                <a:solidFill>
                  <a:srgbClr val="6E2639"/>
                </a:solidFill>
                <a:latin typeface="Meiryo" pitchFamily="34" charset="0"/>
                <a:ea typeface="Meiryo" pitchFamily="34" charset="-122"/>
                <a:cs typeface="Meiryo" pitchFamily="34" charset="-120"/>
              </a:rPr>
              <a:t>面談結果</a:t>
            </a:r>
            <a:endParaRPr lang="en-US" sz="1100" dirty="0"/>
          </a:p>
        </p:txBody>
      </p:sp>
      <p:sp>
        <p:nvSpPr>
          <p:cNvPr id="3" name="Text 1"/>
          <p:cNvSpPr txBox="1"/>
          <p:nvPr/>
        </p:nvSpPr>
        <p:spPr>
          <a:xfrm>
            <a:off x="640080" y="676656"/>
            <a:ext cx="10881360" cy="658368"/>
          </a:xfrm>
          <a:prstGeom prst="rect">
            <a:avLst/>
          </a:prstGeom>
          <a:noFill/>
          <a:ln/>
        </p:spPr>
        <p:txBody>
          <a:bodyPr wrap="square" lIns="0" tIns="0" rIns="0" bIns="0" rtlCol="0" anchor="ctr"/>
          <a:lstStyle/>
          <a:p>
            <a:pPr indent="0" marL="0">
              <a:buNone/>
            </a:pPr>
            <a:r>
              <a:rPr lang="en-US" sz="2800" b="1" dirty="0">
                <a:solidFill>
                  <a:srgbClr val="1E2A38"/>
                </a:solidFill>
                <a:latin typeface="Meiryo" pitchFamily="34" charset="0"/>
                <a:ea typeface="Meiryo" pitchFamily="34" charset="-122"/>
                <a:cs typeface="Meiryo" pitchFamily="34" charset="-120"/>
              </a:rPr>
              <a:t>前回の想定から、ここが変わりました</a:t>
            </a:r>
            <a:endParaRPr lang="en-US" sz="28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640080" y="1536192"/>
          <a:ext cx="10881360" cy="914400"/>
        </p:xfrm>
        <a:graphic>
          <a:graphicData uri="http://schemas.openxmlformats.org/drawingml/2006/table">
            <a:tbl>
              <a:tblPr/>
              <a:tblGrid>
                <a:gridCol w="2011680"/>
                <a:gridCol w="2743200"/>
                <a:gridCol w="3200400"/>
                <a:gridCol w="2926080"/>
              </a:tblGrid>
              <a:tr h="402336">
                <a:tc>
                  <a:txBody>
                    <a:bodyPr/>
                    <a:lstStyle/>
                    <a:p>
                      <a:pPr indent="0" marL="0">
                        <a:buNone/>
                      </a:pPr>
                      <a:r>
                        <a:rPr lang="en-US" sz="1100" b="1" dirty="0">
                          <a:solidFill>
                            <a:srgbClr val="FFFFFF"/>
                          </a:solidFill>
                          <a:latin typeface="Meiryo" pitchFamily="34" charset="0"/>
                          <a:ea typeface="Meiryo" pitchFamily="34" charset="-122"/>
                          <a:cs typeface="Meiryo" pitchFamily="34" charset="-120"/>
                        </a:rPr>
                        <a:t>項目</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E2A38"/>
                    </a:solidFill>
                  </a:tcPr>
                </a:tc>
                <a:tc>
                  <a:txBody>
                    <a:bodyPr/>
                    <a:lstStyle/>
                    <a:p>
                      <a:pPr algn="ctr" indent="0" marL="0">
                        <a:buNone/>
                      </a:pPr>
                      <a:r>
                        <a:rPr lang="en-US" sz="1100" b="1" dirty="0">
                          <a:solidFill>
                            <a:srgbClr val="FFFFFF"/>
                          </a:solidFill>
                          <a:latin typeface="Meiryo" pitchFamily="34" charset="0"/>
                          <a:ea typeface="Meiryo" pitchFamily="34" charset="-122"/>
                          <a:cs typeface="Meiryo" pitchFamily="34" charset="-120"/>
                        </a:rPr>
                        <a:t>前回の想定</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E2A38"/>
                    </a:solidFill>
                  </a:tcPr>
                </a:tc>
                <a:tc>
                  <a:txBody>
                    <a:bodyPr/>
                    <a:lstStyle/>
                    <a:p>
                      <a:pPr algn="ctr" indent="0" marL="0">
                        <a:buNone/>
                      </a:pPr>
                      <a:r>
                        <a:rPr lang="en-US" sz="1100" b="1" dirty="0">
                          <a:solidFill>
                            <a:srgbClr val="FFFFFF"/>
                          </a:solidFill>
                          <a:latin typeface="Meiryo" pitchFamily="34" charset="0"/>
                          <a:ea typeface="Meiryo" pitchFamily="34" charset="-122"/>
                          <a:cs typeface="Meiryo" pitchFamily="34" charset="-120"/>
                        </a:rPr>
                        <a:t>面談で出た内容</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6E2639"/>
                    </a:solidFill>
                  </a:tcPr>
                </a:tc>
                <a:tc>
                  <a:txBody>
                    <a:bodyPr/>
                    <a:lstStyle/>
                    <a:p>
                      <a:pPr algn="ctr" indent="0" marL="0">
                        <a:buNone/>
                      </a:pPr>
                      <a:r>
                        <a:rPr lang="en-US" sz="1100" b="1" dirty="0">
                          <a:solidFill>
                            <a:srgbClr val="FFFFFF"/>
                          </a:solidFill>
                          <a:latin typeface="Meiryo" pitchFamily="34" charset="0"/>
                          <a:ea typeface="Meiryo" pitchFamily="34" charset="-122"/>
                          <a:cs typeface="Meiryo" pitchFamily="34" charset="-120"/>
                        </a:rPr>
                        <a:t>影響</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E2A38"/>
                    </a:solidFill>
                  </a:tcPr>
                </a:tc>
              </a:tr>
              <a:tr h="402336">
                <a:tc>
                  <a:txBody>
                    <a:bodyPr/>
                    <a:lstStyle/>
                    <a:p>
                      <a:pPr indent="0" marL="0">
                        <a:buNone/>
                      </a:pPr>
                      <a:r>
                        <a:rPr lang="en-US" sz="1100" b="1" dirty="0">
                          <a:solidFill>
                            <a:srgbClr val="3D4E60"/>
                          </a:solidFill>
                          <a:latin typeface="Meiryo" pitchFamily="34" charset="0"/>
                          <a:ea typeface="Meiryo" pitchFamily="34" charset="-122"/>
                          <a:cs typeface="Meiryo" pitchFamily="34" charset="-120"/>
                        </a:rPr>
                        <a:t>RIZAP株の売り方</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ctr" indent="0" marL="0">
                        <a:buNone/>
                      </a:pPr>
                      <a:r>
                        <a:rPr lang="en-US" sz="1100" dirty="0">
                          <a:solidFill>
                            <a:srgbClr val="7C8A99"/>
                          </a:solidFill>
                          <a:latin typeface="Meiryo" pitchFamily="34" charset="0"/>
                          <a:ea typeface="Meiryo" pitchFamily="34" charset="-122"/>
                          <a:cs typeface="Meiryo" pitchFamily="34" charset="-120"/>
                        </a:rPr>
                        <a:t>44.68%全部（TOBが必要）</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ctr" indent="0" marL="0">
                        <a:buNone/>
                      </a:pPr>
                      <a:r>
                        <a:rPr lang="en-US" sz="1100" b="1" dirty="0">
                          <a:solidFill>
                            <a:srgbClr val="3D4E60"/>
                          </a:solidFill>
                          <a:latin typeface="Meiryo" pitchFamily="34" charset="0"/>
                          <a:ea typeface="Meiryo" pitchFamily="34" charset="-122"/>
                          <a:cs typeface="Meiryo" pitchFamily="34" charset="-120"/>
                        </a:rPr>
                        <a:t>30%ブロックを約3億円</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ctr" indent="0" marL="0">
                        <a:buNone/>
                      </a:pPr>
                      <a:r>
                        <a:rPr lang="en-US" sz="1100" dirty="0">
                          <a:solidFill>
                            <a:srgbClr val="2C6A4E"/>
                          </a:solidFill>
                          <a:latin typeface="Meiryo" pitchFamily="34" charset="0"/>
                          <a:ea typeface="Meiryo" pitchFamily="34" charset="-122"/>
                          <a:cs typeface="Meiryo" pitchFamily="34" charset="-120"/>
                        </a:rPr>
                        <a:t>3分の1未満のためTOB不要</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r>
              <a:tr h="402336">
                <a:tc>
                  <a:txBody>
                    <a:bodyPr/>
                    <a:lstStyle/>
                    <a:p>
                      <a:pPr indent="0" marL="0">
                        <a:buNone/>
                      </a:pPr>
                      <a:r>
                        <a:rPr lang="en-US" sz="1100" b="1" dirty="0">
                          <a:solidFill>
                            <a:srgbClr val="3D4E60"/>
                          </a:solidFill>
                          <a:latin typeface="Meiryo" pitchFamily="34" charset="0"/>
                          <a:ea typeface="Meiryo" pitchFamily="34" charset="-122"/>
                          <a:cs typeface="Meiryo" pitchFamily="34" charset="-120"/>
                        </a:rPr>
                        <a:t>取得の時期</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ctr" indent="0" marL="0">
                        <a:buNone/>
                      </a:pPr>
                      <a:r>
                        <a:rPr lang="en-US" sz="1100" dirty="0">
                          <a:solidFill>
                            <a:srgbClr val="7C8A99"/>
                          </a:solidFill>
                          <a:latin typeface="Meiryo" pitchFamily="34" charset="0"/>
                          <a:ea typeface="Meiryo" pitchFamily="34" charset="-122"/>
                          <a:cs typeface="Meiryo" pitchFamily="34" charset="-120"/>
                        </a:rPr>
                        <a:t>すぐに</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ctr" indent="0" marL="0">
                        <a:buNone/>
                      </a:pPr>
                      <a:r>
                        <a:rPr lang="en-US" sz="1100" b="1" dirty="0">
                          <a:solidFill>
                            <a:srgbClr val="3D4E60"/>
                          </a:solidFill>
                          <a:latin typeface="Meiryo" pitchFamily="34" charset="0"/>
                          <a:ea typeface="Meiryo" pitchFamily="34" charset="-122"/>
                          <a:cs typeface="Meiryo" pitchFamily="34" charset="-120"/>
                        </a:rPr>
                        <a:t>新株予約権の行使後（12月以降）</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ctr" indent="0" marL="0">
                        <a:buNone/>
                      </a:pPr>
                      <a:r>
                        <a:rPr lang="en-US" sz="1100" dirty="0">
                          <a:solidFill>
                            <a:srgbClr val="3D4E60"/>
                          </a:solidFill>
                          <a:latin typeface="Meiryo" pitchFamily="34" charset="0"/>
                          <a:ea typeface="Meiryo" pitchFamily="34" charset="-122"/>
                          <a:cs typeface="Meiryo" pitchFamily="34" charset="-120"/>
                        </a:rPr>
                        <a:t>時価総額10億円前後を想定</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r>
              <a:tr h="402336">
                <a:tc>
                  <a:txBody>
                    <a:bodyPr/>
                    <a:lstStyle/>
                    <a:p>
                      <a:pPr indent="0" marL="0">
                        <a:buNone/>
                      </a:pPr>
                      <a:r>
                        <a:rPr lang="en-US" sz="1100" b="1" dirty="0">
                          <a:solidFill>
                            <a:srgbClr val="3D4E60"/>
                          </a:solidFill>
                          <a:latin typeface="Meiryo" pitchFamily="34" charset="0"/>
                          <a:ea typeface="Meiryo" pitchFamily="34" charset="-122"/>
                          <a:cs typeface="Meiryo" pitchFamily="34" charset="-120"/>
                        </a:rPr>
                        <a:t>借入金</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ctr" indent="0" marL="0">
                        <a:buNone/>
                      </a:pPr>
                      <a:r>
                        <a:rPr lang="en-US" sz="1100" dirty="0">
                          <a:solidFill>
                            <a:srgbClr val="7C8A99"/>
                          </a:solidFill>
                          <a:latin typeface="Meiryo" pitchFamily="34" charset="0"/>
                          <a:ea typeface="Meiryo" pitchFamily="34" charset="-122"/>
                          <a:cs typeface="Meiryo" pitchFamily="34" charset="-120"/>
                        </a:rPr>
                        <a:t>13.5億円（推定）</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ctr" indent="0" marL="0">
                        <a:buNone/>
                      </a:pPr>
                      <a:r>
                        <a:rPr lang="en-US" sz="1100" b="1" dirty="0">
                          <a:solidFill>
                            <a:srgbClr val="3D4E60"/>
                          </a:solidFill>
                          <a:latin typeface="Meiryo" pitchFamily="34" charset="0"/>
                          <a:ea typeface="Meiryo" pitchFamily="34" charset="-122"/>
                          <a:cs typeface="Meiryo" pitchFamily="34" charset="-120"/>
                        </a:rPr>
                        <a:t>17億円（銀行9億＋RIZAP 8億）</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ctr" indent="0" marL="0">
                        <a:buNone/>
                      </a:pPr>
                      <a:r>
                        <a:rPr lang="en-US" sz="1100" dirty="0">
                          <a:solidFill>
                            <a:srgbClr val="8A2E26"/>
                          </a:solidFill>
                          <a:latin typeface="Meiryo" pitchFamily="34" charset="0"/>
                          <a:ea typeface="Meiryo" pitchFamily="34" charset="-122"/>
                          <a:cs typeface="Meiryo" pitchFamily="34" charset="-120"/>
                        </a:rPr>
                        <a:t>総資産18億円に対し過大</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r>
              <a:tr h="402336">
                <a:tc>
                  <a:txBody>
                    <a:bodyPr/>
                    <a:lstStyle/>
                    <a:p>
                      <a:pPr indent="0" marL="0">
                        <a:buNone/>
                      </a:pPr>
                      <a:r>
                        <a:rPr lang="en-US" sz="1100" b="1" dirty="0">
                          <a:solidFill>
                            <a:srgbClr val="3D4E60"/>
                          </a:solidFill>
                          <a:latin typeface="Meiryo" pitchFamily="34" charset="0"/>
                          <a:ea typeface="Meiryo" pitchFamily="34" charset="-122"/>
                          <a:cs typeface="Meiryo" pitchFamily="34" charset="-120"/>
                        </a:rPr>
                        <a:t>債権放棄</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ctr" indent="0" marL="0">
                        <a:buNone/>
                      </a:pPr>
                      <a:r>
                        <a:rPr lang="en-US" sz="1100" dirty="0">
                          <a:solidFill>
                            <a:srgbClr val="7C8A99"/>
                          </a:solidFill>
                          <a:latin typeface="Meiryo" pitchFamily="34" charset="0"/>
                          <a:ea typeface="Meiryo" pitchFamily="34" charset="-122"/>
                          <a:cs typeface="Meiryo" pitchFamily="34" charset="-120"/>
                        </a:rPr>
                        <a:t>7億円</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ctr" indent="0" marL="0">
                        <a:buNone/>
                      </a:pPr>
                      <a:r>
                        <a:rPr lang="en-US" sz="1100" b="1" dirty="0">
                          <a:solidFill>
                            <a:srgbClr val="3D4E60"/>
                          </a:solidFill>
                          <a:latin typeface="Meiryo" pitchFamily="34" charset="0"/>
                          <a:ea typeface="Meiryo" pitchFamily="34" charset="-122"/>
                          <a:cs typeface="Meiryo" pitchFamily="34" charset="-120"/>
                        </a:rPr>
                        <a:t>RIZAP分の8億円</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ctr" indent="0" marL="0">
                        <a:buNone/>
                      </a:pPr>
                      <a:r>
                        <a:rPr lang="en-US" sz="1100" dirty="0">
                          <a:solidFill>
                            <a:srgbClr val="8F5510"/>
                          </a:solidFill>
                          <a:latin typeface="Meiryo" pitchFamily="34" charset="0"/>
                          <a:ea typeface="Meiryo" pitchFamily="34" charset="-122"/>
                          <a:cs typeface="Meiryo" pitchFamily="34" charset="-120"/>
                        </a:rPr>
                        <a:t>要確認（7億か8億か）</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r>
              <a:tr h="402336">
                <a:tc>
                  <a:txBody>
                    <a:bodyPr/>
                    <a:lstStyle/>
                    <a:p>
                      <a:pPr indent="0" marL="0">
                        <a:buNone/>
                      </a:pPr>
                      <a:r>
                        <a:rPr lang="en-US" sz="1100" b="1" dirty="0">
                          <a:solidFill>
                            <a:srgbClr val="3D4E60"/>
                          </a:solidFill>
                          <a:latin typeface="Meiryo" pitchFamily="34" charset="0"/>
                          <a:ea typeface="Meiryo" pitchFamily="34" charset="-122"/>
                          <a:cs typeface="Meiryo" pitchFamily="34" charset="-120"/>
                        </a:rPr>
                        <a:t>今期の業績</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ctr" indent="0" marL="0">
                        <a:buNone/>
                      </a:pPr>
                      <a:r>
                        <a:rPr lang="en-US" sz="1100" dirty="0">
                          <a:solidFill>
                            <a:srgbClr val="7C8A99"/>
                          </a:solidFill>
                          <a:latin typeface="Meiryo" pitchFamily="34" charset="0"/>
                          <a:ea typeface="Meiryo" pitchFamily="34" charset="-122"/>
                          <a:cs typeface="Meiryo" pitchFamily="34" charset="-120"/>
                        </a:rPr>
                        <a:t>会社予想 営業△0.30億円</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ctr" indent="0" marL="0">
                        <a:buNone/>
                      </a:pPr>
                      <a:r>
                        <a:rPr lang="en-US" sz="1100" b="1" dirty="0">
                          <a:solidFill>
                            <a:srgbClr val="3D4E60"/>
                          </a:solidFill>
                          <a:latin typeface="Meiryo" pitchFamily="34" charset="0"/>
                          <a:ea typeface="Meiryo" pitchFamily="34" charset="-122"/>
                          <a:cs typeface="Meiryo" pitchFamily="34" charset="-120"/>
                        </a:rPr>
                        <a:t>今期の黒字化は難しい</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ctr" indent="0" marL="0">
                        <a:buNone/>
                      </a:pPr>
                      <a:r>
                        <a:rPr lang="en-US" sz="1100" dirty="0">
                          <a:solidFill>
                            <a:srgbClr val="3D4E60"/>
                          </a:solidFill>
                          <a:latin typeface="Meiryo" pitchFamily="34" charset="0"/>
                          <a:ea typeface="Meiryo" pitchFamily="34" charset="-122"/>
                          <a:cs typeface="Meiryo" pitchFamily="34" charset="-120"/>
                        </a:rPr>
                        <a:t>販管費0.5〜1億削減でトントン</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r>
              <a:tr h="402336">
                <a:tc>
                  <a:txBody>
                    <a:bodyPr/>
                    <a:lstStyle/>
                    <a:p>
                      <a:pPr indent="0" marL="0">
                        <a:buNone/>
                      </a:pPr>
                      <a:r>
                        <a:rPr lang="en-US" sz="1100" b="1" dirty="0">
                          <a:solidFill>
                            <a:srgbClr val="3D4E60"/>
                          </a:solidFill>
                          <a:latin typeface="Meiryo" pitchFamily="34" charset="0"/>
                          <a:ea typeface="Meiryo" pitchFamily="34" charset="-122"/>
                          <a:cs typeface="Meiryo" pitchFamily="34" charset="-120"/>
                        </a:rPr>
                        <a:t>現預金</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ctr" indent="0" marL="0">
                        <a:buNone/>
                      </a:pPr>
                      <a:r>
                        <a:rPr lang="en-US" sz="1100" dirty="0">
                          <a:solidFill>
                            <a:srgbClr val="7C8A99"/>
                          </a:solidFill>
                          <a:latin typeface="Meiryo" pitchFamily="34" charset="0"/>
                          <a:ea typeface="Meiryo" pitchFamily="34" charset="-122"/>
                          <a:cs typeface="Meiryo" pitchFamily="34" charset="-120"/>
                        </a:rPr>
                        <a:t>6.29億円</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ctr" indent="0" marL="0">
                        <a:buNone/>
                      </a:pPr>
                      <a:r>
                        <a:rPr lang="en-US" sz="1100" b="1" dirty="0">
                          <a:solidFill>
                            <a:srgbClr val="3D4E60"/>
                          </a:solidFill>
                          <a:latin typeface="Meiryo" pitchFamily="34" charset="0"/>
                          <a:ea typeface="Meiryo" pitchFamily="34" charset="-122"/>
                          <a:cs typeface="Meiryo" pitchFamily="34" charset="-120"/>
                        </a:rPr>
                        <a:t>約6億円</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ctr" indent="0" marL="0">
                        <a:buNone/>
                      </a:pPr>
                      <a:r>
                        <a:rPr lang="en-US" sz="1100" dirty="0">
                          <a:solidFill>
                            <a:srgbClr val="2C6A4E"/>
                          </a:solidFill>
                          <a:latin typeface="Meiryo" pitchFamily="34" charset="0"/>
                          <a:ea typeface="Meiryo" pitchFamily="34" charset="-122"/>
                          <a:cs typeface="Meiryo" pitchFamily="34" charset="-120"/>
                        </a:rPr>
                        <a:t>資金繰りは当面回る</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r>
            </a:tbl>
          </a:graphicData>
        </a:graphic>
      </p:graphicFrame>
      <p:sp>
        <p:nvSpPr>
          <p:cNvPr id="5" name="Shape 2"/>
          <p:cNvSpPr/>
          <p:nvPr/>
        </p:nvSpPr>
        <p:spPr>
          <a:xfrm>
            <a:off x="640080" y="4526280"/>
            <a:ext cx="5349240" cy="1417320"/>
          </a:xfrm>
          <a:prstGeom prst="roundRect">
            <a:avLst>
              <a:gd name="adj" fmla="val 3871"/>
            </a:avLst>
          </a:prstGeom>
          <a:solidFill>
            <a:srgbClr val="EEF3F8"/>
          </a:solidFill>
          <a:ln w="12700">
            <a:solidFill>
              <a:srgbClr val="C6D6E5"/>
            </a:solidFill>
            <a:prstDash val="solid"/>
          </a:ln>
          <a:effectLst>
            <a:outerShdw sx="100000" sy="100000" kx="0" ky="0" algn="bl" rotWithShape="0" blurRad="101600" dist="12700" dir="5400000">
              <a:srgbClr val="AAB4BE">
                <a:alpha val="18000"/>
              </a:srgbClr>
            </a:outerShdw>
          </a:effectLst>
        </p:spPr>
      </p:sp>
      <p:sp>
        <p:nvSpPr>
          <p:cNvPr id="6" name="Text 3"/>
          <p:cNvSpPr txBox="1"/>
          <p:nvPr/>
        </p:nvSpPr>
        <p:spPr>
          <a:xfrm>
            <a:off x="914400" y="4681728"/>
            <a:ext cx="4754880" cy="274320"/>
          </a:xfrm>
          <a:prstGeom prst="rect">
            <a:avLst/>
          </a:prstGeom>
          <a:noFill/>
          <a:ln/>
        </p:spPr>
        <p:txBody>
          <a:bodyPr wrap="square" lIns="0" tIns="0" rIns="0" bIns="0" rtlCol="0" anchor="ctr"/>
          <a:lstStyle/>
          <a:p>
            <a:pPr indent="0" marL="0">
              <a:buNone/>
            </a:pPr>
            <a:r>
              <a:rPr lang="en-US" sz="1300" b="1" dirty="0">
                <a:solidFill>
                  <a:srgbClr val="2E5C8A"/>
                </a:solidFill>
                <a:latin typeface="Meiryo" pitchFamily="34" charset="0"/>
                <a:ea typeface="Meiryo" pitchFamily="34" charset="-122"/>
                <a:cs typeface="Meiryo" pitchFamily="34" charset="-120"/>
              </a:rPr>
              <a:t>面談で出た再建の打ち手</a:t>
            </a:r>
            <a:endParaRPr lang="en-US" sz="1300" dirty="0"/>
          </a:p>
        </p:txBody>
      </p:sp>
      <p:sp>
        <p:nvSpPr>
          <p:cNvPr id="7" name="Text 4"/>
          <p:cNvSpPr txBox="1"/>
          <p:nvPr/>
        </p:nvSpPr>
        <p:spPr>
          <a:xfrm>
            <a:off x="914400" y="5010912"/>
            <a:ext cx="4800600" cy="868680"/>
          </a:xfrm>
          <a:prstGeom prst="rect">
            <a:avLst/>
          </a:prstGeom>
          <a:noFill/>
          <a:ln/>
        </p:spPr>
        <p:txBody>
          <a:bodyPr wrap="square" lIns="0" tIns="0" rIns="0" bIns="0" rtlCol="0" anchor="ctr"/>
          <a:lstStyle/>
          <a:p>
            <a:pPr indent="0" marL="0">
              <a:lnSpc>
                <a:spcPct val="120000"/>
              </a:lnSpc>
              <a:buNone/>
            </a:pPr>
            <a:r>
              <a:rPr lang="en-US" sz="1050" dirty="0">
                <a:solidFill>
                  <a:srgbClr val="3D4E60"/>
                </a:solidFill>
                <a:latin typeface="Meiryo" pitchFamily="34" charset="0"/>
                <a:ea typeface="Meiryo" pitchFamily="34" charset="-122"/>
                <a:cs typeface="Meiryo" pitchFamily="34" charset="-120"/>
              </a:rPr>
              <a:t>・各地の店舗の解約・集約（第三者が入ったほうが進めやすい）</a:t>
            </a:r>
            <a:endParaRPr lang="en-US" sz="1050" dirty="0"/>
          </a:p>
          <a:p>
            <a:pPr indent="0" marL="0">
              <a:lnSpc>
                <a:spcPct val="120000"/>
              </a:lnSpc>
              <a:buNone/>
            </a:pPr>
            <a:r>
              <a:rPr lang="en-US" sz="1050" dirty="0">
                <a:solidFill>
                  <a:srgbClr val="3D4E60"/>
                </a:solidFill>
                <a:latin typeface="Meiryo" pitchFamily="34" charset="0"/>
                <a:ea typeface="Meiryo" pitchFamily="34" charset="-122"/>
                <a:cs typeface="Meiryo" pitchFamily="34" charset="-120"/>
              </a:rPr>
              <a:t>・VTuberやアイドルとのIPコラボ、海外展開</a:t>
            </a:r>
            <a:endParaRPr lang="en-US" sz="1050" dirty="0"/>
          </a:p>
          <a:p>
            <a:pPr indent="0" marL="0">
              <a:lnSpc>
                <a:spcPct val="120000"/>
              </a:lnSpc>
              <a:buNone/>
            </a:pPr>
            <a:r>
              <a:rPr lang="en-US" sz="1050" dirty="0">
                <a:solidFill>
                  <a:srgbClr val="3D4E60"/>
                </a:solidFill>
                <a:latin typeface="Meiryo" pitchFamily="34" charset="0"/>
                <a:ea typeface="Meiryo" pitchFamily="34" charset="-122"/>
                <a:cs typeface="Meiryo" pitchFamily="34" charset="-120"/>
              </a:rPr>
              <a:t>・RIZAP社による8億円の放棄を前提に、みずほ銀行の融資で回す</a:t>
            </a:r>
            <a:endParaRPr lang="en-US" sz="1050" dirty="0"/>
          </a:p>
        </p:txBody>
      </p:sp>
      <p:sp>
        <p:nvSpPr>
          <p:cNvPr id="8" name="Shape 5"/>
          <p:cNvSpPr/>
          <p:nvPr/>
        </p:nvSpPr>
        <p:spPr>
          <a:xfrm>
            <a:off x="6172200" y="4526280"/>
            <a:ext cx="5349240" cy="1417320"/>
          </a:xfrm>
          <a:prstGeom prst="roundRect">
            <a:avLst>
              <a:gd name="adj" fmla="val 3871"/>
            </a:avLst>
          </a:prstGeom>
          <a:solidFill>
            <a:srgbClr val="F7F3EC"/>
          </a:solidFill>
          <a:ln w="12700">
            <a:solidFill>
              <a:srgbClr val="E0D3BE"/>
            </a:solidFill>
            <a:prstDash val="solid"/>
          </a:ln>
          <a:effectLst>
            <a:outerShdw sx="100000" sy="100000" kx="0" ky="0" algn="bl" rotWithShape="0" blurRad="101600" dist="12700" dir="5400000">
              <a:srgbClr val="AAB4BE">
                <a:alpha val="18000"/>
              </a:srgbClr>
            </a:outerShdw>
          </a:effectLst>
        </p:spPr>
      </p:sp>
      <p:sp>
        <p:nvSpPr>
          <p:cNvPr id="9" name="Text 6"/>
          <p:cNvSpPr txBox="1"/>
          <p:nvPr/>
        </p:nvSpPr>
        <p:spPr>
          <a:xfrm>
            <a:off x="6446520" y="4681728"/>
            <a:ext cx="4754880" cy="274320"/>
          </a:xfrm>
          <a:prstGeom prst="rect">
            <a:avLst/>
          </a:prstGeom>
          <a:noFill/>
          <a:ln/>
        </p:spPr>
        <p:txBody>
          <a:bodyPr wrap="square" lIns="0" tIns="0" rIns="0" bIns="0" rtlCol="0" anchor="ctr"/>
          <a:lstStyle/>
          <a:p>
            <a:pPr indent="0" marL="0">
              <a:buNone/>
            </a:pPr>
            <a:r>
              <a:rPr lang="en-US" sz="1300" b="1" dirty="0">
                <a:solidFill>
                  <a:srgbClr val="8F5510"/>
                </a:solidFill>
                <a:latin typeface="Meiryo" pitchFamily="34" charset="0"/>
                <a:ea typeface="Meiryo" pitchFamily="34" charset="-122"/>
                <a:cs typeface="Meiryo" pitchFamily="34" charset="-120"/>
              </a:rPr>
              <a:t>面談での評価</a:t>
            </a:r>
            <a:endParaRPr lang="en-US" sz="1300" dirty="0"/>
          </a:p>
        </p:txBody>
      </p:sp>
      <p:sp>
        <p:nvSpPr>
          <p:cNvPr id="10" name="Text 7"/>
          <p:cNvSpPr txBox="1"/>
          <p:nvPr/>
        </p:nvSpPr>
        <p:spPr>
          <a:xfrm>
            <a:off x="6446520" y="5010912"/>
            <a:ext cx="4800600" cy="868680"/>
          </a:xfrm>
          <a:prstGeom prst="rect">
            <a:avLst/>
          </a:prstGeom>
          <a:noFill/>
          <a:ln/>
        </p:spPr>
        <p:txBody>
          <a:bodyPr wrap="square" lIns="0" tIns="0" rIns="0" bIns="0" rtlCol="0" anchor="ctr"/>
          <a:lstStyle/>
          <a:p>
            <a:pPr indent="0" marL="0">
              <a:lnSpc>
                <a:spcPct val="120000"/>
              </a:lnSpc>
              <a:buNone/>
            </a:pPr>
            <a:r>
              <a:rPr lang="en-US" sz="1050" dirty="0">
                <a:solidFill>
                  <a:srgbClr val="3D4E60"/>
                </a:solidFill>
                <a:latin typeface="Meiryo" pitchFamily="34" charset="0"/>
                <a:ea typeface="Meiryo" pitchFamily="34" charset="-122"/>
                <a:cs typeface="Meiryo" pitchFamily="34" charset="-120"/>
              </a:rPr>
              <a:t>「RIZAP社からのお土産（放棄）がないと厳しい」「株価が下がり、現金も入り、トントンまで持っていけるなら可能性はある」という見立てでした。</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7F9"/>
        </a:solidFill>
      </p:bgPr>
    </p:bg>
    <p:spTree>
      <p:nvGrpSpPr>
        <p:cNvPr id="1" name=""/>
        <p:cNvGrpSpPr/>
        <p:nvPr/>
      </p:nvGrpSpPr>
      <p:grpSpPr>
        <a:xfrm>
          <a:off x="0" y="0"/>
          <a:ext cx="0" cy="0"/>
          <a:chOff x="0" y="0"/>
          <a:chExt cx="0" cy="0"/>
        </a:xfrm>
      </p:grpSpPr>
      <p:sp>
        <p:nvSpPr>
          <p:cNvPr id="2" name="Text 0"/>
          <p:cNvSpPr txBox="1"/>
          <p:nvPr/>
        </p:nvSpPr>
        <p:spPr>
          <a:xfrm>
            <a:off x="640080" y="384048"/>
            <a:ext cx="10881360" cy="256032"/>
          </a:xfrm>
          <a:prstGeom prst="rect">
            <a:avLst/>
          </a:prstGeom>
          <a:noFill/>
          <a:ln/>
        </p:spPr>
        <p:txBody>
          <a:bodyPr wrap="square" lIns="0" tIns="0" rIns="0" bIns="0" rtlCol="0" anchor="ctr"/>
          <a:lstStyle/>
          <a:p>
            <a:pPr indent="0" marL="0">
              <a:buNone/>
            </a:pPr>
            <a:r>
              <a:rPr lang="en-US" sz="1100" b="1" spc="200" kern="0" dirty="0">
                <a:solidFill>
                  <a:srgbClr val="6E2639"/>
                </a:solidFill>
                <a:latin typeface="Meiryo" pitchFamily="34" charset="0"/>
                <a:ea typeface="Meiryo" pitchFamily="34" charset="-122"/>
                <a:cs typeface="Meiryo" pitchFamily="34" charset="-120"/>
              </a:rPr>
              <a:t>結論</a:t>
            </a:r>
            <a:endParaRPr lang="en-US" sz="1100" dirty="0"/>
          </a:p>
        </p:txBody>
      </p:sp>
      <p:sp>
        <p:nvSpPr>
          <p:cNvPr id="3" name="Text 1"/>
          <p:cNvSpPr txBox="1"/>
          <p:nvPr/>
        </p:nvSpPr>
        <p:spPr>
          <a:xfrm>
            <a:off x="640080" y="676656"/>
            <a:ext cx="10881360" cy="658368"/>
          </a:xfrm>
          <a:prstGeom prst="rect">
            <a:avLst/>
          </a:prstGeom>
          <a:noFill/>
          <a:ln/>
        </p:spPr>
        <p:txBody>
          <a:bodyPr wrap="square" lIns="0" tIns="0" rIns="0" bIns="0" rtlCol="0" anchor="ctr"/>
          <a:lstStyle/>
          <a:p>
            <a:pPr indent="0" marL="0">
              <a:buNone/>
            </a:pPr>
            <a:r>
              <a:rPr lang="en-US" sz="2800" b="1" dirty="0">
                <a:solidFill>
                  <a:srgbClr val="1E2A38"/>
                </a:solidFill>
                <a:latin typeface="Meiryo" pitchFamily="34" charset="0"/>
                <a:ea typeface="Meiryo" pitchFamily="34" charset="-122"/>
                <a:cs typeface="Meiryo" pitchFamily="34" charset="-120"/>
              </a:rPr>
              <a:t>3億円で30%は「買える値段」です</a:t>
            </a:r>
            <a:endParaRPr lang="en-US" sz="2800" dirty="0"/>
          </a:p>
        </p:txBody>
      </p:sp>
      <p:sp>
        <p:nvSpPr>
          <p:cNvPr id="4" name="Shape 2"/>
          <p:cNvSpPr/>
          <p:nvPr/>
        </p:nvSpPr>
        <p:spPr>
          <a:xfrm>
            <a:off x="640080" y="1481328"/>
            <a:ext cx="10881360" cy="1325880"/>
          </a:xfrm>
          <a:prstGeom prst="roundRect">
            <a:avLst>
              <a:gd name="adj" fmla="val 4138"/>
            </a:avLst>
          </a:prstGeom>
          <a:solidFill>
            <a:srgbClr val="FBF1F3"/>
          </a:solidFill>
          <a:ln w="12700">
            <a:solidFill>
              <a:srgbClr val="E3CBD1"/>
            </a:solidFill>
            <a:prstDash val="solid"/>
          </a:ln>
          <a:effectLst>
            <a:outerShdw sx="100000" sy="100000" kx="0" ky="0" algn="bl" rotWithShape="0" blurRad="101600" dist="12700" dir="5400000">
              <a:srgbClr val="AAB4BE">
                <a:alpha val="18000"/>
              </a:srgbClr>
            </a:outerShdw>
          </a:effectLst>
        </p:spPr>
      </p:sp>
      <p:sp>
        <p:nvSpPr>
          <p:cNvPr id="5" name="Text 3"/>
          <p:cNvSpPr txBox="1"/>
          <p:nvPr/>
        </p:nvSpPr>
        <p:spPr>
          <a:xfrm>
            <a:off x="960120" y="1682496"/>
            <a:ext cx="10241280" cy="365760"/>
          </a:xfrm>
          <a:prstGeom prst="rect">
            <a:avLst/>
          </a:prstGeom>
          <a:noFill/>
          <a:ln/>
        </p:spPr>
        <p:txBody>
          <a:bodyPr wrap="square" lIns="0" tIns="0" rIns="0" bIns="0" rtlCol="0" anchor="ctr"/>
          <a:lstStyle/>
          <a:p>
            <a:pPr indent="0" marL="0">
              <a:buNone/>
            </a:pPr>
            <a:r>
              <a:rPr lang="en-US" sz="1800" b="1" dirty="0">
                <a:solidFill>
                  <a:srgbClr val="6E2639"/>
                </a:solidFill>
                <a:latin typeface="Meiryo" pitchFamily="34" charset="0"/>
                <a:ea typeface="Meiryo" pitchFamily="34" charset="-122"/>
                <a:cs typeface="Meiryo" pitchFamily="34" charset="-120"/>
              </a:rPr>
              <a:t>30%ブロックならTOBが不要で、放棄後の純資産に対してPBR1.1〜1.3倍です</a:t>
            </a:r>
            <a:endParaRPr lang="en-US" sz="1800" dirty="0"/>
          </a:p>
        </p:txBody>
      </p:sp>
      <p:sp>
        <p:nvSpPr>
          <p:cNvPr id="6" name="Text 4"/>
          <p:cNvSpPr txBox="1"/>
          <p:nvPr/>
        </p:nvSpPr>
        <p:spPr>
          <a:xfrm>
            <a:off x="960120" y="2103120"/>
            <a:ext cx="10241280" cy="594360"/>
          </a:xfrm>
          <a:prstGeom prst="rect">
            <a:avLst/>
          </a:prstGeom>
          <a:noFill/>
          <a:ln/>
        </p:spPr>
        <p:txBody>
          <a:bodyPr wrap="square" lIns="0" tIns="0" rIns="0" bIns="0" rtlCol="0" anchor="ctr"/>
          <a:lstStyle/>
          <a:p>
            <a:pPr indent="0" marL="0">
              <a:lnSpc>
                <a:spcPct val="120000"/>
              </a:lnSpc>
              <a:buNone/>
            </a:pPr>
            <a:r>
              <a:rPr lang="en-US" sz="1150" dirty="0">
                <a:solidFill>
                  <a:srgbClr val="3D4E60"/>
                </a:solidFill>
                <a:latin typeface="Meiryo" pitchFamily="34" charset="0"/>
                <a:ea typeface="Meiryo" pitchFamily="34" charset="-122"/>
                <a:cs typeface="Meiryo" pitchFamily="34" charset="-120"/>
              </a:rPr>
              <a:t>8億円の放棄後、1株純資産は40〜43円。時価総額10億円で30%を取得すれば約3億円で、純資産に近い水準です。中野は単独の筆頭株主（30%）となり、RIZAP社の残りは10〜15%に下がります。ただし利益は出ていないため、この3億円が報われるかは、中野が再建を担えるかで決まります。</a:t>
            </a:r>
            <a:endParaRPr lang="en-US" sz="115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640080" y="3017520"/>
          <a:ext cx="10881360" cy="914400"/>
        </p:xfrm>
        <a:graphic>
          <a:graphicData uri="http://schemas.openxmlformats.org/drawingml/2006/table">
            <a:tbl>
              <a:tblPr/>
              <a:tblGrid>
                <a:gridCol w="2377440"/>
                <a:gridCol w="4251960"/>
                <a:gridCol w="4251960"/>
              </a:tblGrid>
              <a:tr h="384048">
                <a:tc>
                  <a:txBody>
                    <a:bodyPr/>
                    <a:lstStyle/>
                    <a:p>
                      <a:pPr indent="0" marL="0">
                        <a:buNone/>
                      </a:pP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E2A38"/>
                    </a:solidFill>
                  </a:tcPr>
                </a:tc>
                <a:tc>
                  <a:txBody>
                    <a:bodyPr/>
                    <a:lstStyle/>
                    <a:p>
                      <a:pPr algn="ctr" indent="0" marL="0">
                        <a:buNone/>
                      </a:pPr>
                      <a:r>
                        <a:rPr lang="en-US" sz="1100" b="1" dirty="0">
                          <a:solidFill>
                            <a:srgbClr val="FFFFFF"/>
                          </a:solidFill>
                          <a:latin typeface="Meiryo" pitchFamily="34" charset="0"/>
                          <a:ea typeface="Meiryo" pitchFamily="34" charset="-122"/>
                          <a:cs typeface="Meiryo" pitchFamily="34" charset="-120"/>
                        </a:rPr>
                        <a:t>夢展望 30%取得</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6E2639"/>
                    </a:solidFill>
                  </a:tcPr>
                </a:tc>
                <a:tc>
                  <a:txBody>
                    <a:bodyPr/>
                    <a:lstStyle/>
                    <a:p>
                      <a:pPr algn="ctr" indent="0" marL="0">
                        <a:buNone/>
                      </a:pPr>
                      <a:r>
                        <a:rPr lang="en-US" sz="1100" b="1" dirty="0">
                          <a:solidFill>
                            <a:srgbClr val="FFFFFF"/>
                          </a:solidFill>
                          <a:latin typeface="Meiryo" pitchFamily="34" charset="0"/>
                          <a:ea typeface="Meiryo" pitchFamily="34" charset="-122"/>
                          <a:cs typeface="Meiryo" pitchFamily="34" charset="-120"/>
                        </a:rPr>
                        <a:t>スマサポ案（PlanD）</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E2A38"/>
                    </a:solidFill>
                  </a:tcPr>
                </a:tc>
              </a:tr>
              <a:tr h="384048">
                <a:tc>
                  <a:txBody>
                    <a:bodyPr/>
                    <a:lstStyle/>
                    <a:p>
                      <a:pPr indent="0" marL="0">
                        <a:buNone/>
                      </a:pPr>
                      <a:r>
                        <a:rPr lang="en-US" sz="1100" b="1" dirty="0">
                          <a:solidFill>
                            <a:srgbClr val="3D4E60"/>
                          </a:solidFill>
                          <a:latin typeface="Meiryo" pitchFamily="34" charset="0"/>
                          <a:ea typeface="Meiryo" pitchFamily="34" charset="-122"/>
                          <a:cs typeface="Meiryo" pitchFamily="34" charset="-120"/>
                        </a:rPr>
                        <a:t>中野の負担</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ctr" indent="0" marL="0">
                        <a:buNone/>
                      </a:pPr>
                      <a:r>
                        <a:rPr lang="en-US" sz="1100" b="1" dirty="0">
                          <a:solidFill>
                            <a:srgbClr val="2C6A4E"/>
                          </a:solidFill>
                          <a:latin typeface="Meiryo" pitchFamily="34" charset="0"/>
                          <a:ea typeface="Meiryo" pitchFamily="34" charset="-122"/>
                          <a:cs typeface="Meiryo" pitchFamily="34" charset="-120"/>
                        </a:rPr>
                        <a:t>約3.0億円（時価総額10億円の場合）</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ctr" indent="0" marL="0">
                        <a:buNone/>
                      </a:pPr>
                      <a:r>
                        <a:rPr lang="en-US" sz="1100" dirty="0">
                          <a:solidFill>
                            <a:srgbClr val="3D4E60"/>
                          </a:solidFill>
                          <a:latin typeface="Meiryo" pitchFamily="34" charset="0"/>
                          <a:ea typeface="Meiryo" pitchFamily="34" charset="-122"/>
                          <a:cs typeface="Meiryo" pitchFamily="34" charset="-120"/>
                        </a:rPr>
                        <a:t>0〜6.2億円</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r>
              <a:tr h="384048">
                <a:tc>
                  <a:txBody>
                    <a:bodyPr/>
                    <a:lstStyle/>
                    <a:p>
                      <a:pPr indent="0" marL="0">
                        <a:buNone/>
                      </a:pPr>
                      <a:r>
                        <a:rPr lang="en-US" sz="1100" b="1" dirty="0">
                          <a:solidFill>
                            <a:srgbClr val="3D4E60"/>
                          </a:solidFill>
                          <a:latin typeface="Meiryo" pitchFamily="34" charset="0"/>
                          <a:ea typeface="Meiryo" pitchFamily="34" charset="-122"/>
                          <a:cs typeface="Meiryo" pitchFamily="34" charset="-120"/>
                        </a:rPr>
                        <a:t>中野の持分</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ctr" indent="0" marL="0">
                        <a:buNone/>
                      </a:pPr>
                      <a:r>
                        <a:rPr lang="en-US" sz="1100" b="1" dirty="0">
                          <a:solidFill>
                            <a:srgbClr val="2C6A4E"/>
                          </a:solidFill>
                          <a:latin typeface="Meiryo" pitchFamily="34" charset="0"/>
                          <a:ea typeface="Meiryo" pitchFamily="34" charset="-122"/>
                          <a:cs typeface="Meiryo" pitchFamily="34" charset="-120"/>
                        </a:rPr>
                        <a:t>30%（単独の筆頭）</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ctr" indent="0" marL="0">
                        <a:buNone/>
                      </a:pPr>
                      <a:r>
                        <a:rPr lang="en-US" sz="1100" dirty="0">
                          <a:solidFill>
                            <a:srgbClr val="3D4E60"/>
                          </a:solidFill>
                          <a:latin typeface="Meiryo" pitchFamily="34" charset="0"/>
                          <a:ea typeface="Meiryo" pitchFamily="34" charset="-122"/>
                          <a:cs typeface="Meiryo" pitchFamily="34" charset="-120"/>
                        </a:rPr>
                        <a:t>15.7〜33.3%</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r>
              <a:tr h="384048">
                <a:tc>
                  <a:txBody>
                    <a:bodyPr/>
                    <a:lstStyle/>
                    <a:p>
                      <a:pPr indent="0" marL="0">
                        <a:buNone/>
                      </a:pPr>
                      <a:r>
                        <a:rPr lang="en-US" sz="1100" b="1" dirty="0">
                          <a:solidFill>
                            <a:srgbClr val="3D4E60"/>
                          </a:solidFill>
                          <a:latin typeface="Meiryo" pitchFamily="34" charset="0"/>
                          <a:ea typeface="Meiryo" pitchFamily="34" charset="-122"/>
                          <a:cs typeface="Meiryo" pitchFamily="34" charset="-120"/>
                        </a:rPr>
                        <a:t>公開買付け</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ctr" indent="0" marL="0">
                        <a:buNone/>
                      </a:pPr>
                      <a:r>
                        <a:rPr lang="en-US" sz="1100" b="1" dirty="0">
                          <a:solidFill>
                            <a:srgbClr val="2C6A4E"/>
                          </a:solidFill>
                          <a:latin typeface="Meiryo" pitchFamily="34" charset="0"/>
                          <a:ea typeface="Meiryo" pitchFamily="34" charset="-122"/>
                          <a:cs typeface="Meiryo" pitchFamily="34" charset="-120"/>
                        </a:rPr>
                        <a:t>不要（3分の1未満）</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ctr" indent="0" marL="0">
                        <a:buNone/>
                      </a:pPr>
                      <a:r>
                        <a:rPr lang="en-US" sz="1100" dirty="0">
                          <a:solidFill>
                            <a:srgbClr val="3D4E60"/>
                          </a:solidFill>
                          <a:latin typeface="Meiryo" pitchFamily="34" charset="0"/>
                          <a:ea typeface="Meiryo" pitchFamily="34" charset="-122"/>
                          <a:cs typeface="Meiryo" pitchFamily="34" charset="-120"/>
                        </a:rPr>
                        <a:t>33%超を狙う場合は売出し応募等の工夫が必要</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r>
              <a:tr h="384048">
                <a:tc>
                  <a:txBody>
                    <a:bodyPr/>
                    <a:lstStyle/>
                    <a:p>
                      <a:pPr indent="0" marL="0">
                        <a:buNone/>
                      </a:pPr>
                      <a:r>
                        <a:rPr lang="en-US" sz="1100" b="1" dirty="0">
                          <a:solidFill>
                            <a:srgbClr val="3D4E60"/>
                          </a:solidFill>
                          <a:latin typeface="Meiryo" pitchFamily="34" charset="0"/>
                          <a:ea typeface="Meiryo" pitchFamily="34" charset="-122"/>
                          <a:cs typeface="Meiryo" pitchFamily="34" charset="-120"/>
                        </a:rPr>
                        <a:t>相手の利益</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ctr" indent="0" marL="0">
                        <a:buNone/>
                      </a:pPr>
                      <a:r>
                        <a:rPr lang="en-US" sz="1100" dirty="0">
                          <a:solidFill>
                            <a:srgbClr val="8A2E26"/>
                          </a:solidFill>
                          <a:latin typeface="Meiryo" pitchFamily="34" charset="0"/>
                          <a:ea typeface="Meiryo" pitchFamily="34" charset="-122"/>
                          <a:cs typeface="Meiryo" pitchFamily="34" charset="-120"/>
                        </a:rPr>
                        <a:t>営業△0.3億〜＋0.7億円（コスト削減次第）</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ctr" indent="0" marL="0">
                        <a:buNone/>
                      </a:pPr>
                      <a:r>
                        <a:rPr lang="en-US" sz="1100" b="1" dirty="0">
                          <a:solidFill>
                            <a:srgbClr val="2C6A4E"/>
                          </a:solidFill>
                          <a:latin typeface="Meiryo" pitchFamily="34" charset="0"/>
                          <a:ea typeface="Meiryo" pitchFamily="34" charset="-122"/>
                          <a:cs typeface="Meiryo" pitchFamily="34" charset="-120"/>
                        </a:rPr>
                        <a:t>営業2.30億円（会社予想）</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r>
              <a:tr h="384048">
                <a:tc>
                  <a:txBody>
                    <a:bodyPr/>
                    <a:lstStyle/>
                    <a:p>
                      <a:pPr indent="0" marL="0">
                        <a:buNone/>
                      </a:pPr>
                      <a:r>
                        <a:rPr lang="en-US" sz="1100" b="1" dirty="0">
                          <a:solidFill>
                            <a:srgbClr val="3D4E60"/>
                          </a:solidFill>
                          <a:latin typeface="Meiryo" pitchFamily="34" charset="0"/>
                          <a:ea typeface="Meiryo" pitchFamily="34" charset="-122"/>
                          <a:cs typeface="Meiryo" pitchFamily="34" charset="-120"/>
                        </a:rPr>
                        <a:t>事業シナジー</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ctr" indent="0" marL="0">
                        <a:buNone/>
                      </a:pPr>
                      <a:r>
                        <a:rPr lang="en-US" sz="1100" dirty="0">
                          <a:solidFill>
                            <a:srgbClr val="8A2E26"/>
                          </a:solidFill>
                          <a:latin typeface="Meiryo" pitchFamily="34" charset="0"/>
                          <a:ea typeface="Meiryo" pitchFamily="34" charset="-122"/>
                          <a:cs typeface="Meiryo" pitchFamily="34" charset="-120"/>
                        </a:rPr>
                        <a:t>限定的（IPコラボ・店舗の知見）</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ctr" indent="0" marL="0">
                        <a:buNone/>
                      </a:pPr>
                      <a:r>
                        <a:rPr lang="en-US" sz="1100" b="1" dirty="0">
                          <a:solidFill>
                            <a:srgbClr val="2C6A4E"/>
                          </a:solidFill>
                          <a:latin typeface="Meiryo" pitchFamily="34" charset="0"/>
                          <a:ea typeface="Meiryo" pitchFamily="34" charset="-122"/>
                          <a:cs typeface="Meiryo" pitchFamily="34" charset="-120"/>
                        </a:rPr>
                        <a:t>強い（物件の仕入れ）</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r>
            </a:tbl>
          </a:graphicData>
        </a:graphic>
      </p:graphicFrame>
      <p:sp>
        <p:nvSpPr>
          <p:cNvPr id="8" name="Text 5"/>
          <p:cNvSpPr txBox="1"/>
          <p:nvPr/>
        </p:nvSpPr>
        <p:spPr>
          <a:xfrm>
            <a:off x="640080" y="5440680"/>
            <a:ext cx="10881360" cy="548640"/>
          </a:xfrm>
          <a:prstGeom prst="rect">
            <a:avLst/>
          </a:prstGeom>
          <a:noFill/>
          <a:ln/>
        </p:spPr>
        <p:txBody>
          <a:bodyPr wrap="square" lIns="0" tIns="0" rIns="0" bIns="0" rtlCol="0" anchor="ctr"/>
          <a:lstStyle/>
          <a:p>
            <a:pPr indent="0" marL="0">
              <a:lnSpc>
                <a:spcPct val="115000"/>
              </a:lnSpc>
              <a:buNone/>
            </a:pPr>
            <a:r>
              <a:rPr lang="en-US" sz="1200" b="1" dirty="0">
                <a:solidFill>
                  <a:srgbClr val="6E2639"/>
                </a:solidFill>
                <a:latin typeface="Meiryo" pitchFamily="34" charset="0"/>
                <a:ea typeface="Meiryo" pitchFamily="34" charset="-122"/>
                <a:cs typeface="Meiryo" pitchFamily="34" charset="-120"/>
              </a:rPr>
              <a:t>両方を同時に進めるには資金が足りません。夢展望は「再建して売る」投資、スマサポは「一緒に伸ばす」合併。どちらを本筋にするかを先に決める必要があります。</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E2A38"/>
        </a:solidFill>
      </p:bgPr>
    </p:bg>
    <p:spTree>
      <p:nvGrpSpPr>
        <p:cNvPr id="1" name=""/>
        <p:cNvGrpSpPr/>
        <p:nvPr/>
      </p:nvGrpSpPr>
      <p:grpSpPr>
        <a:xfrm>
          <a:off x="0" y="0"/>
          <a:ext cx="0" cy="0"/>
          <a:chOff x="0" y="0"/>
          <a:chExt cx="0" cy="0"/>
        </a:xfrm>
      </p:grpSpPr>
      <p:sp>
        <p:nvSpPr>
          <p:cNvPr id="2" name="Text 0"/>
          <p:cNvSpPr txBox="1"/>
          <p:nvPr/>
        </p:nvSpPr>
        <p:spPr>
          <a:xfrm>
            <a:off x="640080" y="384048"/>
            <a:ext cx="10881360" cy="256032"/>
          </a:xfrm>
          <a:prstGeom prst="rect">
            <a:avLst/>
          </a:prstGeom>
          <a:noFill/>
          <a:ln/>
        </p:spPr>
        <p:txBody>
          <a:bodyPr wrap="square" lIns="0" tIns="0" rIns="0" bIns="0" rtlCol="0" anchor="ctr"/>
          <a:lstStyle/>
          <a:p>
            <a:pPr indent="0" marL="0">
              <a:buNone/>
            </a:pPr>
            <a:r>
              <a:rPr lang="en-US" sz="1100" b="1" spc="200" kern="0" dirty="0">
                <a:solidFill>
                  <a:srgbClr val="A85C6E"/>
                </a:solidFill>
                <a:latin typeface="Meiryo" pitchFamily="34" charset="0"/>
                <a:ea typeface="Meiryo" pitchFamily="34" charset="-122"/>
                <a:cs typeface="Meiryo" pitchFamily="34" charset="-120"/>
              </a:rPr>
              <a:t>8億円の債権放棄</a:t>
            </a:r>
            <a:endParaRPr lang="en-US" sz="1100" dirty="0"/>
          </a:p>
        </p:txBody>
      </p:sp>
      <p:sp>
        <p:nvSpPr>
          <p:cNvPr id="3" name="Text 1"/>
          <p:cNvSpPr txBox="1"/>
          <p:nvPr/>
        </p:nvSpPr>
        <p:spPr>
          <a:xfrm>
            <a:off x="640080" y="676656"/>
            <a:ext cx="10881360" cy="658368"/>
          </a:xfrm>
          <a:prstGeom prst="rect">
            <a:avLst/>
          </a:prstGeom>
          <a:noFill/>
          <a:ln/>
        </p:spPr>
        <p:txBody>
          <a:bodyPr wrap="square" lIns="0" tIns="0" rIns="0" bIns="0" rtlCol="0" anchor="ctr"/>
          <a:lstStyle/>
          <a:p>
            <a:pPr indent="0" marL="0">
              <a:buNone/>
            </a:pPr>
            <a:r>
              <a:rPr lang="en-US" sz="2800" b="1" dirty="0">
                <a:solidFill>
                  <a:srgbClr val="FFFFFF"/>
                </a:solidFill>
                <a:latin typeface="Meiryo" pitchFamily="34" charset="0"/>
                <a:ea typeface="Meiryo" pitchFamily="34" charset="-122"/>
                <a:cs typeface="Meiryo" pitchFamily="34" charset="-120"/>
              </a:rPr>
              <a:t>放棄後の夢展望</a:t>
            </a:r>
            <a:endParaRPr lang="en-US" sz="2800" dirty="0"/>
          </a:p>
        </p:txBody>
      </p:sp>
      <p:sp>
        <p:nvSpPr>
          <p:cNvPr id="4" name="Shape 2"/>
          <p:cNvSpPr/>
          <p:nvPr/>
        </p:nvSpPr>
        <p:spPr>
          <a:xfrm>
            <a:off x="640080" y="1600200"/>
            <a:ext cx="2606040" cy="1554480"/>
          </a:xfrm>
          <a:prstGeom prst="roundRect">
            <a:avLst>
              <a:gd name="adj" fmla="val 3529"/>
            </a:avLst>
          </a:prstGeom>
          <a:solidFill>
            <a:srgbClr val="26333F"/>
          </a:solidFill>
          <a:ln w="12700">
            <a:solidFill>
              <a:srgbClr val="3A4854"/>
            </a:solidFill>
            <a:prstDash val="solid"/>
          </a:ln>
        </p:spPr>
      </p:sp>
      <p:sp>
        <p:nvSpPr>
          <p:cNvPr id="5" name="Text 3"/>
          <p:cNvSpPr txBox="1"/>
          <p:nvPr/>
        </p:nvSpPr>
        <p:spPr>
          <a:xfrm>
            <a:off x="868680" y="1755648"/>
            <a:ext cx="2194560" cy="237744"/>
          </a:xfrm>
          <a:prstGeom prst="rect">
            <a:avLst/>
          </a:prstGeom>
          <a:noFill/>
          <a:ln/>
        </p:spPr>
        <p:txBody>
          <a:bodyPr wrap="square" lIns="0" tIns="0" rIns="0" bIns="0" rtlCol="0" anchor="ctr"/>
          <a:lstStyle/>
          <a:p>
            <a:pPr indent="0" marL="0">
              <a:buNone/>
            </a:pPr>
            <a:r>
              <a:rPr lang="en-US" sz="1050" dirty="0">
                <a:solidFill>
                  <a:srgbClr val="A8B5C0"/>
                </a:solidFill>
                <a:latin typeface="Meiryo" pitchFamily="34" charset="0"/>
                <a:ea typeface="Meiryo" pitchFamily="34" charset="-122"/>
                <a:cs typeface="Meiryo" pitchFamily="34" charset="-120"/>
              </a:rPr>
              <a:t>純資産</a:t>
            </a:r>
            <a:endParaRPr lang="en-US" sz="1050" dirty="0"/>
          </a:p>
        </p:txBody>
      </p:sp>
      <p:sp>
        <p:nvSpPr>
          <p:cNvPr id="6" name="Text 4"/>
          <p:cNvSpPr txBox="1"/>
          <p:nvPr/>
        </p:nvSpPr>
        <p:spPr>
          <a:xfrm>
            <a:off x="868680" y="2011680"/>
            <a:ext cx="2194560" cy="548640"/>
          </a:xfrm>
          <a:prstGeom prst="rect">
            <a:avLst/>
          </a:prstGeom>
          <a:noFill/>
          <a:ln/>
        </p:spPr>
        <p:txBody>
          <a:bodyPr wrap="square" lIns="0" tIns="0" rIns="0" bIns="0" rtlCol="0" anchor="ctr"/>
          <a:lstStyle/>
          <a:p>
            <a:pPr indent="0" marL="0">
              <a:buNone/>
            </a:pPr>
            <a:r>
              <a:rPr lang="en-US" sz="3000" b="1" dirty="0">
                <a:solidFill>
                  <a:srgbClr val="A85C6E"/>
                </a:solidFill>
                <a:latin typeface="Meiryo" pitchFamily="34" charset="0"/>
                <a:ea typeface="Meiryo" pitchFamily="34" charset="-122"/>
                <a:cs typeface="Meiryo" pitchFamily="34" charset="-120"/>
              </a:rPr>
              <a:t>7.53</a:t>
            </a:r>
            <a:pPr indent="0" marL="0">
              <a:buNone/>
            </a:pPr>
            <a:r>
              <a:rPr lang="en-US" sz="1300" b="1" dirty="0">
                <a:solidFill>
                  <a:srgbClr val="A85C6E"/>
                </a:solidFill>
                <a:latin typeface="Meiryo" pitchFamily="34" charset="0"/>
                <a:ea typeface="Meiryo" pitchFamily="34" charset="-122"/>
                <a:cs typeface="Meiryo" pitchFamily="34" charset="-120"/>
              </a:rPr>
              <a:t>億円</a:t>
            </a:r>
            <a:endParaRPr lang="en-US" sz="3000" dirty="0"/>
          </a:p>
        </p:txBody>
      </p:sp>
      <p:sp>
        <p:nvSpPr>
          <p:cNvPr id="7" name="Text 5"/>
          <p:cNvSpPr txBox="1"/>
          <p:nvPr/>
        </p:nvSpPr>
        <p:spPr>
          <a:xfrm>
            <a:off x="868680" y="2651760"/>
            <a:ext cx="2194560" cy="411480"/>
          </a:xfrm>
          <a:prstGeom prst="rect">
            <a:avLst/>
          </a:prstGeom>
          <a:noFill/>
          <a:ln/>
        </p:spPr>
        <p:txBody>
          <a:bodyPr wrap="square" lIns="0" tIns="0" rIns="0" bIns="0" rtlCol="0" anchor="ctr"/>
          <a:lstStyle/>
          <a:p>
            <a:pPr indent="0" marL="0">
              <a:lnSpc>
                <a:spcPct val="110000"/>
              </a:lnSpc>
              <a:buNone/>
            </a:pPr>
            <a:r>
              <a:rPr lang="en-US" sz="950" dirty="0">
                <a:solidFill>
                  <a:srgbClr val="A8B5C0"/>
                </a:solidFill>
                <a:latin typeface="Meiryo" pitchFamily="34" charset="0"/>
                <a:ea typeface="Meiryo" pitchFamily="34" charset="-122"/>
                <a:cs typeface="Meiryo" pitchFamily="34" charset="-120"/>
              </a:rPr>
              <a:t>△0.47億円から回復</a:t>
            </a:r>
            <a:endParaRPr lang="en-US" sz="950" dirty="0"/>
          </a:p>
        </p:txBody>
      </p:sp>
      <p:sp>
        <p:nvSpPr>
          <p:cNvPr id="8" name="Shape 6"/>
          <p:cNvSpPr/>
          <p:nvPr/>
        </p:nvSpPr>
        <p:spPr>
          <a:xfrm>
            <a:off x="3401568" y="1600200"/>
            <a:ext cx="2606040" cy="1554480"/>
          </a:xfrm>
          <a:prstGeom prst="roundRect">
            <a:avLst>
              <a:gd name="adj" fmla="val 3529"/>
            </a:avLst>
          </a:prstGeom>
          <a:solidFill>
            <a:srgbClr val="26333F"/>
          </a:solidFill>
          <a:ln w="12700">
            <a:solidFill>
              <a:srgbClr val="3A4854"/>
            </a:solidFill>
            <a:prstDash val="solid"/>
          </a:ln>
        </p:spPr>
      </p:sp>
      <p:sp>
        <p:nvSpPr>
          <p:cNvPr id="9" name="Text 7"/>
          <p:cNvSpPr txBox="1"/>
          <p:nvPr/>
        </p:nvSpPr>
        <p:spPr>
          <a:xfrm>
            <a:off x="3630168" y="1755648"/>
            <a:ext cx="2194560" cy="237744"/>
          </a:xfrm>
          <a:prstGeom prst="rect">
            <a:avLst/>
          </a:prstGeom>
          <a:noFill/>
          <a:ln/>
        </p:spPr>
        <p:txBody>
          <a:bodyPr wrap="square" lIns="0" tIns="0" rIns="0" bIns="0" rtlCol="0" anchor="ctr"/>
          <a:lstStyle/>
          <a:p>
            <a:pPr indent="0" marL="0">
              <a:buNone/>
            </a:pPr>
            <a:r>
              <a:rPr lang="en-US" sz="1050" dirty="0">
                <a:solidFill>
                  <a:srgbClr val="A8B5C0"/>
                </a:solidFill>
                <a:latin typeface="Meiryo" pitchFamily="34" charset="0"/>
                <a:ea typeface="Meiryo" pitchFamily="34" charset="-122"/>
                <a:cs typeface="Meiryo" pitchFamily="34" charset="-120"/>
              </a:rPr>
              <a:t>1株純資産</a:t>
            </a:r>
            <a:endParaRPr lang="en-US" sz="1050" dirty="0"/>
          </a:p>
        </p:txBody>
      </p:sp>
      <p:sp>
        <p:nvSpPr>
          <p:cNvPr id="10" name="Text 8"/>
          <p:cNvSpPr txBox="1"/>
          <p:nvPr/>
        </p:nvSpPr>
        <p:spPr>
          <a:xfrm>
            <a:off x="3630168" y="2011680"/>
            <a:ext cx="2194560" cy="548640"/>
          </a:xfrm>
          <a:prstGeom prst="rect">
            <a:avLst/>
          </a:prstGeom>
          <a:noFill/>
          <a:ln/>
        </p:spPr>
        <p:txBody>
          <a:bodyPr wrap="square" lIns="0" tIns="0" rIns="0" bIns="0" rtlCol="0" anchor="ctr"/>
          <a:lstStyle/>
          <a:p>
            <a:pPr indent="0" marL="0">
              <a:buNone/>
            </a:pPr>
            <a:r>
              <a:rPr lang="en-US" sz="3000" b="1" dirty="0">
                <a:solidFill>
                  <a:srgbClr val="8FB0CC"/>
                </a:solidFill>
                <a:latin typeface="Meiryo" pitchFamily="34" charset="0"/>
                <a:ea typeface="Meiryo" pitchFamily="34" charset="-122"/>
                <a:cs typeface="Meiryo" pitchFamily="34" charset="-120"/>
              </a:rPr>
              <a:t>40〜43</a:t>
            </a:r>
            <a:pPr indent="0" marL="0">
              <a:buNone/>
            </a:pPr>
            <a:r>
              <a:rPr lang="en-US" sz="1300" b="1" dirty="0">
                <a:solidFill>
                  <a:srgbClr val="8FB0CC"/>
                </a:solidFill>
                <a:latin typeface="Meiryo" pitchFamily="34" charset="0"/>
                <a:ea typeface="Meiryo" pitchFamily="34" charset="-122"/>
                <a:cs typeface="Meiryo" pitchFamily="34" charset="-120"/>
              </a:rPr>
              <a:t>円</a:t>
            </a:r>
            <a:endParaRPr lang="en-US" sz="3000" dirty="0"/>
          </a:p>
        </p:txBody>
      </p:sp>
      <p:sp>
        <p:nvSpPr>
          <p:cNvPr id="11" name="Text 9"/>
          <p:cNvSpPr txBox="1"/>
          <p:nvPr/>
        </p:nvSpPr>
        <p:spPr>
          <a:xfrm>
            <a:off x="3630168" y="2651760"/>
            <a:ext cx="2194560" cy="411480"/>
          </a:xfrm>
          <a:prstGeom prst="rect">
            <a:avLst/>
          </a:prstGeom>
          <a:noFill/>
          <a:ln/>
        </p:spPr>
        <p:txBody>
          <a:bodyPr wrap="square" lIns="0" tIns="0" rIns="0" bIns="0" rtlCol="0" anchor="ctr"/>
          <a:lstStyle/>
          <a:p>
            <a:pPr indent="0" marL="0">
              <a:lnSpc>
                <a:spcPct val="110000"/>
              </a:lnSpc>
              <a:buNone/>
            </a:pPr>
            <a:r>
              <a:rPr lang="en-US" sz="950" dirty="0">
                <a:solidFill>
                  <a:srgbClr val="A8B5C0"/>
                </a:solidFill>
                <a:latin typeface="Meiryo" pitchFamily="34" charset="0"/>
                <a:ea typeface="Meiryo" pitchFamily="34" charset="-122"/>
                <a:cs typeface="Meiryo" pitchFamily="34" charset="-120"/>
              </a:rPr>
              <a:t>新株予約権の行使前〜後</a:t>
            </a:r>
            <a:endParaRPr lang="en-US" sz="950" dirty="0"/>
          </a:p>
        </p:txBody>
      </p:sp>
      <p:sp>
        <p:nvSpPr>
          <p:cNvPr id="12" name="Shape 10"/>
          <p:cNvSpPr/>
          <p:nvPr/>
        </p:nvSpPr>
        <p:spPr>
          <a:xfrm>
            <a:off x="6163056" y="1600200"/>
            <a:ext cx="2606040" cy="1554480"/>
          </a:xfrm>
          <a:prstGeom prst="roundRect">
            <a:avLst>
              <a:gd name="adj" fmla="val 3529"/>
            </a:avLst>
          </a:prstGeom>
          <a:solidFill>
            <a:srgbClr val="26333F"/>
          </a:solidFill>
          <a:ln w="12700">
            <a:solidFill>
              <a:srgbClr val="3A4854"/>
            </a:solidFill>
            <a:prstDash val="solid"/>
          </a:ln>
        </p:spPr>
      </p:sp>
      <p:sp>
        <p:nvSpPr>
          <p:cNvPr id="13" name="Text 11"/>
          <p:cNvSpPr txBox="1"/>
          <p:nvPr/>
        </p:nvSpPr>
        <p:spPr>
          <a:xfrm>
            <a:off x="6391656" y="1755648"/>
            <a:ext cx="2194560" cy="237744"/>
          </a:xfrm>
          <a:prstGeom prst="rect">
            <a:avLst/>
          </a:prstGeom>
          <a:noFill/>
          <a:ln/>
        </p:spPr>
        <p:txBody>
          <a:bodyPr wrap="square" lIns="0" tIns="0" rIns="0" bIns="0" rtlCol="0" anchor="ctr"/>
          <a:lstStyle/>
          <a:p>
            <a:pPr indent="0" marL="0">
              <a:buNone/>
            </a:pPr>
            <a:r>
              <a:rPr lang="en-US" sz="1050" dirty="0">
                <a:solidFill>
                  <a:srgbClr val="A8B5C0"/>
                </a:solidFill>
                <a:latin typeface="Meiryo" pitchFamily="34" charset="0"/>
                <a:ea typeface="Meiryo" pitchFamily="34" charset="-122"/>
                <a:cs typeface="Meiryo" pitchFamily="34" charset="-120"/>
              </a:rPr>
              <a:t>借入金</a:t>
            </a:r>
            <a:endParaRPr lang="en-US" sz="1050" dirty="0"/>
          </a:p>
        </p:txBody>
      </p:sp>
      <p:sp>
        <p:nvSpPr>
          <p:cNvPr id="14" name="Text 12"/>
          <p:cNvSpPr txBox="1"/>
          <p:nvPr/>
        </p:nvSpPr>
        <p:spPr>
          <a:xfrm>
            <a:off x="6391656" y="2011680"/>
            <a:ext cx="2194560" cy="548640"/>
          </a:xfrm>
          <a:prstGeom prst="rect">
            <a:avLst/>
          </a:prstGeom>
          <a:noFill/>
          <a:ln/>
        </p:spPr>
        <p:txBody>
          <a:bodyPr wrap="square" lIns="0" tIns="0" rIns="0" bIns="0" rtlCol="0" anchor="ctr"/>
          <a:lstStyle/>
          <a:p>
            <a:pPr indent="0" marL="0">
              <a:buNone/>
            </a:pPr>
            <a:r>
              <a:rPr lang="en-US" sz="3000" b="1" dirty="0">
                <a:solidFill>
                  <a:srgbClr val="8FB0CC"/>
                </a:solidFill>
                <a:latin typeface="Meiryo" pitchFamily="34" charset="0"/>
                <a:ea typeface="Meiryo" pitchFamily="34" charset="-122"/>
                <a:cs typeface="Meiryo" pitchFamily="34" charset="-120"/>
              </a:rPr>
              <a:t>9</a:t>
            </a:r>
            <a:pPr indent="0" marL="0">
              <a:buNone/>
            </a:pPr>
            <a:r>
              <a:rPr lang="en-US" sz="1300" b="1" dirty="0">
                <a:solidFill>
                  <a:srgbClr val="8FB0CC"/>
                </a:solidFill>
                <a:latin typeface="Meiryo" pitchFamily="34" charset="0"/>
                <a:ea typeface="Meiryo" pitchFamily="34" charset="-122"/>
                <a:cs typeface="Meiryo" pitchFamily="34" charset="-120"/>
              </a:rPr>
              <a:t>億円</a:t>
            </a:r>
            <a:endParaRPr lang="en-US" sz="3000" dirty="0"/>
          </a:p>
        </p:txBody>
      </p:sp>
      <p:sp>
        <p:nvSpPr>
          <p:cNvPr id="15" name="Text 13"/>
          <p:cNvSpPr txBox="1"/>
          <p:nvPr/>
        </p:nvSpPr>
        <p:spPr>
          <a:xfrm>
            <a:off x="6391656" y="2651760"/>
            <a:ext cx="2194560" cy="411480"/>
          </a:xfrm>
          <a:prstGeom prst="rect">
            <a:avLst/>
          </a:prstGeom>
          <a:noFill/>
          <a:ln/>
        </p:spPr>
        <p:txBody>
          <a:bodyPr wrap="square" lIns="0" tIns="0" rIns="0" bIns="0" rtlCol="0" anchor="ctr"/>
          <a:lstStyle/>
          <a:p>
            <a:pPr indent="0" marL="0">
              <a:lnSpc>
                <a:spcPct val="110000"/>
              </a:lnSpc>
              <a:buNone/>
            </a:pPr>
            <a:r>
              <a:rPr lang="en-US" sz="950" dirty="0">
                <a:solidFill>
                  <a:srgbClr val="A8B5C0"/>
                </a:solidFill>
                <a:latin typeface="Meiryo" pitchFamily="34" charset="0"/>
                <a:ea typeface="Meiryo" pitchFamily="34" charset="-122"/>
                <a:cs typeface="Meiryo" pitchFamily="34" charset="-120"/>
              </a:rPr>
              <a:t>17億円からRIZAP分8億円が消える</a:t>
            </a:r>
            <a:endParaRPr lang="en-US" sz="950" dirty="0"/>
          </a:p>
        </p:txBody>
      </p:sp>
      <p:sp>
        <p:nvSpPr>
          <p:cNvPr id="16" name="Shape 14"/>
          <p:cNvSpPr/>
          <p:nvPr/>
        </p:nvSpPr>
        <p:spPr>
          <a:xfrm>
            <a:off x="8924544" y="1600200"/>
            <a:ext cx="2606040" cy="1554480"/>
          </a:xfrm>
          <a:prstGeom prst="roundRect">
            <a:avLst>
              <a:gd name="adj" fmla="val 3529"/>
            </a:avLst>
          </a:prstGeom>
          <a:solidFill>
            <a:srgbClr val="26333F"/>
          </a:solidFill>
          <a:ln w="12700">
            <a:solidFill>
              <a:srgbClr val="3A4854"/>
            </a:solidFill>
            <a:prstDash val="solid"/>
          </a:ln>
        </p:spPr>
      </p:sp>
      <p:sp>
        <p:nvSpPr>
          <p:cNvPr id="17" name="Text 15"/>
          <p:cNvSpPr txBox="1"/>
          <p:nvPr/>
        </p:nvSpPr>
        <p:spPr>
          <a:xfrm>
            <a:off x="9153144" y="1755648"/>
            <a:ext cx="2194560" cy="237744"/>
          </a:xfrm>
          <a:prstGeom prst="rect">
            <a:avLst/>
          </a:prstGeom>
          <a:noFill/>
          <a:ln/>
        </p:spPr>
        <p:txBody>
          <a:bodyPr wrap="square" lIns="0" tIns="0" rIns="0" bIns="0" rtlCol="0" anchor="ctr"/>
          <a:lstStyle/>
          <a:p>
            <a:pPr indent="0" marL="0">
              <a:buNone/>
            </a:pPr>
            <a:r>
              <a:rPr lang="en-US" sz="1050" dirty="0">
                <a:solidFill>
                  <a:srgbClr val="A8B5C0"/>
                </a:solidFill>
                <a:latin typeface="Meiryo" pitchFamily="34" charset="0"/>
                <a:ea typeface="Meiryo" pitchFamily="34" charset="-122"/>
                <a:cs typeface="Meiryo" pitchFamily="34" charset="-120"/>
              </a:rPr>
              <a:t>ネット有利子負債</a:t>
            </a:r>
            <a:endParaRPr lang="en-US" sz="1050" dirty="0"/>
          </a:p>
        </p:txBody>
      </p:sp>
      <p:sp>
        <p:nvSpPr>
          <p:cNvPr id="18" name="Text 16"/>
          <p:cNvSpPr txBox="1"/>
          <p:nvPr/>
        </p:nvSpPr>
        <p:spPr>
          <a:xfrm>
            <a:off x="9153144" y="2011680"/>
            <a:ext cx="2194560" cy="548640"/>
          </a:xfrm>
          <a:prstGeom prst="rect">
            <a:avLst/>
          </a:prstGeom>
          <a:noFill/>
          <a:ln/>
        </p:spPr>
        <p:txBody>
          <a:bodyPr wrap="square" lIns="0" tIns="0" rIns="0" bIns="0" rtlCol="0" anchor="ctr"/>
          <a:lstStyle/>
          <a:p>
            <a:pPr indent="0" marL="0">
              <a:buNone/>
            </a:pPr>
            <a:r>
              <a:rPr lang="en-US" sz="3000" b="1" dirty="0">
                <a:solidFill>
                  <a:srgbClr val="A85C6E"/>
                </a:solidFill>
                <a:latin typeface="Meiryo" pitchFamily="34" charset="0"/>
                <a:ea typeface="Meiryo" pitchFamily="34" charset="-122"/>
                <a:cs typeface="Meiryo" pitchFamily="34" charset="-120"/>
              </a:rPr>
              <a:t>約3</a:t>
            </a:r>
            <a:pPr indent="0" marL="0">
              <a:buNone/>
            </a:pPr>
            <a:r>
              <a:rPr lang="en-US" sz="1300" b="1" dirty="0">
                <a:solidFill>
                  <a:srgbClr val="A85C6E"/>
                </a:solidFill>
                <a:latin typeface="Meiryo" pitchFamily="34" charset="0"/>
                <a:ea typeface="Meiryo" pitchFamily="34" charset="-122"/>
                <a:cs typeface="Meiryo" pitchFamily="34" charset="-120"/>
              </a:rPr>
              <a:t>億円</a:t>
            </a:r>
            <a:endParaRPr lang="en-US" sz="3000" dirty="0"/>
          </a:p>
        </p:txBody>
      </p:sp>
      <p:sp>
        <p:nvSpPr>
          <p:cNvPr id="19" name="Text 17"/>
          <p:cNvSpPr txBox="1"/>
          <p:nvPr/>
        </p:nvSpPr>
        <p:spPr>
          <a:xfrm>
            <a:off x="9153144" y="2651760"/>
            <a:ext cx="2194560" cy="411480"/>
          </a:xfrm>
          <a:prstGeom prst="rect">
            <a:avLst/>
          </a:prstGeom>
          <a:noFill/>
          <a:ln/>
        </p:spPr>
        <p:txBody>
          <a:bodyPr wrap="square" lIns="0" tIns="0" rIns="0" bIns="0" rtlCol="0" anchor="ctr"/>
          <a:lstStyle/>
          <a:p>
            <a:pPr indent="0" marL="0">
              <a:lnSpc>
                <a:spcPct val="110000"/>
              </a:lnSpc>
              <a:buNone/>
            </a:pPr>
            <a:r>
              <a:rPr lang="en-US" sz="950" dirty="0">
                <a:solidFill>
                  <a:srgbClr val="A8B5C0"/>
                </a:solidFill>
                <a:latin typeface="Meiryo" pitchFamily="34" charset="0"/>
                <a:ea typeface="Meiryo" pitchFamily="34" charset="-122"/>
                <a:cs typeface="Meiryo" pitchFamily="34" charset="-120"/>
              </a:rPr>
              <a:t>現預金約6億円を差し引き</a:t>
            </a:r>
            <a:endParaRPr lang="en-US" sz="950" dirty="0"/>
          </a:p>
        </p:txBody>
      </p:sp>
      <p:sp>
        <p:nvSpPr>
          <p:cNvPr id="20" name="Shape 18"/>
          <p:cNvSpPr/>
          <p:nvPr/>
        </p:nvSpPr>
        <p:spPr>
          <a:xfrm>
            <a:off x="640080" y="3383280"/>
            <a:ext cx="3520440" cy="2514600"/>
          </a:xfrm>
          <a:prstGeom prst="roundRect">
            <a:avLst>
              <a:gd name="adj" fmla="val 2182"/>
            </a:avLst>
          </a:prstGeom>
          <a:solidFill>
            <a:srgbClr val="26333F"/>
          </a:solidFill>
          <a:ln w="12700">
            <a:solidFill>
              <a:srgbClr val="3A4854"/>
            </a:solidFill>
            <a:prstDash val="solid"/>
          </a:ln>
        </p:spPr>
      </p:sp>
      <p:sp>
        <p:nvSpPr>
          <p:cNvPr id="21" name="Shape 19"/>
          <p:cNvSpPr/>
          <p:nvPr/>
        </p:nvSpPr>
        <p:spPr>
          <a:xfrm>
            <a:off x="868680" y="3566160"/>
            <a:ext cx="731520" cy="274320"/>
          </a:xfrm>
          <a:prstGeom prst="roundRect">
            <a:avLst>
              <a:gd name="adj" fmla="val 50000"/>
            </a:avLst>
          </a:prstGeom>
          <a:solidFill>
            <a:srgbClr val="6E2639"/>
          </a:solidFill>
          <a:ln/>
        </p:spPr>
      </p:sp>
      <p:sp>
        <p:nvSpPr>
          <p:cNvPr id="22" name="Text 20"/>
          <p:cNvSpPr txBox="1"/>
          <p:nvPr/>
        </p:nvSpPr>
        <p:spPr>
          <a:xfrm>
            <a:off x="868680" y="3566160"/>
            <a:ext cx="731520" cy="274320"/>
          </a:xfrm>
          <a:prstGeom prst="rect">
            <a:avLst/>
          </a:prstGeom>
          <a:noFill/>
          <a:ln/>
        </p:spPr>
        <p:txBody>
          <a:bodyPr wrap="square" lIns="0" tIns="0" rIns="0" bIns="0" rtlCol="0" anchor="ctr"/>
          <a:lstStyle/>
          <a:p>
            <a:pPr algn="ctr" indent="0" marL="0">
              <a:buNone/>
            </a:pPr>
            <a:r>
              <a:rPr lang="en-US" sz="1150" b="1" dirty="0">
                <a:solidFill>
                  <a:srgbClr val="FFFFFF"/>
                </a:solidFill>
                <a:latin typeface="Meiryo" pitchFamily="34" charset="0"/>
                <a:ea typeface="Meiryo" pitchFamily="34" charset="-122"/>
                <a:cs typeface="Meiryo" pitchFamily="34" charset="-120"/>
              </a:rPr>
              <a:t>税務</a:t>
            </a:r>
            <a:endParaRPr lang="en-US" sz="1150" dirty="0"/>
          </a:p>
        </p:txBody>
      </p:sp>
      <p:sp>
        <p:nvSpPr>
          <p:cNvPr id="23" name="Text 21"/>
          <p:cNvSpPr txBox="1"/>
          <p:nvPr/>
        </p:nvSpPr>
        <p:spPr>
          <a:xfrm>
            <a:off x="868680" y="3950208"/>
            <a:ext cx="3063240" cy="548640"/>
          </a:xfrm>
          <a:prstGeom prst="rect">
            <a:avLst/>
          </a:prstGeom>
          <a:noFill/>
          <a:ln/>
        </p:spPr>
        <p:txBody>
          <a:bodyPr wrap="square" lIns="0" tIns="0" rIns="0" bIns="0" rtlCol="0" anchor="ctr"/>
          <a:lstStyle/>
          <a:p>
            <a:pPr indent="0" marL="0">
              <a:lnSpc>
                <a:spcPct val="110000"/>
              </a:lnSpc>
              <a:buNone/>
            </a:pPr>
            <a:r>
              <a:rPr lang="en-US" sz="1250" b="1" dirty="0">
                <a:solidFill>
                  <a:srgbClr val="FFFFFF"/>
                </a:solidFill>
                <a:latin typeface="Meiryo" pitchFamily="34" charset="0"/>
                <a:ea typeface="Meiryo" pitchFamily="34" charset="-122"/>
                <a:cs typeface="Meiryo" pitchFamily="34" charset="-120"/>
              </a:rPr>
              <a:t>債務免除益への課税はほぼ生じない見込み</a:t>
            </a:r>
            <a:endParaRPr lang="en-US" sz="1250" dirty="0"/>
          </a:p>
        </p:txBody>
      </p:sp>
      <p:sp>
        <p:nvSpPr>
          <p:cNvPr id="24" name="Text 22"/>
          <p:cNvSpPr txBox="1"/>
          <p:nvPr/>
        </p:nvSpPr>
        <p:spPr>
          <a:xfrm>
            <a:off x="868680" y="4572000"/>
            <a:ext cx="3063240" cy="1234440"/>
          </a:xfrm>
          <a:prstGeom prst="rect">
            <a:avLst/>
          </a:prstGeom>
          <a:noFill/>
          <a:ln/>
        </p:spPr>
        <p:txBody>
          <a:bodyPr wrap="square" lIns="0" tIns="0" rIns="0" bIns="0" rtlCol="0" anchor="ctr"/>
          <a:lstStyle/>
          <a:p>
            <a:pPr indent="0" marL="0">
              <a:lnSpc>
                <a:spcPct val="120000"/>
              </a:lnSpc>
              <a:buNone/>
            </a:pPr>
            <a:r>
              <a:rPr lang="en-US" sz="980" dirty="0">
                <a:solidFill>
                  <a:srgbClr val="A8B5C0"/>
                </a:solidFill>
                <a:latin typeface="Meiryo" pitchFamily="34" charset="0"/>
                <a:ea typeface="Meiryo" pitchFamily="34" charset="-122"/>
                <a:cs typeface="Meiryo" pitchFamily="34" charset="-120"/>
              </a:rPr>
              <a:t>8月の減資で資本金5,000万円の中小法人となったため、繰越欠損金で全額相殺できる見込みです。欠損金の残高は要確認です。</a:t>
            </a:r>
            <a:endParaRPr lang="en-US" sz="980" dirty="0"/>
          </a:p>
        </p:txBody>
      </p:sp>
      <p:sp>
        <p:nvSpPr>
          <p:cNvPr id="25" name="Shape 23"/>
          <p:cNvSpPr/>
          <p:nvPr/>
        </p:nvSpPr>
        <p:spPr>
          <a:xfrm>
            <a:off x="4297680" y="3383280"/>
            <a:ext cx="3520440" cy="2514600"/>
          </a:xfrm>
          <a:prstGeom prst="roundRect">
            <a:avLst>
              <a:gd name="adj" fmla="val 2182"/>
            </a:avLst>
          </a:prstGeom>
          <a:solidFill>
            <a:srgbClr val="26333F"/>
          </a:solidFill>
          <a:ln w="12700">
            <a:solidFill>
              <a:srgbClr val="3A4854"/>
            </a:solidFill>
            <a:prstDash val="solid"/>
          </a:ln>
        </p:spPr>
      </p:sp>
      <p:sp>
        <p:nvSpPr>
          <p:cNvPr id="26" name="Shape 24"/>
          <p:cNvSpPr/>
          <p:nvPr/>
        </p:nvSpPr>
        <p:spPr>
          <a:xfrm>
            <a:off x="4526280" y="3566160"/>
            <a:ext cx="731520" cy="274320"/>
          </a:xfrm>
          <a:prstGeom prst="roundRect">
            <a:avLst>
              <a:gd name="adj" fmla="val 50000"/>
            </a:avLst>
          </a:prstGeom>
          <a:solidFill>
            <a:srgbClr val="6E2639"/>
          </a:solidFill>
          <a:ln/>
        </p:spPr>
      </p:sp>
      <p:sp>
        <p:nvSpPr>
          <p:cNvPr id="27" name="Text 25"/>
          <p:cNvSpPr txBox="1"/>
          <p:nvPr/>
        </p:nvSpPr>
        <p:spPr>
          <a:xfrm>
            <a:off x="4526280" y="3566160"/>
            <a:ext cx="731520" cy="274320"/>
          </a:xfrm>
          <a:prstGeom prst="rect">
            <a:avLst/>
          </a:prstGeom>
          <a:noFill/>
          <a:ln/>
        </p:spPr>
        <p:txBody>
          <a:bodyPr wrap="square" lIns="0" tIns="0" rIns="0" bIns="0" rtlCol="0" anchor="ctr"/>
          <a:lstStyle/>
          <a:p>
            <a:pPr algn="ctr" indent="0" marL="0">
              <a:buNone/>
            </a:pPr>
            <a:r>
              <a:rPr lang="en-US" sz="1150" b="1" dirty="0">
                <a:solidFill>
                  <a:srgbClr val="FFFFFF"/>
                </a:solidFill>
                <a:latin typeface="Meiryo" pitchFamily="34" charset="0"/>
                <a:ea typeface="Meiryo" pitchFamily="34" charset="-122"/>
                <a:cs typeface="Meiryo" pitchFamily="34" charset="-120"/>
              </a:rPr>
              <a:t>会計</a:t>
            </a:r>
            <a:endParaRPr lang="en-US" sz="1150" dirty="0"/>
          </a:p>
        </p:txBody>
      </p:sp>
      <p:sp>
        <p:nvSpPr>
          <p:cNvPr id="28" name="Text 26"/>
          <p:cNvSpPr txBox="1"/>
          <p:nvPr/>
        </p:nvSpPr>
        <p:spPr>
          <a:xfrm>
            <a:off x="4526280" y="3950208"/>
            <a:ext cx="3063240" cy="548640"/>
          </a:xfrm>
          <a:prstGeom prst="rect">
            <a:avLst/>
          </a:prstGeom>
          <a:noFill/>
          <a:ln/>
        </p:spPr>
        <p:txBody>
          <a:bodyPr wrap="square" lIns="0" tIns="0" rIns="0" bIns="0" rtlCol="0" anchor="ctr"/>
          <a:lstStyle/>
          <a:p>
            <a:pPr indent="0" marL="0">
              <a:lnSpc>
                <a:spcPct val="110000"/>
              </a:lnSpc>
              <a:buNone/>
            </a:pPr>
            <a:r>
              <a:rPr lang="en-US" sz="1250" b="1" dirty="0">
                <a:solidFill>
                  <a:srgbClr val="FFFFFF"/>
                </a:solidFill>
                <a:latin typeface="Meiryo" pitchFamily="34" charset="0"/>
                <a:ea typeface="Meiryo" pitchFamily="34" charset="-122"/>
                <a:cs typeface="Meiryo" pitchFamily="34" charset="-120"/>
              </a:rPr>
              <a:t>連結PLの利益にはならない可能性</a:t>
            </a:r>
            <a:endParaRPr lang="en-US" sz="1250" dirty="0"/>
          </a:p>
        </p:txBody>
      </p:sp>
      <p:sp>
        <p:nvSpPr>
          <p:cNvPr id="29" name="Text 27"/>
          <p:cNvSpPr txBox="1"/>
          <p:nvPr/>
        </p:nvSpPr>
        <p:spPr>
          <a:xfrm>
            <a:off x="4526280" y="4572000"/>
            <a:ext cx="3063240" cy="1234440"/>
          </a:xfrm>
          <a:prstGeom prst="rect">
            <a:avLst/>
          </a:prstGeom>
          <a:noFill/>
          <a:ln/>
        </p:spPr>
        <p:txBody>
          <a:bodyPr wrap="square" lIns="0" tIns="0" rIns="0" bIns="0" rtlCol="0" anchor="ctr"/>
          <a:lstStyle/>
          <a:p>
            <a:pPr indent="0" marL="0">
              <a:lnSpc>
                <a:spcPct val="120000"/>
              </a:lnSpc>
              <a:buNone/>
            </a:pPr>
            <a:r>
              <a:rPr lang="en-US" sz="980" dirty="0">
                <a:solidFill>
                  <a:srgbClr val="A8B5C0"/>
                </a:solidFill>
                <a:latin typeface="Meiryo" pitchFamily="34" charset="0"/>
                <a:ea typeface="Meiryo" pitchFamily="34" charset="-122"/>
                <a:cs typeface="Meiryo" pitchFamily="34" charset="-120"/>
              </a:rPr>
              <a:t>IFRSでは、株主の立場で行う債権放棄は資本取引として扱われます。面談では「特別利益が立つ」との話でしたが、連結では資本剰余金の増加になる見込みです。</a:t>
            </a:r>
            <a:endParaRPr lang="en-US" sz="980" dirty="0"/>
          </a:p>
        </p:txBody>
      </p:sp>
      <p:sp>
        <p:nvSpPr>
          <p:cNvPr id="30" name="Shape 28"/>
          <p:cNvSpPr/>
          <p:nvPr/>
        </p:nvSpPr>
        <p:spPr>
          <a:xfrm>
            <a:off x="7955280" y="3383280"/>
            <a:ext cx="3520440" cy="2514600"/>
          </a:xfrm>
          <a:prstGeom prst="roundRect">
            <a:avLst>
              <a:gd name="adj" fmla="val 2182"/>
            </a:avLst>
          </a:prstGeom>
          <a:solidFill>
            <a:srgbClr val="26333F"/>
          </a:solidFill>
          <a:ln w="12700">
            <a:solidFill>
              <a:srgbClr val="3A4854"/>
            </a:solidFill>
            <a:prstDash val="solid"/>
          </a:ln>
        </p:spPr>
      </p:sp>
      <p:sp>
        <p:nvSpPr>
          <p:cNvPr id="31" name="Shape 29"/>
          <p:cNvSpPr/>
          <p:nvPr/>
        </p:nvSpPr>
        <p:spPr>
          <a:xfrm>
            <a:off x="8183880" y="3566160"/>
            <a:ext cx="731520" cy="274320"/>
          </a:xfrm>
          <a:prstGeom prst="roundRect">
            <a:avLst>
              <a:gd name="adj" fmla="val 50000"/>
            </a:avLst>
          </a:prstGeom>
          <a:solidFill>
            <a:srgbClr val="6E2639"/>
          </a:solidFill>
          <a:ln/>
        </p:spPr>
      </p:sp>
      <p:sp>
        <p:nvSpPr>
          <p:cNvPr id="32" name="Text 30"/>
          <p:cNvSpPr txBox="1"/>
          <p:nvPr/>
        </p:nvSpPr>
        <p:spPr>
          <a:xfrm>
            <a:off x="8183880" y="3566160"/>
            <a:ext cx="731520" cy="274320"/>
          </a:xfrm>
          <a:prstGeom prst="rect">
            <a:avLst/>
          </a:prstGeom>
          <a:noFill/>
          <a:ln/>
        </p:spPr>
        <p:txBody>
          <a:bodyPr wrap="square" lIns="0" tIns="0" rIns="0" bIns="0" rtlCol="0" anchor="ctr"/>
          <a:lstStyle/>
          <a:p>
            <a:pPr algn="ctr" indent="0" marL="0">
              <a:buNone/>
            </a:pPr>
            <a:r>
              <a:rPr lang="en-US" sz="1150" b="1" dirty="0">
                <a:solidFill>
                  <a:srgbClr val="FFFFFF"/>
                </a:solidFill>
                <a:latin typeface="Meiryo" pitchFamily="34" charset="0"/>
                <a:ea typeface="Meiryo" pitchFamily="34" charset="-122"/>
                <a:cs typeface="Meiryo" pitchFamily="34" charset="-120"/>
              </a:rPr>
              <a:t>収益力</a:t>
            </a:r>
            <a:endParaRPr lang="en-US" sz="1150" dirty="0"/>
          </a:p>
        </p:txBody>
      </p:sp>
      <p:sp>
        <p:nvSpPr>
          <p:cNvPr id="33" name="Text 31"/>
          <p:cNvSpPr txBox="1"/>
          <p:nvPr/>
        </p:nvSpPr>
        <p:spPr>
          <a:xfrm>
            <a:off x="8183880" y="3950208"/>
            <a:ext cx="3063240" cy="548640"/>
          </a:xfrm>
          <a:prstGeom prst="rect">
            <a:avLst/>
          </a:prstGeom>
          <a:noFill/>
          <a:ln/>
        </p:spPr>
        <p:txBody>
          <a:bodyPr wrap="square" lIns="0" tIns="0" rIns="0" bIns="0" rtlCol="0" anchor="ctr"/>
          <a:lstStyle/>
          <a:p>
            <a:pPr indent="0" marL="0">
              <a:lnSpc>
                <a:spcPct val="110000"/>
              </a:lnSpc>
              <a:buNone/>
            </a:pPr>
            <a:r>
              <a:rPr lang="en-US" sz="1250" b="1" dirty="0">
                <a:solidFill>
                  <a:srgbClr val="FFFFFF"/>
                </a:solidFill>
                <a:latin typeface="Meiryo" pitchFamily="34" charset="0"/>
                <a:ea typeface="Meiryo" pitchFamily="34" charset="-122"/>
                <a:cs typeface="Meiryo" pitchFamily="34" charset="-120"/>
              </a:rPr>
              <a:t>本業の赤字は残る</a:t>
            </a:r>
            <a:endParaRPr lang="en-US" sz="1250" dirty="0"/>
          </a:p>
        </p:txBody>
      </p:sp>
      <p:sp>
        <p:nvSpPr>
          <p:cNvPr id="34" name="Text 32"/>
          <p:cNvSpPr txBox="1"/>
          <p:nvPr/>
        </p:nvSpPr>
        <p:spPr>
          <a:xfrm>
            <a:off x="8183880" y="4572000"/>
            <a:ext cx="3063240" cy="1234440"/>
          </a:xfrm>
          <a:prstGeom prst="rect">
            <a:avLst/>
          </a:prstGeom>
          <a:noFill/>
          <a:ln/>
        </p:spPr>
        <p:txBody>
          <a:bodyPr wrap="square" lIns="0" tIns="0" rIns="0" bIns="0" rtlCol="0" anchor="ctr"/>
          <a:lstStyle/>
          <a:p>
            <a:pPr indent="0" marL="0">
              <a:lnSpc>
                <a:spcPct val="120000"/>
              </a:lnSpc>
              <a:buNone/>
            </a:pPr>
            <a:r>
              <a:rPr lang="en-US" sz="980" dirty="0">
                <a:solidFill>
                  <a:srgbClr val="A8B5C0"/>
                </a:solidFill>
                <a:latin typeface="Meiryo" pitchFamily="34" charset="0"/>
                <a:ea typeface="Meiryo" pitchFamily="34" charset="-122"/>
                <a:cs typeface="Meiryo" pitchFamily="34" charset="-120"/>
              </a:rPr>
              <a:t>消えるのは借入8億円分の利息（年0.2億円程度）だけです。トントンにするには販管費を0.5〜1億円削る必要があります。</a:t>
            </a:r>
            <a:endParaRPr lang="en-US" sz="980" dirty="0"/>
          </a:p>
        </p:txBody>
      </p:sp>
      <p:sp>
        <p:nvSpPr>
          <p:cNvPr id="35" name="Text 33"/>
          <p:cNvSpPr txBox="1"/>
          <p:nvPr/>
        </p:nvSpPr>
        <p:spPr>
          <a:xfrm>
            <a:off x="640080" y="6080760"/>
            <a:ext cx="10881360" cy="292608"/>
          </a:xfrm>
          <a:prstGeom prst="rect">
            <a:avLst/>
          </a:prstGeom>
          <a:noFill/>
          <a:ln/>
        </p:spPr>
        <p:txBody>
          <a:bodyPr wrap="square" lIns="0" tIns="0" rIns="0" bIns="0" rtlCol="0" anchor="ctr"/>
          <a:lstStyle/>
          <a:p>
            <a:pPr indent="0" marL="0">
              <a:buNone/>
            </a:pPr>
            <a:r>
              <a:rPr lang="en-US" sz="1200" b="1" dirty="0">
                <a:solidFill>
                  <a:srgbClr val="A85C6E"/>
                </a:solidFill>
                <a:latin typeface="Meiryo" pitchFamily="34" charset="0"/>
                <a:ea typeface="Meiryo" pitchFamily="34" charset="-122"/>
                <a:cs typeface="Meiryo" pitchFamily="34" charset="-120"/>
              </a:rPr>
              <a:t>借入17億円は総資産18億円とほぼ同額です。放棄がなければ、この会社は買えません。</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7F9"/>
        </a:solidFill>
      </p:bgPr>
    </p:bg>
    <p:spTree>
      <p:nvGrpSpPr>
        <p:cNvPr id="1" name=""/>
        <p:cNvGrpSpPr/>
        <p:nvPr/>
      </p:nvGrpSpPr>
      <p:grpSpPr>
        <a:xfrm>
          <a:off x="0" y="0"/>
          <a:ext cx="0" cy="0"/>
          <a:chOff x="0" y="0"/>
          <a:chExt cx="0" cy="0"/>
        </a:xfrm>
      </p:grpSpPr>
      <p:sp>
        <p:nvSpPr>
          <p:cNvPr id="2" name="Text 0"/>
          <p:cNvSpPr txBox="1"/>
          <p:nvPr/>
        </p:nvSpPr>
        <p:spPr>
          <a:xfrm>
            <a:off x="640080" y="384048"/>
            <a:ext cx="10881360" cy="256032"/>
          </a:xfrm>
          <a:prstGeom prst="rect">
            <a:avLst/>
          </a:prstGeom>
          <a:noFill/>
          <a:ln/>
        </p:spPr>
        <p:txBody>
          <a:bodyPr wrap="square" lIns="0" tIns="0" rIns="0" bIns="0" rtlCol="0" anchor="ctr"/>
          <a:lstStyle/>
          <a:p>
            <a:pPr indent="0" marL="0">
              <a:buNone/>
            </a:pPr>
            <a:r>
              <a:rPr lang="en-US" sz="1100" b="1" spc="200" kern="0" dirty="0">
                <a:solidFill>
                  <a:srgbClr val="6E2639"/>
                </a:solidFill>
                <a:latin typeface="Meiryo" pitchFamily="34" charset="0"/>
                <a:ea typeface="Meiryo" pitchFamily="34" charset="-122"/>
                <a:cs typeface="Meiryo" pitchFamily="34" charset="-120"/>
              </a:rPr>
              <a:t>30%ブロックの採算</a:t>
            </a:r>
            <a:endParaRPr lang="en-US" sz="1100" dirty="0"/>
          </a:p>
        </p:txBody>
      </p:sp>
      <p:sp>
        <p:nvSpPr>
          <p:cNvPr id="3" name="Text 1"/>
          <p:cNvSpPr txBox="1"/>
          <p:nvPr/>
        </p:nvSpPr>
        <p:spPr>
          <a:xfrm>
            <a:off x="640080" y="676656"/>
            <a:ext cx="10881360" cy="658368"/>
          </a:xfrm>
          <a:prstGeom prst="rect">
            <a:avLst/>
          </a:prstGeom>
          <a:noFill/>
          <a:ln/>
        </p:spPr>
        <p:txBody>
          <a:bodyPr wrap="square" lIns="0" tIns="0" rIns="0" bIns="0" rtlCol="0" anchor="ctr"/>
          <a:lstStyle/>
          <a:p>
            <a:pPr indent="0" marL="0">
              <a:buNone/>
            </a:pPr>
            <a:r>
              <a:rPr lang="en-US" sz="2800" b="1" dirty="0">
                <a:solidFill>
                  <a:srgbClr val="1E2A38"/>
                </a:solidFill>
                <a:latin typeface="Meiryo" pitchFamily="34" charset="0"/>
                <a:ea typeface="Meiryo" pitchFamily="34" charset="-122"/>
                <a:cs typeface="Meiryo" pitchFamily="34" charset="-120"/>
              </a:rPr>
              <a:t>時価総額がいくらで取得するか</a:t>
            </a:r>
            <a:endParaRPr lang="en-US" sz="28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640080" y="1536192"/>
          <a:ext cx="10881360" cy="914400"/>
        </p:xfrm>
        <a:graphic>
          <a:graphicData uri="http://schemas.openxmlformats.org/drawingml/2006/table">
            <a:tbl>
              <a:tblPr/>
              <a:tblGrid>
                <a:gridCol w="2834640"/>
                <a:gridCol w="1645920"/>
                <a:gridCol w="2194560"/>
                <a:gridCol w="2103120"/>
                <a:gridCol w="2103120"/>
              </a:tblGrid>
              <a:tr h="402336">
                <a:tc>
                  <a:txBody>
                    <a:bodyPr/>
                    <a:lstStyle/>
                    <a:p>
                      <a:pPr indent="0" marL="0">
                        <a:buNone/>
                      </a:pPr>
                      <a:r>
                        <a:rPr lang="en-US" sz="1100" b="1" dirty="0">
                          <a:solidFill>
                            <a:srgbClr val="FFFFFF"/>
                          </a:solidFill>
                          <a:latin typeface="Meiryo" pitchFamily="34" charset="0"/>
                          <a:ea typeface="Meiryo" pitchFamily="34" charset="-122"/>
                          <a:cs typeface="Meiryo" pitchFamily="34" charset="-120"/>
                        </a:rPr>
                        <a:t>取得時の時価総額</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E2A38"/>
                    </a:solidFill>
                  </a:tcPr>
                </a:tc>
                <a:tc>
                  <a:txBody>
                    <a:bodyPr/>
                    <a:lstStyle/>
                    <a:p>
                      <a:pPr algn="r" indent="0" marL="0">
                        <a:buNone/>
                      </a:pPr>
                      <a:r>
                        <a:rPr lang="en-US" sz="1100" b="1" dirty="0">
                          <a:solidFill>
                            <a:srgbClr val="FFFFFF"/>
                          </a:solidFill>
                          <a:latin typeface="Meiryo" pitchFamily="34" charset="0"/>
                          <a:ea typeface="Meiryo" pitchFamily="34" charset="-122"/>
                          <a:cs typeface="Meiryo" pitchFamily="34" charset="-120"/>
                        </a:rPr>
                        <a:t>1株</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E2A38"/>
                    </a:solidFill>
                  </a:tcPr>
                </a:tc>
                <a:tc>
                  <a:txBody>
                    <a:bodyPr/>
                    <a:lstStyle/>
                    <a:p>
                      <a:pPr algn="r" indent="0" marL="0">
                        <a:buNone/>
                      </a:pPr>
                      <a:r>
                        <a:rPr lang="en-US" sz="1100" b="1" dirty="0">
                          <a:solidFill>
                            <a:srgbClr val="FFFFFF"/>
                          </a:solidFill>
                          <a:latin typeface="Meiryo" pitchFamily="34" charset="0"/>
                          <a:ea typeface="Meiryo" pitchFamily="34" charset="-122"/>
                          <a:cs typeface="Meiryo" pitchFamily="34" charset="-120"/>
                        </a:rPr>
                        <a:t>30%の取得額</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E2A38"/>
                    </a:solidFill>
                  </a:tcPr>
                </a:tc>
                <a:tc>
                  <a:txBody>
                    <a:bodyPr/>
                    <a:lstStyle/>
                    <a:p>
                      <a:pPr algn="r" indent="0" marL="0">
                        <a:buNone/>
                      </a:pPr>
                      <a:r>
                        <a:rPr lang="en-US" sz="1100" b="1" dirty="0">
                          <a:solidFill>
                            <a:srgbClr val="FFFFFF"/>
                          </a:solidFill>
                          <a:latin typeface="Meiryo" pitchFamily="34" charset="0"/>
                          <a:ea typeface="Meiryo" pitchFamily="34" charset="-122"/>
                          <a:cs typeface="Meiryo" pitchFamily="34" charset="-120"/>
                        </a:rPr>
                        <a:t>PBR（放棄後）</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E2A38"/>
                    </a:solidFill>
                  </a:tcPr>
                </a:tc>
                <a:tc>
                  <a:txBody>
                    <a:bodyPr/>
                    <a:lstStyle/>
                    <a:p>
                      <a:pPr algn="r" indent="0" marL="0">
                        <a:buNone/>
                      </a:pPr>
                      <a:r>
                        <a:rPr lang="en-US" sz="1100" b="1" dirty="0">
                          <a:solidFill>
                            <a:srgbClr val="FFFFFF"/>
                          </a:solidFill>
                          <a:latin typeface="Meiryo" pitchFamily="34" charset="0"/>
                          <a:ea typeface="Meiryo" pitchFamily="34" charset="-122"/>
                          <a:cs typeface="Meiryo" pitchFamily="34" charset="-120"/>
                        </a:rPr>
                        <a:t>RIZAP社の残り</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E2A38"/>
                    </a:solidFill>
                  </a:tcPr>
                </a:tc>
              </a:tr>
              <a:tr h="402336">
                <a:tc>
                  <a:txBody>
                    <a:bodyPr/>
                    <a:lstStyle/>
                    <a:p>
                      <a:pPr indent="0" marL="0">
                        <a:buNone/>
                      </a:pPr>
                      <a:r>
                        <a:rPr lang="en-US" sz="1150" b="1" dirty="0">
                          <a:solidFill>
                            <a:srgbClr val="3D4E60"/>
                          </a:solidFill>
                          <a:latin typeface="Meiryo" pitchFamily="34" charset="0"/>
                          <a:ea typeface="Meiryo" pitchFamily="34" charset="-122"/>
                          <a:cs typeface="Meiryo" pitchFamily="34" charset="-120"/>
                        </a:rPr>
                        <a:t>10億円</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3E7EA"/>
                    </a:solidFill>
                  </a:tcPr>
                </a:tc>
                <a:tc>
                  <a:txBody>
                    <a:bodyPr/>
                    <a:lstStyle/>
                    <a:p>
                      <a:pPr algn="r" indent="0" marL="0">
                        <a:buNone/>
                      </a:pPr>
                      <a:r>
                        <a:rPr lang="en-US" sz="1150" dirty="0">
                          <a:solidFill>
                            <a:srgbClr val="3D4E60"/>
                          </a:solidFill>
                          <a:latin typeface="Meiryo" pitchFamily="34" charset="0"/>
                          <a:ea typeface="Meiryo" pitchFamily="34" charset="-122"/>
                          <a:cs typeface="Meiryo" pitchFamily="34" charset="-120"/>
                        </a:rPr>
                        <a:t>48.6円</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3E7EA"/>
                    </a:solidFill>
                  </a:tcPr>
                </a:tc>
                <a:tc>
                  <a:txBody>
                    <a:bodyPr/>
                    <a:lstStyle/>
                    <a:p>
                      <a:pPr algn="r" indent="0" marL="0">
                        <a:buNone/>
                      </a:pPr>
                      <a:r>
                        <a:rPr lang="en-US" sz="1150" b="1" dirty="0">
                          <a:solidFill>
                            <a:srgbClr val="2C6A4E"/>
                          </a:solidFill>
                          <a:latin typeface="Meiryo" pitchFamily="34" charset="0"/>
                          <a:ea typeface="Meiryo" pitchFamily="34" charset="-122"/>
                          <a:cs typeface="Meiryo" pitchFamily="34" charset="-120"/>
                        </a:rPr>
                        <a:t>3.00億円</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3E7EA"/>
                    </a:solidFill>
                  </a:tcPr>
                </a:tc>
                <a:tc>
                  <a:txBody>
                    <a:bodyPr/>
                    <a:lstStyle/>
                    <a:p>
                      <a:pPr algn="r" indent="0" marL="0">
                        <a:buNone/>
                      </a:pPr>
                      <a:r>
                        <a:rPr lang="en-US" sz="1150" b="1" dirty="0">
                          <a:solidFill>
                            <a:srgbClr val="3D4E60"/>
                          </a:solidFill>
                          <a:latin typeface="Meiryo" pitchFamily="34" charset="0"/>
                          <a:ea typeface="Meiryo" pitchFamily="34" charset="-122"/>
                          <a:cs typeface="Meiryo" pitchFamily="34" charset="-120"/>
                        </a:rPr>
                        <a:t>1.12倍</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3E7EA"/>
                    </a:solidFill>
                  </a:tcPr>
                </a:tc>
                <a:tc>
                  <a:txBody>
                    <a:bodyPr/>
                    <a:lstStyle/>
                    <a:p>
                      <a:pPr algn="r" indent="0" marL="0">
                        <a:buNone/>
                      </a:pPr>
                      <a:r>
                        <a:rPr lang="en-US" sz="1150" dirty="0">
                          <a:solidFill>
                            <a:srgbClr val="3D4E60"/>
                          </a:solidFill>
                          <a:latin typeface="Meiryo" pitchFamily="34" charset="0"/>
                          <a:ea typeface="Meiryo" pitchFamily="34" charset="-122"/>
                          <a:cs typeface="Meiryo" pitchFamily="34" charset="-120"/>
                        </a:rPr>
                        <a:t>10.5%</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3E7EA"/>
                    </a:solidFill>
                  </a:tcPr>
                </a:tc>
              </a:tr>
              <a:tr h="402336">
                <a:tc>
                  <a:txBody>
                    <a:bodyPr/>
                    <a:lstStyle/>
                    <a:p>
                      <a:pPr indent="0" marL="0">
                        <a:buNone/>
                      </a:pPr>
                      <a:r>
                        <a:rPr lang="en-US" sz="1150" b="1" dirty="0">
                          <a:solidFill>
                            <a:srgbClr val="3D4E60"/>
                          </a:solidFill>
                          <a:latin typeface="Meiryo" pitchFamily="34" charset="0"/>
                          <a:ea typeface="Meiryo" pitchFamily="34" charset="-122"/>
                          <a:cs typeface="Meiryo" pitchFamily="34" charset="-120"/>
                        </a:rPr>
                        <a:t>12億円</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r" indent="0" marL="0">
                        <a:buNone/>
                      </a:pPr>
                      <a:r>
                        <a:rPr lang="en-US" sz="1150" dirty="0">
                          <a:solidFill>
                            <a:srgbClr val="3D4E60"/>
                          </a:solidFill>
                          <a:latin typeface="Meiryo" pitchFamily="34" charset="0"/>
                          <a:ea typeface="Meiryo" pitchFamily="34" charset="-122"/>
                          <a:cs typeface="Meiryo" pitchFamily="34" charset="-120"/>
                        </a:rPr>
                        <a:t>58.4円</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r" indent="0" marL="0">
                        <a:buNone/>
                      </a:pPr>
                      <a:r>
                        <a:rPr lang="en-US" sz="1150" dirty="0">
                          <a:solidFill>
                            <a:srgbClr val="3D4E60"/>
                          </a:solidFill>
                          <a:latin typeface="Meiryo" pitchFamily="34" charset="0"/>
                          <a:ea typeface="Meiryo" pitchFamily="34" charset="-122"/>
                          <a:cs typeface="Meiryo" pitchFamily="34" charset="-120"/>
                        </a:rPr>
                        <a:t>3.60億円</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r" indent="0" marL="0">
                        <a:buNone/>
                      </a:pPr>
                      <a:r>
                        <a:rPr lang="en-US" sz="1150" dirty="0">
                          <a:solidFill>
                            <a:srgbClr val="3D4E60"/>
                          </a:solidFill>
                          <a:latin typeface="Meiryo" pitchFamily="34" charset="0"/>
                          <a:ea typeface="Meiryo" pitchFamily="34" charset="-122"/>
                          <a:cs typeface="Meiryo" pitchFamily="34" charset="-120"/>
                        </a:rPr>
                        <a:t>1.34倍</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r" indent="0" marL="0">
                        <a:buNone/>
                      </a:pPr>
                      <a:r>
                        <a:rPr lang="en-US" sz="1150" dirty="0">
                          <a:solidFill>
                            <a:srgbClr val="3D4E60"/>
                          </a:solidFill>
                          <a:latin typeface="Meiryo" pitchFamily="34" charset="0"/>
                          <a:ea typeface="Meiryo" pitchFamily="34" charset="-122"/>
                          <a:cs typeface="Meiryo" pitchFamily="34" charset="-120"/>
                        </a:rPr>
                        <a:t>10.5%</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r>
              <a:tr h="402336">
                <a:tc>
                  <a:txBody>
                    <a:bodyPr/>
                    <a:lstStyle/>
                    <a:p>
                      <a:pPr indent="0" marL="0">
                        <a:buNone/>
                      </a:pPr>
                      <a:r>
                        <a:rPr lang="en-US" sz="1150" b="1" dirty="0">
                          <a:solidFill>
                            <a:srgbClr val="3D4E60"/>
                          </a:solidFill>
                          <a:latin typeface="Meiryo" pitchFamily="34" charset="0"/>
                          <a:ea typeface="Meiryo" pitchFamily="34" charset="-122"/>
                          <a:cs typeface="Meiryo" pitchFamily="34" charset="-120"/>
                        </a:rPr>
                        <a:t>15億円（現在の水準）</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r" indent="0" marL="0">
                        <a:buNone/>
                      </a:pPr>
                      <a:r>
                        <a:rPr lang="en-US" sz="1150" dirty="0">
                          <a:solidFill>
                            <a:srgbClr val="3D4E60"/>
                          </a:solidFill>
                          <a:latin typeface="Meiryo" pitchFamily="34" charset="0"/>
                          <a:ea typeface="Meiryo" pitchFamily="34" charset="-122"/>
                          <a:cs typeface="Meiryo" pitchFamily="34" charset="-120"/>
                        </a:rPr>
                        <a:t>72.9円</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r" indent="0" marL="0">
                        <a:buNone/>
                      </a:pPr>
                      <a:r>
                        <a:rPr lang="en-US" sz="1150" dirty="0">
                          <a:solidFill>
                            <a:srgbClr val="8A2E26"/>
                          </a:solidFill>
                          <a:latin typeface="Meiryo" pitchFamily="34" charset="0"/>
                          <a:ea typeface="Meiryo" pitchFamily="34" charset="-122"/>
                          <a:cs typeface="Meiryo" pitchFamily="34" charset="-120"/>
                        </a:rPr>
                        <a:t>4.50億円</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r" indent="0" marL="0">
                        <a:buNone/>
                      </a:pPr>
                      <a:r>
                        <a:rPr lang="en-US" sz="1150" dirty="0">
                          <a:solidFill>
                            <a:srgbClr val="8A2E26"/>
                          </a:solidFill>
                          <a:latin typeface="Meiryo" pitchFamily="34" charset="0"/>
                          <a:ea typeface="Meiryo" pitchFamily="34" charset="-122"/>
                          <a:cs typeface="Meiryo" pitchFamily="34" charset="-120"/>
                        </a:rPr>
                        <a:t>1.68倍</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r" indent="0" marL="0">
                        <a:buNone/>
                      </a:pPr>
                      <a:r>
                        <a:rPr lang="en-US" sz="1150" dirty="0">
                          <a:solidFill>
                            <a:srgbClr val="3D4E60"/>
                          </a:solidFill>
                          <a:latin typeface="Meiryo" pitchFamily="34" charset="0"/>
                          <a:ea typeface="Meiryo" pitchFamily="34" charset="-122"/>
                          <a:cs typeface="Meiryo" pitchFamily="34" charset="-120"/>
                        </a:rPr>
                        <a:t>10.5%</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r>
            </a:tbl>
          </a:graphicData>
        </a:graphic>
      </p:graphicFrame>
      <p:sp>
        <p:nvSpPr>
          <p:cNvPr id="5" name="Text 2"/>
          <p:cNvSpPr txBox="1"/>
          <p:nvPr/>
        </p:nvSpPr>
        <p:spPr>
          <a:xfrm>
            <a:off x="640080" y="3200400"/>
            <a:ext cx="10881360" cy="274320"/>
          </a:xfrm>
          <a:prstGeom prst="rect">
            <a:avLst/>
          </a:prstGeom>
          <a:noFill/>
          <a:ln/>
        </p:spPr>
        <p:txBody>
          <a:bodyPr wrap="square" lIns="0" tIns="0" rIns="0" bIns="0" rtlCol="0" anchor="ctr"/>
          <a:lstStyle/>
          <a:p>
            <a:pPr indent="0" marL="0">
              <a:buNone/>
            </a:pPr>
            <a:r>
              <a:rPr lang="en-US" sz="950" dirty="0">
                <a:solidFill>
                  <a:srgbClr val="7C8A99"/>
                </a:solidFill>
                <a:latin typeface="Meiryo" pitchFamily="34" charset="0"/>
                <a:ea typeface="Meiryo" pitchFamily="34" charset="-122"/>
                <a:cs typeface="Meiryo" pitchFamily="34" charset="-120"/>
              </a:rPr>
              <a:t>新株予約権が全部行使された後（発行済20,562,500株）で計算。30%は6,168,750株です。</a:t>
            </a:r>
            <a:endParaRPr lang="en-US" sz="950" dirty="0"/>
          </a:p>
        </p:txBody>
      </p:sp>
      <p:sp>
        <p:nvSpPr>
          <p:cNvPr id="6" name="Shape 3"/>
          <p:cNvSpPr/>
          <p:nvPr/>
        </p:nvSpPr>
        <p:spPr>
          <a:xfrm>
            <a:off x="640080" y="3611880"/>
            <a:ext cx="5349240" cy="2331720"/>
          </a:xfrm>
          <a:prstGeom prst="roundRect">
            <a:avLst>
              <a:gd name="adj" fmla="val 2353"/>
            </a:avLst>
          </a:prstGeom>
          <a:solidFill>
            <a:srgbClr val="F7F3EC"/>
          </a:solidFill>
          <a:ln w="12700">
            <a:solidFill>
              <a:srgbClr val="E0D3BE"/>
            </a:solidFill>
            <a:prstDash val="solid"/>
          </a:ln>
          <a:effectLst>
            <a:outerShdw sx="100000" sy="100000" kx="0" ky="0" algn="bl" rotWithShape="0" blurRad="101600" dist="12700" dir="5400000">
              <a:srgbClr val="AAB4BE">
                <a:alpha val="18000"/>
              </a:srgbClr>
            </a:outerShdw>
          </a:effectLst>
        </p:spPr>
      </p:sp>
      <p:sp>
        <p:nvSpPr>
          <p:cNvPr id="7" name="Text 4"/>
          <p:cNvSpPr txBox="1"/>
          <p:nvPr/>
        </p:nvSpPr>
        <p:spPr>
          <a:xfrm>
            <a:off x="914400" y="3776472"/>
            <a:ext cx="4754880" cy="274320"/>
          </a:xfrm>
          <a:prstGeom prst="rect">
            <a:avLst/>
          </a:prstGeom>
          <a:noFill/>
          <a:ln/>
        </p:spPr>
        <p:txBody>
          <a:bodyPr wrap="square" lIns="0" tIns="0" rIns="0" bIns="0" rtlCol="0" anchor="ctr"/>
          <a:lstStyle/>
          <a:p>
            <a:pPr indent="0" marL="0">
              <a:buNone/>
            </a:pPr>
            <a:r>
              <a:rPr lang="en-US" sz="1300" b="1" dirty="0">
                <a:solidFill>
                  <a:srgbClr val="8F5510"/>
                </a:solidFill>
                <a:latin typeface="Meiryo" pitchFamily="34" charset="0"/>
                <a:ea typeface="Meiryo" pitchFamily="34" charset="-122"/>
                <a:cs typeface="Meiryo" pitchFamily="34" charset="-120"/>
              </a:rPr>
              <a:t>「時価総額10億円」と「全部行使」は両立しません</a:t>
            </a:r>
            <a:endParaRPr lang="en-US" sz="1300" dirty="0"/>
          </a:p>
        </p:txBody>
      </p:sp>
      <p:sp>
        <p:nvSpPr>
          <p:cNvPr id="8" name="Text 5"/>
          <p:cNvSpPr txBox="1"/>
          <p:nvPr/>
        </p:nvSpPr>
        <p:spPr>
          <a:xfrm>
            <a:off x="914400" y="4114800"/>
            <a:ext cx="4800600" cy="1737360"/>
          </a:xfrm>
          <a:prstGeom prst="rect">
            <a:avLst/>
          </a:prstGeom>
          <a:noFill/>
          <a:ln/>
        </p:spPr>
        <p:txBody>
          <a:bodyPr wrap="square" lIns="0" tIns="0" rIns="0" bIns="0" rtlCol="0" anchor="ctr"/>
          <a:lstStyle/>
          <a:p>
            <a:pPr indent="0" marL="0">
              <a:lnSpc>
                <a:spcPct val="120000"/>
              </a:lnSpc>
              <a:buNone/>
            </a:pPr>
            <a:r>
              <a:rPr lang="en-US" sz="1020" dirty="0">
                <a:solidFill>
                  <a:srgbClr val="3D4E60"/>
                </a:solidFill>
                <a:latin typeface="Meiryo" pitchFamily="34" charset="0"/>
                <a:ea typeface="Meiryo" pitchFamily="34" charset="-122"/>
                <a:cs typeface="Meiryo" pitchFamily="34" charset="-120"/>
              </a:rPr>
              <a:t>Long Corridor社の新株予約権は下限が73円です。全部行使されるなら株価は73円以上で、時価総額は15億円前後になります。株価が下がって10億円（約49円）になれば行使は止まり、未行使分が売り圧力として残ります。</a:t>
            </a:r>
            <a:endParaRPr lang="en-US" sz="1020" dirty="0"/>
          </a:p>
          <a:p>
            <a:pPr indent="0" marL="0">
              <a:lnSpc>
                <a:spcPct val="120000"/>
              </a:lnSpc>
              <a:buNone/>
            </a:pPr>
            <a:endParaRPr lang="en-US" sz="1020" dirty="0"/>
          </a:p>
          <a:p>
            <a:pPr indent="0" marL="0">
              <a:lnSpc>
                <a:spcPct val="120000"/>
              </a:lnSpc>
              <a:buNone/>
            </a:pPr>
            <a:r>
              <a:rPr lang="en-US" sz="1020" dirty="0">
                <a:solidFill>
                  <a:srgbClr val="3D4E60"/>
                </a:solidFill>
                <a:latin typeface="Meiryo" pitchFamily="34" charset="0"/>
                <a:ea typeface="Meiryo" pitchFamily="34" charset="-122"/>
                <a:cs typeface="Meiryo" pitchFamily="34" charset="-120"/>
              </a:rPr>
              <a:t>また開示上のコミットは「12月末までに10,000個（100万株）」で、217万株全部ではありません。</a:t>
            </a:r>
            <a:endParaRPr lang="en-US" sz="1020" dirty="0"/>
          </a:p>
        </p:txBody>
      </p:sp>
      <p:sp>
        <p:nvSpPr>
          <p:cNvPr id="9" name="Shape 6"/>
          <p:cNvSpPr/>
          <p:nvPr/>
        </p:nvSpPr>
        <p:spPr>
          <a:xfrm>
            <a:off x="6172200" y="3611880"/>
            <a:ext cx="5349240" cy="2331720"/>
          </a:xfrm>
          <a:prstGeom prst="roundRect">
            <a:avLst>
              <a:gd name="adj" fmla="val 2353"/>
            </a:avLst>
          </a:prstGeom>
          <a:solidFill>
            <a:srgbClr val="F0F4F1"/>
          </a:solidFill>
          <a:ln w="12700">
            <a:solidFill>
              <a:srgbClr val="C9DCD1"/>
            </a:solidFill>
            <a:prstDash val="solid"/>
          </a:ln>
          <a:effectLst>
            <a:outerShdw sx="100000" sy="100000" kx="0" ky="0" algn="bl" rotWithShape="0" blurRad="101600" dist="12700" dir="5400000">
              <a:srgbClr val="AAB4BE">
                <a:alpha val="18000"/>
              </a:srgbClr>
            </a:outerShdw>
          </a:effectLst>
        </p:spPr>
      </p:sp>
      <p:sp>
        <p:nvSpPr>
          <p:cNvPr id="10" name="Text 7"/>
          <p:cNvSpPr txBox="1"/>
          <p:nvPr/>
        </p:nvSpPr>
        <p:spPr>
          <a:xfrm>
            <a:off x="6446520" y="3776472"/>
            <a:ext cx="4754880" cy="274320"/>
          </a:xfrm>
          <a:prstGeom prst="rect">
            <a:avLst/>
          </a:prstGeom>
          <a:noFill/>
          <a:ln/>
        </p:spPr>
        <p:txBody>
          <a:bodyPr wrap="square" lIns="0" tIns="0" rIns="0" bIns="0" rtlCol="0" anchor="ctr"/>
          <a:lstStyle/>
          <a:p>
            <a:pPr indent="0" marL="0">
              <a:buNone/>
            </a:pPr>
            <a:r>
              <a:rPr lang="en-US" sz="1300" b="1" dirty="0">
                <a:solidFill>
                  <a:srgbClr val="2C6A4E"/>
                </a:solidFill>
                <a:latin typeface="Meiryo" pitchFamily="34" charset="0"/>
                <a:ea typeface="Meiryo" pitchFamily="34" charset="-122"/>
                <a:cs typeface="Meiryo" pitchFamily="34" charset="-120"/>
              </a:rPr>
              <a:t>交渉のポイント</a:t>
            </a:r>
            <a:endParaRPr lang="en-US" sz="1300" dirty="0"/>
          </a:p>
        </p:txBody>
      </p:sp>
      <p:sp>
        <p:nvSpPr>
          <p:cNvPr id="11" name="Text 8"/>
          <p:cNvSpPr txBox="1"/>
          <p:nvPr/>
        </p:nvSpPr>
        <p:spPr>
          <a:xfrm>
            <a:off x="6446520" y="4114800"/>
            <a:ext cx="4800600" cy="1737360"/>
          </a:xfrm>
          <a:prstGeom prst="rect">
            <a:avLst/>
          </a:prstGeom>
          <a:noFill/>
          <a:ln/>
        </p:spPr>
        <p:txBody>
          <a:bodyPr wrap="square" lIns="0" tIns="0" rIns="0" bIns="0" rtlCol="0" anchor="ctr"/>
          <a:lstStyle/>
          <a:p>
            <a:pPr indent="0" marL="0">
              <a:lnSpc>
                <a:spcPct val="125000"/>
              </a:lnSpc>
              <a:buNone/>
            </a:pPr>
            <a:r>
              <a:rPr lang="en-US" sz="1020" dirty="0">
                <a:solidFill>
                  <a:srgbClr val="3D4E60"/>
                </a:solidFill>
                <a:latin typeface="Meiryo" pitchFamily="34" charset="0"/>
                <a:ea typeface="Meiryo" pitchFamily="34" charset="-122"/>
                <a:cs typeface="Meiryo" pitchFamily="34" charset="-120"/>
              </a:rPr>
              <a:t>・価格は「時価総額」ではなく「1株あたり約50円」で固定する</a:t>
            </a:r>
            <a:endParaRPr lang="en-US" sz="1020" dirty="0"/>
          </a:p>
          <a:p>
            <a:pPr indent="0" marL="0">
              <a:lnSpc>
                <a:spcPct val="125000"/>
              </a:lnSpc>
              <a:buNone/>
            </a:pPr>
            <a:r>
              <a:rPr lang="en-US" sz="1020" dirty="0">
                <a:solidFill>
                  <a:srgbClr val="3D4E60"/>
                </a:solidFill>
                <a:latin typeface="Meiryo" pitchFamily="34" charset="0"/>
                <a:ea typeface="Meiryo" pitchFamily="34" charset="-122"/>
                <a:cs typeface="Meiryo" pitchFamily="34" charset="-120"/>
              </a:rPr>
              <a:t>・8億円の放棄をクロージングの前提条件にする</a:t>
            </a:r>
            <a:endParaRPr lang="en-US" sz="1020" dirty="0"/>
          </a:p>
          <a:p>
            <a:pPr indent="0" marL="0">
              <a:lnSpc>
                <a:spcPct val="125000"/>
              </a:lnSpc>
              <a:buNone/>
            </a:pPr>
            <a:r>
              <a:rPr lang="en-US" sz="1020" dirty="0">
                <a:solidFill>
                  <a:srgbClr val="3D4E60"/>
                </a:solidFill>
                <a:latin typeface="Meiryo" pitchFamily="34" charset="0"/>
                <a:ea typeface="Meiryo" pitchFamily="34" charset="-122"/>
                <a:cs typeface="Meiryo" pitchFamily="34" charset="-120"/>
              </a:rPr>
              <a:t>・未行使の新株予約権の取得・消却を求める</a:t>
            </a:r>
            <a:endParaRPr lang="en-US" sz="1020" dirty="0"/>
          </a:p>
          <a:p>
            <a:pPr indent="0" marL="0">
              <a:lnSpc>
                <a:spcPct val="125000"/>
              </a:lnSpc>
              <a:buNone/>
            </a:pPr>
            <a:r>
              <a:rPr lang="en-US" sz="1020" dirty="0">
                <a:solidFill>
                  <a:srgbClr val="3D4E60"/>
                </a:solidFill>
                <a:latin typeface="Meiryo" pitchFamily="34" charset="0"/>
                <a:ea typeface="Meiryo" pitchFamily="34" charset="-122"/>
                <a:cs typeface="Meiryo" pitchFamily="34" charset="-120"/>
              </a:rPr>
              <a:t>・取得は3分の1未満（30%）にとどめ、TOBを避ける</a:t>
            </a:r>
            <a:endParaRPr lang="en-US" sz="1020" dirty="0"/>
          </a:p>
          <a:p>
            <a:pPr indent="0" marL="0">
              <a:lnSpc>
                <a:spcPct val="125000"/>
              </a:lnSpc>
              <a:buNone/>
            </a:pPr>
            <a:r>
              <a:rPr lang="en-US" sz="1020" dirty="0">
                <a:solidFill>
                  <a:srgbClr val="3D4E60"/>
                </a:solidFill>
                <a:latin typeface="Meiryo" pitchFamily="34" charset="0"/>
                <a:ea typeface="Meiryo" pitchFamily="34" charset="-122"/>
                <a:cs typeface="Meiryo" pitchFamily="34" charset="-120"/>
              </a:rPr>
              <a:t>・RIZAP社の残り10〜15%の売却方法（市場か相対か）を決めておく</a:t>
            </a:r>
            <a:endParaRPr lang="en-US" sz="102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7F9"/>
        </a:solidFill>
      </p:bgPr>
    </p:bg>
    <p:spTree>
      <p:nvGrpSpPr>
        <p:cNvPr id="1" name=""/>
        <p:cNvGrpSpPr/>
        <p:nvPr/>
      </p:nvGrpSpPr>
      <p:grpSpPr>
        <a:xfrm>
          <a:off x="0" y="0"/>
          <a:ext cx="0" cy="0"/>
          <a:chOff x="0" y="0"/>
          <a:chExt cx="0" cy="0"/>
        </a:xfrm>
      </p:grpSpPr>
      <p:sp>
        <p:nvSpPr>
          <p:cNvPr id="2" name="Text 0"/>
          <p:cNvSpPr txBox="1"/>
          <p:nvPr/>
        </p:nvSpPr>
        <p:spPr>
          <a:xfrm>
            <a:off x="640080" y="384048"/>
            <a:ext cx="10881360" cy="256032"/>
          </a:xfrm>
          <a:prstGeom prst="rect">
            <a:avLst/>
          </a:prstGeom>
          <a:noFill/>
          <a:ln/>
        </p:spPr>
        <p:txBody>
          <a:bodyPr wrap="square" lIns="0" tIns="0" rIns="0" bIns="0" rtlCol="0" anchor="ctr"/>
          <a:lstStyle/>
          <a:p>
            <a:pPr indent="0" marL="0">
              <a:buNone/>
            </a:pPr>
            <a:r>
              <a:rPr lang="en-US" sz="1100" b="1" spc="200" kern="0" dirty="0">
                <a:solidFill>
                  <a:srgbClr val="6E2639"/>
                </a:solidFill>
                <a:latin typeface="Meiryo" pitchFamily="34" charset="0"/>
                <a:ea typeface="Meiryo" pitchFamily="34" charset="-122"/>
                <a:cs typeface="Meiryo" pitchFamily="34" charset="-120"/>
              </a:rPr>
              <a:t>出口の考え方</a:t>
            </a:r>
            <a:endParaRPr lang="en-US" sz="1100" dirty="0"/>
          </a:p>
        </p:txBody>
      </p:sp>
      <p:sp>
        <p:nvSpPr>
          <p:cNvPr id="3" name="Text 1"/>
          <p:cNvSpPr txBox="1"/>
          <p:nvPr/>
        </p:nvSpPr>
        <p:spPr>
          <a:xfrm>
            <a:off x="640080" y="676656"/>
            <a:ext cx="10881360" cy="658368"/>
          </a:xfrm>
          <a:prstGeom prst="rect">
            <a:avLst/>
          </a:prstGeom>
          <a:noFill/>
          <a:ln/>
        </p:spPr>
        <p:txBody>
          <a:bodyPr wrap="square" lIns="0" tIns="0" rIns="0" bIns="0" rtlCol="0" anchor="ctr"/>
          <a:lstStyle/>
          <a:p>
            <a:pPr indent="0" marL="0">
              <a:buNone/>
            </a:pPr>
            <a:r>
              <a:rPr lang="en-US" sz="2800" b="1" dirty="0">
                <a:solidFill>
                  <a:srgbClr val="1E2A38"/>
                </a:solidFill>
                <a:latin typeface="Meiryo" pitchFamily="34" charset="0"/>
                <a:ea typeface="Meiryo" pitchFamily="34" charset="-122"/>
                <a:cs typeface="Meiryo" pitchFamily="34" charset="-120"/>
              </a:rPr>
              <a:t>単体で再建して売るか、あどばると合併するか</a:t>
            </a:r>
            <a:endParaRPr lang="en-US" sz="2800" dirty="0"/>
          </a:p>
        </p:txBody>
      </p:sp>
      <p:sp>
        <p:nvSpPr>
          <p:cNvPr id="4" name="Shape 2"/>
          <p:cNvSpPr/>
          <p:nvPr/>
        </p:nvSpPr>
        <p:spPr>
          <a:xfrm>
            <a:off x="640080" y="1517904"/>
            <a:ext cx="5349240" cy="4434840"/>
          </a:xfrm>
          <a:prstGeom prst="roundRect">
            <a:avLst>
              <a:gd name="adj" fmla="val 1237"/>
            </a:avLst>
          </a:prstGeom>
          <a:solidFill>
            <a:srgbClr val="FFFFFF"/>
          </a:solidFill>
          <a:ln w="12700">
            <a:solidFill>
              <a:srgbClr val="D9E0E7"/>
            </a:solidFill>
            <a:prstDash val="solid"/>
          </a:ln>
          <a:effectLst>
            <a:outerShdw sx="100000" sy="100000" kx="0" ky="0" algn="bl" rotWithShape="0" blurRad="101600" dist="12700" dir="5400000">
              <a:srgbClr val="AAB4BE">
                <a:alpha val="18000"/>
              </a:srgbClr>
            </a:outerShdw>
          </a:effectLst>
        </p:spPr>
      </p:sp>
      <p:sp>
        <p:nvSpPr>
          <p:cNvPr id="5" name="Shape 3"/>
          <p:cNvSpPr/>
          <p:nvPr/>
        </p:nvSpPr>
        <p:spPr>
          <a:xfrm>
            <a:off x="914400" y="1719072"/>
            <a:ext cx="2011680" cy="310896"/>
          </a:xfrm>
          <a:prstGeom prst="roundRect">
            <a:avLst>
              <a:gd name="adj" fmla="val 50000"/>
            </a:avLst>
          </a:prstGeom>
          <a:solidFill>
            <a:srgbClr val="2E5C8A"/>
          </a:solidFill>
          <a:ln/>
        </p:spPr>
      </p:sp>
      <p:sp>
        <p:nvSpPr>
          <p:cNvPr id="6" name="Text 4"/>
          <p:cNvSpPr txBox="1"/>
          <p:nvPr/>
        </p:nvSpPr>
        <p:spPr>
          <a:xfrm>
            <a:off x="914400" y="1719072"/>
            <a:ext cx="2011680" cy="310896"/>
          </a:xfrm>
          <a:prstGeom prst="rect">
            <a:avLst/>
          </a:prstGeom>
          <a:noFill/>
          <a:ln/>
        </p:spPr>
        <p:txBody>
          <a:bodyPr wrap="square" lIns="0" tIns="0" rIns="0" bIns="0" rtlCol="0" anchor="ctr"/>
          <a:lstStyle/>
          <a:p>
            <a:pPr algn="ctr" indent="0" marL="0">
              <a:buNone/>
            </a:pPr>
            <a:r>
              <a:rPr lang="en-US" sz="1150" b="1" dirty="0">
                <a:solidFill>
                  <a:srgbClr val="FFFFFF"/>
                </a:solidFill>
                <a:latin typeface="Meiryo" pitchFamily="34" charset="0"/>
                <a:ea typeface="Meiryo" pitchFamily="34" charset="-122"/>
                <a:cs typeface="Meiryo" pitchFamily="34" charset="-120"/>
              </a:rPr>
              <a:t>A　単体で再建</a:t>
            </a:r>
            <a:endParaRPr lang="en-US" sz="1150" dirty="0"/>
          </a:p>
        </p:txBody>
      </p:sp>
      <p:sp>
        <p:nvSpPr>
          <p:cNvPr id="7" name="Text 5"/>
          <p:cNvSpPr txBox="1"/>
          <p:nvPr/>
        </p:nvSpPr>
        <p:spPr>
          <a:xfrm>
            <a:off x="914400" y="2148840"/>
            <a:ext cx="4800600" cy="502920"/>
          </a:xfrm>
          <a:prstGeom prst="rect">
            <a:avLst/>
          </a:prstGeom>
          <a:noFill/>
          <a:ln/>
        </p:spPr>
        <p:txBody>
          <a:bodyPr wrap="square" lIns="0" tIns="0" rIns="0" bIns="0" rtlCol="0" anchor="ctr"/>
          <a:lstStyle/>
          <a:p>
            <a:pPr indent="0" marL="0">
              <a:lnSpc>
                <a:spcPct val="110000"/>
              </a:lnSpc>
              <a:buNone/>
            </a:pPr>
            <a:r>
              <a:rPr lang="en-US" sz="1250" b="1" dirty="0">
                <a:solidFill>
                  <a:srgbClr val="1E2A38"/>
                </a:solidFill>
                <a:latin typeface="Meiryo" pitchFamily="34" charset="0"/>
                <a:ea typeface="Meiryo" pitchFamily="34" charset="-122"/>
                <a:cs typeface="Meiryo" pitchFamily="34" charset="-120"/>
              </a:rPr>
              <a:t>中野が30%を持ち、夢展望単体の再建で株価を上げる</a:t>
            </a:r>
            <a:endParaRPr lang="en-US" sz="125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914400" y="2788920"/>
          <a:ext cx="4800600" cy="914400"/>
        </p:xfrm>
        <a:graphic>
          <a:graphicData uri="http://schemas.openxmlformats.org/drawingml/2006/table">
            <a:tbl>
              <a:tblPr/>
              <a:tblGrid>
                <a:gridCol w="1097280"/>
                <a:gridCol w="1508760"/>
                <a:gridCol w="1234440"/>
                <a:gridCol w="960120"/>
              </a:tblGrid>
              <a:tr h="347472">
                <a:tc>
                  <a:txBody>
                    <a:bodyPr/>
                    <a:lstStyle/>
                    <a:p>
                      <a:pPr indent="0" marL="0">
                        <a:buNone/>
                      </a:pPr>
                      <a:r>
                        <a:rPr lang="en-US" sz="1100" b="1" dirty="0">
                          <a:solidFill>
                            <a:srgbClr val="FFFFFF"/>
                          </a:solidFill>
                          <a:latin typeface="Meiryo" pitchFamily="34" charset="0"/>
                          <a:ea typeface="Meiryo" pitchFamily="34" charset="-122"/>
                          <a:cs typeface="Meiryo" pitchFamily="34" charset="-120"/>
                        </a:rPr>
                        <a:t>営業利益</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E2A38"/>
                    </a:solidFill>
                  </a:tcPr>
                </a:tc>
                <a:tc>
                  <a:txBody>
                    <a:bodyPr/>
                    <a:lstStyle/>
                    <a:p>
                      <a:pPr algn="r" indent="0" marL="0">
                        <a:buNone/>
                      </a:pPr>
                      <a:r>
                        <a:rPr lang="en-US" sz="1100" b="1" dirty="0">
                          <a:solidFill>
                            <a:srgbClr val="FFFFFF"/>
                          </a:solidFill>
                          <a:latin typeface="Meiryo" pitchFamily="34" charset="0"/>
                          <a:ea typeface="Meiryo" pitchFamily="34" charset="-122"/>
                          <a:cs typeface="Meiryo" pitchFamily="34" charset="-120"/>
                        </a:rPr>
                        <a:t>時価総額（PER17倍）</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E2A38"/>
                    </a:solidFill>
                  </a:tcPr>
                </a:tc>
                <a:tc>
                  <a:txBody>
                    <a:bodyPr/>
                    <a:lstStyle/>
                    <a:p>
                      <a:pPr algn="r" indent="0" marL="0">
                        <a:buNone/>
                      </a:pPr>
                      <a:r>
                        <a:rPr lang="en-US" sz="1100" b="1" dirty="0">
                          <a:solidFill>
                            <a:srgbClr val="FFFFFF"/>
                          </a:solidFill>
                          <a:latin typeface="Meiryo" pitchFamily="34" charset="0"/>
                          <a:ea typeface="Meiryo" pitchFamily="34" charset="-122"/>
                          <a:cs typeface="Meiryo" pitchFamily="34" charset="-120"/>
                        </a:rPr>
                        <a:t>30%の価値</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E2A38"/>
                    </a:solidFill>
                  </a:tcPr>
                </a:tc>
                <a:tc>
                  <a:txBody>
                    <a:bodyPr/>
                    <a:lstStyle/>
                    <a:p>
                      <a:pPr algn="r" indent="0" marL="0">
                        <a:buNone/>
                      </a:pPr>
                      <a:r>
                        <a:rPr lang="en-US" sz="1100" b="1" dirty="0">
                          <a:solidFill>
                            <a:srgbClr val="FFFFFF"/>
                          </a:solidFill>
                          <a:latin typeface="Meiryo" pitchFamily="34" charset="0"/>
                          <a:ea typeface="Meiryo" pitchFamily="34" charset="-122"/>
                          <a:cs typeface="Meiryo" pitchFamily="34" charset="-120"/>
                        </a:rPr>
                        <a:t>取得比</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E2A38"/>
                    </a:solidFill>
                  </a:tcPr>
                </a:tc>
              </a:tr>
              <a:tr h="347472">
                <a:tc>
                  <a:txBody>
                    <a:bodyPr/>
                    <a:lstStyle/>
                    <a:p>
                      <a:pPr indent="0" marL="0">
                        <a:buNone/>
                      </a:pPr>
                      <a:r>
                        <a:rPr lang="en-US" sz="1050" b="1" dirty="0">
                          <a:solidFill>
                            <a:srgbClr val="3D4E60"/>
                          </a:solidFill>
                          <a:latin typeface="Meiryo" pitchFamily="34" charset="0"/>
                          <a:ea typeface="Meiryo" pitchFamily="34" charset="-122"/>
                          <a:cs typeface="Meiryo" pitchFamily="34" charset="-120"/>
                        </a:rPr>
                        <a:t>0.5億円</a:t>
                      </a:r>
                      <a:endParaRPr lang="en-US" sz="10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r" indent="0" marL="0">
                        <a:buNone/>
                      </a:pPr>
                      <a:r>
                        <a:rPr lang="en-US" sz="1050" dirty="0">
                          <a:solidFill>
                            <a:srgbClr val="3D4E60"/>
                          </a:solidFill>
                          <a:latin typeface="Meiryo" pitchFamily="34" charset="0"/>
                          <a:ea typeface="Meiryo" pitchFamily="34" charset="-122"/>
                          <a:cs typeface="Meiryo" pitchFamily="34" charset="-120"/>
                        </a:rPr>
                        <a:t>5.9億円</a:t>
                      </a:r>
                      <a:endParaRPr lang="en-US" sz="10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r" indent="0" marL="0">
                        <a:buNone/>
                      </a:pPr>
                      <a:r>
                        <a:rPr lang="en-US" sz="1050" dirty="0">
                          <a:solidFill>
                            <a:srgbClr val="8A2E26"/>
                          </a:solidFill>
                          <a:latin typeface="Meiryo" pitchFamily="34" charset="0"/>
                          <a:ea typeface="Meiryo" pitchFamily="34" charset="-122"/>
                          <a:cs typeface="Meiryo" pitchFamily="34" charset="-120"/>
                        </a:rPr>
                        <a:t>1.78億円</a:t>
                      </a:r>
                      <a:endParaRPr lang="en-US" sz="10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r" indent="0" marL="0">
                        <a:buNone/>
                      </a:pPr>
                      <a:r>
                        <a:rPr lang="en-US" sz="1050" dirty="0">
                          <a:solidFill>
                            <a:srgbClr val="8A2E26"/>
                          </a:solidFill>
                          <a:latin typeface="Meiryo" pitchFamily="34" charset="0"/>
                          <a:ea typeface="Meiryo" pitchFamily="34" charset="-122"/>
                          <a:cs typeface="Meiryo" pitchFamily="34" charset="-120"/>
                        </a:rPr>
                        <a:t>0.6倍</a:t>
                      </a:r>
                      <a:endParaRPr lang="en-US" sz="10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r>
              <a:tr h="347472">
                <a:tc>
                  <a:txBody>
                    <a:bodyPr/>
                    <a:lstStyle/>
                    <a:p>
                      <a:pPr indent="0" marL="0">
                        <a:buNone/>
                      </a:pPr>
                      <a:r>
                        <a:rPr lang="en-US" sz="1050" b="1" dirty="0">
                          <a:solidFill>
                            <a:srgbClr val="3D4E60"/>
                          </a:solidFill>
                          <a:latin typeface="Meiryo" pitchFamily="34" charset="0"/>
                          <a:ea typeface="Meiryo" pitchFamily="34" charset="-122"/>
                          <a:cs typeface="Meiryo" pitchFamily="34" charset="-120"/>
                        </a:rPr>
                        <a:t>1.0億円</a:t>
                      </a:r>
                      <a:endParaRPr lang="en-US" sz="10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r" indent="0" marL="0">
                        <a:buNone/>
                      </a:pPr>
                      <a:r>
                        <a:rPr lang="en-US" sz="1050" dirty="0">
                          <a:solidFill>
                            <a:srgbClr val="3D4E60"/>
                          </a:solidFill>
                          <a:latin typeface="Meiryo" pitchFamily="34" charset="0"/>
                          <a:ea typeface="Meiryo" pitchFamily="34" charset="-122"/>
                          <a:cs typeface="Meiryo" pitchFamily="34" charset="-120"/>
                        </a:rPr>
                        <a:t>11.9億円</a:t>
                      </a:r>
                      <a:endParaRPr lang="en-US" sz="10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r" indent="0" marL="0">
                        <a:buNone/>
                      </a:pPr>
                      <a:r>
                        <a:rPr lang="en-US" sz="1050" dirty="0">
                          <a:solidFill>
                            <a:srgbClr val="3D4E60"/>
                          </a:solidFill>
                          <a:latin typeface="Meiryo" pitchFamily="34" charset="0"/>
                          <a:ea typeface="Meiryo" pitchFamily="34" charset="-122"/>
                          <a:cs typeface="Meiryo" pitchFamily="34" charset="-120"/>
                        </a:rPr>
                        <a:t>3.57億円</a:t>
                      </a:r>
                      <a:endParaRPr lang="en-US" sz="10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r" indent="0" marL="0">
                        <a:buNone/>
                      </a:pPr>
                      <a:r>
                        <a:rPr lang="en-US" sz="1050" dirty="0">
                          <a:solidFill>
                            <a:srgbClr val="3D4E60"/>
                          </a:solidFill>
                          <a:latin typeface="Meiryo" pitchFamily="34" charset="0"/>
                          <a:ea typeface="Meiryo" pitchFamily="34" charset="-122"/>
                          <a:cs typeface="Meiryo" pitchFamily="34" charset="-120"/>
                        </a:rPr>
                        <a:t>1.2倍</a:t>
                      </a:r>
                      <a:endParaRPr lang="en-US" sz="10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r>
              <a:tr h="347472">
                <a:tc>
                  <a:txBody>
                    <a:bodyPr/>
                    <a:lstStyle/>
                    <a:p>
                      <a:pPr indent="0" marL="0">
                        <a:buNone/>
                      </a:pPr>
                      <a:r>
                        <a:rPr lang="en-US" sz="1050" b="1" dirty="0">
                          <a:solidFill>
                            <a:srgbClr val="3D4E60"/>
                          </a:solidFill>
                          <a:latin typeface="Meiryo" pitchFamily="34" charset="0"/>
                          <a:ea typeface="Meiryo" pitchFamily="34" charset="-122"/>
                          <a:cs typeface="Meiryo" pitchFamily="34" charset="-120"/>
                        </a:rPr>
                        <a:t>2.5億円</a:t>
                      </a:r>
                      <a:endParaRPr lang="en-US" sz="10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r" indent="0" marL="0">
                        <a:buNone/>
                      </a:pPr>
                      <a:r>
                        <a:rPr lang="en-US" sz="1050" dirty="0">
                          <a:solidFill>
                            <a:srgbClr val="3D4E60"/>
                          </a:solidFill>
                          <a:latin typeface="Meiryo" pitchFamily="34" charset="0"/>
                          <a:ea typeface="Meiryo" pitchFamily="34" charset="-122"/>
                          <a:cs typeface="Meiryo" pitchFamily="34" charset="-120"/>
                        </a:rPr>
                        <a:t>29.8億円</a:t>
                      </a:r>
                      <a:endParaRPr lang="en-US" sz="10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r" indent="0" marL="0">
                        <a:buNone/>
                      </a:pPr>
                      <a:r>
                        <a:rPr lang="en-US" sz="1050" dirty="0">
                          <a:solidFill>
                            <a:srgbClr val="2C6A4E"/>
                          </a:solidFill>
                          <a:latin typeface="Meiryo" pitchFamily="34" charset="0"/>
                          <a:ea typeface="Meiryo" pitchFamily="34" charset="-122"/>
                          <a:cs typeface="Meiryo" pitchFamily="34" charset="-120"/>
                        </a:rPr>
                        <a:t>8.92億円</a:t>
                      </a:r>
                      <a:endParaRPr lang="en-US" sz="10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r" indent="0" marL="0">
                        <a:buNone/>
                      </a:pPr>
                      <a:r>
                        <a:rPr lang="en-US" sz="1050" b="1" dirty="0">
                          <a:solidFill>
                            <a:srgbClr val="2C6A4E"/>
                          </a:solidFill>
                          <a:latin typeface="Meiryo" pitchFamily="34" charset="0"/>
                          <a:ea typeface="Meiryo" pitchFamily="34" charset="-122"/>
                          <a:cs typeface="Meiryo" pitchFamily="34" charset="-120"/>
                        </a:rPr>
                        <a:t>3.0倍</a:t>
                      </a:r>
                      <a:endParaRPr lang="en-US" sz="10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r>
            </a:tbl>
          </a:graphicData>
        </a:graphic>
      </p:graphicFrame>
      <p:sp>
        <p:nvSpPr>
          <p:cNvPr id="9" name="Text 6"/>
          <p:cNvSpPr txBox="1"/>
          <p:nvPr/>
        </p:nvSpPr>
        <p:spPr>
          <a:xfrm>
            <a:off x="914400" y="4343400"/>
            <a:ext cx="4800600" cy="640080"/>
          </a:xfrm>
          <a:prstGeom prst="rect">
            <a:avLst/>
          </a:prstGeom>
          <a:noFill/>
          <a:ln/>
        </p:spPr>
        <p:txBody>
          <a:bodyPr wrap="square" lIns="0" tIns="0" rIns="0" bIns="0" rtlCol="0" anchor="ctr"/>
          <a:lstStyle/>
          <a:p>
            <a:pPr indent="0" marL="0">
              <a:lnSpc>
                <a:spcPct val="120000"/>
              </a:lnSpc>
              <a:buNone/>
            </a:pPr>
            <a:r>
              <a:rPr lang="en-US" sz="1050" dirty="0">
                <a:solidFill>
                  <a:srgbClr val="3D4E60"/>
                </a:solidFill>
                <a:latin typeface="Meiryo" pitchFamily="34" charset="0"/>
                <a:ea typeface="Meiryo" pitchFamily="34" charset="-122"/>
                <a:cs typeface="Meiryo" pitchFamily="34" charset="-120"/>
              </a:rPr>
              <a:t>営業利益1億円で元が取れ、2.5億円まで伸ばせれば3倍。再建の手腕がそのまま投資成果になります。</a:t>
            </a:r>
            <a:endParaRPr lang="en-US" sz="1050" dirty="0"/>
          </a:p>
        </p:txBody>
      </p:sp>
      <p:sp>
        <p:nvSpPr>
          <p:cNvPr id="10" name="Shape 7"/>
          <p:cNvSpPr/>
          <p:nvPr/>
        </p:nvSpPr>
        <p:spPr>
          <a:xfrm>
            <a:off x="6172200" y="1517904"/>
            <a:ext cx="5349240" cy="4434840"/>
          </a:xfrm>
          <a:prstGeom prst="roundRect">
            <a:avLst>
              <a:gd name="adj" fmla="val 1237"/>
            </a:avLst>
          </a:prstGeom>
          <a:solidFill>
            <a:srgbClr val="FBF1F3"/>
          </a:solidFill>
          <a:ln w="12700">
            <a:solidFill>
              <a:srgbClr val="E3CBD1"/>
            </a:solidFill>
            <a:prstDash val="solid"/>
          </a:ln>
          <a:effectLst>
            <a:outerShdw sx="100000" sy="100000" kx="0" ky="0" algn="bl" rotWithShape="0" blurRad="101600" dist="12700" dir="5400000">
              <a:srgbClr val="AAB4BE">
                <a:alpha val="18000"/>
              </a:srgbClr>
            </a:outerShdw>
          </a:effectLst>
        </p:spPr>
      </p:sp>
      <p:sp>
        <p:nvSpPr>
          <p:cNvPr id="11" name="Shape 8"/>
          <p:cNvSpPr/>
          <p:nvPr/>
        </p:nvSpPr>
        <p:spPr>
          <a:xfrm>
            <a:off x="6446520" y="1719072"/>
            <a:ext cx="2377440" cy="310896"/>
          </a:xfrm>
          <a:prstGeom prst="roundRect">
            <a:avLst>
              <a:gd name="adj" fmla="val 50000"/>
            </a:avLst>
          </a:prstGeom>
          <a:solidFill>
            <a:srgbClr val="6E2639"/>
          </a:solidFill>
          <a:ln/>
        </p:spPr>
      </p:sp>
      <p:sp>
        <p:nvSpPr>
          <p:cNvPr id="12" name="Text 9"/>
          <p:cNvSpPr txBox="1"/>
          <p:nvPr/>
        </p:nvSpPr>
        <p:spPr>
          <a:xfrm>
            <a:off x="6446520" y="1719072"/>
            <a:ext cx="2377440" cy="310896"/>
          </a:xfrm>
          <a:prstGeom prst="rect">
            <a:avLst/>
          </a:prstGeom>
          <a:noFill/>
          <a:ln/>
        </p:spPr>
        <p:txBody>
          <a:bodyPr wrap="square" lIns="0" tIns="0" rIns="0" bIns="0" rtlCol="0" anchor="ctr"/>
          <a:lstStyle/>
          <a:p>
            <a:pPr algn="ctr" indent="0" marL="0">
              <a:buNone/>
            </a:pPr>
            <a:r>
              <a:rPr lang="en-US" sz="1150" b="1" dirty="0">
                <a:solidFill>
                  <a:srgbClr val="FFFFFF"/>
                </a:solidFill>
                <a:latin typeface="Meiryo" pitchFamily="34" charset="0"/>
                <a:ea typeface="Meiryo" pitchFamily="34" charset="-122"/>
                <a:cs typeface="Meiryo" pitchFamily="34" charset="-120"/>
              </a:rPr>
              <a:t>B　あどばると合併</a:t>
            </a:r>
            <a:endParaRPr lang="en-US" sz="1150" dirty="0"/>
          </a:p>
        </p:txBody>
      </p:sp>
      <p:sp>
        <p:nvSpPr>
          <p:cNvPr id="13" name="Text 10"/>
          <p:cNvSpPr txBox="1"/>
          <p:nvPr/>
        </p:nvSpPr>
        <p:spPr>
          <a:xfrm>
            <a:off x="6446520" y="2148840"/>
            <a:ext cx="4800600" cy="502920"/>
          </a:xfrm>
          <a:prstGeom prst="rect">
            <a:avLst/>
          </a:prstGeom>
          <a:noFill/>
          <a:ln/>
        </p:spPr>
        <p:txBody>
          <a:bodyPr wrap="square" lIns="0" tIns="0" rIns="0" bIns="0" rtlCol="0" anchor="ctr"/>
          <a:lstStyle/>
          <a:p>
            <a:pPr indent="0" marL="0">
              <a:buNone/>
            </a:pPr>
            <a:r>
              <a:rPr lang="en-US" sz="1250" b="1" dirty="0">
                <a:solidFill>
                  <a:srgbClr val="1E2A38"/>
                </a:solidFill>
                <a:latin typeface="Meiryo" pitchFamily="34" charset="0"/>
                <a:ea typeface="Meiryo" pitchFamily="34" charset="-122"/>
                <a:cs typeface="Meiryo" pitchFamily="34" charset="-120"/>
              </a:rPr>
              <a:t>30%取得の後に、あどばるを合併させる</a:t>
            </a:r>
            <a:endParaRPr lang="en-US" sz="1250" dirty="0"/>
          </a:p>
        </p:txBody>
      </p:sp>
      <p:graphicFrame>
        <p:nvGraphicFramePr>
          <p:cNvPr id="13" name="Table 1"/>
          <p:cNvGraphicFramePr>
            <a:graphicFrameLocks noGrp="1"/>
          </p:cNvGraphicFramePr>
          <p:nvPr>
            <p:extLst>
              <p:ext uri="{D42A27DB-BD31-4B8C-83A1-F6EECF244321}">
                <p14:modId xmlns:p14="http://schemas.microsoft.com/office/powerpoint/2010/main" val="1579011935"/>
              </p:ext>
            </p:extLst>
          </p:nvPr>
        </p:nvGraphicFramePr>
        <p:xfrm>
          <a:off x="6446520" y="2788920"/>
          <a:ext cx="4800600" cy="914400"/>
        </p:xfrm>
        <a:graphic>
          <a:graphicData uri="http://schemas.openxmlformats.org/drawingml/2006/table">
            <a:tbl>
              <a:tblPr/>
              <a:tblGrid>
                <a:gridCol w="1783080"/>
                <a:gridCol w="1508760"/>
                <a:gridCol w="1508760"/>
              </a:tblGrid>
              <a:tr h="347472">
                <a:tc>
                  <a:txBody>
                    <a:bodyPr/>
                    <a:lstStyle/>
                    <a:p>
                      <a:pPr indent="0" marL="0">
                        <a:buNone/>
                      </a:pPr>
                      <a:r>
                        <a:rPr lang="en-US" sz="1100" b="1" dirty="0">
                          <a:solidFill>
                            <a:srgbClr val="FFFFFF"/>
                          </a:solidFill>
                          <a:latin typeface="Meiryo" pitchFamily="34" charset="0"/>
                          <a:ea typeface="Meiryo" pitchFamily="34" charset="-122"/>
                          <a:cs typeface="Meiryo" pitchFamily="34" charset="-120"/>
                        </a:rPr>
                        <a:t>夢展望の評価</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E2A38"/>
                    </a:solidFill>
                  </a:tcPr>
                </a:tc>
                <a:tc>
                  <a:txBody>
                    <a:bodyPr/>
                    <a:lstStyle/>
                    <a:p>
                      <a:pPr algn="r" indent="0" marL="0">
                        <a:buNone/>
                      </a:pPr>
                      <a:r>
                        <a:rPr lang="en-US" sz="1100" b="1" dirty="0">
                          <a:solidFill>
                            <a:srgbClr val="FFFFFF"/>
                          </a:solidFill>
                          <a:latin typeface="Meiryo" pitchFamily="34" charset="0"/>
                          <a:ea typeface="Meiryo" pitchFamily="34" charset="-122"/>
                          <a:cs typeface="Meiryo" pitchFamily="34" charset="-120"/>
                        </a:rPr>
                        <a:t>あどばる側</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E2A38"/>
                    </a:solidFill>
                  </a:tcPr>
                </a:tc>
                <a:tc>
                  <a:txBody>
                    <a:bodyPr/>
                    <a:lstStyle/>
                    <a:p>
                      <a:pPr algn="r" indent="0" marL="0">
                        <a:buNone/>
                      </a:pPr>
                      <a:r>
                        <a:rPr lang="en-US" sz="1100" b="1" dirty="0">
                          <a:solidFill>
                            <a:srgbClr val="FFFFFF"/>
                          </a:solidFill>
                          <a:latin typeface="Meiryo" pitchFamily="34" charset="0"/>
                          <a:ea typeface="Meiryo" pitchFamily="34" charset="-122"/>
                          <a:cs typeface="Meiryo" pitchFamily="34" charset="-120"/>
                        </a:rPr>
                        <a:t>中野の持分</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E2A38"/>
                    </a:solidFill>
                  </a:tcPr>
                </a:tc>
              </a:tr>
              <a:tr h="347472">
                <a:tc>
                  <a:txBody>
                    <a:bodyPr/>
                    <a:lstStyle/>
                    <a:p>
                      <a:pPr indent="0" marL="0">
                        <a:buNone/>
                      </a:pPr>
                      <a:r>
                        <a:rPr lang="en-US" sz="1050" b="1" dirty="0">
                          <a:solidFill>
                            <a:srgbClr val="3D4E60"/>
                          </a:solidFill>
                          <a:latin typeface="Meiryo" pitchFamily="34" charset="0"/>
                          <a:ea typeface="Meiryo" pitchFamily="34" charset="-122"/>
                          <a:cs typeface="Meiryo" pitchFamily="34" charset="-120"/>
                        </a:rPr>
                        <a:t>10億円</a:t>
                      </a:r>
                      <a:endParaRPr lang="en-US" sz="10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r" indent="0" marL="0">
                        <a:buNone/>
                      </a:pPr>
                      <a:r>
                        <a:rPr lang="en-US" sz="1050" dirty="0">
                          <a:solidFill>
                            <a:srgbClr val="8A2E26"/>
                          </a:solidFill>
                          <a:latin typeface="Meiryo" pitchFamily="34" charset="0"/>
                          <a:ea typeface="Meiryo" pitchFamily="34" charset="-122"/>
                          <a:cs typeface="Meiryo" pitchFamily="34" charset="-120"/>
                        </a:rPr>
                        <a:t>60.0%</a:t>
                      </a:r>
                      <a:endParaRPr lang="en-US" sz="10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r" indent="0" marL="0">
                        <a:buNone/>
                      </a:pPr>
                      <a:r>
                        <a:rPr lang="en-US" sz="1050" b="1" dirty="0">
                          <a:solidFill>
                            <a:srgbClr val="3D4E60"/>
                          </a:solidFill>
                          <a:latin typeface="Meiryo" pitchFamily="34" charset="0"/>
                          <a:ea typeface="Meiryo" pitchFamily="34" charset="-122"/>
                          <a:cs typeface="Meiryo" pitchFamily="34" charset="-120"/>
                        </a:rPr>
                        <a:t>34.0%</a:t>
                      </a:r>
                      <a:endParaRPr lang="en-US" sz="10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r>
              <a:tr h="347472">
                <a:tc>
                  <a:txBody>
                    <a:bodyPr/>
                    <a:lstStyle/>
                    <a:p>
                      <a:pPr indent="0" marL="0">
                        <a:buNone/>
                      </a:pPr>
                      <a:r>
                        <a:rPr lang="en-US" sz="1050" b="1" dirty="0">
                          <a:solidFill>
                            <a:srgbClr val="3D4E60"/>
                          </a:solidFill>
                          <a:latin typeface="Meiryo" pitchFamily="34" charset="0"/>
                          <a:ea typeface="Meiryo" pitchFamily="34" charset="-122"/>
                          <a:cs typeface="Meiryo" pitchFamily="34" charset="-120"/>
                        </a:rPr>
                        <a:t>12億円</a:t>
                      </a:r>
                      <a:endParaRPr lang="en-US" sz="10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r" indent="0" marL="0">
                        <a:buNone/>
                      </a:pPr>
                      <a:r>
                        <a:rPr lang="en-US" sz="1050" dirty="0">
                          <a:solidFill>
                            <a:srgbClr val="8A2E26"/>
                          </a:solidFill>
                          <a:latin typeface="Meiryo" pitchFamily="34" charset="0"/>
                          <a:ea typeface="Meiryo" pitchFamily="34" charset="-122"/>
                          <a:cs typeface="Meiryo" pitchFamily="34" charset="-120"/>
                        </a:rPr>
                        <a:t>55.6%</a:t>
                      </a:r>
                      <a:endParaRPr lang="en-US" sz="10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r" indent="0" marL="0">
                        <a:buNone/>
                      </a:pPr>
                      <a:r>
                        <a:rPr lang="en-US" sz="1050" b="1" dirty="0">
                          <a:solidFill>
                            <a:srgbClr val="3D4E60"/>
                          </a:solidFill>
                          <a:latin typeface="Meiryo" pitchFamily="34" charset="0"/>
                          <a:ea typeface="Meiryo" pitchFamily="34" charset="-122"/>
                          <a:cs typeface="Meiryo" pitchFamily="34" charset="-120"/>
                        </a:rPr>
                        <a:t>33.7%</a:t>
                      </a:r>
                      <a:endParaRPr lang="en-US" sz="10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r>
              <a:tr h="347472">
                <a:tc>
                  <a:txBody>
                    <a:bodyPr/>
                    <a:lstStyle/>
                    <a:p>
                      <a:pPr indent="0" marL="0">
                        <a:buNone/>
                      </a:pPr>
                      <a:r>
                        <a:rPr lang="en-US" sz="1050" b="1" dirty="0">
                          <a:solidFill>
                            <a:srgbClr val="3D4E60"/>
                          </a:solidFill>
                          <a:latin typeface="Meiryo" pitchFamily="34" charset="0"/>
                          <a:ea typeface="Meiryo" pitchFamily="34" charset="-122"/>
                          <a:cs typeface="Meiryo" pitchFamily="34" charset="-120"/>
                        </a:rPr>
                        <a:t>15億円</a:t>
                      </a:r>
                      <a:endParaRPr lang="en-US" sz="10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r" indent="0" marL="0">
                        <a:buNone/>
                      </a:pPr>
                      <a:r>
                        <a:rPr lang="en-US" sz="1050" dirty="0">
                          <a:solidFill>
                            <a:srgbClr val="3D4E60"/>
                          </a:solidFill>
                          <a:latin typeface="Meiryo" pitchFamily="34" charset="0"/>
                          <a:ea typeface="Meiryo" pitchFamily="34" charset="-122"/>
                          <a:cs typeface="Meiryo" pitchFamily="34" charset="-120"/>
                        </a:rPr>
                        <a:t>50.0%</a:t>
                      </a:r>
                      <a:endParaRPr lang="en-US" sz="10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r" indent="0" marL="0">
                        <a:buNone/>
                      </a:pPr>
                      <a:r>
                        <a:rPr lang="en-US" sz="1050" b="1" dirty="0">
                          <a:solidFill>
                            <a:srgbClr val="3D4E60"/>
                          </a:solidFill>
                          <a:latin typeface="Meiryo" pitchFamily="34" charset="0"/>
                          <a:ea typeface="Meiryo" pitchFamily="34" charset="-122"/>
                          <a:cs typeface="Meiryo" pitchFamily="34" charset="-120"/>
                        </a:rPr>
                        <a:t>33.4%</a:t>
                      </a:r>
                      <a:endParaRPr lang="en-US" sz="10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r>
            </a:tbl>
          </a:graphicData>
        </a:graphic>
      </p:graphicFrame>
      <p:sp>
        <p:nvSpPr>
          <p:cNvPr id="15" name="Text 11"/>
          <p:cNvSpPr txBox="1"/>
          <p:nvPr/>
        </p:nvSpPr>
        <p:spPr>
          <a:xfrm>
            <a:off x="6446520" y="4343400"/>
            <a:ext cx="4800600" cy="1508760"/>
          </a:xfrm>
          <a:prstGeom prst="rect">
            <a:avLst/>
          </a:prstGeom>
          <a:noFill/>
          <a:ln/>
        </p:spPr>
        <p:txBody>
          <a:bodyPr wrap="square" lIns="0" tIns="0" rIns="0" bIns="0" rtlCol="0" anchor="ctr"/>
          <a:lstStyle/>
          <a:p>
            <a:pPr indent="0" marL="0">
              <a:lnSpc>
                <a:spcPct val="120000"/>
              </a:lnSpc>
              <a:buNone/>
            </a:pPr>
            <a:r>
              <a:rPr lang="en-US" sz="1020" dirty="0">
                <a:solidFill>
                  <a:srgbClr val="3D4E60"/>
                </a:solidFill>
                <a:latin typeface="Meiryo" pitchFamily="34" charset="0"/>
                <a:ea typeface="Meiryo" pitchFamily="34" charset="-122"/>
                <a:cs typeface="Meiryo" pitchFamily="34" charset="-120"/>
              </a:rPr>
              <a:t>中野は3分の1超を確保できますが、夢展望が安いほどあどばる側が50%を超え、東証の実質的存続性の審査（裏口上場の扱い）にかかる可能性が高まります。合算の営業利益は1.7〜2.7億円で、スマサポ案の4.3億円に届きません。</a:t>
            </a:r>
            <a:endParaRPr lang="en-US" sz="102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E2A38"/>
        </a:solidFill>
      </p:bgPr>
    </p:bg>
    <p:spTree>
      <p:nvGrpSpPr>
        <p:cNvPr id="1" name=""/>
        <p:cNvGrpSpPr/>
        <p:nvPr/>
      </p:nvGrpSpPr>
      <p:grpSpPr>
        <a:xfrm>
          <a:off x="0" y="0"/>
          <a:ext cx="0" cy="0"/>
          <a:chOff x="0" y="0"/>
          <a:chExt cx="0" cy="0"/>
        </a:xfrm>
      </p:grpSpPr>
      <p:sp>
        <p:nvSpPr>
          <p:cNvPr id="2" name="Text 0"/>
          <p:cNvSpPr txBox="1"/>
          <p:nvPr/>
        </p:nvSpPr>
        <p:spPr>
          <a:xfrm>
            <a:off x="640080" y="384048"/>
            <a:ext cx="10881360" cy="256032"/>
          </a:xfrm>
          <a:prstGeom prst="rect">
            <a:avLst/>
          </a:prstGeom>
          <a:noFill/>
          <a:ln/>
        </p:spPr>
        <p:txBody>
          <a:bodyPr wrap="square" lIns="0" tIns="0" rIns="0" bIns="0" rtlCol="0" anchor="ctr"/>
          <a:lstStyle/>
          <a:p>
            <a:pPr indent="0" marL="0">
              <a:buNone/>
            </a:pPr>
            <a:r>
              <a:rPr lang="en-US" sz="1100" b="1" spc="200" kern="0" dirty="0">
                <a:solidFill>
                  <a:srgbClr val="A85C6E"/>
                </a:solidFill>
                <a:latin typeface="Meiryo" pitchFamily="34" charset="0"/>
                <a:ea typeface="Meiryo" pitchFamily="34" charset="-122"/>
                <a:cs typeface="Meiryo" pitchFamily="34" charset="-120"/>
              </a:rPr>
              <a:t>シナジー</a:t>
            </a:r>
            <a:endParaRPr lang="en-US" sz="1100" dirty="0"/>
          </a:p>
        </p:txBody>
      </p:sp>
      <p:sp>
        <p:nvSpPr>
          <p:cNvPr id="3" name="Text 1"/>
          <p:cNvSpPr txBox="1"/>
          <p:nvPr/>
        </p:nvSpPr>
        <p:spPr>
          <a:xfrm>
            <a:off x="640080" y="676656"/>
            <a:ext cx="10881360" cy="658368"/>
          </a:xfrm>
          <a:prstGeom prst="rect">
            <a:avLst/>
          </a:prstGeom>
          <a:noFill/>
          <a:ln/>
        </p:spPr>
        <p:txBody>
          <a:bodyPr wrap="square" lIns="0" tIns="0" rIns="0" bIns="0" rtlCol="0" anchor="ctr"/>
          <a:lstStyle/>
          <a:p>
            <a:pPr indent="0" marL="0">
              <a:buNone/>
            </a:pPr>
            <a:r>
              <a:rPr lang="en-US" sz="2800" b="1" dirty="0">
                <a:solidFill>
                  <a:srgbClr val="FFFFFF"/>
                </a:solidFill>
                <a:latin typeface="Meiryo" pitchFamily="34" charset="0"/>
                <a:ea typeface="Meiryo" pitchFamily="34" charset="-122"/>
                <a:cs typeface="Meiryo" pitchFamily="34" charset="-120"/>
              </a:rPr>
              <a:t>面談で出た打ち手と、あどばるが持ち込めるもの</a:t>
            </a:r>
            <a:endParaRPr lang="en-US" sz="2800" dirty="0"/>
          </a:p>
        </p:txBody>
      </p:sp>
      <p:sp>
        <p:nvSpPr>
          <p:cNvPr id="4" name="Shape 2"/>
          <p:cNvSpPr/>
          <p:nvPr/>
        </p:nvSpPr>
        <p:spPr>
          <a:xfrm>
            <a:off x="640080" y="1645920"/>
            <a:ext cx="3520440" cy="2057400"/>
          </a:xfrm>
          <a:prstGeom prst="roundRect">
            <a:avLst>
              <a:gd name="adj" fmla="val 2667"/>
            </a:avLst>
          </a:prstGeom>
          <a:solidFill>
            <a:srgbClr val="26333F"/>
          </a:solidFill>
          <a:ln w="25400">
            <a:solidFill>
              <a:srgbClr val="6E2639"/>
            </a:solidFill>
            <a:prstDash val="solid"/>
          </a:ln>
        </p:spPr>
      </p:sp>
      <p:sp>
        <p:nvSpPr>
          <p:cNvPr id="5" name="Text 3"/>
          <p:cNvSpPr txBox="1"/>
          <p:nvPr/>
        </p:nvSpPr>
        <p:spPr>
          <a:xfrm>
            <a:off x="868680" y="1828800"/>
            <a:ext cx="914400" cy="237744"/>
          </a:xfrm>
          <a:prstGeom prst="rect">
            <a:avLst/>
          </a:prstGeom>
          <a:noFill/>
          <a:ln/>
        </p:spPr>
        <p:txBody>
          <a:bodyPr wrap="square" lIns="0" tIns="0" rIns="0" bIns="0" rtlCol="0" anchor="ctr"/>
          <a:lstStyle/>
          <a:p>
            <a:pPr indent="0" marL="0">
              <a:buNone/>
            </a:pPr>
            <a:r>
              <a:rPr lang="en-US" sz="1000" b="1" dirty="0">
                <a:solidFill>
                  <a:srgbClr val="A85C6E"/>
                </a:solidFill>
                <a:latin typeface="Meiryo" pitchFamily="34" charset="0"/>
                <a:ea typeface="Meiryo" pitchFamily="34" charset="-122"/>
                <a:cs typeface="Meiryo" pitchFamily="34" charset="-120"/>
              </a:rPr>
              <a:t>再建</a:t>
            </a:r>
            <a:endParaRPr lang="en-US" sz="1000" dirty="0"/>
          </a:p>
        </p:txBody>
      </p:sp>
      <p:sp>
        <p:nvSpPr>
          <p:cNvPr id="6" name="Text 4"/>
          <p:cNvSpPr txBox="1"/>
          <p:nvPr/>
        </p:nvSpPr>
        <p:spPr>
          <a:xfrm>
            <a:off x="1920240" y="1828800"/>
            <a:ext cx="2011680" cy="237744"/>
          </a:xfrm>
          <a:prstGeom prst="rect">
            <a:avLst/>
          </a:prstGeom>
          <a:noFill/>
          <a:ln/>
        </p:spPr>
        <p:txBody>
          <a:bodyPr wrap="square" lIns="0" tIns="0" rIns="0" bIns="0" rtlCol="0" anchor="ctr"/>
          <a:lstStyle/>
          <a:p>
            <a:pPr algn="r" indent="0" marL="0">
              <a:buNone/>
            </a:pPr>
            <a:r>
              <a:rPr lang="en-US" sz="950" b="1" dirty="0">
                <a:solidFill>
                  <a:srgbClr val="E8B96B"/>
                </a:solidFill>
                <a:latin typeface="Meiryo" pitchFamily="34" charset="0"/>
                <a:ea typeface="Meiryo" pitchFamily="34" charset="-122"/>
                <a:cs typeface="Meiryo" pitchFamily="34" charset="-120"/>
              </a:rPr>
              <a:t>販管費0.5〜1億円</a:t>
            </a:r>
            <a:endParaRPr lang="en-US" sz="950" dirty="0"/>
          </a:p>
        </p:txBody>
      </p:sp>
      <p:sp>
        <p:nvSpPr>
          <p:cNvPr id="7" name="Text 5"/>
          <p:cNvSpPr txBox="1"/>
          <p:nvPr/>
        </p:nvSpPr>
        <p:spPr>
          <a:xfrm>
            <a:off x="868680" y="2103120"/>
            <a:ext cx="3063240" cy="310896"/>
          </a:xfrm>
          <a:prstGeom prst="rect">
            <a:avLst/>
          </a:prstGeom>
          <a:noFill/>
          <a:ln/>
        </p:spPr>
        <p:txBody>
          <a:bodyPr wrap="square" lIns="0" tIns="0" rIns="0" bIns="0" rtlCol="0" anchor="ctr"/>
          <a:lstStyle/>
          <a:p>
            <a:pPr indent="0" marL="0">
              <a:buNone/>
            </a:pPr>
            <a:r>
              <a:rPr lang="en-US" sz="1250" b="1" dirty="0">
                <a:solidFill>
                  <a:srgbClr val="FFFFFF"/>
                </a:solidFill>
                <a:latin typeface="Meiryo" pitchFamily="34" charset="0"/>
                <a:ea typeface="Meiryo" pitchFamily="34" charset="-122"/>
                <a:cs typeface="Meiryo" pitchFamily="34" charset="-120"/>
              </a:rPr>
              <a:t>店舗の解約・集約</a:t>
            </a:r>
            <a:endParaRPr lang="en-US" sz="1250" dirty="0"/>
          </a:p>
        </p:txBody>
      </p:sp>
      <p:sp>
        <p:nvSpPr>
          <p:cNvPr id="8" name="Text 6"/>
          <p:cNvSpPr txBox="1"/>
          <p:nvPr/>
        </p:nvSpPr>
        <p:spPr>
          <a:xfrm>
            <a:off x="868680" y="2487168"/>
            <a:ext cx="3063240" cy="1143000"/>
          </a:xfrm>
          <a:prstGeom prst="rect">
            <a:avLst/>
          </a:prstGeom>
          <a:noFill/>
          <a:ln/>
        </p:spPr>
        <p:txBody>
          <a:bodyPr wrap="square" lIns="0" tIns="0" rIns="0" bIns="0" rtlCol="0" anchor="ctr"/>
          <a:lstStyle/>
          <a:p>
            <a:pPr indent="0" marL="0">
              <a:lnSpc>
                <a:spcPct val="120000"/>
              </a:lnSpc>
              <a:buNone/>
            </a:pPr>
            <a:r>
              <a:rPr lang="en-US" sz="950" dirty="0">
                <a:solidFill>
                  <a:srgbClr val="A8B5C0"/>
                </a:solidFill>
                <a:latin typeface="Meiryo" pitchFamily="34" charset="0"/>
                <a:ea typeface="Meiryo" pitchFamily="34" charset="-122"/>
                <a:cs typeface="Meiryo" pitchFamily="34" charset="-120"/>
              </a:rPr>
              <a:t>各地の店舗に地域ごとの費用がかかっています。創業以来のしがらみがない第三者のほうが、解約や集約を進めやすいとの指摘でした。</a:t>
            </a:r>
            <a:endParaRPr lang="en-US" sz="950" dirty="0"/>
          </a:p>
        </p:txBody>
      </p:sp>
      <p:sp>
        <p:nvSpPr>
          <p:cNvPr id="9" name="Shape 7"/>
          <p:cNvSpPr/>
          <p:nvPr/>
        </p:nvSpPr>
        <p:spPr>
          <a:xfrm>
            <a:off x="4297680" y="1645920"/>
            <a:ext cx="3520440" cy="2057400"/>
          </a:xfrm>
          <a:prstGeom prst="roundRect">
            <a:avLst>
              <a:gd name="adj" fmla="val 2667"/>
            </a:avLst>
          </a:prstGeom>
          <a:solidFill>
            <a:srgbClr val="26333F"/>
          </a:solidFill>
          <a:ln w="25400">
            <a:solidFill>
              <a:srgbClr val="6E2639"/>
            </a:solidFill>
            <a:prstDash val="solid"/>
          </a:ln>
        </p:spPr>
      </p:sp>
      <p:sp>
        <p:nvSpPr>
          <p:cNvPr id="10" name="Text 8"/>
          <p:cNvSpPr txBox="1"/>
          <p:nvPr/>
        </p:nvSpPr>
        <p:spPr>
          <a:xfrm>
            <a:off x="4526280" y="1828800"/>
            <a:ext cx="914400" cy="237744"/>
          </a:xfrm>
          <a:prstGeom prst="rect">
            <a:avLst/>
          </a:prstGeom>
          <a:noFill/>
          <a:ln/>
        </p:spPr>
        <p:txBody>
          <a:bodyPr wrap="square" lIns="0" tIns="0" rIns="0" bIns="0" rtlCol="0" anchor="ctr"/>
          <a:lstStyle/>
          <a:p>
            <a:pPr indent="0" marL="0">
              <a:buNone/>
            </a:pPr>
            <a:r>
              <a:rPr lang="en-US" sz="1000" b="1" dirty="0">
                <a:solidFill>
                  <a:srgbClr val="A85C6E"/>
                </a:solidFill>
                <a:latin typeface="Meiryo" pitchFamily="34" charset="0"/>
                <a:ea typeface="Meiryo" pitchFamily="34" charset="-122"/>
                <a:cs typeface="Meiryo" pitchFamily="34" charset="-120"/>
              </a:rPr>
              <a:t>事業</a:t>
            </a:r>
            <a:endParaRPr lang="en-US" sz="1000" dirty="0"/>
          </a:p>
        </p:txBody>
      </p:sp>
      <p:sp>
        <p:nvSpPr>
          <p:cNvPr id="11" name="Text 9"/>
          <p:cNvSpPr txBox="1"/>
          <p:nvPr/>
        </p:nvSpPr>
        <p:spPr>
          <a:xfrm>
            <a:off x="5577840" y="1828800"/>
            <a:ext cx="2011680" cy="237744"/>
          </a:xfrm>
          <a:prstGeom prst="rect">
            <a:avLst/>
          </a:prstGeom>
          <a:noFill/>
          <a:ln/>
        </p:spPr>
        <p:txBody>
          <a:bodyPr wrap="square" lIns="0" tIns="0" rIns="0" bIns="0" rtlCol="0" anchor="ctr"/>
          <a:lstStyle/>
          <a:p>
            <a:pPr algn="r" indent="0" marL="0">
              <a:buNone/>
            </a:pPr>
            <a:r>
              <a:rPr lang="en-US" sz="950" b="1" dirty="0">
                <a:solidFill>
                  <a:srgbClr val="E8B96B"/>
                </a:solidFill>
                <a:latin typeface="Meiryo" pitchFamily="34" charset="0"/>
                <a:ea typeface="Meiryo" pitchFamily="34" charset="-122"/>
                <a:cs typeface="Meiryo" pitchFamily="34" charset="-120"/>
              </a:rPr>
              <a:t>売上の上積み</a:t>
            </a:r>
            <a:endParaRPr lang="en-US" sz="950" dirty="0"/>
          </a:p>
        </p:txBody>
      </p:sp>
      <p:sp>
        <p:nvSpPr>
          <p:cNvPr id="12" name="Text 10"/>
          <p:cNvSpPr txBox="1"/>
          <p:nvPr/>
        </p:nvSpPr>
        <p:spPr>
          <a:xfrm>
            <a:off x="4526280" y="2103120"/>
            <a:ext cx="3063240" cy="310896"/>
          </a:xfrm>
          <a:prstGeom prst="rect">
            <a:avLst/>
          </a:prstGeom>
          <a:noFill/>
          <a:ln/>
        </p:spPr>
        <p:txBody>
          <a:bodyPr wrap="square" lIns="0" tIns="0" rIns="0" bIns="0" rtlCol="0" anchor="ctr"/>
          <a:lstStyle/>
          <a:p>
            <a:pPr indent="0" marL="0">
              <a:buNone/>
            </a:pPr>
            <a:r>
              <a:rPr lang="en-US" sz="1250" b="1" dirty="0">
                <a:solidFill>
                  <a:srgbClr val="FFFFFF"/>
                </a:solidFill>
                <a:latin typeface="Meiryo" pitchFamily="34" charset="0"/>
                <a:ea typeface="Meiryo" pitchFamily="34" charset="-122"/>
                <a:cs typeface="Meiryo" pitchFamily="34" charset="-120"/>
              </a:rPr>
              <a:t>IPコラボの拡大</a:t>
            </a:r>
            <a:endParaRPr lang="en-US" sz="1250" dirty="0"/>
          </a:p>
        </p:txBody>
      </p:sp>
      <p:sp>
        <p:nvSpPr>
          <p:cNvPr id="13" name="Text 11"/>
          <p:cNvSpPr txBox="1"/>
          <p:nvPr/>
        </p:nvSpPr>
        <p:spPr>
          <a:xfrm>
            <a:off x="4526280" y="2487168"/>
            <a:ext cx="3063240" cy="1143000"/>
          </a:xfrm>
          <a:prstGeom prst="rect">
            <a:avLst/>
          </a:prstGeom>
          <a:noFill/>
          <a:ln/>
        </p:spPr>
        <p:txBody>
          <a:bodyPr wrap="square" lIns="0" tIns="0" rIns="0" bIns="0" rtlCol="0" anchor="ctr"/>
          <a:lstStyle/>
          <a:p>
            <a:pPr indent="0" marL="0">
              <a:lnSpc>
                <a:spcPct val="120000"/>
              </a:lnSpc>
              <a:buNone/>
            </a:pPr>
            <a:r>
              <a:rPr lang="en-US" sz="950" dirty="0">
                <a:solidFill>
                  <a:srgbClr val="A8B5C0"/>
                </a:solidFill>
                <a:latin typeface="Meiryo" pitchFamily="34" charset="0"/>
                <a:ea typeface="Meiryo" pitchFamily="34" charset="-122"/>
                <a:cs typeface="Meiryo" pitchFamily="34" charset="-120"/>
              </a:rPr>
              <a:t>10〜30代女性の顧客層に、VTuberやアイドルとのコラボ商品を当てる。唯一黒字のトイ事業と同じ型です。海外にも販路があります。</a:t>
            </a:r>
            <a:endParaRPr lang="en-US" sz="950" dirty="0"/>
          </a:p>
        </p:txBody>
      </p:sp>
      <p:sp>
        <p:nvSpPr>
          <p:cNvPr id="14" name="Shape 12"/>
          <p:cNvSpPr/>
          <p:nvPr/>
        </p:nvSpPr>
        <p:spPr>
          <a:xfrm>
            <a:off x="7955280" y="1645920"/>
            <a:ext cx="3520440" cy="2057400"/>
          </a:xfrm>
          <a:prstGeom prst="roundRect">
            <a:avLst>
              <a:gd name="adj" fmla="val 2667"/>
            </a:avLst>
          </a:prstGeom>
          <a:solidFill>
            <a:srgbClr val="26333F"/>
          </a:solidFill>
          <a:ln w="12700">
            <a:solidFill>
              <a:srgbClr val="3A4854"/>
            </a:solidFill>
            <a:prstDash val="solid"/>
          </a:ln>
        </p:spPr>
      </p:sp>
      <p:sp>
        <p:nvSpPr>
          <p:cNvPr id="15" name="Text 13"/>
          <p:cNvSpPr txBox="1"/>
          <p:nvPr/>
        </p:nvSpPr>
        <p:spPr>
          <a:xfrm>
            <a:off x="8183880" y="1828800"/>
            <a:ext cx="914400" cy="237744"/>
          </a:xfrm>
          <a:prstGeom prst="rect">
            <a:avLst/>
          </a:prstGeom>
          <a:noFill/>
          <a:ln/>
        </p:spPr>
        <p:txBody>
          <a:bodyPr wrap="square" lIns="0" tIns="0" rIns="0" bIns="0" rtlCol="0" anchor="ctr"/>
          <a:lstStyle/>
          <a:p>
            <a:pPr indent="0" marL="0">
              <a:buNone/>
            </a:pPr>
            <a:r>
              <a:rPr lang="en-US" sz="1000" b="1" dirty="0">
                <a:solidFill>
                  <a:srgbClr val="A85C6E"/>
                </a:solidFill>
                <a:latin typeface="Meiryo" pitchFamily="34" charset="0"/>
                <a:ea typeface="Meiryo" pitchFamily="34" charset="-122"/>
                <a:cs typeface="Meiryo" pitchFamily="34" charset="-120"/>
              </a:rPr>
              <a:t>事業</a:t>
            </a:r>
            <a:endParaRPr lang="en-US" sz="1000" dirty="0"/>
          </a:p>
        </p:txBody>
      </p:sp>
      <p:sp>
        <p:nvSpPr>
          <p:cNvPr id="16" name="Text 14"/>
          <p:cNvSpPr txBox="1"/>
          <p:nvPr/>
        </p:nvSpPr>
        <p:spPr>
          <a:xfrm>
            <a:off x="9235440" y="1828800"/>
            <a:ext cx="2011680" cy="237744"/>
          </a:xfrm>
          <a:prstGeom prst="rect">
            <a:avLst/>
          </a:prstGeom>
          <a:noFill/>
          <a:ln/>
        </p:spPr>
        <p:txBody>
          <a:bodyPr wrap="square" lIns="0" tIns="0" rIns="0" bIns="0" rtlCol="0" anchor="ctr"/>
          <a:lstStyle/>
          <a:p>
            <a:pPr algn="r" indent="0" marL="0">
              <a:buNone/>
            </a:pPr>
            <a:r>
              <a:rPr lang="en-US" sz="950" b="1" dirty="0">
                <a:solidFill>
                  <a:srgbClr val="E8B96B"/>
                </a:solidFill>
                <a:latin typeface="Meiryo" pitchFamily="34" charset="0"/>
                <a:ea typeface="Meiryo" pitchFamily="34" charset="-122"/>
                <a:cs typeface="Meiryo" pitchFamily="34" charset="-120"/>
              </a:rPr>
              <a:t>小〜中</a:t>
            </a:r>
            <a:endParaRPr lang="en-US" sz="950" dirty="0"/>
          </a:p>
        </p:txBody>
      </p:sp>
      <p:sp>
        <p:nvSpPr>
          <p:cNvPr id="17" name="Text 15"/>
          <p:cNvSpPr txBox="1"/>
          <p:nvPr/>
        </p:nvSpPr>
        <p:spPr>
          <a:xfrm>
            <a:off x="8183880" y="2103120"/>
            <a:ext cx="3063240" cy="310896"/>
          </a:xfrm>
          <a:prstGeom prst="rect">
            <a:avLst/>
          </a:prstGeom>
          <a:noFill/>
          <a:ln/>
        </p:spPr>
        <p:txBody>
          <a:bodyPr wrap="square" lIns="0" tIns="0" rIns="0" bIns="0" rtlCol="0" anchor="ctr"/>
          <a:lstStyle/>
          <a:p>
            <a:pPr indent="0" marL="0">
              <a:buNone/>
            </a:pPr>
            <a:r>
              <a:rPr lang="en-US" sz="1250" b="1" dirty="0">
                <a:solidFill>
                  <a:srgbClr val="FFFFFF"/>
                </a:solidFill>
                <a:latin typeface="Meiryo" pitchFamily="34" charset="0"/>
                <a:ea typeface="Meiryo" pitchFamily="34" charset="-122"/>
                <a:cs typeface="Meiryo" pitchFamily="34" charset="-120"/>
              </a:rPr>
              <a:t>あどばるのスペースでの体験</a:t>
            </a:r>
            <a:endParaRPr lang="en-US" sz="1250" dirty="0"/>
          </a:p>
        </p:txBody>
      </p:sp>
      <p:sp>
        <p:nvSpPr>
          <p:cNvPr id="18" name="Text 16"/>
          <p:cNvSpPr txBox="1"/>
          <p:nvPr/>
        </p:nvSpPr>
        <p:spPr>
          <a:xfrm>
            <a:off x="8183880" y="2487168"/>
            <a:ext cx="3063240" cy="1143000"/>
          </a:xfrm>
          <a:prstGeom prst="rect">
            <a:avLst/>
          </a:prstGeom>
          <a:noFill/>
          <a:ln/>
        </p:spPr>
        <p:txBody>
          <a:bodyPr wrap="square" lIns="0" tIns="0" rIns="0" bIns="0" rtlCol="0" anchor="ctr"/>
          <a:lstStyle/>
          <a:p>
            <a:pPr indent="0" marL="0">
              <a:lnSpc>
                <a:spcPct val="120000"/>
              </a:lnSpc>
              <a:buNone/>
            </a:pPr>
            <a:r>
              <a:rPr lang="en-US" sz="950" dirty="0">
                <a:solidFill>
                  <a:srgbClr val="A8B5C0"/>
                </a:solidFill>
                <a:latin typeface="Meiryo" pitchFamily="34" charset="0"/>
                <a:ea typeface="Meiryo" pitchFamily="34" charset="-122"/>
                <a:cs typeface="Meiryo" pitchFamily="34" charset="-120"/>
              </a:rPr>
              <a:t>コラボカフェやポップアップを自社スペースで開けます。トレセンテの顧客にはプロポーズや二次会の会場を案内できます。</a:t>
            </a:r>
            <a:endParaRPr lang="en-US" sz="950" dirty="0"/>
          </a:p>
        </p:txBody>
      </p:sp>
      <p:sp>
        <p:nvSpPr>
          <p:cNvPr id="19" name="Shape 17"/>
          <p:cNvSpPr/>
          <p:nvPr/>
        </p:nvSpPr>
        <p:spPr>
          <a:xfrm>
            <a:off x="640080" y="3886200"/>
            <a:ext cx="3520440" cy="2057400"/>
          </a:xfrm>
          <a:prstGeom prst="roundRect">
            <a:avLst>
              <a:gd name="adj" fmla="val 2667"/>
            </a:avLst>
          </a:prstGeom>
          <a:solidFill>
            <a:srgbClr val="26333F"/>
          </a:solidFill>
          <a:ln w="12700">
            <a:solidFill>
              <a:srgbClr val="3A4854"/>
            </a:solidFill>
            <a:prstDash val="solid"/>
          </a:ln>
        </p:spPr>
      </p:sp>
      <p:sp>
        <p:nvSpPr>
          <p:cNvPr id="20" name="Text 18"/>
          <p:cNvSpPr txBox="1"/>
          <p:nvPr/>
        </p:nvSpPr>
        <p:spPr>
          <a:xfrm>
            <a:off x="868680" y="4069080"/>
            <a:ext cx="914400" cy="237744"/>
          </a:xfrm>
          <a:prstGeom prst="rect">
            <a:avLst/>
          </a:prstGeom>
          <a:noFill/>
          <a:ln/>
        </p:spPr>
        <p:txBody>
          <a:bodyPr wrap="square" lIns="0" tIns="0" rIns="0" bIns="0" rtlCol="0" anchor="ctr"/>
          <a:lstStyle/>
          <a:p>
            <a:pPr indent="0" marL="0">
              <a:buNone/>
            </a:pPr>
            <a:r>
              <a:rPr lang="en-US" sz="1000" b="1" dirty="0">
                <a:solidFill>
                  <a:srgbClr val="A85C6E"/>
                </a:solidFill>
                <a:latin typeface="Meiryo" pitchFamily="34" charset="0"/>
                <a:ea typeface="Meiryo" pitchFamily="34" charset="-122"/>
                <a:cs typeface="Meiryo" pitchFamily="34" charset="-120"/>
              </a:rPr>
              <a:t>税務</a:t>
            </a:r>
            <a:endParaRPr lang="en-US" sz="1000" dirty="0"/>
          </a:p>
        </p:txBody>
      </p:sp>
      <p:sp>
        <p:nvSpPr>
          <p:cNvPr id="21" name="Text 19"/>
          <p:cNvSpPr txBox="1"/>
          <p:nvPr/>
        </p:nvSpPr>
        <p:spPr>
          <a:xfrm>
            <a:off x="1920240" y="4069080"/>
            <a:ext cx="2011680" cy="237744"/>
          </a:xfrm>
          <a:prstGeom prst="rect">
            <a:avLst/>
          </a:prstGeom>
          <a:noFill/>
          <a:ln/>
        </p:spPr>
        <p:txBody>
          <a:bodyPr wrap="square" lIns="0" tIns="0" rIns="0" bIns="0" rtlCol="0" anchor="ctr"/>
          <a:lstStyle/>
          <a:p>
            <a:pPr algn="r" indent="0" marL="0">
              <a:buNone/>
            </a:pPr>
            <a:r>
              <a:rPr lang="en-US" sz="950" b="1" dirty="0">
                <a:solidFill>
                  <a:srgbClr val="E8B96B"/>
                </a:solidFill>
                <a:latin typeface="Meiryo" pitchFamily="34" charset="0"/>
                <a:ea typeface="Meiryo" pitchFamily="34" charset="-122"/>
                <a:cs typeface="Meiryo" pitchFamily="34" charset="-120"/>
              </a:rPr>
              <a:t>残高次第</a:t>
            </a:r>
            <a:endParaRPr lang="en-US" sz="950" dirty="0"/>
          </a:p>
        </p:txBody>
      </p:sp>
      <p:sp>
        <p:nvSpPr>
          <p:cNvPr id="22" name="Text 20"/>
          <p:cNvSpPr txBox="1"/>
          <p:nvPr/>
        </p:nvSpPr>
        <p:spPr>
          <a:xfrm>
            <a:off x="868680" y="4343400"/>
            <a:ext cx="3063240" cy="310896"/>
          </a:xfrm>
          <a:prstGeom prst="rect">
            <a:avLst/>
          </a:prstGeom>
          <a:noFill/>
          <a:ln/>
        </p:spPr>
        <p:txBody>
          <a:bodyPr wrap="square" lIns="0" tIns="0" rIns="0" bIns="0" rtlCol="0" anchor="ctr"/>
          <a:lstStyle/>
          <a:p>
            <a:pPr indent="0" marL="0">
              <a:buNone/>
            </a:pPr>
            <a:r>
              <a:rPr lang="en-US" sz="1250" b="1" dirty="0">
                <a:solidFill>
                  <a:srgbClr val="FFFFFF"/>
                </a:solidFill>
                <a:latin typeface="Meiryo" pitchFamily="34" charset="0"/>
                <a:ea typeface="Meiryo" pitchFamily="34" charset="-122"/>
                <a:cs typeface="Meiryo" pitchFamily="34" charset="-120"/>
              </a:rPr>
              <a:t>繰越欠損金</a:t>
            </a:r>
            <a:endParaRPr lang="en-US" sz="1250" dirty="0"/>
          </a:p>
        </p:txBody>
      </p:sp>
      <p:sp>
        <p:nvSpPr>
          <p:cNvPr id="23" name="Text 21"/>
          <p:cNvSpPr txBox="1"/>
          <p:nvPr/>
        </p:nvSpPr>
        <p:spPr>
          <a:xfrm>
            <a:off x="868680" y="4727448"/>
            <a:ext cx="3063240" cy="1143000"/>
          </a:xfrm>
          <a:prstGeom prst="rect">
            <a:avLst/>
          </a:prstGeom>
          <a:noFill/>
          <a:ln/>
        </p:spPr>
        <p:txBody>
          <a:bodyPr wrap="square" lIns="0" tIns="0" rIns="0" bIns="0" rtlCol="0" anchor="ctr"/>
          <a:lstStyle/>
          <a:p>
            <a:pPr indent="0" marL="0">
              <a:lnSpc>
                <a:spcPct val="120000"/>
              </a:lnSpc>
              <a:buNone/>
            </a:pPr>
            <a:r>
              <a:rPr lang="en-US" sz="950" dirty="0">
                <a:solidFill>
                  <a:srgbClr val="A8B5C0"/>
                </a:solidFill>
                <a:latin typeface="Meiryo" pitchFamily="34" charset="0"/>
                <a:ea typeface="Meiryo" pitchFamily="34" charset="-122"/>
                <a:cs typeface="Meiryo" pitchFamily="34" charset="-120"/>
              </a:rPr>
              <a:t>8億円の放棄で使った後に残る欠損金で、再建後の利益や合併後のあどばる事業の利益を相殺できる可能性があります。</a:t>
            </a:r>
            <a:endParaRPr lang="en-US" sz="950" dirty="0"/>
          </a:p>
        </p:txBody>
      </p:sp>
      <p:sp>
        <p:nvSpPr>
          <p:cNvPr id="24" name="Shape 22"/>
          <p:cNvSpPr/>
          <p:nvPr/>
        </p:nvSpPr>
        <p:spPr>
          <a:xfrm>
            <a:off x="4297680" y="3886200"/>
            <a:ext cx="3520440" cy="2057400"/>
          </a:xfrm>
          <a:prstGeom prst="roundRect">
            <a:avLst>
              <a:gd name="adj" fmla="val 2667"/>
            </a:avLst>
          </a:prstGeom>
          <a:solidFill>
            <a:srgbClr val="26333F"/>
          </a:solidFill>
          <a:ln w="12700">
            <a:solidFill>
              <a:srgbClr val="3A4854"/>
            </a:solidFill>
            <a:prstDash val="solid"/>
          </a:ln>
        </p:spPr>
      </p:sp>
      <p:sp>
        <p:nvSpPr>
          <p:cNvPr id="25" name="Text 23"/>
          <p:cNvSpPr txBox="1"/>
          <p:nvPr/>
        </p:nvSpPr>
        <p:spPr>
          <a:xfrm>
            <a:off x="4526280" y="4069080"/>
            <a:ext cx="914400" cy="237744"/>
          </a:xfrm>
          <a:prstGeom prst="rect">
            <a:avLst/>
          </a:prstGeom>
          <a:noFill/>
          <a:ln/>
        </p:spPr>
        <p:txBody>
          <a:bodyPr wrap="square" lIns="0" tIns="0" rIns="0" bIns="0" rtlCol="0" anchor="ctr"/>
          <a:lstStyle/>
          <a:p>
            <a:pPr indent="0" marL="0">
              <a:buNone/>
            </a:pPr>
            <a:r>
              <a:rPr lang="en-US" sz="1000" b="1" dirty="0">
                <a:solidFill>
                  <a:srgbClr val="A85C6E"/>
                </a:solidFill>
                <a:latin typeface="Meiryo" pitchFamily="34" charset="0"/>
                <a:ea typeface="Meiryo" pitchFamily="34" charset="-122"/>
                <a:cs typeface="Meiryo" pitchFamily="34" charset="-120"/>
              </a:rPr>
              <a:t>会計</a:t>
            </a:r>
            <a:endParaRPr lang="en-US" sz="1000" dirty="0"/>
          </a:p>
        </p:txBody>
      </p:sp>
      <p:sp>
        <p:nvSpPr>
          <p:cNvPr id="26" name="Text 24"/>
          <p:cNvSpPr txBox="1"/>
          <p:nvPr/>
        </p:nvSpPr>
        <p:spPr>
          <a:xfrm>
            <a:off x="5577840" y="4069080"/>
            <a:ext cx="2011680" cy="237744"/>
          </a:xfrm>
          <a:prstGeom prst="rect">
            <a:avLst/>
          </a:prstGeom>
          <a:noFill/>
          <a:ln/>
        </p:spPr>
        <p:txBody>
          <a:bodyPr wrap="square" lIns="0" tIns="0" rIns="0" bIns="0" rtlCol="0" anchor="ctr"/>
          <a:lstStyle/>
          <a:p>
            <a:pPr algn="r" indent="0" marL="0">
              <a:buNone/>
            </a:pPr>
            <a:r>
              <a:rPr lang="en-US" sz="950" b="1" dirty="0">
                <a:solidFill>
                  <a:srgbClr val="E8B96B"/>
                </a:solidFill>
                <a:latin typeface="Meiryo" pitchFamily="34" charset="0"/>
                <a:ea typeface="Meiryo" pitchFamily="34" charset="-122"/>
                <a:cs typeface="Meiryo" pitchFamily="34" charset="-120"/>
              </a:rPr>
              <a:t>中</a:t>
            </a:r>
            <a:endParaRPr lang="en-US" sz="950" dirty="0"/>
          </a:p>
        </p:txBody>
      </p:sp>
      <p:sp>
        <p:nvSpPr>
          <p:cNvPr id="27" name="Text 25"/>
          <p:cNvSpPr txBox="1"/>
          <p:nvPr/>
        </p:nvSpPr>
        <p:spPr>
          <a:xfrm>
            <a:off x="4526280" y="4343400"/>
            <a:ext cx="3063240" cy="310896"/>
          </a:xfrm>
          <a:prstGeom prst="rect">
            <a:avLst/>
          </a:prstGeom>
          <a:noFill/>
          <a:ln/>
        </p:spPr>
        <p:txBody>
          <a:bodyPr wrap="square" lIns="0" tIns="0" rIns="0" bIns="0" rtlCol="0" anchor="ctr"/>
          <a:lstStyle/>
          <a:p>
            <a:pPr indent="0" marL="0">
              <a:buNone/>
            </a:pPr>
            <a:r>
              <a:rPr lang="en-US" sz="1250" b="1" dirty="0">
                <a:solidFill>
                  <a:srgbClr val="FFFFFF"/>
                </a:solidFill>
                <a:latin typeface="Meiryo" pitchFamily="34" charset="0"/>
                <a:ea typeface="Meiryo" pitchFamily="34" charset="-122"/>
                <a:cs typeface="Meiryo" pitchFamily="34" charset="-120"/>
              </a:rPr>
              <a:t>IFRS</a:t>
            </a:r>
            <a:endParaRPr lang="en-US" sz="1250" dirty="0"/>
          </a:p>
        </p:txBody>
      </p:sp>
      <p:sp>
        <p:nvSpPr>
          <p:cNvPr id="28" name="Text 26"/>
          <p:cNvSpPr txBox="1"/>
          <p:nvPr/>
        </p:nvSpPr>
        <p:spPr>
          <a:xfrm>
            <a:off x="4526280" y="4727448"/>
            <a:ext cx="3063240" cy="1143000"/>
          </a:xfrm>
          <a:prstGeom prst="rect">
            <a:avLst/>
          </a:prstGeom>
          <a:noFill/>
          <a:ln/>
        </p:spPr>
        <p:txBody>
          <a:bodyPr wrap="square" lIns="0" tIns="0" rIns="0" bIns="0" rtlCol="0" anchor="ctr"/>
          <a:lstStyle/>
          <a:p>
            <a:pPr indent="0" marL="0">
              <a:lnSpc>
                <a:spcPct val="120000"/>
              </a:lnSpc>
              <a:buNone/>
            </a:pPr>
            <a:r>
              <a:rPr lang="en-US" sz="950" dirty="0">
                <a:solidFill>
                  <a:srgbClr val="A8B5C0"/>
                </a:solidFill>
                <a:latin typeface="Meiryo" pitchFamily="34" charset="0"/>
                <a:ea typeface="Meiryo" pitchFamily="34" charset="-122"/>
                <a:cs typeface="Meiryo" pitchFamily="34" charset="-120"/>
              </a:rPr>
              <a:t>のれんを償却しないため、合併した場合もスマサポ案のような年0.88億円の償却負担がありません。</a:t>
            </a:r>
            <a:endParaRPr lang="en-US" sz="950" dirty="0"/>
          </a:p>
        </p:txBody>
      </p:sp>
      <p:sp>
        <p:nvSpPr>
          <p:cNvPr id="29" name="Shape 27"/>
          <p:cNvSpPr/>
          <p:nvPr/>
        </p:nvSpPr>
        <p:spPr>
          <a:xfrm>
            <a:off x="7955280" y="3886200"/>
            <a:ext cx="3520440" cy="2057400"/>
          </a:xfrm>
          <a:prstGeom prst="roundRect">
            <a:avLst>
              <a:gd name="adj" fmla="val 2667"/>
            </a:avLst>
          </a:prstGeom>
          <a:solidFill>
            <a:srgbClr val="26333F"/>
          </a:solidFill>
          <a:ln w="12700">
            <a:solidFill>
              <a:srgbClr val="3A4854"/>
            </a:solidFill>
            <a:prstDash val="solid"/>
          </a:ln>
        </p:spPr>
      </p:sp>
      <p:sp>
        <p:nvSpPr>
          <p:cNvPr id="30" name="Text 28"/>
          <p:cNvSpPr txBox="1"/>
          <p:nvPr/>
        </p:nvSpPr>
        <p:spPr>
          <a:xfrm>
            <a:off x="8183880" y="4069080"/>
            <a:ext cx="914400" cy="237744"/>
          </a:xfrm>
          <a:prstGeom prst="rect">
            <a:avLst/>
          </a:prstGeom>
          <a:noFill/>
          <a:ln/>
        </p:spPr>
        <p:txBody>
          <a:bodyPr wrap="square" lIns="0" tIns="0" rIns="0" bIns="0" rtlCol="0" anchor="ctr"/>
          <a:lstStyle/>
          <a:p>
            <a:pPr indent="0" marL="0">
              <a:buNone/>
            </a:pPr>
            <a:r>
              <a:rPr lang="en-US" sz="1000" b="1" dirty="0">
                <a:solidFill>
                  <a:srgbClr val="A85C6E"/>
                </a:solidFill>
                <a:latin typeface="Meiryo" pitchFamily="34" charset="0"/>
                <a:ea typeface="Meiryo" pitchFamily="34" charset="-122"/>
                <a:cs typeface="Meiryo" pitchFamily="34" charset="-120"/>
              </a:rPr>
              <a:t>財務</a:t>
            </a:r>
            <a:endParaRPr lang="en-US" sz="1000" dirty="0"/>
          </a:p>
        </p:txBody>
      </p:sp>
      <p:sp>
        <p:nvSpPr>
          <p:cNvPr id="31" name="Text 29"/>
          <p:cNvSpPr txBox="1"/>
          <p:nvPr/>
        </p:nvSpPr>
        <p:spPr>
          <a:xfrm>
            <a:off x="9235440" y="4069080"/>
            <a:ext cx="2011680" cy="237744"/>
          </a:xfrm>
          <a:prstGeom prst="rect">
            <a:avLst/>
          </a:prstGeom>
          <a:noFill/>
          <a:ln/>
        </p:spPr>
        <p:txBody>
          <a:bodyPr wrap="square" lIns="0" tIns="0" rIns="0" bIns="0" rtlCol="0" anchor="ctr"/>
          <a:lstStyle/>
          <a:p>
            <a:pPr algn="r" indent="0" marL="0">
              <a:buNone/>
            </a:pPr>
            <a:r>
              <a:rPr lang="en-US" sz="950" b="1" dirty="0">
                <a:solidFill>
                  <a:srgbClr val="E8B96B"/>
                </a:solidFill>
                <a:latin typeface="Meiryo" pitchFamily="34" charset="0"/>
                <a:ea typeface="Meiryo" pitchFamily="34" charset="-122"/>
                <a:cs typeface="Meiryo" pitchFamily="34" charset="-120"/>
              </a:rPr>
              <a:t>中</a:t>
            </a:r>
            <a:endParaRPr lang="en-US" sz="950" dirty="0"/>
          </a:p>
        </p:txBody>
      </p:sp>
      <p:sp>
        <p:nvSpPr>
          <p:cNvPr id="32" name="Text 30"/>
          <p:cNvSpPr txBox="1"/>
          <p:nvPr/>
        </p:nvSpPr>
        <p:spPr>
          <a:xfrm>
            <a:off x="8183880" y="4343400"/>
            <a:ext cx="3063240" cy="310896"/>
          </a:xfrm>
          <a:prstGeom prst="rect">
            <a:avLst/>
          </a:prstGeom>
          <a:noFill/>
          <a:ln/>
        </p:spPr>
        <p:txBody>
          <a:bodyPr wrap="square" lIns="0" tIns="0" rIns="0" bIns="0" rtlCol="0" anchor="ctr"/>
          <a:lstStyle/>
          <a:p>
            <a:pPr indent="0" marL="0">
              <a:buNone/>
            </a:pPr>
            <a:r>
              <a:rPr lang="en-US" sz="1250" b="1" dirty="0">
                <a:solidFill>
                  <a:srgbClr val="FFFFFF"/>
                </a:solidFill>
                <a:latin typeface="Meiryo" pitchFamily="34" charset="0"/>
                <a:ea typeface="Meiryo" pitchFamily="34" charset="-122"/>
                <a:cs typeface="Meiryo" pitchFamily="34" charset="-120"/>
              </a:rPr>
              <a:t>みずほ銀行との関係</a:t>
            </a:r>
            <a:endParaRPr lang="en-US" sz="1250" dirty="0"/>
          </a:p>
        </p:txBody>
      </p:sp>
      <p:sp>
        <p:nvSpPr>
          <p:cNvPr id="33" name="Text 31"/>
          <p:cNvSpPr txBox="1"/>
          <p:nvPr/>
        </p:nvSpPr>
        <p:spPr>
          <a:xfrm>
            <a:off x="8183880" y="4727448"/>
            <a:ext cx="3063240" cy="1143000"/>
          </a:xfrm>
          <a:prstGeom prst="rect">
            <a:avLst/>
          </a:prstGeom>
          <a:noFill/>
          <a:ln/>
        </p:spPr>
        <p:txBody>
          <a:bodyPr wrap="square" lIns="0" tIns="0" rIns="0" bIns="0" rtlCol="0" anchor="ctr"/>
          <a:lstStyle/>
          <a:p>
            <a:pPr indent="0" marL="0">
              <a:lnSpc>
                <a:spcPct val="120000"/>
              </a:lnSpc>
              <a:buNone/>
            </a:pPr>
            <a:r>
              <a:rPr lang="en-US" sz="950" dirty="0">
                <a:solidFill>
                  <a:srgbClr val="A8B5C0"/>
                </a:solidFill>
                <a:latin typeface="Meiryo" pitchFamily="34" charset="0"/>
                <a:ea typeface="Meiryo" pitchFamily="34" charset="-122"/>
                <a:cs typeface="Meiryo" pitchFamily="34" charset="-120"/>
              </a:rPr>
              <a:t>放棄後は借入9億円・現預金6億円。面談でも、みずほ銀行の融資で回しながら再建する形が想定されていました。</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7F9"/>
        </a:solidFill>
      </p:bgPr>
    </p:bg>
    <p:spTree>
      <p:nvGrpSpPr>
        <p:cNvPr id="1" name=""/>
        <p:cNvGrpSpPr/>
        <p:nvPr/>
      </p:nvGrpSpPr>
      <p:grpSpPr>
        <a:xfrm>
          <a:off x="0" y="0"/>
          <a:ext cx="0" cy="0"/>
          <a:chOff x="0" y="0"/>
          <a:chExt cx="0" cy="0"/>
        </a:xfrm>
      </p:grpSpPr>
      <p:sp>
        <p:nvSpPr>
          <p:cNvPr id="2" name="Text 0"/>
          <p:cNvSpPr txBox="1"/>
          <p:nvPr/>
        </p:nvSpPr>
        <p:spPr>
          <a:xfrm>
            <a:off x="640080" y="384048"/>
            <a:ext cx="10881360" cy="256032"/>
          </a:xfrm>
          <a:prstGeom prst="rect">
            <a:avLst/>
          </a:prstGeom>
          <a:noFill/>
          <a:ln/>
        </p:spPr>
        <p:txBody>
          <a:bodyPr wrap="square" lIns="0" tIns="0" rIns="0" bIns="0" rtlCol="0" anchor="ctr"/>
          <a:lstStyle/>
          <a:p>
            <a:pPr indent="0" marL="0">
              <a:buNone/>
            </a:pPr>
            <a:r>
              <a:rPr lang="en-US" sz="1100" b="1" spc="200" kern="0" dirty="0">
                <a:solidFill>
                  <a:srgbClr val="6E2639"/>
                </a:solidFill>
                <a:latin typeface="Meiryo" pitchFamily="34" charset="0"/>
                <a:ea typeface="Meiryo" pitchFamily="34" charset="-122"/>
                <a:cs typeface="Meiryo" pitchFamily="34" charset="-120"/>
              </a:rPr>
              <a:t>リスク</a:t>
            </a:r>
            <a:endParaRPr lang="en-US" sz="1100" dirty="0"/>
          </a:p>
        </p:txBody>
      </p:sp>
      <p:sp>
        <p:nvSpPr>
          <p:cNvPr id="3" name="Text 1"/>
          <p:cNvSpPr txBox="1"/>
          <p:nvPr/>
        </p:nvSpPr>
        <p:spPr>
          <a:xfrm>
            <a:off x="640080" y="676656"/>
            <a:ext cx="10881360" cy="658368"/>
          </a:xfrm>
          <a:prstGeom prst="rect">
            <a:avLst/>
          </a:prstGeom>
          <a:noFill/>
          <a:ln/>
        </p:spPr>
        <p:txBody>
          <a:bodyPr wrap="square" lIns="0" tIns="0" rIns="0" bIns="0" rtlCol="0" anchor="ctr"/>
          <a:lstStyle/>
          <a:p>
            <a:pPr indent="0" marL="0">
              <a:buNone/>
            </a:pPr>
            <a:r>
              <a:rPr lang="en-US" sz="2800" b="1" dirty="0">
                <a:solidFill>
                  <a:srgbClr val="1E2A38"/>
                </a:solidFill>
                <a:latin typeface="Meiryo" pitchFamily="34" charset="0"/>
                <a:ea typeface="Meiryo" pitchFamily="34" charset="-122"/>
                <a:cs typeface="Meiryo" pitchFamily="34" charset="-120"/>
              </a:rPr>
              <a:t>この案件に固有の論点</a:t>
            </a:r>
            <a:endParaRPr lang="en-US" sz="2800" dirty="0"/>
          </a:p>
        </p:txBody>
      </p:sp>
      <p:sp>
        <p:nvSpPr>
          <p:cNvPr id="4" name="Shape 2"/>
          <p:cNvSpPr/>
          <p:nvPr/>
        </p:nvSpPr>
        <p:spPr>
          <a:xfrm>
            <a:off x="640080" y="1517904"/>
            <a:ext cx="10881360" cy="822960"/>
          </a:xfrm>
          <a:prstGeom prst="roundRect">
            <a:avLst>
              <a:gd name="adj" fmla="val 6667"/>
            </a:avLst>
          </a:prstGeom>
          <a:solidFill>
            <a:srgbClr val="FFFFFF"/>
          </a:solidFill>
          <a:ln w="12700">
            <a:solidFill>
              <a:srgbClr val="D9E0E7"/>
            </a:solidFill>
            <a:prstDash val="solid"/>
          </a:ln>
          <a:effectLst>
            <a:outerShdw sx="100000" sy="100000" kx="0" ky="0" algn="bl" rotWithShape="0" blurRad="101600" dist="12700" dir="5400000">
              <a:srgbClr val="AAB4BE">
                <a:alpha val="18000"/>
              </a:srgbClr>
            </a:outerShdw>
          </a:effectLst>
        </p:spPr>
      </p:sp>
      <p:sp>
        <p:nvSpPr>
          <p:cNvPr id="5" name="Shape 3"/>
          <p:cNvSpPr/>
          <p:nvPr/>
        </p:nvSpPr>
        <p:spPr>
          <a:xfrm>
            <a:off x="914400" y="1719072"/>
            <a:ext cx="420624" cy="420624"/>
          </a:xfrm>
          <a:prstGeom prst="roundRect">
            <a:avLst>
              <a:gd name="adj" fmla="val 50000"/>
            </a:avLst>
          </a:prstGeom>
          <a:solidFill>
            <a:srgbClr val="8A2E26"/>
          </a:solidFill>
          <a:ln/>
        </p:spPr>
      </p:sp>
      <p:sp>
        <p:nvSpPr>
          <p:cNvPr id="6" name="Text 4"/>
          <p:cNvSpPr txBox="1"/>
          <p:nvPr/>
        </p:nvSpPr>
        <p:spPr>
          <a:xfrm>
            <a:off x="914400" y="1719072"/>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Meiryo" pitchFamily="34" charset="0"/>
                <a:ea typeface="Meiryo" pitchFamily="34" charset="-122"/>
                <a:cs typeface="Meiryo" pitchFamily="34" charset="-120"/>
              </a:rPr>
              <a:t>01</a:t>
            </a:r>
            <a:endParaRPr lang="en-US" sz="1400" dirty="0"/>
          </a:p>
        </p:txBody>
      </p:sp>
      <p:sp>
        <p:nvSpPr>
          <p:cNvPr id="7" name="Text 5"/>
          <p:cNvSpPr txBox="1"/>
          <p:nvPr/>
        </p:nvSpPr>
        <p:spPr>
          <a:xfrm>
            <a:off x="1508760" y="1591056"/>
            <a:ext cx="9784080" cy="256032"/>
          </a:xfrm>
          <a:prstGeom prst="rect">
            <a:avLst/>
          </a:prstGeom>
          <a:noFill/>
          <a:ln/>
        </p:spPr>
        <p:txBody>
          <a:bodyPr wrap="square" lIns="0" tIns="0" rIns="0" bIns="0" rtlCol="0" anchor="ctr"/>
          <a:lstStyle/>
          <a:p>
            <a:pPr indent="0" marL="0">
              <a:buNone/>
            </a:pPr>
            <a:r>
              <a:rPr lang="en-US" sz="1250" b="1" dirty="0">
                <a:solidFill>
                  <a:srgbClr val="1E2A38"/>
                </a:solidFill>
                <a:latin typeface="Meiryo" pitchFamily="34" charset="0"/>
                <a:ea typeface="Meiryo" pitchFamily="34" charset="-122"/>
                <a:cs typeface="Meiryo" pitchFamily="34" charset="-120"/>
              </a:rPr>
              <a:t>再建が進まなければ、3億円は目減りする</a:t>
            </a:r>
            <a:endParaRPr lang="en-US" sz="1250" dirty="0"/>
          </a:p>
        </p:txBody>
      </p:sp>
      <p:sp>
        <p:nvSpPr>
          <p:cNvPr id="8" name="Text 6"/>
          <p:cNvSpPr txBox="1"/>
          <p:nvPr/>
        </p:nvSpPr>
        <p:spPr>
          <a:xfrm>
            <a:off x="1508760" y="1865376"/>
            <a:ext cx="9784080" cy="420624"/>
          </a:xfrm>
          <a:prstGeom prst="rect">
            <a:avLst/>
          </a:prstGeom>
          <a:noFill/>
          <a:ln/>
        </p:spPr>
        <p:txBody>
          <a:bodyPr wrap="square" lIns="0" tIns="0" rIns="0" bIns="0" rtlCol="0" anchor="ctr"/>
          <a:lstStyle/>
          <a:p>
            <a:pPr indent="0" marL="0">
              <a:lnSpc>
                <a:spcPct val="105000"/>
              </a:lnSpc>
              <a:buNone/>
            </a:pPr>
            <a:r>
              <a:rPr lang="en-US" sz="930" dirty="0">
                <a:solidFill>
                  <a:srgbClr val="3D4E60"/>
                </a:solidFill>
                <a:latin typeface="Meiryo" pitchFamily="34" charset="0"/>
                <a:ea typeface="Meiryo" pitchFamily="34" charset="-122"/>
                <a:cs typeface="Meiryo" pitchFamily="34" charset="-120"/>
              </a:rPr>
              <a:t>10年連続の赤字で、第1四半期も営業損失0.51億円。会社予想の△0.30億円も楽観的な可能性があります。営業利益0.5億円どまりなら、30%の価値は1.8億円程度です。</a:t>
            </a:r>
            <a:endParaRPr lang="en-US" sz="930" dirty="0"/>
          </a:p>
        </p:txBody>
      </p:sp>
      <p:sp>
        <p:nvSpPr>
          <p:cNvPr id="9" name="Shape 7"/>
          <p:cNvSpPr/>
          <p:nvPr/>
        </p:nvSpPr>
        <p:spPr>
          <a:xfrm>
            <a:off x="640080" y="2414016"/>
            <a:ext cx="10881360" cy="822960"/>
          </a:xfrm>
          <a:prstGeom prst="roundRect">
            <a:avLst>
              <a:gd name="adj" fmla="val 6667"/>
            </a:avLst>
          </a:prstGeom>
          <a:solidFill>
            <a:srgbClr val="FFFFFF"/>
          </a:solidFill>
          <a:ln w="12700">
            <a:solidFill>
              <a:srgbClr val="D9E0E7"/>
            </a:solidFill>
            <a:prstDash val="solid"/>
          </a:ln>
          <a:effectLst>
            <a:outerShdw sx="100000" sy="100000" kx="0" ky="0" algn="bl" rotWithShape="0" blurRad="101600" dist="12700" dir="5400000">
              <a:srgbClr val="AAB4BE">
                <a:alpha val="18000"/>
              </a:srgbClr>
            </a:outerShdw>
          </a:effectLst>
        </p:spPr>
      </p:sp>
      <p:sp>
        <p:nvSpPr>
          <p:cNvPr id="10" name="Shape 8"/>
          <p:cNvSpPr/>
          <p:nvPr/>
        </p:nvSpPr>
        <p:spPr>
          <a:xfrm>
            <a:off x="914400" y="2615184"/>
            <a:ext cx="420624" cy="420624"/>
          </a:xfrm>
          <a:prstGeom prst="roundRect">
            <a:avLst>
              <a:gd name="adj" fmla="val 50000"/>
            </a:avLst>
          </a:prstGeom>
          <a:solidFill>
            <a:srgbClr val="8A2E26"/>
          </a:solidFill>
          <a:ln/>
        </p:spPr>
      </p:sp>
      <p:sp>
        <p:nvSpPr>
          <p:cNvPr id="11" name="Text 9"/>
          <p:cNvSpPr txBox="1"/>
          <p:nvPr/>
        </p:nvSpPr>
        <p:spPr>
          <a:xfrm>
            <a:off x="914400" y="261518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Meiryo" pitchFamily="34" charset="0"/>
                <a:ea typeface="Meiryo" pitchFamily="34" charset="-122"/>
                <a:cs typeface="Meiryo" pitchFamily="34" charset="-120"/>
              </a:rPr>
              <a:t>02</a:t>
            </a:r>
            <a:endParaRPr lang="en-US" sz="1400" dirty="0"/>
          </a:p>
        </p:txBody>
      </p:sp>
      <p:sp>
        <p:nvSpPr>
          <p:cNvPr id="12" name="Text 10"/>
          <p:cNvSpPr txBox="1"/>
          <p:nvPr/>
        </p:nvSpPr>
        <p:spPr>
          <a:xfrm>
            <a:off x="1508760" y="2487168"/>
            <a:ext cx="9784080" cy="256032"/>
          </a:xfrm>
          <a:prstGeom prst="rect">
            <a:avLst/>
          </a:prstGeom>
          <a:noFill/>
          <a:ln/>
        </p:spPr>
        <p:txBody>
          <a:bodyPr wrap="square" lIns="0" tIns="0" rIns="0" bIns="0" rtlCol="0" anchor="ctr"/>
          <a:lstStyle/>
          <a:p>
            <a:pPr indent="0" marL="0">
              <a:buNone/>
            </a:pPr>
            <a:r>
              <a:rPr lang="en-US" sz="1250" b="1" dirty="0">
                <a:solidFill>
                  <a:srgbClr val="1E2A38"/>
                </a:solidFill>
                <a:latin typeface="Meiryo" pitchFamily="34" charset="0"/>
                <a:ea typeface="Meiryo" pitchFamily="34" charset="-122"/>
                <a:cs typeface="Meiryo" pitchFamily="34" charset="-120"/>
              </a:rPr>
              <a:t>新株予約権の売り圧力</a:t>
            </a:r>
            <a:endParaRPr lang="en-US" sz="1250" dirty="0"/>
          </a:p>
        </p:txBody>
      </p:sp>
      <p:sp>
        <p:nvSpPr>
          <p:cNvPr id="13" name="Text 11"/>
          <p:cNvSpPr txBox="1"/>
          <p:nvPr/>
        </p:nvSpPr>
        <p:spPr>
          <a:xfrm>
            <a:off x="1508760" y="2761488"/>
            <a:ext cx="9784080" cy="420624"/>
          </a:xfrm>
          <a:prstGeom prst="rect">
            <a:avLst/>
          </a:prstGeom>
          <a:noFill/>
          <a:ln/>
        </p:spPr>
        <p:txBody>
          <a:bodyPr wrap="square" lIns="0" tIns="0" rIns="0" bIns="0" rtlCol="0" anchor="ctr"/>
          <a:lstStyle/>
          <a:p>
            <a:pPr indent="0" marL="0">
              <a:lnSpc>
                <a:spcPct val="105000"/>
              </a:lnSpc>
              <a:buNone/>
            </a:pPr>
            <a:r>
              <a:rPr lang="en-US" sz="930" dirty="0">
                <a:solidFill>
                  <a:srgbClr val="3D4E60"/>
                </a:solidFill>
                <a:latin typeface="Meiryo" pitchFamily="34" charset="0"/>
                <a:ea typeface="Meiryo" pitchFamily="34" charset="-122"/>
                <a:cs typeface="Meiryo" pitchFamily="34" charset="-120"/>
              </a:rPr>
              <a:t>Long Corridor社の未行使分が残る限り、株価は下限73円付近で重くなります。取得の前提条件として、取得・消却を求めます。</a:t>
            </a:r>
            <a:endParaRPr lang="en-US" sz="930" dirty="0"/>
          </a:p>
        </p:txBody>
      </p:sp>
      <p:sp>
        <p:nvSpPr>
          <p:cNvPr id="14" name="Shape 12"/>
          <p:cNvSpPr/>
          <p:nvPr/>
        </p:nvSpPr>
        <p:spPr>
          <a:xfrm>
            <a:off x="640080" y="3310128"/>
            <a:ext cx="10881360" cy="822960"/>
          </a:xfrm>
          <a:prstGeom prst="roundRect">
            <a:avLst>
              <a:gd name="adj" fmla="val 6667"/>
            </a:avLst>
          </a:prstGeom>
          <a:solidFill>
            <a:srgbClr val="FFFFFF"/>
          </a:solidFill>
          <a:ln w="12700">
            <a:solidFill>
              <a:srgbClr val="D9E0E7"/>
            </a:solidFill>
            <a:prstDash val="solid"/>
          </a:ln>
          <a:effectLst>
            <a:outerShdw sx="100000" sy="100000" kx="0" ky="0" algn="bl" rotWithShape="0" blurRad="101600" dist="12700" dir="5400000">
              <a:srgbClr val="AAB4BE">
                <a:alpha val="18000"/>
              </a:srgbClr>
            </a:outerShdw>
          </a:effectLst>
        </p:spPr>
      </p:sp>
      <p:sp>
        <p:nvSpPr>
          <p:cNvPr id="15" name="Shape 13"/>
          <p:cNvSpPr/>
          <p:nvPr/>
        </p:nvSpPr>
        <p:spPr>
          <a:xfrm>
            <a:off x="914400" y="3511296"/>
            <a:ext cx="420624" cy="420624"/>
          </a:xfrm>
          <a:prstGeom prst="roundRect">
            <a:avLst>
              <a:gd name="adj" fmla="val 50000"/>
            </a:avLst>
          </a:prstGeom>
          <a:solidFill>
            <a:srgbClr val="8F5510"/>
          </a:solidFill>
          <a:ln/>
        </p:spPr>
      </p:sp>
      <p:sp>
        <p:nvSpPr>
          <p:cNvPr id="16" name="Text 14"/>
          <p:cNvSpPr txBox="1"/>
          <p:nvPr/>
        </p:nvSpPr>
        <p:spPr>
          <a:xfrm>
            <a:off x="914400" y="3511296"/>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Meiryo" pitchFamily="34" charset="0"/>
                <a:ea typeface="Meiryo" pitchFamily="34" charset="-122"/>
                <a:cs typeface="Meiryo" pitchFamily="34" charset="-120"/>
              </a:rPr>
              <a:t>03</a:t>
            </a:r>
            <a:endParaRPr lang="en-US" sz="1400" dirty="0"/>
          </a:p>
        </p:txBody>
      </p:sp>
      <p:sp>
        <p:nvSpPr>
          <p:cNvPr id="17" name="Text 15"/>
          <p:cNvSpPr txBox="1"/>
          <p:nvPr/>
        </p:nvSpPr>
        <p:spPr>
          <a:xfrm>
            <a:off x="1508760" y="3383280"/>
            <a:ext cx="9784080" cy="256032"/>
          </a:xfrm>
          <a:prstGeom prst="rect">
            <a:avLst/>
          </a:prstGeom>
          <a:noFill/>
          <a:ln/>
        </p:spPr>
        <p:txBody>
          <a:bodyPr wrap="square" lIns="0" tIns="0" rIns="0" bIns="0" rtlCol="0" anchor="ctr"/>
          <a:lstStyle/>
          <a:p>
            <a:pPr indent="0" marL="0">
              <a:buNone/>
            </a:pPr>
            <a:r>
              <a:rPr lang="en-US" sz="1250" b="1" dirty="0">
                <a:solidFill>
                  <a:srgbClr val="1E2A38"/>
                </a:solidFill>
                <a:latin typeface="Meiryo" pitchFamily="34" charset="0"/>
                <a:ea typeface="Meiryo" pitchFamily="34" charset="-122"/>
                <a:cs typeface="Meiryo" pitchFamily="34" charset="-120"/>
              </a:rPr>
              <a:t>インサイダー取引規制</a:t>
            </a:r>
            <a:endParaRPr lang="en-US" sz="1250" dirty="0"/>
          </a:p>
        </p:txBody>
      </p:sp>
      <p:sp>
        <p:nvSpPr>
          <p:cNvPr id="18" name="Text 16"/>
          <p:cNvSpPr txBox="1"/>
          <p:nvPr/>
        </p:nvSpPr>
        <p:spPr>
          <a:xfrm>
            <a:off x="1508760" y="3657600"/>
            <a:ext cx="9784080" cy="420624"/>
          </a:xfrm>
          <a:prstGeom prst="rect">
            <a:avLst/>
          </a:prstGeom>
          <a:noFill/>
          <a:ln/>
        </p:spPr>
        <p:txBody>
          <a:bodyPr wrap="square" lIns="0" tIns="0" rIns="0" bIns="0" rtlCol="0" anchor="ctr"/>
          <a:lstStyle/>
          <a:p>
            <a:pPr indent="0" marL="0">
              <a:lnSpc>
                <a:spcPct val="105000"/>
              </a:lnSpc>
              <a:buNone/>
            </a:pPr>
            <a:r>
              <a:rPr lang="en-US" sz="930" dirty="0">
                <a:solidFill>
                  <a:srgbClr val="3D4E60"/>
                </a:solidFill>
                <a:latin typeface="Meiryo" pitchFamily="34" charset="0"/>
                <a:ea typeface="Meiryo" pitchFamily="34" charset="-122"/>
                <a:cs typeface="Meiryo" pitchFamily="34" charset="-120"/>
              </a:rPr>
              <a:t>RIZAP社の放棄と売却の意向は、夢展望の未公表の重要事実にあたりえます。公表まで市場で夢展望株は買えません。RIZAP社との相対取引の扱いは弁護士の確認が要ります。</a:t>
            </a:r>
            <a:endParaRPr lang="en-US" sz="930" dirty="0"/>
          </a:p>
        </p:txBody>
      </p:sp>
      <p:sp>
        <p:nvSpPr>
          <p:cNvPr id="19" name="Shape 17"/>
          <p:cNvSpPr/>
          <p:nvPr/>
        </p:nvSpPr>
        <p:spPr>
          <a:xfrm>
            <a:off x="640080" y="4206240"/>
            <a:ext cx="10881360" cy="822960"/>
          </a:xfrm>
          <a:prstGeom prst="roundRect">
            <a:avLst>
              <a:gd name="adj" fmla="val 6667"/>
            </a:avLst>
          </a:prstGeom>
          <a:solidFill>
            <a:srgbClr val="FFFFFF"/>
          </a:solidFill>
          <a:ln w="12700">
            <a:solidFill>
              <a:srgbClr val="D9E0E7"/>
            </a:solidFill>
            <a:prstDash val="solid"/>
          </a:ln>
          <a:effectLst>
            <a:outerShdw sx="100000" sy="100000" kx="0" ky="0" algn="bl" rotWithShape="0" blurRad="101600" dist="12700" dir="5400000">
              <a:srgbClr val="AAB4BE">
                <a:alpha val="18000"/>
              </a:srgbClr>
            </a:outerShdw>
          </a:effectLst>
        </p:spPr>
      </p:sp>
      <p:sp>
        <p:nvSpPr>
          <p:cNvPr id="20" name="Shape 18"/>
          <p:cNvSpPr/>
          <p:nvPr/>
        </p:nvSpPr>
        <p:spPr>
          <a:xfrm>
            <a:off x="914400" y="4407408"/>
            <a:ext cx="420624" cy="420624"/>
          </a:xfrm>
          <a:prstGeom prst="roundRect">
            <a:avLst>
              <a:gd name="adj" fmla="val 50000"/>
            </a:avLst>
          </a:prstGeom>
          <a:solidFill>
            <a:srgbClr val="8F5510"/>
          </a:solidFill>
          <a:ln/>
        </p:spPr>
      </p:sp>
      <p:sp>
        <p:nvSpPr>
          <p:cNvPr id="21" name="Text 19"/>
          <p:cNvSpPr txBox="1"/>
          <p:nvPr/>
        </p:nvSpPr>
        <p:spPr>
          <a:xfrm>
            <a:off x="914400" y="4407408"/>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Meiryo" pitchFamily="34" charset="0"/>
                <a:ea typeface="Meiryo" pitchFamily="34" charset="-122"/>
                <a:cs typeface="Meiryo" pitchFamily="34" charset="-120"/>
              </a:rPr>
              <a:t>04</a:t>
            </a:r>
            <a:endParaRPr lang="en-US" sz="1400" dirty="0"/>
          </a:p>
        </p:txBody>
      </p:sp>
      <p:sp>
        <p:nvSpPr>
          <p:cNvPr id="22" name="Text 20"/>
          <p:cNvSpPr txBox="1"/>
          <p:nvPr/>
        </p:nvSpPr>
        <p:spPr>
          <a:xfrm>
            <a:off x="1508760" y="4279392"/>
            <a:ext cx="9784080" cy="256032"/>
          </a:xfrm>
          <a:prstGeom prst="rect">
            <a:avLst/>
          </a:prstGeom>
          <a:noFill/>
          <a:ln/>
        </p:spPr>
        <p:txBody>
          <a:bodyPr wrap="square" lIns="0" tIns="0" rIns="0" bIns="0" rtlCol="0" anchor="ctr"/>
          <a:lstStyle/>
          <a:p>
            <a:pPr indent="0" marL="0">
              <a:buNone/>
            </a:pPr>
            <a:r>
              <a:rPr lang="en-US" sz="1250" b="1" dirty="0">
                <a:solidFill>
                  <a:srgbClr val="1E2A38"/>
                </a:solidFill>
                <a:latin typeface="Meiryo" pitchFamily="34" charset="0"/>
                <a:ea typeface="Meiryo" pitchFamily="34" charset="-122"/>
                <a:cs typeface="Meiryo" pitchFamily="34" charset="-120"/>
              </a:rPr>
              <a:t>実質的存続性の審査（合併する場合）</a:t>
            </a:r>
            <a:endParaRPr lang="en-US" sz="1250" dirty="0"/>
          </a:p>
        </p:txBody>
      </p:sp>
      <p:sp>
        <p:nvSpPr>
          <p:cNvPr id="23" name="Text 21"/>
          <p:cNvSpPr txBox="1"/>
          <p:nvPr/>
        </p:nvSpPr>
        <p:spPr>
          <a:xfrm>
            <a:off x="1508760" y="4553712"/>
            <a:ext cx="9784080" cy="420624"/>
          </a:xfrm>
          <a:prstGeom prst="rect">
            <a:avLst/>
          </a:prstGeom>
          <a:noFill/>
          <a:ln/>
        </p:spPr>
        <p:txBody>
          <a:bodyPr wrap="square" lIns="0" tIns="0" rIns="0" bIns="0" rtlCol="0" anchor="ctr"/>
          <a:lstStyle/>
          <a:p>
            <a:pPr indent="0" marL="0">
              <a:lnSpc>
                <a:spcPct val="105000"/>
              </a:lnSpc>
              <a:buNone/>
            </a:pPr>
            <a:r>
              <a:rPr lang="en-US" sz="930" dirty="0">
                <a:solidFill>
                  <a:srgbClr val="3D4E60"/>
                </a:solidFill>
                <a:latin typeface="Meiryo" pitchFamily="34" charset="0"/>
                <a:ea typeface="Meiryo" pitchFamily="34" charset="-122"/>
                <a:cs typeface="Meiryo" pitchFamily="34" charset="-120"/>
              </a:rPr>
              <a:t>夢展望の評価が15億円を下回ると、あどばる側が50%を超えます。合併を選ぶなら比率の設計と東証への事前相談が必要です。</a:t>
            </a:r>
            <a:endParaRPr lang="en-US" sz="930" dirty="0"/>
          </a:p>
        </p:txBody>
      </p:sp>
      <p:sp>
        <p:nvSpPr>
          <p:cNvPr id="24" name="Shape 22"/>
          <p:cNvSpPr/>
          <p:nvPr/>
        </p:nvSpPr>
        <p:spPr>
          <a:xfrm>
            <a:off x="640080" y="5102352"/>
            <a:ext cx="10881360" cy="822960"/>
          </a:xfrm>
          <a:prstGeom prst="roundRect">
            <a:avLst>
              <a:gd name="adj" fmla="val 6667"/>
            </a:avLst>
          </a:prstGeom>
          <a:solidFill>
            <a:srgbClr val="FFFFFF"/>
          </a:solidFill>
          <a:ln w="12700">
            <a:solidFill>
              <a:srgbClr val="D9E0E7"/>
            </a:solidFill>
            <a:prstDash val="solid"/>
          </a:ln>
          <a:effectLst>
            <a:outerShdw sx="100000" sy="100000" kx="0" ky="0" algn="bl" rotWithShape="0" blurRad="101600" dist="12700" dir="5400000">
              <a:srgbClr val="AAB4BE">
                <a:alpha val="18000"/>
              </a:srgbClr>
            </a:outerShdw>
          </a:effectLst>
        </p:spPr>
      </p:sp>
      <p:sp>
        <p:nvSpPr>
          <p:cNvPr id="25" name="Shape 23"/>
          <p:cNvSpPr/>
          <p:nvPr/>
        </p:nvSpPr>
        <p:spPr>
          <a:xfrm>
            <a:off x="914400" y="5303520"/>
            <a:ext cx="420624" cy="420624"/>
          </a:xfrm>
          <a:prstGeom prst="roundRect">
            <a:avLst>
              <a:gd name="adj" fmla="val 50000"/>
            </a:avLst>
          </a:prstGeom>
          <a:solidFill>
            <a:srgbClr val="8F5510"/>
          </a:solidFill>
          <a:ln/>
        </p:spPr>
      </p:sp>
      <p:sp>
        <p:nvSpPr>
          <p:cNvPr id="26" name="Text 24"/>
          <p:cNvSpPr txBox="1"/>
          <p:nvPr/>
        </p:nvSpPr>
        <p:spPr>
          <a:xfrm>
            <a:off x="914400" y="5303520"/>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Meiryo" pitchFamily="34" charset="0"/>
                <a:ea typeface="Meiryo" pitchFamily="34" charset="-122"/>
                <a:cs typeface="Meiryo" pitchFamily="34" charset="-120"/>
              </a:rPr>
              <a:t>05</a:t>
            </a:r>
            <a:endParaRPr lang="en-US" sz="1400" dirty="0"/>
          </a:p>
        </p:txBody>
      </p:sp>
      <p:sp>
        <p:nvSpPr>
          <p:cNvPr id="27" name="Text 25"/>
          <p:cNvSpPr txBox="1"/>
          <p:nvPr/>
        </p:nvSpPr>
        <p:spPr>
          <a:xfrm>
            <a:off x="1508760" y="5175504"/>
            <a:ext cx="9784080" cy="256032"/>
          </a:xfrm>
          <a:prstGeom prst="rect">
            <a:avLst/>
          </a:prstGeom>
          <a:noFill/>
          <a:ln/>
        </p:spPr>
        <p:txBody>
          <a:bodyPr wrap="square" lIns="0" tIns="0" rIns="0" bIns="0" rtlCol="0" anchor="ctr"/>
          <a:lstStyle/>
          <a:p>
            <a:pPr indent="0" marL="0">
              <a:buNone/>
            </a:pPr>
            <a:r>
              <a:rPr lang="en-US" sz="1250" b="1" dirty="0">
                <a:solidFill>
                  <a:srgbClr val="1E2A38"/>
                </a:solidFill>
                <a:latin typeface="Meiryo" pitchFamily="34" charset="0"/>
                <a:ea typeface="Meiryo" pitchFamily="34" charset="-122"/>
                <a:cs typeface="Meiryo" pitchFamily="34" charset="-120"/>
              </a:rPr>
              <a:t>資金と時間の取り合い</a:t>
            </a:r>
            <a:endParaRPr lang="en-US" sz="1250" dirty="0"/>
          </a:p>
        </p:txBody>
      </p:sp>
      <p:sp>
        <p:nvSpPr>
          <p:cNvPr id="28" name="Text 26"/>
          <p:cNvSpPr txBox="1"/>
          <p:nvPr/>
        </p:nvSpPr>
        <p:spPr>
          <a:xfrm>
            <a:off x="1508760" y="5449824"/>
            <a:ext cx="9784080" cy="420624"/>
          </a:xfrm>
          <a:prstGeom prst="rect">
            <a:avLst/>
          </a:prstGeom>
          <a:noFill/>
          <a:ln/>
        </p:spPr>
        <p:txBody>
          <a:bodyPr wrap="square" lIns="0" tIns="0" rIns="0" bIns="0" rtlCol="0" anchor="ctr"/>
          <a:lstStyle/>
          <a:p>
            <a:pPr indent="0" marL="0">
              <a:lnSpc>
                <a:spcPct val="105000"/>
              </a:lnSpc>
              <a:buNone/>
            </a:pPr>
            <a:r>
              <a:rPr lang="en-US" sz="930" dirty="0">
                <a:solidFill>
                  <a:srgbClr val="3D4E60"/>
                </a:solidFill>
                <a:latin typeface="Meiryo" pitchFamily="34" charset="0"/>
                <a:ea typeface="Meiryo" pitchFamily="34" charset="-122"/>
                <a:cs typeface="Meiryo" pitchFamily="34" charset="-120"/>
              </a:rPr>
              <a:t>中野の手元資金と再建に割く時間は、スマサポ案と重なります。両方を同時に進めるのは現実的ではありません。</a:t>
            </a:r>
            <a:endParaRPr lang="en-US" sz="930" dirty="0"/>
          </a:p>
        </p:txBody>
      </p:sp>
      <p:sp>
        <p:nvSpPr>
          <p:cNvPr id="29" name="Text 27"/>
          <p:cNvSpPr txBox="1"/>
          <p:nvPr/>
        </p:nvSpPr>
        <p:spPr>
          <a:xfrm>
            <a:off x="640080" y="6108192"/>
            <a:ext cx="10881360" cy="274320"/>
          </a:xfrm>
          <a:prstGeom prst="rect">
            <a:avLst/>
          </a:prstGeom>
          <a:noFill/>
          <a:ln/>
        </p:spPr>
        <p:txBody>
          <a:bodyPr wrap="square" lIns="0" tIns="0" rIns="0" bIns="0" rtlCol="0" anchor="ctr"/>
          <a:lstStyle/>
          <a:p>
            <a:pPr indent="0" marL="0">
              <a:buNone/>
            </a:pPr>
            <a:r>
              <a:rPr lang="en-US" sz="1050" b="1" dirty="0">
                <a:solidFill>
                  <a:srgbClr val="6E2639"/>
                </a:solidFill>
                <a:latin typeface="Meiryo" pitchFamily="34" charset="0"/>
                <a:ea typeface="Meiryo" pitchFamily="34" charset="-122"/>
                <a:cs typeface="Meiryo" pitchFamily="34" charset="-120"/>
              </a:rPr>
              <a:t>01と05が判断の分かれ目です。03は着手の前に専門家の確認が必要です。</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7F9"/>
        </a:solidFill>
      </p:bgPr>
    </p:bg>
    <p:spTree>
      <p:nvGrpSpPr>
        <p:cNvPr id="1" name=""/>
        <p:cNvGrpSpPr/>
        <p:nvPr/>
      </p:nvGrpSpPr>
      <p:grpSpPr>
        <a:xfrm>
          <a:off x="0" y="0"/>
          <a:ext cx="0" cy="0"/>
          <a:chOff x="0" y="0"/>
          <a:chExt cx="0" cy="0"/>
        </a:xfrm>
      </p:grpSpPr>
      <p:sp>
        <p:nvSpPr>
          <p:cNvPr id="2" name="Text 0"/>
          <p:cNvSpPr txBox="1"/>
          <p:nvPr/>
        </p:nvSpPr>
        <p:spPr>
          <a:xfrm>
            <a:off x="640080" y="384048"/>
            <a:ext cx="10881360" cy="256032"/>
          </a:xfrm>
          <a:prstGeom prst="rect">
            <a:avLst/>
          </a:prstGeom>
          <a:noFill/>
          <a:ln/>
        </p:spPr>
        <p:txBody>
          <a:bodyPr wrap="square" lIns="0" tIns="0" rIns="0" bIns="0" rtlCol="0" anchor="ctr"/>
          <a:lstStyle/>
          <a:p>
            <a:pPr indent="0" marL="0">
              <a:buNone/>
            </a:pPr>
            <a:r>
              <a:rPr lang="en-US" sz="1100" b="1" spc="200" kern="0" dirty="0">
                <a:solidFill>
                  <a:srgbClr val="6E2639"/>
                </a:solidFill>
                <a:latin typeface="Meiryo" pitchFamily="34" charset="0"/>
                <a:ea typeface="Meiryo" pitchFamily="34" charset="-122"/>
                <a:cs typeface="Meiryo" pitchFamily="34" charset="-120"/>
              </a:rPr>
              <a:t>次のステップ</a:t>
            </a:r>
            <a:endParaRPr lang="en-US" sz="1100" dirty="0"/>
          </a:p>
        </p:txBody>
      </p:sp>
      <p:sp>
        <p:nvSpPr>
          <p:cNvPr id="3" name="Text 1"/>
          <p:cNvSpPr txBox="1"/>
          <p:nvPr/>
        </p:nvSpPr>
        <p:spPr>
          <a:xfrm>
            <a:off x="640080" y="676656"/>
            <a:ext cx="10881360" cy="658368"/>
          </a:xfrm>
          <a:prstGeom prst="rect">
            <a:avLst/>
          </a:prstGeom>
          <a:noFill/>
          <a:ln/>
        </p:spPr>
        <p:txBody>
          <a:bodyPr wrap="square" lIns="0" tIns="0" rIns="0" bIns="0" rtlCol="0" anchor="ctr"/>
          <a:lstStyle/>
          <a:p>
            <a:pPr indent="0" marL="0">
              <a:buNone/>
            </a:pPr>
            <a:r>
              <a:rPr lang="en-US" sz="2800" b="1" dirty="0">
                <a:solidFill>
                  <a:srgbClr val="1E2A38"/>
                </a:solidFill>
                <a:latin typeface="Meiryo" pitchFamily="34" charset="0"/>
                <a:ea typeface="Meiryo" pitchFamily="34" charset="-122"/>
                <a:cs typeface="Meiryo" pitchFamily="34" charset="-120"/>
              </a:rPr>
              <a:t>RIZAP社に確認すること</a:t>
            </a:r>
            <a:endParaRPr lang="en-US" sz="2800" dirty="0"/>
          </a:p>
        </p:txBody>
      </p:sp>
      <p:sp>
        <p:nvSpPr>
          <p:cNvPr id="4" name="Shape 2"/>
          <p:cNvSpPr/>
          <p:nvPr/>
        </p:nvSpPr>
        <p:spPr>
          <a:xfrm>
            <a:off x="640080" y="1554480"/>
            <a:ext cx="10881360" cy="731520"/>
          </a:xfrm>
          <a:prstGeom prst="roundRect">
            <a:avLst>
              <a:gd name="adj" fmla="val 7500"/>
            </a:avLst>
          </a:prstGeom>
          <a:solidFill>
            <a:srgbClr val="FFFFFF"/>
          </a:solidFill>
          <a:ln w="12700">
            <a:solidFill>
              <a:srgbClr val="D9E0E7"/>
            </a:solidFill>
            <a:prstDash val="solid"/>
          </a:ln>
          <a:effectLst>
            <a:outerShdw sx="100000" sy="100000" kx="0" ky="0" algn="bl" rotWithShape="0" blurRad="101600" dist="12700" dir="5400000">
              <a:srgbClr val="AAB4BE">
                <a:alpha val="18000"/>
              </a:srgbClr>
            </a:outerShdw>
          </a:effectLst>
        </p:spPr>
      </p:sp>
      <p:sp>
        <p:nvSpPr>
          <p:cNvPr id="5" name="Shape 3"/>
          <p:cNvSpPr/>
          <p:nvPr/>
        </p:nvSpPr>
        <p:spPr>
          <a:xfrm>
            <a:off x="960120" y="1719072"/>
            <a:ext cx="402336" cy="402336"/>
          </a:xfrm>
          <a:prstGeom prst="roundRect">
            <a:avLst>
              <a:gd name="adj" fmla="val 50000"/>
            </a:avLst>
          </a:prstGeom>
          <a:solidFill>
            <a:srgbClr val="6E2639"/>
          </a:solidFill>
          <a:ln/>
        </p:spPr>
      </p:sp>
      <p:sp>
        <p:nvSpPr>
          <p:cNvPr id="6" name="Text 4"/>
          <p:cNvSpPr txBox="1"/>
          <p:nvPr/>
        </p:nvSpPr>
        <p:spPr>
          <a:xfrm>
            <a:off x="960120" y="171907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Meiryo" pitchFamily="34" charset="0"/>
                <a:ea typeface="Meiryo" pitchFamily="34" charset="-122"/>
                <a:cs typeface="Meiryo" pitchFamily="34" charset="-120"/>
              </a:rPr>
              <a:t>01</a:t>
            </a:r>
            <a:endParaRPr lang="en-US" sz="1400" dirty="0"/>
          </a:p>
        </p:txBody>
      </p:sp>
      <p:sp>
        <p:nvSpPr>
          <p:cNvPr id="7" name="Text 5"/>
          <p:cNvSpPr txBox="1"/>
          <p:nvPr/>
        </p:nvSpPr>
        <p:spPr>
          <a:xfrm>
            <a:off x="1572768" y="1664208"/>
            <a:ext cx="5486400" cy="256032"/>
          </a:xfrm>
          <a:prstGeom prst="rect">
            <a:avLst/>
          </a:prstGeom>
          <a:noFill/>
          <a:ln/>
        </p:spPr>
        <p:txBody>
          <a:bodyPr wrap="square" lIns="0" tIns="0" rIns="0" bIns="0" rtlCol="0" anchor="ctr"/>
          <a:lstStyle/>
          <a:p>
            <a:pPr indent="0" marL="0">
              <a:buNone/>
            </a:pPr>
            <a:r>
              <a:rPr lang="en-US" sz="1250" b="1" dirty="0">
                <a:solidFill>
                  <a:srgbClr val="1E2A38"/>
                </a:solidFill>
                <a:latin typeface="Meiryo" pitchFamily="34" charset="0"/>
                <a:ea typeface="Meiryo" pitchFamily="34" charset="-122"/>
                <a:cs typeface="Meiryo" pitchFamily="34" charset="-120"/>
              </a:rPr>
              <a:t>放棄額は7億円か8億円か</a:t>
            </a:r>
            <a:endParaRPr lang="en-US" sz="1250" dirty="0"/>
          </a:p>
        </p:txBody>
      </p:sp>
      <p:sp>
        <p:nvSpPr>
          <p:cNvPr id="8" name="Text 6"/>
          <p:cNvSpPr txBox="1"/>
          <p:nvPr/>
        </p:nvSpPr>
        <p:spPr>
          <a:xfrm>
            <a:off x="1572768" y="1938528"/>
            <a:ext cx="8229600" cy="292608"/>
          </a:xfrm>
          <a:prstGeom prst="rect">
            <a:avLst/>
          </a:prstGeom>
          <a:noFill/>
          <a:ln/>
        </p:spPr>
        <p:txBody>
          <a:bodyPr wrap="square" lIns="0" tIns="0" rIns="0" bIns="0" rtlCol="0" anchor="ctr"/>
          <a:lstStyle/>
          <a:p>
            <a:pPr indent="0" marL="0">
              <a:buNone/>
            </a:pPr>
            <a:r>
              <a:rPr lang="en-US" sz="980" dirty="0">
                <a:solidFill>
                  <a:srgbClr val="3D4E60"/>
                </a:solidFill>
                <a:latin typeface="Meiryo" pitchFamily="34" charset="0"/>
                <a:ea typeface="Meiryo" pitchFamily="34" charset="-122"/>
                <a:cs typeface="Meiryo" pitchFamily="34" charset="-120"/>
              </a:rPr>
              <a:t>借入17億円のうちRIZAP社分は8億円と聞いています。放棄は全額か、クロージングの前か後か。</a:t>
            </a:r>
            <a:endParaRPr lang="en-US" sz="980" dirty="0"/>
          </a:p>
        </p:txBody>
      </p:sp>
      <p:sp>
        <p:nvSpPr>
          <p:cNvPr id="9" name="Text 7"/>
          <p:cNvSpPr txBox="1"/>
          <p:nvPr/>
        </p:nvSpPr>
        <p:spPr>
          <a:xfrm>
            <a:off x="9966960" y="1792224"/>
            <a:ext cx="1280160" cy="256032"/>
          </a:xfrm>
          <a:prstGeom prst="rect">
            <a:avLst/>
          </a:prstGeom>
          <a:noFill/>
          <a:ln/>
        </p:spPr>
        <p:txBody>
          <a:bodyPr wrap="square" lIns="0" tIns="0" rIns="0" bIns="0" rtlCol="0" anchor="ctr"/>
          <a:lstStyle/>
          <a:p>
            <a:pPr algn="r" indent="0" marL="0">
              <a:buNone/>
            </a:pPr>
            <a:r>
              <a:rPr lang="en-US" sz="1100" b="1" dirty="0">
                <a:solidFill>
                  <a:srgbClr val="6E2639"/>
                </a:solidFill>
                <a:latin typeface="Meiryo" pitchFamily="34" charset="0"/>
                <a:ea typeface="Meiryo" pitchFamily="34" charset="-122"/>
                <a:cs typeface="Meiryo" pitchFamily="34" charset="-120"/>
              </a:rPr>
              <a:t>最優先</a:t>
            </a:r>
            <a:endParaRPr lang="en-US" sz="1100" dirty="0"/>
          </a:p>
        </p:txBody>
      </p:sp>
      <p:sp>
        <p:nvSpPr>
          <p:cNvPr id="10" name="Shape 8"/>
          <p:cNvSpPr/>
          <p:nvPr/>
        </p:nvSpPr>
        <p:spPr>
          <a:xfrm>
            <a:off x="640080" y="2395728"/>
            <a:ext cx="10881360" cy="731520"/>
          </a:xfrm>
          <a:prstGeom prst="roundRect">
            <a:avLst>
              <a:gd name="adj" fmla="val 7500"/>
            </a:avLst>
          </a:prstGeom>
          <a:solidFill>
            <a:srgbClr val="FFFFFF"/>
          </a:solidFill>
          <a:ln w="12700">
            <a:solidFill>
              <a:srgbClr val="D9E0E7"/>
            </a:solidFill>
            <a:prstDash val="solid"/>
          </a:ln>
          <a:effectLst>
            <a:outerShdw sx="100000" sy="100000" kx="0" ky="0" algn="bl" rotWithShape="0" blurRad="101600" dist="12700" dir="5400000">
              <a:srgbClr val="AAB4BE">
                <a:alpha val="18000"/>
              </a:srgbClr>
            </a:outerShdw>
          </a:effectLst>
        </p:spPr>
      </p:sp>
      <p:sp>
        <p:nvSpPr>
          <p:cNvPr id="11" name="Shape 9"/>
          <p:cNvSpPr/>
          <p:nvPr/>
        </p:nvSpPr>
        <p:spPr>
          <a:xfrm>
            <a:off x="960120" y="2560320"/>
            <a:ext cx="402336" cy="402336"/>
          </a:xfrm>
          <a:prstGeom prst="roundRect">
            <a:avLst>
              <a:gd name="adj" fmla="val 50000"/>
            </a:avLst>
          </a:prstGeom>
          <a:solidFill>
            <a:srgbClr val="6E2639"/>
          </a:solidFill>
          <a:ln/>
        </p:spPr>
      </p:sp>
      <p:sp>
        <p:nvSpPr>
          <p:cNvPr id="12" name="Text 10"/>
          <p:cNvSpPr txBox="1"/>
          <p:nvPr/>
        </p:nvSpPr>
        <p:spPr>
          <a:xfrm>
            <a:off x="960120" y="256032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Meiryo" pitchFamily="34" charset="0"/>
                <a:ea typeface="Meiryo" pitchFamily="34" charset="-122"/>
                <a:cs typeface="Meiryo" pitchFamily="34" charset="-120"/>
              </a:rPr>
              <a:t>02</a:t>
            </a:r>
            <a:endParaRPr lang="en-US" sz="1400" dirty="0"/>
          </a:p>
        </p:txBody>
      </p:sp>
      <p:sp>
        <p:nvSpPr>
          <p:cNvPr id="13" name="Text 11"/>
          <p:cNvSpPr txBox="1"/>
          <p:nvPr/>
        </p:nvSpPr>
        <p:spPr>
          <a:xfrm>
            <a:off x="1572768" y="2505456"/>
            <a:ext cx="5486400" cy="256032"/>
          </a:xfrm>
          <a:prstGeom prst="rect">
            <a:avLst/>
          </a:prstGeom>
          <a:noFill/>
          <a:ln/>
        </p:spPr>
        <p:txBody>
          <a:bodyPr wrap="square" lIns="0" tIns="0" rIns="0" bIns="0" rtlCol="0" anchor="ctr"/>
          <a:lstStyle/>
          <a:p>
            <a:pPr indent="0" marL="0">
              <a:buNone/>
            </a:pPr>
            <a:r>
              <a:rPr lang="en-US" sz="1250" b="1" dirty="0">
                <a:solidFill>
                  <a:srgbClr val="1E2A38"/>
                </a:solidFill>
                <a:latin typeface="Meiryo" pitchFamily="34" charset="0"/>
                <a:ea typeface="Meiryo" pitchFamily="34" charset="-122"/>
                <a:cs typeface="Meiryo" pitchFamily="34" charset="-120"/>
              </a:rPr>
              <a:t>価格を1株単価で</a:t>
            </a:r>
            <a:endParaRPr lang="en-US" sz="1250" dirty="0"/>
          </a:p>
        </p:txBody>
      </p:sp>
      <p:sp>
        <p:nvSpPr>
          <p:cNvPr id="14" name="Text 12"/>
          <p:cNvSpPr txBox="1"/>
          <p:nvPr/>
        </p:nvSpPr>
        <p:spPr>
          <a:xfrm>
            <a:off x="1572768" y="2779776"/>
            <a:ext cx="8229600" cy="292608"/>
          </a:xfrm>
          <a:prstGeom prst="rect">
            <a:avLst/>
          </a:prstGeom>
          <a:noFill/>
          <a:ln/>
        </p:spPr>
        <p:txBody>
          <a:bodyPr wrap="square" lIns="0" tIns="0" rIns="0" bIns="0" rtlCol="0" anchor="ctr"/>
          <a:lstStyle/>
          <a:p>
            <a:pPr indent="0" marL="0">
              <a:buNone/>
            </a:pPr>
            <a:r>
              <a:rPr lang="en-US" sz="980" dirty="0">
                <a:solidFill>
                  <a:srgbClr val="3D4E60"/>
                </a:solidFill>
                <a:latin typeface="Meiryo" pitchFamily="34" charset="0"/>
                <a:ea typeface="Meiryo" pitchFamily="34" charset="-122"/>
                <a:cs typeface="Meiryo" pitchFamily="34" charset="-120"/>
              </a:rPr>
              <a:t>「時価総額10億円で30%を3億円」ではなく、1株約50円で固定できるか。</a:t>
            </a:r>
            <a:endParaRPr lang="en-US" sz="980" dirty="0"/>
          </a:p>
        </p:txBody>
      </p:sp>
      <p:sp>
        <p:nvSpPr>
          <p:cNvPr id="15" name="Text 13"/>
          <p:cNvSpPr txBox="1"/>
          <p:nvPr/>
        </p:nvSpPr>
        <p:spPr>
          <a:xfrm>
            <a:off x="9966960" y="2633472"/>
            <a:ext cx="1280160" cy="256032"/>
          </a:xfrm>
          <a:prstGeom prst="rect">
            <a:avLst/>
          </a:prstGeom>
          <a:noFill/>
          <a:ln/>
        </p:spPr>
        <p:txBody>
          <a:bodyPr wrap="square" lIns="0" tIns="0" rIns="0" bIns="0" rtlCol="0" anchor="ctr"/>
          <a:lstStyle/>
          <a:p>
            <a:pPr algn="r" indent="0" marL="0">
              <a:buNone/>
            </a:pPr>
            <a:r>
              <a:rPr lang="en-US" sz="1100" b="1" dirty="0">
                <a:solidFill>
                  <a:srgbClr val="6E2639"/>
                </a:solidFill>
                <a:latin typeface="Meiryo" pitchFamily="34" charset="0"/>
                <a:ea typeface="Meiryo" pitchFamily="34" charset="-122"/>
                <a:cs typeface="Meiryo" pitchFamily="34" charset="-120"/>
              </a:rPr>
              <a:t>最優先</a:t>
            </a:r>
            <a:endParaRPr lang="en-US" sz="1100" dirty="0"/>
          </a:p>
        </p:txBody>
      </p:sp>
      <p:sp>
        <p:nvSpPr>
          <p:cNvPr id="16" name="Shape 14"/>
          <p:cNvSpPr/>
          <p:nvPr/>
        </p:nvSpPr>
        <p:spPr>
          <a:xfrm>
            <a:off x="640080" y="3236976"/>
            <a:ext cx="10881360" cy="731520"/>
          </a:xfrm>
          <a:prstGeom prst="roundRect">
            <a:avLst>
              <a:gd name="adj" fmla="val 7500"/>
            </a:avLst>
          </a:prstGeom>
          <a:solidFill>
            <a:srgbClr val="FFFFFF"/>
          </a:solidFill>
          <a:ln w="12700">
            <a:solidFill>
              <a:srgbClr val="D9E0E7"/>
            </a:solidFill>
            <a:prstDash val="solid"/>
          </a:ln>
          <a:effectLst>
            <a:outerShdw sx="100000" sy="100000" kx="0" ky="0" algn="bl" rotWithShape="0" blurRad="101600" dist="12700" dir="5400000">
              <a:srgbClr val="AAB4BE">
                <a:alpha val="18000"/>
              </a:srgbClr>
            </a:outerShdw>
          </a:effectLst>
        </p:spPr>
      </p:sp>
      <p:sp>
        <p:nvSpPr>
          <p:cNvPr id="17" name="Shape 15"/>
          <p:cNvSpPr/>
          <p:nvPr/>
        </p:nvSpPr>
        <p:spPr>
          <a:xfrm>
            <a:off x="960120" y="3401568"/>
            <a:ext cx="402336" cy="402336"/>
          </a:xfrm>
          <a:prstGeom prst="roundRect">
            <a:avLst>
              <a:gd name="adj" fmla="val 50000"/>
            </a:avLst>
          </a:prstGeom>
          <a:solidFill>
            <a:srgbClr val="2E5C8A"/>
          </a:solidFill>
          <a:ln/>
        </p:spPr>
      </p:sp>
      <p:sp>
        <p:nvSpPr>
          <p:cNvPr id="18" name="Text 16"/>
          <p:cNvSpPr txBox="1"/>
          <p:nvPr/>
        </p:nvSpPr>
        <p:spPr>
          <a:xfrm>
            <a:off x="960120" y="3401568"/>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Meiryo" pitchFamily="34" charset="0"/>
                <a:ea typeface="Meiryo" pitchFamily="34" charset="-122"/>
                <a:cs typeface="Meiryo" pitchFamily="34" charset="-120"/>
              </a:rPr>
              <a:t>03</a:t>
            </a:r>
            <a:endParaRPr lang="en-US" sz="1400" dirty="0"/>
          </a:p>
        </p:txBody>
      </p:sp>
      <p:sp>
        <p:nvSpPr>
          <p:cNvPr id="19" name="Text 17"/>
          <p:cNvSpPr txBox="1"/>
          <p:nvPr/>
        </p:nvSpPr>
        <p:spPr>
          <a:xfrm>
            <a:off x="1572768" y="3346704"/>
            <a:ext cx="5486400" cy="256032"/>
          </a:xfrm>
          <a:prstGeom prst="rect">
            <a:avLst/>
          </a:prstGeom>
          <a:noFill/>
          <a:ln/>
        </p:spPr>
        <p:txBody>
          <a:bodyPr wrap="square" lIns="0" tIns="0" rIns="0" bIns="0" rtlCol="0" anchor="ctr"/>
          <a:lstStyle/>
          <a:p>
            <a:pPr indent="0" marL="0">
              <a:buNone/>
            </a:pPr>
            <a:r>
              <a:rPr lang="en-US" sz="1250" b="1" dirty="0">
                <a:solidFill>
                  <a:srgbClr val="1E2A38"/>
                </a:solidFill>
                <a:latin typeface="Meiryo" pitchFamily="34" charset="0"/>
                <a:ea typeface="Meiryo" pitchFamily="34" charset="-122"/>
                <a:cs typeface="Meiryo" pitchFamily="34" charset="-120"/>
              </a:rPr>
              <a:t>銀行借入9億円の条件</a:t>
            </a:r>
            <a:endParaRPr lang="en-US" sz="1250" dirty="0"/>
          </a:p>
        </p:txBody>
      </p:sp>
      <p:sp>
        <p:nvSpPr>
          <p:cNvPr id="20" name="Text 18"/>
          <p:cNvSpPr txBox="1"/>
          <p:nvPr/>
        </p:nvSpPr>
        <p:spPr>
          <a:xfrm>
            <a:off x="1572768" y="3621024"/>
            <a:ext cx="8229600" cy="292608"/>
          </a:xfrm>
          <a:prstGeom prst="rect">
            <a:avLst/>
          </a:prstGeom>
          <a:noFill/>
          <a:ln/>
        </p:spPr>
        <p:txBody>
          <a:bodyPr wrap="square" lIns="0" tIns="0" rIns="0" bIns="0" rtlCol="0" anchor="ctr"/>
          <a:lstStyle/>
          <a:p>
            <a:pPr indent="0" marL="0">
              <a:buNone/>
            </a:pPr>
            <a:r>
              <a:rPr lang="en-US" sz="980" dirty="0">
                <a:solidFill>
                  <a:srgbClr val="3D4E60"/>
                </a:solidFill>
                <a:latin typeface="Meiryo" pitchFamily="34" charset="0"/>
                <a:ea typeface="Meiryo" pitchFamily="34" charset="-122"/>
                <a:cs typeface="Meiryo" pitchFamily="34" charset="-120"/>
              </a:rPr>
              <a:t>RIZAP社の連帯保証が外れた後も、借り換えなしで継続できるか。</a:t>
            </a:r>
            <a:endParaRPr lang="en-US" sz="980" dirty="0"/>
          </a:p>
        </p:txBody>
      </p:sp>
      <p:sp>
        <p:nvSpPr>
          <p:cNvPr id="21" name="Text 19"/>
          <p:cNvSpPr txBox="1"/>
          <p:nvPr/>
        </p:nvSpPr>
        <p:spPr>
          <a:xfrm>
            <a:off x="9966960" y="3474720"/>
            <a:ext cx="1280160" cy="256032"/>
          </a:xfrm>
          <a:prstGeom prst="rect">
            <a:avLst/>
          </a:prstGeom>
          <a:noFill/>
          <a:ln/>
        </p:spPr>
        <p:txBody>
          <a:bodyPr wrap="square" lIns="0" tIns="0" rIns="0" bIns="0" rtlCol="0" anchor="ctr"/>
          <a:lstStyle/>
          <a:p>
            <a:pPr algn="r" indent="0" marL="0">
              <a:buNone/>
            </a:pPr>
            <a:r>
              <a:rPr lang="en-US" sz="1100" b="1" dirty="0">
                <a:solidFill>
                  <a:srgbClr val="2E5C8A"/>
                </a:solidFill>
                <a:latin typeface="Meiryo" pitchFamily="34" charset="0"/>
                <a:ea typeface="Meiryo" pitchFamily="34" charset="-122"/>
                <a:cs typeface="Meiryo" pitchFamily="34" charset="-120"/>
              </a:rPr>
              <a:t>要確認</a:t>
            </a:r>
            <a:endParaRPr lang="en-US" sz="1100" dirty="0"/>
          </a:p>
        </p:txBody>
      </p:sp>
      <p:sp>
        <p:nvSpPr>
          <p:cNvPr id="22" name="Shape 20"/>
          <p:cNvSpPr/>
          <p:nvPr/>
        </p:nvSpPr>
        <p:spPr>
          <a:xfrm>
            <a:off x="640080" y="4078224"/>
            <a:ext cx="10881360" cy="731520"/>
          </a:xfrm>
          <a:prstGeom prst="roundRect">
            <a:avLst>
              <a:gd name="adj" fmla="val 7500"/>
            </a:avLst>
          </a:prstGeom>
          <a:solidFill>
            <a:srgbClr val="FFFFFF"/>
          </a:solidFill>
          <a:ln w="12700">
            <a:solidFill>
              <a:srgbClr val="D9E0E7"/>
            </a:solidFill>
            <a:prstDash val="solid"/>
          </a:ln>
          <a:effectLst>
            <a:outerShdw sx="100000" sy="100000" kx="0" ky="0" algn="bl" rotWithShape="0" blurRad="101600" dist="12700" dir="5400000">
              <a:srgbClr val="AAB4BE">
                <a:alpha val="18000"/>
              </a:srgbClr>
            </a:outerShdw>
          </a:effectLst>
        </p:spPr>
      </p:sp>
      <p:sp>
        <p:nvSpPr>
          <p:cNvPr id="23" name="Shape 21"/>
          <p:cNvSpPr/>
          <p:nvPr/>
        </p:nvSpPr>
        <p:spPr>
          <a:xfrm>
            <a:off x="960120" y="4242816"/>
            <a:ext cx="402336" cy="402336"/>
          </a:xfrm>
          <a:prstGeom prst="roundRect">
            <a:avLst>
              <a:gd name="adj" fmla="val 50000"/>
            </a:avLst>
          </a:prstGeom>
          <a:solidFill>
            <a:srgbClr val="2E5C8A"/>
          </a:solidFill>
          <a:ln/>
        </p:spPr>
      </p:sp>
      <p:sp>
        <p:nvSpPr>
          <p:cNvPr id="24" name="Text 22"/>
          <p:cNvSpPr txBox="1"/>
          <p:nvPr/>
        </p:nvSpPr>
        <p:spPr>
          <a:xfrm>
            <a:off x="960120" y="424281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Meiryo" pitchFamily="34" charset="0"/>
                <a:ea typeface="Meiryo" pitchFamily="34" charset="-122"/>
                <a:cs typeface="Meiryo" pitchFamily="34" charset="-120"/>
              </a:rPr>
              <a:t>04</a:t>
            </a:r>
            <a:endParaRPr lang="en-US" sz="1400" dirty="0"/>
          </a:p>
        </p:txBody>
      </p:sp>
      <p:sp>
        <p:nvSpPr>
          <p:cNvPr id="25" name="Text 23"/>
          <p:cNvSpPr txBox="1"/>
          <p:nvPr/>
        </p:nvSpPr>
        <p:spPr>
          <a:xfrm>
            <a:off x="1572768" y="4187952"/>
            <a:ext cx="5486400" cy="256032"/>
          </a:xfrm>
          <a:prstGeom prst="rect">
            <a:avLst/>
          </a:prstGeom>
          <a:noFill/>
          <a:ln/>
        </p:spPr>
        <p:txBody>
          <a:bodyPr wrap="square" lIns="0" tIns="0" rIns="0" bIns="0" rtlCol="0" anchor="ctr"/>
          <a:lstStyle/>
          <a:p>
            <a:pPr indent="0" marL="0">
              <a:buNone/>
            </a:pPr>
            <a:r>
              <a:rPr lang="en-US" sz="1250" b="1" dirty="0">
                <a:solidFill>
                  <a:srgbClr val="1E2A38"/>
                </a:solidFill>
                <a:latin typeface="Meiryo" pitchFamily="34" charset="0"/>
                <a:ea typeface="Meiryo" pitchFamily="34" charset="-122"/>
                <a:cs typeface="Meiryo" pitchFamily="34" charset="-120"/>
              </a:rPr>
              <a:t>店舗の契約一覧と粗利・販管費</a:t>
            </a:r>
            <a:endParaRPr lang="en-US" sz="1250" dirty="0"/>
          </a:p>
        </p:txBody>
      </p:sp>
      <p:sp>
        <p:nvSpPr>
          <p:cNvPr id="26" name="Text 24"/>
          <p:cNvSpPr txBox="1"/>
          <p:nvPr/>
        </p:nvSpPr>
        <p:spPr>
          <a:xfrm>
            <a:off x="1572768" y="4462272"/>
            <a:ext cx="8229600" cy="292608"/>
          </a:xfrm>
          <a:prstGeom prst="rect">
            <a:avLst/>
          </a:prstGeom>
          <a:noFill/>
          <a:ln/>
        </p:spPr>
        <p:txBody>
          <a:bodyPr wrap="square" lIns="0" tIns="0" rIns="0" bIns="0" rtlCol="0" anchor="ctr"/>
          <a:lstStyle/>
          <a:p>
            <a:pPr indent="0" marL="0">
              <a:buNone/>
            </a:pPr>
            <a:r>
              <a:rPr lang="en-US" sz="980" dirty="0">
                <a:solidFill>
                  <a:srgbClr val="3D4E60"/>
                </a:solidFill>
                <a:latin typeface="Meiryo" pitchFamily="34" charset="0"/>
                <a:ea typeface="Meiryo" pitchFamily="34" charset="-122"/>
                <a:cs typeface="Meiryo" pitchFamily="34" charset="-120"/>
              </a:rPr>
              <a:t>解約できる店舗と違約金。面談で出た「粗利4億円・販管費5億円」がどの期間の数字か。</a:t>
            </a:r>
            <a:endParaRPr lang="en-US" sz="980" dirty="0"/>
          </a:p>
        </p:txBody>
      </p:sp>
      <p:sp>
        <p:nvSpPr>
          <p:cNvPr id="27" name="Text 25"/>
          <p:cNvSpPr txBox="1"/>
          <p:nvPr/>
        </p:nvSpPr>
        <p:spPr>
          <a:xfrm>
            <a:off x="9966960" y="4315968"/>
            <a:ext cx="1280160" cy="256032"/>
          </a:xfrm>
          <a:prstGeom prst="rect">
            <a:avLst/>
          </a:prstGeom>
          <a:noFill/>
          <a:ln/>
        </p:spPr>
        <p:txBody>
          <a:bodyPr wrap="square" lIns="0" tIns="0" rIns="0" bIns="0" rtlCol="0" anchor="ctr"/>
          <a:lstStyle/>
          <a:p>
            <a:pPr algn="r" indent="0" marL="0">
              <a:buNone/>
            </a:pPr>
            <a:r>
              <a:rPr lang="en-US" sz="1100" b="1" dirty="0">
                <a:solidFill>
                  <a:srgbClr val="2E5C8A"/>
                </a:solidFill>
                <a:latin typeface="Meiryo" pitchFamily="34" charset="0"/>
                <a:ea typeface="Meiryo" pitchFamily="34" charset="-122"/>
                <a:cs typeface="Meiryo" pitchFamily="34" charset="-120"/>
              </a:rPr>
              <a:t>要入手</a:t>
            </a:r>
            <a:endParaRPr lang="en-US" sz="1100" dirty="0"/>
          </a:p>
        </p:txBody>
      </p:sp>
      <p:sp>
        <p:nvSpPr>
          <p:cNvPr id="28" name="Shape 26"/>
          <p:cNvSpPr/>
          <p:nvPr/>
        </p:nvSpPr>
        <p:spPr>
          <a:xfrm>
            <a:off x="640080" y="4919472"/>
            <a:ext cx="10881360" cy="731520"/>
          </a:xfrm>
          <a:prstGeom prst="roundRect">
            <a:avLst>
              <a:gd name="adj" fmla="val 7500"/>
            </a:avLst>
          </a:prstGeom>
          <a:solidFill>
            <a:srgbClr val="FFFFFF"/>
          </a:solidFill>
          <a:ln w="12700">
            <a:solidFill>
              <a:srgbClr val="D9E0E7"/>
            </a:solidFill>
            <a:prstDash val="solid"/>
          </a:ln>
          <a:effectLst>
            <a:outerShdw sx="100000" sy="100000" kx="0" ky="0" algn="bl" rotWithShape="0" blurRad="101600" dist="12700" dir="5400000">
              <a:srgbClr val="AAB4BE">
                <a:alpha val="18000"/>
              </a:srgbClr>
            </a:outerShdw>
          </a:effectLst>
        </p:spPr>
      </p:sp>
      <p:sp>
        <p:nvSpPr>
          <p:cNvPr id="29" name="Shape 27"/>
          <p:cNvSpPr/>
          <p:nvPr/>
        </p:nvSpPr>
        <p:spPr>
          <a:xfrm>
            <a:off x="960120" y="5084064"/>
            <a:ext cx="402336" cy="402336"/>
          </a:xfrm>
          <a:prstGeom prst="roundRect">
            <a:avLst>
              <a:gd name="adj" fmla="val 50000"/>
            </a:avLst>
          </a:prstGeom>
          <a:solidFill>
            <a:srgbClr val="2E5C8A"/>
          </a:solidFill>
          <a:ln/>
        </p:spPr>
      </p:sp>
      <p:sp>
        <p:nvSpPr>
          <p:cNvPr id="30" name="Text 28"/>
          <p:cNvSpPr txBox="1"/>
          <p:nvPr/>
        </p:nvSpPr>
        <p:spPr>
          <a:xfrm>
            <a:off x="960120" y="508406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Meiryo" pitchFamily="34" charset="0"/>
                <a:ea typeface="Meiryo" pitchFamily="34" charset="-122"/>
                <a:cs typeface="Meiryo" pitchFamily="34" charset="-120"/>
              </a:rPr>
              <a:t>05</a:t>
            </a:r>
            <a:endParaRPr lang="en-US" sz="1400" dirty="0"/>
          </a:p>
        </p:txBody>
      </p:sp>
      <p:sp>
        <p:nvSpPr>
          <p:cNvPr id="31" name="Text 29"/>
          <p:cNvSpPr txBox="1"/>
          <p:nvPr/>
        </p:nvSpPr>
        <p:spPr>
          <a:xfrm>
            <a:off x="1572768" y="5029200"/>
            <a:ext cx="5486400" cy="256032"/>
          </a:xfrm>
          <a:prstGeom prst="rect">
            <a:avLst/>
          </a:prstGeom>
          <a:noFill/>
          <a:ln/>
        </p:spPr>
        <p:txBody>
          <a:bodyPr wrap="square" lIns="0" tIns="0" rIns="0" bIns="0" rtlCol="0" anchor="ctr"/>
          <a:lstStyle/>
          <a:p>
            <a:pPr indent="0" marL="0">
              <a:buNone/>
            </a:pPr>
            <a:r>
              <a:rPr lang="en-US" sz="1250" b="1" dirty="0">
                <a:solidFill>
                  <a:srgbClr val="1E2A38"/>
                </a:solidFill>
                <a:latin typeface="Meiryo" pitchFamily="34" charset="0"/>
                <a:ea typeface="Meiryo" pitchFamily="34" charset="-122"/>
                <a:cs typeface="Meiryo" pitchFamily="34" charset="-120"/>
              </a:rPr>
              <a:t>繰越欠損金の残高と期限</a:t>
            </a:r>
            <a:endParaRPr lang="en-US" sz="1250" dirty="0"/>
          </a:p>
        </p:txBody>
      </p:sp>
      <p:sp>
        <p:nvSpPr>
          <p:cNvPr id="32" name="Text 30"/>
          <p:cNvSpPr txBox="1"/>
          <p:nvPr/>
        </p:nvSpPr>
        <p:spPr>
          <a:xfrm>
            <a:off x="1572768" y="5303520"/>
            <a:ext cx="8229600" cy="292608"/>
          </a:xfrm>
          <a:prstGeom prst="rect">
            <a:avLst/>
          </a:prstGeom>
          <a:noFill/>
          <a:ln/>
        </p:spPr>
        <p:txBody>
          <a:bodyPr wrap="square" lIns="0" tIns="0" rIns="0" bIns="0" rtlCol="0" anchor="ctr"/>
          <a:lstStyle/>
          <a:p>
            <a:pPr indent="0" marL="0">
              <a:buNone/>
            </a:pPr>
            <a:r>
              <a:rPr lang="en-US" sz="980" dirty="0">
                <a:solidFill>
                  <a:srgbClr val="3D4E60"/>
                </a:solidFill>
                <a:latin typeface="Meiryo" pitchFamily="34" charset="0"/>
                <a:ea typeface="Meiryo" pitchFamily="34" charset="-122"/>
                <a:cs typeface="Meiryo" pitchFamily="34" charset="-120"/>
              </a:rPr>
              <a:t>放棄で使った後にいくら残るか。再建後の利益をどこまで相殺できるか。</a:t>
            </a:r>
            <a:endParaRPr lang="en-US" sz="980" dirty="0"/>
          </a:p>
        </p:txBody>
      </p:sp>
      <p:sp>
        <p:nvSpPr>
          <p:cNvPr id="33" name="Text 31"/>
          <p:cNvSpPr txBox="1"/>
          <p:nvPr/>
        </p:nvSpPr>
        <p:spPr>
          <a:xfrm>
            <a:off x="9966960" y="5157216"/>
            <a:ext cx="1280160" cy="256032"/>
          </a:xfrm>
          <a:prstGeom prst="rect">
            <a:avLst/>
          </a:prstGeom>
          <a:noFill/>
          <a:ln/>
        </p:spPr>
        <p:txBody>
          <a:bodyPr wrap="square" lIns="0" tIns="0" rIns="0" bIns="0" rtlCol="0" anchor="ctr"/>
          <a:lstStyle/>
          <a:p>
            <a:pPr algn="r" indent="0" marL="0">
              <a:buNone/>
            </a:pPr>
            <a:r>
              <a:rPr lang="en-US" sz="1100" b="1" dirty="0">
                <a:solidFill>
                  <a:srgbClr val="2E5C8A"/>
                </a:solidFill>
                <a:latin typeface="Meiryo" pitchFamily="34" charset="0"/>
                <a:ea typeface="Meiryo" pitchFamily="34" charset="-122"/>
                <a:cs typeface="Meiryo" pitchFamily="34" charset="-120"/>
              </a:rPr>
              <a:t>要入手</a:t>
            </a:r>
            <a:endParaRPr lang="en-US" sz="1100" dirty="0"/>
          </a:p>
        </p:txBody>
      </p:sp>
      <p:sp>
        <p:nvSpPr>
          <p:cNvPr id="34" name="Shape 32"/>
          <p:cNvSpPr/>
          <p:nvPr/>
        </p:nvSpPr>
        <p:spPr>
          <a:xfrm>
            <a:off x="640080" y="5833872"/>
            <a:ext cx="10881360" cy="566928"/>
          </a:xfrm>
          <a:prstGeom prst="roundRect">
            <a:avLst>
              <a:gd name="adj" fmla="val 9677"/>
            </a:avLst>
          </a:prstGeom>
          <a:solidFill>
            <a:srgbClr val="FBF1F3"/>
          </a:solidFill>
          <a:ln w="12700">
            <a:solidFill>
              <a:srgbClr val="E3CBD1"/>
            </a:solidFill>
            <a:prstDash val="solid"/>
          </a:ln>
          <a:effectLst>
            <a:outerShdw sx="100000" sy="100000" kx="0" ky="0" algn="bl" rotWithShape="0" blurRad="101600" dist="12700" dir="5400000">
              <a:srgbClr val="AAB4BE">
                <a:alpha val="18000"/>
              </a:srgbClr>
            </a:outerShdw>
          </a:effectLst>
        </p:spPr>
      </p:sp>
      <p:sp>
        <p:nvSpPr>
          <p:cNvPr id="35" name="Text 33"/>
          <p:cNvSpPr txBox="1"/>
          <p:nvPr/>
        </p:nvSpPr>
        <p:spPr>
          <a:xfrm>
            <a:off x="960120" y="5961888"/>
            <a:ext cx="10241280" cy="310896"/>
          </a:xfrm>
          <a:prstGeom prst="rect">
            <a:avLst/>
          </a:prstGeom>
          <a:noFill/>
          <a:ln/>
        </p:spPr>
        <p:txBody>
          <a:bodyPr wrap="square" lIns="0" tIns="0" rIns="0" bIns="0" rtlCol="0" anchor="ctr"/>
          <a:lstStyle/>
          <a:p>
            <a:pPr indent="0" marL="0">
              <a:buNone/>
            </a:pPr>
            <a:r>
              <a:rPr lang="en-US" sz="1100" b="1" dirty="0">
                <a:solidFill>
                  <a:srgbClr val="6E2639"/>
                </a:solidFill>
                <a:latin typeface="Meiryo" pitchFamily="34" charset="0"/>
                <a:ea typeface="Meiryo" pitchFamily="34" charset="-122"/>
                <a:cs typeface="Meiryo" pitchFamily="34" charset="-120"/>
              </a:rPr>
              <a:t>あわせて、夢展望を「単体で再建する純投資」とするか「あどばるとの合併」とするかを、スマサポ案との優先順位とともに決めます。</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2026-10-29T06:13:55Z</dcterms:created>
  <dcterms:modified xsi:type="dcterms:W3CDTF">2026-10-29T06:13:55Z</dcterms:modified>
</cp:coreProperties>
</file>