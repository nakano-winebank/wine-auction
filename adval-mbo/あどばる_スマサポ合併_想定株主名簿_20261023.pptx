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大櫃さんと合意した最有力案。まず名簿を作って論点を洗う。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評価額の比は20:15。あどばる側が42.86%を持つ。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19名の名簿。ビジョンが筆頭、CABO DA ROCAが2位、中野が4位。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太田側が過半数オーナーの会社だと理解しておく。社長は別人。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D案は惜しくも2,156株足りない。6社も売れば一気に楽になる。太田玲の扱いが鍵。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①のSO残高が最優先。これが分からないと名簿が確定しない。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45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株式会社あどばる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57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スマサポ社との合併 ─ 想定株主名簿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1752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4C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スマサポ20億円・あどばる15億円評価を前提とした合併後の持分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2026年10月23日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3877056"/>
            <a:ext cx="2926080" cy="0"/>
          </a:xfrm>
          <a:prstGeom prst="line">
            <a:avLst/>
          </a:prstGeom>
          <a:noFill/>
          <a:ln w="25400">
            <a:solidFill>
              <a:srgbClr val="6E26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87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4187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株式会社あどばる 代表取締役 中野 邦人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72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45720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スマサポ発行済 2,405,200株 ／ あどばる発行済 201,616株（SO行使後）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956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4956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スマサポ社の公開情報（2025年9月期有価証券報告書・会社IR・コーポレートガバナンス報告書）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7A8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公開情報にもとづく試算です。スマサポ社の新株予約権の残高は未確認であり、実際の比率は変動しうるものです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合併の条件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スマサポの評価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9222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20.0</a:t>
            </a:r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042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発行済 2,405,200株 → 1株 831.53円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554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あどばるの評価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79222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15.0</a:t>
            </a:r>
            <a:pPr indent="0" marL="0">
              <a:buNone/>
            </a:pPr>
            <a:r>
              <a:rPr lang="en-US" sz="13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3042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発行済 201,616株 → 1株 7,439.89円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1554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合併比率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79222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: 8.9472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042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あどばる1株にスマサポ株8.9472株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0" y="15544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合併後 時価総額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1792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35.0</a:t>
            </a:r>
            <a:pPr indent="0" marL="0">
              <a:buNone/>
            </a:pPr>
            <a:r>
              <a:rPr lang="en-US" sz="13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3042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スマサポ単体20億から拡大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834640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3017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交付する新株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3649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あどばる株主へ交付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33467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1,803,900株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694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スマサポ既存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36758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2,405,200株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023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合併後 発行済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931920" y="400507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4,209,100株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2834640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EEF3F8"/>
          </a:solidFill>
          <a:ln w="12700">
            <a:solidFill>
              <a:srgbClr val="C6D6E5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46520" y="3017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出身別の持分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4564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旧スマサポ株主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64040" y="3401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57.14%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9136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旧あどばる株主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464040" y="3858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42.86%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640080" y="45262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FBF1F3"/>
          </a:solidFill>
          <a:ln w="12700">
            <a:solidFill>
              <a:srgbClr val="E3CB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60120" y="46908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この名簿で、まず目につく3点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60120" y="50292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ビジョン社が筆頭株主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" y="530352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20.07%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60120" y="55412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退出が前提条件です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44568" y="50292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太田氏側が30.80%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44568" y="530352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資産管理会社＋本人＋太田玲氏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544568" y="55412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圧倒的な筆頭陣営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8129016" y="50292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中野は15.73%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129016" y="530352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ビジョン退出後は第2位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129016" y="55412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CABO DA ROCA 18.77%に次ぐ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想定株主名簿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合併後の全株主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53492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1005840"/>
                <a:gridCol w="96012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株主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出身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比率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ビジョン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旧あどばる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844,617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2E2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20.07%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E5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CABO DA ROCA（太田氏の資産管理会社）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5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790,000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5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18.77%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その他株主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667,994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15.87%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E263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中野 邦人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旧あどばる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E263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662,093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E263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15.73%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E5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太田 卓利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5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443,300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5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10.53%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大東建託パートナーズ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140,000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3.33%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Hamagin DG Innovation投資事業有限責任組合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116,652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2.77%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BOS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旧あどばる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89,472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2.13%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エアトリ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旧あどばる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71,578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1.70%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E5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太田 玲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5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63,016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5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1.50%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36192"/>
          <a:ext cx="53492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1005840"/>
                <a:gridCol w="96012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株主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出身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比率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KUMA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旧あどばる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53,683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1.28%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三好不動産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50,028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1.19%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ENECHANGE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46,901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1.11%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フィル・カンパニー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旧あどばる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35,789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0.85%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小田 慎三（代表取締役社長）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32,230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0.77%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衣笠 賢二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30,065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0.71%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ベクトル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旧あどばる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28,774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0.68%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地域とトモニ1号投資事業有限責任組合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旧スマサポ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25,014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0.59%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アンビション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7C8A99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旧あどばる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17,894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D4E6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0.43%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172200" y="48463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4,209,100株（100.00%）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6172200" y="519379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BF1F3"/>
          </a:solidFill>
          <a:ln w="12700">
            <a:solidFill>
              <a:srgbClr val="E3CB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446520" y="535838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太田氏側 計 1,296,316株（30.80%）　／　中野 662,093株（15.73%）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スマサポ社の株数は公表比率からの換算値です。端数はビジョン社の行で調整しています。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読みどころ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この名簿が示していること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1109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892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ビジョン社が合併後の筆頭株主になる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3172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20.07%。これまでの検討どおり、ビジョン社の退出は合併の前提条件です。退出させずに合併すると、親会社を上場会社に持ち込むだけになります。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91109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1892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太田氏側が30.80%の圧倒的な筆頭陣営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3172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CABO DA ROCA（資産管理会社）18.77%＋太田卓利氏10.53%＋太田玲氏1.50%。スマサポ単体では太田氏側が51.28%と過半数を握っています。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05993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40416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中野はビジョン退出後に第2位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48056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15.73%。CABO DA ROCA 18.77%に次ぐ位置です。「筆頭または第2位」という条件は満たせます。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72200" y="384048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26333F"/>
          </a:solidFill>
          <a:ln w="12700">
            <a:solidFill>
              <a:srgbClr val="3A485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05993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0416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代表取締役社長は小田慎三氏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48056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5C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太田氏はオーナーであり社長ではありません（株式会社TAKUTOの代表）。合併後の経営体制をどう組むかは、持分とは別の論点として詰める必要があります。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264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5C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スマサポ社に未行使のストックオプションが残っている場合、上記の比率は下がります。発行要項の確認が必要です。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論点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ビジョン社の844,617株を、どう配分するか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2606040" cy="3017520"/>
          </a:xfrm>
          <a:prstGeom prst="roundRect">
            <a:avLst>
              <a:gd name="adj" fmla="val 2105"/>
            </a:avLst>
          </a:prstGeom>
          <a:solidFill>
            <a:srgbClr val="F0F4F1"/>
          </a:solidFill>
          <a:ln w="12700">
            <a:solidFill>
              <a:srgbClr val="C9DC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19072"/>
            <a:ext cx="420624" cy="274320"/>
          </a:xfrm>
          <a:prstGeom prst="roundRect">
            <a:avLst>
              <a:gd name="adj" fmla="val 50000"/>
            </a:avLst>
          </a:prstGeom>
          <a:solidFill>
            <a:srgbClr val="2C6A4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719072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190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全部を市場へ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2140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中野の必要資金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2257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pPr indent="0" marL="0">
              <a:buNone/>
            </a:pPr>
            <a:r>
              <a:rPr lang="en-US" sz="12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85292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中野の持分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05409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15.73%（第2位）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40156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流通株式比率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60273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40.02%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9684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東証グロース基準25%をクリア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01568" y="1536192"/>
            <a:ext cx="2606040" cy="30175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30168" y="1719072"/>
            <a:ext cx="420624" cy="274320"/>
          </a:xfrm>
          <a:prstGeom prst="roundRect">
            <a:avLst>
              <a:gd name="adj" fmla="val 50000"/>
            </a:avLst>
          </a:prstGeom>
          <a:solidFill>
            <a:srgbClr val="8A2E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630168" y="1719072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133088" y="17190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太田氏側と同数まで買う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30168" y="212140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中野の必要資金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630168" y="232257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5.27</a:t>
            </a:r>
            <a:pPr indent="0" marL="0">
              <a:buNone/>
            </a:pPr>
            <a:r>
              <a:rPr lang="en-US" sz="1200" b="1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630168" y="285292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中野の持分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630168" y="305409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30.80%（同率首位）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630168" y="340156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流通株式比率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630168" y="360273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24.95%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3630168" y="39684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25%基準に抵触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63056" y="1536192"/>
            <a:ext cx="2606040" cy="30175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91656" y="1719072"/>
            <a:ext cx="420624" cy="274320"/>
          </a:xfrm>
          <a:prstGeom prst="roundRect">
            <a:avLst>
              <a:gd name="adj" fmla="val 50000"/>
            </a:avLst>
          </a:prstGeom>
          <a:solidFill>
            <a:srgbClr val="8A2E2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91656" y="1719072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94576" y="17190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全部を買い取る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91656" y="212140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中野の必要資金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391656" y="232257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7.02</a:t>
            </a:r>
            <a:pPr indent="0" marL="0">
              <a:buNone/>
            </a:pPr>
            <a:r>
              <a:rPr lang="en-US" sz="1200" b="1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6391656" y="285292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中野の持分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391656" y="305409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35.80%（単独筆頭）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391656" y="340156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流通株式比率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391656" y="360273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19.95%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6391656" y="39684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A2E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25%基準に抵触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24544" y="1536192"/>
            <a:ext cx="2606040" cy="3017520"/>
          </a:xfrm>
          <a:prstGeom prst="roundRect">
            <a:avLst>
              <a:gd name="adj" fmla="val 2105"/>
            </a:avLst>
          </a:prstGeom>
          <a:solidFill>
            <a:srgbClr val="F7F3EC"/>
          </a:solidFill>
          <a:ln w="12700">
            <a:solidFill>
              <a:srgbClr val="E0D3BE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153144" y="1719072"/>
            <a:ext cx="420624" cy="274320"/>
          </a:xfrm>
          <a:prstGeom prst="roundRect">
            <a:avLst>
              <a:gd name="adj" fmla="val 50000"/>
            </a:avLst>
          </a:prstGeom>
          <a:solidFill>
            <a:srgbClr val="8F551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53144" y="1719072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9656064" y="17190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上限まで買い、残りを市場へ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153144" y="212140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中野の必要資金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9153144" y="232257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F55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5.26</a:t>
            </a:r>
            <a:pPr indent="0" marL="0">
              <a:buNone/>
            </a:pPr>
            <a:r>
              <a:rPr lang="en-US" sz="1200" b="1" dirty="0">
                <a:solidFill>
                  <a:srgbClr val="8F55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9153144" y="285292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中野の持分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9153144" y="305409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30.75%（第2位）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9153144" y="340156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流通株式比率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9153144" y="360273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55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25.00%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9153144" y="39684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55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東証グロース基準25%をクリア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080" y="4709160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F7F3EC"/>
          </a:solidFill>
          <a:ln w="12700">
            <a:solidFill>
              <a:srgbClr val="E0D3BE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914400" y="4864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55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D案は2,156株だけ足りません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14400" y="5175504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案との差額210,394株を市場に出すと流通株式比率は24.949%。25%まであと2,156株（0.051pt）です。基準ちょうどに合わせるなら中野の取得は632,067株（5.26億円）が上限で、太田氏側に2,156株届かない第2位にとどまります。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172200" y="4709160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F0F4F1"/>
          </a:solidFill>
          <a:ln w="12700">
            <a:solidFill>
              <a:srgbClr val="C9DCD1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6446520" y="4864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A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旧あどばる法人6社も売れば、制約が外れます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5175504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OS・エアトリ・KUMA・フィル・ベクトル・アンビションの計297,190株（2.47億円）は事業法人のため流通株式から除外されています。この6社も市場で売却すれば、B案フル（30.80%）でも32.01%、C案（35.80%）でも27.01%を確保できます。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流通株式の算定には解釈の幅があります。太田玲氏の1.50%を流通に算入できる場合、D案は26.45%となり余裕が生まれます。東証への事前相談を要します。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次のステップ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先に確認すること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2821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6E26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728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6824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スマサポ社の新株予約権の残高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未行使のストックオプションがあれば、本資料の比率はすべて下がります。発行要項と潜在株式数を最優先で確認します。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18013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最優先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259689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6E26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5511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スマサポ社の現預金と有利子負債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28254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ビジョン社への借入7.90億円の返済原資になるかを見ます。自己資本比率68.8%・純資産5.71億からは、自己資金のみでの返済は難しいとみています。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966960" y="26700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要入手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29184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0120" y="3465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3465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みずほ銀行様へのリファイナンス打診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36941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上記が確認でき次第、合併後の上場会社に対する7.90億円のリファイナンスとしてご相談します。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966960" y="35387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条件次第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16052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" y="433425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60120" y="4334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572768" y="42885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太田氏の意向と合併後の経営体制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572768" y="45628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持分を手放す意向があるのか、会長等で残るのか。社長は小田慎三氏のため、経営体制の設計は持分とは別に詰める必要があります。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966960" y="44074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5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2920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9E0E7"/>
            </a:solidFill>
            <a:prstDash val="solid"/>
          </a:ln>
          <a:effectLst>
            <a:outerShdw sx="100000" sy="100000" kx="0" ky="0" algn="bl" rotWithShape="0" blurRad="101600" dist="12700" dir="5400000">
              <a:srgbClr val="AAB4BE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60120" y="520293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6E263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5202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572768" y="51572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あどばる15億円でスマサポ社が応じるか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572768" y="54315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E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比率はこの1点で動きます。15億が上限である以上、先方の目線を早めに確認します。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966960" y="5276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263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要交渉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1447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本資料は公開情報にもとづく試算です。実際の合併比率は、双方のデューデリジェンスと第三者算定機関の評価によって決まります。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2026-10-23T06:00:53Z</dcterms:created>
  <dcterms:modified xsi:type="dcterms:W3CDTF">2026-10-23T06:00:53Z</dcterms:modified>
</cp:coreProperties>
</file>