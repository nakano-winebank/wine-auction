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大櫃さんと合意した最有力案。まず名簿を作って論点を洗う。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評価額の比は20:15。あどばる側が42.86%を持つ。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19名の名簿。ビジョンが筆頭、CABO DA ROCAが2位、中野が4位。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太田側が過半数オーナーの会社だと理解しておく。社長は別人。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A案が筋。ビジョンに市場で売ってもらえば流通比率も中野の資金負担も解決する。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①のSO残高が最優先。これが分からないと名簿が確定しない。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822960" y="1645920"/>
            <a:ext cx="10515600" cy="365760"/>
          </a:xfrm>
          <a:prstGeom prst="rect">
            <a:avLst/>
          </a:prstGeom>
          <a:noFill/>
          <a:ln/>
        </p:spPr>
        <p:txBody>
          <a:bodyPr wrap="square" lIns="0" tIns="0" rIns="0" bIns="0" rtlCol="0" anchor="ctr"/>
          <a:lstStyle/>
          <a:p>
            <a:pPr indent="0" marL="0">
              <a:buNone/>
            </a:pPr>
            <a:r>
              <a:rPr lang="en-US" sz="1400" b="1" spc="300" kern="0" dirty="0">
                <a:solidFill>
                  <a:srgbClr val="A85C6E"/>
                </a:solidFill>
                <a:latin typeface="Meiryo" pitchFamily="34" charset="0"/>
                <a:ea typeface="Meiryo" pitchFamily="34" charset="-122"/>
                <a:cs typeface="Meiryo" pitchFamily="34" charset="-120"/>
              </a:rPr>
              <a:t>株式会社あどばる</a:t>
            </a:r>
            <a:endParaRPr lang="en-US" sz="1400" dirty="0"/>
          </a:p>
        </p:txBody>
      </p:sp>
      <p:sp>
        <p:nvSpPr>
          <p:cNvPr id="3" name="Text 1"/>
          <p:cNvSpPr txBox="1"/>
          <p:nvPr/>
        </p:nvSpPr>
        <p:spPr>
          <a:xfrm>
            <a:off x="822960" y="20574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スマサポ社との合併 ─ 想定株主名簿</a:t>
            </a:r>
            <a:endParaRPr lang="en-US" sz="4000" dirty="0"/>
          </a:p>
        </p:txBody>
      </p:sp>
      <p:sp>
        <p:nvSpPr>
          <p:cNvPr id="4" name="Text 2"/>
          <p:cNvSpPr txBox="1"/>
          <p:nvPr/>
        </p:nvSpPr>
        <p:spPr>
          <a:xfrm>
            <a:off x="822960" y="3017520"/>
            <a:ext cx="10241280" cy="411480"/>
          </a:xfrm>
          <a:prstGeom prst="rect">
            <a:avLst/>
          </a:prstGeom>
          <a:noFill/>
          <a:ln/>
        </p:spPr>
        <p:txBody>
          <a:bodyPr wrap="square" lIns="0" tIns="0" rIns="0" bIns="0" rtlCol="0" anchor="ctr"/>
          <a:lstStyle/>
          <a:p>
            <a:pPr indent="0" marL="0">
              <a:buNone/>
            </a:pPr>
            <a:r>
              <a:rPr lang="en-US" sz="1700" dirty="0">
                <a:solidFill>
                  <a:srgbClr val="B9C4CF"/>
                </a:solidFill>
                <a:latin typeface="Meiryo" pitchFamily="34" charset="0"/>
                <a:ea typeface="Meiryo" pitchFamily="34" charset="-122"/>
                <a:cs typeface="Meiryo" pitchFamily="34" charset="-120"/>
              </a:rPr>
              <a:t>スマサポ20億円・あどばる15億円評価を前提とした合併後の持分</a:t>
            </a:r>
            <a:endParaRPr lang="en-US" sz="1700" dirty="0"/>
          </a:p>
        </p:txBody>
      </p:sp>
      <p:sp>
        <p:nvSpPr>
          <p:cNvPr id="5" name="Text 3"/>
          <p:cNvSpPr txBox="1"/>
          <p:nvPr/>
        </p:nvSpPr>
        <p:spPr>
          <a:xfrm>
            <a:off x="822960" y="3474720"/>
            <a:ext cx="10058400" cy="274320"/>
          </a:xfrm>
          <a:prstGeom prst="rect">
            <a:avLst/>
          </a:prstGeom>
          <a:noFill/>
          <a:ln/>
        </p:spPr>
        <p:txBody>
          <a:bodyPr wrap="square" lIns="0" tIns="0" rIns="0" bIns="0" rtlCol="0" anchor="ctr"/>
          <a:lstStyle/>
          <a:p>
            <a:pPr indent="0" marL="0">
              <a:buNone/>
            </a:pPr>
            <a:r>
              <a:rPr lang="en-US" sz="1300" dirty="0">
                <a:solidFill>
                  <a:srgbClr val="A85C6E"/>
                </a:solidFill>
                <a:latin typeface="Meiryo" pitchFamily="34" charset="0"/>
                <a:ea typeface="Meiryo" pitchFamily="34" charset="-122"/>
                <a:cs typeface="Meiryo" pitchFamily="34" charset="-120"/>
              </a:rPr>
              <a:t>2026年10月23日</a:t>
            </a:r>
            <a:endParaRPr lang="en-US" sz="1300" dirty="0"/>
          </a:p>
        </p:txBody>
      </p:sp>
      <p:sp>
        <p:nvSpPr>
          <p:cNvPr id="6" name="Shape 4"/>
          <p:cNvSpPr/>
          <p:nvPr/>
        </p:nvSpPr>
        <p:spPr>
          <a:xfrm>
            <a:off x="822960" y="3877056"/>
            <a:ext cx="2926080" cy="0"/>
          </a:xfrm>
          <a:prstGeom prst="line">
            <a:avLst/>
          </a:prstGeom>
          <a:noFill/>
          <a:ln w="25400">
            <a:solidFill>
              <a:srgbClr val="6E2639"/>
            </a:solidFill>
            <a:prstDash val="solid"/>
          </a:ln>
        </p:spPr>
      </p:sp>
      <p:sp>
        <p:nvSpPr>
          <p:cNvPr id="7" name="Text 5"/>
          <p:cNvSpPr txBox="1"/>
          <p:nvPr/>
        </p:nvSpPr>
        <p:spPr>
          <a:xfrm>
            <a:off x="822960" y="4187952"/>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作成</a:t>
            </a:r>
            <a:endParaRPr lang="en-US" sz="1000" dirty="0"/>
          </a:p>
        </p:txBody>
      </p:sp>
      <p:sp>
        <p:nvSpPr>
          <p:cNvPr id="8" name="Text 6"/>
          <p:cNvSpPr txBox="1"/>
          <p:nvPr/>
        </p:nvSpPr>
        <p:spPr>
          <a:xfrm>
            <a:off x="2468880" y="4187952"/>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代表取締役 中野 邦人</a:t>
            </a:r>
            <a:endParaRPr lang="en-US" sz="1200" dirty="0"/>
          </a:p>
        </p:txBody>
      </p:sp>
      <p:sp>
        <p:nvSpPr>
          <p:cNvPr id="9" name="Text 7"/>
          <p:cNvSpPr txBox="1"/>
          <p:nvPr/>
        </p:nvSpPr>
        <p:spPr>
          <a:xfrm>
            <a:off x="822960" y="4572000"/>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前提</a:t>
            </a:r>
            <a:endParaRPr lang="en-US" sz="1000" dirty="0"/>
          </a:p>
        </p:txBody>
      </p:sp>
      <p:sp>
        <p:nvSpPr>
          <p:cNvPr id="10" name="Text 8"/>
          <p:cNvSpPr txBox="1"/>
          <p:nvPr/>
        </p:nvSpPr>
        <p:spPr>
          <a:xfrm>
            <a:off x="2468880" y="4572000"/>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スマサポ発行済 2,405,200株 ／ あどばる発行済 201,616株（SO行使後）</a:t>
            </a:r>
            <a:endParaRPr lang="en-US" sz="1200" dirty="0"/>
          </a:p>
        </p:txBody>
      </p:sp>
      <p:sp>
        <p:nvSpPr>
          <p:cNvPr id="11" name="Text 9"/>
          <p:cNvSpPr txBox="1"/>
          <p:nvPr/>
        </p:nvSpPr>
        <p:spPr>
          <a:xfrm>
            <a:off x="822960" y="4956048"/>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出所</a:t>
            </a:r>
            <a:endParaRPr lang="en-US" sz="1000" dirty="0"/>
          </a:p>
        </p:txBody>
      </p:sp>
      <p:sp>
        <p:nvSpPr>
          <p:cNvPr id="12" name="Text 10"/>
          <p:cNvSpPr txBox="1"/>
          <p:nvPr/>
        </p:nvSpPr>
        <p:spPr>
          <a:xfrm>
            <a:off x="2468880" y="4956048"/>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スマサポ社の公開情報（2025年9月期有価証券報告書・会社IR・コーポレートガバナンス報告書）</a:t>
            </a:r>
            <a:endParaRPr lang="en-US" sz="1200" dirty="0"/>
          </a:p>
        </p:txBody>
      </p:sp>
      <p:sp>
        <p:nvSpPr>
          <p:cNvPr id="13" name="Text 11"/>
          <p:cNvSpPr txBox="1"/>
          <p:nvPr/>
        </p:nvSpPr>
        <p:spPr>
          <a:xfrm>
            <a:off x="822960" y="6217920"/>
            <a:ext cx="10515600" cy="274320"/>
          </a:xfrm>
          <a:prstGeom prst="rect">
            <a:avLst/>
          </a:prstGeom>
          <a:noFill/>
          <a:ln/>
        </p:spPr>
        <p:txBody>
          <a:bodyPr wrap="square" lIns="0" tIns="0" rIns="0" bIns="0" rtlCol="0" anchor="ctr"/>
          <a:lstStyle/>
          <a:p>
            <a:pPr indent="0" marL="0">
              <a:buNone/>
            </a:pPr>
            <a:r>
              <a:rPr lang="en-US" sz="900" dirty="0">
                <a:solidFill>
                  <a:srgbClr val="6D7A87"/>
                </a:solidFill>
                <a:latin typeface="Meiryo" pitchFamily="34" charset="0"/>
                <a:ea typeface="Meiryo" pitchFamily="34" charset="-122"/>
                <a:cs typeface="Meiryo" pitchFamily="34" charset="-120"/>
              </a:rPr>
              <a:t>公開情報にもとづく試算です。スマサポ社の新株予約権の残高は未確認であり、実際の比率は変動しうるものです</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前提</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合併の条件</a:t>
            </a:r>
            <a:endParaRPr lang="en-US" sz="2800" dirty="0"/>
          </a:p>
        </p:txBody>
      </p:sp>
      <p:sp>
        <p:nvSpPr>
          <p:cNvPr id="4" name="Text 2"/>
          <p:cNvSpPr txBox="1"/>
          <p:nvPr/>
        </p:nvSpPr>
        <p:spPr>
          <a:xfrm>
            <a:off x="640080" y="1554480"/>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スマサポの評価</a:t>
            </a:r>
            <a:endParaRPr lang="en-US" sz="1100" dirty="0"/>
          </a:p>
        </p:txBody>
      </p:sp>
      <p:sp>
        <p:nvSpPr>
          <p:cNvPr id="5" name="Text 3"/>
          <p:cNvSpPr txBox="1"/>
          <p:nvPr/>
        </p:nvSpPr>
        <p:spPr>
          <a:xfrm>
            <a:off x="640080" y="1792224"/>
            <a:ext cx="2651760" cy="502920"/>
          </a:xfrm>
          <a:prstGeom prst="rect">
            <a:avLst/>
          </a:prstGeom>
          <a:noFill/>
          <a:ln/>
        </p:spPr>
        <p:txBody>
          <a:bodyPr wrap="square" lIns="0" tIns="0" rIns="0" bIns="0" rtlCol="0" anchor="ctr"/>
          <a:lstStyle/>
          <a:p>
            <a:pPr indent="0" marL="0">
              <a:buNone/>
            </a:pPr>
            <a:r>
              <a:rPr lang="en-US" sz="3000" b="1" dirty="0">
                <a:solidFill>
                  <a:srgbClr val="2E5C8A"/>
                </a:solidFill>
                <a:latin typeface="Meiryo" pitchFamily="34" charset="0"/>
                <a:ea typeface="Meiryo" pitchFamily="34" charset="-122"/>
                <a:cs typeface="Meiryo" pitchFamily="34" charset="-120"/>
              </a:rPr>
              <a:t>20.0</a:t>
            </a:r>
            <a:pPr indent="0" marL="0">
              <a:buNone/>
            </a:pPr>
            <a:r>
              <a:rPr lang="en-US" sz="1300" b="1" dirty="0">
                <a:solidFill>
                  <a:srgbClr val="2E5C8A"/>
                </a:solidFill>
                <a:latin typeface="Meiryo" pitchFamily="34" charset="0"/>
                <a:ea typeface="Meiryo" pitchFamily="34" charset="-122"/>
                <a:cs typeface="Meiryo" pitchFamily="34" charset="-120"/>
              </a:rPr>
              <a:t>億円</a:t>
            </a:r>
            <a:endParaRPr lang="en-US" sz="3000" dirty="0"/>
          </a:p>
        </p:txBody>
      </p:sp>
      <p:sp>
        <p:nvSpPr>
          <p:cNvPr id="6" name="Text 4"/>
          <p:cNvSpPr txBox="1"/>
          <p:nvPr/>
        </p:nvSpPr>
        <p:spPr>
          <a:xfrm>
            <a:off x="640080" y="2304288"/>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発行済 2,405,200株 → 1株 831.53円</a:t>
            </a:r>
            <a:endParaRPr lang="en-US" sz="1000" dirty="0"/>
          </a:p>
        </p:txBody>
      </p:sp>
      <p:sp>
        <p:nvSpPr>
          <p:cNvPr id="7" name="Text 5"/>
          <p:cNvSpPr txBox="1"/>
          <p:nvPr/>
        </p:nvSpPr>
        <p:spPr>
          <a:xfrm>
            <a:off x="3474720" y="1554480"/>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あどばるの評価</a:t>
            </a:r>
            <a:endParaRPr lang="en-US" sz="1100" dirty="0"/>
          </a:p>
        </p:txBody>
      </p:sp>
      <p:sp>
        <p:nvSpPr>
          <p:cNvPr id="8" name="Text 6"/>
          <p:cNvSpPr txBox="1"/>
          <p:nvPr/>
        </p:nvSpPr>
        <p:spPr>
          <a:xfrm>
            <a:off x="3474720" y="1792224"/>
            <a:ext cx="2651760" cy="502920"/>
          </a:xfrm>
          <a:prstGeom prst="rect">
            <a:avLst/>
          </a:prstGeom>
          <a:noFill/>
          <a:ln/>
        </p:spPr>
        <p:txBody>
          <a:bodyPr wrap="square" lIns="0" tIns="0" rIns="0" bIns="0" rtlCol="0" anchor="ctr"/>
          <a:lstStyle/>
          <a:p>
            <a:pPr indent="0" marL="0">
              <a:buNone/>
            </a:pPr>
            <a:r>
              <a:rPr lang="en-US" sz="3000" b="1" dirty="0">
                <a:solidFill>
                  <a:srgbClr val="6E2639"/>
                </a:solidFill>
                <a:latin typeface="Meiryo" pitchFamily="34" charset="0"/>
                <a:ea typeface="Meiryo" pitchFamily="34" charset="-122"/>
                <a:cs typeface="Meiryo" pitchFamily="34" charset="-120"/>
              </a:rPr>
              <a:t>15.0</a:t>
            </a:r>
            <a:pPr indent="0" marL="0">
              <a:buNone/>
            </a:pPr>
            <a:r>
              <a:rPr lang="en-US" sz="1300" b="1" dirty="0">
                <a:solidFill>
                  <a:srgbClr val="6E2639"/>
                </a:solidFill>
                <a:latin typeface="Meiryo" pitchFamily="34" charset="0"/>
                <a:ea typeface="Meiryo" pitchFamily="34" charset="-122"/>
                <a:cs typeface="Meiryo" pitchFamily="34" charset="-120"/>
              </a:rPr>
              <a:t>億円</a:t>
            </a:r>
            <a:endParaRPr lang="en-US" sz="3000" dirty="0"/>
          </a:p>
        </p:txBody>
      </p:sp>
      <p:sp>
        <p:nvSpPr>
          <p:cNvPr id="9" name="Text 7"/>
          <p:cNvSpPr txBox="1"/>
          <p:nvPr/>
        </p:nvSpPr>
        <p:spPr>
          <a:xfrm>
            <a:off x="3474720" y="2304288"/>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発行済 201,616株 → 1株 7,439.89円</a:t>
            </a:r>
            <a:endParaRPr lang="en-US" sz="1000" dirty="0"/>
          </a:p>
        </p:txBody>
      </p:sp>
      <p:sp>
        <p:nvSpPr>
          <p:cNvPr id="10" name="Text 8"/>
          <p:cNvSpPr txBox="1"/>
          <p:nvPr/>
        </p:nvSpPr>
        <p:spPr>
          <a:xfrm>
            <a:off x="6309360" y="1554480"/>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合併比率</a:t>
            </a:r>
            <a:endParaRPr lang="en-US" sz="1100" dirty="0"/>
          </a:p>
        </p:txBody>
      </p:sp>
      <p:sp>
        <p:nvSpPr>
          <p:cNvPr id="11" name="Text 9"/>
          <p:cNvSpPr txBox="1"/>
          <p:nvPr/>
        </p:nvSpPr>
        <p:spPr>
          <a:xfrm>
            <a:off x="6309360" y="1792224"/>
            <a:ext cx="265176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1 : 8.9472</a:t>
            </a:r>
            <a:pPr indent="0" marL="0">
              <a:buNone/>
            </a:pPr>
            <a:endParaRPr lang="en-US" sz="3000" dirty="0"/>
          </a:p>
        </p:txBody>
      </p:sp>
      <p:sp>
        <p:nvSpPr>
          <p:cNvPr id="12" name="Text 10"/>
          <p:cNvSpPr txBox="1"/>
          <p:nvPr/>
        </p:nvSpPr>
        <p:spPr>
          <a:xfrm>
            <a:off x="6309360" y="2304288"/>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あどばる1株にスマサポ株8.9472株</a:t>
            </a:r>
            <a:endParaRPr lang="en-US" sz="1000" dirty="0"/>
          </a:p>
        </p:txBody>
      </p:sp>
      <p:sp>
        <p:nvSpPr>
          <p:cNvPr id="13" name="Text 11"/>
          <p:cNvSpPr txBox="1"/>
          <p:nvPr/>
        </p:nvSpPr>
        <p:spPr>
          <a:xfrm>
            <a:off x="9144000" y="1554480"/>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合併後 時価総額</a:t>
            </a:r>
            <a:endParaRPr lang="en-US" sz="1100" dirty="0"/>
          </a:p>
        </p:txBody>
      </p:sp>
      <p:sp>
        <p:nvSpPr>
          <p:cNvPr id="14" name="Text 12"/>
          <p:cNvSpPr txBox="1"/>
          <p:nvPr/>
        </p:nvSpPr>
        <p:spPr>
          <a:xfrm>
            <a:off x="9144000" y="1792224"/>
            <a:ext cx="2377440" cy="502920"/>
          </a:xfrm>
          <a:prstGeom prst="rect">
            <a:avLst/>
          </a:prstGeom>
          <a:noFill/>
          <a:ln/>
        </p:spPr>
        <p:txBody>
          <a:bodyPr wrap="square" lIns="0" tIns="0" rIns="0" bIns="0" rtlCol="0" anchor="ctr"/>
          <a:lstStyle/>
          <a:p>
            <a:pPr indent="0" marL="0">
              <a:buNone/>
            </a:pPr>
            <a:r>
              <a:rPr lang="en-US" sz="3000" b="1" dirty="0">
                <a:solidFill>
                  <a:srgbClr val="2C6A4E"/>
                </a:solidFill>
                <a:latin typeface="Meiryo" pitchFamily="34" charset="0"/>
                <a:ea typeface="Meiryo" pitchFamily="34" charset="-122"/>
                <a:cs typeface="Meiryo" pitchFamily="34" charset="-120"/>
              </a:rPr>
              <a:t>35.0</a:t>
            </a:r>
            <a:pPr indent="0" marL="0">
              <a:buNone/>
            </a:pPr>
            <a:r>
              <a:rPr lang="en-US" sz="1300" b="1" dirty="0">
                <a:solidFill>
                  <a:srgbClr val="2C6A4E"/>
                </a:solidFill>
                <a:latin typeface="Meiryo" pitchFamily="34" charset="0"/>
                <a:ea typeface="Meiryo" pitchFamily="34" charset="-122"/>
                <a:cs typeface="Meiryo" pitchFamily="34" charset="-120"/>
              </a:rPr>
              <a:t>億円</a:t>
            </a:r>
            <a:endParaRPr lang="en-US" sz="3000" dirty="0"/>
          </a:p>
        </p:txBody>
      </p:sp>
      <p:sp>
        <p:nvSpPr>
          <p:cNvPr id="15" name="Text 13"/>
          <p:cNvSpPr txBox="1"/>
          <p:nvPr/>
        </p:nvSpPr>
        <p:spPr>
          <a:xfrm>
            <a:off x="9144000" y="2304288"/>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スマサポ単体20億から拡大</a:t>
            </a:r>
            <a:endParaRPr lang="en-US" sz="1000" dirty="0"/>
          </a:p>
        </p:txBody>
      </p:sp>
      <p:sp>
        <p:nvSpPr>
          <p:cNvPr id="16" name="Shape 14"/>
          <p:cNvSpPr/>
          <p:nvPr/>
        </p:nvSpPr>
        <p:spPr>
          <a:xfrm>
            <a:off x="640080" y="2834640"/>
            <a:ext cx="5349240" cy="1463040"/>
          </a:xfrm>
          <a:prstGeom prst="roundRect">
            <a:avLst>
              <a:gd name="adj" fmla="val 375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7" name="Text 15"/>
          <p:cNvSpPr txBox="1"/>
          <p:nvPr/>
        </p:nvSpPr>
        <p:spPr>
          <a:xfrm>
            <a:off x="914400" y="3017520"/>
            <a:ext cx="4754880" cy="274320"/>
          </a:xfrm>
          <a:prstGeom prst="rect">
            <a:avLst/>
          </a:prstGeom>
          <a:noFill/>
          <a:ln/>
        </p:spPr>
        <p:txBody>
          <a:bodyPr wrap="square" lIns="0" tIns="0" rIns="0" bIns="0" rtlCol="0" anchor="ctr"/>
          <a:lstStyle/>
          <a:p>
            <a:pPr indent="0" marL="0">
              <a:buNone/>
            </a:pPr>
            <a:r>
              <a:rPr lang="en-US" sz="1300" b="1" dirty="0">
                <a:solidFill>
                  <a:srgbClr val="1E2A38"/>
                </a:solidFill>
                <a:latin typeface="Meiryo" pitchFamily="34" charset="0"/>
                <a:ea typeface="Meiryo" pitchFamily="34" charset="-122"/>
                <a:cs typeface="Meiryo" pitchFamily="34" charset="-120"/>
              </a:rPr>
              <a:t>交付する新株</a:t>
            </a:r>
            <a:endParaRPr lang="en-US" sz="1300" dirty="0"/>
          </a:p>
        </p:txBody>
      </p:sp>
      <p:sp>
        <p:nvSpPr>
          <p:cNvPr id="18" name="Text 16"/>
          <p:cNvSpPr txBox="1"/>
          <p:nvPr/>
        </p:nvSpPr>
        <p:spPr>
          <a:xfrm>
            <a:off x="914400" y="3364992"/>
            <a:ext cx="301752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あどばる株主へ交付</a:t>
            </a:r>
            <a:endParaRPr lang="en-US" sz="1100" dirty="0"/>
          </a:p>
        </p:txBody>
      </p:sp>
      <p:sp>
        <p:nvSpPr>
          <p:cNvPr id="19" name="Text 17"/>
          <p:cNvSpPr txBox="1"/>
          <p:nvPr/>
        </p:nvSpPr>
        <p:spPr>
          <a:xfrm>
            <a:off x="3931920" y="3346704"/>
            <a:ext cx="1783080" cy="292608"/>
          </a:xfrm>
          <a:prstGeom prst="rect">
            <a:avLst/>
          </a:prstGeom>
          <a:noFill/>
          <a:ln/>
        </p:spPr>
        <p:txBody>
          <a:bodyPr wrap="square" lIns="0" tIns="0" rIns="0" bIns="0" rtlCol="0" anchor="ctr"/>
          <a:lstStyle/>
          <a:p>
            <a:pPr algn="r" indent="0" marL="0">
              <a:buNone/>
            </a:pPr>
            <a:r>
              <a:rPr lang="en-US" sz="1300" b="1" dirty="0">
                <a:solidFill>
                  <a:srgbClr val="1E2A38"/>
                </a:solidFill>
                <a:latin typeface="Meiryo" pitchFamily="34" charset="0"/>
                <a:ea typeface="Meiryo" pitchFamily="34" charset="-122"/>
                <a:cs typeface="Meiryo" pitchFamily="34" charset="-120"/>
              </a:rPr>
              <a:t>1,803,900株</a:t>
            </a:r>
            <a:endParaRPr lang="en-US" sz="1300" dirty="0"/>
          </a:p>
        </p:txBody>
      </p:sp>
      <p:sp>
        <p:nvSpPr>
          <p:cNvPr id="20" name="Text 18"/>
          <p:cNvSpPr txBox="1"/>
          <p:nvPr/>
        </p:nvSpPr>
        <p:spPr>
          <a:xfrm>
            <a:off x="914400" y="3694176"/>
            <a:ext cx="301752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スマサポ既存</a:t>
            </a:r>
            <a:endParaRPr lang="en-US" sz="1100" dirty="0"/>
          </a:p>
        </p:txBody>
      </p:sp>
      <p:sp>
        <p:nvSpPr>
          <p:cNvPr id="21" name="Text 19"/>
          <p:cNvSpPr txBox="1"/>
          <p:nvPr/>
        </p:nvSpPr>
        <p:spPr>
          <a:xfrm>
            <a:off x="3931920" y="3675888"/>
            <a:ext cx="1783080" cy="292608"/>
          </a:xfrm>
          <a:prstGeom prst="rect">
            <a:avLst/>
          </a:prstGeom>
          <a:noFill/>
          <a:ln/>
        </p:spPr>
        <p:txBody>
          <a:bodyPr wrap="square" lIns="0" tIns="0" rIns="0" bIns="0" rtlCol="0" anchor="ctr"/>
          <a:lstStyle/>
          <a:p>
            <a:pPr algn="r" indent="0" marL="0">
              <a:buNone/>
            </a:pPr>
            <a:r>
              <a:rPr lang="en-US" sz="1300" b="1" dirty="0">
                <a:solidFill>
                  <a:srgbClr val="1E2A38"/>
                </a:solidFill>
                <a:latin typeface="Meiryo" pitchFamily="34" charset="0"/>
                <a:ea typeface="Meiryo" pitchFamily="34" charset="-122"/>
                <a:cs typeface="Meiryo" pitchFamily="34" charset="-120"/>
              </a:rPr>
              <a:t>2,405,200株</a:t>
            </a:r>
            <a:endParaRPr lang="en-US" sz="1300" dirty="0"/>
          </a:p>
        </p:txBody>
      </p:sp>
      <p:sp>
        <p:nvSpPr>
          <p:cNvPr id="22" name="Text 20"/>
          <p:cNvSpPr txBox="1"/>
          <p:nvPr/>
        </p:nvSpPr>
        <p:spPr>
          <a:xfrm>
            <a:off x="914400" y="4023360"/>
            <a:ext cx="301752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合併後 発行済</a:t>
            </a:r>
            <a:endParaRPr lang="en-US" sz="1100" dirty="0"/>
          </a:p>
        </p:txBody>
      </p:sp>
      <p:sp>
        <p:nvSpPr>
          <p:cNvPr id="23" name="Text 21"/>
          <p:cNvSpPr txBox="1"/>
          <p:nvPr/>
        </p:nvSpPr>
        <p:spPr>
          <a:xfrm>
            <a:off x="3931920" y="4005072"/>
            <a:ext cx="1783080" cy="292608"/>
          </a:xfrm>
          <a:prstGeom prst="rect">
            <a:avLst/>
          </a:prstGeom>
          <a:noFill/>
          <a:ln/>
        </p:spPr>
        <p:txBody>
          <a:bodyPr wrap="square" lIns="0" tIns="0" rIns="0" bIns="0" rtlCol="0" anchor="ctr"/>
          <a:lstStyle/>
          <a:p>
            <a:pPr algn="r" indent="0" marL="0">
              <a:buNone/>
            </a:pPr>
            <a:r>
              <a:rPr lang="en-US" sz="1300" b="1" dirty="0">
                <a:solidFill>
                  <a:srgbClr val="6E2639"/>
                </a:solidFill>
                <a:latin typeface="Meiryo" pitchFamily="34" charset="0"/>
                <a:ea typeface="Meiryo" pitchFamily="34" charset="-122"/>
                <a:cs typeface="Meiryo" pitchFamily="34" charset="-120"/>
              </a:rPr>
              <a:t>4,209,100株</a:t>
            </a:r>
            <a:endParaRPr lang="en-US" sz="1300" dirty="0"/>
          </a:p>
        </p:txBody>
      </p:sp>
      <p:sp>
        <p:nvSpPr>
          <p:cNvPr id="24" name="Shape 22"/>
          <p:cNvSpPr/>
          <p:nvPr/>
        </p:nvSpPr>
        <p:spPr>
          <a:xfrm>
            <a:off x="6172200" y="2834640"/>
            <a:ext cx="5349240" cy="1463040"/>
          </a:xfrm>
          <a:prstGeom prst="roundRect">
            <a:avLst>
              <a:gd name="adj" fmla="val 3750"/>
            </a:avLst>
          </a:prstGeom>
          <a:solidFill>
            <a:srgbClr val="EEF3F8"/>
          </a:solidFill>
          <a:ln w="12700">
            <a:solidFill>
              <a:srgbClr val="C6D6E5"/>
            </a:solidFill>
            <a:prstDash val="solid"/>
          </a:ln>
          <a:effectLst>
            <a:outerShdw sx="100000" sy="100000" kx="0" ky="0" algn="bl" rotWithShape="0" blurRad="101600" dist="12700" dir="5400000">
              <a:srgbClr val="AAB4BE">
                <a:alpha val="18000"/>
              </a:srgbClr>
            </a:outerShdw>
          </a:effectLst>
        </p:spPr>
      </p:sp>
      <p:sp>
        <p:nvSpPr>
          <p:cNvPr id="25" name="Text 23"/>
          <p:cNvSpPr txBox="1"/>
          <p:nvPr/>
        </p:nvSpPr>
        <p:spPr>
          <a:xfrm>
            <a:off x="6446520" y="3017520"/>
            <a:ext cx="4754880" cy="274320"/>
          </a:xfrm>
          <a:prstGeom prst="rect">
            <a:avLst/>
          </a:prstGeom>
          <a:noFill/>
          <a:ln/>
        </p:spPr>
        <p:txBody>
          <a:bodyPr wrap="square" lIns="0" tIns="0" rIns="0" bIns="0" rtlCol="0" anchor="ctr"/>
          <a:lstStyle/>
          <a:p>
            <a:pPr indent="0" marL="0">
              <a:buNone/>
            </a:pPr>
            <a:r>
              <a:rPr lang="en-US" sz="1300" b="1" dirty="0">
                <a:solidFill>
                  <a:srgbClr val="2E5C8A"/>
                </a:solidFill>
                <a:latin typeface="Meiryo" pitchFamily="34" charset="0"/>
                <a:ea typeface="Meiryo" pitchFamily="34" charset="-122"/>
                <a:cs typeface="Meiryo" pitchFamily="34" charset="-120"/>
              </a:rPr>
              <a:t>出身別の持分</a:t>
            </a:r>
            <a:endParaRPr lang="en-US" sz="1300" dirty="0"/>
          </a:p>
        </p:txBody>
      </p:sp>
      <p:sp>
        <p:nvSpPr>
          <p:cNvPr id="26" name="Text 24"/>
          <p:cNvSpPr txBox="1"/>
          <p:nvPr/>
        </p:nvSpPr>
        <p:spPr>
          <a:xfrm>
            <a:off x="6446520" y="3456432"/>
            <a:ext cx="301752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旧スマサポ株主</a:t>
            </a:r>
            <a:endParaRPr lang="en-US" sz="1150" dirty="0"/>
          </a:p>
        </p:txBody>
      </p:sp>
      <p:sp>
        <p:nvSpPr>
          <p:cNvPr id="27" name="Text 25"/>
          <p:cNvSpPr txBox="1"/>
          <p:nvPr/>
        </p:nvSpPr>
        <p:spPr>
          <a:xfrm>
            <a:off x="9464040" y="3401568"/>
            <a:ext cx="1737360" cy="365760"/>
          </a:xfrm>
          <a:prstGeom prst="rect">
            <a:avLst/>
          </a:prstGeom>
          <a:noFill/>
          <a:ln/>
        </p:spPr>
        <p:txBody>
          <a:bodyPr wrap="square" lIns="0" tIns="0" rIns="0" bIns="0" rtlCol="0" anchor="ctr"/>
          <a:lstStyle/>
          <a:p>
            <a:pPr algn="r" indent="0" marL="0">
              <a:buNone/>
            </a:pPr>
            <a:r>
              <a:rPr lang="en-US" sz="2000" b="1" dirty="0">
                <a:solidFill>
                  <a:srgbClr val="2E5C8A"/>
                </a:solidFill>
                <a:latin typeface="Meiryo" pitchFamily="34" charset="0"/>
                <a:ea typeface="Meiryo" pitchFamily="34" charset="-122"/>
                <a:cs typeface="Meiryo" pitchFamily="34" charset="-120"/>
              </a:rPr>
              <a:t>57.14%</a:t>
            </a:r>
            <a:endParaRPr lang="en-US" sz="2000" dirty="0"/>
          </a:p>
        </p:txBody>
      </p:sp>
      <p:sp>
        <p:nvSpPr>
          <p:cNvPr id="28" name="Text 26"/>
          <p:cNvSpPr txBox="1"/>
          <p:nvPr/>
        </p:nvSpPr>
        <p:spPr>
          <a:xfrm>
            <a:off x="6446520" y="3913632"/>
            <a:ext cx="301752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旧あどばる株主</a:t>
            </a:r>
            <a:endParaRPr lang="en-US" sz="1150" dirty="0"/>
          </a:p>
        </p:txBody>
      </p:sp>
      <p:sp>
        <p:nvSpPr>
          <p:cNvPr id="29" name="Text 27"/>
          <p:cNvSpPr txBox="1"/>
          <p:nvPr/>
        </p:nvSpPr>
        <p:spPr>
          <a:xfrm>
            <a:off x="9464040" y="3858768"/>
            <a:ext cx="1737360" cy="365760"/>
          </a:xfrm>
          <a:prstGeom prst="rect">
            <a:avLst/>
          </a:prstGeom>
          <a:noFill/>
          <a:ln/>
        </p:spPr>
        <p:txBody>
          <a:bodyPr wrap="square" lIns="0" tIns="0" rIns="0" bIns="0" rtlCol="0" anchor="ctr"/>
          <a:lstStyle/>
          <a:p>
            <a:pPr algn="r" indent="0" marL="0">
              <a:buNone/>
            </a:pPr>
            <a:r>
              <a:rPr lang="en-US" sz="2000" b="1" dirty="0">
                <a:solidFill>
                  <a:srgbClr val="6E2639"/>
                </a:solidFill>
                <a:latin typeface="Meiryo" pitchFamily="34" charset="0"/>
                <a:ea typeface="Meiryo" pitchFamily="34" charset="-122"/>
                <a:cs typeface="Meiryo" pitchFamily="34" charset="-120"/>
              </a:rPr>
              <a:t>42.86%</a:t>
            </a:r>
            <a:endParaRPr lang="en-US" sz="2000" dirty="0"/>
          </a:p>
        </p:txBody>
      </p:sp>
      <p:sp>
        <p:nvSpPr>
          <p:cNvPr id="30" name="Shape 28"/>
          <p:cNvSpPr/>
          <p:nvPr/>
        </p:nvSpPr>
        <p:spPr>
          <a:xfrm>
            <a:off x="640080" y="4526280"/>
            <a:ext cx="10881360" cy="1371600"/>
          </a:xfrm>
          <a:prstGeom prst="roundRect">
            <a:avLst>
              <a:gd name="adj" fmla="val 4000"/>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31" name="Text 29"/>
          <p:cNvSpPr txBox="1"/>
          <p:nvPr/>
        </p:nvSpPr>
        <p:spPr>
          <a:xfrm>
            <a:off x="960120" y="4690872"/>
            <a:ext cx="5486400" cy="274320"/>
          </a:xfrm>
          <a:prstGeom prst="rect">
            <a:avLst/>
          </a:prstGeom>
          <a:noFill/>
          <a:ln/>
        </p:spPr>
        <p:txBody>
          <a:bodyPr wrap="square" lIns="0" tIns="0" rIns="0" bIns="0" rtlCol="0" anchor="ctr"/>
          <a:lstStyle/>
          <a:p>
            <a:pPr indent="0" marL="0">
              <a:buNone/>
            </a:pPr>
            <a:r>
              <a:rPr lang="en-US" sz="1350" b="1" dirty="0">
                <a:solidFill>
                  <a:srgbClr val="6E2639"/>
                </a:solidFill>
                <a:latin typeface="Meiryo" pitchFamily="34" charset="0"/>
                <a:ea typeface="Meiryo" pitchFamily="34" charset="-122"/>
                <a:cs typeface="Meiryo" pitchFamily="34" charset="-120"/>
              </a:rPr>
              <a:t>この名簿で、まず目につく3点</a:t>
            </a:r>
            <a:endParaRPr lang="en-US" sz="1350" dirty="0"/>
          </a:p>
        </p:txBody>
      </p:sp>
      <p:sp>
        <p:nvSpPr>
          <p:cNvPr id="32" name="Text 30"/>
          <p:cNvSpPr txBox="1"/>
          <p:nvPr/>
        </p:nvSpPr>
        <p:spPr>
          <a:xfrm>
            <a:off x="960120" y="5029200"/>
            <a:ext cx="33832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ビジョン社が筆頭株主</a:t>
            </a:r>
            <a:endParaRPr lang="en-US" sz="1200" dirty="0"/>
          </a:p>
        </p:txBody>
      </p:sp>
      <p:sp>
        <p:nvSpPr>
          <p:cNvPr id="33" name="Text 31"/>
          <p:cNvSpPr txBox="1"/>
          <p:nvPr/>
        </p:nvSpPr>
        <p:spPr>
          <a:xfrm>
            <a:off x="960120" y="5303520"/>
            <a:ext cx="3383280" cy="237744"/>
          </a:xfrm>
          <a:prstGeom prst="rect">
            <a:avLst/>
          </a:prstGeom>
          <a:noFill/>
          <a:ln/>
        </p:spPr>
        <p:txBody>
          <a:bodyPr wrap="square" lIns="0" tIns="0" rIns="0" bIns="0" rtlCol="0" anchor="ctr"/>
          <a:lstStyle/>
          <a:p>
            <a:pPr indent="0" marL="0">
              <a:buNone/>
            </a:pPr>
            <a:r>
              <a:rPr lang="en-US" sz="1050" dirty="0">
                <a:solidFill>
                  <a:srgbClr val="6E2639"/>
                </a:solidFill>
                <a:latin typeface="Meiryo" pitchFamily="34" charset="0"/>
                <a:ea typeface="Meiryo" pitchFamily="34" charset="-122"/>
                <a:cs typeface="Meiryo" pitchFamily="34" charset="-120"/>
              </a:rPr>
              <a:t>20.07%</a:t>
            </a:r>
            <a:endParaRPr lang="en-US" sz="1050" dirty="0"/>
          </a:p>
        </p:txBody>
      </p:sp>
      <p:sp>
        <p:nvSpPr>
          <p:cNvPr id="34" name="Text 32"/>
          <p:cNvSpPr txBox="1"/>
          <p:nvPr/>
        </p:nvSpPr>
        <p:spPr>
          <a:xfrm>
            <a:off x="960120" y="5541264"/>
            <a:ext cx="3383280" cy="237744"/>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退出が前提条件です</a:t>
            </a:r>
            <a:endParaRPr lang="en-US" sz="950" dirty="0"/>
          </a:p>
        </p:txBody>
      </p:sp>
      <p:sp>
        <p:nvSpPr>
          <p:cNvPr id="35" name="Text 33"/>
          <p:cNvSpPr txBox="1"/>
          <p:nvPr/>
        </p:nvSpPr>
        <p:spPr>
          <a:xfrm>
            <a:off x="4544568" y="5029200"/>
            <a:ext cx="33832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太田氏側が30.80%</a:t>
            </a:r>
            <a:endParaRPr lang="en-US" sz="1200" dirty="0"/>
          </a:p>
        </p:txBody>
      </p:sp>
      <p:sp>
        <p:nvSpPr>
          <p:cNvPr id="36" name="Text 34"/>
          <p:cNvSpPr txBox="1"/>
          <p:nvPr/>
        </p:nvSpPr>
        <p:spPr>
          <a:xfrm>
            <a:off x="4544568" y="5303520"/>
            <a:ext cx="3383280" cy="237744"/>
          </a:xfrm>
          <a:prstGeom prst="rect">
            <a:avLst/>
          </a:prstGeom>
          <a:noFill/>
          <a:ln/>
        </p:spPr>
        <p:txBody>
          <a:bodyPr wrap="square" lIns="0" tIns="0" rIns="0" bIns="0" rtlCol="0" anchor="ctr"/>
          <a:lstStyle/>
          <a:p>
            <a:pPr indent="0" marL="0">
              <a:buNone/>
            </a:pPr>
            <a:r>
              <a:rPr lang="en-US" sz="1050" dirty="0">
                <a:solidFill>
                  <a:srgbClr val="6E2639"/>
                </a:solidFill>
                <a:latin typeface="Meiryo" pitchFamily="34" charset="0"/>
                <a:ea typeface="Meiryo" pitchFamily="34" charset="-122"/>
                <a:cs typeface="Meiryo" pitchFamily="34" charset="-120"/>
              </a:rPr>
              <a:t>資産管理会社＋本人＋太田玲氏</a:t>
            </a:r>
            <a:endParaRPr lang="en-US" sz="1050" dirty="0"/>
          </a:p>
        </p:txBody>
      </p:sp>
      <p:sp>
        <p:nvSpPr>
          <p:cNvPr id="37" name="Text 35"/>
          <p:cNvSpPr txBox="1"/>
          <p:nvPr/>
        </p:nvSpPr>
        <p:spPr>
          <a:xfrm>
            <a:off x="4544568" y="5541264"/>
            <a:ext cx="3383280" cy="237744"/>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圧倒的な筆頭陣営</a:t>
            </a:r>
            <a:endParaRPr lang="en-US" sz="950" dirty="0"/>
          </a:p>
        </p:txBody>
      </p:sp>
      <p:sp>
        <p:nvSpPr>
          <p:cNvPr id="38" name="Text 36"/>
          <p:cNvSpPr txBox="1"/>
          <p:nvPr/>
        </p:nvSpPr>
        <p:spPr>
          <a:xfrm>
            <a:off x="8129016" y="5029200"/>
            <a:ext cx="33832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中野は15.73%</a:t>
            </a:r>
            <a:endParaRPr lang="en-US" sz="1200" dirty="0"/>
          </a:p>
        </p:txBody>
      </p:sp>
      <p:sp>
        <p:nvSpPr>
          <p:cNvPr id="39" name="Text 37"/>
          <p:cNvSpPr txBox="1"/>
          <p:nvPr/>
        </p:nvSpPr>
        <p:spPr>
          <a:xfrm>
            <a:off x="8129016" y="5303520"/>
            <a:ext cx="3383280" cy="237744"/>
          </a:xfrm>
          <a:prstGeom prst="rect">
            <a:avLst/>
          </a:prstGeom>
          <a:noFill/>
          <a:ln/>
        </p:spPr>
        <p:txBody>
          <a:bodyPr wrap="square" lIns="0" tIns="0" rIns="0" bIns="0" rtlCol="0" anchor="ctr"/>
          <a:lstStyle/>
          <a:p>
            <a:pPr indent="0" marL="0">
              <a:buNone/>
            </a:pPr>
            <a:r>
              <a:rPr lang="en-US" sz="1050" dirty="0">
                <a:solidFill>
                  <a:srgbClr val="6E2639"/>
                </a:solidFill>
                <a:latin typeface="Meiryo" pitchFamily="34" charset="0"/>
                <a:ea typeface="Meiryo" pitchFamily="34" charset="-122"/>
                <a:cs typeface="Meiryo" pitchFamily="34" charset="-120"/>
              </a:rPr>
              <a:t>ビジョン退出後は第2位</a:t>
            </a:r>
            <a:endParaRPr lang="en-US" sz="1050" dirty="0"/>
          </a:p>
        </p:txBody>
      </p:sp>
      <p:sp>
        <p:nvSpPr>
          <p:cNvPr id="40" name="Text 38"/>
          <p:cNvSpPr txBox="1"/>
          <p:nvPr/>
        </p:nvSpPr>
        <p:spPr>
          <a:xfrm>
            <a:off x="8129016" y="5541264"/>
            <a:ext cx="3383280" cy="237744"/>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CABO DA ROCA 18.77%に次ぐ</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想定株主名簿</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合併後の全株主</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536192"/>
          <a:ext cx="5349240" cy="914400"/>
        </p:xfrm>
        <a:graphic>
          <a:graphicData uri="http://schemas.openxmlformats.org/drawingml/2006/table">
            <a:tbl>
              <a:tblPr/>
              <a:tblGrid>
                <a:gridCol w="2514600"/>
                <a:gridCol w="868680"/>
                <a:gridCol w="1005840"/>
                <a:gridCol w="960120"/>
              </a:tblGrid>
              <a:tr h="324612">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株主</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出身</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株数</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24612">
                <a:tc>
                  <a:txBody>
                    <a:bodyPr/>
                    <a:lstStyle/>
                    <a:p>
                      <a:pPr indent="0" marL="0">
                        <a:buNone/>
                      </a:pPr>
                      <a:r>
                        <a:rPr lang="en-US" sz="950" b="1" dirty="0">
                          <a:solidFill>
                            <a:srgbClr val="8A2E26"/>
                          </a:solidFill>
                          <a:latin typeface="Meiryo" pitchFamily="34" charset="0"/>
                          <a:ea typeface="Meiryo" pitchFamily="34" charset="-122"/>
                          <a:cs typeface="Meiryo" pitchFamily="34" charset="-120"/>
                        </a:rPr>
                        <a:t>ビジョン</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旧あどばる</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950" b="1" dirty="0">
                          <a:solidFill>
                            <a:srgbClr val="8A2E26"/>
                          </a:solidFill>
                          <a:latin typeface="Meiryo" pitchFamily="34" charset="0"/>
                          <a:ea typeface="Meiryo" pitchFamily="34" charset="-122"/>
                          <a:cs typeface="Meiryo" pitchFamily="34" charset="-120"/>
                        </a:rPr>
                        <a:t>844,617</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950" b="1" dirty="0">
                          <a:solidFill>
                            <a:srgbClr val="8A2E26"/>
                          </a:solidFill>
                          <a:latin typeface="Meiryo" pitchFamily="34" charset="0"/>
                          <a:ea typeface="Meiryo" pitchFamily="34" charset="-122"/>
                          <a:cs typeface="Meiryo" pitchFamily="34" charset="-120"/>
                        </a:rPr>
                        <a:t>20.07%</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24612">
                <a:tc>
                  <a:txBody>
                    <a:bodyPr/>
                    <a:lstStyle/>
                    <a:p>
                      <a:pPr indent="0" marL="0">
                        <a:buNone/>
                      </a:pPr>
                      <a:r>
                        <a:rPr lang="en-US" sz="950" b="1" dirty="0">
                          <a:solidFill>
                            <a:srgbClr val="2E5C8A"/>
                          </a:solidFill>
                          <a:latin typeface="Meiryo" pitchFamily="34" charset="0"/>
                          <a:ea typeface="Meiryo" pitchFamily="34" charset="-122"/>
                          <a:cs typeface="Meiryo" pitchFamily="34" charset="-120"/>
                        </a:rPr>
                        <a:t>CABO DA ROCA（太田氏の資産管理会社）</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旧スマサポ</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950" b="1" dirty="0">
                          <a:solidFill>
                            <a:srgbClr val="2E5C8A"/>
                          </a:solidFill>
                          <a:latin typeface="Meiryo" pitchFamily="34" charset="0"/>
                          <a:ea typeface="Meiryo" pitchFamily="34" charset="-122"/>
                          <a:cs typeface="Meiryo" pitchFamily="34" charset="-120"/>
                        </a:rPr>
                        <a:t>790,000</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950" b="1" dirty="0">
                          <a:solidFill>
                            <a:srgbClr val="2E5C8A"/>
                          </a:solidFill>
                          <a:latin typeface="Meiryo" pitchFamily="34" charset="0"/>
                          <a:ea typeface="Meiryo" pitchFamily="34" charset="-122"/>
                          <a:cs typeface="Meiryo" pitchFamily="34" charset="-120"/>
                        </a:rPr>
                        <a:t>18.77%</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その他株主</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旧スマサポ</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667,994</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15.87%</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b="1" dirty="0">
                          <a:solidFill>
                            <a:srgbClr val="6E2639"/>
                          </a:solidFill>
                          <a:latin typeface="Meiryo" pitchFamily="34" charset="0"/>
                          <a:ea typeface="Meiryo" pitchFamily="34" charset="-122"/>
                          <a:cs typeface="Meiryo" pitchFamily="34" charset="-120"/>
                        </a:rPr>
                        <a:t>中野 邦人</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旧あどばる</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950" b="1" dirty="0">
                          <a:solidFill>
                            <a:srgbClr val="6E2639"/>
                          </a:solidFill>
                          <a:latin typeface="Meiryo" pitchFamily="34" charset="0"/>
                          <a:ea typeface="Meiryo" pitchFamily="34" charset="-122"/>
                          <a:cs typeface="Meiryo" pitchFamily="34" charset="-120"/>
                        </a:rPr>
                        <a:t>662,093</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950" b="1" dirty="0">
                          <a:solidFill>
                            <a:srgbClr val="6E2639"/>
                          </a:solidFill>
                          <a:latin typeface="Meiryo" pitchFamily="34" charset="0"/>
                          <a:ea typeface="Meiryo" pitchFamily="34" charset="-122"/>
                          <a:cs typeface="Meiryo" pitchFamily="34" charset="-120"/>
                        </a:rPr>
                        <a:t>15.73%</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24612">
                <a:tc>
                  <a:txBody>
                    <a:bodyPr/>
                    <a:lstStyle/>
                    <a:p>
                      <a:pPr indent="0" marL="0">
                        <a:buNone/>
                      </a:pPr>
                      <a:r>
                        <a:rPr lang="en-US" sz="950" b="1" dirty="0">
                          <a:solidFill>
                            <a:srgbClr val="2E5C8A"/>
                          </a:solidFill>
                          <a:latin typeface="Meiryo" pitchFamily="34" charset="0"/>
                          <a:ea typeface="Meiryo" pitchFamily="34" charset="-122"/>
                          <a:cs typeface="Meiryo" pitchFamily="34" charset="-120"/>
                        </a:rPr>
                        <a:t>太田 卓利</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旧スマサポ</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950" b="1" dirty="0">
                          <a:solidFill>
                            <a:srgbClr val="2E5C8A"/>
                          </a:solidFill>
                          <a:latin typeface="Meiryo" pitchFamily="34" charset="0"/>
                          <a:ea typeface="Meiryo" pitchFamily="34" charset="-122"/>
                          <a:cs typeface="Meiryo" pitchFamily="34" charset="-120"/>
                        </a:rPr>
                        <a:t>443,300</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950" b="1" dirty="0">
                          <a:solidFill>
                            <a:srgbClr val="2E5C8A"/>
                          </a:solidFill>
                          <a:latin typeface="Meiryo" pitchFamily="34" charset="0"/>
                          <a:ea typeface="Meiryo" pitchFamily="34" charset="-122"/>
                          <a:cs typeface="Meiryo" pitchFamily="34" charset="-120"/>
                        </a:rPr>
                        <a:t>10.53%</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大東建託パートナーズ</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旧スマサポ</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140,000</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3.33%</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Hamagin DG Innovation投資事業有限責任組合</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旧スマサポ</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116,652</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2.77%</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BOS</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旧あどばる</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89,472</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2.13%</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エアトリ</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旧あどばる</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71,578</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1.70%</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b="1" dirty="0">
                          <a:solidFill>
                            <a:srgbClr val="2E5C8A"/>
                          </a:solidFill>
                          <a:latin typeface="Meiryo" pitchFamily="34" charset="0"/>
                          <a:ea typeface="Meiryo" pitchFamily="34" charset="-122"/>
                          <a:cs typeface="Meiryo" pitchFamily="34" charset="-120"/>
                        </a:rPr>
                        <a:t>太田 玲</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旧スマサポ</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950" b="1" dirty="0">
                          <a:solidFill>
                            <a:srgbClr val="2E5C8A"/>
                          </a:solidFill>
                          <a:latin typeface="Meiryo" pitchFamily="34" charset="0"/>
                          <a:ea typeface="Meiryo" pitchFamily="34" charset="-122"/>
                          <a:cs typeface="Meiryo" pitchFamily="34" charset="-120"/>
                        </a:rPr>
                        <a:t>63,016</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950" b="1" dirty="0">
                          <a:solidFill>
                            <a:srgbClr val="2E5C8A"/>
                          </a:solidFill>
                          <a:latin typeface="Meiryo" pitchFamily="34" charset="0"/>
                          <a:ea typeface="Meiryo" pitchFamily="34" charset="-122"/>
                          <a:cs typeface="Meiryo" pitchFamily="34" charset="-120"/>
                        </a:rPr>
                        <a:t>1.50%</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172200" y="1536192"/>
          <a:ext cx="5349240" cy="914400"/>
        </p:xfrm>
        <a:graphic>
          <a:graphicData uri="http://schemas.openxmlformats.org/drawingml/2006/table">
            <a:tbl>
              <a:tblPr/>
              <a:tblGrid>
                <a:gridCol w="2514600"/>
                <a:gridCol w="868680"/>
                <a:gridCol w="1005840"/>
                <a:gridCol w="960120"/>
              </a:tblGrid>
              <a:tr h="324612">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株主</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出身</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株数</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KUMA</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旧あどばる</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53,683</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1.28%</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三好不動産</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旧スマサポ</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50,028</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ENECHANGE</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旧スマサポ</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46,901</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1.11%</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フィル・カンパニー</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旧あどばる</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35,789</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0.85%</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小田 慎三（代表取締役社長）</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旧スマサポ</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32,230</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0.77%</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衣笠 賢二</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旧スマサポ</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30,065</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0.71%</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ベクトル</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旧あどばる</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28,774</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0.68%</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地域とトモニ1号投資事業有限責任組合</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旧スマサポ</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25,014</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0.59%</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4612">
                <a:tc>
                  <a:txBody>
                    <a:bodyPr/>
                    <a:lstStyle/>
                    <a:p>
                      <a:pPr indent="0" marL="0">
                        <a:buNone/>
                      </a:pPr>
                      <a:r>
                        <a:rPr lang="en-US" sz="950" dirty="0">
                          <a:solidFill>
                            <a:srgbClr val="3D4E60"/>
                          </a:solidFill>
                          <a:latin typeface="Meiryo" pitchFamily="34" charset="0"/>
                          <a:ea typeface="Meiryo" pitchFamily="34" charset="-122"/>
                          <a:cs typeface="Meiryo" pitchFamily="34" charset="-120"/>
                        </a:rPr>
                        <a:t>アンビション</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950" dirty="0">
                          <a:solidFill>
                            <a:srgbClr val="7C8A99"/>
                          </a:solidFill>
                          <a:latin typeface="Meiryo" pitchFamily="34" charset="0"/>
                          <a:ea typeface="Meiryo" pitchFamily="34" charset="-122"/>
                          <a:cs typeface="Meiryo" pitchFamily="34" charset="-120"/>
                        </a:rPr>
                        <a:t>旧あどばる</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dirty="0">
                          <a:solidFill>
                            <a:srgbClr val="3D4E60"/>
                          </a:solidFill>
                          <a:latin typeface="Meiryo" pitchFamily="34" charset="0"/>
                          <a:ea typeface="Meiryo" pitchFamily="34" charset="-122"/>
                          <a:cs typeface="Meiryo" pitchFamily="34" charset="-120"/>
                        </a:rPr>
                        <a:t>17,894</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950" b="1" dirty="0">
                          <a:solidFill>
                            <a:srgbClr val="3D4E60"/>
                          </a:solidFill>
                          <a:latin typeface="Meiryo" pitchFamily="34" charset="0"/>
                          <a:ea typeface="Meiryo" pitchFamily="34" charset="-122"/>
                          <a:cs typeface="Meiryo" pitchFamily="34" charset="-120"/>
                        </a:rPr>
                        <a:t>0.43%</a:t>
                      </a:r>
                      <a:endParaRPr lang="en-US" sz="9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6" name="Text 2"/>
          <p:cNvSpPr txBox="1"/>
          <p:nvPr/>
        </p:nvSpPr>
        <p:spPr>
          <a:xfrm>
            <a:off x="6172200" y="4846320"/>
            <a:ext cx="5349240" cy="274320"/>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合計 4,209,100株（100.00%）</a:t>
            </a:r>
            <a:endParaRPr lang="en-US" sz="1200" dirty="0"/>
          </a:p>
        </p:txBody>
      </p:sp>
      <p:sp>
        <p:nvSpPr>
          <p:cNvPr id="7" name="Shape 3"/>
          <p:cNvSpPr/>
          <p:nvPr/>
        </p:nvSpPr>
        <p:spPr>
          <a:xfrm>
            <a:off x="6172200" y="5193792"/>
            <a:ext cx="5349240" cy="777240"/>
          </a:xfrm>
          <a:prstGeom prst="roundRect">
            <a:avLst>
              <a:gd name="adj" fmla="val 7059"/>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8" name="Text 4"/>
          <p:cNvSpPr txBox="1"/>
          <p:nvPr/>
        </p:nvSpPr>
        <p:spPr>
          <a:xfrm>
            <a:off x="6446520" y="5358384"/>
            <a:ext cx="4800600" cy="457200"/>
          </a:xfrm>
          <a:prstGeom prst="rect">
            <a:avLst/>
          </a:prstGeom>
          <a:noFill/>
          <a:ln/>
        </p:spPr>
        <p:txBody>
          <a:bodyPr wrap="square" lIns="0" tIns="0" rIns="0" bIns="0" rtlCol="0" anchor="ctr"/>
          <a:lstStyle/>
          <a:p>
            <a:pPr indent="0" marL="0">
              <a:lnSpc>
                <a:spcPct val="120000"/>
              </a:lnSpc>
              <a:buNone/>
            </a:pPr>
            <a:r>
              <a:rPr lang="en-US" sz="1100" b="1" dirty="0">
                <a:solidFill>
                  <a:srgbClr val="6E2639"/>
                </a:solidFill>
                <a:latin typeface="Meiryo" pitchFamily="34" charset="0"/>
                <a:ea typeface="Meiryo" pitchFamily="34" charset="-122"/>
                <a:cs typeface="Meiryo" pitchFamily="34" charset="-120"/>
              </a:rPr>
              <a:t>太田氏側 計 1,296,316株（30.80%）　／　中野 662,093株（15.73%）</a:t>
            </a:r>
            <a:endParaRPr lang="en-US" sz="1100" dirty="0"/>
          </a:p>
        </p:txBody>
      </p:sp>
      <p:sp>
        <p:nvSpPr>
          <p:cNvPr id="9" name="Text 5"/>
          <p:cNvSpPr txBox="1"/>
          <p:nvPr/>
        </p:nvSpPr>
        <p:spPr>
          <a:xfrm>
            <a:off x="640080" y="6126480"/>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スマサポ社の株数は公表比率からの換算値です。端数はビジョン社の行で調整しています。</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読みどころ</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この名簿が示していること</a:t>
            </a:r>
            <a:endParaRPr lang="en-US" sz="2800" dirty="0"/>
          </a:p>
        </p:txBody>
      </p:sp>
      <p:sp>
        <p:nvSpPr>
          <p:cNvPr id="4" name="Shape 2"/>
          <p:cNvSpPr/>
          <p:nvPr/>
        </p:nvSpPr>
        <p:spPr>
          <a:xfrm>
            <a:off x="640080" y="1691640"/>
            <a:ext cx="5349240" cy="1920240"/>
          </a:xfrm>
          <a:prstGeom prst="roundRect">
            <a:avLst>
              <a:gd name="adj" fmla="val 2857"/>
            </a:avLst>
          </a:prstGeom>
          <a:solidFill>
            <a:srgbClr val="26333F"/>
          </a:solidFill>
          <a:ln w="12700">
            <a:solidFill>
              <a:srgbClr val="3A4854"/>
            </a:solidFill>
            <a:prstDash val="solid"/>
          </a:ln>
        </p:spPr>
      </p:sp>
      <p:sp>
        <p:nvSpPr>
          <p:cNvPr id="5" name="Text 3"/>
          <p:cNvSpPr txBox="1"/>
          <p:nvPr/>
        </p:nvSpPr>
        <p:spPr>
          <a:xfrm>
            <a:off x="91440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01</a:t>
            </a:r>
            <a:endParaRPr lang="en-US" sz="1500" dirty="0"/>
          </a:p>
        </p:txBody>
      </p:sp>
      <p:sp>
        <p:nvSpPr>
          <p:cNvPr id="6" name="Text 4"/>
          <p:cNvSpPr txBox="1"/>
          <p:nvPr/>
        </p:nvSpPr>
        <p:spPr>
          <a:xfrm>
            <a:off x="1691640" y="1892808"/>
            <a:ext cx="4114800" cy="36576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ビジョン社が合併後の筆頭株主になる</a:t>
            </a:r>
            <a:endParaRPr lang="en-US" sz="1400" dirty="0"/>
          </a:p>
        </p:txBody>
      </p:sp>
      <p:sp>
        <p:nvSpPr>
          <p:cNvPr id="7" name="Text 5"/>
          <p:cNvSpPr txBox="1"/>
          <p:nvPr/>
        </p:nvSpPr>
        <p:spPr>
          <a:xfrm>
            <a:off x="91440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20.07%。これまでの検討どおり、ビジョン社の退出は合併の前提条件です。退出させずに合併すると、親会社を上場会社に持ち込むだけになります。</a:t>
            </a:r>
            <a:endParaRPr lang="en-US" sz="1050" dirty="0"/>
          </a:p>
        </p:txBody>
      </p:sp>
      <p:sp>
        <p:nvSpPr>
          <p:cNvPr id="8" name="Shape 6"/>
          <p:cNvSpPr/>
          <p:nvPr/>
        </p:nvSpPr>
        <p:spPr>
          <a:xfrm>
            <a:off x="6172200" y="1691640"/>
            <a:ext cx="5349240" cy="1920240"/>
          </a:xfrm>
          <a:prstGeom prst="roundRect">
            <a:avLst>
              <a:gd name="adj" fmla="val 2857"/>
            </a:avLst>
          </a:prstGeom>
          <a:solidFill>
            <a:srgbClr val="26333F"/>
          </a:solidFill>
          <a:ln w="12700">
            <a:solidFill>
              <a:srgbClr val="3A4854"/>
            </a:solidFill>
            <a:prstDash val="solid"/>
          </a:ln>
        </p:spPr>
      </p:sp>
      <p:sp>
        <p:nvSpPr>
          <p:cNvPr id="9" name="Text 7"/>
          <p:cNvSpPr txBox="1"/>
          <p:nvPr/>
        </p:nvSpPr>
        <p:spPr>
          <a:xfrm>
            <a:off x="644652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02</a:t>
            </a:r>
            <a:endParaRPr lang="en-US" sz="1500" dirty="0"/>
          </a:p>
        </p:txBody>
      </p:sp>
      <p:sp>
        <p:nvSpPr>
          <p:cNvPr id="10" name="Text 8"/>
          <p:cNvSpPr txBox="1"/>
          <p:nvPr/>
        </p:nvSpPr>
        <p:spPr>
          <a:xfrm>
            <a:off x="7223760" y="1892808"/>
            <a:ext cx="4114800" cy="36576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太田氏側が30.80%の圧倒的な筆頭陣営</a:t>
            </a:r>
            <a:endParaRPr lang="en-US" sz="1400" dirty="0"/>
          </a:p>
        </p:txBody>
      </p:sp>
      <p:sp>
        <p:nvSpPr>
          <p:cNvPr id="11" name="Text 9"/>
          <p:cNvSpPr txBox="1"/>
          <p:nvPr/>
        </p:nvSpPr>
        <p:spPr>
          <a:xfrm>
            <a:off x="644652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CABO DA ROCA（資産管理会社）18.77%＋太田卓利氏10.53%＋太田玲氏1.50%。スマサポ単体では太田氏側が51.28%と過半数を握っています。</a:t>
            </a:r>
            <a:endParaRPr lang="en-US" sz="1050" dirty="0"/>
          </a:p>
        </p:txBody>
      </p:sp>
      <p:sp>
        <p:nvSpPr>
          <p:cNvPr id="12" name="Shape 10"/>
          <p:cNvSpPr/>
          <p:nvPr/>
        </p:nvSpPr>
        <p:spPr>
          <a:xfrm>
            <a:off x="640080" y="3840480"/>
            <a:ext cx="5349240" cy="1920240"/>
          </a:xfrm>
          <a:prstGeom prst="roundRect">
            <a:avLst>
              <a:gd name="adj" fmla="val 2857"/>
            </a:avLst>
          </a:prstGeom>
          <a:solidFill>
            <a:srgbClr val="26333F"/>
          </a:solidFill>
          <a:ln w="12700">
            <a:solidFill>
              <a:srgbClr val="3A4854"/>
            </a:solidFill>
            <a:prstDash val="solid"/>
          </a:ln>
        </p:spPr>
      </p:sp>
      <p:sp>
        <p:nvSpPr>
          <p:cNvPr id="13" name="Text 11"/>
          <p:cNvSpPr txBox="1"/>
          <p:nvPr/>
        </p:nvSpPr>
        <p:spPr>
          <a:xfrm>
            <a:off x="91440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03</a:t>
            </a:r>
            <a:endParaRPr lang="en-US" sz="1500" dirty="0"/>
          </a:p>
        </p:txBody>
      </p:sp>
      <p:sp>
        <p:nvSpPr>
          <p:cNvPr id="14" name="Text 12"/>
          <p:cNvSpPr txBox="1"/>
          <p:nvPr/>
        </p:nvSpPr>
        <p:spPr>
          <a:xfrm>
            <a:off x="1691640" y="4041648"/>
            <a:ext cx="4114800" cy="36576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中野はビジョン退出後に第2位</a:t>
            </a:r>
            <a:endParaRPr lang="en-US" sz="1400" dirty="0"/>
          </a:p>
        </p:txBody>
      </p:sp>
      <p:sp>
        <p:nvSpPr>
          <p:cNvPr id="15" name="Text 13"/>
          <p:cNvSpPr txBox="1"/>
          <p:nvPr/>
        </p:nvSpPr>
        <p:spPr>
          <a:xfrm>
            <a:off x="91440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15.73%。CABO DA ROCA 18.77%に次ぐ位置です。「筆頭または第2位」という条件は満たせます。</a:t>
            </a:r>
            <a:endParaRPr lang="en-US" sz="1050" dirty="0"/>
          </a:p>
        </p:txBody>
      </p:sp>
      <p:sp>
        <p:nvSpPr>
          <p:cNvPr id="16" name="Shape 14"/>
          <p:cNvSpPr/>
          <p:nvPr/>
        </p:nvSpPr>
        <p:spPr>
          <a:xfrm>
            <a:off x="6172200" y="3840480"/>
            <a:ext cx="5349240" cy="1920240"/>
          </a:xfrm>
          <a:prstGeom prst="roundRect">
            <a:avLst>
              <a:gd name="adj" fmla="val 2857"/>
            </a:avLst>
          </a:prstGeom>
          <a:solidFill>
            <a:srgbClr val="26333F"/>
          </a:solidFill>
          <a:ln w="12700">
            <a:solidFill>
              <a:srgbClr val="3A4854"/>
            </a:solidFill>
            <a:prstDash val="solid"/>
          </a:ln>
        </p:spPr>
      </p:sp>
      <p:sp>
        <p:nvSpPr>
          <p:cNvPr id="17" name="Text 15"/>
          <p:cNvSpPr txBox="1"/>
          <p:nvPr/>
        </p:nvSpPr>
        <p:spPr>
          <a:xfrm>
            <a:off x="644652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04</a:t>
            </a:r>
            <a:endParaRPr lang="en-US" sz="1500" dirty="0"/>
          </a:p>
        </p:txBody>
      </p:sp>
      <p:sp>
        <p:nvSpPr>
          <p:cNvPr id="18" name="Text 16"/>
          <p:cNvSpPr txBox="1"/>
          <p:nvPr/>
        </p:nvSpPr>
        <p:spPr>
          <a:xfrm>
            <a:off x="7223760" y="4041648"/>
            <a:ext cx="4114800" cy="36576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代表取締役社長は小田慎三氏</a:t>
            </a:r>
            <a:endParaRPr lang="en-US" sz="1400" dirty="0"/>
          </a:p>
        </p:txBody>
      </p:sp>
      <p:sp>
        <p:nvSpPr>
          <p:cNvPr id="19" name="Text 17"/>
          <p:cNvSpPr txBox="1"/>
          <p:nvPr/>
        </p:nvSpPr>
        <p:spPr>
          <a:xfrm>
            <a:off x="644652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太田氏はオーナーであり社長ではありません（株式会社TAKUTOの代表）。合併後の経営体制をどう組むかは、持分とは別の論点として詰める必要があります。</a:t>
            </a:r>
            <a:endParaRPr lang="en-US" sz="1050" dirty="0"/>
          </a:p>
        </p:txBody>
      </p:sp>
      <p:sp>
        <p:nvSpPr>
          <p:cNvPr id="20" name="Text 18"/>
          <p:cNvSpPr txBox="1"/>
          <p:nvPr/>
        </p:nvSpPr>
        <p:spPr>
          <a:xfrm>
            <a:off x="640080" y="6126480"/>
            <a:ext cx="10881360" cy="292608"/>
          </a:xfrm>
          <a:prstGeom prst="rect">
            <a:avLst/>
          </a:prstGeom>
          <a:noFill/>
          <a:ln/>
        </p:spPr>
        <p:txBody>
          <a:bodyPr wrap="square" lIns="0" tIns="0" rIns="0" bIns="0" rtlCol="0" anchor="ctr"/>
          <a:lstStyle/>
          <a:p>
            <a:pPr indent="0" marL="0">
              <a:buNone/>
            </a:pPr>
            <a:r>
              <a:rPr lang="en-US" sz="1100" b="1" dirty="0">
                <a:solidFill>
                  <a:srgbClr val="A85C6E"/>
                </a:solidFill>
                <a:latin typeface="Meiryo" pitchFamily="34" charset="0"/>
                <a:ea typeface="Meiryo" pitchFamily="34" charset="-122"/>
                <a:cs typeface="Meiryo" pitchFamily="34" charset="-120"/>
              </a:rPr>
              <a:t>スマサポ社に未行使のストックオプションが残っている場合、上記の比率は下がります。発行要項の確認が必要です。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論点</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ビジョン社の20.07%を、どう処理するか</a:t>
            </a:r>
            <a:endParaRPr lang="en-US" sz="2800" dirty="0"/>
          </a:p>
        </p:txBody>
      </p:sp>
      <p:sp>
        <p:nvSpPr>
          <p:cNvPr id="4" name="Shape 2"/>
          <p:cNvSpPr/>
          <p:nvPr/>
        </p:nvSpPr>
        <p:spPr>
          <a:xfrm>
            <a:off x="640080" y="1536192"/>
            <a:ext cx="3520440" cy="3200400"/>
          </a:xfrm>
          <a:prstGeom prst="roundRect">
            <a:avLst>
              <a:gd name="adj" fmla="val 1714"/>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14400" y="1737360"/>
            <a:ext cx="457200" cy="292608"/>
          </a:xfrm>
          <a:prstGeom prst="roundRect">
            <a:avLst>
              <a:gd name="adj" fmla="val 50000"/>
            </a:avLst>
          </a:prstGeom>
          <a:solidFill>
            <a:srgbClr val="2C6A4E"/>
          </a:solidFill>
          <a:ln/>
        </p:spPr>
      </p:sp>
      <p:sp>
        <p:nvSpPr>
          <p:cNvPr id="6" name="Text 4"/>
          <p:cNvSpPr txBox="1"/>
          <p:nvPr/>
        </p:nvSpPr>
        <p:spPr>
          <a:xfrm>
            <a:off x="914400" y="1737360"/>
            <a:ext cx="45720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A</a:t>
            </a:r>
            <a:endParaRPr lang="en-US" sz="1150" dirty="0"/>
          </a:p>
        </p:txBody>
      </p:sp>
      <p:sp>
        <p:nvSpPr>
          <p:cNvPr id="7" name="Text 5"/>
          <p:cNvSpPr txBox="1"/>
          <p:nvPr/>
        </p:nvSpPr>
        <p:spPr>
          <a:xfrm>
            <a:off x="1508760" y="1737360"/>
            <a:ext cx="2468880" cy="292608"/>
          </a:xfrm>
          <a:prstGeom prst="rect">
            <a:avLst/>
          </a:prstGeom>
          <a:noFill/>
          <a:ln/>
        </p:spPr>
        <p:txBody>
          <a:bodyPr wrap="square" lIns="0" tIns="0" rIns="0" bIns="0" rtlCol="0" anchor="ctr"/>
          <a:lstStyle/>
          <a:p>
            <a:pPr indent="0" marL="0">
              <a:buNone/>
            </a:pPr>
            <a:r>
              <a:rPr lang="en-US" sz="1300" b="1" dirty="0">
                <a:solidFill>
                  <a:srgbClr val="1E2A38"/>
                </a:solidFill>
                <a:latin typeface="Meiryo" pitchFamily="34" charset="0"/>
                <a:ea typeface="Meiryo" pitchFamily="34" charset="-122"/>
                <a:cs typeface="Meiryo" pitchFamily="34" charset="-120"/>
              </a:rPr>
              <a:t>市場へ放出する</a:t>
            </a:r>
            <a:endParaRPr lang="en-US" sz="1300" dirty="0"/>
          </a:p>
        </p:txBody>
      </p:sp>
      <p:sp>
        <p:nvSpPr>
          <p:cNvPr id="8" name="Text 6"/>
          <p:cNvSpPr txBox="1"/>
          <p:nvPr/>
        </p:nvSpPr>
        <p:spPr>
          <a:xfrm>
            <a:off x="914400" y="2157984"/>
            <a:ext cx="2971800" cy="219456"/>
          </a:xfrm>
          <a:prstGeom prst="rect">
            <a:avLst/>
          </a:prstGeom>
          <a:noFill/>
          <a:ln/>
        </p:spPr>
        <p:txBody>
          <a:bodyPr wrap="square" lIns="0" tIns="0" rIns="0" bIns="0" rtlCol="0" anchor="ctr"/>
          <a:lstStyle/>
          <a:p>
            <a:pPr indent="0" marL="0">
              <a:buNone/>
            </a:pPr>
            <a:r>
              <a:rPr lang="en-US" sz="950" dirty="0">
                <a:solidFill>
                  <a:srgbClr val="7C8A99"/>
                </a:solidFill>
                <a:latin typeface="Meiryo" pitchFamily="34" charset="0"/>
                <a:ea typeface="Meiryo" pitchFamily="34" charset="-122"/>
                <a:cs typeface="Meiryo" pitchFamily="34" charset="-120"/>
              </a:rPr>
              <a:t>中野の必要資金</a:t>
            </a:r>
            <a:endParaRPr lang="en-US" sz="950" dirty="0"/>
          </a:p>
        </p:txBody>
      </p:sp>
      <p:sp>
        <p:nvSpPr>
          <p:cNvPr id="9" name="Text 7"/>
          <p:cNvSpPr txBox="1"/>
          <p:nvPr/>
        </p:nvSpPr>
        <p:spPr>
          <a:xfrm>
            <a:off x="914400" y="2359152"/>
            <a:ext cx="2971800" cy="512064"/>
          </a:xfrm>
          <a:prstGeom prst="rect">
            <a:avLst/>
          </a:prstGeom>
          <a:noFill/>
          <a:ln/>
        </p:spPr>
        <p:txBody>
          <a:bodyPr wrap="square" lIns="0" tIns="0" rIns="0" bIns="0" rtlCol="0" anchor="ctr"/>
          <a:lstStyle/>
          <a:p>
            <a:pPr indent="0" marL="0">
              <a:buNone/>
            </a:pPr>
            <a:r>
              <a:rPr lang="en-US" sz="3000" b="1" dirty="0">
                <a:solidFill>
                  <a:srgbClr val="2C6A4E"/>
                </a:solidFill>
                <a:latin typeface="Meiryo" pitchFamily="34" charset="0"/>
                <a:ea typeface="Meiryo" pitchFamily="34" charset="-122"/>
                <a:cs typeface="Meiryo" pitchFamily="34" charset="-120"/>
              </a:rPr>
              <a:t>0</a:t>
            </a:r>
            <a:pPr indent="0" marL="0">
              <a:buNone/>
            </a:pPr>
            <a:r>
              <a:rPr lang="en-US" sz="1300" b="1" dirty="0">
                <a:solidFill>
                  <a:srgbClr val="2C6A4E"/>
                </a:solidFill>
                <a:latin typeface="Meiryo" pitchFamily="34" charset="0"/>
                <a:ea typeface="Meiryo" pitchFamily="34" charset="-122"/>
                <a:cs typeface="Meiryo" pitchFamily="34" charset="-120"/>
              </a:rPr>
              <a:t>億円</a:t>
            </a:r>
            <a:endParaRPr lang="en-US" sz="3000" dirty="0"/>
          </a:p>
        </p:txBody>
      </p:sp>
      <p:sp>
        <p:nvSpPr>
          <p:cNvPr id="10" name="Text 8"/>
          <p:cNvSpPr txBox="1"/>
          <p:nvPr/>
        </p:nvSpPr>
        <p:spPr>
          <a:xfrm>
            <a:off x="914400" y="2926080"/>
            <a:ext cx="297180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中野 15.73%（第2位）</a:t>
            </a:r>
            <a:endParaRPr lang="en-US" sz="1200" dirty="0"/>
          </a:p>
        </p:txBody>
      </p:sp>
      <p:sp>
        <p:nvSpPr>
          <p:cNvPr id="11" name="Text 9"/>
          <p:cNvSpPr txBox="1"/>
          <p:nvPr/>
        </p:nvSpPr>
        <p:spPr>
          <a:xfrm>
            <a:off x="914400" y="3200400"/>
            <a:ext cx="2971800" cy="256032"/>
          </a:xfrm>
          <a:prstGeom prst="rect">
            <a:avLst/>
          </a:prstGeom>
          <a:noFill/>
          <a:ln/>
        </p:spPr>
        <p:txBody>
          <a:bodyPr wrap="square" lIns="0" tIns="0" rIns="0" bIns="0" rtlCol="0" anchor="ctr"/>
          <a:lstStyle/>
          <a:p>
            <a:pPr indent="0" marL="0">
              <a:buNone/>
            </a:pPr>
            <a:r>
              <a:rPr lang="en-US" sz="1100" b="1" dirty="0">
                <a:solidFill>
                  <a:srgbClr val="2C6A4E"/>
                </a:solidFill>
                <a:latin typeface="Meiryo" pitchFamily="34" charset="0"/>
                <a:ea typeface="Meiryo" pitchFamily="34" charset="-122"/>
                <a:cs typeface="Meiryo" pitchFamily="34" charset="-120"/>
              </a:rPr>
              <a:t>流通株式比率 40.02%</a:t>
            </a:r>
            <a:endParaRPr lang="en-US" sz="1100" dirty="0"/>
          </a:p>
        </p:txBody>
      </p:sp>
      <p:sp>
        <p:nvSpPr>
          <p:cNvPr id="12" name="Text 10"/>
          <p:cNvSpPr txBox="1"/>
          <p:nvPr/>
        </p:nvSpPr>
        <p:spPr>
          <a:xfrm>
            <a:off x="914400" y="3547872"/>
            <a:ext cx="2971800" cy="1097280"/>
          </a:xfrm>
          <a:prstGeom prst="rect">
            <a:avLst/>
          </a:prstGeom>
          <a:noFill/>
          <a:ln/>
        </p:spPr>
        <p:txBody>
          <a:bodyPr wrap="square" lIns="0" tIns="0" rIns="0" bIns="0" rtlCol="0" anchor="ctr"/>
          <a:lstStyle/>
          <a:p>
            <a:pPr indent="0" marL="0">
              <a:lnSpc>
                <a:spcPct val="120000"/>
              </a:lnSpc>
              <a:buNone/>
            </a:pPr>
            <a:r>
              <a:rPr lang="en-US" sz="950" dirty="0">
                <a:solidFill>
                  <a:srgbClr val="3D4E60"/>
                </a:solidFill>
                <a:latin typeface="Meiryo" pitchFamily="34" charset="0"/>
                <a:ea typeface="Meiryo" pitchFamily="34" charset="-122"/>
                <a:cs typeface="Meiryo" pitchFamily="34" charset="-120"/>
              </a:rPr>
              <a:t>ビジョン株が市場に出るため流通株式比率が19.95%から40.02%へ改善し、上場維持基準をクリアします。中野の持ち出しはゼロです。</a:t>
            </a:r>
            <a:endParaRPr lang="en-US" sz="950" dirty="0"/>
          </a:p>
        </p:txBody>
      </p:sp>
      <p:sp>
        <p:nvSpPr>
          <p:cNvPr id="13" name="Shape 11"/>
          <p:cNvSpPr/>
          <p:nvPr/>
        </p:nvSpPr>
        <p:spPr>
          <a:xfrm>
            <a:off x="4297680" y="1536192"/>
            <a:ext cx="3520440" cy="3200400"/>
          </a:xfrm>
          <a:prstGeom prst="roundRect">
            <a:avLst>
              <a:gd name="adj" fmla="val 1714"/>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4" name="Shape 12"/>
          <p:cNvSpPr/>
          <p:nvPr/>
        </p:nvSpPr>
        <p:spPr>
          <a:xfrm>
            <a:off x="4572000" y="1737360"/>
            <a:ext cx="457200" cy="292608"/>
          </a:xfrm>
          <a:prstGeom prst="roundRect">
            <a:avLst>
              <a:gd name="adj" fmla="val 50000"/>
            </a:avLst>
          </a:prstGeom>
          <a:solidFill>
            <a:srgbClr val="6E2639"/>
          </a:solidFill>
          <a:ln/>
        </p:spPr>
      </p:sp>
      <p:sp>
        <p:nvSpPr>
          <p:cNvPr id="15" name="Text 13"/>
          <p:cNvSpPr txBox="1"/>
          <p:nvPr/>
        </p:nvSpPr>
        <p:spPr>
          <a:xfrm>
            <a:off x="4572000" y="1737360"/>
            <a:ext cx="45720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B</a:t>
            </a:r>
            <a:endParaRPr lang="en-US" sz="1150" dirty="0"/>
          </a:p>
        </p:txBody>
      </p:sp>
      <p:sp>
        <p:nvSpPr>
          <p:cNvPr id="16" name="Text 14"/>
          <p:cNvSpPr txBox="1"/>
          <p:nvPr/>
        </p:nvSpPr>
        <p:spPr>
          <a:xfrm>
            <a:off x="5166360" y="1737360"/>
            <a:ext cx="2468880" cy="292608"/>
          </a:xfrm>
          <a:prstGeom prst="rect">
            <a:avLst/>
          </a:prstGeom>
          <a:noFill/>
          <a:ln/>
        </p:spPr>
        <p:txBody>
          <a:bodyPr wrap="square" lIns="0" tIns="0" rIns="0" bIns="0" rtlCol="0" anchor="ctr"/>
          <a:lstStyle/>
          <a:p>
            <a:pPr indent="0" marL="0">
              <a:buNone/>
            </a:pPr>
            <a:r>
              <a:rPr lang="en-US" sz="1300" b="1" dirty="0">
                <a:solidFill>
                  <a:srgbClr val="1E2A38"/>
                </a:solidFill>
                <a:latin typeface="Meiryo" pitchFamily="34" charset="0"/>
                <a:ea typeface="Meiryo" pitchFamily="34" charset="-122"/>
                <a:cs typeface="Meiryo" pitchFamily="34" charset="-120"/>
              </a:rPr>
              <a:t>太田氏側と同数まで買う</a:t>
            </a:r>
            <a:endParaRPr lang="en-US" sz="1300" dirty="0"/>
          </a:p>
        </p:txBody>
      </p:sp>
      <p:sp>
        <p:nvSpPr>
          <p:cNvPr id="17" name="Text 15"/>
          <p:cNvSpPr txBox="1"/>
          <p:nvPr/>
        </p:nvSpPr>
        <p:spPr>
          <a:xfrm>
            <a:off x="4572000" y="2157984"/>
            <a:ext cx="2971800" cy="219456"/>
          </a:xfrm>
          <a:prstGeom prst="rect">
            <a:avLst/>
          </a:prstGeom>
          <a:noFill/>
          <a:ln/>
        </p:spPr>
        <p:txBody>
          <a:bodyPr wrap="square" lIns="0" tIns="0" rIns="0" bIns="0" rtlCol="0" anchor="ctr"/>
          <a:lstStyle/>
          <a:p>
            <a:pPr indent="0" marL="0">
              <a:buNone/>
            </a:pPr>
            <a:r>
              <a:rPr lang="en-US" sz="950" dirty="0">
                <a:solidFill>
                  <a:srgbClr val="7C8A99"/>
                </a:solidFill>
                <a:latin typeface="Meiryo" pitchFamily="34" charset="0"/>
                <a:ea typeface="Meiryo" pitchFamily="34" charset="-122"/>
                <a:cs typeface="Meiryo" pitchFamily="34" charset="-120"/>
              </a:rPr>
              <a:t>中野の必要資金</a:t>
            </a:r>
            <a:endParaRPr lang="en-US" sz="950" dirty="0"/>
          </a:p>
        </p:txBody>
      </p:sp>
      <p:sp>
        <p:nvSpPr>
          <p:cNvPr id="18" name="Text 16"/>
          <p:cNvSpPr txBox="1"/>
          <p:nvPr/>
        </p:nvSpPr>
        <p:spPr>
          <a:xfrm>
            <a:off x="4572000" y="2359152"/>
            <a:ext cx="2971800" cy="512064"/>
          </a:xfrm>
          <a:prstGeom prst="rect">
            <a:avLst/>
          </a:prstGeom>
          <a:noFill/>
          <a:ln/>
        </p:spPr>
        <p:txBody>
          <a:bodyPr wrap="square" lIns="0" tIns="0" rIns="0" bIns="0" rtlCol="0" anchor="ctr"/>
          <a:lstStyle/>
          <a:p>
            <a:pPr indent="0" marL="0">
              <a:buNone/>
            </a:pPr>
            <a:r>
              <a:rPr lang="en-US" sz="3000" b="1" dirty="0">
                <a:solidFill>
                  <a:srgbClr val="6E2639"/>
                </a:solidFill>
                <a:latin typeface="Meiryo" pitchFamily="34" charset="0"/>
                <a:ea typeface="Meiryo" pitchFamily="34" charset="-122"/>
                <a:cs typeface="Meiryo" pitchFamily="34" charset="-120"/>
              </a:rPr>
              <a:t>5.27</a:t>
            </a:r>
            <a:pPr indent="0" marL="0">
              <a:buNone/>
            </a:pPr>
            <a:r>
              <a:rPr lang="en-US" sz="1300" b="1" dirty="0">
                <a:solidFill>
                  <a:srgbClr val="6E2639"/>
                </a:solidFill>
                <a:latin typeface="Meiryo" pitchFamily="34" charset="0"/>
                <a:ea typeface="Meiryo" pitchFamily="34" charset="-122"/>
                <a:cs typeface="Meiryo" pitchFamily="34" charset="-120"/>
              </a:rPr>
              <a:t>億円</a:t>
            </a:r>
            <a:endParaRPr lang="en-US" sz="3000" dirty="0"/>
          </a:p>
        </p:txBody>
      </p:sp>
      <p:sp>
        <p:nvSpPr>
          <p:cNvPr id="19" name="Text 17"/>
          <p:cNvSpPr txBox="1"/>
          <p:nvPr/>
        </p:nvSpPr>
        <p:spPr>
          <a:xfrm>
            <a:off x="4572000" y="2926080"/>
            <a:ext cx="297180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中野 30.80%（同率首位）</a:t>
            </a:r>
            <a:endParaRPr lang="en-US" sz="1200" dirty="0"/>
          </a:p>
        </p:txBody>
      </p:sp>
      <p:sp>
        <p:nvSpPr>
          <p:cNvPr id="20" name="Text 18"/>
          <p:cNvSpPr txBox="1"/>
          <p:nvPr/>
        </p:nvSpPr>
        <p:spPr>
          <a:xfrm>
            <a:off x="4572000" y="3200400"/>
            <a:ext cx="2971800" cy="256032"/>
          </a:xfrm>
          <a:prstGeom prst="rect">
            <a:avLst/>
          </a:prstGeom>
          <a:noFill/>
          <a:ln/>
        </p:spPr>
        <p:txBody>
          <a:bodyPr wrap="square" lIns="0" tIns="0" rIns="0" bIns="0" rtlCol="0" anchor="ctr"/>
          <a:lstStyle/>
          <a:p>
            <a:pPr indent="0" marL="0">
              <a:buNone/>
            </a:pPr>
            <a:r>
              <a:rPr lang="en-US" sz="1100" b="1" dirty="0">
                <a:solidFill>
                  <a:srgbClr val="6E2639"/>
                </a:solidFill>
                <a:latin typeface="Meiryo" pitchFamily="34" charset="0"/>
                <a:ea typeface="Meiryo" pitchFamily="34" charset="-122"/>
                <a:cs typeface="Meiryo" pitchFamily="34" charset="-120"/>
              </a:rPr>
              <a:t>流通株式比率は低下</a:t>
            </a:r>
            <a:endParaRPr lang="en-US" sz="1100" dirty="0"/>
          </a:p>
        </p:txBody>
      </p:sp>
      <p:sp>
        <p:nvSpPr>
          <p:cNvPr id="21" name="Text 19"/>
          <p:cNvSpPr txBox="1"/>
          <p:nvPr/>
        </p:nvSpPr>
        <p:spPr>
          <a:xfrm>
            <a:off x="4572000" y="3547872"/>
            <a:ext cx="2971800" cy="1097280"/>
          </a:xfrm>
          <a:prstGeom prst="rect">
            <a:avLst/>
          </a:prstGeom>
          <a:noFill/>
          <a:ln/>
        </p:spPr>
        <p:txBody>
          <a:bodyPr wrap="square" lIns="0" tIns="0" rIns="0" bIns="0" rtlCol="0" anchor="ctr"/>
          <a:lstStyle/>
          <a:p>
            <a:pPr indent="0" marL="0">
              <a:lnSpc>
                <a:spcPct val="120000"/>
              </a:lnSpc>
              <a:buNone/>
            </a:pPr>
            <a:r>
              <a:rPr lang="en-US" sz="950" dirty="0">
                <a:solidFill>
                  <a:srgbClr val="3D4E60"/>
                </a:solidFill>
                <a:latin typeface="Meiryo" pitchFamily="34" charset="0"/>
                <a:ea typeface="Meiryo" pitchFamily="34" charset="-122"/>
                <a:cs typeface="Meiryo" pitchFamily="34" charset="-120"/>
              </a:rPr>
              <a:t>634,223株を取得して太田氏側30.80%と並びます。ただし市場から吸収する株が減るため、流通株式比率の確保が難しくなります。</a:t>
            </a:r>
            <a:endParaRPr lang="en-US" sz="950" dirty="0"/>
          </a:p>
        </p:txBody>
      </p:sp>
      <p:sp>
        <p:nvSpPr>
          <p:cNvPr id="22" name="Shape 20"/>
          <p:cNvSpPr/>
          <p:nvPr/>
        </p:nvSpPr>
        <p:spPr>
          <a:xfrm>
            <a:off x="7955280" y="1536192"/>
            <a:ext cx="3520440" cy="3200400"/>
          </a:xfrm>
          <a:prstGeom prst="roundRect">
            <a:avLst>
              <a:gd name="adj" fmla="val 1714"/>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3" name="Shape 21"/>
          <p:cNvSpPr/>
          <p:nvPr/>
        </p:nvSpPr>
        <p:spPr>
          <a:xfrm>
            <a:off x="8229600" y="1737360"/>
            <a:ext cx="457200" cy="292608"/>
          </a:xfrm>
          <a:prstGeom prst="roundRect">
            <a:avLst>
              <a:gd name="adj" fmla="val 50000"/>
            </a:avLst>
          </a:prstGeom>
          <a:solidFill>
            <a:srgbClr val="8A2E26"/>
          </a:solidFill>
          <a:ln/>
        </p:spPr>
      </p:sp>
      <p:sp>
        <p:nvSpPr>
          <p:cNvPr id="24" name="Text 22"/>
          <p:cNvSpPr txBox="1"/>
          <p:nvPr/>
        </p:nvSpPr>
        <p:spPr>
          <a:xfrm>
            <a:off x="8229600" y="1737360"/>
            <a:ext cx="45720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C</a:t>
            </a:r>
            <a:endParaRPr lang="en-US" sz="1150" dirty="0"/>
          </a:p>
        </p:txBody>
      </p:sp>
      <p:sp>
        <p:nvSpPr>
          <p:cNvPr id="25" name="Text 23"/>
          <p:cNvSpPr txBox="1"/>
          <p:nvPr/>
        </p:nvSpPr>
        <p:spPr>
          <a:xfrm>
            <a:off x="8823960" y="1737360"/>
            <a:ext cx="2468880" cy="292608"/>
          </a:xfrm>
          <a:prstGeom prst="rect">
            <a:avLst/>
          </a:prstGeom>
          <a:noFill/>
          <a:ln/>
        </p:spPr>
        <p:txBody>
          <a:bodyPr wrap="square" lIns="0" tIns="0" rIns="0" bIns="0" rtlCol="0" anchor="ctr"/>
          <a:lstStyle/>
          <a:p>
            <a:pPr indent="0" marL="0">
              <a:buNone/>
            </a:pPr>
            <a:r>
              <a:rPr lang="en-US" sz="1300" b="1" dirty="0">
                <a:solidFill>
                  <a:srgbClr val="1E2A38"/>
                </a:solidFill>
                <a:latin typeface="Meiryo" pitchFamily="34" charset="0"/>
                <a:ea typeface="Meiryo" pitchFamily="34" charset="-122"/>
                <a:cs typeface="Meiryo" pitchFamily="34" charset="-120"/>
              </a:rPr>
              <a:t>ビジョン株を全部買い取る</a:t>
            </a:r>
            <a:endParaRPr lang="en-US" sz="1300" dirty="0"/>
          </a:p>
        </p:txBody>
      </p:sp>
      <p:sp>
        <p:nvSpPr>
          <p:cNvPr id="26" name="Text 24"/>
          <p:cNvSpPr txBox="1"/>
          <p:nvPr/>
        </p:nvSpPr>
        <p:spPr>
          <a:xfrm>
            <a:off x="8229600" y="2157984"/>
            <a:ext cx="2971800" cy="219456"/>
          </a:xfrm>
          <a:prstGeom prst="rect">
            <a:avLst/>
          </a:prstGeom>
          <a:noFill/>
          <a:ln/>
        </p:spPr>
        <p:txBody>
          <a:bodyPr wrap="square" lIns="0" tIns="0" rIns="0" bIns="0" rtlCol="0" anchor="ctr"/>
          <a:lstStyle/>
          <a:p>
            <a:pPr indent="0" marL="0">
              <a:buNone/>
            </a:pPr>
            <a:r>
              <a:rPr lang="en-US" sz="950" dirty="0">
                <a:solidFill>
                  <a:srgbClr val="7C8A99"/>
                </a:solidFill>
                <a:latin typeface="Meiryo" pitchFamily="34" charset="0"/>
                <a:ea typeface="Meiryo" pitchFamily="34" charset="-122"/>
                <a:cs typeface="Meiryo" pitchFamily="34" charset="-120"/>
              </a:rPr>
              <a:t>中野の必要資金</a:t>
            </a:r>
            <a:endParaRPr lang="en-US" sz="950" dirty="0"/>
          </a:p>
        </p:txBody>
      </p:sp>
      <p:sp>
        <p:nvSpPr>
          <p:cNvPr id="27" name="Text 25"/>
          <p:cNvSpPr txBox="1"/>
          <p:nvPr/>
        </p:nvSpPr>
        <p:spPr>
          <a:xfrm>
            <a:off x="8229600" y="2359152"/>
            <a:ext cx="2971800" cy="512064"/>
          </a:xfrm>
          <a:prstGeom prst="rect">
            <a:avLst/>
          </a:prstGeom>
          <a:noFill/>
          <a:ln/>
        </p:spPr>
        <p:txBody>
          <a:bodyPr wrap="square" lIns="0" tIns="0" rIns="0" bIns="0" rtlCol="0" anchor="ctr"/>
          <a:lstStyle/>
          <a:p>
            <a:pPr indent="0" marL="0">
              <a:buNone/>
            </a:pPr>
            <a:r>
              <a:rPr lang="en-US" sz="3000" b="1" dirty="0">
                <a:solidFill>
                  <a:srgbClr val="8A2E26"/>
                </a:solidFill>
                <a:latin typeface="Meiryo" pitchFamily="34" charset="0"/>
                <a:ea typeface="Meiryo" pitchFamily="34" charset="-122"/>
                <a:cs typeface="Meiryo" pitchFamily="34" charset="-120"/>
              </a:rPr>
              <a:t>7.02</a:t>
            </a:r>
            <a:pPr indent="0" marL="0">
              <a:buNone/>
            </a:pPr>
            <a:r>
              <a:rPr lang="en-US" sz="1300" b="1" dirty="0">
                <a:solidFill>
                  <a:srgbClr val="8A2E26"/>
                </a:solidFill>
                <a:latin typeface="Meiryo" pitchFamily="34" charset="0"/>
                <a:ea typeface="Meiryo" pitchFamily="34" charset="-122"/>
                <a:cs typeface="Meiryo" pitchFamily="34" charset="-120"/>
              </a:rPr>
              <a:t>億円</a:t>
            </a:r>
            <a:endParaRPr lang="en-US" sz="3000" dirty="0"/>
          </a:p>
        </p:txBody>
      </p:sp>
      <p:sp>
        <p:nvSpPr>
          <p:cNvPr id="28" name="Text 26"/>
          <p:cNvSpPr txBox="1"/>
          <p:nvPr/>
        </p:nvSpPr>
        <p:spPr>
          <a:xfrm>
            <a:off x="8229600" y="2926080"/>
            <a:ext cx="297180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中野 35.80%（単独筆頭）</a:t>
            </a:r>
            <a:endParaRPr lang="en-US" sz="1200" dirty="0"/>
          </a:p>
        </p:txBody>
      </p:sp>
      <p:sp>
        <p:nvSpPr>
          <p:cNvPr id="29" name="Text 27"/>
          <p:cNvSpPr txBox="1"/>
          <p:nvPr/>
        </p:nvSpPr>
        <p:spPr>
          <a:xfrm>
            <a:off x="8229600" y="3200400"/>
            <a:ext cx="2971800" cy="256032"/>
          </a:xfrm>
          <a:prstGeom prst="rect">
            <a:avLst/>
          </a:prstGeom>
          <a:noFill/>
          <a:ln/>
        </p:spPr>
        <p:txBody>
          <a:bodyPr wrap="square" lIns="0" tIns="0" rIns="0" bIns="0" rtlCol="0" anchor="ctr"/>
          <a:lstStyle/>
          <a:p>
            <a:pPr indent="0" marL="0">
              <a:buNone/>
            </a:pPr>
            <a:r>
              <a:rPr lang="en-US" sz="1100" b="1" dirty="0">
                <a:solidFill>
                  <a:srgbClr val="8A2E26"/>
                </a:solidFill>
                <a:latin typeface="Meiryo" pitchFamily="34" charset="0"/>
                <a:ea typeface="Meiryo" pitchFamily="34" charset="-122"/>
                <a:cs typeface="Meiryo" pitchFamily="34" charset="-120"/>
              </a:rPr>
              <a:t>流通株式比率 19.95%</a:t>
            </a:r>
            <a:endParaRPr lang="en-US" sz="1100" dirty="0"/>
          </a:p>
        </p:txBody>
      </p:sp>
      <p:sp>
        <p:nvSpPr>
          <p:cNvPr id="30" name="Text 28"/>
          <p:cNvSpPr txBox="1"/>
          <p:nvPr/>
        </p:nvSpPr>
        <p:spPr>
          <a:xfrm>
            <a:off x="8229600" y="3547872"/>
            <a:ext cx="2971800" cy="1097280"/>
          </a:xfrm>
          <a:prstGeom prst="rect">
            <a:avLst/>
          </a:prstGeom>
          <a:noFill/>
          <a:ln/>
        </p:spPr>
        <p:txBody>
          <a:bodyPr wrap="square" lIns="0" tIns="0" rIns="0" bIns="0" rtlCol="0" anchor="ctr"/>
          <a:lstStyle/>
          <a:p>
            <a:pPr indent="0" marL="0">
              <a:lnSpc>
                <a:spcPct val="120000"/>
              </a:lnSpc>
              <a:buNone/>
            </a:pPr>
            <a:r>
              <a:rPr lang="en-US" sz="950" dirty="0">
                <a:solidFill>
                  <a:srgbClr val="3D4E60"/>
                </a:solidFill>
                <a:latin typeface="Meiryo" pitchFamily="34" charset="0"/>
                <a:ea typeface="Meiryo" pitchFamily="34" charset="-122"/>
                <a:cs typeface="Meiryo" pitchFamily="34" charset="-120"/>
              </a:rPr>
              <a:t>単独筆頭になりますが、ビジョン株が中野に移るだけなので流通株式は1株も増えず、上場維持基準に抵触したままです。</a:t>
            </a:r>
            <a:endParaRPr lang="en-US" sz="950" dirty="0"/>
          </a:p>
        </p:txBody>
      </p:sp>
      <p:sp>
        <p:nvSpPr>
          <p:cNvPr id="31" name="Shape 29"/>
          <p:cNvSpPr/>
          <p:nvPr/>
        </p:nvSpPr>
        <p:spPr>
          <a:xfrm>
            <a:off x="640080" y="4919472"/>
            <a:ext cx="10881360" cy="1005840"/>
          </a:xfrm>
          <a:prstGeom prst="roundRect">
            <a:avLst>
              <a:gd name="adj" fmla="val 5455"/>
            </a:avLst>
          </a:prstGeom>
          <a:solidFill>
            <a:srgbClr val="F7F3EC"/>
          </a:solidFill>
          <a:ln w="12700">
            <a:solidFill>
              <a:srgbClr val="E0D3BE"/>
            </a:solidFill>
            <a:prstDash val="solid"/>
          </a:ln>
          <a:effectLst>
            <a:outerShdw sx="100000" sy="100000" kx="0" ky="0" algn="bl" rotWithShape="0" blurRad="101600" dist="12700" dir="5400000">
              <a:srgbClr val="AAB4BE">
                <a:alpha val="18000"/>
              </a:srgbClr>
            </a:outerShdw>
          </a:effectLst>
        </p:spPr>
      </p:sp>
      <p:sp>
        <p:nvSpPr>
          <p:cNvPr id="32" name="Text 30"/>
          <p:cNvSpPr txBox="1"/>
          <p:nvPr/>
        </p:nvSpPr>
        <p:spPr>
          <a:xfrm>
            <a:off x="960120" y="5084064"/>
            <a:ext cx="5486400" cy="274320"/>
          </a:xfrm>
          <a:prstGeom prst="rect">
            <a:avLst/>
          </a:prstGeom>
          <a:noFill/>
          <a:ln/>
        </p:spPr>
        <p:txBody>
          <a:bodyPr wrap="square" lIns="0" tIns="0" rIns="0" bIns="0" rtlCol="0" anchor="ctr"/>
          <a:lstStyle/>
          <a:p>
            <a:pPr indent="0" marL="0">
              <a:buNone/>
            </a:pPr>
            <a:r>
              <a:rPr lang="en-US" sz="1300" b="1" dirty="0">
                <a:solidFill>
                  <a:srgbClr val="8F5510"/>
                </a:solidFill>
                <a:latin typeface="Meiryo" pitchFamily="34" charset="0"/>
                <a:ea typeface="Meiryo" pitchFamily="34" charset="-122"/>
                <a:cs typeface="Meiryo" pitchFamily="34" charset="-120"/>
              </a:rPr>
              <a:t>流通株式比率がA案を後押しします</a:t>
            </a:r>
            <a:endParaRPr lang="en-US" sz="1300" dirty="0"/>
          </a:p>
        </p:txBody>
      </p:sp>
      <p:sp>
        <p:nvSpPr>
          <p:cNvPr id="33" name="Text 31"/>
          <p:cNvSpPr txBox="1"/>
          <p:nvPr/>
        </p:nvSpPr>
        <p:spPr>
          <a:xfrm>
            <a:off x="960120" y="5394960"/>
            <a:ext cx="10241280" cy="45720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合併直後の流通株式比率は19.95%で、東証グロースの上場維持基準25%を下回ります。ビジョン社の844,617株が市場に出れば40.02%となり基準を満たします。中野が買い取るB案・C案では、この問題が残ります。</a:t>
            </a:r>
            <a:endParaRPr lang="en-US" sz="1100" dirty="0"/>
          </a:p>
        </p:txBody>
      </p:sp>
      <p:sp>
        <p:nvSpPr>
          <p:cNvPr id="34" name="Text 32"/>
          <p:cNvSpPr txBox="1"/>
          <p:nvPr/>
        </p:nvSpPr>
        <p:spPr>
          <a:xfrm>
            <a:off x="640080" y="6108192"/>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中野の必要資金は1株831.53円（スマサポ20億÷2,405,200株）で計算しています。相対取得の実勢価格は交渉によります。</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次のステップ</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先に確認すること</a:t>
            </a:r>
            <a:endParaRPr lang="en-US" sz="2800" dirty="0"/>
          </a:p>
        </p:txBody>
      </p:sp>
      <p:sp>
        <p:nvSpPr>
          <p:cNvPr id="4" name="Shape 2"/>
          <p:cNvSpPr/>
          <p:nvPr/>
        </p:nvSpPr>
        <p:spPr>
          <a:xfrm>
            <a:off x="640080" y="1554480"/>
            <a:ext cx="10881360" cy="749808"/>
          </a:xfrm>
          <a:prstGeom prst="roundRect">
            <a:avLst>
              <a:gd name="adj" fmla="val 731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60120" y="1728216"/>
            <a:ext cx="402336" cy="402336"/>
          </a:xfrm>
          <a:prstGeom prst="roundRect">
            <a:avLst>
              <a:gd name="adj" fmla="val 50000"/>
            </a:avLst>
          </a:prstGeom>
          <a:solidFill>
            <a:srgbClr val="6E2639"/>
          </a:solidFill>
          <a:ln/>
        </p:spPr>
      </p:sp>
      <p:sp>
        <p:nvSpPr>
          <p:cNvPr id="6" name="Text 4"/>
          <p:cNvSpPr txBox="1"/>
          <p:nvPr/>
        </p:nvSpPr>
        <p:spPr>
          <a:xfrm>
            <a:off x="960120" y="1728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01</a:t>
            </a:r>
            <a:endParaRPr lang="en-US" sz="1400" dirty="0"/>
          </a:p>
        </p:txBody>
      </p:sp>
      <p:sp>
        <p:nvSpPr>
          <p:cNvPr id="7" name="Text 5"/>
          <p:cNvSpPr txBox="1"/>
          <p:nvPr/>
        </p:nvSpPr>
        <p:spPr>
          <a:xfrm>
            <a:off x="1572768" y="1682496"/>
            <a:ext cx="393192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スマサポ社の新株予約権の残高</a:t>
            </a:r>
            <a:endParaRPr lang="en-US" sz="1250" dirty="0"/>
          </a:p>
        </p:txBody>
      </p:sp>
      <p:sp>
        <p:nvSpPr>
          <p:cNvPr id="8" name="Text 6"/>
          <p:cNvSpPr txBox="1"/>
          <p:nvPr/>
        </p:nvSpPr>
        <p:spPr>
          <a:xfrm>
            <a:off x="1572768" y="1956816"/>
            <a:ext cx="8229600" cy="27432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未行使のストックオプションがあれば、本資料の比率はすべて下がります。発行要項と潜在株式数を最優先で確認します。</a:t>
            </a:r>
            <a:endParaRPr lang="en-US" sz="950" dirty="0"/>
          </a:p>
        </p:txBody>
      </p:sp>
      <p:sp>
        <p:nvSpPr>
          <p:cNvPr id="9" name="Text 7"/>
          <p:cNvSpPr txBox="1"/>
          <p:nvPr/>
        </p:nvSpPr>
        <p:spPr>
          <a:xfrm>
            <a:off x="9966960" y="1801368"/>
            <a:ext cx="1280160" cy="256032"/>
          </a:xfrm>
          <a:prstGeom prst="rect">
            <a:avLst/>
          </a:prstGeom>
          <a:noFill/>
          <a:ln/>
        </p:spPr>
        <p:txBody>
          <a:bodyPr wrap="square" lIns="0" tIns="0" rIns="0" bIns="0" rtlCol="0" anchor="ctr"/>
          <a:lstStyle/>
          <a:p>
            <a:pPr algn="r" indent="0" marL="0">
              <a:buNone/>
            </a:pPr>
            <a:r>
              <a:rPr lang="en-US" sz="1100" b="1" dirty="0">
                <a:solidFill>
                  <a:srgbClr val="6E2639"/>
                </a:solidFill>
                <a:latin typeface="Meiryo" pitchFamily="34" charset="0"/>
                <a:ea typeface="Meiryo" pitchFamily="34" charset="-122"/>
                <a:cs typeface="Meiryo" pitchFamily="34" charset="-120"/>
              </a:rPr>
              <a:t>最優先</a:t>
            </a:r>
            <a:endParaRPr lang="en-US" sz="1100" dirty="0"/>
          </a:p>
        </p:txBody>
      </p:sp>
      <p:sp>
        <p:nvSpPr>
          <p:cNvPr id="10" name="Shape 8"/>
          <p:cNvSpPr/>
          <p:nvPr/>
        </p:nvSpPr>
        <p:spPr>
          <a:xfrm>
            <a:off x="640080" y="2423160"/>
            <a:ext cx="10881360" cy="749808"/>
          </a:xfrm>
          <a:prstGeom prst="roundRect">
            <a:avLst>
              <a:gd name="adj" fmla="val 731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1" name="Shape 9"/>
          <p:cNvSpPr/>
          <p:nvPr/>
        </p:nvSpPr>
        <p:spPr>
          <a:xfrm>
            <a:off x="960120" y="2596896"/>
            <a:ext cx="402336" cy="402336"/>
          </a:xfrm>
          <a:prstGeom prst="roundRect">
            <a:avLst>
              <a:gd name="adj" fmla="val 50000"/>
            </a:avLst>
          </a:prstGeom>
          <a:solidFill>
            <a:srgbClr val="6E2639"/>
          </a:solidFill>
          <a:ln/>
        </p:spPr>
      </p:sp>
      <p:sp>
        <p:nvSpPr>
          <p:cNvPr id="12" name="Text 10"/>
          <p:cNvSpPr txBox="1"/>
          <p:nvPr/>
        </p:nvSpPr>
        <p:spPr>
          <a:xfrm>
            <a:off x="960120" y="2596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02</a:t>
            </a:r>
            <a:endParaRPr lang="en-US" sz="1400" dirty="0"/>
          </a:p>
        </p:txBody>
      </p:sp>
      <p:sp>
        <p:nvSpPr>
          <p:cNvPr id="13" name="Text 11"/>
          <p:cNvSpPr txBox="1"/>
          <p:nvPr/>
        </p:nvSpPr>
        <p:spPr>
          <a:xfrm>
            <a:off x="1572768" y="2551176"/>
            <a:ext cx="393192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スマサポ社の現預金と有利子負債</a:t>
            </a:r>
            <a:endParaRPr lang="en-US" sz="1250" dirty="0"/>
          </a:p>
        </p:txBody>
      </p:sp>
      <p:sp>
        <p:nvSpPr>
          <p:cNvPr id="14" name="Text 12"/>
          <p:cNvSpPr txBox="1"/>
          <p:nvPr/>
        </p:nvSpPr>
        <p:spPr>
          <a:xfrm>
            <a:off x="1572768" y="2825496"/>
            <a:ext cx="8229600" cy="27432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ビジョン社への借入7.90億円の返済原資になるかを見ます。自己資本比率68.8%・純資産5.71億からは、自己資金のみでの返済は難しいとみています。</a:t>
            </a:r>
            <a:endParaRPr lang="en-US" sz="950" dirty="0"/>
          </a:p>
        </p:txBody>
      </p:sp>
      <p:sp>
        <p:nvSpPr>
          <p:cNvPr id="15" name="Text 13"/>
          <p:cNvSpPr txBox="1"/>
          <p:nvPr/>
        </p:nvSpPr>
        <p:spPr>
          <a:xfrm>
            <a:off x="9966960" y="2670048"/>
            <a:ext cx="1280160" cy="256032"/>
          </a:xfrm>
          <a:prstGeom prst="rect">
            <a:avLst/>
          </a:prstGeom>
          <a:noFill/>
          <a:ln/>
        </p:spPr>
        <p:txBody>
          <a:bodyPr wrap="square" lIns="0" tIns="0" rIns="0" bIns="0" rtlCol="0" anchor="ctr"/>
          <a:lstStyle/>
          <a:p>
            <a:pPr algn="r" indent="0" marL="0">
              <a:buNone/>
            </a:pPr>
            <a:r>
              <a:rPr lang="en-US" sz="1100" b="1" dirty="0">
                <a:solidFill>
                  <a:srgbClr val="6E2639"/>
                </a:solidFill>
                <a:latin typeface="Meiryo" pitchFamily="34" charset="0"/>
                <a:ea typeface="Meiryo" pitchFamily="34" charset="-122"/>
                <a:cs typeface="Meiryo" pitchFamily="34" charset="-120"/>
              </a:rPr>
              <a:t>要入手</a:t>
            </a:r>
            <a:endParaRPr lang="en-US" sz="1100" dirty="0"/>
          </a:p>
        </p:txBody>
      </p:sp>
      <p:sp>
        <p:nvSpPr>
          <p:cNvPr id="16" name="Shape 14"/>
          <p:cNvSpPr/>
          <p:nvPr/>
        </p:nvSpPr>
        <p:spPr>
          <a:xfrm>
            <a:off x="640080" y="3291840"/>
            <a:ext cx="10881360" cy="749808"/>
          </a:xfrm>
          <a:prstGeom prst="roundRect">
            <a:avLst>
              <a:gd name="adj" fmla="val 731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7" name="Shape 15"/>
          <p:cNvSpPr/>
          <p:nvPr/>
        </p:nvSpPr>
        <p:spPr>
          <a:xfrm>
            <a:off x="960120" y="3465576"/>
            <a:ext cx="402336" cy="402336"/>
          </a:xfrm>
          <a:prstGeom prst="roundRect">
            <a:avLst>
              <a:gd name="adj" fmla="val 50000"/>
            </a:avLst>
          </a:prstGeom>
          <a:solidFill>
            <a:srgbClr val="2E5C8A"/>
          </a:solidFill>
          <a:ln/>
        </p:spPr>
      </p:sp>
      <p:sp>
        <p:nvSpPr>
          <p:cNvPr id="18" name="Text 16"/>
          <p:cNvSpPr txBox="1"/>
          <p:nvPr/>
        </p:nvSpPr>
        <p:spPr>
          <a:xfrm>
            <a:off x="96012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03</a:t>
            </a:r>
            <a:endParaRPr lang="en-US" sz="1400" dirty="0"/>
          </a:p>
        </p:txBody>
      </p:sp>
      <p:sp>
        <p:nvSpPr>
          <p:cNvPr id="19" name="Text 17"/>
          <p:cNvSpPr txBox="1"/>
          <p:nvPr/>
        </p:nvSpPr>
        <p:spPr>
          <a:xfrm>
            <a:off x="1572768" y="3419856"/>
            <a:ext cx="393192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みずほ銀行様へのリファイナンス打診</a:t>
            </a:r>
            <a:endParaRPr lang="en-US" sz="1250" dirty="0"/>
          </a:p>
        </p:txBody>
      </p:sp>
      <p:sp>
        <p:nvSpPr>
          <p:cNvPr id="20" name="Text 18"/>
          <p:cNvSpPr txBox="1"/>
          <p:nvPr/>
        </p:nvSpPr>
        <p:spPr>
          <a:xfrm>
            <a:off x="1572768" y="3694176"/>
            <a:ext cx="8229600" cy="27432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上記が確認でき次第、合併後の上場会社に対する7.90億円のリファイナンスとしてご相談します。</a:t>
            </a:r>
            <a:endParaRPr lang="en-US" sz="950" dirty="0"/>
          </a:p>
        </p:txBody>
      </p:sp>
      <p:sp>
        <p:nvSpPr>
          <p:cNvPr id="21" name="Text 19"/>
          <p:cNvSpPr txBox="1"/>
          <p:nvPr/>
        </p:nvSpPr>
        <p:spPr>
          <a:xfrm>
            <a:off x="9966960" y="3538728"/>
            <a:ext cx="1280160" cy="256032"/>
          </a:xfrm>
          <a:prstGeom prst="rect">
            <a:avLst/>
          </a:prstGeom>
          <a:noFill/>
          <a:ln/>
        </p:spPr>
        <p:txBody>
          <a:bodyPr wrap="square" lIns="0" tIns="0" rIns="0" bIns="0" rtlCol="0" anchor="ctr"/>
          <a:lstStyle/>
          <a:p>
            <a:pPr algn="r" indent="0" marL="0">
              <a:buNone/>
            </a:pPr>
            <a:r>
              <a:rPr lang="en-US" sz="1100" b="1" dirty="0">
                <a:solidFill>
                  <a:srgbClr val="2E5C8A"/>
                </a:solidFill>
                <a:latin typeface="Meiryo" pitchFamily="34" charset="0"/>
                <a:ea typeface="Meiryo" pitchFamily="34" charset="-122"/>
                <a:cs typeface="Meiryo" pitchFamily="34" charset="-120"/>
              </a:rPr>
              <a:t>条件次第</a:t>
            </a:r>
            <a:endParaRPr lang="en-US" sz="1100" dirty="0"/>
          </a:p>
        </p:txBody>
      </p:sp>
      <p:sp>
        <p:nvSpPr>
          <p:cNvPr id="22" name="Shape 20"/>
          <p:cNvSpPr/>
          <p:nvPr/>
        </p:nvSpPr>
        <p:spPr>
          <a:xfrm>
            <a:off x="640080" y="4160520"/>
            <a:ext cx="10881360" cy="749808"/>
          </a:xfrm>
          <a:prstGeom prst="roundRect">
            <a:avLst>
              <a:gd name="adj" fmla="val 731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3" name="Shape 21"/>
          <p:cNvSpPr/>
          <p:nvPr/>
        </p:nvSpPr>
        <p:spPr>
          <a:xfrm>
            <a:off x="960120" y="4334256"/>
            <a:ext cx="402336" cy="402336"/>
          </a:xfrm>
          <a:prstGeom prst="roundRect">
            <a:avLst>
              <a:gd name="adj" fmla="val 50000"/>
            </a:avLst>
          </a:prstGeom>
          <a:solidFill>
            <a:srgbClr val="2E5C8A"/>
          </a:solidFill>
          <a:ln/>
        </p:spPr>
      </p:sp>
      <p:sp>
        <p:nvSpPr>
          <p:cNvPr id="24" name="Text 22"/>
          <p:cNvSpPr txBox="1"/>
          <p:nvPr/>
        </p:nvSpPr>
        <p:spPr>
          <a:xfrm>
            <a:off x="960120" y="43342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04</a:t>
            </a:r>
            <a:endParaRPr lang="en-US" sz="1400" dirty="0"/>
          </a:p>
        </p:txBody>
      </p:sp>
      <p:sp>
        <p:nvSpPr>
          <p:cNvPr id="25" name="Text 23"/>
          <p:cNvSpPr txBox="1"/>
          <p:nvPr/>
        </p:nvSpPr>
        <p:spPr>
          <a:xfrm>
            <a:off x="1572768" y="4288536"/>
            <a:ext cx="393192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太田氏の意向と合併後の経営体制</a:t>
            </a:r>
            <a:endParaRPr lang="en-US" sz="1250" dirty="0"/>
          </a:p>
        </p:txBody>
      </p:sp>
      <p:sp>
        <p:nvSpPr>
          <p:cNvPr id="26" name="Text 24"/>
          <p:cNvSpPr txBox="1"/>
          <p:nvPr/>
        </p:nvSpPr>
        <p:spPr>
          <a:xfrm>
            <a:off x="1572768" y="4562856"/>
            <a:ext cx="8229600" cy="27432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持分を手放す意向があるのか、会長等で残るのか。社長は小田慎三氏のため、経営体制の設計は持分とは別に詰める必要があります。</a:t>
            </a:r>
            <a:endParaRPr lang="en-US" sz="950" dirty="0"/>
          </a:p>
        </p:txBody>
      </p:sp>
      <p:sp>
        <p:nvSpPr>
          <p:cNvPr id="27" name="Text 25"/>
          <p:cNvSpPr txBox="1"/>
          <p:nvPr/>
        </p:nvSpPr>
        <p:spPr>
          <a:xfrm>
            <a:off x="9966960" y="4407408"/>
            <a:ext cx="1280160" cy="256032"/>
          </a:xfrm>
          <a:prstGeom prst="rect">
            <a:avLst/>
          </a:prstGeom>
          <a:noFill/>
          <a:ln/>
        </p:spPr>
        <p:txBody>
          <a:bodyPr wrap="square" lIns="0" tIns="0" rIns="0" bIns="0" rtlCol="0" anchor="ctr"/>
          <a:lstStyle/>
          <a:p>
            <a:pPr algn="r" indent="0" marL="0">
              <a:buNone/>
            </a:pPr>
            <a:r>
              <a:rPr lang="en-US" sz="1100" b="1" dirty="0">
                <a:solidFill>
                  <a:srgbClr val="2E5C8A"/>
                </a:solidFill>
                <a:latin typeface="Meiryo" pitchFamily="34" charset="0"/>
                <a:ea typeface="Meiryo" pitchFamily="34" charset="-122"/>
                <a:cs typeface="Meiryo" pitchFamily="34" charset="-120"/>
              </a:rPr>
              <a:t>要確認</a:t>
            </a:r>
            <a:endParaRPr lang="en-US" sz="1100" dirty="0"/>
          </a:p>
        </p:txBody>
      </p:sp>
      <p:sp>
        <p:nvSpPr>
          <p:cNvPr id="28" name="Shape 26"/>
          <p:cNvSpPr/>
          <p:nvPr/>
        </p:nvSpPr>
        <p:spPr>
          <a:xfrm>
            <a:off x="640080" y="5029200"/>
            <a:ext cx="10881360" cy="749808"/>
          </a:xfrm>
          <a:prstGeom prst="roundRect">
            <a:avLst>
              <a:gd name="adj" fmla="val 731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9" name="Shape 27"/>
          <p:cNvSpPr/>
          <p:nvPr/>
        </p:nvSpPr>
        <p:spPr>
          <a:xfrm>
            <a:off x="960120" y="5202936"/>
            <a:ext cx="402336" cy="402336"/>
          </a:xfrm>
          <a:prstGeom prst="roundRect">
            <a:avLst>
              <a:gd name="adj" fmla="val 50000"/>
            </a:avLst>
          </a:prstGeom>
          <a:solidFill>
            <a:srgbClr val="6E2639"/>
          </a:solidFill>
          <a:ln/>
        </p:spPr>
      </p:sp>
      <p:sp>
        <p:nvSpPr>
          <p:cNvPr id="30" name="Text 28"/>
          <p:cNvSpPr txBox="1"/>
          <p:nvPr/>
        </p:nvSpPr>
        <p:spPr>
          <a:xfrm>
            <a:off x="960120" y="5202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05</a:t>
            </a:r>
            <a:endParaRPr lang="en-US" sz="1400" dirty="0"/>
          </a:p>
        </p:txBody>
      </p:sp>
      <p:sp>
        <p:nvSpPr>
          <p:cNvPr id="31" name="Text 29"/>
          <p:cNvSpPr txBox="1"/>
          <p:nvPr/>
        </p:nvSpPr>
        <p:spPr>
          <a:xfrm>
            <a:off x="1572768" y="5157216"/>
            <a:ext cx="3931920" cy="256032"/>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あどばる15億円でスマサポ社が応じるか</a:t>
            </a:r>
            <a:endParaRPr lang="en-US" sz="1250" dirty="0"/>
          </a:p>
        </p:txBody>
      </p:sp>
      <p:sp>
        <p:nvSpPr>
          <p:cNvPr id="32" name="Text 30"/>
          <p:cNvSpPr txBox="1"/>
          <p:nvPr/>
        </p:nvSpPr>
        <p:spPr>
          <a:xfrm>
            <a:off x="1572768" y="5431536"/>
            <a:ext cx="8229600" cy="27432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比率はこの1点で動きます。15億が上限である以上、先方の目線を早めに確認します。</a:t>
            </a:r>
            <a:endParaRPr lang="en-US" sz="950" dirty="0"/>
          </a:p>
        </p:txBody>
      </p:sp>
      <p:sp>
        <p:nvSpPr>
          <p:cNvPr id="33" name="Text 31"/>
          <p:cNvSpPr txBox="1"/>
          <p:nvPr/>
        </p:nvSpPr>
        <p:spPr>
          <a:xfrm>
            <a:off x="9966960" y="5276088"/>
            <a:ext cx="1280160" cy="256032"/>
          </a:xfrm>
          <a:prstGeom prst="rect">
            <a:avLst/>
          </a:prstGeom>
          <a:noFill/>
          <a:ln/>
        </p:spPr>
        <p:txBody>
          <a:bodyPr wrap="square" lIns="0" tIns="0" rIns="0" bIns="0" rtlCol="0" anchor="ctr"/>
          <a:lstStyle/>
          <a:p>
            <a:pPr algn="r" indent="0" marL="0">
              <a:buNone/>
            </a:pPr>
            <a:r>
              <a:rPr lang="en-US" sz="1100" b="1" dirty="0">
                <a:solidFill>
                  <a:srgbClr val="6E2639"/>
                </a:solidFill>
                <a:latin typeface="Meiryo" pitchFamily="34" charset="0"/>
                <a:ea typeface="Meiryo" pitchFamily="34" charset="-122"/>
                <a:cs typeface="Meiryo" pitchFamily="34" charset="-120"/>
              </a:rPr>
              <a:t>要交渉</a:t>
            </a:r>
            <a:endParaRPr lang="en-US" sz="1100" dirty="0"/>
          </a:p>
        </p:txBody>
      </p:sp>
      <p:sp>
        <p:nvSpPr>
          <p:cNvPr id="34" name="Text 32"/>
          <p:cNvSpPr txBox="1"/>
          <p:nvPr/>
        </p:nvSpPr>
        <p:spPr>
          <a:xfrm>
            <a:off x="640080" y="6144768"/>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本資料は公開情報にもとづく試算です。実際の合併比率は、双方のデューデリジェンスと第三者算定機関の評価によって決まります。</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2026-10-23T05:47:25Z</dcterms:created>
  <dcterms:modified xsi:type="dcterms:W3CDTF">2026-10-23T05:47:25Z</dcterms:modified>
</cp:coreProperties>
</file>