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3つの条件を外せないものとして固定したうえで、必要資金だけを比べる資料。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条件を外せないものとして固定したのがこの資料の出発点。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中野の負担はB-2が一番軽い。だが調達合計を見ると、Bは借入が7.90億に膨らむ。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B-1は上場維持基準、B-2は支配力。どちらも条件③を実質的には満たしきれない。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条件③（筆頭）と上場維持が真正面からぶつかる。ここがB-1の致命傷。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「同数」の定義で必要額が0.15億から3.97億まで動く。ここは先に決めておく。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ビジョンにとってもMBOが一番得。これは交渉材料になる。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条件を固定した瞬間、合併ルートは条件③で詰む。しかもMBOのほうが安い。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45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株式会社あどばる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57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必須条件を固定した資金比較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175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4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ビジョン社の出口・借入の同時返済・中野の筆頭株主化を、すべて前提とした場合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2026年9月24日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877056"/>
            <a:ext cx="2926080" cy="0"/>
          </a:xfrm>
          <a:prstGeom prst="line">
            <a:avLst/>
          </a:prstGeom>
          <a:noFill/>
          <a:ln w="25400">
            <a:solidFill>
              <a:srgbClr val="6E26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87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ご説明先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4187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D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株式会社あどばる 中村 新社長 ／ みずほ銀行 御中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572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45720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D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株式会社あどばる 代表取締役 中野 邦人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9560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基準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49560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DE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第10期計算書類・会社四季報2026年9月号・株価229円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A8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本資料は検討段階の想定値であり、法務・税務・会計上の助言ではありません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外せない3つの条件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BF1F3"/>
          </a:solidFill>
          <a:ln w="12700">
            <a:solidFill>
              <a:srgbClr val="E3CBD1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7007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737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ビジョン社の株式の出口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21284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どちらの道を選んでも、最終的にビジョン社には株主から抜けていただく。保有を残したまま終わる選択肢はない。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517904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BF1F3"/>
          </a:solidFill>
          <a:ln w="12700">
            <a:solidFill>
              <a:srgbClr val="E3CBD1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2000" y="17007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1737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借入7.90億円の全額返済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21284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子会社でなくなった時点と同時に全額返済する。分割・据置・一部残置はしない。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1517904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BF1F3"/>
          </a:solidFill>
          <a:ln w="12700">
            <a:solidFill>
              <a:srgbClr val="E3CBD1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0" y="17007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823960" y="1737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中野が筆頭株主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21284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少なくとも重松氏と同数。合併する場合も、MBOの場合も、名簿の一番上に立つ。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5204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この3つを固定すると、選択肢は次の3つに絞られます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4078224"/>
            <a:ext cx="685800" cy="329184"/>
          </a:xfrm>
          <a:prstGeom prst="roundRect">
            <a:avLst>
              <a:gd name="adj" fmla="val 50000"/>
            </a:avLst>
          </a:prstGeom>
          <a:solidFill>
            <a:srgbClr val="6E263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407822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783080" y="4096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MBO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41148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非上場のまま独立。増資19.57億で全株主を整理し、ビジョン借入も同時に完済する。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645152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4791456"/>
            <a:ext cx="685800" cy="329184"/>
          </a:xfrm>
          <a:prstGeom prst="roundRect">
            <a:avLst>
              <a:gd name="adj" fmla="val 50000"/>
            </a:avLst>
          </a:prstGeom>
          <a:solidFill>
            <a:srgbClr val="2E5C8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79145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B-1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783080" y="48097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合併 ＋ 中野がビジョン株を買取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482803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合併後、ビジョン社の持分18.43%を中野が丸ごと引き取って筆頭になる。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5358384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4400" y="5504688"/>
            <a:ext cx="685800" cy="329184"/>
          </a:xfrm>
          <a:prstGeom prst="roundRect">
            <a:avLst>
              <a:gd name="adj" fmla="val 50000"/>
            </a:avLst>
          </a:prstGeom>
          <a:solidFill>
            <a:srgbClr val="7C8A9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550468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B-2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783080" y="55229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合併 ＋ ビジョン株を市場へ売出し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5120640" y="554126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ビジョン社の持分は市場に放出。中野は重松氏と同数まで買い増すだけにとどめる。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必要資金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誰が、いくら出すことになるか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36192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65176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資金の出し手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A：MBO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26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B-1：中野が買取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B-2：市場へ売出し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中野（自己資金）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E263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6.12億円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2E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8.43億円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6A4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0.15億円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パートナー（増資引受）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13.44億円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市場（売出しの引受先）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F551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8.43億円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銀行（借入）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3.00億円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2E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7.90億円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2E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7.90億円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調達 合計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22.56億円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16.33億円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16.48億円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　うち ビジョン株式の取得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12.72億（全株主分）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8.43億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8.43億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　うち ビジョン借入の返済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7.90億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7.90億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7.90億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　うち その他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1.95億（費用・手元）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0.15億（重松氏から）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0292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0F4F1"/>
          </a:solidFill>
          <a:ln w="12700">
            <a:solidFill>
              <a:srgbClr val="C9DCD1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60120" y="5175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A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②の条件が効くのはここです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546811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借入7.90億をクロージング当日に全額返す以上、その現金はどこかから来ます。MBOでは4.90億を増資でまかない、銀行からは3.00億だけ。合併では増資がないため7.90億すべてが新規借入になり、貸し手が替わるだけで負債は減りません。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A欄の「ビジョン株式の取得12.72億」はビジョン社を含む既存株主7社全員分です（ビジョン社分は9.41億）。B欄はビジョン社分のみ。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到達点と、それぞれのメリット・デメリット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3520440" cy="4572000"/>
          </a:xfrm>
          <a:prstGeom prst="roundRect">
            <a:avLst>
              <a:gd name="adj" fmla="val 1558"/>
            </a:avLst>
          </a:prstGeom>
          <a:solidFill>
            <a:srgbClr val="FBF1F3"/>
          </a:solidFill>
          <a:ln w="12700">
            <a:solidFill>
              <a:srgbClr val="E3CBD1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64208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6E263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66420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6642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MBO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1168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中野の必要資金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194560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6.12</a:t>
            </a:r>
            <a:pPr indent="0" marL="0">
              <a:buNone/>
            </a:pPr>
            <a:r>
              <a:rPr lang="en-US" sz="130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億円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72491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最終持分 50.1%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6265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過半数の支配権あり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25526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A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356616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C6A4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52144" y="3511296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3条件をすべて確実に満たせる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914400" y="393192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C6A4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52144" y="3877056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ビジョン借入が6.07億まで減る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914400" y="429768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C6A4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52144" y="4242816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自己資本比率24.9%で銀行に通る</a:t>
            </a:r>
            <a:endParaRPr lang="en-US" sz="92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66344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2E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デメリット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4400" y="497433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2E2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52144" y="4919472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パートナー13.44億を集めきる必要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914400" y="534009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2E2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152144" y="5285232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非上場のため株式の換金性は低い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4297680" y="1517904"/>
            <a:ext cx="3520440" cy="457200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664208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2E5C8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0" y="166420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B-1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16642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合併＋中野が買取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201168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中野の必要資金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2194560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5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8.43</a:t>
            </a:r>
            <a:pPr indent="0" marL="0">
              <a:buNone/>
            </a:pPr>
            <a:r>
              <a:rPr lang="en-US" sz="1300" b="1" dirty="0">
                <a:solidFill>
                  <a:srgbClr val="2E5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億円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272491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最終持分 32.88%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296265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筆頭だが過半数なし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325526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A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0" y="356616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C6A4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809744" y="3511296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第三者の資金に頼らず単独で実行できる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4572000" y="393192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C6A4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809744" y="3877056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上場株なので換金性がある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4572000" y="429768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C6A4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809744" y="4242816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ビジョン社を一度で整理できる</a:t>
            </a:r>
            <a:endParaRPr lang="en-US" sz="920" dirty="0"/>
          </a:p>
        </p:txBody>
      </p:sp>
      <p:sp>
        <p:nvSpPr>
          <p:cNvPr id="39" name="Text 37"/>
          <p:cNvSpPr txBox="1"/>
          <p:nvPr/>
        </p:nvSpPr>
        <p:spPr>
          <a:xfrm>
            <a:off x="4572000" y="466344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2E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デメリット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0" y="497433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2E2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809744" y="4919472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流通株式比率21.62%で上場維持基準割れ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4572000" y="534009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2E2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809744" y="5285232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1/3まで0.45ptしか余裕がない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4572000" y="570585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2E2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809744" y="5650992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借入が10.97億のまま残る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7955280" y="1517904"/>
            <a:ext cx="3520440" cy="457200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229600" y="1664208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7C8A99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229600" y="166420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B-2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9006840" y="16642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合併＋市場へ売出し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8229600" y="201168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中野の必要資金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8229600" y="2194560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0.15</a:t>
            </a:r>
            <a:pPr indent="0" marL="0">
              <a:buNone/>
            </a:pPr>
            <a:r>
              <a:rPr lang="en-US" sz="1300" b="1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億円</a:t>
            </a:r>
            <a:endParaRPr lang="en-US" sz="3000" dirty="0"/>
          </a:p>
        </p:txBody>
      </p:sp>
      <p:sp>
        <p:nvSpPr>
          <p:cNvPr id="52" name="Text 50"/>
          <p:cNvSpPr txBox="1"/>
          <p:nvPr/>
        </p:nvSpPr>
        <p:spPr>
          <a:xfrm>
            <a:off x="8229600" y="272491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最終持分 14.77%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8229600" y="296265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筆頭だが支配力なし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8229600" y="325526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A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229600" y="356616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C6A4E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8467344" y="3511296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中野の持ち出しが最も少ない</a:t>
            </a:r>
            <a:endParaRPr lang="en-US" sz="920" dirty="0"/>
          </a:p>
        </p:txBody>
      </p:sp>
      <p:sp>
        <p:nvSpPr>
          <p:cNvPr id="57" name="Shape 55"/>
          <p:cNvSpPr/>
          <p:nvPr/>
        </p:nvSpPr>
        <p:spPr>
          <a:xfrm>
            <a:off x="8229600" y="393192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C6A4E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467344" y="3877056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流通株式比率39.7%で基準を満たす</a:t>
            </a:r>
            <a:endParaRPr lang="en-US" sz="920" dirty="0"/>
          </a:p>
        </p:txBody>
      </p:sp>
      <p:sp>
        <p:nvSpPr>
          <p:cNvPr id="59" name="Text 57"/>
          <p:cNvSpPr txBox="1"/>
          <p:nvPr/>
        </p:nvSpPr>
        <p:spPr>
          <a:xfrm>
            <a:off x="8229600" y="429768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2E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デメリット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229600" y="460857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2E26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467344" y="4553712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8.43億の売出しを消化できる保証がない</a:t>
            </a:r>
            <a:endParaRPr lang="en-US" sz="920" dirty="0"/>
          </a:p>
        </p:txBody>
      </p:sp>
      <p:sp>
        <p:nvSpPr>
          <p:cNvPr id="62" name="Shape 60"/>
          <p:cNvSpPr/>
          <p:nvPr/>
        </p:nvSpPr>
        <p:spPr>
          <a:xfrm>
            <a:off x="8229600" y="497433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2E26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8467344" y="4919472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重松氏と同率で、差がつけば即座に崩れる</a:t>
            </a:r>
            <a:endParaRPr lang="en-US" sz="920" dirty="0"/>
          </a:p>
        </p:txBody>
      </p:sp>
      <p:sp>
        <p:nvSpPr>
          <p:cNvPr id="64" name="Shape 62"/>
          <p:cNvSpPr/>
          <p:nvPr/>
        </p:nvSpPr>
        <p:spPr>
          <a:xfrm>
            <a:off x="8229600" y="534009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2E26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8467344" y="5285232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借入が10.97億のまま残る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B-1 の問題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筆頭株主になった瞬間、上場維持基準に触れます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26333F"/>
          </a:solidFill>
          <a:ln w="12700">
            <a:solidFill>
              <a:srgbClr val="3A48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928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21.62%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19659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合併後の流通株式比率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86584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東証グロースの上場維持基準は25%です。ビジョン社の18.43%が中野に移るだけなので、どちらも除外対象の保有者であり、流通株式は1株も増えません。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26333F"/>
          </a:solidFill>
          <a:ln w="12700">
            <a:solidFill>
              <a:srgbClr val="3A485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8928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0.45pt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19659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1/3ルールまでの余裕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386584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取得後32.88%。3分の1を超える市場外買付はTOBが義務になるため、追加で買えるのは残り90,094株だけです。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26333F"/>
          </a:solidFill>
          <a:ln w="12700">
            <a:solidFill>
              <a:srgbClr val="3A485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813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10.97億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388620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あどばる由来の有利子負債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306824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増資がないため、ビジョン社への7.90億は新規借入で置き換えるしかなく、負債は1円も減りません。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361188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26333F"/>
          </a:solidFill>
          <a:ln w="12700">
            <a:solidFill>
              <a:srgbClr val="3A485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3813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8.43億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88620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中野の持ち出し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4306824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B5C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MBOの6.12億より2.31億多く、しかも得られるのは過半数ではなく32.88%です。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6327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上場維持基準に触れると1年の改善期間に入ります。その間に流通株式を増やす＝中野か誰かが売る必要があり、筆頭株主でいることと両立しません。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2362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E9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流通株式比率は、役員・10%以上保有者・事業法人の保有分を除いた試算値です。実際の算定は東証の定義によります。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B-2 の問題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持ち出しは最小ですが、筆頭の座が紙一重です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7F3EC"/>
          </a:solidFill>
          <a:ln w="12700">
            <a:solidFill>
              <a:srgbClr val="E0D3BE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55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8.43億円の売出しを、誰が引き取るのか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0312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スペースマーケット社の時価総額は28億円です。そこへ発行済の18.43%にあたる8.43億円分を放出することになります。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引受証券会社によるディスカウントは避けられず、株価そのものが下押しされる可能性があります。ビジョン社の手取りも額面どおりにはなりません。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BF1F3"/>
          </a:solidFill>
          <a:ln w="12700">
            <a:solidFill>
              <a:srgbClr val="E3CBD1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46520" y="1737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重松氏と「同数」では、筆頭は守れません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10312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中野14.77% ＝ 重松氏14.77%。これは同率首位であって、単独の筆頭ではありません。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さらにダブルパインズ社の8.36%を合わせると重松氏側は23.14%です。実質で並ぶには1,735,014株・3.97億円が必要になります。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0690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「重松氏と同数」をどう定義するかで、必要額は26倍変わります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462272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96112" y="46268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重松氏 個人分と同数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49194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65,014株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517550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6A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0.15億円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55412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中野 14.77%（同率首位）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4462272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53712" y="46268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ダブルパインズを含めて同数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53712" y="49194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1,735,014株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53712" y="517550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3.97億円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553712" y="55412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中野 23.14%（単独首位）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55280" y="4462272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11312" y="46268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ビジョン株も引き取る（＝B-1）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211312" y="49194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3,745,321株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211312" y="517550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2E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8.58億円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8211312" y="55412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中野 33.20%　※TOB必要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3列目は参考値です。ビジョン株と重松氏個人分の両方を取得すると33.20%となり3分の1を超えるため、市場外取得ではTOBが必要になります。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ビジョン社から見ると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どの案が受け入れられやすいか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325880"/>
          </a:xfrm>
          <a:prstGeom prst="roundRect">
            <a:avLst>
              <a:gd name="adj" fmla="val 4138"/>
            </a:avLst>
          </a:prstGeom>
          <a:solidFill>
            <a:srgbClr val="FBF1F3"/>
          </a:solidFill>
          <a:ln w="12700">
            <a:solidFill>
              <a:srgbClr val="E3CBD1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773936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6E263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7739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212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MBO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17.31</a:t>
            </a:r>
            <a:pPr indent="0" marL="0">
              <a:buNone/>
            </a:pPr>
            <a:r>
              <a:rPr lang="en-US" sz="130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億円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450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 9.41億 ＋ 借入返済 7.90億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9019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現金一括・同時決済。価格は20億円評価で確定。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601200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最も高く、最も確実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035808"/>
            <a:ext cx="108813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3255264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2E5C8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325526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B-1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6941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合併＋中野が買取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33558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5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16.33</a:t>
            </a:r>
            <a:pPr indent="0" marL="0">
              <a:buNone/>
            </a:pPr>
            <a:r>
              <a:rPr lang="en-US" sz="1300" b="1" dirty="0">
                <a:solidFill>
                  <a:srgbClr val="2E5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億円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3931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 8.43億 ＋ 借入返済 7.90億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383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中野個人との相対取引。価格は市場株価229円に連動。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601200" y="35387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5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Aより0.98億円低い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517136"/>
            <a:ext cx="108813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BE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0120" y="4736592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7C8A9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0120" y="473659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B-2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5175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合併＋市場へ売出し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483717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16.33</a:t>
            </a:r>
            <a:pPr indent="0" marL="0">
              <a:buNone/>
            </a:pPr>
            <a:r>
              <a:rPr lang="en-US" sz="1300" b="1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億円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3291840" y="5413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売出し 8.43億 ＋ 借入返済 7.90億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48646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手取りはディスカウントと引受手数料の分だけ目減りする。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601200" y="50200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8A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実際の手取りは最も低い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263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交渉上、これは使えます。ビジョン社にとってMBOが最も条件が良いということは、MBOのほうが合意を取りやすいということです。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3条件をすべて満たせるのはMBOだけです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26333F"/>
          </a:solidFill>
          <a:ln w="25400">
            <a:solidFill>
              <a:srgbClr val="6E26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B-1は上場維持基準に触れ、B-2は筆頭の座を守れません。条件③を本当に外せないのであれば、合併ルートは条件を満たしきれません。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9572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しかも中野の持ち出しは、B-1の8.43億に対してMBOは6.12億。安いほうが条件を満たします。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0896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651760"/>
                <a:gridCol w="2514600"/>
                <a:gridCol w="2514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必須条件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A：MBO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26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B-1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B-2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① ビジョン株式の出口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FD1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 完全に退出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FD1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 完全に退出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FD1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 完全に退出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② 借入7.90億の同時全額返済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FD1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 増資4.90＋銀行3.00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B96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 全額が新規借入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B96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 全額が新規借入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③ 中野が筆頭株主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FD1A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 50.1%・過半数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9B8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 上場維持基準に抵触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9B8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 同率どまり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中野の必要資金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6.12億円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4C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8.43億円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C4C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0.15〜3.97億円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0080" y="54864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C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次に決めること：① 「重松氏と同数」の定義（個人分か、ダブルパインズを含むか）　② パートナー13.44億の引受先　③ ビジョン社への提示順序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E9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本資料は検討段階の想定値です。流通株式比率・TOB規制の適用は、東証および証券会社・弁護士の確認を要します。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2026-09-24T00:23:34Z</dcterms:created>
  <dcterms:modified xsi:type="dcterms:W3CDTF">2026-09-24T00:23:34Z</dcterms:modified>
</cp:coreProperties>
</file>