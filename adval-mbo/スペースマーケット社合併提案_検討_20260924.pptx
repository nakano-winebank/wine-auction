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合併後の持株比率（％・ストックオプション行使後）</a:t>
            </a:r>
          </a:p>
        </c:rich>
      </c:tx>
      <c:layout/>
      <c:overlay val="0"/>
    </c:title>
    <c:autoTitleDeleted val="0"/>
    <c:plotArea>
      <c:layout/>
      <c:barChart>
        <c:barDir val="bar"/>
        <c:grouping val="clustered"/>
        <c:varyColors val="0"/>
        <c:ser>
          <c:idx val="0"/>
          <c:order val="0"/>
          <c:tx>
            <c:strRef>
              <c:f>Sheet1!$B$1</c:f>
              <c:strCache>
                <c:ptCount val="1"/>
                <c:pt idx="0">
                  <c:v>持株比率</c:v>
                </c:pt>
              </c:strCache>
            </c:strRef>
          </c:tx>
          <c:spPr>
            <a:solidFill>
              <a:srgbClr val="2E5C8A"/>
            </a:solidFill>
            <a:effectLst/>
          </c:spPr>
          <c:invertIfNegative val="0"/>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cat>
            <c:multiLvlStrRef>
              <c:f>Sheet1!$A$2:$A$7</c:f>
              <c:multiLvlStrCache>
                <c:ptCount val="6"/>
                <c:lvl>
                  <c:pt idx="0">
                    <c:v>ダブルパインズ</c:v>
                  </c:pt>
                  <c:pt idx="1">
                    <c:v>TKP</c:v>
                  </c:pt>
                  <c:pt idx="2">
                    <c:v>中野 邦人</c:v>
                  </c:pt>
                  <c:pt idx="3">
                    <c:v>重松 大輔</c:v>
                  </c:pt>
                  <c:pt idx="4">
                    <c:v>その他SM株主</c:v>
                  </c:pt>
                  <c:pt idx="5">
                    <c:v>ビジョン</c:v>
                  </c:pt>
                </c:lvl>
              </c:multiLvlStrCache>
            </c:multiLvlStrRef>
          </c:cat>
          <c:val>
            <c:numRef>
              <c:f>Sheet1!$B$2:$B$7</c:f>
              <c:numCache>
                <c:formatCode>General</c:formatCode>
                <c:ptCount val="6"/>
                <c:pt idx="0">
                  <c:v>8.36</c:v>
                </c:pt>
                <c:pt idx="1">
                  <c:v>12.77</c:v>
                </c:pt>
                <c:pt idx="2">
                  <c:v>14.45</c:v>
                </c:pt>
                <c:pt idx="3">
                  <c:v>14.77</c:v>
                </c:pt>
                <c:pt idx="4">
                  <c:v>15.26</c:v>
                </c:pt>
                <c:pt idx="5">
                  <c:v>18.43</c:v>
                </c:pt>
              </c:numCache>
            </c:numRef>
          </c:val>
        </c:ser>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D9E0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重松氏がオーナーシップを手放し会長に退く（1〜2年内）という前提を織り込んだ版。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前提が変わっても、ビジョン借入とのれんの2つは消えない。ここが結論を決める。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結論はMBO。ただし合併の利点（現金不要・任意のタイミング）は正直に認める。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同じ6.10億で50%か27.79%か。過半数まで行くなら結局16億超が要る。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この一枚が「金融機関的にどちらが良いか」への回答。資金の行き先が全て。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のれん控除後11.8%が銀行の見方。MBO後なら26.3%。この14.5ptの差が答え。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27.79%までは静かに買える。過半数を狙うとTOBになる、という段差を理解してもらう。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229円基準に統一した版。前回230円で作った数値から小数点以下が動いている。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④の相反関係は重要。買い増すほど上場が危うくなるというジレンマ。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重松氏の意向を覚書にする、が今回の追加論点。口頭前提では銀行に持ち込めない。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27.79%のほうが数字は大きい。だが質が違う、と正直に説明する。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もし合併を選ぶなら増資で入れる、という代替案を必ず置いておく。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スペースマーケット社からの合併提案</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重松氏の会長就任を前提としたストラクチャーの比較検討</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2026年9月24日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中村 新社長</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会社四季報2026年9月号・株価229円（2026年9月21日終値）</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本資料は公開情報にもとづく試算であり、法務・税務・会計上の助言ではありません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前提の確認</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重松氏の意向を織り込むと、論点はこう変わります</a:t>
            </a:r>
            <a:endParaRPr lang="en-US" sz="2800" dirty="0"/>
          </a:p>
        </p:txBody>
      </p:sp>
      <p:sp>
        <p:nvSpPr>
          <p:cNvPr id="4" name="Shape 2"/>
          <p:cNvSpPr/>
          <p:nvPr/>
        </p:nvSpPr>
        <p:spPr>
          <a:xfrm>
            <a:off x="640080" y="1481328"/>
            <a:ext cx="5349240" cy="1828800"/>
          </a:xfrm>
          <a:prstGeom prst="roundRect">
            <a:avLst>
              <a:gd name="adj" fmla="val 3000"/>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14400" y="1664208"/>
            <a:ext cx="4754880" cy="274320"/>
          </a:xfrm>
          <a:prstGeom prst="rect">
            <a:avLst/>
          </a:prstGeom>
          <a:noFill/>
          <a:ln/>
        </p:spPr>
        <p:txBody>
          <a:bodyPr wrap="square" lIns="0" tIns="0" rIns="0" bIns="0" rtlCol="0" anchor="ctr"/>
          <a:lstStyle/>
          <a:p>
            <a:pPr indent="0" marL="0">
              <a:buNone/>
            </a:pPr>
            <a:r>
              <a:rPr lang="en-US" sz="1350" b="1" dirty="0">
                <a:solidFill>
                  <a:srgbClr val="2E5C8A"/>
                </a:solidFill>
                <a:latin typeface="Meiryo" pitchFamily="34" charset="0"/>
                <a:ea typeface="Meiryo" pitchFamily="34" charset="-122"/>
                <a:cs typeface="Meiryo" pitchFamily="34" charset="-120"/>
              </a:rPr>
              <a:t>新しく置いた前提</a:t>
            </a:r>
            <a:endParaRPr lang="en-US" sz="1350" dirty="0"/>
          </a:p>
        </p:txBody>
      </p:sp>
      <p:sp>
        <p:nvSpPr>
          <p:cNvPr id="6" name="Text 4"/>
          <p:cNvSpPr txBox="1"/>
          <p:nvPr/>
        </p:nvSpPr>
        <p:spPr>
          <a:xfrm>
            <a:off x="914400" y="2011680"/>
            <a:ext cx="4800600" cy="548640"/>
          </a:xfrm>
          <a:prstGeom prst="rect">
            <a:avLst/>
          </a:prstGeom>
          <a:noFill/>
          <a:ln/>
        </p:spPr>
        <p:txBody>
          <a:bodyPr wrap="square" lIns="0" tIns="0" rIns="0" bIns="0" rtlCol="0" anchor="ctr"/>
          <a:lstStyle/>
          <a:p>
            <a:pPr indent="0" marL="0">
              <a:lnSpc>
                <a:spcPct val="120000"/>
              </a:lnSpc>
              <a:buNone/>
            </a:pPr>
            <a:r>
              <a:rPr lang="en-US" sz="1300" b="1" dirty="0">
                <a:solidFill>
                  <a:srgbClr val="1E2A38"/>
                </a:solidFill>
                <a:latin typeface="Meiryo" pitchFamily="34" charset="0"/>
                <a:ea typeface="Meiryo" pitchFamily="34" charset="-122"/>
                <a:cs typeface="Meiryo" pitchFamily="34" charset="-120"/>
              </a:rPr>
              <a:t>重松大輔氏は今回オーナーシップを手放し、会長に退く意向。時期は来年〜再来年でも構わない。</a:t>
            </a:r>
            <a:endParaRPr lang="en-US" sz="1300" dirty="0"/>
          </a:p>
        </p:txBody>
      </p:sp>
      <p:sp>
        <p:nvSpPr>
          <p:cNvPr id="7" name="Text 5"/>
          <p:cNvSpPr txBox="1"/>
          <p:nvPr/>
        </p:nvSpPr>
        <p:spPr>
          <a:xfrm>
            <a:off x="914400" y="2651760"/>
            <a:ext cx="480060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つまり「重松氏と持分を争う」前提ではなく、「重松氏から持分を譲り受ける」前提で組めます。</a:t>
            </a:r>
            <a:endParaRPr lang="en-US" sz="1050" dirty="0"/>
          </a:p>
        </p:txBody>
      </p:sp>
      <p:sp>
        <p:nvSpPr>
          <p:cNvPr id="8" name="Shape 6"/>
          <p:cNvSpPr/>
          <p:nvPr/>
        </p:nvSpPr>
        <p:spPr>
          <a:xfrm>
            <a:off x="6172200" y="1481328"/>
            <a:ext cx="5349240" cy="1828800"/>
          </a:xfrm>
          <a:prstGeom prst="roundRect">
            <a:avLst>
              <a:gd name="adj" fmla="val 3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9" name="Text 7"/>
          <p:cNvSpPr txBox="1"/>
          <p:nvPr/>
        </p:nvSpPr>
        <p:spPr>
          <a:xfrm>
            <a:off x="6446520" y="1664208"/>
            <a:ext cx="4754880" cy="274320"/>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そこで本当に比べたいこと</a:t>
            </a:r>
            <a:endParaRPr lang="en-US" sz="1350" dirty="0"/>
          </a:p>
        </p:txBody>
      </p:sp>
      <p:sp>
        <p:nvSpPr>
          <p:cNvPr id="10" name="Text 8"/>
          <p:cNvSpPr txBox="1"/>
          <p:nvPr/>
        </p:nvSpPr>
        <p:spPr>
          <a:xfrm>
            <a:off x="6446520" y="2011680"/>
            <a:ext cx="4800600" cy="548640"/>
          </a:xfrm>
          <a:prstGeom prst="rect">
            <a:avLst/>
          </a:prstGeom>
          <a:noFill/>
          <a:ln/>
        </p:spPr>
        <p:txBody>
          <a:bodyPr wrap="square" lIns="0" tIns="0" rIns="0" bIns="0" rtlCol="0" anchor="ctr"/>
          <a:lstStyle/>
          <a:p>
            <a:pPr indent="0" marL="0">
              <a:lnSpc>
                <a:spcPct val="120000"/>
              </a:lnSpc>
              <a:buNone/>
            </a:pPr>
            <a:r>
              <a:rPr lang="en-US" sz="1300" b="1" dirty="0">
                <a:solidFill>
                  <a:srgbClr val="1E2A38"/>
                </a:solidFill>
                <a:latin typeface="Meiryo" pitchFamily="34" charset="0"/>
                <a:ea typeface="Meiryo" pitchFamily="34" charset="-122"/>
                <a:cs typeface="Meiryo" pitchFamily="34" charset="-120"/>
              </a:rPr>
              <a:t>中野の自己資金を同じ6.10億円だけ使うとして、MBOと合併のどちらが金融機関から見て有利か。</a:t>
            </a:r>
            <a:endParaRPr lang="en-US" sz="1300" dirty="0"/>
          </a:p>
        </p:txBody>
      </p:sp>
      <p:sp>
        <p:nvSpPr>
          <p:cNvPr id="11" name="Text 9"/>
          <p:cNvSpPr txBox="1"/>
          <p:nvPr/>
        </p:nvSpPr>
        <p:spPr>
          <a:xfrm>
            <a:off x="6446520" y="2651760"/>
            <a:ext cx="480060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合併ルートでは、その6.10億を合併後に重松氏・ビジョン社の持分取得に充てる想定とします。</a:t>
            </a:r>
            <a:endParaRPr lang="en-US" sz="1050" dirty="0"/>
          </a:p>
        </p:txBody>
      </p:sp>
      <p:sp>
        <p:nvSpPr>
          <p:cNvPr id="12" name="Text 10"/>
          <p:cNvSpPr txBox="1"/>
          <p:nvPr/>
        </p:nvSpPr>
        <p:spPr>
          <a:xfrm>
            <a:off x="640080" y="3520440"/>
            <a:ext cx="1088136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この前提で変わること／変わらないこと</a:t>
            </a:r>
            <a:endParaRPr lang="en-US" sz="1400" dirty="0"/>
          </a:p>
        </p:txBody>
      </p:sp>
      <p:sp>
        <p:nvSpPr>
          <p:cNvPr id="13" name="Shape 11"/>
          <p:cNvSpPr/>
          <p:nvPr/>
        </p:nvSpPr>
        <p:spPr>
          <a:xfrm>
            <a:off x="640080" y="3931920"/>
            <a:ext cx="2606040" cy="1920240"/>
          </a:xfrm>
          <a:prstGeom prst="roundRect">
            <a:avLst>
              <a:gd name="adj" fmla="val 2857"/>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14" name="Shape 12"/>
          <p:cNvSpPr/>
          <p:nvPr/>
        </p:nvSpPr>
        <p:spPr>
          <a:xfrm>
            <a:off x="841248" y="4114800"/>
            <a:ext cx="914400" cy="274320"/>
          </a:xfrm>
          <a:prstGeom prst="roundRect">
            <a:avLst>
              <a:gd name="adj" fmla="val 50000"/>
            </a:avLst>
          </a:prstGeom>
          <a:solidFill>
            <a:srgbClr val="2C6A4E"/>
          </a:solidFill>
          <a:ln/>
        </p:spPr>
      </p:sp>
      <p:sp>
        <p:nvSpPr>
          <p:cNvPr id="15" name="Text 13"/>
          <p:cNvSpPr txBox="1"/>
          <p:nvPr/>
        </p:nvSpPr>
        <p:spPr>
          <a:xfrm>
            <a:off x="841248" y="4114800"/>
            <a:ext cx="9144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変わる</a:t>
            </a:r>
            <a:endParaRPr lang="en-US" sz="1150" dirty="0"/>
          </a:p>
        </p:txBody>
      </p:sp>
      <p:sp>
        <p:nvSpPr>
          <p:cNvPr id="16" name="Text 14"/>
          <p:cNvSpPr txBox="1"/>
          <p:nvPr/>
        </p:nvSpPr>
        <p:spPr>
          <a:xfrm>
            <a:off x="841248" y="4526280"/>
            <a:ext cx="2240280" cy="548640"/>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持分を争う必要がない</a:t>
            </a:r>
            <a:endParaRPr lang="en-US" sz="1300" dirty="0"/>
          </a:p>
        </p:txBody>
      </p:sp>
      <p:sp>
        <p:nvSpPr>
          <p:cNvPr id="17" name="Text 15"/>
          <p:cNvSpPr txBox="1"/>
          <p:nvPr/>
        </p:nvSpPr>
        <p:spPr>
          <a:xfrm>
            <a:off x="841248" y="5102352"/>
            <a:ext cx="2240280" cy="64008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重松氏側23.14%との対立構図ではなくなり、相対での譲受け交渉になります。</a:t>
            </a:r>
            <a:endParaRPr lang="en-US" sz="950" dirty="0"/>
          </a:p>
        </p:txBody>
      </p:sp>
      <p:sp>
        <p:nvSpPr>
          <p:cNvPr id="18" name="Shape 16"/>
          <p:cNvSpPr/>
          <p:nvPr/>
        </p:nvSpPr>
        <p:spPr>
          <a:xfrm>
            <a:off x="3401568" y="3931920"/>
            <a:ext cx="2606040" cy="1920240"/>
          </a:xfrm>
          <a:prstGeom prst="roundRect">
            <a:avLst>
              <a:gd name="adj" fmla="val 2857"/>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19" name="Shape 17"/>
          <p:cNvSpPr/>
          <p:nvPr/>
        </p:nvSpPr>
        <p:spPr>
          <a:xfrm>
            <a:off x="3602736" y="4114800"/>
            <a:ext cx="914400" cy="274320"/>
          </a:xfrm>
          <a:prstGeom prst="roundRect">
            <a:avLst>
              <a:gd name="adj" fmla="val 50000"/>
            </a:avLst>
          </a:prstGeom>
          <a:solidFill>
            <a:srgbClr val="2C6A4E"/>
          </a:solidFill>
          <a:ln/>
        </p:spPr>
      </p:sp>
      <p:sp>
        <p:nvSpPr>
          <p:cNvPr id="20" name="Text 18"/>
          <p:cNvSpPr txBox="1"/>
          <p:nvPr/>
        </p:nvSpPr>
        <p:spPr>
          <a:xfrm>
            <a:off x="3602736" y="4114800"/>
            <a:ext cx="9144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変わる</a:t>
            </a:r>
            <a:endParaRPr lang="en-US" sz="1150" dirty="0"/>
          </a:p>
        </p:txBody>
      </p:sp>
      <p:sp>
        <p:nvSpPr>
          <p:cNvPr id="21" name="Text 19"/>
          <p:cNvSpPr txBox="1"/>
          <p:nvPr/>
        </p:nvSpPr>
        <p:spPr>
          <a:xfrm>
            <a:off x="3602736" y="4526280"/>
            <a:ext cx="2240280" cy="548640"/>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支配権への道筋ができる</a:t>
            </a:r>
            <a:endParaRPr lang="en-US" sz="1300" dirty="0"/>
          </a:p>
        </p:txBody>
      </p:sp>
      <p:sp>
        <p:nvSpPr>
          <p:cNvPr id="22" name="Text 20"/>
          <p:cNvSpPr txBox="1"/>
          <p:nvPr/>
        </p:nvSpPr>
        <p:spPr>
          <a:xfrm>
            <a:off x="3602736" y="5102352"/>
            <a:ext cx="2240280" cy="64008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時間をかければ合併後でも過半数に近づけます。急ぐ必要がなくなります。</a:t>
            </a:r>
            <a:endParaRPr lang="en-US" sz="950" dirty="0"/>
          </a:p>
        </p:txBody>
      </p:sp>
      <p:sp>
        <p:nvSpPr>
          <p:cNvPr id="23" name="Shape 21"/>
          <p:cNvSpPr/>
          <p:nvPr/>
        </p:nvSpPr>
        <p:spPr>
          <a:xfrm>
            <a:off x="6163056" y="3931920"/>
            <a:ext cx="2606040" cy="1920240"/>
          </a:xfrm>
          <a:prstGeom prst="roundRect">
            <a:avLst>
              <a:gd name="adj" fmla="val 285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4" name="Shape 22"/>
          <p:cNvSpPr/>
          <p:nvPr/>
        </p:nvSpPr>
        <p:spPr>
          <a:xfrm>
            <a:off x="6364224" y="4114800"/>
            <a:ext cx="914400" cy="274320"/>
          </a:xfrm>
          <a:prstGeom prst="roundRect">
            <a:avLst>
              <a:gd name="adj" fmla="val 50000"/>
            </a:avLst>
          </a:prstGeom>
          <a:solidFill>
            <a:srgbClr val="8A2E26"/>
          </a:solidFill>
          <a:ln/>
        </p:spPr>
      </p:sp>
      <p:sp>
        <p:nvSpPr>
          <p:cNvPr id="25" name="Text 23"/>
          <p:cNvSpPr txBox="1"/>
          <p:nvPr/>
        </p:nvSpPr>
        <p:spPr>
          <a:xfrm>
            <a:off x="6364224" y="4114800"/>
            <a:ext cx="9144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変わらない</a:t>
            </a:r>
            <a:endParaRPr lang="en-US" sz="1150" dirty="0"/>
          </a:p>
        </p:txBody>
      </p:sp>
      <p:sp>
        <p:nvSpPr>
          <p:cNvPr id="26" name="Text 24"/>
          <p:cNvSpPr txBox="1"/>
          <p:nvPr/>
        </p:nvSpPr>
        <p:spPr>
          <a:xfrm>
            <a:off x="6364224" y="4526280"/>
            <a:ext cx="2240280" cy="548640"/>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ビジョン社の借入7.90億</a:t>
            </a:r>
            <a:endParaRPr lang="en-US" sz="1300" dirty="0"/>
          </a:p>
        </p:txBody>
      </p:sp>
      <p:sp>
        <p:nvSpPr>
          <p:cNvPr id="27" name="Text 25"/>
          <p:cNvSpPr txBox="1"/>
          <p:nvPr/>
        </p:nvSpPr>
        <p:spPr>
          <a:xfrm>
            <a:off x="6364224" y="5102352"/>
            <a:ext cx="2240280" cy="64008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子会社でなくなる時点で全額返済が必要です。増資がないため7.90億全額を新規借入で置き換えることになります。</a:t>
            </a:r>
            <a:endParaRPr lang="en-US" sz="950" dirty="0"/>
          </a:p>
        </p:txBody>
      </p:sp>
      <p:sp>
        <p:nvSpPr>
          <p:cNvPr id="28" name="Shape 26"/>
          <p:cNvSpPr/>
          <p:nvPr/>
        </p:nvSpPr>
        <p:spPr>
          <a:xfrm>
            <a:off x="8924544" y="3931920"/>
            <a:ext cx="2606040" cy="1920240"/>
          </a:xfrm>
          <a:prstGeom prst="roundRect">
            <a:avLst>
              <a:gd name="adj" fmla="val 285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9" name="Shape 27"/>
          <p:cNvSpPr/>
          <p:nvPr/>
        </p:nvSpPr>
        <p:spPr>
          <a:xfrm>
            <a:off x="9125712" y="4114800"/>
            <a:ext cx="914400" cy="274320"/>
          </a:xfrm>
          <a:prstGeom prst="roundRect">
            <a:avLst>
              <a:gd name="adj" fmla="val 50000"/>
            </a:avLst>
          </a:prstGeom>
          <a:solidFill>
            <a:srgbClr val="8A2E26"/>
          </a:solidFill>
          <a:ln/>
        </p:spPr>
      </p:sp>
      <p:sp>
        <p:nvSpPr>
          <p:cNvPr id="30" name="Text 28"/>
          <p:cNvSpPr txBox="1"/>
          <p:nvPr/>
        </p:nvSpPr>
        <p:spPr>
          <a:xfrm>
            <a:off x="9125712" y="4114800"/>
            <a:ext cx="9144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変わらない</a:t>
            </a:r>
            <a:endParaRPr lang="en-US" sz="1150" dirty="0"/>
          </a:p>
        </p:txBody>
      </p:sp>
      <p:sp>
        <p:nvSpPr>
          <p:cNvPr id="31" name="Text 29"/>
          <p:cNvSpPr txBox="1"/>
          <p:nvPr/>
        </p:nvSpPr>
        <p:spPr>
          <a:xfrm>
            <a:off x="9125712" y="4526280"/>
            <a:ext cx="2240280" cy="548640"/>
          </a:xfrm>
          <a:prstGeom prst="rect">
            <a:avLst/>
          </a:prstGeom>
          <a:noFill/>
          <a:ln/>
        </p:spPr>
        <p:txBody>
          <a:bodyPr wrap="square" lIns="0" tIns="0" rIns="0" bIns="0" rtlCol="0" anchor="ctr"/>
          <a:lstStyle/>
          <a:p>
            <a:pPr indent="0" marL="0">
              <a:buNone/>
            </a:pPr>
            <a:r>
              <a:rPr lang="en-US" sz="1300" b="1" dirty="0">
                <a:solidFill>
                  <a:srgbClr val="1E2A38"/>
                </a:solidFill>
                <a:latin typeface="Meiryo" pitchFamily="34" charset="0"/>
                <a:ea typeface="Meiryo" pitchFamily="34" charset="-122"/>
                <a:cs typeface="Meiryo" pitchFamily="34" charset="-120"/>
              </a:rPr>
              <a:t>のれん22.09億円の償却</a:t>
            </a:r>
            <a:endParaRPr lang="en-US" sz="1300" dirty="0"/>
          </a:p>
        </p:txBody>
      </p:sp>
      <p:sp>
        <p:nvSpPr>
          <p:cNvPr id="32" name="Text 30"/>
          <p:cNvSpPr txBox="1"/>
          <p:nvPr/>
        </p:nvSpPr>
        <p:spPr>
          <a:xfrm>
            <a:off x="9125712" y="5102352"/>
            <a:ext cx="2240280" cy="64008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年1.10〜2.21億。合算営業利益4.90億に対し23〜45%を占め、前提が変わっても残ります。</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結論</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同じ6.10億円を使うなら、MBOのほうが金融機関には通ります</a:t>
            </a:r>
            <a:endParaRPr lang="en-US" sz="2800" dirty="0"/>
          </a:p>
        </p:txBody>
      </p:sp>
      <p:sp>
        <p:nvSpPr>
          <p:cNvPr id="4" name="Shape 2"/>
          <p:cNvSpPr/>
          <p:nvPr/>
        </p:nvSpPr>
        <p:spPr>
          <a:xfrm>
            <a:off x="640080" y="1481328"/>
            <a:ext cx="1088136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60120" y="1664208"/>
            <a:ext cx="10241280" cy="585216"/>
          </a:xfrm>
          <a:prstGeom prst="rect">
            <a:avLst/>
          </a:prstGeom>
          <a:noFill/>
          <a:ln/>
        </p:spPr>
        <p:txBody>
          <a:bodyPr wrap="square" lIns="0" tIns="0" rIns="0" bIns="0" rtlCol="0" anchor="ctr"/>
          <a:lstStyle/>
          <a:p>
            <a:pPr indent="0" marL="0">
              <a:buNone/>
            </a:pPr>
            <a:r>
              <a:rPr lang="en-US" sz="1900" b="1" dirty="0">
                <a:solidFill>
                  <a:srgbClr val="6E2639"/>
                </a:solidFill>
                <a:latin typeface="Meiryo" pitchFamily="34" charset="0"/>
                <a:ea typeface="Meiryo" pitchFamily="34" charset="-122"/>
                <a:cs typeface="Meiryo" pitchFamily="34" charset="-120"/>
              </a:rPr>
              <a:t>理由は単純です。MBOでは6.10億が「会社」に入り、合併ルートでは6.10億が「売り手」に出ていきます。</a:t>
            </a:r>
            <a:endParaRPr lang="en-US" sz="1900" dirty="0"/>
          </a:p>
        </p:txBody>
      </p:sp>
      <p:sp>
        <p:nvSpPr>
          <p:cNvPr id="6" name="Text 4"/>
          <p:cNvSpPr txBox="1"/>
          <p:nvPr/>
        </p:nvSpPr>
        <p:spPr>
          <a:xfrm>
            <a:off x="960120" y="2304288"/>
            <a:ext cx="10241280" cy="41148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銀行が見るのは株主名簿ではなく貸借対照表です。同じ金額でも、純資産が6.10億増えるか、まったく動かないかの差になります。</a:t>
            </a:r>
            <a:endParaRPr lang="en-US" sz="1200" dirty="0"/>
          </a:p>
        </p:txBody>
      </p:sp>
      <p:sp>
        <p:nvSpPr>
          <p:cNvPr id="7" name="Shape 5"/>
          <p:cNvSpPr/>
          <p:nvPr/>
        </p:nvSpPr>
        <p:spPr>
          <a:xfrm>
            <a:off x="640080" y="3017520"/>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8" name="Shape 6"/>
          <p:cNvSpPr/>
          <p:nvPr/>
        </p:nvSpPr>
        <p:spPr>
          <a:xfrm>
            <a:off x="960120" y="3236976"/>
            <a:ext cx="475488" cy="475488"/>
          </a:xfrm>
          <a:prstGeom prst="roundRect">
            <a:avLst>
              <a:gd name="adj" fmla="val 50000"/>
            </a:avLst>
          </a:prstGeom>
          <a:solidFill>
            <a:srgbClr val="6E2639"/>
          </a:solidFill>
          <a:ln/>
        </p:spPr>
      </p:sp>
      <p:sp>
        <p:nvSpPr>
          <p:cNvPr id="9" name="Text 7"/>
          <p:cNvSpPr txBox="1"/>
          <p:nvPr/>
        </p:nvSpPr>
        <p:spPr>
          <a:xfrm>
            <a:off x="960120" y="323697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10" name="Text 8"/>
          <p:cNvSpPr txBox="1"/>
          <p:nvPr/>
        </p:nvSpPr>
        <p:spPr>
          <a:xfrm>
            <a:off x="1691640" y="3172968"/>
            <a:ext cx="548640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MBOは6.10億で支配権と財務改善の両方が手に入る</a:t>
            </a:r>
            <a:endParaRPr lang="en-US" sz="1450" dirty="0"/>
          </a:p>
        </p:txBody>
      </p:sp>
      <p:sp>
        <p:nvSpPr>
          <p:cNvPr id="11" name="Text 9"/>
          <p:cNvSpPr txBox="1"/>
          <p:nvPr/>
        </p:nvSpPr>
        <p:spPr>
          <a:xfrm>
            <a:off x="1691640" y="3502152"/>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中野陣営50.0%を確保しつつ、自己資本比率は△18.5%から24.9%へ。合併ルートで同額を投じても27.79%どまりで、会社の財務は1円も改善しません。</a:t>
            </a:r>
            <a:endParaRPr lang="en-US" sz="1050" dirty="0"/>
          </a:p>
        </p:txBody>
      </p:sp>
      <p:sp>
        <p:nvSpPr>
          <p:cNvPr id="12" name="Shape 10"/>
          <p:cNvSpPr/>
          <p:nvPr/>
        </p:nvSpPr>
        <p:spPr>
          <a:xfrm>
            <a:off x="640080" y="4041648"/>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3" name="Shape 11"/>
          <p:cNvSpPr/>
          <p:nvPr/>
        </p:nvSpPr>
        <p:spPr>
          <a:xfrm>
            <a:off x="960120" y="4261104"/>
            <a:ext cx="475488" cy="475488"/>
          </a:xfrm>
          <a:prstGeom prst="roundRect">
            <a:avLst>
              <a:gd name="adj" fmla="val 50000"/>
            </a:avLst>
          </a:prstGeom>
          <a:solidFill>
            <a:srgbClr val="6E2639"/>
          </a:solidFill>
          <a:ln/>
        </p:spPr>
      </p:sp>
      <p:sp>
        <p:nvSpPr>
          <p:cNvPr id="14" name="Text 12"/>
          <p:cNvSpPr txBox="1"/>
          <p:nvPr/>
        </p:nvSpPr>
        <p:spPr>
          <a:xfrm>
            <a:off x="960120" y="426110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5" name="Text 13"/>
          <p:cNvSpPr txBox="1"/>
          <p:nvPr/>
        </p:nvSpPr>
        <p:spPr>
          <a:xfrm>
            <a:off x="1691640" y="4197096"/>
            <a:ext cx="548640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合併でも借入7.90億は同時に全額返済</a:t>
            </a:r>
            <a:endParaRPr lang="en-US" sz="1450" dirty="0"/>
          </a:p>
        </p:txBody>
      </p:sp>
      <p:sp>
        <p:nvSpPr>
          <p:cNvPr id="16" name="Text 14"/>
          <p:cNvSpPr txBox="1"/>
          <p:nvPr/>
        </p:nvSpPr>
        <p:spPr>
          <a:xfrm>
            <a:off x="1691640" y="4526280"/>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子会社でなくなる時点で返済が必要です。合併は株式交換で現金が入らないため、7.90億全額を新規借入で調達することになり、負債は1円も減りません。</a:t>
            </a:r>
            <a:endParaRPr lang="en-US" sz="1050" dirty="0"/>
          </a:p>
        </p:txBody>
      </p:sp>
      <p:sp>
        <p:nvSpPr>
          <p:cNvPr id="17" name="Shape 15"/>
          <p:cNvSpPr/>
          <p:nvPr/>
        </p:nvSpPr>
        <p:spPr>
          <a:xfrm>
            <a:off x="640080" y="5065776"/>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8" name="Shape 16"/>
          <p:cNvSpPr/>
          <p:nvPr/>
        </p:nvSpPr>
        <p:spPr>
          <a:xfrm>
            <a:off x="960120" y="5285232"/>
            <a:ext cx="475488" cy="475488"/>
          </a:xfrm>
          <a:prstGeom prst="roundRect">
            <a:avLst>
              <a:gd name="adj" fmla="val 50000"/>
            </a:avLst>
          </a:prstGeom>
          <a:solidFill>
            <a:srgbClr val="6E2639"/>
          </a:solidFill>
          <a:ln/>
        </p:spPr>
      </p:sp>
      <p:sp>
        <p:nvSpPr>
          <p:cNvPr id="19" name="Text 17"/>
          <p:cNvSpPr txBox="1"/>
          <p:nvPr/>
        </p:nvSpPr>
        <p:spPr>
          <a:xfrm>
            <a:off x="960120" y="52852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20" name="Text 18"/>
          <p:cNvSpPr txBox="1"/>
          <p:nvPr/>
        </p:nvSpPr>
        <p:spPr>
          <a:xfrm>
            <a:off x="1691640" y="5221224"/>
            <a:ext cx="548640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中野の借入の性格がまったく違う</a:t>
            </a:r>
            <a:endParaRPr lang="en-US" sz="1450" dirty="0"/>
          </a:p>
        </p:txBody>
      </p:sp>
      <p:sp>
        <p:nvSpPr>
          <p:cNvPr id="21" name="Text 19"/>
          <p:cNvSpPr txBox="1"/>
          <p:nvPr/>
        </p:nvSpPr>
        <p:spPr>
          <a:xfrm>
            <a:off x="1691640" y="5550408"/>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MBOは事業会社への増資（返済原資は配当）。合併ルートは上場株を担保にした個人の株式取得資金で、株価下落時に追加担保を求められます。</a:t>
            </a:r>
            <a:endParaRPr lang="en-US" sz="1050" dirty="0"/>
          </a:p>
        </p:txBody>
      </p:sp>
      <p:sp>
        <p:nvSpPr>
          <p:cNvPr id="22" name="Text 20"/>
          <p:cNvSpPr txBox="1"/>
          <p:nvPr/>
        </p:nvSpPr>
        <p:spPr>
          <a:xfrm>
            <a:off x="640080" y="6144768"/>
            <a:ext cx="10881360" cy="292608"/>
          </a:xfrm>
          <a:prstGeom prst="rect">
            <a:avLst/>
          </a:prstGeom>
          <a:noFill/>
          <a:ln/>
        </p:spPr>
        <p:txBody>
          <a:bodyPr wrap="square" lIns="0" tIns="0" rIns="0" bIns="0" rtlCol="0" anchor="ctr"/>
          <a:lstStyle/>
          <a:p>
            <a:pPr indent="0" marL="0">
              <a:buNone/>
            </a:pPr>
            <a:r>
              <a:rPr lang="en-US" sz="1200" b="1" dirty="0">
                <a:solidFill>
                  <a:srgbClr val="2C6A4E"/>
                </a:solidFill>
                <a:latin typeface="Meiryo" pitchFamily="34" charset="0"/>
                <a:ea typeface="Meiryo" pitchFamily="34" charset="-122"/>
                <a:cs typeface="Meiryo" pitchFamily="34" charset="-120"/>
              </a:rPr>
              <a:t>ただし合併ルートには「実行に現金が要らない」という明確な利点があります。6.10億は後から、自分のペースで入れられます（5ページ）。</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 ①</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6.10億円を投じた後、どこに立っているか</a:t>
            </a:r>
            <a:endParaRPr lang="en-US" sz="2800" dirty="0"/>
          </a:p>
        </p:txBody>
      </p:sp>
      <p:sp>
        <p:nvSpPr>
          <p:cNvPr id="4" name="Shape 2"/>
          <p:cNvSpPr/>
          <p:nvPr/>
        </p:nvSpPr>
        <p:spPr>
          <a:xfrm>
            <a:off x="640080" y="1554480"/>
            <a:ext cx="3520440" cy="2743200"/>
          </a:xfrm>
          <a:prstGeom prst="roundRect">
            <a:avLst>
              <a:gd name="adj" fmla="val 2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783080"/>
            <a:ext cx="566928" cy="292608"/>
          </a:xfrm>
          <a:prstGeom prst="roundRect">
            <a:avLst>
              <a:gd name="adj" fmla="val 50000"/>
            </a:avLst>
          </a:prstGeom>
          <a:solidFill>
            <a:srgbClr val="6E2639"/>
          </a:solidFill>
          <a:ln/>
        </p:spPr>
      </p:sp>
      <p:sp>
        <p:nvSpPr>
          <p:cNvPr id="6" name="Text 4"/>
          <p:cNvSpPr txBox="1"/>
          <p:nvPr/>
        </p:nvSpPr>
        <p:spPr>
          <a:xfrm>
            <a:off x="914400" y="1783080"/>
            <a:ext cx="56692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A</a:t>
            </a:r>
            <a:endParaRPr lang="en-US" sz="1150" dirty="0"/>
          </a:p>
        </p:txBody>
      </p:sp>
      <p:sp>
        <p:nvSpPr>
          <p:cNvPr id="7" name="Text 5"/>
          <p:cNvSpPr txBox="1"/>
          <p:nvPr/>
        </p:nvSpPr>
        <p:spPr>
          <a:xfrm>
            <a:off x="1600200" y="1783080"/>
            <a:ext cx="2377440" cy="292608"/>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MBO</a:t>
            </a:r>
            <a:endParaRPr lang="en-US" sz="1350" dirty="0"/>
          </a:p>
        </p:txBody>
      </p:sp>
      <p:sp>
        <p:nvSpPr>
          <p:cNvPr id="8" name="Text 6"/>
          <p:cNvSpPr txBox="1"/>
          <p:nvPr/>
        </p:nvSpPr>
        <p:spPr>
          <a:xfrm>
            <a:off x="914400" y="2240280"/>
            <a:ext cx="2971800" cy="685800"/>
          </a:xfrm>
          <a:prstGeom prst="rect">
            <a:avLst/>
          </a:prstGeom>
          <a:noFill/>
          <a:ln/>
        </p:spPr>
        <p:txBody>
          <a:bodyPr wrap="square" lIns="0" tIns="0" rIns="0" bIns="0" rtlCol="0" anchor="ctr"/>
          <a:lstStyle/>
          <a:p>
            <a:pPr indent="0" marL="0">
              <a:buNone/>
            </a:pPr>
            <a:r>
              <a:rPr lang="en-US" sz="4000" b="1" dirty="0">
                <a:solidFill>
                  <a:srgbClr val="6E2639"/>
                </a:solidFill>
                <a:latin typeface="Meiryo" pitchFamily="34" charset="0"/>
                <a:ea typeface="Meiryo" pitchFamily="34" charset="-122"/>
                <a:cs typeface="Meiryo" pitchFamily="34" charset="-120"/>
              </a:rPr>
              <a:t>50.000</a:t>
            </a:r>
            <a:pPr indent="0" marL="0">
              <a:buNone/>
            </a:pPr>
            <a:r>
              <a:rPr lang="en-US" sz="1600" b="1" dirty="0">
                <a:solidFill>
                  <a:srgbClr val="6E2639"/>
                </a:solidFill>
                <a:latin typeface="Meiryo" pitchFamily="34" charset="0"/>
                <a:ea typeface="Meiryo" pitchFamily="34" charset="-122"/>
                <a:cs typeface="Meiryo" pitchFamily="34" charset="-120"/>
              </a:rPr>
              <a:t>%</a:t>
            </a:r>
            <a:endParaRPr lang="en-US" sz="4000" dirty="0"/>
          </a:p>
        </p:txBody>
      </p:sp>
      <p:sp>
        <p:nvSpPr>
          <p:cNvPr id="9" name="Text 7"/>
          <p:cNvSpPr txBox="1"/>
          <p:nvPr/>
        </p:nvSpPr>
        <p:spPr>
          <a:xfrm>
            <a:off x="914400" y="2971800"/>
            <a:ext cx="29718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中野陣営（中野＋中野ファンド）</a:t>
            </a:r>
            <a:endParaRPr lang="en-US" sz="1000" dirty="0"/>
          </a:p>
        </p:txBody>
      </p:sp>
      <p:sp>
        <p:nvSpPr>
          <p:cNvPr id="10" name="Text 8"/>
          <p:cNvSpPr txBox="1"/>
          <p:nvPr/>
        </p:nvSpPr>
        <p:spPr>
          <a:xfrm>
            <a:off x="914400" y="3310128"/>
            <a:ext cx="297180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非上場・支配権あり</a:t>
            </a:r>
            <a:endParaRPr lang="en-US" sz="1150" dirty="0"/>
          </a:p>
        </p:txBody>
      </p:sp>
      <p:sp>
        <p:nvSpPr>
          <p:cNvPr id="11" name="Text 9"/>
          <p:cNvSpPr txBox="1"/>
          <p:nvPr/>
        </p:nvSpPr>
        <p:spPr>
          <a:xfrm>
            <a:off x="914400" y="3621024"/>
            <a:ext cx="2971800" cy="274320"/>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会社の純資産 +6.10億</a:t>
            </a:r>
            <a:endParaRPr lang="en-US" sz="1100" dirty="0"/>
          </a:p>
        </p:txBody>
      </p:sp>
      <p:sp>
        <p:nvSpPr>
          <p:cNvPr id="12" name="Shape 10"/>
          <p:cNvSpPr/>
          <p:nvPr/>
        </p:nvSpPr>
        <p:spPr>
          <a:xfrm>
            <a:off x="4297680" y="1554480"/>
            <a:ext cx="3520440" cy="2743200"/>
          </a:xfrm>
          <a:prstGeom prst="roundRect">
            <a:avLst>
              <a:gd name="adj" fmla="val 2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3" name="Shape 11"/>
          <p:cNvSpPr/>
          <p:nvPr/>
        </p:nvSpPr>
        <p:spPr>
          <a:xfrm>
            <a:off x="4572000" y="1783080"/>
            <a:ext cx="566928" cy="292608"/>
          </a:xfrm>
          <a:prstGeom prst="roundRect">
            <a:avLst>
              <a:gd name="adj" fmla="val 50000"/>
            </a:avLst>
          </a:prstGeom>
          <a:solidFill>
            <a:srgbClr val="2E5C8A"/>
          </a:solidFill>
          <a:ln/>
        </p:spPr>
      </p:sp>
      <p:sp>
        <p:nvSpPr>
          <p:cNvPr id="14" name="Text 12"/>
          <p:cNvSpPr txBox="1"/>
          <p:nvPr/>
        </p:nvSpPr>
        <p:spPr>
          <a:xfrm>
            <a:off x="4572000" y="1783080"/>
            <a:ext cx="56692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a:t>
            </a:r>
            <a:endParaRPr lang="en-US" sz="1150" dirty="0"/>
          </a:p>
        </p:txBody>
      </p:sp>
      <p:sp>
        <p:nvSpPr>
          <p:cNvPr id="15" name="Text 13"/>
          <p:cNvSpPr txBox="1"/>
          <p:nvPr/>
        </p:nvSpPr>
        <p:spPr>
          <a:xfrm>
            <a:off x="5257800" y="1783080"/>
            <a:ext cx="2377440" cy="292608"/>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合併 → 相対取得</a:t>
            </a:r>
            <a:endParaRPr lang="en-US" sz="1350" dirty="0"/>
          </a:p>
        </p:txBody>
      </p:sp>
      <p:sp>
        <p:nvSpPr>
          <p:cNvPr id="16" name="Text 14"/>
          <p:cNvSpPr txBox="1"/>
          <p:nvPr/>
        </p:nvSpPr>
        <p:spPr>
          <a:xfrm>
            <a:off x="4572000" y="2240280"/>
            <a:ext cx="2971800" cy="685800"/>
          </a:xfrm>
          <a:prstGeom prst="rect">
            <a:avLst/>
          </a:prstGeom>
          <a:noFill/>
          <a:ln/>
        </p:spPr>
        <p:txBody>
          <a:bodyPr wrap="square" lIns="0" tIns="0" rIns="0" bIns="0" rtlCol="0" anchor="ctr"/>
          <a:lstStyle/>
          <a:p>
            <a:pPr indent="0" marL="0">
              <a:buNone/>
            </a:pPr>
            <a:r>
              <a:rPr lang="en-US" sz="4000" b="1" dirty="0">
                <a:solidFill>
                  <a:srgbClr val="2E5C8A"/>
                </a:solidFill>
                <a:latin typeface="Meiryo" pitchFamily="34" charset="0"/>
                <a:ea typeface="Meiryo" pitchFamily="34" charset="-122"/>
                <a:cs typeface="Meiryo" pitchFamily="34" charset="-120"/>
              </a:rPr>
              <a:t>27.79</a:t>
            </a:r>
            <a:pPr indent="0" marL="0">
              <a:buNone/>
            </a:pPr>
            <a:r>
              <a:rPr lang="en-US" sz="1600" b="1" dirty="0">
                <a:solidFill>
                  <a:srgbClr val="2E5C8A"/>
                </a:solidFill>
                <a:latin typeface="Meiryo" pitchFamily="34" charset="0"/>
                <a:ea typeface="Meiryo" pitchFamily="34" charset="-122"/>
                <a:cs typeface="Meiryo" pitchFamily="34" charset="-120"/>
              </a:rPr>
              <a:t>%</a:t>
            </a:r>
            <a:endParaRPr lang="en-US" sz="4000" dirty="0"/>
          </a:p>
        </p:txBody>
      </p:sp>
      <p:sp>
        <p:nvSpPr>
          <p:cNvPr id="17" name="Text 15"/>
          <p:cNvSpPr txBox="1"/>
          <p:nvPr/>
        </p:nvSpPr>
        <p:spPr>
          <a:xfrm>
            <a:off x="4572000" y="2971800"/>
            <a:ext cx="29718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中野個人（14.45%＋13.34pt取得）</a:t>
            </a:r>
            <a:endParaRPr lang="en-US" sz="1000" dirty="0"/>
          </a:p>
        </p:txBody>
      </p:sp>
      <p:sp>
        <p:nvSpPr>
          <p:cNvPr id="18" name="Text 16"/>
          <p:cNvSpPr txBox="1"/>
          <p:nvPr/>
        </p:nvSpPr>
        <p:spPr>
          <a:xfrm>
            <a:off x="4572000" y="3310128"/>
            <a:ext cx="297180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上場・筆頭だが支配権なし</a:t>
            </a:r>
            <a:endParaRPr lang="en-US" sz="1150" dirty="0"/>
          </a:p>
        </p:txBody>
      </p:sp>
      <p:sp>
        <p:nvSpPr>
          <p:cNvPr id="19" name="Text 17"/>
          <p:cNvSpPr txBox="1"/>
          <p:nvPr/>
        </p:nvSpPr>
        <p:spPr>
          <a:xfrm>
            <a:off x="4572000" y="3621024"/>
            <a:ext cx="2971800" cy="274320"/>
          </a:xfrm>
          <a:prstGeom prst="rect">
            <a:avLst/>
          </a:prstGeom>
          <a:noFill/>
          <a:ln/>
        </p:spPr>
        <p:txBody>
          <a:bodyPr wrap="square" lIns="0" tIns="0" rIns="0" bIns="0" rtlCol="0" anchor="ctr"/>
          <a:lstStyle/>
          <a:p>
            <a:pPr indent="0" marL="0">
              <a:buNone/>
            </a:pPr>
            <a:r>
              <a:rPr lang="en-US" sz="1100" b="1" dirty="0">
                <a:solidFill>
                  <a:srgbClr val="8A2E26"/>
                </a:solidFill>
                <a:latin typeface="Meiryo" pitchFamily="34" charset="0"/>
                <a:ea typeface="Meiryo" pitchFamily="34" charset="-122"/>
                <a:cs typeface="Meiryo" pitchFamily="34" charset="-120"/>
              </a:rPr>
              <a:t>会社の純資産 ±0</a:t>
            </a:r>
            <a:endParaRPr lang="en-US" sz="1100" dirty="0"/>
          </a:p>
        </p:txBody>
      </p:sp>
      <p:sp>
        <p:nvSpPr>
          <p:cNvPr id="20" name="Shape 18"/>
          <p:cNvSpPr/>
          <p:nvPr/>
        </p:nvSpPr>
        <p:spPr>
          <a:xfrm>
            <a:off x="7955280" y="1554480"/>
            <a:ext cx="3520440" cy="2743200"/>
          </a:xfrm>
          <a:prstGeom prst="roundRect">
            <a:avLst>
              <a:gd name="adj" fmla="val 2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1" name="Shape 19"/>
          <p:cNvSpPr/>
          <p:nvPr/>
        </p:nvSpPr>
        <p:spPr>
          <a:xfrm>
            <a:off x="8229600" y="1783080"/>
            <a:ext cx="566928" cy="292608"/>
          </a:xfrm>
          <a:prstGeom prst="roundRect">
            <a:avLst>
              <a:gd name="adj" fmla="val 50000"/>
            </a:avLst>
          </a:prstGeom>
          <a:solidFill>
            <a:srgbClr val="7C8A99"/>
          </a:solidFill>
          <a:ln/>
        </p:spPr>
      </p:sp>
      <p:sp>
        <p:nvSpPr>
          <p:cNvPr id="22" name="Text 20"/>
          <p:cNvSpPr txBox="1"/>
          <p:nvPr/>
        </p:nvSpPr>
        <p:spPr>
          <a:xfrm>
            <a:off x="8229600" y="1783080"/>
            <a:ext cx="56692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B'</a:t>
            </a:r>
            <a:endParaRPr lang="en-US" sz="1150" dirty="0"/>
          </a:p>
        </p:txBody>
      </p:sp>
      <p:sp>
        <p:nvSpPr>
          <p:cNvPr id="23" name="Text 21"/>
          <p:cNvSpPr txBox="1"/>
          <p:nvPr/>
        </p:nvSpPr>
        <p:spPr>
          <a:xfrm>
            <a:off x="8915400" y="1783080"/>
            <a:ext cx="2377440" cy="292608"/>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合併 → 第三者割当増資</a:t>
            </a:r>
            <a:endParaRPr lang="en-US" sz="1350" dirty="0"/>
          </a:p>
        </p:txBody>
      </p:sp>
      <p:sp>
        <p:nvSpPr>
          <p:cNvPr id="24" name="Text 22"/>
          <p:cNvSpPr txBox="1"/>
          <p:nvPr/>
        </p:nvSpPr>
        <p:spPr>
          <a:xfrm>
            <a:off x="8229600" y="2240280"/>
            <a:ext cx="2971800" cy="685800"/>
          </a:xfrm>
          <a:prstGeom prst="rect">
            <a:avLst/>
          </a:prstGeom>
          <a:noFill/>
          <a:ln/>
        </p:spPr>
        <p:txBody>
          <a:bodyPr wrap="square" lIns="0" tIns="0" rIns="0" bIns="0" rtlCol="0" anchor="ctr"/>
          <a:lstStyle/>
          <a:p>
            <a:pPr indent="0" marL="0">
              <a:buNone/>
            </a:pPr>
            <a:r>
              <a:rPr lang="en-US" sz="4000" b="1" dirty="0">
                <a:solidFill>
                  <a:srgbClr val="7C8A99"/>
                </a:solidFill>
                <a:latin typeface="Meiryo" pitchFamily="34" charset="0"/>
                <a:ea typeface="Meiryo" pitchFamily="34" charset="-122"/>
                <a:cs typeface="Meiryo" pitchFamily="34" charset="-120"/>
              </a:rPr>
              <a:t>24.52</a:t>
            </a:r>
            <a:pPr indent="0" marL="0">
              <a:buNone/>
            </a:pPr>
            <a:r>
              <a:rPr lang="en-US" sz="1600" b="1" dirty="0">
                <a:solidFill>
                  <a:srgbClr val="7C8A99"/>
                </a:solidFill>
                <a:latin typeface="Meiryo" pitchFamily="34" charset="0"/>
                <a:ea typeface="Meiryo" pitchFamily="34" charset="-122"/>
                <a:cs typeface="Meiryo" pitchFamily="34" charset="-120"/>
              </a:rPr>
              <a:t>%</a:t>
            </a:r>
            <a:endParaRPr lang="en-US" sz="4000" dirty="0"/>
          </a:p>
        </p:txBody>
      </p:sp>
      <p:sp>
        <p:nvSpPr>
          <p:cNvPr id="25" name="Text 23"/>
          <p:cNvSpPr txBox="1"/>
          <p:nvPr/>
        </p:nvSpPr>
        <p:spPr>
          <a:xfrm>
            <a:off x="8229600" y="2971800"/>
            <a:ext cx="29718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中野個人（希薄化13.3%を伴う）</a:t>
            </a:r>
            <a:endParaRPr lang="en-US" sz="1000" dirty="0"/>
          </a:p>
        </p:txBody>
      </p:sp>
      <p:sp>
        <p:nvSpPr>
          <p:cNvPr id="26" name="Text 24"/>
          <p:cNvSpPr txBox="1"/>
          <p:nvPr/>
        </p:nvSpPr>
        <p:spPr>
          <a:xfrm>
            <a:off x="8229600" y="3310128"/>
            <a:ext cx="297180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上場・支配権なし</a:t>
            </a:r>
            <a:endParaRPr lang="en-US" sz="1150" dirty="0"/>
          </a:p>
        </p:txBody>
      </p:sp>
      <p:sp>
        <p:nvSpPr>
          <p:cNvPr id="27" name="Text 25"/>
          <p:cNvSpPr txBox="1"/>
          <p:nvPr/>
        </p:nvSpPr>
        <p:spPr>
          <a:xfrm>
            <a:off x="8229600" y="3621024"/>
            <a:ext cx="2971800" cy="274320"/>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会社の純資産 +6.10億</a:t>
            </a:r>
            <a:endParaRPr lang="en-US" sz="1100" dirty="0"/>
          </a:p>
        </p:txBody>
      </p:sp>
      <p:sp>
        <p:nvSpPr>
          <p:cNvPr id="28" name="Shape 26"/>
          <p:cNvSpPr/>
          <p:nvPr/>
        </p:nvSpPr>
        <p:spPr>
          <a:xfrm>
            <a:off x="640080" y="4526280"/>
            <a:ext cx="10881360" cy="1417320"/>
          </a:xfrm>
          <a:prstGeom prst="roundRect">
            <a:avLst>
              <a:gd name="adj" fmla="val 3871"/>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29" name="Text 27"/>
          <p:cNvSpPr txBox="1"/>
          <p:nvPr/>
        </p:nvSpPr>
        <p:spPr>
          <a:xfrm>
            <a:off x="914400" y="4709160"/>
            <a:ext cx="6400800" cy="274320"/>
          </a:xfrm>
          <a:prstGeom prst="rect">
            <a:avLst/>
          </a:prstGeom>
          <a:noFill/>
          <a:ln/>
        </p:spPr>
        <p:txBody>
          <a:bodyPr wrap="square" lIns="0" tIns="0" rIns="0" bIns="0" rtlCol="0" anchor="ctr"/>
          <a:lstStyle/>
          <a:p>
            <a:pPr indent="0" marL="0">
              <a:buNone/>
            </a:pPr>
            <a:r>
              <a:rPr lang="en-US" sz="1350" b="1" dirty="0">
                <a:solidFill>
                  <a:srgbClr val="8F5510"/>
                </a:solidFill>
                <a:latin typeface="Meiryo" pitchFamily="34" charset="0"/>
                <a:ea typeface="Meiryo" pitchFamily="34" charset="-122"/>
                <a:cs typeface="Meiryo" pitchFamily="34" charset="-120"/>
              </a:rPr>
              <a:t>合併ルートで過半数まで行くには、さらにいくら要るか</a:t>
            </a:r>
            <a:endParaRPr lang="en-US" sz="1350" dirty="0"/>
          </a:p>
        </p:txBody>
      </p:sp>
      <p:sp>
        <p:nvSpPr>
          <p:cNvPr id="30" name="Text 28"/>
          <p:cNvSpPr txBox="1"/>
          <p:nvPr/>
        </p:nvSpPr>
        <p:spPr>
          <a:xfrm>
            <a:off x="914400" y="5047488"/>
            <a:ext cx="338328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1/3（33.33%）まで</a:t>
            </a:r>
            <a:endParaRPr lang="en-US" sz="1100" dirty="0"/>
          </a:p>
        </p:txBody>
      </p:sp>
      <p:sp>
        <p:nvSpPr>
          <p:cNvPr id="31" name="Text 29"/>
          <p:cNvSpPr txBox="1"/>
          <p:nvPr/>
        </p:nvSpPr>
        <p:spPr>
          <a:xfrm>
            <a:off x="914400" y="5303520"/>
            <a:ext cx="338328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追加 2.53億円</a:t>
            </a:r>
            <a:endParaRPr lang="en-US" sz="1500" dirty="0"/>
          </a:p>
        </p:txBody>
      </p:sp>
      <p:sp>
        <p:nvSpPr>
          <p:cNvPr id="32" name="Text 30"/>
          <p:cNvSpPr txBox="1"/>
          <p:nvPr/>
        </p:nvSpPr>
        <p:spPr>
          <a:xfrm>
            <a:off x="914400" y="5605272"/>
            <a:ext cx="3383280" cy="25603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累計 8.63億円</a:t>
            </a:r>
            <a:endParaRPr lang="en-US" sz="1000" dirty="0"/>
          </a:p>
        </p:txBody>
      </p:sp>
      <p:sp>
        <p:nvSpPr>
          <p:cNvPr id="33" name="Text 31"/>
          <p:cNvSpPr txBox="1"/>
          <p:nvPr/>
        </p:nvSpPr>
        <p:spPr>
          <a:xfrm>
            <a:off x="4498848" y="5047488"/>
            <a:ext cx="338328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50%まで</a:t>
            </a:r>
            <a:endParaRPr lang="en-US" sz="1100" dirty="0"/>
          </a:p>
        </p:txBody>
      </p:sp>
      <p:sp>
        <p:nvSpPr>
          <p:cNvPr id="34" name="Text 32"/>
          <p:cNvSpPr txBox="1"/>
          <p:nvPr/>
        </p:nvSpPr>
        <p:spPr>
          <a:xfrm>
            <a:off x="4498848" y="5303520"/>
            <a:ext cx="338328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追加 10.15億円</a:t>
            </a:r>
            <a:endParaRPr lang="en-US" sz="1500" dirty="0"/>
          </a:p>
        </p:txBody>
      </p:sp>
      <p:sp>
        <p:nvSpPr>
          <p:cNvPr id="35" name="Text 33"/>
          <p:cNvSpPr txBox="1"/>
          <p:nvPr/>
        </p:nvSpPr>
        <p:spPr>
          <a:xfrm>
            <a:off x="4498848" y="5605272"/>
            <a:ext cx="3383280" cy="25603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累計 16.25億円（市場価格ベース）</a:t>
            </a:r>
            <a:endParaRPr lang="en-US" sz="1000" dirty="0"/>
          </a:p>
        </p:txBody>
      </p:sp>
      <p:sp>
        <p:nvSpPr>
          <p:cNvPr id="36" name="Text 34"/>
          <p:cNvSpPr txBox="1"/>
          <p:nvPr/>
        </p:nvSpPr>
        <p:spPr>
          <a:xfrm>
            <a:off x="8083296" y="5047488"/>
            <a:ext cx="338328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TOBになった場合</a:t>
            </a:r>
            <a:endParaRPr lang="en-US" sz="1100" dirty="0"/>
          </a:p>
        </p:txBody>
      </p:sp>
      <p:sp>
        <p:nvSpPr>
          <p:cNvPr id="37" name="Text 35"/>
          <p:cNvSpPr txBox="1"/>
          <p:nvPr/>
        </p:nvSpPr>
        <p:spPr>
          <a:xfrm>
            <a:off x="8083296" y="5303520"/>
            <a:ext cx="338328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プレミアム20〜40%</a:t>
            </a:r>
            <a:endParaRPr lang="en-US" sz="1500" dirty="0"/>
          </a:p>
        </p:txBody>
      </p:sp>
      <p:sp>
        <p:nvSpPr>
          <p:cNvPr id="38" name="Text 36"/>
          <p:cNvSpPr txBox="1"/>
          <p:nvPr/>
        </p:nvSpPr>
        <p:spPr>
          <a:xfrm>
            <a:off x="8083296" y="5605272"/>
            <a:ext cx="3383280" cy="25603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累計 18〜21億円の想定</a:t>
            </a:r>
            <a:endParaRPr lang="en-US" sz="1000" dirty="0"/>
          </a:p>
        </p:txBody>
      </p:sp>
      <p:sp>
        <p:nvSpPr>
          <p:cNvPr id="39" name="Text 37"/>
          <p:cNvSpPr txBox="1"/>
          <p:nvPr/>
        </p:nvSpPr>
        <p:spPr>
          <a:xfrm>
            <a:off x="640080" y="6126480"/>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合併後発行済19,966,162株・株価229円・あどばるEquity 18億・ストックオプション9,000株は行使済みを前提とした試算です。</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 ②</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金融機関から見た、決定的な違い</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881360" cy="914400"/>
        </p:xfrm>
        <a:graphic>
          <a:graphicData uri="http://schemas.openxmlformats.org/drawingml/2006/table">
            <a:tbl>
              <a:tblPr/>
              <a:tblGrid>
                <a:gridCol w="3200400"/>
                <a:gridCol w="3840480"/>
                <a:gridCol w="3840480"/>
              </a:tblGrid>
              <a:tr h="374904">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銀行が見る項目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A：MBO</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B：合併 → 相対取得</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6.10億円の行き先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会社（第三者割当増資）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売り手（重松氏・ビジョン社）</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会社の純資産への効果</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+6.10億円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自己資本比率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△18.5% → 24.9%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合算次第（個社は未解消）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ビジョン社借入 7.90億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全額返済・関係終了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全額を新規借入で置換</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中野の借入の名目</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事業会社への出資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個人の株式取得資金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その担保</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非上場株（時価変動なし）</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上場株（追加担保リスクあり）</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返済原資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配当（分配可能額 17.06億）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配当（のれん償却後の利益）</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経営者保証</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解除を交渉できる</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既存保証は継続</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490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銀行の稟議区分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事業性融資（借換え）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有価証券担保・個人向け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486400"/>
            <a:ext cx="10881360" cy="32004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合併ルートで6.10億を投じても、あどばるの決算書は何も変わりません。銀行の稟議が動くのはAだけです。</a:t>
            </a:r>
            <a:endParaRPr lang="en-US" sz="1300" dirty="0"/>
          </a:p>
        </p:txBody>
      </p:sp>
      <p:sp>
        <p:nvSpPr>
          <p:cNvPr id="6" name="Text 3"/>
          <p:cNvSpPr txBox="1"/>
          <p:nvPr/>
        </p:nvSpPr>
        <p:spPr>
          <a:xfrm>
            <a:off x="640080" y="5943600"/>
            <a:ext cx="10881360" cy="365760"/>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合算後の自己資本比率は表面38.6%、のれん控除後11.8%と試算されます（次ページ）。MBO完了後に合併した場合はそれぞれ48.6%・26.3%です。</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 ③</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合算すると、バランスシートはこうなります</a:t>
            </a:r>
            <a:endParaRPr lang="en-US" sz="2800" dirty="0"/>
          </a:p>
        </p:txBody>
      </p:sp>
      <p:sp>
        <p:nvSpPr>
          <p:cNvPr id="4" name="Shape 2"/>
          <p:cNvSpPr/>
          <p:nvPr/>
        </p:nvSpPr>
        <p:spPr>
          <a:xfrm>
            <a:off x="640080" y="1536192"/>
            <a:ext cx="3703320" cy="4206240"/>
          </a:xfrm>
          <a:prstGeom prst="roundRect">
            <a:avLst>
              <a:gd name="adj" fmla="val 1481"/>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14400" y="1719072"/>
            <a:ext cx="3200400" cy="274320"/>
          </a:xfrm>
          <a:prstGeom prst="rect">
            <a:avLst/>
          </a:prstGeom>
          <a:noFill/>
          <a:ln/>
        </p:spPr>
        <p:txBody>
          <a:bodyPr wrap="square" lIns="0" tIns="0" rIns="0" bIns="0" rtlCol="0" anchor="ctr"/>
          <a:lstStyle/>
          <a:p>
            <a:pPr indent="0" marL="0">
              <a:buNone/>
            </a:pPr>
            <a:r>
              <a:rPr lang="en-US" sz="1350" b="1" dirty="0">
                <a:solidFill>
                  <a:srgbClr val="2E5C8A"/>
                </a:solidFill>
                <a:latin typeface="Meiryo" pitchFamily="34" charset="0"/>
                <a:ea typeface="Meiryo" pitchFamily="34" charset="-122"/>
                <a:cs typeface="Meiryo" pitchFamily="34" charset="-120"/>
              </a:rPr>
              <a:t>スペースマーケット社の財務</a:t>
            </a:r>
            <a:endParaRPr lang="en-US" sz="1350" dirty="0"/>
          </a:p>
        </p:txBody>
      </p:sp>
      <p:sp>
        <p:nvSpPr>
          <p:cNvPr id="6" name="Text 4"/>
          <p:cNvSpPr txBox="1"/>
          <p:nvPr/>
        </p:nvSpPr>
        <p:spPr>
          <a:xfrm>
            <a:off x="914400" y="2011680"/>
            <a:ext cx="3200400" cy="237744"/>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2025年12月期（2025年12月31日現在）</a:t>
            </a:r>
            <a:endParaRPr lang="en-US" sz="950" dirty="0"/>
          </a:p>
        </p:txBody>
      </p:sp>
      <p:sp>
        <p:nvSpPr>
          <p:cNvPr id="7" name="Text 5"/>
          <p:cNvSpPr txBox="1"/>
          <p:nvPr/>
        </p:nvSpPr>
        <p:spPr>
          <a:xfrm>
            <a:off x="914400" y="2386584"/>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総資産</a:t>
            </a:r>
            <a:endParaRPr lang="en-US" sz="1050" dirty="0"/>
          </a:p>
        </p:txBody>
      </p:sp>
      <p:sp>
        <p:nvSpPr>
          <p:cNvPr id="8" name="Text 6"/>
          <p:cNvSpPr txBox="1"/>
          <p:nvPr/>
        </p:nvSpPr>
        <p:spPr>
          <a:xfrm>
            <a:off x="2743200" y="2359152"/>
            <a:ext cx="13258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37.39億</a:t>
            </a:r>
            <a:endParaRPr lang="en-US" sz="1400" dirty="0"/>
          </a:p>
        </p:txBody>
      </p:sp>
      <p:sp>
        <p:nvSpPr>
          <p:cNvPr id="9" name="Text 7"/>
          <p:cNvSpPr txBox="1"/>
          <p:nvPr/>
        </p:nvSpPr>
        <p:spPr>
          <a:xfrm>
            <a:off x="914400" y="2788920"/>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純資産</a:t>
            </a:r>
            <a:endParaRPr lang="en-US" sz="1050" dirty="0"/>
          </a:p>
        </p:txBody>
      </p:sp>
      <p:sp>
        <p:nvSpPr>
          <p:cNvPr id="10" name="Text 8"/>
          <p:cNvSpPr txBox="1"/>
          <p:nvPr/>
        </p:nvSpPr>
        <p:spPr>
          <a:xfrm>
            <a:off x="2743200" y="2761488"/>
            <a:ext cx="13258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10.07億</a:t>
            </a:r>
            <a:endParaRPr lang="en-US" sz="1400" dirty="0"/>
          </a:p>
        </p:txBody>
      </p:sp>
      <p:sp>
        <p:nvSpPr>
          <p:cNvPr id="11" name="Text 9"/>
          <p:cNvSpPr txBox="1"/>
          <p:nvPr/>
        </p:nvSpPr>
        <p:spPr>
          <a:xfrm>
            <a:off x="914400" y="3191256"/>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自己資本比率</a:t>
            </a:r>
            <a:endParaRPr lang="en-US" sz="1050" dirty="0"/>
          </a:p>
        </p:txBody>
      </p:sp>
      <p:sp>
        <p:nvSpPr>
          <p:cNvPr id="12" name="Text 10"/>
          <p:cNvSpPr txBox="1"/>
          <p:nvPr/>
        </p:nvSpPr>
        <p:spPr>
          <a:xfrm>
            <a:off x="2743200" y="3163824"/>
            <a:ext cx="13258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24.6%</a:t>
            </a:r>
            <a:endParaRPr lang="en-US" sz="1400" dirty="0"/>
          </a:p>
        </p:txBody>
      </p:sp>
      <p:sp>
        <p:nvSpPr>
          <p:cNvPr id="13" name="Text 11"/>
          <p:cNvSpPr txBox="1"/>
          <p:nvPr/>
        </p:nvSpPr>
        <p:spPr>
          <a:xfrm>
            <a:off x="914400" y="3593592"/>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現金及び現金同等物</a:t>
            </a:r>
            <a:endParaRPr lang="en-US" sz="1050" dirty="0"/>
          </a:p>
        </p:txBody>
      </p:sp>
      <p:sp>
        <p:nvSpPr>
          <p:cNvPr id="14" name="Text 12"/>
          <p:cNvSpPr txBox="1"/>
          <p:nvPr/>
        </p:nvSpPr>
        <p:spPr>
          <a:xfrm>
            <a:off x="2743200" y="3566160"/>
            <a:ext cx="1325880" cy="310896"/>
          </a:xfrm>
          <a:prstGeom prst="rect">
            <a:avLst/>
          </a:prstGeom>
          <a:noFill/>
          <a:ln/>
        </p:spPr>
        <p:txBody>
          <a:bodyPr wrap="square" lIns="0" tIns="0" rIns="0" bIns="0" rtlCol="0" anchor="ctr"/>
          <a:lstStyle/>
          <a:p>
            <a:pPr algn="r" indent="0" marL="0">
              <a:buNone/>
            </a:pPr>
            <a:r>
              <a:rPr lang="en-US" sz="1400" b="1" dirty="0">
                <a:solidFill>
                  <a:srgbClr val="2C6A4E"/>
                </a:solidFill>
                <a:latin typeface="Meiryo" pitchFamily="34" charset="0"/>
                <a:ea typeface="Meiryo" pitchFamily="34" charset="-122"/>
                <a:cs typeface="Meiryo" pitchFamily="34" charset="-120"/>
              </a:rPr>
              <a:t>11.56億</a:t>
            </a:r>
            <a:endParaRPr lang="en-US" sz="1400" dirty="0"/>
          </a:p>
        </p:txBody>
      </p:sp>
      <p:sp>
        <p:nvSpPr>
          <p:cNvPr id="15" name="Text 13"/>
          <p:cNvSpPr txBox="1"/>
          <p:nvPr/>
        </p:nvSpPr>
        <p:spPr>
          <a:xfrm>
            <a:off x="914400" y="3995928"/>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固定負債</a:t>
            </a:r>
            <a:endParaRPr lang="en-US" sz="1050" dirty="0"/>
          </a:p>
        </p:txBody>
      </p:sp>
      <p:sp>
        <p:nvSpPr>
          <p:cNvPr id="16" name="Text 14"/>
          <p:cNvSpPr txBox="1"/>
          <p:nvPr/>
        </p:nvSpPr>
        <p:spPr>
          <a:xfrm>
            <a:off x="2743200" y="3968496"/>
            <a:ext cx="13258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7.91億</a:t>
            </a:r>
            <a:endParaRPr lang="en-US" sz="1400" dirty="0"/>
          </a:p>
        </p:txBody>
      </p:sp>
      <p:sp>
        <p:nvSpPr>
          <p:cNvPr id="17" name="Text 15"/>
          <p:cNvSpPr txBox="1"/>
          <p:nvPr/>
        </p:nvSpPr>
        <p:spPr>
          <a:xfrm>
            <a:off x="914400" y="4398264"/>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売上高</a:t>
            </a:r>
            <a:endParaRPr lang="en-US" sz="1050" dirty="0"/>
          </a:p>
        </p:txBody>
      </p:sp>
      <p:sp>
        <p:nvSpPr>
          <p:cNvPr id="18" name="Text 16"/>
          <p:cNvSpPr txBox="1"/>
          <p:nvPr/>
        </p:nvSpPr>
        <p:spPr>
          <a:xfrm>
            <a:off x="2743200" y="4370832"/>
            <a:ext cx="13258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25.67億</a:t>
            </a:r>
            <a:endParaRPr lang="en-US" sz="1400" dirty="0"/>
          </a:p>
        </p:txBody>
      </p:sp>
      <p:sp>
        <p:nvSpPr>
          <p:cNvPr id="19" name="Text 17"/>
          <p:cNvSpPr txBox="1"/>
          <p:nvPr/>
        </p:nvSpPr>
        <p:spPr>
          <a:xfrm>
            <a:off x="914400" y="4800600"/>
            <a:ext cx="20116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営業利益</a:t>
            </a:r>
            <a:endParaRPr lang="en-US" sz="1050" dirty="0"/>
          </a:p>
        </p:txBody>
      </p:sp>
      <p:sp>
        <p:nvSpPr>
          <p:cNvPr id="20" name="Text 18"/>
          <p:cNvSpPr txBox="1"/>
          <p:nvPr/>
        </p:nvSpPr>
        <p:spPr>
          <a:xfrm>
            <a:off x="2743200" y="4773168"/>
            <a:ext cx="1325880" cy="310896"/>
          </a:xfrm>
          <a:prstGeom prst="rect">
            <a:avLst/>
          </a:prstGeom>
          <a:noFill/>
          <a:ln/>
        </p:spPr>
        <p:txBody>
          <a:bodyPr wrap="square" lIns="0" tIns="0" rIns="0" bIns="0" rtlCol="0" anchor="ctr"/>
          <a:lstStyle/>
          <a:p>
            <a:pPr algn="r" indent="0" marL="0">
              <a:buNone/>
            </a:pPr>
            <a:r>
              <a:rPr lang="en-US" sz="1400" b="1" dirty="0">
                <a:solidFill>
                  <a:srgbClr val="2C6A4E"/>
                </a:solidFill>
                <a:latin typeface="Meiryo" pitchFamily="34" charset="0"/>
                <a:ea typeface="Meiryo" pitchFamily="34" charset="-122"/>
                <a:cs typeface="Meiryo" pitchFamily="34" charset="-120"/>
              </a:rPr>
              <a:t>2.47億</a:t>
            </a:r>
            <a:endParaRPr lang="en-US" sz="1400" dirty="0"/>
          </a:p>
        </p:txBody>
      </p:sp>
      <p:sp>
        <p:nvSpPr>
          <p:cNvPr id="21" name="Text 19"/>
          <p:cNvSpPr txBox="1"/>
          <p:nvPr/>
        </p:nvSpPr>
        <p:spPr>
          <a:xfrm>
            <a:off x="914400" y="5230368"/>
            <a:ext cx="3154680" cy="384048"/>
          </a:xfrm>
          <a:prstGeom prst="rect">
            <a:avLst/>
          </a:prstGeom>
          <a:noFill/>
          <a:ln/>
        </p:spPr>
        <p:txBody>
          <a:bodyPr wrap="square" lIns="0" tIns="0" rIns="0" bIns="0" rtlCol="0" anchor="ctr"/>
          <a:lstStyle/>
          <a:p>
            <a:pPr indent="0" marL="0">
              <a:lnSpc>
                <a:spcPct val="115000"/>
              </a:lnSpc>
              <a:buNone/>
            </a:pPr>
            <a:r>
              <a:rPr lang="en-US" sz="1000" b="1" dirty="0">
                <a:solidFill>
                  <a:srgbClr val="2E5C8A"/>
                </a:solidFill>
                <a:latin typeface="Meiryo" pitchFamily="34" charset="0"/>
                <a:ea typeface="Meiryo" pitchFamily="34" charset="-122"/>
                <a:cs typeface="Meiryo" pitchFamily="34" charset="-120"/>
              </a:rPr>
              <a:t>2026年12月期 会社予想　売上 32.44億／営業利益 2.90億</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17720" y="1536192"/>
          <a:ext cx="6903720" cy="914400"/>
        </p:xfrm>
        <a:graphic>
          <a:graphicData uri="http://schemas.openxmlformats.org/drawingml/2006/table">
            <a:tbl>
              <a:tblPr/>
              <a:tblGrid>
                <a:gridCol w="2788920"/>
                <a:gridCol w="2057400"/>
                <a:gridCol w="2057400"/>
              </a:tblGrid>
              <a:tr h="36576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合算後</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いま合併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MBO完了後</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のれん</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22.09億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22.95億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総資産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72.64億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75.97億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純資産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28.07億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36.92億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自己資本比率（表面）</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38.6%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48.6%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のれん控除後の自己資本</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8A2E26"/>
                          </a:solidFill>
                          <a:latin typeface="Meiryo" pitchFamily="34" charset="0"/>
                          <a:ea typeface="Meiryo" pitchFamily="34" charset="-122"/>
                          <a:cs typeface="Meiryo" pitchFamily="34" charset="-120"/>
                        </a:rPr>
                        <a:t>5.98億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13.97億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のれん控除後の比率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8A2E26"/>
                          </a:solidFill>
                          <a:latin typeface="Meiryo" pitchFamily="34" charset="0"/>
                          <a:ea typeface="Meiryo" pitchFamily="34" charset="-122"/>
                          <a:cs typeface="Meiryo" pitchFamily="34" charset="-120"/>
                        </a:rPr>
                        <a:t>11.8%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26.3%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合算 営業利益</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4.90億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4.90億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のれん償却後（20年）</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3.80億（△23%）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3.75億（△23%）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6576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合算 現預金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11.96億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13.75億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23" name="Shape 20"/>
          <p:cNvSpPr/>
          <p:nvPr/>
        </p:nvSpPr>
        <p:spPr>
          <a:xfrm>
            <a:off x="4617720" y="5468112"/>
            <a:ext cx="6903720" cy="566928"/>
          </a:xfrm>
          <a:prstGeom prst="roundRect">
            <a:avLst>
              <a:gd name="adj" fmla="val 967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4" name="Text 21"/>
          <p:cNvSpPr txBox="1"/>
          <p:nvPr/>
        </p:nvSpPr>
        <p:spPr>
          <a:xfrm>
            <a:off x="4892040" y="5596128"/>
            <a:ext cx="6400800" cy="310896"/>
          </a:xfrm>
          <a:prstGeom prst="rect">
            <a:avLst/>
          </a:prstGeom>
          <a:noFill/>
          <a:ln/>
        </p:spPr>
        <p:txBody>
          <a:bodyPr wrap="square" lIns="0" tIns="0" rIns="0" bIns="0" rtlCol="0" anchor="ctr"/>
          <a:lstStyle/>
          <a:p>
            <a:pPr indent="0" marL="0">
              <a:buNone/>
            </a:pPr>
            <a:r>
              <a:rPr lang="en-US" sz="1250" b="1" dirty="0">
                <a:solidFill>
                  <a:srgbClr val="6E2639"/>
                </a:solidFill>
                <a:latin typeface="Meiryo" pitchFamily="34" charset="0"/>
                <a:ea typeface="Meiryo" pitchFamily="34" charset="-122"/>
                <a:cs typeface="Meiryo" pitchFamily="34" charset="-120"/>
              </a:rPr>
              <a:t>銀行はのれんを自己資本から控除して見ます。表面38.6%でも実質11.8%です。</a:t>
            </a:r>
            <a:endParaRPr lang="en-US" sz="1250" dirty="0"/>
          </a:p>
        </p:txBody>
      </p:sp>
      <p:sp>
        <p:nvSpPr>
          <p:cNvPr id="25" name="Text 22"/>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スペースマーケット社の数値は同社決算短信の公表値です（検索結果経由で取得、PDF原本は未確認）。有利子負債の内訳は未入手のため、合算の有利子負債は算出していません。</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比較 ④</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合併後に買い増す場合の法規制</a:t>
            </a:r>
            <a:endParaRPr lang="en-US" sz="2800" dirty="0"/>
          </a:p>
        </p:txBody>
      </p:sp>
      <p:sp>
        <p:nvSpPr>
          <p:cNvPr id="4" name="Shape 2"/>
          <p:cNvSpPr/>
          <p:nvPr/>
        </p:nvSpPr>
        <p:spPr>
          <a:xfrm>
            <a:off x="640080" y="1691640"/>
            <a:ext cx="5349240" cy="1691640"/>
          </a:xfrm>
          <a:prstGeom prst="roundRect">
            <a:avLst>
              <a:gd name="adj" fmla="val 3243"/>
            </a:avLst>
          </a:prstGeom>
          <a:solidFill>
            <a:srgbClr val="26333F"/>
          </a:solidFill>
          <a:ln w="12700">
            <a:solidFill>
              <a:srgbClr val="3A4854"/>
            </a:solidFill>
            <a:prstDash val="solid"/>
          </a:ln>
        </p:spPr>
      </p:sp>
      <p:sp>
        <p:nvSpPr>
          <p:cNvPr id="5" name="Text 3"/>
          <p:cNvSpPr txBox="1"/>
          <p:nvPr/>
        </p:nvSpPr>
        <p:spPr>
          <a:xfrm>
            <a:off x="914400" y="1892808"/>
            <a:ext cx="1188720" cy="365760"/>
          </a:xfrm>
          <a:prstGeom prst="rect">
            <a:avLst/>
          </a:prstGeom>
          <a:noFill/>
          <a:ln/>
        </p:spPr>
        <p:txBody>
          <a:bodyPr wrap="square" lIns="0" tIns="0" rIns="0" bIns="0" rtlCol="0" anchor="ctr"/>
          <a:lstStyle/>
          <a:p>
            <a:pPr indent="0" marL="0">
              <a:buNone/>
            </a:pPr>
            <a:r>
              <a:rPr lang="en-US" sz="2000" b="1" dirty="0">
                <a:solidFill>
                  <a:srgbClr val="A85C6E"/>
                </a:solidFill>
                <a:latin typeface="Meiryo" pitchFamily="34" charset="0"/>
                <a:ea typeface="Meiryo" pitchFamily="34" charset="-122"/>
                <a:cs typeface="Meiryo" pitchFamily="34" charset="-120"/>
              </a:rPr>
              <a:t>5%</a:t>
            </a:r>
            <a:endParaRPr lang="en-US" sz="2000" dirty="0"/>
          </a:p>
        </p:txBody>
      </p:sp>
      <p:sp>
        <p:nvSpPr>
          <p:cNvPr id="6" name="Text 4"/>
          <p:cNvSpPr txBox="1"/>
          <p:nvPr/>
        </p:nvSpPr>
        <p:spPr>
          <a:xfrm>
            <a:off x="2194560" y="1947672"/>
            <a:ext cx="3566160" cy="292608"/>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大量保有報告書</a:t>
            </a:r>
            <a:endParaRPr lang="en-US" sz="1450" dirty="0"/>
          </a:p>
        </p:txBody>
      </p:sp>
      <p:sp>
        <p:nvSpPr>
          <p:cNvPr id="7" name="Text 5"/>
          <p:cNvSpPr txBox="1"/>
          <p:nvPr/>
        </p:nvSpPr>
        <p:spPr>
          <a:xfrm>
            <a:off x="914400" y="2386584"/>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合併時点で中野は14.45%。追加取得のつど5営業日以内に変更報告書の提出が必要で、買い増しの意図が市場に開示されます。</a:t>
            </a:r>
            <a:endParaRPr lang="en-US" sz="1050" dirty="0"/>
          </a:p>
        </p:txBody>
      </p:sp>
      <p:sp>
        <p:nvSpPr>
          <p:cNvPr id="8" name="Shape 6"/>
          <p:cNvSpPr/>
          <p:nvPr/>
        </p:nvSpPr>
        <p:spPr>
          <a:xfrm>
            <a:off x="6172200" y="1691640"/>
            <a:ext cx="5349240" cy="1691640"/>
          </a:xfrm>
          <a:prstGeom prst="roundRect">
            <a:avLst>
              <a:gd name="adj" fmla="val 3243"/>
            </a:avLst>
          </a:prstGeom>
          <a:solidFill>
            <a:srgbClr val="26333F"/>
          </a:solidFill>
          <a:ln w="12700">
            <a:solidFill>
              <a:srgbClr val="3A4854"/>
            </a:solidFill>
            <a:prstDash val="solid"/>
          </a:ln>
        </p:spPr>
      </p:sp>
      <p:sp>
        <p:nvSpPr>
          <p:cNvPr id="9" name="Text 7"/>
          <p:cNvSpPr txBox="1"/>
          <p:nvPr/>
        </p:nvSpPr>
        <p:spPr>
          <a:xfrm>
            <a:off x="6446520" y="1892808"/>
            <a:ext cx="1188720" cy="365760"/>
          </a:xfrm>
          <a:prstGeom prst="rect">
            <a:avLst/>
          </a:prstGeom>
          <a:noFill/>
          <a:ln/>
        </p:spPr>
        <p:txBody>
          <a:bodyPr wrap="square" lIns="0" tIns="0" rIns="0" bIns="0" rtlCol="0" anchor="ctr"/>
          <a:lstStyle/>
          <a:p>
            <a:pPr indent="0" marL="0">
              <a:buNone/>
            </a:pPr>
            <a:r>
              <a:rPr lang="en-US" sz="2000" b="1" dirty="0">
                <a:solidFill>
                  <a:srgbClr val="A85C6E"/>
                </a:solidFill>
                <a:latin typeface="Meiryo" pitchFamily="34" charset="0"/>
                <a:ea typeface="Meiryo" pitchFamily="34" charset="-122"/>
                <a:cs typeface="Meiryo" pitchFamily="34" charset="-120"/>
              </a:rPr>
              <a:t>1/3</a:t>
            </a:r>
            <a:endParaRPr lang="en-US" sz="2000" dirty="0"/>
          </a:p>
        </p:txBody>
      </p:sp>
      <p:sp>
        <p:nvSpPr>
          <p:cNvPr id="10" name="Text 8"/>
          <p:cNvSpPr txBox="1"/>
          <p:nvPr/>
        </p:nvSpPr>
        <p:spPr>
          <a:xfrm>
            <a:off x="7726680" y="1947672"/>
            <a:ext cx="3566160" cy="292608"/>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公開買付（TOB）の強制</a:t>
            </a:r>
            <a:endParaRPr lang="en-US" sz="1450" dirty="0"/>
          </a:p>
        </p:txBody>
      </p:sp>
      <p:sp>
        <p:nvSpPr>
          <p:cNvPr id="11" name="Text 9"/>
          <p:cNvSpPr txBox="1"/>
          <p:nvPr/>
        </p:nvSpPr>
        <p:spPr>
          <a:xfrm>
            <a:off x="6446520" y="2386584"/>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市場外での相対取得で所有割合が3分の1を超える場合、相手が1名でもTOBが義務づけられます（金商法27条の2）。</a:t>
            </a:r>
            <a:endParaRPr lang="en-US" sz="1050" dirty="0"/>
          </a:p>
        </p:txBody>
      </p:sp>
      <p:sp>
        <p:nvSpPr>
          <p:cNvPr id="12" name="Shape 10"/>
          <p:cNvSpPr/>
          <p:nvPr/>
        </p:nvSpPr>
        <p:spPr>
          <a:xfrm>
            <a:off x="640080" y="3611880"/>
            <a:ext cx="5349240" cy="1691640"/>
          </a:xfrm>
          <a:prstGeom prst="roundRect">
            <a:avLst>
              <a:gd name="adj" fmla="val 3243"/>
            </a:avLst>
          </a:prstGeom>
          <a:solidFill>
            <a:srgbClr val="26333F"/>
          </a:solidFill>
          <a:ln w="12700">
            <a:solidFill>
              <a:srgbClr val="3A4854"/>
            </a:solidFill>
            <a:prstDash val="solid"/>
          </a:ln>
        </p:spPr>
      </p:sp>
      <p:sp>
        <p:nvSpPr>
          <p:cNvPr id="13" name="Text 11"/>
          <p:cNvSpPr txBox="1"/>
          <p:nvPr/>
        </p:nvSpPr>
        <p:spPr>
          <a:xfrm>
            <a:off x="914400" y="3813048"/>
            <a:ext cx="1188720" cy="365760"/>
          </a:xfrm>
          <a:prstGeom prst="rect">
            <a:avLst/>
          </a:prstGeom>
          <a:noFill/>
          <a:ln/>
        </p:spPr>
        <p:txBody>
          <a:bodyPr wrap="square" lIns="0" tIns="0" rIns="0" bIns="0" rtlCol="0" anchor="ctr"/>
          <a:lstStyle/>
          <a:p>
            <a:pPr indent="0" marL="0">
              <a:buNone/>
            </a:pPr>
            <a:r>
              <a:rPr lang="en-US" sz="2000" b="1" dirty="0">
                <a:solidFill>
                  <a:srgbClr val="A85C6E"/>
                </a:solidFill>
                <a:latin typeface="Meiryo" pitchFamily="34" charset="0"/>
                <a:ea typeface="Meiryo" pitchFamily="34" charset="-122"/>
                <a:cs typeface="Meiryo" pitchFamily="34" charset="-120"/>
              </a:rPr>
              <a:t>80.5%</a:t>
            </a:r>
            <a:endParaRPr lang="en-US" sz="2000" dirty="0"/>
          </a:p>
        </p:txBody>
      </p:sp>
      <p:sp>
        <p:nvSpPr>
          <p:cNvPr id="14" name="Text 12"/>
          <p:cNvSpPr txBox="1"/>
          <p:nvPr/>
        </p:nvSpPr>
        <p:spPr>
          <a:xfrm>
            <a:off x="2194560" y="3867912"/>
            <a:ext cx="3566160" cy="292608"/>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特定株比率</a:t>
            </a:r>
            <a:endParaRPr lang="en-US" sz="1450" dirty="0"/>
          </a:p>
        </p:txBody>
      </p:sp>
      <p:sp>
        <p:nvSpPr>
          <p:cNvPr id="15" name="Text 13"/>
          <p:cNvSpPr txBox="1"/>
          <p:nvPr/>
        </p:nvSpPr>
        <p:spPr>
          <a:xfrm>
            <a:off x="914400" y="4306824"/>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市場に出回る株が少なく、まとまった株数を市場で買うと株価が跳ねます。相対取得が前提にならざるを得ません。</a:t>
            </a:r>
            <a:endParaRPr lang="en-US" sz="1050" dirty="0"/>
          </a:p>
        </p:txBody>
      </p:sp>
      <p:sp>
        <p:nvSpPr>
          <p:cNvPr id="16" name="Shape 14"/>
          <p:cNvSpPr/>
          <p:nvPr/>
        </p:nvSpPr>
        <p:spPr>
          <a:xfrm>
            <a:off x="6172200" y="3611880"/>
            <a:ext cx="5349240" cy="1691640"/>
          </a:xfrm>
          <a:prstGeom prst="roundRect">
            <a:avLst>
              <a:gd name="adj" fmla="val 3243"/>
            </a:avLst>
          </a:prstGeom>
          <a:solidFill>
            <a:srgbClr val="26333F"/>
          </a:solidFill>
          <a:ln w="12700">
            <a:solidFill>
              <a:srgbClr val="3A4854"/>
            </a:solidFill>
            <a:prstDash val="solid"/>
          </a:ln>
        </p:spPr>
      </p:sp>
      <p:sp>
        <p:nvSpPr>
          <p:cNvPr id="17" name="Text 15"/>
          <p:cNvSpPr txBox="1"/>
          <p:nvPr/>
        </p:nvSpPr>
        <p:spPr>
          <a:xfrm>
            <a:off x="6446520" y="3813048"/>
            <a:ext cx="1188720" cy="365760"/>
          </a:xfrm>
          <a:prstGeom prst="rect">
            <a:avLst/>
          </a:prstGeom>
          <a:noFill/>
          <a:ln/>
        </p:spPr>
        <p:txBody>
          <a:bodyPr wrap="square" lIns="0" tIns="0" rIns="0" bIns="0" rtlCol="0" anchor="ctr"/>
          <a:lstStyle/>
          <a:p>
            <a:pPr indent="0" marL="0">
              <a:buNone/>
            </a:pPr>
            <a:r>
              <a:rPr lang="en-US" sz="2000" b="1" dirty="0">
                <a:solidFill>
                  <a:srgbClr val="A85C6E"/>
                </a:solidFill>
                <a:latin typeface="Meiryo" pitchFamily="34" charset="0"/>
                <a:ea typeface="Meiryo" pitchFamily="34" charset="-122"/>
                <a:cs typeface="Meiryo" pitchFamily="34" charset="-120"/>
              </a:rPr>
              <a:t>2/3</a:t>
            </a:r>
            <a:endParaRPr lang="en-US" sz="2000" dirty="0"/>
          </a:p>
        </p:txBody>
      </p:sp>
      <p:sp>
        <p:nvSpPr>
          <p:cNvPr id="18" name="Text 16"/>
          <p:cNvSpPr txBox="1"/>
          <p:nvPr/>
        </p:nvSpPr>
        <p:spPr>
          <a:xfrm>
            <a:off x="7726680" y="3867912"/>
            <a:ext cx="3566160" cy="292608"/>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全部買付義務</a:t>
            </a:r>
            <a:endParaRPr lang="en-US" sz="1450" dirty="0"/>
          </a:p>
        </p:txBody>
      </p:sp>
      <p:sp>
        <p:nvSpPr>
          <p:cNvPr id="19" name="Text 17"/>
          <p:cNvSpPr txBox="1"/>
          <p:nvPr/>
        </p:nvSpPr>
        <p:spPr>
          <a:xfrm>
            <a:off x="6446520" y="4306824"/>
            <a:ext cx="4800600" cy="8686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TOBで3分の2以上を取得する場合、応募株式の全部を買い付ける義務が生じます。所要額が読めなくなります。</a:t>
            </a:r>
            <a:endParaRPr lang="en-US" sz="1050" dirty="0"/>
          </a:p>
        </p:txBody>
      </p:sp>
      <p:sp>
        <p:nvSpPr>
          <p:cNvPr id="20" name="Text 18"/>
          <p:cNvSpPr txBox="1"/>
          <p:nvPr/>
        </p:nvSpPr>
        <p:spPr>
          <a:xfrm>
            <a:off x="640080" y="5632704"/>
            <a:ext cx="10881360" cy="502920"/>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6.10億で到達する27.79%までは相対取得で済みます（1/3以下・10名以下からの取得）。そこから先は公開の手続きになり、プレミアムも乗ります。</a:t>
            </a:r>
            <a:endParaRPr lang="en-US" sz="1250" dirty="0"/>
          </a:p>
        </p:txBody>
      </p:sp>
      <p:sp>
        <p:nvSpPr>
          <p:cNvPr id="21" name="Text 19"/>
          <p:cNvSpPr txBox="1"/>
          <p:nvPr/>
        </p:nvSpPr>
        <p:spPr>
          <a:xfrm>
            <a:off x="640080" y="6236208"/>
            <a:ext cx="10881360" cy="274320"/>
          </a:xfrm>
          <a:prstGeom prst="rect">
            <a:avLst/>
          </a:prstGeom>
          <a:noFill/>
          <a:ln/>
        </p:spPr>
        <p:txBody>
          <a:bodyPr wrap="square" lIns="0" tIns="0" rIns="0" bIns="0" rtlCol="0" anchor="ctr"/>
          <a:lstStyle/>
          <a:p>
            <a:pPr indent="0" marL="0">
              <a:buNone/>
            </a:pPr>
            <a:r>
              <a:rPr lang="en-US" sz="900" dirty="0">
                <a:solidFill>
                  <a:srgbClr val="7F8E9B"/>
                </a:solidFill>
                <a:latin typeface="Meiryo" pitchFamily="34" charset="0"/>
                <a:ea typeface="Meiryo" pitchFamily="34" charset="-122"/>
                <a:cs typeface="Meiryo" pitchFamily="34" charset="-120"/>
              </a:rPr>
              <a:t>金商法の適用関係は取得の態様・人数・期間により異なります。実行前に証券会社および弁護士の確認を要します。</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参考</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いま合併した場合の株主構成</a:t>
            </a:r>
            <a:endParaRPr lang="en-US" sz="2800" dirty="0"/>
          </a:p>
        </p:txBody>
      </p:sp>
      <p:sp>
        <p:nvSpPr>
          <p:cNvPr id="4" name="Text 2"/>
          <p:cNvSpPr txBox="1"/>
          <p:nvPr/>
        </p:nvSpPr>
        <p:spPr>
          <a:xfrm>
            <a:off x="64008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合併比率</a:t>
            </a:r>
            <a:endParaRPr lang="en-US" sz="1100" dirty="0"/>
          </a:p>
        </p:txBody>
      </p:sp>
      <p:sp>
        <p:nvSpPr>
          <p:cNvPr id="5" name="Text 3"/>
          <p:cNvSpPr txBox="1"/>
          <p:nvPr/>
        </p:nvSpPr>
        <p:spPr>
          <a:xfrm>
            <a:off x="640080" y="1755648"/>
            <a:ext cx="2651760" cy="502920"/>
          </a:xfrm>
          <a:prstGeom prst="rect">
            <a:avLst/>
          </a:prstGeom>
          <a:noFill/>
          <a:ln/>
        </p:spPr>
        <p:txBody>
          <a:bodyPr wrap="square" lIns="0" tIns="0" rIns="0" bIns="0" rtlCol="0" anchor="ctr"/>
          <a:lstStyle/>
          <a:p>
            <a:pPr indent="0" marL="0">
              <a:buNone/>
            </a:pPr>
            <a:r>
              <a:rPr lang="en-US" sz="3000" b="1" dirty="0">
                <a:solidFill>
                  <a:srgbClr val="2E5C8A"/>
                </a:solidFill>
                <a:latin typeface="Meiryo" pitchFamily="34" charset="0"/>
                <a:ea typeface="Meiryo" pitchFamily="34" charset="-122"/>
                <a:cs typeface="Meiryo" pitchFamily="34" charset="-120"/>
              </a:rPr>
              <a:t>1 : 38.99</a:t>
            </a:r>
            <a:pPr indent="0" marL="0">
              <a:buNone/>
            </a:pPr>
            <a:endParaRPr lang="en-US" sz="3000" dirty="0"/>
          </a:p>
        </p:txBody>
      </p:sp>
      <p:sp>
        <p:nvSpPr>
          <p:cNvPr id="6" name="Text 4"/>
          <p:cNvSpPr txBox="1"/>
          <p:nvPr/>
        </p:nvSpPr>
        <p:spPr>
          <a:xfrm>
            <a:off x="64008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あどばる1株にSM株38.99株</a:t>
            </a:r>
            <a:endParaRPr lang="en-US" sz="1000" dirty="0"/>
          </a:p>
        </p:txBody>
      </p:sp>
      <p:sp>
        <p:nvSpPr>
          <p:cNvPr id="7" name="Text 5"/>
          <p:cNvSpPr txBox="1"/>
          <p:nvPr/>
        </p:nvSpPr>
        <p:spPr>
          <a:xfrm>
            <a:off x="347472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交付新株</a:t>
            </a:r>
            <a:endParaRPr lang="en-US" sz="1100" dirty="0"/>
          </a:p>
        </p:txBody>
      </p:sp>
      <p:sp>
        <p:nvSpPr>
          <p:cNvPr id="8" name="Text 6"/>
          <p:cNvSpPr txBox="1"/>
          <p:nvPr/>
        </p:nvSpPr>
        <p:spPr>
          <a:xfrm>
            <a:off x="347472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786.0</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9" name="Text 7"/>
          <p:cNvSpPr txBox="1"/>
          <p:nvPr/>
        </p:nvSpPr>
        <p:spPr>
          <a:xfrm>
            <a:off x="347472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あどばるEquity 18億／SM 229円</a:t>
            </a:r>
            <a:endParaRPr lang="en-US" sz="1000" dirty="0"/>
          </a:p>
        </p:txBody>
      </p:sp>
      <p:sp>
        <p:nvSpPr>
          <p:cNvPr id="10" name="Text 8"/>
          <p:cNvSpPr txBox="1"/>
          <p:nvPr/>
        </p:nvSpPr>
        <p:spPr>
          <a:xfrm>
            <a:off x="630936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発行済</a:t>
            </a:r>
            <a:endParaRPr lang="en-US" sz="1100" dirty="0"/>
          </a:p>
        </p:txBody>
      </p:sp>
      <p:sp>
        <p:nvSpPr>
          <p:cNvPr id="11" name="Text 9"/>
          <p:cNvSpPr txBox="1"/>
          <p:nvPr/>
        </p:nvSpPr>
        <p:spPr>
          <a:xfrm>
            <a:off x="630936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1,997</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12" name="Text 10"/>
          <p:cNvSpPr txBox="1"/>
          <p:nvPr/>
        </p:nvSpPr>
        <p:spPr>
          <a:xfrm>
            <a:off x="630936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現状1,210万株＋交付分</a:t>
            </a:r>
            <a:endParaRPr lang="en-US" sz="1000" dirty="0"/>
          </a:p>
        </p:txBody>
      </p:sp>
      <p:sp>
        <p:nvSpPr>
          <p:cNvPr id="13" name="Text 11"/>
          <p:cNvSpPr txBox="1"/>
          <p:nvPr/>
        </p:nvSpPr>
        <p:spPr>
          <a:xfrm>
            <a:off x="9144000" y="1517904"/>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時価総額</a:t>
            </a:r>
            <a:endParaRPr lang="en-US" sz="1100" dirty="0"/>
          </a:p>
        </p:txBody>
      </p:sp>
      <p:sp>
        <p:nvSpPr>
          <p:cNvPr id="14" name="Text 12"/>
          <p:cNvSpPr txBox="1"/>
          <p:nvPr/>
        </p:nvSpPr>
        <p:spPr>
          <a:xfrm>
            <a:off x="9144000" y="1755648"/>
            <a:ext cx="23774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45.7</a:t>
            </a:r>
            <a:pPr indent="0" marL="0">
              <a:buNone/>
            </a:pPr>
            <a:r>
              <a:rPr lang="en-US" sz="1300" b="1" dirty="0">
                <a:solidFill>
                  <a:srgbClr val="1E2A38"/>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9144000" y="226771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SM単独 27.7億から拡大</a:t>
            </a:r>
            <a:endParaRPr lang="en-US" sz="1000" dirty="0"/>
          </a:p>
        </p:txBody>
      </p:sp>
      <p:graphicFrame>
        <p:nvGraphicFramePr>
          <p:cNvPr id="16" name="Chart 0" descr=""/>
          <p:cNvGraphicFramePr/>
          <p:nvPr/>
        </p:nvGraphicFramePr>
        <p:xfrm>
          <a:off x="640080" y="2880360"/>
          <a:ext cx="6400800" cy="306324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315200" y="2880360"/>
            <a:ext cx="4206240" cy="3063240"/>
          </a:xfrm>
          <a:prstGeom prst="roundRect">
            <a:avLst>
              <a:gd name="adj" fmla="val 1791"/>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18" name="Text 15"/>
          <p:cNvSpPr txBox="1"/>
          <p:nvPr/>
        </p:nvSpPr>
        <p:spPr>
          <a:xfrm>
            <a:off x="7589520" y="3063240"/>
            <a:ext cx="3657600" cy="292608"/>
          </a:xfrm>
          <a:prstGeom prst="rect">
            <a:avLst/>
          </a:prstGeom>
          <a:noFill/>
          <a:ln/>
        </p:spPr>
        <p:txBody>
          <a:bodyPr wrap="square" lIns="0" tIns="0" rIns="0" bIns="0" rtlCol="0" anchor="ctr"/>
          <a:lstStyle/>
          <a:p>
            <a:pPr indent="0" marL="0">
              <a:buNone/>
            </a:pPr>
            <a:r>
              <a:rPr lang="en-US" sz="1400" b="1" dirty="0">
                <a:solidFill>
                  <a:srgbClr val="2E5C8A"/>
                </a:solidFill>
                <a:latin typeface="Meiryo" pitchFamily="34" charset="0"/>
                <a:ea typeface="Meiryo" pitchFamily="34" charset="-122"/>
                <a:cs typeface="Meiryo" pitchFamily="34" charset="-120"/>
              </a:rPr>
              <a:t>この名簿の読みどころ</a:t>
            </a:r>
            <a:endParaRPr lang="en-US" sz="1400" dirty="0"/>
          </a:p>
        </p:txBody>
      </p:sp>
      <p:sp>
        <p:nvSpPr>
          <p:cNvPr id="19" name="Text 16"/>
          <p:cNvSpPr txBox="1"/>
          <p:nvPr/>
        </p:nvSpPr>
        <p:spPr>
          <a:xfrm>
            <a:off x="7589520" y="3456432"/>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01</a:t>
            </a:r>
            <a:endParaRPr lang="en-US" sz="1100" dirty="0"/>
          </a:p>
        </p:txBody>
      </p:sp>
      <p:sp>
        <p:nvSpPr>
          <p:cNvPr id="20" name="Text 17"/>
          <p:cNvSpPr txBox="1"/>
          <p:nvPr/>
        </p:nvSpPr>
        <p:spPr>
          <a:xfrm>
            <a:off x="8092440" y="3456432"/>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筆頭株主はビジョン社</a:t>
            </a:r>
            <a:endParaRPr lang="en-US" sz="1200" dirty="0"/>
          </a:p>
        </p:txBody>
      </p:sp>
      <p:sp>
        <p:nvSpPr>
          <p:cNvPr id="21" name="Text 18"/>
          <p:cNvSpPr txBox="1"/>
          <p:nvPr/>
        </p:nvSpPr>
        <p:spPr>
          <a:xfrm>
            <a:off x="8092440" y="3730752"/>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18.43%。合併しても親会社は名簿から消えず、借入7.90億の貸主のまま残ります。</a:t>
            </a:r>
            <a:endParaRPr lang="en-US" sz="950" dirty="0"/>
          </a:p>
        </p:txBody>
      </p:sp>
      <p:sp>
        <p:nvSpPr>
          <p:cNvPr id="22" name="Text 19"/>
          <p:cNvSpPr txBox="1"/>
          <p:nvPr/>
        </p:nvSpPr>
        <p:spPr>
          <a:xfrm>
            <a:off x="7589520" y="4297680"/>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02</a:t>
            </a:r>
            <a:endParaRPr lang="en-US" sz="1100" dirty="0"/>
          </a:p>
        </p:txBody>
      </p:sp>
      <p:sp>
        <p:nvSpPr>
          <p:cNvPr id="23" name="Text 20"/>
          <p:cNvSpPr txBox="1"/>
          <p:nvPr/>
        </p:nvSpPr>
        <p:spPr>
          <a:xfrm>
            <a:off x="8092440" y="4297680"/>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重松氏側は合計23.14%</a:t>
            </a:r>
            <a:endParaRPr lang="en-US" sz="1200" dirty="0"/>
          </a:p>
        </p:txBody>
      </p:sp>
      <p:sp>
        <p:nvSpPr>
          <p:cNvPr id="24" name="Text 21"/>
          <p:cNvSpPr txBox="1"/>
          <p:nvPr/>
        </p:nvSpPr>
        <p:spPr>
          <a:xfrm>
            <a:off x="8092440" y="4572000"/>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重松氏14.77%＋ダブルパインズ8.36%。会長就任後にこの持分をどう扱うかが交渉の中心です。</a:t>
            </a:r>
            <a:endParaRPr lang="en-US" sz="950" dirty="0"/>
          </a:p>
        </p:txBody>
      </p:sp>
      <p:sp>
        <p:nvSpPr>
          <p:cNvPr id="25" name="Text 22"/>
          <p:cNvSpPr txBox="1"/>
          <p:nvPr/>
        </p:nvSpPr>
        <p:spPr>
          <a:xfrm>
            <a:off x="7589520" y="5138928"/>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03</a:t>
            </a:r>
            <a:endParaRPr lang="en-US" sz="1100" dirty="0"/>
          </a:p>
        </p:txBody>
      </p:sp>
      <p:sp>
        <p:nvSpPr>
          <p:cNvPr id="26" name="Text 23"/>
          <p:cNvSpPr txBox="1"/>
          <p:nvPr/>
        </p:nvSpPr>
        <p:spPr>
          <a:xfrm>
            <a:off x="8092440" y="5138928"/>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中野は14.45%</a:t>
            </a:r>
            <a:endParaRPr lang="en-US" sz="1200" dirty="0"/>
          </a:p>
        </p:txBody>
      </p:sp>
      <p:sp>
        <p:nvSpPr>
          <p:cNvPr id="27" name="Text 24"/>
          <p:cNvSpPr txBox="1"/>
          <p:nvPr/>
        </p:nvSpPr>
        <p:spPr>
          <a:xfrm>
            <a:off x="8092440" y="5413248"/>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この時点では第4位。ここから6.10億で27.79%まで買い増す、というのが合併ルートの姿です。</a:t>
            </a:r>
            <a:endParaRPr lang="en-US" sz="950" dirty="0"/>
          </a:p>
        </p:txBody>
      </p:sp>
      <p:sp>
        <p:nvSpPr>
          <p:cNvPr id="28" name="Text 25"/>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出所：会社四季報2026年9月号（発行済12,105,900株）、株価229円（2026年9月21日終値）。あどばるの評価額はLOIの18億円、ストックオプション9,000株は行使済みを前提としています。</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前提が変わっても残る4点</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のれん22.09億円の償却</a:t>
            </a:r>
            <a:endParaRPr lang="en-US" sz="1450" dirty="0"/>
          </a:p>
        </p:txBody>
      </p:sp>
      <p:sp>
        <p:nvSpPr>
          <p:cNvPr id="7" name="Text 5"/>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日本基準では定額償却が必要です。20年で年1.10億、10年なら年2.21億。合算営業利益4.90億（SM2.90億＋あどばる2.00億）に対し23〜45%を占め、配当原資にも影響します。</a:t>
            </a:r>
            <a:endParaRPr lang="en-US" sz="1050" dirty="0"/>
          </a:p>
        </p:txBody>
      </p:sp>
      <p:sp>
        <p:nvSpPr>
          <p:cNvPr id="8" name="Shape 6"/>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9" name="Text 7"/>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0" name="Text 8"/>
          <p:cNvSpPr txBox="1"/>
          <p:nvPr/>
        </p:nvSpPr>
        <p:spPr>
          <a:xfrm>
            <a:off x="722376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借入7.90億の返済原資がない</a:t>
            </a:r>
            <a:endParaRPr lang="en-US" sz="1450" dirty="0"/>
          </a:p>
        </p:txBody>
      </p:sp>
      <p:sp>
        <p:nvSpPr>
          <p:cNvPr id="11" name="Text 9"/>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子会社でなくなる時点で全額返済が必要ですが、合併は株式交換で現金が入りません。7.90億全額を新規借入で調達する必要があります。</a:t>
            </a:r>
            <a:endParaRPr lang="en-US" sz="1050" dirty="0"/>
          </a:p>
        </p:txBody>
      </p:sp>
      <p:sp>
        <p:nvSpPr>
          <p:cNvPr id="12" name="Shape 10"/>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3" name="Text 11"/>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4" name="Text 12"/>
          <p:cNvSpPr txBox="1"/>
          <p:nvPr/>
        </p:nvSpPr>
        <p:spPr>
          <a:xfrm>
            <a:off x="169164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第2位株主が競合TKP社</a:t>
            </a:r>
            <a:endParaRPr lang="en-US" sz="1450" dirty="0"/>
          </a:p>
        </p:txBody>
      </p:sp>
      <p:sp>
        <p:nvSpPr>
          <p:cNvPr id="15" name="Text 13"/>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TKPは現在21.06%の第2位株主。合併後も12.77%で残ります。競合が株主総会で議決権を持つ形になります。</a:t>
            </a:r>
            <a:endParaRPr lang="en-US" sz="1050" dirty="0"/>
          </a:p>
        </p:txBody>
      </p:sp>
      <p:sp>
        <p:nvSpPr>
          <p:cNvPr id="16" name="Shape 14"/>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17" name="Text 15"/>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18" name="Text 16"/>
          <p:cNvSpPr txBox="1"/>
          <p:nvPr/>
        </p:nvSpPr>
        <p:spPr>
          <a:xfrm>
            <a:off x="722376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流通株式比率25%基準</a:t>
            </a:r>
            <a:endParaRPr lang="en-US" sz="1450" dirty="0"/>
          </a:p>
        </p:txBody>
      </p:sp>
      <p:sp>
        <p:nvSpPr>
          <p:cNvPr id="19" name="Text 17"/>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合併後の流通株式比率は東証グロースの上場維持基準に抵触する可能性があります（改善期間1年）。中野が買い増すほど比率は下がります。</a:t>
            </a:r>
            <a:endParaRPr lang="en-US" sz="1050" dirty="0"/>
          </a:p>
        </p:txBody>
      </p:sp>
      <p:sp>
        <p:nvSpPr>
          <p:cNvPr id="20" name="Text 18"/>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④は見落としやすい点です。中野が持分を買い増すほど流通株式比率は下がり、上場維持基準に近づきます。支配権の確保と上場維持は、この一点で相反します。</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評価額と、支払通貨としての株価</a:t>
            </a:r>
            <a:endParaRPr lang="en-US" sz="2800" dirty="0"/>
          </a:p>
        </p:txBody>
      </p:sp>
      <p:sp>
        <p:nvSpPr>
          <p:cNvPr id="4" name="Shape 2"/>
          <p:cNvSpPr/>
          <p:nvPr/>
        </p:nvSpPr>
        <p:spPr>
          <a:xfrm>
            <a:off x="640080" y="1554480"/>
            <a:ext cx="5349240" cy="2487168"/>
          </a:xfrm>
          <a:prstGeom prst="roundRect">
            <a:avLst>
              <a:gd name="adj" fmla="val 220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14400" y="1755648"/>
            <a:ext cx="4754880" cy="274320"/>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あどばるの評価額</a:t>
            </a:r>
            <a:endParaRPr lang="en-US" sz="1350" dirty="0"/>
          </a:p>
        </p:txBody>
      </p:sp>
      <p:sp>
        <p:nvSpPr>
          <p:cNvPr id="6" name="Text 4"/>
          <p:cNvSpPr txBox="1"/>
          <p:nvPr/>
        </p:nvSpPr>
        <p:spPr>
          <a:xfrm>
            <a:off x="914400" y="221284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スペースマーケット社LOI</a:t>
            </a:r>
            <a:endParaRPr lang="en-US" sz="1150" dirty="0"/>
          </a:p>
        </p:txBody>
      </p:sp>
      <p:sp>
        <p:nvSpPr>
          <p:cNvPr id="7" name="Text 5"/>
          <p:cNvSpPr txBox="1"/>
          <p:nvPr/>
        </p:nvSpPr>
        <p:spPr>
          <a:xfrm>
            <a:off x="4206240" y="2176272"/>
            <a:ext cx="1463040" cy="329184"/>
          </a:xfrm>
          <a:prstGeom prst="rect">
            <a:avLst/>
          </a:prstGeom>
          <a:noFill/>
          <a:ln/>
        </p:spPr>
        <p:txBody>
          <a:bodyPr wrap="square" lIns="0" tIns="0" rIns="0" bIns="0" rtlCol="0" anchor="ctr"/>
          <a:lstStyle/>
          <a:p>
            <a:pPr algn="r" indent="0" marL="0">
              <a:buNone/>
            </a:pPr>
            <a:r>
              <a:rPr lang="en-US" sz="1600" b="1" dirty="0">
                <a:solidFill>
                  <a:srgbClr val="8A2E26"/>
                </a:solidFill>
                <a:latin typeface="Meiryo" pitchFamily="34" charset="0"/>
                <a:ea typeface="Meiryo" pitchFamily="34" charset="-122"/>
                <a:cs typeface="Meiryo" pitchFamily="34" charset="-120"/>
              </a:rPr>
              <a:t>18.0億円</a:t>
            </a:r>
            <a:endParaRPr lang="en-US" sz="1600" dirty="0"/>
          </a:p>
        </p:txBody>
      </p:sp>
      <p:sp>
        <p:nvSpPr>
          <p:cNvPr id="8" name="Text 6"/>
          <p:cNvSpPr txBox="1"/>
          <p:nvPr/>
        </p:nvSpPr>
        <p:spPr>
          <a:xfrm>
            <a:off x="914400" y="271576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MBOの前提評価（Pre）</a:t>
            </a:r>
            <a:endParaRPr lang="en-US" sz="1150" dirty="0"/>
          </a:p>
        </p:txBody>
      </p:sp>
      <p:sp>
        <p:nvSpPr>
          <p:cNvPr id="9" name="Text 7"/>
          <p:cNvSpPr txBox="1"/>
          <p:nvPr/>
        </p:nvSpPr>
        <p:spPr>
          <a:xfrm>
            <a:off x="4206240" y="2679192"/>
            <a:ext cx="1463040" cy="329184"/>
          </a:xfrm>
          <a:prstGeom prst="rect">
            <a:avLst/>
          </a:prstGeom>
          <a:noFill/>
          <a:ln/>
        </p:spPr>
        <p:txBody>
          <a:bodyPr wrap="square" lIns="0" tIns="0" rIns="0" bIns="0" rtlCol="0" anchor="ctr"/>
          <a:lstStyle/>
          <a:p>
            <a:pPr algn="r" indent="0" marL="0">
              <a:buNone/>
            </a:pPr>
            <a:r>
              <a:rPr lang="en-US" sz="1600" b="1" dirty="0">
                <a:solidFill>
                  <a:srgbClr val="1E2A38"/>
                </a:solidFill>
                <a:latin typeface="Meiryo" pitchFamily="34" charset="0"/>
                <a:ea typeface="Meiryo" pitchFamily="34" charset="-122"/>
                <a:cs typeface="Meiryo" pitchFamily="34" charset="-120"/>
              </a:rPr>
              <a:t>20.0億円</a:t>
            </a:r>
            <a:endParaRPr lang="en-US" sz="1600" dirty="0"/>
          </a:p>
        </p:txBody>
      </p:sp>
      <p:sp>
        <p:nvSpPr>
          <p:cNvPr id="10" name="Text 8"/>
          <p:cNvSpPr txBox="1"/>
          <p:nvPr/>
        </p:nvSpPr>
        <p:spPr>
          <a:xfrm>
            <a:off x="914400" y="321868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MBO取引後の株主価値</a:t>
            </a:r>
            <a:endParaRPr lang="en-US" sz="1150" dirty="0"/>
          </a:p>
        </p:txBody>
      </p:sp>
      <p:sp>
        <p:nvSpPr>
          <p:cNvPr id="11" name="Text 9"/>
          <p:cNvSpPr txBox="1"/>
          <p:nvPr/>
        </p:nvSpPr>
        <p:spPr>
          <a:xfrm>
            <a:off x="4206240" y="3182112"/>
            <a:ext cx="1463040" cy="329184"/>
          </a:xfrm>
          <a:prstGeom prst="rect">
            <a:avLst/>
          </a:prstGeom>
          <a:noFill/>
          <a:ln/>
        </p:spPr>
        <p:txBody>
          <a:bodyPr wrap="square" lIns="0" tIns="0" rIns="0" bIns="0" rtlCol="0" anchor="ctr"/>
          <a:lstStyle/>
          <a:p>
            <a:pPr algn="r" indent="0" marL="0">
              <a:buNone/>
            </a:pPr>
            <a:r>
              <a:rPr lang="en-US" sz="1600" b="1" dirty="0">
                <a:solidFill>
                  <a:srgbClr val="2C6A4E"/>
                </a:solidFill>
                <a:latin typeface="Meiryo" pitchFamily="34" charset="0"/>
                <a:ea typeface="Meiryo" pitchFamily="34" charset="-122"/>
                <a:cs typeface="Meiryo" pitchFamily="34" charset="-120"/>
              </a:rPr>
              <a:t>26.85億円</a:t>
            </a:r>
            <a:endParaRPr lang="en-US" sz="1600" dirty="0"/>
          </a:p>
        </p:txBody>
      </p:sp>
      <p:sp>
        <p:nvSpPr>
          <p:cNvPr id="12" name="Text 10"/>
          <p:cNvSpPr txBox="1"/>
          <p:nvPr/>
        </p:nvSpPr>
        <p:spPr>
          <a:xfrm>
            <a:off x="914400" y="3621024"/>
            <a:ext cx="4800600" cy="41148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LOIの18億円は、MBOの前提である20億円を下回ります。まず評価額そのものが交渉の対象です。</a:t>
            </a:r>
            <a:endParaRPr lang="en-US" sz="1050" dirty="0"/>
          </a:p>
        </p:txBody>
      </p:sp>
      <p:sp>
        <p:nvSpPr>
          <p:cNvPr id="13" name="Shape 11"/>
          <p:cNvSpPr/>
          <p:nvPr/>
        </p:nvSpPr>
        <p:spPr>
          <a:xfrm>
            <a:off x="6172200" y="1554480"/>
            <a:ext cx="5349240" cy="2487168"/>
          </a:xfrm>
          <a:prstGeom prst="roundRect">
            <a:avLst>
              <a:gd name="adj" fmla="val 220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4" name="Text 12"/>
          <p:cNvSpPr txBox="1"/>
          <p:nvPr/>
        </p:nvSpPr>
        <p:spPr>
          <a:xfrm>
            <a:off x="6446520" y="1755648"/>
            <a:ext cx="4754880" cy="274320"/>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受け取る通貨（SM株価）の状況</a:t>
            </a:r>
            <a:endParaRPr lang="en-US" sz="1350" dirty="0"/>
          </a:p>
        </p:txBody>
      </p:sp>
      <p:sp>
        <p:nvSpPr>
          <p:cNvPr id="15" name="Text 13"/>
          <p:cNvSpPr txBox="1"/>
          <p:nvPr/>
        </p:nvSpPr>
        <p:spPr>
          <a:xfrm>
            <a:off x="6446520" y="221284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年初来高値（1月20日）</a:t>
            </a:r>
            <a:endParaRPr lang="en-US" sz="1150" dirty="0"/>
          </a:p>
        </p:txBody>
      </p:sp>
      <p:sp>
        <p:nvSpPr>
          <p:cNvPr id="16" name="Text 14"/>
          <p:cNvSpPr txBox="1"/>
          <p:nvPr/>
        </p:nvSpPr>
        <p:spPr>
          <a:xfrm>
            <a:off x="9738360" y="2176272"/>
            <a:ext cx="1463040" cy="329184"/>
          </a:xfrm>
          <a:prstGeom prst="rect">
            <a:avLst/>
          </a:prstGeom>
          <a:noFill/>
          <a:ln/>
        </p:spPr>
        <p:txBody>
          <a:bodyPr wrap="square" lIns="0" tIns="0" rIns="0" bIns="0" rtlCol="0" anchor="ctr"/>
          <a:lstStyle/>
          <a:p>
            <a:pPr algn="r" indent="0" marL="0">
              <a:buNone/>
            </a:pPr>
            <a:r>
              <a:rPr lang="en-US" sz="1600" b="1" dirty="0">
                <a:solidFill>
                  <a:srgbClr val="7C8A99"/>
                </a:solidFill>
                <a:latin typeface="Meiryo" pitchFamily="34" charset="0"/>
                <a:ea typeface="Meiryo" pitchFamily="34" charset="-122"/>
                <a:cs typeface="Meiryo" pitchFamily="34" charset="-120"/>
              </a:rPr>
              <a:t>328円</a:t>
            </a:r>
            <a:endParaRPr lang="en-US" sz="1600" dirty="0"/>
          </a:p>
        </p:txBody>
      </p:sp>
      <p:sp>
        <p:nvSpPr>
          <p:cNvPr id="17" name="Text 15"/>
          <p:cNvSpPr txBox="1"/>
          <p:nvPr/>
        </p:nvSpPr>
        <p:spPr>
          <a:xfrm>
            <a:off x="6446520" y="271576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6ヶ月平均（推定）</a:t>
            </a:r>
            <a:endParaRPr lang="en-US" sz="1150" dirty="0"/>
          </a:p>
        </p:txBody>
      </p:sp>
      <p:sp>
        <p:nvSpPr>
          <p:cNvPr id="18" name="Text 16"/>
          <p:cNvSpPr txBox="1"/>
          <p:nvPr/>
        </p:nvSpPr>
        <p:spPr>
          <a:xfrm>
            <a:off x="9738360" y="2679192"/>
            <a:ext cx="1463040" cy="329184"/>
          </a:xfrm>
          <a:prstGeom prst="rect">
            <a:avLst/>
          </a:prstGeom>
          <a:noFill/>
          <a:ln/>
        </p:spPr>
        <p:txBody>
          <a:bodyPr wrap="square" lIns="0" tIns="0" rIns="0" bIns="0" rtlCol="0" anchor="ctr"/>
          <a:lstStyle/>
          <a:p>
            <a:pPr algn="r" indent="0" marL="0">
              <a:buNone/>
            </a:pPr>
            <a:r>
              <a:rPr lang="en-US" sz="1600" b="1" dirty="0">
                <a:solidFill>
                  <a:srgbClr val="3D4E60"/>
                </a:solidFill>
                <a:latin typeface="Meiryo" pitchFamily="34" charset="0"/>
                <a:ea typeface="Meiryo" pitchFamily="34" charset="-122"/>
                <a:cs typeface="Meiryo" pitchFamily="34" charset="-120"/>
              </a:rPr>
              <a:t>約240円</a:t>
            </a:r>
            <a:endParaRPr lang="en-US" sz="1600" dirty="0"/>
          </a:p>
        </p:txBody>
      </p:sp>
      <p:sp>
        <p:nvSpPr>
          <p:cNvPr id="19" name="Text 17"/>
          <p:cNvSpPr txBox="1"/>
          <p:nvPr/>
        </p:nvSpPr>
        <p:spPr>
          <a:xfrm>
            <a:off x="6446520" y="321868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3ヶ月平均（推定）</a:t>
            </a:r>
            <a:endParaRPr lang="en-US" sz="1150" dirty="0"/>
          </a:p>
        </p:txBody>
      </p:sp>
      <p:sp>
        <p:nvSpPr>
          <p:cNvPr id="20" name="Text 18"/>
          <p:cNvSpPr txBox="1"/>
          <p:nvPr/>
        </p:nvSpPr>
        <p:spPr>
          <a:xfrm>
            <a:off x="9738360" y="3182112"/>
            <a:ext cx="1463040" cy="329184"/>
          </a:xfrm>
          <a:prstGeom prst="rect">
            <a:avLst/>
          </a:prstGeom>
          <a:noFill/>
          <a:ln/>
        </p:spPr>
        <p:txBody>
          <a:bodyPr wrap="square" lIns="0" tIns="0" rIns="0" bIns="0" rtlCol="0" anchor="ctr"/>
          <a:lstStyle/>
          <a:p>
            <a:pPr algn="r" indent="0" marL="0">
              <a:buNone/>
            </a:pPr>
            <a:r>
              <a:rPr lang="en-US" sz="1600" b="1" dirty="0">
                <a:solidFill>
                  <a:srgbClr val="6E2639"/>
                </a:solidFill>
                <a:latin typeface="Meiryo" pitchFamily="34" charset="0"/>
                <a:ea typeface="Meiryo" pitchFamily="34" charset="-122"/>
                <a:cs typeface="Meiryo" pitchFamily="34" charset="-120"/>
              </a:rPr>
              <a:t>約229円</a:t>
            </a:r>
            <a:endParaRPr lang="en-US" sz="1600" dirty="0"/>
          </a:p>
        </p:txBody>
      </p:sp>
      <p:sp>
        <p:nvSpPr>
          <p:cNvPr id="21" name="Text 19"/>
          <p:cNvSpPr txBox="1"/>
          <p:nvPr/>
        </p:nvSpPr>
        <p:spPr>
          <a:xfrm>
            <a:off x="6446520" y="3621024"/>
            <a:ext cx="4800600" cy="41148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対価は現金ではなく、この株式です。年初来で3割下落しており、買い増しの原資を借りる際の担保価値にも直結します。</a:t>
            </a:r>
            <a:endParaRPr lang="en-US" sz="1050" dirty="0"/>
          </a:p>
        </p:txBody>
      </p:sp>
      <p:sp>
        <p:nvSpPr>
          <p:cNvPr id="22" name="Shape 20"/>
          <p:cNvSpPr/>
          <p:nvPr/>
        </p:nvSpPr>
        <p:spPr>
          <a:xfrm>
            <a:off x="640080" y="4187952"/>
            <a:ext cx="10881360" cy="1783080"/>
          </a:xfrm>
          <a:prstGeom prst="roundRect">
            <a:avLst>
              <a:gd name="adj" fmla="val 3077"/>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23" name="Text 21"/>
          <p:cNvSpPr txBox="1"/>
          <p:nvPr/>
        </p:nvSpPr>
        <p:spPr>
          <a:xfrm>
            <a:off x="914400" y="4352544"/>
            <a:ext cx="5486400" cy="292608"/>
          </a:xfrm>
          <a:prstGeom prst="rect">
            <a:avLst/>
          </a:prstGeom>
          <a:noFill/>
          <a:ln/>
        </p:spPr>
        <p:txBody>
          <a:bodyPr wrap="square" lIns="0" tIns="0" rIns="0" bIns="0" rtlCol="0" anchor="ctr"/>
          <a:lstStyle/>
          <a:p>
            <a:pPr indent="0" marL="0">
              <a:buNone/>
            </a:pPr>
            <a:r>
              <a:rPr lang="en-US" sz="1350" b="1" dirty="0">
                <a:solidFill>
                  <a:srgbClr val="8F5510"/>
                </a:solidFill>
                <a:latin typeface="Meiryo" pitchFamily="34" charset="0"/>
                <a:ea typeface="Meiryo" pitchFamily="34" charset="-122"/>
                <a:cs typeface="Meiryo" pitchFamily="34" charset="-120"/>
              </a:rPr>
              <a:t>交渉上、押さえておきたい点</a:t>
            </a:r>
            <a:endParaRPr lang="en-US" sz="1350" dirty="0"/>
          </a:p>
        </p:txBody>
      </p:sp>
      <p:sp>
        <p:nvSpPr>
          <p:cNvPr id="24" name="Shape 22"/>
          <p:cNvSpPr/>
          <p:nvPr/>
        </p:nvSpPr>
        <p:spPr>
          <a:xfrm>
            <a:off x="914400" y="4773168"/>
            <a:ext cx="146304" cy="146304"/>
          </a:xfrm>
          <a:prstGeom prst="roundRect">
            <a:avLst>
              <a:gd name="adj" fmla="val 50000"/>
            </a:avLst>
          </a:prstGeom>
          <a:solidFill>
            <a:srgbClr val="8F5510"/>
          </a:solidFill>
          <a:ln/>
        </p:spPr>
      </p:sp>
      <p:sp>
        <p:nvSpPr>
          <p:cNvPr id="25" name="Text 23"/>
          <p:cNvSpPr txBox="1"/>
          <p:nvPr/>
        </p:nvSpPr>
        <p:spPr>
          <a:xfrm>
            <a:off x="1188720"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基準株価は3ヶ月平均を</a:t>
            </a:r>
            <a:endParaRPr lang="en-US" sz="1150" dirty="0"/>
          </a:p>
        </p:txBody>
      </p:sp>
      <p:sp>
        <p:nvSpPr>
          <p:cNvPr id="26" name="Text 24"/>
          <p:cNvSpPr txBox="1"/>
          <p:nvPr/>
        </p:nvSpPr>
        <p:spPr>
          <a:xfrm>
            <a:off x="1188720"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3ヶ月平均229円は6ヶ月平均240円より低く、同じ評価額でも交付される株数が増えます。当社に有利な側です。</a:t>
            </a:r>
            <a:endParaRPr lang="en-US" sz="950" dirty="0"/>
          </a:p>
        </p:txBody>
      </p:sp>
      <p:sp>
        <p:nvSpPr>
          <p:cNvPr id="27" name="Shape 25"/>
          <p:cNvSpPr/>
          <p:nvPr/>
        </p:nvSpPr>
        <p:spPr>
          <a:xfrm>
            <a:off x="4498848" y="4773168"/>
            <a:ext cx="146304" cy="146304"/>
          </a:xfrm>
          <a:prstGeom prst="roundRect">
            <a:avLst>
              <a:gd name="adj" fmla="val 50000"/>
            </a:avLst>
          </a:prstGeom>
          <a:solidFill>
            <a:srgbClr val="8F5510"/>
          </a:solidFill>
          <a:ln/>
        </p:spPr>
      </p:sp>
      <p:sp>
        <p:nvSpPr>
          <p:cNvPr id="28" name="Text 26"/>
          <p:cNvSpPr txBox="1"/>
          <p:nvPr/>
        </p:nvSpPr>
        <p:spPr>
          <a:xfrm>
            <a:off x="4773168"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評価額は20億円を下限に</a:t>
            </a:r>
            <a:endParaRPr lang="en-US" sz="1150" dirty="0"/>
          </a:p>
        </p:txBody>
      </p:sp>
      <p:sp>
        <p:nvSpPr>
          <p:cNvPr id="29" name="Text 27"/>
          <p:cNvSpPr txBox="1"/>
          <p:nvPr/>
        </p:nvSpPr>
        <p:spPr>
          <a:xfrm>
            <a:off x="4773168"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MBOで既存株主に20億円評価で退出いただく前提と整合しません。18億円では社内説明が立ちません。</a:t>
            </a:r>
            <a:endParaRPr lang="en-US" sz="950" dirty="0"/>
          </a:p>
        </p:txBody>
      </p:sp>
      <p:sp>
        <p:nvSpPr>
          <p:cNvPr id="30" name="Shape 28"/>
          <p:cNvSpPr/>
          <p:nvPr/>
        </p:nvSpPr>
        <p:spPr>
          <a:xfrm>
            <a:off x="8083296" y="4773168"/>
            <a:ext cx="146304" cy="146304"/>
          </a:xfrm>
          <a:prstGeom prst="roundRect">
            <a:avLst>
              <a:gd name="adj" fmla="val 50000"/>
            </a:avLst>
          </a:prstGeom>
          <a:solidFill>
            <a:srgbClr val="8F5510"/>
          </a:solidFill>
          <a:ln/>
        </p:spPr>
      </p:sp>
      <p:sp>
        <p:nvSpPr>
          <p:cNvPr id="31" name="Text 29"/>
          <p:cNvSpPr txBox="1"/>
          <p:nvPr/>
        </p:nvSpPr>
        <p:spPr>
          <a:xfrm>
            <a:off x="8357616"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重松氏の譲渡は書面で</a:t>
            </a:r>
            <a:endParaRPr lang="en-US" sz="1150" dirty="0"/>
          </a:p>
        </p:txBody>
      </p:sp>
      <p:sp>
        <p:nvSpPr>
          <p:cNvPr id="32" name="Text 30"/>
          <p:cNvSpPr txBox="1"/>
          <p:nvPr/>
        </p:nvSpPr>
        <p:spPr>
          <a:xfrm>
            <a:off x="8357616"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会長就任と持分譲渡の意向は、時期・価格・数量を含めて覚書にしておく必要があります。口頭の前提のままでは資金計画が組めません。</a:t>
            </a:r>
            <a:endParaRPr lang="en-US" sz="950" dirty="0"/>
          </a:p>
        </p:txBody>
      </p:sp>
      <p:sp>
        <p:nvSpPr>
          <p:cNvPr id="33" name="Text 31"/>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3ヶ月・6ヶ月平均株価は公開情報からの推定値です（3ヶ月レンジ225〜235円、6ヶ月レンジ235〜250円）。確定値は証券会社経由でご確認ください。</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提案</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MBO完了後に合併すれば、条件は変わります</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17904"/>
          <a:ext cx="10881360" cy="914400"/>
        </p:xfrm>
        <a:graphic>
          <a:graphicData uri="http://schemas.openxmlformats.org/drawingml/2006/table">
            <a:tbl>
              <a:tblPr/>
              <a:tblGrid>
                <a:gridCol w="3383280"/>
                <a:gridCol w="3749040"/>
                <a:gridCol w="3749040"/>
              </a:tblGrid>
              <a:tr h="379476">
                <a:tc>
                  <a:txBody>
                    <a:bodyPr/>
                    <a:lstStyle/>
                    <a:p>
                      <a:pPr indent="0" marL="0">
                        <a:buNone/>
                      </a:pP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いま合併し、6.10億で買い増す</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MBO完了後に合併する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あどばるの評価額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18.0億円（LOI）</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26.85億円（取引後株主価値）</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 個人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27.79%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13.44%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中野ファンド</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11.11%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　中野陣営 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27.79%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24.55%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パートナー</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24.55%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　あどばる側 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27.79%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49.09%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ビジョン社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18.43%（筆頭株主）</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0%（名簿から消滅）</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ビジョン社借入 7.90億</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全額を新規借入で置換</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完済済み</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79476">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中野の自己資金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6.10億円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6.10億円（同額）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504688"/>
            <a:ext cx="10881360" cy="457200"/>
          </a:xfrm>
          <a:prstGeom prst="rect">
            <a:avLst/>
          </a:prstGeom>
          <a:noFill/>
          <a:ln/>
        </p:spPr>
        <p:txBody>
          <a:bodyPr wrap="square" lIns="0" tIns="0" rIns="0" bIns="0" rtlCol="0" anchor="ctr"/>
          <a:lstStyle/>
          <a:p>
            <a:pPr indent="0" marL="0">
              <a:buNone/>
            </a:pPr>
            <a:r>
              <a:rPr lang="en-US" sz="1250" b="1" dirty="0">
                <a:solidFill>
                  <a:srgbClr val="6E2639"/>
                </a:solidFill>
                <a:latin typeface="Meiryo" pitchFamily="34" charset="0"/>
                <a:ea typeface="Meiryo" pitchFamily="34" charset="-122"/>
                <a:cs typeface="Meiryo" pitchFamily="34" charset="-120"/>
              </a:rPr>
              <a:t>持分の数字だけを見れば27.79%のほうが高く見えます。しかし中身は、ビジョン社を抱えたままの27.79%と、ビジョン社を清算しパートナーを伴った49.09%の違いです。</a:t>
            </a:r>
            <a:endParaRPr lang="en-US" sz="1250" dirty="0"/>
          </a:p>
        </p:txBody>
      </p:sp>
      <p:sp>
        <p:nvSpPr>
          <p:cNvPr id="6" name="Text 3"/>
          <p:cNvSpPr txBox="1"/>
          <p:nvPr/>
        </p:nvSpPr>
        <p:spPr>
          <a:xfrm>
            <a:off x="640080" y="6089904"/>
            <a:ext cx="10881360" cy="36576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MBO完了後の合併はSM株価230円・あどばる自己株式127,616株の無対価消却を前提とした試算です。評価額26.85億円は先方との合意価格ではありません。</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対応方針</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先方にどうお返しするか</a:t>
            </a:r>
            <a:endParaRPr lang="en-US" sz="2800" dirty="0"/>
          </a:p>
        </p:txBody>
      </p:sp>
      <p:sp>
        <p:nvSpPr>
          <p:cNvPr id="4" name="Shape 2"/>
          <p:cNvSpPr/>
          <p:nvPr/>
        </p:nvSpPr>
        <p:spPr>
          <a:xfrm>
            <a:off x="640080" y="157276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847088"/>
            <a:ext cx="548640" cy="548640"/>
          </a:xfrm>
          <a:prstGeom prst="roundRect">
            <a:avLst>
              <a:gd name="adj" fmla="val 50000"/>
            </a:avLst>
          </a:prstGeom>
          <a:solidFill>
            <a:srgbClr val="6E2639"/>
          </a:solidFill>
          <a:ln/>
        </p:spPr>
      </p:sp>
      <p:sp>
        <p:nvSpPr>
          <p:cNvPr id="6" name="Text 4"/>
          <p:cNvSpPr txBox="1"/>
          <p:nvPr/>
        </p:nvSpPr>
        <p:spPr>
          <a:xfrm>
            <a:off x="960120" y="184708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737360" y="177393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重松氏の意向を、まず書面にする</a:t>
            </a:r>
            <a:endParaRPr lang="en-US" sz="1500" dirty="0"/>
          </a:p>
        </p:txBody>
      </p:sp>
      <p:sp>
        <p:nvSpPr>
          <p:cNvPr id="8" name="Text 6"/>
          <p:cNvSpPr txBox="1"/>
          <p:nvPr/>
        </p:nvSpPr>
        <p:spPr>
          <a:xfrm>
            <a:off x="1737360" y="212140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会長就任の時期、譲渡する株数、価格の考え方。この3点を覚書にしていただきます。口頭の前提のままでは、銀行に資金計画として持ち込めません。</a:t>
            </a:r>
            <a:endParaRPr lang="en-US" sz="1050" dirty="0"/>
          </a:p>
        </p:txBody>
      </p:sp>
      <p:sp>
        <p:nvSpPr>
          <p:cNvPr id="9" name="Shape 7"/>
          <p:cNvSpPr/>
          <p:nvPr/>
        </p:nvSpPr>
        <p:spPr>
          <a:xfrm>
            <a:off x="640080" y="280720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Shape 8"/>
          <p:cNvSpPr/>
          <p:nvPr/>
        </p:nvSpPr>
        <p:spPr>
          <a:xfrm>
            <a:off x="960120" y="3081528"/>
            <a:ext cx="548640" cy="548640"/>
          </a:xfrm>
          <a:prstGeom prst="roundRect">
            <a:avLst>
              <a:gd name="adj" fmla="val 50000"/>
            </a:avLst>
          </a:prstGeom>
          <a:solidFill>
            <a:srgbClr val="2C6A4E"/>
          </a:solidFill>
          <a:ln/>
        </p:spPr>
      </p:sp>
      <p:sp>
        <p:nvSpPr>
          <p:cNvPr id="11" name="Text 9"/>
          <p:cNvSpPr txBox="1"/>
          <p:nvPr/>
        </p:nvSpPr>
        <p:spPr>
          <a:xfrm>
            <a:off x="960120" y="30815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2" name="Text 10"/>
          <p:cNvSpPr txBox="1"/>
          <p:nvPr/>
        </p:nvSpPr>
        <p:spPr>
          <a:xfrm>
            <a:off x="1737360" y="300837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合併の意思はあると伝え、順序だけ相談する</a:t>
            </a:r>
            <a:endParaRPr lang="en-US" sz="1500" dirty="0"/>
          </a:p>
        </p:txBody>
      </p:sp>
      <p:sp>
        <p:nvSpPr>
          <p:cNvPr id="13" name="Text 11"/>
          <p:cNvSpPr txBox="1"/>
          <p:nvPr/>
        </p:nvSpPr>
        <p:spPr>
          <a:xfrm>
            <a:off x="1737360" y="335584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反対ではないこと、事業面のシナジーは理解していることを明確に伝えたうえで、親会社との資本整理（MBO）を先に済ませたい旨をお伝えします。</a:t>
            </a:r>
            <a:endParaRPr lang="en-US" sz="1050" dirty="0"/>
          </a:p>
        </p:txBody>
      </p:sp>
      <p:sp>
        <p:nvSpPr>
          <p:cNvPr id="14" name="Shape 12"/>
          <p:cNvSpPr/>
          <p:nvPr/>
        </p:nvSpPr>
        <p:spPr>
          <a:xfrm>
            <a:off x="640080" y="404164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Shape 13"/>
          <p:cNvSpPr/>
          <p:nvPr/>
        </p:nvSpPr>
        <p:spPr>
          <a:xfrm>
            <a:off x="960120" y="4315968"/>
            <a:ext cx="548640" cy="548640"/>
          </a:xfrm>
          <a:prstGeom prst="roundRect">
            <a:avLst>
              <a:gd name="adj" fmla="val 50000"/>
            </a:avLst>
          </a:prstGeom>
          <a:solidFill>
            <a:srgbClr val="6E2639"/>
          </a:solidFill>
          <a:ln/>
        </p:spPr>
      </p:sp>
      <p:sp>
        <p:nvSpPr>
          <p:cNvPr id="16" name="Text 14"/>
          <p:cNvSpPr txBox="1"/>
          <p:nvPr/>
        </p:nvSpPr>
        <p:spPr>
          <a:xfrm>
            <a:off x="960120" y="431596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7" name="Text 15"/>
          <p:cNvSpPr txBox="1"/>
          <p:nvPr/>
        </p:nvSpPr>
        <p:spPr>
          <a:xfrm>
            <a:off x="1737360" y="424281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条件面の論点は、いまのうちに投げておく</a:t>
            </a:r>
            <a:endParaRPr lang="en-US" sz="1500" dirty="0"/>
          </a:p>
        </p:txBody>
      </p:sp>
      <p:sp>
        <p:nvSpPr>
          <p:cNvPr id="18" name="Text 16"/>
          <p:cNvSpPr txBox="1"/>
          <p:nvPr/>
        </p:nvSpPr>
        <p:spPr>
          <a:xfrm>
            <a:off x="1737360" y="459028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評価額18億円の根拠、基準株価を3ヶ月平均とすること、のれん償却の負担配分。あわせて同社の有利子負債の内訳と直近四半期の貸借対照表の開示を求めます。</a:t>
            </a:r>
            <a:endParaRPr lang="en-US" sz="1050" dirty="0"/>
          </a:p>
        </p:txBody>
      </p:sp>
      <p:sp>
        <p:nvSpPr>
          <p:cNvPr id="19" name="Shape 17"/>
          <p:cNvSpPr/>
          <p:nvPr/>
        </p:nvSpPr>
        <p:spPr>
          <a:xfrm>
            <a:off x="640080" y="5349240"/>
            <a:ext cx="10881360" cy="960120"/>
          </a:xfrm>
          <a:prstGeom prst="roundRect">
            <a:avLst>
              <a:gd name="adj" fmla="val 5714"/>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60120" y="5504688"/>
            <a:ext cx="3657600" cy="274320"/>
          </a:xfrm>
          <a:prstGeom prst="rect">
            <a:avLst/>
          </a:prstGeom>
          <a:noFill/>
          <a:ln/>
        </p:spPr>
        <p:txBody>
          <a:bodyPr wrap="square" lIns="0" tIns="0" rIns="0" bIns="0" rtlCol="0" anchor="ctr"/>
          <a:lstStyle/>
          <a:p>
            <a:pPr indent="0" marL="0">
              <a:buNone/>
            </a:pPr>
            <a:r>
              <a:rPr lang="en-US" sz="1250" b="1" dirty="0">
                <a:solidFill>
                  <a:srgbClr val="2C6A4E"/>
                </a:solidFill>
                <a:latin typeface="Meiryo" pitchFamily="34" charset="0"/>
                <a:ea typeface="Meiryo" pitchFamily="34" charset="-122"/>
                <a:cs typeface="Meiryo" pitchFamily="34" charset="-120"/>
              </a:rPr>
              <a:t>仮に合併を先行させる場合の条件</a:t>
            </a:r>
            <a:endParaRPr lang="en-US" sz="1250" dirty="0"/>
          </a:p>
        </p:txBody>
      </p:sp>
      <p:sp>
        <p:nvSpPr>
          <p:cNvPr id="21" name="Text 19"/>
          <p:cNvSpPr txBox="1"/>
          <p:nvPr/>
        </p:nvSpPr>
        <p:spPr>
          <a:xfrm>
            <a:off x="960120" y="5806440"/>
            <a:ext cx="10241280" cy="36576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6.10億円は相対取得ではなく第三者割当増資で入れます。持分は27.79%から24.52%に下がりますが、資金が会社に入り、金融機関に説明できる形になります。</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2026-09-24T00:23:34Z</dcterms:created>
  <dcterms:modified xsi:type="dcterms:W3CDTF">2026-09-24T00:23:34Z</dcterms:modified>
</cp:coreProperties>
</file>