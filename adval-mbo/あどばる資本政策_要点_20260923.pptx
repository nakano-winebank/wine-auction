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2A38"/>
                </a:solidFill>
                <a:latin typeface="Meiryo"/>
              </a:defRPr>
            </a:pPr>
            <a:r>
              <a:rPr sz="1300" b="0" i="0" u="none" strike="noStrike">
                <a:solidFill>
                  <a:srgbClr val="1E2A38"/>
                </a:solidFill>
                <a:latin typeface="Meiryo"/>
              </a:rPr>
              <a:t>純資産と有利子負債の変化（億円）</a:t>
            </a:r>
          </a:p>
        </c:rich>
      </c:tx>
      <c:layout/>
      <c:overlay val="0"/>
    </c:title>
    <c:autoTitleDeleted val="0"/>
    <c:plotArea>
      <c:layout/>
      <c:barChart>
        <c:barDir val="col"/>
        <c:grouping val="clustered"/>
        <c:varyColors val="0"/>
        <c:ser>
          <c:idx val="0"/>
          <c:order val="0"/>
          <c:tx>
            <c:strRef>
              <c:f>Sheet1!$B$1</c:f>
              <c:strCache>
                <c:ptCount val="1"/>
                <c:pt idx="0">
                  <c:v>取引前</c:v>
                </c:pt>
              </c:strCache>
            </c:strRef>
          </c:tx>
          <c:spPr>
            <a:solidFill>
              <a:srgbClr val="7C8A99"/>
            </a:solidFill>
            <a:effectLst/>
          </c:spPr>
          <c:invertIfNegative val="0"/>
          <c:dLbls>
            <c:numFmt formatCode="0.00" sourceLinked="0"/>
            <c:txPr>
              <a:bodyPr/>
              <a:lstStyle/>
              <a:p>
                <a:pPr>
                  <a:defRPr b="0" i="0" strike="noStrike" sz="900" u="none">
                    <a:solidFill>
                      <a:srgbClr val="1E2A38"/>
                    </a:solidFill>
                    <a:latin typeface="Meiryo"/>
                  </a:defRPr>
                </a:pPr>
              </a:p>
            </c:txPr>
            <c:showLegendKey val="0"/>
            <c:showVal val="1"/>
            <c:showCatName val="0"/>
            <c:showSerName val="0"/>
            <c:showPercent val="0"/>
            <c:showBubbleSize val="0"/>
            <c:showLeaderLines val="0"/>
          </c:dLbls>
          <c:cat>
            <c:multiLvlStrRef>
              <c:f>Sheet1!$A$2:$A$3</c:f>
              <c:multiLvlStrCache>
                <c:ptCount val="2"/>
                <c:lvl>
                  <c:pt idx="0">
                    <c:v>純資産</c:v>
                  </c:pt>
                  <c:pt idx="1">
                    <c:v>有利子負債</c:v>
                  </c:pt>
                </c:lvl>
              </c:multiLvlStrCache>
            </c:multiLvlStrRef>
          </c:cat>
          <c:val>
            <c:numRef>
              <c:f>Sheet1!$B$2:$B$3</c:f>
              <c:numCache>
                <c:formatCode>General</c:formatCode>
                <c:ptCount val="2"/>
                <c:pt idx="0">
                  <c:v>-2.59</c:v>
                </c:pt>
                <c:pt idx="1">
                  <c:v>10.97</c:v>
                </c:pt>
              </c:numCache>
            </c:numRef>
          </c:val>
        </c:ser>
        <c:ser>
          <c:idx val="1"/>
          <c:order val="1"/>
          <c:tx>
            <c:strRef>
              <c:f>Sheet1!$C$1</c:f>
              <c:strCache>
                <c:ptCount val="1"/>
                <c:pt idx="0">
                  <c:v>取引後</c:v>
                </c:pt>
              </c:strCache>
            </c:strRef>
          </c:tx>
          <c:spPr>
            <a:solidFill>
              <a:srgbClr val="6E2639"/>
            </a:solidFill>
            <a:effectLst/>
          </c:spPr>
          <c:invertIfNegative val="0"/>
          <c:dLbls>
            <c:numFmt formatCode="0.00" sourceLinked="0"/>
            <c:txPr>
              <a:bodyPr/>
              <a:lstStyle/>
              <a:p>
                <a:pPr>
                  <a:defRPr b="0" i="0" strike="noStrike" sz="900" u="none">
                    <a:solidFill>
                      <a:srgbClr val="1E2A38"/>
                    </a:solidFill>
                    <a:latin typeface="Meiryo"/>
                  </a:defRPr>
                </a:pPr>
              </a:p>
            </c:txPr>
            <c:showLegendKey val="0"/>
            <c:showVal val="1"/>
            <c:showCatName val="0"/>
            <c:showSerName val="0"/>
            <c:showPercent val="0"/>
            <c:showBubbleSize val="0"/>
            <c:showLeaderLines val="0"/>
          </c:dLbls>
          <c:cat>
            <c:multiLvlStrRef>
              <c:f>Sheet1!$A$2:$A$3</c:f>
              <c:multiLvlStrCache>
                <c:ptCount val="2"/>
                <c:lvl>
                  <c:pt idx="0">
                    <c:v>純資産</c:v>
                  </c:pt>
                  <c:pt idx="1">
                    <c:v>有利子負債</c:v>
                  </c:pt>
                </c:lvl>
              </c:multiLvlStrCache>
            </c:multiLvlStrRef>
          </c:cat>
          <c:val>
            <c:numRef>
              <c:f>Sheet1!$C$2:$C$3</c:f>
              <c:numCache>
                <c:formatCode>General</c:formatCode>
                <c:ptCount val="2"/>
                <c:pt idx="0">
                  <c:v>3.9</c:v>
                </c:pt>
                <c:pt idx="1">
                  <c:v>6.07</c:v>
                </c:pt>
              </c:numCache>
            </c:numRef>
          </c:val>
        </c:ser>
        <c:dLbls>
          <c:numFmt formatCode="0.00" sourceLinked="0"/>
          <c:txPr>
            <a:bodyPr/>
            <a:lstStyle/>
            <a:p>
              <a:pPr>
                <a:defRPr b="0" i="0" strike="noStrike" sz="900" u="none">
                  <a:solidFill>
                    <a:srgbClr val="1E2A38"/>
                  </a:solidFill>
                  <a:latin typeface="Meiryo"/>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3D4E60"/>
                </a:solidFill>
                <a:latin typeface="Meiryo"/>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9E0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7C8A99"/>
                </a:solidFill>
                <a:latin typeface="Meiryo"/>
              </a:defRPr>
            </a:pPr>
            <a:endParaRPr lang="en-US"/>
          </a:p>
        </c:txPr>
        <c:crossAx val="2094734554"/>
        <c:crosses val="autoZero"/>
        <c:crossBetween val="between"/>
      </c:valAx>
      <c:spPr>
        <a:noFill/>
        <a:ln>
          <a:noFill/>
        </a:ln>
        <a:effectLst/>
      </c:spPr>
    </c:plotArea>
    <c:legend>
      <c:legendPos val="b"/>
      <c:overlay val="0"/>
      <c:txPr>
        <a:bodyPr/>
        <a:lstStyle/>
        <a:p>
          <a:pPr>
            <a:defRPr sz="900">
              <a:latin typeface="Meiryo"/>
              <a:cs typeface="Meiryo"/>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2A38"/>
                </a:solidFill>
                <a:latin typeface="Meiryo"/>
              </a:defRPr>
            </a:pPr>
            <a:r>
              <a:rPr sz="1300" b="0" i="0" u="none" strike="noStrike">
                <a:solidFill>
                  <a:srgbClr val="1E2A38"/>
                </a:solidFill>
                <a:latin typeface="Meiryo"/>
              </a:rPr>
              <a:t>合併後の持株比率（％・中野はSO行使前）</a:t>
            </a:r>
          </a:p>
        </c:rich>
      </c:tx>
      <c:layout/>
      <c:overlay val="0"/>
    </c:title>
    <c:autoTitleDeleted val="0"/>
    <c:plotArea>
      <c:layout/>
      <c:barChart>
        <c:barDir val="bar"/>
        <c:grouping val="clustered"/>
        <c:varyColors val="0"/>
        <c:ser>
          <c:idx val="0"/>
          <c:order val="0"/>
          <c:tx>
            <c:strRef>
              <c:f>Sheet1!$B$1</c:f>
              <c:strCache>
                <c:ptCount val="1"/>
                <c:pt idx="0">
                  <c:v>持株比率</c:v>
                </c:pt>
              </c:strCache>
            </c:strRef>
          </c:tx>
          <c:spPr>
            <a:solidFill>
              <a:srgbClr val="2E5C8A"/>
            </a:solidFill>
            <a:effectLst/>
          </c:spPr>
          <c:invertIfNegative val="0"/>
          <c:dLbls>
            <c:numFmt formatCode="0.00&quot;%&quot;" sourceLinked="0"/>
            <c:txPr>
              <a:bodyPr/>
              <a:lstStyle/>
              <a:p>
                <a:pPr>
                  <a:defRPr b="0" i="0" strike="noStrike" sz="950" u="none">
                    <a:solidFill>
                      <a:srgbClr val="1E2A38"/>
                    </a:solidFill>
                    <a:latin typeface="Meiryo"/>
                  </a:defRPr>
                </a:pPr>
              </a:p>
            </c:txPr>
            <c:showLegendKey val="0"/>
            <c:showVal val="1"/>
            <c:showCatName val="0"/>
            <c:showSerName val="0"/>
            <c:showPercent val="0"/>
            <c:showBubbleSize val="0"/>
            <c:showLeaderLines val="0"/>
          </c:dLbls>
          <c:cat>
            <c:multiLvlStrRef>
              <c:f>Sheet1!$A$2:$A$7</c:f>
              <c:multiLvlStrCache>
                <c:ptCount val="6"/>
                <c:lvl>
                  <c:pt idx="0">
                    <c:v>ビジョン</c:v>
                  </c:pt>
                  <c:pt idx="1">
                    <c:v>重松 大輔</c:v>
                  </c:pt>
                  <c:pt idx="2">
                    <c:v>その他SM株主</c:v>
                  </c:pt>
                  <c:pt idx="3">
                    <c:v>中野 邦人</c:v>
                  </c:pt>
                  <c:pt idx="4">
                    <c:v>TKP</c:v>
                  </c:pt>
                  <c:pt idx="5">
                    <c:v>ダブルパインズ</c:v>
                  </c:pt>
                </c:lvl>
              </c:multiLvlStrCache>
            </c:multiLvlStrRef>
          </c:cat>
          <c:val>
            <c:numRef>
              <c:f>Sheet1!$B$2:$B$7</c:f>
              <c:numCache>
                <c:formatCode>General</c:formatCode>
                <c:ptCount val="6"/>
                <c:pt idx="0">
                  <c:v>19.26</c:v>
                </c:pt>
                <c:pt idx="1">
                  <c:v>14.8</c:v>
                </c:pt>
                <c:pt idx="2">
                  <c:v>14.03</c:v>
                </c:pt>
                <c:pt idx="3">
                  <c:v>13.25</c:v>
                </c:pt>
                <c:pt idx="4">
                  <c:v>12.79</c:v>
                </c:pt>
                <c:pt idx="5">
                  <c:v>8.38</c:v>
                </c:pt>
              </c:numCache>
            </c:numRef>
          </c:val>
        </c:ser>
        <c:dLbls>
          <c:numFmt formatCode="0.00&quot;%&quot;" sourceLinked="0"/>
          <c:txPr>
            <a:bodyPr/>
            <a:lstStyle/>
            <a:p>
              <a:pPr>
                <a:defRPr b="0" i="0" strike="noStrike" sz="950" u="none">
                  <a:solidFill>
                    <a:srgbClr val="1E2A38"/>
                  </a:solidFill>
                  <a:latin typeface="Meiryo"/>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3D4E60"/>
                </a:solidFill>
                <a:latin typeface="Meiryo"/>
              </a:defRPr>
            </a:pPr>
            <a:endParaRPr lang="en-US"/>
          </a:p>
        </c:txPr>
        <c:crossAx val="2094734552"/>
        <c:crosses val="autoZero"/>
        <c:auto val="1"/>
        <c:lblAlgn val="ctr"/>
        <c:noMultiLvlLbl val="1"/>
      </c:catAx>
      <c:valAx>
        <c:axId val="2094734552"/>
        <c:scaling>
          <c:orientation val="minMax"/>
          <c:max val="25"/>
        </c:scaling>
        <c:delete val="0"/>
        <c:axPos val="b"/>
        <c:majorGridlines>
          <c:spPr>
            <a:ln w="6350" cap="flat">
              <a:solidFill>
                <a:srgbClr val="D9E0E7"/>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7C8A99"/>
                </a:solidFill>
                <a:latin typeface="Meiryo"/>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2つの話を同時に扱う。①ビジョンからの独立（MBO）②スペースマーケットからの合併提案。みずほには①、中村社長には両方。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まず全体像。2つあることと、順序の話をする。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債務超過は隠さず先に出す。そのうえで正常化営業利益2.00億で反転させる。1.14億の裏付けは店舗別PLで別途提出。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クロージングは2027年5月31日想定。ビジョン社の受取は株式9.41億＋借入返済7.90億＝17.31億。全額現金・借入は額面満額。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本日の主役。債務超過△4.09億が+3.90億に、自己資本比率24.9%になる。単位は千円。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LBOではなく借換えである、という一点を必ず伝える。審査の重さがまったく違う。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中野の持分が13%台になる、という一点が最大の論点。MBO後に合併すれば数字は変わる。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のれん22.09億は最重要。利益が消えるなら比率を見直す、という交渉に使える。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ケースBの2.01億が現実的な数字。当初「1,131万円」と試算したのは誤りで、四季報で重松氏とダブルパインズが別記載と確認して修正済み。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比較表は中村社長向け。結論の一行が本日一番言いたいこと。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①が本丸。②③は同時に出しておく。返済原資の話を必ず添える。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最後は宿題の確認。特に正常化営業利益の裏付けが融資審査の生命線。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38"/>
        </a:solidFill>
      </p:bgPr>
    </p:bg>
    <p:spTree>
      <p:nvGrpSpPr>
        <p:cNvPr id="1" name=""/>
        <p:cNvGrpSpPr/>
        <p:nvPr/>
      </p:nvGrpSpPr>
      <p:grpSpPr>
        <a:xfrm>
          <a:off x="0" y="0"/>
          <a:ext cx="0" cy="0"/>
          <a:chOff x="0" y="0"/>
          <a:chExt cx="0" cy="0"/>
        </a:xfrm>
      </p:grpSpPr>
      <p:sp>
        <p:nvSpPr>
          <p:cNvPr id="2" name="Text 0"/>
          <p:cNvSpPr txBox="1"/>
          <p:nvPr/>
        </p:nvSpPr>
        <p:spPr>
          <a:xfrm>
            <a:off x="822960" y="1645920"/>
            <a:ext cx="10515600" cy="365760"/>
          </a:xfrm>
          <a:prstGeom prst="rect">
            <a:avLst/>
          </a:prstGeom>
          <a:noFill/>
          <a:ln/>
        </p:spPr>
        <p:txBody>
          <a:bodyPr wrap="square" lIns="0" tIns="0" rIns="0" bIns="0" rtlCol="0" anchor="ctr"/>
          <a:lstStyle/>
          <a:p>
            <a:pPr indent="0" marL="0">
              <a:buNone/>
            </a:pPr>
            <a:r>
              <a:rPr lang="en-US" sz="1400" b="1" spc="300" kern="0" dirty="0">
                <a:solidFill>
                  <a:srgbClr val="A85C6E"/>
                </a:solidFill>
                <a:latin typeface="Meiryo" pitchFamily="34" charset="0"/>
                <a:ea typeface="Meiryo" pitchFamily="34" charset="-122"/>
                <a:cs typeface="Meiryo" pitchFamily="34" charset="-120"/>
              </a:rPr>
              <a:t>株式会社あどばる</a:t>
            </a:r>
            <a:endParaRPr lang="en-US" sz="1400" dirty="0"/>
          </a:p>
        </p:txBody>
      </p:sp>
      <p:sp>
        <p:nvSpPr>
          <p:cNvPr id="3" name="Text 1"/>
          <p:cNvSpPr txBox="1"/>
          <p:nvPr/>
        </p:nvSpPr>
        <p:spPr>
          <a:xfrm>
            <a:off x="822960" y="2057400"/>
            <a:ext cx="10515600" cy="868680"/>
          </a:xfrm>
          <a:prstGeom prst="rect">
            <a:avLst/>
          </a:prstGeom>
          <a:noFill/>
          <a:ln/>
        </p:spPr>
        <p:txBody>
          <a:bodyPr wrap="square" lIns="0" tIns="0" rIns="0" bIns="0" rtlCol="0" anchor="ctr"/>
          <a:lstStyle/>
          <a:p>
            <a:pPr indent="0" marL="0">
              <a:buNone/>
            </a:pPr>
            <a:r>
              <a:rPr lang="en-US" sz="4200" b="1" dirty="0">
                <a:solidFill>
                  <a:srgbClr val="FFFFFF"/>
                </a:solidFill>
                <a:latin typeface="Meiryo" pitchFamily="34" charset="0"/>
                <a:ea typeface="Meiryo" pitchFamily="34" charset="-122"/>
                <a:cs typeface="Meiryo" pitchFamily="34" charset="-120"/>
              </a:rPr>
              <a:t>資本政策の現在地</a:t>
            </a:r>
            <a:endParaRPr lang="en-US" sz="4200" dirty="0"/>
          </a:p>
        </p:txBody>
      </p:sp>
      <p:sp>
        <p:nvSpPr>
          <p:cNvPr id="4" name="Text 2"/>
          <p:cNvSpPr txBox="1"/>
          <p:nvPr/>
        </p:nvSpPr>
        <p:spPr>
          <a:xfrm>
            <a:off x="822960" y="3017520"/>
            <a:ext cx="10058400" cy="411480"/>
          </a:xfrm>
          <a:prstGeom prst="rect">
            <a:avLst/>
          </a:prstGeom>
          <a:noFill/>
          <a:ln/>
        </p:spPr>
        <p:txBody>
          <a:bodyPr wrap="square" lIns="0" tIns="0" rIns="0" bIns="0" rtlCol="0" anchor="ctr"/>
          <a:lstStyle/>
          <a:p>
            <a:pPr indent="0" marL="0">
              <a:buNone/>
            </a:pPr>
            <a:r>
              <a:rPr lang="en-US" sz="1700" dirty="0">
                <a:solidFill>
                  <a:srgbClr val="B9C4CF"/>
                </a:solidFill>
                <a:latin typeface="Meiryo" pitchFamily="34" charset="0"/>
                <a:ea typeface="Meiryo" pitchFamily="34" charset="-122"/>
                <a:cs typeface="Meiryo" pitchFamily="34" charset="-120"/>
              </a:rPr>
              <a:t>MBOによる独立と、スペースマーケット社からの合併提案</a:t>
            </a:r>
            <a:endParaRPr lang="en-US" sz="1700" dirty="0"/>
          </a:p>
        </p:txBody>
      </p:sp>
      <p:sp>
        <p:nvSpPr>
          <p:cNvPr id="5" name="Text 3"/>
          <p:cNvSpPr txBox="1"/>
          <p:nvPr/>
        </p:nvSpPr>
        <p:spPr>
          <a:xfrm>
            <a:off x="822960" y="3456432"/>
            <a:ext cx="10058400" cy="274320"/>
          </a:xfrm>
          <a:prstGeom prst="rect">
            <a:avLst/>
          </a:prstGeom>
          <a:noFill/>
          <a:ln/>
        </p:spPr>
        <p:txBody>
          <a:bodyPr wrap="square" lIns="0" tIns="0" rIns="0" bIns="0" rtlCol="0" anchor="ctr"/>
          <a:lstStyle/>
          <a:p>
            <a:pPr indent="0" marL="0">
              <a:buNone/>
            </a:pPr>
            <a:r>
              <a:rPr lang="en-US" sz="1300" dirty="0">
                <a:solidFill>
                  <a:srgbClr val="A85C6E"/>
                </a:solidFill>
                <a:latin typeface="Meiryo" pitchFamily="34" charset="0"/>
                <a:ea typeface="Meiryo" pitchFamily="34" charset="-122"/>
                <a:cs typeface="Meiryo" pitchFamily="34" charset="-120"/>
              </a:rPr>
              <a:t>2026年9月23日</a:t>
            </a:r>
            <a:endParaRPr lang="en-US" sz="1300" dirty="0"/>
          </a:p>
        </p:txBody>
      </p:sp>
      <p:sp>
        <p:nvSpPr>
          <p:cNvPr id="6" name="Shape 4"/>
          <p:cNvSpPr/>
          <p:nvPr/>
        </p:nvSpPr>
        <p:spPr>
          <a:xfrm>
            <a:off x="822960" y="3858768"/>
            <a:ext cx="2926080" cy="0"/>
          </a:xfrm>
          <a:prstGeom prst="line">
            <a:avLst/>
          </a:prstGeom>
          <a:noFill/>
          <a:ln w="25400">
            <a:solidFill>
              <a:srgbClr val="6E2639"/>
            </a:solidFill>
            <a:prstDash val="solid"/>
          </a:ln>
        </p:spPr>
      </p:sp>
      <p:sp>
        <p:nvSpPr>
          <p:cNvPr id="7" name="Text 5"/>
          <p:cNvSpPr txBox="1"/>
          <p:nvPr/>
        </p:nvSpPr>
        <p:spPr>
          <a:xfrm>
            <a:off x="822960" y="4160520"/>
            <a:ext cx="1554480" cy="274320"/>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ご説明先</a:t>
            </a:r>
            <a:endParaRPr lang="en-US" sz="1000" dirty="0"/>
          </a:p>
        </p:txBody>
      </p:sp>
      <p:sp>
        <p:nvSpPr>
          <p:cNvPr id="8" name="Text 6"/>
          <p:cNvSpPr txBox="1"/>
          <p:nvPr/>
        </p:nvSpPr>
        <p:spPr>
          <a:xfrm>
            <a:off x="2468880" y="4160520"/>
            <a:ext cx="8686800" cy="274320"/>
          </a:xfrm>
          <a:prstGeom prst="rect">
            <a:avLst/>
          </a:prstGeom>
          <a:noFill/>
          <a:ln/>
        </p:spPr>
        <p:txBody>
          <a:bodyPr wrap="square" lIns="0" tIns="0" rIns="0" bIns="0" rtlCol="0" anchor="ctr"/>
          <a:lstStyle/>
          <a:p>
            <a:pPr indent="0" marL="0">
              <a:buNone/>
            </a:pPr>
            <a:r>
              <a:rPr lang="en-US" sz="1200" dirty="0">
                <a:solidFill>
                  <a:srgbClr val="D5DDE5"/>
                </a:solidFill>
                <a:latin typeface="Meiryo" pitchFamily="34" charset="0"/>
                <a:ea typeface="Meiryo" pitchFamily="34" charset="-122"/>
                <a:cs typeface="Meiryo" pitchFamily="34" charset="-120"/>
              </a:rPr>
              <a:t>株式会社みずほ銀行 御中 ／ あどばる 中村 新社長</a:t>
            </a:r>
            <a:endParaRPr lang="en-US" sz="1200" dirty="0"/>
          </a:p>
        </p:txBody>
      </p:sp>
      <p:sp>
        <p:nvSpPr>
          <p:cNvPr id="9" name="Text 7"/>
          <p:cNvSpPr txBox="1"/>
          <p:nvPr/>
        </p:nvSpPr>
        <p:spPr>
          <a:xfrm>
            <a:off x="822960" y="4544568"/>
            <a:ext cx="1554480" cy="274320"/>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作成</a:t>
            </a:r>
            <a:endParaRPr lang="en-US" sz="1000" dirty="0"/>
          </a:p>
        </p:txBody>
      </p:sp>
      <p:sp>
        <p:nvSpPr>
          <p:cNvPr id="10" name="Text 8"/>
          <p:cNvSpPr txBox="1"/>
          <p:nvPr/>
        </p:nvSpPr>
        <p:spPr>
          <a:xfrm>
            <a:off x="2468880" y="4544568"/>
            <a:ext cx="8686800" cy="274320"/>
          </a:xfrm>
          <a:prstGeom prst="rect">
            <a:avLst/>
          </a:prstGeom>
          <a:noFill/>
          <a:ln/>
        </p:spPr>
        <p:txBody>
          <a:bodyPr wrap="square" lIns="0" tIns="0" rIns="0" bIns="0" rtlCol="0" anchor="ctr"/>
          <a:lstStyle/>
          <a:p>
            <a:pPr indent="0" marL="0">
              <a:buNone/>
            </a:pPr>
            <a:r>
              <a:rPr lang="en-US" sz="1200" dirty="0">
                <a:solidFill>
                  <a:srgbClr val="D5DDE5"/>
                </a:solidFill>
                <a:latin typeface="Meiryo" pitchFamily="34" charset="0"/>
                <a:ea typeface="Meiryo" pitchFamily="34" charset="-122"/>
                <a:cs typeface="Meiryo" pitchFamily="34" charset="-120"/>
              </a:rPr>
              <a:t>株式会社あどばる 代表取締役 中野 邦人</a:t>
            </a:r>
            <a:endParaRPr lang="en-US" sz="1200" dirty="0"/>
          </a:p>
        </p:txBody>
      </p:sp>
      <p:sp>
        <p:nvSpPr>
          <p:cNvPr id="11" name="Text 9"/>
          <p:cNvSpPr txBox="1"/>
          <p:nvPr/>
        </p:nvSpPr>
        <p:spPr>
          <a:xfrm>
            <a:off x="822960" y="4928616"/>
            <a:ext cx="1554480" cy="274320"/>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基準</a:t>
            </a:r>
            <a:endParaRPr lang="en-US" sz="1000" dirty="0"/>
          </a:p>
        </p:txBody>
      </p:sp>
      <p:sp>
        <p:nvSpPr>
          <p:cNvPr id="12" name="Text 10"/>
          <p:cNvSpPr txBox="1"/>
          <p:nvPr/>
        </p:nvSpPr>
        <p:spPr>
          <a:xfrm>
            <a:off x="2468880" y="4928616"/>
            <a:ext cx="8686800" cy="274320"/>
          </a:xfrm>
          <a:prstGeom prst="rect">
            <a:avLst/>
          </a:prstGeom>
          <a:noFill/>
          <a:ln/>
        </p:spPr>
        <p:txBody>
          <a:bodyPr wrap="square" lIns="0" tIns="0" rIns="0" bIns="0" rtlCol="0" anchor="ctr"/>
          <a:lstStyle/>
          <a:p>
            <a:pPr indent="0" marL="0">
              <a:buNone/>
            </a:pPr>
            <a:r>
              <a:rPr lang="en-US" sz="1200" dirty="0">
                <a:solidFill>
                  <a:srgbClr val="D5DDE5"/>
                </a:solidFill>
                <a:latin typeface="Meiryo" pitchFamily="34" charset="0"/>
                <a:ea typeface="Meiryo" pitchFamily="34" charset="-122"/>
                <a:cs typeface="Meiryo" pitchFamily="34" charset="-120"/>
              </a:rPr>
              <a:t>第10期（2026年5月期）計算書類・会社四季報2026年9月</a:t>
            </a:r>
            <a:endParaRPr lang="en-US" sz="1200" dirty="0"/>
          </a:p>
        </p:txBody>
      </p:sp>
      <p:sp>
        <p:nvSpPr>
          <p:cNvPr id="13" name="Text 11"/>
          <p:cNvSpPr txBox="1"/>
          <p:nvPr/>
        </p:nvSpPr>
        <p:spPr>
          <a:xfrm>
            <a:off x="822960" y="6217920"/>
            <a:ext cx="10515600" cy="274320"/>
          </a:xfrm>
          <a:prstGeom prst="rect">
            <a:avLst/>
          </a:prstGeom>
          <a:noFill/>
          <a:ln/>
        </p:spPr>
        <p:txBody>
          <a:bodyPr wrap="square" lIns="0" tIns="0" rIns="0" bIns="0" rtlCol="0" anchor="ctr"/>
          <a:lstStyle/>
          <a:p>
            <a:pPr indent="0" marL="0">
              <a:buNone/>
            </a:pPr>
            <a:r>
              <a:rPr lang="en-US" sz="900" dirty="0">
                <a:solidFill>
                  <a:srgbClr val="6D7A87"/>
                </a:solidFill>
                <a:latin typeface="Meiryo" pitchFamily="34" charset="0"/>
                <a:ea typeface="Meiryo" pitchFamily="34" charset="-122"/>
                <a:cs typeface="Meiryo" pitchFamily="34" charset="-120"/>
              </a:rPr>
              <a:t>本資料は検討段階の想定値であり、法務・税務・会計上の助言ではありません</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9"/>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6E2639"/>
                </a:solidFill>
                <a:latin typeface="Meiryo" pitchFamily="34" charset="0"/>
                <a:ea typeface="Meiryo" pitchFamily="34" charset="-122"/>
                <a:cs typeface="Meiryo" pitchFamily="34" charset="-120"/>
              </a:rPr>
              <a:t>AGENDA</a:t>
            </a:r>
            <a:endParaRPr lang="en-US" sz="1100" dirty="0"/>
          </a:p>
        </p:txBody>
      </p:sp>
      <p:sp>
        <p:nvSpPr>
          <p:cNvPr id="3" name="Text 1"/>
          <p:cNvSpPr txBox="1"/>
          <p:nvPr/>
        </p:nvSpPr>
        <p:spPr>
          <a:xfrm>
            <a:off x="640080" y="676656"/>
            <a:ext cx="10881360" cy="658368"/>
          </a:xfrm>
          <a:prstGeom prst="rect">
            <a:avLst/>
          </a:prstGeom>
          <a:noFill/>
          <a:ln/>
        </p:spPr>
        <p:txBody>
          <a:bodyPr wrap="square" lIns="0" tIns="0" rIns="0" bIns="0" rtlCol="0" anchor="ctr"/>
          <a:lstStyle/>
          <a:p>
            <a:pPr indent="0" marL="0">
              <a:buNone/>
            </a:pPr>
            <a:r>
              <a:rPr lang="en-US" sz="2800" b="1" dirty="0">
                <a:solidFill>
                  <a:srgbClr val="1E2A38"/>
                </a:solidFill>
                <a:latin typeface="Meiryo" pitchFamily="34" charset="0"/>
                <a:ea typeface="Meiryo" pitchFamily="34" charset="-122"/>
                <a:cs typeface="Meiryo" pitchFamily="34" charset="-120"/>
              </a:rPr>
              <a:t>いま、選択肢が2つあります</a:t>
            </a:r>
            <a:endParaRPr lang="en-US" sz="2800" dirty="0"/>
          </a:p>
        </p:txBody>
      </p:sp>
      <p:sp>
        <p:nvSpPr>
          <p:cNvPr id="4" name="Shape 2"/>
          <p:cNvSpPr/>
          <p:nvPr/>
        </p:nvSpPr>
        <p:spPr>
          <a:xfrm>
            <a:off x="640080" y="1691640"/>
            <a:ext cx="10881360" cy="1874520"/>
          </a:xfrm>
          <a:prstGeom prst="roundRect">
            <a:avLst>
              <a:gd name="adj" fmla="val 2927"/>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5" name="Shape 3"/>
          <p:cNvSpPr/>
          <p:nvPr/>
        </p:nvSpPr>
        <p:spPr>
          <a:xfrm>
            <a:off x="960120" y="2011680"/>
            <a:ext cx="621792" cy="621792"/>
          </a:xfrm>
          <a:prstGeom prst="roundRect">
            <a:avLst>
              <a:gd name="adj" fmla="val 73529"/>
            </a:avLst>
          </a:prstGeom>
          <a:solidFill>
            <a:srgbClr val="6E2639"/>
          </a:solidFill>
          <a:ln/>
        </p:spPr>
      </p:sp>
      <p:sp>
        <p:nvSpPr>
          <p:cNvPr id="6" name="Text 4"/>
          <p:cNvSpPr txBox="1"/>
          <p:nvPr/>
        </p:nvSpPr>
        <p:spPr>
          <a:xfrm>
            <a:off x="960120" y="2011680"/>
            <a:ext cx="621792" cy="621792"/>
          </a:xfrm>
          <a:prstGeom prst="rect">
            <a:avLst/>
          </a:prstGeom>
          <a:noFill/>
          <a:ln/>
        </p:spPr>
        <p:txBody>
          <a:bodyPr wrap="square" lIns="0" tIns="0" rIns="0" bIns="0" rtlCol="0" anchor="ctr"/>
          <a:lstStyle/>
          <a:p>
            <a:pPr algn="ctr" indent="0" marL="0">
              <a:buNone/>
            </a:pPr>
            <a:r>
              <a:rPr lang="en-US" sz="2000" b="1" dirty="0">
                <a:solidFill>
                  <a:srgbClr val="FFFFFF"/>
                </a:solidFill>
                <a:latin typeface="Meiryo" pitchFamily="34" charset="0"/>
                <a:ea typeface="Meiryo" pitchFamily="34" charset="-122"/>
                <a:cs typeface="Meiryo" pitchFamily="34" charset="-120"/>
              </a:rPr>
              <a:t>1</a:t>
            </a:r>
            <a:endParaRPr lang="en-US" sz="2000" dirty="0"/>
          </a:p>
        </p:txBody>
      </p:sp>
      <p:sp>
        <p:nvSpPr>
          <p:cNvPr id="7" name="Text 5"/>
          <p:cNvSpPr txBox="1"/>
          <p:nvPr/>
        </p:nvSpPr>
        <p:spPr>
          <a:xfrm>
            <a:off x="1828800" y="1947672"/>
            <a:ext cx="9418320" cy="365760"/>
          </a:xfrm>
          <a:prstGeom prst="rect">
            <a:avLst/>
          </a:prstGeom>
          <a:noFill/>
          <a:ln/>
        </p:spPr>
        <p:txBody>
          <a:bodyPr wrap="square" lIns="0" tIns="0" rIns="0" bIns="0" rtlCol="0" anchor="ctr"/>
          <a:lstStyle/>
          <a:p>
            <a:pPr indent="0" marL="0">
              <a:buNone/>
            </a:pPr>
            <a:r>
              <a:rPr lang="en-US" sz="1900" b="1" dirty="0">
                <a:solidFill>
                  <a:srgbClr val="1E2A38"/>
                </a:solidFill>
                <a:latin typeface="Meiryo" pitchFamily="34" charset="0"/>
                <a:ea typeface="Meiryo" pitchFamily="34" charset="-122"/>
                <a:cs typeface="Meiryo" pitchFamily="34" charset="-120"/>
              </a:rPr>
              <a:t>MBO ─ ビジョン社からの独立</a:t>
            </a:r>
            <a:endParaRPr lang="en-US" sz="1900" dirty="0"/>
          </a:p>
        </p:txBody>
      </p:sp>
      <p:sp>
        <p:nvSpPr>
          <p:cNvPr id="8" name="Text 6"/>
          <p:cNvSpPr txBox="1"/>
          <p:nvPr/>
        </p:nvSpPr>
        <p:spPr>
          <a:xfrm>
            <a:off x="1828800" y="2386584"/>
            <a:ext cx="9418320" cy="548640"/>
          </a:xfrm>
          <a:prstGeom prst="rect">
            <a:avLst/>
          </a:prstGeom>
          <a:noFill/>
          <a:ln/>
        </p:spPr>
        <p:txBody>
          <a:bodyPr wrap="square" lIns="0" tIns="0" rIns="0" bIns="0" rtlCol="0" anchor="ctr"/>
          <a:lstStyle/>
          <a:p>
            <a:pPr indent="0" marL="0">
              <a:buNone/>
            </a:pPr>
            <a:r>
              <a:rPr lang="en-US" sz="1250" dirty="0">
                <a:solidFill>
                  <a:srgbClr val="3D4E60"/>
                </a:solidFill>
                <a:latin typeface="Meiryo" pitchFamily="34" charset="0"/>
                <a:ea typeface="Meiryo" pitchFamily="34" charset="-122"/>
                <a:cs typeface="Meiryo" pitchFamily="34" charset="-120"/>
              </a:rPr>
              <a:t>自己株式取得で既存株主を整理し、中野とパートナーが50:50で経営する。クロージングは2027年5月末を想定。</a:t>
            </a:r>
            <a:endParaRPr lang="en-US" sz="1250" dirty="0"/>
          </a:p>
        </p:txBody>
      </p:sp>
      <p:sp>
        <p:nvSpPr>
          <p:cNvPr id="9" name="Text 7"/>
          <p:cNvSpPr txBox="1"/>
          <p:nvPr/>
        </p:nvSpPr>
        <p:spPr>
          <a:xfrm>
            <a:off x="1828800" y="2990088"/>
            <a:ext cx="9418320" cy="274320"/>
          </a:xfrm>
          <a:prstGeom prst="rect">
            <a:avLst/>
          </a:prstGeom>
          <a:noFill/>
          <a:ln/>
        </p:spPr>
        <p:txBody>
          <a:bodyPr wrap="square" lIns="0" tIns="0" rIns="0" bIns="0" rtlCol="0" anchor="ctr"/>
          <a:lstStyle/>
          <a:p>
            <a:pPr indent="0" marL="0">
              <a:buNone/>
            </a:pPr>
            <a:r>
              <a:rPr lang="en-US" sz="1200" b="1" dirty="0">
                <a:solidFill>
                  <a:srgbClr val="6E2639"/>
                </a:solidFill>
                <a:latin typeface="Meiryo" pitchFamily="34" charset="0"/>
                <a:ea typeface="Meiryo" pitchFamily="34" charset="-122"/>
                <a:cs typeface="Meiryo" pitchFamily="34" charset="-120"/>
              </a:rPr>
              <a:t>▶ みずほ銀行様にご相談したいのはこちら</a:t>
            </a:r>
            <a:endParaRPr lang="en-US" sz="1200" dirty="0"/>
          </a:p>
        </p:txBody>
      </p:sp>
      <p:sp>
        <p:nvSpPr>
          <p:cNvPr id="10" name="Shape 8"/>
          <p:cNvSpPr/>
          <p:nvPr/>
        </p:nvSpPr>
        <p:spPr>
          <a:xfrm>
            <a:off x="640080" y="3840480"/>
            <a:ext cx="10881360" cy="1874520"/>
          </a:xfrm>
          <a:prstGeom prst="roundRect">
            <a:avLst>
              <a:gd name="adj" fmla="val 2927"/>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11" name="Shape 9"/>
          <p:cNvSpPr/>
          <p:nvPr/>
        </p:nvSpPr>
        <p:spPr>
          <a:xfrm>
            <a:off x="960120" y="4160520"/>
            <a:ext cx="621792" cy="621792"/>
          </a:xfrm>
          <a:prstGeom prst="roundRect">
            <a:avLst>
              <a:gd name="adj" fmla="val 73529"/>
            </a:avLst>
          </a:prstGeom>
          <a:solidFill>
            <a:srgbClr val="2E5C8A"/>
          </a:solidFill>
          <a:ln/>
        </p:spPr>
      </p:sp>
      <p:sp>
        <p:nvSpPr>
          <p:cNvPr id="12" name="Text 10"/>
          <p:cNvSpPr txBox="1"/>
          <p:nvPr/>
        </p:nvSpPr>
        <p:spPr>
          <a:xfrm>
            <a:off x="960120" y="4160520"/>
            <a:ext cx="621792" cy="621792"/>
          </a:xfrm>
          <a:prstGeom prst="rect">
            <a:avLst/>
          </a:prstGeom>
          <a:noFill/>
          <a:ln/>
        </p:spPr>
        <p:txBody>
          <a:bodyPr wrap="square" lIns="0" tIns="0" rIns="0" bIns="0" rtlCol="0" anchor="ctr"/>
          <a:lstStyle/>
          <a:p>
            <a:pPr algn="ctr" indent="0" marL="0">
              <a:buNone/>
            </a:pPr>
            <a:r>
              <a:rPr lang="en-US" sz="2000" b="1" dirty="0">
                <a:solidFill>
                  <a:srgbClr val="FFFFFF"/>
                </a:solidFill>
                <a:latin typeface="Meiryo" pitchFamily="34" charset="0"/>
                <a:ea typeface="Meiryo" pitchFamily="34" charset="-122"/>
                <a:cs typeface="Meiryo" pitchFamily="34" charset="-120"/>
              </a:rPr>
              <a:t>2</a:t>
            </a:r>
            <a:endParaRPr lang="en-US" sz="2000" dirty="0"/>
          </a:p>
        </p:txBody>
      </p:sp>
      <p:sp>
        <p:nvSpPr>
          <p:cNvPr id="13" name="Text 11"/>
          <p:cNvSpPr txBox="1"/>
          <p:nvPr/>
        </p:nvSpPr>
        <p:spPr>
          <a:xfrm>
            <a:off x="1828800" y="4096512"/>
            <a:ext cx="9418320" cy="365760"/>
          </a:xfrm>
          <a:prstGeom prst="rect">
            <a:avLst/>
          </a:prstGeom>
          <a:noFill/>
          <a:ln/>
        </p:spPr>
        <p:txBody>
          <a:bodyPr wrap="square" lIns="0" tIns="0" rIns="0" bIns="0" rtlCol="0" anchor="ctr"/>
          <a:lstStyle/>
          <a:p>
            <a:pPr indent="0" marL="0">
              <a:buNone/>
            </a:pPr>
            <a:r>
              <a:rPr lang="en-US" sz="1900" b="1" dirty="0">
                <a:solidFill>
                  <a:srgbClr val="1E2A38"/>
                </a:solidFill>
                <a:latin typeface="Meiryo" pitchFamily="34" charset="0"/>
                <a:ea typeface="Meiryo" pitchFamily="34" charset="-122"/>
                <a:cs typeface="Meiryo" pitchFamily="34" charset="-120"/>
              </a:rPr>
              <a:t>スペースマーケット社との合併</a:t>
            </a:r>
            <a:endParaRPr lang="en-US" sz="1900" dirty="0"/>
          </a:p>
        </p:txBody>
      </p:sp>
      <p:sp>
        <p:nvSpPr>
          <p:cNvPr id="14" name="Text 12"/>
          <p:cNvSpPr txBox="1"/>
          <p:nvPr/>
        </p:nvSpPr>
        <p:spPr>
          <a:xfrm>
            <a:off x="1828800" y="4535424"/>
            <a:ext cx="9418320" cy="548640"/>
          </a:xfrm>
          <a:prstGeom prst="rect">
            <a:avLst/>
          </a:prstGeom>
          <a:noFill/>
          <a:ln/>
        </p:spPr>
        <p:txBody>
          <a:bodyPr wrap="square" lIns="0" tIns="0" rIns="0" bIns="0" rtlCol="0" anchor="ctr"/>
          <a:lstStyle/>
          <a:p>
            <a:pPr indent="0" marL="0">
              <a:buNone/>
            </a:pPr>
            <a:r>
              <a:rPr lang="en-US" sz="1250" dirty="0">
                <a:solidFill>
                  <a:srgbClr val="3D4E60"/>
                </a:solidFill>
                <a:latin typeface="Meiryo" pitchFamily="34" charset="0"/>
                <a:ea typeface="Meiryo" pitchFamily="34" charset="-122"/>
                <a:cs typeface="Meiryo" pitchFamily="34" charset="-120"/>
              </a:rPr>
              <a:t>先方からの提案。上場会社となり全株主が流動性を得る一方、競合TKPが株主として残る。</a:t>
            </a:r>
            <a:endParaRPr lang="en-US" sz="1250" dirty="0"/>
          </a:p>
        </p:txBody>
      </p:sp>
      <p:sp>
        <p:nvSpPr>
          <p:cNvPr id="15" name="Text 13"/>
          <p:cNvSpPr txBox="1"/>
          <p:nvPr/>
        </p:nvSpPr>
        <p:spPr>
          <a:xfrm>
            <a:off x="1828800" y="5138928"/>
            <a:ext cx="9418320" cy="274320"/>
          </a:xfrm>
          <a:prstGeom prst="rect">
            <a:avLst/>
          </a:prstGeom>
          <a:noFill/>
          <a:ln/>
        </p:spPr>
        <p:txBody>
          <a:bodyPr wrap="square" lIns="0" tIns="0" rIns="0" bIns="0" rtlCol="0" anchor="ctr"/>
          <a:lstStyle/>
          <a:p>
            <a:pPr indent="0" marL="0">
              <a:buNone/>
            </a:pPr>
            <a:r>
              <a:rPr lang="en-US" sz="1200" b="1" dirty="0">
                <a:solidFill>
                  <a:srgbClr val="2E5C8A"/>
                </a:solidFill>
                <a:latin typeface="Meiryo" pitchFamily="34" charset="0"/>
                <a:ea typeface="Meiryo" pitchFamily="34" charset="-122"/>
                <a:cs typeface="Meiryo" pitchFamily="34" charset="-120"/>
              </a:rPr>
              <a:t>▶ 中村社長と論点を共有したいのはこちら</a:t>
            </a:r>
            <a:endParaRPr lang="en-US" sz="1200" dirty="0"/>
          </a:p>
        </p:txBody>
      </p:sp>
      <p:sp>
        <p:nvSpPr>
          <p:cNvPr id="16" name="Text 14"/>
          <p:cNvSpPr txBox="1"/>
          <p:nvPr/>
        </p:nvSpPr>
        <p:spPr>
          <a:xfrm>
            <a:off x="640080" y="6035040"/>
            <a:ext cx="10881360" cy="320040"/>
          </a:xfrm>
          <a:prstGeom prst="rect">
            <a:avLst/>
          </a:prstGeom>
          <a:noFill/>
          <a:ln/>
        </p:spPr>
        <p:txBody>
          <a:bodyPr wrap="square" lIns="0" tIns="0" rIns="0" bIns="0" rtlCol="0" anchor="ctr"/>
          <a:lstStyle/>
          <a:p>
            <a:pPr indent="0" marL="0">
              <a:buNone/>
            </a:pPr>
            <a:r>
              <a:rPr lang="en-US" sz="1300" b="1" dirty="0">
                <a:solidFill>
                  <a:srgbClr val="6E2639"/>
                </a:solidFill>
                <a:latin typeface="Meiryo" pitchFamily="34" charset="0"/>
                <a:ea typeface="Meiryo" pitchFamily="34" charset="-122"/>
                <a:cs typeface="Meiryo" pitchFamily="34" charset="-120"/>
              </a:rPr>
              <a:t>両者は二者択一ではありません。MBOでビジョンを整理してから合併に臨むのが、持分・交渉力の両面で最も有利です。</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9"/>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6E2639"/>
                </a:solidFill>
                <a:latin typeface="Meiryo" pitchFamily="34" charset="0"/>
                <a:ea typeface="Meiryo" pitchFamily="34" charset="-122"/>
                <a:cs typeface="Meiryo" pitchFamily="34" charset="-120"/>
              </a:rPr>
              <a:t>現状</a:t>
            </a:r>
            <a:endParaRPr lang="en-US" sz="1100" dirty="0"/>
          </a:p>
        </p:txBody>
      </p:sp>
      <p:sp>
        <p:nvSpPr>
          <p:cNvPr id="3" name="Text 1"/>
          <p:cNvSpPr txBox="1"/>
          <p:nvPr/>
        </p:nvSpPr>
        <p:spPr>
          <a:xfrm>
            <a:off x="640080" y="676656"/>
            <a:ext cx="10881360" cy="658368"/>
          </a:xfrm>
          <a:prstGeom prst="rect">
            <a:avLst/>
          </a:prstGeom>
          <a:noFill/>
          <a:ln/>
        </p:spPr>
        <p:txBody>
          <a:bodyPr wrap="square" lIns="0" tIns="0" rIns="0" bIns="0" rtlCol="0" anchor="ctr"/>
          <a:lstStyle/>
          <a:p>
            <a:pPr indent="0" marL="0">
              <a:buNone/>
            </a:pPr>
            <a:r>
              <a:rPr lang="en-US" sz="2800" b="1" dirty="0">
                <a:solidFill>
                  <a:srgbClr val="1E2A38"/>
                </a:solidFill>
                <a:latin typeface="Meiryo" pitchFamily="34" charset="0"/>
                <a:ea typeface="Meiryo" pitchFamily="34" charset="-122"/>
                <a:cs typeface="Meiryo" pitchFamily="34" charset="-120"/>
              </a:rPr>
              <a:t>第10期の実績と、バランスシートの課題</a:t>
            </a:r>
            <a:endParaRPr lang="en-US" sz="2800" dirty="0"/>
          </a:p>
        </p:txBody>
      </p:sp>
      <p:sp>
        <p:nvSpPr>
          <p:cNvPr id="4" name="Text 2"/>
          <p:cNvSpPr txBox="1"/>
          <p:nvPr/>
        </p:nvSpPr>
        <p:spPr>
          <a:xfrm>
            <a:off x="640080" y="1536192"/>
            <a:ext cx="2377440" cy="237744"/>
          </a:xfrm>
          <a:prstGeom prst="rect">
            <a:avLst/>
          </a:prstGeom>
          <a:noFill/>
          <a:ln/>
        </p:spPr>
        <p:txBody>
          <a:bodyPr wrap="square" lIns="0" tIns="0" rIns="0" bIns="0" rtlCol="0" anchor="ctr"/>
          <a:lstStyle/>
          <a:p>
            <a:pPr indent="0" marL="0">
              <a:buNone/>
            </a:pPr>
            <a:r>
              <a:rPr lang="en-US" sz="1100" dirty="0">
                <a:solidFill>
                  <a:srgbClr val="7C8A99"/>
                </a:solidFill>
                <a:latin typeface="Meiryo" pitchFamily="34" charset="0"/>
                <a:ea typeface="Meiryo" pitchFamily="34" charset="-122"/>
                <a:cs typeface="Meiryo" pitchFamily="34" charset="-120"/>
              </a:rPr>
              <a:t>売上高</a:t>
            </a:r>
            <a:endParaRPr lang="en-US" sz="1100" dirty="0"/>
          </a:p>
        </p:txBody>
      </p:sp>
      <p:sp>
        <p:nvSpPr>
          <p:cNvPr id="5" name="Text 3"/>
          <p:cNvSpPr txBox="1"/>
          <p:nvPr/>
        </p:nvSpPr>
        <p:spPr>
          <a:xfrm>
            <a:off x="640080" y="1773936"/>
            <a:ext cx="2377440" cy="502920"/>
          </a:xfrm>
          <a:prstGeom prst="rect">
            <a:avLst/>
          </a:prstGeom>
          <a:noFill/>
          <a:ln/>
        </p:spPr>
        <p:txBody>
          <a:bodyPr wrap="square" lIns="0" tIns="0" rIns="0" bIns="0" rtlCol="0" anchor="ctr"/>
          <a:lstStyle/>
          <a:p>
            <a:pPr indent="0" marL="0">
              <a:buNone/>
            </a:pPr>
            <a:r>
              <a:rPr lang="en-US" sz="3000" b="1" dirty="0">
                <a:solidFill>
                  <a:srgbClr val="2C6A4E"/>
                </a:solidFill>
                <a:latin typeface="Meiryo" pitchFamily="34" charset="0"/>
                <a:ea typeface="Meiryo" pitchFamily="34" charset="-122"/>
                <a:cs typeface="Meiryo" pitchFamily="34" charset="-120"/>
              </a:rPr>
              <a:t>21.80</a:t>
            </a:r>
            <a:pPr indent="0" marL="0">
              <a:buNone/>
            </a:pPr>
            <a:r>
              <a:rPr lang="en-US" sz="1300" b="1" dirty="0">
                <a:solidFill>
                  <a:srgbClr val="2C6A4E"/>
                </a:solidFill>
                <a:latin typeface="Meiryo" pitchFamily="34" charset="0"/>
                <a:ea typeface="Meiryo" pitchFamily="34" charset="-122"/>
                <a:cs typeface="Meiryo" pitchFamily="34" charset="-120"/>
              </a:rPr>
              <a:t>億円</a:t>
            </a:r>
            <a:endParaRPr lang="en-US" sz="3000" dirty="0"/>
          </a:p>
        </p:txBody>
      </p:sp>
      <p:sp>
        <p:nvSpPr>
          <p:cNvPr id="6" name="Text 4"/>
          <p:cNvSpPr txBox="1"/>
          <p:nvPr/>
        </p:nvSpPr>
        <p:spPr>
          <a:xfrm>
            <a:off x="640080" y="2286000"/>
            <a:ext cx="2377440" cy="237744"/>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前期比 +18.8%</a:t>
            </a:r>
            <a:endParaRPr lang="en-US" sz="1000" dirty="0"/>
          </a:p>
        </p:txBody>
      </p:sp>
      <p:sp>
        <p:nvSpPr>
          <p:cNvPr id="7" name="Text 5"/>
          <p:cNvSpPr txBox="1"/>
          <p:nvPr/>
        </p:nvSpPr>
        <p:spPr>
          <a:xfrm>
            <a:off x="3200400" y="1536192"/>
            <a:ext cx="2377440" cy="237744"/>
          </a:xfrm>
          <a:prstGeom prst="rect">
            <a:avLst/>
          </a:prstGeom>
          <a:noFill/>
          <a:ln/>
        </p:spPr>
        <p:txBody>
          <a:bodyPr wrap="square" lIns="0" tIns="0" rIns="0" bIns="0" rtlCol="0" anchor="ctr"/>
          <a:lstStyle/>
          <a:p>
            <a:pPr indent="0" marL="0">
              <a:buNone/>
            </a:pPr>
            <a:r>
              <a:rPr lang="en-US" sz="1100" dirty="0">
                <a:solidFill>
                  <a:srgbClr val="7C8A99"/>
                </a:solidFill>
                <a:latin typeface="Meiryo" pitchFamily="34" charset="0"/>
                <a:ea typeface="Meiryo" pitchFamily="34" charset="-122"/>
                <a:cs typeface="Meiryo" pitchFamily="34" charset="-120"/>
              </a:rPr>
              <a:t>営業利益</a:t>
            </a:r>
            <a:endParaRPr lang="en-US" sz="1100" dirty="0"/>
          </a:p>
        </p:txBody>
      </p:sp>
      <p:sp>
        <p:nvSpPr>
          <p:cNvPr id="8" name="Text 6"/>
          <p:cNvSpPr txBox="1"/>
          <p:nvPr/>
        </p:nvSpPr>
        <p:spPr>
          <a:xfrm>
            <a:off x="3200400" y="1773936"/>
            <a:ext cx="2377440" cy="502920"/>
          </a:xfrm>
          <a:prstGeom prst="rect">
            <a:avLst/>
          </a:prstGeom>
          <a:noFill/>
          <a:ln/>
        </p:spPr>
        <p:txBody>
          <a:bodyPr wrap="square" lIns="0" tIns="0" rIns="0" bIns="0" rtlCol="0" anchor="ctr"/>
          <a:lstStyle/>
          <a:p>
            <a:pPr indent="0" marL="0">
              <a:buNone/>
            </a:pPr>
            <a:r>
              <a:rPr lang="en-US" sz="3000" b="1" dirty="0">
                <a:solidFill>
                  <a:srgbClr val="1E2A38"/>
                </a:solidFill>
                <a:latin typeface="Meiryo" pitchFamily="34" charset="0"/>
                <a:ea typeface="Meiryo" pitchFamily="34" charset="-122"/>
                <a:cs typeface="Meiryo" pitchFamily="34" charset="-120"/>
              </a:rPr>
              <a:t>1.58</a:t>
            </a:r>
            <a:pPr indent="0" marL="0">
              <a:buNone/>
            </a:pPr>
            <a:r>
              <a:rPr lang="en-US" sz="1300" b="1" dirty="0">
                <a:solidFill>
                  <a:srgbClr val="1E2A38"/>
                </a:solidFill>
                <a:latin typeface="Meiryo" pitchFamily="34" charset="0"/>
                <a:ea typeface="Meiryo" pitchFamily="34" charset="-122"/>
                <a:cs typeface="Meiryo" pitchFamily="34" charset="-120"/>
              </a:rPr>
              <a:t>億円</a:t>
            </a:r>
            <a:endParaRPr lang="en-US" sz="3000" dirty="0"/>
          </a:p>
        </p:txBody>
      </p:sp>
      <p:sp>
        <p:nvSpPr>
          <p:cNvPr id="9" name="Text 7"/>
          <p:cNvSpPr txBox="1"/>
          <p:nvPr/>
        </p:nvSpPr>
        <p:spPr>
          <a:xfrm>
            <a:off x="3200400" y="2286000"/>
            <a:ext cx="2377440" cy="237744"/>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前期1.77億から減益</a:t>
            </a:r>
            <a:endParaRPr lang="en-US" sz="1000" dirty="0"/>
          </a:p>
        </p:txBody>
      </p:sp>
      <p:sp>
        <p:nvSpPr>
          <p:cNvPr id="10" name="Text 8"/>
          <p:cNvSpPr txBox="1"/>
          <p:nvPr/>
        </p:nvSpPr>
        <p:spPr>
          <a:xfrm>
            <a:off x="5760720" y="1536192"/>
            <a:ext cx="2377440" cy="237744"/>
          </a:xfrm>
          <a:prstGeom prst="rect">
            <a:avLst/>
          </a:prstGeom>
          <a:noFill/>
          <a:ln/>
        </p:spPr>
        <p:txBody>
          <a:bodyPr wrap="square" lIns="0" tIns="0" rIns="0" bIns="0" rtlCol="0" anchor="ctr"/>
          <a:lstStyle/>
          <a:p>
            <a:pPr indent="0" marL="0">
              <a:buNone/>
            </a:pPr>
            <a:r>
              <a:rPr lang="en-US" sz="1100" dirty="0">
                <a:solidFill>
                  <a:srgbClr val="7C8A99"/>
                </a:solidFill>
                <a:latin typeface="Meiryo" pitchFamily="34" charset="0"/>
                <a:ea typeface="Meiryo" pitchFamily="34" charset="-122"/>
                <a:cs typeface="Meiryo" pitchFamily="34" charset="-120"/>
              </a:rPr>
              <a:t>純資産</a:t>
            </a:r>
            <a:endParaRPr lang="en-US" sz="1100" dirty="0"/>
          </a:p>
        </p:txBody>
      </p:sp>
      <p:sp>
        <p:nvSpPr>
          <p:cNvPr id="11" name="Text 9"/>
          <p:cNvSpPr txBox="1"/>
          <p:nvPr/>
        </p:nvSpPr>
        <p:spPr>
          <a:xfrm>
            <a:off x="5760720" y="1773936"/>
            <a:ext cx="2377440" cy="502920"/>
          </a:xfrm>
          <a:prstGeom prst="rect">
            <a:avLst/>
          </a:prstGeom>
          <a:noFill/>
          <a:ln/>
        </p:spPr>
        <p:txBody>
          <a:bodyPr wrap="square" lIns="0" tIns="0" rIns="0" bIns="0" rtlCol="0" anchor="ctr"/>
          <a:lstStyle/>
          <a:p>
            <a:pPr indent="0" marL="0">
              <a:buNone/>
            </a:pPr>
            <a:r>
              <a:rPr lang="en-US" sz="3000" b="1" dirty="0">
                <a:solidFill>
                  <a:srgbClr val="8A2E26"/>
                </a:solidFill>
                <a:latin typeface="Meiryo" pitchFamily="34" charset="0"/>
                <a:ea typeface="Meiryo" pitchFamily="34" charset="-122"/>
                <a:cs typeface="Meiryo" pitchFamily="34" charset="-120"/>
              </a:rPr>
              <a:t>△4.09</a:t>
            </a:r>
            <a:pPr indent="0" marL="0">
              <a:buNone/>
            </a:pPr>
            <a:r>
              <a:rPr lang="en-US" sz="1300" b="1" dirty="0">
                <a:solidFill>
                  <a:srgbClr val="8A2E26"/>
                </a:solidFill>
                <a:latin typeface="Meiryo" pitchFamily="34" charset="0"/>
                <a:ea typeface="Meiryo" pitchFamily="34" charset="-122"/>
                <a:cs typeface="Meiryo" pitchFamily="34" charset="-120"/>
              </a:rPr>
              <a:t>億円</a:t>
            </a:r>
            <a:endParaRPr lang="en-US" sz="3000" dirty="0"/>
          </a:p>
        </p:txBody>
      </p:sp>
      <p:sp>
        <p:nvSpPr>
          <p:cNvPr id="12" name="Text 10"/>
          <p:cNvSpPr txBox="1"/>
          <p:nvPr/>
        </p:nvSpPr>
        <p:spPr>
          <a:xfrm>
            <a:off x="5760720" y="2286000"/>
            <a:ext cx="2377440" cy="237744"/>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債務超過</a:t>
            </a:r>
            <a:endParaRPr lang="en-US" sz="1000" dirty="0"/>
          </a:p>
        </p:txBody>
      </p:sp>
      <p:sp>
        <p:nvSpPr>
          <p:cNvPr id="13" name="Text 11"/>
          <p:cNvSpPr txBox="1"/>
          <p:nvPr/>
        </p:nvSpPr>
        <p:spPr>
          <a:xfrm>
            <a:off x="8321040" y="1536192"/>
            <a:ext cx="2377440" cy="237744"/>
          </a:xfrm>
          <a:prstGeom prst="rect">
            <a:avLst/>
          </a:prstGeom>
          <a:noFill/>
          <a:ln/>
        </p:spPr>
        <p:txBody>
          <a:bodyPr wrap="square" lIns="0" tIns="0" rIns="0" bIns="0" rtlCol="0" anchor="ctr"/>
          <a:lstStyle/>
          <a:p>
            <a:pPr indent="0" marL="0">
              <a:buNone/>
            </a:pPr>
            <a:r>
              <a:rPr lang="en-US" sz="1100" dirty="0">
                <a:solidFill>
                  <a:srgbClr val="7C8A99"/>
                </a:solidFill>
                <a:latin typeface="Meiryo" pitchFamily="34" charset="0"/>
                <a:ea typeface="Meiryo" pitchFamily="34" charset="-122"/>
                <a:cs typeface="Meiryo" pitchFamily="34" charset="-120"/>
              </a:rPr>
              <a:t>有利子負債</a:t>
            </a:r>
            <a:endParaRPr lang="en-US" sz="1100" dirty="0"/>
          </a:p>
        </p:txBody>
      </p:sp>
      <p:sp>
        <p:nvSpPr>
          <p:cNvPr id="14" name="Text 12"/>
          <p:cNvSpPr txBox="1"/>
          <p:nvPr/>
        </p:nvSpPr>
        <p:spPr>
          <a:xfrm>
            <a:off x="8321040" y="1773936"/>
            <a:ext cx="2377440" cy="502920"/>
          </a:xfrm>
          <a:prstGeom prst="rect">
            <a:avLst/>
          </a:prstGeom>
          <a:noFill/>
          <a:ln/>
        </p:spPr>
        <p:txBody>
          <a:bodyPr wrap="square" lIns="0" tIns="0" rIns="0" bIns="0" rtlCol="0" anchor="ctr"/>
          <a:lstStyle/>
          <a:p>
            <a:pPr indent="0" marL="0">
              <a:buNone/>
            </a:pPr>
            <a:r>
              <a:rPr lang="en-US" sz="3000" b="1" dirty="0">
                <a:solidFill>
                  <a:srgbClr val="8A2E26"/>
                </a:solidFill>
                <a:latin typeface="Meiryo" pitchFamily="34" charset="0"/>
                <a:ea typeface="Meiryo" pitchFamily="34" charset="-122"/>
                <a:cs typeface="Meiryo" pitchFamily="34" charset="-120"/>
              </a:rPr>
              <a:t>11.57</a:t>
            </a:r>
            <a:pPr indent="0" marL="0">
              <a:buNone/>
            </a:pPr>
            <a:r>
              <a:rPr lang="en-US" sz="1300" b="1" dirty="0">
                <a:solidFill>
                  <a:srgbClr val="8A2E26"/>
                </a:solidFill>
                <a:latin typeface="Meiryo" pitchFamily="34" charset="0"/>
                <a:ea typeface="Meiryo" pitchFamily="34" charset="-122"/>
                <a:cs typeface="Meiryo" pitchFamily="34" charset="-120"/>
              </a:rPr>
              <a:t>億円</a:t>
            </a:r>
            <a:endParaRPr lang="en-US" sz="3000" dirty="0"/>
          </a:p>
        </p:txBody>
      </p:sp>
      <p:sp>
        <p:nvSpPr>
          <p:cNvPr id="15" name="Text 13"/>
          <p:cNvSpPr txBox="1"/>
          <p:nvPr/>
        </p:nvSpPr>
        <p:spPr>
          <a:xfrm>
            <a:off x="8321040" y="2286000"/>
            <a:ext cx="2377440" cy="237744"/>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うちビジョン 7.90億</a:t>
            </a:r>
            <a:endParaRPr lang="en-US" sz="1000" dirty="0"/>
          </a:p>
        </p:txBody>
      </p:sp>
      <p:sp>
        <p:nvSpPr>
          <p:cNvPr id="16" name="Shape 14"/>
          <p:cNvSpPr/>
          <p:nvPr/>
        </p:nvSpPr>
        <p:spPr>
          <a:xfrm>
            <a:off x="640080" y="2852928"/>
            <a:ext cx="5257800" cy="2926080"/>
          </a:xfrm>
          <a:prstGeom prst="roundRect">
            <a:avLst>
              <a:gd name="adj" fmla="val 1875"/>
            </a:avLst>
          </a:prstGeom>
          <a:solidFill>
            <a:srgbClr val="FBF1F3"/>
          </a:solidFill>
          <a:ln w="12700">
            <a:solidFill>
              <a:srgbClr val="E3CBD1"/>
            </a:solidFill>
            <a:prstDash val="solid"/>
          </a:ln>
          <a:effectLst>
            <a:outerShdw sx="100000" sy="100000" kx="0" ky="0" algn="bl" rotWithShape="0" blurRad="101600" dist="12700" dir="5400000">
              <a:srgbClr val="AAB4BE">
                <a:alpha val="18000"/>
              </a:srgbClr>
            </a:outerShdw>
          </a:effectLst>
        </p:spPr>
      </p:sp>
      <p:sp>
        <p:nvSpPr>
          <p:cNvPr id="17" name="Text 15"/>
          <p:cNvSpPr txBox="1"/>
          <p:nvPr/>
        </p:nvSpPr>
        <p:spPr>
          <a:xfrm>
            <a:off x="914400" y="3035808"/>
            <a:ext cx="4754880" cy="292608"/>
          </a:xfrm>
          <a:prstGeom prst="rect">
            <a:avLst/>
          </a:prstGeom>
          <a:noFill/>
          <a:ln/>
        </p:spPr>
        <p:txBody>
          <a:bodyPr wrap="square" lIns="0" tIns="0" rIns="0" bIns="0" rtlCol="0" anchor="ctr"/>
          <a:lstStyle/>
          <a:p>
            <a:pPr indent="0" marL="0">
              <a:buNone/>
            </a:pPr>
            <a:r>
              <a:rPr lang="en-US" sz="1400" b="1" dirty="0">
                <a:solidFill>
                  <a:srgbClr val="6E2639"/>
                </a:solidFill>
                <a:latin typeface="Meiryo" pitchFamily="34" charset="0"/>
                <a:ea typeface="Meiryo" pitchFamily="34" charset="-122"/>
                <a:cs typeface="Meiryo" pitchFamily="34" charset="-120"/>
              </a:rPr>
              <a:t>融資判断の壁になっている3点</a:t>
            </a:r>
            <a:endParaRPr lang="en-US" sz="1400" dirty="0"/>
          </a:p>
        </p:txBody>
      </p:sp>
      <p:sp>
        <p:nvSpPr>
          <p:cNvPr id="18" name="Shape 16"/>
          <p:cNvSpPr/>
          <p:nvPr/>
        </p:nvSpPr>
        <p:spPr>
          <a:xfrm>
            <a:off x="914400" y="3538728"/>
            <a:ext cx="182880" cy="182880"/>
          </a:xfrm>
          <a:prstGeom prst="roundRect">
            <a:avLst>
              <a:gd name="adj" fmla="val 250000"/>
            </a:avLst>
          </a:prstGeom>
          <a:solidFill>
            <a:srgbClr val="6E2639"/>
          </a:solidFill>
          <a:ln/>
        </p:spPr>
      </p:sp>
      <p:sp>
        <p:nvSpPr>
          <p:cNvPr id="19" name="Text 17"/>
          <p:cNvSpPr txBox="1"/>
          <p:nvPr/>
        </p:nvSpPr>
        <p:spPr>
          <a:xfrm>
            <a:off x="1234440" y="3474720"/>
            <a:ext cx="4526280" cy="274320"/>
          </a:xfrm>
          <a:prstGeom prst="rect">
            <a:avLst/>
          </a:prstGeom>
          <a:noFill/>
          <a:ln/>
        </p:spPr>
        <p:txBody>
          <a:bodyPr wrap="square" lIns="0" tIns="0" rIns="0" bIns="0" rtlCol="0" anchor="ctr"/>
          <a:lstStyle/>
          <a:p>
            <a:pPr indent="0" marL="0">
              <a:buNone/>
            </a:pPr>
            <a:r>
              <a:rPr lang="en-US" sz="1250" b="1" dirty="0">
                <a:solidFill>
                  <a:srgbClr val="1E2A38"/>
                </a:solidFill>
                <a:latin typeface="Meiryo" pitchFamily="34" charset="0"/>
                <a:ea typeface="Meiryo" pitchFamily="34" charset="-122"/>
                <a:cs typeface="Meiryo" pitchFamily="34" charset="-120"/>
              </a:rPr>
              <a:t>純資産が△4.09億の債務超過</a:t>
            </a:r>
            <a:endParaRPr lang="en-US" sz="1250" dirty="0"/>
          </a:p>
        </p:txBody>
      </p:sp>
      <p:sp>
        <p:nvSpPr>
          <p:cNvPr id="20" name="Text 18"/>
          <p:cNvSpPr txBox="1"/>
          <p:nvPr/>
        </p:nvSpPr>
        <p:spPr>
          <a:xfrm>
            <a:off x="1234440" y="3758184"/>
            <a:ext cx="4526280" cy="274320"/>
          </a:xfrm>
          <a:prstGeom prst="rect">
            <a:avLst/>
          </a:prstGeom>
          <a:noFill/>
          <a:ln/>
        </p:spPr>
        <p:txBody>
          <a:bodyPr wrap="square" lIns="0" tIns="0" rIns="0" bIns="0" rtlCol="0" anchor="ctr"/>
          <a:lstStyle/>
          <a:p>
            <a:pPr indent="0" marL="0">
              <a:buNone/>
            </a:pPr>
            <a:r>
              <a:rPr lang="en-US" sz="1050" dirty="0">
                <a:solidFill>
                  <a:srgbClr val="3D4E60"/>
                </a:solidFill>
                <a:latin typeface="Meiryo" pitchFamily="34" charset="0"/>
                <a:ea typeface="Meiryo" pitchFamily="34" charset="-122"/>
                <a:cs typeface="Meiryo" pitchFamily="34" charset="-120"/>
              </a:rPr>
              <a:t>この状態では新規融資の稟議が通りません</a:t>
            </a:r>
            <a:endParaRPr lang="en-US" sz="1050" dirty="0"/>
          </a:p>
        </p:txBody>
      </p:sp>
      <p:sp>
        <p:nvSpPr>
          <p:cNvPr id="21" name="Shape 19"/>
          <p:cNvSpPr/>
          <p:nvPr/>
        </p:nvSpPr>
        <p:spPr>
          <a:xfrm>
            <a:off x="914400" y="4270248"/>
            <a:ext cx="182880" cy="182880"/>
          </a:xfrm>
          <a:prstGeom prst="roundRect">
            <a:avLst>
              <a:gd name="adj" fmla="val 250000"/>
            </a:avLst>
          </a:prstGeom>
          <a:solidFill>
            <a:srgbClr val="6E2639"/>
          </a:solidFill>
          <a:ln/>
        </p:spPr>
      </p:sp>
      <p:sp>
        <p:nvSpPr>
          <p:cNvPr id="22" name="Text 20"/>
          <p:cNvSpPr txBox="1"/>
          <p:nvPr/>
        </p:nvSpPr>
        <p:spPr>
          <a:xfrm>
            <a:off x="1234440" y="4206240"/>
            <a:ext cx="4526280" cy="274320"/>
          </a:xfrm>
          <a:prstGeom prst="rect">
            <a:avLst/>
          </a:prstGeom>
          <a:noFill/>
          <a:ln/>
        </p:spPr>
        <p:txBody>
          <a:bodyPr wrap="square" lIns="0" tIns="0" rIns="0" bIns="0" rtlCol="0" anchor="ctr"/>
          <a:lstStyle/>
          <a:p>
            <a:pPr indent="0" marL="0">
              <a:buNone/>
            </a:pPr>
            <a:r>
              <a:rPr lang="en-US" sz="1250" b="1" dirty="0">
                <a:solidFill>
                  <a:srgbClr val="1E2A38"/>
                </a:solidFill>
                <a:latin typeface="Meiryo" pitchFamily="34" charset="0"/>
                <a:ea typeface="Meiryo" pitchFamily="34" charset="-122"/>
                <a:cs typeface="Meiryo" pitchFamily="34" charset="-120"/>
              </a:rPr>
              <a:t>ビジョン社への借入が7.90億</a:t>
            </a:r>
            <a:endParaRPr lang="en-US" sz="1250" dirty="0"/>
          </a:p>
        </p:txBody>
      </p:sp>
      <p:sp>
        <p:nvSpPr>
          <p:cNvPr id="23" name="Text 21"/>
          <p:cNvSpPr txBox="1"/>
          <p:nvPr/>
        </p:nvSpPr>
        <p:spPr>
          <a:xfrm>
            <a:off x="1234440" y="4489704"/>
            <a:ext cx="4526280" cy="274320"/>
          </a:xfrm>
          <a:prstGeom prst="rect">
            <a:avLst/>
          </a:prstGeom>
          <a:noFill/>
          <a:ln/>
        </p:spPr>
        <p:txBody>
          <a:bodyPr wrap="square" lIns="0" tIns="0" rIns="0" bIns="0" rtlCol="0" anchor="ctr"/>
          <a:lstStyle/>
          <a:p>
            <a:pPr indent="0" marL="0">
              <a:buNone/>
            </a:pPr>
            <a:r>
              <a:rPr lang="en-US" sz="1050" dirty="0">
                <a:solidFill>
                  <a:srgbClr val="3D4E60"/>
                </a:solidFill>
                <a:latin typeface="Meiryo" pitchFamily="34" charset="0"/>
                <a:ea typeface="Meiryo" pitchFamily="34" charset="-122"/>
                <a:cs typeface="Meiryo" pitchFamily="34" charset="-120"/>
              </a:rPr>
              <a:t>有利子負債の68%を親会社が占めています</a:t>
            </a:r>
            <a:endParaRPr lang="en-US" sz="1050" dirty="0"/>
          </a:p>
        </p:txBody>
      </p:sp>
      <p:sp>
        <p:nvSpPr>
          <p:cNvPr id="24" name="Shape 22"/>
          <p:cNvSpPr/>
          <p:nvPr/>
        </p:nvSpPr>
        <p:spPr>
          <a:xfrm>
            <a:off x="914400" y="5001768"/>
            <a:ext cx="182880" cy="182880"/>
          </a:xfrm>
          <a:prstGeom prst="roundRect">
            <a:avLst>
              <a:gd name="adj" fmla="val 250000"/>
            </a:avLst>
          </a:prstGeom>
          <a:solidFill>
            <a:srgbClr val="6E2639"/>
          </a:solidFill>
          <a:ln/>
        </p:spPr>
      </p:sp>
      <p:sp>
        <p:nvSpPr>
          <p:cNvPr id="25" name="Text 23"/>
          <p:cNvSpPr txBox="1"/>
          <p:nvPr/>
        </p:nvSpPr>
        <p:spPr>
          <a:xfrm>
            <a:off x="1234440" y="4937760"/>
            <a:ext cx="4526280" cy="274320"/>
          </a:xfrm>
          <a:prstGeom prst="rect">
            <a:avLst/>
          </a:prstGeom>
          <a:noFill/>
          <a:ln/>
        </p:spPr>
        <p:txBody>
          <a:bodyPr wrap="square" lIns="0" tIns="0" rIns="0" bIns="0" rtlCol="0" anchor="ctr"/>
          <a:lstStyle/>
          <a:p>
            <a:pPr indent="0" marL="0">
              <a:buNone/>
            </a:pPr>
            <a:r>
              <a:rPr lang="en-US" sz="1250" b="1" dirty="0">
                <a:solidFill>
                  <a:srgbClr val="1E2A38"/>
                </a:solidFill>
                <a:latin typeface="Meiryo" pitchFamily="34" charset="0"/>
                <a:ea typeface="Meiryo" pitchFamily="34" charset="-122"/>
                <a:cs typeface="Meiryo" pitchFamily="34" charset="-120"/>
              </a:rPr>
              <a:t>現預金が0.40億</a:t>
            </a:r>
            <a:endParaRPr lang="en-US" sz="1250" dirty="0"/>
          </a:p>
        </p:txBody>
      </p:sp>
      <p:sp>
        <p:nvSpPr>
          <p:cNvPr id="26" name="Text 24"/>
          <p:cNvSpPr txBox="1"/>
          <p:nvPr/>
        </p:nvSpPr>
        <p:spPr>
          <a:xfrm>
            <a:off x="1234440" y="5221224"/>
            <a:ext cx="4526280" cy="274320"/>
          </a:xfrm>
          <a:prstGeom prst="rect">
            <a:avLst/>
          </a:prstGeom>
          <a:noFill/>
          <a:ln/>
        </p:spPr>
        <p:txBody>
          <a:bodyPr wrap="square" lIns="0" tIns="0" rIns="0" bIns="0" rtlCol="0" anchor="ctr"/>
          <a:lstStyle/>
          <a:p>
            <a:pPr indent="0" marL="0">
              <a:buNone/>
            </a:pPr>
            <a:r>
              <a:rPr lang="en-US" sz="1050" dirty="0">
                <a:solidFill>
                  <a:srgbClr val="3D4E60"/>
                </a:solidFill>
                <a:latin typeface="Meiryo" pitchFamily="34" charset="0"/>
                <a:ea typeface="Meiryo" pitchFamily="34" charset="-122"/>
                <a:cs typeface="Meiryo" pitchFamily="34" charset="-120"/>
              </a:rPr>
              <a:t>月商1.8億に対し手元流動性が極端に薄い</a:t>
            </a:r>
            <a:endParaRPr lang="en-US" sz="1050" dirty="0"/>
          </a:p>
        </p:txBody>
      </p:sp>
      <p:sp>
        <p:nvSpPr>
          <p:cNvPr id="27" name="Shape 25"/>
          <p:cNvSpPr/>
          <p:nvPr/>
        </p:nvSpPr>
        <p:spPr>
          <a:xfrm>
            <a:off x="6263640" y="2852928"/>
            <a:ext cx="5257800" cy="2926080"/>
          </a:xfrm>
          <a:prstGeom prst="roundRect">
            <a:avLst>
              <a:gd name="adj" fmla="val 1875"/>
            </a:avLst>
          </a:prstGeom>
          <a:solidFill>
            <a:srgbClr val="F0F4F1"/>
          </a:solidFill>
          <a:ln w="12700">
            <a:solidFill>
              <a:srgbClr val="C9DCD1"/>
            </a:solidFill>
            <a:prstDash val="solid"/>
          </a:ln>
          <a:effectLst>
            <a:outerShdw sx="100000" sy="100000" kx="0" ky="0" algn="bl" rotWithShape="0" blurRad="101600" dist="12700" dir="5400000">
              <a:srgbClr val="AAB4BE">
                <a:alpha val="18000"/>
              </a:srgbClr>
            </a:outerShdw>
          </a:effectLst>
        </p:spPr>
      </p:sp>
      <p:sp>
        <p:nvSpPr>
          <p:cNvPr id="28" name="Text 26"/>
          <p:cNvSpPr txBox="1"/>
          <p:nvPr/>
        </p:nvSpPr>
        <p:spPr>
          <a:xfrm>
            <a:off x="6537960" y="3035808"/>
            <a:ext cx="4754880" cy="292608"/>
          </a:xfrm>
          <a:prstGeom prst="rect">
            <a:avLst/>
          </a:prstGeom>
          <a:noFill/>
          <a:ln/>
        </p:spPr>
        <p:txBody>
          <a:bodyPr wrap="square" lIns="0" tIns="0" rIns="0" bIns="0" rtlCol="0" anchor="ctr"/>
          <a:lstStyle/>
          <a:p>
            <a:pPr indent="0" marL="0">
              <a:buNone/>
            </a:pPr>
            <a:r>
              <a:rPr lang="en-US" sz="1400" b="1" dirty="0">
                <a:solidFill>
                  <a:srgbClr val="2C6A4E"/>
                </a:solidFill>
                <a:latin typeface="Meiryo" pitchFamily="34" charset="0"/>
                <a:ea typeface="Meiryo" pitchFamily="34" charset="-122"/>
                <a:cs typeface="Meiryo" pitchFamily="34" charset="-120"/>
              </a:rPr>
              <a:t>ただし、収益力は別の姿があります</a:t>
            </a:r>
            <a:endParaRPr lang="en-US" sz="1400" dirty="0"/>
          </a:p>
        </p:txBody>
      </p:sp>
      <p:sp>
        <p:nvSpPr>
          <p:cNvPr id="29" name="Text 27"/>
          <p:cNvSpPr txBox="1"/>
          <p:nvPr/>
        </p:nvSpPr>
        <p:spPr>
          <a:xfrm>
            <a:off x="6537960" y="3493008"/>
            <a:ext cx="3566160" cy="274320"/>
          </a:xfrm>
          <a:prstGeom prst="rect">
            <a:avLst/>
          </a:prstGeom>
          <a:noFill/>
          <a:ln/>
        </p:spPr>
        <p:txBody>
          <a:bodyPr wrap="square" lIns="0" tIns="0" rIns="0" bIns="0" rtlCol="0" anchor="ctr"/>
          <a:lstStyle/>
          <a:p>
            <a:pPr indent="0" marL="0">
              <a:buNone/>
            </a:pPr>
            <a:r>
              <a:rPr lang="en-US" sz="1100" dirty="0">
                <a:solidFill>
                  <a:srgbClr val="3D4E60"/>
                </a:solidFill>
                <a:latin typeface="Meiryo" pitchFamily="34" charset="0"/>
                <a:ea typeface="Meiryo" pitchFamily="34" charset="-122"/>
                <a:cs typeface="Meiryo" pitchFamily="34" charset="-120"/>
              </a:rPr>
              <a:t>第10期 報告営業利益</a:t>
            </a:r>
            <a:endParaRPr lang="en-US" sz="1100" dirty="0"/>
          </a:p>
        </p:txBody>
      </p:sp>
      <p:sp>
        <p:nvSpPr>
          <p:cNvPr id="30" name="Text 28"/>
          <p:cNvSpPr txBox="1"/>
          <p:nvPr/>
        </p:nvSpPr>
        <p:spPr>
          <a:xfrm>
            <a:off x="10195560" y="3465576"/>
            <a:ext cx="1097280" cy="310896"/>
          </a:xfrm>
          <a:prstGeom prst="rect">
            <a:avLst/>
          </a:prstGeom>
          <a:noFill/>
          <a:ln/>
        </p:spPr>
        <p:txBody>
          <a:bodyPr wrap="square" lIns="0" tIns="0" rIns="0" bIns="0" rtlCol="0" anchor="ctr"/>
          <a:lstStyle/>
          <a:p>
            <a:pPr algn="r" indent="0" marL="0">
              <a:buNone/>
            </a:pPr>
            <a:r>
              <a:rPr lang="en-US" sz="1400" b="1" dirty="0">
                <a:solidFill>
                  <a:srgbClr val="1E2A38"/>
                </a:solidFill>
                <a:latin typeface="Meiryo" pitchFamily="34" charset="0"/>
                <a:ea typeface="Meiryo" pitchFamily="34" charset="-122"/>
                <a:cs typeface="Meiryo" pitchFamily="34" charset="-120"/>
              </a:rPr>
              <a:t>1.58億</a:t>
            </a:r>
            <a:endParaRPr lang="en-US" sz="1400" dirty="0"/>
          </a:p>
        </p:txBody>
      </p:sp>
      <p:sp>
        <p:nvSpPr>
          <p:cNvPr id="31" name="Text 29"/>
          <p:cNvSpPr txBox="1"/>
          <p:nvPr/>
        </p:nvSpPr>
        <p:spPr>
          <a:xfrm>
            <a:off x="6537960" y="4059936"/>
            <a:ext cx="3566160" cy="274320"/>
          </a:xfrm>
          <a:prstGeom prst="rect">
            <a:avLst/>
          </a:prstGeom>
          <a:noFill/>
          <a:ln/>
        </p:spPr>
        <p:txBody>
          <a:bodyPr wrap="square" lIns="0" tIns="0" rIns="0" bIns="0" rtlCol="0" anchor="ctr"/>
          <a:lstStyle/>
          <a:p>
            <a:pPr indent="0" marL="0">
              <a:buNone/>
            </a:pPr>
            <a:r>
              <a:rPr lang="en-US" sz="1100" dirty="0">
                <a:solidFill>
                  <a:srgbClr val="3D4E60"/>
                </a:solidFill>
                <a:latin typeface="Meiryo" pitchFamily="34" charset="0"/>
                <a:ea typeface="Meiryo" pitchFamily="34" charset="-122"/>
                <a:cs typeface="Meiryo" pitchFamily="34" charset="-120"/>
              </a:rPr>
              <a:t>出向費 年0.72億の喪失</a:t>
            </a:r>
            <a:endParaRPr lang="en-US" sz="1100" dirty="0"/>
          </a:p>
        </p:txBody>
      </p:sp>
      <p:sp>
        <p:nvSpPr>
          <p:cNvPr id="32" name="Text 30"/>
          <p:cNvSpPr txBox="1"/>
          <p:nvPr/>
        </p:nvSpPr>
        <p:spPr>
          <a:xfrm>
            <a:off x="10195560" y="4032504"/>
            <a:ext cx="1097280" cy="310896"/>
          </a:xfrm>
          <a:prstGeom prst="rect">
            <a:avLst/>
          </a:prstGeom>
          <a:noFill/>
          <a:ln/>
        </p:spPr>
        <p:txBody>
          <a:bodyPr wrap="square" lIns="0" tIns="0" rIns="0" bIns="0" rtlCol="0" anchor="ctr"/>
          <a:lstStyle/>
          <a:p>
            <a:pPr algn="r" indent="0" marL="0">
              <a:buNone/>
            </a:pPr>
            <a:r>
              <a:rPr lang="en-US" sz="1400" b="1" dirty="0">
                <a:solidFill>
                  <a:srgbClr val="8A2E26"/>
                </a:solidFill>
                <a:latin typeface="Meiryo" pitchFamily="34" charset="0"/>
                <a:ea typeface="Meiryo" pitchFamily="34" charset="-122"/>
                <a:cs typeface="Meiryo" pitchFamily="34" charset="-120"/>
              </a:rPr>
              <a:t>△0.72億</a:t>
            </a:r>
            <a:endParaRPr lang="en-US" sz="1400" dirty="0"/>
          </a:p>
        </p:txBody>
      </p:sp>
      <p:sp>
        <p:nvSpPr>
          <p:cNvPr id="33" name="Text 31"/>
          <p:cNvSpPr txBox="1"/>
          <p:nvPr/>
        </p:nvSpPr>
        <p:spPr>
          <a:xfrm>
            <a:off x="6537960" y="4626864"/>
            <a:ext cx="3566160" cy="274320"/>
          </a:xfrm>
          <a:prstGeom prst="rect">
            <a:avLst/>
          </a:prstGeom>
          <a:noFill/>
          <a:ln/>
        </p:spPr>
        <p:txBody>
          <a:bodyPr wrap="square" lIns="0" tIns="0" rIns="0" bIns="0" rtlCol="0" anchor="ctr"/>
          <a:lstStyle/>
          <a:p>
            <a:pPr indent="0" marL="0">
              <a:buNone/>
            </a:pPr>
            <a:r>
              <a:rPr lang="en-US" sz="1100" dirty="0">
                <a:solidFill>
                  <a:srgbClr val="3D4E60"/>
                </a:solidFill>
                <a:latin typeface="Meiryo" pitchFamily="34" charset="0"/>
                <a:ea typeface="Meiryo" pitchFamily="34" charset="-122"/>
                <a:cs typeface="Meiryo" pitchFamily="34" charset="-120"/>
              </a:rPr>
              <a:t>撤退店舗の損失解消・大型2施設の通年寄与</a:t>
            </a:r>
            <a:endParaRPr lang="en-US" sz="1100" dirty="0"/>
          </a:p>
        </p:txBody>
      </p:sp>
      <p:sp>
        <p:nvSpPr>
          <p:cNvPr id="34" name="Text 32"/>
          <p:cNvSpPr txBox="1"/>
          <p:nvPr/>
        </p:nvSpPr>
        <p:spPr>
          <a:xfrm>
            <a:off x="10195560" y="4599432"/>
            <a:ext cx="1097280" cy="310896"/>
          </a:xfrm>
          <a:prstGeom prst="rect">
            <a:avLst/>
          </a:prstGeom>
          <a:noFill/>
          <a:ln/>
        </p:spPr>
        <p:txBody>
          <a:bodyPr wrap="square" lIns="0" tIns="0" rIns="0" bIns="0" rtlCol="0" anchor="ctr"/>
          <a:lstStyle/>
          <a:p>
            <a:pPr algn="r" indent="0" marL="0">
              <a:buNone/>
            </a:pPr>
            <a:r>
              <a:rPr lang="en-US" sz="1400" b="1" dirty="0">
                <a:solidFill>
                  <a:srgbClr val="2C6A4E"/>
                </a:solidFill>
                <a:latin typeface="Meiryo" pitchFamily="34" charset="0"/>
                <a:ea typeface="Meiryo" pitchFamily="34" charset="-122"/>
                <a:cs typeface="Meiryo" pitchFamily="34" charset="-120"/>
              </a:rPr>
              <a:t>+1.14億</a:t>
            </a:r>
            <a:endParaRPr lang="en-US" sz="1400" dirty="0"/>
          </a:p>
        </p:txBody>
      </p:sp>
      <p:sp>
        <p:nvSpPr>
          <p:cNvPr id="35" name="Text 33"/>
          <p:cNvSpPr txBox="1"/>
          <p:nvPr/>
        </p:nvSpPr>
        <p:spPr>
          <a:xfrm>
            <a:off x="6537960" y="5193792"/>
            <a:ext cx="3566160" cy="274320"/>
          </a:xfrm>
          <a:prstGeom prst="rect">
            <a:avLst/>
          </a:prstGeom>
          <a:noFill/>
          <a:ln/>
        </p:spPr>
        <p:txBody>
          <a:bodyPr wrap="square" lIns="0" tIns="0" rIns="0" bIns="0" rtlCol="0" anchor="ctr"/>
          <a:lstStyle/>
          <a:p>
            <a:pPr indent="0" marL="0">
              <a:buNone/>
            </a:pPr>
            <a:r>
              <a:rPr lang="en-US" sz="1100" dirty="0">
                <a:solidFill>
                  <a:srgbClr val="3D4E60"/>
                </a:solidFill>
                <a:latin typeface="Meiryo" pitchFamily="34" charset="0"/>
                <a:ea typeface="Meiryo" pitchFamily="34" charset="-122"/>
                <a:cs typeface="Meiryo" pitchFamily="34" charset="-120"/>
              </a:rPr>
              <a:t>正常化営業利益</a:t>
            </a:r>
            <a:endParaRPr lang="en-US" sz="1100" dirty="0"/>
          </a:p>
        </p:txBody>
      </p:sp>
      <p:sp>
        <p:nvSpPr>
          <p:cNvPr id="36" name="Text 34"/>
          <p:cNvSpPr txBox="1"/>
          <p:nvPr/>
        </p:nvSpPr>
        <p:spPr>
          <a:xfrm>
            <a:off x="10195560" y="5166360"/>
            <a:ext cx="1097280" cy="310896"/>
          </a:xfrm>
          <a:prstGeom prst="rect">
            <a:avLst/>
          </a:prstGeom>
          <a:noFill/>
          <a:ln/>
        </p:spPr>
        <p:txBody>
          <a:bodyPr wrap="square" lIns="0" tIns="0" rIns="0" bIns="0" rtlCol="0" anchor="ctr"/>
          <a:lstStyle/>
          <a:p>
            <a:pPr algn="r" indent="0" marL="0">
              <a:buNone/>
            </a:pPr>
            <a:r>
              <a:rPr lang="en-US" sz="1400" b="1" dirty="0">
                <a:solidFill>
                  <a:srgbClr val="6E2639"/>
                </a:solidFill>
                <a:latin typeface="Meiryo" pitchFamily="34" charset="0"/>
                <a:ea typeface="Meiryo" pitchFamily="34" charset="-122"/>
                <a:cs typeface="Meiryo" pitchFamily="34" charset="-120"/>
              </a:rPr>
              <a:t>2.00億</a:t>
            </a:r>
            <a:endParaRPr lang="en-US" sz="1400" dirty="0"/>
          </a:p>
        </p:txBody>
      </p:sp>
      <p:sp>
        <p:nvSpPr>
          <p:cNvPr id="37" name="Text 35"/>
          <p:cNvSpPr txBox="1"/>
          <p:nvPr/>
        </p:nvSpPr>
        <p:spPr>
          <a:xfrm>
            <a:off x="6537960" y="5486400"/>
            <a:ext cx="4754880" cy="274320"/>
          </a:xfrm>
          <a:prstGeom prst="rect">
            <a:avLst/>
          </a:prstGeom>
          <a:noFill/>
          <a:ln/>
        </p:spPr>
        <p:txBody>
          <a:bodyPr wrap="square" lIns="0" tIns="0" rIns="0" bIns="0" rtlCol="0" anchor="ctr"/>
          <a:lstStyle/>
          <a:p>
            <a:pPr indent="0" marL="0">
              <a:buNone/>
            </a:pPr>
            <a:r>
              <a:rPr lang="en-US" sz="1100" b="1" dirty="0">
                <a:solidFill>
                  <a:srgbClr val="2C6A4E"/>
                </a:solidFill>
                <a:latin typeface="Meiryo" pitchFamily="34" charset="0"/>
                <a:ea typeface="Meiryo" pitchFamily="34" charset="-122"/>
                <a:cs typeface="Meiryo" pitchFamily="34" charset="-120"/>
              </a:rPr>
              <a:t>正常化EBITDA 2.65億（営業利益2.00＋減価償却0.65）</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A38"/>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A85C6E"/>
                </a:solidFill>
                <a:latin typeface="Meiryo" pitchFamily="34" charset="0"/>
                <a:ea typeface="Meiryo" pitchFamily="34" charset="-122"/>
                <a:cs typeface="Meiryo" pitchFamily="34" charset="-120"/>
              </a:rPr>
              <a:t>選択肢 1 ─ MBO</a:t>
            </a:r>
            <a:endParaRPr lang="en-US" sz="1100" dirty="0"/>
          </a:p>
        </p:txBody>
      </p:sp>
      <p:sp>
        <p:nvSpPr>
          <p:cNvPr id="3" name="Text 1"/>
          <p:cNvSpPr txBox="1"/>
          <p:nvPr/>
        </p:nvSpPr>
        <p:spPr>
          <a:xfrm>
            <a:off x="640080" y="676656"/>
            <a:ext cx="10881360" cy="658368"/>
          </a:xfrm>
          <a:prstGeom prst="rect">
            <a:avLst/>
          </a:prstGeom>
          <a:noFill/>
          <a:ln/>
        </p:spPr>
        <p:txBody>
          <a:bodyPr wrap="square" lIns="0" tIns="0" rIns="0" bIns="0" rtlCol="0" anchor="ctr"/>
          <a:lstStyle/>
          <a:p>
            <a:pPr indent="0" marL="0">
              <a:buNone/>
            </a:pPr>
            <a:r>
              <a:rPr lang="en-US" sz="2800" b="1" dirty="0">
                <a:solidFill>
                  <a:srgbClr val="FFFFFF"/>
                </a:solidFill>
                <a:latin typeface="Meiryo" pitchFamily="34" charset="0"/>
                <a:ea typeface="Meiryo" pitchFamily="34" charset="-122"/>
                <a:cs typeface="Meiryo" pitchFamily="34" charset="-120"/>
              </a:rPr>
              <a:t>スキームと資金の流れ</a:t>
            </a:r>
            <a:endParaRPr lang="en-US" sz="2800" dirty="0"/>
          </a:p>
        </p:txBody>
      </p:sp>
      <p:sp>
        <p:nvSpPr>
          <p:cNvPr id="4" name="Shape 2"/>
          <p:cNvSpPr/>
          <p:nvPr/>
        </p:nvSpPr>
        <p:spPr>
          <a:xfrm>
            <a:off x="640080" y="1691640"/>
            <a:ext cx="1828800" cy="2240280"/>
          </a:xfrm>
          <a:prstGeom prst="roundRect">
            <a:avLst>
              <a:gd name="adj" fmla="val 3000"/>
            </a:avLst>
          </a:prstGeom>
          <a:solidFill>
            <a:srgbClr val="26333F"/>
          </a:solidFill>
          <a:ln w="25400">
            <a:solidFill>
              <a:srgbClr val="6E2639"/>
            </a:solidFill>
            <a:prstDash val="solid"/>
          </a:ln>
        </p:spPr>
      </p:sp>
      <p:sp>
        <p:nvSpPr>
          <p:cNvPr id="5" name="Text 3"/>
          <p:cNvSpPr txBox="1"/>
          <p:nvPr/>
        </p:nvSpPr>
        <p:spPr>
          <a:xfrm>
            <a:off x="804672" y="1856232"/>
            <a:ext cx="1517904" cy="457200"/>
          </a:xfrm>
          <a:prstGeom prst="rect">
            <a:avLst/>
          </a:prstGeom>
          <a:noFill/>
          <a:ln/>
        </p:spPr>
        <p:txBody>
          <a:bodyPr wrap="square" lIns="0" tIns="0" rIns="0" bIns="0" rtlCol="0" anchor="ctr"/>
          <a:lstStyle/>
          <a:p>
            <a:pPr indent="0" marL="0">
              <a:buNone/>
            </a:pPr>
            <a:r>
              <a:rPr lang="en-US" sz="1150" b="1" dirty="0">
                <a:solidFill>
                  <a:srgbClr val="A85C6E"/>
                </a:solidFill>
                <a:latin typeface="Meiryo" pitchFamily="34" charset="0"/>
                <a:ea typeface="Meiryo" pitchFamily="34" charset="-122"/>
                <a:cs typeface="Meiryo" pitchFamily="34" charset="-120"/>
              </a:rPr>
              <a:t>① 第三者割当増資</a:t>
            </a:r>
            <a:endParaRPr lang="en-US" sz="1150" dirty="0"/>
          </a:p>
        </p:txBody>
      </p:sp>
      <p:sp>
        <p:nvSpPr>
          <p:cNvPr id="6" name="Text 4"/>
          <p:cNvSpPr txBox="1"/>
          <p:nvPr/>
        </p:nvSpPr>
        <p:spPr>
          <a:xfrm>
            <a:off x="804672" y="2359152"/>
            <a:ext cx="1517904" cy="384048"/>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19.57億円</a:t>
            </a:r>
            <a:endParaRPr lang="en-US" sz="1800" dirty="0"/>
          </a:p>
        </p:txBody>
      </p:sp>
      <p:sp>
        <p:nvSpPr>
          <p:cNvPr id="7" name="Text 5"/>
          <p:cNvSpPr txBox="1"/>
          <p:nvPr/>
        </p:nvSpPr>
        <p:spPr>
          <a:xfrm>
            <a:off x="804672" y="2798064"/>
            <a:ext cx="1517904" cy="1005840"/>
          </a:xfrm>
          <a:prstGeom prst="rect">
            <a:avLst/>
          </a:prstGeom>
          <a:noFill/>
          <a:ln/>
        </p:spPr>
        <p:txBody>
          <a:bodyPr wrap="square" lIns="0" tIns="0" rIns="0" bIns="0" rtlCol="0" anchor="ctr"/>
          <a:lstStyle/>
          <a:p>
            <a:pPr indent="0" marL="0">
              <a:buNone/>
            </a:pPr>
            <a:r>
              <a:rPr lang="en-US" sz="950" dirty="0">
                <a:solidFill>
                  <a:srgbClr val="93A2AF"/>
                </a:solidFill>
                <a:latin typeface="Meiryo" pitchFamily="34" charset="0"/>
                <a:ea typeface="Meiryo" pitchFamily="34" charset="-122"/>
                <a:cs typeface="Meiryo" pitchFamily="34" charset="-120"/>
              </a:rPr>
              <a:t>中野ファンド 6.10億</a:t>
            </a:r>
            <a:endParaRPr lang="en-US" sz="950" dirty="0"/>
          </a:p>
          <a:p>
            <a:pPr indent="0" marL="0">
              <a:buNone/>
            </a:pPr>
            <a:r>
              <a:rPr lang="en-US" sz="950" dirty="0">
                <a:solidFill>
                  <a:srgbClr val="93A2AF"/>
                </a:solidFill>
                <a:latin typeface="Meiryo" pitchFamily="34" charset="0"/>
                <a:ea typeface="Meiryo" pitchFamily="34" charset="-122"/>
                <a:cs typeface="Meiryo" pitchFamily="34" charset="-120"/>
              </a:rPr>
              <a:t>パートナー 13.47億</a:t>
            </a:r>
            <a:endParaRPr lang="en-US" sz="950" dirty="0"/>
          </a:p>
        </p:txBody>
      </p:sp>
      <p:sp>
        <p:nvSpPr>
          <p:cNvPr id="8" name="Shape 6"/>
          <p:cNvSpPr/>
          <p:nvPr/>
        </p:nvSpPr>
        <p:spPr>
          <a:xfrm>
            <a:off x="3703320" y="1691640"/>
            <a:ext cx="1828800" cy="2240280"/>
          </a:xfrm>
          <a:prstGeom prst="roundRect">
            <a:avLst>
              <a:gd name="adj" fmla="val 3000"/>
            </a:avLst>
          </a:prstGeom>
          <a:solidFill>
            <a:srgbClr val="26333F"/>
          </a:solidFill>
          <a:ln w="12700">
            <a:solidFill>
              <a:srgbClr val="3A4854"/>
            </a:solidFill>
            <a:prstDash val="solid"/>
          </a:ln>
        </p:spPr>
      </p:sp>
      <p:sp>
        <p:nvSpPr>
          <p:cNvPr id="9" name="Text 7"/>
          <p:cNvSpPr txBox="1"/>
          <p:nvPr/>
        </p:nvSpPr>
        <p:spPr>
          <a:xfrm>
            <a:off x="3867912" y="1856232"/>
            <a:ext cx="1517904" cy="457200"/>
          </a:xfrm>
          <a:prstGeom prst="rect">
            <a:avLst/>
          </a:prstGeom>
          <a:noFill/>
          <a:ln/>
        </p:spPr>
        <p:txBody>
          <a:bodyPr wrap="square" lIns="0" tIns="0" rIns="0" bIns="0" rtlCol="0" anchor="ctr"/>
          <a:lstStyle/>
          <a:p>
            <a:pPr indent="0" marL="0">
              <a:buNone/>
            </a:pPr>
            <a:r>
              <a:rPr lang="en-US" sz="1150" b="1" dirty="0">
                <a:solidFill>
                  <a:srgbClr val="C3CDD6"/>
                </a:solidFill>
                <a:latin typeface="Meiryo" pitchFamily="34" charset="0"/>
                <a:ea typeface="Meiryo" pitchFamily="34" charset="-122"/>
                <a:cs typeface="Meiryo" pitchFamily="34" charset="-120"/>
              </a:rPr>
              <a:t>② 自己株式取得</a:t>
            </a:r>
            <a:endParaRPr lang="en-US" sz="1150" dirty="0"/>
          </a:p>
        </p:txBody>
      </p:sp>
      <p:sp>
        <p:nvSpPr>
          <p:cNvPr id="10" name="Text 8"/>
          <p:cNvSpPr txBox="1"/>
          <p:nvPr/>
        </p:nvSpPr>
        <p:spPr>
          <a:xfrm>
            <a:off x="3867912" y="2359152"/>
            <a:ext cx="1517904" cy="384048"/>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12.72億円</a:t>
            </a:r>
            <a:endParaRPr lang="en-US" sz="1800" dirty="0"/>
          </a:p>
        </p:txBody>
      </p:sp>
      <p:sp>
        <p:nvSpPr>
          <p:cNvPr id="11" name="Text 9"/>
          <p:cNvSpPr txBox="1"/>
          <p:nvPr/>
        </p:nvSpPr>
        <p:spPr>
          <a:xfrm>
            <a:off x="3867912" y="2798064"/>
            <a:ext cx="1517904" cy="1005840"/>
          </a:xfrm>
          <a:prstGeom prst="rect">
            <a:avLst/>
          </a:prstGeom>
          <a:noFill/>
          <a:ln/>
        </p:spPr>
        <p:txBody>
          <a:bodyPr wrap="square" lIns="0" tIns="0" rIns="0" bIns="0" rtlCol="0" anchor="ctr"/>
          <a:lstStyle/>
          <a:p>
            <a:pPr indent="0" marL="0">
              <a:buNone/>
            </a:pPr>
            <a:r>
              <a:rPr lang="en-US" sz="950" dirty="0">
                <a:solidFill>
                  <a:srgbClr val="93A2AF"/>
                </a:solidFill>
                <a:latin typeface="Meiryo" pitchFamily="34" charset="0"/>
                <a:ea typeface="Meiryo" pitchFamily="34" charset="-122"/>
                <a:cs typeface="Meiryo" pitchFamily="34" charset="-120"/>
              </a:rPr>
              <a:t>中野以外の全株主</a:t>
            </a:r>
            <a:endParaRPr lang="en-US" sz="950" dirty="0"/>
          </a:p>
          <a:p>
            <a:pPr indent="0" marL="0">
              <a:buNone/>
            </a:pPr>
            <a:r>
              <a:rPr lang="en-US" sz="950" dirty="0">
                <a:solidFill>
                  <a:srgbClr val="93A2AF"/>
                </a:solidFill>
                <a:latin typeface="Meiryo" pitchFamily="34" charset="0"/>
                <a:ea typeface="Meiryo" pitchFamily="34" charset="-122"/>
                <a:cs typeface="Meiryo" pitchFamily="34" charset="-120"/>
              </a:rPr>
              <a:t>127,616株を会社が買取</a:t>
            </a:r>
            <a:endParaRPr lang="en-US" sz="950" dirty="0"/>
          </a:p>
        </p:txBody>
      </p:sp>
      <p:sp>
        <p:nvSpPr>
          <p:cNvPr id="12" name="Shape 10"/>
          <p:cNvSpPr/>
          <p:nvPr/>
        </p:nvSpPr>
        <p:spPr>
          <a:xfrm>
            <a:off x="6766560" y="1691640"/>
            <a:ext cx="1828800" cy="2240280"/>
          </a:xfrm>
          <a:prstGeom prst="roundRect">
            <a:avLst>
              <a:gd name="adj" fmla="val 3000"/>
            </a:avLst>
          </a:prstGeom>
          <a:solidFill>
            <a:srgbClr val="26333F"/>
          </a:solidFill>
          <a:ln w="12700">
            <a:solidFill>
              <a:srgbClr val="3A4854"/>
            </a:solidFill>
            <a:prstDash val="solid"/>
          </a:ln>
        </p:spPr>
      </p:sp>
      <p:sp>
        <p:nvSpPr>
          <p:cNvPr id="13" name="Text 11"/>
          <p:cNvSpPr txBox="1"/>
          <p:nvPr/>
        </p:nvSpPr>
        <p:spPr>
          <a:xfrm>
            <a:off x="6931152" y="1856232"/>
            <a:ext cx="1517904" cy="457200"/>
          </a:xfrm>
          <a:prstGeom prst="rect">
            <a:avLst/>
          </a:prstGeom>
          <a:noFill/>
          <a:ln/>
        </p:spPr>
        <p:txBody>
          <a:bodyPr wrap="square" lIns="0" tIns="0" rIns="0" bIns="0" rtlCol="0" anchor="ctr"/>
          <a:lstStyle/>
          <a:p>
            <a:pPr indent="0" marL="0">
              <a:buNone/>
            </a:pPr>
            <a:r>
              <a:rPr lang="en-US" sz="1150" b="1" dirty="0">
                <a:solidFill>
                  <a:srgbClr val="C3CDD6"/>
                </a:solidFill>
                <a:latin typeface="Meiryo" pitchFamily="34" charset="0"/>
                <a:ea typeface="Meiryo" pitchFamily="34" charset="-122"/>
                <a:cs typeface="Meiryo" pitchFamily="34" charset="-120"/>
              </a:rPr>
              <a:t>③ ビジョン借入の返済</a:t>
            </a:r>
            <a:endParaRPr lang="en-US" sz="1150" dirty="0"/>
          </a:p>
        </p:txBody>
      </p:sp>
      <p:sp>
        <p:nvSpPr>
          <p:cNvPr id="14" name="Text 12"/>
          <p:cNvSpPr txBox="1"/>
          <p:nvPr/>
        </p:nvSpPr>
        <p:spPr>
          <a:xfrm>
            <a:off x="6931152" y="2359152"/>
            <a:ext cx="1517904" cy="384048"/>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7.90億円</a:t>
            </a:r>
            <a:endParaRPr lang="en-US" sz="1800" dirty="0"/>
          </a:p>
        </p:txBody>
      </p:sp>
      <p:sp>
        <p:nvSpPr>
          <p:cNvPr id="15" name="Text 13"/>
          <p:cNvSpPr txBox="1"/>
          <p:nvPr/>
        </p:nvSpPr>
        <p:spPr>
          <a:xfrm>
            <a:off x="6931152" y="2798064"/>
            <a:ext cx="1517904" cy="1005840"/>
          </a:xfrm>
          <a:prstGeom prst="rect">
            <a:avLst/>
          </a:prstGeom>
          <a:noFill/>
          <a:ln/>
        </p:spPr>
        <p:txBody>
          <a:bodyPr wrap="square" lIns="0" tIns="0" rIns="0" bIns="0" rtlCol="0" anchor="ctr"/>
          <a:lstStyle/>
          <a:p>
            <a:pPr indent="0" marL="0">
              <a:buNone/>
            </a:pPr>
            <a:r>
              <a:rPr lang="en-US" sz="950" dirty="0">
                <a:solidFill>
                  <a:srgbClr val="93A2AF"/>
                </a:solidFill>
                <a:latin typeface="Meiryo" pitchFamily="34" charset="0"/>
                <a:ea typeface="Meiryo" pitchFamily="34" charset="-122"/>
                <a:cs typeface="Meiryo" pitchFamily="34" charset="-120"/>
              </a:rPr>
              <a:t>増資4.90億＋みずほ3.00億</a:t>
            </a:r>
            <a:endParaRPr lang="en-US" sz="950" dirty="0"/>
          </a:p>
          <a:p>
            <a:pPr indent="0" marL="0">
              <a:buNone/>
            </a:pPr>
            <a:r>
              <a:rPr lang="en-US" sz="950" dirty="0">
                <a:solidFill>
                  <a:srgbClr val="93A2AF"/>
                </a:solidFill>
                <a:latin typeface="Meiryo" pitchFamily="34" charset="0"/>
                <a:ea typeface="Meiryo" pitchFamily="34" charset="-122"/>
                <a:cs typeface="Meiryo" pitchFamily="34" charset="-120"/>
              </a:rPr>
              <a:t>資本・債権関係を完全解消</a:t>
            </a:r>
            <a:endParaRPr lang="en-US" sz="950" dirty="0"/>
          </a:p>
        </p:txBody>
      </p:sp>
      <p:sp>
        <p:nvSpPr>
          <p:cNvPr id="16" name="Shape 14"/>
          <p:cNvSpPr/>
          <p:nvPr/>
        </p:nvSpPr>
        <p:spPr>
          <a:xfrm>
            <a:off x="9829800" y="1691640"/>
            <a:ext cx="1828800" cy="2240280"/>
          </a:xfrm>
          <a:prstGeom prst="roundRect">
            <a:avLst>
              <a:gd name="adj" fmla="val 3000"/>
            </a:avLst>
          </a:prstGeom>
          <a:solidFill>
            <a:srgbClr val="26333F"/>
          </a:solidFill>
          <a:ln w="12700">
            <a:solidFill>
              <a:srgbClr val="3A4854"/>
            </a:solidFill>
            <a:prstDash val="solid"/>
          </a:ln>
        </p:spPr>
      </p:sp>
      <p:sp>
        <p:nvSpPr>
          <p:cNvPr id="17" name="Text 15"/>
          <p:cNvSpPr txBox="1"/>
          <p:nvPr/>
        </p:nvSpPr>
        <p:spPr>
          <a:xfrm>
            <a:off x="9994392" y="1856232"/>
            <a:ext cx="1517904" cy="457200"/>
          </a:xfrm>
          <a:prstGeom prst="rect">
            <a:avLst/>
          </a:prstGeom>
          <a:noFill/>
          <a:ln/>
        </p:spPr>
        <p:txBody>
          <a:bodyPr wrap="square" lIns="0" tIns="0" rIns="0" bIns="0" rtlCol="0" anchor="ctr"/>
          <a:lstStyle/>
          <a:p>
            <a:pPr indent="0" marL="0">
              <a:buNone/>
            </a:pPr>
            <a:r>
              <a:rPr lang="en-US" sz="1150" b="1" dirty="0">
                <a:solidFill>
                  <a:srgbClr val="C3CDD6"/>
                </a:solidFill>
                <a:latin typeface="Meiryo" pitchFamily="34" charset="0"/>
                <a:ea typeface="Meiryo" pitchFamily="34" charset="-122"/>
                <a:cs typeface="Meiryo" pitchFamily="34" charset="-120"/>
              </a:rPr>
              <a:t>④ 手元資金</a:t>
            </a:r>
            <a:endParaRPr lang="en-US" sz="1150" dirty="0"/>
          </a:p>
        </p:txBody>
      </p:sp>
      <p:sp>
        <p:nvSpPr>
          <p:cNvPr id="18" name="Text 16"/>
          <p:cNvSpPr txBox="1"/>
          <p:nvPr/>
        </p:nvSpPr>
        <p:spPr>
          <a:xfrm>
            <a:off x="9994392" y="2359152"/>
            <a:ext cx="1517904" cy="384048"/>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1.50億円</a:t>
            </a:r>
            <a:endParaRPr lang="en-US" sz="1800" dirty="0"/>
          </a:p>
        </p:txBody>
      </p:sp>
      <p:sp>
        <p:nvSpPr>
          <p:cNvPr id="19" name="Text 17"/>
          <p:cNvSpPr txBox="1"/>
          <p:nvPr/>
        </p:nvSpPr>
        <p:spPr>
          <a:xfrm>
            <a:off x="9994392" y="2798064"/>
            <a:ext cx="1517904" cy="1005840"/>
          </a:xfrm>
          <a:prstGeom prst="rect">
            <a:avLst/>
          </a:prstGeom>
          <a:noFill/>
          <a:ln/>
        </p:spPr>
        <p:txBody>
          <a:bodyPr wrap="square" lIns="0" tIns="0" rIns="0" bIns="0" rtlCol="0" anchor="ctr"/>
          <a:lstStyle/>
          <a:p>
            <a:pPr indent="0" marL="0">
              <a:buNone/>
            </a:pPr>
            <a:r>
              <a:rPr lang="en-US" sz="950" dirty="0">
                <a:solidFill>
                  <a:srgbClr val="93A2AF"/>
                </a:solidFill>
                <a:latin typeface="Meiryo" pitchFamily="34" charset="0"/>
                <a:ea typeface="Meiryo" pitchFamily="34" charset="-122"/>
                <a:cs typeface="Meiryo" pitchFamily="34" charset="-120"/>
              </a:rPr>
              <a:t>運転資金として留保</a:t>
            </a:r>
            <a:endParaRPr lang="en-US" sz="950" dirty="0"/>
          </a:p>
          <a:p>
            <a:pPr indent="0" marL="0">
              <a:buNone/>
            </a:pPr>
            <a:r>
              <a:rPr lang="en-US" sz="950" dirty="0">
                <a:solidFill>
                  <a:srgbClr val="93A2AF"/>
                </a:solidFill>
                <a:latin typeface="Meiryo" pitchFamily="34" charset="0"/>
                <a:ea typeface="Meiryo" pitchFamily="34" charset="-122"/>
                <a:cs typeface="Meiryo" pitchFamily="34" charset="-120"/>
              </a:rPr>
              <a:t>現預金は2.19億へ</a:t>
            </a:r>
            <a:endParaRPr lang="en-US" sz="950" dirty="0"/>
          </a:p>
        </p:txBody>
      </p:sp>
      <p:sp>
        <p:nvSpPr>
          <p:cNvPr id="20" name="Text 18"/>
          <p:cNvSpPr txBox="1"/>
          <p:nvPr/>
        </p:nvSpPr>
        <p:spPr>
          <a:xfrm>
            <a:off x="2514600" y="2670048"/>
            <a:ext cx="457200" cy="365760"/>
          </a:xfrm>
          <a:prstGeom prst="rect">
            <a:avLst/>
          </a:prstGeom>
          <a:noFill/>
          <a:ln/>
        </p:spPr>
        <p:txBody>
          <a:bodyPr wrap="square" lIns="0" tIns="0" rIns="0" bIns="0" rtlCol="0" anchor="ctr"/>
          <a:lstStyle/>
          <a:p>
            <a:pPr algn="ctr" indent="0" marL="0">
              <a:buNone/>
            </a:pPr>
            <a:r>
              <a:rPr lang="en-US" sz="1300" dirty="0">
                <a:solidFill>
                  <a:srgbClr val="6E2639"/>
                </a:solidFill>
                <a:latin typeface="Meiryo" pitchFamily="34" charset="0"/>
                <a:ea typeface="Meiryo" pitchFamily="34" charset="-122"/>
                <a:cs typeface="Meiryo" pitchFamily="34" charset="-120"/>
              </a:rPr>
              <a:t>▶</a:t>
            </a:r>
            <a:endParaRPr lang="en-US" sz="1300" dirty="0"/>
          </a:p>
        </p:txBody>
      </p:sp>
      <p:sp>
        <p:nvSpPr>
          <p:cNvPr id="21" name="Text 19"/>
          <p:cNvSpPr txBox="1"/>
          <p:nvPr/>
        </p:nvSpPr>
        <p:spPr>
          <a:xfrm>
            <a:off x="5577840" y="2670048"/>
            <a:ext cx="457200" cy="365760"/>
          </a:xfrm>
          <a:prstGeom prst="rect">
            <a:avLst/>
          </a:prstGeom>
          <a:noFill/>
          <a:ln/>
        </p:spPr>
        <p:txBody>
          <a:bodyPr wrap="square" lIns="0" tIns="0" rIns="0" bIns="0" rtlCol="0" anchor="ctr"/>
          <a:lstStyle/>
          <a:p>
            <a:pPr algn="ctr" indent="0" marL="0">
              <a:buNone/>
            </a:pPr>
            <a:r>
              <a:rPr lang="en-US" sz="1300" dirty="0">
                <a:solidFill>
                  <a:srgbClr val="6E2639"/>
                </a:solidFill>
                <a:latin typeface="Meiryo" pitchFamily="34" charset="0"/>
                <a:ea typeface="Meiryo" pitchFamily="34" charset="-122"/>
                <a:cs typeface="Meiryo" pitchFamily="34" charset="-120"/>
              </a:rPr>
              <a:t>▶</a:t>
            </a:r>
            <a:endParaRPr lang="en-US" sz="1300" dirty="0"/>
          </a:p>
        </p:txBody>
      </p:sp>
      <p:sp>
        <p:nvSpPr>
          <p:cNvPr id="22" name="Text 20"/>
          <p:cNvSpPr txBox="1"/>
          <p:nvPr/>
        </p:nvSpPr>
        <p:spPr>
          <a:xfrm>
            <a:off x="8641080" y="2670048"/>
            <a:ext cx="457200" cy="365760"/>
          </a:xfrm>
          <a:prstGeom prst="rect">
            <a:avLst/>
          </a:prstGeom>
          <a:noFill/>
          <a:ln/>
        </p:spPr>
        <p:txBody>
          <a:bodyPr wrap="square" lIns="0" tIns="0" rIns="0" bIns="0" rtlCol="0" anchor="ctr"/>
          <a:lstStyle/>
          <a:p>
            <a:pPr algn="ctr" indent="0" marL="0">
              <a:buNone/>
            </a:pPr>
            <a:r>
              <a:rPr lang="en-US" sz="1300" dirty="0">
                <a:solidFill>
                  <a:srgbClr val="6E2639"/>
                </a:solidFill>
                <a:latin typeface="Meiryo" pitchFamily="34" charset="0"/>
                <a:ea typeface="Meiryo" pitchFamily="34" charset="-122"/>
                <a:cs typeface="Meiryo" pitchFamily="34" charset="-120"/>
              </a:rPr>
              <a:t>▶</a:t>
            </a:r>
            <a:endParaRPr lang="en-US" sz="1300" dirty="0"/>
          </a:p>
        </p:txBody>
      </p:sp>
      <p:sp>
        <p:nvSpPr>
          <p:cNvPr id="23" name="Shape 21"/>
          <p:cNvSpPr/>
          <p:nvPr/>
        </p:nvSpPr>
        <p:spPr>
          <a:xfrm>
            <a:off x="640080" y="4206240"/>
            <a:ext cx="10881360" cy="1691640"/>
          </a:xfrm>
          <a:prstGeom prst="roundRect">
            <a:avLst>
              <a:gd name="adj" fmla="val 3243"/>
            </a:avLst>
          </a:prstGeom>
          <a:solidFill>
            <a:srgbClr val="26333F"/>
          </a:solidFill>
          <a:ln w="12700">
            <a:solidFill>
              <a:srgbClr val="3A4854"/>
            </a:solidFill>
            <a:prstDash val="solid"/>
          </a:ln>
        </p:spPr>
      </p:sp>
      <p:sp>
        <p:nvSpPr>
          <p:cNvPr id="24" name="Text 22"/>
          <p:cNvSpPr txBox="1"/>
          <p:nvPr/>
        </p:nvSpPr>
        <p:spPr>
          <a:xfrm>
            <a:off x="914400" y="4389120"/>
            <a:ext cx="5486400" cy="320040"/>
          </a:xfrm>
          <a:prstGeom prst="rect">
            <a:avLst/>
          </a:prstGeom>
          <a:noFill/>
          <a:ln/>
        </p:spPr>
        <p:txBody>
          <a:bodyPr wrap="square" lIns="0" tIns="0" rIns="0" bIns="0" rtlCol="0" anchor="ctr"/>
          <a:lstStyle/>
          <a:p>
            <a:pPr indent="0" marL="0">
              <a:buNone/>
            </a:pPr>
            <a:r>
              <a:rPr lang="en-US" sz="1500" b="1" dirty="0">
                <a:solidFill>
                  <a:srgbClr val="FFFFFF"/>
                </a:solidFill>
                <a:latin typeface="Meiryo" pitchFamily="34" charset="0"/>
                <a:ea typeface="Meiryo" pitchFamily="34" charset="-122"/>
                <a:cs typeface="Meiryo" pitchFamily="34" charset="-120"/>
              </a:rPr>
              <a:t>取引後の株主は2者のみ</a:t>
            </a:r>
            <a:endParaRPr lang="en-US" sz="1500" dirty="0"/>
          </a:p>
        </p:txBody>
      </p:sp>
      <p:sp>
        <p:nvSpPr>
          <p:cNvPr id="25" name="Text 23"/>
          <p:cNvSpPr txBox="1"/>
          <p:nvPr/>
        </p:nvSpPr>
        <p:spPr>
          <a:xfrm>
            <a:off x="914400" y="4846320"/>
            <a:ext cx="5029200" cy="274320"/>
          </a:xfrm>
          <a:prstGeom prst="rect">
            <a:avLst/>
          </a:prstGeom>
          <a:noFill/>
          <a:ln/>
        </p:spPr>
        <p:txBody>
          <a:bodyPr wrap="square" lIns="0" tIns="0" rIns="0" bIns="0" rtlCol="0" anchor="ctr"/>
          <a:lstStyle/>
          <a:p>
            <a:pPr indent="0" marL="0">
              <a:buNone/>
            </a:pPr>
            <a:r>
              <a:rPr lang="en-US" sz="1200" dirty="0">
                <a:solidFill>
                  <a:srgbClr val="93A2AF"/>
                </a:solidFill>
                <a:latin typeface="Meiryo" pitchFamily="34" charset="0"/>
                <a:ea typeface="Meiryo" pitchFamily="34" charset="-122"/>
                <a:cs typeface="Meiryo" pitchFamily="34" charset="-120"/>
              </a:rPr>
              <a:t>中野陣営</a:t>
            </a:r>
            <a:endParaRPr lang="en-US" sz="1200" dirty="0"/>
          </a:p>
        </p:txBody>
      </p:sp>
      <p:sp>
        <p:nvSpPr>
          <p:cNvPr id="26" name="Text 24"/>
          <p:cNvSpPr txBox="1"/>
          <p:nvPr/>
        </p:nvSpPr>
        <p:spPr>
          <a:xfrm>
            <a:off x="914400" y="5084064"/>
            <a:ext cx="5029200" cy="402336"/>
          </a:xfrm>
          <a:prstGeom prst="rect">
            <a:avLst/>
          </a:prstGeom>
          <a:noFill/>
          <a:ln/>
        </p:spPr>
        <p:txBody>
          <a:bodyPr wrap="square" lIns="0" tIns="0" rIns="0" bIns="0" rtlCol="0" anchor="ctr"/>
          <a:lstStyle/>
          <a:p>
            <a:pPr indent="0" marL="0">
              <a:buNone/>
            </a:pPr>
            <a:r>
              <a:rPr lang="en-US" sz="2400" b="1" dirty="0">
                <a:solidFill>
                  <a:srgbClr val="A85C6E"/>
                </a:solidFill>
                <a:latin typeface="Meiryo" pitchFamily="34" charset="0"/>
                <a:ea typeface="Meiryo" pitchFamily="34" charset="-122"/>
                <a:cs typeface="Meiryo" pitchFamily="34" charset="-120"/>
              </a:rPr>
              <a:t>50.000%</a:t>
            </a:r>
            <a:endParaRPr lang="en-US" sz="2400" dirty="0"/>
          </a:p>
        </p:txBody>
      </p:sp>
      <p:sp>
        <p:nvSpPr>
          <p:cNvPr id="27" name="Text 25"/>
          <p:cNvSpPr txBox="1"/>
          <p:nvPr/>
        </p:nvSpPr>
        <p:spPr>
          <a:xfrm>
            <a:off x="914400" y="5477256"/>
            <a:ext cx="5029200" cy="274320"/>
          </a:xfrm>
          <a:prstGeom prst="rect">
            <a:avLst/>
          </a:prstGeom>
          <a:noFill/>
          <a:ln/>
        </p:spPr>
        <p:txBody>
          <a:bodyPr wrap="square" lIns="0" tIns="0" rIns="0" bIns="0" rtlCol="0" anchor="ctr"/>
          <a:lstStyle/>
          <a:p>
            <a:pPr indent="0" marL="0">
              <a:buNone/>
            </a:pPr>
            <a:r>
              <a:rPr lang="en-US" sz="950" dirty="0">
                <a:solidFill>
                  <a:srgbClr val="93A2AF"/>
                </a:solidFill>
                <a:latin typeface="Meiryo" pitchFamily="34" charset="0"/>
                <a:ea typeface="Meiryo" pitchFamily="34" charset="-122"/>
                <a:cs typeface="Meiryo" pitchFamily="34" charset="-120"/>
              </a:rPr>
              <a:t>中野邦人 74,000株（SO行使後）＋ 中野ファンド 61,180株</a:t>
            </a:r>
            <a:endParaRPr lang="en-US" sz="950" dirty="0"/>
          </a:p>
        </p:txBody>
      </p:sp>
      <p:sp>
        <p:nvSpPr>
          <p:cNvPr id="28" name="Text 26"/>
          <p:cNvSpPr txBox="1"/>
          <p:nvPr/>
        </p:nvSpPr>
        <p:spPr>
          <a:xfrm>
            <a:off x="6263640" y="4846320"/>
            <a:ext cx="5029200" cy="274320"/>
          </a:xfrm>
          <a:prstGeom prst="rect">
            <a:avLst/>
          </a:prstGeom>
          <a:noFill/>
          <a:ln/>
        </p:spPr>
        <p:txBody>
          <a:bodyPr wrap="square" lIns="0" tIns="0" rIns="0" bIns="0" rtlCol="0" anchor="ctr"/>
          <a:lstStyle/>
          <a:p>
            <a:pPr indent="0" marL="0">
              <a:buNone/>
            </a:pPr>
            <a:r>
              <a:rPr lang="en-US" sz="1200" dirty="0">
                <a:solidFill>
                  <a:srgbClr val="93A2AF"/>
                </a:solidFill>
                <a:latin typeface="Meiryo" pitchFamily="34" charset="0"/>
                <a:ea typeface="Meiryo" pitchFamily="34" charset="-122"/>
                <a:cs typeface="Meiryo" pitchFamily="34" charset="-120"/>
              </a:rPr>
              <a:t>パートナー</a:t>
            </a:r>
            <a:endParaRPr lang="en-US" sz="1200" dirty="0"/>
          </a:p>
        </p:txBody>
      </p:sp>
      <p:sp>
        <p:nvSpPr>
          <p:cNvPr id="29" name="Text 27"/>
          <p:cNvSpPr txBox="1"/>
          <p:nvPr/>
        </p:nvSpPr>
        <p:spPr>
          <a:xfrm>
            <a:off x="6263640" y="5084064"/>
            <a:ext cx="5029200" cy="402336"/>
          </a:xfrm>
          <a:prstGeom prst="rect">
            <a:avLst/>
          </a:prstGeom>
          <a:noFill/>
          <a:ln/>
        </p:spPr>
        <p:txBody>
          <a:bodyPr wrap="square" lIns="0" tIns="0" rIns="0" bIns="0" rtlCol="0" anchor="ctr"/>
          <a:lstStyle/>
          <a:p>
            <a:pPr indent="0" marL="0">
              <a:buNone/>
            </a:pPr>
            <a:r>
              <a:rPr lang="en-US" sz="2400" b="1" dirty="0">
                <a:solidFill>
                  <a:srgbClr val="8FB0CC"/>
                </a:solidFill>
                <a:latin typeface="Meiryo" pitchFamily="34" charset="0"/>
                <a:ea typeface="Meiryo" pitchFamily="34" charset="-122"/>
                <a:cs typeface="Meiryo" pitchFamily="34" charset="-120"/>
              </a:rPr>
              <a:t>50.000%</a:t>
            </a:r>
            <a:endParaRPr lang="en-US" sz="2400" dirty="0"/>
          </a:p>
        </p:txBody>
      </p:sp>
      <p:sp>
        <p:nvSpPr>
          <p:cNvPr id="30" name="Text 28"/>
          <p:cNvSpPr txBox="1"/>
          <p:nvPr/>
        </p:nvSpPr>
        <p:spPr>
          <a:xfrm>
            <a:off x="6263640" y="5477256"/>
            <a:ext cx="5029200" cy="274320"/>
          </a:xfrm>
          <a:prstGeom prst="rect">
            <a:avLst/>
          </a:prstGeom>
          <a:noFill/>
          <a:ln/>
        </p:spPr>
        <p:txBody>
          <a:bodyPr wrap="square" lIns="0" tIns="0" rIns="0" bIns="0" rtlCol="0" anchor="ctr"/>
          <a:lstStyle/>
          <a:p>
            <a:pPr indent="0" marL="0">
              <a:buNone/>
            </a:pPr>
            <a:r>
              <a:rPr lang="en-US" sz="950" dirty="0">
                <a:solidFill>
                  <a:srgbClr val="93A2AF"/>
                </a:solidFill>
                <a:latin typeface="Meiryo" pitchFamily="34" charset="0"/>
                <a:ea typeface="Meiryo" pitchFamily="34" charset="-122"/>
                <a:cs typeface="Meiryo" pitchFamily="34" charset="-120"/>
              </a:rPr>
              <a:t>135,180株（ヒューリック／東京建物等）</a:t>
            </a:r>
            <a:endParaRPr lang="en-US" sz="950" dirty="0"/>
          </a:p>
        </p:txBody>
      </p:sp>
      <p:sp>
        <p:nvSpPr>
          <p:cNvPr id="31" name="Text 29"/>
          <p:cNvSpPr txBox="1"/>
          <p:nvPr/>
        </p:nvSpPr>
        <p:spPr>
          <a:xfrm>
            <a:off x="640080" y="6080760"/>
            <a:ext cx="10881360" cy="274320"/>
          </a:xfrm>
          <a:prstGeom prst="rect">
            <a:avLst/>
          </a:prstGeom>
          <a:noFill/>
          <a:ln/>
        </p:spPr>
        <p:txBody>
          <a:bodyPr wrap="square" lIns="0" tIns="0" rIns="0" bIns="0" rtlCol="0" anchor="ctr"/>
          <a:lstStyle/>
          <a:p>
            <a:pPr indent="0" marL="0">
              <a:buNone/>
            </a:pPr>
            <a:r>
              <a:rPr lang="en-US" sz="1050" dirty="0">
                <a:solidFill>
                  <a:srgbClr val="7F8E9B"/>
                </a:solidFill>
                <a:latin typeface="Meiryo" pitchFamily="34" charset="0"/>
                <a:ea typeface="Meiryo" pitchFamily="34" charset="-122"/>
                <a:cs typeface="Meiryo" pitchFamily="34" charset="-120"/>
              </a:rPr>
              <a:t>既存株主7社（ビジョン・BOS・エアトリ・KUMA・フィル・ベクトル・アンビション）は全株を売却し、株主名簿から外れます</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9"/>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6E2639"/>
                </a:solidFill>
                <a:latin typeface="Meiryo" pitchFamily="34" charset="0"/>
                <a:ea typeface="Meiryo" pitchFamily="34" charset="-122"/>
                <a:cs typeface="Meiryo" pitchFamily="34" charset="-120"/>
              </a:rPr>
              <a:t>選択肢 1 ─ MBO</a:t>
            </a:r>
            <a:endParaRPr lang="en-US" sz="1100" dirty="0"/>
          </a:p>
        </p:txBody>
      </p:sp>
      <p:sp>
        <p:nvSpPr>
          <p:cNvPr id="3" name="Text 1"/>
          <p:cNvSpPr txBox="1"/>
          <p:nvPr/>
        </p:nvSpPr>
        <p:spPr>
          <a:xfrm>
            <a:off x="640080" y="676656"/>
            <a:ext cx="10881360" cy="658368"/>
          </a:xfrm>
          <a:prstGeom prst="rect">
            <a:avLst/>
          </a:prstGeom>
          <a:noFill/>
          <a:ln/>
        </p:spPr>
        <p:txBody>
          <a:bodyPr wrap="square" lIns="0" tIns="0" rIns="0" bIns="0" rtlCol="0" anchor="ctr"/>
          <a:lstStyle/>
          <a:p>
            <a:pPr indent="0" marL="0">
              <a:buNone/>
            </a:pPr>
            <a:r>
              <a:rPr lang="en-US" sz="2800" b="1" dirty="0">
                <a:solidFill>
                  <a:srgbClr val="1E2A38"/>
                </a:solidFill>
                <a:latin typeface="Meiryo" pitchFamily="34" charset="0"/>
                <a:ea typeface="Meiryo" pitchFamily="34" charset="-122"/>
                <a:cs typeface="Meiryo" pitchFamily="34" charset="-120"/>
              </a:rPr>
              <a:t>想定バランスシート</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1572768"/>
          <a:ext cx="10881360" cy="914400"/>
        </p:xfrm>
        <a:graphic>
          <a:graphicData uri="http://schemas.openxmlformats.org/drawingml/2006/table">
            <a:tbl>
              <a:tblPr/>
              <a:tblGrid>
                <a:gridCol w="3474720"/>
                <a:gridCol w="2468880"/>
                <a:gridCol w="2468880"/>
                <a:gridCol w="2468880"/>
              </a:tblGrid>
              <a:tr h="329184">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科目</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c>
                  <a:txBody>
                    <a:bodyPr/>
                    <a:lstStyle/>
                    <a:p>
                      <a:pPr algn="r" indent="0" marL="0">
                        <a:buNone/>
                      </a:pPr>
                      <a:r>
                        <a:rPr lang="en-US" sz="1100" b="1" dirty="0">
                          <a:solidFill>
                            <a:srgbClr val="FFFFFF"/>
                          </a:solidFill>
                          <a:latin typeface="Meiryo" pitchFamily="34" charset="0"/>
                          <a:ea typeface="Meiryo" pitchFamily="34" charset="-122"/>
                          <a:cs typeface="Meiryo" pitchFamily="34" charset="-120"/>
                        </a:rPr>
                        <a:t>第10期末 実績</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c>
                  <a:txBody>
                    <a:bodyPr/>
                    <a:lstStyle/>
                    <a:p>
                      <a:pPr algn="r" indent="0" marL="0">
                        <a:buNone/>
                      </a:pPr>
                      <a:r>
                        <a:rPr lang="en-US" sz="1100" b="1" dirty="0">
                          <a:solidFill>
                            <a:srgbClr val="FFFFFF"/>
                          </a:solidFill>
                          <a:latin typeface="Meiryo" pitchFamily="34" charset="0"/>
                          <a:ea typeface="Meiryo" pitchFamily="34" charset="-122"/>
                          <a:cs typeface="Meiryo" pitchFamily="34" charset="-120"/>
                        </a:rPr>
                        <a:t>クロージング直前</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c>
                  <a:txBody>
                    <a:bodyPr/>
                    <a:lstStyle/>
                    <a:p>
                      <a:pPr algn="r" indent="0" marL="0">
                        <a:buNone/>
                      </a:pPr>
                      <a:r>
                        <a:rPr lang="en-US" sz="1100" b="1" dirty="0">
                          <a:solidFill>
                            <a:srgbClr val="FFFFFF"/>
                          </a:solidFill>
                          <a:latin typeface="Meiryo" pitchFamily="34" charset="0"/>
                          <a:ea typeface="Meiryo" pitchFamily="34" charset="-122"/>
                          <a:cs typeface="Meiryo" pitchFamily="34" charset="-120"/>
                        </a:rPr>
                        <a:t>取引後（想定）</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r>
              <a:tr h="329184">
                <a:tc>
                  <a:txBody>
                    <a:bodyPr/>
                    <a:lstStyle/>
                    <a:p>
                      <a:pPr indent="0" marL="0">
                        <a:buNone/>
                      </a:pPr>
                      <a:r>
                        <a:rPr lang="en-US" sz="1150" b="1" dirty="0">
                          <a:solidFill>
                            <a:srgbClr val="3D4E60"/>
                          </a:solidFill>
                          <a:latin typeface="Meiryo" pitchFamily="34" charset="0"/>
                          <a:ea typeface="Meiryo" pitchFamily="34" charset="-122"/>
                          <a:cs typeface="Meiryo" pitchFamily="34" charset="-120"/>
                        </a:rPr>
                        <a:t>現金及び預金</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40,414</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60,000</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b="1" dirty="0">
                          <a:solidFill>
                            <a:srgbClr val="3D4E60"/>
                          </a:solidFill>
                          <a:latin typeface="Meiryo" pitchFamily="34" charset="0"/>
                          <a:ea typeface="Meiryo" pitchFamily="34" charset="-122"/>
                          <a:cs typeface="Meiryo" pitchFamily="34" charset="-120"/>
                        </a:rPr>
                        <a:t>219,000</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29184">
                <a:tc>
                  <a:txBody>
                    <a:bodyPr/>
                    <a:lstStyle/>
                    <a:p>
                      <a:pPr indent="0" marL="0">
                        <a:buNone/>
                      </a:pPr>
                      <a:r>
                        <a:rPr lang="en-US" sz="1150" dirty="0">
                          <a:solidFill>
                            <a:srgbClr val="3D4E60"/>
                          </a:solidFill>
                          <a:latin typeface="Meiryo" pitchFamily="34" charset="0"/>
                          <a:ea typeface="Meiryo" pitchFamily="34" charset="-122"/>
                          <a:cs typeface="Meiryo" pitchFamily="34" charset="-120"/>
                        </a:rPr>
                        <a:t>その他流動資産</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395,416</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463,779</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463,779</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29184">
                <a:tc>
                  <a:txBody>
                    <a:bodyPr/>
                    <a:lstStyle/>
                    <a:p>
                      <a:pPr indent="0" marL="0">
                        <a:buNone/>
                      </a:pPr>
                      <a:r>
                        <a:rPr lang="en-US" sz="1150" dirty="0">
                          <a:solidFill>
                            <a:srgbClr val="3D4E60"/>
                          </a:solidFill>
                          <a:latin typeface="Meiryo" pitchFamily="34" charset="0"/>
                          <a:ea typeface="Meiryo" pitchFamily="34" charset="-122"/>
                          <a:cs typeface="Meiryo" pitchFamily="34" charset="-120"/>
                        </a:rPr>
                        <a:t>固定資産</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880,198</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880,198</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880,198</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29184">
                <a:tc>
                  <a:txBody>
                    <a:bodyPr/>
                    <a:lstStyle/>
                    <a:p>
                      <a:pPr indent="0" marL="0">
                        <a:buNone/>
                      </a:pPr>
                      <a:r>
                        <a:rPr lang="en-US" sz="1150" b="1" dirty="0">
                          <a:solidFill>
                            <a:srgbClr val="3D4E60"/>
                          </a:solidFill>
                          <a:latin typeface="Meiryo" pitchFamily="34" charset="0"/>
                          <a:ea typeface="Meiryo" pitchFamily="34" charset="-122"/>
                          <a:cs typeface="Meiryo" pitchFamily="34" charset="-120"/>
                        </a:rPr>
                        <a:t>資産合計</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8EDF2"/>
                    </a:solidFill>
                  </a:tcPr>
                </a:tc>
                <a:tc>
                  <a:txBody>
                    <a:bodyPr/>
                    <a:lstStyle/>
                    <a:p>
                      <a:pPr algn="r" indent="0" marL="0">
                        <a:buNone/>
                      </a:pPr>
                      <a:r>
                        <a:rPr lang="en-US" sz="1150" b="1" dirty="0">
                          <a:solidFill>
                            <a:srgbClr val="3D4E60"/>
                          </a:solidFill>
                          <a:latin typeface="Meiryo" pitchFamily="34" charset="0"/>
                          <a:ea typeface="Meiryo" pitchFamily="34" charset="-122"/>
                          <a:cs typeface="Meiryo" pitchFamily="34" charset="-120"/>
                        </a:rPr>
                        <a:t>1,316,028</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8EDF2"/>
                    </a:solidFill>
                  </a:tcPr>
                </a:tc>
                <a:tc>
                  <a:txBody>
                    <a:bodyPr/>
                    <a:lstStyle/>
                    <a:p>
                      <a:pPr algn="r" indent="0" marL="0">
                        <a:buNone/>
                      </a:pPr>
                      <a:r>
                        <a:rPr lang="en-US" sz="1150" b="1" dirty="0">
                          <a:solidFill>
                            <a:srgbClr val="3D4E60"/>
                          </a:solidFill>
                          <a:latin typeface="Meiryo" pitchFamily="34" charset="0"/>
                          <a:ea typeface="Meiryo" pitchFamily="34" charset="-122"/>
                          <a:cs typeface="Meiryo" pitchFamily="34" charset="-120"/>
                        </a:rPr>
                        <a:t>1,403,977</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8EDF2"/>
                    </a:solidFill>
                  </a:tcPr>
                </a:tc>
                <a:tc>
                  <a:txBody>
                    <a:bodyPr/>
                    <a:lstStyle/>
                    <a:p>
                      <a:pPr algn="r" indent="0" marL="0">
                        <a:buNone/>
                      </a:pPr>
                      <a:r>
                        <a:rPr lang="en-US" sz="1150" b="1" dirty="0">
                          <a:solidFill>
                            <a:srgbClr val="3D4E60"/>
                          </a:solidFill>
                          <a:latin typeface="Meiryo" pitchFamily="34" charset="0"/>
                          <a:ea typeface="Meiryo" pitchFamily="34" charset="-122"/>
                          <a:cs typeface="Meiryo" pitchFamily="34" charset="-120"/>
                        </a:rPr>
                        <a:t>1,562,977</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8EDF2"/>
                    </a:solidFill>
                  </a:tcPr>
                </a:tc>
              </a:tr>
              <a:tr h="329184">
                <a:tc>
                  <a:txBody>
                    <a:bodyPr/>
                    <a:lstStyle/>
                    <a:p>
                      <a:pPr indent="0" marL="0">
                        <a:buNone/>
                      </a:pPr>
                      <a:r>
                        <a:rPr lang="en-US" sz="1150" b="1" dirty="0">
                          <a:solidFill>
                            <a:srgbClr val="3D4E60"/>
                          </a:solidFill>
                          <a:latin typeface="Meiryo" pitchFamily="34" charset="0"/>
                          <a:ea typeface="Meiryo" pitchFamily="34" charset="-122"/>
                          <a:cs typeface="Meiryo" pitchFamily="34" charset="-120"/>
                        </a:rPr>
                        <a:t>有利子負債</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1,159,051</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1,097,000</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b="1" dirty="0">
                          <a:solidFill>
                            <a:srgbClr val="3D4E60"/>
                          </a:solidFill>
                          <a:latin typeface="Meiryo" pitchFamily="34" charset="0"/>
                          <a:ea typeface="Meiryo" pitchFamily="34" charset="-122"/>
                          <a:cs typeface="Meiryo" pitchFamily="34" charset="-120"/>
                        </a:rPr>
                        <a:t>607,000</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29184">
                <a:tc>
                  <a:txBody>
                    <a:bodyPr/>
                    <a:lstStyle/>
                    <a:p>
                      <a:pPr indent="0" marL="0">
                        <a:buNone/>
                      </a:pPr>
                      <a:r>
                        <a:rPr lang="en-US" sz="1150" dirty="0">
                          <a:solidFill>
                            <a:srgbClr val="3D4E60"/>
                          </a:solidFill>
                          <a:latin typeface="Meiryo" pitchFamily="34" charset="0"/>
                          <a:ea typeface="Meiryo" pitchFamily="34" charset="-122"/>
                          <a:cs typeface="Meiryo" pitchFamily="34" charset="-120"/>
                        </a:rPr>
                        <a:t>その他負債</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566,409</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566,409</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566,409</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29184">
                <a:tc>
                  <a:txBody>
                    <a:bodyPr/>
                    <a:lstStyle/>
                    <a:p>
                      <a:pPr indent="0" marL="0">
                        <a:buNone/>
                      </a:pPr>
                      <a:r>
                        <a:rPr lang="en-US" sz="1150" b="1" dirty="0">
                          <a:solidFill>
                            <a:srgbClr val="3D4E60"/>
                          </a:solidFill>
                          <a:latin typeface="Meiryo" pitchFamily="34" charset="0"/>
                          <a:ea typeface="Meiryo" pitchFamily="34" charset="-122"/>
                          <a:cs typeface="Meiryo" pitchFamily="34" charset="-120"/>
                        </a:rPr>
                        <a:t>負債合計</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8EDF2"/>
                    </a:solidFill>
                  </a:tcPr>
                </a:tc>
                <a:tc>
                  <a:txBody>
                    <a:bodyPr/>
                    <a:lstStyle/>
                    <a:p>
                      <a:pPr algn="r" indent="0" marL="0">
                        <a:buNone/>
                      </a:pPr>
                      <a:r>
                        <a:rPr lang="en-US" sz="1150" b="1" dirty="0">
                          <a:solidFill>
                            <a:srgbClr val="3D4E60"/>
                          </a:solidFill>
                          <a:latin typeface="Meiryo" pitchFamily="34" charset="0"/>
                          <a:ea typeface="Meiryo" pitchFamily="34" charset="-122"/>
                          <a:cs typeface="Meiryo" pitchFamily="34" charset="-120"/>
                        </a:rPr>
                        <a:t>1,725,460</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8EDF2"/>
                    </a:solidFill>
                  </a:tcPr>
                </a:tc>
                <a:tc>
                  <a:txBody>
                    <a:bodyPr/>
                    <a:lstStyle/>
                    <a:p>
                      <a:pPr algn="r" indent="0" marL="0">
                        <a:buNone/>
                      </a:pPr>
                      <a:r>
                        <a:rPr lang="en-US" sz="1150" b="1" dirty="0">
                          <a:solidFill>
                            <a:srgbClr val="3D4E60"/>
                          </a:solidFill>
                          <a:latin typeface="Meiryo" pitchFamily="34" charset="0"/>
                          <a:ea typeface="Meiryo" pitchFamily="34" charset="-122"/>
                          <a:cs typeface="Meiryo" pitchFamily="34" charset="-120"/>
                        </a:rPr>
                        <a:t>1,663,409</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8EDF2"/>
                    </a:solidFill>
                  </a:tcPr>
                </a:tc>
                <a:tc>
                  <a:txBody>
                    <a:bodyPr/>
                    <a:lstStyle/>
                    <a:p>
                      <a:pPr algn="r" indent="0" marL="0">
                        <a:buNone/>
                      </a:pPr>
                      <a:r>
                        <a:rPr lang="en-US" sz="1150" b="1" dirty="0">
                          <a:solidFill>
                            <a:srgbClr val="3D4E60"/>
                          </a:solidFill>
                          <a:latin typeface="Meiryo" pitchFamily="34" charset="0"/>
                          <a:ea typeface="Meiryo" pitchFamily="34" charset="-122"/>
                          <a:cs typeface="Meiryo" pitchFamily="34" charset="-120"/>
                        </a:rPr>
                        <a:t>1,173,409</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8EDF2"/>
                    </a:solidFill>
                  </a:tcPr>
                </a:tc>
              </a:tr>
              <a:tr h="329184">
                <a:tc>
                  <a:txBody>
                    <a:bodyPr/>
                    <a:lstStyle/>
                    <a:p>
                      <a:pPr indent="0" marL="0">
                        <a:buNone/>
                      </a:pPr>
                      <a:r>
                        <a:rPr lang="en-US" sz="1150" dirty="0">
                          <a:solidFill>
                            <a:srgbClr val="3D4E60"/>
                          </a:solidFill>
                          <a:latin typeface="Meiryo" pitchFamily="34" charset="0"/>
                          <a:ea typeface="Meiryo" pitchFamily="34" charset="-122"/>
                          <a:cs typeface="Meiryo" pitchFamily="34" charset="-120"/>
                        </a:rPr>
                        <a:t>資本剰余金等</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8A2E26"/>
                          </a:solidFill>
                          <a:latin typeface="Meiryo" pitchFamily="34" charset="0"/>
                          <a:ea typeface="Meiryo" pitchFamily="34" charset="-122"/>
                          <a:cs typeface="Meiryo" pitchFamily="34" charset="-120"/>
                        </a:rPr>
                        <a:t>△409,432</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8A2E26"/>
                          </a:solidFill>
                          <a:latin typeface="Meiryo" pitchFamily="34" charset="0"/>
                          <a:ea typeface="Meiryo" pitchFamily="34" charset="-122"/>
                          <a:cs typeface="Meiryo" pitchFamily="34" charset="-120"/>
                        </a:rPr>
                        <a:t>△259,432</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389,568</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29184">
                <a:tc>
                  <a:txBody>
                    <a:bodyPr/>
                    <a:lstStyle/>
                    <a:p>
                      <a:pPr indent="0" marL="0">
                        <a:buNone/>
                      </a:pPr>
                      <a:r>
                        <a:rPr lang="en-US" sz="1150" b="1" dirty="0">
                          <a:solidFill>
                            <a:srgbClr val="3D4E60"/>
                          </a:solidFill>
                          <a:latin typeface="Meiryo" pitchFamily="34" charset="0"/>
                          <a:ea typeface="Meiryo" pitchFamily="34" charset="-122"/>
                          <a:cs typeface="Meiryo" pitchFamily="34" charset="-120"/>
                        </a:rPr>
                        <a:t>純資産合計</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c>
                  <a:txBody>
                    <a:bodyPr/>
                    <a:lstStyle/>
                    <a:p>
                      <a:pPr algn="r" indent="0" marL="0">
                        <a:buNone/>
                      </a:pPr>
                      <a:r>
                        <a:rPr lang="en-US" sz="1150" b="1" dirty="0">
                          <a:solidFill>
                            <a:srgbClr val="8A2E26"/>
                          </a:solidFill>
                          <a:latin typeface="Meiryo" pitchFamily="34" charset="0"/>
                          <a:ea typeface="Meiryo" pitchFamily="34" charset="-122"/>
                          <a:cs typeface="Meiryo" pitchFamily="34" charset="-120"/>
                        </a:rPr>
                        <a:t>△409,432</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c>
                  <a:txBody>
                    <a:bodyPr/>
                    <a:lstStyle/>
                    <a:p>
                      <a:pPr algn="r" indent="0" marL="0">
                        <a:buNone/>
                      </a:pPr>
                      <a:r>
                        <a:rPr lang="en-US" sz="1150" b="1" dirty="0">
                          <a:solidFill>
                            <a:srgbClr val="8A2E26"/>
                          </a:solidFill>
                          <a:latin typeface="Meiryo" pitchFamily="34" charset="0"/>
                          <a:ea typeface="Meiryo" pitchFamily="34" charset="-122"/>
                          <a:cs typeface="Meiryo" pitchFamily="34" charset="-120"/>
                        </a:rPr>
                        <a:t>△259,432</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c>
                  <a:txBody>
                    <a:bodyPr/>
                    <a:lstStyle/>
                    <a:p>
                      <a:pPr algn="r" indent="0" marL="0">
                        <a:buNone/>
                      </a:pPr>
                      <a:r>
                        <a:rPr lang="en-US" sz="1150" b="1" dirty="0">
                          <a:solidFill>
                            <a:srgbClr val="2C6A4E"/>
                          </a:solidFill>
                          <a:latin typeface="Meiryo" pitchFamily="34" charset="0"/>
                          <a:ea typeface="Meiryo" pitchFamily="34" charset="-122"/>
                          <a:cs typeface="Meiryo" pitchFamily="34" charset="-120"/>
                        </a:rPr>
                        <a:t>389,568</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r>
              <a:tr h="329184">
                <a:tc>
                  <a:txBody>
                    <a:bodyPr/>
                    <a:lstStyle/>
                    <a:p>
                      <a:pPr indent="0" marL="0">
                        <a:buNone/>
                      </a:pPr>
                      <a:r>
                        <a:rPr lang="en-US" sz="1150" b="1" dirty="0">
                          <a:solidFill>
                            <a:srgbClr val="3D4E60"/>
                          </a:solidFill>
                          <a:latin typeface="Meiryo" pitchFamily="34" charset="0"/>
                          <a:ea typeface="Meiryo" pitchFamily="34" charset="-122"/>
                          <a:cs typeface="Meiryo" pitchFamily="34" charset="-120"/>
                        </a:rPr>
                        <a:t>自己資本比率</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b="1" dirty="0">
                          <a:solidFill>
                            <a:srgbClr val="8A2E26"/>
                          </a:solidFill>
                          <a:latin typeface="Meiryo" pitchFamily="34" charset="0"/>
                          <a:ea typeface="Meiryo" pitchFamily="34" charset="-122"/>
                          <a:cs typeface="Meiryo" pitchFamily="34" charset="-120"/>
                        </a:rPr>
                        <a:t>△31.1%</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b="1" dirty="0">
                          <a:solidFill>
                            <a:srgbClr val="8A2E26"/>
                          </a:solidFill>
                          <a:latin typeface="Meiryo" pitchFamily="34" charset="0"/>
                          <a:ea typeface="Meiryo" pitchFamily="34" charset="-122"/>
                          <a:cs typeface="Meiryo" pitchFamily="34" charset="-120"/>
                        </a:rPr>
                        <a:t>△18.5%</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b="1" dirty="0">
                          <a:solidFill>
                            <a:srgbClr val="2C6A4E"/>
                          </a:solidFill>
                          <a:latin typeface="Meiryo" pitchFamily="34" charset="0"/>
                          <a:ea typeface="Meiryo" pitchFamily="34" charset="-122"/>
                          <a:cs typeface="Meiryo" pitchFamily="34" charset="-120"/>
                        </a:rPr>
                        <a:t>24.9%</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bl>
          </a:graphicData>
        </a:graphic>
      </p:graphicFrame>
      <p:sp>
        <p:nvSpPr>
          <p:cNvPr id="5" name="Text 2"/>
          <p:cNvSpPr txBox="1"/>
          <p:nvPr/>
        </p:nvSpPr>
        <p:spPr>
          <a:xfrm>
            <a:off x="640080" y="5989320"/>
            <a:ext cx="10881360" cy="274320"/>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単位：千円　／　クロージング直前は第10期末から1年間で純資産+1.50億の改善を見込んだ想定値　／　繰越欠損金は無償減資により資本剰余金で填補します</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9"/>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6E2639"/>
                </a:solidFill>
                <a:latin typeface="Meiryo" pitchFamily="34" charset="0"/>
                <a:ea typeface="Meiryo" pitchFamily="34" charset="-122"/>
                <a:cs typeface="Meiryo" pitchFamily="34" charset="-120"/>
              </a:rPr>
              <a:t>選択肢 1 ─ MBO</a:t>
            </a:r>
            <a:endParaRPr lang="en-US" sz="1100" dirty="0"/>
          </a:p>
        </p:txBody>
      </p:sp>
      <p:sp>
        <p:nvSpPr>
          <p:cNvPr id="3" name="Text 1"/>
          <p:cNvSpPr txBox="1"/>
          <p:nvPr/>
        </p:nvSpPr>
        <p:spPr>
          <a:xfrm>
            <a:off x="640080" y="676656"/>
            <a:ext cx="10881360" cy="658368"/>
          </a:xfrm>
          <a:prstGeom prst="rect">
            <a:avLst/>
          </a:prstGeom>
          <a:noFill/>
          <a:ln/>
        </p:spPr>
        <p:txBody>
          <a:bodyPr wrap="square" lIns="0" tIns="0" rIns="0" bIns="0" rtlCol="0" anchor="ctr"/>
          <a:lstStyle/>
          <a:p>
            <a:pPr indent="0" marL="0">
              <a:buNone/>
            </a:pPr>
            <a:r>
              <a:rPr lang="en-US" sz="2800" b="1" dirty="0">
                <a:solidFill>
                  <a:srgbClr val="1E2A38"/>
                </a:solidFill>
                <a:latin typeface="Meiryo" pitchFamily="34" charset="0"/>
                <a:ea typeface="Meiryo" pitchFamily="34" charset="-122"/>
                <a:cs typeface="Meiryo" pitchFamily="34" charset="-120"/>
              </a:rPr>
              <a:t>取引後の信用力</a:t>
            </a:r>
            <a:endParaRPr lang="en-US" sz="2800" dirty="0"/>
          </a:p>
        </p:txBody>
      </p:sp>
      <p:sp>
        <p:nvSpPr>
          <p:cNvPr id="4" name="Shape 2"/>
          <p:cNvSpPr/>
          <p:nvPr/>
        </p:nvSpPr>
        <p:spPr>
          <a:xfrm>
            <a:off x="640080" y="1554480"/>
            <a:ext cx="2606040" cy="1920240"/>
          </a:xfrm>
          <a:prstGeom prst="roundRect">
            <a:avLst>
              <a:gd name="adj" fmla="val 2857"/>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5" name="Text 3"/>
          <p:cNvSpPr txBox="1"/>
          <p:nvPr/>
        </p:nvSpPr>
        <p:spPr>
          <a:xfrm>
            <a:off x="841248" y="1737360"/>
            <a:ext cx="2194560" cy="457200"/>
          </a:xfrm>
          <a:prstGeom prst="rect">
            <a:avLst/>
          </a:prstGeom>
          <a:noFill/>
          <a:ln/>
        </p:spPr>
        <p:txBody>
          <a:bodyPr wrap="square" lIns="0" tIns="0" rIns="0" bIns="0" rtlCol="0" anchor="ctr"/>
          <a:lstStyle/>
          <a:p>
            <a:pPr indent="0" marL="0">
              <a:buNone/>
            </a:pPr>
            <a:r>
              <a:rPr lang="en-US" sz="1150" b="1" dirty="0">
                <a:solidFill>
                  <a:srgbClr val="7C8A99"/>
                </a:solidFill>
                <a:latin typeface="Meiryo" pitchFamily="34" charset="0"/>
                <a:ea typeface="Meiryo" pitchFamily="34" charset="-122"/>
                <a:cs typeface="Meiryo" pitchFamily="34" charset="-120"/>
              </a:rPr>
              <a:t>自己資本比率</a:t>
            </a:r>
            <a:endParaRPr lang="en-US" sz="1150" dirty="0"/>
          </a:p>
        </p:txBody>
      </p:sp>
      <p:sp>
        <p:nvSpPr>
          <p:cNvPr id="6" name="Text 4"/>
          <p:cNvSpPr txBox="1"/>
          <p:nvPr/>
        </p:nvSpPr>
        <p:spPr>
          <a:xfrm>
            <a:off x="841248" y="2194560"/>
            <a:ext cx="2194560" cy="292608"/>
          </a:xfrm>
          <a:prstGeom prst="rect">
            <a:avLst/>
          </a:prstGeom>
          <a:noFill/>
          <a:ln/>
        </p:spPr>
        <p:txBody>
          <a:bodyPr wrap="square" lIns="0" tIns="0" rIns="0" bIns="0" rtlCol="0" anchor="ctr"/>
          <a:lstStyle/>
          <a:p>
            <a:pPr indent="0" marL="0">
              <a:buNone/>
            </a:pPr>
            <a:r>
              <a:rPr lang="en-US" sz="1300" dirty="0">
                <a:solidFill>
                  <a:srgbClr val="8A2E26"/>
                </a:solidFill>
                <a:latin typeface="Meiryo" pitchFamily="34" charset="0"/>
                <a:ea typeface="Meiryo" pitchFamily="34" charset="-122"/>
                <a:cs typeface="Meiryo" pitchFamily="34" charset="-120"/>
              </a:rPr>
              <a:t>△18.5%</a:t>
            </a:r>
            <a:endParaRPr lang="en-US" sz="1300" dirty="0"/>
          </a:p>
        </p:txBody>
      </p:sp>
      <p:sp>
        <p:nvSpPr>
          <p:cNvPr id="7" name="Text 5"/>
          <p:cNvSpPr txBox="1"/>
          <p:nvPr/>
        </p:nvSpPr>
        <p:spPr>
          <a:xfrm>
            <a:off x="841248" y="2487168"/>
            <a:ext cx="2194560" cy="201168"/>
          </a:xfrm>
          <a:prstGeom prst="rect">
            <a:avLst/>
          </a:prstGeom>
          <a:noFill/>
          <a:ln/>
        </p:spPr>
        <p:txBody>
          <a:bodyPr wrap="square" lIns="0" tIns="0" rIns="0" bIns="0" rtlCol="0" anchor="ctr"/>
          <a:lstStyle/>
          <a:p>
            <a:pPr indent="0" marL="0">
              <a:buNone/>
            </a:pPr>
            <a:r>
              <a:rPr lang="en-US" sz="900" dirty="0">
                <a:solidFill>
                  <a:srgbClr val="7C8A99"/>
                </a:solidFill>
                <a:latin typeface="Meiryo" pitchFamily="34" charset="0"/>
                <a:ea typeface="Meiryo" pitchFamily="34" charset="-122"/>
                <a:cs typeface="Meiryo" pitchFamily="34" charset="-120"/>
              </a:rPr>
              <a:t>▼</a:t>
            </a:r>
            <a:endParaRPr lang="en-US" sz="900" dirty="0"/>
          </a:p>
        </p:txBody>
      </p:sp>
      <p:sp>
        <p:nvSpPr>
          <p:cNvPr id="8" name="Text 6"/>
          <p:cNvSpPr txBox="1"/>
          <p:nvPr/>
        </p:nvSpPr>
        <p:spPr>
          <a:xfrm>
            <a:off x="841248" y="2688336"/>
            <a:ext cx="2194560" cy="548640"/>
          </a:xfrm>
          <a:prstGeom prst="rect">
            <a:avLst/>
          </a:prstGeom>
          <a:noFill/>
          <a:ln/>
        </p:spPr>
        <p:txBody>
          <a:bodyPr wrap="square" lIns="0" tIns="0" rIns="0" bIns="0" rtlCol="0" anchor="ctr"/>
          <a:lstStyle/>
          <a:p>
            <a:pPr indent="0" marL="0">
              <a:buNone/>
            </a:pPr>
            <a:r>
              <a:rPr lang="en-US" sz="2600" b="1" dirty="0">
                <a:solidFill>
                  <a:srgbClr val="2C6A4E"/>
                </a:solidFill>
                <a:latin typeface="Meiryo" pitchFamily="34" charset="0"/>
                <a:ea typeface="Meiryo" pitchFamily="34" charset="-122"/>
                <a:cs typeface="Meiryo" pitchFamily="34" charset="-120"/>
              </a:rPr>
              <a:t>24.9%</a:t>
            </a:r>
            <a:endParaRPr lang="en-US" sz="2600" dirty="0"/>
          </a:p>
        </p:txBody>
      </p:sp>
      <p:sp>
        <p:nvSpPr>
          <p:cNvPr id="9" name="Shape 7"/>
          <p:cNvSpPr/>
          <p:nvPr/>
        </p:nvSpPr>
        <p:spPr>
          <a:xfrm>
            <a:off x="3401568" y="1554480"/>
            <a:ext cx="2606040" cy="1920240"/>
          </a:xfrm>
          <a:prstGeom prst="roundRect">
            <a:avLst>
              <a:gd name="adj" fmla="val 2857"/>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10" name="Text 8"/>
          <p:cNvSpPr txBox="1"/>
          <p:nvPr/>
        </p:nvSpPr>
        <p:spPr>
          <a:xfrm>
            <a:off x="3602736" y="1737360"/>
            <a:ext cx="2194560" cy="457200"/>
          </a:xfrm>
          <a:prstGeom prst="rect">
            <a:avLst/>
          </a:prstGeom>
          <a:noFill/>
          <a:ln/>
        </p:spPr>
        <p:txBody>
          <a:bodyPr wrap="square" lIns="0" tIns="0" rIns="0" bIns="0" rtlCol="0" anchor="ctr"/>
          <a:lstStyle/>
          <a:p>
            <a:pPr indent="0" marL="0">
              <a:buNone/>
            </a:pPr>
            <a:r>
              <a:rPr lang="en-US" sz="1150" b="1" dirty="0">
                <a:solidFill>
                  <a:srgbClr val="7C8A99"/>
                </a:solidFill>
                <a:latin typeface="Meiryo" pitchFamily="34" charset="0"/>
                <a:ea typeface="Meiryo" pitchFamily="34" charset="-122"/>
                <a:cs typeface="Meiryo" pitchFamily="34" charset="-120"/>
              </a:rPr>
              <a:t>有利子負債</a:t>
            </a:r>
            <a:endParaRPr lang="en-US" sz="1150" dirty="0"/>
          </a:p>
        </p:txBody>
      </p:sp>
      <p:sp>
        <p:nvSpPr>
          <p:cNvPr id="11" name="Text 9"/>
          <p:cNvSpPr txBox="1"/>
          <p:nvPr/>
        </p:nvSpPr>
        <p:spPr>
          <a:xfrm>
            <a:off x="3602736" y="2194560"/>
            <a:ext cx="2194560" cy="292608"/>
          </a:xfrm>
          <a:prstGeom prst="rect">
            <a:avLst/>
          </a:prstGeom>
          <a:noFill/>
          <a:ln/>
        </p:spPr>
        <p:txBody>
          <a:bodyPr wrap="square" lIns="0" tIns="0" rIns="0" bIns="0" rtlCol="0" anchor="ctr"/>
          <a:lstStyle/>
          <a:p>
            <a:pPr indent="0" marL="0">
              <a:buNone/>
            </a:pPr>
            <a:r>
              <a:rPr lang="en-US" sz="1300" dirty="0">
                <a:solidFill>
                  <a:srgbClr val="8A2E26"/>
                </a:solidFill>
                <a:latin typeface="Meiryo" pitchFamily="34" charset="0"/>
                <a:ea typeface="Meiryo" pitchFamily="34" charset="-122"/>
                <a:cs typeface="Meiryo" pitchFamily="34" charset="-120"/>
              </a:rPr>
              <a:t>10.97億</a:t>
            </a:r>
            <a:endParaRPr lang="en-US" sz="1300" dirty="0"/>
          </a:p>
        </p:txBody>
      </p:sp>
      <p:sp>
        <p:nvSpPr>
          <p:cNvPr id="12" name="Text 10"/>
          <p:cNvSpPr txBox="1"/>
          <p:nvPr/>
        </p:nvSpPr>
        <p:spPr>
          <a:xfrm>
            <a:off x="3602736" y="2487168"/>
            <a:ext cx="2194560" cy="201168"/>
          </a:xfrm>
          <a:prstGeom prst="rect">
            <a:avLst/>
          </a:prstGeom>
          <a:noFill/>
          <a:ln/>
        </p:spPr>
        <p:txBody>
          <a:bodyPr wrap="square" lIns="0" tIns="0" rIns="0" bIns="0" rtlCol="0" anchor="ctr"/>
          <a:lstStyle/>
          <a:p>
            <a:pPr indent="0" marL="0">
              <a:buNone/>
            </a:pPr>
            <a:r>
              <a:rPr lang="en-US" sz="900" dirty="0">
                <a:solidFill>
                  <a:srgbClr val="7C8A99"/>
                </a:solidFill>
                <a:latin typeface="Meiryo" pitchFamily="34" charset="0"/>
                <a:ea typeface="Meiryo" pitchFamily="34" charset="-122"/>
                <a:cs typeface="Meiryo" pitchFamily="34" charset="-120"/>
              </a:rPr>
              <a:t>▼</a:t>
            </a:r>
            <a:endParaRPr lang="en-US" sz="900" dirty="0"/>
          </a:p>
        </p:txBody>
      </p:sp>
      <p:sp>
        <p:nvSpPr>
          <p:cNvPr id="13" name="Text 11"/>
          <p:cNvSpPr txBox="1"/>
          <p:nvPr/>
        </p:nvSpPr>
        <p:spPr>
          <a:xfrm>
            <a:off x="3602736" y="2688336"/>
            <a:ext cx="2194560" cy="548640"/>
          </a:xfrm>
          <a:prstGeom prst="rect">
            <a:avLst/>
          </a:prstGeom>
          <a:noFill/>
          <a:ln/>
        </p:spPr>
        <p:txBody>
          <a:bodyPr wrap="square" lIns="0" tIns="0" rIns="0" bIns="0" rtlCol="0" anchor="ctr"/>
          <a:lstStyle/>
          <a:p>
            <a:pPr indent="0" marL="0">
              <a:buNone/>
            </a:pPr>
            <a:r>
              <a:rPr lang="en-US" sz="2600" b="1" dirty="0">
                <a:solidFill>
                  <a:srgbClr val="2C6A4E"/>
                </a:solidFill>
                <a:latin typeface="Meiryo" pitchFamily="34" charset="0"/>
                <a:ea typeface="Meiryo" pitchFamily="34" charset="-122"/>
                <a:cs typeface="Meiryo" pitchFamily="34" charset="-120"/>
              </a:rPr>
              <a:t>6.07億</a:t>
            </a:r>
            <a:endParaRPr lang="en-US" sz="2600" dirty="0"/>
          </a:p>
        </p:txBody>
      </p:sp>
      <p:sp>
        <p:nvSpPr>
          <p:cNvPr id="14" name="Shape 12"/>
          <p:cNvSpPr/>
          <p:nvPr/>
        </p:nvSpPr>
        <p:spPr>
          <a:xfrm>
            <a:off x="6163056" y="1554480"/>
            <a:ext cx="2606040" cy="1920240"/>
          </a:xfrm>
          <a:prstGeom prst="roundRect">
            <a:avLst>
              <a:gd name="adj" fmla="val 2857"/>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15" name="Text 13"/>
          <p:cNvSpPr txBox="1"/>
          <p:nvPr/>
        </p:nvSpPr>
        <p:spPr>
          <a:xfrm>
            <a:off x="6364224" y="1737360"/>
            <a:ext cx="2194560" cy="457200"/>
          </a:xfrm>
          <a:prstGeom prst="rect">
            <a:avLst/>
          </a:prstGeom>
          <a:noFill/>
          <a:ln/>
        </p:spPr>
        <p:txBody>
          <a:bodyPr wrap="square" lIns="0" tIns="0" rIns="0" bIns="0" rtlCol="0" anchor="ctr"/>
          <a:lstStyle/>
          <a:p>
            <a:pPr indent="0" marL="0">
              <a:buNone/>
            </a:pPr>
            <a:r>
              <a:rPr lang="en-US" sz="1150" b="1" dirty="0">
                <a:solidFill>
                  <a:srgbClr val="7C8A99"/>
                </a:solidFill>
                <a:latin typeface="Meiryo" pitchFamily="34" charset="0"/>
                <a:ea typeface="Meiryo" pitchFamily="34" charset="-122"/>
                <a:cs typeface="Meiryo" pitchFamily="34" charset="-120"/>
              </a:rPr>
              <a:t>有利子負債 / EBITDA</a:t>
            </a:r>
            <a:endParaRPr lang="en-US" sz="1150" dirty="0"/>
          </a:p>
        </p:txBody>
      </p:sp>
      <p:sp>
        <p:nvSpPr>
          <p:cNvPr id="16" name="Text 14"/>
          <p:cNvSpPr txBox="1"/>
          <p:nvPr/>
        </p:nvSpPr>
        <p:spPr>
          <a:xfrm>
            <a:off x="6364224" y="2194560"/>
            <a:ext cx="2194560" cy="292608"/>
          </a:xfrm>
          <a:prstGeom prst="rect">
            <a:avLst/>
          </a:prstGeom>
          <a:noFill/>
          <a:ln/>
        </p:spPr>
        <p:txBody>
          <a:bodyPr wrap="square" lIns="0" tIns="0" rIns="0" bIns="0" rtlCol="0" anchor="ctr"/>
          <a:lstStyle/>
          <a:p>
            <a:pPr indent="0" marL="0">
              <a:buNone/>
            </a:pPr>
            <a:r>
              <a:rPr lang="en-US" sz="1300" dirty="0">
                <a:solidFill>
                  <a:srgbClr val="8A2E26"/>
                </a:solidFill>
                <a:latin typeface="Meiryo" pitchFamily="34" charset="0"/>
                <a:ea typeface="Meiryo" pitchFamily="34" charset="-122"/>
                <a:cs typeface="Meiryo" pitchFamily="34" charset="-120"/>
              </a:rPr>
              <a:t>4.1倍</a:t>
            </a:r>
            <a:endParaRPr lang="en-US" sz="1300" dirty="0"/>
          </a:p>
        </p:txBody>
      </p:sp>
      <p:sp>
        <p:nvSpPr>
          <p:cNvPr id="17" name="Text 15"/>
          <p:cNvSpPr txBox="1"/>
          <p:nvPr/>
        </p:nvSpPr>
        <p:spPr>
          <a:xfrm>
            <a:off x="6364224" y="2487168"/>
            <a:ext cx="2194560" cy="201168"/>
          </a:xfrm>
          <a:prstGeom prst="rect">
            <a:avLst/>
          </a:prstGeom>
          <a:noFill/>
          <a:ln/>
        </p:spPr>
        <p:txBody>
          <a:bodyPr wrap="square" lIns="0" tIns="0" rIns="0" bIns="0" rtlCol="0" anchor="ctr"/>
          <a:lstStyle/>
          <a:p>
            <a:pPr indent="0" marL="0">
              <a:buNone/>
            </a:pPr>
            <a:r>
              <a:rPr lang="en-US" sz="900" dirty="0">
                <a:solidFill>
                  <a:srgbClr val="7C8A99"/>
                </a:solidFill>
                <a:latin typeface="Meiryo" pitchFamily="34" charset="0"/>
                <a:ea typeface="Meiryo" pitchFamily="34" charset="-122"/>
                <a:cs typeface="Meiryo" pitchFamily="34" charset="-120"/>
              </a:rPr>
              <a:t>▼</a:t>
            </a:r>
            <a:endParaRPr lang="en-US" sz="900" dirty="0"/>
          </a:p>
        </p:txBody>
      </p:sp>
      <p:sp>
        <p:nvSpPr>
          <p:cNvPr id="18" name="Text 16"/>
          <p:cNvSpPr txBox="1"/>
          <p:nvPr/>
        </p:nvSpPr>
        <p:spPr>
          <a:xfrm>
            <a:off x="6364224" y="2688336"/>
            <a:ext cx="2194560" cy="548640"/>
          </a:xfrm>
          <a:prstGeom prst="rect">
            <a:avLst/>
          </a:prstGeom>
          <a:noFill/>
          <a:ln/>
        </p:spPr>
        <p:txBody>
          <a:bodyPr wrap="square" lIns="0" tIns="0" rIns="0" bIns="0" rtlCol="0" anchor="ctr"/>
          <a:lstStyle/>
          <a:p>
            <a:pPr indent="0" marL="0">
              <a:buNone/>
            </a:pPr>
            <a:r>
              <a:rPr lang="en-US" sz="2600" b="1" dirty="0">
                <a:solidFill>
                  <a:srgbClr val="2C6A4E"/>
                </a:solidFill>
                <a:latin typeface="Meiryo" pitchFamily="34" charset="0"/>
                <a:ea typeface="Meiryo" pitchFamily="34" charset="-122"/>
                <a:cs typeface="Meiryo" pitchFamily="34" charset="-120"/>
              </a:rPr>
              <a:t>2.3倍</a:t>
            </a:r>
            <a:endParaRPr lang="en-US" sz="2600" dirty="0"/>
          </a:p>
        </p:txBody>
      </p:sp>
      <p:sp>
        <p:nvSpPr>
          <p:cNvPr id="19" name="Shape 17"/>
          <p:cNvSpPr/>
          <p:nvPr/>
        </p:nvSpPr>
        <p:spPr>
          <a:xfrm>
            <a:off x="8924544" y="1554480"/>
            <a:ext cx="2606040" cy="1920240"/>
          </a:xfrm>
          <a:prstGeom prst="roundRect">
            <a:avLst>
              <a:gd name="adj" fmla="val 2857"/>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20" name="Text 18"/>
          <p:cNvSpPr txBox="1"/>
          <p:nvPr/>
        </p:nvSpPr>
        <p:spPr>
          <a:xfrm>
            <a:off x="9125712" y="1737360"/>
            <a:ext cx="2194560" cy="457200"/>
          </a:xfrm>
          <a:prstGeom prst="rect">
            <a:avLst/>
          </a:prstGeom>
          <a:noFill/>
          <a:ln/>
        </p:spPr>
        <p:txBody>
          <a:bodyPr wrap="square" lIns="0" tIns="0" rIns="0" bIns="0" rtlCol="0" anchor="ctr"/>
          <a:lstStyle/>
          <a:p>
            <a:pPr indent="0" marL="0">
              <a:buNone/>
            </a:pPr>
            <a:r>
              <a:rPr lang="en-US" sz="1150" b="1" dirty="0">
                <a:solidFill>
                  <a:srgbClr val="7C8A99"/>
                </a:solidFill>
                <a:latin typeface="Meiryo" pitchFamily="34" charset="0"/>
                <a:ea typeface="Meiryo" pitchFamily="34" charset="-122"/>
                <a:cs typeface="Meiryo" pitchFamily="34" charset="-120"/>
              </a:rPr>
              <a:t>DSCR</a:t>
            </a:r>
            <a:endParaRPr lang="en-US" sz="1150" dirty="0"/>
          </a:p>
        </p:txBody>
      </p:sp>
      <p:sp>
        <p:nvSpPr>
          <p:cNvPr id="21" name="Text 19"/>
          <p:cNvSpPr txBox="1"/>
          <p:nvPr/>
        </p:nvSpPr>
        <p:spPr>
          <a:xfrm>
            <a:off x="9125712" y="2194560"/>
            <a:ext cx="2194560" cy="292608"/>
          </a:xfrm>
          <a:prstGeom prst="rect">
            <a:avLst/>
          </a:prstGeom>
          <a:noFill/>
          <a:ln/>
        </p:spPr>
        <p:txBody>
          <a:bodyPr wrap="square" lIns="0" tIns="0" rIns="0" bIns="0" rtlCol="0" anchor="ctr"/>
          <a:lstStyle/>
          <a:p>
            <a:pPr indent="0" marL="0">
              <a:buNone/>
            </a:pPr>
            <a:r>
              <a:rPr lang="en-US" sz="1300" dirty="0">
                <a:solidFill>
                  <a:srgbClr val="8A2E26"/>
                </a:solidFill>
                <a:latin typeface="Meiryo" pitchFamily="34" charset="0"/>
                <a:ea typeface="Meiryo" pitchFamily="34" charset="-122"/>
                <a:cs typeface="Meiryo" pitchFamily="34" charset="-120"/>
              </a:rPr>
              <a:t>―</a:t>
            </a:r>
            <a:endParaRPr lang="en-US" sz="1300" dirty="0"/>
          </a:p>
        </p:txBody>
      </p:sp>
      <p:sp>
        <p:nvSpPr>
          <p:cNvPr id="22" name="Text 20"/>
          <p:cNvSpPr txBox="1"/>
          <p:nvPr/>
        </p:nvSpPr>
        <p:spPr>
          <a:xfrm>
            <a:off x="9125712" y="2487168"/>
            <a:ext cx="2194560" cy="201168"/>
          </a:xfrm>
          <a:prstGeom prst="rect">
            <a:avLst/>
          </a:prstGeom>
          <a:noFill/>
          <a:ln/>
        </p:spPr>
        <p:txBody>
          <a:bodyPr wrap="square" lIns="0" tIns="0" rIns="0" bIns="0" rtlCol="0" anchor="ctr"/>
          <a:lstStyle/>
          <a:p>
            <a:pPr indent="0" marL="0">
              <a:buNone/>
            </a:pPr>
            <a:r>
              <a:rPr lang="en-US" sz="900" dirty="0">
                <a:solidFill>
                  <a:srgbClr val="7C8A99"/>
                </a:solidFill>
                <a:latin typeface="Meiryo" pitchFamily="34" charset="0"/>
                <a:ea typeface="Meiryo" pitchFamily="34" charset="-122"/>
                <a:cs typeface="Meiryo" pitchFamily="34" charset="-120"/>
              </a:rPr>
              <a:t>▼</a:t>
            </a:r>
            <a:endParaRPr lang="en-US" sz="900" dirty="0"/>
          </a:p>
        </p:txBody>
      </p:sp>
      <p:sp>
        <p:nvSpPr>
          <p:cNvPr id="23" name="Text 21"/>
          <p:cNvSpPr txBox="1"/>
          <p:nvPr/>
        </p:nvSpPr>
        <p:spPr>
          <a:xfrm>
            <a:off x="9125712" y="2688336"/>
            <a:ext cx="2194560" cy="548640"/>
          </a:xfrm>
          <a:prstGeom prst="rect">
            <a:avLst/>
          </a:prstGeom>
          <a:noFill/>
          <a:ln/>
        </p:spPr>
        <p:txBody>
          <a:bodyPr wrap="square" lIns="0" tIns="0" rIns="0" bIns="0" rtlCol="0" anchor="ctr"/>
          <a:lstStyle/>
          <a:p>
            <a:pPr indent="0" marL="0">
              <a:buNone/>
            </a:pPr>
            <a:r>
              <a:rPr lang="en-US" sz="2600" b="1" dirty="0">
                <a:solidFill>
                  <a:srgbClr val="2C6A4E"/>
                </a:solidFill>
                <a:latin typeface="Meiryo" pitchFamily="34" charset="0"/>
                <a:ea typeface="Meiryo" pitchFamily="34" charset="-122"/>
                <a:cs typeface="Meiryo" pitchFamily="34" charset="-120"/>
              </a:rPr>
              <a:t>1.58倍</a:t>
            </a:r>
            <a:endParaRPr lang="en-US" sz="2600" dirty="0"/>
          </a:p>
        </p:txBody>
      </p:sp>
      <p:graphicFrame>
        <p:nvGraphicFramePr>
          <p:cNvPr id="24" name="Chart 0" descr=""/>
          <p:cNvGraphicFramePr/>
          <p:nvPr/>
        </p:nvGraphicFramePr>
        <p:xfrm>
          <a:off x="640080" y="3657600"/>
          <a:ext cx="5669280" cy="2286000"/>
        </p:xfrm>
        <a:graphic xmlns:a="http://schemas.openxmlformats.org/drawingml/2006/main">
          <a:graphicData uri="http://schemas.openxmlformats.org/drawingml/2006/chart">
            <c:chart xmlns:c="http://schemas.openxmlformats.org/drawingml/2006/chart" r:id="rId1"/>
          </a:graphicData>
        </a:graphic>
      </p:graphicFrame>
      <p:sp>
        <p:nvSpPr>
          <p:cNvPr id="25" name="Shape 22"/>
          <p:cNvSpPr/>
          <p:nvPr/>
        </p:nvSpPr>
        <p:spPr>
          <a:xfrm>
            <a:off x="6583680" y="3657600"/>
            <a:ext cx="4937760" cy="2286000"/>
          </a:xfrm>
          <a:prstGeom prst="roundRect">
            <a:avLst>
              <a:gd name="adj" fmla="val 2400"/>
            </a:avLst>
          </a:prstGeom>
          <a:solidFill>
            <a:srgbClr val="F0F4F1"/>
          </a:solidFill>
          <a:ln w="12700">
            <a:solidFill>
              <a:srgbClr val="C9DCD1"/>
            </a:solidFill>
            <a:prstDash val="solid"/>
          </a:ln>
          <a:effectLst>
            <a:outerShdw sx="100000" sy="100000" kx="0" ky="0" algn="bl" rotWithShape="0" blurRad="101600" dist="12700" dir="5400000">
              <a:srgbClr val="AAB4BE">
                <a:alpha val="18000"/>
              </a:srgbClr>
            </a:outerShdw>
          </a:effectLst>
        </p:spPr>
      </p:sp>
      <p:sp>
        <p:nvSpPr>
          <p:cNvPr id="26" name="Text 23"/>
          <p:cNvSpPr txBox="1"/>
          <p:nvPr/>
        </p:nvSpPr>
        <p:spPr>
          <a:xfrm>
            <a:off x="6858000" y="3840480"/>
            <a:ext cx="4434840" cy="292608"/>
          </a:xfrm>
          <a:prstGeom prst="rect">
            <a:avLst/>
          </a:prstGeom>
          <a:noFill/>
          <a:ln/>
        </p:spPr>
        <p:txBody>
          <a:bodyPr wrap="square" lIns="0" tIns="0" rIns="0" bIns="0" rtlCol="0" anchor="ctr"/>
          <a:lstStyle/>
          <a:p>
            <a:pPr indent="0" marL="0">
              <a:buNone/>
            </a:pPr>
            <a:r>
              <a:rPr lang="en-US" sz="1400" b="1" dirty="0">
                <a:solidFill>
                  <a:srgbClr val="2C6A4E"/>
                </a:solidFill>
                <a:latin typeface="Meiryo" pitchFamily="34" charset="0"/>
                <a:ea typeface="Meiryo" pitchFamily="34" charset="-122"/>
                <a:cs typeface="Meiryo" pitchFamily="34" charset="-120"/>
              </a:rPr>
              <a:t>みずほ銀行様へのご依頼は借換えです</a:t>
            </a:r>
            <a:endParaRPr lang="en-US" sz="1400" dirty="0"/>
          </a:p>
        </p:txBody>
      </p:sp>
      <p:sp>
        <p:nvSpPr>
          <p:cNvPr id="27" name="Text 24"/>
          <p:cNvSpPr txBox="1"/>
          <p:nvPr/>
        </p:nvSpPr>
        <p:spPr>
          <a:xfrm>
            <a:off x="6858000" y="4178808"/>
            <a:ext cx="4434840" cy="1645920"/>
          </a:xfrm>
          <a:prstGeom prst="rect">
            <a:avLst/>
          </a:prstGeom>
          <a:noFill/>
          <a:ln/>
        </p:spPr>
        <p:txBody>
          <a:bodyPr wrap="square" lIns="0" tIns="0" rIns="0" bIns="0" rtlCol="0" anchor="ctr"/>
          <a:lstStyle/>
          <a:p>
            <a:pPr indent="0" marL="0">
              <a:lnSpc>
                <a:spcPct val="115000"/>
              </a:lnSpc>
              <a:buNone/>
            </a:pPr>
            <a:r>
              <a:rPr lang="en-US" sz="1100" dirty="0">
                <a:solidFill>
                  <a:srgbClr val="3D4E60"/>
                </a:solidFill>
                <a:latin typeface="Meiryo" pitchFamily="34" charset="0"/>
                <a:ea typeface="Meiryo" pitchFamily="34" charset="-122"/>
                <a:cs typeface="Meiryo" pitchFamily="34" charset="-120"/>
              </a:rPr>
              <a:t>取引後のあどばるは、自己資本比率24.9%・有利子負債2.3倍・DSCR1.58倍の会社になります。買収ファイナンス（LBOローン）ではなく、債務超過を解消した事業会社に対する通常のご融資としてご検討いただけます。</a:t>
            </a:r>
            <a:endParaRPr lang="en-US" sz="1100" dirty="0"/>
          </a:p>
          <a:p>
            <a:pPr indent="0" marL="0">
              <a:lnSpc>
                <a:spcPct val="115000"/>
              </a:lnSpc>
              <a:buNone/>
            </a:pPr>
            <a:endParaRPr lang="en-US" sz="1100" dirty="0"/>
          </a:p>
          <a:p>
            <a:pPr indent="0" marL="0">
              <a:lnSpc>
                <a:spcPct val="115000"/>
              </a:lnSpc>
              <a:buNone/>
            </a:pPr>
            <a:r>
              <a:rPr lang="en-US" sz="1100" dirty="0">
                <a:solidFill>
                  <a:srgbClr val="3D4E60"/>
                </a:solidFill>
                <a:latin typeface="Meiryo" pitchFamily="34" charset="0"/>
                <a:ea typeface="Meiryo" pitchFamily="34" charset="-122"/>
                <a:cs typeface="Meiryo" pitchFamily="34" charset="-120"/>
              </a:rPr>
              <a:t>・既存借入 3.07億円の継続</a:t>
            </a:r>
            <a:endParaRPr lang="en-US" sz="1100" dirty="0"/>
          </a:p>
          <a:p>
            <a:pPr indent="0" marL="0">
              <a:lnSpc>
                <a:spcPct val="115000"/>
              </a:lnSpc>
              <a:buNone/>
            </a:pPr>
            <a:r>
              <a:rPr lang="en-US" sz="1100" dirty="0">
                <a:solidFill>
                  <a:srgbClr val="3D4E60"/>
                </a:solidFill>
                <a:latin typeface="Meiryo" pitchFamily="34" charset="0"/>
                <a:ea typeface="Meiryo" pitchFamily="34" charset="-122"/>
                <a:cs typeface="Meiryo" pitchFamily="34" charset="-120"/>
              </a:rPr>
              <a:t>・ビジョン借入のリファイ 3.00億円</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9"/>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6E2639"/>
                </a:solidFill>
                <a:latin typeface="Meiryo" pitchFamily="34" charset="0"/>
                <a:ea typeface="Meiryo" pitchFamily="34" charset="-122"/>
                <a:cs typeface="Meiryo" pitchFamily="34" charset="-120"/>
              </a:rPr>
              <a:t>選択肢 2 ─ 合併</a:t>
            </a:r>
            <a:endParaRPr lang="en-US" sz="1100" dirty="0"/>
          </a:p>
        </p:txBody>
      </p:sp>
      <p:sp>
        <p:nvSpPr>
          <p:cNvPr id="3" name="Text 1"/>
          <p:cNvSpPr txBox="1"/>
          <p:nvPr/>
        </p:nvSpPr>
        <p:spPr>
          <a:xfrm>
            <a:off x="640080" y="676656"/>
            <a:ext cx="10881360" cy="658368"/>
          </a:xfrm>
          <a:prstGeom prst="rect">
            <a:avLst/>
          </a:prstGeom>
          <a:noFill/>
          <a:ln/>
        </p:spPr>
        <p:txBody>
          <a:bodyPr wrap="square" lIns="0" tIns="0" rIns="0" bIns="0" rtlCol="0" anchor="ctr"/>
          <a:lstStyle/>
          <a:p>
            <a:pPr indent="0" marL="0">
              <a:buNone/>
            </a:pPr>
            <a:r>
              <a:rPr lang="en-US" sz="2800" b="1" dirty="0">
                <a:solidFill>
                  <a:srgbClr val="1E2A38"/>
                </a:solidFill>
                <a:latin typeface="Meiryo" pitchFamily="34" charset="0"/>
                <a:ea typeface="Meiryo" pitchFamily="34" charset="-122"/>
                <a:cs typeface="Meiryo" pitchFamily="34" charset="-120"/>
              </a:rPr>
              <a:t>スペースマーケット社と合併した場合の株主構成</a:t>
            </a:r>
            <a:endParaRPr lang="en-US" sz="2800" dirty="0"/>
          </a:p>
        </p:txBody>
      </p:sp>
      <p:sp>
        <p:nvSpPr>
          <p:cNvPr id="4" name="Text 2"/>
          <p:cNvSpPr txBox="1"/>
          <p:nvPr/>
        </p:nvSpPr>
        <p:spPr>
          <a:xfrm>
            <a:off x="640080" y="1517904"/>
            <a:ext cx="2651760" cy="237744"/>
          </a:xfrm>
          <a:prstGeom prst="rect">
            <a:avLst/>
          </a:prstGeom>
          <a:noFill/>
          <a:ln/>
        </p:spPr>
        <p:txBody>
          <a:bodyPr wrap="square" lIns="0" tIns="0" rIns="0" bIns="0" rtlCol="0" anchor="ctr"/>
          <a:lstStyle/>
          <a:p>
            <a:pPr indent="0" marL="0">
              <a:buNone/>
            </a:pPr>
            <a:r>
              <a:rPr lang="en-US" sz="1100" dirty="0">
                <a:solidFill>
                  <a:srgbClr val="7C8A99"/>
                </a:solidFill>
                <a:latin typeface="Meiryo" pitchFamily="34" charset="0"/>
                <a:ea typeface="Meiryo" pitchFamily="34" charset="-122"/>
                <a:cs typeface="Meiryo" pitchFamily="34" charset="-120"/>
              </a:rPr>
              <a:t>合併比率</a:t>
            </a:r>
            <a:endParaRPr lang="en-US" sz="1100" dirty="0"/>
          </a:p>
        </p:txBody>
      </p:sp>
      <p:sp>
        <p:nvSpPr>
          <p:cNvPr id="5" name="Text 3"/>
          <p:cNvSpPr txBox="1"/>
          <p:nvPr/>
        </p:nvSpPr>
        <p:spPr>
          <a:xfrm>
            <a:off x="640080" y="1755648"/>
            <a:ext cx="2651760" cy="502920"/>
          </a:xfrm>
          <a:prstGeom prst="rect">
            <a:avLst/>
          </a:prstGeom>
          <a:noFill/>
          <a:ln/>
        </p:spPr>
        <p:txBody>
          <a:bodyPr wrap="square" lIns="0" tIns="0" rIns="0" bIns="0" rtlCol="0" anchor="ctr"/>
          <a:lstStyle/>
          <a:p>
            <a:pPr indent="0" marL="0">
              <a:buNone/>
            </a:pPr>
            <a:r>
              <a:rPr lang="en-US" sz="3000" b="1" dirty="0">
                <a:solidFill>
                  <a:srgbClr val="2E5C8A"/>
                </a:solidFill>
                <a:latin typeface="Meiryo" pitchFamily="34" charset="0"/>
                <a:ea typeface="Meiryo" pitchFamily="34" charset="-122"/>
                <a:cs typeface="Meiryo" pitchFamily="34" charset="-120"/>
              </a:rPr>
              <a:t>1 : 40.63</a:t>
            </a:r>
            <a:pPr indent="0" marL="0">
              <a:buNone/>
            </a:pPr>
            <a:endParaRPr lang="en-US" sz="3000" dirty="0"/>
          </a:p>
        </p:txBody>
      </p:sp>
      <p:sp>
        <p:nvSpPr>
          <p:cNvPr id="6" name="Text 4"/>
          <p:cNvSpPr txBox="1"/>
          <p:nvPr/>
        </p:nvSpPr>
        <p:spPr>
          <a:xfrm>
            <a:off x="640080" y="2267712"/>
            <a:ext cx="2651760" cy="237744"/>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あどばる1株にSM株40.63株</a:t>
            </a:r>
            <a:endParaRPr lang="en-US" sz="1000" dirty="0"/>
          </a:p>
        </p:txBody>
      </p:sp>
      <p:sp>
        <p:nvSpPr>
          <p:cNvPr id="7" name="Text 5"/>
          <p:cNvSpPr txBox="1"/>
          <p:nvPr/>
        </p:nvSpPr>
        <p:spPr>
          <a:xfrm>
            <a:off x="3474720" y="1517904"/>
            <a:ext cx="2651760" cy="237744"/>
          </a:xfrm>
          <a:prstGeom prst="rect">
            <a:avLst/>
          </a:prstGeom>
          <a:noFill/>
          <a:ln/>
        </p:spPr>
        <p:txBody>
          <a:bodyPr wrap="square" lIns="0" tIns="0" rIns="0" bIns="0" rtlCol="0" anchor="ctr"/>
          <a:lstStyle/>
          <a:p>
            <a:pPr indent="0" marL="0">
              <a:buNone/>
            </a:pPr>
            <a:r>
              <a:rPr lang="en-US" sz="1100" dirty="0">
                <a:solidFill>
                  <a:srgbClr val="7C8A99"/>
                </a:solidFill>
                <a:latin typeface="Meiryo" pitchFamily="34" charset="0"/>
                <a:ea typeface="Meiryo" pitchFamily="34" charset="-122"/>
                <a:cs typeface="Meiryo" pitchFamily="34" charset="-120"/>
              </a:rPr>
              <a:t>交付新株</a:t>
            </a:r>
            <a:endParaRPr lang="en-US" sz="1100" dirty="0"/>
          </a:p>
        </p:txBody>
      </p:sp>
      <p:sp>
        <p:nvSpPr>
          <p:cNvPr id="8" name="Text 6"/>
          <p:cNvSpPr txBox="1"/>
          <p:nvPr/>
        </p:nvSpPr>
        <p:spPr>
          <a:xfrm>
            <a:off x="3474720" y="1755648"/>
            <a:ext cx="2651760" cy="502920"/>
          </a:xfrm>
          <a:prstGeom prst="rect">
            <a:avLst/>
          </a:prstGeom>
          <a:noFill/>
          <a:ln/>
        </p:spPr>
        <p:txBody>
          <a:bodyPr wrap="square" lIns="0" tIns="0" rIns="0" bIns="0" rtlCol="0" anchor="ctr"/>
          <a:lstStyle/>
          <a:p>
            <a:pPr indent="0" marL="0">
              <a:buNone/>
            </a:pPr>
            <a:r>
              <a:rPr lang="en-US" sz="3000" b="1" dirty="0">
                <a:solidFill>
                  <a:srgbClr val="1E2A38"/>
                </a:solidFill>
                <a:latin typeface="Meiryo" pitchFamily="34" charset="0"/>
                <a:ea typeface="Meiryo" pitchFamily="34" charset="-122"/>
                <a:cs typeface="Meiryo" pitchFamily="34" charset="-120"/>
              </a:rPr>
              <a:t>782.6</a:t>
            </a:r>
            <a:pPr indent="0" marL="0">
              <a:buNone/>
            </a:pPr>
            <a:r>
              <a:rPr lang="en-US" sz="1300" b="1" dirty="0">
                <a:solidFill>
                  <a:srgbClr val="1E2A38"/>
                </a:solidFill>
                <a:latin typeface="Meiryo" pitchFamily="34" charset="0"/>
                <a:ea typeface="Meiryo" pitchFamily="34" charset="-122"/>
                <a:cs typeface="Meiryo" pitchFamily="34" charset="-120"/>
              </a:rPr>
              <a:t>万株</a:t>
            </a:r>
            <a:endParaRPr lang="en-US" sz="3000" dirty="0"/>
          </a:p>
        </p:txBody>
      </p:sp>
      <p:sp>
        <p:nvSpPr>
          <p:cNvPr id="9" name="Text 7"/>
          <p:cNvSpPr txBox="1"/>
          <p:nvPr/>
        </p:nvSpPr>
        <p:spPr>
          <a:xfrm>
            <a:off x="3474720" y="2267712"/>
            <a:ext cx="2651760" cy="237744"/>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あどばるEquity 18億／SM 230円</a:t>
            </a:r>
            <a:endParaRPr lang="en-US" sz="1000" dirty="0"/>
          </a:p>
        </p:txBody>
      </p:sp>
      <p:sp>
        <p:nvSpPr>
          <p:cNvPr id="10" name="Text 8"/>
          <p:cNvSpPr txBox="1"/>
          <p:nvPr/>
        </p:nvSpPr>
        <p:spPr>
          <a:xfrm>
            <a:off x="6309360" y="1517904"/>
            <a:ext cx="2651760" cy="237744"/>
          </a:xfrm>
          <a:prstGeom prst="rect">
            <a:avLst/>
          </a:prstGeom>
          <a:noFill/>
          <a:ln/>
        </p:spPr>
        <p:txBody>
          <a:bodyPr wrap="square" lIns="0" tIns="0" rIns="0" bIns="0" rtlCol="0" anchor="ctr"/>
          <a:lstStyle/>
          <a:p>
            <a:pPr indent="0" marL="0">
              <a:buNone/>
            </a:pPr>
            <a:r>
              <a:rPr lang="en-US" sz="1100" dirty="0">
                <a:solidFill>
                  <a:srgbClr val="7C8A99"/>
                </a:solidFill>
                <a:latin typeface="Meiryo" pitchFamily="34" charset="0"/>
                <a:ea typeface="Meiryo" pitchFamily="34" charset="-122"/>
                <a:cs typeface="Meiryo" pitchFamily="34" charset="-120"/>
              </a:rPr>
              <a:t>合併後 発行済</a:t>
            </a:r>
            <a:endParaRPr lang="en-US" sz="1100" dirty="0"/>
          </a:p>
        </p:txBody>
      </p:sp>
      <p:sp>
        <p:nvSpPr>
          <p:cNvPr id="11" name="Text 9"/>
          <p:cNvSpPr txBox="1"/>
          <p:nvPr/>
        </p:nvSpPr>
        <p:spPr>
          <a:xfrm>
            <a:off x="6309360" y="1755648"/>
            <a:ext cx="2651760" cy="502920"/>
          </a:xfrm>
          <a:prstGeom prst="rect">
            <a:avLst/>
          </a:prstGeom>
          <a:noFill/>
          <a:ln/>
        </p:spPr>
        <p:txBody>
          <a:bodyPr wrap="square" lIns="0" tIns="0" rIns="0" bIns="0" rtlCol="0" anchor="ctr"/>
          <a:lstStyle/>
          <a:p>
            <a:pPr indent="0" marL="0">
              <a:buNone/>
            </a:pPr>
            <a:r>
              <a:rPr lang="en-US" sz="3000" b="1" dirty="0">
                <a:solidFill>
                  <a:srgbClr val="1E2A38"/>
                </a:solidFill>
                <a:latin typeface="Meiryo" pitchFamily="34" charset="0"/>
                <a:ea typeface="Meiryo" pitchFamily="34" charset="-122"/>
                <a:cs typeface="Meiryo" pitchFamily="34" charset="-120"/>
              </a:rPr>
              <a:t>1,993</a:t>
            </a:r>
            <a:pPr indent="0" marL="0">
              <a:buNone/>
            </a:pPr>
            <a:r>
              <a:rPr lang="en-US" sz="1300" b="1" dirty="0">
                <a:solidFill>
                  <a:srgbClr val="1E2A38"/>
                </a:solidFill>
                <a:latin typeface="Meiryo" pitchFamily="34" charset="0"/>
                <a:ea typeface="Meiryo" pitchFamily="34" charset="-122"/>
                <a:cs typeface="Meiryo" pitchFamily="34" charset="-120"/>
              </a:rPr>
              <a:t>万株</a:t>
            </a:r>
            <a:endParaRPr lang="en-US" sz="3000" dirty="0"/>
          </a:p>
        </p:txBody>
      </p:sp>
      <p:sp>
        <p:nvSpPr>
          <p:cNvPr id="12" name="Text 10"/>
          <p:cNvSpPr txBox="1"/>
          <p:nvPr/>
        </p:nvSpPr>
        <p:spPr>
          <a:xfrm>
            <a:off x="6309360" y="2267712"/>
            <a:ext cx="2651760" cy="237744"/>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現状1,210万株＋交付分</a:t>
            </a:r>
            <a:endParaRPr lang="en-US" sz="1000" dirty="0"/>
          </a:p>
        </p:txBody>
      </p:sp>
      <p:sp>
        <p:nvSpPr>
          <p:cNvPr id="13" name="Text 11"/>
          <p:cNvSpPr txBox="1"/>
          <p:nvPr/>
        </p:nvSpPr>
        <p:spPr>
          <a:xfrm>
            <a:off x="9144000" y="1517904"/>
            <a:ext cx="2377440" cy="237744"/>
          </a:xfrm>
          <a:prstGeom prst="rect">
            <a:avLst/>
          </a:prstGeom>
          <a:noFill/>
          <a:ln/>
        </p:spPr>
        <p:txBody>
          <a:bodyPr wrap="square" lIns="0" tIns="0" rIns="0" bIns="0" rtlCol="0" anchor="ctr"/>
          <a:lstStyle/>
          <a:p>
            <a:pPr indent="0" marL="0">
              <a:buNone/>
            </a:pPr>
            <a:r>
              <a:rPr lang="en-US" sz="1100" dirty="0">
                <a:solidFill>
                  <a:srgbClr val="7C8A99"/>
                </a:solidFill>
                <a:latin typeface="Meiryo" pitchFamily="34" charset="0"/>
                <a:ea typeface="Meiryo" pitchFamily="34" charset="-122"/>
                <a:cs typeface="Meiryo" pitchFamily="34" charset="-120"/>
              </a:rPr>
              <a:t>合併後 時価総額</a:t>
            </a:r>
            <a:endParaRPr lang="en-US" sz="1100" dirty="0"/>
          </a:p>
        </p:txBody>
      </p:sp>
      <p:sp>
        <p:nvSpPr>
          <p:cNvPr id="14" name="Text 12"/>
          <p:cNvSpPr txBox="1"/>
          <p:nvPr/>
        </p:nvSpPr>
        <p:spPr>
          <a:xfrm>
            <a:off x="9144000" y="1755648"/>
            <a:ext cx="2377440" cy="502920"/>
          </a:xfrm>
          <a:prstGeom prst="rect">
            <a:avLst/>
          </a:prstGeom>
          <a:noFill/>
          <a:ln/>
        </p:spPr>
        <p:txBody>
          <a:bodyPr wrap="square" lIns="0" tIns="0" rIns="0" bIns="0" rtlCol="0" anchor="ctr"/>
          <a:lstStyle/>
          <a:p>
            <a:pPr indent="0" marL="0">
              <a:buNone/>
            </a:pPr>
            <a:r>
              <a:rPr lang="en-US" sz="3000" b="1" dirty="0">
                <a:solidFill>
                  <a:srgbClr val="2C6A4E"/>
                </a:solidFill>
                <a:latin typeface="Meiryo" pitchFamily="34" charset="0"/>
                <a:ea typeface="Meiryo" pitchFamily="34" charset="-122"/>
                <a:cs typeface="Meiryo" pitchFamily="34" charset="-120"/>
              </a:rPr>
              <a:t>45.8</a:t>
            </a:r>
            <a:pPr indent="0" marL="0">
              <a:buNone/>
            </a:pPr>
            <a:r>
              <a:rPr lang="en-US" sz="1300" b="1" dirty="0">
                <a:solidFill>
                  <a:srgbClr val="2C6A4E"/>
                </a:solidFill>
                <a:latin typeface="Meiryo" pitchFamily="34" charset="0"/>
                <a:ea typeface="Meiryo" pitchFamily="34" charset="-122"/>
                <a:cs typeface="Meiryo" pitchFamily="34" charset="-120"/>
              </a:rPr>
              <a:t>億円</a:t>
            </a:r>
            <a:endParaRPr lang="en-US" sz="3000" dirty="0"/>
          </a:p>
        </p:txBody>
      </p:sp>
      <p:sp>
        <p:nvSpPr>
          <p:cNvPr id="15" name="Text 13"/>
          <p:cNvSpPr txBox="1"/>
          <p:nvPr/>
        </p:nvSpPr>
        <p:spPr>
          <a:xfrm>
            <a:off x="9144000" y="2267712"/>
            <a:ext cx="2377440" cy="237744"/>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SM単独 27.7億から拡大</a:t>
            </a:r>
            <a:endParaRPr lang="en-US" sz="1000" dirty="0"/>
          </a:p>
        </p:txBody>
      </p:sp>
      <p:graphicFrame>
        <p:nvGraphicFramePr>
          <p:cNvPr id="16" name="Chart 0" descr=""/>
          <p:cNvGraphicFramePr/>
          <p:nvPr/>
        </p:nvGraphicFramePr>
        <p:xfrm>
          <a:off x="640080" y="2880360"/>
          <a:ext cx="6400800" cy="3063240"/>
        </p:xfrm>
        <a:graphic xmlns:a="http://schemas.openxmlformats.org/drawingml/2006/main">
          <a:graphicData uri="http://schemas.openxmlformats.org/drawingml/2006/chart">
            <c:chart xmlns:c="http://schemas.openxmlformats.org/drawingml/2006/chart" r:id="rId1"/>
          </a:graphicData>
        </a:graphic>
      </p:graphicFrame>
      <p:sp>
        <p:nvSpPr>
          <p:cNvPr id="17" name="Shape 14"/>
          <p:cNvSpPr/>
          <p:nvPr/>
        </p:nvSpPr>
        <p:spPr>
          <a:xfrm>
            <a:off x="7315200" y="2880360"/>
            <a:ext cx="4206240" cy="3063240"/>
          </a:xfrm>
          <a:prstGeom prst="roundRect">
            <a:avLst>
              <a:gd name="adj" fmla="val 1791"/>
            </a:avLst>
          </a:prstGeom>
          <a:solidFill>
            <a:srgbClr val="EEF3F8"/>
          </a:solidFill>
          <a:ln w="12700">
            <a:solidFill>
              <a:srgbClr val="C6D6E5"/>
            </a:solidFill>
            <a:prstDash val="solid"/>
          </a:ln>
          <a:effectLst>
            <a:outerShdw sx="100000" sy="100000" kx="0" ky="0" algn="bl" rotWithShape="0" blurRad="101600" dist="12700" dir="5400000">
              <a:srgbClr val="AAB4BE">
                <a:alpha val="18000"/>
              </a:srgbClr>
            </a:outerShdw>
          </a:effectLst>
        </p:spPr>
      </p:sp>
      <p:sp>
        <p:nvSpPr>
          <p:cNvPr id="18" name="Text 15"/>
          <p:cNvSpPr txBox="1"/>
          <p:nvPr/>
        </p:nvSpPr>
        <p:spPr>
          <a:xfrm>
            <a:off x="7589520" y="3063240"/>
            <a:ext cx="3657600" cy="292608"/>
          </a:xfrm>
          <a:prstGeom prst="rect">
            <a:avLst/>
          </a:prstGeom>
          <a:noFill/>
          <a:ln/>
        </p:spPr>
        <p:txBody>
          <a:bodyPr wrap="square" lIns="0" tIns="0" rIns="0" bIns="0" rtlCol="0" anchor="ctr"/>
          <a:lstStyle/>
          <a:p>
            <a:pPr indent="0" marL="0">
              <a:buNone/>
            </a:pPr>
            <a:r>
              <a:rPr lang="en-US" sz="1400" b="1" dirty="0">
                <a:solidFill>
                  <a:srgbClr val="2E5C8A"/>
                </a:solidFill>
                <a:latin typeface="Meiryo" pitchFamily="34" charset="0"/>
                <a:ea typeface="Meiryo" pitchFamily="34" charset="-122"/>
                <a:cs typeface="Meiryo" pitchFamily="34" charset="-120"/>
              </a:rPr>
              <a:t>この名簿が意味すること</a:t>
            </a:r>
            <a:endParaRPr lang="en-US" sz="1400" dirty="0"/>
          </a:p>
        </p:txBody>
      </p:sp>
      <p:sp>
        <p:nvSpPr>
          <p:cNvPr id="19" name="Text 16"/>
          <p:cNvSpPr txBox="1"/>
          <p:nvPr/>
        </p:nvSpPr>
        <p:spPr>
          <a:xfrm>
            <a:off x="7589520" y="3456432"/>
            <a:ext cx="457200" cy="256032"/>
          </a:xfrm>
          <a:prstGeom prst="rect">
            <a:avLst/>
          </a:prstGeom>
          <a:noFill/>
          <a:ln/>
        </p:spPr>
        <p:txBody>
          <a:bodyPr wrap="square" lIns="0" tIns="0" rIns="0" bIns="0" rtlCol="0" anchor="ctr"/>
          <a:lstStyle/>
          <a:p>
            <a:pPr indent="0" marL="0">
              <a:buNone/>
            </a:pPr>
            <a:r>
              <a:rPr lang="en-US" sz="1100" b="1" dirty="0">
                <a:solidFill>
                  <a:srgbClr val="A85C6E"/>
                </a:solidFill>
                <a:latin typeface="Meiryo" pitchFamily="34" charset="0"/>
                <a:ea typeface="Meiryo" pitchFamily="34" charset="-122"/>
                <a:cs typeface="Meiryo" pitchFamily="34" charset="-120"/>
              </a:rPr>
              <a:t>01</a:t>
            </a:r>
            <a:endParaRPr lang="en-US" sz="1100" dirty="0"/>
          </a:p>
        </p:txBody>
      </p:sp>
      <p:sp>
        <p:nvSpPr>
          <p:cNvPr id="20" name="Text 17"/>
          <p:cNvSpPr txBox="1"/>
          <p:nvPr/>
        </p:nvSpPr>
        <p:spPr>
          <a:xfrm>
            <a:off x="8092440" y="3456432"/>
            <a:ext cx="3154680" cy="256032"/>
          </a:xfrm>
          <a:prstGeom prst="rect">
            <a:avLst/>
          </a:prstGeom>
          <a:noFill/>
          <a:ln/>
        </p:spPr>
        <p:txBody>
          <a:bodyPr wrap="square" lIns="0" tIns="0" rIns="0" bIns="0" rtlCol="0" anchor="ctr"/>
          <a:lstStyle/>
          <a:p>
            <a:pPr indent="0" marL="0">
              <a:buNone/>
            </a:pPr>
            <a:r>
              <a:rPr lang="en-US" sz="1200" b="1" dirty="0">
                <a:solidFill>
                  <a:srgbClr val="1E2A38"/>
                </a:solidFill>
                <a:latin typeface="Meiryo" pitchFamily="34" charset="0"/>
                <a:ea typeface="Meiryo" pitchFamily="34" charset="-122"/>
                <a:cs typeface="Meiryo" pitchFamily="34" charset="-120"/>
              </a:rPr>
              <a:t>筆頭株主はビジョン社のまま</a:t>
            </a:r>
            <a:endParaRPr lang="en-US" sz="1200" dirty="0"/>
          </a:p>
        </p:txBody>
      </p:sp>
      <p:sp>
        <p:nvSpPr>
          <p:cNvPr id="21" name="Text 18"/>
          <p:cNvSpPr txBox="1"/>
          <p:nvPr/>
        </p:nvSpPr>
        <p:spPr>
          <a:xfrm>
            <a:off x="8092440" y="3730752"/>
            <a:ext cx="3154680" cy="548640"/>
          </a:xfrm>
          <a:prstGeom prst="rect">
            <a:avLst/>
          </a:prstGeom>
          <a:noFill/>
          <a:ln/>
        </p:spPr>
        <p:txBody>
          <a:bodyPr wrap="square" lIns="0" tIns="0" rIns="0" bIns="0" rtlCol="0" anchor="ctr"/>
          <a:lstStyle/>
          <a:p>
            <a:pPr indent="0" marL="0">
              <a:buNone/>
            </a:pPr>
            <a:r>
              <a:rPr lang="en-US" sz="950" dirty="0">
                <a:solidFill>
                  <a:srgbClr val="3D4E60"/>
                </a:solidFill>
                <a:latin typeface="Meiryo" pitchFamily="34" charset="0"/>
                <a:ea typeface="Meiryo" pitchFamily="34" charset="-122"/>
                <a:cs typeface="Meiryo" pitchFamily="34" charset="-120"/>
              </a:rPr>
              <a:t>合併してもビジョン19.26%が残ります。MBOで先に整理するかどうかが最初の分岐点です。</a:t>
            </a:r>
            <a:endParaRPr lang="en-US" sz="950" dirty="0"/>
          </a:p>
        </p:txBody>
      </p:sp>
      <p:sp>
        <p:nvSpPr>
          <p:cNvPr id="22" name="Text 19"/>
          <p:cNvSpPr txBox="1"/>
          <p:nvPr/>
        </p:nvSpPr>
        <p:spPr>
          <a:xfrm>
            <a:off x="7589520" y="4297680"/>
            <a:ext cx="457200" cy="256032"/>
          </a:xfrm>
          <a:prstGeom prst="rect">
            <a:avLst/>
          </a:prstGeom>
          <a:noFill/>
          <a:ln/>
        </p:spPr>
        <p:txBody>
          <a:bodyPr wrap="square" lIns="0" tIns="0" rIns="0" bIns="0" rtlCol="0" anchor="ctr"/>
          <a:lstStyle/>
          <a:p>
            <a:pPr indent="0" marL="0">
              <a:buNone/>
            </a:pPr>
            <a:r>
              <a:rPr lang="en-US" sz="1100" b="1" dirty="0">
                <a:solidFill>
                  <a:srgbClr val="A85C6E"/>
                </a:solidFill>
                <a:latin typeface="Meiryo" pitchFamily="34" charset="0"/>
                <a:ea typeface="Meiryo" pitchFamily="34" charset="-122"/>
                <a:cs typeface="Meiryo" pitchFamily="34" charset="-120"/>
              </a:rPr>
              <a:t>02</a:t>
            </a:r>
            <a:endParaRPr lang="en-US" sz="1100" dirty="0"/>
          </a:p>
        </p:txBody>
      </p:sp>
      <p:sp>
        <p:nvSpPr>
          <p:cNvPr id="23" name="Text 20"/>
          <p:cNvSpPr txBox="1"/>
          <p:nvPr/>
        </p:nvSpPr>
        <p:spPr>
          <a:xfrm>
            <a:off x="8092440" y="4297680"/>
            <a:ext cx="3154680" cy="256032"/>
          </a:xfrm>
          <a:prstGeom prst="rect">
            <a:avLst/>
          </a:prstGeom>
          <a:noFill/>
          <a:ln/>
        </p:spPr>
        <p:txBody>
          <a:bodyPr wrap="square" lIns="0" tIns="0" rIns="0" bIns="0" rtlCol="0" anchor="ctr"/>
          <a:lstStyle/>
          <a:p>
            <a:pPr indent="0" marL="0">
              <a:buNone/>
            </a:pPr>
            <a:r>
              <a:rPr lang="en-US" sz="1200" b="1" dirty="0">
                <a:solidFill>
                  <a:srgbClr val="1E2A38"/>
                </a:solidFill>
                <a:latin typeface="Meiryo" pitchFamily="34" charset="0"/>
                <a:ea typeface="Meiryo" pitchFamily="34" charset="-122"/>
                <a:cs typeface="Meiryo" pitchFamily="34" charset="-120"/>
              </a:rPr>
              <a:t>中野の持分は13.25%</a:t>
            </a:r>
            <a:endParaRPr lang="en-US" sz="1200" dirty="0"/>
          </a:p>
        </p:txBody>
      </p:sp>
      <p:sp>
        <p:nvSpPr>
          <p:cNvPr id="24" name="Text 21"/>
          <p:cNvSpPr txBox="1"/>
          <p:nvPr/>
        </p:nvSpPr>
        <p:spPr>
          <a:xfrm>
            <a:off x="8092440" y="4572000"/>
            <a:ext cx="3154680" cy="548640"/>
          </a:xfrm>
          <a:prstGeom prst="rect">
            <a:avLst/>
          </a:prstGeom>
          <a:noFill/>
          <a:ln/>
        </p:spPr>
        <p:txBody>
          <a:bodyPr wrap="square" lIns="0" tIns="0" rIns="0" bIns="0" rtlCol="0" anchor="ctr"/>
          <a:lstStyle/>
          <a:p>
            <a:pPr indent="0" marL="0">
              <a:buNone/>
            </a:pPr>
            <a:r>
              <a:rPr lang="en-US" sz="950" dirty="0">
                <a:solidFill>
                  <a:srgbClr val="3D4E60"/>
                </a:solidFill>
                <a:latin typeface="Meiryo" pitchFamily="34" charset="0"/>
                <a:ea typeface="Meiryo" pitchFamily="34" charset="-122"/>
                <a:cs typeface="Meiryo" pitchFamily="34" charset="-120"/>
              </a:rPr>
              <a:t>SO行使後で14.41%。単独では経営の意思決定権を持てません。</a:t>
            </a:r>
            <a:endParaRPr lang="en-US" sz="950" dirty="0"/>
          </a:p>
        </p:txBody>
      </p:sp>
      <p:sp>
        <p:nvSpPr>
          <p:cNvPr id="25" name="Text 22"/>
          <p:cNvSpPr txBox="1"/>
          <p:nvPr/>
        </p:nvSpPr>
        <p:spPr>
          <a:xfrm>
            <a:off x="7589520" y="5138928"/>
            <a:ext cx="457200" cy="256032"/>
          </a:xfrm>
          <a:prstGeom prst="rect">
            <a:avLst/>
          </a:prstGeom>
          <a:noFill/>
          <a:ln/>
        </p:spPr>
        <p:txBody>
          <a:bodyPr wrap="square" lIns="0" tIns="0" rIns="0" bIns="0" rtlCol="0" anchor="ctr"/>
          <a:lstStyle/>
          <a:p>
            <a:pPr indent="0" marL="0">
              <a:buNone/>
            </a:pPr>
            <a:r>
              <a:rPr lang="en-US" sz="1100" b="1" dirty="0">
                <a:solidFill>
                  <a:srgbClr val="A85C6E"/>
                </a:solidFill>
                <a:latin typeface="Meiryo" pitchFamily="34" charset="0"/>
                <a:ea typeface="Meiryo" pitchFamily="34" charset="-122"/>
                <a:cs typeface="Meiryo" pitchFamily="34" charset="-120"/>
              </a:rPr>
              <a:t>03</a:t>
            </a:r>
            <a:endParaRPr lang="en-US" sz="1100" dirty="0"/>
          </a:p>
        </p:txBody>
      </p:sp>
      <p:sp>
        <p:nvSpPr>
          <p:cNvPr id="26" name="Text 23"/>
          <p:cNvSpPr txBox="1"/>
          <p:nvPr/>
        </p:nvSpPr>
        <p:spPr>
          <a:xfrm>
            <a:off x="8092440" y="5138928"/>
            <a:ext cx="3154680" cy="256032"/>
          </a:xfrm>
          <a:prstGeom prst="rect">
            <a:avLst/>
          </a:prstGeom>
          <a:noFill/>
          <a:ln/>
        </p:spPr>
        <p:txBody>
          <a:bodyPr wrap="square" lIns="0" tIns="0" rIns="0" bIns="0" rtlCol="0" anchor="ctr"/>
          <a:lstStyle/>
          <a:p>
            <a:pPr indent="0" marL="0">
              <a:buNone/>
            </a:pPr>
            <a:r>
              <a:rPr lang="en-US" sz="1200" b="1" dirty="0">
                <a:solidFill>
                  <a:srgbClr val="1E2A38"/>
                </a:solidFill>
                <a:latin typeface="Meiryo" pitchFamily="34" charset="0"/>
                <a:ea typeface="Meiryo" pitchFamily="34" charset="-122"/>
                <a:cs typeface="Meiryo" pitchFamily="34" charset="-120"/>
              </a:rPr>
              <a:t>重松氏側は合計23.18%</a:t>
            </a:r>
            <a:endParaRPr lang="en-US" sz="1200" dirty="0"/>
          </a:p>
        </p:txBody>
      </p:sp>
      <p:sp>
        <p:nvSpPr>
          <p:cNvPr id="27" name="Text 24"/>
          <p:cNvSpPr txBox="1"/>
          <p:nvPr/>
        </p:nvSpPr>
        <p:spPr>
          <a:xfrm>
            <a:off x="8092440" y="5413248"/>
            <a:ext cx="3154680" cy="548640"/>
          </a:xfrm>
          <a:prstGeom prst="rect">
            <a:avLst/>
          </a:prstGeom>
          <a:noFill/>
          <a:ln/>
        </p:spPr>
        <p:txBody>
          <a:bodyPr wrap="square" lIns="0" tIns="0" rIns="0" bIns="0" rtlCol="0" anchor="ctr"/>
          <a:lstStyle/>
          <a:p>
            <a:pPr indent="0" marL="0">
              <a:buNone/>
            </a:pPr>
            <a:r>
              <a:rPr lang="en-US" sz="950" dirty="0">
                <a:solidFill>
                  <a:srgbClr val="3D4E60"/>
                </a:solidFill>
                <a:latin typeface="Meiryo" pitchFamily="34" charset="0"/>
                <a:ea typeface="Meiryo" pitchFamily="34" charset="-122"/>
                <a:cs typeface="Meiryo" pitchFamily="34" charset="-120"/>
              </a:rPr>
              <a:t>重松氏14.80%＋ダブルパインズ8.38%。実質的な筆頭は先方です。</a:t>
            </a:r>
            <a:endParaRPr lang="en-US" sz="950" dirty="0"/>
          </a:p>
        </p:txBody>
      </p:sp>
      <p:sp>
        <p:nvSpPr>
          <p:cNvPr id="28" name="Text 25"/>
          <p:cNvSpPr txBox="1"/>
          <p:nvPr/>
        </p:nvSpPr>
        <p:spPr>
          <a:xfrm>
            <a:off x="640080" y="6108192"/>
            <a:ext cx="10881360" cy="274320"/>
          </a:xfrm>
          <a:prstGeom prst="rect">
            <a:avLst/>
          </a:prstGeom>
          <a:noFill/>
          <a:ln/>
        </p:spPr>
        <p:txBody>
          <a:bodyPr wrap="square" lIns="0" tIns="0" rIns="0" bIns="0" rtlCol="0" anchor="ctr"/>
          <a:lstStyle/>
          <a:p>
            <a:pPr indent="0" marL="0">
              <a:buNone/>
            </a:pPr>
            <a:r>
              <a:rPr lang="en-US" sz="900" dirty="0">
                <a:solidFill>
                  <a:srgbClr val="7C8A99"/>
                </a:solidFill>
                <a:latin typeface="Meiryo" pitchFamily="34" charset="0"/>
                <a:ea typeface="Meiryo" pitchFamily="34" charset="-122"/>
                <a:cs typeface="Meiryo" pitchFamily="34" charset="-120"/>
              </a:rPr>
              <a:t>出所：会社四季報2026年9月号（単元株主2,428名・発行済12,105,900株）、株価229円（2026年9月21日終値）。あどばるの評価額はスペースマーケット社からのLOI 18億円を使用。</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A38"/>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A85C6E"/>
                </a:solidFill>
                <a:latin typeface="Meiryo" pitchFamily="34" charset="0"/>
                <a:ea typeface="Meiryo" pitchFamily="34" charset="-122"/>
                <a:cs typeface="Meiryo" pitchFamily="34" charset="-120"/>
              </a:rPr>
              <a:t>選択肢 2 ─ 合併</a:t>
            </a:r>
            <a:endParaRPr lang="en-US" sz="1100" dirty="0"/>
          </a:p>
        </p:txBody>
      </p:sp>
      <p:sp>
        <p:nvSpPr>
          <p:cNvPr id="3" name="Text 1"/>
          <p:cNvSpPr txBox="1"/>
          <p:nvPr/>
        </p:nvSpPr>
        <p:spPr>
          <a:xfrm>
            <a:off x="640080" y="676656"/>
            <a:ext cx="10881360" cy="658368"/>
          </a:xfrm>
          <a:prstGeom prst="rect">
            <a:avLst/>
          </a:prstGeom>
          <a:noFill/>
          <a:ln/>
        </p:spPr>
        <p:txBody>
          <a:bodyPr wrap="square" lIns="0" tIns="0" rIns="0" bIns="0" rtlCol="0" anchor="ctr"/>
          <a:lstStyle/>
          <a:p>
            <a:pPr indent="0" marL="0">
              <a:buNone/>
            </a:pPr>
            <a:r>
              <a:rPr lang="en-US" sz="2800" b="1" dirty="0">
                <a:solidFill>
                  <a:srgbClr val="FFFFFF"/>
                </a:solidFill>
                <a:latin typeface="Meiryo" pitchFamily="34" charset="0"/>
                <a:ea typeface="Meiryo" pitchFamily="34" charset="-122"/>
                <a:cs typeface="Meiryo" pitchFamily="34" charset="-120"/>
              </a:rPr>
              <a:t>先に確認すべき4つの論点</a:t>
            </a:r>
            <a:endParaRPr lang="en-US" sz="2800" dirty="0"/>
          </a:p>
        </p:txBody>
      </p:sp>
      <p:sp>
        <p:nvSpPr>
          <p:cNvPr id="4" name="Shape 2"/>
          <p:cNvSpPr/>
          <p:nvPr/>
        </p:nvSpPr>
        <p:spPr>
          <a:xfrm>
            <a:off x="640080" y="1691640"/>
            <a:ext cx="5349240" cy="1920240"/>
          </a:xfrm>
          <a:prstGeom prst="roundRect">
            <a:avLst>
              <a:gd name="adj" fmla="val 2857"/>
            </a:avLst>
          </a:prstGeom>
          <a:solidFill>
            <a:srgbClr val="26333F"/>
          </a:solidFill>
          <a:ln w="12700">
            <a:solidFill>
              <a:srgbClr val="3A4854"/>
            </a:solidFill>
            <a:prstDash val="solid"/>
          </a:ln>
        </p:spPr>
      </p:sp>
      <p:sp>
        <p:nvSpPr>
          <p:cNvPr id="5" name="Text 3"/>
          <p:cNvSpPr txBox="1"/>
          <p:nvPr/>
        </p:nvSpPr>
        <p:spPr>
          <a:xfrm>
            <a:off x="914400" y="1911096"/>
            <a:ext cx="822960" cy="320040"/>
          </a:xfrm>
          <a:prstGeom prst="rect">
            <a:avLst/>
          </a:prstGeom>
          <a:noFill/>
          <a:ln/>
        </p:spPr>
        <p:txBody>
          <a:bodyPr wrap="square" lIns="0" tIns="0" rIns="0" bIns="0" rtlCol="0" anchor="ctr"/>
          <a:lstStyle/>
          <a:p>
            <a:pPr indent="0" marL="0">
              <a:buNone/>
            </a:pPr>
            <a:r>
              <a:rPr lang="en-US" sz="1500" b="1" dirty="0">
                <a:solidFill>
                  <a:srgbClr val="A85C6E"/>
                </a:solidFill>
                <a:latin typeface="Meiryo" pitchFamily="34" charset="0"/>
                <a:ea typeface="Meiryo" pitchFamily="34" charset="-122"/>
                <a:cs typeface="Meiryo" pitchFamily="34" charset="-120"/>
              </a:rPr>
              <a:t>01</a:t>
            </a:r>
            <a:endParaRPr lang="en-US" sz="1500" dirty="0"/>
          </a:p>
        </p:txBody>
      </p:sp>
      <p:sp>
        <p:nvSpPr>
          <p:cNvPr id="6" name="Text 4"/>
          <p:cNvSpPr txBox="1"/>
          <p:nvPr/>
        </p:nvSpPr>
        <p:spPr>
          <a:xfrm>
            <a:off x="1691640" y="1892808"/>
            <a:ext cx="4114800" cy="365760"/>
          </a:xfrm>
          <a:prstGeom prst="rect">
            <a:avLst/>
          </a:prstGeom>
          <a:noFill/>
          <a:ln/>
        </p:spPr>
        <p:txBody>
          <a:bodyPr wrap="square" lIns="0" tIns="0" rIns="0" bIns="0" rtlCol="0" anchor="ctr"/>
          <a:lstStyle/>
          <a:p>
            <a:pPr indent="0" marL="0">
              <a:buNone/>
            </a:pPr>
            <a:r>
              <a:rPr lang="en-US" sz="1450" b="1" dirty="0">
                <a:solidFill>
                  <a:srgbClr val="FFFFFF"/>
                </a:solidFill>
                <a:latin typeface="Meiryo" pitchFamily="34" charset="0"/>
                <a:ea typeface="Meiryo" pitchFamily="34" charset="-122"/>
                <a:cs typeface="Meiryo" pitchFamily="34" charset="-120"/>
              </a:rPr>
              <a:t>第2位株主が競合TKP社</a:t>
            </a:r>
            <a:endParaRPr lang="en-US" sz="1450" dirty="0"/>
          </a:p>
        </p:txBody>
      </p:sp>
      <p:sp>
        <p:nvSpPr>
          <p:cNvPr id="7" name="Text 5"/>
          <p:cNvSpPr txBox="1"/>
          <p:nvPr/>
        </p:nvSpPr>
        <p:spPr>
          <a:xfrm>
            <a:off x="914400" y="2331720"/>
            <a:ext cx="4800600" cy="1097280"/>
          </a:xfrm>
          <a:prstGeom prst="rect">
            <a:avLst/>
          </a:prstGeom>
          <a:noFill/>
          <a:ln/>
        </p:spPr>
        <p:txBody>
          <a:bodyPr wrap="square" lIns="0" tIns="0" rIns="0" bIns="0" rtlCol="0" anchor="ctr"/>
          <a:lstStyle/>
          <a:p>
            <a:pPr indent="0" marL="0">
              <a:lnSpc>
                <a:spcPct val="120000"/>
              </a:lnSpc>
              <a:buNone/>
            </a:pPr>
            <a:r>
              <a:rPr lang="en-US" sz="1050" dirty="0">
                <a:solidFill>
                  <a:srgbClr val="A8B5C0"/>
                </a:solidFill>
                <a:latin typeface="Meiryo" pitchFamily="34" charset="0"/>
                <a:ea typeface="Meiryo" pitchFamily="34" charset="-122"/>
                <a:cs typeface="Meiryo" pitchFamily="34" charset="-120"/>
              </a:rPr>
              <a:t>TKPは21.06%を保有する第2位株主です。合併後も12.79%で残ります。貸会議室・レンタルスペース領域で競合する会社が、当社の株主総会で議決権を持つ形になります。</a:t>
            </a:r>
            <a:endParaRPr lang="en-US" sz="1050" dirty="0"/>
          </a:p>
        </p:txBody>
      </p:sp>
      <p:sp>
        <p:nvSpPr>
          <p:cNvPr id="8" name="Shape 6"/>
          <p:cNvSpPr/>
          <p:nvPr/>
        </p:nvSpPr>
        <p:spPr>
          <a:xfrm>
            <a:off x="6172200" y="1691640"/>
            <a:ext cx="5349240" cy="1920240"/>
          </a:xfrm>
          <a:prstGeom prst="roundRect">
            <a:avLst>
              <a:gd name="adj" fmla="val 2857"/>
            </a:avLst>
          </a:prstGeom>
          <a:solidFill>
            <a:srgbClr val="26333F"/>
          </a:solidFill>
          <a:ln w="12700">
            <a:solidFill>
              <a:srgbClr val="3A4854"/>
            </a:solidFill>
            <a:prstDash val="solid"/>
          </a:ln>
        </p:spPr>
      </p:sp>
      <p:sp>
        <p:nvSpPr>
          <p:cNvPr id="9" name="Text 7"/>
          <p:cNvSpPr txBox="1"/>
          <p:nvPr/>
        </p:nvSpPr>
        <p:spPr>
          <a:xfrm>
            <a:off x="6446520" y="1911096"/>
            <a:ext cx="822960" cy="320040"/>
          </a:xfrm>
          <a:prstGeom prst="rect">
            <a:avLst/>
          </a:prstGeom>
          <a:noFill/>
          <a:ln/>
        </p:spPr>
        <p:txBody>
          <a:bodyPr wrap="square" lIns="0" tIns="0" rIns="0" bIns="0" rtlCol="0" anchor="ctr"/>
          <a:lstStyle/>
          <a:p>
            <a:pPr indent="0" marL="0">
              <a:buNone/>
            </a:pPr>
            <a:r>
              <a:rPr lang="en-US" sz="1500" b="1" dirty="0">
                <a:solidFill>
                  <a:srgbClr val="A85C6E"/>
                </a:solidFill>
                <a:latin typeface="Meiryo" pitchFamily="34" charset="0"/>
                <a:ea typeface="Meiryo" pitchFamily="34" charset="-122"/>
                <a:cs typeface="Meiryo" pitchFamily="34" charset="-120"/>
              </a:rPr>
              <a:t>02</a:t>
            </a:r>
            <a:endParaRPr lang="en-US" sz="1500" dirty="0"/>
          </a:p>
        </p:txBody>
      </p:sp>
      <p:sp>
        <p:nvSpPr>
          <p:cNvPr id="10" name="Text 8"/>
          <p:cNvSpPr txBox="1"/>
          <p:nvPr/>
        </p:nvSpPr>
        <p:spPr>
          <a:xfrm>
            <a:off x="7223760" y="1892808"/>
            <a:ext cx="4114800" cy="365760"/>
          </a:xfrm>
          <a:prstGeom prst="rect">
            <a:avLst/>
          </a:prstGeom>
          <a:noFill/>
          <a:ln/>
        </p:spPr>
        <p:txBody>
          <a:bodyPr wrap="square" lIns="0" tIns="0" rIns="0" bIns="0" rtlCol="0" anchor="ctr"/>
          <a:lstStyle/>
          <a:p>
            <a:pPr indent="0" marL="0">
              <a:buNone/>
            </a:pPr>
            <a:r>
              <a:rPr lang="en-US" sz="1450" b="1" dirty="0">
                <a:solidFill>
                  <a:srgbClr val="FFFFFF"/>
                </a:solidFill>
                <a:latin typeface="Meiryo" pitchFamily="34" charset="0"/>
                <a:ea typeface="Meiryo" pitchFamily="34" charset="-122"/>
                <a:cs typeface="Meiryo" pitchFamily="34" charset="-120"/>
              </a:rPr>
              <a:t>ビジョン社が合併後の筆頭株主</a:t>
            </a:r>
            <a:endParaRPr lang="en-US" sz="1450" dirty="0"/>
          </a:p>
        </p:txBody>
      </p:sp>
      <p:sp>
        <p:nvSpPr>
          <p:cNvPr id="11" name="Text 9"/>
          <p:cNvSpPr txBox="1"/>
          <p:nvPr/>
        </p:nvSpPr>
        <p:spPr>
          <a:xfrm>
            <a:off x="6446520" y="2331720"/>
            <a:ext cx="4800600" cy="1097280"/>
          </a:xfrm>
          <a:prstGeom prst="rect">
            <a:avLst/>
          </a:prstGeom>
          <a:noFill/>
          <a:ln/>
        </p:spPr>
        <p:txBody>
          <a:bodyPr wrap="square" lIns="0" tIns="0" rIns="0" bIns="0" rtlCol="0" anchor="ctr"/>
          <a:lstStyle/>
          <a:p>
            <a:pPr indent="0" marL="0">
              <a:lnSpc>
                <a:spcPct val="120000"/>
              </a:lnSpc>
              <a:buNone/>
            </a:pPr>
            <a:r>
              <a:rPr lang="en-US" sz="1050" dirty="0">
                <a:solidFill>
                  <a:srgbClr val="A8B5C0"/>
                </a:solidFill>
                <a:latin typeface="Meiryo" pitchFamily="34" charset="0"/>
                <a:ea typeface="Meiryo" pitchFamily="34" charset="-122"/>
                <a:cs typeface="Meiryo" pitchFamily="34" charset="-120"/>
              </a:rPr>
              <a:t>19.26%。MBOを先行させずに合併すると、ビジョンとの関係は解消されないまま上場会社の筆頭株主として残ります。</a:t>
            </a:r>
            <a:endParaRPr lang="en-US" sz="1050" dirty="0"/>
          </a:p>
        </p:txBody>
      </p:sp>
      <p:sp>
        <p:nvSpPr>
          <p:cNvPr id="12" name="Shape 10"/>
          <p:cNvSpPr/>
          <p:nvPr/>
        </p:nvSpPr>
        <p:spPr>
          <a:xfrm>
            <a:off x="640080" y="3840480"/>
            <a:ext cx="5349240" cy="1920240"/>
          </a:xfrm>
          <a:prstGeom prst="roundRect">
            <a:avLst>
              <a:gd name="adj" fmla="val 2857"/>
            </a:avLst>
          </a:prstGeom>
          <a:solidFill>
            <a:srgbClr val="26333F"/>
          </a:solidFill>
          <a:ln w="12700">
            <a:solidFill>
              <a:srgbClr val="3A4854"/>
            </a:solidFill>
            <a:prstDash val="solid"/>
          </a:ln>
        </p:spPr>
      </p:sp>
      <p:sp>
        <p:nvSpPr>
          <p:cNvPr id="13" name="Text 11"/>
          <p:cNvSpPr txBox="1"/>
          <p:nvPr/>
        </p:nvSpPr>
        <p:spPr>
          <a:xfrm>
            <a:off x="914400" y="4059936"/>
            <a:ext cx="822960" cy="320040"/>
          </a:xfrm>
          <a:prstGeom prst="rect">
            <a:avLst/>
          </a:prstGeom>
          <a:noFill/>
          <a:ln/>
        </p:spPr>
        <p:txBody>
          <a:bodyPr wrap="square" lIns="0" tIns="0" rIns="0" bIns="0" rtlCol="0" anchor="ctr"/>
          <a:lstStyle/>
          <a:p>
            <a:pPr indent="0" marL="0">
              <a:buNone/>
            </a:pPr>
            <a:r>
              <a:rPr lang="en-US" sz="1500" b="1" dirty="0">
                <a:solidFill>
                  <a:srgbClr val="A85C6E"/>
                </a:solidFill>
                <a:latin typeface="Meiryo" pitchFamily="34" charset="0"/>
                <a:ea typeface="Meiryo" pitchFamily="34" charset="-122"/>
                <a:cs typeface="Meiryo" pitchFamily="34" charset="-120"/>
              </a:rPr>
              <a:t>03</a:t>
            </a:r>
            <a:endParaRPr lang="en-US" sz="1500" dirty="0"/>
          </a:p>
        </p:txBody>
      </p:sp>
      <p:sp>
        <p:nvSpPr>
          <p:cNvPr id="14" name="Text 12"/>
          <p:cNvSpPr txBox="1"/>
          <p:nvPr/>
        </p:nvSpPr>
        <p:spPr>
          <a:xfrm>
            <a:off x="1691640" y="4041648"/>
            <a:ext cx="4114800" cy="365760"/>
          </a:xfrm>
          <a:prstGeom prst="rect">
            <a:avLst/>
          </a:prstGeom>
          <a:noFill/>
          <a:ln/>
        </p:spPr>
        <p:txBody>
          <a:bodyPr wrap="square" lIns="0" tIns="0" rIns="0" bIns="0" rtlCol="0" anchor="ctr"/>
          <a:lstStyle/>
          <a:p>
            <a:pPr indent="0" marL="0">
              <a:buNone/>
            </a:pPr>
            <a:r>
              <a:rPr lang="en-US" sz="1450" b="1" dirty="0">
                <a:solidFill>
                  <a:srgbClr val="FFFFFF"/>
                </a:solidFill>
                <a:latin typeface="Meiryo" pitchFamily="34" charset="0"/>
                <a:ea typeface="Meiryo" pitchFamily="34" charset="-122"/>
                <a:cs typeface="Meiryo" pitchFamily="34" charset="-120"/>
              </a:rPr>
              <a:t>のれん22.09億円の償却</a:t>
            </a:r>
            <a:endParaRPr lang="en-US" sz="1450" dirty="0"/>
          </a:p>
        </p:txBody>
      </p:sp>
      <p:sp>
        <p:nvSpPr>
          <p:cNvPr id="15" name="Text 13"/>
          <p:cNvSpPr txBox="1"/>
          <p:nvPr/>
        </p:nvSpPr>
        <p:spPr>
          <a:xfrm>
            <a:off x="914400" y="4480560"/>
            <a:ext cx="4800600" cy="1097280"/>
          </a:xfrm>
          <a:prstGeom prst="rect">
            <a:avLst/>
          </a:prstGeom>
          <a:noFill/>
          <a:ln/>
        </p:spPr>
        <p:txBody>
          <a:bodyPr wrap="square" lIns="0" tIns="0" rIns="0" bIns="0" rtlCol="0" anchor="ctr"/>
          <a:lstStyle/>
          <a:p>
            <a:pPr indent="0" marL="0">
              <a:lnSpc>
                <a:spcPct val="120000"/>
              </a:lnSpc>
              <a:buNone/>
            </a:pPr>
            <a:r>
              <a:rPr lang="en-US" sz="1050" dirty="0">
                <a:solidFill>
                  <a:srgbClr val="A8B5C0"/>
                </a:solidFill>
                <a:latin typeface="Meiryo" pitchFamily="34" charset="0"/>
                <a:ea typeface="Meiryo" pitchFamily="34" charset="-122"/>
                <a:cs typeface="Meiryo" pitchFamily="34" charset="-120"/>
              </a:rPr>
              <a:t>日本基準では定額償却が必要です。20年償却でも年1.10億、10年なら年2.21億。合算営業利益（約2.6億）の大半が消えます。</a:t>
            </a:r>
            <a:endParaRPr lang="en-US" sz="1050" dirty="0"/>
          </a:p>
        </p:txBody>
      </p:sp>
      <p:sp>
        <p:nvSpPr>
          <p:cNvPr id="16" name="Shape 14"/>
          <p:cNvSpPr/>
          <p:nvPr/>
        </p:nvSpPr>
        <p:spPr>
          <a:xfrm>
            <a:off x="6172200" y="3840480"/>
            <a:ext cx="5349240" cy="1920240"/>
          </a:xfrm>
          <a:prstGeom prst="roundRect">
            <a:avLst>
              <a:gd name="adj" fmla="val 2857"/>
            </a:avLst>
          </a:prstGeom>
          <a:solidFill>
            <a:srgbClr val="26333F"/>
          </a:solidFill>
          <a:ln w="12700">
            <a:solidFill>
              <a:srgbClr val="3A4854"/>
            </a:solidFill>
            <a:prstDash val="solid"/>
          </a:ln>
        </p:spPr>
      </p:sp>
      <p:sp>
        <p:nvSpPr>
          <p:cNvPr id="17" name="Text 15"/>
          <p:cNvSpPr txBox="1"/>
          <p:nvPr/>
        </p:nvSpPr>
        <p:spPr>
          <a:xfrm>
            <a:off x="6446520" y="4059936"/>
            <a:ext cx="822960" cy="320040"/>
          </a:xfrm>
          <a:prstGeom prst="rect">
            <a:avLst/>
          </a:prstGeom>
          <a:noFill/>
          <a:ln/>
        </p:spPr>
        <p:txBody>
          <a:bodyPr wrap="square" lIns="0" tIns="0" rIns="0" bIns="0" rtlCol="0" anchor="ctr"/>
          <a:lstStyle/>
          <a:p>
            <a:pPr indent="0" marL="0">
              <a:buNone/>
            </a:pPr>
            <a:r>
              <a:rPr lang="en-US" sz="1500" b="1" dirty="0">
                <a:solidFill>
                  <a:srgbClr val="A85C6E"/>
                </a:solidFill>
                <a:latin typeface="Meiryo" pitchFamily="34" charset="0"/>
                <a:ea typeface="Meiryo" pitchFamily="34" charset="-122"/>
                <a:cs typeface="Meiryo" pitchFamily="34" charset="-120"/>
              </a:rPr>
              <a:t>04</a:t>
            </a:r>
            <a:endParaRPr lang="en-US" sz="1500" dirty="0"/>
          </a:p>
        </p:txBody>
      </p:sp>
      <p:sp>
        <p:nvSpPr>
          <p:cNvPr id="18" name="Text 16"/>
          <p:cNvSpPr txBox="1"/>
          <p:nvPr/>
        </p:nvSpPr>
        <p:spPr>
          <a:xfrm>
            <a:off x="7223760" y="4041648"/>
            <a:ext cx="4114800" cy="365760"/>
          </a:xfrm>
          <a:prstGeom prst="rect">
            <a:avLst/>
          </a:prstGeom>
          <a:noFill/>
          <a:ln/>
        </p:spPr>
        <p:txBody>
          <a:bodyPr wrap="square" lIns="0" tIns="0" rIns="0" bIns="0" rtlCol="0" anchor="ctr"/>
          <a:lstStyle/>
          <a:p>
            <a:pPr indent="0" marL="0">
              <a:buNone/>
            </a:pPr>
            <a:r>
              <a:rPr lang="en-US" sz="1450" b="1" dirty="0">
                <a:solidFill>
                  <a:srgbClr val="FFFFFF"/>
                </a:solidFill>
                <a:latin typeface="Meiryo" pitchFamily="34" charset="0"/>
                <a:ea typeface="Meiryo" pitchFamily="34" charset="-122"/>
                <a:cs typeface="Meiryo" pitchFamily="34" charset="-120"/>
              </a:rPr>
              <a:t>流通株式比率25%基準</a:t>
            </a:r>
            <a:endParaRPr lang="en-US" sz="1450" dirty="0"/>
          </a:p>
        </p:txBody>
      </p:sp>
      <p:sp>
        <p:nvSpPr>
          <p:cNvPr id="19" name="Text 17"/>
          <p:cNvSpPr txBox="1"/>
          <p:nvPr/>
        </p:nvSpPr>
        <p:spPr>
          <a:xfrm>
            <a:off x="6446520" y="4480560"/>
            <a:ext cx="4800600" cy="1097280"/>
          </a:xfrm>
          <a:prstGeom prst="rect">
            <a:avLst/>
          </a:prstGeom>
          <a:noFill/>
          <a:ln/>
        </p:spPr>
        <p:txBody>
          <a:bodyPr wrap="square" lIns="0" tIns="0" rIns="0" bIns="0" rtlCol="0" anchor="ctr"/>
          <a:lstStyle/>
          <a:p>
            <a:pPr indent="0" marL="0">
              <a:lnSpc>
                <a:spcPct val="120000"/>
              </a:lnSpc>
              <a:buNone/>
            </a:pPr>
            <a:r>
              <a:rPr lang="en-US" sz="1050" dirty="0">
                <a:solidFill>
                  <a:srgbClr val="A8B5C0"/>
                </a:solidFill>
                <a:latin typeface="Meiryo" pitchFamily="34" charset="0"/>
                <a:ea typeface="Meiryo" pitchFamily="34" charset="-122"/>
                <a:cs typeface="Meiryo" pitchFamily="34" charset="-120"/>
              </a:rPr>
              <a:t>合併後の流通株式比率は21.62〜30.59%と試算され、東証グロースの上場維持基準に抵触する可能性があります（改善期間1年）。</a:t>
            </a:r>
            <a:endParaRPr lang="en-US" sz="1050" dirty="0"/>
          </a:p>
        </p:txBody>
      </p:sp>
      <p:sp>
        <p:nvSpPr>
          <p:cNvPr id="20" name="Text 18"/>
          <p:cNvSpPr txBox="1"/>
          <p:nvPr/>
        </p:nvSpPr>
        <p:spPr>
          <a:xfrm>
            <a:off x="640080" y="6126480"/>
            <a:ext cx="10881360" cy="292608"/>
          </a:xfrm>
          <a:prstGeom prst="rect">
            <a:avLst/>
          </a:prstGeom>
          <a:noFill/>
          <a:ln/>
        </p:spPr>
        <p:txBody>
          <a:bodyPr wrap="square" lIns="0" tIns="0" rIns="0" bIns="0" rtlCol="0" anchor="ctr"/>
          <a:lstStyle/>
          <a:p>
            <a:pPr indent="0" marL="0">
              <a:buNone/>
            </a:pPr>
            <a:r>
              <a:rPr lang="en-US" sz="1250" b="1" dirty="0">
                <a:solidFill>
                  <a:srgbClr val="A85C6E"/>
                </a:solidFill>
                <a:latin typeface="Meiryo" pitchFamily="34" charset="0"/>
                <a:ea typeface="Meiryo" pitchFamily="34" charset="-122"/>
                <a:cs typeface="Meiryo" pitchFamily="34" charset="-120"/>
              </a:rPr>
              <a:t>いずれも「合併しない理由」ではなく、合併条件の交渉材料です。特に③のれんは、合併比率そのものに跳ね返る論点です。</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9"/>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6E2639"/>
                </a:solidFill>
                <a:latin typeface="Meiryo" pitchFamily="34" charset="0"/>
                <a:ea typeface="Meiryo" pitchFamily="34" charset="-122"/>
                <a:cs typeface="Meiryo" pitchFamily="34" charset="-120"/>
              </a:rPr>
              <a:t>選択肢 2 ─ 合併</a:t>
            </a:r>
            <a:endParaRPr lang="en-US" sz="1100" dirty="0"/>
          </a:p>
        </p:txBody>
      </p:sp>
      <p:sp>
        <p:nvSpPr>
          <p:cNvPr id="3" name="Text 1"/>
          <p:cNvSpPr txBox="1"/>
          <p:nvPr/>
        </p:nvSpPr>
        <p:spPr>
          <a:xfrm>
            <a:off x="640080" y="676656"/>
            <a:ext cx="10881360" cy="658368"/>
          </a:xfrm>
          <a:prstGeom prst="rect">
            <a:avLst/>
          </a:prstGeom>
          <a:noFill/>
          <a:ln/>
        </p:spPr>
        <p:txBody>
          <a:bodyPr wrap="square" lIns="0" tIns="0" rIns="0" bIns="0" rtlCol="0" anchor="ctr"/>
          <a:lstStyle/>
          <a:p>
            <a:pPr indent="0" marL="0">
              <a:buNone/>
            </a:pPr>
            <a:r>
              <a:rPr lang="en-US" sz="2800" b="1" dirty="0">
                <a:solidFill>
                  <a:srgbClr val="1E2A38"/>
                </a:solidFill>
                <a:latin typeface="Meiryo" pitchFamily="34" charset="0"/>
                <a:ea typeface="Meiryo" pitchFamily="34" charset="-122"/>
                <a:cs typeface="Meiryo" pitchFamily="34" charset="-120"/>
              </a:rPr>
              <a:t>重松氏と対等になるために必要な取得コスト</a:t>
            </a:r>
            <a:endParaRPr lang="en-US" sz="2800" dirty="0"/>
          </a:p>
        </p:txBody>
      </p:sp>
      <p:sp>
        <p:nvSpPr>
          <p:cNvPr id="4" name="Shape 2"/>
          <p:cNvSpPr/>
          <p:nvPr/>
        </p:nvSpPr>
        <p:spPr>
          <a:xfrm>
            <a:off x="640080" y="1554480"/>
            <a:ext cx="5349240" cy="2834640"/>
          </a:xfrm>
          <a:prstGeom prst="roundRect">
            <a:avLst>
              <a:gd name="adj" fmla="val 1935"/>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5" name="Shape 3"/>
          <p:cNvSpPr/>
          <p:nvPr/>
        </p:nvSpPr>
        <p:spPr>
          <a:xfrm>
            <a:off x="960120" y="1783080"/>
            <a:ext cx="1463040" cy="310896"/>
          </a:xfrm>
          <a:prstGeom prst="roundRect">
            <a:avLst>
              <a:gd name="adj" fmla="val 50000"/>
            </a:avLst>
          </a:prstGeom>
          <a:solidFill>
            <a:srgbClr val="2C6A4E"/>
          </a:solidFill>
          <a:ln/>
        </p:spPr>
      </p:sp>
      <p:sp>
        <p:nvSpPr>
          <p:cNvPr id="6" name="Text 4"/>
          <p:cNvSpPr txBox="1"/>
          <p:nvPr/>
        </p:nvSpPr>
        <p:spPr>
          <a:xfrm>
            <a:off x="960120" y="1783080"/>
            <a:ext cx="146304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Meiryo" pitchFamily="34" charset="0"/>
                <a:ea typeface="Meiryo" pitchFamily="34" charset="-122"/>
                <a:cs typeface="Meiryo" pitchFamily="34" charset="-120"/>
              </a:rPr>
              <a:t>ケース A</a:t>
            </a:r>
            <a:endParaRPr lang="en-US" sz="1150" dirty="0"/>
          </a:p>
        </p:txBody>
      </p:sp>
      <p:sp>
        <p:nvSpPr>
          <p:cNvPr id="7" name="Text 5"/>
          <p:cNvSpPr txBox="1"/>
          <p:nvPr/>
        </p:nvSpPr>
        <p:spPr>
          <a:xfrm>
            <a:off x="960120" y="2240280"/>
            <a:ext cx="4709160" cy="320040"/>
          </a:xfrm>
          <a:prstGeom prst="rect">
            <a:avLst/>
          </a:prstGeom>
          <a:noFill/>
          <a:ln/>
        </p:spPr>
        <p:txBody>
          <a:bodyPr wrap="square" lIns="0" tIns="0" rIns="0" bIns="0" rtlCol="0" anchor="ctr"/>
          <a:lstStyle/>
          <a:p>
            <a:pPr indent="0" marL="0">
              <a:buNone/>
            </a:pPr>
            <a:r>
              <a:rPr lang="en-US" sz="1600" b="1" dirty="0">
                <a:solidFill>
                  <a:srgbClr val="1E2A38"/>
                </a:solidFill>
                <a:latin typeface="Meiryo" pitchFamily="34" charset="0"/>
                <a:ea typeface="Meiryo" pitchFamily="34" charset="-122"/>
                <a:cs typeface="Meiryo" pitchFamily="34" charset="-120"/>
              </a:rPr>
              <a:t>重松氏 個人分のみと並ぶ</a:t>
            </a:r>
            <a:endParaRPr lang="en-US" sz="1600" dirty="0"/>
          </a:p>
        </p:txBody>
      </p:sp>
      <p:sp>
        <p:nvSpPr>
          <p:cNvPr id="8" name="Text 6"/>
          <p:cNvSpPr txBox="1"/>
          <p:nvPr/>
        </p:nvSpPr>
        <p:spPr>
          <a:xfrm>
            <a:off x="960120" y="2578608"/>
            <a:ext cx="4709160" cy="274320"/>
          </a:xfrm>
          <a:prstGeom prst="rect">
            <a:avLst/>
          </a:prstGeom>
          <a:noFill/>
          <a:ln/>
        </p:spPr>
        <p:txBody>
          <a:bodyPr wrap="square" lIns="0" tIns="0" rIns="0" bIns="0" rtlCol="0" anchor="ctr"/>
          <a:lstStyle/>
          <a:p>
            <a:pPr indent="0" marL="0">
              <a:buNone/>
            </a:pPr>
            <a:r>
              <a:rPr lang="en-US" sz="1100" dirty="0">
                <a:solidFill>
                  <a:srgbClr val="7C8A99"/>
                </a:solidFill>
                <a:latin typeface="Meiryo" pitchFamily="34" charset="0"/>
                <a:ea typeface="Meiryo" pitchFamily="34" charset="-122"/>
                <a:cs typeface="Meiryo" pitchFamily="34" charset="-120"/>
              </a:rPr>
              <a:t>14.80% vs 13.25%</a:t>
            </a:r>
            <a:endParaRPr lang="en-US" sz="1100" dirty="0"/>
          </a:p>
        </p:txBody>
      </p:sp>
      <p:sp>
        <p:nvSpPr>
          <p:cNvPr id="9" name="Text 7"/>
          <p:cNvSpPr txBox="1"/>
          <p:nvPr/>
        </p:nvSpPr>
        <p:spPr>
          <a:xfrm>
            <a:off x="960120" y="2926080"/>
            <a:ext cx="4709160" cy="685800"/>
          </a:xfrm>
          <a:prstGeom prst="rect">
            <a:avLst/>
          </a:prstGeom>
          <a:noFill/>
          <a:ln/>
        </p:spPr>
        <p:txBody>
          <a:bodyPr wrap="square" lIns="0" tIns="0" rIns="0" bIns="0" rtlCol="0" anchor="ctr"/>
          <a:lstStyle/>
          <a:p>
            <a:pPr indent="0" marL="0">
              <a:buNone/>
            </a:pPr>
            <a:r>
              <a:rPr lang="en-US" sz="4000" b="1" dirty="0">
                <a:solidFill>
                  <a:srgbClr val="2C6A4E"/>
                </a:solidFill>
                <a:latin typeface="Meiryo" pitchFamily="34" charset="0"/>
                <a:ea typeface="Meiryo" pitchFamily="34" charset="-122"/>
                <a:cs typeface="Meiryo" pitchFamily="34" charset="-120"/>
              </a:rPr>
              <a:t>0.09</a:t>
            </a:r>
            <a:pPr indent="0" marL="0">
              <a:buNone/>
            </a:pPr>
            <a:r>
              <a:rPr lang="en-US" sz="1500" b="1" dirty="0">
                <a:solidFill>
                  <a:srgbClr val="2C6A4E"/>
                </a:solidFill>
                <a:latin typeface="Meiryo" pitchFamily="34" charset="0"/>
                <a:ea typeface="Meiryo" pitchFamily="34" charset="-122"/>
                <a:cs typeface="Meiryo" pitchFamily="34" charset="-120"/>
              </a:rPr>
              <a:t>億円</a:t>
            </a:r>
            <a:endParaRPr lang="en-US" sz="4000" dirty="0"/>
          </a:p>
        </p:txBody>
      </p:sp>
      <p:sp>
        <p:nvSpPr>
          <p:cNvPr id="10" name="Text 8"/>
          <p:cNvSpPr txBox="1"/>
          <p:nvPr/>
        </p:nvSpPr>
        <p:spPr>
          <a:xfrm>
            <a:off x="960120" y="3657600"/>
            <a:ext cx="4709160" cy="274320"/>
          </a:xfrm>
          <a:prstGeom prst="rect">
            <a:avLst/>
          </a:prstGeom>
          <a:noFill/>
          <a:ln/>
        </p:spPr>
        <p:txBody>
          <a:bodyPr wrap="square" lIns="0" tIns="0" rIns="0" bIns="0" rtlCol="0" anchor="ctr"/>
          <a:lstStyle/>
          <a:p>
            <a:pPr indent="0" marL="0">
              <a:buNone/>
            </a:pPr>
            <a:r>
              <a:rPr lang="en-US" sz="1050" dirty="0">
                <a:solidFill>
                  <a:srgbClr val="3D4E60"/>
                </a:solidFill>
                <a:latin typeface="Meiryo" pitchFamily="34" charset="0"/>
                <a:ea typeface="Meiryo" pitchFamily="34" charset="-122"/>
                <a:cs typeface="Meiryo" pitchFamily="34" charset="-120"/>
              </a:rPr>
              <a:t>差分 1.55pt = 約4万株を相対取得</a:t>
            </a:r>
            <a:endParaRPr lang="en-US" sz="1050" dirty="0"/>
          </a:p>
        </p:txBody>
      </p:sp>
      <p:sp>
        <p:nvSpPr>
          <p:cNvPr id="11" name="Text 9"/>
          <p:cNvSpPr txBox="1"/>
          <p:nvPr/>
        </p:nvSpPr>
        <p:spPr>
          <a:xfrm>
            <a:off x="960120" y="3950208"/>
            <a:ext cx="4709160" cy="274320"/>
          </a:xfrm>
          <a:prstGeom prst="rect">
            <a:avLst/>
          </a:prstGeom>
          <a:noFill/>
          <a:ln/>
        </p:spPr>
        <p:txBody>
          <a:bodyPr wrap="square" lIns="0" tIns="0" rIns="0" bIns="0" rtlCol="0" anchor="ctr"/>
          <a:lstStyle/>
          <a:p>
            <a:pPr indent="0" marL="0">
              <a:buNone/>
            </a:pPr>
            <a:r>
              <a:rPr lang="en-US" sz="1050" dirty="0">
                <a:solidFill>
                  <a:srgbClr val="7C8A99"/>
                </a:solidFill>
                <a:latin typeface="Meiryo" pitchFamily="34" charset="0"/>
                <a:ea typeface="Meiryo" pitchFamily="34" charset="-122"/>
                <a:cs typeface="Meiryo" pitchFamily="34" charset="-120"/>
              </a:rPr>
              <a:t>市場で買う場合は 0.18億円</a:t>
            </a:r>
            <a:endParaRPr lang="en-US" sz="1050" dirty="0"/>
          </a:p>
        </p:txBody>
      </p:sp>
      <p:sp>
        <p:nvSpPr>
          <p:cNvPr id="12" name="Shape 10"/>
          <p:cNvSpPr/>
          <p:nvPr/>
        </p:nvSpPr>
        <p:spPr>
          <a:xfrm>
            <a:off x="6172200" y="1554480"/>
            <a:ext cx="5349240" cy="2834640"/>
          </a:xfrm>
          <a:prstGeom prst="roundRect">
            <a:avLst>
              <a:gd name="adj" fmla="val 1935"/>
            </a:avLst>
          </a:prstGeom>
          <a:solidFill>
            <a:srgbClr val="FBF1F3"/>
          </a:solidFill>
          <a:ln w="12700">
            <a:solidFill>
              <a:srgbClr val="E3CBD1"/>
            </a:solidFill>
            <a:prstDash val="solid"/>
          </a:ln>
          <a:effectLst>
            <a:outerShdw sx="100000" sy="100000" kx="0" ky="0" algn="bl" rotWithShape="0" blurRad="101600" dist="12700" dir="5400000">
              <a:srgbClr val="AAB4BE">
                <a:alpha val="18000"/>
              </a:srgbClr>
            </a:outerShdw>
          </a:effectLst>
        </p:spPr>
      </p:sp>
      <p:sp>
        <p:nvSpPr>
          <p:cNvPr id="13" name="Shape 11"/>
          <p:cNvSpPr/>
          <p:nvPr/>
        </p:nvSpPr>
        <p:spPr>
          <a:xfrm>
            <a:off x="6492240" y="1783080"/>
            <a:ext cx="1463040" cy="310896"/>
          </a:xfrm>
          <a:prstGeom prst="roundRect">
            <a:avLst>
              <a:gd name="adj" fmla="val 50000"/>
            </a:avLst>
          </a:prstGeom>
          <a:solidFill>
            <a:srgbClr val="6E2639"/>
          </a:solidFill>
          <a:ln/>
        </p:spPr>
      </p:sp>
      <p:sp>
        <p:nvSpPr>
          <p:cNvPr id="14" name="Text 12"/>
          <p:cNvSpPr txBox="1"/>
          <p:nvPr/>
        </p:nvSpPr>
        <p:spPr>
          <a:xfrm>
            <a:off x="6492240" y="1783080"/>
            <a:ext cx="146304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Meiryo" pitchFamily="34" charset="0"/>
                <a:ea typeface="Meiryo" pitchFamily="34" charset="-122"/>
                <a:cs typeface="Meiryo" pitchFamily="34" charset="-120"/>
              </a:rPr>
              <a:t>ケース B</a:t>
            </a:r>
            <a:endParaRPr lang="en-US" sz="1150" dirty="0"/>
          </a:p>
        </p:txBody>
      </p:sp>
      <p:sp>
        <p:nvSpPr>
          <p:cNvPr id="15" name="Text 13"/>
          <p:cNvSpPr txBox="1"/>
          <p:nvPr/>
        </p:nvSpPr>
        <p:spPr>
          <a:xfrm>
            <a:off x="6492240" y="2240280"/>
            <a:ext cx="4709160" cy="320040"/>
          </a:xfrm>
          <a:prstGeom prst="rect">
            <a:avLst/>
          </a:prstGeom>
          <a:noFill/>
          <a:ln/>
        </p:spPr>
        <p:txBody>
          <a:bodyPr wrap="square" lIns="0" tIns="0" rIns="0" bIns="0" rtlCol="0" anchor="ctr"/>
          <a:lstStyle/>
          <a:p>
            <a:pPr indent="0" marL="0">
              <a:buNone/>
            </a:pPr>
            <a:r>
              <a:rPr lang="en-US" sz="1600" b="1" dirty="0">
                <a:solidFill>
                  <a:srgbClr val="1E2A38"/>
                </a:solidFill>
                <a:latin typeface="Meiryo" pitchFamily="34" charset="0"/>
                <a:ea typeface="Meiryo" pitchFamily="34" charset="-122"/>
                <a:cs typeface="Meiryo" pitchFamily="34" charset="-120"/>
              </a:rPr>
              <a:t>ダブルパインズを含めて並ぶ</a:t>
            </a:r>
            <a:endParaRPr lang="en-US" sz="1600" dirty="0"/>
          </a:p>
        </p:txBody>
      </p:sp>
      <p:sp>
        <p:nvSpPr>
          <p:cNvPr id="16" name="Text 14"/>
          <p:cNvSpPr txBox="1"/>
          <p:nvPr/>
        </p:nvSpPr>
        <p:spPr>
          <a:xfrm>
            <a:off x="6492240" y="2578608"/>
            <a:ext cx="4709160" cy="274320"/>
          </a:xfrm>
          <a:prstGeom prst="rect">
            <a:avLst/>
          </a:prstGeom>
          <a:noFill/>
          <a:ln/>
        </p:spPr>
        <p:txBody>
          <a:bodyPr wrap="square" lIns="0" tIns="0" rIns="0" bIns="0" rtlCol="0" anchor="ctr"/>
          <a:lstStyle/>
          <a:p>
            <a:pPr indent="0" marL="0">
              <a:buNone/>
            </a:pPr>
            <a:r>
              <a:rPr lang="en-US" sz="1100" dirty="0">
                <a:solidFill>
                  <a:srgbClr val="7C8A99"/>
                </a:solidFill>
                <a:latin typeface="Meiryo" pitchFamily="34" charset="0"/>
                <a:ea typeface="Meiryo" pitchFamily="34" charset="-122"/>
                <a:cs typeface="Meiryo" pitchFamily="34" charset="-120"/>
              </a:rPr>
              <a:t>23.18% vs 13.25%</a:t>
            </a:r>
            <a:endParaRPr lang="en-US" sz="1100" dirty="0"/>
          </a:p>
        </p:txBody>
      </p:sp>
      <p:sp>
        <p:nvSpPr>
          <p:cNvPr id="17" name="Text 15"/>
          <p:cNvSpPr txBox="1"/>
          <p:nvPr/>
        </p:nvSpPr>
        <p:spPr>
          <a:xfrm>
            <a:off x="6492240" y="2926080"/>
            <a:ext cx="4709160" cy="685800"/>
          </a:xfrm>
          <a:prstGeom prst="rect">
            <a:avLst/>
          </a:prstGeom>
          <a:noFill/>
          <a:ln/>
        </p:spPr>
        <p:txBody>
          <a:bodyPr wrap="square" lIns="0" tIns="0" rIns="0" bIns="0" rtlCol="0" anchor="ctr"/>
          <a:lstStyle/>
          <a:p>
            <a:pPr indent="0" marL="0">
              <a:buNone/>
            </a:pPr>
            <a:r>
              <a:rPr lang="en-US" sz="4000" b="1" dirty="0">
                <a:solidFill>
                  <a:srgbClr val="6E2639"/>
                </a:solidFill>
                <a:latin typeface="Meiryo" pitchFamily="34" charset="0"/>
                <a:ea typeface="Meiryo" pitchFamily="34" charset="-122"/>
                <a:cs typeface="Meiryo" pitchFamily="34" charset="-120"/>
              </a:rPr>
              <a:t>2.01</a:t>
            </a:r>
            <a:pPr indent="0" marL="0">
              <a:buNone/>
            </a:pPr>
            <a:r>
              <a:rPr lang="en-US" sz="1500" b="1" dirty="0">
                <a:solidFill>
                  <a:srgbClr val="6E2639"/>
                </a:solidFill>
                <a:latin typeface="Meiryo" pitchFamily="34" charset="0"/>
                <a:ea typeface="Meiryo" pitchFamily="34" charset="-122"/>
                <a:cs typeface="Meiryo" pitchFamily="34" charset="-120"/>
              </a:rPr>
              <a:t>億円</a:t>
            </a:r>
            <a:endParaRPr lang="en-US" sz="4000" dirty="0"/>
          </a:p>
        </p:txBody>
      </p:sp>
      <p:sp>
        <p:nvSpPr>
          <p:cNvPr id="18" name="Text 16"/>
          <p:cNvSpPr txBox="1"/>
          <p:nvPr/>
        </p:nvSpPr>
        <p:spPr>
          <a:xfrm>
            <a:off x="6492240" y="3657600"/>
            <a:ext cx="4709160" cy="274320"/>
          </a:xfrm>
          <a:prstGeom prst="rect">
            <a:avLst/>
          </a:prstGeom>
          <a:noFill/>
          <a:ln/>
        </p:spPr>
        <p:txBody>
          <a:bodyPr wrap="square" lIns="0" tIns="0" rIns="0" bIns="0" rtlCol="0" anchor="ctr"/>
          <a:lstStyle/>
          <a:p>
            <a:pPr indent="0" marL="0">
              <a:buNone/>
            </a:pPr>
            <a:r>
              <a:rPr lang="en-US" sz="1050" dirty="0">
                <a:solidFill>
                  <a:srgbClr val="3D4E60"/>
                </a:solidFill>
                <a:latin typeface="Meiryo" pitchFamily="34" charset="0"/>
                <a:ea typeface="Meiryo" pitchFamily="34" charset="-122"/>
                <a:cs typeface="Meiryo" pitchFamily="34" charset="-120"/>
              </a:rPr>
              <a:t>差分 9.93pt = 約88万株を相対取得</a:t>
            </a:r>
            <a:endParaRPr lang="en-US" sz="1050" dirty="0"/>
          </a:p>
        </p:txBody>
      </p:sp>
      <p:sp>
        <p:nvSpPr>
          <p:cNvPr id="19" name="Text 17"/>
          <p:cNvSpPr txBox="1"/>
          <p:nvPr/>
        </p:nvSpPr>
        <p:spPr>
          <a:xfrm>
            <a:off x="6492240" y="3950208"/>
            <a:ext cx="4709160" cy="274320"/>
          </a:xfrm>
          <a:prstGeom prst="rect">
            <a:avLst/>
          </a:prstGeom>
          <a:noFill/>
          <a:ln/>
        </p:spPr>
        <p:txBody>
          <a:bodyPr wrap="square" lIns="0" tIns="0" rIns="0" bIns="0" rtlCol="0" anchor="ctr"/>
          <a:lstStyle/>
          <a:p>
            <a:pPr indent="0" marL="0">
              <a:buNone/>
            </a:pPr>
            <a:r>
              <a:rPr lang="en-US" sz="1050" dirty="0">
                <a:solidFill>
                  <a:srgbClr val="7C8A99"/>
                </a:solidFill>
                <a:latin typeface="Meiryo" pitchFamily="34" charset="0"/>
                <a:ea typeface="Meiryo" pitchFamily="34" charset="-122"/>
                <a:cs typeface="Meiryo" pitchFamily="34" charset="-120"/>
              </a:rPr>
              <a:t>市場で買う場合は 4.02億円</a:t>
            </a:r>
            <a:endParaRPr lang="en-US" sz="1050" dirty="0"/>
          </a:p>
        </p:txBody>
      </p:sp>
      <p:sp>
        <p:nvSpPr>
          <p:cNvPr id="20" name="Shape 18"/>
          <p:cNvSpPr/>
          <p:nvPr/>
        </p:nvSpPr>
        <p:spPr>
          <a:xfrm>
            <a:off x="640080" y="4572000"/>
            <a:ext cx="10881360" cy="1371600"/>
          </a:xfrm>
          <a:prstGeom prst="roundRect">
            <a:avLst>
              <a:gd name="adj" fmla="val 4000"/>
            </a:avLst>
          </a:prstGeom>
          <a:solidFill>
            <a:srgbClr val="F7F3EC"/>
          </a:solidFill>
          <a:ln w="12700">
            <a:solidFill>
              <a:srgbClr val="E0D3BE"/>
            </a:solidFill>
            <a:prstDash val="solid"/>
          </a:ln>
          <a:effectLst>
            <a:outerShdw sx="100000" sy="100000" kx="0" ky="0" algn="bl" rotWithShape="0" blurRad="101600" dist="12700" dir="5400000">
              <a:srgbClr val="AAB4BE">
                <a:alpha val="18000"/>
              </a:srgbClr>
            </a:outerShdw>
          </a:effectLst>
        </p:spPr>
      </p:sp>
      <p:sp>
        <p:nvSpPr>
          <p:cNvPr id="21" name="Text 19"/>
          <p:cNvSpPr txBox="1"/>
          <p:nvPr/>
        </p:nvSpPr>
        <p:spPr>
          <a:xfrm>
            <a:off x="914400" y="4754880"/>
            <a:ext cx="5486400" cy="274320"/>
          </a:xfrm>
          <a:prstGeom prst="rect">
            <a:avLst/>
          </a:prstGeom>
          <a:noFill/>
          <a:ln/>
        </p:spPr>
        <p:txBody>
          <a:bodyPr wrap="square" lIns="0" tIns="0" rIns="0" bIns="0" rtlCol="0" anchor="ctr"/>
          <a:lstStyle/>
          <a:p>
            <a:pPr indent="0" marL="0">
              <a:buNone/>
            </a:pPr>
            <a:r>
              <a:rPr lang="en-US" sz="1350" b="1" dirty="0">
                <a:solidFill>
                  <a:srgbClr val="8F5510"/>
                </a:solidFill>
                <a:latin typeface="Meiryo" pitchFamily="34" charset="0"/>
                <a:ea typeface="Meiryo" pitchFamily="34" charset="-122"/>
                <a:cs typeface="Meiryo" pitchFamily="34" charset="-120"/>
              </a:rPr>
              <a:t>ただし、実行方法には制約があります</a:t>
            </a:r>
            <a:endParaRPr lang="en-US" sz="1350" dirty="0"/>
          </a:p>
        </p:txBody>
      </p:sp>
      <p:sp>
        <p:nvSpPr>
          <p:cNvPr id="22" name="Text 20"/>
          <p:cNvSpPr txBox="1"/>
          <p:nvPr/>
        </p:nvSpPr>
        <p:spPr>
          <a:xfrm>
            <a:off x="914400" y="5102352"/>
            <a:ext cx="3383280" cy="256032"/>
          </a:xfrm>
          <a:prstGeom prst="rect">
            <a:avLst/>
          </a:prstGeom>
          <a:noFill/>
          <a:ln/>
        </p:spPr>
        <p:txBody>
          <a:bodyPr wrap="square" lIns="0" tIns="0" rIns="0" bIns="0" rtlCol="0" anchor="ctr"/>
          <a:lstStyle/>
          <a:p>
            <a:pPr indent="0" marL="0">
              <a:buNone/>
            </a:pPr>
            <a:r>
              <a:rPr lang="en-US" sz="1150" b="1" dirty="0">
                <a:solidFill>
                  <a:srgbClr val="1E2A38"/>
                </a:solidFill>
                <a:latin typeface="Meiryo" pitchFamily="34" charset="0"/>
                <a:ea typeface="Meiryo" pitchFamily="34" charset="-122"/>
                <a:cs typeface="Meiryo" pitchFamily="34" charset="-120"/>
              </a:rPr>
              <a:t>特定株比率 80.5%</a:t>
            </a:r>
            <a:endParaRPr lang="en-US" sz="1150" dirty="0"/>
          </a:p>
        </p:txBody>
      </p:sp>
      <p:sp>
        <p:nvSpPr>
          <p:cNvPr id="23" name="Text 21"/>
          <p:cNvSpPr txBox="1"/>
          <p:nvPr/>
        </p:nvSpPr>
        <p:spPr>
          <a:xfrm>
            <a:off x="914400" y="5376672"/>
            <a:ext cx="3383280" cy="502920"/>
          </a:xfrm>
          <a:prstGeom prst="rect">
            <a:avLst/>
          </a:prstGeom>
          <a:noFill/>
          <a:ln/>
        </p:spPr>
        <p:txBody>
          <a:bodyPr wrap="square" lIns="0" tIns="0" rIns="0" bIns="0" rtlCol="0" anchor="ctr"/>
          <a:lstStyle/>
          <a:p>
            <a:pPr indent="0" marL="0">
              <a:buNone/>
            </a:pPr>
            <a:r>
              <a:rPr lang="en-US" sz="950" dirty="0">
                <a:solidFill>
                  <a:srgbClr val="3D4E60"/>
                </a:solidFill>
                <a:latin typeface="Meiryo" pitchFamily="34" charset="0"/>
                <a:ea typeface="Meiryo" pitchFamily="34" charset="-122"/>
                <a:cs typeface="Meiryo" pitchFamily="34" charset="-120"/>
              </a:rPr>
              <a:t>市場に流通する株が少なく、まとまった株数を市場で買うと株価が跳ねます。相対取得が前提です。</a:t>
            </a:r>
            <a:endParaRPr lang="en-US" sz="950" dirty="0"/>
          </a:p>
        </p:txBody>
      </p:sp>
      <p:sp>
        <p:nvSpPr>
          <p:cNvPr id="24" name="Text 22"/>
          <p:cNvSpPr txBox="1"/>
          <p:nvPr/>
        </p:nvSpPr>
        <p:spPr>
          <a:xfrm>
            <a:off x="4498848" y="5102352"/>
            <a:ext cx="3383280" cy="256032"/>
          </a:xfrm>
          <a:prstGeom prst="rect">
            <a:avLst/>
          </a:prstGeom>
          <a:noFill/>
          <a:ln/>
        </p:spPr>
        <p:txBody>
          <a:bodyPr wrap="square" lIns="0" tIns="0" rIns="0" bIns="0" rtlCol="0" anchor="ctr"/>
          <a:lstStyle/>
          <a:p>
            <a:pPr indent="0" marL="0">
              <a:buNone/>
            </a:pPr>
            <a:r>
              <a:rPr lang="en-US" sz="1150" b="1" dirty="0">
                <a:solidFill>
                  <a:srgbClr val="1E2A38"/>
                </a:solidFill>
                <a:latin typeface="Meiryo" pitchFamily="34" charset="0"/>
                <a:ea typeface="Meiryo" pitchFamily="34" charset="-122"/>
                <a:cs typeface="Meiryo" pitchFamily="34" charset="-120"/>
              </a:rPr>
              <a:t>5%ルール</a:t>
            </a:r>
            <a:endParaRPr lang="en-US" sz="1150" dirty="0"/>
          </a:p>
        </p:txBody>
      </p:sp>
      <p:sp>
        <p:nvSpPr>
          <p:cNvPr id="25" name="Text 23"/>
          <p:cNvSpPr txBox="1"/>
          <p:nvPr/>
        </p:nvSpPr>
        <p:spPr>
          <a:xfrm>
            <a:off x="4498848" y="5376672"/>
            <a:ext cx="3383280" cy="502920"/>
          </a:xfrm>
          <a:prstGeom prst="rect">
            <a:avLst/>
          </a:prstGeom>
          <a:noFill/>
          <a:ln/>
        </p:spPr>
        <p:txBody>
          <a:bodyPr wrap="square" lIns="0" tIns="0" rIns="0" bIns="0" rtlCol="0" anchor="ctr"/>
          <a:lstStyle/>
          <a:p>
            <a:pPr indent="0" marL="0">
              <a:buNone/>
            </a:pPr>
            <a:r>
              <a:rPr lang="en-US" sz="950" dirty="0">
                <a:solidFill>
                  <a:srgbClr val="3D4E60"/>
                </a:solidFill>
                <a:latin typeface="Meiryo" pitchFamily="34" charset="0"/>
                <a:ea typeface="Meiryo" pitchFamily="34" charset="-122"/>
                <a:cs typeface="Meiryo" pitchFamily="34" charset="-120"/>
              </a:rPr>
              <a:t>5%を超えて取得した時点で大量保有報告書の提出義務が生じ、意図が公開されます。</a:t>
            </a:r>
            <a:endParaRPr lang="en-US" sz="950" dirty="0"/>
          </a:p>
        </p:txBody>
      </p:sp>
      <p:sp>
        <p:nvSpPr>
          <p:cNvPr id="26" name="Text 24"/>
          <p:cNvSpPr txBox="1"/>
          <p:nvPr/>
        </p:nvSpPr>
        <p:spPr>
          <a:xfrm>
            <a:off x="8083296" y="5102352"/>
            <a:ext cx="3383280" cy="256032"/>
          </a:xfrm>
          <a:prstGeom prst="rect">
            <a:avLst/>
          </a:prstGeom>
          <a:noFill/>
          <a:ln/>
        </p:spPr>
        <p:txBody>
          <a:bodyPr wrap="square" lIns="0" tIns="0" rIns="0" bIns="0" rtlCol="0" anchor="ctr"/>
          <a:lstStyle/>
          <a:p>
            <a:pPr indent="0" marL="0">
              <a:buNone/>
            </a:pPr>
            <a:r>
              <a:rPr lang="en-US" sz="1150" b="1" dirty="0">
                <a:solidFill>
                  <a:srgbClr val="1E2A38"/>
                </a:solidFill>
                <a:latin typeface="Meiryo" pitchFamily="34" charset="0"/>
                <a:ea typeface="Meiryo" pitchFamily="34" charset="-122"/>
                <a:cs typeface="Meiryo" pitchFamily="34" charset="-120"/>
              </a:rPr>
              <a:t>株価は3ヶ月平均で固定</a:t>
            </a:r>
            <a:endParaRPr lang="en-US" sz="1150" dirty="0"/>
          </a:p>
        </p:txBody>
      </p:sp>
      <p:sp>
        <p:nvSpPr>
          <p:cNvPr id="27" name="Text 25"/>
          <p:cNvSpPr txBox="1"/>
          <p:nvPr/>
        </p:nvSpPr>
        <p:spPr>
          <a:xfrm>
            <a:off x="8083296" y="5376672"/>
            <a:ext cx="3383280" cy="502920"/>
          </a:xfrm>
          <a:prstGeom prst="rect">
            <a:avLst/>
          </a:prstGeom>
          <a:noFill/>
          <a:ln/>
        </p:spPr>
        <p:txBody>
          <a:bodyPr wrap="square" lIns="0" tIns="0" rIns="0" bIns="0" rtlCol="0" anchor="ctr"/>
          <a:lstStyle/>
          <a:p>
            <a:pPr indent="0" marL="0">
              <a:buNone/>
            </a:pPr>
            <a:r>
              <a:rPr lang="en-US" sz="950" dirty="0">
                <a:solidFill>
                  <a:srgbClr val="3D4E60"/>
                </a:solidFill>
                <a:latin typeface="Meiryo" pitchFamily="34" charset="0"/>
                <a:ea typeface="Meiryo" pitchFamily="34" charset="-122"/>
                <a:cs typeface="Meiryo" pitchFamily="34" charset="-120"/>
              </a:rPr>
              <a:t>3ヶ月平均229円は6ヶ月平均240円より低く、交付株数が増えるため当社に有利です。書面で先に合意すべきです。</a:t>
            </a:r>
            <a:endParaRPr lang="en-US" sz="950" dirty="0"/>
          </a:p>
        </p:txBody>
      </p:sp>
      <p:sp>
        <p:nvSpPr>
          <p:cNvPr id="28" name="Text 26"/>
          <p:cNvSpPr txBox="1"/>
          <p:nvPr/>
        </p:nvSpPr>
        <p:spPr>
          <a:xfrm>
            <a:off x="640080" y="6108192"/>
            <a:ext cx="10881360" cy="274320"/>
          </a:xfrm>
          <a:prstGeom prst="rect">
            <a:avLst/>
          </a:prstGeom>
          <a:noFill/>
          <a:ln/>
        </p:spPr>
        <p:txBody>
          <a:bodyPr wrap="square" lIns="0" tIns="0" rIns="0" bIns="0" rtlCol="0" anchor="ctr"/>
          <a:lstStyle/>
          <a:p>
            <a:pPr indent="0" marL="0">
              <a:buNone/>
            </a:pPr>
            <a:r>
              <a:rPr lang="en-US" sz="900" dirty="0">
                <a:solidFill>
                  <a:srgbClr val="7C8A99"/>
                </a:solidFill>
                <a:latin typeface="Meiryo" pitchFamily="34" charset="0"/>
                <a:ea typeface="Meiryo" pitchFamily="34" charset="-122"/>
                <a:cs typeface="Meiryo" pitchFamily="34" charset="-120"/>
              </a:rPr>
              <a:t>3ヶ月平均株価は公開情報からの推定値（約229円、レンジ225〜235円）です。確定値は証券会社経由でご確認ください。</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9"/>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6E2639"/>
                </a:solidFill>
                <a:latin typeface="Meiryo" pitchFamily="34" charset="0"/>
                <a:ea typeface="Meiryo" pitchFamily="34" charset="-122"/>
                <a:cs typeface="Meiryo" pitchFamily="34" charset="-120"/>
              </a:rPr>
              <a:t>比較</a:t>
            </a:r>
            <a:endParaRPr lang="en-US" sz="1100" dirty="0"/>
          </a:p>
        </p:txBody>
      </p:sp>
      <p:sp>
        <p:nvSpPr>
          <p:cNvPr id="3" name="Text 1"/>
          <p:cNvSpPr txBox="1"/>
          <p:nvPr/>
        </p:nvSpPr>
        <p:spPr>
          <a:xfrm>
            <a:off x="640080" y="676656"/>
            <a:ext cx="10881360" cy="658368"/>
          </a:xfrm>
          <a:prstGeom prst="rect">
            <a:avLst/>
          </a:prstGeom>
          <a:noFill/>
          <a:ln/>
        </p:spPr>
        <p:txBody>
          <a:bodyPr wrap="square" lIns="0" tIns="0" rIns="0" bIns="0" rtlCol="0" anchor="ctr"/>
          <a:lstStyle/>
          <a:p>
            <a:pPr indent="0" marL="0">
              <a:buNone/>
            </a:pPr>
            <a:r>
              <a:rPr lang="en-US" sz="2800" b="1" dirty="0">
                <a:solidFill>
                  <a:srgbClr val="1E2A38"/>
                </a:solidFill>
                <a:latin typeface="Meiryo" pitchFamily="34" charset="0"/>
                <a:ea typeface="Meiryo" pitchFamily="34" charset="-122"/>
                <a:cs typeface="Meiryo" pitchFamily="34" charset="-120"/>
              </a:rPr>
              <a:t>2つの選択肢を並べると</a:t>
            </a:r>
            <a:endParaRPr lang="en-US" sz="2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1572768"/>
          <a:ext cx="10881360" cy="914400"/>
        </p:xfrm>
        <a:graphic>
          <a:graphicData uri="http://schemas.openxmlformats.org/drawingml/2006/table">
            <a:tbl>
              <a:tblPr/>
              <a:tblGrid>
                <a:gridCol w="2834640"/>
                <a:gridCol w="4023360"/>
                <a:gridCol w="4023360"/>
              </a:tblGrid>
              <a:tr h="402336">
                <a:tc>
                  <a:txBody>
                    <a:bodyPr/>
                    <a:lstStyle/>
                    <a:p>
                      <a:pPr indent="0" marL="0">
                        <a:buNone/>
                      </a:pP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選択肢 1 ─ MBO</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選択肢 2 ─ SM合併</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r>
              <a:tr h="402336">
                <a:tc>
                  <a:txBody>
                    <a:bodyPr/>
                    <a:lstStyle/>
                    <a:p>
                      <a:pPr indent="0" marL="0">
                        <a:buNone/>
                      </a:pPr>
                      <a:r>
                        <a:rPr lang="en-US" sz="1150" b="1" dirty="0">
                          <a:solidFill>
                            <a:srgbClr val="3D4E60"/>
                          </a:solidFill>
                          <a:latin typeface="Meiryo" pitchFamily="34" charset="0"/>
                          <a:ea typeface="Meiryo" pitchFamily="34" charset="-122"/>
                          <a:cs typeface="Meiryo" pitchFamily="34" charset="-120"/>
                        </a:rPr>
                        <a:t>中野の持分</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50" b="1" dirty="0">
                          <a:solidFill>
                            <a:srgbClr val="2C6A4E"/>
                          </a:solidFill>
                          <a:latin typeface="Meiryo" pitchFamily="34" charset="0"/>
                          <a:ea typeface="Meiryo" pitchFamily="34" charset="-122"/>
                          <a:cs typeface="Meiryo" pitchFamily="34" charset="-120"/>
                        </a:rPr>
                        <a:t>50.000%（中野＋中野ファンド）</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50" dirty="0">
                          <a:solidFill>
                            <a:srgbClr val="8A2E26"/>
                          </a:solidFill>
                          <a:latin typeface="Meiryo" pitchFamily="34" charset="0"/>
                          <a:ea typeface="Meiryo" pitchFamily="34" charset="-122"/>
                          <a:cs typeface="Meiryo" pitchFamily="34" charset="-120"/>
                        </a:rPr>
                        <a:t>13.25%（SO行使後 14.41%）</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402336">
                <a:tc>
                  <a:txBody>
                    <a:bodyPr/>
                    <a:lstStyle/>
                    <a:p>
                      <a:pPr indent="0" marL="0">
                        <a:buNone/>
                      </a:pPr>
                      <a:r>
                        <a:rPr lang="en-US" sz="1150" b="1" dirty="0">
                          <a:solidFill>
                            <a:srgbClr val="3D4E60"/>
                          </a:solidFill>
                          <a:latin typeface="Meiryo" pitchFamily="34" charset="0"/>
                          <a:ea typeface="Meiryo" pitchFamily="34" charset="-122"/>
                          <a:cs typeface="Meiryo" pitchFamily="34" charset="-120"/>
                        </a:rPr>
                        <a:t>ビジョン社との関係</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50" dirty="0">
                          <a:solidFill>
                            <a:srgbClr val="2C6A4E"/>
                          </a:solidFill>
                          <a:latin typeface="Meiryo" pitchFamily="34" charset="0"/>
                          <a:ea typeface="Meiryo" pitchFamily="34" charset="-122"/>
                          <a:cs typeface="Meiryo" pitchFamily="34" charset="-120"/>
                        </a:rPr>
                        <a:t>完全に解消</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50" dirty="0">
                          <a:solidFill>
                            <a:srgbClr val="8A2E26"/>
                          </a:solidFill>
                          <a:latin typeface="Meiryo" pitchFamily="34" charset="0"/>
                          <a:ea typeface="Meiryo" pitchFamily="34" charset="-122"/>
                          <a:cs typeface="Meiryo" pitchFamily="34" charset="-120"/>
                        </a:rPr>
                        <a:t>筆頭株主として残る（19.26%）</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402336">
                <a:tc>
                  <a:txBody>
                    <a:bodyPr/>
                    <a:lstStyle/>
                    <a:p>
                      <a:pPr indent="0" marL="0">
                        <a:buNone/>
                      </a:pPr>
                      <a:r>
                        <a:rPr lang="en-US" sz="1150" b="1" dirty="0">
                          <a:solidFill>
                            <a:srgbClr val="3D4E60"/>
                          </a:solidFill>
                          <a:latin typeface="Meiryo" pitchFamily="34" charset="0"/>
                          <a:ea typeface="Meiryo" pitchFamily="34" charset="-122"/>
                          <a:cs typeface="Meiryo" pitchFamily="34" charset="-120"/>
                        </a:rPr>
                        <a:t>必要資金</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50" dirty="0">
                          <a:solidFill>
                            <a:srgbClr val="3D4E60"/>
                          </a:solidFill>
                          <a:latin typeface="Meiryo" pitchFamily="34" charset="0"/>
                          <a:ea typeface="Meiryo" pitchFamily="34" charset="-122"/>
                          <a:cs typeface="Meiryo" pitchFamily="34" charset="-120"/>
                        </a:rPr>
                        <a:t>中野ファンド 6.10億円</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50" dirty="0">
                          <a:solidFill>
                            <a:srgbClr val="2C6A4E"/>
                          </a:solidFill>
                          <a:latin typeface="Meiryo" pitchFamily="34" charset="0"/>
                          <a:ea typeface="Meiryo" pitchFamily="34" charset="-122"/>
                          <a:cs typeface="Meiryo" pitchFamily="34" charset="-120"/>
                        </a:rPr>
                        <a:t>不要（株式交換）</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402336">
                <a:tc>
                  <a:txBody>
                    <a:bodyPr/>
                    <a:lstStyle/>
                    <a:p>
                      <a:pPr indent="0" marL="0">
                        <a:buNone/>
                      </a:pPr>
                      <a:r>
                        <a:rPr lang="en-US" sz="1150" b="1" dirty="0">
                          <a:solidFill>
                            <a:srgbClr val="3D4E60"/>
                          </a:solidFill>
                          <a:latin typeface="Meiryo" pitchFamily="34" charset="0"/>
                          <a:ea typeface="Meiryo" pitchFamily="34" charset="-122"/>
                          <a:cs typeface="Meiryo" pitchFamily="34" charset="-120"/>
                        </a:rPr>
                        <a:t>債務超過の解消</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50" dirty="0">
                          <a:solidFill>
                            <a:srgbClr val="2C6A4E"/>
                          </a:solidFill>
                          <a:latin typeface="Meiryo" pitchFamily="34" charset="0"/>
                          <a:ea typeface="Meiryo" pitchFamily="34" charset="-122"/>
                          <a:cs typeface="Meiryo" pitchFamily="34" charset="-120"/>
                        </a:rPr>
                        <a:t>解消（自己資本比率 24.9%）</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50" dirty="0">
                          <a:solidFill>
                            <a:srgbClr val="3D4E60"/>
                          </a:solidFill>
                          <a:latin typeface="Meiryo" pitchFamily="34" charset="0"/>
                          <a:ea typeface="Meiryo" pitchFamily="34" charset="-122"/>
                          <a:cs typeface="Meiryo" pitchFamily="34" charset="-120"/>
                        </a:rPr>
                        <a:t>合算では解消</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402336">
                <a:tc>
                  <a:txBody>
                    <a:bodyPr/>
                    <a:lstStyle/>
                    <a:p>
                      <a:pPr indent="0" marL="0">
                        <a:buNone/>
                      </a:pPr>
                      <a:r>
                        <a:rPr lang="en-US" sz="1150" b="1" dirty="0">
                          <a:solidFill>
                            <a:srgbClr val="3D4E60"/>
                          </a:solidFill>
                          <a:latin typeface="Meiryo" pitchFamily="34" charset="0"/>
                          <a:ea typeface="Meiryo" pitchFamily="34" charset="-122"/>
                          <a:cs typeface="Meiryo" pitchFamily="34" charset="-120"/>
                        </a:rPr>
                        <a:t>既存株主の出口</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50" dirty="0">
                          <a:solidFill>
                            <a:srgbClr val="2C6A4E"/>
                          </a:solidFill>
                          <a:latin typeface="Meiryo" pitchFamily="34" charset="0"/>
                          <a:ea typeface="Meiryo" pitchFamily="34" charset="-122"/>
                          <a:cs typeface="Meiryo" pitchFamily="34" charset="-120"/>
                        </a:rPr>
                        <a:t>現金で全額（20億評価）</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50" dirty="0">
                          <a:solidFill>
                            <a:srgbClr val="2C6A4E"/>
                          </a:solidFill>
                          <a:latin typeface="Meiryo" pitchFamily="34" charset="0"/>
                          <a:ea typeface="Meiryo" pitchFamily="34" charset="-122"/>
                          <a:cs typeface="Meiryo" pitchFamily="34" charset="-120"/>
                        </a:rPr>
                        <a:t>上場株式として流動性を獲得</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402336">
                <a:tc>
                  <a:txBody>
                    <a:bodyPr/>
                    <a:lstStyle/>
                    <a:p>
                      <a:pPr indent="0" marL="0">
                        <a:buNone/>
                      </a:pPr>
                      <a:r>
                        <a:rPr lang="en-US" sz="1150" b="1" dirty="0">
                          <a:solidFill>
                            <a:srgbClr val="3D4E60"/>
                          </a:solidFill>
                          <a:latin typeface="Meiryo" pitchFamily="34" charset="0"/>
                          <a:ea typeface="Meiryo" pitchFamily="34" charset="-122"/>
                          <a:cs typeface="Meiryo" pitchFamily="34" charset="-120"/>
                        </a:rPr>
                        <a:t>利益への影響</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50" dirty="0">
                          <a:solidFill>
                            <a:srgbClr val="2C6A4E"/>
                          </a:solidFill>
                          <a:latin typeface="Meiryo" pitchFamily="34" charset="0"/>
                          <a:ea typeface="Meiryo" pitchFamily="34" charset="-122"/>
                          <a:cs typeface="Meiryo" pitchFamily="34" charset="-120"/>
                        </a:rPr>
                        <a:t>出向費 年0.72億が消滅（増益）</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50" dirty="0">
                          <a:solidFill>
                            <a:srgbClr val="8A2E26"/>
                          </a:solidFill>
                          <a:latin typeface="Meiryo" pitchFamily="34" charset="0"/>
                          <a:ea typeface="Meiryo" pitchFamily="34" charset="-122"/>
                          <a:cs typeface="Meiryo" pitchFamily="34" charset="-120"/>
                        </a:rPr>
                        <a:t>のれん償却 年1.10〜2.21億（減益）</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402336">
                <a:tc>
                  <a:txBody>
                    <a:bodyPr/>
                    <a:lstStyle/>
                    <a:p>
                      <a:pPr indent="0" marL="0">
                        <a:buNone/>
                      </a:pPr>
                      <a:r>
                        <a:rPr lang="en-US" sz="1150" b="1" dirty="0">
                          <a:solidFill>
                            <a:srgbClr val="3D4E60"/>
                          </a:solidFill>
                          <a:latin typeface="Meiryo" pitchFamily="34" charset="0"/>
                          <a:ea typeface="Meiryo" pitchFamily="34" charset="-122"/>
                          <a:cs typeface="Meiryo" pitchFamily="34" charset="-120"/>
                        </a:rPr>
                        <a:t>競合の株主参加</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50" dirty="0">
                          <a:solidFill>
                            <a:srgbClr val="2C6A4E"/>
                          </a:solidFill>
                          <a:latin typeface="Meiryo" pitchFamily="34" charset="0"/>
                          <a:ea typeface="Meiryo" pitchFamily="34" charset="-122"/>
                          <a:cs typeface="Meiryo" pitchFamily="34" charset="-120"/>
                        </a:rPr>
                        <a:t>なし</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50" dirty="0">
                          <a:solidFill>
                            <a:srgbClr val="8A2E26"/>
                          </a:solidFill>
                          <a:latin typeface="Meiryo" pitchFamily="34" charset="0"/>
                          <a:ea typeface="Meiryo" pitchFamily="34" charset="-122"/>
                          <a:cs typeface="Meiryo" pitchFamily="34" charset="-120"/>
                        </a:rPr>
                        <a:t>TKP 12.79%</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402336">
                <a:tc>
                  <a:txBody>
                    <a:bodyPr/>
                    <a:lstStyle/>
                    <a:p>
                      <a:pPr indent="0" marL="0">
                        <a:buNone/>
                      </a:pPr>
                      <a:r>
                        <a:rPr lang="en-US" sz="1150" b="1" dirty="0">
                          <a:solidFill>
                            <a:srgbClr val="3D4E60"/>
                          </a:solidFill>
                          <a:latin typeface="Meiryo" pitchFamily="34" charset="0"/>
                          <a:ea typeface="Meiryo" pitchFamily="34" charset="-122"/>
                          <a:cs typeface="Meiryo" pitchFamily="34" charset="-120"/>
                        </a:rPr>
                        <a:t>実行の難易度</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50" dirty="0">
                          <a:solidFill>
                            <a:srgbClr val="3D4E60"/>
                          </a:solidFill>
                          <a:latin typeface="Meiryo" pitchFamily="34" charset="0"/>
                          <a:ea typeface="Meiryo" pitchFamily="34" charset="-122"/>
                          <a:cs typeface="Meiryo" pitchFamily="34" charset="-120"/>
                        </a:rPr>
                        <a:t>資金調達と会社法手続きが必要</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50" dirty="0">
                          <a:solidFill>
                            <a:srgbClr val="3D4E60"/>
                          </a:solidFill>
                          <a:latin typeface="Meiryo" pitchFamily="34" charset="0"/>
                          <a:ea typeface="Meiryo" pitchFamily="34" charset="-122"/>
                          <a:cs typeface="Meiryo" pitchFamily="34" charset="-120"/>
                        </a:rPr>
                        <a:t>先方提案のため交渉は進めやすい</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bl>
          </a:graphicData>
        </a:graphic>
      </p:graphicFrame>
      <p:sp>
        <p:nvSpPr>
          <p:cNvPr id="5" name="Shape 2"/>
          <p:cNvSpPr/>
          <p:nvPr/>
        </p:nvSpPr>
        <p:spPr>
          <a:xfrm>
            <a:off x="640080" y="5532120"/>
            <a:ext cx="10881360" cy="868680"/>
          </a:xfrm>
          <a:prstGeom prst="roundRect">
            <a:avLst>
              <a:gd name="adj" fmla="val 6316"/>
            </a:avLst>
          </a:prstGeom>
          <a:solidFill>
            <a:srgbClr val="FBF1F3"/>
          </a:solidFill>
          <a:ln w="12700">
            <a:solidFill>
              <a:srgbClr val="E3CBD1"/>
            </a:solidFill>
            <a:prstDash val="solid"/>
          </a:ln>
          <a:effectLst>
            <a:outerShdw sx="100000" sy="100000" kx="0" ky="0" algn="bl" rotWithShape="0" blurRad="101600" dist="12700" dir="5400000">
              <a:srgbClr val="AAB4BE">
                <a:alpha val="18000"/>
              </a:srgbClr>
            </a:outerShdw>
          </a:effectLst>
        </p:spPr>
      </p:sp>
      <p:sp>
        <p:nvSpPr>
          <p:cNvPr id="6" name="Text 3"/>
          <p:cNvSpPr txBox="1"/>
          <p:nvPr/>
        </p:nvSpPr>
        <p:spPr>
          <a:xfrm>
            <a:off x="914400" y="5715000"/>
            <a:ext cx="10332720" cy="548640"/>
          </a:xfrm>
          <a:prstGeom prst="rect">
            <a:avLst/>
          </a:prstGeom>
          <a:noFill/>
          <a:ln/>
        </p:spPr>
        <p:txBody>
          <a:bodyPr wrap="square" lIns="0" tIns="0" rIns="0" bIns="0" rtlCol="0" anchor="ctr"/>
          <a:lstStyle/>
          <a:p>
            <a:pPr indent="0" marL="0">
              <a:buNone/>
            </a:pPr>
            <a:r>
              <a:rPr lang="en-US" sz="1300" b="1" dirty="0">
                <a:solidFill>
                  <a:srgbClr val="6E2639"/>
                </a:solidFill>
                <a:latin typeface="Meiryo" pitchFamily="34" charset="0"/>
                <a:ea typeface="Meiryo" pitchFamily="34" charset="-122"/>
                <a:cs typeface="Meiryo" pitchFamily="34" charset="-120"/>
              </a:rPr>
              <a:t>結論：順序が効きます。MBOでビジョンを整理してから合併に臨めば、中野の持分は13.25%ではなく大きく改善し、のれん・流通株式比率の条件も交渉できる立場になります。</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A38"/>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A85C6E"/>
                </a:solidFill>
                <a:latin typeface="Meiryo" pitchFamily="34" charset="0"/>
                <a:ea typeface="Meiryo" pitchFamily="34" charset="-122"/>
                <a:cs typeface="Meiryo" pitchFamily="34" charset="-120"/>
              </a:rPr>
              <a:t>ご相談</a:t>
            </a:r>
            <a:endParaRPr lang="en-US" sz="1100" dirty="0"/>
          </a:p>
        </p:txBody>
      </p:sp>
      <p:sp>
        <p:nvSpPr>
          <p:cNvPr id="3" name="Text 1"/>
          <p:cNvSpPr txBox="1"/>
          <p:nvPr/>
        </p:nvSpPr>
        <p:spPr>
          <a:xfrm>
            <a:off x="640080" y="676656"/>
            <a:ext cx="10881360" cy="658368"/>
          </a:xfrm>
          <a:prstGeom prst="rect">
            <a:avLst/>
          </a:prstGeom>
          <a:noFill/>
          <a:ln/>
        </p:spPr>
        <p:txBody>
          <a:bodyPr wrap="square" lIns="0" tIns="0" rIns="0" bIns="0" rtlCol="0" anchor="ctr"/>
          <a:lstStyle/>
          <a:p>
            <a:pPr indent="0" marL="0">
              <a:buNone/>
            </a:pPr>
            <a:r>
              <a:rPr lang="en-US" sz="2800" b="1" dirty="0">
                <a:solidFill>
                  <a:srgbClr val="FFFFFF"/>
                </a:solidFill>
                <a:latin typeface="Meiryo" pitchFamily="34" charset="0"/>
                <a:ea typeface="Meiryo" pitchFamily="34" charset="-122"/>
                <a:cs typeface="Meiryo" pitchFamily="34" charset="-120"/>
              </a:rPr>
              <a:t>みずほ銀行様にお願いしたい3点</a:t>
            </a:r>
            <a:endParaRPr lang="en-US" sz="2800" dirty="0"/>
          </a:p>
        </p:txBody>
      </p:sp>
      <p:sp>
        <p:nvSpPr>
          <p:cNvPr id="4" name="Shape 2"/>
          <p:cNvSpPr/>
          <p:nvPr/>
        </p:nvSpPr>
        <p:spPr>
          <a:xfrm>
            <a:off x="640080" y="1691640"/>
            <a:ext cx="10881360" cy="1280160"/>
          </a:xfrm>
          <a:prstGeom prst="roundRect">
            <a:avLst>
              <a:gd name="adj" fmla="val 4286"/>
            </a:avLst>
          </a:prstGeom>
          <a:solidFill>
            <a:srgbClr val="26333F"/>
          </a:solidFill>
          <a:ln w="12700">
            <a:solidFill>
              <a:srgbClr val="3A4854"/>
            </a:solidFill>
            <a:prstDash val="solid"/>
          </a:ln>
        </p:spPr>
      </p:sp>
      <p:sp>
        <p:nvSpPr>
          <p:cNvPr id="5" name="Shape 3"/>
          <p:cNvSpPr/>
          <p:nvPr/>
        </p:nvSpPr>
        <p:spPr>
          <a:xfrm>
            <a:off x="914400" y="2020824"/>
            <a:ext cx="621792" cy="621792"/>
          </a:xfrm>
          <a:prstGeom prst="roundRect">
            <a:avLst>
              <a:gd name="adj" fmla="val 73529"/>
            </a:avLst>
          </a:prstGeom>
          <a:solidFill>
            <a:srgbClr val="6E2639"/>
          </a:solidFill>
          <a:ln/>
        </p:spPr>
      </p:sp>
      <p:sp>
        <p:nvSpPr>
          <p:cNvPr id="6" name="Text 4"/>
          <p:cNvSpPr txBox="1"/>
          <p:nvPr/>
        </p:nvSpPr>
        <p:spPr>
          <a:xfrm>
            <a:off x="914400" y="2020824"/>
            <a:ext cx="621792" cy="621792"/>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01</a:t>
            </a:r>
            <a:endParaRPr lang="en-US" sz="1600" dirty="0"/>
          </a:p>
        </p:txBody>
      </p:sp>
      <p:sp>
        <p:nvSpPr>
          <p:cNvPr id="7" name="Text 5"/>
          <p:cNvSpPr txBox="1"/>
          <p:nvPr/>
        </p:nvSpPr>
        <p:spPr>
          <a:xfrm>
            <a:off x="1783080" y="1911096"/>
            <a:ext cx="6766560" cy="347472"/>
          </a:xfrm>
          <a:prstGeom prst="rect">
            <a:avLst/>
          </a:prstGeom>
          <a:noFill/>
          <a:ln/>
        </p:spPr>
        <p:txBody>
          <a:bodyPr wrap="square" lIns="0" tIns="0" rIns="0" bIns="0" rtlCol="0" anchor="ctr"/>
          <a:lstStyle/>
          <a:p>
            <a:pPr indent="0" marL="0">
              <a:buNone/>
            </a:pPr>
            <a:r>
              <a:rPr lang="en-US" sz="1600" b="1" dirty="0">
                <a:solidFill>
                  <a:srgbClr val="FFFFFF"/>
                </a:solidFill>
                <a:latin typeface="Meiryo" pitchFamily="34" charset="0"/>
                <a:ea typeface="Meiryo" pitchFamily="34" charset="-122"/>
                <a:cs typeface="Meiryo" pitchFamily="34" charset="-120"/>
              </a:rPr>
              <a:t>グループのエクイティ機能のご紹介</a:t>
            </a:r>
            <a:endParaRPr lang="en-US" sz="1600" dirty="0"/>
          </a:p>
        </p:txBody>
      </p:sp>
      <p:sp>
        <p:nvSpPr>
          <p:cNvPr id="8" name="Text 6"/>
          <p:cNvSpPr txBox="1"/>
          <p:nvPr/>
        </p:nvSpPr>
        <p:spPr>
          <a:xfrm>
            <a:off x="1783080" y="2295144"/>
            <a:ext cx="6766560" cy="594360"/>
          </a:xfrm>
          <a:prstGeom prst="rect">
            <a:avLst/>
          </a:prstGeom>
          <a:noFill/>
          <a:ln/>
        </p:spPr>
        <p:txBody>
          <a:bodyPr wrap="square" lIns="0" tIns="0" rIns="0" bIns="0" rtlCol="0" anchor="ctr"/>
          <a:lstStyle/>
          <a:p>
            <a:pPr indent="0" marL="0">
              <a:lnSpc>
                <a:spcPct val="115000"/>
              </a:lnSpc>
              <a:buNone/>
            </a:pPr>
            <a:r>
              <a:rPr lang="en-US" sz="1050" dirty="0">
                <a:solidFill>
                  <a:srgbClr val="A8B5C0"/>
                </a:solidFill>
                <a:latin typeface="Meiryo" pitchFamily="34" charset="0"/>
                <a:ea typeface="Meiryo" pitchFamily="34" charset="-122"/>
                <a:cs typeface="Meiryo" pitchFamily="34" charset="-120"/>
              </a:rPr>
              <a:t>パートナー13.47億円の引受先として、ヒューリック・東京建物に加え、みずほキャピタル様やみずほグループのファンドをご紹介いただけないでしょうか。</a:t>
            </a:r>
            <a:endParaRPr lang="en-US" sz="1050" dirty="0"/>
          </a:p>
        </p:txBody>
      </p:sp>
      <p:sp>
        <p:nvSpPr>
          <p:cNvPr id="9" name="Text 7"/>
          <p:cNvSpPr txBox="1"/>
          <p:nvPr/>
        </p:nvSpPr>
        <p:spPr>
          <a:xfrm>
            <a:off x="8778240" y="2148840"/>
            <a:ext cx="2468880" cy="384048"/>
          </a:xfrm>
          <a:prstGeom prst="rect">
            <a:avLst/>
          </a:prstGeom>
          <a:noFill/>
          <a:ln/>
        </p:spPr>
        <p:txBody>
          <a:bodyPr wrap="square" lIns="0" tIns="0" rIns="0" bIns="0" rtlCol="0" anchor="ctr"/>
          <a:lstStyle/>
          <a:p>
            <a:pPr algn="r" indent="0" marL="0">
              <a:buNone/>
            </a:pPr>
            <a:r>
              <a:rPr lang="en-US" sz="1500" b="1" dirty="0">
                <a:solidFill>
                  <a:srgbClr val="A85C6E"/>
                </a:solidFill>
                <a:latin typeface="Meiryo" pitchFamily="34" charset="0"/>
                <a:ea typeface="Meiryo" pitchFamily="34" charset="-122"/>
                <a:cs typeface="Meiryo" pitchFamily="34" charset="-120"/>
              </a:rPr>
              <a:t>13.47億円</a:t>
            </a:r>
            <a:endParaRPr lang="en-US" sz="1500" dirty="0"/>
          </a:p>
        </p:txBody>
      </p:sp>
      <p:sp>
        <p:nvSpPr>
          <p:cNvPr id="10" name="Shape 8"/>
          <p:cNvSpPr/>
          <p:nvPr/>
        </p:nvSpPr>
        <p:spPr>
          <a:xfrm>
            <a:off x="640080" y="3136392"/>
            <a:ext cx="10881360" cy="1280160"/>
          </a:xfrm>
          <a:prstGeom prst="roundRect">
            <a:avLst>
              <a:gd name="adj" fmla="val 4286"/>
            </a:avLst>
          </a:prstGeom>
          <a:solidFill>
            <a:srgbClr val="26333F"/>
          </a:solidFill>
          <a:ln w="12700">
            <a:solidFill>
              <a:srgbClr val="3A4854"/>
            </a:solidFill>
            <a:prstDash val="solid"/>
          </a:ln>
        </p:spPr>
      </p:sp>
      <p:sp>
        <p:nvSpPr>
          <p:cNvPr id="11" name="Shape 9"/>
          <p:cNvSpPr/>
          <p:nvPr/>
        </p:nvSpPr>
        <p:spPr>
          <a:xfrm>
            <a:off x="914400" y="3465576"/>
            <a:ext cx="621792" cy="621792"/>
          </a:xfrm>
          <a:prstGeom prst="roundRect">
            <a:avLst>
              <a:gd name="adj" fmla="val 73529"/>
            </a:avLst>
          </a:prstGeom>
          <a:solidFill>
            <a:srgbClr val="6E2639"/>
          </a:solidFill>
          <a:ln/>
        </p:spPr>
      </p:sp>
      <p:sp>
        <p:nvSpPr>
          <p:cNvPr id="12" name="Text 10"/>
          <p:cNvSpPr txBox="1"/>
          <p:nvPr/>
        </p:nvSpPr>
        <p:spPr>
          <a:xfrm>
            <a:off x="914400" y="3465576"/>
            <a:ext cx="621792" cy="621792"/>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02</a:t>
            </a:r>
            <a:endParaRPr lang="en-US" sz="1600" dirty="0"/>
          </a:p>
        </p:txBody>
      </p:sp>
      <p:sp>
        <p:nvSpPr>
          <p:cNvPr id="13" name="Text 11"/>
          <p:cNvSpPr txBox="1"/>
          <p:nvPr/>
        </p:nvSpPr>
        <p:spPr>
          <a:xfrm>
            <a:off x="1783080" y="3355848"/>
            <a:ext cx="6766560" cy="347472"/>
          </a:xfrm>
          <a:prstGeom prst="rect">
            <a:avLst/>
          </a:prstGeom>
          <a:noFill/>
          <a:ln/>
        </p:spPr>
        <p:txBody>
          <a:bodyPr wrap="square" lIns="0" tIns="0" rIns="0" bIns="0" rtlCol="0" anchor="ctr"/>
          <a:lstStyle/>
          <a:p>
            <a:pPr indent="0" marL="0">
              <a:buNone/>
            </a:pPr>
            <a:r>
              <a:rPr lang="en-US" sz="1600" b="1" dirty="0">
                <a:solidFill>
                  <a:srgbClr val="FFFFFF"/>
                </a:solidFill>
                <a:latin typeface="Meiryo" pitchFamily="34" charset="0"/>
                <a:ea typeface="Meiryo" pitchFamily="34" charset="-122"/>
                <a:cs typeface="Meiryo" pitchFamily="34" charset="-120"/>
              </a:rPr>
              <a:t>経営者保証の解除</a:t>
            </a:r>
            <a:endParaRPr lang="en-US" sz="1600" dirty="0"/>
          </a:p>
        </p:txBody>
      </p:sp>
      <p:sp>
        <p:nvSpPr>
          <p:cNvPr id="14" name="Text 12"/>
          <p:cNvSpPr txBox="1"/>
          <p:nvPr/>
        </p:nvSpPr>
        <p:spPr>
          <a:xfrm>
            <a:off x="1783080" y="3739896"/>
            <a:ext cx="6766560" cy="594360"/>
          </a:xfrm>
          <a:prstGeom prst="rect">
            <a:avLst/>
          </a:prstGeom>
          <a:noFill/>
          <a:ln/>
        </p:spPr>
        <p:txBody>
          <a:bodyPr wrap="square" lIns="0" tIns="0" rIns="0" bIns="0" rtlCol="0" anchor="ctr"/>
          <a:lstStyle/>
          <a:p>
            <a:pPr indent="0" marL="0">
              <a:lnSpc>
                <a:spcPct val="115000"/>
              </a:lnSpc>
              <a:buNone/>
            </a:pPr>
            <a:r>
              <a:rPr lang="en-US" sz="1050" dirty="0">
                <a:solidFill>
                  <a:srgbClr val="A8B5C0"/>
                </a:solidFill>
                <a:latin typeface="Meiryo" pitchFamily="34" charset="0"/>
                <a:ea typeface="Meiryo" pitchFamily="34" charset="-122"/>
                <a:cs typeface="Meiryo" pitchFamily="34" charset="-120"/>
              </a:rPr>
              <a:t>自己資本比率24.9%・DSCR1.58倍となる取引後の財務内容を前提に、経営者保証ガイドラインに沿った解除をご検討いただきたく存じます。</a:t>
            </a:r>
            <a:endParaRPr lang="en-US" sz="1050" dirty="0"/>
          </a:p>
        </p:txBody>
      </p:sp>
      <p:sp>
        <p:nvSpPr>
          <p:cNvPr id="15" name="Text 13"/>
          <p:cNvSpPr txBox="1"/>
          <p:nvPr/>
        </p:nvSpPr>
        <p:spPr>
          <a:xfrm>
            <a:off x="8778240" y="3593592"/>
            <a:ext cx="2468880" cy="384048"/>
          </a:xfrm>
          <a:prstGeom prst="rect">
            <a:avLst/>
          </a:prstGeom>
          <a:noFill/>
          <a:ln/>
        </p:spPr>
        <p:txBody>
          <a:bodyPr wrap="square" lIns="0" tIns="0" rIns="0" bIns="0" rtlCol="0" anchor="ctr"/>
          <a:lstStyle/>
          <a:p>
            <a:pPr algn="r" indent="0" marL="0">
              <a:buNone/>
            </a:pPr>
            <a:r>
              <a:rPr lang="en-US" sz="1500" b="1" dirty="0">
                <a:solidFill>
                  <a:srgbClr val="A85C6E"/>
                </a:solidFill>
                <a:latin typeface="Meiryo" pitchFamily="34" charset="0"/>
                <a:ea typeface="Meiryo" pitchFamily="34" charset="-122"/>
                <a:cs typeface="Meiryo" pitchFamily="34" charset="-120"/>
              </a:rPr>
              <a:t>ガイドライン適用</a:t>
            </a:r>
            <a:endParaRPr lang="en-US" sz="1500" dirty="0"/>
          </a:p>
        </p:txBody>
      </p:sp>
      <p:sp>
        <p:nvSpPr>
          <p:cNvPr id="16" name="Shape 14"/>
          <p:cNvSpPr/>
          <p:nvPr/>
        </p:nvSpPr>
        <p:spPr>
          <a:xfrm>
            <a:off x="640080" y="4581144"/>
            <a:ext cx="10881360" cy="1280160"/>
          </a:xfrm>
          <a:prstGeom prst="roundRect">
            <a:avLst>
              <a:gd name="adj" fmla="val 4286"/>
            </a:avLst>
          </a:prstGeom>
          <a:solidFill>
            <a:srgbClr val="26333F"/>
          </a:solidFill>
          <a:ln w="12700">
            <a:solidFill>
              <a:srgbClr val="3A4854"/>
            </a:solidFill>
            <a:prstDash val="solid"/>
          </a:ln>
        </p:spPr>
      </p:sp>
      <p:sp>
        <p:nvSpPr>
          <p:cNvPr id="17" name="Shape 15"/>
          <p:cNvSpPr/>
          <p:nvPr/>
        </p:nvSpPr>
        <p:spPr>
          <a:xfrm>
            <a:off x="914400" y="4910328"/>
            <a:ext cx="621792" cy="621792"/>
          </a:xfrm>
          <a:prstGeom prst="roundRect">
            <a:avLst>
              <a:gd name="adj" fmla="val 73529"/>
            </a:avLst>
          </a:prstGeom>
          <a:solidFill>
            <a:srgbClr val="6E2639"/>
          </a:solidFill>
          <a:ln/>
        </p:spPr>
      </p:sp>
      <p:sp>
        <p:nvSpPr>
          <p:cNvPr id="18" name="Text 16"/>
          <p:cNvSpPr txBox="1"/>
          <p:nvPr/>
        </p:nvSpPr>
        <p:spPr>
          <a:xfrm>
            <a:off x="914400" y="4910328"/>
            <a:ext cx="621792" cy="621792"/>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03</a:t>
            </a:r>
            <a:endParaRPr lang="en-US" sz="1600" dirty="0"/>
          </a:p>
        </p:txBody>
      </p:sp>
      <p:sp>
        <p:nvSpPr>
          <p:cNvPr id="19" name="Text 17"/>
          <p:cNvSpPr txBox="1"/>
          <p:nvPr/>
        </p:nvSpPr>
        <p:spPr>
          <a:xfrm>
            <a:off x="1783080" y="4800600"/>
            <a:ext cx="6766560" cy="347472"/>
          </a:xfrm>
          <a:prstGeom prst="rect">
            <a:avLst/>
          </a:prstGeom>
          <a:noFill/>
          <a:ln/>
        </p:spPr>
        <p:txBody>
          <a:bodyPr wrap="square" lIns="0" tIns="0" rIns="0" bIns="0" rtlCol="0" anchor="ctr"/>
          <a:lstStyle/>
          <a:p>
            <a:pPr indent="0" marL="0">
              <a:buNone/>
            </a:pPr>
            <a:r>
              <a:rPr lang="en-US" sz="1600" b="1" dirty="0">
                <a:solidFill>
                  <a:srgbClr val="FFFFFF"/>
                </a:solidFill>
                <a:latin typeface="Meiryo" pitchFamily="34" charset="0"/>
                <a:ea typeface="Meiryo" pitchFamily="34" charset="-122"/>
                <a:cs typeface="Meiryo" pitchFamily="34" charset="-120"/>
              </a:rPr>
              <a:t>既存借入の継続とビジョン借入のリファイ</a:t>
            </a:r>
            <a:endParaRPr lang="en-US" sz="1600" dirty="0"/>
          </a:p>
        </p:txBody>
      </p:sp>
      <p:sp>
        <p:nvSpPr>
          <p:cNvPr id="20" name="Text 18"/>
          <p:cNvSpPr txBox="1"/>
          <p:nvPr/>
        </p:nvSpPr>
        <p:spPr>
          <a:xfrm>
            <a:off x="1783080" y="5184648"/>
            <a:ext cx="6766560" cy="594360"/>
          </a:xfrm>
          <a:prstGeom prst="rect">
            <a:avLst/>
          </a:prstGeom>
          <a:noFill/>
          <a:ln/>
        </p:spPr>
        <p:txBody>
          <a:bodyPr wrap="square" lIns="0" tIns="0" rIns="0" bIns="0" rtlCol="0" anchor="ctr"/>
          <a:lstStyle/>
          <a:p>
            <a:pPr indent="0" marL="0">
              <a:lnSpc>
                <a:spcPct val="115000"/>
              </a:lnSpc>
              <a:buNone/>
            </a:pPr>
            <a:r>
              <a:rPr lang="en-US" sz="1050" dirty="0">
                <a:solidFill>
                  <a:srgbClr val="A8B5C0"/>
                </a:solidFill>
                <a:latin typeface="Meiryo" pitchFamily="34" charset="0"/>
                <a:ea typeface="Meiryo" pitchFamily="34" charset="-122"/>
                <a:cs typeface="Meiryo" pitchFamily="34" charset="-120"/>
              </a:rPr>
              <a:t>既存3.07億円の継続に加え、ビジョン社借入のうち3.00億円のリファイナンスをお願いしたく存じます。LBOローンではなく、通常の事業性融資としてのご検討です。</a:t>
            </a:r>
            <a:endParaRPr lang="en-US" sz="1050" dirty="0"/>
          </a:p>
        </p:txBody>
      </p:sp>
      <p:sp>
        <p:nvSpPr>
          <p:cNvPr id="21" name="Text 19"/>
          <p:cNvSpPr txBox="1"/>
          <p:nvPr/>
        </p:nvSpPr>
        <p:spPr>
          <a:xfrm>
            <a:off x="8778240" y="5038344"/>
            <a:ext cx="2468880" cy="384048"/>
          </a:xfrm>
          <a:prstGeom prst="rect">
            <a:avLst/>
          </a:prstGeom>
          <a:noFill/>
          <a:ln/>
        </p:spPr>
        <p:txBody>
          <a:bodyPr wrap="square" lIns="0" tIns="0" rIns="0" bIns="0" rtlCol="0" anchor="ctr"/>
          <a:lstStyle/>
          <a:p>
            <a:pPr algn="r" indent="0" marL="0">
              <a:buNone/>
            </a:pPr>
            <a:r>
              <a:rPr lang="en-US" sz="1500" b="1" dirty="0">
                <a:solidFill>
                  <a:srgbClr val="A85C6E"/>
                </a:solidFill>
                <a:latin typeface="Meiryo" pitchFamily="34" charset="0"/>
                <a:ea typeface="Meiryo" pitchFamily="34" charset="-122"/>
                <a:cs typeface="Meiryo" pitchFamily="34" charset="-120"/>
              </a:rPr>
              <a:t>合計 6.07億円</a:t>
            </a:r>
            <a:endParaRPr lang="en-US" sz="1500" dirty="0"/>
          </a:p>
        </p:txBody>
      </p:sp>
      <p:sp>
        <p:nvSpPr>
          <p:cNvPr id="22" name="Text 20"/>
          <p:cNvSpPr txBox="1"/>
          <p:nvPr/>
        </p:nvSpPr>
        <p:spPr>
          <a:xfrm>
            <a:off x="640080" y="6126480"/>
            <a:ext cx="10881360" cy="292608"/>
          </a:xfrm>
          <a:prstGeom prst="rect">
            <a:avLst/>
          </a:prstGeom>
          <a:noFill/>
          <a:ln/>
        </p:spPr>
        <p:txBody>
          <a:bodyPr wrap="square" lIns="0" tIns="0" rIns="0" bIns="0" rtlCol="0" anchor="ctr"/>
          <a:lstStyle/>
          <a:p>
            <a:pPr indent="0" marL="0">
              <a:buNone/>
            </a:pPr>
            <a:r>
              <a:rPr lang="en-US" sz="1250" b="1" dirty="0">
                <a:solidFill>
                  <a:srgbClr val="A85C6E"/>
                </a:solidFill>
                <a:latin typeface="Meiryo" pitchFamily="34" charset="0"/>
                <a:ea typeface="Meiryo" pitchFamily="34" charset="-122"/>
                <a:cs typeface="Meiryo" pitchFamily="34" charset="-120"/>
              </a:rPr>
              <a:t>ご返済原資は正常化EBITDA 2.65億円です。年間元利返済1.68億円に対しDSCR 1.58倍を確保しています。</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9"/>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6E2639"/>
                </a:solidFill>
                <a:latin typeface="Meiryo" pitchFamily="34" charset="0"/>
                <a:ea typeface="Meiryo" pitchFamily="34" charset="-122"/>
                <a:cs typeface="Meiryo" pitchFamily="34" charset="-120"/>
              </a:rPr>
              <a:t>次のステップ</a:t>
            </a:r>
            <a:endParaRPr lang="en-US" sz="1100" dirty="0"/>
          </a:p>
        </p:txBody>
      </p:sp>
      <p:sp>
        <p:nvSpPr>
          <p:cNvPr id="3" name="Text 1"/>
          <p:cNvSpPr txBox="1"/>
          <p:nvPr/>
        </p:nvSpPr>
        <p:spPr>
          <a:xfrm>
            <a:off x="640080" y="676656"/>
            <a:ext cx="10881360" cy="658368"/>
          </a:xfrm>
          <a:prstGeom prst="rect">
            <a:avLst/>
          </a:prstGeom>
          <a:noFill/>
          <a:ln/>
        </p:spPr>
        <p:txBody>
          <a:bodyPr wrap="square" lIns="0" tIns="0" rIns="0" bIns="0" rtlCol="0" anchor="ctr"/>
          <a:lstStyle/>
          <a:p>
            <a:pPr indent="0" marL="0">
              <a:buNone/>
            </a:pPr>
            <a:r>
              <a:rPr lang="en-US" sz="2800" b="1" dirty="0">
                <a:solidFill>
                  <a:srgbClr val="1E2A38"/>
                </a:solidFill>
                <a:latin typeface="Meiryo" pitchFamily="34" charset="0"/>
                <a:ea typeface="Meiryo" pitchFamily="34" charset="-122"/>
                <a:cs typeface="Meiryo" pitchFamily="34" charset="-120"/>
              </a:rPr>
              <a:t>クロージングまでの手順と、先に固める論点</a:t>
            </a:r>
            <a:endParaRPr lang="en-US" sz="2800" dirty="0"/>
          </a:p>
        </p:txBody>
      </p:sp>
      <p:sp>
        <p:nvSpPr>
          <p:cNvPr id="4" name="Text 2"/>
          <p:cNvSpPr txBox="1"/>
          <p:nvPr/>
        </p:nvSpPr>
        <p:spPr>
          <a:xfrm>
            <a:off x="640080" y="1536192"/>
            <a:ext cx="10881360" cy="292608"/>
          </a:xfrm>
          <a:prstGeom prst="rect">
            <a:avLst/>
          </a:prstGeom>
          <a:noFill/>
          <a:ln/>
        </p:spPr>
        <p:txBody>
          <a:bodyPr wrap="square" lIns="0" tIns="0" rIns="0" bIns="0" rtlCol="0" anchor="ctr"/>
          <a:lstStyle/>
          <a:p>
            <a:pPr indent="0" marL="0">
              <a:buNone/>
            </a:pPr>
            <a:r>
              <a:rPr lang="en-US" sz="1400" b="1" dirty="0">
                <a:solidFill>
                  <a:srgbClr val="1E2A38"/>
                </a:solidFill>
                <a:latin typeface="Meiryo" pitchFamily="34" charset="0"/>
                <a:ea typeface="Meiryo" pitchFamily="34" charset="-122"/>
                <a:cs typeface="Meiryo" pitchFamily="34" charset="-120"/>
              </a:rPr>
              <a:t>会社法上の手続き（クロージング 2027年5月31日を想定）</a:t>
            </a:r>
            <a:endParaRPr lang="en-US" sz="1400" dirty="0"/>
          </a:p>
        </p:txBody>
      </p:sp>
      <p:sp>
        <p:nvSpPr>
          <p:cNvPr id="5" name="Shape 3"/>
          <p:cNvSpPr/>
          <p:nvPr/>
        </p:nvSpPr>
        <p:spPr>
          <a:xfrm>
            <a:off x="640080" y="1920240"/>
            <a:ext cx="2606040" cy="1828800"/>
          </a:xfrm>
          <a:prstGeom prst="roundRect">
            <a:avLst>
              <a:gd name="adj" fmla="val 3000"/>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6" name="Shape 4"/>
          <p:cNvSpPr/>
          <p:nvPr/>
        </p:nvSpPr>
        <p:spPr>
          <a:xfrm>
            <a:off x="841248" y="2103120"/>
            <a:ext cx="1051560" cy="310896"/>
          </a:xfrm>
          <a:prstGeom prst="roundRect">
            <a:avLst>
              <a:gd name="adj" fmla="val 50000"/>
            </a:avLst>
          </a:prstGeom>
          <a:solidFill>
            <a:srgbClr val="6E2639"/>
          </a:solidFill>
          <a:ln/>
        </p:spPr>
      </p:sp>
      <p:sp>
        <p:nvSpPr>
          <p:cNvPr id="7" name="Text 5"/>
          <p:cNvSpPr txBox="1"/>
          <p:nvPr/>
        </p:nvSpPr>
        <p:spPr>
          <a:xfrm>
            <a:off x="841248" y="2103120"/>
            <a:ext cx="105156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Meiryo" pitchFamily="34" charset="0"/>
                <a:ea typeface="Meiryo" pitchFamily="34" charset="-122"/>
                <a:cs typeface="Meiryo" pitchFamily="34" charset="-120"/>
              </a:rPr>
              <a:t>STEP 1</a:t>
            </a:r>
            <a:endParaRPr lang="en-US" sz="1150" dirty="0"/>
          </a:p>
        </p:txBody>
      </p:sp>
      <p:sp>
        <p:nvSpPr>
          <p:cNvPr id="8" name="Text 6"/>
          <p:cNvSpPr txBox="1"/>
          <p:nvPr/>
        </p:nvSpPr>
        <p:spPr>
          <a:xfrm>
            <a:off x="841248" y="2542032"/>
            <a:ext cx="2240280" cy="548640"/>
          </a:xfrm>
          <a:prstGeom prst="rect">
            <a:avLst/>
          </a:prstGeom>
          <a:noFill/>
          <a:ln/>
        </p:spPr>
        <p:txBody>
          <a:bodyPr wrap="square" lIns="0" tIns="0" rIns="0" bIns="0" rtlCol="0" anchor="ctr"/>
          <a:lstStyle/>
          <a:p>
            <a:pPr indent="0" marL="0">
              <a:buNone/>
            </a:pPr>
            <a:r>
              <a:rPr lang="en-US" sz="1250" b="1" dirty="0">
                <a:solidFill>
                  <a:srgbClr val="1E2A38"/>
                </a:solidFill>
                <a:latin typeface="Meiryo" pitchFamily="34" charset="0"/>
                <a:ea typeface="Meiryo" pitchFamily="34" charset="-122"/>
                <a:cs typeface="Meiryo" pitchFamily="34" charset="-120"/>
              </a:rPr>
              <a:t>無償減資・欠損填補</a:t>
            </a:r>
            <a:endParaRPr lang="en-US" sz="1250" dirty="0"/>
          </a:p>
        </p:txBody>
      </p:sp>
      <p:sp>
        <p:nvSpPr>
          <p:cNvPr id="9" name="Text 7"/>
          <p:cNvSpPr txBox="1"/>
          <p:nvPr/>
        </p:nvSpPr>
        <p:spPr>
          <a:xfrm>
            <a:off x="841248" y="3108960"/>
            <a:ext cx="2240280" cy="566928"/>
          </a:xfrm>
          <a:prstGeom prst="rect">
            <a:avLst/>
          </a:prstGeom>
          <a:noFill/>
          <a:ln/>
        </p:spPr>
        <p:txBody>
          <a:bodyPr wrap="square" lIns="0" tIns="0" rIns="0" bIns="0" rtlCol="0" anchor="ctr"/>
          <a:lstStyle/>
          <a:p>
            <a:pPr indent="0" marL="0">
              <a:lnSpc>
                <a:spcPct val="110000"/>
              </a:lnSpc>
              <a:buNone/>
            </a:pPr>
            <a:r>
              <a:rPr lang="en-US" sz="950" dirty="0">
                <a:solidFill>
                  <a:srgbClr val="3D4E60"/>
                </a:solidFill>
                <a:latin typeface="Meiryo" pitchFamily="34" charset="0"/>
                <a:ea typeface="Meiryo" pitchFamily="34" charset="-122"/>
                <a:cs typeface="Meiryo" pitchFamily="34" charset="-120"/>
              </a:rPr>
              <a:t>資本金・資本準備金を取り崩し、繰越欠損金△10.62億を填補。分配可能額をつくります。</a:t>
            </a:r>
            <a:endParaRPr lang="en-US" sz="950" dirty="0"/>
          </a:p>
        </p:txBody>
      </p:sp>
      <p:sp>
        <p:nvSpPr>
          <p:cNvPr id="10" name="Shape 8"/>
          <p:cNvSpPr/>
          <p:nvPr/>
        </p:nvSpPr>
        <p:spPr>
          <a:xfrm>
            <a:off x="3401568" y="1920240"/>
            <a:ext cx="2606040" cy="1828800"/>
          </a:xfrm>
          <a:prstGeom prst="roundRect">
            <a:avLst>
              <a:gd name="adj" fmla="val 3000"/>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11" name="Shape 9"/>
          <p:cNvSpPr/>
          <p:nvPr/>
        </p:nvSpPr>
        <p:spPr>
          <a:xfrm>
            <a:off x="3602736" y="2103120"/>
            <a:ext cx="1051560" cy="310896"/>
          </a:xfrm>
          <a:prstGeom prst="roundRect">
            <a:avLst>
              <a:gd name="adj" fmla="val 50000"/>
            </a:avLst>
          </a:prstGeom>
          <a:solidFill>
            <a:srgbClr val="6E2639"/>
          </a:solidFill>
          <a:ln/>
        </p:spPr>
      </p:sp>
      <p:sp>
        <p:nvSpPr>
          <p:cNvPr id="12" name="Text 10"/>
          <p:cNvSpPr txBox="1"/>
          <p:nvPr/>
        </p:nvSpPr>
        <p:spPr>
          <a:xfrm>
            <a:off x="3602736" y="2103120"/>
            <a:ext cx="105156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Meiryo" pitchFamily="34" charset="0"/>
                <a:ea typeface="Meiryo" pitchFamily="34" charset="-122"/>
                <a:cs typeface="Meiryo" pitchFamily="34" charset="-120"/>
              </a:rPr>
              <a:t>STEP 2</a:t>
            </a:r>
            <a:endParaRPr lang="en-US" sz="1150" dirty="0"/>
          </a:p>
        </p:txBody>
      </p:sp>
      <p:sp>
        <p:nvSpPr>
          <p:cNvPr id="13" name="Text 11"/>
          <p:cNvSpPr txBox="1"/>
          <p:nvPr/>
        </p:nvSpPr>
        <p:spPr>
          <a:xfrm>
            <a:off x="3602736" y="2542032"/>
            <a:ext cx="2240280" cy="548640"/>
          </a:xfrm>
          <a:prstGeom prst="rect">
            <a:avLst/>
          </a:prstGeom>
          <a:noFill/>
          <a:ln/>
        </p:spPr>
        <p:txBody>
          <a:bodyPr wrap="square" lIns="0" tIns="0" rIns="0" bIns="0" rtlCol="0" anchor="ctr"/>
          <a:lstStyle/>
          <a:p>
            <a:pPr indent="0" marL="0">
              <a:buNone/>
            </a:pPr>
            <a:r>
              <a:rPr lang="en-US" sz="1250" b="1" dirty="0">
                <a:solidFill>
                  <a:srgbClr val="1E2A38"/>
                </a:solidFill>
                <a:latin typeface="Meiryo" pitchFamily="34" charset="0"/>
                <a:ea typeface="Meiryo" pitchFamily="34" charset="-122"/>
                <a:cs typeface="Meiryo" pitchFamily="34" charset="-120"/>
              </a:rPr>
              <a:t>第三者割当増資 19.57億円</a:t>
            </a:r>
            <a:endParaRPr lang="en-US" sz="1250" dirty="0"/>
          </a:p>
        </p:txBody>
      </p:sp>
      <p:sp>
        <p:nvSpPr>
          <p:cNvPr id="14" name="Text 12"/>
          <p:cNvSpPr txBox="1"/>
          <p:nvPr/>
        </p:nvSpPr>
        <p:spPr>
          <a:xfrm>
            <a:off x="3602736" y="3108960"/>
            <a:ext cx="2240280" cy="566928"/>
          </a:xfrm>
          <a:prstGeom prst="rect">
            <a:avLst/>
          </a:prstGeom>
          <a:noFill/>
          <a:ln/>
        </p:spPr>
        <p:txBody>
          <a:bodyPr wrap="square" lIns="0" tIns="0" rIns="0" bIns="0" rtlCol="0" anchor="ctr"/>
          <a:lstStyle/>
          <a:p>
            <a:pPr indent="0" marL="0">
              <a:lnSpc>
                <a:spcPct val="110000"/>
              </a:lnSpc>
              <a:buNone/>
            </a:pPr>
            <a:r>
              <a:rPr lang="en-US" sz="950" dirty="0">
                <a:solidFill>
                  <a:srgbClr val="3D4E60"/>
                </a:solidFill>
                <a:latin typeface="Meiryo" pitchFamily="34" charset="0"/>
                <a:ea typeface="Meiryo" pitchFamily="34" charset="-122"/>
                <a:cs typeface="Meiryo" pitchFamily="34" charset="-120"/>
              </a:rPr>
              <a:t>中野ファンド6.10億・パートナー13.47億。払込により債務超過が解消します。</a:t>
            </a:r>
            <a:endParaRPr lang="en-US" sz="950" dirty="0"/>
          </a:p>
        </p:txBody>
      </p:sp>
      <p:sp>
        <p:nvSpPr>
          <p:cNvPr id="15" name="Shape 13"/>
          <p:cNvSpPr/>
          <p:nvPr/>
        </p:nvSpPr>
        <p:spPr>
          <a:xfrm>
            <a:off x="6163056" y="1920240"/>
            <a:ext cx="2606040" cy="1828800"/>
          </a:xfrm>
          <a:prstGeom prst="roundRect">
            <a:avLst>
              <a:gd name="adj" fmla="val 3000"/>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16" name="Shape 14"/>
          <p:cNvSpPr/>
          <p:nvPr/>
        </p:nvSpPr>
        <p:spPr>
          <a:xfrm>
            <a:off x="6364224" y="2103120"/>
            <a:ext cx="1051560" cy="310896"/>
          </a:xfrm>
          <a:prstGeom prst="roundRect">
            <a:avLst>
              <a:gd name="adj" fmla="val 50000"/>
            </a:avLst>
          </a:prstGeom>
          <a:solidFill>
            <a:srgbClr val="6E2639"/>
          </a:solidFill>
          <a:ln/>
        </p:spPr>
      </p:sp>
      <p:sp>
        <p:nvSpPr>
          <p:cNvPr id="17" name="Text 15"/>
          <p:cNvSpPr txBox="1"/>
          <p:nvPr/>
        </p:nvSpPr>
        <p:spPr>
          <a:xfrm>
            <a:off x="6364224" y="2103120"/>
            <a:ext cx="105156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Meiryo" pitchFamily="34" charset="0"/>
                <a:ea typeface="Meiryo" pitchFamily="34" charset="-122"/>
                <a:cs typeface="Meiryo" pitchFamily="34" charset="-120"/>
              </a:rPr>
              <a:t>STEP 3</a:t>
            </a:r>
            <a:endParaRPr lang="en-US" sz="1150" dirty="0"/>
          </a:p>
        </p:txBody>
      </p:sp>
      <p:sp>
        <p:nvSpPr>
          <p:cNvPr id="18" name="Text 16"/>
          <p:cNvSpPr txBox="1"/>
          <p:nvPr/>
        </p:nvSpPr>
        <p:spPr>
          <a:xfrm>
            <a:off x="6364224" y="2542032"/>
            <a:ext cx="2240280" cy="548640"/>
          </a:xfrm>
          <a:prstGeom prst="rect">
            <a:avLst/>
          </a:prstGeom>
          <a:noFill/>
          <a:ln/>
        </p:spPr>
        <p:txBody>
          <a:bodyPr wrap="square" lIns="0" tIns="0" rIns="0" bIns="0" rtlCol="0" anchor="ctr"/>
          <a:lstStyle/>
          <a:p>
            <a:pPr indent="0" marL="0">
              <a:buNone/>
            </a:pPr>
            <a:r>
              <a:rPr lang="en-US" sz="1250" b="1" dirty="0">
                <a:solidFill>
                  <a:srgbClr val="1E2A38"/>
                </a:solidFill>
                <a:latin typeface="Meiryo" pitchFamily="34" charset="0"/>
                <a:ea typeface="Meiryo" pitchFamily="34" charset="-122"/>
                <a:cs typeface="Meiryo" pitchFamily="34" charset="-120"/>
              </a:rPr>
              <a:t>自己株式取得 12.72億円</a:t>
            </a:r>
            <a:endParaRPr lang="en-US" sz="1250" dirty="0"/>
          </a:p>
        </p:txBody>
      </p:sp>
      <p:sp>
        <p:nvSpPr>
          <p:cNvPr id="19" name="Text 17"/>
          <p:cNvSpPr txBox="1"/>
          <p:nvPr/>
        </p:nvSpPr>
        <p:spPr>
          <a:xfrm>
            <a:off x="6364224" y="3108960"/>
            <a:ext cx="2240280" cy="566928"/>
          </a:xfrm>
          <a:prstGeom prst="rect">
            <a:avLst/>
          </a:prstGeom>
          <a:noFill/>
          <a:ln/>
        </p:spPr>
        <p:txBody>
          <a:bodyPr wrap="square" lIns="0" tIns="0" rIns="0" bIns="0" rtlCol="0" anchor="ctr"/>
          <a:lstStyle/>
          <a:p>
            <a:pPr indent="0" marL="0">
              <a:lnSpc>
                <a:spcPct val="110000"/>
              </a:lnSpc>
              <a:buNone/>
            </a:pPr>
            <a:r>
              <a:rPr lang="en-US" sz="950" dirty="0">
                <a:solidFill>
                  <a:srgbClr val="3D4E60"/>
                </a:solidFill>
                <a:latin typeface="Meiryo" pitchFamily="34" charset="0"/>
                <a:ea typeface="Meiryo" pitchFamily="34" charset="-122"/>
                <a:cs typeface="Meiryo" pitchFamily="34" charset="-120"/>
              </a:rPr>
              <a:t>中野以外の全株主から127,616株を取得。売主追加請求権・特別利害関係人の処理が必要です。</a:t>
            </a:r>
            <a:endParaRPr lang="en-US" sz="950" dirty="0"/>
          </a:p>
        </p:txBody>
      </p:sp>
      <p:sp>
        <p:nvSpPr>
          <p:cNvPr id="20" name="Shape 18"/>
          <p:cNvSpPr/>
          <p:nvPr/>
        </p:nvSpPr>
        <p:spPr>
          <a:xfrm>
            <a:off x="8924544" y="1920240"/>
            <a:ext cx="2606040" cy="1828800"/>
          </a:xfrm>
          <a:prstGeom prst="roundRect">
            <a:avLst>
              <a:gd name="adj" fmla="val 3000"/>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21" name="Shape 19"/>
          <p:cNvSpPr/>
          <p:nvPr/>
        </p:nvSpPr>
        <p:spPr>
          <a:xfrm>
            <a:off x="9125712" y="2103120"/>
            <a:ext cx="1051560" cy="310896"/>
          </a:xfrm>
          <a:prstGeom prst="roundRect">
            <a:avLst>
              <a:gd name="adj" fmla="val 50000"/>
            </a:avLst>
          </a:prstGeom>
          <a:solidFill>
            <a:srgbClr val="2C6A4E"/>
          </a:solidFill>
          <a:ln/>
        </p:spPr>
      </p:sp>
      <p:sp>
        <p:nvSpPr>
          <p:cNvPr id="22" name="Text 20"/>
          <p:cNvSpPr txBox="1"/>
          <p:nvPr/>
        </p:nvSpPr>
        <p:spPr>
          <a:xfrm>
            <a:off x="9125712" y="2103120"/>
            <a:ext cx="105156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Meiryo" pitchFamily="34" charset="0"/>
                <a:ea typeface="Meiryo" pitchFamily="34" charset="-122"/>
                <a:cs typeface="Meiryo" pitchFamily="34" charset="-120"/>
              </a:rPr>
              <a:t>STEP 4</a:t>
            </a:r>
            <a:endParaRPr lang="en-US" sz="1150" dirty="0"/>
          </a:p>
        </p:txBody>
      </p:sp>
      <p:sp>
        <p:nvSpPr>
          <p:cNvPr id="23" name="Text 21"/>
          <p:cNvSpPr txBox="1"/>
          <p:nvPr/>
        </p:nvSpPr>
        <p:spPr>
          <a:xfrm>
            <a:off x="9125712" y="2542032"/>
            <a:ext cx="2240280" cy="548640"/>
          </a:xfrm>
          <a:prstGeom prst="rect">
            <a:avLst/>
          </a:prstGeom>
          <a:noFill/>
          <a:ln/>
        </p:spPr>
        <p:txBody>
          <a:bodyPr wrap="square" lIns="0" tIns="0" rIns="0" bIns="0" rtlCol="0" anchor="ctr"/>
          <a:lstStyle/>
          <a:p>
            <a:pPr indent="0" marL="0">
              <a:buNone/>
            </a:pPr>
            <a:r>
              <a:rPr lang="en-US" sz="1250" b="1" dirty="0">
                <a:solidFill>
                  <a:srgbClr val="1E2A38"/>
                </a:solidFill>
                <a:latin typeface="Meiryo" pitchFamily="34" charset="0"/>
                <a:ea typeface="Meiryo" pitchFamily="34" charset="-122"/>
                <a:cs typeface="Meiryo" pitchFamily="34" charset="-120"/>
              </a:rPr>
              <a:t>ビジョン借入の返済</a:t>
            </a:r>
            <a:endParaRPr lang="en-US" sz="1250" dirty="0"/>
          </a:p>
        </p:txBody>
      </p:sp>
      <p:sp>
        <p:nvSpPr>
          <p:cNvPr id="24" name="Text 22"/>
          <p:cNvSpPr txBox="1"/>
          <p:nvPr/>
        </p:nvSpPr>
        <p:spPr>
          <a:xfrm>
            <a:off x="9125712" y="3108960"/>
            <a:ext cx="2240280" cy="566928"/>
          </a:xfrm>
          <a:prstGeom prst="rect">
            <a:avLst/>
          </a:prstGeom>
          <a:noFill/>
          <a:ln/>
        </p:spPr>
        <p:txBody>
          <a:bodyPr wrap="square" lIns="0" tIns="0" rIns="0" bIns="0" rtlCol="0" anchor="ctr"/>
          <a:lstStyle/>
          <a:p>
            <a:pPr indent="0" marL="0">
              <a:lnSpc>
                <a:spcPct val="110000"/>
              </a:lnSpc>
              <a:buNone/>
            </a:pPr>
            <a:r>
              <a:rPr lang="en-US" sz="950" dirty="0">
                <a:solidFill>
                  <a:srgbClr val="3D4E60"/>
                </a:solidFill>
                <a:latin typeface="Meiryo" pitchFamily="34" charset="0"/>
                <a:ea typeface="Meiryo" pitchFamily="34" charset="-122"/>
                <a:cs typeface="Meiryo" pitchFamily="34" charset="-120"/>
              </a:rPr>
              <a:t>7.90億円。増資4.90億＋みずほ様3.00億で、ビジョン社との債権債務を完全に解消します。</a:t>
            </a:r>
            <a:endParaRPr lang="en-US" sz="950" dirty="0"/>
          </a:p>
        </p:txBody>
      </p:sp>
      <p:sp>
        <p:nvSpPr>
          <p:cNvPr id="25" name="Shape 23"/>
          <p:cNvSpPr/>
          <p:nvPr/>
        </p:nvSpPr>
        <p:spPr>
          <a:xfrm>
            <a:off x="640080" y="3950208"/>
            <a:ext cx="5349240" cy="2011680"/>
          </a:xfrm>
          <a:prstGeom prst="roundRect">
            <a:avLst>
              <a:gd name="adj" fmla="val 2727"/>
            </a:avLst>
          </a:prstGeom>
          <a:solidFill>
            <a:srgbClr val="FBF1F3"/>
          </a:solidFill>
          <a:ln w="12700">
            <a:solidFill>
              <a:srgbClr val="E3CBD1"/>
            </a:solidFill>
            <a:prstDash val="solid"/>
          </a:ln>
          <a:effectLst>
            <a:outerShdw sx="100000" sy="100000" kx="0" ky="0" algn="bl" rotWithShape="0" blurRad="101600" dist="12700" dir="5400000">
              <a:srgbClr val="AAB4BE">
                <a:alpha val="18000"/>
              </a:srgbClr>
            </a:outerShdw>
          </a:effectLst>
        </p:spPr>
      </p:sp>
      <p:sp>
        <p:nvSpPr>
          <p:cNvPr id="26" name="Text 24"/>
          <p:cNvSpPr txBox="1"/>
          <p:nvPr/>
        </p:nvSpPr>
        <p:spPr>
          <a:xfrm>
            <a:off x="914400" y="4114800"/>
            <a:ext cx="4800600" cy="292608"/>
          </a:xfrm>
          <a:prstGeom prst="rect">
            <a:avLst/>
          </a:prstGeom>
          <a:noFill/>
          <a:ln/>
        </p:spPr>
        <p:txBody>
          <a:bodyPr wrap="square" lIns="0" tIns="0" rIns="0" bIns="0" rtlCol="0" anchor="ctr"/>
          <a:lstStyle/>
          <a:p>
            <a:pPr indent="0" marL="0">
              <a:buNone/>
            </a:pPr>
            <a:r>
              <a:rPr lang="en-US" sz="1350" b="1" dirty="0">
                <a:solidFill>
                  <a:srgbClr val="6E2639"/>
                </a:solidFill>
                <a:latin typeface="Meiryo" pitchFamily="34" charset="0"/>
                <a:ea typeface="Meiryo" pitchFamily="34" charset="-122"/>
                <a:cs typeface="Meiryo" pitchFamily="34" charset="-120"/>
              </a:rPr>
              <a:t>先に固めるべき論点</a:t>
            </a:r>
            <a:endParaRPr lang="en-US" sz="1350" dirty="0"/>
          </a:p>
        </p:txBody>
      </p:sp>
      <p:sp>
        <p:nvSpPr>
          <p:cNvPr id="27" name="Shape 25"/>
          <p:cNvSpPr/>
          <p:nvPr/>
        </p:nvSpPr>
        <p:spPr>
          <a:xfrm>
            <a:off x="932688" y="4581144"/>
            <a:ext cx="128016" cy="128016"/>
          </a:xfrm>
          <a:prstGeom prst="roundRect">
            <a:avLst>
              <a:gd name="adj" fmla="val 357143"/>
            </a:avLst>
          </a:prstGeom>
          <a:solidFill>
            <a:srgbClr val="6E2639"/>
          </a:solidFill>
          <a:ln/>
        </p:spPr>
      </p:sp>
      <p:sp>
        <p:nvSpPr>
          <p:cNvPr id="28" name="Text 26"/>
          <p:cNvSpPr txBox="1"/>
          <p:nvPr/>
        </p:nvSpPr>
        <p:spPr>
          <a:xfrm>
            <a:off x="1207008" y="4498848"/>
            <a:ext cx="4526280" cy="292608"/>
          </a:xfrm>
          <a:prstGeom prst="rect">
            <a:avLst/>
          </a:prstGeom>
          <a:noFill/>
          <a:ln/>
        </p:spPr>
        <p:txBody>
          <a:bodyPr wrap="square" lIns="0" tIns="0" rIns="0" bIns="0" rtlCol="0" anchor="ctr"/>
          <a:lstStyle/>
          <a:p>
            <a:pPr indent="0" marL="0">
              <a:buNone/>
            </a:pPr>
            <a:r>
              <a:rPr lang="en-US" sz="1050" dirty="0">
                <a:solidFill>
                  <a:srgbClr val="3D4E60"/>
                </a:solidFill>
                <a:latin typeface="Meiryo" pitchFamily="34" charset="0"/>
                <a:ea typeface="Meiryo" pitchFamily="34" charset="-122"/>
                <a:cs typeface="Meiryo" pitchFamily="34" charset="-120"/>
              </a:rPr>
              <a:t>正常化営業利益2.00億円の店舗別PLによる裏付け</a:t>
            </a:r>
            <a:endParaRPr lang="en-US" sz="1050" dirty="0"/>
          </a:p>
        </p:txBody>
      </p:sp>
      <p:sp>
        <p:nvSpPr>
          <p:cNvPr id="29" name="Shape 27"/>
          <p:cNvSpPr/>
          <p:nvPr/>
        </p:nvSpPr>
        <p:spPr>
          <a:xfrm>
            <a:off x="932688" y="4919472"/>
            <a:ext cx="128016" cy="128016"/>
          </a:xfrm>
          <a:prstGeom prst="roundRect">
            <a:avLst>
              <a:gd name="adj" fmla="val 357143"/>
            </a:avLst>
          </a:prstGeom>
          <a:solidFill>
            <a:srgbClr val="6E2639"/>
          </a:solidFill>
          <a:ln/>
        </p:spPr>
      </p:sp>
      <p:sp>
        <p:nvSpPr>
          <p:cNvPr id="30" name="Text 28"/>
          <p:cNvSpPr txBox="1"/>
          <p:nvPr/>
        </p:nvSpPr>
        <p:spPr>
          <a:xfrm>
            <a:off x="1207008" y="4837176"/>
            <a:ext cx="4526280" cy="292608"/>
          </a:xfrm>
          <a:prstGeom prst="rect">
            <a:avLst/>
          </a:prstGeom>
          <a:noFill/>
          <a:ln/>
        </p:spPr>
        <p:txBody>
          <a:bodyPr wrap="square" lIns="0" tIns="0" rIns="0" bIns="0" rtlCol="0" anchor="ctr"/>
          <a:lstStyle/>
          <a:p>
            <a:pPr indent="0" marL="0">
              <a:buNone/>
            </a:pPr>
            <a:r>
              <a:rPr lang="en-US" sz="1050" dirty="0">
                <a:solidFill>
                  <a:srgbClr val="3D4E60"/>
                </a:solidFill>
                <a:latin typeface="Meiryo" pitchFamily="34" charset="0"/>
                <a:ea typeface="Meiryo" pitchFamily="34" charset="-122"/>
                <a:cs typeface="Meiryo" pitchFamily="34" charset="-120"/>
              </a:rPr>
              <a:t>パートナーとのデッドロック解消条項（50:50のため必須）</a:t>
            </a:r>
            <a:endParaRPr lang="en-US" sz="1050" dirty="0"/>
          </a:p>
        </p:txBody>
      </p:sp>
      <p:sp>
        <p:nvSpPr>
          <p:cNvPr id="31" name="Shape 29"/>
          <p:cNvSpPr/>
          <p:nvPr/>
        </p:nvSpPr>
        <p:spPr>
          <a:xfrm>
            <a:off x="932688" y="5257800"/>
            <a:ext cx="128016" cy="128016"/>
          </a:xfrm>
          <a:prstGeom prst="roundRect">
            <a:avLst>
              <a:gd name="adj" fmla="val 357143"/>
            </a:avLst>
          </a:prstGeom>
          <a:solidFill>
            <a:srgbClr val="6E2639"/>
          </a:solidFill>
          <a:ln/>
        </p:spPr>
      </p:sp>
      <p:sp>
        <p:nvSpPr>
          <p:cNvPr id="32" name="Text 30"/>
          <p:cNvSpPr txBox="1"/>
          <p:nvPr/>
        </p:nvSpPr>
        <p:spPr>
          <a:xfrm>
            <a:off x="1207008" y="5175504"/>
            <a:ext cx="4526280" cy="292608"/>
          </a:xfrm>
          <a:prstGeom prst="rect">
            <a:avLst/>
          </a:prstGeom>
          <a:noFill/>
          <a:ln/>
        </p:spPr>
        <p:txBody>
          <a:bodyPr wrap="square" lIns="0" tIns="0" rIns="0" bIns="0" rtlCol="0" anchor="ctr"/>
          <a:lstStyle/>
          <a:p>
            <a:pPr indent="0" marL="0">
              <a:buNone/>
            </a:pPr>
            <a:r>
              <a:rPr lang="en-US" sz="1050" dirty="0">
                <a:solidFill>
                  <a:srgbClr val="3D4E60"/>
                </a:solidFill>
                <a:latin typeface="Meiryo" pitchFamily="34" charset="0"/>
                <a:ea typeface="Meiryo" pitchFamily="34" charset="-122"/>
                <a:cs typeface="Meiryo" pitchFamily="34" charset="-120"/>
              </a:rPr>
              <a:t>中野ファンドのGP議決権集約と金商法63条の届出</a:t>
            </a:r>
            <a:endParaRPr lang="en-US" sz="1050" dirty="0"/>
          </a:p>
        </p:txBody>
      </p:sp>
      <p:sp>
        <p:nvSpPr>
          <p:cNvPr id="33" name="Shape 31"/>
          <p:cNvSpPr/>
          <p:nvPr/>
        </p:nvSpPr>
        <p:spPr>
          <a:xfrm>
            <a:off x="932688" y="5596128"/>
            <a:ext cx="128016" cy="128016"/>
          </a:xfrm>
          <a:prstGeom prst="roundRect">
            <a:avLst>
              <a:gd name="adj" fmla="val 357143"/>
            </a:avLst>
          </a:prstGeom>
          <a:solidFill>
            <a:srgbClr val="6E2639"/>
          </a:solidFill>
          <a:ln/>
        </p:spPr>
      </p:sp>
      <p:sp>
        <p:nvSpPr>
          <p:cNvPr id="34" name="Text 32"/>
          <p:cNvSpPr txBox="1"/>
          <p:nvPr/>
        </p:nvSpPr>
        <p:spPr>
          <a:xfrm>
            <a:off x="1207008" y="5513832"/>
            <a:ext cx="4526280" cy="292608"/>
          </a:xfrm>
          <a:prstGeom prst="rect">
            <a:avLst/>
          </a:prstGeom>
          <a:noFill/>
          <a:ln/>
        </p:spPr>
        <p:txBody>
          <a:bodyPr wrap="square" lIns="0" tIns="0" rIns="0" bIns="0" rtlCol="0" anchor="ctr"/>
          <a:lstStyle/>
          <a:p>
            <a:pPr indent="0" marL="0">
              <a:buNone/>
            </a:pPr>
            <a:r>
              <a:rPr lang="en-US" sz="1050" dirty="0">
                <a:solidFill>
                  <a:srgbClr val="3D4E60"/>
                </a:solidFill>
                <a:latin typeface="Meiryo" pitchFamily="34" charset="0"/>
                <a:ea typeface="Meiryo" pitchFamily="34" charset="-122"/>
                <a:cs typeface="Meiryo" pitchFamily="34" charset="-120"/>
              </a:rPr>
              <a:t>ストックオプション9,000株の行使方法と税制適格性</a:t>
            </a:r>
            <a:endParaRPr lang="en-US" sz="1050" dirty="0"/>
          </a:p>
        </p:txBody>
      </p:sp>
      <p:sp>
        <p:nvSpPr>
          <p:cNvPr id="35" name="Shape 33"/>
          <p:cNvSpPr/>
          <p:nvPr/>
        </p:nvSpPr>
        <p:spPr>
          <a:xfrm>
            <a:off x="6172200" y="3950208"/>
            <a:ext cx="5349240" cy="2011680"/>
          </a:xfrm>
          <a:prstGeom prst="roundRect">
            <a:avLst>
              <a:gd name="adj" fmla="val 2727"/>
            </a:avLst>
          </a:prstGeom>
          <a:solidFill>
            <a:srgbClr val="EEF3F8"/>
          </a:solidFill>
          <a:ln w="12700">
            <a:solidFill>
              <a:srgbClr val="C6D6E5"/>
            </a:solidFill>
            <a:prstDash val="solid"/>
          </a:ln>
          <a:effectLst>
            <a:outerShdw sx="100000" sy="100000" kx="0" ky="0" algn="bl" rotWithShape="0" blurRad="101600" dist="12700" dir="5400000">
              <a:srgbClr val="AAB4BE">
                <a:alpha val="18000"/>
              </a:srgbClr>
            </a:outerShdw>
          </a:effectLst>
        </p:spPr>
      </p:sp>
      <p:sp>
        <p:nvSpPr>
          <p:cNvPr id="36" name="Text 34"/>
          <p:cNvSpPr txBox="1"/>
          <p:nvPr/>
        </p:nvSpPr>
        <p:spPr>
          <a:xfrm>
            <a:off x="6446520" y="4114800"/>
            <a:ext cx="4800600" cy="292608"/>
          </a:xfrm>
          <a:prstGeom prst="rect">
            <a:avLst/>
          </a:prstGeom>
          <a:noFill/>
          <a:ln/>
        </p:spPr>
        <p:txBody>
          <a:bodyPr wrap="square" lIns="0" tIns="0" rIns="0" bIns="0" rtlCol="0" anchor="ctr"/>
          <a:lstStyle/>
          <a:p>
            <a:pPr indent="0" marL="0">
              <a:buNone/>
            </a:pPr>
            <a:r>
              <a:rPr lang="en-US" sz="1350" b="1" dirty="0">
                <a:solidFill>
                  <a:srgbClr val="2E5C8A"/>
                </a:solidFill>
                <a:latin typeface="Meiryo" pitchFamily="34" charset="0"/>
                <a:ea typeface="Meiryo" pitchFamily="34" charset="-122"/>
                <a:cs typeface="Meiryo" pitchFamily="34" charset="-120"/>
              </a:rPr>
              <a:t>並行して確認すること</a:t>
            </a:r>
            <a:endParaRPr lang="en-US" sz="1350" dirty="0"/>
          </a:p>
        </p:txBody>
      </p:sp>
      <p:sp>
        <p:nvSpPr>
          <p:cNvPr id="37" name="Shape 35"/>
          <p:cNvSpPr/>
          <p:nvPr/>
        </p:nvSpPr>
        <p:spPr>
          <a:xfrm>
            <a:off x="6464808" y="4581144"/>
            <a:ext cx="128016" cy="128016"/>
          </a:xfrm>
          <a:prstGeom prst="roundRect">
            <a:avLst>
              <a:gd name="adj" fmla="val 357143"/>
            </a:avLst>
          </a:prstGeom>
          <a:solidFill>
            <a:srgbClr val="2E5C8A"/>
          </a:solidFill>
          <a:ln/>
        </p:spPr>
      </p:sp>
      <p:sp>
        <p:nvSpPr>
          <p:cNvPr id="38" name="Text 36"/>
          <p:cNvSpPr txBox="1"/>
          <p:nvPr/>
        </p:nvSpPr>
        <p:spPr>
          <a:xfrm>
            <a:off x="6739128" y="4498848"/>
            <a:ext cx="4526280" cy="292608"/>
          </a:xfrm>
          <a:prstGeom prst="rect">
            <a:avLst/>
          </a:prstGeom>
          <a:noFill/>
          <a:ln/>
        </p:spPr>
        <p:txBody>
          <a:bodyPr wrap="square" lIns="0" tIns="0" rIns="0" bIns="0" rtlCol="0" anchor="ctr"/>
          <a:lstStyle/>
          <a:p>
            <a:pPr indent="0" marL="0">
              <a:buNone/>
            </a:pPr>
            <a:r>
              <a:rPr lang="en-US" sz="1050" dirty="0">
                <a:solidFill>
                  <a:srgbClr val="3D4E60"/>
                </a:solidFill>
                <a:latin typeface="Meiryo" pitchFamily="34" charset="0"/>
                <a:ea typeface="Meiryo" pitchFamily="34" charset="-122"/>
                <a:cs typeface="Meiryo" pitchFamily="34" charset="-120"/>
              </a:rPr>
              <a:t>スペースマーケット社LOI（18億円評価）の原文と有効期限</a:t>
            </a:r>
            <a:endParaRPr lang="en-US" sz="1050" dirty="0"/>
          </a:p>
        </p:txBody>
      </p:sp>
      <p:sp>
        <p:nvSpPr>
          <p:cNvPr id="39" name="Shape 37"/>
          <p:cNvSpPr/>
          <p:nvPr/>
        </p:nvSpPr>
        <p:spPr>
          <a:xfrm>
            <a:off x="6464808" y="4919472"/>
            <a:ext cx="128016" cy="128016"/>
          </a:xfrm>
          <a:prstGeom prst="roundRect">
            <a:avLst>
              <a:gd name="adj" fmla="val 357143"/>
            </a:avLst>
          </a:prstGeom>
          <a:solidFill>
            <a:srgbClr val="2E5C8A"/>
          </a:solidFill>
          <a:ln/>
        </p:spPr>
      </p:sp>
      <p:sp>
        <p:nvSpPr>
          <p:cNvPr id="40" name="Text 38"/>
          <p:cNvSpPr txBox="1"/>
          <p:nvPr/>
        </p:nvSpPr>
        <p:spPr>
          <a:xfrm>
            <a:off x="6739128" y="4837176"/>
            <a:ext cx="4526280" cy="292608"/>
          </a:xfrm>
          <a:prstGeom prst="rect">
            <a:avLst/>
          </a:prstGeom>
          <a:noFill/>
          <a:ln/>
        </p:spPr>
        <p:txBody>
          <a:bodyPr wrap="square" lIns="0" tIns="0" rIns="0" bIns="0" rtlCol="0" anchor="ctr"/>
          <a:lstStyle/>
          <a:p>
            <a:pPr indent="0" marL="0">
              <a:buNone/>
            </a:pPr>
            <a:r>
              <a:rPr lang="en-US" sz="1050" dirty="0">
                <a:solidFill>
                  <a:srgbClr val="3D4E60"/>
                </a:solidFill>
                <a:latin typeface="Meiryo" pitchFamily="34" charset="0"/>
                <a:ea typeface="Meiryo" pitchFamily="34" charset="-122"/>
                <a:cs typeface="Meiryo" pitchFamily="34" charset="-120"/>
              </a:rPr>
              <a:t>3ヶ月平均株価の確定値（証券会社経由）</a:t>
            </a:r>
            <a:endParaRPr lang="en-US" sz="1050" dirty="0"/>
          </a:p>
        </p:txBody>
      </p:sp>
      <p:sp>
        <p:nvSpPr>
          <p:cNvPr id="41" name="Shape 39"/>
          <p:cNvSpPr/>
          <p:nvPr/>
        </p:nvSpPr>
        <p:spPr>
          <a:xfrm>
            <a:off x="6464808" y="5257800"/>
            <a:ext cx="128016" cy="128016"/>
          </a:xfrm>
          <a:prstGeom prst="roundRect">
            <a:avLst>
              <a:gd name="adj" fmla="val 357143"/>
            </a:avLst>
          </a:prstGeom>
          <a:solidFill>
            <a:srgbClr val="2E5C8A"/>
          </a:solidFill>
          <a:ln/>
        </p:spPr>
      </p:sp>
      <p:sp>
        <p:nvSpPr>
          <p:cNvPr id="42" name="Text 40"/>
          <p:cNvSpPr txBox="1"/>
          <p:nvPr/>
        </p:nvSpPr>
        <p:spPr>
          <a:xfrm>
            <a:off x="6739128" y="5175504"/>
            <a:ext cx="4526280" cy="292608"/>
          </a:xfrm>
          <a:prstGeom prst="rect">
            <a:avLst/>
          </a:prstGeom>
          <a:noFill/>
          <a:ln/>
        </p:spPr>
        <p:txBody>
          <a:bodyPr wrap="square" lIns="0" tIns="0" rIns="0" bIns="0" rtlCol="0" anchor="ctr"/>
          <a:lstStyle/>
          <a:p>
            <a:pPr indent="0" marL="0">
              <a:buNone/>
            </a:pPr>
            <a:r>
              <a:rPr lang="en-US" sz="1050" dirty="0">
                <a:solidFill>
                  <a:srgbClr val="3D4E60"/>
                </a:solidFill>
                <a:latin typeface="Meiryo" pitchFamily="34" charset="0"/>
                <a:ea typeface="Meiryo" pitchFamily="34" charset="-122"/>
                <a:cs typeface="Meiryo" pitchFamily="34" charset="-120"/>
              </a:rPr>
              <a:t>流通株式比率について東証への事前相談</a:t>
            </a:r>
            <a:endParaRPr lang="en-US" sz="1050" dirty="0"/>
          </a:p>
        </p:txBody>
      </p:sp>
      <p:sp>
        <p:nvSpPr>
          <p:cNvPr id="43" name="Shape 41"/>
          <p:cNvSpPr/>
          <p:nvPr/>
        </p:nvSpPr>
        <p:spPr>
          <a:xfrm>
            <a:off x="6464808" y="5596128"/>
            <a:ext cx="128016" cy="128016"/>
          </a:xfrm>
          <a:prstGeom prst="roundRect">
            <a:avLst>
              <a:gd name="adj" fmla="val 357143"/>
            </a:avLst>
          </a:prstGeom>
          <a:solidFill>
            <a:srgbClr val="2E5C8A"/>
          </a:solidFill>
          <a:ln/>
        </p:spPr>
      </p:sp>
      <p:sp>
        <p:nvSpPr>
          <p:cNvPr id="44" name="Text 42"/>
          <p:cNvSpPr txBox="1"/>
          <p:nvPr/>
        </p:nvSpPr>
        <p:spPr>
          <a:xfrm>
            <a:off x="6739128" y="5513832"/>
            <a:ext cx="4526280" cy="292608"/>
          </a:xfrm>
          <a:prstGeom prst="rect">
            <a:avLst/>
          </a:prstGeom>
          <a:noFill/>
          <a:ln/>
        </p:spPr>
        <p:txBody>
          <a:bodyPr wrap="square" lIns="0" tIns="0" rIns="0" bIns="0" rtlCol="0" anchor="ctr"/>
          <a:lstStyle/>
          <a:p>
            <a:pPr indent="0" marL="0">
              <a:buNone/>
            </a:pPr>
            <a:r>
              <a:rPr lang="en-US" sz="1050" dirty="0">
                <a:solidFill>
                  <a:srgbClr val="3D4E60"/>
                </a:solidFill>
                <a:latin typeface="Meiryo" pitchFamily="34" charset="0"/>
                <a:ea typeface="Meiryo" pitchFamily="34" charset="-122"/>
                <a:cs typeface="Meiryo" pitchFamily="34" charset="-120"/>
              </a:rPr>
              <a:t>のれん償却年数の取扱いに関する監査法人の見解</a:t>
            </a:r>
            <a:endParaRPr lang="en-US" sz="1050" dirty="0"/>
          </a:p>
        </p:txBody>
      </p:sp>
      <p:sp>
        <p:nvSpPr>
          <p:cNvPr id="45" name="Text 43"/>
          <p:cNvSpPr txBox="1"/>
          <p:nvPr/>
        </p:nvSpPr>
        <p:spPr>
          <a:xfrm>
            <a:off x="640080" y="6144768"/>
            <a:ext cx="10881360" cy="274320"/>
          </a:xfrm>
          <a:prstGeom prst="rect">
            <a:avLst/>
          </a:prstGeom>
          <a:noFill/>
          <a:ln/>
        </p:spPr>
        <p:txBody>
          <a:bodyPr wrap="square" lIns="0" tIns="0" rIns="0" bIns="0" rtlCol="0" anchor="ctr"/>
          <a:lstStyle/>
          <a:p>
            <a:pPr indent="0" marL="0">
              <a:buNone/>
            </a:pPr>
            <a:r>
              <a:rPr lang="en-US" sz="900" dirty="0">
                <a:solidFill>
                  <a:srgbClr val="7C8A99"/>
                </a:solidFill>
                <a:latin typeface="Meiryo" pitchFamily="34" charset="0"/>
                <a:ea typeface="Meiryo" pitchFamily="34" charset="-122"/>
                <a:cs typeface="Meiryo" pitchFamily="34" charset="-120"/>
              </a:rPr>
              <a:t>本資料は検討段階の想定値です。数値は第10期計算書類および公開情報にもとづく試算であり、実行にあたっては弁護士・会計士・税理士の確認を要します。</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2026-09-23T13:37:29Z</dcterms:created>
  <dcterms:modified xsi:type="dcterms:W3CDTF">2026-09-23T13:37:29Z</dcterms:modified>
</cp:coreProperties>
</file>