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前提が固まった版。結論は「パートナー次第」。判断の分岐を明示する。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②が今回の最大の変数。パートナーが立つかどうかで答えが変わる。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金額だけ見れば合併が安い。買えるものが違う点を正直に。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中野が売出しの47%を取る。これで市場の消化負担が半分になる。一石二鳥の構造。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中野が筆頭、重松側と同数、流通も基準クリア。条件は満たせている。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これが今日一番重要な発見。パートナーは減らせない。12億以上かゼロか。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Aは「握れるが調達が立たない」、Bは「立つが握れない」。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二者択一ではなく、パートナー調達の可否で決まる分岐。並走が正解。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①が最優先。ここが決まらないと他が動かない。期限を切って打診する。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822960" y="1645920"/>
            <a:ext cx="10515600" cy="365760"/>
          </a:xfrm>
          <a:prstGeom prst="rect">
            <a:avLst/>
          </a:prstGeom>
          <a:noFill/>
          <a:ln/>
        </p:spPr>
        <p:txBody>
          <a:bodyPr wrap="square" lIns="0" tIns="0" rIns="0" bIns="0" rtlCol="0" anchor="ctr"/>
          <a:lstStyle/>
          <a:p>
            <a:pPr indent="0" marL="0">
              <a:buNone/>
            </a:pPr>
            <a:r>
              <a:rPr lang="en-US" sz="1400" b="1" spc="300" kern="0" dirty="0">
                <a:solidFill>
                  <a:srgbClr val="A85C6E"/>
                </a:solidFill>
                <a:latin typeface="Meiryo" pitchFamily="34" charset="0"/>
                <a:ea typeface="Meiryo" pitchFamily="34" charset="-122"/>
                <a:cs typeface="Meiryo" pitchFamily="34" charset="-120"/>
              </a:rPr>
              <a:t>株式会社あどばる</a:t>
            </a:r>
            <a:endParaRPr lang="en-US" sz="1400" dirty="0"/>
          </a:p>
        </p:txBody>
      </p:sp>
      <p:sp>
        <p:nvSpPr>
          <p:cNvPr id="3" name="Text 1"/>
          <p:cNvSpPr txBox="1"/>
          <p:nvPr/>
        </p:nvSpPr>
        <p:spPr>
          <a:xfrm>
            <a:off x="822960" y="205740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2案の必要資金と実行確度</a:t>
            </a:r>
            <a:endParaRPr lang="en-US" sz="4000" dirty="0"/>
          </a:p>
        </p:txBody>
      </p:sp>
      <p:sp>
        <p:nvSpPr>
          <p:cNvPr id="4" name="Text 2"/>
          <p:cNvSpPr txBox="1"/>
          <p:nvPr/>
        </p:nvSpPr>
        <p:spPr>
          <a:xfrm>
            <a:off x="822960" y="3017520"/>
            <a:ext cx="10241280" cy="411480"/>
          </a:xfrm>
          <a:prstGeom prst="rect">
            <a:avLst/>
          </a:prstGeom>
          <a:noFill/>
          <a:ln/>
        </p:spPr>
        <p:txBody>
          <a:bodyPr wrap="square" lIns="0" tIns="0" rIns="0" bIns="0" rtlCol="0" anchor="ctr"/>
          <a:lstStyle/>
          <a:p>
            <a:pPr indent="0" marL="0">
              <a:buNone/>
            </a:pPr>
            <a:r>
              <a:rPr lang="en-US" sz="1700" dirty="0">
                <a:solidFill>
                  <a:srgbClr val="B9C4CF"/>
                </a:solidFill>
                <a:latin typeface="Meiryo" pitchFamily="34" charset="0"/>
                <a:ea typeface="Meiryo" pitchFamily="34" charset="-122"/>
                <a:cs typeface="Meiryo" pitchFamily="34" charset="-120"/>
              </a:rPr>
              <a:t>ビジョン社の市場売却・重松氏側との同数確保を前提とした再算定</a:t>
            </a:r>
            <a:endParaRPr lang="en-US" sz="1700" dirty="0"/>
          </a:p>
        </p:txBody>
      </p:sp>
      <p:sp>
        <p:nvSpPr>
          <p:cNvPr id="5" name="Text 3"/>
          <p:cNvSpPr txBox="1"/>
          <p:nvPr/>
        </p:nvSpPr>
        <p:spPr>
          <a:xfrm>
            <a:off x="822960" y="3474720"/>
            <a:ext cx="10058400" cy="274320"/>
          </a:xfrm>
          <a:prstGeom prst="rect">
            <a:avLst/>
          </a:prstGeom>
          <a:noFill/>
          <a:ln/>
        </p:spPr>
        <p:txBody>
          <a:bodyPr wrap="square" lIns="0" tIns="0" rIns="0" bIns="0" rtlCol="0" anchor="ctr"/>
          <a:lstStyle/>
          <a:p>
            <a:pPr indent="0" marL="0">
              <a:buNone/>
            </a:pPr>
            <a:r>
              <a:rPr lang="en-US" sz="1300" dirty="0">
                <a:solidFill>
                  <a:srgbClr val="A85C6E"/>
                </a:solidFill>
                <a:latin typeface="Meiryo" pitchFamily="34" charset="0"/>
                <a:ea typeface="Meiryo" pitchFamily="34" charset="-122"/>
                <a:cs typeface="Meiryo" pitchFamily="34" charset="-120"/>
              </a:rPr>
              <a:t>2026年9月24日</a:t>
            </a:r>
            <a:endParaRPr lang="en-US" sz="1300" dirty="0"/>
          </a:p>
        </p:txBody>
      </p:sp>
      <p:sp>
        <p:nvSpPr>
          <p:cNvPr id="6" name="Shape 4"/>
          <p:cNvSpPr/>
          <p:nvPr/>
        </p:nvSpPr>
        <p:spPr>
          <a:xfrm>
            <a:off x="822960" y="3877056"/>
            <a:ext cx="2926080" cy="0"/>
          </a:xfrm>
          <a:prstGeom prst="line">
            <a:avLst/>
          </a:prstGeom>
          <a:noFill/>
          <a:ln w="25400">
            <a:solidFill>
              <a:srgbClr val="6E2639"/>
            </a:solidFill>
            <a:prstDash val="solid"/>
          </a:ln>
        </p:spPr>
      </p:sp>
      <p:sp>
        <p:nvSpPr>
          <p:cNvPr id="7" name="Text 5"/>
          <p:cNvSpPr txBox="1"/>
          <p:nvPr/>
        </p:nvSpPr>
        <p:spPr>
          <a:xfrm>
            <a:off x="822960" y="4187952"/>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ご説明先</a:t>
            </a:r>
            <a:endParaRPr lang="en-US" sz="1000" dirty="0"/>
          </a:p>
        </p:txBody>
      </p:sp>
      <p:sp>
        <p:nvSpPr>
          <p:cNvPr id="8" name="Text 6"/>
          <p:cNvSpPr txBox="1"/>
          <p:nvPr/>
        </p:nvSpPr>
        <p:spPr>
          <a:xfrm>
            <a:off x="2468880" y="4187952"/>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株式会社あどばる 中村 新社長 ／ みずほ銀行 御中</a:t>
            </a:r>
            <a:endParaRPr lang="en-US" sz="1200" dirty="0"/>
          </a:p>
        </p:txBody>
      </p:sp>
      <p:sp>
        <p:nvSpPr>
          <p:cNvPr id="9" name="Text 7"/>
          <p:cNvSpPr txBox="1"/>
          <p:nvPr/>
        </p:nvSpPr>
        <p:spPr>
          <a:xfrm>
            <a:off x="822960" y="4572000"/>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作成</a:t>
            </a:r>
            <a:endParaRPr lang="en-US" sz="1000" dirty="0"/>
          </a:p>
        </p:txBody>
      </p:sp>
      <p:sp>
        <p:nvSpPr>
          <p:cNvPr id="10" name="Text 8"/>
          <p:cNvSpPr txBox="1"/>
          <p:nvPr/>
        </p:nvSpPr>
        <p:spPr>
          <a:xfrm>
            <a:off x="2468880" y="4572000"/>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株式会社あどばる 代表取締役 中野 邦人</a:t>
            </a:r>
            <a:endParaRPr lang="en-US" sz="1200" dirty="0"/>
          </a:p>
        </p:txBody>
      </p:sp>
      <p:sp>
        <p:nvSpPr>
          <p:cNvPr id="11" name="Text 9"/>
          <p:cNvSpPr txBox="1"/>
          <p:nvPr/>
        </p:nvSpPr>
        <p:spPr>
          <a:xfrm>
            <a:off x="822960" y="4956048"/>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基準</a:t>
            </a:r>
            <a:endParaRPr lang="en-US" sz="1000" dirty="0"/>
          </a:p>
        </p:txBody>
      </p:sp>
      <p:sp>
        <p:nvSpPr>
          <p:cNvPr id="12" name="Text 10"/>
          <p:cNvSpPr txBox="1"/>
          <p:nvPr/>
        </p:nvSpPr>
        <p:spPr>
          <a:xfrm>
            <a:off x="2468880" y="4956048"/>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第10期計算書類・会社四季報2026年9月号・株価229円</a:t>
            </a:r>
            <a:endParaRPr lang="en-US" sz="1200" dirty="0"/>
          </a:p>
        </p:txBody>
      </p:sp>
      <p:sp>
        <p:nvSpPr>
          <p:cNvPr id="13" name="Text 11"/>
          <p:cNvSpPr txBox="1"/>
          <p:nvPr/>
        </p:nvSpPr>
        <p:spPr>
          <a:xfrm>
            <a:off x="822960" y="6217920"/>
            <a:ext cx="10515600" cy="274320"/>
          </a:xfrm>
          <a:prstGeom prst="rect">
            <a:avLst/>
          </a:prstGeom>
          <a:noFill/>
          <a:ln/>
        </p:spPr>
        <p:txBody>
          <a:bodyPr wrap="square" lIns="0" tIns="0" rIns="0" bIns="0" rtlCol="0" anchor="ctr"/>
          <a:lstStyle/>
          <a:p>
            <a:pPr indent="0" marL="0">
              <a:buNone/>
            </a:pPr>
            <a:r>
              <a:rPr lang="en-US" sz="900" dirty="0">
                <a:solidFill>
                  <a:srgbClr val="6D7A87"/>
                </a:solidFill>
                <a:latin typeface="Meiryo" pitchFamily="34" charset="0"/>
                <a:ea typeface="Meiryo" pitchFamily="34" charset="-122"/>
                <a:cs typeface="Meiryo" pitchFamily="34" charset="-120"/>
              </a:rPr>
              <a:t>本資料は検討段階の想定値であり、法務・税務・会計上の助言ではありません</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前提</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今回、確定した4つの条件</a:t>
            </a:r>
            <a:endParaRPr lang="en-US" sz="2800" dirty="0"/>
          </a:p>
        </p:txBody>
      </p:sp>
      <p:sp>
        <p:nvSpPr>
          <p:cNvPr id="4" name="Shape 2"/>
          <p:cNvSpPr/>
          <p:nvPr/>
        </p:nvSpPr>
        <p:spPr>
          <a:xfrm>
            <a:off x="640080" y="1517904"/>
            <a:ext cx="5349240" cy="1280160"/>
          </a:xfrm>
          <a:prstGeom prst="roundRect">
            <a:avLst>
              <a:gd name="adj" fmla="val 4286"/>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Text 3"/>
          <p:cNvSpPr txBox="1"/>
          <p:nvPr/>
        </p:nvSpPr>
        <p:spPr>
          <a:xfrm>
            <a:off x="914400" y="1737360"/>
            <a:ext cx="457200" cy="329184"/>
          </a:xfrm>
          <a:prstGeom prst="rect">
            <a:avLst/>
          </a:prstGeom>
          <a:noFill/>
          <a:ln/>
        </p:spPr>
        <p:txBody>
          <a:bodyPr wrap="square" lIns="0" tIns="0" rIns="0" bIns="0" rtlCol="0" anchor="ctr"/>
          <a:lstStyle/>
          <a:p>
            <a:pPr indent="0" marL="0">
              <a:buNone/>
            </a:pPr>
            <a:r>
              <a:rPr lang="en-US" sz="2000" b="1" dirty="0">
                <a:solidFill>
                  <a:srgbClr val="6E2639"/>
                </a:solidFill>
                <a:latin typeface="Meiryo" pitchFamily="34" charset="0"/>
                <a:ea typeface="Meiryo" pitchFamily="34" charset="-122"/>
                <a:cs typeface="Meiryo" pitchFamily="34" charset="-120"/>
              </a:rPr>
              <a:t>①</a:t>
            </a:r>
            <a:endParaRPr lang="en-US" sz="2000" dirty="0"/>
          </a:p>
        </p:txBody>
      </p:sp>
      <p:sp>
        <p:nvSpPr>
          <p:cNvPr id="6" name="Text 4"/>
          <p:cNvSpPr txBox="1"/>
          <p:nvPr/>
        </p:nvSpPr>
        <p:spPr>
          <a:xfrm>
            <a:off x="1463040" y="1773936"/>
            <a:ext cx="4297680" cy="292608"/>
          </a:xfrm>
          <a:prstGeom prst="rect">
            <a:avLst/>
          </a:prstGeom>
          <a:noFill/>
          <a:ln/>
        </p:spPr>
        <p:txBody>
          <a:bodyPr wrap="square" lIns="0" tIns="0" rIns="0" bIns="0" rtlCol="0" anchor="ctr"/>
          <a:lstStyle/>
          <a:p>
            <a:pPr indent="0" marL="0">
              <a:buNone/>
            </a:pPr>
            <a:r>
              <a:rPr lang="en-US" sz="1400" b="1" dirty="0">
                <a:solidFill>
                  <a:srgbClr val="1E2A38"/>
                </a:solidFill>
                <a:latin typeface="Meiryo" pitchFamily="34" charset="0"/>
                <a:ea typeface="Meiryo" pitchFamily="34" charset="-122"/>
                <a:cs typeface="Meiryo" pitchFamily="34" charset="-120"/>
              </a:rPr>
              <a:t>中野はダブルパインズを含めて同数</a:t>
            </a:r>
            <a:endParaRPr lang="en-US" sz="1400" dirty="0"/>
          </a:p>
        </p:txBody>
      </p:sp>
      <p:sp>
        <p:nvSpPr>
          <p:cNvPr id="7" name="Text 5"/>
          <p:cNvSpPr txBox="1"/>
          <p:nvPr/>
        </p:nvSpPr>
        <p:spPr>
          <a:xfrm>
            <a:off x="914400" y="2194560"/>
            <a:ext cx="4800600" cy="475488"/>
          </a:xfrm>
          <a:prstGeom prst="rect">
            <a:avLst/>
          </a:prstGeom>
          <a:noFill/>
          <a:ln/>
        </p:spPr>
        <p:txBody>
          <a:bodyPr wrap="square" lIns="0" tIns="0" rIns="0" bIns="0" rtlCol="0" anchor="ctr"/>
          <a:lstStyle/>
          <a:p>
            <a:pPr indent="0" marL="0">
              <a:lnSpc>
                <a:spcPct val="115000"/>
              </a:lnSpc>
              <a:buNone/>
            </a:pPr>
            <a:r>
              <a:rPr lang="en-US" sz="1050" dirty="0">
                <a:solidFill>
                  <a:srgbClr val="3D4E60"/>
                </a:solidFill>
                <a:latin typeface="Meiryo" pitchFamily="34" charset="0"/>
                <a:ea typeface="Meiryo" pitchFamily="34" charset="-122"/>
                <a:cs typeface="Meiryo" pitchFamily="34" charset="-120"/>
              </a:rPr>
              <a:t>重松氏個人14.77%＋ダブルパインズ8.36%＝23.14%。この水準まで中野が取得する。</a:t>
            </a:r>
            <a:endParaRPr lang="en-US" sz="1050" dirty="0"/>
          </a:p>
        </p:txBody>
      </p:sp>
      <p:sp>
        <p:nvSpPr>
          <p:cNvPr id="8" name="Shape 6"/>
          <p:cNvSpPr/>
          <p:nvPr/>
        </p:nvSpPr>
        <p:spPr>
          <a:xfrm>
            <a:off x="6172200" y="1517904"/>
            <a:ext cx="5349240" cy="1280160"/>
          </a:xfrm>
          <a:prstGeom prst="roundRect">
            <a:avLst>
              <a:gd name="adj" fmla="val 4286"/>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9" name="Text 7"/>
          <p:cNvSpPr txBox="1"/>
          <p:nvPr/>
        </p:nvSpPr>
        <p:spPr>
          <a:xfrm>
            <a:off x="6446520" y="1737360"/>
            <a:ext cx="457200" cy="329184"/>
          </a:xfrm>
          <a:prstGeom prst="rect">
            <a:avLst/>
          </a:prstGeom>
          <a:noFill/>
          <a:ln/>
        </p:spPr>
        <p:txBody>
          <a:bodyPr wrap="square" lIns="0" tIns="0" rIns="0" bIns="0" rtlCol="0" anchor="ctr"/>
          <a:lstStyle/>
          <a:p>
            <a:pPr indent="0" marL="0">
              <a:buNone/>
            </a:pPr>
            <a:r>
              <a:rPr lang="en-US" sz="2000" b="1" dirty="0">
                <a:solidFill>
                  <a:srgbClr val="8F5510"/>
                </a:solidFill>
                <a:latin typeface="Meiryo" pitchFamily="34" charset="0"/>
                <a:ea typeface="Meiryo" pitchFamily="34" charset="-122"/>
                <a:cs typeface="Meiryo" pitchFamily="34" charset="-120"/>
              </a:rPr>
              <a:t>②</a:t>
            </a:r>
            <a:endParaRPr lang="en-US" sz="2000" dirty="0"/>
          </a:p>
        </p:txBody>
      </p:sp>
      <p:sp>
        <p:nvSpPr>
          <p:cNvPr id="10" name="Text 8"/>
          <p:cNvSpPr txBox="1"/>
          <p:nvPr/>
        </p:nvSpPr>
        <p:spPr>
          <a:xfrm>
            <a:off x="6995160" y="1773936"/>
            <a:ext cx="4297680" cy="292608"/>
          </a:xfrm>
          <a:prstGeom prst="rect">
            <a:avLst/>
          </a:prstGeom>
          <a:noFill/>
          <a:ln/>
        </p:spPr>
        <p:txBody>
          <a:bodyPr wrap="square" lIns="0" tIns="0" rIns="0" bIns="0" rtlCol="0" anchor="ctr"/>
          <a:lstStyle/>
          <a:p>
            <a:pPr indent="0" marL="0">
              <a:buNone/>
            </a:pPr>
            <a:r>
              <a:rPr lang="en-US" sz="1400" b="1" dirty="0">
                <a:solidFill>
                  <a:srgbClr val="1E2A38"/>
                </a:solidFill>
                <a:latin typeface="Meiryo" pitchFamily="34" charset="0"/>
                <a:ea typeface="Meiryo" pitchFamily="34" charset="-122"/>
                <a:cs typeface="Meiryo" pitchFamily="34" charset="-120"/>
              </a:rPr>
              <a:t>パートナーは未定</a:t>
            </a:r>
            <a:endParaRPr lang="en-US" sz="1400" dirty="0"/>
          </a:p>
        </p:txBody>
      </p:sp>
      <p:sp>
        <p:nvSpPr>
          <p:cNvPr id="11" name="Text 9"/>
          <p:cNvSpPr txBox="1"/>
          <p:nvPr/>
        </p:nvSpPr>
        <p:spPr>
          <a:xfrm>
            <a:off x="6446520" y="2194560"/>
            <a:ext cx="4800600" cy="475488"/>
          </a:xfrm>
          <a:prstGeom prst="rect">
            <a:avLst/>
          </a:prstGeom>
          <a:noFill/>
          <a:ln/>
        </p:spPr>
        <p:txBody>
          <a:bodyPr wrap="square" lIns="0" tIns="0" rIns="0" bIns="0" rtlCol="0" anchor="ctr"/>
          <a:lstStyle/>
          <a:p>
            <a:pPr indent="0" marL="0">
              <a:lnSpc>
                <a:spcPct val="115000"/>
              </a:lnSpc>
              <a:buNone/>
            </a:pPr>
            <a:r>
              <a:rPr lang="en-US" sz="1050" dirty="0">
                <a:solidFill>
                  <a:srgbClr val="3D4E60"/>
                </a:solidFill>
                <a:latin typeface="Meiryo" pitchFamily="34" charset="0"/>
                <a:ea typeface="Meiryo" pitchFamily="34" charset="-122"/>
                <a:cs typeface="Meiryo" pitchFamily="34" charset="-120"/>
              </a:rPr>
              <a:t>東京建物等の芙蓉グループに可能性はあるが定かではない。合併のほうが成立確度は高い。</a:t>
            </a:r>
            <a:endParaRPr lang="en-US" sz="1050" dirty="0"/>
          </a:p>
        </p:txBody>
      </p:sp>
      <p:sp>
        <p:nvSpPr>
          <p:cNvPr id="12" name="Shape 10"/>
          <p:cNvSpPr/>
          <p:nvPr/>
        </p:nvSpPr>
        <p:spPr>
          <a:xfrm>
            <a:off x="640080" y="2935224"/>
            <a:ext cx="5349240" cy="1280160"/>
          </a:xfrm>
          <a:prstGeom prst="roundRect">
            <a:avLst>
              <a:gd name="adj" fmla="val 4286"/>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3" name="Text 11"/>
          <p:cNvSpPr txBox="1"/>
          <p:nvPr/>
        </p:nvSpPr>
        <p:spPr>
          <a:xfrm>
            <a:off x="914400" y="3154680"/>
            <a:ext cx="457200" cy="329184"/>
          </a:xfrm>
          <a:prstGeom prst="rect">
            <a:avLst/>
          </a:prstGeom>
          <a:noFill/>
          <a:ln/>
        </p:spPr>
        <p:txBody>
          <a:bodyPr wrap="square" lIns="0" tIns="0" rIns="0" bIns="0" rtlCol="0" anchor="ctr"/>
          <a:lstStyle/>
          <a:p>
            <a:pPr indent="0" marL="0">
              <a:buNone/>
            </a:pPr>
            <a:r>
              <a:rPr lang="en-US" sz="2000" b="1" dirty="0">
                <a:solidFill>
                  <a:srgbClr val="2E5C8A"/>
                </a:solidFill>
                <a:latin typeface="Meiryo" pitchFamily="34" charset="0"/>
                <a:ea typeface="Meiryo" pitchFamily="34" charset="-122"/>
                <a:cs typeface="Meiryo" pitchFamily="34" charset="-120"/>
              </a:rPr>
              <a:t>③</a:t>
            </a:r>
            <a:endParaRPr lang="en-US" sz="2000" dirty="0"/>
          </a:p>
        </p:txBody>
      </p:sp>
      <p:sp>
        <p:nvSpPr>
          <p:cNvPr id="14" name="Text 12"/>
          <p:cNvSpPr txBox="1"/>
          <p:nvPr/>
        </p:nvSpPr>
        <p:spPr>
          <a:xfrm>
            <a:off x="1463040" y="3191256"/>
            <a:ext cx="4297680" cy="292608"/>
          </a:xfrm>
          <a:prstGeom prst="rect">
            <a:avLst/>
          </a:prstGeom>
          <a:noFill/>
          <a:ln/>
        </p:spPr>
        <p:txBody>
          <a:bodyPr wrap="square" lIns="0" tIns="0" rIns="0" bIns="0" rtlCol="0" anchor="ctr"/>
          <a:lstStyle/>
          <a:p>
            <a:pPr indent="0" marL="0">
              <a:buNone/>
            </a:pPr>
            <a:r>
              <a:rPr lang="en-US" sz="1400" b="1" dirty="0">
                <a:solidFill>
                  <a:srgbClr val="1E2A38"/>
                </a:solidFill>
                <a:latin typeface="Meiryo" pitchFamily="34" charset="0"/>
                <a:ea typeface="Meiryo" pitchFamily="34" charset="-122"/>
                <a:cs typeface="Meiryo" pitchFamily="34" charset="-120"/>
              </a:rPr>
              <a:t>ビジョン社の株式は市場で売却</a:t>
            </a:r>
            <a:endParaRPr lang="en-US" sz="1400" dirty="0"/>
          </a:p>
        </p:txBody>
      </p:sp>
      <p:sp>
        <p:nvSpPr>
          <p:cNvPr id="15" name="Text 13"/>
          <p:cNvSpPr txBox="1"/>
          <p:nvPr/>
        </p:nvSpPr>
        <p:spPr>
          <a:xfrm>
            <a:off x="914400" y="3611880"/>
            <a:ext cx="4800600" cy="475488"/>
          </a:xfrm>
          <a:prstGeom prst="rect">
            <a:avLst/>
          </a:prstGeom>
          <a:noFill/>
          <a:ln/>
        </p:spPr>
        <p:txBody>
          <a:bodyPr wrap="square" lIns="0" tIns="0" rIns="0" bIns="0" rtlCol="0" anchor="ctr"/>
          <a:lstStyle/>
          <a:p>
            <a:pPr indent="0" marL="0">
              <a:lnSpc>
                <a:spcPct val="115000"/>
              </a:lnSpc>
              <a:buNone/>
            </a:pPr>
            <a:r>
              <a:rPr lang="en-US" sz="1050" dirty="0">
                <a:solidFill>
                  <a:srgbClr val="3D4E60"/>
                </a:solidFill>
                <a:latin typeface="Meiryo" pitchFamily="34" charset="0"/>
                <a:ea typeface="Meiryo" pitchFamily="34" charset="-122"/>
                <a:cs typeface="Meiryo" pitchFamily="34" charset="-120"/>
              </a:rPr>
              <a:t>中野が相対で買い取るのではなく、ビジョン社に市場で売却していただく。</a:t>
            </a:r>
            <a:endParaRPr lang="en-US" sz="1050" dirty="0"/>
          </a:p>
        </p:txBody>
      </p:sp>
      <p:sp>
        <p:nvSpPr>
          <p:cNvPr id="16" name="Shape 14"/>
          <p:cNvSpPr/>
          <p:nvPr/>
        </p:nvSpPr>
        <p:spPr>
          <a:xfrm>
            <a:off x="6172200" y="2935224"/>
            <a:ext cx="5349240" cy="1280160"/>
          </a:xfrm>
          <a:prstGeom prst="roundRect">
            <a:avLst>
              <a:gd name="adj" fmla="val 4286"/>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7" name="Text 15"/>
          <p:cNvSpPr txBox="1"/>
          <p:nvPr/>
        </p:nvSpPr>
        <p:spPr>
          <a:xfrm>
            <a:off x="6446520" y="3154680"/>
            <a:ext cx="457200" cy="329184"/>
          </a:xfrm>
          <a:prstGeom prst="rect">
            <a:avLst/>
          </a:prstGeom>
          <a:noFill/>
          <a:ln/>
        </p:spPr>
        <p:txBody>
          <a:bodyPr wrap="square" lIns="0" tIns="0" rIns="0" bIns="0" rtlCol="0" anchor="ctr"/>
          <a:lstStyle/>
          <a:p>
            <a:pPr indent="0" marL="0">
              <a:buNone/>
            </a:pPr>
            <a:r>
              <a:rPr lang="en-US" sz="2000" b="1" dirty="0">
                <a:solidFill>
                  <a:srgbClr val="2C6A4E"/>
                </a:solidFill>
                <a:latin typeface="Meiryo" pitchFamily="34" charset="0"/>
                <a:ea typeface="Meiryo" pitchFamily="34" charset="-122"/>
                <a:cs typeface="Meiryo" pitchFamily="34" charset="-120"/>
              </a:rPr>
              <a:t>④</a:t>
            </a:r>
            <a:endParaRPr lang="en-US" sz="2000" dirty="0"/>
          </a:p>
        </p:txBody>
      </p:sp>
      <p:sp>
        <p:nvSpPr>
          <p:cNvPr id="18" name="Text 16"/>
          <p:cNvSpPr txBox="1"/>
          <p:nvPr/>
        </p:nvSpPr>
        <p:spPr>
          <a:xfrm>
            <a:off x="6995160" y="3191256"/>
            <a:ext cx="4297680" cy="292608"/>
          </a:xfrm>
          <a:prstGeom prst="rect">
            <a:avLst/>
          </a:prstGeom>
          <a:noFill/>
          <a:ln/>
        </p:spPr>
        <p:txBody>
          <a:bodyPr wrap="square" lIns="0" tIns="0" rIns="0" bIns="0" rtlCol="0" anchor="ctr"/>
          <a:lstStyle/>
          <a:p>
            <a:pPr indent="0" marL="0">
              <a:buNone/>
            </a:pPr>
            <a:r>
              <a:rPr lang="en-US" sz="1400" b="1" dirty="0">
                <a:solidFill>
                  <a:srgbClr val="1E2A38"/>
                </a:solidFill>
                <a:latin typeface="Meiryo" pitchFamily="34" charset="0"/>
                <a:ea typeface="Meiryo" pitchFamily="34" charset="-122"/>
                <a:cs typeface="Meiryo" pitchFamily="34" charset="-120"/>
              </a:rPr>
              <a:t>MBOは50.0%のまま</a:t>
            </a:r>
            <a:endParaRPr lang="en-US" sz="1400" dirty="0"/>
          </a:p>
        </p:txBody>
      </p:sp>
      <p:sp>
        <p:nvSpPr>
          <p:cNvPr id="19" name="Text 17"/>
          <p:cNvSpPr txBox="1"/>
          <p:nvPr/>
        </p:nvSpPr>
        <p:spPr>
          <a:xfrm>
            <a:off x="6446520" y="3611880"/>
            <a:ext cx="4800600" cy="475488"/>
          </a:xfrm>
          <a:prstGeom prst="rect">
            <a:avLst/>
          </a:prstGeom>
          <a:noFill/>
          <a:ln/>
        </p:spPr>
        <p:txBody>
          <a:bodyPr wrap="square" lIns="0" tIns="0" rIns="0" bIns="0" rtlCol="0" anchor="ctr"/>
          <a:lstStyle/>
          <a:p>
            <a:pPr indent="0" marL="0">
              <a:lnSpc>
                <a:spcPct val="115000"/>
              </a:lnSpc>
              <a:buNone/>
            </a:pPr>
            <a:r>
              <a:rPr lang="en-US" sz="1050" dirty="0">
                <a:solidFill>
                  <a:srgbClr val="3D4E60"/>
                </a:solidFill>
                <a:latin typeface="Meiryo" pitchFamily="34" charset="0"/>
                <a:ea typeface="Meiryo" pitchFamily="34" charset="-122"/>
                <a:cs typeface="Meiryo" pitchFamily="34" charset="-120"/>
              </a:rPr>
              <a:t>パートナーと同数でも、登録上は筆頭株主であることに変わりはない。</a:t>
            </a:r>
            <a:endParaRPr lang="en-US" sz="1050" dirty="0"/>
          </a:p>
        </p:txBody>
      </p:sp>
      <p:sp>
        <p:nvSpPr>
          <p:cNvPr id="20" name="Shape 18"/>
          <p:cNvSpPr/>
          <p:nvPr/>
        </p:nvSpPr>
        <p:spPr>
          <a:xfrm>
            <a:off x="640080" y="4434840"/>
            <a:ext cx="10881360" cy="1371600"/>
          </a:xfrm>
          <a:prstGeom prst="roundRect">
            <a:avLst>
              <a:gd name="adj" fmla="val 4000"/>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21" name="Text 19"/>
          <p:cNvSpPr txBox="1"/>
          <p:nvPr/>
        </p:nvSpPr>
        <p:spPr>
          <a:xfrm>
            <a:off x="960120" y="4617720"/>
            <a:ext cx="6400800" cy="292608"/>
          </a:xfrm>
          <a:prstGeom prst="rect">
            <a:avLst/>
          </a:prstGeom>
          <a:noFill/>
          <a:ln/>
        </p:spPr>
        <p:txBody>
          <a:bodyPr wrap="square" lIns="0" tIns="0" rIns="0" bIns="0" rtlCol="0" anchor="ctr"/>
          <a:lstStyle/>
          <a:p>
            <a:pPr indent="0" marL="0">
              <a:buNone/>
            </a:pPr>
            <a:r>
              <a:rPr lang="en-US" sz="1350" b="1" dirty="0">
                <a:solidFill>
                  <a:srgbClr val="6E2639"/>
                </a:solidFill>
                <a:latin typeface="Meiryo" pitchFamily="34" charset="0"/>
                <a:ea typeface="Meiryo" pitchFamily="34" charset="-122"/>
                <a:cs typeface="Meiryo" pitchFamily="34" charset="-120"/>
              </a:rPr>
              <a:t>借入7.90億円の全額返済は、どちらの案でも必要です</a:t>
            </a:r>
            <a:endParaRPr lang="en-US" sz="1350" dirty="0"/>
          </a:p>
        </p:txBody>
      </p:sp>
      <p:sp>
        <p:nvSpPr>
          <p:cNvPr id="22" name="Text 20"/>
          <p:cNvSpPr txBox="1"/>
          <p:nvPr/>
        </p:nvSpPr>
        <p:spPr>
          <a:xfrm>
            <a:off x="960120" y="4956048"/>
            <a:ext cx="10241280" cy="685800"/>
          </a:xfrm>
          <a:prstGeom prst="rect">
            <a:avLst/>
          </a:prstGeom>
          <a:noFill/>
          <a:ln/>
        </p:spPr>
        <p:txBody>
          <a:bodyPr wrap="square" lIns="0" tIns="0" rIns="0" bIns="0" rtlCol="0" anchor="ctr"/>
          <a:lstStyle/>
          <a:p>
            <a:pPr indent="0" marL="0">
              <a:lnSpc>
                <a:spcPct val="120000"/>
              </a:lnSpc>
              <a:buNone/>
            </a:pPr>
            <a:r>
              <a:rPr lang="en-US" sz="1150" dirty="0">
                <a:solidFill>
                  <a:srgbClr val="3D4E60"/>
                </a:solidFill>
                <a:latin typeface="Meiryo" pitchFamily="34" charset="0"/>
                <a:ea typeface="Meiryo" pitchFamily="34" charset="-122"/>
                <a:cs typeface="Meiryo" pitchFamily="34" charset="-120"/>
              </a:rPr>
              <a:t>子会社でなくなる時点で返済義務が生じます。MBOでは増資4.90億＋みずほ様3.00億で返済し、有利子負債は6.07億まで減ります。合併では増資が入らないため7.90億全額をリファイナンスで手当てすることになり、あどばる由来の有利子負債は10.97億のまま残ります。この可否をみずほ様に打診します。</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比較</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中野の必要資金と、到達する持分</a:t>
            </a:r>
            <a:endParaRPr lang="en-US" sz="2800" dirty="0"/>
          </a:p>
        </p:txBody>
      </p:sp>
      <p:sp>
        <p:nvSpPr>
          <p:cNvPr id="4" name="Shape 2"/>
          <p:cNvSpPr/>
          <p:nvPr/>
        </p:nvSpPr>
        <p:spPr>
          <a:xfrm>
            <a:off x="640080" y="1536192"/>
            <a:ext cx="5349240" cy="2651760"/>
          </a:xfrm>
          <a:prstGeom prst="roundRect">
            <a:avLst>
              <a:gd name="adj" fmla="val 2069"/>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5" name="Shape 3"/>
          <p:cNvSpPr/>
          <p:nvPr/>
        </p:nvSpPr>
        <p:spPr>
          <a:xfrm>
            <a:off x="960120" y="1755648"/>
            <a:ext cx="658368" cy="310896"/>
          </a:xfrm>
          <a:prstGeom prst="roundRect">
            <a:avLst>
              <a:gd name="adj" fmla="val 50000"/>
            </a:avLst>
          </a:prstGeom>
          <a:solidFill>
            <a:srgbClr val="6E2639"/>
          </a:solidFill>
          <a:ln/>
        </p:spPr>
      </p:sp>
      <p:sp>
        <p:nvSpPr>
          <p:cNvPr id="6" name="Text 4"/>
          <p:cNvSpPr txBox="1"/>
          <p:nvPr/>
        </p:nvSpPr>
        <p:spPr>
          <a:xfrm>
            <a:off x="960120" y="1755648"/>
            <a:ext cx="658368"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A</a:t>
            </a:r>
            <a:endParaRPr lang="en-US" sz="1150" dirty="0"/>
          </a:p>
        </p:txBody>
      </p:sp>
      <p:sp>
        <p:nvSpPr>
          <p:cNvPr id="7" name="Text 5"/>
          <p:cNvSpPr txBox="1"/>
          <p:nvPr/>
        </p:nvSpPr>
        <p:spPr>
          <a:xfrm>
            <a:off x="1783080" y="1755648"/>
            <a:ext cx="3931920" cy="310896"/>
          </a:xfrm>
          <a:prstGeom prst="rect">
            <a:avLst/>
          </a:prstGeom>
          <a:noFill/>
          <a:ln/>
        </p:spPr>
        <p:txBody>
          <a:bodyPr wrap="square" lIns="0" tIns="0" rIns="0" bIns="0" rtlCol="0" anchor="ctr"/>
          <a:lstStyle/>
          <a:p>
            <a:pPr indent="0" marL="0">
              <a:buNone/>
            </a:pPr>
            <a:r>
              <a:rPr lang="en-US" sz="1400" b="1" dirty="0">
                <a:solidFill>
                  <a:srgbClr val="1E2A38"/>
                </a:solidFill>
                <a:latin typeface="Meiryo" pitchFamily="34" charset="0"/>
                <a:ea typeface="Meiryo" pitchFamily="34" charset="-122"/>
                <a:cs typeface="Meiryo" pitchFamily="34" charset="-120"/>
              </a:rPr>
              <a:t>MBO（非上場で独立）</a:t>
            </a:r>
            <a:endParaRPr lang="en-US" sz="1400" dirty="0"/>
          </a:p>
        </p:txBody>
      </p:sp>
      <p:sp>
        <p:nvSpPr>
          <p:cNvPr id="8" name="Text 6"/>
          <p:cNvSpPr txBox="1"/>
          <p:nvPr/>
        </p:nvSpPr>
        <p:spPr>
          <a:xfrm>
            <a:off x="960120" y="2286000"/>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中野の必要資金</a:t>
            </a:r>
            <a:endParaRPr lang="en-US" sz="1000" dirty="0"/>
          </a:p>
        </p:txBody>
      </p:sp>
      <p:sp>
        <p:nvSpPr>
          <p:cNvPr id="9" name="Text 7"/>
          <p:cNvSpPr txBox="1"/>
          <p:nvPr/>
        </p:nvSpPr>
        <p:spPr>
          <a:xfrm>
            <a:off x="960120" y="2505456"/>
            <a:ext cx="2377440" cy="640080"/>
          </a:xfrm>
          <a:prstGeom prst="rect">
            <a:avLst/>
          </a:prstGeom>
          <a:noFill/>
          <a:ln/>
        </p:spPr>
        <p:txBody>
          <a:bodyPr wrap="square" lIns="0" tIns="0" rIns="0" bIns="0" rtlCol="0" anchor="ctr"/>
          <a:lstStyle/>
          <a:p>
            <a:pPr indent="0" marL="0">
              <a:buNone/>
            </a:pPr>
            <a:r>
              <a:rPr lang="en-US" sz="3800" b="1" dirty="0">
                <a:solidFill>
                  <a:srgbClr val="6E2639"/>
                </a:solidFill>
                <a:latin typeface="Meiryo" pitchFamily="34" charset="0"/>
                <a:ea typeface="Meiryo" pitchFamily="34" charset="-122"/>
                <a:cs typeface="Meiryo" pitchFamily="34" charset="-120"/>
              </a:rPr>
              <a:t>6.10</a:t>
            </a:r>
            <a:pPr indent="0" marL="0">
              <a:buNone/>
            </a:pPr>
            <a:r>
              <a:rPr lang="en-US" sz="1500" b="1" dirty="0">
                <a:solidFill>
                  <a:srgbClr val="6E2639"/>
                </a:solidFill>
                <a:latin typeface="Meiryo" pitchFamily="34" charset="0"/>
                <a:ea typeface="Meiryo" pitchFamily="34" charset="-122"/>
                <a:cs typeface="Meiryo" pitchFamily="34" charset="-120"/>
              </a:rPr>
              <a:t>億円</a:t>
            </a:r>
            <a:endParaRPr lang="en-US" sz="3800" dirty="0"/>
          </a:p>
        </p:txBody>
      </p:sp>
      <p:sp>
        <p:nvSpPr>
          <p:cNvPr id="10" name="Text 8"/>
          <p:cNvSpPr txBox="1"/>
          <p:nvPr/>
        </p:nvSpPr>
        <p:spPr>
          <a:xfrm>
            <a:off x="3657600" y="2286000"/>
            <a:ext cx="201168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到達する持分</a:t>
            </a:r>
            <a:endParaRPr lang="en-US" sz="1000" dirty="0"/>
          </a:p>
        </p:txBody>
      </p:sp>
      <p:sp>
        <p:nvSpPr>
          <p:cNvPr id="11" name="Text 9"/>
          <p:cNvSpPr txBox="1"/>
          <p:nvPr/>
        </p:nvSpPr>
        <p:spPr>
          <a:xfrm>
            <a:off x="3657600" y="2523744"/>
            <a:ext cx="2011680" cy="457200"/>
          </a:xfrm>
          <a:prstGeom prst="rect">
            <a:avLst/>
          </a:prstGeom>
          <a:noFill/>
          <a:ln/>
        </p:spPr>
        <p:txBody>
          <a:bodyPr wrap="square" lIns="0" tIns="0" rIns="0" bIns="0" rtlCol="0" anchor="ctr"/>
          <a:lstStyle/>
          <a:p>
            <a:pPr indent="0" marL="0">
              <a:buNone/>
            </a:pPr>
            <a:r>
              <a:rPr lang="en-US" sz="2600" b="1" dirty="0">
                <a:solidFill>
                  <a:srgbClr val="6E2639"/>
                </a:solidFill>
                <a:latin typeface="Meiryo" pitchFamily="34" charset="0"/>
                <a:ea typeface="Meiryo" pitchFamily="34" charset="-122"/>
                <a:cs typeface="Meiryo" pitchFamily="34" charset="-120"/>
              </a:rPr>
              <a:t>50.000%</a:t>
            </a:r>
            <a:endParaRPr lang="en-US" sz="2600" dirty="0"/>
          </a:p>
        </p:txBody>
      </p:sp>
      <p:sp>
        <p:nvSpPr>
          <p:cNvPr id="12" name="Text 10"/>
          <p:cNvSpPr txBox="1"/>
          <p:nvPr/>
        </p:nvSpPr>
        <p:spPr>
          <a:xfrm>
            <a:off x="960120" y="3200400"/>
            <a:ext cx="4709160" cy="256032"/>
          </a:xfrm>
          <a:prstGeom prst="rect">
            <a:avLst/>
          </a:prstGeom>
          <a:noFill/>
          <a:ln/>
        </p:spPr>
        <p:txBody>
          <a:bodyPr wrap="square" lIns="0" tIns="0" rIns="0" bIns="0" rtlCol="0" anchor="ctr"/>
          <a:lstStyle/>
          <a:p>
            <a:pPr indent="0" marL="0">
              <a:buNone/>
            </a:pPr>
            <a:r>
              <a:rPr lang="en-US" sz="1100" b="1" dirty="0">
                <a:solidFill>
                  <a:srgbClr val="1E2A38"/>
                </a:solidFill>
                <a:latin typeface="Meiryo" pitchFamily="34" charset="0"/>
                <a:ea typeface="Meiryo" pitchFamily="34" charset="-122"/>
                <a:cs typeface="Meiryo" pitchFamily="34" charset="-120"/>
              </a:rPr>
              <a:t>中野陣営＝パートナーと同数</a:t>
            </a:r>
            <a:endParaRPr lang="en-US" sz="1100" dirty="0"/>
          </a:p>
        </p:txBody>
      </p:sp>
      <p:sp>
        <p:nvSpPr>
          <p:cNvPr id="13" name="Text 11"/>
          <p:cNvSpPr txBox="1"/>
          <p:nvPr/>
        </p:nvSpPr>
        <p:spPr>
          <a:xfrm>
            <a:off x="960120" y="3529584"/>
            <a:ext cx="470916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同時に必要な他者の資金</a:t>
            </a:r>
            <a:endParaRPr lang="en-US" sz="1000" dirty="0"/>
          </a:p>
        </p:txBody>
      </p:sp>
      <p:sp>
        <p:nvSpPr>
          <p:cNvPr id="14" name="Text 12"/>
          <p:cNvSpPr txBox="1"/>
          <p:nvPr/>
        </p:nvSpPr>
        <p:spPr>
          <a:xfrm>
            <a:off x="960120" y="3767328"/>
            <a:ext cx="4709160" cy="237744"/>
          </a:xfrm>
          <a:prstGeom prst="rect">
            <a:avLst/>
          </a:prstGeom>
          <a:noFill/>
          <a:ln/>
        </p:spPr>
        <p:txBody>
          <a:bodyPr wrap="square" lIns="0" tIns="0" rIns="0" bIns="0" rtlCol="0" anchor="ctr"/>
          <a:lstStyle/>
          <a:p>
            <a:pPr indent="0" marL="0">
              <a:buNone/>
            </a:pPr>
            <a:r>
              <a:rPr lang="en-US" sz="1100" dirty="0">
                <a:solidFill>
                  <a:srgbClr val="3D4E60"/>
                </a:solidFill>
                <a:latin typeface="Meiryo" pitchFamily="34" charset="0"/>
                <a:ea typeface="Meiryo" pitchFamily="34" charset="-122"/>
                <a:cs typeface="Meiryo" pitchFamily="34" charset="-120"/>
              </a:rPr>
              <a:t>・パートナー 13.47億円</a:t>
            </a:r>
            <a:endParaRPr lang="en-US" sz="1100" dirty="0"/>
          </a:p>
        </p:txBody>
      </p:sp>
      <p:sp>
        <p:nvSpPr>
          <p:cNvPr id="15" name="Text 13"/>
          <p:cNvSpPr txBox="1"/>
          <p:nvPr/>
        </p:nvSpPr>
        <p:spPr>
          <a:xfrm>
            <a:off x="960120" y="3986784"/>
            <a:ext cx="4709160" cy="237744"/>
          </a:xfrm>
          <a:prstGeom prst="rect">
            <a:avLst/>
          </a:prstGeom>
          <a:noFill/>
          <a:ln/>
        </p:spPr>
        <p:txBody>
          <a:bodyPr wrap="square" lIns="0" tIns="0" rIns="0" bIns="0" rtlCol="0" anchor="ctr"/>
          <a:lstStyle/>
          <a:p>
            <a:pPr indent="0" marL="0">
              <a:buNone/>
            </a:pPr>
            <a:r>
              <a:rPr lang="en-US" sz="1100" dirty="0">
                <a:solidFill>
                  <a:srgbClr val="3D4E60"/>
                </a:solidFill>
                <a:latin typeface="Meiryo" pitchFamily="34" charset="0"/>
                <a:ea typeface="Meiryo" pitchFamily="34" charset="-122"/>
                <a:cs typeface="Meiryo" pitchFamily="34" charset="-120"/>
              </a:rPr>
              <a:t>・みずほ様 3.00億円（リファイ）</a:t>
            </a:r>
            <a:endParaRPr lang="en-US" sz="1100" dirty="0"/>
          </a:p>
        </p:txBody>
      </p:sp>
      <p:sp>
        <p:nvSpPr>
          <p:cNvPr id="16" name="Shape 14"/>
          <p:cNvSpPr/>
          <p:nvPr/>
        </p:nvSpPr>
        <p:spPr>
          <a:xfrm>
            <a:off x="6172200" y="1536192"/>
            <a:ext cx="5349240" cy="2651760"/>
          </a:xfrm>
          <a:prstGeom prst="roundRect">
            <a:avLst>
              <a:gd name="adj" fmla="val 2069"/>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7" name="Shape 15"/>
          <p:cNvSpPr/>
          <p:nvPr/>
        </p:nvSpPr>
        <p:spPr>
          <a:xfrm>
            <a:off x="6492240" y="1755648"/>
            <a:ext cx="658368" cy="310896"/>
          </a:xfrm>
          <a:prstGeom prst="roundRect">
            <a:avLst>
              <a:gd name="adj" fmla="val 50000"/>
            </a:avLst>
          </a:prstGeom>
          <a:solidFill>
            <a:srgbClr val="2E5C8A"/>
          </a:solidFill>
          <a:ln/>
        </p:spPr>
      </p:sp>
      <p:sp>
        <p:nvSpPr>
          <p:cNvPr id="18" name="Text 16"/>
          <p:cNvSpPr txBox="1"/>
          <p:nvPr/>
        </p:nvSpPr>
        <p:spPr>
          <a:xfrm>
            <a:off x="6492240" y="1755648"/>
            <a:ext cx="658368"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B</a:t>
            </a:r>
            <a:endParaRPr lang="en-US" sz="1150" dirty="0"/>
          </a:p>
        </p:txBody>
      </p:sp>
      <p:sp>
        <p:nvSpPr>
          <p:cNvPr id="19" name="Text 17"/>
          <p:cNvSpPr txBox="1"/>
          <p:nvPr/>
        </p:nvSpPr>
        <p:spPr>
          <a:xfrm>
            <a:off x="7315200" y="1755648"/>
            <a:ext cx="3931920" cy="310896"/>
          </a:xfrm>
          <a:prstGeom prst="rect">
            <a:avLst/>
          </a:prstGeom>
          <a:noFill/>
          <a:ln/>
        </p:spPr>
        <p:txBody>
          <a:bodyPr wrap="square" lIns="0" tIns="0" rIns="0" bIns="0" rtlCol="0" anchor="ctr"/>
          <a:lstStyle/>
          <a:p>
            <a:pPr indent="0" marL="0">
              <a:buNone/>
            </a:pPr>
            <a:r>
              <a:rPr lang="en-US" sz="1400" b="1" dirty="0">
                <a:solidFill>
                  <a:srgbClr val="1E2A38"/>
                </a:solidFill>
                <a:latin typeface="Meiryo" pitchFamily="34" charset="0"/>
                <a:ea typeface="Meiryo" pitchFamily="34" charset="-122"/>
                <a:cs typeface="Meiryo" pitchFamily="34" charset="-120"/>
              </a:rPr>
              <a:t>合併（ビジョン株は市場売却）</a:t>
            </a:r>
            <a:endParaRPr lang="en-US" sz="1400" dirty="0"/>
          </a:p>
        </p:txBody>
      </p:sp>
      <p:sp>
        <p:nvSpPr>
          <p:cNvPr id="20" name="Text 18"/>
          <p:cNvSpPr txBox="1"/>
          <p:nvPr/>
        </p:nvSpPr>
        <p:spPr>
          <a:xfrm>
            <a:off x="6492240" y="2286000"/>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中野の必要資金</a:t>
            </a:r>
            <a:endParaRPr lang="en-US" sz="1000" dirty="0"/>
          </a:p>
        </p:txBody>
      </p:sp>
      <p:sp>
        <p:nvSpPr>
          <p:cNvPr id="21" name="Text 19"/>
          <p:cNvSpPr txBox="1"/>
          <p:nvPr/>
        </p:nvSpPr>
        <p:spPr>
          <a:xfrm>
            <a:off x="6492240" y="2505456"/>
            <a:ext cx="2377440" cy="640080"/>
          </a:xfrm>
          <a:prstGeom prst="rect">
            <a:avLst/>
          </a:prstGeom>
          <a:noFill/>
          <a:ln/>
        </p:spPr>
        <p:txBody>
          <a:bodyPr wrap="square" lIns="0" tIns="0" rIns="0" bIns="0" rtlCol="0" anchor="ctr"/>
          <a:lstStyle/>
          <a:p>
            <a:pPr indent="0" marL="0">
              <a:buNone/>
            </a:pPr>
            <a:r>
              <a:rPr lang="en-US" sz="3800" b="1" dirty="0">
                <a:solidFill>
                  <a:srgbClr val="2E5C8A"/>
                </a:solidFill>
                <a:latin typeface="Meiryo" pitchFamily="34" charset="0"/>
                <a:ea typeface="Meiryo" pitchFamily="34" charset="-122"/>
                <a:cs typeface="Meiryo" pitchFamily="34" charset="-120"/>
              </a:rPr>
              <a:t>3.97</a:t>
            </a:r>
            <a:pPr indent="0" marL="0">
              <a:buNone/>
            </a:pPr>
            <a:r>
              <a:rPr lang="en-US" sz="1500" b="1" dirty="0">
                <a:solidFill>
                  <a:srgbClr val="2E5C8A"/>
                </a:solidFill>
                <a:latin typeface="Meiryo" pitchFamily="34" charset="0"/>
                <a:ea typeface="Meiryo" pitchFamily="34" charset="-122"/>
                <a:cs typeface="Meiryo" pitchFamily="34" charset="-120"/>
              </a:rPr>
              <a:t>億円</a:t>
            </a:r>
            <a:endParaRPr lang="en-US" sz="3800" dirty="0"/>
          </a:p>
        </p:txBody>
      </p:sp>
      <p:sp>
        <p:nvSpPr>
          <p:cNvPr id="22" name="Text 20"/>
          <p:cNvSpPr txBox="1"/>
          <p:nvPr/>
        </p:nvSpPr>
        <p:spPr>
          <a:xfrm>
            <a:off x="9189720" y="2286000"/>
            <a:ext cx="201168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到達する持分</a:t>
            </a:r>
            <a:endParaRPr lang="en-US" sz="1000" dirty="0"/>
          </a:p>
        </p:txBody>
      </p:sp>
      <p:sp>
        <p:nvSpPr>
          <p:cNvPr id="23" name="Text 21"/>
          <p:cNvSpPr txBox="1"/>
          <p:nvPr/>
        </p:nvSpPr>
        <p:spPr>
          <a:xfrm>
            <a:off x="9189720" y="2523744"/>
            <a:ext cx="2011680" cy="457200"/>
          </a:xfrm>
          <a:prstGeom prst="rect">
            <a:avLst/>
          </a:prstGeom>
          <a:noFill/>
          <a:ln/>
        </p:spPr>
        <p:txBody>
          <a:bodyPr wrap="square" lIns="0" tIns="0" rIns="0" bIns="0" rtlCol="0" anchor="ctr"/>
          <a:lstStyle/>
          <a:p>
            <a:pPr indent="0" marL="0">
              <a:buNone/>
            </a:pPr>
            <a:r>
              <a:rPr lang="en-US" sz="2600" b="1" dirty="0">
                <a:solidFill>
                  <a:srgbClr val="2E5C8A"/>
                </a:solidFill>
                <a:latin typeface="Meiryo" pitchFamily="34" charset="0"/>
                <a:ea typeface="Meiryo" pitchFamily="34" charset="-122"/>
                <a:cs typeface="Meiryo" pitchFamily="34" charset="-120"/>
              </a:rPr>
              <a:t>23.14%</a:t>
            </a:r>
            <a:endParaRPr lang="en-US" sz="2600" dirty="0"/>
          </a:p>
        </p:txBody>
      </p:sp>
      <p:sp>
        <p:nvSpPr>
          <p:cNvPr id="24" name="Text 22"/>
          <p:cNvSpPr txBox="1"/>
          <p:nvPr/>
        </p:nvSpPr>
        <p:spPr>
          <a:xfrm>
            <a:off x="6492240" y="3200400"/>
            <a:ext cx="4709160" cy="256032"/>
          </a:xfrm>
          <a:prstGeom prst="rect">
            <a:avLst/>
          </a:prstGeom>
          <a:noFill/>
          <a:ln/>
        </p:spPr>
        <p:txBody>
          <a:bodyPr wrap="square" lIns="0" tIns="0" rIns="0" bIns="0" rtlCol="0" anchor="ctr"/>
          <a:lstStyle/>
          <a:p>
            <a:pPr indent="0" marL="0">
              <a:buNone/>
            </a:pPr>
            <a:r>
              <a:rPr lang="en-US" sz="1100" b="1" dirty="0">
                <a:solidFill>
                  <a:srgbClr val="1E2A38"/>
                </a:solidFill>
                <a:latin typeface="Meiryo" pitchFamily="34" charset="0"/>
                <a:ea typeface="Meiryo" pitchFamily="34" charset="-122"/>
                <a:cs typeface="Meiryo" pitchFamily="34" charset="-120"/>
              </a:rPr>
              <a:t>重松氏側と同数・登録上の筆頭</a:t>
            </a:r>
            <a:endParaRPr lang="en-US" sz="1100" dirty="0"/>
          </a:p>
        </p:txBody>
      </p:sp>
      <p:sp>
        <p:nvSpPr>
          <p:cNvPr id="25" name="Text 23"/>
          <p:cNvSpPr txBox="1"/>
          <p:nvPr/>
        </p:nvSpPr>
        <p:spPr>
          <a:xfrm>
            <a:off x="6492240" y="3529584"/>
            <a:ext cx="470916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同時に必要な他者の資金</a:t>
            </a:r>
            <a:endParaRPr lang="en-US" sz="1000" dirty="0"/>
          </a:p>
        </p:txBody>
      </p:sp>
      <p:sp>
        <p:nvSpPr>
          <p:cNvPr id="26" name="Text 24"/>
          <p:cNvSpPr txBox="1"/>
          <p:nvPr/>
        </p:nvSpPr>
        <p:spPr>
          <a:xfrm>
            <a:off x="6492240" y="3767328"/>
            <a:ext cx="4709160" cy="237744"/>
          </a:xfrm>
          <a:prstGeom prst="rect">
            <a:avLst/>
          </a:prstGeom>
          <a:noFill/>
          <a:ln/>
        </p:spPr>
        <p:txBody>
          <a:bodyPr wrap="square" lIns="0" tIns="0" rIns="0" bIns="0" rtlCol="0" anchor="ctr"/>
          <a:lstStyle/>
          <a:p>
            <a:pPr indent="0" marL="0">
              <a:buNone/>
            </a:pPr>
            <a:r>
              <a:rPr lang="en-US" sz="1100" dirty="0">
                <a:solidFill>
                  <a:srgbClr val="3D4E60"/>
                </a:solidFill>
                <a:latin typeface="Meiryo" pitchFamily="34" charset="0"/>
                <a:ea typeface="Meiryo" pitchFamily="34" charset="-122"/>
                <a:cs typeface="Meiryo" pitchFamily="34" charset="-120"/>
              </a:rPr>
              <a:t>・市場（売出し）4.45億円</a:t>
            </a:r>
            <a:endParaRPr lang="en-US" sz="1100" dirty="0"/>
          </a:p>
        </p:txBody>
      </p:sp>
      <p:sp>
        <p:nvSpPr>
          <p:cNvPr id="27" name="Text 25"/>
          <p:cNvSpPr txBox="1"/>
          <p:nvPr/>
        </p:nvSpPr>
        <p:spPr>
          <a:xfrm>
            <a:off x="6492240" y="3986784"/>
            <a:ext cx="4709160" cy="237744"/>
          </a:xfrm>
          <a:prstGeom prst="rect">
            <a:avLst/>
          </a:prstGeom>
          <a:noFill/>
          <a:ln/>
        </p:spPr>
        <p:txBody>
          <a:bodyPr wrap="square" lIns="0" tIns="0" rIns="0" bIns="0" rtlCol="0" anchor="ctr"/>
          <a:lstStyle/>
          <a:p>
            <a:pPr indent="0" marL="0">
              <a:buNone/>
            </a:pPr>
            <a:r>
              <a:rPr lang="en-US" sz="1100" dirty="0">
                <a:solidFill>
                  <a:srgbClr val="3D4E60"/>
                </a:solidFill>
                <a:latin typeface="Meiryo" pitchFamily="34" charset="0"/>
                <a:ea typeface="Meiryo" pitchFamily="34" charset="-122"/>
                <a:cs typeface="Meiryo" pitchFamily="34" charset="-120"/>
              </a:rPr>
              <a:t>・みずほ様 7.90億円（リファイ）</a:t>
            </a:r>
            <a:endParaRPr lang="en-US" sz="1100" dirty="0"/>
          </a:p>
        </p:txBody>
      </p:sp>
      <p:sp>
        <p:nvSpPr>
          <p:cNvPr id="28" name="Shape 26"/>
          <p:cNvSpPr/>
          <p:nvPr/>
        </p:nvSpPr>
        <p:spPr>
          <a:xfrm>
            <a:off x="640080" y="4407408"/>
            <a:ext cx="10881360" cy="1463040"/>
          </a:xfrm>
          <a:prstGeom prst="roundRect">
            <a:avLst>
              <a:gd name="adj" fmla="val 3750"/>
            </a:avLst>
          </a:prstGeom>
          <a:solidFill>
            <a:srgbClr val="F0F4F1"/>
          </a:solidFill>
          <a:ln w="12700">
            <a:solidFill>
              <a:srgbClr val="C9DCD1"/>
            </a:solidFill>
            <a:prstDash val="solid"/>
          </a:ln>
          <a:effectLst>
            <a:outerShdw sx="100000" sy="100000" kx="0" ky="0" algn="bl" rotWithShape="0" blurRad="101600" dist="12700" dir="5400000">
              <a:srgbClr val="AAB4BE">
                <a:alpha val="18000"/>
              </a:srgbClr>
            </a:outerShdw>
          </a:effectLst>
        </p:spPr>
      </p:sp>
      <p:sp>
        <p:nvSpPr>
          <p:cNvPr id="29" name="Text 27"/>
          <p:cNvSpPr txBox="1"/>
          <p:nvPr/>
        </p:nvSpPr>
        <p:spPr>
          <a:xfrm>
            <a:off x="960120" y="4590288"/>
            <a:ext cx="6400800" cy="292608"/>
          </a:xfrm>
          <a:prstGeom prst="rect">
            <a:avLst/>
          </a:prstGeom>
          <a:noFill/>
          <a:ln/>
        </p:spPr>
        <p:txBody>
          <a:bodyPr wrap="square" lIns="0" tIns="0" rIns="0" bIns="0" rtlCol="0" anchor="ctr"/>
          <a:lstStyle/>
          <a:p>
            <a:pPr indent="0" marL="0">
              <a:buNone/>
            </a:pPr>
            <a:r>
              <a:rPr lang="en-US" sz="1350" b="1" dirty="0">
                <a:solidFill>
                  <a:srgbClr val="2C6A4E"/>
                </a:solidFill>
                <a:latin typeface="Meiryo" pitchFamily="34" charset="0"/>
                <a:ea typeface="Meiryo" pitchFamily="34" charset="-122"/>
                <a:cs typeface="Meiryo" pitchFamily="34" charset="-120"/>
              </a:rPr>
              <a:t>中野の持ち出しは、合併のほうが2.13億円少なくて済みます</a:t>
            </a:r>
            <a:endParaRPr lang="en-US" sz="1350" dirty="0"/>
          </a:p>
        </p:txBody>
      </p:sp>
      <p:sp>
        <p:nvSpPr>
          <p:cNvPr id="30" name="Text 28"/>
          <p:cNvSpPr txBox="1"/>
          <p:nvPr/>
        </p:nvSpPr>
        <p:spPr>
          <a:xfrm>
            <a:off x="960120" y="4937760"/>
            <a:ext cx="10241280" cy="777240"/>
          </a:xfrm>
          <a:prstGeom prst="rect">
            <a:avLst/>
          </a:prstGeom>
          <a:noFill/>
          <a:ln/>
        </p:spPr>
        <p:txBody>
          <a:bodyPr wrap="square" lIns="0" tIns="0" rIns="0" bIns="0" rtlCol="0" anchor="ctr"/>
          <a:lstStyle/>
          <a:p>
            <a:pPr indent="0" marL="0">
              <a:lnSpc>
                <a:spcPct val="120000"/>
              </a:lnSpc>
              <a:buNone/>
            </a:pPr>
            <a:r>
              <a:rPr lang="en-US" sz="1150" dirty="0">
                <a:solidFill>
                  <a:srgbClr val="3D4E60"/>
                </a:solidFill>
                <a:latin typeface="Meiryo" pitchFamily="34" charset="0"/>
                <a:ea typeface="Meiryo" pitchFamily="34" charset="-122"/>
                <a:cs typeface="Meiryo" pitchFamily="34" charset="-120"/>
              </a:rPr>
              <a:t>ただし手に入るものが違います。6.10億で買えるのは過半数の支配権、3.97億で買えるのは重松氏側と並ぶ23.14%です。合併では意思決定は引き続き重松氏との合意に依存します。</a:t>
            </a:r>
            <a:endParaRPr lang="en-US" sz="1150" dirty="0"/>
          </a:p>
          <a:p>
            <a:pPr indent="0" marL="0">
              <a:lnSpc>
                <a:spcPct val="120000"/>
              </a:lnSpc>
              <a:buNone/>
            </a:pPr>
            <a:r>
              <a:rPr lang="en-US" sz="1150" dirty="0">
                <a:solidFill>
                  <a:srgbClr val="3D4E60"/>
                </a:solidFill>
                <a:latin typeface="Meiryo" pitchFamily="34" charset="0"/>
                <a:ea typeface="Meiryo" pitchFamily="34" charset="-122"/>
                <a:cs typeface="Meiryo" pitchFamily="34" charset="-120"/>
              </a:rPr>
              <a:t>一方で合併は第三者のエクイティを必要としないため、パートナーが立たなくても成立します。</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A85C6E"/>
                </a:solidFill>
                <a:latin typeface="Meiryo" pitchFamily="34" charset="0"/>
                <a:ea typeface="Meiryo" pitchFamily="34" charset="-122"/>
                <a:cs typeface="Meiryo" pitchFamily="34" charset="-120"/>
              </a:rPr>
              <a:t>B案の要</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ビジョン株 8.43億円を、誰が引き取るか</a:t>
            </a:r>
            <a:endParaRPr lang="en-US" sz="2800" dirty="0"/>
          </a:p>
        </p:txBody>
      </p:sp>
      <p:sp>
        <p:nvSpPr>
          <p:cNvPr id="4" name="Shape 2"/>
          <p:cNvSpPr/>
          <p:nvPr/>
        </p:nvSpPr>
        <p:spPr>
          <a:xfrm>
            <a:off x="640080" y="1645920"/>
            <a:ext cx="10881360" cy="960120"/>
          </a:xfrm>
          <a:prstGeom prst="roundRect">
            <a:avLst>
              <a:gd name="adj" fmla="val 5714"/>
            </a:avLst>
          </a:prstGeom>
          <a:solidFill>
            <a:srgbClr val="26333F"/>
          </a:solidFill>
          <a:ln w="12700">
            <a:solidFill>
              <a:srgbClr val="3A4854"/>
            </a:solidFill>
            <a:prstDash val="solid"/>
          </a:ln>
        </p:spPr>
      </p:sp>
      <p:sp>
        <p:nvSpPr>
          <p:cNvPr id="5" name="Text 3"/>
          <p:cNvSpPr txBox="1"/>
          <p:nvPr/>
        </p:nvSpPr>
        <p:spPr>
          <a:xfrm>
            <a:off x="960120" y="1874520"/>
            <a:ext cx="6858000" cy="320040"/>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ビジョン社の持分 3,680,307株（18.43%）＝ 8.43億円</a:t>
            </a:r>
            <a:endParaRPr lang="en-US" sz="1700" dirty="0"/>
          </a:p>
        </p:txBody>
      </p:sp>
      <p:sp>
        <p:nvSpPr>
          <p:cNvPr id="6" name="Text 4"/>
          <p:cNvSpPr txBox="1"/>
          <p:nvPr/>
        </p:nvSpPr>
        <p:spPr>
          <a:xfrm>
            <a:off x="960120" y="2212848"/>
            <a:ext cx="6858000" cy="274320"/>
          </a:xfrm>
          <a:prstGeom prst="rect">
            <a:avLst/>
          </a:prstGeom>
          <a:noFill/>
          <a:ln/>
        </p:spPr>
        <p:txBody>
          <a:bodyPr wrap="square" lIns="0" tIns="0" rIns="0" bIns="0" rtlCol="0" anchor="ctr"/>
          <a:lstStyle/>
          <a:p>
            <a:pPr indent="0" marL="0">
              <a:buNone/>
            </a:pPr>
            <a:r>
              <a:rPr lang="en-US" sz="1150" dirty="0">
                <a:solidFill>
                  <a:srgbClr val="A8B5C0"/>
                </a:solidFill>
                <a:latin typeface="Meiryo" pitchFamily="34" charset="0"/>
                <a:ea typeface="Meiryo" pitchFamily="34" charset="-122"/>
                <a:cs typeface="Meiryo" pitchFamily="34" charset="-120"/>
              </a:rPr>
              <a:t>これを市場で売却していただく</a:t>
            </a:r>
            <a:endParaRPr lang="en-US" sz="1150" dirty="0"/>
          </a:p>
        </p:txBody>
      </p:sp>
      <p:sp>
        <p:nvSpPr>
          <p:cNvPr id="7" name="Text 5"/>
          <p:cNvSpPr txBox="1"/>
          <p:nvPr/>
        </p:nvSpPr>
        <p:spPr>
          <a:xfrm>
            <a:off x="8503920" y="1938528"/>
            <a:ext cx="2743200" cy="365760"/>
          </a:xfrm>
          <a:prstGeom prst="rect">
            <a:avLst/>
          </a:prstGeom>
          <a:noFill/>
          <a:ln/>
        </p:spPr>
        <p:txBody>
          <a:bodyPr wrap="square" lIns="0" tIns="0" rIns="0" bIns="0" rtlCol="0" anchor="ctr"/>
          <a:lstStyle/>
          <a:p>
            <a:pPr algn="r" indent="0" marL="0">
              <a:buNone/>
            </a:pPr>
            <a:r>
              <a:rPr lang="en-US" sz="1800" b="1" dirty="0">
                <a:solidFill>
                  <a:srgbClr val="A85C6E"/>
                </a:solidFill>
                <a:latin typeface="Meiryo" pitchFamily="34" charset="0"/>
                <a:ea typeface="Meiryo" pitchFamily="34" charset="-122"/>
                <a:cs typeface="Meiryo" pitchFamily="34" charset="-120"/>
              </a:rPr>
              <a:t>株価 229円</a:t>
            </a:r>
            <a:endParaRPr lang="en-US" sz="1800" dirty="0"/>
          </a:p>
        </p:txBody>
      </p:sp>
      <p:sp>
        <p:nvSpPr>
          <p:cNvPr id="8" name="Shape 6"/>
          <p:cNvSpPr/>
          <p:nvPr/>
        </p:nvSpPr>
        <p:spPr>
          <a:xfrm>
            <a:off x="640080" y="2788920"/>
            <a:ext cx="5349240" cy="2286000"/>
          </a:xfrm>
          <a:prstGeom prst="roundRect">
            <a:avLst>
              <a:gd name="adj" fmla="val 2400"/>
            </a:avLst>
          </a:prstGeom>
          <a:solidFill>
            <a:srgbClr val="26333F"/>
          </a:solidFill>
          <a:ln w="25400">
            <a:solidFill>
              <a:srgbClr val="6E2639"/>
            </a:solidFill>
            <a:prstDash val="solid"/>
          </a:ln>
        </p:spPr>
      </p:sp>
      <p:sp>
        <p:nvSpPr>
          <p:cNvPr id="9" name="Text 7"/>
          <p:cNvSpPr txBox="1"/>
          <p:nvPr/>
        </p:nvSpPr>
        <p:spPr>
          <a:xfrm>
            <a:off x="960120" y="2999232"/>
            <a:ext cx="4709160" cy="292608"/>
          </a:xfrm>
          <a:prstGeom prst="rect">
            <a:avLst/>
          </a:prstGeom>
          <a:noFill/>
          <a:ln/>
        </p:spPr>
        <p:txBody>
          <a:bodyPr wrap="square" lIns="0" tIns="0" rIns="0" bIns="0" rtlCol="0" anchor="ctr"/>
          <a:lstStyle/>
          <a:p>
            <a:pPr indent="0" marL="0">
              <a:buNone/>
            </a:pPr>
            <a:r>
              <a:rPr lang="en-US" sz="1400" b="1" dirty="0">
                <a:solidFill>
                  <a:srgbClr val="A85C6E"/>
                </a:solidFill>
                <a:latin typeface="Meiryo" pitchFamily="34" charset="0"/>
                <a:ea typeface="Meiryo" pitchFamily="34" charset="-122"/>
                <a:cs typeface="Meiryo" pitchFamily="34" charset="-120"/>
              </a:rPr>
              <a:t>中野が引き受ける</a:t>
            </a:r>
            <a:endParaRPr lang="en-US" sz="1400" dirty="0"/>
          </a:p>
        </p:txBody>
      </p:sp>
      <p:sp>
        <p:nvSpPr>
          <p:cNvPr id="10" name="Text 8"/>
          <p:cNvSpPr txBox="1"/>
          <p:nvPr/>
        </p:nvSpPr>
        <p:spPr>
          <a:xfrm>
            <a:off x="960120" y="3364992"/>
            <a:ext cx="4709160" cy="548640"/>
          </a:xfrm>
          <a:prstGeom prst="rect">
            <a:avLst/>
          </a:prstGeom>
          <a:noFill/>
          <a:ln/>
        </p:spPr>
        <p:txBody>
          <a:bodyPr wrap="square" lIns="0" tIns="0" rIns="0" bIns="0" rtlCol="0" anchor="ctr"/>
          <a:lstStyle/>
          <a:p>
            <a:pPr indent="0" marL="0">
              <a:buNone/>
            </a:pPr>
            <a:r>
              <a:rPr lang="en-US" sz="2600" b="1" dirty="0">
                <a:solidFill>
                  <a:srgbClr val="FFFFFF"/>
                </a:solidFill>
                <a:latin typeface="Meiryo" pitchFamily="34" charset="0"/>
                <a:ea typeface="Meiryo" pitchFamily="34" charset="-122"/>
                <a:cs typeface="Meiryo" pitchFamily="34" charset="-120"/>
              </a:rPr>
              <a:t>1,735,014</a:t>
            </a:r>
            <a:pPr indent="0" marL="0">
              <a:buNone/>
            </a:pPr>
            <a:r>
              <a:rPr lang="en-US" sz="1300" b="1" dirty="0">
                <a:solidFill>
                  <a:srgbClr val="FFFFFF"/>
                </a:solidFill>
                <a:latin typeface="Meiryo" pitchFamily="34" charset="0"/>
                <a:ea typeface="Meiryo" pitchFamily="34" charset="-122"/>
                <a:cs typeface="Meiryo" pitchFamily="34" charset="-120"/>
              </a:rPr>
              <a:t>株</a:t>
            </a:r>
            <a:endParaRPr lang="en-US" sz="2600" dirty="0"/>
          </a:p>
        </p:txBody>
      </p:sp>
      <p:sp>
        <p:nvSpPr>
          <p:cNvPr id="11" name="Text 9"/>
          <p:cNvSpPr txBox="1"/>
          <p:nvPr/>
        </p:nvSpPr>
        <p:spPr>
          <a:xfrm>
            <a:off x="960120" y="3968496"/>
            <a:ext cx="2286000" cy="329184"/>
          </a:xfrm>
          <a:prstGeom prst="rect">
            <a:avLst/>
          </a:prstGeom>
          <a:noFill/>
          <a:ln/>
        </p:spPr>
        <p:txBody>
          <a:bodyPr wrap="square" lIns="0" tIns="0" rIns="0" bIns="0" rtlCol="0" anchor="ctr"/>
          <a:lstStyle/>
          <a:p>
            <a:pPr indent="0" marL="0">
              <a:buNone/>
            </a:pPr>
            <a:r>
              <a:rPr lang="en-US" sz="1900" b="1" dirty="0">
                <a:solidFill>
                  <a:srgbClr val="A85C6E"/>
                </a:solidFill>
                <a:latin typeface="Meiryo" pitchFamily="34" charset="0"/>
                <a:ea typeface="Meiryo" pitchFamily="34" charset="-122"/>
                <a:cs typeface="Meiryo" pitchFamily="34" charset="-120"/>
              </a:rPr>
              <a:t>3.97億円</a:t>
            </a:r>
            <a:endParaRPr lang="en-US" sz="1900" dirty="0"/>
          </a:p>
        </p:txBody>
      </p:sp>
      <p:sp>
        <p:nvSpPr>
          <p:cNvPr id="12" name="Text 10"/>
          <p:cNvSpPr txBox="1"/>
          <p:nvPr/>
        </p:nvSpPr>
        <p:spPr>
          <a:xfrm>
            <a:off x="3383280" y="4023360"/>
            <a:ext cx="2286000" cy="274320"/>
          </a:xfrm>
          <a:prstGeom prst="rect">
            <a:avLst/>
          </a:prstGeom>
          <a:noFill/>
          <a:ln/>
        </p:spPr>
        <p:txBody>
          <a:bodyPr wrap="square" lIns="0" tIns="0" rIns="0" bIns="0" rtlCol="0" anchor="ctr"/>
          <a:lstStyle/>
          <a:p>
            <a:pPr algn="r" indent="0" marL="0">
              <a:buNone/>
            </a:pPr>
            <a:r>
              <a:rPr lang="en-US" sz="1200" dirty="0">
                <a:solidFill>
                  <a:srgbClr val="A8B5C0"/>
                </a:solidFill>
                <a:latin typeface="Meiryo" pitchFamily="34" charset="0"/>
                <a:ea typeface="Meiryo" pitchFamily="34" charset="-122"/>
                <a:cs typeface="Meiryo" pitchFamily="34" charset="-120"/>
              </a:rPr>
              <a:t>売出しの 47.1%</a:t>
            </a:r>
            <a:endParaRPr lang="en-US" sz="1200" dirty="0"/>
          </a:p>
        </p:txBody>
      </p:sp>
      <p:sp>
        <p:nvSpPr>
          <p:cNvPr id="13" name="Text 11"/>
          <p:cNvSpPr txBox="1"/>
          <p:nvPr/>
        </p:nvSpPr>
        <p:spPr>
          <a:xfrm>
            <a:off x="960120" y="4443984"/>
            <a:ext cx="4709160" cy="54864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重松氏側と同数の23.14%に到達するために必要な株数と一致します。</a:t>
            </a:r>
            <a:endParaRPr lang="en-US" sz="1050" dirty="0"/>
          </a:p>
        </p:txBody>
      </p:sp>
      <p:sp>
        <p:nvSpPr>
          <p:cNvPr id="14" name="Shape 12"/>
          <p:cNvSpPr/>
          <p:nvPr/>
        </p:nvSpPr>
        <p:spPr>
          <a:xfrm>
            <a:off x="6172200" y="2788920"/>
            <a:ext cx="5349240" cy="2286000"/>
          </a:xfrm>
          <a:prstGeom prst="roundRect">
            <a:avLst>
              <a:gd name="adj" fmla="val 2400"/>
            </a:avLst>
          </a:prstGeom>
          <a:solidFill>
            <a:srgbClr val="26333F"/>
          </a:solidFill>
          <a:ln w="12700">
            <a:solidFill>
              <a:srgbClr val="3A4854"/>
            </a:solidFill>
            <a:prstDash val="solid"/>
          </a:ln>
        </p:spPr>
      </p:sp>
      <p:sp>
        <p:nvSpPr>
          <p:cNvPr id="15" name="Text 13"/>
          <p:cNvSpPr txBox="1"/>
          <p:nvPr/>
        </p:nvSpPr>
        <p:spPr>
          <a:xfrm>
            <a:off x="6492240" y="2999232"/>
            <a:ext cx="4709160" cy="292608"/>
          </a:xfrm>
          <a:prstGeom prst="rect">
            <a:avLst/>
          </a:prstGeom>
          <a:noFill/>
          <a:ln/>
        </p:spPr>
        <p:txBody>
          <a:bodyPr wrap="square" lIns="0" tIns="0" rIns="0" bIns="0" rtlCol="0" anchor="ctr"/>
          <a:lstStyle/>
          <a:p>
            <a:pPr indent="0" marL="0">
              <a:buNone/>
            </a:pPr>
            <a:r>
              <a:rPr lang="en-US" sz="1400" b="1" dirty="0">
                <a:solidFill>
                  <a:srgbClr val="8FB0CC"/>
                </a:solidFill>
                <a:latin typeface="Meiryo" pitchFamily="34" charset="0"/>
                <a:ea typeface="Meiryo" pitchFamily="34" charset="-122"/>
                <a:cs typeface="Meiryo" pitchFamily="34" charset="-120"/>
              </a:rPr>
              <a:t>市場が吸収する</a:t>
            </a:r>
            <a:endParaRPr lang="en-US" sz="1400" dirty="0"/>
          </a:p>
        </p:txBody>
      </p:sp>
      <p:sp>
        <p:nvSpPr>
          <p:cNvPr id="16" name="Text 14"/>
          <p:cNvSpPr txBox="1"/>
          <p:nvPr/>
        </p:nvSpPr>
        <p:spPr>
          <a:xfrm>
            <a:off x="6492240" y="3364992"/>
            <a:ext cx="4709160" cy="548640"/>
          </a:xfrm>
          <a:prstGeom prst="rect">
            <a:avLst/>
          </a:prstGeom>
          <a:noFill/>
          <a:ln/>
        </p:spPr>
        <p:txBody>
          <a:bodyPr wrap="square" lIns="0" tIns="0" rIns="0" bIns="0" rtlCol="0" anchor="ctr"/>
          <a:lstStyle/>
          <a:p>
            <a:pPr indent="0" marL="0">
              <a:buNone/>
            </a:pPr>
            <a:r>
              <a:rPr lang="en-US" sz="2600" b="1" dirty="0">
                <a:solidFill>
                  <a:srgbClr val="FFFFFF"/>
                </a:solidFill>
                <a:latin typeface="Meiryo" pitchFamily="34" charset="0"/>
                <a:ea typeface="Meiryo" pitchFamily="34" charset="-122"/>
                <a:cs typeface="Meiryo" pitchFamily="34" charset="-120"/>
              </a:rPr>
              <a:t>1,945,293</a:t>
            </a:r>
            <a:pPr indent="0" marL="0">
              <a:buNone/>
            </a:pPr>
            <a:r>
              <a:rPr lang="en-US" sz="1300" b="1" dirty="0">
                <a:solidFill>
                  <a:srgbClr val="FFFFFF"/>
                </a:solidFill>
                <a:latin typeface="Meiryo" pitchFamily="34" charset="0"/>
                <a:ea typeface="Meiryo" pitchFamily="34" charset="-122"/>
                <a:cs typeface="Meiryo" pitchFamily="34" charset="-120"/>
              </a:rPr>
              <a:t>株</a:t>
            </a:r>
            <a:endParaRPr lang="en-US" sz="2600" dirty="0"/>
          </a:p>
        </p:txBody>
      </p:sp>
      <p:sp>
        <p:nvSpPr>
          <p:cNvPr id="17" name="Text 15"/>
          <p:cNvSpPr txBox="1"/>
          <p:nvPr/>
        </p:nvSpPr>
        <p:spPr>
          <a:xfrm>
            <a:off x="6492240" y="3968496"/>
            <a:ext cx="2286000" cy="329184"/>
          </a:xfrm>
          <a:prstGeom prst="rect">
            <a:avLst/>
          </a:prstGeom>
          <a:noFill/>
          <a:ln/>
        </p:spPr>
        <p:txBody>
          <a:bodyPr wrap="square" lIns="0" tIns="0" rIns="0" bIns="0" rtlCol="0" anchor="ctr"/>
          <a:lstStyle/>
          <a:p>
            <a:pPr indent="0" marL="0">
              <a:buNone/>
            </a:pPr>
            <a:r>
              <a:rPr lang="en-US" sz="1900" b="1" dirty="0">
                <a:solidFill>
                  <a:srgbClr val="8FB0CC"/>
                </a:solidFill>
                <a:latin typeface="Meiryo" pitchFamily="34" charset="0"/>
                <a:ea typeface="Meiryo" pitchFamily="34" charset="-122"/>
                <a:cs typeface="Meiryo" pitchFamily="34" charset="-120"/>
              </a:rPr>
              <a:t>4.45億円</a:t>
            </a:r>
            <a:endParaRPr lang="en-US" sz="1900" dirty="0"/>
          </a:p>
        </p:txBody>
      </p:sp>
      <p:sp>
        <p:nvSpPr>
          <p:cNvPr id="18" name="Text 16"/>
          <p:cNvSpPr txBox="1"/>
          <p:nvPr/>
        </p:nvSpPr>
        <p:spPr>
          <a:xfrm>
            <a:off x="8915400" y="4023360"/>
            <a:ext cx="2286000" cy="274320"/>
          </a:xfrm>
          <a:prstGeom prst="rect">
            <a:avLst/>
          </a:prstGeom>
          <a:noFill/>
          <a:ln/>
        </p:spPr>
        <p:txBody>
          <a:bodyPr wrap="square" lIns="0" tIns="0" rIns="0" bIns="0" rtlCol="0" anchor="ctr"/>
          <a:lstStyle/>
          <a:p>
            <a:pPr algn="r" indent="0" marL="0">
              <a:buNone/>
            </a:pPr>
            <a:r>
              <a:rPr lang="en-US" sz="1200" dirty="0">
                <a:solidFill>
                  <a:srgbClr val="A8B5C0"/>
                </a:solidFill>
                <a:latin typeface="Meiryo" pitchFamily="34" charset="0"/>
                <a:ea typeface="Meiryo" pitchFamily="34" charset="-122"/>
                <a:cs typeface="Meiryo" pitchFamily="34" charset="-120"/>
              </a:rPr>
              <a:t>売出しの 52.9%</a:t>
            </a:r>
            <a:endParaRPr lang="en-US" sz="1200" dirty="0"/>
          </a:p>
        </p:txBody>
      </p:sp>
      <p:sp>
        <p:nvSpPr>
          <p:cNvPr id="19" name="Text 17"/>
          <p:cNvSpPr txBox="1"/>
          <p:nvPr/>
        </p:nvSpPr>
        <p:spPr>
          <a:xfrm>
            <a:off x="6492240" y="4443984"/>
            <a:ext cx="4709160" cy="54864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中野が半分近くを引き受けるため、市場が捌くのは4.45億円で済みます。</a:t>
            </a:r>
            <a:endParaRPr lang="en-US" sz="1050" dirty="0"/>
          </a:p>
        </p:txBody>
      </p:sp>
      <p:sp>
        <p:nvSpPr>
          <p:cNvPr id="20" name="Text 18"/>
          <p:cNvSpPr txBox="1"/>
          <p:nvPr/>
        </p:nvSpPr>
        <p:spPr>
          <a:xfrm>
            <a:off x="640080" y="5285232"/>
            <a:ext cx="10881360" cy="320040"/>
          </a:xfrm>
          <a:prstGeom prst="rect">
            <a:avLst/>
          </a:prstGeom>
          <a:noFill/>
          <a:ln/>
        </p:spPr>
        <p:txBody>
          <a:bodyPr wrap="square" lIns="0" tIns="0" rIns="0" bIns="0" rtlCol="0" anchor="ctr"/>
          <a:lstStyle/>
          <a:p>
            <a:pPr indent="0" marL="0">
              <a:buNone/>
            </a:pPr>
            <a:r>
              <a:rPr lang="en-US" sz="1250" b="1" dirty="0">
                <a:solidFill>
                  <a:srgbClr val="A85C6E"/>
                </a:solidFill>
                <a:latin typeface="Meiryo" pitchFamily="34" charset="0"/>
                <a:ea typeface="Meiryo" pitchFamily="34" charset="-122"/>
                <a:cs typeface="Meiryo" pitchFamily="34" charset="-120"/>
              </a:rPr>
              <a:t>この組み方の利点は、市場が消化すべき金額が8.43億から4.45億に半減することです。時価総額45.7億の会社にとって、これは現実的な規模です。</a:t>
            </a:r>
            <a:endParaRPr lang="en-US" sz="1250" dirty="0"/>
          </a:p>
        </p:txBody>
      </p:sp>
      <p:sp>
        <p:nvSpPr>
          <p:cNvPr id="21" name="Text 19"/>
          <p:cNvSpPr txBox="1"/>
          <p:nvPr/>
        </p:nvSpPr>
        <p:spPr>
          <a:xfrm>
            <a:off x="640080" y="5806440"/>
            <a:ext cx="10881360" cy="411480"/>
          </a:xfrm>
          <a:prstGeom prst="rect">
            <a:avLst/>
          </a:prstGeom>
          <a:noFill/>
          <a:ln/>
        </p:spPr>
        <p:txBody>
          <a:bodyPr wrap="square" lIns="0" tIns="0" rIns="0" bIns="0" rtlCol="0" anchor="ctr"/>
          <a:lstStyle/>
          <a:p>
            <a:pPr indent="0" marL="0">
              <a:lnSpc>
                <a:spcPct val="115000"/>
              </a:lnSpc>
              <a:buNone/>
            </a:pPr>
            <a:r>
              <a:rPr lang="en-US" sz="950" dirty="0">
                <a:solidFill>
                  <a:srgbClr val="7F8E9B"/>
                </a:solidFill>
                <a:latin typeface="Meiryo" pitchFamily="34" charset="0"/>
                <a:ea typeface="Meiryo" pitchFamily="34" charset="-122"/>
                <a:cs typeface="Meiryo" pitchFamily="34" charset="-120"/>
              </a:rPr>
              <a:t>中野は取締役のため、売出しへの応募は合併その他の重要事実が公表された後に限られます。売出しに応じる取得が公開買付規制の適用除外となるか、証券会社および弁護士の確認を要します。</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B案</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取得後の株主構成と流通株式比率</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536192"/>
          <a:ext cx="6858000" cy="914400"/>
        </p:xfrm>
        <a:graphic>
          <a:graphicData uri="http://schemas.openxmlformats.org/drawingml/2006/table">
            <a:tbl>
              <a:tblPr/>
              <a:tblGrid>
                <a:gridCol w="2743200"/>
                <a:gridCol w="1554480"/>
                <a:gridCol w="1188720"/>
                <a:gridCol w="1371600"/>
              </a:tblGrid>
              <a:tr h="384048">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株主</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株数</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比率</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流通株式</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384048">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中野 邦人</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00" b="1" dirty="0">
                          <a:solidFill>
                            <a:srgbClr val="3D4E60"/>
                          </a:solidFill>
                          <a:latin typeface="Meiryo" pitchFamily="34" charset="0"/>
                          <a:ea typeface="Meiryo" pitchFamily="34" charset="-122"/>
                          <a:cs typeface="Meiryo" pitchFamily="34" charset="-120"/>
                        </a:rPr>
                        <a:t>4,620,000 株</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00" b="1" dirty="0">
                          <a:solidFill>
                            <a:srgbClr val="6E2639"/>
                          </a:solidFill>
                          <a:latin typeface="Meiryo" pitchFamily="34" charset="0"/>
                          <a:ea typeface="Meiryo" pitchFamily="34" charset="-122"/>
                          <a:cs typeface="Meiryo" pitchFamily="34" charset="-120"/>
                        </a:rPr>
                        <a:t>23.14%</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ctr" indent="0" marL="0">
                        <a:buNone/>
                      </a:pPr>
                      <a:r>
                        <a:rPr lang="en-US" sz="1100" dirty="0">
                          <a:solidFill>
                            <a:srgbClr val="7C8A99"/>
                          </a:solidFill>
                          <a:latin typeface="Meiryo" pitchFamily="34" charset="0"/>
                          <a:ea typeface="Meiryo" pitchFamily="34" charset="-122"/>
                          <a:cs typeface="Meiryo" pitchFamily="34" charset="-120"/>
                        </a:rPr>
                        <a:t>除外（役員）</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384048">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重松 大輔</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2,950,000 株</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14.77%</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7C8A99"/>
                          </a:solidFill>
                          <a:latin typeface="Meiryo" pitchFamily="34" charset="0"/>
                          <a:ea typeface="Meiryo" pitchFamily="34" charset="-122"/>
                          <a:cs typeface="Meiryo" pitchFamily="34" charset="-120"/>
                        </a:rPr>
                        <a:t>除外（役員）</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TKP</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2,550,000 株</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12.77%</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7C8A99"/>
                          </a:solidFill>
                          <a:latin typeface="Meiryo" pitchFamily="34" charset="0"/>
                          <a:ea typeface="Meiryo" pitchFamily="34" charset="-122"/>
                          <a:cs typeface="Meiryo" pitchFamily="34" charset="-120"/>
                        </a:rPr>
                        <a:t>除外（事業法人）</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ダブルパインズ</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1,670,000 株</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8.36%</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7C8A99"/>
                          </a:solidFill>
                          <a:latin typeface="Meiryo" pitchFamily="34" charset="0"/>
                          <a:ea typeface="Meiryo" pitchFamily="34" charset="-122"/>
                          <a:cs typeface="Meiryo" pitchFamily="34" charset="-120"/>
                        </a:rPr>
                        <a:t>除外</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旧あどばる法人6社</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1,294,969 株</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6.49%</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7C8A99"/>
                          </a:solidFill>
                          <a:latin typeface="Meiryo" pitchFamily="34" charset="0"/>
                          <a:ea typeface="Meiryo" pitchFamily="34" charset="-122"/>
                          <a:cs typeface="Meiryo" pitchFamily="34" charset="-120"/>
                        </a:rPr>
                        <a:t>除外（事業法人）</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マイナビ・東京建物・佐々木氏</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620,000 株</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3.11%</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7C8A99"/>
                          </a:solidFill>
                          <a:latin typeface="Meiryo" pitchFamily="34" charset="0"/>
                          <a:ea typeface="Meiryo" pitchFamily="34" charset="-122"/>
                          <a:cs typeface="Meiryo" pitchFamily="34" charset="-120"/>
                        </a:rPr>
                        <a:t>除外</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一般株主（市場吸収分を含む）</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F0E9"/>
                    </a:solidFill>
                  </a:tcPr>
                </a:tc>
                <a:tc>
                  <a:txBody>
                    <a:bodyPr/>
                    <a:lstStyle/>
                    <a:p>
                      <a:pPr algn="r" indent="0" marL="0">
                        <a:buNone/>
                      </a:pPr>
                      <a:r>
                        <a:rPr lang="en-US" sz="1100" b="1" dirty="0">
                          <a:solidFill>
                            <a:srgbClr val="3D4E60"/>
                          </a:solidFill>
                          <a:latin typeface="Meiryo" pitchFamily="34" charset="0"/>
                          <a:ea typeface="Meiryo" pitchFamily="34" charset="-122"/>
                          <a:cs typeface="Meiryo" pitchFamily="34" charset="-120"/>
                        </a:rPr>
                        <a:t>6,261,193 株</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F0E9"/>
                    </a:solidFill>
                  </a:tcPr>
                </a:tc>
                <a:tc>
                  <a:txBody>
                    <a:bodyPr/>
                    <a:lstStyle/>
                    <a:p>
                      <a:pPr algn="r" indent="0" marL="0">
                        <a:buNone/>
                      </a:pPr>
                      <a:r>
                        <a:rPr lang="en-US" sz="1100" b="1" dirty="0">
                          <a:solidFill>
                            <a:srgbClr val="2C6A4E"/>
                          </a:solidFill>
                          <a:latin typeface="Meiryo" pitchFamily="34" charset="0"/>
                          <a:ea typeface="Meiryo" pitchFamily="34" charset="-122"/>
                          <a:cs typeface="Meiryo" pitchFamily="34" charset="-120"/>
                        </a:rPr>
                        <a:t>31.36%</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F0E9"/>
                    </a:solidFill>
                  </a:tcPr>
                </a:tc>
                <a:tc>
                  <a:txBody>
                    <a:bodyPr/>
                    <a:lstStyle/>
                    <a:p>
                      <a:pPr algn="ctr" indent="0" marL="0">
                        <a:buNone/>
                      </a:pPr>
                      <a:r>
                        <a:rPr lang="en-US" sz="1100" b="1" dirty="0">
                          <a:solidFill>
                            <a:srgbClr val="2C6A4E"/>
                          </a:solidFill>
                          <a:latin typeface="Meiryo" pitchFamily="34" charset="0"/>
                          <a:ea typeface="Meiryo" pitchFamily="34" charset="-122"/>
                          <a:cs typeface="Meiryo" pitchFamily="34" charset="-120"/>
                        </a:rPr>
                        <a:t>流通株式</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F0E9"/>
                    </a:solidFill>
                  </a:tcPr>
                </a:tc>
              </a:tr>
              <a:tr h="384048">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合計</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00" b="1" dirty="0">
                          <a:solidFill>
                            <a:srgbClr val="3D4E60"/>
                          </a:solidFill>
                          <a:latin typeface="Meiryo" pitchFamily="34" charset="0"/>
                          <a:ea typeface="Meiryo" pitchFamily="34" charset="-122"/>
                          <a:cs typeface="Meiryo" pitchFamily="34" charset="-120"/>
                        </a:rPr>
                        <a:t>19,966,162 株</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00" b="1" dirty="0">
                          <a:solidFill>
                            <a:srgbClr val="3D4E60"/>
                          </a:solidFill>
                          <a:latin typeface="Meiryo" pitchFamily="34" charset="0"/>
                          <a:ea typeface="Meiryo" pitchFamily="34" charset="-122"/>
                          <a:cs typeface="Meiryo" pitchFamily="34" charset="-120"/>
                        </a:rPr>
                        <a:t>100.00%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indent="0" marL="0">
                        <a:buNone/>
                      </a:pP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r>
            </a:tbl>
          </a:graphicData>
        </a:graphic>
      </p:graphicFrame>
      <p:sp>
        <p:nvSpPr>
          <p:cNvPr id="5" name="Text 2"/>
          <p:cNvSpPr txBox="1"/>
          <p:nvPr/>
        </p:nvSpPr>
        <p:spPr>
          <a:xfrm>
            <a:off x="7772400" y="1600200"/>
            <a:ext cx="37490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流通株式比率</a:t>
            </a:r>
            <a:endParaRPr lang="en-US" sz="1100" dirty="0"/>
          </a:p>
        </p:txBody>
      </p:sp>
      <p:sp>
        <p:nvSpPr>
          <p:cNvPr id="6" name="Text 3"/>
          <p:cNvSpPr txBox="1"/>
          <p:nvPr/>
        </p:nvSpPr>
        <p:spPr>
          <a:xfrm>
            <a:off x="7772400" y="1837944"/>
            <a:ext cx="3749040" cy="502920"/>
          </a:xfrm>
          <a:prstGeom prst="rect">
            <a:avLst/>
          </a:prstGeom>
          <a:noFill/>
          <a:ln/>
        </p:spPr>
        <p:txBody>
          <a:bodyPr wrap="square" lIns="0" tIns="0" rIns="0" bIns="0" rtlCol="0" anchor="ctr"/>
          <a:lstStyle/>
          <a:p>
            <a:pPr indent="0" marL="0">
              <a:buNone/>
            </a:pPr>
            <a:r>
              <a:rPr lang="en-US" sz="3000" b="1" dirty="0">
                <a:solidFill>
                  <a:srgbClr val="2C6A4E"/>
                </a:solidFill>
                <a:latin typeface="Meiryo" pitchFamily="34" charset="0"/>
                <a:ea typeface="Meiryo" pitchFamily="34" charset="-122"/>
                <a:cs typeface="Meiryo" pitchFamily="34" charset="-120"/>
              </a:rPr>
              <a:t>31.36</a:t>
            </a:r>
            <a:pPr indent="0" marL="0">
              <a:buNone/>
            </a:pPr>
            <a:r>
              <a:rPr lang="en-US" sz="1300" b="1" dirty="0">
                <a:solidFill>
                  <a:srgbClr val="2C6A4E"/>
                </a:solidFill>
                <a:latin typeface="Meiryo" pitchFamily="34" charset="0"/>
                <a:ea typeface="Meiryo" pitchFamily="34" charset="-122"/>
                <a:cs typeface="Meiryo" pitchFamily="34" charset="-120"/>
              </a:rPr>
              <a:t>%</a:t>
            </a:r>
            <a:endParaRPr lang="en-US" sz="3000" dirty="0"/>
          </a:p>
        </p:txBody>
      </p:sp>
      <p:sp>
        <p:nvSpPr>
          <p:cNvPr id="7" name="Text 4"/>
          <p:cNvSpPr txBox="1"/>
          <p:nvPr/>
        </p:nvSpPr>
        <p:spPr>
          <a:xfrm>
            <a:off x="7772400" y="2350008"/>
            <a:ext cx="37490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東証グロース基準25%をクリア</a:t>
            </a:r>
            <a:endParaRPr lang="en-US" sz="1000" dirty="0"/>
          </a:p>
        </p:txBody>
      </p:sp>
      <p:sp>
        <p:nvSpPr>
          <p:cNvPr id="8" name="Text 5"/>
          <p:cNvSpPr txBox="1"/>
          <p:nvPr/>
        </p:nvSpPr>
        <p:spPr>
          <a:xfrm>
            <a:off x="7772400" y="2743200"/>
            <a:ext cx="37490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中野の持分</a:t>
            </a:r>
            <a:endParaRPr lang="en-US" sz="1100" dirty="0"/>
          </a:p>
        </p:txBody>
      </p:sp>
      <p:sp>
        <p:nvSpPr>
          <p:cNvPr id="9" name="Text 6"/>
          <p:cNvSpPr txBox="1"/>
          <p:nvPr/>
        </p:nvSpPr>
        <p:spPr>
          <a:xfrm>
            <a:off x="7772400" y="2980944"/>
            <a:ext cx="3749040" cy="502920"/>
          </a:xfrm>
          <a:prstGeom prst="rect">
            <a:avLst/>
          </a:prstGeom>
          <a:noFill/>
          <a:ln/>
        </p:spPr>
        <p:txBody>
          <a:bodyPr wrap="square" lIns="0" tIns="0" rIns="0" bIns="0" rtlCol="0" anchor="ctr"/>
          <a:lstStyle/>
          <a:p>
            <a:pPr indent="0" marL="0">
              <a:buNone/>
            </a:pPr>
            <a:r>
              <a:rPr lang="en-US" sz="3000" b="1" dirty="0">
                <a:solidFill>
                  <a:srgbClr val="6E2639"/>
                </a:solidFill>
                <a:latin typeface="Meiryo" pitchFamily="34" charset="0"/>
                <a:ea typeface="Meiryo" pitchFamily="34" charset="-122"/>
                <a:cs typeface="Meiryo" pitchFamily="34" charset="-120"/>
              </a:rPr>
              <a:t>23.14</a:t>
            </a:r>
            <a:pPr indent="0" marL="0">
              <a:buNone/>
            </a:pPr>
            <a:r>
              <a:rPr lang="en-US" sz="1300" b="1" dirty="0">
                <a:solidFill>
                  <a:srgbClr val="6E2639"/>
                </a:solidFill>
                <a:latin typeface="Meiryo" pitchFamily="34" charset="0"/>
                <a:ea typeface="Meiryo" pitchFamily="34" charset="-122"/>
                <a:cs typeface="Meiryo" pitchFamily="34" charset="-120"/>
              </a:rPr>
              <a:t>%</a:t>
            </a:r>
            <a:endParaRPr lang="en-US" sz="3000" dirty="0"/>
          </a:p>
        </p:txBody>
      </p:sp>
      <p:sp>
        <p:nvSpPr>
          <p:cNvPr id="10" name="Text 7"/>
          <p:cNvSpPr txBox="1"/>
          <p:nvPr/>
        </p:nvSpPr>
        <p:spPr>
          <a:xfrm>
            <a:off x="7772400" y="3493008"/>
            <a:ext cx="37490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重松氏側と同数・登録上の単独筆頭</a:t>
            </a:r>
            <a:endParaRPr lang="en-US" sz="1000" dirty="0"/>
          </a:p>
        </p:txBody>
      </p:sp>
      <p:sp>
        <p:nvSpPr>
          <p:cNvPr id="11" name="Text 8"/>
          <p:cNvSpPr txBox="1"/>
          <p:nvPr/>
        </p:nvSpPr>
        <p:spPr>
          <a:xfrm>
            <a:off x="7772400" y="3886200"/>
            <a:ext cx="37490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1/3までの余裕</a:t>
            </a:r>
            <a:endParaRPr lang="en-US" sz="1100" dirty="0"/>
          </a:p>
        </p:txBody>
      </p:sp>
      <p:sp>
        <p:nvSpPr>
          <p:cNvPr id="12" name="Text 9"/>
          <p:cNvSpPr txBox="1"/>
          <p:nvPr/>
        </p:nvSpPr>
        <p:spPr>
          <a:xfrm>
            <a:off x="7772400" y="4123944"/>
            <a:ext cx="3749040" cy="502920"/>
          </a:xfrm>
          <a:prstGeom prst="rect">
            <a:avLst/>
          </a:prstGeom>
          <a:noFill/>
          <a:ln/>
        </p:spPr>
        <p:txBody>
          <a:bodyPr wrap="square" lIns="0" tIns="0" rIns="0" bIns="0" rtlCol="0" anchor="ctr"/>
          <a:lstStyle/>
          <a:p>
            <a:pPr indent="0" marL="0">
              <a:buNone/>
            </a:pPr>
            <a:r>
              <a:rPr lang="en-US" sz="3000" b="1" dirty="0">
                <a:solidFill>
                  <a:srgbClr val="1E2A38"/>
                </a:solidFill>
                <a:latin typeface="Meiryo" pitchFamily="34" charset="0"/>
                <a:ea typeface="Meiryo" pitchFamily="34" charset="-122"/>
                <a:cs typeface="Meiryo" pitchFamily="34" charset="-120"/>
              </a:rPr>
              <a:t>10.19</a:t>
            </a:r>
            <a:pPr indent="0" marL="0">
              <a:buNone/>
            </a:pPr>
            <a:r>
              <a:rPr lang="en-US" sz="1300" b="1" dirty="0">
                <a:solidFill>
                  <a:srgbClr val="1E2A38"/>
                </a:solidFill>
                <a:latin typeface="Meiryo" pitchFamily="34" charset="0"/>
                <a:ea typeface="Meiryo" pitchFamily="34" charset="-122"/>
                <a:cs typeface="Meiryo" pitchFamily="34" charset="-120"/>
              </a:rPr>
              <a:t>pt</a:t>
            </a:r>
            <a:endParaRPr lang="en-US" sz="3000" dirty="0"/>
          </a:p>
        </p:txBody>
      </p:sp>
      <p:sp>
        <p:nvSpPr>
          <p:cNvPr id="13" name="Text 10"/>
          <p:cNvSpPr txBox="1"/>
          <p:nvPr/>
        </p:nvSpPr>
        <p:spPr>
          <a:xfrm>
            <a:off x="7772400" y="4636008"/>
            <a:ext cx="37490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TOBは不要</a:t>
            </a:r>
            <a:endParaRPr lang="en-US" sz="1000" dirty="0"/>
          </a:p>
        </p:txBody>
      </p:sp>
      <p:sp>
        <p:nvSpPr>
          <p:cNvPr id="14" name="Shape 11"/>
          <p:cNvSpPr/>
          <p:nvPr/>
        </p:nvSpPr>
        <p:spPr>
          <a:xfrm>
            <a:off x="7772400" y="4937760"/>
            <a:ext cx="3749040" cy="914400"/>
          </a:xfrm>
          <a:prstGeom prst="roundRect">
            <a:avLst>
              <a:gd name="adj" fmla="val 6000"/>
            </a:avLst>
          </a:prstGeom>
          <a:solidFill>
            <a:srgbClr val="F0F4F1"/>
          </a:solidFill>
          <a:ln w="12700">
            <a:solidFill>
              <a:srgbClr val="C9DCD1"/>
            </a:solidFill>
            <a:prstDash val="solid"/>
          </a:ln>
          <a:effectLst>
            <a:outerShdw sx="100000" sy="100000" kx="0" ky="0" algn="bl" rotWithShape="0" blurRad="101600" dist="12700" dir="5400000">
              <a:srgbClr val="AAB4BE">
                <a:alpha val="18000"/>
              </a:srgbClr>
            </a:outerShdw>
          </a:effectLst>
        </p:spPr>
      </p:sp>
      <p:sp>
        <p:nvSpPr>
          <p:cNvPr id="15" name="Text 12"/>
          <p:cNvSpPr txBox="1"/>
          <p:nvPr/>
        </p:nvSpPr>
        <p:spPr>
          <a:xfrm>
            <a:off x="8046720" y="5102352"/>
            <a:ext cx="3246120" cy="640080"/>
          </a:xfrm>
          <a:prstGeom prst="rect">
            <a:avLst/>
          </a:prstGeom>
          <a:noFill/>
          <a:ln/>
        </p:spPr>
        <p:txBody>
          <a:bodyPr wrap="square" lIns="0" tIns="0" rIns="0" bIns="0" rtlCol="0" anchor="ctr"/>
          <a:lstStyle/>
          <a:p>
            <a:pPr indent="0" marL="0">
              <a:lnSpc>
                <a:spcPct val="120000"/>
              </a:lnSpc>
              <a:buNone/>
            </a:pPr>
            <a:r>
              <a:rPr lang="en-US" sz="1050" dirty="0">
                <a:solidFill>
                  <a:srgbClr val="3D4E60"/>
                </a:solidFill>
                <a:latin typeface="Meiryo" pitchFamily="34" charset="0"/>
                <a:ea typeface="Meiryo" pitchFamily="34" charset="-122"/>
                <a:cs typeface="Meiryo" pitchFamily="34" charset="-120"/>
              </a:rPr>
              <a:t>ビジョン株が市場に出るため、流通株式比率はむしろ改善します（21.62%→31.36%）。</a:t>
            </a:r>
            <a:endParaRPr lang="en-US" sz="1050" dirty="0"/>
          </a:p>
        </p:txBody>
      </p:sp>
      <p:sp>
        <p:nvSpPr>
          <p:cNvPr id="16" name="Text 13"/>
          <p:cNvSpPr txBox="1"/>
          <p:nvPr/>
        </p:nvSpPr>
        <p:spPr>
          <a:xfrm>
            <a:off x="640080" y="6126480"/>
            <a:ext cx="10881360" cy="274320"/>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流通株式は、役員・10%以上保有者・事業法人の保有分を除いた試算値です。実際の算定は東証の定義によります。</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A案の急所</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パートナーの金額は、ほとんど削れません</a:t>
            </a:r>
            <a:endParaRPr lang="en-US" sz="2800" dirty="0"/>
          </a:p>
        </p:txBody>
      </p:sp>
      <p:sp>
        <p:nvSpPr>
          <p:cNvPr id="4" name="Text 2"/>
          <p:cNvSpPr txBox="1"/>
          <p:nvPr/>
        </p:nvSpPr>
        <p:spPr>
          <a:xfrm>
            <a:off x="640080" y="1517904"/>
            <a:ext cx="10881360" cy="274320"/>
          </a:xfrm>
          <a:prstGeom prst="rect">
            <a:avLst/>
          </a:prstGeom>
          <a:noFill/>
          <a:ln/>
        </p:spPr>
        <p:txBody>
          <a:bodyPr wrap="square" lIns="0" tIns="0" rIns="0" bIns="0" rtlCol="0" anchor="ctr"/>
          <a:lstStyle/>
          <a:p>
            <a:pPr indent="0" marL="0">
              <a:buNone/>
            </a:pPr>
            <a:r>
              <a:rPr lang="en-US" sz="1200" dirty="0">
                <a:solidFill>
                  <a:srgbClr val="3D4E60"/>
                </a:solidFill>
                <a:latin typeface="Meiryo" pitchFamily="34" charset="0"/>
                <a:ea typeface="Meiryo" pitchFamily="34" charset="-122"/>
                <a:cs typeface="Meiryo" pitchFamily="34" charset="-120"/>
              </a:rPr>
              <a:t>中野6.10億円は固定、みずほ様のリファイを3.00億円とした場合</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881360" cy="914400"/>
        </p:xfrm>
        <a:graphic>
          <a:graphicData uri="http://schemas.openxmlformats.org/drawingml/2006/table">
            <a:tbl>
              <a:tblPr/>
              <a:tblGrid>
                <a:gridCol w="2011680"/>
                <a:gridCol w="1828800"/>
                <a:gridCol w="2011680"/>
                <a:gridCol w="1828800"/>
                <a:gridCol w="3200400"/>
              </a:tblGrid>
              <a:tr h="402336">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パートナー</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増資 合計</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取引後 純資産</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自己資本比率</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判定</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402336">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13.47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19.57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2C6A4E"/>
                          </a:solidFill>
                          <a:latin typeface="Meiryo" pitchFamily="34" charset="0"/>
                          <a:ea typeface="Meiryo" pitchFamily="34" charset="-122"/>
                          <a:cs typeface="Meiryo" pitchFamily="34" charset="-120"/>
                        </a:rPr>
                        <a:t>3.81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2C6A4E"/>
                          </a:solidFill>
                          <a:latin typeface="Meiryo" pitchFamily="34" charset="0"/>
                          <a:ea typeface="Meiryo" pitchFamily="34" charset="-122"/>
                          <a:cs typeface="Meiryo" pitchFamily="34" charset="-120"/>
                        </a:rPr>
                        <a:t>24.5%</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indent="0" marL="0">
                        <a:buNone/>
                      </a:pPr>
                      <a:r>
                        <a:rPr lang="en-US" sz="1150" b="1" dirty="0">
                          <a:solidFill>
                            <a:srgbClr val="2C6A4E"/>
                          </a:solidFill>
                          <a:latin typeface="Meiryo" pitchFamily="34" charset="0"/>
                          <a:ea typeface="Meiryo" pitchFamily="34" charset="-122"/>
                          <a:cs typeface="Meiryo" pitchFamily="34" charset="-120"/>
                        </a:rPr>
                        <a:t>当初計画。銀行融資に耐える水準</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402336">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12.60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18.70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2.94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20.0%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自己資本比率20%の下限</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11.73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17.83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2.07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8F5510"/>
                          </a:solidFill>
                          <a:latin typeface="Meiryo" pitchFamily="34" charset="0"/>
                          <a:ea typeface="Meiryo" pitchFamily="34" charset="-122"/>
                          <a:cs typeface="Meiryo" pitchFamily="34" charset="-120"/>
                        </a:rPr>
                        <a:t>15.0%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8F5510"/>
                          </a:solidFill>
                          <a:latin typeface="Meiryo" pitchFamily="34" charset="0"/>
                          <a:ea typeface="Meiryo" pitchFamily="34" charset="-122"/>
                          <a:cs typeface="Meiryo" pitchFamily="34" charset="-120"/>
                        </a:rPr>
                        <a:t>ここが実務上の限界</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10.00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16.10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8A2E26"/>
                          </a:solidFill>
                          <a:latin typeface="Meiryo" pitchFamily="34" charset="0"/>
                          <a:ea typeface="Meiryo" pitchFamily="34" charset="-122"/>
                          <a:cs typeface="Meiryo" pitchFamily="34" charset="-120"/>
                        </a:rPr>
                        <a:t>0.34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8A2E26"/>
                          </a:solidFill>
                          <a:latin typeface="Meiryo" pitchFamily="34" charset="0"/>
                          <a:ea typeface="Meiryo" pitchFamily="34" charset="-122"/>
                          <a:cs typeface="Meiryo" pitchFamily="34" charset="-120"/>
                        </a:rPr>
                        <a:t>2.8%</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8A2E26"/>
                          </a:solidFill>
                          <a:latin typeface="Meiryo" pitchFamily="34" charset="0"/>
                          <a:ea typeface="Meiryo" pitchFamily="34" charset="-122"/>
                          <a:cs typeface="Meiryo" pitchFamily="34" charset="-120"/>
                        </a:rPr>
                        <a:t>債務超過は免れるが融資は不可</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9.66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15.76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8A2E26"/>
                          </a:solidFill>
                          <a:latin typeface="Meiryo" pitchFamily="34" charset="0"/>
                          <a:ea typeface="Meiryo" pitchFamily="34" charset="-122"/>
                          <a:cs typeface="Meiryo" pitchFamily="34" charset="-120"/>
                        </a:rPr>
                        <a:t>0.00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8A2E26"/>
                          </a:solidFill>
                          <a:latin typeface="Meiryo" pitchFamily="34" charset="0"/>
                          <a:ea typeface="Meiryo" pitchFamily="34" charset="-122"/>
                          <a:cs typeface="Meiryo" pitchFamily="34" charset="-120"/>
                        </a:rPr>
                        <a:t>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8A2E26"/>
                          </a:solidFill>
                          <a:latin typeface="Meiryo" pitchFamily="34" charset="0"/>
                          <a:ea typeface="Meiryo" pitchFamily="34" charset="-122"/>
                          <a:cs typeface="Meiryo" pitchFamily="34" charset="-120"/>
                        </a:rPr>
                        <a:t>これ未満は債務超過のまま</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6" name="Shape 3"/>
          <p:cNvSpPr/>
          <p:nvPr/>
        </p:nvSpPr>
        <p:spPr>
          <a:xfrm>
            <a:off x="640080" y="4526280"/>
            <a:ext cx="5349240" cy="1325880"/>
          </a:xfrm>
          <a:prstGeom prst="roundRect">
            <a:avLst>
              <a:gd name="adj" fmla="val 4138"/>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7" name="Text 4"/>
          <p:cNvSpPr txBox="1"/>
          <p:nvPr/>
        </p:nvSpPr>
        <p:spPr>
          <a:xfrm>
            <a:off x="914400" y="4690872"/>
            <a:ext cx="4754880" cy="274320"/>
          </a:xfrm>
          <a:prstGeom prst="rect">
            <a:avLst/>
          </a:prstGeom>
          <a:noFill/>
          <a:ln/>
        </p:spPr>
        <p:txBody>
          <a:bodyPr wrap="square" lIns="0" tIns="0" rIns="0" bIns="0" rtlCol="0" anchor="ctr"/>
          <a:lstStyle/>
          <a:p>
            <a:pPr indent="0" marL="0">
              <a:buNone/>
            </a:pPr>
            <a:r>
              <a:rPr lang="en-US" sz="1300" b="1" dirty="0">
                <a:solidFill>
                  <a:srgbClr val="6E2639"/>
                </a:solidFill>
                <a:latin typeface="Meiryo" pitchFamily="34" charset="0"/>
                <a:ea typeface="Meiryo" pitchFamily="34" charset="-122"/>
                <a:cs typeface="Meiryo" pitchFamily="34" charset="-120"/>
              </a:rPr>
              <a:t>なぜ削れないのか</a:t>
            </a:r>
            <a:endParaRPr lang="en-US" sz="1300" dirty="0"/>
          </a:p>
        </p:txBody>
      </p:sp>
      <p:sp>
        <p:nvSpPr>
          <p:cNvPr id="8" name="Text 5"/>
          <p:cNvSpPr txBox="1"/>
          <p:nvPr/>
        </p:nvSpPr>
        <p:spPr>
          <a:xfrm>
            <a:off x="914400" y="5010912"/>
            <a:ext cx="4800600" cy="731520"/>
          </a:xfrm>
          <a:prstGeom prst="rect">
            <a:avLst/>
          </a:prstGeom>
          <a:noFill/>
          <a:ln/>
        </p:spPr>
        <p:txBody>
          <a:bodyPr wrap="square" lIns="0" tIns="0" rIns="0" bIns="0" rtlCol="0" anchor="ctr"/>
          <a:lstStyle/>
          <a:p>
            <a:pPr indent="0" marL="0">
              <a:lnSpc>
                <a:spcPct val="120000"/>
              </a:lnSpc>
              <a:buNone/>
            </a:pPr>
            <a:r>
              <a:rPr lang="en-US" sz="1050" dirty="0">
                <a:solidFill>
                  <a:srgbClr val="3D4E60"/>
                </a:solidFill>
                <a:latin typeface="Meiryo" pitchFamily="34" charset="0"/>
                <a:ea typeface="Meiryo" pitchFamily="34" charset="-122"/>
                <a:cs typeface="Meiryo" pitchFamily="34" charset="-120"/>
              </a:rPr>
              <a:t>自己株式取得12.72億円は純資産から直接引かれます。増資を1億減らせば、純資産もそのまま1億減ります。借入を厚くしても現金と負債が同額増えるだけで、純資産は1円も改善しません。</a:t>
            </a:r>
            <a:endParaRPr lang="en-US" sz="1050" dirty="0"/>
          </a:p>
        </p:txBody>
      </p:sp>
      <p:sp>
        <p:nvSpPr>
          <p:cNvPr id="9" name="Shape 6"/>
          <p:cNvSpPr/>
          <p:nvPr/>
        </p:nvSpPr>
        <p:spPr>
          <a:xfrm>
            <a:off x="6172200" y="4526280"/>
            <a:ext cx="5349240" cy="1325880"/>
          </a:xfrm>
          <a:prstGeom prst="roundRect">
            <a:avLst>
              <a:gd name="adj" fmla="val 4138"/>
            </a:avLst>
          </a:prstGeom>
          <a:solidFill>
            <a:srgbClr val="F7F3EC"/>
          </a:solidFill>
          <a:ln w="12700">
            <a:solidFill>
              <a:srgbClr val="E0D3BE"/>
            </a:solidFill>
            <a:prstDash val="solid"/>
          </a:ln>
          <a:effectLst>
            <a:outerShdw sx="100000" sy="100000" kx="0" ky="0" algn="bl" rotWithShape="0" blurRad="101600" dist="12700" dir="5400000">
              <a:srgbClr val="AAB4BE">
                <a:alpha val="18000"/>
              </a:srgbClr>
            </a:outerShdw>
          </a:effectLst>
        </p:spPr>
      </p:sp>
      <p:sp>
        <p:nvSpPr>
          <p:cNvPr id="10" name="Text 7"/>
          <p:cNvSpPr txBox="1"/>
          <p:nvPr/>
        </p:nvSpPr>
        <p:spPr>
          <a:xfrm>
            <a:off x="6446520" y="4690872"/>
            <a:ext cx="4754880" cy="274320"/>
          </a:xfrm>
          <a:prstGeom prst="rect">
            <a:avLst/>
          </a:prstGeom>
          <a:noFill/>
          <a:ln/>
        </p:spPr>
        <p:txBody>
          <a:bodyPr wrap="square" lIns="0" tIns="0" rIns="0" bIns="0" rtlCol="0" anchor="ctr"/>
          <a:lstStyle/>
          <a:p>
            <a:pPr indent="0" marL="0">
              <a:buNone/>
            </a:pPr>
            <a:r>
              <a:rPr lang="en-US" sz="1300" b="1" dirty="0">
                <a:solidFill>
                  <a:srgbClr val="8F5510"/>
                </a:solidFill>
                <a:latin typeface="Meiryo" pitchFamily="34" charset="0"/>
                <a:ea typeface="Meiryo" pitchFamily="34" charset="-122"/>
                <a:cs typeface="Meiryo" pitchFamily="34" charset="-120"/>
              </a:rPr>
              <a:t>つまり、A案は「12億円以上か、ゼロか」</a:t>
            </a:r>
            <a:endParaRPr lang="en-US" sz="1300" dirty="0"/>
          </a:p>
        </p:txBody>
      </p:sp>
      <p:sp>
        <p:nvSpPr>
          <p:cNvPr id="11" name="Text 8"/>
          <p:cNvSpPr txBox="1"/>
          <p:nvPr/>
        </p:nvSpPr>
        <p:spPr>
          <a:xfrm>
            <a:off x="6446520" y="5010912"/>
            <a:ext cx="4800600" cy="731520"/>
          </a:xfrm>
          <a:prstGeom prst="rect">
            <a:avLst/>
          </a:prstGeom>
          <a:noFill/>
          <a:ln/>
        </p:spPr>
        <p:txBody>
          <a:bodyPr wrap="square" lIns="0" tIns="0" rIns="0" bIns="0" rtlCol="0" anchor="ctr"/>
          <a:lstStyle/>
          <a:p>
            <a:pPr indent="0" marL="0">
              <a:lnSpc>
                <a:spcPct val="120000"/>
              </a:lnSpc>
              <a:buNone/>
            </a:pPr>
            <a:r>
              <a:rPr lang="en-US" sz="1050" dirty="0">
                <a:solidFill>
                  <a:srgbClr val="3D4E60"/>
                </a:solidFill>
                <a:latin typeface="Meiryo" pitchFamily="34" charset="0"/>
                <a:ea typeface="Meiryo" pitchFamily="34" charset="-122"/>
                <a:cs typeface="Meiryo" pitchFamily="34" charset="-120"/>
              </a:rPr>
              <a:t>パートナーの規模を小さくして実行する、という折衷案は成立しません。東京建物等から12億円以上を引き出せるかどうかが、A案の成否そのものです。</a:t>
            </a:r>
            <a:endParaRPr lang="en-US" sz="1050" dirty="0"/>
          </a:p>
        </p:txBody>
      </p:sp>
      <p:sp>
        <p:nvSpPr>
          <p:cNvPr id="12" name="Text 9"/>
          <p:cNvSpPr txBox="1"/>
          <p:nvPr/>
        </p:nvSpPr>
        <p:spPr>
          <a:xfrm>
            <a:off x="640080" y="6126480"/>
            <a:ext cx="10881360" cy="274320"/>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純資産＝増資額−15.76億円（クロージング直前純資産△2.59億−自己株式取得12.72億−費用0.45億）として試算しています。</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比較</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それぞれのメリットとデメリット</a:t>
            </a:r>
            <a:endParaRPr lang="en-US" sz="2800" dirty="0"/>
          </a:p>
        </p:txBody>
      </p:sp>
      <p:sp>
        <p:nvSpPr>
          <p:cNvPr id="4" name="Shape 2"/>
          <p:cNvSpPr/>
          <p:nvPr/>
        </p:nvSpPr>
        <p:spPr>
          <a:xfrm>
            <a:off x="640080" y="1517904"/>
            <a:ext cx="5349240" cy="4526280"/>
          </a:xfrm>
          <a:prstGeom prst="roundRect">
            <a:avLst>
              <a:gd name="adj" fmla="val 1212"/>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5" name="Shape 3"/>
          <p:cNvSpPr/>
          <p:nvPr/>
        </p:nvSpPr>
        <p:spPr>
          <a:xfrm>
            <a:off x="960120" y="1719072"/>
            <a:ext cx="658368" cy="310896"/>
          </a:xfrm>
          <a:prstGeom prst="roundRect">
            <a:avLst>
              <a:gd name="adj" fmla="val 50000"/>
            </a:avLst>
          </a:prstGeom>
          <a:solidFill>
            <a:srgbClr val="6E2639"/>
          </a:solidFill>
          <a:ln/>
        </p:spPr>
      </p:sp>
      <p:sp>
        <p:nvSpPr>
          <p:cNvPr id="6" name="Text 4"/>
          <p:cNvSpPr txBox="1"/>
          <p:nvPr/>
        </p:nvSpPr>
        <p:spPr>
          <a:xfrm>
            <a:off x="960120" y="1719072"/>
            <a:ext cx="658368"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A</a:t>
            </a:r>
            <a:endParaRPr lang="en-US" sz="1150" dirty="0"/>
          </a:p>
        </p:txBody>
      </p:sp>
      <p:sp>
        <p:nvSpPr>
          <p:cNvPr id="7" name="Text 5"/>
          <p:cNvSpPr txBox="1"/>
          <p:nvPr/>
        </p:nvSpPr>
        <p:spPr>
          <a:xfrm>
            <a:off x="1783080" y="1719072"/>
            <a:ext cx="3931920" cy="310896"/>
          </a:xfrm>
          <a:prstGeom prst="rect">
            <a:avLst/>
          </a:prstGeom>
          <a:noFill/>
          <a:ln/>
        </p:spPr>
        <p:txBody>
          <a:bodyPr wrap="square" lIns="0" tIns="0" rIns="0" bIns="0" rtlCol="0" anchor="ctr"/>
          <a:lstStyle/>
          <a:p>
            <a:pPr indent="0" marL="0">
              <a:buNone/>
            </a:pPr>
            <a:r>
              <a:rPr lang="en-US" sz="1500" b="1" dirty="0">
                <a:solidFill>
                  <a:srgbClr val="1E2A38"/>
                </a:solidFill>
                <a:latin typeface="Meiryo" pitchFamily="34" charset="0"/>
                <a:ea typeface="Meiryo" pitchFamily="34" charset="-122"/>
                <a:cs typeface="Meiryo" pitchFamily="34" charset="-120"/>
              </a:rPr>
              <a:t>MBO</a:t>
            </a:r>
            <a:endParaRPr lang="en-US" sz="1500" dirty="0"/>
          </a:p>
        </p:txBody>
      </p:sp>
      <p:sp>
        <p:nvSpPr>
          <p:cNvPr id="8" name="Text 6"/>
          <p:cNvSpPr txBox="1"/>
          <p:nvPr/>
        </p:nvSpPr>
        <p:spPr>
          <a:xfrm>
            <a:off x="960120" y="2194560"/>
            <a:ext cx="4709160" cy="219456"/>
          </a:xfrm>
          <a:prstGeom prst="rect">
            <a:avLst/>
          </a:prstGeom>
          <a:noFill/>
          <a:ln/>
        </p:spPr>
        <p:txBody>
          <a:bodyPr wrap="square" lIns="0" tIns="0" rIns="0" bIns="0" rtlCol="0" anchor="ctr"/>
          <a:lstStyle/>
          <a:p>
            <a:pPr indent="0" marL="0">
              <a:buNone/>
            </a:pPr>
            <a:r>
              <a:rPr lang="en-US" sz="1100" b="1" dirty="0">
                <a:solidFill>
                  <a:srgbClr val="2C6A4E"/>
                </a:solidFill>
                <a:latin typeface="Meiryo" pitchFamily="34" charset="0"/>
                <a:ea typeface="Meiryo" pitchFamily="34" charset="-122"/>
                <a:cs typeface="Meiryo" pitchFamily="34" charset="-120"/>
              </a:rPr>
              <a:t>メリット</a:t>
            </a:r>
            <a:endParaRPr lang="en-US" sz="1100" dirty="0"/>
          </a:p>
        </p:txBody>
      </p:sp>
      <p:sp>
        <p:nvSpPr>
          <p:cNvPr id="9" name="Shape 7"/>
          <p:cNvSpPr/>
          <p:nvPr/>
        </p:nvSpPr>
        <p:spPr>
          <a:xfrm>
            <a:off x="960120" y="2532888"/>
            <a:ext cx="118872" cy="118872"/>
          </a:xfrm>
          <a:prstGeom prst="roundRect">
            <a:avLst>
              <a:gd name="adj" fmla="val 50000"/>
            </a:avLst>
          </a:prstGeom>
          <a:solidFill>
            <a:srgbClr val="2C6A4E"/>
          </a:solidFill>
          <a:ln/>
        </p:spPr>
      </p:sp>
      <p:sp>
        <p:nvSpPr>
          <p:cNvPr id="10" name="Text 8"/>
          <p:cNvSpPr txBox="1"/>
          <p:nvPr/>
        </p:nvSpPr>
        <p:spPr>
          <a:xfrm>
            <a:off x="1207008" y="2487168"/>
            <a:ext cx="4462272" cy="292608"/>
          </a:xfrm>
          <a:prstGeom prst="rect">
            <a:avLst/>
          </a:prstGeom>
          <a:noFill/>
          <a:ln/>
        </p:spPr>
        <p:txBody>
          <a:bodyPr wrap="square" lIns="0" tIns="0" rIns="0" bIns="0" rtlCol="0" anchor="ctr"/>
          <a:lstStyle/>
          <a:p>
            <a:pPr indent="0" marL="0">
              <a:buNone/>
            </a:pPr>
            <a:r>
              <a:rPr lang="en-US" sz="920" dirty="0">
                <a:solidFill>
                  <a:srgbClr val="3D4E60"/>
                </a:solidFill>
                <a:latin typeface="Meiryo" pitchFamily="34" charset="0"/>
                <a:ea typeface="Meiryo" pitchFamily="34" charset="-122"/>
                <a:cs typeface="Meiryo" pitchFamily="34" charset="-120"/>
              </a:rPr>
              <a:t>過半数50.0%で意思決定を完全に握れる</a:t>
            </a:r>
            <a:endParaRPr lang="en-US" sz="920" dirty="0"/>
          </a:p>
        </p:txBody>
      </p:sp>
      <p:sp>
        <p:nvSpPr>
          <p:cNvPr id="11" name="Shape 9"/>
          <p:cNvSpPr/>
          <p:nvPr/>
        </p:nvSpPr>
        <p:spPr>
          <a:xfrm>
            <a:off x="960120" y="2834640"/>
            <a:ext cx="118872" cy="118872"/>
          </a:xfrm>
          <a:prstGeom prst="roundRect">
            <a:avLst>
              <a:gd name="adj" fmla="val 50000"/>
            </a:avLst>
          </a:prstGeom>
          <a:solidFill>
            <a:srgbClr val="2C6A4E"/>
          </a:solidFill>
          <a:ln/>
        </p:spPr>
      </p:sp>
      <p:sp>
        <p:nvSpPr>
          <p:cNvPr id="12" name="Text 10"/>
          <p:cNvSpPr txBox="1"/>
          <p:nvPr/>
        </p:nvSpPr>
        <p:spPr>
          <a:xfrm>
            <a:off x="1207008" y="2788920"/>
            <a:ext cx="4462272" cy="292608"/>
          </a:xfrm>
          <a:prstGeom prst="rect">
            <a:avLst/>
          </a:prstGeom>
          <a:noFill/>
          <a:ln/>
        </p:spPr>
        <p:txBody>
          <a:bodyPr wrap="square" lIns="0" tIns="0" rIns="0" bIns="0" rtlCol="0" anchor="ctr"/>
          <a:lstStyle/>
          <a:p>
            <a:pPr indent="0" marL="0">
              <a:buNone/>
            </a:pPr>
            <a:r>
              <a:rPr lang="en-US" sz="920" dirty="0">
                <a:solidFill>
                  <a:srgbClr val="3D4E60"/>
                </a:solidFill>
                <a:latin typeface="Meiryo" pitchFamily="34" charset="0"/>
                <a:ea typeface="Meiryo" pitchFamily="34" charset="-122"/>
                <a:cs typeface="Meiryo" pitchFamily="34" charset="-120"/>
              </a:rPr>
              <a:t>有利子負債が6.07億まで減る（唯一の案）</a:t>
            </a:r>
            <a:endParaRPr lang="en-US" sz="920" dirty="0"/>
          </a:p>
        </p:txBody>
      </p:sp>
      <p:sp>
        <p:nvSpPr>
          <p:cNvPr id="13" name="Shape 11"/>
          <p:cNvSpPr/>
          <p:nvPr/>
        </p:nvSpPr>
        <p:spPr>
          <a:xfrm>
            <a:off x="960120" y="3136392"/>
            <a:ext cx="118872" cy="118872"/>
          </a:xfrm>
          <a:prstGeom prst="roundRect">
            <a:avLst>
              <a:gd name="adj" fmla="val 50000"/>
            </a:avLst>
          </a:prstGeom>
          <a:solidFill>
            <a:srgbClr val="2C6A4E"/>
          </a:solidFill>
          <a:ln/>
        </p:spPr>
      </p:sp>
      <p:sp>
        <p:nvSpPr>
          <p:cNvPr id="14" name="Text 12"/>
          <p:cNvSpPr txBox="1"/>
          <p:nvPr/>
        </p:nvSpPr>
        <p:spPr>
          <a:xfrm>
            <a:off x="1207008" y="3090672"/>
            <a:ext cx="4462272" cy="292608"/>
          </a:xfrm>
          <a:prstGeom prst="rect">
            <a:avLst/>
          </a:prstGeom>
          <a:noFill/>
          <a:ln/>
        </p:spPr>
        <p:txBody>
          <a:bodyPr wrap="square" lIns="0" tIns="0" rIns="0" bIns="0" rtlCol="0" anchor="ctr"/>
          <a:lstStyle/>
          <a:p>
            <a:pPr indent="0" marL="0">
              <a:buNone/>
            </a:pPr>
            <a:r>
              <a:rPr lang="en-US" sz="920" dirty="0">
                <a:solidFill>
                  <a:srgbClr val="3D4E60"/>
                </a:solidFill>
                <a:latin typeface="Meiryo" pitchFamily="34" charset="0"/>
                <a:ea typeface="Meiryo" pitchFamily="34" charset="-122"/>
                <a:cs typeface="Meiryo" pitchFamily="34" charset="-120"/>
              </a:rPr>
              <a:t>自己資本比率24.9%で銀行の稟議に乗る</a:t>
            </a:r>
            <a:endParaRPr lang="en-US" sz="920" dirty="0"/>
          </a:p>
        </p:txBody>
      </p:sp>
      <p:sp>
        <p:nvSpPr>
          <p:cNvPr id="15" name="Shape 13"/>
          <p:cNvSpPr/>
          <p:nvPr/>
        </p:nvSpPr>
        <p:spPr>
          <a:xfrm>
            <a:off x="960120" y="3438144"/>
            <a:ext cx="118872" cy="118872"/>
          </a:xfrm>
          <a:prstGeom prst="roundRect">
            <a:avLst>
              <a:gd name="adj" fmla="val 50000"/>
            </a:avLst>
          </a:prstGeom>
          <a:solidFill>
            <a:srgbClr val="2C6A4E"/>
          </a:solidFill>
          <a:ln/>
        </p:spPr>
      </p:sp>
      <p:sp>
        <p:nvSpPr>
          <p:cNvPr id="16" name="Text 14"/>
          <p:cNvSpPr txBox="1"/>
          <p:nvPr/>
        </p:nvSpPr>
        <p:spPr>
          <a:xfrm>
            <a:off x="1207008" y="3392424"/>
            <a:ext cx="4462272" cy="292608"/>
          </a:xfrm>
          <a:prstGeom prst="rect">
            <a:avLst/>
          </a:prstGeom>
          <a:noFill/>
          <a:ln/>
        </p:spPr>
        <p:txBody>
          <a:bodyPr wrap="square" lIns="0" tIns="0" rIns="0" bIns="0" rtlCol="0" anchor="ctr"/>
          <a:lstStyle/>
          <a:p>
            <a:pPr indent="0" marL="0">
              <a:buNone/>
            </a:pPr>
            <a:r>
              <a:rPr lang="en-US" sz="920" dirty="0">
                <a:solidFill>
                  <a:srgbClr val="3D4E60"/>
                </a:solidFill>
                <a:latin typeface="Meiryo" pitchFamily="34" charset="0"/>
                <a:ea typeface="Meiryo" pitchFamily="34" charset="-122"/>
                <a:cs typeface="Meiryo" pitchFamily="34" charset="-120"/>
              </a:rPr>
              <a:t>ビジョン社の受取17.31億は合併案より約1億高い</a:t>
            </a:r>
            <a:endParaRPr lang="en-US" sz="920" dirty="0"/>
          </a:p>
        </p:txBody>
      </p:sp>
      <p:sp>
        <p:nvSpPr>
          <p:cNvPr id="17" name="Shape 15"/>
          <p:cNvSpPr/>
          <p:nvPr/>
        </p:nvSpPr>
        <p:spPr>
          <a:xfrm>
            <a:off x="960120" y="3739896"/>
            <a:ext cx="118872" cy="118872"/>
          </a:xfrm>
          <a:prstGeom prst="roundRect">
            <a:avLst>
              <a:gd name="adj" fmla="val 50000"/>
            </a:avLst>
          </a:prstGeom>
          <a:solidFill>
            <a:srgbClr val="2C6A4E"/>
          </a:solidFill>
          <a:ln/>
        </p:spPr>
      </p:sp>
      <p:sp>
        <p:nvSpPr>
          <p:cNvPr id="18" name="Text 16"/>
          <p:cNvSpPr txBox="1"/>
          <p:nvPr/>
        </p:nvSpPr>
        <p:spPr>
          <a:xfrm>
            <a:off x="1207008" y="3694176"/>
            <a:ext cx="4462272" cy="292608"/>
          </a:xfrm>
          <a:prstGeom prst="rect">
            <a:avLst/>
          </a:prstGeom>
          <a:noFill/>
          <a:ln/>
        </p:spPr>
        <p:txBody>
          <a:bodyPr wrap="square" lIns="0" tIns="0" rIns="0" bIns="0" rtlCol="0" anchor="ctr"/>
          <a:lstStyle/>
          <a:p>
            <a:pPr indent="0" marL="0">
              <a:buNone/>
            </a:pPr>
            <a:r>
              <a:rPr lang="en-US" sz="920" dirty="0">
                <a:solidFill>
                  <a:srgbClr val="3D4E60"/>
                </a:solidFill>
                <a:latin typeface="Meiryo" pitchFamily="34" charset="0"/>
                <a:ea typeface="Meiryo" pitchFamily="34" charset="-122"/>
                <a:cs typeface="Meiryo" pitchFamily="34" charset="-120"/>
              </a:rPr>
              <a:t>のれんが発生せず利益が目減りしない</a:t>
            </a:r>
            <a:endParaRPr lang="en-US" sz="920" dirty="0"/>
          </a:p>
        </p:txBody>
      </p:sp>
      <p:sp>
        <p:nvSpPr>
          <p:cNvPr id="19" name="Text 17"/>
          <p:cNvSpPr txBox="1"/>
          <p:nvPr/>
        </p:nvSpPr>
        <p:spPr>
          <a:xfrm>
            <a:off x="960120" y="4069080"/>
            <a:ext cx="4709160" cy="219456"/>
          </a:xfrm>
          <a:prstGeom prst="rect">
            <a:avLst/>
          </a:prstGeom>
          <a:noFill/>
          <a:ln/>
        </p:spPr>
        <p:txBody>
          <a:bodyPr wrap="square" lIns="0" tIns="0" rIns="0" bIns="0" rtlCol="0" anchor="ctr"/>
          <a:lstStyle/>
          <a:p>
            <a:pPr indent="0" marL="0">
              <a:buNone/>
            </a:pPr>
            <a:r>
              <a:rPr lang="en-US" sz="1100" b="1" dirty="0">
                <a:solidFill>
                  <a:srgbClr val="8A2E26"/>
                </a:solidFill>
                <a:latin typeface="Meiryo" pitchFamily="34" charset="0"/>
                <a:ea typeface="Meiryo" pitchFamily="34" charset="-122"/>
                <a:cs typeface="Meiryo" pitchFamily="34" charset="-120"/>
              </a:rPr>
              <a:t>デメリット</a:t>
            </a:r>
            <a:endParaRPr lang="en-US" sz="1100" dirty="0"/>
          </a:p>
        </p:txBody>
      </p:sp>
      <p:sp>
        <p:nvSpPr>
          <p:cNvPr id="20" name="Shape 18"/>
          <p:cNvSpPr/>
          <p:nvPr/>
        </p:nvSpPr>
        <p:spPr>
          <a:xfrm>
            <a:off x="960120" y="4407408"/>
            <a:ext cx="118872" cy="118872"/>
          </a:xfrm>
          <a:prstGeom prst="roundRect">
            <a:avLst>
              <a:gd name="adj" fmla="val 50000"/>
            </a:avLst>
          </a:prstGeom>
          <a:solidFill>
            <a:srgbClr val="8A2E26"/>
          </a:solidFill>
          <a:ln/>
        </p:spPr>
      </p:sp>
      <p:sp>
        <p:nvSpPr>
          <p:cNvPr id="21" name="Text 19"/>
          <p:cNvSpPr txBox="1"/>
          <p:nvPr/>
        </p:nvSpPr>
        <p:spPr>
          <a:xfrm>
            <a:off x="1207008" y="4361688"/>
            <a:ext cx="4462272" cy="292608"/>
          </a:xfrm>
          <a:prstGeom prst="rect">
            <a:avLst/>
          </a:prstGeom>
          <a:noFill/>
          <a:ln/>
        </p:spPr>
        <p:txBody>
          <a:bodyPr wrap="square" lIns="0" tIns="0" rIns="0" bIns="0" rtlCol="0" anchor="ctr"/>
          <a:lstStyle/>
          <a:p>
            <a:pPr indent="0" marL="0">
              <a:buNone/>
            </a:pPr>
            <a:r>
              <a:rPr lang="en-US" sz="920" dirty="0">
                <a:solidFill>
                  <a:srgbClr val="3D4E60"/>
                </a:solidFill>
                <a:latin typeface="Meiryo" pitchFamily="34" charset="0"/>
                <a:ea typeface="Meiryo" pitchFamily="34" charset="-122"/>
                <a:cs typeface="Meiryo" pitchFamily="34" charset="-120"/>
              </a:rPr>
              <a:t>パートナー12億円以上が絶対条件で、目処が立っていない</a:t>
            </a:r>
            <a:endParaRPr lang="en-US" sz="920" dirty="0"/>
          </a:p>
        </p:txBody>
      </p:sp>
      <p:sp>
        <p:nvSpPr>
          <p:cNvPr id="22" name="Shape 20"/>
          <p:cNvSpPr/>
          <p:nvPr/>
        </p:nvSpPr>
        <p:spPr>
          <a:xfrm>
            <a:off x="960120" y="4709160"/>
            <a:ext cx="118872" cy="118872"/>
          </a:xfrm>
          <a:prstGeom prst="roundRect">
            <a:avLst>
              <a:gd name="adj" fmla="val 50000"/>
            </a:avLst>
          </a:prstGeom>
          <a:solidFill>
            <a:srgbClr val="8A2E26"/>
          </a:solidFill>
          <a:ln/>
        </p:spPr>
      </p:sp>
      <p:sp>
        <p:nvSpPr>
          <p:cNvPr id="23" name="Text 21"/>
          <p:cNvSpPr txBox="1"/>
          <p:nvPr/>
        </p:nvSpPr>
        <p:spPr>
          <a:xfrm>
            <a:off x="1207008" y="4663440"/>
            <a:ext cx="4462272" cy="292608"/>
          </a:xfrm>
          <a:prstGeom prst="rect">
            <a:avLst/>
          </a:prstGeom>
          <a:noFill/>
          <a:ln/>
        </p:spPr>
        <p:txBody>
          <a:bodyPr wrap="square" lIns="0" tIns="0" rIns="0" bIns="0" rtlCol="0" anchor="ctr"/>
          <a:lstStyle/>
          <a:p>
            <a:pPr indent="0" marL="0">
              <a:buNone/>
            </a:pPr>
            <a:r>
              <a:rPr lang="en-US" sz="920" dirty="0">
                <a:solidFill>
                  <a:srgbClr val="3D4E60"/>
                </a:solidFill>
                <a:latin typeface="Meiryo" pitchFamily="34" charset="0"/>
                <a:ea typeface="Meiryo" pitchFamily="34" charset="-122"/>
                <a:cs typeface="Meiryo" pitchFamily="34" charset="-120"/>
              </a:rPr>
              <a:t>非上場のため株式の換金性がない</a:t>
            </a:r>
            <a:endParaRPr lang="en-US" sz="920" dirty="0"/>
          </a:p>
        </p:txBody>
      </p:sp>
      <p:sp>
        <p:nvSpPr>
          <p:cNvPr id="24" name="Shape 22"/>
          <p:cNvSpPr/>
          <p:nvPr/>
        </p:nvSpPr>
        <p:spPr>
          <a:xfrm>
            <a:off x="960120" y="5010912"/>
            <a:ext cx="118872" cy="118872"/>
          </a:xfrm>
          <a:prstGeom prst="roundRect">
            <a:avLst>
              <a:gd name="adj" fmla="val 50000"/>
            </a:avLst>
          </a:prstGeom>
          <a:solidFill>
            <a:srgbClr val="8A2E26"/>
          </a:solidFill>
          <a:ln/>
        </p:spPr>
      </p:sp>
      <p:sp>
        <p:nvSpPr>
          <p:cNvPr id="25" name="Text 23"/>
          <p:cNvSpPr txBox="1"/>
          <p:nvPr/>
        </p:nvSpPr>
        <p:spPr>
          <a:xfrm>
            <a:off x="1207008" y="4965192"/>
            <a:ext cx="4462272" cy="292608"/>
          </a:xfrm>
          <a:prstGeom prst="rect">
            <a:avLst/>
          </a:prstGeom>
          <a:noFill/>
          <a:ln/>
        </p:spPr>
        <p:txBody>
          <a:bodyPr wrap="square" lIns="0" tIns="0" rIns="0" bIns="0" rtlCol="0" anchor="ctr"/>
          <a:lstStyle/>
          <a:p>
            <a:pPr indent="0" marL="0">
              <a:buNone/>
            </a:pPr>
            <a:r>
              <a:rPr lang="en-US" sz="920" dirty="0">
                <a:solidFill>
                  <a:srgbClr val="3D4E60"/>
                </a:solidFill>
                <a:latin typeface="Meiryo" pitchFamily="34" charset="0"/>
                <a:ea typeface="Meiryo" pitchFamily="34" charset="-122"/>
                <a:cs typeface="Meiryo" pitchFamily="34" charset="-120"/>
              </a:rPr>
              <a:t>会社法の手続きが4段階必要で時間がかかる</a:t>
            </a:r>
            <a:endParaRPr lang="en-US" sz="920" dirty="0"/>
          </a:p>
        </p:txBody>
      </p:sp>
      <p:sp>
        <p:nvSpPr>
          <p:cNvPr id="26" name="Shape 24"/>
          <p:cNvSpPr/>
          <p:nvPr/>
        </p:nvSpPr>
        <p:spPr>
          <a:xfrm>
            <a:off x="6172200" y="1517904"/>
            <a:ext cx="5349240" cy="4526280"/>
          </a:xfrm>
          <a:prstGeom prst="roundRect">
            <a:avLst>
              <a:gd name="adj" fmla="val 1212"/>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27" name="Shape 25"/>
          <p:cNvSpPr/>
          <p:nvPr/>
        </p:nvSpPr>
        <p:spPr>
          <a:xfrm>
            <a:off x="6492240" y="1719072"/>
            <a:ext cx="658368" cy="310896"/>
          </a:xfrm>
          <a:prstGeom prst="roundRect">
            <a:avLst>
              <a:gd name="adj" fmla="val 50000"/>
            </a:avLst>
          </a:prstGeom>
          <a:solidFill>
            <a:srgbClr val="2E5C8A"/>
          </a:solidFill>
          <a:ln/>
        </p:spPr>
      </p:sp>
      <p:sp>
        <p:nvSpPr>
          <p:cNvPr id="28" name="Text 26"/>
          <p:cNvSpPr txBox="1"/>
          <p:nvPr/>
        </p:nvSpPr>
        <p:spPr>
          <a:xfrm>
            <a:off x="6492240" y="1719072"/>
            <a:ext cx="658368"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B</a:t>
            </a:r>
            <a:endParaRPr lang="en-US" sz="1150" dirty="0"/>
          </a:p>
        </p:txBody>
      </p:sp>
      <p:sp>
        <p:nvSpPr>
          <p:cNvPr id="29" name="Text 27"/>
          <p:cNvSpPr txBox="1"/>
          <p:nvPr/>
        </p:nvSpPr>
        <p:spPr>
          <a:xfrm>
            <a:off x="7315200" y="1719072"/>
            <a:ext cx="3931920" cy="310896"/>
          </a:xfrm>
          <a:prstGeom prst="rect">
            <a:avLst/>
          </a:prstGeom>
          <a:noFill/>
          <a:ln/>
        </p:spPr>
        <p:txBody>
          <a:bodyPr wrap="square" lIns="0" tIns="0" rIns="0" bIns="0" rtlCol="0" anchor="ctr"/>
          <a:lstStyle/>
          <a:p>
            <a:pPr indent="0" marL="0">
              <a:buNone/>
            </a:pPr>
            <a:r>
              <a:rPr lang="en-US" sz="1500" b="1" dirty="0">
                <a:solidFill>
                  <a:srgbClr val="1E2A38"/>
                </a:solidFill>
                <a:latin typeface="Meiryo" pitchFamily="34" charset="0"/>
                <a:ea typeface="Meiryo" pitchFamily="34" charset="-122"/>
                <a:cs typeface="Meiryo" pitchFamily="34" charset="-120"/>
              </a:rPr>
              <a:t>合併</a:t>
            </a:r>
            <a:endParaRPr lang="en-US" sz="1500" dirty="0"/>
          </a:p>
        </p:txBody>
      </p:sp>
      <p:sp>
        <p:nvSpPr>
          <p:cNvPr id="30" name="Text 28"/>
          <p:cNvSpPr txBox="1"/>
          <p:nvPr/>
        </p:nvSpPr>
        <p:spPr>
          <a:xfrm>
            <a:off x="6492240" y="2194560"/>
            <a:ext cx="4709160" cy="219456"/>
          </a:xfrm>
          <a:prstGeom prst="rect">
            <a:avLst/>
          </a:prstGeom>
          <a:noFill/>
          <a:ln/>
        </p:spPr>
        <p:txBody>
          <a:bodyPr wrap="square" lIns="0" tIns="0" rIns="0" bIns="0" rtlCol="0" anchor="ctr"/>
          <a:lstStyle/>
          <a:p>
            <a:pPr indent="0" marL="0">
              <a:buNone/>
            </a:pPr>
            <a:r>
              <a:rPr lang="en-US" sz="1100" b="1" dirty="0">
                <a:solidFill>
                  <a:srgbClr val="2C6A4E"/>
                </a:solidFill>
                <a:latin typeface="Meiryo" pitchFamily="34" charset="0"/>
                <a:ea typeface="Meiryo" pitchFamily="34" charset="-122"/>
                <a:cs typeface="Meiryo" pitchFamily="34" charset="-120"/>
              </a:rPr>
              <a:t>メリット</a:t>
            </a:r>
            <a:endParaRPr lang="en-US" sz="1100" dirty="0"/>
          </a:p>
        </p:txBody>
      </p:sp>
      <p:sp>
        <p:nvSpPr>
          <p:cNvPr id="31" name="Shape 29"/>
          <p:cNvSpPr/>
          <p:nvPr/>
        </p:nvSpPr>
        <p:spPr>
          <a:xfrm>
            <a:off x="6492240" y="2532888"/>
            <a:ext cx="118872" cy="118872"/>
          </a:xfrm>
          <a:prstGeom prst="roundRect">
            <a:avLst>
              <a:gd name="adj" fmla="val 50000"/>
            </a:avLst>
          </a:prstGeom>
          <a:solidFill>
            <a:srgbClr val="2C6A4E"/>
          </a:solidFill>
          <a:ln/>
        </p:spPr>
      </p:sp>
      <p:sp>
        <p:nvSpPr>
          <p:cNvPr id="32" name="Text 30"/>
          <p:cNvSpPr txBox="1"/>
          <p:nvPr/>
        </p:nvSpPr>
        <p:spPr>
          <a:xfrm>
            <a:off x="6739128" y="2487168"/>
            <a:ext cx="4462272" cy="292608"/>
          </a:xfrm>
          <a:prstGeom prst="rect">
            <a:avLst/>
          </a:prstGeom>
          <a:noFill/>
          <a:ln/>
        </p:spPr>
        <p:txBody>
          <a:bodyPr wrap="square" lIns="0" tIns="0" rIns="0" bIns="0" rtlCol="0" anchor="ctr"/>
          <a:lstStyle/>
          <a:p>
            <a:pPr indent="0" marL="0">
              <a:buNone/>
            </a:pPr>
            <a:r>
              <a:rPr lang="en-US" sz="920" dirty="0">
                <a:solidFill>
                  <a:srgbClr val="3D4E60"/>
                </a:solidFill>
                <a:latin typeface="Meiryo" pitchFamily="34" charset="0"/>
                <a:ea typeface="Meiryo" pitchFamily="34" charset="-122"/>
                <a:cs typeface="Meiryo" pitchFamily="34" charset="-120"/>
              </a:rPr>
              <a:t>第三者のエクイティが不要で、単独で成立する</a:t>
            </a:r>
            <a:endParaRPr lang="en-US" sz="920" dirty="0"/>
          </a:p>
        </p:txBody>
      </p:sp>
      <p:sp>
        <p:nvSpPr>
          <p:cNvPr id="33" name="Shape 31"/>
          <p:cNvSpPr/>
          <p:nvPr/>
        </p:nvSpPr>
        <p:spPr>
          <a:xfrm>
            <a:off x="6492240" y="2834640"/>
            <a:ext cx="118872" cy="118872"/>
          </a:xfrm>
          <a:prstGeom prst="roundRect">
            <a:avLst>
              <a:gd name="adj" fmla="val 50000"/>
            </a:avLst>
          </a:prstGeom>
          <a:solidFill>
            <a:srgbClr val="2C6A4E"/>
          </a:solidFill>
          <a:ln/>
        </p:spPr>
      </p:sp>
      <p:sp>
        <p:nvSpPr>
          <p:cNvPr id="34" name="Text 32"/>
          <p:cNvSpPr txBox="1"/>
          <p:nvPr/>
        </p:nvSpPr>
        <p:spPr>
          <a:xfrm>
            <a:off x="6739128" y="2788920"/>
            <a:ext cx="4462272" cy="292608"/>
          </a:xfrm>
          <a:prstGeom prst="rect">
            <a:avLst/>
          </a:prstGeom>
          <a:noFill/>
          <a:ln/>
        </p:spPr>
        <p:txBody>
          <a:bodyPr wrap="square" lIns="0" tIns="0" rIns="0" bIns="0" rtlCol="0" anchor="ctr"/>
          <a:lstStyle/>
          <a:p>
            <a:pPr indent="0" marL="0">
              <a:buNone/>
            </a:pPr>
            <a:r>
              <a:rPr lang="en-US" sz="920" dirty="0">
                <a:solidFill>
                  <a:srgbClr val="3D4E60"/>
                </a:solidFill>
                <a:latin typeface="Meiryo" pitchFamily="34" charset="0"/>
                <a:ea typeface="Meiryo" pitchFamily="34" charset="-122"/>
                <a:cs typeface="Meiryo" pitchFamily="34" charset="-120"/>
              </a:rPr>
              <a:t>中野の持ち出しが3.97億と2.13億少ない</a:t>
            </a:r>
            <a:endParaRPr lang="en-US" sz="920" dirty="0"/>
          </a:p>
        </p:txBody>
      </p:sp>
      <p:sp>
        <p:nvSpPr>
          <p:cNvPr id="35" name="Shape 33"/>
          <p:cNvSpPr/>
          <p:nvPr/>
        </p:nvSpPr>
        <p:spPr>
          <a:xfrm>
            <a:off x="6492240" y="3136392"/>
            <a:ext cx="118872" cy="118872"/>
          </a:xfrm>
          <a:prstGeom prst="roundRect">
            <a:avLst>
              <a:gd name="adj" fmla="val 50000"/>
            </a:avLst>
          </a:prstGeom>
          <a:solidFill>
            <a:srgbClr val="2C6A4E"/>
          </a:solidFill>
          <a:ln/>
        </p:spPr>
      </p:sp>
      <p:sp>
        <p:nvSpPr>
          <p:cNvPr id="36" name="Text 34"/>
          <p:cNvSpPr txBox="1"/>
          <p:nvPr/>
        </p:nvSpPr>
        <p:spPr>
          <a:xfrm>
            <a:off x="6739128" y="3090672"/>
            <a:ext cx="4462272" cy="292608"/>
          </a:xfrm>
          <a:prstGeom prst="rect">
            <a:avLst/>
          </a:prstGeom>
          <a:noFill/>
          <a:ln/>
        </p:spPr>
        <p:txBody>
          <a:bodyPr wrap="square" lIns="0" tIns="0" rIns="0" bIns="0" rtlCol="0" anchor="ctr"/>
          <a:lstStyle/>
          <a:p>
            <a:pPr indent="0" marL="0">
              <a:buNone/>
            </a:pPr>
            <a:r>
              <a:rPr lang="en-US" sz="920" dirty="0">
                <a:solidFill>
                  <a:srgbClr val="3D4E60"/>
                </a:solidFill>
                <a:latin typeface="Meiryo" pitchFamily="34" charset="0"/>
                <a:ea typeface="Meiryo" pitchFamily="34" charset="-122"/>
                <a:cs typeface="Meiryo" pitchFamily="34" charset="-120"/>
              </a:rPr>
              <a:t>上場株となり換金性がある</a:t>
            </a:r>
            <a:endParaRPr lang="en-US" sz="920" dirty="0"/>
          </a:p>
        </p:txBody>
      </p:sp>
      <p:sp>
        <p:nvSpPr>
          <p:cNvPr id="37" name="Shape 35"/>
          <p:cNvSpPr/>
          <p:nvPr/>
        </p:nvSpPr>
        <p:spPr>
          <a:xfrm>
            <a:off x="6492240" y="3438144"/>
            <a:ext cx="118872" cy="118872"/>
          </a:xfrm>
          <a:prstGeom prst="roundRect">
            <a:avLst>
              <a:gd name="adj" fmla="val 50000"/>
            </a:avLst>
          </a:prstGeom>
          <a:solidFill>
            <a:srgbClr val="2C6A4E"/>
          </a:solidFill>
          <a:ln/>
        </p:spPr>
      </p:sp>
      <p:sp>
        <p:nvSpPr>
          <p:cNvPr id="38" name="Text 36"/>
          <p:cNvSpPr txBox="1"/>
          <p:nvPr/>
        </p:nvSpPr>
        <p:spPr>
          <a:xfrm>
            <a:off x="6739128" y="3392424"/>
            <a:ext cx="4462272" cy="292608"/>
          </a:xfrm>
          <a:prstGeom prst="rect">
            <a:avLst/>
          </a:prstGeom>
          <a:noFill/>
          <a:ln/>
        </p:spPr>
        <p:txBody>
          <a:bodyPr wrap="square" lIns="0" tIns="0" rIns="0" bIns="0" rtlCol="0" anchor="ctr"/>
          <a:lstStyle/>
          <a:p>
            <a:pPr indent="0" marL="0">
              <a:buNone/>
            </a:pPr>
            <a:r>
              <a:rPr lang="en-US" sz="920" dirty="0">
                <a:solidFill>
                  <a:srgbClr val="3D4E60"/>
                </a:solidFill>
                <a:latin typeface="Meiryo" pitchFamily="34" charset="0"/>
                <a:ea typeface="Meiryo" pitchFamily="34" charset="-122"/>
                <a:cs typeface="Meiryo" pitchFamily="34" charset="-120"/>
              </a:rPr>
              <a:t>流通株式比率31.36%で上場維持基準を満たす</a:t>
            </a:r>
            <a:endParaRPr lang="en-US" sz="920" dirty="0"/>
          </a:p>
        </p:txBody>
      </p:sp>
      <p:sp>
        <p:nvSpPr>
          <p:cNvPr id="39" name="Shape 37"/>
          <p:cNvSpPr/>
          <p:nvPr/>
        </p:nvSpPr>
        <p:spPr>
          <a:xfrm>
            <a:off x="6492240" y="3739896"/>
            <a:ext cx="118872" cy="118872"/>
          </a:xfrm>
          <a:prstGeom prst="roundRect">
            <a:avLst>
              <a:gd name="adj" fmla="val 50000"/>
            </a:avLst>
          </a:prstGeom>
          <a:solidFill>
            <a:srgbClr val="2C6A4E"/>
          </a:solidFill>
          <a:ln/>
        </p:spPr>
      </p:sp>
      <p:sp>
        <p:nvSpPr>
          <p:cNvPr id="40" name="Text 38"/>
          <p:cNvSpPr txBox="1"/>
          <p:nvPr/>
        </p:nvSpPr>
        <p:spPr>
          <a:xfrm>
            <a:off x="6739128" y="3694176"/>
            <a:ext cx="4462272" cy="292608"/>
          </a:xfrm>
          <a:prstGeom prst="rect">
            <a:avLst/>
          </a:prstGeom>
          <a:noFill/>
          <a:ln/>
        </p:spPr>
        <p:txBody>
          <a:bodyPr wrap="square" lIns="0" tIns="0" rIns="0" bIns="0" rtlCol="0" anchor="ctr"/>
          <a:lstStyle/>
          <a:p>
            <a:pPr indent="0" marL="0">
              <a:buNone/>
            </a:pPr>
            <a:r>
              <a:rPr lang="en-US" sz="920" dirty="0">
                <a:solidFill>
                  <a:srgbClr val="3D4E60"/>
                </a:solidFill>
                <a:latin typeface="Meiryo" pitchFamily="34" charset="0"/>
                <a:ea typeface="Meiryo" pitchFamily="34" charset="-122"/>
                <a:cs typeface="Meiryo" pitchFamily="34" charset="-120"/>
              </a:rPr>
              <a:t>先方からの提案のため交渉が進めやすい</a:t>
            </a:r>
            <a:endParaRPr lang="en-US" sz="920" dirty="0"/>
          </a:p>
        </p:txBody>
      </p:sp>
      <p:sp>
        <p:nvSpPr>
          <p:cNvPr id="41" name="Text 39"/>
          <p:cNvSpPr txBox="1"/>
          <p:nvPr/>
        </p:nvSpPr>
        <p:spPr>
          <a:xfrm>
            <a:off x="6492240" y="4069080"/>
            <a:ext cx="4709160" cy="219456"/>
          </a:xfrm>
          <a:prstGeom prst="rect">
            <a:avLst/>
          </a:prstGeom>
          <a:noFill/>
          <a:ln/>
        </p:spPr>
        <p:txBody>
          <a:bodyPr wrap="square" lIns="0" tIns="0" rIns="0" bIns="0" rtlCol="0" anchor="ctr"/>
          <a:lstStyle/>
          <a:p>
            <a:pPr indent="0" marL="0">
              <a:buNone/>
            </a:pPr>
            <a:r>
              <a:rPr lang="en-US" sz="1100" b="1" dirty="0">
                <a:solidFill>
                  <a:srgbClr val="8A2E26"/>
                </a:solidFill>
                <a:latin typeface="Meiryo" pitchFamily="34" charset="0"/>
                <a:ea typeface="Meiryo" pitchFamily="34" charset="-122"/>
                <a:cs typeface="Meiryo" pitchFamily="34" charset="-120"/>
              </a:rPr>
              <a:t>デメリット</a:t>
            </a:r>
            <a:endParaRPr lang="en-US" sz="1100" dirty="0"/>
          </a:p>
        </p:txBody>
      </p:sp>
      <p:sp>
        <p:nvSpPr>
          <p:cNvPr id="42" name="Shape 40"/>
          <p:cNvSpPr/>
          <p:nvPr/>
        </p:nvSpPr>
        <p:spPr>
          <a:xfrm>
            <a:off x="6492240" y="4407408"/>
            <a:ext cx="118872" cy="118872"/>
          </a:xfrm>
          <a:prstGeom prst="roundRect">
            <a:avLst>
              <a:gd name="adj" fmla="val 50000"/>
            </a:avLst>
          </a:prstGeom>
          <a:solidFill>
            <a:srgbClr val="8A2E26"/>
          </a:solidFill>
          <a:ln/>
        </p:spPr>
      </p:sp>
      <p:sp>
        <p:nvSpPr>
          <p:cNvPr id="43" name="Text 41"/>
          <p:cNvSpPr txBox="1"/>
          <p:nvPr/>
        </p:nvSpPr>
        <p:spPr>
          <a:xfrm>
            <a:off x="6739128" y="4361688"/>
            <a:ext cx="4462272" cy="292608"/>
          </a:xfrm>
          <a:prstGeom prst="rect">
            <a:avLst/>
          </a:prstGeom>
          <a:noFill/>
          <a:ln/>
        </p:spPr>
        <p:txBody>
          <a:bodyPr wrap="square" lIns="0" tIns="0" rIns="0" bIns="0" rtlCol="0" anchor="ctr"/>
          <a:lstStyle/>
          <a:p>
            <a:pPr indent="0" marL="0">
              <a:buNone/>
            </a:pPr>
            <a:r>
              <a:rPr lang="en-US" sz="920" dirty="0">
                <a:solidFill>
                  <a:srgbClr val="3D4E60"/>
                </a:solidFill>
                <a:latin typeface="Meiryo" pitchFamily="34" charset="0"/>
                <a:ea typeface="Meiryo" pitchFamily="34" charset="-122"/>
                <a:cs typeface="Meiryo" pitchFamily="34" charset="-120"/>
              </a:rPr>
              <a:t>持分23.14%では意思決定を握れない</a:t>
            </a:r>
            <a:endParaRPr lang="en-US" sz="920" dirty="0"/>
          </a:p>
        </p:txBody>
      </p:sp>
      <p:sp>
        <p:nvSpPr>
          <p:cNvPr id="44" name="Shape 42"/>
          <p:cNvSpPr/>
          <p:nvPr/>
        </p:nvSpPr>
        <p:spPr>
          <a:xfrm>
            <a:off x="6492240" y="4709160"/>
            <a:ext cx="118872" cy="118872"/>
          </a:xfrm>
          <a:prstGeom prst="roundRect">
            <a:avLst>
              <a:gd name="adj" fmla="val 50000"/>
            </a:avLst>
          </a:prstGeom>
          <a:solidFill>
            <a:srgbClr val="8A2E26"/>
          </a:solidFill>
          <a:ln/>
        </p:spPr>
      </p:sp>
      <p:sp>
        <p:nvSpPr>
          <p:cNvPr id="45" name="Text 43"/>
          <p:cNvSpPr txBox="1"/>
          <p:nvPr/>
        </p:nvSpPr>
        <p:spPr>
          <a:xfrm>
            <a:off x="6739128" y="4663440"/>
            <a:ext cx="4462272" cy="292608"/>
          </a:xfrm>
          <a:prstGeom prst="rect">
            <a:avLst/>
          </a:prstGeom>
          <a:noFill/>
          <a:ln/>
        </p:spPr>
        <p:txBody>
          <a:bodyPr wrap="square" lIns="0" tIns="0" rIns="0" bIns="0" rtlCol="0" anchor="ctr"/>
          <a:lstStyle/>
          <a:p>
            <a:pPr indent="0" marL="0">
              <a:buNone/>
            </a:pPr>
            <a:r>
              <a:rPr lang="en-US" sz="920" dirty="0">
                <a:solidFill>
                  <a:srgbClr val="3D4E60"/>
                </a:solidFill>
                <a:latin typeface="Meiryo" pitchFamily="34" charset="0"/>
                <a:ea typeface="Meiryo" pitchFamily="34" charset="-122"/>
                <a:cs typeface="Meiryo" pitchFamily="34" charset="-120"/>
              </a:rPr>
              <a:t>有利子負債10.97億がそのまま残る（リファイのみ）</a:t>
            </a:r>
            <a:endParaRPr lang="en-US" sz="920" dirty="0"/>
          </a:p>
        </p:txBody>
      </p:sp>
      <p:sp>
        <p:nvSpPr>
          <p:cNvPr id="46" name="Shape 44"/>
          <p:cNvSpPr/>
          <p:nvPr/>
        </p:nvSpPr>
        <p:spPr>
          <a:xfrm>
            <a:off x="6492240" y="5010912"/>
            <a:ext cx="118872" cy="118872"/>
          </a:xfrm>
          <a:prstGeom prst="roundRect">
            <a:avLst>
              <a:gd name="adj" fmla="val 50000"/>
            </a:avLst>
          </a:prstGeom>
          <a:solidFill>
            <a:srgbClr val="8A2E26"/>
          </a:solidFill>
          <a:ln/>
        </p:spPr>
      </p:sp>
      <p:sp>
        <p:nvSpPr>
          <p:cNvPr id="47" name="Text 45"/>
          <p:cNvSpPr txBox="1"/>
          <p:nvPr/>
        </p:nvSpPr>
        <p:spPr>
          <a:xfrm>
            <a:off x="6739128" y="4965192"/>
            <a:ext cx="4462272" cy="292608"/>
          </a:xfrm>
          <a:prstGeom prst="rect">
            <a:avLst/>
          </a:prstGeom>
          <a:noFill/>
          <a:ln/>
        </p:spPr>
        <p:txBody>
          <a:bodyPr wrap="square" lIns="0" tIns="0" rIns="0" bIns="0" rtlCol="0" anchor="ctr"/>
          <a:lstStyle/>
          <a:p>
            <a:pPr indent="0" marL="0">
              <a:buNone/>
            </a:pPr>
            <a:r>
              <a:rPr lang="en-US" sz="920" dirty="0">
                <a:solidFill>
                  <a:srgbClr val="3D4E60"/>
                </a:solidFill>
                <a:latin typeface="Meiryo" pitchFamily="34" charset="0"/>
                <a:ea typeface="Meiryo" pitchFamily="34" charset="-122"/>
                <a:cs typeface="Meiryo" pitchFamily="34" charset="-120"/>
              </a:rPr>
              <a:t>のれん22.09億の償却で年1.10〜2.21億の減益</a:t>
            </a:r>
            <a:endParaRPr lang="en-US" sz="920" dirty="0"/>
          </a:p>
        </p:txBody>
      </p:sp>
      <p:sp>
        <p:nvSpPr>
          <p:cNvPr id="48" name="Shape 46"/>
          <p:cNvSpPr/>
          <p:nvPr/>
        </p:nvSpPr>
        <p:spPr>
          <a:xfrm>
            <a:off x="6492240" y="5312664"/>
            <a:ext cx="118872" cy="118872"/>
          </a:xfrm>
          <a:prstGeom prst="roundRect">
            <a:avLst>
              <a:gd name="adj" fmla="val 50000"/>
            </a:avLst>
          </a:prstGeom>
          <a:solidFill>
            <a:srgbClr val="8A2E26"/>
          </a:solidFill>
          <a:ln/>
        </p:spPr>
      </p:sp>
      <p:sp>
        <p:nvSpPr>
          <p:cNvPr id="49" name="Text 47"/>
          <p:cNvSpPr txBox="1"/>
          <p:nvPr/>
        </p:nvSpPr>
        <p:spPr>
          <a:xfrm>
            <a:off x="6739128" y="5266944"/>
            <a:ext cx="4462272" cy="292608"/>
          </a:xfrm>
          <a:prstGeom prst="rect">
            <a:avLst/>
          </a:prstGeom>
          <a:noFill/>
          <a:ln/>
        </p:spPr>
        <p:txBody>
          <a:bodyPr wrap="square" lIns="0" tIns="0" rIns="0" bIns="0" rtlCol="0" anchor="ctr"/>
          <a:lstStyle/>
          <a:p>
            <a:pPr indent="0" marL="0">
              <a:buNone/>
            </a:pPr>
            <a:r>
              <a:rPr lang="en-US" sz="920" dirty="0">
                <a:solidFill>
                  <a:srgbClr val="3D4E60"/>
                </a:solidFill>
                <a:latin typeface="Meiryo" pitchFamily="34" charset="0"/>
                <a:ea typeface="Meiryo" pitchFamily="34" charset="-122"/>
                <a:cs typeface="Meiryo" pitchFamily="34" charset="-120"/>
              </a:rPr>
              <a:t>競合TKPが12.77%の株主として残る</a:t>
            </a:r>
            <a:endParaRPr lang="en-US" sz="920" dirty="0"/>
          </a:p>
        </p:txBody>
      </p:sp>
      <p:sp>
        <p:nvSpPr>
          <p:cNvPr id="50" name="Shape 48"/>
          <p:cNvSpPr/>
          <p:nvPr/>
        </p:nvSpPr>
        <p:spPr>
          <a:xfrm>
            <a:off x="6492240" y="5614416"/>
            <a:ext cx="118872" cy="118872"/>
          </a:xfrm>
          <a:prstGeom prst="roundRect">
            <a:avLst>
              <a:gd name="adj" fmla="val 50000"/>
            </a:avLst>
          </a:prstGeom>
          <a:solidFill>
            <a:srgbClr val="8A2E26"/>
          </a:solidFill>
          <a:ln/>
        </p:spPr>
      </p:sp>
      <p:sp>
        <p:nvSpPr>
          <p:cNvPr id="51" name="Text 49"/>
          <p:cNvSpPr txBox="1"/>
          <p:nvPr/>
        </p:nvSpPr>
        <p:spPr>
          <a:xfrm>
            <a:off x="6739128" y="5568696"/>
            <a:ext cx="4462272" cy="292608"/>
          </a:xfrm>
          <a:prstGeom prst="rect">
            <a:avLst/>
          </a:prstGeom>
          <a:noFill/>
          <a:ln/>
        </p:spPr>
        <p:txBody>
          <a:bodyPr wrap="square" lIns="0" tIns="0" rIns="0" bIns="0" rtlCol="0" anchor="ctr"/>
          <a:lstStyle/>
          <a:p>
            <a:pPr indent="0" marL="0">
              <a:buNone/>
            </a:pPr>
            <a:r>
              <a:rPr lang="en-US" sz="920" dirty="0">
                <a:solidFill>
                  <a:srgbClr val="3D4E60"/>
                </a:solidFill>
                <a:latin typeface="Meiryo" pitchFamily="34" charset="0"/>
                <a:ea typeface="Meiryo" pitchFamily="34" charset="-122"/>
                <a:cs typeface="Meiryo" pitchFamily="34" charset="-120"/>
              </a:rPr>
              <a:t>重松氏の会長退任は口頭の前提にとどまる</a:t>
            </a:r>
            <a:endParaRPr lang="en-US" sz="9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A85C6E"/>
                </a:solidFill>
                <a:latin typeface="Meiryo" pitchFamily="34" charset="0"/>
                <a:ea typeface="Meiryo" pitchFamily="34" charset="-122"/>
                <a:cs typeface="Meiryo" pitchFamily="34" charset="-120"/>
              </a:rPr>
              <a:t>判断</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答えは、パートナー次第です</a:t>
            </a:r>
            <a:endParaRPr lang="en-US" sz="2800" dirty="0"/>
          </a:p>
        </p:txBody>
      </p:sp>
      <p:sp>
        <p:nvSpPr>
          <p:cNvPr id="4" name="Shape 2"/>
          <p:cNvSpPr/>
          <p:nvPr/>
        </p:nvSpPr>
        <p:spPr>
          <a:xfrm>
            <a:off x="640080" y="1554480"/>
            <a:ext cx="10881360" cy="1188720"/>
          </a:xfrm>
          <a:prstGeom prst="roundRect">
            <a:avLst>
              <a:gd name="adj" fmla="val 4615"/>
            </a:avLst>
          </a:prstGeom>
          <a:solidFill>
            <a:srgbClr val="26333F"/>
          </a:solidFill>
          <a:ln w="25400">
            <a:solidFill>
              <a:srgbClr val="6E2639"/>
            </a:solidFill>
            <a:prstDash val="solid"/>
          </a:ln>
        </p:spPr>
      </p:sp>
      <p:sp>
        <p:nvSpPr>
          <p:cNvPr id="5" name="Text 3"/>
          <p:cNvSpPr txBox="1"/>
          <p:nvPr/>
        </p:nvSpPr>
        <p:spPr>
          <a:xfrm>
            <a:off x="960120" y="1783080"/>
            <a:ext cx="10241280" cy="36576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東京建物等から12億円以上のエクイティを引き出せるか。この一点で結論が変わります。</a:t>
            </a:r>
            <a:endParaRPr lang="en-US" sz="1900" dirty="0"/>
          </a:p>
        </p:txBody>
      </p:sp>
      <p:sp>
        <p:nvSpPr>
          <p:cNvPr id="6" name="Text 4"/>
          <p:cNvSpPr txBox="1"/>
          <p:nvPr/>
        </p:nvSpPr>
        <p:spPr>
          <a:xfrm>
            <a:off x="960120" y="2212848"/>
            <a:ext cx="10241280" cy="320040"/>
          </a:xfrm>
          <a:prstGeom prst="rect">
            <a:avLst/>
          </a:prstGeom>
          <a:noFill/>
          <a:ln/>
        </p:spPr>
        <p:txBody>
          <a:bodyPr wrap="square" lIns="0" tIns="0" rIns="0" bIns="0" rtlCol="0" anchor="ctr"/>
          <a:lstStyle/>
          <a:p>
            <a:pPr indent="0" marL="0">
              <a:buNone/>
            </a:pPr>
            <a:r>
              <a:rPr lang="en-US" sz="1200" dirty="0">
                <a:solidFill>
                  <a:srgbClr val="B9C4CF"/>
                </a:solidFill>
                <a:latin typeface="Meiryo" pitchFamily="34" charset="0"/>
                <a:ea typeface="Meiryo" pitchFamily="34" charset="-122"/>
                <a:cs typeface="Meiryo" pitchFamily="34" charset="-120"/>
              </a:rPr>
              <a:t>金額の多寡ではなく、調達が成立するかどうかの問題です。折衷案がない以上、先に確かめるべきはここです。</a:t>
            </a:r>
            <a:endParaRPr lang="en-US" sz="1200" dirty="0"/>
          </a:p>
        </p:txBody>
      </p:sp>
      <p:sp>
        <p:nvSpPr>
          <p:cNvPr id="7" name="Shape 5"/>
          <p:cNvSpPr/>
          <p:nvPr/>
        </p:nvSpPr>
        <p:spPr>
          <a:xfrm>
            <a:off x="640080" y="2926080"/>
            <a:ext cx="5349240" cy="2651760"/>
          </a:xfrm>
          <a:prstGeom prst="roundRect">
            <a:avLst>
              <a:gd name="adj" fmla="val 2069"/>
            </a:avLst>
          </a:prstGeom>
          <a:solidFill>
            <a:srgbClr val="26333F"/>
          </a:solidFill>
          <a:ln w="25400">
            <a:solidFill>
              <a:srgbClr val="6E2639"/>
            </a:solidFill>
            <a:prstDash val="solid"/>
          </a:ln>
        </p:spPr>
      </p:sp>
      <p:sp>
        <p:nvSpPr>
          <p:cNvPr id="8" name="Text 6"/>
          <p:cNvSpPr txBox="1"/>
          <p:nvPr/>
        </p:nvSpPr>
        <p:spPr>
          <a:xfrm>
            <a:off x="960120" y="3127248"/>
            <a:ext cx="4709160" cy="274320"/>
          </a:xfrm>
          <a:prstGeom prst="rect">
            <a:avLst/>
          </a:prstGeom>
          <a:noFill/>
          <a:ln/>
        </p:spPr>
        <p:txBody>
          <a:bodyPr wrap="square" lIns="0" tIns="0" rIns="0" bIns="0" rtlCol="0" anchor="ctr"/>
          <a:lstStyle/>
          <a:p>
            <a:pPr indent="0" marL="0">
              <a:buNone/>
            </a:pPr>
            <a:r>
              <a:rPr lang="en-US" sz="1200" dirty="0">
                <a:solidFill>
                  <a:srgbClr val="A8B5C0"/>
                </a:solidFill>
                <a:latin typeface="Meiryo" pitchFamily="34" charset="0"/>
                <a:ea typeface="Meiryo" pitchFamily="34" charset="-122"/>
                <a:cs typeface="Meiryo" pitchFamily="34" charset="-120"/>
              </a:rPr>
              <a:t>引き出せる場合</a:t>
            </a:r>
            <a:endParaRPr lang="en-US" sz="1200" dirty="0"/>
          </a:p>
        </p:txBody>
      </p:sp>
      <p:sp>
        <p:nvSpPr>
          <p:cNvPr id="9" name="Text 7"/>
          <p:cNvSpPr txBox="1"/>
          <p:nvPr/>
        </p:nvSpPr>
        <p:spPr>
          <a:xfrm>
            <a:off x="960120" y="3401568"/>
            <a:ext cx="4709160" cy="365760"/>
          </a:xfrm>
          <a:prstGeom prst="rect">
            <a:avLst/>
          </a:prstGeom>
          <a:noFill/>
          <a:ln/>
        </p:spPr>
        <p:txBody>
          <a:bodyPr wrap="square" lIns="0" tIns="0" rIns="0" bIns="0" rtlCol="0" anchor="ctr"/>
          <a:lstStyle/>
          <a:p>
            <a:pPr indent="0" marL="0">
              <a:buNone/>
            </a:pPr>
            <a:r>
              <a:rPr lang="en-US" sz="1800" b="1" dirty="0">
                <a:solidFill>
                  <a:srgbClr val="A85C6E"/>
                </a:solidFill>
                <a:latin typeface="Meiryo" pitchFamily="34" charset="0"/>
                <a:ea typeface="Meiryo" pitchFamily="34" charset="-122"/>
                <a:cs typeface="Meiryo" pitchFamily="34" charset="-120"/>
              </a:rPr>
              <a:t>MBO（A案）を実行</a:t>
            </a:r>
            <a:endParaRPr lang="en-US" sz="1800" dirty="0"/>
          </a:p>
        </p:txBody>
      </p:sp>
      <p:sp>
        <p:nvSpPr>
          <p:cNvPr id="10" name="Shape 8"/>
          <p:cNvSpPr/>
          <p:nvPr/>
        </p:nvSpPr>
        <p:spPr>
          <a:xfrm>
            <a:off x="960120" y="4041648"/>
            <a:ext cx="128016" cy="128016"/>
          </a:xfrm>
          <a:prstGeom prst="roundRect">
            <a:avLst>
              <a:gd name="adj" fmla="val 50000"/>
            </a:avLst>
          </a:prstGeom>
          <a:solidFill>
            <a:srgbClr val="A85C6E"/>
          </a:solidFill>
          <a:ln/>
        </p:spPr>
      </p:sp>
      <p:sp>
        <p:nvSpPr>
          <p:cNvPr id="11" name="Text 9"/>
          <p:cNvSpPr txBox="1"/>
          <p:nvPr/>
        </p:nvSpPr>
        <p:spPr>
          <a:xfrm>
            <a:off x="1234440" y="3968496"/>
            <a:ext cx="4434840" cy="530352"/>
          </a:xfrm>
          <a:prstGeom prst="rect">
            <a:avLst/>
          </a:prstGeom>
          <a:noFill/>
          <a:ln/>
        </p:spPr>
        <p:txBody>
          <a:bodyPr wrap="square" lIns="0" tIns="0" rIns="0" bIns="0" rtlCol="0" anchor="ctr"/>
          <a:lstStyle/>
          <a:p>
            <a:pPr indent="0" marL="0">
              <a:lnSpc>
                <a:spcPct val="115000"/>
              </a:lnSpc>
              <a:buNone/>
            </a:pPr>
            <a:r>
              <a:rPr lang="en-US" sz="1050" dirty="0">
                <a:solidFill>
                  <a:srgbClr val="A8B5C0"/>
                </a:solidFill>
                <a:latin typeface="Meiryo" pitchFamily="34" charset="0"/>
                <a:ea typeface="Meiryo" pitchFamily="34" charset="-122"/>
                <a:cs typeface="Meiryo" pitchFamily="34" charset="-120"/>
              </a:rPr>
              <a:t>過半数50.0%と、有利子負債6.07億を同時に取りにいく</a:t>
            </a:r>
            <a:endParaRPr lang="en-US" sz="1050" dirty="0"/>
          </a:p>
        </p:txBody>
      </p:sp>
      <p:sp>
        <p:nvSpPr>
          <p:cNvPr id="12" name="Shape 10"/>
          <p:cNvSpPr/>
          <p:nvPr/>
        </p:nvSpPr>
        <p:spPr>
          <a:xfrm>
            <a:off x="960120" y="4608576"/>
            <a:ext cx="128016" cy="128016"/>
          </a:xfrm>
          <a:prstGeom prst="roundRect">
            <a:avLst>
              <a:gd name="adj" fmla="val 50000"/>
            </a:avLst>
          </a:prstGeom>
          <a:solidFill>
            <a:srgbClr val="A85C6E"/>
          </a:solidFill>
          <a:ln/>
        </p:spPr>
      </p:sp>
      <p:sp>
        <p:nvSpPr>
          <p:cNvPr id="13" name="Text 11"/>
          <p:cNvSpPr txBox="1"/>
          <p:nvPr/>
        </p:nvSpPr>
        <p:spPr>
          <a:xfrm>
            <a:off x="1234440" y="4535424"/>
            <a:ext cx="4434840" cy="530352"/>
          </a:xfrm>
          <a:prstGeom prst="rect">
            <a:avLst/>
          </a:prstGeom>
          <a:noFill/>
          <a:ln/>
        </p:spPr>
        <p:txBody>
          <a:bodyPr wrap="square" lIns="0" tIns="0" rIns="0" bIns="0" rtlCol="0" anchor="ctr"/>
          <a:lstStyle/>
          <a:p>
            <a:pPr indent="0" marL="0">
              <a:lnSpc>
                <a:spcPct val="115000"/>
              </a:lnSpc>
              <a:buNone/>
            </a:pPr>
            <a:r>
              <a:rPr lang="en-US" sz="1050" dirty="0">
                <a:solidFill>
                  <a:srgbClr val="A8B5C0"/>
                </a:solidFill>
                <a:latin typeface="Meiryo" pitchFamily="34" charset="0"/>
                <a:ea typeface="Meiryo" pitchFamily="34" charset="-122"/>
                <a:cs typeface="Meiryo" pitchFamily="34" charset="-120"/>
              </a:rPr>
              <a:t>ビジョン社にも最も良い条件を提示できる</a:t>
            </a:r>
            <a:endParaRPr lang="en-US" sz="1050" dirty="0"/>
          </a:p>
        </p:txBody>
      </p:sp>
      <p:sp>
        <p:nvSpPr>
          <p:cNvPr id="14" name="Shape 12"/>
          <p:cNvSpPr/>
          <p:nvPr/>
        </p:nvSpPr>
        <p:spPr>
          <a:xfrm>
            <a:off x="960120" y="5175504"/>
            <a:ext cx="128016" cy="128016"/>
          </a:xfrm>
          <a:prstGeom prst="roundRect">
            <a:avLst>
              <a:gd name="adj" fmla="val 50000"/>
            </a:avLst>
          </a:prstGeom>
          <a:solidFill>
            <a:srgbClr val="A85C6E"/>
          </a:solidFill>
          <a:ln/>
        </p:spPr>
      </p:sp>
      <p:sp>
        <p:nvSpPr>
          <p:cNvPr id="15" name="Text 13"/>
          <p:cNvSpPr txBox="1"/>
          <p:nvPr/>
        </p:nvSpPr>
        <p:spPr>
          <a:xfrm>
            <a:off x="1234440" y="5102352"/>
            <a:ext cx="4434840" cy="530352"/>
          </a:xfrm>
          <a:prstGeom prst="rect">
            <a:avLst/>
          </a:prstGeom>
          <a:noFill/>
          <a:ln/>
        </p:spPr>
        <p:txBody>
          <a:bodyPr wrap="square" lIns="0" tIns="0" rIns="0" bIns="0" rtlCol="0" anchor="ctr"/>
          <a:lstStyle/>
          <a:p>
            <a:pPr indent="0" marL="0">
              <a:lnSpc>
                <a:spcPct val="115000"/>
              </a:lnSpc>
              <a:buNone/>
            </a:pPr>
            <a:r>
              <a:rPr lang="en-US" sz="1050" dirty="0">
                <a:solidFill>
                  <a:srgbClr val="A8B5C0"/>
                </a:solidFill>
                <a:latin typeface="Meiryo" pitchFamily="34" charset="0"/>
                <a:ea typeface="Meiryo" pitchFamily="34" charset="-122"/>
                <a:cs typeface="Meiryo" pitchFamily="34" charset="-120"/>
              </a:rPr>
              <a:t>合併の選択肢は、独立後にあらためて交渉できる</a:t>
            </a:r>
            <a:endParaRPr lang="en-US" sz="1050" dirty="0"/>
          </a:p>
        </p:txBody>
      </p:sp>
      <p:sp>
        <p:nvSpPr>
          <p:cNvPr id="16" name="Shape 14"/>
          <p:cNvSpPr/>
          <p:nvPr/>
        </p:nvSpPr>
        <p:spPr>
          <a:xfrm>
            <a:off x="6172200" y="2926080"/>
            <a:ext cx="5349240" cy="2651760"/>
          </a:xfrm>
          <a:prstGeom prst="roundRect">
            <a:avLst>
              <a:gd name="adj" fmla="val 2069"/>
            </a:avLst>
          </a:prstGeom>
          <a:solidFill>
            <a:srgbClr val="26333F"/>
          </a:solidFill>
          <a:ln w="12700">
            <a:solidFill>
              <a:srgbClr val="3A4854"/>
            </a:solidFill>
            <a:prstDash val="solid"/>
          </a:ln>
        </p:spPr>
      </p:sp>
      <p:sp>
        <p:nvSpPr>
          <p:cNvPr id="17" name="Text 15"/>
          <p:cNvSpPr txBox="1"/>
          <p:nvPr/>
        </p:nvSpPr>
        <p:spPr>
          <a:xfrm>
            <a:off x="6492240" y="3127248"/>
            <a:ext cx="4709160" cy="274320"/>
          </a:xfrm>
          <a:prstGeom prst="rect">
            <a:avLst/>
          </a:prstGeom>
          <a:noFill/>
          <a:ln/>
        </p:spPr>
        <p:txBody>
          <a:bodyPr wrap="square" lIns="0" tIns="0" rIns="0" bIns="0" rtlCol="0" anchor="ctr"/>
          <a:lstStyle/>
          <a:p>
            <a:pPr indent="0" marL="0">
              <a:buNone/>
            </a:pPr>
            <a:r>
              <a:rPr lang="en-US" sz="1200" dirty="0">
                <a:solidFill>
                  <a:srgbClr val="A8B5C0"/>
                </a:solidFill>
                <a:latin typeface="Meiryo" pitchFamily="34" charset="0"/>
                <a:ea typeface="Meiryo" pitchFamily="34" charset="-122"/>
                <a:cs typeface="Meiryo" pitchFamily="34" charset="-120"/>
              </a:rPr>
              <a:t>引き出せない場合</a:t>
            </a:r>
            <a:endParaRPr lang="en-US" sz="1200" dirty="0"/>
          </a:p>
        </p:txBody>
      </p:sp>
      <p:sp>
        <p:nvSpPr>
          <p:cNvPr id="18" name="Text 16"/>
          <p:cNvSpPr txBox="1"/>
          <p:nvPr/>
        </p:nvSpPr>
        <p:spPr>
          <a:xfrm>
            <a:off x="6492240" y="3401568"/>
            <a:ext cx="4709160" cy="365760"/>
          </a:xfrm>
          <a:prstGeom prst="rect">
            <a:avLst/>
          </a:prstGeom>
          <a:noFill/>
          <a:ln/>
        </p:spPr>
        <p:txBody>
          <a:bodyPr wrap="square" lIns="0" tIns="0" rIns="0" bIns="0" rtlCol="0" anchor="ctr"/>
          <a:lstStyle/>
          <a:p>
            <a:pPr indent="0" marL="0">
              <a:buNone/>
            </a:pPr>
            <a:r>
              <a:rPr lang="en-US" sz="1800" b="1" dirty="0">
                <a:solidFill>
                  <a:srgbClr val="8FB0CC"/>
                </a:solidFill>
                <a:latin typeface="Meiryo" pitchFamily="34" charset="0"/>
                <a:ea typeface="Meiryo" pitchFamily="34" charset="-122"/>
                <a:cs typeface="Meiryo" pitchFamily="34" charset="-120"/>
              </a:rPr>
              <a:t>合併（B案）で条件を取りにいく</a:t>
            </a:r>
            <a:endParaRPr lang="en-US" sz="1800" dirty="0"/>
          </a:p>
        </p:txBody>
      </p:sp>
      <p:sp>
        <p:nvSpPr>
          <p:cNvPr id="19" name="Shape 17"/>
          <p:cNvSpPr/>
          <p:nvPr/>
        </p:nvSpPr>
        <p:spPr>
          <a:xfrm>
            <a:off x="6492240" y="4041648"/>
            <a:ext cx="128016" cy="128016"/>
          </a:xfrm>
          <a:prstGeom prst="roundRect">
            <a:avLst>
              <a:gd name="adj" fmla="val 50000"/>
            </a:avLst>
          </a:prstGeom>
          <a:solidFill>
            <a:srgbClr val="8FB0CC"/>
          </a:solidFill>
          <a:ln/>
        </p:spPr>
      </p:sp>
      <p:sp>
        <p:nvSpPr>
          <p:cNvPr id="20" name="Text 18"/>
          <p:cNvSpPr txBox="1"/>
          <p:nvPr/>
        </p:nvSpPr>
        <p:spPr>
          <a:xfrm>
            <a:off x="6766560" y="3968496"/>
            <a:ext cx="4434840" cy="530352"/>
          </a:xfrm>
          <a:prstGeom prst="rect">
            <a:avLst/>
          </a:prstGeom>
          <a:noFill/>
          <a:ln/>
        </p:spPr>
        <p:txBody>
          <a:bodyPr wrap="square" lIns="0" tIns="0" rIns="0" bIns="0" rtlCol="0" anchor="ctr"/>
          <a:lstStyle/>
          <a:p>
            <a:pPr indent="0" marL="0">
              <a:lnSpc>
                <a:spcPct val="115000"/>
              </a:lnSpc>
              <a:buNone/>
            </a:pPr>
            <a:r>
              <a:rPr lang="en-US" sz="1050" dirty="0">
                <a:solidFill>
                  <a:srgbClr val="A8B5C0"/>
                </a:solidFill>
                <a:latin typeface="Meiryo" pitchFamily="34" charset="0"/>
                <a:ea typeface="Meiryo" pitchFamily="34" charset="-122"/>
                <a:cs typeface="Meiryo" pitchFamily="34" charset="-120"/>
              </a:rPr>
              <a:t>単独で成立し、ビジョン社の出口と筆頭株主化は達成できる</a:t>
            </a:r>
            <a:endParaRPr lang="en-US" sz="1050" dirty="0"/>
          </a:p>
        </p:txBody>
      </p:sp>
      <p:sp>
        <p:nvSpPr>
          <p:cNvPr id="21" name="Shape 19"/>
          <p:cNvSpPr/>
          <p:nvPr/>
        </p:nvSpPr>
        <p:spPr>
          <a:xfrm>
            <a:off x="6492240" y="4608576"/>
            <a:ext cx="128016" cy="128016"/>
          </a:xfrm>
          <a:prstGeom prst="roundRect">
            <a:avLst>
              <a:gd name="adj" fmla="val 50000"/>
            </a:avLst>
          </a:prstGeom>
          <a:solidFill>
            <a:srgbClr val="8FB0CC"/>
          </a:solidFill>
          <a:ln/>
        </p:spPr>
      </p:sp>
      <p:sp>
        <p:nvSpPr>
          <p:cNvPr id="22" name="Text 20"/>
          <p:cNvSpPr txBox="1"/>
          <p:nvPr/>
        </p:nvSpPr>
        <p:spPr>
          <a:xfrm>
            <a:off x="6766560" y="4535424"/>
            <a:ext cx="4434840" cy="530352"/>
          </a:xfrm>
          <a:prstGeom prst="rect">
            <a:avLst/>
          </a:prstGeom>
          <a:noFill/>
          <a:ln/>
        </p:spPr>
        <p:txBody>
          <a:bodyPr wrap="square" lIns="0" tIns="0" rIns="0" bIns="0" rtlCol="0" anchor="ctr"/>
          <a:lstStyle/>
          <a:p>
            <a:pPr indent="0" marL="0">
              <a:lnSpc>
                <a:spcPct val="115000"/>
              </a:lnSpc>
              <a:buNone/>
            </a:pPr>
            <a:r>
              <a:rPr lang="en-US" sz="1050" dirty="0">
                <a:solidFill>
                  <a:srgbClr val="A8B5C0"/>
                </a:solidFill>
                <a:latin typeface="Meiryo" pitchFamily="34" charset="0"/>
                <a:ea typeface="Meiryo" pitchFamily="34" charset="-122"/>
                <a:cs typeface="Meiryo" pitchFamily="34" charset="-120"/>
              </a:rPr>
              <a:t>評価額20億以上・基準株価3ヶ月平均・のれん負担の3点を交渉</a:t>
            </a:r>
            <a:endParaRPr lang="en-US" sz="1050" dirty="0"/>
          </a:p>
        </p:txBody>
      </p:sp>
      <p:sp>
        <p:nvSpPr>
          <p:cNvPr id="23" name="Shape 21"/>
          <p:cNvSpPr/>
          <p:nvPr/>
        </p:nvSpPr>
        <p:spPr>
          <a:xfrm>
            <a:off x="6492240" y="5175504"/>
            <a:ext cx="128016" cy="128016"/>
          </a:xfrm>
          <a:prstGeom prst="roundRect">
            <a:avLst>
              <a:gd name="adj" fmla="val 50000"/>
            </a:avLst>
          </a:prstGeom>
          <a:solidFill>
            <a:srgbClr val="8FB0CC"/>
          </a:solidFill>
          <a:ln/>
        </p:spPr>
      </p:sp>
      <p:sp>
        <p:nvSpPr>
          <p:cNvPr id="24" name="Text 22"/>
          <p:cNvSpPr txBox="1"/>
          <p:nvPr/>
        </p:nvSpPr>
        <p:spPr>
          <a:xfrm>
            <a:off x="6766560" y="5102352"/>
            <a:ext cx="4434840" cy="530352"/>
          </a:xfrm>
          <a:prstGeom prst="rect">
            <a:avLst/>
          </a:prstGeom>
          <a:noFill/>
          <a:ln/>
        </p:spPr>
        <p:txBody>
          <a:bodyPr wrap="square" lIns="0" tIns="0" rIns="0" bIns="0" rtlCol="0" anchor="ctr"/>
          <a:lstStyle/>
          <a:p>
            <a:pPr indent="0" marL="0">
              <a:lnSpc>
                <a:spcPct val="115000"/>
              </a:lnSpc>
              <a:buNone/>
            </a:pPr>
            <a:r>
              <a:rPr lang="en-US" sz="1050" dirty="0">
                <a:solidFill>
                  <a:srgbClr val="A8B5C0"/>
                </a:solidFill>
                <a:latin typeface="Meiryo" pitchFamily="34" charset="0"/>
                <a:ea typeface="Meiryo" pitchFamily="34" charset="-122"/>
                <a:cs typeface="Meiryo" pitchFamily="34" charset="-120"/>
              </a:rPr>
              <a:t>将来の持分拡大は重松氏との覚書で担保する</a:t>
            </a:r>
            <a:endParaRPr lang="en-US" sz="1050" dirty="0"/>
          </a:p>
        </p:txBody>
      </p:sp>
      <p:sp>
        <p:nvSpPr>
          <p:cNvPr id="25" name="Text 23"/>
          <p:cNvSpPr txBox="1"/>
          <p:nvPr/>
        </p:nvSpPr>
        <p:spPr>
          <a:xfrm>
            <a:off x="640080" y="5852160"/>
            <a:ext cx="10881360" cy="320040"/>
          </a:xfrm>
          <a:prstGeom prst="rect">
            <a:avLst/>
          </a:prstGeom>
          <a:noFill/>
          <a:ln/>
        </p:spPr>
        <p:txBody>
          <a:bodyPr wrap="square" lIns="0" tIns="0" rIns="0" bIns="0" rtlCol="0" anchor="ctr"/>
          <a:lstStyle/>
          <a:p>
            <a:pPr indent="0" marL="0">
              <a:buNone/>
            </a:pPr>
            <a:r>
              <a:rPr lang="en-US" sz="1250" b="1" dirty="0">
                <a:solidFill>
                  <a:srgbClr val="A85C6E"/>
                </a:solidFill>
                <a:latin typeface="Meiryo" pitchFamily="34" charset="0"/>
                <a:ea typeface="Meiryo" pitchFamily="34" charset="-122"/>
                <a:cs typeface="Meiryo" pitchFamily="34" charset="-120"/>
              </a:rPr>
              <a:t>合併の協議は止めずに並走させます。A案が立てばそちらを優先し、立たなければB案に進む、という順序です。</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次のステップ</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いま動かすべき4件</a:t>
            </a:r>
            <a:endParaRPr lang="en-US" sz="2800" dirty="0"/>
          </a:p>
        </p:txBody>
      </p:sp>
      <p:sp>
        <p:nvSpPr>
          <p:cNvPr id="4" name="Shape 2"/>
          <p:cNvSpPr/>
          <p:nvPr/>
        </p:nvSpPr>
        <p:spPr>
          <a:xfrm>
            <a:off x="640080" y="1554480"/>
            <a:ext cx="10881360" cy="987552"/>
          </a:xfrm>
          <a:prstGeom prst="roundRect">
            <a:avLst>
              <a:gd name="adj" fmla="val 5556"/>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Shape 3"/>
          <p:cNvSpPr/>
          <p:nvPr/>
        </p:nvSpPr>
        <p:spPr>
          <a:xfrm>
            <a:off x="960120" y="1773936"/>
            <a:ext cx="548640" cy="548640"/>
          </a:xfrm>
          <a:prstGeom prst="roundRect">
            <a:avLst>
              <a:gd name="adj" fmla="val 50000"/>
            </a:avLst>
          </a:prstGeom>
          <a:solidFill>
            <a:srgbClr val="6E2639"/>
          </a:solidFill>
          <a:ln/>
        </p:spPr>
      </p:sp>
      <p:sp>
        <p:nvSpPr>
          <p:cNvPr id="6" name="Text 4"/>
          <p:cNvSpPr txBox="1"/>
          <p:nvPr/>
        </p:nvSpPr>
        <p:spPr>
          <a:xfrm>
            <a:off x="960120" y="1773936"/>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01</a:t>
            </a:r>
            <a:endParaRPr lang="en-US" sz="1400" dirty="0"/>
          </a:p>
        </p:txBody>
      </p:sp>
      <p:sp>
        <p:nvSpPr>
          <p:cNvPr id="7" name="Text 5"/>
          <p:cNvSpPr txBox="1"/>
          <p:nvPr/>
        </p:nvSpPr>
        <p:spPr>
          <a:xfrm>
            <a:off x="1737360" y="1737360"/>
            <a:ext cx="3840480" cy="292608"/>
          </a:xfrm>
          <a:prstGeom prst="rect">
            <a:avLst/>
          </a:prstGeom>
          <a:noFill/>
          <a:ln/>
        </p:spPr>
        <p:txBody>
          <a:bodyPr wrap="square" lIns="0" tIns="0" rIns="0" bIns="0" rtlCol="0" anchor="ctr"/>
          <a:lstStyle/>
          <a:p>
            <a:pPr indent="0" marL="0">
              <a:buNone/>
            </a:pPr>
            <a:r>
              <a:rPr lang="en-US" sz="1450" b="1" dirty="0">
                <a:solidFill>
                  <a:srgbClr val="1E2A38"/>
                </a:solidFill>
                <a:latin typeface="Meiryo" pitchFamily="34" charset="0"/>
                <a:ea typeface="Meiryo" pitchFamily="34" charset="-122"/>
                <a:cs typeface="Meiryo" pitchFamily="34" charset="-120"/>
              </a:rPr>
              <a:t>東京建物等への打診</a:t>
            </a:r>
            <a:endParaRPr lang="en-US" sz="1450" dirty="0"/>
          </a:p>
        </p:txBody>
      </p:sp>
      <p:sp>
        <p:nvSpPr>
          <p:cNvPr id="8" name="Text 6"/>
          <p:cNvSpPr txBox="1"/>
          <p:nvPr/>
        </p:nvSpPr>
        <p:spPr>
          <a:xfrm>
            <a:off x="1737360" y="2066544"/>
            <a:ext cx="7863840" cy="402336"/>
          </a:xfrm>
          <a:prstGeom prst="rect">
            <a:avLst/>
          </a:prstGeom>
          <a:noFill/>
          <a:ln/>
        </p:spPr>
        <p:txBody>
          <a:bodyPr wrap="square" lIns="0" tIns="0" rIns="0" bIns="0" rtlCol="0" anchor="ctr"/>
          <a:lstStyle/>
          <a:p>
            <a:pPr indent="0" marL="0">
              <a:lnSpc>
                <a:spcPct val="115000"/>
              </a:lnSpc>
              <a:buNone/>
            </a:pPr>
            <a:r>
              <a:rPr lang="en-US" sz="1050" dirty="0">
                <a:solidFill>
                  <a:srgbClr val="3D4E60"/>
                </a:solidFill>
                <a:latin typeface="Meiryo" pitchFamily="34" charset="0"/>
                <a:ea typeface="Meiryo" pitchFamily="34" charset="-122"/>
                <a:cs typeface="Meiryo" pitchFamily="34" charset="-120"/>
              </a:rPr>
              <a:t>12億円以上のエクイティ引受が可能かどうかを、早い段階で確かめます。金額を下げた折衷案は成立しないため、規模を明示して打診します。</a:t>
            </a:r>
            <a:endParaRPr lang="en-US" sz="1050" dirty="0"/>
          </a:p>
        </p:txBody>
      </p:sp>
      <p:sp>
        <p:nvSpPr>
          <p:cNvPr id="9" name="Text 7"/>
          <p:cNvSpPr txBox="1"/>
          <p:nvPr/>
        </p:nvSpPr>
        <p:spPr>
          <a:xfrm>
            <a:off x="9784080" y="1901952"/>
            <a:ext cx="1463040" cy="292608"/>
          </a:xfrm>
          <a:prstGeom prst="rect">
            <a:avLst/>
          </a:prstGeom>
          <a:noFill/>
          <a:ln/>
        </p:spPr>
        <p:txBody>
          <a:bodyPr wrap="square" lIns="0" tIns="0" rIns="0" bIns="0" rtlCol="0" anchor="ctr"/>
          <a:lstStyle/>
          <a:p>
            <a:pPr algn="r" indent="0" marL="0">
              <a:buNone/>
            </a:pPr>
            <a:r>
              <a:rPr lang="en-US" sz="1200" b="1" dirty="0">
                <a:solidFill>
                  <a:srgbClr val="6E2639"/>
                </a:solidFill>
                <a:latin typeface="Meiryo" pitchFamily="34" charset="0"/>
                <a:ea typeface="Meiryo" pitchFamily="34" charset="-122"/>
                <a:cs typeface="Meiryo" pitchFamily="34" charset="-120"/>
              </a:rPr>
              <a:t>期限を切る</a:t>
            </a:r>
            <a:endParaRPr lang="en-US" sz="1200" dirty="0"/>
          </a:p>
        </p:txBody>
      </p:sp>
      <p:sp>
        <p:nvSpPr>
          <p:cNvPr id="10" name="Shape 8"/>
          <p:cNvSpPr/>
          <p:nvPr/>
        </p:nvSpPr>
        <p:spPr>
          <a:xfrm>
            <a:off x="640080" y="2670048"/>
            <a:ext cx="10881360" cy="987552"/>
          </a:xfrm>
          <a:prstGeom prst="roundRect">
            <a:avLst>
              <a:gd name="adj" fmla="val 5556"/>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1" name="Shape 9"/>
          <p:cNvSpPr/>
          <p:nvPr/>
        </p:nvSpPr>
        <p:spPr>
          <a:xfrm>
            <a:off x="960120" y="2889504"/>
            <a:ext cx="548640" cy="548640"/>
          </a:xfrm>
          <a:prstGeom prst="roundRect">
            <a:avLst>
              <a:gd name="adj" fmla="val 50000"/>
            </a:avLst>
          </a:prstGeom>
          <a:solidFill>
            <a:srgbClr val="6E2639"/>
          </a:solidFill>
          <a:ln/>
        </p:spPr>
      </p:sp>
      <p:sp>
        <p:nvSpPr>
          <p:cNvPr id="12" name="Text 10"/>
          <p:cNvSpPr txBox="1"/>
          <p:nvPr/>
        </p:nvSpPr>
        <p:spPr>
          <a:xfrm>
            <a:off x="960120" y="2889504"/>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02</a:t>
            </a:r>
            <a:endParaRPr lang="en-US" sz="1400" dirty="0"/>
          </a:p>
        </p:txBody>
      </p:sp>
      <p:sp>
        <p:nvSpPr>
          <p:cNvPr id="13" name="Text 11"/>
          <p:cNvSpPr txBox="1"/>
          <p:nvPr/>
        </p:nvSpPr>
        <p:spPr>
          <a:xfrm>
            <a:off x="1737360" y="2852928"/>
            <a:ext cx="3840480" cy="292608"/>
          </a:xfrm>
          <a:prstGeom prst="rect">
            <a:avLst/>
          </a:prstGeom>
          <a:noFill/>
          <a:ln/>
        </p:spPr>
        <p:txBody>
          <a:bodyPr wrap="square" lIns="0" tIns="0" rIns="0" bIns="0" rtlCol="0" anchor="ctr"/>
          <a:lstStyle/>
          <a:p>
            <a:pPr indent="0" marL="0">
              <a:buNone/>
            </a:pPr>
            <a:r>
              <a:rPr lang="en-US" sz="1450" b="1" dirty="0">
                <a:solidFill>
                  <a:srgbClr val="1E2A38"/>
                </a:solidFill>
                <a:latin typeface="Meiryo" pitchFamily="34" charset="0"/>
                <a:ea typeface="Meiryo" pitchFamily="34" charset="-122"/>
                <a:cs typeface="Meiryo" pitchFamily="34" charset="-120"/>
              </a:rPr>
              <a:t>みずほ銀行様への打診</a:t>
            </a:r>
            <a:endParaRPr lang="en-US" sz="1450" dirty="0"/>
          </a:p>
        </p:txBody>
      </p:sp>
      <p:sp>
        <p:nvSpPr>
          <p:cNvPr id="14" name="Text 12"/>
          <p:cNvSpPr txBox="1"/>
          <p:nvPr/>
        </p:nvSpPr>
        <p:spPr>
          <a:xfrm>
            <a:off x="1737360" y="3182112"/>
            <a:ext cx="7863840" cy="402336"/>
          </a:xfrm>
          <a:prstGeom prst="rect">
            <a:avLst/>
          </a:prstGeom>
          <a:noFill/>
          <a:ln/>
        </p:spPr>
        <p:txBody>
          <a:bodyPr wrap="square" lIns="0" tIns="0" rIns="0" bIns="0" rtlCol="0" anchor="ctr"/>
          <a:lstStyle/>
          <a:p>
            <a:pPr indent="0" marL="0">
              <a:lnSpc>
                <a:spcPct val="115000"/>
              </a:lnSpc>
              <a:buNone/>
            </a:pPr>
            <a:r>
              <a:rPr lang="en-US" sz="1050" dirty="0">
                <a:solidFill>
                  <a:srgbClr val="3D4E60"/>
                </a:solidFill>
                <a:latin typeface="Meiryo" pitchFamily="34" charset="0"/>
                <a:ea typeface="Meiryo" pitchFamily="34" charset="-122"/>
                <a:cs typeface="Meiryo" pitchFamily="34" charset="-120"/>
              </a:rPr>
              <a:t>A案なら3.00億円、B案なら7.90億円のリファイナンス。案によって金額が変わるため、両方の前提でご相談します。</a:t>
            </a:r>
            <a:endParaRPr lang="en-US" sz="1050" dirty="0"/>
          </a:p>
        </p:txBody>
      </p:sp>
      <p:sp>
        <p:nvSpPr>
          <p:cNvPr id="15" name="Text 13"/>
          <p:cNvSpPr txBox="1"/>
          <p:nvPr/>
        </p:nvSpPr>
        <p:spPr>
          <a:xfrm>
            <a:off x="9784080" y="3017520"/>
            <a:ext cx="1463040" cy="292608"/>
          </a:xfrm>
          <a:prstGeom prst="rect">
            <a:avLst/>
          </a:prstGeom>
          <a:noFill/>
          <a:ln/>
        </p:spPr>
        <p:txBody>
          <a:bodyPr wrap="square" lIns="0" tIns="0" rIns="0" bIns="0" rtlCol="0" anchor="ctr"/>
          <a:lstStyle/>
          <a:p>
            <a:pPr algn="r" indent="0" marL="0">
              <a:buNone/>
            </a:pPr>
            <a:r>
              <a:rPr lang="en-US" sz="1200" b="1" dirty="0">
                <a:solidFill>
                  <a:srgbClr val="6E2639"/>
                </a:solidFill>
                <a:latin typeface="Meiryo" pitchFamily="34" charset="0"/>
                <a:ea typeface="Meiryo" pitchFamily="34" charset="-122"/>
                <a:cs typeface="Meiryo" pitchFamily="34" charset="-120"/>
              </a:rPr>
              <a:t>両案で相談</a:t>
            </a:r>
            <a:endParaRPr lang="en-US" sz="1200" dirty="0"/>
          </a:p>
        </p:txBody>
      </p:sp>
      <p:sp>
        <p:nvSpPr>
          <p:cNvPr id="16" name="Shape 14"/>
          <p:cNvSpPr/>
          <p:nvPr/>
        </p:nvSpPr>
        <p:spPr>
          <a:xfrm>
            <a:off x="640080" y="3785616"/>
            <a:ext cx="10881360" cy="987552"/>
          </a:xfrm>
          <a:prstGeom prst="roundRect">
            <a:avLst>
              <a:gd name="adj" fmla="val 5556"/>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7" name="Shape 15"/>
          <p:cNvSpPr/>
          <p:nvPr/>
        </p:nvSpPr>
        <p:spPr>
          <a:xfrm>
            <a:off x="960120" y="4005072"/>
            <a:ext cx="548640" cy="548640"/>
          </a:xfrm>
          <a:prstGeom prst="roundRect">
            <a:avLst>
              <a:gd name="adj" fmla="val 50000"/>
            </a:avLst>
          </a:prstGeom>
          <a:solidFill>
            <a:srgbClr val="2E5C8A"/>
          </a:solidFill>
          <a:ln/>
        </p:spPr>
      </p:sp>
      <p:sp>
        <p:nvSpPr>
          <p:cNvPr id="18" name="Text 16"/>
          <p:cNvSpPr txBox="1"/>
          <p:nvPr/>
        </p:nvSpPr>
        <p:spPr>
          <a:xfrm>
            <a:off x="960120" y="4005072"/>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03</a:t>
            </a:r>
            <a:endParaRPr lang="en-US" sz="1400" dirty="0"/>
          </a:p>
        </p:txBody>
      </p:sp>
      <p:sp>
        <p:nvSpPr>
          <p:cNvPr id="19" name="Text 17"/>
          <p:cNvSpPr txBox="1"/>
          <p:nvPr/>
        </p:nvSpPr>
        <p:spPr>
          <a:xfrm>
            <a:off x="1737360" y="3968496"/>
            <a:ext cx="3840480" cy="292608"/>
          </a:xfrm>
          <a:prstGeom prst="rect">
            <a:avLst/>
          </a:prstGeom>
          <a:noFill/>
          <a:ln/>
        </p:spPr>
        <p:txBody>
          <a:bodyPr wrap="square" lIns="0" tIns="0" rIns="0" bIns="0" rtlCol="0" anchor="ctr"/>
          <a:lstStyle/>
          <a:p>
            <a:pPr indent="0" marL="0">
              <a:buNone/>
            </a:pPr>
            <a:r>
              <a:rPr lang="en-US" sz="1450" b="1" dirty="0">
                <a:solidFill>
                  <a:srgbClr val="1E2A38"/>
                </a:solidFill>
                <a:latin typeface="Meiryo" pitchFamily="34" charset="0"/>
                <a:ea typeface="Meiryo" pitchFamily="34" charset="-122"/>
                <a:cs typeface="Meiryo" pitchFamily="34" charset="-120"/>
              </a:rPr>
              <a:t>ビジョン社との合意</a:t>
            </a:r>
            <a:endParaRPr lang="en-US" sz="1450" dirty="0"/>
          </a:p>
        </p:txBody>
      </p:sp>
      <p:sp>
        <p:nvSpPr>
          <p:cNvPr id="20" name="Text 18"/>
          <p:cNvSpPr txBox="1"/>
          <p:nvPr/>
        </p:nvSpPr>
        <p:spPr>
          <a:xfrm>
            <a:off x="1737360" y="4297680"/>
            <a:ext cx="7863840" cy="402336"/>
          </a:xfrm>
          <a:prstGeom prst="rect">
            <a:avLst/>
          </a:prstGeom>
          <a:noFill/>
          <a:ln/>
        </p:spPr>
        <p:txBody>
          <a:bodyPr wrap="square" lIns="0" tIns="0" rIns="0" bIns="0" rtlCol="0" anchor="ctr"/>
          <a:lstStyle/>
          <a:p>
            <a:pPr indent="0" marL="0">
              <a:lnSpc>
                <a:spcPct val="115000"/>
              </a:lnSpc>
              <a:buNone/>
            </a:pPr>
            <a:r>
              <a:rPr lang="en-US" sz="1050" dirty="0">
                <a:solidFill>
                  <a:srgbClr val="3D4E60"/>
                </a:solidFill>
                <a:latin typeface="Meiryo" pitchFamily="34" charset="0"/>
                <a:ea typeface="Meiryo" pitchFamily="34" charset="-122"/>
                <a:cs typeface="Meiryo" pitchFamily="34" charset="-120"/>
              </a:rPr>
              <a:t>株式は市場売却、借入は持分希薄化と同時に全額返済。この2点を先に文書で確認します。</a:t>
            </a:r>
            <a:endParaRPr lang="en-US" sz="1050" dirty="0"/>
          </a:p>
        </p:txBody>
      </p:sp>
      <p:sp>
        <p:nvSpPr>
          <p:cNvPr id="21" name="Text 19"/>
          <p:cNvSpPr txBox="1"/>
          <p:nvPr/>
        </p:nvSpPr>
        <p:spPr>
          <a:xfrm>
            <a:off x="9784080" y="4133088"/>
            <a:ext cx="1463040" cy="292608"/>
          </a:xfrm>
          <a:prstGeom prst="rect">
            <a:avLst/>
          </a:prstGeom>
          <a:noFill/>
          <a:ln/>
        </p:spPr>
        <p:txBody>
          <a:bodyPr wrap="square" lIns="0" tIns="0" rIns="0" bIns="0" rtlCol="0" anchor="ctr"/>
          <a:lstStyle/>
          <a:p>
            <a:pPr algn="r" indent="0" marL="0">
              <a:buNone/>
            </a:pPr>
            <a:r>
              <a:rPr lang="en-US" sz="1200" b="1" dirty="0">
                <a:solidFill>
                  <a:srgbClr val="2E5C8A"/>
                </a:solidFill>
                <a:latin typeface="Meiryo" pitchFamily="34" charset="0"/>
                <a:ea typeface="Meiryo" pitchFamily="34" charset="-122"/>
                <a:cs typeface="Meiryo" pitchFamily="34" charset="-120"/>
              </a:rPr>
              <a:t>書面化</a:t>
            </a:r>
            <a:endParaRPr lang="en-US" sz="1200" dirty="0"/>
          </a:p>
        </p:txBody>
      </p:sp>
      <p:sp>
        <p:nvSpPr>
          <p:cNvPr id="22" name="Shape 20"/>
          <p:cNvSpPr/>
          <p:nvPr/>
        </p:nvSpPr>
        <p:spPr>
          <a:xfrm>
            <a:off x="640080" y="4901184"/>
            <a:ext cx="10881360" cy="987552"/>
          </a:xfrm>
          <a:prstGeom prst="roundRect">
            <a:avLst>
              <a:gd name="adj" fmla="val 5556"/>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23" name="Shape 21"/>
          <p:cNvSpPr/>
          <p:nvPr/>
        </p:nvSpPr>
        <p:spPr>
          <a:xfrm>
            <a:off x="960120" y="5120640"/>
            <a:ext cx="548640" cy="548640"/>
          </a:xfrm>
          <a:prstGeom prst="roundRect">
            <a:avLst>
              <a:gd name="adj" fmla="val 50000"/>
            </a:avLst>
          </a:prstGeom>
          <a:solidFill>
            <a:srgbClr val="2E5C8A"/>
          </a:solidFill>
          <a:ln/>
        </p:spPr>
      </p:sp>
      <p:sp>
        <p:nvSpPr>
          <p:cNvPr id="24" name="Text 22"/>
          <p:cNvSpPr txBox="1"/>
          <p:nvPr/>
        </p:nvSpPr>
        <p:spPr>
          <a:xfrm>
            <a:off x="960120" y="512064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04</a:t>
            </a:r>
            <a:endParaRPr lang="en-US" sz="1400" dirty="0"/>
          </a:p>
        </p:txBody>
      </p:sp>
      <p:sp>
        <p:nvSpPr>
          <p:cNvPr id="25" name="Text 23"/>
          <p:cNvSpPr txBox="1"/>
          <p:nvPr/>
        </p:nvSpPr>
        <p:spPr>
          <a:xfrm>
            <a:off x="1737360" y="5084064"/>
            <a:ext cx="3840480" cy="292608"/>
          </a:xfrm>
          <a:prstGeom prst="rect">
            <a:avLst/>
          </a:prstGeom>
          <a:noFill/>
          <a:ln/>
        </p:spPr>
        <p:txBody>
          <a:bodyPr wrap="square" lIns="0" tIns="0" rIns="0" bIns="0" rtlCol="0" anchor="ctr"/>
          <a:lstStyle/>
          <a:p>
            <a:pPr indent="0" marL="0">
              <a:buNone/>
            </a:pPr>
            <a:r>
              <a:rPr lang="en-US" sz="1450" b="1" dirty="0">
                <a:solidFill>
                  <a:srgbClr val="1E2A38"/>
                </a:solidFill>
                <a:latin typeface="Meiryo" pitchFamily="34" charset="0"/>
                <a:ea typeface="Meiryo" pitchFamily="34" charset="-122"/>
                <a:cs typeface="Meiryo" pitchFamily="34" charset="-120"/>
              </a:rPr>
              <a:t>重松氏との覚書</a:t>
            </a:r>
            <a:endParaRPr lang="en-US" sz="1450" dirty="0"/>
          </a:p>
        </p:txBody>
      </p:sp>
      <p:sp>
        <p:nvSpPr>
          <p:cNvPr id="26" name="Text 24"/>
          <p:cNvSpPr txBox="1"/>
          <p:nvPr/>
        </p:nvSpPr>
        <p:spPr>
          <a:xfrm>
            <a:off x="1737360" y="5413248"/>
            <a:ext cx="7863840" cy="402336"/>
          </a:xfrm>
          <a:prstGeom prst="rect">
            <a:avLst/>
          </a:prstGeom>
          <a:noFill/>
          <a:ln/>
        </p:spPr>
        <p:txBody>
          <a:bodyPr wrap="square" lIns="0" tIns="0" rIns="0" bIns="0" rtlCol="0" anchor="ctr"/>
          <a:lstStyle/>
          <a:p>
            <a:pPr indent="0" marL="0">
              <a:lnSpc>
                <a:spcPct val="115000"/>
              </a:lnSpc>
              <a:buNone/>
            </a:pPr>
            <a:r>
              <a:rPr lang="en-US" sz="1050" dirty="0">
                <a:solidFill>
                  <a:srgbClr val="3D4E60"/>
                </a:solidFill>
                <a:latin typeface="Meiryo" pitchFamily="34" charset="0"/>
                <a:ea typeface="Meiryo" pitchFamily="34" charset="-122"/>
                <a:cs typeface="Meiryo" pitchFamily="34" charset="-120"/>
              </a:rPr>
              <a:t>会長就任の時期、譲渡する株数、価格の考え方。口頭の前提のままでは資金計画として銀行に持ち込めません。</a:t>
            </a:r>
            <a:endParaRPr lang="en-US" sz="1050" dirty="0"/>
          </a:p>
        </p:txBody>
      </p:sp>
      <p:sp>
        <p:nvSpPr>
          <p:cNvPr id="27" name="Text 25"/>
          <p:cNvSpPr txBox="1"/>
          <p:nvPr/>
        </p:nvSpPr>
        <p:spPr>
          <a:xfrm>
            <a:off x="9784080" y="5248656"/>
            <a:ext cx="1463040" cy="292608"/>
          </a:xfrm>
          <a:prstGeom prst="rect">
            <a:avLst/>
          </a:prstGeom>
          <a:noFill/>
          <a:ln/>
        </p:spPr>
        <p:txBody>
          <a:bodyPr wrap="square" lIns="0" tIns="0" rIns="0" bIns="0" rtlCol="0" anchor="ctr"/>
          <a:lstStyle/>
          <a:p>
            <a:pPr algn="r" indent="0" marL="0">
              <a:buNone/>
            </a:pPr>
            <a:r>
              <a:rPr lang="en-US" sz="1200" b="1" dirty="0">
                <a:solidFill>
                  <a:srgbClr val="2E5C8A"/>
                </a:solidFill>
                <a:latin typeface="Meiryo" pitchFamily="34" charset="0"/>
                <a:ea typeface="Meiryo" pitchFamily="34" charset="-122"/>
                <a:cs typeface="Meiryo" pitchFamily="34" charset="-120"/>
              </a:rPr>
              <a:t>取得中</a:t>
            </a:r>
            <a:endParaRPr lang="en-US" sz="1200" dirty="0"/>
          </a:p>
        </p:txBody>
      </p:sp>
      <p:sp>
        <p:nvSpPr>
          <p:cNvPr id="28" name="Shape 26"/>
          <p:cNvSpPr/>
          <p:nvPr/>
        </p:nvSpPr>
        <p:spPr>
          <a:xfrm>
            <a:off x="640080" y="6053328"/>
            <a:ext cx="10881360" cy="0"/>
          </a:xfrm>
          <a:prstGeom prst="roundRect">
            <a:avLst>
              <a:gd name="adj" fmla="val Infinity"/>
            </a:avLst>
          </a:prstGeom>
          <a:solidFill>
            <a:srgbClr val="FFFFFF"/>
          </a:solidFill>
          <a:ln w="12700">
            <a:solidFill>
              <a:srgbClr val="FFFFFF"/>
            </a:solidFill>
            <a:prstDash val="solid"/>
          </a:ln>
          <a:effectLst>
            <a:outerShdw sx="100000" sy="100000" kx="0" ky="0" algn="bl" rotWithShape="0" blurRad="101600" dist="12700" dir="5400000">
              <a:srgbClr val="AAB4BE">
                <a:alpha val="18000"/>
              </a:srgbClr>
            </a:outerShdw>
          </a:effectLst>
        </p:spPr>
      </p:sp>
      <p:sp>
        <p:nvSpPr>
          <p:cNvPr id="29" name="Text 27"/>
          <p:cNvSpPr txBox="1"/>
          <p:nvPr/>
        </p:nvSpPr>
        <p:spPr>
          <a:xfrm>
            <a:off x="640080" y="6126480"/>
            <a:ext cx="10881360" cy="274320"/>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本資料は検討段階の想定値です。流通株式比率・公開買付規制・インサイダー取引規制の適用は、東証および証券会社・弁護士の確認を要します。</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2026-09-24T01:11:38Z</dcterms:created>
  <dcterms:modified xsi:type="dcterms:W3CDTF">2026-09-24T01:11:38Z</dcterms:modified>
</cp:coreProperties>
</file>