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15億に下げ、支配権の条件も緩めた版。結論はスマサポ・アディッシュ・CINC。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条件が緩んだので、支配権では差がつかない。財務とシナジーの勝負になった。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1位は利益、2位は持分、3位は現金。それぞれ違う強みで選んでいる。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BSを入れた瞬間にCaSyが沈む。シナジーだけでは選べない。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のれんが17.59億か8億かで年0.5億近く違う。逆取得は監査法人マター。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3社に絞って返信。CaSyは残す。①の現預金内訳が次の宿題。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合併候補の再評価 ─ 上位3社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あどばる評価15億円・中野は筆頭または第2位・各社の貸借対照表を加味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2026年10月20日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877056"/>
            <a:ext cx="2926080" cy="0"/>
          </a:xfrm>
          <a:prstGeom prst="line">
            <a:avLst/>
          </a:prstGeom>
          <a:noFill/>
          <a:ln w="25400">
            <a:solidFill>
              <a:srgbClr val="6E26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4187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 代表取締役 中野 邦人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572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あどばるEquity 15.0億円（上限）／ 正常化営業利益 2.00億円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56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956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各社の公開情報（2025年9月期〜2026年10月時点、基準日は各社で異なる）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公開情報にもとづく試算です。会計処理および数値は監査法人・一次資料の確認を要します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前提の変更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2つの条件が変わり、評価軸が入れ替わりました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0078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評価額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5681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20億円 → 15億円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408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あどばる側の持分が全社で下がり、過半数を取れるのはログリー・ピクセラ・アディッシュの3社だけになりました。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517904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0F4F1"/>
          </a:solidFill>
          <a:ln w="12700">
            <a:solidFill>
              <a:srgbClr val="C9DC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70078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中野の地位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5681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過半数 → 筆頭または第2位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408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この条件なら7社すべてで満たせます。中野は5社で筆頭、クックビズとスマサポで第2位です。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C6D6E5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結果として、順位を決めるのは「シナジー」と「相手の財務」になりました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73075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支配権がほぼ全社で確保できる以上、差がつくのは ①合算後にいくら利益が残るか ②ビジョン社への借入7.90億円を返す原資が相手にあるか ③のれん償却に耐えられるか、の3点です。前回シナジー最上位としたCaSyは、この3点で沈みました。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919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中野が筆頭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38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5社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504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ログリー・ピクセラ・アディッシュ・CINC・CaSy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01568" y="475488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630168" y="4919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中野が第2位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30168" y="5138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2社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5504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クックビズ・スマサポ（いずれも許容範囲）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63056" y="475488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91656" y="4919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のれん償却後も黒字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91656" y="5138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4社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391656" y="5504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スマサポ・アディッシュ・CINC・ログリー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24544" y="475488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53144" y="4919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7.90億を自己資金で返済可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53144" y="5138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153144" y="5504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CINC（ネット現金8.30億）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上位3社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1907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19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19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9342 スマサポ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214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賃貸管理会社向けDXアプリ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59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 </a:t>
            </a:r>
            <a:pPr indent="0" marL="0">
              <a:buNone/>
            </a:pPr>
            <a:r>
              <a:rPr lang="en-US" sz="15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20.5億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2491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合算営業利益が最も大きく、シナジーも最強です。賃貸管理会社のネットワークは、当社がスペースを仕入れる源泉そのものです。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7490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合算営業利益（償却後）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7124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3.42億円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24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中野の持分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187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15.51%（第2位）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00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自己資本比率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663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68.8%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2852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注意：第3四半期累計は営業1.24億（前年比△36.4%）。通期2.30億の予想は進捗54.3%で未達リスクがあります。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1517904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71907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A85C6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1719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1719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7093 アディッシュ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1214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SNS運用監視・カスタマーサクセス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359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 </a:t>
            </a:r>
            <a:pPr indent="0" marL="0">
              <a:buNone/>
            </a:pPr>
            <a:r>
              <a:rPr lang="en-US" sz="15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13.7億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272491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中野が19.18%で圧倒的な筆頭になり、あどばる側も52.26%と過半数です。逆取得となればのれんが8.27億に収まります。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7490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合算営業利益（償却後）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37124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2.29億円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224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中野の持分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187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19.18%（筆頭）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7000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自己資本比率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4663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40.8%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52852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注意：事業シナジーは予約対応のBPO程度で、上位3社では最も薄いです。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955280" y="1517904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171907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0" y="1719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823960" y="1719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4378 CINC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12140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デジタルマーケ支援SaaS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2359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 </a:t>
            </a:r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16.1億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272491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現金8.47億・実質無借金。ビジョン社への借入7.90億を、相手の手元資金だけで返せる唯一の会社です。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37490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合算営業利益（償却後）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601200" y="37124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1.19億円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224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中野の持分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601200" y="4187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17.70%（筆頭）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7000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自己資本比率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601200" y="4663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76.5%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229600" y="52852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注意：石松氏25.93%＋CZ22.92%が結束すると合併後25.3%で中野を上回ります。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7社の比較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97280"/>
                <a:gridCol w="914400"/>
                <a:gridCol w="822960"/>
                <a:gridCol w="1097280"/>
                <a:gridCol w="1280160"/>
                <a:gridCol w="1188720"/>
                <a:gridCol w="100584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時価総額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あどばる側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純資産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自己資本比率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有利子負債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合算営業益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償却後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スマサポ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20.5億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42.3%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15.5%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第2位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5.71億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68.8%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4.30億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3.42億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アディッシュ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13.7億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52.3%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19.2%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筆頭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5.43億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2.70億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2.29億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CINC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16.1億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48.2%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17.7%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筆頭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10.55億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76.5%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0.17億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2.07億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1.19億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ログリー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12.9億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53.9%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筆頭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4.15億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45.5%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1.03億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1.50億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1.06億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CaSy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18.8億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筆頭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2.74億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2.12億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0.67億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△0.21億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クックビズ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18.2億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45.2%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16.6%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第2位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10.98億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20.30億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△1.74億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△2.62億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ピクセラ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13.2億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53.2%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19.5%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筆頭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9.85億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△9.85億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△10.02億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7F3EC"/>
          </a:solidFill>
          <a:ln w="12700">
            <a:solidFill>
              <a:srgbClr val="E0D3BE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5266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55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前回1位としたCaSyは、ここで落ちました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5595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清掃のシナジーは依然として最上位です。ただし純資産2.74億・有利子負債2.12億で、2026年11月期は営業損失1.33億の予想。合算してのれんを償却すると営業赤字になり、借入7.90億の返済にも寄与しません。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合算営業利益＝あどばるの正常化営業利益2.00億＋各社の直近実績または会社予想。償却後はのれんを20年均等償却した場合。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のれんの金額が、相手によって2倍変わります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105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あどばる側が過半数を取ると「逆取得」となり、のれんは相手会社について計算されます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4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あどばる側が過半数に満たない場合は通常の取得となり、のれん＝15億−あどばるの時価純資産△2.59億＝17.59億円。一方、逆取得ならのれん＝相手の時価総額−相手の純資産で、3〜9億円にとどまります。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26333F"/>
          </a:solidFill>
          <a:ln w="25400">
            <a:solidFill>
              <a:srgbClr val="6E26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200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逆取得になる（あどばる側が過半数）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ログリー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53.9%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 8.70億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ピクセラ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950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53.2%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931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 3.37億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アディッシュ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334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52.3%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4315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 8.27億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01752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200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0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通常の取得（あどばる側が過半数未満）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CINC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566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48.2%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FB0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 17.59億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クックビズ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950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45.2%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46920" y="3931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FB0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 17.59億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CaSy / スマサポ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4334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44.4% / 42.3%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46920" y="4315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FB0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のれん 17.59億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51755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ビジョン社への借入7.90億円を、相手の手元資金で返せるか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54681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CINC：ネット現金 ＋8.30億円 → 自己資金で返済可能（7社で唯一）　／　ログリー：＋3.46億で不足　／　クックビズ：△2.26億　／　他4社は現金の内訳が未入手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E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逆取得の判定は議決権比率だけでなく、取締役の構成や相対的な規模も踏まえて行われます。実際の会計処理は監査法人の確認を要します。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大櫃様への返信と、確認したいこと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00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ご返信の骨子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568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「スマサポ・アディッシュ・CINCの3社に関心があります。この順でお話を伺えますか。」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774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CaSyは事業シナジーが魅力なので候補には残しますが、足元の収益と財務から優先度は下げます。クックビズとピクセラは見送ります。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0632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026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各社の現預金と有利子負債の内訳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329184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スマサポ・アディッシュ・CaSyの3社が未入手です。ビジョン社への7.90億をどう返すかに直結します。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3886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あどばる15億円で先方が応じるか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11480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評価額が持分に直結します。15億が上限である以上、先方の目線を早めに確認したいところです。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55371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47091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72768" y="4672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逆取得になるかどうかの見立て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493776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アディッシュなら52.3%で逆取得の可能性があり、のれんが17.59億から8.27億に下がります。監査法人の見解が要ります。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37667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" y="55321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5532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72768" y="5495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スマサポの通期着地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572768" y="57607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第3四半期累計で営業1.24億（進捗54.3%）。通期2.30億の前提が崩れると1位の根拠が変わります。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2544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ビジョン社の出口と借入7.90億円の返済は、どの相手と組んでも必要です。CINCを選べば相手の現金で完結し、それ以外ならみずほ様のリファイナンスが前提になります。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2026-10-20T01:13:02Z</dcterms:created>
  <dcterms:modified xsi:type="dcterms:W3CDTF">2026-10-20T01:13:02Z</dcterms:modified>
</cp:coreProperties>
</file>