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あどばる側の持分</c:v>
                </c:pt>
              </c:strCache>
            </c:strRef>
          </c:tx>
          <c:spPr>
            <a:solidFill>
              <a:srgbClr val="A85C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5DDE5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スマサポ 20.5億</c:v>
                  </c:pt>
                  <c:pt idx="1">
                    <c:v>CaSy 18.8億</c:v>
                  </c:pt>
                  <c:pt idx="2">
                    <c:v>クックビズ 18.2億</c:v>
                  </c:pt>
                  <c:pt idx="3">
                    <c:v>CINC 16.1億</c:v>
                  </c:pt>
                  <c:pt idx="4">
                    <c:v>アディッシュ 13.7億</c:v>
                  </c:pt>
                  <c:pt idx="5">
                    <c:v>ピクセラ 13.2億</c:v>
                  </c:pt>
                  <c:pt idx="6">
                    <c:v>ログリー 12.9億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49.38</c:v>
                </c:pt>
                <c:pt idx="1">
                  <c:v>51.59</c:v>
                </c:pt>
                <c:pt idx="2">
                  <c:v>52.36</c:v>
                </c:pt>
                <c:pt idx="3">
                  <c:v>55.4</c:v>
                </c:pt>
                <c:pt idx="4">
                  <c:v>59.35</c:v>
                </c:pt>
                <c:pt idx="5">
                  <c:v>60.2</c:v>
                </c:pt>
                <c:pt idx="6">
                  <c:v>60.88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D5DDE5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C4CF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3A48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E9B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大櫃さんへの返信用。7社を順位づけし、上位3社に絞って返す。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順位の根拠はシナジーと過半数の両方。筆頭は全社で取れる、が重要。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評価額が20億か18億かで、過半数の可否が変わる。ここも交渉。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CaSyは清掃、スマサポは物件、CINCは集客。どれも当社の現場に直結する。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安さに釣られない。利益が消えると銀行との話が全部やり直しになる。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3社に絞って返す。断る2社も理由を添えると次のリストの質が上がる。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合併候補7社の評価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大櫃様よりご提示いただいたリストを、シナジーとマジョリティの観点で並べ替え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2026年10月20日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877056"/>
            <a:ext cx="2926080" cy="0"/>
          </a:xfrm>
          <a:prstGeom prst="line">
            <a:avLst/>
          </a:prstGeom>
          <a:noFill/>
          <a:ln w="25400">
            <a:solidFill>
              <a:srgbClr val="6E26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4187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 代表取締役 中野 邦人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572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あどばるEquity 20億円（MBO前提のPre評価）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56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956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各社の公開情報（時価総額は2026年9月18日〜10月19日時点）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公開情報にもとづく試算です。基準日が各社で異なります。投資判断には一次情報の確認を要します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7社の順位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1554480"/>
                <a:gridCol w="1097280"/>
                <a:gridCol w="2834640"/>
                <a:gridCol w="1005840"/>
                <a:gridCol w="146304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時価総額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シナジー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あどばる側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中野個人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9215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CaSy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18.8億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家事代行マッチング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263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51.6%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18.9%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9342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スマサポ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20.5億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賃貸管理会社向けDX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263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49.4%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18.1%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4378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CINC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16.1億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デジタルマーケSaaS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263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55.4%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20.3%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7093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アディッシュ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13.7億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SNS監視・CS支援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A9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59.4%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21.8%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6579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ログリー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12.9億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ネイティブ広告配信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A9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60.9%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22.4%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6558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クックビズ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18.2億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飲食業界特化の人材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A9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52.4%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19.2%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6731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ピクセラ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13.2億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映像機器・チューナー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8A9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60.2%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22.1%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0F4F1"/>
          </a:solidFill>
          <a:ln w="12700">
            <a:solidFill>
              <a:srgbClr val="C9DC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5266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どの相手でも、中野は合併後の筆頭株主になります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5595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中野個人18.1〜22.4%に対し、相手方の筆頭株主は合併後4.5〜16.6%に薄まります。論点は「筆頭を取れるか」ではなく「過半数に届くか」です。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CINCの証券コードはリストの4379ではなく4378です。時価総額はいただいたリストとほぼ一致していました。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過半数を分けるのは、相手の時価総額です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あどばる側の持分 ＝ あどばるEquity ÷（あどばるEquity ＋ 相手の時価総額）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4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つまり、相手の時価総額が20億円を下回れば、旧あどばる株主の合計が自動的に過半数になります。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743200"/>
          <a:ext cx="6675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274320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3つの水準で見ています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63840" y="33832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19872" y="3310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中野が筆頭株主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19872" y="3557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18.1〜22.4%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19872" y="3794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7社すべてで達成できます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863840" y="42245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19872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あどばる側が過半数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119872" y="43982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49.4〜60.9%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119872" y="4636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スマサポ以外の6社で達成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863840" y="50657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19872" y="4992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中野個人で過半数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119872" y="52395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41.3〜50.9%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119872" y="54772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ビジョン株（約9.4億）を中野が取得してもログリー・ピクセラのみ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あどばるを18億円で評価すると、過半数を取れるのはCINC・アディッシュ・ピクセラ・ログリーの4社に減ります。評価額の交渉が持分に直結します。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上位3社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なぜこの3社か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520440" cy="4434840"/>
          </a:xfrm>
          <a:prstGeom prst="roundRect">
            <a:avLst>
              <a:gd name="adj" fmla="val 1558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37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9215 CaSy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396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家事代行マッチング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957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 </a:t>
            </a:r>
            <a:pPr indent="0" marL="0">
              <a:buNone/>
            </a:pPr>
            <a:r>
              <a:rPr lang="en-US" sz="16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18.8億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980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清掃はレンタルスペース運営の最大の原価・品質課題です。CaSyのキャスト網をそのまま当社の現場に使えます。逆にCaSyは稼働の平準化先を得ます。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40416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0432" y="3986784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筆頭はワタキューセイモア19.2%（寝具リネン大手）→合併後9.3%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914400" y="470001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0432" y="4645152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あどばる側51.6%で過半数、中野18.9%で筆頭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14400" y="53583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0432" y="5303520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課題：2026年11月期は営業損失1.33億の予想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297680" y="1536192"/>
            <a:ext cx="3520440" cy="44348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73736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1737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1737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9342 スマサポ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21396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賃貸管理会社向けDXアプリ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3957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 </a:t>
            </a:r>
            <a:pPr indent="0" marL="0">
              <a:buNone/>
            </a:pPr>
            <a:r>
              <a:rPr lang="en-US" sz="16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20.5億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7980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賃貸管理会社のネットワークは、当社がスペースを仕入れる源泉そのものです。大東建託パートナーズが株主にいることも効きます。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40416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28032" y="3986784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あどばる側49.4%で過半数に届かない（唯一）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572000" y="470001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28032" y="4645152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あどばる評価を21億以上にできれば逆転する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572000" y="53583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28032" y="5303520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課題：CABO DA ROCA 32.85%→合併後16.63%が重い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955280" y="1536192"/>
            <a:ext cx="3520440" cy="44348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173736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0" y="1737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23960" y="1737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4378 CINC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21396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デジタルマーケ支援SaaS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23957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 </a:t>
            </a:r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16.1億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7980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レンタルスペースは検索流入が生命線です。Keywordmap等の集客基盤を内製化でき、外販も続けられます。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40416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485632" y="3986784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あどばる側55.4%、中野20.3%で筆頭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229600" y="470001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85632" y="4645152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自己株16.15%を消却すれば持分がさらに上がる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229600" y="53583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85632" y="5303520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課題：石松25.93%＋CZ22.92%が結束すると合併後21.8%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この2社は、いまは見送りをお勧めします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7F3EC"/>
          </a:solidFill>
          <a:ln w="12700">
            <a:solidFill>
              <a:srgbClr val="E0D3BE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373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737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6558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クックビズ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737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55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18.2億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3969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飲食業界特化の人材サービス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43230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事業シナジーはあります。アピシウスやパーティースペースの人材調達に直結します。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07238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55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見送りをお勧めする理由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34564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16152" y="340156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2025年11月期は営業損失3.74億円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40599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16152" y="4005072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2026年11月期は第3四半期累計で営業損失2.31億円、通期予想を下方修正し希望退職を募集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16152" y="4608576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あどばるの正常化営業利益2.00億と合算しても赤字が残ります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52669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16152" y="5212080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藪ノ賢次氏32.49%→合併後15.5%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1536192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17373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1737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6731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ピクセラ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1737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13.2億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13969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映像機器・チューナー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43230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事業シナジーは見当たりません。時価総額が小さく持分は取りやすい、という点のみです。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07238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見送りをお勧めする理由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34564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48272" y="340156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2026年9月期は第3四半期累計で営業損失11.85億円、純損失12.93億円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92240" y="40599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48272" y="4005072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筆頭はエボ・ファンド（ケイマン）21.10%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4663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48272" y="4608576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新株予約権による希薄化が続いており、発行済株式数が動くため合併比率を固定できません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92240" y="52669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48272" y="5212080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10月15日に年初来安値を更新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いずれも「安く買える」案件ではありますが、合併後に当社の利益が消えます。当社は正常化営業利益2.00億を前提に銀行と話をしているため、ここは崩せません。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大櫃様への返信と、確認したいこと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26333F"/>
          </a:solidFill>
          <a:ln w="25400">
            <a:solidFill>
              <a:srgbClr val="6E26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ご返信の骨子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「CaSy・スマサポ・CINCの3社に関心があります。まずこの順でお話を伺えますか。」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2374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4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クックビズとピクセラは業績面から今回は見送り、アディッシュとログリーは事業シナジーが薄いため優先度を下げる旨も添えます。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349240" cy="1143000"/>
          </a:xfrm>
          <a:prstGeom prst="roundRect">
            <a:avLst>
              <a:gd name="adj" fmla="val 4800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4290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各社の直近の貸借対照表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7764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純資産・有利子負債・現預金。のれんの発生額と、合算後の自己資本比率を出すために必要です。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3246120"/>
            <a:ext cx="5349240" cy="1143000"/>
          </a:xfrm>
          <a:prstGeom prst="roundRect">
            <a:avLst>
              <a:gd name="adj" fmla="val 4800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4290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株主構成の最新値と、大株主の意向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7764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特にCaSyのワタキューセイモア、スマサポのCABO DA ROCA、CINCの株式会社CZ。売却や協力の意向があるかどうかで持分が変わります。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349240" cy="1143000"/>
          </a:xfrm>
          <a:prstGeom prst="roundRect">
            <a:avLst>
              <a:gd name="adj" fmla="val 4800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091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あどばるの評価額の目線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0566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20億か18億かで過半数の可否が変わります。先方の目線を早めに確認したいところです。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4526280"/>
            <a:ext cx="5349240" cy="1143000"/>
          </a:xfrm>
          <a:prstGeom prst="roundRect">
            <a:avLst>
              <a:gd name="adj" fmla="val 4800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7091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先方が合併を検討する動機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0566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東証グロースの上場維持基準（時価総額）を意識しているのであれば、合併後の規模拡大は当社から提供できる価値です。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ビジョン社の出口と借入7.90億の返済は、どの相手と組んでも必要です。合併の相手が決まり次第、みずほ様へのリファイナンスの打診を具体化します。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2026-10-20T01:01:03Z</dcterms:created>
  <dcterms:modified xsi:type="dcterms:W3CDTF">2026-10-20T01:01:03Z</dcterms:modified>
</cp:coreProperties>
</file>