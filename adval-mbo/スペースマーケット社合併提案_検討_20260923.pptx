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合併後の持株比率（％・中野はSO行使前）</a:t>
            </a:r>
          </a:p>
        </c:rich>
      </c:tx>
      <c:layout/>
      <c:overlay val="0"/>
    </c:title>
    <c:autoTitleDeleted val="0"/>
    <c:plotArea>
      <c:layout/>
      <c:barChart>
        <c:barDir val="bar"/>
        <c:grouping val="clustered"/>
        <c:varyColors val="0"/>
        <c:ser>
          <c:idx val="0"/>
          <c:order val="0"/>
          <c:tx>
            <c:strRef>
              <c:f>Sheet1!$B$1</c:f>
              <c:strCache>
                <c:ptCount val="1"/>
                <c:pt idx="0">
                  <c:v>持株比率</c:v>
                </c:pt>
              </c:strCache>
            </c:strRef>
          </c:tx>
          <c:spPr>
            <a:solidFill>
              <a:srgbClr val="2E5C8A"/>
            </a:solidFill>
            <a:effectLst/>
          </c:spPr>
          <c:invertIfNegative val="0"/>
          <c:dLbls>
            <c:numFmt formatCode="0.00&quot;%&quot;" sourceLinked="0"/>
            <c:txPr>
              <a:bodyPr/>
              <a:lstStyle/>
              <a:p>
                <a:pPr>
                  <a:defRPr b="0" i="0" strike="noStrike" sz="950" u="none">
                    <a:solidFill>
                      <a:srgbClr val="1E2A38"/>
                    </a:solidFill>
                    <a:latin typeface="Meiryo"/>
                  </a:defRPr>
                </a:pPr>
              </a:p>
            </c:txPr>
            <c:showLegendKey val="0"/>
            <c:showVal val="1"/>
            <c:showCatName val="0"/>
            <c:showSerName val="0"/>
            <c:showPercent val="0"/>
            <c:showBubbleSize val="0"/>
            <c:showLeaderLines val="0"/>
          </c:dLbls>
          <c:cat>
            <c:multiLvlStrRef>
              <c:f>Sheet1!$A$2:$A$7</c:f>
              <c:multiLvlStrCache>
                <c:ptCount val="6"/>
                <c:lvl>
                  <c:pt idx="0">
                    <c:v>ダブルパインズ</c:v>
                  </c:pt>
                  <c:pt idx="1">
                    <c:v>TKP</c:v>
                  </c:pt>
                  <c:pt idx="2">
                    <c:v>中野 邦人</c:v>
                  </c:pt>
                  <c:pt idx="3">
                    <c:v>その他SM株主</c:v>
                  </c:pt>
                  <c:pt idx="4">
                    <c:v>重松 大輔</c:v>
                  </c:pt>
                  <c:pt idx="5">
                    <c:v>ビジョン</c:v>
                  </c:pt>
                </c:lvl>
              </c:multiLvlStrCache>
            </c:multiLvlStrRef>
          </c:cat>
          <c:val>
            <c:numRef>
              <c:f>Sheet1!$B$2:$B$7</c:f>
              <c:numCache>
                <c:formatCode>General</c:formatCode>
                <c:ptCount val="6"/>
                <c:pt idx="0">
                  <c:v>8.38</c:v>
                </c:pt>
                <c:pt idx="1">
                  <c:v>12.79</c:v>
                </c:pt>
                <c:pt idx="2">
                  <c:v>13.25</c:v>
                </c:pt>
                <c:pt idx="3">
                  <c:v>14.03</c:v>
                </c:pt>
                <c:pt idx="4">
                  <c:v>14.8</c:v>
                </c:pt>
                <c:pt idx="5">
                  <c:v>19.26</c:v>
                </c:pt>
              </c:numCache>
            </c:numRef>
          </c:val>
        </c:ser>
        <c:dLbls>
          <c:numFmt formatCode="0.00&quot;%&quot;" sourceLinked="0"/>
          <c:txPr>
            <a:bodyPr/>
            <a:lstStyle/>
            <a:p>
              <a:pPr>
                <a:defRPr b="0" i="0" strike="noStrike" sz="950" u="none">
                  <a:solidFill>
                    <a:srgbClr val="1E2A38"/>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max val="25"/>
        </c:scaling>
        <c:delete val="0"/>
        <c:axPos val="b"/>
        <c:majorGridlines>
          <c:spPr>
            <a:ln w="6350" cap="flat">
              <a:solidFill>
                <a:srgbClr val="D9E0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MBOとは別件として扱う。こちらは「受けるか否か」の検討資料。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結論を一枚で。否定ではなく「順序」の話だと強調する。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中野の持分が13%台になる、という一点が最大の論点。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のれん22.09億は最重要。利益が消えるなら比率を見直す、という交渉に使える。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18億は安い。かつ支払通貨が下落中の株。この2点は必ず先方に返す。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ケースBの2.01億が現実的な数字。四季報で重松氏とダブルパインズが別記載と確認済み。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この一枚が「順序」の根拠。13.25%が24.55%になる。ビジョンが消える。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断るのではなく「順番を変えさせてください」という返し方。関係は維持する。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スペースマーケット社からの合併提案</a:t>
            </a:r>
            <a:endParaRPr lang="en-US" sz="4000" dirty="0"/>
          </a:p>
        </p:txBody>
      </p:sp>
      <p:sp>
        <p:nvSpPr>
          <p:cNvPr id="4" name="Text 2"/>
          <p:cNvSpPr txBox="1"/>
          <p:nvPr/>
        </p:nvSpPr>
        <p:spPr>
          <a:xfrm>
            <a:off x="822960" y="3017520"/>
            <a:ext cx="1024128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提案内容の整理と、当社としての対応方針のご相談</a:t>
            </a:r>
            <a:endParaRPr lang="en-US" sz="1700" dirty="0"/>
          </a:p>
        </p:txBody>
      </p:sp>
      <p:sp>
        <p:nvSpPr>
          <p:cNvPr id="5" name="Text 3"/>
          <p:cNvSpPr txBox="1"/>
          <p:nvPr/>
        </p:nvSpPr>
        <p:spPr>
          <a:xfrm>
            <a:off x="822960" y="3474720"/>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2026年9月23日</a:t>
            </a:r>
            <a:endParaRPr lang="en-US" sz="1300" dirty="0"/>
          </a:p>
        </p:txBody>
      </p:sp>
      <p:sp>
        <p:nvSpPr>
          <p:cNvPr id="6" name="Shape 4"/>
          <p:cNvSpPr/>
          <p:nvPr/>
        </p:nvSpPr>
        <p:spPr>
          <a:xfrm>
            <a:off x="822960" y="3877056"/>
            <a:ext cx="2926080" cy="0"/>
          </a:xfrm>
          <a:prstGeom prst="line">
            <a:avLst/>
          </a:prstGeom>
          <a:noFill/>
          <a:ln w="25400">
            <a:solidFill>
              <a:srgbClr val="6E2639"/>
            </a:solidFill>
            <a:prstDash val="solid"/>
          </a:ln>
        </p:spPr>
      </p:sp>
      <p:sp>
        <p:nvSpPr>
          <p:cNvPr id="7" name="Text 5"/>
          <p:cNvSpPr txBox="1"/>
          <p:nvPr/>
        </p:nvSpPr>
        <p:spPr>
          <a:xfrm>
            <a:off x="822960" y="4187952"/>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ご説明先</a:t>
            </a:r>
            <a:endParaRPr lang="en-US" sz="1000" dirty="0"/>
          </a:p>
        </p:txBody>
      </p:sp>
      <p:sp>
        <p:nvSpPr>
          <p:cNvPr id="8" name="Text 6"/>
          <p:cNvSpPr txBox="1"/>
          <p:nvPr/>
        </p:nvSpPr>
        <p:spPr>
          <a:xfrm>
            <a:off x="2468880" y="4187952"/>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中村 新社長</a:t>
            </a:r>
            <a:endParaRPr lang="en-US" sz="1200" dirty="0"/>
          </a:p>
        </p:txBody>
      </p:sp>
      <p:sp>
        <p:nvSpPr>
          <p:cNvPr id="9" name="Text 7"/>
          <p:cNvSpPr txBox="1"/>
          <p:nvPr/>
        </p:nvSpPr>
        <p:spPr>
          <a:xfrm>
            <a:off x="822960" y="457200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10" name="Text 8"/>
          <p:cNvSpPr txBox="1"/>
          <p:nvPr/>
        </p:nvSpPr>
        <p:spPr>
          <a:xfrm>
            <a:off x="2468880" y="457200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1" name="Text 9"/>
          <p:cNvSpPr txBox="1"/>
          <p:nvPr/>
        </p:nvSpPr>
        <p:spPr>
          <a:xfrm>
            <a:off x="822960" y="495604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2" name="Text 10"/>
          <p:cNvSpPr txBox="1"/>
          <p:nvPr/>
        </p:nvSpPr>
        <p:spPr>
          <a:xfrm>
            <a:off x="2468880" y="495604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会社四季報2026年9月号・株価2026年9月21日終値229円</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本資料は公開情報にもとづく試算であり、法務・税務・会計上の助言ではありません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結論</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現時点ではお受けせず、MBOを先に進めることをご提案します</a:t>
            </a:r>
            <a:endParaRPr lang="en-US" sz="2800" dirty="0"/>
          </a:p>
        </p:txBody>
      </p:sp>
      <p:sp>
        <p:nvSpPr>
          <p:cNvPr id="4" name="Shape 2"/>
          <p:cNvSpPr/>
          <p:nvPr/>
        </p:nvSpPr>
        <p:spPr>
          <a:xfrm>
            <a:off x="640080" y="1481328"/>
            <a:ext cx="10881360" cy="1371600"/>
          </a:xfrm>
          <a:prstGeom prst="roundRect">
            <a:avLst>
              <a:gd name="adj" fmla="val 4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60120" y="1664208"/>
            <a:ext cx="10241280" cy="585216"/>
          </a:xfrm>
          <a:prstGeom prst="rect">
            <a:avLst/>
          </a:prstGeom>
          <a:noFill/>
          <a:ln/>
        </p:spPr>
        <p:txBody>
          <a:bodyPr wrap="square" lIns="0" tIns="0" rIns="0" bIns="0" rtlCol="0" anchor="ctr"/>
          <a:lstStyle/>
          <a:p>
            <a:pPr indent="0" marL="0">
              <a:buNone/>
            </a:pPr>
            <a:r>
              <a:rPr lang="en-US" sz="1800" b="1" dirty="0">
                <a:solidFill>
                  <a:srgbClr val="6E2639"/>
                </a:solidFill>
                <a:latin typeface="Meiryo" pitchFamily="34" charset="0"/>
                <a:ea typeface="Meiryo" pitchFamily="34" charset="-122"/>
                <a:cs typeface="Meiryo" pitchFamily="34" charset="-120"/>
              </a:rPr>
              <a:t>合併そのものを否定するものではありません。ただし「いま受ける」のと「MBO完了後に受ける」のとでは、条件がまったく違います。</a:t>
            </a:r>
            <a:endParaRPr lang="en-US" sz="1800" dirty="0"/>
          </a:p>
        </p:txBody>
      </p:sp>
      <p:sp>
        <p:nvSpPr>
          <p:cNvPr id="6" name="Text 4"/>
          <p:cNvSpPr txBox="1"/>
          <p:nvPr/>
        </p:nvSpPr>
        <p:spPr>
          <a:xfrm>
            <a:off x="960120" y="2304288"/>
            <a:ext cx="10241280" cy="41148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いま受けると、当社が抱えている問題（ビジョン社との関係）は解消されないまま上場会社に持ち込まれ、中野の持分も13.25%まで希薄化します。</a:t>
            </a:r>
            <a:endParaRPr lang="en-US" sz="1200" dirty="0"/>
          </a:p>
        </p:txBody>
      </p:sp>
      <p:sp>
        <p:nvSpPr>
          <p:cNvPr id="7" name="Shape 5"/>
          <p:cNvSpPr/>
          <p:nvPr/>
        </p:nvSpPr>
        <p:spPr>
          <a:xfrm>
            <a:off x="640080" y="3017520"/>
            <a:ext cx="10881360" cy="914400"/>
          </a:xfrm>
          <a:prstGeom prst="roundRect">
            <a:avLst>
              <a:gd name="adj" fmla="val 6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8" name="Shape 6"/>
          <p:cNvSpPr/>
          <p:nvPr/>
        </p:nvSpPr>
        <p:spPr>
          <a:xfrm>
            <a:off x="960120" y="3236976"/>
            <a:ext cx="475488" cy="475488"/>
          </a:xfrm>
          <a:prstGeom prst="roundRect">
            <a:avLst>
              <a:gd name="adj" fmla="val 50000"/>
            </a:avLst>
          </a:prstGeom>
          <a:solidFill>
            <a:srgbClr val="6E2639"/>
          </a:solidFill>
          <a:ln/>
        </p:spPr>
      </p:sp>
      <p:sp>
        <p:nvSpPr>
          <p:cNvPr id="9" name="Text 7"/>
          <p:cNvSpPr txBox="1"/>
          <p:nvPr/>
        </p:nvSpPr>
        <p:spPr>
          <a:xfrm>
            <a:off x="960120" y="323697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10" name="Text 8"/>
          <p:cNvSpPr txBox="1"/>
          <p:nvPr/>
        </p:nvSpPr>
        <p:spPr>
          <a:xfrm>
            <a:off x="1691640" y="3172968"/>
            <a:ext cx="384048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解決したい問題が解決しない</a:t>
            </a:r>
            <a:endParaRPr lang="en-US" sz="1450" dirty="0"/>
          </a:p>
        </p:txBody>
      </p:sp>
      <p:sp>
        <p:nvSpPr>
          <p:cNvPr id="11" name="Text 9"/>
          <p:cNvSpPr txBox="1"/>
          <p:nvPr/>
        </p:nvSpPr>
        <p:spPr>
          <a:xfrm>
            <a:off x="1691640" y="3502152"/>
            <a:ext cx="9326880" cy="36576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合併してもビジョン社は19.26%を保有する筆頭株主として残ります。親会社との関係を清算したいという当初の目的が達成されません。</a:t>
            </a:r>
            <a:endParaRPr lang="en-US" sz="1050" dirty="0"/>
          </a:p>
        </p:txBody>
      </p:sp>
      <p:sp>
        <p:nvSpPr>
          <p:cNvPr id="12" name="Shape 10"/>
          <p:cNvSpPr/>
          <p:nvPr/>
        </p:nvSpPr>
        <p:spPr>
          <a:xfrm>
            <a:off x="640080" y="4041648"/>
            <a:ext cx="10881360" cy="914400"/>
          </a:xfrm>
          <a:prstGeom prst="roundRect">
            <a:avLst>
              <a:gd name="adj" fmla="val 6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3" name="Shape 11"/>
          <p:cNvSpPr/>
          <p:nvPr/>
        </p:nvSpPr>
        <p:spPr>
          <a:xfrm>
            <a:off x="960120" y="4261104"/>
            <a:ext cx="475488" cy="475488"/>
          </a:xfrm>
          <a:prstGeom prst="roundRect">
            <a:avLst>
              <a:gd name="adj" fmla="val 50000"/>
            </a:avLst>
          </a:prstGeom>
          <a:solidFill>
            <a:srgbClr val="6E2639"/>
          </a:solidFill>
          <a:ln/>
        </p:spPr>
      </p:sp>
      <p:sp>
        <p:nvSpPr>
          <p:cNvPr id="14" name="Text 12"/>
          <p:cNvSpPr txBox="1"/>
          <p:nvPr/>
        </p:nvSpPr>
        <p:spPr>
          <a:xfrm>
            <a:off x="960120" y="426110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5" name="Text 13"/>
          <p:cNvSpPr txBox="1"/>
          <p:nvPr/>
        </p:nvSpPr>
        <p:spPr>
          <a:xfrm>
            <a:off x="1691640" y="4197096"/>
            <a:ext cx="384048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中野の持分が13.25%になる</a:t>
            </a:r>
            <a:endParaRPr lang="en-US" sz="1450" dirty="0"/>
          </a:p>
        </p:txBody>
      </p:sp>
      <p:sp>
        <p:nvSpPr>
          <p:cNvPr id="16" name="Text 14"/>
          <p:cNvSpPr txBox="1"/>
          <p:nvPr/>
        </p:nvSpPr>
        <p:spPr>
          <a:xfrm>
            <a:off x="1691640" y="4526280"/>
            <a:ext cx="9326880" cy="36576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SO行使後でも14.41%。重松氏側（重松氏＋ダブルパインズ）の23.18%に対し、経営の主導権を持てない構図になります。</a:t>
            </a:r>
            <a:endParaRPr lang="en-US" sz="1050" dirty="0"/>
          </a:p>
        </p:txBody>
      </p:sp>
      <p:sp>
        <p:nvSpPr>
          <p:cNvPr id="17" name="Shape 15"/>
          <p:cNvSpPr/>
          <p:nvPr/>
        </p:nvSpPr>
        <p:spPr>
          <a:xfrm>
            <a:off x="640080" y="5065776"/>
            <a:ext cx="10881360" cy="914400"/>
          </a:xfrm>
          <a:prstGeom prst="roundRect">
            <a:avLst>
              <a:gd name="adj" fmla="val 6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8" name="Shape 16"/>
          <p:cNvSpPr/>
          <p:nvPr/>
        </p:nvSpPr>
        <p:spPr>
          <a:xfrm>
            <a:off x="960120" y="5285232"/>
            <a:ext cx="475488" cy="475488"/>
          </a:xfrm>
          <a:prstGeom prst="roundRect">
            <a:avLst>
              <a:gd name="adj" fmla="val 50000"/>
            </a:avLst>
          </a:prstGeom>
          <a:solidFill>
            <a:srgbClr val="6E2639"/>
          </a:solidFill>
          <a:ln/>
        </p:spPr>
      </p:sp>
      <p:sp>
        <p:nvSpPr>
          <p:cNvPr id="19" name="Text 17"/>
          <p:cNvSpPr txBox="1"/>
          <p:nvPr/>
        </p:nvSpPr>
        <p:spPr>
          <a:xfrm>
            <a:off x="960120" y="528523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20" name="Text 18"/>
          <p:cNvSpPr txBox="1"/>
          <p:nvPr/>
        </p:nvSpPr>
        <p:spPr>
          <a:xfrm>
            <a:off x="1691640" y="5221224"/>
            <a:ext cx="3840480" cy="292608"/>
          </a:xfrm>
          <a:prstGeom prst="rect">
            <a:avLst/>
          </a:prstGeom>
          <a:noFill/>
          <a:ln/>
        </p:spPr>
        <p:txBody>
          <a:bodyPr wrap="square" lIns="0" tIns="0" rIns="0" bIns="0" rtlCol="0" anchor="ctr"/>
          <a:lstStyle/>
          <a:p>
            <a:pPr indent="0" marL="0">
              <a:buNone/>
            </a:pPr>
            <a:r>
              <a:rPr lang="en-US" sz="1450" b="1" dirty="0">
                <a:solidFill>
                  <a:srgbClr val="1E2A38"/>
                </a:solidFill>
                <a:latin typeface="Meiryo" pitchFamily="34" charset="0"/>
                <a:ea typeface="Meiryo" pitchFamily="34" charset="-122"/>
                <a:cs typeface="Meiryo" pitchFamily="34" charset="-120"/>
              </a:rPr>
              <a:t>のれん22.09億円が利益を消す</a:t>
            </a:r>
            <a:endParaRPr lang="en-US" sz="1450" dirty="0"/>
          </a:p>
        </p:txBody>
      </p:sp>
      <p:sp>
        <p:nvSpPr>
          <p:cNvPr id="21" name="Text 19"/>
          <p:cNvSpPr txBox="1"/>
          <p:nvPr/>
        </p:nvSpPr>
        <p:spPr>
          <a:xfrm>
            <a:off x="1691640" y="5550408"/>
            <a:ext cx="9326880" cy="36576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日本基準では定額償却が必要です。20年で年1.10億、10年なら年2.21億。合算営業利益（約2.6億）の大半が消えます。</a:t>
            </a:r>
            <a:endParaRPr lang="en-US" sz="1050" dirty="0"/>
          </a:p>
        </p:txBody>
      </p:sp>
      <p:sp>
        <p:nvSpPr>
          <p:cNvPr id="22" name="Text 20"/>
          <p:cNvSpPr txBox="1"/>
          <p:nvPr/>
        </p:nvSpPr>
        <p:spPr>
          <a:xfrm>
            <a:off x="640080" y="6144768"/>
            <a:ext cx="10881360" cy="292608"/>
          </a:xfrm>
          <a:prstGeom prst="rect">
            <a:avLst/>
          </a:prstGeom>
          <a:noFill/>
          <a:ln/>
        </p:spPr>
        <p:txBody>
          <a:bodyPr wrap="square" lIns="0" tIns="0" rIns="0" bIns="0" rtlCol="0" anchor="ctr"/>
          <a:lstStyle/>
          <a:p>
            <a:pPr indent="0" marL="0">
              <a:buNone/>
            </a:pPr>
            <a:r>
              <a:rPr lang="en-US" sz="1250" b="1" dirty="0">
                <a:solidFill>
                  <a:srgbClr val="2C6A4E"/>
                </a:solidFill>
                <a:latin typeface="Meiryo" pitchFamily="34" charset="0"/>
                <a:ea typeface="Meiryo" pitchFamily="34" charset="-122"/>
                <a:cs typeface="Meiryo" pitchFamily="34" charset="-120"/>
              </a:rPr>
              <a:t>一方、MBOを先に済ませれば、ビジョン社は名簿から消え、中野陣営の持分は24.55%まで上がります（7ページ）。</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提案の内容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いま合併した場合の株主構成</a:t>
            </a:r>
            <a:endParaRPr lang="en-US" sz="2800" dirty="0"/>
          </a:p>
        </p:txBody>
      </p:sp>
      <p:sp>
        <p:nvSpPr>
          <p:cNvPr id="4" name="Text 2"/>
          <p:cNvSpPr txBox="1"/>
          <p:nvPr/>
        </p:nvSpPr>
        <p:spPr>
          <a:xfrm>
            <a:off x="64008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合併比率</a:t>
            </a:r>
            <a:endParaRPr lang="en-US" sz="1100" dirty="0"/>
          </a:p>
        </p:txBody>
      </p:sp>
      <p:sp>
        <p:nvSpPr>
          <p:cNvPr id="5" name="Text 3"/>
          <p:cNvSpPr txBox="1"/>
          <p:nvPr/>
        </p:nvSpPr>
        <p:spPr>
          <a:xfrm>
            <a:off x="640080" y="1755648"/>
            <a:ext cx="2651760" cy="502920"/>
          </a:xfrm>
          <a:prstGeom prst="rect">
            <a:avLst/>
          </a:prstGeom>
          <a:noFill/>
          <a:ln/>
        </p:spPr>
        <p:txBody>
          <a:bodyPr wrap="square" lIns="0" tIns="0" rIns="0" bIns="0" rtlCol="0" anchor="ctr"/>
          <a:lstStyle/>
          <a:p>
            <a:pPr indent="0" marL="0">
              <a:buNone/>
            </a:pPr>
            <a:r>
              <a:rPr lang="en-US" sz="3000" b="1" dirty="0">
                <a:solidFill>
                  <a:srgbClr val="2E5C8A"/>
                </a:solidFill>
                <a:latin typeface="Meiryo" pitchFamily="34" charset="0"/>
                <a:ea typeface="Meiryo" pitchFamily="34" charset="-122"/>
                <a:cs typeface="Meiryo" pitchFamily="34" charset="-120"/>
              </a:rPr>
              <a:t>1 : 40.63</a:t>
            </a:r>
            <a:pPr indent="0" marL="0">
              <a:buNone/>
            </a:pPr>
            <a:endParaRPr lang="en-US" sz="3000" dirty="0"/>
          </a:p>
        </p:txBody>
      </p:sp>
      <p:sp>
        <p:nvSpPr>
          <p:cNvPr id="6" name="Text 4"/>
          <p:cNvSpPr txBox="1"/>
          <p:nvPr/>
        </p:nvSpPr>
        <p:spPr>
          <a:xfrm>
            <a:off x="64008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あどばる1株にSM株40.63株</a:t>
            </a:r>
            <a:endParaRPr lang="en-US" sz="1000" dirty="0"/>
          </a:p>
        </p:txBody>
      </p:sp>
      <p:sp>
        <p:nvSpPr>
          <p:cNvPr id="7" name="Text 5"/>
          <p:cNvSpPr txBox="1"/>
          <p:nvPr/>
        </p:nvSpPr>
        <p:spPr>
          <a:xfrm>
            <a:off x="347472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交付新株</a:t>
            </a:r>
            <a:endParaRPr lang="en-US" sz="1100" dirty="0"/>
          </a:p>
        </p:txBody>
      </p:sp>
      <p:sp>
        <p:nvSpPr>
          <p:cNvPr id="8" name="Text 6"/>
          <p:cNvSpPr txBox="1"/>
          <p:nvPr/>
        </p:nvSpPr>
        <p:spPr>
          <a:xfrm>
            <a:off x="3474720" y="1755648"/>
            <a:ext cx="265176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782.6</a:t>
            </a:r>
            <a:pPr indent="0" marL="0">
              <a:buNone/>
            </a:pPr>
            <a:r>
              <a:rPr lang="en-US" sz="1300" b="1" dirty="0">
                <a:solidFill>
                  <a:srgbClr val="1E2A38"/>
                </a:solidFill>
                <a:latin typeface="Meiryo" pitchFamily="34" charset="0"/>
                <a:ea typeface="Meiryo" pitchFamily="34" charset="-122"/>
                <a:cs typeface="Meiryo" pitchFamily="34" charset="-120"/>
              </a:rPr>
              <a:t>万株</a:t>
            </a:r>
            <a:endParaRPr lang="en-US" sz="3000" dirty="0"/>
          </a:p>
        </p:txBody>
      </p:sp>
      <p:sp>
        <p:nvSpPr>
          <p:cNvPr id="9" name="Text 7"/>
          <p:cNvSpPr txBox="1"/>
          <p:nvPr/>
        </p:nvSpPr>
        <p:spPr>
          <a:xfrm>
            <a:off x="347472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あどばるEquity 18億／SM 230円</a:t>
            </a:r>
            <a:endParaRPr lang="en-US" sz="1000" dirty="0"/>
          </a:p>
        </p:txBody>
      </p:sp>
      <p:sp>
        <p:nvSpPr>
          <p:cNvPr id="10" name="Text 8"/>
          <p:cNvSpPr txBox="1"/>
          <p:nvPr/>
        </p:nvSpPr>
        <p:spPr>
          <a:xfrm>
            <a:off x="630936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合併後 発行済</a:t>
            </a:r>
            <a:endParaRPr lang="en-US" sz="1100" dirty="0"/>
          </a:p>
        </p:txBody>
      </p:sp>
      <p:sp>
        <p:nvSpPr>
          <p:cNvPr id="11" name="Text 9"/>
          <p:cNvSpPr txBox="1"/>
          <p:nvPr/>
        </p:nvSpPr>
        <p:spPr>
          <a:xfrm>
            <a:off x="6309360" y="1755648"/>
            <a:ext cx="265176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1,993</a:t>
            </a:r>
            <a:pPr indent="0" marL="0">
              <a:buNone/>
            </a:pPr>
            <a:r>
              <a:rPr lang="en-US" sz="1300" b="1" dirty="0">
                <a:solidFill>
                  <a:srgbClr val="1E2A38"/>
                </a:solidFill>
                <a:latin typeface="Meiryo" pitchFamily="34" charset="0"/>
                <a:ea typeface="Meiryo" pitchFamily="34" charset="-122"/>
                <a:cs typeface="Meiryo" pitchFamily="34" charset="-120"/>
              </a:rPr>
              <a:t>万株</a:t>
            </a:r>
            <a:endParaRPr lang="en-US" sz="3000" dirty="0"/>
          </a:p>
        </p:txBody>
      </p:sp>
      <p:sp>
        <p:nvSpPr>
          <p:cNvPr id="12" name="Text 10"/>
          <p:cNvSpPr txBox="1"/>
          <p:nvPr/>
        </p:nvSpPr>
        <p:spPr>
          <a:xfrm>
            <a:off x="630936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現状1,210万株＋交付分</a:t>
            </a:r>
            <a:endParaRPr lang="en-US" sz="1000" dirty="0"/>
          </a:p>
        </p:txBody>
      </p:sp>
      <p:sp>
        <p:nvSpPr>
          <p:cNvPr id="13" name="Text 11"/>
          <p:cNvSpPr txBox="1"/>
          <p:nvPr/>
        </p:nvSpPr>
        <p:spPr>
          <a:xfrm>
            <a:off x="9144000" y="1517904"/>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合併後 時価総額</a:t>
            </a:r>
            <a:endParaRPr lang="en-US" sz="1100" dirty="0"/>
          </a:p>
        </p:txBody>
      </p:sp>
      <p:sp>
        <p:nvSpPr>
          <p:cNvPr id="14" name="Text 12"/>
          <p:cNvSpPr txBox="1"/>
          <p:nvPr/>
        </p:nvSpPr>
        <p:spPr>
          <a:xfrm>
            <a:off x="9144000" y="1755648"/>
            <a:ext cx="23774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45.8</a:t>
            </a:r>
            <a:pPr indent="0" marL="0">
              <a:buNone/>
            </a:pPr>
            <a:r>
              <a:rPr lang="en-US" sz="1300" b="1" dirty="0">
                <a:solidFill>
                  <a:srgbClr val="1E2A38"/>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9144000" y="226771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SM単独 27.7億から拡大</a:t>
            </a:r>
            <a:endParaRPr lang="en-US" sz="1000" dirty="0"/>
          </a:p>
        </p:txBody>
      </p:sp>
      <p:graphicFrame>
        <p:nvGraphicFramePr>
          <p:cNvPr id="16" name="Chart 0" descr=""/>
          <p:cNvGraphicFramePr/>
          <p:nvPr/>
        </p:nvGraphicFramePr>
        <p:xfrm>
          <a:off x="640080" y="2880360"/>
          <a:ext cx="6400800" cy="306324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315200" y="2880360"/>
            <a:ext cx="4206240" cy="3063240"/>
          </a:xfrm>
          <a:prstGeom prst="roundRect">
            <a:avLst>
              <a:gd name="adj" fmla="val 1791"/>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18" name="Text 15"/>
          <p:cNvSpPr txBox="1"/>
          <p:nvPr/>
        </p:nvSpPr>
        <p:spPr>
          <a:xfrm>
            <a:off x="7589520" y="3063240"/>
            <a:ext cx="3657600" cy="292608"/>
          </a:xfrm>
          <a:prstGeom prst="rect">
            <a:avLst/>
          </a:prstGeom>
          <a:noFill/>
          <a:ln/>
        </p:spPr>
        <p:txBody>
          <a:bodyPr wrap="square" lIns="0" tIns="0" rIns="0" bIns="0" rtlCol="0" anchor="ctr"/>
          <a:lstStyle/>
          <a:p>
            <a:pPr indent="0" marL="0">
              <a:buNone/>
            </a:pPr>
            <a:r>
              <a:rPr lang="en-US" sz="1400" b="1" dirty="0">
                <a:solidFill>
                  <a:srgbClr val="2E5C8A"/>
                </a:solidFill>
                <a:latin typeface="Meiryo" pitchFamily="34" charset="0"/>
                <a:ea typeface="Meiryo" pitchFamily="34" charset="-122"/>
                <a:cs typeface="Meiryo" pitchFamily="34" charset="-120"/>
              </a:rPr>
              <a:t>この名簿が意味すること</a:t>
            </a:r>
            <a:endParaRPr lang="en-US" sz="1400" dirty="0"/>
          </a:p>
        </p:txBody>
      </p:sp>
      <p:sp>
        <p:nvSpPr>
          <p:cNvPr id="19" name="Text 16"/>
          <p:cNvSpPr txBox="1"/>
          <p:nvPr/>
        </p:nvSpPr>
        <p:spPr>
          <a:xfrm>
            <a:off x="7589520" y="3456432"/>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01</a:t>
            </a:r>
            <a:endParaRPr lang="en-US" sz="1100" dirty="0"/>
          </a:p>
        </p:txBody>
      </p:sp>
      <p:sp>
        <p:nvSpPr>
          <p:cNvPr id="20" name="Text 17"/>
          <p:cNvSpPr txBox="1"/>
          <p:nvPr/>
        </p:nvSpPr>
        <p:spPr>
          <a:xfrm>
            <a:off x="8092440" y="3456432"/>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筆頭株主はビジョン社のまま</a:t>
            </a:r>
            <a:endParaRPr lang="en-US" sz="1200" dirty="0"/>
          </a:p>
        </p:txBody>
      </p:sp>
      <p:sp>
        <p:nvSpPr>
          <p:cNvPr id="21" name="Text 18"/>
          <p:cNvSpPr txBox="1"/>
          <p:nvPr/>
        </p:nvSpPr>
        <p:spPr>
          <a:xfrm>
            <a:off x="8092440" y="3730752"/>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19.26%。MBOを先行させない限り、親会社との関係は上場会社に持ち込まれます。</a:t>
            </a:r>
            <a:endParaRPr lang="en-US" sz="950" dirty="0"/>
          </a:p>
        </p:txBody>
      </p:sp>
      <p:sp>
        <p:nvSpPr>
          <p:cNvPr id="22" name="Text 19"/>
          <p:cNvSpPr txBox="1"/>
          <p:nvPr/>
        </p:nvSpPr>
        <p:spPr>
          <a:xfrm>
            <a:off x="7589520" y="4297680"/>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02</a:t>
            </a:r>
            <a:endParaRPr lang="en-US" sz="1100" dirty="0"/>
          </a:p>
        </p:txBody>
      </p:sp>
      <p:sp>
        <p:nvSpPr>
          <p:cNvPr id="23" name="Text 20"/>
          <p:cNvSpPr txBox="1"/>
          <p:nvPr/>
        </p:nvSpPr>
        <p:spPr>
          <a:xfrm>
            <a:off x="8092440" y="4297680"/>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中野の持分は13.25%</a:t>
            </a:r>
            <a:endParaRPr lang="en-US" sz="1200" dirty="0"/>
          </a:p>
        </p:txBody>
      </p:sp>
      <p:sp>
        <p:nvSpPr>
          <p:cNvPr id="24" name="Text 21"/>
          <p:cNvSpPr txBox="1"/>
          <p:nvPr/>
        </p:nvSpPr>
        <p:spPr>
          <a:xfrm>
            <a:off x="8092440" y="4572000"/>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SO行使後で14.41%。単独では経営の意思決定権を持てません。</a:t>
            </a:r>
            <a:endParaRPr lang="en-US" sz="950" dirty="0"/>
          </a:p>
        </p:txBody>
      </p:sp>
      <p:sp>
        <p:nvSpPr>
          <p:cNvPr id="25" name="Text 22"/>
          <p:cNvSpPr txBox="1"/>
          <p:nvPr/>
        </p:nvSpPr>
        <p:spPr>
          <a:xfrm>
            <a:off x="7589520" y="5138928"/>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03</a:t>
            </a:r>
            <a:endParaRPr lang="en-US" sz="1100" dirty="0"/>
          </a:p>
        </p:txBody>
      </p:sp>
      <p:sp>
        <p:nvSpPr>
          <p:cNvPr id="26" name="Text 23"/>
          <p:cNvSpPr txBox="1"/>
          <p:nvPr/>
        </p:nvSpPr>
        <p:spPr>
          <a:xfrm>
            <a:off x="8092440" y="5138928"/>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重松氏側は合計23.18%</a:t>
            </a:r>
            <a:endParaRPr lang="en-US" sz="1200" dirty="0"/>
          </a:p>
        </p:txBody>
      </p:sp>
      <p:sp>
        <p:nvSpPr>
          <p:cNvPr id="27" name="Text 24"/>
          <p:cNvSpPr txBox="1"/>
          <p:nvPr/>
        </p:nvSpPr>
        <p:spPr>
          <a:xfrm>
            <a:off x="8092440" y="5413248"/>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重松氏14.80%＋ダブルパインズ8.38%。実質的な筆頭は先方です。</a:t>
            </a:r>
            <a:endParaRPr lang="en-US" sz="950" dirty="0"/>
          </a:p>
        </p:txBody>
      </p:sp>
      <p:sp>
        <p:nvSpPr>
          <p:cNvPr id="28" name="Text 25"/>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出所：会社四季報2026年9月号（単元株主2,428名・発行済12,105,900株）、株価229円（2026年9月21日終値）。あどばるの評価額はスペースマーケット社からのLOI 18億円を使用。</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論点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条件面で確認すべき4点</a:t>
            </a:r>
            <a:endParaRPr lang="en-US" sz="2800" dirty="0"/>
          </a:p>
        </p:txBody>
      </p:sp>
      <p:sp>
        <p:nvSpPr>
          <p:cNvPr id="4" name="Shape 2"/>
          <p:cNvSpPr/>
          <p:nvPr/>
        </p:nvSpPr>
        <p:spPr>
          <a:xfrm>
            <a:off x="640080" y="1691640"/>
            <a:ext cx="5349240" cy="1920240"/>
          </a:xfrm>
          <a:prstGeom prst="roundRect">
            <a:avLst>
              <a:gd name="adj" fmla="val 2857"/>
            </a:avLst>
          </a:prstGeom>
          <a:solidFill>
            <a:srgbClr val="26333F"/>
          </a:solidFill>
          <a:ln w="12700">
            <a:solidFill>
              <a:srgbClr val="3A4854"/>
            </a:solidFill>
            <a:prstDash val="solid"/>
          </a:ln>
        </p:spPr>
      </p:sp>
      <p:sp>
        <p:nvSpPr>
          <p:cNvPr id="5" name="Text 3"/>
          <p:cNvSpPr txBox="1"/>
          <p:nvPr/>
        </p:nvSpPr>
        <p:spPr>
          <a:xfrm>
            <a:off x="91440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01</a:t>
            </a:r>
            <a:endParaRPr lang="en-US" sz="1500" dirty="0"/>
          </a:p>
        </p:txBody>
      </p:sp>
      <p:sp>
        <p:nvSpPr>
          <p:cNvPr id="6" name="Text 4"/>
          <p:cNvSpPr txBox="1"/>
          <p:nvPr/>
        </p:nvSpPr>
        <p:spPr>
          <a:xfrm>
            <a:off x="1691640" y="189280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第2位株主が競合TKP社</a:t>
            </a:r>
            <a:endParaRPr lang="en-US" sz="1450" dirty="0"/>
          </a:p>
        </p:txBody>
      </p:sp>
      <p:sp>
        <p:nvSpPr>
          <p:cNvPr id="7" name="Text 5"/>
          <p:cNvSpPr txBox="1"/>
          <p:nvPr/>
        </p:nvSpPr>
        <p:spPr>
          <a:xfrm>
            <a:off x="91440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TKPは21.06%を保有する第2位株主です。合併後も12.79%で残ります。貸会議室・レンタルスペース領域で競合する会社が、当社の株主総会で議決権を持つ形になります。</a:t>
            </a:r>
            <a:endParaRPr lang="en-US" sz="1050" dirty="0"/>
          </a:p>
        </p:txBody>
      </p:sp>
      <p:sp>
        <p:nvSpPr>
          <p:cNvPr id="8" name="Shape 6"/>
          <p:cNvSpPr/>
          <p:nvPr/>
        </p:nvSpPr>
        <p:spPr>
          <a:xfrm>
            <a:off x="6172200" y="1691640"/>
            <a:ext cx="5349240" cy="1920240"/>
          </a:xfrm>
          <a:prstGeom prst="roundRect">
            <a:avLst>
              <a:gd name="adj" fmla="val 2857"/>
            </a:avLst>
          </a:prstGeom>
          <a:solidFill>
            <a:srgbClr val="26333F"/>
          </a:solidFill>
          <a:ln w="12700">
            <a:solidFill>
              <a:srgbClr val="3A4854"/>
            </a:solidFill>
            <a:prstDash val="solid"/>
          </a:ln>
        </p:spPr>
      </p:sp>
      <p:sp>
        <p:nvSpPr>
          <p:cNvPr id="9" name="Text 7"/>
          <p:cNvSpPr txBox="1"/>
          <p:nvPr/>
        </p:nvSpPr>
        <p:spPr>
          <a:xfrm>
            <a:off x="644652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02</a:t>
            </a:r>
            <a:endParaRPr lang="en-US" sz="1500" dirty="0"/>
          </a:p>
        </p:txBody>
      </p:sp>
      <p:sp>
        <p:nvSpPr>
          <p:cNvPr id="10" name="Text 8"/>
          <p:cNvSpPr txBox="1"/>
          <p:nvPr/>
        </p:nvSpPr>
        <p:spPr>
          <a:xfrm>
            <a:off x="7223760" y="189280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ビジョン社が合併後の筆頭株主</a:t>
            </a:r>
            <a:endParaRPr lang="en-US" sz="1450" dirty="0"/>
          </a:p>
        </p:txBody>
      </p:sp>
      <p:sp>
        <p:nvSpPr>
          <p:cNvPr id="11" name="Text 9"/>
          <p:cNvSpPr txBox="1"/>
          <p:nvPr/>
        </p:nvSpPr>
        <p:spPr>
          <a:xfrm>
            <a:off x="644652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19.26%。MBOを先行させずに合併すると、ビジョンとの関係は解消されないまま上場会社の筆頭株主として残ります。</a:t>
            </a:r>
            <a:endParaRPr lang="en-US" sz="1050" dirty="0"/>
          </a:p>
        </p:txBody>
      </p:sp>
      <p:sp>
        <p:nvSpPr>
          <p:cNvPr id="12" name="Shape 10"/>
          <p:cNvSpPr/>
          <p:nvPr/>
        </p:nvSpPr>
        <p:spPr>
          <a:xfrm>
            <a:off x="640080" y="3840480"/>
            <a:ext cx="5349240" cy="1920240"/>
          </a:xfrm>
          <a:prstGeom prst="roundRect">
            <a:avLst>
              <a:gd name="adj" fmla="val 2857"/>
            </a:avLst>
          </a:prstGeom>
          <a:solidFill>
            <a:srgbClr val="26333F"/>
          </a:solidFill>
          <a:ln w="12700">
            <a:solidFill>
              <a:srgbClr val="3A4854"/>
            </a:solidFill>
            <a:prstDash val="solid"/>
          </a:ln>
        </p:spPr>
      </p:sp>
      <p:sp>
        <p:nvSpPr>
          <p:cNvPr id="13" name="Text 11"/>
          <p:cNvSpPr txBox="1"/>
          <p:nvPr/>
        </p:nvSpPr>
        <p:spPr>
          <a:xfrm>
            <a:off x="91440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03</a:t>
            </a:r>
            <a:endParaRPr lang="en-US" sz="1500" dirty="0"/>
          </a:p>
        </p:txBody>
      </p:sp>
      <p:sp>
        <p:nvSpPr>
          <p:cNvPr id="14" name="Text 12"/>
          <p:cNvSpPr txBox="1"/>
          <p:nvPr/>
        </p:nvSpPr>
        <p:spPr>
          <a:xfrm>
            <a:off x="1691640" y="404164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のれん22.09億円の償却</a:t>
            </a:r>
            <a:endParaRPr lang="en-US" sz="1450" dirty="0"/>
          </a:p>
        </p:txBody>
      </p:sp>
      <p:sp>
        <p:nvSpPr>
          <p:cNvPr id="15" name="Text 13"/>
          <p:cNvSpPr txBox="1"/>
          <p:nvPr/>
        </p:nvSpPr>
        <p:spPr>
          <a:xfrm>
            <a:off x="91440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日本基準では定額償却が必要です。20年償却でも年1.10億、10年なら年2.21億。合算営業利益（約2.6億）の大半が消えます。</a:t>
            </a:r>
            <a:endParaRPr lang="en-US" sz="1050" dirty="0"/>
          </a:p>
        </p:txBody>
      </p:sp>
      <p:sp>
        <p:nvSpPr>
          <p:cNvPr id="16" name="Shape 14"/>
          <p:cNvSpPr/>
          <p:nvPr/>
        </p:nvSpPr>
        <p:spPr>
          <a:xfrm>
            <a:off x="6172200" y="3840480"/>
            <a:ext cx="5349240" cy="1920240"/>
          </a:xfrm>
          <a:prstGeom prst="roundRect">
            <a:avLst>
              <a:gd name="adj" fmla="val 2857"/>
            </a:avLst>
          </a:prstGeom>
          <a:solidFill>
            <a:srgbClr val="26333F"/>
          </a:solidFill>
          <a:ln w="12700">
            <a:solidFill>
              <a:srgbClr val="3A4854"/>
            </a:solidFill>
            <a:prstDash val="solid"/>
          </a:ln>
        </p:spPr>
      </p:sp>
      <p:sp>
        <p:nvSpPr>
          <p:cNvPr id="17" name="Text 15"/>
          <p:cNvSpPr txBox="1"/>
          <p:nvPr/>
        </p:nvSpPr>
        <p:spPr>
          <a:xfrm>
            <a:off x="644652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04</a:t>
            </a:r>
            <a:endParaRPr lang="en-US" sz="1500" dirty="0"/>
          </a:p>
        </p:txBody>
      </p:sp>
      <p:sp>
        <p:nvSpPr>
          <p:cNvPr id="18" name="Text 16"/>
          <p:cNvSpPr txBox="1"/>
          <p:nvPr/>
        </p:nvSpPr>
        <p:spPr>
          <a:xfrm>
            <a:off x="7223760" y="404164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流通株式比率25%基準</a:t>
            </a:r>
            <a:endParaRPr lang="en-US" sz="1450" dirty="0"/>
          </a:p>
        </p:txBody>
      </p:sp>
      <p:sp>
        <p:nvSpPr>
          <p:cNvPr id="19" name="Text 17"/>
          <p:cNvSpPr txBox="1"/>
          <p:nvPr/>
        </p:nvSpPr>
        <p:spPr>
          <a:xfrm>
            <a:off x="644652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合併後の流通株式比率は21.62〜30.59%と試算され、東証グロースの上場維持基準に抵触する可能性があります（改善期間1年）。</a:t>
            </a:r>
            <a:endParaRPr lang="en-US" sz="1050" dirty="0"/>
          </a:p>
        </p:txBody>
      </p:sp>
      <p:sp>
        <p:nvSpPr>
          <p:cNvPr id="20" name="Text 18"/>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③のれんは合併比率そのものに跳ね返る論点です。利益が消えるなら、その分を比率で調整すべきという交渉材料になります。</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論点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評価額と、支払通貨としての株価</a:t>
            </a:r>
            <a:endParaRPr lang="en-US" sz="2800" dirty="0"/>
          </a:p>
        </p:txBody>
      </p:sp>
      <p:sp>
        <p:nvSpPr>
          <p:cNvPr id="4" name="Shape 2"/>
          <p:cNvSpPr/>
          <p:nvPr/>
        </p:nvSpPr>
        <p:spPr>
          <a:xfrm>
            <a:off x="640080" y="1554480"/>
            <a:ext cx="5349240" cy="2487168"/>
          </a:xfrm>
          <a:prstGeom prst="roundRect">
            <a:avLst>
              <a:gd name="adj" fmla="val 220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14400" y="1755648"/>
            <a:ext cx="4754880" cy="274320"/>
          </a:xfrm>
          <a:prstGeom prst="rect">
            <a:avLst/>
          </a:prstGeom>
          <a:noFill/>
          <a:ln/>
        </p:spPr>
        <p:txBody>
          <a:bodyPr wrap="square" lIns="0" tIns="0" rIns="0" bIns="0" rtlCol="0" anchor="ctr"/>
          <a:lstStyle/>
          <a:p>
            <a:pPr indent="0" marL="0">
              <a:buNone/>
            </a:pPr>
            <a:r>
              <a:rPr lang="en-US" sz="1350" b="1" dirty="0">
                <a:solidFill>
                  <a:srgbClr val="1E2A38"/>
                </a:solidFill>
                <a:latin typeface="Meiryo" pitchFamily="34" charset="0"/>
                <a:ea typeface="Meiryo" pitchFamily="34" charset="-122"/>
                <a:cs typeface="Meiryo" pitchFamily="34" charset="-120"/>
              </a:rPr>
              <a:t>あどばるの評価額</a:t>
            </a:r>
            <a:endParaRPr lang="en-US" sz="1350" dirty="0"/>
          </a:p>
        </p:txBody>
      </p:sp>
      <p:sp>
        <p:nvSpPr>
          <p:cNvPr id="6" name="Text 4"/>
          <p:cNvSpPr txBox="1"/>
          <p:nvPr/>
        </p:nvSpPr>
        <p:spPr>
          <a:xfrm>
            <a:off x="914400" y="221284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スペースマーケット社LOI</a:t>
            </a:r>
            <a:endParaRPr lang="en-US" sz="1150" dirty="0"/>
          </a:p>
        </p:txBody>
      </p:sp>
      <p:sp>
        <p:nvSpPr>
          <p:cNvPr id="7" name="Text 5"/>
          <p:cNvSpPr txBox="1"/>
          <p:nvPr/>
        </p:nvSpPr>
        <p:spPr>
          <a:xfrm>
            <a:off x="4206240" y="2176272"/>
            <a:ext cx="1463040" cy="329184"/>
          </a:xfrm>
          <a:prstGeom prst="rect">
            <a:avLst/>
          </a:prstGeom>
          <a:noFill/>
          <a:ln/>
        </p:spPr>
        <p:txBody>
          <a:bodyPr wrap="square" lIns="0" tIns="0" rIns="0" bIns="0" rtlCol="0" anchor="ctr"/>
          <a:lstStyle/>
          <a:p>
            <a:pPr algn="r" indent="0" marL="0">
              <a:buNone/>
            </a:pPr>
            <a:r>
              <a:rPr lang="en-US" sz="1600" b="1" dirty="0">
                <a:solidFill>
                  <a:srgbClr val="8A2E26"/>
                </a:solidFill>
                <a:latin typeface="Meiryo" pitchFamily="34" charset="0"/>
                <a:ea typeface="Meiryo" pitchFamily="34" charset="-122"/>
                <a:cs typeface="Meiryo" pitchFamily="34" charset="-120"/>
              </a:rPr>
              <a:t>18.0億円</a:t>
            </a:r>
            <a:endParaRPr lang="en-US" sz="1600" dirty="0"/>
          </a:p>
        </p:txBody>
      </p:sp>
      <p:sp>
        <p:nvSpPr>
          <p:cNvPr id="8" name="Text 6"/>
          <p:cNvSpPr txBox="1"/>
          <p:nvPr/>
        </p:nvSpPr>
        <p:spPr>
          <a:xfrm>
            <a:off x="914400" y="271576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MBOの前提評価（Pre）</a:t>
            </a:r>
            <a:endParaRPr lang="en-US" sz="1150" dirty="0"/>
          </a:p>
        </p:txBody>
      </p:sp>
      <p:sp>
        <p:nvSpPr>
          <p:cNvPr id="9" name="Text 7"/>
          <p:cNvSpPr txBox="1"/>
          <p:nvPr/>
        </p:nvSpPr>
        <p:spPr>
          <a:xfrm>
            <a:off x="4206240" y="2679192"/>
            <a:ext cx="1463040" cy="329184"/>
          </a:xfrm>
          <a:prstGeom prst="rect">
            <a:avLst/>
          </a:prstGeom>
          <a:noFill/>
          <a:ln/>
        </p:spPr>
        <p:txBody>
          <a:bodyPr wrap="square" lIns="0" tIns="0" rIns="0" bIns="0" rtlCol="0" anchor="ctr"/>
          <a:lstStyle/>
          <a:p>
            <a:pPr algn="r" indent="0" marL="0">
              <a:buNone/>
            </a:pPr>
            <a:r>
              <a:rPr lang="en-US" sz="1600" b="1" dirty="0">
                <a:solidFill>
                  <a:srgbClr val="1E2A38"/>
                </a:solidFill>
                <a:latin typeface="Meiryo" pitchFamily="34" charset="0"/>
                <a:ea typeface="Meiryo" pitchFamily="34" charset="-122"/>
                <a:cs typeface="Meiryo" pitchFamily="34" charset="-120"/>
              </a:rPr>
              <a:t>20.0億円</a:t>
            </a:r>
            <a:endParaRPr lang="en-US" sz="1600" dirty="0"/>
          </a:p>
        </p:txBody>
      </p:sp>
      <p:sp>
        <p:nvSpPr>
          <p:cNvPr id="10" name="Text 8"/>
          <p:cNvSpPr txBox="1"/>
          <p:nvPr/>
        </p:nvSpPr>
        <p:spPr>
          <a:xfrm>
            <a:off x="914400" y="321868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MBO取引後の株主価値</a:t>
            </a:r>
            <a:endParaRPr lang="en-US" sz="1150" dirty="0"/>
          </a:p>
        </p:txBody>
      </p:sp>
      <p:sp>
        <p:nvSpPr>
          <p:cNvPr id="11" name="Text 9"/>
          <p:cNvSpPr txBox="1"/>
          <p:nvPr/>
        </p:nvSpPr>
        <p:spPr>
          <a:xfrm>
            <a:off x="4206240" y="3182112"/>
            <a:ext cx="1463040" cy="329184"/>
          </a:xfrm>
          <a:prstGeom prst="rect">
            <a:avLst/>
          </a:prstGeom>
          <a:noFill/>
          <a:ln/>
        </p:spPr>
        <p:txBody>
          <a:bodyPr wrap="square" lIns="0" tIns="0" rIns="0" bIns="0" rtlCol="0" anchor="ctr"/>
          <a:lstStyle/>
          <a:p>
            <a:pPr algn="r" indent="0" marL="0">
              <a:buNone/>
            </a:pPr>
            <a:r>
              <a:rPr lang="en-US" sz="1600" b="1" dirty="0">
                <a:solidFill>
                  <a:srgbClr val="2C6A4E"/>
                </a:solidFill>
                <a:latin typeface="Meiryo" pitchFamily="34" charset="0"/>
                <a:ea typeface="Meiryo" pitchFamily="34" charset="-122"/>
                <a:cs typeface="Meiryo" pitchFamily="34" charset="-120"/>
              </a:rPr>
              <a:t>26.85億円</a:t>
            </a:r>
            <a:endParaRPr lang="en-US" sz="1600" dirty="0"/>
          </a:p>
        </p:txBody>
      </p:sp>
      <p:sp>
        <p:nvSpPr>
          <p:cNvPr id="12" name="Text 10"/>
          <p:cNvSpPr txBox="1"/>
          <p:nvPr/>
        </p:nvSpPr>
        <p:spPr>
          <a:xfrm>
            <a:off x="914400" y="3621024"/>
            <a:ext cx="4800600" cy="41148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LOIの18億円は、MBOの前提である20億円を下回ります。まず評価額そのものが交渉の対象です。</a:t>
            </a:r>
            <a:endParaRPr lang="en-US" sz="1050" dirty="0"/>
          </a:p>
        </p:txBody>
      </p:sp>
      <p:sp>
        <p:nvSpPr>
          <p:cNvPr id="13" name="Shape 11"/>
          <p:cNvSpPr/>
          <p:nvPr/>
        </p:nvSpPr>
        <p:spPr>
          <a:xfrm>
            <a:off x="6172200" y="1554480"/>
            <a:ext cx="5349240" cy="2487168"/>
          </a:xfrm>
          <a:prstGeom prst="roundRect">
            <a:avLst>
              <a:gd name="adj" fmla="val 2206"/>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4" name="Text 12"/>
          <p:cNvSpPr txBox="1"/>
          <p:nvPr/>
        </p:nvSpPr>
        <p:spPr>
          <a:xfrm>
            <a:off x="6446520" y="1755648"/>
            <a:ext cx="4754880" cy="274320"/>
          </a:xfrm>
          <a:prstGeom prst="rect">
            <a:avLst/>
          </a:prstGeom>
          <a:noFill/>
          <a:ln/>
        </p:spPr>
        <p:txBody>
          <a:bodyPr wrap="square" lIns="0" tIns="0" rIns="0" bIns="0" rtlCol="0" anchor="ctr"/>
          <a:lstStyle/>
          <a:p>
            <a:pPr indent="0" marL="0">
              <a:buNone/>
            </a:pPr>
            <a:r>
              <a:rPr lang="en-US" sz="1350" b="1" dirty="0">
                <a:solidFill>
                  <a:srgbClr val="1E2A38"/>
                </a:solidFill>
                <a:latin typeface="Meiryo" pitchFamily="34" charset="0"/>
                <a:ea typeface="Meiryo" pitchFamily="34" charset="-122"/>
                <a:cs typeface="Meiryo" pitchFamily="34" charset="-120"/>
              </a:rPr>
              <a:t>受け取る通貨（SM株価）の状況</a:t>
            </a:r>
            <a:endParaRPr lang="en-US" sz="1350" dirty="0"/>
          </a:p>
        </p:txBody>
      </p:sp>
      <p:sp>
        <p:nvSpPr>
          <p:cNvPr id="15" name="Text 13"/>
          <p:cNvSpPr txBox="1"/>
          <p:nvPr/>
        </p:nvSpPr>
        <p:spPr>
          <a:xfrm>
            <a:off x="6446520" y="221284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年初来高値（1月20日）</a:t>
            </a:r>
            <a:endParaRPr lang="en-US" sz="1150" dirty="0"/>
          </a:p>
        </p:txBody>
      </p:sp>
      <p:sp>
        <p:nvSpPr>
          <p:cNvPr id="16" name="Text 14"/>
          <p:cNvSpPr txBox="1"/>
          <p:nvPr/>
        </p:nvSpPr>
        <p:spPr>
          <a:xfrm>
            <a:off x="9738360" y="2176272"/>
            <a:ext cx="1463040" cy="329184"/>
          </a:xfrm>
          <a:prstGeom prst="rect">
            <a:avLst/>
          </a:prstGeom>
          <a:noFill/>
          <a:ln/>
        </p:spPr>
        <p:txBody>
          <a:bodyPr wrap="square" lIns="0" tIns="0" rIns="0" bIns="0" rtlCol="0" anchor="ctr"/>
          <a:lstStyle/>
          <a:p>
            <a:pPr algn="r" indent="0" marL="0">
              <a:buNone/>
            </a:pPr>
            <a:r>
              <a:rPr lang="en-US" sz="1600" b="1" dirty="0">
                <a:solidFill>
                  <a:srgbClr val="7C8A99"/>
                </a:solidFill>
                <a:latin typeface="Meiryo" pitchFamily="34" charset="0"/>
                <a:ea typeface="Meiryo" pitchFamily="34" charset="-122"/>
                <a:cs typeface="Meiryo" pitchFamily="34" charset="-120"/>
              </a:rPr>
              <a:t>328円</a:t>
            </a:r>
            <a:endParaRPr lang="en-US" sz="1600" dirty="0"/>
          </a:p>
        </p:txBody>
      </p:sp>
      <p:sp>
        <p:nvSpPr>
          <p:cNvPr id="17" name="Text 15"/>
          <p:cNvSpPr txBox="1"/>
          <p:nvPr/>
        </p:nvSpPr>
        <p:spPr>
          <a:xfrm>
            <a:off x="6446520" y="271576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6ヶ月平均（推定）</a:t>
            </a:r>
            <a:endParaRPr lang="en-US" sz="1150" dirty="0"/>
          </a:p>
        </p:txBody>
      </p:sp>
      <p:sp>
        <p:nvSpPr>
          <p:cNvPr id="18" name="Text 16"/>
          <p:cNvSpPr txBox="1"/>
          <p:nvPr/>
        </p:nvSpPr>
        <p:spPr>
          <a:xfrm>
            <a:off x="9738360" y="2679192"/>
            <a:ext cx="1463040" cy="329184"/>
          </a:xfrm>
          <a:prstGeom prst="rect">
            <a:avLst/>
          </a:prstGeom>
          <a:noFill/>
          <a:ln/>
        </p:spPr>
        <p:txBody>
          <a:bodyPr wrap="square" lIns="0" tIns="0" rIns="0" bIns="0" rtlCol="0" anchor="ctr"/>
          <a:lstStyle/>
          <a:p>
            <a:pPr algn="r" indent="0" marL="0">
              <a:buNone/>
            </a:pPr>
            <a:r>
              <a:rPr lang="en-US" sz="1600" b="1" dirty="0">
                <a:solidFill>
                  <a:srgbClr val="3D4E60"/>
                </a:solidFill>
                <a:latin typeface="Meiryo" pitchFamily="34" charset="0"/>
                <a:ea typeface="Meiryo" pitchFamily="34" charset="-122"/>
                <a:cs typeface="Meiryo" pitchFamily="34" charset="-120"/>
              </a:rPr>
              <a:t>約240円</a:t>
            </a:r>
            <a:endParaRPr lang="en-US" sz="1600" dirty="0"/>
          </a:p>
        </p:txBody>
      </p:sp>
      <p:sp>
        <p:nvSpPr>
          <p:cNvPr id="19" name="Text 17"/>
          <p:cNvSpPr txBox="1"/>
          <p:nvPr/>
        </p:nvSpPr>
        <p:spPr>
          <a:xfrm>
            <a:off x="6446520" y="3218688"/>
            <a:ext cx="3291840" cy="2743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3ヶ月平均（推定）</a:t>
            </a:r>
            <a:endParaRPr lang="en-US" sz="1150" dirty="0"/>
          </a:p>
        </p:txBody>
      </p:sp>
      <p:sp>
        <p:nvSpPr>
          <p:cNvPr id="20" name="Text 18"/>
          <p:cNvSpPr txBox="1"/>
          <p:nvPr/>
        </p:nvSpPr>
        <p:spPr>
          <a:xfrm>
            <a:off x="9738360" y="3182112"/>
            <a:ext cx="1463040" cy="329184"/>
          </a:xfrm>
          <a:prstGeom prst="rect">
            <a:avLst/>
          </a:prstGeom>
          <a:noFill/>
          <a:ln/>
        </p:spPr>
        <p:txBody>
          <a:bodyPr wrap="square" lIns="0" tIns="0" rIns="0" bIns="0" rtlCol="0" anchor="ctr"/>
          <a:lstStyle/>
          <a:p>
            <a:pPr algn="r" indent="0" marL="0">
              <a:buNone/>
            </a:pPr>
            <a:r>
              <a:rPr lang="en-US" sz="1600" b="1" dirty="0">
                <a:solidFill>
                  <a:srgbClr val="6E2639"/>
                </a:solidFill>
                <a:latin typeface="Meiryo" pitchFamily="34" charset="0"/>
                <a:ea typeface="Meiryo" pitchFamily="34" charset="-122"/>
                <a:cs typeface="Meiryo" pitchFamily="34" charset="-120"/>
              </a:rPr>
              <a:t>約229円</a:t>
            </a:r>
            <a:endParaRPr lang="en-US" sz="1600" dirty="0"/>
          </a:p>
        </p:txBody>
      </p:sp>
      <p:sp>
        <p:nvSpPr>
          <p:cNvPr id="21" name="Text 19"/>
          <p:cNvSpPr txBox="1"/>
          <p:nvPr/>
        </p:nvSpPr>
        <p:spPr>
          <a:xfrm>
            <a:off x="6446520" y="3621024"/>
            <a:ext cx="4800600" cy="41148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対価は現金ではなく、この株式です。年初来で3割下落しており、今の水準で固定してよいかという論点があります。</a:t>
            </a:r>
            <a:endParaRPr lang="en-US" sz="1050" dirty="0"/>
          </a:p>
        </p:txBody>
      </p:sp>
      <p:sp>
        <p:nvSpPr>
          <p:cNvPr id="22" name="Shape 20"/>
          <p:cNvSpPr/>
          <p:nvPr/>
        </p:nvSpPr>
        <p:spPr>
          <a:xfrm>
            <a:off x="640080" y="4187952"/>
            <a:ext cx="10881360" cy="1783080"/>
          </a:xfrm>
          <a:prstGeom prst="roundRect">
            <a:avLst>
              <a:gd name="adj" fmla="val 3077"/>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23" name="Text 21"/>
          <p:cNvSpPr txBox="1"/>
          <p:nvPr/>
        </p:nvSpPr>
        <p:spPr>
          <a:xfrm>
            <a:off x="914400" y="4352544"/>
            <a:ext cx="5486400" cy="292608"/>
          </a:xfrm>
          <a:prstGeom prst="rect">
            <a:avLst/>
          </a:prstGeom>
          <a:noFill/>
          <a:ln/>
        </p:spPr>
        <p:txBody>
          <a:bodyPr wrap="square" lIns="0" tIns="0" rIns="0" bIns="0" rtlCol="0" anchor="ctr"/>
          <a:lstStyle/>
          <a:p>
            <a:pPr indent="0" marL="0">
              <a:buNone/>
            </a:pPr>
            <a:r>
              <a:rPr lang="en-US" sz="1350" b="1" dirty="0">
                <a:solidFill>
                  <a:srgbClr val="8F5510"/>
                </a:solidFill>
                <a:latin typeface="Meiryo" pitchFamily="34" charset="0"/>
                <a:ea typeface="Meiryo" pitchFamily="34" charset="-122"/>
                <a:cs typeface="Meiryo" pitchFamily="34" charset="-120"/>
              </a:rPr>
              <a:t>交渉上、押さえておきたい点</a:t>
            </a:r>
            <a:endParaRPr lang="en-US" sz="1350" dirty="0"/>
          </a:p>
        </p:txBody>
      </p:sp>
      <p:sp>
        <p:nvSpPr>
          <p:cNvPr id="24" name="Shape 22"/>
          <p:cNvSpPr/>
          <p:nvPr/>
        </p:nvSpPr>
        <p:spPr>
          <a:xfrm>
            <a:off x="914400" y="4773168"/>
            <a:ext cx="146304" cy="146304"/>
          </a:xfrm>
          <a:prstGeom prst="roundRect">
            <a:avLst>
              <a:gd name="adj" fmla="val 50000"/>
            </a:avLst>
          </a:prstGeom>
          <a:solidFill>
            <a:srgbClr val="8F5510"/>
          </a:solidFill>
          <a:ln/>
        </p:spPr>
      </p:sp>
      <p:sp>
        <p:nvSpPr>
          <p:cNvPr id="25" name="Text 23"/>
          <p:cNvSpPr txBox="1"/>
          <p:nvPr/>
        </p:nvSpPr>
        <p:spPr>
          <a:xfrm>
            <a:off x="1188720" y="4690872"/>
            <a:ext cx="310896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基準株価は3ヶ月平均を</a:t>
            </a:r>
            <a:endParaRPr lang="en-US" sz="1150" dirty="0"/>
          </a:p>
        </p:txBody>
      </p:sp>
      <p:sp>
        <p:nvSpPr>
          <p:cNvPr id="26" name="Text 24"/>
          <p:cNvSpPr txBox="1"/>
          <p:nvPr/>
        </p:nvSpPr>
        <p:spPr>
          <a:xfrm>
            <a:off x="1188720" y="5001768"/>
            <a:ext cx="3108960" cy="91440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3ヶ月平均229円は6ヶ月平均240円より低く、同じ評価額でも交付される株数が増えます。当社に有利な側です。書面で先に合意すべきです。</a:t>
            </a:r>
            <a:endParaRPr lang="en-US" sz="950" dirty="0"/>
          </a:p>
        </p:txBody>
      </p:sp>
      <p:sp>
        <p:nvSpPr>
          <p:cNvPr id="27" name="Shape 25"/>
          <p:cNvSpPr/>
          <p:nvPr/>
        </p:nvSpPr>
        <p:spPr>
          <a:xfrm>
            <a:off x="4498848" y="4773168"/>
            <a:ext cx="146304" cy="146304"/>
          </a:xfrm>
          <a:prstGeom prst="roundRect">
            <a:avLst>
              <a:gd name="adj" fmla="val 50000"/>
            </a:avLst>
          </a:prstGeom>
          <a:solidFill>
            <a:srgbClr val="8F5510"/>
          </a:solidFill>
          <a:ln/>
        </p:spPr>
      </p:sp>
      <p:sp>
        <p:nvSpPr>
          <p:cNvPr id="28" name="Text 26"/>
          <p:cNvSpPr txBox="1"/>
          <p:nvPr/>
        </p:nvSpPr>
        <p:spPr>
          <a:xfrm>
            <a:off x="4773168" y="4690872"/>
            <a:ext cx="310896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評価額は20億円を下限に</a:t>
            </a:r>
            <a:endParaRPr lang="en-US" sz="1150" dirty="0"/>
          </a:p>
        </p:txBody>
      </p:sp>
      <p:sp>
        <p:nvSpPr>
          <p:cNvPr id="29" name="Text 27"/>
          <p:cNvSpPr txBox="1"/>
          <p:nvPr/>
        </p:nvSpPr>
        <p:spPr>
          <a:xfrm>
            <a:off x="4773168" y="5001768"/>
            <a:ext cx="3108960" cy="91440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MBOで既存株主に20億円評価で退出いただく前提と整合しません。18億円では社内説明が立ちません。</a:t>
            </a:r>
            <a:endParaRPr lang="en-US" sz="950" dirty="0"/>
          </a:p>
        </p:txBody>
      </p:sp>
      <p:sp>
        <p:nvSpPr>
          <p:cNvPr id="30" name="Shape 28"/>
          <p:cNvSpPr/>
          <p:nvPr/>
        </p:nvSpPr>
        <p:spPr>
          <a:xfrm>
            <a:off x="8083296" y="4773168"/>
            <a:ext cx="146304" cy="146304"/>
          </a:xfrm>
          <a:prstGeom prst="roundRect">
            <a:avLst>
              <a:gd name="adj" fmla="val 50000"/>
            </a:avLst>
          </a:prstGeom>
          <a:solidFill>
            <a:srgbClr val="8F5510"/>
          </a:solidFill>
          <a:ln/>
        </p:spPr>
      </p:sp>
      <p:sp>
        <p:nvSpPr>
          <p:cNvPr id="31" name="Text 29"/>
          <p:cNvSpPr txBox="1"/>
          <p:nvPr/>
        </p:nvSpPr>
        <p:spPr>
          <a:xfrm>
            <a:off x="8357616" y="4690872"/>
            <a:ext cx="3108960" cy="274320"/>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のれん償却の負担を比率に反映</a:t>
            </a:r>
            <a:endParaRPr lang="en-US" sz="1150" dirty="0"/>
          </a:p>
        </p:txBody>
      </p:sp>
      <p:sp>
        <p:nvSpPr>
          <p:cNvPr id="32" name="Text 30"/>
          <p:cNvSpPr txBox="1"/>
          <p:nvPr/>
        </p:nvSpPr>
        <p:spPr>
          <a:xfrm>
            <a:off x="8357616" y="5001768"/>
            <a:ext cx="3108960" cy="914400"/>
          </a:xfrm>
          <a:prstGeom prst="rect">
            <a:avLst/>
          </a:prstGeom>
          <a:noFill/>
          <a:ln/>
        </p:spPr>
        <p:txBody>
          <a:bodyPr wrap="square" lIns="0" tIns="0" rIns="0" bIns="0" rtlCol="0" anchor="ctr"/>
          <a:lstStyle/>
          <a:p>
            <a:pPr indent="0" marL="0">
              <a:lnSpc>
                <a:spcPct val="115000"/>
              </a:lnSpc>
              <a:buNone/>
            </a:pPr>
            <a:r>
              <a:rPr lang="en-US" sz="950" dirty="0">
                <a:solidFill>
                  <a:srgbClr val="3D4E60"/>
                </a:solidFill>
                <a:latin typeface="Meiryo" pitchFamily="34" charset="0"/>
                <a:ea typeface="Meiryo" pitchFamily="34" charset="-122"/>
                <a:cs typeface="Meiryo" pitchFamily="34" charset="-120"/>
              </a:rPr>
              <a:t>年1.10〜2.21億の償却負担は合併後の全株主が負います。負担の配分を比率で調整する余地があります。</a:t>
            </a:r>
            <a:endParaRPr lang="en-US" sz="950" dirty="0"/>
          </a:p>
        </p:txBody>
      </p:sp>
      <p:sp>
        <p:nvSpPr>
          <p:cNvPr id="33" name="Text 31"/>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3ヶ月・6ヶ月平均株価は公開情報からの推定値です（3ヶ月レンジ225〜235円、6ヶ月レンジ235〜250円）。確定値は証券会社経由でご確認ください。</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論点</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重松氏と対等になるために必要な取得コスト</a:t>
            </a:r>
            <a:endParaRPr lang="en-US" sz="2800" dirty="0"/>
          </a:p>
        </p:txBody>
      </p:sp>
      <p:sp>
        <p:nvSpPr>
          <p:cNvPr id="4" name="Shape 2"/>
          <p:cNvSpPr/>
          <p:nvPr/>
        </p:nvSpPr>
        <p:spPr>
          <a:xfrm>
            <a:off x="640080" y="1554480"/>
            <a:ext cx="5349240" cy="2834640"/>
          </a:xfrm>
          <a:prstGeom prst="roundRect">
            <a:avLst>
              <a:gd name="adj" fmla="val 1935"/>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783080"/>
            <a:ext cx="1463040" cy="310896"/>
          </a:xfrm>
          <a:prstGeom prst="roundRect">
            <a:avLst>
              <a:gd name="adj" fmla="val 50000"/>
            </a:avLst>
          </a:prstGeom>
          <a:solidFill>
            <a:srgbClr val="2C6A4E"/>
          </a:solidFill>
          <a:ln/>
        </p:spPr>
      </p:sp>
      <p:sp>
        <p:nvSpPr>
          <p:cNvPr id="6" name="Text 4"/>
          <p:cNvSpPr txBox="1"/>
          <p:nvPr/>
        </p:nvSpPr>
        <p:spPr>
          <a:xfrm>
            <a:off x="960120" y="1783080"/>
            <a:ext cx="14630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ケース A</a:t>
            </a:r>
            <a:endParaRPr lang="en-US" sz="1150" dirty="0"/>
          </a:p>
        </p:txBody>
      </p:sp>
      <p:sp>
        <p:nvSpPr>
          <p:cNvPr id="7" name="Text 5"/>
          <p:cNvSpPr txBox="1"/>
          <p:nvPr/>
        </p:nvSpPr>
        <p:spPr>
          <a:xfrm>
            <a:off x="960120" y="2240280"/>
            <a:ext cx="4709160" cy="320040"/>
          </a:xfrm>
          <a:prstGeom prst="rect">
            <a:avLst/>
          </a:prstGeom>
          <a:noFill/>
          <a:ln/>
        </p:spPr>
        <p:txBody>
          <a:bodyPr wrap="square" lIns="0" tIns="0" rIns="0" bIns="0" rtlCol="0" anchor="ctr"/>
          <a:lstStyle/>
          <a:p>
            <a:pPr indent="0" marL="0">
              <a:buNone/>
            </a:pPr>
            <a:r>
              <a:rPr lang="en-US" sz="1600" b="1" dirty="0">
                <a:solidFill>
                  <a:srgbClr val="1E2A38"/>
                </a:solidFill>
                <a:latin typeface="Meiryo" pitchFamily="34" charset="0"/>
                <a:ea typeface="Meiryo" pitchFamily="34" charset="-122"/>
                <a:cs typeface="Meiryo" pitchFamily="34" charset="-120"/>
              </a:rPr>
              <a:t>重松氏 個人分のみと並ぶ</a:t>
            </a:r>
            <a:endParaRPr lang="en-US" sz="1600" dirty="0"/>
          </a:p>
        </p:txBody>
      </p:sp>
      <p:sp>
        <p:nvSpPr>
          <p:cNvPr id="8" name="Text 6"/>
          <p:cNvSpPr txBox="1"/>
          <p:nvPr/>
        </p:nvSpPr>
        <p:spPr>
          <a:xfrm>
            <a:off x="960120" y="2578608"/>
            <a:ext cx="4709160" cy="274320"/>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14.80% vs 13.25%</a:t>
            </a:r>
            <a:endParaRPr lang="en-US" sz="1100" dirty="0"/>
          </a:p>
        </p:txBody>
      </p:sp>
      <p:sp>
        <p:nvSpPr>
          <p:cNvPr id="9" name="Text 7"/>
          <p:cNvSpPr txBox="1"/>
          <p:nvPr/>
        </p:nvSpPr>
        <p:spPr>
          <a:xfrm>
            <a:off x="960120" y="2926080"/>
            <a:ext cx="4709160" cy="685800"/>
          </a:xfrm>
          <a:prstGeom prst="rect">
            <a:avLst/>
          </a:prstGeom>
          <a:noFill/>
          <a:ln/>
        </p:spPr>
        <p:txBody>
          <a:bodyPr wrap="square" lIns="0" tIns="0" rIns="0" bIns="0" rtlCol="0" anchor="ctr"/>
          <a:lstStyle/>
          <a:p>
            <a:pPr indent="0" marL="0">
              <a:buNone/>
            </a:pPr>
            <a:r>
              <a:rPr lang="en-US" sz="4000" b="1" dirty="0">
                <a:solidFill>
                  <a:srgbClr val="2C6A4E"/>
                </a:solidFill>
                <a:latin typeface="Meiryo" pitchFamily="34" charset="0"/>
                <a:ea typeface="Meiryo" pitchFamily="34" charset="-122"/>
                <a:cs typeface="Meiryo" pitchFamily="34" charset="-120"/>
              </a:rPr>
              <a:t>0.09</a:t>
            </a:r>
            <a:pPr indent="0" marL="0">
              <a:buNone/>
            </a:pPr>
            <a:r>
              <a:rPr lang="en-US" sz="1500" b="1" dirty="0">
                <a:solidFill>
                  <a:srgbClr val="2C6A4E"/>
                </a:solidFill>
                <a:latin typeface="Meiryo" pitchFamily="34" charset="0"/>
                <a:ea typeface="Meiryo" pitchFamily="34" charset="-122"/>
                <a:cs typeface="Meiryo" pitchFamily="34" charset="-120"/>
              </a:rPr>
              <a:t>億円</a:t>
            </a:r>
            <a:endParaRPr lang="en-US" sz="4000" dirty="0"/>
          </a:p>
        </p:txBody>
      </p:sp>
      <p:sp>
        <p:nvSpPr>
          <p:cNvPr id="10" name="Text 8"/>
          <p:cNvSpPr txBox="1"/>
          <p:nvPr/>
        </p:nvSpPr>
        <p:spPr>
          <a:xfrm>
            <a:off x="960120" y="3657600"/>
            <a:ext cx="47091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差分 1.55pt = 約4万株を相対取得</a:t>
            </a:r>
            <a:endParaRPr lang="en-US" sz="1050" dirty="0"/>
          </a:p>
        </p:txBody>
      </p:sp>
      <p:sp>
        <p:nvSpPr>
          <p:cNvPr id="11" name="Text 9"/>
          <p:cNvSpPr txBox="1"/>
          <p:nvPr/>
        </p:nvSpPr>
        <p:spPr>
          <a:xfrm>
            <a:off x="960120" y="3950208"/>
            <a:ext cx="4709160" cy="2743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市場で買う場合は 0.18億円</a:t>
            </a:r>
            <a:endParaRPr lang="en-US" sz="1050" dirty="0"/>
          </a:p>
        </p:txBody>
      </p:sp>
      <p:sp>
        <p:nvSpPr>
          <p:cNvPr id="12" name="Shape 10"/>
          <p:cNvSpPr/>
          <p:nvPr/>
        </p:nvSpPr>
        <p:spPr>
          <a:xfrm>
            <a:off x="6172200" y="1554480"/>
            <a:ext cx="5349240" cy="2834640"/>
          </a:xfrm>
          <a:prstGeom prst="roundRect">
            <a:avLst>
              <a:gd name="adj" fmla="val 1935"/>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13" name="Shape 11"/>
          <p:cNvSpPr/>
          <p:nvPr/>
        </p:nvSpPr>
        <p:spPr>
          <a:xfrm>
            <a:off x="6492240" y="1783080"/>
            <a:ext cx="1463040" cy="310896"/>
          </a:xfrm>
          <a:prstGeom prst="roundRect">
            <a:avLst>
              <a:gd name="adj" fmla="val 50000"/>
            </a:avLst>
          </a:prstGeom>
          <a:solidFill>
            <a:srgbClr val="6E2639"/>
          </a:solidFill>
          <a:ln/>
        </p:spPr>
      </p:sp>
      <p:sp>
        <p:nvSpPr>
          <p:cNvPr id="14" name="Text 12"/>
          <p:cNvSpPr txBox="1"/>
          <p:nvPr/>
        </p:nvSpPr>
        <p:spPr>
          <a:xfrm>
            <a:off x="6492240" y="1783080"/>
            <a:ext cx="14630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ケース B</a:t>
            </a:r>
            <a:endParaRPr lang="en-US" sz="1150" dirty="0"/>
          </a:p>
        </p:txBody>
      </p:sp>
      <p:sp>
        <p:nvSpPr>
          <p:cNvPr id="15" name="Text 13"/>
          <p:cNvSpPr txBox="1"/>
          <p:nvPr/>
        </p:nvSpPr>
        <p:spPr>
          <a:xfrm>
            <a:off x="6492240" y="2240280"/>
            <a:ext cx="4709160" cy="320040"/>
          </a:xfrm>
          <a:prstGeom prst="rect">
            <a:avLst/>
          </a:prstGeom>
          <a:noFill/>
          <a:ln/>
        </p:spPr>
        <p:txBody>
          <a:bodyPr wrap="square" lIns="0" tIns="0" rIns="0" bIns="0" rtlCol="0" anchor="ctr"/>
          <a:lstStyle/>
          <a:p>
            <a:pPr indent="0" marL="0">
              <a:buNone/>
            </a:pPr>
            <a:r>
              <a:rPr lang="en-US" sz="1600" b="1" dirty="0">
                <a:solidFill>
                  <a:srgbClr val="1E2A38"/>
                </a:solidFill>
                <a:latin typeface="Meiryo" pitchFamily="34" charset="0"/>
                <a:ea typeface="Meiryo" pitchFamily="34" charset="-122"/>
                <a:cs typeface="Meiryo" pitchFamily="34" charset="-120"/>
              </a:rPr>
              <a:t>ダブルパインズを含めて並ぶ</a:t>
            </a:r>
            <a:endParaRPr lang="en-US" sz="1600" dirty="0"/>
          </a:p>
        </p:txBody>
      </p:sp>
      <p:sp>
        <p:nvSpPr>
          <p:cNvPr id="16" name="Text 14"/>
          <p:cNvSpPr txBox="1"/>
          <p:nvPr/>
        </p:nvSpPr>
        <p:spPr>
          <a:xfrm>
            <a:off x="6492240" y="2578608"/>
            <a:ext cx="4709160" cy="274320"/>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23.18% vs 13.25%</a:t>
            </a:r>
            <a:endParaRPr lang="en-US" sz="1100" dirty="0"/>
          </a:p>
        </p:txBody>
      </p:sp>
      <p:sp>
        <p:nvSpPr>
          <p:cNvPr id="17" name="Text 15"/>
          <p:cNvSpPr txBox="1"/>
          <p:nvPr/>
        </p:nvSpPr>
        <p:spPr>
          <a:xfrm>
            <a:off x="6492240" y="2926080"/>
            <a:ext cx="4709160" cy="685800"/>
          </a:xfrm>
          <a:prstGeom prst="rect">
            <a:avLst/>
          </a:prstGeom>
          <a:noFill/>
          <a:ln/>
        </p:spPr>
        <p:txBody>
          <a:bodyPr wrap="square" lIns="0" tIns="0" rIns="0" bIns="0" rtlCol="0" anchor="ctr"/>
          <a:lstStyle/>
          <a:p>
            <a:pPr indent="0" marL="0">
              <a:buNone/>
            </a:pPr>
            <a:r>
              <a:rPr lang="en-US" sz="4000" b="1" dirty="0">
                <a:solidFill>
                  <a:srgbClr val="6E2639"/>
                </a:solidFill>
                <a:latin typeface="Meiryo" pitchFamily="34" charset="0"/>
                <a:ea typeface="Meiryo" pitchFamily="34" charset="-122"/>
                <a:cs typeface="Meiryo" pitchFamily="34" charset="-120"/>
              </a:rPr>
              <a:t>2.01</a:t>
            </a:r>
            <a:pPr indent="0" marL="0">
              <a:buNone/>
            </a:pPr>
            <a:r>
              <a:rPr lang="en-US" sz="1500" b="1" dirty="0">
                <a:solidFill>
                  <a:srgbClr val="6E2639"/>
                </a:solidFill>
                <a:latin typeface="Meiryo" pitchFamily="34" charset="0"/>
                <a:ea typeface="Meiryo" pitchFamily="34" charset="-122"/>
                <a:cs typeface="Meiryo" pitchFamily="34" charset="-120"/>
              </a:rPr>
              <a:t>億円</a:t>
            </a:r>
            <a:endParaRPr lang="en-US" sz="4000" dirty="0"/>
          </a:p>
        </p:txBody>
      </p:sp>
      <p:sp>
        <p:nvSpPr>
          <p:cNvPr id="18" name="Text 16"/>
          <p:cNvSpPr txBox="1"/>
          <p:nvPr/>
        </p:nvSpPr>
        <p:spPr>
          <a:xfrm>
            <a:off x="6492240" y="3657600"/>
            <a:ext cx="47091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差分 9.93pt = 約88万株を相対取得</a:t>
            </a:r>
            <a:endParaRPr lang="en-US" sz="1050" dirty="0"/>
          </a:p>
        </p:txBody>
      </p:sp>
      <p:sp>
        <p:nvSpPr>
          <p:cNvPr id="19" name="Text 17"/>
          <p:cNvSpPr txBox="1"/>
          <p:nvPr/>
        </p:nvSpPr>
        <p:spPr>
          <a:xfrm>
            <a:off x="6492240" y="3950208"/>
            <a:ext cx="4709160" cy="2743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市場で買う場合は 4.02億円</a:t>
            </a:r>
            <a:endParaRPr lang="en-US" sz="1050" dirty="0"/>
          </a:p>
        </p:txBody>
      </p:sp>
      <p:sp>
        <p:nvSpPr>
          <p:cNvPr id="20" name="Shape 18"/>
          <p:cNvSpPr/>
          <p:nvPr/>
        </p:nvSpPr>
        <p:spPr>
          <a:xfrm>
            <a:off x="640080" y="4572000"/>
            <a:ext cx="10881360" cy="1371600"/>
          </a:xfrm>
          <a:prstGeom prst="roundRect">
            <a:avLst>
              <a:gd name="adj" fmla="val 4000"/>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21" name="Text 19"/>
          <p:cNvSpPr txBox="1"/>
          <p:nvPr/>
        </p:nvSpPr>
        <p:spPr>
          <a:xfrm>
            <a:off x="914400" y="4754880"/>
            <a:ext cx="5486400" cy="274320"/>
          </a:xfrm>
          <a:prstGeom prst="rect">
            <a:avLst/>
          </a:prstGeom>
          <a:noFill/>
          <a:ln/>
        </p:spPr>
        <p:txBody>
          <a:bodyPr wrap="square" lIns="0" tIns="0" rIns="0" bIns="0" rtlCol="0" anchor="ctr"/>
          <a:lstStyle/>
          <a:p>
            <a:pPr indent="0" marL="0">
              <a:buNone/>
            </a:pPr>
            <a:r>
              <a:rPr lang="en-US" sz="1350" b="1" dirty="0">
                <a:solidFill>
                  <a:srgbClr val="8F5510"/>
                </a:solidFill>
                <a:latin typeface="Meiryo" pitchFamily="34" charset="0"/>
                <a:ea typeface="Meiryo" pitchFamily="34" charset="-122"/>
                <a:cs typeface="Meiryo" pitchFamily="34" charset="-120"/>
              </a:rPr>
              <a:t>ただし、実行方法には制約があります</a:t>
            </a:r>
            <a:endParaRPr lang="en-US" sz="1350" dirty="0"/>
          </a:p>
        </p:txBody>
      </p:sp>
      <p:sp>
        <p:nvSpPr>
          <p:cNvPr id="22" name="Text 20"/>
          <p:cNvSpPr txBox="1"/>
          <p:nvPr/>
        </p:nvSpPr>
        <p:spPr>
          <a:xfrm>
            <a:off x="914400" y="5102352"/>
            <a:ext cx="338328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特定株比率 80.5%</a:t>
            </a:r>
            <a:endParaRPr lang="en-US" sz="1150" dirty="0"/>
          </a:p>
        </p:txBody>
      </p:sp>
      <p:sp>
        <p:nvSpPr>
          <p:cNvPr id="23" name="Text 21"/>
          <p:cNvSpPr txBox="1"/>
          <p:nvPr/>
        </p:nvSpPr>
        <p:spPr>
          <a:xfrm>
            <a:off x="914400" y="5376672"/>
            <a:ext cx="3383280" cy="5029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市場に流通する株が少なく、まとまった株数を市場で買うと株価が跳ねます。相対取得が前提です。</a:t>
            </a:r>
            <a:endParaRPr lang="en-US" sz="950" dirty="0"/>
          </a:p>
        </p:txBody>
      </p:sp>
      <p:sp>
        <p:nvSpPr>
          <p:cNvPr id="24" name="Text 22"/>
          <p:cNvSpPr txBox="1"/>
          <p:nvPr/>
        </p:nvSpPr>
        <p:spPr>
          <a:xfrm>
            <a:off x="4498848" y="5102352"/>
            <a:ext cx="338328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5%ルール</a:t>
            </a:r>
            <a:endParaRPr lang="en-US" sz="1150" dirty="0"/>
          </a:p>
        </p:txBody>
      </p:sp>
      <p:sp>
        <p:nvSpPr>
          <p:cNvPr id="25" name="Text 23"/>
          <p:cNvSpPr txBox="1"/>
          <p:nvPr/>
        </p:nvSpPr>
        <p:spPr>
          <a:xfrm>
            <a:off x="4498848" y="5376672"/>
            <a:ext cx="3383280" cy="5029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5%を超えて取得した時点で大量保有報告書の提出義務が生じ、意図が公開されます。</a:t>
            </a:r>
            <a:endParaRPr lang="en-US" sz="950" dirty="0"/>
          </a:p>
        </p:txBody>
      </p:sp>
      <p:sp>
        <p:nvSpPr>
          <p:cNvPr id="26" name="Text 24"/>
          <p:cNvSpPr txBox="1"/>
          <p:nvPr/>
        </p:nvSpPr>
        <p:spPr>
          <a:xfrm>
            <a:off x="8083296" y="5102352"/>
            <a:ext cx="338328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そもそも売っていただけるか</a:t>
            </a:r>
            <a:endParaRPr lang="en-US" sz="1150" dirty="0"/>
          </a:p>
        </p:txBody>
      </p:sp>
      <p:sp>
        <p:nvSpPr>
          <p:cNvPr id="27" name="Text 25"/>
          <p:cNvSpPr txBox="1"/>
          <p:nvPr/>
        </p:nvSpPr>
        <p:spPr>
          <a:xfrm>
            <a:off x="8083296" y="5376672"/>
            <a:ext cx="3383280" cy="5029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重松氏側は創業者です。持分を譲る動機があるかを、合併協議の前に確かめる必要があります。</a:t>
            </a:r>
            <a:endParaRPr lang="en-US" sz="950" dirty="0"/>
          </a:p>
        </p:txBody>
      </p:sp>
      <p:sp>
        <p:nvSpPr>
          <p:cNvPr id="28" name="Text 26"/>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合併後の発行済株式19,931,987株・株価229円を前提とした試算です。</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提案</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MBO完了後に合併すれば、条件は変わります</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17904"/>
          <a:ext cx="10881360" cy="914400"/>
        </p:xfrm>
        <a:graphic>
          <a:graphicData uri="http://schemas.openxmlformats.org/drawingml/2006/table">
            <a:tbl>
              <a:tblPr/>
              <a:tblGrid>
                <a:gridCol w="3383280"/>
                <a:gridCol w="3749040"/>
                <a:gridCol w="3749040"/>
              </a:tblGrid>
              <a:tr h="342900">
                <a:tc>
                  <a:txBody>
                    <a:bodyPr/>
                    <a:lstStyle/>
                    <a:p>
                      <a:pPr indent="0" marL="0">
                        <a:buNone/>
                      </a:pP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いま合併する場合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MBO完了後に合併する場合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6E2639"/>
                    </a:solidFill>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あどばるの評価額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18.0億円（LOI）</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26.85億円（取引後株主価値）</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 個人</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13.25%</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13.44%</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中野ファンド</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11.11%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　中野陣営 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8A2E26"/>
                          </a:solidFill>
                          <a:latin typeface="Meiryo" pitchFamily="34" charset="0"/>
                          <a:ea typeface="Meiryo" pitchFamily="34" charset="-122"/>
                          <a:cs typeface="Meiryo" pitchFamily="34" charset="-120"/>
                        </a:rPr>
                        <a:t>13.25%</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00" b="1" dirty="0">
                          <a:solidFill>
                            <a:srgbClr val="6E2639"/>
                          </a:solidFill>
                          <a:latin typeface="Meiryo" pitchFamily="34" charset="0"/>
                          <a:ea typeface="Meiryo" pitchFamily="34" charset="-122"/>
                          <a:cs typeface="Meiryo" pitchFamily="34" charset="-120"/>
                        </a:rPr>
                        <a:t>24.55%</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パートナー</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24.55%</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　あどばる側 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32.51%（中野＋ビジョン）</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49.09%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ビジョン社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19.26%（筆頭株主）</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2C6A4E"/>
                          </a:solidFill>
                          <a:latin typeface="Meiryo" pitchFamily="34" charset="0"/>
                          <a:ea typeface="Meiryo" pitchFamily="34" charset="-122"/>
                          <a:cs typeface="Meiryo" pitchFamily="34" charset="-120"/>
                        </a:rPr>
                        <a:t>0%（名簿から消滅）</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重松氏側（重松＋DP）</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8A2E26"/>
                          </a:solidFill>
                          <a:latin typeface="Meiryo" pitchFamily="34" charset="0"/>
                          <a:ea typeface="Meiryo" pitchFamily="34" charset="-122"/>
                          <a:cs typeface="Meiryo" pitchFamily="34" charset="-120"/>
                        </a:rPr>
                        <a:t>23.18%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19.43%</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TKP</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12.79%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10.72%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290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合併後 時価総額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dirty="0">
                          <a:solidFill>
                            <a:srgbClr val="3D4E60"/>
                          </a:solidFill>
                          <a:latin typeface="Meiryo" pitchFamily="34" charset="0"/>
                          <a:ea typeface="Meiryo" pitchFamily="34" charset="-122"/>
                          <a:cs typeface="Meiryo" pitchFamily="34" charset="-120"/>
                        </a:rPr>
                        <a:t>45.8億円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00" b="1" dirty="0">
                          <a:solidFill>
                            <a:srgbClr val="3D4E60"/>
                          </a:solidFill>
                          <a:latin typeface="Meiryo" pitchFamily="34" charset="0"/>
                          <a:ea typeface="Meiryo" pitchFamily="34" charset="-122"/>
                          <a:cs typeface="Meiryo" pitchFamily="34" charset="-120"/>
                        </a:rPr>
                        <a:t>54.7億円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5468112"/>
            <a:ext cx="10881360" cy="457200"/>
          </a:xfrm>
          <a:prstGeom prst="rect">
            <a:avLst/>
          </a:prstGeom>
          <a:noFill/>
          <a:ln/>
        </p:spPr>
        <p:txBody>
          <a:bodyPr wrap="square" lIns="0" tIns="0" rIns="0" bIns="0" rtlCol="0" anchor="ctr"/>
          <a:lstStyle/>
          <a:p>
            <a:pPr indent="0" marL="0">
              <a:buNone/>
            </a:pPr>
            <a:r>
              <a:rPr lang="en-US" sz="1250" b="1" dirty="0">
                <a:solidFill>
                  <a:srgbClr val="6E2639"/>
                </a:solidFill>
                <a:latin typeface="Meiryo" pitchFamily="34" charset="0"/>
                <a:ea typeface="Meiryo" pitchFamily="34" charset="-122"/>
                <a:cs typeface="Meiryo" pitchFamily="34" charset="-120"/>
              </a:rPr>
              <a:t>MBOを先に済ませると、中野陣営は24.55%で単独筆頭株主になり、パートナーと合わせたあどばる側は49.09%となります。ビジョン社は名簿から消えます。</a:t>
            </a:r>
            <a:endParaRPr lang="en-US" sz="1250" dirty="0"/>
          </a:p>
        </p:txBody>
      </p:sp>
      <p:sp>
        <p:nvSpPr>
          <p:cNvPr id="6" name="Text 3"/>
          <p:cNvSpPr txBox="1"/>
          <p:nvPr/>
        </p:nvSpPr>
        <p:spPr>
          <a:xfrm>
            <a:off x="640080" y="6053328"/>
            <a:ext cx="10881360" cy="36576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いずれもSM株価230円・あどばる自己株式127,616株は無対価消却を前提とした試算です。評価額26.85億円はMBOの増資19.57億・自己株式取得12.72億から算出した取引後株主価値であり、先方との合意価格ではありません。</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対応方針</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先方にどうお返しするか</a:t>
            </a:r>
            <a:endParaRPr lang="en-US" sz="2800" dirty="0"/>
          </a:p>
        </p:txBody>
      </p:sp>
      <p:sp>
        <p:nvSpPr>
          <p:cNvPr id="4" name="Shape 2"/>
          <p:cNvSpPr/>
          <p:nvPr/>
        </p:nvSpPr>
        <p:spPr>
          <a:xfrm>
            <a:off x="640080" y="1572768"/>
            <a:ext cx="10881360" cy="1097280"/>
          </a:xfrm>
          <a:prstGeom prst="roundRect">
            <a:avLst>
              <a:gd name="adj" fmla="val 5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847088"/>
            <a:ext cx="548640" cy="548640"/>
          </a:xfrm>
          <a:prstGeom prst="roundRect">
            <a:avLst>
              <a:gd name="adj" fmla="val 50000"/>
            </a:avLst>
          </a:prstGeom>
          <a:solidFill>
            <a:srgbClr val="2C6A4E"/>
          </a:solidFill>
          <a:ln/>
        </p:spPr>
      </p:sp>
      <p:sp>
        <p:nvSpPr>
          <p:cNvPr id="6" name="Text 4"/>
          <p:cNvSpPr txBox="1"/>
          <p:nvPr/>
        </p:nvSpPr>
        <p:spPr>
          <a:xfrm>
            <a:off x="960120" y="184708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01</a:t>
            </a:r>
            <a:endParaRPr lang="en-US" sz="1400" dirty="0"/>
          </a:p>
        </p:txBody>
      </p:sp>
      <p:sp>
        <p:nvSpPr>
          <p:cNvPr id="7" name="Text 5"/>
          <p:cNvSpPr txBox="1"/>
          <p:nvPr/>
        </p:nvSpPr>
        <p:spPr>
          <a:xfrm>
            <a:off x="1737360" y="1773936"/>
            <a:ext cx="941832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提案への感謝と、継続協議の意思は明確に伝える</a:t>
            </a:r>
            <a:endParaRPr lang="en-US" sz="1500" dirty="0"/>
          </a:p>
        </p:txBody>
      </p:sp>
      <p:sp>
        <p:nvSpPr>
          <p:cNvPr id="8" name="Text 6"/>
          <p:cNvSpPr txBox="1"/>
          <p:nvPr/>
        </p:nvSpPr>
        <p:spPr>
          <a:xfrm>
            <a:off x="1737360" y="2121408"/>
            <a:ext cx="9418320" cy="457200"/>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合併そのものに反対ではないこと、事業面のシナジーは理解していることを先に伝えます。関係を閉じないことが前提です。</a:t>
            </a:r>
            <a:endParaRPr lang="en-US" sz="1050" dirty="0"/>
          </a:p>
        </p:txBody>
      </p:sp>
      <p:sp>
        <p:nvSpPr>
          <p:cNvPr id="9" name="Shape 7"/>
          <p:cNvSpPr/>
          <p:nvPr/>
        </p:nvSpPr>
        <p:spPr>
          <a:xfrm>
            <a:off x="640080" y="2807208"/>
            <a:ext cx="10881360" cy="1097280"/>
          </a:xfrm>
          <a:prstGeom prst="roundRect">
            <a:avLst>
              <a:gd name="adj" fmla="val 5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Shape 8"/>
          <p:cNvSpPr/>
          <p:nvPr/>
        </p:nvSpPr>
        <p:spPr>
          <a:xfrm>
            <a:off x="960120" y="3081528"/>
            <a:ext cx="548640" cy="548640"/>
          </a:xfrm>
          <a:prstGeom prst="roundRect">
            <a:avLst>
              <a:gd name="adj" fmla="val 50000"/>
            </a:avLst>
          </a:prstGeom>
          <a:solidFill>
            <a:srgbClr val="6E2639"/>
          </a:solidFill>
          <a:ln/>
        </p:spPr>
      </p:sp>
      <p:sp>
        <p:nvSpPr>
          <p:cNvPr id="11" name="Text 9"/>
          <p:cNvSpPr txBox="1"/>
          <p:nvPr/>
        </p:nvSpPr>
        <p:spPr>
          <a:xfrm>
            <a:off x="960120" y="308152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02</a:t>
            </a:r>
            <a:endParaRPr lang="en-US" sz="1400" dirty="0"/>
          </a:p>
        </p:txBody>
      </p:sp>
      <p:sp>
        <p:nvSpPr>
          <p:cNvPr id="12" name="Text 10"/>
          <p:cNvSpPr txBox="1"/>
          <p:nvPr/>
        </p:nvSpPr>
        <p:spPr>
          <a:xfrm>
            <a:off x="1737360" y="3008376"/>
            <a:ext cx="941832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現在、資本構成の再編を進行中であると伝える</a:t>
            </a:r>
            <a:endParaRPr lang="en-US" sz="1500" dirty="0"/>
          </a:p>
        </p:txBody>
      </p:sp>
      <p:sp>
        <p:nvSpPr>
          <p:cNvPr id="13" name="Text 11"/>
          <p:cNvSpPr txBox="1"/>
          <p:nvPr/>
        </p:nvSpPr>
        <p:spPr>
          <a:xfrm>
            <a:off x="1737360" y="3355848"/>
            <a:ext cx="9418320" cy="457200"/>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親会社との資本・債権関係の整理（MBO）を優先しており、その完了を待って条件協議を再開したい旨をお伝えします。時期は2027年5月末を目処とします。</a:t>
            </a:r>
            <a:endParaRPr lang="en-US" sz="1050" dirty="0"/>
          </a:p>
        </p:txBody>
      </p:sp>
      <p:sp>
        <p:nvSpPr>
          <p:cNvPr id="14" name="Shape 12"/>
          <p:cNvSpPr/>
          <p:nvPr/>
        </p:nvSpPr>
        <p:spPr>
          <a:xfrm>
            <a:off x="640080" y="4041648"/>
            <a:ext cx="10881360" cy="1097280"/>
          </a:xfrm>
          <a:prstGeom prst="roundRect">
            <a:avLst>
              <a:gd name="adj" fmla="val 5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Shape 13"/>
          <p:cNvSpPr/>
          <p:nvPr/>
        </p:nvSpPr>
        <p:spPr>
          <a:xfrm>
            <a:off x="960120" y="4315968"/>
            <a:ext cx="548640" cy="548640"/>
          </a:xfrm>
          <a:prstGeom prst="roundRect">
            <a:avLst>
              <a:gd name="adj" fmla="val 50000"/>
            </a:avLst>
          </a:prstGeom>
          <a:solidFill>
            <a:srgbClr val="6E2639"/>
          </a:solidFill>
          <a:ln/>
        </p:spPr>
      </p:sp>
      <p:sp>
        <p:nvSpPr>
          <p:cNvPr id="16" name="Text 14"/>
          <p:cNvSpPr txBox="1"/>
          <p:nvPr/>
        </p:nvSpPr>
        <p:spPr>
          <a:xfrm>
            <a:off x="960120" y="431596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03</a:t>
            </a:r>
            <a:endParaRPr lang="en-US" sz="1400" dirty="0"/>
          </a:p>
        </p:txBody>
      </p:sp>
      <p:sp>
        <p:nvSpPr>
          <p:cNvPr id="17" name="Text 15"/>
          <p:cNvSpPr txBox="1"/>
          <p:nvPr/>
        </p:nvSpPr>
        <p:spPr>
          <a:xfrm>
            <a:off x="1737360" y="4242816"/>
            <a:ext cx="9418320" cy="29260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条件面の論点は、いまのうちに投げておく</a:t>
            </a:r>
            <a:endParaRPr lang="en-US" sz="1500" dirty="0"/>
          </a:p>
        </p:txBody>
      </p:sp>
      <p:sp>
        <p:nvSpPr>
          <p:cNvPr id="18" name="Text 16"/>
          <p:cNvSpPr txBox="1"/>
          <p:nvPr/>
        </p:nvSpPr>
        <p:spPr>
          <a:xfrm>
            <a:off x="1737360" y="4590288"/>
            <a:ext cx="9418320" cy="457200"/>
          </a:xfrm>
          <a:prstGeom prst="rect">
            <a:avLst/>
          </a:prstGeom>
          <a:noFill/>
          <a:ln/>
        </p:spPr>
        <p:txBody>
          <a:bodyPr wrap="square" lIns="0" tIns="0" rIns="0" bIns="0" rtlCol="0" anchor="ctr"/>
          <a:lstStyle/>
          <a:p>
            <a:pPr indent="0" marL="0">
              <a:lnSpc>
                <a:spcPct val="115000"/>
              </a:lnSpc>
              <a:buNone/>
            </a:pPr>
            <a:r>
              <a:rPr lang="en-US" sz="1050" dirty="0">
                <a:solidFill>
                  <a:srgbClr val="3D4E60"/>
                </a:solidFill>
                <a:latin typeface="Meiryo" pitchFamily="34" charset="0"/>
                <a:ea typeface="Meiryo" pitchFamily="34" charset="-122"/>
                <a:cs typeface="Meiryo" pitchFamily="34" charset="-120"/>
              </a:rPr>
              <a:t>評価額18億円の根拠、基準株価を3ヶ月平均とすること、のれん償却の負担配分。この3点は早い段階で先方の考えを聞いておきます。</a:t>
            </a:r>
            <a:endParaRPr lang="en-US" sz="1050" dirty="0"/>
          </a:p>
        </p:txBody>
      </p:sp>
      <p:sp>
        <p:nvSpPr>
          <p:cNvPr id="19" name="Shape 17"/>
          <p:cNvSpPr/>
          <p:nvPr/>
        </p:nvSpPr>
        <p:spPr>
          <a:xfrm>
            <a:off x="640080" y="5349240"/>
            <a:ext cx="10881360" cy="960120"/>
          </a:xfrm>
          <a:prstGeom prst="roundRect">
            <a:avLst>
              <a:gd name="adj" fmla="val 5714"/>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0" name="Text 18"/>
          <p:cNvSpPr txBox="1"/>
          <p:nvPr/>
        </p:nvSpPr>
        <p:spPr>
          <a:xfrm>
            <a:off x="960120" y="5504688"/>
            <a:ext cx="2286000" cy="274320"/>
          </a:xfrm>
          <a:prstGeom prst="rect">
            <a:avLst/>
          </a:prstGeom>
          <a:noFill/>
          <a:ln/>
        </p:spPr>
        <p:txBody>
          <a:bodyPr wrap="square" lIns="0" tIns="0" rIns="0" bIns="0" rtlCol="0" anchor="ctr"/>
          <a:lstStyle/>
          <a:p>
            <a:pPr indent="0" marL="0">
              <a:buNone/>
            </a:pPr>
            <a:r>
              <a:rPr lang="en-US" sz="1250" b="1" dirty="0">
                <a:solidFill>
                  <a:srgbClr val="2C6A4E"/>
                </a:solidFill>
                <a:latin typeface="Meiryo" pitchFamily="34" charset="0"/>
                <a:ea typeface="Meiryo" pitchFamily="34" charset="-122"/>
                <a:cs typeface="Meiryo" pitchFamily="34" charset="-120"/>
              </a:rPr>
              <a:t>再検討の条件</a:t>
            </a:r>
            <a:endParaRPr lang="en-US" sz="1250" dirty="0"/>
          </a:p>
        </p:txBody>
      </p:sp>
      <p:sp>
        <p:nvSpPr>
          <p:cNvPr id="21" name="Text 19"/>
          <p:cNvSpPr txBox="1"/>
          <p:nvPr/>
        </p:nvSpPr>
        <p:spPr>
          <a:xfrm>
            <a:off x="960120" y="5806440"/>
            <a:ext cx="10241280" cy="36576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MBOが完了し、① ビジョン社が名簿から外れ ② 評価額が20億円以上で合意でき ③ のれん償却の負担配分に決着がついた段階で、あらためて前向きに協議します。</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2026-09-23T13:52:59Z</dcterms:created>
  <dcterms:modified xsi:type="dcterms:W3CDTF">2026-09-23T13:52:59Z</dcterms:modified>
</cp:coreProperties>
</file>