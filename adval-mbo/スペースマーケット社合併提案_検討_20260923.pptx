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A38"/>
                </a:solidFill>
                <a:latin typeface="Meiryo"/>
              </a:defRPr>
            </a:pPr>
            <a:r>
              <a:rPr sz="1300" b="0" i="0" u="none" strike="noStrike">
                <a:solidFill>
                  <a:srgbClr val="1E2A38"/>
                </a:solidFill>
                <a:latin typeface="Meiryo"/>
              </a:rPr>
              <a:t>合併後の持株比率（％・ストックオプション行使後）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持株比率</c:v>
                </c:pt>
              </c:strCache>
            </c:strRef>
          </c:tx>
          <c:spPr>
            <a:solidFill>
              <a:srgbClr val="2E5C8A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E2A38"/>
                    </a:solidFill>
                    <a:latin typeface="Meiry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ダブルパインズ</c:v>
                  </c:pt>
                  <c:pt idx="1">
                    <c:v>TKP</c:v>
                  </c:pt>
                  <c:pt idx="2">
                    <c:v>中野 邦人</c:v>
                  </c:pt>
                  <c:pt idx="3">
                    <c:v>重松 大輔</c:v>
                  </c:pt>
                  <c:pt idx="4">
                    <c:v>その他SM株主</c:v>
                  </c:pt>
                  <c:pt idx="5">
                    <c:v>ビジョン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8.36</c:v>
                </c:pt>
                <c:pt idx="1">
                  <c:v>12.77</c:v>
                </c:pt>
                <c:pt idx="2">
                  <c:v>14.45</c:v>
                </c:pt>
                <c:pt idx="3">
                  <c:v>14.77</c:v>
                </c:pt>
                <c:pt idx="4">
                  <c:v>15.26</c:v>
                </c:pt>
                <c:pt idx="5">
                  <c:v>18.43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950" u="none">
                  <a:solidFill>
                    <a:srgbClr val="1E2A38"/>
                  </a:solidFill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3D4E60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</c:scaling>
        <c:delete val="0"/>
        <c:axPos val="b"/>
        <c:majorGridlines>
          <c:spPr>
            <a:ln w="6350" cap="flat">
              <a:solidFill>
                <a:srgbClr val="D9E0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C8A99"/>
                </a:solidFill>
                <a:latin typeface="Meiry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重松氏がオーナーシップを手放し会長に退く（1〜2年内）という前提を織り込んだ版。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前提が変わっても、ビジョン借入とのれんの2つは消えない。ここが結論を決める。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結論はMBO。ただし合併の利点（現金不要・任意のタイミング）は正直に認める。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同じ6.10億で50%か27.79%か。過半数まで行くなら結局16億超が要る。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この一枚が「金融機関的にどちらが良いか」への回答。資金の行き先が全て。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27.79%までは静かに買える。過半数を狙うとTOBになる、という段差を理解してもらう。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229円基準に統一した版。前回230円で作った数値から小数点以下が動いている。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④の相反関係は重要。買い増すほど上場が危うくなるというジレンマ。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重松氏の意向を覚書にする、が今回の追加論点。口頭前提では銀行に持ち込めない。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27.79%のほうが数字は大きい。だが質が違う、と正直に説明する。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もし合併を選ぶなら増資で入れる、という代替案を必ず置いておく。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6459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85C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株式会社あどばる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0574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スペースマーケット社からの合併提案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01752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9C4C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重松氏の会長就任を前提としたストラクチャーの比較検討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4747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5C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2026年9月23日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22960" y="3877056"/>
            <a:ext cx="2926080" cy="0"/>
          </a:xfrm>
          <a:prstGeom prst="line">
            <a:avLst/>
          </a:prstGeom>
          <a:noFill/>
          <a:ln w="25400">
            <a:solidFill>
              <a:srgbClr val="6E263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41879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ご説明先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2468880" y="4187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DE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株式会社あどばる 中村 新社長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5720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作成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468880" y="45720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DE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株式会社あどばる 代表取締役 中野 邦人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9560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基準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2468880" y="4956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DE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会社四季報2026年9月号・株価229円（2026年9月21日終値）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6217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7A8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本資料は公開情報にもとづく試算であり、法務・税務・会計上の助言ではありません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E263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前提の確認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重松氏の意向を織り込むと、論点はこう変わります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349240" cy="1828800"/>
          </a:xfrm>
          <a:prstGeom prst="roundRect">
            <a:avLst>
              <a:gd name="adj" fmla="val 3000"/>
            </a:avLst>
          </a:prstGeom>
          <a:solidFill>
            <a:srgbClr val="EEF3F8"/>
          </a:solidFill>
          <a:ln w="12700">
            <a:solidFill>
              <a:srgbClr val="C6D6E5"/>
            </a:solidFill>
            <a:prstDash val="solid"/>
          </a:ln>
          <a:effectLst>
            <a:outerShdw sx="100000" sy="100000" kx="0" ky="0" algn="bl" rotWithShape="0" blurRad="101600" dist="12700" dir="5400000">
              <a:srgbClr val="AAB4BE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6642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5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新しく置いた前提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01168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重松大輔氏は今回オーナーシップを手放し、会長に退く意向。時期は来年〜再来年でも構わない。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65176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E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つまり「重松氏と持分を争う」前提ではなく、「重松氏から持分を譲り受ける」前提で組めます。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172200" y="1481328"/>
            <a:ext cx="5349240" cy="1828800"/>
          </a:xfrm>
          <a:prstGeom prst="roundRect">
            <a:avLst>
              <a:gd name="adj" fmla="val 3000"/>
            </a:avLst>
          </a:prstGeom>
          <a:solidFill>
            <a:srgbClr val="FBF1F3"/>
          </a:solidFill>
          <a:ln w="12700">
            <a:solidFill>
              <a:srgbClr val="E3CBD1"/>
            </a:solidFill>
            <a:prstDash val="solid"/>
          </a:ln>
          <a:effectLst>
            <a:outerShdw sx="100000" sy="100000" kx="0" ky="0" algn="bl" rotWithShape="0" blurRad="101600" dist="12700" dir="5400000">
              <a:srgbClr val="AAB4BE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46520" y="16642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E263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そこで本当に比べたいこと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201168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中野の自己資金を同じ6.10億円だけ使うとして、MBOと合併のどちらが金融機関から見て有利か。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65176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E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合併ルートでは、その6.10億を合併後に重松氏・ビジョン社の持分取得に充てる想定とします。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52044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この前提で変わること／変わらないこと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931920"/>
            <a:ext cx="2606040" cy="1920240"/>
          </a:xfrm>
          <a:prstGeom prst="roundRect">
            <a:avLst>
              <a:gd name="adj" fmla="val 2857"/>
            </a:avLst>
          </a:prstGeom>
          <a:solidFill>
            <a:srgbClr val="F0F4F1"/>
          </a:solidFill>
          <a:ln w="12700">
            <a:solidFill>
              <a:srgbClr val="C9DCD1"/>
            </a:solidFill>
            <a:prstDash val="solid"/>
          </a:ln>
          <a:effectLst>
            <a:outerShdw sx="100000" sy="100000" kx="0" ky="0" algn="bl" rotWithShape="0" blurRad="101600" dist="12700" dir="5400000">
              <a:srgbClr val="AAB4BE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1248" y="411480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2C6A4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41248" y="4114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841248" y="45262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持分を争う必要がない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" y="510235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D4E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重松氏側23.14%との対立構図ではなくなり、相対での譲受け交渉になります。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401568" y="3931920"/>
            <a:ext cx="2606040" cy="1920240"/>
          </a:xfrm>
          <a:prstGeom prst="roundRect">
            <a:avLst>
              <a:gd name="adj" fmla="val 2857"/>
            </a:avLst>
          </a:prstGeom>
          <a:solidFill>
            <a:srgbClr val="F0F4F1"/>
          </a:solidFill>
          <a:ln w="12700">
            <a:solidFill>
              <a:srgbClr val="C9DCD1"/>
            </a:solidFill>
            <a:prstDash val="solid"/>
          </a:ln>
          <a:effectLst>
            <a:outerShdw sx="100000" sy="100000" kx="0" ky="0" algn="bl" rotWithShape="0" blurRad="101600" dist="12700" dir="5400000">
              <a:srgbClr val="AAB4BE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602736" y="411480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2C6A4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02736" y="4114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3602736" y="45262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支配権への道筋ができる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602736" y="510235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D4E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時間をかければ合併後でも過半数に近づけます。急ぐ必要がなくなります。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63056" y="3931920"/>
            <a:ext cx="2606040" cy="1920240"/>
          </a:xfrm>
          <a:prstGeom prst="roundRect">
            <a:avLst>
              <a:gd name="adj" fmla="val 2857"/>
            </a:avLst>
          </a:prstGeom>
          <a:solidFill>
            <a:srgbClr val="FBF1F3"/>
          </a:solidFill>
          <a:ln w="12700">
            <a:solidFill>
              <a:srgbClr val="E3CBD1"/>
            </a:solidFill>
            <a:prstDash val="solid"/>
          </a:ln>
          <a:effectLst>
            <a:outerShdw sx="100000" sy="100000" kx="0" ky="0" algn="bl" rotWithShape="0" blurRad="101600" dist="12700" dir="5400000">
              <a:srgbClr val="AAB4BE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64224" y="411480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8A2E2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364224" y="4114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変わらない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364224" y="45262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ビジョン社の借入7.90億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364224" y="510235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D4E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合併では返済されません。貸主が株主のまま上場会社に残ります。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8924544" y="3931920"/>
            <a:ext cx="2606040" cy="1920240"/>
          </a:xfrm>
          <a:prstGeom prst="roundRect">
            <a:avLst>
              <a:gd name="adj" fmla="val 2857"/>
            </a:avLst>
          </a:prstGeom>
          <a:solidFill>
            <a:srgbClr val="FBF1F3"/>
          </a:solidFill>
          <a:ln w="12700">
            <a:solidFill>
              <a:srgbClr val="E3CBD1"/>
            </a:solidFill>
            <a:prstDash val="solid"/>
          </a:ln>
          <a:effectLst>
            <a:outerShdw sx="100000" sy="100000" kx="0" ky="0" algn="bl" rotWithShape="0" blurRad="101600" dist="12700" dir="5400000">
              <a:srgbClr val="AAB4BE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125712" y="411480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8A2E2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125712" y="4114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変わらない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9125712" y="45262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のれん22.09億円の償却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9125712" y="510235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D4E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年1.10〜2.21億。合算営業利益の大半が消える構造は前提が変わっても同じです。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E263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結論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同じ6.10億円を使うなら、MBOのほうが金融機関には通ります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881360" cy="1371600"/>
          </a:xfrm>
          <a:prstGeom prst="roundRect">
            <a:avLst>
              <a:gd name="adj" fmla="val 4000"/>
            </a:avLst>
          </a:prstGeom>
          <a:solidFill>
            <a:srgbClr val="FBF1F3"/>
          </a:solidFill>
          <a:ln w="12700">
            <a:solidFill>
              <a:srgbClr val="E3CBD1"/>
            </a:solidFill>
            <a:prstDash val="solid"/>
          </a:ln>
          <a:effectLst>
            <a:outerShdw sx="100000" sy="100000" kx="0" ky="0" algn="bl" rotWithShape="0" blurRad="101600" dist="12700" dir="5400000">
              <a:srgbClr val="AAB4BE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664208"/>
            <a:ext cx="10241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E263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理由は単純です。MBOでは6.10億が「会社」に入り、合併ルートでは6.10億が「売り手」に出ていきます。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30428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4E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銀行が見るのは株主名簿ではなく貸借対照表です。同じ金額でも、純資産が6.10億増えるか、まったく動かないかの差になります。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301752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7"/>
            </a:solidFill>
            <a:prstDash val="solid"/>
          </a:ln>
          <a:effectLst>
            <a:outerShdw sx="100000" sy="100000" kx="0" ky="0" algn="bl" rotWithShape="0" blurRad="101600" dist="12700" dir="5400000">
              <a:srgbClr val="AAB4BE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60120" y="323697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6E263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2369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691640" y="317296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MBOは6.10億で支配権と財務改善の両方が手に入る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691640" y="3502152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E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中野陣営50.0%を確保しつつ、自己資本比率は△18.5%から24.9%へ。合併ルートで同額を投じても27.79%どまりで、会社の財務は1円も改善しません。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404164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7"/>
            </a:solidFill>
            <a:prstDash val="solid"/>
          </a:ln>
          <a:effectLst>
            <a:outerShdw sx="100000" sy="100000" kx="0" ky="0" algn="bl" rotWithShape="0" blurRad="101600" dist="12700" dir="5400000">
              <a:srgbClr val="AAB4BE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60120" y="426110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6E263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0120" y="42611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691640" y="419709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合併ではビジョン社の借入7.90億が残る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1691640" y="452628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E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合併は株式交換なので、借入は返済されません。貸主であるビジョン社が株主として上場会社に残り、関連当事者取引として開示対象になります。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506577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7"/>
            </a:solidFill>
            <a:prstDash val="solid"/>
          </a:ln>
          <a:effectLst>
            <a:outerShdw sx="100000" sy="100000" kx="0" ky="0" algn="bl" rotWithShape="0" blurRad="101600" dist="12700" dir="5400000">
              <a:srgbClr val="AAB4BE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60120" y="5285232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6E2639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60120" y="5285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691640" y="522122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中野の借入の性格がまったく違う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1691640" y="5550408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E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MBOは事業会社への増資（返済原資は配当）。合併ルートは上場株を担保にした個人の株式取得資金で、株価下落時に追加担保を求められます。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14476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6A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ただし合併ルートには「実行に現金が要らない」という明確な利点があります。6.10億は後から、自分のペースで入れられます（5ページ）。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E263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6.10億円を投じた後、どこに立っているか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520440" cy="2743200"/>
          </a:xfrm>
          <a:prstGeom prst="roundRect">
            <a:avLst>
              <a:gd name="adj" fmla="val 2000"/>
            </a:avLst>
          </a:prstGeom>
          <a:solidFill>
            <a:srgbClr val="FBF1F3"/>
          </a:solidFill>
          <a:ln w="12700">
            <a:solidFill>
              <a:srgbClr val="E3CBD1"/>
            </a:solidFill>
            <a:prstDash val="solid"/>
          </a:ln>
          <a:effectLst>
            <a:outerShdw sx="100000" sy="100000" kx="0" ky="0" algn="bl" rotWithShape="0" blurRad="101600" dist="12700" dir="5400000">
              <a:srgbClr val="AAB4BE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783080"/>
            <a:ext cx="566928" cy="292608"/>
          </a:xfrm>
          <a:prstGeom prst="roundRect">
            <a:avLst>
              <a:gd name="adj" fmla="val 50000"/>
            </a:avLst>
          </a:prstGeom>
          <a:solidFill>
            <a:srgbClr val="6E263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783080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830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MBO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2402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E263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50.000</a:t>
            </a:r>
            <a:pPr indent="0" marL="0">
              <a:buNone/>
            </a:pPr>
            <a:r>
              <a:rPr lang="en-US" sz="1600" b="1" dirty="0">
                <a:solidFill>
                  <a:srgbClr val="6E263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%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9718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中野陣営（中野＋中野ファンド）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31012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非上場・支配権あり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362102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6A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会社の純資産 +6.10億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97680" y="1554480"/>
            <a:ext cx="352044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E0E7"/>
            </a:solidFill>
            <a:prstDash val="solid"/>
          </a:ln>
          <a:effectLst>
            <a:outerShdw sx="100000" sy="100000" kx="0" ky="0" algn="bl" rotWithShape="0" blurRad="101600" dist="12700" dir="5400000">
              <a:srgbClr val="AAB4BE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0" y="1783080"/>
            <a:ext cx="566928" cy="292608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0" y="1783080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257800" y="17830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合併 → 相対取得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22402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5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27.79</a:t>
            </a:r>
            <a:pPr indent="0" marL="0">
              <a:buNone/>
            </a:pPr>
            <a:r>
              <a:rPr lang="en-US" sz="1600" b="1" dirty="0">
                <a:solidFill>
                  <a:srgbClr val="2E5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%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29718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中野個人（14.45%＋13.34pt取得）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331012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上場・筆頭だが支配権なし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362102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2E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会社の純資産 ±0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955280" y="1554480"/>
            <a:ext cx="352044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E0E7"/>
            </a:solidFill>
            <a:prstDash val="solid"/>
          </a:ln>
          <a:effectLst>
            <a:outerShdw sx="100000" sy="100000" kx="0" ky="0" algn="bl" rotWithShape="0" blurRad="101600" dist="12700" dir="5400000">
              <a:srgbClr val="AAB4BE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229600" y="1783080"/>
            <a:ext cx="566928" cy="292608"/>
          </a:xfrm>
          <a:prstGeom prst="roundRect">
            <a:avLst>
              <a:gd name="adj" fmla="val 50000"/>
            </a:avLst>
          </a:prstGeom>
          <a:solidFill>
            <a:srgbClr val="7C8A9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29600" y="1783080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B'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8915400" y="17830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合併 → 第三者割当増資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22402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24.52</a:t>
            </a:r>
            <a:pPr indent="0" marL="0">
              <a:buNone/>
            </a:pPr>
            <a:r>
              <a:rPr lang="en-US" sz="1600" b="1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%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0" y="29718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中野個人（希薄化13.3%を伴う）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0" y="331012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上場・支配権なし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8229600" y="362102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6A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会社の純資産 +6.10億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4526280"/>
            <a:ext cx="10881360" cy="1417320"/>
          </a:xfrm>
          <a:prstGeom prst="roundRect">
            <a:avLst>
              <a:gd name="adj" fmla="val 3871"/>
            </a:avLst>
          </a:prstGeom>
          <a:solidFill>
            <a:srgbClr val="F7F3EC"/>
          </a:solidFill>
          <a:ln w="12700">
            <a:solidFill>
              <a:srgbClr val="E0D3BE"/>
            </a:solidFill>
            <a:prstDash val="solid"/>
          </a:ln>
          <a:effectLst>
            <a:outerShdw sx="100000" sy="100000" kx="0" ky="0" algn="bl" rotWithShape="0" blurRad="101600" dist="12700" dir="5400000">
              <a:srgbClr val="AAB4BE">
                <a:alpha val="1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914400" y="47091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551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合併ルートで過半数まで行くには、さらにいくら要るか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914400" y="504748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1/3（33.33%）まで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14400" y="53035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 2.53億円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914400" y="560527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4E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累計 8.63億円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4498848" y="504748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50%まで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4498848" y="53035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 10.15億円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4498848" y="560527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4E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累計 16.25億円（市場価格ベース）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083296" y="504748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TOBになった場合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8083296" y="53035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プレミアム20〜40%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8083296" y="560527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4E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累計 18〜21億円の想定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640080" y="6126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合併後発行済19,966,162株・株価229円・あどばるEquity 18億・ストックオプション9,000株は行使済みを前提とした試算です。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E263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金融機関から見た、決定的な違い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36192"/>
          <a:ext cx="10881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840480"/>
                <a:gridCol w="3840480"/>
              </a:tblGrid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銀行が見る項目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A：MBO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263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B：合併 → 相対取得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6.10億円の行き先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C6A4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会社（第三者割当増資）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A2E2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売り手（重松氏・ビジョン社）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会社の純資産への効果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C6A4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+6.10億円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A2E2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±0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自己資本比率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C6A4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△18.5% → 24.9%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合算次第（個社は未解消）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ビジョン社借入 7.90億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C6A4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全額返済・関係終了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A2E2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残存（貸主が株主のまま）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中野の借入の名目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事業会社への出資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A2E2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個人の株式取得資金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その担保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非上場株（時価変動なし）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A2E2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上場株（追加担保リスクあり）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返済原資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C6A4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配当（分配可能額 17.06億）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A2E2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配当（のれん償却後の利益）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経営者保証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C6A4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解除を交渉できる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A2E2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既存保証は継続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銀行の稟議区分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C6A4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事業性融資（借換え）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A2E2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有価証券担保・個人向け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4864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E263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合併ルートで6.10億を投じても、あどばるの決算書は何も変わりません。銀行の稟議が動くのはAだけです。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合併後の合算自己資本比率の試算には、スペースマーケット社の直近の純資産・有利子負債が必要です。同社の決算短信を入手のうえ確定させます。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5C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 ③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合併後に買い増す場合の法規制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49240" cy="1691640"/>
          </a:xfrm>
          <a:prstGeom prst="roundRect">
            <a:avLst>
              <a:gd name="adj" fmla="val 3243"/>
            </a:avLst>
          </a:prstGeom>
          <a:solidFill>
            <a:srgbClr val="26333F"/>
          </a:solidFill>
          <a:ln w="12700">
            <a:solidFill>
              <a:srgbClr val="3A485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89280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5C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5%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94767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大量保有報告書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386584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5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合併時点で中野は14.45%。追加取得のつど5営業日以内に変更報告書の提出が必要で、買い増しの意図が市場に開示されます。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172200" y="1691640"/>
            <a:ext cx="5349240" cy="1691640"/>
          </a:xfrm>
          <a:prstGeom prst="roundRect">
            <a:avLst>
              <a:gd name="adj" fmla="val 3243"/>
            </a:avLst>
          </a:prstGeom>
          <a:solidFill>
            <a:srgbClr val="26333F"/>
          </a:solidFill>
          <a:ln w="12700">
            <a:solidFill>
              <a:srgbClr val="3A485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46520" y="189280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5C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1/3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726680" y="194767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公開買付（TOB）の強制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386584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5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市場外での相対取得で所有割合が3分の1を超える場合、相手が1名でもTOBが義務づけられます（金商法27条の2）。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3611880"/>
            <a:ext cx="5349240" cy="1691640"/>
          </a:xfrm>
          <a:prstGeom prst="roundRect">
            <a:avLst>
              <a:gd name="adj" fmla="val 3243"/>
            </a:avLst>
          </a:prstGeom>
          <a:solidFill>
            <a:srgbClr val="26333F"/>
          </a:solidFill>
          <a:ln w="12700">
            <a:solidFill>
              <a:srgbClr val="3A485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381304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5C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80.5%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2194560" y="386791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特定株比率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4306824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5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市場に出回る株が少なく、まとまった株数を市場で買うと株価が跳ねます。相対取得が前提にならざるを得ません。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72200" y="3611880"/>
            <a:ext cx="5349240" cy="1691640"/>
          </a:xfrm>
          <a:prstGeom prst="roundRect">
            <a:avLst>
              <a:gd name="adj" fmla="val 3243"/>
            </a:avLst>
          </a:prstGeom>
          <a:solidFill>
            <a:srgbClr val="26333F"/>
          </a:solidFill>
          <a:ln w="12700">
            <a:solidFill>
              <a:srgbClr val="3A485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46520" y="381304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5C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2/3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386791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全部買付義務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6446520" y="4306824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5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TOBで3分の2以上を取得する場合、応募株式の全部を買い付ける義務が生じます。所要額が読めなくなります。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5632704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85C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6.10億で到達する27.79%までは相対取得で済みます（1/3以下・10名以下からの取得）。そこから先は公開の手続きになり、プレミアムも乗ります。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623620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F8E9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金商法の適用関係は取得の態様・人数・期間により異なります。実行前に証券会社および弁護士の確認を要します。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E263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いま合併した場合の株主構成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1790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合併比率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5564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5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: 38.99</a:t>
            </a:r>
            <a:pPr indent="0" marL="0">
              <a:buNone/>
            </a:pP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6771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あどばる1株にSM株38.99株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474720" y="151790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交付新株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75564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786.0</a:t>
            </a:r>
            <a:pPr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万株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226771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あどばるEquity 18億／SM 229円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151790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合併後 発行済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175564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1,997</a:t>
            </a:r>
            <a:pPr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万株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26771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現状1,210万株＋交付分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0" y="151790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合併後 時価総額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0" y="17556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45.7</a:t>
            </a:r>
            <a:pPr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億円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0" y="226771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SM単独 27.7億から拡大</a:t>
            </a:r>
            <a:endParaRPr lang="en-US" sz="10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640080" y="2880360"/>
          <a:ext cx="640080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Shape 14"/>
          <p:cNvSpPr/>
          <p:nvPr/>
        </p:nvSpPr>
        <p:spPr>
          <a:xfrm>
            <a:off x="7315200" y="2880360"/>
            <a:ext cx="4206240" cy="3063240"/>
          </a:xfrm>
          <a:prstGeom prst="roundRect">
            <a:avLst>
              <a:gd name="adj" fmla="val 1791"/>
            </a:avLst>
          </a:prstGeom>
          <a:solidFill>
            <a:srgbClr val="EEF3F8"/>
          </a:solidFill>
          <a:ln w="12700">
            <a:solidFill>
              <a:srgbClr val="C6D6E5"/>
            </a:solidFill>
            <a:prstDash val="solid"/>
          </a:ln>
          <a:effectLst>
            <a:outerShdw sx="100000" sy="100000" kx="0" ky="0" algn="bl" rotWithShape="0" blurRad="101600" dist="12700" dir="5400000">
              <a:srgbClr val="AAB4BE">
                <a:alpha val="18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589520" y="30632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5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この名簿の読みどころ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589520" y="345643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5C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092440" y="34564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筆頭株主はビジョン社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092440" y="3730752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4E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18.43%。合併しても親会社は名簿から消えず、借入7.90億の貸主のまま残ります。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589520" y="429768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5C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8092440" y="429768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重松氏側は合計23.14%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8092440" y="457200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4E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重松氏14.77%＋ダブルパインズ8.36%。会長就任後にこの持分をどう扱うかが交渉の中心です。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7589520" y="51389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5C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092440" y="5138928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中野は14.45%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8092440" y="5413248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4E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この時点では第4位。ここから6.10億で27.79%まで買い増す、というのが合併ルートの姿です。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640080" y="610819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出所：会社四季報2026年9月号（発行済12,105,900株）、株価229円（2026年9月21日終値）。あどばるの評価額はLOIの18億円、ストックオプション9,000株は行使済みを前提としています。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5C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論点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前提が変わっても残る4点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49240" cy="1920240"/>
          </a:xfrm>
          <a:prstGeom prst="roundRect">
            <a:avLst>
              <a:gd name="adj" fmla="val 2857"/>
            </a:avLst>
          </a:prstGeom>
          <a:solidFill>
            <a:srgbClr val="26333F"/>
          </a:solidFill>
          <a:ln w="12700">
            <a:solidFill>
              <a:srgbClr val="3A485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911096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5C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18928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のれん22.09億円の償却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331720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5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日本基準では定額償却が必要です。20年償却でも年1.10億、10年なら年2.21億。合算営業利益（約2.6億）の大半が消え、配当原資にも影響します。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172200" y="1691640"/>
            <a:ext cx="5349240" cy="1920240"/>
          </a:xfrm>
          <a:prstGeom prst="roundRect">
            <a:avLst>
              <a:gd name="adj" fmla="val 2857"/>
            </a:avLst>
          </a:prstGeom>
          <a:solidFill>
            <a:srgbClr val="26333F"/>
          </a:solidFill>
          <a:ln w="12700">
            <a:solidFill>
              <a:srgbClr val="3A485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46520" y="1911096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5C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18928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ビジョン社の借入7.90億が残る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331720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5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合併は株式交換であり、借入は返済されません。貸主が株主として残るため、関連当事者取引の開示対象になります。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3840480"/>
            <a:ext cx="5349240" cy="1920240"/>
          </a:xfrm>
          <a:prstGeom prst="roundRect">
            <a:avLst>
              <a:gd name="adj" fmla="val 2857"/>
            </a:avLst>
          </a:prstGeom>
          <a:solidFill>
            <a:srgbClr val="26333F"/>
          </a:solidFill>
          <a:ln w="12700">
            <a:solidFill>
              <a:srgbClr val="3A485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4059936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5C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691640" y="404164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第2位株主が競合TKP社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4480560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5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TKPは現在21.06%の第2位株主。合併後も12.77%で残ります。競合が株主総会で議決権を持つ形になります。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72200" y="3840480"/>
            <a:ext cx="5349240" cy="1920240"/>
          </a:xfrm>
          <a:prstGeom prst="roundRect">
            <a:avLst>
              <a:gd name="adj" fmla="val 2857"/>
            </a:avLst>
          </a:prstGeom>
          <a:solidFill>
            <a:srgbClr val="26333F"/>
          </a:solidFill>
          <a:ln w="12700">
            <a:solidFill>
              <a:srgbClr val="3A485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46520" y="4059936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5C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223760" y="404164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流通株式比率25%基準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6446520" y="4480560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5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合併後の流通株式比率は東証グロースの上場維持基準に抵触する可能性があります（改善期間1年）。中野が買い増すほど比率は下がります。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12648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85C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④は見落としやすい点です。中野が持分を買い増すほど流通株式比率は下がり、上場維持基準に近づきます。支配権の確保と上場維持は、この一点で相反します。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E263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論点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評価額と、支払通貨としての株価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349240" cy="2487168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12700">
            <a:solidFill>
              <a:srgbClr val="D9E0E7"/>
            </a:solidFill>
            <a:prstDash val="solid"/>
          </a:ln>
          <a:effectLst>
            <a:outerShdw sx="100000" sy="100000" kx="0" ky="0" algn="bl" rotWithShape="0" blurRad="101600" dist="12700" dir="5400000">
              <a:srgbClr val="AAB4BE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75564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あどばるの評価額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128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4E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スペースマーケット社LOI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217627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8A2E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18.0億円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7157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4E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MBOの前提評価（Pre）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267919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20.0億円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2186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4E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MBO取引後の株主価値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318211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C6A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26.85億円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621024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E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LOIの18億円は、MBOの前提である20億円を下回ります。まず評価額そのものが交渉の対象です。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72200" y="1554480"/>
            <a:ext cx="5349240" cy="2487168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12700">
            <a:solidFill>
              <a:srgbClr val="D9E0E7"/>
            </a:solidFill>
            <a:prstDash val="solid"/>
          </a:ln>
          <a:effectLst>
            <a:outerShdw sx="100000" sy="100000" kx="0" ky="0" algn="bl" rotWithShape="0" blurRad="101600" dist="12700" dir="5400000">
              <a:srgbClr val="AAB4BE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46520" y="175564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受け取る通貨（SM株価）の状況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22128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4E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年初来高値（1月20日）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9738360" y="217627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328円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27157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4E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6ヶ月平均（推定）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9738360" y="267919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3D4E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約240円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446520" y="32186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4E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3ヶ月平均（推定）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9738360" y="318211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6E263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約229円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446520" y="3621024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E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対価は現金ではなく、この株式です。年初来で3割下落しており、買い増しの原資を借りる際の担保価値にも直結します。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4187952"/>
            <a:ext cx="10881360" cy="1783080"/>
          </a:xfrm>
          <a:prstGeom prst="roundRect">
            <a:avLst>
              <a:gd name="adj" fmla="val 3077"/>
            </a:avLst>
          </a:prstGeom>
          <a:solidFill>
            <a:srgbClr val="F7F3EC"/>
          </a:solidFill>
          <a:ln w="12700">
            <a:solidFill>
              <a:srgbClr val="E0D3BE"/>
            </a:solidFill>
            <a:prstDash val="solid"/>
          </a:ln>
          <a:effectLst>
            <a:outerShdw sx="100000" sy="100000" kx="0" ky="0" algn="bl" rotWithShape="0" blurRad="101600" dist="12700" dir="5400000">
              <a:srgbClr val="AAB4BE">
                <a:alpha val="1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914400" y="435254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551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交渉上、押さえておきたい点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914400" y="477316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8F551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188720" y="46908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基準株価は3ヶ月平均を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500176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D4E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3ヶ月平均229円は6ヶ月平均240円より低く、同じ評価額でも交付される株数が増えます。当社に有利な側です。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498848" y="477316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8F551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773168" y="46908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評価額は20億円を下限に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773168" y="500176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D4E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MBOで既存株主に20億円評価で退出いただく前提と整合しません。18億円では社内説明が立ちません。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083296" y="477316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8F551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357616" y="46908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重松氏の譲渡は書面で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8357616" y="500176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D4E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会長就任と持分譲渡の意向は、時期・価格・数量を含めて覚書にしておく必要があります。口頭の前提のままでは資金計画が組めません。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610819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3ヶ月・6ヶ月平均株価は公開情報からの推定値です（3ヶ月レンジ225〜235円、6ヶ月レンジ235〜250円）。確定値は証券会社経由でご確認ください。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E263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提案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MBO完了後に合併すれば、条件は変わります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17904"/>
          <a:ext cx="108813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3749040"/>
                <a:gridCol w="3749040"/>
              </a:tblGrid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いま合併し、6.10億で買い増す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MBO完了後に合併する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2639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あどばるの評価額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18.0億円（LOI）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26.85億円（取引後株主価値）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中野 個人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27.79%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13.44%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中野ファンド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―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11.11%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中野陣営 計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27.79%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24.55%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パートナー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―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24.55%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あどばる側 計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A2E2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27.79%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C6A4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49.09%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ビジョン社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A2E2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18.43%（筆頭株主）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C6A4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0%（名簿から消滅）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ビジョン社借入 7.90億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A2E2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残存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C6A4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完済済み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中野の自己資金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6.10億円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6.10億円（同額）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50468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E263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持分の数字だけを見れば27.79%のほうが高く見えます。しかし中身は、ビジョン社を抱えたままの27.79%と、ビジョン社を清算しパートナーを伴った49.09%の違いです。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0899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MBO完了後の合併はSM株価230円・あどばる自己株式127,616株の無対価消却を前提とした試算です。評価額26.85億円は先方との合意価格ではありません。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E263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対応方針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先方にどうお返しするか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0E7"/>
            </a:solidFill>
            <a:prstDash val="solid"/>
          </a:ln>
          <a:effectLst>
            <a:outerShdw sx="100000" sy="100000" kx="0" ky="0" algn="bl" rotWithShape="0" blurRad="101600" dist="12700" dir="5400000">
              <a:srgbClr val="AAB4BE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847088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6E263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1773936"/>
            <a:ext cx="9418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重松氏の意向を、まず書面にする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737360" y="2121408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D4E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会長就任の時期、譲渡する株数、価格の考え方。この3点を覚書にしていただきます。口頭の前提のままでは、銀行に資金計画として持ち込めません。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2807208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0E7"/>
            </a:solidFill>
            <a:prstDash val="solid"/>
          </a:ln>
          <a:effectLst>
            <a:outerShdw sx="100000" sy="100000" kx="0" ky="0" algn="bl" rotWithShape="0" blurRad="101600" dist="12700" dir="5400000">
              <a:srgbClr val="AAB4BE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60120" y="3081528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2C6A4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0120" y="30815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737360" y="3008376"/>
            <a:ext cx="9418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合併の意思はあると伝え、順序だけ相談する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737360" y="3355848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D4E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反対ではないこと、事業面のシナジーは理解していることを明確に伝えたうえで、親会社との資本整理（MBO）を先に済ませたい旨をお伝えします。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4041648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0E7"/>
            </a:solidFill>
            <a:prstDash val="solid"/>
          </a:ln>
          <a:effectLst>
            <a:outerShdw sx="100000" sy="100000" kx="0" ky="0" algn="bl" rotWithShape="0" blurRad="101600" dist="12700" dir="5400000">
              <a:srgbClr val="AAB4BE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4315968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6E263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60120" y="43159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737360" y="4242816"/>
            <a:ext cx="9418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条件面の論点は、いまのうちに投げておく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737360" y="4590288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D4E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評価額18億円の根拠、基準株価を3ヶ月平均とすること、のれん償却の負担配分。あわせてスペースマーケット社の直近の純資産・有利子負債の開示を求めます。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" y="5349240"/>
            <a:ext cx="10881360" cy="960120"/>
          </a:xfrm>
          <a:prstGeom prst="roundRect">
            <a:avLst>
              <a:gd name="adj" fmla="val 5714"/>
            </a:avLst>
          </a:prstGeom>
          <a:solidFill>
            <a:srgbClr val="F0F4F1"/>
          </a:solidFill>
          <a:ln w="12700">
            <a:solidFill>
              <a:srgbClr val="C9DCD1"/>
            </a:solidFill>
            <a:prstDash val="solid"/>
          </a:ln>
          <a:effectLst>
            <a:outerShdw sx="100000" sy="100000" kx="0" ky="0" algn="bl" rotWithShape="0" blurRad="101600" dist="12700" dir="5400000">
              <a:srgbClr val="AAB4BE">
                <a:alpha val="1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60120" y="55046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6A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仮に合併を先行させる場合の条件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60120" y="58064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4E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6.10億円は相対取得ではなく第三者割当増資で入れます。持分は27.79%から24.52%に下がりますが、資金が会社に入り、金融機関に説明できる形になります。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2026-09-23T14:14:44Z</dcterms:created>
  <dcterms:modified xsi:type="dcterms:W3CDTF">2026-09-23T14:14:44Z</dcterms:modified>
</cp:coreProperties>
</file>