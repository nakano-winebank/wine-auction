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A38"/>
                </a:solidFill>
                <a:latin typeface="Meiryo"/>
              </a:defRPr>
            </a:pPr>
            <a:r>
              <a:rPr sz="1300" b="0" i="0" u="none" strike="noStrike">
                <a:solidFill>
                  <a:srgbClr val="1E2A38"/>
                </a:solidFill>
                <a:latin typeface="Meiryo"/>
              </a:rPr>
              <a:t>純資産と有利子負債の変化（億円）</a:t>
            </a:r>
          </a:p>
        </c:rich>
      </c:tx>
      <c:layout/>
      <c:overlay val="0"/>
    </c:title>
    <c:autoTitleDeleted val="0"/>
    <c:plotArea>
      <c:layout/>
      <c:barChart>
        <c:barDir val="col"/>
        <c:grouping val="clustered"/>
        <c:varyColors val="0"/>
        <c:ser>
          <c:idx val="0"/>
          <c:order val="0"/>
          <c:tx>
            <c:strRef>
              <c:f>Sheet1!$B$1</c:f>
              <c:strCache>
                <c:ptCount val="1"/>
                <c:pt idx="0">
                  <c:v>取引前</c:v>
                </c:pt>
              </c:strCache>
            </c:strRef>
          </c:tx>
          <c:spPr>
            <a:solidFill>
              <a:srgbClr val="7C8A99"/>
            </a:solidFill>
            <a:effectLst/>
          </c:spPr>
          <c:invertIfNegative val="0"/>
          <c:dLbls>
            <c:numFmt formatCode="0.00" sourceLinked="0"/>
            <c:txPr>
              <a:bodyPr/>
              <a:lstStyle/>
              <a:p>
                <a:pPr>
                  <a:defRPr b="0" i="0" strike="noStrike" sz="900" u="none">
                    <a:solidFill>
                      <a:srgbClr val="1E2A38"/>
                    </a:solidFill>
                    <a:latin typeface="Meiryo"/>
                  </a:defRPr>
                </a:pPr>
              </a:p>
            </c:txPr>
            <c:showLegendKey val="0"/>
            <c:showVal val="1"/>
            <c:showCatName val="0"/>
            <c:showSerName val="0"/>
            <c:showPercent val="0"/>
            <c:showBubbleSize val="0"/>
            <c:showLeaderLines val="0"/>
          </c:dLbls>
          <c:cat>
            <c:multiLvlStrRef>
              <c:f>Sheet1!$A$2:$A$3</c:f>
              <c:multiLvlStrCache>
                <c:ptCount val="2"/>
                <c:lvl>
                  <c:pt idx="0">
                    <c:v>純資産</c:v>
                  </c:pt>
                  <c:pt idx="1">
                    <c:v>有利子負債</c:v>
                  </c:pt>
                </c:lvl>
              </c:multiLvlStrCache>
            </c:multiLvlStrRef>
          </c:cat>
          <c:val>
            <c:numRef>
              <c:f>Sheet1!$B$2:$B$3</c:f>
              <c:numCache>
                <c:formatCode>General</c:formatCode>
                <c:ptCount val="2"/>
                <c:pt idx="0">
                  <c:v>-4.09</c:v>
                </c:pt>
                <c:pt idx="1">
                  <c:v>11.57</c:v>
                </c:pt>
              </c:numCache>
            </c:numRef>
          </c:val>
        </c:ser>
        <c:ser>
          <c:idx val="1"/>
          <c:order val="1"/>
          <c:tx>
            <c:strRef>
              <c:f>Sheet1!$C$1</c:f>
              <c:strCache>
                <c:ptCount val="1"/>
                <c:pt idx="0">
                  <c:v>取引後</c:v>
                </c:pt>
              </c:strCache>
            </c:strRef>
          </c:tx>
          <c:spPr>
            <a:solidFill>
              <a:srgbClr val="6E2639"/>
            </a:solidFill>
            <a:effectLst/>
          </c:spPr>
          <c:invertIfNegative val="0"/>
          <c:dLbls>
            <c:numFmt formatCode="0.00" sourceLinked="0"/>
            <c:txPr>
              <a:bodyPr/>
              <a:lstStyle/>
              <a:p>
                <a:pPr>
                  <a:defRPr b="0" i="0" strike="noStrike" sz="900" u="none">
                    <a:solidFill>
                      <a:srgbClr val="1E2A38"/>
                    </a:solidFill>
                    <a:latin typeface="Meiryo"/>
                  </a:defRPr>
                </a:pPr>
              </a:p>
            </c:txPr>
            <c:showLegendKey val="0"/>
            <c:showVal val="1"/>
            <c:showCatName val="0"/>
            <c:showSerName val="0"/>
            <c:showPercent val="0"/>
            <c:showBubbleSize val="0"/>
            <c:showLeaderLines val="0"/>
          </c:dLbls>
          <c:cat>
            <c:multiLvlStrRef>
              <c:f>Sheet1!$A$2:$A$3</c:f>
              <c:multiLvlStrCache>
                <c:ptCount val="2"/>
                <c:lvl>
                  <c:pt idx="0">
                    <c:v>純資産</c:v>
                  </c:pt>
                  <c:pt idx="1">
                    <c:v>有利子負債</c:v>
                  </c:pt>
                </c:lvl>
              </c:multiLvlStrCache>
            </c:multiLvlStrRef>
          </c:cat>
          <c:val>
            <c:numRef>
              <c:f>Sheet1!$C$2:$C$3</c:f>
              <c:numCache>
                <c:formatCode>General</c:formatCode>
                <c:ptCount val="2"/>
                <c:pt idx="0">
                  <c:v>5.81</c:v>
                </c:pt>
                <c:pt idx="1">
                  <c:v>3.69</c:v>
                </c:pt>
              </c:numCache>
            </c:numRef>
          </c:val>
        </c:ser>
        <c:dLbls>
          <c:numFmt formatCode="0.00" sourceLinked="0"/>
          <c:txPr>
            <a:bodyPr/>
            <a:lstStyle/>
            <a:p>
              <a:pPr>
                <a:defRPr b="0" i="0" strike="noStrike" sz="900" u="none">
                  <a:solidFill>
                    <a:srgbClr val="1E2A38"/>
                  </a:solidFill>
                  <a:latin typeface="Meiryo"/>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D4E60"/>
                </a:solidFill>
                <a:latin typeface="Meiryo"/>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E0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C8A99"/>
                </a:solidFill>
                <a:latin typeface="Meiryo"/>
              </a:defRPr>
            </a:pPr>
            <a:endParaRPr lang="en-US"/>
          </a:p>
        </c:txPr>
        <c:crossAx val="2094734554"/>
        <c:crosses val="autoZero"/>
        <c:crossBetween val="between"/>
      </c:valAx>
      <c:spPr>
        <a:noFill/>
        <a:ln>
          <a:noFill/>
        </a:ln>
        <a:effectLst/>
      </c:spPr>
    </c:plotArea>
    <c:legend>
      <c:legendPos val="b"/>
      <c:overlay val="0"/>
      <c:txPr>
        <a:bodyPr/>
        <a:lstStyle/>
        <a:p>
          <a:pPr>
            <a:defRPr sz="900">
              <a:latin typeface="Meiryo"/>
              <a:cs typeface="Meiry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8"/>
        </a:solidFill>
      </p:bgPr>
    </p:bg>
    <p:spTree>
      <p:nvGrpSpPr>
        <p:cNvPr id="1" name=""/>
        <p:cNvGrpSpPr/>
        <p:nvPr/>
      </p:nvGrpSpPr>
      <p:grpSpPr>
        <a:xfrm>
          <a:off x="0" y="0"/>
          <a:ext cx="0" cy="0"/>
          <a:chOff x="0" y="0"/>
          <a:chExt cx="0" cy="0"/>
        </a:xfrm>
      </p:grpSpPr>
      <p:sp>
        <p:nvSpPr>
          <p:cNvPr id="2" name="Text 0"/>
          <p:cNvSpPr/>
          <p:nvPr/>
        </p:nvSpPr>
        <p:spPr>
          <a:xfrm>
            <a:off x="822960" y="1600200"/>
            <a:ext cx="10515600" cy="365760"/>
          </a:xfrm>
          <a:prstGeom prst="rect">
            <a:avLst/>
          </a:prstGeom>
          <a:noFill/>
          <a:ln/>
        </p:spPr>
        <p:txBody>
          <a:bodyPr wrap="square" lIns="0" tIns="0" rIns="0" bIns="0" rtlCol="0" anchor="ctr"/>
          <a:lstStyle/>
          <a:p>
            <a:pPr indent="0" marL="0">
              <a:buNone/>
            </a:pPr>
            <a:r>
              <a:rPr lang="en-US" sz="1400" b="1" spc="300" kern="0" dirty="0">
                <a:solidFill>
                  <a:srgbClr val="A85C6E"/>
                </a:solidFill>
                <a:latin typeface="Meiryo" pitchFamily="34" charset="0"/>
                <a:ea typeface="Meiryo" pitchFamily="34" charset="-122"/>
                <a:cs typeface="Meiryo" pitchFamily="34" charset="-120"/>
              </a:rPr>
              <a:t>株式会社あどばる</a:t>
            </a:r>
            <a:endParaRPr lang="en-US" sz="1400" dirty="0"/>
          </a:p>
        </p:txBody>
      </p:sp>
      <p:sp>
        <p:nvSpPr>
          <p:cNvPr id="3" name="Text 1"/>
          <p:cNvSpPr/>
          <p:nvPr/>
        </p:nvSpPr>
        <p:spPr>
          <a:xfrm>
            <a:off x="822960" y="2011680"/>
            <a:ext cx="10515600" cy="914400"/>
          </a:xfrm>
          <a:prstGeom prst="rect">
            <a:avLst/>
          </a:prstGeom>
          <a:noFill/>
          <a:ln/>
        </p:spPr>
        <p:txBody>
          <a:bodyPr wrap="square" lIns="0" tIns="0" rIns="0" bIns="0" rtlCol="0" anchor="ctr"/>
          <a:lstStyle/>
          <a:p>
            <a:pPr indent="0" marL="0">
              <a:buNone/>
            </a:pPr>
            <a:r>
              <a:rPr lang="en-US" sz="4200" b="1" dirty="0">
                <a:solidFill>
                  <a:srgbClr val="FFFFFF"/>
                </a:solidFill>
                <a:latin typeface="Meiryo" pitchFamily="34" charset="0"/>
                <a:ea typeface="Meiryo" pitchFamily="34" charset="-122"/>
                <a:cs typeface="Meiryo" pitchFamily="34" charset="-120"/>
              </a:rPr>
              <a:t>資本再編（MBO）のご提案</a:t>
            </a:r>
            <a:endParaRPr lang="en-US" sz="4200" dirty="0"/>
          </a:p>
        </p:txBody>
      </p:sp>
      <p:sp>
        <p:nvSpPr>
          <p:cNvPr id="4" name="Text 2"/>
          <p:cNvSpPr/>
          <p:nvPr/>
        </p:nvSpPr>
        <p:spPr>
          <a:xfrm>
            <a:off x="822960" y="3017520"/>
            <a:ext cx="9601200" cy="411480"/>
          </a:xfrm>
          <a:prstGeom prst="rect">
            <a:avLst/>
          </a:prstGeom>
          <a:noFill/>
          <a:ln/>
        </p:spPr>
        <p:txBody>
          <a:bodyPr wrap="square" lIns="0" tIns="0" rIns="0" bIns="0" rtlCol="0" anchor="ctr"/>
          <a:lstStyle/>
          <a:p>
            <a:pPr indent="0" marL="0">
              <a:buNone/>
            </a:pPr>
            <a:r>
              <a:rPr lang="en-US" sz="1600" dirty="0">
                <a:solidFill>
                  <a:srgbClr val="B9C4CF"/>
                </a:solidFill>
                <a:latin typeface="Meiryo" pitchFamily="34" charset="0"/>
                <a:ea typeface="Meiryo" pitchFamily="34" charset="-122"/>
                <a:cs typeface="Meiryo" pitchFamily="34" charset="-120"/>
              </a:rPr>
              <a:t>債務超過の解消と、ビジョン社からの独立に向けた資金計画</a:t>
            </a:r>
            <a:endParaRPr lang="en-US" sz="1600" dirty="0"/>
          </a:p>
        </p:txBody>
      </p:sp>
      <p:sp>
        <p:nvSpPr>
          <p:cNvPr id="5" name="Shape 3"/>
          <p:cNvSpPr/>
          <p:nvPr/>
        </p:nvSpPr>
        <p:spPr>
          <a:xfrm>
            <a:off x="822960" y="3657600"/>
            <a:ext cx="2926080" cy="0"/>
          </a:xfrm>
          <a:prstGeom prst="line">
            <a:avLst/>
          </a:prstGeom>
          <a:noFill/>
          <a:ln w="25400">
            <a:solidFill>
              <a:srgbClr val="6E2639"/>
            </a:solidFill>
            <a:prstDash val="solid"/>
          </a:ln>
        </p:spPr>
      </p:sp>
      <p:sp>
        <p:nvSpPr>
          <p:cNvPr id="6" name="Text 4"/>
          <p:cNvSpPr/>
          <p:nvPr/>
        </p:nvSpPr>
        <p:spPr>
          <a:xfrm>
            <a:off x="822960" y="3977640"/>
            <a:ext cx="137160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ご提示先</a:t>
            </a:r>
            <a:endParaRPr lang="en-US" sz="1000" dirty="0"/>
          </a:p>
        </p:txBody>
      </p:sp>
      <p:sp>
        <p:nvSpPr>
          <p:cNvPr id="7" name="Text 5"/>
          <p:cNvSpPr/>
          <p:nvPr/>
        </p:nvSpPr>
        <p:spPr>
          <a:xfrm>
            <a:off x="2286000" y="3977640"/>
            <a:ext cx="77724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株式会社みずほ銀行 御中</a:t>
            </a:r>
            <a:endParaRPr lang="en-US" sz="1200" dirty="0"/>
          </a:p>
        </p:txBody>
      </p:sp>
      <p:sp>
        <p:nvSpPr>
          <p:cNvPr id="8" name="Text 6"/>
          <p:cNvSpPr/>
          <p:nvPr/>
        </p:nvSpPr>
        <p:spPr>
          <a:xfrm>
            <a:off x="822960" y="4361688"/>
            <a:ext cx="137160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作成</a:t>
            </a:r>
            <a:endParaRPr lang="en-US" sz="1000" dirty="0"/>
          </a:p>
        </p:txBody>
      </p:sp>
      <p:sp>
        <p:nvSpPr>
          <p:cNvPr id="9" name="Text 7"/>
          <p:cNvSpPr/>
          <p:nvPr/>
        </p:nvSpPr>
        <p:spPr>
          <a:xfrm>
            <a:off x="2286000" y="4361688"/>
            <a:ext cx="77724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株式会社あどばる 代表取締役 中野 邦人</a:t>
            </a:r>
            <a:endParaRPr lang="en-US" sz="1200" dirty="0"/>
          </a:p>
        </p:txBody>
      </p:sp>
      <p:sp>
        <p:nvSpPr>
          <p:cNvPr id="10" name="Text 8"/>
          <p:cNvSpPr/>
          <p:nvPr/>
        </p:nvSpPr>
        <p:spPr>
          <a:xfrm>
            <a:off x="822960" y="4745736"/>
            <a:ext cx="137160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基準</a:t>
            </a:r>
            <a:endParaRPr lang="en-US" sz="1000" dirty="0"/>
          </a:p>
        </p:txBody>
      </p:sp>
      <p:sp>
        <p:nvSpPr>
          <p:cNvPr id="11" name="Text 9"/>
          <p:cNvSpPr/>
          <p:nvPr/>
        </p:nvSpPr>
        <p:spPr>
          <a:xfrm>
            <a:off x="2286000" y="4745736"/>
            <a:ext cx="77724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第10期（2026年5月期）計算書類</a:t>
            </a:r>
            <a:endParaRPr lang="en-US" sz="1200" dirty="0"/>
          </a:p>
        </p:txBody>
      </p:sp>
      <p:sp>
        <p:nvSpPr>
          <p:cNvPr id="12" name="Text 10"/>
          <p:cNvSpPr/>
          <p:nvPr/>
        </p:nvSpPr>
        <p:spPr>
          <a:xfrm>
            <a:off x="822960" y="6172200"/>
            <a:ext cx="10515600" cy="274320"/>
          </a:xfrm>
          <a:prstGeom prst="rect">
            <a:avLst/>
          </a:prstGeom>
          <a:noFill/>
          <a:ln/>
        </p:spPr>
        <p:txBody>
          <a:bodyPr wrap="square" lIns="0" tIns="0" rIns="0" bIns="0" rtlCol="0" anchor="ctr"/>
          <a:lstStyle/>
          <a:p>
            <a:pPr indent="0" marL="0">
              <a:buNone/>
            </a:pPr>
            <a:r>
              <a:rPr lang="en-US" sz="900" dirty="0">
                <a:solidFill>
                  <a:srgbClr val="6D7A87"/>
                </a:solidFill>
                <a:latin typeface="Meiryo" pitchFamily="34" charset="0"/>
                <a:ea typeface="Meiryo" pitchFamily="34" charset="-122"/>
                <a:cs typeface="Meiryo" pitchFamily="34" charset="-120"/>
              </a:rPr>
              <a:t>本資料は検討段階の想定値であり、法務・税務・会計上の助言ではありません</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EXECUTIVE SUMMARY</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1E2A38"/>
                </a:solidFill>
                <a:latin typeface="Meiryo" pitchFamily="34" charset="0"/>
                <a:ea typeface="Meiryo" pitchFamily="34" charset="-122"/>
                <a:cs typeface="Meiryo" pitchFamily="34" charset="-120"/>
              </a:rPr>
              <a:t>ご提案の骨子</a:t>
            </a:r>
            <a:endParaRPr lang="en-US" sz="2900" dirty="0"/>
          </a:p>
        </p:txBody>
      </p:sp>
      <p:sp>
        <p:nvSpPr>
          <p:cNvPr id="4" name="Shape 2"/>
          <p:cNvSpPr/>
          <p:nvPr/>
        </p:nvSpPr>
        <p:spPr>
          <a:xfrm>
            <a:off x="640080" y="1600200"/>
            <a:ext cx="10881360" cy="1133856"/>
          </a:xfrm>
          <a:prstGeom prst="roundRect">
            <a:avLst>
              <a:gd name="adj" fmla="val 4839"/>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Shape 3"/>
          <p:cNvSpPr/>
          <p:nvPr/>
        </p:nvSpPr>
        <p:spPr>
          <a:xfrm>
            <a:off x="914400" y="1874520"/>
            <a:ext cx="566928" cy="566928"/>
          </a:xfrm>
          <a:prstGeom prst="roundRect">
            <a:avLst>
              <a:gd name="adj" fmla="val 80645"/>
            </a:avLst>
          </a:prstGeom>
          <a:solidFill>
            <a:srgbClr val="2C6A4E"/>
          </a:solidFill>
          <a:ln/>
        </p:spPr>
      </p:sp>
      <p:sp>
        <p:nvSpPr>
          <p:cNvPr id="6" name="Text 4"/>
          <p:cNvSpPr/>
          <p:nvPr/>
        </p:nvSpPr>
        <p:spPr>
          <a:xfrm>
            <a:off x="914400" y="18745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01</a:t>
            </a:r>
            <a:endParaRPr lang="en-US" sz="1500" dirty="0"/>
          </a:p>
        </p:txBody>
      </p:sp>
      <p:sp>
        <p:nvSpPr>
          <p:cNvPr id="7" name="Text 5"/>
          <p:cNvSpPr/>
          <p:nvPr/>
        </p:nvSpPr>
        <p:spPr>
          <a:xfrm>
            <a:off x="1691640" y="1783080"/>
            <a:ext cx="9509760" cy="329184"/>
          </a:xfrm>
          <a:prstGeom prst="rect">
            <a:avLst/>
          </a:prstGeom>
          <a:noFill/>
          <a:ln/>
        </p:spPr>
        <p:txBody>
          <a:bodyPr wrap="square" lIns="0" tIns="0" rIns="0" bIns="0" rtlCol="0" anchor="ctr"/>
          <a:lstStyle/>
          <a:p>
            <a:pPr indent="0" marL="0">
              <a:buNone/>
            </a:pPr>
            <a:r>
              <a:rPr lang="en-US" sz="1700" b="1" dirty="0">
                <a:solidFill>
                  <a:srgbClr val="1E2A38"/>
                </a:solidFill>
                <a:latin typeface="Meiryo" pitchFamily="34" charset="0"/>
                <a:ea typeface="Meiryo" pitchFamily="34" charset="-122"/>
                <a:cs typeface="Meiryo" pitchFamily="34" charset="-120"/>
              </a:rPr>
              <a:t>債務超過を増資で解消</a:t>
            </a:r>
            <a:endParaRPr lang="en-US" sz="1700" dirty="0"/>
          </a:p>
        </p:txBody>
      </p:sp>
      <p:sp>
        <p:nvSpPr>
          <p:cNvPr id="8" name="Text 6"/>
          <p:cNvSpPr/>
          <p:nvPr/>
        </p:nvSpPr>
        <p:spPr>
          <a:xfrm>
            <a:off x="1691640" y="2148840"/>
            <a:ext cx="9509760" cy="457200"/>
          </a:xfrm>
          <a:prstGeom prst="rect">
            <a:avLst/>
          </a:prstGeom>
          <a:noFill/>
          <a:ln/>
        </p:spPr>
        <p:txBody>
          <a:bodyPr wrap="square" lIns="0" tIns="0" rIns="0" bIns="0" rtlCol="0" anchor="ctr"/>
          <a:lstStyle/>
          <a:p>
            <a:pPr indent="0" marL="0">
              <a:buNone/>
            </a:pPr>
            <a:r>
              <a:rPr lang="en-US" sz="1200" dirty="0">
                <a:solidFill>
                  <a:srgbClr val="3D4E60"/>
                </a:solidFill>
                <a:latin typeface="Meiryo" pitchFamily="34" charset="0"/>
                <a:ea typeface="Meiryo" pitchFamily="34" charset="-122"/>
                <a:cs typeface="Meiryo" pitchFamily="34" charset="-120"/>
              </a:rPr>
              <a:t>第三者割当増資23.6億により純資産は△4.09億から+5.81億へ。自己資本比率38.3%の健全な会社になります。</a:t>
            </a:r>
            <a:endParaRPr lang="en-US" sz="1200" dirty="0"/>
          </a:p>
        </p:txBody>
      </p:sp>
      <p:sp>
        <p:nvSpPr>
          <p:cNvPr id="9" name="Shape 7"/>
          <p:cNvSpPr/>
          <p:nvPr/>
        </p:nvSpPr>
        <p:spPr>
          <a:xfrm>
            <a:off x="640080" y="2898648"/>
            <a:ext cx="10881360" cy="1133856"/>
          </a:xfrm>
          <a:prstGeom prst="roundRect">
            <a:avLst>
              <a:gd name="adj" fmla="val 4839"/>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0" name="Shape 8"/>
          <p:cNvSpPr/>
          <p:nvPr/>
        </p:nvSpPr>
        <p:spPr>
          <a:xfrm>
            <a:off x="914400" y="3172968"/>
            <a:ext cx="566928" cy="566928"/>
          </a:xfrm>
          <a:prstGeom prst="roundRect">
            <a:avLst>
              <a:gd name="adj" fmla="val 80645"/>
            </a:avLst>
          </a:prstGeom>
          <a:solidFill>
            <a:srgbClr val="6E2639"/>
          </a:solidFill>
          <a:ln/>
        </p:spPr>
      </p:sp>
      <p:sp>
        <p:nvSpPr>
          <p:cNvPr id="11" name="Text 9"/>
          <p:cNvSpPr/>
          <p:nvPr/>
        </p:nvSpPr>
        <p:spPr>
          <a:xfrm>
            <a:off x="914400" y="317296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02</a:t>
            </a:r>
            <a:endParaRPr lang="en-US" sz="1500" dirty="0"/>
          </a:p>
        </p:txBody>
      </p:sp>
      <p:sp>
        <p:nvSpPr>
          <p:cNvPr id="12" name="Text 10"/>
          <p:cNvSpPr/>
          <p:nvPr/>
        </p:nvSpPr>
        <p:spPr>
          <a:xfrm>
            <a:off x="1691640" y="3081528"/>
            <a:ext cx="9509760" cy="329184"/>
          </a:xfrm>
          <a:prstGeom prst="rect">
            <a:avLst/>
          </a:prstGeom>
          <a:noFill/>
          <a:ln/>
        </p:spPr>
        <p:txBody>
          <a:bodyPr wrap="square" lIns="0" tIns="0" rIns="0" bIns="0" rtlCol="0" anchor="ctr"/>
          <a:lstStyle/>
          <a:p>
            <a:pPr indent="0" marL="0">
              <a:buNone/>
            </a:pPr>
            <a:r>
              <a:rPr lang="en-US" sz="1700" b="1" dirty="0">
                <a:solidFill>
                  <a:srgbClr val="1E2A38"/>
                </a:solidFill>
                <a:latin typeface="Meiryo" pitchFamily="34" charset="0"/>
                <a:ea typeface="Meiryo" pitchFamily="34" charset="-122"/>
                <a:cs typeface="Meiryo" pitchFamily="34" charset="-120"/>
              </a:rPr>
              <a:t>ビジョン社の借入を全額返済</a:t>
            </a:r>
            <a:endParaRPr lang="en-US" sz="1700" dirty="0"/>
          </a:p>
        </p:txBody>
      </p:sp>
      <p:sp>
        <p:nvSpPr>
          <p:cNvPr id="13" name="Text 11"/>
          <p:cNvSpPr/>
          <p:nvPr/>
        </p:nvSpPr>
        <p:spPr>
          <a:xfrm>
            <a:off x="1691640" y="3447288"/>
            <a:ext cx="9509760" cy="457200"/>
          </a:xfrm>
          <a:prstGeom prst="rect">
            <a:avLst/>
          </a:prstGeom>
          <a:noFill/>
          <a:ln/>
        </p:spPr>
        <p:txBody>
          <a:bodyPr wrap="square" lIns="0" tIns="0" rIns="0" bIns="0" rtlCol="0" anchor="ctr"/>
          <a:lstStyle/>
          <a:p>
            <a:pPr indent="0" marL="0">
              <a:buNone/>
            </a:pPr>
            <a:r>
              <a:rPr lang="en-US" sz="1200" dirty="0">
                <a:solidFill>
                  <a:srgbClr val="3D4E60"/>
                </a:solidFill>
                <a:latin typeface="Meiryo" pitchFamily="34" charset="0"/>
                <a:ea typeface="Meiryo" pitchFamily="34" charset="-122"/>
                <a:cs typeface="Meiryo" pitchFamily="34" charset="-120"/>
              </a:rPr>
              <a:t>7.90億を額面満額・全額現金で返済。ビジョン社との資本・債権関係を完全に解消します。</a:t>
            </a:r>
            <a:endParaRPr lang="en-US" sz="1200" dirty="0"/>
          </a:p>
        </p:txBody>
      </p:sp>
      <p:sp>
        <p:nvSpPr>
          <p:cNvPr id="14" name="Shape 12"/>
          <p:cNvSpPr/>
          <p:nvPr/>
        </p:nvSpPr>
        <p:spPr>
          <a:xfrm>
            <a:off x="640080" y="4197096"/>
            <a:ext cx="10881360" cy="1133856"/>
          </a:xfrm>
          <a:prstGeom prst="roundRect">
            <a:avLst>
              <a:gd name="adj" fmla="val 4839"/>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5" name="Shape 13"/>
          <p:cNvSpPr/>
          <p:nvPr/>
        </p:nvSpPr>
        <p:spPr>
          <a:xfrm>
            <a:off x="914400" y="4471416"/>
            <a:ext cx="566928" cy="566928"/>
          </a:xfrm>
          <a:prstGeom prst="roundRect">
            <a:avLst>
              <a:gd name="adj" fmla="val 80645"/>
            </a:avLst>
          </a:prstGeom>
          <a:solidFill>
            <a:srgbClr val="1E2A38"/>
          </a:solidFill>
          <a:ln/>
        </p:spPr>
      </p:sp>
      <p:sp>
        <p:nvSpPr>
          <p:cNvPr id="16" name="Text 14"/>
          <p:cNvSpPr/>
          <p:nvPr/>
        </p:nvSpPr>
        <p:spPr>
          <a:xfrm>
            <a:off x="914400" y="4471416"/>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03</a:t>
            </a:r>
            <a:endParaRPr lang="en-US" sz="1500" dirty="0"/>
          </a:p>
        </p:txBody>
      </p:sp>
      <p:sp>
        <p:nvSpPr>
          <p:cNvPr id="17" name="Text 15"/>
          <p:cNvSpPr/>
          <p:nvPr/>
        </p:nvSpPr>
        <p:spPr>
          <a:xfrm>
            <a:off x="1691640" y="4379976"/>
            <a:ext cx="9509760" cy="329184"/>
          </a:xfrm>
          <a:prstGeom prst="rect">
            <a:avLst/>
          </a:prstGeom>
          <a:noFill/>
          <a:ln/>
        </p:spPr>
        <p:txBody>
          <a:bodyPr wrap="square" lIns="0" tIns="0" rIns="0" bIns="0" rtlCol="0" anchor="ctr"/>
          <a:lstStyle/>
          <a:p>
            <a:pPr indent="0" marL="0">
              <a:buNone/>
            </a:pPr>
            <a:r>
              <a:rPr lang="en-US" sz="1700" b="1" dirty="0">
                <a:solidFill>
                  <a:srgbClr val="1E2A38"/>
                </a:solidFill>
                <a:latin typeface="Meiryo" pitchFamily="34" charset="0"/>
                <a:ea typeface="Meiryo" pitchFamily="34" charset="-122"/>
                <a:cs typeface="Meiryo" pitchFamily="34" charset="-120"/>
              </a:rPr>
              <a:t>中野とパートナーが50:50</a:t>
            </a:r>
            <a:endParaRPr lang="en-US" sz="1700" dirty="0"/>
          </a:p>
        </p:txBody>
      </p:sp>
      <p:sp>
        <p:nvSpPr>
          <p:cNvPr id="18" name="Text 16"/>
          <p:cNvSpPr/>
          <p:nvPr/>
        </p:nvSpPr>
        <p:spPr>
          <a:xfrm>
            <a:off x="1691640" y="4745736"/>
            <a:ext cx="9509760" cy="457200"/>
          </a:xfrm>
          <a:prstGeom prst="rect">
            <a:avLst/>
          </a:prstGeom>
          <a:noFill/>
          <a:ln/>
        </p:spPr>
        <p:txBody>
          <a:bodyPr wrap="square" lIns="0" tIns="0" rIns="0" bIns="0" rtlCol="0" anchor="ctr"/>
          <a:lstStyle/>
          <a:p>
            <a:pPr indent="0" marL="0">
              <a:buNone/>
            </a:pPr>
            <a:r>
              <a:rPr lang="en-US" sz="1200" dirty="0">
                <a:solidFill>
                  <a:srgbClr val="3D4E60"/>
                </a:solidFill>
                <a:latin typeface="Meiryo" pitchFamily="34" charset="0"/>
                <a:ea typeface="Meiryo" pitchFamily="34" charset="-122"/>
                <a:cs typeface="Meiryo" pitchFamily="34" charset="-120"/>
              </a:rPr>
              <a:t>既存株主7社の全株を会社が買い取り、株主は中野陣営とパートナーの2者のみになります。</a:t>
            </a:r>
            <a:endParaRPr lang="en-US" sz="1200" dirty="0"/>
          </a:p>
        </p:txBody>
      </p:sp>
      <p:sp>
        <p:nvSpPr>
          <p:cNvPr id="19" name="Text 17"/>
          <p:cNvSpPr/>
          <p:nvPr/>
        </p:nvSpPr>
        <p:spPr>
          <a:xfrm>
            <a:off x="640080" y="5806440"/>
            <a:ext cx="10881360" cy="320040"/>
          </a:xfrm>
          <a:prstGeom prst="rect">
            <a:avLst/>
          </a:prstGeom>
          <a:noFill/>
          <a:ln/>
        </p:spPr>
        <p:txBody>
          <a:bodyPr wrap="square" lIns="0" tIns="0" rIns="0" bIns="0" rtlCol="0" anchor="ctr"/>
          <a:lstStyle/>
          <a:p>
            <a:pPr indent="0" marL="0">
              <a:buNone/>
            </a:pPr>
            <a:r>
              <a:rPr lang="en-US" sz="1300" b="1" dirty="0">
                <a:solidFill>
                  <a:srgbClr val="6E2639"/>
                </a:solidFill>
                <a:latin typeface="Meiryo" pitchFamily="34" charset="0"/>
                <a:ea typeface="Meiryo" pitchFamily="34" charset="-122"/>
                <a:cs typeface="Meiryo" pitchFamily="34" charset="-120"/>
              </a:rPr>
              <a:t>みずほ銀行様へのお願いは、買収ファイナンスではなく「既存借入の借換え」と「運転資金枠」です。</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現状</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1E2A38"/>
                </a:solidFill>
                <a:latin typeface="Meiryo" pitchFamily="34" charset="0"/>
                <a:ea typeface="Meiryo" pitchFamily="34" charset="-122"/>
                <a:cs typeface="Meiryo" pitchFamily="34" charset="-120"/>
              </a:rPr>
              <a:t>第10期の実績と、バランスシートの課題</a:t>
            </a:r>
            <a:endParaRPr lang="en-US" sz="2900" dirty="0"/>
          </a:p>
        </p:txBody>
      </p:sp>
      <p:sp>
        <p:nvSpPr>
          <p:cNvPr id="4" name="Text 2"/>
          <p:cNvSpPr/>
          <p:nvPr/>
        </p:nvSpPr>
        <p:spPr>
          <a:xfrm>
            <a:off x="640080" y="1554480"/>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売上高</a:t>
            </a:r>
            <a:endParaRPr lang="en-US" sz="1100" dirty="0"/>
          </a:p>
        </p:txBody>
      </p:sp>
      <p:sp>
        <p:nvSpPr>
          <p:cNvPr id="5" name="Text 3"/>
          <p:cNvSpPr/>
          <p:nvPr/>
        </p:nvSpPr>
        <p:spPr>
          <a:xfrm>
            <a:off x="640080" y="1792224"/>
            <a:ext cx="2377440" cy="502920"/>
          </a:xfrm>
          <a:prstGeom prst="rect">
            <a:avLst/>
          </a:prstGeom>
          <a:noFill/>
          <a:ln/>
        </p:spPr>
        <p:txBody>
          <a:bodyPr wrap="square" lIns="0" tIns="0" rIns="0" bIns="0" rtlCol="0" anchor="ctr"/>
          <a:lstStyle/>
          <a:p>
            <a:pPr indent="0" marL="0">
              <a:buNone/>
            </a:pPr>
            <a:r>
              <a:rPr lang="en-US" sz="3100" b="1" dirty="0">
                <a:solidFill>
                  <a:srgbClr val="2C6A4E"/>
                </a:solidFill>
                <a:latin typeface="Meiryo" pitchFamily="34" charset="0"/>
                <a:ea typeface="Meiryo" pitchFamily="34" charset="-122"/>
                <a:cs typeface="Meiryo" pitchFamily="34" charset="-120"/>
              </a:rPr>
              <a:t>21.80</a:t>
            </a:r>
            <a:pPr indent="0" marL="0">
              <a:buNone/>
            </a:pPr>
            <a:r>
              <a:rPr lang="en-US" sz="1400" b="1" dirty="0">
                <a:solidFill>
                  <a:srgbClr val="2C6A4E"/>
                </a:solidFill>
                <a:latin typeface="Meiryo" pitchFamily="34" charset="0"/>
                <a:ea typeface="Meiryo" pitchFamily="34" charset="-122"/>
                <a:cs typeface="Meiryo" pitchFamily="34" charset="-120"/>
              </a:rPr>
              <a:t>億円</a:t>
            </a:r>
            <a:endParaRPr lang="en-US" sz="3100" dirty="0"/>
          </a:p>
        </p:txBody>
      </p:sp>
      <p:sp>
        <p:nvSpPr>
          <p:cNvPr id="6" name="Text 4"/>
          <p:cNvSpPr/>
          <p:nvPr/>
        </p:nvSpPr>
        <p:spPr>
          <a:xfrm>
            <a:off x="640080" y="2313432"/>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前期比 +18.8%</a:t>
            </a:r>
            <a:endParaRPr lang="en-US" sz="1000" dirty="0"/>
          </a:p>
        </p:txBody>
      </p:sp>
      <p:sp>
        <p:nvSpPr>
          <p:cNvPr id="7" name="Text 5"/>
          <p:cNvSpPr/>
          <p:nvPr/>
        </p:nvSpPr>
        <p:spPr>
          <a:xfrm>
            <a:off x="3200400" y="1554480"/>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営業利益</a:t>
            </a:r>
            <a:endParaRPr lang="en-US" sz="1100" dirty="0"/>
          </a:p>
        </p:txBody>
      </p:sp>
      <p:sp>
        <p:nvSpPr>
          <p:cNvPr id="8" name="Text 6"/>
          <p:cNvSpPr/>
          <p:nvPr/>
        </p:nvSpPr>
        <p:spPr>
          <a:xfrm>
            <a:off x="3200400" y="1792224"/>
            <a:ext cx="2377440" cy="502920"/>
          </a:xfrm>
          <a:prstGeom prst="rect">
            <a:avLst/>
          </a:prstGeom>
          <a:noFill/>
          <a:ln/>
        </p:spPr>
        <p:txBody>
          <a:bodyPr wrap="square" lIns="0" tIns="0" rIns="0" bIns="0" rtlCol="0" anchor="ctr"/>
          <a:lstStyle/>
          <a:p>
            <a:pPr indent="0" marL="0">
              <a:buNone/>
            </a:pPr>
            <a:r>
              <a:rPr lang="en-US" sz="3100" b="1" dirty="0">
                <a:solidFill>
                  <a:srgbClr val="1E2A38"/>
                </a:solidFill>
                <a:latin typeface="Meiryo" pitchFamily="34" charset="0"/>
                <a:ea typeface="Meiryo" pitchFamily="34" charset="-122"/>
                <a:cs typeface="Meiryo" pitchFamily="34" charset="-120"/>
              </a:rPr>
              <a:t>1.58</a:t>
            </a:r>
            <a:pPr indent="0" marL="0">
              <a:buNone/>
            </a:pPr>
            <a:r>
              <a:rPr lang="en-US" sz="1400" b="1" dirty="0">
                <a:solidFill>
                  <a:srgbClr val="1E2A38"/>
                </a:solidFill>
                <a:latin typeface="Meiryo" pitchFamily="34" charset="0"/>
                <a:ea typeface="Meiryo" pitchFamily="34" charset="-122"/>
                <a:cs typeface="Meiryo" pitchFamily="34" charset="-120"/>
              </a:rPr>
              <a:t>億円</a:t>
            </a:r>
            <a:endParaRPr lang="en-US" sz="3100" dirty="0"/>
          </a:p>
        </p:txBody>
      </p:sp>
      <p:sp>
        <p:nvSpPr>
          <p:cNvPr id="9" name="Text 7"/>
          <p:cNvSpPr/>
          <p:nvPr/>
        </p:nvSpPr>
        <p:spPr>
          <a:xfrm>
            <a:off x="3200400" y="2313432"/>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前期1.77億から減益</a:t>
            </a:r>
            <a:endParaRPr lang="en-US" sz="1000" dirty="0"/>
          </a:p>
        </p:txBody>
      </p:sp>
      <p:sp>
        <p:nvSpPr>
          <p:cNvPr id="10" name="Text 8"/>
          <p:cNvSpPr/>
          <p:nvPr/>
        </p:nvSpPr>
        <p:spPr>
          <a:xfrm>
            <a:off x="5760720" y="1554480"/>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純資産</a:t>
            </a:r>
            <a:endParaRPr lang="en-US" sz="1100" dirty="0"/>
          </a:p>
        </p:txBody>
      </p:sp>
      <p:sp>
        <p:nvSpPr>
          <p:cNvPr id="11" name="Text 9"/>
          <p:cNvSpPr/>
          <p:nvPr/>
        </p:nvSpPr>
        <p:spPr>
          <a:xfrm>
            <a:off x="5760720" y="1792224"/>
            <a:ext cx="2377440" cy="502920"/>
          </a:xfrm>
          <a:prstGeom prst="rect">
            <a:avLst/>
          </a:prstGeom>
          <a:noFill/>
          <a:ln/>
        </p:spPr>
        <p:txBody>
          <a:bodyPr wrap="square" lIns="0" tIns="0" rIns="0" bIns="0" rtlCol="0" anchor="ctr"/>
          <a:lstStyle/>
          <a:p>
            <a:pPr indent="0" marL="0">
              <a:buNone/>
            </a:pPr>
            <a:r>
              <a:rPr lang="en-US" sz="3100" b="1" dirty="0">
                <a:solidFill>
                  <a:srgbClr val="8A2E26"/>
                </a:solidFill>
                <a:latin typeface="Meiryo" pitchFamily="34" charset="0"/>
                <a:ea typeface="Meiryo" pitchFamily="34" charset="-122"/>
                <a:cs typeface="Meiryo" pitchFamily="34" charset="-120"/>
              </a:rPr>
              <a:t>△4.09</a:t>
            </a:r>
            <a:pPr indent="0" marL="0">
              <a:buNone/>
            </a:pPr>
            <a:r>
              <a:rPr lang="en-US" sz="1400" b="1" dirty="0">
                <a:solidFill>
                  <a:srgbClr val="8A2E26"/>
                </a:solidFill>
                <a:latin typeface="Meiryo" pitchFamily="34" charset="0"/>
                <a:ea typeface="Meiryo" pitchFamily="34" charset="-122"/>
                <a:cs typeface="Meiryo" pitchFamily="34" charset="-120"/>
              </a:rPr>
              <a:t>億円</a:t>
            </a:r>
            <a:endParaRPr lang="en-US" sz="3100" dirty="0"/>
          </a:p>
        </p:txBody>
      </p:sp>
      <p:sp>
        <p:nvSpPr>
          <p:cNvPr id="12" name="Text 10"/>
          <p:cNvSpPr/>
          <p:nvPr/>
        </p:nvSpPr>
        <p:spPr>
          <a:xfrm>
            <a:off x="5760720" y="2313432"/>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債務超過</a:t>
            </a:r>
            <a:endParaRPr lang="en-US" sz="1000" dirty="0"/>
          </a:p>
        </p:txBody>
      </p:sp>
      <p:sp>
        <p:nvSpPr>
          <p:cNvPr id="13" name="Text 11"/>
          <p:cNvSpPr/>
          <p:nvPr/>
        </p:nvSpPr>
        <p:spPr>
          <a:xfrm>
            <a:off x="8321040" y="1554480"/>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現預金</a:t>
            </a:r>
            <a:endParaRPr lang="en-US" sz="1100" dirty="0"/>
          </a:p>
        </p:txBody>
      </p:sp>
      <p:sp>
        <p:nvSpPr>
          <p:cNvPr id="14" name="Text 12"/>
          <p:cNvSpPr/>
          <p:nvPr/>
        </p:nvSpPr>
        <p:spPr>
          <a:xfrm>
            <a:off x="8321040" y="1792224"/>
            <a:ext cx="2377440" cy="502920"/>
          </a:xfrm>
          <a:prstGeom prst="rect">
            <a:avLst/>
          </a:prstGeom>
          <a:noFill/>
          <a:ln/>
        </p:spPr>
        <p:txBody>
          <a:bodyPr wrap="square" lIns="0" tIns="0" rIns="0" bIns="0" rtlCol="0" anchor="ctr"/>
          <a:lstStyle/>
          <a:p>
            <a:pPr indent="0" marL="0">
              <a:buNone/>
            </a:pPr>
            <a:r>
              <a:rPr lang="en-US" sz="3100" b="1" dirty="0">
                <a:solidFill>
                  <a:srgbClr val="8A2E26"/>
                </a:solidFill>
                <a:latin typeface="Meiryo" pitchFamily="34" charset="0"/>
                <a:ea typeface="Meiryo" pitchFamily="34" charset="-122"/>
                <a:cs typeface="Meiryo" pitchFamily="34" charset="-120"/>
              </a:rPr>
              <a:t>0.40</a:t>
            </a:r>
            <a:pPr indent="0" marL="0">
              <a:buNone/>
            </a:pPr>
            <a:r>
              <a:rPr lang="en-US" sz="1400" b="1" dirty="0">
                <a:solidFill>
                  <a:srgbClr val="8A2E26"/>
                </a:solidFill>
                <a:latin typeface="Meiryo" pitchFamily="34" charset="0"/>
                <a:ea typeface="Meiryo" pitchFamily="34" charset="-122"/>
                <a:cs typeface="Meiryo" pitchFamily="34" charset="-120"/>
              </a:rPr>
              <a:t>億円</a:t>
            </a:r>
            <a:endParaRPr lang="en-US" sz="3100" dirty="0"/>
          </a:p>
        </p:txBody>
      </p:sp>
      <p:sp>
        <p:nvSpPr>
          <p:cNvPr id="15" name="Text 13"/>
          <p:cNvSpPr/>
          <p:nvPr/>
        </p:nvSpPr>
        <p:spPr>
          <a:xfrm>
            <a:off x="8321040" y="2313432"/>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総資産13.16億に対し</a:t>
            </a:r>
            <a:endParaRPr lang="en-US" sz="1000" dirty="0"/>
          </a:p>
        </p:txBody>
      </p:sp>
      <p:sp>
        <p:nvSpPr>
          <p:cNvPr id="16" name="Shape 14"/>
          <p:cNvSpPr/>
          <p:nvPr/>
        </p:nvSpPr>
        <p:spPr>
          <a:xfrm>
            <a:off x="640080" y="2880360"/>
            <a:ext cx="5257800" cy="2880360"/>
          </a:xfrm>
          <a:prstGeom prst="roundRect">
            <a:avLst>
              <a:gd name="adj" fmla="val 1905"/>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7" name="Text 15"/>
          <p:cNvSpPr/>
          <p:nvPr/>
        </p:nvSpPr>
        <p:spPr>
          <a:xfrm>
            <a:off x="914400" y="3063240"/>
            <a:ext cx="4754880" cy="292608"/>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有利子負債 11.57億円の内訳</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14400" y="3456432"/>
          <a:ext cx="4709160" cy="914400"/>
        </p:xfrm>
        <a:graphic>
          <a:graphicData uri="http://schemas.openxmlformats.org/drawingml/2006/table">
            <a:tbl>
              <a:tblPr/>
              <a:tblGrid>
                <a:gridCol w="3246120"/>
                <a:gridCol w="1463040"/>
              </a:tblGrid>
              <a:tr h="310896">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借入先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残高</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10896">
                <a:tc>
                  <a:txBody>
                    <a:bodyPr/>
                    <a:lstStyle/>
                    <a:p>
                      <a:pPr algn="l" indent="0" marL="0">
                        <a:buNone/>
                      </a:pPr>
                      <a:r>
                        <a:rPr lang="en-US" sz="1150" dirty="0">
                          <a:solidFill>
                            <a:srgbClr val="3D4E60"/>
                          </a:solidFill>
                          <a:latin typeface="Meiryo" pitchFamily="34" charset="0"/>
                          <a:ea typeface="Meiryo" pitchFamily="34" charset="-122"/>
                          <a:cs typeface="Meiryo" pitchFamily="34" charset="-120"/>
                        </a:rPr>
                        <a:t>株式会社ビジョン</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l" indent="0" marL="0">
                        <a:buNone/>
                      </a:pPr>
                      <a:r>
                        <a:rPr lang="en-US" sz="1150" dirty="0">
                          <a:solidFill>
                            <a:srgbClr val="3D4E60"/>
                          </a:solidFill>
                          <a:latin typeface="Meiryo" pitchFamily="34" charset="0"/>
                          <a:ea typeface="Meiryo" pitchFamily="34" charset="-122"/>
                          <a:cs typeface="Meiryo" pitchFamily="34" charset="-120"/>
                        </a:rPr>
                        <a:t>7.90億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10896">
                <a:tc>
                  <a:txBody>
                    <a:bodyPr/>
                    <a:lstStyle/>
                    <a:p>
                      <a:pPr algn="l" indent="0" marL="0">
                        <a:buNone/>
                      </a:pPr>
                      <a:r>
                        <a:rPr lang="en-US" sz="1150" dirty="0">
                          <a:solidFill>
                            <a:srgbClr val="3D4E60"/>
                          </a:solidFill>
                          <a:latin typeface="Meiryo" pitchFamily="34" charset="0"/>
                          <a:ea typeface="Meiryo" pitchFamily="34" charset="-122"/>
                          <a:cs typeface="Meiryo" pitchFamily="34" charset="-120"/>
                        </a:rPr>
                        <a:t>日本政策金融公庫</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l" indent="0" marL="0">
                        <a:buNone/>
                      </a:pPr>
                      <a:r>
                        <a:rPr lang="en-US" sz="1150" dirty="0">
                          <a:solidFill>
                            <a:srgbClr val="3D4E60"/>
                          </a:solidFill>
                          <a:latin typeface="Meiryo" pitchFamily="34" charset="0"/>
                          <a:ea typeface="Meiryo" pitchFamily="34" charset="-122"/>
                          <a:cs typeface="Meiryo" pitchFamily="34" charset="-120"/>
                        </a:rPr>
                        <a:t>2.24億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10896">
                <a:tc>
                  <a:txBody>
                    <a:bodyPr/>
                    <a:lstStyle/>
                    <a:p>
                      <a:pPr algn="l" indent="0" marL="0">
                        <a:buNone/>
                      </a:pPr>
                      <a:r>
                        <a:rPr lang="en-US" sz="1150" dirty="0">
                          <a:solidFill>
                            <a:srgbClr val="3D4E60"/>
                          </a:solidFill>
                          <a:latin typeface="Meiryo" pitchFamily="34" charset="0"/>
                          <a:ea typeface="Meiryo" pitchFamily="34" charset="-122"/>
                          <a:cs typeface="Meiryo" pitchFamily="34" charset="-120"/>
                        </a:rPr>
                        <a:t>武蔵野銀行</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l" indent="0" marL="0">
                        <a:buNone/>
                      </a:pPr>
                      <a:r>
                        <a:rPr lang="en-US" sz="1150" dirty="0">
                          <a:solidFill>
                            <a:srgbClr val="3D4E60"/>
                          </a:solidFill>
                          <a:latin typeface="Meiryo" pitchFamily="34" charset="0"/>
                          <a:ea typeface="Meiryo" pitchFamily="34" charset="-122"/>
                          <a:cs typeface="Meiryo" pitchFamily="34" charset="-120"/>
                        </a:rPr>
                        <a:t>1.36億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10896">
                <a:tc>
                  <a:txBody>
                    <a:bodyPr/>
                    <a:lstStyle/>
                    <a:p>
                      <a:pPr algn="l" indent="0" marL="0">
                        <a:buNone/>
                      </a:pPr>
                      <a:r>
                        <a:rPr lang="en-US" sz="1150" dirty="0">
                          <a:solidFill>
                            <a:srgbClr val="3D4E60"/>
                          </a:solidFill>
                          <a:latin typeface="Meiryo" pitchFamily="34" charset="0"/>
                          <a:ea typeface="Meiryo" pitchFamily="34" charset="-122"/>
                          <a:cs typeface="Meiryo" pitchFamily="34" charset="-120"/>
                        </a:rPr>
                        <a:t>十六銀行・大垣共立銀行</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l" indent="0" marL="0">
                        <a:buNone/>
                      </a:pPr>
                      <a:r>
                        <a:rPr lang="en-US" sz="1150" dirty="0">
                          <a:solidFill>
                            <a:srgbClr val="3D4E60"/>
                          </a:solidFill>
                          <a:latin typeface="Meiryo" pitchFamily="34" charset="0"/>
                          <a:ea typeface="Meiryo" pitchFamily="34" charset="-122"/>
                          <a:cs typeface="Meiryo" pitchFamily="34" charset="-120"/>
                        </a:rPr>
                        <a:t>0.07億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10896">
                <a:tc>
                  <a:txBody>
                    <a:bodyPr/>
                    <a:lstStyle/>
                    <a:p>
                      <a:pPr algn="l" indent="0" marL="0">
                        <a:buNone/>
                      </a:pPr>
                      <a:r>
                        <a:rPr lang="en-US" sz="1150" b="1" dirty="0">
                          <a:solidFill>
                            <a:srgbClr val="3D4E60"/>
                          </a:solidFill>
                          <a:latin typeface="Meiryo" pitchFamily="34" charset="0"/>
                          <a:ea typeface="Meiryo" pitchFamily="34" charset="-122"/>
                          <a:cs typeface="Meiryo" pitchFamily="34" charset="-120"/>
                        </a:rPr>
                        <a:t>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11.57億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19" name="Shape 16"/>
          <p:cNvSpPr/>
          <p:nvPr/>
        </p:nvSpPr>
        <p:spPr>
          <a:xfrm>
            <a:off x="6263640" y="2880360"/>
            <a:ext cx="5257800" cy="2880360"/>
          </a:xfrm>
          <a:prstGeom prst="roundRect">
            <a:avLst>
              <a:gd name="adj" fmla="val 1905"/>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20" name="Text 17"/>
          <p:cNvSpPr/>
          <p:nvPr/>
        </p:nvSpPr>
        <p:spPr>
          <a:xfrm>
            <a:off x="6537960" y="3063240"/>
            <a:ext cx="4754880" cy="292608"/>
          </a:xfrm>
          <a:prstGeom prst="rect">
            <a:avLst/>
          </a:prstGeom>
          <a:noFill/>
          <a:ln/>
        </p:spPr>
        <p:txBody>
          <a:bodyPr wrap="square" lIns="0" tIns="0" rIns="0" bIns="0" rtlCol="0" anchor="ctr"/>
          <a:lstStyle/>
          <a:p>
            <a:pPr indent="0" marL="0">
              <a:buNone/>
            </a:pPr>
            <a:r>
              <a:rPr lang="en-US" sz="1400" b="1" dirty="0">
                <a:solidFill>
                  <a:srgbClr val="6E2639"/>
                </a:solidFill>
                <a:latin typeface="Meiryo" pitchFamily="34" charset="0"/>
                <a:ea typeface="Meiryo" pitchFamily="34" charset="-122"/>
                <a:cs typeface="Meiryo" pitchFamily="34" charset="-120"/>
              </a:rPr>
              <a:t>ここが融資判断の壁になります</a:t>
            </a:r>
            <a:endParaRPr lang="en-US" sz="1400" dirty="0"/>
          </a:p>
        </p:txBody>
      </p:sp>
      <p:sp>
        <p:nvSpPr>
          <p:cNvPr id="21" name="Shape 18"/>
          <p:cNvSpPr/>
          <p:nvPr/>
        </p:nvSpPr>
        <p:spPr>
          <a:xfrm>
            <a:off x="6537960" y="3557016"/>
            <a:ext cx="182880" cy="182880"/>
          </a:xfrm>
          <a:prstGeom prst="roundRect">
            <a:avLst>
              <a:gd name="adj" fmla="val 250000"/>
            </a:avLst>
          </a:prstGeom>
          <a:solidFill>
            <a:srgbClr val="6E2639"/>
          </a:solidFill>
          <a:ln/>
        </p:spPr>
      </p:sp>
      <p:sp>
        <p:nvSpPr>
          <p:cNvPr id="22" name="Text 19"/>
          <p:cNvSpPr/>
          <p:nvPr/>
        </p:nvSpPr>
        <p:spPr>
          <a:xfrm>
            <a:off x="6858000" y="3502152"/>
            <a:ext cx="4480560" cy="27432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純資産が△4.09億の債務超過</a:t>
            </a:r>
            <a:endParaRPr lang="en-US" sz="1250" dirty="0"/>
          </a:p>
        </p:txBody>
      </p:sp>
      <p:sp>
        <p:nvSpPr>
          <p:cNvPr id="23" name="Text 20"/>
          <p:cNvSpPr/>
          <p:nvPr/>
        </p:nvSpPr>
        <p:spPr>
          <a:xfrm>
            <a:off x="6858000" y="3776472"/>
            <a:ext cx="448056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この状態では新規融資の稟議が通りません</a:t>
            </a:r>
            <a:endParaRPr lang="en-US" sz="1050" dirty="0"/>
          </a:p>
        </p:txBody>
      </p:sp>
      <p:sp>
        <p:nvSpPr>
          <p:cNvPr id="24" name="Shape 21"/>
          <p:cNvSpPr/>
          <p:nvPr/>
        </p:nvSpPr>
        <p:spPr>
          <a:xfrm>
            <a:off x="6537960" y="4270248"/>
            <a:ext cx="182880" cy="182880"/>
          </a:xfrm>
          <a:prstGeom prst="roundRect">
            <a:avLst>
              <a:gd name="adj" fmla="val 250000"/>
            </a:avLst>
          </a:prstGeom>
          <a:solidFill>
            <a:srgbClr val="6E2639"/>
          </a:solidFill>
          <a:ln/>
        </p:spPr>
      </p:sp>
      <p:sp>
        <p:nvSpPr>
          <p:cNvPr id="25" name="Text 22"/>
          <p:cNvSpPr/>
          <p:nvPr/>
        </p:nvSpPr>
        <p:spPr>
          <a:xfrm>
            <a:off x="6858000" y="4215384"/>
            <a:ext cx="4480560" cy="27432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ビジョン社への借入が7.90億</a:t>
            </a:r>
            <a:endParaRPr lang="en-US" sz="1250" dirty="0"/>
          </a:p>
        </p:txBody>
      </p:sp>
      <p:sp>
        <p:nvSpPr>
          <p:cNvPr id="26" name="Text 23"/>
          <p:cNvSpPr/>
          <p:nvPr/>
        </p:nvSpPr>
        <p:spPr>
          <a:xfrm>
            <a:off x="6858000" y="4489704"/>
            <a:ext cx="448056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有利子負債の68%を親会社が占めています</a:t>
            </a:r>
            <a:endParaRPr lang="en-US" sz="1050" dirty="0"/>
          </a:p>
        </p:txBody>
      </p:sp>
      <p:sp>
        <p:nvSpPr>
          <p:cNvPr id="27" name="Shape 24"/>
          <p:cNvSpPr/>
          <p:nvPr/>
        </p:nvSpPr>
        <p:spPr>
          <a:xfrm>
            <a:off x="6537960" y="4983480"/>
            <a:ext cx="182880" cy="182880"/>
          </a:xfrm>
          <a:prstGeom prst="roundRect">
            <a:avLst>
              <a:gd name="adj" fmla="val 250000"/>
            </a:avLst>
          </a:prstGeom>
          <a:solidFill>
            <a:srgbClr val="6E2639"/>
          </a:solidFill>
          <a:ln/>
        </p:spPr>
      </p:sp>
      <p:sp>
        <p:nvSpPr>
          <p:cNvPr id="28" name="Text 25"/>
          <p:cNvSpPr/>
          <p:nvPr/>
        </p:nvSpPr>
        <p:spPr>
          <a:xfrm>
            <a:off x="6858000" y="4928616"/>
            <a:ext cx="4480560" cy="27432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現預金が0.40億</a:t>
            </a:r>
            <a:endParaRPr lang="en-US" sz="1250" dirty="0"/>
          </a:p>
        </p:txBody>
      </p:sp>
      <p:sp>
        <p:nvSpPr>
          <p:cNvPr id="29" name="Text 26"/>
          <p:cNvSpPr/>
          <p:nvPr/>
        </p:nvSpPr>
        <p:spPr>
          <a:xfrm>
            <a:off x="6858000" y="5202936"/>
            <a:ext cx="448056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月商1.8億に対し手元流動性が極端に薄い</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収益力</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1E2A38"/>
                </a:solidFill>
                <a:latin typeface="Meiryo" pitchFamily="34" charset="0"/>
                <a:ea typeface="Meiryo" pitchFamily="34" charset="-122"/>
                <a:cs typeface="Meiryo" pitchFamily="34" charset="-120"/>
              </a:rPr>
              <a:t>ビジョン社への出向費がなくなった前提での正常収益力</a:t>
            </a:r>
            <a:endParaRPr lang="en-US" sz="2900" dirty="0"/>
          </a:p>
        </p:txBody>
      </p:sp>
      <p:sp>
        <p:nvSpPr>
          <p:cNvPr id="4" name="Shape 2"/>
          <p:cNvSpPr/>
          <p:nvPr/>
        </p:nvSpPr>
        <p:spPr>
          <a:xfrm>
            <a:off x="640080" y="1554480"/>
            <a:ext cx="10881360" cy="1463040"/>
          </a:xfrm>
          <a:prstGeom prst="roundRect">
            <a:avLst>
              <a:gd name="adj" fmla="val 375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Text 3"/>
          <p:cNvSpPr/>
          <p:nvPr/>
        </p:nvSpPr>
        <p:spPr>
          <a:xfrm>
            <a:off x="960120" y="1783080"/>
            <a:ext cx="2514600" cy="502920"/>
          </a:xfrm>
          <a:prstGeom prst="rect">
            <a:avLst/>
          </a:prstGeom>
          <a:noFill/>
          <a:ln/>
        </p:spPr>
        <p:txBody>
          <a:bodyPr wrap="square" lIns="0" tIns="0" rIns="0" bIns="0" rtlCol="0" anchor="ctr"/>
          <a:lstStyle/>
          <a:p>
            <a:pPr indent="0" marL="0">
              <a:buNone/>
            </a:pPr>
            <a:r>
              <a:rPr lang="en-US" sz="1050" dirty="0">
                <a:solidFill>
                  <a:srgbClr val="7C8A99"/>
                </a:solidFill>
                <a:latin typeface="Meiryo" pitchFamily="34" charset="0"/>
                <a:ea typeface="Meiryo" pitchFamily="34" charset="-122"/>
                <a:cs typeface="Meiryo" pitchFamily="34" charset="-120"/>
              </a:rPr>
              <a:t>第10期 報告営業利益</a:t>
            </a:r>
            <a:endParaRPr lang="en-US" sz="1050" dirty="0"/>
          </a:p>
        </p:txBody>
      </p:sp>
      <p:sp>
        <p:nvSpPr>
          <p:cNvPr id="6" name="Text 4"/>
          <p:cNvSpPr/>
          <p:nvPr/>
        </p:nvSpPr>
        <p:spPr>
          <a:xfrm>
            <a:off x="960120" y="2286000"/>
            <a:ext cx="2514600" cy="457200"/>
          </a:xfrm>
          <a:prstGeom prst="rect">
            <a:avLst/>
          </a:prstGeom>
          <a:noFill/>
          <a:ln/>
        </p:spPr>
        <p:txBody>
          <a:bodyPr wrap="square" lIns="0" tIns="0" rIns="0" bIns="0" rtlCol="0" anchor="ctr"/>
          <a:lstStyle/>
          <a:p>
            <a:pPr indent="0" marL="0">
              <a:buNone/>
            </a:pPr>
            <a:r>
              <a:rPr lang="en-US" sz="2300" b="1" dirty="0">
                <a:solidFill>
                  <a:srgbClr val="1E2A38"/>
                </a:solidFill>
                <a:latin typeface="Meiryo" pitchFamily="34" charset="0"/>
                <a:ea typeface="Meiryo" pitchFamily="34" charset="-122"/>
                <a:cs typeface="Meiryo" pitchFamily="34" charset="-120"/>
              </a:rPr>
              <a:t>1.58億</a:t>
            </a:r>
            <a:endParaRPr lang="en-US" sz="2300" dirty="0"/>
          </a:p>
        </p:txBody>
      </p:sp>
      <p:sp>
        <p:nvSpPr>
          <p:cNvPr id="7" name="Text 5"/>
          <p:cNvSpPr/>
          <p:nvPr/>
        </p:nvSpPr>
        <p:spPr>
          <a:xfrm>
            <a:off x="3337560" y="2331720"/>
            <a:ext cx="320040" cy="365760"/>
          </a:xfrm>
          <a:prstGeom prst="rect">
            <a:avLst/>
          </a:prstGeom>
          <a:noFill/>
          <a:ln/>
        </p:spPr>
        <p:txBody>
          <a:bodyPr wrap="square" lIns="0" tIns="0" rIns="0" bIns="0" rtlCol="0" anchor="ctr"/>
          <a:lstStyle/>
          <a:p>
            <a:pPr algn="ctr" indent="0" marL="0">
              <a:buNone/>
            </a:pPr>
            <a:r>
              <a:rPr lang="en-US" sz="1600" dirty="0">
                <a:solidFill>
                  <a:srgbClr val="7C8A99"/>
                </a:solidFill>
                <a:latin typeface="Meiryo" pitchFamily="34" charset="0"/>
                <a:ea typeface="Meiryo" pitchFamily="34" charset="-122"/>
                <a:cs typeface="Meiryo" pitchFamily="34" charset="-120"/>
              </a:rPr>
              <a:t>→</a:t>
            </a:r>
            <a:endParaRPr lang="en-US" sz="1600" dirty="0"/>
          </a:p>
        </p:txBody>
      </p:sp>
      <p:sp>
        <p:nvSpPr>
          <p:cNvPr id="8" name="Text 6"/>
          <p:cNvSpPr/>
          <p:nvPr/>
        </p:nvSpPr>
        <p:spPr>
          <a:xfrm>
            <a:off x="3657600" y="1783080"/>
            <a:ext cx="2514600" cy="502920"/>
          </a:xfrm>
          <a:prstGeom prst="rect">
            <a:avLst/>
          </a:prstGeom>
          <a:noFill/>
          <a:ln/>
        </p:spPr>
        <p:txBody>
          <a:bodyPr wrap="square" lIns="0" tIns="0" rIns="0" bIns="0" rtlCol="0" anchor="ctr"/>
          <a:lstStyle/>
          <a:p>
            <a:pPr indent="0" marL="0">
              <a:buNone/>
            </a:pPr>
            <a:r>
              <a:rPr lang="en-US" sz="1050" dirty="0">
                <a:solidFill>
                  <a:srgbClr val="7C8A99"/>
                </a:solidFill>
                <a:latin typeface="Meiryo" pitchFamily="34" charset="0"/>
                <a:ea typeface="Meiryo" pitchFamily="34" charset="-122"/>
                <a:cs typeface="Meiryo" pitchFamily="34" charset="-120"/>
              </a:rPr>
              <a:t>出向費 年0.72億の喪失</a:t>
            </a:r>
            <a:endParaRPr lang="en-US" sz="1050" dirty="0"/>
          </a:p>
        </p:txBody>
      </p:sp>
      <p:sp>
        <p:nvSpPr>
          <p:cNvPr id="9" name="Text 7"/>
          <p:cNvSpPr/>
          <p:nvPr/>
        </p:nvSpPr>
        <p:spPr>
          <a:xfrm>
            <a:off x="3657600" y="2286000"/>
            <a:ext cx="2514600" cy="457200"/>
          </a:xfrm>
          <a:prstGeom prst="rect">
            <a:avLst/>
          </a:prstGeom>
          <a:noFill/>
          <a:ln/>
        </p:spPr>
        <p:txBody>
          <a:bodyPr wrap="square" lIns="0" tIns="0" rIns="0" bIns="0" rtlCol="0" anchor="ctr"/>
          <a:lstStyle/>
          <a:p>
            <a:pPr indent="0" marL="0">
              <a:buNone/>
            </a:pPr>
            <a:r>
              <a:rPr lang="en-US" sz="2300" b="1" dirty="0">
                <a:solidFill>
                  <a:srgbClr val="8A2E26"/>
                </a:solidFill>
                <a:latin typeface="Meiryo" pitchFamily="34" charset="0"/>
                <a:ea typeface="Meiryo" pitchFamily="34" charset="-122"/>
                <a:cs typeface="Meiryo" pitchFamily="34" charset="-120"/>
              </a:rPr>
              <a:t>△0.72億</a:t>
            </a:r>
            <a:endParaRPr lang="en-US" sz="2300" dirty="0"/>
          </a:p>
        </p:txBody>
      </p:sp>
      <p:sp>
        <p:nvSpPr>
          <p:cNvPr id="10" name="Text 8"/>
          <p:cNvSpPr/>
          <p:nvPr/>
        </p:nvSpPr>
        <p:spPr>
          <a:xfrm>
            <a:off x="6035040" y="2331720"/>
            <a:ext cx="320040" cy="365760"/>
          </a:xfrm>
          <a:prstGeom prst="rect">
            <a:avLst/>
          </a:prstGeom>
          <a:noFill/>
          <a:ln/>
        </p:spPr>
        <p:txBody>
          <a:bodyPr wrap="square" lIns="0" tIns="0" rIns="0" bIns="0" rtlCol="0" anchor="ctr"/>
          <a:lstStyle/>
          <a:p>
            <a:pPr algn="ctr" indent="0" marL="0">
              <a:buNone/>
            </a:pPr>
            <a:r>
              <a:rPr lang="en-US" sz="1600" dirty="0">
                <a:solidFill>
                  <a:srgbClr val="7C8A99"/>
                </a:solidFill>
                <a:latin typeface="Meiryo" pitchFamily="34" charset="0"/>
                <a:ea typeface="Meiryo" pitchFamily="34" charset="-122"/>
                <a:cs typeface="Meiryo" pitchFamily="34" charset="-120"/>
              </a:rPr>
              <a:t>→</a:t>
            </a:r>
            <a:endParaRPr lang="en-US" sz="1600" dirty="0"/>
          </a:p>
        </p:txBody>
      </p:sp>
      <p:sp>
        <p:nvSpPr>
          <p:cNvPr id="11" name="Text 9"/>
          <p:cNvSpPr/>
          <p:nvPr/>
        </p:nvSpPr>
        <p:spPr>
          <a:xfrm>
            <a:off x="6355080" y="1783080"/>
            <a:ext cx="2514600" cy="502920"/>
          </a:xfrm>
          <a:prstGeom prst="rect">
            <a:avLst/>
          </a:prstGeom>
          <a:noFill/>
          <a:ln/>
        </p:spPr>
        <p:txBody>
          <a:bodyPr wrap="square" lIns="0" tIns="0" rIns="0" bIns="0" rtlCol="0" anchor="ctr"/>
          <a:lstStyle/>
          <a:p>
            <a:pPr indent="0" marL="0">
              <a:buNone/>
            </a:pPr>
            <a:r>
              <a:rPr lang="en-US" sz="1050" dirty="0">
                <a:solidFill>
                  <a:srgbClr val="7C8A99"/>
                </a:solidFill>
                <a:latin typeface="Meiryo" pitchFamily="34" charset="0"/>
                <a:ea typeface="Meiryo" pitchFamily="34" charset="-122"/>
                <a:cs typeface="Meiryo" pitchFamily="34" charset="-120"/>
              </a:rPr>
              <a:t>撤退店舗の損失解消・大型2施設の通年寄与等</a:t>
            </a:r>
            <a:endParaRPr lang="en-US" sz="1050" dirty="0"/>
          </a:p>
        </p:txBody>
      </p:sp>
      <p:sp>
        <p:nvSpPr>
          <p:cNvPr id="12" name="Text 10"/>
          <p:cNvSpPr/>
          <p:nvPr/>
        </p:nvSpPr>
        <p:spPr>
          <a:xfrm>
            <a:off x="6355080" y="2286000"/>
            <a:ext cx="2514600" cy="457200"/>
          </a:xfrm>
          <a:prstGeom prst="rect">
            <a:avLst/>
          </a:prstGeom>
          <a:noFill/>
          <a:ln/>
        </p:spPr>
        <p:txBody>
          <a:bodyPr wrap="square" lIns="0" tIns="0" rIns="0" bIns="0" rtlCol="0" anchor="ctr"/>
          <a:lstStyle/>
          <a:p>
            <a:pPr indent="0" marL="0">
              <a:buNone/>
            </a:pPr>
            <a:r>
              <a:rPr lang="en-US" sz="2300" b="1" dirty="0">
                <a:solidFill>
                  <a:srgbClr val="2C6A4E"/>
                </a:solidFill>
                <a:latin typeface="Meiryo" pitchFamily="34" charset="0"/>
                <a:ea typeface="Meiryo" pitchFamily="34" charset="-122"/>
                <a:cs typeface="Meiryo" pitchFamily="34" charset="-120"/>
              </a:rPr>
              <a:t>+1.14億</a:t>
            </a:r>
            <a:endParaRPr lang="en-US" sz="2300" dirty="0"/>
          </a:p>
        </p:txBody>
      </p:sp>
      <p:sp>
        <p:nvSpPr>
          <p:cNvPr id="13" name="Text 11"/>
          <p:cNvSpPr/>
          <p:nvPr/>
        </p:nvSpPr>
        <p:spPr>
          <a:xfrm>
            <a:off x="8732520" y="2331720"/>
            <a:ext cx="320040" cy="365760"/>
          </a:xfrm>
          <a:prstGeom prst="rect">
            <a:avLst/>
          </a:prstGeom>
          <a:noFill/>
          <a:ln/>
        </p:spPr>
        <p:txBody>
          <a:bodyPr wrap="square" lIns="0" tIns="0" rIns="0" bIns="0" rtlCol="0" anchor="ctr"/>
          <a:lstStyle/>
          <a:p>
            <a:pPr algn="ctr" indent="0" marL="0">
              <a:buNone/>
            </a:pPr>
            <a:r>
              <a:rPr lang="en-US" sz="1600" dirty="0">
                <a:solidFill>
                  <a:srgbClr val="7C8A99"/>
                </a:solidFill>
                <a:latin typeface="Meiryo" pitchFamily="34" charset="0"/>
                <a:ea typeface="Meiryo" pitchFamily="34" charset="-122"/>
                <a:cs typeface="Meiryo" pitchFamily="34" charset="-120"/>
              </a:rPr>
              <a:t>→</a:t>
            </a:r>
            <a:endParaRPr lang="en-US" sz="1600" dirty="0"/>
          </a:p>
        </p:txBody>
      </p:sp>
      <p:sp>
        <p:nvSpPr>
          <p:cNvPr id="14" name="Text 12"/>
          <p:cNvSpPr/>
          <p:nvPr/>
        </p:nvSpPr>
        <p:spPr>
          <a:xfrm>
            <a:off x="9052560" y="1783080"/>
            <a:ext cx="2514600" cy="502920"/>
          </a:xfrm>
          <a:prstGeom prst="rect">
            <a:avLst/>
          </a:prstGeom>
          <a:noFill/>
          <a:ln/>
        </p:spPr>
        <p:txBody>
          <a:bodyPr wrap="square" lIns="0" tIns="0" rIns="0" bIns="0" rtlCol="0" anchor="ctr"/>
          <a:lstStyle/>
          <a:p>
            <a:pPr indent="0" marL="0">
              <a:buNone/>
            </a:pPr>
            <a:r>
              <a:rPr lang="en-US" sz="1050" dirty="0">
                <a:solidFill>
                  <a:srgbClr val="7C8A99"/>
                </a:solidFill>
                <a:latin typeface="Meiryo" pitchFamily="34" charset="0"/>
                <a:ea typeface="Meiryo" pitchFamily="34" charset="-122"/>
                <a:cs typeface="Meiryo" pitchFamily="34" charset="-120"/>
              </a:rPr>
              <a:t>正常化営業利益</a:t>
            </a:r>
            <a:endParaRPr lang="en-US" sz="1050" dirty="0"/>
          </a:p>
        </p:txBody>
      </p:sp>
      <p:sp>
        <p:nvSpPr>
          <p:cNvPr id="15" name="Text 13"/>
          <p:cNvSpPr/>
          <p:nvPr/>
        </p:nvSpPr>
        <p:spPr>
          <a:xfrm>
            <a:off x="9052560" y="2286000"/>
            <a:ext cx="2514600" cy="457200"/>
          </a:xfrm>
          <a:prstGeom prst="rect">
            <a:avLst/>
          </a:prstGeom>
          <a:noFill/>
          <a:ln/>
        </p:spPr>
        <p:txBody>
          <a:bodyPr wrap="square" lIns="0" tIns="0" rIns="0" bIns="0" rtlCol="0" anchor="ctr"/>
          <a:lstStyle/>
          <a:p>
            <a:pPr indent="0" marL="0">
              <a:buNone/>
            </a:pPr>
            <a:r>
              <a:rPr lang="en-US" sz="2300" b="1" dirty="0">
                <a:solidFill>
                  <a:srgbClr val="6E2639"/>
                </a:solidFill>
                <a:latin typeface="Meiryo" pitchFamily="34" charset="0"/>
                <a:ea typeface="Meiryo" pitchFamily="34" charset="-122"/>
                <a:cs typeface="Meiryo" pitchFamily="34" charset="-120"/>
              </a:rPr>
              <a:t>2.00億</a:t>
            </a:r>
            <a:endParaRPr lang="en-US" sz="2300" dirty="0"/>
          </a:p>
        </p:txBody>
      </p:sp>
      <p:sp>
        <p:nvSpPr>
          <p:cNvPr id="16" name="Text 14"/>
          <p:cNvSpPr/>
          <p:nvPr/>
        </p:nvSpPr>
        <p:spPr>
          <a:xfrm>
            <a:off x="640080" y="3246120"/>
            <a:ext cx="274320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正常化EBITDA</a:t>
            </a:r>
            <a:endParaRPr lang="en-US" sz="1100" dirty="0"/>
          </a:p>
        </p:txBody>
      </p:sp>
      <p:sp>
        <p:nvSpPr>
          <p:cNvPr id="17" name="Text 15"/>
          <p:cNvSpPr/>
          <p:nvPr/>
        </p:nvSpPr>
        <p:spPr>
          <a:xfrm>
            <a:off x="640080" y="3483864"/>
            <a:ext cx="2743200" cy="502920"/>
          </a:xfrm>
          <a:prstGeom prst="rect">
            <a:avLst/>
          </a:prstGeom>
          <a:noFill/>
          <a:ln/>
        </p:spPr>
        <p:txBody>
          <a:bodyPr wrap="square" lIns="0" tIns="0" rIns="0" bIns="0" rtlCol="0" anchor="ctr"/>
          <a:lstStyle/>
          <a:p>
            <a:pPr indent="0" marL="0">
              <a:buNone/>
            </a:pPr>
            <a:r>
              <a:rPr lang="en-US" sz="3100" b="1" dirty="0">
                <a:solidFill>
                  <a:srgbClr val="1E2A38"/>
                </a:solidFill>
                <a:latin typeface="Meiryo" pitchFamily="34" charset="0"/>
                <a:ea typeface="Meiryo" pitchFamily="34" charset="-122"/>
                <a:cs typeface="Meiryo" pitchFamily="34" charset="-120"/>
              </a:rPr>
              <a:t>2.65</a:t>
            </a:r>
            <a:pPr indent="0" marL="0">
              <a:buNone/>
            </a:pPr>
            <a:r>
              <a:rPr lang="en-US" sz="1400" b="1" dirty="0">
                <a:solidFill>
                  <a:srgbClr val="1E2A38"/>
                </a:solidFill>
                <a:latin typeface="Meiryo" pitchFamily="34" charset="0"/>
                <a:ea typeface="Meiryo" pitchFamily="34" charset="-122"/>
                <a:cs typeface="Meiryo" pitchFamily="34" charset="-120"/>
              </a:rPr>
              <a:t>億円</a:t>
            </a:r>
            <a:endParaRPr lang="en-US" sz="3100" dirty="0"/>
          </a:p>
        </p:txBody>
      </p:sp>
      <p:sp>
        <p:nvSpPr>
          <p:cNvPr id="18" name="Text 16"/>
          <p:cNvSpPr/>
          <p:nvPr/>
        </p:nvSpPr>
        <p:spPr>
          <a:xfrm>
            <a:off x="640080" y="4005072"/>
            <a:ext cx="274320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営業利益2.00＋減価償却0.65</a:t>
            </a:r>
            <a:endParaRPr lang="en-US" sz="1000" dirty="0"/>
          </a:p>
        </p:txBody>
      </p:sp>
      <p:sp>
        <p:nvSpPr>
          <p:cNvPr id="19" name="Text 17"/>
          <p:cNvSpPr/>
          <p:nvPr/>
        </p:nvSpPr>
        <p:spPr>
          <a:xfrm>
            <a:off x="3611880" y="3246120"/>
            <a:ext cx="274320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ネットデット / EBITDA</a:t>
            </a:r>
            <a:endParaRPr lang="en-US" sz="1100" dirty="0"/>
          </a:p>
        </p:txBody>
      </p:sp>
      <p:sp>
        <p:nvSpPr>
          <p:cNvPr id="20" name="Text 18"/>
          <p:cNvSpPr/>
          <p:nvPr/>
        </p:nvSpPr>
        <p:spPr>
          <a:xfrm>
            <a:off x="3611880" y="3483864"/>
            <a:ext cx="2743200" cy="502920"/>
          </a:xfrm>
          <a:prstGeom prst="rect">
            <a:avLst/>
          </a:prstGeom>
          <a:noFill/>
          <a:ln/>
        </p:spPr>
        <p:txBody>
          <a:bodyPr wrap="square" lIns="0" tIns="0" rIns="0" bIns="0" rtlCol="0" anchor="ctr"/>
          <a:lstStyle/>
          <a:p>
            <a:pPr indent="0" marL="0">
              <a:buNone/>
            </a:pPr>
            <a:r>
              <a:rPr lang="en-US" sz="3100" b="1" dirty="0">
                <a:solidFill>
                  <a:srgbClr val="8A2E26"/>
                </a:solidFill>
                <a:latin typeface="Meiryo" pitchFamily="34" charset="0"/>
                <a:ea typeface="Meiryo" pitchFamily="34" charset="-122"/>
                <a:cs typeface="Meiryo" pitchFamily="34" charset="-120"/>
              </a:rPr>
              <a:t>4.2</a:t>
            </a:r>
            <a:pPr indent="0" marL="0">
              <a:buNone/>
            </a:pPr>
            <a:r>
              <a:rPr lang="en-US" sz="1400" b="1" dirty="0">
                <a:solidFill>
                  <a:srgbClr val="8A2E26"/>
                </a:solidFill>
                <a:latin typeface="Meiryo" pitchFamily="34" charset="0"/>
                <a:ea typeface="Meiryo" pitchFamily="34" charset="-122"/>
                <a:cs typeface="Meiryo" pitchFamily="34" charset="-120"/>
              </a:rPr>
              <a:t>倍</a:t>
            </a:r>
            <a:endParaRPr lang="en-US" sz="3100" dirty="0"/>
          </a:p>
        </p:txBody>
      </p:sp>
      <p:sp>
        <p:nvSpPr>
          <p:cNvPr id="21" name="Text 19"/>
          <p:cNvSpPr/>
          <p:nvPr/>
        </p:nvSpPr>
        <p:spPr>
          <a:xfrm>
            <a:off x="3611880" y="4005072"/>
            <a:ext cx="274320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取引前</a:t>
            </a:r>
            <a:endParaRPr lang="en-US" sz="1000" dirty="0"/>
          </a:p>
        </p:txBody>
      </p:sp>
      <p:sp>
        <p:nvSpPr>
          <p:cNvPr id="22" name="Text 20"/>
          <p:cNvSpPr/>
          <p:nvPr/>
        </p:nvSpPr>
        <p:spPr>
          <a:xfrm>
            <a:off x="6583680" y="3246120"/>
            <a:ext cx="274320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返済前フリーCF</a:t>
            </a:r>
            <a:endParaRPr lang="en-US" sz="1100" dirty="0"/>
          </a:p>
        </p:txBody>
      </p:sp>
      <p:sp>
        <p:nvSpPr>
          <p:cNvPr id="23" name="Text 21"/>
          <p:cNvSpPr/>
          <p:nvPr/>
        </p:nvSpPr>
        <p:spPr>
          <a:xfrm>
            <a:off x="6583680" y="3483864"/>
            <a:ext cx="2743200" cy="502920"/>
          </a:xfrm>
          <a:prstGeom prst="rect">
            <a:avLst/>
          </a:prstGeom>
          <a:noFill/>
          <a:ln/>
        </p:spPr>
        <p:txBody>
          <a:bodyPr wrap="square" lIns="0" tIns="0" rIns="0" bIns="0" rtlCol="0" anchor="ctr"/>
          <a:lstStyle/>
          <a:p>
            <a:pPr indent="0" marL="0">
              <a:buNone/>
            </a:pPr>
            <a:r>
              <a:rPr lang="en-US" sz="3100" b="1" dirty="0">
                <a:solidFill>
                  <a:srgbClr val="1E2A38"/>
                </a:solidFill>
                <a:latin typeface="Meiryo" pitchFamily="34" charset="0"/>
                <a:ea typeface="Meiryo" pitchFamily="34" charset="-122"/>
                <a:cs typeface="Meiryo" pitchFamily="34" charset="-120"/>
              </a:rPr>
              <a:t>1.77</a:t>
            </a:r>
            <a:pPr indent="0" marL="0">
              <a:buNone/>
            </a:pPr>
            <a:r>
              <a:rPr lang="en-US" sz="1400" b="1" dirty="0">
                <a:solidFill>
                  <a:srgbClr val="1E2A38"/>
                </a:solidFill>
                <a:latin typeface="Meiryo" pitchFamily="34" charset="0"/>
                <a:ea typeface="Meiryo" pitchFamily="34" charset="-122"/>
                <a:cs typeface="Meiryo" pitchFamily="34" charset="-120"/>
              </a:rPr>
              <a:t>億円</a:t>
            </a:r>
            <a:endParaRPr lang="en-US" sz="3100" dirty="0"/>
          </a:p>
        </p:txBody>
      </p:sp>
      <p:sp>
        <p:nvSpPr>
          <p:cNvPr id="24" name="Text 22"/>
          <p:cNvSpPr/>
          <p:nvPr/>
        </p:nvSpPr>
        <p:spPr>
          <a:xfrm>
            <a:off x="6583680" y="4005072"/>
            <a:ext cx="274320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設備投資0.75億控除後</a:t>
            </a:r>
            <a:endParaRPr lang="en-US" sz="1000" dirty="0"/>
          </a:p>
        </p:txBody>
      </p:sp>
      <p:sp>
        <p:nvSpPr>
          <p:cNvPr id="25" name="Text 23"/>
          <p:cNvSpPr/>
          <p:nvPr/>
        </p:nvSpPr>
        <p:spPr>
          <a:xfrm>
            <a:off x="9555480" y="3246120"/>
            <a:ext cx="201168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売上成長</a:t>
            </a:r>
            <a:endParaRPr lang="en-US" sz="1100" dirty="0"/>
          </a:p>
        </p:txBody>
      </p:sp>
      <p:sp>
        <p:nvSpPr>
          <p:cNvPr id="26" name="Text 24"/>
          <p:cNvSpPr/>
          <p:nvPr/>
        </p:nvSpPr>
        <p:spPr>
          <a:xfrm>
            <a:off x="9555480" y="3483864"/>
            <a:ext cx="2011680" cy="502920"/>
          </a:xfrm>
          <a:prstGeom prst="rect">
            <a:avLst/>
          </a:prstGeom>
          <a:noFill/>
          <a:ln/>
        </p:spPr>
        <p:txBody>
          <a:bodyPr wrap="square" lIns="0" tIns="0" rIns="0" bIns="0" rtlCol="0" anchor="ctr"/>
          <a:lstStyle/>
          <a:p>
            <a:pPr indent="0" marL="0">
              <a:buNone/>
            </a:pPr>
            <a:r>
              <a:rPr lang="en-US" sz="3100" b="1" dirty="0">
                <a:solidFill>
                  <a:srgbClr val="2C6A4E"/>
                </a:solidFill>
                <a:latin typeface="Meiryo" pitchFamily="34" charset="0"/>
                <a:ea typeface="Meiryo" pitchFamily="34" charset="-122"/>
                <a:cs typeface="Meiryo" pitchFamily="34" charset="-120"/>
              </a:rPr>
              <a:t>+18.8</a:t>
            </a:r>
            <a:pPr indent="0" marL="0">
              <a:buNone/>
            </a:pPr>
            <a:r>
              <a:rPr lang="en-US" sz="1400" b="1" dirty="0">
                <a:solidFill>
                  <a:srgbClr val="2C6A4E"/>
                </a:solidFill>
                <a:latin typeface="Meiryo" pitchFamily="34" charset="0"/>
                <a:ea typeface="Meiryo" pitchFamily="34" charset="-122"/>
                <a:cs typeface="Meiryo" pitchFamily="34" charset="-120"/>
              </a:rPr>
              <a:t>%</a:t>
            </a:r>
            <a:endParaRPr lang="en-US" sz="3100" dirty="0"/>
          </a:p>
        </p:txBody>
      </p:sp>
      <p:sp>
        <p:nvSpPr>
          <p:cNvPr id="27" name="Text 25"/>
          <p:cNvSpPr/>
          <p:nvPr/>
        </p:nvSpPr>
        <p:spPr>
          <a:xfrm>
            <a:off x="9555480" y="4005072"/>
            <a:ext cx="201168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第10期実績</a:t>
            </a:r>
            <a:endParaRPr lang="en-US" sz="1000" dirty="0"/>
          </a:p>
        </p:txBody>
      </p:sp>
      <p:sp>
        <p:nvSpPr>
          <p:cNvPr id="28" name="Shape 26"/>
          <p:cNvSpPr/>
          <p:nvPr/>
        </p:nvSpPr>
        <p:spPr>
          <a:xfrm>
            <a:off x="640080" y="4434840"/>
            <a:ext cx="10881360" cy="1371600"/>
          </a:xfrm>
          <a:prstGeom prst="roundRect">
            <a:avLst>
              <a:gd name="adj" fmla="val 4000"/>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29" name="Text 27"/>
          <p:cNvSpPr/>
          <p:nvPr/>
        </p:nvSpPr>
        <p:spPr>
          <a:xfrm>
            <a:off x="960120" y="4617720"/>
            <a:ext cx="10241280" cy="320040"/>
          </a:xfrm>
          <a:prstGeom prst="rect">
            <a:avLst/>
          </a:prstGeom>
          <a:noFill/>
          <a:ln/>
        </p:spPr>
        <p:txBody>
          <a:bodyPr wrap="square" lIns="0" tIns="0" rIns="0" bIns="0" rtlCol="0" anchor="ctr"/>
          <a:lstStyle/>
          <a:p>
            <a:pPr indent="0" marL="0">
              <a:buNone/>
            </a:pPr>
            <a:r>
              <a:rPr lang="en-US" sz="1400" b="1" dirty="0">
                <a:solidFill>
                  <a:srgbClr val="2C6A4E"/>
                </a:solidFill>
                <a:latin typeface="Meiryo" pitchFamily="34" charset="0"/>
                <a:ea typeface="Meiryo" pitchFamily="34" charset="-122"/>
                <a:cs typeface="Meiryo" pitchFamily="34" charset="-120"/>
              </a:rPr>
              <a:t>この1.14億の裏付けを、店舗別・部門別のPLでご提出します</a:t>
            </a:r>
            <a:endParaRPr lang="en-US" sz="1400" dirty="0"/>
          </a:p>
        </p:txBody>
      </p:sp>
      <p:sp>
        <p:nvSpPr>
          <p:cNvPr id="30" name="Text 28"/>
          <p:cNvSpPr/>
          <p:nvPr/>
        </p:nvSpPr>
        <p:spPr>
          <a:xfrm>
            <a:off x="960120" y="4956048"/>
            <a:ext cx="10241280" cy="73152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第10期は「スキマレンタル」の戦略的撤退を実行した期であり、固定資産除却損4,081万円を計上しています。撤退した不採算店舗が営業段階で抱えていた損失、および前年度末に開業したグレイドパーク渋谷・表参道の立ち上げ期の低稼働が、報告値を押し下げています。</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8"/>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SCHEME</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FFFFFF"/>
                </a:solidFill>
                <a:latin typeface="Meiryo" pitchFamily="34" charset="0"/>
                <a:ea typeface="Meiryo" pitchFamily="34" charset="-122"/>
                <a:cs typeface="Meiryo" pitchFamily="34" charset="-120"/>
              </a:rPr>
              <a:t>取引の全体像</a:t>
            </a:r>
            <a:endParaRPr lang="en-US" sz="2900" dirty="0"/>
          </a:p>
        </p:txBody>
      </p:sp>
      <p:sp>
        <p:nvSpPr>
          <p:cNvPr id="4" name="Shape 2"/>
          <p:cNvSpPr/>
          <p:nvPr/>
        </p:nvSpPr>
        <p:spPr>
          <a:xfrm>
            <a:off x="640080" y="1691640"/>
            <a:ext cx="1828800" cy="2286000"/>
          </a:xfrm>
          <a:prstGeom prst="roundRect">
            <a:avLst>
              <a:gd name="adj" fmla="val 3000"/>
            </a:avLst>
          </a:prstGeom>
          <a:solidFill>
            <a:srgbClr val="26333F"/>
          </a:solidFill>
          <a:ln w="25400">
            <a:solidFill>
              <a:srgbClr val="6E2639"/>
            </a:solidFill>
            <a:prstDash val="solid"/>
          </a:ln>
        </p:spPr>
      </p:sp>
      <p:sp>
        <p:nvSpPr>
          <p:cNvPr id="5" name="Text 3"/>
          <p:cNvSpPr/>
          <p:nvPr/>
        </p:nvSpPr>
        <p:spPr>
          <a:xfrm>
            <a:off x="804672" y="1874520"/>
            <a:ext cx="1508760" cy="457200"/>
          </a:xfrm>
          <a:prstGeom prst="rect">
            <a:avLst/>
          </a:prstGeom>
          <a:noFill/>
          <a:ln/>
        </p:spPr>
        <p:txBody>
          <a:bodyPr wrap="square" lIns="0" tIns="0" rIns="0" bIns="0" rtlCol="0" anchor="ctr"/>
          <a:lstStyle/>
          <a:p>
            <a:pPr indent="0" marL="0">
              <a:buNone/>
            </a:pPr>
            <a:r>
              <a:rPr lang="en-US" sz="1150" b="1" dirty="0">
                <a:solidFill>
                  <a:srgbClr val="A85C6E"/>
                </a:solidFill>
                <a:latin typeface="Meiryo" pitchFamily="34" charset="0"/>
                <a:ea typeface="Meiryo" pitchFamily="34" charset="-122"/>
                <a:cs typeface="Meiryo" pitchFamily="34" charset="-120"/>
              </a:rPr>
              <a:t>① 第三者割当増資</a:t>
            </a:r>
            <a:endParaRPr lang="en-US" sz="1150" dirty="0"/>
          </a:p>
        </p:txBody>
      </p:sp>
      <p:sp>
        <p:nvSpPr>
          <p:cNvPr id="6" name="Text 4"/>
          <p:cNvSpPr/>
          <p:nvPr/>
        </p:nvSpPr>
        <p:spPr>
          <a:xfrm>
            <a:off x="804672" y="2377440"/>
            <a:ext cx="1508760"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23.60億円</a:t>
            </a:r>
            <a:endParaRPr lang="en-US" sz="1800" dirty="0"/>
          </a:p>
        </p:txBody>
      </p:sp>
      <p:sp>
        <p:nvSpPr>
          <p:cNvPr id="7" name="Text 5"/>
          <p:cNvSpPr/>
          <p:nvPr/>
        </p:nvSpPr>
        <p:spPr>
          <a:xfrm>
            <a:off x="804672" y="2816352"/>
            <a:ext cx="1508760"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中野ファンド 8.43億</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パートナー 15.17億</a:t>
            </a:r>
            <a:endParaRPr lang="en-US" sz="950" dirty="0"/>
          </a:p>
        </p:txBody>
      </p:sp>
      <p:sp>
        <p:nvSpPr>
          <p:cNvPr id="8" name="Shape 6"/>
          <p:cNvSpPr/>
          <p:nvPr/>
        </p:nvSpPr>
        <p:spPr>
          <a:xfrm>
            <a:off x="3703320" y="1691640"/>
            <a:ext cx="1828800" cy="2286000"/>
          </a:xfrm>
          <a:prstGeom prst="roundRect">
            <a:avLst>
              <a:gd name="adj" fmla="val 3000"/>
            </a:avLst>
          </a:prstGeom>
          <a:solidFill>
            <a:srgbClr val="26333F"/>
          </a:solidFill>
          <a:ln w="12700">
            <a:solidFill>
              <a:srgbClr val="3A4854"/>
            </a:solidFill>
            <a:prstDash val="solid"/>
          </a:ln>
        </p:spPr>
      </p:sp>
      <p:sp>
        <p:nvSpPr>
          <p:cNvPr id="9" name="Text 7"/>
          <p:cNvSpPr/>
          <p:nvPr/>
        </p:nvSpPr>
        <p:spPr>
          <a:xfrm>
            <a:off x="3867912" y="1874520"/>
            <a:ext cx="1508760" cy="457200"/>
          </a:xfrm>
          <a:prstGeom prst="rect">
            <a:avLst/>
          </a:prstGeom>
          <a:noFill/>
          <a:ln/>
        </p:spPr>
        <p:txBody>
          <a:bodyPr wrap="square" lIns="0" tIns="0" rIns="0" bIns="0" rtlCol="0" anchor="ctr"/>
          <a:lstStyle/>
          <a:p>
            <a:pPr indent="0" marL="0">
              <a:buNone/>
            </a:pPr>
            <a:r>
              <a:rPr lang="en-US" sz="1150" b="1" dirty="0">
                <a:solidFill>
                  <a:srgbClr val="C3CDD6"/>
                </a:solidFill>
                <a:latin typeface="Meiryo" pitchFamily="34" charset="0"/>
                <a:ea typeface="Meiryo" pitchFamily="34" charset="-122"/>
                <a:cs typeface="Meiryo" pitchFamily="34" charset="-120"/>
              </a:rPr>
              <a:t>② ビジョン借入の返済</a:t>
            </a:r>
            <a:endParaRPr lang="en-US" sz="1150" dirty="0"/>
          </a:p>
        </p:txBody>
      </p:sp>
      <p:sp>
        <p:nvSpPr>
          <p:cNvPr id="10" name="Text 8"/>
          <p:cNvSpPr/>
          <p:nvPr/>
        </p:nvSpPr>
        <p:spPr>
          <a:xfrm>
            <a:off x="3867912" y="2377440"/>
            <a:ext cx="1508760"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7.90億円</a:t>
            </a:r>
            <a:endParaRPr lang="en-US" sz="1800" dirty="0"/>
          </a:p>
        </p:txBody>
      </p:sp>
      <p:sp>
        <p:nvSpPr>
          <p:cNvPr id="11" name="Text 9"/>
          <p:cNvSpPr/>
          <p:nvPr/>
        </p:nvSpPr>
        <p:spPr>
          <a:xfrm>
            <a:off x="3867912" y="2816352"/>
            <a:ext cx="1508760"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額面満額・全額現金</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資本・債権関係を完全解消</a:t>
            </a:r>
            <a:endParaRPr lang="en-US" sz="950" dirty="0"/>
          </a:p>
        </p:txBody>
      </p:sp>
      <p:sp>
        <p:nvSpPr>
          <p:cNvPr id="12" name="Shape 10"/>
          <p:cNvSpPr/>
          <p:nvPr/>
        </p:nvSpPr>
        <p:spPr>
          <a:xfrm>
            <a:off x="6766560" y="1691640"/>
            <a:ext cx="1828800" cy="2286000"/>
          </a:xfrm>
          <a:prstGeom prst="roundRect">
            <a:avLst>
              <a:gd name="adj" fmla="val 3000"/>
            </a:avLst>
          </a:prstGeom>
          <a:solidFill>
            <a:srgbClr val="26333F"/>
          </a:solidFill>
          <a:ln w="12700">
            <a:solidFill>
              <a:srgbClr val="3A4854"/>
            </a:solidFill>
            <a:prstDash val="solid"/>
          </a:ln>
        </p:spPr>
      </p:sp>
      <p:sp>
        <p:nvSpPr>
          <p:cNvPr id="13" name="Text 11"/>
          <p:cNvSpPr/>
          <p:nvPr/>
        </p:nvSpPr>
        <p:spPr>
          <a:xfrm>
            <a:off x="6931152" y="1874520"/>
            <a:ext cx="1508760" cy="457200"/>
          </a:xfrm>
          <a:prstGeom prst="rect">
            <a:avLst/>
          </a:prstGeom>
          <a:noFill/>
          <a:ln/>
        </p:spPr>
        <p:txBody>
          <a:bodyPr wrap="square" lIns="0" tIns="0" rIns="0" bIns="0" rtlCol="0" anchor="ctr"/>
          <a:lstStyle/>
          <a:p>
            <a:pPr indent="0" marL="0">
              <a:buNone/>
            </a:pPr>
            <a:r>
              <a:rPr lang="en-US" sz="1150" b="1" dirty="0">
                <a:solidFill>
                  <a:srgbClr val="C3CDD6"/>
                </a:solidFill>
                <a:latin typeface="Meiryo" pitchFamily="34" charset="0"/>
                <a:ea typeface="Meiryo" pitchFamily="34" charset="-122"/>
                <a:cs typeface="Meiryo" pitchFamily="34" charset="-120"/>
              </a:rPr>
              <a:t>③ 自己株式取得</a:t>
            </a:r>
            <a:endParaRPr lang="en-US" sz="1150" dirty="0"/>
          </a:p>
        </p:txBody>
      </p:sp>
      <p:sp>
        <p:nvSpPr>
          <p:cNvPr id="14" name="Text 12"/>
          <p:cNvSpPr/>
          <p:nvPr/>
        </p:nvSpPr>
        <p:spPr>
          <a:xfrm>
            <a:off x="6931152" y="2377440"/>
            <a:ext cx="1508760"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13.25億円</a:t>
            </a:r>
            <a:endParaRPr lang="en-US" sz="1800" dirty="0"/>
          </a:p>
        </p:txBody>
      </p:sp>
      <p:sp>
        <p:nvSpPr>
          <p:cNvPr id="15" name="Text 13"/>
          <p:cNvSpPr/>
          <p:nvPr/>
        </p:nvSpPr>
        <p:spPr>
          <a:xfrm>
            <a:off x="6931152" y="2816352"/>
            <a:ext cx="1508760"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既存株主7社127,616株</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1株10,383円で全株買取</a:t>
            </a:r>
            <a:endParaRPr lang="en-US" sz="950" dirty="0"/>
          </a:p>
        </p:txBody>
      </p:sp>
      <p:sp>
        <p:nvSpPr>
          <p:cNvPr id="16" name="Shape 14"/>
          <p:cNvSpPr/>
          <p:nvPr/>
        </p:nvSpPr>
        <p:spPr>
          <a:xfrm>
            <a:off x="9829800" y="1691640"/>
            <a:ext cx="1828800" cy="2286000"/>
          </a:xfrm>
          <a:prstGeom prst="roundRect">
            <a:avLst>
              <a:gd name="adj" fmla="val 3000"/>
            </a:avLst>
          </a:prstGeom>
          <a:solidFill>
            <a:srgbClr val="26333F"/>
          </a:solidFill>
          <a:ln w="12700">
            <a:solidFill>
              <a:srgbClr val="3A4854"/>
            </a:solidFill>
            <a:prstDash val="solid"/>
          </a:ln>
        </p:spPr>
      </p:sp>
      <p:sp>
        <p:nvSpPr>
          <p:cNvPr id="17" name="Text 15"/>
          <p:cNvSpPr/>
          <p:nvPr/>
        </p:nvSpPr>
        <p:spPr>
          <a:xfrm>
            <a:off x="9994392" y="1874520"/>
            <a:ext cx="1508760" cy="457200"/>
          </a:xfrm>
          <a:prstGeom prst="rect">
            <a:avLst/>
          </a:prstGeom>
          <a:noFill/>
          <a:ln/>
        </p:spPr>
        <p:txBody>
          <a:bodyPr wrap="square" lIns="0" tIns="0" rIns="0" bIns="0" rtlCol="0" anchor="ctr"/>
          <a:lstStyle/>
          <a:p>
            <a:pPr indent="0" marL="0">
              <a:buNone/>
            </a:pPr>
            <a:r>
              <a:rPr lang="en-US" sz="1150" b="1" dirty="0">
                <a:solidFill>
                  <a:srgbClr val="C3CDD6"/>
                </a:solidFill>
                <a:latin typeface="Meiryo" pitchFamily="34" charset="0"/>
                <a:ea typeface="Meiryo" pitchFamily="34" charset="-122"/>
                <a:cs typeface="Meiryo" pitchFamily="34" charset="-120"/>
              </a:rPr>
              <a:t>④ 手元資金</a:t>
            </a:r>
            <a:endParaRPr lang="en-US" sz="1150" dirty="0"/>
          </a:p>
        </p:txBody>
      </p:sp>
      <p:sp>
        <p:nvSpPr>
          <p:cNvPr id="18" name="Text 16"/>
          <p:cNvSpPr/>
          <p:nvPr/>
        </p:nvSpPr>
        <p:spPr>
          <a:xfrm>
            <a:off x="9994392" y="2377440"/>
            <a:ext cx="1508760"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2.00億円</a:t>
            </a:r>
            <a:endParaRPr lang="en-US" sz="1800" dirty="0"/>
          </a:p>
        </p:txBody>
      </p:sp>
      <p:sp>
        <p:nvSpPr>
          <p:cNvPr id="19" name="Text 17"/>
          <p:cNvSpPr/>
          <p:nvPr/>
        </p:nvSpPr>
        <p:spPr>
          <a:xfrm>
            <a:off x="9994392" y="2816352"/>
            <a:ext cx="1508760"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運転資金として社内に留保</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現預金は2.40億へ</a:t>
            </a:r>
            <a:endParaRPr lang="en-US" sz="950" dirty="0"/>
          </a:p>
        </p:txBody>
      </p:sp>
      <p:sp>
        <p:nvSpPr>
          <p:cNvPr id="20" name="Text 18"/>
          <p:cNvSpPr/>
          <p:nvPr/>
        </p:nvSpPr>
        <p:spPr>
          <a:xfrm>
            <a:off x="2514600" y="2697480"/>
            <a:ext cx="457200" cy="365760"/>
          </a:xfrm>
          <a:prstGeom prst="rect">
            <a:avLst/>
          </a:prstGeom>
          <a:noFill/>
          <a:ln/>
        </p:spPr>
        <p:txBody>
          <a:bodyPr wrap="square" lIns="0" tIns="0" rIns="0" bIns="0" rtlCol="0" anchor="ctr"/>
          <a:lstStyle/>
          <a:p>
            <a:pPr algn="ctr" indent="0" marL="0">
              <a:buNone/>
            </a:pPr>
            <a:r>
              <a:rPr lang="en-US" sz="1300" dirty="0">
                <a:solidFill>
                  <a:srgbClr val="6E2639"/>
                </a:solidFill>
                <a:latin typeface="Meiryo" pitchFamily="34" charset="0"/>
                <a:ea typeface="Meiryo" pitchFamily="34" charset="-122"/>
                <a:cs typeface="Meiryo" pitchFamily="34" charset="-120"/>
              </a:rPr>
              <a:t>▶</a:t>
            </a:r>
            <a:endParaRPr lang="en-US" sz="1300" dirty="0"/>
          </a:p>
        </p:txBody>
      </p:sp>
      <p:sp>
        <p:nvSpPr>
          <p:cNvPr id="21" name="Text 19"/>
          <p:cNvSpPr/>
          <p:nvPr/>
        </p:nvSpPr>
        <p:spPr>
          <a:xfrm>
            <a:off x="5577840" y="2697480"/>
            <a:ext cx="457200" cy="365760"/>
          </a:xfrm>
          <a:prstGeom prst="rect">
            <a:avLst/>
          </a:prstGeom>
          <a:noFill/>
          <a:ln/>
        </p:spPr>
        <p:txBody>
          <a:bodyPr wrap="square" lIns="0" tIns="0" rIns="0" bIns="0" rtlCol="0" anchor="ctr"/>
          <a:lstStyle/>
          <a:p>
            <a:pPr algn="ctr" indent="0" marL="0">
              <a:buNone/>
            </a:pPr>
            <a:r>
              <a:rPr lang="en-US" sz="1300" dirty="0">
                <a:solidFill>
                  <a:srgbClr val="6E2639"/>
                </a:solidFill>
                <a:latin typeface="Meiryo" pitchFamily="34" charset="0"/>
                <a:ea typeface="Meiryo" pitchFamily="34" charset="-122"/>
                <a:cs typeface="Meiryo" pitchFamily="34" charset="-120"/>
              </a:rPr>
              <a:t>▶</a:t>
            </a:r>
            <a:endParaRPr lang="en-US" sz="1300" dirty="0"/>
          </a:p>
        </p:txBody>
      </p:sp>
      <p:sp>
        <p:nvSpPr>
          <p:cNvPr id="22" name="Text 20"/>
          <p:cNvSpPr/>
          <p:nvPr/>
        </p:nvSpPr>
        <p:spPr>
          <a:xfrm>
            <a:off x="8641080" y="2697480"/>
            <a:ext cx="457200" cy="365760"/>
          </a:xfrm>
          <a:prstGeom prst="rect">
            <a:avLst/>
          </a:prstGeom>
          <a:noFill/>
          <a:ln/>
        </p:spPr>
        <p:txBody>
          <a:bodyPr wrap="square" lIns="0" tIns="0" rIns="0" bIns="0" rtlCol="0" anchor="ctr"/>
          <a:lstStyle/>
          <a:p>
            <a:pPr algn="ctr" indent="0" marL="0">
              <a:buNone/>
            </a:pPr>
            <a:r>
              <a:rPr lang="en-US" sz="1300" dirty="0">
                <a:solidFill>
                  <a:srgbClr val="6E2639"/>
                </a:solidFill>
                <a:latin typeface="Meiryo" pitchFamily="34" charset="0"/>
                <a:ea typeface="Meiryo" pitchFamily="34" charset="-122"/>
                <a:cs typeface="Meiryo" pitchFamily="34" charset="-120"/>
              </a:rPr>
              <a:t>▶</a:t>
            </a:r>
            <a:endParaRPr lang="en-US" sz="1300" dirty="0"/>
          </a:p>
        </p:txBody>
      </p:sp>
      <p:sp>
        <p:nvSpPr>
          <p:cNvPr id="23" name="Shape 21"/>
          <p:cNvSpPr/>
          <p:nvPr/>
        </p:nvSpPr>
        <p:spPr>
          <a:xfrm>
            <a:off x="640080" y="4251960"/>
            <a:ext cx="10881360" cy="1600200"/>
          </a:xfrm>
          <a:prstGeom prst="roundRect">
            <a:avLst>
              <a:gd name="adj" fmla="val 3429"/>
            </a:avLst>
          </a:prstGeom>
          <a:solidFill>
            <a:srgbClr val="26333F"/>
          </a:solidFill>
          <a:ln w="12700">
            <a:solidFill>
              <a:srgbClr val="3A4854"/>
            </a:solidFill>
            <a:prstDash val="solid"/>
          </a:ln>
        </p:spPr>
      </p:sp>
      <p:sp>
        <p:nvSpPr>
          <p:cNvPr id="24" name="Text 22"/>
          <p:cNvSpPr/>
          <p:nvPr/>
        </p:nvSpPr>
        <p:spPr>
          <a:xfrm>
            <a:off x="914400" y="4434840"/>
            <a:ext cx="4572000" cy="32004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取引後の株主は2者のみ</a:t>
            </a:r>
            <a:endParaRPr lang="en-US" sz="1500" dirty="0"/>
          </a:p>
        </p:txBody>
      </p:sp>
      <p:sp>
        <p:nvSpPr>
          <p:cNvPr id="25" name="Text 23"/>
          <p:cNvSpPr/>
          <p:nvPr/>
        </p:nvSpPr>
        <p:spPr>
          <a:xfrm>
            <a:off x="914400" y="4892040"/>
            <a:ext cx="2194560" cy="274320"/>
          </a:xfrm>
          <a:prstGeom prst="rect">
            <a:avLst/>
          </a:prstGeom>
          <a:noFill/>
          <a:ln/>
        </p:spPr>
        <p:txBody>
          <a:bodyPr wrap="square" lIns="0" tIns="0" rIns="0" bIns="0" rtlCol="0" anchor="ctr"/>
          <a:lstStyle/>
          <a:p>
            <a:pPr indent="0" marL="0">
              <a:buNone/>
            </a:pPr>
            <a:r>
              <a:rPr lang="en-US" sz="1200" dirty="0">
                <a:solidFill>
                  <a:srgbClr val="93A2AF"/>
                </a:solidFill>
                <a:latin typeface="Meiryo" pitchFamily="34" charset="0"/>
                <a:ea typeface="Meiryo" pitchFamily="34" charset="-122"/>
                <a:cs typeface="Meiryo" pitchFamily="34" charset="-120"/>
              </a:rPr>
              <a:t>中野陣営</a:t>
            </a:r>
            <a:endParaRPr lang="en-US" sz="1200" dirty="0"/>
          </a:p>
        </p:txBody>
      </p:sp>
      <p:sp>
        <p:nvSpPr>
          <p:cNvPr id="26" name="Text 24"/>
          <p:cNvSpPr/>
          <p:nvPr/>
        </p:nvSpPr>
        <p:spPr>
          <a:xfrm>
            <a:off x="914400" y="5102352"/>
            <a:ext cx="5029200" cy="402336"/>
          </a:xfrm>
          <a:prstGeom prst="rect">
            <a:avLst/>
          </a:prstGeom>
          <a:noFill/>
          <a:ln/>
        </p:spPr>
        <p:txBody>
          <a:bodyPr wrap="square" lIns="0" tIns="0" rIns="0" bIns="0" rtlCol="0" anchor="ctr"/>
          <a:lstStyle/>
          <a:p>
            <a:pPr indent="0" marL="0">
              <a:buNone/>
            </a:pPr>
            <a:r>
              <a:rPr lang="en-US" sz="2400" b="1" dirty="0">
                <a:solidFill>
                  <a:srgbClr val="A85C6E"/>
                </a:solidFill>
                <a:latin typeface="Meiryo" pitchFamily="34" charset="0"/>
                <a:ea typeface="Meiryo" pitchFamily="34" charset="-122"/>
                <a:cs typeface="Meiryo" pitchFamily="34" charset="-120"/>
              </a:rPr>
              <a:t>50.000%</a:t>
            </a:r>
            <a:endParaRPr lang="en-US" sz="2400" dirty="0"/>
          </a:p>
        </p:txBody>
      </p:sp>
      <p:sp>
        <p:nvSpPr>
          <p:cNvPr id="27" name="Text 25"/>
          <p:cNvSpPr/>
          <p:nvPr/>
        </p:nvSpPr>
        <p:spPr>
          <a:xfrm>
            <a:off x="914400" y="5486400"/>
            <a:ext cx="5029200" cy="274320"/>
          </a:xfrm>
          <a:prstGeom prst="rect">
            <a:avLst/>
          </a:prstGeom>
          <a:noFill/>
          <a:ln/>
        </p:spPr>
        <p:txBody>
          <a:bodyPr wrap="square" lIns="0" tIns="0" rIns="0" bIns="0" rtlCol="0" anchor="ctr"/>
          <a:lstStyle/>
          <a:p>
            <a:pPr indent="0" marL="0">
              <a:buNone/>
            </a:pPr>
            <a:r>
              <a:rPr lang="en-US" sz="1000" dirty="0">
                <a:solidFill>
                  <a:srgbClr val="93A2AF"/>
                </a:solidFill>
                <a:latin typeface="Meiryo" pitchFamily="34" charset="0"/>
                <a:ea typeface="Meiryo" pitchFamily="34" charset="-122"/>
                <a:cs typeface="Meiryo" pitchFamily="34" charset="-120"/>
              </a:rPr>
              <a:t>中野邦人 65,000株 ＋ 中野ファンド 81,143株</a:t>
            </a:r>
            <a:endParaRPr lang="en-US" sz="1000" dirty="0"/>
          </a:p>
        </p:txBody>
      </p:sp>
      <p:sp>
        <p:nvSpPr>
          <p:cNvPr id="28" name="Text 26"/>
          <p:cNvSpPr/>
          <p:nvPr/>
        </p:nvSpPr>
        <p:spPr>
          <a:xfrm>
            <a:off x="6263640" y="4892040"/>
            <a:ext cx="2194560" cy="274320"/>
          </a:xfrm>
          <a:prstGeom prst="rect">
            <a:avLst/>
          </a:prstGeom>
          <a:noFill/>
          <a:ln/>
        </p:spPr>
        <p:txBody>
          <a:bodyPr wrap="square" lIns="0" tIns="0" rIns="0" bIns="0" rtlCol="0" anchor="ctr"/>
          <a:lstStyle/>
          <a:p>
            <a:pPr indent="0" marL="0">
              <a:buNone/>
            </a:pPr>
            <a:r>
              <a:rPr lang="en-US" sz="1200" dirty="0">
                <a:solidFill>
                  <a:srgbClr val="93A2AF"/>
                </a:solidFill>
                <a:latin typeface="Meiryo" pitchFamily="34" charset="0"/>
                <a:ea typeface="Meiryo" pitchFamily="34" charset="-122"/>
                <a:cs typeface="Meiryo" pitchFamily="34" charset="-120"/>
              </a:rPr>
              <a:t>パートナー</a:t>
            </a:r>
            <a:endParaRPr lang="en-US" sz="1200" dirty="0"/>
          </a:p>
        </p:txBody>
      </p:sp>
      <p:sp>
        <p:nvSpPr>
          <p:cNvPr id="29" name="Text 27"/>
          <p:cNvSpPr/>
          <p:nvPr/>
        </p:nvSpPr>
        <p:spPr>
          <a:xfrm>
            <a:off x="6263640" y="5102352"/>
            <a:ext cx="5029200" cy="402336"/>
          </a:xfrm>
          <a:prstGeom prst="rect">
            <a:avLst/>
          </a:prstGeom>
          <a:noFill/>
          <a:ln/>
        </p:spPr>
        <p:txBody>
          <a:bodyPr wrap="square" lIns="0" tIns="0" rIns="0" bIns="0" rtlCol="0" anchor="ctr"/>
          <a:lstStyle/>
          <a:p>
            <a:pPr indent="0" marL="0">
              <a:buNone/>
            </a:pPr>
            <a:r>
              <a:rPr lang="en-US" sz="2400" b="1" dirty="0">
                <a:solidFill>
                  <a:srgbClr val="8FB0CC"/>
                </a:solidFill>
                <a:latin typeface="Meiryo" pitchFamily="34" charset="0"/>
                <a:ea typeface="Meiryo" pitchFamily="34" charset="-122"/>
                <a:cs typeface="Meiryo" pitchFamily="34" charset="-120"/>
              </a:rPr>
              <a:t>50.000%</a:t>
            </a:r>
            <a:endParaRPr lang="en-US" sz="2400" dirty="0"/>
          </a:p>
        </p:txBody>
      </p:sp>
      <p:sp>
        <p:nvSpPr>
          <p:cNvPr id="30" name="Text 28"/>
          <p:cNvSpPr/>
          <p:nvPr/>
        </p:nvSpPr>
        <p:spPr>
          <a:xfrm>
            <a:off x="6263640" y="5486400"/>
            <a:ext cx="5029200" cy="274320"/>
          </a:xfrm>
          <a:prstGeom prst="rect">
            <a:avLst/>
          </a:prstGeom>
          <a:noFill/>
          <a:ln/>
        </p:spPr>
        <p:txBody>
          <a:bodyPr wrap="square" lIns="0" tIns="0" rIns="0" bIns="0" rtlCol="0" anchor="ctr"/>
          <a:lstStyle/>
          <a:p>
            <a:pPr indent="0" marL="0">
              <a:buNone/>
            </a:pPr>
            <a:r>
              <a:rPr lang="en-US" sz="1000" dirty="0">
                <a:solidFill>
                  <a:srgbClr val="93A2AF"/>
                </a:solidFill>
                <a:latin typeface="Meiryo" pitchFamily="34" charset="0"/>
                <a:ea typeface="Meiryo" pitchFamily="34" charset="-122"/>
                <a:cs typeface="Meiryo" pitchFamily="34" charset="-120"/>
              </a:rPr>
              <a:t>146,144株（ヒューリック／東京建物等）</a:t>
            </a:r>
            <a:endParaRPr lang="en-US" sz="1000" dirty="0"/>
          </a:p>
        </p:txBody>
      </p:sp>
      <p:sp>
        <p:nvSpPr>
          <p:cNvPr id="31" name="Text 29"/>
          <p:cNvSpPr/>
          <p:nvPr/>
        </p:nvSpPr>
        <p:spPr>
          <a:xfrm>
            <a:off x="640080" y="6053328"/>
            <a:ext cx="10881360" cy="274320"/>
          </a:xfrm>
          <a:prstGeom prst="rect">
            <a:avLst/>
          </a:prstGeom>
          <a:noFill/>
          <a:ln/>
        </p:spPr>
        <p:txBody>
          <a:bodyPr wrap="square" lIns="0" tIns="0" rIns="0" bIns="0" rtlCol="0" anchor="ctr"/>
          <a:lstStyle/>
          <a:p>
            <a:pPr indent="0" marL="0">
              <a:buNone/>
            </a:pPr>
            <a:r>
              <a:rPr lang="en-US" sz="1050" dirty="0">
                <a:solidFill>
                  <a:srgbClr val="7F8E9B"/>
                </a:solidFill>
                <a:latin typeface="Meiryo" pitchFamily="34" charset="0"/>
                <a:ea typeface="Meiryo" pitchFamily="34" charset="-122"/>
                <a:cs typeface="Meiryo" pitchFamily="34" charset="-120"/>
              </a:rPr>
              <a:t>既存株主7社（ビジョン・BOS・エアトリ・KUMA・フィル・ベクトル・アンビション）は全株を売却し、株主名簿から外れます</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資金の流れ</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1E2A38"/>
                </a:solidFill>
                <a:latin typeface="Meiryo" pitchFamily="34" charset="0"/>
                <a:ea typeface="Meiryo" pitchFamily="34" charset="-122"/>
                <a:cs typeface="Meiryo" pitchFamily="34" charset="-120"/>
              </a:rPr>
              <a:t>誰が、いくら、どこへ</a:t>
            </a:r>
            <a:endParaRPr lang="en-US" sz="2900" dirty="0"/>
          </a:p>
        </p:txBody>
      </p:sp>
      <p:sp>
        <p:nvSpPr>
          <p:cNvPr id="4" name="Shape 2"/>
          <p:cNvSpPr/>
          <p:nvPr/>
        </p:nvSpPr>
        <p:spPr>
          <a:xfrm>
            <a:off x="640080" y="1554480"/>
            <a:ext cx="5394960" cy="4206240"/>
          </a:xfrm>
          <a:prstGeom prst="roundRect">
            <a:avLst>
              <a:gd name="adj" fmla="val 1304"/>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Text 3"/>
          <p:cNvSpPr/>
          <p:nvPr/>
        </p:nvSpPr>
        <p:spPr>
          <a:xfrm>
            <a:off x="914400" y="1737360"/>
            <a:ext cx="4846320" cy="292608"/>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資金の出し手</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14400" y="2148840"/>
          <a:ext cx="4846320" cy="914400"/>
        </p:xfrm>
        <a:graphic>
          <a:graphicData uri="http://schemas.openxmlformats.org/drawingml/2006/table">
            <a:tbl>
              <a:tblPr/>
              <a:tblGrid>
                <a:gridCol w="1691640"/>
                <a:gridCol w="1143000"/>
                <a:gridCol w="2011680"/>
              </a:tblGrid>
              <a:tr h="384048">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出し手</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金額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方法</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84048">
                <a:tc>
                  <a:txBody>
                    <a:bodyPr/>
                    <a:lstStyle/>
                    <a:p>
                      <a:pPr indent="0" marL="0">
                        <a:buNone/>
                      </a:pPr>
                      <a:r>
                        <a:rPr lang="en-US" sz="1150" dirty="0">
                          <a:solidFill>
                            <a:srgbClr val="3D4E60"/>
                          </a:solidFill>
                          <a:latin typeface="Meiryo" pitchFamily="34" charset="0"/>
                          <a:ea typeface="Meiryo" pitchFamily="34" charset="-122"/>
                          <a:cs typeface="Meiryo" pitchFamily="34" charset="-120"/>
                        </a:rPr>
                        <a:t>中野ファンド</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8.43億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第三者割当増資</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dirty="0">
                          <a:solidFill>
                            <a:srgbClr val="3D4E60"/>
                          </a:solidFill>
                          <a:latin typeface="Meiryo" pitchFamily="34" charset="0"/>
                          <a:ea typeface="Meiryo" pitchFamily="34" charset="-122"/>
                          <a:cs typeface="Meiryo" pitchFamily="34" charset="-120"/>
                        </a:rPr>
                        <a:t>パートナー</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15.17億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第三者割当増資</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増資 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23.60億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dirty="0">
                          <a:solidFill>
                            <a:srgbClr val="3D4E60"/>
                          </a:solidFill>
                          <a:latin typeface="Meiryo" pitchFamily="34" charset="0"/>
                          <a:ea typeface="Meiryo" pitchFamily="34" charset="-122"/>
                          <a:cs typeface="Meiryo" pitchFamily="34" charset="-120"/>
                        </a:rPr>
                        <a:t>みずほ銀行</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（借換）</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既存借入3.69億の継続</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dirty="0">
                          <a:solidFill>
                            <a:srgbClr val="3D4E60"/>
                          </a:solidFill>
                          <a:latin typeface="Meiryo" pitchFamily="34" charset="0"/>
                          <a:ea typeface="Meiryo" pitchFamily="34" charset="-122"/>
                          <a:cs typeface="Meiryo" pitchFamily="34" charset="-120"/>
                        </a:rPr>
                        <a:t>みずほ銀行</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2.00億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運転資金枠（未実行）</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7" name="Text 4"/>
          <p:cNvSpPr/>
          <p:nvPr/>
        </p:nvSpPr>
        <p:spPr>
          <a:xfrm>
            <a:off x="914400" y="4892040"/>
            <a:ext cx="4846320" cy="685800"/>
          </a:xfrm>
          <a:prstGeom prst="rect">
            <a:avLst/>
          </a:prstGeom>
          <a:noFill/>
          <a:ln/>
        </p:spPr>
        <p:txBody>
          <a:bodyPr wrap="square" lIns="0" tIns="0" rIns="0" bIns="0" rtlCol="0" anchor="ctr"/>
          <a:lstStyle/>
          <a:p>
            <a:pPr indent="0" marL="0">
              <a:buNone/>
            </a:pPr>
            <a:r>
              <a:rPr lang="en-US" sz="1050" dirty="0">
                <a:solidFill>
                  <a:srgbClr val="6E2639"/>
                </a:solidFill>
                <a:latin typeface="Meiryo" pitchFamily="34" charset="0"/>
                <a:ea typeface="Meiryo" pitchFamily="34" charset="-122"/>
                <a:cs typeface="Meiryo" pitchFamily="34" charset="-120"/>
              </a:rPr>
              <a:t>中野様は既存65,000株（6.75億相当）を保有したまま参加するため、パートナーより6.75億少ない拠出で50%になります</a:t>
            </a:r>
            <a:endParaRPr lang="en-US" sz="1050" dirty="0"/>
          </a:p>
        </p:txBody>
      </p:sp>
      <p:sp>
        <p:nvSpPr>
          <p:cNvPr id="8" name="Shape 5"/>
          <p:cNvSpPr/>
          <p:nvPr/>
        </p:nvSpPr>
        <p:spPr>
          <a:xfrm>
            <a:off x="6263640" y="1554480"/>
            <a:ext cx="5257800" cy="4206240"/>
          </a:xfrm>
          <a:prstGeom prst="roundRect">
            <a:avLst>
              <a:gd name="adj" fmla="val 1304"/>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9" name="Text 6"/>
          <p:cNvSpPr/>
          <p:nvPr/>
        </p:nvSpPr>
        <p:spPr>
          <a:xfrm>
            <a:off x="6537960" y="1737360"/>
            <a:ext cx="4754880" cy="292608"/>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資金の使いみち</a:t>
            </a:r>
            <a:endParaRPr lang="en-US" sz="14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537960" y="2148840"/>
          <a:ext cx="4754880" cy="914400"/>
        </p:xfrm>
        <a:graphic>
          <a:graphicData uri="http://schemas.openxmlformats.org/drawingml/2006/table">
            <a:tbl>
              <a:tblPr/>
              <a:tblGrid>
                <a:gridCol w="2148840"/>
                <a:gridCol w="960120"/>
                <a:gridCol w="1645920"/>
              </a:tblGrid>
              <a:tr h="384048">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使途</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金額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支払先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84048">
                <a:tc>
                  <a:txBody>
                    <a:bodyPr/>
                    <a:lstStyle/>
                    <a:p>
                      <a:pPr indent="0" marL="0">
                        <a:buNone/>
                      </a:pPr>
                      <a:r>
                        <a:rPr lang="en-US" sz="1150" dirty="0">
                          <a:solidFill>
                            <a:srgbClr val="3D4E60"/>
                          </a:solidFill>
                          <a:latin typeface="Meiryo" pitchFamily="34" charset="0"/>
                          <a:ea typeface="Meiryo" pitchFamily="34" charset="-122"/>
                          <a:cs typeface="Meiryo" pitchFamily="34" charset="-120"/>
                        </a:rPr>
                        <a:t>既存株主7社の全株買取</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13.25億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各株主</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dirty="0">
                          <a:solidFill>
                            <a:srgbClr val="3D4E60"/>
                          </a:solidFill>
                          <a:latin typeface="Meiryo" pitchFamily="34" charset="0"/>
                          <a:ea typeface="Meiryo" pitchFamily="34" charset="-122"/>
                          <a:cs typeface="Meiryo" pitchFamily="34" charset="-120"/>
                        </a:rPr>
                        <a:t>ビジョン借入の返済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7.90億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ビジョン</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dirty="0">
                          <a:solidFill>
                            <a:srgbClr val="3D4E60"/>
                          </a:solidFill>
                          <a:latin typeface="Meiryo" pitchFamily="34" charset="0"/>
                          <a:ea typeface="Meiryo" pitchFamily="34" charset="-122"/>
                          <a:cs typeface="Meiryo" pitchFamily="34" charset="-120"/>
                        </a:rPr>
                        <a:t>諸費用（DD・法務・税務等）</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0.45億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専門家</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dirty="0">
                          <a:solidFill>
                            <a:srgbClr val="3D4E60"/>
                          </a:solidFill>
                          <a:latin typeface="Meiryo" pitchFamily="34" charset="0"/>
                          <a:ea typeface="Meiryo" pitchFamily="34" charset="-122"/>
                          <a:cs typeface="Meiryo" pitchFamily="34" charset="-120"/>
                        </a:rPr>
                        <a:t>手元運転資金として留保</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2.00億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社内</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23.60億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11" name="Text 7"/>
          <p:cNvSpPr/>
          <p:nvPr/>
        </p:nvSpPr>
        <p:spPr>
          <a:xfrm>
            <a:off x="6537960" y="4892040"/>
            <a:ext cx="4754880" cy="685800"/>
          </a:xfrm>
          <a:prstGeom prst="rect">
            <a:avLst/>
          </a:prstGeom>
          <a:noFill/>
          <a:ln/>
        </p:spPr>
        <p:txBody>
          <a:bodyPr wrap="square" lIns="0" tIns="0" rIns="0" bIns="0" rtlCol="0" anchor="ctr"/>
          <a:lstStyle/>
          <a:p>
            <a:pPr indent="0" marL="0">
              <a:buNone/>
            </a:pPr>
            <a:r>
              <a:rPr lang="en-US" sz="1050" dirty="0">
                <a:solidFill>
                  <a:srgbClr val="6E2639"/>
                </a:solidFill>
                <a:latin typeface="Meiryo" pitchFamily="34" charset="0"/>
                <a:ea typeface="Meiryo" pitchFamily="34" charset="-122"/>
                <a:cs typeface="Meiryo" pitchFamily="34" charset="-120"/>
              </a:rPr>
              <a:t>ビジョン社の受取総額は 株式9.81億 ＋ BOS 0.21億 ＋ 借入返済7.90億 ＝ 17.92億円。すべて現金、借入は額面満額です</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想定バランスシート</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1E2A38"/>
                </a:solidFill>
                <a:latin typeface="Meiryo" pitchFamily="34" charset="0"/>
                <a:ea typeface="Meiryo" pitchFamily="34" charset="-122"/>
                <a:cs typeface="Meiryo" pitchFamily="34" charset="-120"/>
              </a:rPr>
              <a:t>取引前後の比較</a:t>
            </a:r>
            <a:endParaRPr lang="en-US" sz="2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572768"/>
          <a:ext cx="10881360" cy="914400"/>
        </p:xfrm>
        <a:graphic>
          <a:graphicData uri="http://schemas.openxmlformats.org/drawingml/2006/table">
            <a:tbl>
              <a:tblPr/>
              <a:tblGrid>
                <a:gridCol w="3474720"/>
                <a:gridCol w="2468880"/>
                <a:gridCol w="2468880"/>
                <a:gridCol w="2468880"/>
              </a:tblGrid>
              <a:tr h="297180">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科目</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取引前（第10期末）</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取引後（想定）</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増減</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29718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現金及び預金</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40,414</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240,414</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2C6A4E"/>
                          </a:solidFill>
                          <a:latin typeface="Meiryo" pitchFamily="34" charset="0"/>
                          <a:ea typeface="Meiryo" pitchFamily="34" charset="-122"/>
                          <a:cs typeface="Meiryo" pitchFamily="34" charset="-120"/>
                        </a:rPr>
                        <a:t>+200,000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dirty="0">
                          <a:solidFill>
                            <a:srgbClr val="3D4E60"/>
                          </a:solidFill>
                          <a:latin typeface="Meiryo" pitchFamily="34" charset="0"/>
                          <a:ea typeface="Meiryo" pitchFamily="34" charset="-122"/>
                          <a:cs typeface="Meiryo" pitchFamily="34" charset="-120"/>
                        </a:rPr>
                        <a:t>その他流動資産</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395,416</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395,416</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7C8A99"/>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dirty="0">
                          <a:solidFill>
                            <a:srgbClr val="3D4E60"/>
                          </a:solidFill>
                          <a:latin typeface="Meiryo" pitchFamily="34" charset="0"/>
                          <a:ea typeface="Meiryo" pitchFamily="34" charset="-122"/>
                          <a:cs typeface="Meiryo" pitchFamily="34" charset="-120"/>
                        </a:rPr>
                        <a:t>固定資産</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880,198</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880,198</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7C8A99"/>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資産合計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1,316,028</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1,516,028</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00" b="1" dirty="0">
                          <a:solidFill>
                            <a:srgbClr val="2C6A4E"/>
                          </a:solidFill>
                          <a:latin typeface="Meiryo" pitchFamily="34" charset="0"/>
                          <a:ea typeface="Meiryo" pitchFamily="34" charset="-122"/>
                          <a:cs typeface="Meiryo" pitchFamily="34" charset="-120"/>
                        </a:rPr>
                        <a:t>+200,000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r h="29718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有利子負債</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1,159,051</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369,051</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2C6A4E"/>
                          </a:solidFill>
                          <a:latin typeface="Meiryo" pitchFamily="34" charset="0"/>
                          <a:ea typeface="Meiryo" pitchFamily="34" charset="-122"/>
                          <a:cs typeface="Meiryo" pitchFamily="34" charset="-120"/>
                        </a:rPr>
                        <a:t>△790,000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dirty="0">
                          <a:solidFill>
                            <a:srgbClr val="3D4E60"/>
                          </a:solidFill>
                          <a:latin typeface="Meiryo" pitchFamily="34" charset="0"/>
                          <a:ea typeface="Meiryo" pitchFamily="34" charset="-122"/>
                          <a:cs typeface="Meiryo" pitchFamily="34" charset="-120"/>
                        </a:rPr>
                        <a:t>その他負債</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566,409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566,409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7C8A99"/>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負債合計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1,725,460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935,460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00" b="1" dirty="0">
                          <a:solidFill>
                            <a:srgbClr val="2C6A4E"/>
                          </a:solidFill>
                          <a:latin typeface="Meiryo" pitchFamily="34" charset="0"/>
                          <a:ea typeface="Meiryo" pitchFamily="34" charset="-122"/>
                          <a:cs typeface="Meiryo" pitchFamily="34" charset="-120"/>
                        </a:rPr>
                        <a:t>△790,000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r h="297180">
                <a:tc>
                  <a:txBody>
                    <a:bodyPr/>
                    <a:lstStyle/>
                    <a:p>
                      <a:pPr indent="0" marL="0">
                        <a:buNone/>
                      </a:pPr>
                      <a:r>
                        <a:rPr lang="en-US" sz="1100" dirty="0">
                          <a:solidFill>
                            <a:srgbClr val="3D4E60"/>
                          </a:solidFill>
                          <a:latin typeface="Meiryo" pitchFamily="34" charset="0"/>
                          <a:ea typeface="Meiryo" pitchFamily="34" charset="-122"/>
                          <a:cs typeface="Meiryo" pitchFamily="34" charset="-120"/>
                        </a:rPr>
                        <a:t>資本金</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1,000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7C8A99"/>
                          </a:solidFill>
                          <a:latin typeface="Meiryo" pitchFamily="34" charset="0"/>
                          <a:ea typeface="Meiryo" pitchFamily="34" charset="-122"/>
                          <a:cs typeface="Meiryo" pitchFamily="34" charset="-120"/>
                        </a:rPr>
                        <a:t>△9,000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dirty="0">
                          <a:solidFill>
                            <a:srgbClr val="3D4E60"/>
                          </a:solidFill>
                          <a:latin typeface="Meiryo" pitchFamily="34" charset="0"/>
                          <a:ea typeface="Meiryo" pitchFamily="34" charset="-122"/>
                          <a:cs typeface="Meiryo" pitchFamily="34" charset="-120"/>
                        </a:rPr>
                        <a:t>資本剰余金</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642,160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1,949,568</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2C6A4E"/>
                          </a:solidFill>
                          <a:latin typeface="Meiryo" pitchFamily="34" charset="0"/>
                          <a:ea typeface="Meiryo" pitchFamily="34" charset="-122"/>
                          <a:cs typeface="Meiryo" pitchFamily="34" charset="-120"/>
                        </a:rPr>
                        <a:t>+1,307,408</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dirty="0">
                          <a:solidFill>
                            <a:srgbClr val="3D4E60"/>
                          </a:solidFill>
                          <a:latin typeface="Meiryo" pitchFamily="34" charset="0"/>
                          <a:ea typeface="Meiryo" pitchFamily="34" charset="-122"/>
                          <a:cs typeface="Meiryo" pitchFamily="34" charset="-120"/>
                        </a:rPr>
                        <a:t>利益剰余金</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8A2E26"/>
                          </a:solidFill>
                          <a:latin typeface="Meiryo" pitchFamily="34" charset="0"/>
                          <a:ea typeface="Meiryo" pitchFamily="34" charset="-122"/>
                          <a:cs typeface="Meiryo" pitchFamily="34" charset="-120"/>
                        </a:rPr>
                        <a:t>△1,061,592</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△45,000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2C6A4E"/>
                          </a:solidFill>
                          <a:latin typeface="Meiryo" pitchFamily="34" charset="0"/>
                          <a:ea typeface="Meiryo" pitchFamily="34" charset="-122"/>
                          <a:cs typeface="Meiryo" pitchFamily="34" charset="-120"/>
                        </a:rPr>
                        <a:t>+1,016,592</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dirty="0">
                          <a:solidFill>
                            <a:srgbClr val="3D4E60"/>
                          </a:solidFill>
                          <a:latin typeface="Meiryo" pitchFamily="34" charset="0"/>
                          <a:ea typeface="Meiryo" pitchFamily="34" charset="-122"/>
                          <a:cs typeface="Meiryo" pitchFamily="34" charset="-120"/>
                        </a:rPr>
                        <a:t>自己株式</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7C8A99"/>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△1,325,000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7C8A99"/>
                          </a:solidFill>
                          <a:latin typeface="Meiryo" pitchFamily="34" charset="0"/>
                          <a:ea typeface="Meiryo" pitchFamily="34" charset="-122"/>
                          <a:cs typeface="Meiryo" pitchFamily="34" charset="-120"/>
                        </a:rPr>
                        <a:t>△1,325,000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純資産合計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00" b="1" dirty="0">
                          <a:solidFill>
                            <a:srgbClr val="8A2E26"/>
                          </a:solidFill>
                          <a:latin typeface="Meiryo" pitchFamily="34" charset="0"/>
                          <a:ea typeface="Meiryo" pitchFamily="34" charset="-122"/>
                          <a:cs typeface="Meiryo" pitchFamily="34" charset="-120"/>
                        </a:rPr>
                        <a:t>△409,432</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00" b="1" dirty="0">
                          <a:solidFill>
                            <a:srgbClr val="2C6A4E"/>
                          </a:solidFill>
                          <a:latin typeface="Meiryo" pitchFamily="34" charset="0"/>
                          <a:ea typeface="Meiryo" pitchFamily="34" charset="-122"/>
                          <a:cs typeface="Meiryo" pitchFamily="34" charset="-120"/>
                        </a:rPr>
                        <a:t>580,568</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00" b="1" dirty="0">
                          <a:solidFill>
                            <a:srgbClr val="2C6A4E"/>
                          </a:solidFill>
                          <a:latin typeface="Meiryo" pitchFamily="34" charset="0"/>
                          <a:ea typeface="Meiryo" pitchFamily="34" charset="-122"/>
                          <a:cs typeface="Meiryo" pitchFamily="34" charset="-120"/>
                        </a:rPr>
                        <a:t>+990,000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29718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自己資本比率</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b="1" dirty="0">
                          <a:solidFill>
                            <a:srgbClr val="8A2E26"/>
                          </a:solidFill>
                          <a:latin typeface="Meiryo" pitchFamily="34" charset="0"/>
                          <a:ea typeface="Meiryo" pitchFamily="34" charset="-122"/>
                          <a:cs typeface="Meiryo" pitchFamily="34" charset="-120"/>
                        </a:rPr>
                        <a:t>△31.1%</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b="1" dirty="0">
                          <a:solidFill>
                            <a:srgbClr val="2C6A4E"/>
                          </a:solidFill>
                          <a:latin typeface="Meiryo" pitchFamily="34" charset="0"/>
                          <a:ea typeface="Meiryo" pitchFamily="34" charset="-122"/>
                          <a:cs typeface="Meiryo" pitchFamily="34" charset="-120"/>
                        </a:rPr>
                        <a:t>38.3%</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2C6A4E"/>
                          </a:solidFill>
                          <a:latin typeface="Meiryo" pitchFamily="34" charset="0"/>
                          <a:ea typeface="Meiryo" pitchFamily="34" charset="-122"/>
                          <a:cs typeface="Meiryo" pitchFamily="34" charset="-120"/>
                        </a:rPr>
                        <a:t>+69.4pt</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5" name="Text 2"/>
          <p:cNvSpPr/>
          <p:nvPr/>
        </p:nvSpPr>
        <p:spPr>
          <a:xfrm>
            <a:off x="640080" y="6172200"/>
            <a:ext cx="1088136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単位：千円　／　第10期末の実績BSをベースにしたプロフォーマ　／　繰越欠損金10.62億円は無償減資により資本剰余金で填補し、利益剰余金をゼロにリセットします</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財務指標</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1E2A38"/>
                </a:solidFill>
                <a:latin typeface="Meiryo" pitchFamily="34" charset="0"/>
                <a:ea typeface="Meiryo" pitchFamily="34" charset="-122"/>
                <a:cs typeface="Meiryo" pitchFamily="34" charset="-120"/>
              </a:rPr>
              <a:t>取引後の信用力</a:t>
            </a:r>
            <a:endParaRPr lang="en-US" sz="2900" dirty="0"/>
          </a:p>
        </p:txBody>
      </p:sp>
      <p:sp>
        <p:nvSpPr>
          <p:cNvPr id="4" name="Shape 2"/>
          <p:cNvSpPr/>
          <p:nvPr/>
        </p:nvSpPr>
        <p:spPr>
          <a:xfrm>
            <a:off x="640080" y="1572768"/>
            <a:ext cx="2606040" cy="1965960"/>
          </a:xfrm>
          <a:prstGeom prst="roundRect">
            <a:avLst>
              <a:gd name="adj" fmla="val 2791"/>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Text 3"/>
          <p:cNvSpPr/>
          <p:nvPr/>
        </p:nvSpPr>
        <p:spPr>
          <a:xfrm>
            <a:off x="841248" y="1755648"/>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自己資本比率</a:t>
            </a:r>
            <a:endParaRPr lang="en-US" sz="1150" dirty="0"/>
          </a:p>
        </p:txBody>
      </p:sp>
      <p:sp>
        <p:nvSpPr>
          <p:cNvPr id="6" name="Text 4"/>
          <p:cNvSpPr/>
          <p:nvPr/>
        </p:nvSpPr>
        <p:spPr>
          <a:xfrm>
            <a:off x="841248" y="2212848"/>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△31.1%</a:t>
            </a:r>
            <a:endParaRPr lang="en-US" sz="1300" dirty="0"/>
          </a:p>
        </p:txBody>
      </p:sp>
      <p:sp>
        <p:nvSpPr>
          <p:cNvPr id="7" name="Text 5"/>
          <p:cNvSpPr/>
          <p:nvPr/>
        </p:nvSpPr>
        <p:spPr>
          <a:xfrm>
            <a:off x="841248" y="2505456"/>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8" name="Text 6"/>
          <p:cNvSpPr/>
          <p:nvPr/>
        </p:nvSpPr>
        <p:spPr>
          <a:xfrm>
            <a:off x="841248" y="2724912"/>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38.3%</a:t>
            </a:r>
            <a:endParaRPr lang="en-US" sz="2600" dirty="0"/>
          </a:p>
        </p:txBody>
      </p:sp>
      <p:sp>
        <p:nvSpPr>
          <p:cNvPr id="9" name="Shape 7"/>
          <p:cNvSpPr/>
          <p:nvPr/>
        </p:nvSpPr>
        <p:spPr>
          <a:xfrm>
            <a:off x="3401568" y="1572768"/>
            <a:ext cx="2606040" cy="1965960"/>
          </a:xfrm>
          <a:prstGeom prst="roundRect">
            <a:avLst>
              <a:gd name="adj" fmla="val 2791"/>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0" name="Text 8"/>
          <p:cNvSpPr/>
          <p:nvPr/>
        </p:nvSpPr>
        <p:spPr>
          <a:xfrm>
            <a:off x="3602736" y="1755648"/>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有利子負債</a:t>
            </a:r>
            <a:endParaRPr lang="en-US" sz="1150" dirty="0"/>
          </a:p>
        </p:txBody>
      </p:sp>
      <p:sp>
        <p:nvSpPr>
          <p:cNvPr id="11" name="Text 9"/>
          <p:cNvSpPr/>
          <p:nvPr/>
        </p:nvSpPr>
        <p:spPr>
          <a:xfrm>
            <a:off x="3602736" y="2212848"/>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11.57億</a:t>
            </a:r>
            <a:endParaRPr lang="en-US" sz="1300" dirty="0"/>
          </a:p>
        </p:txBody>
      </p:sp>
      <p:sp>
        <p:nvSpPr>
          <p:cNvPr id="12" name="Text 10"/>
          <p:cNvSpPr/>
          <p:nvPr/>
        </p:nvSpPr>
        <p:spPr>
          <a:xfrm>
            <a:off x="3602736" y="2505456"/>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13" name="Text 11"/>
          <p:cNvSpPr/>
          <p:nvPr/>
        </p:nvSpPr>
        <p:spPr>
          <a:xfrm>
            <a:off x="3602736" y="2724912"/>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3.69億</a:t>
            </a:r>
            <a:endParaRPr lang="en-US" sz="2600" dirty="0"/>
          </a:p>
        </p:txBody>
      </p:sp>
      <p:sp>
        <p:nvSpPr>
          <p:cNvPr id="14" name="Shape 12"/>
          <p:cNvSpPr/>
          <p:nvPr/>
        </p:nvSpPr>
        <p:spPr>
          <a:xfrm>
            <a:off x="6163056" y="1572768"/>
            <a:ext cx="2606040" cy="1965960"/>
          </a:xfrm>
          <a:prstGeom prst="roundRect">
            <a:avLst>
              <a:gd name="adj" fmla="val 2791"/>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5" name="Text 13"/>
          <p:cNvSpPr/>
          <p:nvPr/>
        </p:nvSpPr>
        <p:spPr>
          <a:xfrm>
            <a:off x="6364224" y="1755648"/>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ネットデット / EBITDA</a:t>
            </a:r>
            <a:endParaRPr lang="en-US" sz="1150" dirty="0"/>
          </a:p>
        </p:txBody>
      </p:sp>
      <p:sp>
        <p:nvSpPr>
          <p:cNvPr id="16" name="Text 14"/>
          <p:cNvSpPr/>
          <p:nvPr/>
        </p:nvSpPr>
        <p:spPr>
          <a:xfrm>
            <a:off x="6364224" y="2212848"/>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4.2倍</a:t>
            </a:r>
            <a:endParaRPr lang="en-US" sz="1300" dirty="0"/>
          </a:p>
        </p:txBody>
      </p:sp>
      <p:sp>
        <p:nvSpPr>
          <p:cNvPr id="17" name="Text 15"/>
          <p:cNvSpPr/>
          <p:nvPr/>
        </p:nvSpPr>
        <p:spPr>
          <a:xfrm>
            <a:off x="6364224" y="2505456"/>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18" name="Text 16"/>
          <p:cNvSpPr/>
          <p:nvPr/>
        </p:nvSpPr>
        <p:spPr>
          <a:xfrm>
            <a:off x="6364224" y="2724912"/>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0.5倍</a:t>
            </a:r>
            <a:endParaRPr lang="en-US" sz="2600" dirty="0"/>
          </a:p>
        </p:txBody>
      </p:sp>
      <p:sp>
        <p:nvSpPr>
          <p:cNvPr id="19" name="Shape 17"/>
          <p:cNvSpPr/>
          <p:nvPr/>
        </p:nvSpPr>
        <p:spPr>
          <a:xfrm>
            <a:off x="8924544" y="1572768"/>
            <a:ext cx="2606040" cy="1965960"/>
          </a:xfrm>
          <a:prstGeom prst="roundRect">
            <a:avLst>
              <a:gd name="adj" fmla="val 2791"/>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0" name="Text 18"/>
          <p:cNvSpPr/>
          <p:nvPr/>
        </p:nvSpPr>
        <p:spPr>
          <a:xfrm>
            <a:off x="9125712" y="1755648"/>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DSCR</a:t>
            </a:r>
            <a:endParaRPr lang="en-US" sz="1150" dirty="0"/>
          </a:p>
        </p:txBody>
      </p:sp>
      <p:sp>
        <p:nvSpPr>
          <p:cNvPr id="21" name="Text 19"/>
          <p:cNvSpPr/>
          <p:nvPr/>
        </p:nvSpPr>
        <p:spPr>
          <a:xfrm>
            <a:off x="9125712" y="2212848"/>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a:t>
            </a:r>
            <a:endParaRPr lang="en-US" sz="1300" dirty="0"/>
          </a:p>
        </p:txBody>
      </p:sp>
      <p:sp>
        <p:nvSpPr>
          <p:cNvPr id="22" name="Text 20"/>
          <p:cNvSpPr/>
          <p:nvPr/>
        </p:nvSpPr>
        <p:spPr>
          <a:xfrm>
            <a:off x="9125712" y="2505456"/>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23" name="Text 21"/>
          <p:cNvSpPr/>
          <p:nvPr/>
        </p:nvSpPr>
        <p:spPr>
          <a:xfrm>
            <a:off x="9125712" y="2724912"/>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2.59倍</a:t>
            </a:r>
            <a:endParaRPr lang="en-US" sz="2600" dirty="0"/>
          </a:p>
        </p:txBody>
      </p:sp>
      <p:graphicFrame>
        <p:nvGraphicFramePr>
          <p:cNvPr id="24" name="Chart 0" descr=""/>
          <p:cNvGraphicFramePr/>
          <p:nvPr/>
        </p:nvGraphicFramePr>
        <p:xfrm>
          <a:off x="640080" y="3703320"/>
          <a:ext cx="5669280" cy="2286000"/>
        </p:xfrm>
        <a:graphic xmlns:a="http://schemas.openxmlformats.org/drawingml/2006/main">
          <a:graphicData uri="http://schemas.openxmlformats.org/drawingml/2006/chart">
            <c:chart xmlns:c="http://schemas.openxmlformats.org/drawingml/2006/chart" r:id="rId1"/>
          </a:graphicData>
        </a:graphic>
      </p:graphicFrame>
      <p:sp>
        <p:nvSpPr>
          <p:cNvPr id="25" name="Shape 22"/>
          <p:cNvSpPr/>
          <p:nvPr/>
        </p:nvSpPr>
        <p:spPr>
          <a:xfrm>
            <a:off x="6583680" y="3703320"/>
            <a:ext cx="4937760" cy="2286000"/>
          </a:xfrm>
          <a:prstGeom prst="roundRect">
            <a:avLst>
              <a:gd name="adj" fmla="val 2400"/>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26" name="Text 23"/>
          <p:cNvSpPr/>
          <p:nvPr/>
        </p:nvSpPr>
        <p:spPr>
          <a:xfrm>
            <a:off x="6858000" y="3886200"/>
            <a:ext cx="4434840" cy="292608"/>
          </a:xfrm>
          <a:prstGeom prst="rect">
            <a:avLst/>
          </a:prstGeom>
          <a:noFill/>
          <a:ln/>
        </p:spPr>
        <p:txBody>
          <a:bodyPr wrap="square" lIns="0" tIns="0" rIns="0" bIns="0" rtlCol="0" anchor="ctr"/>
          <a:lstStyle/>
          <a:p>
            <a:pPr indent="0" marL="0">
              <a:buNone/>
            </a:pPr>
            <a:r>
              <a:rPr lang="en-US" sz="1400" b="1" dirty="0">
                <a:solidFill>
                  <a:srgbClr val="2C6A4E"/>
                </a:solidFill>
                <a:latin typeface="Meiryo" pitchFamily="34" charset="0"/>
                <a:ea typeface="Meiryo" pitchFamily="34" charset="-122"/>
                <a:cs typeface="Meiryo" pitchFamily="34" charset="-120"/>
              </a:rPr>
              <a:t>みずほ銀行様へのご依頼は借換えです</a:t>
            </a:r>
            <a:endParaRPr lang="en-US" sz="1400" dirty="0"/>
          </a:p>
        </p:txBody>
      </p:sp>
      <p:sp>
        <p:nvSpPr>
          <p:cNvPr id="27" name="Text 24"/>
          <p:cNvSpPr/>
          <p:nvPr/>
        </p:nvSpPr>
        <p:spPr>
          <a:xfrm>
            <a:off x="6858000" y="4224528"/>
            <a:ext cx="4434840" cy="1645920"/>
          </a:xfrm>
          <a:prstGeom prst="rect">
            <a:avLst/>
          </a:prstGeom>
          <a:noFill/>
          <a:ln/>
        </p:spPr>
        <p:txBody>
          <a:bodyPr wrap="square" lIns="0" tIns="0" rIns="0" bIns="0" rtlCol="0" anchor="ctr"/>
          <a:lstStyle/>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取引後のあどばるは、自己資本比率38.3%・ネットデット0.5倍・DSCR2.59倍の会社になります。買収ファイナンス（LBOローン）ではなく、債務超過を解消した事業会社に対する通常のご融資としてご検討いただけます。</a:t>
            </a:r>
            <a:endParaRPr lang="en-US" sz="1100" dirty="0"/>
          </a:p>
          <a:p>
            <a:pPr indent="0" marL="0">
              <a:lnSpc>
                <a:spcPct val="115000"/>
              </a:lnSpc>
              <a:buNone/>
            </a:pPr>
            <a:endParaRPr lang="en-US" sz="1100" dirty="0"/>
          </a:p>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・既存借入 3.69億円の継続</a:t>
            </a:r>
            <a:endParaRPr lang="en-US" sz="1100" dirty="0"/>
          </a:p>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・運転資金枠 2.00億円</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株主名簿</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1E2A38"/>
                </a:solidFill>
                <a:latin typeface="Meiryo" pitchFamily="34" charset="0"/>
                <a:ea typeface="Meiryo" pitchFamily="34" charset="-122"/>
                <a:cs typeface="Meiryo" pitchFamily="34" charset="-120"/>
              </a:rPr>
              <a:t>取引完了後の想定</a:t>
            </a:r>
            <a:endParaRPr lang="en-US" sz="2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572768"/>
          <a:ext cx="10881360" cy="914400"/>
        </p:xfrm>
        <a:graphic>
          <a:graphicData uri="http://schemas.openxmlformats.org/drawingml/2006/table">
            <a:tbl>
              <a:tblPr/>
              <a:tblGrid>
                <a:gridCol w="3657600"/>
                <a:gridCol w="1554480"/>
                <a:gridCol w="1600200"/>
                <a:gridCol w="1600200"/>
                <a:gridCol w="1005840"/>
                <a:gridCol w="1463040"/>
              </a:tblGrid>
              <a:tr h="402336">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株主名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種類</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株数</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発行済比率</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議決権</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議決権比率</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中野 邦人</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普通株式</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65,000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15.48%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1150" dirty="0">
                          <a:solidFill>
                            <a:srgbClr val="3D4E60"/>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22.238%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中野ファンド（仮称）</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普通株式</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81,143</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19.32%</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1150" dirty="0">
                          <a:solidFill>
                            <a:srgbClr val="3D4E60"/>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27.761%</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402336">
                <a:tc>
                  <a:txBody>
                    <a:bodyPr/>
                    <a:lstStyle/>
                    <a:p>
                      <a:pPr indent="0" marL="0">
                        <a:buNone/>
                      </a:pPr>
                      <a:r>
                        <a:rPr lang="en-US" sz="1150" b="1" dirty="0">
                          <a:solidFill>
                            <a:srgbClr val="6E2639"/>
                          </a:solidFill>
                          <a:latin typeface="Meiryo" pitchFamily="34" charset="0"/>
                          <a:ea typeface="Meiryo" pitchFamily="34" charset="-122"/>
                          <a:cs typeface="Meiryo" pitchFamily="34" charset="-120"/>
                        </a:rPr>
                        <a:t>　中野陣営 小計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6E2639"/>
                          </a:solidFill>
                          <a:latin typeface="Meiryo" pitchFamily="34" charset="0"/>
                          <a:ea typeface="Meiryo" pitchFamily="34" charset="-122"/>
                          <a:cs typeface="Meiryo" pitchFamily="34" charset="-120"/>
                        </a:rPr>
                        <a:t>146,143</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6E2639"/>
                          </a:solidFill>
                          <a:latin typeface="Meiryo" pitchFamily="34" charset="0"/>
                          <a:ea typeface="Meiryo" pitchFamily="34" charset="-122"/>
                          <a:cs typeface="Meiryo" pitchFamily="34" charset="-120"/>
                        </a:rPr>
                        <a:t>34.80%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6E2639"/>
                          </a:solidFill>
                          <a:latin typeface="Meiryo" pitchFamily="34" charset="0"/>
                          <a:ea typeface="Meiryo" pitchFamily="34" charset="-122"/>
                          <a:cs typeface="Meiryo" pitchFamily="34" charset="-120"/>
                        </a:rPr>
                        <a:t>50.000%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50" dirty="0">
                          <a:solidFill>
                            <a:srgbClr val="3D4E60"/>
                          </a:solidFill>
                          <a:latin typeface="Meiryo" pitchFamily="34" charset="0"/>
                          <a:ea typeface="Meiryo" pitchFamily="34" charset="-122"/>
                          <a:cs typeface="Meiryo" pitchFamily="34" charset="-120"/>
                        </a:rPr>
                        <a:t>パートナー（ヒューリック／東京建物等）</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普通株式</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146,144</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34.80%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3D4E60"/>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50.000%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50" dirty="0">
                          <a:solidFill>
                            <a:srgbClr val="3D4E60"/>
                          </a:solidFill>
                          <a:latin typeface="Meiryo" pitchFamily="34" charset="0"/>
                          <a:ea typeface="Meiryo" pitchFamily="34" charset="-122"/>
                          <a:cs typeface="Meiryo" pitchFamily="34" charset="-120"/>
                        </a:rPr>
                        <a:t>株式会社あどばる（自己株式）</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普通株式</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127,616</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30.39%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7C8A99"/>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7C8A99"/>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発行済株式総数</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419,903</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100.00%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292,287株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bl>
          </a:graphicData>
        </a:graphic>
      </p:graphicFrame>
      <p:sp>
        <p:nvSpPr>
          <p:cNvPr id="5" name="Shape 2"/>
          <p:cNvSpPr/>
          <p:nvPr/>
        </p:nvSpPr>
        <p:spPr>
          <a:xfrm>
            <a:off x="640080" y="4709160"/>
            <a:ext cx="5349240" cy="1371600"/>
          </a:xfrm>
          <a:prstGeom prst="roundRect">
            <a:avLst>
              <a:gd name="adj" fmla="val 4000"/>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6" name="Text 3"/>
          <p:cNvSpPr/>
          <p:nvPr/>
        </p:nvSpPr>
        <p:spPr>
          <a:xfrm>
            <a:off x="914400" y="4892040"/>
            <a:ext cx="4846320" cy="274320"/>
          </a:xfrm>
          <a:prstGeom prst="rect">
            <a:avLst/>
          </a:prstGeom>
          <a:noFill/>
          <a:ln/>
        </p:spPr>
        <p:txBody>
          <a:bodyPr wrap="square" lIns="0" tIns="0" rIns="0" bIns="0" rtlCol="0" anchor="ctr"/>
          <a:lstStyle/>
          <a:p>
            <a:pPr indent="0" marL="0">
              <a:buNone/>
            </a:pPr>
            <a:r>
              <a:rPr lang="en-US" sz="1200" b="1" dirty="0">
                <a:solidFill>
                  <a:srgbClr val="6E2639"/>
                </a:solidFill>
                <a:latin typeface="Meiryo" pitchFamily="34" charset="0"/>
                <a:ea typeface="Meiryo" pitchFamily="34" charset="-122"/>
                <a:cs typeface="Meiryo" pitchFamily="34" charset="-120"/>
              </a:rPr>
              <a:t>自己株式には議決権がありません（会社法308条2項）</a:t>
            </a:r>
            <a:endParaRPr lang="en-US" sz="1200" dirty="0"/>
          </a:p>
        </p:txBody>
      </p:sp>
      <p:sp>
        <p:nvSpPr>
          <p:cNvPr id="7" name="Text 4"/>
          <p:cNvSpPr/>
          <p:nvPr/>
        </p:nvSpPr>
        <p:spPr>
          <a:xfrm>
            <a:off x="914400" y="5193792"/>
            <a:ext cx="4846320" cy="77724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買い取った127,616株は自己株式となり議決権を失うため、残る株主の議決権比率が相対的に上がります。全て普通株式で、種類株は使いません。</a:t>
            </a:r>
            <a:endParaRPr lang="en-US" sz="1050" dirty="0"/>
          </a:p>
        </p:txBody>
      </p:sp>
      <p:sp>
        <p:nvSpPr>
          <p:cNvPr id="8" name="Shape 5"/>
          <p:cNvSpPr/>
          <p:nvPr/>
        </p:nvSpPr>
        <p:spPr>
          <a:xfrm>
            <a:off x="6172200" y="4709160"/>
            <a:ext cx="5349240" cy="1371600"/>
          </a:xfrm>
          <a:prstGeom prst="roundRect">
            <a:avLst>
              <a:gd name="adj" fmla="val 4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9" name="Text 6"/>
          <p:cNvSpPr/>
          <p:nvPr/>
        </p:nvSpPr>
        <p:spPr>
          <a:xfrm>
            <a:off x="6446520" y="4892040"/>
            <a:ext cx="4846320" cy="274320"/>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売却する既存株主7社の受取額</a:t>
            </a:r>
            <a:endParaRPr lang="en-US" sz="1200" dirty="0"/>
          </a:p>
        </p:txBody>
      </p:sp>
      <p:sp>
        <p:nvSpPr>
          <p:cNvPr id="10" name="Text 7"/>
          <p:cNvSpPr/>
          <p:nvPr/>
        </p:nvSpPr>
        <p:spPr>
          <a:xfrm>
            <a:off x="6446520" y="5193792"/>
            <a:ext cx="4846320" cy="77724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ビジョン 9.81億（＋借入返済7.90億）／BOS 0.21億／エアトリ 1.67億／KUMA 0.65億／フィル 0.31億／ベクトル 0.31億／アンビション 0.28億　＝ 合計13.25億円</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論点とスケジュール</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1E2A38"/>
                </a:solidFill>
                <a:latin typeface="Meiryo" pitchFamily="34" charset="0"/>
                <a:ea typeface="Meiryo" pitchFamily="34" charset="-122"/>
                <a:cs typeface="Meiryo" pitchFamily="34" charset="-120"/>
              </a:rPr>
              <a:t>実行に向けて</a:t>
            </a:r>
            <a:endParaRPr lang="en-US" sz="2900" dirty="0"/>
          </a:p>
        </p:txBody>
      </p:sp>
      <p:sp>
        <p:nvSpPr>
          <p:cNvPr id="4" name="Shape 2"/>
          <p:cNvSpPr/>
          <p:nvPr/>
        </p:nvSpPr>
        <p:spPr>
          <a:xfrm>
            <a:off x="640080" y="1572768"/>
            <a:ext cx="5349240" cy="4206240"/>
          </a:xfrm>
          <a:prstGeom prst="roundRect">
            <a:avLst>
              <a:gd name="adj" fmla="val 1304"/>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Text 3"/>
          <p:cNvSpPr/>
          <p:nvPr/>
        </p:nvSpPr>
        <p:spPr>
          <a:xfrm>
            <a:off x="914400" y="1755648"/>
            <a:ext cx="4846320" cy="292608"/>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会社法上の手続き</a:t>
            </a:r>
            <a:endParaRPr lang="en-US" sz="1400" dirty="0"/>
          </a:p>
        </p:txBody>
      </p:sp>
      <p:sp>
        <p:nvSpPr>
          <p:cNvPr id="6" name="Shape 4"/>
          <p:cNvSpPr/>
          <p:nvPr/>
        </p:nvSpPr>
        <p:spPr>
          <a:xfrm>
            <a:off x="914400" y="2148840"/>
            <a:ext cx="384048" cy="384048"/>
          </a:xfrm>
          <a:prstGeom prst="roundRect">
            <a:avLst>
              <a:gd name="adj" fmla="val 119048"/>
            </a:avLst>
          </a:prstGeom>
          <a:solidFill>
            <a:srgbClr val="6E2639"/>
          </a:solidFill>
          <a:ln/>
        </p:spPr>
      </p:sp>
      <p:sp>
        <p:nvSpPr>
          <p:cNvPr id="7" name="Text 5"/>
          <p:cNvSpPr/>
          <p:nvPr/>
        </p:nvSpPr>
        <p:spPr>
          <a:xfrm>
            <a:off x="914400" y="21488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8" name="Text 6"/>
          <p:cNvSpPr/>
          <p:nvPr/>
        </p:nvSpPr>
        <p:spPr>
          <a:xfrm>
            <a:off x="1444752" y="2121408"/>
            <a:ext cx="4297680" cy="292608"/>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第三者割当増資 23.60億円</a:t>
            </a:r>
            <a:endParaRPr lang="en-US" sz="1250" dirty="0"/>
          </a:p>
        </p:txBody>
      </p:sp>
      <p:sp>
        <p:nvSpPr>
          <p:cNvPr id="9" name="Text 7"/>
          <p:cNvSpPr/>
          <p:nvPr/>
        </p:nvSpPr>
        <p:spPr>
          <a:xfrm>
            <a:off x="1444752" y="2414016"/>
            <a:ext cx="4297680" cy="45720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株主総会 特別決議</a:t>
            </a:r>
            <a:endParaRPr lang="en-US" sz="1050" dirty="0"/>
          </a:p>
        </p:txBody>
      </p:sp>
      <p:sp>
        <p:nvSpPr>
          <p:cNvPr id="10" name="Shape 8"/>
          <p:cNvSpPr/>
          <p:nvPr/>
        </p:nvSpPr>
        <p:spPr>
          <a:xfrm>
            <a:off x="914400" y="2971800"/>
            <a:ext cx="384048" cy="384048"/>
          </a:xfrm>
          <a:prstGeom prst="roundRect">
            <a:avLst>
              <a:gd name="adj" fmla="val 119048"/>
            </a:avLst>
          </a:prstGeom>
          <a:solidFill>
            <a:srgbClr val="6E2639"/>
          </a:solidFill>
          <a:ln/>
        </p:spPr>
      </p:sp>
      <p:sp>
        <p:nvSpPr>
          <p:cNvPr id="11" name="Text 9"/>
          <p:cNvSpPr/>
          <p:nvPr/>
        </p:nvSpPr>
        <p:spPr>
          <a:xfrm>
            <a:off x="914400" y="2971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12" name="Text 10"/>
          <p:cNvSpPr/>
          <p:nvPr/>
        </p:nvSpPr>
        <p:spPr>
          <a:xfrm>
            <a:off x="1444752" y="2944368"/>
            <a:ext cx="4297680" cy="292608"/>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無償減資・欠損填補</a:t>
            </a:r>
            <a:endParaRPr lang="en-US" sz="1250" dirty="0"/>
          </a:p>
        </p:txBody>
      </p:sp>
      <p:sp>
        <p:nvSpPr>
          <p:cNvPr id="13" name="Text 11"/>
          <p:cNvSpPr/>
          <p:nvPr/>
        </p:nvSpPr>
        <p:spPr>
          <a:xfrm>
            <a:off x="1444752" y="3236976"/>
            <a:ext cx="4297680" cy="45720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特別決議＋債権者保護手続（1か月以上）</a:t>
            </a:r>
            <a:endParaRPr lang="en-US" sz="1050" dirty="0"/>
          </a:p>
        </p:txBody>
      </p:sp>
      <p:sp>
        <p:nvSpPr>
          <p:cNvPr id="14" name="Shape 12"/>
          <p:cNvSpPr/>
          <p:nvPr/>
        </p:nvSpPr>
        <p:spPr>
          <a:xfrm>
            <a:off x="914400" y="3794760"/>
            <a:ext cx="384048" cy="384048"/>
          </a:xfrm>
          <a:prstGeom prst="roundRect">
            <a:avLst>
              <a:gd name="adj" fmla="val 119048"/>
            </a:avLst>
          </a:prstGeom>
          <a:solidFill>
            <a:srgbClr val="6E2639"/>
          </a:solidFill>
          <a:ln/>
        </p:spPr>
      </p:sp>
      <p:sp>
        <p:nvSpPr>
          <p:cNvPr id="15" name="Text 13"/>
          <p:cNvSpPr/>
          <p:nvPr/>
        </p:nvSpPr>
        <p:spPr>
          <a:xfrm>
            <a:off x="914400" y="37947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16" name="Text 14"/>
          <p:cNvSpPr/>
          <p:nvPr/>
        </p:nvSpPr>
        <p:spPr>
          <a:xfrm>
            <a:off x="1444752" y="3767328"/>
            <a:ext cx="4297680" cy="292608"/>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自己株式取得 13.25億円</a:t>
            </a:r>
            <a:endParaRPr lang="en-US" sz="1250" dirty="0"/>
          </a:p>
        </p:txBody>
      </p:sp>
      <p:sp>
        <p:nvSpPr>
          <p:cNvPr id="17" name="Text 15"/>
          <p:cNvSpPr/>
          <p:nvPr/>
        </p:nvSpPr>
        <p:spPr>
          <a:xfrm>
            <a:off x="1444752" y="4059936"/>
            <a:ext cx="4297680" cy="45720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特別決議。分配可能額19.50億で充足</a:t>
            </a:r>
            <a:endParaRPr lang="en-US" sz="1050" dirty="0"/>
          </a:p>
        </p:txBody>
      </p:sp>
      <p:sp>
        <p:nvSpPr>
          <p:cNvPr id="18" name="Shape 16"/>
          <p:cNvSpPr/>
          <p:nvPr/>
        </p:nvSpPr>
        <p:spPr>
          <a:xfrm>
            <a:off x="914400" y="4617720"/>
            <a:ext cx="384048" cy="384048"/>
          </a:xfrm>
          <a:prstGeom prst="roundRect">
            <a:avLst>
              <a:gd name="adj" fmla="val 119048"/>
            </a:avLst>
          </a:prstGeom>
          <a:solidFill>
            <a:srgbClr val="6E2639"/>
          </a:solidFill>
          <a:ln/>
        </p:spPr>
      </p:sp>
      <p:sp>
        <p:nvSpPr>
          <p:cNvPr id="19" name="Text 17"/>
          <p:cNvSpPr/>
          <p:nvPr/>
        </p:nvSpPr>
        <p:spPr>
          <a:xfrm>
            <a:off x="914400" y="4617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4</a:t>
            </a:r>
            <a:endParaRPr lang="en-US" sz="1200" dirty="0"/>
          </a:p>
        </p:txBody>
      </p:sp>
      <p:sp>
        <p:nvSpPr>
          <p:cNvPr id="20" name="Text 18"/>
          <p:cNvSpPr/>
          <p:nvPr/>
        </p:nvSpPr>
        <p:spPr>
          <a:xfrm>
            <a:off x="1444752" y="4590288"/>
            <a:ext cx="4297680" cy="292608"/>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ビジョン借入 7.90億円の返済</a:t>
            </a:r>
            <a:endParaRPr lang="en-US" sz="1250" dirty="0"/>
          </a:p>
        </p:txBody>
      </p:sp>
      <p:sp>
        <p:nvSpPr>
          <p:cNvPr id="21" name="Text 19"/>
          <p:cNvSpPr/>
          <p:nvPr/>
        </p:nvSpPr>
        <p:spPr>
          <a:xfrm>
            <a:off x="1444752" y="4882896"/>
            <a:ext cx="4297680" cy="45720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増資と借換えを原資に全額現金で返済</a:t>
            </a:r>
            <a:endParaRPr lang="en-US" sz="1050" dirty="0"/>
          </a:p>
        </p:txBody>
      </p:sp>
      <p:sp>
        <p:nvSpPr>
          <p:cNvPr id="22" name="Text 20"/>
          <p:cNvSpPr/>
          <p:nvPr/>
        </p:nvSpPr>
        <p:spPr>
          <a:xfrm>
            <a:off x="914400" y="5431536"/>
            <a:ext cx="4846320" cy="274320"/>
          </a:xfrm>
          <a:prstGeom prst="rect">
            <a:avLst/>
          </a:prstGeom>
          <a:noFill/>
          <a:ln/>
        </p:spPr>
        <p:txBody>
          <a:bodyPr wrap="square" lIns="0" tIns="0" rIns="0" bIns="0" rtlCol="0" anchor="ctr"/>
          <a:lstStyle/>
          <a:p>
            <a:pPr indent="0" marL="0">
              <a:buNone/>
            </a:pPr>
            <a:r>
              <a:rPr lang="en-US" sz="1100" b="1" dirty="0">
                <a:solidFill>
                  <a:srgbClr val="6E2639"/>
                </a:solidFill>
                <a:latin typeface="Meiryo" pitchFamily="34" charset="0"/>
                <a:ea typeface="Meiryo" pitchFamily="34" charset="-122"/>
                <a:cs typeface="Meiryo" pitchFamily="34" charset="-120"/>
              </a:rPr>
              <a:t>債権者保護手続を含め、実行までに3〜4か月をみています</a:t>
            </a:r>
            <a:endParaRPr lang="en-US" sz="1100" dirty="0"/>
          </a:p>
        </p:txBody>
      </p:sp>
      <p:sp>
        <p:nvSpPr>
          <p:cNvPr id="23" name="Shape 21"/>
          <p:cNvSpPr/>
          <p:nvPr/>
        </p:nvSpPr>
        <p:spPr>
          <a:xfrm>
            <a:off x="6172200" y="1572768"/>
            <a:ext cx="5349240" cy="4206240"/>
          </a:xfrm>
          <a:prstGeom prst="roundRect">
            <a:avLst>
              <a:gd name="adj" fmla="val 1304"/>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24" name="Text 22"/>
          <p:cNvSpPr/>
          <p:nvPr/>
        </p:nvSpPr>
        <p:spPr>
          <a:xfrm>
            <a:off x="6446520" y="1755648"/>
            <a:ext cx="4846320" cy="292608"/>
          </a:xfrm>
          <a:prstGeom prst="rect">
            <a:avLst/>
          </a:prstGeom>
          <a:noFill/>
          <a:ln/>
        </p:spPr>
        <p:txBody>
          <a:bodyPr wrap="square" lIns="0" tIns="0" rIns="0" bIns="0" rtlCol="0" anchor="ctr"/>
          <a:lstStyle/>
          <a:p>
            <a:pPr indent="0" marL="0">
              <a:buNone/>
            </a:pPr>
            <a:r>
              <a:rPr lang="en-US" sz="1400" b="1" dirty="0">
                <a:solidFill>
                  <a:srgbClr val="6E2639"/>
                </a:solidFill>
                <a:latin typeface="Meiryo" pitchFamily="34" charset="0"/>
                <a:ea typeface="Meiryo" pitchFamily="34" charset="-122"/>
                <a:cs typeface="Meiryo" pitchFamily="34" charset="-120"/>
              </a:rPr>
              <a:t>先に固めるべき論点</a:t>
            </a:r>
            <a:endParaRPr lang="en-US" sz="1400" dirty="0"/>
          </a:p>
        </p:txBody>
      </p:sp>
      <p:sp>
        <p:nvSpPr>
          <p:cNvPr id="25" name="Text 23"/>
          <p:cNvSpPr/>
          <p:nvPr/>
        </p:nvSpPr>
        <p:spPr>
          <a:xfrm>
            <a:off x="6446520" y="2194560"/>
            <a:ext cx="484632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 デッドロック解消条項</a:t>
            </a:r>
            <a:endParaRPr lang="en-US" sz="1200" dirty="0"/>
          </a:p>
        </p:txBody>
      </p:sp>
      <p:sp>
        <p:nvSpPr>
          <p:cNvPr id="26" name="Text 24"/>
          <p:cNvSpPr/>
          <p:nvPr/>
        </p:nvSpPr>
        <p:spPr>
          <a:xfrm>
            <a:off x="6656832" y="2450592"/>
            <a:ext cx="4617720" cy="548640"/>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議決権50:50は、意見が割れると会社が止まります。第三者仲裁・買取請求権等を株主間契約に定めます</a:t>
            </a:r>
            <a:endParaRPr lang="en-US" sz="1000" dirty="0"/>
          </a:p>
        </p:txBody>
      </p:sp>
      <p:sp>
        <p:nvSpPr>
          <p:cNvPr id="27" name="Text 25"/>
          <p:cNvSpPr/>
          <p:nvPr/>
        </p:nvSpPr>
        <p:spPr>
          <a:xfrm>
            <a:off x="6446520" y="3063240"/>
            <a:ext cx="484632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 中野ファンドのガバナンス</a:t>
            </a:r>
            <a:endParaRPr lang="en-US" sz="1200" dirty="0"/>
          </a:p>
        </p:txBody>
      </p:sp>
      <p:sp>
        <p:nvSpPr>
          <p:cNvPr id="28" name="Text 26"/>
          <p:cNvSpPr/>
          <p:nvPr/>
        </p:nvSpPr>
        <p:spPr>
          <a:xfrm>
            <a:off x="6656832" y="3319272"/>
            <a:ext cx="4617720" cy="548640"/>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中野個人は22.2%。GP（資産管理会社）に議決権を集約することが前提です</a:t>
            </a:r>
            <a:endParaRPr lang="en-US" sz="1000" dirty="0"/>
          </a:p>
        </p:txBody>
      </p:sp>
      <p:sp>
        <p:nvSpPr>
          <p:cNvPr id="29" name="Text 27"/>
          <p:cNvSpPr/>
          <p:nvPr/>
        </p:nvSpPr>
        <p:spPr>
          <a:xfrm>
            <a:off x="6446520" y="3931920"/>
            <a:ext cx="484632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 正常化営業利益2.00億の裏付け</a:t>
            </a:r>
            <a:endParaRPr lang="en-US" sz="1200" dirty="0"/>
          </a:p>
        </p:txBody>
      </p:sp>
      <p:sp>
        <p:nvSpPr>
          <p:cNvPr id="30" name="Text 28"/>
          <p:cNvSpPr/>
          <p:nvPr/>
        </p:nvSpPr>
        <p:spPr>
          <a:xfrm>
            <a:off x="6656832" y="4187952"/>
            <a:ext cx="4617720" cy="548640"/>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店舗別・部門別PLで1.14億の内訳をご提出します</a:t>
            </a:r>
            <a:endParaRPr lang="en-US" sz="1000" dirty="0"/>
          </a:p>
        </p:txBody>
      </p:sp>
      <p:sp>
        <p:nvSpPr>
          <p:cNvPr id="31" name="Text 29"/>
          <p:cNvSpPr/>
          <p:nvPr/>
        </p:nvSpPr>
        <p:spPr>
          <a:xfrm>
            <a:off x="6446520" y="4800600"/>
            <a:ext cx="484632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 連帯保証の解除</a:t>
            </a:r>
            <a:endParaRPr lang="en-US" sz="1200" dirty="0"/>
          </a:p>
        </p:txBody>
      </p:sp>
      <p:sp>
        <p:nvSpPr>
          <p:cNvPr id="32" name="Text 30"/>
          <p:cNvSpPr/>
          <p:nvPr/>
        </p:nvSpPr>
        <p:spPr>
          <a:xfrm>
            <a:off x="6656832" y="5056632"/>
            <a:ext cx="4617720" cy="548640"/>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債務超過が解消するため、経営者保証ガイドラインの適用をお願いしたく存じます</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A38"/>
        </a:solidFill>
      </p:bgPr>
    </p:bg>
    <p:spTree>
      <p:nvGrpSpPr>
        <p:cNvPr id="1" name=""/>
        <p:cNvGrpSpPr/>
        <p:nvPr/>
      </p:nvGrpSpPr>
      <p:grpSpPr>
        <a:xfrm>
          <a:off x="0" y="0"/>
          <a:ext cx="0" cy="0"/>
          <a:chOff x="0" y="0"/>
          <a:chExt cx="0" cy="0"/>
        </a:xfrm>
      </p:grpSpPr>
      <p:sp>
        <p:nvSpPr>
          <p:cNvPr id="2" name="Text 0"/>
          <p:cNvSpPr/>
          <p:nvPr/>
        </p:nvSpPr>
        <p:spPr>
          <a:xfrm>
            <a:off x="822960" y="1371600"/>
            <a:ext cx="10515600" cy="594360"/>
          </a:xfrm>
          <a:prstGeom prst="rect">
            <a:avLst/>
          </a:prstGeom>
          <a:noFill/>
          <a:ln/>
        </p:spPr>
        <p:txBody>
          <a:bodyPr wrap="square" lIns="0" tIns="0" rIns="0" bIns="0" rtlCol="0" anchor="ctr"/>
          <a:lstStyle/>
          <a:p>
            <a:pPr indent="0" marL="0">
              <a:buNone/>
            </a:pPr>
            <a:r>
              <a:rPr lang="en-US" sz="3200" b="1" dirty="0">
                <a:solidFill>
                  <a:srgbClr val="FFFFFF"/>
                </a:solidFill>
                <a:latin typeface="Meiryo" pitchFamily="34" charset="0"/>
                <a:ea typeface="Meiryo" pitchFamily="34" charset="-122"/>
                <a:cs typeface="Meiryo" pitchFamily="34" charset="-120"/>
              </a:rPr>
              <a:t>みずほ銀行様にお願いしたいこと</a:t>
            </a:r>
            <a:endParaRPr lang="en-US" sz="3200" dirty="0"/>
          </a:p>
        </p:txBody>
      </p:sp>
      <p:sp>
        <p:nvSpPr>
          <p:cNvPr id="3" name="Shape 1"/>
          <p:cNvSpPr/>
          <p:nvPr/>
        </p:nvSpPr>
        <p:spPr>
          <a:xfrm>
            <a:off x="822960" y="2331720"/>
            <a:ext cx="621792" cy="621792"/>
          </a:xfrm>
          <a:prstGeom prst="roundRect">
            <a:avLst>
              <a:gd name="adj" fmla="val 73529"/>
            </a:avLst>
          </a:prstGeom>
          <a:solidFill>
            <a:srgbClr val="6E2639"/>
          </a:solidFill>
          <a:ln/>
        </p:spPr>
      </p:sp>
      <p:sp>
        <p:nvSpPr>
          <p:cNvPr id="4" name="Text 2"/>
          <p:cNvSpPr/>
          <p:nvPr/>
        </p:nvSpPr>
        <p:spPr>
          <a:xfrm>
            <a:off x="822960" y="2331720"/>
            <a:ext cx="621792"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01</a:t>
            </a:r>
            <a:endParaRPr lang="en-US" sz="1500" dirty="0"/>
          </a:p>
        </p:txBody>
      </p:sp>
      <p:sp>
        <p:nvSpPr>
          <p:cNvPr id="5" name="Text 3"/>
          <p:cNvSpPr/>
          <p:nvPr/>
        </p:nvSpPr>
        <p:spPr>
          <a:xfrm>
            <a:off x="1691640" y="2313432"/>
            <a:ext cx="9601200" cy="329184"/>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グループのエクイティ機能のご紹介</a:t>
            </a:r>
            <a:endParaRPr lang="en-US" sz="1800" dirty="0"/>
          </a:p>
        </p:txBody>
      </p:sp>
      <p:sp>
        <p:nvSpPr>
          <p:cNvPr id="6" name="Text 4"/>
          <p:cNvSpPr/>
          <p:nvPr/>
        </p:nvSpPr>
        <p:spPr>
          <a:xfrm>
            <a:off x="1691640" y="2697480"/>
            <a:ext cx="9601200" cy="502920"/>
          </a:xfrm>
          <a:prstGeom prst="rect">
            <a:avLst/>
          </a:prstGeom>
          <a:noFill/>
          <a:ln/>
        </p:spPr>
        <p:txBody>
          <a:bodyPr wrap="square" lIns="0" tIns="0" rIns="0" bIns="0" rtlCol="0" anchor="ctr"/>
          <a:lstStyle/>
          <a:p>
            <a:pPr indent="0" marL="0">
              <a:buNone/>
            </a:pPr>
            <a:r>
              <a:rPr lang="en-US" sz="1200" dirty="0">
                <a:solidFill>
                  <a:srgbClr val="A9B6C2"/>
                </a:solidFill>
                <a:latin typeface="Meiryo" pitchFamily="34" charset="0"/>
                <a:ea typeface="Meiryo" pitchFamily="34" charset="-122"/>
                <a:cs typeface="Meiryo" pitchFamily="34" charset="-120"/>
              </a:rPr>
              <a:t>みずほキャピタルパートナーズ様、みずほ証券様のM&amp;Aチームをご紹介いただけますでしょうか</a:t>
            </a:r>
            <a:endParaRPr lang="en-US" sz="1200" dirty="0"/>
          </a:p>
        </p:txBody>
      </p:sp>
      <p:sp>
        <p:nvSpPr>
          <p:cNvPr id="7" name="Shape 5"/>
          <p:cNvSpPr/>
          <p:nvPr/>
        </p:nvSpPr>
        <p:spPr>
          <a:xfrm>
            <a:off x="822960" y="3538728"/>
            <a:ext cx="621792" cy="621792"/>
          </a:xfrm>
          <a:prstGeom prst="roundRect">
            <a:avLst>
              <a:gd name="adj" fmla="val 73529"/>
            </a:avLst>
          </a:prstGeom>
          <a:solidFill>
            <a:srgbClr val="6E2639"/>
          </a:solidFill>
          <a:ln/>
        </p:spPr>
      </p:sp>
      <p:sp>
        <p:nvSpPr>
          <p:cNvPr id="8" name="Text 6"/>
          <p:cNvSpPr/>
          <p:nvPr/>
        </p:nvSpPr>
        <p:spPr>
          <a:xfrm>
            <a:off x="822960" y="3538728"/>
            <a:ext cx="621792"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02</a:t>
            </a:r>
            <a:endParaRPr lang="en-US" sz="1500" dirty="0"/>
          </a:p>
        </p:txBody>
      </p:sp>
      <p:sp>
        <p:nvSpPr>
          <p:cNvPr id="9" name="Text 7"/>
          <p:cNvSpPr/>
          <p:nvPr/>
        </p:nvSpPr>
        <p:spPr>
          <a:xfrm>
            <a:off x="1691640" y="3520440"/>
            <a:ext cx="9601200" cy="329184"/>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経営者保証の解除</a:t>
            </a:r>
            <a:endParaRPr lang="en-US" sz="1800" dirty="0"/>
          </a:p>
        </p:txBody>
      </p:sp>
      <p:sp>
        <p:nvSpPr>
          <p:cNvPr id="10" name="Text 8"/>
          <p:cNvSpPr/>
          <p:nvPr/>
        </p:nvSpPr>
        <p:spPr>
          <a:xfrm>
            <a:off x="1691640" y="3904488"/>
            <a:ext cx="9601200" cy="502920"/>
          </a:xfrm>
          <a:prstGeom prst="rect">
            <a:avLst/>
          </a:prstGeom>
          <a:noFill/>
          <a:ln/>
        </p:spPr>
        <p:txBody>
          <a:bodyPr wrap="square" lIns="0" tIns="0" rIns="0" bIns="0" rtlCol="0" anchor="ctr"/>
          <a:lstStyle/>
          <a:p>
            <a:pPr indent="0" marL="0">
              <a:buNone/>
            </a:pPr>
            <a:r>
              <a:rPr lang="en-US" sz="1200" dirty="0">
                <a:solidFill>
                  <a:srgbClr val="A9B6C2"/>
                </a:solidFill>
                <a:latin typeface="Meiryo" pitchFamily="34" charset="0"/>
                <a:ea typeface="Meiryo" pitchFamily="34" charset="-122"/>
                <a:cs typeface="Meiryo" pitchFamily="34" charset="-120"/>
              </a:rPr>
              <a:t>債務超過が解消する本計画において、経営者保証ガイドラインに沿って個人保証を外していただきたく存じます</a:t>
            </a:r>
            <a:endParaRPr lang="en-US" sz="1200" dirty="0"/>
          </a:p>
        </p:txBody>
      </p:sp>
      <p:sp>
        <p:nvSpPr>
          <p:cNvPr id="11" name="Shape 9"/>
          <p:cNvSpPr/>
          <p:nvPr/>
        </p:nvSpPr>
        <p:spPr>
          <a:xfrm>
            <a:off x="822960" y="4745736"/>
            <a:ext cx="621792" cy="621792"/>
          </a:xfrm>
          <a:prstGeom prst="roundRect">
            <a:avLst>
              <a:gd name="adj" fmla="val 73529"/>
            </a:avLst>
          </a:prstGeom>
          <a:solidFill>
            <a:srgbClr val="6E2639"/>
          </a:solidFill>
          <a:ln/>
        </p:spPr>
      </p:sp>
      <p:sp>
        <p:nvSpPr>
          <p:cNvPr id="12" name="Text 10"/>
          <p:cNvSpPr/>
          <p:nvPr/>
        </p:nvSpPr>
        <p:spPr>
          <a:xfrm>
            <a:off x="822960" y="4745736"/>
            <a:ext cx="621792"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03</a:t>
            </a:r>
            <a:endParaRPr lang="en-US" sz="1500" dirty="0"/>
          </a:p>
        </p:txBody>
      </p:sp>
      <p:sp>
        <p:nvSpPr>
          <p:cNvPr id="13" name="Text 11"/>
          <p:cNvSpPr/>
          <p:nvPr/>
        </p:nvSpPr>
        <p:spPr>
          <a:xfrm>
            <a:off x="1691640" y="4727448"/>
            <a:ext cx="9601200" cy="329184"/>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借換えと運転資金枠のご検討</a:t>
            </a:r>
            <a:endParaRPr lang="en-US" sz="1800" dirty="0"/>
          </a:p>
        </p:txBody>
      </p:sp>
      <p:sp>
        <p:nvSpPr>
          <p:cNvPr id="14" name="Text 12"/>
          <p:cNvSpPr/>
          <p:nvPr/>
        </p:nvSpPr>
        <p:spPr>
          <a:xfrm>
            <a:off x="1691640" y="5111496"/>
            <a:ext cx="9601200" cy="502920"/>
          </a:xfrm>
          <a:prstGeom prst="rect">
            <a:avLst/>
          </a:prstGeom>
          <a:noFill/>
          <a:ln/>
        </p:spPr>
        <p:txBody>
          <a:bodyPr wrap="square" lIns="0" tIns="0" rIns="0" bIns="0" rtlCol="0" anchor="ctr"/>
          <a:lstStyle/>
          <a:p>
            <a:pPr indent="0" marL="0">
              <a:buNone/>
            </a:pPr>
            <a:r>
              <a:rPr lang="en-US" sz="1200" dirty="0">
                <a:solidFill>
                  <a:srgbClr val="A9B6C2"/>
                </a:solidFill>
                <a:latin typeface="Meiryo" pitchFamily="34" charset="0"/>
                <a:ea typeface="Meiryo" pitchFamily="34" charset="-122"/>
                <a:cs typeface="Meiryo" pitchFamily="34" charset="-120"/>
              </a:rPr>
              <a:t>既存借入3.69億円の継続と、運転資金枠2.00億円をご検討いただけますでしょうか</a:t>
            </a:r>
            <a:endParaRPr lang="en-US" sz="1200" dirty="0"/>
          </a:p>
        </p:txBody>
      </p:sp>
      <p:sp>
        <p:nvSpPr>
          <p:cNvPr id="15" name="Text 13"/>
          <p:cNvSpPr/>
          <p:nvPr/>
        </p:nvSpPr>
        <p:spPr>
          <a:xfrm>
            <a:off x="822960" y="6172200"/>
            <a:ext cx="10515600" cy="274320"/>
          </a:xfrm>
          <a:prstGeom prst="rect">
            <a:avLst/>
          </a:prstGeom>
          <a:noFill/>
          <a:ln/>
        </p:spPr>
        <p:txBody>
          <a:bodyPr wrap="square" lIns="0" tIns="0" rIns="0" bIns="0" rtlCol="0" anchor="ctr"/>
          <a:lstStyle/>
          <a:p>
            <a:pPr indent="0" marL="0">
              <a:buNone/>
            </a:pPr>
            <a:r>
              <a:rPr lang="en-US" sz="1100" dirty="0">
                <a:solidFill>
                  <a:srgbClr val="6D7A87"/>
                </a:solidFill>
                <a:latin typeface="Meiryo" pitchFamily="34" charset="0"/>
                <a:ea typeface="Meiryo" pitchFamily="34" charset="-122"/>
                <a:cs typeface="Meiryo" pitchFamily="34" charset="-120"/>
              </a:rPr>
              <a:t>株式会社あどばる　代表取締役　中野 邦人</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2026-08-26T01:02:01Z</dcterms:created>
  <dcterms:modified xsi:type="dcterms:W3CDTF">2026-08-26T01:02:01Z</dcterms:modified>
</cp:coreProperties>
</file>