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2つの問いに答える資料。結論は「業績連動の有償SOで両方を同時に解く」。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順序が大事。②が立たないなら①は不要。15.73%の第2位で十分という選択もある。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有償SOが主軸。RSは税金で潰れる。ファンドは上場株だから組みやすい。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30.80%に意味はない。33.34%の拒否権が本丸。差は0.89億。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スマサポの着地が全ての前提。11月の本決算は必ず確認してから動く。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シナジーは契約に書かないと実現しない。④の選択肢も常に持っておく。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これが答え。現金を出さずに、成果と引き換えに持分を取る。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資金調達と、合併後の企業価値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中野の取得資金をどう作るか／合併で本当に価値は上がるのか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2026年10月23日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877056"/>
            <a:ext cx="2926080" cy="0"/>
          </a:xfrm>
          <a:prstGeom prst="line">
            <a:avLst/>
          </a:prstGeom>
          <a:noFill/>
          <a:ln w="25400">
            <a:solidFill>
              <a:srgbClr val="6E26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187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 代表取締役 中野 邦人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572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スマサポ20億円・あどばる15億円評価／旧あどばる株主は全社売却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56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56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スマサポ社の公開情報。会計・税務の取扱いは監査法人および税理士の確認を要します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公開情報にもとづく試算です。法務・税務・会計上の助言ではありません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2つの問いは、1つの設計で同時に解けます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824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現金で株を買うのではなく、シナジーを実現した対価として持分を得る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031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条件付きの有償ストックオプションであれば、中野の初期負担は0.5〜1.6億円に収まります。太田氏側から見ても「成果が出たら渡す」形なので、現金で買い増されるより受け入れやすいはずです。価値向上のコミットメントと持分の取得が、同じ仕組みの中で結びつき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3246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資金調達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844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現金購入なら5.27億円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840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有償SOなら0.53〜1.58億円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206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初期負担は3〜10分の1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246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企業価値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5844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合併だけでは上がらない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40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営業利益+1.0億のシナジーが必要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206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実現すればPER17倍で52.6億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0F4F1"/>
          </a:solidFill>
          <a:ln w="12700">
            <a:solidFill>
              <a:srgbClr val="C9DC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5047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ただし、順序を間違えないこと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583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価値が上がらない会社の持分を、借入をしてまで増やす意味はありません。まず②（シナジーが本当に立つか）を確かめ、立つと判断できてから①（どう取得するか）に進むのが正しい順序です。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資金調達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3つの手段を組み合わせます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19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719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業績連動の有償ストックオプション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408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初期負担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0.53〜1.58</a:t>
            </a:r>
            <a:pPr indent="0" marL="0">
              <a:buNone/>
            </a:pPr>
            <a:r>
              <a:rPr lang="en-US" sz="1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合併後の会社から、シナジー目標の達成を条件に発行を受けます。公正価値（株価の10〜30%）を払って取得するため報酬課税が生じず、行使時も課税されません。売却時の譲渡所得20.315%のみです。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業績条件を厳しくするほど公正価値は下がります。会社法361条の報酬規制により株主総会決議が必要です。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517904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719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1719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中野ファンド（上場株版）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3408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初期負担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必要額に応じて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BOで構想したファンドを転用します。保有するのが上場株になるため、非上場株を持つMBO版よりも格段に組成しやすくなります。中野がGPとして議決権を集約すれば、大量保有報告書上も共同保有者として扱われます。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金商法63条の適格機関投資家等特例業務の届出が必要です。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1517904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719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8A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1719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株式担保ローン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23408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初期負担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2.7</a:t>
            </a:r>
            <a:pPr indent="0" marL="0">
              <a:buNone/>
            </a:pPr>
            <a:r>
              <a:rPr lang="en-US" sz="12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億円程度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合併後に中野が保有する662,093株（5.51億円相当）を担保に入れます。LTV50%で2.7億円程度が目安です。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029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株価下落時に追加担保を求められます。主軸ではなく補完として使う前提です。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譲渡制限付株式（RS）での付与は、譲渡制限解除時に給与所得課税が生じ、最高税率なら2.90億円の納税になります。有償SOが税務上は有利です。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取得水準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30.80%より、33.34%のほうが意味があります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554480"/>
                <a:gridCol w="1371600"/>
                <a:gridCol w="1645920"/>
                <a:gridCol w="26517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到達水準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中野の持分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追加取得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現金なら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流通株式比率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取得なし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15.73%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47.08%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第2位。条件は満たす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太田氏側と同数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30.80%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634,223株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5.27億円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32.01%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同率首位。だが権利は増えない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3分の1超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33.34%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740,941株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6.16億円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29.47%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特別決議の拒否権を持てる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3分の1超で何ができるか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16966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定款変更、合併・会社分割、事業譲渡、有利発行による第三者割当。これらは特別決議（出席株主の3分の2以上）が必要で、3分の1超を持てば単独で否決できます。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「太田氏側と同数の30.80%」は見た目は対等ですが、会社法上の権利は15.73%のときと何も変わりません。0.89億円の差で、意味のある一線を越えられます。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365760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取得は「売出しへの応募」で行う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416966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の1を超える市場外（相対）取得は公開買付けが義務になります。一方、ビジョン社と旧あどばる法人6社の株式を売出しとして市場に出し、中野がそれに応募する形であれば、公開買付規制の適用除外に該当する見込みです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同じ売出しで残りが市場に配分されるため、流通株式比率も同時に解決します。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F8E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公開買付規制の適用除外の可否は、取得の態様により判断が分かれます。証券会社および弁護士の確認を要します。有償ストックオプションの行使による取得であれば、そもそも公開買付規制の対象外です。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企業価値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合併それ自体では、価値は上がりません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F7F3EC"/>
          </a:solidFill>
          <a:ln w="12700">
            <a:solidFill>
              <a:srgbClr val="E0D3BE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00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単純合算35億円が意味すること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合算営業利益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993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4.30億円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58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のれん償却（20年）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2402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△0.88億円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償却後 営業利益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4871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3.42億円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52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税引後利益（税率30%）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73405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2.39億円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9992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35億円が示すPER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9809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14.6倍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2552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のれん償却0.88億円は、確定的なマイナスです。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517904"/>
            <a:ext cx="5349240" cy="2057400"/>
          </a:xfrm>
          <a:prstGeom prst="roundRect">
            <a:avLst>
              <a:gd name="adj" fmla="val 2667"/>
            </a:avLst>
          </a:prstGeom>
          <a:solidFill>
            <a:srgbClr val="EEF3F8"/>
          </a:solidFill>
          <a:ln w="12700">
            <a:solidFill>
              <a:srgbClr val="C6D6E5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1700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再評価の余地はある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1031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PER15倍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340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35.9億円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21031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PER17倍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2340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40.7億円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01784" y="21031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PER20倍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701784" y="2340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47.9億円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797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グロース市場の小型株としてPER17倍で評価されれば40.7億円。単純合算との差5.7億円は、のれん償却を負ってもなお残る再評価の余地です。ただし市場が評価してくれればの話です。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033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スマサポ社の通期着地が、この前提を左右します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05072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828800"/>
                <a:gridCol w="1371600"/>
                <a:gridCol w="22860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スマサポの営業利益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のれん償却後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税引後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PER17倍の時価総額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2.30億（会社予想）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4.30億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3.42億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2.39億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40.7億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合算35億を上回る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3.12億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2.18億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37.1億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上回る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2.92億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2.04億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34.8億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合算35億を下回る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2.72億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32.4億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下回る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640080" y="59253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第3四半期累計の営業利益は1.24億円（前年比△36.4%）、通期予想2.30億円に対する進捗は54.3%です。1.80億円を下回る着地なら、合併しても単純合算を割ります。11月中旬の本決算を待つ価値があります。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企業価値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価値を上げるのは、この3つだけです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110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92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シナジーで営業利益を+1.0億円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293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+17.6億円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5000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管理会社ネットワークから空室・共用部・遊休区画の供給を受け、出店を年5〜10拠点加速する。1拠点あたり年商2,000〜3,000万円なら増収1〜3億円。営業利益+1.0億でPER17倍なら52.6億円まで届きます。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9110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892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時価総額40億円を超える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12680" y="19293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機関投資家の投資対象へ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35000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証グロースは上場10年経過後に時価総額40億円が必要です。スマサポ社は2032年12月が期限。合併後35億円ではまだ届きません。先方が合併を検討する動機はここにある可能性が高く、共同目標として掲げられま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0599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のれんの負担を抑える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0782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年0.17億円の改善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49884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あどばる側が50%を超えると逆取得となり、のれんは「スマサポの時価総額−純資産」で計算され14.29億円に下がります。年償却は0.88億から0.71億へ。ただし逆取得では あどばるの簿価を引き継ぐため連結純資産は薄くなります。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6333F"/>
          </a:solidFill>
          <a:ln w="25400">
            <a:solidFill>
              <a:srgbClr val="6E26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0599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やらないという選択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012680" y="40782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持ち出し0円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49884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上の3つが立たないなら、中野は15.73%の第2位のまま持ち出しゼロで構いません。条件は満たしています。価値が上がらない会社の持分を、借入をしてまで増やす理由はありません。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26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①は契約でKPI化しない限り実現しません。管理会社ネットワーク経由の物件供給数を、年次の数値目標として合併契約に書き込むことをお勧めします。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ご提案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①と②を、ひとつの仕組みで結びつける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190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シナジー目標の達成を条件とした有償ストックオプションを、中野に発行する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396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中野は現金で株を買うのではなく、価値を上げた結果として持分を得ます。太田氏側にとっては「成果が出たら渡す」形になるため、現金で買い増されるよりも受け入れやすい提案になります。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227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対象株数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564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740,941株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3分の1超に届く水準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30632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0168" y="3227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初期負担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4564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0.62〜1.85億円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公正価値10〜30%の範囲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30632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91656" y="3227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行使価額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34564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831.53円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合併時の1株価値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24544" y="30632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53144" y="3227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業績条件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53144" y="34564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 +1.0億円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管理会社経由の物件供給数も併記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0F4F1"/>
          </a:solidFill>
          <a:ln w="12700">
            <a:solidFill>
              <a:srgbClr val="C9DC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0120" y="47731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この形の利点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012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79576" y="5084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中野の初期負担が現金購入の3〜10分の1で済む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57016" y="5084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付与時・行使時に課税されず、売却時の20.315%のみ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0120" y="5532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79576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公開買付規制の対象外（発行会社からの取得のため）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37560" y="5532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57016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シナジーが立たなければ行使されず、誰も損をしない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61772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7F3EC"/>
          </a:solidFill>
          <a:ln w="12700">
            <a:solidFill>
              <a:srgbClr val="E0D3BE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492240" y="47731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先に詰めるべきこと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9224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11696" y="5084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スマサポ社の11月本決算（通期2.30億の着地）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86968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089136" y="5084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会社法361条に基づく株主総会決議と、太田氏側の同意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5532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11696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公正価値の算定（業績条件の厳しさで大きく変わる）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869680" y="5532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F551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89136" y="5468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のれんの会計処理を監査法人と事前に確認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有償ストックオプションの設計・公正価値算定・税務上の取扱いは、弁護士・税理士・評価機関の確認を要します。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2026-10-23T07:23:06Z</dcterms:created>
  <dcterms:modified xsi:type="dcterms:W3CDTF">2026-10-23T07:23:06Z</dcterms:modified>
</cp:coreProperties>
</file>