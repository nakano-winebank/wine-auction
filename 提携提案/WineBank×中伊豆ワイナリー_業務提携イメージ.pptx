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8/19ご提案の「2. ワイン現物購入1,000万円」に紐づく業務提携案。9/3の奥村様ご返信（志太会長個人でのお取り組み）を前提に具体化した。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852160" cy="5852160"/>
          </a:xfrm>
          <a:prstGeom prst="ellipse">
            <a:avLst/>
          </a:prstGeom>
          <a:solidFill>
            <a:srgbClr val="2A23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業務提携のご提案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2402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 × 中伊豆ワイナリー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272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業務提携イメージ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9776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B2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志太会長個人でのお取り組みを前提とした、提携の具体像と進め方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6235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　株式会社WineBank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本書の位置づけ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2026年8月19日付ご提案「2. ワイン現物購入1,000万円」に紐づく業務提携案の具体化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法人（SDI株式会社）ではなく志太会長個人でのお取り組み</a:t>
            </a:r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というご意向を前提に、提携の具体像・役割分担・進め方を整理しました。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ご確認いただいた前提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59152"/>
          <a:ext cx="69494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ご回答（2026年9月／SDI様）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提携の主体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シダックス中伊豆ワイナリーヒルズ株式会社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表記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中伊豆ワイナリー（「西伊豆」表記を訂正）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現物購入分の決済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2026年9月末／当初の想定どおり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神山フォレスト1階レストラン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本提携には含めない（別トラックで並行）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863840" y="1965960"/>
            <a:ext cx="3687775" cy="3383280"/>
          </a:xfrm>
          <a:prstGeom prst="roundRect">
            <a:avLst>
              <a:gd name="adj" fmla="val 2162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2185416"/>
            <a:ext cx="31391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対象施設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679192"/>
            <a:ext cx="3139135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中伊豆ワイナリー シャトーT.S（静岡県伊豆市）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運営：シダックス中伊豆ワイナリーヒルズ株式会社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2000年、志太会長が私財を投じて創業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約10haの自社畑・醸造設備・レストラン群・チャペル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623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※「1. WineFUND（ファンド出資）」は本書の対象外とし、将来の選択肢として位置づけています（11ページ参照）。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提携の基本コンセプト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両者は競合せず、ほぼ完全に補完関係にある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「つくる・魅せる」中伊豆　×　「集める・値付ける・回す」WineBank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074920" cy="3474720"/>
          </a:xfrm>
          <a:prstGeom prst="roundRect">
            <a:avLst>
              <a:gd name="adj" fmla="val 2105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7685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中伊豆ワイナリーが持つもの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70632"/>
            <a:ext cx="45262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約10haの自社畑・醸造設備・自社ブランド（「志太」ほか）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レストラン群、ワインラウンジ、チャペル／ブライダル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ワイナリー来訪者・ブライダルOB・法人接点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生産、体験、婚礼の現場運営力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76695" y="2057400"/>
            <a:ext cx="5074920" cy="3474720"/>
          </a:xfrm>
          <a:prstGeom prst="roundRect">
            <a:avLst>
              <a:gd name="adj" fmla="val 2105"/>
            </a:avLst>
          </a:prstGeom>
          <a:solidFill>
            <a:srgbClr val="F0F3F5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51015" y="227685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WineBankが持つもの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51015" y="2770632"/>
            <a:ext cx="45262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ファインワインの調達力・真贋／保管品質・資産評価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六本木ミッドタウン terrace、WINE CAVE ROPPONGI、銀座提携店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投資会員（1,000万円以上の資産形成層）、CLUB月額会員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マーケットプレイス（会員間売買）、EC（青山ワインマーケット）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1800" y="3429000"/>
            <a:ext cx="768096" cy="768096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1800" y="3429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中伊豆は「良いワインを生み、良い時間を提供する場」を持ち、WineBankは「良いワインを世界から集め、資産として値付け、動かす仕組み」を持つ。この2つを繋ぐことが本提携の骨子です。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提携イメージ ── 4本の柱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会員・モノ・体験・チャネルの4方向で結ぶ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92224"/>
            <a:ext cx="402336" cy="402336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177393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クロスメンバーシップ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267712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WineBank会員とワイナリー会員・ブライダルOBの相互送客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双方の会員証で相互特典が使える設計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6655" y="1554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687" y="1792224"/>
            <a:ext cx="402336" cy="402336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2687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3039" y="177393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セラー／熟成・保管アライアンス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0975" y="2267712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ご購入分を「志太コレクション」として中伊豆に展示・保管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将来はWineBank会員向けの寄託サービスへ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49624"/>
            <a:ext cx="402336" cy="402336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383133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体験コンテンツの共同開発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325112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会員限定ファインワイン会、収穫期ワイナリーツアー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ブライダル連携、ワインリスト監修、オーベルジュ構想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56655" y="36118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2687" y="3849624"/>
            <a:ext cx="402336" cy="402336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12687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43039" y="383133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都心チャネルでのブランド発信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30975" y="4325112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六本木・銀座の直営／提携店でのオンリスト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青山ワインマーケット（EC）での販売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いずれも新規投資を伴わず、既にある会員・場所・在庫を組み合わせるところから始められます。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柱① クロスメンバーシップ（会員の相互開放）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中伊豆は都心の富裕層接点を、WineBankは「会員が誇れる目的地」を得る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110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 → 中伊豆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04872"/>
            <a:ext cx="34290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投資会員・CLUB会員へ中伊豆ワイナリーをご案内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優先予約、限定ヴィンテージ、貸切ワイン会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都心の資産形成層を伊豆へ送客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73975" y="16916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0F3F5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48295" y="19110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中伊豆 → WineBank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48295" y="2404872"/>
            <a:ext cx="34290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ワイナリー会員・ブライダルOB・リピーターへCLUBをご案内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レストランのワインを仕入れ原価相当で愉しめる月額会員制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既存顧客の満足度向上と再来訪の動機づくり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2514600"/>
            <a:ext cx="2316175" cy="1737360"/>
          </a:xfrm>
          <a:prstGeom prst="roundRect">
            <a:avLst>
              <a:gd name="adj" fmla="val 4211"/>
            </a:avLst>
          </a:prstGeom>
          <a:solidFill>
            <a:srgbClr val="1C1714"/>
          </a:solidFill>
          <a:ln w="12700">
            <a:solidFill>
              <a:srgbClr val="1C17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97480"/>
            <a:ext cx="2316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相互送客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154680"/>
            <a:ext cx="2316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双方の会員証で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相互の特典が使える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設計とする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収益・精算のイメージ（例示・要協議）：相互紹介手数料（入会1件あたり定額）、または会費のレベニューシェア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柱② セラー／熟成・保管アライアンス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個人資産としてのワインを、来訪動機を生む資産に変える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1C1714"/>
          </a:solidFill>
          <a:ln w="12700">
            <a:solidFill>
              <a:srgbClr val="1C17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828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「志太コレクション」構想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8600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志太会長個人でご購入いただく1,000万円分のファインワインを、中伊豆ワイナリーのワイン蔵に置き、ワイナリーの目玉コンテンツとして公開する。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1129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しまう資産 → 見せる資産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05072"/>
            <a:ext cx="29718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世界のファインワインが並ぶ蔵そのものが来訪動機になる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自社ワインの価値提示（比較の文脈づくり）にも効く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351129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WineBankが担う実務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005072"/>
            <a:ext cx="29718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銘柄の選定・調達・真贋保証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資産評価と売却タイミングのご提案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351129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将来の展開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4005072"/>
            <a:ext cx="29718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WineBank会員向け寄託（預かり）サービスの共同展開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保管料の折半、または売却益の成功報酬（例示）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柱③ 体験コンテンツの共同開発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ワイナリーという「場」と、希少ワインという「中身」を掛け合わせる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792224"/>
            <a:ext cx="365760" cy="36576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45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ファインワイン会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645920"/>
            <a:ext cx="7619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WineBank供給の希少ワイン × 中伊豆の料理・空間で、会員限定イベント（年4回程度）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432304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578608"/>
            <a:ext cx="365760" cy="36576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ワイナリーツアー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432304"/>
            <a:ext cx="7619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収穫期・仕込み期に投資会員をご招待。畑〜醸造〜垂直試飲の一日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364992"/>
            <a:ext cx="365760" cy="36576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218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ブライダル連携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218688"/>
            <a:ext cx="7619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挙式カップルへ「生まれ年ワイン」「記念ヴィンテージの積立」をご提案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005072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151376"/>
            <a:ext cx="365760" cy="36576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7824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0050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ペアリング監修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03320" y="4005072"/>
            <a:ext cx="7619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WineBankソムリエによる中伊豆レストランのワインリスト監修・スタッフ研修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791456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937760"/>
            <a:ext cx="365760" cy="36576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7824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79145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オーベルジュ構想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4791456"/>
            <a:ext cx="7619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中長期。宿泊 × セラー × 食のパッケージ（8月3日メールでお伝えしたビジネスモデル）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収益・精算のイメージ（例示・要協議）：イベント売上のレベニューシェア（粗利折半）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柱④ 都心チャネルでの中伊豆ブランド発信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「伊豆に行かないと飲めない」を「都心で出会い、伊豆に会いに行く」導線へ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568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Bistro&amp;Bar WineBank terrace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2971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六本木ミッドタウン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会員が集まる場でのオンリスト・グラス提供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9568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 CLUB 加盟店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450592"/>
            <a:ext cx="2971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銀座「L'atelier de oto」ほか提携店ネットワーク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会員向けサービスのなかでの取扱い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9568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青山ワインマーケット（EC）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450592"/>
            <a:ext cx="2971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都心・全国への販売チャネル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限定キュヴェ・ヴィンテージの企画販売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52628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都心で中伊豆ワインに出会った会員が、ワイナリーを訪れ、そこで世界のファインワインに出会う。柱①〜④は一本の循環としてつながります。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神山フォレスト1階レストランの件は、本提携とは別トラックとして整理しています。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誰が何を出し、何を得るか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数値条件はすべて協議の出発点としての例示です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200400"/>
                <a:gridCol w="33192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WineBankが提供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中伊豆／志太会長が提供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収益・精算のイメージ（例示）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会員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CLUB／投資会員の送客、会員管理基盤、入会導線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ワイナリー会員・ブライダルOBへの告知、施設優待枠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相互紹介手数料（入会1件あたり定額）または会費のレベニューシェア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セラー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ワインの選定・調達・真贋保証・評価・売却支援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蔵／セラーのスペース、温湿度管理、現地オペレーション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保管料の折半、または売却益に対する成功報酬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体験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希少ワインの供給、ソムリエ派遣、会員集客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会場、料理、宿泊・婚礼オペレーション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イベント売上のレベニューシェア（粗利折半）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 販売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都心店舗・ECでの販売チャネル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中伊豆ワインの供給（卸条件）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通常の卸・受託販売条件＋販促協力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Phase 1のパイロット実績を踏まえ、レベニューシェア率・年間本数・開催頻度を数値で確定させる想定です。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 ── 3つのフェーズ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最初から重い契約は不要。実績を見てからご判断いただける設計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A78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48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〜2026年9月末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8712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個人でのお取り組みを開始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64992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ワイン現物購入 1,000万円（＋会員ご参画）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銘柄は資産性・贈答性・展示価値の3軸で選定案をご提示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この時点では提携契約は不要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1C17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148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2026年10〜12月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8712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基本合意とパイロット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364992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業務提携覚書（MOU）の締結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パイロット①：会員向けツアー＋ファインワイン会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パイロット②：都内店舗での中伊豆ワイン オンリスト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691640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1C17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148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0" y="28712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本契約・事業化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364992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業務提携本契約、販売代理・寄託契約を個別に締結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セラー事業、ブライダル連携、オーベルジュ構想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規模が見えた段階で共同出資・ファンド参画もご検討可能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最初の一歩（Phase 0）は個人で完結し、契約を待たずに9月末に着手できます。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契約形態と主体の整理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軽い形から順に、必要になった段階で締結する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310896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形態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想定タイミング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業務提携覚書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相互送客・共同イベントの方向性合意。金銭債務を伴わない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販売／オンリスト契約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中伊豆ワインの卸・受託販売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1〜2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寄託（保管）契約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ワインの預かり・保険・善管注意義務を明記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共同事業・出資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JV設立、オーベルジュ等の共同運営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6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2以降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45920"/>
            <a:ext cx="3779215" cy="3291840"/>
          </a:xfrm>
          <a:prstGeom prst="roundRect">
            <a:avLst>
              <a:gd name="adj" fmla="val 2222"/>
            </a:avLst>
          </a:prstGeom>
          <a:solidFill>
            <a:srgbClr val="1C17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828800"/>
            <a:ext cx="3230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契約主体は2本立て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286000"/>
            <a:ext cx="323057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個人としての購入・会員参画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0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志太会長個人 ⇔ WineBank（Phase 0）
契約を待たず9月末に着手可能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施設利用を伴う業務提携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0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シダックス中伊豆ワイナリーヒルズ株式会社 ⇔ WineBank（Phase 1以降）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0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覚書から段階的に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①が先に動くことで、②の協議は「実物がある状態」から始められます。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志太会長個人にとってのメリット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ファンド（案1）ではなく現物購入（案2）を選ぶ意味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45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流動性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1645920"/>
            <a:ext cx="7528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GPの判断を待たず、贈答・会食・売却がいつでも自由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43230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323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使える資産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432304"/>
            <a:ext cx="7528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会食・接待でそのまま活きる。ボトルそのものが話題になる水準の銘柄構成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1868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21868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218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中伊豆への還元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218688"/>
            <a:ext cx="7528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ご自身のコレクションがワイナリーの集客コンテンツになり、創業の物語を延長できる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005072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00507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0050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会食コストの圧縮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4005072"/>
            <a:ext cx="7528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 CLUBにより、都内提携店でのワインを仕入れ原価相当で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791456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5EFE4"/>
          </a:solidFill>
          <a:ln w="9525">
            <a:solidFill>
              <a:srgbClr val="E2D8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79145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E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7914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段階的な意思決定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4791456"/>
            <a:ext cx="7528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まず個人で始め、手応えを見てから法人・ファンドへ広げられる（逆は難しい）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SDI様法人としてのWineFUND（案1）は、Phase 1の実績を見てから「実物を見て判断する」という順序でご検討いただけます。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75488" cy="475488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84048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想定スケジュール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32688"/>
            <a:ext cx="10225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2026年9月〜2027年3月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32004" cy="3977640"/>
          </a:xfrm>
          <a:prstGeom prst="rect">
            <a:avLst/>
          </a:prstGeom>
          <a:solidFill>
            <a:srgbClr val="E2D8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2026年9月中旬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9544" y="1746504"/>
            <a:ext cx="201168" cy="201168"/>
          </a:xfrm>
          <a:prstGeom prst="ellipse">
            <a:avLst/>
          </a:prstGeom>
          <a:solidFill>
            <a:srgbClr val="A78450"/>
          </a:solidFill>
          <a:ln w="15875">
            <a:solidFill>
              <a:srgbClr val="A784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60020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本提案のご説明MTG（志太会長・奥村様・資産運用ご担当者様）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2026年9月下旬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9544" y="2322576"/>
            <a:ext cx="201168" cy="201168"/>
          </a:xfrm>
          <a:prstGeom prst="ellipse">
            <a:avLst/>
          </a:prstGeom>
          <a:solidFill>
            <a:srgbClr val="A78450"/>
          </a:solidFill>
          <a:ln w="15875">
            <a:solidFill>
              <a:srgbClr val="A784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176272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銘柄構成のご提示 → ご発注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752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9544" y="2898648"/>
            <a:ext cx="201168" cy="201168"/>
          </a:xfrm>
          <a:prstGeom prst="ellipse">
            <a:avLst/>
          </a:prstGeom>
          <a:solidFill>
            <a:srgbClr val="A78450"/>
          </a:solidFill>
          <a:ln w="15875">
            <a:solidFill>
              <a:srgbClr val="A784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2752344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現物購入1,000万円の決済／会員ご登録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9544" y="347472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AE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3328416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業務提携覚書（MOU）の協議・締結、中伊豆ワイナリー訪問（実地確認）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04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2026年11月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9544" y="4050792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AE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3904488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パイロット① 会員向けワイナリーツアー＋ファインワイン会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2026年12月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9544" y="4626864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AE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448056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パイロット② 都内店舗での中伊豆ワイン・オンリスト開始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056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2027年1〜3月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9544" y="5202936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AE7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11880" y="5056632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実績レビュー → 本契約・事業化の協議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7607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6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金色の3項目は、9月末決済に向けて今月中に動く部分です。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5120640" cy="5120640"/>
          </a:xfrm>
          <a:prstGeom prst="ellipse">
            <a:avLst/>
          </a:prstGeom>
          <a:solidFill>
            <a:srgbClr val="2A23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4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本提案のご説明MTG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8483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9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9月中旬｜過去の提携事例も、この場で開示可能な範囲を口頭にてご共有いたします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銘柄構成のご提示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95351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9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9月中旬〜下旬｜資産性・贈答性・展示価値の3軸で選定案を作成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457200" cy="45720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現物購入1,000万円のご発注・決済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8221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9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9月末｜当初の想定どおり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A784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業務提携覚書（MOU）の協議開始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69087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9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10月｜シダックス中伊豆ワイナリーヒルズ株式会社様と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623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株式会社WineBank　代表 中野邦人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〒106-0032 東京都港区六本木4-12-8 第六DMJビル2階　TEL 03-6416-9370　nakano@wine-bank.co.jp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株式会社WineBank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WineBank × 中伊豆ワイナリー 業務提携イメージ</dc:title>
  <dc:subject>PptxGenJS Presentation</dc:subject>
  <dc:creator>株式会社WineBank</dc:creator>
  <cp:lastModifiedBy>株式会社WineBank</cp:lastModifiedBy>
  <cp:revision>1</cp:revision>
  <dcterms:created xsi:type="dcterms:W3CDTF">2026-09-06T08:49:00Z</dcterms:created>
  <dcterms:modified xsi:type="dcterms:W3CDTF">2026-09-06T08:49:00Z</dcterms:modified>
</cp:coreProperties>
</file>