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レッドオーシャンを避け、在庫を手放さずに稼ぐチャネルを軸に据えた4本立て。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Y1で数字は出ない。ここを正直に言うことが信用になる。効いてくるのはY2以降。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銀行にもパートナーにも効く一枚。在庫が遊んでいないことを示す。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最大の利点は稟議の軽さ。購入ではないので部門長決裁で通る。まず3施設のパイロットで料率と回転率を検証する。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顧客獲得コストが相手の販促費で賄われるのが本質。売上より会員数72名のほうが効く。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贈答は入り口。本業への送客が目的。FPGの61行チャネルが使えれば一気に加速する。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正直に、小さいと言う。価値は独自商材とIPOストーリー。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Y1は均衡。Y2から効く。上場時の利益目標への寄与で締める。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90日のゴールは受注ではなく検証。①のパイロット3施設のデータが、他の全チャネルの提案根拠になる。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前提を先に開示する。パイロットで置き換えると明言することが信用になる。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A9844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株式会社WineBank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新規販売チャネル計画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ホテル ／ ブランドレジデンス ／ 金融機関 ／ 日本ワイン輸出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FY2027 － FY2029　3か年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4805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2026年8月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本資料の数値は積み上げの試算であり、確定した受注ではありません。前提は各ページに明記しています。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4つのチャネル － 3か年の姿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いずれも既存の富裕層直販とは競合せず、相手の顧客基盤・販促予算の上に乗せます。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10424160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481328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チャネル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61688" y="1481328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Y1 FY2027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53328" y="1481328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Y2 FY2028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44968" y="1481328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Y3 FY2029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436608" y="1481328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Y3 粗利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1865376"/>
            <a:ext cx="10424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1865376"/>
            <a:ext cx="3438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1. ホテル・会員制クラブ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61688" y="1865376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7.6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53328" y="1865376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30.4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44968" y="1865376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68.4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36608" y="1865376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27.9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2267712"/>
            <a:ext cx="10424160" cy="402336"/>
          </a:xfrm>
          <a:prstGeom prst="rect">
            <a:avLst/>
          </a:prstGeom>
          <a:solidFill>
            <a:srgbClr val="FBFAF8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267712"/>
            <a:ext cx="3438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3. ブランドレジデンス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61688" y="2267712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16.0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53328" y="2267712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80.0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44968" y="2267712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192.0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36608" y="2267712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46.8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2670048"/>
            <a:ext cx="10424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2670048"/>
            <a:ext cx="3438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5. 金融機関インセンティブ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61688" y="2670048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20.0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53328" y="2670048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80.0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44968" y="2670048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180.0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36608" y="2670048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45.0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" y="3072384"/>
            <a:ext cx="10424160" cy="402336"/>
          </a:xfrm>
          <a:prstGeom prst="rect">
            <a:avLst/>
          </a:prstGeom>
          <a:solidFill>
            <a:srgbClr val="FBFAF8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" y="3072384"/>
            <a:ext cx="3438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9. 日本ワイン 高級帯の輸出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61688" y="3072384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5.0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53328" y="3072384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20.0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44968" y="3072384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50.0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36608" y="3072384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20.0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" y="3474720"/>
            <a:ext cx="10424160" cy="402336"/>
          </a:xfrm>
          <a:prstGeom prst="rect">
            <a:avLst/>
          </a:prstGeom>
          <a:solidFill>
            <a:srgbClr val="FAF3E2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" y="3474720"/>
            <a:ext cx="3438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売上 合計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61688" y="3474720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48.6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53328" y="3474720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210.4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44968" y="3474720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490.4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436608" y="3474720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139.7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" y="4224528"/>
            <a:ext cx="34290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68680" y="43525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Y3 売上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68680" y="460857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490.4百万円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4251960" y="4224528"/>
            <a:ext cx="34290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526280" y="43525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Y3 粗利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26280" y="460857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139.7百万円（28.5%）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7909560" y="4224528"/>
            <a:ext cx="3429000" cy="960120"/>
          </a:xfrm>
          <a:prstGeom prst="roundRect">
            <a:avLst>
              <a:gd name="adj" fmla="val 4762"/>
            </a:avLst>
          </a:prstGeom>
          <a:solidFill>
            <a:srgbClr val="FAF3E2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183880" y="43525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Y3 営業利益 貢献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183880" y="460857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＋59.7百万円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594360" y="5376672"/>
            <a:ext cx="10963656" cy="749808"/>
          </a:xfrm>
          <a:prstGeom prst="roundRect">
            <a:avLst>
              <a:gd name="adj" fmla="val 6098"/>
            </a:avLst>
          </a:prstGeom>
          <a:solidFill>
            <a:srgbClr val="1A1A1A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14400" y="537667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Y1は立ち上げ期で営業利益はほぼ均衡（▲1.0百万円）。FY2027のプランEを埋めるのは私募とオークションで、この4チャネルはFY2028以降の柱です。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追加販管費（専任人員 Y1 1.5名→Y3 6名）を控除後の営業利益貢献。単位：百万円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「売先」ではなく「置き場所」を増やす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仕入を落とさない方針と、在庫を持ったまま収益が立つチャネルは同じ方向を向いています。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6858000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38528"/>
            <a:ext cx="310896" cy="310896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66420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仕入を落とせない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06654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絞ると生産者からの割当が戻らず、2〜3年先の成長を失う。プランDも仕入419.1百万円の維持が前提。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2852928"/>
            <a:ext cx="6858000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310128"/>
            <a:ext cx="310896" cy="310896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03580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しかし在庫は資金を固定する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43814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420百万円の在庫は、売れるまで一円も生まない。ここが今までの構造的な弱点。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4224528"/>
            <a:ext cx="6858000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681728"/>
            <a:ext cx="310896" cy="310896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440740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置き場所を増やせば両立する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480974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所有権を手放さずに設置し、レンタル料と販売手数料を取る。在庫が「稼働資産」に変わる。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0" y="1481328"/>
            <a:ext cx="3794760" cy="4114800"/>
          </a:xfrm>
          <a:prstGeom prst="roundRect">
            <a:avLst>
              <a:gd name="adj" fmla="val 1205"/>
            </a:avLst>
          </a:prstGeom>
          <a:solidFill>
            <a:srgbClr val="1A1A1A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46720" y="17556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D7D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Y3末の稼働在庫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2048256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9844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240.0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8046720" y="28163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D7D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百万円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0" y="3246120"/>
            <a:ext cx="2880360" cy="0"/>
          </a:xfrm>
          <a:prstGeom prst="line">
            <a:avLst/>
          </a:prstGeom>
          <a:noFill/>
          <a:ln w="12700">
            <a:solidFill>
              <a:srgbClr val="6E6E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3456432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自社在庫420百万円のうち</a:t>
            </a:r>
            <a:endParaRPr lang="en-US" sz="11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57%がホテル・クラブ60施設に</a:t>
            </a:r>
            <a:endParaRPr lang="en-US" sz="11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設置され、レンタル料を生みます。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46634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A9844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在庫は減らないため、</a:t>
            </a:r>
            <a:endParaRPr lang="en-US" sz="10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A9844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仕入を維持したままで成立します。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設置在庫は1施設あたり時価4百万円（グラン・ヴァン50〜80本相当）を標準とした試算。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① ホテル・会員制クラブ － セラーのディスプレイ・レンタル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買わずに置ける提案。所有権はWineBankのままなので、先方に在庫リスクがありません。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844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アプローチ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682496"/>
            <a:ext cx="5394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647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窓口は総支配人ではなくF&amp;Bディレクター／シェフソムリエ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0208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ワインリストの原価と在庫回転に責任を持つ人。「買わずに置ける」は彼らのP&amp;Lを直接助ける提案です。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2523744"/>
            <a:ext cx="5394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606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最短ルートはApiciusのシェフソムリエ経由の紹介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8620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日本ソムリエ協会の横のつながりが効きます。飛び込みではなく紹介で入る。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3364992"/>
            <a:ext cx="5394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4472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購入ではないので稟議が軽い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資産計上を伴わないため、多くの施設でF&amp;B部門長の決裁で通ります。初回商談から設置まで2〜3か月。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4224528"/>
            <a:ext cx="5394960" cy="658368"/>
          </a:xfrm>
          <a:prstGeom prst="roundRect">
            <a:avLst>
              <a:gd name="adj" fmla="val 6944"/>
            </a:avLst>
          </a:prstGeom>
          <a:solidFill>
            <a:srgbClr val="FAF3E2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29768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844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初弾の相手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450799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星のや／虹夕諾雅、アマン、ブルガリ、パレスホテル、東京アメリカンクラブ、リゾートトラスト（会員14.5万人・20.5万口）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72200" y="13898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844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ユニット経済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1682496"/>
            <a:ext cx="5394960" cy="1627632"/>
          </a:xfrm>
          <a:prstGeom prst="roundRect">
            <a:avLst>
              <a:gd name="adj" fmla="val 2809"/>
            </a:avLst>
          </a:prstGeom>
          <a:solidFill>
            <a:srgbClr val="FAF3E2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1810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1施設あたり設置在庫（時価）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555480" y="18105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4.0百万円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6520" y="2084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レンタル料率（年）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555480" y="20848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8% ＝ 0.32百万円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2359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年間販売転換率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555480" y="23591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30% ＝ 1.20百万円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2633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販売の粗利率（RS控除後）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555480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25%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29077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1施設あたり 年間売上／粗利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555480" y="29077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1.52 ／ 0.62百万円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34564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844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3か年の積み上げ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3749040"/>
            <a:ext cx="5394960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6281928" y="374904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110728" y="374904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Y1 FY2027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299448" y="374904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Y2 FY2028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488168" y="374904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Y3 FY2029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72200" y="4041648"/>
            <a:ext cx="5394960" cy="292608"/>
          </a:xfrm>
          <a:prstGeom prst="rect">
            <a:avLst/>
          </a:prstGeom>
          <a:solidFill>
            <a:srgbClr val="FAF3E2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81928" y="404164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施設数（期末）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110728" y="404164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299448" y="404164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488168" y="404164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72200" y="4334256"/>
            <a:ext cx="5394960" cy="292608"/>
          </a:xfrm>
          <a:prstGeom prst="rect">
            <a:avLst/>
          </a:prstGeom>
          <a:solidFill>
            <a:srgbClr val="FBFAF8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81928" y="433425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売上（百万円）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110728" y="433425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7.6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299448" y="433425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30.4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488168" y="433425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68.4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72200" y="4626864"/>
            <a:ext cx="5394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81928" y="4626864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粗利（百万円）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110728" y="462686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3.1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299448" y="462686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12.4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0488168" y="462686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27.9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72200" y="4919472"/>
            <a:ext cx="5394960" cy="292608"/>
          </a:xfrm>
          <a:prstGeom prst="rect">
            <a:avLst/>
          </a:prstGeom>
          <a:solidFill>
            <a:srgbClr val="FBFAF8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81928" y="491947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稼働在庫（百万円）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110728" y="491947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299448" y="491947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120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0488168" y="491947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240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94360" y="5394960"/>
            <a:ext cx="10963656" cy="713232"/>
          </a:xfrm>
          <a:prstGeom prst="roundRect">
            <a:avLst>
              <a:gd name="adj" fmla="val 6410"/>
            </a:avLst>
          </a:prstGeom>
          <a:solidFill>
            <a:srgbClr val="1A1A1A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914400" y="5394960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リスク：什器の初期調達と、破損・盗難の保険設計。開栓・提供が発生すると実質は販売にあたるため、契約形態を国税局の酒類指導官に事前確認します。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販売転換率30%は設置在庫の時価に対する年間回転。レンタル料率はアートのレンタル相場を参照点に置いた仮値で、パイロット3施設で検証します。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③ ブランドレジデンス － 引渡し時のオプション商材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ワイン会社は不動産の販売チャネルを持たず、デベロッパーはワインの目利きを持たない。だから空いています。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844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アプローチ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682496"/>
            <a:ext cx="5394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647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窓口は商品企画部と販売推進部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0208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仕様を決めるのが商品企画部、オプションを売るのが販売推進部。両方に同時に当てる。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2523744"/>
            <a:ext cx="5394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606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新築は仕様確定が竣工の18〜24か月前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8620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今から入って新築で売上になるのは2年後。Y1に数字を出すなら別ルートが要ります。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3364992"/>
            <a:ext cx="5394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4472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最短ルートはモデルルームへの実物設置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①と同じレンタル契約でモデルルームに置き、販促協力の実績を作ってからオプション化を提案する。3〜6か月。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4224528"/>
            <a:ext cx="5394960" cy="658368"/>
          </a:xfrm>
          <a:prstGeom prst="roundRect">
            <a:avLst>
              <a:gd name="adj" fmla="val 6944"/>
            </a:avLst>
          </a:prstGeom>
          <a:solidFill>
            <a:srgbClr val="FAF3E2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29768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844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初弾の相手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450799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三菱地所レジデンス（ザ・パークハウス グラン）、三井不動産レジデンシャル、野村不動産、住友不動産、森ビル。ホテルブランデッドレジデンスは特に相性が良い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72200" y="13898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844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ユニット経済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1682496"/>
            <a:ext cx="5394960" cy="1627632"/>
          </a:xfrm>
          <a:prstGeom prst="roundRect">
            <a:avLst>
              <a:gd name="adj" fmla="val 2809"/>
            </a:avLst>
          </a:prstGeom>
          <a:solidFill>
            <a:srgbClr val="FAF3E2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1810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1棟あたり採用戸数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555480" y="18105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6520" y="2084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1戸あたり単価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555480" y="20848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4.0百万円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2359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内訳（セラー／ワイン100本）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555480" y="23591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1.5 ／ 2.5百万円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2633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1戸あたり粗利（15%／30%）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555480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0.98百万円（24.4%）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29077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1棟あたり 売上／粗利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555480" y="29077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16.0 ／ 3.9百万円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34564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844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3か年の積み上げ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3749040"/>
            <a:ext cx="5394960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6281928" y="374904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110728" y="374904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Y1 FY2027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299448" y="374904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Y2 FY2028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488168" y="374904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Y3 FY2029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72200" y="4041648"/>
            <a:ext cx="5394960" cy="292608"/>
          </a:xfrm>
          <a:prstGeom prst="rect">
            <a:avLst/>
          </a:prstGeom>
          <a:solidFill>
            <a:srgbClr val="FAF3E2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81928" y="404164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棟数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110728" y="404164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299448" y="404164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488168" y="404164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72200" y="4334256"/>
            <a:ext cx="5394960" cy="292608"/>
          </a:xfrm>
          <a:prstGeom prst="rect">
            <a:avLst/>
          </a:prstGeom>
          <a:solidFill>
            <a:srgbClr val="FBFAF8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81928" y="433425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売上（百万円）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110728" y="433425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16.0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299448" y="433425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80.0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488168" y="433425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192.0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72200" y="4626864"/>
            <a:ext cx="5394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81928" y="4626864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粗利（百万円）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110728" y="462686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3.9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299448" y="462686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19.5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0488168" y="462686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46.8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72200" y="4919472"/>
            <a:ext cx="5394960" cy="292608"/>
          </a:xfrm>
          <a:prstGeom prst="rect">
            <a:avLst/>
          </a:prstGeom>
          <a:solidFill>
            <a:srgbClr val="FBFAF8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81928" y="491947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新規CLUB会員（名）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110728" y="491947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299448" y="491947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0488168" y="491947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48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94360" y="5394960"/>
            <a:ext cx="10963656" cy="713232"/>
          </a:xfrm>
          <a:prstGeom prst="roundRect">
            <a:avLst>
              <a:gd name="adj" fmla="val 6410"/>
            </a:avLst>
          </a:prstGeom>
          <a:solidFill>
            <a:srgbClr val="1A1A1A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914400" y="5394960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本当の価値は売上ではなく顧客獲得です。3年で72名の富裕層が、デベロッパーの販促費で獲得できてWineBank CLUBの会員になります。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Y1の1棟はモデルルーム経由での先行案件を想定。新築の本格化はY2以降。採用率は総戸数50戸の物件で8%を仮置き。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⑤ 金融機関 － 富裕層顧客への贈答プログラム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相手の販促予算で買ってもらい、相手の顧客リストがそのままWineBankの接点になります。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844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アプローチ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682496"/>
            <a:ext cx="5394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647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窓口は富裕層営業部／プライベートバンキング部の販促担当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0208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地銀は他行と被らない差別化コンテンツを常に探しています。ワインは競合が薄い。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2523744"/>
            <a:ext cx="5394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606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予算編成期を外すと1年待ち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8620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地銀の販促予算は12月〜2月に固まります。ここに当てるのが鉄則。初回接触から発注まで6〜12か月。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3364992"/>
            <a:ext cx="5394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4472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贈答単体では売らず、セミナーとセットにする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「ワイン投資と相続・現物資産」のセミナーを提供。銀行は顧客接点イベントを欲しがります。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4224528"/>
            <a:ext cx="5394960" cy="658368"/>
          </a:xfrm>
          <a:prstGeom prst="roundRect">
            <a:avLst>
              <a:gd name="adj" fmla="val 6944"/>
            </a:avLst>
          </a:prstGeom>
          <a:solidFill>
            <a:srgbClr val="FAF3E2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29768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844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初弾の相手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450799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FPGは第一地方銀行グループ61行すべてとビジネスマッチング契約を締結済み。資本提携の議論とこのチャネルは、ここで接続できます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72200" y="13898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844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ユニット経済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1682496"/>
            <a:ext cx="5394960" cy="1627632"/>
          </a:xfrm>
          <a:prstGeom prst="roundRect">
            <a:avLst>
              <a:gd name="adj" fmla="val 2809"/>
            </a:avLst>
          </a:prstGeom>
          <a:solidFill>
            <a:srgbClr val="FAF3E2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1810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1行あたり 年間件数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555480" y="18105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200件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6520" y="2084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1件あたり単価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555480" y="20848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5万円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2359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1行あたり 年間売上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555480" y="23591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10.0百万円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2633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粗利率（法人一括）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555480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25%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29077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1行あたり 年間粗利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555480" y="29077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2.5百万円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34564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844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3か年の積み上げ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3749040"/>
            <a:ext cx="5394960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6281928" y="374904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110728" y="374904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Y1 FY2027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299448" y="374904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Y2 FY2028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488168" y="374904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Y3 FY2029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72200" y="4041648"/>
            <a:ext cx="5394960" cy="292608"/>
          </a:xfrm>
          <a:prstGeom prst="rect">
            <a:avLst/>
          </a:prstGeom>
          <a:solidFill>
            <a:srgbClr val="FAF3E2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81928" y="404164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提携行数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110728" y="404164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299448" y="404164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488168" y="404164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18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72200" y="4334256"/>
            <a:ext cx="5394960" cy="292608"/>
          </a:xfrm>
          <a:prstGeom prst="rect">
            <a:avLst/>
          </a:prstGeom>
          <a:solidFill>
            <a:srgbClr val="FBFAF8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81928" y="433425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売上（百万円）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110728" y="433425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20.0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299448" y="433425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80.0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488168" y="433425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180.0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72200" y="4626864"/>
            <a:ext cx="5394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81928" y="4626864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粗利（百万円）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110728" y="462686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5.0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299448" y="462686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20.0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0488168" y="462686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45.0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72200" y="4919472"/>
            <a:ext cx="5394960" cy="292608"/>
          </a:xfrm>
          <a:prstGeom prst="rect">
            <a:avLst/>
          </a:prstGeom>
          <a:solidFill>
            <a:srgbClr val="FBFAF8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81928" y="491947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富裕層への接点（名/年）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110728" y="491947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400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299448" y="491947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1,600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0488168" y="491947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3,600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94360" y="5394960"/>
            <a:ext cx="10963656" cy="713232"/>
          </a:xfrm>
          <a:prstGeom prst="roundRect">
            <a:avLst>
              <a:gd name="adj" fmla="val 6410"/>
            </a:avLst>
          </a:prstGeom>
          <a:solidFill>
            <a:srgbClr val="1A1A1A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914400" y="5394960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狙いは贈答の粗利ではありません。Y3で年3,600名の富裕層に、銀行の信用を借りて接触できることです。ここから保管とファンドへの送客が起きます。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1行あたり200件は預かり資産上位層への贈答を想定した仮値。実際の件数は各行の富裕層顧客数に依存します。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⑨ 日本ワイン 高級帯の輸出 － 収益源ではなく布石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ジャパニーズウイスキーは混んでいますが、日本ワインの高級帯はまだ空いています。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844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アプローチ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682496"/>
            <a:ext cx="5394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647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生産者の課題は「海外での価格形成と真贋」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0208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WineBankの保管・時価評価・所有権管理がそのまま刺さります。数を絞ってトップ生産者と組む。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2523744"/>
            <a:ext cx="5394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606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輸出酒類卸売業免許の取得が先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8620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申請から3〜6か月。Y1はここと生産者契約で終わります。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3364992"/>
            <a:ext cx="5394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4472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売り先は①③⑤で作った接点に載せる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香港・シンガポール・台湾のファインワイン商社と、プライベートバンクの顧客イベント。新規開拓はしない。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4224528"/>
            <a:ext cx="5394960" cy="658368"/>
          </a:xfrm>
          <a:prstGeom prst="roundRect">
            <a:avLst>
              <a:gd name="adj" fmla="val 6944"/>
            </a:avLst>
          </a:prstGeom>
          <a:solidFill>
            <a:srgbClr val="FAF3E2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29768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844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初弾の相手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450799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山梨・長野のトップ生産者に数を絞って打診。規模は追わず、独占的な取扱い銘柄を持つことを目的とします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72200" y="13898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844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ユニット経済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1682496"/>
            <a:ext cx="5394960" cy="1078992"/>
          </a:xfrm>
          <a:prstGeom prst="roundRect">
            <a:avLst>
              <a:gd name="adj" fmla="val 4237"/>
            </a:avLst>
          </a:prstGeom>
          <a:solidFill>
            <a:srgbClr val="FAF3E2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1810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粗利率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555480" y="18105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40%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6520" y="2084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Y1の位置づけ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555480" y="20848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免許取得・生産者契約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2359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Y2 ／ Y3 の生産者数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555480" y="23591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5社 ／ 10社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2200" y="29077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844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3か年の積み上げ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72200" y="3200400"/>
            <a:ext cx="5394960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6281928" y="320040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110728" y="320040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Y1 FY2027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299448" y="320040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Y2 FY2028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488168" y="320040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Y3 FY2029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72200" y="3493008"/>
            <a:ext cx="5394960" cy="292608"/>
          </a:xfrm>
          <a:prstGeom prst="rect">
            <a:avLst/>
          </a:prstGeom>
          <a:solidFill>
            <a:srgbClr val="FAF3E2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81928" y="349300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売上（百万円）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110728" y="349300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5.0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299448" y="349300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20.0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488168" y="349300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50.0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72200" y="3785616"/>
            <a:ext cx="5394960" cy="292608"/>
          </a:xfrm>
          <a:prstGeom prst="rect">
            <a:avLst/>
          </a:prstGeom>
          <a:solidFill>
            <a:srgbClr val="FBFAF8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81928" y="378561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粗利（百万円）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110728" y="378561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2.0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299448" y="378561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8.0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488168" y="378561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20.0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4360" y="5394960"/>
            <a:ext cx="10963656" cy="713232"/>
          </a:xfrm>
          <a:prstGeom prst="roundRect">
            <a:avLst>
              <a:gd name="adj" fmla="val 6410"/>
            </a:avLst>
          </a:prstGeom>
          <a:solidFill>
            <a:srgbClr val="1A1A1A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14400" y="5394960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4チャネルのなかで最も小さく、最も遅い。それでも入れるのは、他の3つが「他社の商品を運ぶ」話なのに対し、これだけがWineBank固有の資産になるからです。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日本ワインの輸出は国全体でも小規模な市場です。ここでの数字は規模ではなく、独占的な取扱い銘柄を持つことを目的としています。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3か年の積み上げ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単位：百万円。追加販管費は専任人員（Y1 1.5名 → Y3 6名）の人件費です。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10963656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481328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276088" y="148132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Y1 FY2027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06640" y="148132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Y2 FY2028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537192" y="148132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Y3 FY2029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4360" y="1865376"/>
            <a:ext cx="10963656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865376"/>
            <a:ext cx="43525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1. ホテル・会員制クラブ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76088" y="1865376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7.6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06640" y="1865376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30.4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537192" y="1865376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68.4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2203704"/>
            <a:ext cx="10963656" cy="338328"/>
          </a:xfrm>
          <a:prstGeom prst="rect">
            <a:avLst/>
          </a:prstGeom>
          <a:solidFill>
            <a:srgbClr val="FBFAF8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203704"/>
            <a:ext cx="43525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3. ブランドレジデンス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76088" y="2203704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16.0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06640" y="2203704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80.0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537192" y="2203704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192.0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2542032"/>
            <a:ext cx="10963656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2542032"/>
            <a:ext cx="43525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5. 金融機関インセンティブ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76088" y="2542032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20.0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06640" y="2542032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80.0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537192" y="2542032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180.0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" y="2880360"/>
            <a:ext cx="10963656" cy="338328"/>
          </a:xfrm>
          <a:prstGeom prst="rect">
            <a:avLst/>
          </a:prstGeom>
          <a:solidFill>
            <a:srgbClr val="FBFAF8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2880360"/>
            <a:ext cx="43525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9. 日本ワイン 高級帯の輸出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76088" y="2880360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5.0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06640" y="2880360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20.0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537192" y="2880360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50.0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3218688"/>
            <a:ext cx="10963656" cy="338328"/>
          </a:xfrm>
          <a:prstGeom prst="rect">
            <a:avLst/>
          </a:prstGeom>
          <a:solidFill>
            <a:srgbClr val="FAF3E2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3218688"/>
            <a:ext cx="43525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売上 合計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76088" y="3218688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48.6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06640" y="3218688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210.4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537192" y="3218688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490.4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4360" y="3557016"/>
            <a:ext cx="10963656" cy="338328"/>
          </a:xfrm>
          <a:prstGeom prst="rect">
            <a:avLst/>
          </a:prstGeom>
          <a:solidFill>
            <a:srgbClr val="FAF3E2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" y="3557016"/>
            <a:ext cx="43525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粗利 合計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76088" y="3557016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14.0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406640" y="3557016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59.9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537192" y="3557016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139.7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94360" y="3895344"/>
            <a:ext cx="10963656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" y="3895344"/>
            <a:ext cx="43525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粗利率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276088" y="3895344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28.8%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406640" y="3895344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28.5%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537192" y="3895344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28.5%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94360" y="4233672"/>
            <a:ext cx="10963656" cy="338328"/>
          </a:xfrm>
          <a:prstGeom prst="rect">
            <a:avLst/>
          </a:prstGeom>
          <a:solidFill>
            <a:srgbClr val="FBFAF8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" y="4233672"/>
            <a:ext cx="43525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追加販管費（専任人員）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276088" y="4233672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▲15.0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406640" y="4233672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▲40.0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537192" y="4233672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▲80.0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94360" y="4572000"/>
            <a:ext cx="10963656" cy="338328"/>
          </a:xfrm>
          <a:prstGeom prst="rect">
            <a:avLst/>
          </a:prstGeom>
          <a:solidFill>
            <a:srgbClr val="FAF3E2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" y="4572000"/>
            <a:ext cx="43525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営業利益 貢献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276088" y="4572000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E6E6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▲1.0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406640" y="4572000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19.9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537192" y="4572000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59.7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94360" y="5047488"/>
            <a:ext cx="5349240" cy="1051560"/>
          </a:xfrm>
          <a:prstGeom prst="roundRect">
            <a:avLst>
              <a:gd name="adj" fmla="val 4348"/>
            </a:avLst>
          </a:prstGeom>
          <a:solidFill>
            <a:srgbClr val="1A1A1A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68680" y="519379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844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プランEとの関係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68680" y="546811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FY2027のプランE（私募＋オークション300百万円）を埋めるのは、この4チャネルではありません。Y1の貢献は48.6百万円です。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217920" y="5047488"/>
            <a:ext cx="5349240" cy="1051560"/>
          </a:xfrm>
          <a:prstGeom prst="roundRect">
            <a:avLst>
              <a:gd name="adj" fmla="val 4348"/>
            </a:avLst>
          </a:prstGeom>
          <a:solidFill>
            <a:srgbClr val="FAF3E2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492240" y="519379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上場計画との関係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92240" y="546811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資本政策が想定する上場時（FY2029）の純利益439百万円に対し、Y3の粗利139.7百万円が積み上がります。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粗利率28.5%はプランD・Eで用いた差額売上の粗利率30%とほぼ整合します。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最初の90日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いずれも先方の予算や仕様確定のサイクルに乗る必要があるため、入り口を間違えると1年遅れます。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10963656" cy="1371600"/>
          </a:xfrm>
          <a:prstGeom prst="roundRect">
            <a:avLst>
              <a:gd name="adj" fmla="val 3333"/>
            </a:avLst>
          </a:prstGeom>
          <a:solidFill>
            <a:srgbClr val="FAF3E2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093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Day 1–30　準備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193852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・① 委託販売契約とディスプレイ・レンタル契約のひな型を作成／酒類指導官へ契約形態を事前確認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216255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・③ デベロッパー5社の商品企画部の窓口を特定／モデルルーム設置の提案書を1本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238658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・⑤ 地銀3行を選定（FPG提携先から）／各行の予算編成期を確認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610612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・⑨ 輸出酒類卸売業免許の申請書類を準備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2999232"/>
            <a:ext cx="10963656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1272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Day 31–60　初回接触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456432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・① Apiciusのシェフソムリエ経由で3施設に打診、1施設で設置合意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368046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・③ デベロッパー2社と初回面談、モデルルーム設置を提案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390448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・⑤ 2行に初回提案／「ワイン投資と相続」セミナーの企画書を提示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41285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・⑨ 山梨・長野のトップ生産者3社に打診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517136"/>
            <a:ext cx="10963656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0DC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6451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Day 61–90　着地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497433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・① 3施設の設置を完了、月次レポートの運用を開始（料率と回転率の検証開始）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" y="519836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・③ モデルルーム1件の設置合意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4400" y="5422392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・⑤ 1行で次年度予算への計上の内諾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14400" y="564642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・⑨ 免許申請を提出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90日で売上を作るのではなく、①で3施設の実データ、⑤で1行の予算内諾を取ることが目標です。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前提とリスク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数字はすべて積み上げの試算です。確定した受注ではありません。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44752"/>
            <a:ext cx="1096365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9961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酒類販売業免許の区分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11880" y="1499616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飲食店・ホテルへの販売は小売免許の範囲。酒販店への卸には洋酒卸売業免許、輸出には輸出酒類卸売業免許が別途必要です。ディスプレイ・レンタルは形式上「販売」ではありませんが、現場で開栓・提供されれば実質は販売にあたるため、契約設計を国税局の酒類指導官に事前確認します。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2221992"/>
            <a:ext cx="10963656" cy="713232"/>
          </a:xfrm>
          <a:prstGeom prst="rect">
            <a:avLst/>
          </a:prstGeom>
          <a:solidFill>
            <a:srgbClr val="FBFAF8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7685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① 料率と回転率は未検証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11880" y="2276856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レンタル年8%・販売転換30%はアートのレンタル相場を参照点に置いた仮値です。パイロット3施設の実データで置き換えます。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2999232"/>
            <a:ext cx="1096365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5409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③ 新築のリードタイム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11880" y="3054096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仕様確定は竣工の18〜24か月前。Y1の1棟はモデルルーム経由の先行案件を前提としており、本格化はY2以降です。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3776472"/>
            <a:ext cx="10963656" cy="713232"/>
          </a:xfrm>
          <a:prstGeom prst="rect">
            <a:avLst/>
          </a:prstGeom>
          <a:solidFill>
            <a:srgbClr val="FBFAF8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3133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⑤ 予算サイクル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11880" y="3831336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地銀の販促予算は12月〜2月に固まります。この時期を外すと丸1年遅れます。FPGとの関係構築が加速要因になります。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553712"/>
            <a:ext cx="1096365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60857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⑨ 供給制約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11880" y="4608576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日本ワインの高級帯は生産量が絶対的に少なく、規模は追えません。免許取得に3〜6か月かかります。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5330952"/>
            <a:ext cx="10963656" cy="713232"/>
          </a:xfrm>
          <a:prstGeom prst="rect">
            <a:avLst/>
          </a:prstGeom>
          <a:solidFill>
            <a:srgbClr val="FBFAF8"/>
          </a:solidFill>
          <a:ln w="6350">
            <a:solidFill>
              <a:srgbClr val="E2E0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38581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共通：人員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11880" y="5385816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Y3の6名体制が前提です。採用が遅れれば、そのまま立ち上がりが遅れます。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株式会社WineBank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WineBank 新規販売チャネル計画</dc:title>
  <dc:subject>PptxGenJS Presentation</dc:subject>
  <dc:creator>株式会社WineBank</dc:creator>
  <cp:lastModifiedBy>株式会社WineBank</cp:lastModifiedBy>
  <cp:revision>1</cp:revision>
  <dcterms:created xsi:type="dcterms:W3CDTF">2026-08-29T22:35:52Z</dcterms:created>
  <dcterms:modified xsi:type="dcterms:W3CDTF">2026-08-29T22:35:52Z</dcterms:modified>
</cp:coreProperties>
</file>