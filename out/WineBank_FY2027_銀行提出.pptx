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販管費（百万円）</c:v>
                </c:pt>
              </c:strCache>
            </c:strRef>
          </c:tx>
          <c:spPr>
            <a:solidFill>
              <a:srgbClr val="B8B5AF"/>
            </a:solidFill>
            <a:effectLst/>
          </c:spPr>
          <c:invertIfNegative val="0"/>
          <c:dLbls>
            <c:numFmt formatCode="0.0" sourceLinked="0"/>
            <c:txPr>
              <a:bodyPr/>
              <a:lstStyle/>
              <a:p>
                <a:pPr>
                  <a:defRPr b="0" i="0" strike="noStrike" sz="950" u="none">
                    <a:solidFill>
                      <a:srgbClr val="1A1A1A"/>
                    </a:solidFill>
                    <a:latin typeface="メイリオ"/>
                  </a:defRPr>
                </a:pPr>
              </a:p>
            </c:txPr>
            <c:showLegendKey val="0"/>
            <c:showVal val="1"/>
            <c:showCatName val="0"/>
            <c:showSerName val="0"/>
            <c:showPercent val="0"/>
            <c:showBubbleSize val="0"/>
            <c:showLeaderLines val="0"/>
          </c:dLbls>
          <c:dPt>
            <c:idx val="0"/>
            <c:invertIfNegative val="0"/>
            <c:bubble3D val="0"/>
            <c:spPr>
              <a:solidFill>
                <a:srgbClr val="B8B5AF"/>
              </a:solidFill>
              <a:effectLst/>
            </c:spPr>
          </c:dPt>
          <c:dPt>
            <c:idx val="1"/>
            <c:invertIfNegative val="0"/>
            <c:bubble3D val="0"/>
            <c:spPr>
              <a:solidFill>
                <a:srgbClr val="B8B5AF"/>
              </a:solidFill>
              <a:effectLst/>
            </c:spPr>
          </c:dPt>
          <c:dPt>
            <c:idx val="2"/>
            <c:invertIfNegative val="0"/>
            <c:bubble3D val="0"/>
            <c:spPr>
              <a:solidFill>
                <a:srgbClr val="B8B5AF"/>
              </a:solidFill>
              <a:effectLst/>
            </c:spPr>
          </c:dPt>
          <c:dPt>
            <c:idx val="3"/>
            <c:invertIfNegative val="0"/>
            <c:bubble3D val="0"/>
            <c:spPr>
              <a:solidFill>
                <a:srgbClr val="B8B5AF"/>
              </a:solidFill>
              <a:effectLst/>
            </c:spPr>
          </c:dPt>
          <c:dPt>
            <c:idx val="4"/>
            <c:invertIfNegative val="0"/>
            <c:bubble3D val="0"/>
            <c:spPr>
              <a:solidFill>
                <a:srgbClr val="B8B5AF"/>
              </a:solidFill>
              <a:effectLst/>
            </c:spPr>
          </c:dPt>
          <c:dPt>
            <c:idx val="5"/>
            <c:invertIfNegative val="0"/>
            <c:bubble3D val="0"/>
            <c:spPr>
              <a:solidFill>
                <a:srgbClr val="1A1A1A"/>
              </a:solidFill>
              <a:effectLst/>
            </c:spPr>
          </c:dPt>
          <c:dPt>
            <c:idx val="6"/>
            <c:invertIfNegative val="0"/>
            <c:bubble3D val="0"/>
            <c:spPr>
              <a:solidFill>
                <a:srgbClr val="A98442"/>
              </a:solidFill>
              <a:effectLst/>
            </c:spPr>
          </c:dPt>
          <c:dPt>
            <c:idx val="7"/>
            <c:invertIfNegative val="0"/>
            <c:bubble3D val="0"/>
            <c:spPr>
              <a:solidFill>
                <a:srgbClr val="A98442"/>
              </a:solidFill>
              <a:effectLst/>
            </c:spPr>
          </c:dPt>
          <c:dPt>
            <c:idx val="8"/>
            <c:invertIfNegative val="0"/>
            <c:bubble3D val="0"/>
            <c:spPr>
              <a:solidFill>
                <a:srgbClr val="A98442"/>
              </a:solidFill>
              <a:effectLst/>
            </c:spPr>
          </c:dPt>
          <c:cat>
            <c:multiLvlStrRef>
              <c:f>Sheet1!$A$2:$A$10</c:f>
              <c:multiLvlStrCache>
                <c:ptCount val="9"/>
                <c:lvl>
                  <c:pt idx="0">
                    <c:v>25/10</c:v>
                  </c:pt>
                  <c:pt idx="1">
                    <c:v>25/11</c:v>
                  </c:pt>
                  <c:pt idx="2">
                    <c:v>25/12</c:v>
                  </c:pt>
                  <c:pt idx="3">
                    <c:v>26/01</c:v>
                  </c:pt>
                  <c:pt idx="4">
                    <c:v>26/02</c:v>
                  </c:pt>
                  <c:pt idx="5">
                    <c:v>26/03</c:v>
                  </c:pt>
                  <c:pt idx="6">
                    <c:v>26/04</c:v>
                  </c:pt>
                  <c:pt idx="7">
                    <c:v>26/05</c:v>
                  </c:pt>
                  <c:pt idx="8">
                    <c:v>26/06</c:v>
                  </c:pt>
                </c:lvl>
              </c:multiLvlStrCache>
            </c:multiLvlStrRef>
          </c:cat>
          <c:val>
            <c:numRef>
              <c:f>Sheet1!$B$2:$B$10</c:f>
              <c:numCache>
                <c:formatCode>General</c:formatCode>
                <c:ptCount val="9"/>
                <c:pt idx="0">
                  <c:v>25.374892</c:v>
                </c:pt>
                <c:pt idx="1">
                  <c:v>30.963282</c:v>
                </c:pt>
                <c:pt idx="2">
                  <c:v>38.572456</c:v>
                </c:pt>
                <c:pt idx="3">
                  <c:v>33.761779</c:v>
                </c:pt>
                <c:pt idx="4">
                  <c:v>34.133901</c:v>
                </c:pt>
                <c:pt idx="5">
                  <c:v>38.737868</c:v>
                </c:pt>
                <c:pt idx="6">
                  <c:v>25.883967</c:v>
                </c:pt>
                <c:pt idx="7">
                  <c:v>24.529013</c:v>
                </c:pt>
                <c:pt idx="8">
                  <c:v>24.627286</c:v>
                </c:pt>
              </c:numCache>
            </c:numRef>
          </c:val>
        </c:ser>
        <c:dLbls>
          <c:numFmt formatCode="0.0" sourceLinked="0"/>
          <c:txPr>
            <a:bodyPr/>
            <a:lstStyle/>
            <a:p>
              <a:pPr>
                <a:defRPr b="0" i="0" strike="noStrike" sz="950" u="none">
                  <a:solidFill>
                    <a:srgbClr val="1A1A1A"/>
                  </a:solidFill>
                  <a:latin typeface="メイリオ"/>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C8C8C"/>
                </a:solidFill>
                <a:latin typeface="メイリオ"/>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12700" cap="flat">
              <a:solidFill>
                <a:srgbClr val="ECEA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8C8C8C"/>
                </a:solidFill>
                <a:latin typeface="メイリオ"/>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FY2026の赤字の主因である不採算3店舗の撤退は2026年3月で完了。WineBankテラスはWineBank CLUBのフラッグシップ店として改善のうえ継続。4月以降が再編後の実力値。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FY2026は私募2本で営業▲9.8まで回復。Dは既存730.5＋上乗せ102.5で売上833.0、経常＋90.4。Eはさらに私募＋オークション300百万円を上積み。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私募2本が9月末に間に合ったことで営業損益はほぼ均衡。ただしSBI公募の遅延（粗利200百万円超）は解消していない。前倒し2件はFY2027から落ちる。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公募の遅延という外部要因を、来期は計画の柱から外す。自社でコントロールできる私募とオークションを毎年回す体制に変える、という方針転換を明示する。プランEの300百万円がこれに当たる。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主題は不採算店の撤退。WineBankテラスは残してフラッグシップ化しており、飲食から全面撤退したわけではない点を補足する。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2026年7月以降は事業計画上の見込値（同一値が並ぶプラグ）のため、実績としては使わずグラフからも除いている。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4月起点とする理由は飲食撤退店舗の損益を除くため。粗利率51.5%は事業構成の変化による。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一過性の私募を先に落として見せることが誠実さになる。③は新規開拓ではなく過去2期平均への復元。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プランは2本のみ。Dが銀行提出のメインシナリオ、Eが施策を打った場合の上振れ。横ばい実力値は積み上げの出発点として参考掲示。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在庫積み増しは資金を食うが、それは成長投資であり担保余力でもある、という整理。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プランDの月次。通期経常＋90.4百万円。M&amp;A仲介はFY2026に前倒しのため計上なし。3月と9月にクルーザー各10百万円。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プランDでは期中最低34.2百万円、期末135.8百万円。仕入を維持しても在庫が積み上がらないため、資金が固定されないことが効いている。ケースDは差額売上が未達の場合で、その差が本計画の意味。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プランEは施策を打った場合の上振れ。300百万円はFY2026に私募2本（3号5億・4号1億）で実際に組成した規模と同水準で、まったくの新規前提ではない。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ソフトウェアは保守的に全額控除。それでも在庫含み益で実態純資産は簿価を上回る。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銀行に指摘される前に自分から出す。これが信頼確保の基本方針。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プランDは過去2期の平均そのもので新規前提なし。プランEの300百万円もFY2026の私募実績と同水準。どちらも実績に裏付けがあることを強調する。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依頼事項を明確にして締める。短期の借換継続と在庫見合いの運転資金枠の2点が具体的な依頼。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A1A1A"/>
          </a:solidFill>
          <a:ln/>
        </p:spPr>
      </p:sp>
      <p:sp>
        <p:nvSpPr>
          <p:cNvPr id="3" name="Text 1"/>
          <p:cNvSpPr/>
          <p:nvPr/>
        </p:nvSpPr>
        <p:spPr>
          <a:xfrm>
            <a:off x="822960" y="1554480"/>
            <a:ext cx="8229600" cy="365760"/>
          </a:xfrm>
          <a:prstGeom prst="rect">
            <a:avLst/>
          </a:prstGeom>
          <a:noFill/>
          <a:ln/>
        </p:spPr>
        <p:txBody>
          <a:bodyPr wrap="square" lIns="0" tIns="0" rIns="0" bIns="0" rtlCol="0" anchor="ctr"/>
          <a:lstStyle/>
          <a:p>
            <a:pPr indent="0" marL="0">
              <a:buNone/>
            </a:pPr>
            <a:r>
              <a:rPr lang="en-US" sz="1300" spc="300" kern="0" dirty="0">
                <a:solidFill>
                  <a:srgbClr val="A98442"/>
                </a:solidFill>
                <a:latin typeface="メイリオ" pitchFamily="34" charset="0"/>
                <a:ea typeface="メイリオ" pitchFamily="34" charset="-122"/>
                <a:cs typeface="メイリオ" pitchFamily="34" charset="-120"/>
              </a:rPr>
              <a:t>株式会社WineBank</a:t>
            </a:r>
            <a:endParaRPr lang="en-US" sz="1300" dirty="0"/>
          </a:p>
        </p:txBody>
      </p:sp>
      <p:sp>
        <p:nvSpPr>
          <p:cNvPr id="4" name="Text 2"/>
          <p:cNvSpPr/>
          <p:nvPr/>
        </p:nvSpPr>
        <p:spPr>
          <a:xfrm>
            <a:off x="822960" y="2011680"/>
            <a:ext cx="9144000" cy="868680"/>
          </a:xfrm>
          <a:prstGeom prst="rect">
            <a:avLst/>
          </a:prstGeom>
          <a:noFill/>
          <a:ln/>
        </p:spPr>
        <p:txBody>
          <a:bodyPr wrap="square" lIns="0" tIns="0" rIns="0" bIns="0" rtlCol="0" anchor="ctr"/>
          <a:lstStyle/>
          <a:p>
            <a:pPr indent="0" marL="0">
              <a:buNone/>
            </a:pPr>
            <a:r>
              <a:rPr lang="en-US" sz="4600" b="1" dirty="0">
                <a:solidFill>
                  <a:srgbClr val="1A1A1A"/>
                </a:solidFill>
                <a:latin typeface="メイリオ" pitchFamily="34" charset="0"/>
                <a:ea typeface="メイリオ" pitchFamily="34" charset="-122"/>
                <a:cs typeface="メイリオ" pitchFamily="34" charset="-120"/>
              </a:rPr>
              <a:t>事業再生計画</a:t>
            </a:r>
            <a:endParaRPr lang="en-US" sz="4600" dirty="0"/>
          </a:p>
        </p:txBody>
      </p:sp>
      <p:sp>
        <p:nvSpPr>
          <p:cNvPr id="5" name="Text 3"/>
          <p:cNvSpPr/>
          <p:nvPr/>
        </p:nvSpPr>
        <p:spPr>
          <a:xfrm>
            <a:off x="822960" y="2971800"/>
            <a:ext cx="9601200" cy="548640"/>
          </a:xfrm>
          <a:prstGeom prst="rect">
            <a:avLst/>
          </a:prstGeom>
          <a:noFill/>
          <a:ln/>
        </p:spPr>
        <p:txBody>
          <a:bodyPr wrap="square" lIns="0" tIns="0" rIns="0" bIns="0" rtlCol="0" anchor="ctr"/>
          <a:lstStyle/>
          <a:p>
            <a:pPr indent="0" marL="0">
              <a:buNone/>
            </a:pPr>
            <a:r>
              <a:rPr lang="en-US" sz="2300" dirty="0">
                <a:solidFill>
                  <a:srgbClr val="4A4A4A"/>
                </a:solidFill>
                <a:latin typeface="メイリオ" pitchFamily="34" charset="0"/>
                <a:ea typeface="メイリオ" pitchFamily="34" charset="-122"/>
                <a:cs typeface="メイリオ" pitchFamily="34" charset="-120"/>
              </a:rPr>
              <a:t>2027年9月期 － 未達の要因と回復の道筋</a:t>
            </a:r>
            <a:endParaRPr lang="en-US" sz="2300" dirty="0"/>
          </a:p>
        </p:txBody>
      </p:sp>
      <p:sp>
        <p:nvSpPr>
          <p:cNvPr id="6" name="Shape 4"/>
          <p:cNvSpPr/>
          <p:nvPr/>
        </p:nvSpPr>
        <p:spPr>
          <a:xfrm>
            <a:off x="822960" y="3886200"/>
            <a:ext cx="1463040" cy="22860"/>
          </a:xfrm>
          <a:prstGeom prst="rect">
            <a:avLst/>
          </a:prstGeom>
          <a:solidFill>
            <a:srgbClr val="A98442"/>
          </a:solidFill>
          <a:ln/>
        </p:spPr>
      </p:sp>
      <p:sp>
        <p:nvSpPr>
          <p:cNvPr id="7" name="Text 5"/>
          <p:cNvSpPr/>
          <p:nvPr/>
        </p:nvSpPr>
        <p:spPr>
          <a:xfrm>
            <a:off x="822960" y="4206240"/>
            <a:ext cx="5486400" cy="310896"/>
          </a:xfrm>
          <a:prstGeom prst="rect">
            <a:avLst/>
          </a:prstGeom>
          <a:noFill/>
          <a:ln/>
        </p:spPr>
        <p:txBody>
          <a:bodyPr wrap="square" lIns="0" tIns="0" rIns="0" bIns="0" rtlCol="0" anchor="ctr"/>
          <a:lstStyle/>
          <a:p>
            <a:pPr indent="0" marL="0">
              <a:buNone/>
            </a:pPr>
            <a:r>
              <a:rPr lang="en-US" sz="1300" dirty="0">
                <a:solidFill>
                  <a:srgbClr val="1A1A1A"/>
                </a:solidFill>
                <a:latin typeface="メイリオ" pitchFamily="34" charset="0"/>
                <a:ea typeface="メイリオ" pitchFamily="34" charset="-122"/>
                <a:cs typeface="メイリオ" pitchFamily="34" charset="-120"/>
              </a:rPr>
              <a:t>株式会社みずほ銀行 御中</a:t>
            </a:r>
            <a:endParaRPr lang="en-US" sz="1300" dirty="0"/>
          </a:p>
        </p:txBody>
      </p:sp>
      <p:sp>
        <p:nvSpPr>
          <p:cNvPr id="8" name="Text 6"/>
          <p:cNvSpPr/>
          <p:nvPr/>
        </p:nvSpPr>
        <p:spPr>
          <a:xfrm>
            <a:off x="822960" y="4572000"/>
            <a:ext cx="5486400" cy="310896"/>
          </a:xfrm>
          <a:prstGeom prst="rect">
            <a:avLst/>
          </a:prstGeom>
          <a:noFill/>
          <a:ln/>
        </p:spPr>
        <p:txBody>
          <a:bodyPr wrap="square" lIns="0" tIns="0" rIns="0" bIns="0" rtlCol="0" anchor="ctr"/>
          <a:lstStyle/>
          <a:p>
            <a:pPr indent="0" marL="0">
              <a:buNone/>
            </a:pPr>
            <a:r>
              <a:rPr lang="en-US" sz="1300" dirty="0">
                <a:solidFill>
                  <a:srgbClr val="8C8C8C"/>
                </a:solidFill>
                <a:latin typeface="メイリオ" pitchFamily="34" charset="0"/>
                <a:ea typeface="メイリオ" pitchFamily="34" charset="-122"/>
                <a:cs typeface="メイリオ" pitchFamily="34" charset="-120"/>
              </a:rPr>
              <a:t>2026年8月</a:t>
            </a:r>
            <a:endParaRPr lang="en-US" sz="1300" dirty="0"/>
          </a:p>
        </p:txBody>
      </p:sp>
      <p:sp>
        <p:nvSpPr>
          <p:cNvPr id="9" name="Text 7"/>
          <p:cNvSpPr/>
          <p:nvPr/>
        </p:nvSpPr>
        <p:spPr>
          <a:xfrm>
            <a:off x="822960" y="5943600"/>
            <a:ext cx="10058400" cy="310896"/>
          </a:xfrm>
          <a:prstGeom prst="rect">
            <a:avLst/>
          </a:prstGeom>
          <a:noFill/>
          <a:ln/>
        </p:spPr>
        <p:txBody>
          <a:bodyPr wrap="square" lIns="0" tIns="0" rIns="0" bIns="0" rtlCol="0" anchor="ctr"/>
          <a:lstStyle/>
          <a:p>
            <a:pPr indent="0" marL="0">
              <a:buNone/>
            </a:pPr>
            <a:r>
              <a:rPr lang="en-US" sz="950" dirty="0">
                <a:solidFill>
                  <a:srgbClr val="8C8C8C"/>
                </a:solidFill>
                <a:latin typeface="メイリオ" pitchFamily="34" charset="0"/>
                <a:ea typeface="メイリオ" pitchFamily="34" charset="-122"/>
                <a:cs typeface="メイリオ" pitchFamily="34" charset="-120"/>
              </a:rPr>
              <a:t>本資料は2026年6月までの月次実績にもとづく計画です。</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エグゼクティブサマリー</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FY2026は9月末の私募ファンド組成で営業損益がほぼ均衡まで回復。FY2027はそこからの積み上げです。</a:t>
            </a:r>
            <a:endParaRPr lang="en-US" sz="1250" dirty="0"/>
          </a:p>
        </p:txBody>
      </p:sp>
      <p:sp>
        <p:nvSpPr>
          <p:cNvPr id="4" name="Shape 2"/>
          <p:cNvSpPr/>
          <p:nvPr/>
        </p:nvSpPr>
        <p:spPr>
          <a:xfrm>
            <a:off x="594360" y="1481328"/>
            <a:ext cx="6720840" cy="969264"/>
          </a:xfrm>
          <a:prstGeom prst="roundRect">
            <a:avLst>
              <a:gd name="adj" fmla="val 4717"/>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5" name="Shape 3"/>
          <p:cNvSpPr/>
          <p:nvPr/>
        </p:nvSpPr>
        <p:spPr>
          <a:xfrm>
            <a:off x="841248" y="1810512"/>
            <a:ext cx="310896" cy="310896"/>
          </a:xfrm>
          <a:prstGeom prst="ellipse">
            <a:avLst/>
          </a:prstGeom>
          <a:solidFill>
            <a:srgbClr val="1A1A1A"/>
          </a:solidFill>
          <a:ln/>
        </p:spPr>
      </p:sp>
      <p:sp>
        <p:nvSpPr>
          <p:cNvPr id="6" name="Text 4"/>
          <p:cNvSpPr/>
          <p:nvPr/>
        </p:nvSpPr>
        <p:spPr>
          <a:xfrm>
            <a:off x="841248" y="181051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1</a:t>
            </a:r>
            <a:endParaRPr lang="en-US" sz="1300" dirty="0"/>
          </a:p>
        </p:txBody>
      </p:sp>
      <p:sp>
        <p:nvSpPr>
          <p:cNvPr id="7" name="Text 5"/>
          <p:cNvSpPr/>
          <p:nvPr/>
        </p:nvSpPr>
        <p:spPr>
          <a:xfrm>
            <a:off x="1298448" y="1627632"/>
            <a:ext cx="5852160" cy="329184"/>
          </a:xfrm>
          <a:prstGeom prst="rect">
            <a:avLst/>
          </a:prstGeom>
          <a:noFill/>
          <a:ln/>
        </p:spPr>
        <p:txBody>
          <a:bodyPr wrap="square" lIns="0" tIns="0" rIns="0" bIns="0" rtlCol="0" anchor="ctr"/>
          <a:lstStyle/>
          <a:p>
            <a:pPr indent="0" marL="0">
              <a:buNone/>
            </a:pPr>
            <a:r>
              <a:rPr lang="en-US" sz="1450" b="1" dirty="0">
                <a:solidFill>
                  <a:srgbClr val="1A1A1A"/>
                </a:solidFill>
                <a:latin typeface="メイリオ" pitchFamily="34" charset="0"/>
                <a:ea typeface="メイリオ" pitchFamily="34" charset="-122"/>
                <a:cs typeface="メイリオ" pitchFamily="34" charset="-120"/>
              </a:rPr>
              <a:t>FY2026は営業損益がほぼ均衡まで回復</a:t>
            </a:r>
            <a:endParaRPr lang="en-US" sz="1450" dirty="0"/>
          </a:p>
        </p:txBody>
      </p:sp>
      <p:sp>
        <p:nvSpPr>
          <p:cNvPr id="8" name="Text 6"/>
          <p:cNvSpPr/>
          <p:nvPr/>
        </p:nvSpPr>
        <p:spPr>
          <a:xfrm>
            <a:off x="1298448" y="1984248"/>
            <a:ext cx="5852160" cy="384048"/>
          </a:xfrm>
          <a:prstGeom prst="rect">
            <a:avLst/>
          </a:prstGeom>
          <a:noFill/>
          <a:ln/>
        </p:spPr>
        <p:txBody>
          <a:bodyPr wrap="square" lIns="0" tIns="0" rIns="0" bIns="0" rtlCol="0" anchor="ctr"/>
          <a:lstStyle/>
          <a:p>
            <a:pPr indent="0" marL="0">
              <a:buNone/>
            </a:pPr>
            <a:r>
              <a:rPr lang="en-US" sz="1100" dirty="0">
                <a:solidFill>
                  <a:srgbClr val="1A1A1A"/>
                </a:solidFill>
                <a:latin typeface="メイリオ" pitchFamily="34" charset="0"/>
                <a:ea typeface="メイリオ" pitchFamily="34" charset="-122"/>
                <a:cs typeface="メイリオ" pitchFamily="34" charset="-120"/>
              </a:rPr>
              <a:t>9月末に私募ファンド3号（5億）・4号（1億）の組成が完了。粗利75百万円を計上します。</a:t>
            </a:r>
            <a:endParaRPr lang="en-US" sz="1100" dirty="0"/>
          </a:p>
        </p:txBody>
      </p:sp>
      <p:sp>
        <p:nvSpPr>
          <p:cNvPr id="9" name="Shape 7"/>
          <p:cNvSpPr/>
          <p:nvPr/>
        </p:nvSpPr>
        <p:spPr>
          <a:xfrm>
            <a:off x="594360" y="2596896"/>
            <a:ext cx="6720840" cy="969264"/>
          </a:xfrm>
          <a:prstGeom prst="roundRect">
            <a:avLst>
              <a:gd name="adj" fmla="val 4717"/>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0" name="Shape 8"/>
          <p:cNvSpPr/>
          <p:nvPr/>
        </p:nvSpPr>
        <p:spPr>
          <a:xfrm>
            <a:off x="841248" y="2926080"/>
            <a:ext cx="310896" cy="310896"/>
          </a:xfrm>
          <a:prstGeom prst="ellipse">
            <a:avLst/>
          </a:prstGeom>
          <a:solidFill>
            <a:srgbClr val="1A1A1A"/>
          </a:solidFill>
          <a:ln/>
        </p:spPr>
      </p:sp>
      <p:sp>
        <p:nvSpPr>
          <p:cNvPr id="11" name="Text 9"/>
          <p:cNvSpPr/>
          <p:nvPr/>
        </p:nvSpPr>
        <p:spPr>
          <a:xfrm>
            <a:off x="841248" y="29260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2</a:t>
            </a:r>
            <a:endParaRPr lang="en-US" sz="1300" dirty="0"/>
          </a:p>
        </p:txBody>
      </p:sp>
      <p:sp>
        <p:nvSpPr>
          <p:cNvPr id="12" name="Text 10"/>
          <p:cNvSpPr/>
          <p:nvPr/>
        </p:nvSpPr>
        <p:spPr>
          <a:xfrm>
            <a:off x="1298448" y="2743200"/>
            <a:ext cx="5852160" cy="329184"/>
          </a:xfrm>
          <a:prstGeom prst="rect">
            <a:avLst/>
          </a:prstGeom>
          <a:noFill/>
          <a:ln/>
        </p:spPr>
        <p:txBody>
          <a:bodyPr wrap="square" lIns="0" tIns="0" rIns="0" bIns="0" rtlCol="0" anchor="ctr"/>
          <a:lstStyle/>
          <a:p>
            <a:pPr indent="0" marL="0">
              <a:buNone/>
            </a:pPr>
            <a:r>
              <a:rPr lang="en-US" sz="1450" b="1" dirty="0">
                <a:solidFill>
                  <a:srgbClr val="1A1A1A"/>
                </a:solidFill>
                <a:latin typeface="メイリオ" pitchFamily="34" charset="0"/>
                <a:ea typeface="メイリオ" pitchFamily="34" charset="-122"/>
                <a:cs typeface="メイリオ" pitchFamily="34" charset="-120"/>
              </a:rPr>
              <a:t>未達の最大要因は公募ファンドの遅延</a:t>
            </a:r>
            <a:endParaRPr lang="en-US" sz="1450" dirty="0"/>
          </a:p>
        </p:txBody>
      </p:sp>
      <p:sp>
        <p:nvSpPr>
          <p:cNvPr id="13" name="Text 11"/>
          <p:cNvSpPr/>
          <p:nvPr/>
        </p:nvSpPr>
        <p:spPr>
          <a:xfrm>
            <a:off x="1298448" y="3099816"/>
            <a:ext cx="5852160" cy="384048"/>
          </a:xfrm>
          <a:prstGeom prst="rect">
            <a:avLst/>
          </a:prstGeom>
          <a:noFill/>
          <a:ln/>
        </p:spPr>
        <p:txBody>
          <a:bodyPr wrap="square" lIns="0" tIns="0" rIns="0" bIns="0" rtlCol="0" anchor="ctr"/>
          <a:lstStyle/>
          <a:p>
            <a:pPr indent="0" marL="0">
              <a:buNone/>
            </a:pPr>
            <a:r>
              <a:rPr lang="en-US" sz="1100" dirty="0">
                <a:solidFill>
                  <a:srgbClr val="1A1A1A"/>
                </a:solidFill>
                <a:latin typeface="メイリオ" pitchFamily="34" charset="0"/>
                <a:ea typeface="メイリオ" pitchFamily="34" charset="-122"/>
                <a:cs typeface="メイリオ" pitchFamily="34" charset="-120"/>
              </a:rPr>
              <a:t>SBI証券との公募が大幅に遅延し、粗利200百万円超が当期に立ちませんでした。</a:t>
            </a:r>
            <a:endParaRPr lang="en-US" sz="1100" dirty="0"/>
          </a:p>
        </p:txBody>
      </p:sp>
      <p:sp>
        <p:nvSpPr>
          <p:cNvPr id="14" name="Shape 12"/>
          <p:cNvSpPr/>
          <p:nvPr/>
        </p:nvSpPr>
        <p:spPr>
          <a:xfrm>
            <a:off x="594360" y="3712464"/>
            <a:ext cx="6720840" cy="969264"/>
          </a:xfrm>
          <a:prstGeom prst="roundRect">
            <a:avLst>
              <a:gd name="adj" fmla="val 4717"/>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5" name="Shape 13"/>
          <p:cNvSpPr/>
          <p:nvPr/>
        </p:nvSpPr>
        <p:spPr>
          <a:xfrm>
            <a:off x="841248" y="4041648"/>
            <a:ext cx="310896" cy="310896"/>
          </a:xfrm>
          <a:prstGeom prst="ellipse">
            <a:avLst/>
          </a:prstGeom>
          <a:solidFill>
            <a:srgbClr val="1A1A1A"/>
          </a:solidFill>
          <a:ln/>
        </p:spPr>
      </p:sp>
      <p:sp>
        <p:nvSpPr>
          <p:cNvPr id="16" name="Text 14"/>
          <p:cNvSpPr/>
          <p:nvPr/>
        </p:nvSpPr>
        <p:spPr>
          <a:xfrm>
            <a:off x="841248" y="40416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3</a:t>
            </a:r>
            <a:endParaRPr lang="en-US" sz="1300" dirty="0"/>
          </a:p>
        </p:txBody>
      </p:sp>
      <p:sp>
        <p:nvSpPr>
          <p:cNvPr id="17" name="Text 15"/>
          <p:cNvSpPr/>
          <p:nvPr/>
        </p:nvSpPr>
        <p:spPr>
          <a:xfrm>
            <a:off x="1298448" y="3858768"/>
            <a:ext cx="5852160" cy="329184"/>
          </a:xfrm>
          <a:prstGeom prst="rect">
            <a:avLst/>
          </a:prstGeom>
          <a:noFill/>
          <a:ln/>
        </p:spPr>
        <p:txBody>
          <a:bodyPr wrap="square" lIns="0" tIns="0" rIns="0" bIns="0" rtlCol="0" anchor="ctr"/>
          <a:lstStyle/>
          <a:p>
            <a:pPr indent="0" marL="0">
              <a:buNone/>
            </a:pPr>
            <a:r>
              <a:rPr lang="en-US" sz="1450" b="1" dirty="0">
                <a:solidFill>
                  <a:srgbClr val="1A1A1A"/>
                </a:solidFill>
                <a:latin typeface="メイリオ" pitchFamily="34" charset="0"/>
                <a:ea typeface="メイリオ" pitchFamily="34" charset="-122"/>
                <a:cs typeface="メイリオ" pitchFamily="34" charset="-120"/>
              </a:rPr>
              <a:t>不採算3店舗の撤退は完了</a:t>
            </a:r>
            <a:endParaRPr lang="en-US" sz="1450" dirty="0"/>
          </a:p>
        </p:txBody>
      </p:sp>
      <p:sp>
        <p:nvSpPr>
          <p:cNvPr id="18" name="Text 16"/>
          <p:cNvSpPr/>
          <p:nvPr/>
        </p:nvSpPr>
        <p:spPr>
          <a:xfrm>
            <a:off x="1298448" y="4215384"/>
            <a:ext cx="5852160" cy="384048"/>
          </a:xfrm>
          <a:prstGeom prst="rect">
            <a:avLst/>
          </a:prstGeom>
          <a:noFill/>
          <a:ln/>
        </p:spPr>
        <p:txBody>
          <a:bodyPr wrap="square" lIns="0" tIns="0" rIns="0" bIns="0" rtlCol="0" anchor="ctr"/>
          <a:lstStyle/>
          <a:p>
            <a:pPr indent="0" marL="0">
              <a:buNone/>
            </a:pPr>
            <a:r>
              <a:rPr lang="en-US" sz="1100" dirty="0">
                <a:solidFill>
                  <a:srgbClr val="1A1A1A"/>
                </a:solidFill>
                <a:latin typeface="メイリオ" pitchFamily="34" charset="0"/>
                <a:ea typeface="メイリオ" pitchFamily="34" charset="-122"/>
                <a:cs typeface="メイリオ" pitchFamily="34" charset="-120"/>
              </a:rPr>
              <a:t>2026年3月で完了。固定費は年103百万円削減済み。1店舗はフラッグシップ店として継続。</a:t>
            </a:r>
            <a:endParaRPr lang="en-US" sz="1100" dirty="0"/>
          </a:p>
        </p:txBody>
      </p:sp>
      <p:sp>
        <p:nvSpPr>
          <p:cNvPr id="19" name="Shape 17"/>
          <p:cNvSpPr/>
          <p:nvPr/>
        </p:nvSpPr>
        <p:spPr>
          <a:xfrm>
            <a:off x="594360" y="4828032"/>
            <a:ext cx="6720840" cy="969264"/>
          </a:xfrm>
          <a:prstGeom prst="roundRect">
            <a:avLst>
              <a:gd name="adj" fmla="val 4717"/>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0" name="Shape 18"/>
          <p:cNvSpPr/>
          <p:nvPr/>
        </p:nvSpPr>
        <p:spPr>
          <a:xfrm>
            <a:off x="841248" y="5157216"/>
            <a:ext cx="310896" cy="310896"/>
          </a:xfrm>
          <a:prstGeom prst="ellipse">
            <a:avLst/>
          </a:prstGeom>
          <a:solidFill>
            <a:srgbClr val="1A1A1A"/>
          </a:solidFill>
          <a:ln/>
        </p:spPr>
      </p:sp>
      <p:sp>
        <p:nvSpPr>
          <p:cNvPr id="21" name="Text 19"/>
          <p:cNvSpPr/>
          <p:nvPr/>
        </p:nvSpPr>
        <p:spPr>
          <a:xfrm>
            <a:off x="841248" y="51572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4</a:t>
            </a:r>
            <a:endParaRPr lang="en-US" sz="1300" dirty="0"/>
          </a:p>
        </p:txBody>
      </p:sp>
      <p:sp>
        <p:nvSpPr>
          <p:cNvPr id="22" name="Text 20"/>
          <p:cNvSpPr/>
          <p:nvPr/>
        </p:nvSpPr>
        <p:spPr>
          <a:xfrm>
            <a:off x="1298448" y="4974336"/>
            <a:ext cx="5852160" cy="329184"/>
          </a:xfrm>
          <a:prstGeom prst="rect">
            <a:avLst/>
          </a:prstGeom>
          <a:noFill/>
          <a:ln/>
        </p:spPr>
        <p:txBody>
          <a:bodyPr wrap="square" lIns="0" tIns="0" rIns="0" bIns="0" rtlCol="0" anchor="ctr"/>
          <a:lstStyle/>
          <a:p>
            <a:pPr indent="0" marL="0">
              <a:buNone/>
            </a:pPr>
            <a:r>
              <a:rPr lang="en-US" sz="1450" b="1" dirty="0">
                <a:solidFill>
                  <a:srgbClr val="1A1A1A"/>
                </a:solidFill>
                <a:latin typeface="メイリオ" pitchFamily="34" charset="0"/>
                <a:ea typeface="メイリオ" pitchFamily="34" charset="-122"/>
                <a:cs typeface="メイリオ" pitchFamily="34" charset="-120"/>
              </a:rPr>
              <a:t>プランDを本線、プランEを目指す</a:t>
            </a:r>
            <a:endParaRPr lang="en-US" sz="1450" dirty="0"/>
          </a:p>
        </p:txBody>
      </p:sp>
      <p:sp>
        <p:nvSpPr>
          <p:cNvPr id="23" name="Text 21"/>
          <p:cNvSpPr/>
          <p:nvPr/>
        </p:nvSpPr>
        <p:spPr>
          <a:xfrm>
            <a:off x="1298448" y="5330952"/>
            <a:ext cx="5852160" cy="384048"/>
          </a:xfrm>
          <a:prstGeom prst="rect">
            <a:avLst/>
          </a:prstGeom>
          <a:noFill/>
          <a:ln/>
        </p:spPr>
        <p:txBody>
          <a:bodyPr wrap="square" lIns="0" tIns="0" rIns="0" bIns="0" rtlCol="0" anchor="ctr"/>
          <a:lstStyle/>
          <a:p>
            <a:pPr indent="0" marL="0">
              <a:buNone/>
            </a:pPr>
            <a:r>
              <a:rPr lang="en-US" sz="1100" dirty="0">
                <a:solidFill>
                  <a:srgbClr val="1A1A1A"/>
                </a:solidFill>
                <a:latin typeface="メイリオ" pitchFamily="34" charset="0"/>
                <a:ea typeface="メイリオ" pitchFamily="34" charset="-122"/>
                <a:cs typeface="メイリオ" pitchFamily="34" charset="-120"/>
              </a:rPr>
              <a:t>Dの既存事業730.5百万円は過去2期の売上平均そのもの。上乗せ案件は102.5百万円。</a:t>
            </a:r>
            <a:endParaRPr lang="en-US" sz="1100" dirty="0"/>
          </a:p>
        </p:txBody>
      </p:sp>
      <p:sp>
        <p:nvSpPr>
          <p:cNvPr id="24" name="Shape 22"/>
          <p:cNvSpPr/>
          <p:nvPr/>
        </p:nvSpPr>
        <p:spPr>
          <a:xfrm>
            <a:off x="7635240" y="1481328"/>
            <a:ext cx="3931920" cy="4261104"/>
          </a:xfrm>
          <a:prstGeom prst="roundRect">
            <a:avLst>
              <a:gd name="adj" fmla="val 1163"/>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5" name="Text 23"/>
          <p:cNvSpPr/>
          <p:nvPr/>
        </p:nvSpPr>
        <p:spPr>
          <a:xfrm>
            <a:off x="7863840" y="1737360"/>
            <a:ext cx="3474720" cy="274320"/>
          </a:xfrm>
          <a:prstGeom prst="rect">
            <a:avLst/>
          </a:prstGeom>
          <a:noFill/>
          <a:ln/>
        </p:spPr>
        <p:txBody>
          <a:bodyPr wrap="square" lIns="0" tIns="0" rIns="0" bIns="0" rtlCol="0" anchor="ctr"/>
          <a:lstStyle/>
          <a:p>
            <a:pPr algn="ctr" indent="0" marL="0">
              <a:buNone/>
            </a:pPr>
            <a:r>
              <a:rPr lang="en-US" sz="1100" dirty="0">
                <a:solidFill>
                  <a:srgbClr val="D9D7D2"/>
                </a:solidFill>
                <a:latin typeface="メイリオ" pitchFamily="34" charset="0"/>
                <a:ea typeface="メイリオ" pitchFamily="34" charset="-122"/>
                <a:cs typeface="メイリオ" pitchFamily="34" charset="-120"/>
              </a:rPr>
              <a:t>FY2027 営業利益（プランD）</a:t>
            </a:r>
            <a:endParaRPr lang="en-US" sz="1100" dirty="0"/>
          </a:p>
        </p:txBody>
      </p:sp>
      <p:sp>
        <p:nvSpPr>
          <p:cNvPr id="26" name="Text 24"/>
          <p:cNvSpPr/>
          <p:nvPr/>
        </p:nvSpPr>
        <p:spPr>
          <a:xfrm>
            <a:off x="7863840" y="2011680"/>
            <a:ext cx="3474720" cy="777240"/>
          </a:xfrm>
          <a:prstGeom prst="rect">
            <a:avLst/>
          </a:prstGeom>
          <a:noFill/>
          <a:ln/>
        </p:spPr>
        <p:txBody>
          <a:bodyPr wrap="square" lIns="0" tIns="0" rIns="0" bIns="0" rtlCol="0" anchor="ctr"/>
          <a:lstStyle/>
          <a:p>
            <a:pPr algn="ctr" indent="0" marL="0">
              <a:buNone/>
            </a:pPr>
            <a:r>
              <a:rPr lang="en-US" sz="4200" b="1" dirty="0">
                <a:solidFill>
                  <a:srgbClr val="A98442"/>
                </a:solidFill>
                <a:latin typeface="メイリオ" pitchFamily="34" charset="0"/>
                <a:ea typeface="メイリオ" pitchFamily="34" charset="-122"/>
                <a:cs typeface="メイリオ" pitchFamily="34" charset="-120"/>
              </a:rPr>
              <a:t>＋105.4</a:t>
            </a:r>
            <a:endParaRPr lang="en-US" sz="4200" dirty="0"/>
          </a:p>
        </p:txBody>
      </p:sp>
      <p:sp>
        <p:nvSpPr>
          <p:cNvPr id="27" name="Text 25"/>
          <p:cNvSpPr/>
          <p:nvPr/>
        </p:nvSpPr>
        <p:spPr>
          <a:xfrm>
            <a:off x="7863840" y="2770632"/>
            <a:ext cx="3474720" cy="274320"/>
          </a:xfrm>
          <a:prstGeom prst="rect">
            <a:avLst/>
          </a:prstGeom>
          <a:noFill/>
          <a:ln/>
        </p:spPr>
        <p:txBody>
          <a:bodyPr wrap="square" lIns="0" tIns="0" rIns="0" bIns="0" rtlCol="0" anchor="ctr"/>
          <a:lstStyle/>
          <a:p>
            <a:pPr algn="ctr" indent="0" marL="0">
              <a:buNone/>
            </a:pPr>
            <a:r>
              <a:rPr lang="en-US" sz="1100" dirty="0">
                <a:solidFill>
                  <a:srgbClr val="D9D7D2"/>
                </a:solidFill>
                <a:latin typeface="メイリオ" pitchFamily="34" charset="0"/>
                <a:ea typeface="メイリオ" pitchFamily="34" charset="-122"/>
                <a:cs typeface="メイリオ" pitchFamily="34" charset="-120"/>
              </a:rPr>
              <a:t>百万円</a:t>
            </a:r>
            <a:endParaRPr lang="en-US" sz="1100" dirty="0"/>
          </a:p>
        </p:txBody>
      </p:sp>
      <p:sp>
        <p:nvSpPr>
          <p:cNvPr id="28" name="Text 26"/>
          <p:cNvSpPr/>
          <p:nvPr/>
        </p:nvSpPr>
        <p:spPr>
          <a:xfrm>
            <a:off x="7863840" y="3127248"/>
            <a:ext cx="347472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メイリオ" pitchFamily="34" charset="0"/>
                <a:ea typeface="メイリオ" pitchFamily="34" charset="-122"/>
                <a:cs typeface="メイリオ" pitchFamily="34" charset="-120"/>
              </a:rPr>
              <a:t>経常利益は＋90.4百万円</a:t>
            </a:r>
            <a:endParaRPr lang="en-US" sz="1150" dirty="0"/>
          </a:p>
          <a:p>
            <a:pPr algn="ctr" indent="0" marL="0">
              <a:buNone/>
            </a:pPr>
            <a:r>
              <a:rPr lang="en-US" sz="1150" dirty="0">
                <a:solidFill>
                  <a:srgbClr val="FFFFFF"/>
                </a:solidFill>
                <a:latin typeface="メイリオ" pitchFamily="34" charset="0"/>
                <a:ea typeface="メイリオ" pitchFamily="34" charset="-122"/>
                <a:cs typeface="メイリオ" pitchFamily="34" charset="-120"/>
              </a:rPr>
              <a:t>メインシナリオ</a:t>
            </a:r>
            <a:endParaRPr lang="en-US" sz="1150" dirty="0"/>
          </a:p>
        </p:txBody>
      </p:sp>
      <p:sp>
        <p:nvSpPr>
          <p:cNvPr id="29" name="Shape 27"/>
          <p:cNvSpPr/>
          <p:nvPr/>
        </p:nvSpPr>
        <p:spPr>
          <a:xfrm>
            <a:off x="8092440" y="3877056"/>
            <a:ext cx="3017520" cy="0"/>
          </a:xfrm>
          <a:prstGeom prst="line">
            <a:avLst/>
          </a:prstGeom>
          <a:noFill/>
          <a:ln w="12700">
            <a:solidFill>
              <a:srgbClr val="6E6E6E"/>
            </a:solidFill>
            <a:prstDash val="solid"/>
          </a:ln>
        </p:spPr>
      </p:sp>
      <p:sp>
        <p:nvSpPr>
          <p:cNvPr id="30" name="Text 28"/>
          <p:cNvSpPr/>
          <p:nvPr/>
        </p:nvSpPr>
        <p:spPr>
          <a:xfrm>
            <a:off x="7863840" y="4023360"/>
            <a:ext cx="3474720" cy="274320"/>
          </a:xfrm>
          <a:prstGeom prst="rect">
            <a:avLst/>
          </a:prstGeom>
          <a:noFill/>
          <a:ln/>
        </p:spPr>
        <p:txBody>
          <a:bodyPr wrap="square" lIns="0" tIns="0" rIns="0" bIns="0" rtlCol="0" anchor="ctr"/>
          <a:lstStyle/>
          <a:p>
            <a:pPr algn="ctr" indent="0" marL="0">
              <a:buNone/>
            </a:pPr>
            <a:r>
              <a:rPr lang="en-US" sz="1100" dirty="0">
                <a:solidFill>
                  <a:srgbClr val="D9D7D2"/>
                </a:solidFill>
                <a:latin typeface="メイリオ" pitchFamily="34" charset="0"/>
                <a:ea typeface="メイリオ" pitchFamily="34" charset="-122"/>
                <a:cs typeface="メイリオ" pitchFamily="34" charset="-120"/>
              </a:rPr>
              <a:t>売上高（上乗せ含む）</a:t>
            </a:r>
            <a:endParaRPr lang="en-US" sz="1100" dirty="0"/>
          </a:p>
        </p:txBody>
      </p:sp>
      <p:sp>
        <p:nvSpPr>
          <p:cNvPr id="31" name="Text 29"/>
          <p:cNvSpPr/>
          <p:nvPr/>
        </p:nvSpPr>
        <p:spPr>
          <a:xfrm>
            <a:off x="7863840" y="4297680"/>
            <a:ext cx="3474720" cy="548640"/>
          </a:xfrm>
          <a:prstGeom prst="rect">
            <a:avLst/>
          </a:prstGeom>
          <a:noFill/>
          <a:ln/>
        </p:spPr>
        <p:txBody>
          <a:bodyPr wrap="square" lIns="0" tIns="0" rIns="0" bIns="0" rtlCol="0" anchor="ctr"/>
          <a:lstStyle/>
          <a:p>
            <a:pPr algn="ctr" indent="0" marL="0">
              <a:buNone/>
            </a:pPr>
            <a:r>
              <a:rPr lang="en-US" sz="2600" b="1" dirty="0">
                <a:solidFill>
                  <a:srgbClr val="A98442"/>
                </a:solidFill>
                <a:latin typeface="メイリオ" pitchFamily="34" charset="0"/>
                <a:ea typeface="メイリオ" pitchFamily="34" charset="-122"/>
                <a:cs typeface="メイリオ" pitchFamily="34" charset="-120"/>
              </a:rPr>
              <a:t>833.0百万円</a:t>
            </a:r>
            <a:endParaRPr lang="en-US" sz="2600" dirty="0"/>
          </a:p>
        </p:txBody>
      </p:sp>
      <p:sp>
        <p:nvSpPr>
          <p:cNvPr id="32" name="Text 30"/>
          <p:cNvSpPr/>
          <p:nvPr/>
        </p:nvSpPr>
        <p:spPr>
          <a:xfrm>
            <a:off x="7863840" y="4901184"/>
            <a:ext cx="3474720" cy="640080"/>
          </a:xfrm>
          <a:prstGeom prst="rect">
            <a:avLst/>
          </a:prstGeom>
          <a:noFill/>
          <a:ln/>
        </p:spPr>
        <p:txBody>
          <a:bodyPr wrap="square" lIns="0" tIns="0" rIns="0" bIns="0" rtlCol="0" anchor="ctr"/>
          <a:lstStyle/>
          <a:p>
            <a:pPr algn="ctr" indent="0" marL="0">
              <a:buNone/>
            </a:pPr>
            <a:r>
              <a:rPr lang="en-US" sz="1100" dirty="0">
                <a:solidFill>
                  <a:srgbClr val="FFFFFF"/>
                </a:solidFill>
                <a:latin typeface="メイリオ" pitchFamily="34" charset="0"/>
                <a:ea typeface="メイリオ" pitchFamily="34" charset="-122"/>
                <a:cs typeface="メイリオ" pitchFamily="34" charset="-120"/>
              </a:rPr>
              <a:t>既存730.5（前期・今期の平均）</a:t>
            </a:r>
            <a:endParaRPr lang="en-US" sz="1100" dirty="0"/>
          </a:p>
          <a:p>
            <a:pPr algn="ctr" indent="0" marL="0">
              <a:buNone/>
            </a:pPr>
            <a:r>
              <a:rPr lang="en-US" sz="1100" dirty="0">
                <a:solidFill>
                  <a:srgbClr val="FFFFFF"/>
                </a:solidFill>
                <a:latin typeface="メイリオ" pitchFamily="34" charset="0"/>
                <a:ea typeface="メイリオ" pitchFamily="34" charset="-122"/>
                <a:cs typeface="メイリオ" pitchFamily="34" charset="-120"/>
              </a:rPr>
              <a:t>＋上乗せ案件102.5百万円</a:t>
            </a:r>
            <a:endParaRPr lang="en-US" sz="1100" dirty="0"/>
          </a:p>
        </p:txBody>
      </p:sp>
      <p:sp>
        <p:nvSpPr>
          <p:cNvPr id="33" name="Text 31"/>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出典：事業計画202608（銀行様）全社シート月次実績、決算報告書 第54期、2026年7月度 取締役会資料</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FY2026 着地見込みの修正</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2026年9月末に私募ファンド3号・4号の組成が間に合い、営業損益はほぼ均衡まで回復します。</a:t>
            </a:r>
            <a:endParaRPr lang="en-US" sz="1250" dirty="0"/>
          </a:p>
        </p:txBody>
      </p:sp>
      <p:sp>
        <p:nvSpPr>
          <p:cNvPr id="4" name="Shape 2"/>
          <p:cNvSpPr/>
          <p:nvPr/>
        </p:nvSpPr>
        <p:spPr>
          <a:xfrm>
            <a:off x="594360" y="1463040"/>
            <a:ext cx="7086600" cy="950976"/>
          </a:xfrm>
          <a:prstGeom prst="roundRect">
            <a:avLst>
              <a:gd name="adj" fmla="val 480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5" name="Shape 3"/>
          <p:cNvSpPr/>
          <p:nvPr/>
        </p:nvSpPr>
        <p:spPr>
          <a:xfrm>
            <a:off x="868680" y="1783080"/>
            <a:ext cx="310896" cy="310896"/>
          </a:xfrm>
          <a:prstGeom prst="ellipse">
            <a:avLst/>
          </a:prstGeom>
          <a:solidFill>
            <a:srgbClr val="1A1A1A"/>
          </a:solidFill>
          <a:ln/>
        </p:spPr>
      </p:sp>
      <p:sp>
        <p:nvSpPr>
          <p:cNvPr id="6" name="Text 4"/>
          <p:cNvSpPr/>
          <p:nvPr/>
        </p:nvSpPr>
        <p:spPr>
          <a:xfrm>
            <a:off x="868680" y="17830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1</a:t>
            </a:r>
            <a:endParaRPr lang="en-US" sz="1300" dirty="0"/>
          </a:p>
        </p:txBody>
      </p:sp>
      <p:sp>
        <p:nvSpPr>
          <p:cNvPr id="7" name="Text 5"/>
          <p:cNvSpPr/>
          <p:nvPr/>
        </p:nvSpPr>
        <p:spPr>
          <a:xfrm>
            <a:off x="1325880" y="1591056"/>
            <a:ext cx="4572000" cy="329184"/>
          </a:xfrm>
          <a:prstGeom prst="rect">
            <a:avLst/>
          </a:prstGeom>
          <a:noFill/>
          <a:ln/>
        </p:spPr>
        <p:txBody>
          <a:bodyPr wrap="square" lIns="0" tIns="0" rIns="0" bIns="0" rtlCol="0" anchor="ctr"/>
          <a:lstStyle/>
          <a:p>
            <a:pPr indent="0" marL="0">
              <a:buNone/>
            </a:pPr>
            <a:r>
              <a:rPr lang="en-US" sz="1250" b="1" dirty="0">
                <a:solidFill>
                  <a:srgbClr val="1A1A1A"/>
                </a:solidFill>
                <a:latin typeface="メイリオ" pitchFamily="34" charset="0"/>
                <a:ea typeface="メイリオ" pitchFamily="34" charset="-122"/>
                <a:cs typeface="メイリオ" pitchFamily="34" charset="-120"/>
              </a:rPr>
              <a:t>私募ファンド3号（売上5億円）</a:t>
            </a:r>
            <a:endParaRPr lang="en-US" sz="1250" dirty="0"/>
          </a:p>
        </p:txBody>
      </p:sp>
      <p:sp>
        <p:nvSpPr>
          <p:cNvPr id="8" name="Text 6"/>
          <p:cNvSpPr/>
          <p:nvPr/>
        </p:nvSpPr>
        <p:spPr>
          <a:xfrm>
            <a:off x="1325880" y="1920240"/>
            <a:ext cx="4572000" cy="420624"/>
          </a:xfrm>
          <a:prstGeom prst="rect">
            <a:avLst/>
          </a:prstGeom>
          <a:noFill/>
          <a:ln/>
        </p:spPr>
        <p:txBody>
          <a:bodyPr wrap="square" lIns="0" tIns="0" rIns="0" bIns="0" rtlCol="0" anchor="t"/>
          <a:lstStyle/>
          <a:p>
            <a:pPr indent="0" marL="0">
              <a:buNone/>
            </a:pPr>
            <a:r>
              <a:rPr lang="en-US" sz="950" dirty="0">
                <a:solidFill>
                  <a:srgbClr val="4A4A4A"/>
                </a:solidFill>
                <a:latin typeface="メイリオ" pitchFamily="34" charset="0"/>
                <a:ea typeface="メイリオ" pitchFamily="34" charset="-122"/>
                <a:cs typeface="メイリオ" pitchFamily="34" charset="-120"/>
              </a:rPr>
              <a:t>9月末に組成完了。粗利60百万円＋販売手数料10百万円。</a:t>
            </a:r>
            <a:endParaRPr lang="en-US" sz="950" dirty="0"/>
          </a:p>
        </p:txBody>
      </p:sp>
      <p:sp>
        <p:nvSpPr>
          <p:cNvPr id="9" name="Text 7"/>
          <p:cNvSpPr/>
          <p:nvPr/>
        </p:nvSpPr>
        <p:spPr>
          <a:xfrm>
            <a:off x="5989320" y="1709928"/>
            <a:ext cx="1554480" cy="457200"/>
          </a:xfrm>
          <a:prstGeom prst="rect">
            <a:avLst/>
          </a:prstGeom>
          <a:noFill/>
          <a:ln/>
        </p:spPr>
        <p:txBody>
          <a:bodyPr wrap="square" lIns="0" tIns="0" rIns="0" bIns="0" rtlCol="0" anchor="ctr"/>
          <a:lstStyle/>
          <a:p>
            <a:pPr algn="r" indent="0" marL="0">
              <a:buNone/>
            </a:pPr>
            <a:r>
              <a:rPr lang="en-US" sz="2000" b="1" dirty="0">
                <a:solidFill>
                  <a:srgbClr val="A98442"/>
                </a:solidFill>
                <a:latin typeface="メイリオ" pitchFamily="34" charset="0"/>
                <a:ea typeface="メイリオ" pitchFamily="34" charset="-122"/>
                <a:cs typeface="メイリオ" pitchFamily="34" charset="-120"/>
              </a:rPr>
              <a:t>＋70.0</a:t>
            </a:r>
            <a:endParaRPr lang="en-US" sz="2000" dirty="0"/>
          </a:p>
        </p:txBody>
      </p:sp>
      <p:sp>
        <p:nvSpPr>
          <p:cNvPr id="10" name="Shape 8"/>
          <p:cNvSpPr/>
          <p:nvPr/>
        </p:nvSpPr>
        <p:spPr>
          <a:xfrm>
            <a:off x="594360" y="2542032"/>
            <a:ext cx="7086600" cy="950976"/>
          </a:xfrm>
          <a:prstGeom prst="roundRect">
            <a:avLst>
              <a:gd name="adj" fmla="val 480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1" name="Shape 9"/>
          <p:cNvSpPr/>
          <p:nvPr/>
        </p:nvSpPr>
        <p:spPr>
          <a:xfrm>
            <a:off x="868680" y="2862072"/>
            <a:ext cx="310896" cy="310896"/>
          </a:xfrm>
          <a:prstGeom prst="ellipse">
            <a:avLst/>
          </a:prstGeom>
          <a:solidFill>
            <a:srgbClr val="1A1A1A"/>
          </a:solidFill>
          <a:ln/>
        </p:spPr>
      </p:sp>
      <p:sp>
        <p:nvSpPr>
          <p:cNvPr id="12" name="Text 10"/>
          <p:cNvSpPr/>
          <p:nvPr/>
        </p:nvSpPr>
        <p:spPr>
          <a:xfrm>
            <a:off x="868680" y="28620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2</a:t>
            </a:r>
            <a:endParaRPr lang="en-US" sz="1300" dirty="0"/>
          </a:p>
        </p:txBody>
      </p:sp>
      <p:sp>
        <p:nvSpPr>
          <p:cNvPr id="13" name="Text 11"/>
          <p:cNvSpPr/>
          <p:nvPr/>
        </p:nvSpPr>
        <p:spPr>
          <a:xfrm>
            <a:off x="1325880" y="2670048"/>
            <a:ext cx="4572000" cy="329184"/>
          </a:xfrm>
          <a:prstGeom prst="rect">
            <a:avLst/>
          </a:prstGeom>
          <a:noFill/>
          <a:ln/>
        </p:spPr>
        <p:txBody>
          <a:bodyPr wrap="square" lIns="0" tIns="0" rIns="0" bIns="0" rtlCol="0" anchor="ctr"/>
          <a:lstStyle/>
          <a:p>
            <a:pPr indent="0" marL="0">
              <a:buNone/>
            </a:pPr>
            <a:r>
              <a:rPr lang="en-US" sz="1250" b="1" dirty="0">
                <a:solidFill>
                  <a:srgbClr val="1A1A1A"/>
                </a:solidFill>
                <a:latin typeface="メイリオ" pitchFamily="34" charset="0"/>
                <a:ea typeface="メイリオ" pitchFamily="34" charset="-122"/>
                <a:cs typeface="メイリオ" pitchFamily="34" charset="-120"/>
              </a:rPr>
              <a:t>私募ファンド4号（売上1億円）</a:t>
            </a:r>
            <a:endParaRPr lang="en-US" sz="1250" dirty="0"/>
          </a:p>
        </p:txBody>
      </p:sp>
      <p:sp>
        <p:nvSpPr>
          <p:cNvPr id="14" name="Text 12"/>
          <p:cNvSpPr/>
          <p:nvPr/>
        </p:nvSpPr>
        <p:spPr>
          <a:xfrm>
            <a:off x="1325880" y="2999232"/>
            <a:ext cx="4572000" cy="420624"/>
          </a:xfrm>
          <a:prstGeom prst="rect">
            <a:avLst/>
          </a:prstGeom>
          <a:noFill/>
          <a:ln/>
        </p:spPr>
        <p:txBody>
          <a:bodyPr wrap="square" lIns="0" tIns="0" rIns="0" bIns="0" rtlCol="0" anchor="t"/>
          <a:lstStyle/>
          <a:p>
            <a:pPr indent="0" marL="0">
              <a:buNone/>
            </a:pPr>
            <a:r>
              <a:rPr lang="en-US" sz="950" dirty="0">
                <a:solidFill>
                  <a:srgbClr val="4A4A4A"/>
                </a:solidFill>
                <a:latin typeface="メイリオ" pitchFamily="34" charset="0"/>
                <a:ea typeface="メイリオ" pitchFamily="34" charset="-122"/>
                <a:cs typeface="メイリオ" pitchFamily="34" charset="-120"/>
              </a:rPr>
              <a:t>同上。粗利率5%。</a:t>
            </a:r>
            <a:endParaRPr lang="en-US" sz="950" dirty="0"/>
          </a:p>
        </p:txBody>
      </p:sp>
      <p:sp>
        <p:nvSpPr>
          <p:cNvPr id="15" name="Text 13"/>
          <p:cNvSpPr/>
          <p:nvPr/>
        </p:nvSpPr>
        <p:spPr>
          <a:xfrm>
            <a:off x="5989320" y="2788920"/>
            <a:ext cx="1554480" cy="457200"/>
          </a:xfrm>
          <a:prstGeom prst="rect">
            <a:avLst/>
          </a:prstGeom>
          <a:noFill/>
          <a:ln/>
        </p:spPr>
        <p:txBody>
          <a:bodyPr wrap="square" lIns="0" tIns="0" rIns="0" bIns="0" rtlCol="0" anchor="ctr"/>
          <a:lstStyle/>
          <a:p>
            <a:pPr algn="r" indent="0" marL="0">
              <a:buNone/>
            </a:pPr>
            <a:r>
              <a:rPr lang="en-US" sz="2000" b="1" dirty="0">
                <a:solidFill>
                  <a:srgbClr val="A98442"/>
                </a:solidFill>
                <a:latin typeface="メイリオ" pitchFamily="34" charset="0"/>
                <a:ea typeface="メイリオ" pitchFamily="34" charset="-122"/>
                <a:cs typeface="メイリオ" pitchFamily="34" charset="-120"/>
              </a:rPr>
              <a:t>＋5.0</a:t>
            </a:r>
            <a:endParaRPr lang="en-US" sz="2000" dirty="0"/>
          </a:p>
        </p:txBody>
      </p:sp>
      <p:sp>
        <p:nvSpPr>
          <p:cNvPr id="16" name="Shape 14"/>
          <p:cNvSpPr/>
          <p:nvPr/>
        </p:nvSpPr>
        <p:spPr>
          <a:xfrm>
            <a:off x="594360" y="3621024"/>
            <a:ext cx="7086600" cy="950976"/>
          </a:xfrm>
          <a:prstGeom prst="roundRect">
            <a:avLst>
              <a:gd name="adj" fmla="val 480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7" name="Shape 15"/>
          <p:cNvSpPr/>
          <p:nvPr/>
        </p:nvSpPr>
        <p:spPr>
          <a:xfrm>
            <a:off x="868680" y="3941064"/>
            <a:ext cx="310896" cy="310896"/>
          </a:xfrm>
          <a:prstGeom prst="ellipse">
            <a:avLst/>
          </a:prstGeom>
          <a:solidFill>
            <a:srgbClr val="1A1A1A"/>
          </a:solidFill>
          <a:ln/>
        </p:spPr>
      </p:sp>
      <p:sp>
        <p:nvSpPr>
          <p:cNvPr id="18" name="Text 16"/>
          <p:cNvSpPr/>
          <p:nvPr/>
        </p:nvSpPr>
        <p:spPr>
          <a:xfrm>
            <a:off x="868680" y="394106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3</a:t>
            </a:r>
            <a:endParaRPr lang="en-US" sz="1300" dirty="0"/>
          </a:p>
        </p:txBody>
      </p:sp>
      <p:sp>
        <p:nvSpPr>
          <p:cNvPr id="19" name="Text 17"/>
          <p:cNvSpPr/>
          <p:nvPr/>
        </p:nvSpPr>
        <p:spPr>
          <a:xfrm>
            <a:off x="1325880" y="3749040"/>
            <a:ext cx="4572000" cy="329184"/>
          </a:xfrm>
          <a:prstGeom prst="rect">
            <a:avLst/>
          </a:prstGeom>
          <a:noFill/>
          <a:ln/>
        </p:spPr>
        <p:txBody>
          <a:bodyPr wrap="square" lIns="0" tIns="0" rIns="0" bIns="0" rtlCol="0" anchor="ctr"/>
          <a:lstStyle/>
          <a:p>
            <a:pPr indent="0" marL="0">
              <a:buNone/>
            </a:pPr>
            <a:r>
              <a:rPr lang="en-US" sz="1250" b="1" dirty="0">
                <a:solidFill>
                  <a:srgbClr val="1A1A1A"/>
                </a:solidFill>
                <a:latin typeface="メイリオ" pitchFamily="34" charset="0"/>
                <a:ea typeface="メイリオ" pitchFamily="34" charset="-122"/>
                <a:cs typeface="メイリオ" pitchFamily="34" charset="-120"/>
              </a:rPr>
              <a:t>アピシウスM&amp;A仲介（前倒し）</a:t>
            </a:r>
            <a:endParaRPr lang="en-US" sz="1250" dirty="0"/>
          </a:p>
        </p:txBody>
      </p:sp>
      <p:sp>
        <p:nvSpPr>
          <p:cNvPr id="20" name="Text 18"/>
          <p:cNvSpPr/>
          <p:nvPr/>
        </p:nvSpPr>
        <p:spPr>
          <a:xfrm>
            <a:off x="1325880" y="4078224"/>
            <a:ext cx="4572000" cy="420624"/>
          </a:xfrm>
          <a:prstGeom prst="rect">
            <a:avLst/>
          </a:prstGeom>
          <a:noFill/>
          <a:ln/>
        </p:spPr>
        <p:txBody>
          <a:bodyPr wrap="square" lIns="0" tIns="0" rIns="0" bIns="0" rtlCol="0" anchor="t"/>
          <a:lstStyle/>
          <a:p>
            <a:pPr indent="0" marL="0">
              <a:buNone/>
            </a:pPr>
            <a:r>
              <a:rPr lang="en-US" sz="950" dirty="0">
                <a:solidFill>
                  <a:srgbClr val="4A4A4A"/>
                </a:solidFill>
                <a:latin typeface="メイリオ" pitchFamily="34" charset="0"/>
                <a:ea typeface="メイリオ" pitchFamily="34" charset="-122"/>
                <a:cs typeface="メイリオ" pitchFamily="34" charset="-120"/>
              </a:rPr>
              <a:t>FY2027の上乗せ案件として見込んでいたものが当期計上に。</a:t>
            </a:r>
            <a:endParaRPr lang="en-US" sz="950" dirty="0"/>
          </a:p>
        </p:txBody>
      </p:sp>
      <p:sp>
        <p:nvSpPr>
          <p:cNvPr id="21" name="Text 19"/>
          <p:cNvSpPr/>
          <p:nvPr/>
        </p:nvSpPr>
        <p:spPr>
          <a:xfrm>
            <a:off x="5989320" y="3867912"/>
            <a:ext cx="1554480" cy="457200"/>
          </a:xfrm>
          <a:prstGeom prst="rect">
            <a:avLst/>
          </a:prstGeom>
          <a:noFill/>
          <a:ln/>
        </p:spPr>
        <p:txBody>
          <a:bodyPr wrap="square" lIns="0" tIns="0" rIns="0" bIns="0" rtlCol="0" anchor="ctr"/>
          <a:lstStyle/>
          <a:p>
            <a:pPr algn="r" indent="0" marL="0">
              <a:buNone/>
            </a:pPr>
            <a:r>
              <a:rPr lang="en-US" sz="2000" b="1" dirty="0">
                <a:solidFill>
                  <a:srgbClr val="A98442"/>
                </a:solidFill>
                <a:latin typeface="メイリオ" pitchFamily="34" charset="0"/>
                <a:ea typeface="メイリオ" pitchFamily="34" charset="-122"/>
                <a:cs typeface="メイリオ" pitchFamily="34" charset="-120"/>
              </a:rPr>
              <a:t>＋20.0</a:t>
            </a:r>
            <a:endParaRPr lang="en-US" sz="2000" dirty="0"/>
          </a:p>
        </p:txBody>
      </p:sp>
      <p:sp>
        <p:nvSpPr>
          <p:cNvPr id="22" name="Shape 20"/>
          <p:cNvSpPr/>
          <p:nvPr/>
        </p:nvSpPr>
        <p:spPr>
          <a:xfrm>
            <a:off x="594360" y="4700016"/>
            <a:ext cx="7086600" cy="950976"/>
          </a:xfrm>
          <a:prstGeom prst="roundRect">
            <a:avLst>
              <a:gd name="adj" fmla="val 480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3" name="Shape 21"/>
          <p:cNvSpPr/>
          <p:nvPr/>
        </p:nvSpPr>
        <p:spPr>
          <a:xfrm>
            <a:off x="868680" y="5020056"/>
            <a:ext cx="310896" cy="310896"/>
          </a:xfrm>
          <a:prstGeom prst="ellipse">
            <a:avLst/>
          </a:prstGeom>
          <a:solidFill>
            <a:srgbClr val="1A1A1A"/>
          </a:solidFill>
          <a:ln/>
        </p:spPr>
      </p:sp>
      <p:sp>
        <p:nvSpPr>
          <p:cNvPr id="24" name="Text 22"/>
          <p:cNvSpPr/>
          <p:nvPr/>
        </p:nvSpPr>
        <p:spPr>
          <a:xfrm>
            <a:off x="868680" y="50200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4</a:t>
            </a:r>
            <a:endParaRPr lang="en-US" sz="1300" dirty="0"/>
          </a:p>
        </p:txBody>
      </p:sp>
      <p:sp>
        <p:nvSpPr>
          <p:cNvPr id="25" name="Text 23"/>
          <p:cNvSpPr/>
          <p:nvPr/>
        </p:nvSpPr>
        <p:spPr>
          <a:xfrm>
            <a:off x="1325880" y="4828032"/>
            <a:ext cx="4572000" cy="329184"/>
          </a:xfrm>
          <a:prstGeom prst="rect">
            <a:avLst/>
          </a:prstGeom>
          <a:noFill/>
          <a:ln/>
        </p:spPr>
        <p:txBody>
          <a:bodyPr wrap="square" lIns="0" tIns="0" rIns="0" bIns="0" rtlCol="0" anchor="ctr"/>
          <a:lstStyle/>
          <a:p>
            <a:pPr indent="0" marL="0">
              <a:buNone/>
            </a:pPr>
            <a:r>
              <a:rPr lang="en-US" sz="1250" b="1" dirty="0">
                <a:solidFill>
                  <a:srgbClr val="1A1A1A"/>
                </a:solidFill>
                <a:latin typeface="メイリオ" pitchFamily="34" charset="0"/>
                <a:ea typeface="メイリオ" pitchFamily="34" charset="-122"/>
                <a:cs typeface="メイリオ" pitchFamily="34" charset="-120"/>
              </a:rPr>
              <a:t>コンサルティング料（前倒し）</a:t>
            </a:r>
            <a:endParaRPr lang="en-US" sz="1250" dirty="0"/>
          </a:p>
        </p:txBody>
      </p:sp>
      <p:sp>
        <p:nvSpPr>
          <p:cNvPr id="26" name="Text 24"/>
          <p:cNvSpPr/>
          <p:nvPr/>
        </p:nvSpPr>
        <p:spPr>
          <a:xfrm>
            <a:off x="1325880" y="5157216"/>
            <a:ext cx="4572000" cy="420624"/>
          </a:xfrm>
          <a:prstGeom prst="rect">
            <a:avLst/>
          </a:prstGeom>
          <a:noFill/>
          <a:ln/>
        </p:spPr>
        <p:txBody>
          <a:bodyPr wrap="square" lIns="0" tIns="0" rIns="0" bIns="0" rtlCol="0" anchor="t"/>
          <a:lstStyle/>
          <a:p>
            <a:pPr indent="0" marL="0">
              <a:buNone/>
            </a:pPr>
            <a:r>
              <a:rPr lang="en-US" sz="950" dirty="0">
                <a:solidFill>
                  <a:srgbClr val="4A4A4A"/>
                </a:solidFill>
                <a:latin typeface="メイリオ" pitchFamily="34" charset="0"/>
                <a:ea typeface="メイリオ" pitchFamily="34" charset="-122"/>
                <a:cs typeface="メイリオ" pitchFamily="34" charset="-120"/>
              </a:rPr>
              <a:t>同上。</a:t>
            </a:r>
            <a:endParaRPr lang="en-US" sz="950" dirty="0"/>
          </a:p>
        </p:txBody>
      </p:sp>
      <p:sp>
        <p:nvSpPr>
          <p:cNvPr id="27" name="Text 25"/>
          <p:cNvSpPr/>
          <p:nvPr/>
        </p:nvSpPr>
        <p:spPr>
          <a:xfrm>
            <a:off x="5989320" y="4946904"/>
            <a:ext cx="1554480" cy="457200"/>
          </a:xfrm>
          <a:prstGeom prst="rect">
            <a:avLst/>
          </a:prstGeom>
          <a:noFill/>
          <a:ln/>
        </p:spPr>
        <p:txBody>
          <a:bodyPr wrap="square" lIns="0" tIns="0" rIns="0" bIns="0" rtlCol="0" anchor="ctr"/>
          <a:lstStyle/>
          <a:p>
            <a:pPr algn="r" indent="0" marL="0">
              <a:buNone/>
            </a:pPr>
            <a:r>
              <a:rPr lang="en-US" sz="2000" b="1" dirty="0">
                <a:solidFill>
                  <a:srgbClr val="A98442"/>
                </a:solidFill>
                <a:latin typeface="メイリオ" pitchFamily="34" charset="0"/>
                <a:ea typeface="メイリオ" pitchFamily="34" charset="-122"/>
                <a:cs typeface="メイリオ" pitchFamily="34" charset="-120"/>
              </a:rPr>
              <a:t>＋10.0</a:t>
            </a:r>
            <a:endParaRPr lang="en-US" sz="2000" dirty="0"/>
          </a:p>
        </p:txBody>
      </p:sp>
      <p:sp>
        <p:nvSpPr>
          <p:cNvPr id="28" name="Shape 26"/>
          <p:cNvSpPr/>
          <p:nvPr/>
        </p:nvSpPr>
        <p:spPr>
          <a:xfrm>
            <a:off x="8001000" y="1463040"/>
            <a:ext cx="3566160" cy="4297680"/>
          </a:xfrm>
          <a:prstGeom prst="roundRect">
            <a:avLst>
              <a:gd name="adj" fmla="val 1282"/>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9" name="Text 27"/>
          <p:cNvSpPr/>
          <p:nvPr/>
        </p:nvSpPr>
        <p:spPr>
          <a:xfrm>
            <a:off x="8229600" y="1691640"/>
            <a:ext cx="3108960" cy="274320"/>
          </a:xfrm>
          <a:prstGeom prst="rect">
            <a:avLst/>
          </a:prstGeom>
          <a:noFill/>
          <a:ln/>
        </p:spPr>
        <p:txBody>
          <a:bodyPr wrap="square" lIns="0" tIns="0" rIns="0" bIns="0" rtlCol="0" anchor="ctr"/>
          <a:lstStyle/>
          <a:p>
            <a:pPr algn="ctr" indent="0" marL="0">
              <a:buNone/>
            </a:pPr>
            <a:r>
              <a:rPr lang="en-US" sz="1050" dirty="0">
                <a:solidFill>
                  <a:srgbClr val="D9D7D2"/>
                </a:solidFill>
                <a:latin typeface="メイリオ" pitchFamily="34" charset="0"/>
                <a:ea typeface="メイリオ" pitchFamily="34" charset="-122"/>
                <a:cs typeface="メイリオ" pitchFamily="34" charset="-120"/>
              </a:rPr>
              <a:t>FY2026 営業利益</a:t>
            </a:r>
            <a:endParaRPr lang="en-US" sz="1050" dirty="0"/>
          </a:p>
        </p:txBody>
      </p:sp>
      <p:sp>
        <p:nvSpPr>
          <p:cNvPr id="30" name="Text 28"/>
          <p:cNvSpPr/>
          <p:nvPr/>
        </p:nvSpPr>
        <p:spPr>
          <a:xfrm>
            <a:off x="8229600" y="2103120"/>
            <a:ext cx="2103120" cy="384048"/>
          </a:xfrm>
          <a:prstGeom prst="rect">
            <a:avLst/>
          </a:prstGeom>
          <a:noFill/>
          <a:ln/>
        </p:spPr>
        <p:txBody>
          <a:bodyPr wrap="square" lIns="0" tIns="0" rIns="0" bIns="0" rtlCol="0" anchor="ctr"/>
          <a:lstStyle/>
          <a:p>
            <a:pPr indent="0" marL="0">
              <a:buNone/>
            </a:pPr>
            <a:r>
              <a:rPr lang="en-US" sz="1050" dirty="0">
                <a:solidFill>
                  <a:srgbClr val="FFFFFF"/>
                </a:solidFill>
                <a:latin typeface="メイリオ" pitchFamily="34" charset="0"/>
                <a:ea typeface="メイリオ" pitchFamily="34" charset="-122"/>
                <a:cs typeface="メイリオ" pitchFamily="34" charset="-120"/>
              </a:rPr>
              <a:t>従来見込み</a:t>
            </a:r>
            <a:endParaRPr lang="en-US" sz="1050" dirty="0"/>
          </a:p>
        </p:txBody>
      </p:sp>
      <p:sp>
        <p:nvSpPr>
          <p:cNvPr id="31" name="Text 29"/>
          <p:cNvSpPr/>
          <p:nvPr/>
        </p:nvSpPr>
        <p:spPr>
          <a:xfrm>
            <a:off x="10195560" y="2103120"/>
            <a:ext cx="1143000" cy="384048"/>
          </a:xfrm>
          <a:prstGeom prst="rect">
            <a:avLst/>
          </a:prstGeom>
          <a:noFill/>
          <a:ln/>
        </p:spPr>
        <p:txBody>
          <a:bodyPr wrap="square" lIns="0" tIns="0" rIns="0" bIns="0" rtlCol="0" anchor="ctr"/>
          <a:lstStyle/>
          <a:p>
            <a:pPr algn="r" indent="0" marL="0">
              <a:buNone/>
            </a:pPr>
            <a:r>
              <a:rPr lang="en-US" sz="1150" b="1" dirty="0">
                <a:solidFill>
                  <a:srgbClr val="D9D7D2"/>
                </a:solidFill>
                <a:latin typeface="メイリオ" pitchFamily="34" charset="0"/>
                <a:ea typeface="メイリオ" pitchFamily="34" charset="-122"/>
                <a:cs typeface="メイリオ" pitchFamily="34" charset="-120"/>
              </a:rPr>
              <a:t>▲114.8</a:t>
            </a:r>
            <a:endParaRPr lang="en-US" sz="1150" dirty="0"/>
          </a:p>
        </p:txBody>
      </p:sp>
      <p:sp>
        <p:nvSpPr>
          <p:cNvPr id="32" name="Text 30"/>
          <p:cNvSpPr/>
          <p:nvPr/>
        </p:nvSpPr>
        <p:spPr>
          <a:xfrm>
            <a:off x="8229600" y="2633472"/>
            <a:ext cx="2103120" cy="384048"/>
          </a:xfrm>
          <a:prstGeom prst="rect">
            <a:avLst/>
          </a:prstGeom>
          <a:noFill/>
          <a:ln/>
        </p:spPr>
        <p:txBody>
          <a:bodyPr wrap="square" lIns="0" tIns="0" rIns="0" bIns="0" rtlCol="0" anchor="ctr"/>
          <a:lstStyle/>
          <a:p>
            <a:pPr indent="0" marL="0">
              <a:buNone/>
            </a:pPr>
            <a:r>
              <a:rPr lang="en-US" sz="1050" dirty="0">
                <a:solidFill>
                  <a:srgbClr val="FFFFFF"/>
                </a:solidFill>
                <a:latin typeface="メイリオ" pitchFamily="34" charset="0"/>
                <a:ea typeface="メイリオ" pitchFamily="34" charset="-122"/>
                <a:cs typeface="メイリオ" pitchFamily="34" charset="-120"/>
              </a:rPr>
              <a:t>私募3号・4号</a:t>
            </a:r>
            <a:endParaRPr lang="en-US" sz="1050" dirty="0"/>
          </a:p>
        </p:txBody>
      </p:sp>
      <p:sp>
        <p:nvSpPr>
          <p:cNvPr id="33" name="Text 31"/>
          <p:cNvSpPr/>
          <p:nvPr/>
        </p:nvSpPr>
        <p:spPr>
          <a:xfrm>
            <a:off x="10195560" y="2633472"/>
            <a:ext cx="1143000" cy="384048"/>
          </a:xfrm>
          <a:prstGeom prst="rect">
            <a:avLst/>
          </a:prstGeom>
          <a:noFill/>
          <a:ln/>
        </p:spPr>
        <p:txBody>
          <a:bodyPr wrap="square" lIns="0" tIns="0" rIns="0" bIns="0" rtlCol="0" anchor="ctr"/>
          <a:lstStyle/>
          <a:p>
            <a:pPr algn="r" indent="0" marL="0">
              <a:buNone/>
            </a:pPr>
            <a:r>
              <a:rPr lang="en-US" sz="1150" b="1" dirty="0">
                <a:solidFill>
                  <a:srgbClr val="A98442"/>
                </a:solidFill>
                <a:latin typeface="メイリオ" pitchFamily="34" charset="0"/>
                <a:ea typeface="メイリオ" pitchFamily="34" charset="-122"/>
                <a:cs typeface="メイリオ" pitchFamily="34" charset="-120"/>
              </a:rPr>
              <a:t>＋75.0</a:t>
            </a:r>
            <a:endParaRPr lang="en-US" sz="1150" dirty="0"/>
          </a:p>
        </p:txBody>
      </p:sp>
      <p:sp>
        <p:nvSpPr>
          <p:cNvPr id="34" name="Text 32"/>
          <p:cNvSpPr/>
          <p:nvPr/>
        </p:nvSpPr>
        <p:spPr>
          <a:xfrm>
            <a:off x="8229600" y="3163824"/>
            <a:ext cx="2103120" cy="384048"/>
          </a:xfrm>
          <a:prstGeom prst="rect">
            <a:avLst/>
          </a:prstGeom>
          <a:noFill/>
          <a:ln/>
        </p:spPr>
        <p:txBody>
          <a:bodyPr wrap="square" lIns="0" tIns="0" rIns="0" bIns="0" rtlCol="0" anchor="ctr"/>
          <a:lstStyle/>
          <a:p>
            <a:pPr indent="0" marL="0">
              <a:buNone/>
            </a:pPr>
            <a:r>
              <a:rPr lang="en-US" sz="1050" dirty="0">
                <a:solidFill>
                  <a:srgbClr val="FFFFFF"/>
                </a:solidFill>
                <a:latin typeface="メイリオ" pitchFamily="34" charset="0"/>
                <a:ea typeface="メイリオ" pitchFamily="34" charset="-122"/>
                <a:cs typeface="メイリオ" pitchFamily="34" charset="-120"/>
              </a:rPr>
              <a:t>前倒し2件</a:t>
            </a:r>
            <a:endParaRPr lang="en-US" sz="1050" dirty="0"/>
          </a:p>
        </p:txBody>
      </p:sp>
      <p:sp>
        <p:nvSpPr>
          <p:cNvPr id="35" name="Text 33"/>
          <p:cNvSpPr/>
          <p:nvPr/>
        </p:nvSpPr>
        <p:spPr>
          <a:xfrm>
            <a:off x="10195560" y="3163824"/>
            <a:ext cx="1143000" cy="384048"/>
          </a:xfrm>
          <a:prstGeom prst="rect">
            <a:avLst/>
          </a:prstGeom>
          <a:noFill/>
          <a:ln/>
        </p:spPr>
        <p:txBody>
          <a:bodyPr wrap="square" lIns="0" tIns="0" rIns="0" bIns="0" rtlCol="0" anchor="ctr"/>
          <a:lstStyle/>
          <a:p>
            <a:pPr algn="r" indent="0" marL="0">
              <a:buNone/>
            </a:pPr>
            <a:r>
              <a:rPr lang="en-US" sz="1150" b="1" dirty="0">
                <a:solidFill>
                  <a:srgbClr val="A98442"/>
                </a:solidFill>
                <a:latin typeface="メイリオ" pitchFamily="34" charset="0"/>
                <a:ea typeface="メイリオ" pitchFamily="34" charset="-122"/>
                <a:cs typeface="メイリオ" pitchFamily="34" charset="-120"/>
              </a:rPr>
              <a:t>＋30.0</a:t>
            </a:r>
            <a:endParaRPr lang="en-US" sz="1150" dirty="0"/>
          </a:p>
        </p:txBody>
      </p:sp>
      <p:sp>
        <p:nvSpPr>
          <p:cNvPr id="36" name="Shape 34"/>
          <p:cNvSpPr/>
          <p:nvPr/>
        </p:nvSpPr>
        <p:spPr>
          <a:xfrm>
            <a:off x="8229600" y="3840480"/>
            <a:ext cx="3108960" cy="0"/>
          </a:xfrm>
          <a:prstGeom prst="line">
            <a:avLst/>
          </a:prstGeom>
          <a:noFill/>
          <a:ln w="12700">
            <a:solidFill>
              <a:srgbClr val="6E6E6E"/>
            </a:solidFill>
            <a:prstDash val="solid"/>
          </a:ln>
        </p:spPr>
      </p:sp>
      <p:sp>
        <p:nvSpPr>
          <p:cNvPr id="37" name="Text 35"/>
          <p:cNvSpPr/>
          <p:nvPr/>
        </p:nvSpPr>
        <p:spPr>
          <a:xfrm>
            <a:off x="8229600" y="3986784"/>
            <a:ext cx="3108960" cy="274320"/>
          </a:xfrm>
          <a:prstGeom prst="rect">
            <a:avLst/>
          </a:prstGeom>
          <a:noFill/>
          <a:ln/>
        </p:spPr>
        <p:txBody>
          <a:bodyPr wrap="square" lIns="0" tIns="0" rIns="0" bIns="0" rtlCol="0" anchor="ctr"/>
          <a:lstStyle/>
          <a:p>
            <a:pPr algn="ctr" indent="0" marL="0">
              <a:buNone/>
            </a:pPr>
            <a:r>
              <a:rPr lang="en-US" sz="1050" dirty="0">
                <a:solidFill>
                  <a:srgbClr val="D9D7D2"/>
                </a:solidFill>
                <a:latin typeface="メイリオ" pitchFamily="34" charset="0"/>
                <a:ea typeface="メイリオ" pitchFamily="34" charset="-122"/>
                <a:cs typeface="メイリオ" pitchFamily="34" charset="-120"/>
              </a:rPr>
              <a:t>修正後 営業利益</a:t>
            </a:r>
            <a:endParaRPr lang="en-US" sz="1050" dirty="0"/>
          </a:p>
        </p:txBody>
      </p:sp>
      <p:sp>
        <p:nvSpPr>
          <p:cNvPr id="38" name="Text 36"/>
          <p:cNvSpPr/>
          <p:nvPr/>
        </p:nvSpPr>
        <p:spPr>
          <a:xfrm>
            <a:off x="8229600" y="4261104"/>
            <a:ext cx="3108960" cy="502920"/>
          </a:xfrm>
          <a:prstGeom prst="rect">
            <a:avLst/>
          </a:prstGeom>
          <a:noFill/>
          <a:ln/>
        </p:spPr>
        <p:txBody>
          <a:bodyPr wrap="square" lIns="0" tIns="0" rIns="0" bIns="0" rtlCol="0" anchor="ctr"/>
          <a:lstStyle/>
          <a:p>
            <a:pPr algn="ctr" indent="0" marL="0">
              <a:buNone/>
            </a:pPr>
            <a:r>
              <a:rPr lang="en-US" sz="2300" b="1" dirty="0">
                <a:solidFill>
                  <a:srgbClr val="A98442"/>
                </a:solidFill>
                <a:latin typeface="メイリオ" pitchFamily="34" charset="0"/>
                <a:ea typeface="メイリオ" pitchFamily="34" charset="-122"/>
                <a:cs typeface="メイリオ" pitchFamily="34" charset="-120"/>
              </a:rPr>
              <a:t>▲9.8百万円</a:t>
            </a:r>
            <a:endParaRPr lang="en-US" sz="2300" dirty="0"/>
          </a:p>
        </p:txBody>
      </p:sp>
      <p:sp>
        <p:nvSpPr>
          <p:cNvPr id="39" name="Text 37"/>
          <p:cNvSpPr/>
          <p:nvPr/>
        </p:nvSpPr>
        <p:spPr>
          <a:xfrm>
            <a:off x="8229600" y="4846320"/>
            <a:ext cx="3108960" cy="777240"/>
          </a:xfrm>
          <a:prstGeom prst="rect">
            <a:avLst/>
          </a:prstGeom>
          <a:noFill/>
          <a:ln/>
        </p:spPr>
        <p:txBody>
          <a:bodyPr wrap="square" lIns="0" tIns="0" rIns="0" bIns="0" rtlCol="0" anchor="ctr"/>
          <a:lstStyle/>
          <a:p>
            <a:pPr algn="ctr" indent="0" marL="0">
              <a:lnSpc>
                <a:spcPts val="1600"/>
              </a:lnSpc>
              <a:buNone/>
            </a:pPr>
            <a:r>
              <a:rPr lang="en-US" sz="950" dirty="0">
                <a:solidFill>
                  <a:srgbClr val="FFFFFF"/>
                </a:solidFill>
                <a:latin typeface="メイリオ" pitchFamily="34" charset="0"/>
                <a:ea typeface="メイリオ" pitchFamily="34" charset="-122"/>
                <a:cs typeface="メイリオ" pitchFamily="34" charset="-120"/>
              </a:rPr>
              <a:t>ただし公募ファンドの遅延という</a:t>
            </a:r>
            <a:endParaRPr lang="en-US" sz="950" dirty="0"/>
          </a:p>
          <a:p>
            <a:pPr algn="ctr" indent="0" marL="0">
              <a:lnSpc>
                <a:spcPts val="1600"/>
              </a:lnSpc>
              <a:buNone/>
            </a:pPr>
            <a:r>
              <a:rPr lang="en-US" sz="950" dirty="0">
                <a:solidFill>
                  <a:srgbClr val="FFFFFF"/>
                </a:solidFill>
                <a:latin typeface="メイリオ" pitchFamily="34" charset="0"/>
                <a:ea typeface="メイリオ" pitchFamily="34" charset="-122"/>
                <a:cs typeface="メイリオ" pitchFamily="34" charset="-120"/>
              </a:rPr>
              <a:t>最大の未達要因は解消していません。</a:t>
            </a:r>
            <a:endParaRPr lang="en-US" sz="950" dirty="0"/>
          </a:p>
          <a:p>
            <a:pPr algn="ctr" indent="0" marL="0">
              <a:lnSpc>
                <a:spcPts val="1600"/>
              </a:lnSpc>
              <a:buNone/>
            </a:pPr>
            <a:r>
              <a:rPr lang="en-US" sz="950" dirty="0">
                <a:solidFill>
                  <a:srgbClr val="FFFFFF"/>
                </a:solidFill>
                <a:latin typeface="メイリオ" pitchFamily="34" charset="0"/>
                <a:ea typeface="メイリオ" pitchFamily="34" charset="-122"/>
                <a:cs typeface="メイリオ" pitchFamily="34" charset="-120"/>
              </a:rPr>
              <a:t>計画どおりなら＋190百万円でした。</a:t>
            </a:r>
            <a:endParaRPr lang="en-US" sz="950" dirty="0"/>
          </a:p>
        </p:txBody>
      </p:sp>
      <p:sp>
        <p:nvSpPr>
          <p:cNvPr id="40" name="Text 38"/>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従来見込みの営業利益▲114.8百万円は確定値への差替えが必要です。貴社ご指摘の「0円＋α」に合わせるには▲105百万円程度となります。</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今期の反省と来期の方針</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着地が均衡まで戻った今も、原因の切り分けと来期の打ち手は変えていません。</a:t>
            </a:r>
            <a:endParaRPr lang="en-US" sz="1250" dirty="0"/>
          </a:p>
        </p:txBody>
      </p:sp>
      <p:sp>
        <p:nvSpPr>
          <p:cNvPr id="4" name="Text 2"/>
          <p:cNvSpPr/>
          <p:nvPr/>
        </p:nvSpPr>
        <p:spPr>
          <a:xfrm>
            <a:off x="594360" y="1463040"/>
            <a:ext cx="5349240" cy="329184"/>
          </a:xfrm>
          <a:prstGeom prst="rect">
            <a:avLst/>
          </a:prstGeom>
          <a:noFill/>
          <a:ln/>
        </p:spPr>
        <p:txBody>
          <a:bodyPr wrap="square" lIns="0" tIns="0" rIns="0" bIns="0" rtlCol="0" anchor="ctr"/>
          <a:lstStyle/>
          <a:p>
            <a:pPr indent="0" marL="0">
              <a:buNone/>
            </a:pPr>
            <a:r>
              <a:rPr lang="en-US" sz="1700" b="1" dirty="0">
                <a:solidFill>
                  <a:srgbClr val="1A1A1A"/>
                </a:solidFill>
                <a:latin typeface="メイリオ" pitchFamily="34" charset="0"/>
                <a:ea typeface="メイリオ" pitchFamily="34" charset="-122"/>
                <a:cs typeface="メイリオ" pitchFamily="34" charset="-120"/>
              </a:rPr>
              <a:t>今期（FY2026）の反省</a:t>
            </a:r>
            <a:endParaRPr lang="en-US" sz="1700" dirty="0"/>
          </a:p>
        </p:txBody>
      </p:sp>
      <p:sp>
        <p:nvSpPr>
          <p:cNvPr id="5" name="Shape 3"/>
          <p:cNvSpPr/>
          <p:nvPr/>
        </p:nvSpPr>
        <p:spPr>
          <a:xfrm>
            <a:off x="594360" y="1847088"/>
            <a:ext cx="1280160" cy="22860"/>
          </a:xfrm>
          <a:prstGeom prst="rect">
            <a:avLst/>
          </a:prstGeom>
          <a:solidFill>
            <a:srgbClr val="A98442"/>
          </a:solidFill>
          <a:ln/>
        </p:spPr>
      </p:sp>
      <p:sp>
        <p:nvSpPr>
          <p:cNvPr id="6" name="Shape 4"/>
          <p:cNvSpPr/>
          <p:nvPr/>
        </p:nvSpPr>
        <p:spPr>
          <a:xfrm>
            <a:off x="594360" y="2084832"/>
            <a:ext cx="5349240" cy="1115568"/>
          </a:xfrm>
          <a:prstGeom prst="roundRect">
            <a:avLst>
              <a:gd name="adj" fmla="val 409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7" name="Shape 5"/>
          <p:cNvSpPr/>
          <p:nvPr/>
        </p:nvSpPr>
        <p:spPr>
          <a:xfrm>
            <a:off x="868680" y="2468880"/>
            <a:ext cx="310896" cy="310896"/>
          </a:xfrm>
          <a:prstGeom prst="ellipse">
            <a:avLst/>
          </a:prstGeom>
          <a:solidFill>
            <a:srgbClr val="1A1A1A"/>
          </a:solidFill>
          <a:ln/>
        </p:spPr>
      </p:sp>
      <p:sp>
        <p:nvSpPr>
          <p:cNvPr id="8" name="Text 6"/>
          <p:cNvSpPr/>
          <p:nvPr/>
        </p:nvSpPr>
        <p:spPr>
          <a:xfrm>
            <a:off x="868680" y="24688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1</a:t>
            </a:r>
            <a:endParaRPr lang="en-US" sz="1300" dirty="0"/>
          </a:p>
        </p:txBody>
      </p:sp>
      <p:sp>
        <p:nvSpPr>
          <p:cNvPr id="9" name="Text 7"/>
          <p:cNvSpPr/>
          <p:nvPr/>
        </p:nvSpPr>
        <p:spPr>
          <a:xfrm>
            <a:off x="1325880" y="2249424"/>
            <a:ext cx="4434840" cy="365760"/>
          </a:xfrm>
          <a:prstGeom prst="rect">
            <a:avLst/>
          </a:prstGeom>
          <a:noFill/>
          <a:ln/>
        </p:spPr>
        <p:txBody>
          <a:bodyPr wrap="square" lIns="0" tIns="0" rIns="0" bIns="0" rtlCol="0" anchor="ctr"/>
          <a:lstStyle/>
          <a:p>
            <a:pPr indent="0" marL="0">
              <a:buNone/>
            </a:pPr>
            <a:r>
              <a:rPr lang="en-US" sz="1250" b="1" dirty="0">
                <a:solidFill>
                  <a:srgbClr val="1A1A1A"/>
                </a:solidFill>
                <a:latin typeface="メイリオ" pitchFamily="34" charset="0"/>
                <a:ea typeface="メイリオ" pitchFamily="34" charset="-122"/>
                <a:cs typeface="メイリオ" pitchFamily="34" charset="-120"/>
              </a:rPr>
              <a:t>SBI証券との公募ファンドが大幅に遅延</a:t>
            </a:r>
            <a:endParaRPr lang="en-US" sz="1250" dirty="0"/>
          </a:p>
        </p:txBody>
      </p:sp>
      <p:sp>
        <p:nvSpPr>
          <p:cNvPr id="10" name="Text 8"/>
          <p:cNvSpPr/>
          <p:nvPr/>
        </p:nvSpPr>
        <p:spPr>
          <a:xfrm>
            <a:off x="1325880" y="2633472"/>
            <a:ext cx="4434840" cy="475488"/>
          </a:xfrm>
          <a:prstGeom prst="rect">
            <a:avLst/>
          </a:prstGeom>
          <a:noFill/>
          <a:ln/>
        </p:spPr>
        <p:txBody>
          <a:bodyPr wrap="square" lIns="0" tIns="0" rIns="0" bIns="0" rtlCol="0" anchor="ctr"/>
          <a:lstStyle/>
          <a:p>
            <a:pPr indent="0" marL="0">
              <a:buNone/>
            </a:pPr>
            <a:r>
              <a:rPr lang="en-US" sz="1050" dirty="0">
                <a:solidFill>
                  <a:srgbClr val="4A4A4A"/>
                </a:solidFill>
                <a:latin typeface="メイリオ" pitchFamily="34" charset="0"/>
                <a:ea typeface="メイリオ" pitchFamily="34" charset="-122"/>
                <a:cs typeface="メイリオ" pitchFamily="34" charset="-120"/>
              </a:rPr>
              <a:t>最大の未達要因。売上約700百万円・粗利200百万円超が当期に立たなかった。組成の主導権が当社側になかった。</a:t>
            </a:r>
            <a:endParaRPr lang="en-US" sz="1050" dirty="0"/>
          </a:p>
        </p:txBody>
      </p:sp>
      <p:sp>
        <p:nvSpPr>
          <p:cNvPr id="11" name="Shape 9"/>
          <p:cNvSpPr/>
          <p:nvPr/>
        </p:nvSpPr>
        <p:spPr>
          <a:xfrm>
            <a:off x="594360" y="3346704"/>
            <a:ext cx="5349240" cy="1115568"/>
          </a:xfrm>
          <a:prstGeom prst="roundRect">
            <a:avLst>
              <a:gd name="adj" fmla="val 409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2" name="Shape 10"/>
          <p:cNvSpPr/>
          <p:nvPr/>
        </p:nvSpPr>
        <p:spPr>
          <a:xfrm>
            <a:off x="868680" y="3730752"/>
            <a:ext cx="310896" cy="310896"/>
          </a:xfrm>
          <a:prstGeom prst="ellipse">
            <a:avLst/>
          </a:prstGeom>
          <a:solidFill>
            <a:srgbClr val="1A1A1A"/>
          </a:solidFill>
          <a:ln/>
        </p:spPr>
      </p:sp>
      <p:sp>
        <p:nvSpPr>
          <p:cNvPr id="13" name="Text 11"/>
          <p:cNvSpPr/>
          <p:nvPr/>
        </p:nvSpPr>
        <p:spPr>
          <a:xfrm>
            <a:off x="868680" y="373075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2</a:t>
            </a:r>
            <a:endParaRPr lang="en-US" sz="1300" dirty="0"/>
          </a:p>
        </p:txBody>
      </p:sp>
      <p:sp>
        <p:nvSpPr>
          <p:cNvPr id="14" name="Text 12"/>
          <p:cNvSpPr/>
          <p:nvPr/>
        </p:nvSpPr>
        <p:spPr>
          <a:xfrm>
            <a:off x="1325880" y="3511296"/>
            <a:ext cx="4434840" cy="365760"/>
          </a:xfrm>
          <a:prstGeom prst="rect">
            <a:avLst/>
          </a:prstGeom>
          <a:noFill/>
          <a:ln/>
        </p:spPr>
        <p:txBody>
          <a:bodyPr wrap="square" lIns="0" tIns="0" rIns="0" bIns="0" rtlCol="0" anchor="ctr"/>
          <a:lstStyle/>
          <a:p>
            <a:pPr indent="0" marL="0">
              <a:buNone/>
            </a:pPr>
            <a:r>
              <a:rPr lang="en-US" sz="1250" b="1" dirty="0">
                <a:solidFill>
                  <a:srgbClr val="1A1A1A"/>
                </a:solidFill>
                <a:latin typeface="メイリオ" pitchFamily="34" charset="0"/>
                <a:ea typeface="メイリオ" pitchFamily="34" charset="-122"/>
                <a:cs typeface="メイリオ" pitchFamily="34" charset="-120"/>
              </a:rPr>
              <a:t>挽回策が後手に回った</a:t>
            </a:r>
            <a:endParaRPr lang="en-US" sz="1250" dirty="0"/>
          </a:p>
        </p:txBody>
      </p:sp>
      <p:sp>
        <p:nvSpPr>
          <p:cNvPr id="15" name="Text 13"/>
          <p:cNvSpPr/>
          <p:nvPr/>
        </p:nvSpPr>
        <p:spPr>
          <a:xfrm>
            <a:off x="1325880" y="3895344"/>
            <a:ext cx="4434840" cy="475488"/>
          </a:xfrm>
          <a:prstGeom prst="rect">
            <a:avLst/>
          </a:prstGeom>
          <a:noFill/>
          <a:ln/>
        </p:spPr>
        <p:txBody>
          <a:bodyPr wrap="square" lIns="0" tIns="0" rIns="0" bIns="0" rtlCol="0" anchor="ctr"/>
          <a:lstStyle/>
          <a:p>
            <a:pPr indent="0" marL="0">
              <a:buNone/>
            </a:pPr>
            <a:r>
              <a:rPr lang="en-US" sz="1050" dirty="0">
                <a:solidFill>
                  <a:srgbClr val="4A4A4A"/>
                </a:solidFill>
                <a:latin typeface="メイリオ" pitchFamily="34" charset="0"/>
                <a:ea typeface="メイリオ" pitchFamily="34" charset="-122"/>
                <a:cs typeface="メイリオ" pitchFamily="34" charset="-120"/>
              </a:rPr>
              <a:t>私募ファンドの組成が9月末までずれ込んだ。期初から動けていれば取れた収益を落とした。</a:t>
            </a:r>
            <a:endParaRPr lang="en-US" sz="1050" dirty="0"/>
          </a:p>
        </p:txBody>
      </p:sp>
      <p:sp>
        <p:nvSpPr>
          <p:cNvPr id="16" name="Shape 14"/>
          <p:cNvSpPr/>
          <p:nvPr/>
        </p:nvSpPr>
        <p:spPr>
          <a:xfrm>
            <a:off x="594360" y="4608576"/>
            <a:ext cx="5349240" cy="1115568"/>
          </a:xfrm>
          <a:prstGeom prst="roundRect">
            <a:avLst>
              <a:gd name="adj" fmla="val 409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7" name="Shape 15"/>
          <p:cNvSpPr/>
          <p:nvPr/>
        </p:nvSpPr>
        <p:spPr>
          <a:xfrm>
            <a:off x="868680" y="4992624"/>
            <a:ext cx="310896" cy="310896"/>
          </a:xfrm>
          <a:prstGeom prst="ellipse">
            <a:avLst/>
          </a:prstGeom>
          <a:solidFill>
            <a:srgbClr val="1A1A1A"/>
          </a:solidFill>
          <a:ln/>
        </p:spPr>
      </p:sp>
      <p:sp>
        <p:nvSpPr>
          <p:cNvPr id="18" name="Text 16"/>
          <p:cNvSpPr/>
          <p:nvPr/>
        </p:nvSpPr>
        <p:spPr>
          <a:xfrm>
            <a:off x="868680" y="499262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3</a:t>
            </a:r>
            <a:endParaRPr lang="en-US" sz="1300" dirty="0"/>
          </a:p>
        </p:txBody>
      </p:sp>
      <p:sp>
        <p:nvSpPr>
          <p:cNvPr id="19" name="Text 17"/>
          <p:cNvSpPr/>
          <p:nvPr/>
        </p:nvSpPr>
        <p:spPr>
          <a:xfrm>
            <a:off x="1325880" y="4773168"/>
            <a:ext cx="4434840" cy="365760"/>
          </a:xfrm>
          <a:prstGeom prst="rect">
            <a:avLst/>
          </a:prstGeom>
          <a:noFill/>
          <a:ln/>
        </p:spPr>
        <p:txBody>
          <a:bodyPr wrap="square" lIns="0" tIns="0" rIns="0" bIns="0" rtlCol="0" anchor="ctr"/>
          <a:lstStyle/>
          <a:p>
            <a:pPr indent="0" marL="0">
              <a:buNone/>
            </a:pPr>
            <a:r>
              <a:rPr lang="en-US" sz="1250" b="1" dirty="0">
                <a:solidFill>
                  <a:srgbClr val="1A1A1A"/>
                </a:solidFill>
                <a:latin typeface="メイリオ" pitchFamily="34" charset="0"/>
                <a:ea typeface="メイリオ" pitchFamily="34" charset="-122"/>
                <a:cs typeface="メイリオ" pitchFamily="34" charset="-120"/>
              </a:rPr>
              <a:t>一過性収益への依存</a:t>
            </a:r>
            <a:endParaRPr lang="en-US" sz="1250" dirty="0"/>
          </a:p>
        </p:txBody>
      </p:sp>
      <p:sp>
        <p:nvSpPr>
          <p:cNvPr id="20" name="Text 18"/>
          <p:cNvSpPr/>
          <p:nvPr/>
        </p:nvSpPr>
        <p:spPr>
          <a:xfrm>
            <a:off x="1325880" y="5157216"/>
            <a:ext cx="4434840" cy="475488"/>
          </a:xfrm>
          <a:prstGeom prst="rect">
            <a:avLst/>
          </a:prstGeom>
          <a:noFill/>
          <a:ln/>
        </p:spPr>
        <p:txBody>
          <a:bodyPr wrap="square" lIns="0" tIns="0" rIns="0" bIns="0" rtlCol="0" anchor="ctr"/>
          <a:lstStyle/>
          <a:p>
            <a:pPr indent="0" marL="0">
              <a:buNone/>
            </a:pPr>
            <a:r>
              <a:rPr lang="en-US" sz="1050" dirty="0">
                <a:solidFill>
                  <a:srgbClr val="4A4A4A"/>
                </a:solidFill>
                <a:latin typeface="メイリオ" pitchFamily="34" charset="0"/>
                <a:ea typeface="メイリオ" pitchFamily="34" charset="-122"/>
                <a:cs typeface="メイリオ" pitchFamily="34" charset="-120"/>
              </a:rPr>
              <a:t>FY2026の均衡回復は私募2本と前倒し計上によるもので、いずれもFY2027には残らない。</a:t>
            </a:r>
            <a:endParaRPr lang="en-US" sz="1050" dirty="0"/>
          </a:p>
        </p:txBody>
      </p:sp>
      <p:sp>
        <p:nvSpPr>
          <p:cNvPr id="21" name="Text 19"/>
          <p:cNvSpPr/>
          <p:nvPr/>
        </p:nvSpPr>
        <p:spPr>
          <a:xfrm>
            <a:off x="6217920" y="1463040"/>
            <a:ext cx="5349240" cy="329184"/>
          </a:xfrm>
          <a:prstGeom prst="rect">
            <a:avLst/>
          </a:prstGeom>
          <a:noFill/>
          <a:ln/>
        </p:spPr>
        <p:txBody>
          <a:bodyPr wrap="square" lIns="0" tIns="0" rIns="0" bIns="0" rtlCol="0" anchor="ctr"/>
          <a:lstStyle/>
          <a:p>
            <a:pPr indent="0" marL="0">
              <a:buNone/>
            </a:pPr>
            <a:r>
              <a:rPr lang="en-US" sz="1700" b="1" dirty="0">
                <a:solidFill>
                  <a:srgbClr val="1A1A1A"/>
                </a:solidFill>
                <a:latin typeface="メイリオ" pitchFamily="34" charset="0"/>
                <a:ea typeface="メイリオ" pitchFamily="34" charset="-122"/>
                <a:cs typeface="メイリオ" pitchFamily="34" charset="-120"/>
              </a:rPr>
              <a:t>来期（FY2027）の方針</a:t>
            </a:r>
            <a:endParaRPr lang="en-US" sz="1700" dirty="0"/>
          </a:p>
        </p:txBody>
      </p:sp>
      <p:sp>
        <p:nvSpPr>
          <p:cNvPr id="22" name="Shape 20"/>
          <p:cNvSpPr/>
          <p:nvPr/>
        </p:nvSpPr>
        <p:spPr>
          <a:xfrm>
            <a:off x="6217920" y="1847088"/>
            <a:ext cx="1280160" cy="22860"/>
          </a:xfrm>
          <a:prstGeom prst="rect">
            <a:avLst/>
          </a:prstGeom>
          <a:solidFill>
            <a:srgbClr val="A98442"/>
          </a:solidFill>
          <a:ln/>
        </p:spPr>
      </p:sp>
      <p:sp>
        <p:nvSpPr>
          <p:cNvPr id="23" name="Shape 21"/>
          <p:cNvSpPr/>
          <p:nvPr/>
        </p:nvSpPr>
        <p:spPr>
          <a:xfrm>
            <a:off x="6217920" y="2084832"/>
            <a:ext cx="5349240" cy="1874520"/>
          </a:xfrm>
          <a:prstGeom prst="roundRect">
            <a:avLst>
              <a:gd name="adj" fmla="val 2439"/>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4" name="Text 22"/>
          <p:cNvSpPr/>
          <p:nvPr/>
        </p:nvSpPr>
        <p:spPr>
          <a:xfrm>
            <a:off x="6537960" y="2286000"/>
            <a:ext cx="4709160" cy="365760"/>
          </a:xfrm>
          <a:prstGeom prst="rect">
            <a:avLst/>
          </a:prstGeom>
          <a:noFill/>
          <a:ln/>
        </p:spPr>
        <p:txBody>
          <a:bodyPr wrap="square" lIns="0" tIns="0" rIns="0" bIns="0" rtlCol="0" anchor="ctr"/>
          <a:lstStyle/>
          <a:p>
            <a:pPr indent="0" marL="0">
              <a:buNone/>
            </a:pPr>
            <a:r>
              <a:rPr lang="en-US" sz="1900" b="1" dirty="0">
                <a:solidFill>
                  <a:srgbClr val="A98442"/>
                </a:solidFill>
                <a:latin typeface="メイリオ" pitchFamily="34" charset="0"/>
                <a:ea typeface="メイリオ" pitchFamily="34" charset="-122"/>
                <a:cs typeface="メイリオ" pitchFamily="34" charset="-120"/>
              </a:rPr>
              <a:t>公募ファンドは優先しない</a:t>
            </a:r>
            <a:endParaRPr lang="en-US" sz="1900" dirty="0"/>
          </a:p>
        </p:txBody>
      </p:sp>
      <p:sp>
        <p:nvSpPr>
          <p:cNvPr id="25" name="Text 23"/>
          <p:cNvSpPr/>
          <p:nvPr/>
        </p:nvSpPr>
        <p:spPr>
          <a:xfrm>
            <a:off x="6537960" y="2724912"/>
            <a:ext cx="4709160" cy="1005840"/>
          </a:xfrm>
          <a:prstGeom prst="rect">
            <a:avLst/>
          </a:prstGeom>
          <a:noFill/>
          <a:ln/>
        </p:spPr>
        <p:txBody>
          <a:bodyPr wrap="square" lIns="0" tIns="0" rIns="0" bIns="0" rtlCol="0" anchor="t"/>
          <a:lstStyle/>
          <a:p>
            <a:pPr indent="0" marL="0">
              <a:buNone/>
            </a:pPr>
            <a:r>
              <a:rPr lang="en-US" sz="1150" dirty="0">
                <a:solidFill>
                  <a:srgbClr val="FFFFFF"/>
                </a:solidFill>
                <a:latin typeface="メイリオ" pitchFamily="34" charset="0"/>
                <a:ea typeface="メイリオ" pitchFamily="34" charset="-122"/>
                <a:cs typeface="メイリオ" pitchFamily="34" charset="-120"/>
              </a:rPr>
              <a:t>外部要因で組成時期が動く公募は、当期の収益計画の柱に置きません。遅延が全体計画を崩す構造から離れます。</a:t>
            </a:r>
            <a:endParaRPr lang="en-US" sz="1150" dirty="0"/>
          </a:p>
        </p:txBody>
      </p:sp>
      <p:sp>
        <p:nvSpPr>
          <p:cNvPr id="26" name="Shape 24"/>
          <p:cNvSpPr/>
          <p:nvPr/>
        </p:nvSpPr>
        <p:spPr>
          <a:xfrm>
            <a:off x="6217920" y="4114800"/>
            <a:ext cx="5349240" cy="1874520"/>
          </a:xfrm>
          <a:prstGeom prst="roundRect">
            <a:avLst>
              <a:gd name="adj" fmla="val 2439"/>
            </a:avLst>
          </a:prstGeom>
          <a:solidFill>
            <a:srgbClr val="FAF3E2"/>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7" name="Text 25"/>
          <p:cNvSpPr/>
          <p:nvPr/>
        </p:nvSpPr>
        <p:spPr>
          <a:xfrm>
            <a:off x="6537960" y="4315968"/>
            <a:ext cx="4709160" cy="365760"/>
          </a:xfrm>
          <a:prstGeom prst="rect">
            <a:avLst/>
          </a:prstGeom>
          <a:noFill/>
          <a:ln/>
        </p:spPr>
        <p:txBody>
          <a:bodyPr wrap="square" lIns="0" tIns="0" rIns="0" bIns="0" rtlCol="0" anchor="ctr"/>
          <a:lstStyle/>
          <a:p>
            <a:pPr indent="0" marL="0">
              <a:buNone/>
            </a:pPr>
            <a:r>
              <a:rPr lang="en-US" sz="1900" b="1" dirty="0">
                <a:solidFill>
                  <a:srgbClr val="1A1A1A"/>
                </a:solidFill>
                <a:latin typeface="メイリオ" pitchFamily="34" charset="0"/>
                <a:ea typeface="メイリオ" pitchFamily="34" charset="-122"/>
                <a:cs typeface="メイリオ" pitchFamily="34" charset="-120"/>
              </a:rPr>
              <a:t>私募とオークションを毎年回す</a:t>
            </a:r>
            <a:endParaRPr lang="en-US" sz="1900" dirty="0"/>
          </a:p>
        </p:txBody>
      </p:sp>
      <p:sp>
        <p:nvSpPr>
          <p:cNvPr id="28" name="Text 26"/>
          <p:cNvSpPr/>
          <p:nvPr/>
        </p:nvSpPr>
        <p:spPr>
          <a:xfrm>
            <a:off x="6537960" y="4754880"/>
            <a:ext cx="4709160" cy="1051560"/>
          </a:xfrm>
          <a:prstGeom prst="rect">
            <a:avLst/>
          </a:prstGeom>
          <a:noFill/>
          <a:ln/>
        </p:spPr>
        <p:txBody>
          <a:bodyPr wrap="square" lIns="0" tIns="0" rIns="0" bIns="0" rtlCol="0" anchor="t"/>
          <a:lstStyle/>
          <a:p>
            <a:pPr indent="0" marL="0">
              <a:buNone/>
            </a:pPr>
            <a:r>
              <a:rPr lang="en-US" sz="1100" dirty="0">
                <a:solidFill>
                  <a:srgbClr val="1A1A1A"/>
                </a:solidFill>
                <a:latin typeface="メイリオ" pitchFamily="34" charset="0"/>
                <a:ea typeface="メイリオ" pitchFamily="34" charset="-122"/>
                <a:cs typeface="メイリオ" pitchFamily="34" charset="-120"/>
              </a:rPr>
              <a:t>自社で時期をコントロールでき実績もある私募を主軸に切り替え、毎年の定例組成として体制化します。オークションを並行する販売チャネルとして立ち上げ、単年度の振れを抑えます。</a:t>
            </a:r>
            <a:endParaRPr lang="en-US" sz="1100" dirty="0"/>
          </a:p>
        </p:txBody>
      </p:sp>
      <p:sp>
        <p:nvSpPr>
          <p:cNvPr id="29" name="Text 27"/>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私募ファンドはFY2026に約3億円の実績。公募の遅延を補う位置づけから、来期は主軸へ転換します。</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転換点 － 飲食事業の再編による固定費削減</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不採算3店舗を撤退。撤退に紐づく費用科目が実際に減少しています。削減は計画ではなく実績です。</a:t>
            </a:r>
            <a:endParaRPr lang="en-US" sz="1250" dirty="0"/>
          </a:p>
        </p:txBody>
      </p:sp>
      <p:sp>
        <p:nvSpPr>
          <p:cNvPr id="4" name="Shape 2"/>
          <p:cNvSpPr/>
          <p:nvPr/>
        </p:nvSpPr>
        <p:spPr>
          <a:xfrm>
            <a:off x="594360" y="1572768"/>
            <a:ext cx="7680960" cy="384048"/>
          </a:xfrm>
          <a:prstGeom prst="rect">
            <a:avLst/>
          </a:prstGeom>
          <a:solidFill>
            <a:srgbClr val="1A1A1A"/>
          </a:solidFill>
          <a:ln/>
        </p:spPr>
      </p:sp>
      <p:sp>
        <p:nvSpPr>
          <p:cNvPr id="5" name="Text 3"/>
          <p:cNvSpPr/>
          <p:nvPr/>
        </p:nvSpPr>
        <p:spPr>
          <a:xfrm>
            <a:off x="704088" y="1572768"/>
            <a:ext cx="2889504" cy="384048"/>
          </a:xfrm>
          <a:prstGeom prst="rect">
            <a:avLst/>
          </a:prstGeom>
          <a:noFill/>
          <a:ln/>
        </p:spPr>
        <p:txBody>
          <a:bodyPr wrap="square" lIns="0" tIns="0" rIns="0" bIns="0" rtlCol="0" anchor="ctr"/>
          <a:lstStyle/>
          <a:p>
            <a:pPr algn="l" indent="0" marL="0">
              <a:buNone/>
            </a:pPr>
            <a:r>
              <a:rPr lang="en-US" sz="950" b="1" dirty="0">
                <a:solidFill>
                  <a:srgbClr val="FFFFFF"/>
                </a:solidFill>
                <a:latin typeface="メイリオ" pitchFamily="34" charset="0"/>
                <a:ea typeface="メイリオ" pitchFamily="34" charset="-122"/>
                <a:cs typeface="メイリオ" pitchFamily="34" charset="-120"/>
              </a:rPr>
              <a:t>勘定科目（単位：円）</a:t>
            </a:r>
            <a:endParaRPr lang="en-US" sz="950" dirty="0"/>
          </a:p>
        </p:txBody>
      </p:sp>
      <p:sp>
        <p:nvSpPr>
          <p:cNvPr id="6" name="Text 4"/>
          <p:cNvSpPr/>
          <p:nvPr/>
        </p:nvSpPr>
        <p:spPr>
          <a:xfrm>
            <a:off x="3813048" y="1572768"/>
            <a:ext cx="1472184" cy="384048"/>
          </a:xfrm>
          <a:prstGeom prst="rect">
            <a:avLst/>
          </a:prstGeom>
          <a:noFill/>
          <a:ln/>
        </p:spPr>
        <p:txBody>
          <a:bodyPr wrap="square" lIns="0" tIns="0" rIns="0" bIns="0" rtlCol="0" anchor="ctr"/>
          <a:lstStyle/>
          <a:p>
            <a:pPr algn="r" indent="0" marL="0">
              <a:buNone/>
            </a:pPr>
            <a:r>
              <a:rPr lang="en-US" sz="950" b="1" dirty="0">
                <a:solidFill>
                  <a:srgbClr val="FFFFFF"/>
                </a:solidFill>
                <a:latin typeface="メイリオ" pitchFamily="34" charset="0"/>
                <a:ea typeface="メイリオ" pitchFamily="34" charset="-122"/>
                <a:cs typeface="メイリオ" pitchFamily="34" charset="-120"/>
              </a:rPr>
              <a:t>① 25/10-26/3 月平均</a:t>
            </a:r>
            <a:endParaRPr lang="en-US" sz="950" dirty="0"/>
          </a:p>
        </p:txBody>
      </p:sp>
      <p:sp>
        <p:nvSpPr>
          <p:cNvPr id="7" name="Text 5"/>
          <p:cNvSpPr/>
          <p:nvPr/>
        </p:nvSpPr>
        <p:spPr>
          <a:xfrm>
            <a:off x="5504688" y="1572768"/>
            <a:ext cx="1289304" cy="384048"/>
          </a:xfrm>
          <a:prstGeom prst="rect">
            <a:avLst/>
          </a:prstGeom>
          <a:noFill/>
          <a:ln/>
        </p:spPr>
        <p:txBody>
          <a:bodyPr wrap="square" lIns="0" tIns="0" rIns="0" bIns="0" rtlCol="0" anchor="ctr"/>
          <a:lstStyle/>
          <a:p>
            <a:pPr algn="r" indent="0" marL="0">
              <a:buNone/>
            </a:pPr>
            <a:r>
              <a:rPr lang="en-US" sz="950" b="1" dirty="0">
                <a:solidFill>
                  <a:srgbClr val="FFFFFF"/>
                </a:solidFill>
                <a:latin typeface="メイリオ" pitchFamily="34" charset="0"/>
                <a:ea typeface="メイリオ" pitchFamily="34" charset="-122"/>
                <a:cs typeface="メイリオ" pitchFamily="34" charset="-120"/>
              </a:rPr>
              <a:t>② 26/4-6 月平均</a:t>
            </a:r>
            <a:endParaRPr lang="en-US" sz="950" dirty="0"/>
          </a:p>
        </p:txBody>
      </p:sp>
      <p:sp>
        <p:nvSpPr>
          <p:cNvPr id="8" name="Text 6"/>
          <p:cNvSpPr/>
          <p:nvPr/>
        </p:nvSpPr>
        <p:spPr>
          <a:xfrm>
            <a:off x="7013448" y="1572768"/>
            <a:ext cx="1152144" cy="384048"/>
          </a:xfrm>
          <a:prstGeom prst="rect">
            <a:avLst/>
          </a:prstGeom>
          <a:noFill/>
          <a:ln/>
        </p:spPr>
        <p:txBody>
          <a:bodyPr wrap="square" lIns="0" tIns="0" rIns="0" bIns="0" rtlCol="0" anchor="ctr"/>
          <a:lstStyle/>
          <a:p>
            <a:pPr algn="r" indent="0" marL="0">
              <a:buNone/>
            </a:pPr>
            <a:r>
              <a:rPr lang="en-US" sz="950" b="1" dirty="0">
                <a:solidFill>
                  <a:srgbClr val="FFFFFF"/>
                </a:solidFill>
                <a:latin typeface="メイリオ" pitchFamily="34" charset="0"/>
                <a:ea typeface="メイリオ" pitchFamily="34" charset="-122"/>
                <a:cs typeface="メイリオ" pitchFamily="34" charset="-120"/>
              </a:rPr>
              <a:t>差 ②-①</a:t>
            </a:r>
            <a:endParaRPr lang="en-US" sz="950" dirty="0"/>
          </a:p>
        </p:txBody>
      </p:sp>
      <p:sp>
        <p:nvSpPr>
          <p:cNvPr id="9" name="Shape 7"/>
          <p:cNvSpPr/>
          <p:nvPr/>
        </p:nvSpPr>
        <p:spPr>
          <a:xfrm>
            <a:off x="594360" y="1956816"/>
            <a:ext cx="7680960" cy="457200"/>
          </a:xfrm>
          <a:prstGeom prst="rect">
            <a:avLst/>
          </a:prstGeom>
          <a:solidFill>
            <a:srgbClr val="FFFFFF"/>
          </a:solidFill>
          <a:ln w="6350">
            <a:solidFill>
              <a:srgbClr val="E2E0DC"/>
            </a:solidFill>
            <a:prstDash val="solid"/>
          </a:ln>
        </p:spPr>
      </p:sp>
      <p:sp>
        <p:nvSpPr>
          <p:cNvPr id="10" name="Text 8"/>
          <p:cNvSpPr/>
          <p:nvPr/>
        </p:nvSpPr>
        <p:spPr>
          <a:xfrm>
            <a:off x="704088" y="1956816"/>
            <a:ext cx="2889504" cy="457200"/>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雑給（店舗人件費）</a:t>
            </a:r>
            <a:endParaRPr lang="en-US" sz="1050" dirty="0"/>
          </a:p>
        </p:txBody>
      </p:sp>
      <p:sp>
        <p:nvSpPr>
          <p:cNvPr id="11" name="Text 9"/>
          <p:cNvSpPr/>
          <p:nvPr/>
        </p:nvSpPr>
        <p:spPr>
          <a:xfrm>
            <a:off x="3813048" y="1956816"/>
            <a:ext cx="147218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1,976,720</a:t>
            </a:r>
            <a:endParaRPr lang="en-US" sz="1050" dirty="0"/>
          </a:p>
        </p:txBody>
      </p:sp>
      <p:sp>
        <p:nvSpPr>
          <p:cNvPr id="12" name="Text 10"/>
          <p:cNvSpPr/>
          <p:nvPr/>
        </p:nvSpPr>
        <p:spPr>
          <a:xfrm>
            <a:off x="5504688" y="1956816"/>
            <a:ext cx="128930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198,075</a:t>
            </a:r>
            <a:endParaRPr lang="en-US" sz="1050" dirty="0"/>
          </a:p>
        </p:txBody>
      </p:sp>
      <p:sp>
        <p:nvSpPr>
          <p:cNvPr id="13" name="Text 11"/>
          <p:cNvSpPr/>
          <p:nvPr/>
        </p:nvSpPr>
        <p:spPr>
          <a:xfrm>
            <a:off x="7013448" y="1956816"/>
            <a:ext cx="1152144" cy="457200"/>
          </a:xfrm>
          <a:prstGeom prst="rect">
            <a:avLst/>
          </a:prstGeom>
          <a:noFill/>
          <a:ln/>
        </p:spPr>
        <p:txBody>
          <a:bodyPr wrap="square" lIns="0" tIns="0" rIns="0" bIns="0" rtlCol="0" anchor="ctr"/>
          <a:lstStyle/>
          <a:p>
            <a:pPr algn="r" indent="0" marL="0">
              <a:buNone/>
            </a:pPr>
            <a:r>
              <a:rPr lang="en-US" sz="1050" dirty="0">
                <a:solidFill>
                  <a:srgbClr val="6E6E6E"/>
                </a:solidFill>
                <a:latin typeface="メイリオ" pitchFamily="34" charset="0"/>
                <a:ea typeface="メイリオ" pitchFamily="34" charset="-122"/>
                <a:cs typeface="メイリオ" pitchFamily="34" charset="-120"/>
              </a:rPr>
              <a:t>▲1,778,645</a:t>
            </a:r>
            <a:endParaRPr lang="en-US" sz="1050" dirty="0"/>
          </a:p>
        </p:txBody>
      </p:sp>
      <p:sp>
        <p:nvSpPr>
          <p:cNvPr id="14" name="Shape 12"/>
          <p:cNvSpPr/>
          <p:nvPr/>
        </p:nvSpPr>
        <p:spPr>
          <a:xfrm>
            <a:off x="594360" y="2414016"/>
            <a:ext cx="7680960" cy="457200"/>
          </a:xfrm>
          <a:prstGeom prst="rect">
            <a:avLst/>
          </a:prstGeom>
          <a:solidFill>
            <a:srgbClr val="FBFAF8"/>
          </a:solidFill>
          <a:ln w="6350">
            <a:solidFill>
              <a:srgbClr val="E2E0DC"/>
            </a:solidFill>
            <a:prstDash val="solid"/>
          </a:ln>
        </p:spPr>
      </p:sp>
      <p:sp>
        <p:nvSpPr>
          <p:cNvPr id="15" name="Text 13"/>
          <p:cNvSpPr/>
          <p:nvPr/>
        </p:nvSpPr>
        <p:spPr>
          <a:xfrm>
            <a:off x="704088" y="2414016"/>
            <a:ext cx="2889504" cy="457200"/>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従業員給与</a:t>
            </a:r>
            <a:endParaRPr lang="en-US" sz="1050" dirty="0"/>
          </a:p>
        </p:txBody>
      </p:sp>
      <p:sp>
        <p:nvSpPr>
          <p:cNvPr id="16" name="Text 14"/>
          <p:cNvSpPr/>
          <p:nvPr/>
        </p:nvSpPr>
        <p:spPr>
          <a:xfrm>
            <a:off x="3813048" y="2414016"/>
            <a:ext cx="147218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4,877,779</a:t>
            </a:r>
            <a:endParaRPr lang="en-US" sz="1050" dirty="0"/>
          </a:p>
        </p:txBody>
      </p:sp>
      <p:sp>
        <p:nvSpPr>
          <p:cNvPr id="17" name="Text 15"/>
          <p:cNvSpPr/>
          <p:nvPr/>
        </p:nvSpPr>
        <p:spPr>
          <a:xfrm>
            <a:off x="5504688" y="2414016"/>
            <a:ext cx="128930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2,844,602</a:t>
            </a:r>
            <a:endParaRPr lang="en-US" sz="1050" dirty="0"/>
          </a:p>
        </p:txBody>
      </p:sp>
      <p:sp>
        <p:nvSpPr>
          <p:cNvPr id="18" name="Text 16"/>
          <p:cNvSpPr/>
          <p:nvPr/>
        </p:nvSpPr>
        <p:spPr>
          <a:xfrm>
            <a:off x="7013448" y="2414016"/>
            <a:ext cx="1152144" cy="457200"/>
          </a:xfrm>
          <a:prstGeom prst="rect">
            <a:avLst/>
          </a:prstGeom>
          <a:noFill/>
          <a:ln/>
        </p:spPr>
        <p:txBody>
          <a:bodyPr wrap="square" lIns="0" tIns="0" rIns="0" bIns="0" rtlCol="0" anchor="ctr"/>
          <a:lstStyle/>
          <a:p>
            <a:pPr algn="r" indent="0" marL="0">
              <a:buNone/>
            </a:pPr>
            <a:r>
              <a:rPr lang="en-US" sz="1050" dirty="0">
                <a:solidFill>
                  <a:srgbClr val="6E6E6E"/>
                </a:solidFill>
                <a:latin typeface="メイリオ" pitchFamily="34" charset="0"/>
                <a:ea typeface="メイリオ" pitchFamily="34" charset="-122"/>
                <a:cs typeface="メイリオ" pitchFamily="34" charset="-120"/>
              </a:rPr>
              <a:t>▲2,033,177</a:t>
            </a:r>
            <a:endParaRPr lang="en-US" sz="1050" dirty="0"/>
          </a:p>
        </p:txBody>
      </p:sp>
      <p:sp>
        <p:nvSpPr>
          <p:cNvPr id="19" name="Shape 17"/>
          <p:cNvSpPr/>
          <p:nvPr/>
        </p:nvSpPr>
        <p:spPr>
          <a:xfrm>
            <a:off x="594360" y="2871216"/>
            <a:ext cx="7680960" cy="457200"/>
          </a:xfrm>
          <a:prstGeom prst="rect">
            <a:avLst/>
          </a:prstGeom>
          <a:solidFill>
            <a:srgbClr val="FFFFFF"/>
          </a:solidFill>
          <a:ln w="6350">
            <a:solidFill>
              <a:srgbClr val="E2E0DC"/>
            </a:solidFill>
            <a:prstDash val="solid"/>
          </a:ln>
        </p:spPr>
      </p:sp>
      <p:sp>
        <p:nvSpPr>
          <p:cNvPr id="20" name="Text 18"/>
          <p:cNvSpPr/>
          <p:nvPr/>
        </p:nvSpPr>
        <p:spPr>
          <a:xfrm>
            <a:off x="704088" y="2871216"/>
            <a:ext cx="2889504" cy="457200"/>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倉庫＆保管・移設代</a:t>
            </a:r>
            <a:endParaRPr lang="en-US" sz="1050" dirty="0"/>
          </a:p>
        </p:txBody>
      </p:sp>
      <p:sp>
        <p:nvSpPr>
          <p:cNvPr id="21" name="Text 19"/>
          <p:cNvSpPr/>
          <p:nvPr/>
        </p:nvSpPr>
        <p:spPr>
          <a:xfrm>
            <a:off x="3813048" y="2871216"/>
            <a:ext cx="147218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2,578,077</a:t>
            </a:r>
            <a:endParaRPr lang="en-US" sz="1050" dirty="0"/>
          </a:p>
        </p:txBody>
      </p:sp>
      <p:sp>
        <p:nvSpPr>
          <p:cNvPr id="22" name="Text 20"/>
          <p:cNvSpPr/>
          <p:nvPr/>
        </p:nvSpPr>
        <p:spPr>
          <a:xfrm>
            <a:off x="5504688" y="2871216"/>
            <a:ext cx="128930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272,484</a:t>
            </a:r>
            <a:endParaRPr lang="en-US" sz="1050" dirty="0"/>
          </a:p>
        </p:txBody>
      </p:sp>
      <p:sp>
        <p:nvSpPr>
          <p:cNvPr id="23" name="Text 21"/>
          <p:cNvSpPr/>
          <p:nvPr/>
        </p:nvSpPr>
        <p:spPr>
          <a:xfrm>
            <a:off x="7013448" y="2871216"/>
            <a:ext cx="1152144" cy="457200"/>
          </a:xfrm>
          <a:prstGeom prst="rect">
            <a:avLst/>
          </a:prstGeom>
          <a:noFill/>
          <a:ln/>
        </p:spPr>
        <p:txBody>
          <a:bodyPr wrap="square" lIns="0" tIns="0" rIns="0" bIns="0" rtlCol="0" anchor="ctr"/>
          <a:lstStyle/>
          <a:p>
            <a:pPr algn="r" indent="0" marL="0">
              <a:buNone/>
            </a:pPr>
            <a:r>
              <a:rPr lang="en-US" sz="1050" dirty="0">
                <a:solidFill>
                  <a:srgbClr val="6E6E6E"/>
                </a:solidFill>
                <a:latin typeface="メイリオ" pitchFamily="34" charset="0"/>
                <a:ea typeface="メイリオ" pitchFamily="34" charset="-122"/>
                <a:cs typeface="メイリオ" pitchFamily="34" charset="-120"/>
              </a:rPr>
              <a:t>▲2,305,593</a:t>
            </a:r>
            <a:endParaRPr lang="en-US" sz="1050" dirty="0"/>
          </a:p>
        </p:txBody>
      </p:sp>
      <p:sp>
        <p:nvSpPr>
          <p:cNvPr id="24" name="Shape 22"/>
          <p:cNvSpPr/>
          <p:nvPr/>
        </p:nvSpPr>
        <p:spPr>
          <a:xfrm>
            <a:off x="594360" y="3328416"/>
            <a:ext cx="7680960" cy="457200"/>
          </a:xfrm>
          <a:prstGeom prst="rect">
            <a:avLst/>
          </a:prstGeom>
          <a:solidFill>
            <a:srgbClr val="FBFAF8"/>
          </a:solidFill>
          <a:ln w="6350">
            <a:solidFill>
              <a:srgbClr val="E2E0DC"/>
            </a:solidFill>
            <a:prstDash val="solid"/>
          </a:ln>
        </p:spPr>
      </p:sp>
      <p:sp>
        <p:nvSpPr>
          <p:cNvPr id="25" name="Text 23"/>
          <p:cNvSpPr/>
          <p:nvPr/>
        </p:nvSpPr>
        <p:spPr>
          <a:xfrm>
            <a:off x="704088" y="3328416"/>
            <a:ext cx="2889504" cy="457200"/>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地代家賃（店舗賃料）</a:t>
            </a:r>
            <a:endParaRPr lang="en-US" sz="1050" dirty="0"/>
          </a:p>
        </p:txBody>
      </p:sp>
      <p:sp>
        <p:nvSpPr>
          <p:cNvPr id="26" name="Text 24"/>
          <p:cNvSpPr/>
          <p:nvPr/>
        </p:nvSpPr>
        <p:spPr>
          <a:xfrm>
            <a:off x="3813048" y="3328416"/>
            <a:ext cx="147218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5,000,985</a:t>
            </a:r>
            <a:endParaRPr lang="en-US" sz="1050" dirty="0"/>
          </a:p>
        </p:txBody>
      </p:sp>
      <p:sp>
        <p:nvSpPr>
          <p:cNvPr id="27" name="Text 25"/>
          <p:cNvSpPr/>
          <p:nvPr/>
        </p:nvSpPr>
        <p:spPr>
          <a:xfrm>
            <a:off x="5504688" y="3328416"/>
            <a:ext cx="128930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3,721,703</a:t>
            </a:r>
            <a:endParaRPr lang="en-US" sz="1050" dirty="0"/>
          </a:p>
        </p:txBody>
      </p:sp>
      <p:sp>
        <p:nvSpPr>
          <p:cNvPr id="28" name="Text 26"/>
          <p:cNvSpPr/>
          <p:nvPr/>
        </p:nvSpPr>
        <p:spPr>
          <a:xfrm>
            <a:off x="7013448" y="3328416"/>
            <a:ext cx="1152144" cy="457200"/>
          </a:xfrm>
          <a:prstGeom prst="rect">
            <a:avLst/>
          </a:prstGeom>
          <a:noFill/>
          <a:ln/>
        </p:spPr>
        <p:txBody>
          <a:bodyPr wrap="square" lIns="0" tIns="0" rIns="0" bIns="0" rtlCol="0" anchor="ctr"/>
          <a:lstStyle/>
          <a:p>
            <a:pPr algn="r" indent="0" marL="0">
              <a:buNone/>
            </a:pPr>
            <a:r>
              <a:rPr lang="en-US" sz="1050" dirty="0">
                <a:solidFill>
                  <a:srgbClr val="6E6E6E"/>
                </a:solidFill>
                <a:latin typeface="メイリオ" pitchFamily="34" charset="0"/>
                <a:ea typeface="メイリオ" pitchFamily="34" charset="-122"/>
                <a:cs typeface="メイリオ" pitchFamily="34" charset="-120"/>
              </a:rPr>
              <a:t>▲1,279,282</a:t>
            </a:r>
            <a:endParaRPr lang="en-US" sz="1050" dirty="0"/>
          </a:p>
        </p:txBody>
      </p:sp>
      <p:sp>
        <p:nvSpPr>
          <p:cNvPr id="29" name="Shape 27"/>
          <p:cNvSpPr/>
          <p:nvPr/>
        </p:nvSpPr>
        <p:spPr>
          <a:xfrm>
            <a:off x="594360" y="3785616"/>
            <a:ext cx="7680960" cy="457200"/>
          </a:xfrm>
          <a:prstGeom prst="rect">
            <a:avLst/>
          </a:prstGeom>
          <a:solidFill>
            <a:srgbClr val="FFFFFF"/>
          </a:solidFill>
          <a:ln w="6350">
            <a:solidFill>
              <a:srgbClr val="E2E0DC"/>
            </a:solidFill>
            <a:prstDash val="solid"/>
          </a:ln>
        </p:spPr>
      </p:sp>
      <p:sp>
        <p:nvSpPr>
          <p:cNvPr id="30" name="Text 28"/>
          <p:cNvSpPr/>
          <p:nvPr/>
        </p:nvSpPr>
        <p:spPr>
          <a:xfrm>
            <a:off x="704088" y="3785616"/>
            <a:ext cx="2889504" cy="457200"/>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支払手数料</a:t>
            </a:r>
            <a:endParaRPr lang="en-US" sz="1050" dirty="0"/>
          </a:p>
        </p:txBody>
      </p:sp>
      <p:sp>
        <p:nvSpPr>
          <p:cNvPr id="31" name="Text 29"/>
          <p:cNvSpPr/>
          <p:nvPr/>
        </p:nvSpPr>
        <p:spPr>
          <a:xfrm>
            <a:off x="3813048" y="3785616"/>
            <a:ext cx="147218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4,121,789</a:t>
            </a:r>
            <a:endParaRPr lang="en-US" sz="1050" dirty="0"/>
          </a:p>
        </p:txBody>
      </p:sp>
      <p:sp>
        <p:nvSpPr>
          <p:cNvPr id="32" name="Text 30"/>
          <p:cNvSpPr/>
          <p:nvPr/>
        </p:nvSpPr>
        <p:spPr>
          <a:xfrm>
            <a:off x="5504688" y="3785616"/>
            <a:ext cx="128930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3,258,950</a:t>
            </a:r>
            <a:endParaRPr lang="en-US" sz="1050" dirty="0"/>
          </a:p>
        </p:txBody>
      </p:sp>
      <p:sp>
        <p:nvSpPr>
          <p:cNvPr id="33" name="Text 31"/>
          <p:cNvSpPr/>
          <p:nvPr/>
        </p:nvSpPr>
        <p:spPr>
          <a:xfrm>
            <a:off x="7013448" y="3785616"/>
            <a:ext cx="1152144" cy="457200"/>
          </a:xfrm>
          <a:prstGeom prst="rect">
            <a:avLst/>
          </a:prstGeom>
          <a:noFill/>
          <a:ln/>
        </p:spPr>
        <p:txBody>
          <a:bodyPr wrap="square" lIns="0" tIns="0" rIns="0" bIns="0" rtlCol="0" anchor="ctr"/>
          <a:lstStyle/>
          <a:p>
            <a:pPr algn="r" indent="0" marL="0">
              <a:buNone/>
            </a:pPr>
            <a:r>
              <a:rPr lang="en-US" sz="1050" dirty="0">
                <a:solidFill>
                  <a:srgbClr val="6E6E6E"/>
                </a:solidFill>
                <a:latin typeface="メイリオ" pitchFamily="34" charset="0"/>
                <a:ea typeface="メイリオ" pitchFamily="34" charset="-122"/>
                <a:cs typeface="メイリオ" pitchFamily="34" charset="-120"/>
              </a:rPr>
              <a:t>▲862,839</a:t>
            </a:r>
            <a:endParaRPr lang="en-US" sz="1050" dirty="0"/>
          </a:p>
        </p:txBody>
      </p:sp>
      <p:sp>
        <p:nvSpPr>
          <p:cNvPr id="34" name="Shape 32"/>
          <p:cNvSpPr/>
          <p:nvPr/>
        </p:nvSpPr>
        <p:spPr>
          <a:xfrm>
            <a:off x="594360" y="4242816"/>
            <a:ext cx="7680960" cy="457200"/>
          </a:xfrm>
          <a:prstGeom prst="rect">
            <a:avLst/>
          </a:prstGeom>
          <a:solidFill>
            <a:srgbClr val="FBFAF8"/>
          </a:solidFill>
          <a:ln w="6350">
            <a:solidFill>
              <a:srgbClr val="E2E0DC"/>
            </a:solidFill>
            <a:prstDash val="solid"/>
          </a:ln>
        </p:spPr>
      </p:sp>
      <p:sp>
        <p:nvSpPr>
          <p:cNvPr id="35" name="Text 33"/>
          <p:cNvSpPr/>
          <p:nvPr/>
        </p:nvSpPr>
        <p:spPr>
          <a:xfrm>
            <a:off x="704088" y="4242816"/>
            <a:ext cx="2889504" cy="457200"/>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水道光熱費</a:t>
            </a:r>
            <a:endParaRPr lang="en-US" sz="1050" dirty="0"/>
          </a:p>
        </p:txBody>
      </p:sp>
      <p:sp>
        <p:nvSpPr>
          <p:cNvPr id="36" name="Text 34"/>
          <p:cNvSpPr/>
          <p:nvPr/>
        </p:nvSpPr>
        <p:spPr>
          <a:xfrm>
            <a:off x="3813048" y="4242816"/>
            <a:ext cx="147218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974,234</a:t>
            </a:r>
            <a:endParaRPr lang="en-US" sz="1050" dirty="0"/>
          </a:p>
        </p:txBody>
      </p:sp>
      <p:sp>
        <p:nvSpPr>
          <p:cNvPr id="37" name="Text 35"/>
          <p:cNvSpPr/>
          <p:nvPr/>
        </p:nvSpPr>
        <p:spPr>
          <a:xfrm>
            <a:off x="5504688" y="4242816"/>
            <a:ext cx="128930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687,496</a:t>
            </a:r>
            <a:endParaRPr lang="en-US" sz="1050" dirty="0"/>
          </a:p>
        </p:txBody>
      </p:sp>
      <p:sp>
        <p:nvSpPr>
          <p:cNvPr id="38" name="Text 36"/>
          <p:cNvSpPr/>
          <p:nvPr/>
        </p:nvSpPr>
        <p:spPr>
          <a:xfrm>
            <a:off x="7013448" y="4242816"/>
            <a:ext cx="1152144" cy="457200"/>
          </a:xfrm>
          <a:prstGeom prst="rect">
            <a:avLst/>
          </a:prstGeom>
          <a:noFill/>
          <a:ln/>
        </p:spPr>
        <p:txBody>
          <a:bodyPr wrap="square" lIns="0" tIns="0" rIns="0" bIns="0" rtlCol="0" anchor="ctr"/>
          <a:lstStyle/>
          <a:p>
            <a:pPr algn="r" indent="0" marL="0">
              <a:buNone/>
            </a:pPr>
            <a:r>
              <a:rPr lang="en-US" sz="1050" dirty="0">
                <a:solidFill>
                  <a:srgbClr val="6E6E6E"/>
                </a:solidFill>
                <a:latin typeface="メイリオ" pitchFamily="34" charset="0"/>
                <a:ea typeface="メイリオ" pitchFamily="34" charset="-122"/>
                <a:cs typeface="メイリオ" pitchFamily="34" charset="-120"/>
              </a:rPr>
              <a:t>▲286,738</a:t>
            </a:r>
            <a:endParaRPr lang="en-US" sz="1050" dirty="0"/>
          </a:p>
        </p:txBody>
      </p:sp>
      <p:sp>
        <p:nvSpPr>
          <p:cNvPr id="39" name="Shape 37"/>
          <p:cNvSpPr/>
          <p:nvPr/>
        </p:nvSpPr>
        <p:spPr>
          <a:xfrm>
            <a:off x="594360" y="4700016"/>
            <a:ext cx="7680960" cy="457200"/>
          </a:xfrm>
          <a:prstGeom prst="rect">
            <a:avLst/>
          </a:prstGeom>
          <a:solidFill>
            <a:srgbClr val="FFFFFF"/>
          </a:solidFill>
          <a:ln w="6350">
            <a:solidFill>
              <a:srgbClr val="E2E0DC"/>
            </a:solidFill>
            <a:prstDash val="solid"/>
          </a:ln>
        </p:spPr>
      </p:sp>
      <p:sp>
        <p:nvSpPr>
          <p:cNvPr id="40" name="Text 38"/>
          <p:cNvSpPr/>
          <p:nvPr/>
        </p:nvSpPr>
        <p:spPr>
          <a:xfrm>
            <a:off x="704088" y="4700016"/>
            <a:ext cx="2889504" cy="457200"/>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清掃費</a:t>
            </a:r>
            <a:endParaRPr lang="en-US" sz="1050" dirty="0"/>
          </a:p>
        </p:txBody>
      </p:sp>
      <p:sp>
        <p:nvSpPr>
          <p:cNvPr id="41" name="Text 39"/>
          <p:cNvSpPr/>
          <p:nvPr/>
        </p:nvSpPr>
        <p:spPr>
          <a:xfrm>
            <a:off x="3813048" y="4700016"/>
            <a:ext cx="147218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182,516</a:t>
            </a:r>
            <a:endParaRPr lang="en-US" sz="1050" dirty="0"/>
          </a:p>
        </p:txBody>
      </p:sp>
      <p:sp>
        <p:nvSpPr>
          <p:cNvPr id="42" name="Text 40"/>
          <p:cNvSpPr/>
          <p:nvPr/>
        </p:nvSpPr>
        <p:spPr>
          <a:xfrm>
            <a:off x="5504688" y="4700016"/>
            <a:ext cx="128930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0</a:t>
            </a:r>
            <a:endParaRPr lang="en-US" sz="1050" dirty="0"/>
          </a:p>
        </p:txBody>
      </p:sp>
      <p:sp>
        <p:nvSpPr>
          <p:cNvPr id="43" name="Text 41"/>
          <p:cNvSpPr/>
          <p:nvPr/>
        </p:nvSpPr>
        <p:spPr>
          <a:xfrm>
            <a:off x="7013448" y="4700016"/>
            <a:ext cx="1152144" cy="457200"/>
          </a:xfrm>
          <a:prstGeom prst="rect">
            <a:avLst/>
          </a:prstGeom>
          <a:noFill/>
          <a:ln/>
        </p:spPr>
        <p:txBody>
          <a:bodyPr wrap="square" lIns="0" tIns="0" rIns="0" bIns="0" rtlCol="0" anchor="ctr"/>
          <a:lstStyle/>
          <a:p>
            <a:pPr algn="r" indent="0" marL="0">
              <a:buNone/>
            </a:pPr>
            <a:r>
              <a:rPr lang="en-US" sz="1050" dirty="0">
                <a:solidFill>
                  <a:srgbClr val="6E6E6E"/>
                </a:solidFill>
                <a:latin typeface="メイリオ" pitchFamily="34" charset="0"/>
                <a:ea typeface="メイリオ" pitchFamily="34" charset="-122"/>
                <a:cs typeface="メイリオ" pitchFamily="34" charset="-120"/>
              </a:rPr>
              <a:t>▲182,516</a:t>
            </a:r>
            <a:endParaRPr lang="en-US" sz="1050" dirty="0"/>
          </a:p>
        </p:txBody>
      </p:sp>
      <p:sp>
        <p:nvSpPr>
          <p:cNvPr id="44" name="Shape 42"/>
          <p:cNvSpPr/>
          <p:nvPr/>
        </p:nvSpPr>
        <p:spPr>
          <a:xfrm>
            <a:off x="594360" y="5157216"/>
            <a:ext cx="7680960" cy="457200"/>
          </a:xfrm>
          <a:prstGeom prst="rect">
            <a:avLst/>
          </a:prstGeom>
          <a:solidFill>
            <a:srgbClr val="FAF3E2"/>
          </a:solidFill>
          <a:ln w="6350">
            <a:solidFill>
              <a:srgbClr val="E2E0DC"/>
            </a:solidFill>
            <a:prstDash val="solid"/>
          </a:ln>
        </p:spPr>
      </p:sp>
      <p:sp>
        <p:nvSpPr>
          <p:cNvPr id="45" name="Text 43"/>
          <p:cNvSpPr/>
          <p:nvPr/>
        </p:nvSpPr>
        <p:spPr>
          <a:xfrm>
            <a:off x="704088" y="5157216"/>
            <a:ext cx="2889504" cy="457200"/>
          </a:xfrm>
          <a:prstGeom prst="rect">
            <a:avLst/>
          </a:prstGeom>
          <a:noFill/>
          <a:ln/>
        </p:spPr>
        <p:txBody>
          <a:bodyPr wrap="square" lIns="0" tIns="0" rIns="0" bIns="0" rtlCol="0" anchor="ctr"/>
          <a:lstStyle/>
          <a:p>
            <a:pPr algn="l" indent="0" marL="0">
              <a:buNone/>
            </a:pPr>
            <a:r>
              <a:rPr lang="en-US" sz="1050" b="1" dirty="0">
                <a:solidFill>
                  <a:srgbClr val="1A1A1A"/>
                </a:solidFill>
                <a:latin typeface="メイリオ" pitchFamily="34" charset="0"/>
                <a:ea typeface="メイリオ" pitchFamily="34" charset="-122"/>
                <a:cs typeface="メイリオ" pitchFamily="34" charset="-120"/>
              </a:rPr>
              <a:t>全23科目 合計</a:t>
            </a:r>
            <a:endParaRPr lang="en-US" sz="1050" dirty="0"/>
          </a:p>
        </p:txBody>
      </p:sp>
      <p:sp>
        <p:nvSpPr>
          <p:cNvPr id="46" name="Text 44"/>
          <p:cNvSpPr/>
          <p:nvPr/>
        </p:nvSpPr>
        <p:spPr>
          <a:xfrm>
            <a:off x="3813048" y="5157216"/>
            <a:ext cx="1472184" cy="457200"/>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33,590,696</a:t>
            </a:r>
            <a:endParaRPr lang="en-US" sz="1050" dirty="0"/>
          </a:p>
        </p:txBody>
      </p:sp>
      <p:sp>
        <p:nvSpPr>
          <p:cNvPr id="47" name="Text 45"/>
          <p:cNvSpPr/>
          <p:nvPr/>
        </p:nvSpPr>
        <p:spPr>
          <a:xfrm>
            <a:off x="5504688" y="5157216"/>
            <a:ext cx="1289304" cy="457200"/>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25,013,422</a:t>
            </a:r>
            <a:endParaRPr lang="en-US" sz="1050" dirty="0"/>
          </a:p>
        </p:txBody>
      </p:sp>
      <p:sp>
        <p:nvSpPr>
          <p:cNvPr id="48" name="Text 46"/>
          <p:cNvSpPr/>
          <p:nvPr/>
        </p:nvSpPr>
        <p:spPr>
          <a:xfrm>
            <a:off x="7013448" y="5157216"/>
            <a:ext cx="1152144" cy="457200"/>
          </a:xfrm>
          <a:prstGeom prst="rect">
            <a:avLst/>
          </a:prstGeom>
          <a:noFill/>
          <a:ln/>
        </p:spPr>
        <p:txBody>
          <a:bodyPr wrap="square" lIns="0" tIns="0" rIns="0" bIns="0" rtlCol="0" anchor="ctr"/>
          <a:lstStyle/>
          <a:p>
            <a:pPr algn="r" indent="0" marL="0">
              <a:buNone/>
            </a:pPr>
            <a:r>
              <a:rPr lang="en-US" sz="1050" b="1" dirty="0">
                <a:solidFill>
                  <a:srgbClr val="6E6E6E"/>
                </a:solidFill>
                <a:latin typeface="メイリオ" pitchFamily="34" charset="0"/>
                <a:ea typeface="メイリオ" pitchFamily="34" charset="-122"/>
                <a:cs typeface="メイリオ" pitchFamily="34" charset="-120"/>
              </a:rPr>
              <a:t>▲8,577,274</a:t>
            </a:r>
            <a:endParaRPr lang="en-US" sz="1050" dirty="0"/>
          </a:p>
        </p:txBody>
      </p:sp>
      <p:sp>
        <p:nvSpPr>
          <p:cNvPr id="49" name="Shape 47"/>
          <p:cNvSpPr/>
          <p:nvPr/>
        </p:nvSpPr>
        <p:spPr>
          <a:xfrm>
            <a:off x="8641080" y="1572768"/>
            <a:ext cx="2926080" cy="2148840"/>
          </a:xfrm>
          <a:prstGeom prst="roundRect">
            <a:avLst>
              <a:gd name="adj" fmla="val 2128"/>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50" name="Text 48"/>
          <p:cNvSpPr/>
          <p:nvPr/>
        </p:nvSpPr>
        <p:spPr>
          <a:xfrm>
            <a:off x="8823960" y="1828800"/>
            <a:ext cx="2560320" cy="274320"/>
          </a:xfrm>
          <a:prstGeom prst="rect">
            <a:avLst/>
          </a:prstGeom>
          <a:noFill/>
          <a:ln/>
        </p:spPr>
        <p:txBody>
          <a:bodyPr wrap="square" lIns="0" tIns="0" rIns="0" bIns="0" rtlCol="0" anchor="ctr"/>
          <a:lstStyle/>
          <a:p>
            <a:pPr algn="ctr" indent="0" marL="0">
              <a:buNone/>
            </a:pPr>
            <a:r>
              <a:rPr lang="en-US" sz="1100" dirty="0">
                <a:solidFill>
                  <a:srgbClr val="FAF3E2"/>
                </a:solidFill>
                <a:latin typeface="メイリオ" pitchFamily="34" charset="0"/>
                <a:ea typeface="メイリオ" pitchFamily="34" charset="-122"/>
                <a:cs typeface="メイリオ" pitchFamily="34" charset="-120"/>
              </a:rPr>
              <a:t>年間削減額</a:t>
            </a:r>
            <a:endParaRPr lang="en-US" sz="1100" dirty="0"/>
          </a:p>
        </p:txBody>
      </p:sp>
      <p:sp>
        <p:nvSpPr>
          <p:cNvPr id="51" name="Text 49"/>
          <p:cNvSpPr/>
          <p:nvPr/>
        </p:nvSpPr>
        <p:spPr>
          <a:xfrm>
            <a:off x="8823960" y="2121408"/>
            <a:ext cx="2560320" cy="731520"/>
          </a:xfrm>
          <a:prstGeom prst="rect">
            <a:avLst/>
          </a:prstGeom>
          <a:noFill/>
          <a:ln/>
        </p:spPr>
        <p:txBody>
          <a:bodyPr wrap="square" lIns="0" tIns="0" rIns="0" bIns="0" rtlCol="0" anchor="ctr"/>
          <a:lstStyle/>
          <a:p>
            <a:pPr algn="ctr" indent="0" marL="0">
              <a:buNone/>
            </a:pPr>
            <a:r>
              <a:rPr lang="en-US" sz="4000" b="1" dirty="0">
                <a:solidFill>
                  <a:srgbClr val="A98442"/>
                </a:solidFill>
                <a:latin typeface="メイリオ" pitchFamily="34" charset="0"/>
                <a:ea typeface="メイリオ" pitchFamily="34" charset="-122"/>
                <a:cs typeface="メイリオ" pitchFamily="34" charset="-120"/>
              </a:rPr>
              <a:t>▲103</a:t>
            </a:r>
            <a:endParaRPr lang="en-US" sz="4000" dirty="0"/>
          </a:p>
        </p:txBody>
      </p:sp>
      <p:sp>
        <p:nvSpPr>
          <p:cNvPr id="52" name="Text 50"/>
          <p:cNvSpPr/>
          <p:nvPr/>
        </p:nvSpPr>
        <p:spPr>
          <a:xfrm>
            <a:off x="8823960" y="2852928"/>
            <a:ext cx="2560320" cy="274320"/>
          </a:xfrm>
          <a:prstGeom prst="rect">
            <a:avLst/>
          </a:prstGeom>
          <a:noFill/>
          <a:ln/>
        </p:spPr>
        <p:txBody>
          <a:bodyPr wrap="square" lIns="0" tIns="0" rIns="0" bIns="0" rtlCol="0" anchor="ctr"/>
          <a:lstStyle/>
          <a:p>
            <a:pPr algn="ctr" indent="0" marL="0">
              <a:buNone/>
            </a:pPr>
            <a:r>
              <a:rPr lang="en-US" sz="1200" dirty="0">
                <a:solidFill>
                  <a:srgbClr val="FAF3E2"/>
                </a:solidFill>
                <a:latin typeface="メイリオ" pitchFamily="34" charset="0"/>
                <a:ea typeface="メイリオ" pitchFamily="34" charset="-122"/>
                <a:cs typeface="メイリオ" pitchFamily="34" charset="-120"/>
              </a:rPr>
              <a:t>百万円</a:t>
            </a:r>
            <a:endParaRPr lang="en-US" sz="1200" dirty="0"/>
          </a:p>
        </p:txBody>
      </p:sp>
      <p:sp>
        <p:nvSpPr>
          <p:cNvPr id="53" name="Text 51"/>
          <p:cNvSpPr/>
          <p:nvPr/>
        </p:nvSpPr>
        <p:spPr>
          <a:xfrm>
            <a:off x="8823960" y="3200400"/>
            <a:ext cx="2560320" cy="274320"/>
          </a:xfrm>
          <a:prstGeom prst="rect">
            <a:avLst/>
          </a:prstGeom>
          <a:noFill/>
          <a:ln/>
        </p:spPr>
        <p:txBody>
          <a:bodyPr wrap="square" lIns="0" tIns="0" rIns="0" bIns="0" rtlCol="0" anchor="ctr"/>
          <a:lstStyle/>
          <a:p>
            <a:pPr algn="ctr" indent="0" marL="0">
              <a:buNone/>
            </a:pPr>
            <a:r>
              <a:rPr lang="en-US" sz="950" dirty="0">
                <a:solidFill>
                  <a:srgbClr val="FAF3E2"/>
                </a:solidFill>
                <a:latin typeface="メイリオ" pitchFamily="34" charset="0"/>
                <a:ea typeface="メイリオ" pitchFamily="34" charset="-122"/>
                <a:cs typeface="メイリオ" pitchFamily="34" charset="-120"/>
              </a:rPr>
              <a:t>月▲8.58百万円 × 12か月</a:t>
            </a:r>
            <a:endParaRPr lang="en-US" sz="950" dirty="0"/>
          </a:p>
        </p:txBody>
      </p:sp>
      <p:sp>
        <p:nvSpPr>
          <p:cNvPr id="54" name="Shape 52"/>
          <p:cNvSpPr/>
          <p:nvPr/>
        </p:nvSpPr>
        <p:spPr>
          <a:xfrm>
            <a:off x="8641080" y="3886200"/>
            <a:ext cx="2926080" cy="1920240"/>
          </a:xfrm>
          <a:prstGeom prst="roundRect">
            <a:avLst>
              <a:gd name="adj" fmla="val 2381"/>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55" name="Text 53"/>
          <p:cNvSpPr/>
          <p:nvPr/>
        </p:nvSpPr>
        <p:spPr>
          <a:xfrm>
            <a:off x="8823960" y="4069080"/>
            <a:ext cx="2560320" cy="274320"/>
          </a:xfrm>
          <a:prstGeom prst="rect">
            <a:avLst/>
          </a:prstGeom>
          <a:noFill/>
          <a:ln/>
        </p:spPr>
        <p:txBody>
          <a:bodyPr wrap="square" lIns="0" tIns="0" rIns="0" bIns="0" rtlCol="0" anchor="ctr"/>
          <a:lstStyle/>
          <a:p>
            <a:pPr indent="0" marL="0">
              <a:buNone/>
            </a:pPr>
            <a:r>
              <a:rPr lang="en-US" sz="1100" b="1" dirty="0">
                <a:solidFill>
                  <a:srgbClr val="1A1A1A"/>
                </a:solidFill>
                <a:latin typeface="メイリオ" pitchFamily="34" charset="0"/>
                <a:ea typeface="メイリオ" pitchFamily="34" charset="-122"/>
                <a:cs typeface="メイリオ" pitchFamily="34" charset="-120"/>
              </a:rPr>
              <a:t>飲食事業の再編</a:t>
            </a:r>
            <a:endParaRPr lang="en-US" sz="1100" dirty="0"/>
          </a:p>
        </p:txBody>
      </p:sp>
      <p:sp>
        <p:nvSpPr>
          <p:cNvPr id="56" name="Text 54"/>
          <p:cNvSpPr/>
          <p:nvPr/>
        </p:nvSpPr>
        <p:spPr>
          <a:xfrm>
            <a:off x="8823960" y="4343400"/>
            <a:ext cx="2560320" cy="137160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1A1A1A"/>
                </a:solidFill>
                <a:latin typeface="メイリオ" pitchFamily="34" charset="0"/>
                <a:ea typeface="メイリオ" pitchFamily="34" charset="-122"/>
                <a:cs typeface="メイリオ" pitchFamily="34" charset="-120"/>
              </a:rPr>
              <a:t>不採算3店舗を撤退</a:t>
            </a:r>
            <a:endParaRPr lang="en-US" sz="1000" dirty="0"/>
          </a:p>
          <a:p>
            <a:pPr marL="342900" indent="-342900">
              <a:spcAft>
                <a:spcPts val="300"/>
              </a:spcAft>
              <a:buSzPct val="100000"/>
              <a:buChar char="•"/>
            </a:pPr>
            <a:r>
              <a:rPr lang="en-US" sz="1000" dirty="0">
                <a:solidFill>
                  <a:srgbClr val="1A1A1A"/>
                </a:solidFill>
                <a:latin typeface="メイリオ" pitchFamily="34" charset="0"/>
                <a:ea typeface="メイリオ" pitchFamily="34" charset="-122"/>
                <a:cs typeface="メイリオ" pitchFamily="34" charset="-120"/>
              </a:rPr>
              <a:t>WineBankテラスは改善のうえ継続</a:t>
            </a:r>
            <a:endParaRPr lang="en-US" sz="1000" dirty="0"/>
          </a:p>
          <a:p>
            <a:pPr indent="0" marL="0">
              <a:spcAft>
                <a:spcPts val="300"/>
              </a:spcAft>
              <a:buNone/>
            </a:pPr>
            <a:r>
              <a:rPr lang="en-US" sz="1000" dirty="0">
                <a:solidFill>
                  <a:srgbClr val="1A1A1A"/>
                </a:solidFill>
                <a:latin typeface="メイリオ" pitchFamily="34" charset="0"/>
                <a:ea typeface="メイリオ" pitchFamily="34" charset="-122"/>
                <a:cs typeface="メイリオ" pitchFamily="34" charset="-120"/>
              </a:rPr>
              <a:t>　→ WineBank CLUBのフラッグシップ店</a:t>
            </a:r>
            <a:endParaRPr lang="en-US" sz="1000" dirty="0"/>
          </a:p>
          <a:p>
            <a:pPr marL="342900" indent="-342900">
              <a:spcAft>
                <a:spcPts val="300"/>
              </a:spcAft>
              <a:buSzPct val="100000"/>
              <a:buChar char="•"/>
            </a:pPr>
            <a:r>
              <a:rPr lang="en-US" sz="1000" dirty="0">
                <a:solidFill>
                  <a:srgbClr val="1A1A1A"/>
                </a:solidFill>
                <a:latin typeface="メイリオ" pitchFamily="34" charset="0"/>
                <a:ea typeface="メイリオ" pitchFamily="34" charset="-122"/>
                <a:cs typeface="メイリオ" pitchFamily="34" charset="-120"/>
              </a:rPr>
              <a:t>清掃費ゼロ・雑給90%減が撤退完了の裏付け</a:t>
            </a:r>
            <a:endParaRPr lang="en-US" sz="1000" dirty="0"/>
          </a:p>
        </p:txBody>
      </p:sp>
      <p:sp>
        <p:nvSpPr>
          <p:cNvPr id="57" name="Text 55"/>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出典：事業計画202608（銀行様）全社シート 販管費内訳（全23科目の月次実績）</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販管費の月次推移 － 削減は実行済み</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2026年3月をピークに、2026年6月は▲36.4%。以降はこの水準を横ばいで計画しています。</a:t>
            </a:r>
            <a:endParaRPr lang="en-US" sz="1250" dirty="0"/>
          </a:p>
        </p:txBody>
      </p:sp>
      <p:graphicFrame>
        <p:nvGraphicFramePr>
          <p:cNvPr id="4" name="Chart 0" descr=""/>
          <p:cNvGraphicFramePr/>
          <p:nvPr/>
        </p:nvGraphicFramePr>
        <p:xfrm>
          <a:off x="594360" y="1481328"/>
          <a:ext cx="7772400" cy="41148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686800" y="1481328"/>
            <a:ext cx="2880360" cy="1920240"/>
          </a:xfrm>
          <a:prstGeom prst="roundRect">
            <a:avLst>
              <a:gd name="adj" fmla="val 2381"/>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6" name="Text 3"/>
          <p:cNvSpPr/>
          <p:nvPr/>
        </p:nvSpPr>
        <p:spPr>
          <a:xfrm>
            <a:off x="8869680" y="1691640"/>
            <a:ext cx="2514600" cy="274320"/>
          </a:xfrm>
          <a:prstGeom prst="rect">
            <a:avLst/>
          </a:prstGeom>
          <a:noFill/>
          <a:ln/>
        </p:spPr>
        <p:txBody>
          <a:bodyPr wrap="square" lIns="0" tIns="0" rIns="0" bIns="0" rtlCol="0" anchor="ctr"/>
          <a:lstStyle/>
          <a:p>
            <a:pPr algn="ctr" indent="0" marL="0">
              <a:buNone/>
            </a:pPr>
            <a:r>
              <a:rPr lang="en-US" sz="1100" dirty="0">
                <a:solidFill>
                  <a:srgbClr val="FAF3E2"/>
                </a:solidFill>
                <a:latin typeface="メイリオ" pitchFamily="34" charset="0"/>
                <a:ea typeface="メイリオ" pitchFamily="34" charset="-122"/>
                <a:cs typeface="メイリオ" pitchFamily="34" charset="-120"/>
              </a:rPr>
              <a:t>ピーク → 直近</a:t>
            </a:r>
            <a:endParaRPr lang="en-US" sz="1100" dirty="0"/>
          </a:p>
        </p:txBody>
      </p:sp>
      <p:sp>
        <p:nvSpPr>
          <p:cNvPr id="7" name="Text 4"/>
          <p:cNvSpPr/>
          <p:nvPr/>
        </p:nvSpPr>
        <p:spPr>
          <a:xfrm>
            <a:off x="8869680" y="1965960"/>
            <a:ext cx="2514600" cy="685800"/>
          </a:xfrm>
          <a:prstGeom prst="rect">
            <a:avLst/>
          </a:prstGeom>
          <a:noFill/>
          <a:ln/>
        </p:spPr>
        <p:txBody>
          <a:bodyPr wrap="square" lIns="0" tIns="0" rIns="0" bIns="0" rtlCol="0" anchor="ctr"/>
          <a:lstStyle/>
          <a:p>
            <a:pPr algn="ctr" indent="0" marL="0">
              <a:buNone/>
            </a:pPr>
            <a:r>
              <a:rPr lang="en-US" sz="3600" b="1" dirty="0">
                <a:solidFill>
                  <a:srgbClr val="A98442"/>
                </a:solidFill>
                <a:latin typeface="メイリオ" pitchFamily="34" charset="0"/>
                <a:ea typeface="メイリオ" pitchFamily="34" charset="-122"/>
                <a:cs typeface="メイリオ" pitchFamily="34" charset="-120"/>
              </a:rPr>
              <a:t>▲36.4%</a:t>
            </a:r>
            <a:endParaRPr lang="en-US" sz="3600" dirty="0"/>
          </a:p>
        </p:txBody>
      </p:sp>
      <p:sp>
        <p:nvSpPr>
          <p:cNvPr id="8" name="Text 5"/>
          <p:cNvSpPr/>
          <p:nvPr/>
        </p:nvSpPr>
        <p:spPr>
          <a:xfrm>
            <a:off x="8869680" y="2670048"/>
            <a:ext cx="2514600" cy="548640"/>
          </a:xfrm>
          <a:prstGeom prst="rect">
            <a:avLst/>
          </a:prstGeom>
          <a:noFill/>
          <a:ln/>
        </p:spPr>
        <p:txBody>
          <a:bodyPr wrap="square" lIns="0" tIns="0" rIns="0" bIns="0" rtlCol="0" anchor="ctr"/>
          <a:lstStyle/>
          <a:p>
            <a:pPr algn="ctr" indent="0" marL="0">
              <a:buNone/>
            </a:pPr>
            <a:r>
              <a:rPr lang="en-US" sz="1050" dirty="0">
                <a:solidFill>
                  <a:srgbClr val="FAF3E2"/>
                </a:solidFill>
                <a:latin typeface="メイリオ" pitchFamily="34" charset="0"/>
                <a:ea typeface="メイリオ" pitchFamily="34" charset="-122"/>
                <a:cs typeface="メイリオ" pitchFamily="34" charset="-120"/>
              </a:rPr>
              <a:t>38.7百万円（26/3）</a:t>
            </a:r>
            <a:endParaRPr lang="en-US" sz="1050" dirty="0"/>
          </a:p>
          <a:p>
            <a:pPr algn="ctr" indent="0" marL="0">
              <a:buNone/>
            </a:pPr>
            <a:r>
              <a:rPr lang="en-US" sz="1050" dirty="0">
                <a:solidFill>
                  <a:srgbClr val="FAF3E2"/>
                </a:solidFill>
                <a:latin typeface="メイリオ" pitchFamily="34" charset="0"/>
                <a:ea typeface="メイリオ" pitchFamily="34" charset="-122"/>
                <a:cs typeface="メイリオ" pitchFamily="34" charset="-120"/>
              </a:rPr>
              <a:t>→ 24.6百万円（26/6）</a:t>
            </a:r>
            <a:endParaRPr lang="en-US" sz="1050" dirty="0"/>
          </a:p>
        </p:txBody>
      </p:sp>
      <p:sp>
        <p:nvSpPr>
          <p:cNvPr id="9" name="Shape 6"/>
          <p:cNvSpPr/>
          <p:nvPr/>
        </p:nvSpPr>
        <p:spPr>
          <a:xfrm>
            <a:off x="8686800" y="3566160"/>
            <a:ext cx="2880360" cy="2029968"/>
          </a:xfrm>
          <a:prstGeom prst="roundRect">
            <a:avLst>
              <a:gd name="adj" fmla="val 2252"/>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0" name="Text 7"/>
          <p:cNvSpPr/>
          <p:nvPr/>
        </p:nvSpPr>
        <p:spPr>
          <a:xfrm>
            <a:off x="8869680" y="3749040"/>
            <a:ext cx="2514600" cy="274320"/>
          </a:xfrm>
          <a:prstGeom prst="rect">
            <a:avLst/>
          </a:prstGeom>
          <a:noFill/>
          <a:ln/>
        </p:spPr>
        <p:txBody>
          <a:bodyPr wrap="square" lIns="0" tIns="0" rIns="0" bIns="0" rtlCol="0" anchor="ctr"/>
          <a:lstStyle/>
          <a:p>
            <a:pPr indent="0" marL="0">
              <a:buNone/>
            </a:pPr>
            <a:r>
              <a:rPr lang="en-US" sz="1100" b="1" dirty="0">
                <a:solidFill>
                  <a:srgbClr val="1A1A1A"/>
                </a:solidFill>
                <a:latin typeface="メイリオ" pitchFamily="34" charset="0"/>
                <a:ea typeface="メイリオ" pitchFamily="34" charset="-122"/>
                <a:cs typeface="メイリオ" pitchFamily="34" charset="-120"/>
              </a:rPr>
              <a:t>計画の前提</a:t>
            </a:r>
            <a:endParaRPr lang="en-US" sz="1100" dirty="0"/>
          </a:p>
        </p:txBody>
      </p:sp>
      <p:sp>
        <p:nvSpPr>
          <p:cNvPr id="11" name="Text 8"/>
          <p:cNvSpPr/>
          <p:nvPr/>
        </p:nvSpPr>
        <p:spPr>
          <a:xfrm>
            <a:off x="8869680" y="4041648"/>
            <a:ext cx="2514600" cy="1371600"/>
          </a:xfrm>
          <a:prstGeom prst="rect">
            <a:avLst/>
          </a:prstGeom>
          <a:noFill/>
          <a:ln/>
        </p:spPr>
        <p:txBody>
          <a:bodyPr wrap="square" lIns="0" tIns="0" rIns="0" bIns="0" rtlCol="0" anchor="t"/>
          <a:lstStyle/>
          <a:p>
            <a:pPr indent="0" marL="0">
              <a:buNone/>
            </a:pPr>
            <a:r>
              <a:rPr lang="en-US" sz="1050" dirty="0">
                <a:solidFill>
                  <a:srgbClr val="1A1A1A"/>
                </a:solidFill>
                <a:latin typeface="メイリオ" pitchFamily="34" charset="0"/>
                <a:ea typeface="メイリオ" pitchFamily="34" charset="-122"/>
                <a:cs typeface="メイリオ" pitchFamily="34" charset="-120"/>
              </a:rPr>
              <a:t>FY2027の販管費は、2026年4-6月の実績平均 25.0百万円/月をそのまま横ばいで置いています。さらなる削減は織り込んでいません。</a:t>
            </a:r>
            <a:endParaRPr lang="en-US" sz="1050" dirty="0"/>
          </a:p>
        </p:txBody>
      </p:sp>
      <p:sp>
        <p:nvSpPr>
          <p:cNvPr id="12" name="Text 9"/>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出典：事業計画202608（銀行様）全社シート。2026/07以降は見込値のため本グラフから除外。</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撤退後の実力値 － 2026年4-6月の月次平均</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この3か月が、再編後のWineBank単体の実力です。FY2027はここを起点にしています。（単位：円）</a:t>
            </a:r>
            <a:endParaRPr lang="en-US" sz="1250" dirty="0"/>
          </a:p>
        </p:txBody>
      </p:sp>
      <p:sp>
        <p:nvSpPr>
          <p:cNvPr id="4" name="Shape 2"/>
          <p:cNvSpPr/>
          <p:nvPr/>
        </p:nvSpPr>
        <p:spPr>
          <a:xfrm>
            <a:off x="594360" y="1554480"/>
            <a:ext cx="5943600" cy="676656"/>
          </a:xfrm>
          <a:prstGeom prst="roundRect">
            <a:avLst>
              <a:gd name="adj" fmla="val 6757"/>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5" name="Text 3"/>
          <p:cNvSpPr/>
          <p:nvPr/>
        </p:nvSpPr>
        <p:spPr>
          <a:xfrm>
            <a:off x="868680" y="1554480"/>
            <a:ext cx="2194560" cy="676656"/>
          </a:xfrm>
          <a:prstGeom prst="rect">
            <a:avLst/>
          </a:prstGeom>
          <a:noFill/>
          <a:ln/>
        </p:spPr>
        <p:txBody>
          <a:bodyPr wrap="square" lIns="0" tIns="0" rIns="0" bIns="0" rtlCol="0" anchor="ctr"/>
          <a:lstStyle/>
          <a:p>
            <a:pPr indent="0" marL="0">
              <a:buNone/>
            </a:pPr>
            <a:r>
              <a:rPr lang="en-US" sz="1300" dirty="0">
                <a:solidFill>
                  <a:srgbClr val="1A1A1A"/>
                </a:solidFill>
                <a:latin typeface="メイリオ" pitchFamily="34" charset="0"/>
                <a:ea typeface="メイリオ" pitchFamily="34" charset="-122"/>
                <a:cs typeface="メイリオ" pitchFamily="34" charset="-120"/>
              </a:rPr>
              <a:t>売上</a:t>
            </a:r>
            <a:endParaRPr lang="en-US" sz="1300" dirty="0"/>
          </a:p>
        </p:txBody>
      </p:sp>
      <p:sp>
        <p:nvSpPr>
          <p:cNvPr id="6" name="Text 4"/>
          <p:cNvSpPr/>
          <p:nvPr/>
        </p:nvSpPr>
        <p:spPr>
          <a:xfrm>
            <a:off x="3063240" y="1554480"/>
            <a:ext cx="2194560" cy="676656"/>
          </a:xfrm>
          <a:prstGeom prst="rect">
            <a:avLst/>
          </a:prstGeom>
          <a:noFill/>
          <a:ln/>
        </p:spPr>
        <p:txBody>
          <a:bodyPr wrap="square" lIns="0" tIns="0" rIns="0" bIns="0" rtlCol="0" anchor="ctr"/>
          <a:lstStyle/>
          <a:p>
            <a:pPr algn="r" indent="0" marL="0">
              <a:buNone/>
            </a:pPr>
            <a:r>
              <a:rPr lang="en-US" sz="1600" b="1" dirty="0">
                <a:solidFill>
                  <a:srgbClr val="1A1A1A"/>
                </a:solidFill>
                <a:latin typeface="メイリオ" pitchFamily="34" charset="0"/>
                <a:ea typeface="メイリオ" pitchFamily="34" charset="-122"/>
                <a:cs typeface="メイリオ" pitchFamily="34" charset="-120"/>
              </a:rPr>
              <a:t>32,428,397</a:t>
            </a:r>
            <a:endParaRPr lang="en-US" sz="1600" dirty="0"/>
          </a:p>
        </p:txBody>
      </p:sp>
      <p:sp>
        <p:nvSpPr>
          <p:cNvPr id="7" name="Text 5"/>
          <p:cNvSpPr/>
          <p:nvPr/>
        </p:nvSpPr>
        <p:spPr>
          <a:xfrm>
            <a:off x="5349240" y="1554480"/>
            <a:ext cx="1005840" cy="676656"/>
          </a:xfrm>
          <a:prstGeom prst="rect">
            <a:avLst/>
          </a:prstGeom>
          <a:noFill/>
          <a:ln/>
        </p:spPr>
        <p:txBody>
          <a:bodyPr wrap="square" lIns="0" tIns="0" rIns="0" bIns="0" rtlCol="0" anchor="ctr"/>
          <a:lstStyle/>
          <a:p>
            <a:pPr algn="r" indent="0" marL="0">
              <a:buNone/>
            </a:pPr>
            <a:endParaRPr lang="en-US" sz="950" dirty="0"/>
          </a:p>
        </p:txBody>
      </p:sp>
      <p:sp>
        <p:nvSpPr>
          <p:cNvPr id="8" name="Shape 6"/>
          <p:cNvSpPr/>
          <p:nvPr/>
        </p:nvSpPr>
        <p:spPr>
          <a:xfrm>
            <a:off x="594360" y="2340864"/>
            <a:ext cx="5943600" cy="676656"/>
          </a:xfrm>
          <a:prstGeom prst="roundRect">
            <a:avLst>
              <a:gd name="adj" fmla="val 6757"/>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9" name="Text 7"/>
          <p:cNvSpPr/>
          <p:nvPr/>
        </p:nvSpPr>
        <p:spPr>
          <a:xfrm>
            <a:off x="868680" y="2340864"/>
            <a:ext cx="2194560" cy="676656"/>
          </a:xfrm>
          <a:prstGeom prst="rect">
            <a:avLst/>
          </a:prstGeom>
          <a:noFill/>
          <a:ln/>
        </p:spPr>
        <p:txBody>
          <a:bodyPr wrap="square" lIns="0" tIns="0" rIns="0" bIns="0" rtlCol="0" anchor="ctr"/>
          <a:lstStyle/>
          <a:p>
            <a:pPr indent="0" marL="0">
              <a:buNone/>
            </a:pPr>
            <a:r>
              <a:rPr lang="en-US" sz="1300" dirty="0">
                <a:solidFill>
                  <a:srgbClr val="1A1A1A"/>
                </a:solidFill>
                <a:latin typeface="メイリオ" pitchFamily="34" charset="0"/>
                <a:ea typeface="メイリオ" pitchFamily="34" charset="-122"/>
                <a:cs typeface="メイリオ" pitchFamily="34" charset="-120"/>
              </a:rPr>
              <a:t>売上原価</a:t>
            </a:r>
            <a:endParaRPr lang="en-US" sz="1300" dirty="0"/>
          </a:p>
        </p:txBody>
      </p:sp>
      <p:sp>
        <p:nvSpPr>
          <p:cNvPr id="10" name="Text 8"/>
          <p:cNvSpPr/>
          <p:nvPr/>
        </p:nvSpPr>
        <p:spPr>
          <a:xfrm>
            <a:off x="3063240" y="2340864"/>
            <a:ext cx="2194560" cy="676656"/>
          </a:xfrm>
          <a:prstGeom prst="rect">
            <a:avLst/>
          </a:prstGeom>
          <a:noFill/>
          <a:ln/>
        </p:spPr>
        <p:txBody>
          <a:bodyPr wrap="square" lIns="0" tIns="0" rIns="0" bIns="0" rtlCol="0" anchor="ctr"/>
          <a:lstStyle/>
          <a:p>
            <a:pPr algn="r" indent="0" marL="0">
              <a:buNone/>
            </a:pPr>
            <a:r>
              <a:rPr lang="en-US" sz="1600" b="1" dirty="0">
                <a:solidFill>
                  <a:srgbClr val="1A1A1A"/>
                </a:solidFill>
                <a:latin typeface="メイリオ" pitchFamily="34" charset="0"/>
                <a:ea typeface="メイリオ" pitchFamily="34" charset="-122"/>
                <a:cs typeface="メイリオ" pitchFamily="34" charset="-120"/>
              </a:rPr>
              <a:t>▲15,711,570</a:t>
            </a:r>
            <a:endParaRPr lang="en-US" sz="1600" dirty="0"/>
          </a:p>
        </p:txBody>
      </p:sp>
      <p:sp>
        <p:nvSpPr>
          <p:cNvPr id="11" name="Text 9"/>
          <p:cNvSpPr/>
          <p:nvPr/>
        </p:nvSpPr>
        <p:spPr>
          <a:xfrm>
            <a:off x="5349240" y="2340864"/>
            <a:ext cx="1005840" cy="676656"/>
          </a:xfrm>
          <a:prstGeom prst="rect">
            <a:avLst/>
          </a:prstGeom>
          <a:noFill/>
          <a:ln/>
        </p:spPr>
        <p:txBody>
          <a:bodyPr wrap="square" lIns="0" tIns="0" rIns="0" bIns="0" rtlCol="0" anchor="ctr"/>
          <a:lstStyle/>
          <a:p>
            <a:pPr algn="r" indent="0" marL="0">
              <a:buNone/>
            </a:pPr>
            <a:endParaRPr lang="en-US" sz="950" dirty="0"/>
          </a:p>
        </p:txBody>
      </p:sp>
      <p:sp>
        <p:nvSpPr>
          <p:cNvPr id="12" name="Shape 10"/>
          <p:cNvSpPr/>
          <p:nvPr/>
        </p:nvSpPr>
        <p:spPr>
          <a:xfrm>
            <a:off x="594360" y="3127248"/>
            <a:ext cx="5943600" cy="676656"/>
          </a:xfrm>
          <a:prstGeom prst="roundRect">
            <a:avLst>
              <a:gd name="adj" fmla="val 6757"/>
            </a:avLst>
          </a:prstGeom>
          <a:solidFill>
            <a:srgbClr val="FAF3E2"/>
          </a:solidFill>
          <a:ln w="12700">
            <a:solidFill>
              <a:srgbClr val="1A1A1A"/>
            </a:solidFill>
            <a:prstDash val="solid"/>
          </a:ln>
          <a:effectLst>
            <a:outerShdw sx="100000" sy="100000" kx="0" ky="0" algn="bl" rotWithShape="0" blurRad="114300" dist="25400" dir="5400000">
              <a:srgbClr val="000000">
                <a:alpha val="8000"/>
              </a:srgbClr>
            </a:outerShdw>
          </a:effectLst>
        </p:spPr>
      </p:sp>
      <p:sp>
        <p:nvSpPr>
          <p:cNvPr id="13" name="Text 11"/>
          <p:cNvSpPr/>
          <p:nvPr/>
        </p:nvSpPr>
        <p:spPr>
          <a:xfrm>
            <a:off x="868680" y="3127248"/>
            <a:ext cx="2194560" cy="676656"/>
          </a:xfrm>
          <a:prstGeom prst="rect">
            <a:avLst/>
          </a:prstGeom>
          <a:noFill/>
          <a:ln/>
        </p:spPr>
        <p:txBody>
          <a:bodyPr wrap="square" lIns="0" tIns="0" rIns="0" bIns="0" rtlCol="0" anchor="ctr"/>
          <a:lstStyle/>
          <a:p>
            <a:pPr indent="0" marL="0">
              <a:buNone/>
            </a:pPr>
            <a:r>
              <a:rPr lang="en-US" sz="1300" b="1" dirty="0">
                <a:solidFill>
                  <a:srgbClr val="1A1A1A"/>
                </a:solidFill>
                <a:latin typeface="メイリオ" pitchFamily="34" charset="0"/>
                <a:ea typeface="メイリオ" pitchFamily="34" charset="-122"/>
                <a:cs typeface="メイリオ" pitchFamily="34" charset="-120"/>
              </a:rPr>
              <a:t>売上総利益</a:t>
            </a:r>
            <a:endParaRPr lang="en-US" sz="1300" dirty="0"/>
          </a:p>
        </p:txBody>
      </p:sp>
      <p:sp>
        <p:nvSpPr>
          <p:cNvPr id="14" name="Text 12"/>
          <p:cNvSpPr/>
          <p:nvPr/>
        </p:nvSpPr>
        <p:spPr>
          <a:xfrm>
            <a:off x="3063240" y="3127248"/>
            <a:ext cx="2194560" cy="676656"/>
          </a:xfrm>
          <a:prstGeom prst="rect">
            <a:avLst/>
          </a:prstGeom>
          <a:noFill/>
          <a:ln/>
        </p:spPr>
        <p:txBody>
          <a:bodyPr wrap="square" lIns="0" tIns="0" rIns="0" bIns="0" rtlCol="0" anchor="ctr"/>
          <a:lstStyle/>
          <a:p>
            <a:pPr algn="r" indent="0" marL="0">
              <a:buNone/>
            </a:pPr>
            <a:r>
              <a:rPr lang="en-US" sz="1600" b="1" dirty="0">
                <a:solidFill>
                  <a:srgbClr val="1A1A1A"/>
                </a:solidFill>
                <a:latin typeface="メイリオ" pitchFamily="34" charset="0"/>
                <a:ea typeface="メイリオ" pitchFamily="34" charset="-122"/>
                <a:cs typeface="メイリオ" pitchFamily="34" charset="-120"/>
              </a:rPr>
              <a:t>16,716,827</a:t>
            </a:r>
            <a:endParaRPr lang="en-US" sz="1600" dirty="0"/>
          </a:p>
        </p:txBody>
      </p:sp>
      <p:sp>
        <p:nvSpPr>
          <p:cNvPr id="15" name="Text 13"/>
          <p:cNvSpPr/>
          <p:nvPr/>
        </p:nvSpPr>
        <p:spPr>
          <a:xfrm>
            <a:off x="5349240" y="3127248"/>
            <a:ext cx="1005840" cy="676656"/>
          </a:xfrm>
          <a:prstGeom prst="rect">
            <a:avLst/>
          </a:prstGeom>
          <a:noFill/>
          <a:ln/>
        </p:spPr>
        <p:txBody>
          <a:bodyPr wrap="square" lIns="0" tIns="0" rIns="0" bIns="0" rtlCol="0" anchor="ctr"/>
          <a:lstStyle/>
          <a:p>
            <a:pPr algn="r" indent="0" marL="0">
              <a:buNone/>
            </a:pPr>
            <a:r>
              <a:rPr lang="en-US" sz="950" dirty="0">
                <a:solidFill>
                  <a:srgbClr val="8C8C8C"/>
                </a:solidFill>
                <a:latin typeface="メイリオ" pitchFamily="34" charset="0"/>
                <a:ea typeface="メイリオ" pitchFamily="34" charset="-122"/>
                <a:cs typeface="メイリオ" pitchFamily="34" charset="-120"/>
              </a:rPr>
              <a:t>粗利率 51.5%</a:t>
            </a:r>
            <a:endParaRPr lang="en-US" sz="950" dirty="0"/>
          </a:p>
        </p:txBody>
      </p:sp>
      <p:sp>
        <p:nvSpPr>
          <p:cNvPr id="16" name="Shape 14"/>
          <p:cNvSpPr/>
          <p:nvPr/>
        </p:nvSpPr>
        <p:spPr>
          <a:xfrm>
            <a:off x="594360" y="3913632"/>
            <a:ext cx="5943600" cy="676656"/>
          </a:xfrm>
          <a:prstGeom prst="roundRect">
            <a:avLst>
              <a:gd name="adj" fmla="val 6757"/>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7" name="Text 15"/>
          <p:cNvSpPr/>
          <p:nvPr/>
        </p:nvSpPr>
        <p:spPr>
          <a:xfrm>
            <a:off x="868680" y="3913632"/>
            <a:ext cx="2194560" cy="676656"/>
          </a:xfrm>
          <a:prstGeom prst="rect">
            <a:avLst/>
          </a:prstGeom>
          <a:noFill/>
          <a:ln/>
        </p:spPr>
        <p:txBody>
          <a:bodyPr wrap="square" lIns="0" tIns="0" rIns="0" bIns="0" rtlCol="0" anchor="ctr"/>
          <a:lstStyle/>
          <a:p>
            <a:pPr indent="0" marL="0">
              <a:buNone/>
            </a:pPr>
            <a:r>
              <a:rPr lang="en-US" sz="1300" dirty="0">
                <a:solidFill>
                  <a:srgbClr val="1A1A1A"/>
                </a:solidFill>
                <a:latin typeface="メイリオ" pitchFamily="34" charset="0"/>
                <a:ea typeface="メイリオ" pitchFamily="34" charset="-122"/>
                <a:cs typeface="メイリオ" pitchFamily="34" charset="-120"/>
              </a:rPr>
              <a:t>販管費</a:t>
            </a:r>
            <a:endParaRPr lang="en-US" sz="1300" dirty="0"/>
          </a:p>
        </p:txBody>
      </p:sp>
      <p:sp>
        <p:nvSpPr>
          <p:cNvPr id="18" name="Text 16"/>
          <p:cNvSpPr/>
          <p:nvPr/>
        </p:nvSpPr>
        <p:spPr>
          <a:xfrm>
            <a:off x="3063240" y="3913632"/>
            <a:ext cx="2194560" cy="676656"/>
          </a:xfrm>
          <a:prstGeom prst="rect">
            <a:avLst/>
          </a:prstGeom>
          <a:noFill/>
          <a:ln/>
        </p:spPr>
        <p:txBody>
          <a:bodyPr wrap="square" lIns="0" tIns="0" rIns="0" bIns="0" rtlCol="0" anchor="ctr"/>
          <a:lstStyle/>
          <a:p>
            <a:pPr algn="r" indent="0" marL="0">
              <a:buNone/>
            </a:pPr>
            <a:r>
              <a:rPr lang="en-US" sz="1600" b="1" dirty="0">
                <a:solidFill>
                  <a:srgbClr val="1A1A1A"/>
                </a:solidFill>
                <a:latin typeface="メイリオ" pitchFamily="34" charset="0"/>
                <a:ea typeface="メイリオ" pitchFamily="34" charset="-122"/>
                <a:cs typeface="メイリオ" pitchFamily="34" charset="-120"/>
              </a:rPr>
              <a:t>▲25,013,422</a:t>
            </a:r>
            <a:endParaRPr lang="en-US" sz="1600" dirty="0"/>
          </a:p>
        </p:txBody>
      </p:sp>
      <p:sp>
        <p:nvSpPr>
          <p:cNvPr id="19" name="Text 17"/>
          <p:cNvSpPr/>
          <p:nvPr/>
        </p:nvSpPr>
        <p:spPr>
          <a:xfrm>
            <a:off x="5349240" y="3913632"/>
            <a:ext cx="1005840" cy="676656"/>
          </a:xfrm>
          <a:prstGeom prst="rect">
            <a:avLst/>
          </a:prstGeom>
          <a:noFill/>
          <a:ln/>
        </p:spPr>
        <p:txBody>
          <a:bodyPr wrap="square" lIns="0" tIns="0" rIns="0" bIns="0" rtlCol="0" anchor="ctr"/>
          <a:lstStyle/>
          <a:p>
            <a:pPr algn="r" indent="0" marL="0">
              <a:buNone/>
            </a:pPr>
            <a:r>
              <a:rPr lang="en-US" sz="950" dirty="0">
                <a:solidFill>
                  <a:srgbClr val="8C8C8C"/>
                </a:solidFill>
                <a:latin typeface="メイリオ" pitchFamily="34" charset="0"/>
                <a:ea typeface="メイリオ" pitchFamily="34" charset="-122"/>
                <a:cs typeface="メイリオ" pitchFamily="34" charset="-120"/>
              </a:rPr>
              <a:t>全23科目</a:t>
            </a:r>
            <a:endParaRPr lang="en-US" sz="950" dirty="0"/>
          </a:p>
        </p:txBody>
      </p:sp>
      <p:sp>
        <p:nvSpPr>
          <p:cNvPr id="20" name="Shape 18"/>
          <p:cNvSpPr/>
          <p:nvPr/>
        </p:nvSpPr>
        <p:spPr>
          <a:xfrm>
            <a:off x="594360" y="4700016"/>
            <a:ext cx="5943600" cy="676656"/>
          </a:xfrm>
          <a:prstGeom prst="roundRect">
            <a:avLst>
              <a:gd name="adj" fmla="val 6757"/>
            </a:avLst>
          </a:prstGeom>
          <a:solidFill>
            <a:srgbClr val="1A1A1A"/>
          </a:solidFill>
          <a:ln w="12700">
            <a:solidFill>
              <a:srgbClr val="1A1A1A"/>
            </a:solidFill>
            <a:prstDash val="solid"/>
          </a:ln>
          <a:effectLst>
            <a:outerShdw sx="100000" sy="100000" kx="0" ky="0" algn="bl" rotWithShape="0" blurRad="114300" dist="25400" dir="5400000">
              <a:srgbClr val="000000">
                <a:alpha val="8000"/>
              </a:srgbClr>
            </a:outerShdw>
          </a:effectLst>
        </p:spPr>
      </p:sp>
      <p:sp>
        <p:nvSpPr>
          <p:cNvPr id="21" name="Text 19"/>
          <p:cNvSpPr/>
          <p:nvPr/>
        </p:nvSpPr>
        <p:spPr>
          <a:xfrm>
            <a:off x="868680" y="4700016"/>
            <a:ext cx="2194560" cy="676656"/>
          </a:xfrm>
          <a:prstGeom prst="rect">
            <a:avLst/>
          </a:prstGeom>
          <a:noFill/>
          <a:ln/>
        </p:spPr>
        <p:txBody>
          <a:bodyPr wrap="square" lIns="0" tIns="0" rIns="0" bIns="0" rtlCol="0" anchor="ctr"/>
          <a:lstStyle/>
          <a:p>
            <a:pPr indent="0" marL="0">
              <a:buNone/>
            </a:pPr>
            <a:r>
              <a:rPr lang="en-US" sz="1300" b="1" dirty="0">
                <a:solidFill>
                  <a:srgbClr val="FFFFFF"/>
                </a:solidFill>
                <a:latin typeface="メイリオ" pitchFamily="34" charset="0"/>
                <a:ea typeface="メイリオ" pitchFamily="34" charset="-122"/>
                <a:cs typeface="メイリオ" pitchFamily="34" charset="-120"/>
              </a:rPr>
              <a:t>営業利益</a:t>
            </a:r>
            <a:endParaRPr lang="en-US" sz="1300" dirty="0"/>
          </a:p>
        </p:txBody>
      </p:sp>
      <p:sp>
        <p:nvSpPr>
          <p:cNvPr id="22" name="Text 20"/>
          <p:cNvSpPr/>
          <p:nvPr/>
        </p:nvSpPr>
        <p:spPr>
          <a:xfrm>
            <a:off x="3063240" y="4700016"/>
            <a:ext cx="2194560" cy="676656"/>
          </a:xfrm>
          <a:prstGeom prst="rect">
            <a:avLst/>
          </a:prstGeom>
          <a:noFill/>
          <a:ln/>
        </p:spPr>
        <p:txBody>
          <a:bodyPr wrap="square" lIns="0" tIns="0" rIns="0" bIns="0" rtlCol="0" anchor="ctr"/>
          <a:lstStyle/>
          <a:p>
            <a:pPr algn="r" indent="0" marL="0">
              <a:buNone/>
            </a:pPr>
            <a:r>
              <a:rPr lang="en-US" sz="1600" b="1" dirty="0">
                <a:solidFill>
                  <a:srgbClr val="FFFFFF"/>
                </a:solidFill>
                <a:latin typeface="メイリオ" pitchFamily="34" charset="0"/>
                <a:ea typeface="メイリオ" pitchFamily="34" charset="-122"/>
                <a:cs typeface="メイリオ" pitchFamily="34" charset="-120"/>
              </a:rPr>
              <a:t>▲8,296,595</a:t>
            </a:r>
            <a:endParaRPr lang="en-US" sz="1600" dirty="0"/>
          </a:p>
        </p:txBody>
      </p:sp>
      <p:sp>
        <p:nvSpPr>
          <p:cNvPr id="23" name="Text 21"/>
          <p:cNvSpPr/>
          <p:nvPr/>
        </p:nvSpPr>
        <p:spPr>
          <a:xfrm>
            <a:off x="5349240" y="4700016"/>
            <a:ext cx="1005840" cy="676656"/>
          </a:xfrm>
          <a:prstGeom prst="rect">
            <a:avLst/>
          </a:prstGeom>
          <a:noFill/>
          <a:ln/>
        </p:spPr>
        <p:txBody>
          <a:bodyPr wrap="square" lIns="0" tIns="0" rIns="0" bIns="0" rtlCol="0" anchor="ctr"/>
          <a:lstStyle/>
          <a:p>
            <a:pPr algn="r" indent="0" marL="0">
              <a:buNone/>
            </a:pPr>
            <a:r>
              <a:rPr lang="en-US" sz="950" dirty="0">
                <a:solidFill>
                  <a:srgbClr val="FAF3E2"/>
                </a:solidFill>
                <a:latin typeface="メイリオ" pitchFamily="34" charset="0"/>
                <a:ea typeface="メイリオ" pitchFamily="34" charset="-122"/>
                <a:cs typeface="メイリオ" pitchFamily="34" charset="-120"/>
              </a:rPr>
              <a:t>月次</a:t>
            </a:r>
            <a:endParaRPr lang="en-US" sz="950" dirty="0"/>
          </a:p>
        </p:txBody>
      </p:sp>
      <p:sp>
        <p:nvSpPr>
          <p:cNvPr id="24" name="Shape 22"/>
          <p:cNvSpPr/>
          <p:nvPr/>
        </p:nvSpPr>
        <p:spPr>
          <a:xfrm>
            <a:off x="6858000" y="1554480"/>
            <a:ext cx="4709160" cy="4206240"/>
          </a:xfrm>
          <a:prstGeom prst="roundRect">
            <a:avLst>
              <a:gd name="adj" fmla="val 1087"/>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5" name="Text 23"/>
          <p:cNvSpPr/>
          <p:nvPr/>
        </p:nvSpPr>
        <p:spPr>
          <a:xfrm>
            <a:off x="7178040" y="1783080"/>
            <a:ext cx="4069080" cy="329184"/>
          </a:xfrm>
          <a:prstGeom prst="rect">
            <a:avLst/>
          </a:prstGeom>
          <a:noFill/>
          <a:ln/>
        </p:spPr>
        <p:txBody>
          <a:bodyPr wrap="square" lIns="0" tIns="0" rIns="0" bIns="0" rtlCol="0" anchor="ctr"/>
          <a:lstStyle/>
          <a:p>
            <a:pPr indent="0" marL="0">
              <a:buNone/>
            </a:pPr>
            <a:r>
              <a:rPr lang="en-US" sz="1700" b="1" dirty="0">
                <a:solidFill>
                  <a:srgbClr val="1A1A1A"/>
                </a:solidFill>
                <a:latin typeface="メイリオ" pitchFamily="34" charset="0"/>
                <a:ea typeface="メイリオ" pitchFamily="34" charset="-122"/>
                <a:cs typeface="メイリオ" pitchFamily="34" charset="-120"/>
              </a:rPr>
              <a:t>なぜ4月以降なのか</a:t>
            </a:r>
            <a:endParaRPr lang="en-US" sz="1700" dirty="0"/>
          </a:p>
        </p:txBody>
      </p:sp>
      <p:sp>
        <p:nvSpPr>
          <p:cNvPr id="26" name="Text 24"/>
          <p:cNvSpPr/>
          <p:nvPr/>
        </p:nvSpPr>
        <p:spPr>
          <a:xfrm>
            <a:off x="7178040" y="2240280"/>
            <a:ext cx="4069080" cy="3200400"/>
          </a:xfrm>
          <a:prstGeom prst="rect">
            <a:avLst/>
          </a:prstGeom>
          <a:noFill/>
          <a:ln/>
        </p:spPr>
        <p:txBody>
          <a:bodyPr wrap="square" lIns="0" tIns="0" rIns="0" bIns="0" rtlCol="0" anchor="ctr"/>
          <a:lstStyle/>
          <a:p>
            <a:pPr indent="0" marL="0">
              <a:lnSpc>
                <a:spcPts val="1700"/>
              </a:lnSpc>
              <a:buNone/>
            </a:pPr>
            <a:r>
              <a:rPr lang="en-US" sz="1150" dirty="0">
                <a:solidFill>
                  <a:srgbClr val="1A1A1A"/>
                </a:solidFill>
                <a:latin typeface="メイリオ" pitchFamily="34" charset="0"/>
                <a:ea typeface="メイリオ" pitchFamily="34" charset="-122"/>
                <a:cs typeface="メイリオ" pitchFamily="34" charset="-120"/>
              </a:rPr>
              <a:t>2025年10月〜2026年3月の数値には、撤退した不採算3店舗の売上と費用が含まれています。</a:t>
            </a:r>
            <a:endParaRPr lang="en-US" sz="1150" dirty="0"/>
          </a:p>
          <a:p>
            <a:pPr indent="0" marL="0">
              <a:lnSpc>
                <a:spcPts val="1700"/>
              </a:lnSpc>
              <a:buNone/>
            </a:pPr>
            <a:endParaRPr lang="en-US" sz="1150" dirty="0"/>
          </a:p>
          <a:p>
            <a:pPr indent="0" marL="0">
              <a:lnSpc>
                <a:spcPts val="1700"/>
              </a:lnSpc>
              <a:buNone/>
            </a:pPr>
            <a:r>
              <a:rPr lang="en-US" sz="1150" dirty="0">
                <a:solidFill>
                  <a:srgbClr val="1A1A1A"/>
                </a:solidFill>
                <a:latin typeface="メイリオ" pitchFamily="34" charset="0"/>
                <a:ea typeface="メイリオ" pitchFamily="34" charset="-122"/>
                <a:cs typeface="メイリオ" pitchFamily="34" charset="-120"/>
              </a:rPr>
              <a:t>このため同期間を基準にすると、すでに存在しない事業の損益を将来計画に持ち込むことになります。</a:t>
            </a:r>
            <a:endParaRPr lang="en-US" sz="1150" dirty="0"/>
          </a:p>
          <a:p>
            <a:pPr indent="0" marL="0">
              <a:lnSpc>
                <a:spcPts val="1700"/>
              </a:lnSpc>
              <a:buNone/>
            </a:pPr>
            <a:endParaRPr lang="en-US" sz="1150" dirty="0"/>
          </a:p>
          <a:p>
            <a:pPr indent="0" marL="0">
              <a:lnSpc>
                <a:spcPts val="1700"/>
              </a:lnSpc>
              <a:buNone/>
            </a:pPr>
            <a:r>
              <a:rPr lang="en-US" sz="1150" dirty="0">
                <a:solidFill>
                  <a:srgbClr val="1A1A1A"/>
                </a:solidFill>
                <a:latin typeface="メイリオ" pitchFamily="34" charset="0"/>
                <a:ea typeface="メイリオ" pitchFamily="34" charset="-122"/>
                <a:cs typeface="メイリオ" pitchFamily="34" charset="-120"/>
              </a:rPr>
              <a:t>撤退が完了した2026年4月以降の3か月を基準とすることで、現在の事業構造をそのまま反映した計画になります。</a:t>
            </a:r>
            <a:endParaRPr lang="en-US" sz="1150" dirty="0"/>
          </a:p>
          <a:p>
            <a:pPr indent="0" marL="0">
              <a:lnSpc>
                <a:spcPts val="1700"/>
              </a:lnSpc>
              <a:buNone/>
            </a:pPr>
            <a:endParaRPr lang="en-US" sz="1150" dirty="0"/>
          </a:p>
          <a:p>
            <a:pPr indent="0" marL="0">
              <a:lnSpc>
                <a:spcPts val="1700"/>
              </a:lnSpc>
              <a:buNone/>
            </a:pPr>
            <a:r>
              <a:rPr lang="en-US" sz="1150" dirty="0">
                <a:solidFill>
                  <a:srgbClr val="1A1A1A"/>
                </a:solidFill>
                <a:latin typeface="メイリオ" pitchFamily="34" charset="0"/>
                <a:ea typeface="メイリオ" pitchFamily="34" charset="-122"/>
                <a:cs typeface="メイリオ" pitchFamily="34" charset="-120"/>
              </a:rPr>
              <a:t>粗利率が51.5%と高いのは、低採算店が抜け、ワイン投資販売中心の構成になったためです。</a:t>
            </a:r>
            <a:endParaRPr lang="en-US" sz="1150" dirty="0"/>
          </a:p>
        </p:txBody>
      </p:sp>
      <p:sp>
        <p:nvSpPr>
          <p:cNvPr id="27" name="Text 25"/>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出典：事業計画202608（銀行様）全社シート 2026/04・05・06 実績の単純平均</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FY2026 → FY2027 営業利益ブリッジ</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FY2026（修正後）を起点に、一過性収益が剥落してなお売上回復と上乗せ案件で＋105.4百万円に届きます。プランD。</a:t>
            </a:r>
            <a:endParaRPr lang="en-US" sz="1250" dirty="0"/>
          </a:p>
        </p:txBody>
      </p:sp>
      <p:sp>
        <p:nvSpPr>
          <p:cNvPr id="4" name="Shape 2"/>
          <p:cNvSpPr/>
          <p:nvPr/>
        </p:nvSpPr>
        <p:spPr>
          <a:xfrm>
            <a:off x="960120" y="3026664"/>
            <a:ext cx="10058400" cy="0"/>
          </a:xfrm>
          <a:prstGeom prst="line">
            <a:avLst/>
          </a:prstGeom>
          <a:noFill/>
          <a:ln w="12700">
            <a:solidFill>
              <a:srgbClr val="C9BDB5"/>
            </a:solidFill>
            <a:prstDash val="solid"/>
          </a:ln>
        </p:spPr>
      </p:sp>
      <p:sp>
        <p:nvSpPr>
          <p:cNvPr id="5" name="Text 3"/>
          <p:cNvSpPr/>
          <p:nvPr/>
        </p:nvSpPr>
        <p:spPr>
          <a:xfrm>
            <a:off x="576072" y="2907792"/>
            <a:ext cx="329184" cy="237744"/>
          </a:xfrm>
          <a:prstGeom prst="rect">
            <a:avLst/>
          </a:prstGeom>
          <a:noFill/>
          <a:ln/>
        </p:spPr>
        <p:txBody>
          <a:bodyPr wrap="square" lIns="0" tIns="0" rIns="0" bIns="0" rtlCol="0" anchor="ctr"/>
          <a:lstStyle/>
          <a:p>
            <a:pPr algn="r" indent="0" marL="0">
              <a:buNone/>
            </a:pPr>
            <a:r>
              <a:rPr lang="en-US" sz="900" dirty="0">
                <a:solidFill>
                  <a:srgbClr val="8C8C8C"/>
                </a:solidFill>
                <a:latin typeface="メイリオ" pitchFamily="34" charset="0"/>
                <a:ea typeface="メイリオ" pitchFamily="34" charset="-122"/>
                <a:cs typeface="メイリオ" pitchFamily="34" charset="-120"/>
              </a:rPr>
              <a:t>0</a:t>
            </a:r>
            <a:endParaRPr lang="en-US" sz="900" dirty="0"/>
          </a:p>
        </p:txBody>
      </p:sp>
      <p:sp>
        <p:nvSpPr>
          <p:cNvPr id="6" name="Shape 4"/>
          <p:cNvSpPr/>
          <p:nvPr/>
        </p:nvSpPr>
        <p:spPr>
          <a:xfrm>
            <a:off x="960120" y="3026664"/>
            <a:ext cx="1280160" cy="88991"/>
          </a:xfrm>
          <a:prstGeom prst="rect">
            <a:avLst/>
          </a:prstGeom>
          <a:solidFill>
            <a:srgbClr val="6E6E6E"/>
          </a:solidFill>
          <a:ln/>
        </p:spPr>
      </p:sp>
      <p:sp>
        <p:nvSpPr>
          <p:cNvPr id="7" name="Text 5"/>
          <p:cNvSpPr/>
          <p:nvPr/>
        </p:nvSpPr>
        <p:spPr>
          <a:xfrm>
            <a:off x="850392" y="3152231"/>
            <a:ext cx="1499616" cy="292608"/>
          </a:xfrm>
          <a:prstGeom prst="rect">
            <a:avLst/>
          </a:prstGeom>
          <a:noFill/>
          <a:ln/>
        </p:spPr>
        <p:txBody>
          <a:bodyPr wrap="square" lIns="0" tIns="0" rIns="0" bIns="0" rtlCol="0" anchor="ctr"/>
          <a:lstStyle/>
          <a:p>
            <a:pPr algn="ctr" indent="0" marL="0">
              <a:buNone/>
            </a:pPr>
            <a:r>
              <a:rPr lang="en-US" sz="1200" b="1" dirty="0">
                <a:solidFill>
                  <a:srgbClr val="6E6E6E"/>
                </a:solidFill>
                <a:latin typeface="メイリオ" pitchFamily="34" charset="0"/>
                <a:ea typeface="メイリオ" pitchFamily="34" charset="-122"/>
                <a:cs typeface="メイリオ" pitchFamily="34" charset="-120"/>
              </a:rPr>
              <a:t>▲9.8</a:t>
            </a:r>
            <a:endParaRPr lang="en-US" sz="1200" dirty="0"/>
          </a:p>
        </p:txBody>
      </p:sp>
      <p:sp>
        <p:nvSpPr>
          <p:cNvPr id="8" name="Text 6"/>
          <p:cNvSpPr/>
          <p:nvPr/>
        </p:nvSpPr>
        <p:spPr>
          <a:xfrm>
            <a:off x="777240" y="4736592"/>
            <a:ext cx="1645920" cy="71323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FY2026</a:t>
            </a:r>
            <a:endParaRPr lang="en-US" sz="900" dirty="0"/>
          </a:p>
          <a:p>
            <a:pPr algn="ctr" indent="0" marL="0">
              <a:buNone/>
            </a:pPr>
            <a:r>
              <a:rPr lang="en-US" sz="900" dirty="0">
                <a:solidFill>
                  <a:srgbClr val="1A1A1A"/>
                </a:solidFill>
                <a:latin typeface="メイリオ" pitchFamily="34" charset="0"/>
                <a:ea typeface="メイリオ" pitchFamily="34" charset="-122"/>
                <a:cs typeface="メイリオ" pitchFamily="34" charset="-120"/>
              </a:rPr>
              <a:t>営業利益</a:t>
            </a:r>
            <a:endParaRPr lang="en-US" sz="900" dirty="0"/>
          </a:p>
          <a:p>
            <a:pPr algn="ctr" indent="0" marL="0">
              <a:buNone/>
            </a:pPr>
            <a:r>
              <a:rPr lang="en-US" sz="900" dirty="0">
                <a:solidFill>
                  <a:srgbClr val="1A1A1A"/>
                </a:solidFill>
                <a:latin typeface="メイリオ" pitchFamily="34" charset="0"/>
                <a:ea typeface="メイリオ" pitchFamily="34" charset="-122"/>
                <a:cs typeface="メイリオ" pitchFamily="34" charset="-120"/>
              </a:rPr>
              <a:t>（修正後）</a:t>
            </a:r>
            <a:endParaRPr lang="en-US" sz="900" dirty="0"/>
          </a:p>
        </p:txBody>
      </p:sp>
      <p:sp>
        <p:nvSpPr>
          <p:cNvPr id="9" name="Shape 7"/>
          <p:cNvSpPr/>
          <p:nvPr/>
        </p:nvSpPr>
        <p:spPr>
          <a:xfrm>
            <a:off x="2569464" y="3115655"/>
            <a:ext cx="1280160" cy="681514"/>
          </a:xfrm>
          <a:prstGeom prst="rect">
            <a:avLst/>
          </a:prstGeom>
          <a:solidFill>
            <a:srgbClr val="6E6E6E"/>
          </a:solidFill>
          <a:ln/>
        </p:spPr>
      </p:sp>
      <p:sp>
        <p:nvSpPr>
          <p:cNvPr id="10" name="Text 8"/>
          <p:cNvSpPr/>
          <p:nvPr/>
        </p:nvSpPr>
        <p:spPr>
          <a:xfrm>
            <a:off x="2459736" y="3833745"/>
            <a:ext cx="1499616" cy="292608"/>
          </a:xfrm>
          <a:prstGeom prst="rect">
            <a:avLst/>
          </a:prstGeom>
          <a:noFill/>
          <a:ln/>
        </p:spPr>
        <p:txBody>
          <a:bodyPr wrap="square" lIns="0" tIns="0" rIns="0" bIns="0" rtlCol="0" anchor="ctr"/>
          <a:lstStyle/>
          <a:p>
            <a:pPr algn="ctr" indent="0" marL="0">
              <a:buNone/>
            </a:pPr>
            <a:r>
              <a:rPr lang="en-US" sz="1200" b="1" dirty="0">
                <a:solidFill>
                  <a:srgbClr val="6E6E6E"/>
                </a:solidFill>
                <a:latin typeface="メイリオ" pitchFamily="34" charset="0"/>
                <a:ea typeface="メイリオ" pitchFamily="34" charset="-122"/>
                <a:cs typeface="メイリオ" pitchFamily="34" charset="-120"/>
              </a:rPr>
              <a:t>▲75.0</a:t>
            </a:r>
            <a:endParaRPr lang="en-US" sz="1200" dirty="0"/>
          </a:p>
        </p:txBody>
      </p:sp>
      <p:sp>
        <p:nvSpPr>
          <p:cNvPr id="11" name="Text 9"/>
          <p:cNvSpPr/>
          <p:nvPr/>
        </p:nvSpPr>
        <p:spPr>
          <a:xfrm>
            <a:off x="2386584" y="4736592"/>
            <a:ext cx="1645920" cy="71323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① 私募ファンド</a:t>
            </a:r>
            <a:endParaRPr lang="en-US" sz="900" dirty="0"/>
          </a:p>
          <a:p>
            <a:pPr algn="ctr" indent="0" marL="0">
              <a:buNone/>
            </a:pPr>
            <a:r>
              <a:rPr lang="en-US" sz="900" dirty="0">
                <a:solidFill>
                  <a:srgbClr val="1A1A1A"/>
                </a:solidFill>
                <a:latin typeface="メイリオ" pitchFamily="34" charset="0"/>
                <a:ea typeface="メイリオ" pitchFamily="34" charset="-122"/>
                <a:cs typeface="メイリオ" pitchFamily="34" charset="-120"/>
              </a:rPr>
              <a:t>の剥落</a:t>
            </a:r>
            <a:endParaRPr lang="en-US" sz="900" dirty="0"/>
          </a:p>
        </p:txBody>
      </p:sp>
      <p:sp>
        <p:nvSpPr>
          <p:cNvPr id="12" name="Shape 10"/>
          <p:cNvSpPr/>
          <p:nvPr/>
        </p:nvSpPr>
        <p:spPr>
          <a:xfrm>
            <a:off x="4178808" y="3797169"/>
            <a:ext cx="1280160" cy="259316"/>
          </a:xfrm>
          <a:prstGeom prst="rect">
            <a:avLst/>
          </a:prstGeom>
          <a:solidFill>
            <a:srgbClr val="6E6E6E"/>
          </a:solidFill>
          <a:ln/>
        </p:spPr>
      </p:sp>
      <p:sp>
        <p:nvSpPr>
          <p:cNvPr id="13" name="Text 11"/>
          <p:cNvSpPr/>
          <p:nvPr/>
        </p:nvSpPr>
        <p:spPr>
          <a:xfrm>
            <a:off x="4069080" y="4093061"/>
            <a:ext cx="1499616" cy="292608"/>
          </a:xfrm>
          <a:prstGeom prst="rect">
            <a:avLst/>
          </a:prstGeom>
          <a:noFill/>
          <a:ln/>
        </p:spPr>
        <p:txBody>
          <a:bodyPr wrap="square" lIns="0" tIns="0" rIns="0" bIns="0" rtlCol="0" anchor="ctr"/>
          <a:lstStyle/>
          <a:p>
            <a:pPr algn="ctr" indent="0" marL="0">
              <a:buNone/>
            </a:pPr>
            <a:r>
              <a:rPr lang="en-US" sz="1200" b="1" dirty="0">
                <a:solidFill>
                  <a:srgbClr val="6E6E6E"/>
                </a:solidFill>
                <a:latin typeface="メイリオ" pitchFamily="34" charset="0"/>
                <a:ea typeface="メイリオ" pitchFamily="34" charset="-122"/>
                <a:cs typeface="メイリオ" pitchFamily="34" charset="-120"/>
              </a:rPr>
              <a:t>▲28.5</a:t>
            </a:r>
            <a:endParaRPr lang="en-US" sz="1200" dirty="0"/>
          </a:p>
        </p:txBody>
      </p:sp>
      <p:sp>
        <p:nvSpPr>
          <p:cNvPr id="14" name="Text 12"/>
          <p:cNvSpPr/>
          <p:nvPr/>
        </p:nvSpPr>
        <p:spPr>
          <a:xfrm>
            <a:off x="3995928" y="4736592"/>
            <a:ext cx="1645920" cy="71323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② 既存事業</a:t>
            </a:r>
            <a:endParaRPr lang="en-US" sz="900" dirty="0"/>
          </a:p>
          <a:p>
            <a:pPr algn="ctr" indent="0" marL="0">
              <a:buNone/>
            </a:pPr>
            <a:r>
              <a:rPr lang="en-US" sz="900" dirty="0">
                <a:solidFill>
                  <a:srgbClr val="1A1A1A"/>
                </a:solidFill>
                <a:latin typeface="メイリオ" pitchFamily="34" charset="0"/>
                <a:ea typeface="メイリオ" pitchFamily="34" charset="-122"/>
                <a:cs typeface="メイリオ" pitchFamily="34" charset="-120"/>
              </a:rPr>
              <a:t>粗利の減少</a:t>
            </a:r>
            <a:endParaRPr lang="en-US" sz="900" dirty="0"/>
          </a:p>
        </p:txBody>
      </p:sp>
      <p:sp>
        <p:nvSpPr>
          <p:cNvPr id="15" name="Shape 13"/>
          <p:cNvSpPr/>
          <p:nvPr/>
        </p:nvSpPr>
        <p:spPr>
          <a:xfrm>
            <a:off x="5788152" y="3125825"/>
            <a:ext cx="1280160" cy="930660"/>
          </a:xfrm>
          <a:prstGeom prst="rect">
            <a:avLst/>
          </a:prstGeom>
          <a:solidFill>
            <a:srgbClr val="1A1A1A"/>
          </a:solidFill>
          <a:ln/>
        </p:spPr>
      </p:sp>
      <p:sp>
        <p:nvSpPr>
          <p:cNvPr id="16" name="Text 14"/>
          <p:cNvSpPr/>
          <p:nvPr/>
        </p:nvSpPr>
        <p:spPr>
          <a:xfrm>
            <a:off x="5678424" y="2796641"/>
            <a:ext cx="1499616" cy="292608"/>
          </a:xfrm>
          <a:prstGeom prst="rect">
            <a:avLst/>
          </a:prstGeom>
          <a:noFill/>
          <a:ln/>
        </p:spPr>
        <p:txBody>
          <a:bodyPr wrap="square" lIns="0" tIns="0" rIns="0" bIns="0" rtlCol="0" anchor="ctr"/>
          <a:lstStyle/>
          <a:p>
            <a:pPr algn="ctr" indent="0" marL="0">
              <a:buNone/>
            </a:pPr>
            <a:r>
              <a:rPr lang="en-US" sz="1200" b="1" dirty="0">
                <a:solidFill>
                  <a:srgbClr val="1A1A1A"/>
                </a:solidFill>
                <a:latin typeface="メイリオ" pitchFamily="34" charset="0"/>
                <a:ea typeface="メイリオ" pitchFamily="34" charset="-122"/>
                <a:cs typeface="メイリオ" pitchFamily="34" charset="-120"/>
              </a:rPr>
              <a:t>+102.4</a:t>
            </a:r>
            <a:endParaRPr lang="en-US" sz="1200" dirty="0"/>
          </a:p>
        </p:txBody>
      </p:sp>
      <p:sp>
        <p:nvSpPr>
          <p:cNvPr id="17" name="Text 15"/>
          <p:cNvSpPr/>
          <p:nvPr/>
        </p:nvSpPr>
        <p:spPr>
          <a:xfrm>
            <a:off x="5605272" y="4736592"/>
            <a:ext cx="1645920" cy="71323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③ 差額売上の粗利</a:t>
            </a:r>
            <a:endParaRPr lang="en-US" sz="900" dirty="0"/>
          </a:p>
          <a:p>
            <a:pPr algn="ctr" indent="0" marL="0">
              <a:buNone/>
            </a:pPr>
            <a:r>
              <a:rPr lang="en-US" sz="900" dirty="0">
                <a:solidFill>
                  <a:srgbClr val="1A1A1A"/>
                </a:solidFill>
                <a:latin typeface="メイリオ" pitchFamily="34" charset="0"/>
                <a:ea typeface="メイリオ" pitchFamily="34" charset="-122"/>
                <a:cs typeface="メイリオ" pitchFamily="34" charset="-120"/>
              </a:rPr>
              <a:t>（売上平均へ回復）</a:t>
            </a:r>
            <a:endParaRPr lang="en-US" sz="900" dirty="0"/>
          </a:p>
        </p:txBody>
      </p:sp>
      <p:sp>
        <p:nvSpPr>
          <p:cNvPr id="18" name="Shape 16"/>
          <p:cNvSpPr/>
          <p:nvPr/>
        </p:nvSpPr>
        <p:spPr>
          <a:xfrm>
            <a:off x="7397496" y="2728077"/>
            <a:ext cx="1280160" cy="397748"/>
          </a:xfrm>
          <a:prstGeom prst="rect">
            <a:avLst/>
          </a:prstGeom>
          <a:solidFill>
            <a:srgbClr val="1A1A1A"/>
          </a:solidFill>
          <a:ln/>
        </p:spPr>
      </p:sp>
      <p:sp>
        <p:nvSpPr>
          <p:cNvPr id="19" name="Text 17"/>
          <p:cNvSpPr/>
          <p:nvPr/>
        </p:nvSpPr>
        <p:spPr>
          <a:xfrm>
            <a:off x="7287768" y="2398893"/>
            <a:ext cx="1499616" cy="292608"/>
          </a:xfrm>
          <a:prstGeom prst="rect">
            <a:avLst/>
          </a:prstGeom>
          <a:noFill/>
          <a:ln/>
        </p:spPr>
        <p:txBody>
          <a:bodyPr wrap="square" lIns="0" tIns="0" rIns="0" bIns="0" rtlCol="0" anchor="ctr"/>
          <a:lstStyle/>
          <a:p>
            <a:pPr algn="ctr" indent="0" marL="0">
              <a:buNone/>
            </a:pPr>
            <a:r>
              <a:rPr lang="en-US" sz="1200" b="1" dirty="0">
                <a:solidFill>
                  <a:srgbClr val="1A1A1A"/>
                </a:solidFill>
                <a:latin typeface="メイリオ" pitchFamily="34" charset="0"/>
                <a:ea typeface="メイリオ" pitchFamily="34" charset="-122"/>
                <a:cs typeface="メイリオ" pitchFamily="34" charset="-120"/>
              </a:rPr>
              <a:t>+43.8</a:t>
            </a:r>
            <a:endParaRPr lang="en-US" sz="1200" dirty="0"/>
          </a:p>
        </p:txBody>
      </p:sp>
      <p:sp>
        <p:nvSpPr>
          <p:cNvPr id="20" name="Text 18"/>
          <p:cNvSpPr/>
          <p:nvPr/>
        </p:nvSpPr>
        <p:spPr>
          <a:xfrm>
            <a:off x="7214616" y="4736592"/>
            <a:ext cx="1645920" cy="71323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④ 販管費</a:t>
            </a:r>
            <a:endParaRPr lang="en-US" sz="900" dirty="0"/>
          </a:p>
          <a:p>
            <a:pPr algn="ctr" indent="0" marL="0">
              <a:buNone/>
            </a:pPr>
            <a:r>
              <a:rPr lang="en-US" sz="900" dirty="0">
                <a:solidFill>
                  <a:srgbClr val="1A1A1A"/>
                </a:solidFill>
                <a:latin typeface="メイリオ" pitchFamily="34" charset="0"/>
                <a:ea typeface="メイリオ" pitchFamily="34" charset="-122"/>
                <a:cs typeface="メイリオ" pitchFamily="34" charset="-120"/>
              </a:rPr>
              <a:t>の削減</a:t>
            </a:r>
            <a:endParaRPr lang="en-US" sz="900" dirty="0"/>
          </a:p>
        </p:txBody>
      </p:sp>
      <p:sp>
        <p:nvSpPr>
          <p:cNvPr id="21" name="Shape 19"/>
          <p:cNvSpPr/>
          <p:nvPr/>
        </p:nvSpPr>
        <p:spPr>
          <a:xfrm>
            <a:off x="9006840" y="2069280"/>
            <a:ext cx="1280160" cy="658797"/>
          </a:xfrm>
          <a:prstGeom prst="rect">
            <a:avLst/>
          </a:prstGeom>
          <a:solidFill>
            <a:srgbClr val="1A1A1A"/>
          </a:solidFill>
          <a:ln/>
        </p:spPr>
      </p:sp>
      <p:sp>
        <p:nvSpPr>
          <p:cNvPr id="22" name="Text 20"/>
          <p:cNvSpPr/>
          <p:nvPr/>
        </p:nvSpPr>
        <p:spPr>
          <a:xfrm>
            <a:off x="8897112" y="1740096"/>
            <a:ext cx="1499616" cy="292608"/>
          </a:xfrm>
          <a:prstGeom prst="rect">
            <a:avLst/>
          </a:prstGeom>
          <a:noFill/>
          <a:ln/>
        </p:spPr>
        <p:txBody>
          <a:bodyPr wrap="square" lIns="0" tIns="0" rIns="0" bIns="0" rtlCol="0" anchor="ctr"/>
          <a:lstStyle/>
          <a:p>
            <a:pPr algn="ctr" indent="0" marL="0">
              <a:buNone/>
            </a:pPr>
            <a:r>
              <a:rPr lang="en-US" sz="1200" b="1" dirty="0">
                <a:solidFill>
                  <a:srgbClr val="1A1A1A"/>
                </a:solidFill>
                <a:latin typeface="メイリオ" pitchFamily="34" charset="0"/>
                <a:ea typeface="メイリオ" pitchFamily="34" charset="-122"/>
                <a:cs typeface="メイリオ" pitchFamily="34" charset="-120"/>
              </a:rPr>
              <a:t>+72.5</a:t>
            </a:r>
            <a:endParaRPr lang="en-US" sz="1200" dirty="0"/>
          </a:p>
        </p:txBody>
      </p:sp>
      <p:sp>
        <p:nvSpPr>
          <p:cNvPr id="23" name="Text 21"/>
          <p:cNvSpPr/>
          <p:nvPr/>
        </p:nvSpPr>
        <p:spPr>
          <a:xfrm>
            <a:off x="8823960" y="4736592"/>
            <a:ext cx="1645920" cy="71323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⑤ 上乗せ案件</a:t>
            </a:r>
            <a:endParaRPr lang="en-US" sz="900" dirty="0"/>
          </a:p>
          <a:p>
            <a:pPr algn="ctr" indent="0" marL="0">
              <a:buNone/>
            </a:pPr>
            <a:r>
              <a:rPr lang="en-US" sz="900" dirty="0">
                <a:solidFill>
                  <a:srgbClr val="1A1A1A"/>
                </a:solidFill>
                <a:latin typeface="メイリオ" pitchFamily="34" charset="0"/>
                <a:ea typeface="メイリオ" pitchFamily="34" charset="-122"/>
                <a:cs typeface="メイリオ" pitchFamily="34" charset="-120"/>
              </a:rPr>
              <a:t>の増加</a:t>
            </a:r>
            <a:endParaRPr lang="en-US" sz="900" dirty="0"/>
          </a:p>
        </p:txBody>
      </p:sp>
      <p:sp>
        <p:nvSpPr>
          <p:cNvPr id="24" name="Shape 22"/>
          <p:cNvSpPr/>
          <p:nvPr/>
        </p:nvSpPr>
        <p:spPr>
          <a:xfrm>
            <a:off x="10616184" y="2069280"/>
            <a:ext cx="1280160" cy="957384"/>
          </a:xfrm>
          <a:prstGeom prst="rect">
            <a:avLst/>
          </a:prstGeom>
          <a:solidFill>
            <a:srgbClr val="6E6E6E"/>
          </a:solidFill>
          <a:ln/>
        </p:spPr>
      </p:sp>
      <p:sp>
        <p:nvSpPr>
          <p:cNvPr id="25" name="Text 23"/>
          <p:cNvSpPr/>
          <p:nvPr/>
        </p:nvSpPr>
        <p:spPr>
          <a:xfrm>
            <a:off x="10506456" y="1740096"/>
            <a:ext cx="1499616" cy="292608"/>
          </a:xfrm>
          <a:prstGeom prst="rect">
            <a:avLst/>
          </a:prstGeom>
          <a:noFill/>
          <a:ln/>
        </p:spPr>
        <p:txBody>
          <a:bodyPr wrap="square" lIns="0" tIns="0" rIns="0" bIns="0" rtlCol="0" anchor="ctr"/>
          <a:lstStyle/>
          <a:p>
            <a:pPr algn="ctr" indent="0" marL="0">
              <a:buNone/>
            </a:pPr>
            <a:r>
              <a:rPr lang="en-US" sz="1200" b="1" dirty="0">
                <a:solidFill>
                  <a:srgbClr val="6E6E6E"/>
                </a:solidFill>
                <a:latin typeface="メイリオ" pitchFamily="34" charset="0"/>
                <a:ea typeface="メイリオ" pitchFamily="34" charset="-122"/>
                <a:cs typeface="メイリオ" pitchFamily="34" charset="-120"/>
              </a:rPr>
              <a:t>+105.4</a:t>
            </a:r>
            <a:endParaRPr lang="en-US" sz="1200" dirty="0"/>
          </a:p>
        </p:txBody>
      </p:sp>
      <p:sp>
        <p:nvSpPr>
          <p:cNvPr id="26" name="Text 24"/>
          <p:cNvSpPr/>
          <p:nvPr/>
        </p:nvSpPr>
        <p:spPr>
          <a:xfrm>
            <a:off x="10433304" y="4736592"/>
            <a:ext cx="1645920" cy="71323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FY2027 営業利益</a:t>
            </a:r>
            <a:endParaRPr lang="en-US" sz="900" dirty="0"/>
          </a:p>
          <a:p>
            <a:pPr algn="ctr" indent="0" marL="0">
              <a:buNone/>
            </a:pPr>
            <a:r>
              <a:rPr lang="en-US" sz="900" dirty="0">
                <a:solidFill>
                  <a:srgbClr val="1A1A1A"/>
                </a:solidFill>
                <a:latin typeface="メイリオ" pitchFamily="34" charset="0"/>
                <a:ea typeface="メイリオ" pitchFamily="34" charset="-122"/>
                <a:cs typeface="メイリオ" pitchFamily="34" charset="-120"/>
              </a:rPr>
              <a:t>（プランD）</a:t>
            </a:r>
            <a:endParaRPr lang="en-US" sz="900" dirty="0"/>
          </a:p>
        </p:txBody>
      </p:sp>
      <p:sp>
        <p:nvSpPr>
          <p:cNvPr id="27" name="Text 25"/>
          <p:cNvSpPr/>
          <p:nvPr/>
        </p:nvSpPr>
        <p:spPr>
          <a:xfrm>
            <a:off x="594360" y="1298448"/>
            <a:ext cx="1828800" cy="237744"/>
          </a:xfrm>
          <a:prstGeom prst="rect">
            <a:avLst/>
          </a:prstGeom>
          <a:noFill/>
          <a:ln/>
        </p:spPr>
        <p:txBody>
          <a:bodyPr wrap="square" lIns="0" tIns="0" rIns="0" bIns="0" rtlCol="0" anchor="ctr"/>
          <a:lstStyle/>
          <a:p>
            <a:pPr indent="0" marL="0">
              <a:buNone/>
            </a:pPr>
            <a:r>
              <a:rPr lang="en-US" sz="900" dirty="0">
                <a:solidFill>
                  <a:srgbClr val="8C8C8C"/>
                </a:solidFill>
                <a:latin typeface="メイリオ" pitchFamily="34" charset="0"/>
                <a:ea typeface="メイリオ" pitchFamily="34" charset="-122"/>
                <a:cs typeface="メイリオ" pitchFamily="34" charset="-120"/>
              </a:rPr>
              <a:t>単位：百万円</a:t>
            </a:r>
            <a:endParaRPr lang="en-US" sz="900" dirty="0"/>
          </a:p>
        </p:txBody>
      </p:sp>
      <p:sp>
        <p:nvSpPr>
          <p:cNvPr id="28" name="Shape 26"/>
          <p:cNvSpPr/>
          <p:nvPr/>
        </p:nvSpPr>
        <p:spPr>
          <a:xfrm>
            <a:off x="822960" y="5632704"/>
            <a:ext cx="10607040" cy="621792"/>
          </a:xfrm>
          <a:prstGeom prst="roundRect">
            <a:avLst>
              <a:gd name="adj" fmla="val 7353"/>
            </a:avLst>
          </a:prstGeom>
          <a:solidFill>
            <a:srgbClr val="FAF3E2"/>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9" name="Text 27"/>
          <p:cNvSpPr/>
          <p:nvPr/>
        </p:nvSpPr>
        <p:spPr>
          <a:xfrm>
            <a:off x="1051560" y="5632704"/>
            <a:ext cx="10149840" cy="621792"/>
          </a:xfrm>
          <a:prstGeom prst="rect">
            <a:avLst/>
          </a:prstGeom>
          <a:noFill/>
          <a:ln/>
        </p:spPr>
        <p:txBody>
          <a:bodyPr wrap="square" lIns="0" tIns="0" rIns="0" bIns="0" rtlCol="0" anchor="ctr"/>
          <a:lstStyle/>
          <a:p>
            <a:pPr indent="0" marL="0">
              <a:buNone/>
            </a:pPr>
            <a:r>
              <a:rPr lang="en-US" sz="1150" b="1" dirty="0">
                <a:solidFill>
                  <a:srgbClr val="1A1A1A"/>
                </a:solidFill>
                <a:latin typeface="メイリオ" pitchFamily="34" charset="0"/>
                <a:ea typeface="メイリオ" pitchFamily="34" charset="-122"/>
                <a:cs typeface="メイリオ" pitchFamily="34" charset="-120"/>
              </a:rPr>
              <a:t>FY2026 ▲9.8百万円　→　FY2027 ＋105.4百万円。①②で103.5百万円を落としたうえでの数字です。</a:t>
            </a:r>
            <a:endParaRPr lang="en-US" sz="1150" dirty="0"/>
          </a:p>
        </p:txBody>
      </p:sp>
      <p:sp>
        <p:nvSpPr>
          <p:cNvPr id="30" name="Text 28"/>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①は私募3号70.0＋4号5.0。②はFY2026の大口案件を保守的にゼロと置いたことによる減少。⑤はFY2027の102.5とFY2026に前倒し計上される30.0との差。</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2つのプラン － Dがメイン、Eが上振れ</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Dは既存事業を過去2期の売上平均に戻すだけ。Eはそこに私募＋オークション300百万円を上積みします。</a:t>
            </a:r>
            <a:endParaRPr lang="en-US" sz="1250" dirty="0"/>
          </a:p>
        </p:txBody>
      </p:sp>
      <p:sp>
        <p:nvSpPr>
          <p:cNvPr id="4" name="Shape 2"/>
          <p:cNvSpPr/>
          <p:nvPr/>
        </p:nvSpPr>
        <p:spPr>
          <a:xfrm>
            <a:off x="594360" y="1517904"/>
            <a:ext cx="10963656" cy="384048"/>
          </a:xfrm>
          <a:prstGeom prst="rect">
            <a:avLst/>
          </a:prstGeom>
          <a:solidFill>
            <a:srgbClr val="1A1A1A"/>
          </a:solidFill>
          <a:ln/>
        </p:spPr>
      </p:sp>
      <p:sp>
        <p:nvSpPr>
          <p:cNvPr id="5" name="Text 3"/>
          <p:cNvSpPr/>
          <p:nvPr/>
        </p:nvSpPr>
        <p:spPr>
          <a:xfrm>
            <a:off x="704088" y="1517904"/>
            <a:ext cx="3438144" cy="384048"/>
          </a:xfrm>
          <a:prstGeom prst="rect">
            <a:avLst/>
          </a:prstGeom>
          <a:noFill/>
          <a:ln/>
        </p:spPr>
        <p:txBody>
          <a:bodyPr wrap="square" lIns="0" tIns="0" rIns="0" bIns="0" rtlCol="0" anchor="ctr"/>
          <a:lstStyle/>
          <a:p>
            <a:pPr algn="l" indent="0" marL="0">
              <a:buNone/>
            </a:pPr>
            <a:r>
              <a:rPr lang="en-US" sz="900" b="1" dirty="0">
                <a:solidFill>
                  <a:srgbClr val="FFFFFF"/>
                </a:solidFill>
                <a:latin typeface="メイリオ" pitchFamily="34" charset="0"/>
                <a:ea typeface="メイリオ" pitchFamily="34" charset="-122"/>
                <a:cs typeface="メイリオ" pitchFamily="34" charset="-120"/>
              </a:rPr>
              <a:t>（百万円）</a:t>
            </a:r>
            <a:endParaRPr lang="en-US" sz="900" dirty="0"/>
          </a:p>
        </p:txBody>
      </p:sp>
      <p:sp>
        <p:nvSpPr>
          <p:cNvPr id="6" name="Text 4"/>
          <p:cNvSpPr/>
          <p:nvPr/>
        </p:nvSpPr>
        <p:spPr>
          <a:xfrm>
            <a:off x="4361688" y="1517904"/>
            <a:ext cx="2157984" cy="384048"/>
          </a:xfrm>
          <a:prstGeom prst="rect">
            <a:avLst/>
          </a:prstGeom>
          <a:noFill/>
          <a:ln/>
        </p:spPr>
        <p:txBody>
          <a:bodyPr wrap="square" lIns="0" tIns="0" rIns="0" bIns="0" rtlCol="0" anchor="ctr"/>
          <a:lstStyle/>
          <a:p>
            <a:pPr algn="r" indent="0" marL="0">
              <a:buNone/>
            </a:pPr>
            <a:r>
              <a:rPr lang="en-US" sz="900" b="1" dirty="0">
                <a:solidFill>
                  <a:srgbClr val="FFFFFF"/>
                </a:solidFill>
                <a:latin typeface="メイリオ" pitchFamily="34" charset="0"/>
                <a:ea typeface="メイリオ" pitchFamily="34" charset="-122"/>
                <a:cs typeface="メイリオ" pitchFamily="34" charset="-120"/>
              </a:rPr>
              <a:t>横ばい実力値（参考）</a:t>
            </a:r>
            <a:endParaRPr lang="en-US" sz="900" dirty="0"/>
          </a:p>
        </p:txBody>
      </p:sp>
      <p:sp>
        <p:nvSpPr>
          <p:cNvPr id="7" name="Text 5"/>
          <p:cNvSpPr/>
          <p:nvPr/>
        </p:nvSpPr>
        <p:spPr>
          <a:xfrm>
            <a:off x="6739128" y="1517904"/>
            <a:ext cx="2249424" cy="384048"/>
          </a:xfrm>
          <a:prstGeom prst="rect">
            <a:avLst/>
          </a:prstGeom>
          <a:noFill/>
          <a:ln/>
        </p:spPr>
        <p:txBody>
          <a:bodyPr wrap="square" lIns="0" tIns="0" rIns="0" bIns="0" rtlCol="0" anchor="ctr"/>
          <a:lstStyle/>
          <a:p>
            <a:pPr algn="r" indent="0" marL="0">
              <a:buNone/>
            </a:pPr>
            <a:r>
              <a:rPr lang="en-US" sz="900" b="1" dirty="0">
                <a:solidFill>
                  <a:srgbClr val="FFFFFF"/>
                </a:solidFill>
                <a:latin typeface="メイリオ" pitchFamily="34" charset="0"/>
                <a:ea typeface="メイリオ" pitchFamily="34" charset="-122"/>
                <a:cs typeface="メイリオ" pitchFamily="34" charset="-120"/>
              </a:rPr>
              <a:t>プランD　メインシナリオ</a:t>
            </a:r>
            <a:endParaRPr lang="en-US" sz="900" dirty="0"/>
          </a:p>
        </p:txBody>
      </p:sp>
      <p:sp>
        <p:nvSpPr>
          <p:cNvPr id="8" name="Text 6"/>
          <p:cNvSpPr/>
          <p:nvPr/>
        </p:nvSpPr>
        <p:spPr>
          <a:xfrm>
            <a:off x="9208008" y="1517904"/>
            <a:ext cx="2240280" cy="384048"/>
          </a:xfrm>
          <a:prstGeom prst="rect">
            <a:avLst/>
          </a:prstGeom>
          <a:noFill/>
          <a:ln/>
        </p:spPr>
        <p:txBody>
          <a:bodyPr wrap="square" lIns="0" tIns="0" rIns="0" bIns="0" rtlCol="0" anchor="ctr"/>
          <a:lstStyle/>
          <a:p>
            <a:pPr algn="r" indent="0" marL="0">
              <a:buNone/>
            </a:pPr>
            <a:r>
              <a:rPr lang="en-US" sz="900" b="1" dirty="0">
                <a:solidFill>
                  <a:srgbClr val="FFFFFF"/>
                </a:solidFill>
                <a:latin typeface="メイリオ" pitchFamily="34" charset="0"/>
                <a:ea typeface="メイリオ" pitchFamily="34" charset="-122"/>
                <a:cs typeface="メイリオ" pitchFamily="34" charset="-120"/>
              </a:rPr>
              <a:t>プランE　上振れシナリオ</a:t>
            </a:r>
            <a:endParaRPr lang="en-US" sz="900" dirty="0"/>
          </a:p>
        </p:txBody>
      </p:sp>
      <p:sp>
        <p:nvSpPr>
          <p:cNvPr id="9" name="Shape 7"/>
          <p:cNvSpPr/>
          <p:nvPr/>
        </p:nvSpPr>
        <p:spPr>
          <a:xfrm>
            <a:off x="594360" y="1901952"/>
            <a:ext cx="10963656" cy="310896"/>
          </a:xfrm>
          <a:prstGeom prst="rect">
            <a:avLst/>
          </a:prstGeom>
          <a:solidFill>
            <a:srgbClr val="FFFFFF"/>
          </a:solidFill>
          <a:ln w="6350">
            <a:solidFill>
              <a:srgbClr val="E2E0DC"/>
            </a:solidFill>
            <a:prstDash val="solid"/>
          </a:ln>
        </p:spPr>
      </p:sp>
      <p:sp>
        <p:nvSpPr>
          <p:cNvPr id="10" name="Text 8"/>
          <p:cNvSpPr/>
          <p:nvPr/>
        </p:nvSpPr>
        <p:spPr>
          <a:xfrm>
            <a:off x="704088" y="1901952"/>
            <a:ext cx="3438144" cy="310896"/>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売上高（上乗せ含む）</a:t>
            </a:r>
            <a:endParaRPr lang="en-US" sz="1050" dirty="0"/>
          </a:p>
        </p:txBody>
      </p:sp>
      <p:sp>
        <p:nvSpPr>
          <p:cNvPr id="11" name="Text 9"/>
          <p:cNvSpPr/>
          <p:nvPr/>
        </p:nvSpPr>
        <p:spPr>
          <a:xfrm>
            <a:off x="4361688" y="1901952"/>
            <a:ext cx="2157984" cy="310896"/>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389.1</a:t>
            </a:r>
            <a:endParaRPr lang="en-US" sz="1050" dirty="0"/>
          </a:p>
        </p:txBody>
      </p:sp>
      <p:sp>
        <p:nvSpPr>
          <p:cNvPr id="12" name="Text 10"/>
          <p:cNvSpPr/>
          <p:nvPr/>
        </p:nvSpPr>
        <p:spPr>
          <a:xfrm>
            <a:off x="6739128" y="1901952"/>
            <a:ext cx="2249424" cy="310896"/>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833.0</a:t>
            </a:r>
            <a:endParaRPr lang="en-US" sz="1050" dirty="0"/>
          </a:p>
        </p:txBody>
      </p:sp>
      <p:sp>
        <p:nvSpPr>
          <p:cNvPr id="13" name="Text 11"/>
          <p:cNvSpPr/>
          <p:nvPr/>
        </p:nvSpPr>
        <p:spPr>
          <a:xfrm>
            <a:off x="9208008" y="1901952"/>
            <a:ext cx="2240280" cy="310896"/>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1,133.0</a:t>
            </a:r>
            <a:endParaRPr lang="en-US" sz="1050" dirty="0"/>
          </a:p>
        </p:txBody>
      </p:sp>
      <p:sp>
        <p:nvSpPr>
          <p:cNvPr id="14" name="Shape 12"/>
          <p:cNvSpPr/>
          <p:nvPr/>
        </p:nvSpPr>
        <p:spPr>
          <a:xfrm>
            <a:off x="594360" y="2212848"/>
            <a:ext cx="10963656" cy="310896"/>
          </a:xfrm>
          <a:prstGeom prst="rect">
            <a:avLst/>
          </a:prstGeom>
          <a:solidFill>
            <a:srgbClr val="FBFAF8"/>
          </a:solidFill>
          <a:ln w="6350">
            <a:solidFill>
              <a:srgbClr val="E2E0DC"/>
            </a:solidFill>
            <a:prstDash val="solid"/>
          </a:ln>
        </p:spPr>
      </p:sp>
      <p:sp>
        <p:nvSpPr>
          <p:cNvPr id="15" name="Text 13"/>
          <p:cNvSpPr/>
          <p:nvPr/>
        </p:nvSpPr>
        <p:spPr>
          <a:xfrm>
            <a:off x="704088" y="2212848"/>
            <a:ext cx="3438144" cy="310896"/>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　うち 既存事業</a:t>
            </a:r>
            <a:endParaRPr lang="en-US" sz="1050" dirty="0"/>
          </a:p>
        </p:txBody>
      </p:sp>
      <p:sp>
        <p:nvSpPr>
          <p:cNvPr id="16" name="Text 14"/>
          <p:cNvSpPr/>
          <p:nvPr/>
        </p:nvSpPr>
        <p:spPr>
          <a:xfrm>
            <a:off x="4361688" y="2212848"/>
            <a:ext cx="2157984" cy="310896"/>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389.1</a:t>
            </a:r>
            <a:endParaRPr lang="en-US" sz="1050" dirty="0"/>
          </a:p>
        </p:txBody>
      </p:sp>
      <p:sp>
        <p:nvSpPr>
          <p:cNvPr id="17" name="Text 15"/>
          <p:cNvSpPr/>
          <p:nvPr/>
        </p:nvSpPr>
        <p:spPr>
          <a:xfrm>
            <a:off x="6739128" y="2212848"/>
            <a:ext cx="2249424" cy="310896"/>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730.5</a:t>
            </a:r>
            <a:endParaRPr lang="en-US" sz="1050" dirty="0"/>
          </a:p>
        </p:txBody>
      </p:sp>
      <p:sp>
        <p:nvSpPr>
          <p:cNvPr id="18" name="Text 16"/>
          <p:cNvSpPr/>
          <p:nvPr/>
        </p:nvSpPr>
        <p:spPr>
          <a:xfrm>
            <a:off x="9208008" y="2212848"/>
            <a:ext cx="2240280" cy="310896"/>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1,030.5</a:t>
            </a:r>
            <a:endParaRPr lang="en-US" sz="1050" dirty="0"/>
          </a:p>
        </p:txBody>
      </p:sp>
      <p:sp>
        <p:nvSpPr>
          <p:cNvPr id="19" name="Shape 17"/>
          <p:cNvSpPr/>
          <p:nvPr/>
        </p:nvSpPr>
        <p:spPr>
          <a:xfrm>
            <a:off x="594360" y="2523744"/>
            <a:ext cx="10963656" cy="310896"/>
          </a:xfrm>
          <a:prstGeom prst="rect">
            <a:avLst/>
          </a:prstGeom>
          <a:solidFill>
            <a:srgbClr val="FFFFFF"/>
          </a:solidFill>
          <a:ln w="6350">
            <a:solidFill>
              <a:srgbClr val="E2E0DC"/>
            </a:solidFill>
            <a:prstDash val="solid"/>
          </a:ln>
        </p:spPr>
      </p:sp>
      <p:sp>
        <p:nvSpPr>
          <p:cNvPr id="20" name="Text 18"/>
          <p:cNvSpPr/>
          <p:nvPr/>
        </p:nvSpPr>
        <p:spPr>
          <a:xfrm>
            <a:off x="704088" y="2523744"/>
            <a:ext cx="3438144" cy="310896"/>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　うち 上乗せ案件</a:t>
            </a:r>
            <a:endParaRPr lang="en-US" sz="1050" dirty="0"/>
          </a:p>
        </p:txBody>
      </p:sp>
      <p:sp>
        <p:nvSpPr>
          <p:cNvPr id="21" name="Text 19"/>
          <p:cNvSpPr/>
          <p:nvPr/>
        </p:nvSpPr>
        <p:spPr>
          <a:xfrm>
            <a:off x="4361688" y="2523744"/>
            <a:ext cx="2157984" cy="310896"/>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a:t>
            </a:r>
            <a:endParaRPr lang="en-US" sz="1050" dirty="0"/>
          </a:p>
        </p:txBody>
      </p:sp>
      <p:sp>
        <p:nvSpPr>
          <p:cNvPr id="22" name="Text 20"/>
          <p:cNvSpPr/>
          <p:nvPr/>
        </p:nvSpPr>
        <p:spPr>
          <a:xfrm>
            <a:off x="6739128" y="2523744"/>
            <a:ext cx="2249424" cy="310896"/>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102.5</a:t>
            </a:r>
            <a:endParaRPr lang="en-US" sz="1050" dirty="0"/>
          </a:p>
        </p:txBody>
      </p:sp>
      <p:sp>
        <p:nvSpPr>
          <p:cNvPr id="23" name="Text 21"/>
          <p:cNvSpPr/>
          <p:nvPr/>
        </p:nvSpPr>
        <p:spPr>
          <a:xfrm>
            <a:off x="9208008" y="2523744"/>
            <a:ext cx="2240280" cy="310896"/>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102.5</a:t>
            </a:r>
            <a:endParaRPr lang="en-US" sz="1050" dirty="0"/>
          </a:p>
        </p:txBody>
      </p:sp>
      <p:sp>
        <p:nvSpPr>
          <p:cNvPr id="24" name="Shape 22"/>
          <p:cNvSpPr/>
          <p:nvPr/>
        </p:nvSpPr>
        <p:spPr>
          <a:xfrm>
            <a:off x="594360" y="2834640"/>
            <a:ext cx="10963656" cy="310896"/>
          </a:xfrm>
          <a:prstGeom prst="rect">
            <a:avLst/>
          </a:prstGeom>
          <a:solidFill>
            <a:srgbClr val="FBFAF8"/>
          </a:solidFill>
          <a:ln w="6350">
            <a:solidFill>
              <a:srgbClr val="E2E0DC"/>
            </a:solidFill>
            <a:prstDash val="solid"/>
          </a:ln>
        </p:spPr>
      </p:sp>
      <p:sp>
        <p:nvSpPr>
          <p:cNvPr id="25" name="Text 23"/>
          <p:cNvSpPr/>
          <p:nvPr/>
        </p:nvSpPr>
        <p:spPr>
          <a:xfrm>
            <a:off x="704088" y="2834640"/>
            <a:ext cx="3438144" cy="310896"/>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売上総利益 合計</a:t>
            </a:r>
            <a:endParaRPr lang="en-US" sz="1050" dirty="0"/>
          </a:p>
        </p:txBody>
      </p:sp>
      <p:sp>
        <p:nvSpPr>
          <p:cNvPr id="26" name="Text 24"/>
          <p:cNvSpPr/>
          <p:nvPr/>
        </p:nvSpPr>
        <p:spPr>
          <a:xfrm>
            <a:off x="4361688" y="2834640"/>
            <a:ext cx="2157984" cy="310896"/>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200.6</a:t>
            </a:r>
            <a:endParaRPr lang="en-US" sz="1050" dirty="0"/>
          </a:p>
        </p:txBody>
      </p:sp>
      <p:sp>
        <p:nvSpPr>
          <p:cNvPr id="27" name="Text 25"/>
          <p:cNvSpPr/>
          <p:nvPr/>
        </p:nvSpPr>
        <p:spPr>
          <a:xfrm>
            <a:off x="6739128" y="2834640"/>
            <a:ext cx="2249424" cy="310896"/>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405.5</a:t>
            </a:r>
            <a:endParaRPr lang="en-US" sz="1050" dirty="0"/>
          </a:p>
        </p:txBody>
      </p:sp>
      <p:sp>
        <p:nvSpPr>
          <p:cNvPr id="28" name="Text 26"/>
          <p:cNvSpPr/>
          <p:nvPr/>
        </p:nvSpPr>
        <p:spPr>
          <a:xfrm>
            <a:off x="9208008" y="2834640"/>
            <a:ext cx="2240280" cy="310896"/>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495.5</a:t>
            </a:r>
            <a:endParaRPr lang="en-US" sz="1050" dirty="0"/>
          </a:p>
        </p:txBody>
      </p:sp>
      <p:sp>
        <p:nvSpPr>
          <p:cNvPr id="29" name="Shape 27"/>
          <p:cNvSpPr/>
          <p:nvPr/>
        </p:nvSpPr>
        <p:spPr>
          <a:xfrm>
            <a:off x="594360" y="3145536"/>
            <a:ext cx="10963656" cy="310896"/>
          </a:xfrm>
          <a:prstGeom prst="rect">
            <a:avLst/>
          </a:prstGeom>
          <a:solidFill>
            <a:srgbClr val="FFFFFF"/>
          </a:solidFill>
          <a:ln w="6350">
            <a:solidFill>
              <a:srgbClr val="E2E0DC"/>
            </a:solidFill>
            <a:prstDash val="solid"/>
          </a:ln>
        </p:spPr>
      </p:sp>
      <p:sp>
        <p:nvSpPr>
          <p:cNvPr id="30" name="Text 28"/>
          <p:cNvSpPr/>
          <p:nvPr/>
        </p:nvSpPr>
        <p:spPr>
          <a:xfrm>
            <a:off x="704088" y="3145536"/>
            <a:ext cx="3438144" cy="310896"/>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総合粗利率</a:t>
            </a:r>
            <a:endParaRPr lang="en-US" sz="1050" dirty="0"/>
          </a:p>
        </p:txBody>
      </p:sp>
      <p:sp>
        <p:nvSpPr>
          <p:cNvPr id="31" name="Text 29"/>
          <p:cNvSpPr/>
          <p:nvPr/>
        </p:nvSpPr>
        <p:spPr>
          <a:xfrm>
            <a:off x="4361688" y="3145536"/>
            <a:ext cx="2157984" cy="310896"/>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51.5%</a:t>
            </a:r>
            <a:endParaRPr lang="en-US" sz="1050" dirty="0"/>
          </a:p>
        </p:txBody>
      </p:sp>
      <p:sp>
        <p:nvSpPr>
          <p:cNvPr id="32" name="Text 30"/>
          <p:cNvSpPr/>
          <p:nvPr/>
        </p:nvSpPr>
        <p:spPr>
          <a:xfrm>
            <a:off x="6739128" y="3145536"/>
            <a:ext cx="2249424" cy="310896"/>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48.7%</a:t>
            </a:r>
            <a:endParaRPr lang="en-US" sz="1050" dirty="0"/>
          </a:p>
        </p:txBody>
      </p:sp>
      <p:sp>
        <p:nvSpPr>
          <p:cNvPr id="33" name="Text 31"/>
          <p:cNvSpPr/>
          <p:nvPr/>
        </p:nvSpPr>
        <p:spPr>
          <a:xfrm>
            <a:off x="9208008" y="3145536"/>
            <a:ext cx="2240280" cy="310896"/>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43.7%</a:t>
            </a:r>
            <a:endParaRPr lang="en-US" sz="1050" dirty="0"/>
          </a:p>
        </p:txBody>
      </p:sp>
      <p:sp>
        <p:nvSpPr>
          <p:cNvPr id="34" name="Shape 32"/>
          <p:cNvSpPr/>
          <p:nvPr/>
        </p:nvSpPr>
        <p:spPr>
          <a:xfrm>
            <a:off x="594360" y="3456432"/>
            <a:ext cx="10963656" cy="310896"/>
          </a:xfrm>
          <a:prstGeom prst="rect">
            <a:avLst/>
          </a:prstGeom>
          <a:solidFill>
            <a:srgbClr val="FBFAF8"/>
          </a:solidFill>
          <a:ln w="6350">
            <a:solidFill>
              <a:srgbClr val="E2E0DC"/>
            </a:solidFill>
            <a:prstDash val="solid"/>
          </a:ln>
        </p:spPr>
      </p:sp>
      <p:sp>
        <p:nvSpPr>
          <p:cNvPr id="35" name="Text 33"/>
          <p:cNvSpPr/>
          <p:nvPr/>
        </p:nvSpPr>
        <p:spPr>
          <a:xfrm>
            <a:off x="704088" y="3456432"/>
            <a:ext cx="3438144" cy="310896"/>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販管費</a:t>
            </a:r>
            <a:endParaRPr lang="en-US" sz="1050" dirty="0"/>
          </a:p>
        </p:txBody>
      </p:sp>
      <p:sp>
        <p:nvSpPr>
          <p:cNvPr id="36" name="Text 34"/>
          <p:cNvSpPr/>
          <p:nvPr/>
        </p:nvSpPr>
        <p:spPr>
          <a:xfrm>
            <a:off x="4361688" y="3456432"/>
            <a:ext cx="2157984" cy="310896"/>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300.2</a:t>
            </a:r>
            <a:endParaRPr lang="en-US" sz="1050" dirty="0"/>
          </a:p>
        </p:txBody>
      </p:sp>
      <p:sp>
        <p:nvSpPr>
          <p:cNvPr id="37" name="Text 35"/>
          <p:cNvSpPr/>
          <p:nvPr/>
        </p:nvSpPr>
        <p:spPr>
          <a:xfrm>
            <a:off x="6739128" y="3456432"/>
            <a:ext cx="2249424" cy="310896"/>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300.2</a:t>
            </a:r>
            <a:endParaRPr lang="en-US" sz="1050" dirty="0"/>
          </a:p>
        </p:txBody>
      </p:sp>
      <p:sp>
        <p:nvSpPr>
          <p:cNvPr id="38" name="Text 36"/>
          <p:cNvSpPr/>
          <p:nvPr/>
        </p:nvSpPr>
        <p:spPr>
          <a:xfrm>
            <a:off x="9208008" y="3456432"/>
            <a:ext cx="2240280" cy="310896"/>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300.2</a:t>
            </a:r>
            <a:endParaRPr lang="en-US" sz="1050" dirty="0"/>
          </a:p>
        </p:txBody>
      </p:sp>
      <p:sp>
        <p:nvSpPr>
          <p:cNvPr id="39" name="Shape 37"/>
          <p:cNvSpPr/>
          <p:nvPr/>
        </p:nvSpPr>
        <p:spPr>
          <a:xfrm>
            <a:off x="594360" y="3767328"/>
            <a:ext cx="10963656" cy="310896"/>
          </a:xfrm>
          <a:prstGeom prst="rect">
            <a:avLst/>
          </a:prstGeom>
          <a:solidFill>
            <a:srgbClr val="FAF3E2"/>
          </a:solidFill>
          <a:ln w="6350">
            <a:solidFill>
              <a:srgbClr val="E2E0DC"/>
            </a:solidFill>
            <a:prstDash val="solid"/>
          </a:ln>
        </p:spPr>
      </p:sp>
      <p:sp>
        <p:nvSpPr>
          <p:cNvPr id="40" name="Text 38"/>
          <p:cNvSpPr/>
          <p:nvPr/>
        </p:nvSpPr>
        <p:spPr>
          <a:xfrm>
            <a:off x="704088" y="3767328"/>
            <a:ext cx="3438144" cy="310896"/>
          </a:xfrm>
          <a:prstGeom prst="rect">
            <a:avLst/>
          </a:prstGeom>
          <a:noFill/>
          <a:ln/>
        </p:spPr>
        <p:txBody>
          <a:bodyPr wrap="square" lIns="0" tIns="0" rIns="0" bIns="0" rtlCol="0" anchor="ctr"/>
          <a:lstStyle/>
          <a:p>
            <a:pPr algn="l" indent="0" marL="0">
              <a:buNone/>
            </a:pPr>
            <a:r>
              <a:rPr lang="en-US" sz="1050" b="1" dirty="0">
                <a:solidFill>
                  <a:srgbClr val="1A1A1A"/>
                </a:solidFill>
                <a:latin typeface="メイリオ" pitchFamily="34" charset="0"/>
                <a:ea typeface="メイリオ" pitchFamily="34" charset="-122"/>
                <a:cs typeface="メイリオ" pitchFamily="34" charset="-120"/>
              </a:rPr>
              <a:t>営業利益</a:t>
            </a:r>
            <a:endParaRPr lang="en-US" sz="1050" dirty="0"/>
          </a:p>
        </p:txBody>
      </p:sp>
      <p:sp>
        <p:nvSpPr>
          <p:cNvPr id="41" name="Text 39"/>
          <p:cNvSpPr/>
          <p:nvPr/>
        </p:nvSpPr>
        <p:spPr>
          <a:xfrm>
            <a:off x="4361688" y="3767328"/>
            <a:ext cx="2157984" cy="310896"/>
          </a:xfrm>
          <a:prstGeom prst="rect">
            <a:avLst/>
          </a:prstGeom>
          <a:noFill/>
          <a:ln/>
        </p:spPr>
        <p:txBody>
          <a:bodyPr wrap="square" lIns="0" tIns="0" rIns="0" bIns="0" rtlCol="0" anchor="ctr"/>
          <a:lstStyle/>
          <a:p>
            <a:pPr algn="r" indent="0" marL="0">
              <a:buNone/>
            </a:pPr>
            <a:r>
              <a:rPr lang="en-US" sz="1050" b="1" dirty="0">
                <a:solidFill>
                  <a:srgbClr val="6E6E6E"/>
                </a:solidFill>
                <a:latin typeface="メイリオ" pitchFamily="34" charset="0"/>
                <a:ea typeface="メイリオ" pitchFamily="34" charset="-122"/>
                <a:cs typeface="メイリオ" pitchFamily="34" charset="-120"/>
              </a:rPr>
              <a:t>▲99.6</a:t>
            </a:r>
            <a:endParaRPr lang="en-US" sz="1050" dirty="0"/>
          </a:p>
        </p:txBody>
      </p:sp>
      <p:sp>
        <p:nvSpPr>
          <p:cNvPr id="42" name="Text 40"/>
          <p:cNvSpPr/>
          <p:nvPr/>
        </p:nvSpPr>
        <p:spPr>
          <a:xfrm>
            <a:off x="6739128" y="3767328"/>
            <a:ext cx="2249424" cy="310896"/>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＋105.4</a:t>
            </a:r>
            <a:endParaRPr lang="en-US" sz="1050" dirty="0"/>
          </a:p>
        </p:txBody>
      </p:sp>
      <p:sp>
        <p:nvSpPr>
          <p:cNvPr id="43" name="Text 41"/>
          <p:cNvSpPr/>
          <p:nvPr/>
        </p:nvSpPr>
        <p:spPr>
          <a:xfrm>
            <a:off x="9208008" y="3767328"/>
            <a:ext cx="2240280" cy="310896"/>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＋195.4</a:t>
            </a:r>
            <a:endParaRPr lang="en-US" sz="1050" dirty="0"/>
          </a:p>
        </p:txBody>
      </p:sp>
      <p:sp>
        <p:nvSpPr>
          <p:cNvPr id="44" name="Shape 42"/>
          <p:cNvSpPr/>
          <p:nvPr/>
        </p:nvSpPr>
        <p:spPr>
          <a:xfrm>
            <a:off x="594360" y="4078224"/>
            <a:ext cx="10963656" cy="310896"/>
          </a:xfrm>
          <a:prstGeom prst="rect">
            <a:avLst/>
          </a:prstGeom>
          <a:solidFill>
            <a:srgbClr val="FAF3E2"/>
          </a:solidFill>
          <a:ln w="6350">
            <a:solidFill>
              <a:srgbClr val="E2E0DC"/>
            </a:solidFill>
            <a:prstDash val="solid"/>
          </a:ln>
        </p:spPr>
      </p:sp>
      <p:sp>
        <p:nvSpPr>
          <p:cNvPr id="45" name="Text 43"/>
          <p:cNvSpPr/>
          <p:nvPr/>
        </p:nvSpPr>
        <p:spPr>
          <a:xfrm>
            <a:off x="704088" y="4078224"/>
            <a:ext cx="3438144" cy="310896"/>
          </a:xfrm>
          <a:prstGeom prst="rect">
            <a:avLst/>
          </a:prstGeom>
          <a:noFill/>
          <a:ln/>
        </p:spPr>
        <p:txBody>
          <a:bodyPr wrap="square" lIns="0" tIns="0" rIns="0" bIns="0" rtlCol="0" anchor="ctr"/>
          <a:lstStyle/>
          <a:p>
            <a:pPr algn="l" indent="0" marL="0">
              <a:buNone/>
            </a:pPr>
            <a:r>
              <a:rPr lang="en-US" sz="1050" b="1" dirty="0">
                <a:solidFill>
                  <a:srgbClr val="1A1A1A"/>
                </a:solidFill>
                <a:latin typeface="メイリオ" pitchFamily="34" charset="0"/>
                <a:ea typeface="メイリオ" pitchFamily="34" charset="-122"/>
                <a:cs typeface="メイリオ" pitchFamily="34" charset="-120"/>
              </a:rPr>
              <a:t>経常利益</a:t>
            </a:r>
            <a:endParaRPr lang="en-US" sz="1050" dirty="0"/>
          </a:p>
        </p:txBody>
      </p:sp>
      <p:sp>
        <p:nvSpPr>
          <p:cNvPr id="46" name="Text 44"/>
          <p:cNvSpPr/>
          <p:nvPr/>
        </p:nvSpPr>
        <p:spPr>
          <a:xfrm>
            <a:off x="4361688" y="4078224"/>
            <a:ext cx="2157984" cy="310896"/>
          </a:xfrm>
          <a:prstGeom prst="rect">
            <a:avLst/>
          </a:prstGeom>
          <a:noFill/>
          <a:ln/>
        </p:spPr>
        <p:txBody>
          <a:bodyPr wrap="square" lIns="0" tIns="0" rIns="0" bIns="0" rtlCol="0" anchor="ctr"/>
          <a:lstStyle/>
          <a:p>
            <a:pPr algn="r" indent="0" marL="0">
              <a:buNone/>
            </a:pPr>
            <a:r>
              <a:rPr lang="en-US" sz="1050" b="1" dirty="0">
                <a:solidFill>
                  <a:srgbClr val="6E6E6E"/>
                </a:solidFill>
                <a:latin typeface="メイリオ" pitchFamily="34" charset="0"/>
                <a:ea typeface="メイリオ" pitchFamily="34" charset="-122"/>
                <a:cs typeface="メイリオ" pitchFamily="34" charset="-120"/>
              </a:rPr>
              <a:t>▲114.6</a:t>
            </a:r>
            <a:endParaRPr lang="en-US" sz="1050" dirty="0"/>
          </a:p>
        </p:txBody>
      </p:sp>
      <p:sp>
        <p:nvSpPr>
          <p:cNvPr id="47" name="Text 45"/>
          <p:cNvSpPr/>
          <p:nvPr/>
        </p:nvSpPr>
        <p:spPr>
          <a:xfrm>
            <a:off x="6739128" y="4078224"/>
            <a:ext cx="2249424" cy="310896"/>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＋90.4</a:t>
            </a:r>
            <a:endParaRPr lang="en-US" sz="1050" dirty="0"/>
          </a:p>
        </p:txBody>
      </p:sp>
      <p:sp>
        <p:nvSpPr>
          <p:cNvPr id="48" name="Text 46"/>
          <p:cNvSpPr/>
          <p:nvPr/>
        </p:nvSpPr>
        <p:spPr>
          <a:xfrm>
            <a:off x="9208008" y="4078224"/>
            <a:ext cx="2240280" cy="310896"/>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＋180.4</a:t>
            </a:r>
            <a:endParaRPr lang="en-US" sz="1050" dirty="0"/>
          </a:p>
        </p:txBody>
      </p:sp>
      <p:sp>
        <p:nvSpPr>
          <p:cNvPr id="49" name="Shape 47"/>
          <p:cNvSpPr/>
          <p:nvPr/>
        </p:nvSpPr>
        <p:spPr>
          <a:xfrm>
            <a:off x="594360" y="4389120"/>
            <a:ext cx="10963656" cy="310896"/>
          </a:xfrm>
          <a:prstGeom prst="rect">
            <a:avLst/>
          </a:prstGeom>
          <a:solidFill>
            <a:srgbClr val="FAF3E2"/>
          </a:solidFill>
          <a:ln w="6350">
            <a:solidFill>
              <a:srgbClr val="E2E0DC"/>
            </a:solidFill>
            <a:prstDash val="solid"/>
          </a:ln>
        </p:spPr>
      </p:sp>
      <p:sp>
        <p:nvSpPr>
          <p:cNvPr id="50" name="Text 48"/>
          <p:cNvSpPr/>
          <p:nvPr/>
        </p:nvSpPr>
        <p:spPr>
          <a:xfrm>
            <a:off x="704088" y="4389120"/>
            <a:ext cx="3438144" cy="310896"/>
          </a:xfrm>
          <a:prstGeom prst="rect">
            <a:avLst/>
          </a:prstGeom>
          <a:noFill/>
          <a:ln/>
        </p:spPr>
        <p:txBody>
          <a:bodyPr wrap="square" lIns="0" tIns="0" rIns="0" bIns="0" rtlCol="0" anchor="ctr"/>
          <a:lstStyle/>
          <a:p>
            <a:pPr algn="l" indent="0" marL="0">
              <a:buNone/>
            </a:pPr>
            <a:r>
              <a:rPr lang="en-US" sz="1050" b="1" dirty="0">
                <a:solidFill>
                  <a:srgbClr val="1A1A1A"/>
                </a:solidFill>
                <a:latin typeface="メイリオ" pitchFamily="34" charset="0"/>
                <a:ea typeface="メイリオ" pitchFamily="34" charset="-122"/>
                <a:cs typeface="メイリオ" pitchFamily="34" charset="-120"/>
              </a:rPr>
              <a:t>当期純利益</a:t>
            </a:r>
            <a:endParaRPr lang="en-US" sz="1050" dirty="0"/>
          </a:p>
        </p:txBody>
      </p:sp>
      <p:sp>
        <p:nvSpPr>
          <p:cNvPr id="51" name="Text 49"/>
          <p:cNvSpPr/>
          <p:nvPr/>
        </p:nvSpPr>
        <p:spPr>
          <a:xfrm>
            <a:off x="4361688" y="4389120"/>
            <a:ext cx="2157984" cy="310896"/>
          </a:xfrm>
          <a:prstGeom prst="rect">
            <a:avLst/>
          </a:prstGeom>
          <a:noFill/>
          <a:ln/>
        </p:spPr>
        <p:txBody>
          <a:bodyPr wrap="square" lIns="0" tIns="0" rIns="0" bIns="0" rtlCol="0" anchor="ctr"/>
          <a:lstStyle/>
          <a:p>
            <a:pPr algn="r" indent="0" marL="0">
              <a:buNone/>
            </a:pPr>
            <a:r>
              <a:rPr lang="en-US" sz="1050" b="1" dirty="0">
                <a:solidFill>
                  <a:srgbClr val="6E6E6E"/>
                </a:solidFill>
                <a:latin typeface="メイリオ" pitchFamily="34" charset="0"/>
                <a:ea typeface="メイリオ" pitchFamily="34" charset="-122"/>
                <a:cs typeface="メイリオ" pitchFamily="34" charset="-120"/>
              </a:rPr>
              <a:t>▲114.6</a:t>
            </a:r>
            <a:endParaRPr lang="en-US" sz="1050" dirty="0"/>
          </a:p>
        </p:txBody>
      </p:sp>
      <p:sp>
        <p:nvSpPr>
          <p:cNvPr id="52" name="Text 50"/>
          <p:cNvSpPr/>
          <p:nvPr/>
        </p:nvSpPr>
        <p:spPr>
          <a:xfrm>
            <a:off x="6739128" y="4389120"/>
            <a:ext cx="2249424" cy="310896"/>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＋90.4</a:t>
            </a:r>
            <a:endParaRPr lang="en-US" sz="1050" dirty="0"/>
          </a:p>
        </p:txBody>
      </p:sp>
      <p:sp>
        <p:nvSpPr>
          <p:cNvPr id="53" name="Text 51"/>
          <p:cNvSpPr/>
          <p:nvPr/>
        </p:nvSpPr>
        <p:spPr>
          <a:xfrm>
            <a:off x="9208008" y="4389120"/>
            <a:ext cx="2240280" cy="310896"/>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＋169.1</a:t>
            </a:r>
            <a:endParaRPr lang="en-US" sz="1050" dirty="0"/>
          </a:p>
        </p:txBody>
      </p:sp>
      <p:sp>
        <p:nvSpPr>
          <p:cNvPr id="54" name="Shape 52"/>
          <p:cNvSpPr/>
          <p:nvPr/>
        </p:nvSpPr>
        <p:spPr>
          <a:xfrm>
            <a:off x="594360" y="4700016"/>
            <a:ext cx="10963656" cy="310896"/>
          </a:xfrm>
          <a:prstGeom prst="rect">
            <a:avLst/>
          </a:prstGeom>
          <a:solidFill>
            <a:srgbClr val="FAF3E2"/>
          </a:solidFill>
          <a:ln w="6350">
            <a:solidFill>
              <a:srgbClr val="E2E0DC"/>
            </a:solidFill>
            <a:prstDash val="solid"/>
          </a:ln>
        </p:spPr>
      </p:sp>
      <p:sp>
        <p:nvSpPr>
          <p:cNvPr id="55" name="Text 53"/>
          <p:cNvSpPr/>
          <p:nvPr/>
        </p:nvSpPr>
        <p:spPr>
          <a:xfrm>
            <a:off x="704088" y="4700016"/>
            <a:ext cx="3438144" cy="310896"/>
          </a:xfrm>
          <a:prstGeom prst="rect">
            <a:avLst/>
          </a:prstGeom>
          <a:noFill/>
          <a:ln/>
        </p:spPr>
        <p:txBody>
          <a:bodyPr wrap="square" lIns="0" tIns="0" rIns="0" bIns="0" rtlCol="0" anchor="ctr"/>
          <a:lstStyle/>
          <a:p>
            <a:pPr algn="l" indent="0" marL="0">
              <a:buNone/>
            </a:pPr>
            <a:r>
              <a:rPr lang="en-US" sz="1050" b="1" dirty="0">
                <a:solidFill>
                  <a:srgbClr val="1A1A1A"/>
                </a:solidFill>
                <a:latin typeface="メイリオ" pitchFamily="34" charset="0"/>
                <a:ea typeface="メイリオ" pitchFamily="34" charset="-122"/>
                <a:cs typeface="メイリオ" pitchFamily="34" charset="-120"/>
              </a:rPr>
              <a:t>期中 最低現預金</a:t>
            </a:r>
            <a:endParaRPr lang="en-US" sz="1050" dirty="0"/>
          </a:p>
        </p:txBody>
      </p:sp>
      <p:sp>
        <p:nvSpPr>
          <p:cNvPr id="56" name="Text 54"/>
          <p:cNvSpPr/>
          <p:nvPr/>
        </p:nvSpPr>
        <p:spPr>
          <a:xfrm>
            <a:off x="4361688" y="4700016"/>
            <a:ext cx="2157984" cy="310896"/>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a:t>
            </a:r>
            <a:endParaRPr lang="en-US" sz="1050" dirty="0"/>
          </a:p>
        </p:txBody>
      </p:sp>
      <p:sp>
        <p:nvSpPr>
          <p:cNvPr id="57" name="Text 55"/>
          <p:cNvSpPr/>
          <p:nvPr/>
        </p:nvSpPr>
        <p:spPr>
          <a:xfrm>
            <a:off x="6739128" y="4700016"/>
            <a:ext cx="2249424" cy="310896"/>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＋34.2</a:t>
            </a:r>
            <a:endParaRPr lang="en-US" sz="1050" dirty="0"/>
          </a:p>
        </p:txBody>
      </p:sp>
      <p:sp>
        <p:nvSpPr>
          <p:cNvPr id="58" name="Text 56"/>
          <p:cNvSpPr/>
          <p:nvPr/>
        </p:nvSpPr>
        <p:spPr>
          <a:xfrm>
            <a:off x="9208008" y="4700016"/>
            <a:ext cx="2240280" cy="310896"/>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＋364.2</a:t>
            </a:r>
            <a:endParaRPr lang="en-US" sz="1050" dirty="0"/>
          </a:p>
        </p:txBody>
      </p:sp>
      <p:sp>
        <p:nvSpPr>
          <p:cNvPr id="59" name="Shape 57"/>
          <p:cNvSpPr/>
          <p:nvPr/>
        </p:nvSpPr>
        <p:spPr>
          <a:xfrm>
            <a:off x="594360" y="5102352"/>
            <a:ext cx="5349240" cy="1170432"/>
          </a:xfrm>
          <a:prstGeom prst="roundRect">
            <a:avLst>
              <a:gd name="adj" fmla="val 3906"/>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60" name="Text 58"/>
          <p:cNvSpPr/>
          <p:nvPr/>
        </p:nvSpPr>
        <p:spPr>
          <a:xfrm>
            <a:off x="868680" y="5230368"/>
            <a:ext cx="4800600" cy="274320"/>
          </a:xfrm>
          <a:prstGeom prst="rect">
            <a:avLst/>
          </a:prstGeom>
          <a:noFill/>
          <a:ln/>
        </p:spPr>
        <p:txBody>
          <a:bodyPr wrap="square" lIns="0" tIns="0" rIns="0" bIns="0" rtlCol="0" anchor="ctr"/>
          <a:lstStyle/>
          <a:p>
            <a:pPr indent="0" marL="0">
              <a:buNone/>
            </a:pPr>
            <a:r>
              <a:rPr lang="en-US" sz="1100" b="1" dirty="0">
                <a:solidFill>
                  <a:srgbClr val="A98442"/>
                </a:solidFill>
                <a:latin typeface="メイリオ" pitchFamily="34" charset="0"/>
                <a:ea typeface="メイリオ" pitchFamily="34" charset="-122"/>
                <a:cs typeface="メイリオ" pitchFamily="34" charset="-120"/>
              </a:rPr>
              <a:t>D は過去2期の実績そのもの</a:t>
            </a:r>
            <a:endParaRPr lang="en-US" sz="1100" dirty="0"/>
          </a:p>
        </p:txBody>
      </p:sp>
      <p:sp>
        <p:nvSpPr>
          <p:cNvPr id="61" name="Text 59"/>
          <p:cNvSpPr/>
          <p:nvPr/>
        </p:nvSpPr>
        <p:spPr>
          <a:xfrm>
            <a:off x="868680" y="5504688"/>
            <a:ext cx="4800600" cy="713232"/>
          </a:xfrm>
          <a:prstGeom prst="rect">
            <a:avLst/>
          </a:prstGeom>
          <a:noFill/>
          <a:ln/>
        </p:spPr>
        <p:txBody>
          <a:bodyPr wrap="square" lIns="0" tIns="0" rIns="0" bIns="0" rtlCol="0" anchor="t"/>
          <a:lstStyle/>
          <a:p>
            <a:pPr indent="0" marL="0">
              <a:buNone/>
            </a:pPr>
            <a:r>
              <a:rPr lang="en-US" sz="1000" dirty="0">
                <a:solidFill>
                  <a:srgbClr val="FFFFFF"/>
                </a:solidFill>
                <a:latin typeface="メイリオ" pitchFamily="34" charset="0"/>
                <a:ea typeface="メイリオ" pitchFamily="34" charset="-122"/>
                <a:cs typeface="メイリオ" pitchFamily="34" charset="-120"/>
              </a:rPr>
              <a:t>既存事業730.5百万円は前期・今期の売上平均（私募を除いた実力値ベース）。ここに上乗せ案件102.5百万円を外数で加算しています。</a:t>
            </a:r>
            <a:endParaRPr lang="en-US" sz="1000" dirty="0"/>
          </a:p>
        </p:txBody>
      </p:sp>
      <p:sp>
        <p:nvSpPr>
          <p:cNvPr id="62" name="Shape 60"/>
          <p:cNvSpPr/>
          <p:nvPr/>
        </p:nvSpPr>
        <p:spPr>
          <a:xfrm>
            <a:off x="6217920" y="5102352"/>
            <a:ext cx="5349240" cy="1170432"/>
          </a:xfrm>
          <a:prstGeom prst="roundRect">
            <a:avLst>
              <a:gd name="adj" fmla="val 3906"/>
            </a:avLst>
          </a:prstGeom>
          <a:solidFill>
            <a:srgbClr val="FAF3E2"/>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63" name="Text 61"/>
          <p:cNvSpPr/>
          <p:nvPr/>
        </p:nvSpPr>
        <p:spPr>
          <a:xfrm>
            <a:off x="6492240" y="5230368"/>
            <a:ext cx="4800600" cy="274320"/>
          </a:xfrm>
          <a:prstGeom prst="rect">
            <a:avLst/>
          </a:prstGeom>
          <a:noFill/>
          <a:ln/>
        </p:spPr>
        <p:txBody>
          <a:bodyPr wrap="square" lIns="0" tIns="0" rIns="0" bIns="0" rtlCol="0" anchor="ctr"/>
          <a:lstStyle/>
          <a:p>
            <a:pPr indent="0" marL="0">
              <a:buNone/>
            </a:pPr>
            <a:r>
              <a:rPr lang="en-US" sz="1100" b="1" dirty="0">
                <a:solidFill>
                  <a:srgbClr val="1A1A1A"/>
                </a:solidFill>
                <a:latin typeface="メイリオ" pitchFamily="34" charset="0"/>
                <a:ea typeface="メイリオ" pitchFamily="34" charset="-122"/>
                <a:cs typeface="メイリオ" pitchFamily="34" charset="-120"/>
              </a:rPr>
              <a:t>E は私募＋オークションの上積み</a:t>
            </a:r>
            <a:endParaRPr lang="en-US" sz="1100" dirty="0"/>
          </a:p>
        </p:txBody>
      </p:sp>
      <p:sp>
        <p:nvSpPr>
          <p:cNvPr id="64" name="Text 62"/>
          <p:cNvSpPr/>
          <p:nvPr/>
        </p:nvSpPr>
        <p:spPr>
          <a:xfrm>
            <a:off x="6492240" y="5504688"/>
            <a:ext cx="4800600" cy="713232"/>
          </a:xfrm>
          <a:prstGeom prst="rect">
            <a:avLst/>
          </a:prstGeom>
          <a:noFill/>
          <a:ln/>
        </p:spPr>
        <p:txBody>
          <a:bodyPr wrap="square" lIns="0" tIns="0" rIns="0" bIns="0" rtlCol="0" anchor="t"/>
          <a:lstStyle/>
          <a:p>
            <a:pPr indent="0" marL="0">
              <a:buNone/>
            </a:pPr>
            <a:r>
              <a:rPr lang="en-US" sz="1000" dirty="0">
                <a:solidFill>
                  <a:srgbClr val="1A1A1A"/>
                </a:solidFill>
                <a:latin typeface="メイリオ" pitchFamily="34" charset="0"/>
                <a:ea typeface="メイリオ" pitchFamily="34" charset="-122"/>
                <a:cs typeface="メイリオ" pitchFamily="34" charset="-120"/>
              </a:rPr>
              <a:t>追加売上300百万円・粗利率30%。FY2026に私募2本で実際に組成した規模と同水準を、来期の主軸として置き直したものです。</a:t>
            </a:r>
            <a:endParaRPr lang="en-US" sz="1000" dirty="0"/>
          </a:p>
        </p:txBody>
      </p:sp>
      <p:sp>
        <p:nvSpPr>
          <p:cNvPr id="65" name="Text 63"/>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期首現預金30百万円（2026/09末のみずほ銀行200百万円返済後）を前提。Eは繰越欠損金（FY2026末147.2百万円）を超える所得に法人税11.3百万円が生じます。</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ワイン在庫は成長の源泉 － 仕入は落としません</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仕入を絞ると生産者からの割当が戻らず、2〜3年先の成長を失います。</a:t>
            </a:r>
            <a:endParaRPr lang="en-US" sz="1250" dirty="0"/>
          </a:p>
        </p:txBody>
      </p:sp>
      <p:sp>
        <p:nvSpPr>
          <p:cNvPr id="4" name="Shape 2"/>
          <p:cNvSpPr/>
          <p:nvPr/>
        </p:nvSpPr>
        <p:spPr>
          <a:xfrm>
            <a:off x="594360" y="1481328"/>
            <a:ext cx="5349240" cy="2377440"/>
          </a:xfrm>
          <a:prstGeom prst="roundRect">
            <a:avLst>
              <a:gd name="adj" fmla="val 1923"/>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5" name="Text 3"/>
          <p:cNvSpPr/>
          <p:nvPr/>
        </p:nvSpPr>
        <p:spPr>
          <a:xfrm>
            <a:off x="914400" y="1664208"/>
            <a:ext cx="3657600" cy="310896"/>
          </a:xfrm>
          <a:prstGeom prst="rect">
            <a:avLst/>
          </a:prstGeom>
          <a:noFill/>
          <a:ln/>
        </p:spPr>
        <p:txBody>
          <a:bodyPr wrap="square" lIns="0" tIns="0" rIns="0" bIns="0" rtlCol="0" anchor="ctr"/>
          <a:lstStyle/>
          <a:p>
            <a:pPr indent="0" marL="0">
              <a:buNone/>
            </a:pPr>
            <a:r>
              <a:rPr lang="en-US" sz="1200" b="1" dirty="0">
                <a:solidFill>
                  <a:srgbClr val="1A1A1A"/>
                </a:solidFill>
                <a:latin typeface="メイリオ" pitchFamily="34" charset="0"/>
                <a:ea typeface="メイリオ" pitchFamily="34" charset="-122"/>
                <a:cs typeface="メイリオ" pitchFamily="34" charset="-120"/>
              </a:rPr>
              <a:t>自社在庫（簿価）の推移</a:t>
            </a:r>
            <a:endParaRPr lang="en-US" sz="1200" dirty="0"/>
          </a:p>
        </p:txBody>
      </p:sp>
      <p:sp>
        <p:nvSpPr>
          <p:cNvPr id="6" name="Text 4"/>
          <p:cNvSpPr/>
          <p:nvPr/>
        </p:nvSpPr>
        <p:spPr>
          <a:xfrm>
            <a:off x="4572000" y="1682496"/>
            <a:ext cx="1188720" cy="237744"/>
          </a:xfrm>
          <a:prstGeom prst="rect">
            <a:avLst/>
          </a:prstGeom>
          <a:noFill/>
          <a:ln/>
        </p:spPr>
        <p:txBody>
          <a:bodyPr wrap="square" lIns="0" tIns="0" rIns="0" bIns="0" rtlCol="0" anchor="ctr"/>
          <a:lstStyle/>
          <a:p>
            <a:pPr algn="r" indent="0" marL="0">
              <a:buNone/>
            </a:pPr>
            <a:r>
              <a:rPr lang="en-US" sz="850" dirty="0">
                <a:solidFill>
                  <a:srgbClr val="8C8C8C"/>
                </a:solidFill>
                <a:latin typeface="メイリオ" pitchFamily="34" charset="0"/>
                <a:ea typeface="メイリオ" pitchFamily="34" charset="-122"/>
                <a:cs typeface="メイリオ" pitchFamily="34" charset="-120"/>
              </a:rPr>
              <a:t>単位：億円</a:t>
            </a:r>
            <a:endParaRPr lang="en-US" sz="850" dirty="0"/>
          </a:p>
        </p:txBody>
      </p:sp>
      <p:sp>
        <p:nvSpPr>
          <p:cNvPr id="7" name="Shape 5"/>
          <p:cNvSpPr/>
          <p:nvPr/>
        </p:nvSpPr>
        <p:spPr>
          <a:xfrm>
            <a:off x="914400" y="2374345"/>
            <a:ext cx="621792" cy="1118663"/>
          </a:xfrm>
          <a:prstGeom prst="rect">
            <a:avLst/>
          </a:prstGeom>
          <a:solidFill>
            <a:srgbClr val="D6D4D0"/>
          </a:solidFill>
          <a:ln/>
        </p:spPr>
      </p:sp>
      <p:sp>
        <p:nvSpPr>
          <p:cNvPr id="8" name="Text 6"/>
          <p:cNvSpPr/>
          <p:nvPr/>
        </p:nvSpPr>
        <p:spPr>
          <a:xfrm>
            <a:off x="822960" y="2100025"/>
            <a:ext cx="804672" cy="256032"/>
          </a:xfrm>
          <a:prstGeom prst="rect">
            <a:avLst/>
          </a:prstGeom>
          <a:noFill/>
          <a:ln/>
        </p:spPr>
        <p:txBody>
          <a:bodyPr wrap="square" lIns="0" tIns="0" rIns="0" bIns="0" rtlCol="0" anchor="ctr"/>
          <a:lstStyle/>
          <a:p>
            <a:pPr algn="ctr" indent="0" marL="0">
              <a:buNone/>
            </a:pPr>
            <a:r>
              <a:rPr lang="en-US" sz="1000" b="1" dirty="0">
                <a:solidFill>
                  <a:srgbClr val="1A1A1A"/>
                </a:solidFill>
                <a:latin typeface="メイリオ" pitchFamily="34" charset="0"/>
                <a:ea typeface="メイリオ" pitchFamily="34" charset="-122"/>
                <a:cs typeface="メイリオ" pitchFamily="34" charset="-120"/>
              </a:rPr>
              <a:t>5.6</a:t>
            </a:r>
            <a:endParaRPr lang="en-US" sz="1000" dirty="0"/>
          </a:p>
        </p:txBody>
      </p:sp>
      <p:sp>
        <p:nvSpPr>
          <p:cNvPr id="9" name="Text 7"/>
          <p:cNvSpPr/>
          <p:nvPr/>
        </p:nvSpPr>
        <p:spPr>
          <a:xfrm>
            <a:off x="786384" y="3529584"/>
            <a:ext cx="877824" cy="237744"/>
          </a:xfrm>
          <a:prstGeom prst="rect">
            <a:avLst/>
          </a:prstGeom>
          <a:noFill/>
          <a:ln/>
        </p:spPr>
        <p:txBody>
          <a:bodyPr wrap="square" lIns="0" tIns="0" rIns="0" bIns="0" rtlCol="0" anchor="ctr"/>
          <a:lstStyle/>
          <a:p>
            <a:pPr algn="ctr" indent="0" marL="0">
              <a:buNone/>
            </a:pPr>
            <a:r>
              <a:rPr lang="en-US" sz="850" dirty="0">
                <a:solidFill>
                  <a:srgbClr val="8C8C8C"/>
                </a:solidFill>
                <a:latin typeface="メイリオ" pitchFamily="34" charset="0"/>
                <a:ea typeface="メイリオ" pitchFamily="34" charset="-122"/>
                <a:cs typeface="メイリオ" pitchFamily="34" charset="-120"/>
              </a:rPr>
              <a:t>24/12末</a:t>
            </a:r>
            <a:endParaRPr lang="en-US" sz="850" dirty="0"/>
          </a:p>
        </p:txBody>
      </p:sp>
      <p:sp>
        <p:nvSpPr>
          <p:cNvPr id="10" name="Shape 8"/>
          <p:cNvSpPr/>
          <p:nvPr/>
        </p:nvSpPr>
        <p:spPr>
          <a:xfrm>
            <a:off x="1874520" y="2554130"/>
            <a:ext cx="621792" cy="938878"/>
          </a:xfrm>
          <a:prstGeom prst="rect">
            <a:avLst/>
          </a:prstGeom>
          <a:solidFill>
            <a:srgbClr val="D6D4D0"/>
          </a:solidFill>
          <a:ln/>
        </p:spPr>
      </p:sp>
      <p:sp>
        <p:nvSpPr>
          <p:cNvPr id="11" name="Text 9"/>
          <p:cNvSpPr/>
          <p:nvPr/>
        </p:nvSpPr>
        <p:spPr>
          <a:xfrm>
            <a:off x="1783080" y="2279810"/>
            <a:ext cx="804672" cy="256032"/>
          </a:xfrm>
          <a:prstGeom prst="rect">
            <a:avLst/>
          </a:prstGeom>
          <a:noFill/>
          <a:ln/>
        </p:spPr>
        <p:txBody>
          <a:bodyPr wrap="square" lIns="0" tIns="0" rIns="0" bIns="0" rtlCol="0" anchor="ctr"/>
          <a:lstStyle/>
          <a:p>
            <a:pPr algn="ctr" indent="0" marL="0">
              <a:buNone/>
            </a:pPr>
            <a:r>
              <a:rPr lang="en-US" sz="1000" b="1" dirty="0">
                <a:solidFill>
                  <a:srgbClr val="1A1A1A"/>
                </a:solidFill>
                <a:latin typeface="メイリオ" pitchFamily="34" charset="0"/>
                <a:ea typeface="メイリオ" pitchFamily="34" charset="-122"/>
                <a:cs typeface="メイリオ" pitchFamily="34" charset="-120"/>
              </a:rPr>
              <a:t>4.7</a:t>
            </a:r>
            <a:endParaRPr lang="en-US" sz="1000" dirty="0"/>
          </a:p>
        </p:txBody>
      </p:sp>
      <p:sp>
        <p:nvSpPr>
          <p:cNvPr id="12" name="Text 10"/>
          <p:cNvSpPr/>
          <p:nvPr/>
        </p:nvSpPr>
        <p:spPr>
          <a:xfrm>
            <a:off x="1746504" y="3529584"/>
            <a:ext cx="877824" cy="237744"/>
          </a:xfrm>
          <a:prstGeom prst="rect">
            <a:avLst/>
          </a:prstGeom>
          <a:noFill/>
          <a:ln/>
        </p:spPr>
        <p:txBody>
          <a:bodyPr wrap="square" lIns="0" tIns="0" rIns="0" bIns="0" rtlCol="0" anchor="ctr"/>
          <a:lstStyle/>
          <a:p>
            <a:pPr algn="ctr" indent="0" marL="0">
              <a:buNone/>
            </a:pPr>
            <a:r>
              <a:rPr lang="en-US" sz="850" dirty="0">
                <a:solidFill>
                  <a:srgbClr val="8C8C8C"/>
                </a:solidFill>
                <a:latin typeface="メイリオ" pitchFamily="34" charset="0"/>
                <a:ea typeface="メイリオ" pitchFamily="34" charset="-122"/>
                <a:cs typeface="メイリオ" pitchFamily="34" charset="-120"/>
              </a:rPr>
              <a:t>25/07末</a:t>
            </a:r>
            <a:endParaRPr lang="en-US" sz="850" dirty="0"/>
          </a:p>
        </p:txBody>
      </p:sp>
      <p:sp>
        <p:nvSpPr>
          <p:cNvPr id="13" name="Shape 11"/>
          <p:cNvSpPr/>
          <p:nvPr/>
        </p:nvSpPr>
        <p:spPr>
          <a:xfrm>
            <a:off x="2834640" y="2534154"/>
            <a:ext cx="621792" cy="958854"/>
          </a:xfrm>
          <a:prstGeom prst="rect">
            <a:avLst/>
          </a:prstGeom>
          <a:solidFill>
            <a:srgbClr val="1A1A1A"/>
          </a:solidFill>
          <a:ln/>
        </p:spPr>
      </p:sp>
      <p:sp>
        <p:nvSpPr>
          <p:cNvPr id="14" name="Text 12"/>
          <p:cNvSpPr/>
          <p:nvPr/>
        </p:nvSpPr>
        <p:spPr>
          <a:xfrm>
            <a:off x="2743200" y="2259834"/>
            <a:ext cx="804672" cy="256032"/>
          </a:xfrm>
          <a:prstGeom prst="rect">
            <a:avLst/>
          </a:prstGeom>
          <a:noFill/>
          <a:ln/>
        </p:spPr>
        <p:txBody>
          <a:bodyPr wrap="square" lIns="0" tIns="0" rIns="0" bIns="0" rtlCol="0" anchor="ctr"/>
          <a:lstStyle/>
          <a:p>
            <a:pPr algn="ctr" indent="0" marL="0">
              <a:buNone/>
            </a:pPr>
            <a:r>
              <a:rPr lang="en-US" sz="1000" b="1" dirty="0">
                <a:solidFill>
                  <a:srgbClr val="1A1A1A"/>
                </a:solidFill>
                <a:latin typeface="メイリオ" pitchFamily="34" charset="0"/>
                <a:ea typeface="メイリオ" pitchFamily="34" charset="-122"/>
                <a:cs typeface="メイリオ" pitchFamily="34" charset="-120"/>
              </a:rPr>
              <a:t>4.8</a:t>
            </a:r>
            <a:endParaRPr lang="en-US" sz="1000" dirty="0"/>
          </a:p>
        </p:txBody>
      </p:sp>
      <p:sp>
        <p:nvSpPr>
          <p:cNvPr id="15" name="Text 13"/>
          <p:cNvSpPr/>
          <p:nvPr/>
        </p:nvSpPr>
        <p:spPr>
          <a:xfrm>
            <a:off x="2706624" y="3529584"/>
            <a:ext cx="877824" cy="237744"/>
          </a:xfrm>
          <a:prstGeom prst="rect">
            <a:avLst/>
          </a:prstGeom>
          <a:noFill/>
          <a:ln/>
        </p:spPr>
        <p:txBody>
          <a:bodyPr wrap="square" lIns="0" tIns="0" rIns="0" bIns="0" rtlCol="0" anchor="ctr"/>
          <a:lstStyle/>
          <a:p>
            <a:pPr algn="ctr" indent="0" marL="0">
              <a:buNone/>
            </a:pPr>
            <a:r>
              <a:rPr lang="en-US" sz="850" dirty="0">
                <a:solidFill>
                  <a:srgbClr val="8C8C8C"/>
                </a:solidFill>
                <a:latin typeface="メイリオ" pitchFamily="34" charset="0"/>
                <a:ea typeface="メイリオ" pitchFamily="34" charset="-122"/>
                <a:cs typeface="メイリオ" pitchFamily="34" charset="-120"/>
              </a:rPr>
              <a:t>25/09末</a:t>
            </a:r>
            <a:endParaRPr lang="en-US" sz="850" dirty="0"/>
          </a:p>
        </p:txBody>
      </p:sp>
      <p:sp>
        <p:nvSpPr>
          <p:cNvPr id="16" name="Shape 14"/>
          <p:cNvSpPr/>
          <p:nvPr/>
        </p:nvSpPr>
        <p:spPr>
          <a:xfrm>
            <a:off x="3794760" y="2434273"/>
            <a:ext cx="621792" cy="1058735"/>
          </a:xfrm>
          <a:prstGeom prst="rect">
            <a:avLst/>
          </a:prstGeom>
          <a:solidFill>
            <a:srgbClr val="1A1A1A"/>
          </a:solidFill>
          <a:ln/>
        </p:spPr>
      </p:sp>
      <p:sp>
        <p:nvSpPr>
          <p:cNvPr id="17" name="Text 15"/>
          <p:cNvSpPr/>
          <p:nvPr/>
        </p:nvSpPr>
        <p:spPr>
          <a:xfrm>
            <a:off x="3703320" y="2159953"/>
            <a:ext cx="804672" cy="256032"/>
          </a:xfrm>
          <a:prstGeom prst="rect">
            <a:avLst/>
          </a:prstGeom>
          <a:noFill/>
          <a:ln/>
        </p:spPr>
        <p:txBody>
          <a:bodyPr wrap="square" lIns="0" tIns="0" rIns="0" bIns="0" rtlCol="0" anchor="ctr"/>
          <a:lstStyle/>
          <a:p>
            <a:pPr algn="ctr" indent="0" marL="0">
              <a:buNone/>
            </a:pPr>
            <a:r>
              <a:rPr lang="en-US" sz="1000" b="1" dirty="0">
                <a:solidFill>
                  <a:srgbClr val="1A1A1A"/>
                </a:solidFill>
                <a:latin typeface="メイリオ" pitchFamily="34" charset="0"/>
                <a:ea typeface="メイリオ" pitchFamily="34" charset="-122"/>
                <a:cs typeface="メイリオ" pitchFamily="34" charset="-120"/>
              </a:rPr>
              <a:t>5.3</a:t>
            </a:r>
            <a:endParaRPr lang="en-US" sz="1000" dirty="0"/>
          </a:p>
        </p:txBody>
      </p:sp>
      <p:sp>
        <p:nvSpPr>
          <p:cNvPr id="18" name="Text 16"/>
          <p:cNvSpPr/>
          <p:nvPr/>
        </p:nvSpPr>
        <p:spPr>
          <a:xfrm>
            <a:off x="3666744" y="3529584"/>
            <a:ext cx="877824" cy="237744"/>
          </a:xfrm>
          <a:prstGeom prst="rect">
            <a:avLst/>
          </a:prstGeom>
          <a:noFill/>
          <a:ln/>
        </p:spPr>
        <p:txBody>
          <a:bodyPr wrap="square" lIns="0" tIns="0" rIns="0" bIns="0" rtlCol="0" anchor="ctr"/>
          <a:lstStyle/>
          <a:p>
            <a:pPr algn="ctr" indent="0" marL="0">
              <a:buNone/>
            </a:pPr>
            <a:r>
              <a:rPr lang="en-US" sz="850" dirty="0">
                <a:solidFill>
                  <a:srgbClr val="8C8C8C"/>
                </a:solidFill>
                <a:latin typeface="メイリオ" pitchFamily="34" charset="0"/>
                <a:ea typeface="メイリオ" pitchFamily="34" charset="-122"/>
                <a:cs typeface="メイリオ" pitchFamily="34" charset="-120"/>
              </a:rPr>
              <a:t>25/12末</a:t>
            </a:r>
            <a:endParaRPr lang="en-US" sz="850" dirty="0"/>
          </a:p>
        </p:txBody>
      </p:sp>
      <p:sp>
        <p:nvSpPr>
          <p:cNvPr id="19" name="Shape 17"/>
          <p:cNvSpPr/>
          <p:nvPr/>
        </p:nvSpPr>
        <p:spPr>
          <a:xfrm>
            <a:off x="4754880" y="2254488"/>
            <a:ext cx="621792" cy="1238520"/>
          </a:xfrm>
          <a:prstGeom prst="rect">
            <a:avLst/>
          </a:prstGeom>
          <a:solidFill>
            <a:srgbClr val="1A1A1A"/>
          </a:solidFill>
          <a:ln/>
        </p:spPr>
      </p:sp>
      <p:sp>
        <p:nvSpPr>
          <p:cNvPr id="20" name="Text 18"/>
          <p:cNvSpPr/>
          <p:nvPr/>
        </p:nvSpPr>
        <p:spPr>
          <a:xfrm>
            <a:off x="4663440" y="1980168"/>
            <a:ext cx="804672" cy="256032"/>
          </a:xfrm>
          <a:prstGeom prst="rect">
            <a:avLst/>
          </a:prstGeom>
          <a:noFill/>
          <a:ln/>
        </p:spPr>
        <p:txBody>
          <a:bodyPr wrap="square" lIns="0" tIns="0" rIns="0" bIns="0" rtlCol="0" anchor="ctr"/>
          <a:lstStyle/>
          <a:p>
            <a:pPr algn="ctr" indent="0" marL="0">
              <a:buNone/>
            </a:pPr>
            <a:r>
              <a:rPr lang="en-US" sz="1000" b="1" dirty="0">
                <a:solidFill>
                  <a:srgbClr val="1A1A1A"/>
                </a:solidFill>
                <a:latin typeface="メイリオ" pitchFamily="34" charset="0"/>
                <a:ea typeface="メイリオ" pitchFamily="34" charset="-122"/>
                <a:cs typeface="メイリオ" pitchFamily="34" charset="-120"/>
              </a:rPr>
              <a:t>6.2</a:t>
            </a:r>
            <a:endParaRPr lang="en-US" sz="1000" dirty="0"/>
          </a:p>
        </p:txBody>
      </p:sp>
      <p:sp>
        <p:nvSpPr>
          <p:cNvPr id="21" name="Text 19"/>
          <p:cNvSpPr/>
          <p:nvPr/>
        </p:nvSpPr>
        <p:spPr>
          <a:xfrm>
            <a:off x="4626864" y="3529584"/>
            <a:ext cx="877824" cy="237744"/>
          </a:xfrm>
          <a:prstGeom prst="rect">
            <a:avLst/>
          </a:prstGeom>
          <a:noFill/>
          <a:ln/>
        </p:spPr>
        <p:txBody>
          <a:bodyPr wrap="square" lIns="0" tIns="0" rIns="0" bIns="0" rtlCol="0" anchor="ctr"/>
          <a:lstStyle/>
          <a:p>
            <a:pPr algn="ctr" indent="0" marL="0">
              <a:buNone/>
            </a:pPr>
            <a:r>
              <a:rPr lang="en-US" sz="850" dirty="0">
                <a:solidFill>
                  <a:srgbClr val="8C8C8C"/>
                </a:solidFill>
                <a:latin typeface="メイリオ" pitchFamily="34" charset="0"/>
                <a:ea typeface="メイリオ" pitchFamily="34" charset="-122"/>
                <a:cs typeface="メイリオ" pitchFamily="34" charset="-120"/>
              </a:rPr>
              <a:t>26/03末</a:t>
            </a:r>
            <a:endParaRPr lang="en-US" sz="850" dirty="0"/>
          </a:p>
        </p:txBody>
      </p:sp>
      <p:sp>
        <p:nvSpPr>
          <p:cNvPr id="22" name="Shape 20"/>
          <p:cNvSpPr/>
          <p:nvPr/>
        </p:nvSpPr>
        <p:spPr>
          <a:xfrm>
            <a:off x="6217920" y="1481328"/>
            <a:ext cx="5349240" cy="2377440"/>
          </a:xfrm>
          <a:prstGeom prst="roundRect">
            <a:avLst>
              <a:gd name="adj" fmla="val 1923"/>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3" name="Text 21"/>
          <p:cNvSpPr/>
          <p:nvPr/>
        </p:nvSpPr>
        <p:spPr>
          <a:xfrm>
            <a:off x="6537960" y="1691640"/>
            <a:ext cx="4709160" cy="274320"/>
          </a:xfrm>
          <a:prstGeom prst="rect">
            <a:avLst/>
          </a:prstGeom>
          <a:noFill/>
          <a:ln/>
        </p:spPr>
        <p:txBody>
          <a:bodyPr wrap="square" lIns="0" tIns="0" rIns="0" bIns="0" rtlCol="0" anchor="ctr"/>
          <a:lstStyle/>
          <a:p>
            <a:pPr indent="0" marL="0">
              <a:buNone/>
            </a:pPr>
            <a:r>
              <a:rPr lang="en-US" sz="1100" dirty="0">
                <a:solidFill>
                  <a:srgbClr val="FAF3E2"/>
                </a:solidFill>
                <a:latin typeface="メイリオ" pitchFamily="34" charset="0"/>
                <a:ea typeface="メイリオ" pitchFamily="34" charset="-122"/>
                <a:cs typeface="メイリオ" pitchFamily="34" charset="-120"/>
              </a:rPr>
              <a:t>FY2027の仕入方針</a:t>
            </a:r>
            <a:endParaRPr lang="en-US" sz="1100" dirty="0"/>
          </a:p>
        </p:txBody>
      </p:sp>
      <p:sp>
        <p:nvSpPr>
          <p:cNvPr id="24" name="Text 22"/>
          <p:cNvSpPr/>
          <p:nvPr/>
        </p:nvSpPr>
        <p:spPr>
          <a:xfrm>
            <a:off x="6537960" y="1965960"/>
            <a:ext cx="4709160" cy="640080"/>
          </a:xfrm>
          <a:prstGeom prst="rect">
            <a:avLst/>
          </a:prstGeom>
          <a:noFill/>
          <a:ln/>
        </p:spPr>
        <p:txBody>
          <a:bodyPr wrap="square" lIns="0" tIns="0" rIns="0" bIns="0" rtlCol="0" anchor="ctr"/>
          <a:lstStyle/>
          <a:p>
            <a:pPr indent="0" marL="0">
              <a:buNone/>
            </a:pPr>
            <a:r>
              <a:rPr lang="en-US" sz="3600" b="1" dirty="0">
                <a:solidFill>
                  <a:srgbClr val="FFFFFF"/>
                </a:solidFill>
                <a:latin typeface="メイリオ" pitchFamily="34" charset="0"/>
                <a:ea typeface="メイリオ" pitchFamily="34" charset="-122"/>
                <a:cs typeface="メイリオ" pitchFamily="34" charset="-120"/>
              </a:rPr>
              <a:t>419.1百万円</a:t>
            </a:r>
            <a:endParaRPr lang="en-US" sz="3600" dirty="0"/>
          </a:p>
        </p:txBody>
      </p:sp>
      <p:sp>
        <p:nvSpPr>
          <p:cNvPr id="25" name="Text 23"/>
          <p:cNvSpPr/>
          <p:nvPr/>
        </p:nvSpPr>
        <p:spPr>
          <a:xfrm>
            <a:off x="6537960" y="2651760"/>
            <a:ext cx="4709160" cy="1051560"/>
          </a:xfrm>
          <a:prstGeom prst="rect">
            <a:avLst/>
          </a:prstGeom>
          <a:noFill/>
          <a:ln/>
        </p:spPr>
        <p:txBody>
          <a:bodyPr wrap="square" lIns="0" tIns="0" rIns="0" bIns="0" rtlCol="0" anchor="t"/>
          <a:lstStyle/>
          <a:p>
            <a:pPr indent="0" marL="0">
              <a:buNone/>
            </a:pPr>
            <a:r>
              <a:rPr lang="en-US" sz="1150" dirty="0">
                <a:solidFill>
                  <a:srgbClr val="FAF3E2"/>
                </a:solidFill>
                <a:latin typeface="メイリオ" pitchFamily="34" charset="0"/>
                <a:ea typeface="メイリオ" pitchFamily="34" charset="-122"/>
                <a:cs typeface="メイリオ" pitchFamily="34" charset="-120"/>
              </a:rPr>
              <a:t>FY2026と同水準を維持。仕入を絞ると優良銘柄の割当が減り、一度失った枠を戻すには数年を要します。目先の資金のために将来の成長を削らない、という判断です。</a:t>
            </a:r>
            <a:endParaRPr lang="en-US" sz="1150" dirty="0"/>
          </a:p>
        </p:txBody>
      </p:sp>
      <p:sp>
        <p:nvSpPr>
          <p:cNvPr id="26" name="Shape 24"/>
          <p:cNvSpPr/>
          <p:nvPr/>
        </p:nvSpPr>
        <p:spPr>
          <a:xfrm>
            <a:off x="594360" y="4069080"/>
            <a:ext cx="2606040" cy="1051560"/>
          </a:xfrm>
          <a:prstGeom prst="roundRect">
            <a:avLst>
              <a:gd name="adj" fmla="val 434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7" name="Text 25"/>
          <p:cNvSpPr/>
          <p:nvPr/>
        </p:nvSpPr>
        <p:spPr>
          <a:xfrm>
            <a:off x="777240" y="4206240"/>
            <a:ext cx="2240280" cy="274320"/>
          </a:xfrm>
          <a:prstGeom prst="rect">
            <a:avLst/>
          </a:prstGeom>
          <a:noFill/>
          <a:ln/>
        </p:spPr>
        <p:txBody>
          <a:bodyPr wrap="square" lIns="0" tIns="0" rIns="0" bIns="0" rtlCol="0" anchor="ctr"/>
          <a:lstStyle/>
          <a:p>
            <a:pPr indent="0" marL="0">
              <a:buNone/>
            </a:pPr>
            <a:r>
              <a:rPr lang="en-US" sz="950" dirty="0">
                <a:solidFill>
                  <a:srgbClr val="8C8C8C"/>
                </a:solidFill>
                <a:latin typeface="メイリオ" pitchFamily="34" charset="0"/>
                <a:ea typeface="メイリオ" pitchFamily="34" charset="-122"/>
                <a:cs typeface="メイリオ" pitchFamily="34" charset="-120"/>
              </a:rPr>
              <a:t>期首在庫（2026/09末）</a:t>
            </a:r>
            <a:endParaRPr lang="en-US" sz="950" dirty="0"/>
          </a:p>
        </p:txBody>
      </p:sp>
      <p:sp>
        <p:nvSpPr>
          <p:cNvPr id="28" name="Text 26"/>
          <p:cNvSpPr/>
          <p:nvPr/>
        </p:nvSpPr>
        <p:spPr>
          <a:xfrm>
            <a:off x="777240" y="4498848"/>
            <a:ext cx="2240280" cy="457200"/>
          </a:xfrm>
          <a:prstGeom prst="rect">
            <a:avLst/>
          </a:prstGeom>
          <a:noFill/>
          <a:ln/>
        </p:spPr>
        <p:txBody>
          <a:bodyPr wrap="square" lIns="0" tIns="0" rIns="0" bIns="0" rtlCol="0" anchor="ctr"/>
          <a:lstStyle/>
          <a:p>
            <a:pPr indent="0" marL="0">
              <a:buNone/>
            </a:pPr>
            <a:r>
              <a:rPr lang="en-US" sz="1800" b="1" dirty="0">
                <a:solidFill>
                  <a:srgbClr val="1A1A1A"/>
                </a:solidFill>
                <a:latin typeface="メイリオ" pitchFamily="34" charset="0"/>
                <a:ea typeface="メイリオ" pitchFamily="34" charset="-122"/>
                <a:cs typeface="メイリオ" pitchFamily="34" charset="-120"/>
              </a:rPr>
              <a:t>420.0百万円</a:t>
            </a:r>
            <a:endParaRPr lang="en-US" sz="1800" dirty="0"/>
          </a:p>
        </p:txBody>
      </p:sp>
      <p:sp>
        <p:nvSpPr>
          <p:cNvPr id="29" name="Shape 27"/>
          <p:cNvSpPr/>
          <p:nvPr/>
        </p:nvSpPr>
        <p:spPr>
          <a:xfrm>
            <a:off x="3419856" y="4069080"/>
            <a:ext cx="2606040" cy="1051560"/>
          </a:xfrm>
          <a:prstGeom prst="roundRect">
            <a:avLst>
              <a:gd name="adj" fmla="val 434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30" name="Text 28"/>
          <p:cNvSpPr/>
          <p:nvPr/>
        </p:nvSpPr>
        <p:spPr>
          <a:xfrm>
            <a:off x="3602736" y="4206240"/>
            <a:ext cx="2240280" cy="274320"/>
          </a:xfrm>
          <a:prstGeom prst="rect">
            <a:avLst/>
          </a:prstGeom>
          <a:noFill/>
          <a:ln/>
        </p:spPr>
        <p:txBody>
          <a:bodyPr wrap="square" lIns="0" tIns="0" rIns="0" bIns="0" rtlCol="0" anchor="ctr"/>
          <a:lstStyle/>
          <a:p>
            <a:pPr indent="0" marL="0">
              <a:buNone/>
            </a:pPr>
            <a:r>
              <a:rPr lang="en-US" sz="950" dirty="0">
                <a:solidFill>
                  <a:srgbClr val="8C8C8C"/>
                </a:solidFill>
                <a:latin typeface="メイリオ" pitchFamily="34" charset="0"/>
                <a:ea typeface="メイリオ" pitchFamily="34" charset="-122"/>
                <a:cs typeface="メイリオ" pitchFamily="34" charset="-120"/>
              </a:rPr>
              <a:t>FY2027 仕入</a:t>
            </a:r>
            <a:endParaRPr lang="en-US" sz="950" dirty="0"/>
          </a:p>
        </p:txBody>
      </p:sp>
      <p:sp>
        <p:nvSpPr>
          <p:cNvPr id="31" name="Text 29"/>
          <p:cNvSpPr/>
          <p:nvPr/>
        </p:nvSpPr>
        <p:spPr>
          <a:xfrm>
            <a:off x="3602736" y="4498848"/>
            <a:ext cx="2240280" cy="457200"/>
          </a:xfrm>
          <a:prstGeom prst="rect">
            <a:avLst/>
          </a:prstGeom>
          <a:noFill/>
          <a:ln/>
        </p:spPr>
        <p:txBody>
          <a:bodyPr wrap="square" lIns="0" tIns="0" rIns="0" bIns="0" rtlCol="0" anchor="ctr"/>
          <a:lstStyle/>
          <a:p>
            <a:pPr indent="0" marL="0">
              <a:buNone/>
            </a:pPr>
            <a:r>
              <a:rPr lang="en-US" sz="1800" b="1" dirty="0">
                <a:solidFill>
                  <a:srgbClr val="1A1A1A"/>
                </a:solidFill>
                <a:latin typeface="メイリオ" pitchFamily="34" charset="0"/>
                <a:ea typeface="メイリオ" pitchFamily="34" charset="-122"/>
                <a:cs typeface="メイリオ" pitchFamily="34" charset="-120"/>
              </a:rPr>
              <a:t>419.1百万円</a:t>
            </a:r>
            <a:endParaRPr lang="en-US" sz="1800" dirty="0"/>
          </a:p>
        </p:txBody>
      </p:sp>
      <p:sp>
        <p:nvSpPr>
          <p:cNvPr id="32" name="Shape 30"/>
          <p:cNvSpPr/>
          <p:nvPr/>
        </p:nvSpPr>
        <p:spPr>
          <a:xfrm>
            <a:off x="6245352" y="4069080"/>
            <a:ext cx="2606040" cy="1051560"/>
          </a:xfrm>
          <a:prstGeom prst="roundRect">
            <a:avLst>
              <a:gd name="adj" fmla="val 434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33" name="Text 31"/>
          <p:cNvSpPr/>
          <p:nvPr/>
        </p:nvSpPr>
        <p:spPr>
          <a:xfrm>
            <a:off x="6428232" y="4206240"/>
            <a:ext cx="2240280" cy="274320"/>
          </a:xfrm>
          <a:prstGeom prst="rect">
            <a:avLst/>
          </a:prstGeom>
          <a:noFill/>
          <a:ln/>
        </p:spPr>
        <p:txBody>
          <a:bodyPr wrap="square" lIns="0" tIns="0" rIns="0" bIns="0" rtlCol="0" anchor="ctr"/>
          <a:lstStyle/>
          <a:p>
            <a:pPr indent="0" marL="0">
              <a:buNone/>
            </a:pPr>
            <a:r>
              <a:rPr lang="en-US" sz="950" dirty="0">
                <a:solidFill>
                  <a:srgbClr val="8C8C8C"/>
                </a:solidFill>
                <a:latin typeface="メイリオ" pitchFamily="34" charset="0"/>
                <a:ea typeface="メイリオ" pitchFamily="34" charset="-122"/>
                <a:cs typeface="メイリオ" pitchFamily="34" charset="-120"/>
              </a:rPr>
              <a:t>FY2027 売上原価（出庫）</a:t>
            </a:r>
            <a:endParaRPr lang="en-US" sz="950" dirty="0"/>
          </a:p>
        </p:txBody>
      </p:sp>
      <p:sp>
        <p:nvSpPr>
          <p:cNvPr id="34" name="Text 32"/>
          <p:cNvSpPr/>
          <p:nvPr/>
        </p:nvSpPr>
        <p:spPr>
          <a:xfrm>
            <a:off x="6428232" y="4498848"/>
            <a:ext cx="2240280" cy="457200"/>
          </a:xfrm>
          <a:prstGeom prst="rect">
            <a:avLst/>
          </a:prstGeom>
          <a:noFill/>
          <a:ln/>
        </p:spPr>
        <p:txBody>
          <a:bodyPr wrap="square" lIns="0" tIns="0" rIns="0" bIns="0" rtlCol="0" anchor="ctr"/>
          <a:lstStyle/>
          <a:p>
            <a:pPr indent="0" marL="0">
              <a:buNone/>
            </a:pPr>
            <a:r>
              <a:rPr lang="en-US" sz="1800" b="1" dirty="0">
                <a:solidFill>
                  <a:srgbClr val="1A1A1A"/>
                </a:solidFill>
                <a:latin typeface="メイリオ" pitchFamily="34" charset="0"/>
                <a:ea typeface="メイリオ" pitchFamily="34" charset="-122"/>
                <a:cs typeface="メイリオ" pitchFamily="34" charset="-120"/>
              </a:rPr>
              <a:t>427.5百万円</a:t>
            </a:r>
            <a:endParaRPr lang="en-US" sz="1800" dirty="0"/>
          </a:p>
        </p:txBody>
      </p:sp>
      <p:sp>
        <p:nvSpPr>
          <p:cNvPr id="35" name="Shape 33"/>
          <p:cNvSpPr/>
          <p:nvPr/>
        </p:nvSpPr>
        <p:spPr>
          <a:xfrm>
            <a:off x="9070848" y="4069080"/>
            <a:ext cx="2606040" cy="1051560"/>
          </a:xfrm>
          <a:prstGeom prst="roundRect">
            <a:avLst>
              <a:gd name="adj" fmla="val 434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36" name="Text 34"/>
          <p:cNvSpPr/>
          <p:nvPr/>
        </p:nvSpPr>
        <p:spPr>
          <a:xfrm>
            <a:off x="9253728" y="4206240"/>
            <a:ext cx="2240280" cy="274320"/>
          </a:xfrm>
          <a:prstGeom prst="rect">
            <a:avLst/>
          </a:prstGeom>
          <a:noFill/>
          <a:ln/>
        </p:spPr>
        <p:txBody>
          <a:bodyPr wrap="square" lIns="0" tIns="0" rIns="0" bIns="0" rtlCol="0" anchor="ctr"/>
          <a:lstStyle/>
          <a:p>
            <a:pPr indent="0" marL="0">
              <a:buNone/>
            </a:pPr>
            <a:r>
              <a:rPr lang="en-US" sz="950" dirty="0">
                <a:solidFill>
                  <a:srgbClr val="8C8C8C"/>
                </a:solidFill>
                <a:latin typeface="メイリオ" pitchFamily="34" charset="0"/>
                <a:ea typeface="メイリオ" pitchFamily="34" charset="-122"/>
                <a:cs typeface="メイリオ" pitchFamily="34" charset="-120"/>
              </a:rPr>
              <a:t>期末在庫</a:t>
            </a:r>
            <a:endParaRPr lang="en-US" sz="950" dirty="0"/>
          </a:p>
        </p:txBody>
      </p:sp>
      <p:sp>
        <p:nvSpPr>
          <p:cNvPr id="37" name="Text 35"/>
          <p:cNvSpPr/>
          <p:nvPr/>
        </p:nvSpPr>
        <p:spPr>
          <a:xfrm>
            <a:off x="9253728" y="4498848"/>
            <a:ext cx="2240280" cy="457200"/>
          </a:xfrm>
          <a:prstGeom prst="rect">
            <a:avLst/>
          </a:prstGeom>
          <a:noFill/>
          <a:ln/>
        </p:spPr>
        <p:txBody>
          <a:bodyPr wrap="square" lIns="0" tIns="0" rIns="0" bIns="0" rtlCol="0" anchor="ctr"/>
          <a:lstStyle/>
          <a:p>
            <a:pPr indent="0" marL="0">
              <a:buNone/>
            </a:pPr>
            <a:r>
              <a:rPr lang="en-US" sz="1800" b="1" dirty="0">
                <a:solidFill>
                  <a:srgbClr val="A98442"/>
                </a:solidFill>
                <a:latin typeface="メイリオ" pitchFamily="34" charset="0"/>
                <a:ea typeface="メイリオ" pitchFamily="34" charset="-122"/>
                <a:cs typeface="メイリオ" pitchFamily="34" charset="-120"/>
              </a:rPr>
              <a:t>411.6百万円</a:t>
            </a:r>
            <a:endParaRPr lang="en-US" sz="1800" dirty="0"/>
          </a:p>
        </p:txBody>
      </p:sp>
      <p:sp>
        <p:nvSpPr>
          <p:cNvPr id="38" name="Shape 36"/>
          <p:cNvSpPr/>
          <p:nvPr/>
        </p:nvSpPr>
        <p:spPr>
          <a:xfrm>
            <a:off x="594360" y="5349240"/>
            <a:ext cx="10963656" cy="731520"/>
          </a:xfrm>
          <a:prstGeom prst="roundRect">
            <a:avLst>
              <a:gd name="adj" fmla="val 6250"/>
            </a:avLst>
          </a:prstGeom>
          <a:solidFill>
            <a:srgbClr val="FAF3E2"/>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39" name="Text 37"/>
          <p:cNvSpPr/>
          <p:nvPr/>
        </p:nvSpPr>
        <p:spPr>
          <a:xfrm>
            <a:off x="914400" y="5349240"/>
            <a:ext cx="10332720" cy="731520"/>
          </a:xfrm>
          <a:prstGeom prst="rect">
            <a:avLst/>
          </a:prstGeom>
          <a:noFill/>
          <a:ln/>
        </p:spPr>
        <p:txBody>
          <a:bodyPr wrap="square" lIns="0" tIns="0" rIns="0" bIns="0" rtlCol="0" anchor="ctr"/>
          <a:lstStyle/>
          <a:p>
            <a:pPr indent="0" marL="0">
              <a:buNone/>
            </a:pPr>
            <a:r>
              <a:rPr lang="en-US" sz="1200" b="1" dirty="0">
                <a:solidFill>
                  <a:srgbClr val="1A1A1A"/>
                </a:solidFill>
                <a:latin typeface="メイリオ" pitchFamily="34" charset="0"/>
                <a:ea typeface="メイリオ" pitchFamily="34" charset="-122"/>
                <a:cs typeface="メイリオ" pitchFamily="34" charset="-120"/>
              </a:rPr>
              <a:t>プランDでは売上原価427.5百万円が仕入419.1百万円とほぼ見合い、在庫は420.0→411.6百万円と横ばい。仕入を維持しても資金が固定されません。</a:t>
            </a:r>
            <a:endParaRPr lang="en-US" sz="1200" dirty="0"/>
          </a:p>
        </p:txBody>
      </p:sp>
      <p:sp>
        <p:nvSpPr>
          <p:cNvPr id="40" name="Text 38"/>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出典：2026年7月度 取締役会資料「ワイン預かり残高推移KPI」（税抜・簿価）。FY2026仕入額は売上原価479.1百万円＋在庫増減▲60.0百万円から逆算。</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FY2027 月次推移表 － プランD</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既存389.1（51.5%）＋差額341.4（30%）＋上乗せ102.5（原価なし）。単位：百万円</a:t>
            </a:r>
            <a:endParaRPr lang="en-US" sz="1250" dirty="0"/>
          </a:p>
        </p:txBody>
      </p:sp>
      <p:sp>
        <p:nvSpPr>
          <p:cNvPr id="4" name="Shape 2"/>
          <p:cNvSpPr/>
          <p:nvPr/>
        </p:nvSpPr>
        <p:spPr>
          <a:xfrm>
            <a:off x="594360" y="1444752"/>
            <a:ext cx="11658600" cy="384048"/>
          </a:xfrm>
          <a:prstGeom prst="rect">
            <a:avLst/>
          </a:prstGeom>
          <a:solidFill>
            <a:srgbClr val="1A1A1A"/>
          </a:solidFill>
          <a:ln/>
        </p:spPr>
      </p:sp>
      <p:sp>
        <p:nvSpPr>
          <p:cNvPr id="5" name="Text 3"/>
          <p:cNvSpPr/>
          <p:nvPr/>
        </p:nvSpPr>
        <p:spPr>
          <a:xfrm>
            <a:off x="704088" y="1444752"/>
            <a:ext cx="2011680" cy="384048"/>
          </a:xfrm>
          <a:prstGeom prst="rect">
            <a:avLst/>
          </a:prstGeom>
          <a:noFill/>
          <a:ln/>
        </p:spPr>
        <p:txBody>
          <a:bodyPr wrap="square" lIns="0" tIns="0" rIns="0" bIns="0" rtlCol="0" anchor="ctr"/>
          <a:lstStyle/>
          <a:p>
            <a:pPr indent="0" marL="0">
              <a:buNone/>
            </a:pPr>
            <a:r>
              <a:rPr lang="en-US" sz="900" b="1" dirty="0">
                <a:solidFill>
                  <a:srgbClr val="FFFFFF"/>
                </a:solidFill>
                <a:latin typeface="メイリオ" pitchFamily="34" charset="0"/>
                <a:ea typeface="メイリオ" pitchFamily="34" charset="-122"/>
                <a:cs typeface="メイリオ" pitchFamily="34" charset="-120"/>
              </a:rPr>
              <a:t>科目</a:t>
            </a:r>
            <a:endParaRPr lang="en-US" sz="900" dirty="0"/>
          </a:p>
        </p:txBody>
      </p:sp>
      <p:sp>
        <p:nvSpPr>
          <p:cNvPr id="6" name="Text 4"/>
          <p:cNvSpPr/>
          <p:nvPr/>
        </p:nvSpPr>
        <p:spPr>
          <a:xfrm>
            <a:off x="260604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26/10</a:t>
            </a:r>
            <a:endParaRPr lang="en-US" sz="850" dirty="0"/>
          </a:p>
        </p:txBody>
      </p:sp>
      <p:sp>
        <p:nvSpPr>
          <p:cNvPr id="7" name="Text 5"/>
          <p:cNvSpPr/>
          <p:nvPr/>
        </p:nvSpPr>
        <p:spPr>
          <a:xfrm>
            <a:off x="333756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26/11</a:t>
            </a:r>
            <a:endParaRPr lang="en-US" sz="850" dirty="0"/>
          </a:p>
        </p:txBody>
      </p:sp>
      <p:sp>
        <p:nvSpPr>
          <p:cNvPr id="8" name="Text 6"/>
          <p:cNvSpPr/>
          <p:nvPr/>
        </p:nvSpPr>
        <p:spPr>
          <a:xfrm>
            <a:off x="406908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26/12</a:t>
            </a:r>
            <a:endParaRPr lang="en-US" sz="850" dirty="0"/>
          </a:p>
        </p:txBody>
      </p:sp>
      <p:sp>
        <p:nvSpPr>
          <p:cNvPr id="9" name="Text 7"/>
          <p:cNvSpPr/>
          <p:nvPr/>
        </p:nvSpPr>
        <p:spPr>
          <a:xfrm>
            <a:off x="480060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27/01</a:t>
            </a:r>
            <a:endParaRPr lang="en-US" sz="850" dirty="0"/>
          </a:p>
        </p:txBody>
      </p:sp>
      <p:sp>
        <p:nvSpPr>
          <p:cNvPr id="10" name="Text 8"/>
          <p:cNvSpPr/>
          <p:nvPr/>
        </p:nvSpPr>
        <p:spPr>
          <a:xfrm>
            <a:off x="553212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27/02</a:t>
            </a:r>
            <a:endParaRPr lang="en-US" sz="850" dirty="0"/>
          </a:p>
        </p:txBody>
      </p:sp>
      <p:sp>
        <p:nvSpPr>
          <p:cNvPr id="11" name="Text 9"/>
          <p:cNvSpPr/>
          <p:nvPr/>
        </p:nvSpPr>
        <p:spPr>
          <a:xfrm>
            <a:off x="626364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27/03</a:t>
            </a:r>
            <a:endParaRPr lang="en-US" sz="850" dirty="0"/>
          </a:p>
        </p:txBody>
      </p:sp>
      <p:sp>
        <p:nvSpPr>
          <p:cNvPr id="12" name="Text 10"/>
          <p:cNvSpPr/>
          <p:nvPr/>
        </p:nvSpPr>
        <p:spPr>
          <a:xfrm>
            <a:off x="699516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27/04</a:t>
            </a:r>
            <a:endParaRPr lang="en-US" sz="850" dirty="0"/>
          </a:p>
        </p:txBody>
      </p:sp>
      <p:sp>
        <p:nvSpPr>
          <p:cNvPr id="13" name="Text 11"/>
          <p:cNvSpPr/>
          <p:nvPr/>
        </p:nvSpPr>
        <p:spPr>
          <a:xfrm>
            <a:off x="772668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27/05</a:t>
            </a:r>
            <a:endParaRPr lang="en-US" sz="850" dirty="0"/>
          </a:p>
        </p:txBody>
      </p:sp>
      <p:sp>
        <p:nvSpPr>
          <p:cNvPr id="14" name="Text 12"/>
          <p:cNvSpPr/>
          <p:nvPr/>
        </p:nvSpPr>
        <p:spPr>
          <a:xfrm>
            <a:off x="845820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27/06</a:t>
            </a:r>
            <a:endParaRPr lang="en-US" sz="850" dirty="0"/>
          </a:p>
        </p:txBody>
      </p:sp>
      <p:sp>
        <p:nvSpPr>
          <p:cNvPr id="15" name="Text 13"/>
          <p:cNvSpPr/>
          <p:nvPr/>
        </p:nvSpPr>
        <p:spPr>
          <a:xfrm>
            <a:off x="918972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27/07</a:t>
            </a:r>
            <a:endParaRPr lang="en-US" sz="850" dirty="0"/>
          </a:p>
        </p:txBody>
      </p:sp>
      <p:sp>
        <p:nvSpPr>
          <p:cNvPr id="16" name="Text 14"/>
          <p:cNvSpPr/>
          <p:nvPr/>
        </p:nvSpPr>
        <p:spPr>
          <a:xfrm>
            <a:off x="992124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27/08</a:t>
            </a:r>
            <a:endParaRPr lang="en-US" sz="850" dirty="0"/>
          </a:p>
        </p:txBody>
      </p:sp>
      <p:sp>
        <p:nvSpPr>
          <p:cNvPr id="17" name="Text 15"/>
          <p:cNvSpPr/>
          <p:nvPr/>
        </p:nvSpPr>
        <p:spPr>
          <a:xfrm>
            <a:off x="1065276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27/09</a:t>
            </a:r>
            <a:endParaRPr lang="en-US" sz="850" dirty="0"/>
          </a:p>
        </p:txBody>
      </p:sp>
      <p:sp>
        <p:nvSpPr>
          <p:cNvPr id="18" name="Text 16"/>
          <p:cNvSpPr/>
          <p:nvPr/>
        </p:nvSpPr>
        <p:spPr>
          <a:xfrm>
            <a:off x="11384280" y="1444752"/>
            <a:ext cx="86868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メイリオ" pitchFamily="34" charset="0"/>
                <a:ea typeface="メイリオ" pitchFamily="34" charset="-122"/>
                <a:cs typeface="メイリオ" pitchFamily="34" charset="-120"/>
              </a:rPr>
              <a:t>通期</a:t>
            </a:r>
            <a:endParaRPr lang="en-US" sz="900" dirty="0"/>
          </a:p>
        </p:txBody>
      </p:sp>
      <p:sp>
        <p:nvSpPr>
          <p:cNvPr id="19" name="Shape 17"/>
          <p:cNvSpPr/>
          <p:nvPr/>
        </p:nvSpPr>
        <p:spPr>
          <a:xfrm>
            <a:off x="594360" y="1828800"/>
            <a:ext cx="11658600" cy="333756"/>
          </a:xfrm>
          <a:prstGeom prst="rect">
            <a:avLst/>
          </a:prstGeom>
          <a:solidFill>
            <a:srgbClr val="FFFFFF"/>
          </a:solidFill>
          <a:ln w="6350">
            <a:solidFill>
              <a:srgbClr val="E2E0DC"/>
            </a:solidFill>
            <a:prstDash val="solid"/>
          </a:ln>
        </p:spPr>
      </p:sp>
      <p:sp>
        <p:nvSpPr>
          <p:cNvPr id="20" name="Text 18"/>
          <p:cNvSpPr/>
          <p:nvPr/>
        </p:nvSpPr>
        <p:spPr>
          <a:xfrm>
            <a:off x="704088" y="1828800"/>
            <a:ext cx="2011680" cy="333756"/>
          </a:xfrm>
          <a:prstGeom prst="rect">
            <a:avLst/>
          </a:prstGeom>
          <a:noFill/>
          <a:ln/>
        </p:spPr>
        <p:txBody>
          <a:bodyPr wrap="square" lIns="0" tIns="0" rIns="0" bIns="0" rtlCol="0" anchor="ctr"/>
          <a:lstStyle/>
          <a:p>
            <a:pPr indent="0" marL="0">
              <a:buNone/>
            </a:pPr>
            <a:r>
              <a:rPr lang="en-US" sz="900" dirty="0">
                <a:solidFill>
                  <a:srgbClr val="1A1A1A"/>
                </a:solidFill>
                <a:latin typeface="メイリオ" pitchFamily="34" charset="0"/>
                <a:ea typeface="メイリオ" pitchFamily="34" charset="-122"/>
                <a:cs typeface="メイリオ" pitchFamily="34" charset="-120"/>
              </a:rPr>
              <a:t>売上高（既存事業）</a:t>
            </a:r>
            <a:endParaRPr lang="en-US" sz="900" dirty="0"/>
          </a:p>
        </p:txBody>
      </p:sp>
      <p:sp>
        <p:nvSpPr>
          <p:cNvPr id="21" name="Text 19"/>
          <p:cNvSpPr/>
          <p:nvPr/>
        </p:nvSpPr>
        <p:spPr>
          <a:xfrm>
            <a:off x="260604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22" name="Text 20"/>
          <p:cNvSpPr/>
          <p:nvPr/>
        </p:nvSpPr>
        <p:spPr>
          <a:xfrm>
            <a:off x="333756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23" name="Text 21"/>
          <p:cNvSpPr/>
          <p:nvPr/>
        </p:nvSpPr>
        <p:spPr>
          <a:xfrm>
            <a:off x="406908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24" name="Text 22"/>
          <p:cNvSpPr/>
          <p:nvPr/>
        </p:nvSpPr>
        <p:spPr>
          <a:xfrm>
            <a:off x="480060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25" name="Text 23"/>
          <p:cNvSpPr/>
          <p:nvPr/>
        </p:nvSpPr>
        <p:spPr>
          <a:xfrm>
            <a:off x="553212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26" name="Text 24"/>
          <p:cNvSpPr/>
          <p:nvPr/>
        </p:nvSpPr>
        <p:spPr>
          <a:xfrm>
            <a:off x="626364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27" name="Text 25"/>
          <p:cNvSpPr/>
          <p:nvPr/>
        </p:nvSpPr>
        <p:spPr>
          <a:xfrm>
            <a:off x="699516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28" name="Text 26"/>
          <p:cNvSpPr/>
          <p:nvPr/>
        </p:nvSpPr>
        <p:spPr>
          <a:xfrm>
            <a:off x="772668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29" name="Text 27"/>
          <p:cNvSpPr/>
          <p:nvPr/>
        </p:nvSpPr>
        <p:spPr>
          <a:xfrm>
            <a:off x="845820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30" name="Text 28"/>
          <p:cNvSpPr/>
          <p:nvPr/>
        </p:nvSpPr>
        <p:spPr>
          <a:xfrm>
            <a:off x="918972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31" name="Text 29"/>
          <p:cNvSpPr/>
          <p:nvPr/>
        </p:nvSpPr>
        <p:spPr>
          <a:xfrm>
            <a:off x="992124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32" name="Text 30"/>
          <p:cNvSpPr/>
          <p:nvPr/>
        </p:nvSpPr>
        <p:spPr>
          <a:xfrm>
            <a:off x="1065276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33" name="Text 31"/>
          <p:cNvSpPr/>
          <p:nvPr/>
        </p:nvSpPr>
        <p:spPr>
          <a:xfrm>
            <a:off x="11384280" y="1828800"/>
            <a:ext cx="868680" cy="333756"/>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730.5</a:t>
            </a:r>
            <a:endParaRPr lang="en-US" sz="900" dirty="0"/>
          </a:p>
        </p:txBody>
      </p:sp>
      <p:sp>
        <p:nvSpPr>
          <p:cNvPr id="34" name="Shape 32"/>
          <p:cNvSpPr/>
          <p:nvPr/>
        </p:nvSpPr>
        <p:spPr>
          <a:xfrm>
            <a:off x="594360" y="2162556"/>
            <a:ext cx="11658600" cy="333756"/>
          </a:xfrm>
          <a:prstGeom prst="rect">
            <a:avLst/>
          </a:prstGeom>
          <a:solidFill>
            <a:srgbClr val="FBFAF8"/>
          </a:solidFill>
          <a:ln w="6350">
            <a:solidFill>
              <a:srgbClr val="E2E0DC"/>
            </a:solidFill>
            <a:prstDash val="solid"/>
          </a:ln>
        </p:spPr>
      </p:sp>
      <p:sp>
        <p:nvSpPr>
          <p:cNvPr id="35" name="Text 33"/>
          <p:cNvSpPr/>
          <p:nvPr/>
        </p:nvSpPr>
        <p:spPr>
          <a:xfrm>
            <a:off x="704088" y="2162556"/>
            <a:ext cx="2011680" cy="333756"/>
          </a:xfrm>
          <a:prstGeom prst="rect">
            <a:avLst/>
          </a:prstGeom>
          <a:noFill/>
          <a:ln/>
        </p:spPr>
        <p:txBody>
          <a:bodyPr wrap="square" lIns="0" tIns="0" rIns="0" bIns="0" rtlCol="0" anchor="ctr"/>
          <a:lstStyle/>
          <a:p>
            <a:pPr indent="0" marL="0">
              <a:buNone/>
            </a:pPr>
            <a:r>
              <a:rPr lang="en-US" sz="900" dirty="0">
                <a:solidFill>
                  <a:srgbClr val="1A1A1A"/>
                </a:solidFill>
                <a:latin typeface="メイリオ" pitchFamily="34" charset="0"/>
                <a:ea typeface="メイリオ" pitchFamily="34" charset="-122"/>
                <a:cs typeface="メイリオ" pitchFamily="34" charset="-120"/>
              </a:rPr>
              <a:t>売上原価</a:t>
            </a:r>
            <a:endParaRPr lang="en-US" sz="900" dirty="0"/>
          </a:p>
        </p:txBody>
      </p:sp>
      <p:sp>
        <p:nvSpPr>
          <p:cNvPr id="36" name="Text 34"/>
          <p:cNvSpPr/>
          <p:nvPr/>
        </p:nvSpPr>
        <p:spPr>
          <a:xfrm>
            <a:off x="260604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37" name="Text 35"/>
          <p:cNvSpPr/>
          <p:nvPr/>
        </p:nvSpPr>
        <p:spPr>
          <a:xfrm>
            <a:off x="333756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38" name="Text 36"/>
          <p:cNvSpPr/>
          <p:nvPr/>
        </p:nvSpPr>
        <p:spPr>
          <a:xfrm>
            <a:off x="406908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39" name="Text 37"/>
          <p:cNvSpPr/>
          <p:nvPr/>
        </p:nvSpPr>
        <p:spPr>
          <a:xfrm>
            <a:off x="480060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40" name="Text 38"/>
          <p:cNvSpPr/>
          <p:nvPr/>
        </p:nvSpPr>
        <p:spPr>
          <a:xfrm>
            <a:off x="553212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41" name="Text 39"/>
          <p:cNvSpPr/>
          <p:nvPr/>
        </p:nvSpPr>
        <p:spPr>
          <a:xfrm>
            <a:off x="626364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42" name="Text 40"/>
          <p:cNvSpPr/>
          <p:nvPr/>
        </p:nvSpPr>
        <p:spPr>
          <a:xfrm>
            <a:off x="699516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43" name="Text 41"/>
          <p:cNvSpPr/>
          <p:nvPr/>
        </p:nvSpPr>
        <p:spPr>
          <a:xfrm>
            <a:off x="772668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44" name="Text 42"/>
          <p:cNvSpPr/>
          <p:nvPr/>
        </p:nvSpPr>
        <p:spPr>
          <a:xfrm>
            <a:off x="845820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45" name="Text 43"/>
          <p:cNvSpPr/>
          <p:nvPr/>
        </p:nvSpPr>
        <p:spPr>
          <a:xfrm>
            <a:off x="918972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46" name="Text 44"/>
          <p:cNvSpPr/>
          <p:nvPr/>
        </p:nvSpPr>
        <p:spPr>
          <a:xfrm>
            <a:off x="992124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47" name="Text 45"/>
          <p:cNvSpPr/>
          <p:nvPr/>
        </p:nvSpPr>
        <p:spPr>
          <a:xfrm>
            <a:off x="1065276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48" name="Text 46"/>
          <p:cNvSpPr/>
          <p:nvPr/>
        </p:nvSpPr>
        <p:spPr>
          <a:xfrm>
            <a:off x="11384280" y="2162556"/>
            <a:ext cx="868680" cy="333756"/>
          </a:xfrm>
          <a:prstGeom prst="rect">
            <a:avLst/>
          </a:prstGeom>
          <a:noFill/>
          <a:ln/>
        </p:spPr>
        <p:txBody>
          <a:bodyPr wrap="square" lIns="0" tIns="0" rIns="0" bIns="0" rtlCol="0" anchor="ctr"/>
          <a:lstStyle/>
          <a:p>
            <a:pPr algn="ctr" indent="0" marL="0">
              <a:buNone/>
            </a:pPr>
            <a:r>
              <a:rPr lang="en-US" sz="900" b="1" dirty="0">
                <a:solidFill>
                  <a:srgbClr val="6E6E6E"/>
                </a:solidFill>
                <a:latin typeface="メイリオ" pitchFamily="34" charset="0"/>
                <a:ea typeface="メイリオ" pitchFamily="34" charset="-122"/>
                <a:cs typeface="メイリオ" pitchFamily="34" charset="-120"/>
              </a:rPr>
              <a:t>▲427.5</a:t>
            </a:r>
            <a:endParaRPr lang="en-US" sz="900" dirty="0"/>
          </a:p>
        </p:txBody>
      </p:sp>
      <p:sp>
        <p:nvSpPr>
          <p:cNvPr id="49" name="Shape 47"/>
          <p:cNvSpPr/>
          <p:nvPr/>
        </p:nvSpPr>
        <p:spPr>
          <a:xfrm>
            <a:off x="594360" y="2496312"/>
            <a:ext cx="11658600" cy="333756"/>
          </a:xfrm>
          <a:prstGeom prst="rect">
            <a:avLst/>
          </a:prstGeom>
          <a:solidFill>
            <a:srgbClr val="FFFFFF"/>
          </a:solidFill>
          <a:ln w="6350">
            <a:solidFill>
              <a:srgbClr val="E2E0DC"/>
            </a:solidFill>
            <a:prstDash val="solid"/>
          </a:ln>
        </p:spPr>
      </p:sp>
      <p:sp>
        <p:nvSpPr>
          <p:cNvPr id="50" name="Text 48"/>
          <p:cNvSpPr/>
          <p:nvPr/>
        </p:nvSpPr>
        <p:spPr>
          <a:xfrm>
            <a:off x="704088" y="2496312"/>
            <a:ext cx="2011680" cy="333756"/>
          </a:xfrm>
          <a:prstGeom prst="rect">
            <a:avLst/>
          </a:prstGeom>
          <a:noFill/>
          <a:ln/>
        </p:spPr>
        <p:txBody>
          <a:bodyPr wrap="square" lIns="0" tIns="0" rIns="0" bIns="0" rtlCol="0" anchor="ctr"/>
          <a:lstStyle/>
          <a:p>
            <a:pPr indent="0" marL="0">
              <a:buNone/>
            </a:pPr>
            <a:r>
              <a:rPr lang="en-US" sz="900" dirty="0">
                <a:solidFill>
                  <a:srgbClr val="1A1A1A"/>
                </a:solidFill>
                <a:latin typeface="メイリオ" pitchFamily="34" charset="0"/>
                <a:ea typeface="メイリオ" pitchFamily="34" charset="-122"/>
                <a:cs typeface="メイリオ" pitchFamily="34" charset="-120"/>
              </a:rPr>
              <a:t>売上総利益（既存事業）</a:t>
            </a:r>
            <a:endParaRPr lang="en-US" sz="900" dirty="0"/>
          </a:p>
        </p:txBody>
      </p:sp>
      <p:sp>
        <p:nvSpPr>
          <p:cNvPr id="51" name="Text 49"/>
          <p:cNvSpPr/>
          <p:nvPr/>
        </p:nvSpPr>
        <p:spPr>
          <a:xfrm>
            <a:off x="260604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52" name="Text 50"/>
          <p:cNvSpPr/>
          <p:nvPr/>
        </p:nvSpPr>
        <p:spPr>
          <a:xfrm>
            <a:off x="333756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53" name="Text 51"/>
          <p:cNvSpPr/>
          <p:nvPr/>
        </p:nvSpPr>
        <p:spPr>
          <a:xfrm>
            <a:off x="406908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54" name="Text 52"/>
          <p:cNvSpPr/>
          <p:nvPr/>
        </p:nvSpPr>
        <p:spPr>
          <a:xfrm>
            <a:off x="480060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55" name="Text 53"/>
          <p:cNvSpPr/>
          <p:nvPr/>
        </p:nvSpPr>
        <p:spPr>
          <a:xfrm>
            <a:off x="553212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56" name="Text 54"/>
          <p:cNvSpPr/>
          <p:nvPr/>
        </p:nvSpPr>
        <p:spPr>
          <a:xfrm>
            <a:off x="626364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57" name="Text 55"/>
          <p:cNvSpPr/>
          <p:nvPr/>
        </p:nvSpPr>
        <p:spPr>
          <a:xfrm>
            <a:off x="699516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58" name="Text 56"/>
          <p:cNvSpPr/>
          <p:nvPr/>
        </p:nvSpPr>
        <p:spPr>
          <a:xfrm>
            <a:off x="772668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59" name="Text 57"/>
          <p:cNvSpPr/>
          <p:nvPr/>
        </p:nvSpPr>
        <p:spPr>
          <a:xfrm>
            <a:off x="845820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60" name="Text 58"/>
          <p:cNvSpPr/>
          <p:nvPr/>
        </p:nvSpPr>
        <p:spPr>
          <a:xfrm>
            <a:off x="918972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61" name="Text 59"/>
          <p:cNvSpPr/>
          <p:nvPr/>
        </p:nvSpPr>
        <p:spPr>
          <a:xfrm>
            <a:off x="992124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62" name="Text 60"/>
          <p:cNvSpPr/>
          <p:nvPr/>
        </p:nvSpPr>
        <p:spPr>
          <a:xfrm>
            <a:off x="1065276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63" name="Text 61"/>
          <p:cNvSpPr/>
          <p:nvPr/>
        </p:nvSpPr>
        <p:spPr>
          <a:xfrm>
            <a:off x="11384280" y="2496312"/>
            <a:ext cx="868680" cy="333756"/>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303.0</a:t>
            </a:r>
            <a:endParaRPr lang="en-US" sz="900" dirty="0"/>
          </a:p>
        </p:txBody>
      </p:sp>
      <p:sp>
        <p:nvSpPr>
          <p:cNvPr id="64" name="Shape 62"/>
          <p:cNvSpPr/>
          <p:nvPr/>
        </p:nvSpPr>
        <p:spPr>
          <a:xfrm>
            <a:off x="594360" y="2830068"/>
            <a:ext cx="11658600" cy="333756"/>
          </a:xfrm>
          <a:prstGeom prst="rect">
            <a:avLst/>
          </a:prstGeom>
          <a:solidFill>
            <a:srgbClr val="FBFAF8"/>
          </a:solidFill>
          <a:ln w="6350">
            <a:solidFill>
              <a:srgbClr val="E2E0DC"/>
            </a:solidFill>
            <a:prstDash val="solid"/>
          </a:ln>
        </p:spPr>
      </p:sp>
      <p:sp>
        <p:nvSpPr>
          <p:cNvPr id="65" name="Text 63"/>
          <p:cNvSpPr/>
          <p:nvPr/>
        </p:nvSpPr>
        <p:spPr>
          <a:xfrm>
            <a:off x="704088" y="2830068"/>
            <a:ext cx="2011680" cy="333756"/>
          </a:xfrm>
          <a:prstGeom prst="rect">
            <a:avLst/>
          </a:prstGeom>
          <a:noFill/>
          <a:ln/>
        </p:spPr>
        <p:txBody>
          <a:bodyPr wrap="square" lIns="0" tIns="0" rIns="0" bIns="0" rtlCol="0" anchor="ctr"/>
          <a:lstStyle/>
          <a:p>
            <a:pPr indent="0" marL="0">
              <a:buNone/>
            </a:pPr>
            <a:r>
              <a:rPr lang="en-US" sz="900" dirty="0">
                <a:solidFill>
                  <a:srgbClr val="1A1A1A"/>
                </a:solidFill>
                <a:latin typeface="メイリオ" pitchFamily="34" charset="0"/>
                <a:ea typeface="メイリオ" pitchFamily="34" charset="-122"/>
                <a:cs typeface="メイリオ" pitchFamily="34" charset="-120"/>
              </a:rPr>
              <a:t>＋コンサルティング料</a:t>
            </a:r>
            <a:endParaRPr lang="en-US" sz="900" dirty="0"/>
          </a:p>
        </p:txBody>
      </p:sp>
      <p:sp>
        <p:nvSpPr>
          <p:cNvPr id="66" name="Text 64"/>
          <p:cNvSpPr/>
          <p:nvPr/>
        </p:nvSpPr>
        <p:spPr>
          <a:xfrm>
            <a:off x="260604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6.9</a:t>
            </a:r>
            <a:endParaRPr lang="en-US" sz="850" dirty="0"/>
          </a:p>
        </p:txBody>
      </p:sp>
      <p:sp>
        <p:nvSpPr>
          <p:cNvPr id="67" name="Text 65"/>
          <p:cNvSpPr/>
          <p:nvPr/>
        </p:nvSpPr>
        <p:spPr>
          <a:xfrm>
            <a:off x="333756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6.9</a:t>
            </a:r>
            <a:endParaRPr lang="en-US" sz="850" dirty="0"/>
          </a:p>
        </p:txBody>
      </p:sp>
      <p:sp>
        <p:nvSpPr>
          <p:cNvPr id="68" name="Text 66"/>
          <p:cNvSpPr/>
          <p:nvPr/>
        </p:nvSpPr>
        <p:spPr>
          <a:xfrm>
            <a:off x="406908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6.9</a:t>
            </a:r>
            <a:endParaRPr lang="en-US" sz="850" dirty="0"/>
          </a:p>
        </p:txBody>
      </p:sp>
      <p:sp>
        <p:nvSpPr>
          <p:cNvPr id="69" name="Text 67"/>
          <p:cNvSpPr/>
          <p:nvPr/>
        </p:nvSpPr>
        <p:spPr>
          <a:xfrm>
            <a:off x="480060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6.9</a:t>
            </a:r>
            <a:endParaRPr lang="en-US" sz="850" dirty="0"/>
          </a:p>
        </p:txBody>
      </p:sp>
      <p:sp>
        <p:nvSpPr>
          <p:cNvPr id="70" name="Text 68"/>
          <p:cNvSpPr/>
          <p:nvPr/>
        </p:nvSpPr>
        <p:spPr>
          <a:xfrm>
            <a:off x="553212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6.9</a:t>
            </a:r>
            <a:endParaRPr lang="en-US" sz="850" dirty="0"/>
          </a:p>
        </p:txBody>
      </p:sp>
      <p:sp>
        <p:nvSpPr>
          <p:cNvPr id="71" name="Text 69"/>
          <p:cNvSpPr/>
          <p:nvPr/>
        </p:nvSpPr>
        <p:spPr>
          <a:xfrm>
            <a:off x="626364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6.9</a:t>
            </a:r>
            <a:endParaRPr lang="en-US" sz="850" dirty="0"/>
          </a:p>
        </p:txBody>
      </p:sp>
      <p:sp>
        <p:nvSpPr>
          <p:cNvPr id="72" name="Text 70"/>
          <p:cNvSpPr/>
          <p:nvPr/>
        </p:nvSpPr>
        <p:spPr>
          <a:xfrm>
            <a:off x="699516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6.9</a:t>
            </a:r>
            <a:endParaRPr lang="en-US" sz="850" dirty="0"/>
          </a:p>
        </p:txBody>
      </p:sp>
      <p:sp>
        <p:nvSpPr>
          <p:cNvPr id="73" name="Text 71"/>
          <p:cNvSpPr/>
          <p:nvPr/>
        </p:nvSpPr>
        <p:spPr>
          <a:xfrm>
            <a:off x="772668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6.9</a:t>
            </a:r>
            <a:endParaRPr lang="en-US" sz="850" dirty="0"/>
          </a:p>
        </p:txBody>
      </p:sp>
      <p:sp>
        <p:nvSpPr>
          <p:cNvPr id="74" name="Text 72"/>
          <p:cNvSpPr/>
          <p:nvPr/>
        </p:nvSpPr>
        <p:spPr>
          <a:xfrm>
            <a:off x="845820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6.9</a:t>
            </a:r>
            <a:endParaRPr lang="en-US" sz="850" dirty="0"/>
          </a:p>
        </p:txBody>
      </p:sp>
      <p:sp>
        <p:nvSpPr>
          <p:cNvPr id="75" name="Text 73"/>
          <p:cNvSpPr/>
          <p:nvPr/>
        </p:nvSpPr>
        <p:spPr>
          <a:xfrm>
            <a:off x="918972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6.9</a:t>
            </a:r>
            <a:endParaRPr lang="en-US" sz="850" dirty="0"/>
          </a:p>
        </p:txBody>
      </p:sp>
      <p:sp>
        <p:nvSpPr>
          <p:cNvPr id="76" name="Text 74"/>
          <p:cNvSpPr/>
          <p:nvPr/>
        </p:nvSpPr>
        <p:spPr>
          <a:xfrm>
            <a:off x="992124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6.9</a:t>
            </a:r>
            <a:endParaRPr lang="en-US" sz="850" dirty="0"/>
          </a:p>
        </p:txBody>
      </p:sp>
      <p:sp>
        <p:nvSpPr>
          <p:cNvPr id="77" name="Text 75"/>
          <p:cNvSpPr/>
          <p:nvPr/>
        </p:nvSpPr>
        <p:spPr>
          <a:xfrm>
            <a:off x="1065276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6.9</a:t>
            </a:r>
            <a:endParaRPr lang="en-US" sz="850" dirty="0"/>
          </a:p>
        </p:txBody>
      </p:sp>
      <p:sp>
        <p:nvSpPr>
          <p:cNvPr id="78" name="Text 76"/>
          <p:cNvSpPr/>
          <p:nvPr/>
        </p:nvSpPr>
        <p:spPr>
          <a:xfrm>
            <a:off x="11384280" y="2830068"/>
            <a:ext cx="868680" cy="333756"/>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82.5</a:t>
            </a:r>
            <a:endParaRPr lang="en-US" sz="900" dirty="0"/>
          </a:p>
        </p:txBody>
      </p:sp>
      <p:sp>
        <p:nvSpPr>
          <p:cNvPr id="79" name="Shape 77"/>
          <p:cNvSpPr/>
          <p:nvPr/>
        </p:nvSpPr>
        <p:spPr>
          <a:xfrm>
            <a:off x="594360" y="3163824"/>
            <a:ext cx="11658600" cy="333756"/>
          </a:xfrm>
          <a:prstGeom prst="rect">
            <a:avLst/>
          </a:prstGeom>
          <a:solidFill>
            <a:srgbClr val="FFFFFF"/>
          </a:solidFill>
          <a:ln w="6350">
            <a:solidFill>
              <a:srgbClr val="E2E0DC"/>
            </a:solidFill>
            <a:prstDash val="solid"/>
          </a:ln>
        </p:spPr>
      </p:sp>
      <p:sp>
        <p:nvSpPr>
          <p:cNvPr id="80" name="Text 78"/>
          <p:cNvSpPr/>
          <p:nvPr/>
        </p:nvSpPr>
        <p:spPr>
          <a:xfrm>
            <a:off x="704088" y="3163824"/>
            <a:ext cx="2011680" cy="333756"/>
          </a:xfrm>
          <a:prstGeom prst="rect">
            <a:avLst/>
          </a:prstGeom>
          <a:noFill/>
          <a:ln/>
        </p:spPr>
        <p:txBody>
          <a:bodyPr wrap="square" lIns="0" tIns="0" rIns="0" bIns="0" rtlCol="0" anchor="ctr"/>
          <a:lstStyle/>
          <a:p>
            <a:pPr indent="0" marL="0">
              <a:buNone/>
            </a:pPr>
            <a:r>
              <a:rPr lang="en-US" sz="900" dirty="0">
                <a:solidFill>
                  <a:srgbClr val="1A1A1A"/>
                </a:solidFill>
                <a:latin typeface="メイリオ" pitchFamily="34" charset="0"/>
                <a:ea typeface="メイリオ" pitchFamily="34" charset="-122"/>
                <a:cs typeface="メイリオ" pitchFamily="34" charset="-120"/>
              </a:rPr>
              <a:t>＋クルーザー×ワイン事業</a:t>
            </a:r>
            <a:endParaRPr lang="en-US" sz="900" dirty="0"/>
          </a:p>
        </p:txBody>
      </p:sp>
      <p:sp>
        <p:nvSpPr>
          <p:cNvPr id="81" name="Text 79"/>
          <p:cNvSpPr/>
          <p:nvPr/>
        </p:nvSpPr>
        <p:spPr>
          <a:xfrm>
            <a:off x="260604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82" name="Text 80"/>
          <p:cNvSpPr/>
          <p:nvPr/>
        </p:nvSpPr>
        <p:spPr>
          <a:xfrm>
            <a:off x="333756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83" name="Text 81"/>
          <p:cNvSpPr/>
          <p:nvPr/>
        </p:nvSpPr>
        <p:spPr>
          <a:xfrm>
            <a:off x="406908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84" name="Text 82"/>
          <p:cNvSpPr/>
          <p:nvPr/>
        </p:nvSpPr>
        <p:spPr>
          <a:xfrm>
            <a:off x="480060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85" name="Text 83"/>
          <p:cNvSpPr/>
          <p:nvPr/>
        </p:nvSpPr>
        <p:spPr>
          <a:xfrm>
            <a:off x="553212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86" name="Text 84"/>
          <p:cNvSpPr/>
          <p:nvPr/>
        </p:nvSpPr>
        <p:spPr>
          <a:xfrm>
            <a:off x="626364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10.0</a:t>
            </a:r>
            <a:endParaRPr lang="en-US" sz="850" dirty="0"/>
          </a:p>
        </p:txBody>
      </p:sp>
      <p:sp>
        <p:nvSpPr>
          <p:cNvPr id="87" name="Text 85"/>
          <p:cNvSpPr/>
          <p:nvPr/>
        </p:nvSpPr>
        <p:spPr>
          <a:xfrm>
            <a:off x="699516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88" name="Text 86"/>
          <p:cNvSpPr/>
          <p:nvPr/>
        </p:nvSpPr>
        <p:spPr>
          <a:xfrm>
            <a:off x="772668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89" name="Text 87"/>
          <p:cNvSpPr/>
          <p:nvPr/>
        </p:nvSpPr>
        <p:spPr>
          <a:xfrm>
            <a:off x="845820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90" name="Text 88"/>
          <p:cNvSpPr/>
          <p:nvPr/>
        </p:nvSpPr>
        <p:spPr>
          <a:xfrm>
            <a:off x="918972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91" name="Text 89"/>
          <p:cNvSpPr/>
          <p:nvPr/>
        </p:nvSpPr>
        <p:spPr>
          <a:xfrm>
            <a:off x="992124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92" name="Text 90"/>
          <p:cNvSpPr/>
          <p:nvPr/>
        </p:nvSpPr>
        <p:spPr>
          <a:xfrm>
            <a:off x="1065276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10.0</a:t>
            </a:r>
            <a:endParaRPr lang="en-US" sz="850" dirty="0"/>
          </a:p>
        </p:txBody>
      </p:sp>
      <p:sp>
        <p:nvSpPr>
          <p:cNvPr id="93" name="Text 91"/>
          <p:cNvSpPr/>
          <p:nvPr/>
        </p:nvSpPr>
        <p:spPr>
          <a:xfrm>
            <a:off x="11384280" y="3163824"/>
            <a:ext cx="868680" cy="333756"/>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20.0</a:t>
            </a:r>
            <a:endParaRPr lang="en-US" sz="900" dirty="0"/>
          </a:p>
        </p:txBody>
      </p:sp>
      <p:sp>
        <p:nvSpPr>
          <p:cNvPr id="94" name="Shape 92"/>
          <p:cNvSpPr/>
          <p:nvPr/>
        </p:nvSpPr>
        <p:spPr>
          <a:xfrm>
            <a:off x="594360" y="3497580"/>
            <a:ext cx="11658600" cy="333756"/>
          </a:xfrm>
          <a:prstGeom prst="rect">
            <a:avLst/>
          </a:prstGeom>
          <a:solidFill>
            <a:srgbClr val="F5F3EE"/>
          </a:solidFill>
          <a:ln w="6350">
            <a:solidFill>
              <a:srgbClr val="E2E0DC"/>
            </a:solidFill>
            <a:prstDash val="solid"/>
          </a:ln>
        </p:spPr>
      </p:sp>
      <p:sp>
        <p:nvSpPr>
          <p:cNvPr id="95" name="Text 93"/>
          <p:cNvSpPr/>
          <p:nvPr/>
        </p:nvSpPr>
        <p:spPr>
          <a:xfrm>
            <a:off x="704088" y="3497580"/>
            <a:ext cx="2011680" cy="333756"/>
          </a:xfrm>
          <a:prstGeom prst="rect">
            <a:avLst/>
          </a:prstGeom>
          <a:noFill/>
          <a:ln/>
        </p:spPr>
        <p:txBody>
          <a:bodyPr wrap="square" lIns="0" tIns="0" rIns="0" bIns="0" rtlCol="0" anchor="ctr"/>
          <a:lstStyle/>
          <a:p>
            <a:pPr indent="0" marL="0">
              <a:buNone/>
            </a:pPr>
            <a:r>
              <a:rPr lang="en-US" sz="900" b="1" dirty="0">
                <a:solidFill>
                  <a:srgbClr val="1A1A1A"/>
                </a:solidFill>
                <a:latin typeface="メイリオ" pitchFamily="34" charset="0"/>
                <a:ea typeface="メイリオ" pitchFamily="34" charset="-122"/>
                <a:cs typeface="メイリオ" pitchFamily="34" charset="-120"/>
              </a:rPr>
              <a:t>売上総利益 合計</a:t>
            </a:r>
            <a:endParaRPr lang="en-US" sz="900" dirty="0"/>
          </a:p>
        </p:txBody>
      </p:sp>
      <p:sp>
        <p:nvSpPr>
          <p:cNvPr id="96" name="Text 94"/>
          <p:cNvSpPr/>
          <p:nvPr/>
        </p:nvSpPr>
        <p:spPr>
          <a:xfrm>
            <a:off x="2606040" y="349758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32.1</a:t>
            </a:r>
            <a:endParaRPr lang="en-US" sz="850" dirty="0"/>
          </a:p>
        </p:txBody>
      </p:sp>
      <p:sp>
        <p:nvSpPr>
          <p:cNvPr id="97" name="Text 95"/>
          <p:cNvSpPr/>
          <p:nvPr/>
        </p:nvSpPr>
        <p:spPr>
          <a:xfrm>
            <a:off x="3337560" y="349758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32.1</a:t>
            </a:r>
            <a:endParaRPr lang="en-US" sz="850" dirty="0"/>
          </a:p>
        </p:txBody>
      </p:sp>
      <p:sp>
        <p:nvSpPr>
          <p:cNvPr id="98" name="Text 96"/>
          <p:cNvSpPr/>
          <p:nvPr/>
        </p:nvSpPr>
        <p:spPr>
          <a:xfrm>
            <a:off x="4069080" y="349758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32.1</a:t>
            </a:r>
            <a:endParaRPr lang="en-US" sz="850" dirty="0"/>
          </a:p>
        </p:txBody>
      </p:sp>
      <p:sp>
        <p:nvSpPr>
          <p:cNvPr id="99" name="Text 97"/>
          <p:cNvSpPr/>
          <p:nvPr/>
        </p:nvSpPr>
        <p:spPr>
          <a:xfrm>
            <a:off x="4800600" y="349758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32.1</a:t>
            </a:r>
            <a:endParaRPr lang="en-US" sz="850" dirty="0"/>
          </a:p>
        </p:txBody>
      </p:sp>
      <p:sp>
        <p:nvSpPr>
          <p:cNvPr id="100" name="Text 98"/>
          <p:cNvSpPr/>
          <p:nvPr/>
        </p:nvSpPr>
        <p:spPr>
          <a:xfrm>
            <a:off x="5532120" y="349758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32.1</a:t>
            </a:r>
            <a:endParaRPr lang="en-US" sz="850" dirty="0"/>
          </a:p>
        </p:txBody>
      </p:sp>
      <p:sp>
        <p:nvSpPr>
          <p:cNvPr id="101" name="Text 99"/>
          <p:cNvSpPr/>
          <p:nvPr/>
        </p:nvSpPr>
        <p:spPr>
          <a:xfrm>
            <a:off x="6263640" y="349758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42.1</a:t>
            </a:r>
            <a:endParaRPr lang="en-US" sz="850" dirty="0"/>
          </a:p>
        </p:txBody>
      </p:sp>
      <p:sp>
        <p:nvSpPr>
          <p:cNvPr id="102" name="Text 100"/>
          <p:cNvSpPr/>
          <p:nvPr/>
        </p:nvSpPr>
        <p:spPr>
          <a:xfrm>
            <a:off x="6995160" y="349758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32.1</a:t>
            </a:r>
            <a:endParaRPr lang="en-US" sz="850" dirty="0"/>
          </a:p>
        </p:txBody>
      </p:sp>
      <p:sp>
        <p:nvSpPr>
          <p:cNvPr id="103" name="Text 101"/>
          <p:cNvSpPr/>
          <p:nvPr/>
        </p:nvSpPr>
        <p:spPr>
          <a:xfrm>
            <a:off x="7726680" y="349758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32.1</a:t>
            </a:r>
            <a:endParaRPr lang="en-US" sz="850" dirty="0"/>
          </a:p>
        </p:txBody>
      </p:sp>
      <p:sp>
        <p:nvSpPr>
          <p:cNvPr id="104" name="Text 102"/>
          <p:cNvSpPr/>
          <p:nvPr/>
        </p:nvSpPr>
        <p:spPr>
          <a:xfrm>
            <a:off x="8458200" y="349758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32.1</a:t>
            </a:r>
            <a:endParaRPr lang="en-US" sz="850" dirty="0"/>
          </a:p>
        </p:txBody>
      </p:sp>
      <p:sp>
        <p:nvSpPr>
          <p:cNvPr id="105" name="Text 103"/>
          <p:cNvSpPr/>
          <p:nvPr/>
        </p:nvSpPr>
        <p:spPr>
          <a:xfrm>
            <a:off x="9189720" y="349758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32.1</a:t>
            </a:r>
            <a:endParaRPr lang="en-US" sz="850" dirty="0"/>
          </a:p>
        </p:txBody>
      </p:sp>
      <p:sp>
        <p:nvSpPr>
          <p:cNvPr id="106" name="Text 104"/>
          <p:cNvSpPr/>
          <p:nvPr/>
        </p:nvSpPr>
        <p:spPr>
          <a:xfrm>
            <a:off x="9921240" y="349758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32.1</a:t>
            </a:r>
            <a:endParaRPr lang="en-US" sz="850" dirty="0"/>
          </a:p>
        </p:txBody>
      </p:sp>
      <p:sp>
        <p:nvSpPr>
          <p:cNvPr id="107" name="Text 105"/>
          <p:cNvSpPr/>
          <p:nvPr/>
        </p:nvSpPr>
        <p:spPr>
          <a:xfrm>
            <a:off x="10652760" y="349758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42.1</a:t>
            </a:r>
            <a:endParaRPr lang="en-US" sz="850" dirty="0"/>
          </a:p>
        </p:txBody>
      </p:sp>
      <p:sp>
        <p:nvSpPr>
          <p:cNvPr id="108" name="Text 106"/>
          <p:cNvSpPr/>
          <p:nvPr/>
        </p:nvSpPr>
        <p:spPr>
          <a:xfrm>
            <a:off x="11384280" y="3497580"/>
            <a:ext cx="868680" cy="333756"/>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405.5</a:t>
            </a:r>
            <a:endParaRPr lang="en-US" sz="900" dirty="0"/>
          </a:p>
        </p:txBody>
      </p:sp>
      <p:sp>
        <p:nvSpPr>
          <p:cNvPr id="109" name="Shape 107"/>
          <p:cNvSpPr/>
          <p:nvPr/>
        </p:nvSpPr>
        <p:spPr>
          <a:xfrm>
            <a:off x="594360" y="3831336"/>
            <a:ext cx="11658600" cy="333756"/>
          </a:xfrm>
          <a:prstGeom prst="rect">
            <a:avLst/>
          </a:prstGeom>
          <a:solidFill>
            <a:srgbClr val="FFFFFF"/>
          </a:solidFill>
          <a:ln w="6350">
            <a:solidFill>
              <a:srgbClr val="E2E0DC"/>
            </a:solidFill>
            <a:prstDash val="solid"/>
          </a:ln>
        </p:spPr>
      </p:sp>
      <p:sp>
        <p:nvSpPr>
          <p:cNvPr id="110" name="Text 108"/>
          <p:cNvSpPr/>
          <p:nvPr/>
        </p:nvSpPr>
        <p:spPr>
          <a:xfrm>
            <a:off x="704088" y="3831336"/>
            <a:ext cx="2011680" cy="333756"/>
          </a:xfrm>
          <a:prstGeom prst="rect">
            <a:avLst/>
          </a:prstGeom>
          <a:noFill/>
          <a:ln/>
        </p:spPr>
        <p:txBody>
          <a:bodyPr wrap="square" lIns="0" tIns="0" rIns="0" bIns="0" rtlCol="0" anchor="ctr"/>
          <a:lstStyle/>
          <a:p>
            <a:pPr indent="0" marL="0">
              <a:buNone/>
            </a:pPr>
            <a:r>
              <a:rPr lang="en-US" sz="900" dirty="0">
                <a:solidFill>
                  <a:srgbClr val="1A1A1A"/>
                </a:solidFill>
                <a:latin typeface="メイリオ" pitchFamily="34" charset="0"/>
                <a:ea typeface="メイリオ" pitchFamily="34" charset="-122"/>
                <a:cs typeface="メイリオ" pitchFamily="34" charset="-120"/>
              </a:rPr>
              <a:t>販管費</a:t>
            </a:r>
            <a:endParaRPr lang="en-US" sz="900" dirty="0"/>
          </a:p>
        </p:txBody>
      </p:sp>
      <p:sp>
        <p:nvSpPr>
          <p:cNvPr id="111" name="Text 109"/>
          <p:cNvSpPr/>
          <p:nvPr/>
        </p:nvSpPr>
        <p:spPr>
          <a:xfrm>
            <a:off x="2606040" y="383133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12" name="Text 110"/>
          <p:cNvSpPr/>
          <p:nvPr/>
        </p:nvSpPr>
        <p:spPr>
          <a:xfrm>
            <a:off x="3337560" y="383133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13" name="Text 111"/>
          <p:cNvSpPr/>
          <p:nvPr/>
        </p:nvSpPr>
        <p:spPr>
          <a:xfrm>
            <a:off x="4069080" y="383133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14" name="Text 112"/>
          <p:cNvSpPr/>
          <p:nvPr/>
        </p:nvSpPr>
        <p:spPr>
          <a:xfrm>
            <a:off x="4800600" y="383133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15" name="Text 113"/>
          <p:cNvSpPr/>
          <p:nvPr/>
        </p:nvSpPr>
        <p:spPr>
          <a:xfrm>
            <a:off x="5532120" y="383133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16" name="Text 114"/>
          <p:cNvSpPr/>
          <p:nvPr/>
        </p:nvSpPr>
        <p:spPr>
          <a:xfrm>
            <a:off x="6263640" y="383133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17" name="Text 115"/>
          <p:cNvSpPr/>
          <p:nvPr/>
        </p:nvSpPr>
        <p:spPr>
          <a:xfrm>
            <a:off x="6995160" y="383133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18" name="Text 116"/>
          <p:cNvSpPr/>
          <p:nvPr/>
        </p:nvSpPr>
        <p:spPr>
          <a:xfrm>
            <a:off x="7726680" y="383133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19" name="Text 117"/>
          <p:cNvSpPr/>
          <p:nvPr/>
        </p:nvSpPr>
        <p:spPr>
          <a:xfrm>
            <a:off x="8458200" y="383133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20" name="Text 118"/>
          <p:cNvSpPr/>
          <p:nvPr/>
        </p:nvSpPr>
        <p:spPr>
          <a:xfrm>
            <a:off x="9189720" y="383133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21" name="Text 119"/>
          <p:cNvSpPr/>
          <p:nvPr/>
        </p:nvSpPr>
        <p:spPr>
          <a:xfrm>
            <a:off x="9921240" y="383133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22" name="Text 120"/>
          <p:cNvSpPr/>
          <p:nvPr/>
        </p:nvSpPr>
        <p:spPr>
          <a:xfrm>
            <a:off x="10652760" y="383133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23" name="Text 121"/>
          <p:cNvSpPr/>
          <p:nvPr/>
        </p:nvSpPr>
        <p:spPr>
          <a:xfrm>
            <a:off x="11384280" y="3831336"/>
            <a:ext cx="868680" cy="333756"/>
          </a:xfrm>
          <a:prstGeom prst="rect">
            <a:avLst/>
          </a:prstGeom>
          <a:noFill/>
          <a:ln/>
        </p:spPr>
        <p:txBody>
          <a:bodyPr wrap="square" lIns="0" tIns="0" rIns="0" bIns="0" rtlCol="0" anchor="ctr"/>
          <a:lstStyle/>
          <a:p>
            <a:pPr algn="ctr" indent="0" marL="0">
              <a:buNone/>
            </a:pPr>
            <a:r>
              <a:rPr lang="en-US" sz="900" b="1" dirty="0">
                <a:solidFill>
                  <a:srgbClr val="6E6E6E"/>
                </a:solidFill>
                <a:latin typeface="メイリオ" pitchFamily="34" charset="0"/>
                <a:ea typeface="メイリオ" pitchFamily="34" charset="-122"/>
                <a:cs typeface="メイリオ" pitchFamily="34" charset="-120"/>
              </a:rPr>
              <a:t>▲300.2</a:t>
            </a:r>
            <a:endParaRPr lang="en-US" sz="900" dirty="0"/>
          </a:p>
        </p:txBody>
      </p:sp>
      <p:sp>
        <p:nvSpPr>
          <p:cNvPr id="124" name="Shape 122"/>
          <p:cNvSpPr/>
          <p:nvPr/>
        </p:nvSpPr>
        <p:spPr>
          <a:xfrm>
            <a:off x="594360" y="4165092"/>
            <a:ext cx="11658600" cy="333756"/>
          </a:xfrm>
          <a:prstGeom prst="rect">
            <a:avLst/>
          </a:prstGeom>
          <a:solidFill>
            <a:srgbClr val="F5F3EE"/>
          </a:solidFill>
          <a:ln w="6350">
            <a:solidFill>
              <a:srgbClr val="E2E0DC"/>
            </a:solidFill>
            <a:prstDash val="solid"/>
          </a:ln>
        </p:spPr>
      </p:sp>
      <p:sp>
        <p:nvSpPr>
          <p:cNvPr id="125" name="Text 123"/>
          <p:cNvSpPr/>
          <p:nvPr/>
        </p:nvSpPr>
        <p:spPr>
          <a:xfrm>
            <a:off x="704088" y="4165092"/>
            <a:ext cx="2011680" cy="333756"/>
          </a:xfrm>
          <a:prstGeom prst="rect">
            <a:avLst/>
          </a:prstGeom>
          <a:noFill/>
          <a:ln/>
        </p:spPr>
        <p:txBody>
          <a:bodyPr wrap="square" lIns="0" tIns="0" rIns="0" bIns="0" rtlCol="0" anchor="ctr"/>
          <a:lstStyle/>
          <a:p>
            <a:pPr indent="0" marL="0">
              <a:buNone/>
            </a:pPr>
            <a:r>
              <a:rPr lang="en-US" sz="900" b="1" dirty="0">
                <a:solidFill>
                  <a:srgbClr val="1A1A1A"/>
                </a:solidFill>
                <a:latin typeface="メイリオ" pitchFamily="34" charset="0"/>
                <a:ea typeface="メイリオ" pitchFamily="34" charset="-122"/>
                <a:cs typeface="メイリオ" pitchFamily="34" charset="-120"/>
              </a:rPr>
              <a:t>営業利益</a:t>
            </a:r>
            <a:endParaRPr lang="en-US" sz="900" dirty="0"/>
          </a:p>
        </p:txBody>
      </p:sp>
      <p:sp>
        <p:nvSpPr>
          <p:cNvPr id="126" name="Text 124"/>
          <p:cNvSpPr/>
          <p:nvPr/>
        </p:nvSpPr>
        <p:spPr>
          <a:xfrm>
            <a:off x="2606040" y="4165092"/>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7.1</a:t>
            </a:r>
            <a:endParaRPr lang="en-US" sz="850" dirty="0"/>
          </a:p>
        </p:txBody>
      </p:sp>
      <p:sp>
        <p:nvSpPr>
          <p:cNvPr id="127" name="Text 125"/>
          <p:cNvSpPr/>
          <p:nvPr/>
        </p:nvSpPr>
        <p:spPr>
          <a:xfrm>
            <a:off x="3337560" y="4165092"/>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7.1</a:t>
            </a:r>
            <a:endParaRPr lang="en-US" sz="850" dirty="0"/>
          </a:p>
        </p:txBody>
      </p:sp>
      <p:sp>
        <p:nvSpPr>
          <p:cNvPr id="128" name="Text 126"/>
          <p:cNvSpPr/>
          <p:nvPr/>
        </p:nvSpPr>
        <p:spPr>
          <a:xfrm>
            <a:off x="4069080" y="4165092"/>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7.1</a:t>
            </a:r>
            <a:endParaRPr lang="en-US" sz="850" dirty="0"/>
          </a:p>
        </p:txBody>
      </p:sp>
      <p:sp>
        <p:nvSpPr>
          <p:cNvPr id="129" name="Text 127"/>
          <p:cNvSpPr/>
          <p:nvPr/>
        </p:nvSpPr>
        <p:spPr>
          <a:xfrm>
            <a:off x="4800600" y="4165092"/>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7.1</a:t>
            </a:r>
            <a:endParaRPr lang="en-US" sz="850" dirty="0"/>
          </a:p>
        </p:txBody>
      </p:sp>
      <p:sp>
        <p:nvSpPr>
          <p:cNvPr id="130" name="Text 128"/>
          <p:cNvSpPr/>
          <p:nvPr/>
        </p:nvSpPr>
        <p:spPr>
          <a:xfrm>
            <a:off x="5532120" y="4165092"/>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7.1</a:t>
            </a:r>
            <a:endParaRPr lang="en-US" sz="850" dirty="0"/>
          </a:p>
        </p:txBody>
      </p:sp>
      <p:sp>
        <p:nvSpPr>
          <p:cNvPr id="131" name="Text 129"/>
          <p:cNvSpPr/>
          <p:nvPr/>
        </p:nvSpPr>
        <p:spPr>
          <a:xfrm>
            <a:off x="6263640" y="4165092"/>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17.1</a:t>
            </a:r>
            <a:endParaRPr lang="en-US" sz="850" dirty="0"/>
          </a:p>
        </p:txBody>
      </p:sp>
      <p:sp>
        <p:nvSpPr>
          <p:cNvPr id="132" name="Text 130"/>
          <p:cNvSpPr/>
          <p:nvPr/>
        </p:nvSpPr>
        <p:spPr>
          <a:xfrm>
            <a:off x="6995160" y="4165092"/>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7.1</a:t>
            </a:r>
            <a:endParaRPr lang="en-US" sz="850" dirty="0"/>
          </a:p>
        </p:txBody>
      </p:sp>
      <p:sp>
        <p:nvSpPr>
          <p:cNvPr id="133" name="Text 131"/>
          <p:cNvSpPr/>
          <p:nvPr/>
        </p:nvSpPr>
        <p:spPr>
          <a:xfrm>
            <a:off x="7726680" y="4165092"/>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7.1</a:t>
            </a:r>
            <a:endParaRPr lang="en-US" sz="850" dirty="0"/>
          </a:p>
        </p:txBody>
      </p:sp>
      <p:sp>
        <p:nvSpPr>
          <p:cNvPr id="134" name="Text 132"/>
          <p:cNvSpPr/>
          <p:nvPr/>
        </p:nvSpPr>
        <p:spPr>
          <a:xfrm>
            <a:off x="8458200" y="4165092"/>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7.1</a:t>
            </a:r>
            <a:endParaRPr lang="en-US" sz="850" dirty="0"/>
          </a:p>
        </p:txBody>
      </p:sp>
      <p:sp>
        <p:nvSpPr>
          <p:cNvPr id="135" name="Text 133"/>
          <p:cNvSpPr/>
          <p:nvPr/>
        </p:nvSpPr>
        <p:spPr>
          <a:xfrm>
            <a:off x="9189720" y="4165092"/>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7.1</a:t>
            </a:r>
            <a:endParaRPr lang="en-US" sz="850" dirty="0"/>
          </a:p>
        </p:txBody>
      </p:sp>
      <p:sp>
        <p:nvSpPr>
          <p:cNvPr id="136" name="Text 134"/>
          <p:cNvSpPr/>
          <p:nvPr/>
        </p:nvSpPr>
        <p:spPr>
          <a:xfrm>
            <a:off x="9921240" y="4165092"/>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7.1</a:t>
            </a:r>
            <a:endParaRPr lang="en-US" sz="850" dirty="0"/>
          </a:p>
        </p:txBody>
      </p:sp>
      <p:sp>
        <p:nvSpPr>
          <p:cNvPr id="137" name="Text 135"/>
          <p:cNvSpPr/>
          <p:nvPr/>
        </p:nvSpPr>
        <p:spPr>
          <a:xfrm>
            <a:off x="10652760" y="4165092"/>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17.1</a:t>
            </a:r>
            <a:endParaRPr lang="en-US" sz="850" dirty="0"/>
          </a:p>
        </p:txBody>
      </p:sp>
      <p:sp>
        <p:nvSpPr>
          <p:cNvPr id="138" name="Text 136"/>
          <p:cNvSpPr/>
          <p:nvPr/>
        </p:nvSpPr>
        <p:spPr>
          <a:xfrm>
            <a:off x="11384280" y="4165092"/>
            <a:ext cx="868680" cy="333756"/>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105.4</a:t>
            </a:r>
            <a:endParaRPr lang="en-US" sz="900" dirty="0"/>
          </a:p>
        </p:txBody>
      </p:sp>
      <p:sp>
        <p:nvSpPr>
          <p:cNvPr id="139" name="Shape 137"/>
          <p:cNvSpPr/>
          <p:nvPr/>
        </p:nvSpPr>
        <p:spPr>
          <a:xfrm>
            <a:off x="594360" y="4498848"/>
            <a:ext cx="11658600" cy="333756"/>
          </a:xfrm>
          <a:prstGeom prst="rect">
            <a:avLst/>
          </a:prstGeom>
          <a:solidFill>
            <a:srgbClr val="FFFFFF"/>
          </a:solidFill>
          <a:ln w="6350">
            <a:solidFill>
              <a:srgbClr val="E2E0DC"/>
            </a:solidFill>
            <a:prstDash val="solid"/>
          </a:ln>
        </p:spPr>
      </p:sp>
      <p:sp>
        <p:nvSpPr>
          <p:cNvPr id="140" name="Text 138"/>
          <p:cNvSpPr/>
          <p:nvPr/>
        </p:nvSpPr>
        <p:spPr>
          <a:xfrm>
            <a:off x="704088" y="4498848"/>
            <a:ext cx="2011680" cy="333756"/>
          </a:xfrm>
          <a:prstGeom prst="rect">
            <a:avLst/>
          </a:prstGeom>
          <a:noFill/>
          <a:ln/>
        </p:spPr>
        <p:txBody>
          <a:bodyPr wrap="square" lIns="0" tIns="0" rIns="0" bIns="0" rtlCol="0" anchor="ctr"/>
          <a:lstStyle/>
          <a:p>
            <a:pPr indent="0" marL="0">
              <a:buNone/>
            </a:pPr>
            <a:r>
              <a:rPr lang="en-US" sz="900" dirty="0">
                <a:solidFill>
                  <a:srgbClr val="1A1A1A"/>
                </a:solidFill>
                <a:latin typeface="メイリオ" pitchFamily="34" charset="0"/>
                <a:ea typeface="メイリオ" pitchFamily="34" charset="-122"/>
                <a:cs typeface="メイリオ" pitchFamily="34" charset="-120"/>
              </a:rPr>
              <a:t>営業外費用</a:t>
            </a:r>
            <a:endParaRPr lang="en-US" sz="900" dirty="0"/>
          </a:p>
        </p:txBody>
      </p:sp>
      <p:sp>
        <p:nvSpPr>
          <p:cNvPr id="141" name="Text 139"/>
          <p:cNvSpPr/>
          <p:nvPr/>
        </p:nvSpPr>
        <p:spPr>
          <a:xfrm>
            <a:off x="2606040" y="4498848"/>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42" name="Text 140"/>
          <p:cNvSpPr/>
          <p:nvPr/>
        </p:nvSpPr>
        <p:spPr>
          <a:xfrm>
            <a:off x="3337560" y="4498848"/>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43" name="Text 141"/>
          <p:cNvSpPr/>
          <p:nvPr/>
        </p:nvSpPr>
        <p:spPr>
          <a:xfrm>
            <a:off x="4069080" y="4498848"/>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44" name="Text 142"/>
          <p:cNvSpPr/>
          <p:nvPr/>
        </p:nvSpPr>
        <p:spPr>
          <a:xfrm>
            <a:off x="4800600" y="4498848"/>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45" name="Text 143"/>
          <p:cNvSpPr/>
          <p:nvPr/>
        </p:nvSpPr>
        <p:spPr>
          <a:xfrm>
            <a:off x="5532120" y="4498848"/>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46" name="Text 144"/>
          <p:cNvSpPr/>
          <p:nvPr/>
        </p:nvSpPr>
        <p:spPr>
          <a:xfrm>
            <a:off x="6263640" y="4498848"/>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47" name="Text 145"/>
          <p:cNvSpPr/>
          <p:nvPr/>
        </p:nvSpPr>
        <p:spPr>
          <a:xfrm>
            <a:off x="6995160" y="4498848"/>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48" name="Text 146"/>
          <p:cNvSpPr/>
          <p:nvPr/>
        </p:nvSpPr>
        <p:spPr>
          <a:xfrm>
            <a:off x="7726680" y="4498848"/>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49" name="Text 147"/>
          <p:cNvSpPr/>
          <p:nvPr/>
        </p:nvSpPr>
        <p:spPr>
          <a:xfrm>
            <a:off x="8458200" y="4498848"/>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50" name="Text 148"/>
          <p:cNvSpPr/>
          <p:nvPr/>
        </p:nvSpPr>
        <p:spPr>
          <a:xfrm>
            <a:off x="9189720" y="4498848"/>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51" name="Text 149"/>
          <p:cNvSpPr/>
          <p:nvPr/>
        </p:nvSpPr>
        <p:spPr>
          <a:xfrm>
            <a:off x="9921240" y="4498848"/>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52" name="Text 150"/>
          <p:cNvSpPr/>
          <p:nvPr/>
        </p:nvSpPr>
        <p:spPr>
          <a:xfrm>
            <a:off x="10652760" y="4498848"/>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53" name="Text 151"/>
          <p:cNvSpPr/>
          <p:nvPr/>
        </p:nvSpPr>
        <p:spPr>
          <a:xfrm>
            <a:off x="11384280" y="4498848"/>
            <a:ext cx="868680" cy="333756"/>
          </a:xfrm>
          <a:prstGeom prst="rect">
            <a:avLst/>
          </a:prstGeom>
          <a:noFill/>
          <a:ln/>
        </p:spPr>
        <p:txBody>
          <a:bodyPr wrap="square" lIns="0" tIns="0" rIns="0" bIns="0" rtlCol="0" anchor="ctr"/>
          <a:lstStyle/>
          <a:p>
            <a:pPr algn="ctr" indent="0" marL="0">
              <a:buNone/>
            </a:pPr>
            <a:r>
              <a:rPr lang="en-US" sz="900" b="1" dirty="0">
                <a:solidFill>
                  <a:srgbClr val="6E6E6E"/>
                </a:solidFill>
                <a:latin typeface="メイリオ" pitchFamily="34" charset="0"/>
                <a:ea typeface="メイリオ" pitchFamily="34" charset="-122"/>
                <a:cs typeface="メイリオ" pitchFamily="34" charset="-120"/>
              </a:rPr>
              <a:t>▲15.0</a:t>
            </a:r>
            <a:endParaRPr lang="en-US" sz="900" dirty="0"/>
          </a:p>
        </p:txBody>
      </p:sp>
      <p:sp>
        <p:nvSpPr>
          <p:cNvPr id="154" name="Shape 152"/>
          <p:cNvSpPr/>
          <p:nvPr/>
        </p:nvSpPr>
        <p:spPr>
          <a:xfrm>
            <a:off x="594360" y="4832604"/>
            <a:ext cx="11658600" cy="333756"/>
          </a:xfrm>
          <a:prstGeom prst="rect">
            <a:avLst/>
          </a:prstGeom>
          <a:solidFill>
            <a:srgbClr val="FAF3E2"/>
          </a:solidFill>
          <a:ln w="6350">
            <a:solidFill>
              <a:srgbClr val="E2E0DC"/>
            </a:solidFill>
            <a:prstDash val="solid"/>
          </a:ln>
        </p:spPr>
      </p:sp>
      <p:sp>
        <p:nvSpPr>
          <p:cNvPr id="155" name="Text 153"/>
          <p:cNvSpPr/>
          <p:nvPr/>
        </p:nvSpPr>
        <p:spPr>
          <a:xfrm>
            <a:off x="704088" y="4832604"/>
            <a:ext cx="2011680" cy="333756"/>
          </a:xfrm>
          <a:prstGeom prst="rect">
            <a:avLst/>
          </a:prstGeom>
          <a:noFill/>
          <a:ln/>
        </p:spPr>
        <p:txBody>
          <a:bodyPr wrap="square" lIns="0" tIns="0" rIns="0" bIns="0" rtlCol="0" anchor="ctr"/>
          <a:lstStyle/>
          <a:p>
            <a:pPr indent="0" marL="0">
              <a:buNone/>
            </a:pPr>
            <a:r>
              <a:rPr lang="en-US" sz="900" b="1" dirty="0">
                <a:solidFill>
                  <a:srgbClr val="1A1A1A"/>
                </a:solidFill>
                <a:latin typeface="メイリオ" pitchFamily="34" charset="0"/>
                <a:ea typeface="メイリオ" pitchFamily="34" charset="-122"/>
                <a:cs typeface="メイリオ" pitchFamily="34" charset="-120"/>
              </a:rPr>
              <a:t>経常利益</a:t>
            </a:r>
            <a:endParaRPr lang="en-US" sz="900" dirty="0"/>
          </a:p>
        </p:txBody>
      </p:sp>
      <p:sp>
        <p:nvSpPr>
          <p:cNvPr id="156" name="Text 154"/>
          <p:cNvSpPr/>
          <p:nvPr/>
        </p:nvSpPr>
        <p:spPr>
          <a:xfrm>
            <a:off x="2606040" y="4832604"/>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5.9</a:t>
            </a:r>
            <a:endParaRPr lang="en-US" sz="850" dirty="0"/>
          </a:p>
        </p:txBody>
      </p:sp>
      <p:sp>
        <p:nvSpPr>
          <p:cNvPr id="157" name="Text 155"/>
          <p:cNvSpPr/>
          <p:nvPr/>
        </p:nvSpPr>
        <p:spPr>
          <a:xfrm>
            <a:off x="3337560" y="4832604"/>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5.9</a:t>
            </a:r>
            <a:endParaRPr lang="en-US" sz="850" dirty="0"/>
          </a:p>
        </p:txBody>
      </p:sp>
      <p:sp>
        <p:nvSpPr>
          <p:cNvPr id="158" name="Text 156"/>
          <p:cNvSpPr/>
          <p:nvPr/>
        </p:nvSpPr>
        <p:spPr>
          <a:xfrm>
            <a:off x="4069080" y="4832604"/>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5.9</a:t>
            </a:r>
            <a:endParaRPr lang="en-US" sz="850" dirty="0"/>
          </a:p>
        </p:txBody>
      </p:sp>
      <p:sp>
        <p:nvSpPr>
          <p:cNvPr id="159" name="Text 157"/>
          <p:cNvSpPr/>
          <p:nvPr/>
        </p:nvSpPr>
        <p:spPr>
          <a:xfrm>
            <a:off x="4800600" y="4832604"/>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5.9</a:t>
            </a:r>
            <a:endParaRPr lang="en-US" sz="850" dirty="0"/>
          </a:p>
        </p:txBody>
      </p:sp>
      <p:sp>
        <p:nvSpPr>
          <p:cNvPr id="160" name="Text 158"/>
          <p:cNvSpPr/>
          <p:nvPr/>
        </p:nvSpPr>
        <p:spPr>
          <a:xfrm>
            <a:off x="5532120" y="4832604"/>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5.9</a:t>
            </a:r>
            <a:endParaRPr lang="en-US" sz="850" dirty="0"/>
          </a:p>
        </p:txBody>
      </p:sp>
      <p:sp>
        <p:nvSpPr>
          <p:cNvPr id="161" name="Text 159"/>
          <p:cNvSpPr/>
          <p:nvPr/>
        </p:nvSpPr>
        <p:spPr>
          <a:xfrm>
            <a:off x="6263640" y="4832604"/>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15.9</a:t>
            </a:r>
            <a:endParaRPr lang="en-US" sz="850" dirty="0"/>
          </a:p>
        </p:txBody>
      </p:sp>
      <p:sp>
        <p:nvSpPr>
          <p:cNvPr id="162" name="Text 160"/>
          <p:cNvSpPr/>
          <p:nvPr/>
        </p:nvSpPr>
        <p:spPr>
          <a:xfrm>
            <a:off x="6995160" y="4832604"/>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5.9</a:t>
            </a:r>
            <a:endParaRPr lang="en-US" sz="850" dirty="0"/>
          </a:p>
        </p:txBody>
      </p:sp>
      <p:sp>
        <p:nvSpPr>
          <p:cNvPr id="163" name="Text 161"/>
          <p:cNvSpPr/>
          <p:nvPr/>
        </p:nvSpPr>
        <p:spPr>
          <a:xfrm>
            <a:off x="7726680" y="4832604"/>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5.9</a:t>
            </a:r>
            <a:endParaRPr lang="en-US" sz="850" dirty="0"/>
          </a:p>
        </p:txBody>
      </p:sp>
      <p:sp>
        <p:nvSpPr>
          <p:cNvPr id="164" name="Text 162"/>
          <p:cNvSpPr/>
          <p:nvPr/>
        </p:nvSpPr>
        <p:spPr>
          <a:xfrm>
            <a:off x="8458200" y="4832604"/>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5.9</a:t>
            </a:r>
            <a:endParaRPr lang="en-US" sz="850" dirty="0"/>
          </a:p>
        </p:txBody>
      </p:sp>
      <p:sp>
        <p:nvSpPr>
          <p:cNvPr id="165" name="Text 163"/>
          <p:cNvSpPr/>
          <p:nvPr/>
        </p:nvSpPr>
        <p:spPr>
          <a:xfrm>
            <a:off x="9189720" y="4832604"/>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5.9</a:t>
            </a:r>
            <a:endParaRPr lang="en-US" sz="850" dirty="0"/>
          </a:p>
        </p:txBody>
      </p:sp>
      <p:sp>
        <p:nvSpPr>
          <p:cNvPr id="166" name="Text 164"/>
          <p:cNvSpPr/>
          <p:nvPr/>
        </p:nvSpPr>
        <p:spPr>
          <a:xfrm>
            <a:off x="9921240" y="4832604"/>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5.9</a:t>
            </a:r>
            <a:endParaRPr lang="en-US" sz="850" dirty="0"/>
          </a:p>
        </p:txBody>
      </p:sp>
      <p:sp>
        <p:nvSpPr>
          <p:cNvPr id="167" name="Text 165"/>
          <p:cNvSpPr/>
          <p:nvPr/>
        </p:nvSpPr>
        <p:spPr>
          <a:xfrm>
            <a:off x="10652760" y="4832604"/>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15.9</a:t>
            </a:r>
            <a:endParaRPr lang="en-US" sz="850" dirty="0"/>
          </a:p>
        </p:txBody>
      </p:sp>
      <p:sp>
        <p:nvSpPr>
          <p:cNvPr id="168" name="Text 166"/>
          <p:cNvSpPr/>
          <p:nvPr/>
        </p:nvSpPr>
        <p:spPr>
          <a:xfrm>
            <a:off x="11384280" y="4832604"/>
            <a:ext cx="868680" cy="333756"/>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90.4</a:t>
            </a:r>
            <a:endParaRPr lang="en-US" sz="900" dirty="0"/>
          </a:p>
        </p:txBody>
      </p:sp>
      <p:sp>
        <p:nvSpPr>
          <p:cNvPr id="169" name="Shape 167"/>
          <p:cNvSpPr/>
          <p:nvPr/>
        </p:nvSpPr>
        <p:spPr>
          <a:xfrm>
            <a:off x="594360" y="5349240"/>
            <a:ext cx="10963656" cy="841248"/>
          </a:xfrm>
          <a:prstGeom prst="roundRect">
            <a:avLst>
              <a:gd name="adj" fmla="val 5435"/>
            </a:avLst>
          </a:prstGeom>
          <a:solidFill>
            <a:srgbClr val="FAF3E2"/>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70" name="Text 168"/>
          <p:cNvSpPr/>
          <p:nvPr/>
        </p:nvSpPr>
        <p:spPr>
          <a:xfrm>
            <a:off x="914400" y="5422392"/>
            <a:ext cx="3291840" cy="237744"/>
          </a:xfrm>
          <a:prstGeom prst="rect">
            <a:avLst/>
          </a:prstGeom>
          <a:noFill/>
          <a:ln/>
        </p:spPr>
        <p:txBody>
          <a:bodyPr wrap="square" lIns="0" tIns="0" rIns="0" bIns="0" rtlCol="0" anchor="ctr"/>
          <a:lstStyle/>
          <a:p>
            <a:pPr indent="0" marL="0">
              <a:buNone/>
            </a:pPr>
            <a:r>
              <a:rPr lang="en-US" sz="950" dirty="0">
                <a:solidFill>
                  <a:srgbClr val="8C8C8C"/>
                </a:solidFill>
                <a:latin typeface="メイリオ" pitchFamily="34" charset="0"/>
                <a:ea typeface="メイリオ" pitchFamily="34" charset="-122"/>
                <a:cs typeface="メイリオ" pitchFamily="34" charset="-120"/>
              </a:rPr>
              <a:t>売上高 合計（上乗せ含む）</a:t>
            </a:r>
            <a:endParaRPr lang="en-US" sz="950" dirty="0"/>
          </a:p>
        </p:txBody>
      </p:sp>
      <p:sp>
        <p:nvSpPr>
          <p:cNvPr id="171" name="Text 169"/>
          <p:cNvSpPr/>
          <p:nvPr/>
        </p:nvSpPr>
        <p:spPr>
          <a:xfrm>
            <a:off x="914400" y="5623560"/>
            <a:ext cx="3291840" cy="310896"/>
          </a:xfrm>
          <a:prstGeom prst="rect">
            <a:avLst/>
          </a:prstGeom>
          <a:noFill/>
          <a:ln/>
        </p:spPr>
        <p:txBody>
          <a:bodyPr wrap="square" lIns="0" tIns="0" rIns="0" bIns="0" rtlCol="0" anchor="ctr"/>
          <a:lstStyle/>
          <a:p>
            <a:pPr indent="0" marL="0">
              <a:buNone/>
            </a:pPr>
            <a:r>
              <a:rPr lang="en-US" sz="1600" b="1" dirty="0">
                <a:solidFill>
                  <a:srgbClr val="1A1A1A"/>
                </a:solidFill>
                <a:latin typeface="メイリオ" pitchFamily="34" charset="0"/>
                <a:ea typeface="メイリオ" pitchFamily="34" charset="-122"/>
                <a:cs typeface="メイリオ" pitchFamily="34" charset="-120"/>
              </a:rPr>
              <a:t>833.0百万円</a:t>
            </a:r>
            <a:endParaRPr lang="en-US" sz="1600" dirty="0"/>
          </a:p>
        </p:txBody>
      </p:sp>
      <p:sp>
        <p:nvSpPr>
          <p:cNvPr id="172" name="Text 170"/>
          <p:cNvSpPr/>
          <p:nvPr/>
        </p:nvSpPr>
        <p:spPr>
          <a:xfrm>
            <a:off x="4526280" y="5422392"/>
            <a:ext cx="3291840" cy="237744"/>
          </a:xfrm>
          <a:prstGeom prst="rect">
            <a:avLst/>
          </a:prstGeom>
          <a:noFill/>
          <a:ln/>
        </p:spPr>
        <p:txBody>
          <a:bodyPr wrap="square" lIns="0" tIns="0" rIns="0" bIns="0" rtlCol="0" anchor="ctr"/>
          <a:lstStyle/>
          <a:p>
            <a:pPr indent="0" marL="0">
              <a:buNone/>
            </a:pPr>
            <a:r>
              <a:rPr lang="en-US" sz="950" dirty="0">
                <a:solidFill>
                  <a:srgbClr val="8C8C8C"/>
                </a:solidFill>
                <a:latin typeface="メイリオ" pitchFamily="34" charset="0"/>
                <a:ea typeface="メイリオ" pitchFamily="34" charset="-122"/>
                <a:cs typeface="メイリオ" pitchFamily="34" charset="-120"/>
              </a:rPr>
              <a:t>通期 営業利益</a:t>
            </a:r>
            <a:endParaRPr lang="en-US" sz="950" dirty="0"/>
          </a:p>
        </p:txBody>
      </p:sp>
      <p:sp>
        <p:nvSpPr>
          <p:cNvPr id="173" name="Text 171"/>
          <p:cNvSpPr/>
          <p:nvPr/>
        </p:nvSpPr>
        <p:spPr>
          <a:xfrm>
            <a:off x="4526280" y="5623560"/>
            <a:ext cx="3291840" cy="310896"/>
          </a:xfrm>
          <a:prstGeom prst="rect">
            <a:avLst/>
          </a:prstGeom>
          <a:noFill/>
          <a:ln/>
        </p:spPr>
        <p:txBody>
          <a:bodyPr wrap="square" lIns="0" tIns="0" rIns="0" bIns="0" rtlCol="0" anchor="ctr"/>
          <a:lstStyle/>
          <a:p>
            <a:pPr indent="0" marL="0">
              <a:buNone/>
            </a:pPr>
            <a:r>
              <a:rPr lang="en-US" sz="1600" b="1" dirty="0">
                <a:solidFill>
                  <a:srgbClr val="1A1A1A"/>
                </a:solidFill>
                <a:latin typeface="メイリオ" pitchFamily="34" charset="0"/>
                <a:ea typeface="メイリオ" pitchFamily="34" charset="-122"/>
                <a:cs typeface="メイリオ" pitchFamily="34" charset="-120"/>
              </a:rPr>
              <a:t>＋105.4百万円</a:t>
            </a:r>
            <a:endParaRPr lang="en-US" sz="1600" dirty="0"/>
          </a:p>
        </p:txBody>
      </p:sp>
      <p:sp>
        <p:nvSpPr>
          <p:cNvPr id="174" name="Text 172"/>
          <p:cNvSpPr/>
          <p:nvPr/>
        </p:nvSpPr>
        <p:spPr>
          <a:xfrm>
            <a:off x="8138160" y="5422392"/>
            <a:ext cx="3291840" cy="237744"/>
          </a:xfrm>
          <a:prstGeom prst="rect">
            <a:avLst/>
          </a:prstGeom>
          <a:noFill/>
          <a:ln/>
        </p:spPr>
        <p:txBody>
          <a:bodyPr wrap="square" lIns="0" tIns="0" rIns="0" bIns="0" rtlCol="0" anchor="ctr"/>
          <a:lstStyle/>
          <a:p>
            <a:pPr indent="0" marL="0">
              <a:buNone/>
            </a:pPr>
            <a:r>
              <a:rPr lang="en-US" sz="950" dirty="0">
                <a:solidFill>
                  <a:srgbClr val="8C8C8C"/>
                </a:solidFill>
                <a:latin typeface="メイリオ" pitchFamily="34" charset="0"/>
                <a:ea typeface="メイリオ" pitchFamily="34" charset="-122"/>
                <a:cs typeface="メイリオ" pitchFamily="34" charset="-120"/>
              </a:rPr>
              <a:t>通期 経常利益</a:t>
            </a:r>
            <a:endParaRPr lang="en-US" sz="950" dirty="0"/>
          </a:p>
        </p:txBody>
      </p:sp>
      <p:sp>
        <p:nvSpPr>
          <p:cNvPr id="175" name="Text 173"/>
          <p:cNvSpPr/>
          <p:nvPr/>
        </p:nvSpPr>
        <p:spPr>
          <a:xfrm>
            <a:off x="8138160" y="5623560"/>
            <a:ext cx="3291840" cy="310896"/>
          </a:xfrm>
          <a:prstGeom prst="rect">
            <a:avLst/>
          </a:prstGeom>
          <a:noFill/>
          <a:ln/>
        </p:spPr>
        <p:txBody>
          <a:bodyPr wrap="square" lIns="0" tIns="0" rIns="0" bIns="0" rtlCol="0" anchor="ctr"/>
          <a:lstStyle/>
          <a:p>
            <a:pPr indent="0" marL="0">
              <a:buNone/>
            </a:pPr>
            <a:r>
              <a:rPr lang="en-US" sz="1600" b="1" dirty="0">
                <a:solidFill>
                  <a:srgbClr val="1A1A1A"/>
                </a:solidFill>
                <a:latin typeface="メイリオ" pitchFamily="34" charset="0"/>
                <a:ea typeface="メイリオ" pitchFamily="34" charset="-122"/>
                <a:cs typeface="メイリオ" pitchFamily="34" charset="-120"/>
              </a:rPr>
              <a:t>＋90.4百万円</a:t>
            </a:r>
            <a:endParaRPr lang="en-US" sz="1600" dirty="0"/>
          </a:p>
        </p:txBody>
      </p:sp>
      <p:sp>
        <p:nvSpPr>
          <p:cNvPr id="176" name="Text 174"/>
          <p:cNvSpPr/>
          <p:nvPr/>
        </p:nvSpPr>
        <p:spPr>
          <a:xfrm>
            <a:off x="914400" y="5934456"/>
            <a:ext cx="10332720" cy="219456"/>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コンサルティング料82.5百万円は12か月按分。クルーザー×ワイン事業は2027/03と2027/09に各10百万円を計上。</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FY2027 月次資金繰り － プランD</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ワイン仕入419.1百万円を維持したまま、期中に一度も現預金がマイナスになりません。単位：百万円（税込）</a:t>
            </a:r>
            <a:endParaRPr lang="en-US" sz="1250" dirty="0"/>
          </a:p>
        </p:txBody>
      </p:sp>
      <p:sp>
        <p:nvSpPr>
          <p:cNvPr id="4" name="Shape 2"/>
          <p:cNvSpPr/>
          <p:nvPr/>
        </p:nvSpPr>
        <p:spPr>
          <a:xfrm>
            <a:off x="594360" y="1517904"/>
            <a:ext cx="11430000" cy="384048"/>
          </a:xfrm>
          <a:prstGeom prst="rect">
            <a:avLst/>
          </a:prstGeom>
          <a:solidFill>
            <a:srgbClr val="1A1A1A"/>
          </a:solidFill>
          <a:ln/>
        </p:spPr>
      </p:sp>
      <p:sp>
        <p:nvSpPr>
          <p:cNvPr id="5" name="Text 3"/>
          <p:cNvSpPr/>
          <p:nvPr/>
        </p:nvSpPr>
        <p:spPr>
          <a:xfrm>
            <a:off x="704088" y="1517904"/>
            <a:ext cx="2103120" cy="384048"/>
          </a:xfrm>
          <a:prstGeom prst="rect">
            <a:avLst/>
          </a:prstGeom>
          <a:noFill/>
          <a:ln/>
        </p:spPr>
        <p:txBody>
          <a:bodyPr wrap="square" lIns="0" tIns="0" rIns="0" bIns="0" rtlCol="0" anchor="ctr"/>
          <a:lstStyle/>
          <a:p>
            <a:pPr indent="0" marL="0">
              <a:buNone/>
            </a:pPr>
            <a:r>
              <a:rPr lang="en-US" sz="950" b="1" dirty="0">
                <a:solidFill>
                  <a:srgbClr val="FFFFFF"/>
                </a:solidFill>
                <a:latin typeface="メイリオ" pitchFamily="34" charset="0"/>
                <a:ea typeface="メイリオ" pitchFamily="34" charset="-122"/>
                <a:cs typeface="メイリオ" pitchFamily="34" charset="-120"/>
              </a:rPr>
              <a:t>科目</a:t>
            </a:r>
            <a:endParaRPr lang="en-US" sz="950" dirty="0"/>
          </a:p>
        </p:txBody>
      </p:sp>
      <p:sp>
        <p:nvSpPr>
          <p:cNvPr id="6" name="Text 4"/>
          <p:cNvSpPr/>
          <p:nvPr/>
        </p:nvSpPr>
        <p:spPr>
          <a:xfrm>
            <a:off x="269748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26/10</a:t>
            </a:r>
            <a:endParaRPr lang="en-US" sz="850" dirty="0"/>
          </a:p>
        </p:txBody>
      </p:sp>
      <p:sp>
        <p:nvSpPr>
          <p:cNvPr id="7" name="Text 5"/>
          <p:cNvSpPr/>
          <p:nvPr/>
        </p:nvSpPr>
        <p:spPr>
          <a:xfrm>
            <a:off x="347472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26/11</a:t>
            </a:r>
            <a:endParaRPr lang="en-US" sz="850" dirty="0"/>
          </a:p>
        </p:txBody>
      </p:sp>
      <p:sp>
        <p:nvSpPr>
          <p:cNvPr id="8" name="Text 6"/>
          <p:cNvSpPr/>
          <p:nvPr/>
        </p:nvSpPr>
        <p:spPr>
          <a:xfrm>
            <a:off x="425196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26/12</a:t>
            </a:r>
            <a:endParaRPr lang="en-US" sz="850" dirty="0"/>
          </a:p>
        </p:txBody>
      </p:sp>
      <p:sp>
        <p:nvSpPr>
          <p:cNvPr id="9" name="Text 7"/>
          <p:cNvSpPr/>
          <p:nvPr/>
        </p:nvSpPr>
        <p:spPr>
          <a:xfrm>
            <a:off x="502920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27/01</a:t>
            </a:r>
            <a:endParaRPr lang="en-US" sz="850" dirty="0"/>
          </a:p>
        </p:txBody>
      </p:sp>
      <p:sp>
        <p:nvSpPr>
          <p:cNvPr id="10" name="Text 8"/>
          <p:cNvSpPr/>
          <p:nvPr/>
        </p:nvSpPr>
        <p:spPr>
          <a:xfrm>
            <a:off x="580644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27/02</a:t>
            </a:r>
            <a:endParaRPr lang="en-US" sz="850" dirty="0"/>
          </a:p>
        </p:txBody>
      </p:sp>
      <p:sp>
        <p:nvSpPr>
          <p:cNvPr id="11" name="Text 9"/>
          <p:cNvSpPr/>
          <p:nvPr/>
        </p:nvSpPr>
        <p:spPr>
          <a:xfrm>
            <a:off x="658368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27/03</a:t>
            </a:r>
            <a:endParaRPr lang="en-US" sz="850" dirty="0"/>
          </a:p>
        </p:txBody>
      </p:sp>
      <p:sp>
        <p:nvSpPr>
          <p:cNvPr id="12" name="Text 10"/>
          <p:cNvSpPr/>
          <p:nvPr/>
        </p:nvSpPr>
        <p:spPr>
          <a:xfrm>
            <a:off x="736092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27/04</a:t>
            </a:r>
            <a:endParaRPr lang="en-US" sz="850" dirty="0"/>
          </a:p>
        </p:txBody>
      </p:sp>
      <p:sp>
        <p:nvSpPr>
          <p:cNvPr id="13" name="Text 11"/>
          <p:cNvSpPr/>
          <p:nvPr/>
        </p:nvSpPr>
        <p:spPr>
          <a:xfrm>
            <a:off x="813816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27/05</a:t>
            </a:r>
            <a:endParaRPr lang="en-US" sz="850" dirty="0"/>
          </a:p>
        </p:txBody>
      </p:sp>
      <p:sp>
        <p:nvSpPr>
          <p:cNvPr id="14" name="Text 12"/>
          <p:cNvSpPr/>
          <p:nvPr/>
        </p:nvSpPr>
        <p:spPr>
          <a:xfrm>
            <a:off x="891540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27/06</a:t>
            </a:r>
            <a:endParaRPr lang="en-US" sz="850" dirty="0"/>
          </a:p>
        </p:txBody>
      </p:sp>
      <p:sp>
        <p:nvSpPr>
          <p:cNvPr id="15" name="Text 13"/>
          <p:cNvSpPr/>
          <p:nvPr/>
        </p:nvSpPr>
        <p:spPr>
          <a:xfrm>
            <a:off x="969264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27/07</a:t>
            </a:r>
            <a:endParaRPr lang="en-US" sz="850" dirty="0"/>
          </a:p>
        </p:txBody>
      </p:sp>
      <p:sp>
        <p:nvSpPr>
          <p:cNvPr id="16" name="Text 14"/>
          <p:cNvSpPr/>
          <p:nvPr/>
        </p:nvSpPr>
        <p:spPr>
          <a:xfrm>
            <a:off x="1046988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27/08</a:t>
            </a:r>
            <a:endParaRPr lang="en-US" sz="850" dirty="0"/>
          </a:p>
        </p:txBody>
      </p:sp>
      <p:sp>
        <p:nvSpPr>
          <p:cNvPr id="17" name="Text 15"/>
          <p:cNvSpPr/>
          <p:nvPr/>
        </p:nvSpPr>
        <p:spPr>
          <a:xfrm>
            <a:off x="1124712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27/09</a:t>
            </a:r>
            <a:endParaRPr lang="en-US" sz="850" dirty="0"/>
          </a:p>
        </p:txBody>
      </p:sp>
      <p:sp>
        <p:nvSpPr>
          <p:cNvPr id="18" name="Shape 16"/>
          <p:cNvSpPr/>
          <p:nvPr/>
        </p:nvSpPr>
        <p:spPr>
          <a:xfrm>
            <a:off x="594360" y="1901952"/>
            <a:ext cx="11430000" cy="438912"/>
          </a:xfrm>
          <a:prstGeom prst="rect">
            <a:avLst/>
          </a:prstGeom>
          <a:solidFill>
            <a:srgbClr val="FFFFFF"/>
          </a:solidFill>
          <a:ln w="6350">
            <a:solidFill>
              <a:srgbClr val="E2E0DC"/>
            </a:solidFill>
            <a:prstDash val="solid"/>
          </a:ln>
        </p:spPr>
      </p:sp>
      <p:sp>
        <p:nvSpPr>
          <p:cNvPr id="19" name="Text 17"/>
          <p:cNvSpPr/>
          <p:nvPr/>
        </p:nvSpPr>
        <p:spPr>
          <a:xfrm>
            <a:off x="704088" y="1901952"/>
            <a:ext cx="2103120" cy="438912"/>
          </a:xfrm>
          <a:prstGeom prst="rect">
            <a:avLst/>
          </a:prstGeom>
          <a:noFill/>
          <a:ln/>
        </p:spPr>
        <p:txBody>
          <a:bodyPr wrap="square" lIns="0" tIns="0" rIns="0" bIns="0" rtlCol="0" anchor="ctr"/>
          <a:lstStyle/>
          <a:p>
            <a:pPr indent="0" marL="0">
              <a:buNone/>
            </a:pPr>
            <a:r>
              <a:rPr lang="en-US" sz="950" dirty="0">
                <a:solidFill>
                  <a:srgbClr val="1A1A1A"/>
                </a:solidFill>
                <a:latin typeface="メイリオ" pitchFamily="34" charset="0"/>
                <a:ea typeface="メイリオ" pitchFamily="34" charset="-122"/>
                <a:cs typeface="メイリオ" pitchFamily="34" charset="-120"/>
              </a:rPr>
              <a:t>営業収入 計</a:t>
            </a:r>
            <a:endParaRPr lang="en-US" sz="950" dirty="0"/>
          </a:p>
        </p:txBody>
      </p:sp>
      <p:sp>
        <p:nvSpPr>
          <p:cNvPr id="20" name="Text 18"/>
          <p:cNvSpPr/>
          <p:nvPr/>
        </p:nvSpPr>
        <p:spPr>
          <a:xfrm>
            <a:off x="269748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74.5</a:t>
            </a:r>
            <a:endParaRPr lang="en-US" sz="900" dirty="0"/>
          </a:p>
        </p:txBody>
      </p:sp>
      <p:sp>
        <p:nvSpPr>
          <p:cNvPr id="21" name="Text 19"/>
          <p:cNvSpPr/>
          <p:nvPr/>
        </p:nvSpPr>
        <p:spPr>
          <a:xfrm>
            <a:off x="347472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74.5</a:t>
            </a:r>
            <a:endParaRPr lang="en-US" sz="900" dirty="0"/>
          </a:p>
        </p:txBody>
      </p:sp>
      <p:sp>
        <p:nvSpPr>
          <p:cNvPr id="22" name="Text 20"/>
          <p:cNvSpPr/>
          <p:nvPr/>
        </p:nvSpPr>
        <p:spPr>
          <a:xfrm>
            <a:off x="425196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74.5</a:t>
            </a:r>
            <a:endParaRPr lang="en-US" sz="900" dirty="0"/>
          </a:p>
        </p:txBody>
      </p:sp>
      <p:sp>
        <p:nvSpPr>
          <p:cNvPr id="23" name="Text 21"/>
          <p:cNvSpPr/>
          <p:nvPr/>
        </p:nvSpPr>
        <p:spPr>
          <a:xfrm>
            <a:off x="502920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74.5</a:t>
            </a:r>
            <a:endParaRPr lang="en-US" sz="900" dirty="0"/>
          </a:p>
        </p:txBody>
      </p:sp>
      <p:sp>
        <p:nvSpPr>
          <p:cNvPr id="24" name="Text 22"/>
          <p:cNvSpPr/>
          <p:nvPr/>
        </p:nvSpPr>
        <p:spPr>
          <a:xfrm>
            <a:off x="580644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74.5</a:t>
            </a:r>
            <a:endParaRPr lang="en-US" sz="900" dirty="0"/>
          </a:p>
        </p:txBody>
      </p:sp>
      <p:sp>
        <p:nvSpPr>
          <p:cNvPr id="25" name="Text 23"/>
          <p:cNvSpPr/>
          <p:nvPr/>
        </p:nvSpPr>
        <p:spPr>
          <a:xfrm>
            <a:off x="658368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85.5</a:t>
            </a:r>
            <a:endParaRPr lang="en-US" sz="900" dirty="0"/>
          </a:p>
        </p:txBody>
      </p:sp>
      <p:sp>
        <p:nvSpPr>
          <p:cNvPr id="26" name="Text 24"/>
          <p:cNvSpPr/>
          <p:nvPr/>
        </p:nvSpPr>
        <p:spPr>
          <a:xfrm>
            <a:off x="736092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74.5</a:t>
            </a:r>
            <a:endParaRPr lang="en-US" sz="900" dirty="0"/>
          </a:p>
        </p:txBody>
      </p:sp>
      <p:sp>
        <p:nvSpPr>
          <p:cNvPr id="27" name="Text 25"/>
          <p:cNvSpPr/>
          <p:nvPr/>
        </p:nvSpPr>
        <p:spPr>
          <a:xfrm>
            <a:off x="813816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74.5</a:t>
            </a:r>
            <a:endParaRPr lang="en-US" sz="900" dirty="0"/>
          </a:p>
        </p:txBody>
      </p:sp>
      <p:sp>
        <p:nvSpPr>
          <p:cNvPr id="28" name="Text 26"/>
          <p:cNvSpPr/>
          <p:nvPr/>
        </p:nvSpPr>
        <p:spPr>
          <a:xfrm>
            <a:off x="891540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74.5</a:t>
            </a:r>
            <a:endParaRPr lang="en-US" sz="900" dirty="0"/>
          </a:p>
        </p:txBody>
      </p:sp>
      <p:sp>
        <p:nvSpPr>
          <p:cNvPr id="29" name="Text 27"/>
          <p:cNvSpPr/>
          <p:nvPr/>
        </p:nvSpPr>
        <p:spPr>
          <a:xfrm>
            <a:off x="969264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74.5</a:t>
            </a:r>
            <a:endParaRPr lang="en-US" sz="900" dirty="0"/>
          </a:p>
        </p:txBody>
      </p:sp>
      <p:sp>
        <p:nvSpPr>
          <p:cNvPr id="30" name="Text 28"/>
          <p:cNvSpPr/>
          <p:nvPr/>
        </p:nvSpPr>
        <p:spPr>
          <a:xfrm>
            <a:off x="1046988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74.5</a:t>
            </a:r>
            <a:endParaRPr lang="en-US" sz="900" dirty="0"/>
          </a:p>
        </p:txBody>
      </p:sp>
      <p:sp>
        <p:nvSpPr>
          <p:cNvPr id="31" name="Text 29"/>
          <p:cNvSpPr/>
          <p:nvPr/>
        </p:nvSpPr>
        <p:spPr>
          <a:xfrm>
            <a:off x="1124712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85.5</a:t>
            </a:r>
            <a:endParaRPr lang="en-US" sz="900" dirty="0"/>
          </a:p>
        </p:txBody>
      </p:sp>
      <p:sp>
        <p:nvSpPr>
          <p:cNvPr id="32" name="Shape 30"/>
          <p:cNvSpPr/>
          <p:nvPr/>
        </p:nvSpPr>
        <p:spPr>
          <a:xfrm>
            <a:off x="594360" y="2340864"/>
            <a:ext cx="11430000" cy="438912"/>
          </a:xfrm>
          <a:prstGeom prst="rect">
            <a:avLst/>
          </a:prstGeom>
          <a:solidFill>
            <a:srgbClr val="FBFAF8"/>
          </a:solidFill>
          <a:ln w="6350">
            <a:solidFill>
              <a:srgbClr val="E2E0DC"/>
            </a:solidFill>
            <a:prstDash val="solid"/>
          </a:ln>
        </p:spPr>
      </p:sp>
      <p:sp>
        <p:nvSpPr>
          <p:cNvPr id="33" name="Text 31"/>
          <p:cNvSpPr/>
          <p:nvPr/>
        </p:nvSpPr>
        <p:spPr>
          <a:xfrm>
            <a:off x="704088" y="2340864"/>
            <a:ext cx="2103120" cy="438912"/>
          </a:xfrm>
          <a:prstGeom prst="rect">
            <a:avLst/>
          </a:prstGeom>
          <a:noFill/>
          <a:ln/>
        </p:spPr>
        <p:txBody>
          <a:bodyPr wrap="square" lIns="0" tIns="0" rIns="0" bIns="0" rtlCol="0" anchor="ctr"/>
          <a:lstStyle/>
          <a:p>
            <a:pPr indent="0" marL="0">
              <a:buNone/>
            </a:pPr>
            <a:r>
              <a:rPr lang="en-US" sz="950" dirty="0">
                <a:solidFill>
                  <a:srgbClr val="1A1A1A"/>
                </a:solidFill>
                <a:latin typeface="メイリオ" pitchFamily="34" charset="0"/>
                <a:ea typeface="メイリオ" pitchFamily="34" charset="-122"/>
                <a:cs typeface="メイリオ" pitchFamily="34" charset="-120"/>
              </a:rPr>
              <a:t>営業支出 計</a:t>
            </a:r>
            <a:endParaRPr lang="en-US" sz="950" dirty="0"/>
          </a:p>
        </p:txBody>
      </p:sp>
      <p:sp>
        <p:nvSpPr>
          <p:cNvPr id="34" name="Text 32"/>
          <p:cNvSpPr/>
          <p:nvPr/>
        </p:nvSpPr>
        <p:spPr>
          <a:xfrm>
            <a:off x="269748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62.5</a:t>
            </a:r>
            <a:endParaRPr lang="en-US" sz="900" dirty="0"/>
          </a:p>
        </p:txBody>
      </p:sp>
      <p:sp>
        <p:nvSpPr>
          <p:cNvPr id="35" name="Text 33"/>
          <p:cNvSpPr/>
          <p:nvPr/>
        </p:nvSpPr>
        <p:spPr>
          <a:xfrm>
            <a:off x="347472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77.0</a:t>
            </a:r>
            <a:endParaRPr lang="en-US" sz="900" dirty="0"/>
          </a:p>
        </p:txBody>
      </p:sp>
      <p:sp>
        <p:nvSpPr>
          <p:cNvPr id="36" name="Text 34"/>
          <p:cNvSpPr/>
          <p:nvPr/>
        </p:nvSpPr>
        <p:spPr>
          <a:xfrm>
            <a:off x="425196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62.5</a:t>
            </a:r>
            <a:endParaRPr lang="en-US" sz="900" dirty="0"/>
          </a:p>
        </p:txBody>
      </p:sp>
      <p:sp>
        <p:nvSpPr>
          <p:cNvPr id="37" name="Text 35"/>
          <p:cNvSpPr/>
          <p:nvPr/>
        </p:nvSpPr>
        <p:spPr>
          <a:xfrm>
            <a:off x="502920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62.5</a:t>
            </a:r>
            <a:endParaRPr lang="en-US" sz="900" dirty="0"/>
          </a:p>
        </p:txBody>
      </p:sp>
      <p:sp>
        <p:nvSpPr>
          <p:cNvPr id="38" name="Text 36"/>
          <p:cNvSpPr/>
          <p:nvPr/>
        </p:nvSpPr>
        <p:spPr>
          <a:xfrm>
            <a:off x="580644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67.2</a:t>
            </a:r>
            <a:endParaRPr lang="en-US" sz="900" dirty="0"/>
          </a:p>
        </p:txBody>
      </p:sp>
      <p:sp>
        <p:nvSpPr>
          <p:cNvPr id="39" name="Text 37"/>
          <p:cNvSpPr/>
          <p:nvPr/>
        </p:nvSpPr>
        <p:spPr>
          <a:xfrm>
            <a:off x="658368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62.5</a:t>
            </a:r>
            <a:endParaRPr lang="en-US" sz="900" dirty="0"/>
          </a:p>
        </p:txBody>
      </p:sp>
      <p:sp>
        <p:nvSpPr>
          <p:cNvPr id="40" name="Text 38"/>
          <p:cNvSpPr/>
          <p:nvPr/>
        </p:nvSpPr>
        <p:spPr>
          <a:xfrm>
            <a:off x="736092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62.5</a:t>
            </a:r>
            <a:endParaRPr lang="en-US" sz="900" dirty="0"/>
          </a:p>
        </p:txBody>
      </p:sp>
      <p:sp>
        <p:nvSpPr>
          <p:cNvPr id="41" name="Text 39"/>
          <p:cNvSpPr/>
          <p:nvPr/>
        </p:nvSpPr>
        <p:spPr>
          <a:xfrm>
            <a:off x="813816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67.2</a:t>
            </a:r>
            <a:endParaRPr lang="en-US" sz="900" dirty="0"/>
          </a:p>
        </p:txBody>
      </p:sp>
      <p:sp>
        <p:nvSpPr>
          <p:cNvPr id="42" name="Text 40"/>
          <p:cNvSpPr/>
          <p:nvPr/>
        </p:nvSpPr>
        <p:spPr>
          <a:xfrm>
            <a:off x="891540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62.5</a:t>
            </a:r>
            <a:endParaRPr lang="en-US" sz="900" dirty="0"/>
          </a:p>
        </p:txBody>
      </p:sp>
      <p:sp>
        <p:nvSpPr>
          <p:cNvPr id="43" name="Text 41"/>
          <p:cNvSpPr/>
          <p:nvPr/>
        </p:nvSpPr>
        <p:spPr>
          <a:xfrm>
            <a:off x="969264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62.5</a:t>
            </a:r>
            <a:endParaRPr lang="en-US" sz="900" dirty="0"/>
          </a:p>
        </p:txBody>
      </p:sp>
      <p:sp>
        <p:nvSpPr>
          <p:cNvPr id="44" name="Text 42"/>
          <p:cNvSpPr/>
          <p:nvPr/>
        </p:nvSpPr>
        <p:spPr>
          <a:xfrm>
            <a:off x="1046988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67.2</a:t>
            </a:r>
            <a:endParaRPr lang="en-US" sz="900" dirty="0"/>
          </a:p>
        </p:txBody>
      </p:sp>
      <p:sp>
        <p:nvSpPr>
          <p:cNvPr id="45" name="Text 43"/>
          <p:cNvSpPr/>
          <p:nvPr/>
        </p:nvSpPr>
        <p:spPr>
          <a:xfrm>
            <a:off x="1124712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62.5</a:t>
            </a:r>
            <a:endParaRPr lang="en-US" sz="900" dirty="0"/>
          </a:p>
        </p:txBody>
      </p:sp>
      <p:sp>
        <p:nvSpPr>
          <p:cNvPr id="46" name="Shape 44"/>
          <p:cNvSpPr/>
          <p:nvPr/>
        </p:nvSpPr>
        <p:spPr>
          <a:xfrm>
            <a:off x="594360" y="2779776"/>
            <a:ext cx="11430000" cy="438912"/>
          </a:xfrm>
          <a:prstGeom prst="rect">
            <a:avLst/>
          </a:prstGeom>
          <a:solidFill>
            <a:srgbClr val="F5F3EE"/>
          </a:solidFill>
          <a:ln w="6350">
            <a:solidFill>
              <a:srgbClr val="E2E0DC"/>
            </a:solidFill>
            <a:prstDash val="solid"/>
          </a:ln>
        </p:spPr>
      </p:sp>
      <p:sp>
        <p:nvSpPr>
          <p:cNvPr id="47" name="Text 45"/>
          <p:cNvSpPr/>
          <p:nvPr/>
        </p:nvSpPr>
        <p:spPr>
          <a:xfrm>
            <a:off x="704088" y="2779776"/>
            <a:ext cx="2103120" cy="438912"/>
          </a:xfrm>
          <a:prstGeom prst="rect">
            <a:avLst/>
          </a:prstGeom>
          <a:noFill/>
          <a:ln/>
        </p:spPr>
        <p:txBody>
          <a:bodyPr wrap="square" lIns="0" tIns="0" rIns="0" bIns="0" rtlCol="0" anchor="ctr"/>
          <a:lstStyle/>
          <a:p>
            <a:pPr indent="0" marL="0">
              <a:buNone/>
            </a:pPr>
            <a:r>
              <a:rPr lang="en-US" sz="950" b="1" dirty="0">
                <a:solidFill>
                  <a:srgbClr val="1A1A1A"/>
                </a:solidFill>
                <a:latin typeface="メイリオ" pitchFamily="34" charset="0"/>
                <a:ea typeface="メイリオ" pitchFamily="34" charset="-122"/>
                <a:cs typeface="メイリオ" pitchFamily="34" charset="-120"/>
              </a:rPr>
              <a:t>経常収支</a:t>
            </a:r>
            <a:endParaRPr lang="en-US" sz="950" dirty="0"/>
          </a:p>
        </p:txBody>
      </p:sp>
      <p:sp>
        <p:nvSpPr>
          <p:cNvPr id="48" name="Text 46"/>
          <p:cNvSpPr/>
          <p:nvPr/>
        </p:nvSpPr>
        <p:spPr>
          <a:xfrm>
            <a:off x="269748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12.0</a:t>
            </a:r>
            <a:endParaRPr lang="en-US" sz="900" dirty="0"/>
          </a:p>
        </p:txBody>
      </p:sp>
      <p:sp>
        <p:nvSpPr>
          <p:cNvPr id="49" name="Text 47"/>
          <p:cNvSpPr/>
          <p:nvPr/>
        </p:nvSpPr>
        <p:spPr>
          <a:xfrm>
            <a:off x="3474720" y="2779776"/>
            <a:ext cx="777240" cy="438912"/>
          </a:xfrm>
          <a:prstGeom prst="rect">
            <a:avLst/>
          </a:prstGeom>
          <a:noFill/>
          <a:ln/>
        </p:spPr>
        <p:txBody>
          <a:bodyPr wrap="square" lIns="0" tIns="0" rIns="0" bIns="0" rtlCol="0" anchor="ctr"/>
          <a:lstStyle/>
          <a:p>
            <a:pPr algn="ctr" indent="0" marL="0">
              <a:buNone/>
            </a:pPr>
            <a:r>
              <a:rPr lang="en-US" sz="900" b="1" dirty="0">
                <a:solidFill>
                  <a:srgbClr val="6E6E6E"/>
                </a:solidFill>
                <a:latin typeface="メイリオ" pitchFamily="34" charset="0"/>
                <a:ea typeface="メイリオ" pitchFamily="34" charset="-122"/>
                <a:cs typeface="メイリオ" pitchFamily="34" charset="-120"/>
              </a:rPr>
              <a:t>▲2.5</a:t>
            </a:r>
            <a:endParaRPr lang="en-US" sz="900" dirty="0"/>
          </a:p>
        </p:txBody>
      </p:sp>
      <p:sp>
        <p:nvSpPr>
          <p:cNvPr id="50" name="Text 48"/>
          <p:cNvSpPr/>
          <p:nvPr/>
        </p:nvSpPr>
        <p:spPr>
          <a:xfrm>
            <a:off x="425196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12.0</a:t>
            </a:r>
            <a:endParaRPr lang="en-US" sz="900" dirty="0"/>
          </a:p>
        </p:txBody>
      </p:sp>
      <p:sp>
        <p:nvSpPr>
          <p:cNvPr id="51" name="Text 49"/>
          <p:cNvSpPr/>
          <p:nvPr/>
        </p:nvSpPr>
        <p:spPr>
          <a:xfrm>
            <a:off x="502920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12.0</a:t>
            </a:r>
            <a:endParaRPr lang="en-US" sz="900" dirty="0"/>
          </a:p>
        </p:txBody>
      </p:sp>
      <p:sp>
        <p:nvSpPr>
          <p:cNvPr id="52" name="Text 50"/>
          <p:cNvSpPr/>
          <p:nvPr/>
        </p:nvSpPr>
        <p:spPr>
          <a:xfrm>
            <a:off x="580644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7.4</a:t>
            </a:r>
            <a:endParaRPr lang="en-US" sz="900" dirty="0"/>
          </a:p>
        </p:txBody>
      </p:sp>
      <p:sp>
        <p:nvSpPr>
          <p:cNvPr id="53" name="Text 51"/>
          <p:cNvSpPr/>
          <p:nvPr/>
        </p:nvSpPr>
        <p:spPr>
          <a:xfrm>
            <a:off x="658368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23.0</a:t>
            </a:r>
            <a:endParaRPr lang="en-US" sz="900" dirty="0"/>
          </a:p>
        </p:txBody>
      </p:sp>
      <p:sp>
        <p:nvSpPr>
          <p:cNvPr id="54" name="Text 52"/>
          <p:cNvSpPr/>
          <p:nvPr/>
        </p:nvSpPr>
        <p:spPr>
          <a:xfrm>
            <a:off x="736092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12.0</a:t>
            </a:r>
            <a:endParaRPr lang="en-US" sz="900" dirty="0"/>
          </a:p>
        </p:txBody>
      </p:sp>
      <p:sp>
        <p:nvSpPr>
          <p:cNvPr id="55" name="Text 53"/>
          <p:cNvSpPr/>
          <p:nvPr/>
        </p:nvSpPr>
        <p:spPr>
          <a:xfrm>
            <a:off x="813816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7.4</a:t>
            </a:r>
            <a:endParaRPr lang="en-US" sz="900" dirty="0"/>
          </a:p>
        </p:txBody>
      </p:sp>
      <p:sp>
        <p:nvSpPr>
          <p:cNvPr id="56" name="Text 54"/>
          <p:cNvSpPr/>
          <p:nvPr/>
        </p:nvSpPr>
        <p:spPr>
          <a:xfrm>
            <a:off x="891540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12.0</a:t>
            </a:r>
            <a:endParaRPr lang="en-US" sz="900" dirty="0"/>
          </a:p>
        </p:txBody>
      </p:sp>
      <p:sp>
        <p:nvSpPr>
          <p:cNvPr id="57" name="Text 55"/>
          <p:cNvSpPr/>
          <p:nvPr/>
        </p:nvSpPr>
        <p:spPr>
          <a:xfrm>
            <a:off x="969264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12.0</a:t>
            </a:r>
            <a:endParaRPr lang="en-US" sz="900" dirty="0"/>
          </a:p>
        </p:txBody>
      </p:sp>
      <p:sp>
        <p:nvSpPr>
          <p:cNvPr id="58" name="Text 56"/>
          <p:cNvSpPr/>
          <p:nvPr/>
        </p:nvSpPr>
        <p:spPr>
          <a:xfrm>
            <a:off x="1046988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7.4</a:t>
            </a:r>
            <a:endParaRPr lang="en-US" sz="900" dirty="0"/>
          </a:p>
        </p:txBody>
      </p:sp>
      <p:sp>
        <p:nvSpPr>
          <p:cNvPr id="59" name="Text 57"/>
          <p:cNvSpPr/>
          <p:nvPr/>
        </p:nvSpPr>
        <p:spPr>
          <a:xfrm>
            <a:off x="1124712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23.0</a:t>
            </a:r>
            <a:endParaRPr lang="en-US" sz="900" dirty="0"/>
          </a:p>
        </p:txBody>
      </p:sp>
      <p:sp>
        <p:nvSpPr>
          <p:cNvPr id="60" name="Shape 58"/>
          <p:cNvSpPr/>
          <p:nvPr/>
        </p:nvSpPr>
        <p:spPr>
          <a:xfrm>
            <a:off x="594360" y="3218688"/>
            <a:ext cx="11430000" cy="438912"/>
          </a:xfrm>
          <a:prstGeom prst="rect">
            <a:avLst/>
          </a:prstGeom>
          <a:solidFill>
            <a:srgbClr val="FBFAF8"/>
          </a:solidFill>
          <a:ln w="6350">
            <a:solidFill>
              <a:srgbClr val="E2E0DC"/>
            </a:solidFill>
            <a:prstDash val="solid"/>
          </a:ln>
        </p:spPr>
      </p:sp>
      <p:sp>
        <p:nvSpPr>
          <p:cNvPr id="61" name="Text 59"/>
          <p:cNvSpPr/>
          <p:nvPr/>
        </p:nvSpPr>
        <p:spPr>
          <a:xfrm>
            <a:off x="704088" y="3218688"/>
            <a:ext cx="2103120" cy="438912"/>
          </a:xfrm>
          <a:prstGeom prst="rect">
            <a:avLst/>
          </a:prstGeom>
          <a:noFill/>
          <a:ln/>
        </p:spPr>
        <p:txBody>
          <a:bodyPr wrap="square" lIns="0" tIns="0" rIns="0" bIns="0" rtlCol="0" anchor="ctr"/>
          <a:lstStyle/>
          <a:p>
            <a:pPr indent="0" marL="0">
              <a:buNone/>
            </a:pPr>
            <a:r>
              <a:rPr lang="en-US" sz="950" dirty="0">
                <a:solidFill>
                  <a:srgbClr val="1A1A1A"/>
                </a:solidFill>
                <a:latin typeface="メイリオ" pitchFamily="34" charset="0"/>
                <a:ea typeface="メイリオ" pitchFamily="34" charset="-122"/>
                <a:cs typeface="メイリオ" pitchFamily="34" charset="-120"/>
              </a:rPr>
              <a:t>財務収支 計</a:t>
            </a:r>
            <a:endParaRPr lang="en-US" sz="950" dirty="0"/>
          </a:p>
        </p:txBody>
      </p:sp>
      <p:sp>
        <p:nvSpPr>
          <p:cNvPr id="62" name="Text 60"/>
          <p:cNvSpPr/>
          <p:nvPr/>
        </p:nvSpPr>
        <p:spPr>
          <a:xfrm>
            <a:off x="269748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63" name="Text 61"/>
          <p:cNvSpPr/>
          <p:nvPr/>
        </p:nvSpPr>
        <p:spPr>
          <a:xfrm>
            <a:off x="347472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64" name="Text 62"/>
          <p:cNvSpPr/>
          <p:nvPr/>
        </p:nvSpPr>
        <p:spPr>
          <a:xfrm>
            <a:off x="425196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65" name="Text 63"/>
          <p:cNvSpPr/>
          <p:nvPr/>
        </p:nvSpPr>
        <p:spPr>
          <a:xfrm>
            <a:off x="502920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66" name="Text 64"/>
          <p:cNvSpPr/>
          <p:nvPr/>
        </p:nvSpPr>
        <p:spPr>
          <a:xfrm>
            <a:off x="580644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67" name="Text 65"/>
          <p:cNvSpPr/>
          <p:nvPr/>
        </p:nvSpPr>
        <p:spPr>
          <a:xfrm>
            <a:off x="658368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68" name="Text 66"/>
          <p:cNvSpPr/>
          <p:nvPr/>
        </p:nvSpPr>
        <p:spPr>
          <a:xfrm>
            <a:off x="736092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69" name="Text 67"/>
          <p:cNvSpPr/>
          <p:nvPr/>
        </p:nvSpPr>
        <p:spPr>
          <a:xfrm>
            <a:off x="813816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70" name="Text 68"/>
          <p:cNvSpPr/>
          <p:nvPr/>
        </p:nvSpPr>
        <p:spPr>
          <a:xfrm>
            <a:off x="891540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71" name="Text 69"/>
          <p:cNvSpPr/>
          <p:nvPr/>
        </p:nvSpPr>
        <p:spPr>
          <a:xfrm>
            <a:off x="969264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72" name="Text 70"/>
          <p:cNvSpPr/>
          <p:nvPr/>
        </p:nvSpPr>
        <p:spPr>
          <a:xfrm>
            <a:off x="1046988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73" name="Text 71"/>
          <p:cNvSpPr/>
          <p:nvPr/>
        </p:nvSpPr>
        <p:spPr>
          <a:xfrm>
            <a:off x="1124712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74" name="Shape 72"/>
          <p:cNvSpPr/>
          <p:nvPr/>
        </p:nvSpPr>
        <p:spPr>
          <a:xfrm>
            <a:off x="594360" y="3657600"/>
            <a:ext cx="11430000" cy="438912"/>
          </a:xfrm>
          <a:prstGeom prst="rect">
            <a:avLst/>
          </a:prstGeom>
          <a:solidFill>
            <a:srgbClr val="F5F3EE"/>
          </a:solidFill>
          <a:ln w="6350">
            <a:solidFill>
              <a:srgbClr val="E2E0DC"/>
            </a:solidFill>
            <a:prstDash val="solid"/>
          </a:ln>
        </p:spPr>
      </p:sp>
      <p:sp>
        <p:nvSpPr>
          <p:cNvPr id="75" name="Text 73"/>
          <p:cNvSpPr/>
          <p:nvPr/>
        </p:nvSpPr>
        <p:spPr>
          <a:xfrm>
            <a:off x="704088" y="3657600"/>
            <a:ext cx="2103120" cy="438912"/>
          </a:xfrm>
          <a:prstGeom prst="rect">
            <a:avLst/>
          </a:prstGeom>
          <a:noFill/>
          <a:ln/>
        </p:spPr>
        <p:txBody>
          <a:bodyPr wrap="square" lIns="0" tIns="0" rIns="0" bIns="0" rtlCol="0" anchor="ctr"/>
          <a:lstStyle/>
          <a:p>
            <a:pPr indent="0" marL="0">
              <a:buNone/>
            </a:pPr>
            <a:r>
              <a:rPr lang="en-US" sz="950" b="1" dirty="0">
                <a:solidFill>
                  <a:srgbClr val="1A1A1A"/>
                </a:solidFill>
                <a:latin typeface="メイリオ" pitchFamily="34" charset="0"/>
                <a:ea typeface="メイリオ" pitchFamily="34" charset="-122"/>
                <a:cs typeface="メイリオ" pitchFamily="34" charset="-120"/>
              </a:rPr>
              <a:t>当月収支</a:t>
            </a:r>
            <a:endParaRPr lang="en-US" sz="950" dirty="0"/>
          </a:p>
        </p:txBody>
      </p:sp>
      <p:sp>
        <p:nvSpPr>
          <p:cNvPr id="76" name="Text 74"/>
          <p:cNvSpPr/>
          <p:nvPr/>
        </p:nvSpPr>
        <p:spPr>
          <a:xfrm>
            <a:off x="269748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9.3</a:t>
            </a:r>
            <a:endParaRPr lang="en-US" sz="900" dirty="0"/>
          </a:p>
        </p:txBody>
      </p:sp>
      <p:sp>
        <p:nvSpPr>
          <p:cNvPr id="77" name="Text 75"/>
          <p:cNvSpPr/>
          <p:nvPr/>
        </p:nvSpPr>
        <p:spPr>
          <a:xfrm>
            <a:off x="3474720" y="3657600"/>
            <a:ext cx="777240" cy="438912"/>
          </a:xfrm>
          <a:prstGeom prst="rect">
            <a:avLst/>
          </a:prstGeom>
          <a:noFill/>
          <a:ln/>
        </p:spPr>
        <p:txBody>
          <a:bodyPr wrap="square" lIns="0" tIns="0" rIns="0" bIns="0" rtlCol="0" anchor="ctr"/>
          <a:lstStyle/>
          <a:p>
            <a:pPr algn="ctr" indent="0" marL="0">
              <a:buNone/>
            </a:pPr>
            <a:r>
              <a:rPr lang="en-US" sz="900" b="1" dirty="0">
                <a:solidFill>
                  <a:srgbClr val="6E6E6E"/>
                </a:solidFill>
                <a:latin typeface="メイリオ" pitchFamily="34" charset="0"/>
                <a:ea typeface="メイリオ" pitchFamily="34" charset="-122"/>
                <a:cs typeface="メイリオ" pitchFamily="34" charset="-120"/>
              </a:rPr>
              <a:t>▲5.2</a:t>
            </a:r>
            <a:endParaRPr lang="en-US" sz="900" dirty="0"/>
          </a:p>
        </p:txBody>
      </p:sp>
      <p:sp>
        <p:nvSpPr>
          <p:cNvPr id="78" name="Text 76"/>
          <p:cNvSpPr/>
          <p:nvPr/>
        </p:nvSpPr>
        <p:spPr>
          <a:xfrm>
            <a:off x="425196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9.3</a:t>
            </a:r>
            <a:endParaRPr lang="en-US" sz="900" dirty="0"/>
          </a:p>
        </p:txBody>
      </p:sp>
      <p:sp>
        <p:nvSpPr>
          <p:cNvPr id="79" name="Text 77"/>
          <p:cNvSpPr/>
          <p:nvPr/>
        </p:nvSpPr>
        <p:spPr>
          <a:xfrm>
            <a:off x="502920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9.3</a:t>
            </a:r>
            <a:endParaRPr lang="en-US" sz="900" dirty="0"/>
          </a:p>
        </p:txBody>
      </p:sp>
      <p:sp>
        <p:nvSpPr>
          <p:cNvPr id="80" name="Text 78"/>
          <p:cNvSpPr/>
          <p:nvPr/>
        </p:nvSpPr>
        <p:spPr>
          <a:xfrm>
            <a:off x="580644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4.7</a:t>
            </a:r>
            <a:endParaRPr lang="en-US" sz="900" dirty="0"/>
          </a:p>
        </p:txBody>
      </p:sp>
      <p:sp>
        <p:nvSpPr>
          <p:cNvPr id="81" name="Text 79"/>
          <p:cNvSpPr/>
          <p:nvPr/>
        </p:nvSpPr>
        <p:spPr>
          <a:xfrm>
            <a:off x="658368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20.3</a:t>
            </a:r>
            <a:endParaRPr lang="en-US" sz="900" dirty="0"/>
          </a:p>
        </p:txBody>
      </p:sp>
      <p:sp>
        <p:nvSpPr>
          <p:cNvPr id="82" name="Text 80"/>
          <p:cNvSpPr/>
          <p:nvPr/>
        </p:nvSpPr>
        <p:spPr>
          <a:xfrm>
            <a:off x="736092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9.3</a:t>
            </a:r>
            <a:endParaRPr lang="en-US" sz="900" dirty="0"/>
          </a:p>
        </p:txBody>
      </p:sp>
      <p:sp>
        <p:nvSpPr>
          <p:cNvPr id="83" name="Text 81"/>
          <p:cNvSpPr/>
          <p:nvPr/>
        </p:nvSpPr>
        <p:spPr>
          <a:xfrm>
            <a:off x="813816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4.7</a:t>
            </a:r>
            <a:endParaRPr lang="en-US" sz="900" dirty="0"/>
          </a:p>
        </p:txBody>
      </p:sp>
      <p:sp>
        <p:nvSpPr>
          <p:cNvPr id="84" name="Text 82"/>
          <p:cNvSpPr/>
          <p:nvPr/>
        </p:nvSpPr>
        <p:spPr>
          <a:xfrm>
            <a:off x="891540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9.3</a:t>
            </a:r>
            <a:endParaRPr lang="en-US" sz="900" dirty="0"/>
          </a:p>
        </p:txBody>
      </p:sp>
      <p:sp>
        <p:nvSpPr>
          <p:cNvPr id="85" name="Text 83"/>
          <p:cNvSpPr/>
          <p:nvPr/>
        </p:nvSpPr>
        <p:spPr>
          <a:xfrm>
            <a:off x="969264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9.3</a:t>
            </a:r>
            <a:endParaRPr lang="en-US" sz="900" dirty="0"/>
          </a:p>
        </p:txBody>
      </p:sp>
      <p:sp>
        <p:nvSpPr>
          <p:cNvPr id="86" name="Text 84"/>
          <p:cNvSpPr/>
          <p:nvPr/>
        </p:nvSpPr>
        <p:spPr>
          <a:xfrm>
            <a:off x="1046988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4.7</a:t>
            </a:r>
            <a:endParaRPr lang="en-US" sz="900" dirty="0"/>
          </a:p>
        </p:txBody>
      </p:sp>
      <p:sp>
        <p:nvSpPr>
          <p:cNvPr id="87" name="Text 85"/>
          <p:cNvSpPr/>
          <p:nvPr/>
        </p:nvSpPr>
        <p:spPr>
          <a:xfrm>
            <a:off x="1124712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20.3</a:t>
            </a:r>
            <a:endParaRPr lang="en-US" sz="900" dirty="0"/>
          </a:p>
        </p:txBody>
      </p:sp>
      <p:sp>
        <p:nvSpPr>
          <p:cNvPr id="88" name="Shape 86"/>
          <p:cNvSpPr/>
          <p:nvPr/>
        </p:nvSpPr>
        <p:spPr>
          <a:xfrm>
            <a:off x="594360" y="4096512"/>
            <a:ext cx="11430000" cy="438912"/>
          </a:xfrm>
          <a:prstGeom prst="rect">
            <a:avLst/>
          </a:prstGeom>
          <a:solidFill>
            <a:srgbClr val="FAF3E2"/>
          </a:solidFill>
          <a:ln w="6350">
            <a:solidFill>
              <a:srgbClr val="E2E0DC"/>
            </a:solidFill>
            <a:prstDash val="solid"/>
          </a:ln>
        </p:spPr>
      </p:sp>
      <p:sp>
        <p:nvSpPr>
          <p:cNvPr id="89" name="Text 87"/>
          <p:cNvSpPr/>
          <p:nvPr/>
        </p:nvSpPr>
        <p:spPr>
          <a:xfrm>
            <a:off x="704088" y="4096512"/>
            <a:ext cx="2103120" cy="438912"/>
          </a:xfrm>
          <a:prstGeom prst="rect">
            <a:avLst/>
          </a:prstGeom>
          <a:noFill/>
          <a:ln/>
        </p:spPr>
        <p:txBody>
          <a:bodyPr wrap="square" lIns="0" tIns="0" rIns="0" bIns="0" rtlCol="0" anchor="ctr"/>
          <a:lstStyle/>
          <a:p>
            <a:pPr indent="0" marL="0">
              <a:buNone/>
            </a:pPr>
            <a:r>
              <a:rPr lang="en-US" sz="950" b="1" dirty="0">
                <a:solidFill>
                  <a:srgbClr val="1A1A1A"/>
                </a:solidFill>
                <a:latin typeface="メイリオ" pitchFamily="34" charset="0"/>
                <a:ea typeface="メイリオ" pitchFamily="34" charset="-122"/>
                <a:cs typeface="メイリオ" pitchFamily="34" charset="-120"/>
              </a:rPr>
              <a:t>月末 現預金残高</a:t>
            </a:r>
            <a:endParaRPr lang="en-US" sz="950" dirty="0"/>
          </a:p>
        </p:txBody>
      </p:sp>
      <p:sp>
        <p:nvSpPr>
          <p:cNvPr id="90" name="Text 88"/>
          <p:cNvSpPr/>
          <p:nvPr/>
        </p:nvSpPr>
        <p:spPr>
          <a:xfrm>
            <a:off x="269748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39.3</a:t>
            </a:r>
            <a:endParaRPr lang="en-US" sz="900" dirty="0"/>
          </a:p>
        </p:txBody>
      </p:sp>
      <p:sp>
        <p:nvSpPr>
          <p:cNvPr id="91" name="Text 89"/>
          <p:cNvSpPr/>
          <p:nvPr/>
        </p:nvSpPr>
        <p:spPr>
          <a:xfrm>
            <a:off x="347472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34.2</a:t>
            </a:r>
            <a:endParaRPr lang="en-US" sz="900" dirty="0"/>
          </a:p>
        </p:txBody>
      </p:sp>
      <p:sp>
        <p:nvSpPr>
          <p:cNvPr id="92" name="Text 90"/>
          <p:cNvSpPr/>
          <p:nvPr/>
        </p:nvSpPr>
        <p:spPr>
          <a:xfrm>
            <a:off x="425196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43.5</a:t>
            </a:r>
            <a:endParaRPr lang="en-US" sz="900" dirty="0"/>
          </a:p>
        </p:txBody>
      </p:sp>
      <p:sp>
        <p:nvSpPr>
          <p:cNvPr id="93" name="Text 91"/>
          <p:cNvSpPr/>
          <p:nvPr/>
        </p:nvSpPr>
        <p:spPr>
          <a:xfrm>
            <a:off x="502920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52.9</a:t>
            </a:r>
            <a:endParaRPr lang="en-US" sz="900" dirty="0"/>
          </a:p>
        </p:txBody>
      </p:sp>
      <p:sp>
        <p:nvSpPr>
          <p:cNvPr id="94" name="Text 92"/>
          <p:cNvSpPr/>
          <p:nvPr/>
        </p:nvSpPr>
        <p:spPr>
          <a:xfrm>
            <a:off x="580644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57.6</a:t>
            </a:r>
            <a:endParaRPr lang="en-US" sz="900" dirty="0"/>
          </a:p>
        </p:txBody>
      </p:sp>
      <p:sp>
        <p:nvSpPr>
          <p:cNvPr id="95" name="Text 93"/>
          <p:cNvSpPr/>
          <p:nvPr/>
        </p:nvSpPr>
        <p:spPr>
          <a:xfrm>
            <a:off x="658368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77.9</a:t>
            </a:r>
            <a:endParaRPr lang="en-US" sz="900" dirty="0"/>
          </a:p>
        </p:txBody>
      </p:sp>
      <p:sp>
        <p:nvSpPr>
          <p:cNvPr id="96" name="Text 94"/>
          <p:cNvSpPr/>
          <p:nvPr/>
        </p:nvSpPr>
        <p:spPr>
          <a:xfrm>
            <a:off x="736092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87.3</a:t>
            </a:r>
            <a:endParaRPr lang="en-US" sz="900" dirty="0"/>
          </a:p>
        </p:txBody>
      </p:sp>
      <p:sp>
        <p:nvSpPr>
          <p:cNvPr id="97" name="Text 95"/>
          <p:cNvSpPr/>
          <p:nvPr/>
        </p:nvSpPr>
        <p:spPr>
          <a:xfrm>
            <a:off x="813816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92.0</a:t>
            </a:r>
            <a:endParaRPr lang="en-US" sz="900" dirty="0"/>
          </a:p>
        </p:txBody>
      </p:sp>
      <p:sp>
        <p:nvSpPr>
          <p:cNvPr id="98" name="Text 96"/>
          <p:cNvSpPr/>
          <p:nvPr/>
        </p:nvSpPr>
        <p:spPr>
          <a:xfrm>
            <a:off x="891540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101.3</a:t>
            </a:r>
            <a:endParaRPr lang="en-US" sz="900" dirty="0"/>
          </a:p>
        </p:txBody>
      </p:sp>
      <p:sp>
        <p:nvSpPr>
          <p:cNvPr id="99" name="Text 97"/>
          <p:cNvSpPr/>
          <p:nvPr/>
        </p:nvSpPr>
        <p:spPr>
          <a:xfrm>
            <a:off x="969264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110.7</a:t>
            </a:r>
            <a:endParaRPr lang="en-US" sz="900" dirty="0"/>
          </a:p>
        </p:txBody>
      </p:sp>
      <p:sp>
        <p:nvSpPr>
          <p:cNvPr id="100" name="Text 98"/>
          <p:cNvSpPr/>
          <p:nvPr/>
        </p:nvSpPr>
        <p:spPr>
          <a:xfrm>
            <a:off x="1046988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115.4</a:t>
            </a:r>
            <a:endParaRPr lang="en-US" sz="900" dirty="0"/>
          </a:p>
        </p:txBody>
      </p:sp>
      <p:sp>
        <p:nvSpPr>
          <p:cNvPr id="101" name="Text 99"/>
          <p:cNvSpPr/>
          <p:nvPr/>
        </p:nvSpPr>
        <p:spPr>
          <a:xfrm>
            <a:off x="1124712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135.8</a:t>
            </a:r>
            <a:endParaRPr lang="en-US" sz="900" dirty="0"/>
          </a:p>
        </p:txBody>
      </p:sp>
      <p:sp>
        <p:nvSpPr>
          <p:cNvPr id="102" name="Shape 100"/>
          <p:cNvSpPr/>
          <p:nvPr/>
        </p:nvSpPr>
        <p:spPr>
          <a:xfrm>
            <a:off x="594360" y="4791456"/>
            <a:ext cx="5349240" cy="1481328"/>
          </a:xfrm>
          <a:prstGeom prst="roundRect">
            <a:avLst>
              <a:gd name="adj" fmla="val 3086"/>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03" name="Text 101"/>
          <p:cNvSpPr/>
          <p:nvPr/>
        </p:nvSpPr>
        <p:spPr>
          <a:xfrm>
            <a:off x="868680" y="4956048"/>
            <a:ext cx="4800600" cy="292608"/>
          </a:xfrm>
          <a:prstGeom prst="rect">
            <a:avLst/>
          </a:prstGeom>
          <a:noFill/>
          <a:ln/>
        </p:spPr>
        <p:txBody>
          <a:bodyPr wrap="square" lIns="0" tIns="0" rIns="0" bIns="0" rtlCol="0" anchor="ctr"/>
          <a:lstStyle/>
          <a:p>
            <a:pPr indent="0" marL="0">
              <a:buNone/>
            </a:pPr>
            <a:r>
              <a:rPr lang="en-US" sz="1200" b="1" dirty="0">
                <a:solidFill>
                  <a:srgbClr val="A98442"/>
                </a:solidFill>
                <a:latin typeface="メイリオ" pitchFamily="34" charset="0"/>
                <a:ea typeface="メイリオ" pitchFamily="34" charset="-122"/>
                <a:cs typeface="メイリオ" pitchFamily="34" charset="-120"/>
              </a:rPr>
              <a:t>最も薄いのは2026年11月</a:t>
            </a:r>
            <a:endParaRPr lang="en-US" sz="1200" dirty="0"/>
          </a:p>
        </p:txBody>
      </p:sp>
      <p:sp>
        <p:nvSpPr>
          <p:cNvPr id="104" name="Text 102"/>
          <p:cNvSpPr/>
          <p:nvPr/>
        </p:nvSpPr>
        <p:spPr>
          <a:xfrm>
            <a:off x="868680" y="5294376"/>
            <a:ext cx="4800600" cy="960120"/>
          </a:xfrm>
          <a:prstGeom prst="rect">
            <a:avLst/>
          </a:prstGeom>
          <a:noFill/>
          <a:ln/>
        </p:spPr>
        <p:txBody>
          <a:bodyPr wrap="square" lIns="0" tIns="0" rIns="0" bIns="0" rtlCol="0" anchor="t"/>
          <a:lstStyle/>
          <a:p>
            <a:pPr indent="0" marL="0">
              <a:buNone/>
            </a:pPr>
            <a:r>
              <a:rPr lang="en-US" sz="1050" dirty="0">
                <a:solidFill>
                  <a:srgbClr val="FFFFFF"/>
                </a:solidFill>
                <a:latin typeface="メイリオ" pitchFamily="34" charset="0"/>
                <a:ea typeface="メイリオ" pitchFamily="34" charset="-122"/>
                <a:cs typeface="メイリオ" pitchFamily="34" charset="-120"/>
              </a:rPr>
              <a:t>期首30.0百万円に対し、期中最低は2026/11末の34.2百万円。私募ファンドで課税売上が増えたため、FY2026分の確定納付は14.1百万円、中間納付も1回4.6百万円に増えます。それでも以降は毎月プラスで積み上がり、期末135.8百万円。</a:t>
            </a:r>
            <a:endParaRPr lang="en-US" sz="1050" dirty="0"/>
          </a:p>
        </p:txBody>
      </p:sp>
      <p:sp>
        <p:nvSpPr>
          <p:cNvPr id="105" name="Shape 103"/>
          <p:cNvSpPr/>
          <p:nvPr/>
        </p:nvSpPr>
        <p:spPr>
          <a:xfrm>
            <a:off x="6217920" y="4791456"/>
            <a:ext cx="5349240" cy="292608"/>
          </a:xfrm>
          <a:prstGeom prst="rect">
            <a:avLst/>
          </a:prstGeom>
          <a:solidFill>
            <a:srgbClr val="1A1A1A"/>
          </a:solidFill>
          <a:ln/>
        </p:spPr>
      </p:sp>
      <p:sp>
        <p:nvSpPr>
          <p:cNvPr id="106" name="Text 104"/>
          <p:cNvSpPr/>
          <p:nvPr/>
        </p:nvSpPr>
        <p:spPr>
          <a:xfrm>
            <a:off x="6355080" y="4791456"/>
            <a:ext cx="237744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メイリオ" pitchFamily="34" charset="0"/>
                <a:ea typeface="メイリオ" pitchFamily="34" charset="-122"/>
                <a:cs typeface="メイリオ" pitchFamily="34" charset="-120"/>
              </a:rPr>
              <a:t>感応度</a:t>
            </a:r>
            <a:endParaRPr lang="en-US" sz="900" dirty="0"/>
          </a:p>
        </p:txBody>
      </p:sp>
      <p:sp>
        <p:nvSpPr>
          <p:cNvPr id="107" name="Text 105"/>
          <p:cNvSpPr/>
          <p:nvPr/>
        </p:nvSpPr>
        <p:spPr>
          <a:xfrm>
            <a:off x="8732520" y="4791456"/>
            <a:ext cx="1280160" cy="292608"/>
          </a:xfrm>
          <a:prstGeom prst="rect">
            <a:avLst/>
          </a:prstGeom>
          <a:noFill/>
          <a:ln/>
        </p:spPr>
        <p:txBody>
          <a:bodyPr wrap="square" lIns="0" tIns="0" rIns="0" bIns="0" rtlCol="0" anchor="ctr"/>
          <a:lstStyle/>
          <a:p>
            <a:pPr algn="r" indent="0" marL="0">
              <a:buNone/>
            </a:pPr>
            <a:r>
              <a:rPr lang="en-US" sz="900" b="1" dirty="0">
                <a:solidFill>
                  <a:srgbClr val="FFFFFF"/>
                </a:solidFill>
                <a:latin typeface="メイリオ" pitchFamily="34" charset="0"/>
                <a:ea typeface="メイリオ" pitchFamily="34" charset="-122"/>
                <a:cs typeface="メイリオ" pitchFamily="34" charset="-120"/>
              </a:rPr>
              <a:t>期末残高</a:t>
            </a:r>
            <a:endParaRPr lang="en-US" sz="900" dirty="0"/>
          </a:p>
        </p:txBody>
      </p:sp>
      <p:sp>
        <p:nvSpPr>
          <p:cNvPr id="108" name="Text 106"/>
          <p:cNvSpPr/>
          <p:nvPr/>
        </p:nvSpPr>
        <p:spPr>
          <a:xfrm>
            <a:off x="10104120" y="4791456"/>
            <a:ext cx="1325880" cy="292608"/>
          </a:xfrm>
          <a:prstGeom prst="rect">
            <a:avLst/>
          </a:prstGeom>
          <a:noFill/>
          <a:ln/>
        </p:spPr>
        <p:txBody>
          <a:bodyPr wrap="square" lIns="0" tIns="0" rIns="0" bIns="0" rtlCol="0" anchor="ctr"/>
          <a:lstStyle/>
          <a:p>
            <a:pPr algn="r" indent="0" marL="0">
              <a:buNone/>
            </a:pPr>
            <a:r>
              <a:rPr lang="en-US" sz="900" b="1" dirty="0">
                <a:solidFill>
                  <a:srgbClr val="FFFFFF"/>
                </a:solidFill>
                <a:latin typeface="メイリオ" pitchFamily="34" charset="0"/>
                <a:ea typeface="メイリオ" pitchFamily="34" charset="-122"/>
                <a:cs typeface="メイリオ" pitchFamily="34" charset="-120"/>
              </a:rPr>
              <a:t>期中最低</a:t>
            </a:r>
            <a:endParaRPr lang="en-US" sz="900" dirty="0"/>
          </a:p>
        </p:txBody>
      </p:sp>
      <p:sp>
        <p:nvSpPr>
          <p:cNvPr id="109" name="Shape 107"/>
          <p:cNvSpPr/>
          <p:nvPr/>
        </p:nvSpPr>
        <p:spPr>
          <a:xfrm>
            <a:off x="6217920" y="5084064"/>
            <a:ext cx="5349240" cy="228600"/>
          </a:xfrm>
          <a:prstGeom prst="rect">
            <a:avLst/>
          </a:prstGeom>
          <a:solidFill>
            <a:srgbClr val="FAF3E2"/>
          </a:solidFill>
          <a:ln w="6350">
            <a:solidFill>
              <a:srgbClr val="E2E0DC"/>
            </a:solidFill>
            <a:prstDash val="solid"/>
          </a:ln>
        </p:spPr>
      </p:sp>
      <p:sp>
        <p:nvSpPr>
          <p:cNvPr id="110" name="Text 108"/>
          <p:cNvSpPr/>
          <p:nvPr/>
        </p:nvSpPr>
        <p:spPr>
          <a:xfrm>
            <a:off x="6355080" y="5084064"/>
            <a:ext cx="2377440" cy="228600"/>
          </a:xfrm>
          <a:prstGeom prst="rect">
            <a:avLst/>
          </a:prstGeom>
          <a:noFill/>
          <a:ln/>
        </p:spPr>
        <p:txBody>
          <a:bodyPr wrap="square" lIns="0" tIns="0" rIns="0" bIns="0" rtlCol="0" anchor="ctr"/>
          <a:lstStyle/>
          <a:p>
            <a:pPr indent="0" marL="0">
              <a:buNone/>
            </a:pPr>
            <a:r>
              <a:rPr lang="en-US" sz="850" b="1" dirty="0">
                <a:solidFill>
                  <a:srgbClr val="1A1A1A"/>
                </a:solidFill>
                <a:latin typeface="メイリオ" pitchFamily="34" charset="0"/>
                <a:ea typeface="メイリオ" pitchFamily="34" charset="-122"/>
                <a:cs typeface="メイリオ" pitchFamily="34" charset="-120"/>
              </a:rPr>
              <a:t>A. プランD（本線）</a:t>
            </a:r>
            <a:endParaRPr lang="en-US" sz="850" dirty="0"/>
          </a:p>
        </p:txBody>
      </p:sp>
      <p:sp>
        <p:nvSpPr>
          <p:cNvPr id="111" name="Text 109"/>
          <p:cNvSpPr/>
          <p:nvPr/>
        </p:nvSpPr>
        <p:spPr>
          <a:xfrm>
            <a:off x="8732520" y="5084064"/>
            <a:ext cx="1280160" cy="228600"/>
          </a:xfrm>
          <a:prstGeom prst="rect">
            <a:avLst/>
          </a:prstGeom>
          <a:noFill/>
          <a:ln/>
        </p:spPr>
        <p:txBody>
          <a:bodyPr wrap="square" lIns="0" tIns="0" rIns="0" bIns="0" rtlCol="0" anchor="ctr"/>
          <a:lstStyle/>
          <a:p>
            <a:pPr algn="r" indent="0" marL="0">
              <a:buNone/>
            </a:pPr>
            <a:r>
              <a:rPr lang="en-US" sz="850" b="1" dirty="0">
                <a:solidFill>
                  <a:srgbClr val="1A1A1A"/>
                </a:solidFill>
                <a:latin typeface="メイリオ" pitchFamily="34" charset="0"/>
                <a:ea typeface="メイリオ" pitchFamily="34" charset="-122"/>
                <a:cs typeface="メイリオ" pitchFamily="34" charset="-120"/>
              </a:rPr>
              <a:t>＋135.8</a:t>
            </a:r>
            <a:endParaRPr lang="en-US" sz="850" dirty="0"/>
          </a:p>
        </p:txBody>
      </p:sp>
      <p:sp>
        <p:nvSpPr>
          <p:cNvPr id="112" name="Text 110"/>
          <p:cNvSpPr/>
          <p:nvPr/>
        </p:nvSpPr>
        <p:spPr>
          <a:xfrm>
            <a:off x="10104120" y="5084064"/>
            <a:ext cx="1325880" cy="228600"/>
          </a:xfrm>
          <a:prstGeom prst="rect">
            <a:avLst/>
          </a:prstGeom>
          <a:noFill/>
          <a:ln/>
        </p:spPr>
        <p:txBody>
          <a:bodyPr wrap="square" lIns="0" tIns="0" rIns="0" bIns="0" rtlCol="0" anchor="ctr"/>
          <a:lstStyle/>
          <a:p>
            <a:pPr algn="r" indent="0" marL="0">
              <a:buNone/>
            </a:pPr>
            <a:r>
              <a:rPr lang="en-US" sz="850" b="1" dirty="0">
                <a:solidFill>
                  <a:srgbClr val="1A1A1A"/>
                </a:solidFill>
                <a:latin typeface="メイリオ" pitchFamily="34" charset="0"/>
                <a:ea typeface="メイリオ" pitchFamily="34" charset="-122"/>
                <a:cs typeface="メイリオ" pitchFamily="34" charset="-120"/>
              </a:rPr>
              <a:t>＋34.2</a:t>
            </a:r>
            <a:endParaRPr lang="en-US" sz="850" dirty="0"/>
          </a:p>
        </p:txBody>
      </p:sp>
      <p:sp>
        <p:nvSpPr>
          <p:cNvPr id="113" name="Shape 111"/>
          <p:cNvSpPr/>
          <p:nvPr/>
        </p:nvSpPr>
        <p:spPr>
          <a:xfrm>
            <a:off x="6217920" y="5312664"/>
            <a:ext cx="5349240" cy="228600"/>
          </a:xfrm>
          <a:prstGeom prst="rect">
            <a:avLst/>
          </a:prstGeom>
          <a:solidFill>
            <a:srgbClr val="FBFAF8"/>
          </a:solidFill>
          <a:ln w="6350">
            <a:solidFill>
              <a:srgbClr val="E2E0DC"/>
            </a:solidFill>
            <a:prstDash val="solid"/>
          </a:ln>
        </p:spPr>
      </p:sp>
      <p:sp>
        <p:nvSpPr>
          <p:cNvPr id="114" name="Text 112"/>
          <p:cNvSpPr/>
          <p:nvPr/>
        </p:nvSpPr>
        <p:spPr>
          <a:xfrm>
            <a:off x="6355080" y="5312664"/>
            <a:ext cx="2377440" cy="228600"/>
          </a:xfrm>
          <a:prstGeom prst="rect">
            <a:avLst/>
          </a:prstGeom>
          <a:noFill/>
          <a:ln/>
        </p:spPr>
        <p:txBody>
          <a:bodyPr wrap="square" lIns="0" tIns="0" rIns="0" bIns="0" rtlCol="0" anchor="ctr"/>
          <a:lstStyle/>
          <a:p>
            <a:pPr indent="0" marL="0">
              <a:buNone/>
            </a:pPr>
            <a:r>
              <a:rPr lang="en-US" sz="850" dirty="0">
                <a:solidFill>
                  <a:srgbClr val="1A1A1A"/>
                </a:solidFill>
                <a:latin typeface="メイリオ" pitchFamily="34" charset="0"/>
                <a:ea typeface="メイリオ" pitchFamily="34" charset="-122"/>
                <a:cs typeface="メイリオ" pitchFamily="34" charset="-120"/>
              </a:rPr>
              <a:t>B. 仕入を売上原価に連動</a:t>
            </a:r>
            <a:endParaRPr lang="en-US" sz="850" dirty="0"/>
          </a:p>
        </p:txBody>
      </p:sp>
      <p:sp>
        <p:nvSpPr>
          <p:cNvPr id="115" name="Text 113"/>
          <p:cNvSpPr/>
          <p:nvPr/>
        </p:nvSpPr>
        <p:spPr>
          <a:xfrm>
            <a:off x="8732520" y="5312664"/>
            <a:ext cx="1280160" cy="228600"/>
          </a:xfrm>
          <a:prstGeom prst="rect">
            <a:avLst/>
          </a:prstGeom>
          <a:noFill/>
          <a:ln/>
        </p:spPr>
        <p:txBody>
          <a:bodyPr wrap="square" lIns="0" tIns="0" rIns="0" bIns="0" rtlCol="0" anchor="ctr"/>
          <a:lstStyle/>
          <a:p>
            <a:pPr algn="r" indent="0" marL="0">
              <a:buNone/>
            </a:pPr>
            <a:r>
              <a:rPr lang="en-US" sz="850" dirty="0">
                <a:solidFill>
                  <a:srgbClr val="1A1A1A"/>
                </a:solidFill>
                <a:latin typeface="メイリオ" pitchFamily="34" charset="0"/>
                <a:ea typeface="メイリオ" pitchFamily="34" charset="-122"/>
                <a:cs typeface="メイリオ" pitchFamily="34" charset="-120"/>
              </a:rPr>
              <a:t>＋126.5</a:t>
            </a:r>
            <a:endParaRPr lang="en-US" sz="850" dirty="0"/>
          </a:p>
        </p:txBody>
      </p:sp>
      <p:sp>
        <p:nvSpPr>
          <p:cNvPr id="116" name="Text 114"/>
          <p:cNvSpPr/>
          <p:nvPr/>
        </p:nvSpPr>
        <p:spPr>
          <a:xfrm>
            <a:off x="10104120" y="5312664"/>
            <a:ext cx="1325880" cy="228600"/>
          </a:xfrm>
          <a:prstGeom prst="rect">
            <a:avLst/>
          </a:prstGeom>
          <a:noFill/>
          <a:ln/>
        </p:spPr>
        <p:txBody>
          <a:bodyPr wrap="square" lIns="0" tIns="0" rIns="0" bIns="0" rtlCol="0" anchor="ctr"/>
          <a:lstStyle/>
          <a:p>
            <a:pPr algn="r" indent="0" marL="0">
              <a:buNone/>
            </a:pPr>
            <a:r>
              <a:rPr lang="en-US" sz="850" dirty="0">
                <a:solidFill>
                  <a:srgbClr val="1A1A1A"/>
                </a:solidFill>
                <a:latin typeface="メイリオ" pitchFamily="34" charset="0"/>
                <a:ea typeface="メイリオ" pitchFamily="34" charset="-122"/>
                <a:cs typeface="メイリオ" pitchFamily="34" charset="-120"/>
              </a:rPr>
              <a:t>＋24.9</a:t>
            </a:r>
            <a:endParaRPr lang="en-US" sz="850" dirty="0"/>
          </a:p>
        </p:txBody>
      </p:sp>
      <p:sp>
        <p:nvSpPr>
          <p:cNvPr id="117" name="Shape 115"/>
          <p:cNvSpPr/>
          <p:nvPr/>
        </p:nvSpPr>
        <p:spPr>
          <a:xfrm>
            <a:off x="6217920" y="5541264"/>
            <a:ext cx="5349240" cy="228600"/>
          </a:xfrm>
          <a:prstGeom prst="rect">
            <a:avLst/>
          </a:prstGeom>
          <a:solidFill>
            <a:srgbClr val="FFFFFF"/>
          </a:solidFill>
          <a:ln w="6350">
            <a:solidFill>
              <a:srgbClr val="E2E0DC"/>
            </a:solidFill>
            <a:prstDash val="solid"/>
          </a:ln>
        </p:spPr>
      </p:sp>
      <p:sp>
        <p:nvSpPr>
          <p:cNvPr id="118" name="Text 116"/>
          <p:cNvSpPr/>
          <p:nvPr/>
        </p:nvSpPr>
        <p:spPr>
          <a:xfrm>
            <a:off x="6355080" y="5541264"/>
            <a:ext cx="2377440" cy="228600"/>
          </a:xfrm>
          <a:prstGeom prst="rect">
            <a:avLst/>
          </a:prstGeom>
          <a:noFill/>
          <a:ln/>
        </p:spPr>
        <p:txBody>
          <a:bodyPr wrap="square" lIns="0" tIns="0" rIns="0" bIns="0" rtlCol="0" anchor="ctr"/>
          <a:lstStyle/>
          <a:p>
            <a:pPr indent="0" marL="0">
              <a:buNone/>
            </a:pPr>
            <a:r>
              <a:rPr lang="en-US" sz="850" dirty="0">
                <a:solidFill>
                  <a:srgbClr val="1A1A1A"/>
                </a:solidFill>
                <a:latin typeface="メイリオ" pitchFamily="34" charset="0"/>
                <a:ea typeface="メイリオ" pitchFamily="34" charset="-122"/>
                <a:cs typeface="メイリオ" pitchFamily="34" charset="-120"/>
              </a:rPr>
              <a:t>C. 一時収益22百万円が未入金</a:t>
            </a:r>
            <a:endParaRPr lang="en-US" sz="850" dirty="0"/>
          </a:p>
        </p:txBody>
      </p:sp>
      <p:sp>
        <p:nvSpPr>
          <p:cNvPr id="119" name="Text 117"/>
          <p:cNvSpPr/>
          <p:nvPr/>
        </p:nvSpPr>
        <p:spPr>
          <a:xfrm>
            <a:off x="8732520" y="5541264"/>
            <a:ext cx="1280160" cy="228600"/>
          </a:xfrm>
          <a:prstGeom prst="rect">
            <a:avLst/>
          </a:prstGeom>
          <a:noFill/>
          <a:ln/>
        </p:spPr>
        <p:txBody>
          <a:bodyPr wrap="square" lIns="0" tIns="0" rIns="0" bIns="0" rtlCol="0" anchor="ctr"/>
          <a:lstStyle/>
          <a:p>
            <a:pPr algn="r" indent="0" marL="0">
              <a:buNone/>
            </a:pPr>
            <a:r>
              <a:rPr lang="en-US" sz="850" dirty="0">
                <a:solidFill>
                  <a:srgbClr val="1A1A1A"/>
                </a:solidFill>
                <a:latin typeface="メイリオ" pitchFamily="34" charset="0"/>
                <a:ea typeface="メイリオ" pitchFamily="34" charset="-122"/>
                <a:cs typeface="メイリオ" pitchFamily="34" charset="-120"/>
              </a:rPr>
              <a:t>＋113.8</a:t>
            </a:r>
            <a:endParaRPr lang="en-US" sz="850" dirty="0"/>
          </a:p>
        </p:txBody>
      </p:sp>
      <p:sp>
        <p:nvSpPr>
          <p:cNvPr id="120" name="Text 118"/>
          <p:cNvSpPr/>
          <p:nvPr/>
        </p:nvSpPr>
        <p:spPr>
          <a:xfrm>
            <a:off x="10104120" y="5541264"/>
            <a:ext cx="1325880" cy="228600"/>
          </a:xfrm>
          <a:prstGeom prst="rect">
            <a:avLst/>
          </a:prstGeom>
          <a:noFill/>
          <a:ln/>
        </p:spPr>
        <p:txBody>
          <a:bodyPr wrap="square" lIns="0" tIns="0" rIns="0" bIns="0" rtlCol="0" anchor="ctr"/>
          <a:lstStyle/>
          <a:p>
            <a:pPr algn="r" indent="0" marL="0">
              <a:buNone/>
            </a:pPr>
            <a:r>
              <a:rPr lang="en-US" sz="850" dirty="0">
                <a:solidFill>
                  <a:srgbClr val="1A1A1A"/>
                </a:solidFill>
                <a:latin typeface="メイリオ" pitchFamily="34" charset="0"/>
                <a:ea typeface="メイリオ" pitchFamily="34" charset="-122"/>
                <a:cs typeface="メイリオ" pitchFamily="34" charset="-120"/>
              </a:rPr>
              <a:t>＋12.2</a:t>
            </a:r>
            <a:endParaRPr lang="en-US" sz="850" dirty="0"/>
          </a:p>
        </p:txBody>
      </p:sp>
      <p:sp>
        <p:nvSpPr>
          <p:cNvPr id="121" name="Shape 119"/>
          <p:cNvSpPr/>
          <p:nvPr/>
        </p:nvSpPr>
        <p:spPr>
          <a:xfrm>
            <a:off x="6217920" y="5769864"/>
            <a:ext cx="5349240" cy="228600"/>
          </a:xfrm>
          <a:prstGeom prst="rect">
            <a:avLst/>
          </a:prstGeom>
          <a:solidFill>
            <a:srgbClr val="FBFAF8"/>
          </a:solidFill>
          <a:ln w="6350">
            <a:solidFill>
              <a:srgbClr val="E2E0DC"/>
            </a:solidFill>
            <a:prstDash val="solid"/>
          </a:ln>
        </p:spPr>
      </p:sp>
      <p:sp>
        <p:nvSpPr>
          <p:cNvPr id="122" name="Text 120"/>
          <p:cNvSpPr/>
          <p:nvPr/>
        </p:nvSpPr>
        <p:spPr>
          <a:xfrm>
            <a:off x="6355080" y="5769864"/>
            <a:ext cx="2377440" cy="228600"/>
          </a:xfrm>
          <a:prstGeom prst="rect">
            <a:avLst/>
          </a:prstGeom>
          <a:noFill/>
          <a:ln/>
        </p:spPr>
        <p:txBody>
          <a:bodyPr wrap="square" lIns="0" tIns="0" rIns="0" bIns="0" rtlCol="0" anchor="ctr"/>
          <a:lstStyle/>
          <a:p>
            <a:pPr indent="0" marL="0">
              <a:buNone/>
            </a:pPr>
            <a:r>
              <a:rPr lang="en-US" sz="850" dirty="0">
                <a:solidFill>
                  <a:srgbClr val="1A1A1A"/>
                </a:solidFill>
                <a:latin typeface="メイリオ" pitchFamily="34" charset="0"/>
                <a:ea typeface="メイリオ" pitchFamily="34" charset="-122"/>
                <a:cs typeface="メイリオ" pitchFamily="34" charset="-120"/>
              </a:rPr>
              <a:t>D. 差額売上341.4百万円が未達</a:t>
            </a:r>
            <a:endParaRPr lang="en-US" sz="850" dirty="0"/>
          </a:p>
        </p:txBody>
      </p:sp>
      <p:sp>
        <p:nvSpPr>
          <p:cNvPr id="123" name="Text 121"/>
          <p:cNvSpPr/>
          <p:nvPr/>
        </p:nvSpPr>
        <p:spPr>
          <a:xfrm>
            <a:off x="8732520" y="5769864"/>
            <a:ext cx="1280160" cy="228600"/>
          </a:xfrm>
          <a:prstGeom prst="rect">
            <a:avLst/>
          </a:prstGeom>
          <a:noFill/>
          <a:ln/>
        </p:spPr>
        <p:txBody>
          <a:bodyPr wrap="square" lIns="0" tIns="0" rIns="0" bIns="0" rtlCol="0" anchor="ctr"/>
          <a:lstStyle/>
          <a:p>
            <a:pPr algn="r" indent="0" marL="0">
              <a:buNone/>
            </a:pPr>
            <a:r>
              <a:rPr lang="en-US" sz="850" dirty="0">
                <a:solidFill>
                  <a:srgbClr val="6E6E6E"/>
                </a:solidFill>
                <a:latin typeface="メイリオ" pitchFamily="34" charset="0"/>
                <a:ea typeface="メイリオ" pitchFamily="34" charset="-122"/>
                <a:cs typeface="メイリオ" pitchFamily="34" charset="-120"/>
              </a:rPr>
              <a:t>▲239.8</a:t>
            </a:r>
            <a:endParaRPr lang="en-US" sz="850" dirty="0"/>
          </a:p>
        </p:txBody>
      </p:sp>
      <p:sp>
        <p:nvSpPr>
          <p:cNvPr id="124" name="Text 122"/>
          <p:cNvSpPr/>
          <p:nvPr/>
        </p:nvSpPr>
        <p:spPr>
          <a:xfrm>
            <a:off x="10104120" y="5769864"/>
            <a:ext cx="1325880" cy="228600"/>
          </a:xfrm>
          <a:prstGeom prst="rect">
            <a:avLst/>
          </a:prstGeom>
          <a:noFill/>
          <a:ln/>
        </p:spPr>
        <p:txBody>
          <a:bodyPr wrap="square" lIns="0" tIns="0" rIns="0" bIns="0" rtlCol="0" anchor="ctr"/>
          <a:lstStyle/>
          <a:p>
            <a:pPr algn="r" indent="0" marL="0">
              <a:buNone/>
            </a:pPr>
            <a:r>
              <a:rPr lang="en-US" sz="850" dirty="0">
                <a:solidFill>
                  <a:srgbClr val="6E6E6E"/>
                </a:solidFill>
                <a:latin typeface="メイリオ" pitchFamily="34" charset="0"/>
                <a:ea typeface="メイリオ" pitchFamily="34" charset="-122"/>
                <a:cs typeface="メイリオ" pitchFamily="34" charset="-120"/>
              </a:rPr>
              <a:t>▲341.4</a:t>
            </a:r>
            <a:endParaRPr lang="en-US" sz="850" dirty="0"/>
          </a:p>
        </p:txBody>
      </p:sp>
      <p:sp>
        <p:nvSpPr>
          <p:cNvPr id="125" name="Shape 123"/>
          <p:cNvSpPr/>
          <p:nvPr/>
        </p:nvSpPr>
        <p:spPr>
          <a:xfrm>
            <a:off x="6217920" y="5998464"/>
            <a:ext cx="5349240" cy="228600"/>
          </a:xfrm>
          <a:prstGeom prst="rect">
            <a:avLst/>
          </a:prstGeom>
          <a:solidFill>
            <a:srgbClr val="FFFFFF"/>
          </a:solidFill>
          <a:ln w="6350">
            <a:solidFill>
              <a:srgbClr val="E2E0DC"/>
            </a:solidFill>
            <a:prstDash val="solid"/>
          </a:ln>
        </p:spPr>
      </p:sp>
      <p:sp>
        <p:nvSpPr>
          <p:cNvPr id="126" name="Text 124"/>
          <p:cNvSpPr/>
          <p:nvPr/>
        </p:nvSpPr>
        <p:spPr>
          <a:xfrm>
            <a:off x="6355080" y="5998464"/>
            <a:ext cx="2377440" cy="228600"/>
          </a:xfrm>
          <a:prstGeom prst="rect">
            <a:avLst/>
          </a:prstGeom>
          <a:noFill/>
          <a:ln/>
        </p:spPr>
        <p:txBody>
          <a:bodyPr wrap="square" lIns="0" tIns="0" rIns="0" bIns="0" rtlCol="0" anchor="ctr"/>
          <a:lstStyle/>
          <a:p>
            <a:pPr indent="0" marL="0">
              <a:buNone/>
            </a:pPr>
            <a:r>
              <a:rPr lang="en-US" sz="850" dirty="0">
                <a:solidFill>
                  <a:srgbClr val="1A1A1A"/>
                </a:solidFill>
                <a:latin typeface="メイリオ" pitchFamily="34" charset="0"/>
                <a:ea typeface="メイリオ" pitchFamily="34" charset="-122"/>
                <a:cs typeface="メイリオ" pitchFamily="34" charset="-120"/>
              </a:rPr>
              <a:t>E. プランE（私募＋オークション）</a:t>
            </a:r>
            <a:endParaRPr lang="en-US" sz="850" dirty="0"/>
          </a:p>
        </p:txBody>
      </p:sp>
      <p:sp>
        <p:nvSpPr>
          <p:cNvPr id="127" name="Text 125"/>
          <p:cNvSpPr/>
          <p:nvPr/>
        </p:nvSpPr>
        <p:spPr>
          <a:xfrm>
            <a:off x="8732520" y="5998464"/>
            <a:ext cx="1280160" cy="228600"/>
          </a:xfrm>
          <a:prstGeom prst="rect">
            <a:avLst/>
          </a:prstGeom>
          <a:noFill/>
          <a:ln/>
        </p:spPr>
        <p:txBody>
          <a:bodyPr wrap="square" lIns="0" tIns="0" rIns="0" bIns="0" rtlCol="0" anchor="ctr"/>
          <a:lstStyle/>
          <a:p>
            <a:pPr algn="r" indent="0" marL="0">
              <a:buNone/>
            </a:pPr>
            <a:r>
              <a:rPr lang="en-US" sz="850" dirty="0">
                <a:solidFill>
                  <a:srgbClr val="1A1A1A"/>
                </a:solidFill>
                <a:latin typeface="メイリオ" pitchFamily="34" charset="0"/>
                <a:ea typeface="メイリオ" pitchFamily="34" charset="-122"/>
                <a:cs typeface="メイリオ" pitchFamily="34" charset="-120"/>
              </a:rPr>
              <a:t>＋465.8</a:t>
            </a:r>
            <a:endParaRPr lang="en-US" sz="850" dirty="0"/>
          </a:p>
        </p:txBody>
      </p:sp>
      <p:sp>
        <p:nvSpPr>
          <p:cNvPr id="128" name="Text 126"/>
          <p:cNvSpPr/>
          <p:nvPr/>
        </p:nvSpPr>
        <p:spPr>
          <a:xfrm>
            <a:off x="10104120" y="5998464"/>
            <a:ext cx="1325880" cy="228600"/>
          </a:xfrm>
          <a:prstGeom prst="rect">
            <a:avLst/>
          </a:prstGeom>
          <a:noFill/>
          <a:ln/>
        </p:spPr>
        <p:txBody>
          <a:bodyPr wrap="square" lIns="0" tIns="0" rIns="0" bIns="0" rtlCol="0" anchor="ctr"/>
          <a:lstStyle/>
          <a:p>
            <a:pPr algn="r" indent="0" marL="0">
              <a:buNone/>
            </a:pPr>
            <a:r>
              <a:rPr lang="en-US" sz="850" dirty="0">
                <a:solidFill>
                  <a:srgbClr val="1A1A1A"/>
                </a:solidFill>
                <a:latin typeface="メイリオ" pitchFamily="34" charset="0"/>
                <a:ea typeface="メイリオ" pitchFamily="34" charset="-122"/>
                <a:cs typeface="メイリオ" pitchFamily="34" charset="-120"/>
              </a:rPr>
              <a:t>＋364.2</a:t>
            </a:r>
            <a:endParaRPr lang="en-US" sz="850" dirty="0"/>
          </a:p>
        </p:txBody>
      </p:sp>
      <p:sp>
        <p:nvSpPr>
          <p:cNvPr id="129" name="Text 127"/>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期首現預金30百万円（2026/09末にみずほ銀行へ200百万円返済後）。消費税はFY2026の修正後実績から算定（確定14.1＋中間4.6×3回＝年28.0百万円）。</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プランE － 上振れシナリオの中身</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私募ファンドとオークションで300百万円。FY2026に私募で巻き返した実績と同水準です。</a:t>
            </a:r>
            <a:endParaRPr lang="en-US" sz="1250" dirty="0"/>
          </a:p>
        </p:txBody>
      </p:sp>
      <p:sp>
        <p:nvSpPr>
          <p:cNvPr id="4" name="Shape 2"/>
          <p:cNvSpPr/>
          <p:nvPr/>
        </p:nvSpPr>
        <p:spPr>
          <a:xfrm>
            <a:off x="594360" y="1481328"/>
            <a:ext cx="6720840" cy="1078992"/>
          </a:xfrm>
          <a:prstGeom prst="roundRect">
            <a:avLst>
              <a:gd name="adj" fmla="val 4237"/>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5" name="Shape 3"/>
          <p:cNvSpPr/>
          <p:nvPr/>
        </p:nvSpPr>
        <p:spPr>
          <a:xfrm>
            <a:off x="868680" y="1865376"/>
            <a:ext cx="310896" cy="310896"/>
          </a:xfrm>
          <a:prstGeom prst="ellipse">
            <a:avLst/>
          </a:prstGeom>
          <a:solidFill>
            <a:srgbClr val="1A1A1A"/>
          </a:solidFill>
          <a:ln/>
        </p:spPr>
      </p:sp>
      <p:sp>
        <p:nvSpPr>
          <p:cNvPr id="6" name="Text 4"/>
          <p:cNvSpPr/>
          <p:nvPr/>
        </p:nvSpPr>
        <p:spPr>
          <a:xfrm>
            <a:off x="868680" y="186537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1</a:t>
            </a:r>
            <a:endParaRPr lang="en-US" sz="1300" dirty="0"/>
          </a:p>
        </p:txBody>
      </p:sp>
      <p:sp>
        <p:nvSpPr>
          <p:cNvPr id="7" name="Text 5"/>
          <p:cNvSpPr/>
          <p:nvPr/>
        </p:nvSpPr>
        <p:spPr>
          <a:xfrm>
            <a:off x="1325880" y="1645920"/>
            <a:ext cx="5760720" cy="347472"/>
          </a:xfrm>
          <a:prstGeom prst="rect">
            <a:avLst/>
          </a:prstGeom>
          <a:noFill/>
          <a:ln/>
        </p:spPr>
        <p:txBody>
          <a:bodyPr wrap="square" lIns="0" tIns="0" rIns="0" bIns="0" rtlCol="0" anchor="ctr"/>
          <a:lstStyle/>
          <a:p>
            <a:pPr indent="0" marL="0">
              <a:buNone/>
            </a:pPr>
            <a:r>
              <a:rPr lang="en-US" sz="1350" b="1" dirty="0">
                <a:solidFill>
                  <a:srgbClr val="1A1A1A"/>
                </a:solidFill>
                <a:latin typeface="メイリオ" pitchFamily="34" charset="0"/>
                <a:ea typeface="メイリオ" pitchFamily="34" charset="-122"/>
                <a:cs typeface="メイリオ" pitchFamily="34" charset="-120"/>
              </a:rPr>
              <a:t>私募ファンド</a:t>
            </a:r>
            <a:endParaRPr lang="en-US" sz="1350" dirty="0"/>
          </a:p>
        </p:txBody>
      </p:sp>
      <p:sp>
        <p:nvSpPr>
          <p:cNvPr id="8" name="Text 6"/>
          <p:cNvSpPr/>
          <p:nvPr/>
        </p:nvSpPr>
        <p:spPr>
          <a:xfrm>
            <a:off x="1325880" y="2011680"/>
            <a:ext cx="5760720" cy="475488"/>
          </a:xfrm>
          <a:prstGeom prst="rect">
            <a:avLst/>
          </a:prstGeom>
          <a:noFill/>
          <a:ln/>
        </p:spPr>
        <p:txBody>
          <a:bodyPr wrap="square" lIns="0" tIns="0" rIns="0" bIns="0" rtlCol="0" anchor="t"/>
          <a:lstStyle/>
          <a:p>
            <a:pPr indent="0" marL="0">
              <a:buNone/>
            </a:pPr>
            <a:r>
              <a:rPr lang="en-US" sz="1050" dirty="0">
                <a:solidFill>
                  <a:srgbClr val="4A4A4A"/>
                </a:solidFill>
                <a:latin typeface="メイリオ" pitchFamily="34" charset="0"/>
                <a:ea typeface="メイリオ" pitchFamily="34" charset="-122"/>
                <a:cs typeface="メイリオ" pitchFamily="34" charset="-120"/>
              </a:rPr>
              <a:t>自社で組成時期をコントロールできる主軸チャネル。FY2026に約300百万円の組成実績。</a:t>
            </a:r>
            <a:endParaRPr lang="en-US" sz="1050" dirty="0"/>
          </a:p>
        </p:txBody>
      </p:sp>
      <p:sp>
        <p:nvSpPr>
          <p:cNvPr id="9" name="Shape 7"/>
          <p:cNvSpPr/>
          <p:nvPr/>
        </p:nvSpPr>
        <p:spPr>
          <a:xfrm>
            <a:off x="594360" y="2706624"/>
            <a:ext cx="6720840" cy="1078992"/>
          </a:xfrm>
          <a:prstGeom prst="roundRect">
            <a:avLst>
              <a:gd name="adj" fmla="val 4237"/>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0" name="Shape 8"/>
          <p:cNvSpPr/>
          <p:nvPr/>
        </p:nvSpPr>
        <p:spPr>
          <a:xfrm>
            <a:off x="868680" y="3090672"/>
            <a:ext cx="310896" cy="310896"/>
          </a:xfrm>
          <a:prstGeom prst="ellipse">
            <a:avLst/>
          </a:prstGeom>
          <a:solidFill>
            <a:srgbClr val="1A1A1A"/>
          </a:solidFill>
          <a:ln/>
        </p:spPr>
      </p:sp>
      <p:sp>
        <p:nvSpPr>
          <p:cNvPr id="11" name="Text 9"/>
          <p:cNvSpPr/>
          <p:nvPr/>
        </p:nvSpPr>
        <p:spPr>
          <a:xfrm>
            <a:off x="868680" y="30906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2</a:t>
            </a:r>
            <a:endParaRPr lang="en-US" sz="1300" dirty="0"/>
          </a:p>
        </p:txBody>
      </p:sp>
      <p:sp>
        <p:nvSpPr>
          <p:cNvPr id="12" name="Text 10"/>
          <p:cNvSpPr/>
          <p:nvPr/>
        </p:nvSpPr>
        <p:spPr>
          <a:xfrm>
            <a:off x="1325880" y="2871216"/>
            <a:ext cx="5760720" cy="347472"/>
          </a:xfrm>
          <a:prstGeom prst="rect">
            <a:avLst/>
          </a:prstGeom>
          <a:noFill/>
          <a:ln/>
        </p:spPr>
        <p:txBody>
          <a:bodyPr wrap="square" lIns="0" tIns="0" rIns="0" bIns="0" rtlCol="0" anchor="ctr"/>
          <a:lstStyle/>
          <a:p>
            <a:pPr indent="0" marL="0">
              <a:buNone/>
            </a:pPr>
            <a:r>
              <a:rPr lang="en-US" sz="1350" b="1" dirty="0">
                <a:solidFill>
                  <a:srgbClr val="1A1A1A"/>
                </a:solidFill>
                <a:latin typeface="メイリオ" pitchFamily="34" charset="0"/>
                <a:ea typeface="メイリオ" pitchFamily="34" charset="-122"/>
                <a:cs typeface="メイリオ" pitchFamily="34" charset="-120"/>
              </a:rPr>
              <a:t>オークション</a:t>
            </a:r>
            <a:endParaRPr lang="en-US" sz="1350" dirty="0"/>
          </a:p>
        </p:txBody>
      </p:sp>
      <p:sp>
        <p:nvSpPr>
          <p:cNvPr id="13" name="Text 11"/>
          <p:cNvSpPr/>
          <p:nvPr/>
        </p:nvSpPr>
        <p:spPr>
          <a:xfrm>
            <a:off x="1325880" y="3236976"/>
            <a:ext cx="5760720" cy="475488"/>
          </a:xfrm>
          <a:prstGeom prst="rect">
            <a:avLst/>
          </a:prstGeom>
          <a:noFill/>
          <a:ln/>
        </p:spPr>
        <p:txBody>
          <a:bodyPr wrap="square" lIns="0" tIns="0" rIns="0" bIns="0" rtlCol="0" anchor="t"/>
          <a:lstStyle/>
          <a:p>
            <a:pPr indent="0" marL="0">
              <a:buNone/>
            </a:pPr>
            <a:r>
              <a:rPr lang="en-US" sz="1050" dirty="0">
                <a:solidFill>
                  <a:srgbClr val="4A4A4A"/>
                </a:solidFill>
                <a:latin typeface="メイリオ" pitchFamily="34" charset="0"/>
                <a:ea typeface="メイリオ" pitchFamily="34" charset="-122"/>
                <a:cs typeface="メイリオ" pitchFamily="34" charset="-120"/>
              </a:rPr>
              <a:t>私募と並ぶ販売チャネルとして立ち上げ。自社在庫の換価と新規顧客の獲得を兼ねる。</a:t>
            </a:r>
            <a:endParaRPr lang="en-US" sz="1050" dirty="0"/>
          </a:p>
        </p:txBody>
      </p:sp>
      <p:sp>
        <p:nvSpPr>
          <p:cNvPr id="14" name="Shape 12"/>
          <p:cNvSpPr/>
          <p:nvPr/>
        </p:nvSpPr>
        <p:spPr>
          <a:xfrm>
            <a:off x="594360" y="4041648"/>
            <a:ext cx="6720840" cy="1737360"/>
          </a:xfrm>
          <a:prstGeom prst="roundRect">
            <a:avLst>
              <a:gd name="adj" fmla="val 2632"/>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5" name="Text 13"/>
          <p:cNvSpPr/>
          <p:nvPr/>
        </p:nvSpPr>
        <p:spPr>
          <a:xfrm>
            <a:off x="914400" y="4187952"/>
            <a:ext cx="3657600" cy="274320"/>
          </a:xfrm>
          <a:prstGeom prst="rect">
            <a:avLst/>
          </a:prstGeom>
          <a:noFill/>
          <a:ln/>
        </p:spPr>
        <p:txBody>
          <a:bodyPr wrap="square" lIns="0" tIns="0" rIns="0" bIns="0" rtlCol="0" anchor="ctr"/>
          <a:lstStyle/>
          <a:p>
            <a:pPr indent="0" marL="0">
              <a:buNone/>
            </a:pPr>
            <a:r>
              <a:rPr lang="en-US" sz="1100" b="1" dirty="0">
                <a:solidFill>
                  <a:srgbClr val="1A1A1A"/>
                </a:solidFill>
                <a:latin typeface="メイリオ" pitchFamily="34" charset="0"/>
                <a:ea typeface="メイリオ" pitchFamily="34" charset="-122"/>
                <a:cs typeface="メイリオ" pitchFamily="34" charset="-120"/>
              </a:rPr>
              <a:t>損益へのインパクト</a:t>
            </a:r>
            <a:endParaRPr lang="en-US" sz="1100" dirty="0"/>
          </a:p>
        </p:txBody>
      </p:sp>
      <p:sp>
        <p:nvSpPr>
          <p:cNvPr id="16" name="Text 14"/>
          <p:cNvSpPr/>
          <p:nvPr/>
        </p:nvSpPr>
        <p:spPr>
          <a:xfrm>
            <a:off x="914400" y="4517136"/>
            <a:ext cx="3108960" cy="274320"/>
          </a:xfrm>
          <a:prstGeom prst="rect">
            <a:avLst/>
          </a:prstGeom>
          <a:noFill/>
          <a:ln/>
        </p:spPr>
        <p:txBody>
          <a:bodyPr wrap="square" lIns="0" tIns="0" rIns="0" bIns="0" rtlCol="0" anchor="ctr"/>
          <a:lstStyle/>
          <a:p>
            <a:pPr indent="0" marL="0">
              <a:buNone/>
            </a:pPr>
            <a:r>
              <a:rPr lang="en-US" sz="1050" dirty="0">
                <a:solidFill>
                  <a:srgbClr val="1A1A1A"/>
                </a:solidFill>
                <a:latin typeface="メイリオ" pitchFamily="34" charset="0"/>
                <a:ea typeface="メイリオ" pitchFamily="34" charset="-122"/>
                <a:cs typeface="メイリオ" pitchFamily="34" charset="-120"/>
              </a:rPr>
              <a:t>追加売上</a:t>
            </a:r>
            <a:endParaRPr lang="en-US" sz="1050" dirty="0"/>
          </a:p>
        </p:txBody>
      </p:sp>
      <p:sp>
        <p:nvSpPr>
          <p:cNvPr id="17" name="Text 15"/>
          <p:cNvSpPr/>
          <p:nvPr/>
        </p:nvSpPr>
        <p:spPr>
          <a:xfrm>
            <a:off x="4023360" y="4517136"/>
            <a:ext cx="3017520" cy="27432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300.0百万円</a:t>
            </a:r>
            <a:endParaRPr lang="en-US" sz="1050" dirty="0"/>
          </a:p>
        </p:txBody>
      </p:sp>
      <p:sp>
        <p:nvSpPr>
          <p:cNvPr id="18" name="Text 16"/>
          <p:cNvSpPr/>
          <p:nvPr/>
        </p:nvSpPr>
        <p:spPr>
          <a:xfrm>
            <a:off x="914400" y="4818888"/>
            <a:ext cx="3108960" cy="274320"/>
          </a:xfrm>
          <a:prstGeom prst="rect">
            <a:avLst/>
          </a:prstGeom>
          <a:noFill/>
          <a:ln/>
        </p:spPr>
        <p:txBody>
          <a:bodyPr wrap="square" lIns="0" tIns="0" rIns="0" bIns="0" rtlCol="0" anchor="ctr"/>
          <a:lstStyle/>
          <a:p>
            <a:pPr indent="0" marL="0">
              <a:buNone/>
            </a:pPr>
            <a:r>
              <a:rPr lang="en-US" sz="1050" dirty="0">
                <a:solidFill>
                  <a:srgbClr val="1A1A1A"/>
                </a:solidFill>
                <a:latin typeface="メイリオ" pitchFamily="34" charset="0"/>
                <a:ea typeface="メイリオ" pitchFamily="34" charset="-122"/>
                <a:cs typeface="メイリオ" pitchFamily="34" charset="-120"/>
              </a:rPr>
              <a:t>粗利率</a:t>
            </a:r>
            <a:endParaRPr lang="en-US" sz="1050" dirty="0"/>
          </a:p>
        </p:txBody>
      </p:sp>
      <p:sp>
        <p:nvSpPr>
          <p:cNvPr id="19" name="Text 17"/>
          <p:cNvSpPr/>
          <p:nvPr/>
        </p:nvSpPr>
        <p:spPr>
          <a:xfrm>
            <a:off x="4023360" y="4818888"/>
            <a:ext cx="3017520" cy="27432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30%</a:t>
            </a:r>
            <a:endParaRPr lang="en-US" sz="1050" dirty="0"/>
          </a:p>
        </p:txBody>
      </p:sp>
      <p:sp>
        <p:nvSpPr>
          <p:cNvPr id="20" name="Text 18"/>
          <p:cNvSpPr/>
          <p:nvPr/>
        </p:nvSpPr>
        <p:spPr>
          <a:xfrm>
            <a:off x="914400" y="5120640"/>
            <a:ext cx="3108960" cy="274320"/>
          </a:xfrm>
          <a:prstGeom prst="rect">
            <a:avLst/>
          </a:prstGeom>
          <a:noFill/>
          <a:ln/>
        </p:spPr>
        <p:txBody>
          <a:bodyPr wrap="square" lIns="0" tIns="0" rIns="0" bIns="0" rtlCol="0" anchor="ctr"/>
          <a:lstStyle/>
          <a:p>
            <a:pPr indent="0" marL="0">
              <a:buNone/>
            </a:pPr>
            <a:r>
              <a:rPr lang="en-US" sz="1050" dirty="0">
                <a:solidFill>
                  <a:srgbClr val="1A1A1A"/>
                </a:solidFill>
                <a:latin typeface="メイリオ" pitchFamily="34" charset="0"/>
                <a:ea typeface="メイリオ" pitchFamily="34" charset="-122"/>
                <a:cs typeface="メイリオ" pitchFamily="34" charset="-120"/>
              </a:rPr>
              <a:t>追加粗利</a:t>
            </a:r>
            <a:endParaRPr lang="en-US" sz="1050" dirty="0"/>
          </a:p>
        </p:txBody>
      </p:sp>
      <p:sp>
        <p:nvSpPr>
          <p:cNvPr id="21" name="Text 19"/>
          <p:cNvSpPr/>
          <p:nvPr/>
        </p:nvSpPr>
        <p:spPr>
          <a:xfrm>
            <a:off x="4023360" y="5120640"/>
            <a:ext cx="3017520" cy="274320"/>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＋90.0百万円</a:t>
            </a:r>
            <a:endParaRPr lang="en-US" sz="1050" dirty="0"/>
          </a:p>
        </p:txBody>
      </p:sp>
      <p:sp>
        <p:nvSpPr>
          <p:cNvPr id="22" name="Text 20"/>
          <p:cNvSpPr/>
          <p:nvPr/>
        </p:nvSpPr>
        <p:spPr>
          <a:xfrm>
            <a:off x="914400" y="5422392"/>
            <a:ext cx="3108960" cy="274320"/>
          </a:xfrm>
          <a:prstGeom prst="rect">
            <a:avLst/>
          </a:prstGeom>
          <a:noFill/>
          <a:ln/>
        </p:spPr>
        <p:txBody>
          <a:bodyPr wrap="square" lIns="0" tIns="0" rIns="0" bIns="0" rtlCol="0" anchor="ctr"/>
          <a:lstStyle/>
          <a:p>
            <a:pPr indent="0" marL="0">
              <a:buNone/>
            </a:pPr>
            <a:r>
              <a:rPr lang="en-US" sz="1050" dirty="0">
                <a:solidFill>
                  <a:srgbClr val="1A1A1A"/>
                </a:solidFill>
                <a:latin typeface="メイリオ" pitchFamily="34" charset="0"/>
                <a:ea typeface="メイリオ" pitchFamily="34" charset="-122"/>
                <a:cs typeface="メイリオ" pitchFamily="34" charset="-120"/>
              </a:rPr>
              <a:t>販管費の増加</a:t>
            </a:r>
            <a:endParaRPr lang="en-US" sz="1050" dirty="0"/>
          </a:p>
        </p:txBody>
      </p:sp>
      <p:sp>
        <p:nvSpPr>
          <p:cNvPr id="23" name="Text 21"/>
          <p:cNvSpPr/>
          <p:nvPr/>
        </p:nvSpPr>
        <p:spPr>
          <a:xfrm>
            <a:off x="4023360" y="5422392"/>
            <a:ext cx="3017520" cy="27432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なし（既存人員で対応）</a:t>
            </a:r>
            <a:endParaRPr lang="en-US" sz="1050" dirty="0"/>
          </a:p>
        </p:txBody>
      </p:sp>
      <p:sp>
        <p:nvSpPr>
          <p:cNvPr id="24" name="Shape 22"/>
          <p:cNvSpPr/>
          <p:nvPr/>
        </p:nvSpPr>
        <p:spPr>
          <a:xfrm>
            <a:off x="7635240" y="1481328"/>
            <a:ext cx="3931920" cy="4297680"/>
          </a:xfrm>
          <a:prstGeom prst="roundRect">
            <a:avLst>
              <a:gd name="adj" fmla="val 1163"/>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5" name="Text 23"/>
          <p:cNvSpPr/>
          <p:nvPr/>
        </p:nvSpPr>
        <p:spPr>
          <a:xfrm>
            <a:off x="7863840" y="1737360"/>
            <a:ext cx="3474720" cy="274320"/>
          </a:xfrm>
          <a:prstGeom prst="rect">
            <a:avLst/>
          </a:prstGeom>
          <a:noFill/>
          <a:ln/>
        </p:spPr>
        <p:txBody>
          <a:bodyPr wrap="square" lIns="0" tIns="0" rIns="0" bIns="0" rtlCol="0" anchor="ctr"/>
          <a:lstStyle/>
          <a:p>
            <a:pPr algn="ctr" indent="0" marL="0">
              <a:buNone/>
            </a:pPr>
            <a:r>
              <a:rPr lang="en-US" sz="1100" dirty="0">
                <a:solidFill>
                  <a:srgbClr val="D9D7D2"/>
                </a:solidFill>
                <a:latin typeface="メイリオ" pitchFamily="34" charset="0"/>
                <a:ea typeface="メイリオ" pitchFamily="34" charset="-122"/>
                <a:cs typeface="メイリオ" pitchFamily="34" charset="-120"/>
              </a:rPr>
              <a:t>プランE 経常利益</a:t>
            </a:r>
            <a:endParaRPr lang="en-US" sz="1100" dirty="0"/>
          </a:p>
        </p:txBody>
      </p:sp>
      <p:sp>
        <p:nvSpPr>
          <p:cNvPr id="26" name="Text 24"/>
          <p:cNvSpPr/>
          <p:nvPr/>
        </p:nvSpPr>
        <p:spPr>
          <a:xfrm>
            <a:off x="7863840" y="2011680"/>
            <a:ext cx="3474720" cy="777240"/>
          </a:xfrm>
          <a:prstGeom prst="rect">
            <a:avLst/>
          </a:prstGeom>
          <a:noFill/>
          <a:ln/>
        </p:spPr>
        <p:txBody>
          <a:bodyPr wrap="square" lIns="0" tIns="0" rIns="0" bIns="0" rtlCol="0" anchor="ctr"/>
          <a:lstStyle/>
          <a:p>
            <a:pPr algn="ctr" indent="0" marL="0">
              <a:buNone/>
            </a:pPr>
            <a:r>
              <a:rPr lang="en-US" sz="4200" b="1" dirty="0">
                <a:solidFill>
                  <a:srgbClr val="A98442"/>
                </a:solidFill>
                <a:latin typeface="メイリオ" pitchFamily="34" charset="0"/>
                <a:ea typeface="メイリオ" pitchFamily="34" charset="-122"/>
                <a:cs typeface="メイリオ" pitchFamily="34" charset="-120"/>
              </a:rPr>
              <a:t>＋180.4</a:t>
            </a:r>
            <a:endParaRPr lang="en-US" sz="4200" dirty="0"/>
          </a:p>
        </p:txBody>
      </p:sp>
      <p:sp>
        <p:nvSpPr>
          <p:cNvPr id="27" name="Text 25"/>
          <p:cNvSpPr/>
          <p:nvPr/>
        </p:nvSpPr>
        <p:spPr>
          <a:xfrm>
            <a:off x="7863840" y="2770632"/>
            <a:ext cx="3474720" cy="274320"/>
          </a:xfrm>
          <a:prstGeom prst="rect">
            <a:avLst/>
          </a:prstGeom>
          <a:noFill/>
          <a:ln/>
        </p:spPr>
        <p:txBody>
          <a:bodyPr wrap="square" lIns="0" tIns="0" rIns="0" bIns="0" rtlCol="0" anchor="ctr"/>
          <a:lstStyle/>
          <a:p>
            <a:pPr algn="ctr" indent="0" marL="0">
              <a:buNone/>
            </a:pPr>
            <a:r>
              <a:rPr lang="en-US" sz="1100" dirty="0">
                <a:solidFill>
                  <a:srgbClr val="D9D7D2"/>
                </a:solidFill>
                <a:latin typeface="メイリオ" pitchFamily="34" charset="0"/>
                <a:ea typeface="メイリオ" pitchFamily="34" charset="-122"/>
                <a:cs typeface="メイリオ" pitchFamily="34" charset="-120"/>
              </a:rPr>
              <a:t>百万円</a:t>
            </a:r>
            <a:endParaRPr lang="en-US" sz="1100" dirty="0"/>
          </a:p>
        </p:txBody>
      </p:sp>
      <p:sp>
        <p:nvSpPr>
          <p:cNvPr id="28" name="Shape 26"/>
          <p:cNvSpPr/>
          <p:nvPr/>
        </p:nvSpPr>
        <p:spPr>
          <a:xfrm>
            <a:off x="8092440" y="3200400"/>
            <a:ext cx="3017520" cy="0"/>
          </a:xfrm>
          <a:prstGeom prst="line">
            <a:avLst/>
          </a:prstGeom>
          <a:noFill/>
          <a:ln w="12700">
            <a:solidFill>
              <a:srgbClr val="6E6E6E"/>
            </a:solidFill>
            <a:prstDash val="solid"/>
          </a:ln>
        </p:spPr>
      </p:sp>
      <p:sp>
        <p:nvSpPr>
          <p:cNvPr id="29" name="Text 27"/>
          <p:cNvSpPr/>
          <p:nvPr/>
        </p:nvSpPr>
        <p:spPr>
          <a:xfrm>
            <a:off x="8092440" y="3401568"/>
            <a:ext cx="2011680" cy="365760"/>
          </a:xfrm>
          <a:prstGeom prst="rect">
            <a:avLst/>
          </a:prstGeom>
          <a:noFill/>
          <a:ln/>
        </p:spPr>
        <p:txBody>
          <a:bodyPr wrap="square" lIns="0" tIns="0" rIns="0" bIns="0" rtlCol="0" anchor="ctr"/>
          <a:lstStyle/>
          <a:p>
            <a:pPr indent="0" marL="0">
              <a:buNone/>
            </a:pPr>
            <a:r>
              <a:rPr lang="en-US" sz="1050" dirty="0">
                <a:solidFill>
                  <a:srgbClr val="FFFFFF"/>
                </a:solidFill>
                <a:latin typeface="メイリオ" pitchFamily="34" charset="0"/>
                <a:ea typeface="メイリオ" pitchFamily="34" charset="-122"/>
                <a:cs typeface="メイリオ" pitchFamily="34" charset="-120"/>
              </a:rPr>
              <a:t>売上高</a:t>
            </a:r>
            <a:endParaRPr lang="en-US" sz="1050" dirty="0"/>
          </a:p>
        </p:txBody>
      </p:sp>
      <p:sp>
        <p:nvSpPr>
          <p:cNvPr id="30" name="Text 28"/>
          <p:cNvSpPr/>
          <p:nvPr/>
        </p:nvSpPr>
        <p:spPr>
          <a:xfrm>
            <a:off x="9966960" y="3401568"/>
            <a:ext cx="1371600" cy="365760"/>
          </a:xfrm>
          <a:prstGeom prst="rect">
            <a:avLst/>
          </a:prstGeom>
          <a:noFill/>
          <a:ln/>
        </p:spPr>
        <p:txBody>
          <a:bodyPr wrap="square" lIns="0" tIns="0" rIns="0" bIns="0" rtlCol="0" anchor="ctr"/>
          <a:lstStyle/>
          <a:p>
            <a:pPr algn="r" indent="0" marL="0">
              <a:buNone/>
            </a:pPr>
            <a:r>
              <a:rPr lang="en-US" sz="1150" b="1" dirty="0">
                <a:solidFill>
                  <a:srgbClr val="A98442"/>
                </a:solidFill>
                <a:latin typeface="メイリオ" pitchFamily="34" charset="0"/>
                <a:ea typeface="メイリオ" pitchFamily="34" charset="-122"/>
                <a:cs typeface="メイリオ" pitchFamily="34" charset="-120"/>
              </a:rPr>
              <a:t>1,133.0</a:t>
            </a:r>
            <a:endParaRPr lang="en-US" sz="1150" dirty="0"/>
          </a:p>
        </p:txBody>
      </p:sp>
      <p:sp>
        <p:nvSpPr>
          <p:cNvPr id="31" name="Text 29"/>
          <p:cNvSpPr/>
          <p:nvPr/>
        </p:nvSpPr>
        <p:spPr>
          <a:xfrm>
            <a:off x="8092440" y="3858768"/>
            <a:ext cx="2011680" cy="365760"/>
          </a:xfrm>
          <a:prstGeom prst="rect">
            <a:avLst/>
          </a:prstGeom>
          <a:noFill/>
          <a:ln/>
        </p:spPr>
        <p:txBody>
          <a:bodyPr wrap="square" lIns="0" tIns="0" rIns="0" bIns="0" rtlCol="0" anchor="ctr"/>
          <a:lstStyle/>
          <a:p>
            <a:pPr indent="0" marL="0">
              <a:buNone/>
            </a:pPr>
            <a:r>
              <a:rPr lang="en-US" sz="1050" dirty="0">
                <a:solidFill>
                  <a:srgbClr val="FFFFFF"/>
                </a:solidFill>
                <a:latin typeface="メイリオ" pitchFamily="34" charset="0"/>
                <a:ea typeface="メイリオ" pitchFamily="34" charset="-122"/>
                <a:cs typeface="メイリオ" pitchFamily="34" charset="-120"/>
              </a:rPr>
              <a:t>売上総利益</a:t>
            </a:r>
            <a:endParaRPr lang="en-US" sz="1050" dirty="0"/>
          </a:p>
        </p:txBody>
      </p:sp>
      <p:sp>
        <p:nvSpPr>
          <p:cNvPr id="32" name="Text 30"/>
          <p:cNvSpPr/>
          <p:nvPr/>
        </p:nvSpPr>
        <p:spPr>
          <a:xfrm>
            <a:off x="9966960" y="3858768"/>
            <a:ext cx="1371600" cy="365760"/>
          </a:xfrm>
          <a:prstGeom prst="rect">
            <a:avLst/>
          </a:prstGeom>
          <a:noFill/>
          <a:ln/>
        </p:spPr>
        <p:txBody>
          <a:bodyPr wrap="square" lIns="0" tIns="0" rIns="0" bIns="0" rtlCol="0" anchor="ctr"/>
          <a:lstStyle/>
          <a:p>
            <a:pPr algn="r" indent="0" marL="0">
              <a:buNone/>
            </a:pPr>
            <a:r>
              <a:rPr lang="en-US" sz="1150" b="1" dirty="0">
                <a:solidFill>
                  <a:srgbClr val="A98442"/>
                </a:solidFill>
                <a:latin typeface="メイリオ" pitchFamily="34" charset="0"/>
                <a:ea typeface="メイリオ" pitchFamily="34" charset="-122"/>
                <a:cs typeface="メイリオ" pitchFamily="34" charset="-120"/>
              </a:rPr>
              <a:t>495.5</a:t>
            </a:r>
            <a:endParaRPr lang="en-US" sz="1150" dirty="0"/>
          </a:p>
        </p:txBody>
      </p:sp>
      <p:sp>
        <p:nvSpPr>
          <p:cNvPr id="33" name="Text 31"/>
          <p:cNvSpPr/>
          <p:nvPr/>
        </p:nvSpPr>
        <p:spPr>
          <a:xfrm>
            <a:off x="8092440" y="4315968"/>
            <a:ext cx="2011680" cy="365760"/>
          </a:xfrm>
          <a:prstGeom prst="rect">
            <a:avLst/>
          </a:prstGeom>
          <a:noFill/>
          <a:ln/>
        </p:spPr>
        <p:txBody>
          <a:bodyPr wrap="square" lIns="0" tIns="0" rIns="0" bIns="0" rtlCol="0" anchor="ctr"/>
          <a:lstStyle/>
          <a:p>
            <a:pPr indent="0" marL="0">
              <a:buNone/>
            </a:pPr>
            <a:r>
              <a:rPr lang="en-US" sz="1050" dirty="0">
                <a:solidFill>
                  <a:srgbClr val="FFFFFF"/>
                </a:solidFill>
                <a:latin typeface="メイリオ" pitchFamily="34" charset="0"/>
                <a:ea typeface="メイリオ" pitchFamily="34" charset="-122"/>
                <a:cs typeface="メイリオ" pitchFamily="34" charset="-120"/>
              </a:rPr>
              <a:t>営業利益</a:t>
            </a:r>
            <a:endParaRPr lang="en-US" sz="1050" dirty="0"/>
          </a:p>
        </p:txBody>
      </p:sp>
      <p:sp>
        <p:nvSpPr>
          <p:cNvPr id="34" name="Text 32"/>
          <p:cNvSpPr/>
          <p:nvPr/>
        </p:nvSpPr>
        <p:spPr>
          <a:xfrm>
            <a:off x="9966960" y="4315968"/>
            <a:ext cx="1371600" cy="365760"/>
          </a:xfrm>
          <a:prstGeom prst="rect">
            <a:avLst/>
          </a:prstGeom>
          <a:noFill/>
          <a:ln/>
        </p:spPr>
        <p:txBody>
          <a:bodyPr wrap="square" lIns="0" tIns="0" rIns="0" bIns="0" rtlCol="0" anchor="ctr"/>
          <a:lstStyle/>
          <a:p>
            <a:pPr algn="r" indent="0" marL="0">
              <a:buNone/>
            </a:pPr>
            <a:r>
              <a:rPr lang="en-US" sz="1150" b="1" dirty="0">
                <a:solidFill>
                  <a:srgbClr val="A98442"/>
                </a:solidFill>
                <a:latin typeface="メイリオ" pitchFamily="34" charset="0"/>
                <a:ea typeface="メイリオ" pitchFamily="34" charset="-122"/>
                <a:cs typeface="メイリオ" pitchFamily="34" charset="-120"/>
              </a:rPr>
              <a:t>＋195.4</a:t>
            </a:r>
            <a:endParaRPr lang="en-US" sz="1150" dirty="0"/>
          </a:p>
        </p:txBody>
      </p:sp>
      <p:sp>
        <p:nvSpPr>
          <p:cNvPr id="35" name="Text 33"/>
          <p:cNvSpPr/>
          <p:nvPr/>
        </p:nvSpPr>
        <p:spPr>
          <a:xfrm>
            <a:off x="8092440" y="4773168"/>
            <a:ext cx="2011680" cy="365760"/>
          </a:xfrm>
          <a:prstGeom prst="rect">
            <a:avLst/>
          </a:prstGeom>
          <a:noFill/>
          <a:ln/>
        </p:spPr>
        <p:txBody>
          <a:bodyPr wrap="square" lIns="0" tIns="0" rIns="0" bIns="0" rtlCol="0" anchor="ctr"/>
          <a:lstStyle/>
          <a:p>
            <a:pPr indent="0" marL="0">
              <a:buNone/>
            </a:pPr>
            <a:r>
              <a:rPr lang="en-US" sz="1050" dirty="0">
                <a:solidFill>
                  <a:srgbClr val="FFFFFF"/>
                </a:solidFill>
                <a:latin typeface="メイリオ" pitchFamily="34" charset="0"/>
                <a:ea typeface="メイリオ" pitchFamily="34" charset="-122"/>
                <a:cs typeface="メイリオ" pitchFamily="34" charset="-120"/>
              </a:rPr>
              <a:t>期中 最低現預金</a:t>
            </a:r>
            <a:endParaRPr lang="en-US" sz="1050" dirty="0"/>
          </a:p>
        </p:txBody>
      </p:sp>
      <p:sp>
        <p:nvSpPr>
          <p:cNvPr id="36" name="Text 34"/>
          <p:cNvSpPr/>
          <p:nvPr/>
        </p:nvSpPr>
        <p:spPr>
          <a:xfrm>
            <a:off x="9966960" y="4773168"/>
            <a:ext cx="1371600" cy="365760"/>
          </a:xfrm>
          <a:prstGeom prst="rect">
            <a:avLst/>
          </a:prstGeom>
          <a:noFill/>
          <a:ln/>
        </p:spPr>
        <p:txBody>
          <a:bodyPr wrap="square" lIns="0" tIns="0" rIns="0" bIns="0" rtlCol="0" anchor="ctr"/>
          <a:lstStyle/>
          <a:p>
            <a:pPr algn="r" indent="0" marL="0">
              <a:buNone/>
            </a:pPr>
            <a:r>
              <a:rPr lang="en-US" sz="1150" b="1" dirty="0">
                <a:solidFill>
                  <a:srgbClr val="A98442"/>
                </a:solidFill>
                <a:latin typeface="メイリオ" pitchFamily="34" charset="0"/>
                <a:ea typeface="メイリオ" pitchFamily="34" charset="-122"/>
                <a:cs typeface="メイリオ" pitchFamily="34" charset="-120"/>
              </a:rPr>
              <a:t>＋364.2</a:t>
            </a:r>
            <a:endParaRPr lang="en-US" sz="1150" dirty="0"/>
          </a:p>
        </p:txBody>
      </p:sp>
      <p:sp>
        <p:nvSpPr>
          <p:cNvPr id="37" name="Text 35"/>
          <p:cNvSpPr/>
          <p:nvPr/>
        </p:nvSpPr>
        <p:spPr>
          <a:xfrm>
            <a:off x="7863840" y="5349240"/>
            <a:ext cx="3474720" cy="274320"/>
          </a:xfrm>
          <a:prstGeom prst="rect">
            <a:avLst/>
          </a:prstGeom>
          <a:noFill/>
          <a:ln/>
        </p:spPr>
        <p:txBody>
          <a:bodyPr wrap="square" lIns="0" tIns="0" rIns="0" bIns="0" rtlCol="0" anchor="ctr"/>
          <a:lstStyle/>
          <a:p>
            <a:pPr algn="ctr" indent="0" marL="0">
              <a:buNone/>
            </a:pPr>
            <a:r>
              <a:rPr lang="en-US" sz="1000" dirty="0">
                <a:solidFill>
                  <a:srgbClr val="D9D7D2"/>
                </a:solidFill>
                <a:latin typeface="メイリオ" pitchFamily="34" charset="0"/>
                <a:ea typeface="メイリオ" pitchFamily="34" charset="-122"/>
                <a:cs typeface="メイリオ" pitchFamily="34" charset="-120"/>
              </a:rPr>
              <a:t>プランD比　経常＋90.0百万円</a:t>
            </a:r>
            <a:endParaRPr lang="en-US" sz="1000" dirty="0"/>
          </a:p>
        </p:txBody>
      </p:sp>
      <p:sp>
        <p:nvSpPr>
          <p:cNvPr id="38" name="Text 36"/>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粗利率30%はFY2025 26.8%・FY2026 32.4%の実績水準。販管費はプランDと同額で据置き。繰越欠損金147.2百万円を超える所得に法人税11.3百万円が生じ、当期純利益は169.1百万円です。</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財務基盤 － 簿価より実態が厚い</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ワイン現物という換価可能な資産があり、実態純資産は簿価を上回ります。（単位：円）</a:t>
            </a:r>
            <a:endParaRPr lang="en-US" sz="1250" dirty="0"/>
          </a:p>
        </p:txBody>
      </p:sp>
      <p:sp>
        <p:nvSpPr>
          <p:cNvPr id="4" name="Shape 2"/>
          <p:cNvSpPr/>
          <p:nvPr/>
        </p:nvSpPr>
        <p:spPr>
          <a:xfrm>
            <a:off x="594360" y="1572768"/>
            <a:ext cx="6400800" cy="621792"/>
          </a:xfrm>
          <a:prstGeom prst="rect">
            <a:avLst/>
          </a:prstGeom>
          <a:solidFill>
            <a:srgbClr val="FFFFFF"/>
          </a:solidFill>
          <a:ln w="6350">
            <a:solidFill>
              <a:srgbClr val="E2E0DC"/>
            </a:solidFill>
            <a:prstDash val="solid"/>
          </a:ln>
        </p:spPr>
      </p:sp>
      <p:sp>
        <p:nvSpPr>
          <p:cNvPr id="5" name="Text 3"/>
          <p:cNvSpPr/>
          <p:nvPr/>
        </p:nvSpPr>
        <p:spPr>
          <a:xfrm>
            <a:off x="822960" y="1572768"/>
            <a:ext cx="3931920" cy="621792"/>
          </a:xfrm>
          <a:prstGeom prst="rect">
            <a:avLst/>
          </a:prstGeom>
          <a:noFill/>
          <a:ln/>
        </p:spPr>
        <p:txBody>
          <a:bodyPr wrap="square" lIns="0" tIns="0" rIns="0" bIns="0" rtlCol="0" anchor="ctr"/>
          <a:lstStyle/>
          <a:p>
            <a:pPr indent="0" marL="0">
              <a:buNone/>
            </a:pPr>
            <a:r>
              <a:rPr lang="en-US" sz="1150" dirty="0">
                <a:solidFill>
                  <a:srgbClr val="1A1A1A"/>
                </a:solidFill>
                <a:latin typeface="メイリオ" pitchFamily="34" charset="0"/>
                <a:ea typeface="メイリオ" pitchFamily="34" charset="-122"/>
                <a:cs typeface="メイリオ" pitchFamily="34" charset="-120"/>
              </a:rPr>
              <a:t>簿価純資産（2025/9末）</a:t>
            </a:r>
            <a:endParaRPr lang="en-US" sz="1150" dirty="0"/>
          </a:p>
        </p:txBody>
      </p:sp>
      <p:sp>
        <p:nvSpPr>
          <p:cNvPr id="6" name="Text 4"/>
          <p:cNvSpPr/>
          <p:nvPr/>
        </p:nvSpPr>
        <p:spPr>
          <a:xfrm>
            <a:off x="4754880" y="1572768"/>
            <a:ext cx="2011680" cy="621792"/>
          </a:xfrm>
          <a:prstGeom prst="rect">
            <a:avLst/>
          </a:prstGeom>
          <a:noFill/>
          <a:ln/>
        </p:spPr>
        <p:txBody>
          <a:bodyPr wrap="square" lIns="0" tIns="0" rIns="0" bIns="0" rtlCol="0" anchor="ctr"/>
          <a:lstStyle/>
          <a:p>
            <a:pPr algn="r" indent="0" marL="0">
              <a:buNone/>
            </a:pPr>
            <a:r>
              <a:rPr lang="en-US" sz="1300" b="1" dirty="0">
                <a:solidFill>
                  <a:srgbClr val="1A1A1A"/>
                </a:solidFill>
                <a:latin typeface="メイリオ" pitchFamily="34" charset="0"/>
                <a:ea typeface="メイリオ" pitchFamily="34" charset="-122"/>
                <a:cs typeface="メイリオ" pitchFamily="34" charset="-120"/>
              </a:rPr>
              <a:t>211,755,689</a:t>
            </a:r>
            <a:endParaRPr lang="en-US" sz="1300" dirty="0"/>
          </a:p>
        </p:txBody>
      </p:sp>
      <p:sp>
        <p:nvSpPr>
          <p:cNvPr id="7" name="Shape 5"/>
          <p:cNvSpPr/>
          <p:nvPr/>
        </p:nvSpPr>
        <p:spPr>
          <a:xfrm>
            <a:off x="594360" y="2304288"/>
            <a:ext cx="6400800" cy="621792"/>
          </a:xfrm>
          <a:prstGeom prst="rect">
            <a:avLst/>
          </a:prstGeom>
          <a:solidFill>
            <a:srgbClr val="FBFAF8"/>
          </a:solidFill>
          <a:ln w="6350">
            <a:solidFill>
              <a:srgbClr val="E2E0DC"/>
            </a:solidFill>
            <a:prstDash val="solid"/>
          </a:ln>
        </p:spPr>
      </p:sp>
      <p:sp>
        <p:nvSpPr>
          <p:cNvPr id="8" name="Text 6"/>
          <p:cNvSpPr/>
          <p:nvPr/>
        </p:nvSpPr>
        <p:spPr>
          <a:xfrm>
            <a:off x="822960" y="2304288"/>
            <a:ext cx="3931920" cy="621792"/>
          </a:xfrm>
          <a:prstGeom prst="rect">
            <a:avLst/>
          </a:prstGeom>
          <a:noFill/>
          <a:ln/>
        </p:spPr>
        <p:txBody>
          <a:bodyPr wrap="square" lIns="0" tIns="0" rIns="0" bIns="0" rtlCol="0" anchor="ctr"/>
          <a:lstStyle/>
          <a:p>
            <a:pPr indent="0" marL="0">
              <a:buNone/>
            </a:pPr>
            <a:r>
              <a:rPr lang="en-US" sz="1150" dirty="0">
                <a:solidFill>
                  <a:srgbClr val="1A1A1A"/>
                </a:solidFill>
                <a:latin typeface="メイリオ" pitchFamily="34" charset="0"/>
                <a:ea typeface="メイリオ" pitchFamily="34" charset="-122"/>
                <a:cs typeface="メイリオ" pitchFamily="34" charset="-120"/>
              </a:rPr>
              <a:t>▲ ソフトウェア（換価性を保守評価）</a:t>
            </a:r>
            <a:endParaRPr lang="en-US" sz="1150" dirty="0"/>
          </a:p>
        </p:txBody>
      </p:sp>
      <p:sp>
        <p:nvSpPr>
          <p:cNvPr id="9" name="Text 7"/>
          <p:cNvSpPr/>
          <p:nvPr/>
        </p:nvSpPr>
        <p:spPr>
          <a:xfrm>
            <a:off x="4754880" y="2304288"/>
            <a:ext cx="2011680" cy="621792"/>
          </a:xfrm>
          <a:prstGeom prst="rect">
            <a:avLst/>
          </a:prstGeom>
          <a:noFill/>
          <a:ln/>
        </p:spPr>
        <p:txBody>
          <a:bodyPr wrap="square" lIns="0" tIns="0" rIns="0" bIns="0" rtlCol="0" anchor="ctr"/>
          <a:lstStyle/>
          <a:p>
            <a:pPr algn="r" indent="0" marL="0">
              <a:buNone/>
            </a:pPr>
            <a:r>
              <a:rPr lang="en-US" sz="1300" b="1" dirty="0">
                <a:solidFill>
                  <a:srgbClr val="6E6E6E"/>
                </a:solidFill>
                <a:latin typeface="メイリオ" pitchFamily="34" charset="0"/>
                <a:ea typeface="メイリオ" pitchFamily="34" charset="-122"/>
                <a:cs typeface="メイリオ" pitchFamily="34" charset="-120"/>
              </a:rPr>
              <a:t>▲129,822,924</a:t>
            </a:r>
            <a:endParaRPr lang="en-US" sz="1300" dirty="0"/>
          </a:p>
        </p:txBody>
      </p:sp>
      <p:sp>
        <p:nvSpPr>
          <p:cNvPr id="10" name="Shape 8"/>
          <p:cNvSpPr/>
          <p:nvPr/>
        </p:nvSpPr>
        <p:spPr>
          <a:xfrm>
            <a:off x="594360" y="3035808"/>
            <a:ext cx="6400800" cy="621792"/>
          </a:xfrm>
          <a:prstGeom prst="rect">
            <a:avLst/>
          </a:prstGeom>
          <a:solidFill>
            <a:srgbClr val="FFFFFF"/>
          </a:solidFill>
          <a:ln w="6350">
            <a:solidFill>
              <a:srgbClr val="E2E0DC"/>
            </a:solidFill>
            <a:prstDash val="solid"/>
          </a:ln>
        </p:spPr>
      </p:sp>
      <p:sp>
        <p:nvSpPr>
          <p:cNvPr id="11" name="Text 9"/>
          <p:cNvSpPr/>
          <p:nvPr/>
        </p:nvSpPr>
        <p:spPr>
          <a:xfrm>
            <a:off x="822960" y="3035808"/>
            <a:ext cx="3931920" cy="621792"/>
          </a:xfrm>
          <a:prstGeom prst="rect">
            <a:avLst/>
          </a:prstGeom>
          <a:noFill/>
          <a:ln/>
        </p:spPr>
        <p:txBody>
          <a:bodyPr wrap="square" lIns="0" tIns="0" rIns="0" bIns="0" rtlCol="0" anchor="ctr"/>
          <a:lstStyle/>
          <a:p>
            <a:pPr indent="0" marL="0">
              <a:buNone/>
            </a:pPr>
            <a:r>
              <a:rPr lang="en-US" sz="1150" dirty="0">
                <a:solidFill>
                  <a:srgbClr val="1A1A1A"/>
                </a:solidFill>
                <a:latin typeface="メイリオ" pitchFamily="34" charset="0"/>
                <a:ea typeface="メイリオ" pitchFamily="34" charset="-122"/>
                <a:cs typeface="メイリオ" pitchFamily="34" charset="-120"/>
              </a:rPr>
              <a:t>＋ 商品の含み益（時価1.37倍）</a:t>
            </a:r>
            <a:endParaRPr lang="en-US" sz="1150" dirty="0"/>
          </a:p>
        </p:txBody>
      </p:sp>
      <p:sp>
        <p:nvSpPr>
          <p:cNvPr id="12" name="Text 10"/>
          <p:cNvSpPr/>
          <p:nvPr/>
        </p:nvSpPr>
        <p:spPr>
          <a:xfrm>
            <a:off x="4754880" y="3035808"/>
            <a:ext cx="2011680" cy="621792"/>
          </a:xfrm>
          <a:prstGeom prst="rect">
            <a:avLst/>
          </a:prstGeom>
          <a:noFill/>
          <a:ln/>
        </p:spPr>
        <p:txBody>
          <a:bodyPr wrap="square" lIns="0" tIns="0" rIns="0" bIns="0" rtlCol="0" anchor="ctr"/>
          <a:lstStyle/>
          <a:p>
            <a:pPr algn="r" indent="0" marL="0">
              <a:buNone/>
            </a:pPr>
            <a:r>
              <a:rPr lang="en-US" sz="1300" b="1" dirty="0">
                <a:solidFill>
                  <a:srgbClr val="1A1A1A"/>
                </a:solidFill>
                <a:latin typeface="メイリオ" pitchFamily="34" charset="0"/>
                <a:ea typeface="メイリオ" pitchFamily="34" charset="-122"/>
                <a:cs typeface="メイリオ" pitchFamily="34" charset="-120"/>
              </a:rPr>
              <a:t>186,716,373</a:t>
            </a:r>
            <a:endParaRPr lang="en-US" sz="1300" dirty="0"/>
          </a:p>
        </p:txBody>
      </p:sp>
      <p:sp>
        <p:nvSpPr>
          <p:cNvPr id="13" name="Shape 11"/>
          <p:cNvSpPr/>
          <p:nvPr/>
        </p:nvSpPr>
        <p:spPr>
          <a:xfrm>
            <a:off x="594360" y="3767328"/>
            <a:ext cx="6400800" cy="731520"/>
          </a:xfrm>
          <a:prstGeom prst="rect">
            <a:avLst/>
          </a:prstGeom>
          <a:solidFill>
            <a:srgbClr val="1A1A1A"/>
          </a:solidFill>
          <a:ln/>
        </p:spPr>
      </p:sp>
      <p:sp>
        <p:nvSpPr>
          <p:cNvPr id="14" name="Text 12"/>
          <p:cNvSpPr/>
          <p:nvPr/>
        </p:nvSpPr>
        <p:spPr>
          <a:xfrm>
            <a:off x="822960" y="3767328"/>
            <a:ext cx="3931920" cy="731520"/>
          </a:xfrm>
          <a:prstGeom prst="rect">
            <a:avLst/>
          </a:prstGeom>
          <a:noFill/>
          <a:ln/>
        </p:spPr>
        <p:txBody>
          <a:bodyPr wrap="square" lIns="0" tIns="0" rIns="0" bIns="0" rtlCol="0" anchor="ctr"/>
          <a:lstStyle/>
          <a:p>
            <a:pPr indent="0" marL="0">
              <a:buNone/>
            </a:pPr>
            <a:r>
              <a:rPr lang="en-US" sz="1300" b="1" dirty="0">
                <a:solidFill>
                  <a:srgbClr val="FFFFFF"/>
                </a:solidFill>
                <a:latin typeface="メイリオ" pitchFamily="34" charset="0"/>
                <a:ea typeface="メイリオ" pitchFamily="34" charset="-122"/>
                <a:cs typeface="メイリオ" pitchFamily="34" charset="-120"/>
              </a:rPr>
              <a:t>実態純資産</a:t>
            </a:r>
            <a:endParaRPr lang="en-US" sz="1300" dirty="0"/>
          </a:p>
        </p:txBody>
      </p:sp>
      <p:sp>
        <p:nvSpPr>
          <p:cNvPr id="15" name="Text 13"/>
          <p:cNvSpPr/>
          <p:nvPr/>
        </p:nvSpPr>
        <p:spPr>
          <a:xfrm>
            <a:off x="4754880" y="3767328"/>
            <a:ext cx="2011680" cy="731520"/>
          </a:xfrm>
          <a:prstGeom prst="rect">
            <a:avLst/>
          </a:prstGeom>
          <a:noFill/>
          <a:ln/>
        </p:spPr>
        <p:txBody>
          <a:bodyPr wrap="square" lIns="0" tIns="0" rIns="0" bIns="0" rtlCol="0" anchor="ctr"/>
          <a:lstStyle/>
          <a:p>
            <a:pPr algn="r" indent="0" marL="0">
              <a:buNone/>
            </a:pPr>
            <a:r>
              <a:rPr lang="en-US" sz="1700" b="1" dirty="0">
                <a:solidFill>
                  <a:srgbClr val="FFFFFF"/>
                </a:solidFill>
                <a:latin typeface="メイリオ" pitchFamily="34" charset="0"/>
                <a:ea typeface="メイリオ" pitchFamily="34" charset="-122"/>
                <a:cs typeface="メイリオ" pitchFamily="34" charset="-120"/>
              </a:rPr>
              <a:t>268,649,138</a:t>
            </a:r>
            <a:endParaRPr lang="en-US" sz="1700" dirty="0"/>
          </a:p>
        </p:txBody>
      </p:sp>
      <p:sp>
        <p:nvSpPr>
          <p:cNvPr id="16" name="Text 14"/>
          <p:cNvSpPr/>
          <p:nvPr/>
        </p:nvSpPr>
        <p:spPr>
          <a:xfrm>
            <a:off x="822960" y="4608576"/>
            <a:ext cx="5943600" cy="274320"/>
          </a:xfrm>
          <a:prstGeom prst="rect">
            <a:avLst/>
          </a:prstGeom>
          <a:noFill/>
          <a:ln/>
        </p:spPr>
        <p:txBody>
          <a:bodyPr wrap="square" lIns="0" tIns="0" rIns="0" bIns="0" rtlCol="0" anchor="ctr"/>
          <a:lstStyle/>
          <a:p>
            <a:pPr indent="0" marL="0">
              <a:buNone/>
            </a:pPr>
            <a:r>
              <a:rPr lang="en-US" sz="1050" dirty="0">
                <a:solidFill>
                  <a:srgbClr val="8C8C8C"/>
                </a:solidFill>
                <a:latin typeface="メイリオ" pitchFamily="34" charset="0"/>
                <a:ea typeface="メイリオ" pitchFamily="34" charset="-122"/>
                <a:cs typeface="メイリオ" pitchFamily="34" charset="-120"/>
              </a:rPr>
              <a:t>簿価純資産を＋56.9百万円上回る</a:t>
            </a:r>
            <a:endParaRPr lang="en-US" sz="1050" dirty="0"/>
          </a:p>
        </p:txBody>
      </p:sp>
      <p:sp>
        <p:nvSpPr>
          <p:cNvPr id="17" name="Shape 15"/>
          <p:cNvSpPr/>
          <p:nvPr/>
        </p:nvSpPr>
        <p:spPr>
          <a:xfrm>
            <a:off x="7269480" y="1572768"/>
            <a:ext cx="4297680" cy="1325880"/>
          </a:xfrm>
          <a:prstGeom prst="roundRect">
            <a:avLst>
              <a:gd name="adj" fmla="val 344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8" name="Text 16"/>
          <p:cNvSpPr/>
          <p:nvPr/>
        </p:nvSpPr>
        <p:spPr>
          <a:xfrm>
            <a:off x="7498080" y="1700784"/>
            <a:ext cx="2011680" cy="274320"/>
          </a:xfrm>
          <a:prstGeom prst="rect">
            <a:avLst/>
          </a:prstGeom>
          <a:noFill/>
          <a:ln/>
        </p:spPr>
        <p:txBody>
          <a:bodyPr wrap="square" lIns="0" tIns="0" rIns="0" bIns="0" rtlCol="0" anchor="ctr"/>
          <a:lstStyle/>
          <a:p>
            <a:pPr indent="0" marL="0">
              <a:buNone/>
            </a:pPr>
            <a:r>
              <a:rPr lang="en-US" sz="1050" dirty="0">
                <a:solidFill>
                  <a:srgbClr val="8C8C8C"/>
                </a:solidFill>
                <a:latin typeface="メイリオ" pitchFamily="34" charset="0"/>
                <a:ea typeface="メイリオ" pitchFamily="34" charset="-122"/>
                <a:cs typeface="メイリオ" pitchFamily="34" charset="-120"/>
              </a:rPr>
              <a:t>繰越欠損金</a:t>
            </a:r>
            <a:endParaRPr lang="en-US" sz="1050" dirty="0"/>
          </a:p>
        </p:txBody>
      </p:sp>
      <p:sp>
        <p:nvSpPr>
          <p:cNvPr id="19" name="Text 17"/>
          <p:cNvSpPr/>
          <p:nvPr/>
        </p:nvSpPr>
        <p:spPr>
          <a:xfrm>
            <a:off x="7498080" y="1938528"/>
            <a:ext cx="3840480" cy="384048"/>
          </a:xfrm>
          <a:prstGeom prst="rect">
            <a:avLst/>
          </a:prstGeom>
          <a:noFill/>
          <a:ln/>
        </p:spPr>
        <p:txBody>
          <a:bodyPr wrap="square" lIns="0" tIns="0" rIns="0" bIns="0" rtlCol="0" anchor="ctr"/>
          <a:lstStyle/>
          <a:p>
            <a:pPr indent="0" marL="0">
              <a:buNone/>
            </a:pPr>
            <a:r>
              <a:rPr lang="en-US" sz="2000" b="1" dirty="0">
                <a:solidFill>
                  <a:srgbClr val="1A1A1A"/>
                </a:solidFill>
                <a:latin typeface="メイリオ" pitchFamily="34" charset="0"/>
                <a:ea typeface="メイリオ" pitchFamily="34" charset="-122"/>
                <a:cs typeface="メイリオ" pitchFamily="34" charset="-120"/>
              </a:rPr>
              <a:t>約147百万円</a:t>
            </a:r>
            <a:endParaRPr lang="en-US" sz="2000" dirty="0"/>
          </a:p>
        </p:txBody>
      </p:sp>
      <p:sp>
        <p:nvSpPr>
          <p:cNvPr id="20" name="Text 18"/>
          <p:cNvSpPr/>
          <p:nvPr/>
        </p:nvSpPr>
        <p:spPr>
          <a:xfrm>
            <a:off x="7498080" y="2350008"/>
            <a:ext cx="3840480" cy="475488"/>
          </a:xfrm>
          <a:prstGeom prst="rect">
            <a:avLst/>
          </a:prstGeom>
          <a:noFill/>
          <a:ln/>
        </p:spPr>
        <p:txBody>
          <a:bodyPr wrap="square" lIns="0" tIns="0" rIns="0" bIns="0" rtlCol="0" anchor="ctr"/>
          <a:lstStyle/>
          <a:p>
            <a:pPr indent="0" marL="0">
              <a:buNone/>
            </a:pPr>
            <a:r>
              <a:rPr lang="en-US" sz="950" dirty="0">
                <a:solidFill>
                  <a:srgbClr val="1A1A1A"/>
                </a:solidFill>
                <a:latin typeface="メイリオ" pitchFamily="34" charset="0"/>
                <a:ea typeface="メイリオ" pitchFamily="34" charset="-122"/>
                <a:cs typeface="メイリオ" pitchFamily="34" charset="-120"/>
              </a:rPr>
              <a:t>FY2025 ▲127.4 ＋ FY2026 ▲19.8。私募ファンドの計上で今期の欠損が縮小しました。プランDは実質非課税ですが、プランEでは超過分に法人税11.3百万円が生じます。</a:t>
            </a:r>
            <a:endParaRPr lang="en-US" sz="950" dirty="0"/>
          </a:p>
        </p:txBody>
      </p:sp>
      <p:sp>
        <p:nvSpPr>
          <p:cNvPr id="21" name="Shape 19"/>
          <p:cNvSpPr/>
          <p:nvPr/>
        </p:nvSpPr>
        <p:spPr>
          <a:xfrm>
            <a:off x="7269480" y="3054096"/>
            <a:ext cx="4297680" cy="1325880"/>
          </a:xfrm>
          <a:prstGeom prst="roundRect">
            <a:avLst>
              <a:gd name="adj" fmla="val 344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2" name="Text 20"/>
          <p:cNvSpPr/>
          <p:nvPr/>
        </p:nvSpPr>
        <p:spPr>
          <a:xfrm>
            <a:off x="7498080" y="3182112"/>
            <a:ext cx="2011680" cy="274320"/>
          </a:xfrm>
          <a:prstGeom prst="rect">
            <a:avLst/>
          </a:prstGeom>
          <a:noFill/>
          <a:ln/>
        </p:spPr>
        <p:txBody>
          <a:bodyPr wrap="square" lIns="0" tIns="0" rIns="0" bIns="0" rtlCol="0" anchor="ctr"/>
          <a:lstStyle/>
          <a:p>
            <a:pPr indent="0" marL="0">
              <a:buNone/>
            </a:pPr>
            <a:r>
              <a:rPr lang="en-US" sz="1050" dirty="0">
                <a:solidFill>
                  <a:srgbClr val="8C8C8C"/>
                </a:solidFill>
                <a:latin typeface="メイリオ" pitchFamily="34" charset="0"/>
                <a:ea typeface="メイリオ" pitchFamily="34" charset="-122"/>
                <a:cs typeface="メイリオ" pitchFamily="34" charset="-120"/>
              </a:rPr>
              <a:t>有利子負債</a:t>
            </a:r>
            <a:endParaRPr lang="en-US" sz="1050" dirty="0"/>
          </a:p>
        </p:txBody>
      </p:sp>
      <p:sp>
        <p:nvSpPr>
          <p:cNvPr id="23" name="Text 21"/>
          <p:cNvSpPr/>
          <p:nvPr/>
        </p:nvSpPr>
        <p:spPr>
          <a:xfrm>
            <a:off x="7498080" y="3419856"/>
            <a:ext cx="3840480" cy="384048"/>
          </a:xfrm>
          <a:prstGeom prst="rect">
            <a:avLst/>
          </a:prstGeom>
          <a:noFill/>
          <a:ln/>
        </p:spPr>
        <p:txBody>
          <a:bodyPr wrap="square" lIns="0" tIns="0" rIns="0" bIns="0" rtlCol="0" anchor="ctr"/>
          <a:lstStyle/>
          <a:p>
            <a:pPr indent="0" marL="0">
              <a:buNone/>
            </a:pPr>
            <a:r>
              <a:rPr lang="en-US" sz="2000" b="1" dirty="0">
                <a:solidFill>
                  <a:srgbClr val="1A1A1A"/>
                </a:solidFill>
                <a:latin typeface="メイリオ" pitchFamily="34" charset="0"/>
                <a:ea typeface="メイリオ" pitchFamily="34" charset="-122"/>
                <a:cs typeface="メイリオ" pitchFamily="34" charset="-120"/>
              </a:rPr>
              <a:t>386百万円</a:t>
            </a:r>
            <a:endParaRPr lang="en-US" sz="2000" dirty="0"/>
          </a:p>
        </p:txBody>
      </p:sp>
      <p:sp>
        <p:nvSpPr>
          <p:cNvPr id="24" name="Text 22"/>
          <p:cNvSpPr/>
          <p:nvPr/>
        </p:nvSpPr>
        <p:spPr>
          <a:xfrm>
            <a:off x="7498080" y="3831336"/>
            <a:ext cx="3840480" cy="475488"/>
          </a:xfrm>
          <a:prstGeom prst="rect">
            <a:avLst/>
          </a:prstGeom>
          <a:noFill/>
          <a:ln/>
        </p:spPr>
        <p:txBody>
          <a:bodyPr wrap="square" lIns="0" tIns="0" rIns="0" bIns="0" rtlCol="0" anchor="ctr"/>
          <a:lstStyle/>
          <a:p>
            <a:pPr indent="0" marL="0">
              <a:buNone/>
            </a:pPr>
            <a:r>
              <a:rPr lang="en-US" sz="950" dirty="0">
                <a:solidFill>
                  <a:srgbClr val="1A1A1A"/>
                </a:solidFill>
                <a:latin typeface="メイリオ" pitchFamily="34" charset="0"/>
                <a:ea typeface="メイリオ" pitchFamily="34" charset="-122"/>
                <a:cs typeface="メイリオ" pitchFamily="34" charset="-120"/>
              </a:rPr>
              <a:t>2025/9末586百万円から、2026/09末のみずほ銀行200百万円返済で減少。</a:t>
            </a:r>
            <a:endParaRPr lang="en-US" sz="950" dirty="0"/>
          </a:p>
        </p:txBody>
      </p:sp>
      <p:sp>
        <p:nvSpPr>
          <p:cNvPr id="25" name="Shape 23"/>
          <p:cNvSpPr/>
          <p:nvPr/>
        </p:nvSpPr>
        <p:spPr>
          <a:xfrm>
            <a:off x="7269480" y="4535424"/>
            <a:ext cx="4297680" cy="1325880"/>
          </a:xfrm>
          <a:prstGeom prst="roundRect">
            <a:avLst>
              <a:gd name="adj" fmla="val 344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6" name="Text 24"/>
          <p:cNvSpPr/>
          <p:nvPr/>
        </p:nvSpPr>
        <p:spPr>
          <a:xfrm>
            <a:off x="7498080" y="4663440"/>
            <a:ext cx="2011680" cy="274320"/>
          </a:xfrm>
          <a:prstGeom prst="rect">
            <a:avLst/>
          </a:prstGeom>
          <a:noFill/>
          <a:ln/>
        </p:spPr>
        <p:txBody>
          <a:bodyPr wrap="square" lIns="0" tIns="0" rIns="0" bIns="0" rtlCol="0" anchor="ctr"/>
          <a:lstStyle/>
          <a:p>
            <a:pPr indent="0" marL="0">
              <a:buNone/>
            </a:pPr>
            <a:r>
              <a:rPr lang="en-US" sz="1050" dirty="0">
                <a:solidFill>
                  <a:srgbClr val="8C8C8C"/>
                </a:solidFill>
                <a:latin typeface="メイリオ" pitchFamily="34" charset="0"/>
                <a:ea typeface="メイリオ" pitchFamily="34" charset="-122"/>
                <a:cs typeface="メイリオ" pitchFamily="34" charset="-120"/>
              </a:rPr>
              <a:t>期首 現預金</a:t>
            </a:r>
            <a:endParaRPr lang="en-US" sz="1050" dirty="0"/>
          </a:p>
        </p:txBody>
      </p:sp>
      <p:sp>
        <p:nvSpPr>
          <p:cNvPr id="27" name="Text 25"/>
          <p:cNvSpPr/>
          <p:nvPr/>
        </p:nvSpPr>
        <p:spPr>
          <a:xfrm>
            <a:off x="7498080" y="4901184"/>
            <a:ext cx="3840480" cy="384048"/>
          </a:xfrm>
          <a:prstGeom prst="rect">
            <a:avLst/>
          </a:prstGeom>
          <a:noFill/>
          <a:ln/>
        </p:spPr>
        <p:txBody>
          <a:bodyPr wrap="square" lIns="0" tIns="0" rIns="0" bIns="0" rtlCol="0" anchor="ctr"/>
          <a:lstStyle/>
          <a:p>
            <a:pPr indent="0" marL="0">
              <a:buNone/>
            </a:pPr>
            <a:r>
              <a:rPr lang="en-US" sz="2000" b="1" dirty="0">
                <a:solidFill>
                  <a:srgbClr val="1A1A1A"/>
                </a:solidFill>
                <a:latin typeface="メイリオ" pitchFamily="34" charset="0"/>
                <a:ea typeface="メイリオ" pitchFamily="34" charset="-122"/>
                <a:cs typeface="メイリオ" pitchFamily="34" charset="-120"/>
              </a:rPr>
              <a:t>30百万円</a:t>
            </a:r>
            <a:endParaRPr lang="en-US" sz="2000" dirty="0"/>
          </a:p>
        </p:txBody>
      </p:sp>
      <p:sp>
        <p:nvSpPr>
          <p:cNvPr id="28" name="Text 26"/>
          <p:cNvSpPr/>
          <p:nvPr/>
        </p:nvSpPr>
        <p:spPr>
          <a:xfrm>
            <a:off x="7498080" y="5312664"/>
            <a:ext cx="3840480" cy="475488"/>
          </a:xfrm>
          <a:prstGeom prst="rect">
            <a:avLst/>
          </a:prstGeom>
          <a:noFill/>
          <a:ln/>
        </p:spPr>
        <p:txBody>
          <a:bodyPr wrap="square" lIns="0" tIns="0" rIns="0" bIns="0" rtlCol="0" anchor="ctr"/>
          <a:lstStyle/>
          <a:p>
            <a:pPr indent="0" marL="0">
              <a:buNone/>
            </a:pPr>
            <a:r>
              <a:rPr lang="en-US" sz="950" dirty="0">
                <a:solidFill>
                  <a:srgbClr val="1A1A1A"/>
                </a:solidFill>
                <a:latin typeface="メイリオ" pitchFamily="34" charset="0"/>
                <a:ea typeface="メイリオ" pitchFamily="34" charset="-122"/>
                <a:cs typeface="メイリオ" pitchFamily="34" charset="-120"/>
              </a:rPr>
              <a:t>2026/09末時点。手元流動性は薄く、月次資金繰り表を別途ご提出します。</a:t>
            </a:r>
            <a:endParaRPr lang="en-US" sz="950" dirty="0"/>
          </a:p>
        </p:txBody>
      </p:sp>
      <p:sp>
        <p:nvSpPr>
          <p:cNvPr id="29" name="Text 27"/>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出典：決算報告書 第54期（2025年9月30日現在）。商品の時価倍率1.37は事業計画202608（銀行様）の自社販売在庫 簿価/時価比率による。</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想定されるご指摘と当社の対応</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先に論点を開示し、対応方針をあわせてご説明します。</a:t>
            </a:r>
            <a:endParaRPr lang="en-US" sz="1250" dirty="0"/>
          </a:p>
        </p:txBody>
      </p:sp>
      <p:sp>
        <p:nvSpPr>
          <p:cNvPr id="4" name="Shape 2"/>
          <p:cNvSpPr/>
          <p:nvPr/>
        </p:nvSpPr>
        <p:spPr>
          <a:xfrm>
            <a:off x="594360" y="1481328"/>
            <a:ext cx="5486400" cy="2029968"/>
          </a:xfrm>
          <a:prstGeom prst="roundRect">
            <a:avLst>
              <a:gd name="adj" fmla="val 2252"/>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5" name="Shape 3"/>
          <p:cNvSpPr/>
          <p:nvPr/>
        </p:nvSpPr>
        <p:spPr>
          <a:xfrm>
            <a:off x="868680" y="1719072"/>
            <a:ext cx="310896" cy="310896"/>
          </a:xfrm>
          <a:prstGeom prst="ellipse">
            <a:avLst/>
          </a:prstGeom>
          <a:solidFill>
            <a:srgbClr val="1A1A1A"/>
          </a:solidFill>
          <a:ln/>
        </p:spPr>
      </p:sp>
      <p:sp>
        <p:nvSpPr>
          <p:cNvPr id="6" name="Text 4"/>
          <p:cNvSpPr/>
          <p:nvPr/>
        </p:nvSpPr>
        <p:spPr>
          <a:xfrm>
            <a:off x="868680" y="17190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1</a:t>
            </a:r>
            <a:endParaRPr lang="en-US" sz="1300" dirty="0"/>
          </a:p>
        </p:txBody>
      </p:sp>
      <p:sp>
        <p:nvSpPr>
          <p:cNvPr id="7" name="Text 5"/>
          <p:cNvSpPr/>
          <p:nvPr/>
        </p:nvSpPr>
        <p:spPr>
          <a:xfrm>
            <a:off x="1307592" y="1700784"/>
            <a:ext cx="4526280" cy="329184"/>
          </a:xfrm>
          <a:prstGeom prst="rect">
            <a:avLst/>
          </a:prstGeom>
          <a:noFill/>
          <a:ln/>
        </p:spPr>
        <p:txBody>
          <a:bodyPr wrap="square" lIns="0" tIns="0" rIns="0" bIns="0" rtlCol="0" anchor="ctr"/>
          <a:lstStyle/>
          <a:p>
            <a:pPr indent="0" marL="0">
              <a:buNone/>
            </a:pPr>
            <a:r>
              <a:rPr lang="en-US" sz="1250" b="1" dirty="0">
                <a:solidFill>
                  <a:srgbClr val="1A1A1A"/>
                </a:solidFill>
                <a:latin typeface="メイリオ" pitchFamily="34" charset="0"/>
                <a:ea typeface="メイリオ" pitchFamily="34" charset="-122"/>
                <a:cs typeface="メイリオ" pitchFamily="34" charset="-120"/>
              </a:rPr>
              <a:t>グループ内取引 82.5百万円</a:t>
            </a:r>
            <a:endParaRPr lang="en-US" sz="1250" dirty="0"/>
          </a:p>
        </p:txBody>
      </p:sp>
      <p:sp>
        <p:nvSpPr>
          <p:cNvPr id="8" name="Text 6"/>
          <p:cNvSpPr/>
          <p:nvPr/>
        </p:nvSpPr>
        <p:spPr>
          <a:xfrm>
            <a:off x="886968" y="2103120"/>
            <a:ext cx="4937760" cy="566928"/>
          </a:xfrm>
          <a:prstGeom prst="rect">
            <a:avLst/>
          </a:prstGeom>
          <a:noFill/>
          <a:ln/>
        </p:spPr>
        <p:txBody>
          <a:bodyPr wrap="square" lIns="0" tIns="0" rIns="0" bIns="0" rtlCol="0" anchor="t"/>
          <a:lstStyle/>
          <a:p>
            <a:pPr indent="0" marL="0">
              <a:buNone/>
            </a:pPr>
            <a:r>
              <a:rPr lang="en-US" sz="1000" dirty="0">
                <a:solidFill>
                  <a:srgbClr val="8C8C8C"/>
                </a:solidFill>
                <a:latin typeface="メイリオ" pitchFamily="34" charset="0"/>
                <a:ea typeface="メイリオ" pitchFamily="34" charset="-122"/>
                <a:cs typeface="メイリオ" pitchFamily="34" charset="-120"/>
              </a:rPr>
              <a:t>上乗せ案件102.5百万円のうち82.5百万円はグループ会社からのコンサルティング料。</a:t>
            </a:r>
            <a:endParaRPr lang="en-US" sz="1000" dirty="0"/>
          </a:p>
        </p:txBody>
      </p:sp>
      <p:sp>
        <p:nvSpPr>
          <p:cNvPr id="9" name="Shape 7"/>
          <p:cNvSpPr/>
          <p:nvPr/>
        </p:nvSpPr>
        <p:spPr>
          <a:xfrm>
            <a:off x="886968" y="2670048"/>
            <a:ext cx="4937760" cy="694944"/>
          </a:xfrm>
          <a:prstGeom prst="roundRect">
            <a:avLst>
              <a:gd name="adj" fmla="val 6579"/>
            </a:avLst>
          </a:prstGeom>
          <a:solidFill>
            <a:srgbClr val="FAF3E2"/>
          </a:solidFill>
          <a:ln/>
        </p:spPr>
      </p:sp>
      <p:sp>
        <p:nvSpPr>
          <p:cNvPr id="10" name="Text 8"/>
          <p:cNvSpPr/>
          <p:nvPr/>
        </p:nvSpPr>
        <p:spPr>
          <a:xfrm>
            <a:off x="1051560" y="2670048"/>
            <a:ext cx="4617720" cy="694944"/>
          </a:xfrm>
          <a:prstGeom prst="rect">
            <a:avLst/>
          </a:prstGeom>
          <a:noFill/>
          <a:ln/>
        </p:spPr>
        <p:txBody>
          <a:bodyPr wrap="square" lIns="0" tIns="0" rIns="0" bIns="0" rtlCol="0" anchor="ctr"/>
          <a:lstStyle/>
          <a:p>
            <a:pPr indent="0" marL="0">
              <a:buNone/>
            </a:pPr>
            <a:r>
              <a:rPr lang="en-US" sz="1000" dirty="0">
                <a:solidFill>
                  <a:srgbClr val="1A1A1A"/>
                </a:solidFill>
                <a:latin typeface="メイリオ" pitchFamily="34" charset="0"/>
                <a:ea typeface="メイリオ" pitchFamily="34" charset="-122"/>
                <a:cs typeface="メイリオ" pitchFamily="34" charset="-120"/>
              </a:rPr>
              <a:t>支払側各社の支払能力と、対価の算定根拠（業務内容・工数）を文書化してご提出します。</a:t>
            </a:r>
            <a:endParaRPr lang="en-US" sz="1000" dirty="0"/>
          </a:p>
        </p:txBody>
      </p:sp>
      <p:sp>
        <p:nvSpPr>
          <p:cNvPr id="11" name="Shape 9"/>
          <p:cNvSpPr/>
          <p:nvPr/>
        </p:nvSpPr>
        <p:spPr>
          <a:xfrm>
            <a:off x="6400800" y="1481328"/>
            <a:ext cx="5486400" cy="2029968"/>
          </a:xfrm>
          <a:prstGeom prst="roundRect">
            <a:avLst>
              <a:gd name="adj" fmla="val 2252"/>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2" name="Shape 10"/>
          <p:cNvSpPr/>
          <p:nvPr/>
        </p:nvSpPr>
        <p:spPr>
          <a:xfrm>
            <a:off x="6675120" y="1719072"/>
            <a:ext cx="310896" cy="310896"/>
          </a:xfrm>
          <a:prstGeom prst="ellipse">
            <a:avLst/>
          </a:prstGeom>
          <a:solidFill>
            <a:srgbClr val="1A1A1A"/>
          </a:solidFill>
          <a:ln/>
        </p:spPr>
      </p:sp>
      <p:sp>
        <p:nvSpPr>
          <p:cNvPr id="13" name="Text 11"/>
          <p:cNvSpPr/>
          <p:nvPr/>
        </p:nvSpPr>
        <p:spPr>
          <a:xfrm>
            <a:off x="6675120" y="17190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2</a:t>
            </a:r>
            <a:endParaRPr lang="en-US" sz="1300" dirty="0"/>
          </a:p>
        </p:txBody>
      </p:sp>
      <p:sp>
        <p:nvSpPr>
          <p:cNvPr id="14" name="Text 12"/>
          <p:cNvSpPr/>
          <p:nvPr/>
        </p:nvSpPr>
        <p:spPr>
          <a:xfrm>
            <a:off x="7114032" y="1700784"/>
            <a:ext cx="4526280" cy="329184"/>
          </a:xfrm>
          <a:prstGeom prst="rect">
            <a:avLst/>
          </a:prstGeom>
          <a:noFill/>
          <a:ln/>
        </p:spPr>
        <p:txBody>
          <a:bodyPr wrap="square" lIns="0" tIns="0" rIns="0" bIns="0" rtlCol="0" anchor="ctr"/>
          <a:lstStyle/>
          <a:p>
            <a:pPr indent="0" marL="0">
              <a:buNone/>
            </a:pPr>
            <a:r>
              <a:rPr lang="en-US" sz="1250" b="1" dirty="0">
                <a:solidFill>
                  <a:srgbClr val="1A1A1A"/>
                </a:solidFill>
                <a:latin typeface="メイリオ" pitchFamily="34" charset="0"/>
                <a:ea typeface="メイリオ" pitchFamily="34" charset="-122"/>
                <a:cs typeface="メイリオ" pitchFamily="34" charset="-120"/>
              </a:rPr>
              <a:t>ワイン仕入を維持しても在庫は増えない</a:t>
            </a:r>
            <a:endParaRPr lang="en-US" sz="1250" dirty="0"/>
          </a:p>
        </p:txBody>
      </p:sp>
      <p:sp>
        <p:nvSpPr>
          <p:cNvPr id="15" name="Text 13"/>
          <p:cNvSpPr/>
          <p:nvPr/>
        </p:nvSpPr>
        <p:spPr>
          <a:xfrm>
            <a:off x="6693408" y="2103120"/>
            <a:ext cx="4937760" cy="566928"/>
          </a:xfrm>
          <a:prstGeom prst="rect">
            <a:avLst/>
          </a:prstGeom>
          <a:noFill/>
          <a:ln/>
        </p:spPr>
        <p:txBody>
          <a:bodyPr wrap="square" lIns="0" tIns="0" rIns="0" bIns="0" rtlCol="0" anchor="t"/>
          <a:lstStyle/>
          <a:p>
            <a:pPr indent="0" marL="0">
              <a:buNone/>
            </a:pPr>
            <a:r>
              <a:rPr lang="en-US" sz="1000" dirty="0">
                <a:solidFill>
                  <a:srgbClr val="8C8C8C"/>
                </a:solidFill>
                <a:latin typeface="メイリオ" pitchFamily="34" charset="0"/>
                <a:ea typeface="メイリオ" pitchFamily="34" charset="-122"/>
                <a:cs typeface="メイリオ" pitchFamily="34" charset="-120"/>
              </a:rPr>
              <a:t>仕入419.1百万円に対し売上原価427.5百万円。在庫は420.0→411.6百万円とほぼ横ばいです。</a:t>
            </a:r>
            <a:endParaRPr lang="en-US" sz="1000" dirty="0"/>
          </a:p>
        </p:txBody>
      </p:sp>
      <p:sp>
        <p:nvSpPr>
          <p:cNvPr id="16" name="Shape 14"/>
          <p:cNvSpPr/>
          <p:nvPr/>
        </p:nvSpPr>
        <p:spPr>
          <a:xfrm>
            <a:off x="6693408" y="2670048"/>
            <a:ext cx="4937760" cy="694944"/>
          </a:xfrm>
          <a:prstGeom prst="roundRect">
            <a:avLst>
              <a:gd name="adj" fmla="val 6579"/>
            </a:avLst>
          </a:prstGeom>
          <a:solidFill>
            <a:srgbClr val="FAF3E2"/>
          </a:solidFill>
          <a:ln/>
        </p:spPr>
      </p:sp>
      <p:sp>
        <p:nvSpPr>
          <p:cNvPr id="17" name="Text 15"/>
          <p:cNvSpPr/>
          <p:nvPr/>
        </p:nvSpPr>
        <p:spPr>
          <a:xfrm>
            <a:off x="6858000" y="2670048"/>
            <a:ext cx="4617720" cy="694944"/>
          </a:xfrm>
          <a:prstGeom prst="rect">
            <a:avLst/>
          </a:prstGeom>
          <a:noFill/>
          <a:ln/>
        </p:spPr>
        <p:txBody>
          <a:bodyPr wrap="square" lIns="0" tIns="0" rIns="0" bIns="0" rtlCol="0" anchor="ctr"/>
          <a:lstStyle/>
          <a:p>
            <a:pPr indent="0" marL="0">
              <a:buNone/>
            </a:pPr>
            <a:r>
              <a:rPr lang="en-US" sz="1000" dirty="0">
                <a:solidFill>
                  <a:srgbClr val="1A1A1A"/>
                </a:solidFill>
                <a:latin typeface="メイリオ" pitchFamily="34" charset="0"/>
                <a:ea typeface="メイリオ" pitchFamily="34" charset="-122"/>
                <a:cs typeface="メイリオ" pitchFamily="34" charset="-120"/>
              </a:rPr>
              <a:t>割当を守りながら資金が在庫に固定されません。在庫見合いの運転資金枠はあわせてご相談させてください。</a:t>
            </a:r>
            <a:endParaRPr lang="en-US" sz="1000" dirty="0"/>
          </a:p>
        </p:txBody>
      </p:sp>
      <p:sp>
        <p:nvSpPr>
          <p:cNvPr id="18" name="Shape 16"/>
          <p:cNvSpPr/>
          <p:nvPr/>
        </p:nvSpPr>
        <p:spPr>
          <a:xfrm>
            <a:off x="594360" y="3694176"/>
            <a:ext cx="5486400" cy="2029968"/>
          </a:xfrm>
          <a:prstGeom prst="roundRect">
            <a:avLst>
              <a:gd name="adj" fmla="val 2252"/>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9" name="Shape 17"/>
          <p:cNvSpPr/>
          <p:nvPr/>
        </p:nvSpPr>
        <p:spPr>
          <a:xfrm>
            <a:off x="868680" y="3931920"/>
            <a:ext cx="310896" cy="310896"/>
          </a:xfrm>
          <a:prstGeom prst="ellipse">
            <a:avLst/>
          </a:prstGeom>
          <a:solidFill>
            <a:srgbClr val="1A1A1A"/>
          </a:solidFill>
          <a:ln/>
        </p:spPr>
      </p:sp>
      <p:sp>
        <p:nvSpPr>
          <p:cNvPr id="20" name="Text 18"/>
          <p:cNvSpPr/>
          <p:nvPr/>
        </p:nvSpPr>
        <p:spPr>
          <a:xfrm>
            <a:off x="868680" y="39319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3</a:t>
            </a:r>
            <a:endParaRPr lang="en-US" sz="1300" dirty="0"/>
          </a:p>
        </p:txBody>
      </p:sp>
      <p:sp>
        <p:nvSpPr>
          <p:cNvPr id="21" name="Text 19"/>
          <p:cNvSpPr/>
          <p:nvPr/>
        </p:nvSpPr>
        <p:spPr>
          <a:xfrm>
            <a:off x="1307592" y="3913632"/>
            <a:ext cx="4526280" cy="329184"/>
          </a:xfrm>
          <a:prstGeom prst="rect">
            <a:avLst/>
          </a:prstGeom>
          <a:noFill/>
          <a:ln/>
        </p:spPr>
        <p:txBody>
          <a:bodyPr wrap="square" lIns="0" tIns="0" rIns="0" bIns="0" rtlCol="0" anchor="ctr"/>
          <a:lstStyle/>
          <a:p>
            <a:pPr indent="0" marL="0">
              <a:buNone/>
            </a:pPr>
            <a:r>
              <a:rPr lang="en-US" sz="1250" b="1" dirty="0">
                <a:solidFill>
                  <a:srgbClr val="1A1A1A"/>
                </a:solidFill>
                <a:latin typeface="メイリオ" pitchFamily="34" charset="0"/>
                <a:ea typeface="メイリオ" pitchFamily="34" charset="-122"/>
                <a:cs typeface="メイリオ" pitchFamily="34" charset="-120"/>
              </a:rPr>
              <a:t>期首現預金30百万円の薄さ</a:t>
            </a:r>
            <a:endParaRPr lang="en-US" sz="1250" dirty="0"/>
          </a:p>
        </p:txBody>
      </p:sp>
      <p:sp>
        <p:nvSpPr>
          <p:cNvPr id="22" name="Text 20"/>
          <p:cNvSpPr/>
          <p:nvPr/>
        </p:nvSpPr>
        <p:spPr>
          <a:xfrm>
            <a:off x="886968" y="4315968"/>
            <a:ext cx="4937760" cy="566928"/>
          </a:xfrm>
          <a:prstGeom prst="rect">
            <a:avLst/>
          </a:prstGeom>
          <a:noFill/>
          <a:ln/>
        </p:spPr>
        <p:txBody>
          <a:bodyPr wrap="square" lIns="0" tIns="0" rIns="0" bIns="0" rtlCol="0" anchor="t"/>
          <a:lstStyle/>
          <a:p>
            <a:pPr indent="0" marL="0">
              <a:buNone/>
            </a:pPr>
            <a:r>
              <a:rPr lang="en-US" sz="1000" dirty="0">
                <a:solidFill>
                  <a:srgbClr val="8C8C8C"/>
                </a:solidFill>
                <a:latin typeface="メイリオ" pitchFamily="34" charset="0"/>
                <a:ea typeface="メイリオ" pitchFamily="34" charset="-122"/>
                <a:cs typeface="メイリオ" pitchFamily="34" charset="-120"/>
              </a:rPr>
              <a:t>2026/09末のみずほ銀行200百万円返済後の手元は薄く、消費税の確定納付が重なる2026年11月が最も緊張します。</a:t>
            </a:r>
            <a:endParaRPr lang="en-US" sz="1000" dirty="0"/>
          </a:p>
        </p:txBody>
      </p:sp>
      <p:sp>
        <p:nvSpPr>
          <p:cNvPr id="23" name="Shape 21"/>
          <p:cNvSpPr/>
          <p:nvPr/>
        </p:nvSpPr>
        <p:spPr>
          <a:xfrm>
            <a:off x="886968" y="4882896"/>
            <a:ext cx="4937760" cy="694944"/>
          </a:xfrm>
          <a:prstGeom prst="roundRect">
            <a:avLst>
              <a:gd name="adj" fmla="val 6579"/>
            </a:avLst>
          </a:prstGeom>
          <a:solidFill>
            <a:srgbClr val="FAF3E2"/>
          </a:solidFill>
          <a:ln/>
        </p:spPr>
      </p:sp>
      <p:sp>
        <p:nvSpPr>
          <p:cNvPr id="24" name="Text 22"/>
          <p:cNvSpPr/>
          <p:nvPr/>
        </p:nvSpPr>
        <p:spPr>
          <a:xfrm>
            <a:off x="1051560" y="4882896"/>
            <a:ext cx="4617720" cy="694944"/>
          </a:xfrm>
          <a:prstGeom prst="rect">
            <a:avLst/>
          </a:prstGeom>
          <a:noFill/>
          <a:ln/>
        </p:spPr>
        <p:txBody>
          <a:bodyPr wrap="square" lIns="0" tIns="0" rIns="0" bIns="0" rtlCol="0" anchor="ctr"/>
          <a:lstStyle/>
          <a:p>
            <a:pPr indent="0" marL="0">
              <a:buNone/>
            </a:pPr>
            <a:r>
              <a:rPr lang="en-US" sz="1000" dirty="0">
                <a:solidFill>
                  <a:srgbClr val="1A1A1A"/>
                </a:solidFill>
                <a:latin typeface="メイリオ" pitchFamily="34" charset="0"/>
                <a:ea typeface="メイリオ" pitchFamily="34" charset="-122"/>
                <a:cs typeface="メイリオ" pitchFamily="34" charset="-120"/>
              </a:rPr>
              <a:t>短期借入162百万円の借換継続をお願いできれば、期中最低34.2百万円で通期の資金繰りは成立します。</a:t>
            </a:r>
            <a:endParaRPr lang="en-US" sz="1000" dirty="0"/>
          </a:p>
        </p:txBody>
      </p:sp>
      <p:sp>
        <p:nvSpPr>
          <p:cNvPr id="25" name="Shape 23"/>
          <p:cNvSpPr/>
          <p:nvPr/>
        </p:nvSpPr>
        <p:spPr>
          <a:xfrm>
            <a:off x="6400800" y="3694176"/>
            <a:ext cx="5486400" cy="2029968"/>
          </a:xfrm>
          <a:prstGeom prst="roundRect">
            <a:avLst>
              <a:gd name="adj" fmla="val 2252"/>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6" name="Shape 24"/>
          <p:cNvSpPr/>
          <p:nvPr/>
        </p:nvSpPr>
        <p:spPr>
          <a:xfrm>
            <a:off x="6675120" y="3931920"/>
            <a:ext cx="310896" cy="310896"/>
          </a:xfrm>
          <a:prstGeom prst="ellipse">
            <a:avLst/>
          </a:prstGeom>
          <a:solidFill>
            <a:srgbClr val="1A1A1A"/>
          </a:solidFill>
          <a:ln/>
        </p:spPr>
      </p:sp>
      <p:sp>
        <p:nvSpPr>
          <p:cNvPr id="27" name="Text 25"/>
          <p:cNvSpPr/>
          <p:nvPr/>
        </p:nvSpPr>
        <p:spPr>
          <a:xfrm>
            <a:off x="6675120" y="39319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4</a:t>
            </a:r>
            <a:endParaRPr lang="en-US" sz="1300" dirty="0"/>
          </a:p>
        </p:txBody>
      </p:sp>
      <p:sp>
        <p:nvSpPr>
          <p:cNvPr id="28" name="Text 26"/>
          <p:cNvSpPr/>
          <p:nvPr/>
        </p:nvSpPr>
        <p:spPr>
          <a:xfrm>
            <a:off x="7114032" y="3913632"/>
            <a:ext cx="4526280" cy="329184"/>
          </a:xfrm>
          <a:prstGeom prst="rect">
            <a:avLst/>
          </a:prstGeom>
          <a:noFill/>
          <a:ln/>
        </p:spPr>
        <p:txBody>
          <a:bodyPr wrap="square" lIns="0" tIns="0" rIns="0" bIns="0" rtlCol="0" anchor="ctr"/>
          <a:lstStyle/>
          <a:p>
            <a:pPr indent="0" marL="0">
              <a:buNone/>
            </a:pPr>
            <a:r>
              <a:rPr lang="en-US" sz="1250" b="1" dirty="0">
                <a:solidFill>
                  <a:srgbClr val="1A1A1A"/>
                </a:solidFill>
                <a:latin typeface="メイリオ" pitchFamily="34" charset="0"/>
                <a:ea typeface="メイリオ" pitchFamily="34" charset="-122"/>
                <a:cs typeface="メイリオ" pitchFamily="34" charset="-120"/>
              </a:rPr>
              <a:t>差額売上の未達リスク</a:t>
            </a:r>
            <a:endParaRPr lang="en-US" sz="1250" dirty="0"/>
          </a:p>
        </p:txBody>
      </p:sp>
      <p:sp>
        <p:nvSpPr>
          <p:cNvPr id="29" name="Text 27"/>
          <p:cNvSpPr/>
          <p:nvPr/>
        </p:nvSpPr>
        <p:spPr>
          <a:xfrm>
            <a:off x="6693408" y="4315968"/>
            <a:ext cx="4937760" cy="566928"/>
          </a:xfrm>
          <a:prstGeom prst="rect">
            <a:avLst/>
          </a:prstGeom>
          <a:noFill/>
          <a:ln/>
        </p:spPr>
        <p:txBody>
          <a:bodyPr wrap="square" lIns="0" tIns="0" rIns="0" bIns="0" rtlCol="0" anchor="t"/>
          <a:lstStyle/>
          <a:p>
            <a:pPr indent="0" marL="0">
              <a:buNone/>
            </a:pPr>
            <a:r>
              <a:rPr lang="en-US" sz="1000" dirty="0">
                <a:solidFill>
                  <a:srgbClr val="8C8C8C"/>
                </a:solidFill>
                <a:latin typeface="メイリオ" pitchFamily="34" charset="0"/>
                <a:ea typeface="メイリオ" pitchFamily="34" charset="-122"/>
                <a:cs typeface="メイリオ" pitchFamily="34" charset="-120"/>
              </a:rPr>
              <a:t>仕入を固定するため、差額売上341.4百万円が未達の場合の資金影響が大きくなります。</a:t>
            </a:r>
            <a:endParaRPr lang="en-US" sz="1000" dirty="0"/>
          </a:p>
        </p:txBody>
      </p:sp>
      <p:sp>
        <p:nvSpPr>
          <p:cNvPr id="30" name="Shape 28"/>
          <p:cNvSpPr/>
          <p:nvPr/>
        </p:nvSpPr>
        <p:spPr>
          <a:xfrm>
            <a:off x="6693408" y="4882896"/>
            <a:ext cx="4937760" cy="694944"/>
          </a:xfrm>
          <a:prstGeom prst="roundRect">
            <a:avLst>
              <a:gd name="adj" fmla="val 6579"/>
            </a:avLst>
          </a:prstGeom>
          <a:solidFill>
            <a:srgbClr val="FAF3E2"/>
          </a:solidFill>
          <a:ln/>
        </p:spPr>
      </p:sp>
      <p:sp>
        <p:nvSpPr>
          <p:cNvPr id="31" name="Text 29"/>
          <p:cNvSpPr/>
          <p:nvPr/>
        </p:nvSpPr>
        <p:spPr>
          <a:xfrm>
            <a:off x="6858000" y="4882896"/>
            <a:ext cx="4617720" cy="694944"/>
          </a:xfrm>
          <a:prstGeom prst="rect">
            <a:avLst/>
          </a:prstGeom>
          <a:noFill/>
          <a:ln/>
        </p:spPr>
        <p:txBody>
          <a:bodyPr wrap="square" lIns="0" tIns="0" rIns="0" bIns="0" rtlCol="0" anchor="ctr"/>
          <a:lstStyle/>
          <a:p>
            <a:pPr indent="0" marL="0">
              <a:buNone/>
            </a:pPr>
            <a:r>
              <a:rPr lang="en-US" sz="1000" dirty="0">
                <a:solidFill>
                  <a:srgbClr val="1A1A1A"/>
                </a:solidFill>
                <a:latin typeface="メイリオ" pitchFamily="34" charset="0"/>
                <a:ea typeface="メイリオ" pitchFamily="34" charset="-122"/>
                <a:cs typeface="メイリオ" pitchFamily="34" charset="-120"/>
              </a:rPr>
              <a:t>月次で進捗をご報告し、未達が見込まれる場合は仕入計画を機動的に見直します。</a:t>
            </a:r>
            <a:endParaRPr lang="en-US" sz="1000" dirty="0"/>
          </a:p>
        </p:txBody>
      </p:sp>
      <p:sp>
        <p:nvSpPr>
          <p:cNvPr id="32" name="Text 30"/>
          <p:cNvSpPr/>
          <p:nvPr/>
        </p:nvSpPr>
        <p:spPr>
          <a:xfrm>
            <a:off x="594360" y="6382512"/>
            <a:ext cx="10972800" cy="274320"/>
          </a:xfrm>
          <a:prstGeom prst="rect">
            <a:avLst/>
          </a:prstGeom>
          <a:noFill/>
          <a:ln/>
        </p:spPr>
        <p:txBody>
          <a:bodyPr wrap="square" lIns="0" tIns="0" rIns="0" bIns="0" rtlCol="0" anchor="ctr"/>
          <a:lstStyle/>
          <a:p>
            <a:pPr indent="0" marL="0">
              <a:buNone/>
            </a:pP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プランDは過去実績そのもの</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Dの既存事業730.5百万円は前期・今期の売上平均で、新たな成長を一切前提にしていません。トラックレコードが裏付けます。</a:t>
            </a:r>
            <a:endParaRPr lang="en-US" sz="1250" dirty="0"/>
          </a:p>
        </p:txBody>
      </p:sp>
      <p:sp>
        <p:nvSpPr>
          <p:cNvPr id="4" name="Shape 2"/>
          <p:cNvSpPr/>
          <p:nvPr/>
        </p:nvSpPr>
        <p:spPr>
          <a:xfrm>
            <a:off x="594360" y="1517904"/>
            <a:ext cx="10241280" cy="384048"/>
          </a:xfrm>
          <a:prstGeom prst="rect">
            <a:avLst/>
          </a:prstGeom>
          <a:solidFill>
            <a:srgbClr val="1A1A1A"/>
          </a:solidFill>
          <a:ln/>
        </p:spPr>
      </p:sp>
      <p:sp>
        <p:nvSpPr>
          <p:cNvPr id="5" name="Text 3"/>
          <p:cNvSpPr/>
          <p:nvPr/>
        </p:nvSpPr>
        <p:spPr>
          <a:xfrm>
            <a:off x="704088" y="1517904"/>
            <a:ext cx="2615184" cy="384048"/>
          </a:xfrm>
          <a:prstGeom prst="rect">
            <a:avLst/>
          </a:prstGeom>
          <a:noFill/>
          <a:ln/>
        </p:spPr>
        <p:txBody>
          <a:bodyPr wrap="square" lIns="0" tIns="0" rIns="0" bIns="0" rtlCol="0" anchor="ctr"/>
          <a:lstStyle/>
          <a:p>
            <a:pPr algn="l" indent="0" marL="0">
              <a:buNone/>
            </a:pPr>
            <a:r>
              <a:rPr lang="en-US" sz="950" b="1" dirty="0">
                <a:solidFill>
                  <a:srgbClr val="FFFFFF"/>
                </a:solidFill>
                <a:latin typeface="メイリオ" pitchFamily="34" charset="0"/>
                <a:ea typeface="メイリオ" pitchFamily="34" charset="-122"/>
                <a:cs typeface="メイリオ" pitchFamily="34" charset="-120"/>
              </a:rPr>
              <a:t>期</a:t>
            </a:r>
            <a:endParaRPr lang="en-US" sz="950" dirty="0"/>
          </a:p>
        </p:txBody>
      </p:sp>
      <p:sp>
        <p:nvSpPr>
          <p:cNvPr id="6" name="Text 4"/>
          <p:cNvSpPr/>
          <p:nvPr/>
        </p:nvSpPr>
        <p:spPr>
          <a:xfrm>
            <a:off x="3538728" y="1517904"/>
            <a:ext cx="1792224" cy="384048"/>
          </a:xfrm>
          <a:prstGeom prst="rect">
            <a:avLst/>
          </a:prstGeom>
          <a:noFill/>
          <a:ln/>
        </p:spPr>
        <p:txBody>
          <a:bodyPr wrap="square" lIns="0" tIns="0" rIns="0" bIns="0" rtlCol="0" anchor="ctr"/>
          <a:lstStyle/>
          <a:p>
            <a:pPr algn="r" indent="0" marL="0">
              <a:buNone/>
            </a:pPr>
            <a:r>
              <a:rPr lang="en-US" sz="950" b="1" dirty="0">
                <a:solidFill>
                  <a:srgbClr val="FFFFFF"/>
                </a:solidFill>
                <a:latin typeface="メイリオ" pitchFamily="34" charset="0"/>
                <a:ea typeface="メイリオ" pitchFamily="34" charset="-122"/>
                <a:cs typeface="メイリオ" pitchFamily="34" charset="-120"/>
              </a:rPr>
              <a:t>売上高（百万円）</a:t>
            </a:r>
            <a:endParaRPr lang="en-US" sz="950" dirty="0"/>
          </a:p>
        </p:txBody>
      </p:sp>
      <p:sp>
        <p:nvSpPr>
          <p:cNvPr id="7" name="Text 5"/>
          <p:cNvSpPr/>
          <p:nvPr/>
        </p:nvSpPr>
        <p:spPr>
          <a:xfrm>
            <a:off x="5550408" y="1517904"/>
            <a:ext cx="1883664" cy="384048"/>
          </a:xfrm>
          <a:prstGeom prst="rect">
            <a:avLst/>
          </a:prstGeom>
          <a:noFill/>
          <a:ln/>
        </p:spPr>
        <p:txBody>
          <a:bodyPr wrap="square" lIns="0" tIns="0" rIns="0" bIns="0" rtlCol="0" anchor="ctr"/>
          <a:lstStyle/>
          <a:p>
            <a:pPr algn="r" indent="0" marL="0">
              <a:buNone/>
            </a:pPr>
            <a:r>
              <a:rPr lang="en-US" sz="950" b="1" dirty="0">
                <a:solidFill>
                  <a:srgbClr val="FFFFFF"/>
                </a:solidFill>
                <a:latin typeface="メイリオ" pitchFamily="34" charset="0"/>
                <a:ea typeface="メイリオ" pitchFamily="34" charset="-122"/>
                <a:cs typeface="メイリオ" pitchFamily="34" charset="-120"/>
              </a:rPr>
              <a:t>事業粗利（百万円）</a:t>
            </a:r>
            <a:endParaRPr lang="en-US" sz="950" dirty="0"/>
          </a:p>
        </p:txBody>
      </p:sp>
      <p:sp>
        <p:nvSpPr>
          <p:cNvPr id="8" name="Text 6"/>
          <p:cNvSpPr/>
          <p:nvPr/>
        </p:nvSpPr>
        <p:spPr>
          <a:xfrm>
            <a:off x="7653528" y="1517904"/>
            <a:ext cx="1243584" cy="384048"/>
          </a:xfrm>
          <a:prstGeom prst="rect">
            <a:avLst/>
          </a:prstGeom>
          <a:noFill/>
          <a:ln/>
        </p:spPr>
        <p:txBody>
          <a:bodyPr wrap="square" lIns="0" tIns="0" rIns="0" bIns="0" rtlCol="0" anchor="ctr"/>
          <a:lstStyle/>
          <a:p>
            <a:pPr algn="r" indent="0" marL="0">
              <a:buNone/>
            </a:pPr>
            <a:r>
              <a:rPr lang="en-US" sz="950" b="1" dirty="0">
                <a:solidFill>
                  <a:srgbClr val="FFFFFF"/>
                </a:solidFill>
                <a:latin typeface="メイリオ" pitchFamily="34" charset="0"/>
                <a:ea typeface="メイリオ" pitchFamily="34" charset="-122"/>
                <a:cs typeface="メイリオ" pitchFamily="34" charset="-120"/>
              </a:rPr>
              <a:t>粗利率</a:t>
            </a:r>
            <a:endParaRPr lang="en-US" sz="950" dirty="0"/>
          </a:p>
        </p:txBody>
      </p:sp>
      <p:sp>
        <p:nvSpPr>
          <p:cNvPr id="9" name="Text 7"/>
          <p:cNvSpPr/>
          <p:nvPr/>
        </p:nvSpPr>
        <p:spPr>
          <a:xfrm>
            <a:off x="9116568" y="1517904"/>
            <a:ext cx="1609344" cy="384048"/>
          </a:xfrm>
          <a:prstGeom prst="rect">
            <a:avLst/>
          </a:prstGeom>
          <a:noFill/>
          <a:ln/>
        </p:spPr>
        <p:txBody>
          <a:bodyPr wrap="square" lIns="0" tIns="0" rIns="0" bIns="0" rtlCol="0" anchor="ctr"/>
          <a:lstStyle/>
          <a:p>
            <a:pPr algn="r" indent="0" marL="0">
              <a:buNone/>
            </a:pPr>
            <a:r>
              <a:rPr lang="en-US" sz="950" b="1" dirty="0">
                <a:solidFill>
                  <a:srgbClr val="FFFFFF"/>
                </a:solidFill>
                <a:latin typeface="メイリオ" pitchFamily="34" charset="0"/>
                <a:ea typeface="メイリオ" pitchFamily="34" charset="-122"/>
                <a:cs typeface="メイリオ" pitchFamily="34" charset="-120"/>
              </a:rPr>
              <a:t>既存事業／2期平均</a:t>
            </a:r>
            <a:endParaRPr lang="en-US" sz="950" dirty="0"/>
          </a:p>
        </p:txBody>
      </p:sp>
      <p:sp>
        <p:nvSpPr>
          <p:cNvPr id="10" name="Shape 8"/>
          <p:cNvSpPr/>
          <p:nvPr/>
        </p:nvSpPr>
        <p:spPr>
          <a:xfrm>
            <a:off x="594360" y="1901952"/>
            <a:ext cx="10241280" cy="384048"/>
          </a:xfrm>
          <a:prstGeom prst="rect">
            <a:avLst/>
          </a:prstGeom>
          <a:solidFill>
            <a:srgbClr val="FFFFFF"/>
          </a:solidFill>
          <a:ln w="6350">
            <a:solidFill>
              <a:srgbClr val="E2E0DC"/>
            </a:solidFill>
            <a:prstDash val="solid"/>
          </a:ln>
        </p:spPr>
      </p:sp>
      <p:sp>
        <p:nvSpPr>
          <p:cNvPr id="11" name="Text 9"/>
          <p:cNvSpPr/>
          <p:nvPr/>
        </p:nvSpPr>
        <p:spPr>
          <a:xfrm>
            <a:off x="704088" y="1901952"/>
            <a:ext cx="2615184" cy="384048"/>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FY2024 実績</a:t>
            </a:r>
            <a:endParaRPr lang="en-US" sz="1050" dirty="0"/>
          </a:p>
        </p:txBody>
      </p:sp>
      <p:sp>
        <p:nvSpPr>
          <p:cNvPr id="12" name="Text 10"/>
          <p:cNvSpPr/>
          <p:nvPr/>
        </p:nvSpPr>
        <p:spPr>
          <a:xfrm>
            <a:off x="3538728" y="1901952"/>
            <a:ext cx="179222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512.5</a:t>
            </a:r>
            <a:endParaRPr lang="en-US" sz="1050" dirty="0"/>
          </a:p>
        </p:txBody>
      </p:sp>
      <p:sp>
        <p:nvSpPr>
          <p:cNvPr id="13" name="Text 11"/>
          <p:cNvSpPr/>
          <p:nvPr/>
        </p:nvSpPr>
        <p:spPr>
          <a:xfrm>
            <a:off x="5550408" y="1901952"/>
            <a:ext cx="188366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203.7</a:t>
            </a:r>
            <a:endParaRPr lang="en-US" sz="1050" dirty="0"/>
          </a:p>
        </p:txBody>
      </p:sp>
      <p:sp>
        <p:nvSpPr>
          <p:cNvPr id="14" name="Text 12"/>
          <p:cNvSpPr/>
          <p:nvPr/>
        </p:nvSpPr>
        <p:spPr>
          <a:xfrm>
            <a:off x="7653528" y="1901952"/>
            <a:ext cx="124358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39.8%</a:t>
            </a:r>
            <a:endParaRPr lang="en-US" sz="1050" dirty="0"/>
          </a:p>
        </p:txBody>
      </p:sp>
      <p:sp>
        <p:nvSpPr>
          <p:cNvPr id="15" name="Text 13"/>
          <p:cNvSpPr/>
          <p:nvPr/>
        </p:nvSpPr>
        <p:spPr>
          <a:xfrm>
            <a:off x="9116568" y="1901952"/>
            <a:ext cx="160934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70.2%</a:t>
            </a:r>
            <a:endParaRPr lang="en-US" sz="1050" dirty="0"/>
          </a:p>
        </p:txBody>
      </p:sp>
      <p:sp>
        <p:nvSpPr>
          <p:cNvPr id="16" name="Shape 14"/>
          <p:cNvSpPr/>
          <p:nvPr/>
        </p:nvSpPr>
        <p:spPr>
          <a:xfrm>
            <a:off x="594360" y="2286000"/>
            <a:ext cx="10241280" cy="384048"/>
          </a:xfrm>
          <a:prstGeom prst="rect">
            <a:avLst/>
          </a:prstGeom>
          <a:solidFill>
            <a:srgbClr val="FBFAF8"/>
          </a:solidFill>
          <a:ln w="6350">
            <a:solidFill>
              <a:srgbClr val="E2E0DC"/>
            </a:solidFill>
            <a:prstDash val="solid"/>
          </a:ln>
        </p:spPr>
      </p:sp>
      <p:sp>
        <p:nvSpPr>
          <p:cNvPr id="17" name="Text 15"/>
          <p:cNvSpPr/>
          <p:nvPr/>
        </p:nvSpPr>
        <p:spPr>
          <a:xfrm>
            <a:off x="704088" y="2286000"/>
            <a:ext cx="2615184" cy="384048"/>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FY2025 実績</a:t>
            </a:r>
            <a:endParaRPr lang="en-US" sz="1050" dirty="0"/>
          </a:p>
        </p:txBody>
      </p:sp>
      <p:sp>
        <p:nvSpPr>
          <p:cNvPr id="18" name="Text 16"/>
          <p:cNvSpPr/>
          <p:nvPr/>
        </p:nvSpPr>
        <p:spPr>
          <a:xfrm>
            <a:off x="3538728" y="2286000"/>
            <a:ext cx="179222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752.9</a:t>
            </a:r>
            <a:endParaRPr lang="en-US" sz="1050" dirty="0"/>
          </a:p>
        </p:txBody>
      </p:sp>
      <p:sp>
        <p:nvSpPr>
          <p:cNvPr id="19" name="Text 17"/>
          <p:cNvSpPr/>
          <p:nvPr/>
        </p:nvSpPr>
        <p:spPr>
          <a:xfrm>
            <a:off x="5550408" y="2286000"/>
            <a:ext cx="188366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201.9</a:t>
            </a:r>
            <a:endParaRPr lang="en-US" sz="1050" dirty="0"/>
          </a:p>
        </p:txBody>
      </p:sp>
      <p:sp>
        <p:nvSpPr>
          <p:cNvPr id="20" name="Text 18"/>
          <p:cNvSpPr/>
          <p:nvPr/>
        </p:nvSpPr>
        <p:spPr>
          <a:xfrm>
            <a:off x="7653528" y="2286000"/>
            <a:ext cx="124358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26.8%</a:t>
            </a:r>
            <a:endParaRPr lang="en-US" sz="1050" dirty="0"/>
          </a:p>
        </p:txBody>
      </p:sp>
      <p:sp>
        <p:nvSpPr>
          <p:cNvPr id="21" name="Text 19"/>
          <p:cNvSpPr/>
          <p:nvPr/>
        </p:nvSpPr>
        <p:spPr>
          <a:xfrm>
            <a:off x="9116568" y="2286000"/>
            <a:ext cx="160934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103.1%</a:t>
            </a:r>
            <a:endParaRPr lang="en-US" sz="1050" dirty="0"/>
          </a:p>
        </p:txBody>
      </p:sp>
      <p:sp>
        <p:nvSpPr>
          <p:cNvPr id="22" name="Shape 20"/>
          <p:cNvSpPr/>
          <p:nvPr/>
        </p:nvSpPr>
        <p:spPr>
          <a:xfrm>
            <a:off x="594360" y="2670048"/>
            <a:ext cx="10241280" cy="384048"/>
          </a:xfrm>
          <a:prstGeom prst="rect">
            <a:avLst/>
          </a:prstGeom>
          <a:solidFill>
            <a:srgbClr val="FFFFFF"/>
          </a:solidFill>
          <a:ln w="6350">
            <a:solidFill>
              <a:srgbClr val="E2E0DC"/>
            </a:solidFill>
            <a:prstDash val="solid"/>
          </a:ln>
        </p:spPr>
      </p:sp>
      <p:sp>
        <p:nvSpPr>
          <p:cNvPr id="23" name="Text 21"/>
          <p:cNvSpPr/>
          <p:nvPr/>
        </p:nvSpPr>
        <p:spPr>
          <a:xfrm>
            <a:off x="704088" y="2670048"/>
            <a:ext cx="2615184" cy="384048"/>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FY2026 見込（実力値）</a:t>
            </a:r>
            <a:endParaRPr lang="en-US" sz="1050" dirty="0"/>
          </a:p>
        </p:txBody>
      </p:sp>
      <p:sp>
        <p:nvSpPr>
          <p:cNvPr id="24" name="Text 22"/>
          <p:cNvSpPr/>
          <p:nvPr/>
        </p:nvSpPr>
        <p:spPr>
          <a:xfrm>
            <a:off x="3538728" y="2670048"/>
            <a:ext cx="179222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708.2</a:t>
            </a:r>
            <a:endParaRPr lang="en-US" sz="1050" dirty="0"/>
          </a:p>
        </p:txBody>
      </p:sp>
      <p:sp>
        <p:nvSpPr>
          <p:cNvPr id="25" name="Text 23"/>
          <p:cNvSpPr/>
          <p:nvPr/>
        </p:nvSpPr>
        <p:spPr>
          <a:xfrm>
            <a:off x="5550408" y="2670048"/>
            <a:ext cx="188366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229.1</a:t>
            </a:r>
            <a:endParaRPr lang="en-US" sz="1050" dirty="0"/>
          </a:p>
        </p:txBody>
      </p:sp>
      <p:sp>
        <p:nvSpPr>
          <p:cNvPr id="26" name="Text 24"/>
          <p:cNvSpPr/>
          <p:nvPr/>
        </p:nvSpPr>
        <p:spPr>
          <a:xfrm>
            <a:off x="7653528" y="2670048"/>
            <a:ext cx="124358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32.4%</a:t>
            </a:r>
            <a:endParaRPr lang="en-US" sz="1050" dirty="0"/>
          </a:p>
        </p:txBody>
      </p:sp>
      <p:sp>
        <p:nvSpPr>
          <p:cNvPr id="27" name="Text 25"/>
          <p:cNvSpPr/>
          <p:nvPr/>
        </p:nvSpPr>
        <p:spPr>
          <a:xfrm>
            <a:off x="9116568" y="2670048"/>
            <a:ext cx="160934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96.9%</a:t>
            </a:r>
            <a:endParaRPr lang="en-US" sz="1050" dirty="0"/>
          </a:p>
        </p:txBody>
      </p:sp>
      <p:sp>
        <p:nvSpPr>
          <p:cNvPr id="28" name="Shape 26"/>
          <p:cNvSpPr/>
          <p:nvPr/>
        </p:nvSpPr>
        <p:spPr>
          <a:xfrm>
            <a:off x="594360" y="3054096"/>
            <a:ext cx="10241280" cy="384048"/>
          </a:xfrm>
          <a:prstGeom prst="rect">
            <a:avLst/>
          </a:prstGeom>
          <a:solidFill>
            <a:srgbClr val="FAF3E2"/>
          </a:solidFill>
          <a:ln w="6350">
            <a:solidFill>
              <a:srgbClr val="E2E0DC"/>
            </a:solidFill>
            <a:prstDash val="solid"/>
          </a:ln>
        </p:spPr>
      </p:sp>
      <p:sp>
        <p:nvSpPr>
          <p:cNvPr id="29" name="Text 27"/>
          <p:cNvSpPr/>
          <p:nvPr/>
        </p:nvSpPr>
        <p:spPr>
          <a:xfrm>
            <a:off x="704088" y="3054096"/>
            <a:ext cx="2615184" cy="384048"/>
          </a:xfrm>
          <a:prstGeom prst="rect">
            <a:avLst/>
          </a:prstGeom>
          <a:noFill/>
          <a:ln/>
        </p:spPr>
        <p:txBody>
          <a:bodyPr wrap="square" lIns="0" tIns="0" rIns="0" bIns="0" rtlCol="0" anchor="ctr"/>
          <a:lstStyle/>
          <a:p>
            <a:pPr algn="l" indent="0" marL="0">
              <a:buNone/>
            </a:pPr>
            <a:r>
              <a:rPr lang="en-US" sz="1050" b="1" dirty="0">
                <a:solidFill>
                  <a:srgbClr val="1A1A1A"/>
                </a:solidFill>
                <a:latin typeface="メイリオ" pitchFamily="34" charset="0"/>
                <a:ea typeface="メイリオ" pitchFamily="34" charset="-122"/>
                <a:cs typeface="メイリオ" pitchFamily="34" charset="-120"/>
              </a:rPr>
              <a:t>プランD（既存730.5）</a:t>
            </a:r>
            <a:endParaRPr lang="en-US" sz="1050" dirty="0"/>
          </a:p>
        </p:txBody>
      </p:sp>
      <p:sp>
        <p:nvSpPr>
          <p:cNvPr id="30" name="Text 28"/>
          <p:cNvSpPr/>
          <p:nvPr/>
        </p:nvSpPr>
        <p:spPr>
          <a:xfrm>
            <a:off x="3538728" y="3054096"/>
            <a:ext cx="1792224" cy="38404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833.0</a:t>
            </a:r>
            <a:endParaRPr lang="en-US" sz="1050" dirty="0"/>
          </a:p>
        </p:txBody>
      </p:sp>
      <p:sp>
        <p:nvSpPr>
          <p:cNvPr id="31" name="Text 29"/>
          <p:cNvSpPr/>
          <p:nvPr/>
        </p:nvSpPr>
        <p:spPr>
          <a:xfrm>
            <a:off x="5550408" y="3054096"/>
            <a:ext cx="1883664" cy="38404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405.5</a:t>
            </a:r>
            <a:endParaRPr lang="en-US" sz="1050" dirty="0"/>
          </a:p>
        </p:txBody>
      </p:sp>
      <p:sp>
        <p:nvSpPr>
          <p:cNvPr id="32" name="Text 30"/>
          <p:cNvSpPr/>
          <p:nvPr/>
        </p:nvSpPr>
        <p:spPr>
          <a:xfrm>
            <a:off x="7653528" y="3054096"/>
            <a:ext cx="1243584" cy="38404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48.7%</a:t>
            </a:r>
            <a:endParaRPr lang="en-US" sz="1050" dirty="0"/>
          </a:p>
        </p:txBody>
      </p:sp>
      <p:sp>
        <p:nvSpPr>
          <p:cNvPr id="33" name="Text 31"/>
          <p:cNvSpPr/>
          <p:nvPr/>
        </p:nvSpPr>
        <p:spPr>
          <a:xfrm>
            <a:off x="9116568" y="3054096"/>
            <a:ext cx="1609344" cy="38404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100.0%</a:t>
            </a:r>
            <a:endParaRPr lang="en-US" sz="1050" dirty="0"/>
          </a:p>
        </p:txBody>
      </p:sp>
      <p:sp>
        <p:nvSpPr>
          <p:cNvPr id="34" name="Shape 32"/>
          <p:cNvSpPr/>
          <p:nvPr/>
        </p:nvSpPr>
        <p:spPr>
          <a:xfrm>
            <a:off x="594360" y="3438144"/>
            <a:ext cx="10241280" cy="384048"/>
          </a:xfrm>
          <a:prstGeom prst="rect">
            <a:avLst/>
          </a:prstGeom>
          <a:solidFill>
            <a:srgbClr val="FAF3E2"/>
          </a:solidFill>
          <a:ln w="6350">
            <a:solidFill>
              <a:srgbClr val="E2E0DC"/>
            </a:solidFill>
            <a:prstDash val="solid"/>
          </a:ln>
        </p:spPr>
      </p:sp>
      <p:sp>
        <p:nvSpPr>
          <p:cNvPr id="35" name="Text 33"/>
          <p:cNvSpPr/>
          <p:nvPr/>
        </p:nvSpPr>
        <p:spPr>
          <a:xfrm>
            <a:off x="704088" y="3438144"/>
            <a:ext cx="2615184" cy="384048"/>
          </a:xfrm>
          <a:prstGeom prst="rect">
            <a:avLst/>
          </a:prstGeom>
          <a:noFill/>
          <a:ln/>
        </p:spPr>
        <p:txBody>
          <a:bodyPr wrap="square" lIns="0" tIns="0" rIns="0" bIns="0" rtlCol="0" anchor="ctr"/>
          <a:lstStyle/>
          <a:p>
            <a:pPr algn="l" indent="0" marL="0">
              <a:buNone/>
            </a:pPr>
            <a:r>
              <a:rPr lang="en-US" sz="1050" b="1" dirty="0">
                <a:solidFill>
                  <a:srgbClr val="1A1A1A"/>
                </a:solidFill>
                <a:latin typeface="メイリオ" pitchFamily="34" charset="0"/>
                <a:ea typeface="メイリオ" pitchFamily="34" charset="-122"/>
                <a:cs typeface="メイリオ" pitchFamily="34" charset="-120"/>
              </a:rPr>
              <a:t>プランE（既存1,030.5）</a:t>
            </a:r>
            <a:endParaRPr lang="en-US" sz="1050" dirty="0"/>
          </a:p>
        </p:txBody>
      </p:sp>
      <p:sp>
        <p:nvSpPr>
          <p:cNvPr id="36" name="Text 34"/>
          <p:cNvSpPr/>
          <p:nvPr/>
        </p:nvSpPr>
        <p:spPr>
          <a:xfrm>
            <a:off x="3538728" y="3438144"/>
            <a:ext cx="1792224" cy="38404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1,133.0</a:t>
            </a:r>
            <a:endParaRPr lang="en-US" sz="1050" dirty="0"/>
          </a:p>
        </p:txBody>
      </p:sp>
      <p:sp>
        <p:nvSpPr>
          <p:cNvPr id="37" name="Text 35"/>
          <p:cNvSpPr/>
          <p:nvPr/>
        </p:nvSpPr>
        <p:spPr>
          <a:xfrm>
            <a:off x="5550408" y="3438144"/>
            <a:ext cx="1883664" cy="38404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495.5</a:t>
            </a:r>
            <a:endParaRPr lang="en-US" sz="1050" dirty="0"/>
          </a:p>
        </p:txBody>
      </p:sp>
      <p:sp>
        <p:nvSpPr>
          <p:cNvPr id="38" name="Text 36"/>
          <p:cNvSpPr/>
          <p:nvPr/>
        </p:nvSpPr>
        <p:spPr>
          <a:xfrm>
            <a:off x="7653528" y="3438144"/>
            <a:ext cx="1243584" cy="38404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43.7%</a:t>
            </a:r>
            <a:endParaRPr lang="en-US" sz="1050" dirty="0"/>
          </a:p>
        </p:txBody>
      </p:sp>
      <p:sp>
        <p:nvSpPr>
          <p:cNvPr id="39" name="Text 37"/>
          <p:cNvSpPr/>
          <p:nvPr/>
        </p:nvSpPr>
        <p:spPr>
          <a:xfrm>
            <a:off x="9116568" y="3438144"/>
            <a:ext cx="1609344" cy="38404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141.1%</a:t>
            </a:r>
            <a:endParaRPr lang="en-US" sz="1050" dirty="0"/>
          </a:p>
        </p:txBody>
      </p:sp>
      <p:sp>
        <p:nvSpPr>
          <p:cNvPr id="40" name="Shape 38"/>
          <p:cNvSpPr/>
          <p:nvPr/>
        </p:nvSpPr>
        <p:spPr>
          <a:xfrm>
            <a:off x="594360" y="4041648"/>
            <a:ext cx="5349240" cy="1234440"/>
          </a:xfrm>
          <a:prstGeom prst="roundRect">
            <a:avLst>
              <a:gd name="adj" fmla="val 3704"/>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41" name="Text 39"/>
          <p:cNvSpPr/>
          <p:nvPr/>
        </p:nvSpPr>
        <p:spPr>
          <a:xfrm>
            <a:off x="868680" y="4187952"/>
            <a:ext cx="4800600" cy="292608"/>
          </a:xfrm>
          <a:prstGeom prst="rect">
            <a:avLst/>
          </a:prstGeom>
          <a:noFill/>
          <a:ln/>
        </p:spPr>
        <p:txBody>
          <a:bodyPr wrap="square" lIns="0" tIns="0" rIns="0" bIns="0" rtlCol="0" anchor="ctr"/>
          <a:lstStyle/>
          <a:p>
            <a:pPr indent="0" marL="0">
              <a:buNone/>
            </a:pPr>
            <a:r>
              <a:rPr lang="en-US" sz="1200" b="1" dirty="0">
                <a:solidFill>
                  <a:srgbClr val="A98442"/>
                </a:solidFill>
                <a:latin typeface="メイリオ" pitchFamily="34" charset="0"/>
                <a:ea typeface="メイリオ" pitchFamily="34" charset="-122"/>
                <a:cs typeface="メイリオ" pitchFamily="34" charset="-120"/>
              </a:rPr>
              <a:t>D は新規前提ゼロで届く水準</a:t>
            </a:r>
            <a:endParaRPr lang="en-US" sz="1200" dirty="0"/>
          </a:p>
        </p:txBody>
      </p:sp>
      <p:sp>
        <p:nvSpPr>
          <p:cNvPr id="42" name="Text 40"/>
          <p:cNvSpPr/>
          <p:nvPr/>
        </p:nvSpPr>
        <p:spPr>
          <a:xfrm>
            <a:off x="868680" y="4498848"/>
            <a:ext cx="4800600" cy="731520"/>
          </a:xfrm>
          <a:prstGeom prst="rect">
            <a:avLst/>
          </a:prstGeom>
          <a:noFill/>
          <a:ln/>
        </p:spPr>
        <p:txBody>
          <a:bodyPr wrap="square" lIns="0" tIns="0" rIns="0" bIns="0" rtlCol="0" anchor="t"/>
          <a:lstStyle/>
          <a:p>
            <a:pPr indent="0" marL="0">
              <a:buNone/>
            </a:pPr>
            <a:r>
              <a:rPr lang="en-US" sz="1050" dirty="0">
                <a:solidFill>
                  <a:srgbClr val="FFFFFF"/>
                </a:solidFill>
                <a:latin typeface="メイリオ" pitchFamily="34" charset="0"/>
                <a:ea typeface="メイリオ" pitchFamily="34" charset="-122"/>
                <a:cs typeface="メイリオ" pitchFamily="34" charset="-120"/>
              </a:rPr>
              <a:t>既存事業730.5百万円は過去2期の平均そのもの。FY2025は既にこれを上回る752.9百万円を計上しており、到達実績のある水準です。</a:t>
            </a:r>
            <a:endParaRPr lang="en-US" sz="1050" dirty="0"/>
          </a:p>
        </p:txBody>
      </p:sp>
      <p:sp>
        <p:nvSpPr>
          <p:cNvPr id="43" name="Shape 41"/>
          <p:cNvSpPr/>
          <p:nvPr/>
        </p:nvSpPr>
        <p:spPr>
          <a:xfrm>
            <a:off x="6217920" y="4041648"/>
            <a:ext cx="5349240" cy="1234440"/>
          </a:xfrm>
          <a:prstGeom prst="roundRect">
            <a:avLst>
              <a:gd name="adj" fmla="val 3704"/>
            </a:avLst>
          </a:prstGeom>
          <a:solidFill>
            <a:srgbClr val="FAF3E2"/>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44" name="Text 42"/>
          <p:cNvSpPr/>
          <p:nvPr/>
        </p:nvSpPr>
        <p:spPr>
          <a:xfrm>
            <a:off x="6492240" y="4187952"/>
            <a:ext cx="4800600" cy="292608"/>
          </a:xfrm>
          <a:prstGeom prst="rect">
            <a:avLst/>
          </a:prstGeom>
          <a:noFill/>
          <a:ln/>
        </p:spPr>
        <p:txBody>
          <a:bodyPr wrap="square" lIns="0" tIns="0" rIns="0" bIns="0" rtlCol="0" anchor="ctr"/>
          <a:lstStyle/>
          <a:p>
            <a:pPr indent="0" marL="0">
              <a:buNone/>
            </a:pPr>
            <a:r>
              <a:rPr lang="en-US" sz="1200" b="1" dirty="0">
                <a:solidFill>
                  <a:srgbClr val="1A1A1A"/>
                </a:solidFill>
                <a:latin typeface="メイリオ" pitchFamily="34" charset="0"/>
                <a:ea typeface="メイリオ" pitchFamily="34" charset="-122"/>
                <a:cs typeface="メイリオ" pitchFamily="34" charset="-120"/>
              </a:rPr>
              <a:t>E の上積みも実績と同水準</a:t>
            </a:r>
            <a:endParaRPr lang="en-US" sz="1200" dirty="0"/>
          </a:p>
        </p:txBody>
      </p:sp>
      <p:sp>
        <p:nvSpPr>
          <p:cNvPr id="45" name="Text 43"/>
          <p:cNvSpPr/>
          <p:nvPr/>
        </p:nvSpPr>
        <p:spPr>
          <a:xfrm>
            <a:off x="6492240" y="4498848"/>
            <a:ext cx="4800600" cy="731520"/>
          </a:xfrm>
          <a:prstGeom prst="rect">
            <a:avLst/>
          </a:prstGeom>
          <a:noFill/>
          <a:ln/>
        </p:spPr>
        <p:txBody>
          <a:bodyPr wrap="square" lIns="0" tIns="0" rIns="0" bIns="0" rtlCol="0" anchor="t"/>
          <a:lstStyle/>
          <a:p>
            <a:pPr indent="0" marL="0">
              <a:buNone/>
            </a:pPr>
            <a:r>
              <a:rPr lang="en-US" sz="1050" dirty="0">
                <a:solidFill>
                  <a:srgbClr val="1A1A1A"/>
                </a:solidFill>
                <a:latin typeface="メイリオ" pitchFamily="34" charset="0"/>
                <a:ea typeface="メイリオ" pitchFamily="34" charset="-122"/>
                <a:cs typeface="メイリオ" pitchFamily="34" charset="-120"/>
              </a:rPr>
              <a:t>追加300百万円は、FY2026に公募の遅延を私募で巻き返した金額と同水準。来期はこれを補完策ではなく主軸として計画に置きます。</a:t>
            </a:r>
            <a:endParaRPr lang="en-US" sz="1050" dirty="0"/>
          </a:p>
        </p:txBody>
      </p:sp>
      <p:sp>
        <p:nvSpPr>
          <p:cNvPr id="46" name="Shape 44"/>
          <p:cNvSpPr/>
          <p:nvPr/>
        </p:nvSpPr>
        <p:spPr>
          <a:xfrm>
            <a:off x="594360" y="5440680"/>
            <a:ext cx="10963656" cy="777240"/>
          </a:xfrm>
          <a:prstGeom prst="roundRect">
            <a:avLst>
              <a:gd name="adj" fmla="val 5882"/>
            </a:avLst>
          </a:prstGeom>
          <a:solidFill>
            <a:srgbClr val="FAF3E2"/>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47" name="Text 45"/>
          <p:cNvSpPr/>
          <p:nvPr/>
        </p:nvSpPr>
        <p:spPr>
          <a:xfrm>
            <a:off x="914400" y="5394960"/>
            <a:ext cx="10332720" cy="777240"/>
          </a:xfrm>
          <a:prstGeom prst="rect">
            <a:avLst/>
          </a:prstGeom>
          <a:noFill/>
          <a:ln/>
        </p:spPr>
        <p:txBody>
          <a:bodyPr wrap="square" lIns="0" tIns="0" rIns="0" bIns="0" rtlCol="0" anchor="ctr"/>
          <a:lstStyle/>
          <a:p>
            <a:pPr indent="0" marL="0">
              <a:buNone/>
            </a:pPr>
            <a:r>
              <a:rPr lang="en-US" sz="1150" b="1" dirty="0">
                <a:solidFill>
                  <a:srgbClr val="1A1A1A"/>
                </a:solidFill>
                <a:latin typeface="メイリオ" pitchFamily="34" charset="0"/>
                <a:ea typeface="メイリオ" pitchFamily="34" charset="-122"/>
                <a:cs typeface="メイリオ" pitchFamily="34" charset="-120"/>
              </a:rPr>
              <a:t>プランD（経常＋90.4百万円）は過去実績の範囲内で届く水準。Dを本線とし、私募とオークションを回してE（＋180.4）を目指します。</a:t>
            </a:r>
            <a:endParaRPr lang="en-US" sz="1150" dirty="0"/>
          </a:p>
        </p:txBody>
      </p:sp>
      <p:sp>
        <p:nvSpPr>
          <p:cNvPr id="48" name="Text 46"/>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FY2026は私募ファンド600百万円と前倒し30百万円を除いた実力値。これらを含む修正後の売上高は1,338.2百万円ですが、いずれも一過性のため2期平均からは除外しています。</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A1A1A"/>
          </a:solidFill>
          <a:ln/>
        </p:spPr>
      </p:sp>
      <p:sp>
        <p:nvSpPr>
          <p:cNvPr id="3" name="Text 1"/>
          <p:cNvSpPr/>
          <p:nvPr/>
        </p:nvSpPr>
        <p:spPr>
          <a:xfrm>
            <a:off x="822960" y="685800"/>
            <a:ext cx="7315200" cy="640080"/>
          </a:xfrm>
          <a:prstGeom prst="rect">
            <a:avLst/>
          </a:prstGeom>
          <a:noFill/>
          <a:ln/>
        </p:spPr>
        <p:txBody>
          <a:bodyPr wrap="square" lIns="0" tIns="0" rIns="0" bIns="0" rtlCol="0" anchor="ctr"/>
          <a:lstStyle/>
          <a:p>
            <a:pPr indent="0" marL="0">
              <a:buNone/>
            </a:pPr>
            <a:r>
              <a:rPr lang="en-US" sz="3400" b="1" dirty="0">
                <a:solidFill>
                  <a:srgbClr val="1A1A1A"/>
                </a:solidFill>
                <a:latin typeface="メイリオ" pitchFamily="34" charset="0"/>
                <a:ea typeface="メイリオ" pitchFamily="34" charset="-122"/>
                <a:cs typeface="メイリオ" pitchFamily="34" charset="-120"/>
              </a:rPr>
              <a:t>まとめ</a:t>
            </a:r>
            <a:endParaRPr lang="en-US" sz="3400" dirty="0"/>
          </a:p>
        </p:txBody>
      </p:sp>
      <p:sp>
        <p:nvSpPr>
          <p:cNvPr id="4" name="Shape 2"/>
          <p:cNvSpPr/>
          <p:nvPr/>
        </p:nvSpPr>
        <p:spPr>
          <a:xfrm>
            <a:off x="822960" y="1655064"/>
            <a:ext cx="365760" cy="365760"/>
          </a:xfrm>
          <a:prstGeom prst="ellipse">
            <a:avLst/>
          </a:prstGeom>
          <a:solidFill>
            <a:srgbClr val="1A1A1A"/>
          </a:solidFill>
          <a:ln/>
        </p:spPr>
      </p:sp>
      <p:sp>
        <p:nvSpPr>
          <p:cNvPr id="5" name="Text 3"/>
          <p:cNvSpPr/>
          <p:nvPr/>
        </p:nvSpPr>
        <p:spPr>
          <a:xfrm>
            <a:off x="822960" y="1655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1</a:t>
            </a:r>
            <a:endParaRPr lang="en-US" sz="1400" dirty="0"/>
          </a:p>
        </p:txBody>
      </p:sp>
      <p:sp>
        <p:nvSpPr>
          <p:cNvPr id="6" name="Text 4"/>
          <p:cNvSpPr/>
          <p:nvPr/>
        </p:nvSpPr>
        <p:spPr>
          <a:xfrm>
            <a:off x="1417320" y="1600200"/>
            <a:ext cx="6766560" cy="365760"/>
          </a:xfrm>
          <a:prstGeom prst="rect">
            <a:avLst/>
          </a:prstGeom>
          <a:noFill/>
          <a:ln/>
        </p:spPr>
        <p:txBody>
          <a:bodyPr wrap="square" lIns="0" tIns="0" rIns="0" bIns="0" rtlCol="0" anchor="ctr"/>
          <a:lstStyle/>
          <a:p>
            <a:pPr indent="0" marL="0">
              <a:buNone/>
            </a:pPr>
            <a:r>
              <a:rPr lang="en-US" sz="1550" b="1" dirty="0">
                <a:solidFill>
                  <a:srgbClr val="1A1A1A"/>
                </a:solidFill>
                <a:latin typeface="メイリオ" pitchFamily="34" charset="0"/>
                <a:ea typeface="メイリオ" pitchFamily="34" charset="-122"/>
                <a:cs typeface="メイリオ" pitchFamily="34" charset="-120"/>
              </a:rPr>
              <a:t>FY2026は営業損益がほぼ均衡まで回復</a:t>
            </a:r>
            <a:endParaRPr lang="en-US" sz="1550" dirty="0"/>
          </a:p>
        </p:txBody>
      </p:sp>
      <p:sp>
        <p:nvSpPr>
          <p:cNvPr id="7" name="Text 5"/>
          <p:cNvSpPr/>
          <p:nvPr/>
        </p:nvSpPr>
        <p:spPr>
          <a:xfrm>
            <a:off x="1417320" y="1984248"/>
            <a:ext cx="6766560" cy="457200"/>
          </a:xfrm>
          <a:prstGeom prst="rect">
            <a:avLst/>
          </a:prstGeom>
          <a:noFill/>
          <a:ln/>
        </p:spPr>
        <p:txBody>
          <a:bodyPr wrap="square" lIns="0" tIns="0" rIns="0" bIns="0" rtlCol="0" anchor="ctr"/>
          <a:lstStyle/>
          <a:p>
            <a:pPr indent="0" marL="0">
              <a:buNone/>
            </a:pPr>
            <a:r>
              <a:rPr lang="en-US" sz="1100" dirty="0">
                <a:solidFill>
                  <a:srgbClr val="6E6E6E"/>
                </a:solidFill>
                <a:latin typeface="メイリオ" pitchFamily="34" charset="0"/>
                <a:ea typeface="メイリオ" pitchFamily="34" charset="-122"/>
                <a:cs typeface="メイリオ" pitchFamily="34" charset="-120"/>
              </a:rPr>
              <a:t>9月末の私募ファンド3号・4号の組成による。最大の未達要因である公募ファンドの遅延は解消していません。</a:t>
            </a:r>
            <a:endParaRPr lang="en-US" sz="1100" dirty="0"/>
          </a:p>
        </p:txBody>
      </p:sp>
      <p:sp>
        <p:nvSpPr>
          <p:cNvPr id="8" name="Shape 6"/>
          <p:cNvSpPr/>
          <p:nvPr/>
        </p:nvSpPr>
        <p:spPr>
          <a:xfrm>
            <a:off x="822960" y="2706624"/>
            <a:ext cx="365760" cy="365760"/>
          </a:xfrm>
          <a:prstGeom prst="ellipse">
            <a:avLst/>
          </a:prstGeom>
          <a:solidFill>
            <a:srgbClr val="1A1A1A"/>
          </a:solidFill>
          <a:ln/>
        </p:spPr>
      </p:sp>
      <p:sp>
        <p:nvSpPr>
          <p:cNvPr id="9" name="Text 7"/>
          <p:cNvSpPr/>
          <p:nvPr/>
        </p:nvSpPr>
        <p:spPr>
          <a:xfrm>
            <a:off x="822960" y="27066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2</a:t>
            </a:r>
            <a:endParaRPr lang="en-US" sz="1400" dirty="0"/>
          </a:p>
        </p:txBody>
      </p:sp>
      <p:sp>
        <p:nvSpPr>
          <p:cNvPr id="10" name="Text 8"/>
          <p:cNvSpPr/>
          <p:nvPr/>
        </p:nvSpPr>
        <p:spPr>
          <a:xfrm>
            <a:off x="1417320" y="2651760"/>
            <a:ext cx="6766560" cy="365760"/>
          </a:xfrm>
          <a:prstGeom prst="rect">
            <a:avLst/>
          </a:prstGeom>
          <a:noFill/>
          <a:ln/>
        </p:spPr>
        <p:txBody>
          <a:bodyPr wrap="square" lIns="0" tIns="0" rIns="0" bIns="0" rtlCol="0" anchor="ctr"/>
          <a:lstStyle/>
          <a:p>
            <a:pPr indent="0" marL="0">
              <a:buNone/>
            </a:pPr>
            <a:r>
              <a:rPr lang="en-US" sz="1550" b="1" dirty="0">
                <a:solidFill>
                  <a:srgbClr val="1A1A1A"/>
                </a:solidFill>
                <a:latin typeface="メイリオ" pitchFamily="34" charset="0"/>
                <a:ea typeface="メイリオ" pitchFamily="34" charset="-122"/>
                <a:cs typeface="メイリオ" pitchFamily="34" charset="-120"/>
              </a:rPr>
              <a:t>来期は私募とオークションを主軸に</a:t>
            </a:r>
            <a:endParaRPr lang="en-US" sz="1550" dirty="0"/>
          </a:p>
        </p:txBody>
      </p:sp>
      <p:sp>
        <p:nvSpPr>
          <p:cNvPr id="11" name="Text 9"/>
          <p:cNvSpPr/>
          <p:nvPr/>
        </p:nvSpPr>
        <p:spPr>
          <a:xfrm>
            <a:off x="1417320" y="3035808"/>
            <a:ext cx="6766560" cy="457200"/>
          </a:xfrm>
          <a:prstGeom prst="rect">
            <a:avLst/>
          </a:prstGeom>
          <a:noFill/>
          <a:ln/>
        </p:spPr>
        <p:txBody>
          <a:bodyPr wrap="square" lIns="0" tIns="0" rIns="0" bIns="0" rtlCol="0" anchor="ctr"/>
          <a:lstStyle/>
          <a:p>
            <a:pPr indent="0" marL="0">
              <a:buNone/>
            </a:pPr>
            <a:r>
              <a:rPr lang="en-US" sz="1100" dirty="0">
                <a:solidFill>
                  <a:srgbClr val="6E6E6E"/>
                </a:solidFill>
                <a:latin typeface="メイリオ" pitchFamily="34" charset="0"/>
                <a:ea typeface="メイリオ" pitchFamily="34" charset="-122"/>
                <a:cs typeface="メイリオ" pitchFamily="34" charset="-120"/>
              </a:rPr>
              <a:t>外部要因で動く公募を計画の柱から外し、自社で時期を握れるチャネルへ転換します。</a:t>
            </a:r>
            <a:endParaRPr lang="en-US" sz="1100" dirty="0"/>
          </a:p>
        </p:txBody>
      </p:sp>
      <p:sp>
        <p:nvSpPr>
          <p:cNvPr id="12" name="Shape 10"/>
          <p:cNvSpPr/>
          <p:nvPr/>
        </p:nvSpPr>
        <p:spPr>
          <a:xfrm>
            <a:off x="822960" y="3758184"/>
            <a:ext cx="365760" cy="365760"/>
          </a:xfrm>
          <a:prstGeom prst="ellipse">
            <a:avLst/>
          </a:prstGeom>
          <a:solidFill>
            <a:srgbClr val="1A1A1A"/>
          </a:solidFill>
          <a:ln/>
        </p:spPr>
      </p:sp>
      <p:sp>
        <p:nvSpPr>
          <p:cNvPr id="13" name="Text 11"/>
          <p:cNvSpPr/>
          <p:nvPr/>
        </p:nvSpPr>
        <p:spPr>
          <a:xfrm>
            <a:off x="822960" y="37581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3</a:t>
            </a:r>
            <a:endParaRPr lang="en-US" sz="1400" dirty="0"/>
          </a:p>
        </p:txBody>
      </p:sp>
      <p:sp>
        <p:nvSpPr>
          <p:cNvPr id="14" name="Text 12"/>
          <p:cNvSpPr/>
          <p:nvPr/>
        </p:nvSpPr>
        <p:spPr>
          <a:xfrm>
            <a:off x="1417320" y="3703320"/>
            <a:ext cx="6766560" cy="365760"/>
          </a:xfrm>
          <a:prstGeom prst="rect">
            <a:avLst/>
          </a:prstGeom>
          <a:noFill/>
          <a:ln/>
        </p:spPr>
        <p:txBody>
          <a:bodyPr wrap="square" lIns="0" tIns="0" rIns="0" bIns="0" rtlCol="0" anchor="ctr"/>
          <a:lstStyle/>
          <a:p>
            <a:pPr indent="0" marL="0">
              <a:buNone/>
            </a:pPr>
            <a:r>
              <a:rPr lang="en-US" sz="1550" b="1" dirty="0">
                <a:solidFill>
                  <a:srgbClr val="1A1A1A"/>
                </a:solidFill>
                <a:latin typeface="メイリオ" pitchFamily="34" charset="0"/>
                <a:ea typeface="メイリオ" pitchFamily="34" charset="-122"/>
                <a:cs typeface="メイリオ" pitchFamily="34" charset="-120"/>
              </a:rPr>
              <a:t>ワイン仕入は落としません</a:t>
            </a:r>
            <a:endParaRPr lang="en-US" sz="1550" dirty="0"/>
          </a:p>
        </p:txBody>
      </p:sp>
      <p:sp>
        <p:nvSpPr>
          <p:cNvPr id="15" name="Text 13"/>
          <p:cNvSpPr/>
          <p:nvPr/>
        </p:nvSpPr>
        <p:spPr>
          <a:xfrm>
            <a:off x="1417320" y="4087368"/>
            <a:ext cx="6766560" cy="457200"/>
          </a:xfrm>
          <a:prstGeom prst="rect">
            <a:avLst/>
          </a:prstGeom>
          <a:noFill/>
          <a:ln/>
        </p:spPr>
        <p:txBody>
          <a:bodyPr wrap="square" lIns="0" tIns="0" rIns="0" bIns="0" rtlCol="0" anchor="ctr"/>
          <a:lstStyle/>
          <a:p>
            <a:pPr indent="0" marL="0">
              <a:buNone/>
            </a:pPr>
            <a:r>
              <a:rPr lang="en-US" sz="1100" dirty="0">
                <a:solidFill>
                  <a:srgbClr val="6E6E6E"/>
                </a:solidFill>
                <a:latin typeface="メイリオ" pitchFamily="34" charset="0"/>
                <a:ea typeface="メイリオ" pitchFamily="34" charset="-122"/>
                <a:cs typeface="メイリオ" pitchFamily="34" charset="-120"/>
              </a:rPr>
              <a:t>割当を守り2〜3年先の成長を確保。在庫は時価1.37倍の換価可能資産です。</a:t>
            </a:r>
            <a:endParaRPr lang="en-US" sz="1100" dirty="0"/>
          </a:p>
        </p:txBody>
      </p:sp>
      <p:sp>
        <p:nvSpPr>
          <p:cNvPr id="16" name="Shape 14"/>
          <p:cNvSpPr/>
          <p:nvPr/>
        </p:nvSpPr>
        <p:spPr>
          <a:xfrm>
            <a:off x="822960" y="4809744"/>
            <a:ext cx="365760" cy="365760"/>
          </a:xfrm>
          <a:prstGeom prst="ellipse">
            <a:avLst/>
          </a:prstGeom>
          <a:solidFill>
            <a:srgbClr val="1A1A1A"/>
          </a:solidFill>
          <a:ln/>
        </p:spPr>
      </p:sp>
      <p:sp>
        <p:nvSpPr>
          <p:cNvPr id="17" name="Text 15"/>
          <p:cNvSpPr/>
          <p:nvPr/>
        </p:nvSpPr>
        <p:spPr>
          <a:xfrm>
            <a:off x="822960" y="4809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4</a:t>
            </a:r>
            <a:endParaRPr lang="en-US" sz="1400" dirty="0"/>
          </a:p>
        </p:txBody>
      </p:sp>
      <p:sp>
        <p:nvSpPr>
          <p:cNvPr id="18" name="Text 16"/>
          <p:cNvSpPr/>
          <p:nvPr/>
        </p:nvSpPr>
        <p:spPr>
          <a:xfrm>
            <a:off x="1417320" y="4754880"/>
            <a:ext cx="6766560" cy="365760"/>
          </a:xfrm>
          <a:prstGeom prst="rect">
            <a:avLst/>
          </a:prstGeom>
          <a:noFill/>
          <a:ln/>
        </p:spPr>
        <p:txBody>
          <a:bodyPr wrap="square" lIns="0" tIns="0" rIns="0" bIns="0" rtlCol="0" anchor="ctr"/>
          <a:lstStyle/>
          <a:p>
            <a:pPr indent="0" marL="0">
              <a:buNone/>
            </a:pPr>
            <a:r>
              <a:rPr lang="en-US" sz="1550" b="1" dirty="0">
                <a:solidFill>
                  <a:srgbClr val="1A1A1A"/>
                </a:solidFill>
                <a:latin typeface="メイリオ" pitchFamily="34" charset="0"/>
                <a:ea typeface="メイリオ" pitchFamily="34" charset="-122"/>
                <a:cs typeface="メイリオ" pitchFamily="34" charset="-120"/>
              </a:rPr>
              <a:t>プランDが本線、プランEを目指す</a:t>
            </a:r>
            <a:endParaRPr lang="en-US" sz="1550" dirty="0"/>
          </a:p>
        </p:txBody>
      </p:sp>
      <p:sp>
        <p:nvSpPr>
          <p:cNvPr id="19" name="Text 17"/>
          <p:cNvSpPr/>
          <p:nvPr/>
        </p:nvSpPr>
        <p:spPr>
          <a:xfrm>
            <a:off x="1417320" y="5138928"/>
            <a:ext cx="6766560" cy="457200"/>
          </a:xfrm>
          <a:prstGeom prst="rect">
            <a:avLst/>
          </a:prstGeom>
          <a:noFill/>
          <a:ln/>
        </p:spPr>
        <p:txBody>
          <a:bodyPr wrap="square" lIns="0" tIns="0" rIns="0" bIns="0" rtlCol="0" anchor="ctr"/>
          <a:lstStyle/>
          <a:p>
            <a:pPr indent="0" marL="0">
              <a:buNone/>
            </a:pPr>
            <a:r>
              <a:rPr lang="en-US" sz="1100" dirty="0">
                <a:solidFill>
                  <a:srgbClr val="6E6E6E"/>
                </a:solidFill>
                <a:latin typeface="メイリオ" pitchFamily="34" charset="0"/>
                <a:ea typeface="メイリオ" pitchFamily="34" charset="-122"/>
                <a:cs typeface="メイリオ" pitchFamily="34" charset="-120"/>
              </a:rPr>
              <a:t>Dは売上833.0百万円・経常＋90.4百万円で過去2期平均そのもの。Eは＋180.4百万円。</a:t>
            </a:r>
            <a:endParaRPr lang="en-US" sz="1100" dirty="0"/>
          </a:p>
        </p:txBody>
      </p:sp>
      <p:sp>
        <p:nvSpPr>
          <p:cNvPr id="20" name="Shape 18"/>
          <p:cNvSpPr/>
          <p:nvPr/>
        </p:nvSpPr>
        <p:spPr>
          <a:xfrm>
            <a:off x="8595360" y="1600200"/>
            <a:ext cx="2971800" cy="2331720"/>
          </a:xfrm>
          <a:prstGeom prst="roundRect">
            <a:avLst>
              <a:gd name="adj" fmla="val 1961"/>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1" name="Text 19"/>
          <p:cNvSpPr/>
          <p:nvPr/>
        </p:nvSpPr>
        <p:spPr>
          <a:xfrm>
            <a:off x="8823960" y="1828800"/>
            <a:ext cx="2514600" cy="310896"/>
          </a:xfrm>
          <a:prstGeom prst="rect">
            <a:avLst/>
          </a:prstGeom>
          <a:noFill/>
          <a:ln/>
        </p:spPr>
        <p:txBody>
          <a:bodyPr wrap="square" lIns="0" tIns="0" rIns="0" bIns="0" rtlCol="0" anchor="ctr"/>
          <a:lstStyle/>
          <a:p>
            <a:pPr indent="0" marL="0">
              <a:buNone/>
            </a:pPr>
            <a:r>
              <a:rPr lang="en-US" sz="1200" b="1" dirty="0">
                <a:solidFill>
                  <a:srgbClr val="A98442"/>
                </a:solidFill>
                <a:latin typeface="メイリオ" pitchFamily="34" charset="0"/>
                <a:ea typeface="メイリオ" pitchFamily="34" charset="-122"/>
                <a:cs typeface="メイリオ" pitchFamily="34" charset="-120"/>
              </a:rPr>
              <a:t>ご相談事項</a:t>
            </a:r>
            <a:endParaRPr lang="en-US" sz="1200" dirty="0"/>
          </a:p>
        </p:txBody>
      </p:sp>
      <p:sp>
        <p:nvSpPr>
          <p:cNvPr id="22" name="Text 20"/>
          <p:cNvSpPr/>
          <p:nvPr/>
        </p:nvSpPr>
        <p:spPr>
          <a:xfrm>
            <a:off x="8823960" y="2240280"/>
            <a:ext cx="2514600" cy="1828800"/>
          </a:xfrm>
          <a:prstGeom prst="rect">
            <a:avLst/>
          </a:prstGeom>
          <a:noFill/>
          <a:ln/>
        </p:spPr>
        <p:txBody>
          <a:bodyPr wrap="square" lIns="0" tIns="0" rIns="0" bIns="0" rtlCol="0" anchor="ctr"/>
          <a:lstStyle/>
          <a:p>
            <a:pPr marL="342900" indent="-342900">
              <a:spcAft>
                <a:spcPts val="900"/>
              </a:spcAft>
              <a:buSzPct val="100000"/>
              <a:buChar char="•"/>
            </a:pPr>
            <a:r>
              <a:rPr lang="en-US" sz="1100" dirty="0">
                <a:solidFill>
                  <a:srgbClr val="FFFFFF"/>
                </a:solidFill>
                <a:latin typeface="メイリオ" pitchFamily="34" charset="0"/>
                <a:ea typeface="メイリオ" pitchFamily="34" charset="-122"/>
                <a:cs typeface="メイリオ" pitchFamily="34" charset="-120"/>
              </a:rPr>
              <a:t>短期借入162百万円の借換継続</a:t>
            </a:r>
            <a:endParaRPr lang="en-US" sz="1100" dirty="0"/>
          </a:p>
          <a:p>
            <a:pPr marL="342900" indent="-342900">
              <a:spcAft>
                <a:spcPts val="900"/>
              </a:spcAft>
              <a:buSzPct val="100000"/>
              <a:buChar char="•"/>
            </a:pPr>
            <a:r>
              <a:rPr lang="en-US" sz="1100" dirty="0">
                <a:solidFill>
                  <a:srgbClr val="FFFFFF"/>
                </a:solidFill>
                <a:latin typeface="メイリオ" pitchFamily="34" charset="0"/>
                <a:ea typeface="メイリオ" pitchFamily="34" charset="-122"/>
                <a:cs typeface="メイリオ" pitchFamily="34" charset="-120"/>
              </a:rPr>
              <a:t>在庫見合いの運転資金枠</a:t>
            </a:r>
            <a:endParaRPr lang="en-US" sz="1100" dirty="0"/>
          </a:p>
          <a:p>
            <a:pPr marL="342900" indent="-342900">
              <a:spcAft>
                <a:spcPts val="900"/>
              </a:spcAft>
              <a:buSzPct val="100000"/>
              <a:buChar char="•"/>
            </a:pPr>
            <a:r>
              <a:rPr lang="en-US" sz="1100" dirty="0">
                <a:solidFill>
                  <a:srgbClr val="FFFFFF"/>
                </a:solidFill>
                <a:latin typeface="メイリオ" pitchFamily="34" charset="0"/>
                <a:ea typeface="メイリオ" pitchFamily="34" charset="-122"/>
                <a:cs typeface="メイリオ" pitchFamily="34" charset="-120"/>
              </a:rPr>
              <a:t>財務制限条項の事前確認</a:t>
            </a:r>
            <a:endParaRPr lang="en-US" sz="1100" dirty="0"/>
          </a:p>
          <a:p>
            <a:pPr marL="342900" indent="-342900">
              <a:spcAft>
                <a:spcPts val="900"/>
              </a:spcAft>
              <a:buSzPct val="100000"/>
              <a:buChar char="•"/>
            </a:pPr>
            <a:r>
              <a:rPr lang="en-US" sz="1100" dirty="0">
                <a:solidFill>
                  <a:srgbClr val="FFFFFF"/>
                </a:solidFill>
                <a:latin typeface="メイリオ" pitchFamily="34" charset="0"/>
                <a:ea typeface="メイリオ" pitchFamily="34" charset="-122"/>
                <a:cs typeface="メイリオ" pitchFamily="34" charset="-120"/>
              </a:rPr>
              <a:t>月次資金繰り表のご報告</a:t>
            </a:r>
            <a:endParaRPr lang="en-US" sz="1100" dirty="0"/>
          </a:p>
        </p:txBody>
      </p:sp>
      <p:sp>
        <p:nvSpPr>
          <p:cNvPr id="23" name="Text 21"/>
          <p:cNvSpPr/>
          <p:nvPr/>
        </p:nvSpPr>
        <p:spPr>
          <a:xfrm>
            <a:off x="822960" y="5989320"/>
            <a:ext cx="5486400" cy="310896"/>
          </a:xfrm>
          <a:prstGeom prst="rect">
            <a:avLst/>
          </a:prstGeom>
          <a:noFill/>
          <a:ln/>
        </p:spPr>
        <p:txBody>
          <a:bodyPr wrap="square" lIns="0" tIns="0" rIns="0" bIns="0" rtlCol="0" anchor="ctr"/>
          <a:lstStyle/>
          <a:p>
            <a:pPr indent="0" marL="0">
              <a:buNone/>
            </a:pPr>
            <a:r>
              <a:rPr lang="en-US" sz="1100" dirty="0">
                <a:solidFill>
                  <a:srgbClr val="8C8C8C"/>
                </a:solidFill>
                <a:latin typeface="メイリオ" pitchFamily="34" charset="0"/>
                <a:ea typeface="メイリオ" pitchFamily="34" charset="-122"/>
                <a:cs typeface="メイリオ" pitchFamily="34" charset="-120"/>
              </a:rPr>
              <a:t>株式会社WineBank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WineBank 事業再生計画 FY2027</dc:title>
  <dc:subject>PptxGenJS Presentation</dc:subject>
  <dc:creator>株式会社WineBank</dc:creator>
  <cp:lastModifiedBy>株式会社WineBank</cp:lastModifiedBy>
  <cp:revision>1</cp:revision>
  <dcterms:created xsi:type="dcterms:W3CDTF">2026-09-16T02:38:40Z</dcterms:created>
  <dcterms:modified xsi:type="dcterms:W3CDTF">2026-09-16T02:38:40Z</dcterms:modified>
</cp:coreProperties>
</file>