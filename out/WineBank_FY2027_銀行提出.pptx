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販管費（百万円）</c:v>
                </c:pt>
              </c:strCache>
            </c:strRef>
          </c:tx>
          <c:spPr>
            <a:solidFill>
              <a:srgbClr val="A26769"/>
            </a:solidFill>
            <a:effectLst/>
          </c:spPr>
          <c:invertIfNegative val="0"/>
          <c:dLbls>
            <c:numFmt formatCode="0.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A26769"/>
              </a:solidFill>
              <a:effectLst/>
            </c:spPr>
          </c:dPt>
          <c:dPt>
            <c:idx val="1"/>
            <c:invertIfNegative val="0"/>
            <c:bubble3D val="0"/>
            <c:spPr>
              <a:solidFill>
                <a:srgbClr val="A26769"/>
              </a:solidFill>
              <a:effectLst/>
            </c:spPr>
          </c:dPt>
          <c:dPt>
            <c:idx val="2"/>
            <c:invertIfNegative val="0"/>
            <c:bubble3D val="0"/>
            <c:spPr>
              <a:solidFill>
                <a:srgbClr val="A26769"/>
              </a:solidFill>
              <a:effectLst/>
            </c:spPr>
          </c:dPt>
          <c:dPt>
            <c:idx val="3"/>
            <c:invertIfNegative val="0"/>
            <c:bubble3D val="0"/>
            <c:spPr>
              <a:solidFill>
                <a:srgbClr val="A26769"/>
              </a:solidFill>
              <a:effectLst/>
            </c:spPr>
          </c:dPt>
          <c:dPt>
            <c:idx val="4"/>
            <c:invertIfNegative val="0"/>
            <c:bubble3D val="0"/>
            <c:spPr>
              <a:solidFill>
                <a:srgbClr val="A26769"/>
              </a:solidFill>
              <a:effectLst/>
            </c:spPr>
          </c:dPt>
          <c:dPt>
            <c:idx val="5"/>
            <c:invertIfNegative val="0"/>
            <c:bubble3D val="0"/>
            <c:spPr>
              <a:solidFill>
                <a:srgbClr val="6D2E46"/>
              </a:solidFill>
              <a:effectLst/>
            </c:spPr>
          </c:dPt>
          <c:dPt>
            <c:idx val="6"/>
            <c:invertIfNegative val="0"/>
            <c:bubble3D val="0"/>
            <c:spPr>
              <a:solidFill>
                <a:srgbClr val="C4A79B"/>
              </a:solidFill>
              <a:effectLst/>
            </c:spPr>
          </c:dPt>
          <c:dPt>
            <c:idx val="7"/>
            <c:invertIfNegative val="0"/>
            <c:bubble3D val="0"/>
            <c:spPr>
              <a:solidFill>
                <a:srgbClr val="C4A79B"/>
              </a:solidFill>
              <a:effectLst/>
            </c:spPr>
          </c:dPt>
          <c:dPt>
            <c:idx val="8"/>
            <c:invertIfNegative val="0"/>
            <c:bubble3D val="0"/>
            <c:spPr>
              <a:solidFill>
                <a:srgbClr val="C4A79B"/>
              </a:solidFill>
              <a:effectLst/>
            </c:spPr>
          </c:dPt>
          <c:cat>
            <c:multiLvlStrRef>
              <c:f>Sheet1!$A$2:$A$10</c:f>
              <c:multiLvlStrCache>
                <c:ptCount val="9"/>
                <c:lvl>
                  <c:pt idx="0">
                    <c:v>25/10</c:v>
                  </c:pt>
                  <c:pt idx="1">
                    <c:v>25/11</c:v>
                  </c:pt>
                  <c:pt idx="2">
                    <c:v>25/12</c:v>
                  </c:pt>
                  <c:pt idx="3">
                    <c:v>26/01</c:v>
                  </c:pt>
                  <c:pt idx="4">
                    <c:v>26/02</c:v>
                  </c:pt>
                  <c:pt idx="5">
                    <c:v>26/03</c:v>
                  </c:pt>
                  <c:pt idx="6">
                    <c:v>26/04</c:v>
                  </c:pt>
                  <c:pt idx="7">
                    <c:v>26/05</c:v>
                  </c:pt>
                  <c:pt idx="8">
                    <c:v>26/06</c:v>
                  </c:pt>
                </c:lvl>
              </c:multiLvlStrCache>
            </c:multiLvlStrRef>
          </c:cat>
          <c:val>
            <c:numRef>
              <c:f>Sheet1!$B$2:$B$10</c:f>
              <c:numCache>
                <c:formatCode>General</c:formatCode>
                <c:ptCount val="9"/>
                <c:pt idx="0">
                  <c:v>25.374892</c:v>
                </c:pt>
                <c:pt idx="1">
                  <c:v>30.963282</c:v>
                </c:pt>
                <c:pt idx="2">
                  <c:v>38.572456</c:v>
                </c:pt>
                <c:pt idx="3">
                  <c:v>33.761779</c:v>
                </c:pt>
                <c:pt idx="4">
                  <c:v>34.133901</c:v>
                </c:pt>
                <c:pt idx="5">
                  <c:v>38.737868</c:v>
                </c:pt>
                <c:pt idx="6">
                  <c:v>25.883967</c:v>
                </c:pt>
                <c:pt idx="7">
                  <c:v>24.529013</c:v>
                </c:pt>
                <c:pt idx="8">
                  <c:v>24.627286</c:v>
                </c:pt>
              </c:numCache>
            </c:numRef>
          </c:val>
        </c:ser>
        <c:dLbls>
          <c:numFmt formatCode="0.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7A6A64"/>
                </a:solidFill>
                <a:latin typeface="Arial"/>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12700" cap="flat">
              <a:solidFill>
                <a:srgbClr val="E8E0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7A6A64"/>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FY2026は大幅赤字だが、その主因である飲食事業の撤退は2026年3月で完了。4月以降が撤退後の実力値であり、ここを起点にFY2027を組み立てている。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FY2027保守シナリオは営業利益▲23.1百万円。ただしFY2026比では+91.7百万円の改善であり、黒字化までの距離は追加売上4,473万円に過ぎない。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FY2025は経常段階ではほぼ均衡しており、損失は組織再編の特別損失。FY2026は飲食撤退という構造改革の費用。どちらも継続的な収益力の毀損ではない。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清掃費がゼロ、雑給が90%減という点が、飲食店舗の撤退が実際に完了したことの裏付けになる。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2026年7月以降の数値は事業計画上の見込値であり、同一値が並ぶプラグのため、実績としては使わずグラフからも除いている。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4月起点とする理由は、飲食撤退店舗の損益を除くため。貴社からのご指摘に基づく。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グループ内取引が100百万円ある点は先に開示する。銀行の正常化調整で控除される可能性を織り込んでおく。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①の粗利減少は、FY2026の大口スポット案件を来期はゼロと置いた保守性の表れ。事業が縮小したわけではない。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単月では2027年3月にインセンティブと投資売買益が乗り、経常+35.2百万円の黒字月となる。それ以外の月は月▲4.8百万円。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V字回復の説得力はここ。1,066百万円の計画を全部達成する必要はなく、4.2%で黒字化、22.4%で営業利益1億円に届く。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ソフトウェア129.8百万円は保守的に全額control。それでも在庫含み益186.7百万円で実態純資産は簿価を上回る。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銀行に指摘される前に自分から出す。これが信頼確保の基本方針。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次回提出資料を明示することで、継続的な報告姿勢を示す。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D2E46"/>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7E3B54"/>
          </a:solidFill>
          <a:ln/>
        </p:spPr>
      </p:sp>
      <p:sp>
        <p:nvSpPr>
          <p:cNvPr id="3" name="Shape 1"/>
          <p:cNvSpPr/>
          <p:nvPr/>
        </p:nvSpPr>
        <p:spPr>
          <a:xfrm>
            <a:off x="10607040" y="4206240"/>
            <a:ext cx="3108960" cy="3108960"/>
          </a:xfrm>
          <a:prstGeom prst="ellipse">
            <a:avLst/>
          </a:prstGeom>
          <a:solidFill>
            <a:srgbClr val="5C2439"/>
          </a:solidFill>
          <a:ln/>
        </p:spPr>
      </p:sp>
      <p:sp>
        <p:nvSpPr>
          <p:cNvPr id="4" name="Text 2"/>
          <p:cNvSpPr/>
          <p:nvPr/>
        </p:nvSpPr>
        <p:spPr>
          <a:xfrm>
            <a:off x="822960" y="1600200"/>
            <a:ext cx="8229600" cy="365760"/>
          </a:xfrm>
          <a:prstGeom prst="rect">
            <a:avLst/>
          </a:prstGeom>
          <a:noFill/>
          <a:ln/>
        </p:spPr>
        <p:txBody>
          <a:bodyPr wrap="square" lIns="0" tIns="0" rIns="0" bIns="0" rtlCol="0" anchor="ctr"/>
          <a:lstStyle/>
          <a:p>
            <a:pPr indent="0" marL="0">
              <a:buNone/>
            </a:pPr>
            <a:r>
              <a:rPr lang="en-US" sz="1400" spc="200" kern="0" dirty="0">
                <a:solidFill>
                  <a:srgbClr val="ECE2D0"/>
                </a:solidFill>
                <a:latin typeface="Arial" pitchFamily="34" charset="0"/>
                <a:ea typeface="Arial" pitchFamily="34" charset="-122"/>
                <a:cs typeface="Arial" pitchFamily="34" charset="-120"/>
              </a:rPr>
              <a:t>株式会社WineBank</a:t>
            </a:r>
            <a:endParaRPr lang="en-US" sz="1400" dirty="0"/>
          </a:p>
        </p:txBody>
      </p:sp>
      <p:sp>
        <p:nvSpPr>
          <p:cNvPr id="5" name="Text 3"/>
          <p:cNvSpPr/>
          <p:nvPr/>
        </p:nvSpPr>
        <p:spPr>
          <a:xfrm>
            <a:off x="822960" y="2057400"/>
            <a:ext cx="9144000"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事業再生計画</a:t>
            </a:r>
            <a:endParaRPr lang="en-US" sz="4600" dirty="0"/>
          </a:p>
        </p:txBody>
      </p:sp>
      <p:sp>
        <p:nvSpPr>
          <p:cNvPr id="6" name="Text 4"/>
          <p:cNvSpPr/>
          <p:nvPr/>
        </p:nvSpPr>
        <p:spPr>
          <a:xfrm>
            <a:off x="822960" y="2926080"/>
            <a:ext cx="9144000" cy="548640"/>
          </a:xfrm>
          <a:prstGeom prst="rect">
            <a:avLst/>
          </a:prstGeom>
          <a:noFill/>
          <a:ln/>
        </p:spPr>
        <p:txBody>
          <a:bodyPr wrap="square" lIns="0" tIns="0" rIns="0" bIns="0" rtlCol="0" anchor="ctr"/>
          <a:lstStyle/>
          <a:p>
            <a:pPr indent="0" marL="0">
              <a:buNone/>
            </a:pPr>
            <a:r>
              <a:rPr lang="en-US" sz="2500" dirty="0">
                <a:solidFill>
                  <a:srgbClr val="ECE2D0"/>
                </a:solidFill>
                <a:latin typeface="Cambria" pitchFamily="34" charset="0"/>
                <a:ea typeface="Cambria" pitchFamily="34" charset="-122"/>
                <a:cs typeface="Cambria" pitchFamily="34" charset="-120"/>
              </a:rPr>
              <a:t>2027年9月期 － V字回復の根拠</a:t>
            </a:r>
            <a:endParaRPr lang="en-US" sz="2500" dirty="0"/>
          </a:p>
        </p:txBody>
      </p:sp>
      <p:sp>
        <p:nvSpPr>
          <p:cNvPr id="7" name="Text 5"/>
          <p:cNvSpPr/>
          <p:nvPr/>
        </p:nvSpPr>
        <p:spPr>
          <a:xfrm>
            <a:off x="822960" y="4114800"/>
            <a:ext cx="5486400" cy="310896"/>
          </a:xfrm>
          <a:prstGeom prst="rect">
            <a:avLst/>
          </a:prstGeom>
          <a:noFill/>
          <a:ln/>
        </p:spPr>
        <p:txBody>
          <a:bodyPr wrap="square" lIns="0" tIns="0" rIns="0" bIns="0" rtlCol="0" anchor="ctr"/>
          <a:lstStyle/>
          <a:p>
            <a:pPr indent="0" marL="0">
              <a:buNone/>
            </a:pPr>
            <a:r>
              <a:rPr lang="en-US" sz="1300" dirty="0">
                <a:solidFill>
                  <a:srgbClr val="ECE2D0"/>
                </a:solidFill>
                <a:latin typeface="Arial" pitchFamily="34" charset="0"/>
                <a:ea typeface="Arial" pitchFamily="34" charset="-122"/>
                <a:cs typeface="Arial" pitchFamily="34" charset="-120"/>
              </a:rPr>
              <a:t>金融機関・株主各位</a:t>
            </a:r>
            <a:endParaRPr lang="en-US" sz="1300" dirty="0"/>
          </a:p>
        </p:txBody>
      </p:sp>
      <p:sp>
        <p:nvSpPr>
          <p:cNvPr id="8" name="Text 6"/>
          <p:cNvSpPr/>
          <p:nvPr/>
        </p:nvSpPr>
        <p:spPr>
          <a:xfrm>
            <a:off x="822960" y="4480560"/>
            <a:ext cx="5486400" cy="310896"/>
          </a:xfrm>
          <a:prstGeom prst="rect">
            <a:avLst/>
          </a:prstGeom>
          <a:noFill/>
          <a:ln/>
        </p:spPr>
        <p:txBody>
          <a:bodyPr wrap="square" lIns="0" tIns="0" rIns="0" bIns="0" rtlCol="0" anchor="ctr"/>
          <a:lstStyle/>
          <a:p>
            <a:pPr indent="0" marL="0">
              <a:buNone/>
            </a:pPr>
            <a:r>
              <a:rPr lang="en-US" sz="1300" dirty="0">
                <a:solidFill>
                  <a:srgbClr val="ECE2D0"/>
                </a:solidFill>
                <a:latin typeface="Arial" pitchFamily="34" charset="0"/>
                <a:ea typeface="Arial" pitchFamily="34" charset="-122"/>
                <a:cs typeface="Arial" pitchFamily="34" charset="-120"/>
              </a:rPr>
              <a:t>2026年8月</a:t>
            </a:r>
            <a:endParaRPr lang="en-US" sz="1300" dirty="0"/>
          </a:p>
        </p:txBody>
      </p:sp>
      <p:sp>
        <p:nvSpPr>
          <p:cNvPr id="9" name="Text 7"/>
          <p:cNvSpPr/>
          <p:nvPr/>
        </p:nvSpPr>
        <p:spPr>
          <a:xfrm>
            <a:off x="822960" y="5943600"/>
            <a:ext cx="10058400" cy="310896"/>
          </a:xfrm>
          <a:prstGeom prst="rect">
            <a:avLst/>
          </a:prstGeom>
          <a:noFill/>
          <a:ln/>
        </p:spPr>
        <p:txBody>
          <a:bodyPr wrap="square" lIns="0" tIns="0" rIns="0" bIns="0" rtlCol="0" anchor="ctr"/>
          <a:lstStyle/>
          <a:p>
            <a:pPr indent="0" marL="0">
              <a:buNone/>
            </a:pPr>
            <a:r>
              <a:rPr lang="en-US" sz="950" dirty="0">
                <a:solidFill>
                  <a:srgbClr val="C9A9B6"/>
                </a:solidFill>
                <a:latin typeface="Arial" pitchFamily="34" charset="0"/>
                <a:ea typeface="Arial" pitchFamily="34" charset="-122"/>
                <a:cs typeface="Arial" pitchFamily="34" charset="-120"/>
              </a:rPr>
              <a:t>本資料は2026年6月までの月次実績にもとづく保守前提の計画です。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エグゼクティブサマリー</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FY2026の赤字は構造改革の費用。改革はすでに実行済みで、効果は2026年4月以降の実績に表れている。</a:t>
            </a:r>
            <a:endParaRPr lang="en-US" sz="1250" dirty="0"/>
          </a:p>
        </p:txBody>
      </p:sp>
      <p:sp>
        <p:nvSpPr>
          <p:cNvPr id="4" name="Shape 2"/>
          <p:cNvSpPr/>
          <p:nvPr/>
        </p:nvSpPr>
        <p:spPr>
          <a:xfrm>
            <a:off x="594360" y="1481328"/>
            <a:ext cx="6720840" cy="969264"/>
          </a:xfrm>
          <a:prstGeom prst="roundRect">
            <a:avLst>
              <a:gd name="adj" fmla="val 5660"/>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 name="Shape 3"/>
          <p:cNvSpPr/>
          <p:nvPr/>
        </p:nvSpPr>
        <p:spPr>
          <a:xfrm>
            <a:off x="841248" y="1810512"/>
            <a:ext cx="310896" cy="310896"/>
          </a:xfrm>
          <a:prstGeom prst="ellipse">
            <a:avLst/>
          </a:prstGeom>
          <a:solidFill>
            <a:srgbClr val="6D2E46"/>
          </a:solidFill>
          <a:ln/>
        </p:spPr>
      </p:sp>
      <p:sp>
        <p:nvSpPr>
          <p:cNvPr id="6" name="Text 4"/>
          <p:cNvSpPr/>
          <p:nvPr/>
        </p:nvSpPr>
        <p:spPr>
          <a:xfrm>
            <a:off x="841248" y="181051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298448" y="1627632"/>
            <a:ext cx="5852160" cy="329184"/>
          </a:xfrm>
          <a:prstGeom prst="rect">
            <a:avLst/>
          </a:prstGeom>
          <a:noFill/>
          <a:ln/>
        </p:spPr>
        <p:txBody>
          <a:bodyPr wrap="square" lIns="0" tIns="0" rIns="0" bIns="0" rtlCol="0" anchor="ctr"/>
          <a:lstStyle/>
          <a:p>
            <a:pPr indent="0" marL="0">
              <a:buNone/>
            </a:pPr>
            <a:r>
              <a:rPr lang="en-US" sz="1450" b="1" dirty="0">
                <a:solidFill>
                  <a:srgbClr val="6D2E46"/>
                </a:solidFill>
                <a:latin typeface="Arial" pitchFamily="34" charset="0"/>
                <a:ea typeface="Arial" pitchFamily="34" charset="-122"/>
                <a:cs typeface="Arial" pitchFamily="34" charset="-120"/>
              </a:rPr>
              <a:t>飲食事業の撤退は完了</a:t>
            </a:r>
            <a:endParaRPr lang="en-US" sz="1450" dirty="0"/>
          </a:p>
        </p:txBody>
      </p:sp>
      <p:sp>
        <p:nvSpPr>
          <p:cNvPr id="8" name="Text 6"/>
          <p:cNvSpPr/>
          <p:nvPr/>
        </p:nvSpPr>
        <p:spPr>
          <a:xfrm>
            <a:off x="1298448" y="1984248"/>
            <a:ext cx="5852160" cy="384048"/>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2026年3月で撤退完了。4-6月が撤退後の実力値。</a:t>
            </a:r>
            <a:endParaRPr lang="en-US" sz="1100" dirty="0"/>
          </a:p>
        </p:txBody>
      </p:sp>
      <p:sp>
        <p:nvSpPr>
          <p:cNvPr id="9" name="Shape 7"/>
          <p:cNvSpPr/>
          <p:nvPr/>
        </p:nvSpPr>
        <p:spPr>
          <a:xfrm>
            <a:off x="594360" y="2596896"/>
            <a:ext cx="6720840" cy="969264"/>
          </a:xfrm>
          <a:prstGeom prst="roundRect">
            <a:avLst>
              <a:gd name="adj" fmla="val 5660"/>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0" name="Shape 8"/>
          <p:cNvSpPr/>
          <p:nvPr/>
        </p:nvSpPr>
        <p:spPr>
          <a:xfrm>
            <a:off x="841248" y="2926080"/>
            <a:ext cx="310896" cy="310896"/>
          </a:xfrm>
          <a:prstGeom prst="ellipse">
            <a:avLst/>
          </a:prstGeom>
          <a:solidFill>
            <a:srgbClr val="6D2E46"/>
          </a:solidFill>
          <a:ln/>
        </p:spPr>
      </p:sp>
      <p:sp>
        <p:nvSpPr>
          <p:cNvPr id="11" name="Text 9"/>
          <p:cNvSpPr/>
          <p:nvPr/>
        </p:nvSpPr>
        <p:spPr>
          <a:xfrm>
            <a:off x="841248" y="29260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298448" y="2743200"/>
            <a:ext cx="5852160" cy="329184"/>
          </a:xfrm>
          <a:prstGeom prst="rect">
            <a:avLst/>
          </a:prstGeom>
          <a:noFill/>
          <a:ln/>
        </p:spPr>
        <p:txBody>
          <a:bodyPr wrap="square" lIns="0" tIns="0" rIns="0" bIns="0" rtlCol="0" anchor="ctr"/>
          <a:lstStyle/>
          <a:p>
            <a:pPr indent="0" marL="0">
              <a:buNone/>
            </a:pPr>
            <a:r>
              <a:rPr lang="en-US" sz="1450" b="1" dirty="0">
                <a:solidFill>
                  <a:srgbClr val="6D2E46"/>
                </a:solidFill>
                <a:latin typeface="Arial" pitchFamily="34" charset="0"/>
                <a:ea typeface="Arial" pitchFamily="34" charset="-122"/>
                <a:cs typeface="Arial" pitchFamily="34" charset="-120"/>
              </a:rPr>
              <a:t>固定費は年103百万円削減済み</a:t>
            </a:r>
            <a:endParaRPr lang="en-US" sz="1450" dirty="0"/>
          </a:p>
        </p:txBody>
      </p:sp>
      <p:sp>
        <p:nvSpPr>
          <p:cNvPr id="13" name="Text 11"/>
          <p:cNvSpPr/>
          <p:nvPr/>
        </p:nvSpPr>
        <p:spPr>
          <a:xfrm>
            <a:off x="1298448" y="3099816"/>
            <a:ext cx="5852160" cy="384048"/>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月次販管費 38.7百万円（26/3）→ 24.6百万円（26/6）、▲36.4%。</a:t>
            </a:r>
            <a:endParaRPr lang="en-US" sz="1100" dirty="0"/>
          </a:p>
        </p:txBody>
      </p:sp>
      <p:sp>
        <p:nvSpPr>
          <p:cNvPr id="14" name="Shape 12"/>
          <p:cNvSpPr/>
          <p:nvPr/>
        </p:nvSpPr>
        <p:spPr>
          <a:xfrm>
            <a:off x="594360" y="3712464"/>
            <a:ext cx="6720840" cy="969264"/>
          </a:xfrm>
          <a:prstGeom prst="roundRect">
            <a:avLst>
              <a:gd name="adj" fmla="val 5660"/>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5" name="Shape 13"/>
          <p:cNvSpPr/>
          <p:nvPr/>
        </p:nvSpPr>
        <p:spPr>
          <a:xfrm>
            <a:off x="841248" y="4041648"/>
            <a:ext cx="310896" cy="310896"/>
          </a:xfrm>
          <a:prstGeom prst="ellipse">
            <a:avLst/>
          </a:prstGeom>
          <a:solidFill>
            <a:srgbClr val="6D2E46"/>
          </a:solidFill>
          <a:ln/>
        </p:spPr>
      </p:sp>
      <p:sp>
        <p:nvSpPr>
          <p:cNvPr id="16" name="Text 14"/>
          <p:cNvSpPr/>
          <p:nvPr/>
        </p:nvSpPr>
        <p:spPr>
          <a:xfrm>
            <a:off x="841248" y="40416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298448" y="3858768"/>
            <a:ext cx="5852160" cy="329184"/>
          </a:xfrm>
          <a:prstGeom prst="rect">
            <a:avLst/>
          </a:prstGeom>
          <a:noFill/>
          <a:ln/>
        </p:spPr>
        <p:txBody>
          <a:bodyPr wrap="square" lIns="0" tIns="0" rIns="0" bIns="0" rtlCol="0" anchor="ctr"/>
          <a:lstStyle/>
          <a:p>
            <a:pPr indent="0" marL="0">
              <a:buNone/>
            </a:pPr>
            <a:r>
              <a:rPr lang="en-US" sz="1450" b="1" dirty="0">
                <a:solidFill>
                  <a:srgbClr val="6D2E46"/>
                </a:solidFill>
                <a:latin typeface="Arial" pitchFamily="34" charset="0"/>
                <a:ea typeface="Arial" pitchFamily="34" charset="-122"/>
                <a:cs typeface="Arial" pitchFamily="34" charset="-120"/>
              </a:rPr>
              <a:t>FY2027に132.5百万円の収益上乗せ</a:t>
            </a:r>
            <a:endParaRPr lang="en-US" sz="1450" dirty="0"/>
          </a:p>
        </p:txBody>
      </p:sp>
      <p:sp>
        <p:nvSpPr>
          <p:cNvPr id="18" name="Text 16"/>
          <p:cNvSpPr/>
          <p:nvPr/>
        </p:nvSpPr>
        <p:spPr>
          <a:xfrm>
            <a:off x="1298448" y="4215384"/>
            <a:ext cx="5852160" cy="384048"/>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経営指導料を中心としたストック型収益。</a:t>
            </a:r>
            <a:endParaRPr lang="en-US" sz="1100" dirty="0"/>
          </a:p>
        </p:txBody>
      </p:sp>
      <p:sp>
        <p:nvSpPr>
          <p:cNvPr id="19" name="Shape 17"/>
          <p:cNvSpPr/>
          <p:nvPr/>
        </p:nvSpPr>
        <p:spPr>
          <a:xfrm>
            <a:off x="594360" y="4828032"/>
            <a:ext cx="6720840" cy="969264"/>
          </a:xfrm>
          <a:prstGeom prst="roundRect">
            <a:avLst>
              <a:gd name="adj" fmla="val 5660"/>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0" name="Shape 18"/>
          <p:cNvSpPr/>
          <p:nvPr/>
        </p:nvSpPr>
        <p:spPr>
          <a:xfrm>
            <a:off x="841248" y="5157216"/>
            <a:ext cx="310896" cy="310896"/>
          </a:xfrm>
          <a:prstGeom prst="ellipse">
            <a:avLst/>
          </a:prstGeom>
          <a:solidFill>
            <a:srgbClr val="6D2E46"/>
          </a:solidFill>
          <a:ln/>
        </p:spPr>
      </p:sp>
      <p:sp>
        <p:nvSpPr>
          <p:cNvPr id="21" name="Text 19"/>
          <p:cNvSpPr/>
          <p:nvPr/>
        </p:nvSpPr>
        <p:spPr>
          <a:xfrm>
            <a:off x="841248" y="51572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298448" y="4974336"/>
            <a:ext cx="5852160" cy="329184"/>
          </a:xfrm>
          <a:prstGeom prst="rect">
            <a:avLst/>
          </a:prstGeom>
          <a:noFill/>
          <a:ln/>
        </p:spPr>
        <p:txBody>
          <a:bodyPr wrap="square" lIns="0" tIns="0" rIns="0" bIns="0" rtlCol="0" anchor="ctr"/>
          <a:lstStyle/>
          <a:p>
            <a:pPr indent="0" marL="0">
              <a:buNone/>
            </a:pPr>
            <a:r>
              <a:rPr lang="en-US" sz="1450" b="1" dirty="0">
                <a:solidFill>
                  <a:srgbClr val="6D2E46"/>
                </a:solidFill>
                <a:latin typeface="Arial" pitchFamily="34" charset="0"/>
                <a:ea typeface="Arial" pitchFamily="34" charset="-122"/>
                <a:cs typeface="Arial" pitchFamily="34" charset="-120"/>
              </a:rPr>
              <a:t>黒字化まで残り4,473万円</a:t>
            </a:r>
            <a:endParaRPr lang="en-US" sz="1450" dirty="0"/>
          </a:p>
        </p:txBody>
      </p:sp>
      <p:sp>
        <p:nvSpPr>
          <p:cNvPr id="23" name="Text 21"/>
          <p:cNvSpPr/>
          <p:nvPr/>
        </p:nvSpPr>
        <p:spPr>
          <a:xfrm>
            <a:off x="1298448" y="5330952"/>
            <a:ext cx="5852160" cy="384048"/>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新規顧客売上計画1,066百万円の4.2%で損益分岐に到達。</a:t>
            </a:r>
            <a:endParaRPr lang="en-US" sz="1100" dirty="0"/>
          </a:p>
        </p:txBody>
      </p:sp>
      <p:sp>
        <p:nvSpPr>
          <p:cNvPr id="24" name="Shape 22"/>
          <p:cNvSpPr/>
          <p:nvPr/>
        </p:nvSpPr>
        <p:spPr>
          <a:xfrm>
            <a:off x="7635240" y="1481328"/>
            <a:ext cx="3931920" cy="4261104"/>
          </a:xfrm>
          <a:prstGeom prst="roundRect">
            <a:avLst>
              <a:gd name="adj" fmla="val 1395"/>
            </a:avLst>
          </a:prstGeom>
          <a:solidFill>
            <a:srgbClr val="6D2E46"/>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5" name="Text 23"/>
          <p:cNvSpPr/>
          <p:nvPr/>
        </p:nvSpPr>
        <p:spPr>
          <a:xfrm>
            <a:off x="7863840" y="1737360"/>
            <a:ext cx="3474720" cy="274320"/>
          </a:xfrm>
          <a:prstGeom prst="rect">
            <a:avLst/>
          </a:prstGeom>
          <a:noFill/>
          <a:ln/>
        </p:spPr>
        <p:txBody>
          <a:bodyPr wrap="square" lIns="0" tIns="0" rIns="0" bIns="0" rtlCol="0" anchor="ctr"/>
          <a:lstStyle/>
          <a:p>
            <a:pPr algn="ctr" indent="0" marL="0">
              <a:buNone/>
            </a:pPr>
            <a:r>
              <a:rPr lang="en-US" sz="1100" dirty="0">
                <a:solidFill>
                  <a:srgbClr val="ECE2D0"/>
                </a:solidFill>
                <a:latin typeface="Arial" pitchFamily="34" charset="0"/>
                <a:ea typeface="Arial" pitchFamily="34" charset="-122"/>
                <a:cs typeface="Arial" pitchFamily="34" charset="-120"/>
              </a:rPr>
              <a:t>FY2027 営業利益</a:t>
            </a:r>
            <a:endParaRPr lang="en-US" sz="1100" dirty="0"/>
          </a:p>
        </p:txBody>
      </p:sp>
      <p:sp>
        <p:nvSpPr>
          <p:cNvPr id="26" name="Text 24"/>
          <p:cNvSpPr/>
          <p:nvPr/>
        </p:nvSpPr>
        <p:spPr>
          <a:xfrm>
            <a:off x="7863840" y="2029968"/>
            <a:ext cx="3474720" cy="77724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▲23.1</a:t>
            </a:r>
            <a:endParaRPr lang="en-US" sz="4400" dirty="0"/>
          </a:p>
        </p:txBody>
      </p:sp>
      <p:sp>
        <p:nvSpPr>
          <p:cNvPr id="27" name="Text 25"/>
          <p:cNvSpPr/>
          <p:nvPr/>
        </p:nvSpPr>
        <p:spPr>
          <a:xfrm>
            <a:off x="7863840" y="2788920"/>
            <a:ext cx="3474720" cy="274320"/>
          </a:xfrm>
          <a:prstGeom prst="rect">
            <a:avLst/>
          </a:prstGeom>
          <a:noFill/>
          <a:ln/>
        </p:spPr>
        <p:txBody>
          <a:bodyPr wrap="square" lIns="0" tIns="0" rIns="0" bIns="0" rtlCol="0" anchor="ctr"/>
          <a:lstStyle/>
          <a:p>
            <a:pPr algn="ctr" indent="0" marL="0">
              <a:buNone/>
            </a:pPr>
            <a:r>
              <a:rPr lang="en-US" sz="1050" dirty="0">
                <a:solidFill>
                  <a:srgbClr val="ECE2D0"/>
                </a:solidFill>
                <a:latin typeface="Arial" pitchFamily="34" charset="0"/>
                <a:ea typeface="Arial" pitchFamily="34" charset="-122"/>
                <a:cs typeface="Arial" pitchFamily="34" charset="-120"/>
              </a:rPr>
              <a:t>百万円（保守シナリオ）</a:t>
            </a:r>
            <a:endParaRPr lang="en-US" sz="1050" dirty="0"/>
          </a:p>
        </p:txBody>
      </p:sp>
      <p:sp>
        <p:nvSpPr>
          <p:cNvPr id="28" name="Text 26"/>
          <p:cNvSpPr/>
          <p:nvPr/>
        </p:nvSpPr>
        <p:spPr>
          <a:xfrm>
            <a:off x="7863840" y="3200400"/>
            <a:ext cx="347472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Arial" pitchFamily="34" charset="0"/>
                <a:ea typeface="Arial" pitchFamily="34" charset="-122"/>
                <a:cs typeface="Arial" pitchFamily="34" charset="-120"/>
              </a:rPr>
              <a:t>FY2026 ▲114.8百万円から</a:t>
            </a:r>
            <a:endParaRPr lang="en-US" sz="1150" dirty="0"/>
          </a:p>
          <a:p>
            <a:pPr algn="ctr" indent="0" marL="0">
              <a:buNone/>
            </a:pPr>
            <a:r>
              <a:rPr lang="en-US" sz="1150" dirty="0">
                <a:solidFill>
                  <a:srgbClr val="FFFFFF"/>
                </a:solidFill>
                <a:latin typeface="Arial" pitchFamily="34" charset="0"/>
                <a:ea typeface="Arial" pitchFamily="34" charset="-122"/>
                <a:cs typeface="Arial" pitchFamily="34" charset="-120"/>
              </a:rPr>
              <a:t>＋91.7百万円の改善</a:t>
            </a:r>
            <a:endParaRPr lang="en-US" sz="1150" dirty="0"/>
          </a:p>
        </p:txBody>
      </p:sp>
      <p:sp>
        <p:nvSpPr>
          <p:cNvPr id="29" name="Shape 27"/>
          <p:cNvSpPr/>
          <p:nvPr/>
        </p:nvSpPr>
        <p:spPr>
          <a:xfrm>
            <a:off x="8092440" y="3931920"/>
            <a:ext cx="3017520" cy="0"/>
          </a:xfrm>
          <a:prstGeom prst="line">
            <a:avLst/>
          </a:prstGeom>
          <a:noFill/>
          <a:ln w="12700">
            <a:solidFill>
              <a:srgbClr val="8E5470"/>
            </a:solidFill>
            <a:prstDash val="solid"/>
          </a:ln>
        </p:spPr>
      </p:sp>
      <p:sp>
        <p:nvSpPr>
          <p:cNvPr id="30" name="Text 28"/>
          <p:cNvSpPr/>
          <p:nvPr/>
        </p:nvSpPr>
        <p:spPr>
          <a:xfrm>
            <a:off x="7863840" y="4069080"/>
            <a:ext cx="3474720" cy="274320"/>
          </a:xfrm>
          <a:prstGeom prst="rect">
            <a:avLst/>
          </a:prstGeom>
          <a:noFill/>
          <a:ln/>
        </p:spPr>
        <p:txBody>
          <a:bodyPr wrap="square" lIns="0" tIns="0" rIns="0" bIns="0" rtlCol="0" anchor="ctr"/>
          <a:lstStyle/>
          <a:p>
            <a:pPr algn="ctr" indent="0" marL="0">
              <a:buNone/>
            </a:pPr>
            <a:r>
              <a:rPr lang="en-US" sz="1100" dirty="0">
                <a:solidFill>
                  <a:srgbClr val="ECE2D0"/>
                </a:solidFill>
                <a:latin typeface="Arial" pitchFamily="34" charset="0"/>
                <a:ea typeface="Arial" pitchFamily="34" charset="-122"/>
                <a:cs typeface="Arial" pitchFamily="34" charset="-120"/>
              </a:rPr>
              <a:t>損益分岐に必要な追加売上</a:t>
            </a:r>
            <a:endParaRPr lang="en-US" sz="1100" dirty="0"/>
          </a:p>
        </p:txBody>
      </p:sp>
      <p:sp>
        <p:nvSpPr>
          <p:cNvPr id="31" name="Text 29"/>
          <p:cNvSpPr/>
          <p:nvPr/>
        </p:nvSpPr>
        <p:spPr>
          <a:xfrm>
            <a:off x="7863840" y="4343400"/>
            <a:ext cx="3474720" cy="566928"/>
          </a:xfrm>
          <a:prstGeom prst="rect">
            <a:avLst/>
          </a:prstGeom>
          <a:noFill/>
          <a:ln/>
        </p:spPr>
        <p:txBody>
          <a:bodyPr wrap="square" lIns="0" tIns="0" rIns="0" bIns="0" rtlCol="0" anchor="ctr"/>
          <a:lstStyle/>
          <a:p>
            <a:pPr algn="ctr" indent="0" marL="0">
              <a:buNone/>
            </a:pPr>
            <a:r>
              <a:rPr lang="en-US" sz="3000" b="1" dirty="0">
                <a:solidFill>
                  <a:srgbClr val="ECE2D0"/>
                </a:solidFill>
                <a:latin typeface="Cambria" pitchFamily="34" charset="0"/>
                <a:ea typeface="Cambria" pitchFamily="34" charset="-122"/>
                <a:cs typeface="Cambria" pitchFamily="34" charset="-120"/>
              </a:rPr>
              <a:t>4,473万円</a:t>
            </a:r>
            <a:endParaRPr lang="en-US" sz="3000" dirty="0"/>
          </a:p>
        </p:txBody>
      </p:sp>
      <p:sp>
        <p:nvSpPr>
          <p:cNvPr id="32" name="Text 30"/>
          <p:cNvSpPr/>
          <p:nvPr/>
        </p:nvSpPr>
        <p:spPr>
          <a:xfrm>
            <a:off x="7863840" y="4956048"/>
            <a:ext cx="3474720" cy="566928"/>
          </a:xfrm>
          <a:prstGeom prst="rect">
            <a:avLst/>
          </a:prstGeom>
          <a:noFill/>
          <a:ln/>
        </p:spPr>
        <p:txBody>
          <a:bodyPr wrap="square" lIns="0" tIns="0" rIns="0" bIns="0"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新規顧客売上計画の 4.2%</a:t>
            </a:r>
            <a:endParaRPr lang="en-US" sz="1100" dirty="0"/>
          </a:p>
          <a:p>
            <a:pPr algn="ctr" indent="0" marL="0">
              <a:buNone/>
            </a:pPr>
            <a:r>
              <a:rPr lang="en-US" sz="1100" dirty="0">
                <a:solidFill>
                  <a:srgbClr val="FFFFFF"/>
                </a:solidFill>
                <a:latin typeface="Arial" pitchFamily="34" charset="0"/>
                <a:ea typeface="Arial" pitchFamily="34" charset="-122"/>
                <a:cs typeface="Arial" pitchFamily="34" charset="-120"/>
              </a:rPr>
              <a:t>（超富裕層 4〜5名相当）</a:t>
            </a:r>
            <a:endParaRPr lang="en-US" sz="1100" dirty="0"/>
          </a:p>
        </p:txBody>
      </p:sp>
      <p:sp>
        <p:nvSpPr>
          <p:cNvPr id="33" name="Text 31"/>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出典：事業計画202608（銀行様）全社シート月次実績、決算報告書 第54期</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FY2025・FY2026 － 性質の異なる2期の赤字</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いずれも一過性・構造改革に起因するもので、本業の継続的な採算悪化ではない。</a:t>
            </a:r>
            <a:endParaRPr lang="en-US" sz="1250" dirty="0"/>
          </a:p>
        </p:txBody>
      </p:sp>
      <p:sp>
        <p:nvSpPr>
          <p:cNvPr id="4" name="Shape 2"/>
          <p:cNvSpPr/>
          <p:nvPr/>
        </p:nvSpPr>
        <p:spPr>
          <a:xfrm>
            <a:off x="594360" y="1463040"/>
            <a:ext cx="5486400" cy="4343400"/>
          </a:xfrm>
          <a:prstGeom prst="roundRect">
            <a:avLst>
              <a:gd name="adj" fmla="val 126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 name="Text 3"/>
          <p:cNvSpPr/>
          <p:nvPr/>
        </p:nvSpPr>
        <p:spPr>
          <a:xfrm>
            <a:off x="914400" y="1691640"/>
            <a:ext cx="4846320" cy="292608"/>
          </a:xfrm>
          <a:prstGeom prst="rect">
            <a:avLst/>
          </a:prstGeom>
          <a:noFill/>
          <a:ln/>
        </p:spPr>
        <p:txBody>
          <a:bodyPr wrap="square" lIns="0" tIns="0" rIns="0" bIns="0" rtlCol="0" anchor="ctr"/>
          <a:lstStyle/>
          <a:p>
            <a:pPr indent="0" marL="0">
              <a:buNone/>
            </a:pPr>
            <a:r>
              <a:rPr lang="en-US" sz="1150" b="1" dirty="0">
                <a:solidFill>
                  <a:srgbClr val="7A6A64"/>
                </a:solidFill>
                <a:latin typeface="Arial" pitchFamily="34" charset="0"/>
                <a:ea typeface="Arial" pitchFamily="34" charset="-122"/>
                <a:cs typeface="Arial" pitchFamily="34" charset="-120"/>
              </a:rPr>
              <a:t>FY2025（2025年9月期）実績</a:t>
            </a:r>
            <a:endParaRPr lang="en-US" sz="1150" dirty="0"/>
          </a:p>
        </p:txBody>
      </p:sp>
      <p:sp>
        <p:nvSpPr>
          <p:cNvPr id="6" name="Text 4"/>
          <p:cNvSpPr/>
          <p:nvPr/>
        </p:nvSpPr>
        <p:spPr>
          <a:xfrm>
            <a:off x="914400" y="2011680"/>
            <a:ext cx="4846320"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当期純損失 ▲127.8百万円</a:t>
            </a:r>
            <a:endParaRPr lang="en-US" sz="2200" dirty="0"/>
          </a:p>
        </p:txBody>
      </p:sp>
      <p:sp>
        <p:nvSpPr>
          <p:cNvPr id="7" name="Text 5"/>
          <p:cNvSpPr/>
          <p:nvPr/>
        </p:nvSpPr>
        <p:spPr>
          <a:xfrm>
            <a:off x="914400" y="2514600"/>
            <a:ext cx="4846320" cy="621792"/>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経常損失は▲5.8百万円にとどまる。損失の大半は組織再編に伴う特別損失。</a:t>
            </a:r>
            <a:endParaRPr lang="en-US" sz="1100" dirty="0"/>
          </a:p>
        </p:txBody>
      </p:sp>
      <p:sp>
        <p:nvSpPr>
          <p:cNvPr id="8" name="Shape 6"/>
          <p:cNvSpPr/>
          <p:nvPr/>
        </p:nvSpPr>
        <p:spPr>
          <a:xfrm>
            <a:off x="914400" y="3246120"/>
            <a:ext cx="4846320" cy="457200"/>
          </a:xfrm>
          <a:prstGeom prst="rect">
            <a:avLst/>
          </a:prstGeom>
          <a:solidFill>
            <a:srgbClr val="FBF9F7"/>
          </a:solidFill>
          <a:ln w="6350">
            <a:solidFill>
              <a:srgbClr val="DED5CE"/>
            </a:solidFill>
            <a:prstDash val="solid"/>
          </a:ln>
        </p:spPr>
      </p:sp>
      <p:sp>
        <p:nvSpPr>
          <p:cNvPr id="9" name="Text 7"/>
          <p:cNvSpPr/>
          <p:nvPr/>
        </p:nvSpPr>
        <p:spPr>
          <a:xfrm>
            <a:off x="1051560" y="324612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事業譲渡損</a:t>
            </a:r>
            <a:endParaRPr lang="en-US" sz="1050" dirty="0"/>
          </a:p>
        </p:txBody>
      </p:sp>
      <p:sp>
        <p:nvSpPr>
          <p:cNvPr id="10" name="Text 8"/>
          <p:cNvSpPr/>
          <p:nvPr/>
        </p:nvSpPr>
        <p:spPr>
          <a:xfrm>
            <a:off x="3886200" y="324612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59.8百万円</a:t>
            </a:r>
            <a:endParaRPr lang="en-US" sz="1150" dirty="0"/>
          </a:p>
        </p:txBody>
      </p:sp>
      <p:sp>
        <p:nvSpPr>
          <p:cNvPr id="11" name="Shape 9"/>
          <p:cNvSpPr/>
          <p:nvPr/>
        </p:nvSpPr>
        <p:spPr>
          <a:xfrm>
            <a:off x="914400" y="3794760"/>
            <a:ext cx="4846320" cy="457200"/>
          </a:xfrm>
          <a:prstGeom prst="rect">
            <a:avLst/>
          </a:prstGeom>
          <a:solidFill>
            <a:srgbClr val="FBF9F7"/>
          </a:solidFill>
          <a:ln w="6350">
            <a:solidFill>
              <a:srgbClr val="DED5CE"/>
            </a:solidFill>
            <a:prstDash val="solid"/>
          </a:ln>
        </p:spPr>
      </p:sp>
      <p:sp>
        <p:nvSpPr>
          <p:cNvPr id="12" name="Text 10"/>
          <p:cNvSpPr/>
          <p:nvPr/>
        </p:nvSpPr>
        <p:spPr>
          <a:xfrm>
            <a:off x="1051560" y="379476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固定資産除却損</a:t>
            </a:r>
            <a:endParaRPr lang="en-US" sz="1050" dirty="0"/>
          </a:p>
        </p:txBody>
      </p:sp>
      <p:sp>
        <p:nvSpPr>
          <p:cNvPr id="13" name="Text 11"/>
          <p:cNvSpPr/>
          <p:nvPr/>
        </p:nvSpPr>
        <p:spPr>
          <a:xfrm>
            <a:off x="3886200" y="379476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18.1百万円</a:t>
            </a:r>
            <a:endParaRPr lang="en-US" sz="1150" dirty="0"/>
          </a:p>
        </p:txBody>
      </p:sp>
      <p:sp>
        <p:nvSpPr>
          <p:cNvPr id="14" name="Shape 12"/>
          <p:cNvSpPr/>
          <p:nvPr/>
        </p:nvSpPr>
        <p:spPr>
          <a:xfrm>
            <a:off x="914400" y="4343400"/>
            <a:ext cx="4846320" cy="457200"/>
          </a:xfrm>
          <a:prstGeom prst="rect">
            <a:avLst/>
          </a:prstGeom>
          <a:solidFill>
            <a:srgbClr val="FBF9F7"/>
          </a:solidFill>
          <a:ln w="6350">
            <a:solidFill>
              <a:srgbClr val="DED5CE"/>
            </a:solidFill>
            <a:prstDash val="solid"/>
          </a:ln>
        </p:spPr>
      </p:sp>
      <p:sp>
        <p:nvSpPr>
          <p:cNvPr id="15" name="Text 13"/>
          <p:cNvSpPr/>
          <p:nvPr/>
        </p:nvSpPr>
        <p:spPr>
          <a:xfrm>
            <a:off x="1051560" y="434340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抱合せ株式消滅差損</a:t>
            </a:r>
            <a:endParaRPr lang="en-US" sz="1050" dirty="0"/>
          </a:p>
        </p:txBody>
      </p:sp>
      <p:sp>
        <p:nvSpPr>
          <p:cNvPr id="16" name="Text 14"/>
          <p:cNvSpPr/>
          <p:nvPr/>
        </p:nvSpPr>
        <p:spPr>
          <a:xfrm>
            <a:off x="3886200" y="434340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45.4百万円</a:t>
            </a:r>
            <a:endParaRPr lang="en-US" sz="1150" dirty="0"/>
          </a:p>
        </p:txBody>
      </p:sp>
      <p:sp>
        <p:nvSpPr>
          <p:cNvPr id="17" name="Shape 15"/>
          <p:cNvSpPr/>
          <p:nvPr/>
        </p:nvSpPr>
        <p:spPr>
          <a:xfrm>
            <a:off x="914400" y="4892040"/>
            <a:ext cx="4846320" cy="457200"/>
          </a:xfrm>
          <a:prstGeom prst="rect">
            <a:avLst/>
          </a:prstGeom>
          <a:solidFill>
            <a:srgbClr val="ECE2D0"/>
          </a:solidFill>
          <a:ln w="6350">
            <a:solidFill>
              <a:srgbClr val="DED5CE"/>
            </a:solidFill>
            <a:prstDash val="solid"/>
          </a:ln>
        </p:spPr>
      </p:sp>
      <p:sp>
        <p:nvSpPr>
          <p:cNvPr id="18" name="Text 16"/>
          <p:cNvSpPr/>
          <p:nvPr/>
        </p:nvSpPr>
        <p:spPr>
          <a:xfrm>
            <a:off x="1051560" y="4892040"/>
            <a:ext cx="3017520" cy="457200"/>
          </a:xfrm>
          <a:prstGeom prst="rect">
            <a:avLst/>
          </a:prstGeom>
          <a:noFill/>
          <a:ln/>
        </p:spPr>
        <p:txBody>
          <a:bodyPr wrap="square" lIns="0" tIns="0" rIns="0" bIns="0" rtlCol="0" anchor="ctr"/>
          <a:lstStyle/>
          <a:p>
            <a:pPr indent="0" marL="0">
              <a:buNone/>
            </a:pPr>
            <a:r>
              <a:rPr lang="en-US" sz="1050" b="1" dirty="0">
                <a:solidFill>
                  <a:srgbClr val="2B2B2B"/>
                </a:solidFill>
                <a:latin typeface="Arial" pitchFamily="34" charset="0"/>
                <a:ea typeface="Arial" pitchFamily="34" charset="-122"/>
                <a:cs typeface="Arial" pitchFamily="34" charset="-120"/>
              </a:rPr>
              <a:t>特別損失 計</a:t>
            </a:r>
            <a:endParaRPr lang="en-US" sz="1050" dirty="0"/>
          </a:p>
        </p:txBody>
      </p:sp>
      <p:sp>
        <p:nvSpPr>
          <p:cNvPr id="19" name="Text 17"/>
          <p:cNvSpPr/>
          <p:nvPr/>
        </p:nvSpPr>
        <p:spPr>
          <a:xfrm>
            <a:off x="3886200" y="4892040"/>
            <a:ext cx="1737360" cy="457200"/>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123.4百万円</a:t>
            </a:r>
            <a:endParaRPr lang="en-US" sz="1150" dirty="0"/>
          </a:p>
        </p:txBody>
      </p:sp>
      <p:sp>
        <p:nvSpPr>
          <p:cNvPr id="20" name="Shape 18"/>
          <p:cNvSpPr/>
          <p:nvPr/>
        </p:nvSpPr>
        <p:spPr>
          <a:xfrm>
            <a:off x="6400800" y="1463040"/>
            <a:ext cx="5486400" cy="4343400"/>
          </a:xfrm>
          <a:prstGeom prst="roundRect">
            <a:avLst>
              <a:gd name="adj" fmla="val 126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1" name="Text 19"/>
          <p:cNvSpPr/>
          <p:nvPr/>
        </p:nvSpPr>
        <p:spPr>
          <a:xfrm>
            <a:off x="6720840" y="1691640"/>
            <a:ext cx="4846320" cy="292608"/>
          </a:xfrm>
          <a:prstGeom prst="rect">
            <a:avLst/>
          </a:prstGeom>
          <a:noFill/>
          <a:ln/>
        </p:spPr>
        <p:txBody>
          <a:bodyPr wrap="square" lIns="0" tIns="0" rIns="0" bIns="0" rtlCol="0" anchor="ctr"/>
          <a:lstStyle/>
          <a:p>
            <a:pPr indent="0" marL="0">
              <a:buNone/>
            </a:pPr>
            <a:r>
              <a:rPr lang="en-US" sz="1150" b="1" dirty="0">
                <a:solidFill>
                  <a:srgbClr val="7A6A64"/>
                </a:solidFill>
                <a:latin typeface="Arial" pitchFamily="34" charset="0"/>
                <a:ea typeface="Arial" pitchFamily="34" charset="-122"/>
                <a:cs typeface="Arial" pitchFamily="34" charset="-120"/>
              </a:rPr>
              <a:t>FY2026（2026年9月期）見込</a:t>
            </a:r>
            <a:endParaRPr lang="en-US" sz="1150" dirty="0"/>
          </a:p>
        </p:txBody>
      </p:sp>
      <p:sp>
        <p:nvSpPr>
          <p:cNvPr id="22" name="Text 20"/>
          <p:cNvSpPr/>
          <p:nvPr/>
        </p:nvSpPr>
        <p:spPr>
          <a:xfrm>
            <a:off x="6720840" y="2011680"/>
            <a:ext cx="4846320"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経常損失 ▲124.8百万円</a:t>
            </a:r>
            <a:endParaRPr lang="en-US" sz="2200" dirty="0"/>
          </a:p>
        </p:txBody>
      </p:sp>
      <p:sp>
        <p:nvSpPr>
          <p:cNvPr id="23" name="Text 21"/>
          <p:cNvSpPr/>
          <p:nvPr/>
        </p:nvSpPr>
        <p:spPr>
          <a:xfrm>
            <a:off x="6720840" y="2514600"/>
            <a:ext cx="4846320" cy="621792"/>
          </a:xfrm>
          <a:prstGeom prst="rect">
            <a:avLst/>
          </a:prstGeom>
          <a:noFill/>
          <a:ln/>
        </p:spPr>
        <p:txBody>
          <a:bodyPr wrap="square" lIns="0" tIns="0" rIns="0" bIns="0" rtlCol="0" anchor="ctr"/>
          <a:lstStyle/>
          <a:p>
            <a:pPr indent="0" marL="0">
              <a:buNone/>
            </a:pPr>
            <a:r>
              <a:rPr lang="en-US" sz="1100" dirty="0">
                <a:solidFill>
                  <a:srgbClr val="2B2B2B"/>
                </a:solidFill>
                <a:latin typeface="Arial" pitchFamily="34" charset="0"/>
                <a:ea typeface="Arial" pitchFamily="34" charset="-122"/>
                <a:cs typeface="Arial" pitchFamily="34" charset="-120"/>
              </a:rPr>
              <a:t>飲食事業の撤退と、撤退に伴う一時費用・先行投資が主因。撤退は2026年3月で完了。</a:t>
            </a:r>
            <a:endParaRPr lang="en-US" sz="1100" dirty="0"/>
          </a:p>
        </p:txBody>
      </p:sp>
      <p:sp>
        <p:nvSpPr>
          <p:cNvPr id="24" name="Shape 22"/>
          <p:cNvSpPr/>
          <p:nvPr/>
        </p:nvSpPr>
        <p:spPr>
          <a:xfrm>
            <a:off x="6720840" y="3246120"/>
            <a:ext cx="4846320" cy="457200"/>
          </a:xfrm>
          <a:prstGeom prst="rect">
            <a:avLst/>
          </a:prstGeom>
          <a:solidFill>
            <a:srgbClr val="FBF9F7"/>
          </a:solidFill>
          <a:ln w="6350">
            <a:solidFill>
              <a:srgbClr val="DED5CE"/>
            </a:solidFill>
            <a:prstDash val="solid"/>
          </a:ln>
        </p:spPr>
      </p:sp>
      <p:sp>
        <p:nvSpPr>
          <p:cNvPr id="25" name="Text 23"/>
          <p:cNvSpPr/>
          <p:nvPr/>
        </p:nvSpPr>
        <p:spPr>
          <a:xfrm>
            <a:off x="6858000" y="324612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上期(10-3月) 販管費 月平均</a:t>
            </a:r>
            <a:endParaRPr lang="en-US" sz="1050" dirty="0"/>
          </a:p>
        </p:txBody>
      </p:sp>
      <p:sp>
        <p:nvSpPr>
          <p:cNvPr id="26" name="Text 24"/>
          <p:cNvSpPr/>
          <p:nvPr/>
        </p:nvSpPr>
        <p:spPr>
          <a:xfrm>
            <a:off x="9692640" y="324612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33.6百万円</a:t>
            </a:r>
            <a:endParaRPr lang="en-US" sz="1150" dirty="0"/>
          </a:p>
        </p:txBody>
      </p:sp>
      <p:sp>
        <p:nvSpPr>
          <p:cNvPr id="27" name="Shape 25"/>
          <p:cNvSpPr/>
          <p:nvPr/>
        </p:nvSpPr>
        <p:spPr>
          <a:xfrm>
            <a:off x="6720840" y="3794760"/>
            <a:ext cx="4846320" cy="457200"/>
          </a:xfrm>
          <a:prstGeom prst="rect">
            <a:avLst/>
          </a:prstGeom>
          <a:solidFill>
            <a:srgbClr val="FBF9F7"/>
          </a:solidFill>
          <a:ln w="6350">
            <a:solidFill>
              <a:srgbClr val="DED5CE"/>
            </a:solidFill>
            <a:prstDash val="solid"/>
          </a:ln>
        </p:spPr>
      </p:sp>
      <p:sp>
        <p:nvSpPr>
          <p:cNvPr id="28" name="Text 26"/>
          <p:cNvSpPr/>
          <p:nvPr/>
        </p:nvSpPr>
        <p:spPr>
          <a:xfrm>
            <a:off x="6858000" y="379476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下期(4-6月) 販管費 月平均</a:t>
            </a:r>
            <a:endParaRPr lang="en-US" sz="1050" dirty="0"/>
          </a:p>
        </p:txBody>
      </p:sp>
      <p:sp>
        <p:nvSpPr>
          <p:cNvPr id="29" name="Text 27"/>
          <p:cNvSpPr/>
          <p:nvPr/>
        </p:nvSpPr>
        <p:spPr>
          <a:xfrm>
            <a:off x="9692640" y="379476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25.0百万円</a:t>
            </a:r>
            <a:endParaRPr lang="en-US" sz="1150" dirty="0"/>
          </a:p>
        </p:txBody>
      </p:sp>
      <p:sp>
        <p:nvSpPr>
          <p:cNvPr id="30" name="Shape 28"/>
          <p:cNvSpPr/>
          <p:nvPr/>
        </p:nvSpPr>
        <p:spPr>
          <a:xfrm>
            <a:off x="6720840" y="4343400"/>
            <a:ext cx="4846320" cy="457200"/>
          </a:xfrm>
          <a:prstGeom prst="rect">
            <a:avLst/>
          </a:prstGeom>
          <a:solidFill>
            <a:srgbClr val="FBF9F7"/>
          </a:solidFill>
          <a:ln w="6350">
            <a:solidFill>
              <a:srgbClr val="DED5CE"/>
            </a:solidFill>
            <a:prstDash val="solid"/>
          </a:ln>
        </p:spPr>
      </p:sp>
      <p:sp>
        <p:nvSpPr>
          <p:cNvPr id="31" name="Text 29"/>
          <p:cNvSpPr/>
          <p:nvPr/>
        </p:nvSpPr>
        <p:spPr>
          <a:xfrm>
            <a:off x="6858000" y="4343400"/>
            <a:ext cx="301752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削減額</a:t>
            </a:r>
            <a:endParaRPr lang="en-US" sz="1050" dirty="0"/>
          </a:p>
        </p:txBody>
      </p:sp>
      <p:sp>
        <p:nvSpPr>
          <p:cNvPr id="32" name="Text 30"/>
          <p:cNvSpPr/>
          <p:nvPr/>
        </p:nvSpPr>
        <p:spPr>
          <a:xfrm>
            <a:off x="9692640" y="4343400"/>
            <a:ext cx="1737360" cy="457200"/>
          </a:xfrm>
          <a:prstGeom prst="rect">
            <a:avLst/>
          </a:prstGeom>
          <a:noFill/>
          <a:ln/>
        </p:spPr>
        <p:txBody>
          <a:bodyPr wrap="square" lIns="0" tIns="0" rIns="0" bIns="0" rtlCol="0" anchor="ctr"/>
          <a:lstStyle/>
          <a:p>
            <a:pPr algn="r" indent="0" marL="0">
              <a:buNone/>
            </a:pPr>
            <a:r>
              <a:rPr lang="en-US" sz="1150" b="1" dirty="0">
                <a:solidFill>
                  <a:srgbClr val="2B2B2B"/>
                </a:solidFill>
                <a:latin typeface="Arial" pitchFamily="34" charset="0"/>
                <a:ea typeface="Arial" pitchFamily="34" charset="-122"/>
                <a:cs typeface="Arial" pitchFamily="34" charset="-120"/>
              </a:rPr>
              <a:t>月 ▲8.6百万円</a:t>
            </a:r>
            <a:endParaRPr lang="en-US" sz="1150" dirty="0"/>
          </a:p>
        </p:txBody>
      </p:sp>
      <p:sp>
        <p:nvSpPr>
          <p:cNvPr id="33" name="Shape 31"/>
          <p:cNvSpPr/>
          <p:nvPr/>
        </p:nvSpPr>
        <p:spPr>
          <a:xfrm>
            <a:off x="6720840" y="4892040"/>
            <a:ext cx="4846320" cy="457200"/>
          </a:xfrm>
          <a:prstGeom prst="rect">
            <a:avLst/>
          </a:prstGeom>
          <a:solidFill>
            <a:srgbClr val="ECE2D0"/>
          </a:solidFill>
          <a:ln w="6350">
            <a:solidFill>
              <a:srgbClr val="DED5CE"/>
            </a:solidFill>
            <a:prstDash val="solid"/>
          </a:ln>
        </p:spPr>
      </p:sp>
      <p:sp>
        <p:nvSpPr>
          <p:cNvPr id="34" name="Text 32"/>
          <p:cNvSpPr/>
          <p:nvPr/>
        </p:nvSpPr>
        <p:spPr>
          <a:xfrm>
            <a:off x="6858000" y="4892040"/>
            <a:ext cx="3017520" cy="457200"/>
          </a:xfrm>
          <a:prstGeom prst="rect">
            <a:avLst/>
          </a:prstGeom>
          <a:noFill/>
          <a:ln/>
        </p:spPr>
        <p:txBody>
          <a:bodyPr wrap="square" lIns="0" tIns="0" rIns="0" bIns="0" rtlCol="0" anchor="ctr"/>
          <a:lstStyle/>
          <a:p>
            <a:pPr indent="0" marL="0">
              <a:buNone/>
            </a:pPr>
            <a:r>
              <a:rPr lang="en-US" sz="1050" b="1" dirty="0">
                <a:solidFill>
                  <a:srgbClr val="2B2B2B"/>
                </a:solidFill>
                <a:latin typeface="Arial" pitchFamily="34" charset="0"/>
                <a:ea typeface="Arial" pitchFamily="34" charset="-122"/>
                <a:cs typeface="Arial" pitchFamily="34" charset="-120"/>
              </a:rPr>
              <a:t>年換算</a:t>
            </a:r>
            <a:endParaRPr lang="en-US" sz="1050" dirty="0"/>
          </a:p>
        </p:txBody>
      </p:sp>
      <p:sp>
        <p:nvSpPr>
          <p:cNvPr id="35" name="Text 33"/>
          <p:cNvSpPr/>
          <p:nvPr/>
        </p:nvSpPr>
        <p:spPr>
          <a:xfrm>
            <a:off x="9692640" y="4892040"/>
            <a:ext cx="1737360" cy="457200"/>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▲103百万円</a:t>
            </a:r>
            <a:endParaRPr lang="en-US" sz="1150" dirty="0"/>
          </a:p>
        </p:txBody>
      </p:sp>
      <p:sp>
        <p:nvSpPr>
          <p:cNvPr id="36" name="Text 34"/>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出典：決算報告書 第54期（2025年9月期）、事業計画202608（銀行様）全社シート</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転換点 － 飲食事業の撤退による固定費削減</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撤退に紐づく費用科目が実際に減少している。削減は計画ではなく実績。</a:t>
            </a:r>
            <a:endParaRPr lang="en-US" sz="1250" dirty="0"/>
          </a:p>
        </p:txBody>
      </p:sp>
      <p:sp>
        <p:nvSpPr>
          <p:cNvPr id="4" name="Shape 2"/>
          <p:cNvSpPr/>
          <p:nvPr/>
        </p:nvSpPr>
        <p:spPr>
          <a:xfrm>
            <a:off x="594360" y="1572768"/>
            <a:ext cx="7680960" cy="402336"/>
          </a:xfrm>
          <a:prstGeom prst="rect">
            <a:avLst/>
          </a:prstGeom>
          <a:solidFill>
            <a:srgbClr val="6D2E46"/>
          </a:solidFill>
          <a:ln/>
        </p:spPr>
      </p:sp>
      <p:sp>
        <p:nvSpPr>
          <p:cNvPr id="5" name="Text 3"/>
          <p:cNvSpPr/>
          <p:nvPr/>
        </p:nvSpPr>
        <p:spPr>
          <a:xfrm>
            <a:off x="777240" y="1572768"/>
            <a:ext cx="292608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Arial" pitchFamily="34" charset="0"/>
                <a:ea typeface="Arial" pitchFamily="34" charset="-122"/>
                <a:cs typeface="Arial" pitchFamily="34" charset="-120"/>
              </a:rPr>
              <a:t>勘定科目（単位：円）</a:t>
            </a:r>
            <a:endParaRPr lang="en-US" sz="950" dirty="0"/>
          </a:p>
        </p:txBody>
      </p:sp>
      <p:sp>
        <p:nvSpPr>
          <p:cNvPr id="6" name="Text 4"/>
          <p:cNvSpPr/>
          <p:nvPr/>
        </p:nvSpPr>
        <p:spPr>
          <a:xfrm>
            <a:off x="3703320" y="1572768"/>
            <a:ext cx="1645920" cy="402336"/>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① 25/10-26/3 月平均</a:t>
            </a:r>
            <a:endParaRPr lang="en-US" sz="950" dirty="0"/>
          </a:p>
        </p:txBody>
      </p:sp>
      <p:sp>
        <p:nvSpPr>
          <p:cNvPr id="7" name="Text 5"/>
          <p:cNvSpPr/>
          <p:nvPr/>
        </p:nvSpPr>
        <p:spPr>
          <a:xfrm>
            <a:off x="5440680" y="1572768"/>
            <a:ext cx="1417320" cy="402336"/>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② 26/4-6 月平均</a:t>
            </a:r>
            <a:endParaRPr lang="en-US" sz="950" dirty="0"/>
          </a:p>
        </p:txBody>
      </p:sp>
      <p:sp>
        <p:nvSpPr>
          <p:cNvPr id="8" name="Text 6"/>
          <p:cNvSpPr/>
          <p:nvPr/>
        </p:nvSpPr>
        <p:spPr>
          <a:xfrm>
            <a:off x="6903720" y="1572768"/>
            <a:ext cx="1234440" cy="402336"/>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差 ②-①</a:t>
            </a:r>
            <a:endParaRPr lang="en-US" sz="950" dirty="0"/>
          </a:p>
        </p:txBody>
      </p:sp>
      <p:sp>
        <p:nvSpPr>
          <p:cNvPr id="9" name="Shape 7"/>
          <p:cNvSpPr/>
          <p:nvPr/>
        </p:nvSpPr>
        <p:spPr>
          <a:xfrm>
            <a:off x="594360" y="1975104"/>
            <a:ext cx="7680960" cy="457200"/>
          </a:xfrm>
          <a:prstGeom prst="rect">
            <a:avLst/>
          </a:prstGeom>
          <a:solidFill>
            <a:srgbClr val="FFFFFF"/>
          </a:solidFill>
          <a:ln w="6350">
            <a:solidFill>
              <a:srgbClr val="DED5CE"/>
            </a:solidFill>
            <a:prstDash val="solid"/>
          </a:ln>
        </p:spPr>
      </p:sp>
      <p:sp>
        <p:nvSpPr>
          <p:cNvPr id="10" name="Text 8"/>
          <p:cNvSpPr/>
          <p:nvPr/>
        </p:nvSpPr>
        <p:spPr>
          <a:xfrm>
            <a:off x="777240" y="1975104"/>
            <a:ext cx="292608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雑給（店舗人件費）</a:t>
            </a:r>
            <a:endParaRPr lang="en-US" sz="1050" dirty="0"/>
          </a:p>
        </p:txBody>
      </p:sp>
      <p:sp>
        <p:nvSpPr>
          <p:cNvPr id="11" name="Text 9"/>
          <p:cNvSpPr/>
          <p:nvPr/>
        </p:nvSpPr>
        <p:spPr>
          <a:xfrm>
            <a:off x="3703320" y="1975104"/>
            <a:ext cx="1645920" cy="457200"/>
          </a:xfrm>
          <a:prstGeom prst="rect">
            <a:avLst/>
          </a:prstGeom>
          <a:noFill/>
          <a:ln/>
        </p:spPr>
        <p:txBody>
          <a:bodyPr wrap="square" lIns="0" tIns="0" rIns="0" bIns="0" rtlCol="0" anchor="ctr"/>
          <a:lstStyle/>
          <a:p>
            <a:pPr algn="r" indent="0" marL="0">
              <a:buNone/>
            </a:pPr>
            <a:r>
              <a:rPr lang="en-US" sz="1050" dirty="0">
                <a:solidFill>
                  <a:srgbClr val="7A6A64"/>
                </a:solidFill>
                <a:latin typeface="Arial" pitchFamily="34" charset="0"/>
                <a:ea typeface="Arial" pitchFamily="34" charset="-122"/>
                <a:cs typeface="Arial" pitchFamily="34" charset="-120"/>
              </a:rPr>
              <a:t>1,976,720</a:t>
            </a:r>
            <a:endParaRPr lang="en-US" sz="1050" dirty="0"/>
          </a:p>
        </p:txBody>
      </p:sp>
      <p:sp>
        <p:nvSpPr>
          <p:cNvPr id="12" name="Text 10"/>
          <p:cNvSpPr/>
          <p:nvPr/>
        </p:nvSpPr>
        <p:spPr>
          <a:xfrm>
            <a:off x="5440680" y="1975104"/>
            <a:ext cx="1417320"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198,075</a:t>
            </a:r>
            <a:endParaRPr lang="en-US" sz="1050" dirty="0"/>
          </a:p>
        </p:txBody>
      </p:sp>
      <p:sp>
        <p:nvSpPr>
          <p:cNvPr id="13" name="Text 11"/>
          <p:cNvSpPr/>
          <p:nvPr/>
        </p:nvSpPr>
        <p:spPr>
          <a:xfrm>
            <a:off x="6903720" y="1975104"/>
            <a:ext cx="1234440" cy="457200"/>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▲1,778,645</a:t>
            </a:r>
            <a:endParaRPr lang="en-US" sz="1050" dirty="0"/>
          </a:p>
        </p:txBody>
      </p:sp>
      <p:sp>
        <p:nvSpPr>
          <p:cNvPr id="14" name="Shape 12"/>
          <p:cNvSpPr/>
          <p:nvPr/>
        </p:nvSpPr>
        <p:spPr>
          <a:xfrm>
            <a:off x="594360" y="2432304"/>
            <a:ext cx="7680960" cy="457200"/>
          </a:xfrm>
          <a:prstGeom prst="rect">
            <a:avLst/>
          </a:prstGeom>
          <a:solidFill>
            <a:srgbClr val="FBF9F7"/>
          </a:solidFill>
          <a:ln w="6350">
            <a:solidFill>
              <a:srgbClr val="DED5CE"/>
            </a:solidFill>
            <a:prstDash val="solid"/>
          </a:ln>
        </p:spPr>
      </p:sp>
      <p:sp>
        <p:nvSpPr>
          <p:cNvPr id="15" name="Text 13"/>
          <p:cNvSpPr/>
          <p:nvPr/>
        </p:nvSpPr>
        <p:spPr>
          <a:xfrm>
            <a:off x="777240" y="2432304"/>
            <a:ext cx="292608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従業員給与</a:t>
            </a:r>
            <a:endParaRPr lang="en-US" sz="1050" dirty="0"/>
          </a:p>
        </p:txBody>
      </p:sp>
      <p:sp>
        <p:nvSpPr>
          <p:cNvPr id="16" name="Text 14"/>
          <p:cNvSpPr/>
          <p:nvPr/>
        </p:nvSpPr>
        <p:spPr>
          <a:xfrm>
            <a:off x="3703320" y="2432304"/>
            <a:ext cx="1645920" cy="457200"/>
          </a:xfrm>
          <a:prstGeom prst="rect">
            <a:avLst/>
          </a:prstGeom>
          <a:noFill/>
          <a:ln/>
        </p:spPr>
        <p:txBody>
          <a:bodyPr wrap="square" lIns="0" tIns="0" rIns="0" bIns="0" rtlCol="0" anchor="ctr"/>
          <a:lstStyle/>
          <a:p>
            <a:pPr algn="r" indent="0" marL="0">
              <a:buNone/>
            </a:pPr>
            <a:r>
              <a:rPr lang="en-US" sz="1050" dirty="0">
                <a:solidFill>
                  <a:srgbClr val="7A6A64"/>
                </a:solidFill>
                <a:latin typeface="Arial" pitchFamily="34" charset="0"/>
                <a:ea typeface="Arial" pitchFamily="34" charset="-122"/>
                <a:cs typeface="Arial" pitchFamily="34" charset="-120"/>
              </a:rPr>
              <a:t>4,877,779</a:t>
            </a:r>
            <a:endParaRPr lang="en-US" sz="1050" dirty="0"/>
          </a:p>
        </p:txBody>
      </p:sp>
      <p:sp>
        <p:nvSpPr>
          <p:cNvPr id="17" name="Text 15"/>
          <p:cNvSpPr/>
          <p:nvPr/>
        </p:nvSpPr>
        <p:spPr>
          <a:xfrm>
            <a:off x="5440680" y="2432304"/>
            <a:ext cx="1417320"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2,844,602</a:t>
            </a:r>
            <a:endParaRPr lang="en-US" sz="1050" dirty="0"/>
          </a:p>
        </p:txBody>
      </p:sp>
      <p:sp>
        <p:nvSpPr>
          <p:cNvPr id="18" name="Text 16"/>
          <p:cNvSpPr/>
          <p:nvPr/>
        </p:nvSpPr>
        <p:spPr>
          <a:xfrm>
            <a:off x="6903720" y="2432304"/>
            <a:ext cx="1234440" cy="457200"/>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▲2,033,177</a:t>
            </a:r>
            <a:endParaRPr lang="en-US" sz="1050" dirty="0"/>
          </a:p>
        </p:txBody>
      </p:sp>
      <p:sp>
        <p:nvSpPr>
          <p:cNvPr id="19" name="Shape 17"/>
          <p:cNvSpPr/>
          <p:nvPr/>
        </p:nvSpPr>
        <p:spPr>
          <a:xfrm>
            <a:off x="594360" y="2889504"/>
            <a:ext cx="7680960" cy="457200"/>
          </a:xfrm>
          <a:prstGeom prst="rect">
            <a:avLst/>
          </a:prstGeom>
          <a:solidFill>
            <a:srgbClr val="FFFFFF"/>
          </a:solidFill>
          <a:ln w="6350">
            <a:solidFill>
              <a:srgbClr val="DED5CE"/>
            </a:solidFill>
            <a:prstDash val="solid"/>
          </a:ln>
        </p:spPr>
      </p:sp>
      <p:sp>
        <p:nvSpPr>
          <p:cNvPr id="20" name="Text 18"/>
          <p:cNvSpPr/>
          <p:nvPr/>
        </p:nvSpPr>
        <p:spPr>
          <a:xfrm>
            <a:off x="777240" y="2889504"/>
            <a:ext cx="292608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倉庫＆保管・移設代</a:t>
            </a:r>
            <a:endParaRPr lang="en-US" sz="1050" dirty="0"/>
          </a:p>
        </p:txBody>
      </p:sp>
      <p:sp>
        <p:nvSpPr>
          <p:cNvPr id="21" name="Text 19"/>
          <p:cNvSpPr/>
          <p:nvPr/>
        </p:nvSpPr>
        <p:spPr>
          <a:xfrm>
            <a:off x="3703320" y="2889504"/>
            <a:ext cx="1645920" cy="457200"/>
          </a:xfrm>
          <a:prstGeom prst="rect">
            <a:avLst/>
          </a:prstGeom>
          <a:noFill/>
          <a:ln/>
        </p:spPr>
        <p:txBody>
          <a:bodyPr wrap="square" lIns="0" tIns="0" rIns="0" bIns="0" rtlCol="0" anchor="ctr"/>
          <a:lstStyle/>
          <a:p>
            <a:pPr algn="r" indent="0" marL="0">
              <a:buNone/>
            </a:pPr>
            <a:r>
              <a:rPr lang="en-US" sz="1050" dirty="0">
                <a:solidFill>
                  <a:srgbClr val="7A6A64"/>
                </a:solidFill>
                <a:latin typeface="Arial" pitchFamily="34" charset="0"/>
                <a:ea typeface="Arial" pitchFamily="34" charset="-122"/>
                <a:cs typeface="Arial" pitchFamily="34" charset="-120"/>
              </a:rPr>
              <a:t>2,578,077</a:t>
            </a:r>
            <a:endParaRPr lang="en-US" sz="1050" dirty="0"/>
          </a:p>
        </p:txBody>
      </p:sp>
      <p:sp>
        <p:nvSpPr>
          <p:cNvPr id="22" name="Text 20"/>
          <p:cNvSpPr/>
          <p:nvPr/>
        </p:nvSpPr>
        <p:spPr>
          <a:xfrm>
            <a:off x="5440680" y="2889504"/>
            <a:ext cx="1417320"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272,484</a:t>
            </a:r>
            <a:endParaRPr lang="en-US" sz="1050" dirty="0"/>
          </a:p>
        </p:txBody>
      </p:sp>
      <p:sp>
        <p:nvSpPr>
          <p:cNvPr id="23" name="Text 21"/>
          <p:cNvSpPr/>
          <p:nvPr/>
        </p:nvSpPr>
        <p:spPr>
          <a:xfrm>
            <a:off x="6903720" y="2889504"/>
            <a:ext cx="1234440" cy="457200"/>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▲2,305,593</a:t>
            </a:r>
            <a:endParaRPr lang="en-US" sz="1050" dirty="0"/>
          </a:p>
        </p:txBody>
      </p:sp>
      <p:sp>
        <p:nvSpPr>
          <p:cNvPr id="24" name="Shape 22"/>
          <p:cNvSpPr/>
          <p:nvPr/>
        </p:nvSpPr>
        <p:spPr>
          <a:xfrm>
            <a:off x="594360" y="3346704"/>
            <a:ext cx="7680960" cy="457200"/>
          </a:xfrm>
          <a:prstGeom prst="rect">
            <a:avLst/>
          </a:prstGeom>
          <a:solidFill>
            <a:srgbClr val="FBF9F7"/>
          </a:solidFill>
          <a:ln w="6350">
            <a:solidFill>
              <a:srgbClr val="DED5CE"/>
            </a:solidFill>
            <a:prstDash val="solid"/>
          </a:ln>
        </p:spPr>
      </p:sp>
      <p:sp>
        <p:nvSpPr>
          <p:cNvPr id="25" name="Text 23"/>
          <p:cNvSpPr/>
          <p:nvPr/>
        </p:nvSpPr>
        <p:spPr>
          <a:xfrm>
            <a:off x="777240" y="3346704"/>
            <a:ext cx="292608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地代家賃（店舗賃料）</a:t>
            </a:r>
            <a:endParaRPr lang="en-US" sz="1050" dirty="0"/>
          </a:p>
        </p:txBody>
      </p:sp>
      <p:sp>
        <p:nvSpPr>
          <p:cNvPr id="26" name="Text 24"/>
          <p:cNvSpPr/>
          <p:nvPr/>
        </p:nvSpPr>
        <p:spPr>
          <a:xfrm>
            <a:off x="3703320" y="3346704"/>
            <a:ext cx="1645920" cy="457200"/>
          </a:xfrm>
          <a:prstGeom prst="rect">
            <a:avLst/>
          </a:prstGeom>
          <a:noFill/>
          <a:ln/>
        </p:spPr>
        <p:txBody>
          <a:bodyPr wrap="square" lIns="0" tIns="0" rIns="0" bIns="0" rtlCol="0" anchor="ctr"/>
          <a:lstStyle/>
          <a:p>
            <a:pPr algn="r" indent="0" marL="0">
              <a:buNone/>
            </a:pPr>
            <a:r>
              <a:rPr lang="en-US" sz="1050" dirty="0">
                <a:solidFill>
                  <a:srgbClr val="7A6A64"/>
                </a:solidFill>
                <a:latin typeface="Arial" pitchFamily="34" charset="0"/>
                <a:ea typeface="Arial" pitchFamily="34" charset="-122"/>
                <a:cs typeface="Arial" pitchFamily="34" charset="-120"/>
              </a:rPr>
              <a:t>5,000,985</a:t>
            </a:r>
            <a:endParaRPr lang="en-US" sz="1050" dirty="0"/>
          </a:p>
        </p:txBody>
      </p:sp>
      <p:sp>
        <p:nvSpPr>
          <p:cNvPr id="27" name="Text 25"/>
          <p:cNvSpPr/>
          <p:nvPr/>
        </p:nvSpPr>
        <p:spPr>
          <a:xfrm>
            <a:off x="5440680" y="3346704"/>
            <a:ext cx="1417320"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3,721,703</a:t>
            </a:r>
            <a:endParaRPr lang="en-US" sz="1050" dirty="0"/>
          </a:p>
        </p:txBody>
      </p:sp>
      <p:sp>
        <p:nvSpPr>
          <p:cNvPr id="28" name="Text 26"/>
          <p:cNvSpPr/>
          <p:nvPr/>
        </p:nvSpPr>
        <p:spPr>
          <a:xfrm>
            <a:off x="6903720" y="3346704"/>
            <a:ext cx="1234440" cy="457200"/>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▲1,279,282</a:t>
            </a:r>
            <a:endParaRPr lang="en-US" sz="1050" dirty="0"/>
          </a:p>
        </p:txBody>
      </p:sp>
      <p:sp>
        <p:nvSpPr>
          <p:cNvPr id="29" name="Shape 27"/>
          <p:cNvSpPr/>
          <p:nvPr/>
        </p:nvSpPr>
        <p:spPr>
          <a:xfrm>
            <a:off x="594360" y="3803904"/>
            <a:ext cx="7680960" cy="457200"/>
          </a:xfrm>
          <a:prstGeom prst="rect">
            <a:avLst/>
          </a:prstGeom>
          <a:solidFill>
            <a:srgbClr val="FFFFFF"/>
          </a:solidFill>
          <a:ln w="6350">
            <a:solidFill>
              <a:srgbClr val="DED5CE"/>
            </a:solidFill>
            <a:prstDash val="solid"/>
          </a:ln>
        </p:spPr>
      </p:sp>
      <p:sp>
        <p:nvSpPr>
          <p:cNvPr id="30" name="Text 28"/>
          <p:cNvSpPr/>
          <p:nvPr/>
        </p:nvSpPr>
        <p:spPr>
          <a:xfrm>
            <a:off x="777240" y="3803904"/>
            <a:ext cx="292608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支払手数料</a:t>
            </a:r>
            <a:endParaRPr lang="en-US" sz="1050" dirty="0"/>
          </a:p>
        </p:txBody>
      </p:sp>
      <p:sp>
        <p:nvSpPr>
          <p:cNvPr id="31" name="Text 29"/>
          <p:cNvSpPr/>
          <p:nvPr/>
        </p:nvSpPr>
        <p:spPr>
          <a:xfrm>
            <a:off x="3703320" y="3803904"/>
            <a:ext cx="1645920" cy="457200"/>
          </a:xfrm>
          <a:prstGeom prst="rect">
            <a:avLst/>
          </a:prstGeom>
          <a:noFill/>
          <a:ln/>
        </p:spPr>
        <p:txBody>
          <a:bodyPr wrap="square" lIns="0" tIns="0" rIns="0" bIns="0" rtlCol="0" anchor="ctr"/>
          <a:lstStyle/>
          <a:p>
            <a:pPr algn="r" indent="0" marL="0">
              <a:buNone/>
            </a:pPr>
            <a:r>
              <a:rPr lang="en-US" sz="1050" dirty="0">
                <a:solidFill>
                  <a:srgbClr val="7A6A64"/>
                </a:solidFill>
                <a:latin typeface="Arial" pitchFamily="34" charset="0"/>
                <a:ea typeface="Arial" pitchFamily="34" charset="-122"/>
                <a:cs typeface="Arial" pitchFamily="34" charset="-120"/>
              </a:rPr>
              <a:t>4,121,789</a:t>
            </a:r>
            <a:endParaRPr lang="en-US" sz="1050" dirty="0"/>
          </a:p>
        </p:txBody>
      </p:sp>
      <p:sp>
        <p:nvSpPr>
          <p:cNvPr id="32" name="Text 30"/>
          <p:cNvSpPr/>
          <p:nvPr/>
        </p:nvSpPr>
        <p:spPr>
          <a:xfrm>
            <a:off x="5440680" y="3803904"/>
            <a:ext cx="1417320"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3,258,950</a:t>
            </a:r>
            <a:endParaRPr lang="en-US" sz="1050" dirty="0"/>
          </a:p>
        </p:txBody>
      </p:sp>
      <p:sp>
        <p:nvSpPr>
          <p:cNvPr id="33" name="Text 31"/>
          <p:cNvSpPr/>
          <p:nvPr/>
        </p:nvSpPr>
        <p:spPr>
          <a:xfrm>
            <a:off x="6903720" y="3803904"/>
            <a:ext cx="1234440" cy="457200"/>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▲862,839</a:t>
            </a:r>
            <a:endParaRPr lang="en-US" sz="1050" dirty="0"/>
          </a:p>
        </p:txBody>
      </p:sp>
      <p:sp>
        <p:nvSpPr>
          <p:cNvPr id="34" name="Shape 32"/>
          <p:cNvSpPr/>
          <p:nvPr/>
        </p:nvSpPr>
        <p:spPr>
          <a:xfrm>
            <a:off x="594360" y="4261104"/>
            <a:ext cx="7680960" cy="457200"/>
          </a:xfrm>
          <a:prstGeom prst="rect">
            <a:avLst/>
          </a:prstGeom>
          <a:solidFill>
            <a:srgbClr val="FBF9F7"/>
          </a:solidFill>
          <a:ln w="6350">
            <a:solidFill>
              <a:srgbClr val="DED5CE"/>
            </a:solidFill>
            <a:prstDash val="solid"/>
          </a:ln>
        </p:spPr>
      </p:sp>
      <p:sp>
        <p:nvSpPr>
          <p:cNvPr id="35" name="Text 33"/>
          <p:cNvSpPr/>
          <p:nvPr/>
        </p:nvSpPr>
        <p:spPr>
          <a:xfrm>
            <a:off x="777240" y="4261104"/>
            <a:ext cx="292608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水道光熱費</a:t>
            </a:r>
            <a:endParaRPr lang="en-US" sz="1050" dirty="0"/>
          </a:p>
        </p:txBody>
      </p:sp>
      <p:sp>
        <p:nvSpPr>
          <p:cNvPr id="36" name="Text 34"/>
          <p:cNvSpPr/>
          <p:nvPr/>
        </p:nvSpPr>
        <p:spPr>
          <a:xfrm>
            <a:off x="3703320" y="4261104"/>
            <a:ext cx="1645920" cy="457200"/>
          </a:xfrm>
          <a:prstGeom prst="rect">
            <a:avLst/>
          </a:prstGeom>
          <a:noFill/>
          <a:ln/>
        </p:spPr>
        <p:txBody>
          <a:bodyPr wrap="square" lIns="0" tIns="0" rIns="0" bIns="0" rtlCol="0" anchor="ctr"/>
          <a:lstStyle/>
          <a:p>
            <a:pPr algn="r" indent="0" marL="0">
              <a:buNone/>
            </a:pPr>
            <a:r>
              <a:rPr lang="en-US" sz="1050" dirty="0">
                <a:solidFill>
                  <a:srgbClr val="7A6A64"/>
                </a:solidFill>
                <a:latin typeface="Arial" pitchFamily="34" charset="0"/>
                <a:ea typeface="Arial" pitchFamily="34" charset="-122"/>
                <a:cs typeface="Arial" pitchFamily="34" charset="-120"/>
              </a:rPr>
              <a:t>974,234</a:t>
            </a:r>
            <a:endParaRPr lang="en-US" sz="1050" dirty="0"/>
          </a:p>
        </p:txBody>
      </p:sp>
      <p:sp>
        <p:nvSpPr>
          <p:cNvPr id="37" name="Text 35"/>
          <p:cNvSpPr/>
          <p:nvPr/>
        </p:nvSpPr>
        <p:spPr>
          <a:xfrm>
            <a:off x="5440680" y="4261104"/>
            <a:ext cx="1417320"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687,496</a:t>
            </a:r>
            <a:endParaRPr lang="en-US" sz="1050" dirty="0"/>
          </a:p>
        </p:txBody>
      </p:sp>
      <p:sp>
        <p:nvSpPr>
          <p:cNvPr id="38" name="Text 36"/>
          <p:cNvSpPr/>
          <p:nvPr/>
        </p:nvSpPr>
        <p:spPr>
          <a:xfrm>
            <a:off x="6903720" y="4261104"/>
            <a:ext cx="1234440" cy="457200"/>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▲286,738</a:t>
            </a:r>
            <a:endParaRPr lang="en-US" sz="1050" dirty="0"/>
          </a:p>
        </p:txBody>
      </p:sp>
      <p:sp>
        <p:nvSpPr>
          <p:cNvPr id="39" name="Shape 37"/>
          <p:cNvSpPr/>
          <p:nvPr/>
        </p:nvSpPr>
        <p:spPr>
          <a:xfrm>
            <a:off x="594360" y="4718304"/>
            <a:ext cx="7680960" cy="457200"/>
          </a:xfrm>
          <a:prstGeom prst="rect">
            <a:avLst/>
          </a:prstGeom>
          <a:solidFill>
            <a:srgbClr val="FFFFFF"/>
          </a:solidFill>
          <a:ln w="6350">
            <a:solidFill>
              <a:srgbClr val="DED5CE"/>
            </a:solidFill>
            <a:prstDash val="solid"/>
          </a:ln>
        </p:spPr>
      </p:sp>
      <p:sp>
        <p:nvSpPr>
          <p:cNvPr id="40" name="Text 38"/>
          <p:cNvSpPr/>
          <p:nvPr/>
        </p:nvSpPr>
        <p:spPr>
          <a:xfrm>
            <a:off x="777240" y="4718304"/>
            <a:ext cx="2926080" cy="457200"/>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清掃費</a:t>
            </a:r>
            <a:endParaRPr lang="en-US" sz="1050" dirty="0"/>
          </a:p>
        </p:txBody>
      </p:sp>
      <p:sp>
        <p:nvSpPr>
          <p:cNvPr id="41" name="Text 39"/>
          <p:cNvSpPr/>
          <p:nvPr/>
        </p:nvSpPr>
        <p:spPr>
          <a:xfrm>
            <a:off x="3703320" y="4718304"/>
            <a:ext cx="1645920" cy="457200"/>
          </a:xfrm>
          <a:prstGeom prst="rect">
            <a:avLst/>
          </a:prstGeom>
          <a:noFill/>
          <a:ln/>
        </p:spPr>
        <p:txBody>
          <a:bodyPr wrap="square" lIns="0" tIns="0" rIns="0" bIns="0" rtlCol="0" anchor="ctr"/>
          <a:lstStyle/>
          <a:p>
            <a:pPr algn="r" indent="0" marL="0">
              <a:buNone/>
            </a:pPr>
            <a:r>
              <a:rPr lang="en-US" sz="1050" dirty="0">
                <a:solidFill>
                  <a:srgbClr val="7A6A64"/>
                </a:solidFill>
                <a:latin typeface="Arial" pitchFamily="34" charset="0"/>
                <a:ea typeface="Arial" pitchFamily="34" charset="-122"/>
                <a:cs typeface="Arial" pitchFamily="34" charset="-120"/>
              </a:rPr>
              <a:t>182,516</a:t>
            </a:r>
            <a:endParaRPr lang="en-US" sz="1050" dirty="0"/>
          </a:p>
        </p:txBody>
      </p:sp>
      <p:sp>
        <p:nvSpPr>
          <p:cNvPr id="42" name="Text 40"/>
          <p:cNvSpPr/>
          <p:nvPr/>
        </p:nvSpPr>
        <p:spPr>
          <a:xfrm>
            <a:off x="5440680" y="4718304"/>
            <a:ext cx="1417320" cy="457200"/>
          </a:xfrm>
          <a:prstGeom prst="rect">
            <a:avLst/>
          </a:prstGeom>
          <a:noFill/>
          <a:ln/>
        </p:spPr>
        <p:txBody>
          <a:bodyPr wrap="square" lIns="0" tIns="0" rIns="0" bIns="0" rtlCol="0" anchor="ctr"/>
          <a:lstStyle/>
          <a:p>
            <a:pPr algn="r" indent="0" marL="0">
              <a:buNone/>
            </a:pPr>
            <a:r>
              <a:rPr lang="en-US" sz="1050" dirty="0">
                <a:solidFill>
                  <a:srgbClr val="2B2B2B"/>
                </a:solidFill>
                <a:latin typeface="Arial" pitchFamily="34" charset="0"/>
                <a:ea typeface="Arial" pitchFamily="34" charset="-122"/>
                <a:cs typeface="Arial" pitchFamily="34" charset="-120"/>
              </a:rPr>
              <a:t>0</a:t>
            </a:r>
            <a:endParaRPr lang="en-US" sz="1050" dirty="0"/>
          </a:p>
        </p:txBody>
      </p:sp>
      <p:sp>
        <p:nvSpPr>
          <p:cNvPr id="43" name="Text 41"/>
          <p:cNvSpPr/>
          <p:nvPr/>
        </p:nvSpPr>
        <p:spPr>
          <a:xfrm>
            <a:off x="6903720" y="4718304"/>
            <a:ext cx="1234440" cy="457200"/>
          </a:xfrm>
          <a:prstGeom prst="rect">
            <a:avLst/>
          </a:prstGeom>
          <a:noFill/>
          <a:ln/>
        </p:spPr>
        <p:txBody>
          <a:bodyPr wrap="square" lIns="0" tIns="0" rIns="0" bIns="0" rtlCol="0" anchor="ctr"/>
          <a:lstStyle/>
          <a:p>
            <a:pPr algn="r" indent="0" marL="0">
              <a:buNone/>
            </a:pPr>
            <a:r>
              <a:rPr lang="en-US" sz="1050" b="1" dirty="0">
                <a:solidFill>
                  <a:srgbClr val="6D2E46"/>
                </a:solidFill>
                <a:latin typeface="Arial" pitchFamily="34" charset="0"/>
                <a:ea typeface="Arial" pitchFamily="34" charset="-122"/>
                <a:cs typeface="Arial" pitchFamily="34" charset="-120"/>
              </a:rPr>
              <a:t>▲182,516</a:t>
            </a:r>
            <a:endParaRPr lang="en-US" sz="1050" dirty="0"/>
          </a:p>
        </p:txBody>
      </p:sp>
      <p:sp>
        <p:nvSpPr>
          <p:cNvPr id="44" name="Shape 42"/>
          <p:cNvSpPr/>
          <p:nvPr/>
        </p:nvSpPr>
        <p:spPr>
          <a:xfrm>
            <a:off x="594360" y="5175504"/>
            <a:ext cx="7680960" cy="475488"/>
          </a:xfrm>
          <a:prstGeom prst="rect">
            <a:avLst/>
          </a:prstGeom>
          <a:solidFill>
            <a:srgbClr val="ECE2D0"/>
          </a:solidFill>
          <a:ln w="12700">
            <a:solidFill>
              <a:srgbClr val="6D2E46"/>
            </a:solidFill>
            <a:prstDash val="solid"/>
          </a:ln>
        </p:spPr>
      </p:sp>
      <p:sp>
        <p:nvSpPr>
          <p:cNvPr id="45" name="Text 43"/>
          <p:cNvSpPr/>
          <p:nvPr/>
        </p:nvSpPr>
        <p:spPr>
          <a:xfrm>
            <a:off x="777240" y="5175504"/>
            <a:ext cx="2926080" cy="475488"/>
          </a:xfrm>
          <a:prstGeom prst="rect">
            <a:avLst/>
          </a:prstGeom>
          <a:noFill/>
          <a:ln/>
        </p:spPr>
        <p:txBody>
          <a:bodyPr wrap="square" lIns="0" tIns="0" rIns="0" bIns="0" rtlCol="0" anchor="ctr"/>
          <a:lstStyle/>
          <a:p>
            <a:pPr indent="0" marL="0">
              <a:buNone/>
            </a:pPr>
            <a:r>
              <a:rPr lang="en-US" sz="1100" b="1" dirty="0">
                <a:solidFill>
                  <a:srgbClr val="2B2B2B"/>
                </a:solidFill>
                <a:latin typeface="Arial" pitchFamily="34" charset="0"/>
                <a:ea typeface="Arial" pitchFamily="34" charset="-122"/>
                <a:cs typeface="Arial" pitchFamily="34" charset="-120"/>
              </a:rPr>
              <a:t>全23科目 合計</a:t>
            </a:r>
            <a:endParaRPr lang="en-US" sz="1100" dirty="0"/>
          </a:p>
        </p:txBody>
      </p:sp>
      <p:sp>
        <p:nvSpPr>
          <p:cNvPr id="46" name="Text 44"/>
          <p:cNvSpPr/>
          <p:nvPr/>
        </p:nvSpPr>
        <p:spPr>
          <a:xfrm>
            <a:off x="3703320" y="5175504"/>
            <a:ext cx="1645920" cy="475488"/>
          </a:xfrm>
          <a:prstGeom prst="rect">
            <a:avLst/>
          </a:prstGeom>
          <a:noFill/>
          <a:ln/>
        </p:spPr>
        <p:txBody>
          <a:bodyPr wrap="square" lIns="0" tIns="0" rIns="0" bIns="0" rtlCol="0" anchor="ctr"/>
          <a:lstStyle/>
          <a:p>
            <a:pPr algn="r" indent="0" marL="0">
              <a:buNone/>
            </a:pPr>
            <a:r>
              <a:rPr lang="en-US" sz="1100" b="1" dirty="0">
                <a:solidFill>
                  <a:srgbClr val="7A6A64"/>
                </a:solidFill>
                <a:latin typeface="Arial" pitchFamily="34" charset="0"/>
                <a:ea typeface="Arial" pitchFamily="34" charset="-122"/>
                <a:cs typeface="Arial" pitchFamily="34" charset="-120"/>
              </a:rPr>
              <a:t>33,590,696</a:t>
            </a:r>
            <a:endParaRPr lang="en-US" sz="1100" dirty="0"/>
          </a:p>
        </p:txBody>
      </p:sp>
      <p:sp>
        <p:nvSpPr>
          <p:cNvPr id="47" name="Text 45"/>
          <p:cNvSpPr/>
          <p:nvPr/>
        </p:nvSpPr>
        <p:spPr>
          <a:xfrm>
            <a:off x="5440680" y="5175504"/>
            <a:ext cx="1417320" cy="475488"/>
          </a:xfrm>
          <a:prstGeom prst="rect">
            <a:avLst/>
          </a:prstGeom>
          <a:noFill/>
          <a:ln/>
        </p:spPr>
        <p:txBody>
          <a:bodyPr wrap="square" lIns="0" tIns="0" rIns="0" bIns="0" rtlCol="0" anchor="ctr"/>
          <a:lstStyle/>
          <a:p>
            <a:pPr algn="r" indent="0" marL="0">
              <a:buNone/>
            </a:pPr>
            <a:r>
              <a:rPr lang="en-US" sz="1100" b="1" dirty="0">
                <a:solidFill>
                  <a:srgbClr val="2B2B2B"/>
                </a:solidFill>
                <a:latin typeface="Arial" pitchFamily="34" charset="0"/>
                <a:ea typeface="Arial" pitchFamily="34" charset="-122"/>
                <a:cs typeface="Arial" pitchFamily="34" charset="-120"/>
              </a:rPr>
              <a:t>25,013,422</a:t>
            </a:r>
            <a:endParaRPr lang="en-US" sz="1100" dirty="0"/>
          </a:p>
        </p:txBody>
      </p:sp>
      <p:sp>
        <p:nvSpPr>
          <p:cNvPr id="48" name="Text 46"/>
          <p:cNvSpPr/>
          <p:nvPr/>
        </p:nvSpPr>
        <p:spPr>
          <a:xfrm>
            <a:off x="6903720" y="5175504"/>
            <a:ext cx="1234440" cy="475488"/>
          </a:xfrm>
          <a:prstGeom prst="rect">
            <a:avLst/>
          </a:prstGeom>
          <a:noFill/>
          <a:ln/>
        </p:spPr>
        <p:txBody>
          <a:bodyPr wrap="square" lIns="0" tIns="0" rIns="0" bIns="0" rtlCol="0" anchor="ctr"/>
          <a:lstStyle/>
          <a:p>
            <a:pPr algn="r" indent="0" marL="0">
              <a:buNone/>
            </a:pPr>
            <a:r>
              <a:rPr lang="en-US" sz="1100" b="1" dirty="0">
                <a:solidFill>
                  <a:srgbClr val="6D2E46"/>
                </a:solidFill>
                <a:latin typeface="Arial" pitchFamily="34" charset="0"/>
                <a:ea typeface="Arial" pitchFamily="34" charset="-122"/>
                <a:cs typeface="Arial" pitchFamily="34" charset="-120"/>
              </a:rPr>
              <a:t>▲8,577,274</a:t>
            </a:r>
            <a:endParaRPr lang="en-US" sz="1100" dirty="0"/>
          </a:p>
        </p:txBody>
      </p:sp>
      <p:sp>
        <p:nvSpPr>
          <p:cNvPr id="49" name="Shape 47"/>
          <p:cNvSpPr/>
          <p:nvPr/>
        </p:nvSpPr>
        <p:spPr>
          <a:xfrm>
            <a:off x="8641080" y="1572768"/>
            <a:ext cx="2926080" cy="2148840"/>
          </a:xfrm>
          <a:prstGeom prst="roundRect">
            <a:avLst>
              <a:gd name="adj" fmla="val 2553"/>
            </a:avLst>
          </a:prstGeom>
          <a:solidFill>
            <a:srgbClr val="6D2E46"/>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0" name="Text 48"/>
          <p:cNvSpPr/>
          <p:nvPr/>
        </p:nvSpPr>
        <p:spPr>
          <a:xfrm>
            <a:off x="8823960" y="1828800"/>
            <a:ext cx="2560320" cy="274320"/>
          </a:xfrm>
          <a:prstGeom prst="rect">
            <a:avLst/>
          </a:prstGeom>
          <a:noFill/>
          <a:ln/>
        </p:spPr>
        <p:txBody>
          <a:bodyPr wrap="square" lIns="0" tIns="0" rIns="0" bIns="0" rtlCol="0" anchor="ctr"/>
          <a:lstStyle/>
          <a:p>
            <a:pPr algn="ctr" indent="0" marL="0">
              <a:buNone/>
            </a:pPr>
            <a:r>
              <a:rPr lang="en-US" sz="1100" dirty="0">
                <a:solidFill>
                  <a:srgbClr val="ECE2D0"/>
                </a:solidFill>
                <a:latin typeface="Arial" pitchFamily="34" charset="0"/>
                <a:ea typeface="Arial" pitchFamily="34" charset="-122"/>
                <a:cs typeface="Arial" pitchFamily="34" charset="-120"/>
              </a:rPr>
              <a:t>年間削減額</a:t>
            </a:r>
            <a:endParaRPr lang="en-US" sz="1100" dirty="0"/>
          </a:p>
        </p:txBody>
      </p:sp>
      <p:sp>
        <p:nvSpPr>
          <p:cNvPr id="51" name="Text 49"/>
          <p:cNvSpPr/>
          <p:nvPr/>
        </p:nvSpPr>
        <p:spPr>
          <a:xfrm>
            <a:off x="8823960" y="2121408"/>
            <a:ext cx="2560320" cy="73152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▲103</a:t>
            </a:r>
            <a:endParaRPr lang="en-US" sz="4000" dirty="0"/>
          </a:p>
        </p:txBody>
      </p:sp>
      <p:sp>
        <p:nvSpPr>
          <p:cNvPr id="52" name="Text 50"/>
          <p:cNvSpPr/>
          <p:nvPr/>
        </p:nvSpPr>
        <p:spPr>
          <a:xfrm>
            <a:off x="8823960" y="2852928"/>
            <a:ext cx="2560320" cy="274320"/>
          </a:xfrm>
          <a:prstGeom prst="rect">
            <a:avLst/>
          </a:prstGeom>
          <a:noFill/>
          <a:ln/>
        </p:spPr>
        <p:txBody>
          <a:bodyPr wrap="square" lIns="0" tIns="0" rIns="0" bIns="0" rtlCol="0" anchor="ctr"/>
          <a:lstStyle/>
          <a:p>
            <a:pPr algn="ctr" indent="0" marL="0">
              <a:buNone/>
            </a:pPr>
            <a:r>
              <a:rPr lang="en-US" sz="1200" dirty="0">
                <a:solidFill>
                  <a:srgbClr val="ECE2D0"/>
                </a:solidFill>
                <a:latin typeface="Arial" pitchFamily="34" charset="0"/>
                <a:ea typeface="Arial" pitchFamily="34" charset="-122"/>
                <a:cs typeface="Arial" pitchFamily="34" charset="-120"/>
              </a:rPr>
              <a:t>百万円</a:t>
            </a:r>
            <a:endParaRPr lang="en-US" sz="1200" dirty="0"/>
          </a:p>
        </p:txBody>
      </p:sp>
      <p:sp>
        <p:nvSpPr>
          <p:cNvPr id="53" name="Text 51"/>
          <p:cNvSpPr/>
          <p:nvPr/>
        </p:nvSpPr>
        <p:spPr>
          <a:xfrm>
            <a:off x="8823960" y="3200400"/>
            <a:ext cx="2560320" cy="274320"/>
          </a:xfrm>
          <a:prstGeom prst="rect">
            <a:avLst/>
          </a:prstGeom>
          <a:noFill/>
          <a:ln/>
        </p:spPr>
        <p:txBody>
          <a:bodyPr wrap="square" lIns="0" tIns="0" rIns="0" bIns="0" rtlCol="0" anchor="ctr"/>
          <a:lstStyle/>
          <a:p>
            <a:pPr algn="ctr" indent="0" marL="0">
              <a:buNone/>
            </a:pPr>
            <a:r>
              <a:rPr lang="en-US" sz="950" dirty="0">
                <a:solidFill>
                  <a:srgbClr val="ECE2D0"/>
                </a:solidFill>
                <a:latin typeface="Arial" pitchFamily="34" charset="0"/>
                <a:ea typeface="Arial" pitchFamily="34" charset="-122"/>
                <a:cs typeface="Arial" pitchFamily="34" charset="-120"/>
              </a:rPr>
              <a:t>月▲8.58百万円 × 12か月</a:t>
            </a:r>
            <a:endParaRPr lang="en-US" sz="950" dirty="0"/>
          </a:p>
        </p:txBody>
      </p:sp>
      <p:sp>
        <p:nvSpPr>
          <p:cNvPr id="54" name="Shape 52"/>
          <p:cNvSpPr/>
          <p:nvPr/>
        </p:nvSpPr>
        <p:spPr>
          <a:xfrm>
            <a:off x="8641080" y="3886200"/>
            <a:ext cx="2926080" cy="1920240"/>
          </a:xfrm>
          <a:prstGeom prst="roundRect">
            <a:avLst>
              <a:gd name="adj" fmla="val 285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5" name="Text 53"/>
          <p:cNvSpPr/>
          <p:nvPr/>
        </p:nvSpPr>
        <p:spPr>
          <a:xfrm>
            <a:off x="8823960" y="4069080"/>
            <a:ext cx="2560320" cy="274320"/>
          </a:xfrm>
          <a:prstGeom prst="rect">
            <a:avLst/>
          </a:prstGeom>
          <a:noFill/>
          <a:ln/>
        </p:spPr>
        <p:txBody>
          <a:bodyPr wrap="square" lIns="0" tIns="0" rIns="0" bIns="0" rtlCol="0" anchor="ctr"/>
          <a:lstStyle/>
          <a:p>
            <a:pPr indent="0" marL="0">
              <a:buNone/>
            </a:pPr>
            <a:r>
              <a:rPr lang="en-US" sz="1100" b="1" dirty="0">
                <a:solidFill>
                  <a:srgbClr val="6D2E46"/>
                </a:solidFill>
                <a:latin typeface="Arial" pitchFamily="34" charset="0"/>
                <a:ea typeface="Arial" pitchFamily="34" charset="-122"/>
                <a:cs typeface="Arial" pitchFamily="34" charset="-120"/>
              </a:rPr>
              <a:t>撤退が確認できる点</a:t>
            </a:r>
            <a:endParaRPr lang="en-US" sz="1100" dirty="0"/>
          </a:p>
        </p:txBody>
      </p:sp>
      <p:sp>
        <p:nvSpPr>
          <p:cNvPr id="56" name="Text 54"/>
          <p:cNvSpPr/>
          <p:nvPr/>
        </p:nvSpPr>
        <p:spPr>
          <a:xfrm>
            <a:off x="8823960" y="4370832"/>
            <a:ext cx="2560320" cy="1280160"/>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2B2B2B"/>
                </a:solidFill>
                <a:latin typeface="Arial" pitchFamily="34" charset="0"/>
                <a:ea typeface="Arial" pitchFamily="34" charset="-122"/>
                <a:cs typeface="Arial" pitchFamily="34" charset="-120"/>
              </a:rPr>
              <a:t>清掃費が完全にゼロ</a:t>
            </a:r>
            <a:endParaRPr lang="en-US" sz="1050" dirty="0"/>
          </a:p>
          <a:p>
            <a:pPr marL="342900" indent="-342900">
              <a:spcAft>
                <a:spcPts val="400"/>
              </a:spcAft>
              <a:buSzPct val="100000"/>
              <a:buChar char="•"/>
            </a:pPr>
            <a:r>
              <a:rPr lang="en-US" sz="1050" dirty="0">
                <a:solidFill>
                  <a:srgbClr val="2B2B2B"/>
                </a:solidFill>
                <a:latin typeface="Arial" pitchFamily="34" charset="0"/>
                <a:ea typeface="Arial" pitchFamily="34" charset="-122"/>
                <a:cs typeface="Arial" pitchFamily="34" charset="-120"/>
              </a:rPr>
              <a:t>雑給が90%減</a:t>
            </a:r>
            <a:endParaRPr lang="en-US" sz="1050" dirty="0"/>
          </a:p>
          <a:p>
            <a:pPr marL="342900" indent="-342900">
              <a:spcAft>
                <a:spcPts val="400"/>
              </a:spcAft>
              <a:buSzPct val="100000"/>
              <a:buChar char="•"/>
            </a:pPr>
            <a:r>
              <a:rPr lang="en-US" sz="1050" dirty="0">
                <a:solidFill>
                  <a:srgbClr val="2B2B2B"/>
                </a:solidFill>
                <a:latin typeface="Arial" pitchFamily="34" charset="0"/>
                <a:ea typeface="Arial" pitchFamily="34" charset="-122"/>
                <a:cs typeface="Arial" pitchFamily="34" charset="-120"/>
              </a:rPr>
              <a:t>店舗賃料の減少</a:t>
            </a:r>
            <a:endParaRPr lang="en-US" sz="1050" dirty="0"/>
          </a:p>
          <a:p>
            <a:pPr marL="342900" indent="-342900">
              <a:spcAft>
                <a:spcPts val="400"/>
              </a:spcAft>
              <a:buSzPct val="100000"/>
              <a:buChar char="•"/>
            </a:pPr>
            <a:r>
              <a:rPr lang="en-US" sz="1050" dirty="0">
                <a:solidFill>
                  <a:srgbClr val="2B2B2B"/>
                </a:solidFill>
                <a:latin typeface="Arial" pitchFamily="34" charset="0"/>
                <a:ea typeface="Arial" pitchFamily="34" charset="-122"/>
                <a:cs typeface="Arial" pitchFamily="34" charset="-120"/>
              </a:rPr>
              <a:t>倉庫移設の完了</a:t>
            </a:r>
            <a:endParaRPr lang="en-US" sz="1050" dirty="0"/>
          </a:p>
        </p:txBody>
      </p:sp>
      <p:sp>
        <p:nvSpPr>
          <p:cNvPr id="57" name="Text 5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出典：事業計画202608（銀行様）全社シート 販管費内訳（全23科目の月次実績）</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販管費の月次推移 － 削減は実行済み</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2026年3月をピークに、2026年6月は▲36.4%。以降はこの水準を横ばいで計画している。</a:t>
            </a:r>
            <a:endParaRPr lang="en-US" sz="1250" dirty="0"/>
          </a:p>
        </p:txBody>
      </p:sp>
      <p:graphicFrame>
        <p:nvGraphicFramePr>
          <p:cNvPr id="4" name="Chart 0" descr=""/>
          <p:cNvGraphicFramePr/>
          <p:nvPr/>
        </p:nvGraphicFramePr>
        <p:xfrm>
          <a:off x="594360" y="1481328"/>
          <a:ext cx="7772400" cy="41148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686800" y="1481328"/>
            <a:ext cx="2880360" cy="1920240"/>
          </a:xfrm>
          <a:prstGeom prst="roundRect">
            <a:avLst>
              <a:gd name="adj" fmla="val 2857"/>
            </a:avLst>
          </a:prstGeom>
          <a:solidFill>
            <a:srgbClr val="6D2E46"/>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6" name="Text 3"/>
          <p:cNvSpPr/>
          <p:nvPr/>
        </p:nvSpPr>
        <p:spPr>
          <a:xfrm>
            <a:off x="8869680" y="1691640"/>
            <a:ext cx="2514600" cy="274320"/>
          </a:xfrm>
          <a:prstGeom prst="rect">
            <a:avLst/>
          </a:prstGeom>
          <a:noFill/>
          <a:ln/>
        </p:spPr>
        <p:txBody>
          <a:bodyPr wrap="square" lIns="0" tIns="0" rIns="0" bIns="0" rtlCol="0" anchor="ctr"/>
          <a:lstStyle/>
          <a:p>
            <a:pPr algn="ctr" indent="0" marL="0">
              <a:buNone/>
            </a:pPr>
            <a:r>
              <a:rPr lang="en-US" sz="1100" dirty="0">
                <a:solidFill>
                  <a:srgbClr val="ECE2D0"/>
                </a:solidFill>
                <a:latin typeface="Arial" pitchFamily="34" charset="0"/>
                <a:ea typeface="Arial" pitchFamily="34" charset="-122"/>
                <a:cs typeface="Arial" pitchFamily="34" charset="-120"/>
              </a:rPr>
              <a:t>ピーク → 直近</a:t>
            </a:r>
            <a:endParaRPr lang="en-US" sz="1100" dirty="0"/>
          </a:p>
        </p:txBody>
      </p:sp>
      <p:sp>
        <p:nvSpPr>
          <p:cNvPr id="7" name="Text 4"/>
          <p:cNvSpPr/>
          <p:nvPr/>
        </p:nvSpPr>
        <p:spPr>
          <a:xfrm>
            <a:off x="8869680" y="1965960"/>
            <a:ext cx="2514600" cy="685800"/>
          </a:xfrm>
          <a:prstGeom prst="rect">
            <a:avLst/>
          </a:prstGeom>
          <a:noFill/>
          <a:ln/>
        </p:spPr>
        <p:txBody>
          <a:bodyPr wrap="square" lIns="0" tIns="0" rIns="0" bIns="0" rtlCol="0" anchor="ctr"/>
          <a:lstStyle/>
          <a:p>
            <a:pPr algn="ctr" indent="0" marL="0">
              <a:buNone/>
            </a:pPr>
            <a:r>
              <a:rPr lang="en-US" sz="3600" b="1" dirty="0">
                <a:solidFill>
                  <a:srgbClr val="FFFFFF"/>
                </a:solidFill>
                <a:latin typeface="Cambria" pitchFamily="34" charset="0"/>
                <a:ea typeface="Cambria" pitchFamily="34" charset="-122"/>
                <a:cs typeface="Cambria" pitchFamily="34" charset="-120"/>
              </a:rPr>
              <a:t>▲36.4%</a:t>
            </a:r>
            <a:endParaRPr lang="en-US" sz="3600" dirty="0"/>
          </a:p>
        </p:txBody>
      </p:sp>
      <p:sp>
        <p:nvSpPr>
          <p:cNvPr id="8" name="Text 5"/>
          <p:cNvSpPr/>
          <p:nvPr/>
        </p:nvSpPr>
        <p:spPr>
          <a:xfrm>
            <a:off x="8869680" y="2670048"/>
            <a:ext cx="2514600" cy="548640"/>
          </a:xfrm>
          <a:prstGeom prst="rect">
            <a:avLst/>
          </a:prstGeom>
          <a:noFill/>
          <a:ln/>
        </p:spPr>
        <p:txBody>
          <a:bodyPr wrap="square" lIns="0" tIns="0" rIns="0" bIns="0" rtlCol="0" anchor="ctr"/>
          <a:lstStyle/>
          <a:p>
            <a:pPr algn="ctr" indent="0" marL="0">
              <a:buNone/>
            </a:pPr>
            <a:r>
              <a:rPr lang="en-US" sz="1050" dirty="0">
                <a:solidFill>
                  <a:srgbClr val="ECE2D0"/>
                </a:solidFill>
                <a:latin typeface="Arial" pitchFamily="34" charset="0"/>
                <a:ea typeface="Arial" pitchFamily="34" charset="-122"/>
                <a:cs typeface="Arial" pitchFamily="34" charset="-120"/>
              </a:rPr>
              <a:t>38.7百万円（26/3）</a:t>
            </a:r>
            <a:endParaRPr lang="en-US" sz="1050" dirty="0"/>
          </a:p>
          <a:p>
            <a:pPr algn="ctr" indent="0" marL="0">
              <a:buNone/>
            </a:pPr>
            <a:r>
              <a:rPr lang="en-US" sz="1050" dirty="0">
                <a:solidFill>
                  <a:srgbClr val="ECE2D0"/>
                </a:solidFill>
                <a:latin typeface="Arial" pitchFamily="34" charset="0"/>
                <a:ea typeface="Arial" pitchFamily="34" charset="-122"/>
                <a:cs typeface="Arial" pitchFamily="34" charset="-120"/>
              </a:rPr>
              <a:t>→ 24.6百万円（26/6）</a:t>
            </a:r>
            <a:endParaRPr lang="en-US" sz="1050" dirty="0"/>
          </a:p>
        </p:txBody>
      </p:sp>
      <p:sp>
        <p:nvSpPr>
          <p:cNvPr id="9" name="Shape 6"/>
          <p:cNvSpPr/>
          <p:nvPr/>
        </p:nvSpPr>
        <p:spPr>
          <a:xfrm>
            <a:off x="8686800" y="3566160"/>
            <a:ext cx="2880360" cy="2029968"/>
          </a:xfrm>
          <a:prstGeom prst="roundRect">
            <a:avLst>
              <a:gd name="adj" fmla="val 270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0" name="Text 7"/>
          <p:cNvSpPr/>
          <p:nvPr/>
        </p:nvSpPr>
        <p:spPr>
          <a:xfrm>
            <a:off x="8869680" y="3749040"/>
            <a:ext cx="2514600" cy="274320"/>
          </a:xfrm>
          <a:prstGeom prst="rect">
            <a:avLst/>
          </a:prstGeom>
          <a:noFill/>
          <a:ln/>
        </p:spPr>
        <p:txBody>
          <a:bodyPr wrap="square" lIns="0" tIns="0" rIns="0" bIns="0" rtlCol="0" anchor="ctr"/>
          <a:lstStyle/>
          <a:p>
            <a:pPr indent="0" marL="0">
              <a:buNone/>
            </a:pPr>
            <a:r>
              <a:rPr lang="en-US" sz="1100" b="1" dirty="0">
                <a:solidFill>
                  <a:srgbClr val="6D2E46"/>
                </a:solidFill>
                <a:latin typeface="Arial" pitchFamily="34" charset="0"/>
                <a:ea typeface="Arial" pitchFamily="34" charset="-122"/>
                <a:cs typeface="Arial" pitchFamily="34" charset="-120"/>
              </a:rPr>
              <a:t>計画の前提</a:t>
            </a:r>
            <a:endParaRPr lang="en-US" sz="1100" dirty="0"/>
          </a:p>
        </p:txBody>
      </p:sp>
      <p:sp>
        <p:nvSpPr>
          <p:cNvPr id="11" name="Text 8"/>
          <p:cNvSpPr/>
          <p:nvPr/>
        </p:nvSpPr>
        <p:spPr>
          <a:xfrm>
            <a:off x="8869680" y="4041648"/>
            <a:ext cx="2514600" cy="1371600"/>
          </a:xfrm>
          <a:prstGeom prst="rect">
            <a:avLst/>
          </a:prstGeom>
          <a:noFill/>
          <a:ln/>
        </p:spPr>
        <p:txBody>
          <a:bodyPr wrap="square" lIns="0" tIns="0" rIns="0" bIns="0" rtlCol="0" anchor="t"/>
          <a:lstStyle/>
          <a:p>
            <a:pPr indent="0" marL="0">
              <a:buNone/>
            </a:pPr>
            <a:r>
              <a:rPr lang="en-US" sz="1050" dirty="0">
                <a:solidFill>
                  <a:srgbClr val="2B2B2B"/>
                </a:solidFill>
                <a:latin typeface="Arial" pitchFamily="34" charset="0"/>
                <a:ea typeface="Arial" pitchFamily="34" charset="-122"/>
                <a:cs typeface="Arial" pitchFamily="34" charset="-120"/>
              </a:rPr>
              <a:t>FY2027の販管費は、2026年4-6月の実績平均 25.0百万円/月をそのまま横ばいで置いています。さらなる削減は織り込んでいません。</a:t>
            </a:r>
            <a:endParaRPr lang="en-US" sz="1050" dirty="0"/>
          </a:p>
        </p:txBody>
      </p:sp>
      <p:sp>
        <p:nvSpPr>
          <p:cNvPr id="12" name="Text 9"/>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出典：事業計画202608（銀行様）全社シート。2026/07以降は見込値のため本グラフから除外。</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撤退後の実力値 － 2026年4-6月の月次平均</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この3か月が、飲食撤退後のWineBank単体の実力です。FY2027はここを起点にしています。（単位：円）</a:t>
            </a:r>
            <a:endParaRPr lang="en-US" sz="1250" dirty="0"/>
          </a:p>
        </p:txBody>
      </p:sp>
      <p:sp>
        <p:nvSpPr>
          <p:cNvPr id="4" name="Shape 2"/>
          <p:cNvSpPr/>
          <p:nvPr/>
        </p:nvSpPr>
        <p:spPr>
          <a:xfrm>
            <a:off x="594360" y="1554480"/>
            <a:ext cx="5943600" cy="676656"/>
          </a:xfrm>
          <a:prstGeom prst="roundRect">
            <a:avLst>
              <a:gd name="adj" fmla="val 675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 name="Text 3"/>
          <p:cNvSpPr/>
          <p:nvPr/>
        </p:nvSpPr>
        <p:spPr>
          <a:xfrm>
            <a:off x="868680" y="1554480"/>
            <a:ext cx="2194560" cy="676656"/>
          </a:xfrm>
          <a:prstGeom prst="rect">
            <a:avLst/>
          </a:prstGeom>
          <a:noFill/>
          <a:ln/>
        </p:spPr>
        <p:txBody>
          <a:bodyPr wrap="square" lIns="0" tIns="0" rIns="0" bIns="0" rtlCol="0" anchor="ctr"/>
          <a:lstStyle/>
          <a:p>
            <a:pPr indent="0" marL="0">
              <a:buNone/>
            </a:pPr>
            <a:r>
              <a:rPr lang="en-US" sz="1300" dirty="0">
                <a:solidFill>
                  <a:srgbClr val="2B2B2B"/>
                </a:solidFill>
                <a:latin typeface="Arial" pitchFamily="34" charset="0"/>
                <a:ea typeface="Arial" pitchFamily="34" charset="-122"/>
                <a:cs typeface="Arial" pitchFamily="34" charset="-120"/>
              </a:rPr>
              <a:t>売上</a:t>
            </a:r>
            <a:endParaRPr lang="en-US" sz="1300" dirty="0"/>
          </a:p>
        </p:txBody>
      </p:sp>
      <p:sp>
        <p:nvSpPr>
          <p:cNvPr id="6" name="Text 4"/>
          <p:cNvSpPr/>
          <p:nvPr/>
        </p:nvSpPr>
        <p:spPr>
          <a:xfrm>
            <a:off x="3063240" y="1554480"/>
            <a:ext cx="2194560" cy="676656"/>
          </a:xfrm>
          <a:prstGeom prst="rect">
            <a:avLst/>
          </a:prstGeom>
          <a:noFill/>
          <a:ln/>
        </p:spPr>
        <p:txBody>
          <a:bodyPr wrap="square" lIns="0" tIns="0" rIns="0" bIns="0" rtlCol="0" anchor="ctr"/>
          <a:lstStyle/>
          <a:p>
            <a:pPr algn="r" indent="0" marL="0">
              <a:buNone/>
            </a:pPr>
            <a:r>
              <a:rPr lang="en-US" sz="1600" b="1" dirty="0">
                <a:solidFill>
                  <a:srgbClr val="6D2E46"/>
                </a:solidFill>
                <a:latin typeface="Cambria" pitchFamily="34" charset="0"/>
                <a:ea typeface="Cambria" pitchFamily="34" charset="-122"/>
                <a:cs typeface="Cambria" pitchFamily="34" charset="-120"/>
              </a:rPr>
              <a:t>32,428,397</a:t>
            </a:r>
            <a:endParaRPr lang="en-US" sz="1600" dirty="0"/>
          </a:p>
        </p:txBody>
      </p:sp>
      <p:sp>
        <p:nvSpPr>
          <p:cNvPr id="7" name="Text 5"/>
          <p:cNvSpPr/>
          <p:nvPr/>
        </p:nvSpPr>
        <p:spPr>
          <a:xfrm>
            <a:off x="5349240" y="1554480"/>
            <a:ext cx="1005840" cy="676656"/>
          </a:xfrm>
          <a:prstGeom prst="rect">
            <a:avLst/>
          </a:prstGeom>
          <a:noFill/>
          <a:ln/>
        </p:spPr>
        <p:txBody>
          <a:bodyPr wrap="square" lIns="0" tIns="0" rIns="0" bIns="0" rtlCol="0" anchor="ctr"/>
          <a:lstStyle/>
          <a:p>
            <a:pPr algn="r" indent="0" marL="0">
              <a:buNone/>
            </a:pPr>
            <a:endParaRPr lang="en-US" sz="950" dirty="0"/>
          </a:p>
        </p:txBody>
      </p:sp>
      <p:sp>
        <p:nvSpPr>
          <p:cNvPr id="8" name="Shape 6"/>
          <p:cNvSpPr/>
          <p:nvPr/>
        </p:nvSpPr>
        <p:spPr>
          <a:xfrm>
            <a:off x="594360" y="2340864"/>
            <a:ext cx="5943600" cy="676656"/>
          </a:xfrm>
          <a:prstGeom prst="roundRect">
            <a:avLst>
              <a:gd name="adj" fmla="val 675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9" name="Text 7"/>
          <p:cNvSpPr/>
          <p:nvPr/>
        </p:nvSpPr>
        <p:spPr>
          <a:xfrm>
            <a:off x="868680" y="2340864"/>
            <a:ext cx="2194560" cy="676656"/>
          </a:xfrm>
          <a:prstGeom prst="rect">
            <a:avLst/>
          </a:prstGeom>
          <a:noFill/>
          <a:ln/>
        </p:spPr>
        <p:txBody>
          <a:bodyPr wrap="square" lIns="0" tIns="0" rIns="0" bIns="0" rtlCol="0" anchor="ctr"/>
          <a:lstStyle/>
          <a:p>
            <a:pPr indent="0" marL="0">
              <a:buNone/>
            </a:pPr>
            <a:r>
              <a:rPr lang="en-US" sz="1300" dirty="0">
                <a:solidFill>
                  <a:srgbClr val="2B2B2B"/>
                </a:solidFill>
                <a:latin typeface="Arial" pitchFamily="34" charset="0"/>
                <a:ea typeface="Arial" pitchFamily="34" charset="-122"/>
                <a:cs typeface="Arial" pitchFamily="34" charset="-120"/>
              </a:rPr>
              <a:t>売上原価</a:t>
            </a:r>
            <a:endParaRPr lang="en-US" sz="1300" dirty="0"/>
          </a:p>
        </p:txBody>
      </p:sp>
      <p:sp>
        <p:nvSpPr>
          <p:cNvPr id="10" name="Text 8"/>
          <p:cNvSpPr/>
          <p:nvPr/>
        </p:nvSpPr>
        <p:spPr>
          <a:xfrm>
            <a:off x="3063240" y="2340864"/>
            <a:ext cx="2194560" cy="676656"/>
          </a:xfrm>
          <a:prstGeom prst="rect">
            <a:avLst/>
          </a:prstGeom>
          <a:noFill/>
          <a:ln/>
        </p:spPr>
        <p:txBody>
          <a:bodyPr wrap="square" lIns="0" tIns="0" rIns="0" bIns="0" rtlCol="0" anchor="ctr"/>
          <a:lstStyle/>
          <a:p>
            <a:pPr algn="r" indent="0" marL="0">
              <a:buNone/>
            </a:pPr>
            <a:r>
              <a:rPr lang="en-US" sz="1600" b="1" dirty="0">
                <a:solidFill>
                  <a:srgbClr val="6D2E46"/>
                </a:solidFill>
                <a:latin typeface="Cambria" pitchFamily="34" charset="0"/>
                <a:ea typeface="Cambria" pitchFamily="34" charset="-122"/>
                <a:cs typeface="Cambria" pitchFamily="34" charset="-120"/>
              </a:rPr>
              <a:t>▲15,711,570</a:t>
            </a:r>
            <a:endParaRPr lang="en-US" sz="1600" dirty="0"/>
          </a:p>
        </p:txBody>
      </p:sp>
      <p:sp>
        <p:nvSpPr>
          <p:cNvPr id="11" name="Text 9"/>
          <p:cNvSpPr/>
          <p:nvPr/>
        </p:nvSpPr>
        <p:spPr>
          <a:xfrm>
            <a:off x="5349240" y="2340864"/>
            <a:ext cx="1005840" cy="676656"/>
          </a:xfrm>
          <a:prstGeom prst="rect">
            <a:avLst/>
          </a:prstGeom>
          <a:noFill/>
          <a:ln/>
        </p:spPr>
        <p:txBody>
          <a:bodyPr wrap="square" lIns="0" tIns="0" rIns="0" bIns="0" rtlCol="0" anchor="ctr"/>
          <a:lstStyle/>
          <a:p>
            <a:pPr algn="r" indent="0" marL="0">
              <a:buNone/>
            </a:pPr>
            <a:endParaRPr lang="en-US" sz="950" dirty="0"/>
          </a:p>
        </p:txBody>
      </p:sp>
      <p:sp>
        <p:nvSpPr>
          <p:cNvPr id="12" name="Shape 10"/>
          <p:cNvSpPr/>
          <p:nvPr/>
        </p:nvSpPr>
        <p:spPr>
          <a:xfrm>
            <a:off x="594360" y="3127248"/>
            <a:ext cx="5943600" cy="676656"/>
          </a:xfrm>
          <a:prstGeom prst="roundRect">
            <a:avLst>
              <a:gd name="adj" fmla="val 6757"/>
            </a:avLst>
          </a:prstGeom>
          <a:solidFill>
            <a:srgbClr val="ECE2D0"/>
          </a:solidFill>
          <a:ln w="12700">
            <a:solidFill>
              <a:srgbClr val="6D2E46"/>
            </a:solidFill>
            <a:prstDash val="solid"/>
          </a:ln>
          <a:effectLst>
            <a:outerShdw sx="100000" sy="100000" kx="0" ky="0" algn="bl" rotWithShape="0" blurRad="127000" dist="25400" dir="5400000">
              <a:srgbClr val="000000">
                <a:alpha val="10000"/>
              </a:srgbClr>
            </a:outerShdw>
          </a:effectLst>
        </p:spPr>
      </p:sp>
      <p:sp>
        <p:nvSpPr>
          <p:cNvPr id="13" name="Text 11"/>
          <p:cNvSpPr/>
          <p:nvPr/>
        </p:nvSpPr>
        <p:spPr>
          <a:xfrm>
            <a:off x="868680" y="3127248"/>
            <a:ext cx="2194560" cy="676656"/>
          </a:xfrm>
          <a:prstGeom prst="rect">
            <a:avLst/>
          </a:prstGeom>
          <a:noFill/>
          <a:ln/>
        </p:spPr>
        <p:txBody>
          <a:bodyPr wrap="square" lIns="0" tIns="0" rIns="0" bIns="0" rtlCol="0" anchor="ctr"/>
          <a:lstStyle/>
          <a:p>
            <a:pPr indent="0" marL="0">
              <a:buNone/>
            </a:pPr>
            <a:r>
              <a:rPr lang="en-US" sz="1300" b="1" dirty="0">
                <a:solidFill>
                  <a:srgbClr val="2B2B2B"/>
                </a:solidFill>
                <a:latin typeface="Arial" pitchFamily="34" charset="0"/>
                <a:ea typeface="Arial" pitchFamily="34" charset="-122"/>
                <a:cs typeface="Arial" pitchFamily="34" charset="-120"/>
              </a:rPr>
              <a:t>売上総利益</a:t>
            </a:r>
            <a:endParaRPr lang="en-US" sz="1300" dirty="0"/>
          </a:p>
        </p:txBody>
      </p:sp>
      <p:sp>
        <p:nvSpPr>
          <p:cNvPr id="14" name="Text 12"/>
          <p:cNvSpPr/>
          <p:nvPr/>
        </p:nvSpPr>
        <p:spPr>
          <a:xfrm>
            <a:off x="3063240" y="3127248"/>
            <a:ext cx="2194560" cy="676656"/>
          </a:xfrm>
          <a:prstGeom prst="rect">
            <a:avLst/>
          </a:prstGeom>
          <a:noFill/>
          <a:ln/>
        </p:spPr>
        <p:txBody>
          <a:bodyPr wrap="square" lIns="0" tIns="0" rIns="0" bIns="0" rtlCol="0" anchor="ctr"/>
          <a:lstStyle/>
          <a:p>
            <a:pPr algn="r" indent="0" marL="0">
              <a:buNone/>
            </a:pPr>
            <a:r>
              <a:rPr lang="en-US" sz="1600" b="1" dirty="0">
                <a:solidFill>
                  <a:srgbClr val="6D2E46"/>
                </a:solidFill>
                <a:latin typeface="Cambria" pitchFamily="34" charset="0"/>
                <a:ea typeface="Cambria" pitchFamily="34" charset="-122"/>
                <a:cs typeface="Cambria" pitchFamily="34" charset="-120"/>
              </a:rPr>
              <a:t>16,716,827</a:t>
            </a:r>
            <a:endParaRPr lang="en-US" sz="1600" dirty="0"/>
          </a:p>
        </p:txBody>
      </p:sp>
      <p:sp>
        <p:nvSpPr>
          <p:cNvPr id="15" name="Text 13"/>
          <p:cNvSpPr/>
          <p:nvPr/>
        </p:nvSpPr>
        <p:spPr>
          <a:xfrm>
            <a:off x="5349240" y="3127248"/>
            <a:ext cx="1005840" cy="676656"/>
          </a:xfrm>
          <a:prstGeom prst="rect">
            <a:avLst/>
          </a:prstGeom>
          <a:noFill/>
          <a:ln/>
        </p:spPr>
        <p:txBody>
          <a:bodyPr wrap="square" lIns="0" tIns="0" rIns="0" bIns="0" rtlCol="0" anchor="ctr"/>
          <a:lstStyle/>
          <a:p>
            <a:pPr algn="r" indent="0" marL="0">
              <a:buNone/>
            </a:pPr>
            <a:r>
              <a:rPr lang="en-US" sz="950" dirty="0">
                <a:solidFill>
                  <a:srgbClr val="7A6A64"/>
                </a:solidFill>
                <a:latin typeface="Arial" pitchFamily="34" charset="0"/>
                <a:ea typeface="Arial" pitchFamily="34" charset="-122"/>
                <a:cs typeface="Arial" pitchFamily="34" charset="-120"/>
              </a:rPr>
              <a:t>粗利率 51.5%</a:t>
            </a:r>
            <a:endParaRPr lang="en-US" sz="950" dirty="0"/>
          </a:p>
        </p:txBody>
      </p:sp>
      <p:sp>
        <p:nvSpPr>
          <p:cNvPr id="16" name="Shape 14"/>
          <p:cNvSpPr/>
          <p:nvPr/>
        </p:nvSpPr>
        <p:spPr>
          <a:xfrm>
            <a:off x="594360" y="3913632"/>
            <a:ext cx="5943600" cy="676656"/>
          </a:xfrm>
          <a:prstGeom prst="roundRect">
            <a:avLst>
              <a:gd name="adj" fmla="val 675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7" name="Text 15"/>
          <p:cNvSpPr/>
          <p:nvPr/>
        </p:nvSpPr>
        <p:spPr>
          <a:xfrm>
            <a:off x="868680" y="3913632"/>
            <a:ext cx="2194560" cy="676656"/>
          </a:xfrm>
          <a:prstGeom prst="rect">
            <a:avLst/>
          </a:prstGeom>
          <a:noFill/>
          <a:ln/>
        </p:spPr>
        <p:txBody>
          <a:bodyPr wrap="square" lIns="0" tIns="0" rIns="0" bIns="0" rtlCol="0" anchor="ctr"/>
          <a:lstStyle/>
          <a:p>
            <a:pPr indent="0" marL="0">
              <a:buNone/>
            </a:pPr>
            <a:r>
              <a:rPr lang="en-US" sz="1300" dirty="0">
                <a:solidFill>
                  <a:srgbClr val="2B2B2B"/>
                </a:solidFill>
                <a:latin typeface="Arial" pitchFamily="34" charset="0"/>
                <a:ea typeface="Arial" pitchFamily="34" charset="-122"/>
                <a:cs typeface="Arial" pitchFamily="34" charset="-120"/>
              </a:rPr>
              <a:t>販管費</a:t>
            </a:r>
            <a:endParaRPr lang="en-US" sz="1300" dirty="0"/>
          </a:p>
        </p:txBody>
      </p:sp>
      <p:sp>
        <p:nvSpPr>
          <p:cNvPr id="18" name="Text 16"/>
          <p:cNvSpPr/>
          <p:nvPr/>
        </p:nvSpPr>
        <p:spPr>
          <a:xfrm>
            <a:off x="3063240" y="3913632"/>
            <a:ext cx="2194560" cy="676656"/>
          </a:xfrm>
          <a:prstGeom prst="rect">
            <a:avLst/>
          </a:prstGeom>
          <a:noFill/>
          <a:ln/>
        </p:spPr>
        <p:txBody>
          <a:bodyPr wrap="square" lIns="0" tIns="0" rIns="0" bIns="0" rtlCol="0" anchor="ctr"/>
          <a:lstStyle/>
          <a:p>
            <a:pPr algn="r" indent="0" marL="0">
              <a:buNone/>
            </a:pPr>
            <a:r>
              <a:rPr lang="en-US" sz="1600" b="1" dirty="0">
                <a:solidFill>
                  <a:srgbClr val="6D2E46"/>
                </a:solidFill>
                <a:latin typeface="Cambria" pitchFamily="34" charset="0"/>
                <a:ea typeface="Cambria" pitchFamily="34" charset="-122"/>
                <a:cs typeface="Cambria" pitchFamily="34" charset="-120"/>
              </a:rPr>
              <a:t>▲25,013,422</a:t>
            </a:r>
            <a:endParaRPr lang="en-US" sz="1600" dirty="0"/>
          </a:p>
        </p:txBody>
      </p:sp>
      <p:sp>
        <p:nvSpPr>
          <p:cNvPr id="19" name="Text 17"/>
          <p:cNvSpPr/>
          <p:nvPr/>
        </p:nvSpPr>
        <p:spPr>
          <a:xfrm>
            <a:off x="5349240" y="3913632"/>
            <a:ext cx="1005840" cy="676656"/>
          </a:xfrm>
          <a:prstGeom prst="rect">
            <a:avLst/>
          </a:prstGeom>
          <a:noFill/>
          <a:ln/>
        </p:spPr>
        <p:txBody>
          <a:bodyPr wrap="square" lIns="0" tIns="0" rIns="0" bIns="0" rtlCol="0" anchor="ctr"/>
          <a:lstStyle/>
          <a:p>
            <a:pPr algn="r" indent="0" marL="0">
              <a:buNone/>
            </a:pPr>
            <a:r>
              <a:rPr lang="en-US" sz="950" dirty="0">
                <a:solidFill>
                  <a:srgbClr val="7A6A64"/>
                </a:solidFill>
                <a:latin typeface="Arial" pitchFamily="34" charset="0"/>
                <a:ea typeface="Arial" pitchFamily="34" charset="-122"/>
                <a:cs typeface="Arial" pitchFamily="34" charset="-120"/>
              </a:rPr>
              <a:t>全23科目</a:t>
            </a:r>
            <a:endParaRPr lang="en-US" sz="950" dirty="0"/>
          </a:p>
        </p:txBody>
      </p:sp>
      <p:sp>
        <p:nvSpPr>
          <p:cNvPr id="20" name="Shape 18"/>
          <p:cNvSpPr/>
          <p:nvPr/>
        </p:nvSpPr>
        <p:spPr>
          <a:xfrm>
            <a:off x="594360" y="4700016"/>
            <a:ext cx="5943600" cy="676656"/>
          </a:xfrm>
          <a:prstGeom prst="roundRect">
            <a:avLst>
              <a:gd name="adj" fmla="val 6757"/>
            </a:avLst>
          </a:prstGeom>
          <a:solidFill>
            <a:srgbClr val="6D2E46"/>
          </a:solidFill>
          <a:ln w="12700">
            <a:solidFill>
              <a:srgbClr val="6D2E46"/>
            </a:solidFill>
            <a:prstDash val="solid"/>
          </a:ln>
          <a:effectLst>
            <a:outerShdw sx="100000" sy="100000" kx="0" ky="0" algn="bl" rotWithShape="0" blurRad="127000" dist="25400" dir="5400000">
              <a:srgbClr val="000000">
                <a:alpha val="10000"/>
              </a:srgbClr>
            </a:outerShdw>
          </a:effectLst>
        </p:spPr>
      </p:sp>
      <p:sp>
        <p:nvSpPr>
          <p:cNvPr id="21" name="Text 19"/>
          <p:cNvSpPr/>
          <p:nvPr/>
        </p:nvSpPr>
        <p:spPr>
          <a:xfrm>
            <a:off x="868680" y="4700016"/>
            <a:ext cx="2194560" cy="676656"/>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営業利益</a:t>
            </a:r>
            <a:endParaRPr lang="en-US" sz="1300" dirty="0"/>
          </a:p>
        </p:txBody>
      </p:sp>
      <p:sp>
        <p:nvSpPr>
          <p:cNvPr id="22" name="Text 20"/>
          <p:cNvSpPr/>
          <p:nvPr/>
        </p:nvSpPr>
        <p:spPr>
          <a:xfrm>
            <a:off x="3063240" y="4700016"/>
            <a:ext cx="2194560" cy="676656"/>
          </a:xfrm>
          <a:prstGeom prst="rect">
            <a:avLst/>
          </a:prstGeom>
          <a:noFill/>
          <a:ln/>
        </p:spPr>
        <p:txBody>
          <a:bodyPr wrap="square" lIns="0" tIns="0" rIns="0" bIns="0" rtlCol="0" anchor="ctr"/>
          <a:lstStyle/>
          <a:p>
            <a:pPr algn="r" indent="0" marL="0">
              <a:buNone/>
            </a:pPr>
            <a:r>
              <a:rPr lang="en-US" sz="1600" b="1" dirty="0">
                <a:solidFill>
                  <a:srgbClr val="FFFFFF"/>
                </a:solidFill>
                <a:latin typeface="Cambria" pitchFamily="34" charset="0"/>
                <a:ea typeface="Cambria" pitchFamily="34" charset="-122"/>
                <a:cs typeface="Cambria" pitchFamily="34" charset="-120"/>
              </a:rPr>
              <a:t>▲8,296,595</a:t>
            </a:r>
            <a:endParaRPr lang="en-US" sz="1600" dirty="0"/>
          </a:p>
        </p:txBody>
      </p:sp>
      <p:sp>
        <p:nvSpPr>
          <p:cNvPr id="23" name="Text 21"/>
          <p:cNvSpPr/>
          <p:nvPr/>
        </p:nvSpPr>
        <p:spPr>
          <a:xfrm>
            <a:off x="5349240" y="4700016"/>
            <a:ext cx="1005840" cy="676656"/>
          </a:xfrm>
          <a:prstGeom prst="rect">
            <a:avLst/>
          </a:prstGeom>
          <a:noFill/>
          <a:ln/>
        </p:spPr>
        <p:txBody>
          <a:bodyPr wrap="square" lIns="0" tIns="0" rIns="0" bIns="0" rtlCol="0" anchor="ctr"/>
          <a:lstStyle/>
          <a:p>
            <a:pPr algn="r" indent="0" marL="0">
              <a:buNone/>
            </a:pPr>
            <a:r>
              <a:rPr lang="en-US" sz="950" dirty="0">
                <a:solidFill>
                  <a:srgbClr val="ECE2D0"/>
                </a:solidFill>
                <a:latin typeface="Arial" pitchFamily="34" charset="0"/>
                <a:ea typeface="Arial" pitchFamily="34" charset="-122"/>
                <a:cs typeface="Arial" pitchFamily="34" charset="-120"/>
              </a:rPr>
              <a:t>月次</a:t>
            </a:r>
            <a:endParaRPr lang="en-US" sz="950" dirty="0"/>
          </a:p>
        </p:txBody>
      </p:sp>
      <p:sp>
        <p:nvSpPr>
          <p:cNvPr id="24" name="Shape 22"/>
          <p:cNvSpPr/>
          <p:nvPr/>
        </p:nvSpPr>
        <p:spPr>
          <a:xfrm>
            <a:off x="6858000" y="1554480"/>
            <a:ext cx="4709160" cy="4206240"/>
          </a:xfrm>
          <a:prstGeom prst="roundRect">
            <a:avLst>
              <a:gd name="adj" fmla="val 1304"/>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5" name="Text 23"/>
          <p:cNvSpPr/>
          <p:nvPr/>
        </p:nvSpPr>
        <p:spPr>
          <a:xfrm>
            <a:off x="7178040" y="1783080"/>
            <a:ext cx="4069080" cy="329184"/>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なぜ4月以降なのか</a:t>
            </a:r>
            <a:endParaRPr lang="en-US" sz="1700" dirty="0"/>
          </a:p>
        </p:txBody>
      </p:sp>
      <p:sp>
        <p:nvSpPr>
          <p:cNvPr id="26" name="Text 24"/>
          <p:cNvSpPr/>
          <p:nvPr/>
        </p:nvSpPr>
        <p:spPr>
          <a:xfrm>
            <a:off x="7178040" y="2240280"/>
            <a:ext cx="4069080" cy="3200400"/>
          </a:xfrm>
          <a:prstGeom prst="rect">
            <a:avLst/>
          </a:prstGeom>
          <a:noFill/>
          <a:ln/>
        </p:spPr>
        <p:txBody>
          <a:bodyPr wrap="square" lIns="0" tIns="0" rIns="0" bIns="0" rtlCol="0" anchor="ctr"/>
          <a:lstStyle/>
          <a:p>
            <a:pPr indent="0" marL="0">
              <a:lnSpc>
                <a:spcPts val="1700"/>
              </a:lnSpc>
              <a:buNone/>
            </a:pPr>
            <a:r>
              <a:rPr lang="en-US" sz="1150" dirty="0">
                <a:solidFill>
                  <a:srgbClr val="2B2B2B"/>
                </a:solidFill>
                <a:latin typeface="Arial" pitchFamily="34" charset="0"/>
                <a:ea typeface="Arial" pitchFamily="34" charset="-122"/>
                <a:cs typeface="Arial" pitchFamily="34" charset="-120"/>
              </a:rPr>
              <a:t>2025年10月〜2026年3月の数値には、撤退した飲食店舗の売上と費用が含まれています。</a:t>
            </a:r>
            <a:endParaRPr lang="en-US" sz="1150" dirty="0"/>
          </a:p>
          <a:p>
            <a:pPr indent="0" marL="0">
              <a:lnSpc>
                <a:spcPts val="1700"/>
              </a:lnSpc>
              <a:buNone/>
            </a:pPr>
            <a:endParaRPr lang="en-US" sz="1150" dirty="0"/>
          </a:p>
          <a:p>
            <a:pPr indent="0" marL="0">
              <a:lnSpc>
                <a:spcPts val="1700"/>
              </a:lnSpc>
              <a:buNone/>
            </a:pPr>
            <a:r>
              <a:rPr lang="en-US" sz="1150" dirty="0">
                <a:solidFill>
                  <a:srgbClr val="2B2B2B"/>
                </a:solidFill>
                <a:latin typeface="Arial" pitchFamily="34" charset="0"/>
                <a:ea typeface="Arial" pitchFamily="34" charset="-122"/>
                <a:cs typeface="Arial" pitchFamily="34" charset="-120"/>
              </a:rPr>
              <a:t>このため同期間を基準にすると、すでに存在しない事業の損益を将来計画に持ち込むことになります。</a:t>
            </a:r>
            <a:endParaRPr lang="en-US" sz="1150" dirty="0"/>
          </a:p>
          <a:p>
            <a:pPr indent="0" marL="0">
              <a:lnSpc>
                <a:spcPts val="1700"/>
              </a:lnSpc>
              <a:buNone/>
            </a:pPr>
            <a:endParaRPr lang="en-US" sz="1150" dirty="0"/>
          </a:p>
          <a:p>
            <a:pPr indent="0" marL="0">
              <a:lnSpc>
                <a:spcPts val="1700"/>
              </a:lnSpc>
              <a:buNone/>
            </a:pPr>
            <a:r>
              <a:rPr lang="en-US" sz="1150" dirty="0">
                <a:solidFill>
                  <a:srgbClr val="2B2B2B"/>
                </a:solidFill>
                <a:latin typeface="Arial" pitchFamily="34" charset="0"/>
                <a:ea typeface="Arial" pitchFamily="34" charset="-122"/>
                <a:cs typeface="Arial" pitchFamily="34" charset="-120"/>
              </a:rPr>
              <a:t>撤退が完了した2026年4月以降の3か月を基準とすることで、現在の事業構造をそのまま反映した計画になります。</a:t>
            </a:r>
            <a:endParaRPr lang="en-US" sz="1150" dirty="0"/>
          </a:p>
          <a:p>
            <a:pPr indent="0" marL="0">
              <a:lnSpc>
                <a:spcPts val="1700"/>
              </a:lnSpc>
              <a:buNone/>
            </a:pPr>
            <a:endParaRPr lang="en-US" sz="1150" dirty="0"/>
          </a:p>
          <a:p>
            <a:pPr indent="0" marL="0">
              <a:lnSpc>
                <a:spcPts val="1700"/>
              </a:lnSpc>
              <a:buNone/>
            </a:pPr>
            <a:r>
              <a:rPr lang="en-US" sz="1150" dirty="0">
                <a:solidFill>
                  <a:srgbClr val="2B2B2B"/>
                </a:solidFill>
                <a:latin typeface="Arial" pitchFamily="34" charset="0"/>
                <a:ea typeface="Arial" pitchFamily="34" charset="-122"/>
                <a:cs typeface="Arial" pitchFamily="34" charset="-120"/>
              </a:rPr>
              <a:t>成長・季節変動はいっさい織り込まず、この3か月をそのまま12か月に横ばいで延伸しています。</a:t>
            </a:r>
            <a:endParaRPr lang="en-US" sz="1150" dirty="0"/>
          </a:p>
        </p:txBody>
      </p:sp>
      <p:sp>
        <p:nvSpPr>
          <p:cNvPr id="27" name="Text 2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出典：事業計画202608（銀行様）全社シート 2026/04・05・06 実績の単純平均</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FY2027の収益上乗せ － 132.5百万円</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経営指導料を中心としたストック型収益。契約ベースで積み上げています。</a:t>
            </a:r>
            <a:endParaRPr lang="en-US" sz="1250" dirty="0"/>
          </a:p>
        </p:txBody>
      </p:sp>
      <p:sp>
        <p:nvSpPr>
          <p:cNvPr id="4" name="Shape 2"/>
          <p:cNvSpPr/>
          <p:nvPr/>
        </p:nvSpPr>
        <p:spPr>
          <a:xfrm>
            <a:off x="594360" y="1517904"/>
            <a:ext cx="7223760" cy="402336"/>
          </a:xfrm>
          <a:prstGeom prst="rect">
            <a:avLst/>
          </a:prstGeom>
          <a:solidFill>
            <a:srgbClr val="6D2E46"/>
          </a:solidFill>
          <a:ln/>
        </p:spPr>
      </p:sp>
      <p:sp>
        <p:nvSpPr>
          <p:cNvPr id="5" name="Text 3"/>
          <p:cNvSpPr/>
          <p:nvPr/>
        </p:nvSpPr>
        <p:spPr>
          <a:xfrm>
            <a:off x="777240" y="1517904"/>
            <a:ext cx="146304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Arial" pitchFamily="34" charset="0"/>
                <a:ea typeface="Arial" pitchFamily="34" charset="-122"/>
                <a:cs typeface="Arial" pitchFamily="34" charset="-120"/>
              </a:rPr>
              <a:t>区分</a:t>
            </a:r>
            <a:endParaRPr lang="en-US" sz="950" dirty="0"/>
          </a:p>
        </p:txBody>
      </p:sp>
      <p:sp>
        <p:nvSpPr>
          <p:cNvPr id="6" name="Text 4"/>
          <p:cNvSpPr/>
          <p:nvPr/>
        </p:nvSpPr>
        <p:spPr>
          <a:xfrm>
            <a:off x="2240280" y="1517904"/>
            <a:ext cx="2560320" cy="402336"/>
          </a:xfrm>
          <a:prstGeom prst="rect">
            <a:avLst/>
          </a:prstGeom>
          <a:noFill/>
          <a:ln/>
        </p:spPr>
        <p:txBody>
          <a:bodyPr wrap="square" lIns="0" tIns="0" rIns="0" bIns="0" rtlCol="0" anchor="ctr"/>
          <a:lstStyle/>
          <a:p>
            <a:pPr algn="l" indent="0" marL="0">
              <a:buNone/>
            </a:pPr>
            <a:r>
              <a:rPr lang="en-US" sz="950" b="1" dirty="0">
                <a:solidFill>
                  <a:srgbClr val="FFFFFF"/>
                </a:solidFill>
                <a:latin typeface="Arial" pitchFamily="34" charset="0"/>
                <a:ea typeface="Arial" pitchFamily="34" charset="-122"/>
                <a:cs typeface="Arial" pitchFamily="34" charset="-120"/>
              </a:rPr>
              <a:t>案件</a:t>
            </a:r>
            <a:endParaRPr lang="en-US" sz="950" dirty="0"/>
          </a:p>
        </p:txBody>
      </p:sp>
      <p:sp>
        <p:nvSpPr>
          <p:cNvPr id="7" name="Text 5"/>
          <p:cNvSpPr/>
          <p:nvPr/>
        </p:nvSpPr>
        <p:spPr>
          <a:xfrm>
            <a:off x="4892040" y="1517904"/>
            <a:ext cx="1463040" cy="402336"/>
          </a:xfrm>
          <a:prstGeom prst="rect">
            <a:avLst/>
          </a:prstGeom>
          <a:noFill/>
          <a:ln/>
        </p:spPr>
        <p:txBody>
          <a:bodyPr wrap="square" lIns="0" tIns="0" rIns="0" bIns="0" rtlCol="0" anchor="ctr"/>
          <a:lstStyle/>
          <a:p>
            <a:pPr algn="r" indent="0" marL="0">
              <a:buNone/>
            </a:pPr>
            <a:r>
              <a:rPr lang="en-US" sz="950" b="1" dirty="0">
                <a:solidFill>
                  <a:srgbClr val="FFFFFF"/>
                </a:solidFill>
                <a:latin typeface="Arial" pitchFamily="34" charset="0"/>
                <a:ea typeface="Arial" pitchFamily="34" charset="-122"/>
                <a:cs typeface="Arial" pitchFamily="34" charset="-120"/>
              </a:rPr>
              <a:t>金額</a:t>
            </a:r>
            <a:endParaRPr lang="en-US" sz="950" dirty="0"/>
          </a:p>
        </p:txBody>
      </p:sp>
      <p:sp>
        <p:nvSpPr>
          <p:cNvPr id="8" name="Text 6"/>
          <p:cNvSpPr/>
          <p:nvPr/>
        </p:nvSpPr>
        <p:spPr>
          <a:xfrm>
            <a:off x="6446520" y="1517904"/>
            <a:ext cx="1188720" cy="402336"/>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取引先</a:t>
            </a:r>
            <a:endParaRPr lang="en-US" sz="950" dirty="0"/>
          </a:p>
        </p:txBody>
      </p:sp>
      <p:sp>
        <p:nvSpPr>
          <p:cNvPr id="9" name="Shape 7"/>
          <p:cNvSpPr/>
          <p:nvPr/>
        </p:nvSpPr>
        <p:spPr>
          <a:xfrm>
            <a:off x="594360" y="1920240"/>
            <a:ext cx="7223760" cy="484632"/>
          </a:xfrm>
          <a:prstGeom prst="rect">
            <a:avLst/>
          </a:prstGeom>
          <a:solidFill>
            <a:srgbClr val="FFFFFF"/>
          </a:solidFill>
          <a:ln w="6350">
            <a:solidFill>
              <a:srgbClr val="DED5CE"/>
            </a:solidFill>
            <a:prstDash val="solid"/>
          </a:ln>
        </p:spPr>
      </p:sp>
      <p:sp>
        <p:nvSpPr>
          <p:cNvPr id="10" name="Text 8"/>
          <p:cNvSpPr/>
          <p:nvPr/>
        </p:nvSpPr>
        <p:spPr>
          <a:xfrm>
            <a:off x="777240" y="1920240"/>
            <a:ext cx="1463040" cy="4846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経営指導料</a:t>
            </a:r>
            <a:endParaRPr lang="en-US" sz="1000" dirty="0"/>
          </a:p>
        </p:txBody>
      </p:sp>
      <p:sp>
        <p:nvSpPr>
          <p:cNvPr id="11" name="Text 9"/>
          <p:cNvSpPr/>
          <p:nvPr/>
        </p:nvSpPr>
        <p:spPr>
          <a:xfrm>
            <a:off x="2240280" y="1920240"/>
            <a:ext cx="2560320" cy="484632"/>
          </a:xfrm>
          <a:prstGeom prst="rect">
            <a:avLst/>
          </a:prstGeom>
          <a:noFill/>
          <a:ln/>
        </p:spPr>
        <p:txBody>
          <a:bodyPr wrap="square" lIns="0" tIns="0" rIns="0" bIns="0" rtlCol="0" anchor="ctr"/>
          <a:lstStyle/>
          <a:p>
            <a:pPr indent="0" marL="0">
              <a:buNone/>
            </a:pPr>
            <a:r>
              <a:rPr lang="en-US" sz="1100" b="1" dirty="0">
                <a:solidFill>
                  <a:srgbClr val="2B2B2B"/>
                </a:solidFill>
                <a:latin typeface="Arial" pitchFamily="34" charset="0"/>
                <a:ea typeface="Arial" pitchFamily="34" charset="-122"/>
                <a:cs typeface="Arial" pitchFamily="34" charset="-120"/>
              </a:rPr>
              <a:t>Value table</a:t>
            </a:r>
            <a:endParaRPr lang="en-US" sz="1100" dirty="0"/>
          </a:p>
        </p:txBody>
      </p:sp>
      <p:sp>
        <p:nvSpPr>
          <p:cNvPr id="12" name="Text 10"/>
          <p:cNvSpPr/>
          <p:nvPr/>
        </p:nvSpPr>
        <p:spPr>
          <a:xfrm>
            <a:off x="4892040" y="1920240"/>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¥10,000,000</a:t>
            </a:r>
            <a:endParaRPr lang="en-US" sz="1150" dirty="0"/>
          </a:p>
        </p:txBody>
      </p:sp>
      <p:sp>
        <p:nvSpPr>
          <p:cNvPr id="13" name="Shape 11"/>
          <p:cNvSpPr/>
          <p:nvPr/>
        </p:nvSpPr>
        <p:spPr>
          <a:xfrm>
            <a:off x="6629400" y="2039112"/>
            <a:ext cx="914400" cy="256032"/>
          </a:xfrm>
          <a:prstGeom prst="roundRect">
            <a:avLst>
              <a:gd name="adj" fmla="val 42857"/>
            </a:avLst>
          </a:prstGeom>
          <a:solidFill>
            <a:srgbClr val="ECE2D0"/>
          </a:solidFill>
          <a:ln w="6350">
            <a:solidFill>
              <a:srgbClr val="A26769"/>
            </a:solidFill>
            <a:prstDash val="solid"/>
          </a:ln>
        </p:spPr>
      </p:sp>
      <p:sp>
        <p:nvSpPr>
          <p:cNvPr id="14" name="Text 12"/>
          <p:cNvSpPr/>
          <p:nvPr/>
        </p:nvSpPr>
        <p:spPr>
          <a:xfrm>
            <a:off x="6629400" y="2039112"/>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グループ</a:t>
            </a:r>
            <a:endParaRPr lang="en-US" sz="850" dirty="0"/>
          </a:p>
        </p:txBody>
      </p:sp>
      <p:sp>
        <p:nvSpPr>
          <p:cNvPr id="15" name="Shape 13"/>
          <p:cNvSpPr/>
          <p:nvPr/>
        </p:nvSpPr>
        <p:spPr>
          <a:xfrm>
            <a:off x="594360" y="2404872"/>
            <a:ext cx="7223760" cy="484632"/>
          </a:xfrm>
          <a:prstGeom prst="rect">
            <a:avLst/>
          </a:prstGeom>
          <a:solidFill>
            <a:srgbClr val="FBF9F7"/>
          </a:solidFill>
          <a:ln w="6350">
            <a:solidFill>
              <a:srgbClr val="DED5CE"/>
            </a:solidFill>
            <a:prstDash val="solid"/>
          </a:ln>
        </p:spPr>
      </p:sp>
      <p:sp>
        <p:nvSpPr>
          <p:cNvPr id="16" name="Text 14"/>
          <p:cNvSpPr/>
          <p:nvPr/>
        </p:nvSpPr>
        <p:spPr>
          <a:xfrm>
            <a:off x="777240" y="2404872"/>
            <a:ext cx="1463040" cy="4846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経営指導料</a:t>
            </a:r>
            <a:endParaRPr lang="en-US" sz="1000" dirty="0"/>
          </a:p>
        </p:txBody>
      </p:sp>
      <p:sp>
        <p:nvSpPr>
          <p:cNvPr id="17" name="Text 15"/>
          <p:cNvSpPr/>
          <p:nvPr/>
        </p:nvSpPr>
        <p:spPr>
          <a:xfrm>
            <a:off x="2240280" y="2404872"/>
            <a:ext cx="2560320" cy="484632"/>
          </a:xfrm>
          <a:prstGeom prst="rect">
            <a:avLst/>
          </a:prstGeom>
          <a:noFill/>
          <a:ln/>
        </p:spPr>
        <p:txBody>
          <a:bodyPr wrap="square" lIns="0" tIns="0" rIns="0" bIns="0" rtlCol="0" anchor="ctr"/>
          <a:lstStyle/>
          <a:p>
            <a:pPr indent="0" marL="0">
              <a:buNone/>
            </a:pPr>
            <a:r>
              <a:rPr lang="en-US" sz="1100" b="1" dirty="0">
                <a:solidFill>
                  <a:srgbClr val="2B2B2B"/>
                </a:solidFill>
                <a:latin typeface="Arial" pitchFamily="34" charset="0"/>
                <a:ea typeface="Arial" pitchFamily="34" charset="-122"/>
                <a:cs typeface="Arial" pitchFamily="34" charset="-120"/>
              </a:rPr>
              <a:t>Prime</a:t>
            </a:r>
            <a:endParaRPr lang="en-US" sz="1100" dirty="0"/>
          </a:p>
        </p:txBody>
      </p:sp>
      <p:sp>
        <p:nvSpPr>
          <p:cNvPr id="18" name="Text 16"/>
          <p:cNvSpPr/>
          <p:nvPr/>
        </p:nvSpPr>
        <p:spPr>
          <a:xfrm>
            <a:off x="4892040" y="2404872"/>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¥60,000,000</a:t>
            </a:r>
            <a:endParaRPr lang="en-US" sz="1150" dirty="0"/>
          </a:p>
        </p:txBody>
      </p:sp>
      <p:sp>
        <p:nvSpPr>
          <p:cNvPr id="19" name="Shape 17"/>
          <p:cNvSpPr/>
          <p:nvPr/>
        </p:nvSpPr>
        <p:spPr>
          <a:xfrm>
            <a:off x="6629400" y="2523744"/>
            <a:ext cx="914400" cy="256032"/>
          </a:xfrm>
          <a:prstGeom prst="roundRect">
            <a:avLst>
              <a:gd name="adj" fmla="val 42857"/>
            </a:avLst>
          </a:prstGeom>
          <a:solidFill>
            <a:srgbClr val="ECE2D0"/>
          </a:solidFill>
          <a:ln w="6350">
            <a:solidFill>
              <a:srgbClr val="A26769"/>
            </a:solidFill>
            <a:prstDash val="solid"/>
          </a:ln>
        </p:spPr>
      </p:sp>
      <p:sp>
        <p:nvSpPr>
          <p:cNvPr id="20" name="Text 18"/>
          <p:cNvSpPr/>
          <p:nvPr/>
        </p:nvSpPr>
        <p:spPr>
          <a:xfrm>
            <a:off x="6629400" y="2523744"/>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グループ</a:t>
            </a:r>
            <a:endParaRPr lang="en-US" sz="850" dirty="0"/>
          </a:p>
        </p:txBody>
      </p:sp>
      <p:sp>
        <p:nvSpPr>
          <p:cNvPr id="21" name="Shape 19"/>
          <p:cNvSpPr/>
          <p:nvPr/>
        </p:nvSpPr>
        <p:spPr>
          <a:xfrm>
            <a:off x="594360" y="2889504"/>
            <a:ext cx="7223760" cy="484632"/>
          </a:xfrm>
          <a:prstGeom prst="rect">
            <a:avLst/>
          </a:prstGeom>
          <a:solidFill>
            <a:srgbClr val="FFFFFF"/>
          </a:solidFill>
          <a:ln w="6350">
            <a:solidFill>
              <a:srgbClr val="DED5CE"/>
            </a:solidFill>
            <a:prstDash val="solid"/>
          </a:ln>
        </p:spPr>
      </p:sp>
      <p:sp>
        <p:nvSpPr>
          <p:cNvPr id="22" name="Text 20"/>
          <p:cNvSpPr/>
          <p:nvPr/>
        </p:nvSpPr>
        <p:spPr>
          <a:xfrm>
            <a:off x="777240" y="2889504"/>
            <a:ext cx="1463040" cy="4846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経営指導料</a:t>
            </a:r>
            <a:endParaRPr lang="en-US" sz="1000" dirty="0"/>
          </a:p>
        </p:txBody>
      </p:sp>
      <p:sp>
        <p:nvSpPr>
          <p:cNvPr id="23" name="Text 21"/>
          <p:cNvSpPr/>
          <p:nvPr/>
        </p:nvSpPr>
        <p:spPr>
          <a:xfrm>
            <a:off x="2240280" y="2889504"/>
            <a:ext cx="2560320" cy="484632"/>
          </a:xfrm>
          <a:prstGeom prst="rect">
            <a:avLst/>
          </a:prstGeom>
          <a:noFill/>
          <a:ln/>
        </p:spPr>
        <p:txBody>
          <a:bodyPr wrap="square" lIns="0" tIns="0" rIns="0" bIns="0" rtlCol="0" anchor="ctr"/>
          <a:lstStyle/>
          <a:p>
            <a:pPr indent="0" marL="0">
              <a:buNone/>
            </a:pPr>
            <a:r>
              <a:rPr lang="en-US" sz="1100" b="1" dirty="0">
                <a:solidFill>
                  <a:srgbClr val="2B2B2B"/>
                </a:solidFill>
                <a:latin typeface="Arial" pitchFamily="34" charset="0"/>
                <a:ea typeface="Arial" pitchFamily="34" charset="-122"/>
                <a:cs typeface="Arial" pitchFamily="34" charset="-120"/>
              </a:rPr>
              <a:t>Apicius</a:t>
            </a:r>
            <a:endParaRPr lang="en-US" sz="1100" dirty="0"/>
          </a:p>
        </p:txBody>
      </p:sp>
      <p:sp>
        <p:nvSpPr>
          <p:cNvPr id="24" name="Text 22"/>
          <p:cNvSpPr/>
          <p:nvPr/>
        </p:nvSpPr>
        <p:spPr>
          <a:xfrm>
            <a:off x="4892040" y="2889504"/>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¥10,000,000</a:t>
            </a:r>
            <a:endParaRPr lang="en-US" sz="1150" dirty="0"/>
          </a:p>
        </p:txBody>
      </p:sp>
      <p:sp>
        <p:nvSpPr>
          <p:cNvPr id="25" name="Shape 23"/>
          <p:cNvSpPr/>
          <p:nvPr/>
        </p:nvSpPr>
        <p:spPr>
          <a:xfrm>
            <a:off x="6629400" y="3008376"/>
            <a:ext cx="914400" cy="256032"/>
          </a:xfrm>
          <a:prstGeom prst="roundRect">
            <a:avLst>
              <a:gd name="adj" fmla="val 42857"/>
            </a:avLst>
          </a:prstGeom>
          <a:solidFill>
            <a:srgbClr val="ECE2D0"/>
          </a:solidFill>
          <a:ln w="6350">
            <a:solidFill>
              <a:srgbClr val="A26769"/>
            </a:solidFill>
            <a:prstDash val="solid"/>
          </a:ln>
        </p:spPr>
      </p:sp>
      <p:sp>
        <p:nvSpPr>
          <p:cNvPr id="26" name="Text 24"/>
          <p:cNvSpPr/>
          <p:nvPr/>
        </p:nvSpPr>
        <p:spPr>
          <a:xfrm>
            <a:off x="6629400" y="3008376"/>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グループ</a:t>
            </a:r>
            <a:endParaRPr lang="en-US" sz="850" dirty="0"/>
          </a:p>
        </p:txBody>
      </p:sp>
      <p:sp>
        <p:nvSpPr>
          <p:cNvPr id="27" name="Shape 25"/>
          <p:cNvSpPr/>
          <p:nvPr/>
        </p:nvSpPr>
        <p:spPr>
          <a:xfrm>
            <a:off x="594360" y="3374136"/>
            <a:ext cx="7223760" cy="484632"/>
          </a:xfrm>
          <a:prstGeom prst="rect">
            <a:avLst/>
          </a:prstGeom>
          <a:solidFill>
            <a:srgbClr val="FBF9F7"/>
          </a:solidFill>
          <a:ln w="6350">
            <a:solidFill>
              <a:srgbClr val="DED5CE"/>
            </a:solidFill>
            <a:prstDash val="solid"/>
          </a:ln>
        </p:spPr>
      </p:sp>
      <p:sp>
        <p:nvSpPr>
          <p:cNvPr id="28" name="Text 26"/>
          <p:cNvSpPr/>
          <p:nvPr/>
        </p:nvSpPr>
        <p:spPr>
          <a:xfrm>
            <a:off x="777240" y="3374136"/>
            <a:ext cx="1463040" cy="4846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経営指導料</a:t>
            </a:r>
            <a:endParaRPr lang="en-US" sz="1000" dirty="0"/>
          </a:p>
        </p:txBody>
      </p:sp>
      <p:sp>
        <p:nvSpPr>
          <p:cNvPr id="29" name="Text 27"/>
          <p:cNvSpPr/>
          <p:nvPr/>
        </p:nvSpPr>
        <p:spPr>
          <a:xfrm>
            <a:off x="2240280" y="3374136"/>
            <a:ext cx="2560320" cy="484632"/>
          </a:xfrm>
          <a:prstGeom prst="rect">
            <a:avLst/>
          </a:prstGeom>
          <a:noFill/>
          <a:ln/>
        </p:spPr>
        <p:txBody>
          <a:bodyPr wrap="square" lIns="0" tIns="0" rIns="0" bIns="0" rtlCol="0" anchor="ctr"/>
          <a:lstStyle/>
          <a:p>
            <a:pPr indent="0" marL="0">
              <a:buNone/>
            </a:pPr>
            <a:r>
              <a:rPr lang="en-US" sz="1100" b="1" dirty="0">
                <a:solidFill>
                  <a:srgbClr val="2B2B2B"/>
                </a:solidFill>
                <a:latin typeface="Arial" pitchFamily="34" charset="0"/>
                <a:ea typeface="Arial" pitchFamily="34" charset="-122"/>
                <a:cs typeface="Arial" pitchFamily="34" charset="-120"/>
              </a:rPr>
              <a:t>Thierry Marx</a:t>
            </a:r>
            <a:endParaRPr lang="en-US" sz="1100" dirty="0"/>
          </a:p>
        </p:txBody>
      </p:sp>
      <p:sp>
        <p:nvSpPr>
          <p:cNvPr id="30" name="Text 28"/>
          <p:cNvSpPr/>
          <p:nvPr/>
        </p:nvSpPr>
        <p:spPr>
          <a:xfrm>
            <a:off x="4892040" y="3374136"/>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¥2,500,000</a:t>
            </a:r>
            <a:endParaRPr lang="en-US" sz="1150" dirty="0"/>
          </a:p>
        </p:txBody>
      </p:sp>
      <p:sp>
        <p:nvSpPr>
          <p:cNvPr id="31" name="Shape 29"/>
          <p:cNvSpPr/>
          <p:nvPr/>
        </p:nvSpPr>
        <p:spPr>
          <a:xfrm>
            <a:off x="6629400" y="3493008"/>
            <a:ext cx="914400" cy="256032"/>
          </a:xfrm>
          <a:prstGeom prst="roundRect">
            <a:avLst>
              <a:gd name="adj" fmla="val 42857"/>
            </a:avLst>
          </a:prstGeom>
          <a:solidFill>
            <a:srgbClr val="E4EAE6"/>
          </a:solidFill>
          <a:ln w="6350">
            <a:solidFill>
              <a:srgbClr val="8FA89B"/>
            </a:solidFill>
            <a:prstDash val="solid"/>
          </a:ln>
        </p:spPr>
      </p:sp>
      <p:sp>
        <p:nvSpPr>
          <p:cNvPr id="32" name="Text 30"/>
          <p:cNvSpPr/>
          <p:nvPr/>
        </p:nvSpPr>
        <p:spPr>
          <a:xfrm>
            <a:off x="6629400" y="3493008"/>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外部</a:t>
            </a:r>
            <a:endParaRPr lang="en-US" sz="850" dirty="0"/>
          </a:p>
        </p:txBody>
      </p:sp>
      <p:sp>
        <p:nvSpPr>
          <p:cNvPr id="33" name="Shape 31"/>
          <p:cNvSpPr/>
          <p:nvPr/>
        </p:nvSpPr>
        <p:spPr>
          <a:xfrm>
            <a:off x="594360" y="3858768"/>
            <a:ext cx="7223760" cy="484632"/>
          </a:xfrm>
          <a:prstGeom prst="rect">
            <a:avLst/>
          </a:prstGeom>
          <a:solidFill>
            <a:srgbClr val="FFFFFF"/>
          </a:solidFill>
          <a:ln w="6350">
            <a:solidFill>
              <a:srgbClr val="DED5CE"/>
            </a:solidFill>
            <a:prstDash val="solid"/>
          </a:ln>
        </p:spPr>
      </p:sp>
      <p:sp>
        <p:nvSpPr>
          <p:cNvPr id="34" name="Text 32"/>
          <p:cNvSpPr/>
          <p:nvPr/>
        </p:nvSpPr>
        <p:spPr>
          <a:xfrm>
            <a:off x="777240" y="3858768"/>
            <a:ext cx="1463040" cy="4846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経営指導料</a:t>
            </a:r>
            <a:endParaRPr lang="en-US" sz="1000" dirty="0"/>
          </a:p>
        </p:txBody>
      </p:sp>
      <p:sp>
        <p:nvSpPr>
          <p:cNvPr id="35" name="Text 33"/>
          <p:cNvSpPr/>
          <p:nvPr/>
        </p:nvSpPr>
        <p:spPr>
          <a:xfrm>
            <a:off x="2240280" y="3858768"/>
            <a:ext cx="2560320" cy="484632"/>
          </a:xfrm>
          <a:prstGeom prst="rect">
            <a:avLst/>
          </a:prstGeom>
          <a:noFill/>
          <a:ln/>
        </p:spPr>
        <p:txBody>
          <a:bodyPr wrap="square" lIns="0" tIns="0" rIns="0" bIns="0" rtlCol="0" anchor="ctr"/>
          <a:lstStyle/>
          <a:p>
            <a:pPr indent="0" marL="0">
              <a:buNone/>
            </a:pPr>
            <a:r>
              <a:rPr lang="en-US" sz="1100" b="1" dirty="0">
                <a:solidFill>
                  <a:srgbClr val="2B2B2B"/>
                </a:solidFill>
                <a:latin typeface="Arial" pitchFamily="34" charset="0"/>
                <a:ea typeface="Arial" pitchFamily="34" charset="-122"/>
                <a:cs typeface="Arial" pitchFamily="34" charset="-120"/>
              </a:rPr>
              <a:t>ito＋Aqua＋Hokkaido</a:t>
            </a:r>
            <a:endParaRPr lang="en-US" sz="1100" dirty="0"/>
          </a:p>
        </p:txBody>
      </p:sp>
      <p:sp>
        <p:nvSpPr>
          <p:cNvPr id="36" name="Text 34"/>
          <p:cNvSpPr/>
          <p:nvPr/>
        </p:nvSpPr>
        <p:spPr>
          <a:xfrm>
            <a:off x="4892040" y="3858768"/>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¥10,000,000</a:t>
            </a:r>
            <a:endParaRPr lang="en-US" sz="1150" dirty="0"/>
          </a:p>
        </p:txBody>
      </p:sp>
      <p:sp>
        <p:nvSpPr>
          <p:cNvPr id="37" name="Shape 35"/>
          <p:cNvSpPr/>
          <p:nvPr/>
        </p:nvSpPr>
        <p:spPr>
          <a:xfrm>
            <a:off x="6629400" y="3977640"/>
            <a:ext cx="914400" cy="256032"/>
          </a:xfrm>
          <a:prstGeom prst="roundRect">
            <a:avLst>
              <a:gd name="adj" fmla="val 42857"/>
            </a:avLst>
          </a:prstGeom>
          <a:solidFill>
            <a:srgbClr val="E4EAE6"/>
          </a:solidFill>
          <a:ln w="6350">
            <a:solidFill>
              <a:srgbClr val="8FA89B"/>
            </a:solidFill>
            <a:prstDash val="solid"/>
          </a:ln>
        </p:spPr>
      </p:sp>
      <p:sp>
        <p:nvSpPr>
          <p:cNvPr id="38" name="Text 36"/>
          <p:cNvSpPr/>
          <p:nvPr/>
        </p:nvSpPr>
        <p:spPr>
          <a:xfrm>
            <a:off x="6629400" y="3977640"/>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外部</a:t>
            </a:r>
            <a:endParaRPr lang="en-US" sz="850" dirty="0"/>
          </a:p>
        </p:txBody>
      </p:sp>
      <p:sp>
        <p:nvSpPr>
          <p:cNvPr id="39" name="Shape 37"/>
          <p:cNvSpPr/>
          <p:nvPr/>
        </p:nvSpPr>
        <p:spPr>
          <a:xfrm>
            <a:off x="594360" y="4343400"/>
            <a:ext cx="7223760" cy="484632"/>
          </a:xfrm>
          <a:prstGeom prst="rect">
            <a:avLst/>
          </a:prstGeom>
          <a:solidFill>
            <a:srgbClr val="FBF9F7"/>
          </a:solidFill>
          <a:ln w="6350">
            <a:solidFill>
              <a:srgbClr val="DED5CE"/>
            </a:solidFill>
            <a:prstDash val="solid"/>
          </a:ln>
        </p:spPr>
      </p:sp>
      <p:sp>
        <p:nvSpPr>
          <p:cNvPr id="40" name="Text 38"/>
          <p:cNvSpPr/>
          <p:nvPr/>
        </p:nvSpPr>
        <p:spPr>
          <a:xfrm>
            <a:off x="777240" y="4343400"/>
            <a:ext cx="1463040" cy="4846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インセンティブ</a:t>
            </a:r>
            <a:endParaRPr lang="en-US" sz="1000" dirty="0"/>
          </a:p>
        </p:txBody>
      </p:sp>
      <p:sp>
        <p:nvSpPr>
          <p:cNvPr id="41" name="Text 39"/>
          <p:cNvSpPr/>
          <p:nvPr/>
        </p:nvSpPr>
        <p:spPr>
          <a:xfrm>
            <a:off x="2240280" y="4343400"/>
            <a:ext cx="2560320" cy="484632"/>
          </a:xfrm>
          <a:prstGeom prst="rect">
            <a:avLst/>
          </a:prstGeom>
          <a:noFill/>
          <a:ln/>
        </p:spPr>
        <p:txBody>
          <a:bodyPr wrap="square" lIns="0" tIns="0" rIns="0" bIns="0" rtlCol="0" anchor="ctr"/>
          <a:lstStyle/>
          <a:p>
            <a:pPr indent="0" marL="0">
              <a:buNone/>
            </a:pPr>
            <a:r>
              <a:rPr lang="en-US" sz="1100" b="1" dirty="0">
                <a:solidFill>
                  <a:srgbClr val="2B2B2B"/>
                </a:solidFill>
                <a:latin typeface="Arial" pitchFamily="34" charset="0"/>
                <a:ea typeface="Arial" pitchFamily="34" charset="-122"/>
                <a:cs typeface="Arial" pitchFamily="34" charset="-120"/>
              </a:rPr>
              <a:t>Apicius2 shot</a:t>
            </a:r>
            <a:endParaRPr lang="en-US" sz="1100" dirty="0"/>
          </a:p>
        </p:txBody>
      </p:sp>
      <p:sp>
        <p:nvSpPr>
          <p:cNvPr id="42" name="Text 40"/>
          <p:cNvSpPr/>
          <p:nvPr/>
        </p:nvSpPr>
        <p:spPr>
          <a:xfrm>
            <a:off x="4892040" y="4343400"/>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¥20,000,000</a:t>
            </a:r>
            <a:endParaRPr lang="en-US" sz="1150" dirty="0"/>
          </a:p>
        </p:txBody>
      </p:sp>
      <p:sp>
        <p:nvSpPr>
          <p:cNvPr id="43" name="Shape 41"/>
          <p:cNvSpPr/>
          <p:nvPr/>
        </p:nvSpPr>
        <p:spPr>
          <a:xfrm>
            <a:off x="6629400" y="4462272"/>
            <a:ext cx="914400" cy="256032"/>
          </a:xfrm>
          <a:prstGeom prst="roundRect">
            <a:avLst>
              <a:gd name="adj" fmla="val 42857"/>
            </a:avLst>
          </a:prstGeom>
          <a:solidFill>
            <a:srgbClr val="ECE2D0"/>
          </a:solidFill>
          <a:ln w="6350">
            <a:solidFill>
              <a:srgbClr val="A26769"/>
            </a:solidFill>
            <a:prstDash val="solid"/>
          </a:ln>
        </p:spPr>
      </p:sp>
      <p:sp>
        <p:nvSpPr>
          <p:cNvPr id="44" name="Text 42"/>
          <p:cNvSpPr/>
          <p:nvPr/>
        </p:nvSpPr>
        <p:spPr>
          <a:xfrm>
            <a:off x="6629400" y="4462272"/>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グループ</a:t>
            </a:r>
            <a:endParaRPr lang="en-US" sz="850" dirty="0"/>
          </a:p>
        </p:txBody>
      </p:sp>
      <p:sp>
        <p:nvSpPr>
          <p:cNvPr id="45" name="Shape 43"/>
          <p:cNvSpPr/>
          <p:nvPr/>
        </p:nvSpPr>
        <p:spPr>
          <a:xfrm>
            <a:off x="594360" y="4828032"/>
            <a:ext cx="7223760" cy="484632"/>
          </a:xfrm>
          <a:prstGeom prst="rect">
            <a:avLst/>
          </a:prstGeom>
          <a:solidFill>
            <a:srgbClr val="FFFFFF"/>
          </a:solidFill>
          <a:ln w="6350">
            <a:solidFill>
              <a:srgbClr val="DED5CE"/>
            </a:solidFill>
            <a:prstDash val="solid"/>
          </a:ln>
        </p:spPr>
      </p:sp>
      <p:sp>
        <p:nvSpPr>
          <p:cNvPr id="46" name="Text 44"/>
          <p:cNvSpPr/>
          <p:nvPr/>
        </p:nvSpPr>
        <p:spPr>
          <a:xfrm>
            <a:off x="777240" y="4828032"/>
            <a:ext cx="1463040" cy="4846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投資売買益</a:t>
            </a:r>
            <a:endParaRPr lang="en-US" sz="1000" dirty="0"/>
          </a:p>
        </p:txBody>
      </p:sp>
      <p:sp>
        <p:nvSpPr>
          <p:cNvPr id="47" name="Text 45"/>
          <p:cNvSpPr/>
          <p:nvPr/>
        </p:nvSpPr>
        <p:spPr>
          <a:xfrm>
            <a:off x="2240280" y="4828032"/>
            <a:ext cx="2560320" cy="484632"/>
          </a:xfrm>
          <a:prstGeom prst="rect">
            <a:avLst/>
          </a:prstGeom>
          <a:noFill/>
          <a:ln/>
        </p:spPr>
        <p:txBody>
          <a:bodyPr wrap="square" lIns="0" tIns="0" rIns="0" bIns="0" rtlCol="0" anchor="ctr"/>
          <a:lstStyle/>
          <a:p>
            <a:pPr indent="0" marL="0">
              <a:buNone/>
            </a:pPr>
            <a:r>
              <a:rPr lang="en-US" sz="1100" b="1" dirty="0">
                <a:solidFill>
                  <a:srgbClr val="2B2B2B"/>
                </a:solidFill>
                <a:latin typeface="Arial" pitchFamily="34" charset="0"/>
                <a:ea typeface="Arial" pitchFamily="34" charset="-122"/>
                <a:cs typeface="Arial" pitchFamily="34" charset="-120"/>
              </a:rPr>
              <a:t>Cruiser shot</a:t>
            </a:r>
            <a:endParaRPr lang="en-US" sz="1100" dirty="0"/>
          </a:p>
        </p:txBody>
      </p:sp>
      <p:sp>
        <p:nvSpPr>
          <p:cNvPr id="48" name="Text 46"/>
          <p:cNvSpPr/>
          <p:nvPr/>
        </p:nvSpPr>
        <p:spPr>
          <a:xfrm>
            <a:off x="4892040" y="4828032"/>
            <a:ext cx="1463040" cy="484632"/>
          </a:xfrm>
          <a:prstGeom prst="rect">
            <a:avLst/>
          </a:prstGeom>
          <a:noFill/>
          <a:ln/>
        </p:spPr>
        <p:txBody>
          <a:bodyPr wrap="square" lIns="0" tIns="0" rIns="0" bIns="0" rtlCol="0" anchor="ctr"/>
          <a:lstStyle/>
          <a:p>
            <a:pPr algn="r" indent="0" marL="0">
              <a:buNone/>
            </a:pPr>
            <a:r>
              <a:rPr lang="en-US" sz="1150" b="1" dirty="0">
                <a:solidFill>
                  <a:srgbClr val="6D2E46"/>
                </a:solidFill>
                <a:latin typeface="Arial" pitchFamily="34" charset="0"/>
                <a:ea typeface="Arial" pitchFamily="34" charset="-122"/>
                <a:cs typeface="Arial" pitchFamily="34" charset="-120"/>
              </a:rPr>
              <a:t>¥20,000,000</a:t>
            </a:r>
            <a:endParaRPr lang="en-US" sz="1150" dirty="0"/>
          </a:p>
        </p:txBody>
      </p:sp>
      <p:sp>
        <p:nvSpPr>
          <p:cNvPr id="49" name="Shape 47"/>
          <p:cNvSpPr/>
          <p:nvPr/>
        </p:nvSpPr>
        <p:spPr>
          <a:xfrm>
            <a:off x="6629400" y="4946904"/>
            <a:ext cx="914400" cy="256032"/>
          </a:xfrm>
          <a:prstGeom prst="roundRect">
            <a:avLst>
              <a:gd name="adj" fmla="val 42857"/>
            </a:avLst>
          </a:prstGeom>
          <a:solidFill>
            <a:srgbClr val="E4EAE6"/>
          </a:solidFill>
          <a:ln w="6350">
            <a:solidFill>
              <a:srgbClr val="8FA89B"/>
            </a:solidFill>
            <a:prstDash val="solid"/>
          </a:ln>
        </p:spPr>
      </p:sp>
      <p:sp>
        <p:nvSpPr>
          <p:cNvPr id="50" name="Text 48"/>
          <p:cNvSpPr/>
          <p:nvPr/>
        </p:nvSpPr>
        <p:spPr>
          <a:xfrm>
            <a:off x="6629400" y="4946904"/>
            <a:ext cx="914400" cy="256032"/>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外部</a:t>
            </a:r>
            <a:endParaRPr lang="en-US" sz="850" dirty="0"/>
          </a:p>
        </p:txBody>
      </p:sp>
      <p:sp>
        <p:nvSpPr>
          <p:cNvPr id="51" name="Shape 49"/>
          <p:cNvSpPr/>
          <p:nvPr/>
        </p:nvSpPr>
        <p:spPr>
          <a:xfrm>
            <a:off x="594360" y="5312664"/>
            <a:ext cx="7223760" cy="475488"/>
          </a:xfrm>
          <a:prstGeom prst="rect">
            <a:avLst/>
          </a:prstGeom>
          <a:solidFill>
            <a:srgbClr val="ECE2D0"/>
          </a:solidFill>
          <a:ln w="12700">
            <a:solidFill>
              <a:srgbClr val="6D2E46"/>
            </a:solidFill>
            <a:prstDash val="solid"/>
          </a:ln>
        </p:spPr>
      </p:sp>
      <p:sp>
        <p:nvSpPr>
          <p:cNvPr id="52" name="Text 50"/>
          <p:cNvSpPr/>
          <p:nvPr/>
        </p:nvSpPr>
        <p:spPr>
          <a:xfrm>
            <a:off x="777240" y="5312664"/>
            <a:ext cx="1828800" cy="475488"/>
          </a:xfrm>
          <a:prstGeom prst="rect">
            <a:avLst/>
          </a:prstGeom>
          <a:noFill/>
          <a:ln/>
        </p:spPr>
        <p:txBody>
          <a:bodyPr wrap="square" lIns="0" tIns="0" rIns="0" bIns="0" rtlCol="0" anchor="ctr"/>
          <a:lstStyle/>
          <a:p>
            <a:pPr indent="0" marL="0">
              <a:buNone/>
            </a:pPr>
            <a:r>
              <a:rPr lang="en-US" sz="1150" b="1" dirty="0">
                <a:solidFill>
                  <a:srgbClr val="2B2B2B"/>
                </a:solidFill>
                <a:latin typeface="Arial" pitchFamily="34" charset="0"/>
                <a:ea typeface="Arial" pitchFamily="34" charset="-122"/>
                <a:cs typeface="Arial" pitchFamily="34" charset="-120"/>
              </a:rPr>
              <a:t>合計</a:t>
            </a:r>
            <a:endParaRPr lang="en-US" sz="1150" dirty="0"/>
          </a:p>
        </p:txBody>
      </p:sp>
      <p:sp>
        <p:nvSpPr>
          <p:cNvPr id="53" name="Text 51"/>
          <p:cNvSpPr/>
          <p:nvPr/>
        </p:nvSpPr>
        <p:spPr>
          <a:xfrm>
            <a:off x="4892040" y="5312664"/>
            <a:ext cx="1463040" cy="475488"/>
          </a:xfrm>
          <a:prstGeom prst="rect">
            <a:avLst/>
          </a:prstGeom>
          <a:noFill/>
          <a:ln/>
        </p:spPr>
        <p:txBody>
          <a:bodyPr wrap="square" lIns="0" tIns="0" rIns="0" bIns="0" rtlCol="0" anchor="ctr"/>
          <a:lstStyle/>
          <a:p>
            <a:pPr algn="r" indent="0" marL="0">
              <a:buNone/>
            </a:pPr>
            <a:r>
              <a:rPr lang="en-US" sz="1250" b="1" dirty="0">
                <a:solidFill>
                  <a:srgbClr val="6D2E46"/>
                </a:solidFill>
                <a:latin typeface="Arial" pitchFamily="34" charset="0"/>
                <a:ea typeface="Arial" pitchFamily="34" charset="-122"/>
                <a:cs typeface="Arial" pitchFamily="34" charset="-120"/>
              </a:rPr>
              <a:t>¥132,500,000</a:t>
            </a:r>
            <a:endParaRPr lang="en-US" sz="1250" dirty="0"/>
          </a:p>
        </p:txBody>
      </p:sp>
      <p:sp>
        <p:nvSpPr>
          <p:cNvPr id="54" name="Shape 52"/>
          <p:cNvSpPr/>
          <p:nvPr/>
        </p:nvSpPr>
        <p:spPr>
          <a:xfrm>
            <a:off x="8183880" y="1517904"/>
            <a:ext cx="3383280" cy="1417320"/>
          </a:xfrm>
          <a:prstGeom prst="roundRect">
            <a:avLst>
              <a:gd name="adj" fmla="val 3871"/>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5" name="Text 53"/>
          <p:cNvSpPr/>
          <p:nvPr/>
        </p:nvSpPr>
        <p:spPr>
          <a:xfrm>
            <a:off x="8412480" y="1664208"/>
            <a:ext cx="2926080" cy="274320"/>
          </a:xfrm>
          <a:prstGeom prst="rect">
            <a:avLst/>
          </a:prstGeom>
          <a:noFill/>
          <a:ln/>
        </p:spPr>
        <p:txBody>
          <a:bodyPr wrap="square" lIns="0" tIns="0" rIns="0" bIns="0" rtlCol="0" anchor="ctr"/>
          <a:lstStyle/>
          <a:p>
            <a:pPr indent="0" marL="0">
              <a:buNone/>
            </a:pPr>
            <a:r>
              <a:rPr lang="en-US" sz="1050" b="1" dirty="0">
                <a:solidFill>
                  <a:srgbClr val="6D2E46"/>
                </a:solidFill>
                <a:latin typeface="Arial" pitchFamily="34" charset="0"/>
                <a:ea typeface="Arial" pitchFamily="34" charset="-122"/>
                <a:cs typeface="Arial" pitchFamily="34" charset="-120"/>
              </a:rPr>
              <a:t>損益計上区分</a:t>
            </a:r>
            <a:endParaRPr lang="en-US" sz="1050" dirty="0"/>
          </a:p>
        </p:txBody>
      </p:sp>
      <p:sp>
        <p:nvSpPr>
          <p:cNvPr id="56" name="Text 54"/>
          <p:cNvSpPr/>
          <p:nvPr/>
        </p:nvSpPr>
        <p:spPr>
          <a:xfrm>
            <a:off x="8412480" y="1975104"/>
            <a:ext cx="2926080" cy="731520"/>
          </a:xfrm>
          <a:prstGeom prst="rect">
            <a:avLst/>
          </a:prstGeom>
          <a:noFill/>
          <a:ln/>
        </p:spPr>
        <p:txBody>
          <a:bodyPr wrap="square" lIns="0" tIns="0" rIns="0" bIns="0" rtlCol="0" anchor="ctr"/>
          <a:lstStyle/>
          <a:p>
            <a:pPr indent="0" marL="0">
              <a:lnSpc>
                <a:spcPts val="1800"/>
              </a:lnSpc>
              <a:buNone/>
            </a:pPr>
            <a:r>
              <a:rPr lang="en-US" sz="1150" dirty="0">
                <a:solidFill>
                  <a:srgbClr val="2B2B2B"/>
                </a:solidFill>
                <a:latin typeface="Arial" pitchFamily="34" charset="0"/>
                <a:ea typeface="Arial" pitchFamily="34" charset="-122"/>
                <a:cs typeface="Arial" pitchFamily="34" charset="-120"/>
              </a:rPr>
              <a:t>営業収益　112.5百万円</a:t>
            </a:r>
            <a:endParaRPr lang="en-US" sz="1150" dirty="0"/>
          </a:p>
          <a:p>
            <a:pPr indent="0" marL="0">
              <a:lnSpc>
                <a:spcPts val="1800"/>
              </a:lnSpc>
              <a:buNone/>
            </a:pPr>
            <a:r>
              <a:rPr lang="en-US" sz="1150" dirty="0">
                <a:solidFill>
                  <a:srgbClr val="2B2B2B"/>
                </a:solidFill>
                <a:latin typeface="Arial" pitchFamily="34" charset="0"/>
                <a:ea typeface="Arial" pitchFamily="34" charset="-122"/>
                <a:cs typeface="Arial" pitchFamily="34" charset="-120"/>
              </a:rPr>
              <a:t>営業外収益　20.0百万円</a:t>
            </a:r>
            <a:endParaRPr lang="en-US" sz="1150" dirty="0"/>
          </a:p>
        </p:txBody>
      </p:sp>
      <p:sp>
        <p:nvSpPr>
          <p:cNvPr id="57" name="Shape 55"/>
          <p:cNvSpPr/>
          <p:nvPr/>
        </p:nvSpPr>
        <p:spPr>
          <a:xfrm>
            <a:off x="8183880" y="3063240"/>
            <a:ext cx="3383280" cy="1417320"/>
          </a:xfrm>
          <a:prstGeom prst="roundRect">
            <a:avLst>
              <a:gd name="adj" fmla="val 3871"/>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8" name="Text 56"/>
          <p:cNvSpPr/>
          <p:nvPr/>
        </p:nvSpPr>
        <p:spPr>
          <a:xfrm>
            <a:off x="8412480" y="3209544"/>
            <a:ext cx="2926080" cy="274320"/>
          </a:xfrm>
          <a:prstGeom prst="rect">
            <a:avLst/>
          </a:prstGeom>
          <a:noFill/>
          <a:ln/>
        </p:spPr>
        <p:txBody>
          <a:bodyPr wrap="square" lIns="0" tIns="0" rIns="0" bIns="0" rtlCol="0" anchor="ctr"/>
          <a:lstStyle/>
          <a:p>
            <a:pPr indent="0" marL="0">
              <a:buNone/>
            </a:pPr>
            <a:r>
              <a:rPr lang="en-US" sz="1050" b="1" dirty="0">
                <a:solidFill>
                  <a:srgbClr val="6D2E46"/>
                </a:solidFill>
                <a:latin typeface="Arial" pitchFamily="34" charset="0"/>
                <a:ea typeface="Arial" pitchFamily="34" charset="-122"/>
                <a:cs typeface="Arial" pitchFamily="34" charset="-120"/>
              </a:rPr>
              <a:t>取引先の内訳</a:t>
            </a:r>
            <a:endParaRPr lang="en-US" sz="1050" dirty="0"/>
          </a:p>
        </p:txBody>
      </p:sp>
      <p:sp>
        <p:nvSpPr>
          <p:cNvPr id="59" name="Text 57"/>
          <p:cNvSpPr/>
          <p:nvPr/>
        </p:nvSpPr>
        <p:spPr>
          <a:xfrm>
            <a:off x="8412480" y="3520440"/>
            <a:ext cx="2926080" cy="731520"/>
          </a:xfrm>
          <a:prstGeom prst="rect">
            <a:avLst/>
          </a:prstGeom>
          <a:noFill/>
          <a:ln/>
        </p:spPr>
        <p:txBody>
          <a:bodyPr wrap="square" lIns="0" tIns="0" rIns="0" bIns="0" rtlCol="0" anchor="ctr"/>
          <a:lstStyle/>
          <a:p>
            <a:pPr indent="0" marL="0">
              <a:lnSpc>
                <a:spcPts val="1800"/>
              </a:lnSpc>
              <a:buNone/>
            </a:pPr>
            <a:r>
              <a:rPr lang="en-US" sz="1150" dirty="0">
                <a:solidFill>
                  <a:srgbClr val="2B2B2B"/>
                </a:solidFill>
                <a:latin typeface="Arial" pitchFamily="34" charset="0"/>
                <a:ea typeface="Arial" pitchFamily="34" charset="-122"/>
                <a:cs typeface="Arial" pitchFamily="34" charset="-120"/>
              </a:rPr>
              <a:t>グループ内　100.0百万円</a:t>
            </a:r>
            <a:endParaRPr lang="en-US" sz="1150" dirty="0"/>
          </a:p>
          <a:p>
            <a:pPr indent="0" marL="0">
              <a:lnSpc>
                <a:spcPts val="1800"/>
              </a:lnSpc>
              <a:buNone/>
            </a:pPr>
            <a:r>
              <a:rPr lang="en-US" sz="1150" dirty="0">
                <a:solidFill>
                  <a:srgbClr val="2B2B2B"/>
                </a:solidFill>
                <a:latin typeface="Arial" pitchFamily="34" charset="0"/>
                <a:ea typeface="Arial" pitchFamily="34" charset="-122"/>
                <a:cs typeface="Arial" pitchFamily="34" charset="-120"/>
              </a:rPr>
              <a:t>外部　32.5百万円</a:t>
            </a:r>
            <a:endParaRPr lang="en-US" sz="1150" dirty="0"/>
          </a:p>
        </p:txBody>
      </p:sp>
      <p:sp>
        <p:nvSpPr>
          <p:cNvPr id="60" name="Shape 58"/>
          <p:cNvSpPr/>
          <p:nvPr/>
        </p:nvSpPr>
        <p:spPr>
          <a:xfrm>
            <a:off x="8183880" y="4608576"/>
            <a:ext cx="3383280" cy="1152144"/>
          </a:xfrm>
          <a:prstGeom prst="roundRect">
            <a:avLst>
              <a:gd name="adj" fmla="val 4762"/>
            </a:avLst>
          </a:prstGeom>
          <a:solidFill>
            <a:srgbClr val="ECE2D0"/>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61" name="Text 59"/>
          <p:cNvSpPr/>
          <p:nvPr/>
        </p:nvSpPr>
        <p:spPr>
          <a:xfrm>
            <a:off x="8412480" y="4754880"/>
            <a:ext cx="2926080" cy="868680"/>
          </a:xfrm>
          <a:prstGeom prst="rect">
            <a:avLst/>
          </a:prstGeom>
          <a:noFill/>
          <a:ln/>
        </p:spPr>
        <p:txBody>
          <a:bodyPr wrap="square" lIns="0" tIns="0" rIns="0" bIns="0" rtlCol="0" anchor="ctr"/>
          <a:lstStyle/>
          <a:p>
            <a:pPr indent="0" marL="0">
              <a:buNone/>
            </a:pPr>
            <a:r>
              <a:rPr lang="en-US" sz="1000" dirty="0">
                <a:solidFill>
                  <a:srgbClr val="2B2B2B"/>
                </a:solidFill>
                <a:latin typeface="Arial" pitchFamily="34" charset="0"/>
                <a:ea typeface="Arial" pitchFamily="34" charset="-122"/>
                <a:cs typeface="Arial" pitchFamily="34" charset="-120"/>
              </a:rPr>
              <a:t>グループ内取引については、支払側の支払能力と対価の算定根拠を整備のうえご説明します。</a:t>
            </a:r>
            <a:endParaRPr lang="en-US" sz="1000" dirty="0"/>
          </a:p>
        </p:txBody>
      </p:sp>
      <p:sp>
        <p:nvSpPr>
          <p:cNvPr id="62" name="Text 60"/>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期間表記は2026/09-2027/08。決算期（2026/10-2027/09）と1か月ズレるため、全額をFY2027帰属として試算。</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FY2026 → FY2027 営業利益ブリッジ</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保守シナリオでも＋91.7百万円の改善。上乗せ案件と固定費削減が寄与します。</a:t>
            </a:r>
            <a:endParaRPr lang="en-US" sz="1250" dirty="0"/>
          </a:p>
        </p:txBody>
      </p:sp>
      <p:sp>
        <p:nvSpPr>
          <p:cNvPr id="4" name="Shape 2"/>
          <p:cNvSpPr/>
          <p:nvPr/>
        </p:nvSpPr>
        <p:spPr>
          <a:xfrm>
            <a:off x="822960" y="2154326"/>
            <a:ext cx="10607040" cy="0"/>
          </a:xfrm>
          <a:prstGeom prst="line">
            <a:avLst/>
          </a:prstGeom>
          <a:noFill/>
          <a:ln w="12700">
            <a:solidFill>
              <a:srgbClr val="C9BDB5"/>
            </a:solidFill>
            <a:prstDash val="solid"/>
          </a:ln>
        </p:spPr>
      </p:sp>
      <p:sp>
        <p:nvSpPr>
          <p:cNvPr id="5" name="Text 3"/>
          <p:cNvSpPr/>
          <p:nvPr/>
        </p:nvSpPr>
        <p:spPr>
          <a:xfrm>
            <a:off x="438912" y="2035454"/>
            <a:ext cx="329184" cy="237744"/>
          </a:xfrm>
          <a:prstGeom prst="rect">
            <a:avLst/>
          </a:prstGeom>
          <a:noFill/>
          <a:ln/>
        </p:spPr>
        <p:txBody>
          <a:bodyPr wrap="square" lIns="0" tIns="0" rIns="0" bIns="0" rtlCol="0" anchor="ctr"/>
          <a:lstStyle/>
          <a:p>
            <a:pPr algn="r" indent="0" marL="0">
              <a:buNone/>
            </a:pPr>
            <a:r>
              <a:rPr lang="en-US" sz="900" dirty="0">
                <a:solidFill>
                  <a:srgbClr val="7A6A64"/>
                </a:solidFill>
                <a:latin typeface="Arial" pitchFamily="34" charset="0"/>
                <a:ea typeface="Arial" pitchFamily="34" charset="-122"/>
                <a:cs typeface="Arial" pitchFamily="34" charset="-120"/>
              </a:rPr>
              <a:t>0</a:t>
            </a:r>
            <a:endParaRPr lang="en-US" sz="900" dirty="0"/>
          </a:p>
        </p:txBody>
      </p:sp>
      <p:sp>
        <p:nvSpPr>
          <p:cNvPr id="6" name="Shape 4"/>
          <p:cNvSpPr/>
          <p:nvPr/>
        </p:nvSpPr>
        <p:spPr>
          <a:xfrm>
            <a:off x="822960" y="2154326"/>
            <a:ext cx="1572768" cy="1668977"/>
          </a:xfrm>
          <a:prstGeom prst="rect">
            <a:avLst/>
          </a:prstGeom>
          <a:solidFill>
            <a:srgbClr val="4A4A4A"/>
          </a:solidFill>
          <a:ln/>
        </p:spPr>
      </p:sp>
      <p:sp>
        <p:nvSpPr>
          <p:cNvPr id="7" name="Text 5"/>
          <p:cNvSpPr/>
          <p:nvPr/>
        </p:nvSpPr>
        <p:spPr>
          <a:xfrm>
            <a:off x="822960" y="3859880"/>
            <a:ext cx="1572768" cy="292608"/>
          </a:xfrm>
          <a:prstGeom prst="rect">
            <a:avLst/>
          </a:prstGeom>
          <a:noFill/>
          <a:ln/>
        </p:spPr>
        <p:txBody>
          <a:bodyPr wrap="square" lIns="0" tIns="0" rIns="0" bIns="0" rtlCol="0" anchor="ctr"/>
          <a:lstStyle/>
          <a:p>
            <a:pPr algn="ctr" indent="0" marL="0">
              <a:buNone/>
            </a:pPr>
            <a:r>
              <a:rPr lang="en-US" sz="1300" b="1" dirty="0">
                <a:solidFill>
                  <a:srgbClr val="4A4A4A"/>
                </a:solidFill>
                <a:latin typeface="Cambria" pitchFamily="34" charset="0"/>
                <a:ea typeface="Cambria" pitchFamily="34" charset="-122"/>
                <a:cs typeface="Cambria" pitchFamily="34" charset="-120"/>
              </a:rPr>
              <a:t>▲114.8</a:t>
            </a:r>
            <a:endParaRPr lang="en-US" sz="1300" dirty="0"/>
          </a:p>
        </p:txBody>
      </p:sp>
      <p:sp>
        <p:nvSpPr>
          <p:cNvPr id="8" name="Text 6"/>
          <p:cNvSpPr/>
          <p:nvPr/>
        </p:nvSpPr>
        <p:spPr>
          <a:xfrm>
            <a:off x="713232" y="4754880"/>
            <a:ext cx="1792224"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FY2026</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営業利益</a:t>
            </a:r>
            <a:endParaRPr lang="en-US" sz="1000" dirty="0"/>
          </a:p>
        </p:txBody>
      </p:sp>
      <p:sp>
        <p:nvSpPr>
          <p:cNvPr id="9" name="Shape 7"/>
          <p:cNvSpPr/>
          <p:nvPr/>
        </p:nvSpPr>
        <p:spPr>
          <a:xfrm>
            <a:off x="2688336" y="3823304"/>
            <a:ext cx="1572768" cy="414905"/>
          </a:xfrm>
          <a:prstGeom prst="rect">
            <a:avLst/>
          </a:prstGeom>
          <a:solidFill>
            <a:srgbClr val="A26769"/>
          </a:solidFill>
          <a:ln/>
        </p:spPr>
      </p:sp>
      <p:sp>
        <p:nvSpPr>
          <p:cNvPr id="10" name="Text 8"/>
          <p:cNvSpPr/>
          <p:nvPr/>
        </p:nvSpPr>
        <p:spPr>
          <a:xfrm>
            <a:off x="2688336" y="4274785"/>
            <a:ext cx="1572768" cy="292608"/>
          </a:xfrm>
          <a:prstGeom prst="rect">
            <a:avLst/>
          </a:prstGeom>
          <a:noFill/>
          <a:ln/>
        </p:spPr>
        <p:txBody>
          <a:bodyPr wrap="square" lIns="0" tIns="0" rIns="0" bIns="0" rtlCol="0" anchor="ctr"/>
          <a:lstStyle/>
          <a:p>
            <a:pPr algn="ctr" indent="0" marL="0">
              <a:buNone/>
            </a:pPr>
            <a:r>
              <a:rPr lang="en-US" sz="1300" b="1" dirty="0">
                <a:solidFill>
                  <a:srgbClr val="A26769"/>
                </a:solidFill>
                <a:latin typeface="Cambria" pitchFamily="34" charset="0"/>
                <a:ea typeface="Cambria" pitchFamily="34" charset="-122"/>
                <a:cs typeface="Cambria" pitchFamily="34" charset="-120"/>
              </a:rPr>
              <a:t>▲28.5</a:t>
            </a:r>
            <a:endParaRPr lang="en-US" sz="1300" dirty="0"/>
          </a:p>
        </p:txBody>
      </p:sp>
      <p:sp>
        <p:nvSpPr>
          <p:cNvPr id="11" name="Text 9"/>
          <p:cNvSpPr/>
          <p:nvPr/>
        </p:nvSpPr>
        <p:spPr>
          <a:xfrm>
            <a:off x="2578608" y="4754880"/>
            <a:ext cx="1792224"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① 既存事業</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粗利の減少</a:t>
            </a:r>
            <a:endParaRPr lang="en-US" sz="1000" dirty="0"/>
          </a:p>
        </p:txBody>
      </p:sp>
      <p:sp>
        <p:nvSpPr>
          <p:cNvPr id="12" name="Shape 10"/>
          <p:cNvSpPr/>
          <p:nvPr/>
        </p:nvSpPr>
        <p:spPr>
          <a:xfrm>
            <a:off x="4553712" y="3601813"/>
            <a:ext cx="1572768" cy="636396"/>
          </a:xfrm>
          <a:prstGeom prst="rect">
            <a:avLst/>
          </a:prstGeom>
          <a:solidFill>
            <a:srgbClr val="6D2E46"/>
          </a:solidFill>
          <a:ln/>
        </p:spPr>
      </p:sp>
      <p:sp>
        <p:nvSpPr>
          <p:cNvPr id="13" name="Text 11"/>
          <p:cNvSpPr/>
          <p:nvPr/>
        </p:nvSpPr>
        <p:spPr>
          <a:xfrm>
            <a:off x="4553712" y="3272629"/>
            <a:ext cx="1572768" cy="292608"/>
          </a:xfrm>
          <a:prstGeom prst="rect">
            <a:avLst/>
          </a:prstGeom>
          <a:noFill/>
          <a:ln/>
        </p:spPr>
        <p:txBody>
          <a:bodyPr wrap="square" lIns="0" tIns="0" rIns="0" bIns="0" rtlCol="0" anchor="ctr"/>
          <a:lstStyle/>
          <a:p>
            <a:pPr algn="ctr" indent="0" marL="0">
              <a:buNone/>
            </a:pPr>
            <a:r>
              <a:rPr lang="en-US" sz="1300" b="1" dirty="0">
                <a:solidFill>
                  <a:srgbClr val="6D2E46"/>
                </a:solidFill>
                <a:latin typeface="Cambria" pitchFamily="34" charset="0"/>
                <a:ea typeface="Cambria" pitchFamily="34" charset="-122"/>
                <a:cs typeface="Cambria" pitchFamily="34" charset="-120"/>
              </a:rPr>
              <a:t>+43.8</a:t>
            </a:r>
            <a:endParaRPr lang="en-US" sz="1300" dirty="0"/>
          </a:p>
        </p:txBody>
      </p:sp>
      <p:sp>
        <p:nvSpPr>
          <p:cNvPr id="14" name="Text 12"/>
          <p:cNvSpPr/>
          <p:nvPr/>
        </p:nvSpPr>
        <p:spPr>
          <a:xfrm>
            <a:off x="4443984" y="4754880"/>
            <a:ext cx="1792224"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② 販管費</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の削減</a:t>
            </a:r>
            <a:endParaRPr lang="en-US" sz="1000" dirty="0"/>
          </a:p>
        </p:txBody>
      </p:sp>
      <p:sp>
        <p:nvSpPr>
          <p:cNvPr id="15" name="Shape 13"/>
          <p:cNvSpPr/>
          <p:nvPr/>
        </p:nvSpPr>
        <p:spPr>
          <a:xfrm>
            <a:off x="6419088" y="1966180"/>
            <a:ext cx="1572768" cy="1635633"/>
          </a:xfrm>
          <a:prstGeom prst="rect">
            <a:avLst/>
          </a:prstGeom>
          <a:solidFill>
            <a:srgbClr val="6D2E46"/>
          </a:solidFill>
          <a:ln/>
        </p:spPr>
      </p:sp>
      <p:sp>
        <p:nvSpPr>
          <p:cNvPr id="16" name="Text 14"/>
          <p:cNvSpPr/>
          <p:nvPr/>
        </p:nvSpPr>
        <p:spPr>
          <a:xfrm>
            <a:off x="6419088" y="1636996"/>
            <a:ext cx="1572768" cy="292608"/>
          </a:xfrm>
          <a:prstGeom prst="rect">
            <a:avLst/>
          </a:prstGeom>
          <a:noFill/>
          <a:ln/>
        </p:spPr>
        <p:txBody>
          <a:bodyPr wrap="square" lIns="0" tIns="0" rIns="0" bIns="0" rtlCol="0" anchor="ctr"/>
          <a:lstStyle/>
          <a:p>
            <a:pPr algn="ctr" indent="0" marL="0">
              <a:buNone/>
            </a:pPr>
            <a:r>
              <a:rPr lang="en-US" sz="1300" b="1" dirty="0">
                <a:solidFill>
                  <a:srgbClr val="6D2E46"/>
                </a:solidFill>
                <a:latin typeface="Cambria" pitchFamily="34" charset="0"/>
                <a:ea typeface="Cambria" pitchFamily="34" charset="-122"/>
                <a:cs typeface="Cambria" pitchFamily="34" charset="-120"/>
              </a:rPr>
              <a:t>+112.5</a:t>
            </a:r>
            <a:endParaRPr lang="en-US" sz="1300" dirty="0"/>
          </a:p>
        </p:txBody>
      </p:sp>
      <p:sp>
        <p:nvSpPr>
          <p:cNvPr id="17" name="Text 15"/>
          <p:cNvSpPr/>
          <p:nvPr/>
        </p:nvSpPr>
        <p:spPr>
          <a:xfrm>
            <a:off x="6309360" y="4754880"/>
            <a:ext cx="1792224"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③ 上乗せ案件</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（営業収益）</a:t>
            </a:r>
            <a:endParaRPr lang="en-US" sz="1000" dirty="0"/>
          </a:p>
        </p:txBody>
      </p:sp>
      <p:sp>
        <p:nvSpPr>
          <p:cNvPr id="18" name="Shape 16"/>
          <p:cNvSpPr/>
          <p:nvPr/>
        </p:nvSpPr>
        <p:spPr>
          <a:xfrm>
            <a:off x="8284464" y="1966180"/>
            <a:ext cx="1572768" cy="523403"/>
          </a:xfrm>
          <a:prstGeom prst="rect">
            <a:avLst/>
          </a:prstGeom>
          <a:solidFill>
            <a:srgbClr val="A26769"/>
          </a:solidFill>
          <a:ln/>
        </p:spPr>
      </p:sp>
      <p:sp>
        <p:nvSpPr>
          <p:cNvPr id="19" name="Text 17"/>
          <p:cNvSpPr/>
          <p:nvPr/>
        </p:nvSpPr>
        <p:spPr>
          <a:xfrm>
            <a:off x="8284464" y="2526158"/>
            <a:ext cx="1572768" cy="292608"/>
          </a:xfrm>
          <a:prstGeom prst="rect">
            <a:avLst/>
          </a:prstGeom>
          <a:noFill/>
          <a:ln/>
        </p:spPr>
        <p:txBody>
          <a:bodyPr wrap="square" lIns="0" tIns="0" rIns="0" bIns="0" rtlCol="0" anchor="ctr"/>
          <a:lstStyle/>
          <a:p>
            <a:pPr algn="ctr" indent="0" marL="0">
              <a:buNone/>
            </a:pPr>
            <a:r>
              <a:rPr lang="en-US" sz="1300" b="1" dirty="0">
                <a:solidFill>
                  <a:srgbClr val="A26769"/>
                </a:solidFill>
                <a:latin typeface="Cambria" pitchFamily="34" charset="0"/>
                <a:ea typeface="Cambria" pitchFamily="34" charset="-122"/>
                <a:cs typeface="Cambria" pitchFamily="34" charset="-120"/>
              </a:rPr>
              <a:t>▲36.0</a:t>
            </a:r>
            <a:endParaRPr lang="en-US" sz="1300" dirty="0"/>
          </a:p>
        </p:txBody>
      </p:sp>
      <p:sp>
        <p:nvSpPr>
          <p:cNvPr id="20" name="Text 18"/>
          <p:cNvSpPr/>
          <p:nvPr/>
        </p:nvSpPr>
        <p:spPr>
          <a:xfrm>
            <a:off x="8174736" y="4754880"/>
            <a:ext cx="1792224"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④ 上場関連</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コスト</a:t>
            </a:r>
            <a:endParaRPr lang="en-US" sz="1000" dirty="0"/>
          </a:p>
        </p:txBody>
      </p:sp>
      <p:sp>
        <p:nvSpPr>
          <p:cNvPr id="21" name="Shape 19"/>
          <p:cNvSpPr/>
          <p:nvPr/>
        </p:nvSpPr>
        <p:spPr>
          <a:xfrm>
            <a:off x="10149840" y="2154326"/>
            <a:ext cx="1572768" cy="335256"/>
          </a:xfrm>
          <a:prstGeom prst="rect">
            <a:avLst/>
          </a:prstGeom>
          <a:solidFill>
            <a:srgbClr val="4A4A4A"/>
          </a:solidFill>
          <a:ln/>
        </p:spPr>
      </p:sp>
      <p:sp>
        <p:nvSpPr>
          <p:cNvPr id="22" name="Text 20"/>
          <p:cNvSpPr/>
          <p:nvPr/>
        </p:nvSpPr>
        <p:spPr>
          <a:xfrm>
            <a:off x="10149840" y="2526158"/>
            <a:ext cx="1572768" cy="292608"/>
          </a:xfrm>
          <a:prstGeom prst="rect">
            <a:avLst/>
          </a:prstGeom>
          <a:noFill/>
          <a:ln/>
        </p:spPr>
        <p:txBody>
          <a:bodyPr wrap="square" lIns="0" tIns="0" rIns="0" bIns="0" rtlCol="0" anchor="ctr"/>
          <a:lstStyle/>
          <a:p>
            <a:pPr algn="ctr" indent="0" marL="0">
              <a:buNone/>
            </a:pPr>
            <a:r>
              <a:rPr lang="en-US" sz="1300" b="1" dirty="0">
                <a:solidFill>
                  <a:srgbClr val="4A4A4A"/>
                </a:solidFill>
                <a:latin typeface="Cambria" pitchFamily="34" charset="0"/>
                <a:ea typeface="Cambria" pitchFamily="34" charset="-122"/>
                <a:cs typeface="Cambria" pitchFamily="34" charset="-120"/>
              </a:rPr>
              <a:t>▲23.1</a:t>
            </a:r>
            <a:endParaRPr lang="en-US" sz="1300" dirty="0"/>
          </a:p>
        </p:txBody>
      </p:sp>
      <p:sp>
        <p:nvSpPr>
          <p:cNvPr id="23" name="Text 21"/>
          <p:cNvSpPr/>
          <p:nvPr/>
        </p:nvSpPr>
        <p:spPr>
          <a:xfrm>
            <a:off x="10040112" y="4754880"/>
            <a:ext cx="1792224" cy="640080"/>
          </a:xfrm>
          <a:prstGeom prst="rect">
            <a:avLst/>
          </a:prstGeom>
          <a:noFill/>
          <a:ln/>
        </p:spPr>
        <p:txBody>
          <a:bodyPr wrap="square" lIns="0" tIns="0" rIns="0" bIns="0" rtlCol="0" anchor="ctr"/>
          <a:lstStyle/>
          <a:p>
            <a:pPr algn="ctr" indent="0" marL="0">
              <a:buNone/>
            </a:pPr>
            <a:r>
              <a:rPr lang="en-US" sz="1000" dirty="0">
                <a:solidFill>
                  <a:srgbClr val="2B2B2B"/>
                </a:solidFill>
                <a:latin typeface="Arial" pitchFamily="34" charset="0"/>
                <a:ea typeface="Arial" pitchFamily="34" charset="-122"/>
                <a:cs typeface="Arial" pitchFamily="34" charset="-120"/>
              </a:rPr>
              <a:t>FY2027</a:t>
            </a:r>
            <a:endParaRPr lang="en-US" sz="1000" dirty="0"/>
          </a:p>
          <a:p>
            <a:pPr algn="ctr" indent="0" marL="0">
              <a:buNone/>
            </a:pPr>
            <a:r>
              <a:rPr lang="en-US" sz="1000" dirty="0">
                <a:solidFill>
                  <a:srgbClr val="2B2B2B"/>
                </a:solidFill>
                <a:latin typeface="Arial" pitchFamily="34" charset="0"/>
                <a:ea typeface="Arial" pitchFamily="34" charset="-122"/>
                <a:cs typeface="Arial" pitchFamily="34" charset="-120"/>
              </a:rPr>
              <a:t>営業利益</a:t>
            </a:r>
            <a:endParaRPr lang="en-US" sz="1000" dirty="0"/>
          </a:p>
        </p:txBody>
      </p:sp>
      <p:sp>
        <p:nvSpPr>
          <p:cNvPr id="24" name="Text 22"/>
          <p:cNvSpPr/>
          <p:nvPr/>
        </p:nvSpPr>
        <p:spPr>
          <a:xfrm>
            <a:off x="594360" y="1298448"/>
            <a:ext cx="1828800" cy="237744"/>
          </a:xfrm>
          <a:prstGeom prst="rect">
            <a:avLst/>
          </a:prstGeom>
          <a:noFill/>
          <a:ln/>
        </p:spPr>
        <p:txBody>
          <a:bodyPr wrap="square" lIns="0" tIns="0" rIns="0" bIns="0" rtlCol="0" anchor="ctr"/>
          <a:lstStyle/>
          <a:p>
            <a:pPr indent="0" marL="0">
              <a:buNone/>
            </a:pPr>
            <a:r>
              <a:rPr lang="en-US" sz="900" dirty="0">
                <a:solidFill>
                  <a:srgbClr val="7A6A64"/>
                </a:solidFill>
                <a:latin typeface="Arial" pitchFamily="34" charset="0"/>
                <a:ea typeface="Arial" pitchFamily="34" charset="-122"/>
                <a:cs typeface="Arial" pitchFamily="34" charset="-120"/>
              </a:rPr>
              <a:t>単位：百万円</a:t>
            </a:r>
            <a:endParaRPr lang="en-US" sz="900" dirty="0"/>
          </a:p>
        </p:txBody>
      </p:sp>
      <p:sp>
        <p:nvSpPr>
          <p:cNvPr id="25" name="Shape 23"/>
          <p:cNvSpPr/>
          <p:nvPr/>
        </p:nvSpPr>
        <p:spPr>
          <a:xfrm>
            <a:off x="822960" y="5632704"/>
            <a:ext cx="10607040" cy="621792"/>
          </a:xfrm>
          <a:prstGeom prst="roundRect">
            <a:avLst>
              <a:gd name="adj" fmla="val 8824"/>
            </a:avLst>
          </a:prstGeom>
          <a:solidFill>
            <a:srgbClr val="ECE2D0"/>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6" name="Text 24"/>
          <p:cNvSpPr/>
          <p:nvPr/>
        </p:nvSpPr>
        <p:spPr>
          <a:xfrm>
            <a:off x="1051560" y="5632704"/>
            <a:ext cx="10149840" cy="621792"/>
          </a:xfrm>
          <a:prstGeom prst="rect">
            <a:avLst/>
          </a:prstGeom>
          <a:noFill/>
          <a:ln/>
        </p:spPr>
        <p:txBody>
          <a:bodyPr wrap="square" lIns="0" tIns="0" rIns="0" bIns="0" rtlCol="0" anchor="ctr"/>
          <a:lstStyle/>
          <a:p>
            <a:pPr indent="0" marL="0">
              <a:buNone/>
            </a:pPr>
            <a:r>
              <a:rPr lang="en-US" sz="1220" b="1" dirty="0">
                <a:solidFill>
                  <a:srgbClr val="6D2E46"/>
                </a:solidFill>
                <a:latin typeface="Arial" pitchFamily="34" charset="0"/>
                <a:ea typeface="Arial" pitchFamily="34" charset="-122"/>
                <a:cs typeface="Arial" pitchFamily="34" charset="-120"/>
              </a:rPr>
              <a:t>FY2026 ▲114.8百万円　→　FY2027 ▲23.1百万円　　改善額 ＋91.7百万円。黒字化まで残り23.1百万円（追加売上4,473万円）。</a:t>
            </a:r>
            <a:endParaRPr lang="en-US" sz="1220" dirty="0"/>
          </a:p>
        </p:txBody>
      </p:sp>
      <p:sp>
        <p:nvSpPr>
          <p:cNvPr id="27" name="Text 25"/>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①はFY2026に含まれる大口案件（2025/11・2026/09）を保守的にゼロと置いたことによる減少。</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FY2027 月次推移表 － 保守シナリオ</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2026年4-6月の実力値を横ばいで延伸し、上乗せ案件を計上したもの。</a:t>
            </a:r>
            <a:endParaRPr lang="en-US" sz="1250" dirty="0"/>
          </a:p>
        </p:txBody>
      </p:sp>
      <p:sp>
        <p:nvSpPr>
          <p:cNvPr id="4" name="Shape 2"/>
          <p:cNvSpPr/>
          <p:nvPr/>
        </p:nvSpPr>
        <p:spPr>
          <a:xfrm>
            <a:off x="594360" y="1417320"/>
            <a:ext cx="11411712" cy="365760"/>
          </a:xfrm>
          <a:prstGeom prst="rect">
            <a:avLst/>
          </a:prstGeom>
          <a:solidFill>
            <a:srgbClr val="6D2E46"/>
          </a:solidFill>
          <a:ln/>
        </p:spPr>
      </p:sp>
      <p:sp>
        <p:nvSpPr>
          <p:cNvPr id="5" name="Text 3"/>
          <p:cNvSpPr/>
          <p:nvPr/>
        </p:nvSpPr>
        <p:spPr>
          <a:xfrm>
            <a:off x="704088" y="1417320"/>
            <a:ext cx="1874520" cy="36576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科目（百万円）</a:t>
            </a:r>
            <a:endParaRPr lang="en-US" sz="900" dirty="0"/>
          </a:p>
        </p:txBody>
      </p:sp>
      <p:sp>
        <p:nvSpPr>
          <p:cNvPr id="6" name="Text 4"/>
          <p:cNvSpPr/>
          <p:nvPr/>
        </p:nvSpPr>
        <p:spPr>
          <a:xfrm>
            <a:off x="2468880"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26/10</a:t>
            </a:r>
            <a:endParaRPr lang="en-US" sz="850" dirty="0"/>
          </a:p>
        </p:txBody>
      </p:sp>
      <p:sp>
        <p:nvSpPr>
          <p:cNvPr id="7" name="Text 5"/>
          <p:cNvSpPr/>
          <p:nvPr/>
        </p:nvSpPr>
        <p:spPr>
          <a:xfrm>
            <a:off x="3191256"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26/11</a:t>
            </a:r>
            <a:endParaRPr lang="en-US" sz="850" dirty="0"/>
          </a:p>
        </p:txBody>
      </p:sp>
      <p:sp>
        <p:nvSpPr>
          <p:cNvPr id="8" name="Text 6"/>
          <p:cNvSpPr/>
          <p:nvPr/>
        </p:nvSpPr>
        <p:spPr>
          <a:xfrm>
            <a:off x="3913632"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26/12</a:t>
            </a:r>
            <a:endParaRPr lang="en-US" sz="850" dirty="0"/>
          </a:p>
        </p:txBody>
      </p:sp>
      <p:sp>
        <p:nvSpPr>
          <p:cNvPr id="9" name="Text 7"/>
          <p:cNvSpPr/>
          <p:nvPr/>
        </p:nvSpPr>
        <p:spPr>
          <a:xfrm>
            <a:off x="4636008"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27/01</a:t>
            </a:r>
            <a:endParaRPr lang="en-US" sz="850" dirty="0"/>
          </a:p>
        </p:txBody>
      </p:sp>
      <p:sp>
        <p:nvSpPr>
          <p:cNvPr id="10" name="Text 8"/>
          <p:cNvSpPr/>
          <p:nvPr/>
        </p:nvSpPr>
        <p:spPr>
          <a:xfrm>
            <a:off x="5358384"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27/02</a:t>
            </a:r>
            <a:endParaRPr lang="en-US" sz="850" dirty="0"/>
          </a:p>
        </p:txBody>
      </p:sp>
      <p:sp>
        <p:nvSpPr>
          <p:cNvPr id="11" name="Text 9"/>
          <p:cNvSpPr/>
          <p:nvPr/>
        </p:nvSpPr>
        <p:spPr>
          <a:xfrm>
            <a:off x="6080760"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27/03</a:t>
            </a:r>
            <a:endParaRPr lang="en-US" sz="850" dirty="0"/>
          </a:p>
        </p:txBody>
      </p:sp>
      <p:sp>
        <p:nvSpPr>
          <p:cNvPr id="12" name="Text 10"/>
          <p:cNvSpPr/>
          <p:nvPr/>
        </p:nvSpPr>
        <p:spPr>
          <a:xfrm>
            <a:off x="6803136"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27/04</a:t>
            </a:r>
            <a:endParaRPr lang="en-US" sz="850" dirty="0"/>
          </a:p>
        </p:txBody>
      </p:sp>
      <p:sp>
        <p:nvSpPr>
          <p:cNvPr id="13" name="Text 11"/>
          <p:cNvSpPr/>
          <p:nvPr/>
        </p:nvSpPr>
        <p:spPr>
          <a:xfrm>
            <a:off x="7525512"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27/05</a:t>
            </a:r>
            <a:endParaRPr lang="en-US" sz="850" dirty="0"/>
          </a:p>
        </p:txBody>
      </p:sp>
      <p:sp>
        <p:nvSpPr>
          <p:cNvPr id="14" name="Text 12"/>
          <p:cNvSpPr/>
          <p:nvPr/>
        </p:nvSpPr>
        <p:spPr>
          <a:xfrm>
            <a:off x="8247888"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27/06</a:t>
            </a:r>
            <a:endParaRPr lang="en-US" sz="850" dirty="0"/>
          </a:p>
        </p:txBody>
      </p:sp>
      <p:sp>
        <p:nvSpPr>
          <p:cNvPr id="15" name="Text 13"/>
          <p:cNvSpPr/>
          <p:nvPr/>
        </p:nvSpPr>
        <p:spPr>
          <a:xfrm>
            <a:off x="8970264"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27/07</a:t>
            </a:r>
            <a:endParaRPr lang="en-US" sz="850" dirty="0"/>
          </a:p>
        </p:txBody>
      </p:sp>
      <p:sp>
        <p:nvSpPr>
          <p:cNvPr id="16" name="Text 14"/>
          <p:cNvSpPr/>
          <p:nvPr/>
        </p:nvSpPr>
        <p:spPr>
          <a:xfrm>
            <a:off x="9692640"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27/08</a:t>
            </a:r>
            <a:endParaRPr lang="en-US" sz="850" dirty="0"/>
          </a:p>
        </p:txBody>
      </p:sp>
      <p:sp>
        <p:nvSpPr>
          <p:cNvPr id="17" name="Text 15"/>
          <p:cNvSpPr/>
          <p:nvPr/>
        </p:nvSpPr>
        <p:spPr>
          <a:xfrm>
            <a:off x="10415016" y="1417320"/>
            <a:ext cx="722376" cy="365760"/>
          </a:xfrm>
          <a:prstGeom prst="rect">
            <a:avLst/>
          </a:prstGeom>
          <a:noFill/>
          <a:ln/>
        </p:spPr>
        <p:txBody>
          <a:bodyPr wrap="square" lIns="0" tIns="0" rIns="0" bIns="0" rtlCol="0" anchor="ctr"/>
          <a:lstStyle/>
          <a:p>
            <a:pPr algn="ctr" indent="0" marL="0">
              <a:buNone/>
            </a:pPr>
            <a:r>
              <a:rPr lang="en-US" sz="850" dirty="0">
                <a:solidFill>
                  <a:srgbClr val="FFFFFF"/>
                </a:solidFill>
                <a:latin typeface="Arial" pitchFamily="34" charset="0"/>
                <a:ea typeface="Arial" pitchFamily="34" charset="-122"/>
                <a:cs typeface="Arial" pitchFamily="34" charset="-120"/>
              </a:rPr>
              <a:t>27/09</a:t>
            </a:r>
            <a:endParaRPr lang="en-US" sz="850" dirty="0"/>
          </a:p>
        </p:txBody>
      </p:sp>
      <p:sp>
        <p:nvSpPr>
          <p:cNvPr id="18" name="Text 16"/>
          <p:cNvSpPr/>
          <p:nvPr/>
        </p:nvSpPr>
        <p:spPr>
          <a:xfrm>
            <a:off x="11137392" y="1417320"/>
            <a:ext cx="868680" cy="36576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通期</a:t>
            </a:r>
            <a:endParaRPr lang="en-US" sz="900" dirty="0"/>
          </a:p>
        </p:txBody>
      </p:sp>
      <p:sp>
        <p:nvSpPr>
          <p:cNvPr id="19" name="Shape 17"/>
          <p:cNvSpPr/>
          <p:nvPr/>
        </p:nvSpPr>
        <p:spPr>
          <a:xfrm>
            <a:off x="594360" y="1783080"/>
            <a:ext cx="11411712" cy="320040"/>
          </a:xfrm>
          <a:prstGeom prst="rect">
            <a:avLst/>
          </a:prstGeom>
          <a:solidFill>
            <a:srgbClr val="FFFFFF"/>
          </a:solidFill>
          <a:ln w="6350">
            <a:solidFill>
              <a:srgbClr val="DED5CE"/>
            </a:solidFill>
            <a:prstDash val="solid"/>
          </a:ln>
        </p:spPr>
      </p:sp>
      <p:sp>
        <p:nvSpPr>
          <p:cNvPr id="20" name="Text 18"/>
          <p:cNvSpPr/>
          <p:nvPr/>
        </p:nvSpPr>
        <p:spPr>
          <a:xfrm>
            <a:off x="704088" y="1783080"/>
            <a:ext cx="1874520" cy="32004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既存事業 売上</a:t>
            </a:r>
            <a:endParaRPr lang="en-US" sz="900" dirty="0"/>
          </a:p>
        </p:txBody>
      </p:sp>
      <p:sp>
        <p:nvSpPr>
          <p:cNvPr id="21" name="Text 19"/>
          <p:cNvSpPr/>
          <p:nvPr/>
        </p:nvSpPr>
        <p:spPr>
          <a:xfrm>
            <a:off x="2468880"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22" name="Text 20"/>
          <p:cNvSpPr/>
          <p:nvPr/>
        </p:nvSpPr>
        <p:spPr>
          <a:xfrm>
            <a:off x="3191256"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23" name="Text 21"/>
          <p:cNvSpPr/>
          <p:nvPr/>
        </p:nvSpPr>
        <p:spPr>
          <a:xfrm>
            <a:off x="3913632"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24" name="Text 22"/>
          <p:cNvSpPr/>
          <p:nvPr/>
        </p:nvSpPr>
        <p:spPr>
          <a:xfrm>
            <a:off x="4636008"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25" name="Text 23"/>
          <p:cNvSpPr/>
          <p:nvPr/>
        </p:nvSpPr>
        <p:spPr>
          <a:xfrm>
            <a:off x="5358384"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26" name="Text 24"/>
          <p:cNvSpPr/>
          <p:nvPr/>
        </p:nvSpPr>
        <p:spPr>
          <a:xfrm>
            <a:off x="6080760"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27" name="Text 25"/>
          <p:cNvSpPr/>
          <p:nvPr/>
        </p:nvSpPr>
        <p:spPr>
          <a:xfrm>
            <a:off x="6803136"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28" name="Text 26"/>
          <p:cNvSpPr/>
          <p:nvPr/>
        </p:nvSpPr>
        <p:spPr>
          <a:xfrm>
            <a:off x="7525512"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29" name="Text 27"/>
          <p:cNvSpPr/>
          <p:nvPr/>
        </p:nvSpPr>
        <p:spPr>
          <a:xfrm>
            <a:off x="8247888"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30" name="Text 28"/>
          <p:cNvSpPr/>
          <p:nvPr/>
        </p:nvSpPr>
        <p:spPr>
          <a:xfrm>
            <a:off x="8970264"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31" name="Text 29"/>
          <p:cNvSpPr/>
          <p:nvPr/>
        </p:nvSpPr>
        <p:spPr>
          <a:xfrm>
            <a:off x="9692640"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32" name="Text 30"/>
          <p:cNvSpPr/>
          <p:nvPr/>
        </p:nvSpPr>
        <p:spPr>
          <a:xfrm>
            <a:off x="10415016" y="178308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32.4</a:t>
            </a:r>
            <a:endParaRPr lang="en-US" sz="850" dirty="0"/>
          </a:p>
        </p:txBody>
      </p:sp>
      <p:sp>
        <p:nvSpPr>
          <p:cNvPr id="33" name="Text 31"/>
          <p:cNvSpPr/>
          <p:nvPr/>
        </p:nvSpPr>
        <p:spPr>
          <a:xfrm>
            <a:off x="11137392" y="1783080"/>
            <a:ext cx="868680" cy="32004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389.1</a:t>
            </a:r>
            <a:endParaRPr lang="en-US" sz="900" dirty="0"/>
          </a:p>
        </p:txBody>
      </p:sp>
      <p:sp>
        <p:nvSpPr>
          <p:cNvPr id="34" name="Shape 32"/>
          <p:cNvSpPr/>
          <p:nvPr/>
        </p:nvSpPr>
        <p:spPr>
          <a:xfrm>
            <a:off x="594360" y="2103120"/>
            <a:ext cx="11411712" cy="320040"/>
          </a:xfrm>
          <a:prstGeom prst="rect">
            <a:avLst/>
          </a:prstGeom>
          <a:solidFill>
            <a:srgbClr val="FBF9F7"/>
          </a:solidFill>
          <a:ln w="6350">
            <a:solidFill>
              <a:srgbClr val="DED5CE"/>
            </a:solidFill>
            <a:prstDash val="solid"/>
          </a:ln>
        </p:spPr>
      </p:sp>
      <p:sp>
        <p:nvSpPr>
          <p:cNvPr id="35" name="Text 33"/>
          <p:cNvSpPr/>
          <p:nvPr/>
        </p:nvSpPr>
        <p:spPr>
          <a:xfrm>
            <a:off x="704088" y="2103120"/>
            <a:ext cx="1874520" cy="32004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既存事業 売上総利益</a:t>
            </a:r>
            <a:endParaRPr lang="en-US" sz="900" dirty="0"/>
          </a:p>
        </p:txBody>
      </p:sp>
      <p:sp>
        <p:nvSpPr>
          <p:cNvPr id="36" name="Text 34"/>
          <p:cNvSpPr/>
          <p:nvPr/>
        </p:nvSpPr>
        <p:spPr>
          <a:xfrm>
            <a:off x="2468880"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37" name="Text 35"/>
          <p:cNvSpPr/>
          <p:nvPr/>
        </p:nvSpPr>
        <p:spPr>
          <a:xfrm>
            <a:off x="3191256"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38" name="Text 36"/>
          <p:cNvSpPr/>
          <p:nvPr/>
        </p:nvSpPr>
        <p:spPr>
          <a:xfrm>
            <a:off x="3913632"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39" name="Text 37"/>
          <p:cNvSpPr/>
          <p:nvPr/>
        </p:nvSpPr>
        <p:spPr>
          <a:xfrm>
            <a:off x="4636008"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0" name="Text 38"/>
          <p:cNvSpPr/>
          <p:nvPr/>
        </p:nvSpPr>
        <p:spPr>
          <a:xfrm>
            <a:off x="5358384"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1" name="Text 39"/>
          <p:cNvSpPr/>
          <p:nvPr/>
        </p:nvSpPr>
        <p:spPr>
          <a:xfrm>
            <a:off x="6080760"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2" name="Text 40"/>
          <p:cNvSpPr/>
          <p:nvPr/>
        </p:nvSpPr>
        <p:spPr>
          <a:xfrm>
            <a:off x="6803136"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3" name="Text 41"/>
          <p:cNvSpPr/>
          <p:nvPr/>
        </p:nvSpPr>
        <p:spPr>
          <a:xfrm>
            <a:off x="7525512"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4" name="Text 42"/>
          <p:cNvSpPr/>
          <p:nvPr/>
        </p:nvSpPr>
        <p:spPr>
          <a:xfrm>
            <a:off x="8247888"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5" name="Text 43"/>
          <p:cNvSpPr/>
          <p:nvPr/>
        </p:nvSpPr>
        <p:spPr>
          <a:xfrm>
            <a:off x="8970264"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6" name="Text 44"/>
          <p:cNvSpPr/>
          <p:nvPr/>
        </p:nvSpPr>
        <p:spPr>
          <a:xfrm>
            <a:off x="9692640"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7" name="Text 45"/>
          <p:cNvSpPr/>
          <p:nvPr/>
        </p:nvSpPr>
        <p:spPr>
          <a:xfrm>
            <a:off x="10415016" y="210312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16.7</a:t>
            </a:r>
            <a:endParaRPr lang="en-US" sz="850" dirty="0"/>
          </a:p>
        </p:txBody>
      </p:sp>
      <p:sp>
        <p:nvSpPr>
          <p:cNvPr id="48" name="Text 46"/>
          <p:cNvSpPr/>
          <p:nvPr/>
        </p:nvSpPr>
        <p:spPr>
          <a:xfrm>
            <a:off x="11137392" y="2103120"/>
            <a:ext cx="868680" cy="32004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200.6</a:t>
            </a:r>
            <a:endParaRPr lang="en-US" sz="900" dirty="0"/>
          </a:p>
        </p:txBody>
      </p:sp>
      <p:sp>
        <p:nvSpPr>
          <p:cNvPr id="49" name="Shape 47"/>
          <p:cNvSpPr/>
          <p:nvPr/>
        </p:nvSpPr>
        <p:spPr>
          <a:xfrm>
            <a:off x="594360" y="2423160"/>
            <a:ext cx="11411712" cy="320040"/>
          </a:xfrm>
          <a:prstGeom prst="rect">
            <a:avLst/>
          </a:prstGeom>
          <a:solidFill>
            <a:srgbClr val="FFFFFF"/>
          </a:solidFill>
          <a:ln w="6350">
            <a:solidFill>
              <a:srgbClr val="DED5CE"/>
            </a:solidFill>
            <a:prstDash val="solid"/>
          </a:ln>
        </p:spPr>
      </p:sp>
      <p:sp>
        <p:nvSpPr>
          <p:cNvPr id="50" name="Text 48"/>
          <p:cNvSpPr/>
          <p:nvPr/>
        </p:nvSpPr>
        <p:spPr>
          <a:xfrm>
            <a:off x="704088" y="2423160"/>
            <a:ext cx="1874520" cy="32004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＋経営指導料</a:t>
            </a:r>
            <a:endParaRPr lang="en-US" sz="900" dirty="0"/>
          </a:p>
        </p:txBody>
      </p:sp>
      <p:sp>
        <p:nvSpPr>
          <p:cNvPr id="51" name="Text 49"/>
          <p:cNvSpPr/>
          <p:nvPr/>
        </p:nvSpPr>
        <p:spPr>
          <a:xfrm>
            <a:off x="2468880"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2" name="Text 50"/>
          <p:cNvSpPr/>
          <p:nvPr/>
        </p:nvSpPr>
        <p:spPr>
          <a:xfrm>
            <a:off x="3191256"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3" name="Text 51"/>
          <p:cNvSpPr/>
          <p:nvPr/>
        </p:nvSpPr>
        <p:spPr>
          <a:xfrm>
            <a:off x="3913632"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4" name="Text 52"/>
          <p:cNvSpPr/>
          <p:nvPr/>
        </p:nvSpPr>
        <p:spPr>
          <a:xfrm>
            <a:off x="4636008"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5" name="Text 53"/>
          <p:cNvSpPr/>
          <p:nvPr/>
        </p:nvSpPr>
        <p:spPr>
          <a:xfrm>
            <a:off x="5358384"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6" name="Text 54"/>
          <p:cNvSpPr/>
          <p:nvPr/>
        </p:nvSpPr>
        <p:spPr>
          <a:xfrm>
            <a:off x="6080760"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7" name="Text 55"/>
          <p:cNvSpPr/>
          <p:nvPr/>
        </p:nvSpPr>
        <p:spPr>
          <a:xfrm>
            <a:off x="6803136"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8" name="Text 56"/>
          <p:cNvSpPr/>
          <p:nvPr/>
        </p:nvSpPr>
        <p:spPr>
          <a:xfrm>
            <a:off x="7525512"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59" name="Text 57"/>
          <p:cNvSpPr/>
          <p:nvPr/>
        </p:nvSpPr>
        <p:spPr>
          <a:xfrm>
            <a:off x="8247888"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60" name="Text 58"/>
          <p:cNvSpPr/>
          <p:nvPr/>
        </p:nvSpPr>
        <p:spPr>
          <a:xfrm>
            <a:off x="8970264"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61" name="Text 59"/>
          <p:cNvSpPr/>
          <p:nvPr/>
        </p:nvSpPr>
        <p:spPr>
          <a:xfrm>
            <a:off x="9692640"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62" name="Text 60"/>
          <p:cNvSpPr/>
          <p:nvPr/>
        </p:nvSpPr>
        <p:spPr>
          <a:xfrm>
            <a:off x="10415016" y="242316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7.7</a:t>
            </a:r>
            <a:endParaRPr lang="en-US" sz="850" dirty="0"/>
          </a:p>
        </p:txBody>
      </p:sp>
      <p:sp>
        <p:nvSpPr>
          <p:cNvPr id="63" name="Text 61"/>
          <p:cNvSpPr/>
          <p:nvPr/>
        </p:nvSpPr>
        <p:spPr>
          <a:xfrm>
            <a:off x="11137392" y="2423160"/>
            <a:ext cx="868680" cy="32004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92.5</a:t>
            </a:r>
            <a:endParaRPr lang="en-US" sz="900" dirty="0"/>
          </a:p>
        </p:txBody>
      </p:sp>
      <p:sp>
        <p:nvSpPr>
          <p:cNvPr id="64" name="Shape 62"/>
          <p:cNvSpPr/>
          <p:nvPr/>
        </p:nvSpPr>
        <p:spPr>
          <a:xfrm>
            <a:off x="594360" y="2743200"/>
            <a:ext cx="11411712" cy="320040"/>
          </a:xfrm>
          <a:prstGeom prst="rect">
            <a:avLst/>
          </a:prstGeom>
          <a:solidFill>
            <a:srgbClr val="FBF9F7"/>
          </a:solidFill>
          <a:ln w="6350">
            <a:solidFill>
              <a:srgbClr val="DED5CE"/>
            </a:solidFill>
            <a:prstDash val="solid"/>
          </a:ln>
        </p:spPr>
      </p:sp>
      <p:sp>
        <p:nvSpPr>
          <p:cNvPr id="65" name="Text 63"/>
          <p:cNvSpPr/>
          <p:nvPr/>
        </p:nvSpPr>
        <p:spPr>
          <a:xfrm>
            <a:off x="704088" y="2743200"/>
            <a:ext cx="1874520" cy="32004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＋インセンティブ</a:t>
            </a:r>
            <a:endParaRPr lang="en-US" sz="900" dirty="0"/>
          </a:p>
        </p:txBody>
      </p:sp>
      <p:sp>
        <p:nvSpPr>
          <p:cNvPr id="66" name="Text 64"/>
          <p:cNvSpPr/>
          <p:nvPr/>
        </p:nvSpPr>
        <p:spPr>
          <a:xfrm>
            <a:off x="2468880"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67" name="Text 65"/>
          <p:cNvSpPr/>
          <p:nvPr/>
        </p:nvSpPr>
        <p:spPr>
          <a:xfrm>
            <a:off x="3191256"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68" name="Text 66"/>
          <p:cNvSpPr/>
          <p:nvPr/>
        </p:nvSpPr>
        <p:spPr>
          <a:xfrm>
            <a:off x="3913632"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69" name="Text 67"/>
          <p:cNvSpPr/>
          <p:nvPr/>
        </p:nvSpPr>
        <p:spPr>
          <a:xfrm>
            <a:off x="4636008"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0" name="Text 68"/>
          <p:cNvSpPr/>
          <p:nvPr/>
        </p:nvSpPr>
        <p:spPr>
          <a:xfrm>
            <a:off x="5358384"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1" name="Text 69"/>
          <p:cNvSpPr/>
          <p:nvPr/>
        </p:nvSpPr>
        <p:spPr>
          <a:xfrm>
            <a:off x="6080760"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20.0</a:t>
            </a:r>
            <a:endParaRPr lang="en-US" sz="850" dirty="0"/>
          </a:p>
        </p:txBody>
      </p:sp>
      <p:sp>
        <p:nvSpPr>
          <p:cNvPr id="72" name="Text 70"/>
          <p:cNvSpPr/>
          <p:nvPr/>
        </p:nvSpPr>
        <p:spPr>
          <a:xfrm>
            <a:off x="6803136"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3" name="Text 71"/>
          <p:cNvSpPr/>
          <p:nvPr/>
        </p:nvSpPr>
        <p:spPr>
          <a:xfrm>
            <a:off x="7525512"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4" name="Text 72"/>
          <p:cNvSpPr/>
          <p:nvPr/>
        </p:nvSpPr>
        <p:spPr>
          <a:xfrm>
            <a:off x="8247888"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5" name="Text 73"/>
          <p:cNvSpPr/>
          <p:nvPr/>
        </p:nvSpPr>
        <p:spPr>
          <a:xfrm>
            <a:off x="8970264"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6" name="Text 74"/>
          <p:cNvSpPr/>
          <p:nvPr/>
        </p:nvSpPr>
        <p:spPr>
          <a:xfrm>
            <a:off x="9692640"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7" name="Text 75"/>
          <p:cNvSpPr/>
          <p:nvPr/>
        </p:nvSpPr>
        <p:spPr>
          <a:xfrm>
            <a:off x="10415016" y="27432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78" name="Text 76"/>
          <p:cNvSpPr/>
          <p:nvPr/>
        </p:nvSpPr>
        <p:spPr>
          <a:xfrm>
            <a:off x="11137392" y="2743200"/>
            <a:ext cx="868680" cy="32004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20.0</a:t>
            </a:r>
            <a:endParaRPr lang="en-US" sz="900" dirty="0"/>
          </a:p>
        </p:txBody>
      </p:sp>
      <p:sp>
        <p:nvSpPr>
          <p:cNvPr id="79" name="Shape 77"/>
          <p:cNvSpPr/>
          <p:nvPr/>
        </p:nvSpPr>
        <p:spPr>
          <a:xfrm>
            <a:off x="594360" y="3063240"/>
            <a:ext cx="11411712" cy="320040"/>
          </a:xfrm>
          <a:prstGeom prst="rect">
            <a:avLst/>
          </a:prstGeom>
          <a:solidFill>
            <a:srgbClr val="F3EDE9"/>
          </a:solidFill>
          <a:ln w="6350">
            <a:solidFill>
              <a:srgbClr val="DED5CE"/>
            </a:solidFill>
            <a:prstDash val="solid"/>
          </a:ln>
        </p:spPr>
      </p:sp>
      <p:sp>
        <p:nvSpPr>
          <p:cNvPr id="80" name="Text 78"/>
          <p:cNvSpPr/>
          <p:nvPr/>
        </p:nvSpPr>
        <p:spPr>
          <a:xfrm>
            <a:off x="704088" y="3063240"/>
            <a:ext cx="1874520" cy="320040"/>
          </a:xfrm>
          <a:prstGeom prst="rect">
            <a:avLst/>
          </a:prstGeom>
          <a:noFill/>
          <a:ln/>
        </p:spPr>
        <p:txBody>
          <a:bodyPr wrap="square" lIns="0" tIns="0" rIns="0" bIns="0" rtlCol="0" anchor="ctr"/>
          <a:lstStyle/>
          <a:p>
            <a:pPr indent="0" marL="0">
              <a:buNone/>
            </a:pPr>
            <a:r>
              <a:rPr lang="en-US" sz="900" b="1" dirty="0">
                <a:solidFill>
                  <a:srgbClr val="2B2B2B"/>
                </a:solidFill>
                <a:latin typeface="Arial" pitchFamily="34" charset="0"/>
                <a:ea typeface="Arial" pitchFamily="34" charset="-122"/>
                <a:cs typeface="Arial" pitchFamily="34" charset="-120"/>
              </a:rPr>
              <a:t>売上総利益 合計</a:t>
            </a:r>
            <a:endParaRPr lang="en-US" sz="900" dirty="0"/>
          </a:p>
        </p:txBody>
      </p:sp>
      <p:sp>
        <p:nvSpPr>
          <p:cNvPr id="81" name="Text 79"/>
          <p:cNvSpPr/>
          <p:nvPr/>
        </p:nvSpPr>
        <p:spPr>
          <a:xfrm>
            <a:off x="2468880"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82" name="Text 80"/>
          <p:cNvSpPr/>
          <p:nvPr/>
        </p:nvSpPr>
        <p:spPr>
          <a:xfrm>
            <a:off x="3191256"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83" name="Text 81"/>
          <p:cNvSpPr/>
          <p:nvPr/>
        </p:nvSpPr>
        <p:spPr>
          <a:xfrm>
            <a:off x="3913632"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84" name="Text 82"/>
          <p:cNvSpPr/>
          <p:nvPr/>
        </p:nvSpPr>
        <p:spPr>
          <a:xfrm>
            <a:off x="4636008"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85" name="Text 83"/>
          <p:cNvSpPr/>
          <p:nvPr/>
        </p:nvSpPr>
        <p:spPr>
          <a:xfrm>
            <a:off x="5358384"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86" name="Text 84"/>
          <p:cNvSpPr/>
          <p:nvPr/>
        </p:nvSpPr>
        <p:spPr>
          <a:xfrm>
            <a:off x="6080760"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44.4</a:t>
            </a:r>
            <a:endParaRPr lang="en-US" sz="850" dirty="0"/>
          </a:p>
        </p:txBody>
      </p:sp>
      <p:sp>
        <p:nvSpPr>
          <p:cNvPr id="87" name="Text 85"/>
          <p:cNvSpPr/>
          <p:nvPr/>
        </p:nvSpPr>
        <p:spPr>
          <a:xfrm>
            <a:off x="6803136"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88" name="Text 86"/>
          <p:cNvSpPr/>
          <p:nvPr/>
        </p:nvSpPr>
        <p:spPr>
          <a:xfrm>
            <a:off x="7525512"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89" name="Text 87"/>
          <p:cNvSpPr/>
          <p:nvPr/>
        </p:nvSpPr>
        <p:spPr>
          <a:xfrm>
            <a:off x="8247888"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90" name="Text 88"/>
          <p:cNvSpPr/>
          <p:nvPr/>
        </p:nvSpPr>
        <p:spPr>
          <a:xfrm>
            <a:off x="8970264"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91" name="Text 89"/>
          <p:cNvSpPr/>
          <p:nvPr/>
        </p:nvSpPr>
        <p:spPr>
          <a:xfrm>
            <a:off x="9692640"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92" name="Text 90"/>
          <p:cNvSpPr/>
          <p:nvPr/>
        </p:nvSpPr>
        <p:spPr>
          <a:xfrm>
            <a:off x="10415016" y="306324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24.4</a:t>
            </a:r>
            <a:endParaRPr lang="en-US" sz="850" dirty="0"/>
          </a:p>
        </p:txBody>
      </p:sp>
      <p:sp>
        <p:nvSpPr>
          <p:cNvPr id="93" name="Text 91"/>
          <p:cNvSpPr/>
          <p:nvPr/>
        </p:nvSpPr>
        <p:spPr>
          <a:xfrm>
            <a:off x="11137392" y="3063240"/>
            <a:ext cx="868680" cy="32004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313.1</a:t>
            </a:r>
            <a:endParaRPr lang="en-US" sz="900" dirty="0"/>
          </a:p>
        </p:txBody>
      </p:sp>
      <p:sp>
        <p:nvSpPr>
          <p:cNvPr id="94" name="Shape 92"/>
          <p:cNvSpPr/>
          <p:nvPr/>
        </p:nvSpPr>
        <p:spPr>
          <a:xfrm>
            <a:off x="594360" y="3383280"/>
            <a:ext cx="11411712" cy="320040"/>
          </a:xfrm>
          <a:prstGeom prst="rect">
            <a:avLst/>
          </a:prstGeom>
          <a:solidFill>
            <a:srgbClr val="FBF9F7"/>
          </a:solidFill>
          <a:ln w="6350">
            <a:solidFill>
              <a:srgbClr val="DED5CE"/>
            </a:solidFill>
            <a:prstDash val="solid"/>
          </a:ln>
        </p:spPr>
      </p:sp>
      <p:sp>
        <p:nvSpPr>
          <p:cNvPr id="95" name="Text 93"/>
          <p:cNvSpPr/>
          <p:nvPr/>
        </p:nvSpPr>
        <p:spPr>
          <a:xfrm>
            <a:off x="704088" y="3383280"/>
            <a:ext cx="1874520" cy="32004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販管費</a:t>
            </a:r>
            <a:endParaRPr lang="en-US" sz="900" dirty="0"/>
          </a:p>
        </p:txBody>
      </p:sp>
      <p:sp>
        <p:nvSpPr>
          <p:cNvPr id="96" name="Text 94"/>
          <p:cNvSpPr/>
          <p:nvPr/>
        </p:nvSpPr>
        <p:spPr>
          <a:xfrm>
            <a:off x="2468880"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97" name="Text 95"/>
          <p:cNvSpPr/>
          <p:nvPr/>
        </p:nvSpPr>
        <p:spPr>
          <a:xfrm>
            <a:off x="3191256"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98" name="Text 96"/>
          <p:cNvSpPr/>
          <p:nvPr/>
        </p:nvSpPr>
        <p:spPr>
          <a:xfrm>
            <a:off x="3913632"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99" name="Text 97"/>
          <p:cNvSpPr/>
          <p:nvPr/>
        </p:nvSpPr>
        <p:spPr>
          <a:xfrm>
            <a:off x="4636008"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0" name="Text 98"/>
          <p:cNvSpPr/>
          <p:nvPr/>
        </p:nvSpPr>
        <p:spPr>
          <a:xfrm>
            <a:off x="5358384"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1" name="Text 99"/>
          <p:cNvSpPr/>
          <p:nvPr/>
        </p:nvSpPr>
        <p:spPr>
          <a:xfrm>
            <a:off x="6080760"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2" name="Text 100"/>
          <p:cNvSpPr/>
          <p:nvPr/>
        </p:nvSpPr>
        <p:spPr>
          <a:xfrm>
            <a:off x="6803136"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3" name="Text 101"/>
          <p:cNvSpPr/>
          <p:nvPr/>
        </p:nvSpPr>
        <p:spPr>
          <a:xfrm>
            <a:off x="7525512"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4" name="Text 102"/>
          <p:cNvSpPr/>
          <p:nvPr/>
        </p:nvSpPr>
        <p:spPr>
          <a:xfrm>
            <a:off x="8247888"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5" name="Text 103"/>
          <p:cNvSpPr/>
          <p:nvPr/>
        </p:nvSpPr>
        <p:spPr>
          <a:xfrm>
            <a:off x="8970264"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6" name="Text 104"/>
          <p:cNvSpPr/>
          <p:nvPr/>
        </p:nvSpPr>
        <p:spPr>
          <a:xfrm>
            <a:off x="9692640"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7" name="Text 105"/>
          <p:cNvSpPr/>
          <p:nvPr/>
        </p:nvSpPr>
        <p:spPr>
          <a:xfrm>
            <a:off x="10415016" y="338328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▲25.0</a:t>
            </a:r>
            <a:endParaRPr lang="en-US" sz="850" dirty="0"/>
          </a:p>
        </p:txBody>
      </p:sp>
      <p:sp>
        <p:nvSpPr>
          <p:cNvPr id="108" name="Text 106"/>
          <p:cNvSpPr/>
          <p:nvPr/>
        </p:nvSpPr>
        <p:spPr>
          <a:xfrm>
            <a:off x="11137392" y="3383280"/>
            <a:ext cx="868680" cy="320040"/>
          </a:xfrm>
          <a:prstGeom prst="rect">
            <a:avLst/>
          </a:prstGeom>
          <a:noFill/>
          <a:ln/>
        </p:spPr>
        <p:txBody>
          <a:bodyPr wrap="square" lIns="0" tIns="0" rIns="0" bIns="0" rtlCol="0" anchor="ctr"/>
          <a:lstStyle/>
          <a:p>
            <a:pPr algn="ctr" indent="0" marL="0">
              <a:buNone/>
            </a:pPr>
            <a:r>
              <a:rPr lang="en-US" sz="900" b="1" dirty="0">
                <a:solidFill>
                  <a:srgbClr val="A26769"/>
                </a:solidFill>
                <a:latin typeface="Arial" pitchFamily="34" charset="0"/>
                <a:ea typeface="Arial" pitchFamily="34" charset="-122"/>
                <a:cs typeface="Arial" pitchFamily="34" charset="-120"/>
              </a:rPr>
              <a:t>▲300.2</a:t>
            </a:r>
            <a:endParaRPr lang="en-US" sz="900" dirty="0"/>
          </a:p>
        </p:txBody>
      </p:sp>
      <p:sp>
        <p:nvSpPr>
          <p:cNvPr id="109" name="Shape 107"/>
          <p:cNvSpPr/>
          <p:nvPr/>
        </p:nvSpPr>
        <p:spPr>
          <a:xfrm>
            <a:off x="594360" y="3703320"/>
            <a:ext cx="11411712" cy="320040"/>
          </a:xfrm>
          <a:prstGeom prst="rect">
            <a:avLst/>
          </a:prstGeom>
          <a:solidFill>
            <a:srgbClr val="FFFFFF"/>
          </a:solidFill>
          <a:ln w="6350">
            <a:solidFill>
              <a:srgbClr val="DED5CE"/>
            </a:solidFill>
            <a:prstDash val="solid"/>
          </a:ln>
        </p:spPr>
      </p:sp>
      <p:sp>
        <p:nvSpPr>
          <p:cNvPr id="110" name="Text 108"/>
          <p:cNvSpPr/>
          <p:nvPr/>
        </p:nvSpPr>
        <p:spPr>
          <a:xfrm>
            <a:off x="704088" y="3703320"/>
            <a:ext cx="1874520" cy="32004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上場関連コスト</a:t>
            </a:r>
            <a:endParaRPr lang="en-US" sz="900" dirty="0"/>
          </a:p>
        </p:txBody>
      </p:sp>
      <p:sp>
        <p:nvSpPr>
          <p:cNvPr id="111" name="Text 109"/>
          <p:cNvSpPr/>
          <p:nvPr/>
        </p:nvSpPr>
        <p:spPr>
          <a:xfrm>
            <a:off x="2468880"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12" name="Text 110"/>
          <p:cNvSpPr/>
          <p:nvPr/>
        </p:nvSpPr>
        <p:spPr>
          <a:xfrm>
            <a:off x="3191256"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13" name="Text 111"/>
          <p:cNvSpPr/>
          <p:nvPr/>
        </p:nvSpPr>
        <p:spPr>
          <a:xfrm>
            <a:off x="3913632"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14" name="Text 112"/>
          <p:cNvSpPr/>
          <p:nvPr/>
        </p:nvSpPr>
        <p:spPr>
          <a:xfrm>
            <a:off x="4636008"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15" name="Text 113"/>
          <p:cNvSpPr/>
          <p:nvPr/>
        </p:nvSpPr>
        <p:spPr>
          <a:xfrm>
            <a:off x="5358384"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16" name="Text 114"/>
          <p:cNvSpPr/>
          <p:nvPr/>
        </p:nvSpPr>
        <p:spPr>
          <a:xfrm>
            <a:off x="6080760"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17" name="Text 115"/>
          <p:cNvSpPr/>
          <p:nvPr/>
        </p:nvSpPr>
        <p:spPr>
          <a:xfrm>
            <a:off x="6803136"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18" name="Text 116"/>
          <p:cNvSpPr/>
          <p:nvPr/>
        </p:nvSpPr>
        <p:spPr>
          <a:xfrm>
            <a:off x="7525512"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19" name="Text 117"/>
          <p:cNvSpPr/>
          <p:nvPr/>
        </p:nvSpPr>
        <p:spPr>
          <a:xfrm>
            <a:off x="8247888"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20" name="Text 118"/>
          <p:cNvSpPr/>
          <p:nvPr/>
        </p:nvSpPr>
        <p:spPr>
          <a:xfrm>
            <a:off x="8970264"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21" name="Text 119"/>
          <p:cNvSpPr/>
          <p:nvPr/>
        </p:nvSpPr>
        <p:spPr>
          <a:xfrm>
            <a:off x="9692640"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22" name="Text 120"/>
          <p:cNvSpPr/>
          <p:nvPr/>
        </p:nvSpPr>
        <p:spPr>
          <a:xfrm>
            <a:off x="10415016" y="370332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▲3.0</a:t>
            </a:r>
            <a:endParaRPr lang="en-US" sz="850" dirty="0"/>
          </a:p>
        </p:txBody>
      </p:sp>
      <p:sp>
        <p:nvSpPr>
          <p:cNvPr id="123" name="Text 121"/>
          <p:cNvSpPr/>
          <p:nvPr/>
        </p:nvSpPr>
        <p:spPr>
          <a:xfrm>
            <a:off x="11137392" y="3703320"/>
            <a:ext cx="868680" cy="320040"/>
          </a:xfrm>
          <a:prstGeom prst="rect">
            <a:avLst/>
          </a:prstGeom>
          <a:noFill/>
          <a:ln/>
        </p:spPr>
        <p:txBody>
          <a:bodyPr wrap="square" lIns="0" tIns="0" rIns="0" bIns="0" rtlCol="0" anchor="ctr"/>
          <a:lstStyle/>
          <a:p>
            <a:pPr algn="ctr" indent="0" marL="0">
              <a:buNone/>
            </a:pPr>
            <a:r>
              <a:rPr lang="en-US" sz="900" b="1" dirty="0">
                <a:solidFill>
                  <a:srgbClr val="A26769"/>
                </a:solidFill>
                <a:latin typeface="Arial" pitchFamily="34" charset="0"/>
                <a:ea typeface="Arial" pitchFamily="34" charset="-122"/>
                <a:cs typeface="Arial" pitchFamily="34" charset="-120"/>
              </a:rPr>
              <a:t>▲36.0</a:t>
            </a:r>
            <a:endParaRPr lang="en-US" sz="900" dirty="0"/>
          </a:p>
        </p:txBody>
      </p:sp>
      <p:sp>
        <p:nvSpPr>
          <p:cNvPr id="124" name="Shape 122"/>
          <p:cNvSpPr/>
          <p:nvPr/>
        </p:nvSpPr>
        <p:spPr>
          <a:xfrm>
            <a:off x="594360" y="4023360"/>
            <a:ext cx="11411712" cy="320040"/>
          </a:xfrm>
          <a:prstGeom prst="rect">
            <a:avLst/>
          </a:prstGeom>
          <a:solidFill>
            <a:srgbClr val="F3EDE9"/>
          </a:solidFill>
          <a:ln w="6350">
            <a:solidFill>
              <a:srgbClr val="DED5CE"/>
            </a:solidFill>
            <a:prstDash val="solid"/>
          </a:ln>
        </p:spPr>
      </p:sp>
      <p:sp>
        <p:nvSpPr>
          <p:cNvPr id="125" name="Text 123"/>
          <p:cNvSpPr/>
          <p:nvPr/>
        </p:nvSpPr>
        <p:spPr>
          <a:xfrm>
            <a:off x="704088" y="4023360"/>
            <a:ext cx="1874520" cy="320040"/>
          </a:xfrm>
          <a:prstGeom prst="rect">
            <a:avLst/>
          </a:prstGeom>
          <a:noFill/>
          <a:ln/>
        </p:spPr>
        <p:txBody>
          <a:bodyPr wrap="square" lIns="0" tIns="0" rIns="0" bIns="0" rtlCol="0" anchor="ctr"/>
          <a:lstStyle/>
          <a:p>
            <a:pPr indent="0" marL="0">
              <a:buNone/>
            </a:pPr>
            <a:r>
              <a:rPr lang="en-US" sz="900" b="1" dirty="0">
                <a:solidFill>
                  <a:srgbClr val="2B2B2B"/>
                </a:solidFill>
                <a:latin typeface="Arial" pitchFamily="34" charset="0"/>
                <a:ea typeface="Arial" pitchFamily="34" charset="-122"/>
                <a:cs typeface="Arial" pitchFamily="34" charset="-120"/>
              </a:rPr>
              <a:t>営業利益</a:t>
            </a:r>
            <a:endParaRPr lang="en-US" sz="900" dirty="0"/>
          </a:p>
        </p:txBody>
      </p:sp>
      <p:sp>
        <p:nvSpPr>
          <p:cNvPr id="126" name="Text 124"/>
          <p:cNvSpPr/>
          <p:nvPr/>
        </p:nvSpPr>
        <p:spPr>
          <a:xfrm>
            <a:off x="2468880"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27" name="Text 125"/>
          <p:cNvSpPr/>
          <p:nvPr/>
        </p:nvSpPr>
        <p:spPr>
          <a:xfrm>
            <a:off x="3191256"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28" name="Text 126"/>
          <p:cNvSpPr/>
          <p:nvPr/>
        </p:nvSpPr>
        <p:spPr>
          <a:xfrm>
            <a:off x="3913632"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29" name="Text 127"/>
          <p:cNvSpPr/>
          <p:nvPr/>
        </p:nvSpPr>
        <p:spPr>
          <a:xfrm>
            <a:off x="4636008"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30" name="Text 128"/>
          <p:cNvSpPr/>
          <p:nvPr/>
        </p:nvSpPr>
        <p:spPr>
          <a:xfrm>
            <a:off x="5358384"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31" name="Text 129"/>
          <p:cNvSpPr/>
          <p:nvPr/>
        </p:nvSpPr>
        <p:spPr>
          <a:xfrm>
            <a:off x="6080760" y="402336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16.4</a:t>
            </a:r>
            <a:endParaRPr lang="en-US" sz="850" dirty="0"/>
          </a:p>
        </p:txBody>
      </p:sp>
      <p:sp>
        <p:nvSpPr>
          <p:cNvPr id="132" name="Text 130"/>
          <p:cNvSpPr/>
          <p:nvPr/>
        </p:nvSpPr>
        <p:spPr>
          <a:xfrm>
            <a:off x="6803136"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33" name="Text 131"/>
          <p:cNvSpPr/>
          <p:nvPr/>
        </p:nvSpPr>
        <p:spPr>
          <a:xfrm>
            <a:off x="7525512"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34" name="Text 132"/>
          <p:cNvSpPr/>
          <p:nvPr/>
        </p:nvSpPr>
        <p:spPr>
          <a:xfrm>
            <a:off x="8247888"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35" name="Text 133"/>
          <p:cNvSpPr/>
          <p:nvPr/>
        </p:nvSpPr>
        <p:spPr>
          <a:xfrm>
            <a:off x="8970264"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36" name="Text 134"/>
          <p:cNvSpPr/>
          <p:nvPr/>
        </p:nvSpPr>
        <p:spPr>
          <a:xfrm>
            <a:off x="9692640"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37" name="Text 135"/>
          <p:cNvSpPr/>
          <p:nvPr/>
        </p:nvSpPr>
        <p:spPr>
          <a:xfrm>
            <a:off x="10415016" y="402336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▲3.6</a:t>
            </a:r>
            <a:endParaRPr lang="en-US" sz="850" dirty="0"/>
          </a:p>
        </p:txBody>
      </p:sp>
      <p:sp>
        <p:nvSpPr>
          <p:cNvPr id="138" name="Text 136"/>
          <p:cNvSpPr/>
          <p:nvPr/>
        </p:nvSpPr>
        <p:spPr>
          <a:xfrm>
            <a:off x="11137392" y="4023360"/>
            <a:ext cx="868680" cy="320040"/>
          </a:xfrm>
          <a:prstGeom prst="rect">
            <a:avLst/>
          </a:prstGeom>
          <a:noFill/>
          <a:ln/>
        </p:spPr>
        <p:txBody>
          <a:bodyPr wrap="square" lIns="0" tIns="0" rIns="0" bIns="0" rtlCol="0" anchor="ctr"/>
          <a:lstStyle/>
          <a:p>
            <a:pPr algn="ctr" indent="0" marL="0">
              <a:buNone/>
            </a:pPr>
            <a:r>
              <a:rPr lang="en-US" sz="900" b="1" dirty="0">
                <a:solidFill>
                  <a:srgbClr val="A26769"/>
                </a:solidFill>
                <a:latin typeface="Arial" pitchFamily="34" charset="0"/>
                <a:ea typeface="Arial" pitchFamily="34" charset="-122"/>
                <a:cs typeface="Arial" pitchFamily="34" charset="-120"/>
              </a:rPr>
              <a:t>▲23.1</a:t>
            </a:r>
            <a:endParaRPr lang="en-US" sz="900" dirty="0"/>
          </a:p>
        </p:txBody>
      </p:sp>
      <p:sp>
        <p:nvSpPr>
          <p:cNvPr id="139" name="Shape 137"/>
          <p:cNvSpPr/>
          <p:nvPr/>
        </p:nvSpPr>
        <p:spPr>
          <a:xfrm>
            <a:off x="594360" y="4343400"/>
            <a:ext cx="11411712" cy="320040"/>
          </a:xfrm>
          <a:prstGeom prst="rect">
            <a:avLst/>
          </a:prstGeom>
          <a:solidFill>
            <a:srgbClr val="FFFFFF"/>
          </a:solidFill>
          <a:ln w="6350">
            <a:solidFill>
              <a:srgbClr val="DED5CE"/>
            </a:solidFill>
            <a:prstDash val="solid"/>
          </a:ln>
        </p:spPr>
      </p:sp>
      <p:sp>
        <p:nvSpPr>
          <p:cNvPr id="140" name="Text 138"/>
          <p:cNvSpPr/>
          <p:nvPr/>
        </p:nvSpPr>
        <p:spPr>
          <a:xfrm>
            <a:off x="704088" y="4343400"/>
            <a:ext cx="1874520" cy="32004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営業外収益</a:t>
            </a:r>
            <a:endParaRPr lang="en-US" sz="900" dirty="0"/>
          </a:p>
        </p:txBody>
      </p:sp>
      <p:sp>
        <p:nvSpPr>
          <p:cNvPr id="141" name="Text 139"/>
          <p:cNvSpPr/>
          <p:nvPr/>
        </p:nvSpPr>
        <p:spPr>
          <a:xfrm>
            <a:off x="2468880"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42" name="Text 140"/>
          <p:cNvSpPr/>
          <p:nvPr/>
        </p:nvSpPr>
        <p:spPr>
          <a:xfrm>
            <a:off x="3191256"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43" name="Text 141"/>
          <p:cNvSpPr/>
          <p:nvPr/>
        </p:nvSpPr>
        <p:spPr>
          <a:xfrm>
            <a:off x="3913632"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44" name="Text 142"/>
          <p:cNvSpPr/>
          <p:nvPr/>
        </p:nvSpPr>
        <p:spPr>
          <a:xfrm>
            <a:off x="4636008"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45" name="Text 143"/>
          <p:cNvSpPr/>
          <p:nvPr/>
        </p:nvSpPr>
        <p:spPr>
          <a:xfrm>
            <a:off x="5358384"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46" name="Text 144"/>
          <p:cNvSpPr/>
          <p:nvPr/>
        </p:nvSpPr>
        <p:spPr>
          <a:xfrm>
            <a:off x="6080760"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20.0</a:t>
            </a:r>
            <a:endParaRPr lang="en-US" sz="850" dirty="0"/>
          </a:p>
        </p:txBody>
      </p:sp>
      <p:sp>
        <p:nvSpPr>
          <p:cNvPr id="147" name="Text 145"/>
          <p:cNvSpPr/>
          <p:nvPr/>
        </p:nvSpPr>
        <p:spPr>
          <a:xfrm>
            <a:off x="6803136"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48" name="Text 146"/>
          <p:cNvSpPr/>
          <p:nvPr/>
        </p:nvSpPr>
        <p:spPr>
          <a:xfrm>
            <a:off x="7525512"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49" name="Text 147"/>
          <p:cNvSpPr/>
          <p:nvPr/>
        </p:nvSpPr>
        <p:spPr>
          <a:xfrm>
            <a:off x="8247888"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50" name="Text 148"/>
          <p:cNvSpPr/>
          <p:nvPr/>
        </p:nvSpPr>
        <p:spPr>
          <a:xfrm>
            <a:off x="8970264"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51" name="Text 149"/>
          <p:cNvSpPr/>
          <p:nvPr/>
        </p:nvSpPr>
        <p:spPr>
          <a:xfrm>
            <a:off x="9692640"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52" name="Text 150"/>
          <p:cNvSpPr/>
          <p:nvPr/>
        </p:nvSpPr>
        <p:spPr>
          <a:xfrm>
            <a:off x="10415016" y="4343400"/>
            <a:ext cx="722376" cy="320040"/>
          </a:xfrm>
          <a:prstGeom prst="rect">
            <a:avLst/>
          </a:prstGeom>
          <a:noFill/>
          <a:ln/>
        </p:spPr>
        <p:txBody>
          <a:bodyPr wrap="square" lIns="0" tIns="0" rIns="0" bIns="0" rtlCol="0" anchor="ctr"/>
          <a:lstStyle/>
          <a:p>
            <a:pPr algn="ctr" indent="0" marL="0">
              <a:buNone/>
            </a:pPr>
            <a:r>
              <a:rPr lang="en-US" sz="850" dirty="0">
                <a:solidFill>
                  <a:srgbClr val="2B2B2B"/>
                </a:solidFill>
                <a:latin typeface="Arial" pitchFamily="34" charset="0"/>
                <a:ea typeface="Arial" pitchFamily="34" charset="-122"/>
                <a:cs typeface="Arial" pitchFamily="34" charset="-120"/>
              </a:rPr>
              <a:t>0.0</a:t>
            </a:r>
            <a:endParaRPr lang="en-US" sz="850" dirty="0"/>
          </a:p>
        </p:txBody>
      </p:sp>
      <p:sp>
        <p:nvSpPr>
          <p:cNvPr id="153" name="Text 151"/>
          <p:cNvSpPr/>
          <p:nvPr/>
        </p:nvSpPr>
        <p:spPr>
          <a:xfrm>
            <a:off x="11137392" y="4343400"/>
            <a:ext cx="868680" cy="320040"/>
          </a:xfrm>
          <a:prstGeom prst="rect">
            <a:avLst/>
          </a:prstGeom>
          <a:noFill/>
          <a:ln/>
        </p:spPr>
        <p:txBody>
          <a:bodyPr wrap="square" lIns="0" tIns="0" rIns="0" bIns="0" rtlCol="0" anchor="ctr"/>
          <a:lstStyle/>
          <a:p>
            <a:pPr algn="ctr" indent="0" marL="0">
              <a:buNone/>
            </a:pPr>
            <a:r>
              <a:rPr lang="en-US" sz="900" b="1" dirty="0">
                <a:solidFill>
                  <a:srgbClr val="6D2E46"/>
                </a:solidFill>
                <a:latin typeface="Arial" pitchFamily="34" charset="0"/>
                <a:ea typeface="Arial" pitchFamily="34" charset="-122"/>
                <a:cs typeface="Arial" pitchFamily="34" charset="-120"/>
              </a:rPr>
              <a:t>20.0</a:t>
            </a:r>
            <a:endParaRPr lang="en-US" sz="900" dirty="0"/>
          </a:p>
        </p:txBody>
      </p:sp>
      <p:sp>
        <p:nvSpPr>
          <p:cNvPr id="154" name="Shape 152"/>
          <p:cNvSpPr/>
          <p:nvPr/>
        </p:nvSpPr>
        <p:spPr>
          <a:xfrm>
            <a:off x="594360" y="4663440"/>
            <a:ext cx="11411712" cy="320040"/>
          </a:xfrm>
          <a:prstGeom prst="rect">
            <a:avLst/>
          </a:prstGeom>
          <a:solidFill>
            <a:srgbClr val="FBF9F7"/>
          </a:solidFill>
          <a:ln w="6350">
            <a:solidFill>
              <a:srgbClr val="DED5CE"/>
            </a:solidFill>
            <a:prstDash val="solid"/>
          </a:ln>
        </p:spPr>
      </p:sp>
      <p:sp>
        <p:nvSpPr>
          <p:cNvPr id="155" name="Text 153"/>
          <p:cNvSpPr/>
          <p:nvPr/>
        </p:nvSpPr>
        <p:spPr>
          <a:xfrm>
            <a:off x="704088" y="4663440"/>
            <a:ext cx="1874520" cy="320040"/>
          </a:xfrm>
          <a:prstGeom prst="rect">
            <a:avLst/>
          </a:prstGeom>
          <a:noFill/>
          <a:ln/>
        </p:spPr>
        <p:txBody>
          <a:bodyPr wrap="square" lIns="0" tIns="0" rIns="0" bIns="0" rtlCol="0" anchor="ctr"/>
          <a:lstStyle/>
          <a:p>
            <a:pPr indent="0" marL="0">
              <a:buNone/>
            </a:pPr>
            <a:r>
              <a:rPr lang="en-US" sz="900" dirty="0">
                <a:solidFill>
                  <a:srgbClr val="2B2B2B"/>
                </a:solidFill>
                <a:latin typeface="Arial" pitchFamily="34" charset="0"/>
                <a:ea typeface="Arial" pitchFamily="34" charset="-122"/>
                <a:cs typeface="Arial" pitchFamily="34" charset="-120"/>
              </a:rPr>
              <a:t>営業外費用</a:t>
            </a:r>
            <a:endParaRPr lang="en-US" sz="900" dirty="0"/>
          </a:p>
        </p:txBody>
      </p:sp>
      <p:sp>
        <p:nvSpPr>
          <p:cNvPr id="156" name="Text 154"/>
          <p:cNvSpPr/>
          <p:nvPr/>
        </p:nvSpPr>
        <p:spPr>
          <a:xfrm>
            <a:off x="2468880"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57" name="Text 155"/>
          <p:cNvSpPr/>
          <p:nvPr/>
        </p:nvSpPr>
        <p:spPr>
          <a:xfrm>
            <a:off x="3191256"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58" name="Text 156"/>
          <p:cNvSpPr/>
          <p:nvPr/>
        </p:nvSpPr>
        <p:spPr>
          <a:xfrm>
            <a:off x="3913632"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59" name="Text 157"/>
          <p:cNvSpPr/>
          <p:nvPr/>
        </p:nvSpPr>
        <p:spPr>
          <a:xfrm>
            <a:off x="4636008"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0" name="Text 158"/>
          <p:cNvSpPr/>
          <p:nvPr/>
        </p:nvSpPr>
        <p:spPr>
          <a:xfrm>
            <a:off x="5358384"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1" name="Text 159"/>
          <p:cNvSpPr/>
          <p:nvPr/>
        </p:nvSpPr>
        <p:spPr>
          <a:xfrm>
            <a:off x="6080760"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2" name="Text 160"/>
          <p:cNvSpPr/>
          <p:nvPr/>
        </p:nvSpPr>
        <p:spPr>
          <a:xfrm>
            <a:off x="6803136"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3" name="Text 161"/>
          <p:cNvSpPr/>
          <p:nvPr/>
        </p:nvSpPr>
        <p:spPr>
          <a:xfrm>
            <a:off x="7525512"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4" name="Text 162"/>
          <p:cNvSpPr/>
          <p:nvPr/>
        </p:nvSpPr>
        <p:spPr>
          <a:xfrm>
            <a:off x="8247888"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5" name="Text 163"/>
          <p:cNvSpPr/>
          <p:nvPr/>
        </p:nvSpPr>
        <p:spPr>
          <a:xfrm>
            <a:off x="8970264"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6" name="Text 164"/>
          <p:cNvSpPr/>
          <p:nvPr/>
        </p:nvSpPr>
        <p:spPr>
          <a:xfrm>
            <a:off x="9692640"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7" name="Text 165"/>
          <p:cNvSpPr/>
          <p:nvPr/>
        </p:nvSpPr>
        <p:spPr>
          <a:xfrm>
            <a:off x="10415016" y="4663440"/>
            <a:ext cx="722376" cy="320040"/>
          </a:xfrm>
          <a:prstGeom prst="rect">
            <a:avLst/>
          </a:prstGeom>
          <a:noFill/>
          <a:ln/>
        </p:spPr>
        <p:txBody>
          <a:bodyPr wrap="square" lIns="0" tIns="0" rIns="0" bIns="0" rtlCol="0" anchor="ctr"/>
          <a:lstStyle/>
          <a:p>
            <a:pPr algn="ctr" indent="0" marL="0">
              <a:buNone/>
            </a:pPr>
            <a:r>
              <a:rPr lang="en-US" sz="850" dirty="0">
                <a:solidFill>
                  <a:srgbClr val="A26769"/>
                </a:solidFill>
                <a:latin typeface="Arial" pitchFamily="34" charset="0"/>
                <a:ea typeface="Arial" pitchFamily="34" charset="-122"/>
                <a:cs typeface="Arial" pitchFamily="34" charset="-120"/>
              </a:rPr>
              <a:t>▲1.3</a:t>
            </a:r>
            <a:endParaRPr lang="en-US" sz="850" dirty="0"/>
          </a:p>
        </p:txBody>
      </p:sp>
      <p:sp>
        <p:nvSpPr>
          <p:cNvPr id="168" name="Text 166"/>
          <p:cNvSpPr/>
          <p:nvPr/>
        </p:nvSpPr>
        <p:spPr>
          <a:xfrm>
            <a:off x="11137392" y="4663440"/>
            <a:ext cx="868680" cy="320040"/>
          </a:xfrm>
          <a:prstGeom prst="rect">
            <a:avLst/>
          </a:prstGeom>
          <a:noFill/>
          <a:ln/>
        </p:spPr>
        <p:txBody>
          <a:bodyPr wrap="square" lIns="0" tIns="0" rIns="0" bIns="0" rtlCol="0" anchor="ctr"/>
          <a:lstStyle/>
          <a:p>
            <a:pPr algn="ctr" indent="0" marL="0">
              <a:buNone/>
            </a:pPr>
            <a:r>
              <a:rPr lang="en-US" sz="900" b="1" dirty="0">
                <a:solidFill>
                  <a:srgbClr val="A26769"/>
                </a:solidFill>
                <a:latin typeface="Arial" pitchFamily="34" charset="0"/>
                <a:ea typeface="Arial" pitchFamily="34" charset="-122"/>
                <a:cs typeface="Arial" pitchFamily="34" charset="-120"/>
              </a:rPr>
              <a:t>▲15.0</a:t>
            </a:r>
            <a:endParaRPr lang="en-US" sz="900" dirty="0"/>
          </a:p>
        </p:txBody>
      </p:sp>
      <p:sp>
        <p:nvSpPr>
          <p:cNvPr id="169" name="Shape 167"/>
          <p:cNvSpPr/>
          <p:nvPr/>
        </p:nvSpPr>
        <p:spPr>
          <a:xfrm>
            <a:off x="594360" y="4983480"/>
            <a:ext cx="11411712" cy="320040"/>
          </a:xfrm>
          <a:prstGeom prst="rect">
            <a:avLst/>
          </a:prstGeom>
          <a:solidFill>
            <a:srgbClr val="ECE2D0"/>
          </a:solidFill>
          <a:ln w="6350">
            <a:solidFill>
              <a:srgbClr val="DED5CE"/>
            </a:solidFill>
            <a:prstDash val="solid"/>
          </a:ln>
        </p:spPr>
      </p:sp>
      <p:sp>
        <p:nvSpPr>
          <p:cNvPr id="170" name="Text 168"/>
          <p:cNvSpPr/>
          <p:nvPr/>
        </p:nvSpPr>
        <p:spPr>
          <a:xfrm>
            <a:off x="704088" y="4983480"/>
            <a:ext cx="1874520" cy="320040"/>
          </a:xfrm>
          <a:prstGeom prst="rect">
            <a:avLst/>
          </a:prstGeom>
          <a:noFill/>
          <a:ln/>
        </p:spPr>
        <p:txBody>
          <a:bodyPr wrap="square" lIns="0" tIns="0" rIns="0" bIns="0" rtlCol="0" anchor="ctr"/>
          <a:lstStyle/>
          <a:p>
            <a:pPr indent="0" marL="0">
              <a:buNone/>
            </a:pPr>
            <a:r>
              <a:rPr lang="en-US" sz="900" b="1" dirty="0">
                <a:solidFill>
                  <a:srgbClr val="2B2B2B"/>
                </a:solidFill>
                <a:latin typeface="Arial" pitchFamily="34" charset="0"/>
                <a:ea typeface="Arial" pitchFamily="34" charset="-122"/>
                <a:cs typeface="Arial" pitchFamily="34" charset="-120"/>
              </a:rPr>
              <a:t>経常利益</a:t>
            </a:r>
            <a:endParaRPr lang="en-US" sz="900" dirty="0"/>
          </a:p>
        </p:txBody>
      </p:sp>
      <p:sp>
        <p:nvSpPr>
          <p:cNvPr id="171" name="Text 169"/>
          <p:cNvSpPr/>
          <p:nvPr/>
        </p:nvSpPr>
        <p:spPr>
          <a:xfrm>
            <a:off x="2468880"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72" name="Text 170"/>
          <p:cNvSpPr/>
          <p:nvPr/>
        </p:nvSpPr>
        <p:spPr>
          <a:xfrm>
            <a:off x="3191256"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73" name="Text 171"/>
          <p:cNvSpPr/>
          <p:nvPr/>
        </p:nvSpPr>
        <p:spPr>
          <a:xfrm>
            <a:off x="3913632"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74" name="Text 172"/>
          <p:cNvSpPr/>
          <p:nvPr/>
        </p:nvSpPr>
        <p:spPr>
          <a:xfrm>
            <a:off x="4636008"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75" name="Text 173"/>
          <p:cNvSpPr/>
          <p:nvPr/>
        </p:nvSpPr>
        <p:spPr>
          <a:xfrm>
            <a:off x="5358384"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76" name="Text 174"/>
          <p:cNvSpPr/>
          <p:nvPr/>
        </p:nvSpPr>
        <p:spPr>
          <a:xfrm>
            <a:off x="6080760" y="4983480"/>
            <a:ext cx="722376" cy="320040"/>
          </a:xfrm>
          <a:prstGeom prst="rect">
            <a:avLst/>
          </a:prstGeom>
          <a:noFill/>
          <a:ln/>
        </p:spPr>
        <p:txBody>
          <a:bodyPr wrap="square" lIns="0" tIns="0" rIns="0" bIns="0" rtlCol="0" anchor="ctr"/>
          <a:lstStyle/>
          <a:p>
            <a:pPr algn="ctr" indent="0" marL="0">
              <a:buNone/>
            </a:pPr>
            <a:r>
              <a:rPr lang="en-US" sz="850" b="1" dirty="0">
                <a:solidFill>
                  <a:srgbClr val="6D2E46"/>
                </a:solidFill>
                <a:latin typeface="Arial" pitchFamily="34" charset="0"/>
                <a:ea typeface="Arial" pitchFamily="34" charset="-122"/>
                <a:cs typeface="Arial" pitchFamily="34" charset="-120"/>
              </a:rPr>
              <a:t>35.2</a:t>
            </a:r>
            <a:endParaRPr lang="en-US" sz="850" dirty="0"/>
          </a:p>
        </p:txBody>
      </p:sp>
      <p:sp>
        <p:nvSpPr>
          <p:cNvPr id="177" name="Text 175"/>
          <p:cNvSpPr/>
          <p:nvPr/>
        </p:nvSpPr>
        <p:spPr>
          <a:xfrm>
            <a:off x="6803136"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78" name="Text 176"/>
          <p:cNvSpPr/>
          <p:nvPr/>
        </p:nvSpPr>
        <p:spPr>
          <a:xfrm>
            <a:off x="7525512"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79" name="Text 177"/>
          <p:cNvSpPr/>
          <p:nvPr/>
        </p:nvSpPr>
        <p:spPr>
          <a:xfrm>
            <a:off x="8247888"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80" name="Text 178"/>
          <p:cNvSpPr/>
          <p:nvPr/>
        </p:nvSpPr>
        <p:spPr>
          <a:xfrm>
            <a:off x="8970264"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81" name="Text 179"/>
          <p:cNvSpPr/>
          <p:nvPr/>
        </p:nvSpPr>
        <p:spPr>
          <a:xfrm>
            <a:off x="9692640"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82" name="Text 180"/>
          <p:cNvSpPr/>
          <p:nvPr/>
        </p:nvSpPr>
        <p:spPr>
          <a:xfrm>
            <a:off x="10415016" y="4983480"/>
            <a:ext cx="722376" cy="320040"/>
          </a:xfrm>
          <a:prstGeom prst="rect">
            <a:avLst/>
          </a:prstGeom>
          <a:noFill/>
          <a:ln/>
        </p:spPr>
        <p:txBody>
          <a:bodyPr wrap="square" lIns="0" tIns="0" rIns="0" bIns="0" rtlCol="0" anchor="ctr"/>
          <a:lstStyle/>
          <a:p>
            <a:pPr algn="ctr" indent="0" marL="0">
              <a:buNone/>
            </a:pPr>
            <a:r>
              <a:rPr lang="en-US" sz="850" b="1" dirty="0">
                <a:solidFill>
                  <a:srgbClr val="A26769"/>
                </a:solidFill>
                <a:latin typeface="Arial" pitchFamily="34" charset="0"/>
                <a:ea typeface="Arial" pitchFamily="34" charset="-122"/>
                <a:cs typeface="Arial" pitchFamily="34" charset="-120"/>
              </a:rPr>
              <a:t>▲4.8</a:t>
            </a:r>
            <a:endParaRPr lang="en-US" sz="850" dirty="0"/>
          </a:p>
        </p:txBody>
      </p:sp>
      <p:sp>
        <p:nvSpPr>
          <p:cNvPr id="183" name="Text 181"/>
          <p:cNvSpPr/>
          <p:nvPr/>
        </p:nvSpPr>
        <p:spPr>
          <a:xfrm>
            <a:off x="11137392" y="4983480"/>
            <a:ext cx="868680" cy="320040"/>
          </a:xfrm>
          <a:prstGeom prst="rect">
            <a:avLst/>
          </a:prstGeom>
          <a:noFill/>
          <a:ln/>
        </p:spPr>
        <p:txBody>
          <a:bodyPr wrap="square" lIns="0" tIns="0" rIns="0" bIns="0" rtlCol="0" anchor="ctr"/>
          <a:lstStyle/>
          <a:p>
            <a:pPr algn="ctr" indent="0" marL="0">
              <a:buNone/>
            </a:pPr>
            <a:r>
              <a:rPr lang="en-US" sz="900" b="1" dirty="0">
                <a:solidFill>
                  <a:srgbClr val="A26769"/>
                </a:solidFill>
                <a:latin typeface="Arial" pitchFamily="34" charset="0"/>
                <a:ea typeface="Arial" pitchFamily="34" charset="-122"/>
                <a:cs typeface="Arial" pitchFamily="34" charset="-120"/>
              </a:rPr>
              <a:t>▲18.1</a:t>
            </a:r>
            <a:endParaRPr lang="en-US" sz="900" dirty="0"/>
          </a:p>
        </p:txBody>
      </p:sp>
      <p:sp>
        <p:nvSpPr>
          <p:cNvPr id="184" name="Shape 182"/>
          <p:cNvSpPr/>
          <p:nvPr/>
        </p:nvSpPr>
        <p:spPr>
          <a:xfrm>
            <a:off x="594360" y="5541264"/>
            <a:ext cx="10963656" cy="713232"/>
          </a:xfrm>
          <a:prstGeom prst="roundRect">
            <a:avLst>
              <a:gd name="adj" fmla="val 7692"/>
            </a:avLst>
          </a:prstGeom>
          <a:solidFill>
            <a:srgbClr val="ECE2D0"/>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85" name="Text 183"/>
          <p:cNvSpPr/>
          <p:nvPr/>
        </p:nvSpPr>
        <p:spPr>
          <a:xfrm>
            <a:off x="914400" y="5632704"/>
            <a:ext cx="3291840" cy="2560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通期 営業利益</a:t>
            </a:r>
            <a:endParaRPr lang="en-US" sz="1000" dirty="0"/>
          </a:p>
        </p:txBody>
      </p:sp>
      <p:sp>
        <p:nvSpPr>
          <p:cNvPr id="186" name="Text 184"/>
          <p:cNvSpPr/>
          <p:nvPr/>
        </p:nvSpPr>
        <p:spPr>
          <a:xfrm>
            <a:off x="914400" y="5870448"/>
            <a:ext cx="3291840" cy="310896"/>
          </a:xfrm>
          <a:prstGeom prst="rect">
            <a:avLst/>
          </a:prstGeom>
          <a:noFill/>
          <a:ln/>
        </p:spPr>
        <p:txBody>
          <a:bodyPr wrap="square" lIns="0" tIns="0" rIns="0" bIns="0" rtlCol="0" anchor="ctr"/>
          <a:lstStyle/>
          <a:p>
            <a:pPr indent="0" marL="0">
              <a:buNone/>
            </a:pPr>
            <a:r>
              <a:rPr lang="en-US" sz="1600" b="1" dirty="0">
                <a:solidFill>
                  <a:srgbClr val="6D2E46"/>
                </a:solidFill>
                <a:latin typeface="Cambria" pitchFamily="34" charset="0"/>
                <a:ea typeface="Cambria" pitchFamily="34" charset="-122"/>
                <a:cs typeface="Cambria" pitchFamily="34" charset="-120"/>
              </a:rPr>
              <a:t>▲23.1百万円</a:t>
            </a:r>
            <a:endParaRPr lang="en-US" sz="1600" dirty="0"/>
          </a:p>
        </p:txBody>
      </p:sp>
      <p:sp>
        <p:nvSpPr>
          <p:cNvPr id="187" name="Text 185"/>
          <p:cNvSpPr/>
          <p:nvPr/>
        </p:nvSpPr>
        <p:spPr>
          <a:xfrm>
            <a:off x="4526280" y="5632704"/>
            <a:ext cx="3291840" cy="2560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通期 経常利益</a:t>
            </a:r>
            <a:endParaRPr lang="en-US" sz="1000" dirty="0"/>
          </a:p>
        </p:txBody>
      </p:sp>
      <p:sp>
        <p:nvSpPr>
          <p:cNvPr id="188" name="Text 186"/>
          <p:cNvSpPr/>
          <p:nvPr/>
        </p:nvSpPr>
        <p:spPr>
          <a:xfrm>
            <a:off x="4526280" y="5870448"/>
            <a:ext cx="3291840" cy="310896"/>
          </a:xfrm>
          <a:prstGeom prst="rect">
            <a:avLst/>
          </a:prstGeom>
          <a:noFill/>
          <a:ln/>
        </p:spPr>
        <p:txBody>
          <a:bodyPr wrap="square" lIns="0" tIns="0" rIns="0" bIns="0" rtlCol="0" anchor="ctr"/>
          <a:lstStyle/>
          <a:p>
            <a:pPr indent="0" marL="0">
              <a:buNone/>
            </a:pPr>
            <a:r>
              <a:rPr lang="en-US" sz="1600" b="1" dirty="0">
                <a:solidFill>
                  <a:srgbClr val="6D2E46"/>
                </a:solidFill>
                <a:latin typeface="Cambria" pitchFamily="34" charset="0"/>
                <a:ea typeface="Cambria" pitchFamily="34" charset="-122"/>
                <a:cs typeface="Cambria" pitchFamily="34" charset="-120"/>
              </a:rPr>
              <a:t>▲18.1百万円</a:t>
            </a:r>
            <a:endParaRPr lang="en-US" sz="1600" dirty="0"/>
          </a:p>
        </p:txBody>
      </p:sp>
      <p:sp>
        <p:nvSpPr>
          <p:cNvPr id="189" name="Text 187"/>
          <p:cNvSpPr/>
          <p:nvPr/>
        </p:nvSpPr>
        <p:spPr>
          <a:xfrm>
            <a:off x="8138160" y="5632704"/>
            <a:ext cx="3291840" cy="256032"/>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2027年3月 経常利益</a:t>
            </a:r>
            <a:endParaRPr lang="en-US" sz="1000" dirty="0"/>
          </a:p>
        </p:txBody>
      </p:sp>
      <p:sp>
        <p:nvSpPr>
          <p:cNvPr id="190" name="Text 188"/>
          <p:cNvSpPr/>
          <p:nvPr/>
        </p:nvSpPr>
        <p:spPr>
          <a:xfrm>
            <a:off x="8138160" y="5870448"/>
            <a:ext cx="3291840" cy="310896"/>
          </a:xfrm>
          <a:prstGeom prst="rect">
            <a:avLst/>
          </a:prstGeom>
          <a:noFill/>
          <a:ln/>
        </p:spPr>
        <p:txBody>
          <a:bodyPr wrap="square" lIns="0" tIns="0" rIns="0" bIns="0" rtlCol="0" anchor="ctr"/>
          <a:lstStyle/>
          <a:p>
            <a:pPr indent="0" marL="0">
              <a:buNone/>
            </a:pPr>
            <a:r>
              <a:rPr lang="en-US" sz="1600" b="1" dirty="0">
                <a:solidFill>
                  <a:srgbClr val="6D2E46"/>
                </a:solidFill>
                <a:latin typeface="Cambria" pitchFamily="34" charset="0"/>
                <a:ea typeface="Cambria" pitchFamily="34" charset="-122"/>
                <a:cs typeface="Cambria" pitchFamily="34" charset="-120"/>
              </a:rPr>
              <a:t>＋35.2百万円（単月黒字）</a:t>
            </a:r>
            <a:endParaRPr lang="en-US" sz="1600" dirty="0"/>
          </a:p>
        </p:txBody>
      </p:sp>
      <p:sp>
        <p:nvSpPr>
          <p:cNvPr id="191" name="Text 189"/>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経営指導料は12か月按分。インセンティブ（Apicius2）および投資売買益（Cruiser）は2027年3月に一括計上と仮定。</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黒字化まで、あと4,473万円</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新規顧客売上計画に対する達成率で見ると、到達点は現実的な水準にあります。</a:t>
            </a:r>
            <a:endParaRPr lang="en-US" sz="1250" dirty="0"/>
          </a:p>
        </p:txBody>
      </p:sp>
      <p:sp>
        <p:nvSpPr>
          <p:cNvPr id="4" name="Shape 2"/>
          <p:cNvSpPr/>
          <p:nvPr/>
        </p:nvSpPr>
        <p:spPr>
          <a:xfrm>
            <a:off x="594360" y="1554480"/>
            <a:ext cx="10963656" cy="1874520"/>
          </a:xfrm>
          <a:prstGeom prst="roundRect">
            <a:avLst>
              <a:gd name="adj" fmla="val 292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 name="Text 3"/>
          <p:cNvSpPr/>
          <p:nvPr/>
        </p:nvSpPr>
        <p:spPr>
          <a:xfrm>
            <a:off x="914400" y="1755648"/>
            <a:ext cx="3200400" cy="365760"/>
          </a:xfrm>
          <a:prstGeom prst="rect">
            <a:avLst/>
          </a:prstGeom>
          <a:noFill/>
          <a:ln/>
        </p:spPr>
        <p:txBody>
          <a:bodyPr wrap="square" lIns="0" tIns="0" rIns="0" bIns="0" rtlCol="0" anchor="ctr"/>
          <a:lstStyle/>
          <a:p>
            <a:pPr indent="0" marL="0">
              <a:buNone/>
            </a:pPr>
            <a:r>
              <a:rPr lang="en-US" sz="1900" b="1" dirty="0">
                <a:solidFill>
                  <a:srgbClr val="2B2B2B"/>
                </a:solidFill>
                <a:latin typeface="Cambria" pitchFamily="34" charset="0"/>
                <a:ea typeface="Cambria" pitchFamily="34" charset="-122"/>
                <a:cs typeface="Cambria" pitchFamily="34" charset="-120"/>
              </a:rPr>
              <a:t>損益分岐（営業利益 0）</a:t>
            </a:r>
            <a:endParaRPr lang="en-US" sz="1900" dirty="0"/>
          </a:p>
        </p:txBody>
      </p:sp>
      <p:sp>
        <p:nvSpPr>
          <p:cNvPr id="6" name="Text 4"/>
          <p:cNvSpPr/>
          <p:nvPr/>
        </p:nvSpPr>
        <p:spPr>
          <a:xfrm>
            <a:off x="914400" y="2212848"/>
            <a:ext cx="3200400" cy="274320"/>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必要な追加売上</a:t>
            </a:r>
            <a:endParaRPr lang="en-US" sz="1000" dirty="0"/>
          </a:p>
        </p:txBody>
      </p:sp>
      <p:sp>
        <p:nvSpPr>
          <p:cNvPr id="7" name="Text 5"/>
          <p:cNvSpPr/>
          <p:nvPr/>
        </p:nvSpPr>
        <p:spPr>
          <a:xfrm>
            <a:off x="914400" y="2468880"/>
            <a:ext cx="3200400" cy="566928"/>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¥44,731,623</a:t>
            </a:r>
            <a:endParaRPr lang="en-US" sz="2900" dirty="0"/>
          </a:p>
        </p:txBody>
      </p:sp>
      <p:sp>
        <p:nvSpPr>
          <p:cNvPr id="8" name="Shape 6"/>
          <p:cNvSpPr/>
          <p:nvPr/>
        </p:nvSpPr>
        <p:spPr>
          <a:xfrm>
            <a:off x="4572000" y="1828800"/>
            <a:ext cx="0" cy="1325880"/>
          </a:xfrm>
          <a:prstGeom prst="line">
            <a:avLst/>
          </a:prstGeom>
          <a:noFill/>
          <a:ln w="12700">
            <a:solidFill>
              <a:srgbClr val="DED5CE"/>
            </a:solidFill>
            <a:prstDash val="solid"/>
          </a:ln>
        </p:spPr>
      </p:sp>
      <p:sp>
        <p:nvSpPr>
          <p:cNvPr id="9" name="Text 7"/>
          <p:cNvSpPr/>
          <p:nvPr/>
        </p:nvSpPr>
        <p:spPr>
          <a:xfrm>
            <a:off x="4937760" y="1847088"/>
            <a:ext cx="4023360" cy="274320"/>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新規顧客売上計画（1,066百万円）に対する比率</a:t>
            </a:r>
            <a:endParaRPr lang="en-US" sz="1000" dirty="0"/>
          </a:p>
        </p:txBody>
      </p:sp>
      <p:sp>
        <p:nvSpPr>
          <p:cNvPr id="10" name="Text 8"/>
          <p:cNvSpPr/>
          <p:nvPr/>
        </p:nvSpPr>
        <p:spPr>
          <a:xfrm>
            <a:off x="4937760" y="2121408"/>
            <a:ext cx="2011680" cy="777240"/>
          </a:xfrm>
          <a:prstGeom prst="rect">
            <a:avLst/>
          </a:prstGeom>
          <a:noFill/>
          <a:ln/>
        </p:spPr>
        <p:txBody>
          <a:bodyPr wrap="square" lIns="0" tIns="0" rIns="0" bIns="0" rtlCol="0" anchor="ctr"/>
          <a:lstStyle/>
          <a:p>
            <a:pPr indent="0" marL="0">
              <a:buNone/>
            </a:pPr>
            <a:r>
              <a:rPr lang="en-US" sz="4400" b="1" dirty="0">
                <a:solidFill>
                  <a:srgbClr val="6D2E46"/>
                </a:solidFill>
                <a:latin typeface="Cambria" pitchFamily="34" charset="0"/>
                <a:ea typeface="Cambria" pitchFamily="34" charset="-122"/>
                <a:cs typeface="Cambria" pitchFamily="34" charset="-120"/>
              </a:rPr>
              <a:t>4.2%</a:t>
            </a:r>
            <a:endParaRPr lang="en-US" sz="4400" dirty="0"/>
          </a:p>
        </p:txBody>
      </p:sp>
      <p:sp>
        <p:nvSpPr>
          <p:cNvPr id="11" name="Shape 9"/>
          <p:cNvSpPr/>
          <p:nvPr/>
        </p:nvSpPr>
        <p:spPr>
          <a:xfrm>
            <a:off x="4937760" y="2971800"/>
            <a:ext cx="4023360" cy="182880"/>
          </a:xfrm>
          <a:prstGeom prst="rect">
            <a:avLst/>
          </a:prstGeom>
          <a:solidFill>
            <a:srgbClr val="E8E0DA"/>
          </a:solidFill>
          <a:ln/>
        </p:spPr>
      </p:sp>
      <p:sp>
        <p:nvSpPr>
          <p:cNvPr id="12" name="Shape 10"/>
          <p:cNvSpPr/>
          <p:nvPr/>
        </p:nvSpPr>
        <p:spPr>
          <a:xfrm>
            <a:off x="4937760" y="2971800"/>
            <a:ext cx="168981" cy="182880"/>
          </a:xfrm>
          <a:prstGeom prst="rect">
            <a:avLst/>
          </a:prstGeom>
          <a:solidFill>
            <a:srgbClr val="6D2E46"/>
          </a:solidFill>
          <a:ln/>
        </p:spPr>
      </p:sp>
      <p:sp>
        <p:nvSpPr>
          <p:cNvPr id="13" name="Shape 11"/>
          <p:cNvSpPr/>
          <p:nvPr/>
        </p:nvSpPr>
        <p:spPr>
          <a:xfrm>
            <a:off x="9281160" y="1828800"/>
            <a:ext cx="0" cy="1325880"/>
          </a:xfrm>
          <a:prstGeom prst="line">
            <a:avLst/>
          </a:prstGeom>
          <a:noFill/>
          <a:ln w="12700">
            <a:solidFill>
              <a:srgbClr val="DED5CE"/>
            </a:solidFill>
            <a:prstDash val="solid"/>
          </a:ln>
        </p:spPr>
      </p:sp>
      <p:sp>
        <p:nvSpPr>
          <p:cNvPr id="14" name="Text 12"/>
          <p:cNvSpPr/>
          <p:nvPr/>
        </p:nvSpPr>
        <p:spPr>
          <a:xfrm>
            <a:off x="9601200" y="1938528"/>
            <a:ext cx="2103120" cy="274320"/>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顧客数換算</a:t>
            </a:r>
            <a:endParaRPr lang="en-US" sz="1000" dirty="0"/>
          </a:p>
        </p:txBody>
      </p:sp>
      <p:sp>
        <p:nvSpPr>
          <p:cNvPr id="15" name="Text 13"/>
          <p:cNvSpPr/>
          <p:nvPr/>
        </p:nvSpPr>
        <p:spPr>
          <a:xfrm>
            <a:off x="9601200" y="2240280"/>
            <a:ext cx="2103120" cy="640080"/>
          </a:xfrm>
          <a:prstGeom prst="rect">
            <a:avLst/>
          </a:prstGeom>
          <a:noFill/>
          <a:ln/>
        </p:spPr>
        <p:txBody>
          <a:bodyPr wrap="square" lIns="0" tIns="0" rIns="0" bIns="0" rtlCol="0" anchor="ctr"/>
          <a:lstStyle/>
          <a:p>
            <a:pPr indent="0" marL="0">
              <a:buNone/>
            </a:pPr>
            <a:r>
              <a:rPr lang="en-US" sz="1400" b="1" dirty="0">
                <a:solidFill>
                  <a:srgbClr val="2B2B2B"/>
                </a:solidFill>
                <a:latin typeface="Arial" pitchFamily="34" charset="0"/>
                <a:ea typeface="Arial" pitchFamily="34" charset="-122"/>
                <a:cs typeface="Arial" pitchFamily="34" charset="-120"/>
              </a:rPr>
              <a:t>超富裕層 4〜5名 相当</a:t>
            </a:r>
            <a:endParaRPr lang="en-US" sz="1400" dirty="0"/>
          </a:p>
        </p:txBody>
      </p:sp>
      <p:sp>
        <p:nvSpPr>
          <p:cNvPr id="16" name="Shape 14"/>
          <p:cNvSpPr/>
          <p:nvPr/>
        </p:nvSpPr>
        <p:spPr>
          <a:xfrm>
            <a:off x="594360" y="3703320"/>
            <a:ext cx="10963656" cy="1874520"/>
          </a:xfrm>
          <a:prstGeom prst="roundRect">
            <a:avLst>
              <a:gd name="adj" fmla="val 2927"/>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7" name="Text 15"/>
          <p:cNvSpPr/>
          <p:nvPr/>
        </p:nvSpPr>
        <p:spPr>
          <a:xfrm>
            <a:off x="914400" y="3904488"/>
            <a:ext cx="3200400" cy="365760"/>
          </a:xfrm>
          <a:prstGeom prst="rect">
            <a:avLst/>
          </a:prstGeom>
          <a:noFill/>
          <a:ln/>
        </p:spPr>
        <p:txBody>
          <a:bodyPr wrap="square" lIns="0" tIns="0" rIns="0" bIns="0" rtlCol="0" anchor="ctr"/>
          <a:lstStyle/>
          <a:p>
            <a:pPr indent="0" marL="0">
              <a:buNone/>
            </a:pPr>
            <a:r>
              <a:rPr lang="en-US" sz="1900" b="1" dirty="0">
                <a:solidFill>
                  <a:srgbClr val="2B2B2B"/>
                </a:solidFill>
                <a:latin typeface="Cambria" pitchFamily="34" charset="0"/>
                <a:ea typeface="Cambria" pitchFamily="34" charset="-122"/>
                <a:cs typeface="Cambria" pitchFamily="34" charset="-120"/>
              </a:rPr>
              <a:t>営業利益 1億円</a:t>
            </a:r>
            <a:endParaRPr lang="en-US" sz="1900" dirty="0"/>
          </a:p>
        </p:txBody>
      </p:sp>
      <p:sp>
        <p:nvSpPr>
          <p:cNvPr id="18" name="Text 16"/>
          <p:cNvSpPr/>
          <p:nvPr/>
        </p:nvSpPr>
        <p:spPr>
          <a:xfrm>
            <a:off x="914400" y="4361688"/>
            <a:ext cx="3200400" cy="274320"/>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必要な追加売上</a:t>
            </a:r>
            <a:endParaRPr lang="en-US" sz="1000" dirty="0"/>
          </a:p>
        </p:txBody>
      </p:sp>
      <p:sp>
        <p:nvSpPr>
          <p:cNvPr id="19" name="Text 17"/>
          <p:cNvSpPr/>
          <p:nvPr/>
        </p:nvSpPr>
        <p:spPr>
          <a:xfrm>
            <a:off x="914400" y="4617720"/>
            <a:ext cx="3200400" cy="566928"/>
          </a:xfrm>
          <a:prstGeom prst="rect">
            <a:avLst/>
          </a:prstGeom>
          <a:noFill/>
          <a:ln/>
        </p:spPr>
        <p:txBody>
          <a:bodyPr wrap="square" lIns="0" tIns="0" rIns="0" bIns="0" rtlCol="0" anchor="ctr"/>
          <a:lstStyle/>
          <a:p>
            <a:pPr indent="0" marL="0">
              <a:buNone/>
            </a:pPr>
            <a:r>
              <a:rPr lang="en-US" sz="2900" b="1" dirty="0">
                <a:solidFill>
                  <a:srgbClr val="9A7B4F"/>
                </a:solidFill>
                <a:latin typeface="Cambria" pitchFamily="34" charset="0"/>
                <a:ea typeface="Cambria" pitchFamily="34" charset="-122"/>
                <a:cs typeface="Cambria" pitchFamily="34" charset="-120"/>
              </a:rPr>
              <a:t>¥238,718,178</a:t>
            </a:r>
            <a:endParaRPr lang="en-US" sz="2900" dirty="0"/>
          </a:p>
        </p:txBody>
      </p:sp>
      <p:sp>
        <p:nvSpPr>
          <p:cNvPr id="20" name="Shape 18"/>
          <p:cNvSpPr/>
          <p:nvPr/>
        </p:nvSpPr>
        <p:spPr>
          <a:xfrm>
            <a:off x="4572000" y="3977640"/>
            <a:ext cx="0" cy="1325880"/>
          </a:xfrm>
          <a:prstGeom prst="line">
            <a:avLst/>
          </a:prstGeom>
          <a:noFill/>
          <a:ln w="12700">
            <a:solidFill>
              <a:srgbClr val="DED5CE"/>
            </a:solidFill>
            <a:prstDash val="solid"/>
          </a:ln>
        </p:spPr>
      </p:sp>
      <p:sp>
        <p:nvSpPr>
          <p:cNvPr id="21" name="Text 19"/>
          <p:cNvSpPr/>
          <p:nvPr/>
        </p:nvSpPr>
        <p:spPr>
          <a:xfrm>
            <a:off x="4937760" y="3995928"/>
            <a:ext cx="4023360" cy="274320"/>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新規顧客売上計画（1,066百万円）に対する比率</a:t>
            </a:r>
            <a:endParaRPr lang="en-US" sz="1000" dirty="0"/>
          </a:p>
        </p:txBody>
      </p:sp>
      <p:sp>
        <p:nvSpPr>
          <p:cNvPr id="22" name="Text 20"/>
          <p:cNvSpPr/>
          <p:nvPr/>
        </p:nvSpPr>
        <p:spPr>
          <a:xfrm>
            <a:off x="4937760" y="4270248"/>
            <a:ext cx="2011680" cy="777240"/>
          </a:xfrm>
          <a:prstGeom prst="rect">
            <a:avLst/>
          </a:prstGeom>
          <a:noFill/>
          <a:ln/>
        </p:spPr>
        <p:txBody>
          <a:bodyPr wrap="square" lIns="0" tIns="0" rIns="0" bIns="0" rtlCol="0" anchor="ctr"/>
          <a:lstStyle/>
          <a:p>
            <a:pPr indent="0" marL="0">
              <a:buNone/>
            </a:pPr>
            <a:r>
              <a:rPr lang="en-US" sz="4400" b="1" dirty="0">
                <a:solidFill>
                  <a:srgbClr val="9A7B4F"/>
                </a:solidFill>
                <a:latin typeface="Cambria" pitchFamily="34" charset="0"/>
                <a:ea typeface="Cambria" pitchFamily="34" charset="-122"/>
                <a:cs typeface="Cambria" pitchFamily="34" charset="-120"/>
              </a:rPr>
              <a:t>22.4%</a:t>
            </a:r>
            <a:endParaRPr lang="en-US" sz="4400" dirty="0"/>
          </a:p>
        </p:txBody>
      </p:sp>
      <p:sp>
        <p:nvSpPr>
          <p:cNvPr id="23" name="Shape 21"/>
          <p:cNvSpPr/>
          <p:nvPr/>
        </p:nvSpPr>
        <p:spPr>
          <a:xfrm>
            <a:off x="4937760" y="5120640"/>
            <a:ext cx="4023360" cy="182880"/>
          </a:xfrm>
          <a:prstGeom prst="rect">
            <a:avLst/>
          </a:prstGeom>
          <a:solidFill>
            <a:srgbClr val="E8E0DA"/>
          </a:solidFill>
          <a:ln/>
        </p:spPr>
      </p:sp>
      <p:sp>
        <p:nvSpPr>
          <p:cNvPr id="24" name="Shape 22"/>
          <p:cNvSpPr/>
          <p:nvPr/>
        </p:nvSpPr>
        <p:spPr>
          <a:xfrm>
            <a:off x="4937760" y="5120640"/>
            <a:ext cx="901233" cy="182880"/>
          </a:xfrm>
          <a:prstGeom prst="rect">
            <a:avLst/>
          </a:prstGeom>
          <a:solidFill>
            <a:srgbClr val="9A7B4F"/>
          </a:solidFill>
          <a:ln/>
        </p:spPr>
      </p:sp>
      <p:sp>
        <p:nvSpPr>
          <p:cNvPr id="25" name="Shape 23"/>
          <p:cNvSpPr/>
          <p:nvPr/>
        </p:nvSpPr>
        <p:spPr>
          <a:xfrm>
            <a:off x="9281160" y="3977640"/>
            <a:ext cx="0" cy="1325880"/>
          </a:xfrm>
          <a:prstGeom prst="line">
            <a:avLst/>
          </a:prstGeom>
          <a:noFill/>
          <a:ln w="12700">
            <a:solidFill>
              <a:srgbClr val="DED5CE"/>
            </a:solidFill>
            <a:prstDash val="solid"/>
          </a:ln>
        </p:spPr>
      </p:sp>
      <p:sp>
        <p:nvSpPr>
          <p:cNvPr id="26" name="Text 24"/>
          <p:cNvSpPr/>
          <p:nvPr/>
        </p:nvSpPr>
        <p:spPr>
          <a:xfrm>
            <a:off x="9601200" y="4087368"/>
            <a:ext cx="2103120" cy="274320"/>
          </a:xfrm>
          <a:prstGeom prst="rect">
            <a:avLst/>
          </a:prstGeom>
          <a:noFill/>
          <a:ln/>
        </p:spPr>
        <p:txBody>
          <a:bodyPr wrap="square" lIns="0" tIns="0" rIns="0" bIns="0" rtlCol="0" anchor="ctr"/>
          <a:lstStyle/>
          <a:p>
            <a:pPr indent="0" marL="0">
              <a:buNone/>
            </a:pPr>
            <a:r>
              <a:rPr lang="en-US" sz="1000" dirty="0">
                <a:solidFill>
                  <a:srgbClr val="7A6A64"/>
                </a:solidFill>
                <a:latin typeface="Arial" pitchFamily="34" charset="0"/>
                <a:ea typeface="Arial" pitchFamily="34" charset="-122"/>
                <a:cs typeface="Arial" pitchFamily="34" charset="-120"/>
              </a:rPr>
              <a:t>顧客数換算</a:t>
            </a:r>
            <a:endParaRPr lang="en-US" sz="1000" dirty="0"/>
          </a:p>
        </p:txBody>
      </p:sp>
      <p:sp>
        <p:nvSpPr>
          <p:cNvPr id="27" name="Text 25"/>
          <p:cNvSpPr/>
          <p:nvPr/>
        </p:nvSpPr>
        <p:spPr>
          <a:xfrm>
            <a:off x="9601200" y="4389120"/>
            <a:ext cx="2103120" cy="640080"/>
          </a:xfrm>
          <a:prstGeom prst="rect">
            <a:avLst/>
          </a:prstGeom>
          <a:noFill/>
          <a:ln/>
        </p:spPr>
        <p:txBody>
          <a:bodyPr wrap="square" lIns="0" tIns="0" rIns="0" bIns="0" rtlCol="0" anchor="ctr"/>
          <a:lstStyle/>
          <a:p>
            <a:pPr indent="0" marL="0">
              <a:buNone/>
            </a:pPr>
            <a:r>
              <a:rPr lang="en-US" sz="1400" b="1" dirty="0">
                <a:solidFill>
                  <a:srgbClr val="2B2B2B"/>
                </a:solidFill>
                <a:latin typeface="Arial" pitchFamily="34" charset="0"/>
                <a:ea typeface="Arial" pitchFamily="34" charset="-122"/>
                <a:cs typeface="Arial" pitchFamily="34" charset="-120"/>
              </a:rPr>
              <a:t>超富裕層 24名 相当</a:t>
            </a:r>
            <a:endParaRPr lang="en-US" sz="1400" dirty="0"/>
          </a:p>
        </p:txBody>
      </p:sp>
      <p:sp>
        <p:nvSpPr>
          <p:cNvPr id="28" name="Shape 26"/>
          <p:cNvSpPr/>
          <p:nvPr/>
        </p:nvSpPr>
        <p:spPr>
          <a:xfrm>
            <a:off x="594360" y="5742432"/>
            <a:ext cx="10963656" cy="548640"/>
          </a:xfrm>
          <a:prstGeom prst="roundRect">
            <a:avLst>
              <a:gd name="adj" fmla="val 10000"/>
            </a:avLst>
          </a:prstGeom>
          <a:solidFill>
            <a:srgbClr val="ECE2D0"/>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9" name="Text 27"/>
          <p:cNvSpPr/>
          <p:nvPr/>
        </p:nvSpPr>
        <p:spPr>
          <a:xfrm>
            <a:off x="914400" y="5742432"/>
            <a:ext cx="10332720" cy="548640"/>
          </a:xfrm>
          <a:prstGeom prst="rect">
            <a:avLst/>
          </a:prstGeom>
          <a:noFill/>
          <a:ln/>
        </p:spPr>
        <p:txBody>
          <a:bodyPr wrap="square" lIns="0" tIns="0" rIns="0" bIns="0" rtlCol="0" anchor="ctr"/>
          <a:lstStyle/>
          <a:p>
            <a:pPr indent="0" marL="0">
              <a:buNone/>
            </a:pPr>
            <a:r>
              <a:rPr lang="en-US" sz="1120" b="1" dirty="0">
                <a:solidFill>
                  <a:srgbClr val="6D2E46"/>
                </a:solidFill>
                <a:latin typeface="Arial" pitchFamily="34" charset="0"/>
                <a:ea typeface="Arial" pitchFamily="34" charset="-122"/>
                <a:cs typeface="Arial" pitchFamily="34" charset="-120"/>
              </a:rPr>
              <a:t>事業計画上のFY2027新規顧客計画は超富裕層43名・富裕層55名・準富裕層71名ほか、計1,066百万円。損益分岐はその4.2%で到達します。</a:t>
            </a:r>
            <a:endParaRPr lang="en-US" sz="1120" dirty="0"/>
          </a:p>
        </p:txBody>
      </p:sp>
      <p:sp>
        <p:nvSpPr>
          <p:cNvPr id="30" name="Text 28"/>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超富裕層の単価は計画上10百万円/名（430百万円÷43名）。</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財務基盤 － 簿価より実態が厚い</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ワイン現物という換価可能な資産があり、実態純資産は簿価を上回ります。（単位：円）</a:t>
            </a:r>
            <a:endParaRPr lang="en-US" sz="1250" dirty="0"/>
          </a:p>
        </p:txBody>
      </p:sp>
      <p:sp>
        <p:nvSpPr>
          <p:cNvPr id="4" name="Shape 2"/>
          <p:cNvSpPr/>
          <p:nvPr/>
        </p:nvSpPr>
        <p:spPr>
          <a:xfrm>
            <a:off x="594360" y="1572768"/>
            <a:ext cx="6400800" cy="621792"/>
          </a:xfrm>
          <a:prstGeom prst="rect">
            <a:avLst/>
          </a:prstGeom>
          <a:solidFill>
            <a:srgbClr val="FFFFFF"/>
          </a:solidFill>
          <a:ln w="6350">
            <a:solidFill>
              <a:srgbClr val="DED5CE"/>
            </a:solidFill>
            <a:prstDash val="solid"/>
          </a:ln>
        </p:spPr>
      </p:sp>
      <p:sp>
        <p:nvSpPr>
          <p:cNvPr id="5" name="Text 3"/>
          <p:cNvSpPr/>
          <p:nvPr/>
        </p:nvSpPr>
        <p:spPr>
          <a:xfrm>
            <a:off x="822960" y="1572768"/>
            <a:ext cx="3931920" cy="621792"/>
          </a:xfrm>
          <a:prstGeom prst="rect">
            <a:avLst/>
          </a:prstGeom>
          <a:noFill/>
          <a:ln/>
        </p:spPr>
        <p:txBody>
          <a:bodyPr wrap="square" lIns="0" tIns="0" rIns="0" bIns="0" rtlCol="0" anchor="ctr"/>
          <a:lstStyle/>
          <a:p>
            <a:pPr indent="0" marL="0">
              <a:buNone/>
            </a:pPr>
            <a:r>
              <a:rPr lang="en-US" sz="1150" dirty="0">
                <a:solidFill>
                  <a:srgbClr val="2B2B2B"/>
                </a:solidFill>
                <a:latin typeface="Arial" pitchFamily="34" charset="0"/>
                <a:ea typeface="Arial" pitchFamily="34" charset="-122"/>
                <a:cs typeface="Arial" pitchFamily="34" charset="-120"/>
              </a:rPr>
              <a:t>簿価純資産（2025/9末）</a:t>
            </a:r>
            <a:endParaRPr lang="en-US" sz="1150" dirty="0"/>
          </a:p>
        </p:txBody>
      </p:sp>
      <p:sp>
        <p:nvSpPr>
          <p:cNvPr id="6" name="Text 4"/>
          <p:cNvSpPr/>
          <p:nvPr/>
        </p:nvSpPr>
        <p:spPr>
          <a:xfrm>
            <a:off x="4754880" y="1572768"/>
            <a:ext cx="2011680" cy="621792"/>
          </a:xfrm>
          <a:prstGeom prst="rect">
            <a:avLst/>
          </a:prstGeom>
          <a:noFill/>
          <a:ln/>
        </p:spPr>
        <p:txBody>
          <a:bodyPr wrap="square" lIns="0" tIns="0" rIns="0" bIns="0" rtlCol="0" anchor="ctr"/>
          <a:lstStyle/>
          <a:p>
            <a:pPr algn="r" indent="0" marL="0">
              <a:buNone/>
            </a:pPr>
            <a:r>
              <a:rPr lang="en-US" sz="1300" b="1" dirty="0">
                <a:solidFill>
                  <a:srgbClr val="2B2B2B"/>
                </a:solidFill>
                <a:latin typeface="Arial" pitchFamily="34" charset="0"/>
                <a:ea typeface="Arial" pitchFamily="34" charset="-122"/>
                <a:cs typeface="Arial" pitchFamily="34" charset="-120"/>
              </a:rPr>
              <a:t>211,755,689</a:t>
            </a:r>
            <a:endParaRPr lang="en-US" sz="1300" dirty="0"/>
          </a:p>
        </p:txBody>
      </p:sp>
      <p:sp>
        <p:nvSpPr>
          <p:cNvPr id="7" name="Shape 5"/>
          <p:cNvSpPr/>
          <p:nvPr/>
        </p:nvSpPr>
        <p:spPr>
          <a:xfrm>
            <a:off x="594360" y="2304288"/>
            <a:ext cx="6400800" cy="621792"/>
          </a:xfrm>
          <a:prstGeom prst="rect">
            <a:avLst/>
          </a:prstGeom>
          <a:solidFill>
            <a:srgbClr val="FBF9F7"/>
          </a:solidFill>
          <a:ln w="6350">
            <a:solidFill>
              <a:srgbClr val="DED5CE"/>
            </a:solidFill>
            <a:prstDash val="solid"/>
          </a:ln>
        </p:spPr>
      </p:sp>
      <p:sp>
        <p:nvSpPr>
          <p:cNvPr id="8" name="Text 6"/>
          <p:cNvSpPr/>
          <p:nvPr/>
        </p:nvSpPr>
        <p:spPr>
          <a:xfrm>
            <a:off x="822960" y="2304288"/>
            <a:ext cx="3931920" cy="621792"/>
          </a:xfrm>
          <a:prstGeom prst="rect">
            <a:avLst/>
          </a:prstGeom>
          <a:noFill/>
          <a:ln/>
        </p:spPr>
        <p:txBody>
          <a:bodyPr wrap="square" lIns="0" tIns="0" rIns="0" bIns="0" rtlCol="0" anchor="ctr"/>
          <a:lstStyle/>
          <a:p>
            <a:pPr indent="0" marL="0">
              <a:buNone/>
            </a:pPr>
            <a:r>
              <a:rPr lang="en-US" sz="1150" dirty="0">
                <a:solidFill>
                  <a:srgbClr val="2B2B2B"/>
                </a:solidFill>
                <a:latin typeface="Arial" pitchFamily="34" charset="0"/>
                <a:ea typeface="Arial" pitchFamily="34" charset="-122"/>
                <a:cs typeface="Arial" pitchFamily="34" charset="-120"/>
              </a:rPr>
              <a:t>▲ ソフトウェア（換価性を保守評価）</a:t>
            </a:r>
            <a:endParaRPr lang="en-US" sz="1150" dirty="0"/>
          </a:p>
        </p:txBody>
      </p:sp>
      <p:sp>
        <p:nvSpPr>
          <p:cNvPr id="9" name="Text 7"/>
          <p:cNvSpPr/>
          <p:nvPr/>
        </p:nvSpPr>
        <p:spPr>
          <a:xfrm>
            <a:off x="4754880" y="2304288"/>
            <a:ext cx="2011680" cy="621792"/>
          </a:xfrm>
          <a:prstGeom prst="rect">
            <a:avLst/>
          </a:prstGeom>
          <a:noFill/>
          <a:ln/>
        </p:spPr>
        <p:txBody>
          <a:bodyPr wrap="square" lIns="0" tIns="0" rIns="0" bIns="0" rtlCol="0" anchor="ctr"/>
          <a:lstStyle/>
          <a:p>
            <a:pPr algn="r" indent="0" marL="0">
              <a:buNone/>
            </a:pPr>
            <a:r>
              <a:rPr lang="en-US" sz="1300" b="1" dirty="0">
                <a:solidFill>
                  <a:srgbClr val="A26769"/>
                </a:solidFill>
                <a:latin typeface="Arial" pitchFamily="34" charset="0"/>
                <a:ea typeface="Arial" pitchFamily="34" charset="-122"/>
                <a:cs typeface="Arial" pitchFamily="34" charset="-120"/>
              </a:rPr>
              <a:t>▲129,822,924</a:t>
            </a:r>
            <a:endParaRPr lang="en-US" sz="1300" dirty="0"/>
          </a:p>
        </p:txBody>
      </p:sp>
      <p:sp>
        <p:nvSpPr>
          <p:cNvPr id="10" name="Shape 8"/>
          <p:cNvSpPr/>
          <p:nvPr/>
        </p:nvSpPr>
        <p:spPr>
          <a:xfrm>
            <a:off x="594360" y="3035808"/>
            <a:ext cx="6400800" cy="621792"/>
          </a:xfrm>
          <a:prstGeom prst="rect">
            <a:avLst/>
          </a:prstGeom>
          <a:solidFill>
            <a:srgbClr val="FFFFFF"/>
          </a:solidFill>
          <a:ln w="6350">
            <a:solidFill>
              <a:srgbClr val="DED5CE"/>
            </a:solidFill>
            <a:prstDash val="solid"/>
          </a:ln>
        </p:spPr>
      </p:sp>
      <p:sp>
        <p:nvSpPr>
          <p:cNvPr id="11" name="Text 9"/>
          <p:cNvSpPr/>
          <p:nvPr/>
        </p:nvSpPr>
        <p:spPr>
          <a:xfrm>
            <a:off x="822960" y="3035808"/>
            <a:ext cx="3931920" cy="621792"/>
          </a:xfrm>
          <a:prstGeom prst="rect">
            <a:avLst/>
          </a:prstGeom>
          <a:noFill/>
          <a:ln/>
        </p:spPr>
        <p:txBody>
          <a:bodyPr wrap="square" lIns="0" tIns="0" rIns="0" bIns="0" rtlCol="0" anchor="ctr"/>
          <a:lstStyle/>
          <a:p>
            <a:pPr indent="0" marL="0">
              <a:buNone/>
            </a:pPr>
            <a:r>
              <a:rPr lang="en-US" sz="1150" dirty="0">
                <a:solidFill>
                  <a:srgbClr val="2B2B2B"/>
                </a:solidFill>
                <a:latin typeface="Arial" pitchFamily="34" charset="0"/>
                <a:ea typeface="Arial" pitchFamily="34" charset="-122"/>
                <a:cs typeface="Arial" pitchFamily="34" charset="-120"/>
              </a:rPr>
              <a:t>＋ 商品の含み益（時価1.37倍）</a:t>
            </a:r>
            <a:endParaRPr lang="en-US" sz="1150" dirty="0"/>
          </a:p>
        </p:txBody>
      </p:sp>
      <p:sp>
        <p:nvSpPr>
          <p:cNvPr id="12" name="Text 10"/>
          <p:cNvSpPr/>
          <p:nvPr/>
        </p:nvSpPr>
        <p:spPr>
          <a:xfrm>
            <a:off x="4754880" y="3035808"/>
            <a:ext cx="2011680" cy="621792"/>
          </a:xfrm>
          <a:prstGeom prst="rect">
            <a:avLst/>
          </a:prstGeom>
          <a:noFill/>
          <a:ln/>
        </p:spPr>
        <p:txBody>
          <a:bodyPr wrap="square" lIns="0" tIns="0" rIns="0" bIns="0" rtlCol="0" anchor="ctr"/>
          <a:lstStyle/>
          <a:p>
            <a:pPr algn="r" indent="0" marL="0">
              <a:buNone/>
            </a:pPr>
            <a:r>
              <a:rPr lang="en-US" sz="1300" b="1" dirty="0">
                <a:solidFill>
                  <a:srgbClr val="6D2E46"/>
                </a:solidFill>
                <a:latin typeface="Arial" pitchFamily="34" charset="0"/>
                <a:ea typeface="Arial" pitchFamily="34" charset="-122"/>
                <a:cs typeface="Arial" pitchFamily="34" charset="-120"/>
              </a:rPr>
              <a:t>186,716,373</a:t>
            </a:r>
            <a:endParaRPr lang="en-US" sz="1300" dirty="0"/>
          </a:p>
        </p:txBody>
      </p:sp>
      <p:sp>
        <p:nvSpPr>
          <p:cNvPr id="13" name="Shape 11"/>
          <p:cNvSpPr/>
          <p:nvPr/>
        </p:nvSpPr>
        <p:spPr>
          <a:xfrm>
            <a:off x="594360" y="3767328"/>
            <a:ext cx="6400800" cy="731520"/>
          </a:xfrm>
          <a:prstGeom prst="rect">
            <a:avLst/>
          </a:prstGeom>
          <a:solidFill>
            <a:srgbClr val="6D2E46"/>
          </a:solidFill>
          <a:ln/>
        </p:spPr>
      </p:sp>
      <p:sp>
        <p:nvSpPr>
          <p:cNvPr id="14" name="Text 12"/>
          <p:cNvSpPr/>
          <p:nvPr/>
        </p:nvSpPr>
        <p:spPr>
          <a:xfrm>
            <a:off x="822960" y="3767328"/>
            <a:ext cx="3931920" cy="7315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実態純資産</a:t>
            </a:r>
            <a:endParaRPr lang="en-US" sz="1300" dirty="0"/>
          </a:p>
        </p:txBody>
      </p:sp>
      <p:sp>
        <p:nvSpPr>
          <p:cNvPr id="15" name="Text 13"/>
          <p:cNvSpPr/>
          <p:nvPr/>
        </p:nvSpPr>
        <p:spPr>
          <a:xfrm>
            <a:off x="4754880" y="3767328"/>
            <a:ext cx="2011680" cy="731520"/>
          </a:xfrm>
          <a:prstGeom prst="rect">
            <a:avLst/>
          </a:prstGeom>
          <a:noFill/>
          <a:ln/>
        </p:spPr>
        <p:txBody>
          <a:bodyPr wrap="square" lIns="0" tIns="0" rIns="0" bIns="0" rtlCol="0" anchor="ctr"/>
          <a:lstStyle/>
          <a:p>
            <a:pPr algn="r" indent="0" marL="0">
              <a:buNone/>
            </a:pPr>
            <a:r>
              <a:rPr lang="en-US" sz="1700" b="1" dirty="0">
                <a:solidFill>
                  <a:srgbClr val="FFFFFF"/>
                </a:solidFill>
                <a:latin typeface="Cambria" pitchFamily="34" charset="0"/>
                <a:ea typeface="Cambria" pitchFamily="34" charset="-122"/>
                <a:cs typeface="Cambria" pitchFamily="34" charset="-120"/>
              </a:rPr>
              <a:t>268,649,138</a:t>
            </a:r>
            <a:endParaRPr lang="en-US" sz="1700" dirty="0"/>
          </a:p>
        </p:txBody>
      </p:sp>
      <p:sp>
        <p:nvSpPr>
          <p:cNvPr id="16" name="Text 14"/>
          <p:cNvSpPr/>
          <p:nvPr/>
        </p:nvSpPr>
        <p:spPr>
          <a:xfrm>
            <a:off x="822960" y="4608576"/>
            <a:ext cx="5943600" cy="27432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簿価純資産を＋56.9百万円上回る</a:t>
            </a:r>
            <a:endParaRPr lang="en-US" sz="1050" dirty="0"/>
          </a:p>
        </p:txBody>
      </p:sp>
      <p:sp>
        <p:nvSpPr>
          <p:cNvPr id="17" name="Shape 15"/>
          <p:cNvSpPr/>
          <p:nvPr/>
        </p:nvSpPr>
        <p:spPr>
          <a:xfrm>
            <a:off x="7269480" y="1572768"/>
            <a:ext cx="4297680" cy="1325880"/>
          </a:xfrm>
          <a:prstGeom prst="roundRect">
            <a:avLst>
              <a:gd name="adj" fmla="val 4138"/>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8" name="Text 16"/>
          <p:cNvSpPr/>
          <p:nvPr/>
        </p:nvSpPr>
        <p:spPr>
          <a:xfrm>
            <a:off x="7498080" y="1700784"/>
            <a:ext cx="2011680" cy="27432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繰越欠損金</a:t>
            </a:r>
            <a:endParaRPr lang="en-US" sz="1050" dirty="0"/>
          </a:p>
        </p:txBody>
      </p:sp>
      <p:sp>
        <p:nvSpPr>
          <p:cNvPr id="19" name="Text 17"/>
          <p:cNvSpPr/>
          <p:nvPr/>
        </p:nvSpPr>
        <p:spPr>
          <a:xfrm>
            <a:off x="7498080" y="1938528"/>
            <a:ext cx="3840480" cy="384048"/>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約252百万円</a:t>
            </a:r>
            <a:endParaRPr lang="en-US" sz="2000" dirty="0"/>
          </a:p>
        </p:txBody>
      </p:sp>
      <p:sp>
        <p:nvSpPr>
          <p:cNvPr id="20" name="Text 18"/>
          <p:cNvSpPr/>
          <p:nvPr/>
        </p:nvSpPr>
        <p:spPr>
          <a:xfrm>
            <a:off x="7498080" y="2350008"/>
            <a:ext cx="3840480" cy="475488"/>
          </a:xfrm>
          <a:prstGeom prst="rect">
            <a:avLst/>
          </a:prstGeom>
          <a:noFill/>
          <a:ln/>
        </p:spPr>
        <p:txBody>
          <a:bodyPr wrap="square" lIns="0" tIns="0" rIns="0" bIns="0" rtlCol="0" anchor="ctr"/>
          <a:lstStyle/>
          <a:p>
            <a:pPr indent="0" marL="0">
              <a:buNone/>
            </a:pPr>
            <a:r>
              <a:rPr lang="en-US" sz="950" dirty="0">
                <a:solidFill>
                  <a:srgbClr val="2B2B2B"/>
                </a:solidFill>
                <a:latin typeface="Arial" pitchFamily="34" charset="0"/>
                <a:ea typeface="Arial" pitchFamily="34" charset="-122"/>
                <a:cs typeface="Arial" pitchFamily="34" charset="-120"/>
              </a:rPr>
              <a:t>FY2025 ▲127.4 ＋ FY2026 ▲124.8。資本金1,000万円の中小法人は所得の100%控除が可能。FY2027の黒字に法人税は実質発生せず、税引前＝税引後でキャッシュに残ります。</a:t>
            </a:r>
            <a:endParaRPr lang="en-US" sz="950" dirty="0"/>
          </a:p>
        </p:txBody>
      </p:sp>
      <p:sp>
        <p:nvSpPr>
          <p:cNvPr id="21" name="Shape 19"/>
          <p:cNvSpPr/>
          <p:nvPr/>
        </p:nvSpPr>
        <p:spPr>
          <a:xfrm>
            <a:off x="7269480" y="3054096"/>
            <a:ext cx="4297680" cy="1325880"/>
          </a:xfrm>
          <a:prstGeom prst="roundRect">
            <a:avLst>
              <a:gd name="adj" fmla="val 4138"/>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2" name="Text 20"/>
          <p:cNvSpPr/>
          <p:nvPr/>
        </p:nvSpPr>
        <p:spPr>
          <a:xfrm>
            <a:off x="7498080" y="3182112"/>
            <a:ext cx="2011680" cy="27432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有利子負債</a:t>
            </a:r>
            <a:endParaRPr lang="en-US" sz="1050" dirty="0"/>
          </a:p>
        </p:txBody>
      </p:sp>
      <p:sp>
        <p:nvSpPr>
          <p:cNvPr id="23" name="Text 21"/>
          <p:cNvSpPr/>
          <p:nvPr/>
        </p:nvSpPr>
        <p:spPr>
          <a:xfrm>
            <a:off x="7498080" y="3419856"/>
            <a:ext cx="3840480" cy="384048"/>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586百万円</a:t>
            </a:r>
            <a:endParaRPr lang="en-US" sz="2000" dirty="0"/>
          </a:p>
        </p:txBody>
      </p:sp>
      <p:sp>
        <p:nvSpPr>
          <p:cNvPr id="24" name="Text 22"/>
          <p:cNvSpPr/>
          <p:nvPr/>
        </p:nvSpPr>
        <p:spPr>
          <a:xfrm>
            <a:off x="7498080" y="3831336"/>
            <a:ext cx="3840480" cy="475488"/>
          </a:xfrm>
          <a:prstGeom prst="rect">
            <a:avLst/>
          </a:prstGeom>
          <a:noFill/>
          <a:ln/>
        </p:spPr>
        <p:txBody>
          <a:bodyPr wrap="square" lIns="0" tIns="0" rIns="0" bIns="0" rtlCol="0" anchor="ctr"/>
          <a:lstStyle/>
          <a:p>
            <a:pPr indent="0" marL="0">
              <a:buNone/>
            </a:pPr>
            <a:r>
              <a:rPr lang="en-US" sz="950" dirty="0">
                <a:solidFill>
                  <a:srgbClr val="2B2B2B"/>
                </a:solidFill>
                <a:latin typeface="Arial" pitchFamily="34" charset="0"/>
                <a:ea typeface="Arial" pitchFamily="34" charset="-122"/>
                <a:cs typeface="Arial" pitchFamily="34" charset="-120"/>
              </a:rPr>
              <a:t>短期162.4＋長期423.6＋役員0.1（2025/9末）。</a:t>
            </a:r>
            <a:endParaRPr lang="en-US" sz="950" dirty="0"/>
          </a:p>
        </p:txBody>
      </p:sp>
      <p:sp>
        <p:nvSpPr>
          <p:cNvPr id="25" name="Shape 23"/>
          <p:cNvSpPr/>
          <p:nvPr/>
        </p:nvSpPr>
        <p:spPr>
          <a:xfrm>
            <a:off x="7269480" y="4535424"/>
            <a:ext cx="4297680" cy="1325880"/>
          </a:xfrm>
          <a:prstGeom prst="roundRect">
            <a:avLst>
              <a:gd name="adj" fmla="val 4138"/>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6" name="Text 24"/>
          <p:cNvSpPr/>
          <p:nvPr/>
        </p:nvSpPr>
        <p:spPr>
          <a:xfrm>
            <a:off x="7498080" y="4663440"/>
            <a:ext cx="2011680" cy="27432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現金及び預金</a:t>
            </a:r>
            <a:endParaRPr lang="en-US" sz="1050" dirty="0"/>
          </a:p>
        </p:txBody>
      </p:sp>
      <p:sp>
        <p:nvSpPr>
          <p:cNvPr id="27" name="Text 25"/>
          <p:cNvSpPr/>
          <p:nvPr/>
        </p:nvSpPr>
        <p:spPr>
          <a:xfrm>
            <a:off x="7498080" y="4901184"/>
            <a:ext cx="3840480" cy="384048"/>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24.4百万円</a:t>
            </a:r>
            <a:endParaRPr lang="en-US" sz="2000" dirty="0"/>
          </a:p>
        </p:txBody>
      </p:sp>
      <p:sp>
        <p:nvSpPr>
          <p:cNvPr id="28" name="Text 26"/>
          <p:cNvSpPr/>
          <p:nvPr/>
        </p:nvSpPr>
        <p:spPr>
          <a:xfrm>
            <a:off x="7498080" y="5312664"/>
            <a:ext cx="3840480" cy="475488"/>
          </a:xfrm>
          <a:prstGeom prst="rect">
            <a:avLst/>
          </a:prstGeom>
          <a:noFill/>
          <a:ln/>
        </p:spPr>
        <p:txBody>
          <a:bodyPr wrap="square" lIns="0" tIns="0" rIns="0" bIns="0" rtlCol="0" anchor="ctr"/>
          <a:lstStyle/>
          <a:p>
            <a:pPr indent="0" marL="0">
              <a:buNone/>
            </a:pPr>
            <a:r>
              <a:rPr lang="en-US" sz="950" dirty="0">
                <a:solidFill>
                  <a:srgbClr val="2B2B2B"/>
                </a:solidFill>
                <a:latin typeface="Arial" pitchFamily="34" charset="0"/>
                <a:ea typeface="Arial" pitchFamily="34" charset="-122"/>
                <a:cs typeface="Arial" pitchFamily="34" charset="-120"/>
              </a:rPr>
              <a:t>手元流動性は薄く、月次資金繰り表を別途ご提出します。</a:t>
            </a:r>
            <a:endParaRPr lang="en-US" sz="950" dirty="0"/>
          </a:p>
        </p:txBody>
      </p:sp>
      <p:sp>
        <p:nvSpPr>
          <p:cNvPr id="29" name="Text 27"/>
          <p:cNvSpPr/>
          <p:nvPr/>
        </p:nvSpPr>
        <p:spPr>
          <a:xfrm>
            <a:off x="594360" y="6382512"/>
            <a:ext cx="10972800" cy="274320"/>
          </a:xfrm>
          <a:prstGeom prst="rect">
            <a:avLst/>
          </a:prstGeom>
          <a:noFill/>
          <a:ln/>
        </p:spPr>
        <p:txBody>
          <a:bodyPr wrap="square" lIns="0" tIns="0" rIns="0" bIns="0" rtlCol="0" anchor="ctr"/>
          <a:lstStyle/>
          <a:p>
            <a:pPr indent="0" marL="0">
              <a:buNone/>
            </a:pPr>
            <a:r>
              <a:rPr lang="en-US" sz="850" dirty="0">
                <a:solidFill>
                  <a:srgbClr val="7A6A64"/>
                </a:solidFill>
                <a:latin typeface="Arial" pitchFamily="34" charset="0"/>
                <a:ea typeface="Arial" pitchFamily="34" charset="-122"/>
                <a:cs typeface="Arial" pitchFamily="34" charset="-120"/>
              </a:rPr>
              <a:t>出典：決算報告書 第54期（2025年9月30日現在）。商品の時価倍率1.37は事業計画202608（銀行様）の自社販売在庫 簿価/時価比率による。</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F"/>
        </a:solidFill>
      </p:bgPr>
    </p:bg>
    <p:spTree>
      <p:nvGrpSpPr>
        <p:cNvPr id="1" name=""/>
        <p:cNvGrpSpPr/>
        <p:nvPr/>
      </p:nvGrpSpPr>
      <p:grpSpPr>
        <a:xfrm>
          <a:off x="0" y="0"/>
          <a:ext cx="0" cy="0"/>
          <a:chOff x="0" y="0"/>
          <a:chExt cx="0" cy="0"/>
        </a:xfrm>
      </p:grpSpPr>
      <p:sp>
        <p:nvSpPr>
          <p:cNvPr id="2" name="Text 0"/>
          <p:cNvSpPr/>
          <p:nvPr/>
        </p:nvSpPr>
        <p:spPr>
          <a:xfrm>
            <a:off x="594360" y="384048"/>
            <a:ext cx="10972800" cy="566928"/>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想定されるご指摘と当社の対応</a:t>
            </a:r>
            <a:endParaRPr lang="en-US" sz="3000" dirty="0"/>
          </a:p>
        </p:txBody>
      </p:sp>
      <p:sp>
        <p:nvSpPr>
          <p:cNvPr id="3" name="Text 1"/>
          <p:cNvSpPr/>
          <p:nvPr/>
        </p:nvSpPr>
        <p:spPr>
          <a:xfrm>
            <a:off x="594360" y="969264"/>
            <a:ext cx="10972800" cy="310896"/>
          </a:xfrm>
          <a:prstGeom prst="rect">
            <a:avLst/>
          </a:prstGeom>
          <a:noFill/>
          <a:ln/>
        </p:spPr>
        <p:txBody>
          <a:bodyPr wrap="square" lIns="0" tIns="0" rIns="0" bIns="0" rtlCol="0" anchor="ctr"/>
          <a:lstStyle/>
          <a:p>
            <a:pPr indent="0" marL="0">
              <a:buNone/>
            </a:pPr>
            <a:r>
              <a:rPr lang="en-US" sz="1250" dirty="0">
                <a:solidFill>
                  <a:srgbClr val="7A6A64"/>
                </a:solidFill>
                <a:latin typeface="Arial" pitchFamily="34" charset="0"/>
                <a:ea typeface="Arial" pitchFamily="34" charset="-122"/>
                <a:cs typeface="Arial" pitchFamily="34" charset="-120"/>
              </a:rPr>
              <a:t>先に論点を開示し、対応方針をあわせてご説明します。</a:t>
            </a:r>
            <a:endParaRPr lang="en-US" sz="1250" dirty="0"/>
          </a:p>
        </p:txBody>
      </p:sp>
      <p:sp>
        <p:nvSpPr>
          <p:cNvPr id="4" name="Shape 2"/>
          <p:cNvSpPr/>
          <p:nvPr/>
        </p:nvSpPr>
        <p:spPr>
          <a:xfrm>
            <a:off x="594360" y="1481328"/>
            <a:ext cx="5486400" cy="2029968"/>
          </a:xfrm>
          <a:prstGeom prst="roundRect">
            <a:avLst>
              <a:gd name="adj" fmla="val 270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5" name="Shape 3"/>
          <p:cNvSpPr/>
          <p:nvPr/>
        </p:nvSpPr>
        <p:spPr>
          <a:xfrm>
            <a:off x="868680" y="1719072"/>
            <a:ext cx="310896" cy="310896"/>
          </a:xfrm>
          <a:prstGeom prst="ellipse">
            <a:avLst/>
          </a:prstGeom>
          <a:solidFill>
            <a:srgbClr val="6D2E46"/>
          </a:solidFill>
          <a:ln/>
        </p:spPr>
      </p:sp>
      <p:sp>
        <p:nvSpPr>
          <p:cNvPr id="6" name="Text 4"/>
          <p:cNvSpPr/>
          <p:nvPr/>
        </p:nvSpPr>
        <p:spPr>
          <a:xfrm>
            <a:off x="868680"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07592" y="1700784"/>
            <a:ext cx="4480560" cy="329184"/>
          </a:xfrm>
          <a:prstGeom prst="rect">
            <a:avLst/>
          </a:prstGeom>
          <a:noFill/>
          <a:ln/>
        </p:spPr>
        <p:txBody>
          <a:bodyPr wrap="square" lIns="0" tIns="0" rIns="0" bIns="0" rtlCol="0" anchor="ctr"/>
          <a:lstStyle/>
          <a:p>
            <a:pPr indent="0" marL="0">
              <a:buNone/>
            </a:pPr>
            <a:r>
              <a:rPr lang="en-US" sz="1350" b="1" dirty="0">
                <a:solidFill>
                  <a:srgbClr val="6D2E46"/>
                </a:solidFill>
                <a:latin typeface="Arial" pitchFamily="34" charset="0"/>
                <a:ea typeface="Arial" pitchFamily="34" charset="-122"/>
                <a:cs typeface="Arial" pitchFamily="34" charset="-120"/>
              </a:rPr>
              <a:t>グループ内取引 100百万円</a:t>
            </a:r>
            <a:endParaRPr lang="en-US" sz="1350" dirty="0"/>
          </a:p>
        </p:txBody>
      </p:sp>
      <p:sp>
        <p:nvSpPr>
          <p:cNvPr id="8" name="Text 6"/>
          <p:cNvSpPr/>
          <p:nvPr/>
        </p:nvSpPr>
        <p:spPr>
          <a:xfrm>
            <a:off x="886968" y="2121408"/>
            <a:ext cx="4937760" cy="54864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上乗せ案件132.5百万円のうち約100百万円はグループ会社からの経営指導料。</a:t>
            </a:r>
            <a:endParaRPr lang="en-US" sz="1050" dirty="0"/>
          </a:p>
        </p:txBody>
      </p:sp>
      <p:sp>
        <p:nvSpPr>
          <p:cNvPr id="9" name="Shape 7"/>
          <p:cNvSpPr/>
          <p:nvPr/>
        </p:nvSpPr>
        <p:spPr>
          <a:xfrm>
            <a:off x="886968" y="2670048"/>
            <a:ext cx="4937760" cy="694944"/>
          </a:xfrm>
          <a:prstGeom prst="roundRect">
            <a:avLst>
              <a:gd name="adj" fmla="val 6579"/>
            </a:avLst>
          </a:prstGeom>
          <a:solidFill>
            <a:srgbClr val="ECE2D0"/>
          </a:solidFill>
          <a:ln/>
        </p:spPr>
      </p:sp>
      <p:sp>
        <p:nvSpPr>
          <p:cNvPr id="10" name="Text 8"/>
          <p:cNvSpPr/>
          <p:nvPr/>
        </p:nvSpPr>
        <p:spPr>
          <a:xfrm>
            <a:off x="1051560" y="2670048"/>
            <a:ext cx="4617720" cy="694944"/>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支払側各社の支払能力と、対価の算定根拠（業務内容・工数）を文書化してご提出します。</a:t>
            </a:r>
            <a:endParaRPr lang="en-US" sz="1050" dirty="0"/>
          </a:p>
        </p:txBody>
      </p:sp>
      <p:sp>
        <p:nvSpPr>
          <p:cNvPr id="11" name="Shape 9"/>
          <p:cNvSpPr/>
          <p:nvPr/>
        </p:nvSpPr>
        <p:spPr>
          <a:xfrm>
            <a:off x="6400800" y="1481328"/>
            <a:ext cx="5486400" cy="2029968"/>
          </a:xfrm>
          <a:prstGeom prst="roundRect">
            <a:avLst>
              <a:gd name="adj" fmla="val 270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2" name="Shape 10"/>
          <p:cNvSpPr/>
          <p:nvPr/>
        </p:nvSpPr>
        <p:spPr>
          <a:xfrm>
            <a:off x="6675120" y="1719072"/>
            <a:ext cx="310896" cy="310896"/>
          </a:xfrm>
          <a:prstGeom prst="ellipse">
            <a:avLst/>
          </a:prstGeom>
          <a:solidFill>
            <a:srgbClr val="6D2E46"/>
          </a:solidFill>
          <a:ln/>
        </p:spPr>
      </p:sp>
      <p:sp>
        <p:nvSpPr>
          <p:cNvPr id="13" name="Text 11"/>
          <p:cNvSpPr/>
          <p:nvPr/>
        </p:nvSpPr>
        <p:spPr>
          <a:xfrm>
            <a:off x="6675120"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7114032" y="1700784"/>
            <a:ext cx="4480560" cy="329184"/>
          </a:xfrm>
          <a:prstGeom prst="rect">
            <a:avLst/>
          </a:prstGeom>
          <a:noFill/>
          <a:ln/>
        </p:spPr>
        <p:txBody>
          <a:bodyPr wrap="square" lIns="0" tIns="0" rIns="0" bIns="0" rtlCol="0" anchor="ctr"/>
          <a:lstStyle/>
          <a:p>
            <a:pPr indent="0" marL="0">
              <a:buNone/>
            </a:pPr>
            <a:r>
              <a:rPr lang="en-US" sz="1350" b="1" dirty="0">
                <a:solidFill>
                  <a:srgbClr val="6D2E46"/>
                </a:solidFill>
                <a:latin typeface="Arial" pitchFamily="34" charset="0"/>
                <a:ea typeface="Arial" pitchFamily="34" charset="-122"/>
                <a:cs typeface="Arial" pitchFamily="34" charset="-120"/>
              </a:rPr>
              <a:t>手元流動性が1か月未満</a:t>
            </a:r>
            <a:endParaRPr lang="en-US" sz="1350" dirty="0"/>
          </a:p>
        </p:txBody>
      </p:sp>
      <p:sp>
        <p:nvSpPr>
          <p:cNvPr id="15" name="Text 13"/>
          <p:cNvSpPr/>
          <p:nvPr/>
        </p:nvSpPr>
        <p:spPr>
          <a:xfrm>
            <a:off x="6693408" y="2121408"/>
            <a:ext cx="4937760" cy="54864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現金及び預金24.4百万円に対し、月次販管費は25.0百万円。</a:t>
            </a:r>
            <a:endParaRPr lang="en-US" sz="1050" dirty="0"/>
          </a:p>
        </p:txBody>
      </p:sp>
      <p:sp>
        <p:nvSpPr>
          <p:cNvPr id="16" name="Shape 14"/>
          <p:cNvSpPr/>
          <p:nvPr/>
        </p:nvSpPr>
        <p:spPr>
          <a:xfrm>
            <a:off x="6693408" y="2670048"/>
            <a:ext cx="4937760" cy="694944"/>
          </a:xfrm>
          <a:prstGeom prst="roundRect">
            <a:avLst>
              <a:gd name="adj" fmla="val 6579"/>
            </a:avLst>
          </a:prstGeom>
          <a:solidFill>
            <a:srgbClr val="ECE2D0"/>
          </a:solidFill>
          <a:ln/>
        </p:spPr>
      </p:sp>
      <p:sp>
        <p:nvSpPr>
          <p:cNvPr id="17" name="Text 15"/>
          <p:cNvSpPr/>
          <p:nvPr/>
        </p:nvSpPr>
        <p:spPr>
          <a:xfrm>
            <a:off x="6858000" y="2670048"/>
            <a:ext cx="4617720" cy="694944"/>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月次および13週の資金繰り表を作成し、調達手段と実行時期を明示します。</a:t>
            </a:r>
            <a:endParaRPr lang="en-US" sz="1050" dirty="0"/>
          </a:p>
        </p:txBody>
      </p:sp>
      <p:sp>
        <p:nvSpPr>
          <p:cNvPr id="18" name="Shape 16"/>
          <p:cNvSpPr/>
          <p:nvPr/>
        </p:nvSpPr>
        <p:spPr>
          <a:xfrm>
            <a:off x="594360" y="3694176"/>
            <a:ext cx="5486400" cy="2029968"/>
          </a:xfrm>
          <a:prstGeom prst="roundRect">
            <a:avLst>
              <a:gd name="adj" fmla="val 270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19" name="Shape 17"/>
          <p:cNvSpPr/>
          <p:nvPr/>
        </p:nvSpPr>
        <p:spPr>
          <a:xfrm>
            <a:off x="868680" y="3931920"/>
            <a:ext cx="310896" cy="310896"/>
          </a:xfrm>
          <a:prstGeom prst="ellipse">
            <a:avLst/>
          </a:prstGeom>
          <a:solidFill>
            <a:srgbClr val="6D2E46"/>
          </a:solidFill>
          <a:ln/>
        </p:spPr>
      </p:sp>
      <p:sp>
        <p:nvSpPr>
          <p:cNvPr id="20" name="Text 18"/>
          <p:cNvSpPr/>
          <p:nvPr/>
        </p:nvSpPr>
        <p:spPr>
          <a:xfrm>
            <a:off x="868680" y="39319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1" name="Text 19"/>
          <p:cNvSpPr/>
          <p:nvPr/>
        </p:nvSpPr>
        <p:spPr>
          <a:xfrm>
            <a:off x="1307592" y="3913632"/>
            <a:ext cx="4480560" cy="329184"/>
          </a:xfrm>
          <a:prstGeom prst="rect">
            <a:avLst/>
          </a:prstGeom>
          <a:noFill/>
          <a:ln/>
        </p:spPr>
        <p:txBody>
          <a:bodyPr wrap="square" lIns="0" tIns="0" rIns="0" bIns="0" rtlCol="0" anchor="ctr"/>
          <a:lstStyle/>
          <a:p>
            <a:pPr indent="0" marL="0">
              <a:buNone/>
            </a:pPr>
            <a:r>
              <a:rPr lang="en-US" sz="1350" b="1" dirty="0">
                <a:solidFill>
                  <a:srgbClr val="6D2E46"/>
                </a:solidFill>
                <a:latin typeface="Arial" pitchFamily="34" charset="0"/>
                <a:ea typeface="Arial" pitchFamily="34" charset="-122"/>
                <a:cs typeface="Arial" pitchFamily="34" charset="-120"/>
              </a:rPr>
              <a:t>財務制限条項への抵触</a:t>
            </a:r>
            <a:endParaRPr lang="en-US" sz="1350" dirty="0"/>
          </a:p>
        </p:txBody>
      </p:sp>
      <p:sp>
        <p:nvSpPr>
          <p:cNvPr id="22" name="Text 20"/>
          <p:cNvSpPr/>
          <p:nvPr/>
        </p:nvSpPr>
        <p:spPr>
          <a:xfrm>
            <a:off x="886968" y="4334256"/>
            <a:ext cx="4937760" cy="54864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純資産維持条項・連続赤字条項に抵触する可能性があります。</a:t>
            </a:r>
            <a:endParaRPr lang="en-US" sz="1050" dirty="0"/>
          </a:p>
        </p:txBody>
      </p:sp>
      <p:sp>
        <p:nvSpPr>
          <p:cNvPr id="23" name="Shape 21"/>
          <p:cNvSpPr/>
          <p:nvPr/>
        </p:nvSpPr>
        <p:spPr>
          <a:xfrm>
            <a:off x="886968" y="4882896"/>
            <a:ext cx="4937760" cy="694944"/>
          </a:xfrm>
          <a:prstGeom prst="roundRect">
            <a:avLst>
              <a:gd name="adj" fmla="val 6579"/>
            </a:avLst>
          </a:prstGeom>
          <a:solidFill>
            <a:srgbClr val="ECE2D0"/>
          </a:solidFill>
          <a:ln/>
        </p:spPr>
      </p:sp>
      <p:sp>
        <p:nvSpPr>
          <p:cNvPr id="24" name="Text 22"/>
          <p:cNvSpPr/>
          <p:nvPr/>
        </p:nvSpPr>
        <p:spPr>
          <a:xfrm>
            <a:off x="1051560" y="4882896"/>
            <a:ext cx="4617720" cy="694944"/>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借入契約書を精査のうえ、抵触前に事前にご相談し、ウェーバーを申請します。</a:t>
            </a:r>
            <a:endParaRPr lang="en-US" sz="1050" dirty="0"/>
          </a:p>
        </p:txBody>
      </p:sp>
      <p:sp>
        <p:nvSpPr>
          <p:cNvPr id="25" name="Shape 23"/>
          <p:cNvSpPr/>
          <p:nvPr/>
        </p:nvSpPr>
        <p:spPr>
          <a:xfrm>
            <a:off x="6400800" y="3694176"/>
            <a:ext cx="5486400" cy="2029968"/>
          </a:xfrm>
          <a:prstGeom prst="roundRect">
            <a:avLst>
              <a:gd name="adj" fmla="val 2703"/>
            </a:avLst>
          </a:prstGeom>
          <a:solidFill>
            <a:srgbClr val="FFFFFF"/>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6" name="Shape 24"/>
          <p:cNvSpPr/>
          <p:nvPr/>
        </p:nvSpPr>
        <p:spPr>
          <a:xfrm>
            <a:off x="6675120" y="3931920"/>
            <a:ext cx="310896" cy="310896"/>
          </a:xfrm>
          <a:prstGeom prst="ellipse">
            <a:avLst/>
          </a:prstGeom>
          <a:solidFill>
            <a:srgbClr val="6D2E46"/>
          </a:solidFill>
          <a:ln/>
        </p:spPr>
      </p:sp>
      <p:sp>
        <p:nvSpPr>
          <p:cNvPr id="27" name="Text 25"/>
          <p:cNvSpPr/>
          <p:nvPr/>
        </p:nvSpPr>
        <p:spPr>
          <a:xfrm>
            <a:off x="6675120" y="39319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8" name="Text 26"/>
          <p:cNvSpPr/>
          <p:nvPr/>
        </p:nvSpPr>
        <p:spPr>
          <a:xfrm>
            <a:off x="7114032" y="3913632"/>
            <a:ext cx="4480560" cy="329184"/>
          </a:xfrm>
          <a:prstGeom prst="rect">
            <a:avLst/>
          </a:prstGeom>
          <a:noFill/>
          <a:ln/>
        </p:spPr>
        <p:txBody>
          <a:bodyPr wrap="square" lIns="0" tIns="0" rIns="0" bIns="0" rtlCol="0" anchor="ctr"/>
          <a:lstStyle/>
          <a:p>
            <a:pPr indent="0" marL="0">
              <a:buNone/>
            </a:pPr>
            <a:r>
              <a:rPr lang="en-US" sz="1350" b="1" dirty="0">
                <a:solidFill>
                  <a:srgbClr val="6D2E46"/>
                </a:solidFill>
                <a:latin typeface="Arial" pitchFamily="34" charset="0"/>
                <a:ea typeface="Arial" pitchFamily="34" charset="-122"/>
                <a:cs typeface="Arial" pitchFamily="34" charset="-120"/>
              </a:rPr>
              <a:t>上乗せ案件の契約化</a:t>
            </a:r>
            <a:endParaRPr lang="en-US" sz="1350" dirty="0"/>
          </a:p>
        </p:txBody>
      </p:sp>
      <p:sp>
        <p:nvSpPr>
          <p:cNvPr id="29" name="Text 27"/>
          <p:cNvSpPr/>
          <p:nvPr/>
        </p:nvSpPr>
        <p:spPr>
          <a:xfrm>
            <a:off x="6693408" y="4334256"/>
            <a:ext cx="4937760" cy="548640"/>
          </a:xfrm>
          <a:prstGeom prst="rect">
            <a:avLst/>
          </a:prstGeom>
          <a:noFill/>
          <a:ln/>
        </p:spPr>
        <p:txBody>
          <a:bodyPr wrap="square" lIns="0" tIns="0" rIns="0" bIns="0" rtlCol="0" anchor="ctr"/>
          <a:lstStyle/>
          <a:p>
            <a:pPr indent="0" marL="0">
              <a:buNone/>
            </a:pPr>
            <a:r>
              <a:rPr lang="en-US" sz="1050" dirty="0">
                <a:solidFill>
                  <a:srgbClr val="7A6A64"/>
                </a:solidFill>
                <a:latin typeface="Arial" pitchFamily="34" charset="0"/>
                <a:ea typeface="Arial" pitchFamily="34" charset="-122"/>
                <a:cs typeface="Arial" pitchFamily="34" charset="-120"/>
              </a:rPr>
              <a:t>経営指導料は契約書の締結時期により計上期が動きます。</a:t>
            </a:r>
            <a:endParaRPr lang="en-US" sz="1050" dirty="0"/>
          </a:p>
        </p:txBody>
      </p:sp>
      <p:sp>
        <p:nvSpPr>
          <p:cNvPr id="30" name="Shape 28"/>
          <p:cNvSpPr/>
          <p:nvPr/>
        </p:nvSpPr>
        <p:spPr>
          <a:xfrm>
            <a:off x="6693408" y="4882896"/>
            <a:ext cx="4937760" cy="694944"/>
          </a:xfrm>
          <a:prstGeom prst="roundRect">
            <a:avLst>
              <a:gd name="adj" fmla="val 6579"/>
            </a:avLst>
          </a:prstGeom>
          <a:solidFill>
            <a:srgbClr val="ECE2D0"/>
          </a:solidFill>
          <a:ln/>
        </p:spPr>
      </p:sp>
      <p:sp>
        <p:nvSpPr>
          <p:cNvPr id="31" name="Text 29"/>
          <p:cNvSpPr/>
          <p:nvPr/>
        </p:nvSpPr>
        <p:spPr>
          <a:xfrm>
            <a:off x="6858000" y="4882896"/>
            <a:ext cx="4617720" cy="694944"/>
          </a:xfrm>
          <a:prstGeom prst="rect">
            <a:avLst/>
          </a:prstGeom>
          <a:noFill/>
          <a:ln/>
        </p:spPr>
        <p:txBody>
          <a:bodyPr wrap="square" lIns="0" tIns="0" rIns="0" bIns="0" rtlCol="0" anchor="ctr"/>
          <a:lstStyle/>
          <a:p>
            <a:pPr indent="0" marL="0">
              <a:buNone/>
            </a:pPr>
            <a:r>
              <a:rPr lang="en-US" sz="1050" dirty="0">
                <a:solidFill>
                  <a:srgbClr val="2B2B2B"/>
                </a:solidFill>
                <a:latin typeface="Arial" pitchFamily="34" charset="0"/>
                <a:ea typeface="Arial" pitchFamily="34" charset="-122"/>
                <a:cs typeface="Arial" pitchFamily="34" charset="-120"/>
              </a:rPr>
              <a:t>各案件の契約締結スケジュールを一覧化し、進捗を月次でご報告します。</a:t>
            </a:r>
            <a:endParaRPr lang="en-US" sz="1050" dirty="0"/>
          </a:p>
        </p:txBody>
      </p:sp>
      <p:sp>
        <p:nvSpPr>
          <p:cNvPr id="32" name="Text 30"/>
          <p:cNvSpPr/>
          <p:nvPr/>
        </p:nvSpPr>
        <p:spPr>
          <a:xfrm>
            <a:off x="594360" y="6382512"/>
            <a:ext cx="10972800" cy="27432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6D2E46"/>
        </a:solidFill>
      </p:bgPr>
    </p:bg>
    <p:spTree>
      <p:nvGrpSpPr>
        <p:cNvPr id="1" name=""/>
        <p:cNvGrpSpPr/>
        <p:nvPr/>
      </p:nvGrpSpPr>
      <p:grpSpPr>
        <a:xfrm>
          <a:off x="0" y="0"/>
          <a:ext cx="0" cy="0"/>
          <a:chOff x="0" y="0"/>
          <a:chExt cx="0" cy="0"/>
        </a:xfrm>
      </p:grpSpPr>
      <p:sp>
        <p:nvSpPr>
          <p:cNvPr id="2" name="Shape 0"/>
          <p:cNvSpPr/>
          <p:nvPr/>
        </p:nvSpPr>
        <p:spPr>
          <a:xfrm>
            <a:off x="-1463040" y="4572000"/>
            <a:ext cx="4206240" cy="4206240"/>
          </a:xfrm>
          <a:prstGeom prst="ellipse">
            <a:avLst/>
          </a:prstGeom>
          <a:solidFill>
            <a:srgbClr val="5C2439"/>
          </a:solidFill>
          <a:ln/>
        </p:spPr>
      </p:sp>
      <p:sp>
        <p:nvSpPr>
          <p:cNvPr id="3" name="Text 1"/>
          <p:cNvSpPr/>
          <p:nvPr/>
        </p:nvSpPr>
        <p:spPr>
          <a:xfrm>
            <a:off x="822960" y="68580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まとめ</a:t>
            </a:r>
            <a:endParaRPr lang="en-US" sz="3400" dirty="0"/>
          </a:p>
        </p:txBody>
      </p:sp>
      <p:sp>
        <p:nvSpPr>
          <p:cNvPr id="4" name="Shape 2"/>
          <p:cNvSpPr/>
          <p:nvPr/>
        </p:nvSpPr>
        <p:spPr>
          <a:xfrm>
            <a:off x="822960" y="1655064"/>
            <a:ext cx="365760" cy="365760"/>
          </a:xfrm>
          <a:prstGeom prst="ellipse">
            <a:avLst/>
          </a:prstGeom>
          <a:solidFill>
            <a:srgbClr val="ECE2D0"/>
          </a:solidFill>
          <a:ln/>
        </p:spPr>
      </p:sp>
      <p:sp>
        <p:nvSpPr>
          <p:cNvPr id="5" name="Text 3"/>
          <p:cNvSpPr/>
          <p:nvPr/>
        </p:nvSpPr>
        <p:spPr>
          <a:xfrm>
            <a:off x="822960" y="1655064"/>
            <a:ext cx="365760" cy="365760"/>
          </a:xfrm>
          <a:prstGeom prst="rect">
            <a:avLst/>
          </a:prstGeom>
          <a:noFill/>
          <a:ln/>
        </p:spPr>
        <p:txBody>
          <a:bodyPr wrap="square" lIns="0" tIns="0" rIns="0" bIns="0" rtlCol="0" anchor="ctr"/>
          <a:lstStyle/>
          <a:p>
            <a:pPr algn="ctr" indent="0" marL="0">
              <a:buNone/>
            </a:pPr>
            <a:r>
              <a:rPr lang="en-US" sz="1400" b="1" dirty="0">
                <a:solidFill>
                  <a:srgbClr val="6D2E46"/>
                </a:solidFill>
                <a:latin typeface="Arial" pitchFamily="34" charset="0"/>
                <a:ea typeface="Arial" pitchFamily="34" charset="-122"/>
                <a:cs typeface="Arial" pitchFamily="34" charset="-120"/>
              </a:rPr>
              <a:t>1</a:t>
            </a:r>
            <a:endParaRPr lang="en-US" sz="1400" dirty="0"/>
          </a:p>
        </p:txBody>
      </p:sp>
      <p:sp>
        <p:nvSpPr>
          <p:cNvPr id="6" name="Text 4"/>
          <p:cNvSpPr/>
          <p:nvPr/>
        </p:nvSpPr>
        <p:spPr>
          <a:xfrm>
            <a:off x="1417320" y="1600200"/>
            <a:ext cx="67665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FY2026の赤字は構造改革の費用</a:t>
            </a:r>
            <a:endParaRPr lang="en-US" sz="1600" dirty="0"/>
          </a:p>
        </p:txBody>
      </p:sp>
      <p:sp>
        <p:nvSpPr>
          <p:cNvPr id="7" name="Text 5"/>
          <p:cNvSpPr/>
          <p:nvPr/>
        </p:nvSpPr>
        <p:spPr>
          <a:xfrm>
            <a:off x="1417320" y="1984248"/>
            <a:ext cx="6766560" cy="402336"/>
          </a:xfrm>
          <a:prstGeom prst="rect">
            <a:avLst/>
          </a:prstGeom>
          <a:noFill/>
          <a:ln/>
        </p:spPr>
        <p:txBody>
          <a:bodyPr wrap="square" lIns="0" tIns="0" rIns="0" bIns="0" rtlCol="0" anchor="ctr"/>
          <a:lstStyle/>
          <a:p>
            <a:pPr indent="0" marL="0">
              <a:buNone/>
            </a:pPr>
            <a:r>
              <a:rPr lang="en-US" sz="1150" dirty="0">
                <a:solidFill>
                  <a:srgbClr val="E4CBD6"/>
                </a:solidFill>
                <a:latin typeface="Arial" pitchFamily="34" charset="0"/>
                <a:ea typeface="Arial" pitchFamily="34" charset="-122"/>
                <a:cs typeface="Arial" pitchFamily="34" charset="-120"/>
              </a:rPr>
              <a:t>飲食事業の撤退は2026年3月に完了。継続的な採算悪化ではありません。</a:t>
            </a:r>
            <a:endParaRPr lang="en-US" sz="1150" dirty="0"/>
          </a:p>
        </p:txBody>
      </p:sp>
      <p:sp>
        <p:nvSpPr>
          <p:cNvPr id="8" name="Shape 6"/>
          <p:cNvSpPr/>
          <p:nvPr/>
        </p:nvSpPr>
        <p:spPr>
          <a:xfrm>
            <a:off x="822960" y="2679192"/>
            <a:ext cx="365760" cy="365760"/>
          </a:xfrm>
          <a:prstGeom prst="ellipse">
            <a:avLst/>
          </a:prstGeom>
          <a:solidFill>
            <a:srgbClr val="ECE2D0"/>
          </a:solidFill>
          <a:ln/>
        </p:spPr>
      </p:sp>
      <p:sp>
        <p:nvSpPr>
          <p:cNvPr id="9" name="Text 7"/>
          <p:cNvSpPr/>
          <p:nvPr/>
        </p:nvSpPr>
        <p:spPr>
          <a:xfrm>
            <a:off x="822960" y="2679192"/>
            <a:ext cx="365760" cy="365760"/>
          </a:xfrm>
          <a:prstGeom prst="rect">
            <a:avLst/>
          </a:prstGeom>
          <a:noFill/>
          <a:ln/>
        </p:spPr>
        <p:txBody>
          <a:bodyPr wrap="square" lIns="0" tIns="0" rIns="0" bIns="0" rtlCol="0" anchor="ctr"/>
          <a:lstStyle/>
          <a:p>
            <a:pPr algn="ctr" indent="0" marL="0">
              <a:buNone/>
            </a:pPr>
            <a:r>
              <a:rPr lang="en-US" sz="1400" b="1" dirty="0">
                <a:solidFill>
                  <a:srgbClr val="6D2E46"/>
                </a:solidFill>
                <a:latin typeface="Arial" pitchFamily="34" charset="0"/>
                <a:ea typeface="Arial" pitchFamily="34" charset="-122"/>
                <a:cs typeface="Arial" pitchFamily="34" charset="-120"/>
              </a:rPr>
              <a:t>2</a:t>
            </a:r>
            <a:endParaRPr lang="en-US" sz="1400" dirty="0"/>
          </a:p>
        </p:txBody>
      </p:sp>
      <p:sp>
        <p:nvSpPr>
          <p:cNvPr id="10" name="Text 8"/>
          <p:cNvSpPr/>
          <p:nvPr/>
        </p:nvSpPr>
        <p:spPr>
          <a:xfrm>
            <a:off x="1417320" y="2624328"/>
            <a:ext cx="67665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固定費削減は実行済み</a:t>
            </a:r>
            <a:endParaRPr lang="en-US" sz="1600" dirty="0"/>
          </a:p>
        </p:txBody>
      </p:sp>
      <p:sp>
        <p:nvSpPr>
          <p:cNvPr id="11" name="Text 9"/>
          <p:cNvSpPr/>
          <p:nvPr/>
        </p:nvSpPr>
        <p:spPr>
          <a:xfrm>
            <a:off x="1417320" y="3008376"/>
            <a:ext cx="6766560" cy="402336"/>
          </a:xfrm>
          <a:prstGeom prst="rect">
            <a:avLst/>
          </a:prstGeom>
          <a:noFill/>
          <a:ln/>
        </p:spPr>
        <p:txBody>
          <a:bodyPr wrap="square" lIns="0" tIns="0" rIns="0" bIns="0" rtlCol="0" anchor="ctr"/>
          <a:lstStyle/>
          <a:p>
            <a:pPr indent="0" marL="0">
              <a:buNone/>
            </a:pPr>
            <a:r>
              <a:rPr lang="en-US" sz="1150" dirty="0">
                <a:solidFill>
                  <a:srgbClr val="E4CBD6"/>
                </a:solidFill>
                <a:latin typeface="Arial" pitchFamily="34" charset="0"/>
                <a:ea typeface="Arial" pitchFamily="34" charset="-122"/>
                <a:cs typeface="Arial" pitchFamily="34" charset="-120"/>
              </a:rPr>
              <a:t>年103百万円の削減が、2026年4-6月の実績として表れています。</a:t>
            </a:r>
            <a:endParaRPr lang="en-US" sz="1150" dirty="0"/>
          </a:p>
        </p:txBody>
      </p:sp>
      <p:sp>
        <p:nvSpPr>
          <p:cNvPr id="12" name="Shape 10"/>
          <p:cNvSpPr/>
          <p:nvPr/>
        </p:nvSpPr>
        <p:spPr>
          <a:xfrm>
            <a:off x="822960" y="3703320"/>
            <a:ext cx="365760" cy="365760"/>
          </a:xfrm>
          <a:prstGeom prst="ellipse">
            <a:avLst/>
          </a:prstGeom>
          <a:solidFill>
            <a:srgbClr val="ECE2D0"/>
          </a:solidFill>
          <a:ln/>
        </p:spPr>
      </p:sp>
      <p:sp>
        <p:nvSpPr>
          <p:cNvPr id="13" name="Text 11"/>
          <p:cNvSpPr/>
          <p:nvPr/>
        </p:nvSpPr>
        <p:spPr>
          <a:xfrm>
            <a:off x="822960" y="3703320"/>
            <a:ext cx="365760" cy="365760"/>
          </a:xfrm>
          <a:prstGeom prst="rect">
            <a:avLst/>
          </a:prstGeom>
          <a:noFill/>
          <a:ln/>
        </p:spPr>
        <p:txBody>
          <a:bodyPr wrap="square" lIns="0" tIns="0" rIns="0" bIns="0" rtlCol="0" anchor="ctr"/>
          <a:lstStyle/>
          <a:p>
            <a:pPr algn="ctr" indent="0" marL="0">
              <a:buNone/>
            </a:pPr>
            <a:r>
              <a:rPr lang="en-US" sz="1400" b="1" dirty="0">
                <a:solidFill>
                  <a:srgbClr val="6D2E46"/>
                </a:solidFill>
                <a:latin typeface="Arial" pitchFamily="34" charset="0"/>
                <a:ea typeface="Arial" pitchFamily="34" charset="-122"/>
                <a:cs typeface="Arial" pitchFamily="34" charset="-120"/>
              </a:rPr>
              <a:t>3</a:t>
            </a:r>
            <a:endParaRPr lang="en-US" sz="1400" dirty="0"/>
          </a:p>
        </p:txBody>
      </p:sp>
      <p:sp>
        <p:nvSpPr>
          <p:cNvPr id="14" name="Text 12"/>
          <p:cNvSpPr/>
          <p:nvPr/>
        </p:nvSpPr>
        <p:spPr>
          <a:xfrm>
            <a:off x="1417320" y="3648456"/>
            <a:ext cx="67665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FY2027は＋91.7百万円の改善</a:t>
            </a:r>
            <a:endParaRPr lang="en-US" sz="1600" dirty="0"/>
          </a:p>
        </p:txBody>
      </p:sp>
      <p:sp>
        <p:nvSpPr>
          <p:cNvPr id="15" name="Text 13"/>
          <p:cNvSpPr/>
          <p:nvPr/>
        </p:nvSpPr>
        <p:spPr>
          <a:xfrm>
            <a:off x="1417320" y="4032504"/>
            <a:ext cx="6766560" cy="402336"/>
          </a:xfrm>
          <a:prstGeom prst="rect">
            <a:avLst/>
          </a:prstGeom>
          <a:noFill/>
          <a:ln/>
        </p:spPr>
        <p:txBody>
          <a:bodyPr wrap="square" lIns="0" tIns="0" rIns="0" bIns="0" rtlCol="0" anchor="ctr"/>
          <a:lstStyle/>
          <a:p>
            <a:pPr indent="0" marL="0">
              <a:buNone/>
            </a:pPr>
            <a:r>
              <a:rPr lang="en-US" sz="1150" dirty="0">
                <a:solidFill>
                  <a:srgbClr val="E4CBD6"/>
                </a:solidFill>
                <a:latin typeface="Arial" pitchFamily="34" charset="0"/>
                <a:ea typeface="Arial" pitchFamily="34" charset="-122"/>
                <a:cs typeface="Arial" pitchFamily="34" charset="-120"/>
              </a:rPr>
              <a:t>保守シナリオでも営業利益は▲114.8百万円から▲23.1百万円へ。</a:t>
            </a:r>
            <a:endParaRPr lang="en-US" sz="1150" dirty="0"/>
          </a:p>
        </p:txBody>
      </p:sp>
      <p:sp>
        <p:nvSpPr>
          <p:cNvPr id="16" name="Shape 14"/>
          <p:cNvSpPr/>
          <p:nvPr/>
        </p:nvSpPr>
        <p:spPr>
          <a:xfrm>
            <a:off x="822960" y="4727448"/>
            <a:ext cx="365760" cy="365760"/>
          </a:xfrm>
          <a:prstGeom prst="ellipse">
            <a:avLst/>
          </a:prstGeom>
          <a:solidFill>
            <a:srgbClr val="ECE2D0"/>
          </a:solidFill>
          <a:ln/>
        </p:spPr>
      </p:sp>
      <p:sp>
        <p:nvSpPr>
          <p:cNvPr id="17" name="Text 15"/>
          <p:cNvSpPr/>
          <p:nvPr/>
        </p:nvSpPr>
        <p:spPr>
          <a:xfrm>
            <a:off x="822960" y="4727448"/>
            <a:ext cx="365760" cy="365760"/>
          </a:xfrm>
          <a:prstGeom prst="rect">
            <a:avLst/>
          </a:prstGeom>
          <a:noFill/>
          <a:ln/>
        </p:spPr>
        <p:txBody>
          <a:bodyPr wrap="square" lIns="0" tIns="0" rIns="0" bIns="0" rtlCol="0" anchor="ctr"/>
          <a:lstStyle/>
          <a:p>
            <a:pPr algn="ctr" indent="0" marL="0">
              <a:buNone/>
            </a:pPr>
            <a:r>
              <a:rPr lang="en-US" sz="1400" b="1" dirty="0">
                <a:solidFill>
                  <a:srgbClr val="6D2E46"/>
                </a:solidFill>
                <a:latin typeface="Arial" pitchFamily="34" charset="0"/>
                <a:ea typeface="Arial" pitchFamily="34" charset="-122"/>
                <a:cs typeface="Arial" pitchFamily="34" charset="-120"/>
              </a:rPr>
              <a:t>4</a:t>
            </a:r>
            <a:endParaRPr lang="en-US" sz="1400" dirty="0"/>
          </a:p>
        </p:txBody>
      </p:sp>
      <p:sp>
        <p:nvSpPr>
          <p:cNvPr id="18" name="Text 16"/>
          <p:cNvSpPr/>
          <p:nvPr/>
        </p:nvSpPr>
        <p:spPr>
          <a:xfrm>
            <a:off x="1417320" y="4672584"/>
            <a:ext cx="67665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黒字化まで追加売上4,473万円</a:t>
            </a:r>
            <a:endParaRPr lang="en-US" sz="1600" dirty="0"/>
          </a:p>
        </p:txBody>
      </p:sp>
      <p:sp>
        <p:nvSpPr>
          <p:cNvPr id="19" name="Text 17"/>
          <p:cNvSpPr/>
          <p:nvPr/>
        </p:nvSpPr>
        <p:spPr>
          <a:xfrm>
            <a:off x="1417320" y="5056632"/>
            <a:ext cx="6766560" cy="402336"/>
          </a:xfrm>
          <a:prstGeom prst="rect">
            <a:avLst/>
          </a:prstGeom>
          <a:noFill/>
          <a:ln/>
        </p:spPr>
        <p:txBody>
          <a:bodyPr wrap="square" lIns="0" tIns="0" rIns="0" bIns="0" rtlCol="0" anchor="ctr"/>
          <a:lstStyle/>
          <a:p>
            <a:pPr indent="0" marL="0">
              <a:buNone/>
            </a:pPr>
            <a:r>
              <a:rPr lang="en-US" sz="1150" dirty="0">
                <a:solidFill>
                  <a:srgbClr val="E4CBD6"/>
                </a:solidFill>
                <a:latin typeface="Arial" pitchFamily="34" charset="0"/>
                <a:ea typeface="Arial" pitchFamily="34" charset="-122"/>
                <a:cs typeface="Arial" pitchFamily="34" charset="-120"/>
              </a:rPr>
              <a:t>新規顧客売上計画の4.2%。営業利益1億円でも22.4%です。</a:t>
            </a:r>
            <a:endParaRPr lang="en-US" sz="1150" dirty="0"/>
          </a:p>
        </p:txBody>
      </p:sp>
      <p:sp>
        <p:nvSpPr>
          <p:cNvPr id="20" name="Shape 18"/>
          <p:cNvSpPr/>
          <p:nvPr/>
        </p:nvSpPr>
        <p:spPr>
          <a:xfrm>
            <a:off x="8595360" y="1600200"/>
            <a:ext cx="2971800" cy="3886200"/>
          </a:xfrm>
          <a:prstGeom prst="roundRect">
            <a:avLst>
              <a:gd name="adj" fmla="val 1846"/>
            </a:avLst>
          </a:prstGeom>
          <a:solidFill>
            <a:srgbClr val="5C2439"/>
          </a:solidFill>
          <a:ln w="9525">
            <a:solidFill>
              <a:srgbClr val="DED5CE"/>
            </a:solidFill>
            <a:prstDash val="solid"/>
          </a:ln>
          <a:effectLst>
            <a:outerShdw sx="100000" sy="100000" kx="0" ky="0" algn="bl" rotWithShape="0" blurRad="127000" dist="25400" dir="5400000">
              <a:srgbClr val="000000">
                <a:alpha val="10000"/>
              </a:srgbClr>
            </a:outerShdw>
          </a:effectLst>
        </p:spPr>
      </p:sp>
      <p:sp>
        <p:nvSpPr>
          <p:cNvPr id="21" name="Text 19"/>
          <p:cNvSpPr/>
          <p:nvPr/>
        </p:nvSpPr>
        <p:spPr>
          <a:xfrm>
            <a:off x="8823960" y="1828800"/>
            <a:ext cx="2514600" cy="310896"/>
          </a:xfrm>
          <a:prstGeom prst="rect">
            <a:avLst/>
          </a:prstGeom>
          <a:noFill/>
          <a:ln/>
        </p:spPr>
        <p:txBody>
          <a:bodyPr wrap="square" lIns="0" tIns="0" rIns="0" bIns="0" rtlCol="0" anchor="ctr"/>
          <a:lstStyle/>
          <a:p>
            <a:pPr indent="0" marL="0">
              <a:buNone/>
            </a:pPr>
            <a:r>
              <a:rPr lang="en-US" sz="1200" b="1" dirty="0">
                <a:solidFill>
                  <a:srgbClr val="ECE2D0"/>
                </a:solidFill>
                <a:latin typeface="Arial" pitchFamily="34" charset="0"/>
                <a:ea typeface="Arial" pitchFamily="34" charset="-122"/>
                <a:cs typeface="Arial" pitchFamily="34" charset="-120"/>
              </a:rPr>
              <a:t>次のご提出資料</a:t>
            </a:r>
            <a:endParaRPr lang="en-US" sz="1200" dirty="0"/>
          </a:p>
        </p:txBody>
      </p:sp>
      <p:sp>
        <p:nvSpPr>
          <p:cNvPr id="22" name="Text 20"/>
          <p:cNvSpPr/>
          <p:nvPr/>
        </p:nvSpPr>
        <p:spPr>
          <a:xfrm>
            <a:off x="8823960" y="2240280"/>
            <a:ext cx="2514600" cy="2103120"/>
          </a:xfrm>
          <a:prstGeom prst="rect">
            <a:avLst/>
          </a:prstGeom>
          <a:noFill/>
          <a:ln/>
        </p:spPr>
        <p:txBody>
          <a:bodyPr wrap="square" lIns="0" tIns="0" rIns="0" bIns="0" rtlCol="0" anchor="ctr"/>
          <a:lstStyle/>
          <a:p>
            <a:pPr marL="342900" indent="-342900">
              <a:spcAft>
                <a:spcPts val="900"/>
              </a:spcAft>
              <a:buSzPct val="100000"/>
              <a:buChar char="•"/>
            </a:pPr>
            <a:r>
              <a:rPr lang="en-US" sz="1100" dirty="0">
                <a:solidFill>
                  <a:srgbClr val="FFFFFF"/>
                </a:solidFill>
                <a:latin typeface="Arial" pitchFamily="34" charset="0"/>
                <a:ea typeface="Arial" pitchFamily="34" charset="-122"/>
                <a:cs typeface="Arial" pitchFamily="34" charset="-120"/>
              </a:rPr>
              <a:t>月次資金繰り表（13週）</a:t>
            </a:r>
            <a:endParaRPr lang="en-US" sz="1100" dirty="0"/>
          </a:p>
          <a:p>
            <a:pPr marL="342900" indent="-342900">
              <a:spcAft>
                <a:spcPts val="900"/>
              </a:spcAft>
              <a:buSzPct val="100000"/>
              <a:buChar char="•"/>
            </a:pPr>
            <a:r>
              <a:rPr lang="en-US" sz="1100" dirty="0">
                <a:solidFill>
                  <a:srgbClr val="FFFFFF"/>
                </a:solidFill>
                <a:latin typeface="Arial" pitchFamily="34" charset="0"/>
                <a:ea typeface="Arial" pitchFamily="34" charset="-122"/>
                <a:cs typeface="Arial" pitchFamily="34" charset="-120"/>
              </a:rPr>
              <a:t>実態貸借対照表</a:t>
            </a:r>
            <a:endParaRPr lang="en-US" sz="1100" dirty="0"/>
          </a:p>
          <a:p>
            <a:pPr marL="342900" indent="-342900">
              <a:spcAft>
                <a:spcPts val="900"/>
              </a:spcAft>
              <a:buSzPct val="100000"/>
              <a:buChar char="•"/>
            </a:pPr>
            <a:r>
              <a:rPr lang="en-US" sz="1100" dirty="0">
                <a:solidFill>
                  <a:srgbClr val="FFFFFF"/>
                </a:solidFill>
                <a:latin typeface="Arial" pitchFamily="34" charset="0"/>
                <a:ea typeface="Arial" pitchFamily="34" charset="-122"/>
                <a:cs typeface="Arial" pitchFamily="34" charset="-120"/>
              </a:rPr>
              <a:t>上乗せ案件の契約一覧</a:t>
            </a:r>
            <a:endParaRPr lang="en-US" sz="1100" dirty="0"/>
          </a:p>
          <a:p>
            <a:pPr marL="342900" indent="-342900">
              <a:spcAft>
                <a:spcPts val="900"/>
              </a:spcAft>
              <a:buSzPct val="100000"/>
              <a:buChar char="•"/>
            </a:pPr>
            <a:r>
              <a:rPr lang="en-US" sz="1100" dirty="0">
                <a:solidFill>
                  <a:srgbClr val="FFFFFF"/>
                </a:solidFill>
                <a:latin typeface="Arial" pitchFamily="34" charset="0"/>
                <a:ea typeface="Arial" pitchFamily="34" charset="-122"/>
                <a:cs typeface="Arial" pitchFamily="34" charset="-120"/>
              </a:rPr>
              <a:t>グループ間取引の算定根拠</a:t>
            </a:r>
            <a:endParaRPr lang="en-US" sz="1100" dirty="0"/>
          </a:p>
          <a:p>
            <a:pPr marL="342900" indent="-342900">
              <a:spcAft>
                <a:spcPts val="900"/>
              </a:spcAft>
              <a:buSzPct val="100000"/>
              <a:buChar char="•"/>
            </a:pPr>
            <a:r>
              <a:rPr lang="en-US" sz="1100" dirty="0">
                <a:solidFill>
                  <a:srgbClr val="FFFFFF"/>
                </a:solidFill>
                <a:latin typeface="Arial" pitchFamily="34" charset="0"/>
                <a:ea typeface="Arial" pitchFamily="34" charset="-122"/>
                <a:cs typeface="Arial" pitchFamily="34" charset="-120"/>
              </a:rPr>
              <a:t>新規顧客獲得の進捗管理表</a:t>
            </a:r>
            <a:endParaRPr lang="en-US" sz="1100" dirty="0"/>
          </a:p>
        </p:txBody>
      </p:sp>
      <p:sp>
        <p:nvSpPr>
          <p:cNvPr id="23" name="Text 21"/>
          <p:cNvSpPr/>
          <p:nvPr/>
        </p:nvSpPr>
        <p:spPr>
          <a:xfrm>
            <a:off x="822960" y="5989320"/>
            <a:ext cx="5486400" cy="310896"/>
          </a:xfrm>
          <a:prstGeom prst="rect">
            <a:avLst/>
          </a:prstGeom>
          <a:noFill/>
          <a:ln/>
        </p:spPr>
        <p:txBody>
          <a:bodyPr wrap="square" lIns="0" tIns="0" rIns="0" bIns="0" rtlCol="0" anchor="ctr"/>
          <a:lstStyle/>
          <a:p>
            <a:pPr indent="0" marL="0">
              <a:buNone/>
            </a:pPr>
            <a:r>
              <a:rPr lang="en-US" sz="1100" dirty="0">
                <a:solidFill>
                  <a:srgbClr val="C9A9B6"/>
                </a:solidFill>
                <a:latin typeface="Arial" pitchFamily="34" charset="0"/>
                <a:ea typeface="Arial" pitchFamily="34" charset="-122"/>
                <a:cs typeface="Arial" pitchFamily="34" charset="-120"/>
              </a:rPr>
              <a:t>株式会社WineBank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WineBank 事業再生計画 FY2027</dc:title>
  <dc:subject>PptxGenJS Presentation</dc:subject>
  <dc:creator>株式会社WineBank</dc:creator>
  <cp:lastModifiedBy>株式会社WineBank</cp:lastModifiedBy>
  <cp:revision>1</cp:revision>
  <dcterms:created xsi:type="dcterms:W3CDTF">2026-08-22T01:12:52Z</dcterms:created>
  <dcterms:modified xsi:type="dcterms:W3CDTF">2026-08-22T01:12:52Z</dcterms:modified>
</cp:coreProperties>
</file>