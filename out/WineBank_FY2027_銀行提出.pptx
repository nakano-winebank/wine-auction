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販管費（百万円）</c:v>
                </c:pt>
              </c:strCache>
            </c:strRef>
          </c:tx>
          <c:spPr>
            <a:solidFill>
              <a:srgbClr val="A26769"/>
            </a:solidFill>
            <a:effectLst/>
          </c:spPr>
          <c:invertIfNegative val="0"/>
          <c:dLbls>
            <c:numFmt formatCode="0.0" sourceLinked="0"/>
            <c:txPr>
              <a:bodyPr/>
              <a:lstStyle/>
              <a:p>
                <a:pPr>
                  <a:defRPr b="0" i="0" strike="noStrike" sz="950" u="none">
                    <a:solidFill>
                      <a:srgbClr val="2B2B2B"/>
                    </a:solidFill>
                    <a:latin typeface="Arial"/>
                  </a:defRPr>
                </a:pPr>
              </a:p>
            </c:txPr>
            <c:showLegendKey val="0"/>
            <c:showVal val="1"/>
            <c:showCatName val="0"/>
            <c:showSerName val="0"/>
            <c:showPercent val="0"/>
            <c:showBubbleSize val="0"/>
            <c:showLeaderLines val="0"/>
          </c:dLbls>
          <c:dPt>
            <c:idx val="0"/>
            <c:invertIfNegative val="0"/>
            <c:bubble3D val="0"/>
            <c:spPr>
              <a:solidFill>
                <a:srgbClr val="A26769"/>
              </a:solidFill>
              <a:effectLst/>
            </c:spPr>
          </c:dPt>
          <c:dPt>
            <c:idx val="1"/>
            <c:invertIfNegative val="0"/>
            <c:bubble3D val="0"/>
            <c:spPr>
              <a:solidFill>
                <a:srgbClr val="A26769"/>
              </a:solidFill>
              <a:effectLst/>
            </c:spPr>
          </c:dPt>
          <c:dPt>
            <c:idx val="2"/>
            <c:invertIfNegative val="0"/>
            <c:bubble3D val="0"/>
            <c:spPr>
              <a:solidFill>
                <a:srgbClr val="A26769"/>
              </a:solidFill>
              <a:effectLst/>
            </c:spPr>
          </c:dPt>
          <c:dPt>
            <c:idx val="3"/>
            <c:invertIfNegative val="0"/>
            <c:bubble3D val="0"/>
            <c:spPr>
              <a:solidFill>
                <a:srgbClr val="A26769"/>
              </a:solidFill>
              <a:effectLst/>
            </c:spPr>
          </c:dPt>
          <c:dPt>
            <c:idx val="4"/>
            <c:invertIfNegative val="0"/>
            <c:bubble3D val="0"/>
            <c:spPr>
              <a:solidFill>
                <a:srgbClr val="A26769"/>
              </a:solidFill>
              <a:effectLst/>
            </c:spPr>
          </c:dPt>
          <c:dPt>
            <c:idx val="5"/>
            <c:invertIfNegative val="0"/>
            <c:bubble3D val="0"/>
            <c:spPr>
              <a:solidFill>
                <a:srgbClr val="6D2E46"/>
              </a:solidFill>
              <a:effectLst/>
            </c:spPr>
          </c:dPt>
          <c:dPt>
            <c:idx val="6"/>
            <c:invertIfNegative val="0"/>
            <c:bubble3D val="0"/>
            <c:spPr>
              <a:solidFill>
                <a:srgbClr val="C4A79B"/>
              </a:solidFill>
              <a:effectLst/>
            </c:spPr>
          </c:dPt>
          <c:dPt>
            <c:idx val="7"/>
            <c:invertIfNegative val="0"/>
            <c:bubble3D val="0"/>
            <c:spPr>
              <a:solidFill>
                <a:srgbClr val="C4A79B"/>
              </a:solidFill>
              <a:effectLst/>
            </c:spPr>
          </c:dPt>
          <c:dPt>
            <c:idx val="8"/>
            <c:invertIfNegative val="0"/>
            <c:bubble3D val="0"/>
            <c:spPr>
              <a:solidFill>
                <a:srgbClr val="C4A79B"/>
              </a:solidFill>
              <a:effectLst/>
            </c:spPr>
          </c:dPt>
          <c:cat>
            <c:multiLvlStrRef>
              <c:f>Sheet1!$A$2:$A$10</c:f>
              <c:multiLvlStrCache>
                <c:ptCount val="9"/>
                <c:lvl>
                  <c:pt idx="0">
                    <c:v>25/10</c:v>
                  </c:pt>
                  <c:pt idx="1">
                    <c:v>25/11</c:v>
                  </c:pt>
                  <c:pt idx="2">
                    <c:v>25/12</c:v>
                  </c:pt>
                  <c:pt idx="3">
                    <c:v>26/01</c:v>
                  </c:pt>
                  <c:pt idx="4">
                    <c:v>26/02</c:v>
                  </c:pt>
                  <c:pt idx="5">
                    <c:v>26/03</c:v>
                  </c:pt>
                  <c:pt idx="6">
                    <c:v>26/04</c:v>
                  </c:pt>
                  <c:pt idx="7">
                    <c:v>26/05</c:v>
                  </c:pt>
                  <c:pt idx="8">
                    <c:v>26/06</c:v>
                  </c:pt>
                </c:lvl>
              </c:multiLvlStrCache>
            </c:multiLvlStrRef>
          </c:cat>
          <c:val>
            <c:numRef>
              <c:f>Sheet1!$B$2:$B$10</c:f>
              <c:numCache>
                <c:formatCode>General</c:formatCode>
                <c:ptCount val="9"/>
                <c:pt idx="0">
                  <c:v>25.374892</c:v>
                </c:pt>
                <c:pt idx="1">
                  <c:v>30.963282</c:v>
                </c:pt>
                <c:pt idx="2">
                  <c:v>38.572456</c:v>
                </c:pt>
                <c:pt idx="3">
                  <c:v>33.761779</c:v>
                </c:pt>
                <c:pt idx="4">
                  <c:v>34.133901</c:v>
                </c:pt>
                <c:pt idx="5">
                  <c:v>38.737868</c:v>
                </c:pt>
                <c:pt idx="6">
                  <c:v>25.883967</c:v>
                </c:pt>
                <c:pt idx="7">
                  <c:v>24.529013</c:v>
                </c:pt>
                <c:pt idx="8">
                  <c:v>24.627286</c:v>
                </c:pt>
              </c:numCache>
            </c:numRef>
          </c:val>
        </c:ser>
        <c:dLbls>
          <c:numFmt formatCode="0.0" sourceLinked="0"/>
          <c:txPr>
            <a:bodyPr/>
            <a:lstStyle/>
            <a:p>
              <a:pPr>
                <a:defRPr b="0" i="0" strike="noStrike" sz="9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7A6A64"/>
                </a:solidFill>
                <a:latin typeface="Arial"/>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12700" cap="flat">
              <a:solidFill>
                <a:srgbClr val="E8E0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7A6A64"/>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FY2026の赤字の主因である飲食事業の撤退は2026年3月で完了。4月以降が撤退後の実力値であり、ここを起点に組み立てている。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Dプランは、ワイン仕入を落とさずに資金繰りが回る売上水準。必要売上621.1百万円は過去2期の実績を下回る。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FY2025は経常段階ではほぼ均衡。損失は組織再編の特別損失。FY2026は飲食撤退という構造改革の費用。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清掃費ゼロ・雑給90%減が、飲食店舗の撤退が実際に完了したことの裏付け。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2026年7月以降は事業計画上の見込値（同一値が並ぶプラグ）のため、実績としては使わずグラフからも除いている。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4月起点とする理由は飲食撤退店舗の損益を除くため。粗利率51.5%は事業構成の変化による。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グループ内取引100百万円は先に開示する。銀行の正常化調整で控除される可能性を織り込んでおく。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①の粗利減少は、FY2026の大口スポット案件を来期はゼロと置いた保守性の表れ。事業が縮小したわけではない。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Cは損益だけ見れば十分だが資金が回らない。損益と資金は別物であることを明示する。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在庫積み増しは資金を食うが、それは成長投資であり担保余力でもある、という整理。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2027年3月はインセンティブとクルーザーが重なり単月経常利益が大きく出る。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11月の消費税だけを短期でつなげば、必要売上のハードルは大きく下がる。銀行への具体的な依頼事項になる。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ソフトウェアは保守的に全額控除。それでも在庫含み益で実態純資産は簿価を上回る。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銀行に指摘される前に自分から出す。これが信頼確保の基本方針。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売上7億円は過去2期の実績値。プランDはそれを下回る6.2億円で成立する。粗利率改善の分だけ上振れ余地がある。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依頼事項を明確にして締める。11月のつなぎと在庫見合い枠の2点が具体的な依頼。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D2E46"/>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7E3B54"/>
          </a:solidFill>
          <a:ln/>
        </p:spPr>
      </p:sp>
      <p:sp>
        <p:nvSpPr>
          <p:cNvPr id="3" name="Shape 1"/>
          <p:cNvSpPr/>
          <p:nvPr/>
        </p:nvSpPr>
        <p:spPr>
          <a:xfrm>
            <a:off x="10607040" y="4206240"/>
            <a:ext cx="3108960" cy="3108960"/>
          </a:xfrm>
          <a:prstGeom prst="ellipse">
            <a:avLst/>
          </a:prstGeom>
          <a:solidFill>
            <a:srgbClr val="5C2439"/>
          </a:solidFill>
          <a:ln/>
        </p:spPr>
      </p:sp>
      <p:sp>
        <p:nvSpPr>
          <p:cNvPr id="4" name="Text 2"/>
          <p:cNvSpPr/>
          <p:nvPr/>
        </p:nvSpPr>
        <p:spPr>
          <a:xfrm>
            <a:off x="822960" y="1600200"/>
            <a:ext cx="8229600" cy="365760"/>
          </a:xfrm>
          <a:prstGeom prst="rect">
            <a:avLst/>
          </a:prstGeom>
          <a:noFill/>
          <a:ln/>
        </p:spPr>
        <p:txBody>
          <a:bodyPr wrap="square" lIns="0" tIns="0" rIns="0" bIns="0" rtlCol="0" anchor="ctr"/>
          <a:lstStyle/>
          <a:p>
            <a:pPr indent="0" marL="0">
              <a:buNone/>
            </a:pPr>
            <a:r>
              <a:rPr lang="en-US" sz="1400" spc="200" kern="0" dirty="0">
                <a:solidFill>
                  <a:srgbClr val="ECE2D0"/>
                </a:solidFill>
                <a:latin typeface="Arial" pitchFamily="34" charset="0"/>
                <a:ea typeface="Arial" pitchFamily="34" charset="-122"/>
                <a:cs typeface="Arial" pitchFamily="34" charset="-120"/>
              </a:rPr>
              <a:t>株式会社WineBank</a:t>
            </a:r>
            <a:endParaRPr lang="en-US" sz="1400" dirty="0"/>
          </a:p>
        </p:txBody>
      </p:sp>
      <p:sp>
        <p:nvSpPr>
          <p:cNvPr id="5" name="Text 3"/>
          <p:cNvSpPr/>
          <p:nvPr/>
        </p:nvSpPr>
        <p:spPr>
          <a:xfrm>
            <a:off x="822960" y="2057400"/>
            <a:ext cx="9144000" cy="8229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事業再生計画</a:t>
            </a:r>
            <a:endParaRPr lang="en-US" sz="4600" dirty="0"/>
          </a:p>
        </p:txBody>
      </p:sp>
      <p:sp>
        <p:nvSpPr>
          <p:cNvPr id="6" name="Text 4"/>
          <p:cNvSpPr/>
          <p:nvPr/>
        </p:nvSpPr>
        <p:spPr>
          <a:xfrm>
            <a:off x="822960" y="2926080"/>
            <a:ext cx="9601200" cy="548640"/>
          </a:xfrm>
          <a:prstGeom prst="rect">
            <a:avLst/>
          </a:prstGeom>
          <a:noFill/>
          <a:ln/>
        </p:spPr>
        <p:txBody>
          <a:bodyPr wrap="square" lIns="0" tIns="0" rIns="0" bIns="0" rtlCol="0" anchor="ctr"/>
          <a:lstStyle/>
          <a:p>
            <a:pPr indent="0" marL="0">
              <a:buNone/>
            </a:pPr>
            <a:r>
              <a:rPr lang="en-US" sz="2400" dirty="0">
                <a:solidFill>
                  <a:srgbClr val="ECE2D0"/>
                </a:solidFill>
                <a:latin typeface="Cambria" pitchFamily="34" charset="0"/>
                <a:ea typeface="Cambria" pitchFamily="34" charset="-122"/>
                <a:cs typeface="Cambria" pitchFamily="34" charset="-120"/>
              </a:rPr>
              <a:t>2027年9月期 － V字回復の根拠と資金計画</a:t>
            </a:r>
            <a:endParaRPr lang="en-US" sz="2400" dirty="0"/>
          </a:p>
        </p:txBody>
      </p:sp>
      <p:sp>
        <p:nvSpPr>
          <p:cNvPr id="7" name="Text 5"/>
          <p:cNvSpPr/>
          <p:nvPr/>
        </p:nvSpPr>
        <p:spPr>
          <a:xfrm>
            <a:off x="822960" y="4114800"/>
            <a:ext cx="5486400" cy="310896"/>
          </a:xfrm>
          <a:prstGeom prst="rect">
            <a:avLst/>
          </a:prstGeom>
          <a:noFill/>
          <a:ln/>
        </p:spPr>
        <p:txBody>
          <a:bodyPr wrap="square" lIns="0" tIns="0" rIns="0" bIns="0" rtlCol="0" anchor="ctr"/>
          <a:lstStyle/>
          <a:p>
            <a:pPr indent="0" marL="0">
              <a:buNone/>
            </a:pPr>
            <a:r>
              <a:rPr lang="en-US" sz="1300" dirty="0">
                <a:solidFill>
                  <a:srgbClr val="ECE2D0"/>
                </a:solidFill>
                <a:latin typeface="Arial" pitchFamily="34" charset="0"/>
                <a:ea typeface="Arial" pitchFamily="34" charset="-122"/>
                <a:cs typeface="Arial" pitchFamily="34" charset="-120"/>
              </a:rPr>
              <a:t>金融機関・株主各位</a:t>
            </a:r>
            <a:endParaRPr lang="en-US" sz="1300" dirty="0"/>
          </a:p>
        </p:txBody>
      </p:sp>
      <p:sp>
        <p:nvSpPr>
          <p:cNvPr id="8" name="Text 6"/>
          <p:cNvSpPr/>
          <p:nvPr/>
        </p:nvSpPr>
        <p:spPr>
          <a:xfrm>
            <a:off x="822960" y="4480560"/>
            <a:ext cx="5486400" cy="310896"/>
          </a:xfrm>
          <a:prstGeom prst="rect">
            <a:avLst/>
          </a:prstGeom>
          <a:noFill/>
          <a:ln/>
        </p:spPr>
        <p:txBody>
          <a:bodyPr wrap="square" lIns="0" tIns="0" rIns="0" bIns="0" rtlCol="0" anchor="ctr"/>
          <a:lstStyle/>
          <a:p>
            <a:pPr indent="0" marL="0">
              <a:buNone/>
            </a:pPr>
            <a:r>
              <a:rPr lang="en-US" sz="1300" dirty="0">
                <a:solidFill>
                  <a:srgbClr val="ECE2D0"/>
                </a:solidFill>
                <a:latin typeface="Arial" pitchFamily="34" charset="0"/>
                <a:ea typeface="Arial" pitchFamily="34" charset="-122"/>
                <a:cs typeface="Arial" pitchFamily="34" charset="-120"/>
              </a:rPr>
              <a:t>2026年8月</a:t>
            </a:r>
            <a:endParaRPr lang="en-US" sz="1300" dirty="0"/>
          </a:p>
        </p:txBody>
      </p:sp>
      <p:sp>
        <p:nvSpPr>
          <p:cNvPr id="9" name="Text 7"/>
          <p:cNvSpPr/>
          <p:nvPr/>
        </p:nvSpPr>
        <p:spPr>
          <a:xfrm>
            <a:off x="822960" y="5943600"/>
            <a:ext cx="10058400" cy="310896"/>
          </a:xfrm>
          <a:prstGeom prst="rect">
            <a:avLst/>
          </a:prstGeom>
          <a:noFill/>
          <a:ln/>
        </p:spPr>
        <p:txBody>
          <a:bodyPr wrap="square" lIns="0" tIns="0" rIns="0" bIns="0" rtlCol="0" anchor="ctr"/>
          <a:lstStyle/>
          <a:p>
            <a:pPr indent="0" marL="0">
              <a:buNone/>
            </a:pPr>
            <a:r>
              <a:rPr lang="en-US" sz="950" dirty="0">
                <a:solidFill>
                  <a:srgbClr val="C9A9B6"/>
                </a:solidFill>
                <a:latin typeface="Arial" pitchFamily="34" charset="0"/>
                <a:ea typeface="Arial" pitchFamily="34" charset="-122"/>
                <a:cs typeface="Arial" pitchFamily="34" charset="-120"/>
              </a:rPr>
              <a:t>本資料は2026年6月までの月次実績にもとづく計画です。</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エグゼクティブサマリー</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FY2026の赤字は構造改革の費用。改革は実行済みで、効果は2026年4月以降の実績に表れています。</a:t>
            </a:r>
            <a:endParaRPr lang="en-US" sz="1250" dirty="0"/>
          </a:p>
        </p:txBody>
      </p:sp>
      <p:sp>
        <p:nvSpPr>
          <p:cNvPr id="4" name="Shape 2"/>
          <p:cNvSpPr/>
          <p:nvPr/>
        </p:nvSpPr>
        <p:spPr>
          <a:xfrm>
            <a:off x="594360" y="1481328"/>
            <a:ext cx="6720840" cy="969264"/>
          </a:xfrm>
          <a:prstGeom prst="roundRect">
            <a:avLst>
              <a:gd name="adj" fmla="val 5660"/>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5" name="Shape 3"/>
          <p:cNvSpPr/>
          <p:nvPr/>
        </p:nvSpPr>
        <p:spPr>
          <a:xfrm>
            <a:off x="841248" y="1810512"/>
            <a:ext cx="310896" cy="310896"/>
          </a:xfrm>
          <a:prstGeom prst="ellipse">
            <a:avLst/>
          </a:prstGeom>
          <a:solidFill>
            <a:srgbClr val="6D2E46"/>
          </a:solidFill>
          <a:ln/>
        </p:spPr>
      </p:sp>
      <p:sp>
        <p:nvSpPr>
          <p:cNvPr id="6" name="Text 4"/>
          <p:cNvSpPr/>
          <p:nvPr/>
        </p:nvSpPr>
        <p:spPr>
          <a:xfrm>
            <a:off x="841248" y="181051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298448" y="1627632"/>
            <a:ext cx="5852160" cy="329184"/>
          </a:xfrm>
          <a:prstGeom prst="rect">
            <a:avLst/>
          </a:prstGeom>
          <a:noFill/>
          <a:ln/>
        </p:spPr>
        <p:txBody>
          <a:bodyPr wrap="square" lIns="0" tIns="0" rIns="0" bIns="0" rtlCol="0" anchor="ctr"/>
          <a:lstStyle/>
          <a:p>
            <a:pPr indent="0" marL="0">
              <a:buNone/>
            </a:pPr>
            <a:r>
              <a:rPr lang="en-US" sz="1450" b="1" dirty="0">
                <a:solidFill>
                  <a:srgbClr val="6D2E46"/>
                </a:solidFill>
                <a:latin typeface="Arial" pitchFamily="34" charset="0"/>
                <a:ea typeface="Arial" pitchFamily="34" charset="-122"/>
                <a:cs typeface="Arial" pitchFamily="34" charset="-120"/>
              </a:rPr>
              <a:t>飲食事業の撤退は完了</a:t>
            </a:r>
            <a:endParaRPr lang="en-US" sz="1450" dirty="0"/>
          </a:p>
        </p:txBody>
      </p:sp>
      <p:sp>
        <p:nvSpPr>
          <p:cNvPr id="8" name="Text 6"/>
          <p:cNvSpPr/>
          <p:nvPr/>
        </p:nvSpPr>
        <p:spPr>
          <a:xfrm>
            <a:off x="1298448" y="1984248"/>
            <a:ext cx="5852160" cy="384048"/>
          </a:xfrm>
          <a:prstGeom prst="rect">
            <a:avLst/>
          </a:prstGeom>
          <a:noFill/>
          <a:ln/>
        </p:spPr>
        <p:txBody>
          <a:bodyPr wrap="square" lIns="0" tIns="0" rIns="0" bIns="0" rtlCol="0" anchor="ctr"/>
          <a:lstStyle/>
          <a:p>
            <a:pPr indent="0" marL="0">
              <a:buNone/>
            </a:pPr>
            <a:r>
              <a:rPr lang="en-US" sz="1100" dirty="0">
                <a:solidFill>
                  <a:srgbClr val="2B2B2B"/>
                </a:solidFill>
                <a:latin typeface="Arial" pitchFamily="34" charset="0"/>
                <a:ea typeface="Arial" pitchFamily="34" charset="-122"/>
                <a:cs typeface="Arial" pitchFamily="34" charset="-120"/>
              </a:rPr>
              <a:t>2026年3月で撤退完了。4-6月が撤退後の実力値。</a:t>
            </a:r>
            <a:endParaRPr lang="en-US" sz="1100" dirty="0"/>
          </a:p>
        </p:txBody>
      </p:sp>
      <p:sp>
        <p:nvSpPr>
          <p:cNvPr id="9" name="Shape 7"/>
          <p:cNvSpPr/>
          <p:nvPr/>
        </p:nvSpPr>
        <p:spPr>
          <a:xfrm>
            <a:off x="594360" y="2596896"/>
            <a:ext cx="6720840" cy="969264"/>
          </a:xfrm>
          <a:prstGeom prst="roundRect">
            <a:avLst>
              <a:gd name="adj" fmla="val 5660"/>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0" name="Shape 8"/>
          <p:cNvSpPr/>
          <p:nvPr/>
        </p:nvSpPr>
        <p:spPr>
          <a:xfrm>
            <a:off x="841248" y="2926080"/>
            <a:ext cx="310896" cy="310896"/>
          </a:xfrm>
          <a:prstGeom prst="ellipse">
            <a:avLst/>
          </a:prstGeom>
          <a:solidFill>
            <a:srgbClr val="6D2E46"/>
          </a:solidFill>
          <a:ln/>
        </p:spPr>
      </p:sp>
      <p:sp>
        <p:nvSpPr>
          <p:cNvPr id="11" name="Text 9"/>
          <p:cNvSpPr/>
          <p:nvPr/>
        </p:nvSpPr>
        <p:spPr>
          <a:xfrm>
            <a:off x="841248" y="29260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2" name="Text 10"/>
          <p:cNvSpPr/>
          <p:nvPr/>
        </p:nvSpPr>
        <p:spPr>
          <a:xfrm>
            <a:off x="1298448" y="2743200"/>
            <a:ext cx="5852160" cy="329184"/>
          </a:xfrm>
          <a:prstGeom prst="rect">
            <a:avLst/>
          </a:prstGeom>
          <a:noFill/>
          <a:ln/>
        </p:spPr>
        <p:txBody>
          <a:bodyPr wrap="square" lIns="0" tIns="0" rIns="0" bIns="0" rtlCol="0" anchor="ctr"/>
          <a:lstStyle/>
          <a:p>
            <a:pPr indent="0" marL="0">
              <a:buNone/>
            </a:pPr>
            <a:r>
              <a:rPr lang="en-US" sz="1450" b="1" dirty="0">
                <a:solidFill>
                  <a:srgbClr val="6D2E46"/>
                </a:solidFill>
                <a:latin typeface="Arial" pitchFamily="34" charset="0"/>
                <a:ea typeface="Arial" pitchFamily="34" charset="-122"/>
                <a:cs typeface="Arial" pitchFamily="34" charset="-120"/>
              </a:rPr>
              <a:t>固定費は年103百万円削減済み</a:t>
            </a:r>
            <a:endParaRPr lang="en-US" sz="1450" dirty="0"/>
          </a:p>
        </p:txBody>
      </p:sp>
      <p:sp>
        <p:nvSpPr>
          <p:cNvPr id="13" name="Text 11"/>
          <p:cNvSpPr/>
          <p:nvPr/>
        </p:nvSpPr>
        <p:spPr>
          <a:xfrm>
            <a:off x="1298448" y="3099816"/>
            <a:ext cx="5852160" cy="384048"/>
          </a:xfrm>
          <a:prstGeom prst="rect">
            <a:avLst/>
          </a:prstGeom>
          <a:noFill/>
          <a:ln/>
        </p:spPr>
        <p:txBody>
          <a:bodyPr wrap="square" lIns="0" tIns="0" rIns="0" bIns="0" rtlCol="0" anchor="ctr"/>
          <a:lstStyle/>
          <a:p>
            <a:pPr indent="0" marL="0">
              <a:buNone/>
            </a:pPr>
            <a:r>
              <a:rPr lang="en-US" sz="1100" dirty="0">
                <a:solidFill>
                  <a:srgbClr val="2B2B2B"/>
                </a:solidFill>
                <a:latin typeface="Arial" pitchFamily="34" charset="0"/>
                <a:ea typeface="Arial" pitchFamily="34" charset="-122"/>
                <a:cs typeface="Arial" pitchFamily="34" charset="-120"/>
              </a:rPr>
              <a:t>月次販管費 38.7百万円（26/3）→ 24.6百万円（26/6）。</a:t>
            </a:r>
            <a:endParaRPr lang="en-US" sz="1100" dirty="0"/>
          </a:p>
        </p:txBody>
      </p:sp>
      <p:sp>
        <p:nvSpPr>
          <p:cNvPr id="14" name="Shape 12"/>
          <p:cNvSpPr/>
          <p:nvPr/>
        </p:nvSpPr>
        <p:spPr>
          <a:xfrm>
            <a:off x="594360" y="3712464"/>
            <a:ext cx="6720840" cy="969264"/>
          </a:xfrm>
          <a:prstGeom prst="roundRect">
            <a:avLst>
              <a:gd name="adj" fmla="val 5660"/>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5" name="Shape 13"/>
          <p:cNvSpPr/>
          <p:nvPr/>
        </p:nvSpPr>
        <p:spPr>
          <a:xfrm>
            <a:off x="841248" y="4041648"/>
            <a:ext cx="310896" cy="310896"/>
          </a:xfrm>
          <a:prstGeom prst="ellipse">
            <a:avLst/>
          </a:prstGeom>
          <a:solidFill>
            <a:srgbClr val="6D2E46"/>
          </a:solidFill>
          <a:ln/>
        </p:spPr>
      </p:sp>
      <p:sp>
        <p:nvSpPr>
          <p:cNvPr id="16" name="Text 14"/>
          <p:cNvSpPr/>
          <p:nvPr/>
        </p:nvSpPr>
        <p:spPr>
          <a:xfrm>
            <a:off x="841248" y="40416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1298448" y="3858768"/>
            <a:ext cx="5852160" cy="329184"/>
          </a:xfrm>
          <a:prstGeom prst="rect">
            <a:avLst/>
          </a:prstGeom>
          <a:noFill/>
          <a:ln/>
        </p:spPr>
        <p:txBody>
          <a:bodyPr wrap="square" lIns="0" tIns="0" rIns="0" bIns="0" rtlCol="0" anchor="ctr"/>
          <a:lstStyle/>
          <a:p>
            <a:pPr indent="0" marL="0">
              <a:buNone/>
            </a:pPr>
            <a:r>
              <a:rPr lang="en-US" sz="1450" b="1" dirty="0">
                <a:solidFill>
                  <a:srgbClr val="6D2E46"/>
                </a:solidFill>
                <a:latin typeface="Arial" pitchFamily="34" charset="0"/>
                <a:ea typeface="Arial" pitchFamily="34" charset="-122"/>
                <a:cs typeface="Arial" pitchFamily="34" charset="-120"/>
              </a:rPr>
              <a:t>FY2027に132.5百万円の収益上乗せ</a:t>
            </a:r>
            <a:endParaRPr lang="en-US" sz="1450" dirty="0"/>
          </a:p>
        </p:txBody>
      </p:sp>
      <p:sp>
        <p:nvSpPr>
          <p:cNvPr id="18" name="Text 16"/>
          <p:cNvSpPr/>
          <p:nvPr/>
        </p:nvSpPr>
        <p:spPr>
          <a:xfrm>
            <a:off x="1298448" y="4215384"/>
            <a:ext cx="5852160" cy="384048"/>
          </a:xfrm>
          <a:prstGeom prst="rect">
            <a:avLst/>
          </a:prstGeom>
          <a:noFill/>
          <a:ln/>
        </p:spPr>
        <p:txBody>
          <a:bodyPr wrap="square" lIns="0" tIns="0" rIns="0" bIns="0" rtlCol="0" anchor="ctr"/>
          <a:lstStyle/>
          <a:p>
            <a:pPr indent="0" marL="0">
              <a:buNone/>
            </a:pPr>
            <a:r>
              <a:rPr lang="en-US" sz="1100" dirty="0">
                <a:solidFill>
                  <a:srgbClr val="2B2B2B"/>
                </a:solidFill>
                <a:latin typeface="Arial" pitchFamily="34" charset="0"/>
                <a:ea typeface="Arial" pitchFamily="34" charset="-122"/>
                <a:cs typeface="Arial" pitchFamily="34" charset="-120"/>
              </a:rPr>
              <a:t>経営指導料を中心としたストック型収益。</a:t>
            </a:r>
            <a:endParaRPr lang="en-US" sz="1100" dirty="0"/>
          </a:p>
        </p:txBody>
      </p:sp>
      <p:sp>
        <p:nvSpPr>
          <p:cNvPr id="19" name="Shape 17"/>
          <p:cNvSpPr/>
          <p:nvPr/>
        </p:nvSpPr>
        <p:spPr>
          <a:xfrm>
            <a:off x="594360" y="4828032"/>
            <a:ext cx="6720840" cy="969264"/>
          </a:xfrm>
          <a:prstGeom prst="roundRect">
            <a:avLst>
              <a:gd name="adj" fmla="val 5660"/>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0" name="Shape 18"/>
          <p:cNvSpPr/>
          <p:nvPr/>
        </p:nvSpPr>
        <p:spPr>
          <a:xfrm>
            <a:off x="841248" y="5157216"/>
            <a:ext cx="310896" cy="310896"/>
          </a:xfrm>
          <a:prstGeom prst="ellipse">
            <a:avLst/>
          </a:prstGeom>
          <a:solidFill>
            <a:srgbClr val="6D2E46"/>
          </a:solidFill>
          <a:ln/>
        </p:spPr>
      </p:sp>
      <p:sp>
        <p:nvSpPr>
          <p:cNvPr id="21" name="Text 19"/>
          <p:cNvSpPr/>
          <p:nvPr/>
        </p:nvSpPr>
        <p:spPr>
          <a:xfrm>
            <a:off x="841248" y="51572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2" name="Text 20"/>
          <p:cNvSpPr/>
          <p:nvPr/>
        </p:nvSpPr>
        <p:spPr>
          <a:xfrm>
            <a:off x="1298448" y="4974336"/>
            <a:ext cx="5852160" cy="329184"/>
          </a:xfrm>
          <a:prstGeom prst="rect">
            <a:avLst/>
          </a:prstGeom>
          <a:noFill/>
          <a:ln/>
        </p:spPr>
        <p:txBody>
          <a:bodyPr wrap="square" lIns="0" tIns="0" rIns="0" bIns="0" rtlCol="0" anchor="ctr"/>
          <a:lstStyle/>
          <a:p>
            <a:pPr indent="0" marL="0">
              <a:buNone/>
            </a:pPr>
            <a:r>
              <a:rPr lang="en-US" sz="1450" b="1" dirty="0">
                <a:solidFill>
                  <a:srgbClr val="6D2E46"/>
                </a:solidFill>
                <a:latin typeface="Arial" pitchFamily="34" charset="0"/>
                <a:ea typeface="Arial" pitchFamily="34" charset="-122"/>
                <a:cs typeface="Arial" pitchFamily="34" charset="-120"/>
              </a:rPr>
              <a:t>ワイン仕入は落とさない</a:t>
            </a:r>
            <a:endParaRPr lang="en-US" sz="1450" dirty="0"/>
          </a:p>
        </p:txBody>
      </p:sp>
      <p:sp>
        <p:nvSpPr>
          <p:cNvPr id="23" name="Text 21"/>
          <p:cNvSpPr/>
          <p:nvPr/>
        </p:nvSpPr>
        <p:spPr>
          <a:xfrm>
            <a:off x="1298448" y="5330952"/>
            <a:ext cx="5852160" cy="384048"/>
          </a:xfrm>
          <a:prstGeom prst="rect">
            <a:avLst/>
          </a:prstGeom>
          <a:noFill/>
          <a:ln/>
        </p:spPr>
        <p:txBody>
          <a:bodyPr wrap="square" lIns="0" tIns="0" rIns="0" bIns="0" rtlCol="0" anchor="ctr"/>
          <a:lstStyle/>
          <a:p>
            <a:pPr indent="0" marL="0">
              <a:buNone/>
            </a:pPr>
            <a:r>
              <a:rPr lang="en-US" sz="1100" dirty="0">
                <a:solidFill>
                  <a:srgbClr val="2B2B2B"/>
                </a:solidFill>
                <a:latin typeface="Arial" pitchFamily="34" charset="0"/>
                <a:ea typeface="Arial" pitchFamily="34" charset="-122"/>
                <a:cs typeface="Arial" pitchFamily="34" charset="-120"/>
              </a:rPr>
              <a:t>仕入を絞ると割当が戻らず2〜3年先の成長を削るため。</a:t>
            </a:r>
            <a:endParaRPr lang="en-US" sz="1100" dirty="0"/>
          </a:p>
        </p:txBody>
      </p:sp>
      <p:sp>
        <p:nvSpPr>
          <p:cNvPr id="24" name="Shape 22"/>
          <p:cNvSpPr/>
          <p:nvPr/>
        </p:nvSpPr>
        <p:spPr>
          <a:xfrm>
            <a:off x="7635240" y="1481328"/>
            <a:ext cx="3931920" cy="4261104"/>
          </a:xfrm>
          <a:prstGeom prst="roundRect">
            <a:avLst>
              <a:gd name="adj" fmla="val 1395"/>
            </a:avLst>
          </a:prstGeom>
          <a:solidFill>
            <a:srgbClr val="6D2E46"/>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5" name="Text 23"/>
          <p:cNvSpPr/>
          <p:nvPr/>
        </p:nvSpPr>
        <p:spPr>
          <a:xfrm>
            <a:off x="7863840" y="1737360"/>
            <a:ext cx="3474720" cy="274320"/>
          </a:xfrm>
          <a:prstGeom prst="rect">
            <a:avLst/>
          </a:prstGeom>
          <a:noFill/>
          <a:ln/>
        </p:spPr>
        <p:txBody>
          <a:bodyPr wrap="square" lIns="0" tIns="0" rIns="0" bIns="0" rtlCol="0" anchor="ctr"/>
          <a:lstStyle/>
          <a:p>
            <a:pPr algn="ctr" indent="0" marL="0">
              <a:buNone/>
            </a:pPr>
            <a:r>
              <a:rPr lang="en-US" sz="1100" dirty="0">
                <a:solidFill>
                  <a:srgbClr val="ECE2D0"/>
                </a:solidFill>
                <a:latin typeface="Arial" pitchFamily="34" charset="0"/>
                <a:ea typeface="Arial" pitchFamily="34" charset="-122"/>
                <a:cs typeface="Arial" pitchFamily="34" charset="-120"/>
              </a:rPr>
              <a:t>FY2027 経常利益（Dプラン）</a:t>
            </a:r>
            <a:endParaRPr lang="en-US" sz="1100" dirty="0"/>
          </a:p>
        </p:txBody>
      </p:sp>
      <p:sp>
        <p:nvSpPr>
          <p:cNvPr id="26" name="Text 24"/>
          <p:cNvSpPr/>
          <p:nvPr/>
        </p:nvSpPr>
        <p:spPr>
          <a:xfrm>
            <a:off x="7863840" y="2011680"/>
            <a:ext cx="3474720" cy="777240"/>
          </a:xfrm>
          <a:prstGeom prst="rect">
            <a:avLst/>
          </a:prstGeom>
          <a:noFill/>
          <a:ln/>
        </p:spPr>
        <p:txBody>
          <a:bodyPr wrap="square" lIns="0" tIns="0" rIns="0" bIns="0" rtlCol="0" anchor="ctr"/>
          <a:lstStyle/>
          <a:p>
            <a:pPr algn="ctr" indent="0" marL="0">
              <a:buNone/>
            </a:pPr>
            <a:r>
              <a:rPr lang="en-US" sz="4200" b="1" dirty="0">
                <a:solidFill>
                  <a:srgbClr val="FFFFFF"/>
                </a:solidFill>
                <a:latin typeface="Cambria" pitchFamily="34" charset="0"/>
                <a:ea typeface="Cambria" pitchFamily="34" charset="-122"/>
                <a:cs typeface="Cambria" pitchFamily="34" charset="-120"/>
              </a:rPr>
              <a:t>＋137.5</a:t>
            </a:r>
            <a:endParaRPr lang="en-US" sz="4200" dirty="0"/>
          </a:p>
        </p:txBody>
      </p:sp>
      <p:sp>
        <p:nvSpPr>
          <p:cNvPr id="27" name="Text 25"/>
          <p:cNvSpPr/>
          <p:nvPr/>
        </p:nvSpPr>
        <p:spPr>
          <a:xfrm>
            <a:off x="7863840" y="2770632"/>
            <a:ext cx="3474720" cy="274320"/>
          </a:xfrm>
          <a:prstGeom prst="rect">
            <a:avLst/>
          </a:prstGeom>
          <a:noFill/>
          <a:ln/>
        </p:spPr>
        <p:txBody>
          <a:bodyPr wrap="square" lIns="0" tIns="0" rIns="0" bIns="0" rtlCol="0" anchor="ctr"/>
          <a:lstStyle/>
          <a:p>
            <a:pPr algn="ctr" indent="0" marL="0">
              <a:buNone/>
            </a:pPr>
            <a:r>
              <a:rPr lang="en-US" sz="1100" dirty="0">
                <a:solidFill>
                  <a:srgbClr val="ECE2D0"/>
                </a:solidFill>
                <a:latin typeface="Arial" pitchFamily="34" charset="0"/>
                <a:ea typeface="Arial" pitchFamily="34" charset="-122"/>
                <a:cs typeface="Arial" pitchFamily="34" charset="-120"/>
              </a:rPr>
              <a:t>百万円</a:t>
            </a:r>
            <a:endParaRPr lang="en-US" sz="1100" dirty="0"/>
          </a:p>
        </p:txBody>
      </p:sp>
      <p:sp>
        <p:nvSpPr>
          <p:cNvPr id="28" name="Text 26"/>
          <p:cNvSpPr/>
          <p:nvPr/>
        </p:nvSpPr>
        <p:spPr>
          <a:xfrm>
            <a:off x="7863840" y="3127248"/>
            <a:ext cx="347472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Arial" pitchFamily="34" charset="0"/>
                <a:ea typeface="Arial" pitchFamily="34" charset="-122"/>
                <a:cs typeface="Arial" pitchFamily="34" charset="-120"/>
              </a:rPr>
              <a:t>FY2026 ▲124.8百万円から</a:t>
            </a:r>
            <a:endParaRPr lang="en-US" sz="1150" dirty="0"/>
          </a:p>
          <a:p>
            <a:pPr algn="ctr" indent="0" marL="0">
              <a:buNone/>
            </a:pPr>
            <a:r>
              <a:rPr lang="en-US" sz="1150" dirty="0">
                <a:solidFill>
                  <a:srgbClr val="FFFFFF"/>
                </a:solidFill>
                <a:latin typeface="Arial" pitchFamily="34" charset="0"/>
                <a:ea typeface="Arial" pitchFamily="34" charset="-122"/>
                <a:cs typeface="Arial" pitchFamily="34" charset="-120"/>
              </a:rPr>
              <a:t>＋262.3百万円の改善</a:t>
            </a:r>
            <a:endParaRPr lang="en-US" sz="1150" dirty="0"/>
          </a:p>
        </p:txBody>
      </p:sp>
      <p:sp>
        <p:nvSpPr>
          <p:cNvPr id="29" name="Shape 27"/>
          <p:cNvSpPr/>
          <p:nvPr/>
        </p:nvSpPr>
        <p:spPr>
          <a:xfrm>
            <a:off x="8092440" y="3877056"/>
            <a:ext cx="3017520" cy="0"/>
          </a:xfrm>
          <a:prstGeom prst="line">
            <a:avLst/>
          </a:prstGeom>
          <a:noFill/>
          <a:ln w="12700">
            <a:solidFill>
              <a:srgbClr val="8E5470"/>
            </a:solidFill>
            <a:prstDash val="solid"/>
          </a:ln>
        </p:spPr>
      </p:sp>
      <p:sp>
        <p:nvSpPr>
          <p:cNvPr id="30" name="Text 28"/>
          <p:cNvSpPr/>
          <p:nvPr/>
        </p:nvSpPr>
        <p:spPr>
          <a:xfrm>
            <a:off x="7863840" y="4023360"/>
            <a:ext cx="3474720" cy="274320"/>
          </a:xfrm>
          <a:prstGeom prst="rect">
            <a:avLst/>
          </a:prstGeom>
          <a:noFill/>
          <a:ln/>
        </p:spPr>
        <p:txBody>
          <a:bodyPr wrap="square" lIns="0" tIns="0" rIns="0" bIns="0" rtlCol="0" anchor="ctr"/>
          <a:lstStyle/>
          <a:p>
            <a:pPr algn="ctr" indent="0" marL="0">
              <a:buNone/>
            </a:pPr>
            <a:r>
              <a:rPr lang="en-US" sz="1100" dirty="0">
                <a:solidFill>
                  <a:srgbClr val="ECE2D0"/>
                </a:solidFill>
                <a:latin typeface="Arial" pitchFamily="34" charset="0"/>
                <a:ea typeface="Arial" pitchFamily="34" charset="-122"/>
                <a:cs typeface="Arial" pitchFamily="34" charset="-120"/>
              </a:rPr>
              <a:t>必要な売上高</a:t>
            </a:r>
            <a:endParaRPr lang="en-US" sz="1100" dirty="0"/>
          </a:p>
        </p:txBody>
      </p:sp>
      <p:sp>
        <p:nvSpPr>
          <p:cNvPr id="31" name="Text 29"/>
          <p:cNvSpPr/>
          <p:nvPr/>
        </p:nvSpPr>
        <p:spPr>
          <a:xfrm>
            <a:off x="7863840" y="4297680"/>
            <a:ext cx="3474720" cy="548640"/>
          </a:xfrm>
          <a:prstGeom prst="rect">
            <a:avLst/>
          </a:prstGeom>
          <a:noFill/>
          <a:ln/>
        </p:spPr>
        <p:txBody>
          <a:bodyPr wrap="square" lIns="0" tIns="0" rIns="0" bIns="0" rtlCol="0" anchor="ctr"/>
          <a:lstStyle/>
          <a:p>
            <a:pPr algn="ctr" indent="0" marL="0">
              <a:buNone/>
            </a:pPr>
            <a:r>
              <a:rPr lang="en-US" sz="2800" b="1" dirty="0">
                <a:solidFill>
                  <a:srgbClr val="ECE2D0"/>
                </a:solidFill>
                <a:latin typeface="Cambria" pitchFamily="34" charset="0"/>
                <a:ea typeface="Cambria" pitchFamily="34" charset="-122"/>
                <a:cs typeface="Cambria" pitchFamily="34" charset="-120"/>
              </a:rPr>
              <a:t>621.1百万円</a:t>
            </a:r>
            <a:endParaRPr lang="en-US" sz="2800" dirty="0"/>
          </a:p>
        </p:txBody>
      </p:sp>
      <p:sp>
        <p:nvSpPr>
          <p:cNvPr id="32" name="Text 30"/>
          <p:cNvSpPr/>
          <p:nvPr/>
        </p:nvSpPr>
        <p:spPr>
          <a:xfrm>
            <a:off x="7863840" y="4901184"/>
            <a:ext cx="3474720" cy="640080"/>
          </a:xfrm>
          <a:prstGeom prst="rect">
            <a:avLst/>
          </a:prstGeom>
          <a:noFill/>
          <a:ln/>
        </p:spPr>
        <p:txBody>
          <a:bodyPr wrap="square" lIns="0" tIns="0" rIns="0" bIns="0" rtlCol="0" anchor="ctr"/>
          <a:lstStyle/>
          <a:p>
            <a:pPr algn="ctr" indent="0" marL="0">
              <a:buNone/>
            </a:pPr>
            <a:r>
              <a:rPr lang="en-US" sz="1100" dirty="0">
                <a:solidFill>
                  <a:srgbClr val="FFFFFF"/>
                </a:solidFill>
                <a:latin typeface="Arial" pitchFamily="34" charset="0"/>
                <a:ea typeface="Arial" pitchFamily="34" charset="-122"/>
                <a:cs typeface="Arial" pitchFamily="34" charset="-120"/>
              </a:rPr>
              <a:t>FY2025実績752.9百万円の82.5%</a:t>
            </a:r>
            <a:endParaRPr lang="en-US" sz="1100" dirty="0"/>
          </a:p>
          <a:p>
            <a:pPr algn="ctr" indent="0" marL="0">
              <a:buNone/>
            </a:pPr>
            <a:r>
              <a:rPr lang="en-US" sz="1100" dirty="0">
                <a:solidFill>
                  <a:srgbClr val="FFFFFF"/>
                </a:solidFill>
                <a:latin typeface="Arial" pitchFamily="34" charset="0"/>
                <a:ea typeface="Arial" pitchFamily="34" charset="-122"/>
                <a:cs typeface="Arial" pitchFamily="34" charset="-120"/>
              </a:rPr>
              <a:t>FY2026見込708.2百万円の87.7%</a:t>
            </a:r>
            <a:endParaRPr lang="en-US" sz="1100" dirty="0"/>
          </a:p>
        </p:txBody>
      </p:sp>
      <p:sp>
        <p:nvSpPr>
          <p:cNvPr id="33" name="Text 31"/>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出典：事業計画202608（銀行様）全社シート月次実績、決算報告書 第54期、2026年7月度 取締役会資料</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FY2025・FY2026 － 性質の異なる2期の赤字</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いずれも一過性・構造改革に起因するもので、本業の継続的な採算悪化ではありません。</a:t>
            </a:r>
            <a:endParaRPr lang="en-US" sz="1250" dirty="0"/>
          </a:p>
        </p:txBody>
      </p:sp>
      <p:sp>
        <p:nvSpPr>
          <p:cNvPr id="4" name="Shape 2"/>
          <p:cNvSpPr/>
          <p:nvPr/>
        </p:nvSpPr>
        <p:spPr>
          <a:xfrm>
            <a:off x="594360" y="1463040"/>
            <a:ext cx="5486400" cy="4343400"/>
          </a:xfrm>
          <a:prstGeom prst="roundRect">
            <a:avLst>
              <a:gd name="adj" fmla="val 1263"/>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5" name="Text 3"/>
          <p:cNvSpPr/>
          <p:nvPr/>
        </p:nvSpPr>
        <p:spPr>
          <a:xfrm>
            <a:off x="914400" y="1691640"/>
            <a:ext cx="4846320" cy="292608"/>
          </a:xfrm>
          <a:prstGeom prst="rect">
            <a:avLst/>
          </a:prstGeom>
          <a:noFill/>
          <a:ln/>
        </p:spPr>
        <p:txBody>
          <a:bodyPr wrap="square" lIns="0" tIns="0" rIns="0" bIns="0" rtlCol="0" anchor="ctr"/>
          <a:lstStyle/>
          <a:p>
            <a:pPr indent="0" marL="0">
              <a:buNone/>
            </a:pPr>
            <a:r>
              <a:rPr lang="en-US" sz="1150" b="1" dirty="0">
                <a:solidFill>
                  <a:srgbClr val="7A6A64"/>
                </a:solidFill>
                <a:latin typeface="Arial" pitchFamily="34" charset="0"/>
                <a:ea typeface="Arial" pitchFamily="34" charset="-122"/>
                <a:cs typeface="Arial" pitchFamily="34" charset="-120"/>
              </a:rPr>
              <a:t>FY2025（2025年9月期）実績</a:t>
            </a:r>
            <a:endParaRPr lang="en-US" sz="1150" dirty="0"/>
          </a:p>
        </p:txBody>
      </p:sp>
      <p:sp>
        <p:nvSpPr>
          <p:cNvPr id="6" name="Text 4"/>
          <p:cNvSpPr/>
          <p:nvPr/>
        </p:nvSpPr>
        <p:spPr>
          <a:xfrm>
            <a:off x="914400" y="2011680"/>
            <a:ext cx="4846320" cy="457200"/>
          </a:xfrm>
          <a:prstGeom prst="rect">
            <a:avLst/>
          </a:prstGeom>
          <a:noFill/>
          <a:ln/>
        </p:spPr>
        <p:txBody>
          <a:bodyPr wrap="square" lIns="0" tIns="0" rIns="0" bIns="0" rtlCol="0" anchor="ctr"/>
          <a:lstStyle/>
          <a:p>
            <a:pPr indent="0" marL="0">
              <a:buNone/>
            </a:pPr>
            <a:r>
              <a:rPr lang="en-US" sz="2200" b="1" dirty="0">
                <a:solidFill>
                  <a:srgbClr val="6D2E46"/>
                </a:solidFill>
                <a:latin typeface="Cambria" pitchFamily="34" charset="0"/>
                <a:ea typeface="Cambria" pitchFamily="34" charset="-122"/>
                <a:cs typeface="Cambria" pitchFamily="34" charset="-120"/>
              </a:rPr>
              <a:t>当期純損失 ▲127.8百万円</a:t>
            </a:r>
            <a:endParaRPr lang="en-US" sz="2200" dirty="0"/>
          </a:p>
        </p:txBody>
      </p:sp>
      <p:sp>
        <p:nvSpPr>
          <p:cNvPr id="7" name="Text 5"/>
          <p:cNvSpPr/>
          <p:nvPr/>
        </p:nvSpPr>
        <p:spPr>
          <a:xfrm>
            <a:off x="914400" y="2514600"/>
            <a:ext cx="4846320" cy="621792"/>
          </a:xfrm>
          <a:prstGeom prst="rect">
            <a:avLst/>
          </a:prstGeom>
          <a:noFill/>
          <a:ln/>
        </p:spPr>
        <p:txBody>
          <a:bodyPr wrap="square" lIns="0" tIns="0" rIns="0" bIns="0" rtlCol="0" anchor="ctr"/>
          <a:lstStyle/>
          <a:p>
            <a:pPr indent="0" marL="0">
              <a:buNone/>
            </a:pPr>
            <a:r>
              <a:rPr lang="en-US" sz="1100" dirty="0">
                <a:solidFill>
                  <a:srgbClr val="2B2B2B"/>
                </a:solidFill>
                <a:latin typeface="Arial" pitchFamily="34" charset="0"/>
                <a:ea typeface="Arial" pitchFamily="34" charset="-122"/>
                <a:cs typeface="Arial" pitchFamily="34" charset="-120"/>
              </a:rPr>
              <a:t>経常損失は▲5.8百万円にとどまる。損失の大半は組織再編に伴う特別損失。</a:t>
            </a:r>
            <a:endParaRPr lang="en-US" sz="1100" dirty="0"/>
          </a:p>
        </p:txBody>
      </p:sp>
      <p:sp>
        <p:nvSpPr>
          <p:cNvPr id="8" name="Shape 6"/>
          <p:cNvSpPr/>
          <p:nvPr/>
        </p:nvSpPr>
        <p:spPr>
          <a:xfrm>
            <a:off x="914400" y="3246120"/>
            <a:ext cx="4846320" cy="457200"/>
          </a:xfrm>
          <a:prstGeom prst="rect">
            <a:avLst/>
          </a:prstGeom>
          <a:solidFill>
            <a:srgbClr val="FBF9F7"/>
          </a:solidFill>
          <a:ln w="6350">
            <a:solidFill>
              <a:srgbClr val="DED5CE"/>
            </a:solidFill>
            <a:prstDash val="solid"/>
          </a:ln>
        </p:spPr>
      </p:sp>
      <p:sp>
        <p:nvSpPr>
          <p:cNvPr id="9" name="Text 7"/>
          <p:cNvSpPr/>
          <p:nvPr/>
        </p:nvSpPr>
        <p:spPr>
          <a:xfrm>
            <a:off x="1051560" y="3246120"/>
            <a:ext cx="301752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事業譲渡損</a:t>
            </a:r>
            <a:endParaRPr lang="en-US" sz="1050" dirty="0"/>
          </a:p>
        </p:txBody>
      </p:sp>
      <p:sp>
        <p:nvSpPr>
          <p:cNvPr id="10" name="Text 8"/>
          <p:cNvSpPr/>
          <p:nvPr/>
        </p:nvSpPr>
        <p:spPr>
          <a:xfrm>
            <a:off x="3886200" y="3246120"/>
            <a:ext cx="1737360" cy="457200"/>
          </a:xfrm>
          <a:prstGeom prst="rect">
            <a:avLst/>
          </a:prstGeom>
          <a:noFill/>
          <a:ln/>
        </p:spPr>
        <p:txBody>
          <a:bodyPr wrap="square" lIns="0" tIns="0" rIns="0" bIns="0" rtlCol="0" anchor="ctr"/>
          <a:lstStyle/>
          <a:p>
            <a:pPr algn="r" indent="0" marL="0">
              <a:buNone/>
            </a:pPr>
            <a:r>
              <a:rPr lang="en-US" sz="1150" b="1" dirty="0">
                <a:solidFill>
                  <a:srgbClr val="2B2B2B"/>
                </a:solidFill>
                <a:latin typeface="Arial" pitchFamily="34" charset="0"/>
                <a:ea typeface="Arial" pitchFamily="34" charset="-122"/>
                <a:cs typeface="Arial" pitchFamily="34" charset="-120"/>
              </a:rPr>
              <a:t>59.8百万円</a:t>
            </a:r>
            <a:endParaRPr lang="en-US" sz="1150" dirty="0"/>
          </a:p>
        </p:txBody>
      </p:sp>
      <p:sp>
        <p:nvSpPr>
          <p:cNvPr id="11" name="Shape 9"/>
          <p:cNvSpPr/>
          <p:nvPr/>
        </p:nvSpPr>
        <p:spPr>
          <a:xfrm>
            <a:off x="914400" y="3794760"/>
            <a:ext cx="4846320" cy="457200"/>
          </a:xfrm>
          <a:prstGeom prst="rect">
            <a:avLst/>
          </a:prstGeom>
          <a:solidFill>
            <a:srgbClr val="FBF9F7"/>
          </a:solidFill>
          <a:ln w="6350">
            <a:solidFill>
              <a:srgbClr val="DED5CE"/>
            </a:solidFill>
            <a:prstDash val="solid"/>
          </a:ln>
        </p:spPr>
      </p:sp>
      <p:sp>
        <p:nvSpPr>
          <p:cNvPr id="12" name="Text 10"/>
          <p:cNvSpPr/>
          <p:nvPr/>
        </p:nvSpPr>
        <p:spPr>
          <a:xfrm>
            <a:off x="1051560" y="3794760"/>
            <a:ext cx="301752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固定資産除却損</a:t>
            </a:r>
            <a:endParaRPr lang="en-US" sz="1050" dirty="0"/>
          </a:p>
        </p:txBody>
      </p:sp>
      <p:sp>
        <p:nvSpPr>
          <p:cNvPr id="13" name="Text 11"/>
          <p:cNvSpPr/>
          <p:nvPr/>
        </p:nvSpPr>
        <p:spPr>
          <a:xfrm>
            <a:off x="3886200" y="3794760"/>
            <a:ext cx="1737360" cy="457200"/>
          </a:xfrm>
          <a:prstGeom prst="rect">
            <a:avLst/>
          </a:prstGeom>
          <a:noFill/>
          <a:ln/>
        </p:spPr>
        <p:txBody>
          <a:bodyPr wrap="square" lIns="0" tIns="0" rIns="0" bIns="0" rtlCol="0" anchor="ctr"/>
          <a:lstStyle/>
          <a:p>
            <a:pPr algn="r" indent="0" marL="0">
              <a:buNone/>
            </a:pPr>
            <a:r>
              <a:rPr lang="en-US" sz="1150" b="1" dirty="0">
                <a:solidFill>
                  <a:srgbClr val="2B2B2B"/>
                </a:solidFill>
                <a:latin typeface="Arial" pitchFamily="34" charset="0"/>
                <a:ea typeface="Arial" pitchFamily="34" charset="-122"/>
                <a:cs typeface="Arial" pitchFamily="34" charset="-120"/>
              </a:rPr>
              <a:t>18.1百万円</a:t>
            </a:r>
            <a:endParaRPr lang="en-US" sz="1150" dirty="0"/>
          </a:p>
        </p:txBody>
      </p:sp>
      <p:sp>
        <p:nvSpPr>
          <p:cNvPr id="14" name="Shape 12"/>
          <p:cNvSpPr/>
          <p:nvPr/>
        </p:nvSpPr>
        <p:spPr>
          <a:xfrm>
            <a:off x="914400" y="4343400"/>
            <a:ext cx="4846320" cy="457200"/>
          </a:xfrm>
          <a:prstGeom prst="rect">
            <a:avLst/>
          </a:prstGeom>
          <a:solidFill>
            <a:srgbClr val="FBF9F7"/>
          </a:solidFill>
          <a:ln w="6350">
            <a:solidFill>
              <a:srgbClr val="DED5CE"/>
            </a:solidFill>
            <a:prstDash val="solid"/>
          </a:ln>
        </p:spPr>
      </p:sp>
      <p:sp>
        <p:nvSpPr>
          <p:cNvPr id="15" name="Text 13"/>
          <p:cNvSpPr/>
          <p:nvPr/>
        </p:nvSpPr>
        <p:spPr>
          <a:xfrm>
            <a:off x="1051560" y="4343400"/>
            <a:ext cx="301752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抱合せ株式消滅差損</a:t>
            </a:r>
            <a:endParaRPr lang="en-US" sz="1050" dirty="0"/>
          </a:p>
        </p:txBody>
      </p:sp>
      <p:sp>
        <p:nvSpPr>
          <p:cNvPr id="16" name="Text 14"/>
          <p:cNvSpPr/>
          <p:nvPr/>
        </p:nvSpPr>
        <p:spPr>
          <a:xfrm>
            <a:off x="3886200" y="4343400"/>
            <a:ext cx="1737360" cy="457200"/>
          </a:xfrm>
          <a:prstGeom prst="rect">
            <a:avLst/>
          </a:prstGeom>
          <a:noFill/>
          <a:ln/>
        </p:spPr>
        <p:txBody>
          <a:bodyPr wrap="square" lIns="0" tIns="0" rIns="0" bIns="0" rtlCol="0" anchor="ctr"/>
          <a:lstStyle/>
          <a:p>
            <a:pPr algn="r" indent="0" marL="0">
              <a:buNone/>
            </a:pPr>
            <a:r>
              <a:rPr lang="en-US" sz="1150" b="1" dirty="0">
                <a:solidFill>
                  <a:srgbClr val="2B2B2B"/>
                </a:solidFill>
                <a:latin typeface="Arial" pitchFamily="34" charset="0"/>
                <a:ea typeface="Arial" pitchFamily="34" charset="-122"/>
                <a:cs typeface="Arial" pitchFamily="34" charset="-120"/>
              </a:rPr>
              <a:t>45.4百万円</a:t>
            </a:r>
            <a:endParaRPr lang="en-US" sz="1150" dirty="0"/>
          </a:p>
        </p:txBody>
      </p:sp>
      <p:sp>
        <p:nvSpPr>
          <p:cNvPr id="17" name="Shape 15"/>
          <p:cNvSpPr/>
          <p:nvPr/>
        </p:nvSpPr>
        <p:spPr>
          <a:xfrm>
            <a:off x="914400" y="4892040"/>
            <a:ext cx="4846320" cy="457200"/>
          </a:xfrm>
          <a:prstGeom prst="rect">
            <a:avLst/>
          </a:prstGeom>
          <a:solidFill>
            <a:srgbClr val="ECE2D0"/>
          </a:solidFill>
          <a:ln w="6350">
            <a:solidFill>
              <a:srgbClr val="DED5CE"/>
            </a:solidFill>
            <a:prstDash val="solid"/>
          </a:ln>
        </p:spPr>
      </p:sp>
      <p:sp>
        <p:nvSpPr>
          <p:cNvPr id="18" name="Text 16"/>
          <p:cNvSpPr/>
          <p:nvPr/>
        </p:nvSpPr>
        <p:spPr>
          <a:xfrm>
            <a:off x="1051560" y="4892040"/>
            <a:ext cx="3017520" cy="457200"/>
          </a:xfrm>
          <a:prstGeom prst="rect">
            <a:avLst/>
          </a:prstGeom>
          <a:noFill/>
          <a:ln/>
        </p:spPr>
        <p:txBody>
          <a:bodyPr wrap="square" lIns="0" tIns="0" rIns="0" bIns="0" rtlCol="0" anchor="ctr"/>
          <a:lstStyle/>
          <a:p>
            <a:pPr indent="0" marL="0">
              <a:buNone/>
            </a:pPr>
            <a:r>
              <a:rPr lang="en-US" sz="1050" b="1" dirty="0">
                <a:solidFill>
                  <a:srgbClr val="2B2B2B"/>
                </a:solidFill>
                <a:latin typeface="Arial" pitchFamily="34" charset="0"/>
                <a:ea typeface="Arial" pitchFamily="34" charset="-122"/>
                <a:cs typeface="Arial" pitchFamily="34" charset="-120"/>
              </a:rPr>
              <a:t>特別損失 計</a:t>
            </a:r>
            <a:endParaRPr lang="en-US" sz="1050" dirty="0"/>
          </a:p>
        </p:txBody>
      </p:sp>
      <p:sp>
        <p:nvSpPr>
          <p:cNvPr id="19" name="Text 17"/>
          <p:cNvSpPr/>
          <p:nvPr/>
        </p:nvSpPr>
        <p:spPr>
          <a:xfrm>
            <a:off x="3886200" y="4892040"/>
            <a:ext cx="1737360" cy="457200"/>
          </a:xfrm>
          <a:prstGeom prst="rect">
            <a:avLst/>
          </a:prstGeom>
          <a:noFill/>
          <a:ln/>
        </p:spPr>
        <p:txBody>
          <a:bodyPr wrap="square" lIns="0" tIns="0" rIns="0" bIns="0" rtlCol="0" anchor="ctr"/>
          <a:lstStyle/>
          <a:p>
            <a:pPr algn="r" indent="0" marL="0">
              <a:buNone/>
            </a:pPr>
            <a:r>
              <a:rPr lang="en-US" sz="1150" b="1" dirty="0">
                <a:solidFill>
                  <a:srgbClr val="6D2E46"/>
                </a:solidFill>
                <a:latin typeface="Arial" pitchFamily="34" charset="0"/>
                <a:ea typeface="Arial" pitchFamily="34" charset="-122"/>
                <a:cs typeface="Arial" pitchFamily="34" charset="-120"/>
              </a:rPr>
              <a:t>123.4百万円</a:t>
            </a:r>
            <a:endParaRPr lang="en-US" sz="1150" dirty="0"/>
          </a:p>
        </p:txBody>
      </p:sp>
      <p:sp>
        <p:nvSpPr>
          <p:cNvPr id="20" name="Shape 18"/>
          <p:cNvSpPr/>
          <p:nvPr/>
        </p:nvSpPr>
        <p:spPr>
          <a:xfrm>
            <a:off x="6400800" y="1463040"/>
            <a:ext cx="5486400" cy="4343400"/>
          </a:xfrm>
          <a:prstGeom prst="roundRect">
            <a:avLst>
              <a:gd name="adj" fmla="val 1263"/>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1" name="Text 19"/>
          <p:cNvSpPr/>
          <p:nvPr/>
        </p:nvSpPr>
        <p:spPr>
          <a:xfrm>
            <a:off x="6720840" y="1691640"/>
            <a:ext cx="4846320" cy="292608"/>
          </a:xfrm>
          <a:prstGeom prst="rect">
            <a:avLst/>
          </a:prstGeom>
          <a:noFill/>
          <a:ln/>
        </p:spPr>
        <p:txBody>
          <a:bodyPr wrap="square" lIns="0" tIns="0" rIns="0" bIns="0" rtlCol="0" anchor="ctr"/>
          <a:lstStyle/>
          <a:p>
            <a:pPr indent="0" marL="0">
              <a:buNone/>
            </a:pPr>
            <a:r>
              <a:rPr lang="en-US" sz="1150" b="1" dirty="0">
                <a:solidFill>
                  <a:srgbClr val="7A6A64"/>
                </a:solidFill>
                <a:latin typeface="Arial" pitchFamily="34" charset="0"/>
                <a:ea typeface="Arial" pitchFamily="34" charset="-122"/>
                <a:cs typeface="Arial" pitchFamily="34" charset="-120"/>
              </a:rPr>
              <a:t>FY2026（2026年9月期）見込</a:t>
            </a:r>
            <a:endParaRPr lang="en-US" sz="1150" dirty="0"/>
          </a:p>
        </p:txBody>
      </p:sp>
      <p:sp>
        <p:nvSpPr>
          <p:cNvPr id="22" name="Text 20"/>
          <p:cNvSpPr/>
          <p:nvPr/>
        </p:nvSpPr>
        <p:spPr>
          <a:xfrm>
            <a:off x="6720840" y="2011680"/>
            <a:ext cx="4846320" cy="457200"/>
          </a:xfrm>
          <a:prstGeom prst="rect">
            <a:avLst/>
          </a:prstGeom>
          <a:noFill/>
          <a:ln/>
        </p:spPr>
        <p:txBody>
          <a:bodyPr wrap="square" lIns="0" tIns="0" rIns="0" bIns="0" rtlCol="0" anchor="ctr"/>
          <a:lstStyle/>
          <a:p>
            <a:pPr indent="0" marL="0">
              <a:buNone/>
            </a:pPr>
            <a:r>
              <a:rPr lang="en-US" sz="2200" b="1" dirty="0">
                <a:solidFill>
                  <a:srgbClr val="6D2E46"/>
                </a:solidFill>
                <a:latin typeface="Cambria" pitchFamily="34" charset="0"/>
                <a:ea typeface="Cambria" pitchFamily="34" charset="-122"/>
                <a:cs typeface="Cambria" pitchFamily="34" charset="-120"/>
              </a:rPr>
              <a:t>経常損失 ▲124.8百万円</a:t>
            </a:r>
            <a:endParaRPr lang="en-US" sz="2200" dirty="0"/>
          </a:p>
        </p:txBody>
      </p:sp>
      <p:sp>
        <p:nvSpPr>
          <p:cNvPr id="23" name="Text 21"/>
          <p:cNvSpPr/>
          <p:nvPr/>
        </p:nvSpPr>
        <p:spPr>
          <a:xfrm>
            <a:off x="6720840" y="2514600"/>
            <a:ext cx="4846320" cy="621792"/>
          </a:xfrm>
          <a:prstGeom prst="rect">
            <a:avLst/>
          </a:prstGeom>
          <a:noFill/>
          <a:ln/>
        </p:spPr>
        <p:txBody>
          <a:bodyPr wrap="square" lIns="0" tIns="0" rIns="0" bIns="0" rtlCol="0" anchor="ctr"/>
          <a:lstStyle/>
          <a:p>
            <a:pPr indent="0" marL="0">
              <a:buNone/>
            </a:pPr>
            <a:r>
              <a:rPr lang="en-US" sz="1100" dirty="0">
                <a:solidFill>
                  <a:srgbClr val="2B2B2B"/>
                </a:solidFill>
                <a:latin typeface="Arial" pitchFamily="34" charset="0"/>
                <a:ea typeface="Arial" pitchFamily="34" charset="-122"/>
                <a:cs typeface="Arial" pitchFamily="34" charset="-120"/>
              </a:rPr>
              <a:t>飲食事業の撤退と、撤退に伴う一時費用・先行投資が主因。撤退は2026年3月で完了。</a:t>
            </a:r>
            <a:endParaRPr lang="en-US" sz="1100" dirty="0"/>
          </a:p>
        </p:txBody>
      </p:sp>
      <p:sp>
        <p:nvSpPr>
          <p:cNvPr id="24" name="Shape 22"/>
          <p:cNvSpPr/>
          <p:nvPr/>
        </p:nvSpPr>
        <p:spPr>
          <a:xfrm>
            <a:off x="6720840" y="3246120"/>
            <a:ext cx="4846320" cy="457200"/>
          </a:xfrm>
          <a:prstGeom prst="rect">
            <a:avLst/>
          </a:prstGeom>
          <a:solidFill>
            <a:srgbClr val="FBF9F7"/>
          </a:solidFill>
          <a:ln w="6350">
            <a:solidFill>
              <a:srgbClr val="DED5CE"/>
            </a:solidFill>
            <a:prstDash val="solid"/>
          </a:ln>
        </p:spPr>
      </p:sp>
      <p:sp>
        <p:nvSpPr>
          <p:cNvPr id="25" name="Text 23"/>
          <p:cNvSpPr/>
          <p:nvPr/>
        </p:nvSpPr>
        <p:spPr>
          <a:xfrm>
            <a:off x="6858000" y="3246120"/>
            <a:ext cx="301752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上期(10-3月) 販管費 月平均</a:t>
            </a:r>
            <a:endParaRPr lang="en-US" sz="1050" dirty="0"/>
          </a:p>
        </p:txBody>
      </p:sp>
      <p:sp>
        <p:nvSpPr>
          <p:cNvPr id="26" name="Text 24"/>
          <p:cNvSpPr/>
          <p:nvPr/>
        </p:nvSpPr>
        <p:spPr>
          <a:xfrm>
            <a:off x="9692640" y="3246120"/>
            <a:ext cx="1737360" cy="457200"/>
          </a:xfrm>
          <a:prstGeom prst="rect">
            <a:avLst/>
          </a:prstGeom>
          <a:noFill/>
          <a:ln/>
        </p:spPr>
        <p:txBody>
          <a:bodyPr wrap="square" lIns="0" tIns="0" rIns="0" bIns="0" rtlCol="0" anchor="ctr"/>
          <a:lstStyle/>
          <a:p>
            <a:pPr algn="r" indent="0" marL="0">
              <a:buNone/>
            </a:pPr>
            <a:r>
              <a:rPr lang="en-US" sz="1150" b="1" dirty="0">
                <a:solidFill>
                  <a:srgbClr val="2B2B2B"/>
                </a:solidFill>
                <a:latin typeface="Arial" pitchFamily="34" charset="0"/>
                <a:ea typeface="Arial" pitchFamily="34" charset="-122"/>
                <a:cs typeface="Arial" pitchFamily="34" charset="-120"/>
              </a:rPr>
              <a:t>33.6百万円</a:t>
            </a:r>
            <a:endParaRPr lang="en-US" sz="1150" dirty="0"/>
          </a:p>
        </p:txBody>
      </p:sp>
      <p:sp>
        <p:nvSpPr>
          <p:cNvPr id="27" name="Shape 25"/>
          <p:cNvSpPr/>
          <p:nvPr/>
        </p:nvSpPr>
        <p:spPr>
          <a:xfrm>
            <a:off x="6720840" y="3794760"/>
            <a:ext cx="4846320" cy="457200"/>
          </a:xfrm>
          <a:prstGeom prst="rect">
            <a:avLst/>
          </a:prstGeom>
          <a:solidFill>
            <a:srgbClr val="FBF9F7"/>
          </a:solidFill>
          <a:ln w="6350">
            <a:solidFill>
              <a:srgbClr val="DED5CE"/>
            </a:solidFill>
            <a:prstDash val="solid"/>
          </a:ln>
        </p:spPr>
      </p:sp>
      <p:sp>
        <p:nvSpPr>
          <p:cNvPr id="28" name="Text 26"/>
          <p:cNvSpPr/>
          <p:nvPr/>
        </p:nvSpPr>
        <p:spPr>
          <a:xfrm>
            <a:off x="6858000" y="3794760"/>
            <a:ext cx="301752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下期(4-6月) 販管費 月平均</a:t>
            </a:r>
            <a:endParaRPr lang="en-US" sz="1050" dirty="0"/>
          </a:p>
        </p:txBody>
      </p:sp>
      <p:sp>
        <p:nvSpPr>
          <p:cNvPr id="29" name="Text 27"/>
          <p:cNvSpPr/>
          <p:nvPr/>
        </p:nvSpPr>
        <p:spPr>
          <a:xfrm>
            <a:off x="9692640" y="3794760"/>
            <a:ext cx="1737360" cy="457200"/>
          </a:xfrm>
          <a:prstGeom prst="rect">
            <a:avLst/>
          </a:prstGeom>
          <a:noFill/>
          <a:ln/>
        </p:spPr>
        <p:txBody>
          <a:bodyPr wrap="square" lIns="0" tIns="0" rIns="0" bIns="0" rtlCol="0" anchor="ctr"/>
          <a:lstStyle/>
          <a:p>
            <a:pPr algn="r" indent="0" marL="0">
              <a:buNone/>
            </a:pPr>
            <a:r>
              <a:rPr lang="en-US" sz="1150" b="1" dirty="0">
                <a:solidFill>
                  <a:srgbClr val="2B2B2B"/>
                </a:solidFill>
                <a:latin typeface="Arial" pitchFamily="34" charset="0"/>
                <a:ea typeface="Arial" pitchFamily="34" charset="-122"/>
                <a:cs typeface="Arial" pitchFamily="34" charset="-120"/>
              </a:rPr>
              <a:t>25.0百万円</a:t>
            </a:r>
            <a:endParaRPr lang="en-US" sz="1150" dirty="0"/>
          </a:p>
        </p:txBody>
      </p:sp>
      <p:sp>
        <p:nvSpPr>
          <p:cNvPr id="30" name="Shape 28"/>
          <p:cNvSpPr/>
          <p:nvPr/>
        </p:nvSpPr>
        <p:spPr>
          <a:xfrm>
            <a:off x="6720840" y="4343400"/>
            <a:ext cx="4846320" cy="457200"/>
          </a:xfrm>
          <a:prstGeom prst="rect">
            <a:avLst/>
          </a:prstGeom>
          <a:solidFill>
            <a:srgbClr val="FBF9F7"/>
          </a:solidFill>
          <a:ln w="6350">
            <a:solidFill>
              <a:srgbClr val="DED5CE"/>
            </a:solidFill>
            <a:prstDash val="solid"/>
          </a:ln>
        </p:spPr>
      </p:sp>
      <p:sp>
        <p:nvSpPr>
          <p:cNvPr id="31" name="Text 29"/>
          <p:cNvSpPr/>
          <p:nvPr/>
        </p:nvSpPr>
        <p:spPr>
          <a:xfrm>
            <a:off x="6858000" y="4343400"/>
            <a:ext cx="301752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削減額</a:t>
            </a:r>
            <a:endParaRPr lang="en-US" sz="1050" dirty="0"/>
          </a:p>
        </p:txBody>
      </p:sp>
      <p:sp>
        <p:nvSpPr>
          <p:cNvPr id="32" name="Text 30"/>
          <p:cNvSpPr/>
          <p:nvPr/>
        </p:nvSpPr>
        <p:spPr>
          <a:xfrm>
            <a:off x="9692640" y="4343400"/>
            <a:ext cx="1737360" cy="457200"/>
          </a:xfrm>
          <a:prstGeom prst="rect">
            <a:avLst/>
          </a:prstGeom>
          <a:noFill/>
          <a:ln/>
        </p:spPr>
        <p:txBody>
          <a:bodyPr wrap="square" lIns="0" tIns="0" rIns="0" bIns="0" rtlCol="0" anchor="ctr"/>
          <a:lstStyle/>
          <a:p>
            <a:pPr algn="r" indent="0" marL="0">
              <a:buNone/>
            </a:pPr>
            <a:r>
              <a:rPr lang="en-US" sz="1150" b="1" dirty="0">
                <a:solidFill>
                  <a:srgbClr val="2B2B2B"/>
                </a:solidFill>
                <a:latin typeface="Arial" pitchFamily="34" charset="0"/>
                <a:ea typeface="Arial" pitchFamily="34" charset="-122"/>
                <a:cs typeface="Arial" pitchFamily="34" charset="-120"/>
              </a:rPr>
              <a:t>月 ▲8.6百万円</a:t>
            </a:r>
            <a:endParaRPr lang="en-US" sz="1150" dirty="0"/>
          </a:p>
        </p:txBody>
      </p:sp>
      <p:sp>
        <p:nvSpPr>
          <p:cNvPr id="33" name="Shape 31"/>
          <p:cNvSpPr/>
          <p:nvPr/>
        </p:nvSpPr>
        <p:spPr>
          <a:xfrm>
            <a:off x="6720840" y="4892040"/>
            <a:ext cx="4846320" cy="457200"/>
          </a:xfrm>
          <a:prstGeom prst="rect">
            <a:avLst/>
          </a:prstGeom>
          <a:solidFill>
            <a:srgbClr val="ECE2D0"/>
          </a:solidFill>
          <a:ln w="6350">
            <a:solidFill>
              <a:srgbClr val="DED5CE"/>
            </a:solidFill>
            <a:prstDash val="solid"/>
          </a:ln>
        </p:spPr>
      </p:sp>
      <p:sp>
        <p:nvSpPr>
          <p:cNvPr id="34" name="Text 32"/>
          <p:cNvSpPr/>
          <p:nvPr/>
        </p:nvSpPr>
        <p:spPr>
          <a:xfrm>
            <a:off x="6858000" y="4892040"/>
            <a:ext cx="3017520" cy="457200"/>
          </a:xfrm>
          <a:prstGeom prst="rect">
            <a:avLst/>
          </a:prstGeom>
          <a:noFill/>
          <a:ln/>
        </p:spPr>
        <p:txBody>
          <a:bodyPr wrap="square" lIns="0" tIns="0" rIns="0" bIns="0" rtlCol="0" anchor="ctr"/>
          <a:lstStyle/>
          <a:p>
            <a:pPr indent="0" marL="0">
              <a:buNone/>
            </a:pPr>
            <a:r>
              <a:rPr lang="en-US" sz="1050" b="1" dirty="0">
                <a:solidFill>
                  <a:srgbClr val="2B2B2B"/>
                </a:solidFill>
                <a:latin typeface="Arial" pitchFamily="34" charset="0"/>
                <a:ea typeface="Arial" pitchFamily="34" charset="-122"/>
                <a:cs typeface="Arial" pitchFamily="34" charset="-120"/>
              </a:rPr>
              <a:t>年換算</a:t>
            </a:r>
            <a:endParaRPr lang="en-US" sz="1050" dirty="0"/>
          </a:p>
        </p:txBody>
      </p:sp>
      <p:sp>
        <p:nvSpPr>
          <p:cNvPr id="35" name="Text 33"/>
          <p:cNvSpPr/>
          <p:nvPr/>
        </p:nvSpPr>
        <p:spPr>
          <a:xfrm>
            <a:off x="9692640" y="4892040"/>
            <a:ext cx="1737360" cy="457200"/>
          </a:xfrm>
          <a:prstGeom prst="rect">
            <a:avLst/>
          </a:prstGeom>
          <a:noFill/>
          <a:ln/>
        </p:spPr>
        <p:txBody>
          <a:bodyPr wrap="square" lIns="0" tIns="0" rIns="0" bIns="0" rtlCol="0" anchor="ctr"/>
          <a:lstStyle/>
          <a:p>
            <a:pPr algn="r" indent="0" marL="0">
              <a:buNone/>
            </a:pPr>
            <a:r>
              <a:rPr lang="en-US" sz="1150" b="1" dirty="0">
                <a:solidFill>
                  <a:srgbClr val="6D2E46"/>
                </a:solidFill>
                <a:latin typeface="Arial" pitchFamily="34" charset="0"/>
                <a:ea typeface="Arial" pitchFamily="34" charset="-122"/>
                <a:cs typeface="Arial" pitchFamily="34" charset="-120"/>
              </a:rPr>
              <a:t>▲103百万円</a:t>
            </a:r>
            <a:endParaRPr lang="en-US" sz="1150" dirty="0"/>
          </a:p>
        </p:txBody>
      </p:sp>
      <p:sp>
        <p:nvSpPr>
          <p:cNvPr id="36" name="Text 34"/>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出典：決算報告書 第54期（2025年9月期）、事業計画202608（銀行様）全社シート</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転換点 － 飲食事業の撤退による固定費削減</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撤退に紐づく費用科目が実際に減少しています。削減は計画ではなく実績です。</a:t>
            </a:r>
            <a:endParaRPr lang="en-US" sz="1250" dirty="0"/>
          </a:p>
        </p:txBody>
      </p:sp>
      <p:sp>
        <p:nvSpPr>
          <p:cNvPr id="4" name="Shape 2"/>
          <p:cNvSpPr/>
          <p:nvPr/>
        </p:nvSpPr>
        <p:spPr>
          <a:xfrm>
            <a:off x="594360" y="1572768"/>
            <a:ext cx="7680960" cy="384048"/>
          </a:xfrm>
          <a:prstGeom prst="rect">
            <a:avLst/>
          </a:prstGeom>
          <a:solidFill>
            <a:srgbClr val="6D2E46"/>
          </a:solidFill>
          <a:ln/>
        </p:spPr>
      </p:sp>
      <p:sp>
        <p:nvSpPr>
          <p:cNvPr id="5" name="Text 3"/>
          <p:cNvSpPr/>
          <p:nvPr/>
        </p:nvSpPr>
        <p:spPr>
          <a:xfrm>
            <a:off x="704088" y="1572768"/>
            <a:ext cx="2889504" cy="384048"/>
          </a:xfrm>
          <a:prstGeom prst="rect">
            <a:avLst/>
          </a:prstGeom>
          <a:noFill/>
          <a:ln/>
        </p:spPr>
        <p:txBody>
          <a:bodyPr wrap="square" lIns="0" tIns="0" rIns="0" bIns="0" rtlCol="0" anchor="ctr"/>
          <a:lstStyle/>
          <a:p>
            <a:pPr algn="l" indent="0" marL="0">
              <a:buNone/>
            </a:pPr>
            <a:r>
              <a:rPr lang="en-US" sz="950" b="1" dirty="0">
                <a:solidFill>
                  <a:srgbClr val="FFFFFF"/>
                </a:solidFill>
                <a:latin typeface="Arial" pitchFamily="34" charset="0"/>
                <a:ea typeface="Arial" pitchFamily="34" charset="-122"/>
                <a:cs typeface="Arial" pitchFamily="34" charset="-120"/>
              </a:rPr>
              <a:t>勘定科目（単位：円）</a:t>
            </a:r>
            <a:endParaRPr lang="en-US" sz="950" dirty="0"/>
          </a:p>
        </p:txBody>
      </p:sp>
      <p:sp>
        <p:nvSpPr>
          <p:cNvPr id="6" name="Text 4"/>
          <p:cNvSpPr/>
          <p:nvPr/>
        </p:nvSpPr>
        <p:spPr>
          <a:xfrm>
            <a:off x="3813048" y="1572768"/>
            <a:ext cx="147218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① 25/10-26/3 月平均</a:t>
            </a:r>
            <a:endParaRPr lang="en-US" sz="950" dirty="0"/>
          </a:p>
        </p:txBody>
      </p:sp>
      <p:sp>
        <p:nvSpPr>
          <p:cNvPr id="7" name="Text 5"/>
          <p:cNvSpPr/>
          <p:nvPr/>
        </p:nvSpPr>
        <p:spPr>
          <a:xfrm>
            <a:off x="5504688" y="1572768"/>
            <a:ext cx="128930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② 26/4-6 月平均</a:t>
            </a:r>
            <a:endParaRPr lang="en-US" sz="950" dirty="0"/>
          </a:p>
        </p:txBody>
      </p:sp>
      <p:sp>
        <p:nvSpPr>
          <p:cNvPr id="8" name="Text 6"/>
          <p:cNvSpPr/>
          <p:nvPr/>
        </p:nvSpPr>
        <p:spPr>
          <a:xfrm>
            <a:off x="7013448" y="1572768"/>
            <a:ext cx="115214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差 ②-①</a:t>
            </a:r>
            <a:endParaRPr lang="en-US" sz="950" dirty="0"/>
          </a:p>
        </p:txBody>
      </p:sp>
      <p:sp>
        <p:nvSpPr>
          <p:cNvPr id="9" name="Shape 7"/>
          <p:cNvSpPr/>
          <p:nvPr/>
        </p:nvSpPr>
        <p:spPr>
          <a:xfrm>
            <a:off x="594360" y="1956816"/>
            <a:ext cx="7680960" cy="457200"/>
          </a:xfrm>
          <a:prstGeom prst="rect">
            <a:avLst/>
          </a:prstGeom>
          <a:solidFill>
            <a:srgbClr val="FFFFFF"/>
          </a:solidFill>
          <a:ln w="6350">
            <a:solidFill>
              <a:srgbClr val="DED5CE"/>
            </a:solidFill>
            <a:prstDash val="solid"/>
          </a:ln>
        </p:spPr>
      </p:sp>
      <p:sp>
        <p:nvSpPr>
          <p:cNvPr id="10" name="Text 8"/>
          <p:cNvSpPr/>
          <p:nvPr/>
        </p:nvSpPr>
        <p:spPr>
          <a:xfrm>
            <a:off x="704088" y="1956816"/>
            <a:ext cx="2889504" cy="457200"/>
          </a:xfrm>
          <a:prstGeom prst="rect">
            <a:avLst/>
          </a:prstGeom>
          <a:noFill/>
          <a:ln/>
        </p:spPr>
        <p:txBody>
          <a:bodyPr wrap="square" lIns="0" tIns="0" rIns="0" bIns="0" rtlCol="0" anchor="ctr"/>
          <a:lstStyle/>
          <a:p>
            <a:pPr algn="l" indent="0" marL="0">
              <a:buNone/>
            </a:pPr>
            <a:r>
              <a:rPr lang="en-US" sz="1050" dirty="0">
                <a:solidFill>
                  <a:srgbClr val="2B2B2B"/>
                </a:solidFill>
                <a:latin typeface="Arial" pitchFamily="34" charset="0"/>
                <a:ea typeface="Arial" pitchFamily="34" charset="-122"/>
                <a:cs typeface="Arial" pitchFamily="34" charset="-120"/>
              </a:rPr>
              <a:t>雑給（店舗人件費）</a:t>
            </a:r>
            <a:endParaRPr lang="en-US" sz="1050" dirty="0"/>
          </a:p>
        </p:txBody>
      </p:sp>
      <p:sp>
        <p:nvSpPr>
          <p:cNvPr id="11" name="Text 9"/>
          <p:cNvSpPr/>
          <p:nvPr/>
        </p:nvSpPr>
        <p:spPr>
          <a:xfrm>
            <a:off x="3813048" y="1956816"/>
            <a:ext cx="1472184" cy="457200"/>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1,976,720</a:t>
            </a:r>
            <a:endParaRPr lang="en-US" sz="1050" dirty="0"/>
          </a:p>
        </p:txBody>
      </p:sp>
      <p:sp>
        <p:nvSpPr>
          <p:cNvPr id="12" name="Text 10"/>
          <p:cNvSpPr/>
          <p:nvPr/>
        </p:nvSpPr>
        <p:spPr>
          <a:xfrm>
            <a:off x="5504688" y="1956816"/>
            <a:ext cx="1289304" cy="457200"/>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198,075</a:t>
            </a:r>
            <a:endParaRPr lang="en-US" sz="1050" dirty="0"/>
          </a:p>
        </p:txBody>
      </p:sp>
      <p:sp>
        <p:nvSpPr>
          <p:cNvPr id="13" name="Text 11"/>
          <p:cNvSpPr/>
          <p:nvPr/>
        </p:nvSpPr>
        <p:spPr>
          <a:xfrm>
            <a:off x="7013448" y="1956816"/>
            <a:ext cx="1152144" cy="457200"/>
          </a:xfrm>
          <a:prstGeom prst="rect">
            <a:avLst/>
          </a:prstGeom>
          <a:noFill/>
          <a:ln/>
        </p:spPr>
        <p:txBody>
          <a:bodyPr wrap="square" lIns="0" tIns="0" rIns="0" bIns="0" rtlCol="0" anchor="ctr"/>
          <a:lstStyle/>
          <a:p>
            <a:pPr algn="r" indent="0" marL="0">
              <a:buNone/>
            </a:pPr>
            <a:r>
              <a:rPr lang="en-US" sz="1050" dirty="0">
                <a:solidFill>
                  <a:srgbClr val="C0392B"/>
                </a:solidFill>
                <a:latin typeface="Arial" pitchFamily="34" charset="0"/>
                <a:ea typeface="Arial" pitchFamily="34" charset="-122"/>
                <a:cs typeface="Arial" pitchFamily="34" charset="-120"/>
              </a:rPr>
              <a:t>▲1,778,645</a:t>
            </a:r>
            <a:endParaRPr lang="en-US" sz="1050" dirty="0"/>
          </a:p>
        </p:txBody>
      </p:sp>
      <p:sp>
        <p:nvSpPr>
          <p:cNvPr id="14" name="Shape 12"/>
          <p:cNvSpPr/>
          <p:nvPr/>
        </p:nvSpPr>
        <p:spPr>
          <a:xfrm>
            <a:off x="594360" y="2414016"/>
            <a:ext cx="7680960" cy="457200"/>
          </a:xfrm>
          <a:prstGeom prst="rect">
            <a:avLst/>
          </a:prstGeom>
          <a:solidFill>
            <a:srgbClr val="FBF9F7"/>
          </a:solidFill>
          <a:ln w="6350">
            <a:solidFill>
              <a:srgbClr val="DED5CE"/>
            </a:solidFill>
            <a:prstDash val="solid"/>
          </a:ln>
        </p:spPr>
      </p:sp>
      <p:sp>
        <p:nvSpPr>
          <p:cNvPr id="15" name="Text 13"/>
          <p:cNvSpPr/>
          <p:nvPr/>
        </p:nvSpPr>
        <p:spPr>
          <a:xfrm>
            <a:off x="704088" y="2414016"/>
            <a:ext cx="2889504" cy="457200"/>
          </a:xfrm>
          <a:prstGeom prst="rect">
            <a:avLst/>
          </a:prstGeom>
          <a:noFill/>
          <a:ln/>
        </p:spPr>
        <p:txBody>
          <a:bodyPr wrap="square" lIns="0" tIns="0" rIns="0" bIns="0" rtlCol="0" anchor="ctr"/>
          <a:lstStyle/>
          <a:p>
            <a:pPr algn="l" indent="0" marL="0">
              <a:buNone/>
            </a:pPr>
            <a:r>
              <a:rPr lang="en-US" sz="1050" dirty="0">
                <a:solidFill>
                  <a:srgbClr val="2B2B2B"/>
                </a:solidFill>
                <a:latin typeface="Arial" pitchFamily="34" charset="0"/>
                <a:ea typeface="Arial" pitchFamily="34" charset="-122"/>
                <a:cs typeface="Arial" pitchFamily="34" charset="-120"/>
              </a:rPr>
              <a:t>従業員給与</a:t>
            </a:r>
            <a:endParaRPr lang="en-US" sz="1050" dirty="0"/>
          </a:p>
        </p:txBody>
      </p:sp>
      <p:sp>
        <p:nvSpPr>
          <p:cNvPr id="16" name="Text 14"/>
          <p:cNvSpPr/>
          <p:nvPr/>
        </p:nvSpPr>
        <p:spPr>
          <a:xfrm>
            <a:off x="3813048" y="2414016"/>
            <a:ext cx="1472184" cy="457200"/>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4,877,779</a:t>
            </a:r>
            <a:endParaRPr lang="en-US" sz="1050" dirty="0"/>
          </a:p>
        </p:txBody>
      </p:sp>
      <p:sp>
        <p:nvSpPr>
          <p:cNvPr id="17" name="Text 15"/>
          <p:cNvSpPr/>
          <p:nvPr/>
        </p:nvSpPr>
        <p:spPr>
          <a:xfrm>
            <a:off x="5504688" y="2414016"/>
            <a:ext cx="1289304" cy="457200"/>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2,844,602</a:t>
            </a:r>
            <a:endParaRPr lang="en-US" sz="1050" dirty="0"/>
          </a:p>
        </p:txBody>
      </p:sp>
      <p:sp>
        <p:nvSpPr>
          <p:cNvPr id="18" name="Text 16"/>
          <p:cNvSpPr/>
          <p:nvPr/>
        </p:nvSpPr>
        <p:spPr>
          <a:xfrm>
            <a:off x="7013448" y="2414016"/>
            <a:ext cx="1152144" cy="457200"/>
          </a:xfrm>
          <a:prstGeom prst="rect">
            <a:avLst/>
          </a:prstGeom>
          <a:noFill/>
          <a:ln/>
        </p:spPr>
        <p:txBody>
          <a:bodyPr wrap="square" lIns="0" tIns="0" rIns="0" bIns="0" rtlCol="0" anchor="ctr"/>
          <a:lstStyle/>
          <a:p>
            <a:pPr algn="r" indent="0" marL="0">
              <a:buNone/>
            </a:pPr>
            <a:r>
              <a:rPr lang="en-US" sz="1050" dirty="0">
                <a:solidFill>
                  <a:srgbClr val="C0392B"/>
                </a:solidFill>
                <a:latin typeface="Arial" pitchFamily="34" charset="0"/>
                <a:ea typeface="Arial" pitchFamily="34" charset="-122"/>
                <a:cs typeface="Arial" pitchFamily="34" charset="-120"/>
              </a:rPr>
              <a:t>▲2,033,177</a:t>
            </a:r>
            <a:endParaRPr lang="en-US" sz="1050" dirty="0"/>
          </a:p>
        </p:txBody>
      </p:sp>
      <p:sp>
        <p:nvSpPr>
          <p:cNvPr id="19" name="Shape 17"/>
          <p:cNvSpPr/>
          <p:nvPr/>
        </p:nvSpPr>
        <p:spPr>
          <a:xfrm>
            <a:off x="594360" y="2871216"/>
            <a:ext cx="7680960" cy="457200"/>
          </a:xfrm>
          <a:prstGeom prst="rect">
            <a:avLst/>
          </a:prstGeom>
          <a:solidFill>
            <a:srgbClr val="FFFFFF"/>
          </a:solidFill>
          <a:ln w="6350">
            <a:solidFill>
              <a:srgbClr val="DED5CE"/>
            </a:solidFill>
            <a:prstDash val="solid"/>
          </a:ln>
        </p:spPr>
      </p:sp>
      <p:sp>
        <p:nvSpPr>
          <p:cNvPr id="20" name="Text 18"/>
          <p:cNvSpPr/>
          <p:nvPr/>
        </p:nvSpPr>
        <p:spPr>
          <a:xfrm>
            <a:off x="704088" y="2871216"/>
            <a:ext cx="2889504" cy="457200"/>
          </a:xfrm>
          <a:prstGeom prst="rect">
            <a:avLst/>
          </a:prstGeom>
          <a:noFill/>
          <a:ln/>
        </p:spPr>
        <p:txBody>
          <a:bodyPr wrap="square" lIns="0" tIns="0" rIns="0" bIns="0" rtlCol="0" anchor="ctr"/>
          <a:lstStyle/>
          <a:p>
            <a:pPr algn="l" indent="0" marL="0">
              <a:buNone/>
            </a:pPr>
            <a:r>
              <a:rPr lang="en-US" sz="1050" dirty="0">
                <a:solidFill>
                  <a:srgbClr val="2B2B2B"/>
                </a:solidFill>
                <a:latin typeface="Arial" pitchFamily="34" charset="0"/>
                <a:ea typeface="Arial" pitchFamily="34" charset="-122"/>
                <a:cs typeface="Arial" pitchFamily="34" charset="-120"/>
              </a:rPr>
              <a:t>倉庫＆保管・移設代</a:t>
            </a:r>
            <a:endParaRPr lang="en-US" sz="1050" dirty="0"/>
          </a:p>
        </p:txBody>
      </p:sp>
      <p:sp>
        <p:nvSpPr>
          <p:cNvPr id="21" name="Text 19"/>
          <p:cNvSpPr/>
          <p:nvPr/>
        </p:nvSpPr>
        <p:spPr>
          <a:xfrm>
            <a:off x="3813048" y="2871216"/>
            <a:ext cx="1472184" cy="457200"/>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2,578,077</a:t>
            </a:r>
            <a:endParaRPr lang="en-US" sz="1050" dirty="0"/>
          </a:p>
        </p:txBody>
      </p:sp>
      <p:sp>
        <p:nvSpPr>
          <p:cNvPr id="22" name="Text 20"/>
          <p:cNvSpPr/>
          <p:nvPr/>
        </p:nvSpPr>
        <p:spPr>
          <a:xfrm>
            <a:off x="5504688" y="2871216"/>
            <a:ext cx="1289304" cy="457200"/>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272,484</a:t>
            </a:r>
            <a:endParaRPr lang="en-US" sz="1050" dirty="0"/>
          </a:p>
        </p:txBody>
      </p:sp>
      <p:sp>
        <p:nvSpPr>
          <p:cNvPr id="23" name="Text 21"/>
          <p:cNvSpPr/>
          <p:nvPr/>
        </p:nvSpPr>
        <p:spPr>
          <a:xfrm>
            <a:off x="7013448" y="2871216"/>
            <a:ext cx="1152144" cy="457200"/>
          </a:xfrm>
          <a:prstGeom prst="rect">
            <a:avLst/>
          </a:prstGeom>
          <a:noFill/>
          <a:ln/>
        </p:spPr>
        <p:txBody>
          <a:bodyPr wrap="square" lIns="0" tIns="0" rIns="0" bIns="0" rtlCol="0" anchor="ctr"/>
          <a:lstStyle/>
          <a:p>
            <a:pPr algn="r" indent="0" marL="0">
              <a:buNone/>
            </a:pPr>
            <a:r>
              <a:rPr lang="en-US" sz="1050" dirty="0">
                <a:solidFill>
                  <a:srgbClr val="C0392B"/>
                </a:solidFill>
                <a:latin typeface="Arial" pitchFamily="34" charset="0"/>
                <a:ea typeface="Arial" pitchFamily="34" charset="-122"/>
                <a:cs typeface="Arial" pitchFamily="34" charset="-120"/>
              </a:rPr>
              <a:t>▲2,305,593</a:t>
            </a:r>
            <a:endParaRPr lang="en-US" sz="1050" dirty="0"/>
          </a:p>
        </p:txBody>
      </p:sp>
      <p:sp>
        <p:nvSpPr>
          <p:cNvPr id="24" name="Shape 22"/>
          <p:cNvSpPr/>
          <p:nvPr/>
        </p:nvSpPr>
        <p:spPr>
          <a:xfrm>
            <a:off x="594360" y="3328416"/>
            <a:ext cx="7680960" cy="457200"/>
          </a:xfrm>
          <a:prstGeom prst="rect">
            <a:avLst/>
          </a:prstGeom>
          <a:solidFill>
            <a:srgbClr val="FBF9F7"/>
          </a:solidFill>
          <a:ln w="6350">
            <a:solidFill>
              <a:srgbClr val="DED5CE"/>
            </a:solidFill>
            <a:prstDash val="solid"/>
          </a:ln>
        </p:spPr>
      </p:sp>
      <p:sp>
        <p:nvSpPr>
          <p:cNvPr id="25" name="Text 23"/>
          <p:cNvSpPr/>
          <p:nvPr/>
        </p:nvSpPr>
        <p:spPr>
          <a:xfrm>
            <a:off x="704088" y="3328416"/>
            <a:ext cx="2889504" cy="457200"/>
          </a:xfrm>
          <a:prstGeom prst="rect">
            <a:avLst/>
          </a:prstGeom>
          <a:noFill/>
          <a:ln/>
        </p:spPr>
        <p:txBody>
          <a:bodyPr wrap="square" lIns="0" tIns="0" rIns="0" bIns="0" rtlCol="0" anchor="ctr"/>
          <a:lstStyle/>
          <a:p>
            <a:pPr algn="l" indent="0" marL="0">
              <a:buNone/>
            </a:pPr>
            <a:r>
              <a:rPr lang="en-US" sz="1050" dirty="0">
                <a:solidFill>
                  <a:srgbClr val="2B2B2B"/>
                </a:solidFill>
                <a:latin typeface="Arial" pitchFamily="34" charset="0"/>
                <a:ea typeface="Arial" pitchFamily="34" charset="-122"/>
                <a:cs typeface="Arial" pitchFamily="34" charset="-120"/>
              </a:rPr>
              <a:t>地代家賃（店舗賃料）</a:t>
            </a:r>
            <a:endParaRPr lang="en-US" sz="1050" dirty="0"/>
          </a:p>
        </p:txBody>
      </p:sp>
      <p:sp>
        <p:nvSpPr>
          <p:cNvPr id="26" name="Text 24"/>
          <p:cNvSpPr/>
          <p:nvPr/>
        </p:nvSpPr>
        <p:spPr>
          <a:xfrm>
            <a:off x="3813048" y="3328416"/>
            <a:ext cx="1472184" cy="457200"/>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5,000,985</a:t>
            </a:r>
            <a:endParaRPr lang="en-US" sz="1050" dirty="0"/>
          </a:p>
        </p:txBody>
      </p:sp>
      <p:sp>
        <p:nvSpPr>
          <p:cNvPr id="27" name="Text 25"/>
          <p:cNvSpPr/>
          <p:nvPr/>
        </p:nvSpPr>
        <p:spPr>
          <a:xfrm>
            <a:off x="5504688" y="3328416"/>
            <a:ext cx="1289304" cy="457200"/>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3,721,703</a:t>
            </a:r>
            <a:endParaRPr lang="en-US" sz="1050" dirty="0"/>
          </a:p>
        </p:txBody>
      </p:sp>
      <p:sp>
        <p:nvSpPr>
          <p:cNvPr id="28" name="Text 26"/>
          <p:cNvSpPr/>
          <p:nvPr/>
        </p:nvSpPr>
        <p:spPr>
          <a:xfrm>
            <a:off x="7013448" y="3328416"/>
            <a:ext cx="1152144" cy="457200"/>
          </a:xfrm>
          <a:prstGeom prst="rect">
            <a:avLst/>
          </a:prstGeom>
          <a:noFill/>
          <a:ln/>
        </p:spPr>
        <p:txBody>
          <a:bodyPr wrap="square" lIns="0" tIns="0" rIns="0" bIns="0" rtlCol="0" anchor="ctr"/>
          <a:lstStyle/>
          <a:p>
            <a:pPr algn="r" indent="0" marL="0">
              <a:buNone/>
            </a:pPr>
            <a:r>
              <a:rPr lang="en-US" sz="1050" dirty="0">
                <a:solidFill>
                  <a:srgbClr val="C0392B"/>
                </a:solidFill>
                <a:latin typeface="Arial" pitchFamily="34" charset="0"/>
                <a:ea typeface="Arial" pitchFamily="34" charset="-122"/>
                <a:cs typeface="Arial" pitchFamily="34" charset="-120"/>
              </a:rPr>
              <a:t>▲1,279,282</a:t>
            </a:r>
            <a:endParaRPr lang="en-US" sz="1050" dirty="0"/>
          </a:p>
        </p:txBody>
      </p:sp>
      <p:sp>
        <p:nvSpPr>
          <p:cNvPr id="29" name="Shape 27"/>
          <p:cNvSpPr/>
          <p:nvPr/>
        </p:nvSpPr>
        <p:spPr>
          <a:xfrm>
            <a:off x="594360" y="3785616"/>
            <a:ext cx="7680960" cy="457200"/>
          </a:xfrm>
          <a:prstGeom prst="rect">
            <a:avLst/>
          </a:prstGeom>
          <a:solidFill>
            <a:srgbClr val="FFFFFF"/>
          </a:solidFill>
          <a:ln w="6350">
            <a:solidFill>
              <a:srgbClr val="DED5CE"/>
            </a:solidFill>
            <a:prstDash val="solid"/>
          </a:ln>
        </p:spPr>
      </p:sp>
      <p:sp>
        <p:nvSpPr>
          <p:cNvPr id="30" name="Text 28"/>
          <p:cNvSpPr/>
          <p:nvPr/>
        </p:nvSpPr>
        <p:spPr>
          <a:xfrm>
            <a:off x="704088" y="3785616"/>
            <a:ext cx="2889504" cy="457200"/>
          </a:xfrm>
          <a:prstGeom prst="rect">
            <a:avLst/>
          </a:prstGeom>
          <a:noFill/>
          <a:ln/>
        </p:spPr>
        <p:txBody>
          <a:bodyPr wrap="square" lIns="0" tIns="0" rIns="0" bIns="0" rtlCol="0" anchor="ctr"/>
          <a:lstStyle/>
          <a:p>
            <a:pPr algn="l" indent="0" marL="0">
              <a:buNone/>
            </a:pPr>
            <a:r>
              <a:rPr lang="en-US" sz="1050" dirty="0">
                <a:solidFill>
                  <a:srgbClr val="2B2B2B"/>
                </a:solidFill>
                <a:latin typeface="Arial" pitchFamily="34" charset="0"/>
                <a:ea typeface="Arial" pitchFamily="34" charset="-122"/>
                <a:cs typeface="Arial" pitchFamily="34" charset="-120"/>
              </a:rPr>
              <a:t>支払手数料</a:t>
            </a:r>
            <a:endParaRPr lang="en-US" sz="1050" dirty="0"/>
          </a:p>
        </p:txBody>
      </p:sp>
      <p:sp>
        <p:nvSpPr>
          <p:cNvPr id="31" name="Text 29"/>
          <p:cNvSpPr/>
          <p:nvPr/>
        </p:nvSpPr>
        <p:spPr>
          <a:xfrm>
            <a:off x="3813048" y="3785616"/>
            <a:ext cx="1472184" cy="457200"/>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4,121,789</a:t>
            </a:r>
            <a:endParaRPr lang="en-US" sz="1050" dirty="0"/>
          </a:p>
        </p:txBody>
      </p:sp>
      <p:sp>
        <p:nvSpPr>
          <p:cNvPr id="32" name="Text 30"/>
          <p:cNvSpPr/>
          <p:nvPr/>
        </p:nvSpPr>
        <p:spPr>
          <a:xfrm>
            <a:off x="5504688" y="3785616"/>
            <a:ext cx="1289304" cy="457200"/>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3,258,950</a:t>
            </a:r>
            <a:endParaRPr lang="en-US" sz="1050" dirty="0"/>
          </a:p>
        </p:txBody>
      </p:sp>
      <p:sp>
        <p:nvSpPr>
          <p:cNvPr id="33" name="Text 31"/>
          <p:cNvSpPr/>
          <p:nvPr/>
        </p:nvSpPr>
        <p:spPr>
          <a:xfrm>
            <a:off x="7013448" y="3785616"/>
            <a:ext cx="1152144" cy="457200"/>
          </a:xfrm>
          <a:prstGeom prst="rect">
            <a:avLst/>
          </a:prstGeom>
          <a:noFill/>
          <a:ln/>
        </p:spPr>
        <p:txBody>
          <a:bodyPr wrap="square" lIns="0" tIns="0" rIns="0" bIns="0" rtlCol="0" anchor="ctr"/>
          <a:lstStyle/>
          <a:p>
            <a:pPr algn="r" indent="0" marL="0">
              <a:buNone/>
            </a:pPr>
            <a:r>
              <a:rPr lang="en-US" sz="1050" dirty="0">
                <a:solidFill>
                  <a:srgbClr val="C0392B"/>
                </a:solidFill>
                <a:latin typeface="Arial" pitchFamily="34" charset="0"/>
                <a:ea typeface="Arial" pitchFamily="34" charset="-122"/>
                <a:cs typeface="Arial" pitchFamily="34" charset="-120"/>
              </a:rPr>
              <a:t>▲862,839</a:t>
            </a:r>
            <a:endParaRPr lang="en-US" sz="1050" dirty="0"/>
          </a:p>
        </p:txBody>
      </p:sp>
      <p:sp>
        <p:nvSpPr>
          <p:cNvPr id="34" name="Shape 32"/>
          <p:cNvSpPr/>
          <p:nvPr/>
        </p:nvSpPr>
        <p:spPr>
          <a:xfrm>
            <a:off x="594360" y="4242816"/>
            <a:ext cx="7680960" cy="457200"/>
          </a:xfrm>
          <a:prstGeom prst="rect">
            <a:avLst/>
          </a:prstGeom>
          <a:solidFill>
            <a:srgbClr val="FBF9F7"/>
          </a:solidFill>
          <a:ln w="6350">
            <a:solidFill>
              <a:srgbClr val="DED5CE"/>
            </a:solidFill>
            <a:prstDash val="solid"/>
          </a:ln>
        </p:spPr>
      </p:sp>
      <p:sp>
        <p:nvSpPr>
          <p:cNvPr id="35" name="Text 33"/>
          <p:cNvSpPr/>
          <p:nvPr/>
        </p:nvSpPr>
        <p:spPr>
          <a:xfrm>
            <a:off x="704088" y="4242816"/>
            <a:ext cx="2889504" cy="457200"/>
          </a:xfrm>
          <a:prstGeom prst="rect">
            <a:avLst/>
          </a:prstGeom>
          <a:noFill/>
          <a:ln/>
        </p:spPr>
        <p:txBody>
          <a:bodyPr wrap="square" lIns="0" tIns="0" rIns="0" bIns="0" rtlCol="0" anchor="ctr"/>
          <a:lstStyle/>
          <a:p>
            <a:pPr algn="l" indent="0" marL="0">
              <a:buNone/>
            </a:pPr>
            <a:r>
              <a:rPr lang="en-US" sz="1050" dirty="0">
                <a:solidFill>
                  <a:srgbClr val="2B2B2B"/>
                </a:solidFill>
                <a:latin typeface="Arial" pitchFamily="34" charset="0"/>
                <a:ea typeface="Arial" pitchFamily="34" charset="-122"/>
                <a:cs typeface="Arial" pitchFamily="34" charset="-120"/>
              </a:rPr>
              <a:t>水道光熱費</a:t>
            </a:r>
            <a:endParaRPr lang="en-US" sz="1050" dirty="0"/>
          </a:p>
        </p:txBody>
      </p:sp>
      <p:sp>
        <p:nvSpPr>
          <p:cNvPr id="36" name="Text 34"/>
          <p:cNvSpPr/>
          <p:nvPr/>
        </p:nvSpPr>
        <p:spPr>
          <a:xfrm>
            <a:off x="3813048" y="4242816"/>
            <a:ext cx="1472184" cy="457200"/>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974,234</a:t>
            </a:r>
            <a:endParaRPr lang="en-US" sz="1050" dirty="0"/>
          </a:p>
        </p:txBody>
      </p:sp>
      <p:sp>
        <p:nvSpPr>
          <p:cNvPr id="37" name="Text 35"/>
          <p:cNvSpPr/>
          <p:nvPr/>
        </p:nvSpPr>
        <p:spPr>
          <a:xfrm>
            <a:off x="5504688" y="4242816"/>
            <a:ext cx="1289304" cy="457200"/>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687,496</a:t>
            </a:r>
            <a:endParaRPr lang="en-US" sz="1050" dirty="0"/>
          </a:p>
        </p:txBody>
      </p:sp>
      <p:sp>
        <p:nvSpPr>
          <p:cNvPr id="38" name="Text 36"/>
          <p:cNvSpPr/>
          <p:nvPr/>
        </p:nvSpPr>
        <p:spPr>
          <a:xfrm>
            <a:off x="7013448" y="4242816"/>
            <a:ext cx="1152144" cy="457200"/>
          </a:xfrm>
          <a:prstGeom prst="rect">
            <a:avLst/>
          </a:prstGeom>
          <a:noFill/>
          <a:ln/>
        </p:spPr>
        <p:txBody>
          <a:bodyPr wrap="square" lIns="0" tIns="0" rIns="0" bIns="0" rtlCol="0" anchor="ctr"/>
          <a:lstStyle/>
          <a:p>
            <a:pPr algn="r" indent="0" marL="0">
              <a:buNone/>
            </a:pPr>
            <a:r>
              <a:rPr lang="en-US" sz="1050" dirty="0">
                <a:solidFill>
                  <a:srgbClr val="C0392B"/>
                </a:solidFill>
                <a:latin typeface="Arial" pitchFamily="34" charset="0"/>
                <a:ea typeface="Arial" pitchFamily="34" charset="-122"/>
                <a:cs typeface="Arial" pitchFamily="34" charset="-120"/>
              </a:rPr>
              <a:t>▲286,738</a:t>
            </a:r>
            <a:endParaRPr lang="en-US" sz="1050" dirty="0"/>
          </a:p>
        </p:txBody>
      </p:sp>
      <p:sp>
        <p:nvSpPr>
          <p:cNvPr id="39" name="Shape 37"/>
          <p:cNvSpPr/>
          <p:nvPr/>
        </p:nvSpPr>
        <p:spPr>
          <a:xfrm>
            <a:off x="594360" y="4700016"/>
            <a:ext cx="7680960" cy="457200"/>
          </a:xfrm>
          <a:prstGeom prst="rect">
            <a:avLst/>
          </a:prstGeom>
          <a:solidFill>
            <a:srgbClr val="FFFFFF"/>
          </a:solidFill>
          <a:ln w="6350">
            <a:solidFill>
              <a:srgbClr val="DED5CE"/>
            </a:solidFill>
            <a:prstDash val="solid"/>
          </a:ln>
        </p:spPr>
      </p:sp>
      <p:sp>
        <p:nvSpPr>
          <p:cNvPr id="40" name="Text 38"/>
          <p:cNvSpPr/>
          <p:nvPr/>
        </p:nvSpPr>
        <p:spPr>
          <a:xfrm>
            <a:off x="704088" y="4700016"/>
            <a:ext cx="2889504" cy="457200"/>
          </a:xfrm>
          <a:prstGeom prst="rect">
            <a:avLst/>
          </a:prstGeom>
          <a:noFill/>
          <a:ln/>
        </p:spPr>
        <p:txBody>
          <a:bodyPr wrap="square" lIns="0" tIns="0" rIns="0" bIns="0" rtlCol="0" anchor="ctr"/>
          <a:lstStyle/>
          <a:p>
            <a:pPr algn="l" indent="0" marL="0">
              <a:buNone/>
            </a:pPr>
            <a:r>
              <a:rPr lang="en-US" sz="1050" dirty="0">
                <a:solidFill>
                  <a:srgbClr val="2B2B2B"/>
                </a:solidFill>
                <a:latin typeface="Arial" pitchFamily="34" charset="0"/>
                <a:ea typeface="Arial" pitchFamily="34" charset="-122"/>
                <a:cs typeface="Arial" pitchFamily="34" charset="-120"/>
              </a:rPr>
              <a:t>清掃費</a:t>
            </a:r>
            <a:endParaRPr lang="en-US" sz="1050" dirty="0"/>
          </a:p>
        </p:txBody>
      </p:sp>
      <p:sp>
        <p:nvSpPr>
          <p:cNvPr id="41" name="Text 39"/>
          <p:cNvSpPr/>
          <p:nvPr/>
        </p:nvSpPr>
        <p:spPr>
          <a:xfrm>
            <a:off x="3813048" y="4700016"/>
            <a:ext cx="1472184" cy="457200"/>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182,516</a:t>
            </a:r>
            <a:endParaRPr lang="en-US" sz="1050" dirty="0"/>
          </a:p>
        </p:txBody>
      </p:sp>
      <p:sp>
        <p:nvSpPr>
          <p:cNvPr id="42" name="Text 40"/>
          <p:cNvSpPr/>
          <p:nvPr/>
        </p:nvSpPr>
        <p:spPr>
          <a:xfrm>
            <a:off x="5504688" y="4700016"/>
            <a:ext cx="1289304" cy="457200"/>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0</a:t>
            </a:r>
            <a:endParaRPr lang="en-US" sz="1050" dirty="0"/>
          </a:p>
        </p:txBody>
      </p:sp>
      <p:sp>
        <p:nvSpPr>
          <p:cNvPr id="43" name="Text 41"/>
          <p:cNvSpPr/>
          <p:nvPr/>
        </p:nvSpPr>
        <p:spPr>
          <a:xfrm>
            <a:off x="7013448" y="4700016"/>
            <a:ext cx="1152144" cy="457200"/>
          </a:xfrm>
          <a:prstGeom prst="rect">
            <a:avLst/>
          </a:prstGeom>
          <a:noFill/>
          <a:ln/>
        </p:spPr>
        <p:txBody>
          <a:bodyPr wrap="square" lIns="0" tIns="0" rIns="0" bIns="0" rtlCol="0" anchor="ctr"/>
          <a:lstStyle/>
          <a:p>
            <a:pPr algn="r" indent="0" marL="0">
              <a:buNone/>
            </a:pPr>
            <a:r>
              <a:rPr lang="en-US" sz="1050" dirty="0">
                <a:solidFill>
                  <a:srgbClr val="C0392B"/>
                </a:solidFill>
                <a:latin typeface="Arial" pitchFamily="34" charset="0"/>
                <a:ea typeface="Arial" pitchFamily="34" charset="-122"/>
                <a:cs typeface="Arial" pitchFamily="34" charset="-120"/>
              </a:rPr>
              <a:t>▲182,516</a:t>
            </a:r>
            <a:endParaRPr lang="en-US" sz="1050" dirty="0"/>
          </a:p>
        </p:txBody>
      </p:sp>
      <p:sp>
        <p:nvSpPr>
          <p:cNvPr id="44" name="Shape 42"/>
          <p:cNvSpPr/>
          <p:nvPr/>
        </p:nvSpPr>
        <p:spPr>
          <a:xfrm>
            <a:off x="594360" y="5157216"/>
            <a:ext cx="7680960" cy="457200"/>
          </a:xfrm>
          <a:prstGeom prst="rect">
            <a:avLst/>
          </a:prstGeom>
          <a:solidFill>
            <a:srgbClr val="ECE2D0"/>
          </a:solidFill>
          <a:ln w="6350">
            <a:solidFill>
              <a:srgbClr val="DED5CE"/>
            </a:solidFill>
            <a:prstDash val="solid"/>
          </a:ln>
        </p:spPr>
      </p:sp>
      <p:sp>
        <p:nvSpPr>
          <p:cNvPr id="45" name="Text 43"/>
          <p:cNvSpPr/>
          <p:nvPr/>
        </p:nvSpPr>
        <p:spPr>
          <a:xfrm>
            <a:off x="704088" y="5157216"/>
            <a:ext cx="2889504" cy="457200"/>
          </a:xfrm>
          <a:prstGeom prst="rect">
            <a:avLst/>
          </a:prstGeom>
          <a:noFill/>
          <a:ln/>
        </p:spPr>
        <p:txBody>
          <a:bodyPr wrap="square" lIns="0" tIns="0" rIns="0" bIns="0" rtlCol="0" anchor="ctr"/>
          <a:lstStyle/>
          <a:p>
            <a:pPr algn="l" indent="0" marL="0">
              <a:buNone/>
            </a:pPr>
            <a:r>
              <a:rPr lang="en-US" sz="1050" b="1" dirty="0">
                <a:solidFill>
                  <a:srgbClr val="6D2E46"/>
                </a:solidFill>
                <a:latin typeface="Arial" pitchFamily="34" charset="0"/>
                <a:ea typeface="Arial" pitchFamily="34" charset="-122"/>
                <a:cs typeface="Arial" pitchFamily="34" charset="-120"/>
              </a:rPr>
              <a:t>全23科目 合計</a:t>
            </a:r>
            <a:endParaRPr lang="en-US" sz="1050" dirty="0"/>
          </a:p>
        </p:txBody>
      </p:sp>
      <p:sp>
        <p:nvSpPr>
          <p:cNvPr id="46" name="Text 44"/>
          <p:cNvSpPr/>
          <p:nvPr/>
        </p:nvSpPr>
        <p:spPr>
          <a:xfrm>
            <a:off x="3813048" y="5157216"/>
            <a:ext cx="1472184" cy="457200"/>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33,590,696</a:t>
            </a:r>
            <a:endParaRPr lang="en-US" sz="1050" dirty="0"/>
          </a:p>
        </p:txBody>
      </p:sp>
      <p:sp>
        <p:nvSpPr>
          <p:cNvPr id="47" name="Text 45"/>
          <p:cNvSpPr/>
          <p:nvPr/>
        </p:nvSpPr>
        <p:spPr>
          <a:xfrm>
            <a:off x="5504688" y="5157216"/>
            <a:ext cx="1289304" cy="457200"/>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25,013,422</a:t>
            </a:r>
            <a:endParaRPr lang="en-US" sz="1050" dirty="0"/>
          </a:p>
        </p:txBody>
      </p:sp>
      <p:sp>
        <p:nvSpPr>
          <p:cNvPr id="48" name="Text 46"/>
          <p:cNvSpPr/>
          <p:nvPr/>
        </p:nvSpPr>
        <p:spPr>
          <a:xfrm>
            <a:off x="7013448" y="5157216"/>
            <a:ext cx="1152144" cy="457200"/>
          </a:xfrm>
          <a:prstGeom prst="rect">
            <a:avLst/>
          </a:prstGeom>
          <a:noFill/>
          <a:ln/>
        </p:spPr>
        <p:txBody>
          <a:bodyPr wrap="square" lIns="0" tIns="0" rIns="0" bIns="0" rtlCol="0" anchor="ctr"/>
          <a:lstStyle/>
          <a:p>
            <a:pPr algn="r" indent="0" marL="0">
              <a:buNone/>
            </a:pPr>
            <a:r>
              <a:rPr lang="en-US" sz="1050" b="1" dirty="0">
                <a:solidFill>
                  <a:srgbClr val="C0392B"/>
                </a:solidFill>
                <a:latin typeface="Arial" pitchFamily="34" charset="0"/>
                <a:ea typeface="Arial" pitchFamily="34" charset="-122"/>
                <a:cs typeface="Arial" pitchFamily="34" charset="-120"/>
              </a:rPr>
              <a:t>▲8,577,274</a:t>
            </a:r>
            <a:endParaRPr lang="en-US" sz="1050" dirty="0"/>
          </a:p>
        </p:txBody>
      </p:sp>
      <p:sp>
        <p:nvSpPr>
          <p:cNvPr id="49" name="Shape 47"/>
          <p:cNvSpPr/>
          <p:nvPr/>
        </p:nvSpPr>
        <p:spPr>
          <a:xfrm>
            <a:off x="8641080" y="1572768"/>
            <a:ext cx="2926080" cy="2148840"/>
          </a:xfrm>
          <a:prstGeom prst="roundRect">
            <a:avLst>
              <a:gd name="adj" fmla="val 2553"/>
            </a:avLst>
          </a:prstGeom>
          <a:solidFill>
            <a:srgbClr val="6D2E46"/>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50" name="Text 48"/>
          <p:cNvSpPr/>
          <p:nvPr/>
        </p:nvSpPr>
        <p:spPr>
          <a:xfrm>
            <a:off x="8823960" y="1828800"/>
            <a:ext cx="2560320" cy="274320"/>
          </a:xfrm>
          <a:prstGeom prst="rect">
            <a:avLst/>
          </a:prstGeom>
          <a:noFill/>
          <a:ln/>
        </p:spPr>
        <p:txBody>
          <a:bodyPr wrap="square" lIns="0" tIns="0" rIns="0" bIns="0" rtlCol="0" anchor="ctr"/>
          <a:lstStyle/>
          <a:p>
            <a:pPr algn="ctr" indent="0" marL="0">
              <a:buNone/>
            </a:pPr>
            <a:r>
              <a:rPr lang="en-US" sz="1100" dirty="0">
                <a:solidFill>
                  <a:srgbClr val="ECE2D0"/>
                </a:solidFill>
                <a:latin typeface="Arial" pitchFamily="34" charset="0"/>
                <a:ea typeface="Arial" pitchFamily="34" charset="-122"/>
                <a:cs typeface="Arial" pitchFamily="34" charset="-120"/>
              </a:rPr>
              <a:t>年間削減額</a:t>
            </a:r>
            <a:endParaRPr lang="en-US" sz="1100" dirty="0"/>
          </a:p>
        </p:txBody>
      </p:sp>
      <p:sp>
        <p:nvSpPr>
          <p:cNvPr id="51" name="Text 49"/>
          <p:cNvSpPr/>
          <p:nvPr/>
        </p:nvSpPr>
        <p:spPr>
          <a:xfrm>
            <a:off x="8823960" y="2121408"/>
            <a:ext cx="2560320" cy="73152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▲103</a:t>
            </a:r>
            <a:endParaRPr lang="en-US" sz="4000" dirty="0"/>
          </a:p>
        </p:txBody>
      </p:sp>
      <p:sp>
        <p:nvSpPr>
          <p:cNvPr id="52" name="Text 50"/>
          <p:cNvSpPr/>
          <p:nvPr/>
        </p:nvSpPr>
        <p:spPr>
          <a:xfrm>
            <a:off x="8823960" y="2852928"/>
            <a:ext cx="2560320" cy="274320"/>
          </a:xfrm>
          <a:prstGeom prst="rect">
            <a:avLst/>
          </a:prstGeom>
          <a:noFill/>
          <a:ln/>
        </p:spPr>
        <p:txBody>
          <a:bodyPr wrap="square" lIns="0" tIns="0" rIns="0" bIns="0" rtlCol="0" anchor="ctr"/>
          <a:lstStyle/>
          <a:p>
            <a:pPr algn="ctr" indent="0" marL="0">
              <a:buNone/>
            </a:pPr>
            <a:r>
              <a:rPr lang="en-US" sz="1200" dirty="0">
                <a:solidFill>
                  <a:srgbClr val="ECE2D0"/>
                </a:solidFill>
                <a:latin typeface="Arial" pitchFamily="34" charset="0"/>
                <a:ea typeface="Arial" pitchFamily="34" charset="-122"/>
                <a:cs typeface="Arial" pitchFamily="34" charset="-120"/>
              </a:rPr>
              <a:t>百万円</a:t>
            </a:r>
            <a:endParaRPr lang="en-US" sz="1200" dirty="0"/>
          </a:p>
        </p:txBody>
      </p:sp>
      <p:sp>
        <p:nvSpPr>
          <p:cNvPr id="53" name="Text 51"/>
          <p:cNvSpPr/>
          <p:nvPr/>
        </p:nvSpPr>
        <p:spPr>
          <a:xfrm>
            <a:off x="8823960" y="3200400"/>
            <a:ext cx="2560320" cy="274320"/>
          </a:xfrm>
          <a:prstGeom prst="rect">
            <a:avLst/>
          </a:prstGeom>
          <a:noFill/>
          <a:ln/>
        </p:spPr>
        <p:txBody>
          <a:bodyPr wrap="square" lIns="0" tIns="0" rIns="0" bIns="0" rtlCol="0" anchor="ctr"/>
          <a:lstStyle/>
          <a:p>
            <a:pPr algn="ctr" indent="0" marL="0">
              <a:buNone/>
            </a:pPr>
            <a:r>
              <a:rPr lang="en-US" sz="950" dirty="0">
                <a:solidFill>
                  <a:srgbClr val="ECE2D0"/>
                </a:solidFill>
                <a:latin typeface="Arial" pitchFamily="34" charset="0"/>
                <a:ea typeface="Arial" pitchFamily="34" charset="-122"/>
                <a:cs typeface="Arial" pitchFamily="34" charset="-120"/>
              </a:rPr>
              <a:t>月▲8.58百万円 × 12か月</a:t>
            </a:r>
            <a:endParaRPr lang="en-US" sz="950" dirty="0"/>
          </a:p>
        </p:txBody>
      </p:sp>
      <p:sp>
        <p:nvSpPr>
          <p:cNvPr id="54" name="Shape 52"/>
          <p:cNvSpPr/>
          <p:nvPr/>
        </p:nvSpPr>
        <p:spPr>
          <a:xfrm>
            <a:off x="8641080" y="3886200"/>
            <a:ext cx="2926080" cy="1920240"/>
          </a:xfrm>
          <a:prstGeom prst="roundRect">
            <a:avLst>
              <a:gd name="adj" fmla="val 2857"/>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55" name="Text 53"/>
          <p:cNvSpPr/>
          <p:nvPr/>
        </p:nvSpPr>
        <p:spPr>
          <a:xfrm>
            <a:off x="8823960" y="4069080"/>
            <a:ext cx="2560320" cy="274320"/>
          </a:xfrm>
          <a:prstGeom prst="rect">
            <a:avLst/>
          </a:prstGeom>
          <a:noFill/>
          <a:ln/>
        </p:spPr>
        <p:txBody>
          <a:bodyPr wrap="square" lIns="0" tIns="0" rIns="0" bIns="0" rtlCol="0" anchor="ctr"/>
          <a:lstStyle/>
          <a:p>
            <a:pPr indent="0" marL="0">
              <a:buNone/>
            </a:pPr>
            <a:r>
              <a:rPr lang="en-US" sz="1100" b="1" dirty="0">
                <a:solidFill>
                  <a:srgbClr val="6D2E46"/>
                </a:solidFill>
                <a:latin typeface="Arial" pitchFamily="34" charset="0"/>
                <a:ea typeface="Arial" pitchFamily="34" charset="-122"/>
                <a:cs typeface="Arial" pitchFamily="34" charset="-120"/>
              </a:rPr>
              <a:t>撤退が確認できる点</a:t>
            </a:r>
            <a:endParaRPr lang="en-US" sz="1100" dirty="0"/>
          </a:p>
        </p:txBody>
      </p:sp>
      <p:sp>
        <p:nvSpPr>
          <p:cNvPr id="56" name="Text 54"/>
          <p:cNvSpPr/>
          <p:nvPr/>
        </p:nvSpPr>
        <p:spPr>
          <a:xfrm>
            <a:off x="8823960" y="4370832"/>
            <a:ext cx="2560320" cy="128016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2B2B2B"/>
                </a:solidFill>
                <a:latin typeface="Arial" pitchFamily="34" charset="0"/>
                <a:ea typeface="Arial" pitchFamily="34" charset="-122"/>
                <a:cs typeface="Arial" pitchFamily="34" charset="-120"/>
              </a:rPr>
              <a:t>清掃費が完全にゼロ</a:t>
            </a:r>
            <a:endParaRPr lang="en-US" sz="1050" dirty="0"/>
          </a:p>
          <a:p>
            <a:pPr marL="342900" indent="-342900">
              <a:spcAft>
                <a:spcPts val="400"/>
              </a:spcAft>
              <a:buSzPct val="100000"/>
              <a:buChar char="•"/>
            </a:pPr>
            <a:r>
              <a:rPr lang="en-US" sz="1050" dirty="0">
                <a:solidFill>
                  <a:srgbClr val="2B2B2B"/>
                </a:solidFill>
                <a:latin typeface="Arial" pitchFamily="34" charset="0"/>
                <a:ea typeface="Arial" pitchFamily="34" charset="-122"/>
                <a:cs typeface="Arial" pitchFamily="34" charset="-120"/>
              </a:rPr>
              <a:t>雑給が90%減</a:t>
            </a:r>
            <a:endParaRPr lang="en-US" sz="1050" dirty="0"/>
          </a:p>
          <a:p>
            <a:pPr marL="342900" indent="-342900">
              <a:spcAft>
                <a:spcPts val="400"/>
              </a:spcAft>
              <a:buSzPct val="100000"/>
              <a:buChar char="•"/>
            </a:pPr>
            <a:r>
              <a:rPr lang="en-US" sz="1050" dirty="0">
                <a:solidFill>
                  <a:srgbClr val="2B2B2B"/>
                </a:solidFill>
                <a:latin typeface="Arial" pitchFamily="34" charset="0"/>
                <a:ea typeface="Arial" pitchFamily="34" charset="-122"/>
                <a:cs typeface="Arial" pitchFamily="34" charset="-120"/>
              </a:rPr>
              <a:t>店舗賃料の減少</a:t>
            </a:r>
            <a:endParaRPr lang="en-US" sz="1050" dirty="0"/>
          </a:p>
          <a:p>
            <a:pPr marL="342900" indent="-342900">
              <a:spcAft>
                <a:spcPts val="400"/>
              </a:spcAft>
              <a:buSzPct val="100000"/>
              <a:buChar char="•"/>
            </a:pPr>
            <a:r>
              <a:rPr lang="en-US" sz="1050" dirty="0">
                <a:solidFill>
                  <a:srgbClr val="2B2B2B"/>
                </a:solidFill>
                <a:latin typeface="Arial" pitchFamily="34" charset="0"/>
                <a:ea typeface="Arial" pitchFamily="34" charset="-122"/>
                <a:cs typeface="Arial" pitchFamily="34" charset="-120"/>
              </a:rPr>
              <a:t>倉庫移設の完了</a:t>
            </a:r>
            <a:endParaRPr lang="en-US" sz="1050" dirty="0"/>
          </a:p>
        </p:txBody>
      </p:sp>
      <p:sp>
        <p:nvSpPr>
          <p:cNvPr id="57" name="Text 55"/>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出典：事業計画202608（銀行様）全社シート 販管費内訳（全23科目の月次実績）</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販管費の月次推移 － 削減は実行済み</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2026年3月をピークに、2026年6月は▲36.4%。以降はこの水準を横ばいで計画しています。</a:t>
            </a:r>
            <a:endParaRPr lang="en-US" sz="1250" dirty="0"/>
          </a:p>
        </p:txBody>
      </p:sp>
      <p:graphicFrame>
        <p:nvGraphicFramePr>
          <p:cNvPr id="4" name="Chart 0" descr=""/>
          <p:cNvGraphicFramePr/>
          <p:nvPr/>
        </p:nvGraphicFramePr>
        <p:xfrm>
          <a:off x="594360" y="1481328"/>
          <a:ext cx="7772400" cy="41148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686800" y="1481328"/>
            <a:ext cx="2880360" cy="1920240"/>
          </a:xfrm>
          <a:prstGeom prst="roundRect">
            <a:avLst>
              <a:gd name="adj" fmla="val 2857"/>
            </a:avLst>
          </a:prstGeom>
          <a:solidFill>
            <a:srgbClr val="6D2E46"/>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6" name="Text 3"/>
          <p:cNvSpPr/>
          <p:nvPr/>
        </p:nvSpPr>
        <p:spPr>
          <a:xfrm>
            <a:off x="8869680" y="1691640"/>
            <a:ext cx="2514600" cy="274320"/>
          </a:xfrm>
          <a:prstGeom prst="rect">
            <a:avLst/>
          </a:prstGeom>
          <a:noFill/>
          <a:ln/>
        </p:spPr>
        <p:txBody>
          <a:bodyPr wrap="square" lIns="0" tIns="0" rIns="0" bIns="0" rtlCol="0" anchor="ctr"/>
          <a:lstStyle/>
          <a:p>
            <a:pPr algn="ctr" indent="0" marL="0">
              <a:buNone/>
            </a:pPr>
            <a:r>
              <a:rPr lang="en-US" sz="1100" dirty="0">
                <a:solidFill>
                  <a:srgbClr val="ECE2D0"/>
                </a:solidFill>
                <a:latin typeface="Arial" pitchFamily="34" charset="0"/>
                <a:ea typeface="Arial" pitchFamily="34" charset="-122"/>
                <a:cs typeface="Arial" pitchFamily="34" charset="-120"/>
              </a:rPr>
              <a:t>ピーク → 直近</a:t>
            </a:r>
            <a:endParaRPr lang="en-US" sz="1100" dirty="0"/>
          </a:p>
        </p:txBody>
      </p:sp>
      <p:sp>
        <p:nvSpPr>
          <p:cNvPr id="7" name="Text 4"/>
          <p:cNvSpPr/>
          <p:nvPr/>
        </p:nvSpPr>
        <p:spPr>
          <a:xfrm>
            <a:off x="8869680" y="1965960"/>
            <a:ext cx="2514600" cy="685800"/>
          </a:xfrm>
          <a:prstGeom prst="rect">
            <a:avLst/>
          </a:prstGeom>
          <a:noFill/>
          <a:ln/>
        </p:spPr>
        <p:txBody>
          <a:bodyPr wrap="square" lIns="0" tIns="0" rIns="0" bIns="0" rtlCol="0" anchor="ctr"/>
          <a:lstStyle/>
          <a:p>
            <a:pPr algn="ctr" indent="0" marL="0">
              <a:buNone/>
            </a:pPr>
            <a:r>
              <a:rPr lang="en-US" sz="3600" b="1" dirty="0">
                <a:solidFill>
                  <a:srgbClr val="FFFFFF"/>
                </a:solidFill>
                <a:latin typeface="Cambria" pitchFamily="34" charset="0"/>
                <a:ea typeface="Cambria" pitchFamily="34" charset="-122"/>
                <a:cs typeface="Cambria" pitchFamily="34" charset="-120"/>
              </a:rPr>
              <a:t>▲36.4%</a:t>
            </a:r>
            <a:endParaRPr lang="en-US" sz="3600" dirty="0"/>
          </a:p>
        </p:txBody>
      </p:sp>
      <p:sp>
        <p:nvSpPr>
          <p:cNvPr id="8" name="Text 5"/>
          <p:cNvSpPr/>
          <p:nvPr/>
        </p:nvSpPr>
        <p:spPr>
          <a:xfrm>
            <a:off x="8869680" y="2670048"/>
            <a:ext cx="2514600" cy="548640"/>
          </a:xfrm>
          <a:prstGeom prst="rect">
            <a:avLst/>
          </a:prstGeom>
          <a:noFill/>
          <a:ln/>
        </p:spPr>
        <p:txBody>
          <a:bodyPr wrap="square" lIns="0" tIns="0" rIns="0" bIns="0" rtlCol="0" anchor="ctr"/>
          <a:lstStyle/>
          <a:p>
            <a:pPr algn="ctr" indent="0" marL="0">
              <a:buNone/>
            </a:pPr>
            <a:r>
              <a:rPr lang="en-US" sz="1050" dirty="0">
                <a:solidFill>
                  <a:srgbClr val="ECE2D0"/>
                </a:solidFill>
                <a:latin typeface="Arial" pitchFamily="34" charset="0"/>
                <a:ea typeface="Arial" pitchFamily="34" charset="-122"/>
                <a:cs typeface="Arial" pitchFamily="34" charset="-120"/>
              </a:rPr>
              <a:t>38.7百万円（26/3）</a:t>
            </a:r>
            <a:endParaRPr lang="en-US" sz="1050" dirty="0"/>
          </a:p>
          <a:p>
            <a:pPr algn="ctr" indent="0" marL="0">
              <a:buNone/>
            </a:pPr>
            <a:r>
              <a:rPr lang="en-US" sz="1050" dirty="0">
                <a:solidFill>
                  <a:srgbClr val="ECE2D0"/>
                </a:solidFill>
                <a:latin typeface="Arial" pitchFamily="34" charset="0"/>
                <a:ea typeface="Arial" pitchFamily="34" charset="-122"/>
                <a:cs typeface="Arial" pitchFamily="34" charset="-120"/>
              </a:rPr>
              <a:t>→ 24.6百万円（26/6）</a:t>
            </a:r>
            <a:endParaRPr lang="en-US" sz="1050" dirty="0"/>
          </a:p>
        </p:txBody>
      </p:sp>
      <p:sp>
        <p:nvSpPr>
          <p:cNvPr id="9" name="Shape 6"/>
          <p:cNvSpPr/>
          <p:nvPr/>
        </p:nvSpPr>
        <p:spPr>
          <a:xfrm>
            <a:off x="8686800" y="3566160"/>
            <a:ext cx="2880360" cy="2029968"/>
          </a:xfrm>
          <a:prstGeom prst="roundRect">
            <a:avLst>
              <a:gd name="adj" fmla="val 2703"/>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0" name="Text 7"/>
          <p:cNvSpPr/>
          <p:nvPr/>
        </p:nvSpPr>
        <p:spPr>
          <a:xfrm>
            <a:off x="8869680" y="3749040"/>
            <a:ext cx="2514600" cy="274320"/>
          </a:xfrm>
          <a:prstGeom prst="rect">
            <a:avLst/>
          </a:prstGeom>
          <a:noFill/>
          <a:ln/>
        </p:spPr>
        <p:txBody>
          <a:bodyPr wrap="square" lIns="0" tIns="0" rIns="0" bIns="0" rtlCol="0" anchor="ctr"/>
          <a:lstStyle/>
          <a:p>
            <a:pPr indent="0" marL="0">
              <a:buNone/>
            </a:pPr>
            <a:r>
              <a:rPr lang="en-US" sz="1100" b="1" dirty="0">
                <a:solidFill>
                  <a:srgbClr val="6D2E46"/>
                </a:solidFill>
                <a:latin typeface="Arial" pitchFamily="34" charset="0"/>
                <a:ea typeface="Arial" pitchFamily="34" charset="-122"/>
                <a:cs typeface="Arial" pitchFamily="34" charset="-120"/>
              </a:rPr>
              <a:t>計画の前提</a:t>
            </a:r>
            <a:endParaRPr lang="en-US" sz="1100" dirty="0"/>
          </a:p>
        </p:txBody>
      </p:sp>
      <p:sp>
        <p:nvSpPr>
          <p:cNvPr id="11" name="Text 8"/>
          <p:cNvSpPr/>
          <p:nvPr/>
        </p:nvSpPr>
        <p:spPr>
          <a:xfrm>
            <a:off x="8869680" y="4041648"/>
            <a:ext cx="2514600" cy="1371600"/>
          </a:xfrm>
          <a:prstGeom prst="rect">
            <a:avLst/>
          </a:prstGeom>
          <a:noFill/>
          <a:ln/>
        </p:spPr>
        <p:txBody>
          <a:bodyPr wrap="square" lIns="0" tIns="0" rIns="0" bIns="0" rtlCol="0" anchor="t"/>
          <a:lstStyle/>
          <a:p>
            <a:pPr indent="0" marL="0">
              <a:buNone/>
            </a:pPr>
            <a:r>
              <a:rPr lang="en-US" sz="1050" dirty="0">
                <a:solidFill>
                  <a:srgbClr val="2B2B2B"/>
                </a:solidFill>
                <a:latin typeface="Arial" pitchFamily="34" charset="0"/>
                <a:ea typeface="Arial" pitchFamily="34" charset="-122"/>
                <a:cs typeface="Arial" pitchFamily="34" charset="-120"/>
              </a:rPr>
              <a:t>FY2027の販管費は、2026年4-6月の実績平均 25.0百万円/月をそのまま横ばいで置いています。さらなる削減は織り込んでいません。</a:t>
            </a:r>
            <a:endParaRPr lang="en-US" sz="1050" dirty="0"/>
          </a:p>
        </p:txBody>
      </p:sp>
      <p:sp>
        <p:nvSpPr>
          <p:cNvPr id="12" name="Text 9"/>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出典：事業計画202608（銀行様）全社シート。2026/07以降は見込値のため本グラフから除外。</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撤退後の実力値 － 2026年4-6月の月次平均</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この3か月が、飲食撤退後のWineBank単体の実力です。FY2027はここを起点にしています。（単位：円）</a:t>
            </a:r>
            <a:endParaRPr lang="en-US" sz="1250" dirty="0"/>
          </a:p>
        </p:txBody>
      </p:sp>
      <p:sp>
        <p:nvSpPr>
          <p:cNvPr id="4" name="Shape 2"/>
          <p:cNvSpPr/>
          <p:nvPr/>
        </p:nvSpPr>
        <p:spPr>
          <a:xfrm>
            <a:off x="594360" y="1554480"/>
            <a:ext cx="5943600" cy="676656"/>
          </a:xfrm>
          <a:prstGeom prst="roundRect">
            <a:avLst>
              <a:gd name="adj" fmla="val 6757"/>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5" name="Text 3"/>
          <p:cNvSpPr/>
          <p:nvPr/>
        </p:nvSpPr>
        <p:spPr>
          <a:xfrm>
            <a:off x="868680" y="1554480"/>
            <a:ext cx="2194560" cy="676656"/>
          </a:xfrm>
          <a:prstGeom prst="rect">
            <a:avLst/>
          </a:prstGeom>
          <a:noFill/>
          <a:ln/>
        </p:spPr>
        <p:txBody>
          <a:bodyPr wrap="square" lIns="0" tIns="0" rIns="0" bIns="0" rtlCol="0" anchor="ctr"/>
          <a:lstStyle/>
          <a:p>
            <a:pPr indent="0" marL="0">
              <a:buNone/>
            </a:pPr>
            <a:r>
              <a:rPr lang="en-US" sz="1300" dirty="0">
                <a:solidFill>
                  <a:srgbClr val="2B2B2B"/>
                </a:solidFill>
                <a:latin typeface="Arial" pitchFamily="34" charset="0"/>
                <a:ea typeface="Arial" pitchFamily="34" charset="-122"/>
                <a:cs typeface="Arial" pitchFamily="34" charset="-120"/>
              </a:rPr>
              <a:t>売上</a:t>
            </a:r>
            <a:endParaRPr lang="en-US" sz="1300" dirty="0"/>
          </a:p>
        </p:txBody>
      </p:sp>
      <p:sp>
        <p:nvSpPr>
          <p:cNvPr id="6" name="Text 4"/>
          <p:cNvSpPr/>
          <p:nvPr/>
        </p:nvSpPr>
        <p:spPr>
          <a:xfrm>
            <a:off x="3063240" y="1554480"/>
            <a:ext cx="2194560" cy="676656"/>
          </a:xfrm>
          <a:prstGeom prst="rect">
            <a:avLst/>
          </a:prstGeom>
          <a:noFill/>
          <a:ln/>
        </p:spPr>
        <p:txBody>
          <a:bodyPr wrap="square" lIns="0" tIns="0" rIns="0" bIns="0" rtlCol="0" anchor="ctr"/>
          <a:lstStyle/>
          <a:p>
            <a:pPr algn="r" indent="0" marL="0">
              <a:buNone/>
            </a:pPr>
            <a:r>
              <a:rPr lang="en-US" sz="1600" b="1" dirty="0">
                <a:solidFill>
                  <a:srgbClr val="6D2E46"/>
                </a:solidFill>
                <a:latin typeface="Cambria" pitchFamily="34" charset="0"/>
                <a:ea typeface="Cambria" pitchFamily="34" charset="-122"/>
                <a:cs typeface="Cambria" pitchFamily="34" charset="-120"/>
              </a:rPr>
              <a:t>32,428,397</a:t>
            </a:r>
            <a:endParaRPr lang="en-US" sz="1600" dirty="0"/>
          </a:p>
        </p:txBody>
      </p:sp>
      <p:sp>
        <p:nvSpPr>
          <p:cNvPr id="7" name="Text 5"/>
          <p:cNvSpPr/>
          <p:nvPr/>
        </p:nvSpPr>
        <p:spPr>
          <a:xfrm>
            <a:off x="5349240" y="1554480"/>
            <a:ext cx="1005840" cy="676656"/>
          </a:xfrm>
          <a:prstGeom prst="rect">
            <a:avLst/>
          </a:prstGeom>
          <a:noFill/>
          <a:ln/>
        </p:spPr>
        <p:txBody>
          <a:bodyPr wrap="square" lIns="0" tIns="0" rIns="0" bIns="0" rtlCol="0" anchor="ctr"/>
          <a:lstStyle/>
          <a:p>
            <a:pPr algn="r" indent="0" marL="0">
              <a:buNone/>
            </a:pPr>
            <a:endParaRPr lang="en-US" sz="950" dirty="0"/>
          </a:p>
        </p:txBody>
      </p:sp>
      <p:sp>
        <p:nvSpPr>
          <p:cNvPr id="8" name="Shape 6"/>
          <p:cNvSpPr/>
          <p:nvPr/>
        </p:nvSpPr>
        <p:spPr>
          <a:xfrm>
            <a:off x="594360" y="2340864"/>
            <a:ext cx="5943600" cy="676656"/>
          </a:xfrm>
          <a:prstGeom prst="roundRect">
            <a:avLst>
              <a:gd name="adj" fmla="val 6757"/>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9" name="Text 7"/>
          <p:cNvSpPr/>
          <p:nvPr/>
        </p:nvSpPr>
        <p:spPr>
          <a:xfrm>
            <a:off x="868680" y="2340864"/>
            <a:ext cx="2194560" cy="676656"/>
          </a:xfrm>
          <a:prstGeom prst="rect">
            <a:avLst/>
          </a:prstGeom>
          <a:noFill/>
          <a:ln/>
        </p:spPr>
        <p:txBody>
          <a:bodyPr wrap="square" lIns="0" tIns="0" rIns="0" bIns="0" rtlCol="0" anchor="ctr"/>
          <a:lstStyle/>
          <a:p>
            <a:pPr indent="0" marL="0">
              <a:buNone/>
            </a:pPr>
            <a:r>
              <a:rPr lang="en-US" sz="1300" dirty="0">
                <a:solidFill>
                  <a:srgbClr val="2B2B2B"/>
                </a:solidFill>
                <a:latin typeface="Arial" pitchFamily="34" charset="0"/>
                <a:ea typeface="Arial" pitchFamily="34" charset="-122"/>
                <a:cs typeface="Arial" pitchFamily="34" charset="-120"/>
              </a:rPr>
              <a:t>売上原価</a:t>
            </a:r>
            <a:endParaRPr lang="en-US" sz="1300" dirty="0"/>
          </a:p>
        </p:txBody>
      </p:sp>
      <p:sp>
        <p:nvSpPr>
          <p:cNvPr id="10" name="Text 8"/>
          <p:cNvSpPr/>
          <p:nvPr/>
        </p:nvSpPr>
        <p:spPr>
          <a:xfrm>
            <a:off x="3063240" y="2340864"/>
            <a:ext cx="2194560" cy="676656"/>
          </a:xfrm>
          <a:prstGeom prst="rect">
            <a:avLst/>
          </a:prstGeom>
          <a:noFill/>
          <a:ln/>
        </p:spPr>
        <p:txBody>
          <a:bodyPr wrap="square" lIns="0" tIns="0" rIns="0" bIns="0" rtlCol="0" anchor="ctr"/>
          <a:lstStyle/>
          <a:p>
            <a:pPr algn="r" indent="0" marL="0">
              <a:buNone/>
            </a:pPr>
            <a:r>
              <a:rPr lang="en-US" sz="1600" b="1" dirty="0">
                <a:solidFill>
                  <a:srgbClr val="6D2E46"/>
                </a:solidFill>
                <a:latin typeface="Cambria" pitchFamily="34" charset="0"/>
                <a:ea typeface="Cambria" pitchFamily="34" charset="-122"/>
                <a:cs typeface="Cambria" pitchFamily="34" charset="-120"/>
              </a:rPr>
              <a:t>▲15,711,570</a:t>
            </a:r>
            <a:endParaRPr lang="en-US" sz="1600" dirty="0"/>
          </a:p>
        </p:txBody>
      </p:sp>
      <p:sp>
        <p:nvSpPr>
          <p:cNvPr id="11" name="Text 9"/>
          <p:cNvSpPr/>
          <p:nvPr/>
        </p:nvSpPr>
        <p:spPr>
          <a:xfrm>
            <a:off x="5349240" y="2340864"/>
            <a:ext cx="1005840" cy="676656"/>
          </a:xfrm>
          <a:prstGeom prst="rect">
            <a:avLst/>
          </a:prstGeom>
          <a:noFill/>
          <a:ln/>
        </p:spPr>
        <p:txBody>
          <a:bodyPr wrap="square" lIns="0" tIns="0" rIns="0" bIns="0" rtlCol="0" anchor="ctr"/>
          <a:lstStyle/>
          <a:p>
            <a:pPr algn="r" indent="0" marL="0">
              <a:buNone/>
            </a:pPr>
            <a:endParaRPr lang="en-US" sz="950" dirty="0"/>
          </a:p>
        </p:txBody>
      </p:sp>
      <p:sp>
        <p:nvSpPr>
          <p:cNvPr id="12" name="Shape 10"/>
          <p:cNvSpPr/>
          <p:nvPr/>
        </p:nvSpPr>
        <p:spPr>
          <a:xfrm>
            <a:off x="594360" y="3127248"/>
            <a:ext cx="5943600" cy="676656"/>
          </a:xfrm>
          <a:prstGeom prst="roundRect">
            <a:avLst>
              <a:gd name="adj" fmla="val 6757"/>
            </a:avLst>
          </a:prstGeom>
          <a:solidFill>
            <a:srgbClr val="ECE2D0"/>
          </a:solidFill>
          <a:ln w="12700">
            <a:solidFill>
              <a:srgbClr val="6D2E46"/>
            </a:solidFill>
            <a:prstDash val="solid"/>
          </a:ln>
          <a:effectLst>
            <a:outerShdw sx="100000" sy="100000" kx="0" ky="0" algn="bl" rotWithShape="0" blurRad="127000" dist="25400" dir="5400000">
              <a:srgbClr val="000000">
                <a:alpha val="10000"/>
              </a:srgbClr>
            </a:outerShdw>
          </a:effectLst>
        </p:spPr>
      </p:sp>
      <p:sp>
        <p:nvSpPr>
          <p:cNvPr id="13" name="Text 11"/>
          <p:cNvSpPr/>
          <p:nvPr/>
        </p:nvSpPr>
        <p:spPr>
          <a:xfrm>
            <a:off x="868680" y="3127248"/>
            <a:ext cx="2194560" cy="676656"/>
          </a:xfrm>
          <a:prstGeom prst="rect">
            <a:avLst/>
          </a:prstGeom>
          <a:noFill/>
          <a:ln/>
        </p:spPr>
        <p:txBody>
          <a:bodyPr wrap="square" lIns="0" tIns="0" rIns="0" bIns="0" rtlCol="0" anchor="ctr"/>
          <a:lstStyle/>
          <a:p>
            <a:pPr indent="0" marL="0">
              <a:buNone/>
            </a:pPr>
            <a:r>
              <a:rPr lang="en-US" sz="1300" b="1" dirty="0">
                <a:solidFill>
                  <a:srgbClr val="2B2B2B"/>
                </a:solidFill>
                <a:latin typeface="Arial" pitchFamily="34" charset="0"/>
                <a:ea typeface="Arial" pitchFamily="34" charset="-122"/>
                <a:cs typeface="Arial" pitchFamily="34" charset="-120"/>
              </a:rPr>
              <a:t>売上総利益</a:t>
            </a:r>
            <a:endParaRPr lang="en-US" sz="1300" dirty="0"/>
          </a:p>
        </p:txBody>
      </p:sp>
      <p:sp>
        <p:nvSpPr>
          <p:cNvPr id="14" name="Text 12"/>
          <p:cNvSpPr/>
          <p:nvPr/>
        </p:nvSpPr>
        <p:spPr>
          <a:xfrm>
            <a:off x="3063240" y="3127248"/>
            <a:ext cx="2194560" cy="676656"/>
          </a:xfrm>
          <a:prstGeom prst="rect">
            <a:avLst/>
          </a:prstGeom>
          <a:noFill/>
          <a:ln/>
        </p:spPr>
        <p:txBody>
          <a:bodyPr wrap="square" lIns="0" tIns="0" rIns="0" bIns="0" rtlCol="0" anchor="ctr"/>
          <a:lstStyle/>
          <a:p>
            <a:pPr algn="r" indent="0" marL="0">
              <a:buNone/>
            </a:pPr>
            <a:r>
              <a:rPr lang="en-US" sz="1600" b="1" dirty="0">
                <a:solidFill>
                  <a:srgbClr val="6D2E46"/>
                </a:solidFill>
                <a:latin typeface="Cambria" pitchFamily="34" charset="0"/>
                <a:ea typeface="Cambria" pitchFamily="34" charset="-122"/>
                <a:cs typeface="Cambria" pitchFamily="34" charset="-120"/>
              </a:rPr>
              <a:t>16,716,827</a:t>
            </a:r>
            <a:endParaRPr lang="en-US" sz="1600" dirty="0"/>
          </a:p>
        </p:txBody>
      </p:sp>
      <p:sp>
        <p:nvSpPr>
          <p:cNvPr id="15" name="Text 13"/>
          <p:cNvSpPr/>
          <p:nvPr/>
        </p:nvSpPr>
        <p:spPr>
          <a:xfrm>
            <a:off x="5349240" y="3127248"/>
            <a:ext cx="1005840" cy="676656"/>
          </a:xfrm>
          <a:prstGeom prst="rect">
            <a:avLst/>
          </a:prstGeom>
          <a:noFill/>
          <a:ln/>
        </p:spPr>
        <p:txBody>
          <a:bodyPr wrap="square" lIns="0" tIns="0" rIns="0" bIns="0" rtlCol="0" anchor="ctr"/>
          <a:lstStyle/>
          <a:p>
            <a:pPr algn="r" indent="0" marL="0">
              <a:buNone/>
            </a:pPr>
            <a:r>
              <a:rPr lang="en-US" sz="950" dirty="0">
                <a:solidFill>
                  <a:srgbClr val="7A6A64"/>
                </a:solidFill>
                <a:latin typeface="Arial" pitchFamily="34" charset="0"/>
                <a:ea typeface="Arial" pitchFamily="34" charset="-122"/>
                <a:cs typeface="Arial" pitchFamily="34" charset="-120"/>
              </a:rPr>
              <a:t>粗利率 51.5%</a:t>
            </a:r>
            <a:endParaRPr lang="en-US" sz="950" dirty="0"/>
          </a:p>
        </p:txBody>
      </p:sp>
      <p:sp>
        <p:nvSpPr>
          <p:cNvPr id="16" name="Shape 14"/>
          <p:cNvSpPr/>
          <p:nvPr/>
        </p:nvSpPr>
        <p:spPr>
          <a:xfrm>
            <a:off x="594360" y="3913632"/>
            <a:ext cx="5943600" cy="676656"/>
          </a:xfrm>
          <a:prstGeom prst="roundRect">
            <a:avLst>
              <a:gd name="adj" fmla="val 6757"/>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7" name="Text 15"/>
          <p:cNvSpPr/>
          <p:nvPr/>
        </p:nvSpPr>
        <p:spPr>
          <a:xfrm>
            <a:off x="868680" y="3913632"/>
            <a:ext cx="2194560" cy="676656"/>
          </a:xfrm>
          <a:prstGeom prst="rect">
            <a:avLst/>
          </a:prstGeom>
          <a:noFill/>
          <a:ln/>
        </p:spPr>
        <p:txBody>
          <a:bodyPr wrap="square" lIns="0" tIns="0" rIns="0" bIns="0" rtlCol="0" anchor="ctr"/>
          <a:lstStyle/>
          <a:p>
            <a:pPr indent="0" marL="0">
              <a:buNone/>
            </a:pPr>
            <a:r>
              <a:rPr lang="en-US" sz="1300" dirty="0">
                <a:solidFill>
                  <a:srgbClr val="2B2B2B"/>
                </a:solidFill>
                <a:latin typeface="Arial" pitchFamily="34" charset="0"/>
                <a:ea typeface="Arial" pitchFamily="34" charset="-122"/>
                <a:cs typeface="Arial" pitchFamily="34" charset="-120"/>
              </a:rPr>
              <a:t>販管費</a:t>
            </a:r>
            <a:endParaRPr lang="en-US" sz="1300" dirty="0"/>
          </a:p>
        </p:txBody>
      </p:sp>
      <p:sp>
        <p:nvSpPr>
          <p:cNvPr id="18" name="Text 16"/>
          <p:cNvSpPr/>
          <p:nvPr/>
        </p:nvSpPr>
        <p:spPr>
          <a:xfrm>
            <a:off x="3063240" y="3913632"/>
            <a:ext cx="2194560" cy="676656"/>
          </a:xfrm>
          <a:prstGeom prst="rect">
            <a:avLst/>
          </a:prstGeom>
          <a:noFill/>
          <a:ln/>
        </p:spPr>
        <p:txBody>
          <a:bodyPr wrap="square" lIns="0" tIns="0" rIns="0" bIns="0" rtlCol="0" anchor="ctr"/>
          <a:lstStyle/>
          <a:p>
            <a:pPr algn="r" indent="0" marL="0">
              <a:buNone/>
            </a:pPr>
            <a:r>
              <a:rPr lang="en-US" sz="1600" b="1" dirty="0">
                <a:solidFill>
                  <a:srgbClr val="6D2E46"/>
                </a:solidFill>
                <a:latin typeface="Cambria" pitchFamily="34" charset="0"/>
                <a:ea typeface="Cambria" pitchFamily="34" charset="-122"/>
                <a:cs typeface="Cambria" pitchFamily="34" charset="-120"/>
              </a:rPr>
              <a:t>▲25,013,422</a:t>
            </a:r>
            <a:endParaRPr lang="en-US" sz="1600" dirty="0"/>
          </a:p>
        </p:txBody>
      </p:sp>
      <p:sp>
        <p:nvSpPr>
          <p:cNvPr id="19" name="Text 17"/>
          <p:cNvSpPr/>
          <p:nvPr/>
        </p:nvSpPr>
        <p:spPr>
          <a:xfrm>
            <a:off x="5349240" y="3913632"/>
            <a:ext cx="1005840" cy="676656"/>
          </a:xfrm>
          <a:prstGeom prst="rect">
            <a:avLst/>
          </a:prstGeom>
          <a:noFill/>
          <a:ln/>
        </p:spPr>
        <p:txBody>
          <a:bodyPr wrap="square" lIns="0" tIns="0" rIns="0" bIns="0" rtlCol="0" anchor="ctr"/>
          <a:lstStyle/>
          <a:p>
            <a:pPr algn="r" indent="0" marL="0">
              <a:buNone/>
            </a:pPr>
            <a:r>
              <a:rPr lang="en-US" sz="950" dirty="0">
                <a:solidFill>
                  <a:srgbClr val="7A6A64"/>
                </a:solidFill>
                <a:latin typeface="Arial" pitchFamily="34" charset="0"/>
                <a:ea typeface="Arial" pitchFamily="34" charset="-122"/>
                <a:cs typeface="Arial" pitchFamily="34" charset="-120"/>
              </a:rPr>
              <a:t>全23科目</a:t>
            </a:r>
            <a:endParaRPr lang="en-US" sz="950" dirty="0"/>
          </a:p>
        </p:txBody>
      </p:sp>
      <p:sp>
        <p:nvSpPr>
          <p:cNvPr id="20" name="Shape 18"/>
          <p:cNvSpPr/>
          <p:nvPr/>
        </p:nvSpPr>
        <p:spPr>
          <a:xfrm>
            <a:off x="594360" y="4700016"/>
            <a:ext cx="5943600" cy="676656"/>
          </a:xfrm>
          <a:prstGeom prst="roundRect">
            <a:avLst>
              <a:gd name="adj" fmla="val 6757"/>
            </a:avLst>
          </a:prstGeom>
          <a:solidFill>
            <a:srgbClr val="6D2E46"/>
          </a:solidFill>
          <a:ln w="12700">
            <a:solidFill>
              <a:srgbClr val="6D2E46"/>
            </a:solidFill>
            <a:prstDash val="solid"/>
          </a:ln>
          <a:effectLst>
            <a:outerShdw sx="100000" sy="100000" kx="0" ky="0" algn="bl" rotWithShape="0" blurRad="127000" dist="25400" dir="5400000">
              <a:srgbClr val="000000">
                <a:alpha val="10000"/>
              </a:srgbClr>
            </a:outerShdw>
          </a:effectLst>
        </p:spPr>
      </p:sp>
      <p:sp>
        <p:nvSpPr>
          <p:cNvPr id="21" name="Text 19"/>
          <p:cNvSpPr/>
          <p:nvPr/>
        </p:nvSpPr>
        <p:spPr>
          <a:xfrm>
            <a:off x="868680" y="4700016"/>
            <a:ext cx="2194560" cy="676656"/>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営業利益</a:t>
            </a:r>
            <a:endParaRPr lang="en-US" sz="1300" dirty="0"/>
          </a:p>
        </p:txBody>
      </p:sp>
      <p:sp>
        <p:nvSpPr>
          <p:cNvPr id="22" name="Text 20"/>
          <p:cNvSpPr/>
          <p:nvPr/>
        </p:nvSpPr>
        <p:spPr>
          <a:xfrm>
            <a:off x="3063240" y="4700016"/>
            <a:ext cx="2194560" cy="676656"/>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▲8,296,595</a:t>
            </a:r>
            <a:endParaRPr lang="en-US" sz="1600" dirty="0"/>
          </a:p>
        </p:txBody>
      </p:sp>
      <p:sp>
        <p:nvSpPr>
          <p:cNvPr id="23" name="Text 21"/>
          <p:cNvSpPr/>
          <p:nvPr/>
        </p:nvSpPr>
        <p:spPr>
          <a:xfrm>
            <a:off x="5349240" y="4700016"/>
            <a:ext cx="1005840" cy="676656"/>
          </a:xfrm>
          <a:prstGeom prst="rect">
            <a:avLst/>
          </a:prstGeom>
          <a:noFill/>
          <a:ln/>
        </p:spPr>
        <p:txBody>
          <a:bodyPr wrap="square" lIns="0" tIns="0" rIns="0" bIns="0" rtlCol="0" anchor="ctr"/>
          <a:lstStyle/>
          <a:p>
            <a:pPr algn="r" indent="0" marL="0">
              <a:buNone/>
            </a:pPr>
            <a:r>
              <a:rPr lang="en-US" sz="950" dirty="0">
                <a:solidFill>
                  <a:srgbClr val="ECE2D0"/>
                </a:solidFill>
                <a:latin typeface="Arial" pitchFamily="34" charset="0"/>
                <a:ea typeface="Arial" pitchFamily="34" charset="-122"/>
                <a:cs typeface="Arial" pitchFamily="34" charset="-120"/>
              </a:rPr>
              <a:t>月次</a:t>
            </a:r>
            <a:endParaRPr lang="en-US" sz="950" dirty="0"/>
          </a:p>
        </p:txBody>
      </p:sp>
      <p:sp>
        <p:nvSpPr>
          <p:cNvPr id="24" name="Shape 22"/>
          <p:cNvSpPr/>
          <p:nvPr/>
        </p:nvSpPr>
        <p:spPr>
          <a:xfrm>
            <a:off x="6858000" y="1554480"/>
            <a:ext cx="4709160" cy="4206240"/>
          </a:xfrm>
          <a:prstGeom prst="roundRect">
            <a:avLst>
              <a:gd name="adj" fmla="val 1304"/>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5" name="Text 23"/>
          <p:cNvSpPr/>
          <p:nvPr/>
        </p:nvSpPr>
        <p:spPr>
          <a:xfrm>
            <a:off x="7178040" y="1783080"/>
            <a:ext cx="4069080" cy="329184"/>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なぜ4月以降なのか</a:t>
            </a:r>
            <a:endParaRPr lang="en-US" sz="1700" dirty="0"/>
          </a:p>
        </p:txBody>
      </p:sp>
      <p:sp>
        <p:nvSpPr>
          <p:cNvPr id="26" name="Text 24"/>
          <p:cNvSpPr/>
          <p:nvPr/>
        </p:nvSpPr>
        <p:spPr>
          <a:xfrm>
            <a:off x="7178040" y="2240280"/>
            <a:ext cx="4069080" cy="3200400"/>
          </a:xfrm>
          <a:prstGeom prst="rect">
            <a:avLst/>
          </a:prstGeom>
          <a:noFill/>
          <a:ln/>
        </p:spPr>
        <p:txBody>
          <a:bodyPr wrap="square" lIns="0" tIns="0" rIns="0" bIns="0" rtlCol="0" anchor="ctr"/>
          <a:lstStyle/>
          <a:p>
            <a:pPr indent="0" marL="0">
              <a:lnSpc>
                <a:spcPts val="1700"/>
              </a:lnSpc>
              <a:buNone/>
            </a:pPr>
            <a:r>
              <a:rPr lang="en-US" sz="1150" dirty="0">
                <a:solidFill>
                  <a:srgbClr val="2B2B2B"/>
                </a:solidFill>
                <a:latin typeface="Arial" pitchFamily="34" charset="0"/>
                <a:ea typeface="Arial" pitchFamily="34" charset="-122"/>
                <a:cs typeface="Arial" pitchFamily="34" charset="-120"/>
              </a:rPr>
              <a:t>2025年10月〜2026年3月の数値には、撤退した飲食店舗の売上と費用が含まれています。</a:t>
            </a:r>
            <a:endParaRPr lang="en-US" sz="1150" dirty="0"/>
          </a:p>
          <a:p>
            <a:pPr indent="0" marL="0">
              <a:lnSpc>
                <a:spcPts val="1700"/>
              </a:lnSpc>
              <a:buNone/>
            </a:pPr>
            <a:endParaRPr lang="en-US" sz="1150" dirty="0"/>
          </a:p>
          <a:p>
            <a:pPr indent="0" marL="0">
              <a:lnSpc>
                <a:spcPts val="1700"/>
              </a:lnSpc>
              <a:buNone/>
            </a:pPr>
            <a:r>
              <a:rPr lang="en-US" sz="1150" dirty="0">
                <a:solidFill>
                  <a:srgbClr val="2B2B2B"/>
                </a:solidFill>
                <a:latin typeface="Arial" pitchFamily="34" charset="0"/>
                <a:ea typeface="Arial" pitchFamily="34" charset="-122"/>
                <a:cs typeface="Arial" pitchFamily="34" charset="-120"/>
              </a:rPr>
              <a:t>このため同期間を基準にすると、すでに存在しない事業の損益を将来計画に持ち込むことになります。</a:t>
            </a:r>
            <a:endParaRPr lang="en-US" sz="1150" dirty="0"/>
          </a:p>
          <a:p>
            <a:pPr indent="0" marL="0">
              <a:lnSpc>
                <a:spcPts val="1700"/>
              </a:lnSpc>
              <a:buNone/>
            </a:pPr>
            <a:endParaRPr lang="en-US" sz="1150" dirty="0"/>
          </a:p>
          <a:p>
            <a:pPr indent="0" marL="0">
              <a:lnSpc>
                <a:spcPts val="1700"/>
              </a:lnSpc>
              <a:buNone/>
            </a:pPr>
            <a:r>
              <a:rPr lang="en-US" sz="1150" dirty="0">
                <a:solidFill>
                  <a:srgbClr val="2B2B2B"/>
                </a:solidFill>
                <a:latin typeface="Arial" pitchFamily="34" charset="0"/>
                <a:ea typeface="Arial" pitchFamily="34" charset="-122"/>
                <a:cs typeface="Arial" pitchFamily="34" charset="-120"/>
              </a:rPr>
              <a:t>撤退が完了した2026年4月以降の3か月を基準とすることで、現在の事業構造をそのまま反映した計画になります。</a:t>
            </a:r>
            <a:endParaRPr lang="en-US" sz="1150" dirty="0"/>
          </a:p>
          <a:p>
            <a:pPr indent="0" marL="0">
              <a:lnSpc>
                <a:spcPts val="1700"/>
              </a:lnSpc>
              <a:buNone/>
            </a:pPr>
            <a:endParaRPr lang="en-US" sz="1150" dirty="0"/>
          </a:p>
          <a:p>
            <a:pPr indent="0" marL="0">
              <a:lnSpc>
                <a:spcPts val="1700"/>
              </a:lnSpc>
              <a:buNone/>
            </a:pPr>
            <a:r>
              <a:rPr lang="en-US" sz="1150" dirty="0">
                <a:solidFill>
                  <a:srgbClr val="2B2B2B"/>
                </a:solidFill>
                <a:latin typeface="Arial" pitchFamily="34" charset="0"/>
                <a:ea typeface="Arial" pitchFamily="34" charset="-122"/>
                <a:cs typeface="Arial" pitchFamily="34" charset="-120"/>
              </a:rPr>
              <a:t>粗利率が51.5%と高いのは、低採算の飲食が抜け、ワイン投資販売中心の構成になったためです。</a:t>
            </a:r>
            <a:endParaRPr lang="en-US" sz="1150" dirty="0"/>
          </a:p>
        </p:txBody>
      </p:sp>
      <p:sp>
        <p:nvSpPr>
          <p:cNvPr id="27" name="Text 25"/>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出典：事業計画202608（銀行様）全社シート 2026/04・05・06 実績の単純平均</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FY2027の収益上乗せ － 132.5百万円</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経営指導料を中心としたストック型収益。全額を営業収益に計上します。</a:t>
            </a:r>
            <a:endParaRPr lang="en-US" sz="1250" dirty="0"/>
          </a:p>
        </p:txBody>
      </p:sp>
      <p:sp>
        <p:nvSpPr>
          <p:cNvPr id="4" name="Shape 2"/>
          <p:cNvSpPr/>
          <p:nvPr/>
        </p:nvSpPr>
        <p:spPr>
          <a:xfrm>
            <a:off x="594360" y="1517904"/>
            <a:ext cx="7223760" cy="402336"/>
          </a:xfrm>
          <a:prstGeom prst="rect">
            <a:avLst/>
          </a:prstGeom>
          <a:solidFill>
            <a:srgbClr val="6D2E46"/>
          </a:solidFill>
          <a:ln/>
        </p:spPr>
      </p:sp>
      <p:sp>
        <p:nvSpPr>
          <p:cNvPr id="5" name="Text 3"/>
          <p:cNvSpPr/>
          <p:nvPr/>
        </p:nvSpPr>
        <p:spPr>
          <a:xfrm>
            <a:off x="777240" y="1517904"/>
            <a:ext cx="1737360" cy="402336"/>
          </a:xfrm>
          <a:prstGeom prst="rect">
            <a:avLst/>
          </a:prstGeom>
          <a:noFill/>
          <a:ln/>
        </p:spPr>
        <p:txBody>
          <a:bodyPr wrap="square" lIns="0" tIns="0" rIns="0" bIns="0" rtlCol="0" anchor="ctr"/>
          <a:lstStyle/>
          <a:p>
            <a:pPr algn="l" indent="0" marL="0">
              <a:buNone/>
            </a:pPr>
            <a:r>
              <a:rPr lang="en-US" sz="950" b="1" dirty="0">
                <a:solidFill>
                  <a:srgbClr val="FFFFFF"/>
                </a:solidFill>
                <a:latin typeface="Arial" pitchFamily="34" charset="0"/>
                <a:ea typeface="Arial" pitchFamily="34" charset="-122"/>
                <a:cs typeface="Arial" pitchFamily="34" charset="-120"/>
              </a:rPr>
              <a:t>区分</a:t>
            </a:r>
            <a:endParaRPr lang="en-US" sz="950" dirty="0"/>
          </a:p>
        </p:txBody>
      </p:sp>
      <p:sp>
        <p:nvSpPr>
          <p:cNvPr id="6" name="Text 4"/>
          <p:cNvSpPr/>
          <p:nvPr/>
        </p:nvSpPr>
        <p:spPr>
          <a:xfrm>
            <a:off x="2514600" y="1517904"/>
            <a:ext cx="2286000" cy="402336"/>
          </a:xfrm>
          <a:prstGeom prst="rect">
            <a:avLst/>
          </a:prstGeom>
          <a:noFill/>
          <a:ln/>
        </p:spPr>
        <p:txBody>
          <a:bodyPr wrap="square" lIns="0" tIns="0" rIns="0" bIns="0" rtlCol="0" anchor="ctr"/>
          <a:lstStyle/>
          <a:p>
            <a:pPr algn="l" indent="0" marL="0">
              <a:buNone/>
            </a:pPr>
            <a:r>
              <a:rPr lang="en-US" sz="950" b="1" dirty="0">
                <a:solidFill>
                  <a:srgbClr val="FFFFFF"/>
                </a:solidFill>
                <a:latin typeface="Arial" pitchFamily="34" charset="0"/>
                <a:ea typeface="Arial" pitchFamily="34" charset="-122"/>
                <a:cs typeface="Arial" pitchFamily="34" charset="-120"/>
              </a:rPr>
              <a:t>案件</a:t>
            </a:r>
            <a:endParaRPr lang="en-US" sz="950" dirty="0"/>
          </a:p>
        </p:txBody>
      </p:sp>
      <p:sp>
        <p:nvSpPr>
          <p:cNvPr id="7" name="Text 5"/>
          <p:cNvSpPr/>
          <p:nvPr/>
        </p:nvSpPr>
        <p:spPr>
          <a:xfrm>
            <a:off x="4892040" y="1517904"/>
            <a:ext cx="1463040" cy="402336"/>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金額</a:t>
            </a:r>
            <a:endParaRPr lang="en-US" sz="950" dirty="0"/>
          </a:p>
        </p:txBody>
      </p:sp>
      <p:sp>
        <p:nvSpPr>
          <p:cNvPr id="8" name="Text 6"/>
          <p:cNvSpPr/>
          <p:nvPr/>
        </p:nvSpPr>
        <p:spPr>
          <a:xfrm>
            <a:off x="6446520" y="1517904"/>
            <a:ext cx="1188720" cy="402336"/>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取引先</a:t>
            </a:r>
            <a:endParaRPr lang="en-US" sz="950" dirty="0"/>
          </a:p>
        </p:txBody>
      </p:sp>
      <p:sp>
        <p:nvSpPr>
          <p:cNvPr id="9" name="Shape 7"/>
          <p:cNvSpPr/>
          <p:nvPr/>
        </p:nvSpPr>
        <p:spPr>
          <a:xfrm>
            <a:off x="594360" y="1920240"/>
            <a:ext cx="7223760" cy="484632"/>
          </a:xfrm>
          <a:prstGeom prst="rect">
            <a:avLst/>
          </a:prstGeom>
          <a:solidFill>
            <a:srgbClr val="FFFFFF"/>
          </a:solidFill>
          <a:ln w="6350">
            <a:solidFill>
              <a:srgbClr val="DED5CE"/>
            </a:solidFill>
            <a:prstDash val="solid"/>
          </a:ln>
        </p:spPr>
      </p:sp>
      <p:sp>
        <p:nvSpPr>
          <p:cNvPr id="10" name="Text 8"/>
          <p:cNvSpPr/>
          <p:nvPr/>
        </p:nvSpPr>
        <p:spPr>
          <a:xfrm>
            <a:off x="777240" y="1920240"/>
            <a:ext cx="1737360" cy="484632"/>
          </a:xfrm>
          <a:prstGeom prst="rect">
            <a:avLst/>
          </a:prstGeom>
          <a:noFill/>
          <a:ln/>
        </p:spPr>
        <p:txBody>
          <a:bodyPr wrap="square" lIns="0" tIns="0" rIns="0" bIns="0" rtlCol="0" anchor="ctr"/>
          <a:lstStyle/>
          <a:p>
            <a:pPr indent="0" marL="0">
              <a:buNone/>
            </a:pPr>
            <a:r>
              <a:rPr lang="en-US" sz="950" dirty="0">
                <a:solidFill>
                  <a:srgbClr val="7A6A64"/>
                </a:solidFill>
                <a:latin typeface="Arial" pitchFamily="34" charset="0"/>
                <a:ea typeface="Arial" pitchFamily="34" charset="-122"/>
                <a:cs typeface="Arial" pitchFamily="34" charset="-120"/>
              </a:rPr>
              <a:t>経営指導料</a:t>
            </a:r>
            <a:endParaRPr lang="en-US" sz="950" dirty="0"/>
          </a:p>
        </p:txBody>
      </p:sp>
      <p:sp>
        <p:nvSpPr>
          <p:cNvPr id="11" name="Text 9"/>
          <p:cNvSpPr/>
          <p:nvPr/>
        </p:nvSpPr>
        <p:spPr>
          <a:xfrm>
            <a:off x="2514600" y="1920240"/>
            <a:ext cx="2286000" cy="484632"/>
          </a:xfrm>
          <a:prstGeom prst="rect">
            <a:avLst/>
          </a:prstGeom>
          <a:noFill/>
          <a:ln/>
        </p:spPr>
        <p:txBody>
          <a:bodyPr wrap="square" lIns="0" tIns="0" rIns="0" bIns="0" rtlCol="0" anchor="ctr"/>
          <a:lstStyle/>
          <a:p>
            <a:pPr indent="0" marL="0">
              <a:buNone/>
            </a:pPr>
            <a:r>
              <a:rPr lang="en-US" sz="1050" b="1" dirty="0">
                <a:solidFill>
                  <a:srgbClr val="2B2B2B"/>
                </a:solidFill>
                <a:latin typeface="Arial" pitchFamily="34" charset="0"/>
                <a:ea typeface="Arial" pitchFamily="34" charset="-122"/>
                <a:cs typeface="Arial" pitchFamily="34" charset="-120"/>
              </a:rPr>
              <a:t>Value table</a:t>
            </a:r>
            <a:endParaRPr lang="en-US" sz="1050" dirty="0"/>
          </a:p>
        </p:txBody>
      </p:sp>
      <p:sp>
        <p:nvSpPr>
          <p:cNvPr id="12" name="Text 10"/>
          <p:cNvSpPr/>
          <p:nvPr/>
        </p:nvSpPr>
        <p:spPr>
          <a:xfrm>
            <a:off x="4892040" y="1920240"/>
            <a:ext cx="1463040" cy="484632"/>
          </a:xfrm>
          <a:prstGeom prst="rect">
            <a:avLst/>
          </a:prstGeom>
          <a:noFill/>
          <a:ln/>
        </p:spPr>
        <p:txBody>
          <a:bodyPr wrap="square" lIns="0" tIns="0" rIns="0" bIns="0" rtlCol="0" anchor="ctr"/>
          <a:lstStyle/>
          <a:p>
            <a:pPr algn="r" indent="0" marL="0">
              <a:buNone/>
            </a:pPr>
            <a:r>
              <a:rPr lang="en-US" sz="1150" b="1" dirty="0">
                <a:solidFill>
                  <a:srgbClr val="6D2E46"/>
                </a:solidFill>
                <a:latin typeface="Arial" pitchFamily="34" charset="0"/>
                <a:ea typeface="Arial" pitchFamily="34" charset="-122"/>
                <a:cs typeface="Arial" pitchFamily="34" charset="-120"/>
              </a:rPr>
              <a:t>¥10,000,000</a:t>
            </a:r>
            <a:endParaRPr lang="en-US" sz="1150" dirty="0"/>
          </a:p>
        </p:txBody>
      </p:sp>
      <p:sp>
        <p:nvSpPr>
          <p:cNvPr id="13" name="Shape 11"/>
          <p:cNvSpPr/>
          <p:nvPr/>
        </p:nvSpPr>
        <p:spPr>
          <a:xfrm>
            <a:off x="6629400" y="2039112"/>
            <a:ext cx="914400" cy="256032"/>
          </a:xfrm>
          <a:prstGeom prst="roundRect">
            <a:avLst>
              <a:gd name="adj" fmla="val 42857"/>
            </a:avLst>
          </a:prstGeom>
          <a:solidFill>
            <a:srgbClr val="ECE2D0"/>
          </a:solidFill>
          <a:ln w="6350">
            <a:solidFill>
              <a:srgbClr val="A26769"/>
            </a:solidFill>
            <a:prstDash val="solid"/>
          </a:ln>
        </p:spPr>
      </p:sp>
      <p:sp>
        <p:nvSpPr>
          <p:cNvPr id="14" name="Text 12"/>
          <p:cNvSpPr/>
          <p:nvPr/>
        </p:nvSpPr>
        <p:spPr>
          <a:xfrm>
            <a:off x="6629400" y="2039112"/>
            <a:ext cx="914400" cy="256032"/>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グループ</a:t>
            </a:r>
            <a:endParaRPr lang="en-US" sz="850" dirty="0"/>
          </a:p>
        </p:txBody>
      </p:sp>
      <p:sp>
        <p:nvSpPr>
          <p:cNvPr id="15" name="Shape 13"/>
          <p:cNvSpPr/>
          <p:nvPr/>
        </p:nvSpPr>
        <p:spPr>
          <a:xfrm>
            <a:off x="594360" y="2404872"/>
            <a:ext cx="7223760" cy="484632"/>
          </a:xfrm>
          <a:prstGeom prst="rect">
            <a:avLst/>
          </a:prstGeom>
          <a:solidFill>
            <a:srgbClr val="FBF9F7"/>
          </a:solidFill>
          <a:ln w="6350">
            <a:solidFill>
              <a:srgbClr val="DED5CE"/>
            </a:solidFill>
            <a:prstDash val="solid"/>
          </a:ln>
        </p:spPr>
      </p:sp>
      <p:sp>
        <p:nvSpPr>
          <p:cNvPr id="16" name="Text 14"/>
          <p:cNvSpPr/>
          <p:nvPr/>
        </p:nvSpPr>
        <p:spPr>
          <a:xfrm>
            <a:off x="777240" y="2404872"/>
            <a:ext cx="1737360" cy="484632"/>
          </a:xfrm>
          <a:prstGeom prst="rect">
            <a:avLst/>
          </a:prstGeom>
          <a:noFill/>
          <a:ln/>
        </p:spPr>
        <p:txBody>
          <a:bodyPr wrap="square" lIns="0" tIns="0" rIns="0" bIns="0" rtlCol="0" anchor="ctr"/>
          <a:lstStyle/>
          <a:p>
            <a:pPr indent="0" marL="0">
              <a:buNone/>
            </a:pPr>
            <a:r>
              <a:rPr lang="en-US" sz="950" dirty="0">
                <a:solidFill>
                  <a:srgbClr val="7A6A64"/>
                </a:solidFill>
                <a:latin typeface="Arial" pitchFamily="34" charset="0"/>
                <a:ea typeface="Arial" pitchFamily="34" charset="-122"/>
                <a:cs typeface="Arial" pitchFamily="34" charset="-120"/>
              </a:rPr>
              <a:t>経営指導料</a:t>
            </a:r>
            <a:endParaRPr lang="en-US" sz="950" dirty="0"/>
          </a:p>
        </p:txBody>
      </p:sp>
      <p:sp>
        <p:nvSpPr>
          <p:cNvPr id="17" name="Text 15"/>
          <p:cNvSpPr/>
          <p:nvPr/>
        </p:nvSpPr>
        <p:spPr>
          <a:xfrm>
            <a:off x="2514600" y="2404872"/>
            <a:ext cx="2286000" cy="484632"/>
          </a:xfrm>
          <a:prstGeom prst="rect">
            <a:avLst/>
          </a:prstGeom>
          <a:noFill/>
          <a:ln/>
        </p:spPr>
        <p:txBody>
          <a:bodyPr wrap="square" lIns="0" tIns="0" rIns="0" bIns="0" rtlCol="0" anchor="ctr"/>
          <a:lstStyle/>
          <a:p>
            <a:pPr indent="0" marL="0">
              <a:buNone/>
            </a:pPr>
            <a:r>
              <a:rPr lang="en-US" sz="1050" b="1" dirty="0">
                <a:solidFill>
                  <a:srgbClr val="2B2B2B"/>
                </a:solidFill>
                <a:latin typeface="Arial" pitchFamily="34" charset="0"/>
                <a:ea typeface="Arial" pitchFamily="34" charset="-122"/>
                <a:cs typeface="Arial" pitchFamily="34" charset="-120"/>
              </a:rPr>
              <a:t>Prime</a:t>
            </a:r>
            <a:endParaRPr lang="en-US" sz="1050" dirty="0"/>
          </a:p>
        </p:txBody>
      </p:sp>
      <p:sp>
        <p:nvSpPr>
          <p:cNvPr id="18" name="Text 16"/>
          <p:cNvSpPr/>
          <p:nvPr/>
        </p:nvSpPr>
        <p:spPr>
          <a:xfrm>
            <a:off x="4892040" y="2404872"/>
            <a:ext cx="1463040" cy="484632"/>
          </a:xfrm>
          <a:prstGeom prst="rect">
            <a:avLst/>
          </a:prstGeom>
          <a:noFill/>
          <a:ln/>
        </p:spPr>
        <p:txBody>
          <a:bodyPr wrap="square" lIns="0" tIns="0" rIns="0" bIns="0" rtlCol="0" anchor="ctr"/>
          <a:lstStyle/>
          <a:p>
            <a:pPr algn="r" indent="0" marL="0">
              <a:buNone/>
            </a:pPr>
            <a:r>
              <a:rPr lang="en-US" sz="1150" b="1" dirty="0">
                <a:solidFill>
                  <a:srgbClr val="6D2E46"/>
                </a:solidFill>
                <a:latin typeface="Arial" pitchFamily="34" charset="0"/>
                <a:ea typeface="Arial" pitchFamily="34" charset="-122"/>
                <a:cs typeface="Arial" pitchFamily="34" charset="-120"/>
              </a:rPr>
              <a:t>¥60,000,000</a:t>
            </a:r>
            <a:endParaRPr lang="en-US" sz="1150" dirty="0"/>
          </a:p>
        </p:txBody>
      </p:sp>
      <p:sp>
        <p:nvSpPr>
          <p:cNvPr id="19" name="Shape 17"/>
          <p:cNvSpPr/>
          <p:nvPr/>
        </p:nvSpPr>
        <p:spPr>
          <a:xfrm>
            <a:off x="6629400" y="2523744"/>
            <a:ext cx="914400" cy="256032"/>
          </a:xfrm>
          <a:prstGeom prst="roundRect">
            <a:avLst>
              <a:gd name="adj" fmla="val 42857"/>
            </a:avLst>
          </a:prstGeom>
          <a:solidFill>
            <a:srgbClr val="ECE2D0"/>
          </a:solidFill>
          <a:ln w="6350">
            <a:solidFill>
              <a:srgbClr val="A26769"/>
            </a:solidFill>
            <a:prstDash val="solid"/>
          </a:ln>
        </p:spPr>
      </p:sp>
      <p:sp>
        <p:nvSpPr>
          <p:cNvPr id="20" name="Text 18"/>
          <p:cNvSpPr/>
          <p:nvPr/>
        </p:nvSpPr>
        <p:spPr>
          <a:xfrm>
            <a:off x="6629400" y="2523744"/>
            <a:ext cx="914400" cy="256032"/>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グループ</a:t>
            </a:r>
            <a:endParaRPr lang="en-US" sz="850" dirty="0"/>
          </a:p>
        </p:txBody>
      </p:sp>
      <p:sp>
        <p:nvSpPr>
          <p:cNvPr id="21" name="Shape 19"/>
          <p:cNvSpPr/>
          <p:nvPr/>
        </p:nvSpPr>
        <p:spPr>
          <a:xfrm>
            <a:off x="594360" y="2889504"/>
            <a:ext cx="7223760" cy="484632"/>
          </a:xfrm>
          <a:prstGeom prst="rect">
            <a:avLst/>
          </a:prstGeom>
          <a:solidFill>
            <a:srgbClr val="FFFFFF"/>
          </a:solidFill>
          <a:ln w="6350">
            <a:solidFill>
              <a:srgbClr val="DED5CE"/>
            </a:solidFill>
            <a:prstDash val="solid"/>
          </a:ln>
        </p:spPr>
      </p:sp>
      <p:sp>
        <p:nvSpPr>
          <p:cNvPr id="22" name="Text 20"/>
          <p:cNvSpPr/>
          <p:nvPr/>
        </p:nvSpPr>
        <p:spPr>
          <a:xfrm>
            <a:off x="777240" y="2889504"/>
            <a:ext cx="1737360" cy="484632"/>
          </a:xfrm>
          <a:prstGeom prst="rect">
            <a:avLst/>
          </a:prstGeom>
          <a:noFill/>
          <a:ln/>
        </p:spPr>
        <p:txBody>
          <a:bodyPr wrap="square" lIns="0" tIns="0" rIns="0" bIns="0" rtlCol="0" anchor="ctr"/>
          <a:lstStyle/>
          <a:p>
            <a:pPr indent="0" marL="0">
              <a:buNone/>
            </a:pPr>
            <a:r>
              <a:rPr lang="en-US" sz="950" dirty="0">
                <a:solidFill>
                  <a:srgbClr val="7A6A64"/>
                </a:solidFill>
                <a:latin typeface="Arial" pitchFamily="34" charset="0"/>
                <a:ea typeface="Arial" pitchFamily="34" charset="-122"/>
                <a:cs typeface="Arial" pitchFamily="34" charset="-120"/>
              </a:rPr>
              <a:t>経営指導料</a:t>
            </a:r>
            <a:endParaRPr lang="en-US" sz="950" dirty="0"/>
          </a:p>
        </p:txBody>
      </p:sp>
      <p:sp>
        <p:nvSpPr>
          <p:cNvPr id="23" name="Text 21"/>
          <p:cNvSpPr/>
          <p:nvPr/>
        </p:nvSpPr>
        <p:spPr>
          <a:xfrm>
            <a:off x="2514600" y="2889504"/>
            <a:ext cx="2286000" cy="484632"/>
          </a:xfrm>
          <a:prstGeom prst="rect">
            <a:avLst/>
          </a:prstGeom>
          <a:noFill/>
          <a:ln/>
        </p:spPr>
        <p:txBody>
          <a:bodyPr wrap="square" lIns="0" tIns="0" rIns="0" bIns="0" rtlCol="0" anchor="ctr"/>
          <a:lstStyle/>
          <a:p>
            <a:pPr indent="0" marL="0">
              <a:buNone/>
            </a:pPr>
            <a:r>
              <a:rPr lang="en-US" sz="1050" b="1" dirty="0">
                <a:solidFill>
                  <a:srgbClr val="2B2B2B"/>
                </a:solidFill>
                <a:latin typeface="Arial" pitchFamily="34" charset="0"/>
                <a:ea typeface="Arial" pitchFamily="34" charset="-122"/>
                <a:cs typeface="Arial" pitchFamily="34" charset="-120"/>
              </a:rPr>
              <a:t>Apicius</a:t>
            </a:r>
            <a:endParaRPr lang="en-US" sz="1050" dirty="0"/>
          </a:p>
        </p:txBody>
      </p:sp>
      <p:sp>
        <p:nvSpPr>
          <p:cNvPr id="24" name="Text 22"/>
          <p:cNvSpPr/>
          <p:nvPr/>
        </p:nvSpPr>
        <p:spPr>
          <a:xfrm>
            <a:off x="4892040" y="2889504"/>
            <a:ext cx="1463040" cy="484632"/>
          </a:xfrm>
          <a:prstGeom prst="rect">
            <a:avLst/>
          </a:prstGeom>
          <a:noFill/>
          <a:ln/>
        </p:spPr>
        <p:txBody>
          <a:bodyPr wrap="square" lIns="0" tIns="0" rIns="0" bIns="0" rtlCol="0" anchor="ctr"/>
          <a:lstStyle/>
          <a:p>
            <a:pPr algn="r" indent="0" marL="0">
              <a:buNone/>
            </a:pPr>
            <a:r>
              <a:rPr lang="en-US" sz="1150" b="1" dirty="0">
                <a:solidFill>
                  <a:srgbClr val="6D2E46"/>
                </a:solidFill>
                <a:latin typeface="Arial" pitchFamily="34" charset="0"/>
                <a:ea typeface="Arial" pitchFamily="34" charset="-122"/>
                <a:cs typeface="Arial" pitchFamily="34" charset="-120"/>
              </a:rPr>
              <a:t>¥10,000,000</a:t>
            </a:r>
            <a:endParaRPr lang="en-US" sz="1150" dirty="0"/>
          </a:p>
        </p:txBody>
      </p:sp>
      <p:sp>
        <p:nvSpPr>
          <p:cNvPr id="25" name="Shape 23"/>
          <p:cNvSpPr/>
          <p:nvPr/>
        </p:nvSpPr>
        <p:spPr>
          <a:xfrm>
            <a:off x="6629400" y="3008376"/>
            <a:ext cx="914400" cy="256032"/>
          </a:xfrm>
          <a:prstGeom prst="roundRect">
            <a:avLst>
              <a:gd name="adj" fmla="val 42857"/>
            </a:avLst>
          </a:prstGeom>
          <a:solidFill>
            <a:srgbClr val="ECE2D0"/>
          </a:solidFill>
          <a:ln w="6350">
            <a:solidFill>
              <a:srgbClr val="A26769"/>
            </a:solidFill>
            <a:prstDash val="solid"/>
          </a:ln>
        </p:spPr>
      </p:sp>
      <p:sp>
        <p:nvSpPr>
          <p:cNvPr id="26" name="Text 24"/>
          <p:cNvSpPr/>
          <p:nvPr/>
        </p:nvSpPr>
        <p:spPr>
          <a:xfrm>
            <a:off x="6629400" y="3008376"/>
            <a:ext cx="914400" cy="256032"/>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グループ</a:t>
            </a:r>
            <a:endParaRPr lang="en-US" sz="850" dirty="0"/>
          </a:p>
        </p:txBody>
      </p:sp>
      <p:sp>
        <p:nvSpPr>
          <p:cNvPr id="27" name="Shape 25"/>
          <p:cNvSpPr/>
          <p:nvPr/>
        </p:nvSpPr>
        <p:spPr>
          <a:xfrm>
            <a:off x="594360" y="3374136"/>
            <a:ext cx="7223760" cy="484632"/>
          </a:xfrm>
          <a:prstGeom prst="rect">
            <a:avLst/>
          </a:prstGeom>
          <a:solidFill>
            <a:srgbClr val="FBF9F7"/>
          </a:solidFill>
          <a:ln w="6350">
            <a:solidFill>
              <a:srgbClr val="DED5CE"/>
            </a:solidFill>
            <a:prstDash val="solid"/>
          </a:ln>
        </p:spPr>
      </p:sp>
      <p:sp>
        <p:nvSpPr>
          <p:cNvPr id="28" name="Text 26"/>
          <p:cNvSpPr/>
          <p:nvPr/>
        </p:nvSpPr>
        <p:spPr>
          <a:xfrm>
            <a:off x="777240" y="3374136"/>
            <a:ext cx="1737360" cy="484632"/>
          </a:xfrm>
          <a:prstGeom prst="rect">
            <a:avLst/>
          </a:prstGeom>
          <a:noFill/>
          <a:ln/>
        </p:spPr>
        <p:txBody>
          <a:bodyPr wrap="square" lIns="0" tIns="0" rIns="0" bIns="0" rtlCol="0" anchor="ctr"/>
          <a:lstStyle/>
          <a:p>
            <a:pPr indent="0" marL="0">
              <a:buNone/>
            </a:pPr>
            <a:r>
              <a:rPr lang="en-US" sz="950" dirty="0">
                <a:solidFill>
                  <a:srgbClr val="7A6A64"/>
                </a:solidFill>
                <a:latin typeface="Arial" pitchFamily="34" charset="0"/>
                <a:ea typeface="Arial" pitchFamily="34" charset="-122"/>
                <a:cs typeface="Arial" pitchFamily="34" charset="-120"/>
              </a:rPr>
              <a:t>経営指導料</a:t>
            </a:r>
            <a:endParaRPr lang="en-US" sz="950" dirty="0"/>
          </a:p>
        </p:txBody>
      </p:sp>
      <p:sp>
        <p:nvSpPr>
          <p:cNvPr id="29" name="Text 27"/>
          <p:cNvSpPr/>
          <p:nvPr/>
        </p:nvSpPr>
        <p:spPr>
          <a:xfrm>
            <a:off x="2514600" y="3374136"/>
            <a:ext cx="2286000" cy="484632"/>
          </a:xfrm>
          <a:prstGeom prst="rect">
            <a:avLst/>
          </a:prstGeom>
          <a:noFill/>
          <a:ln/>
        </p:spPr>
        <p:txBody>
          <a:bodyPr wrap="square" lIns="0" tIns="0" rIns="0" bIns="0" rtlCol="0" anchor="ctr"/>
          <a:lstStyle/>
          <a:p>
            <a:pPr indent="0" marL="0">
              <a:buNone/>
            </a:pPr>
            <a:r>
              <a:rPr lang="en-US" sz="1050" b="1" dirty="0">
                <a:solidFill>
                  <a:srgbClr val="2B2B2B"/>
                </a:solidFill>
                <a:latin typeface="Arial" pitchFamily="34" charset="0"/>
                <a:ea typeface="Arial" pitchFamily="34" charset="-122"/>
                <a:cs typeface="Arial" pitchFamily="34" charset="-120"/>
              </a:rPr>
              <a:t>Thierry Marx</a:t>
            </a:r>
            <a:endParaRPr lang="en-US" sz="1050" dirty="0"/>
          </a:p>
        </p:txBody>
      </p:sp>
      <p:sp>
        <p:nvSpPr>
          <p:cNvPr id="30" name="Text 28"/>
          <p:cNvSpPr/>
          <p:nvPr/>
        </p:nvSpPr>
        <p:spPr>
          <a:xfrm>
            <a:off x="4892040" y="3374136"/>
            <a:ext cx="1463040" cy="484632"/>
          </a:xfrm>
          <a:prstGeom prst="rect">
            <a:avLst/>
          </a:prstGeom>
          <a:noFill/>
          <a:ln/>
        </p:spPr>
        <p:txBody>
          <a:bodyPr wrap="square" lIns="0" tIns="0" rIns="0" bIns="0" rtlCol="0" anchor="ctr"/>
          <a:lstStyle/>
          <a:p>
            <a:pPr algn="r" indent="0" marL="0">
              <a:buNone/>
            </a:pPr>
            <a:r>
              <a:rPr lang="en-US" sz="1150" b="1" dirty="0">
                <a:solidFill>
                  <a:srgbClr val="6D2E46"/>
                </a:solidFill>
                <a:latin typeface="Arial" pitchFamily="34" charset="0"/>
                <a:ea typeface="Arial" pitchFamily="34" charset="-122"/>
                <a:cs typeface="Arial" pitchFamily="34" charset="-120"/>
              </a:rPr>
              <a:t>¥2,500,000</a:t>
            </a:r>
            <a:endParaRPr lang="en-US" sz="1150" dirty="0"/>
          </a:p>
        </p:txBody>
      </p:sp>
      <p:sp>
        <p:nvSpPr>
          <p:cNvPr id="31" name="Shape 29"/>
          <p:cNvSpPr/>
          <p:nvPr/>
        </p:nvSpPr>
        <p:spPr>
          <a:xfrm>
            <a:off x="6629400" y="3493008"/>
            <a:ext cx="914400" cy="256032"/>
          </a:xfrm>
          <a:prstGeom prst="roundRect">
            <a:avLst>
              <a:gd name="adj" fmla="val 42857"/>
            </a:avLst>
          </a:prstGeom>
          <a:solidFill>
            <a:srgbClr val="E4EAE6"/>
          </a:solidFill>
          <a:ln w="6350">
            <a:solidFill>
              <a:srgbClr val="8FA89B"/>
            </a:solidFill>
            <a:prstDash val="solid"/>
          </a:ln>
        </p:spPr>
      </p:sp>
      <p:sp>
        <p:nvSpPr>
          <p:cNvPr id="32" name="Text 30"/>
          <p:cNvSpPr/>
          <p:nvPr/>
        </p:nvSpPr>
        <p:spPr>
          <a:xfrm>
            <a:off x="6629400" y="3493008"/>
            <a:ext cx="914400" cy="256032"/>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外部</a:t>
            </a:r>
            <a:endParaRPr lang="en-US" sz="850" dirty="0"/>
          </a:p>
        </p:txBody>
      </p:sp>
      <p:sp>
        <p:nvSpPr>
          <p:cNvPr id="33" name="Shape 31"/>
          <p:cNvSpPr/>
          <p:nvPr/>
        </p:nvSpPr>
        <p:spPr>
          <a:xfrm>
            <a:off x="594360" y="3858768"/>
            <a:ext cx="7223760" cy="484632"/>
          </a:xfrm>
          <a:prstGeom prst="rect">
            <a:avLst/>
          </a:prstGeom>
          <a:solidFill>
            <a:srgbClr val="FFFFFF"/>
          </a:solidFill>
          <a:ln w="6350">
            <a:solidFill>
              <a:srgbClr val="DED5CE"/>
            </a:solidFill>
            <a:prstDash val="solid"/>
          </a:ln>
        </p:spPr>
      </p:sp>
      <p:sp>
        <p:nvSpPr>
          <p:cNvPr id="34" name="Text 32"/>
          <p:cNvSpPr/>
          <p:nvPr/>
        </p:nvSpPr>
        <p:spPr>
          <a:xfrm>
            <a:off x="777240" y="3858768"/>
            <a:ext cx="1737360" cy="484632"/>
          </a:xfrm>
          <a:prstGeom prst="rect">
            <a:avLst/>
          </a:prstGeom>
          <a:noFill/>
          <a:ln/>
        </p:spPr>
        <p:txBody>
          <a:bodyPr wrap="square" lIns="0" tIns="0" rIns="0" bIns="0" rtlCol="0" anchor="ctr"/>
          <a:lstStyle/>
          <a:p>
            <a:pPr indent="0" marL="0">
              <a:buNone/>
            </a:pPr>
            <a:r>
              <a:rPr lang="en-US" sz="950" dirty="0">
                <a:solidFill>
                  <a:srgbClr val="7A6A64"/>
                </a:solidFill>
                <a:latin typeface="Arial" pitchFamily="34" charset="0"/>
                <a:ea typeface="Arial" pitchFamily="34" charset="-122"/>
                <a:cs typeface="Arial" pitchFamily="34" charset="-120"/>
              </a:rPr>
              <a:t>経営指導料</a:t>
            </a:r>
            <a:endParaRPr lang="en-US" sz="950" dirty="0"/>
          </a:p>
        </p:txBody>
      </p:sp>
      <p:sp>
        <p:nvSpPr>
          <p:cNvPr id="35" name="Text 33"/>
          <p:cNvSpPr/>
          <p:nvPr/>
        </p:nvSpPr>
        <p:spPr>
          <a:xfrm>
            <a:off x="2514600" y="3858768"/>
            <a:ext cx="2286000" cy="484632"/>
          </a:xfrm>
          <a:prstGeom prst="rect">
            <a:avLst/>
          </a:prstGeom>
          <a:noFill/>
          <a:ln/>
        </p:spPr>
        <p:txBody>
          <a:bodyPr wrap="square" lIns="0" tIns="0" rIns="0" bIns="0" rtlCol="0" anchor="ctr"/>
          <a:lstStyle/>
          <a:p>
            <a:pPr indent="0" marL="0">
              <a:buNone/>
            </a:pPr>
            <a:r>
              <a:rPr lang="en-US" sz="1050" b="1" dirty="0">
                <a:solidFill>
                  <a:srgbClr val="2B2B2B"/>
                </a:solidFill>
                <a:latin typeface="Arial" pitchFamily="34" charset="0"/>
                <a:ea typeface="Arial" pitchFamily="34" charset="-122"/>
                <a:cs typeface="Arial" pitchFamily="34" charset="-120"/>
              </a:rPr>
              <a:t>ito＋Aqua＋Hokkaido</a:t>
            </a:r>
            <a:endParaRPr lang="en-US" sz="1050" dirty="0"/>
          </a:p>
        </p:txBody>
      </p:sp>
      <p:sp>
        <p:nvSpPr>
          <p:cNvPr id="36" name="Text 34"/>
          <p:cNvSpPr/>
          <p:nvPr/>
        </p:nvSpPr>
        <p:spPr>
          <a:xfrm>
            <a:off x="4892040" y="3858768"/>
            <a:ext cx="1463040" cy="484632"/>
          </a:xfrm>
          <a:prstGeom prst="rect">
            <a:avLst/>
          </a:prstGeom>
          <a:noFill/>
          <a:ln/>
        </p:spPr>
        <p:txBody>
          <a:bodyPr wrap="square" lIns="0" tIns="0" rIns="0" bIns="0" rtlCol="0" anchor="ctr"/>
          <a:lstStyle/>
          <a:p>
            <a:pPr algn="r" indent="0" marL="0">
              <a:buNone/>
            </a:pPr>
            <a:r>
              <a:rPr lang="en-US" sz="1150" b="1" dirty="0">
                <a:solidFill>
                  <a:srgbClr val="6D2E46"/>
                </a:solidFill>
                <a:latin typeface="Arial" pitchFamily="34" charset="0"/>
                <a:ea typeface="Arial" pitchFamily="34" charset="-122"/>
                <a:cs typeface="Arial" pitchFamily="34" charset="-120"/>
              </a:rPr>
              <a:t>¥10,000,000</a:t>
            </a:r>
            <a:endParaRPr lang="en-US" sz="1150" dirty="0"/>
          </a:p>
        </p:txBody>
      </p:sp>
      <p:sp>
        <p:nvSpPr>
          <p:cNvPr id="37" name="Shape 35"/>
          <p:cNvSpPr/>
          <p:nvPr/>
        </p:nvSpPr>
        <p:spPr>
          <a:xfrm>
            <a:off x="6629400" y="3977640"/>
            <a:ext cx="914400" cy="256032"/>
          </a:xfrm>
          <a:prstGeom prst="roundRect">
            <a:avLst>
              <a:gd name="adj" fmla="val 42857"/>
            </a:avLst>
          </a:prstGeom>
          <a:solidFill>
            <a:srgbClr val="E4EAE6"/>
          </a:solidFill>
          <a:ln w="6350">
            <a:solidFill>
              <a:srgbClr val="8FA89B"/>
            </a:solidFill>
            <a:prstDash val="solid"/>
          </a:ln>
        </p:spPr>
      </p:sp>
      <p:sp>
        <p:nvSpPr>
          <p:cNvPr id="38" name="Text 36"/>
          <p:cNvSpPr/>
          <p:nvPr/>
        </p:nvSpPr>
        <p:spPr>
          <a:xfrm>
            <a:off x="6629400" y="3977640"/>
            <a:ext cx="914400" cy="256032"/>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外部</a:t>
            </a:r>
            <a:endParaRPr lang="en-US" sz="850" dirty="0"/>
          </a:p>
        </p:txBody>
      </p:sp>
      <p:sp>
        <p:nvSpPr>
          <p:cNvPr id="39" name="Shape 37"/>
          <p:cNvSpPr/>
          <p:nvPr/>
        </p:nvSpPr>
        <p:spPr>
          <a:xfrm>
            <a:off x="594360" y="4343400"/>
            <a:ext cx="7223760" cy="484632"/>
          </a:xfrm>
          <a:prstGeom prst="rect">
            <a:avLst/>
          </a:prstGeom>
          <a:solidFill>
            <a:srgbClr val="FBF9F7"/>
          </a:solidFill>
          <a:ln w="6350">
            <a:solidFill>
              <a:srgbClr val="DED5CE"/>
            </a:solidFill>
            <a:prstDash val="solid"/>
          </a:ln>
        </p:spPr>
      </p:sp>
      <p:sp>
        <p:nvSpPr>
          <p:cNvPr id="40" name="Text 38"/>
          <p:cNvSpPr/>
          <p:nvPr/>
        </p:nvSpPr>
        <p:spPr>
          <a:xfrm>
            <a:off x="777240" y="4343400"/>
            <a:ext cx="1737360" cy="484632"/>
          </a:xfrm>
          <a:prstGeom prst="rect">
            <a:avLst/>
          </a:prstGeom>
          <a:noFill/>
          <a:ln/>
        </p:spPr>
        <p:txBody>
          <a:bodyPr wrap="square" lIns="0" tIns="0" rIns="0" bIns="0" rtlCol="0" anchor="ctr"/>
          <a:lstStyle/>
          <a:p>
            <a:pPr indent="0" marL="0">
              <a:buNone/>
            </a:pPr>
            <a:r>
              <a:rPr lang="en-US" sz="950" dirty="0">
                <a:solidFill>
                  <a:srgbClr val="7A6A64"/>
                </a:solidFill>
                <a:latin typeface="Arial" pitchFamily="34" charset="0"/>
                <a:ea typeface="Arial" pitchFamily="34" charset="-122"/>
                <a:cs typeface="Arial" pitchFamily="34" charset="-120"/>
              </a:rPr>
              <a:t>インセンティブ</a:t>
            </a:r>
            <a:endParaRPr lang="en-US" sz="950" dirty="0"/>
          </a:p>
        </p:txBody>
      </p:sp>
      <p:sp>
        <p:nvSpPr>
          <p:cNvPr id="41" name="Text 39"/>
          <p:cNvSpPr/>
          <p:nvPr/>
        </p:nvSpPr>
        <p:spPr>
          <a:xfrm>
            <a:off x="2514600" y="4343400"/>
            <a:ext cx="2286000" cy="484632"/>
          </a:xfrm>
          <a:prstGeom prst="rect">
            <a:avLst/>
          </a:prstGeom>
          <a:noFill/>
          <a:ln/>
        </p:spPr>
        <p:txBody>
          <a:bodyPr wrap="square" lIns="0" tIns="0" rIns="0" bIns="0" rtlCol="0" anchor="ctr"/>
          <a:lstStyle/>
          <a:p>
            <a:pPr indent="0" marL="0">
              <a:buNone/>
            </a:pPr>
            <a:r>
              <a:rPr lang="en-US" sz="1050" b="1" dirty="0">
                <a:solidFill>
                  <a:srgbClr val="2B2B2B"/>
                </a:solidFill>
                <a:latin typeface="Arial" pitchFamily="34" charset="0"/>
                <a:ea typeface="Arial" pitchFamily="34" charset="-122"/>
                <a:cs typeface="Arial" pitchFamily="34" charset="-120"/>
              </a:rPr>
              <a:t>Apicius2 shot</a:t>
            </a:r>
            <a:endParaRPr lang="en-US" sz="1050" dirty="0"/>
          </a:p>
        </p:txBody>
      </p:sp>
      <p:sp>
        <p:nvSpPr>
          <p:cNvPr id="42" name="Text 40"/>
          <p:cNvSpPr/>
          <p:nvPr/>
        </p:nvSpPr>
        <p:spPr>
          <a:xfrm>
            <a:off x="4892040" y="4343400"/>
            <a:ext cx="1463040" cy="484632"/>
          </a:xfrm>
          <a:prstGeom prst="rect">
            <a:avLst/>
          </a:prstGeom>
          <a:noFill/>
          <a:ln/>
        </p:spPr>
        <p:txBody>
          <a:bodyPr wrap="square" lIns="0" tIns="0" rIns="0" bIns="0" rtlCol="0" anchor="ctr"/>
          <a:lstStyle/>
          <a:p>
            <a:pPr algn="r" indent="0" marL="0">
              <a:buNone/>
            </a:pPr>
            <a:r>
              <a:rPr lang="en-US" sz="1150" b="1" dirty="0">
                <a:solidFill>
                  <a:srgbClr val="6D2E46"/>
                </a:solidFill>
                <a:latin typeface="Arial" pitchFamily="34" charset="0"/>
                <a:ea typeface="Arial" pitchFamily="34" charset="-122"/>
                <a:cs typeface="Arial" pitchFamily="34" charset="-120"/>
              </a:rPr>
              <a:t>¥20,000,000</a:t>
            </a:r>
            <a:endParaRPr lang="en-US" sz="1150" dirty="0"/>
          </a:p>
        </p:txBody>
      </p:sp>
      <p:sp>
        <p:nvSpPr>
          <p:cNvPr id="43" name="Shape 41"/>
          <p:cNvSpPr/>
          <p:nvPr/>
        </p:nvSpPr>
        <p:spPr>
          <a:xfrm>
            <a:off x="6629400" y="4462272"/>
            <a:ext cx="914400" cy="256032"/>
          </a:xfrm>
          <a:prstGeom prst="roundRect">
            <a:avLst>
              <a:gd name="adj" fmla="val 42857"/>
            </a:avLst>
          </a:prstGeom>
          <a:solidFill>
            <a:srgbClr val="ECE2D0"/>
          </a:solidFill>
          <a:ln w="6350">
            <a:solidFill>
              <a:srgbClr val="A26769"/>
            </a:solidFill>
            <a:prstDash val="solid"/>
          </a:ln>
        </p:spPr>
      </p:sp>
      <p:sp>
        <p:nvSpPr>
          <p:cNvPr id="44" name="Text 42"/>
          <p:cNvSpPr/>
          <p:nvPr/>
        </p:nvSpPr>
        <p:spPr>
          <a:xfrm>
            <a:off x="6629400" y="4462272"/>
            <a:ext cx="914400" cy="256032"/>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グループ</a:t>
            </a:r>
            <a:endParaRPr lang="en-US" sz="850" dirty="0"/>
          </a:p>
        </p:txBody>
      </p:sp>
      <p:sp>
        <p:nvSpPr>
          <p:cNvPr id="45" name="Shape 43"/>
          <p:cNvSpPr/>
          <p:nvPr/>
        </p:nvSpPr>
        <p:spPr>
          <a:xfrm>
            <a:off x="594360" y="4828032"/>
            <a:ext cx="7223760" cy="484632"/>
          </a:xfrm>
          <a:prstGeom prst="rect">
            <a:avLst/>
          </a:prstGeom>
          <a:solidFill>
            <a:srgbClr val="FFFFFF"/>
          </a:solidFill>
          <a:ln w="6350">
            <a:solidFill>
              <a:srgbClr val="DED5CE"/>
            </a:solidFill>
            <a:prstDash val="solid"/>
          </a:ln>
        </p:spPr>
      </p:sp>
      <p:sp>
        <p:nvSpPr>
          <p:cNvPr id="46" name="Text 44"/>
          <p:cNvSpPr/>
          <p:nvPr/>
        </p:nvSpPr>
        <p:spPr>
          <a:xfrm>
            <a:off x="777240" y="4828032"/>
            <a:ext cx="1737360" cy="484632"/>
          </a:xfrm>
          <a:prstGeom prst="rect">
            <a:avLst/>
          </a:prstGeom>
          <a:noFill/>
          <a:ln/>
        </p:spPr>
        <p:txBody>
          <a:bodyPr wrap="square" lIns="0" tIns="0" rIns="0" bIns="0" rtlCol="0" anchor="ctr"/>
          <a:lstStyle/>
          <a:p>
            <a:pPr indent="0" marL="0">
              <a:buNone/>
            </a:pPr>
            <a:r>
              <a:rPr lang="en-US" sz="950" dirty="0">
                <a:solidFill>
                  <a:srgbClr val="7A6A64"/>
                </a:solidFill>
                <a:latin typeface="Arial" pitchFamily="34" charset="0"/>
                <a:ea typeface="Arial" pitchFamily="34" charset="-122"/>
                <a:cs typeface="Arial" pitchFamily="34" charset="-120"/>
              </a:rPr>
              <a:t>クルーザー事業利益</a:t>
            </a:r>
            <a:endParaRPr lang="en-US" sz="950" dirty="0"/>
          </a:p>
        </p:txBody>
      </p:sp>
      <p:sp>
        <p:nvSpPr>
          <p:cNvPr id="47" name="Text 45"/>
          <p:cNvSpPr/>
          <p:nvPr/>
        </p:nvSpPr>
        <p:spPr>
          <a:xfrm>
            <a:off x="2514600" y="4828032"/>
            <a:ext cx="2286000" cy="484632"/>
          </a:xfrm>
          <a:prstGeom prst="rect">
            <a:avLst/>
          </a:prstGeom>
          <a:noFill/>
          <a:ln/>
        </p:spPr>
        <p:txBody>
          <a:bodyPr wrap="square" lIns="0" tIns="0" rIns="0" bIns="0" rtlCol="0" anchor="ctr"/>
          <a:lstStyle/>
          <a:p>
            <a:pPr indent="0" marL="0">
              <a:buNone/>
            </a:pPr>
            <a:r>
              <a:rPr lang="en-US" sz="1050" b="1" dirty="0">
                <a:solidFill>
                  <a:srgbClr val="2B2B2B"/>
                </a:solidFill>
                <a:latin typeface="Arial" pitchFamily="34" charset="0"/>
                <a:ea typeface="Arial" pitchFamily="34" charset="-122"/>
                <a:cs typeface="Arial" pitchFamily="34" charset="-120"/>
              </a:rPr>
              <a:t>2027/03・09に各10百万円</a:t>
            </a:r>
            <a:endParaRPr lang="en-US" sz="1050" dirty="0"/>
          </a:p>
        </p:txBody>
      </p:sp>
      <p:sp>
        <p:nvSpPr>
          <p:cNvPr id="48" name="Text 46"/>
          <p:cNvSpPr/>
          <p:nvPr/>
        </p:nvSpPr>
        <p:spPr>
          <a:xfrm>
            <a:off x="4892040" y="4828032"/>
            <a:ext cx="1463040" cy="484632"/>
          </a:xfrm>
          <a:prstGeom prst="rect">
            <a:avLst/>
          </a:prstGeom>
          <a:noFill/>
          <a:ln/>
        </p:spPr>
        <p:txBody>
          <a:bodyPr wrap="square" lIns="0" tIns="0" rIns="0" bIns="0" rtlCol="0" anchor="ctr"/>
          <a:lstStyle/>
          <a:p>
            <a:pPr algn="r" indent="0" marL="0">
              <a:buNone/>
            </a:pPr>
            <a:r>
              <a:rPr lang="en-US" sz="1150" b="1" dirty="0">
                <a:solidFill>
                  <a:srgbClr val="6D2E46"/>
                </a:solidFill>
                <a:latin typeface="Arial" pitchFamily="34" charset="0"/>
                <a:ea typeface="Arial" pitchFamily="34" charset="-122"/>
                <a:cs typeface="Arial" pitchFamily="34" charset="-120"/>
              </a:rPr>
              <a:t>¥20,000,000</a:t>
            </a:r>
            <a:endParaRPr lang="en-US" sz="1150" dirty="0"/>
          </a:p>
        </p:txBody>
      </p:sp>
      <p:sp>
        <p:nvSpPr>
          <p:cNvPr id="49" name="Shape 47"/>
          <p:cNvSpPr/>
          <p:nvPr/>
        </p:nvSpPr>
        <p:spPr>
          <a:xfrm>
            <a:off x="6629400" y="4946904"/>
            <a:ext cx="914400" cy="256032"/>
          </a:xfrm>
          <a:prstGeom prst="roundRect">
            <a:avLst>
              <a:gd name="adj" fmla="val 42857"/>
            </a:avLst>
          </a:prstGeom>
          <a:solidFill>
            <a:srgbClr val="E4EAE6"/>
          </a:solidFill>
          <a:ln w="6350">
            <a:solidFill>
              <a:srgbClr val="8FA89B"/>
            </a:solidFill>
            <a:prstDash val="solid"/>
          </a:ln>
        </p:spPr>
      </p:sp>
      <p:sp>
        <p:nvSpPr>
          <p:cNvPr id="50" name="Text 48"/>
          <p:cNvSpPr/>
          <p:nvPr/>
        </p:nvSpPr>
        <p:spPr>
          <a:xfrm>
            <a:off x="6629400" y="4946904"/>
            <a:ext cx="914400" cy="256032"/>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外部</a:t>
            </a:r>
            <a:endParaRPr lang="en-US" sz="850" dirty="0"/>
          </a:p>
        </p:txBody>
      </p:sp>
      <p:sp>
        <p:nvSpPr>
          <p:cNvPr id="51" name="Shape 49"/>
          <p:cNvSpPr/>
          <p:nvPr/>
        </p:nvSpPr>
        <p:spPr>
          <a:xfrm>
            <a:off x="594360" y="5312664"/>
            <a:ext cx="7223760" cy="475488"/>
          </a:xfrm>
          <a:prstGeom prst="rect">
            <a:avLst/>
          </a:prstGeom>
          <a:solidFill>
            <a:srgbClr val="ECE2D0"/>
          </a:solidFill>
          <a:ln w="12700">
            <a:solidFill>
              <a:srgbClr val="6D2E46"/>
            </a:solidFill>
            <a:prstDash val="solid"/>
          </a:ln>
        </p:spPr>
      </p:sp>
      <p:sp>
        <p:nvSpPr>
          <p:cNvPr id="52" name="Text 50"/>
          <p:cNvSpPr/>
          <p:nvPr/>
        </p:nvSpPr>
        <p:spPr>
          <a:xfrm>
            <a:off x="777240" y="5312664"/>
            <a:ext cx="1828800" cy="475488"/>
          </a:xfrm>
          <a:prstGeom prst="rect">
            <a:avLst/>
          </a:prstGeom>
          <a:noFill/>
          <a:ln/>
        </p:spPr>
        <p:txBody>
          <a:bodyPr wrap="square" lIns="0" tIns="0" rIns="0" bIns="0" rtlCol="0" anchor="ctr"/>
          <a:lstStyle/>
          <a:p>
            <a:pPr indent="0" marL="0">
              <a:buNone/>
            </a:pPr>
            <a:r>
              <a:rPr lang="en-US" sz="1150" b="1" dirty="0">
                <a:solidFill>
                  <a:srgbClr val="2B2B2B"/>
                </a:solidFill>
                <a:latin typeface="Arial" pitchFamily="34" charset="0"/>
                <a:ea typeface="Arial" pitchFamily="34" charset="-122"/>
                <a:cs typeface="Arial" pitchFamily="34" charset="-120"/>
              </a:rPr>
              <a:t>合計</a:t>
            </a:r>
            <a:endParaRPr lang="en-US" sz="1150" dirty="0"/>
          </a:p>
        </p:txBody>
      </p:sp>
      <p:sp>
        <p:nvSpPr>
          <p:cNvPr id="53" name="Text 51"/>
          <p:cNvSpPr/>
          <p:nvPr/>
        </p:nvSpPr>
        <p:spPr>
          <a:xfrm>
            <a:off x="4892040" y="5312664"/>
            <a:ext cx="1463040" cy="475488"/>
          </a:xfrm>
          <a:prstGeom prst="rect">
            <a:avLst/>
          </a:prstGeom>
          <a:noFill/>
          <a:ln/>
        </p:spPr>
        <p:txBody>
          <a:bodyPr wrap="square" lIns="0" tIns="0" rIns="0" bIns="0" rtlCol="0" anchor="ctr"/>
          <a:lstStyle/>
          <a:p>
            <a:pPr algn="r" indent="0" marL="0">
              <a:buNone/>
            </a:pPr>
            <a:r>
              <a:rPr lang="en-US" sz="1250" b="1" dirty="0">
                <a:solidFill>
                  <a:srgbClr val="6D2E46"/>
                </a:solidFill>
                <a:latin typeface="Arial" pitchFamily="34" charset="0"/>
                <a:ea typeface="Arial" pitchFamily="34" charset="-122"/>
                <a:cs typeface="Arial" pitchFamily="34" charset="-120"/>
              </a:rPr>
              <a:t>¥132,500,000</a:t>
            </a:r>
            <a:endParaRPr lang="en-US" sz="1250" dirty="0"/>
          </a:p>
        </p:txBody>
      </p:sp>
      <p:sp>
        <p:nvSpPr>
          <p:cNvPr id="54" name="Shape 52"/>
          <p:cNvSpPr/>
          <p:nvPr/>
        </p:nvSpPr>
        <p:spPr>
          <a:xfrm>
            <a:off x="8183880" y="1517904"/>
            <a:ext cx="3383280" cy="1554480"/>
          </a:xfrm>
          <a:prstGeom prst="roundRect">
            <a:avLst>
              <a:gd name="adj" fmla="val 3529"/>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55" name="Text 53"/>
          <p:cNvSpPr/>
          <p:nvPr/>
        </p:nvSpPr>
        <p:spPr>
          <a:xfrm>
            <a:off x="8412480" y="1682496"/>
            <a:ext cx="2926080" cy="274320"/>
          </a:xfrm>
          <a:prstGeom prst="rect">
            <a:avLst/>
          </a:prstGeom>
          <a:noFill/>
          <a:ln/>
        </p:spPr>
        <p:txBody>
          <a:bodyPr wrap="square" lIns="0" tIns="0" rIns="0" bIns="0" rtlCol="0" anchor="ctr"/>
          <a:lstStyle/>
          <a:p>
            <a:pPr indent="0" marL="0">
              <a:buNone/>
            </a:pPr>
            <a:r>
              <a:rPr lang="en-US" sz="1050" b="1" dirty="0">
                <a:solidFill>
                  <a:srgbClr val="6D2E46"/>
                </a:solidFill>
                <a:latin typeface="Arial" pitchFamily="34" charset="0"/>
                <a:ea typeface="Arial" pitchFamily="34" charset="-122"/>
                <a:cs typeface="Arial" pitchFamily="34" charset="-120"/>
              </a:rPr>
              <a:t>全額を営業収益に計上</a:t>
            </a:r>
            <a:endParaRPr lang="en-US" sz="1050" dirty="0"/>
          </a:p>
        </p:txBody>
      </p:sp>
      <p:sp>
        <p:nvSpPr>
          <p:cNvPr id="56" name="Text 54"/>
          <p:cNvSpPr/>
          <p:nvPr/>
        </p:nvSpPr>
        <p:spPr>
          <a:xfrm>
            <a:off x="8412480" y="1993392"/>
            <a:ext cx="2926080" cy="914400"/>
          </a:xfrm>
          <a:prstGeom prst="rect">
            <a:avLst/>
          </a:prstGeom>
          <a:noFill/>
          <a:ln/>
        </p:spPr>
        <p:txBody>
          <a:bodyPr wrap="square" lIns="0" tIns="0" rIns="0" bIns="0" rtlCol="0" anchor="t"/>
          <a:lstStyle/>
          <a:p>
            <a:pPr indent="0" marL="0">
              <a:buNone/>
            </a:pPr>
            <a:r>
              <a:rPr lang="en-US" sz="1050" dirty="0">
                <a:solidFill>
                  <a:srgbClr val="2B2B2B"/>
                </a:solidFill>
                <a:latin typeface="Arial" pitchFamily="34" charset="0"/>
                <a:ea typeface="Arial" pitchFamily="34" charset="-122"/>
                <a:cs typeface="Arial" pitchFamily="34" charset="-120"/>
              </a:rPr>
              <a:t>クルーザー事業利益は投資損益ではなく事業利益のため、営業外収益ではなく営業収益として計上しています。</a:t>
            </a:r>
            <a:endParaRPr lang="en-US" sz="1050" dirty="0"/>
          </a:p>
        </p:txBody>
      </p:sp>
      <p:sp>
        <p:nvSpPr>
          <p:cNvPr id="57" name="Shape 55"/>
          <p:cNvSpPr/>
          <p:nvPr/>
        </p:nvSpPr>
        <p:spPr>
          <a:xfrm>
            <a:off x="8183880" y="3200400"/>
            <a:ext cx="3383280" cy="1280160"/>
          </a:xfrm>
          <a:prstGeom prst="roundRect">
            <a:avLst>
              <a:gd name="adj" fmla="val 4286"/>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58" name="Text 56"/>
          <p:cNvSpPr/>
          <p:nvPr/>
        </p:nvSpPr>
        <p:spPr>
          <a:xfrm>
            <a:off x="8412480" y="3346704"/>
            <a:ext cx="2926080" cy="274320"/>
          </a:xfrm>
          <a:prstGeom prst="rect">
            <a:avLst/>
          </a:prstGeom>
          <a:noFill/>
          <a:ln/>
        </p:spPr>
        <p:txBody>
          <a:bodyPr wrap="square" lIns="0" tIns="0" rIns="0" bIns="0" rtlCol="0" anchor="ctr"/>
          <a:lstStyle/>
          <a:p>
            <a:pPr indent="0" marL="0">
              <a:buNone/>
            </a:pPr>
            <a:r>
              <a:rPr lang="en-US" sz="1050" b="1" dirty="0">
                <a:solidFill>
                  <a:srgbClr val="6D2E46"/>
                </a:solidFill>
                <a:latin typeface="Arial" pitchFamily="34" charset="0"/>
                <a:ea typeface="Arial" pitchFamily="34" charset="-122"/>
                <a:cs typeface="Arial" pitchFamily="34" charset="-120"/>
              </a:rPr>
              <a:t>取引先の内訳</a:t>
            </a:r>
            <a:endParaRPr lang="en-US" sz="1050" dirty="0"/>
          </a:p>
        </p:txBody>
      </p:sp>
      <p:sp>
        <p:nvSpPr>
          <p:cNvPr id="59" name="Text 57"/>
          <p:cNvSpPr/>
          <p:nvPr/>
        </p:nvSpPr>
        <p:spPr>
          <a:xfrm>
            <a:off x="8412480" y="3657600"/>
            <a:ext cx="2926080" cy="731520"/>
          </a:xfrm>
          <a:prstGeom prst="rect">
            <a:avLst/>
          </a:prstGeom>
          <a:noFill/>
          <a:ln/>
        </p:spPr>
        <p:txBody>
          <a:bodyPr wrap="square" lIns="0" tIns="0" rIns="0" bIns="0" rtlCol="0" anchor="ctr"/>
          <a:lstStyle/>
          <a:p>
            <a:pPr indent="0" marL="0">
              <a:lnSpc>
                <a:spcPts val="1800"/>
              </a:lnSpc>
              <a:buNone/>
            </a:pPr>
            <a:r>
              <a:rPr lang="en-US" sz="1150" dirty="0">
                <a:solidFill>
                  <a:srgbClr val="2B2B2B"/>
                </a:solidFill>
                <a:latin typeface="Arial" pitchFamily="34" charset="0"/>
                <a:ea typeface="Arial" pitchFamily="34" charset="-122"/>
                <a:cs typeface="Arial" pitchFamily="34" charset="-120"/>
              </a:rPr>
              <a:t>グループ内　100.0百万円</a:t>
            </a:r>
            <a:endParaRPr lang="en-US" sz="1150" dirty="0"/>
          </a:p>
          <a:p>
            <a:pPr indent="0" marL="0">
              <a:lnSpc>
                <a:spcPts val="1800"/>
              </a:lnSpc>
              <a:buNone/>
            </a:pPr>
            <a:r>
              <a:rPr lang="en-US" sz="1150" dirty="0">
                <a:solidFill>
                  <a:srgbClr val="2B2B2B"/>
                </a:solidFill>
                <a:latin typeface="Arial" pitchFamily="34" charset="0"/>
                <a:ea typeface="Arial" pitchFamily="34" charset="-122"/>
                <a:cs typeface="Arial" pitchFamily="34" charset="-120"/>
              </a:rPr>
              <a:t>外部　32.5百万円</a:t>
            </a:r>
            <a:endParaRPr lang="en-US" sz="1150" dirty="0"/>
          </a:p>
        </p:txBody>
      </p:sp>
      <p:sp>
        <p:nvSpPr>
          <p:cNvPr id="60" name="Shape 58"/>
          <p:cNvSpPr/>
          <p:nvPr/>
        </p:nvSpPr>
        <p:spPr>
          <a:xfrm>
            <a:off x="8183880" y="4608576"/>
            <a:ext cx="3383280" cy="1152144"/>
          </a:xfrm>
          <a:prstGeom prst="roundRect">
            <a:avLst>
              <a:gd name="adj" fmla="val 4762"/>
            </a:avLst>
          </a:prstGeom>
          <a:solidFill>
            <a:srgbClr val="ECE2D0"/>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61" name="Text 59"/>
          <p:cNvSpPr/>
          <p:nvPr/>
        </p:nvSpPr>
        <p:spPr>
          <a:xfrm>
            <a:off x="8412480" y="4754880"/>
            <a:ext cx="2926080" cy="868680"/>
          </a:xfrm>
          <a:prstGeom prst="rect">
            <a:avLst/>
          </a:prstGeom>
          <a:noFill/>
          <a:ln/>
        </p:spPr>
        <p:txBody>
          <a:bodyPr wrap="square" lIns="0" tIns="0" rIns="0" bIns="0" rtlCol="0" anchor="ctr"/>
          <a:lstStyle/>
          <a:p>
            <a:pPr indent="0" marL="0">
              <a:buNone/>
            </a:pPr>
            <a:r>
              <a:rPr lang="en-US" sz="1000" dirty="0">
                <a:solidFill>
                  <a:srgbClr val="2B2B2B"/>
                </a:solidFill>
                <a:latin typeface="Arial" pitchFamily="34" charset="0"/>
                <a:ea typeface="Arial" pitchFamily="34" charset="-122"/>
                <a:cs typeface="Arial" pitchFamily="34" charset="-120"/>
              </a:rPr>
              <a:t>グループ内取引については、支払側の支払能力と対価の算定根拠を整備のうえご説明します。</a:t>
            </a:r>
            <a:endParaRPr lang="en-US" sz="1000" dirty="0"/>
          </a:p>
        </p:txBody>
      </p:sp>
      <p:sp>
        <p:nvSpPr>
          <p:cNvPr id="62" name="Text 60"/>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期間表記は2026/09-2027/08。決算期（2026/10-2027/09）と1か月ズレるため、全額をFY2027帰属として試算。</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FY2026 → FY2027 営業利益ブリッジ</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固定費削減と上乗せ案件だけで、既に営業損益は黒字転換します。</a:t>
            </a:r>
            <a:endParaRPr lang="en-US" sz="1250" dirty="0"/>
          </a:p>
        </p:txBody>
      </p:sp>
      <p:sp>
        <p:nvSpPr>
          <p:cNvPr id="4" name="Shape 2"/>
          <p:cNvSpPr/>
          <p:nvPr/>
        </p:nvSpPr>
        <p:spPr>
          <a:xfrm>
            <a:off x="1234440" y="2365802"/>
            <a:ext cx="9692640" cy="0"/>
          </a:xfrm>
          <a:prstGeom prst="line">
            <a:avLst/>
          </a:prstGeom>
          <a:noFill/>
          <a:ln w="12700">
            <a:solidFill>
              <a:srgbClr val="C9BDB5"/>
            </a:solidFill>
            <a:prstDash val="solid"/>
          </a:ln>
        </p:spPr>
      </p:sp>
      <p:sp>
        <p:nvSpPr>
          <p:cNvPr id="5" name="Text 3"/>
          <p:cNvSpPr/>
          <p:nvPr/>
        </p:nvSpPr>
        <p:spPr>
          <a:xfrm>
            <a:off x="850392" y="2246930"/>
            <a:ext cx="329184" cy="237744"/>
          </a:xfrm>
          <a:prstGeom prst="rect">
            <a:avLst/>
          </a:prstGeom>
          <a:noFill/>
          <a:ln/>
        </p:spPr>
        <p:txBody>
          <a:bodyPr wrap="square" lIns="0" tIns="0" rIns="0" bIns="0" rtlCol="0" anchor="ctr"/>
          <a:lstStyle/>
          <a:p>
            <a:pPr algn="r" indent="0" marL="0">
              <a:buNone/>
            </a:pPr>
            <a:r>
              <a:rPr lang="en-US" sz="900" dirty="0">
                <a:solidFill>
                  <a:srgbClr val="7A6A64"/>
                </a:solidFill>
                <a:latin typeface="Arial" pitchFamily="34" charset="0"/>
                <a:ea typeface="Arial" pitchFamily="34" charset="-122"/>
                <a:cs typeface="Arial" pitchFamily="34" charset="-120"/>
              </a:rPr>
              <a:t>0</a:t>
            </a:r>
            <a:endParaRPr lang="en-US" sz="900" dirty="0"/>
          </a:p>
        </p:txBody>
      </p:sp>
      <p:sp>
        <p:nvSpPr>
          <p:cNvPr id="6" name="Shape 4"/>
          <p:cNvSpPr/>
          <p:nvPr/>
        </p:nvSpPr>
        <p:spPr>
          <a:xfrm>
            <a:off x="1234440" y="2365802"/>
            <a:ext cx="1783080" cy="1517252"/>
          </a:xfrm>
          <a:prstGeom prst="rect">
            <a:avLst/>
          </a:prstGeom>
          <a:solidFill>
            <a:srgbClr val="4A4A4A"/>
          </a:solidFill>
          <a:ln/>
        </p:spPr>
      </p:sp>
      <p:sp>
        <p:nvSpPr>
          <p:cNvPr id="7" name="Text 5"/>
          <p:cNvSpPr/>
          <p:nvPr/>
        </p:nvSpPr>
        <p:spPr>
          <a:xfrm>
            <a:off x="1234440" y="3919630"/>
            <a:ext cx="1783080" cy="292608"/>
          </a:xfrm>
          <a:prstGeom prst="rect">
            <a:avLst/>
          </a:prstGeom>
          <a:noFill/>
          <a:ln/>
        </p:spPr>
        <p:txBody>
          <a:bodyPr wrap="square" lIns="0" tIns="0" rIns="0" bIns="0" rtlCol="0" anchor="ctr"/>
          <a:lstStyle/>
          <a:p>
            <a:pPr algn="ctr" indent="0" marL="0">
              <a:buNone/>
            </a:pPr>
            <a:r>
              <a:rPr lang="en-US" sz="1300" b="1" dirty="0">
                <a:solidFill>
                  <a:srgbClr val="4A4A4A"/>
                </a:solidFill>
                <a:latin typeface="Cambria" pitchFamily="34" charset="0"/>
                <a:ea typeface="Cambria" pitchFamily="34" charset="-122"/>
                <a:cs typeface="Cambria" pitchFamily="34" charset="-120"/>
              </a:rPr>
              <a:t>▲114.8</a:t>
            </a:r>
            <a:endParaRPr lang="en-US" sz="1300" dirty="0"/>
          </a:p>
        </p:txBody>
      </p:sp>
      <p:sp>
        <p:nvSpPr>
          <p:cNvPr id="8" name="Text 6"/>
          <p:cNvSpPr/>
          <p:nvPr/>
        </p:nvSpPr>
        <p:spPr>
          <a:xfrm>
            <a:off x="1097280" y="4754880"/>
            <a:ext cx="2057400" cy="640080"/>
          </a:xfrm>
          <a:prstGeom prst="rect">
            <a:avLst/>
          </a:prstGeom>
          <a:noFill/>
          <a:ln/>
        </p:spPr>
        <p:txBody>
          <a:bodyPr wrap="square" lIns="0" tIns="0" rIns="0" bIns="0" rtlCol="0" anchor="ctr"/>
          <a:lstStyle/>
          <a:p>
            <a:pPr algn="ctr" indent="0" marL="0">
              <a:buNone/>
            </a:pPr>
            <a:r>
              <a:rPr lang="en-US" sz="1000" dirty="0">
                <a:solidFill>
                  <a:srgbClr val="2B2B2B"/>
                </a:solidFill>
                <a:latin typeface="Arial" pitchFamily="34" charset="0"/>
                <a:ea typeface="Arial" pitchFamily="34" charset="-122"/>
                <a:cs typeface="Arial" pitchFamily="34" charset="-120"/>
              </a:rPr>
              <a:t>FY2026</a:t>
            </a:r>
            <a:endParaRPr lang="en-US" sz="1000" dirty="0"/>
          </a:p>
          <a:p>
            <a:pPr algn="ctr" indent="0" marL="0">
              <a:buNone/>
            </a:pPr>
            <a:r>
              <a:rPr lang="en-US" sz="1000" dirty="0">
                <a:solidFill>
                  <a:srgbClr val="2B2B2B"/>
                </a:solidFill>
                <a:latin typeface="Arial" pitchFamily="34" charset="0"/>
                <a:ea typeface="Arial" pitchFamily="34" charset="-122"/>
                <a:cs typeface="Arial" pitchFamily="34" charset="-120"/>
              </a:rPr>
              <a:t>営業利益</a:t>
            </a:r>
            <a:endParaRPr lang="en-US" sz="1000" dirty="0"/>
          </a:p>
        </p:txBody>
      </p:sp>
      <p:sp>
        <p:nvSpPr>
          <p:cNvPr id="9" name="Shape 7"/>
          <p:cNvSpPr/>
          <p:nvPr/>
        </p:nvSpPr>
        <p:spPr>
          <a:xfrm>
            <a:off x="3474720" y="3883054"/>
            <a:ext cx="1783080" cy="377187"/>
          </a:xfrm>
          <a:prstGeom prst="rect">
            <a:avLst/>
          </a:prstGeom>
          <a:solidFill>
            <a:srgbClr val="A26769"/>
          </a:solidFill>
          <a:ln/>
        </p:spPr>
      </p:sp>
      <p:sp>
        <p:nvSpPr>
          <p:cNvPr id="10" name="Text 8"/>
          <p:cNvSpPr/>
          <p:nvPr/>
        </p:nvSpPr>
        <p:spPr>
          <a:xfrm>
            <a:off x="3474720" y="4296817"/>
            <a:ext cx="1783080" cy="292608"/>
          </a:xfrm>
          <a:prstGeom prst="rect">
            <a:avLst/>
          </a:prstGeom>
          <a:noFill/>
          <a:ln/>
        </p:spPr>
        <p:txBody>
          <a:bodyPr wrap="square" lIns="0" tIns="0" rIns="0" bIns="0" rtlCol="0" anchor="ctr"/>
          <a:lstStyle/>
          <a:p>
            <a:pPr algn="ctr" indent="0" marL="0">
              <a:buNone/>
            </a:pPr>
            <a:r>
              <a:rPr lang="en-US" sz="1300" b="1" dirty="0">
                <a:solidFill>
                  <a:srgbClr val="A26769"/>
                </a:solidFill>
                <a:latin typeface="Cambria" pitchFamily="34" charset="0"/>
                <a:ea typeface="Cambria" pitchFamily="34" charset="-122"/>
                <a:cs typeface="Cambria" pitchFamily="34" charset="-120"/>
              </a:rPr>
              <a:t>▲28.5</a:t>
            </a:r>
            <a:endParaRPr lang="en-US" sz="1300" dirty="0"/>
          </a:p>
        </p:txBody>
      </p:sp>
      <p:sp>
        <p:nvSpPr>
          <p:cNvPr id="11" name="Text 9"/>
          <p:cNvSpPr/>
          <p:nvPr/>
        </p:nvSpPr>
        <p:spPr>
          <a:xfrm>
            <a:off x="3337560" y="4754880"/>
            <a:ext cx="2057400" cy="640080"/>
          </a:xfrm>
          <a:prstGeom prst="rect">
            <a:avLst/>
          </a:prstGeom>
          <a:noFill/>
          <a:ln/>
        </p:spPr>
        <p:txBody>
          <a:bodyPr wrap="square" lIns="0" tIns="0" rIns="0" bIns="0" rtlCol="0" anchor="ctr"/>
          <a:lstStyle/>
          <a:p>
            <a:pPr algn="ctr" indent="0" marL="0">
              <a:buNone/>
            </a:pPr>
            <a:r>
              <a:rPr lang="en-US" sz="1000" dirty="0">
                <a:solidFill>
                  <a:srgbClr val="2B2B2B"/>
                </a:solidFill>
                <a:latin typeface="Arial" pitchFamily="34" charset="0"/>
                <a:ea typeface="Arial" pitchFamily="34" charset="-122"/>
                <a:cs typeface="Arial" pitchFamily="34" charset="-120"/>
              </a:rPr>
              <a:t>① 既存事業</a:t>
            </a:r>
            <a:endParaRPr lang="en-US" sz="1000" dirty="0"/>
          </a:p>
          <a:p>
            <a:pPr algn="ctr" indent="0" marL="0">
              <a:buNone/>
            </a:pPr>
            <a:r>
              <a:rPr lang="en-US" sz="1000" dirty="0">
                <a:solidFill>
                  <a:srgbClr val="2B2B2B"/>
                </a:solidFill>
                <a:latin typeface="Arial" pitchFamily="34" charset="0"/>
                <a:ea typeface="Arial" pitchFamily="34" charset="-122"/>
                <a:cs typeface="Arial" pitchFamily="34" charset="-120"/>
              </a:rPr>
              <a:t>粗利の減少</a:t>
            </a:r>
            <a:endParaRPr lang="en-US" sz="1000" dirty="0"/>
          </a:p>
        </p:txBody>
      </p:sp>
      <p:sp>
        <p:nvSpPr>
          <p:cNvPr id="12" name="Shape 10"/>
          <p:cNvSpPr/>
          <p:nvPr/>
        </p:nvSpPr>
        <p:spPr>
          <a:xfrm>
            <a:off x="5715000" y="3681699"/>
            <a:ext cx="1783080" cy="578542"/>
          </a:xfrm>
          <a:prstGeom prst="rect">
            <a:avLst/>
          </a:prstGeom>
          <a:solidFill>
            <a:srgbClr val="6D2E46"/>
          </a:solidFill>
          <a:ln/>
        </p:spPr>
      </p:sp>
      <p:sp>
        <p:nvSpPr>
          <p:cNvPr id="13" name="Text 11"/>
          <p:cNvSpPr/>
          <p:nvPr/>
        </p:nvSpPr>
        <p:spPr>
          <a:xfrm>
            <a:off x="5715000" y="3352515"/>
            <a:ext cx="1783080" cy="292608"/>
          </a:xfrm>
          <a:prstGeom prst="rect">
            <a:avLst/>
          </a:prstGeom>
          <a:noFill/>
          <a:ln/>
        </p:spPr>
        <p:txBody>
          <a:bodyPr wrap="square" lIns="0" tIns="0" rIns="0" bIns="0" rtlCol="0" anchor="ctr"/>
          <a:lstStyle/>
          <a:p>
            <a:pPr algn="ctr" indent="0" marL="0">
              <a:buNone/>
            </a:pPr>
            <a:r>
              <a:rPr lang="en-US" sz="1300" b="1" dirty="0">
                <a:solidFill>
                  <a:srgbClr val="6D2E46"/>
                </a:solidFill>
                <a:latin typeface="Cambria" pitchFamily="34" charset="0"/>
                <a:ea typeface="Cambria" pitchFamily="34" charset="-122"/>
                <a:cs typeface="Cambria" pitchFamily="34" charset="-120"/>
              </a:rPr>
              <a:t>+43.8</a:t>
            </a:r>
            <a:endParaRPr lang="en-US" sz="1300" dirty="0"/>
          </a:p>
        </p:txBody>
      </p:sp>
      <p:sp>
        <p:nvSpPr>
          <p:cNvPr id="14" name="Text 12"/>
          <p:cNvSpPr/>
          <p:nvPr/>
        </p:nvSpPr>
        <p:spPr>
          <a:xfrm>
            <a:off x="5577840" y="4754880"/>
            <a:ext cx="2057400" cy="640080"/>
          </a:xfrm>
          <a:prstGeom prst="rect">
            <a:avLst/>
          </a:prstGeom>
          <a:noFill/>
          <a:ln/>
        </p:spPr>
        <p:txBody>
          <a:bodyPr wrap="square" lIns="0" tIns="0" rIns="0" bIns="0" rtlCol="0" anchor="ctr"/>
          <a:lstStyle/>
          <a:p>
            <a:pPr algn="ctr" indent="0" marL="0">
              <a:buNone/>
            </a:pPr>
            <a:r>
              <a:rPr lang="en-US" sz="1000" dirty="0">
                <a:solidFill>
                  <a:srgbClr val="2B2B2B"/>
                </a:solidFill>
                <a:latin typeface="Arial" pitchFamily="34" charset="0"/>
                <a:ea typeface="Arial" pitchFamily="34" charset="-122"/>
                <a:cs typeface="Arial" pitchFamily="34" charset="-120"/>
              </a:rPr>
              <a:t>② 販管費</a:t>
            </a:r>
            <a:endParaRPr lang="en-US" sz="1000" dirty="0"/>
          </a:p>
          <a:p>
            <a:pPr algn="ctr" indent="0" marL="0">
              <a:buNone/>
            </a:pPr>
            <a:r>
              <a:rPr lang="en-US" sz="1000" dirty="0">
                <a:solidFill>
                  <a:srgbClr val="2B2B2B"/>
                </a:solidFill>
                <a:latin typeface="Arial" pitchFamily="34" charset="0"/>
                <a:ea typeface="Arial" pitchFamily="34" charset="-122"/>
                <a:cs typeface="Arial" pitchFamily="34" charset="-120"/>
              </a:rPr>
              <a:t>の削減</a:t>
            </a:r>
            <a:endParaRPr lang="en-US" sz="1000" dirty="0"/>
          </a:p>
        </p:txBody>
      </p:sp>
      <p:sp>
        <p:nvSpPr>
          <p:cNvPr id="15" name="Shape 13"/>
          <p:cNvSpPr/>
          <p:nvPr/>
        </p:nvSpPr>
        <p:spPr>
          <a:xfrm>
            <a:off x="7955280" y="1930415"/>
            <a:ext cx="1783080" cy="1751284"/>
          </a:xfrm>
          <a:prstGeom prst="rect">
            <a:avLst/>
          </a:prstGeom>
          <a:solidFill>
            <a:srgbClr val="6D2E46"/>
          </a:solidFill>
          <a:ln/>
        </p:spPr>
      </p:sp>
      <p:sp>
        <p:nvSpPr>
          <p:cNvPr id="16" name="Text 14"/>
          <p:cNvSpPr/>
          <p:nvPr/>
        </p:nvSpPr>
        <p:spPr>
          <a:xfrm>
            <a:off x="7955280" y="1601231"/>
            <a:ext cx="1783080" cy="292608"/>
          </a:xfrm>
          <a:prstGeom prst="rect">
            <a:avLst/>
          </a:prstGeom>
          <a:noFill/>
          <a:ln/>
        </p:spPr>
        <p:txBody>
          <a:bodyPr wrap="square" lIns="0" tIns="0" rIns="0" bIns="0" rtlCol="0" anchor="ctr"/>
          <a:lstStyle/>
          <a:p>
            <a:pPr algn="ctr" indent="0" marL="0">
              <a:buNone/>
            </a:pPr>
            <a:r>
              <a:rPr lang="en-US" sz="1300" b="1" dirty="0">
                <a:solidFill>
                  <a:srgbClr val="6D2E46"/>
                </a:solidFill>
                <a:latin typeface="Cambria" pitchFamily="34" charset="0"/>
                <a:ea typeface="Cambria" pitchFamily="34" charset="-122"/>
                <a:cs typeface="Cambria" pitchFamily="34" charset="-120"/>
              </a:rPr>
              <a:t>+132.5</a:t>
            </a:r>
            <a:endParaRPr lang="en-US" sz="1300" dirty="0"/>
          </a:p>
        </p:txBody>
      </p:sp>
      <p:sp>
        <p:nvSpPr>
          <p:cNvPr id="17" name="Text 15"/>
          <p:cNvSpPr/>
          <p:nvPr/>
        </p:nvSpPr>
        <p:spPr>
          <a:xfrm>
            <a:off x="7818120" y="4754880"/>
            <a:ext cx="2057400" cy="640080"/>
          </a:xfrm>
          <a:prstGeom prst="rect">
            <a:avLst/>
          </a:prstGeom>
          <a:noFill/>
          <a:ln/>
        </p:spPr>
        <p:txBody>
          <a:bodyPr wrap="square" lIns="0" tIns="0" rIns="0" bIns="0" rtlCol="0" anchor="ctr"/>
          <a:lstStyle/>
          <a:p>
            <a:pPr algn="ctr" indent="0" marL="0">
              <a:buNone/>
            </a:pPr>
            <a:r>
              <a:rPr lang="en-US" sz="1000" dirty="0">
                <a:solidFill>
                  <a:srgbClr val="2B2B2B"/>
                </a:solidFill>
                <a:latin typeface="Arial" pitchFamily="34" charset="0"/>
                <a:ea typeface="Arial" pitchFamily="34" charset="-122"/>
                <a:cs typeface="Arial" pitchFamily="34" charset="-120"/>
              </a:rPr>
              <a:t>③ 上乗せ案件</a:t>
            </a:r>
            <a:endParaRPr lang="en-US" sz="1000" dirty="0"/>
          </a:p>
          <a:p>
            <a:pPr algn="ctr" indent="0" marL="0">
              <a:buNone/>
            </a:pPr>
            <a:r>
              <a:rPr lang="en-US" sz="1000" dirty="0">
                <a:solidFill>
                  <a:srgbClr val="2B2B2B"/>
                </a:solidFill>
                <a:latin typeface="Arial" pitchFamily="34" charset="0"/>
                <a:ea typeface="Arial" pitchFamily="34" charset="-122"/>
                <a:cs typeface="Arial" pitchFamily="34" charset="-120"/>
              </a:rPr>
              <a:t>（営業収益）</a:t>
            </a:r>
            <a:endParaRPr lang="en-US" sz="1000" dirty="0"/>
          </a:p>
        </p:txBody>
      </p:sp>
      <p:sp>
        <p:nvSpPr>
          <p:cNvPr id="18" name="Shape 16"/>
          <p:cNvSpPr/>
          <p:nvPr/>
        </p:nvSpPr>
        <p:spPr>
          <a:xfrm>
            <a:off x="10195560" y="1930415"/>
            <a:ext cx="1783080" cy="435387"/>
          </a:xfrm>
          <a:prstGeom prst="rect">
            <a:avLst/>
          </a:prstGeom>
          <a:solidFill>
            <a:srgbClr val="4A4A4A"/>
          </a:solidFill>
          <a:ln/>
        </p:spPr>
      </p:sp>
      <p:sp>
        <p:nvSpPr>
          <p:cNvPr id="19" name="Text 17"/>
          <p:cNvSpPr/>
          <p:nvPr/>
        </p:nvSpPr>
        <p:spPr>
          <a:xfrm>
            <a:off x="10195560" y="1601231"/>
            <a:ext cx="1783080" cy="292608"/>
          </a:xfrm>
          <a:prstGeom prst="rect">
            <a:avLst/>
          </a:prstGeom>
          <a:noFill/>
          <a:ln/>
        </p:spPr>
        <p:txBody>
          <a:bodyPr wrap="square" lIns="0" tIns="0" rIns="0" bIns="0" rtlCol="0" anchor="ctr"/>
          <a:lstStyle/>
          <a:p>
            <a:pPr algn="ctr" indent="0" marL="0">
              <a:buNone/>
            </a:pPr>
            <a:r>
              <a:rPr lang="en-US" sz="1300" b="1" dirty="0">
                <a:solidFill>
                  <a:srgbClr val="4A4A4A"/>
                </a:solidFill>
                <a:latin typeface="Cambria" pitchFamily="34" charset="0"/>
                <a:ea typeface="Cambria" pitchFamily="34" charset="-122"/>
                <a:cs typeface="Cambria" pitchFamily="34" charset="-120"/>
              </a:rPr>
              <a:t>+32.9</a:t>
            </a:r>
            <a:endParaRPr lang="en-US" sz="1300" dirty="0"/>
          </a:p>
        </p:txBody>
      </p:sp>
      <p:sp>
        <p:nvSpPr>
          <p:cNvPr id="20" name="Text 18"/>
          <p:cNvSpPr/>
          <p:nvPr/>
        </p:nvSpPr>
        <p:spPr>
          <a:xfrm>
            <a:off x="10058400" y="4754880"/>
            <a:ext cx="2057400" cy="640080"/>
          </a:xfrm>
          <a:prstGeom prst="rect">
            <a:avLst/>
          </a:prstGeom>
          <a:noFill/>
          <a:ln/>
        </p:spPr>
        <p:txBody>
          <a:bodyPr wrap="square" lIns="0" tIns="0" rIns="0" bIns="0" rtlCol="0" anchor="ctr"/>
          <a:lstStyle/>
          <a:p>
            <a:pPr algn="ctr" indent="0" marL="0">
              <a:buNone/>
            </a:pPr>
            <a:r>
              <a:rPr lang="en-US" sz="1000" dirty="0">
                <a:solidFill>
                  <a:srgbClr val="2B2B2B"/>
                </a:solidFill>
                <a:latin typeface="Arial" pitchFamily="34" charset="0"/>
                <a:ea typeface="Arial" pitchFamily="34" charset="-122"/>
                <a:cs typeface="Arial" pitchFamily="34" charset="-120"/>
              </a:rPr>
              <a:t>FY2027 営業利益</a:t>
            </a:r>
            <a:endParaRPr lang="en-US" sz="1000" dirty="0"/>
          </a:p>
          <a:p>
            <a:pPr algn="ctr" indent="0" marL="0">
              <a:buNone/>
            </a:pPr>
            <a:r>
              <a:rPr lang="en-US" sz="1000" dirty="0">
                <a:solidFill>
                  <a:srgbClr val="2B2B2B"/>
                </a:solidFill>
                <a:latin typeface="Arial" pitchFamily="34" charset="0"/>
                <a:ea typeface="Arial" pitchFamily="34" charset="-122"/>
                <a:cs typeface="Arial" pitchFamily="34" charset="-120"/>
              </a:rPr>
              <a:t>（プランB）</a:t>
            </a:r>
            <a:endParaRPr lang="en-US" sz="1000" dirty="0"/>
          </a:p>
        </p:txBody>
      </p:sp>
      <p:sp>
        <p:nvSpPr>
          <p:cNvPr id="21" name="Text 19"/>
          <p:cNvSpPr/>
          <p:nvPr/>
        </p:nvSpPr>
        <p:spPr>
          <a:xfrm>
            <a:off x="594360" y="1298448"/>
            <a:ext cx="1828800" cy="237744"/>
          </a:xfrm>
          <a:prstGeom prst="rect">
            <a:avLst/>
          </a:prstGeom>
          <a:noFill/>
          <a:ln/>
        </p:spPr>
        <p:txBody>
          <a:bodyPr wrap="square" lIns="0" tIns="0" rIns="0" bIns="0" rtlCol="0" anchor="ctr"/>
          <a:lstStyle/>
          <a:p>
            <a:pPr indent="0" marL="0">
              <a:buNone/>
            </a:pPr>
            <a:r>
              <a:rPr lang="en-US" sz="900" dirty="0">
                <a:solidFill>
                  <a:srgbClr val="7A6A64"/>
                </a:solidFill>
                <a:latin typeface="Arial" pitchFamily="34" charset="0"/>
                <a:ea typeface="Arial" pitchFamily="34" charset="-122"/>
                <a:cs typeface="Arial" pitchFamily="34" charset="-120"/>
              </a:rPr>
              <a:t>単位：百万円</a:t>
            </a:r>
            <a:endParaRPr lang="en-US" sz="900" dirty="0"/>
          </a:p>
        </p:txBody>
      </p:sp>
      <p:sp>
        <p:nvSpPr>
          <p:cNvPr id="22" name="Shape 20"/>
          <p:cNvSpPr/>
          <p:nvPr/>
        </p:nvSpPr>
        <p:spPr>
          <a:xfrm>
            <a:off x="822960" y="5632704"/>
            <a:ext cx="10607040" cy="621792"/>
          </a:xfrm>
          <a:prstGeom prst="roundRect">
            <a:avLst>
              <a:gd name="adj" fmla="val 8824"/>
            </a:avLst>
          </a:prstGeom>
          <a:solidFill>
            <a:srgbClr val="ECE2D0"/>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3" name="Text 21"/>
          <p:cNvSpPr/>
          <p:nvPr/>
        </p:nvSpPr>
        <p:spPr>
          <a:xfrm>
            <a:off x="1051560" y="5632704"/>
            <a:ext cx="10149840" cy="621792"/>
          </a:xfrm>
          <a:prstGeom prst="rect">
            <a:avLst/>
          </a:prstGeom>
          <a:noFill/>
          <a:ln/>
        </p:spPr>
        <p:txBody>
          <a:bodyPr wrap="square" lIns="0" tIns="0" rIns="0" bIns="0" rtlCol="0" anchor="ctr"/>
          <a:lstStyle/>
          <a:p>
            <a:pPr indent="0" marL="0">
              <a:buNone/>
            </a:pPr>
            <a:r>
              <a:rPr lang="en-US" sz="1220" b="1" dirty="0">
                <a:solidFill>
                  <a:srgbClr val="6D2E46"/>
                </a:solidFill>
                <a:latin typeface="Arial" pitchFamily="34" charset="0"/>
                <a:ea typeface="Arial" pitchFamily="34" charset="-122"/>
                <a:cs typeface="Arial" pitchFamily="34" charset="-120"/>
              </a:rPr>
              <a:t>FY2026 ▲114.8百万円　→　FY2027 ＋32.9百万円。上乗せ案件と固定費削減だけで、営業損益は147.7百万円改善します。</a:t>
            </a:r>
            <a:endParaRPr lang="en-US" sz="1220" dirty="0"/>
          </a:p>
        </p:txBody>
      </p:sp>
      <p:sp>
        <p:nvSpPr>
          <p:cNvPr id="24" name="Text 22"/>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①はFY2026に含まれる大口案件（2025/11・2026/09）を保守的にゼロと置いたことによる減少。</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4つのプラン － 資金繰りが成立するのはDのみ</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ワイン仕入を落とさない前提では、経常利益1億円（プランC）でも資金が回りません。</a:t>
            </a:r>
            <a:endParaRPr lang="en-US" sz="1250" dirty="0"/>
          </a:p>
        </p:txBody>
      </p:sp>
      <p:sp>
        <p:nvSpPr>
          <p:cNvPr id="4" name="Shape 2"/>
          <p:cNvSpPr/>
          <p:nvPr/>
        </p:nvSpPr>
        <p:spPr>
          <a:xfrm>
            <a:off x="594360" y="1517904"/>
            <a:ext cx="10972800" cy="384048"/>
          </a:xfrm>
          <a:prstGeom prst="rect">
            <a:avLst/>
          </a:prstGeom>
          <a:solidFill>
            <a:srgbClr val="6D2E46"/>
          </a:solidFill>
          <a:ln/>
        </p:spPr>
      </p:sp>
      <p:sp>
        <p:nvSpPr>
          <p:cNvPr id="5" name="Text 3"/>
          <p:cNvSpPr/>
          <p:nvPr/>
        </p:nvSpPr>
        <p:spPr>
          <a:xfrm>
            <a:off x="704088" y="1517904"/>
            <a:ext cx="2798064" cy="384048"/>
          </a:xfrm>
          <a:prstGeom prst="rect">
            <a:avLst/>
          </a:prstGeom>
          <a:noFill/>
          <a:ln/>
        </p:spPr>
        <p:txBody>
          <a:bodyPr wrap="square" lIns="0" tIns="0" rIns="0" bIns="0" rtlCol="0" anchor="ctr"/>
          <a:lstStyle/>
          <a:p>
            <a:pPr algn="l" indent="0" marL="0">
              <a:buNone/>
            </a:pPr>
            <a:r>
              <a:rPr lang="en-US" sz="950" b="1" dirty="0">
                <a:solidFill>
                  <a:srgbClr val="FFFFFF"/>
                </a:solidFill>
                <a:latin typeface="Arial" pitchFamily="34" charset="0"/>
                <a:ea typeface="Arial" pitchFamily="34" charset="-122"/>
                <a:cs typeface="Arial" pitchFamily="34" charset="-120"/>
              </a:rPr>
              <a:t>（百万円）</a:t>
            </a:r>
            <a:endParaRPr lang="en-US" sz="950" dirty="0"/>
          </a:p>
        </p:txBody>
      </p:sp>
      <p:sp>
        <p:nvSpPr>
          <p:cNvPr id="6" name="Text 4"/>
          <p:cNvSpPr/>
          <p:nvPr/>
        </p:nvSpPr>
        <p:spPr>
          <a:xfrm>
            <a:off x="3721608" y="1517904"/>
            <a:ext cx="174650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A. 横ばいのみ</a:t>
            </a:r>
            <a:endParaRPr lang="en-US" sz="950" dirty="0"/>
          </a:p>
        </p:txBody>
      </p:sp>
      <p:sp>
        <p:nvSpPr>
          <p:cNvPr id="7" name="Text 5"/>
          <p:cNvSpPr/>
          <p:nvPr/>
        </p:nvSpPr>
        <p:spPr>
          <a:xfrm>
            <a:off x="5687568" y="1517904"/>
            <a:ext cx="174650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B. ＋上乗せ132.5</a:t>
            </a:r>
            <a:endParaRPr lang="en-US" sz="950" dirty="0"/>
          </a:p>
        </p:txBody>
      </p:sp>
      <p:sp>
        <p:nvSpPr>
          <p:cNvPr id="8" name="Text 6"/>
          <p:cNvSpPr/>
          <p:nvPr/>
        </p:nvSpPr>
        <p:spPr>
          <a:xfrm>
            <a:off x="7653528" y="1517904"/>
            <a:ext cx="174650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C. 経常利益1億円</a:t>
            </a:r>
            <a:endParaRPr lang="en-US" sz="950" dirty="0"/>
          </a:p>
        </p:txBody>
      </p:sp>
      <p:sp>
        <p:nvSpPr>
          <p:cNvPr id="9" name="Text 7"/>
          <p:cNvSpPr/>
          <p:nvPr/>
        </p:nvSpPr>
        <p:spPr>
          <a:xfrm>
            <a:off x="9619488" y="1517904"/>
            <a:ext cx="183794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D. CFが回る水準</a:t>
            </a:r>
            <a:endParaRPr lang="en-US" sz="950" dirty="0"/>
          </a:p>
        </p:txBody>
      </p:sp>
      <p:sp>
        <p:nvSpPr>
          <p:cNvPr id="10" name="Shape 8"/>
          <p:cNvSpPr/>
          <p:nvPr/>
        </p:nvSpPr>
        <p:spPr>
          <a:xfrm>
            <a:off x="594360" y="1901952"/>
            <a:ext cx="10972800" cy="512064"/>
          </a:xfrm>
          <a:prstGeom prst="rect">
            <a:avLst/>
          </a:prstGeom>
          <a:solidFill>
            <a:srgbClr val="FFFFFF"/>
          </a:solidFill>
          <a:ln w="6350">
            <a:solidFill>
              <a:srgbClr val="DED5CE"/>
            </a:solidFill>
            <a:prstDash val="solid"/>
          </a:ln>
        </p:spPr>
      </p:sp>
      <p:sp>
        <p:nvSpPr>
          <p:cNvPr id="11" name="Text 9"/>
          <p:cNvSpPr/>
          <p:nvPr/>
        </p:nvSpPr>
        <p:spPr>
          <a:xfrm>
            <a:off x="704088" y="1901952"/>
            <a:ext cx="2798064" cy="512064"/>
          </a:xfrm>
          <a:prstGeom prst="rect">
            <a:avLst/>
          </a:prstGeom>
          <a:noFill/>
          <a:ln/>
        </p:spPr>
        <p:txBody>
          <a:bodyPr wrap="square" lIns="0" tIns="0" rIns="0" bIns="0" rtlCol="0" anchor="ctr"/>
          <a:lstStyle/>
          <a:p>
            <a:pPr algn="l" indent="0" marL="0">
              <a:buNone/>
            </a:pPr>
            <a:r>
              <a:rPr lang="en-US" sz="1050" dirty="0">
                <a:solidFill>
                  <a:srgbClr val="2B2B2B"/>
                </a:solidFill>
                <a:latin typeface="Arial" pitchFamily="34" charset="0"/>
                <a:ea typeface="Arial" pitchFamily="34" charset="-122"/>
                <a:cs typeface="Arial" pitchFamily="34" charset="-120"/>
              </a:rPr>
              <a:t>売上高</a:t>
            </a:r>
            <a:endParaRPr lang="en-US" sz="1050" dirty="0"/>
          </a:p>
        </p:txBody>
      </p:sp>
      <p:sp>
        <p:nvSpPr>
          <p:cNvPr id="12" name="Text 10"/>
          <p:cNvSpPr/>
          <p:nvPr/>
        </p:nvSpPr>
        <p:spPr>
          <a:xfrm>
            <a:off x="3721608" y="1901952"/>
            <a:ext cx="1746504" cy="512064"/>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389.1</a:t>
            </a:r>
            <a:endParaRPr lang="en-US" sz="1050" dirty="0"/>
          </a:p>
        </p:txBody>
      </p:sp>
      <p:sp>
        <p:nvSpPr>
          <p:cNvPr id="13" name="Text 11"/>
          <p:cNvSpPr/>
          <p:nvPr/>
        </p:nvSpPr>
        <p:spPr>
          <a:xfrm>
            <a:off x="5687568" y="1901952"/>
            <a:ext cx="1746504" cy="512064"/>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389.1</a:t>
            </a:r>
            <a:endParaRPr lang="en-US" sz="1050" dirty="0"/>
          </a:p>
        </p:txBody>
      </p:sp>
      <p:sp>
        <p:nvSpPr>
          <p:cNvPr id="14" name="Text 12"/>
          <p:cNvSpPr/>
          <p:nvPr/>
        </p:nvSpPr>
        <p:spPr>
          <a:xfrm>
            <a:off x="7653528" y="1901952"/>
            <a:ext cx="1746504" cy="512064"/>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548.3</a:t>
            </a:r>
            <a:endParaRPr lang="en-US" sz="1050" dirty="0"/>
          </a:p>
        </p:txBody>
      </p:sp>
      <p:sp>
        <p:nvSpPr>
          <p:cNvPr id="15" name="Text 13"/>
          <p:cNvSpPr/>
          <p:nvPr/>
        </p:nvSpPr>
        <p:spPr>
          <a:xfrm>
            <a:off x="9619488" y="1901952"/>
            <a:ext cx="1837944" cy="512064"/>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621.1</a:t>
            </a:r>
            <a:endParaRPr lang="en-US" sz="1050" dirty="0"/>
          </a:p>
        </p:txBody>
      </p:sp>
      <p:sp>
        <p:nvSpPr>
          <p:cNvPr id="16" name="Shape 14"/>
          <p:cNvSpPr/>
          <p:nvPr/>
        </p:nvSpPr>
        <p:spPr>
          <a:xfrm>
            <a:off x="594360" y="2414016"/>
            <a:ext cx="10972800" cy="512064"/>
          </a:xfrm>
          <a:prstGeom prst="rect">
            <a:avLst/>
          </a:prstGeom>
          <a:solidFill>
            <a:srgbClr val="FBF9F7"/>
          </a:solidFill>
          <a:ln w="6350">
            <a:solidFill>
              <a:srgbClr val="DED5CE"/>
            </a:solidFill>
            <a:prstDash val="solid"/>
          </a:ln>
        </p:spPr>
      </p:sp>
      <p:sp>
        <p:nvSpPr>
          <p:cNvPr id="17" name="Text 15"/>
          <p:cNvSpPr/>
          <p:nvPr/>
        </p:nvSpPr>
        <p:spPr>
          <a:xfrm>
            <a:off x="704088" y="2414016"/>
            <a:ext cx="2798064" cy="512064"/>
          </a:xfrm>
          <a:prstGeom prst="rect">
            <a:avLst/>
          </a:prstGeom>
          <a:noFill/>
          <a:ln/>
        </p:spPr>
        <p:txBody>
          <a:bodyPr wrap="square" lIns="0" tIns="0" rIns="0" bIns="0" rtlCol="0" anchor="ctr"/>
          <a:lstStyle/>
          <a:p>
            <a:pPr algn="l" indent="0" marL="0">
              <a:buNone/>
            </a:pPr>
            <a:r>
              <a:rPr lang="en-US" sz="1050" dirty="0">
                <a:solidFill>
                  <a:srgbClr val="2B2B2B"/>
                </a:solidFill>
                <a:latin typeface="Arial" pitchFamily="34" charset="0"/>
                <a:ea typeface="Arial" pitchFamily="34" charset="-122"/>
                <a:cs typeface="Arial" pitchFamily="34" charset="-120"/>
              </a:rPr>
              <a:t>売上総利益 合計</a:t>
            </a:r>
            <a:endParaRPr lang="en-US" sz="1050" dirty="0"/>
          </a:p>
        </p:txBody>
      </p:sp>
      <p:sp>
        <p:nvSpPr>
          <p:cNvPr id="18" name="Text 16"/>
          <p:cNvSpPr/>
          <p:nvPr/>
        </p:nvSpPr>
        <p:spPr>
          <a:xfrm>
            <a:off x="3721608" y="2414016"/>
            <a:ext cx="1746504" cy="512064"/>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200.6</a:t>
            </a:r>
            <a:endParaRPr lang="en-US" sz="1050" dirty="0"/>
          </a:p>
        </p:txBody>
      </p:sp>
      <p:sp>
        <p:nvSpPr>
          <p:cNvPr id="19" name="Text 17"/>
          <p:cNvSpPr/>
          <p:nvPr/>
        </p:nvSpPr>
        <p:spPr>
          <a:xfrm>
            <a:off x="5687568" y="2414016"/>
            <a:ext cx="1746504" cy="512064"/>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333.1</a:t>
            </a:r>
            <a:endParaRPr lang="en-US" sz="1050" dirty="0"/>
          </a:p>
        </p:txBody>
      </p:sp>
      <p:sp>
        <p:nvSpPr>
          <p:cNvPr id="20" name="Text 18"/>
          <p:cNvSpPr/>
          <p:nvPr/>
        </p:nvSpPr>
        <p:spPr>
          <a:xfrm>
            <a:off x="7653528" y="2414016"/>
            <a:ext cx="1746504" cy="512064"/>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415.2</a:t>
            </a:r>
            <a:endParaRPr lang="en-US" sz="1050" dirty="0"/>
          </a:p>
        </p:txBody>
      </p:sp>
      <p:sp>
        <p:nvSpPr>
          <p:cNvPr id="21" name="Text 19"/>
          <p:cNvSpPr/>
          <p:nvPr/>
        </p:nvSpPr>
        <p:spPr>
          <a:xfrm>
            <a:off x="9619488" y="2414016"/>
            <a:ext cx="1837944" cy="512064"/>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452.7</a:t>
            </a:r>
            <a:endParaRPr lang="en-US" sz="1050" dirty="0"/>
          </a:p>
        </p:txBody>
      </p:sp>
      <p:sp>
        <p:nvSpPr>
          <p:cNvPr id="22" name="Shape 20"/>
          <p:cNvSpPr/>
          <p:nvPr/>
        </p:nvSpPr>
        <p:spPr>
          <a:xfrm>
            <a:off x="594360" y="2926080"/>
            <a:ext cx="10972800" cy="512064"/>
          </a:xfrm>
          <a:prstGeom prst="rect">
            <a:avLst/>
          </a:prstGeom>
          <a:solidFill>
            <a:srgbClr val="FFFFFF"/>
          </a:solidFill>
          <a:ln w="6350">
            <a:solidFill>
              <a:srgbClr val="DED5CE"/>
            </a:solidFill>
            <a:prstDash val="solid"/>
          </a:ln>
        </p:spPr>
      </p:sp>
      <p:sp>
        <p:nvSpPr>
          <p:cNvPr id="23" name="Text 21"/>
          <p:cNvSpPr/>
          <p:nvPr/>
        </p:nvSpPr>
        <p:spPr>
          <a:xfrm>
            <a:off x="704088" y="2926080"/>
            <a:ext cx="2798064" cy="512064"/>
          </a:xfrm>
          <a:prstGeom prst="rect">
            <a:avLst/>
          </a:prstGeom>
          <a:noFill/>
          <a:ln/>
        </p:spPr>
        <p:txBody>
          <a:bodyPr wrap="square" lIns="0" tIns="0" rIns="0" bIns="0" rtlCol="0" anchor="ctr"/>
          <a:lstStyle/>
          <a:p>
            <a:pPr algn="l" indent="0" marL="0">
              <a:buNone/>
            </a:pPr>
            <a:r>
              <a:rPr lang="en-US" sz="1050" dirty="0">
                <a:solidFill>
                  <a:srgbClr val="2B2B2B"/>
                </a:solidFill>
                <a:latin typeface="Arial" pitchFamily="34" charset="0"/>
                <a:ea typeface="Arial" pitchFamily="34" charset="-122"/>
                <a:cs typeface="Arial" pitchFamily="34" charset="-120"/>
              </a:rPr>
              <a:t>販管費</a:t>
            </a:r>
            <a:endParaRPr lang="en-US" sz="1050" dirty="0"/>
          </a:p>
        </p:txBody>
      </p:sp>
      <p:sp>
        <p:nvSpPr>
          <p:cNvPr id="24" name="Text 22"/>
          <p:cNvSpPr/>
          <p:nvPr/>
        </p:nvSpPr>
        <p:spPr>
          <a:xfrm>
            <a:off x="3721608" y="2926080"/>
            <a:ext cx="1746504" cy="512064"/>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300.2</a:t>
            </a:r>
            <a:endParaRPr lang="en-US" sz="1050" dirty="0"/>
          </a:p>
        </p:txBody>
      </p:sp>
      <p:sp>
        <p:nvSpPr>
          <p:cNvPr id="25" name="Text 23"/>
          <p:cNvSpPr/>
          <p:nvPr/>
        </p:nvSpPr>
        <p:spPr>
          <a:xfrm>
            <a:off x="5687568" y="2926080"/>
            <a:ext cx="1746504" cy="512064"/>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300.2</a:t>
            </a:r>
            <a:endParaRPr lang="en-US" sz="1050" dirty="0"/>
          </a:p>
        </p:txBody>
      </p:sp>
      <p:sp>
        <p:nvSpPr>
          <p:cNvPr id="26" name="Text 24"/>
          <p:cNvSpPr/>
          <p:nvPr/>
        </p:nvSpPr>
        <p:spPr>
          <a:xfrm>
            <a:off x="7653528" y="2926080"/>
            <a:ext cx="1746504" cy="512064"/>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300.2</a:t>
            </a:r>
            <a:endParaRPr lang="en-US" sz="1050" dirty="0"/>
          </a:p>
        </p:txBody>
      </p:sp>
      <p:sp>
        <p:nvSpPr>
          <p:cNvPr id="27" name="Text 25"/>
          <p:cNvSpPr/>
          <p:nvPr/>
        </p:nvSpPr>
        <p:spPr>
          <a:xfrm>
            <a:off x="9619488" y="2926080"/>
            <a:ext cx="1837944" cy="512064"/>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300.2</a:t>
            </a:r>
            <a:endParaRPr lang="en-US" sz="1050" dirty="0"/>
          </a:p>
        </p:txBody>
      </p:sp>
      <p:sp>
        <p:nvSpPr>
          <p:cNvPr id="28" name="Shape 26"/>
          <p:cNvSpPr/>
          <p:nvPr/>
        </p:nvSpPr>
        <p:spPr>
          <a:xfrm>
            <a:off x="594360" y="3438144"/>
            <a:ext cx="10972800" cy="512064"/>
          </a:xfrm>
          <a:prstGeom prst="rect">
            <a:avLst/>
          </a:prstGeom>
          <a:solidFill>
            <a:srgbClr val="ECE2D0"/>
          </a:solidFill>
          <a:ln w="6350">
            <a:solidFill>
              <a:srgbClr val="DED5CE"/>
            </a:solidFill>
            <a:prstDash val="solid"/>
          </a:ln>
        </p:spPr>
      </p:sp>
      <p:sp>
        <p:nvSpPr>
          <p:cNvPr id="29" name="Text 27"/>
          <p:cNvSpPr/>
          <p:nvPr/>
        </p:nvSpPr>
        <p:spPr>
          <a:xfrm>
            <a:off x="704088" y="3438144"/>
            <a:ext cx="2798064" cy="512064"/>
          </a:xfrm>
          <a:prstGeom prst="rect">
            <a:avLst/>
          </a:prstGeom>
          <a:noFill/>
          <a:ln/>
        </p:spPr>
        <p:txBody>
          <a:bodyPr wrap="square" lIns="0" tIns="0" rIns="0" bIns="0" rtlCol="0" anchor="ctr"/>
          <a:lstStyle/>
          <a:p>
            <a:pPr algn="l" indent="0" marL="0">
              <a:buNone/>
            </a:pPr>
            <a:r>
              <a:rPr lang="en-US" sz="1050" b="1" dirty="0">
                <a:solidFill>
                  <a:srgbClr val="6D2E46"/>
                </a:solidFill>
                <a:latin typeface="Arial" pitchFamily="34" charset="0"/>
                <a:ea typeface="Arial" pitchFamily="34" charset="-122"/>
                <a:cs typeface="Arial" pitchFamily="34" charset="-120"/>
              </a:rPr>
              <a:t>営業利益</a:t>
            </a:r>
            <a:endParaRPr lang="en-US" sz="1050" dirty="0"/>
          </a:p>
        </p:txBody>
      </p:sp>
      <p:sp>
        <p:nvSpPr>
          <p:cNvPr id="30" name="Text 28"/>
          <p:cNvSpPr/>
          <p:nvPr/>
        </p:nvSpPr>
        <p:spPr>
          <a:xfrm>
            <a:off x="3721608" y="3438144"/>
            <a:ext cx="1746504" cy="512064"/>
          </a:xfrm>
          <a:prstGeom prst="rect">
            <a:avLst/>
          </a:prstGeom>
          <a:noFill/>
          <a:ln/>
        </p:spPr>
        <p:txBody>
          <a:bodyPr wrap="square" lIns="0" tIns="0" rIns="0" bIns="0" rtlCol="0" anchor="ctr"/>
          <a:lstStyle/>
          <a:p>
            <a:pPr algn="r" indent="0" marL="0">
              <a:buNone/>
            </a:pPr>
            <a:r>
              <a:rPr lang="en-US" sz="1050" b="1" dirty="0">
                <a:solidFill>
                  <a:srgbClr val="C0392B"/>
                </a:solidFill>
                <a:latin typeface="Arial" pitchFamily="34" charset="0"/>
                <a:ea typeface="Arial" pitchFamily="34" charset="-122"/>
                <a:cs typeface="Arial" pitchFamily="34" charset="-120"/>
              </a:rPr>
              <a:t>▲99.6</a:t>
            </a:r>
            <a:endParaRPr lang="en-US" sz="1050" dirty="0"/>
          </a:p>
        </p:txBody>
      </p:sp>
      <p:sp>
        <p:nvSpPr>
          <p:cNvPr id="31" name="Text 29"/>
          <p:cNvSpPr/>
          <p:nvPr/>
        </p:nvSpPr>
        <p:spPr>
          <a:xfrm>
            <a:off x="5687568" y="3438144"/>
            <a:ext cx="1746504" cy="512064"/>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＋32.9</a:t>
            </a:r>
            <a:endParaRPr lang="en-US" sz="1050" dirty="0"/>
          </a:p>
        </p:txBody>
      </p:sp>
      <p:sp>
        <p:nvSpPr>
          <p:cNvPr id="32" name="Text 30"/>
          <p:cNvSpPr/>
          <p:nvPr/>
        </p:nvSpPr>
        <p:spPr>
          <a:xfrm>
            <a:off x="7653528" y="3438144"/>
            <a:ext cx="1746504" cy="512064"/>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＋115.0</a:t>
            </a:r>
            <a:endParaRPr lang="en-US" sz="1050" dirty="0"/>
          </a:p>
        </p:txBody>
      </p:sp>
      <p:sp>
        <p:nvSpPr>
          <p:cNvPr id="33" name="Text 31"/>
          <p:cNvSpPr/>
          <p:nvPr/>
        </p:nvSpPr>
        <p:spPr>
          <a:xfrm>
            <a:off x="9619488" y="3438144"/>
            <a:ext cx="1837944" cy="512064"/>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＋152.5</a:t>
            </a:r>
            <a:endParaRPr lang="en-US" sz="1050" dirty="0"/>
          </a:p>
        </p:txBody>
      </p:sp>
      <p:sp>
        <p:nvSpPr>
          <p:cNvPr id="34" name="Shape 32"/>
          <p:cNvSpPr/>
          <p:nvPr/>
        </p:nvSpPr>
        <p:spPr>
          <a:xfrm>
            <a:off x="594360" y="3950208"/>
            <a:ext cx="10972800" cy="512064"/>
          </a:xfrm>
          <a:prstGeom prst="rect">
            <a:avLst/>
          </a:prstGeom>
          <a:solidFill>
            <a:srgbClr val="ECE2D0"/>
          </a:solidFill>
          <a:ln w="6350">
            <a:solidFill>
              <a:srgbClr val="DED5CE"/>
            </a:solidFill>
            <a:prstDash val="solid"/>
          </a:ln>
        </p:spPr>
      </p:sp>
      <p:sp>
        <p:nvSpPr>
          <p:cNvPr id="35" name="Text 33"/>
          <p:cNvSpPr/>
          <p:nvPr/>
        </p:nvSpPr>
        <p:spPr>
          <a:xfrm>
            <a:off x="704088" y="3950208"/>
            <a:ext cx="2798064" cy="512064"/>
          </a:xfrm>
          <a:prstGeom prst="rect">
            <a:avLst/>
          </a:prstGeom>
          <a:noFill/>
          <a:ln/>
        </p:spPr>
        <p:txBody>
          <a:bodyPr wrap="square" lIns="0" tIns="0" rIns="0" bIns="0" rtlCol="0" anchor="ctr"/>
          <a:lstStyle/>
          <a:p>
            <a:pPr algn="l" indent="0" marL="0">
              <a:buNone/>
            </a:pPr>
            <a:r>
              <a:rPr lang="en-US" sz="1050" b="1" dirty="0">
                <a:solidFill>
                  <a:srgbClr val="6D2E46"/>
                </a:solidFill>
                <a:latin typeface="Arial" pitchFamily="34" charset="0"/>
                <a:ea typeface="Arial" pitchFamily="34" charset="-122"/>
                <a:cs typeface="Arial" pitchFamily="34" charset="-120"/>
              </a:rPr>
              <a:t>経常利益</a:t>
            </a:r>
            <a:endParaRPr lang="en-US" sz="1050" dirty="0"/>
          </a:p>
        </p:txBody>
      </p:sp>
      <p:sp>
        <p:nvSpPr>
          <p:cNvPr id="36" name="Text 34"/>
          <p:cNvSpPr/>
          <p:nvPr/>
        </p:nvSpPr>
        <p:spPr>
          <a:xfrm>
            <a:off x="3721608" y="3950208"/>
            <a:ext cx="1746504" cy="512064"/>
          </a:xfrm>
          <a:prstGeom prst="rect">
            <a:avLst/>
          </a:prstGeom>
          <a:noFill/>
          <a:ln/>
        </p:spPr>
        <p:txBody>
          <a:bodyPr wrap="square" lIns="0" tIns="0" rIns="0" bIns="0" rtlCol="0" anchor="ctr"/>
          <a:lstStyle/>
          <a:p>
            <a:pPr algn="r" indent="0" marL="0">
              <a:buNone/>
            </a:pPr>
            <a:r>
              <a:rPr lang="en-US" sz="1050" b="1" dirty="0">
                <a:solidFill>
                  <a:srgbClr val="C0392B"/>
                </a:solidFill>
                <a:latin typeface="Arial" pitchFamily="34" charset="0"/>
                <a:ea typeface="Arial" pitchFamily="34" charset="-122"/>
                <a:cs typeface="Arial" pitchFamily="34" charset="-120"/>
              </a:rPr>
              <a:t>▲114.6</a:t>
            </a:r>
            <a:endParaRPr lang="en-US" sz="1050" dirty="0"/>
          </a:p>
        </p:txBody>
      </p:sp>
      <p:sp>
        <p:nvSpPr>
          <p:cNvPr id="37" name="Text 35"/>
          <p:cNvSpPr/>
          <p:nvPr/>
        </p:nvSpPr>
        <p:spPr>
          <a:xfrm>
            <a:off x="5687568" y="3950208"/>
            <a:ext cx="1746504" cy="512064"/>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＋17.9</a:t>
            </a:r>
            <a:endParaRPr lang="en-US" sz="1050" dirty="0"/>
          </a:p>
        </p:txBody>
      </p:sp>
      <p:sp>
        <p:nvSpPr>
          <p:cNvPr id="38" name="Text 36"/>
          <p:cNvSpPr/>
          <p:nvPr/>
        </p:nvSpPr>
        <p:spPr>
          <a:xfrm>
            <a:off x="7653528" y="3950208"/>
            <a:ext cx="1746504" cy="512064"/>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＋100.0</a:t>
            </a:r>
            <a:endParaRPr lang="en-US" sz="1050" dirty="0"/>
          </a:p>
        </p:txBody>
      </p:sp>
      <p:sp>
        <p:nvSpPr>
          <p:cNvPr id="39" name="Text 37"/>
          <p:cNvSpPr/>
          <p:nvPr/>
        </p:nvSpPr>
        <p:spPr>
          <a:xfrm>
            <a:off x="9619488" y="3950208"/>
            <a:ext cx="1837944" cy="512064"/>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＋137.5</a:t>
            </a:r>
            <a:endParaRPr lang="en-US" sz="1050" dirty="0"/>
          </a:p>
        </p:txBody>
      </p:sp>
      <p:sp>
        <p:nvSpPr>
          <p:cNvPr id="40" name="Shape 38"/>
          <p:cNvSpPr/>
          <p:nvPr/>
        </p:nvSpPr>
        <p:spPr>
          <a:xfrm>
            <a:off x="594360" y="4462272"/>
            <a:ext cx="10972800" cy="512064"/>
          </a:xfrm>
          <a:prstGeom prst="rect">
            <a:avLst/>
          </a:prstGeom>
          <a:solidFill>
            <a:srgbClr val="ECE2D0"/>
          </a:solidFill>
          <a:ln w="6350">
            <a:solidFill>
              <a:srgbClr val="DED5CE"/>
            </a:solidFill>
            <a:prstDash val="solid"/>
          </a:ln>
        </p:spPr>
      </p:sp>
      <p:sp>
        <p:nvSpPr>
          <p:cNvPr id="41" name="Text 39"/>
          <p:cNvSpPr/>
          <p:nvPr/>
        </p:nvSpPr>
        <p:spPr>
          <a:xfrm>
            <a:off x="704088" y="4462272"/>
            <a:ext cx="2798064" cy="512064"/>
          </a:xfrm>
          <a:prstGeom prst="rect">
            <a:avLst/>
          </a:prstGeom>
          <a:noFill/>
          <a:ln/>
        </p:spPr>
        <p:txBody>
          <a:bodyPr wrap="square" lIns="0" tIns="0" rIns="0" bIns="0" rtlCol="0" anchor="ctr"/>
          <a:lstStyle/>
          <a:p>
            <a:pPr algn="l" indent="0" marL="0">
              <a:buNone/>
            </a:pPr>
            <a:r>
              <a:rPr lang="en-US" sz="1050" b="1" dirty="0">
                <a:solidFill>
                  <a:srgbClr val="6D2E46"/>
                </a:solidFill>
                <a:latin typeface="Arial" pitchFamily="34" charset="0"/>
                <a:ea typeface="Arial" pitchFamily="34" charset="-122"/>
                <a:cs typeface="Arial" pitchFamily="34" charset="-120"/>
              </a:rPr>
              <a:t>期中 最低現預金</a:t>
            </a:r>
            <a:endParaRPr lang="en-US" sz="1050" dirty="0"/>
          </a:p>
        </p:txBody>
      </p:sp>
      <p:sp>
        <p:nvSpPr>
          <p:cNvPr id="42" name="Text 40"/>
          <p:cNvSpPr/>
          <p:nvPr/>
        </p:nvSpPr>
        <p:spPr>
          <a:xfrm>
            <a:off x="3721608" y="4462272"/>
            <a:ext cx="1746504" cy="512064"/>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a:t>
            </a:r>
            <a:endParaRPr lang="en-US" sz="1050" dirty="0"/>
          </a:p>
        </p:txBody>
      </p:sp>
      <p:sp>
        <p:nvSpPr>
          <p:cNvPr id="43" name="Text 41"/>
          <p:cNvSpPr/>
          <p:nvPr/>
        </p:nvSpPr>
        <p:spPr>
          <a:xfrm>
            <a:off x="5687568" y="4462272"/>
            <a:ext cx="1746504" cy="512064"/>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a:t>
            </a:r>
            <a:endParaRPr lang="en-US" sz="1050" dirty="0"/>
          </a:p>
        </p:txBody>
      </p:sp>
      <p:sp>
        <p:nvSpPr>
          <p:cNvPr id="44" name="Text 42"/>
          <p:cNvSpPr/>
          <p:nvPr/>
        </p:nvSpPr>
        <p:spPr>
          <a:xfrm>
            <a:off x="7653528" y="4462272"/>
            <a:ext cx="1746504" cy="512064"/>
          </a:xfrm>
          <a:prstGeom prst="rect">
            <a:avLst/>
          </a:prstGeom>
          <a:noFill/>
          <a:ln/>
        </p:spPr>
        <p:txBody>
          <a:bodyPr wrap="square" lIns="0" tIns="0" rIns="0" bIns="0" rtlCol="0" anchor="ctr"/>
          <a:lstStyle/>
          <a:p>
            <a:pPr algn="r" indent="0" marL="0">
              <a:buNone/>
            </a:pPr>
            <a:r>
              <a:rPr lang="en-US" sz="1050" b="1" dirty="0">
                <a:solidFill>
                  <a:srgbClr val="C0392B"/>
                </a:solidFill>
                <a:latin typeface="Arial" pitchFamily="34" charset="0"/>
                <a:ea typeface="Arial" pitchFamily="34" charset="-122"/>
                <a:cs typeface="Arial" pitchFamily="34" charset="-120"/>
              </a:rPr>
              <a:t>▲43.3</a:t>
            </a:r>
            <a:endParaRPr lang="en-US" sz="1050" dirty="0"/>
          </a:p>
        </p:txBody>
      </p:sp>
      <p:sp>
        <p:nvSpPr>
          <p:cNvPr id="45" name="Text 43"/>
          <p:cNvSpPr/>
          <p:nvPr/>
        </p:nvSpPr>
        <p:spPr>
          <a:xfrm>
            <a:off x="9619488" y="4462272"/>
            <a:ext cx="1837944" cy="512064"/>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0.0</a:t>
            </a:r>
            <a:endParaRPr lang="en-US" sz="1050" dirty="0"/>
          </a:p>
        </p:txBody>
      </p:sp>
      <p:sp>
        <p:nvSpPr>
          <p:cNvPr id="46" name="Shape 44"/>
          <p:cNvSpPr/>
          <p:nvPr/>
        </p:nvSpPr>
        <p:spPr>
          <a:xfrm>
            <a:off x="594360" y="5029200"/>
            <a:ext cx="5349240" cy="1280160"/>
          </a:xfrm>
          <a:prstGeom prst="roundRect">
            <a:avLst>
              <a:gd name="adj" fmla="val 4286"/>
            </a:avLst>
          </a:prstGeom>
          <a:solidFill>
            <a:srgbClr val="6D2E46"/>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47" name="Text 45"/>
          <p:cNvSpPr/>
          <p:nvPr/>
        </p:nvSpPr>
        <p:spPr>
          <a:xfrm>
            <a:off x="868680" y="5193792"/>
            <a:ext cx="4800600" cy="274320"/>
          </a:xfrm>
          <a:prstGeom prst="rect">
            <a:avLst/>
          </a:prstGeom>
          <a:noFill/>
          <a:ln/>
        </p:spPr>
        <p:txBody>
          <a:bodyPr wrap="square" lIns="0" tIns="0" rIns="0" bIns="0" rtlCol="0" anchor="ctr"/>
          <a:lstStyle/>
          <a:p>
            <a:pPr indent="0" marL="0">
              <a:buNone/>
            </a:pPr>
            <a:r>
              <a:rPr lang="en-US" sz="1100" b="1" dirty="0">
                <a:solidFill>
                  <a:srgbClr val="ECE2D0"/>
                </a:solidFill>
                <a:latin typeface="Arial" pitchFamily="34" charset="0"/>
                <a:ea typeface="Arial" pitchFamily="34" charset="-122"/>
                <a:cs typeface="Arial" pitchFamily="34" charset="-120"/>
              </a:rPr>
              <a:t>プランC の問題</a:t>
            </a:r>
            <a:endParaRPr lang="en-US" sz="1100" dirty="0"/>
          </a:p>
        </p:txBody>
      </p:sp>
      <p:sp>
        <p:nvSpPr>
          <p:cNvPr id="48" name="Text 46"/>
          <p:cNvSpPr/>
          <p:nvPr/>
        </p:nvSpPr>
        <p:spPr>
          <a:xfrm>
            <a:off x="868680" y="5486400"/>
            <a:ext cx="4800600" cy="73152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経常利益1億円を達成しても、ワイン仕入を維持すると2026年11月に資金ショート。期末▲38.7百万円。</a:t>
            </a:r>
            <a:endParaRPr lang="en-US" sz="1100" dirty="0"/>
          </a:p>
        </p:txBody>
      </p:sp>
      <p:sp>
        <p:nvSpPr>
          <p:cNvPr id="49" name="Shape 47"/>
          <p:cNvSpPr/>
          <p:nvPr/>
        </p:nvSpPr>
        <p:spPr>
          <a:xfrm>
            <a:off x="6217920" y="5029200"/>
            <a:ext cx="5349240" cy="1280160"/>
          </a:xfrm>
          <a:prstGeom prst="roundRect">
            <a:avLst>
              <a:gd name="adj" fmla="val 4286"/>
            </a:avLst>
          </a:prstGeom>
          <a:solidFill>
            <a:srgbClr val="ECE2D0"/>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50" name="Text 48"/>
          <p:cNvSpPr/>
          <p:nvPr/>
        </p:nvSpPr>
        <p:spPr>
          <a:xfrm>
            <a:off x="6492240" y="5193792"/>
            <a:ext cx="4800600" cy="274320"/>
          </a:xfrm>
          <a:prstGeom prst="rect">
            <a:avLst/>
          </a:prstGeom>
          <a:noFill/>
          <a:ln/>
        </p:spPr>
        <p:txBody>
          <a:bodyPr wrap="square" lIns="0" tIns="0" rIns="0" bIns="0" rtlCol="0" anchor="ctr"/>
          <a:lstStyle/>
          <a:p>
            <a:pPr indent="0" marL="0">
              <a:buNone/>
            </a:pPr>
            <a:r>
              <a:rPr lang="en-US" sz="1100" b="1" dirty="0">
                <a:solidFill>
                  <a:srgbClr val="6D2E46"/>
                </a:solidFill>
                <a:latin typeface="Arial" pitchFamily="34" charset="0"/>
                <a:ea typeface="Arial" pitchFamily="34" charset="-122"/>
                <a:cs typeface="Arial" pitchFamily="34" charset="-120"/>
              </a:rPr>
              <a:t>プランD が本線</a:t>
            </a:r>
            <a:endParaRPr lang="en-US" sz="1100" dirty="0"/>
          </a:p>
        </p:txBody>
      </p:sp>
      <p:sp>
        <p:nvSpPr>
          <p:cNvPr id="51" name="Text 49"/>
          <p:cNvSpPr/>
          <p:nvPr/>
        </p:nvSpPr>
        <p:spPr>
          <a:xfrm>
            <a:off x="6492240" y="5486400"/>
            <a:ext cx="4800600" cy="731520"/>
          </a:xfrm>
          <a:prstGeom prst="rect">
            <a:avLst/>
          </a:prstGeom>
          <a:noFill/>
          <a:ln/>
        </p:spPr>
        <p:txBody>
          <a:bodyPr wrap="square" lIns="0" tIns="0" rIns="0" bIns="0" rtlCol="0" anchor="t"/>
          <a:lstStyle/>
          <a:p>
            <a:pPr indent="0" marL="0">
              <a:buNone/>
            </a:pPr>
            <a:r>
              <a:rPr lang="en-US" sz="1100" dirty="0">
                <a:solidFill>
                  <a:srgbClr val="2B2B2B"/>
                </a:solidFill>
                <a:latin typeface="Arial" pitchFamily="34" charset="0"/>
                <a:ea typeface="Arial" pitchFamily="34" charset="-122"/>
                <a:cs typeface="Arial" pitchFamily="34" charset="-120"/>
              </a:rPr>
              <a:t>売上621.1百万円で、仕入を落とさずに期中一度も現預金がマイナスにならない水準。</a:t>
            </a:r>
            <a:endParaRPr lang="en-US" sz="1100" dirty="0"/>
          </a:p>
        </p:txBody>
      </p:sp>
      <p:sp>
        <p:nvSpPr>
          <p:cNvPr id="52" name="Text 50"/>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いずれも上場関連コストは計上せず、期首現預金30百万円（2026/09末のみずほ銀行200百万円返済後）を前提。</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ワイン在庫は成長の源泉 － 仕入は落としません</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仕入を絞ると生産者からの割当が戻らず、2〜3年先の成長を失います。</a:t>
            </a:r>
            <a:endParaRPr lang="en-US" sz="1250" dirty="0"/>
          </a:p>
        </p:txBody>
      </p:sp>
      <p:sp>
        <p:nvSpPr>
          <p:cNvPr id="4" name="Shape 2"/>
          <p:cNvSpPr/>
          <p:nvPr/>
        </p:nvSpPr>
        <p:spPr>
          <a:xfrm>
            <a:off x="594360" y="1481328"/>
            <a:ext cx="5349240" cy="2377440"/>
          </a:xfrm>
          <a:prstGeom prst="roundRect">
            <a:avLst>
              <a:gd name="adj" fmla="val 2308"/>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5" name="Text 3"/>
          <p:cNvSpPr/>
          <p:nvPr/>
        </p:nvSpPr>
        <p:spPr>
          <a:xfrm>
            <a:off x="914400" y="1664208"/>
            <a:ext cx="3657600" cy="310896"/>
          </a:xfrm>
          <a:prstGeom prst="rect">
            <a:avLst/>
          </a:prstGeom>
          <a:noFill/>
          <a:ln/>
        </p:spPr>
        <p:txBody>
          <a:bodyPr wrap="square" lIns="0" tIns="0" rIns="0" bIns="0" rtlCol="0" anchor="ctr"/>
          <a:lstStyle/>
          <a:p>
            <a:pPr indent="0" marL="0">
              <a:buNone/>
            </a:pPr>
            <a:r>
              <a:rPr lang="en-US" sz="1200" b="1" dirty="0">
                <a:solidFill>
                  <a:srgbClr val="6D2E46"/>
                </a:solidFill>
                <a:latin typeface="Arial" pitchFamily="34" charset="0"/>
                <a:ea typeface="Arial" pitchFamily="34" charset="-122"/>
                <a:cs typeface="Arial" pitchFamily="34" charset="-120"/>
              </a:rPr>
              <a:t>自社在庫（簿価）の推移</a:t>
            </a:r>
            <a:endParaRPr lang="en-US" sz="1200" dirty="0"/>
          </a:p>
        </p:txBody>
      </p:sp>
      <p:sp>
        <p:nvSpPr>
          <p:cNvPr id="6" name="Text 4"/>
          <p:cNvSpPr/>
          <p:nvPr/>
        </p:nvSpPr>
        <p:spPr>
          <a:xfrm>
            <a:off x="4572000" y="1682496"/>
            <a:ext cx="1188720" cy="237744"/>
          </a:xfrm>
          <a:prstGeom prst="rect">
            <a:avLst/>
          </a:prstGeom>
          <a:noFill/>
          <a:ln/>
        </p:spPr>
        <p:txBody>
          <a:bodyPr wrap="square" lIns="0" tIns="0" rIns="0" bIns="0" rtlCol="0" anchor="ctr"/>
          <a:lstStyle/>
          <a:p>
            <a:pPr algn="r" indent="0" marL="0">
              <a:buNone/>
            </a:pPr>
            <a:r>
              <a:rPr lang="en-US" sz="850" dirty="0">
                <a:solidFill>
                  <a:srgbClr val="7A6A64"/>
                </a:solidFill>
                <a:latin typeface="Arial" pitchFamily="34" charset="0"/>
                <a:ea typeface="Arial" pitchFamily="34" charset="-122"/>
                <a:cs typeface="Arial" pitchFamily="34" charset="-120"/>
              </a:rPr>
              <a:t>単位：億円</a:t>
            </a:r>
            <a:endParaRPr lang="en-US" sz="850" dirty="0"/>
          </a:p>
        </p:txBody>
      </p:sp>
      <p:sp>
        <p:nvSpPr>
          <p:cNvPr id="7" name="Shape 5"/>
          <p:cNvSpPr/>
          <p:nvPr/>
        </p:nvSpPr>
        <p:spPr>
          <a:xfrm>
            <a:off x="914400" y="2374345"/>
            <a:ext cx="621792" cy="1118663"/>
          </a:xfrm>
          <a:prstGeom prst="rect">
            <a:avLst/>
          </a:prstGeom>
          <a:solidFill>
            <a:srgbClr val="C9AEB8"/>
          </a:solidFill>
          <a:ln/>
        </p:spPr>
      </p:sp>
      <p:sp>
        <p:nvSpPr>
          <p:cNvPr id="8" name="Text 6"/>
          <p:cNvSpPr/>
          <p:nvPr/>
        </p:nvSpPr>
        <p:spPr>
          <a:xfrm>
            <a:off x="822960" y="2100025"/>
            <a:ext cx="804672" cy="256032"/>
          </a:xfrm>
          <a:prstGeom prst="rect">
            <a:avLst/>
          </a:prstGeom>
          <a:noFill/>
          <a:ln/>
        </p:spPr>
        <p:txBody>
          <a:bodyPr wrap="square" lIns="0" tIns="0" rIns="0" bIns="0" rtlCol="0" anchor="ctr"/>
          <a:lstStyle/>
          <a:p>
            <a:pPr algn="ctr" indent="0" marL="0">
              <a:buNone/>
            </a:pPr>
            <a:r>
              <a:rPr lang="en-US" sz="1000" b="1" dirty="0">
                <a:solidFill>
                  <a:srgbClr val="6D2E46"/>
                </a:solidFill>
                <a:latin typeface="Arial" pitchFamily="34" charset="0"/>
                <a:ea typeface="Arial" pitchFamily="34" charset="-122"/>
                <a:cs typeface="Arial" pitchFamily="34" charset="-120"/>
              </a:rPr>
              <a:t>5.6</a:t>
            </a:r>
            <a:endParaRPr lang="en-US" sz="1000" dirty="0"/>
          </a:p>
        </p:txBody>
      </p:sp>
      <p:sp>
        <p:nvSpPr>
          <p:cNvPr id="9" name="Text 7"/>
          <p:cNvSpPr/>
          <p:nvPr/>
        </p:nvSpPr>
        <p:spPr>
          <a:xfrm>
            <a:off x="786384" y="3529584"/>
            <a:ext cx="877824" cy="237744"/>
          </a:xfrm>
          <a:prstGeom prst="rect">
            <a:avLst/>
          </a:prstGeom>
          <a:noFill/>
          <a:ln/>
        </p:spPr>
        <p:txBody>
          <a:bodyPr wrap="square" lIns="0" tIns="0" rIns="0" bIns="0" rtlCol="0" anchor="ctr"/>
          <a:lstStyle/>
          <a:p>
            <a:pPr algn="ctr" indent="0" marL="0">
              <a:buNone/>
            </a:pPr>
            <a:r>
              <a:rPr lang="en-US" sz="850" dirty="0">
                <a:solidFill>
                  <a:srgbClr val="7A6A64"/>
                </a:solidFill>
                <a:latin typeface="Arial" pitchFamily="34" charset="0"/>
                <a:ea typeface="Arial" pitchFamily="34" charset="-122"/>
                <a:cs typeface="Arial" pitchFamily="34" charset="-120"/>
              </a:rPr>
              <a:t>24/12末</a:t>
            </a:r>
            <a:endParaRPr lang="en-US" sz="850" dirty="0"/>
          </a:p>
        </p:txBody>
      </p:sp>
      <p:sp>
        <p:nvSpPr>
          <p:cNvPr id="10" name="Shape 8"/>
          <p:cNvSpPr/>
          <p:nvPr/>
        </p:nvSpPr>
        <p:spPr>
          <a:xfrm>
            <a:off x="1874520" y="2554130"/>
            <a:ext cx="621792" cy="938878"/>
          </a:xfrm>
          <a:prstGeom prst="rect">
            <a:avLst/>
          </a:prstGeom>
          <a:solidFill>
            <a:srgbClr val="C9AEB8"/>
          </a:solidFill>
          <a:ln/>
        </p:spPr>
      </p:sp>
      <p:sp>
        <p:nvSpPr>
          <p:cNvPr id="11" name="Text 9"/>
          <p:cNvSpPr/>
          <p:nvPr/>
        </p:nvSpPr>
        <p:spPr>
          <a:xfrm>
            <a:off x="1783080" y="2279810"/>
            <a:ext cx="804672" cy="256032"/>
          </a:xfrm>
          <a:prstGeom prst="rect">
            <a:avLst/>
          </a:prstGeom>
          <a:noFill/>
          <a:ln/>
        </p:spPr>
        <p:txBody>
          <a:bodyPr wrap="square" lIns="0" tIns="0" rIns="0" bIns="0" rtlCol="0" anchor="ctr"/>
          <a:lstStyle/>
          <a:p>
            <a:pPr algn="ctr" indent="0" marL="0">
              <a:buNone/>
            </a:pPr>
            <a:r>
              <a:rPr lang="en-US" sz="1000" b="1" dirty="0">
                <a:solidFill>
                  <a:srgbClr val="6D2E46"/>
                </a:solidFill>
                <a:latin typeface="Arial" pitchFamily="34" charset="0"/>
                <a:ea typeface="Arial" pitchFamily="34" charset="-122"/>
                <a:cs typeface="Arial" pitchFamily="34" charset="-120"/>
              </a:rPr>
              <a:t>4.7</a:t>
            </a:r>
            <a:endParaRPr lang="en-US" sz="1000" dirty="0"/>
          </a:p>
        </p:txBody>
      </p:sp>
      <p:sp>
        <p:nvSpPr>
          <p:cNvPr id="12" name="Text 10"/>
          <p:cNvSpPr/>
          <p:nvPr/>
        </p:nvSpPr>
        <p:spPr>
          <a:xfrm>
            <a:off x="1746504" y="3529584"/>
            <a:ext cx="877824" cy="237744"/>
          </a:xfrm>
          <a:prstGeom prst="rect">
            <a:avLst/>
          </a:prstGeom>
          <a:noFill/>
          <a:ln/>
        </p:spPr>
        <p:txBody>
          <a:bodyPr wrap="square" lIns="0" tIns="0" rIns="0" bIns="0" rtlCol="0" anchor="ctr"/>
          <a:lstStyle/>
          <a:p>
            <a:pPr algn="ctr" indent="0" marL="0">
              <a:buNone/>
            </a:pPr>
            <a:r>
              <a:rPr lang="en-US" sz="850" dirty="0">
                <a:solidFill>
                  <a:srgbClr val="7A6A64"/>
                </a:solidFill>
                <a:latin typeface="Arial" pitchFamily="34" charset="0"/>
                <a:ea typeface="Arial" pitchFamily="34" charset="-122"/>
                <a:cs typeface="Arial" pitchFamily="34" charset="-120"/>
              </a:rPr>
              <a:t>25/07末</a:t>
            </a:r>
            <a:endParaRPr lang="en-US" sz="850" dirty="0"/>
          </a:p>
        </p:txBody>
      </p:sp>
      <p:sp>
        <p:nvSpPr>
          <p:cNvPr id="13" name="Shape 11"/>
          <p:cNvSpPr/>
          <p:nvPr/>
        </p:nvSpPr>
        <p:spPr>
          <a:xfrm>
            <a:off x="2834640" y="2534154"/>
            <a:ext cx="621792" cy="958854"/>
          </a:xfrm>
          <a:prstGeom prst="rect">
            <a:avLst/>
          </a:prstGeom>
          <a:solidFill>
            <a:srgbClr val="6D2E46"/>
          </a:solidFill>
          <a:ln/>
        </p:spPr>
      </p:sp>
      <p:sp>
        <p:nvSpPr>
          <p:cNvPr id="14" name="Text 12"/>
          <p:cNvSpPr/>
          <p:nvPr/>
        </p:nvSpPr>
        <p:spPr>
          <a:xfrm>
            <a:off x="2743200" y="2259834"/>
            <a:ext cx="804672" cy="256032"/>
          </a:xfrm>
          <a:prstGeom prst="rect">
            <a:avLst/>
          </a:prstGeom>
          <a:noFill/>
          <a:ln/>
        </p:spPr>
        <p:txBody>
          <a:bodyPr wrap="square" lIns="0" tIns="0" rIns="0" bIns="0" rtlCol="0" anchor="ctr"/>
          <a:lstStyle/>
          <a:p>
            <a:pPr algn="ctr" indent="0" marL="0">
              <a:buNone/>
            </a:pPr>
            <a:r>
              <a:rPr lang="en-US" sz="1000" b="1" dirty="0">
                <a:solidFill>
                  <a:srgbClr val="6D2E46"/>
                </a:solidFill>
                <a:latin typeface="Arial" pitchFamily="34" charset="0"/>
                <a:ea typeface="Arial" pitchFamily="34" charset="-122"/>
                <a:cs typeface="Arial" pitchFamily="34" charset="-120"/>
              </a:rPr>
              <a:t>4.8</a:t>
            </a:r>
            <a:endParaRPr lang="en-US" sz="1000" dirty="0"/>
          </a:p>
        </p:txBody>
      </p:sp>
      <p:sp>
        <p:nvSpPr>
          <p:cNvPr id="15" name="Text 13"/>
          <p:cNvSpPr/>
          <p:nvPr/>
        </p:nvSpPr>
        <p:spPr>
          <a:xfrm>
            <a:off x="2706624" y="3529584"/>
            <a:ext cx="877824" cy="237744"/>
          </a:xfrm>
          <a:prstGeom prst="rect">
            <a:avLst/>
          </a:prstGeom>
          <a:noFill/>
          <a:ln/>
        </p:spPr>
        <p:txBody>
          <a:bodyPr wrap="square" lIns="0" tIns="0" rIns="0" bIns="0" rtlCol="0" anchor="ctr"/>
          <a:lstStyle/>
          <a:p>
            <a:pPr algn="ctr" indent="0" marL="0">
              <a:buNone/>
            </a:pPr>
            <a:r>
              <a:rPr lang="en-US" sz="850" dirty="0">
                <a:solidFill>
                  <a:srgbClr val="7A6A64"/>
                </a:solidFill>
                <a:latin typeface="Arial" pitchFamily="34" charset="0"/>
                <a:ea typeface="Arial" pitchFamily="34" charset="-122"/>
                <a:cs typeface="Arial" pitchFamily="34" charset="-120"/>
              </a:rPr>
              <a:t>25/09末</a:t>
            </a:r>
            <a:endParaRPr lang="en-US" sz="850" dirty="0"/>
          </a:p>
        </p:txBody>
      </p:sp>
      <p:sp>
        <p:nvSpPr>
          <p:cNvPr id="16" name="Shape 14"/>
          <p:cNvSpPr/>
          <p:nvPr/>
        </p:nvSpPr>
        <p:spPr>
          <a:xfrm>
            <a:off x="3794760" y="2434273"/>
            <a:ext cx="621792" cy="1058735"/>
          </a:xfrm>
          <a:prstGeom prst="rect">
            <a:avLst/>
          </a:prstGeom>
          <a:solidFill>
            <a:srgbClr val="6D2E46"/>
          </a:solidFill>
          <a:ln/>
        </p:spPr>
      </p:sp>
      <p:sp>
        <p:nvSpPr>
          <p:cNvPr id="17" name="Text 15"/>
          <p:cNvSpPr/>
          <p:nvPr/>
        </p:nvSpPr>
        <p:spPr>
          <a:xfrm>
            <a:off x="3703320" y="2159953"/>
            <a:ext cx="804672" cy="256032"/>
          </a:xfrm>
          <a:prstGeom prst="rect">
            <a:avLst/>
          </a:prstGeom>
          <a:noFill/>
          <a:ln/>
        </p:spPr>
        <p:txBody>
          <a:bodyPr wrap="square" lIns="0" tIns="0" rIns="0" bIns="0" rtlCol="0" anchor="ctr"/>
          <a:lstStyle/>
          <a:p>
            <a:pPr algn="ctr" indent="0" marL="0">
              <a:buNone/>
            </a:pPr>
            <a:r>
              <a:rPr lang="en-US" sz="1000" b="1" dirty="0">
                <a:solidFill>
                  <a:srgbClr val="6D2E46"/>
                </a:solidFill>
                <a:latin typeface="Arial" pitchFamily="34" charset="0"/>
                <a:ea typeface="Arial" pitchFamily="34" charset="-122"/>
                <a:cs typeface="Arial" pitchFamily="34" charset="-120"/>
              </a:rPr>
              <a:t>5.3</a:t>
            </a:r>
            <a:endParaRPr lang="en-US" sz="1000" dirty="0"/>
          </a:p>
        </p:txBody>
      </p:sp>
      <p:sp>
        <p:nvSpPr>
          <p:cNvPr id="18" name="Text 16"/>
          <p:cNvSpPr/>
          <p:nvPr/>
        </p:nvSpPr>
        <p:spPr>
          <a:xfrm>
            <a:off x="3666744" y="3529584"/>
            <a:ext cx="877824" cy="237744"/>
          </a:xfrm>
          <a:prstGeom prst="rect">
            <a:avLst/>
          </a:prstGeom>
          <a:noFill/>
          <a:ln/>
        </p:spPr>
        <p:txBody>
          <a:bodyPr wrap="square" lIns="0" tIns="0" rIns="0" bIns="0" rtlCol="0" anchor="ctr"/>
          <a:lstStyle/>
          <a:p>
            <a:pPr algn="ctr" indent="0" marL="0">
              <a:buNone/>
            </a:pPr>
            <a:r>
              <a:rPr lang="en-US" sz="850" dirty="0">
                <a:solidFill>
                  <a:srgbClr val="7A6A64"/>
                </a:solidFill>
                <a:latin typeface="Arial" pitchFamily="34" charset="0"/>
                <a:ea typeface="Arial" pitchFamily="34" charset="-122"/>
                <a:cs typeface="Arial" pitchFamily="34" charset="-120"/>
              </a:rPr>
              <a:t>25/12末</a:t>
            </a:r>
            <a:endParaRPr lang="en-US" sz="850" dirty="0"/>
          </a:p>
        </p:txBody>
      </p:sp>
      <p:sp>
        <p:nvSpPr>
          <p:cNvPr id="19" name="Shape 17"/>
          <p:cNvSpPr/>
          <p:nvPr/>
        </p:nvSpPr>
        <p:spPr>
          <a:xfrm>
            <a:off x="4754880" y="2254488"/>
            <a:ext cx="621792" cy="1238520"/>
          </a:xfrm>
          <a:prstGeom prst="rect">
            <a:avLst/>
          </a:prstGeom>
          <a:solidFill>
            <a:srgbClr val="6D2E46"/>
          </a:solidFill>
          <a:ln/>
        </p:spPr>
      </p:sp>
      <p:sp>
        <p:nvSpPr>
          <p:cNvPr id="20" name="Text 18"/>
          <p:cNvSpPr/>
          <p:nvPr/>
        </p:nvSpPr>
        <p:spPr>
          <a:xfrm>
            <a:off x="4663440" y="1980168"/>
            <a:ext cx="804672" cy="256032"/>
          </a:xfrm>
          <a:prstGeom prst="rect">
            <a:avLst/>
          </a:prstGeom>
          <a:noFill/>
          <a:ln/>
        </p:spPr>
        <p:txBody>
          <a:bodyPr wrap="square" lIns="0" tIns="0" rIns="0" bIns="0" rtlCol="0" anchor="ctr"/>
          <a:lstStyle/>
          <a:p>
            <a:pPr algn="ctr" indent="0" marL="0">
              <a:buNone/>
            </a:pPr>
            <a:r>
              <a:rPr lang="en-US" sz="1000" b="1" dirty="0">
                <a:solidFill>
                  <a:srgbClr val="6D2E46"/>
                </a:solidFill>
                <a:latin typeface="Arial" pitchFamily="34" charset="0"/>
                <a:ea typeface="Arial" pitchFamily="34" charset="-122"/>
                <a:cs typeface="Arial" pitchFamily="34" charset="-120"/>
              </a:rPr>
              <a:t>6.2</a:t>
            </a:r>
            <a:endParaRPr lang="en-US" sz="1000" dirty="0"/>
          </a:p>
        </p:txBody>
      </p:sp>
      <p:sp>
        <p:nvSpPr>
          <p:cNvPr id="21" name="Text 19"/>
          <p:cNvSpPr/>
          <p:nvPr/>
        </p:nvSpPr>
        <p:spPr>
          <a:xfrm>
            <a:off x="4626864" y="3529584"/>
            <a:ext cx="877824" cy="237744"/>
          </a:xfrm>
          <a:prstGeom prst="rect">
            <a:avLst/>
          </a:prstGeom>
          <a:noFill/>
          <a:ln/>
        </p:spPr>
        <p:txBody>
          <a:bodyPr wrap="square" lIns="0" tIns="0" rIns="0" bIns="0" rtlCol="0" anchor="ctr"/>
          <a:lstStyle/>
          <a:p>
            <a:pPr algn="ctr" indent="0" marL="0">
              <a:buNone/>
            </a:pPr>
            <a:r>
              <a:rPr lang="en-US" sz="850" dirty="0">
                <a:solidFill>
                  <a:srgbClr val="7A6A64"/>
                </a:solidFill>
                <a:latin typeface="Arial" pitchFamily="34" charset="0"/>
                <a:ea typeface="Arial" pitchFamily="34" charset="-122"/>
                <a:cs typeface="Arial" pitchFamily="34" charset="-120"/>
              </a:rPr>
              <a:t>26/03末</a:t>
            </a:r>
            <a:endParaRPr lang="en-US" sz="850" dirty="0"/>
          </a:p>
        </p:txBody>
      </p:sp>
      <p:sp>
        <p:nvSpPr>
          <p:cNvPr id="22" name="Shape 20"/>
          <p:cNvSpPr/>
          <p:nvPr/>
        </p:nvSpPr>
        <p:spPr>
          <a:xfrm>
            <a:off x="6217920" y="1481328"/>
            <a:ext cx="5349240" cy="2377440"/>
          </a:xfrm>
          <a:prstGeom prst="roundRect">
            <a:avLst>
              <a:gd name="adj" fmla="val 2308"/>
            </a:avLst>
          </a:prstGeom>
          <a:solidFill>
            <a:srgbClr val="6D2E46"/>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3" name="Text 21"/>
          <p:cNvSpPr/>
          <p:nvPr/>
        </p:nvSpPr>
        <p:spPr>
          <a:xfrm>
            <a:off x="6537960" y="1691640"/>
            <a:ext cx="4709160" cy="274320"/>
          </a:xfrm>
          <a:prstGeom prst="rect">
            <a:avLst/>
          </a:prstGeom>
          <a:noFill/>
          <a:ln/>
        </p:spPr>
        <p:txBody>
          <a:bodyPr wrap="square" lIns="0" tIns="0" rIns="0" bIns="0" rtlCol="0" anchor="ctr"/>
          <a:lstStyle/>
          <a:p>
            <a:pPr indent="0" marL="0">
              <a:buNone/>
            </a:pPr>
            <a:r>
              <a:rPr lang="en-US" sz="1100" dirty="0">
                <a:solidFill>
                  <a:srgbClr val="ECE2D0"/>
                </a:solidFill>
                <a:latin typeface="Arial" pitchFamily="34" charset="0"/>
                <a:ea typeface="Arial" pitchFamily="34" charset="-122"/>
                <a:cs typeface="Arial" pitchFamily="34" charset="-120"/>
              </a:rPr>
              <a:t>FY2027の仕入方針</a:t>
            </a:r>
            <a:endParaRPr lang="en-US" sz="1100" dirty="0"/>
          </a:p>
        </p:txBody>
      </p:sp>
      <p:sp>
        <p:nvSpPr>
          <p:cNvPr id="24" name="Text 22"/>
          <p:cNvSpPr/>
          <p:nvPr/>
        </p:nvSpPr>
        <p:spPr>
          <a:xfrm>
            <a:off x="6537960" y="1965960"/>
            <a:ext cx="4709160" cy="64008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419.1百万円</a:t>
            </a:r>
            <a:endParaRPr lang="en-US" sz="3600" dirty="0"/>
          </a:p>
        </p:txBody>
      </p:sp>
      <p:sp>
        <p:nvSpPr>
          <p:cNvPr id="25" name="Text 23"/>
          <p:cNvSpPr/>
          <p:nvPr/>
        </p:nvSpPr>
        <p:spPr>
          <a:xfrm>
            <a:off x="6537960" y="2651760"/>
            <a:ext cx="4709160" cy="1051560"/>
          </a:xfrm>
          <a:prstGeom prst="rect">
            <a:avLst/>
          </a:prstGeom>
          <a:noFill/>
          <a:ln/>
        </p:spPr>
        <p:txBody>
          <a:bodyPr wrap="square" lIns="0" tIns="0" rIns="0" bIns="0" rtlCol="0" anchor="t"/>
          <a:lstStyle/>
          <a:p>
            <a:pPr indent="0" marL="0">
              <a:buNone/>
            </a:pPr>
            <a:r>
              <a:rPr lang="en-US" sz="1150" dirty="0">
                <a:solidFill>
                  <a:srgbClr val="ECE2D0"/>
                </a:solidFill>
                <a:latin typeface="Arial" pitchFamily="34" charset="0"/>
                <a:ea typeface="Arial" pitchFamily="34" charset="-122"/>
                <a:cs typeface="Arial" pitchFamily="34" charset="-120"/>
              </a:rPr>
              <a:t>FY2026と同水準を維持。仕入を絞ると優良銘柄の割当が減り、一度失った枠を戻すには数年を要します。目先の資金のために将来の成長を削らない、という判断です。</a:t>
            </a:r>
            <a:endParaRPr lang="en-US" sz="1150" dirty="0"/>
          </a:p>
        </p:txBody>
      </p:sp>
      <p:sp>
        <p:nvSpPr>
          <p:cNvPr id="26" name="Shape 24"/>
          <p:cNvSpPr/>
          <p:nvPr/>
        </p:nvSpPr>
        <p:spPr>
          <a:xfrm>
            <a:off x="594360" y="4069080"/>
            <a:ext cx="2606040" cy="1051560"/>
          </a:xfrm>
          <a:prstGeom prst="roundRect">
            <a:avLst>
              <a:gd name="adj" fmla="val 5217"/>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7" name="Text 25"/>
          <p:cNvSpPr/>
          <p:nvPr/>
        </p:nvSpPr>
        <p:spPr>
          <a:xfrm>
            <a:off x="777240" y="4206240"/>
            <a:ext cx="2240280" cy="274320"/>
          </a:xfrm>
          <a:prstGeom prst="rect">
            <a:avLst/>
          </a:prstGeom>
          <a:noFill/>
          <a:ln/>
        </p:spPr>
        <p:txBody>
          <a:bodyPr wrap="square" lIns="0" tIns="0" rIns="0" bIns="0" rtlCol="0" anchor="ctr"/>
          <a:lstStyle/>
          <a:p>
            <a:pPr indent="0" marL="0">
              <a:buNone/>
            </a:pPr>
            <a:r>
              <a:rPr lang="en-US" sz="950" dirty="0">
                <a:solidFill>
                  <a:srgbClr val="7A6A64"/>
                </a:solidFill>
                <a:latin typeface="Arial" pitchFamily="34" charset="0"/>
                <a:ea typeface="Arial" pitchFamily="34" charset="-122"/>
                <a:cs typeface="Arial" pitchFamily="34" charset="-120"/>
              </a:rPr>
              <a:t>期首在庫（2026/09末）</a:t>
            </a:r>
            <a:endParaRPr lang="en-US" sz="950" dirty="0"/>
          </a:p>
        </p:txBody>
      </p:sp>
      <p:sp>
        <p:nvSpPr>
          <p:cNvPr id="28" name="Text 26"/>
          <p:cNvSpPr/>
          <p:nvPr/>
        </p:nvSpPr>
        <p:spPr>
          <a:xfrm>
            <a:off x="777240" y="4498848"/>
            <a:ext cx="2240280" cy="457200"/>
          </a:xfrm>
          <a:prstGeom prst="rect">
            <a:avLst/>
          </a:prstGeom>
          <a:noFill/>
          <a:ln/>
        </p:spPr>
        <p:txBody>
          <a:bodyPr wrap="square" lIns="0" tIns="0" rIns="0" bIns="0" rtlCol="0" anchor="ctr"/>
          <a:lstStyle/>
          <a:p>
            <a:pPr indent="0" marL="0">
              <a:buNone/>
            </a:pPr>
            <a:r>
              <a:rPr lang="en-US" sz="1800" b="1" dirty="0">
                <a:solidFill>
                  <a:srgbClr val="2B2B2B"/>
                </a:solidFill>
                <a:latin typeface="Cambria" pitchFamily="34" charset="0"/>
                <a:ea typeface="Cambria" pitchFamily="34" charset="-122"/>
                <a:cs typeface="Cambria" pitchFamily="34" charset="-120"/>
              </a:rPr>
              <a:t>420.0百万円</a:t>
            </a:r>
            <a:endParaRPr lang="en-US" sz="1800" dirty="0"/>
          </a:p>
        </p:txBody>
      </p:sp>
      <p:sp>
        <p:nvSpPr>
          <p:cNvPr id="29" name="Shape 27"/>
          <p:cNvSpPr/>
          <p:nvPr/>
        </p:nvSpPr>
        <p:spPr>
          <a:xfrm>
            <a:off x="3419856" y="4069080"/>
            <a:ext cx="2606040" cy="1051560"/>
          </a:xfrm>
          <a:prstGeom prst="roundRect">
            <a:avLst>
              <a:gd name="adj" fmla="val 5217"/>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30" name="Text 28"/>
          <p:cNvSpPr/>
          <p:nvPr/>
        </p:nvSpPr>
        <p:spPr>
          <a:xfrm>
            <a:off x="3602736" y="4206240"/>
            <a:ext cx="2240280" cy="274320"/>
          </a:xfrm>
          <a:prstGeom prst="rect">
            <a:avLst/>
          </a:prstGeom>
          <a:noFill/>
          <a:ln/>
        </p:spPr>
        <p:txBody>
          <a:bodyPr wrap="square" lIns="0" tIns="0" rIns="0" bIns="0" rtlCol="0" anchor="ctr"/>
          <a:lstStyle/>
          <a:p>
            <a:pPr indent="0" marL="0">
              <a:buNone/>
            </a:pPr>
            <a:r>
              <a:rPr lang="en-US" sz="950" dirty="0">
                <a:solidFill>
                  <a:srgbClr val="7A6A64"/>
                </a:solidFill>
                <a:latin typeface="Arial" pitchFamily="34" charset="0"/>
                <a:ea typeface="Arial" pitchFamily="34" charset="-122"/>
                <a:cs typeface="Arial" pitchFamily="34" charset="-120"/>
              </a:rPr>
              <a:t>FY2027 仕入</a:t>
            </a:r>
            <a:endParaRPr lang="en-US" sz="950" dirty="0"/>
          </a:p>
        </p:txBody>
      </p:sp>
      <p:sp>
        <p:nvSpPr>
          <p:cNvPr id="31" name="Text 29"/>
          <p:cNvSpPr/>
          <p:nvPr/>
        </p:nvSpPr>
        <p:spPr>
          <a:xfrm>
            <a:off x="3602736" y="4498848"/>
            <a:ext cx="2240280" cy="457200"/>
          </a:xfrm>
          <a:prstGeom prst="rect">
            <a:avLst/>
          </a:prstGeom>
          <a:noFill/>
          <a:ln/>
        </p:spPr>
        <p:txBody>
          <a:bodyPr wrap="square" lIns="0" tIns="0" rIns="0" bIns="0" rtlCol="0" anchor="ctr"/>
          <a:lstStyle/>
          <a:p>
            <a:pPr indent="0" marL="0">
              <a:buNone/>
            </a:pPr>
            <a:r>
              <a:rPr lang="en-US" sz="1800" b="1" dirty="0">
                <a:solidFill>
                  <a:srgbClr val="6D2E46"/>
                </a:solidFill>
                <a:latin typeface="Cambria" pitchFamily="34" charset="0"/>
                <a:ea typeface="Cambria" pitchFamily="34" charset="-122"/>
                <a:cs typeface="Cambria" pitchFamily="34" charset="-120"/>
              </a:rPr>
              <a:t>419.1百万円</a:t>
            </a:r>
            <a:endParaRPr lang="en-US" sz="1800" dirty="0"/>
          </a:p>
        </p:txBody>
      </p:sp>
      <p:sp>
        <p:nvSpPr>
          <p:cNvPr id="32" name="Shape 30"/>
          <p:cNvSpPr/>
          <p:nvPr/>
        </p:nvSpPr>
        <p:spPr>
          <a:xfrm>
            <a:off x="6245352" y="4069080"/>
            <a:ext cx="2606040" cy="1051560"/>
          </a:xfrm>
          <a:prstGeom prst="roundRect">
            <a:avLst>
              <a:gd name="adj" fmla="val 5217"/>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33" name="Text 31"/>
          <p:cNvSpPr/>
          <p:nvPr/>
        </p:nvSpPr>
        <p:spPr>
          <a:xfrm>
            <a:off x="6428232" y="4206240"/>
            <a:ext cx="2240280" cy="274320"/>
          </a:xfrm>
          <a:prstGeom prst="rect">
            <a:avLst/>
          </a:prstGeom>
          <a:noFill/>
          <a:ln/>
        </p:spPr>
        <p:txBody>
          <a:bodyPr wrap="square" lIns="0" tIns="0" rIns="0" bIns="0" rtlCol="0" anchor="ctr"/>
          <a:lstStyle/>
          <a:p>
            <a:pPr indent="0" marL="0">
              <a:buNone/>
            </a:pPr>
            <a:r>
              <a:rPr lang="en-US" sz="950" dirty="0">
                <a:solidFill>
                  <a:srgbClr val="7A6A64"/>
                </a:solidFill>
                <a:latin typeface="Arial" pitchFamily="34" charset="0"/>
                <a:ea typeface="Arial" pitchFamily="34" charset="-122"/>
                <a:cs typeface="Arial" pitchFamily="34" charset="-120"/>
              </a:rPr>
              <a:t>FY2027 売上原価（出庫）</a:t>
            </a:r>
            <a:endParaRPr lang="en-US" sz="950" dirty="0"/>
          </a:p>
        </p:txBody>
      </p:sp>
      <p:sp>
        <p:nvSpPr>
          <p:cNvPr id="34" name="Text 32"/>
          <p:cNvSpPr/>
          <p:nvPr/>
        </p:nvSpPr>
        <p:spPr>
          <a:xfrm>
            <a:off x="6428232" y="4498848"/>
            <a:ext cx="2240280" cy="457200"/>
          </a:xfrm>
          <a:prstGeom prst="rect">
            <a:avLst/>
          </a:prstGeom>
          <a:noFill/>
          <a:ln/>
        </p:spPr>
        <p:txBody>
          <a:bodyPr wrap="square" lIns="0" tIns="0" rIns="0" bIns="0" rtlCol="0" anchor="ctr"/>
          <a:lstStyle/>
          <a:p>
            <a:pPr indent="0" marL="0">
              <a:buNone/>
            </a:pPr>
            <a:r>
              <a:rPr lang="en-US" sz="1800" b="1" dirty="0">
                <a:solidFill>
                  <a:srgbClr val="2B2B2B"/>
                </a:solidFill>
                <a:latin typeface="Cambria" pitchFamily="34" charset="0"/>
                <a:ea typeface="Cambria" pitchFamily="34" charset="-122"/>
                <a:cs typeface="Cambria" pitchFamily="34" charset="-120"/>
              </a:rPr>
              <a:t>300.9百万円</a:t>
            </a:r>
            <a:endParaRPr lang="en-US" sz="1800" dirty="0"/>
          </a:p>
        </p:txBody>
      </p:sp>
      <p:sp>
        <p:nvSpPr>
          <p:cNvPr id="35" name="Shape 33"/>
          <p:cNvSpPr/>
          <p:nvPr/>
        </p:nvSpPr>
        <p:spPr>
          <a:xfrm>
            <a:off x="9070848" y="4069080"/>
            <a:ext cx="2606040" cy="1051560"/>
          </a:xfrm>
          <a:prstGeom prst="roundRect">
            <a:avLst>
              <a:gd name="adj" fmla="val 5217"/>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36" name="Text 34"/>
          <p:cNvSpPr/>
          <p:nvPr/>
        </p:nvSpPr>
        <p:spPr>
          <a:xfrm>
            <a:off x="9253728" y="4206240"/>
            <a:ext cx="2240280" cy="274320"/>
          </a:xfrm>
          <a:prstGeom prst="rect">
            <a:avLst/>
          </a:prstGeom>
          <a:noFill/>
          <a:ln/>
        </p:spPr>
        <p:txBody>
          <a:bodyPr wrap="square" lIns="0" tIns="0" rIns="0" bIns="0" rtlCol="0" anchor="ctr"/>
          <a:lstStyle/>
          <a:p>
            <a:pPr indent="0" marL="0">
              <a:buNone/>
            </a:pPr>
            <a:r>
              <a:rPr lang="en-US" sz="950" dirty="0">
                <a:solidFill>
                  <a:srgbClr val="7A6A64"/>
                </a:solidFill>
                <a:latin typeface="Arial" pitchFamily="34" charset="0"/>
                <a:ea typeface="Arial" pitchFamily="34" charset="-122"/>
                <a:cs typeface="Arial" pitchFamily="34" charset="-120"/>
              </a:rPr>
              <a:t>期末在庫</a:t>
            </a:r>
            <a:endParaRPr lang="en-US" sz="950" dirty="0"/>
          </a:p>
        </p:txBody>
      </p:sp>
      <p:sp>
        <p:nvSpPr>
          <p:cNvPr id="37" name="Text 35"/>
          <p:cNvSpPr/>
          <p:nvPr/>
        </p:nvSpPr>
        <p:spPr>
          <a:xfrm>
            <a:off x="9253728" y="4498848"/>
            <a:ext cx="2240280" cy="457200"/>
          </a:xfrm>
          <a:prstGeom prst="rect">
            <a:avLst/>
          </a:prstGeom>
          <a:noFill/>
          <a:ln/>
        </p:spPr>
        <p:txBody>
          <a:bodyPr wrap="square" lIns="0" tIns="0" rIns="0" bIns="0" rtlCol="0" anchor="ctr"/>
          <a:lstStyle/>
          <a:p>
            <a:pPr indent="0" marL="0">
              <a:buNone/>
            </a:pPr>
            <a:r>
              <a:rPr lang="en-US" sz="1800" b="1" dirty="0">
                <a:solidFill>
                  <a:srgbClr val="9A7B4F"/>
                </a:solidFill>
                <a:latin typeface="Cambria" pitchFamily="34" charset="0"/>
                <a:ea typeface="Cambria" pitchFamily="34" charset="-122"/>
                <a:cs typeface="Cambria" pitchFamily="34" charset="-120"/>
              </a:rPr>
              <a:t>538.2百万円</a:t>
            </a:r>
            <a:endParaRPr lang="en-US" sz="1800" dirty="0"/>
          </a:p>
        </p:txBody>
      </p:sp>
      <p:sp>
        <p:nvSpPr>
          <p:cNvPr id="38" name="Shape 36"/>
          <p:cNvSpPr/>
          <p:nvPr/>
        </p:nvSpPr>
        <p:spPr>
          <a:xfrm>
            <a:off x="594360" y="5349240"/>
            <a:ext cx="10963656" cy="731520"/>
          </a:xfrm>
          <a:prstGeom prst="roundRect">
            <a:avLst>
              <a:gd name="adj" fmla="val 7500"/>
            </a:avLst>
          </a:prstGeom>
          <a:solidFill>
            <a:srgbClr val="ECE2D0"/>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39" name="Text 37"/>
          <p:cNvSpPr/>
          <p:nvPr/>
        </p:nvSpPr>
        <p:spPr>
          <a:xfrm>
            <a:off x="914400" y="5349240"/>
            <a:ext cx="10332720" cy="731520"/>
          </a:xfrm>
          <a:prstGeom prst="rect">
            <a:avLst/>
          </a:prstGeom>
          <a:noFill/>
          <a:ln/>
        </p:spPr>
        <p:txBody>
          <a:bodyPr wrap="square" lIns="0" tIns="0" rIns="0" bIns="0" rtlCol="0" anchor="ctr"/>
          <a:lstStyle/>
          <a:p>
            <a:pPr indent="0" marL="0">
              <a:buNone/>
            </a:pPr>
            <a:r>
              <a:rPr lang="en-US" sz="1200" b="1" dirty="0">
                <a:solidFill>
                  <a:srgbClr val="6D2E46"/>
                </a:solidFill>
                <a:latin typeface="Arial" pitchFamily="34" charset="0"/>
                <a:ea typeface="Arial" pitchFamily="34" charset="-122"/>
                <a:cs typeface="Arial" pitchFamily="34" charset="-120"/>
              </a:rPr>
              <a:t>在庫は118.2百万円積み上がりますが、時価1.37倍の換価可能資産です。運転資金としてのご理解をお願いしたい部分です。</a:t>
            </a:r>
            <a:endParaRPr lang="en-US" sz="1200" dirty="0"/>
          </a:p>
        </p:txBody>
      </p:sp>
      <p:sp>
        <p:nvSpPr>
          <p:cNvPr id="40" name="Text 38"/>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出典：2026年7月度 取締役会資料「ワイン預かり残高推移KPI」（税抜・簿価）。FY2026仕入額は売上原価479.1百万円＋在庫増減▲60.0百万円から逆算。</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FY2027 月次推移表 － プランD</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2026年4-6月の実力値をベースに、追加売上と上乗せ案件を計上したもの。単位：百万円</a:t>
            </a:r>
            <a:endParaRPr lang="en-US" sz="1250" dirty="0"/>
          </a:p>
        </p:txBody>
      </p:sp>
      <p:sp>
        <p:nvSpPr>
          <p:cNvPr id="4" name="Shape 2"/>
          <p:cNvSpPr/>
          <p:nvPr/>
        </p:nvSpPr>
        <p:spPr>
          <a:xfrm>
            <a:off x="594360" y="1481328"/>
            <a:ext cx="11658600" cy="384048"/>
          </a:xfrm>
          <a:prstGeom prst="rect">
            <a:avLst/>
          </a:prstGeom>
          <a:solidFill>
            <a:srgbClr val="6D2E46"/>
          </a:solidFill>
          <a:ln/>
        </p:spPr>
      </p:sp>
      <p:sp>
        <p:nvSpPr>
          <p:cNvPr id="5" name="Text 3"/>
          <p:cNvSpPr/>
          <p:nvPr/>
        </p:nvSpPr>
        <p:spPr>
          <a:xfrm>
            <a:off x="704088" y="1481328"/>
            <a:ext cx="2011680" cy="384048"/>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科目</a:t>
            </a:r>
            <a:endParaRPr lang="en-US" sz="900" dirty="0"/>
          </a:p>
        </p:txBody>
      </p:sp>
      <p:sp>
        <p:nvSpPr>
          <p:cNvPr id="6" name="Text 4"/>
          <p:cNvSpPr/>
          <p:nvPr/>
        </p:nvSpPr>
        <p:spPr>
          <a:xfrm>
            <a:off x="260604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26/10</a:t>
            </a:r>
            <a:endParaRPr lang="en-US" sz="850" dirty="0"/>
          </a:p>
        </p:txBody>
      </p:sp>
      <p:sp>
        <p:nvSpPr>
          <p:cNvPr id="7" name="Text 5"/>
          <p:cNvSpPr/>
          <p:nvPr/>
        </p:nvSpPr>
        <p:spPr>
          <a:xfrm>
            <a:off x="333756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26/11</a:t>
            </a:r>
            <a:endParaRPr lang="en-US" sz="850" dirty="0"/>
          </a:p>
        </p:txBody>
      </p:sp>
      <p:sp>
        <p:nvSpPr>
          <p:cNvPr id="8" name="Text 6"/>
          <p:cNvSpPr/>
          <p:nvPr/>
        </p:nvSpPr>
        <p:spPr>
          <a:xfrm>
            <a:off x="406908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26/12</a:t>
            </a:r>
            <a:endParaRPr lang="en-US" sz="850" dirty="0"/>
          </a:p>
        </p:txBody>
      </p:sp>
      <p:sp>
        <p:nvSpPr>
          <p:cNvPr id="9" name="Text 7"/>
          <p:cNvSpPr/>
          <p:nvPr/>
        </p:nvSpPr>
        <p:spPr>
          <a:xfrm>
            <a:off x="480060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27/01</a:t>
            </a:r>
            <a:endParaRPr lang="en-US" sz="850" dirty="0"/>
          </a:p>
        </p:txBody>
      </p:sp>
      <p:sp>
        <p:nvSpPr>
          <p:cNvPr id="10" name="Text 8"/>
          <p:cNvSpPr/>
          <p:nvPr/>
        </p:nvSpPr>
        <p:spPr>
          <a:xfrm>
            <a:off x="553212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27/02</a:t>
            </a:r>
            <a:endParaRPr lang="en-US" sz="850" dirty="0"/>
          </a:p>
        </p:txBody>
      </p:sp>
      <p:sp>
        <p:nvSpPr>
          <p:cNvPr id="11" name="Text 9"/>
          <p:cNvSpPr/>
          <p:nvPr/>
        </p:nvSpPr>
        <p:spPr>
          <a:xfrm>
            <a:off x="626364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27/03</a:t>
            </a:r>
            <a:endParaRPr lang="en-US" sz="850" dirty="0"/>
          </a:p>
        </p:txBody>
      </p:sp>
      <p:sp>
        <p:nvSpPr>
          <p:cNvPr id="12" name="Text 10"/>
          <p:cNvSpPr/>
          <p:nvPr/>
        </p:nvSpPr>
        <p:spPr>
          <a:xfrm>
            <a:off x="699516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27/04</a:t>
            </a:r>
            <a:endParaRPr lang="en-US" sz="850" dirty="0"/>
          </a:p>
        </p:txBody>
      </p:sp>
      <p:sp>
        <p:nvSpPr>
          <p:cNvPr id="13" name="Text 11"/>
          <p:cNvSpPr/>
          <p:nvPr/>
        </p:nvSpPr>
        <p:spPr>
          <a:xfrm>
            <a:off x="772668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27/05</a:t>
            </a:r>
            <a:endParaRPr lang="en-US" sz="850" dirty="0"/>
          </a:p>
        </p:txBody>
      </p:sp>
      <p:sp>
        <p:nvSpPr>
          <p:cNvPr id="14" name="Text 12"/>
          <p:cNvSpPr/>
          <p:nvPr/>
        </p:nvSpPr>
        <p:spPr>
          <a:xfrm>
            <a:off x="845820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27/06</a:t>
            </a:r>
            <a:endParaRPr lang="en-US" sz="850" dirty="0"/>
          </a:p>
        </p:txBody>
      </p:sp>
      <p:sp>
        <p:nvSpPr>
          <p:cNvPr id="15" name="Text 13"/>
          <p:cNvSpPr/>
          <p:nvPr/>
        </p:nvSpPr>
        <p:spPr>
          <a:xfrm>
            <a:off x="918972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27/07</a:t>
            </a:r>
            <a:endParaRPr lang="en-US" sz="850" dirty="0"/>
          </a:p>
        </p:txBody>
      </p:sp>
      <p:sp>
        <p:nvSpPr>
          <p:cNvPr id="16" name="Text 14"/>
          <p:cNvSpPr/>
          <p:nvPr/>
        </p:nvSpPr>
        <p:spPr>
          <a:xfrm>
            <a:off x="992124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27/08</a:t>
            </a:r>
            <a:endParaRPr lang="en-US" sz="850" dirty="0"/>
          </a:p>
        </p:txBody>
      </p:sp>
      <p:sp>
        <p:nvSpPr>
          <p:cNvPr id="17" name="Text 15"/>
          <p:cNvSpPr/>
          <p:nvPr/>
        </p:nvSpPr>
        <p:spPr>
          <a:xfrm>
            <a:off x="1065276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27/09</a:t>
            </a:r>
            <a:endParaRPr lang="en-US" sz="850" dirty="0"/>
          </a:p>
        </p:txBody>
      </p:sp>
      <p:sp>
        <p:nvSpPr>
          <p:cNvPr id="18" name="Text 16"/>
          <p:cNvSpPr/>
          <p:nvPr/>
        </p:nvSpPr>
        <p:spPr>
          <a:xfrm>
            <a:off x="11384280" y="1481328"/>
            <a:ext cx="868680" cy="384048"/>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通期</a:t>
            </a:r>
            <a:endParaRPr lang="en-US" sz="900" dirty="0"/>
          </a:p>
        </p:txBody>
      </p:sp>
      <p:sp>
        <p:nvSpPr>
          <p:cNvPr id="19" name="Shape 17"/>
          <p:cNvSpPr/>
          <p:nvPr/>
        </p:nvSpPr>
        <p:spPr>
          <a:xfrm>
            <a:off x="594360" y="1865376"/>
            <a:ext cx="11658600" cy="365760"/>
          </a:xfrm>
          <a:prstGeom prst="rect">
            <a:avLst/>
          </a:prstGeom>
          <a:solidFill>
            <a:srgbClr val="FFFFFF"/>
          </a:solidFill>
          <a:ln w="6350">
            <a:solidFill>
              <a:srgbClr val="DED5CE"/>
            </a:solidFill>
            <a:prstDash val="solid"/>
          </a:ln>
        </p:spPr>
      </p:sp>
      <p:sp>
        <p:nvSpPr>
          <p:cNvPr id="20" name="Text 18"/>
          <p:cNvSpPr/>
          <p:nvPr/>
        </p:nvSpPr>
        <p:spPr>
          <a:xfrm>
            <a:off x="704088" y="1865376"/>
            <a:ext cx="2011680" cy="365760"/>
          </a:xfrm>
          <a:prstGeom prst="rect">
            <a:avLst/>
          </a:prstGeom>
          <a:noFill/>
          <a:ln/>
        </p:spPr>
        <p:txBody>
          <a:bodyPr wrap="square" lIns="0" tIns="0" rIns="0" bIns="0" rtlCol="0" anchor="ctr"/>
          <a:lstStyle/>
          <a:p>
            <a:pPr indent="0" marL="0">
              <a:buNone/>
            </a:pPr>
            <a:r>
              <a:rPr lang="en-US" sz="900" dirty="0">
                <a:solidFill>
                  <a:srgbClr val="2B2B2B"/>
                </a:solidFill>
                <a:latin typeface="Arial" pitchFamily="34" charset="0"/>
                <a:ea typeface="Arial" pitchFamily="34" charset="-122"/>
                <a:cs typeface="Arial" pitchFamily="34" charset="-120"/>
              </a:rPr>
              <a:t>売上高</a:t>
            </a:r>
            <a:endParaRPr lang="en-US" sz="900" dirty="0"/>
          </a:p>
        </p:txBody>
      </p:sp>
      <p:sp>
        <p:nvSpPr>
          <p:cNvPr id="21" name="Text 19"/>
          <p:cNvSpPr/>
          <p:nvPr/>
        </p:nvSpPr>
        <p:spPr>
          <a:xfrm>
            <a:off x="2606040" y="186537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51.8</a:t>
            </a:r>
            <a:endParaRPr lang="en-US" sz="850" dirty="0"/>
          </a:p>
        </p:txBody>
      </p:sp>
      <p:sp>
        <p:nvSpPr>
          <p:cNvPr id="22" name="Text 20"/>
          <p:cNvSpPr/>
          <p:nvPr/>
        </p:nvSpPr>
        <p:spPr>
          <a:xfrm>
            <a:off x="3337560" y="186537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51.8</a:t>
            </a:r>
            <a:endParaRPr lang="en-US" sz="850" dirty="0"/>
          </a:p>
        </p:txBody>
      </p:sp>
      <p:sp>
        <p:nvSpPr>
          <p:cNvPr id="23" name="Text 21"/>
          <p:cNvSpPr/>
          <p:nvPr/>
        </p:nvSpPr>
        <p:spPr>
          <a:xfrm>
            <a:off x="4069080" y="186537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51.8</a:t>
            </a:r>
            <a:endParaRPr lang="en-US" sz="850" dirty="0"/>
          </a:p>
        </p:txBody>
      </p:sp>
      <p:sp>
        <p:nvSpPr>
          <p:cNvPr id="24" name="Text 22"/>
          <p:cNvSpPr/>
          <p:nvPr/>
        </p:nvSpPr>
        <p:spPr>
          <a:xfrm>
            <a:off x="4800600" y="186537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51.8</a:t>
            </a:r>
            <a:endParaRPr lang="en-US" sz="850" dirty="0"/>
          </a:p>
        </p:txBody>
      </p:sp>
      <p:sp>
        <p:nvSpPr>
          <p:cNvPr id="25" name="Text 23"/>
          <p:cNvSpPr/>
          <p:nvPr/>
        </p:nvSpPr>
        <p:spPr>
          <a:xfrm>
            <a:off x="5532120" y="186537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51.8</a:t>
            </a:r>
            <a:endParaRPr lang="en-US" sz="850" dirty="0"/>
          </a:p>
        </p:txBody>
      </p:sp>
      <p:sp>
        <p:nvSpPr>
          <p:cNvPr id="26" name="Text 24"/>
          <p:cNvSpPr/>
          <p:nvPr/>
        </p:nvSpPr>
        <p:spPr>
          <a:xfrm>
            <a:off x="6263640" y="186537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51.8</a:t>
            </a:r>
            <a:endParaRPr lang="en-US" sz="850" dirty="0"/>
          </a:p>
        </p:txBody>
      </p:sp>
      <p:sp>
        <p:nvSpPr>
          <p:cNvPr id="27" name="Text 25"/>
          <p:cNvSpPr/>
          <p:nvPr/>
        </p:nvSpPr>
        <p:spPr>
          <a:xfrm>
            <a:off x="6995160" y="186537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51.8</a:t>
            </a:r>
            <a:endParaRPr lang="en-US" sz="850" dirty="0"/>
          </a:p>
        </p:txBody>
      </p:sp>
      <p:sp>
        <p:nvSpPr>
          <p:cNvPr id="28" name="Text 26"/>
          <p:cNvSpPr/>
          <p:nvPr/>
        </p:nvSpPr>
        <p:spPr>
          <a:xfrm>
            <a:off x="7726680" y="186537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51.8</a:t>
            </a:r>
            <a:endParaRPr lang="en-US" sz="850" dirty="0"/>
          </a:p>
        </p:txBody>
      </p:sp>
      <p:sp>
        <p:nvSpPr>
          <p:cNvPr id="29" name="Text 27"/>
          <p:cNvSpPr/>
          <p:nvPr/>
        </p:nvSpPr>
        <p:spPr>
          <a:xfrm>
            <a:off x="8458200" y="186537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51.8</a:t>
            </a:r>
            <a:endParaRPr lang="en-US" sz="850" dirty="0"/>
          </a:p>
        </p:txBody>
      </p:sp>
      <p:sp>
        <p:nvSpPr>
          <p:cNvPr id="30" name="Text 28"/>
          <p:cNvSpPr/>
          <p:nvPr/>
        </p:nvSpPr>
        <p:spPr>
          <a:xfrm>
            <a:off x="9189720" y="186537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51.8</a:t>
            </a:r>
            <a:endParaRPr lang="en-US" sz="850" dirty="0"/>
          </a:p>
        </p:txBody>
      </p:sp>
      <p:sp>
        <p:nvSpPr>
          <p:cNvPr id="31" name="Text 29"/>
          <p:cNvSpPr/>
          <p:nvPr/>
        </p:nvSpPr>
        <p:spPr>
          <a:xfrm>
            <a:off x="9921240" y="186537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51.8</a:t>
            </a:r>
            <a:endParaRPr lang="en-US" sz="850" dirty="0"/>
          </a:p>
        </p:txBody>
      </p:sp>
      <p:sp>
        <p:nvSpPr>
          <p:cNvPr id="32" name="Text 30"/>
          <p:cNvSpPr/>
          <p:nvPr/>
        </p:nvSpPr>
        <p:spPr>
          <a:xfrm>
            <a:off x="10652760" y="186537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51.8</a:t>
            </a:r>
            <a:endParaRPr lang="en-US" sz="850" dirty="0"/>
          </a:p>
        </p:txBody>
      </p:sp>
      <p:sp>
        <p:nvSpPr>
          <p:cNvPr id="33" name="Text 31"/>
          <p:cNvSpPr/>
          <p:nvPr/>
        </p:nvSpPr>
        <p:spPr>
          <a:xfrm>
            <a:off x="11384280" y="1865376"/>
            <a:ext cx="868680" cy="365760"/>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621.1</a:t>
            </a:r>
            <a:endParaRPr lang="en-US" sz="900" dirty="0"/>
          </a:p>
        </p:txBody>
      </p:sp>
      <p:sp>
        <p:nvSpPr>
          <p:cNvPr id="34" name="Shape 32"/>
          <p:cNvSpPr/>
          <p:nvPr/>
        </p:nvSpPr>
        <p:spPr>
          <a:xfrm>
            <a:off x="594360" y="2231136"/>
            <a:ext cx="11658600" cy="365760"/>
          </a:xfrm>
          <a:prstGeom prst="rect">
            <a:avLst/>
          </a:prstGeom>
          <a:solidFill>
            <a:srgbClr val="FBF9F7"/>
          </a:solidFill>
          <a:ln w="6350">
            <a:solidFill>
              <a:srgbClr val="DED5CE"/>
            </a:solidFill>
            <a:prstDash val="solid"/>
          </a:ln>
        </p:spPr>
      </p:sp>
      <p:sp>
        <p:nvSpPr>
          <p:cNvPr id="35" name="Text 33"/>
          <p:cNvSpPr/>
          <p:nvPr/>
        </p:nvSpPr>
        <p:spPr>
          <a:xfrm>
            <a:off x="704088" y="2231136"/>
            <a:ext cx="2011680" cy="365760"/>
          </a:xfrm>
          <a:prstGeom prst="rect">
            <a:avLst/>
          </a:prstGeom>
          <a:noFill/>
          <a:ln/>
        </p:spPr>
        <p:txBody>
          <a:bodyPr wrap="square" lIns="0" tIns="0" rIns="0" bIns="0" rtlCol="0" anchor="ctr"/>
          <a:lstStyle/>
          <a:p>
            <a:pPr indent="0" marL="0">
              <a:buNone/>
            </a:pPr>
            <a:r>
              <a:rPr lang="en-US" sz="900" dirty="0">
                <a:solidFill>
                  <a:srgbClr val="2B2B2B"/>
                </a:solidFill>
                <a:latin typeface="Arial" pitchFamily="34" charset="0"/>
                <a:ea typeface="Arial" pitchFamily="34" charset="-122"/>
                <a:cs typeface="Arial" pitchFamily="34" charset="-120"/>
              </a:rPr>
              <a:t>売上総利益（事業）</a:t>
            </a:r>
            <a:endParaRPr lang="en-US" sz="900" dirty="0"/>
          </a:p>
        </p:txBody>
      </p:sp>
      <p:sp>
        <p:nvSpPr>
          <p:cNvPr id="36" name="Text 34"/>
          <p:cNvSpPr/>
          <p:nvPr/>
        </p:nvSpPr>
        <p:spPr>
          <a:xfrm>
            <a:off x="2606040" y="223113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26.7</a:t>
            </a:r>
            <a:endParaRPr lang="en-US" sz="850" dirty="0"/>
          </a:p>
        </p:txBody>
      </p:sp>
      <p:sp>
        <p:nvSpPr>
          <p:cNvPr id="37" name="Text 35"/>
          <p:cNvSpPr/>
          <p:nvPr/>
        </p:nvSpPr>
        <p:spPr>
          <a:xfrm>
            <a:off x="3337560" y="223113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26.7</a:t>
            </a:r>
            <a:endParaRPr lang="en-US" sz="850" dirty="0"/>
          </a:p>
        </p:txBody>
      </p:sp>
      <p:sp>
        <p:nvSpPr>
          <p:cNvPr id="38" name="Text 36"/>
          <p:cNvSpPr/>
          <p:nvPr/>
        </p:nvSpPr>
        <p:spPr>
          <a:xfrm>
            <a:off x="4069080" y="223113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26.7</a:t>
            </a:r>
            <a:endParaRPr lang="en-US" sz="850" dirty="0"/>
          </a:p>
        </p:txBody>
      </p:sp>
      <p:sp>
        <p:nvSpPr>
          <p:cNvPr id="39" name="Text 37"/>
          <p:cNvSpPr/>
          <p:nvPr/>
        </p:nvSpPr>
        <p:spPr>
          <a:xfrm>
            <a:off x="4800600" y="223113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26.7</a:t>
            </a:r>
            <a:endParaRPr lang="en-US" sz="850" dirty="0"/>
          </a:p>
        </p:txBody>
      </p:sp>
      <p:sp>
        <p:nvSpPr>
          <p:cNvPr id="40" name="Text 38"/>
          <p:cNvSpPr/>
          <p:nvPr/>
        </p:nvSpPr>
        <p:spPr>
          <a:xfrm>
            <a:off x="5532120" y="223113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26.7</a:t>
            </a:r>
            <a:endParaRPr lang="en-US" sz="850" dirty="0"/>
          </a:p>
        </p:txBody>
      </p:sp>
      <p:sp>
        <p:nvSpPr>
          <p:cNvPr id="41" name="Text 39"/>
          <p:cNvSpPr/>
          <p:nvPr/>
        </p:nvSpPr>
        <p:spPr>
          <a:xfrm>
            <a:off x="6263640" y="223113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26.7</a:t>
            </a:r>
            <a:endParaRPr lang="en-US" sz="850" dirty="0"/>
          </a:p>
        </p:txBody>
      </p:sp>
      <p:sp>
        <p:nvSpPr>
          <p:cNvPr id="42" name="Text 40"/>
          <p:cNvSpPr/>
          <p:nvPr/>
        </p:nvSpPr>
        <p:spPr>
          <a:xfrm>
            <a:off x="6995160" y="223113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26.7</a:t>
            </a:r>
            <a:endParaRPr lang="en-US" sz="850" dirty="0"/>
          </a:p>
        </p:txBody>
      </p:sp>
      <p:sp>
        <p:nvSpPr>
          <p:cNvPr id="43" name="Text 41"/>
          <p:cNvSpPr/>
          <p:nvPr/>
        </p:nvSpPr>
        <p:spPr>
          <a:xfrm>
            <a:off x="7726680" y="223113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26.7</a:t>
            </a:r>
            <a:endParaRPr lang="en-US" sz="850" dirty="0"/>
          </a:p>
        </p:txBody>
      </p:sp>
      <p:sp>
        <p:nvSpPr>
          <p:cNvPr id="44" name="Text 42"/>
          <p:cNvSpPr/>
          <p:nvPr/>
        </p:nvSpPr>
        <p:spPr>
          <a:xfrm>
            <a:off x="8458200" y="223113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26.7</a:t>
            </a:r>
            <a:endParaRPr lang="en-US" sz="850" dirty="0"/>
          </a:p>
        </p:txBody>
      </p:sp>
      <p:sp>
        <p:nvSpPr>
          <p:cNvPr id="45" name="Text 43"/>
          <p:cNvSpPr/>
          <p:nvPr/>
        </p:nvSpPr>
        <p:spPr>
          <a:xfrm>
            <a:off x="9189720" y="223113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26.7</a:t>
            </a:r>
            <a:endParaRPr lang="en-US" sz="850" dirty="0"/>
          </a:p>
        </p:txBody>
      </p:sp>
      <p:sp>
        <p:nvSpPr>
          <p:cNvPr id="46" name="Text 44"/>
          <p:cNvSpPr/>
          <p:nvPr/>
        </p:nvSpPr>
        <p:spPr>
          <a:xfrm>
            <a:off x="9921240" y="223113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26.7</a:t>
            </a:r>
            <a:endParaRPr lang="en-US" sz="850" dirty="0"/>
          </a:p>
        </p:txBody>
      </p:sp>
      <p:sp>
        <p:nvSpPr>
          <p:cNvPr id="47" name="Text 45"/>
          <p:cNvSpPr/>
          <p:nvPr/>
        </p:nvSpPr>
        <p:spPr>
          <a:xfrm>
            <a:off x="10652760" y="223113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26.7</a:t>
            </a:r>
            <a:endParaRPr lang="en-US" sz="850" dirty="0"/>
          </a:p>
        </p:txBody>
      </p:sp>
      <p:sp>
        <p:nvSpPr>
          <p:cNvPr id="48" name="Text 46"/>
          <p:cNvSpPr/>
          <p:nvPr/>
        </p:nvSpPr>
        <p:spPr>
          <a:xfrm>
            <a:off x="11384280" y="2231136"/>
            <a:ext cx="868680" cy="365760"/>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320.2</a:t>
            </a:r>
            <a:endParaRPr lang="en-US" sz="900" dirty="0"/>
          </a:p>
        </p:txBody>
      </p:sp>
      <p:sp>
        <p:nvSpPr>
          <p:cNvPr id="49" name="Shape 47"/>
          <p:cNvSpPr/>
          <p:nvPr/>
        </p:nvSpPr>
        <p:spPr>
          <a:xfrm>
            <a:off x="594360" y="2596896"/>
            <a:ext cx="11658600" cy="365760"/>
          </a:xfrm>
          <a:prstGeom prst="rect">
            <a:avLst/>
          </a:prstGeom>
          <a:solidFill>
            <a:srgbClr val="FFFFFF"/>
          </a:solidFill>
          <a:ln w="6350">
            <a:solidFill>
              <a:srgbClr val="DED5CE"/>
            </a:solidFill>
            <a:prstDash val="solid"/>
          </a:ln>
        </p:spPr>
      </p:sp>
      <p:sp>
        <p:nvSpPr>
          <p:cNvPr id="50" name="Text 48"/>
          <p:cNvSpPr/>
          <p:nvPr/>
        </p:nvSpPr>
        <p:spPr>
          <a:xfrm>
            <a:off x="704088" y="2596896"/>
            <a:ext cx="2011680" cy="365760"/>
          </a:xfrm>
          <a:prstGeom prst="rect">
            <a:avLst/>
          </a:prstGeom>
          <a:noFill/>
          <a:ln/>
        </p:spPr>
        <p:txBody>
          <a:bodyPr wrap="square" lIns="0" tIns="0" rIns="0" bIns="0" rtlCol="0" anchor="ctr"/>
          <a:lstStyle/>
          <a:p>
            <a:pPr indent="0" marL="0">
              <a:buNone/>
            </a:pPr>
            <a:r>
              <a:rPr lang="en-US" sz="900" dirty="0">
                <a:solidFill>
                  <a:srgbClr val="2B2B2B"/>
                </a:solidFill>
                <a:latin typeface="Arial" pitchFamily="34" charset="0"/>
                <a:ea typeface="Arial" pitchFamily="34" charset="-122"/>
                <a:cs typeface="Arial" pitchFamily="34" charset="-120"/>
              </a:rPr>
              <a:t>＋経営指導料</a:t>
            </a:r>
            <a:endParaRPr lang="en-US" sz="900" dirty="0"/>
          </a:p>
        </p:txBody>
      </p:sp>
      <p:sp>
        <p:nvSpPr>
          <p:cNvPr id="51" name="Text 49"/>
          <p:cNvSpPr/>
          <p:nvPr/>
        </p:nvSpPr>
        <p:spPr>
          <a:xfrm>
            <a:off x="2606040" y="259689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52" name="Text 50"/>
          <p:cNvSpPr/>
          <p:nvPr/>
        </p:nvSpPr>
        <p:spPr>
          <a:xfrm>
            <a:off x="3337560" y="259689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53" name="Text 51"/>
          <p:cNvSpPr/>
          <p:nvPr/>
        </p:nvSpPr>
        <p:spPr>
          <a:xfrm>
            <a:off x="4069080" y="259689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54" name="Text 52"/>
          <p:cNvSpPr/>
          <p:nvPr/>
        </p:nvSpPr>
        <p:spPr>
          <a:xfrm>
            <a:off x="4800600" y="259689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55" name="Text 53"/>
          <p:cNvSpPr/>
          <p:nvPr/>
        </p:nvSpPr>
        <p:spPr>
          <a:xfrm>
            <a:off x="5532120" y="259689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56" name="Text 54"/>
          <p:cNvSpPr/>
          <p:nvPr/>
        </p:nvSpPr>
        <p:spPr>
          <a:xfrm>
            <a:off x="6263640" y="259689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57" name="Text 55"/>
          <p:cNvSpPr/>
          <p:nvPr/>
        </p:nvSpPr>
        <p:spPr>
          <a:xfrm>
            <a:off x="6995160" y="259689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58" name="Text 56"/>
          <p:cNvSpPr/>
          <p:nvPr/>
        </p:nvSpPr>
        <p:spPr>
          <a:xfrm>
            <a:off x="7726680" y="259689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59" name="Text 57"/>
          <p:cNvSpPr/>
          <p:nvPr/>
        </p:nvSpPr>
        <p:spPr>
          <a:xfrm>
            <a:off x="8458200" y="259689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60" name="Text 58"/>
          <p:cNvSpPr/>
          <p:nvPr/>
        </p:nvSpPr>
        <p:spPr>
          <a:xfrm>
            <a:off x="9189720" y="259689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61" name="Text 59"/>
          <p:cNvSpPr/>
          <p:nvPr/>
        </p:nvSpPr>
        <p:spPr>
          <a:xfrm>
            <a:off x="9921240" y="259689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62" name="Text 60"/>
          <p:cNvSpPr/>
          <p:nvPr/>
        </p:nvSpPr>
        <p:spPr>
          <a:xfrm>
            <a:off x="10652760" y="259689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63" name="Text 61"/>
          <p:cNvSpPr/>
          <p:nvPr/>
        </p:nvSpPr>
        <p:spPr>
          <a:xfrm>
            <a:off x="11384280" y="2596896"/>
            <a:ext cx="868680" cy="365760"/>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92.5</a:t>
            </a:r>
            <a:endParaRPr lang="en-US" sz="900" dirty="0"/>
          </a:p>
        </p:txBody>
      </p:sp>
      <p:sp>
        <p:nvSpPr>
          <p:cNvPr id="64" name="Shape 62"/>
          <p:cNvSpPr/>
          <p:nvPr/>
        </p:nvSpPr>
        <p:spPr>
          <a:xfrm>
            <a:off x="594360" y="2962656"/>
            <a:ext cx="11658600" cy="365760"/>
          </a:xfrm>
          <a:prstGeom prst="rect">
            <a:avLst/>
          </a:prstGeom>
          <a:solidFill>
            <a:srgbClr val="FBF9F7"/>
          </a:solidFill>
          <a:ln w="6350">
            <a:solidFill>
              <a:srgbClr val="DED5CE"/>
            </a:solidFill>
            <a:prstDash val="solid"/>
          </a:ln>
        </p:spPr>
      </p:sp>
      <p:sp>
        <p:nvSpPr>
          <p:cNvPr id="65" name="Text 63"/>
          <p:cNvSpPr/>
          <p:nvPr/>
        </p:nvSpPr>
        <p:spPr>
          <a:xfrm>
            <a:off x="704088" y="2962656"/>
            <a:ext cx="2011680" cy="365760"/>
          </a:xfrm>
          <a:prstGeom prst="rect">
            <a:avLst/>
          </a:prstGeom>
          <a:noFill/>
          <a:ln/>
        </p:spPr>
        <p:txBody>
          <a:bodyPr wrap="square" lIns="0" tIns="0" rIns="0" bIns="0" rtlCol="0" anchor="ctr"/>
          <a:lstStyle/>
          <a:p>
            <a:pPr indent="0" marL="0">
              <a:buNone/>
            </a:pPr>
            <a:r>
              <a:rPr lang="en-US" sz="900" dirty="0">
                <a:solidFill>
                  <a:srgbClr val="2B2B2B"/>
                </a:solidFill>
                <a:latin typeface="Arial" pitchFamily="34" charset="0"/>
                <a:ea typeface="Arial" pitchFamily="34" charset="-122"/>
                <a:cs typeface="Arial" pitchFamily="34" charset="-120"/>
              </a:rPr>
              <a:t>＋インセンティブ</a:t>
            </a:r>
            <a:endParaRPr lang="en-US" sz="900" dirty="0"/>
          </a:p>
        </p:txBody>
      </p:sp>
      <p:sp>
        <p:nvSpPr>
          <p:cNvPr id="66" name="Text 64"/>
          <p:cNvSpPr/>
          <p:nvPr/>
        </p:nvSpPr>
        <p:spPr>
          <a:xfrm>
            <a:off x="2606040" y="296265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67" name="Text 65"/>
          <p:cNvSpPr/>
          <p:nvPr/>
        </p:nvSpPr>
        <p:spPr>
          <a:xfrm>
            <a:off x="3337560" y="296265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68" name="Text 66"/>
          <p:cNvSpPr/>
          <p:nvPr/>
        </p:nvSpPr>
        <p:spPr>
          <a:xfrm>
            <a:off x="4069080" y="296265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69" name="Text 67"/>
          <p:cNvSpPr/>
          <p:nvPr/>
        </p:nvSpPr>
        <p:spPr>
          <a:xfrm>
            <a:off x="4800600" y="296265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70" name="Text 68"/>
          <p:cNvSpPr/>
          <p:nvPr/>
        </p:nvSpPr>
        <p:spPr>
          <a:xfrm>
            <a:off x="5532120" y="296265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71" name="Text 69"/>
          <p:cNvSpPr/>
          <p:nvPr/>
        </p:nvSpPr>
        <p:spPr>
          <a:xfrm>
            <a:off x="6263640" y="296265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20.0</a:t>
            </a:r>
            <a:endParaRPr lang="en-US" sz="850" dirty="0"/>
          </a:p>
        </p:txBody>
      </p:sp>
      <p:sp>
        <p:nvSpPr>
          <p:cNvPr id="72" name="Text 70"/>
          <p:cNvSpPr/>
          <p:nvPr/>
        </p:nvSpPr>
        <p:spPr>
          <a:xfrm>
            <a:off x="6995160" y="296265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73" name="Text 71"/>
          <p:cNvSpPr/>
          <p:nvPr/>
        </p:nvSpPr>
        <p:spPr>
          <a:xfrm>
            <a:off x="7726680" y="296265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74" name="Text 72"/>
          <p:cNvSpPr/>
          <p:nvPr/>
        </p:nvSpPr>
        <p:spPr>
          <a:xfrm>
            <a:off x="8458200" y="296265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75" name="Text 73"/>
          <p:cNvSpPr/>
          <p:nvPr/>
        </p:nvSpPr>
        <p:spPr>
          <a:xfrm>
            <a:off x="9189720" y="296265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76" name="Text 74"/>
          <p:cNvSpPr/>
          <p:nvPr/>
        </p:nvSpPr>
        <p:spPr>
          <a:xfrm>
            <a:off x="9921240" y="296265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77" name="Text 75"/>
          <p:cNvSpPr/>
          <p:nvPr/>
        </p:nvSpPr>
        <p:spPr>
          <a:xfrm>
            <a:off x="10652760" y="296265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78" name="Text 76"/>
          <p:cNvSpPr/>
          <p:nvPr/>
        </p:nvSpPr>
        <p:spPr>
          <a:xfrm>
            <a:off x="11384280" y="2962656"/>
            <a:ext cx="868680" cy="365760"/>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20.0</a:t>
            </a:r>
            <a:endParaRPr lang="en-US" sz="900" dirty="0"/>
          </a:p>
        </p:txBody>
      </p:sp>
      <p:sp>
        <p:nvSpPr>
          <p:cNvPr id="79" name="Shape 77"/>
          <p:cNvSpPr/>
          <p:nvPr/>
        </p:nvSpPr>
        <p:spPr>
          <a:xfrm>
            <a:off x="594360" y="3328416"/>
            <a:ext cx="11658600" cy="365760"/>
          </a:xfrm>
          <a:prstGeom prst="rect">
            <a:avLst/>
          </a:prstGeom>
          <a:solidFill>
            <a:srgbClr val="FFFFFF"/>
          </a:solidFill>
          <a:ln w="6350">
            <a:solidFill>
              <a:srgbClr val="DED5CE"/>
            </a:solidFill>
            <a:prstDash val="solid"/>
          </a:ln>
        </p:spPr>
      </p:sp>
      <p:sp>
        <p:nvSpPr>
          <p:cNvPr id="80" name="Text 78"/>
          <p:cNvSpPr/>
          <p:nvPr/>
        </p:nvSpPr>
        <p:spPr>
          <a:xfrm>
            <a:off x="704088" y="3328416"/>
            <a:ext cx="2011680" cy="365760"/>
          </a:xfrm>
          <a:prstGeom prst="rect">
            <a:avLst/>
          </a:prstGeom>
          <a:noFill/>
          <a:ln/>
        </p:spPr>
        <p:txBody>
          <a:bodyPr wrap="square" lIns="0" tIns="0" rIns="0" bIns="0" rtlCol="0" anchor="ctr"/>
          <a:lstStyle/>
          <a:p>
            <a:pPr indent="0" marL="0">
              <a:buNone/>
            </a:pPr>
            <a:r>
              <a:rPr lang="en-US" sz="900" dirty="0">
                <a:solidFill>
                  <a:srgbClr val="2B2B2B"/>
                </a:solidFill>
                <a:latin typeface="Arial" pitchFamily="34" charset="0"/>
                <a:ea typeface="Arial" pitchFamily="34" charset="-122"/>
                <a:cs typeface="Arial" pitchFamily="34" charset="-120"/>
              </a:rPr>
              <a:t>＋クルーザー事業利益</a:t>
            </a:r>
            <a:endParaRPr lang="en-US" sz="900" dirty="0"/>
          </a:p>
        </p:txBody>
      </p:sp>
      <p:sp>
        <p:nvSpPr>
          <p:cNvPr id="81" name="Text 79"/>
          <p:cNvSpPr/>
          <p:nvPr/>
        </p:nvSpPr>
        <p:spPr>
          <a:xfrm>
            <a:off x="2606040" y="332841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82" name="Text 80"/>
          <p:cNvSpPr/>
          <p:nvPr/>
        </p:nvSpPr>
        <p:spPr>
          <a:xfrm>
            <a:off x="3337560" y="332841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83" name="Text 81"/>
          <p:cNvSpPr/>
          <p:nvPr/>
        </p:nvSpPr>
        <p:spPr>
          <a:xfrm>
            <a:off x="4069080" y="332841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84" name="Text 82"/>
          <p:cNvSpPr/>
          <p:nvPr/>
        </p:nvSpPr>
        <p:spPr>
          <a:xfrm>
            <a:off x="4800600" y="332841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85" name="Text 83"/>
          <p:cNvSpPr/>
          <p:nvPr/>
        </p:nvSpPr>
        <p:spPr>
          <a:xfrm>
            <a:off x="5532120" y="332841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86" name="Text 84"/>
          <p:cNvSpPr/>
          <p:nvPr/>
        </p:nvSpPr>
        <p:spPr>
          <a:xfrm>
            <a:off x="6263640" y="332841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10.0</a:t>
            </a:r>
            <a:endParaRPr lang="en-US" sz="850" dirty="0"/>
          </a:p>
        </p:txBody>
      </p:sp>
      <p:sp>
        <p:nvSpPr>
          <p:cNvPr id="87" name="Text 85"/>
          <p:cNvSpPr/>
          <p:nvPr/>
        </p:nvSpPr>
        <p:spPr>
          <a:xfrm>
            <a:off x="6995160" y="332841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88" name="Text 86"/>
          <p:cNvSpPr/>
          <p:nvPr/>
        </p:nvSpPr>
        <p:spPr>
          <a:xfrm>
            <a:off x="7726680" y="332841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89" name="Text 87"/>
          <p:cNvSpPr/>
          <p:nvPr/>
        </p:nvSpPr>
        <p:spPr>
          <a:xfrm>
            <a:off x="8458200" y="332841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90" name="Text 88"/>
          <p:cNvSpPr/>
          <p:nvPr/>
        </p:nvSpPr>
        <p:spPr>
          <a:xfrm>
            <a:off x="9189720" y="332841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91" name="Text 89"/>
          <p:cNvSpPr/>
          <p:nvPr/>
        </p:nvSpPr>
        <p:spPr>
          <a:xfrm>
            <a:off x="9921240" y="332841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92" name="Text 90"/>
          <p:cNvSpPr/>
          <p:nvPr/>
        </p:nvSpPr>
        <p:spPr>
          <a:xfrm>
            <a:off x="10652760" y="3328416"/>
            <a:ext cx="731520" cy="36576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10.0</a:t>
            </a:r>
            <a:endParaRPr lang="en-US" sz="850" dirty="0"/>
          </a:p>
        </p:txBody>
      </p:sp>
      <p:sp>
        <p:nvSpPr>
          <p:cNvPr id="93" name="Text 91"/>
          <p:cNvSpPr/>
          <p:nvPr/>
        </p:nvSpPr>
        <p:spPr>
          <a:xfrm>
            <a:off x="11384280" y="3328416"/>
            <a:ext cx="868680" cy="365760"/>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20.0</a:t>
            </a:r>
            <a:endParaRPr lang="en-US" sz="900" dirty="0"/>
          </a:p>
        </p:txBody>
      </p:sp>
      <p:sp>
        <p:nvSpPr>
          <p:cNvPr id="94" name="Shape 92"/>
          <p:cNvSpPr/>
          <p:nvPr/>
        </p:nvSpPr>
        <p:spPr>
          <a:xfrm>
            <a:off x="594360" y="3694176"/>
            <a:ext cx="11658600" cy="365760"/>
          </a:xfrm>
          <a:prstGeom prst="rect">
            <a:avLst/>
          </a:prstGeom>
          <a:solidFill>
            <a:srgbClr val="F3EDE9"/>
          </a:solidFill>
          <a:ln w="6350">
            <a:solidFill>
              <a:srgbClr val="DED5CE"/>
            </a:solidFill>
            <a:prstDash val="solid"/>
          </a:ln>
        </p:spPr>
      </p:sp>
      <p:sp>
        <p:nvSpPr>
          <p:cNvPr id="95" name="Text 93"/>
          <p:cNvSpPr/>
          <p:nvPr/>
        </p:nvSpPr>
        <p:spPr>
          <a:xfrm>
            <a:off x="704088" y="3694176"/>
            <a:ext cx="2011680" cy="365760"/>
          </a:xfrm>
          <a:prstGeom prst="rect">
            <a:avLst/>
          </a:prstGeom>
          <a:noFill/>
          <a:ln/>
        </p:spPr>
        <p:txBody>
          <a:bodyPr wrap="square" lIns="0" tIns="0" rIns="0" bIns="0" rtlCol="0" anchor="ctr"/>
          <a:lstStyle/>
          <a:p>
            <a:pPr indent="0" marL="0">
              <a:buNone/>
            </a:pPr>
            <a:r>
              <a:rPr lang="en-US" sz="900" b="1" dirty="0">
                <a:solidFill>
                  <a:srgbClr val="2B2B2B"/>
                </a:solidFill>
                <a:latin typeface="Arial" pitchFamily="34" charset="0"/>
                <a:ea typeface="Arial" pitchFamily="34" charset="-122"/>
                <a:cs typeface="Arial" pitchFamily="34" charset="-120"/>
              </a:rPr>
              <a:t>売上総利益 合計</a:t>
            </a:r>
            <a:endParaRPr lang="en-US" sz="900" dirty="0"/>
          </a:p>
        </p:txBody>
      </p:sp>
      <p:sp>
        <p:nvSpPr>
          <p:cNvPr id="96" name="Text 94"/>
          <p:cNvSpPr/>
          <p:nvPr/>
        </p:nvSpPr>
        <p:spPr>
          <a:xfrm>
            <a:off x="2606040" y="369417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34.4</a:t>
            </a:r>
            <a:endParaRPr lang="en-US" sz="850" dirty="0"/>
          </a:p>
        </p:txBody>
      </p:sp>
      <p:sp>
        <p:nvSpPr>
          <p:cNvPr id="97" name="Text 95"/>
          <p:cNvSpPr/>
          <p:nvPr/>
        </p:nvSpPr>
        <p:spPr>
          <a:xfrm>
            <a:off x="3337560" y="369417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34.4</a:t>
            </a:r>
            <a:endParaRPr lang="en-US" sz="850" dirty="0"/>
          </a:p>
        </p:txBody>
      </p:sp>
      <p:sp>
        <p:nvSpPr>
          <p:cNvPr id="98" name="Text 96"/>
          <p:cNvSpPr/>
          <p:nvPr/>
        </p:nvSpPr>
        <p:spPr>
          <a:xfrm>
            <a:off x="4069080" y="369417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34.4</a:t>
            </a:r>
            <a:endParaRPr lang="en-US" sz="850" dirty="0"/>
          </a:p>
        </p:txBody>
      </p:sp>
      <p:sp>
        <p:nvSpPr>
          <p:cNvPr id="99" name="Text 97"/>
          <p:cNvSpPr/>
          <p:nvPr/>
        </p:nvSpPr>
        <p:spPr>
          <a:xfrm>
            <a:off x="4800600" y="369417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34.4</a:t>
            </a:r>
            <a:endParaRPr lang="en-US" sz="850" dirty="0"/>
          </a:p>
        </p:txBody>
      </p:sp>
      <p:sp>
        <p:nvSpPr>
          <p:cNvPr id="100" name="Text 98"/>
          <p:cNvSpPr/>
          <p:nvPr/>
        </p:nvSpPr>
        <p:spPr>
          <a:xfrm>
            <a:off x="5532120" y="369417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34.4</a:t>
            </a:r>
            <a:endParaRPr lang="en-US" sz="850" dirty="0"/>
          </a:p>
        </p:txBody>
      </p:sp>
      <p:sp>
        <p:nvSpPr>
          <p:cNvPr id="101" name="Text 99"/>
          <p:cNvSpPr/>
          <p:nvPr/>
        </p:nvSpPr>
        <p:spPr>
          <a:xfrm>
            <a:off x="6263640" y="369417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64.4</a:t>
            </a:r>
            <a:endParaRPr lang="en-US" sz="850" dirty="0"/>
          </a:p>
        </p:txBody>
      </p:sp>
      <p:sp>
        <p:nvSpPr>
          <p:cNvPr id="102" name="Text 100"/>
          <p:cNvSpPr/>
          <p:nvPr/>
        </p:nvSpPr>
        <p:spPr>
          <a:xfrm>
            <a:off x="6995160" y="369417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34.4</a:t>
            </a:r>
            <a:endParaRPr lang="en-US" sz="850" dirty="0"/>
          </a:p>
        </p:txBody>
      </p:sp>
      <p:sp>
        <p:nvSpPr>
          <p:cNvPr id="103" name="Text 101"/>
          <p:cNvSpPr/>
          <p:nvPr/>
        </p:nvSpPr>
        <p:spPr>
          <a:xfrm>
            <a:off x="7726680" y="369417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34.4</a:t>
            </a:r>
            <a:endParaRPr lang="en-US" sz="850" dirty="0"/>
          </a:p>
        </p:txBody>
      </p:sp>
      <p:sp>
        <p:nvSpPr>
          <p:cNvPr id="104" name="Text 102"/>
          <p:cNvSpPr/>
          <p:nvPr/>
        </p:nvSpPr>
        <p:spPr>
          <a:xfrm>
            <a:off x="8458200" y="369417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34.4</a:t>
            </a:r>
            <a:endParaRPr lang="en-US" sz="850" dirty="0"/>
          </a:p>
        </p:txBody>
      </p:sp>
      <p:sp>
        <p:nvSpPr>
          <p:cNvPr id="105" name="Text 103"/>
          <p:cNvSpPr/>
          <p:nvPr/>
        </p:nvSpPr>
        <p:spPr>
          <a:xfrm>
            <a:off x="9189720" y="369417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34.4</a:t>
            </a:r>
            <a:endParaRPr lang="en-US" sz="850" dirty="0"/>
          </a:p>
        </p:txBody>
      </p:sp>
      <p:sp>
        <p:nvSpPr>
          <p:cNvPr id="106" name="Text 104"/>
          <p:cNvSpPr/>
          <p:nvPr/>
        </p:nvSpPr>
        <p:spPr>
          <a:xfrm>
            <a:off x="9921240" y="369417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34.4</a:t>
            </a:r>
            <a:endParaRPr lang="en-US" sz="850" dirty="0"/>
          </a:p>
        </p:txBody>
      </p:sp>
      <p:sp>
        <p:nvSpPr>
          <p:cNvPr id="107" name="Text 105"/>
          <p:cNvSpPr/>
          <p:nvPr/>
        </p:nvSpPr>
        <p:spPr>
          <a:xfrm>
            <a:off x="10652760" y="369417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44.4</a:t>
            </a:r>
            <a:endParaRPr lang="en-US" sz="850" dirty="0"/>
          </a:p>
        </p:txBody>
      </p:sp>
      <p:sp>
        <p:nvSpPr>
          <p:cNvPr id="108" name="Text 106"/>
          <p:cNvSpPr/>
          <p:nvPr/>
        </p:nvSpPr>
        <p:spPr>
          <a:xfrm>
            <a:off x="11384280" y="3694176"/>
            <a:ext cx="868680" cy="365760"/>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452.7</a:t>
            </a:r>
            <a:endParaRPr lang="en-US" sz="900" dirty="0"/>
          </a:p>
        </p:txBody>
      </p:sp>
      <p:sp>
        <p:nvSpPr>
          <p:cNvPr id="109" name="Shape 107"/>
          <p:cNvSpPr/>
          <p:nvPr/>
        </p:nvSpPr>
        <p:spPr>
          <a:xfrm>
            <a:off x="594360" y="4059936"/>
            <a:ext cx="11658600" cy="365760"/>
          </a:xfrm>
          <a:prstGeom prst="rect">
            <a:avLst/>
          </a:prstGeom>
          <a:solidFill>
            <a:srgbClr val="FFFFFF"/>
          </a:solidFill>
          <a:ln w="6350">
            <a:solidFill>
              <a:srgbClr val="DED5CE"/>
            </a:solidFill>
            <a:prstDash val="solid"/>
          </a:ln>
        </p:spPr>
      </p:sp>
      <p:sp>
        <p:nvSpPr>
          <p:cNvPr id="110" name="Text 108"/>
          <p:cNvSpPr/>
          <p:nvPr/>
        </p:nvSpPr>
        <p:spPr>
          <a:xfrm>
            <a:off x="704088" y="4059936"/>
            <a:ext cx="2011680" cy="365760"/>
          </a:xfrm>
          <a:prstGeom prst="rect">
            <a:avLst/>
          </a:prstGeom>
          <a:noFill/>
          <a:ln/>
        </p:spPr>
        <p:txBody>
          <a:bodyPr wrap="square" lIns="0" tIns="0" rIns="0" bIns="0" rtlCol="0" anchor="ctr"/>
          <a:lstStyle/>
          <a:p>
            <a:pPr indent="0" marL="0">
              <a:buNone/>
            </a:pPr>
            <a:r>
              <a:rPr lang="en-US" sz="900" dirty="0">
                <a:solidFill>
                  <a:srgbClr val="2B2B2B"/>
                </a:solidFill>
                <a:latin typeface="Arial" pitchFamily="34" charset="0"/>
                <a:ea typeface="Arial" pitchFamily="34" charset="-122"/>
                <a:cs typeface="Arial" pitchFamily="34" charset="-120"/>
              </a:rPr>
              <a:t>販管費</a:t>
            </a:r>
            <a:endParaRPr lang="en-US" sz="900" dirty="0"/>
          </a:p>
        </p:txBody>
      </p:sp>
      <p:sp>
        <p:nvSpPr>
          <p:cNvPr id="111" name="Text 109"/>
          <p:cNvSpPr/>
          <p:nvPr/>
        </p:nvSpPr>
        <p:spPr>
          <a:xfrm>
            <a:off x="2606040" y="4059936"/>
            <a:ext cx="731520" cy="365760"/>
          </a:xfrm>
          <a:prstGeom prst="rect">
            <a:avLst/>
          </a:prstGeom>
          <a:noFill/>
          <a:ln/>
        </p:spPr>
        <p:txBody>
          <a:bodyPr wrap="square" lIns="0" tIns="0" rIns="0" bIns="0" rtlCol="0" anchor="ctr"/>
          <a:lstStyle/>
          <a:p>
            <a:pPr algn="ctr" indent="0" marL="0">
              <a:buNone/>
            </a:pPr>
            <a:r>
              <a:rPr lang="en-US" sz="850" dirty="0">
                <a:solidFill>
                  <a:srgbClr val="C0392B"/>
                </a:solidFill>
                <a:latin typeface="Arial" pitchFamily="34" charset="0"/>
                <a:ea typeface="Arial" pitchFamily="34" charset="-122"/>
                <a:cs typeface="Arial" pitchFamily="34" charset="-120"/>
              </a:rPr>
              <a:t>▲25.0</a:t>
            </a:r>
            <a:endParaRPr lang="en-US" sz="850" dirty="0"/>
          </a:p>
        </p:txBody>
      </p:sp>
      <p:sp>
        <p:nvSpPr>
          <p:cNvPr id="112" name="Text 110"/>
          <p:cNvSpPr/>
          <p:nvPr/>
        </p:nvSpPr>
        <p:spPr>
          <a:xfrm>
            <a:off x="3337560" y="4059936"/>
            <a:ext cx="731520" cy="365760"/>
          </a:xfrm>
          <a:prstGeom prst="rect">
            <a:avLst/>
          </a:prstGeom>
          <a:noFill/>
          <a:ln/>
        </p:spPr>
        <p:txBody>
          <a:bodyPr wrap="square" lIns="0" tIns="0" rIns="0" bIns="0" rtlCol="0" anchor="ctr"/>
          <a:lstStyle/>
          <a:p>
            <a:pPr algn="ctr" indent="0" marL="0">
              <a:buNone/>
            </a:pPr>
            <a:r>
              <a:rPr lang="en-US" sz="850" dirty="0">
                <a:solidFill>
                  <a:srgbClr val="C0392B"/>
                </a:solidFill>
                <a:latin typeface="Arial" pitchFamily="34" charset="0"/>
                <a:ea typeface="Arial" pitchFamily="34" charset="-122"/>
                <a:cs typeface="Arial" pitchFamily="34" charset="-120"/>
              </a:rPr>
              <a:t>▲25.0</a:t>
            </a:r>
            <a:endParaRPr lang="en-US" sz="850" dirty="0"/>
          </a:p>
        </p:txBody>
      </p:sp>
      <p:sp>
        <p:nvSpPr>
          <p:cNvPr id="113" name="Text 111"/>
          <p:cNvSpPr/>
          <p:nvPr/>
        </p:nvSpPr>
        <p:spPr>
          <a:xfrm>
            <a:off x="4069080" y="4059936"/>
            <a:ext cx="731520" cy="365760"/>
          </a:xfrm>
          <a:prstGeom prst="rect">
            <a:avLst/>
          </a:prstGeom>
          <a:noFill/>
          <a:ln/>
        </p:spPr>
        <p:txBody>
          <a:bodyPr wrap="square" lIns="0" tIns="0" rIns="0" bIns="0" rtlCol="0" anchor="ctr"/>
          <a:lstStyle/>
          <a:p>
            <a:pPr algn="ctr" indent="0" marL="0">
              <a:buNone/>
            </a:pPr>
            <a:r>
              <a:rPr lang="en-US" sz="850" dirty="0">
                <a:solidFill>
                  <a:srgbClr val="C0392B"/>
                </a:solidFill>
                <a:latin typeface="Arial" pitchFamily="34" charset="0"/>
                <a:ea typeface="Arial" pitchFamily="34" charset="-122"/>
                <a:cs typeface="Arial" pitchFamily="34" charset="-120"/>
              </a:rPr>
              <a:t>▲25.0</a:t>
            </a:r>
            <a:endParaRPr lang="en-US" sz="850" dirty="0"/>
          </a:p>
        </p:txBody>
      </p:sp>
      <p:sp>
        <p:nvSpPr>
          <p:cNvPr id="114" name="Text 112"/>
          <p:cNvSpPr/>
          <p:nvPr/>
        </p:nvSpPr>
        <p:spPr>
          <a:xfrm>
            <a:off x="4800600" y="4059936"/>
            <a:ext cx="731520" cy="365760"/>
          </a:xfrm>
          <a:prstGeom prst="rect">
            <a:avLst/>
          </a:prstGeom>
          <a:noFill/>
          <a:ln/>
        </p:spPr>
        <p:txBody>
          <a:bodyPr wrap="square" lIns="0" tIns="0" rIns="0" bIns="0" rtlCol="0" anchor="ctr"/>
          <a:lstStyle/>
          <a:p>
            <a:pPr algn="ctr" indent="0" marL="0">
              <a:buNone/>
            </a:pPr>
            <a:r>
              <a:rPr lang="en-US" sz="850" dirty="0">
                <a:solidFill>
                  <a:srgbClr val="C0392B"/>
                </a:solidFill>
                <a:latin typeface="Arial" pitchFamily="34" charset="0"/>
                <a:ea typeface="Arial" pitchFamily="34" charset="-122"/>
                <a:cs typeface="Arial" pitchFamily="34" charset="-120"/>
              </a:rPr>
              <a:t>▲25.0</a:t>
            </a:r>
            <a:endParaRPr lang="en-US" sz="850" dirty="0"/>
          </a:p>
        </p:txBody>
      </p:sp>
      <p:sp>
        <p:nvSpPr>
          <p:cNvPr id="115" name="Text 113"/>
          <p:cNvSpPr/>
          <p:nvPr/>
        </p:nvSpPr>
        <p:spPr>
          <a:xfrm>
            <a:off x="5532120" y="4059936"/>
            <a:ext cx="731520" cy="365760"/>
          </a:xfrm>
          <a:prstGeom prst="rect">
            <a:avLst/>
          </a:prstGeom>
          <a:noFill/>
          <a:ln/>
        </p:spPr>
        <p:txBody>
          <a:bodyPr wrap="square" lIns="0" tIns="0" rIns="0" bIns="0" rtlCol="0" anchor="ctr"/>
          <a:lstStyle/>
          <a:p>
            <a:pPr algn="ctr" indent="0" marL="0">
              <a:buNone/>
            </a:pPr>
            <a:r>
              <a:rPr lang="en-US" sz="850" dirty="0">
                <a:solidFill>
                  <a:srgbClr val="C0392B"/>
                </a:solidFill>
                <a:latin typeface="Arial" pitchFamily="34" charset="0"/>
                <a:ea typeface="Arial" pitchFamily="34" charset="-122"/>
                <a:cs typeface="Arial" pitchFamily="34" charset="-120"/>
              </a:rPr>
              <a:t>▲25.0</a:t>
            </a:r>
            <a:endParaRPr lang="en-US" sz="850" dirty="0"/>
          </a:p>
        </p:txBody>
      </p:sp>
      <p:sp>
        <p:nvSpPr>
          <p:cNvPr id="116" name="Text 114"/>
          <p:cNvSpPr/>
          <p:nvPr/>
        </p:nvSpPr>
        <p:spPr>
          <a:xfrm>
            <a:off x="6263640" y="4059936"/>
            <a:ext cx="731520" cy="365760"/>
          </a:xfrm>
          <a:prstGeom prst="rect">
            <a:avLst/>
          </a:prstGeom>
          <a:noFill/>
          <a:ln/>
        </p:spPr>
        <p:txBody>
          <a:bodyPr wrap="square" lIns="0" tIns="0" rIns="0" bIns="0" rtlCol="0" anchor="ctr"/>
          <a:lstStyle/>
          <a:p>
            <a:pPr algn="ctr" indent="0" marL="0">
              <a:buNone/>
            </a:pPr>
            <a:r>
              <a:rPr lang="en-US" sz="850" dirty="0">
                <a:solidFill>
                  <a:srgbClr val="C0392B"/>
                </a:solidFill>
                <a:latin typeface="Arial" pitchFamily="34" charset="0"/>
                <a:ea typeface="Arial" pitchFamily="34" charset="-122"/>
                <a:cs typeface="Arial" pitchFamily="34" charset="-120"/>
              </a:rPr>
              <a:t>▲25.0</a:t>
            </a:r>
            <a:endParaRPr lang="en-US" sz="850" dirty="0"/>
          </a:p>
        </p:txBody>
      </p:sp>
      <p:sp>
        <p:nvSpPr>
          <p:cNvPr id="117" name="Text 115"/>
          <p:cNvSpPr/>
          <p:nvPr/>
        </p:nvSpPr>
        <p:spPr>
          <a:xfrm>
            <a:off x="6995160" y="4059936"/>
            <a:ext cx="731520" cy="365760"/>
          </a:xfrm>
          <a:prstGeom prst="rect">
            <a:avLst/>
          </a:prstGeom>
          <a:noFill/>
          <a:ln/>
        </p:spPr>
        <p:txBody>
          <a:bodyPr wrap="square" lIns="0" tIns="0" rIns="0" bIns="0" rtlCol="0" anchor="ctr"/>
          <a:lstStyle/>
          <a:p>
            <a:pPr algn="ctr" indent="0" marL="0">
              <a:buNone/>
            </a:pPr>
            <a:r>
              <a:rPr lang="en-US" sz="850" dirty="0">
                <a:solidFill>
                  <a:srgbClr val="C0392B"/>
                </a:solidFill>
                <a:latin typeface="Arial" pitchFamily="34" charset="0"/>
                <a:ea typeface="Arial" pitchFamily="34" charset="-122"/>
                <a:cs typeface="Arial" pitchFamily="34" charset="-120"/>
              </a:rPr>
              <a:t>▲25.0</a:t>
            </a:r>
            <a:endParaRPr lang="en-US" sz="850" dirty="0"/>
          </a:p>
        </p:txBody>
      </p:sp>
      <p:sp>
        <p:nvSpPr>
          <p:cNvPr id="118" name="Text 116"/>
          <p:cNvSpPr/>
          <p:nvPr/>
        </p:nvSpPr>
        <p:spPr>
          <a:xfrm>
            <a:off x="7726680" y="4059936"/>
            <a:ext cx="731520" cy="365760"/>
          </a:xfrm>
          <a:prstGeom prst="rect">
            <a:avLst/>
          </a:prstGeom>
          <a:noFill/>
          <a:ln/>
        </p:spPr>
        <p:txBody>
          <a:bodyPr wrap="square" lIns="0" tIns="0" rIns="0" bIns="0" rtlCol="0" anchor="ctr"/>
          <a:lstStyle/>
          <a:p>
            <a:pPr algn="ctr" indent="0" marL="0">
              <a:buNone/>
            </a:pPr>
            <a:r>
              <a:rPr lang="en-US" sz="850" dirty="0">
                <a:solidFill>
                  <a:srgbClr val="C0392B"/>
                </a:solidFill>
                <a:latin typeface="Arial" pitchFamily="34" charset="0"/>
                <a:ea typeface="Arial" pitchFamily="34" charset="-122"/>
                <a:cs typeface="Arial" pitchFamily="34" charset="-120"/>
              </a:rPr>
              <a:t>▲25.0</a:t>
            </a:r>
            <a:endParaRPr lang="en-US" sz="850" dirty="0"/>
          </a:p>
        </p:txBody>
      </p:sp>
      <p:sp>
        <p:nvSpPr>
          <p:cNvPr id="119" name="Text 117"/>
          <p:cNvSpPr/>
          <p:nvPr/>
        </p:nvSpPr>
        <p:spPr>
          <a:xfrm>
            <a:off x="8458200" y="4059936"/>
            <a:ext cx="731520" cy="365760"/>
          </a:xfrm>
          <a:prstGeom prst="rect">
            <a:avLst/>
          </a:prstGeom>
          <a:noFill/>
          <a:ln/>
        </p:spPr>
        <p:txBody>
          <a:bodyPr wrap="square" lIns="0" tIns="0" rIns="0" bIns="0" rtlCol="0" anchor="ctr"/>
          <a:lstStyle/>
          <a:p>
            <a:pPr algn="ctr" indent="0" marL="0">
              <a:buNone/>
            </a:pPr>
            <a:r>
              <a:rPr lang="en-US" sz="850" dirty="0">
                <a:solidFill>
                  <a:srgbClr val="C0392B"/>
                </a:solidFill>
                <a:latin typeface="Arial" pitchFamily="34" charset="0"/>
                <a:ea typeface="Arial" pitchFamily="34" charset="-122"/>
                <a:cs typeface="Arial" pitchFamily="34" charset="-120"/>
              </a:rPr>
              <a:t>▲25.0</a:t>
            </a:r>
            <a:endParaRPr lang="en-US" sz="850" dirty="0"/>
          </a:p>
        </p:txBody>
      </p:sp>
      <p:sp>
        <p:nvSpPr>
          <p:cNvPr id="120" name="Text 118"/>
          <p:cNvSpPr/>
          <p:nvPr/>
        </p:nvSpPr>
        <p:spPr>
          <a:xfrm>
            <a:off x="9189720" y="4059936"/>
            <a:ext cx="731520" cy="365760"/>
          </a:xfrm>
          <a:prstGeom prst="rect">
            <a:avLst/>
          </a:prstGeom>
          <a:noFill/>
          <a:ln/>
        </p:spPr>
        <p:txBody>
          <a:bodyPr wrap="square" lIns="0" tIns="0" rIns="0" bIns="0" rtlCol="0" anchor="ctr"/>
          <a:lstStyle/>
          <a:p>
            <a:pPr algn="ctr" indent="0" marL="0">
              <a:buNone/>
            </a:pPr>
            <a:r>
              <a:rPr lang="en-US" sz="850" dirty="0">
                <a:solidFill>
                  <a:srgbClr val="C0392B"/>
                </a:solidFill>
                <a:latin typeface="Arial" pitchFamily="34" charset="0"/>
                <a:ea typeface="Arial" pitchFamily="34" charset="-122"/>
                <a:cs typeface="Arial" pitchFamily="34" charset="-120"/>
              </a:rPr>
              <a:t>▲25.0</a:t>
            </a:r>
            <a:endParaRPr lang="en-US" sz="850" dirty="0"/>
          </a:p>
        </p:txBody>
      </p:sp>
      <p:sp>
        <p:nvSpPr>
          <p:cNvPr id="121" name="Text 119"/>
          <p:cNvSpPr/>
          <p:nvPr/>
        </p:nvSpPr>
        <p:spPr>
          <a:xfrm>
            <a:off x="9921240" y="4059936"/>
            <a:ext cx="731520" cy="365760"/>
          </a:xfrm>
          <a:prstGeom prst="rect">
            <a:avLst/>
          </a:prstGeom>
          <a:noFill/>
          <a:ln/>
        </p:spPr>
        <p:txBody>
          <a:bodyPr wrap="square" lIns="0" tIns="0" rIns="0" bIns="0" rtlCol="0" anchor="ctr"/>
          <a:lstStyle/>
          <a:p>
            <a:pPr algn="ctr" indent="0" marL="0">
              <a:buNone/>
            </a:pPr>
            <a:r>
              <a:rPr lang="en-US" sz="850" dirty="0">
                <a:solidFill>
                  <a:srgbClr val="C0392B"/>
                </a:solidFill>
                <a:latin typeface="Arial" pitchFamily="34" charset="0"/>
                <a:ea typeface="Arial" pitchFamily="34" charset="-122"/>
                <a:cs typeface="Arial" pitchFamily="34" charset="-120"/>
              </a:rPr>
              <a:t>▲25.0</a:t>
            </a:r>
            <a:endParaRPr lang="en-US" sz="850" dirty="0"/>
          </a:p>
        </p:txBody>
      </p:sp>
      <p:sp>
        <p:nvSpPr>
          <p:cNvPr id="122" name="Text 120"/>
          <p:cNvSpPr/>
          <p:nvPr/>
        </p:nvSpPr>
        <p:spPr>
          <a:xfrm>
            <a:off x="10652760" y="4059936"/>
            <a:ext cx="731520" cy="365760"/>
          </a:xfrm>
          <a:prstGeom prst="rect">
            <a:avLst/>
          </a:prstGeom>
          <a:noFill/>
          <a:ln/>
        </p:spPr>
        <p:txBody>
          <a:bodyPr wrap="square" lIns="0" tIns="0" rIns="0" bIns="0" rtlCol="0" anchor="ctr"/>
          <a:lstStyle/>
          <a:p>
            <a:pPr algn="ctr" indent="0" marL="0">
              <a:buNone/>
            </a:pPr>
            <a:r>
              <a:rPr lang="en-US" sz="850" dirty="0">
                <a:solidFill>
                  <a:srgbClr val="C0392B"/>
                </a:solidFill>
                <a:latin typeface="Arial" pitchFamily="34" charset="0"/>
                <a:ea typeface="Arial" pitchFamily="34" charset="-122"/>
                <a:cs typeface="Arial" pitchFamily="34" charset="-120"/>
              </a:rPr>
              <a:t>▲25.0</a:t>
            </a:r>
            <a:endParaRPr lang="en-US" sz="850" dirty="0"/>
          </a:p>
        </p:txBody>
      </p:sp>
      <p:sp>
        <p:nvSpPr>
          <p:cNvPr id="123" name="Text 121"/>
          <p:cNvSpPr/>
          <p:nvPr/>
        </p:nvSpPr>
        <p:spPr>
          <a:xfrm>
            <a:off x="11384280" y="4059936"/>
            <a:ext cx="868680" cy="365760"/>
          </a:xfrm>
          <a:prstGeom prst="rect">
            <a:avLst/>
          </a:prstGeom>
          <a:noFill/>
          <a:ln/>
        </p:spPr>
        <p:txBody>
          <a:bodyPr wrap="square" lIns="0" tIns="0" rIns="0" bIns="0" rtlCol="0" anchor="ctr"/>
          <a:lstStyle/>
          <a:p>
            <a:pPr algn="ctr" indent="0" marL="0">
              <a:buNone/>
            </a:pPr>
            <a:r>
              <a:rPr lang="en-US" sz="900" b="1" dirty="0">
                <a:solidFill>
                  <a:srgbClr val="C0392B"/>
                </a:solidFill>
                <a:latin typeface="Arial" pitchFamily="34" charset="0"/>
                <a:ea typeface="Arial" pitchFamily="34" charset="-122"/>
                <a:cs typeface="Arial" pitchFamily="34" charset="-120"/>
              </a:rPr>
              <a:t>▲300.2</a:t>
            </a:r>
            <a:endParaRPr lang="en-US" sz="900" dirty="0"/>
          </a:p>
        </p:txBody>
      </p:sp>
      <p:sp>
        <p:nvSpPr>
          <p:cNvPr id="124" name="Shape 122"/>
          <p:cNvSpPr/>
          <p:nvPr/>
        </p:nvSpPr>
        <p:spPr>
          <a:xfrm>
            <a:off x="594360" y="4425696"/>
            <a:ext cx="11658600" cy="365760"/>
          </a:xfrm>
          <a:prstGeom prst="rect">
            <a:avLst/>
          </a:prstGeom>
          <a:solidFill>
            <a:srgbClr val="F3EDE9"/>
          </a:solidFill>
          <a:ln w="6350">
            <a:solidFill>
              <a:srgbClr val="DED5CE"/>
            </a:solidFill>
            <a:prstDash val="solid"/>
          </a:ln>
        </p:spPr>
      </p:sp>
      <p:sp>
        <p:nvSpPr>
          <p:cNvPr id="125" name="Text 123"/>
          <p:cNvSpPr/>
          <p:nvPr/>
        </p:nvSpPr>
        <p:spPr>
          <a:xfrm>
            <a:off x="704088" y="4425696"/>
            <a:ext cx="2011680" cy="365760"/>
          </a:xfrm>
          <a:prstGeom prst="rect">
            <a:avLst/>
          </a:prstGeom>
          <a:noFill/>
          <a:ln/>
        </p:spPr>
        <p:txBody>
          <a:bodyPr wrap="square" lIns="0" tIns="0" rIns="0" bIns="0" rtlCol="0" anchor="ctr"/>
          <a:lstStyle/>
          <a:p>
            <a:pPr indent="0" marL="0">
              <a:buNone/>
            </a:pPr>
            <a:r>
              <a:rPr lang="en-US" sz="900" b="1" dirty="0">
                <a:solidFill>
                  <a:srgbClr val="2B2B2B"/>
                </a:solidFill>
                <a:latin typeface="Arial" pitchFamily="34" charset="0"/>
                <a:ea typeface="Arial" pitchFamily="34" charset="-122"/>
                <a:cs typeface="Arial" pitchFamily="34" charset="-120"/>
              </a:rPr>
              <a:t>営業利益</a:t>
            </a:r>
            <a:endParaRPr lang="en-US" sz="900" dirty="0"/>
          </a:p>
        </p:txBody>
      </p:sp>
      <p:sp>
        <p:nvSpPr>
          <p:cNvPr id="126" name="Text 124"/>
          <p:cNvSpPr/>
          <p:nvPr/>
        </p:nvSpPr>
        <p:spPr>
          <a:xfrm>
            <a:off x="2606040" y="442569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9.4</a:t>
            </a:r>
            <a:endParaRPr lang="en-US" sz="850" dirty="0"/>
          </a:p>
        </p:txBody>
      </p:sp>
      <p:sp>
        <p:nvSpPr>
          <p:cNvPr id="127" name="Text 125"/>
          <p:cNvSpPr/>
          <p:nvPr/>
        </p:nvSpPr>
        <p:spPr>
          <a:xfrm>
            <a:off x="3337560" y="442569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9.4</a:t>
            </a:r>
            <a:endParaRPr lang="en-US" sz="850" dirty="0"/>
          </a:p>
        </p:txBody>
      </p:sp>
      <p:sp>
        <p:nvSpPr>
          <p:cNvPr id="128" name="Text 126"/>
          <p:cNvSpPr/>
          <p:nvPr/>
        </p:nvSpPr>
        <p:spPr>
          <a:xfrm>
            <a:off x="4069080" y="442569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9.4</a:t>
            </a:r>
            <a:endParaRPr lang="en-US" sz="850" dirty="0"/>
          </a:p>
        </p:txBody>
      </p:sp>
      <p:sp>
        <p:nvSpPr>
          <p:cNvPr id="129" name="Text 127"/>
          <p:cNvSpPr/>
          <p:nvPr/>
        </p:nvSpPr>
        <p:spPr>
          <a:xfrm>
            <a:off x="4800600" y="442569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9.4</a:t>
            </a:r>
            <a:endParaRPr lang="en-US" sz="850" dirty="0"/>
          </a:p>
        </p:txBody>
      </p:sp>
      <p:sp>
        <p:nvSpPr>
          <p:cNvPr id="130" name="Text 128"/>
          <p:cNvSpPr/>
          <p:nvPr/>
        </p:nvSpPr>
        <p:spPr>
          <a:xfrm>
            <a:off x="5532120" y="442569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9.4</a:t>
            </a:r>
            <a:endParaRPr lang="en-US" sz="850" dirty="0"/>
          </a:p>
        </p:txBody>
      </p:sp>
      <p:sp>
        <p:nvSpPr>
          <p:cNvPr id="131" name="Text 129"/>
          <p:cNvSpPr/>
          <p:nvPr/>
        </p:nvSpPr>
        <p:spPr>
          <a:xfrm>
            <a:off x="6263640" y="442569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39.4</a:t>
            </a:r>
            <a:endParaRPr lang="en-US" sz="850" dirty="0"/>
          </a:p>
        </p:txBody>
      </p:sp>
      <p:sp>
        <p:nvSpPr>
          <p:cNvPr id="132" name="Text 130"/>
          <p:cNvSpPr/>
          <p:nvPr/>
        </p:nvSpPr>
        <p:spPr>
          <a:xfrm>
            <a:off x="6995160" y="442569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9.4</a:t>
            </a:r>
            <a:endParaRPr lang="en-US" sz="850" dirty="0"/>
          </a:p>
        </p:txBody>
      </p:sp>
      <p:sp>
        <p:nvSpPr>
          <p:cNvPr id="133" name="Text 131"/>
          <p:cNvSpPr/>
          <p:nvPr/>
        </p:nvSpPr>
        <p:spPr>
          <a:xfrm>
            <a:off x="7726680" y="442569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9.4</a:t>
            </a:r>
            <a:endParaRPr lang="en-US" sz="850" dirty="0"/>
          </a:p>
        </p:txBody>
      </p:sp>
      <p:sp>
        <p:nvSpPr>
          <p:cNvPr id="134" name="Text 132"/>
          <p:cNvSpPr/>
          <p:nvPr/>
        </p:nvSpPr>
        <p:spPr>
          <a:xfrm>
            <a:off x="8458200" y="442569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9.4</a:t>
            </a:r>
            <a:endParaRPr lang="en-US" sz="850" dirty="0"/>
          </a:p>
        </p:txBody>
      </p:sp>
      <p:sp>
        <p:nvSpPr>
          <p:cNvPr id="135" name="Text 133"/>
          <p:cNvSpPr/>
          <p:nvPr/>
        </p:nvSpPr>
        <p:spPr>
          <a:xfrm>
            <a:off x="9189720" y="442569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9.4</a:t>
            </a:r>
            <a:endParaRPr lang="en-US" sz="850" dirty="0"/>
          </a:p>
        </p:txBody>
      </p:sp>
      <p:sp>
        <p:nvSpPr>
          <p:cNvPr id="136" name="Text 134"/>
          <p:cNvSpPr/>
          <p:nvPr/>
        </p:nvSpPr>
        <p:spPr>
          <a:xfrm>
            <a:off x="9921240" y="442569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9.4</a:t>
            </a:r>
            <a:endParaRPr lang="en-US" sz="850" dirty="0"/>
          </a:p>
        </p:txBody>
      </p:sp>
      <p:sp>
        <p:nvSpPr>
          <p:cNvPr id="137" name="Text 135"/>
          <p:cNvSpPr/>
          <p:nvPr/>
        </p:nvSpPr>
        <p:spPr>
          <a:xfrm>
            <a:off x="10652760" y="442569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19.4</a:t>
            </a:r>
            <a:endParaRPr lang="en-US" sz="850" dirty="0"/>
          </a:p>
        </p:txBody>
      </p:sp>
      <p:sp>
        <p:nvSpPr>
          <p:cNvPr id="138" name="Text 136"/>
          <p:cNvSpPr/>
          <p:nvPr/>
        </p:nvSpPr>
        <p:spPr>
          <a:xfrm>
            <a:off x="11384280" y="4425696"/>
            <a:ext cx="868680" cy="365760"/>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152.5</a:t>
            </a:r>
            <a:endParaRPr lang="en-US" sz="900" dirty="0"/>
          </a:p>
        </p:txBody>
      </p:sp>
      <p:sp>
        <p:nvSpPr>
          <p:cNvPr id="139" name="Shape 137"/>
          <p:cNvSpPr/>
          <p:nvPr/>
        </p:nvSpPr>
        <p:spPr>
          <a:xfrm>
            <a:off x="594360" y="4791456"/>
            <a:ext cx="11658600" cy="365760"/>
          </a:xfrm>
          <a:prstGeom prst="rect">
            <a:avLst/>
          </a:prstGeom>
          <a:solidFill>
            <a:srgbClr val="FFFFFF"/>
          </a:solidFill>
          <a:ln w="6350">
            <a:solidFill>
              <a:srgbClr val="DED5CE"/>
            </a:solidFill>
            <a:prstDash val="solid"/>
          </a:ln>
        </p:spPr>
      </p:sp>
      <p:sp>
        <p:nvSpPr>
          <p:cNvPr id="140" name="Text 138"/>
          <p:cNvSpPr/>
          <p:nvPr/>
        </p:nvSpPr>
        <p:spPr>
          <a:xfrm>
            <a:off x="704088" y="4791456"/>
            <a:ext cx="2011680" cy="365760"/>
          </a:xfrm>
          <a:prstGeom prst="rect">
            <a:avLst/>
          </a:prstGeom>
          <a:noFill/>
          <a:ln/>
        </p:spPr>
        <p:txBody>
          <a:bodyPr wrap="square" lIns="0" tIns="0" rIns="0" bIns="0" rtlCol="0" anchor="ctr"/>
          <a:lstStyle/>
          <a:p>
            <a:pPr indent="0" marL="0">
              <a:buNone/>
            </a:pPr>
            <a:r>
              <a:rPr lang="en-US" sz="900" dirty="0">
                <a:solidFill>
                  <a:srgbClr val="2B2B2B"/>
                </a:solidFill>
                <a:latin typeface="Arial" pitchFamily="34" charset="0"/>
                <a:ea typeface="Arial" pitchFamily="34" charset="-122"/>
                <a:cs typeface="Arial" pitchFamily="34" charset="-120"/>
              </a:rPr>
              <a:t>営業外費用</a:t>
            </a:r>
            <a:endParaRPr lang="en-US" sz="900" dirty="0"/>
          </a:p>
        </p:txBody>
      </p:sp>
      <p:sp>
        <p:nvSpPr>
          <p:cNvPr id="141" name="Text 139"/>
          <p:cNvSpPr/>
          <p:nvPr/>
        </p:nvSpPr>
        <p:spPr>
          <a:xfrm>
            <a:off x="2606040" y="4791456"/>
            <a:ext cx="731520" cy="365760"/>
          </a:xfrm>
          <a:prstGeom prst="rect">
            <a:avLst/>
          </a:prstGeom>
          <a:noFill/>
          <a:ln/>
        </p:spPr>
        <p:txBody>
          <a:bodyPr wrap="square" lIns="0" tIns="0" rIns="0" bIns="0" rtlCol="0" anchor="ctr"/>
          <a:lstStyle/>
          <a:p>
            <a:pPr algn="ctr" indent="0" marL="0">
              <a:buNone/>
            </a:pPr>
            <a:r>
              <a:rPr lang="en-US" sz="850" dirty="0">
                <a:solidFill>
                  <a:srgbClr val="C0392B"/>
                </a:solidFill>
                <a:latin typeface="Arial" pitchFamily="34" charset="0"/>
                <a:ea typeface="Arial" pitchFamily="34" charset="-122"/>
                <a:cs typeface="Arial" pitchFamily="34" charset="-120"/>
              </a:rPr>
              <a:t>▲1.3</a:t>
            </a:r>
            <a:endParaRPr lang="en-US" sz="850" dirty="0"/>
          </a:p>
        </p:txBody>
      </p:sp>
      <p:sp>
        <p:nvSpPr>
          <p:cNvPr id="142" name="Text 140"/>
          <p:cNvSpPr/>
          <p:nvPr/>
        </p:nvSpPr>
        <p:spPr>
          <a:xfrm>
            <a:off x="3337560" y="4791456"/>
            <a:ext cx="731520" cy="365760"/>
          </a:xfrm>
          <a:prstGeom prst="rect">
            <a:avLst/>
          </a:prstGeom>
          <a:noFill/>
          <a:ln/>
        </p:spPr>
        <p:txBody>
          <a:bodyPr wrap="square" lIns="0" tIns="0" rIns="0" bIns="0" rtlCol="0" anchor="ctr"/>
          <a:lstStyle/>
          <a:p>
            <a:pPr algn="ctr" indent="0" marL="0">
              <a:buNone/>
            </a:pPr>
            <a:r>
              <a:rPr lang="en-US" sz="850" dirty="0">
                <a:solidFill>
                  <a:srgbClr val="C0392B"/>
                </a:solidFill>
                <a:latin typeface="Arial" pitchFamily="34" charset="0"/>
                <a:ea typeface="Arial" pitchFamily="34" charset="-122"/>
                <a:cs typeface="Arial" pitchFamily="34" charset="-120"/>
              </a:rPr>
              <a:t>▲1.3</a:t>
            </a:r>
            <a:endParaRPr lang="en-US" sz="850" dirty="0"/>
          </a:p>
        </p:txBody>
      </p:sp>
      <p:sp>
        <p:nvSpPr>
          <p:cNvPr id="143" name="Text 141"/>
          <p:cNvSpPr/>
          <p:nvPr/>
        </p:nvSpPr>
        <p:spPr>
          <a:xfrm>
            <a:off x="4069080" y="4791456"/>
            <a:ext cx="731520" cy="365760"/>
          </a:xfrm>
          <a:prstGeom prst="rect">
            <a:avLst/>
          </a:prstGeom>
          <a:noFill/>
          <a:ln/>
        </p:spPr>
        <p:txBody>
          <a:bodyPr wrap="square" lIns="0" tIns="0" rIns="0" bIns="0" rtlCol="0" anchor="ctr"/>
          <a:lstStyle/>
          <a:p>
            <a:pPr algn="ctr" indent="0" marL="0">
              <a:buNone/>
            </a:pPr>
            <a:r>
              <a:rPr lang="en-US" sz="850" dirty="0">
                <a:solidFill>
                  <a:srgbClr val="C0392B"/>
                </a:solidFill>
                <a:latin typeface="Arial" pitchFamily="34" charset="0"/>
                <a:ea typeface="Arial" pitchFamily="34" charset="-122"/>
                <a:cs typeface="Arial" pitchFamily="34" charset="-120"/>
              </a:rPr>
              <a:t>▲1.3</a:t>
            </a:r>
            <a:endParaRPr lang="en-US" sz="850" dirty="0"/>
          </a:p>
        </p:txBody>
      </p:sp>
      <p:sp>
        <p:nvSpPr>
          <p:cNvPr id="144" name="Text 142"/>
          <p:cNvSpPr/>
          <p:nvPr/>
        </p:nvSpPr>
        <p:spPr>
          <a:xfrm>
            <a:off x="4800600" y="4791456"/>
            <a:ext cx="731520" cy="365760"/>
          </a:xfrm>
          <a:prstGeom prst="rect">
            <a:avLst/>
          </a:prstGeom>
          <a:noFill/>
          <a:ln/>
        </p:spPr>
        <p:txBody>
          <a:bodyPr wrap="square" lIns="0" tIns="0" rIns="0" bIns="0" rtlCol="0" anchor="ctr"/>
          <a:lstStyle/>
          <a:p>
            <a:pPr algn="ctr" indent="0" marL="0">
              <a:buNone/>
            </a:pPr>
            <a:r>
              <a:rPr lang="en-US" sz="850" dirty="0">
                <a:solidFill>
                  <a:srgbClr val="C0392B"/>
                </a:solidFill>
                <a:latin typeface="Arial" pitchFamily="34" charset="0"/>
                <a:ea typeface="Arial" pitchFamily="34" charset="-122"/>
                <a:cs typeface="Arial" pitchFamily="34" charset="-120"/>
              </a:rPr>
              <a:t>▲1.3</a:t>
            </a:r>
            <a:endParaRPr lang="en-US" sz="850" dirty="0"/>
          </a:p>
        </p:txBody>
      </p:sp>
      <p:sp>
        <p:nvSpPr>
          <p:cNvPr id="145" name="Text 143"/>
          <p:cNvSpPr/>
          <p:nvPr/>
        </p:nvSpPr>
        <p:spPr>
          <a:xfrm>
            <a:off x="5532120" y="4791456"/>
            <a:ext cx="731520" cy="365760"/>
          </a:xfrm>
          <a:prstGeom prst="rect">
            <a:avLst/>
          </a:prstGeom>
          <a:noFill/>
          <a:ln/>
        </p:spPr>
        <p:txBody>
          <a:bodyPr wrap="square" lIns="0" tIns="0" rIns="0" bIns="0" rtlCol="0" anchor="ctr"/>
          <a:lstStyle/>
          <a:p>
            <a:pPr algn="ctr" indent="0" marL="0">
              <a:buNone/>
            </a:pPr>
            <a:r>
              <a:rPr lang="en-US" sz="850" dirty="0">
                <a:solidFill>
                  <a:srgbClr val="C0392B"/>
                </a:solidFill>
                <a:latin typeface="Arial" pitchFamily="34" charset="0"/>
                <a:ea typeface="Arial" pitchFamily="34" charset="-122"/>
                <a:cs typeface="Arial" pitchFamily="34" charset="-120"/>
              </a:rPr>
              <a:t>▲1.3</a:t>
            </a:r>
            <a:endParaRPr lang="en-US" sz="850" dirty="0"/>
          </a:p>
        </p:txBody>
      </p:sp>
      <p:sp>
        <p:nvSpPr>
          <p:cNvPr id="146" name="Text 144"/>
          <p:cNvSpPr/>
          <p:nvPr/>
        </p:nvSpPr>
        <p:spPr>
          <a:xfrm>
            <a:off x="6263640" y="4791456"/>
            <a:ext cx="731520" cy="365760"/>
          </a:xfrm>
          <a:prstGeom prst="rect">
            <a:avLst/>
          </a:prstGeom>
          <a:noFill/>
          <a:ln/>
        </p:spPr>
        <p:txBody>
          <a:bodyPr wrap="square" lIns="0" tIns="0" rIns="0" bIns="0" rtlCol="0" anchor="ctr"/>
          <a:lstStyle/>
          <a:p>
            <a:pPr algn="ctr" indent="0" marL="0">
              <a:buNone/>
            </a:pPr>
            <a:r>
              <a:rPr lang="en-US" sz="850" dirty="0">
                <a:solidFill>
                  <a:srgbClr val="C0392B"/>
                </a:solidFill>
                <a:latin typeface="Arial" pitchFamily="34" charset="0"/>
                <a:ea typeface="Arial" pitchFamily="34" charset="-122"/>
                <a:cs typeface="Arial" pitchFamily="34" charset="-120"/>
              </a:rPr>
              <a:t>▲1.3</a:t>
            </a:r>
            <a:endParaRPr lang="en-US" sz="850" dirty="0"/>
          </a:p>
        </p:txBody>
      </p:sp>
      <p:sp>
        <p:nvSpPr>
          <p:cNvPr id="147" name="Text 145"/>
          <p:cNvSpPr/>
          <p:nvPr/>
        </p:nvSpPr>
        <p:spPr>
          <a:xfrm>
            <a:off x="6995160" y="4791456"/>
            <a:ext cx="731520" cy="365760"/>
          </a:xfrm>
          <a:prstGeom prst="rect">
            <a:avLst/>
          </a:prstGeom>
          <a:noFill/>
          <a:ln/>
        </p:spPr>
        <p:txBody>
          <a:bodyPr wrap="square" lIns="0" tIns="0" rIns="0" bIns="0" rtlCol="0" anchor="ctr"/>
          <a:lstStyle/>
          <a:p>
            <a:pPr algn="ctr" indent="0" marL="0">
              <a:buNone/>
            </a:pPr>
            <a:r>
              <a:rPr lang="en-US" sz="850" dirty="0">
                <a:solidFill>
                  <a:srgbClr val="C0392B"/>
                </a:solidFill>
                <a:latin typeface="Arial" pitchFamily="34" charset="0"/>
                <a:ea typeface="Arial" pitchFamily="34" charset="-122"/>
                <a:cs typeface="Arial" pitchFamily="34" charset="-120"/>
              </a:rPr>
              <a:t>▲1.3</a:t>
            </a:r>
            <a:endParaRPr lang="en-US" sz="850" dirty="0"/>
          </a:p>
        </p:txBody>
      </p:sp>
      <p:sp>
        <p:nvSpPr>
          <p:cNvPr id="148" name="Text 146"/>
          <p:cNvSpPr/>
          <p:nvPr/>
        </p:nvSpPr>
        <p:spPr>
          <a:xfrm>
            <a:off x="7726680" y="4791456"/>
            <a:ext cx="731520" cy="365760"/>
          </a:xfrm>
          <a:prstGeom prst="rect">
            <a:avLst/>
          </a:prstGeom>
          <a:noFill/>
          <a:ln/>
        </p:spPr>
        <p:txBody>
          <a:bodyPr wrap="square" lIns="0" tIns="0" rIns="0" bIns="0" rtlCol="0" anchor="ctr"/>
          <a:lstStyle/>
          <a:p>
            <a:pPr algn="ctr" indent="0" marL="0">
              <a:buNone/>
            </a:pPr>
            <a:r>
              <a:rPr lang="en-US" sz="850" dirty="0">
                <a:solidFill>
                  <a:srgbClr val="C0392B"/>
                </a:solidFill>
                <a:latin typeface="Arial" pitchFamily="34" charset="0"/>
                <a:ea typeface="Arial" pitchFamily="34" charset="-122"/>
                <a:cs typeface="Arial" pitchFamily="34" charset="-120"/>
              </a:rPr>
              <a:t>▲1.3</a:t>
            </a:r>
            <a:endParaRPr lang="en-US" sz="850" dirty="0"/>
          </a:p>
        </p:txBody>
      </p:sp>
      <p:sp>
        <p:nvSpPr>
          <p:cNvPr id="149" name="Text 147"/>
          <p:cNvSpPr/>
          <p:nvPr/>
        </p:nvSpPr>
        <p:spPr>
          <a:xfrm>
            <a:off x="8458200" y="4791456"/>
            <a:ext cx="731520" cy="365760"/>
          </a:xfrm>
          <a:prstGeom prst="rect">
            <a:avLst/>
          </a:prstGeom>
          <a:noFill/>
          <a:ln/>
        </p:spPr>
        <p:txBody>
          <a:bodyPr wrap="square" lIns="0" tIns="0" rIns="0" bIns="0" rtlCol="0" anchor="ctr"/>
          <a:lstStyle/>
          <a:p>
            <a:pPr algn="ctr" indent="0" marL="0">
              <a:buNone/>
            </a:pPr>
            <a:r>
              <a:rPr lang="en-US" sz="850" dirty="0">
                <a:solidFill>
                  <a:srgbClr val="C0392B"/>
                </a:solidFill>
                <a:latin typeface="Arial" pitchFamily="34" charset="0"/>
                <a:ea typeface="Arial" pitchFamily="34" charset="-122"/>
                <a:cs typeface="Arial" pitchFamily="34" charset="-120"/>
              </a:rPr>
              <a:t>▲1.3</a:t>
            </a:r>
            <a:endParaRPr lang="en-US" sz="850" dirty="0"/>
          </a:p>
        </p:txBody>
      </p:sp>
      <p:sp>
        <p:nvSpPr>
          <p:cNvPr id="150" name="Text 148"/>
          <p:cNvSpPr/>
          <p:nvPr/>
        </p:nvSpPr>
        <p:spPr>
          <a:xfrm>
            <a:off x="9189720" y="4791456"/>
            <a:ext cx="731520" cy="365760"/>
          </a:xfrm>
          <a:prstGeom prst="rect">
            <a:avLst/>
          </a:prstGeom>
          <a:noFill/>
          <a:ln/>
        </p:spPr>
        <p:txBody>
          <a:bodyPr wrap="square" lIns="0" tIns="0" rIns="0" bIns="0" rtlCol="0" anchor="ctr"/>
          <a:lstStyle/>
          <a:p>
            <a:pPr algn="ctr" indent="0" marL="0">
              <a:buNone/>
            </a:pPr>
            <a:r>
              <a:rPr lang="en-US" sz="850" dirty="0">
                <a:solidFill>
                  <a:srgbClr val="C0392B"/>
                </a:solidFill>
                <a:latin typeface="Arial" pitchFamily="34" charset="0"/>
                <a:ea typeface="Arial" pitchFamily="34" charset="-122"/>
                <a:cs typeface="Arial" pitchFamily="34" charset="-120"/>
              </a:rPr>
              <a:t>▲1.3</a:t>
            </a:r>
            <a:endParaRPr lang="en-US" sz="850" dirty="0"/>
          </a:p>
        </p:txBody>
      </p:sp>
      <p:sp>
        <p:nvSpPr>
          <p:cNvPr id="151" name="Text 149"/>
          <p:cNvSpPr/>
          <p:nvPr/>
        </p:nvSpPr>
        <p:spPr>
          <a:xfrm>
            <a:off x="9921240" y="4791456"/>
            <a:ext cx="731520" cy="365760"/>
          </a:xfrm>
          <a:prstGeom prst="rect">
            <a:avLst/>
          </a:prstGeom>
          <a:noFill/>
          <a:ln/>
        </p:spPr>
        <p:txBody>
          <a:bodyPr wrap="square" lIns="0" tIns="0" rIns="0" bIns="0" rtlCol="0" anchor="ctr"/>
          <a:lstStyle/>
          <a:p>
            <a:pPr algn="ctr" indent="0" marL="0">
              <a:buNone/>
            </a:pPr>
            <a:r>
              <a:rPr lang="en-US" sz="850" dirty="0">
                <a:solidFill>
                  <a:srgbClr val="C0392B"/>
                </a:solidFill>
                <a:latin typeface="Arial" pitchFamily="34" charset="0"/>
                <a:ea typeface="Arial" pitchFamily="34" charset="-122"/>
                <a:cs typeface="Arial" pitchFamily="34" charset="-120"/>
              </a:rPr>
              <a:t>▲1.3</a:t>
            </a:r>
            <a:endParaRPr lang="en-US" sz="850" dirty="0"/>
          </a:p>
        </p:txBody>
      </p:sp>
      <p:sp>
        <p:nvSpPr>
          <p:cNvPr id="152" name="Text 150"/>
          <p:cNvSpPr/>
          <p:nvPr/>
        </p:nvSpPr>
        <p:spPr>
          <a:xfrm>
            <a:off x="10652760" y="4791456"/>
            <a:ext cx="731520" cy="365760"/>
          </a:xfrm>
          <a:prstGeom prst="rect">
            <a:avLst/>
          </a:prstGeom>
          <a:noFill/>
          <a:ln/>
        </p:spPr>
        <p:txBody>
          <a:bodyPr wrap="square" lIns="0" tIns="0" rIns="0" bIns="0" rtlCol="0" anchor="ctr"/>
          <a:lstStyle/>
          <a:p>
            <a:pPr algn="ctr" indent="0" marL="0">
              <a:buNone/>
            </a:pPr>
            <a:r>
              <a:rPr lang="en-US" sz="850" dirty="0">
                <a:solidFill>
                  <a:srgbClr val="C0392B"/>
                </a:solidFill>
                <a:latin typeface="Arial" pitchFamily="34" charset="0"/>
                <a:ea typeface="Arial" pitchFamily="34" charset="-122"/>
                <a:cs typeface="Arial" pitchFamily="34" charset="-120"/>
              </a:rPr>
              <a:t>▲1.3</a:t>
            </a:r>
            <a:endParaRPr lang="en-US" sz="850" dirty="0"/>
          </a:p>
        </p:txBody>
      </p:sp>
      <p:sp>
        <p:nvSpPr>
          <p:cNvPr id="153" name="Text 151"/>
          <p:cNvSpPr/>
          <p:nvPr/>
        </p:nvSpPr>
        <p:spPr>
          <a:xfrm>
            <a:off x="11384280" y="4791456"/>
            <a:ext cx="868680" cy="365760"/>
          </a:xfrm>
          <a:prstGeom prst="rect">
            <a:avLst/>
          </a:prstGeom>
          <a:noFill/>
          <a:ln/>
        </p:spPr>
        <p:txBody>
          <a:bodyPr wrap="square" lIns="0" tIns="0" rIns="0" bIns="0" rtlCol="0" anchor="ctr"/>
          <a:lstStyle/>
          <a:p>
            <a:pPr algn="ctr" indent="0" marL="0">
              <a:buNone/>
            </a:pPr>
            <a:r>
              <a:rPr lang="en-US" sz="900" b="1" dirty="0">
                <a:solidFill>
                  <a:srgbClr val="C0392B"/>
                </a:solidFill>
                <a:latin typeface="Arial" pitchFamily="34" charset="0"/>
                <a:ea typeface="Arial" pitchFamily="34" charset="-122"/>
                <a:cs typeface="Arial" pitchFamily="34" charset="-120"/>
              </a:rPr>
              <a:t>▲15.0</a:t>
            </a:r>
            <a:endParaRPr lang="en-US" sz="900" dirty="0"/>
          </a:p>
        </p:txBody>
      </p:sp>
      <p:sp>
        <p:nvSpPr>
          <p:cNvPr id="154" name="Shape 152"/>
          <p:cNvSpPr/>
          <p:nvPr/>
        </p:nvSpPr>
        <p:spPr>
          <a:xfrm>
            <a:off x="594360" y="5157216"/>
            <a:ext cx="11658600" cy="365760"/>
          </a:xfrm>
          <a:prstGeom prst="rect">
            <a:avLst/>
          </a:prstGeom>
          <a:solidFill>
            <a:srgbClr val="ECE2D0"/>
          </a:solidFill>
          <a:ln w="6350">
            <a:solidFill>
              <a:srgbClr val="DED5CE"/>
            </a:solidFill>
            <a:prstDash val="solid"/>
          </a:ln>
        </p:spPr>
      </p:sp>
      <p:sp>
        <p:nvSpPr>
          <p:cNvPr id="155" name="Text 153"/>
          <p:cNvSpPr/>
          <p:nvPr/>
        </p:nvSpPr>
        <p:spPr>
          <a:xfrm>
            <a:off x="704088" y="5157216"/>
            <a:ext cx="2011680" cy="365760"/>
          </a:xfrm>
          <a:prstGeom prst="rect">
            <a:avLst/>
          </a:prstGeom>
          <a:noFill/>
          <a:ln/>
        </p:spPr>
        <p:txBody>
          <a:bodyPr wrap="square" lIns="0" tIns="0" rIns="0" bIns="0" rtlCol="0" anchor="ctr"/>
          <a:lstStyle/>
          <a:p>
            <a:pPr indent="0" marL="0">
              <a:buNone/>
            </a:pPr>
            <a:r>
              <a:rPr lang="en-US" sz="900" b="1" dirty="0">
                <a:solidFill>
                  <a:srgbClr val="2B2B2B"/>
                </a:solidFill>
                <a:latin typeface="Arial" pitchFamily="34" charset="0"/>
                <a:ea typeface="Arial" pitchFamily="34" charset="-122"/>
                <a:cs typeface="Arial" pitchFamily="34" charset="-120"/>
              </a:rPr>
              <a:t>経常利益</a:t>
            </a:r>
            <a:endParaRPr lang="en-US" sz="900" dirty="0"/>
          </a:p>
        </p:txBody>
      </p:sp>
      <p:sp>
        <p:nvSpPr>
          <p:cNvPr id="156" name="Text 154"/>
          <p:cNvSpPr/>
          <p:nvPr/>
        </p:nvSpPr>
        <p:spPr>
          <a:xfrm>
            <a:off x="2606040" y="515721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8.1</a:t>
            </a:r>
            <a:endParaRPr lang="en-US" sz="850" dirty="0"/>
          </a:p>
        </p:txBody>
      </p:sp>
      <p:sp>
        <p:nvSpPr>
          <p:cNvPr id="157" name="Text 155"/>
          <p:cNvSpPr/>
          <p:nvPr/>
        </p:nvSpPr>
        <p:spPr>
          <a:xfrm>
            <a:off x="3337560" y="515721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8.1</a:t>
            </a:r>
            <a:endParaRPr lang="en-US" sz="850" dirty="0"/>
          </a:p>
        </p:txBody>
      </p:sp>
      <p:sp>
        <p:nvSpPr>
          <p:cNvPr id="158" name="Text 156"/>
          <p:cNvSpPr/>
          <p:nvPr/>
        </p:nvSpPr>
        <p:spPr>
          <a:xfrm>
            <a:off x="4069080" y="515721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8.1</a:t>
            </a:r>
            <a:endParaRPr lang="en-US" sz="850" dirty="0"/>
          </a:p>
        </p:txBody>
      </p:sp>
      <p:sp>
        <p:nvSpPr>
          <p:cNvPr id="159" name="Text 157"/>
          <p:cNvSpPr/>
          <p:nvPr/>
        </p:nvSpPr>
        <p:spPr>
          <a:xfrm>
            <a:off x="4800600" y="515721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8.1</a:t>
            </a:r>
            <a:endParaRPr lang="en-US" sz="850" dirty="0"/>
          </a:p>
        </p:txBody>
      </p:sp>
      <p:sp>
        <p:nvSpPr>
          <p:cNvPr id="160" name="Text 158"/>
          <p:cNvSpPr/>
          <p:nvPr/>
        </p:nvSpPr>
        <p:spPr>
          <a:xfrm>
            <a:off x="5532120" y="515721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8.1</a:t>
            </a:r>
            <a:endParaRPr lang="en-US" sz="850" dirty="0"/>
          </a:p>
        </p:txBody>
      </p:sp>
      <p:sp>
        <p:nvSpPr>
          <p:cNvPr id="161" name="Text 159"/>
          <p:cNvSpPr/>
          <p:nvPr/>
        </p:nvSpPr>
        <p:spPr>
          <a:xfrm>
            <a:off x="6263640" y="515721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38.1</a:t>
            </a:r>
            <a:endParaRPr lang="en-US" sz="850" dirty="0"/>
          </a:p>
        </p:txBody>
      </p:sp>
      <p:sp>
        <p:nvSpPr>
          <p:cNvPr id="162" name="Text 160"/>
          <p:cNvSpPr/>
          <p:nvPr/>
        </p:nvSpPr>
        <p:spPr>
          <a:xfrm>
            <a:off x="6995160" y="515721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8.1</a:t>
            </a:r>
            <a:endParaRPr lang="en-US" sz="850" dirty="0"/>
          </a:p>
        </p:txBody>
      </p:sp>
      <p:sp>
        <p:nvSpPr>
          <p:cNvPr id="163" name="Text 161"/>
          <p:cNvSpPr/>
          <p:nvPr/>
        </p:nvSpPr>
        <p:spPr>
          <a:xfrm>
            <a:off x="7726680" y="515721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8.1</a:t>
            </a:r>
            <a:endParaRPr lang="en-US" sz="850" dirty="0"/>
          </a:p>
        </p:txBody>
      </p:sp>
      <p:sp>
        <p:nvSpPr>
          <p:cNvPr id="164" name="Text 162"/>
          <p:cNvSpPr/>
          <p:nvPr/>
        </p:nvSpPr>
        <p:spPr>
          <a:xfrm>
            <a:off x="8458200" y="515721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8.1</a:t>
            </a:r>
            <a:endParaRPr lang="en-US" sz="850" dirty="0"/>
          </a:p>
        </p:txBody>
      </p:sp>
      <p:sp>
        <p:nvSpPr>
          <p:cNvPr id="165" name="Text 163"/>
          <p:cNvSpPr/>
          <p:nvPr/>
        </p:nvSpPr>
        <p:spPr>
          <a:xfrm>
            <a:off x="9189720" y="515721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8.1</a:t>
            </a:r>
            <a:endParaRPr lang="en-US" sz="850" dirty="0"/>
          </a:p>
        </p:txBody>
      </p:sp>
      <p:sp>
        <p:nvSpPr>
          <p:cNvPr id="166" name="Text 164"/>
          <p:cNvSpPr/>
          <p:nvPr/>
        </p:nvSpPr>
        <p:spPr>
          <a:xfrm>
            <a:off x="9921240" y="515721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8.1</a:t>
            </a:r>
            <a:endParaRPr lang="en-US" sz="850" dirty="0"/>
          </a:p>
        </p:txBody>
      </p:sp>
      <p:sp>
        <p:nvSpPr>
          <p:cNvPr id="167" name="Text 165"/>
          <p:cNvSpPr/>
          <p:nvPr/>
        </p:nvSpPr>
        <p:spPr>
          <a:xfrm>
            <a:off x="10652760" y="5157216"/>
            <a:ext cx="731520" cy="36576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18.1</a:t>
            </a:r>
            <a:endParaRPr lang="en-US" sz="850" dirty="0"/>
          </a:p>
        </p:txBody>
      </p:sp>
      <p:sp>
        <p:nvSpPr>
          <p:cNvPr id="168" name="Text 166"/>
          <p:cNvSpPr/>
          <p:nvPr/>
        </p:nvSpPr>
        <p:spPr>
          <a:xfrm>
            <a:off x="11384280" y="5157216"/>
            <a:ext cx="868680" cy="365760"/>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137.5</a:t>
            </a:r>
            <a:endParaRPr lang="en-US" sz="900" dirty="0"/>
          </a:p>
        </p:txBody>
      </p:sp>
      <p:sp>
        <p:nvSpPr>
          <p:cNvPr id="169" name="Shape 167"/>
          <p:cNvSpPr/>
          <p:nvPr/>
        </p:nvSpPr>
        <p:spPr>
          <a:xfrm>
            <a:off x="594360" y="5742432"/>
            <a:ext cx="10963656" cy="841248"/>
          </a:xfrm>
          <a:prstGeom prst="roundRect">
            <a:avLst>
              <a:gd name="adj" fmla="val 6522"/>
            </a:avLst>
          </a:prstGeom>
          <a:solidFill>
            <a:srgbClr val="ECE2D0"/>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70" name="Text 168"/>
          <p:cNvSpPr/>
          <p:nvPr/>
        </p:nvSpPr>
        <p:spPr>
          <a:xfrm>
            <a:off x="914400" y="5815584"/>
            <a:ext cx="3291840" cy="237744"/>
          </a:xfrm>
          <a:prstGeom prst="rect">
            <a:avLst/>
          </a:prstGeom>
          <a:noFill/>
          <a:ln/>
        </p:spPr>
        <p:txBody>
          <a:bodyPr wrap="square" lIns="0" tIns="0" rIns="0" bIns="0" rtlCol="0" anchor="ctr"/>
          <a:lstStyle/>
          <a:p>
            <a:pPr indent="0" marL="0">
              <a:buNone/>
            </a:pPr>
            <a:r>
              <a:rPr lang="en-US" sz="950" dirty="0">
                <a:solidFill>
                  <a:srgbClr val="7A6A64"/>
                </a:solidFill>
                <a:latin typeface="Arial" pitchFamily="34" charset="0"/>
                <a:ea typeface="Arial" pitchFamily="34" charset="-122"/>
                <a:cs typeface="Arial" pitchFamily="34" charset="-120"/>
              </a:rPr>
              <a:t>通期 売上高</a:t>
            </a:r>
            <a:endParaRPr lang="en-US" sz="950" dirty="0"/>
          </a:p>
        </p:txBody>
      </p:sp>
      <p:sp>
        <p:nvSpPr>
          <p:cNvPr id="171" name="Text 169"/>
          <p:cNvSpPr/>
          <p:nvPr/>
        </p:nvSpPr>
        <p:spPr>
          <a:xfrm>
            <a:off x="914400" y="6016752"/>
            <a:ext cx="3291840" cy="310896"/>
          </a:xfrm>
          <a:prstGeom prst="rect">
            <a:avLst/>
          </a:prstGeom>
          <a:noFill/>
          <a:ln/>
        </p:spPr>
        <p:txBody>
          <a:bodyPr wrap="square" lIns="0" tIns="0" rIns="0" bIns="0" rtlCol="0" anchor="ctr"/>
          <a:lstStyle/>
          <a:p>
            <a:pPr indent="0" marL="0">
              <a:buNone/>
            </a:pPr>
            <a:r>
              <a:rPr lang="en-US" sz="1600" b="1" dirty="0">
                <a:solidFill>
                  <a:srgbClr val="6D2E46"/>
                </a:solidFill>
                <a:latin typeface="Cambria" pitchFamily="34" charset="0"/>
                <a:ea typeface="Cambria" pitchFamily="34" charset="-122"/>
                <a:cs typeface="Cambria" pitchFamily="34" charset="-120"/>
              </a:rPr>
              <a:t>621.1百万円</a:t>
            </a:r>
            <a:endParaRPr lang="en-US" sz="1600" dirty="0"/>
          </a:p>
        </p:txBody>
      </p:sp>
      <p:sp>
        <p:nvSpPr>
          <p:cNvPr id="172" name="Text 170"/>
          <p:cNvSpPr/>
          <p:nvPr/>
        </p:nvSpPr>
        <p:spPr>
          <a:xfrm>
            <a:off x="4526280" y="5815584"/>
            <a:ext cx="3291840" cy="237744"/>
          </a:xfrm>
          <a:prstGeom prst="rect">
            <a:avLst/>
          </a:prstGeom>
          <a:noFill/>
          <a:ln/>
        </p:spPr>
        <p:txBody>
          <a:bodyPr wrap="square" lIns="0" tIns="0" rIns="0" bIns="0" rtlCol="0" anchor="ctr"/>
          <a:lstStyle/>
          <a:p>
            <a:pPr indent="0" marL="0">
              <a:buNone/>
            </a:pPr>
            <a:r>
              <a:rPr lang="en-US" sz="950" dirty="0">
                <a:solidFill>
                  <a:srgbClr val="7A6A64"/>
                </a:solidFill>
                <a:latin typeface="Arial" pitchFamily="34" charset="0"/>
                <a:ea typeface="Arial" pitchFamily="34" charset="-122"/>
                <a:cs typeface="Arial" pitchFamily="34" charset="-120"/>
              </a:rPr>
              <a:t>通期 営業利益</a:t>
            </a:r>
            <a:endParaRPr lang="en-US" sz="950" dirty="0"/>
          </a:p>
        </p:txBody>
      </p:sp>
      <p:sp>
        <p:nvSpPr>
          <p:cNvPr id="173" name="Text 171"/>
          <p:cNvSpPr/>
          <p:nvPr/>
        </p:nvSpPr>
        <p:spPr>
          <a:xfrm>
            <a:off x="4526280" y="6016752"/>
            <a:ext cx="3291840" cy="310896"/>
          </a:xfrm>
          <a:prstGeom prst="rect">
            <a:avLst/>
          </a:prstGeom>
          <a:noFill/>
          <a:ln/>
        </p:spPr>
        <p:txBody>
          <a:bodyPr wrap="square" lIns="0" tIns="0" rIns="0" bIns="0" rtlCol="0" anchor="ctr"/>
          <a:lstStyle/>
          <a:p>
            <a:pPr indent="0" marL="0">
              <a:buNone/>
            </a:pPr>
            <a:r>
              <a:rPr lang="en-US" sz="1600" b="1" dirty="0">
                <a:solidFill>
                  <a:srgbClr val="6D2E46"/>
                </a:solidFill>
                <a:latin typeface="Cambria" pitchFamily="34" charset="0"/>
                <a:ea typeface="Cambria" pitchFamily="34" charset="-122"/>
                <a:cs typeface="Cambria" pitchFamily="34" charset="-120"/>
              </a:rPr>
              <a:t>＋152.5百万円</a:t>
            </a:r>
            <a:endParaRPr lang="en-US" sz="1600" dirty="0"/>
          </a:p>
        </p:txBody>
      </p:sp>
      <p:sp>
        <p:nvSpPr>
          <p:cNvPr id="174" name="Text 172"/>
          <p:cNvSpPr/>
          <p:nvPr/>
        </p:nvSpPr>
        <p:spPr>
          <a:xfrm>
            <a:off x="8138160" y="5815584"/>
            <a:ext cx="3291840" cy="237744"/>
          </a:xfrm>
          <a:prstGeom prst="rect">
            <a:avLst/>
          </a:prstGeom>
          <a:noFill/>
          <a:ln/>
        </p:spPr>
        <p:txBody>
          <a:bodyPr wrap="square" lIns="0" tIns="0" rIns="0" bIns="0" rtlCol="0" anchor="ctr"/>
          <a:lstStyle/>
          <a:p>
            <a:pPr indent="0" marL="0">
              <a:buNone/>
            </a:pPr>
            <a:r>
              <a:rPr lang="en-US" sz="950" dirty="0">
                <a:solidFill>
                  <a:srgbClr val="7A6A64"/>
                </a:solidFill>
                <a:latin typeface="Arial" pitchFamily="34" charset="0"/>
                <a:ea typeface="Arial" pitchFamily="34" charset="-122"/>
                <a:cs typeface="Arial" pitchFamily="34" charset="-120"/>
              </a:rPr>
              <a:t>通期 経常利益</a:t>
            </a:r>
            <a:endParaRPr lang="en-US" sz="950" dirty="0"/>
          </a:p>
        </p:txBody>
      </p:sp>
      <p:sp>
        <p:nvSpPr>
          <p:cNvPr id="175" name="Text 173"/>
          <p:cNvSpPr/>
          <p:nvPr/>
        </p:nvSpPr>
        <p:spPr>
          <a:xfrm>
            <a:off x="8138160" y="6016752"/>
            <a:ext cx="3291840" cy="310896"/>
          </a:xfrm>
          <a:prstGeom prst="rect">
            <a:avLst/>
          </a:prstGeom>
          <a:noFill/>
          <a:ln/>
        </p:spPr>
        <p:txBody>
          <a:bodyPr wrap="square" lIns="0" tIns="0" rIns="0" bIns="0" rtlCol="0" anchor="ctr"/>
          <a:lstStyle/>
          <a:p>
            <a:pPr indent="0" marL="0">
              <a:buNone/>
            </a:pPr>
            <a:r>
              <a:rPr lang="en-US" sz="1600" b="1" dirty="0">
                <a:solidFill>
                  <a:srgbClr val="6D2E46"/>
                </a:solidFill>
                <a:latin typeface="Cambria" pitchFamily="34" charset="0"/>
                <a:ea typeface="Cambria" pitchFamily="34" charset="-122"/>
                <a:cs typeface="Cambria" pitchFamily="34" charset="-120"/>
              </a:rPr>
              <a:t>＋137.5百万円</a:t>
            </a:r>
            <a:endParaRPr lang="en-US" sz="1600" dirty="0"/>
          </a:p>
        </p:txBody>
      </p:sp>
      <p:sp>
        <p:nvSpPr>
          <p:cNvPr id="176" name="Text 174"/>
          <p:cNvSpPr/>
          <p:nvPr/>
        </p:nvSpPr>
        <p:spPr>
          <a:xfrm>
            <a:off x="914400" y="6327648"/>
            <a:ext cx="10332720" cy="219456"/>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経営指導料は12か月按分。インセンティブは2027/03、クルーザー事業利益は2027/03と2027/09に各10百万円を計上。</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FY2027 月次資金繰り － プランD</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ワイン仕入419.1百万円を維持したまま、期中に一度も現預金がマイナスになりません。単位：百万円（税込）</a:t>
            </a:r>
            <a:endParaRPr lang="en-US" sz="1250" dirty="0"/>
          </a:p>
        </p:txBody>
      </p:sp>
      <p:sp>
        <p:nvSpPr>
          <p:cNvPr id="4" name="Shape 2"/>
          <p:cNvSpPr/>
          <p:nvPr/>
        </p:nvSpPr>
        <p:spPr>
          <a:xfrm>
            <a:off x="594360" y="1517904"/>
            <a:ext cx="11430000" cy="384048"/>
          </a:xfrm>
          <a:prstGeom prst="rect">
            <a:avLst/>
          </a:prstGeom>
          <a:solidFill>
            <a:srgbClr val="6D2E46"/>
          </a:solidFill>
          <a:ln/>
        </p:spPr>
      </p:sp>
      <p:sp>
        <p:nvSpPr>
          <p:cNvPr id="5" name="Text 3"/>
          <p:cNvSpPr/>
          <p:nvPr/>
        </p:nvSpPr>
        <p:spPr>
          <a:xfrm>
            <a:off x="704088" y="1517904"/>
            <a:ext cx="2103120" cy="384048"/>
          </a:xfrm>
          <a:prstGeom prst="rect">
            <a:avLst/>
          </a:prstGeom>
          <a:noFill/>
          <a:ln/>
        </p:spPr>
        <p:txBody>
          <a:bodyPr wrap="square" lIns="0" tIns="0" rIns="0" bIns="0" rtlCol="0" anchor="ctr"/>
          <a:lstStyle/>
          <a:p>
            <a:pPr indent="0" marL="0">
              <a:buNone/>
            </a:pPr>
            <a:r>
              <a:rPr lang="en-US" sz="950" b="1" dirty="0">
                <a:solidFill>
                  <a:srgbClr val="FFFFFF"/>
                </a:solidFill>
                <a:latin typeface="Arial" pitchFamily="34" charset="0"/>
                <a:ea typeface="Arial" pitchFamily="34" charset="-122"/>
                <a:cs typeface="Arial" pitchFamily="34" charset="-120"/>
              </a:rPr>
              <a:t>科目</a:t>
            </a:r>
            <a:endParaRPr lang="en-US" sz="950" dirty="0"/>
          </a:p>
        </p:txBody>
      </p:sp>
      <p:sp>
        <p:nvSpPr>
          <p:cNvPr id="6" name="Text 4"/>
          <p:cNvSpPr/>
          <p:nvPr/>
        </p:nvSpPr>
        <p:spPr>
          <a:xfrm>
            <a:off x="269748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26/10</a:t>
            </a:r>
            <a:endParaRPr lang="en-US" sz="850" dirty="0"/>
          </a:p>
        </p:txBody>
      </p:sp>
      <p:sp>
        <p:nvSpPr>
          <p:cNvPr id="7" name="Text 5"/>
          <p:cNvSpPr/>
          <p:nvPr/>
        </p:nvSpPr>
        <p:spPr>
          <a:xfrm>
            <a:off x="347472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26/11</a:t>
            </a:r>
            <a:endParaRPr lang="en-US" sz="850" dirty="0"/>
          </a:p>
        </p:txBody>
      </p:sp>
      <p:sp>
        <p:nvSpPr>
          <p:cNvPr id="8" name="Text 6"/>
          <p:cNvSpPr/>
          <p:nvPr/>
        </p:nvSpPr>
        <p:spPr>
          <a:xfrm>
            <a:off x="425196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26/12</a:t>
            </a:r>
            <a:endParaRPr lang="en-US" sz="850" dirty="0"/>
          </a:p>
        </p:txBody>
      </p:sp>
      <p:sp>
        <p:nvSpPr>
          <p:cNvPr id="9" name="Text 7"/>
          <p:cNvSpPr/>
          <p:nvPr/>
        </p:nvSpPr>
        <p:spPr>
          <a:xfrm>
            <a:off x="502920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27/01</a:t>
            </a:r>
            <a:endParaRPr lang="en-US" sz="850" dirty="0"/>
          </a:p>
        </p:txBody>
      </p:sp>
      <p:sp>
        <p:nvSpPr>
          <p:cNvPr id="10" name="Text 8"/>
          <p:cNvSpPr/>
          <p:nvPr/>
        </p:nvSpPr>
        <p:spPr>
          <a:xfrm>
            <a:off x="580644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27/02</a:t>
            </a:r>
            <a:endParaRPr lang="en-US" sz="850" dirty="0"/>
          </a:p>
        </p:txBody>
      </p:sp>
      <p:sp>
        <p:nvSpPr>
          <p:cNvPr id="11" name="Text 9"/>
          <p:cNvSpPr/>
          <p:nvPr/>
        </p:nvSpPr>
        <p:spPr>
          <a:xfrm>
            <a:off x="658368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27/03</a:t>
            </a:r>
            <a:endParaRPr lang="en-US" sz="850" dirty="0"/>
          </a:p>
        </p:txBody>
      </p:sp>
      <p:sp>
        <p:nvSpPr>
          <p:cNvPr id="12" name="Text 10"/>
          <p:cNvSpPr/>
          <p:nvPr/>
        </p:nvSpPr>
        <p:spPr>
          <a:xfrm>
            <a:off x="736092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27/04</a:t>
            </a:r>
            <a:endParaRPr lang="en-US" sz="850" dirty="0"/>
          </a:p>
        </p:txBody>
      </p:sp>
      <p:sp>
        <p:nvSpPr>
          <p:cNvPr id="13" name="Text 11"/>
          <p:cNvSpPr/>
          <p:nvPr/>
        </p:nvSpPr>
        <p:spPr>
          <a:xfrm>
            <a:off x="813816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27/05</a:t>
            </a:r>
            <a:endParaRPr lang="en-US" sz="850" dirty="0"/>
          </a:p>
        </p:txBody>
      </p:sp>
      <p:sp>
        <p:nvSpPr>
          <p:cNvPr id="14" name="Text 12"/>
          <p:cNvSpPr/>
          <p:nvPr/>
        </p:nvSpPr>
        <p:spPr>
          <a:xfrm>
            <a:off x="891540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27/06</a:t>
            </a:r>
            <a:endParaRPr lang="en-US" sz="850" dirty="0"/>
          </a:p>
        </p:txBody>
      </p:sp>
      <p:sp>
        <p:nvSpPr>
          <p:cNvPr id="15" name="Text 13"/>
          <p:cNvSpPr/>
          <p:nvPr/>
        </p:nvSpPr>
        <p:spPr>
          <a:xfrm>
            <a:off x="969264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27/07</a:t>
            </a:r>
            <a:endParaRPr lang="en-US" sz="850" dirty="0"/>
          </a:p>
        </p:txBody>
      </p:sp>
      <p:sp>
        <p:nvSpPr>
          <p:cNvPr id="16" name="Text 14"/>
          <p:cNvSpPr/>
          <p:nvPr/>
        </p:nvSpPr>
        <p:spPr>
          <a:xfrm>
            <a:off x="1046988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27/08</a:t>
            </a:r>
            <a:endParaRPr lang="en-US" sz="850" dirty="0"/>
          </a:p>
        </p:txBody>
      </p:sp>
      <p:sp>
        <p:nvSpPr>
          <p:cNvPr id="17" name="Text 15"/>
          <p:cNvSpPr/>
          <p:nvPr/>
        </p:nvSpPr>
        <p:spPr>
          <a:xfrm>
            <a:off x="1124712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27/09</a:t>
            </a:r>
            <a:endParaRPr lang="en-US" sz="850" dirty="0"/>
          </a:p>
        </p:txBody>
      </p:sp>
      <p:sp>
        <p:nvSpPr>
          <p:cNvPr id="18" name="Shape 16"/>
          <p:cNvSpPr/>
          <p:nvPr/>
        </p:nvSpPr>
        <p:spPr>
          <a:xfrm>
            <a:off x="594360" y="1901952"/>
            <a:ext cx="11430000" cy="438912"/>
          </a:xfrm>
          <a:prstGeom prst="rect">
            <a:avLst/>
          </a:prstGeom>
          <a:solidFill>
            <a:srgbClr val="FFFFFF"/>
          </a:solidFill>
          <a:ln w="6350">
            <a:solidFill>
              <a:srgbClr val="DED5CE"/>
            </a:solidFill>
            <a:prstDash val="solid"/>
          </a:ln>
        </p:spPr>
      </p:sp>
      <p:sp>
        <p:nvSpPr>
          <p:cNvPr id="19" name="Text 17"/>
          <p:cNvSpPr/>
          <p:nvPr/>
        </p:nvSpPr>
        <p:spPr>
          <a:xfrm>
            <a:off x="704088" y="1901952"/>
            <a:ext cx="2103120" cy="438912"/>
          </a:xfrm>
          <a:prstGeom prst="rect">
            <a:avLst/>
          </a:prstGeom>
          <a:noFill/>
          <a:ln/>
        </p:spPr>
        <p:txBody>
          <a:bodyPr wrap="square" lIns="0" tIns="0" rIns="0" bIns="0" rtlCol="0" anchor="ctr"/>
          <a:lstStyle/>
          <a:p>
            <a:pPr indent="0" marL="0">
              <a:buNone/>
            </a:pPr>
            <a:r>
              <a:rPr lang="en-US" sz="950" dirty="0">
                <a:solidFill>
                  <a:srgbClr val="2B2B2B"/>
                </a:solidFill>
                <a:latin typeface="Arial" pitchFamily="34" charset="0"/>
                <a:ea typeface="Arial" pitchFamily="34" charset="-122"/>
                <a:cs typeface="Arial" pitchFamily="34" charset="-120"/>
              </a:rPr>
              <a:t>営業収入 計</a:t>
            </a:r>
            <a:endParaRPr lang="en-US" sz="950" dirty="0"/>
          </a:p>
        </p:txBody>
      </p:sp>
      <p:sp>
        <p:nvSpPr>
          <p:cNvPr id="20" name="Text 18"/>
          <p:cNvSpPr/>
          <p:nvPr/>
        </p:nvSpPr>
        <p:spPr>
          <a:xfrm>
            <a:off x="2697480" y="1901952"/>
            <a:ext cx="777240"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65.4</a:t>
            </a:r>
            <a:endParaRPr lang="en-US" sz="900" dirty="0"/>
          </a:p>
        </p:txBody>
      </p:sp>
      <p:sp>
        <p:nvSpPr>
          <p:cNvPr id="21" name="Text 19"/>
          <p:cNvSpPr/>
          <p:nvPr/>
        </p:nvSpPr>
        <p:spPr>
          <a:xfrm>
            <a:off x="3474720" y="1901952"/>
            <a:ext cx="777240"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65.4</a:t>
            </a:r>
            <a:endParaRPr lang="en-US" sz="900" dirty="0"/>
          </a:p>
        </p:txBody>
      </p:sp>
      <p:sp>
        <p:nvSpPr>
          <p:cNvPr id="22" name="Text 20"/>
          <p:cNvSpPr/>
          <p:nvPr/>
        </p:nvSpPr>
        <p:spPr>
          <a:xfrm>
            <a:off x="4251960" y="1901952"/>
            <a:ext cx="777240"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65.4</a:t>
            </a:r>
            <a:endParaRPr lang="en-US" sz="900" dirty="0"/>
          </a:p>
        </p:txBody>
      </p:sp>
      <p:sp>
        <p:nvSpPr>
          <p:cNvPr id="23" name="Text 21"/>
          <p:cNvSpPr/>
          <p:nvPr/>
        </p:nvSpPr>
        <p:spPr>
          <a:xfrm>
            <a:off x="5029200" y="1901952"/>
            <a:ext cx="777240"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65.4</a:t>
            </a:r>
            <a:endParaRPr lang="en-US" sz="900" dirty="0"/>
          </a:p>
        </p:txBody>
      </p:sp>
      <p:sp>
        <p:nvSpPr>
          <p:cNvPr id="24" name="Text 22"/>
          <p:cNvSpPr/>
          <p:nvPr/>
        </p:nvSpPr>
        <p:spPr>
          <a:xfrm>
            <a:off x="5806440" y="1901952"/>
            <a:ext cx="777240"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65.4</a:t>
            </a:r>
            <a:endParaRPr lang="en-US" sz="900" dirty="0"/>
          </a:p>
        </p:txBody>
      </p:sp>
      <p:sp>
        <p:nvSpPr>
          <p:cNvPr id="25" name="Text 23"/>
          <p:cNvSpPr/>
          <p:nvPr/>
        </p:nvSpPr>
        <p:spPr>
          <a:xfrm>
            <a:off x="6583680" y="1901952"/>
            <a:ext cx="777240"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98.4</a:t>
            </a:r>
            <a:endParaRPr lang="en-US" sz="900" dirty="0"/>
          </a:p>
        </p:txBody>
      </p:sp>
      <p:sp>
        <p:nvSpPr>
          <p:cNvPr id="26" name="Text 24"/>
          <p:cNvSpPr/>
          <p:nvPr/>
        </p:nvSpPr>
        <p:spPr>
          <a:xfrm>
            <a:off x="7360920" y="1901952"/>
            <a:ext cx="777240"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65.4</a:t>
            </a:r>
            <a:endParaRPr lang="en-US" sz="900" dirty="0"/>
          </a:p>
        </p:txBody>
      </p:sp>
      <p:sp>
        <p:nvSpPr>
          <p:cNvPr id="27" name="Text 25"/>
          <p:cNvSpPr/>
          <p:nvPr/>
        </p:nvSpPr>
        <p:spPr>
          <a:xfrm>
            <a:off x="8138160" y="1901952"/>
            <a:ext cx="777240"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65.4</a:t>
            </a:r>
            <a:endParaRPr lang="en-US" sz="900" dirty="0"/>
          </a:p>
        </p:txBody>
      </p:sp>
      <p:sp>
        <p:nvSpPr>
          <p:cNvPr id="28" name="Text 26"/>
          <p:cNvSpPr/>
          <p:nvPr/>
        </p:nvSpPr>
        <p:spPr>
          <a:xfrm>
            <a:off x="8915400" y="1901952"/>
            <a:ext cx="777240"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65.4</a:t>
            </a:r>
            <a:endParaRPr lang="en-US" sz="900" dirty="0"/>
          </a:p>
        </p:txBody>
      </p:sp>
      <p:sp>
        <p:nvSpPr>
          <p:cNvPr id="29" name="Text 27"/>
          <p:cNvSpPr/>
          <p:nvPr/>
        </p:nvSpPr>
        <p:spPr>
          <a:xfrm>
            <a:off x="9692640" y="1901952"/>
            <a:ext cx="777240"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65.4</a:t>
            </a:r>
            <a:endParaRPr lang="en-US" sz="900" dirty="0"/>
          </a:p>
        </p:txBody>
      </p:sp>
      <p:sp>
        <p:nvSpPr>
          <p:cNvPr id="30" name="Text 28"/>
          <p:cNvSpPr/>
          <p:nvPr/>
        </p:nvSpPr>
        <p:spPr>
          <a:xfrm>
            <a:off x="10469880" y="1901952"/>
            <a:ext cx="777240"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65.4</a:t>
            </a:r>
            <a:endParaRPr lang="en-US" sz="900" dirty="0"/>
          </a:p>
        </p:txBody>
      </p:sp>
      <p:sp>
        <p:nvSpPr>
          <p:cNvPr id="31" name="Text 29"/>
          <p:cNvSpPr/>
          <p:nvPr/>
        </p:nvSpPr>
        <p:spPr>
          <a:xfrm>
            <a:off x="11247120" y="1901952"/>
            <a:ext cx="777240"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76.4</a:t>
            </a:r>
            <a:endParaRPr lang="en-US" sz="900" dirty="0"/>
          </a:p>
        </p:txBody>
      </p:sp>
      <p:sp>
        <p:nvSpPr>
          <p:cNvPr id="32" name="Shape 30"/>
          <p:cNvSpPr/>
          <p:nvPr/>
        </p:nvSpPr>
        <p:spPr>
          <a:xfrm>
            <a:off x="594360" y="2340864"/>
            <a:ext cx="11430000" cy="438912"/>
          </a:xfrm>
          <a:prstGeom prst="rect">
            <a:avLst/>
          </a:prstGeom>
          <a:solidFill>
            <a:srgbClr val="FBF9F7"/>
          </a:solidFill>
          <a:ln w="6350">
            <a:solidFill>
              <a:srgbClr val="DED5CE"/>
            </a:solidFill>
            <a:prstDash val="solid"/>
          </a:ln>
        </p:spPr>
      </p:sp>
      <p:sp>
        <p:nvSpPr>
          <p:cNvPr id="33" name="Text 31"/>
          <p:cNvSpPr/>
          <p:nvPr/>
        </p:nvSpPr>
        <p:spPr>
          <a:xfrm>
            <a:off x="704088" y="2340864"/>
            <a:ext cx="2103120" cy="438912"/>
          </a:xfrm>
          <a:prstGeom prst="rect">
            <a:avLst/>
          </a:prstGeom>
          <a:noFill/>
          <a:ln/>
        </p:spPr>
        <p:txBody>
          <a:bodyPr wrap="square" lIns="0" tIns="0" rIns="0" bIns="0" rtlCol="0" anchor="ctr"/>
          <a:lstStyle/>
          <a:p>
            <a:pPr indent="0" marL="0">
              <a:buNone/>
            </a:pPr>
            <a:r>
              <a:rPr lang="en-US" sz="950" dirty="0">
                <a:solidFill>
                  <a:srgbClr val="2B2B2B"/>
                </a:solidFill>
                <a:latin typeface="Arial" pitchFamily="34" charset="0"/>
                <a:ea typeface="Arial" pitchFamily="34" charset="-122"/>
                <a:cs typeface="Arial" pitchFamily="34" charset="-120"/>
              </a:rPr>
              <a:t>営業支出 計</a:t>
            </a:r>
            <a:endParaRPr lang="en-US" sz="950" dirty="0"/>
          </a:p>
        </p:txBody>
      </p:sp>
      <p:sp>
        <p:nvSpPr>
          <p:cNvPr id="34" name="Text 32"/>
          <p:cNvSpPr/>
          <p:nvPr/>
        </p:nvSpPr>
        <p:spPr>
          <a:xfrm>
            <a:off x="2697480" y="2340864"/>
            <a:ext cx="777240"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62.5</a:t>
            </a:r>
            <a:endParaRPr lang="en-US" sz="900" dirty="0"/>
          </a:p>
        </p:txBody>
      </p:sp>
      <p:sp>
        <p:nvSpPr>
          <p:cNvPr id="35" name="Text 33"/>
          <p:cNvSpPr/>
          <p:nvPr/>
        </p:nvSpPr>
        <p:spPr>
          <a:xfrm>
            <a:off x="3474720" y="2340864"/>
            <a:ext cx="777240"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93.0</a:t>
            </a:r>
            <a:endParaRPr lang="en-US" sz="900" dirty="0"/>
          </a:p>
        </p:txBody>
      </p:sp>
      <p:sp>
        <p:nvSpPr>
          <p:cNvPr id="36" name="Text 34"/>
          <p:cNvSpPr/>
          <p:nvPr/>
        </p:nvSpPr>
        <p:spPr>
          <a:xfrm>
            <a:off x="4251960" y="2340864"/>
            <a:ext cx="777240"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62.5</a:t>
            </a:r>
            <a:endParaRPr lang="en-US" sz="900" dirty="0"/>
          </a:p>
        </p:txBody>
      </p:sp>
      <p:sp>
        <p:nvSpPr>
          <p:cNvPr id="37" name="Text 35"/>
          <p:cNvSpPr/>
          <p:nvPr/>
        </p:nvSpPr>
        <p:spPr>
          <a:xfrm>
            <a:off x="5029200" y="2340864"/>
            <a:ext cx="777240"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62.5</a:t>
            </a:r>
            <a:endParaRPr lang="en-US" sz="900" dirty="0"/>
          </a:p>
        </p:txBody>
      </p:sp>
      <p:sp>
        <p:nvSpPr>
          <p:cNvPr id="38" name="Text 36"/>
          <p:cNvSpPr/>
          <p:nvPr/>
        </p:nvSpPr>
        <p:spPr>
          <a:xfrm>
            <a:off x="5806440" y="2340864"/>
            <a:ext cx="777240"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62.5</a:t>
            </a:r>
            <a:endParaRPr lang="en-US" sz="900" dirty="0"/>
          </a:p>
        </p:txBody>
      </p:sp>
      <p:sp>
        <p:nvSpPr>
          <p:cNvPr id="39" name="Text 37"/>
          <p:cNvSpPr/>
          <p:nvPr/>
        </p:nvSpPr>
        <p:spPr>
          <a:xfrm>
            <a:off x="6583680" y="2340864"/>
            <a:ext cx="777240"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62.5</a:t>
            </a:r>
            <a:endParaRPr lang="en-US" sz="900" dirty="0"/>
          </a:p>
        </p:txBody>
      </p:sp>
      <p:sp>
        <p:nvSpPr>
          <p:cNvPr id="40" name="Text 38"/>
          <p:cNvSpPr/>
          <p:nvPr/>
        </p:nvSpPr>
        <p:spPr>
          <a:xfrm>
            <a:off x="7360920" y="2340864"/>
            <a:ext cx="777240"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62.5</a:t>
            </a:r>
            <a:endParaRPr lang="en-US" sz="900" dirty="0"/>
          </a:p>
        </p:txBody>
      </p:sp>
      <p:sp>
        <p:nvSpPr>
          <p:cNvPr id="41" name="Text 39"/>
          <p:cNvSpPr/>
          <p:nvPr/>
        </p:nvSpPr>
        <p:spPr>
          <a:xfrm>
            <a:off x="8138160" y="2340864"/>
            <a:ext cx="777240"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67.5</a:t>
            </a:r>
            <a:endParaRPr lang="en-US" sz="900" dirty="0"/>
          </a:p>
        </p:txBody>
      </p:sp>
      <p:sp>
        <p:nvSpPr>
          <p:cNvPr id="42" name="Text 40"/>
          <p:cNvSpPr/>
          <p:nvPr/>
        </p:nvSpPr>
        <p:spPr>
          <a:xfrm>
            <a:off x="8915400" y="2340864"/>
            <a:ext cx="777240"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62.5</a:t>
            </a:r>
            <a:endParaRPr lang="en-US" sz="900" dirty="0"/>
          </a:p>
        </p:txBody>
      </p:sp>
      <p:sp>
        <p:nvSpPr>
          <p:cNvPr id="43" name="Text 41"/>
          <p:cNvSpPr/>
          <p:nvPr/>
        </p:nvSpPr>
        <p:spPr>
          <a:xfrm>
            <a:off x="9692640" y="2340864"/>
            <a:ext cx="777240"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62.5</a:t>
            </a:r>
            <a:endParaRPr lang="en-US" sz="900" dirty="0"/>
          </a:p>
        </p:txBody>
      </p:sp>
      <p:sp>
        <p:nvSpPr>
          <p:cNvPr id="44" name="Text 42"/>
          <p:cNvSpPr/>
          <p:nvPr/>
        </p:nvSpPr>
        <p:spPr>
          <a:xfrm>
            <a:off x="10469880" y="2340864"/>
            <a:ext cx="777240"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62.5</a:t>
            </a:r>
            <a:endParaRPr lang="en-US" sz="900" dirty="0"/>
          </a:p>
        </p:txBody>
      </p:sp>
      <p:sp>
        <p:nvSpPr>
          <p:cNvPr id="45" name="Text 43"/>
          <p:cNvSpPr/>
          <p:nvPr/>
        </p:nvSpPr>
        <p:spPr>
          <a:xfrm>
            <a:off x="11247120" y="2340864"/>
            <a:ext cx="777240" cy="438912"/>
          </a:xfrm>
          <a:prstGeom prst="rect">
            <a:avLst/>
          </a:prstGeom>
          <a:noFill/>
          <a:ln/>
        </p:spPr>
        <p:txBody>
          <a:bodyPr wrap="square" lIns="0" tIns="0" rIns="0" bIns="0" rtlCol="0" anchor="ctr"/>
          <a:lstStyle/>
          <a:p>
            <a:pPr algn="ctr" indent="0" marL="0">
              <a:buNone/>
            </a:pPr>
            <a:r>
              <a:rPr lang="en-US" sz="900" dirty="0">
                <a:solidFill>
                  <a:srgbClr val="2B2B2B"/>
                </a:solidFill>
                <a:latin typeface="Arial" pitchFamily="34" charset="0"/>
                <a:ea typeface="Arial" pitchFamily="34" charset="-122"/>
                <a:cs typeface="Arial" pitchFamily="34" charset="-120"/>
              </a:rPr>
              <a:t>62.5</a:t>
            </a:r>
            <a:endParaRPr lang="en-US" sz="900" dirty="0"/>
          </a:p>
        </p:txBody>
      </p:sp>
      <p:sp>
        <p:nvSpPr>
          <p:cNvPr id="46" name="Shape 44"/>
          <p:cNvSpPr/>
          <p:nvPr/>
        </p:nvSpPr>
        <p:spPr>
          <a:xfrm>
            <a:off x="594360" y="2779776"/>
            <a:ext cx="11430000" cy="438912"/>
          </a:xfrm>
          <a:prstGeom prst="rect">
            <a:avLst/>
          </a:prstGeom>
          <a:solidFill>
            <a:srgbClr val="F3EDE9"/>
          </a:solidFill>
          <a:ln w="6350">
            <a:solidFill>
              <a:srgbClr val="DED5CE"/>
            </a:solidFill>
            <a:prstDash val="solid"/>
          </a:ln>
        </p:spPr>
      </p:sp>
      <p:sp>
        <p:nvSpPr>
          <p:cNvPr id="47" name="Text 45"/>
          <p:cNvSpPr/>
          <p:nvPr/>
        </p:nvSpPr>
        <p:spPr>
          <a:xfrm>
            <a:off x="704088" y="2779776"/>
            <a:ext cx="2103120" cy="438912"/>
          </a:xfrm>
          <a:prstGeom prst="rect">
            <a:avLst/>
          </a:prstGeom>
          <a:noFill/>
          <a:ln/>
        </p:spPr>
        <p:txBody>
          <a:bodyPr wrap="square" lIns="0" tIns="0" rIns="0" bIns="0" rtlCol="0" anchor="ctr"/>
          <a:lstStyle/>
          <a:p>
            <a:pPr indent="0" marL="0">
              <a:buNone/>
            </a:pPr>
            <a:r>
              <a:rPr lang="en-US" sz="950" b="1" dirty="0">
                <a:solidFill>
                  <a:srgbClr val="2B2B2B"/>
                </a:solidFill>
                <a:latin typeface="Arial" pitchFamily="34" charset="0"/>
                <a:ea typeface="Arial" pitchFamily="34" charset="-122"/>
                <a:cs typeface="Arial" pitchFamily="34" charset="-120"/>
              </a:rPr>
              <a:t>経常収支</a:t>
            </a:r>
            <a:endParaRPr lang="en-US" sz="950" dirty="0"/>
          </a:p>
        </p:txBody>
      </p:sp>
      <p:sp>
        <p:nvSpPr>
          <p:cNvPr id="48" name="Text 46"/>
          <p:cNvSpPr/>
          <p:nvPr/>
        </p:nvSpPr>
        <p:spPr>
          <a:xfrm>
            <a:off x="2697480" y="2779776"/>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2.9</a:t>
            </a:r>
            <a:endParaRPr lang="en-US" sz="900" dirty="0"/>
          </a:p>
        </p:txBody>
      </p:sp>
      <p:sp>
        <p:nvSpPr>
          <p:cNvPr id="49" name="Text 47"/>
          <p:cNvSpPr/>
          <p:nvPr/>
        </p:nvSpPr>
        <p:spPr>
          <a:xfrm>
            <a:off x="3474720" y="2779776"/>
            <a:ext cx="777240" cy="438912"/>
          </a:xfrm>
          <a:prstGeom prst="rect">
            <a:avLst/>
          </a:prstGeom>
          <a:noFill/>
          <a:ln/>
        </p:spPr>
        <p:txBody>
          <a:bodyPr wrap="square" lIns="0" tIns="0" rIns="0" bIns="0" rtlCol="0" anchor="ctr"/>
          <a:lstStyle/>
          <a:p>
            <a:pPr algn="ctr" indent="0" marL="0">
              <a:buNone/>
            </a:pPr>
            <a:r>
              <a:rPr lang="en-US" sz="900" b="1" dirty="0">
                <a:solidFill>
                  <a:srgbClr val="C0392B"/>
                </a:solidFill>
                <a:latin typeface="Arial" pitchFamily="34" charset="0"/>
                <a:ea typeface="Arial" pitchFamily="34" charset="-122"/>
                <a:cs typeface="Arial" pitchFamily="34" charset="-120"/>
              </a:rPr>
              <a:t>▲27.6</a:t>
            </a:r>
            <a:endParaRPr lang="en-US" sz="900" dirty="0"/>
          </a:p>
        </p:txBody>
      </p:sp>
      <p:sp>
        <p:nvSpPr>
          <p:cNvPr id="50" name="Text 48"/>
          <p:cNvSpPr/>
          <p:nvPr/>
        </p:nvSpPr>
        <p:spPr>
          <a:xfrm>
            <a:off x="4251960" y="2779776"/>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2.9</a:t>
            </a:r>
            <a:endParaRPr lang="en-US" sz="900" dirty="0"/>
          </a:p>
        </p:txBody>
      </p:sp>
      <p:sp>
        <p:nvSpPr>
          <p:cNvPr id="51" name="Text 49"/>
          <p:cNvSpPr/>
          <p:nvPr/>
        </p:nvSpPr>
        <p:spPr>
          <a:xfrm>
            <a:off x="5029200" y="2779776"/>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2.9</a:t>
            </a:r>
            <a:endParaRPr lang="en-US" sz="900" dirty="0"/>
          </a:p>
        </p:txBody>
      </p:sp>
      <p:sp>
        <p:nvSpPr>
          <p:cNvPr id="52" name="Text 50"/>
          <p:cNvSpPr/>
          <p:nvPr/>
        </p:nvSpPr>
        <p:spPr>
          <a:xfrm>
            <a:off x="5806440" y="2779776"/>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2.9</a:t>
            </a:r>
            <a:endParaRPr lang="en-US" sz="900" dirty="0"/>
          </a:p>
        </p:txBody>
      </p:sp>
      <p:sp>
        <p:nvSpPr>
          <p:cNvPr id="53" name="Text 51"/>
          <p:cNvSpPr/>
          <p:nvPr/>
        </p:nvSpPr>
        <p:spPr>
          <a:xfrm>
            <a:off x="6583680" y="2779776"/>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35.9</a:t>
            </a:r>
            <a:endParaRPr lang="en-US" sz="900" dirty="0"/>
          </a:p>
        </p:txBody>
      </p:sp>
      <p:sp>
        <p:nvSpPr>
          <p:cNvPr id="54" name="Text 52"/>
          <p:cNvSpPr/>
          <p:nvPr/>
        </p:nvSpPr>
        <p:spPr>
          <a:xfrm>
            <a:off x="7360920" y="2779776"/>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2.9</a:t>
            </a:r>
            <a:endParaRPr lang="en-US" sz="900" dirty="0"/>
          </a:p>
        </p:txBody>
      </p:sp>
      <p:sp>
        <p:nvSpPr>
          <p:cNvPr id="55" name="Text 53"/>
          <p:cNvSpPr/>
          <p:nvPr/>
        </p:nvSpPr>
        <p:spPr>
          <a:xfrm>
            <a:off x="8138160" y="2779776"/>
            <a:ext cx="777240" cy="438912"/>
          </a:xfrm>
          <a:prstGeom prst="rect">
            <a:avLst/>
          </a:prstGeom>
          <a:noFill/>
          <a:ln/>
        </p:spPr>
        <p:txBody>
          <a:bodyPr wrap="square" lIns="0" tIns="0" rIns="0" bIns="0" rtlCol="0" anchor="ctr"/>
          <a:lstStyle/>
          <a:p>
            <a:pPr algn="ctr" indent="0" marL="0">
              <a:buNone/>
            </a:pPr>
            <a:r>
              <a:rPr lang="en-US" sz="900" b="1" dirty="0">
                <a:solidFill>
                  <a:srgbClr val="C0392B"/>
                </a:solidFill>
                <a:latin typeface="Arial" pitchFamily="34" charset="0"/>
                <a:ea typeface="Arial" pitchFamily="34" charset="-122"/>
                <a:cs typeface="Arial" pitchFamily="34" charset="-120"/>
              </a:rPr>
              <a:t>▲2.1</a:t>
            </a:r>
            <a:endParaRPr lang="en-US" sz="900" dirty="0"/>
          </a:p>
        </p:txBody>
      </p:sp>
      <p:sp>
        <p:nvSpPr>
          <p:cNvPr id="56" name="Text 54"/>
          <p:cNvSpPr/>
          <p:nvPr/>
        </p:nvSpPr>
        <p:spPr>
          <a:xfrm>
            <a:off x="8915400" y="2779776"/>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2.9</a:t>
            </a:r>
            <a:endParaRPr lang="en-US" sz="900" dirty="0"/>
          </a:p>
        </p:txBody>
      </p:sp>
      <p:sp>
        <p:nvSpPr>
          <p:cNvPr id="57" name="Text 55"/>
          <p:cNvSpPr/>
          <p:nvPr/>
        </p:nvSpPr>
        <p:spPr>
          <a:xfrm>
            <a:off x="9692640" y="2779776"/>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2.9</a:t>
            </a:r>
            <a:endParaRPr lang="en-US" sz="900" dirty="0"/>
          </a:p>
        </p:txBody>
      </p:sp>
      <p:sp>
        <p:nvSpPr>
          <p:cNvPr id="58" name="Text 56"/>
          <p:cNvSpPr/>
          <p:nvPr/>
        </p:nvSpPr>
        <p:spPr>
          <a:xfrm>
            <a:off x="10469880" y="2779776"/>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2.9</a:t>
            </a:r>
            <a:endParaRPr lang="en-US" sz="900" dirty="0"/>
          </a:p>
        </p:txBody>
      </p:sp>
      <p:sp>
        <p:nvSpPr>
          <p:cNvPr id="59" name="Text 57"/>
          <p:cNvSpPr/>
          <p:nvPr/>
        </p:nvSpPr>
        <p:spPr>
          <a:xfrm>
            <a:off x="11247120" y="2779776"/>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13.9</a:t>
            </a:r>
            <a:endParaRPr lang="en-US" sz="900" dirty="0"/>
          </a:p>
        </p:txBody>
      </p:sp>
      <p:sp>
        <p:nvSpPr>
          <p:cNvPr id="60" name="Shape 58"/>
          <p:cNvSpPr/>
          <p:nvPr/>
        </p:nvSpPr>
        <p:spPr>
          <a:xfrm>
            <a:off x="594360" y="3218688"/>
            <a:ext cx="11430000" cy="438912"/>
          </a:xfrm>
          <a:prstGeom prst="rect">
            <a:avLst/>
          </a:prstGeom>
          <a:solidFill>
            <a:srgbClr val="FBF9F7"/>
          </a:solidFill>
          <a:ln w="6350">
            <a:solidFill>
              <a:srgbClr val="DED5CE"/>
            </a:solidFill>
            <a:prstDash val="solid"/>
          </a:ln>
        </p:spPr>
      </p:sp>
      <p:sp>
        <p:nvSpPr>
          <p:cNvPr id="61" name="Text 59"/>
          <p:cNvSpPr/>
          <p:nvPr/>
        </p:nvSpPr>
        <p:spPr>
          <a:xfrm>
            <a:off x="704088" y="3218688"/>
            <a:ext cx="2103120" cy="438912"/>
          </a:xfrm>
          <a:prstGeom prst="rect">
            <a:avLst/>
          </a:prstGeom>
          <a:noFill/>
          <a:ln/>
        </p:spPr>
        <p:txBody>
          <a:bodyPr wrap="square" lIns="0" tIns="0" rIns="0" bIns="0" rtlCol="0" anchor="ctr"/>
          <a:lstStyle/>
          <a:p>
            <a:pPr indent="0" marL="0">
              <a:buNone/>
            </a:pPr>
            <a:r>
              <a:rPr lang="en-US" sz="950" dirty="0">
                <a:solidFill>
                  <a:srgbClr val="2B2B2B"/>
                </a:solidFill>
                <a:latin typeface="Arial" pitchFamily="34" charset="0"/>
                <a:ea typeface="Arial" pitchFamily="34" charset="-122"/>
                <a:cs typeface="Arial" pitchFamily="34" charset="-120"/>
              </a:rPr>
              <a:t>財務収支 計</a:t>
            </a:r>
            <a:endParaRPr lang="en-US" sz="950" dirty="0"/>
          </a:p>
        </p:txBody>
      </p:sp>
      <p:sp>
        <p:nvSpPr>
          <p:cNvPr id="62" name="Text 60"/>
          <p:cNvSpPr/>
          <p:nvPr/>
        </p:nvSpPr>
        <p:spPr>
          <a:xfrm>
            <a:off x="2697480" y="3218688"/>
            <a:ext cx="777240" cy="438912"/>
          </a:xfrm>
          <a:prstGeom prst="rect">
            <a:avLst/>
          </a:prstGeom>
          <a:noFill/>
          <a:ln/>
        </p:spPr>
        <p:txBody>
          <a:bodyPr wrap="square" lIns="0" tIns="0" rIns="0" bIns="0" rtlCol="0" anchor="ctr"/>
          <a:lstStyle/>
          <a:p>
            <a:pPr algn="ctr" indent="0" marL="0">
              <a:buNone/>
            </a:pPr>
            <a:r>
              <a:rPr lang="en-US" sz="900" dirty="0">
                <a:solidFill>
                  <a:srgbClr val="C0392B"/>
                </a:solidFill>
                <a:latin typeface="Arial" pitchFamily="34" charset="0"/>
                <a:ea typeface="Arial" pitchFamily="34" charset="-122"/>
                <a:cs typeface="Arial" pitchFamily="34" charset="-120"/>
              </a:rPr>
              <a:t>▲2.7</a:t>
            </a:r>
            <a:endParaRPr lang="en-US" sz="900" dirty="0"/>
          </a:p>
        </p:txBody>
      </p:sp>
      <p:sp>
        <p:nvSpPr>
          <p:cNvPr id="63" name="Text 61"/>
          <p:cNvSpPr/>
          <p:nvPr/>
        </p:nvSpPr>
        <p:spPr>
          <a:xfrm>
            <a:off x="3474720" y="3218688"/>
            <a:ext cx="777240" cy="438912"/>
          </a:xfrm>
          <a:prstGeom prst="rect">
            <a:avLst/>
          </a:prstGeom>
          <a:noFill/>
          <a:ln/>
        </p:spPr>
        <p:txBody>
          <a:bodyPr wrap="square" lIns="0" tIns="0" rIns="0" bIns="0" rtlCol="0" anchor="ctr"/>
          <a:lstStyle/>
          <a:p>
            <a:pPr algn="ctr" indent="0" marL="0">
              <a:buNone/>
            </a:pPr>
            <a:r>
              <a:rPr lang="en-US" sz="900" dirty="0">
                <a:solidFill>
                  <a:srgbClr val="C0392B"/>
                </a:solidFill>
                <a:latin typeface="Arial" pitchFamily="34" charset="0"/>
                <a:ea typeface="Arial" pitchFamily="34" charset="-122"/>
                <a:cs typeface="Arial" pitchFamily="34" charset="-120"/>
              </a:rPr>
              <a:t>▲2.7</a:t>
            </a:r>
            <a:endParaRPr lang="en-US" sz="900" dirty="0"/>
          </a:p>
        </p:txBody>
      </p:sp>
      <p:sp>
        <p:nvSpPr>
          <p:cNvPr id="64" name="Text 62"/>
          <p:cNvSpPr/>
          <p:nvPr/>
        </p:nvSpPr>
        <p:spPr>
          <a:xfrm>
            <a:off x="4251960" y="3218688"/>
            <a:ext cx="777240" cy="438912"/>
          </a:xfrm>
          <a:prstGeom prst="rect">
            <a:avLst/>
          </a:prstGeom>
          <a:noFill/>
          <a:ln/>
        </p:spPr>
        <p:txBody>
          <a:bodyPr wrap="square" lIns="0" tIns="0" rIns="0" bIns="0" rtlCol="0" anchor="ctr"/>
          <a:lstStyle/>
          <a:p>
            <a:pPr algn="ctr" indent="0" marL="0">
              <a:buNone/>
            </a:pPr>
            <a:r>
              <a:rPr lang="en-US" sz="900" dirty="0">
                <a:solidFill>
                  <a:srgbClr val="C0392B"/>
                </a:solidFill>
                <a:latin typeface="Arial" pitchFamily="34" charset="0"/>
                <a:ea typeface="Arial" pitchFamily="34" charset="-122"/>
                <a:cs typeface="Arial" pitchFamily="34" charset="-120"/>
              </a:rPr>
              <a:t>▲2.7</a:t>
            </a:r>
            <a:endParaRPr lang="en-US" sz="900" dirty="0"/>
          </a:p>
        </p:txBody>
      </p:sp>
      <p:sp>
        <p:nvSpPr>
          <p:cNvPr id="65" name="Text 63"/>
          <p:cNvSpPr/>
          <p:nvPr/>
        </p:nvSpPr>
        <p:spPr>
          <a:xfrm>
            <a:off x="5029200" y="3218688"/>
            <a:ext cx="777240" cy="438912"/>
          </a:xfrm>
          <a:prstGeom prst="rect">
            <a:avLst/>
          </a:prstGeom>
          <a:noFill/>
          <a:ln/>
        </p:spPr>
        <p:txBody>
          <a:bodyPr wrap="square" lIns="0" tIns="0" rIns="0" bIns="0" rtlCol="0" anchor="ctr"/>
          <a:lstStyle/>
          <a:p>
            <a:pPr algn="ctr" indent="0" marL="0">
              <a:buNone/>
            </a:pPr>
            <a:r>
              <a:rPr lang="en-US" sz="900" dirty="0">
                <a:solidFill>
                  <a:srgbClr val="C0392B"/>
                </a:solidFill>
                <a:latin typeface="Arial" pitchFamily="34" charset="0"/>
                <a:ea typeface="Arial" pitchFamily="34" charset="-122"/>
                <a:cs typeface="Arial" pitchFamily="34" charset="-120"/>
              </a:rPr>
              <a:t>▲2.7</a:t>
            </a:r>
            <a:endParaRPr lang="en-US" sz="900" dirty="0"/>
          </a:p>
        </p:txBody>
      </p:sp>
      <p:sp>
        <p:nvSpPr>
          <p:cNvPr id="66" name="Text 64"/>
          <p:cNvSpPr/>
          <p:nvPr/>
        </p:nvSpPr>
        <p:spPr>
          <a:xfrm>
            <a:off x="5806440" y="3218688"/>
            <a:ext cx="777240" cy="438912"/>
          </a:xfrm>
          <a:prstGeom prst="rect">
            <a:avLst/>
          </a:prstGeom>
          <a:noFill/>
          <a:ln/>
        </p:spPr>
        <p:txBody>
          <a:bodyPr wrap="square" lIns="0" tIns="0" rIns="0" bIns="0" rtlCol="0" anchor="ctr"/>
          <a:lstStyle/>
          <a:p>
            <a:pPr algn="ctr" indent="0" marL="0">
              <a:buNone/>
            </a:pPr>
            <a:r>
              <a:rPr lang="en-US" sz="900" dirty="0">
                <a:solidFill>
                  <a:srgbClr val="C0392B"/>
                </a:solidFill>
                <a:latin typeface="Arial" pitchFamily="34" charset="0"/>
                <a:ea typeface="Arial" pitchFamily="34" charset="-122"/>
                <a:cs typeface="Arial" pitchFamily="34" charset="-120"/>
              </a:rPr>
              <a:t>▲2.7</a:t>
            </a:r>
            <a:endParaRPr lang="en-US" sz="900" dirty="0"/>
          </a:p>
        </p:txBody>
      </p:sp>
      <p:sp>
        <p:nvSpPr>
          <p:cNvPr id="67" name="Text 65"/>
          <p:cNvSpPr/>
          <p:nvPr/>
        </p:nvSpPr>
        <p:spPr>
          <a:xfrm>
            <a:off x="6583680" y="3218688"/>
            <a:ext cx="777240" cy="438912"/>
          </a:xfrm>
          <a:prstGeom prst="rect">
            <a:avLst/>
          </a:prstGeom>
          <a:noFill/>
          <a:ln/>
        </p:spPr>
        <p:txBody>
          <a:bodyPr wrap="square" lIns="0" tIns="0" rIns="0" bIns="0" rtlCol="0" anchor="ctr"/>
          <a:lstStyle/>
          <a:p>
            <a:pPr algn="ctr" indent="0" marL="0">
              <a:buNone/>
            </a:pPr>
            <a:r>
              <a:rPr lang="en-US" sz="900" dirty="0">
                <a:solidFill>
                  <a:srgbClr val="C0392B"/>
                </a:solidFill>
                <a:latin typeface="Arial" pitchFamily="34" charset="0"/>
                <a:ea typeface="Arial" pitchFamily="34" charset="-122"/>
                <a:cs typeface="Arial" pitchFamily="34" charset="-120"/>
              </a:rPr>
              <a:t>▲2.7</a:t>
            </a:r>
            <a:endParaRPr lang="en-US" sz="900" dirty="0"/>
          </a:p>
        </p:txBody>
      </p:sp>
      <p:sp>
        <p:nvSpPr>
          <p:cNvPr id="68" name="Text 66"/>
          <p:cNvSpPr/>
          <p:nvPr/>
        </p:nvSpPr>
        <p:spPr>
          <a:xfrm>
            <a:off x="7360920" y="3218688"/>
            <a:ext cx="777240" cy="438912"/>
          </a:xfrm>
          <a:prstGeom prst="rect">
            <a:avLst/>
          </a:prstGeom>
          <a:noFill/>
          <a:ln/>
        </p:spPr>
        <p:txBody>
          <a:bodyPr wrap="square" lIns="0" tIns="0" rIns="0" bIns="0" rtlCol="0" anchor="ctr"/>
          <a:lstStyle/>
          <a:p>
            <a:pPr algn="ctr" indent="0" marL="0">
              <a:buNone/>
            </a:pPr>
            <a:r>
              <a:rPr lang="en-US" sz="900" dirty="0">
                <a:solidFill>
                  <a:srgbClr val="C0392B"/>
                </a:solidFill>
                <a:latin typeface="Arial" pitchFamily="34" charset="0"/>
                <a:ea typeface="Arial" pitchFamily="34" charset="-122"/>
                <a:cs typeface="Arial" pitchFamily="34" charset="-120"/>
              </a:rPr>
              <a:t>▲2.7</a:t>
            </a:r>
            <a:endParaRPr lang="en-US" sz="900" dirty="0"/>
          </a:p>
        </p:txBody>
      </p:sp>
      <p:sp>
        <p:nvSpPr>
          <p:cNvPr id="69" name="Text 67"/>
          <p:cNvSpPr/>
          <p:nvPr/>
        </p:nvSpPr>
        <p:spPr>
          <a:xfrm>
            <a:off x="8138160" y="3218688"/>
            <a:ext cx="777240" cy="438912"/>
          </a:xfrm>
          <a:prstGeom prst="rect">
            <a:avLst/>
          </a:prstGeom>
          <a:noFill/>
          <a:ln/>
        </p:spPr>
        <p:txBody>
          <a:bodyPr wrap="square" lIns="0" tIns="0" rIns="0" bIns="0" rtlCol="0" anchor="ctr"/>
          <a:lstStyle/>
          <a:p>
            <a:pPr algn="ctr" indent="0" marL="0">
              <a:buNone/>
            </a:pPr>
            <a:r>
              <a:rPr lang="en-US" sz="900" dirty="0">
                <a:solidFill>
                  <a:srgbClr val="C0392B"/>
                </a:solidFill>
                <a:latin typeface="Arial" pitchFamily="34" charset="0"/>
                <a:ea typeface="Arial" pitchFamily="34" charset="-122"/>
                <a:cs typeface="Arial" pitchFamily="34" charset="-120"/>
              </a:rPr>
              <a:t>▲2.7</a:t>
            </a:r>
            <a:endParaRPr lang="en-US" sz="900" dirty="0"/>
          </a:p>
        </p:txBody>
      </p:sp>
      <p:sp>
        <p:nvSpPr>
          <p:cNvPr id="70" name="Text 68"/>
          <p:cNvSpPr/>
          <p:nvPr/>
        </p:nvSpPr>
        <p:spPr>
          <a:xfrm>
            <a:off x="8915400" y="3218688"/>
            <a:ext cx="777240" cy="438912"/>
          </a:xfrm>
          <a:prstGeom prst="rect">
            <a:avLst/>
          </a:prstGeom>
          <a:noFill/>
          <a:ln/>
        </p:spPr>
        <p:txBody>
          <a:bodyPr wrap="square" lIns="0" tIns="0" rIns="0" bIns="0" rtlCol="0" anchor="ctr"/>
          <a:lstStyle/>
          <a:p>
            <a:pPr algn="ctr" indent="0" marL="0">
              <a:buNone/>
            </a:pPr>
            <a:r>
              <a:rPr lang="en-US" sz="900" dirty="0">
                <a:solidFill>
                  <a:srgbClr val="C0392B"/>
                </a:solidFill>
                <a:latin typeface="Arial" pitchFamily="34" charset="0"/>
                <a:ea typeface="Arial" pitchFamily="34" charset="-122"/>
                <a:cs typeface="Arial" pitchFamily="34" charset="-120"/>
              </a:rPr>
              <a:t>▲2.7</a:t>
            </a:r>
            <a:endParaRPr lang="en-US" sz="900" dirty="0"/>
          </a:p>
        </p:txBody>
      </p:sp>
      <p:sp>
        <p:nvSpPr>
          <p:cNvPr id="71" name="Text 69"/>
          <p:cNvSpPr/>
          <p:nvPr/>
        </p:nvSpPr>
        <p:spPr>
          <a:xfrm>
            <a:off x="9692640" y="3218688"/>
            <a:ext cx="777240" cy="438912"/>
          </a:xfrm>
          <a:prstGeom prst="rect">
            <a:avLst/>
          </a:prstGeom>
          <a:noFill/>
          <a:ln/>
        </p:spPr>
        <p:txBody>
          <a:bodyPr wrap="square" lIns="0" tIns="0" rIns="0" bIns="0" rtlCol="0" anchor="ctr"/>
          <a:lstStyle/>
          <a:p>
            <a:pPr algn="ctr" indent="0" marL="0">
              <a:buNone/>
            </a:pPr>
            <a:r>
              <a:rPr lang="en-US" sz="900" dirty="0">
                <a:solidFill>
                  <a:srgbClr val="C0392B"/>
                </a:solidFill>
                <a:latin typeface="Arial" pitchFamily="34" charset="0"/>
                <a:ea typeface="Arial" pitchFamily="34" charset="-122"/>
                <a:cs typeface="Arial" pitchFamily="34" charset="-120"/>
              </a:rPr>
              <a:t>▲2.7</a:t>
            </a:r>
            <a:endParaRPr lang="en-US" sz="900" dirty="0"/>
          </a:p>
        </p:txBody>
      </p:sp>
      <p:sp>
        <p:nvSpPr>
          <p:cNvPr id="72" name="Text 70"/>
          <p:cNvSpPr/>
          <p:nvPr/>
        </p:nvSpPr>
        <p:spPr>
          <a:xfrm>
            <a:off x="10469880" y="3218688"/>
            <a:ext cx="777240" cy="438912"/>
          </a:xfrm>
          <a:prstGeom prst="rect">
            <a:avLst/>
          </a:prstGeom>
          <a:noFill/>
          <a:ln/>
        </p:spPr>
        <p:txBody>
          <a:bodyPr wrap="square" lIns="0" tIns="0" rIns="0" bIns="0" rtlCol="0" anchor="ctr"/>
          <a:lstStyle/>
          <a:p>
            <a:pPr algn="ctr" indent="0" marL="0">
              <a:buNone/>
            </a:pPr>
            <a:r>
              <a:rPr lang="en-US" sz="900" dirty="0">
                <a:solidFill>
                  <a:srgbClr val="C0392B"/>
                </a:solidFill>
                <a:latin typeface="Arial" pitchFamily="34" charset="0"/>
                <a:ea typeface="Arial" pitchFamily="34" charset="-122"/>
                <a:cs typeface="Arial" pitchFamily="34" charset="-120"/>
              </a:rPr>
              <a:t>▲2.7</a:t>
            </a:r>
            <a:endParaRPr lang="en-US" sz="900" dirty="0"/>
          </a:p>
        </p:txBody>
      </p:sp>
      <p:sp>
        <p:nvSpPr>
          <p:cNvPr id="73" name="Text 71"/>
          <p:cNvSpPr/>
          <p:nvPr/>
        </p:nvSpPr>
        <p:spPr>
          <a:xfrm>
            <a:off x="11247120" y="3218688"/>
            <a:ext cx="777240" cy="438912"/>
          </a:xfrm>
          <a:prstGeom prst="rect">
            <a:avLst/>
          </a:prstGeom>
          <a:noFill/>
          <a:ln/>
        </p:spPr>
        <p:txBody>
          <a:bodyPr wrap="square" lIns="0" tIns="0" rIns="0" bIns="0" rtlCol="0" anchor="ctr"/>
          <a:lstStyle/>
          <a:p>
            <a:pPr algn="ctr" indent="0" marL="0">
              <a:buNone/>
            </a:pPr>
            <a:r>
              <a:rPr lang="en-US" sz="900" dirty="0">
                <a:solidFill>
                  <a:srgbClr val="C0392B"/>
                </a:solidFill>
                <a:latin typeface="Arial" pitchFamily="34" charset="0"/>
                <a:ea typeface="Arial" pitchFamily="34" charset="-122"/>
                <a:cs typeface="Arial" pitchFamily="34" charset="-120"/>
              </a:rPr>
              <a:t>▲2.7</a:t>
            </a:r>
            <a:endParaRPr lang="en-US" sz="900" dirty="0"/>
          </a:p>
        </p:txBody>
      </p:sp>
      <p:sp>
        <p:nvSpPr>
          <p:cNvPr id="74" name="Shape 72"/>
          <p:cNvSpPr/>
          <p:nvPr/>
        </p:nvSpPr>
        <p:spPr>
          <a:xfrm>
            <a:off x="594360" y="3657600"/>
            <a:ext cx="11430000" cy="438912"/>
          </a:xfrm>
          <a:prstGeom prst="rect">
            <a:avLst/>
          </a:prstGeom>
          <a:solidFill>
            <a:srgbClr val="F3EDE9"/>
          </a:solidFill>
          <a:ln w="6350">
            <a:solidFill>
              <a:srgbClr val="DED5CE"/>
            </a:solidFill>
            <a:prstDash val="solid"/>
          </a:ln>
        </p:spPr>
      </p:sp>
      <p:sp>
        <p:nvSpPr>
          <p:cNvPr id="75" name="Text 73"/>
          <p:cNvSpPr/>
          <p:nvPr/>
        </p:nvSpPr>
        <p:spPr>
          <a:xfrm>
            <a:off x="704088" y="3657600"/>
            <a:ext cx="2103120" cy="438912"/>
          </a:xfrm>
          <a:prstGeom prst="rect">
            <a:avLst/>
          </a:prstGeom>
          <a:noFill/>
          <a:ln/>
        </p:spPr>
        <p:txBody>
          <a:bodyPr wrap="square" lIns="0" tIns="0" rIns="0" bIns="0" rtlCol="0" anchor="ctr"/>
          <a:lstStyle/>
          <a:p>
            <a:pPr indent="0" marL="0">
              <a:buNone/>
            </a:pPr>
            <a:r>
              <a:rPr lang="en-US" sz="950" b="1" dirty="0">
                <a:solidFill>
                  <a:srgbClr val="2B2B2B"/>
                </a:solidFill>
                <a:latin typeface="Arial" pitchFamily="34" charset="0"/>
                <a:ea typeface="Arial" pitchFamily="34" charset="-122"/>
                <a:cs typeface="Arial" pitchFamily="34" charset="-120"/>
              </a:rPr>
              <a:t>当月収支</a:t>
            </a:r>
            <a:endParaRPr lang="en-US" sz="950" dirty="0"/>
          </a:p>
        </p:txBody>
      </p:sp>
      <p:sp>
        <p:nvSpPr>
          <p:cNvPr id="76" name="Text 74"/>
          <p:cNvSpPr/>
          <p:nvPr/>
        </p:nvSpPr>
        <p:spPr>
          <a:xfrm>
            <a:off x="2697480" y="3657600"/>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0.2</a:t>
            </a:r>
            <a:endParaRPr lang="en-US" sz="900" dirty="0"/>
          </a:p>
        </p:txBody>
      </p:sp>
      <p:sp>
        <p:nvSpPr>
          <p:cNvPr id="77" name="Text 75"/>
          <p:cNvSpPr/>
          <p:nvPr/>
        </p:nvSpPr>
        <p:spPr>
          <a:xfrm>
            <a:off x="3474720" y="3657600"/>
            <a:ext cx="777240" cy="438912"/>
          </a:xfrm>
          <a:prstGeom prst="rect">
            <a:avLst/>
          </a:prstGeom>
          <a:noFill/>
          <a:ln/>
        </p:spPr>
        <p:txBody>
          <a:bodyPr wrap="square" lIns="0" tIns="0" rIns="0" bIns="0" rtlCol="0" anchor="ctr"/>
          <a:lstStyle/>
          <a:p>
            <a:pPr algn="ctr" indent="0" marL="0">
              <a:buNone/>
            </a:pPr>
            <a:r>
              <a:rPr lang="en-US" sz="900" b="1" dirty="0">
                <a:solidFill>
                  <a:srgbClr val="C0392B"/>
                </a:solidFill>
                <a:latin typeface="Arial" pitchFamily="34" charset="0"/>
                <a:ea typeface="Arial" pitchFamily="34" charset="-122"/>
                <a:cs typeface="Arial" pitchFamily="34" charset="-120"/>
              </a:rPr>
              <a:t>▲30.2</a:t>
            </a:r>
            <a:endParaRPr lang="en-US" sz="900" dirty="0"/>
          </a:p>
        </p:txBody>
      </p:sp>
      <p:sp>
        <p:nvSpPr>
          <p:cNvPr id="78" name="Text 76"/>
          <p:cNvSpPr/>
          <p:nvPr/>
        </p:nvSpPr>
        <p:spPr>
          <a:xfrm>
            <a:off x="4251960" y="3657600"/>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0.2</a:t>
            </a:r>
            <a:endParaRPr lang="en-US" sz="900" dirty="0"/>
          </a:p>
        </p:txBody>
      </p:sp>
      <p:sp>
        <p:nvSpPr>
          <p:cNvPr id="79" name="Text 77"/>
          <p:cNvSpPr/>
          <p:nvPr/>
        </p:nvSpPr>
        <p:spPr>
          <a:xfrm>
            <a:off x="5029200" y="3657600"/>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0.2</a:t>
            </a:r>
            <a:endParaRPr lang="en-US" sz="900" dirty="0"/>
          </a:p>
        </p:txBody>
      </p:sp>
      <p:sp>
        <p:nvSpPr>
          <p:cNvPr id="80" name="Text 78"/>
          <p:cNvSpPr/>
          <p:nvPr/>
        </p:nvSpPr>
        <p:spPr>
          <a:xfrm>
            <a:off x="5806440" y="3657600"/>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0.2</a:t>
            </a:r>
            <a:endParaRPr lang="en-US" sz="900" dirty="0"/>
          </a:p>
        </p:txBody>
      </p:sp>
      <p:sp>
        <p:nvSpPr>
          <p:cNvPr id="81" name="Text 79"/>
          <p:cNvSpPr/>
          <p:nvPr/>
        </p:nvSpPr>
        <p:spPr>
          <a:xfrm>
            <a:off x="6583680" y="3657600"/>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33.2</a:t>
            </a:r>
            <a:endParaRPr lang="en-US" sz="900" dirty="0"/>
          </a:p>
        </p:txBody>
      </p:sp>
      <p:sp>
        <p:nvSpPr>
          <p:cNvPr id="82" name="Text 80"/>
          <p:cNvSpPr/>
          <p:nvPr/>
        </p:nvSpPr>
        <p:spPr>
          <a:xfrm>
            <a:off x="7360920" y="3657600"/>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0.2</a:t>
            </a:r>
            <a:endParaRPr lang="en-US" sz="900" dirty="0"/>
          </a:p>
        </p:txBody>
      </p:sp>
      <p:sp>
        <p:nvSpPr>
          <p:cNvPr id="83" name="Text 81"/>
          <p:cNvSpPr/>
          <p:nvPr/>
        </p:nvSpPr>
        <p:spPr>
          <a:xfrm>
            <a:off x="8138160" y="3657600"/>
            <a:ext cx="777240" cy="438912"/>
          </a:xfrm>
          <a:prstGeom prst="rect">
            <a:avLst/>
          </a:prstGeom>
          <a:noFill/>
          <a:ln/>
        </p:spPr>
        <p:txBody>
          <a:bodyPr wrap="square" lIns="0" tIns="0" rIns="0" bIns="0" rtlCol="0" anchor="ctr"/>
          <a:lstStyle/>
          <a:p>
            <a:pPr algn="ctr" indent="0" marL="0">
              <a:buNone/>
            </a:pPr>
            <a:r>
              <a:rPr lang="en-US" sz="900" b="1" dirty="0">
                <a:solidFill>
                  <a:srgbClr val="C0392B"/>
                </a:solidFill>
                <a:latin typeface="Arial" pitchFamily="34" charset="0"/>
                <a:ea typeface="Arial" pitchFamily="34" charset="-122"/>
                <a:cs typeface="Arial" pitchFamily="34" charset="-120"/>
              </a:rPr>
              <a:t>▲4.8</a:t>
            </a:r>
            <a:endParaRPr lang="en-US" sz="900" dirty="0"/>
          </a:p>
        </p:txBody>
      </p:sp>
      <p:sp>
        <p:nvSpPr>
          <p:cNvPr id="84" name="Text 82"/>
          <p:cNvSpPr/>
          <p:nvPr/>
        </p:nvSpPr>
        <p:spPr>
          <a:xfrm>
            <a:off x="8915400" y="3657600"/>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0.2</a:t>
            </a:r>
            <a:endParaRPr lang="en-US" sz="900" dirty="0"/>
          </a:p>
        </p:txBody>
      </p:sp>
      <p:sp>
        <p:nvSpPr>
          <p:cNvPr id="85" name="Text 83"/>
          <p:cNvSpPr/>
          <p:nvPr/>
        </p:nvSpPr>
        <p:spPr>
          <a:xfrm>
            <a:off x="9692640" y="3657600"/>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0.2</a:t>
            </a:r>
            <a:endParaRPr lang="en-US" sz="900" dirty="0"/>
          </a:p>
        </p:txBody>
      </p:sp>
      <p:sp>
        <p:nvSpPr>
          <p:cNvPr id="86" name="Text 84"/>
          <p:cNvSpPr/>
          <p:nvPr/>
        </p:nvSpPr>
        <p:spPr>
          <a:xfrm>
            <a:off x="10469880" y="3657600"/>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0.2</a:t>
            </a:r>
            <a:endParaRPr lang="en-US" sz="900" dirty="0"/>
          </a:p>
        </p:txBody>
      </p:sp>
      <p:sp>
        <p:nvSpPr>
          <p:cNvPr id="87" name="Text 85"/>
          <p:cNvSpPr/>
          <p:nvPr/>
        </p:nvSpPr>
        <p:spPr>
          <a:xfrm>
            <a:off x="11247120" y="3657600"/>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11.2</a:t>
            </a:r>
            <a:endParaRPr lang="en-US" sz="900" dirty="0"/>
          </a:p>
        </p:txBody>
      </p:sp>
      <p:sp>
        <p:nvSpPr>
          <p:cNvPr id="88" name="Shape 86"/>
          <p:cNvSpPr/>
          <p:nvPr/>
        </p:nvSpPr>
        <p:spPr>
          <a:xfrm>
            <a:off x="594360" y="4096512"/>
            <a:ext cx="11430000" cy="438912"/>
          </a:xfrm>
          <a:prstGeom prst="rect">
            <a:avLst/>
          </a:prstGeom>
          <a:solidFill>
            <a:srgbClr val="ECE2D0"/>
          </a:solidFill>
          <a:ln w="6350">
            <a:solidFill>
              <a:srgbClr val="DED5CE"/>
            </a:solidFill>
            <a:prstDash val="solid"/>
          </a:ln>
        </p:spPr>
      </p:sp>
      <p:sp>
        <p:nvSpPr>
          <p:cNvPr id="89" name="Text 87"/>
          <p:cNvSpPr/>
          <p:nvPr/>
        </p:nvSpPr>
        <p:spPr>
          <a:xfrm>
            <a:off x="704088" y="4096512"/>
            <a:ext cx="2103120" cy="438912"/>
          </a:xfrm>
          <a:prstGeom prst="rect">
            <a:avLst/>
          </a:prstGeom>
          <a:noFill/>
          <a:ln/>
        </p:spPr>
        <p:txBody>
          <a:bodyPr wrap="square" lIns="0" tIns="0" rIns="0" bIns="0" rtlCol="0" anchor="ctr"/>
          <a:lstStyle/>
          <a:p>
            <a:pPr indent="0" marL="0">
              <a:buNone/>
            </a:pPr>
            <a:r>
              <a:rPr lang="en-US" sz="950" b="1" dirty="0">
                <a:solidFill>
                  <a:srgbClr val="2B2B2B"/>
                </a:solidFill>
                <a:latin typeface="Arial" pitchFamily="34" charset="0"/>
                <a:ea typeface="Arial" pitchFamily="34" charset="-122"/>
                <a:cs typeface="Arial" pitchFamily="34" charset="-120"/>
              </a:rPr>
              <a:t>月末 現預金残高</a:t>
            </a:r>
            <a:endParaRPr lang="en-US" sz="950" dirty="0"/>
          </a:p>
        </p:txBody>
      </p:sp>
      <p:sp>
        <p:nvSpPr>
          <p:cNvPr id="90" name="Text 88"/>
          <p:cNvSpPr/>
          <p:nvPr/>
        </p:nvSpPr>
        <p:spPr>
          <a:xfrm>
            <a:off x="2697480" y="4096512"/>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30.2</a:t>
            </a:r>
            <a:endParaRPr lang="en-US" sz="900" dirty="0"/>
          </a:p>
        </p:txBody>
      </p:sp>
      <p:sp>
        <p:nvSpPr>
          <p:cNvPr id="91" name="Text 89"/>
          <p:cNvSpPr/>
          <p:nvPr/>
        </p:nvSpPr>
        <p:spPr>
          <a:xfrm>
            <a:off x="3474720" y="4096512"/>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0.0</a:t>
            </a:r>
            <a:endParaRPr lang="en-US" sz="900" dirty="0"/>
          </a:p>
        </p:txBody>
      </p:sp>
      <p:sp>
        <p:nvSpPr>
          <p:cNvPr id="92" name="Text 90"/>
          <p:cNvSpPr/>
          <p:nvPr/>
        </p:nvSpPr>
        <p:spPr>
          <a:xfrm>
            <a:off x="4251960" y="4096512"/>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0.2</a:t>
            </a:r>
            <a:endParaRPr lang="en-US" sz="900" dirty="0"/>
          </a:p>
        </p:txBody>
      </p:sp>
      <p:sp>
        <p:nvSpPr>
          <p:cNvPr id="93" name="Text 91"/>
          <p:cNvSpPr/>
          <p:nvPr/>
        </p:nvSpPr>
        <p:spPr>
          <a:xfrm>
            <a:off x="5029200" y="4096512"/>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0.5</a:t>
            </a:r>
            <a:endParaRPr lang="en-US" sz="900" dirty="0"/>
          </a:p>
        </p:txBody>
      </p:sp>
      <p:sp>
        <p:nvSpPr>
          <p:cNvPr id="94" name="Text 92"/>
          <p:cNvSpPr/>
          <p:nvPr/>
        </p:nvSpPr>
        <p:spPr>
          <a:xfrm>
            <a:off x="5806440" y="4096512"/>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0.7</a:t>
            </a:r>
            <a:endParaRPr lang="en-US" sz="900" dirty="0"/>
          </a:p>
        </p:txBody>
      </p:sp>
      <p:sp>
        <p:nvSpPr>
          <p:cNvPr id="95" name="Text 93"/>
          <p:cNvSpPr/>
          <p:nvPr/>
        </p:nvSpPr>
        <p:spPr>
          <a:xfrm>
            <a:off x="6583680" y="4096512"/>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33.9</a:t>
            </a:r>
            <a:endParaRPr lang="en-US" sz="900" dirty="0"/>
          </a:p>
        </p:txBody>
      </p:sp>
      <p:sp>
        <p:nvSpPr>
          <p:cNvPr id="96" name="Text 94"/>
          <p:cNvSpPr/>
          <p:nvPr/>
        </p:nvSpPr>
        <p:spPr>
          <a:xfrm>
            <a:off x="7360920" y="4096512"/>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34.2</a:t>
            </a:r>
            <a:endParaRPr lang="en-US" sz="900" dirty="0"/>
          </a:p>
        </p:txBody>
      </p:sp>
      <p:sp>
        <p:nvSpPr>
          <p:cNvPr id="97" name="Text 95"/>
          <p:cNvSpPr/>
          <p:nvPr/>
        </p:nvSpPr>
        <p:spPr>
          <a:xfrm>
            <a:off x="8138160" y="4096512"/>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29.4</a:t>
            </a:r>
            <a:endParaRPr lang="en-US" sz="900" dirty="0"/>
          </a:p>
        </p:txBody>
      </p:sp>
      <p:sp>
        <p:nvSpPr>
          <p:cNvPr id="98" name="Text 96"/>
          <p:cNvSpPr/>
          <p:nvPr/>
        </p:nvSpPr>
        <p:spPr>
          <a:xfrm>
            <a:off x="8915400" y="4096512"/>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29.6</a:t>
            </a:r>
            <a:endParaRPr lang="en-US" sz="900" dirty="0"/>
          </a:p>
        </p:txBody>
      </p:sp>
      <p:sp>
        <p:nvSpPr>
          <p:cNvPr id="99" name="Text 97"/>
          <p:cNvSpPr/>
          <p:nvPr/>
        </p:nvSpPr>
        <p:spPr>
          <a:xfrm>
            <a:off x="9692640" y="4096512"/>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29.9</a:t>
            </a:r>
            <a:endParaRPr lang="en-US" sz="900" dirty="0"/>
          </a:p>
        </p:txBody>
      </p:sp>
      <p:sp>
        <p:nvSpPr>
          <p:cNvPr id="100" name="Text 98"/>
          <p:cNvSpPr/>
          <p:nvPr/>
        </p:nvSpPr>
        <p:spPr>
          <a:xfrm>
            <a:off x="10469880" y="4096512"/>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30.1</a:t>
            </a:r>
            <a:endParaRPr lang="en-US" sz="900" dirty="0"/>
          </a:p>
        </p:txBody>
      </p:sp>
      <p:sp>
        <p:nvSpPr>
          <p:cNvPr id="101" name="Text 99"/>
          <p:cNvSpPr/>
          <p:nvPr/>
        </p:nvSpPr>
        <p:spPr>
          <a:xfrm>
            <a:off x="11247120" y="4096512"/>
            <a:ext cx="777240" cy="438912"/>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41.3</a:t>
            </a:r>
            <a:endParaRPr lang="en-US" sz="900" dirty="0"/>
          </a:p>
        </p:txBody>
      </p:sp>
      <p:sp>
        <p:nvSpPr>
          <p:cNvPr id="102" name="Shape 100"/>
          <p:cNvSpPr/>
          <p:nvPr/>
        </p:nvSpPr>
        <p:spPr>
          <a:xfrm>
            <a:off x="594360" y="4791456"/>
            <a:ext cx="5349240" cy="1371600"/>
          </a:xfrm>
          <a:prstGeom prst="roundRect">
            <a:avLst>
              <a:gd name="adj" fmla="val 4000"/>
            </a:avLst>
          </a:prstGeom>
          <a:solidFill>
            <a:srgbClr val="6D2E46"/>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03" name="Text 101"/>
          <p:cNvSpPr/>
          <p:nvPr/>
        </p:nvSpPr>
        <p:spPr>
          <a:xfrm>
            <a:off x="868680" y="4956048"/>
            <a:ext cx="4800600" cy="292608"/>
          </a:xfrm>
          <a:prstGeom prst="rect">
            <a:avLst/>
          </a:prstGeom>
          <a:noFill/>
          <a:ln/>
        </p:spPr>
        <p:txBody>
          <a:bodyPr wrap="square" lIns="0" tIns="0" rIns="0" bIns="0" rtlCol="0" anchor="ctr"/>
          <a:lstStyle/>
          <a:p>
            <a:pPr indent="0" marL="0">
              <a:buNone/>
            </a:pPr>
            <a:r>
              <a:rPr lang="en-US" sz="1200" b="1" dirty="0">
                <a:solidFill>
                  <a:srgbClr val="ECE2D0"/>
                </a:solidFill>
                <a:latin typeface="Arial" pitchFamily="34" charset="0"/>
                <a:ea typeface="Arial" pitchFamily="34" charset="-122"/>
                <a:cs typeface="Arial" pitchFamily="34" charset="-120"/>
              </a:rPr>
              <a:t>ボトルネックは2026年11月</a:t>
            </a:r>
            <a:endParaRPr lang="en-US" sz="1200" dirty="0"/>
          </a:p>
        </p:txBody>
      </p:sp>
      <p:sp>
        <p:nvSpPr>
          <p:cNvPr id="104" name="Text 102"/>
          <p:cNvSpPr/>
          <p:nvPr/>
        </p:nvSpPr>
        <p:spPr>
          <a:xfrm>
            <a:off x="868680" y="5294376"/>
            <a:ext cx="4800600" cy="822960"/>
          </a:xfrm>
          <a:prstGeom prst="rect">
            <a:avLst/>
          </a:prstGeom>
          <a:noFill/>
          <a:ln/>
        </p:spPr>
        <p:txBody>
          <a:bodyPr wrap="square" lIns="0" tIns="0" rIns="0" bIns="0" rtlCol="0" anchor="t"/>
          <a:lstStyle/>
          <a:p>
            <a:pPr indent="0" marL="0">
              <a:buNone/>
            </a:pPr>
            <a:r>
              <a:rPr lang="en-US" sz="1050" dirty="0">
                <a:solidFill>
                  <a:srgbClr val="FFFFFF"/>
                </a:solidFill>
                <a:latin typeface="Arial" pitchFamily="34" charset="0"/>
                <a:ea typeface="Arial" pitchFamily="34" charset="-122"/>
                <a:cs typeface="Arial" pitchFamily="34" charset="-120"/>
              </a:rPr>
              <a:t>FY2026分の消費税30百万円（うち20百万円は9月の在庫販売200百万円に係るもの）の納付月。売上が2か月分しか回収できていない時期に重なるため、ここが必要売上高を決めています。</a:t>
            </a:r>
            <a:endParaRPr lang="en-US" sz="1050" dirty="0"/>
          </a:p>
        </p:txBody>
      </p:sp>
      <p:sp>
        <p:nvSpPr>
          <p:cNvPr id="105" name="Shape 103"/>
          <p:cNvSpPr/>
          <p:nvPr/>
        </p:nvSpPr>
        <p:spPr>
          <a:xfrm>
            <a:off x="6217920" y="4791456"/>
            <a:ext cx="5349240" cy="329184"/>
          </a:xfrm>
          <a:prstGeom prst="rect">
            <a:avLst/>
          </a:prstGeom>
          <a:solidFill>
            <a:srgbClr val="6D2E46"/>
          </a:solidFill>
          <a:ln/>
        </p:spPr>
      </p:sp>
      <p:sp>
        <p:nvSpPr>
          <p:cNvPr id="106" name="Text 104"/>
          <p:cNvSpPr/>
          <p:nvPr/>
        </p:nvSpPr>
        <p:spPr>
          <a:xfrm>
            <a:off x="6355080" y="4791456"/>
            <a:ext cx="2377440" cy="329184"/>
          </a:xfrm>
          <a:prstGeom prst="rect">
            <a:avLst/>
          </a:prstGeom>
          <a:noFill/>
          <a:ln/>
        </p:spPr>
        <p:txBody>
          <a:bodyPr wrap="square" lIns="0" tIns="0" rIns="0" bIns="0" rtlCol="0" anchor="ctr"/>
          <a:lstStyle/>
          <a:p>
            <a:pPr algn="l" indent="0" marL="0">
              <a:buNone/>
            </a:pPr>
            <a:r>
              <a:rPr lang="en-US" sz="900" b="1" dirty="0">
                <a:solidFill>
                  <a:srgbClr val="FFFFFF"/>
                </a:solidFill>
                <a:latin typeface="Arial" pitchFamily="34" charset="0"/>
                <a:ea typeface="Arial" pitchFamily="34" charset="-122"/>
                <a:cs typeface="Arial" pitchFamily="34" charset="-120"/>
              </a:rPr>
              <a:t>感応度</a:t>
            </a:r>
            <a:endParaRPr lang="en-US" sz="900" dirty="0"/>
          </a:p>
        </p:txBody>
      </p:sp>
      <p:sp>
        <p:nvSpPr>
          <p:cNvPr id="107" name="Text 105"/>
          <p:cNvSpPr/>
          <p:nvPr/>
        </p:nvSpPr>
        <p:spPr>
          <a:xfrm>
            <a:off x="8732520" y="4791456"/>
            <a:ext cx="1280160" cy="329184"/>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期末残高</a:t>
            </a:r>
            <a:endParaRPr lang="en-US" sz="900" dirty="0"/>
          </a:p>
        </p:txBody>
      </p:sp>
      <p:sp>
        <p:nvSpPr>
          <p:cNvPr id="108" name="Text 106"/>
          <p:cNvSpPr/>
          <p:nvPr/>
        </p:nvSpPr>
        <p:spPr>
          <a:xfrm>
            <a:off x="10104120" y="4791456"/>
            <a:ext cx="1325880" cy="329184"/>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期中最低</a:t>
            </a:r>
            <a:endParaRPr lang="en-US" sz="900" dirty="0"/>
          </a:p>
        </p:txBody>
      </p:sp>
      <p:sp>
        <p:nvSpPr>
          <p:cNvPr id="109" name="Shape 107"/>
          <p:cNvSpPr/>
          <p:nvPr/>
        </p:nvSpPr>
        <p:spPr>
          <a:xfrm>
            <a:off x="6217920" y="5120640"/>
            <a:ext cx="5349240" cy="260604"/>
          </a:xfrm>
          <a:prstGeom prst="rect">
            <a:avLst/>
          </a:prstGeom>
          <a:solidFill>
            <a:srgbClr val="ECE2D0"/>
          </a:solidFill>
          <a:ln w="6350">
            <a:solidFill>
              <a:srgbClr val="DED5CE"/>
            </a:solidFill>
            <a:prstDash val="solid"/>
          </a:ln>
        </p:spPr>
      </p:sp>
      <p:sp>
        <p:nvSpPr>
          <p:cNvPr id="110" name="Text 108"/>
          <p:cNvSpPr/>
          <p:nvPr/>
        </p:nvSpPr>
        <p:spPr>
          <a:xfrm>
            <a:off x="6355080" y="5120640"/>
            <a:ext cx="2377440" cy="260604"/>
          </a:xfrm>
          <a:prstGeom prst="rect">
            <a:avLst/>
          </a:prstGeom>
          <a:noFill/>
          <a:ln/>
        </p:spPr>
        <p:txBody>
          <a:bodyPr wrap="square" lIns="0" tIns="0" rIns="0" bIns="0" rtlCol="0" anchor="ctr"/>
          <a:lstStyle/>
          <a:p>
            <a:pPr indent="0" marL="0">
              <a:buNone/>
            </a:pPr>
            <a:r>
              <a:rPr lang="en-US" sz="850" b="1" dirty="0">
                <a:solidFill>
                  <a:srgbClr val="2B2B2B"/>
                </a:solidFill>
                <a:latin typeface="Arial" pitchFamily="34" charset="0"/>
                <a:ea typeface="Arial" pitchFamily="34" charset="-122"/>
                <a:cs typeface="Arial" pitchFamily="34" charset="-120"/>
              </a:rPr>
              <a:t>A. プランD（本線）</a:t>
            </a:r>
            <a:endParaRPr lang="en-US" sz="850" dirty="0"/>
          </a:p>
        </p:txBody>
      </p:sp>
      <p:sp>
        <p:nvSpPr>
          <p:cNvPr id="111" name="Text 109"/>
          <p:cNvSpPr/>
          <p:nvPr/>
        </p:nvSpPr>
        <p:spPr>
          <a:xfrm>
            <a:off x="8732520" y="5120640"/>
            <a:ext cx="1280160" cy="260604"/>
          </a:xfrm>
          <a:prstGeom prst="rect">
            <a:avLst/>
          </a:prstGeom>
          <a:noFill/>
          <a:ln/>
        </p:spPr>
        <p:txBody>
          <a:bodyPr wrap="square" lIns="0" tIns="0" rIns="0" bIns="0" rtlCol="0" anchor="ctr"/>
          <a:lstStyle/>
          <a:p>
            <a:pPr algn="r" indent="0" marL="0">
              <a:buNone/>
            </a:pPr>
            <a:r>
              <a:rPr lang="en-US" sz="850" b="1" dirty="0">
                <a:solidFill>
                  <a:srgbClr val="6D2E46"/>
                </a:solidFill>
                <a:latin typeface="Arial" pitchFamily="34" charset="0"/>
                <a:ea typeface="Arial" pitchFamily="34" charset="-122"/>
                <a:cs typeface="Arial" pitchFamily="34" charset="-120"/>
              </a:rPr>
              <a:t>＋41.3</a:t>
            </a:r>
            <a:endParaRPr lang="en-US" sz="850" dirty="0"/>
          </a:p>
        </p:txBody>
      </p:sp>
      <p:sp>
        <p:nvSpPr>
          <p:cNvPr id="112" name="Text 110"/>
          <p:cNvSpPr/>
          <p:nvPr/>
        </p:nvSpPr>
        <p:spPr>
          <a:xfrm>
            <a:off x="10104120" y="5120640"/>
            <a:ext cx="1325880" cy="260604"/>
          </a:xfrm>
          <a:prstGeom prst="rect">
            <a:avLst/>
          </a:prstGeom>
          <a:noFill/>
          <a:ln/>
        </p:spPr>
        <p:txBody>
          <a:bodyPr wrap="square" lIns="0" tIns="0" rIns="0" bIns="0" rtlCol="0" anchor="ctr"/>
          <a:lstStyle/>
          <a:p>
            <a:pPr algn="r" indent="0" marL="0">
              <a:buNone/>
            </a:pPr>
            <a:r>
              <a:rPr lang="en-US" sz="850" b="1" dirty="0">
                <a:solidFill>
                  <a:srgbClr val="6D2E46"/>
                </a:solidFill>
                <a:latin typeface="Arial" pitchFamily="34" charset="0"/>
                <a:ea typeface="Arial" pitchFamily="34" charset="-122"/>
                <a:cs typeface="Arial" pitchFamily="34" charset="-120"/>
              </a:rPr>
              <a:t>0.0</a:t>
            </a:r>
            <a:endParaRPr lang="en-US" sz="850" dirty="0"/>
          </a:p>
        </p:txBody>
      </p:sp>
      <p:sp>
        <p:nvSpPr>
          <p:cNvPr id="113" name="Shape 111"/>
          <p:cNvSpPr/>
          <p:nvPr/>
        </p:nvSpPr>
        <p:spPr>
          <a:xfrm>
            <a:off x="6217920" y="5381244"/>
            <a:ext cx="5349240" cy="260604"/>
          </a:xfrm>
          <a:prstGeom prst="rect">
            <a:avLst/>
          </a:prstGeom>
          <a:solidFill>
            <a:srgbClr val="FBF9F7"/>
          </a:solidFill>
          <a:ln w="6350">
            <a:solidFill>
              <a:srgbClr val="DED5CE"/>
            </a:solidFill>
            <a:prstDash val="solid"/>
          </a:ln>
        </p:spPr>
      </p:sp>
      <p:sp>
        <p:nvSpPr>
          <p:cNvPr id="114" name="Text 112"/>
          <p:cNvSpPr/>
          <p:nvPr/>
        </p:nvSpPr>
        <p:spPr>
          <a:xfrm>
            <a:off x="6355080" y="5381244"/>
            <a:ext cx="2377440" cy="260604"/>
          </a:xfrm>
          <a:prstGeom prst="rect">
            <a:avLst/>
          </a:prstGeom>
          <a:noFill/>
          <a:ln/>
        </p:spPr>
        <p:txBody>
          <a:bodyPr wrap="square" lIns="0" tIns="0" rIns="0" bIns="0" rtlCol="0" anchor="ctr"/>
          <a:lstStyle/>
          <a:p>
            <a:pPr indent="0" marL="0">
              <a:buNone/>
            </a:pPr>
            <a:r>
              <a:rPr lang="en-US" sz="850" dirty="0">
                <a:solidFill>
                  <a:srgbClr val="2B2B2B"/>
                </a:solidFill>
                <a:latin typeface="Arial" pitchFamily="34" charset="0"/>
                <a:ea typeface="Arial" pitchFamily="34" charset="-122"/>
                <a:cs typeface="Arial" pitchFamily="34" charset="-120"/>
              </a:rPr>
              <a:t>B. 仕入を在庫横ばいにした場合</a:t>
            </a:r>
            <a:endParaRPr lang="en-US" sz="850" dirty="0"/>
          </a:p>
        </p:txBody>
      </p:sp>
      <p:sp>
        <p:nvSpPr>
          <p:cNvPr id="115" name="Text 113"/>
          <p:cNvSpPr/>
          <p:nvPr/>
        </p:nvSpPr>
        <p:spPr>
          <a:xfrm>
            <a:off x="8732520" y="5381244"/>
            <a:ext cx="1280160" cy="260604"/>
          </a:xfrm>
          <a:prstGeom prst="rect">
            <a:avLst/>
          </a:prstGeom>
          <a:noFill/>
          <a:ln/>
        </p:spPr>
        <p:txBody>
          <a:bodyPr wrap="square" lIns="0" tIns="0" rIns="0" bIns="0" rtlCol="0" anchor="ctr"/>
          <a:lstStyle/>
          <a:p>
            <a:pPr algn="r" indent="0" marL="0">
              <a:buNone/>
            </a:pPr>
            <a:r>
              <a:rPr lang="en-US" sz="850" dirty="0">
                <a:solidFill>
                  <a:srgbClr val="6D2E46"/>
                </a:solidFill>
                <a:latin typeface="Arial" pitchFamily="34" charset="0"/>
                <a:ea typeface="Arial" pitchFamily="34" charset="-122"/>
                <a:cs typeface="Arial" pitchFamily="34" charset="-120"/>
              </a:rPr>
              <a:t>＋171.3</a:t>
            </a:r>
            <a:endParaRPr lang="en-US" sz="850" dirty="0"/>
          </a:p>
        </p:txBody>
      </p:sp>
      <p:sp>
        <p:nvSpPr>
          <p:cNvPr id="116" name="Text 114"/>
          <p:cNvSpPr/>
          <p:nvPr/>
        </p:nvSpPr>
        <p:spPr>
          <a:xfrm>
            <a:off x="10104120" y="5381244"/>
            <a:ext cx="1325880" cy="260604"/>
          </a:xfrm>
          <a:prstGeom prst="rect">
            <a:avLst/>
          </a:prstGeom>
          <a:noFill/>
          <a:ln/>
        </p:spPr>
        <p:txBody>
          <a:bodyPr wrap="square" lIns="0" tIns="0" rIns="0" bIns="0" rtlCol="0" anchor="ctr"/>
          <a:lstStyle/>
          <a:p>
            <a:pPr algn="r" indent="0" marL="0">
              <a:buNone/>
            </a:pPr>
            <a:r>
              <a:rPr lang="en-US" sz="850" dirty="0">
                <a:solidFill>
                  <a:srgbClr val="6D2E46"/>
                </a:solidFill>
                <a:latin typeface="Arial" pitchFamily="34" charset="0"/>
                <a:ea typeface="Arial" pitchFamily="34" charset="-122"/>
                <a:cs typeface="Arial" pitchFamily="34" charset="-120"/>
              </a:rPr>
              <a:t>＋130.0</a:t>
            </a:r>
            <a:endParaRPr lang="en-US" sz="850" dirty="0"/>
          </a:p>
        </p:txBody>
      </p:sp>
      <p:sp>
        <p:nvSpPr>
          <p:cNvPr id="117" name="Shape 115"/>
          <p:cNvSpPr/>
          <p:nvPr/>
        </p:nvSpPr>
        <p:spPr>
          <a:xfrm>
            <a:off x="6217920" y="5641848"/>
            <a:ext cx="5349240" cy="260604"/>
          </a:xfrm>
          <a:prstGeom prst="rect">
            <a:avLst/>
          </a:prstGeom>
          <a:solidFill>
            <a:srgbClr val="FFFFFF"/>
          </a:solidFill>
          <a:ln w="6350">
            <a:solidFill>
              <a:srgbClr val="DED5CE"/>
            </a:solidFill>
            <a:prstDash val="solid"/>
          </a:ln>
        </p:spPr>
      </p:sp>
      <p:sp>
        <p:nvSpPr>
          <p:cNvPr id="118" name="Text 116"/>
          <p:cNvSpPr/>
          <p:nvPr/>
        </p:nvSpPr>
        <p:spPr>
          <a:xfrm>
            <a:off x="6355080" y="5641848"/>
            <a:ext cx="2377440" cy="260604"/>
          </a:xfrm>
          <a:prstGeom prst="rect">
            <a:avLst/>
          </a:prstGeom>
          <a:noFill/>
          <a:ln/>
        </p:spPr>
        <p:txBody>
          <a:bodyPr wrap="square" lIns="0" tIns="0" rIns="0" bIns="0" rtlCol="0" anchor="ctr"/>
          <a:lstStyle/>
          <a:p>
            <a:pPr indent="0" marL="0">
              <a:buNone/>
            </a:pPr>
            <a:r>
              <a:rPr lang="en-US" sz="850" dirty="0">
                <a:solidFill>
                  <a:srgbClr val="2B2B2B"/>
                </a:solidFill>
                <a:latin typeface="Arial" pitchFamily="34" charset="0"/>
                <a:ea typeface="Arial" pitchFamily="34" charset="-122"/>
                <a:cs typeface="Arial" pitchFamily="34" charset="-120"/>
              </a:rPr>
              <a:t>C. 一時収益44百万円が未入金</a:t>
            </a:r>
            <a:endParaRPr lang="en-US" sz="850" dirty="0"/>
          </a:p>
        </p:txBody>
      </p:sp>
      <p:sp>
        <p:nvSpPr>
          <p:cNvPr id="119" name="Text 117"/>
          <p:cNvSpPr/>
          <p:nvPr/>
        </p:nvSpPr>
        <p:spPr>
          <a:xfrm>
            <a:off x="8732520" y="5641848"/>
            <a:ext cx="1280160" cy="260604"/>
          </a:xfrm>
          <a:prstGeom prst="rect">
            <a:avLst/>
          </a:prstGeom>
          <a:noFill/>
          <a:ln/>
        </p:spPr>
        <p:txBody>
          <a:bodyPr wrap="square" lIns="0" tIns="0" rIns="0" bIns="0" rtlCol="0" anchor="ctr"/>
          <a:lstStyle/>
          <a:p>
            <a:pPr algn="r" indent="0" marL="0">
              <a:buNone/>
            </a:pPr>
            <a:r>
              <a:rPr lang="en-US" sz="850" dirty="0">
                <a:solidFill>
                  <a:srgbClr val="C0392B"/>
                </a:solidFill>
                <a:latin typeface="Arial" pitchFamily="34" charset="0"/>
                <a:ea typeface="Arial" pitchFamily="34" charset="-122"/>
                <a:cs typeface="Arial" pitchFamily="34" charset="-120"/>
              </a:rPr>
              <a:t>▲2.7</a:t>
            </a:r>
            <a:endParaRPr lang="en-US" sz="850" dirty="0"/>
          </a:p>
        </p:txBody>
      </p:sp>
      <p:sp>
        <p:nvSpPr>
          <p:cNvPr id="120" name="Text 118"/>
          <p:cNvSpPr/>
          <p:nvPr/>
        </p:nvSpPr>
        <p:spPr>
          <a:xfrm>
            <a:off x="10104120" y="5641848"/>
            <a:ext cx="1325880" cy="260604"/>
          </a:xfrm>
          <a:prstGeom prst="rect">
            <a:avLst/>
          </a:prstGeom>
          <a:noFill/>
          <a:ln/>
        </p:spPr>
        <p:txBody>
          <a:bodyPr wrap="square" lIns="0" tIns="0" rIns="0" bIns="0" rtlCol="0" anchor="ctr"/>
          <a:lstStyle/>
          <a:p>
            <a:pPr algn="r" indent="0" marL="0">
              <a:buNone/>
            </a:pPr>
            <a:r>
              <a:rPr lang="en-US" sz="850" dirty="0">
                <a:solidFill>
                  <a:srgbClr val="C0392B"/>
                </a:solidFill>
                <a:latin typeface="Arial" pitchFamily="34" charset="0"/>
                <a:ea typeface="Arial" pitchFamily="34" charset="-122"/>
                <a:cs typeface="Arial" pitchFamily="34" charset="-120"/>
              </a:rPr>
              <a:t>▲44.0</a:t>
            </a:r>
            <a:endParaRPr lang="en-US" sz="850" dirty="0"/>
          </a:p>
        </p:txBody>
      </p:sp>
      <p:sp>
        <p:nvSpPr>
          <p:cNvPr id="121" name="Shape 119"/>
          <p:cNvSpPr/>
          <p:nvPr/>
        </p:nvSpPr>
        <p:spPr>
          <a:xfrm>
            <a:off x="6217920" y="5902452"/>
            <a:ext cx="5349240" cy="260604"/>
          </a:xfrm>
          <a:prstGeom prst="rect">
            <a:avLst/>
          </a:prstGeom>
          <a:solidFill>
            <a:srgbClr val="FBF9F7"/>
          </a:solidFill>
          <a:ln w="6350">
            <a:solidFill>
              <a:srgbClr val="DED5CE"/>
            </a:solidFill>
            <a:prstDash val="solid"/>
          </a:ln>
        </p:spPr>
      </p:sp>
      <p:sp>
        <p:nvSpPr>
          <p:cNvPr id="122" name="Text 120"/>
          <p:cNvSpPr/>
          <p:nvPr/>
        </p:nvSpPr>
        <p:spPr>
          <a:xfrm>
            <a:off x="6355080" y="5902452"/>
            <a:ext cx="2377440" cy="260604"/>
          </a:xfrm>
          <a:prstGeom prst="rect">
            <a:avLst/>
          </a:prstGeom>
          <a:noFill/>
          <a:ln/>
        </p:spPr>
        <p:txBody>
          <a:bodyPr wrap="square" lIns="0" tIns="0" rIns="0" bIns="0" rtlCol="0" anchor="ctr"/>
          <a:lstStyle/>
          <a:p>
            <a:pPr indent="0" marL="0">
              <a:buNone/>
            </a:pPr>
            <a:r>
              <a:rPr lang="en-US" sz="850" dirty="0">
                <a:solidFill>
                  <a:srgbClr val="2B2B2B"/>
                </a:solidFill>
                <a:latin typeface="Arial" pitchFamily="34" charset="0"/>
                <a:ea typeface="Arial" pitchFamily="34" charset="-122"/>
                <a:cs typeface="Arial" pitchFamily="34" charset="-120"/>
              </a:rPr>
              <a:t>D. 追加売上が未達</a:t>
            </a:r>
            <a:endParaRPr lang="en-US" sz="850" dirty="0"/>
          </a:p>
        </p:txBody>
      </p:sp>
      <p:sp>
        <p:nvSpPr>
          <p:cNvPr id="123" name="Text 121"/>
          <p:cNvSpPr/>
          <p:nvPr/>
        </p:nvSpPr>
        <p:spPr>
          <a:xfrm>
            <a:off x="8732520" y="5902452"/>
            <a:ext cx="1280160" cy="260604"/>
          </a:xfrm>
          <a:prstGeom prst="rect">
            <a:avLst/>
          </a:prstGeom>
          <a:noFill/>
          <a:ln/>
        </p:spPr>
        <p:txBody>
          <a:bodyPr wrap="square" lIns="0" tIns="0" rIns="0" bIns="0" rtlCol="0" anchor="ctr"/>
          <a:lstStyle/>
          <a:p>
            <a:pPr algn="r" indent="0" marL="0">
              <a:buNone/>
            </a:pPr>
            <a:r>
              <a:rPr lang="en-US" sz="850" dirty="0">
                <a:solidFill>
                  <a:srgbClr val="C0392B"/>
                </a:solidFill>
                <a:latin typeface="Arial" pitchFamily="34" charset="0"/>
                <a:ea typeface="Arial" pitchFamily="34" charset="-122"/>
                <a:cs typeface="Arial" pitchFamily="34" charset="-120"/>
              </a:rPr>
              <a:t>▲213.8</a:t>
            </a:r>
            <a:endParaRPr lang="en-US" sz="850" dirty="0"/>
          </a:p>
        </p:txBody>
      </p:sp>
      <p:sp>
        <p:nvSpPr>
          <p:cNvPr id="124" name="Text 122"/>
          <p:cNvSpPr/>
          <p:nvPr/>
        </p:nvSpPr>
        <p:spPr>
          <a:xfrm>
            <a:off x="10104120" y="5902452"/>
            <a:ext cx="1325880" cy="260604"/>
          </a:xfrm>
          <a:prstGeom prst="rect">
            <a:avLst/>
          </a:prstGeom>
          <a:noFill/>
          <a:ln/>
        </p:spPr>
        <p:txBody>
          <a:bodyPr wrap="square" lIns="0" tIns="0" rIns="0" bIns="0" rtlCol="0" anchor="ctr"/>
          <a:lstStyle/>
          <a:p>
            <a:pPr algn="r" indent="0" marL="0">
              <a:buNone/>
            </a:pPr>
            <a:r>
              <a:rPr lang="en-US" sz="850" dirty="0">
                <a:solidFill>
                  <a:srgbClr val="C0392B"/>
                </a:solidFill>
                <a:latin typeface="Arial" pitchFamily="34" charset="0"/>
                <a:ea typeface="Arial" pitchFamily="34" charset="-122"/>
                <a:cs typeface="Arial" pitchFamily="34" charset="-120"/>
              </a:rPr>
              <a:t>▲255.1</a:t>
            </a:r>
            <a:endParaRPr lang="en-US" sz="850" dirty="0"/>
          </a:p>
        </p:txBody>
      </p:sp>
      <p:sp>
        <p:nvSpPr>
          <p:cNvPr id="125" name="Text 123"/>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期首現預金30百万円（2026/09末にみずほ銀行へ200百万円返済後）。長期借入223.6百万円を7年均等返済と仮定。</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財務基盤 － 簿価より実態が厚い</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ワイン現物という換価可能な資産があり、実態純資産は簿価を上回ります。（単位：円）</a:t>
            </a:r>
            <a:endParaRPr lang="en-US" sz="1250" dirty="0"/>
          </a:p>
        </p:txBody>
      </p:sp>
      <p:sp>
        <p:nvSpPr>
          <p:cNvPr id="4" name="Shape 2"/>
          <p:cNvSpPr/>
          <p:nvPr/>
        </p:nvSpPr>
        <p:spPr>
          <a:xfrm>
            <a:off x="594360" y="1572768"/>
            <a:ext cx="6400800" cy="621792"/>
          </a:xfrm>
          <a:prstGeom prst="rect">
            <a:avLst/>
          </a:prstGeom>
          <a:solidFill>
            <a:srgbClr val="FFFFFF"/>
          </a:solidFill>
          <a:ln w="6350">
            <a:solidFill>
              <a:srgbClr val="DED5CE"/>
            </a:solidFill>
            <a:prstDash val="solid"/>
          </a:ln>
        </p:spPr>
      </p:sp>
      <p:sp>
        <p:nvSpPr>
          <p:cNvPr id="5" name="Text 3"/>
          <p:cNvSpPr/>
          <p:nvPr/>
        </p:nvSpPr>
        <p:spPr>
          <a:xfrm>
            <a:off x="822960" y="1572768"/>
            <a:ext cx="3931920" cy="621792"/>
          </a:xfrm>
          <a:prstGeom prst="rect">
            <a:avLst/>
          </a:prstGeom>
          <a:noFill/>
          <a:ln/>
        </p:spPr>
        <p:txBody>
          <a:bodyPr wrap="square" lIns="0" tIns="0" rIns="0" bIns="0" rtlCol="0" anchor="ctr"/>
          <a:lstStyle/>
          <a:p>
            <a:pPr indent="0" marL="0">
              <a:buNone/>
            </a:pPr>
            <a:r>
              <a:rPr lang="en-US" sz="1150" dirty="0">
                <a:solidFill>
                  <a:srgbClr val="2B2B2B"/>
                </a:solidFill>
                <a:latin typeface="Arial" pitchFamily="34" charset="0"/>
                <a:ea typeface="Arial" pitchFamily="34" charset="-122"/>
                <a:cs typeface="Arial" pitchFamily="34" charset="-120"/>
              </a:rPr>
              <a:t>簿価純資産（2025/9末）</a:t>
            </a:r>
            <a:endParaRPr lang="en-US" sz="1150" dirty="0"/>
          </a:p>
        </p:txBody>
      </p:sp>
      <p:sp>
        <p:nvSpPr>
          <p:cNvPr id="6" name="Text 4"/>
          <p:cNvSpPr/>
          <p:nvPr/>
        </p:nvSpPr>
        <p:spPr>
          <a:xfrm>
            <a:off x="4754880" y="1572768"/>
            <a:ext cx="2011680" cy="621792"/>
          </a:xfrm>
          <a:prstGeom prst="rect">
            <a:avLst/>
          </a:prstGeom>
          <a:noFill/>
          <a:ln/>
        </p:spPr>
        <p:txBody>
          <a:bodyPr wrap="square" lIns="0" tIns="0" rIns="0" bIns="0" rtlCol="0" anchor="ctr"/>
          <a:lstStyle/>
          <a:p>
            <a:pPr algn="r" indent="0" marL="0">
              <a:buNone/>
            </a:pPr>
            <a:r>
              <a:rPr lang="en-US" sz="1300" b="1" dirty="0">
                <a:solidFill>
                  <a:srgbClr val="2B2B2B"/>
                </a:solidFill>
                <a:latin typeface="Arial" pitchFamily="34" charset="0"/>
                <a:ea typeface="Arial" pitchFamily="34" charset="-122"/>
                <a:cs typeface="Arial" pitchFamily="34" charset="-120"/>
              </a:rPr>
              <a:t>211,755,689</a:t>
            </a:r>
            <a:endParaRPr lang="en-US" sz="1300" dirty="0"/>
          </a:p>
        </p:txBody>
      </p:sp>
      <p:sp>
        <p:nvSpPr>
          <p:cNvPr id="7" name="Shape 5"/>
          <p:cNvSpPr/>
          <p:nvPr/>
        </p:nvSpPr>
        <p:spPr>
          <a:xfrm>
            <a:off x="594360" y="2304288"/>
            <a:ext cx="6400800" cy="621792"/>
          </a:xfrm>
          <a:prstGeom prst="rect">
            <a:avLst/>
          </a:prstGeom>
          <a:solidFill>
            <a:srgbClr val="FBF9F7"/>
          </a:solidFill>
          <a:ln w="6350">
            <a:solidFill>
              <a:srgbClr val="DED5CE"/>
            </a:solidFill>
            <a:prstDash val="solid"/>
          </a:ln>
        </p:spPr>
      </p:sp>
      <p:sp>
        <p:nvSpPr>
          <p:cNvPr id="8" name="Text 6"/>
          <p:cNvSpPr/>
          <p:nvPr/>
        </p:nvSpPr>
        <p:spPr>
          <a:xfrm>
            <a:off x="822960" y="2304288"/>
            <a:ext cx="3931920" cy="621792"/>
          </a:xfrm>
          <a:prstGeom prst="rect">
            <a:avLst/>
          </a:prstGeom>
          <a:noFill/>
          <a:ln/>
        </p:spPr>
        <p:txBody>
          <a:bodyPr wrap="square" lIns="0" tIns="0" rIns="0" bIns="0" rtlCol="0" anchor="ctr"/>
          <a:lstStyle/>
          <a:p>
            <a:pPr indent="0" marL="0">
              <a:buNone/>
            </a:pPr>
            <a:r>
              <a:rPr lang="en-US" sz="1150" dirty="0">
                <a:solidFill>
                  <a:srgbClr val="2B2B2B"/>
                </a:solidFill>
                <a:latin typeface="Arial" pitchFamily="34" charset="0"/>
                <a:ea typeface="Arial" pitchFamily="34" charset="-122"/>
                <a:cs typeface="Arial" pitchFamily="34" charset="-120"/>
              </a:rPr>
              <a:t>▲ ソフトウェア（換価性を保守評価）</a:t>
            </a:r>
            <a:endParaRPr lang="en-US" sz="1150" dirty="0"/>
          </a:p>
        </p:txBody>
      </p:sp>
      <p:sp>
        <p:nvSpPr>
          <p:cNvPr id="9" name="Text 7"/>
          <p:cNvSpPr/>
          <p:nvPr/>
        </p:nvSpPr>
        <p:spPr>
          <a:xfrm>
            <a:off x="4754880" y="2304288"/>
            <a:ext cx="2011680" cy="621792"/>
          </a:xfrm>
          <a:prstGeom prst="rect">
            <a:avLst/>
          </a:prstGeom>
          <a:noFill/>
          <a:ln/>
        </p:spPr>
        <p:txBody>
          <a:bodyPr wrap="square" lIns="0" tIns="0" rIns="0" bIns="0" rtlCol="0" anchor="ctr"/>
          <a:lstStyle/>
          <a:p>
            <a:pPr algn="r" indent="0" marL="0">
              <a:buNone/>
            </a:pPr>
            <a:r>
              <a:rPr lang="en-US" sz="1300" b="1" dirty="0">
                <a:solidFill>
                  <a:srgbClr val="A26769"/>
                </a:solidFill>
                <a:latin typeface="Arial" pitchFamily="34" charset="0"/>
                <a:ea typeface="Arial" pitchFamily="34" charset="-122"/>
                <a:cs typeface="Arial" pitchFamily="34" charset="-120"/>
              </a:rPr>
              <a:t>▲129,822,924</a:t>
            </a:r>
            <a:endParaRPr lang="en-US" sz="1300" dirty="0"/>
          </a:p>
        </p:txBody>
      </p:sp>
      <p:sp>
        <p:nvSpPr>
          <p:cNvPr id="10" name="Shape 8"/>
          <p:cNvSpPr/>
          <p:nvPr/>
        </p:nvSpPr>
        <p:spPr>
          <a:xfrm>
            <a:off x="594360" y="3035808"/>
            <a:ext cx="6400800" cy="621792"/>
          </a:xfrm>
          <a:prstGeom prst="rect">
            <a:avLst/>
          </a:prstGeom>
          <a:solidFill>
            <a:srgbClr val="FFFFFF"/>
          </a:solidFill>
          <a:ln w="6350">
            <a:solidFill>
              <a:srgbClr val="DED5CE"/>
            </a:solidFill>
            <a:prstDash val="solid"/>
          </a:ln>
        </p:spPr>
      </p:sp>
      <p:sp>
        <p:nvSpPr>
          <p:cNvPr id="11" name="Text 9"/>
          <p:cNvSpPr/>
          <p:nvPr/>
        </p:nvSpPr>
        <p:spPr>
          <a:xfrm>
            <a:off x="822960" y="3035808"/>
            <a:ext cx="3931920" cy="621792"/>
          </a:xfrm>
          <a:prstGeom prst="rect">
            <a:avLst/>
          </a:prstGeom>
          <a:noFill/>
          <a:ln/>
        </p:spPr>
        <p:txBody>
          <a:bodyPr wrap="square" lIns="0" tIns="0" rIns="0" bIns="0" rtlCol="0" anchor="ctr"/>
          <a:lstStyle/>
          <a:p>
            <a:pPr indent="0" marL="0">
              <a:buNone/>
            </a:pPr>
            <a:r>
              <a:rPr lang="en-US" sz="1150" dirty="0">
                <a:solidFill>
                  <a:srgbClr val="2B2B2B"/>
                </a:solidFill>
                <a:latin typeface="Arial" pitchFamily="34" charset="0"/>
                <a:ea typeface="Arial" pitchFamily="34" charset="-122"/>
                <a:cs typeface="Arial" pitchFamily="34" charset="-120"/>
              </a:rPr>
              <a:t>＋ 商品の含み益（時価1.37倍）</a:t>
            </a:r>
            <a:endParaRPr lang="en-US" sz="1150" dirty="0"/>
          </a:p>
        </p:txBody>
      </p:sp>
      <p:sp>
        <p:nvSpPr>
          <p:cNvPr id="12" name="Text 10"/>
          <p:cNvSpPr/>
          <p:nvPr/>
        </p:nvSpPr>
        <p:spPr>
          <a:xfrm>
            <a:off x="4754880" y="3035808"/>
            <a:ext cx="2011680" cy="621792"/>
          </a:xfrm>
          <a:prstGeom prst="rect">
            <a:avLst/>
          </a:prstGeom>
          <a:noFill/>
          <a:ln/>
        </p:spPr>
        <p:txBody>
          <a:bodyPr wrap="square" lIns="0" tIns="0" rIns="0" bIns="0" rtlCol="0" anchor="ctr"/>
          <a:lstStyle/>
          <a:p>
            <a:pPr algn="r" indent="0" marL="0">
              <a:buNone/>
            </a:pPr>
            <a:r>
              <a:rPr lang="en-US" sz="1300" b="1" dirty="0">
                <a:solidFill>
                  <a:srgbClr val="6D2E46"/>
                </a:solidFill>
                <a:latin typeface="Arial" pitchFamily="34" charset="0"/>
                <a:ea typeface="Arial" pitchFamily="34" charset="-122"/>
                <a:cs typeface="Arial" pitchFamily="34" charset="-120"/>
              </a:rPr>
              <a:t>186,716,373</a:t>
            </a:r>
            <a:endParaRPr lang="en-US" sz="1300" dirty="0"/>
          </a:p>
        </p:txBody>
      </p:sp>
      <p:sp>
        <p:nvSpPr>
          <p:cNvPr id="13" name="Shape 11"/>
          <p:cNvSpPr/>
          <p:nvPr/>
        </p:nvSpPr>
        <p:spPr>
          <a:xfrm>
            <a:off x="594360" y="3767328"/>
            <a:ext cx="6400800" cy="731520"/>
          </a:xfrm>
          <a:prstGeom prst="rect">
            <a:avLst/>
          </a:prstGeom>
          <a:solidFill>
            <a:srgbClr val="6D2E46"/>
          </a:solidFill>
          <a:ln/>
        </p:spPr>
      </p:sp>
      <p:sp>
        <p:nvSpPr>
          <p:cNvPr id="14" name="Text 12"/>
          <p:cNvSpPr/>
          <p:nvPr/>
        </p:nvSpPr>
        <p:spPr>
          <a:xfrm>
            <a:off x="822960" y="3767328"/>
            <a:ext cx="3931920" cy="73152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実態純資産</a:t>
            </a:r>
            <a:endParaRPr lang="en-US" sz="1300" dirty="0"/>
          </a:p>
        </p:txBody>
      </p:sp>
      <p:sp>
        <p:nvSpPr>
          <p:cNvPr id="15" name="Text 13"/>
          <p:cNvSpPr/>
          <p:nvPr/>
        </p:nvSpPr>
        <p:spPr>
          <a:xfrm>
            <a:off x="4754880" y="3767328"/>
            <a:ext cx="2011680" cy="731520"/>
          </a:xfrm>
          <a:prstGeom prst="rect">
            <a:avLst/>
          </a:prstGeom>
          <a:noFill/>
          <a:ln/>
        </p:spPr>
        <p:txBody>
          <a:bodyPr wrap="square" lIns="0" tIns="0" rIns="0" bIns="0" rtlCol="0" anchor="ctr"/>
          <a:lstStyle/>
          <a:p>
            <a:pPr algn="r" indent="0" marL="0">
              <a:buNone/>
            </a:pPr>
            <a:r>
              <a:rPr lang="en-US" sz="1700" b="1" dirty="0">
                <a:solidFill>
                  <a:srgbClr val="FFFFFF"/>
                </a:solidFill>
                <a:latin typeface="Cambria" pitchFamily="34" charset="0"/>
                <a:ea typeface="Cambria" pitchFamily="34" charset="-122"/>
                <a:cs typeface="Cambria" pitchFamily="34" charset="-120"/>
              </a:rPr>
              <a:t>268,649,138</a:t>
            </a:r>
            <a:endParaRPr lang="en-US" sz="1700" dirty="0"/>
          </a:p>
        </p:txBody>
      </p:sp>
      <p:sp>
        <p:nvSpPr>
          <p:cNvPr id="16" name="Text 14"/>
          <p:cNvSpPr/>
          <p:nvPr/>
        </p:nvSpPr>
        <p:spPr>
          <a:xfrm>
            <a:off x="822960" y="4608576"/>
            <a:ext cx="5943600" cy="274320"/>
          </a:xfrm>
          <a:prstGeom prst="rect">
            <a:avLst/>
          </a:prstGeom>
          <a:noFill/>
          <a:ln/>
        </p:spPr>
        <p:txBody>
          <a:bodyPr wrap="square" lIns="0" tIns="0" rIns="0" bIns="0" rtlCol="0" anchor="ctr"/>
          <a:lstStyle/>
          <a:p>
            <a:pPr indent="0" marL="0">
              <a:buNone/>
            </a:pPr>
            <a:r>
              <a:rPr lang="en-US" sz="1050" dirty="0">
                <a:solidFill>
                  <a:srgbClr val="7A6A64"/>
                </a:solidFill>
                <a:latin typeface="Arial" pitchFamily="34" charset="0"/>
                <a:ea typeface="Arial" pitchFamily="34" charset="-122"/>
                <a:cs typeface="Arial" pitchFamily="34" charset="-120"/>
              </a:rPr>
              <a:t>簿価純資産を＋56.9百万円上回る</a:t>
            </a:r>
            <a:endParaRPr lang="en-US" sz="1050" dirty="0"/>
          </a:p>
        </p:txBody>
      </p:sp>
      <p:sp>
        <p:nvSpPr>
          <p:cNvPr id="17" name="Shape 15"/>
          <p:cNvSpPr/>
          <p:nvPr/>
        </p:nvSpPr>
        <p:spPr>
          <a:xfrm>
            <a:off x="7269480" y="1572768"/>
            <a:ext cx="4297680" cy="1325880"/>
          </a:xfrm>
          <a:prstGeom prst="roundRect">
            <a:avLst>
              <a:gd name="adj" fmla="val 4138"/>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8" name="Text 16"/>
          <p:cNvSpPr/>
          <p:nvPr/>
        </p:nvSpPr>
        <p:spPr>
          <a:xfrm>
            <a:off x="7498080" y="1700784"/>
            <a:ext cx="2011680" cy="274320"/>
          </a:xfrm>
          <a:prstGeom prst="rect">
            <a:avLst/>
          </a:prstGeom>
          <a:noFill/>
          <a:ln/>
        </p:spPr>
        <p:txBody>
          <a:bodyPr wrap="square" lIns="0" tIns="0" rIns="0" bIns="0" rtlCol="0" anchor="ctr"/>
          <a:lstStyle/>
          <a:p>
            <a:pPr indent="0" marL="0">
              <a:buNone/>
            </a:pPr>
            <a:r>
              <a:rPr lang="en-US" sz="1050" dirty="0">
                <a:solidFill>
                  <a:srgbClr val="7A6A64"/>
                </a:solidFill>
                <a:latin typeface="Arial" pitchFamily="34" charset="0"/>
                <a:ea typeface="Arial" pitchFamily="34" charset="-122"/>
                <a:cs typeface="Arial" pitchFamily="34" charset="-120"/>
              </a:rPr>
              <a:t>繰越欠損金</a:t>
            </a:r>
            <a:endParaRPr lang="en-US" sz="1050" dirty="0"/>
          </a:p>
        </p:txBody>
      </p:sp>
      <p:sp>
        <p:nvSpPr>
          <p:cNvPr id="19" name="Text 17"/>
          <p:cNvSpPr/>
          <p:nvPr/>
        </p:nvSpPr>
        <p:spPr>
          <a:xfrm>
            <a:off x="7498080" y="1938528"/>
            <a:ext cx="3840480" cy="384048"/>
          </a:xfrm>
          <a:prstGeom prst="rect">
            <a:avLst/>
          </a:prstGeom>
          <a:noFill/>
          <a:ln/>
        </p:spPr>
        <p:txBody>
          <a:bodyPr wrap="square" lIns="0" tIns="0" rIns="0" bIns="0" rtlCol="0" anchor="ctr"/>
          <a:lstStyle/>
          <a:p>
            <a:pPr indent="0" marL="0">
              <a:buNone/>
            </a:pPr>
            <a:r>
              <a:rPr lang="en-US" sz="2000" b="1" dirty="0">
                <a:solidFill>
                  <a:srgbClr val="6D2E46"/>
                </a:solidFill>
                <a:latin typeface="Cambria" pitchFamily="34" charset="0"/>
                <a:ea typeface="Cambria" pitchFamily="34" charset="-122"/>
                <a:cs typeface="Cambria" pitchFamily="34" charset="-120"/>
              </a:rPr>
              <a:t>約252百万円</a:t>
            </a:r>
            <a:endParaRPr lang="en-US" sz="2000" dirty="0"/>
          </a:p>
        </p:txBody>
      </p:sp>
      <p:sp>
        <p:nvSpPr>
          <p:cNvPr id="20" name="Text 18"/>
          <p:cNvSpPr/>
          <p:nvPr/>
        </p:nvSpPr>
        <p:spPr>
          <a:xfrm>
            <a:off x="7498080" y="2350008"/>
            <a:ext cx="3840480" cy="475488"/>
          </a:xfrm>
          <a:prstGeom prst="rect">
            <a:avLst/>
          </a:prstGeom>
          <a:noFill/>
          <a:ln/>
        </p:spPr>
        <p:txBody>
          <a:bodyPr wrap="square" lIns="0" tIns="0" rIns="0" bIns="0" rtlCol="0" anchor="ctr"/>
          <a:lstStyle/>
          <a:p>
            <a:pPr indent="0" marL="0">
              <a:buNone/>
            </a:pPr>
            <a:r>
              <a:rPr lang="en-US" sz="950" dirty="0">
                <a:solidFill>
                  <a:srgbClr val="2B2B2B"/>
                </a:solidFill>
                <a:latin typeface="Arial" pitchFamily="34" charset="0"/>
                <a:ea typeface="Arial" pitchFamily="34" charset="-122"/>
                <a:cs typeface="Arial" pitchFamily="34" charset="-120"/>
              </a:rPr>
              <a:t>FY2025 ▲127.4 ＋ FY2026 ▲124.8。資本金1,000万円の中小法人は所得の100%控除が可能。FY2027の黒字に法人税は実質発生せず、税引前＝税引後でキャッシュに残ります。</a:t>
            </a:r>
            <a:endParaRPr lang="en-US" sz="950" dirty="0"/>
          </a:p>
        </p:txBody>
      </p:sp>
      <p:sp>
        <p:nvSpPr>
          <p:cNvPr id="21" name="Shape 19"/>
          <p:cNvSpPr/>
          <p:nvPr/>
        </p:nvSpPr>
        <p:spPr>
          <a:xfrm>
            <a:off x="7269480" y="3054096"/>
            <a:ext cx="4297680" cy="1325880"/>
          </a:xfrm>
          <a:prstGeom prst="roundRect">
            <a:avLst>
              <a:gd name="adj" fmla="val 4138"/>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2" name="Text 20"/>
          <p:cNvSpPr/>
          <p:nvPr/>
        </p:nvSpPr>
        <p:spPr>
          <a:xfrm>
            <a:off x="7498080" y="3182112"/>
            <a:ext cx="2011680" cy="274320"/>
          </a:xfrm>
          <a:prstGeom prst="rect">
            <a:avLst/>
          </a:prstGeom>
          <a:noFill/>
          <a:ln/>
        </p:spPr>
        <p:txBody>
          <a:bodyPr wrap="square" lIns="0" tIns="0" rIns="0" bIns="0" rtlCol="0" anchor="ctr"/>
          <a:lstStyle/>
          <a:p>
            <a:pPr indent="0" marL="0">
              <a:buNone/>
            </a:pPr>
            <a:r>
              <a:rPr lang="en-US" sz="1050" dirty="0">
                <a:solidFill>
                  <a:srgbClr val="7A6A64"/>
                </a:solidFill>
                <a:latin typeface="Arial" pitchFamily="34" charset="0"/>
                <a:ea typeface="Arial" pitchFamily="34" charset="-122"/>
                <a:cs typeface="Arial" pitchFamily="34" charset="-120"/>
              </a:rPr>
              <a:t>有利子負債</a:t>
            </a:r>
            <a:endParaRPr lang="en-US" sz="1050" dirty="0"/>
          </a:p>
        </p:txBody>
      </p:sp>
      <p:sp>
        <p:nvSpPr>
          <p:cNvPr id="23" name="Text 21"/>
          <p:cNvSpPr/>
          <p:nvPr/>
        </p:nvSpPr>
        <p:spPr>
          <a:xfrm>
            <a:off x="7498080" y="3419856"/>
            <a:ext cx="3840480" cy="384048"/>
          </a:xfrm>
          <a:prstGeom prst="rect">
            <a:avLst/>
          </a:prstGeom>
          <a:noFill/>
          <a:ln/>
        </p:spPr>
        <p:txBody>
          <a:bodyPr wrap="square" lIns="0" tIns="0" rIns="0" bIns="0" rtlCol="0" anchor="ctr"/>
          <a:lstStyle/>
          <a:p>
            <a:pPr indent="0" marL="0">
              <a:buNone/>
            </a:pPr>
            <a:r>
              <a:rPr lang="en-US" sz="2000" b="1" dirty="0">
                <a:solidFill>
                  <a:srgbClr val="6D2E46"/>
                </a:solidFill>
                <a:latin typeface="Cambria" pitchFamily="34" charset="0"/>
                <a:ea typeface="Cambria" pitchFamily="34" charset="-122"/>
                <a:cs typeface="Cambria" pitchFamily="34" charset="-120"/>
              </a:rPr>
              <a:t>386百万円</a:t>
            </a:r>
            <a:endParaRPr lang="en-US" sz="2000" dirty="0"/>
          </a:p>
        </p:txBody>
      </p:sp>
      <p:sp>
        <p:nvSpPr>
          <p:cNvPr id="24" name="Text 22"/>
          <p:cNvSpPr/>
          <p:nvPr/>
        </p:nvSpPr>
        <p:spPr>
          <a:xfrm>
            <a:off x="7498080" y="3831336"/>
            <a:ext cx="3840480" cy="475488"/>
          </a:xfrm>
          <a:prstGeom prst="rect">
            <a:avLst/>
          </a:prstGeom>
          <a:noFill/>
          <a:ln/>
        </p:spPr>
        <p:txBody>
          <a:bodyPr wrap="square" lIns="0" tIns="0" rIns="0" bIns="0" rtlCol="0" anchor="ctr"/>
          <a:lstStyle/>
          <a:p>
            <a:pPr indent="0" marL="0">
              <a:buNone/>
            </a:pPr>
            <a:r>
              <a:rPr lang="en-US" sz="950" dirty="0">
                <a:solidFill>
                  <a:srgbClr val="2B2B2B"/>
                </a:solidFill>
                <a:latin typeface="Arial" pitchFamily="34" charset="0"/>
                <a:ea typeface="Arial" pitchFamily="34" charset="-122"/>
                <a:cs typeface="Arial" pitchFamily="34" charset="-120"/>
              </a:rPr>
              <a:t>2025/9末586百万円から、2026/09末のみずほ銀行200百万円返済で減少。</a:t>
            </a:r>
            <a:endParaRPr lang="en-US" sz="950" dirty="0"/>
          </a:p>
        </p:txBody>
      </p:sp>
      <p:sp>
        <p:nvSpPr>
          <p:cNvPr id="25" name="Shape 23"/>
          <p:cNvSpPr/>
          <p:nvPr/>
        </p:nvSpPr>
        <p:spPr>
          <a:xfrm>
            <a:off x="7269480" y="4535424"/>
            <a:ext cx="4297680" cy="1325880"/>
          </a:xfrm>
          <a:prstGeom prst="roundRect">
            <a:avLst>
              <a:gd name="adj" fmla="val 4138"/>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6" name="Text 24"/>
          <p:cNvSpPr/>
          <p:nvPr/>
        </p:nvSpPr>
        <p:spPr>
          <a:xfrm>
            <a:off x="7498080" y="4663440"/>
            <a:ext cx="2011680" cy="274320"/>
          </a:xfrm>
          <a:prstGeom prst="rect">
            <a:avLst/>
          </a:prstGeom>
          <a:noFill/>
          <a:ln/>
        </p:spPr>
        <p:txBody>
          <a:bodyPr wrap="square" lIns="0" tIns="0" rIns="0" bIns="0" rtlCol="0" anchor="ctr"/>
          <a:lstStyle/>
          <a:p>
            <a:pPr indent="0" marL="0">
              <a:buNone/>
            </a:pPr>
            <a:r>
              <a:rPr lang="en-US" sz="1050" dirty="0">
                <a:solidFill>
                  <a:srgbClr val="7A6A64"/>
                </a:solidFill>
                <a:latin typeface="Arial" pitchFamily="34" charset="0"/>
                <a:ea typeface="Arial" pitchFamily="34" charset="-122"/>
                <a:cs typeface="Arial" pitchFamily="34" charset="-120"/>
              </a:rPr>
              <a:t>期首 現預金</a:t>
            </a:r>
            <a:endParaRPr lang="en-US" sz="1050" dirty="0"/>
          </a:p>
        </p:txBody>
      </p:sp>
      <p:sp>
        <p:nvSpPr>
          <p:cNvPr id="27" name="Text 25"/>
          <p:cNvSpPr/>
          <p:nvPr/>
        </p:nvSpPr>
        <p:spPr>
          <a:xfrm>
            <a:off x="7498080" y="4901184"/>
            <a:ext cx="3840480" cy="384048"/>
          </a:xfrm>
          <a:prstGeom prst="rect">
            <a:avLst/>
          </a:prstGeom>
          <a:noFill/>
          <a:ln/>
        </p:spPr>
        <p:txBody>
          <a:bodyPr wrap="square" lIns="0" tIns="0" rIns="0" bIns="0" rtlCol="0" anchor="ctr"/>
          <a:lstStyle/>
          <a:p>
            <a:pPr indent="0" marL="0">
              <a:buNone/>
            </a:pPr>
            <a:r>
              <a:rPr lang="en-US" sz="2000" b="1" dirty="0">
                <a:solidFill>
                  <a:srgbClr val="6D2E46"/>
                </a:solidFill>
                <a:latin typeface="Cambria" pitchFamily="34" charset="0"/>
                <a:ea typeface="Cambria" pitchFamily="34" charset="-122"/>
                <a:cs typeface="Cambria" pitchFamily="34" charset="-120"/>
              </a:rPr>
              <a:t>30百万円</a:t>
            </a:r>
            <a:endParaRPr lang="en-US" sz="2000" dirty="0"/>
          </a:p>
        </p:txBody>
      </p:sp>
      <p:sp>
        <p:nvSpPr>
          <p:cNvPr id="28" name="Text 26"/>
          <p:cNvSpPr/>
          <p:nvPr/>
        </p:nvSpPr>
        <p:spPr>
          <a:xfrm>
            <a:off x="7498080" y="5312664"/>
            <a:ext cx="3840480" cy="475488"/>
          </a:xfrm>
          <a:prstGeom prst="rect">
            <a:avLst/>
          </a:prstGeom>
          <a:noFill/>
          <a:ln/>
        </p:spPr>
        <p:txBody>
          <a:bodyPr wrap="square" lIns="0" tIns="0" rIns="0" bIns="0" rtlCol="0" anchor="ctr"/>
          <a:lstStyle/>
          <a:p>
            <a:pPr indent="0" marL="0">
              <a:buNone/>
            </a:pPr>
            <a:r>
              <a:rPr lang="en-US" sz="950" dirty="0">
                <a:solidFill>
                  <a:srgbClr val="2B2B2B"/>
                </a:solidFill>
                <a:latin typeface="Arial" pitchFamily="34" charset="0"/>
                <a:ea typeface="Arial" pitchFamily="34" charset="-122"/>
                <a:cs typeface="Arial" pitchFamily="34" charset="-120"/>
              </a:rPr>
              <a:t>2026/09末時点。手元流動性は薄く、月次資金繰り表を別途ご提出します。</a:t>
            </a:r>
            <a:endParaRPr lang="en-US" sz="950" dirty="0"/>
          </a:p>
        </p:txBody>
      </p:sp>
      <p:sp>
        <p:nvSpPr>
          <p:cNvPr id="29" name="Text 27"/>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出典：決算報告書 第54期（2025年9月30日現在）。商品の時価倍率1.37は事業計画202608（銀行様）の自社販売在庫 簿価/時価比率による。</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想定されるご指摘と当社の対応</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先に論点を開示し、対応方針をあわせてご説明します。</a:t>
            </a:r>
            <a:endParaRPr lang="en-US" sz="1250" dirty="0"/>
          </a:p>
        </p:txBody>
      </p:sp>
      <p:sp>
        <p:nvSpPr>
          <p:cNvPr id="4" name="Shape 2"/>
          <p:cNvSpPr/>
          <p:nvPr/>
        </p:nvSpPr>
        <p:spPr>
          <a:xfrm>
            <a:off x="594360" y="1481328"/>
            <a:ext cx="5486400" cy="2029968"/>
          </a:xfrm>
          <a:prstGeom prst="roundRect">
            <a:avLst>
              <a:gd name="adj" fmla="val 2703"/>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5" name="Shape 3"/>
          <p:cNvSpPr/>
          <p:nvPr/>
        </p:nvSpPr>
        <p:spPr>
          <a:xfrm>
            <a:off x="868680" y="1719072"/>
            <a:ext cx="310896" cy="310896"/>
          </a:xfrm>
          <a:prstGeom prst="ellipse">
            <a:avLst/>
          </a:prstGeom>
          <a:solidFill>
            <a:srgbClr val="6D2E46"/>
          </a:solidFill>
          <a:ln/>
        </p:spPr>
      </p:sp>
      <p:sp>
        <p:nvSpPr>
          <p:cNvPr id="6" name="Text 4"/>
          <p:cNvSpPr/>
          <p:nvPr/>
        </p:nvSpPr>
        <p:spPr>
          <a:xfrm>
            <a:off x="868680"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307592" y="1700784"/>
            <a:ext cx="4480560" cy="329184"/>
          </a:xfrm>
          <a:prstGeom prst="rect">
            <a:avLst/>
          </a:prstGeom>
          <a:noFill/>
          <a:ln/>
        </p:spPr>
        <p:txBody>
          <a:bodyPr wrap="square" lIns="0" tIns="0" rIns="0" bIns="0" rtlCol="0" anchor="ctr"/>
          <a:lstStyle/>
          <a:p>
            <a:pPr indent="0" marL="0">
              <a:buNone/>
            </a:pPr>
            <a:r>
              <a:rPr lang="en-US" sz="1350" b="1" dirty="0">
                <a:solidFill>
                  <a:srgbClr val="6D2E46"/>
                </a:solidFill>
                <a:latin typeface="Arial" pitchFamily="34" charset="0"/>
                <a:ea typeface="Arial" pitchFamily="34" charset="-122"/>
                <a:cs typeface="Arial" pitchFamily="34" charset="-120"/>
              </a:rPr>
              <a:t>グループ内取引 100百万円</a:t>
            </a:r>
            <a:endParaRPr lang="en-US" sz="1350" dirty="0"/>
          </a:p>
        </p:txBody>
      </p:sp>
      <p:sp>
        <p:nvSpPr>
          <p:cNvPr id="8" name="Text 6"/>
          <p:cNvSpPr/>
          <p:nvPr/>
        </p:nvSpPr>
        <p:spPr>
          <a:xfrm>
            <a:off x="886968" y="2121408"/>
            <a:ext cx="4937760" cy="548640"/>
          </a:xfrm>
          <a:prstGeom prst="rect">
            <a:avLst/>
          </a:prstGeom>
          <a:noFill/>
          <a:ln/>
        </p:spPr>
        <p:txBody>
          <a:bodyPr wrap="square" lIns="0" tIns="0" rIns="0" bIns="0" rtlCol="0" anchor="ctr"/>
          <a:lstStyle/>
          <a:p>
            <a:pPr indent="0" marL="0">
              <a:buNone/>
            </a:pPr>
            <a:r>
              <a:rPr lang="en-US" sz="1050" dirty="0">
                <a:solidFill>
                  <a:srgbClr val="7A6A64"/>
                </a:solidFill>
                <a:latin typeface="Arial" pitchFamily="34" charset="0"/>
                <a:ea typeface="Arial" pitchFamily="34" charset="-122"/>
                <a:cs typeface="Arial" pitchFamily="34" charset="-120"/>
              </a:rPr>
              <a:t>上乗せ案件132.5百万円のうち約100百万円はグループ会社からの経営指導料。</a:t>
            </a:r>
            <a:endParaRPr lang="en-US" sz="1050" dirty="0"/>
          </a:p>
        </p:txBody>
      </p:sp>
      <p:sp>
        <p:nvSpPr>
          <p:cNvPr id="9" name="Shape 7"/>
          <p:cNvSpPr/>
          <p:nvPr/>
        </p:nvSpPr>
        <p:spPr>
          <a:xfrm>
            <a:off x="886968" y="2670048"/>
            <a:ext cx="4937760" cy="694944"/>
          </a:xfrm>
          <a:prstGeom prst="roundRect">
            <a:avLst>
              <a:gd name="adj" fmla="val 6579"/>
            </a:avLst>
          </a:prstGeom>
          <a:solidFill>
            <a:srgbClr val="ECE2D0"/>
          </a:solidFill>
          <a:ln/>
        </p:spPr>
      </p:sp>
      <p:sp>
        <p:nvSpPr>
          <p:cNvPr id="10" name="Text 8"/>
          <p:cNvSpPr/>
          <p:nvPr/>
        </p:nvSpPr>
        <p:spPr>
          <a:xfrm>
            <a:off x="1051560" y="2670048"/>
            <a:ext cx="4617720" cy="694944"/>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支払側各社の支払能力と、対価の算定根拠（業務内容・工数）を文書化してご提出します。</a:t>
            </a:r>
            <a:endParaRPr lang="en-US" sz="1050" dirty="0"/>
          </a:p>
        </p:txBody>
      </p:sp>
      <p:sp>
        <p:nvSpPr>
          <p:cNvPr id="11" name="Shape 9"/>
          <p:cNvSpPr/>
          <p:nvPr/>
        </p:nvSpPr>
        <p:spPr>
          <a:xfrm>
            <a:off x="6400800" y="1481328"/>
            <a:ext cx="5486400" cy="2029968"/>
          </a:xfrm>
          <a:prstGeom prst="roundRect">
            <a:avLst>
              <a:gd name="adj" fmla="val 2703"/>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2" name="Shape 10"/>
          <p:cNvSpPr/>
          <p:nvPr/>
        </p:nvSpPr>
        <p:spPr>
          <a:xfrm>
            <a:off x="6675120" y="1719072"/>
            <a:ext cx="310896" cy="310896"/>
          </a:xfrm>
          <a:prstGeom prst="ellipse">
            <a:avLst/>
          </a:prstGeom>
          <a:solidFill>
            <a:srgbClr val="6D2E46"/>
          </a:solidFill>
          <a:ln/>
        </p:spPr>
      </p:sp>
      <p:sp>
        <p:nvSpPr>
          <p:cNvPr id="13" name="Text 11"/>
          <p:cNvSpPr/>
          <p:nvPr/>
        </p:nvSpPr>
        <p:spPr>
          <a:xfrm>
            <a:off x="6675120"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7114032" y="1700784"/>
            <a:ext cx="4480560" cy="329184"/>
          </a:xfrm>
          <a:prstGeom prst="rect">
            <a:avLst/>
          </a:prstGeom>
          <a:noFill/>
          <a:ln/>
        </p:spPr>
        <p:txBody>
          <a:bodyPr wrap="square" lIns="0" tIns="0" rIns="0" bIns="0" rtlCol="0" anchor="ctr"/>
          <a:lstStyle/>
          <a:p>
            <a:pPr indent="0" marL="0">
              <a:buNone/>
            </a:pPr>
            <a:r>
              <a:rPr lang="en-US" sz="1350" b="1" dirty="0">
                <a:solidFill>
                  <a:srgbClr val="6D2E46"/>
                </a:solidFill>
                <a:latin typeface="Arial" pitchFamily="34" charset="0"/>
                <a:ea typeface="Arial" pitchFamily="34" charset="-122"/>
                <a:cs typeface="Arial" pitchFamily="34" charset="-120"/>
              </a:rPr>
              <a:t>在庫積み増し 118百万円</a:t>
            </a:r>
            <a:endParaRPr lang="en-US" sz="1350" dirty="0"/>
          </a:p>
        </p:txBody>
      </p:sp>
      <p:sp>
        <p:nvSpPr>
          <p:cNvPr id="15" name="Text 13"/>
          <p:cNvSpPr/>
          <p:nvPr/>
        </p:nvSpPr>
        <p:spPr>
          <a:xfrm>
            <a:off x="6693408" y="2121408"/>
            <a:ext cx="4937760" cy="548640"/>
          </a:xfrm>
          <a:prstGeom prst="rect">
            <a:avLst/>
          </a:prstGeom>
          <a:noFill/>
          <a:ln/>
        </p:spPr>
        <p:txBody>
          <a:bodyPr wrap="square" lIns="0" tIns="0" rIns="0" bIns="0" rtlCol="0" anchor="ctr"/>
          <a:lstStyle/>
          <a:p>
            <a:pPr indent="0" marL="0">
              <a:buNone/>
            </a:pPr>
            <a:r>
              <a:rPr lang="en-US" sz="1050" dirty="0">
                <a:solidFill>
                  <a:srgbClr val="7A6A64"/>
                </a:solidFill>
                <a:latin typeface="Arial" pitchFamily="34" charset="0"/>
                <a:ea typeface="Arial" pitchFamily="34" charset="-122"/>
                <a:cs typeface="Arial" pitchFamily="34" charset="-120"/>
              </a:rPr>
              <a:t>仕入を維持するため、在庫が420→538百万円に増加します。</a:t>
            </a:r>
            <a:endParaRPr lang="en-US" sz="1050" dirty="0"/>
          </a:p>
        </p:txBody>
      </p:sp>
      <p:sp>
        <p:nvSpPr>
          <p:cNvPr id="16" name="Shape 14"/>
          <p:cNvSpPr/>
          <p:nvPr/>
        </p:nvSpPr>
        <p:spPr>
          <a:xfrm>
            <a:off x="6693408" y="2670048"/>
            <a:ext cx="4937760" cy="694944"/>
          </a:xfrm>
          <a:prstGeom prst="roundRect">
            <a:avLst>
              <a:gd name="adj" fmla="val 6579"/>
            </a:avLst>
          </a:prstGeom>
          <a:solidFill>
            <a:srgbClr val="ECE2D0"/>
          </a:solidFill>
          <a:ln/>
        </p:spPr>
      </p:sp>
      <p:sp>
        <p:nvSpPr>
          <p:cNvPr id="17" name="Text 15"/>
          <p:cNvSpPr/>
          <p:nvPr/>
        </p:nvSpPr>
        <p:spPr>
          <a:xfrm>
            <a:off x="6858000" y="2670048"/>
            <a:ext cx="4617720" cy="694944"/>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時価1.37倍の換価可能資産です。在庫見合いの運転資金枠をご相談させてください。</a:t>
            </a:r>
            <a:endParaRPr lang="en-US" sz="1050" dirty="0"/>
          </a:p>
        </p:txBody>
      </p:sp>
      <p:sp>
        <p:nvSpPr>
          <p:cNvPr id="18" name="Shape 16"/>
          <p:cNvSpPr/>
          <p:nvPr/>
        </p:nvSpPr>
        <p:spPr>
          <a:xfrm>
            <a:off x="594360" y="3694176"/>
            <a:ext cx="5486400" cy="2029968"/>
          </a:xfrm>
          <a:prstGeom prst="roundRect">
            <a:avLst>
              <a:gd name="adj" fmla="val 2703"/>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9" name="Shape 17"/>
          <p:cNvSpPr/>
          <p:nvPr/>
        </p:nvSpPr>
        <p:spPr>
          <a:xfrm>
            <a:off x="868680" y="3931920"/>
            <a:ext cx="310896" cy="310896"/>
          </a:xfrm>
          <a:prstGeom prst="ellipse">
            <a:avLst/>
          </a:prstGeom>
          <a:solidFill>
            <a:srgbClr val="6D2E46"/>
          </a:solidFill>
          <a:ln/>
        </p:spPr>
      </p:sp>
      <p:sp>
        <p:nvSpPr>
          <p:cNvPr id="20" name="Text 18"/>
          <p:cNvSpPr/>
          <p:nvPr/>
        </p:nvSpPr>
        <p:spPr>
          <a:xfrm>
            <a:off x="868680" y="39319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1" name="Text 19"/>
          <p:cNvSpPr/>
          <p:nvPr/>
        </p:nvSpPr>
        <p:spPr>
          <a:xfrm>
            <a:off x="1307592" y="3913632"/>
            <a:ext cx="4480560" cy="329184"/>
          </a:xfrm>
          <a:prstGeom prst="rect">
            <a:avLst/>
          </a:prstGeom>
          <a:noFill/>
          <a:ln/>
        </p:spPr>
        <p:txBody>
          <a:bodyPr wrap="square" lIns="0" tIns="0" rIns="0" bIns="0" rtlCol="0" anchor="ctr"/>
          <a:lstStyle/>
          <a:p>
            <a:pPr indent="0" marL="0">
              <a:buNone/>
            </a:pPr>
            <a:r>
              <a:rPr lang="en-US" sz="1350" b="1" dirty="0">
                <a:solidFill>
                  <a:srgbClr val="6D2E46"/>
                </a:solidFill>
                <a:latin typeface="Arial" pitchFamily="34" charset="0"/>
                <a:ea typeface="Arial" pitchFamily="34" charset="-122"/>
                <a:cs typeface="Arial" pitchFamily="34" charset="-120"/>
              </a:rPr>
              <a:t>2026年11月の資金需要</a:t>
            </a:r>
            <a:endParaRPr lang="en-US" sz="1350" dirty="0"/>
          </a:p>
        </p:txBody>
      </p:sp>
      <p:sp>
        <p:nvSpPr>
          <p:cNvPr id="22" name="Text 20"/>
          <p:cNvSpPr/>
          <p:nvPr/>
        </p:nvSpPr>
        <p:spPr>
          <a:xfrm>
            <a:off x="886968" y="4334256"/>
            <a:ext cx="4937760" cy="548640"/>
          </a:xfrm>
          <a:prstGeom prst="rect">
            <a:avLst/>
          </a:prstGeom>
          <a:noFill/>
          <a:ln/>
        </p:spPr>
        <p:txBody>
          <a:bodyPr wrap="square" lIns="0" tIns="0" rIns="0" bIns="0" rtlCol="0" anchor="ctr"/>
          <a:lstStyle/>
          <a:p>
            <a:pPr indent="0" marL="0">
              <a:buNone/>
            </a:pPr>
            <a:r>
              <a:rPr lang="en-US" sz="1050" dirty="0">
                <a:solidFill>
                  <a:srgbClr val="7A6A64"/>
                </a:solidFill>
                <a:latin typeface="Arial" pitchFamily="34" charset="0"/>
                <a:ea typeface="Arial" pitchFamily="34" charset="-122"/>
                <a:cs typeface="Arial" pitchFamily="34" charset="-120"/>
              </a:rPr>
              <a:t>消費税30百万円の納付が、売上回収が進む前の時期に重なります。</a:t>
            </a:r>
            <a:endParaRPr lang="en-US" sz="1050" dirty="0"/>
          </a:p>
        </p:txBody>
      </p:sp>
      <p:sp>
        <p:nvSpPr>
          <p:cNvPr id="23" name="Shape 21"/>
          <p:cNvSpPr/>
          <p:nvPr/>
        </p:nvSpPr>
        <p:spPr>
          <a:xfrm>
            <a:off x="886968" y="4882896"/>
            <a:ext cx="4937760" cy="694944"/>
          </a:xfrm>
          <a:prstGeom prst="roundRect">
            <a:avLst>
              <a:gd name="adj" fmla="val 6579"/>
            </a:avLst>
          </a:prstGeom>
          <a:solidFill>
            <a:srgbClr val="ECE2D0"/>
          </a:solidFill>
          <a:ln/>
        </p:spPr>
      </p:sp>
      <p:sp>
        <p:nvSpPr>
          <p:cNvPr id="24" name="Text 22"/>
          <p:cNvSpPr/>
          <p:nvPr/>
        </p:nvSpPr>
        <p:spPr>
          <a:xfrm>
            <a:off x="1051560" y="4882896"/>
            <a:ext cx="4617720" cy="694944"/>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短期のつなぎ資金でこの一点を越えられれば、通期の資金繰りは成立します。</a:t>
            </a:r>
            <a:endParaRPr lang="en-US" sz="1050" dirty="0"/>
          </a:p>
        </p:txBody>
      </p:sp>
      <p:sp>
        <p:nvSpPr>
          <p:cNvPr id="25" name="Shape 23"/>
          <p:cNvSpPr/>
          <p:nvPr/>
        </p:nvSpPr>
        <p:spPr>
          <a:xfrm>
            <a:off x="6400800" y="3694176"/>
            <a:ext cx="5486400" cy="2029968"/>
          </a:xfrm>
          <a:prstGeom prst="roundRect">
            <a:avLst>
              <a:gd name="adj" fmla="val 2703"/>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6" name="Shape 24"/>
          <p:cNvSpPr/>
          <p:nvPr/>
        </p:nvSpPr>
        <p:spPr>
          <a:xfrm>
            <a:off x="6675120" y="3931920"/>
            <a:ext cx="310896" cy="310896"/>
          </a:xfrm>
          <a:prstGeom prst="ellipse">
            <a:avLst/>
          </a:prstGeom>
          <a:solidFill>
            <a:srgbClr val="6D2E46"/>
          </a:solidFill>
          <a:ln/>
        </p:spPr>
      </p:sp>
      <p:sp>
        <p:nvSpPr>
          <p:cNvPr id="27" name="Text 25"/>
          <p:cNvSpPr/>
          <p:nvPr/>
        </p:nvSpPr>
        <p:spPr>
          <a:xfrm>
            <a:off x="6675120" y="39319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8" name="Text 26"/>
          <p:cNvSpPr/>
          <p:nvPr/>
        </p:nvSpPr>
        <p:spPr>
          <a:xfrm>
            <a:off x="7114032" y="3913632"/>
            <a:ext cx="4480560" cy="329184"/>
          </a:xfrm>
          <a:prstGeom prst="rect">
            <a:avLst/>
          </a:prstGeom>
          <a:noFill/>
          <a:ln/>
        </p:spPr>
        <p:txBody>
          <a:bodyPr wrap="square" lIns="0" tIns="0" rIns="0" bIns="0" rtlCol="0" anchor="ctr"/>
          <a:lstStyle/>
          <a:p>
            <a:pPr indent="0" marL="0">
              <a:buNone/>
            </a:pPr>
            <a:r>
              <a:rPr lang="en-US" sz="1350" b="1" dirty="0">
                <a:solidFill>
                  <a:srgbClr val="6D2E46"/>
                </a:solidFill>
                <a:latin typeface="Arial" pitchFamily="34" charset="0"/>
                <a:ea typeface="Arial" pitchFamily="34" charset="-122"/>
                <a:cs typeface="Arial" pitchFamily="34" charset="-120"/>
              </a:rPr>
              <a:t>追加売上の未達リスク</a:t>
            </a:r>
            <a:endParaRPr lang="en-US" sz="1350" dirty="0"/>
          </a:p>
        </p:txBody>
      </p:sp>
      <p:sp>
        <p:nvSpPr>
          <p:cNvPr id="29" name="Text 27"/>
          <p:cNvSpPr/>
          <p:nvPr/>
        </p:nvSpPr>
        <p:spPr>
          <a:xfrm>
            <a:off x="6693408" y="4334256"/>
            <a:ext cx="4937760" cy="548640"/>
          </a:xfrm>
          <a:prstGeom prst="rect">
            <a:avLst/>
          </a:prstGeom>
          <a:noFill/>
          <a:ln/>
        </p:spPr>
        <p:txBody>
          <a:bodyPr wrap="square" lIns="0" tIns="0" rIns="0" bIns="0" rtlCol="0" anchor="ctr"/>
          <a:lstStyle/>
          <a:p>
            <a:pPr indent="0" marL="0">
              <a:buNone/>
            </a:pPr>
            <a:r>
              <a:rPr lang="en-US" sz="1050" dirty="0">
                <a:solidFill>
                  <a:srgbClr val="7A6A64"/>
                </a:solidFill>
                <a:latin typeface="Arial" pitchFamily="34" charset="0"/>
                <a:ea typeface="Arial" pitchFamily="34" charset="-122"/>
                <a:cs typeface="Arial" pitchFamily="34" charset="-120"/>
              </a:rPr>
              <a:t>仕入を固定するため、売上未達時の資金影響が大きくなります。</a:t>
            </a:r>
            <a:endParaRPr lang="en-US" sz="1050" dirty="0"/>
          </a:p>
        </p:txBody>
      </p:sp>
      <p:sp>
        <p:nvSpPr>
          <p:cNvPr id="30" name="Shape 28"/>
          <p:cNvSpPr/>
          <p:nvPr/>
        </p:nvSpPr>
        <p:spPr>
          <a:xfrm>
            <a:off x="6693408" y="4882896"/>
            <a:ext cx="4937760" cy="694944"/>
          </a:xfrm>
          <a:prstGeom prst="roundRect">
            <a:avLst>
              <a:gd name="adj" fmla="val 6579"/>
            </a:avLst>
          </a:prstGeom>
          <a:solidFill>
            <a:srgbClr val="ECE2D0"/>
          </a:solidFill>
          <a:ln/>
        </p:spPr>
      </p:sp>
      <p:sp>
        <p:nvSpPr>
          <p:cNvPr id="31" name="Text 29"/>
          <p:cNvSpPr/>
          <p:nvPr/>
        </p:nvSpPr>
        <p:spPr>
          <a:xfrm>
            <a:off x="6858000" y="4882896"/>
            <a:ext cx="4617720" cy="694944"/>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月次で進捗をご報告し、未達が見込まれる場合は仕入計画を機動的に見直します。</a:t>
            </a:r>
            <a:endParaRPr lang="en-US" sz="1050" dirty="0"/>
          </a:p>
        </p:txBody>
      </p:sp>
      <p:sp>
        <p:nvSpPr>
          <p:cNvPr id="32" name="Text 30"/>
          <p:cNvSpPr/>
          <p:nvPr/>
        </p:nvSpPr>
        <p:spPr>
          <a:xfrm>
            <a:off x="594360" y="6382512"/>
            <a:ext cx="10972800" cy="274320"/>
          </a:xfrm>
          <a:prstGeom prst="rect">
            <a:avLst/>
          </a:prstGeom>
          <a:noFill/>
          <a:ln/>
        </p:spPr>
        <p:txBody>
          <a:bodyPr wrap="square" lIns="0" tIns="0" rIns="0" bIns="0" rtlCol="0" anchor="ctr"/>
          <a:lstStyle/>
          <a:p>
            <a:pPr indent="0" marL="0">
              <a:buNone/>
            </a:pP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プランDの蓋然性 － 過去実績が裏付けています</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必要売上621.1百万円は、直近2期の実績をいずれも下回る水準です。</a:t>
            </a:r>
            <a:endParaRPr lang="en-US" sz="1250" dirty="0"/>
          </a:p>
        </p:txBody>
      </p:sp>
      <p:sp>
        <p:nvSpPr>
          <p:cNvPr id="4" name="Shape 2"/>
          <p:cNvSpPr/>
          <p:nvPr/>
        </p:nvSpPr>
        <p:spPr>
          <a:xfrm>
            <a:off x="594360" y="1517904"/>
            <a:ext cx="10058400" cy="384048"/>
          </a:xfrm>
          <a:prstGeom prst="rect">
            <a:avLst/>
          </a:prstGeom>
          <a:solidFill>
            <a:srgbClr val="6D2E46"/>
          </a:solidFill>
          <a:ln/>
        </p:spPr>
      </p:sp>
      <p:sp>
        <p:nvSpPr>
          <p:cNvPr id="5" name="Text 3"/>
          <p:cNvSpPr/>
          <p:nvPr/>
        </p:nvSpPr>
        <p:spPr>
          <a:xfrm>
            <a:off x="704088" y="1517904"/>
            <a:ext cx="2432304" cy="384048"/>
          </a:xfrm>
          <a:prstGeom prst="rect">
            <a:avLst/>
          </a:prstGeom>
          <a:noFill/>
          <a:ln/>
        </p:spPr>
        <p:txBody>
          <a:bodyPr wrap="square" lIns="0" tIns="0" rIns="0" bIns="0" rtlCol="0" anchor="ctr"/>
          <a:lstStyle/>
          <a:p>
            <a:pPr algn="l" indent="0" marL="0">
              <a:buNone/>
            </a:pPr>
            <a:r>
              <a:rPr lang="en-US" sz="950" b="1" dirty="0">
                <a:solidFill>
                  <a:srgbClr val="FFFFFF"/>
                </a:solidFill>
                <a:latin typeface="Arial" pitchFamily="34" charset="0"/>
                <a:ea typeface="Arial" pitchFamily="34" charset="-122"/>
                <a:cs typeface="Arial" pitchFamily="34" charset="-120"/>
              </a:rPr>
              <a:t>期</a:t>
            </a:r>
            <a:endParaRPr lang="en-US" sz="950" dirty="0"/>
          </a:p>
        </p:txBody>
      </p:sp>
      <p:sp>
        <p:nvSpPr>
          <p:cNvPr id="6" name="Text 4"/>
          <p:cNvSpPr/>
          <p:nvPr/>
        </p:nvSpPr>
        <p:spPr>
          <a:xfrm>
            <a:off x="3355848" y="1517904"/>
            <a:ext cx="179222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売上高（百万円）</a:t>
            </a:r>
            <a:endParaRPr lang="en-US" sz="950" dirty="0"/>
          </a:p>
        </p:txBody>
      </p:sp>
      <p:sp>
        <p:nvSpPr>
          <p:cNvPr id="7" name="Text 5"/>
          <p:cNvSpPr/>
          <p:nvPr/>
        </p:nvSpPr>
        <p:spPr>
          <a:xfrm>
            <a:off x="5367528" y="1517904"/>
            <a:ext cx="188366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事業粗利（百万円）</a:t>
            </a:r>
            <a:endParaRPr lang="en-US" sz="950" dirty="0"/>
          </a:p>
        </p:txBody>
      </p:sp>
      <p:sp>
        <p:nvSpPr>
          <p:cNvPr id="8" name="Text 6"/>
          <p:cNvSpPr/>
          <p:nvPr/>
        </p:nvSpPr>
        <p:spPr>
          <a:xfrm>
            <a:off x="7470648" y="1517904"/>
            <a:ext cx="124358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粗利率</a:t>
            </a:r>
            <a:endParaRPr lang="en-US" sz="950" dirty="0"/>
          </a:p>
        </p:txBody>
      </p:sp>
      <p:sp>
        <p:nvSpPr>
          <p:cNvPr id="9" name="Text 7"/>
          <p:cNvSpPr/>
          <p:nvPr/>
        </p:nvSpPr>
        <p:spPr>
          <a:xfrm>
            <a:off x="8933688" y="1517904"/>
            <a:ext cx="160934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プランD/実績</a:t>
            </a:r>
            <a:endParaRPr lang="en-US" sz="950" dirty="0"/>
          </a:p>
        </p:txBody>
      </p:sp>
      <p:sp>
        <p:nvSpPr>
          <p:cNvPr id="10" name="Shape 8"/>
          <p:cNvSpPr/>
          <p:nvPr/>
        </p:nvSpPr>
        <p:spPr>
          <a:xfrm>
            <a:off x="594360" y="1901952"/>
            <a:ext cx="10058400" cy="475488"/>
          </a:xfrm>
          <a:prstGeom prst="rect">
            <a:avLst/>
          </a:prstGeom>
          <a:solidFill>
            <a:srgbClr val="FFFFFF"/>
          </a:solidFill>
          <a:ln w="6350">
            <a:solidFill>
              <a:srgbClr val="DED5CE"/>
            </a:solidFill>
            <a:prstDash val="solid"/>
          </a:ln>
        </p:spPr>
      </p:sp>
      <p:sp>
        <p:nvSpPr>
          <p:cNvPr id="11" name="Text 9"/>
          <p:cNvSpPr/>
          <p:nvPr/>
        </p:nvSpPr>
        <p:spPr>
          <a:xfrm>
            <a:off x="704088" y="1901952"/>
            <a:ext cx="2432304" cy="475488"/>
          </a:xfrm>
          <a:prstGeom prst="rect">
            <a:avLst/>
          </a:prstGeom>
          <a:noFill/>
          <a:ln/>
        </p:spPr>
        <p:txBody>
          <a:bodyPr wrap="square" lIns="0" tIns="0" rIns="0" bIns="0" rtlCol="0" anchor="ctr"/>
          <a:lstStyle/>
          <a:p>
            <a:pPr algn="l" indent="0" marL="0">
              <a:buNone/>
            </a:pPr>
            <a:r>
              <a:rPr lang="en-US" sz="1050" dirty="0">
                <a:solidFill>
                  <a:srgbClr val="2B2B2B"/>
                </a:solidFill>
                <a:latin typeface="Arial" pitchFamily="34" charset="0"/>
                <a:ea typeface="Arial" pitchFamily="34" charset="-122"/>
                <a:cs typeface="Arial" pitchFamily="34" charset="-120"/>
              </a:rPr>
              <a:t>FY2024 実績</a:t>
            </a:r>
            <a:endParaRPr lang="en-US" sz="1050" dirty="0"/>
          </a:p>
        </p:txBody>
      </p:sp>
      <p:sp>
        <p:nvSpPr>
          <p:cNvPr id="12" name="Text 10"/>
          <p:cNvSpPr/>
          <p:nvPr/>
        </p:nvSpPr>
        <p:spPr>
          <a:xfrm>
            <a:off x="3355848" y="1901952"/>
            <a:ext cx="1792224" cy="475488"/>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512.5</a:t>
            </a:r>
            <a:endParaRPr lang="en-US" sz="1050" dirty="0"/>
          </a:p>
        </p:txBody>
      </p:sp>
      <p:sp>
        <p:nvSpPr>
          <p:cNvPr id="13" name="Text 11"/>
          <p:cNvSpPr/>
          <p:nvPr/>
        </p:nvSpPr>
        <p:spPr>
          <a:xfrm>
            <a:off x="5367528" y="1901952"/>
            <a:ext cx="1883664" cy="475488"/>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203.7</a:t>
            </a:r>
            <a:endParaRPr lang="en-US" sz="1050" dirty="0"/>
          </a:p>
        </p:txBody>
      </p:sp>
      <p:sp>
        <p:nvSpPr>
          <p:cNvPr id="14" name="Text 12"/>
          <p:cNvSpPr/>
          <p:nvPr/>
        </p:nvSpPr>
        <p:spPr>
          <a:xfrm>
            <a:off x="7470648" y="1901952"/>
            <a:ext cx="1243584" cy="475488"/>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39.8%</a:t>
            </a:r>
            <a:endParaRPr lang="en-US" sz="1050" dirty="0"/>
          </a:p>
        </p:txBody>
      </p:sp>
      <p:sp>
        <p:nvSpPr>
          <p:cNvPr id="15" name="Text 13"/>
          <p:cNvSpPr/>
          <p:nvPr/>
        </p:nvSpPr>
        <p:spPr>
          <a:xfrm>
            <a:off x="8933688" y="1901952"/>
            <a:ext cx="1609344" cy="475488"/>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a:t>
            </a:r>
            <a:endParaRPr lang="en-US" sz="1050" dirty="0"/>
          </a:p>
        </p:txBody>
      </p:sp>
      <p:sp>
        <p:nvSpPr>
          <p:cNvPr id="16" name="Shape 14"/>
          <p:cNvSpPr/>
          <p:nvPr/>
        </p:nvSpPr>
        <p:spPr>
          <a:xfrm>
            <a:off x="594360" y="2377440"/>
            <a:ext cx="10058400" cy="475488"/>
          </a:xfrm>
          <a:prstGeom prst="rect">
            <a:avLst/>
          </a:prstGeom>
          <a:solidFill>
            <a:srgbClr val="FBF9F7"/>
          </a:solidFill>
          <a:ln w="6350">
            <a:solidFill>
              <a:srgbClr val="DED5CE"/>
            </a:solidFill>
            <a:prstDash val="solid"/>
          </a:ln>
        </p:spPr>
      </p:sp>
      <p:sp>
        <p:nvSpPr>
          <p:cNvPr id="17" name="Text 15"/>
          <p:cNvSpPr/>
          <p:nvPr/>
        </p:nvSpPr>
        <p:spPr>
          <a:xfrm>
            <a:off x="704088" y="2377440"/>
            <a:ext cx="2432304" cy="475488"/>
          </a:xfrm>
          <a:prstGeom prst="rect">
            <a:avLst/>
          </a:prstGeom>
          <a:noFill/>
          <a:ln/>
        </p:spPr>
        <p:txBody>
          <a:bodyPr wrap="square" lIns="0" tIns="0" rIns="0" bIns="0" rtlCol="0" anchor="ctr"/>
          <a:lstStyle/>
          <a:p>
            <a:pPr algn="l" indent="0" marL="0">
              <a:buNone/>
            </a:pPr>
            <a:r>
              <a:rPr lang="en-US" sz="1050" dirty="0">
                <a:solidFill>
                  <a:srgbClr val="2B2B2B"/>
                </a:solidFill>
                <a:latin typeface="Arial" pitchFamily="34" charset="0"/>
                <a:ea typeface="Arial" pitchFamily="34" charset="-122"/>
                <a:cs typeface="Arial" pitchFamily="34" charset="-120"/>
              </a:rPr>
              <a:t>FY2025 実績</a:t>
            </a:r>
            <a:endParaRPr lang="en-US" sz="1050" dirty="0"/>
          </a:p>
        </p:txBody>
      </p:sp>
      <p:sp>
        <p:nvSpPr>
          <p:cNvPr id="18" name="Text 16"/>
          <p:cNvSpPr/>
          <p:nvPr/>
        </p:nvSpPr>
        <p:spPr>
          <a:xfrm>
            <a:off x="3355848" y="2377440"/>
            <a:ext cx="1792224" cy="475488"/>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752.9</a:t>
            </a:r>
            <a:endParaRPr lang="en-US" sz="1050" dirty="0"/>
          </a:p>
        </p:txBody>
      </p:sp>
      <p:sp>
        <p:nvSpPr>
          <p:cNvPr id="19" name="Text 17"/>
          <p:cNvSpPr/>
          <p:nvPr/>
        </p:nvSpPr>
        <p:spPr>
          <a:xfrm>
            <a:off x="5367528" y="2377440"/>
            <a:ext cx="1883664" cy="475488"/>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201.9</a:t>
            </a:r>
            <a:endParaRPr lang="en-US" sz="1050" dirty="0"/>
          </a:p>
        </p:txBody>
      </p:sp>
      <p:sp>
        <p:nvSpPr>
          <p:cNvPr id="20" name="Text 18"/>
          <p:cNvSpPr/>
          <p:nvPr/>
        </p:nvSpPr>
        <p:spPr>
          <a:xfrm>
            <a:off x="7470648" y="2377440"/>
            <a:ext cx="1243584" cy="475488"/>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26.8%</a:t>
            </a:r>
            <a:endParaRPr lang="en-US" sz="1050" dirty="0"/>
          </a:p>
        </p:txBody>
      </p:sp>
      <p:sp>
        <p:nvSpPr>
          <p:cNvPr id="21" name="Text 19"/>
          <p:cNvSpPr/>
          <p:nvPr/>
        </p:nvSpPr>
        <p:spPr>
          <a:xfrm>
            <a:off x="8933688" y="2377440"/>
            <a:ext cx="1609344" cy="475488"/>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82.5%</a:t>
            </a:r>
            <a:endParaRPr lang="en-US" sz="1050" dirty="0"/>
          </a:p>
        </p:txBody>
      </p:sp>
      <p:sp>
        <p:nvSpPr>
          <p:cNvPr id="22" name="Shape 20"/>
          <p:cNvSpPr/>
          <p:nvPr/>
        </p:nvSpPr>
        <p:spPr>
          <a:xfrm>
            <a:off x="594360" y="2852928"/>
            <a:ext cx="10058400" cy="475488"/>
          </a:xfrm>
          <a:prstGeom prst="rect">
            <a:avLst/>
          </a:prstGeom>
          <a:solidFill>
            <a:srgbClr val="FFFFFF"/>
          </a:solidFill>
          <a:ln w="6350">
            <a:solidFill>
              <a:srgbClr val="DED5CE"/>
            </a:solidFill>
            <a:prstDash val="solid"/>
          </a:ln>
        </p:spPr>
      </p:sp>
      <p:sp>
        <p:nvSpPr>
          <p:cNvPr id="23" name="Text 21"/>
          <p:cNvSpPr/>
          <p:nvPr/>
        </p:nvSpPr>
        <p:spPr>
          <a:xfrm>
            <a:off x="704088" y="2852928"/>
            <a:ext cx="2432304" cy="475488"/>
          </a:xfrm>
          <a:prstGeom prst="rect">
            <a:avLst/>
          </a:prstGeom>
          <a:noFill/>
          <a:ln/>
        </p:spPr>
        <p:txBody>
          <a:bodyPr wrap="square" lIns="0" tIns="0" rIns="0" bIns="0" rtlCol="0" anchor="ctr"/>
          <a:lstStyle/>
          <a:p>
            <a:pPr algn="l" indent="0" marL="0">
              <a:buNone/>
            </a:pPr>
            <a:r>
              <a:rPr lang="en-US" sz="1050" dirty="0">
                <a:solidFill>
                  <a:srgbClr val="2B2B2B"/>
                </a:solidFill>
                <a:latin typeface="Arial" pitchFamily="34" charset="0"/>
                <a:ea typeface="Arial" pitchFamily="34" charset="-122"/>
                <a:cs typeface="Arial" pitchFamily="34" charset="-120"/>
              </a:rPr>
              <a:t>FY2026 見込</a:t>
            </a:r>
            <a:endParaRPr lang="en-US" sz="1050" dirty="0"/>
          </a:p>
        </p:txBody>
      </p:sp>
      <p:sp>
        <p:nvSpPr>
          <p:cNvPr id="24" name="Text 22"/>
          <p:cNvSpPr/>
          <p:nvPr/>
        </p:nvSpPr>
        <p:spPr>
          <a:xfrm>
            <a:off x="3355848" y="2852928"/>
            <a:ext cx="1792224" cy="475488"/>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708.2</a:t>
            </a:r>
            <a:endParaRPr lang="en-US" sz="1050" dirty="0"/>
          </a:p>
        </p:txBody>
      </p:sp>
      <p:sp>
        <p:nvSpPr>
          <p:cNvPr id="25" name="Text 23"/>
          <p:cNvSpPr/>
          <p:nvPr/>
        </p:nvSpPr>
        <p:spPr>
          <a:xfrm>
            <a:off x="5367528" y="2852928"/>
            <a:ext cx="1883664" cy="475488"/>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229.1</a:t>
            </a:r>
            <a:endParaRPr lang="en-US" sz="1050" dirty="0"/>
          </a:p>
        </p:txBody>
      </p:sp>
      <p:sp>
        <p:nvSpPr>
          <p:cNvPr id="26" name="Text 24"/>
          <p:cNvSpPr/>
          <p:nvPr/>
        </p:nvSpPr>
        <p:spPr>
          <a:xfrm>
            <a:off x="7470648" y="2852928"/>
            <a:ext cx="1243584" cy="475488"/>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32.4%</a:t>
            </a:r>
            <a:endParaRPr lang="en-US" sz="1050" dirty="0"/>
          </a:p>
        </p:txBody>
      </p:sp>
      <p:sp>
        <p:nvSpPr>
          <p:cNvPr id="27" name="Text 25"/>
          <p:cNvSpPr/>
          <p:nvPr/>
        </p:nvSpPr>
        <p:spPr>
          <a:xfrm>
            <a:off x="8933688" y="2852928"/>
            <a:ext cx="1609344" cy="475488"/>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87.7%</a:t>
            </a:r>
            <a:endParaRPr lang="en-US" sz="1050" dirty="0"/>
          </a:p>
        </p:txBody>
      </p:sp>
      <p:sp>
        <p:nvSpPr>
          <p:cNvPr id="28" name="Shape 26"/>
          <p:cNvSpPr/>
          <p:nvPr/>
        </p:nvSpPr>
        <p:spPr>
          <a:xfrm>
            <a:off x="594360" y="3328416"/>
            <a:ext cx="10058400" cy="475488"/>
          </a:xfrm>
          <a:prstGeom prst="rect">
            <a:avLst/>
          </a:prstGeom>
          <a:solidFill>
            <a:srgbClr val="ECE2D0"/>
          </a:solidFill>
          <a:ln w="6350">
            <a:solidFill>
              <a:srgbClr val="DED5CE"/>
            </a:solidFill>
            <a:prstDash val="solid"/>
          </a:ln>
        </p:spPr>
      </p:sp>
      <p:sp>
        <p:nvSpPr>
          <p:cNvPr id="29" name="Text 27"/>
          <p:cNvSpPr/>
          <p:nvPr/>
        </p:nvSpPr>
        <p:spPr>
          <a:xfrm>
            <a:off x="704088" y="3328416"/>
            <a:ext cx="2432304" cy="475488"/>
          </a:xfrm>
          <a:prstGeom prst="rect">
            <a:avLst/>
          </a:prstGeom>
          <a:noFill/>
          <a:ln/>
        </p:spPr>
        <p:txBody>
          <a:bodyPr wrap="square" lIns="0" tIns="0" rIns="0" bIns="0" rtlCol="0" anchor="ctr"/>
          <a:lstStyle/>
          <a:p>
            <a:pPr algn="l" indent="0" marL="0">
              <a:buNone/>
            </a:pPr>
            <a:r>
              <a:rPr lang="en-US" sz="1050" b="1" dirty="0">
                <a:solidFill>
                  <a:srgbClr val="6D2E46"/>
                </a:solidFill>
                <a:latin typeface="Arial" pitchFamily="34" charset="0"/>
                <a:ea typeface="Arial" pitchFamily="34" charset="-122"/>
                <a:cs typeface="Arial" pitchFamily="34" charset="-120"/>
              </a:rPr>
              <a:t>プランD（FY2027）</a:t>
            </a:r>
            <a:endParaRPr lang="en-US" sz="1050" dirty="0"/>
          </a:p>
        </p:txBody>
      </p:sp>
      <p:sp>
        <p:nvSpPr>
          <p:cNvPr id="30" name="Text 28"/>
          <p:cNvSpPr/>
          <p:nvPr/>
        </p:nvSpPr>
        <p:spPr>
          <a:xfrm>
            <a:off x="3355848" y="3328416"/>
            <a:ext cx="1792224" cy="475488"/>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621.1</a:t>
            </a:r>
            <a:endParaRPr lang="en-US" sz="1050" dirty="0"/>
          </a:p>
        </p:txBody>
      </p:sp>
      <p:sp>
        <p:nvSpPr>
          <p:cNvPr id="31" name="Text 29"/>
          <p:cNvSpPr/>
          <p:nvPr/>
        </p:nvSpPr>
        <p:spPr>
          <a:xfrm>
            <a:off x="5367528" y="3328416"/>
            <a:ext cx="1883664" cy="475488"/>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320.2</a:t>
            </a:r>
            <a:endParaRPr lang="en-US" sz="1050" dirty="0"/>
          </a:p>
        </p:txBody>
      </p:sp>
      <p:sp>
        <p:nvSpPr>
          <p:cNvPr id="32" name="Text 30"/>
          <p:cNvSpPr/>
          <p:nvPr/>
        </p:nvSpPr>
        <p:spPr>
          <a:xfrm>
            <a:off x="7470648" y="3328416"/>
            <a:ext cx="1243584" cy="475488"/>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51.5%</a:t>
            </a:r>
            <a:endParaRPr lang="en-US" sz="1050" dirty="0"/>
          </a:p>
        </p:txBody>
      </p:sp>
      <p:sp>
        <p:nvSpPr>
          <p:cNvPr id="33" name="Text 31"/>
          <p:cNvSpPr/>
          <p:nvPr/>
        </p:nvSpPr>
        <p:spPr>
          <a:xfrm>
            <a:off x="8933688" y="3328416"/>
            <a:ext cx="1609344" cy="475488"/>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a:t>
            </a:r>
            <a:endParaRPr lang="en-US" sz="1050" dirty="0"/>
          </a:p>
        </p:txBody>
      </p:sp>
      <p:sp>
        <p:nvSpPr>
          <p:cNvPr id="34" name="Shape 32"/>
          <p:cNvSpPr/>
          <p:nvPr/>
        </p:nvSpPr>
        <p:spPr>
          <a:xfrm>
            <a:off x="594360" y="3794760"/>
            <a:ext cx="5349240" cy="1417320"/>
          </a:xfrm>
          <a:prstGeom prst="roundRect">
            <a:avLst>
              <a:gd name="adj" fmla="val 3871"/>
            </a:avLst>
          </a:prstGeom>
          <a:solidFill>
            <a:srgbClr val="6D2E46"/>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35" name="Text 33"/>
          <p:cNvSpPr/>
          <p:nvPr/>
        </p:nvSpPr>
        <p:spPr>
          <a:xfrm>
            <a:off x="868680" y="3959352"/>
            <a:ext cx="4800600" cy="292608"/>
          </a:xfrm>
          <a:prstGeom prst="rect">
            <a:avLst/>
          </a:prstGeom>
          <a:noFill/>
          <a:ln/>
        </p:spPr>
        <p:txBody>
          <a:bodyPr wrap="square" lIns="0" tIns="0" rIns="0" bIns="0" rtlCol="0" anchor="ctr"/>
          <a:lstStyle/>
          <a:p>
            <a:pPr indent="0" marL="0">
              <a:buNone/>
            </a:pPr>
            <a:r>
              <a:rPr lang="en-US" sz="1200" b="1" dirty="0">
                <a:solidFill>
                  <a:srgbClr val="ECE2D0"/>
                </a:solidFill>
                <a:latin typeface="Arial" pitchFamily="34" charset="0"/>
                <a:ea typeface="Arial" pitchFamily="34" charset="-122"/>
                <a:cs typeface="Arial" pitchFamily="34" charset="-120"/>
              </a:rPr>
              <a:t>売上のハードルは低い</a:t>
            </a:r>
            <a:endParaRPr lang="en-US" sz="1200" dirty="0"/>
          </a:p>
        </p:txBody>
      </p:sp>
      <p:sp>
        <p:nvSpPr>
          <p:cNvPr id="36" name="Text 34"/>
          <p:cNvSpPr/>
          <p:nvPr/>
        </p:nvSpPr>
        <p:spPr>
          <a:xfrm>
            <a:off x="868680" y="4297680"/>
            <a:ext cx="4800600" cy="8686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プランDの621.1百万円は、FY2025実績の82.5%、FY2026見込の87.7%。2期平均730.5百万円に対しては85.0%です。過去に到達した売上規模を下回ります。</a:t>
            </a:r>
            <a:endParaRPr lang="en-US" sz="1100" dirty="0"/>
          </a:p>
        </p:txBody>
      </p:sp>
      <p:sp>
        <p:nvSpPr>
          <p:cNvPr id="37" name="Shape 35"/>
          <p:cNvSpPr/>
          <p:nvPr/>
        </p:nvSpPr>
        <p:spPr>
          <a:xfrm>
            <a:off x="6217920" y="3794760"/>
            <a:ext cx="5349240" cy="1417320"/>
          </a:xfrm>
          <a:prstGeom prst="roundRect">
            <a:avLst>
              <a:gd name="adj" fmla="val 3871"/>
            </a:avLst>
          </a:prstGeom>
          <a:solidFill>
            <a:srgbClr val="ECE2D0"/>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38" name="Text 36"/>
          <p:cNvSpPr/>
          <p:nvPr/>
        </p:nvSpPr>
        <p:spPr>
          <a:xfrm>
            <a:off x="6492240" y="3959352"/>
            <a:ext cx="4800600" cy="292608"/>
          </a:xfrm>
          <a:prstGeom prst="rect">
            <a:avLst/>
          </a:prstGeom>
          <a:noFill/>
          <a:ln/>
        </p:spPr>
        <p:txBody>
          <a:bodyPr wrap="square" lIns="0" tIns="0" rIns="0" bIns="0" rtlCol="0" anchor="ctr"/>
          <a:lstStyle/>
          <a:p>
            <a:pPr indent="0" marL="0">
              <a:buNone/>
            </a:pPr>
            <a:r>
              <a:rPr lang="en-US" sz="1200" b="1" dirty="0">
                <a:solidFill>
                  <a:srgbClr val="6D2E46"/>
                </a:solidFill>
                <a:latin typeface="Arial" pitchFamily="34" charset="0"/>
                <a:ea typeface="Arial" pitchFamily="34" charset="-122"/>
                <a:cs typeface="Arial" pitchFamily="34" charset="-120"/>
              </a:rPr>
              <a:t>鍵は粗利率の構造変化</a:t>
            </a:r>
            <a:endParaRPr lang="en-US" sz="1200" dirty="0"/>
          </a:p>
        </p:txBody>
      </p:sp>
      <p:sp>
        <p:nvSpPr>
          <p:cNvPr id="39" name="Text 37"/>
          <p:cNvSpPr/>
          <p:nvPr/>
        </p:nvSpPr>
        <p:spPr>
          <a:xfrm>
            <a:off x="6492240" y="4297680"/>
            <a:ext cx="4800600" cy="868680"/>
          </a:xfrm>
          <a:prstGeom prst="rect">
            <a:avLst/>
          </a:prstGeom>
          <a:noFill/>
          <a:ln/>
        </p:spPr>
        <p:txBody>
          <a:bodyPr wrap="square" lIns="0" tIns="0" rIns="0" bIns="0" rtlCol="0" anchor="t"/>
          <a:lstStyle/>
          <a:p>
            <a:pPr indent="0" marL="0">
              <a:buNone/>
            </a:pPr>
            <a:r>
              <a:rPr lang="en-US" sz="1100" dirty="0">
                <a:solidFill>
                  <a:srgbClr val="2B2B2B"/>
                </a:solidFill>
                <a:latin typeface="Arial" pitchFamily="34" charset="0"/>
                <a:ea typeface="Arial" pitchFamily="34" charset="-122"/>
                <a:cs typeface="Arial" pitchFamily="34" charset="-120"/>
              </a:rPr>
              <a:t>低採算の飲食が抜けたことで、粗利率は26.8%（FY2025）→32.4%（FY2026）→51.5%（撤退後実績）へ改善。同じ売上でも残る利益が大きく変わります。</a:t>
            </a:r>
            <a:endParaRPr lang="en-US" sz="1100" dirty="0"/>
          </a:p>
        </p:txBody>
      </p:sp>
      <p:sp>
        <p:nvSpPr>
          <p:cNvPr id="40" name="Shape 38"/>
          <p:cNvSpPr/>
          <p:nvPr/>
        </p:nvSpPr>
        <p:spPr>
          <a:xfrm>
            <a:off x="594360" y="5394960"/>
            <a:ext cx="10963656" cy="777240"/>
          </a:xfrm>
          <a:prstGeom prst="roundRect">
            <a:avLst>
              <a:gd name="adj" fmla="val 7059"/>
            </a:avLst>
          </a:prstGeom>
          <a:solidFill>
            <a:srgbClr val="ECE2D0"/>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41" name="Text 39"/>
          <p:cNvSpPr/>
          <p:nvPr/>
        </p:nvSpPr>
        <p:spPr>
          <a:xfrm>
            <a:off x="914400" y="5394960"/>
            <a:ext cx="10332720" cy="777240"/>
          </a:xfrm>
          <a:prstGeom prst="rect">
            <a:avLst/>
          </a:prstGeom>
          <a:noFill/>
          <a:ln/>
        </p:spPr>
        <p:txBody>
          <a:bodyPr wrap="square" lIns="0" tIns="0" rIns="0" bIns="0" rtlCol="0" anchor="ctr"/>
          <a:lstStyle/>
          <a:p>
            <a:pPr indent="0" marL="0">
              <a:buNone/>
            </a:pPr>
            <a:r>
              <a:rPr lang="en-US" sz="1200" b="1" dirty="0">
                <a:solidFill>
                  <a:srgbClr val="6D2E46"/>
                </a:solidFill>
                <a:latin typeface="Arial" pitchFamily="34" charset="0"/>
                <a:ea typeface="Arial" pitchFamily="34" charset="-122"/>
                <a:cs typeface="Arial" pitchFamily="34" charset="-120"/>
              </a:rPr>
              <a:t>過去2期の売上水準（708〜753百万円）を撤退後の粗利率で回した場合、経常利益は182〜205百万円。プランDの137.5百万円は上振れ余地を残した保守的な計画です。</a:t>
            </a:r>
            <a:endParaRPr lang="en-US" sz="1200" dirty="0"/>
          </a:p>
        </p:txBody>
      </p:sp>
      <p:sp>
        <p:nvSpPr>
          <p:cNvPr id="42" name="Text 40"/>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事業粗利＝売上総利益から上乗せ案件132.5百万円を除いた本業ベース。粗利率51.5%は2026年4-6月実績。出典：事業計画202608（銀行様）、決算報告書 第54期。</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6D2E46"/>
        </a:solidFill>
      </p:bgPr>
    </p:bg>
    <p:spTree>
      <p:nvGrpSpPr>
        <p:cNvPr id="1" name=""/>
        <p:cNvGrpSpPr/>
        <p:nvPr/>
      </p:nvGrpSpPr>
      <p:grpSpPr>
        <a:xfrm>
          <a:off x="0" y="0"/>
          <a:ext cx="0" cy="0"/>
          <a:chOff x="0" y="0"/>
          <a:chExt cx="0" cy="0"/>
        </a:xfrm>
      </p:grpSpPr>
      <p:sp>
        <p:nvSpPr>
          <p:cNvPr id="2" name="Shape 0"/>
          <p:cNvSpPr/>
          <p:nvPr/>
        </p:nvSpPr>
        <p:spPr>
          <a:xfrm>
            <a:off x="-1463040" y="4572000"/>
            <a:ext cx="4206240" cy="4206240"/>
          </a:xfrm>
          <a:prstGeom prst="ellipse">
            <a:avLst/>
          </a:prstGeom>
          <a:solidFill>
            <a:srgbClr val="5C2439"/>
          </a:solidFill>
          <a:ln/>
        </p:spPr>
      </p:sp>
      <p:sp>
        <p:nvSpPr>
          <p:cNvPr id="3" name="Text 1"/>
          <p:cNvSpPr/>
          <p:nvPr/>
        </p:nvSpPr>
        <p:spPr>
          <a:xfrm>
            <a:off x="822960" y="685800"/>
            <a:ext cx="731520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まとめ</a:t>
            </a:r>
            <a:endParaRPr lang="en-US" sz="3400" dirty="0"/>
          </a:p>
        </p:txBody>
      </p:sp>
      <p:sp>
        <p:nvSpPr>
          <p:cNvPr id="4" name="Shape 2"/>
          <p:cNvSpPr/>
          <p:nvPr/>
        </p:nvSpPr>
        <p:spPr>
          <a:xfrm>
            <a:off x="822960" y="1655064"/>
            <a:ext cx="365760" cy="365760"/>
          </a:xfrm>
          <a:prstGeom prst="ellipse">
            <a:avLst/>
          </a:prstGeom>
          <a:solidFill>
            <a:srgbClr val="ECE2D0"/>
          </a:solidFill>
          <a:ln/>
        </p:spPr>
      </p:sp>
      <p:sp>
        <p:nvSpPr>
          <p:cNvPr id="5" name="Text 3"/>
          <p:cNvSpPr/>
          <p:nvPr/>
        </p:nvSpPr>
        <p:spPr>
          <a:xfrm>
            <a:off x="822960" y="1655064"/>
            <a:ext cx="365760" cy="365760"/>
          </a:xfrm>
          <a:prstGeom prst="rect">
            <a:avLst/>
          </a:prstGeom>
          <a:noFill/>
          <a:ln/>
        </p:spPr>
        <p:txBody>
          <a:bodyPr wrap="square" lIns="0" tIns="0" rIns="0" bIns="0" rtlCol="0" anchor="ctr"/>
          <a:lstStyle/>
          <a:p>
            <a:pPr algn="ctr" indent="0" marL="0">
              <a:buNone/>
            </a:pPr>
            <a:r>
              <a:rPr lang="en-US" sz="1400" b="1" dirty="0">
                <a:solidFill>
                  <a:srgbClr val="6D2E46"/>
                </a:solidFill>
                <a:latin typeface="Arial" pitchFamily="34" charset="0"/>
                <a:ea typeface="Arial" pitchFamily="34" charset="-122"/>
                <a:cs typeface="Arial" pitchFamily="34" charset="-120"/>
              </a:rPr>
              <a:t>1</a:t>
            </a:r>
            <a:endParaRPr lang="en-US" sz="1400" dirty="0"/>
          </a:p>
        </p:txBody>
      </p:sp>
      <p:sp>
        <p:nvSpPr>
          <p:cNvPr id="6" name="Text 4"/>
          <p:cNvSpPr/>
          <p:nvPr/>
        </p:nvSpPr>
        <p:spPr>
          <a:xfrm>
            <a:off x="1417320" y="1600200"/>
            <a:ext cx="6766560" cy="365760"/>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FY2026の赤字は構造改革の費用</a:t>
            </a:r>
            <a:endParaRPr lang="en-US" sz="1550" dirty="0"/>
          </a:p>
        </p:txBody>
      </p:sp>
      <p:sp>
        <p:nvSpPr>
          <p:cNvPr id="7" name="Text 5"/>
          <p:cNvSpPr/>
          <p:nvPr/>
        </p:nvSpPr>
        <p:spPr>
          <a:xfrm>
            <a:off x="1417320" y="1984248"/>
            <a:ext cx="6766560" cy="402336"/>
          </a:xfrm>
          <a:prstGeom prst="rect">
            <a:avLst/>
          </a:prstGeom>
          <a:noFill/>
          <a:ln/>
        </p:spPr>
        <p:txBody>
          <a:bodyPr wrap="square" lIns="0" tIns="0" rIns="0" bIns="0" rtlCol="0" anchor="ctr"/>
          <a:lstStyle/>
          <a:p>
            <a:pPr indent="0" marL="0">
              <a:buNone/>
            </a:pPr>
            <a:r>
              <a:rPr lang="en-US" sz="1150" dirty="0">
                <a:solidFill>
                  <a:srgbClr val="E4CBD6"/>
                </a:solidFill>
                <a:latin typeface="Arial" pitchFamily="34" charset="0"/>
                <a:ea typeface="Arial" pitchFamily="34" charset="-122"/>
                <a:cs typeface="Arial" pitchFamily="34" charset="-120"/>
              </a:rPr>
              <a:t>飲食事業の撤退は2026年3月に完了。年103百万円の固定費削減は実績です。</a:t>
            </a:r>
            <a:endParaRPr lang="en-US" sz="1150" dirty="0"/>
          </a:p>
        </p:txBody>
      </p:sp>
      <p:sp>
        <p:nvSpPr>
          <p:cNvPr id="8" name="Shape 6"/>
          <p:cNvSpPr/>
          <p:nvPr/>
        </p:nvSpPr>
        <p:spPr>
          <a:xfrm>
            <a:off x="822960" y="2679192"/>
            <a:ext cx="365760" cy="365760"/>
          </a:xfrm>
          <a:prstGeom prst="ellipse">
            <a:avLst/>
          </a:prstGeom>
          <a:solidFill>
            <a:srgbClr val="ECE2D0"/>
          </a:solidFill>
          <a:ln/>
        </p:spPr>
      </p:sp>
      <p:sp>
        <p:nvSpPr>
          <p:cNvPr id="9" name="Text 7"/>
          <p:cNvSpPr/>
          <p:nvPr/>
        </p:nvSpPr>
        <p:spPr>
          <a:xfrm>
            <a:off x="822960" y="2679192"/>
            <a:ext cx="365760" cy="365760"/>
          </a:xfrm>
          <a:prstGeom prst="rect">
            <a:avLst/>
          </a:prstGeom>
          <a:noFill/>
          <a:ln/>
        </p:spPr>
        <p:txBody>
          <a:bodyPr wrap="square" lIns="0" tIns="0" rIns="0" bIns="0" rtlCol="0" anchor="ctr"/>
          <a:lstStyle/>
          <a:p>
            <a:pPr algn="ctr" indent="0" marL="0">
              <a:buNone/>
            </a:pPr>
            <a:r>
              <a:rPr lang="en-US" sz="1400" b="1" dirty="0">
                <a:solidFill>
                  <a:srgbClr val="6D2E46"/>
                </a:solidFill>
                <a:latin typeface="Arial" pitchFamily="34" charset="0"/>
                <a:ea typeface="Arial" pitchFamily="34" charset="-122"/>
                <a:cs typeface="Arial" pitchFamily="34" charset="-120"/>
              </a:rPr>
              <a:t>2</a:t>
            </a:r>
            <a:endParaRPr lang="en-US" sz="1400" dirty="0"/>
          </a:p>
        </p:txBody>
      </p:sp>
      <p:sp>
        <p:nvSpPr>
          <p:cNvPr id="10" name="Text 8"/>
          <p:cNvSpPr/>
          <p:nvPr/>
        </p:nvSpPr>
        <p:spPr>
          <a:xfrm>
            <a:off x="1417320" y="2624328"/>
            <a:ext cx="6766560" cy="365760"/>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上乗せ案件だけで営業損益は黒字転換</a:t>
            </a:r>
            <a:endParaRPr lang="en-US" sz="1550" dirty="0"/>
          </a:p>
        </p:txBody>
      </p:sp>
      <p:sp>
        <p:nvSpPr>
          <p:cNvPr id="11" name="Text 9"/>
          <p:cNvSpPr/>
          <p:nvPr/>
        </p:nvSpPr>
        <p:spPr>
          <a:xfrm>
            <a:off x="1417320" y="3008376"/>
            <a:ext cx="6766560" cy="402336"/>
          </a:xfrm>
          <a:prstGeom prst="rect">
            <a:avLst/>
          </a:prstGeom>
          <a:noFill/>
          <a:ln/>
        </p:spPr>
        <p:txBody>
          <a:bodyPr wrap="square" lIns="0" tIns="0" rIns="0" bIns="0" rtlCol="0" anchor="ctr"/>
          <a:lstStyle/>
          <a:p>
            <a:pPr indent="0" marL="0">
              <a:buNone/>
            </a:pPr>
            <a:r>
              <a:rPr lang="en-US" sz="1150" dirty="0">
                <a:solidFill>
                  <a:srgbClr val="E4CBD6"/>
                </a:solidFill>
                <a:latin typeface="Arial" pitchFamily="34" charset="0"/>
                <a:ea typeface="Arial" pitchFamily="34" charset="-122"/>
                <a:cs typeface="Arial" pitchFamily="34" charset="-120"/>
              </a:rPr>
              <a:t>132.5百万円の計上により、FY2026比147.7百万円の改善。</a:t>
            </a:r>
            <a:endParaRPr lang="en-US" sz="1150" dirty="0"/>
          </a:p>
        </p:txBody>
      </p:sp>
      <p:sp>
        <p:nvSpPr>
          <p:cNvPr id="12" name="Shape 10"/>
          <p:cNvSpPr/>
          <p:nvPr/>
        </p:nvSpPr>
        <p:spPr>
          <a:xfrm>
            <a:off x="822960" y="3703320"/>
            <a:ext cx="365760" cy="365760"/>
          </a:xfrm>
          <a:prstGeom prst="ellipse">
            <a:avLst/>
          </a:prstGeom>
          <a:solidFill>
            <a:srgbClr val="ECE2D0"/>
          </a:solidFill>
          <a:ln/>
        </p:spPr>
      </p:sp>
      <p:sp>
        <p:nvSpPr>
          <p:cNvPr id="13" name="Text 11"/>
          <p:cNvSpPr/>
          <p:nvPr/>
        </p:nvSpPr>
        <p:spPr>
          <a:xfrm>
            <a:off x="822960" y="3703320"/>
            <a:ext cx="365760" cy="365760"/>
          </a:xfrm>
          <a:prstGeom prst="rect">
            <a:avLst/>
          </a:prstGeom>
          <a:noFill/>
          <a:ln/>
        </p:spPr>
        <p:txBody>
          <a:bodyPr wrap="square" lIns="0" tIns="0" rIns="0" bIns="0" rtlCol="0" anchor="ctr"/>
          <a:lstStyle/>
          <a:p>
            <a:pPr algn="ctr" indent="0" marL="0">
              <a:buNone/>
            </a:pPr>
            <a:r>
              <a:rPr lang="en-US" sz="1400" b="1" dirty="0">
                <a:solidFill>
                  <a:srgbClr val="6D2E46"/>
                </a:solidFill>
                <a:latin typeface="Arial" pitchFamily="34" charset="0"/>
                <a:ea typeface="Arial" pitchFamily="34" charset="-122"/>
                <a:cs typeface="Arial" pitchFamily="34" charset="-120"/>
              </a:rPr>
              <a:t>3</a:t>
            </a:r>
            <a:endParaRPr lang="en-US" sz="1400" dirty="0"/>
          </a:p>
        </p:txBody>
      </p:sp>
      <p:sp>
        <p:nvSpPr>
          <p:cNvPr id="14" name="Text 12"/>
          <p:cNvSpPr/>
          <p:nvPr/>
        </p:nvSpPr>
        <p:spPr>
          <a:xfrm>
            <a:off x="1417320" y="3648456"/>
            <a:ext cx="6766560" cy="365760"/>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ワイン仕入は落としません</a:t>
            </a:r>
            <a:endParaRPr lang="en-US" sz="1550" dirty="0"/>
          </a:p>
        </p:txBody>
      </p:sp>
      <p:sp>
        <p:nvSpPr>
          <p:cNvPr id="15" name="Text 13"/>
          <p:cNvSpPr/>
          <p:nvPr/>
        </p:nvSpPr>
        <p:spPr>
          <a:xfrm>
            <a:off x="1417320" y="4032504"/>
            <a:ext cx="6766560" cy="402336"/>
          </a:xfrm>
          <a:prstGeom prst="rect">
            <a:avLst/>
          </a:prstGeom>
          <a:noFill/>
          <a:ln/>
        </p:spPr>
        <p:txBody>
          <a:bodyPr wrap="square" lIns="0" tIns="0" rIns="0" bIns="0" rtlCol="0" anchor="ctr"/>
          <a:lstStyle/>
          <a:p>
            <a:pPr indent="0" marL="0">
              <a:buNone/>
            </a:pPr>
            <a:r>
              <a:rPr lang="en-US" sz="1150" dirty="0">
                <a:solidFill>
                  <a:srgbClr val="E4CBD6"/>
                </a:solidFill>
                <a:latin typeface="Arial" pitchFamily="34" charset="0"/>
                <a:ea typeface="Arial" pitchFamily="34" charset="-122"/>
                <a:cs typeface="Arial" pitchFamily="34" charset="-120"/>
              </a:rPr>
              <a:t>割当を守り2〜3年先の成長を確保。在庫は時価1.37倍の換価可能資産です。</a:t>
            </a:r>
            <a:endParaRPr lang="en-US" sz="1150" dirty="0"/>
          </a:p>
        </p:txBody>
      </p:sp>
      <p:sp>
        <p:nvSpPr>
          <p:cNvPr id="16" name="Shape 14"/>
          <p:cNvSpPr/>
          <p:nvPr/>
        </p:nvSpPr>
        <p:spPr>
          <a:xfrm>
            <a:off x="822960" y="4727448"/>
            <a:ext cx="365760" cy="365760"/>
          </a:xfrm>
          <a:prstGeom prst="ellipse">
            <a:avLst/>
          </a:prstGeom>
          <a:solidFill>
            <a:srgbClr val="ECE2D0"/>
          </a:solidFill>
          <a:ln/>
        </p:spPr>
      </p:sp>
      <p:sp>
        <p:nvSpPr>
          <p:cNvPr id="17" name="Text 15"/>
          <p:cNvSpPr/>
          <p:nvPr/>
        </p:nvSpPr>
        <p:spPr>
          <a:xfrm>
            <a:off x="822960" y="4727448"/>
            <a:ext cx="365760" cy="365760"/>
          </a:xfrm>
          <a:prstGeom prst="rect">
            <a:avLst/>
          </a:prstGeom>
          <a:noFill/>
          <a:ln/>
        </p:spPr>
        <p:txBody>
          <a:bodyPr wrap="square" lIns="0" tIns="0" rIns="0" bIns="0" rtlCol="0" anchor="ctr"/>
          <a:lstStyle/>
          <a:p>
            <a:pPr algn="ctr" indent="0" marL="0">
              <a:buNone/>
            </a:pPr>
            <a:r>
              <a:rPr lang="en-US" sz="1400" b="1" dirty="0">
                <a:solidFill>
                  <a:srgbClr val="6D2E46"/>
                </a:solidFill>
                <a:latin typeface="Arial" pitchFamily="34" charset="0"/>
                <a:ea typeface="Arial" pitchFamily="34" charset="-122"/>
                <a:cs typeface="Arial" pitchFamily="34" charset="-120"/>
              </a:rPr>
              <a:t>4</a:t>
            </a:r>
            <a:endParaRPr lang="en-US" sz="1400" dirty="0"/>
          </a:p>
        </p:txBody>
      </p:sp>
      <p:sp>
        <p:nvSpPr>
          <p:cNvPr id="18" name="Text 16"/>
          <p:cNvSpPr/>
          <p:nvPr/>
        </p:nvSpPr>
        <p:spPr>
          <a:xfrm>
            <a:off x="1417320" y="4672584"/>
            <a:ext cx="6766560" cy="365760"/>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必要売上621.1百万円は過去2期を下回る</a:t>
            </a:r>
            <a:endParaRPr lang="en-US" sz="1550" dirty="0"/>
          </a:p>
        </p:txBody>
      </p:sp>
      <p:sp>
        <p:nvSpPr>
          <p:cNvPr id="19" name="Text 17"/>
          <p:cNvSpPr/>
          <p:nvPr/>
        </p:nvSpPr>
        <p:spPr>
          <a:xfrm>
            <a:off x="1417320" y="5056632"/>
            <a:ext cx="6766560" cy="402336"/>
          </a:xfrm>
          <a:prstGeom prst="rect">
            <a:avLst/>
          </a:prstGeom>
          <a:noFill/>
          <a:ln/>
        </p:spPr>
        <p:txBody>
          <a:bodyPr wrap="square" lIns="0" tIns="0" rIns="0" bIns="0" rtlCol="0" anchor="ctr"/>
          <a:lstStyle/>
          <a:p>
            <a:pPr indent="0" marL="0">
              <a:buNone/>
            </a:pPr>
            <a:r>
              <a:rPr lang="en-US" sz="1150" dirty="0">
                <a:solidFill>
                  <a:srgbClr val="E4CBD6"/>
                </a:solidFill>
                <a:latin typeface="Arial" pitchFamily="34" charset="0"/>
                <a:ea typeface="Arial" pitchFamily="34" charset="-122"/>
                <a:cs typeface="Arial" pitchFamily="34" charset="-120"/>
              </a:rPr>
              <a:t>FY2025の82.5%、FY2026見込の87.7%。経常利益137.5百万円は保守的な計画です。</a:t>
            </a:r>
            <a:endParaRPr lang="en-US" sz="1150" dirty="0"/>
          </a:p>
        </p:txBody>
      </p:sp>
      <p:sp>
        <p:nvSpPr>
          <p:cNvPr id="20" name="Shape 18"/>
          <p:cNvSpPr/>
          <p:nvPr/>
        </p:nvSpPr>
        <p:spPr>
          <a:xfrm>
            <a:off x="8595360" y="1600200"/>
            <a:ext cx="2971800" cy="3886200"/>
          </a:xfrm>
          <a:prstGeom prst="roundRect">
            <a:avLst>
              <a:gd name="adj" fmla="val 1846"/>
            </a:avLst>
          </a:prstGeom>
          <a:solidFill>
            <a:srgbClr val="5C2439"/>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1" name="Text 19"/>
          <p:cNvSpPr/>
          <p:nvPr/>
        </p:nvSpPr>
        <p:spPr>
          <a:xfrm>
            <a:off x="8823960" y="1828800"/>
            <a:ext cx="2514600" cy="310896"/>
          </a:xfrm>
          <a:prstGeom prst="rect">
            <a:avLst/>
          </a:prstGeom>
          <a:noFill/>
          <a:ln/>
        </p:spPr>
        <p:txBody>
          <a:bodyPr wrap="square" lIns="0" tIns="0" rIns="0" bIns="0" rtlCol="0" anchor="ctr"/>
          <a:lstStyle/>
          <a:p>
            <a:pPr indent="0" marL="0">
              <a:buNone/>
            </a:pPr>
            <a:r>
              <a:rPr lang="en-US" sz="1200" b="1" dirty="0">
                <a:solidFill>
                  <a:srgbClr val="ECE2D0"/>
                </a:solidFill>
                <a:latin typeface="Arial" pitchFamily="34" charset="0"/>
                <a:ea typeface="Arial" pitchFamily="34" charset="-122"/>
                <a:cs typeface="Arial" pitchFamily="34" charset="-120"/>
              </a:rPr>
              <a:t>ご相談事項</a:t>
            </a:r>
            <a:endParaRPr lang="en-US" sz="1200" dirty="0"/>
          </a:p>
        </p:txBody>
      </p:sp>
      <p:sp>
        <p:nvSpPr>
          <p:cNvPr id="22" name="Text 20"/>
          <p:cNvSpPr/>
          <p:nvPr/>
        </p:nvSpPr>
        <p:spPr>
          <a:xfrm>
            <a:off x="8823960" y="2240280"/>
            <a:ext cx="2514600" cy="1828800"/>
          </a:xfrm>
          <a:prstGeom prst="rect">
            <a:avLst/>
          </a:prstGeom>
          <a:noFill/>
          <a:ln/>
        </p:spPr>
        <p:txBody>
          <a:bodyPr wrap="square" lIns="0" tIns="0" rIns="0" bIns="0" rtlCol="0" anchor="ctr"/>
          <a:lstStyle/>
          <a:p>
            <a:pPr marL="342900" indent="-342900">
              <a:spcAft>
                <a:spcPts val="900"/>
              </a:spcAft>
              <a:buSzPct val="100000"/>
              <a:buChar char="•"/>
            </a:pPr>
            <a:r>
              <a:rPr lang="en-US" sz="1100" dirty="0">
                <a:solidFill>
                  <a:srgbClr val="FFFFFF"/>
                </a:solidFill>
                <a:latin typeface="Arial" pitchFamily="34" charset="0"/>
                <a:ea typeface="Arial" pitchFamily="34" charset="-122"/>
                <a:cs typeface="Arial" pitchFamily="34" charset="-120"/>
              </a:rPr>
              <a:t>2026年11月のつなぎ資金</a:t>
            </a:r>
            <a:endParaRPr lang="en-US" sz="1100" dirty="0"/>
          </a:p>
          <a:p>
            <a:pPr marL="342900" indent="-342900">
              <a:spcAft>
                <a:spcPts val="900"/>
              </a:spcAft>
              <a:buSzPct val="100000"/>
              <a:buChar char="•"/>
            </a:pPr>
            <a:r>
              <a:rPr lang="en-US" sz="1100" dirty="0">
                <a:solidFill>
                  <a:srgbClr val="FFFFFF"/>
                </a:solidFill>
                <a:latin typeface="Arial" pitchFamily="34" charset="0"/>
                <a:ea typeface="Arial" pitchFamily="34" charset="-122"/>
                <a:cs typeface="Arial" pitchFamily="34" charset="-120"/>
              </a:rPr>
              <a:t>在庫見合いの運転資金枠</a:t>
            </a:r>
            <a:endParaRPr lang="en-US" sz="1100" dirty="0"/>
          </a:p>
          <a:p>
            <a:pPr marL="342900" indent="-342900">
              <a:spcAft>
                <a:spcPts val="900"/>
              </a:spcAft>
              <a:buSzPct val="100000"/>
              <a:buChar char="•"/>
            </a:pPr>
            <a:r>
              <a:rPr lang="en-US" sz="1100" dirty="0">
                <a:solidFill>
                  <a:srgbClr val="FFFFFF"/>
                </a:solidFill>
                <a:latin typeface="Arial" pitchFamily="34" charset="0"/>
                <a:ea typeface="Arial" pitchFamily="34" charset="-122"/>
                <a:cs typeface="Arial" pitchFamily="34" charset="-120"/>
              </a:rPr>
              <a:t>財務制限条項の事前確認</a:t>
            </a:r>
            <a:endParaRPr lang="en-US" sz="1100" dirty="0"/>
          </a:p>
          <a:p>
            <a:pPr marL="342900" indent="-342900">
              <a:spcAft>
                <a:spcPts val="900"/>
              </a:spcAft>
              <a:buSzPct val="100000"/>
              <a:buChar char="•"/>
            </a:pPr>
            <a:r>
              <a:rPr lang="en-US" sz="1100" dirty="0">
                <a:solidFill>
                  <a:srgbClr val="FFFFFF"/>
                </a:solidFill>
                <a:latin typeface="Arial" pitchFamily="34" charset="0"/>
                <a:ea typeface="Arial" pitchFamily="34" charset="-122"/>
                <a:cs typeface="Arial" pitchFamily="34" charset="-120"/>
              </a:rPr>
              <a:t>月次資金繰り表のご報告</a:t>
            </a:r>
            <a:endParaRPr lang="en-US" sz="1100" dirty="0"/>
          </a:p>
        </p:txBody>
      </p:sp>
      <p:sp>
        <p:nvSpPr>
          <p:cNvPr id="23" name="Text 21"/>
          <p:cNvSpPr/>
          <p:nvPr/>
        </p:nvSpPr>
        <p:spPr>
          <a:xfrm>
            <a:off x="822960" y="5989320"/>
            <a:ext cx="5486400" cy="310896"/>
          </a:xfrm>
          <a:prstGeom prst="rect">
            <a:avLst/>
          </a:prstGeom>
          <a:noFill/>
          <a:ln/>
        </p:spPr>
        <p:txBody>
          <a:bodyPr wrap="square" lIns="0" tIns="0" rIns="0" bIns="0" rtlCol="0" anchor="ctr"/>
          <a:lstStyle/>
          <a:p>
            <a:pPr indent="0" marL="0">
              <a:buNone/>
            </a:pPr>
            <a:r>
              <a:rPr lang="en-US" sz="1100" dirty="0">
                <a:solidFill>
                  <a:srgbClr val="C9A9B6"/>
                </a:solidFill>
                <a:latin typeface="Arial" pitchFamily="34" charset="0"/>
                <a:ea typeface="Arial" pitchFamily="34" charset="-122"/>
                <a:cs typeface="Arial" pitchFamily="34" charset="-120"/>
              </a:rPr>
              <a:t>株式会社WineBank</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WineBank 事業再生計画 FY2027</dc:title>
  <dc:subject>PptxGenJS Presentation</dc:subject>
  <dc:creator>株式会社WineBank</dc:creator>
  <cp:lastModifiedBy>株式会社WineBank</cp:lastModifiedBy>
  <cp:revision>1</cp:revision>
  <dcterms:created xsi:type="dcterms:W3CDTF">2026-08-22T14:45:43Z</dcterms:created>
  <dcterms:modified xsi:type="dcterms:W3CDTF">2026-08-22T14:45:43Z</dcterms:modified>
</cp:coreProperties>
</file>