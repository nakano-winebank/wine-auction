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販管費（百万円）</c:v>
                </c:pt>
              </c:strCache>
            </c:strRef>
          </c:tx>
          <c:spPr>
            <a:solidFill>
              <a:srgbClr val="B8B5AF"/>
            </a:solidFill>
            <a:effectLst/>
          </c:spPr>
          <c:invertIfNegative val="0"/>
          <c:dLbls>
            <c:numFmt formatCode="0.0" sourceLinked="0"/>
            <c:txPr>
              <a:bodyPr/>
              <a:lstStyle/>
              <a:p>
                <a:pPr>
                  <a:defRPr b="0" i="0" strike="noStrike" sz="950" u="none">
                    <a:solidFill>
                      <a:srgbClr val="1A1A1A"/>
                    </a:solidFill>
                    <a:latin typeface="メイリオ"/>
                  </a:defRPr>
                </a:pPr>
              </a:p>
            </c:txPr>
            <c:showLegendKey val="0"/>
            <c:showVal val="1"/>
            <c:showCatName val="0"/>
            <c:showSerName val="0"/>
            <c:showPercent val="0"/>
            <c:showBubbleSize val="0"/>
            <c:showLeaderLines val="0"/>
          </c:dLbls>
          <c:dPt>
            <c:idx val="0"/>
            <c:invertIfNegative val="0"/>
            <c:bubble3D val="0"/>
            <c:spPr>
              <a:solidFill>
                <a:srgbClr val="B8B5AF"/>
              </a:solidFill>
              <a:effectLst/>
            </c:spPr>
          </c:dPt>
          <c:dPt>
            <c:idx val="1"/>
            <c:invertIfNegative val="0"/>
            <c:bubble3D val="0"/>
            <c:spPr>
              <a:solidFill>
                <a:srgbClr val="B8B5AF"/>
              </a:solidFill>
              <a:effectLst/>
            </c:spPr>
          </c:dPt>
          <c:dPt>
            <c:idx val="2"/>
            <c:invertIfNegative val="0"/>
            <c:bubble3D val="0"/>
            <c:spPr>
              <a:solidFill>
                <a:srgbClr val="B8B5AF"/>
              </a:solidFill>
              <a:effectLst/>
            </c:spPr>
          </c:dPt>
          <c:dPt>
            <c:idx val="3"/>
            <c:invertIfNegative val="0"/>
            <c:bubble3D val="0"/>
            <c:spPr>
              <a:solidFill>
                <a:srgbClr val="B8B5AF"/>
              </a:solidFill>
              <a:effectLst/>
            </c:spPr>
          </c:dPt>
          <c:dPt>
            <c:idx val="4"/>
            <c:invertIfNegative val="0"/>
            <c:bubble3D val="0"/>
            <c:spPr>
              <a:solidFill>
                <a:srgbClr val="B8B5AF"/>
              </a:solidFill>
              <a:effectLst/>
            </c:spPr>
          </c:dPt>
          <c:dPt>
            <c:idx val="5"/>
            <c:invertIfNegative val="0"/>
            <c:bubble3D val="0"/>
            <c:spPr>
              <a:solidFill>
                <a:srgbClr val="1A1A1A"/>
              </a:solidFill>
              <a:effectLst/>
            </c:spPr>
          </c:dPt>
          <c:dPt>
            <c:idx val="6"/>
            <c:invertIfNegative val="0"/>
            <c:bubble3D val="0"/>
            <c:spPr>
              <a:solidFill>
                <a:srgbClr val="A98442"/>
              </a:solidFill>
              <a:effectLst/>
            </c:spPr>
          </c:dPt>
          <c:dPt>
            <c:idx val="7"/>
            <c:invertIfNegative val="0"/>
            <c:bubble3D val="0"/>
            <c:spPr>
              <a:solidFill>
                <a:srgbClr val="A98442"/>
              </a:solidFill>
              <a:effectLst/>
            </c:spPr>
          </c:dPt>
          <c:dPt>
            <c:idx val="8"/>
            <c:invertIfNegative val="0"/>
            <c:bubble3D val="0"/>
            <c:spPr>
              <a:solidFill>
                <a:srgbClr val="A98442"/>
              </a:solidFill>
              <a:effectLst/>
            </c:spPr>
          </c:dPt>
          <c:cat>
            <c:multiLvlStrRef>
              <c:f>Sheet1!$A$2:$A$10</c:f>
              <c:multiLvlStrCache>
                <c:ptCount val="9"/>
                <c:lvl>
                  <c:pt idx="0">
                    <c:v>25/10</c:v>
                  </c:pt>
                  <c:pt idx="1">
                    <c:v>25/11</c:v>
                  </c:pt>
                  <c:pt idx="2">
                    <c:v>25/12</c:v>
                  </c:pt>
                  <c:pt idx="3">
                    <c:v>26/01</c:v>
                  </c:pt>
                  <c:pt idx="4">
                    <c:v>26/02</c:v>
                  </c:pt>
                  <c:pt idx="5">
                    <c:v>26/03</c:v>
                  </c:pt>
                  <c:pt idx="6">
                    <c:v>26/04</c:v>
                  </c:pt>
                  <c:pt idx="7">
                    <c:v>26/05</c:v>
                  </c:pt>
                  <c:pt idx="8">
                    <c:v>26/06</c:v>
                  </c:pt>
                </c:lvl>
              </c:multiLvlStrCache>
            </c:multiLvlStrRef>
          </c:cat>
          <c:val>
            <c:numRef>
              <c:f>Sheet1!$B$2:$B$10</c:f>
              <c:numCache>
                <c:formatCode>General</c:formatCode>
                <c:ptCount val="9"/>
                <c:pt idx="0">
                  <c:v>25.374892</c:v>
                </c:pt>
                <c:pt idx="1">
                  <c:v>30.963282</c:v>
                </c:pt>
                <c:pt idx="2">
                  <c:v>38.572456</c:v>
                </c:pt>
                <c:pt idx="3">
                  <c:v>33.761779</c:v>
                </c:pt>
                <c:pt idx="4">
                  <c:v>34.133901</c:v>
                </c:pt>
                <c:pt idx="5">
                  <c:v>38.737868</c:v>
                </c:pt>
                <c:pt idx="6">
                  <c:v>25.883967</c:v>
                </c:pt>
                <c:pt idx="7">
                  <c:v>24.529013</c:v>
                </c:pt>
                <c:pt idx="8">
                  <c:v>24.627286</c:v>
                </c:pt>
              </c:numCache>
            </c:numRef>
          </c:val>
        </c:ser>
        <c:dLbls>
          <c:numFmt formatCode="0.0" sourceLinked="0"/>
          <c:txPr>
            <a:bodyPr/>
            <a:lstStyle/>
            <a:p>
              <a:pPr>
                <a:defRPr b="0" i="0" strike="noStrike" sz="950" u="none">
                  <a:solidFill>
                    <a:srgbClr val="1A1A1A"/>
                  </a:solidFill>
                  <a:latin typeface="メイリオ"/>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C8C8C"/>
                </a:solidFill>
                <a:latin typeface="メイリオ"/>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12700" cap="flat">
              <a:solidFill>
                <a:srgbClr val="ECEA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8C8C8C"/>
                </a:solidFill>
                <a:latin typeface="メイリオ"/>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FY2026の赤字の主因である不採算3店舗の撤退は2026年3月で完了。WineBankテラスはWineBank CLUBのフラッグシップ店として改善のうえ継続。4月以降が再編後の実力値。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プランCはBに、前期・今期の売上平均730.5百万円までの差額208.9百万円を粗利率30%で加算したもの。営業＋95.6百万円、経常＋80.6百万円。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FY2025は経常段階ではほぼ均衡。損失は組織再編の特別損失。FY2026は飲食撤退という構造改革の費用。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公募の遅延という外部要因を、来期は計画の柱から外す。自社でコントロールできる私募を毎年回す体制に変える、という方針転換を明示する。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主題は不採算店の撤退。WineBankテラスは残してフラッグシップ化しており、飲食から全面撤退したわけではない点を補足する。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2026年7月以降は事業計画上の見込値（同一値が並ぶプラグ）のため、実績としては使わずグラフからも除いている。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4月起点とする理由は飲食撤退店舗の損益を除くため。粗利率51.5%は事業構成の変化による。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ティエリーマルクスは2026年4月開業のApiciusグループ店で、アピシウスに次ぐ主力店。Apicius既存株主売却仲介は外部取引。グループ内92.5百万円は先に開示する。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①の粗利減少は、FY2026の大口スポット案件を来期はゼロと置いた保守性の表れ。事業が縮小したわけではない。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Cは損益だけ見れば十分だが資金が回らない。損益と資金は別物であることを明示する。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在庫積み増しは資金を食うが、それは成長投資であり担保余力でもある、という整理。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通常月は経常＋3.4百万円。3月にM&amp;A仲介と新規クルーザー事業30百万円が乗る。通期経常＋80.6百万円。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保守前提でも期中最低14.6百万円を確保。仕入を維持しても在庫が積み上がらないため、資金が固定されないことが効いている。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ソフトウェアは保守的に全額控除。それでも在庫含み益で実態純資産は簿価を上回る。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銀行に指摘される前に自分から出す。これが信頼確保の基本方針。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売上7億円は過去2期の実績値。プランCはそれを下回る6.2億円で成立する。粗利率改善の分だけ上振れ余地がある。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依頼事項を明確にして締める。11月のつなぎと在庫見合い枠の2点が具体的な依頼。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1A1A1A"/>
          </a:solidFill>
          <a:ln/>
        </p:spPr>
      </p:sp>
      <p:sp>
        <p:nvSpPr>
          <p:cNvPr id="3" name="Text 1"/>
          <p:cNvSpPr/>
          <p:nvPr/>
        </p:nvSpPr>
        <p:spPr>
          <a:xfrm>
            <a:off x="822960" y="1554480"/>
            <a:ext cx="8229600" cy="365760"/>
          </a:xfrm>
          <a:prstGeom prst="rect">
            <a:avLst/>
          </a:prstGeom>
          <a:noFill/>
          <a:ln/>
        </p:spPr>
        <p:txBody>
          <a:bodyPr wrap="square" lIns="0" tIns="0" rIns="0" bIns="0" rtlCol="0" anchor="ctr"/>
          <a:lstStyle/>
          <a:p>
            <a:pPr indent="0" marL="0">
              <a:buNone/>
            </a:pPr>
            <a:r>
              <a:rPr lang="en-US" sz="1300" spc="300" kern="0" dirty="0">
                <a:solidFill>
                  <a:srgbClr val="A98442"/>
                </a:solidFill>
                <a:latin typeface="メイリオ" pitchFamily="34" charset="0"/>
                <a:ea typeface="メイリオ" pitchFamily="34" charset="-122"/>
                <a:cs typeface="メイリオ" pitchFamily="34" charset="-120"/>
              </a:rPr>
              <a:t>株式会社WineBank</a:t>
            </a:r>
            <a:endParaRPr lang="en-US" sz="1300" dirty="0"/>
          </a:p>
        </p:txBody>
      </p:sp>
      <p:sp>
        <p:nvSpPr>
          <p:cNvPr id="4" name="Text 2"/>
          <p:cNvSpPr/>
          <p:nvPr/>
        </p:nvSpPr>
        <p:spPr>
          <a:xfrm>
            <a:off x="822960" y="2011680"/>
            <a:ext cx="9144000" cy="868680"/>
          </a:xfrm>
          <a:prstGeom prst="rect">
            <a:avLst/>
          </a:prstGeom>
          <a:noFill/>
          <a:ln/>
        </p:spPr>
        <p:txBody>
          <a:bodyPr wrap="square" lIns="0" tIns="0" rIns="0" bIns="0" rtlCol="0" anchor="ctr"/>
          <a:lstStyle/>
          <a:p>
            <a:pPr indent="0" marL="0">
              <a:buNone/>
            </a:pPr>
            <a:r>
              <a:rPr lang="en-US" sz="4600" b="1" dirty="0">
                <a:solidFill>
                  <a:srgbClr val="1A1A1A"/>
                </a:solidFill>
                <a:latin typeface="メイリオ" pitchFamily="34" charset="0"/>
                <a:ea typeface="メイリオ" pitchFamily="34" charset="-122"/>
                <a:cs typeface="メイリオ" pitchFamily="34" charset="-120"/>
              </a:rPr>
              <a:t>事業再生計画</a:t>
            </a:r>
            <a:endParaRPr lang="en-US" sz="4600" dirty="0"/>
          </a:p>
        </p:txBody>
      </p:sp>
      <p:sp>
        <p:nvSpPr>
          <p:cNvPr id="5" name="Text 3"/>
          <p:cNvSpPr/>
          <p:nvPr/>
        </p:nvSpPr>
        <p:spPr>
          <a:xfrm>
            <a:off x="822960" y="2971800"/>
            <a:ext cx="9601200" cy="548640"/>
          </a:xfrm>
          <a:prstGeom prst="rect">
            <a:avLst/>
          </a:prstGeom>
          <a:noFill/>
          <a:ln/>
        </p:spPr>
        <p:txBody>
          <a:bodyPr wrap="square" lIns="0" tIns="0" rIns="0" bIns="0" rtlCol="0" anchor="ctr"/>
          <a:lstStyle/>
          <a:p>
            <a:pPr indent="0" marL="0">
              <a:buNone/>
            </a:pPr>
            <a:r>
              <a:rPr lang="en-US" sz="2300" dirty="0">
                <a:solidFill>
                  <a:srgbClr val="4A4A4A"/>
                </a:solidFill>
                <a:latin typeface="メイリオ" pitchFamily="34" charset="0"/>
                <a:ea typeface="メイリオ" pitchFamily="34" charset="-122"/>
                <a:cs typeface="メイリオ" pitchFamily="34" charset="-120"/>
              </a:rPr>
              <a:t>2027年9月期 － V字回復の根拠と資金計画</a:t>
            </a:r>
            <a:endParaRPr lang="en-US" sz="2300" dirty="0"/>
          </a:p>
        </p:txBody>
      </p:sp>
      <p:sp>
        <p:nvSpPr>
          <p:cNvPr id="6" name="Shape 4"/>
          <p:cNvSpPr/>
          <p:nvPr/>
        </p:nvSpPr>
        <p:spPr>
          <a:xfrm>
            <a:off x="822960" y="3886200"/>
            <a:ext cx="1463040" cy="22860"/>
          </a:xfrm>
          <a:prstGeom prst="rect">
            <a:avLst/>
          </a:prstGeom>
          <a:solidFill>
            <a:srgbClr val="A98442"/>
          </a:solidFill>
          <a:ln/>
        </p:spPr>
      </p:sp>
      <p:sp>
        <p:nvSpPr>
          <p:cNvPr id="7" name="Text 5"/>
          <p:cNvSpPr/>
          <p:nvPr/>
        </p:nvSpPr>
        <p:spPr>
          <a:xfrm>
            <a:off x="822960" y="4206240"/>
            <a:ext cx="5486400" cy="31089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金融機関・株主各位</a:t>
            </a:r>
            <a:endParaRPr lang="en-US" sz="1300" dirty="0"/>
          </a:p>
        </p:txBody>
      </p:sp>
      <p:sp>
        <p:nvSpPr>
          <p:cNvPr id="8" name="Text 6"/>
          <p:cNvSpPr/>
          <p:nvPr/>
        </p:nvSpPr>
        <p:spPr>
          <a:xfrm>
            <a:off x="822960" y="4572000"/>
            <a:ext cx="5486400" cy="310896"/>
          </a:xfrm>
          <a:prstGeom prst="rect">
            <a:avLst/>
          </a:prstGeom>
          <a:noFill/>
          <a:ln/>
        </p:spPr>
        <p:txBody>
          <a:bodyPr wrap="square" lIns="0" tIns="0" rIns="0" bIns="0" rtlCol="0" anchor="ctr"/>
          <a:lstStyle/>
          <a:p>
            <a:pPr indent="0" marL="0">
              <a:buNone/>
            </a:pPr>
            <a:r>
              <a:rPr lang="en-US" sz="1300" dirty="0">
                <a:solidFill>
                  <a:srgbClr val="8C8C8C"/>
                </a:solidFill>
                <a:latin typeface="メイリオ" pitchFamily="34" charset="0"/>
                <a:ea typeface="メイリオ" pitchFamily="34" charset="-122"/>
                <a:cs typeface="メイリオ" pitchFamily="34" charset="-120"/>
              </a:rPr>
              <a:t>2026年8月</a:t>
            </a:r>
            <a:endParaRPr lang="en-US" sz="1300" dirty="0"/>
          </a:p>
        </p:txBody>
      </p:sp>
      <p:sp>
        <p:nvSpPr>
          <p:cNvPr id="9" name="Text 7"/>
          <p:cNvSpPr/>
          <p:nvPr/>
        </p:nvSpPr>
        <p:spPr>
          <a:xfrm>
            <a:off x="822960" y="5943600"/>
            <a:ext cx="10058400" cy="310896"/>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本資料は2026年6月までの月次実績にもとづく計画です。</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エグゼクティブサマリー</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FY2026の赤字は構造改革の費用。改革は実行済みで、効果は2026年4月以降の実績に表れています。</a:t>
            </a:r>
            <a:endParaRPr lang="en-US" sz="1250" dirty="0"/>
          </a:p>
        </p:txBody>
      </p:sp>
      <p:sp>
        <p:nvSpPr>
          <p:cNvPr id="4" name="Shape 2"/>
          <p:cNvSpPr/>
          <p:nvPr/>
        </p:nvSpPr>
        <p:spPr>
          <a:xfrm>
            <a:off x="594360" y="1481328"/>
            <a:ext cx="6720840" cy="969264"/>
          </a:xfrm>
          <a:prstGeom prst="roundRect">
            <a:avLst>
              <a:gd name="adj" fmla="val 471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Shape 3"/>
          <p:cNvSpPr/>
          <p:nvPr/>
        </p:nvSpPr>
        <p:spPr>
          <a:xfrm>
            <a:off x="841248" y="1810512"/>
            <a:ext cx="310896" cy="310896"/>
          </a:xfrm>
          <a:prstGeom prst="ellipse">
            <a:avLst/>
          </a:prstGeom>
          <a:solidFill>
            <a:srgbClr val="1A1A1A"/>
          </a:solidFill>
          <a:ln/>
        </p:spPr>
      </p:sp>
      <p:sp>
        <p:nvSpPr>
          <p:cNvPr id="6" name="Text 4"/>
          <p:cNvSpPr/>
          <p:nvPr/>
        </p:nvSpPr>
        <p:spPr>
          <a:xfrm>
            <a:off x="841248" y="18105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1</a:t>
            </a:r>
            <a:endParaRPr lang="en-US" sz="1300" dirty="0"/>
          </a:p>
        </p:txBody>
      </p:sp>
      <p:sp>
        <p:nvSpPr>
          <p:cNvPr id="7" name="Text 5"/>
          <p:cNvSpPr/>
          <p:nvPr/>
        </p:nvSpPr>
        <p:spPr>
          <a:xfrm>
            <a:off x="1298448" y="1627632"/>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不採算3店舗の撤退は完了</a:t>
            </a:r>
            <a:endParaRPr lang="en-US" sz="1450" dirty="0"/>
          </a:p>
        </p:txBody>
      </p:sp>
      <p:sp>
        <p:nvSpPr>
          <p:cNvPr id="8" name="Text 6"/>
          <p:cNvSpPr/>
          <p:nvPr/>
        </p:nvSpPr>
        <p:spPr>
          <a:xfrm>
            <a:off x="1298448" y="1984248"/>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2026年3月で完了。1店舗はフラッグシップ店として継続。</a:t>
            </a:r>
            <a:endParaRPr lang="en-US" sz="1100" dirty="0"/>
          </a:p>
        </p:txBody>
      </p:sp>
      <p:sp>
        <p:nvSpPr>
          <p:cNvPr id="9" name="Shape 7"/>
          <p:cNvSpPr/>
          <p:nvPr/>
        </p:nvSpPr>
        <p:spPr>
          <a:xfrm>
            <a:off x="594360" y="2596896"/>
            <a:ext cx="6720840" cy="969264"/>
          </a:xfrm>
          <a:prstGeom prst="roundRect">
            <a:avLst>
              <a:gd name="adj" fmla="val 471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0" name="Shape 8"/>
          <p:cNvSpPr/>
          <p:nvPr/>
        </p:nvSpPr>
        <p:spPr>
          <a:xfrm>
            <a:off x="841248" y="2926080"/>
            <a:ext cx="310896" cy="310896"/>
          </a:xfrm>
          <a:prstGeom prst="ellipse">
            <a:avLst/>
          </a:prstGeom>
          <a:solidFill>
            <a:srgbClr val="1A1A1A"/>
          </a:solidFill>
          <a:ln/>
        </p:spPr>
      </p:sp>
      <p:sp>
        <p:nvSpPr>
          <p:cNvPr id="11" name="Text 9"/>
          <p:cNvSpPr/>
          <p:nvPr/>
        </p:nvSpPr>
        <p:spPr>
          <a:xfrm>
            <a:off x="841248" y="29260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2</a:t>
            </a:r>
            <a:endParaRPr lang="en-US" sz="1300" dirty="0"/>
          </a:p>
        </p:txBody>
      </p:sp>
      <p:sp>
        <p:nvSpPr>
          <p:cNvPr id="12" name="Text 10"/>
          <p:cNvSpPr/>
          <p:nvPr/>
        </p:nvSpPr>
        <p:spPr>
          <a:xfrm>
            <a:off x="1298448" y="2743200"/>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固定費は年103百万円削減済み</a:t>
            </a:r>
            <a:endParaRPr lang="en-US" sz="1450" dirty="0"/>
          </a:p>
        </p:txBody>
      </p:sp>
      <p:sp>
        <p:nvSpPr>
          <p:cNvPr id="13" name="Text 11"/>
          <p:cNvSpPr/>
          <p:nvPr/>
        </p:nvSpPr>
        <p:spPr>
          <a:xfrm>
            <a:off x="1298448" y="3099816"/>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月次販管費 38.7百万円（26/3）→ 24.6百万円（26/6）。</a:t>
            </a:r>
            <a:endParaRPr lang="en-US" sz="1100" dirty="0"/>
          </a:p>
        </p:txBody>
      </p:sp>
      <p:sp>
        <p:nvSpPr>
          <p:cNvPr id="14" name="Shape 12"/>
          <p:cNvSpPr/>
          <p:nvPr/>
        </p:nvSpPr>
        <p:spPr>
          <a:xfrm>
            <a:off x="594360" y="3712464"/>
            <a:ext cx="6720840" cy="969264"/>
          </a:xfrm>
          <a:prstGeom prst="roundRect">
            <a:avLst>
              <a:gd name="adj" fmla="val 471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5" name="Shape 13"/>
          <p:cNvSpPr/>
          <p:nvPr/>
        </p:nvSpPr>
        <p:spPr>
          <a:xfrm>
            <a:off x="841248" y="4041648"/>
            <a:ext cx="310896" cy="310896"/>
          </a:xfrm>
          <a:prstGeom prst="ellipse">
            <a:avLst/>
          </a:prstGeom>
          <a:solidFill>
            <a:srgbClr val="1A1A1A"/>
          </a:solidFill>
          <a:ln/>
        </p:spPr>
      </p:sp>
      <p:sp>
        <p:nvSpPr>
          <p:cNvPr id="16" name="Text 14"/>
          <p:cNvSpPr/>
          <p:nvPr/>
        </p:nvSpPr>
        <p:spPr>
          <a:xfrm>
            <a:off x="841248" y="40416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3</a:t>
            </a:r>
            <a:endParaRPr lang="en-US" sz="1300" dirty="0"/>
          </a:p>
        </p:txBody>
      </p:sp>
      <p:sp>
        <p:nvSpPr>
          <p:cNvPr id="17" name="Text 15"/>
          <p:cNvSpPr/>
          <p:nvPr/>
        </p:nvSpPr>
        <p:spPr>
          <a:xfrm>
            <a:off x="1298448" y="3858768"/>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FY2027に132.5百万円の収益上乗せ</a:t>
            </a:r>
            <a:endParaRPr lang="en-US" sz="1450" dirty="0"/>
          </a:p>
        </p:txBody>
      </p:sp>
      <p:sp>
        <p:nvSpPr>
          <p:cNvPr id="18" name="Text 16"/>
          <p:cNvSpPr/>
          <p:nvPr/>
        </p:nvSpPr>
        <p:spPr>
          <a:xfrm>
            <a:off x="1298448" y="4215384"/>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経営指導料を中心としたストック型収益。</a:t>
            </a:r>
            <a:endParaRPr lang="en-US" sz="1100" dirty="0"/>
          </a:p>
        </p:txBody>
      </p:sp>
      <p:sp>
        <p:nvSpPr>
          <p:cNvPr id="19" name="Shape 17"/>
          <p:cNvSpPr/>
          <p:nvPr/>
        </p:nvSpPr>
        <p:spPr>
          <a:xfrm>
            <a:off x="594360" y="4828032"/>
            <a:ext cx="6720840" cy="969264"/>
          </a:xfrm>
          <a:prstGeom prst="roundRect">
            <a:avLst>
              <a:gd name="adj" fmla="val 471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0" name="Shape 18"/>
          <p:cNvSpPr/>
          <p:nvPr/>
        </p:nvSpPr>
        <p:spPr>
          <a:xfrm>
            <a:off x="841248" y="5157216"/>
            <a:ext cx="310896" cy="310896"/>
          </a:xfrm>
          <a:prstGeom prst="ellipse">
            <a:avLst/>
          </a:prstGeom>
          <a:solidFill>
            <a:srgbClr val="1A1A1A"/>
          </a:solidFill>
          <a:ln/>
        </p:spPr>
      </p:sp>
      <p:sp>
        <p:nvSpPr>
          <p:cNvPr id="21" name="Text 19"/>
          <p:cNvSpPr/>
          <p:nvPr/>
        </p:nvSpPr>
        <p:spPr>
          <a:xfrm>
            <a:off x="841248" y="51572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4</a:t>
            </a:r>
            <a:endParaRPr lang="en-US" sz="1300" dirty="0"/>
          </a:p>
        </p:txBody>
      </p:sp>
      <p:sp>
        <p:nvSpPr>
          <p:cNvPr id="22" name="Text 20"/>
          <p:cNvSpPr/>
          <p:nvPr/>
        </p:nvSpPr>
        <p:spPr>
          <a:xfrm>
            <a:off x="1298448" y="4974336"/>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差額売上の粗利率は30%</a:t>
            </a:r>
            <a:endParaRPr lang="en-US" sz="1450" dirty="0"/>
          </a:p>
        </p:txBody>
      </p:sp>
      <p:sp>
        <p:nvSpPr>
          <p:cNvPr id="23" name="Text 21"/>
          <p:cNvSpPr/>
          <p:nvPr/>
        </p:nvSpPr>
        <p:spPr>
          <a:xfrm>
            <a:off x="1298448" y="5330952"/>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前期・今期の売上平均までの差額は、保守的に粗利率30%で置いています。</a:t>
            </a:r>
            <a:endParaRPr lang="en-US" sz="1100" dirty="0"/>
          </a:p>
        </p:txBody>
      </p:sp>
      <p:sp>
        <p:nvSpPr>
          <p:cNvPr id="24" name="Shape 22"/>
          <p:cNvSpPr/>
          <p:nvPr/>
        </p:nvSpPr>
        <p:spPr>
          <a:xfrm>
            <a:off x="7635240" y="1481328"/>
            <a:ext cx="3931920" cy="4261104"/>
          </a:xfrm>
          <a:prstGeom prst="roundRect">
            <a:avLst>
              <a:gd name="adj" fmla="val 1163"/>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5" name="Text 23"/>
          <p:cNvSpPr/>
          <p:nvPr/>
        </p:nvSpPr>
        <p:spPr>
          <a:xfrm>
            <a:off x="7863840" y="1737360"/>
            <a:ext cx="3474720" cy="274320"/>
          </a:xfrm>
          <a:prstGeom prst="rect">
            <a:avLst/>
          </a:prstGeom>
          <a:noFill/>
          <a:ln/>
        </p:spPr>
        <p:txBody>
          <a:bodyPr wrap="square" lIns="0" tIns="0" rIns="0" bIns="0" rtlCol="0" anchor="ctr"/>
          <a:lstStyle/>
          <a:p>
            <a:pPr algn="ctr" indent="0" marL="0">
              <a:buNone/>
            </a:pPr>
            <a:r>
              <a:rPr lang="en-US" sz="1100" dirty="0">
                <a:solidFill>
                  <a:srgbClr val="D9D7D2"/>
                </a:solidFill>
                <a:latin typeface="メイリオ" pitchFamily="34" charset="0"/>
                <a:ea typeface="メイリオ" pitchFamily="34" charset="-122"/>
                <a:cs typeface="メイリオ" pitchFamily="34" charset="-120"/>
              </a:rPr>
              <a:t>FY2027 営業利益（プランC）</a:t>
            </a:r>
            <a:endParaRPr lang="en-US" sz="1100" dirty="0"/>
          </a:p>
        </p:txBody>
      </p:sp>
      <p:sp>
        <p:nvSpPr>
          <p:cNvPr id="26" name="Text 24"/>
          <p:cNvSpPr/>
          <p:nvPr/>
        </p:nvSpPr>
        <p:spPr>
          <a:xfrm>
            <a:off x="7863840" y="2011680"/>
            <a:ext cx="3474720" cy="777240"/>
          </a:xfrm>
          <a:prstGeom prst="rect">
            <a:avLst/>
          </a:prstGeom>
          <a:noFill/>
          <a:ln/>
        </p:spPr>
        <p:txBody>
          <a:bodyPr wrap="square" lIns="0" tIns="0" rIns="0" bIns="0" rtlCol="0" anchor="ctr"/>
          <a:lstStyle/>
          <a:p>
            <a:pPr algn="ctr" indent="0" marL="0">
              <a:buNone/>
            </a:pPr>
            <a:r>
              <a:rPr lang="en-US" sz="4200" b="1" dirty="0">
                <a:solidFill>
                  <a:srgbClr val="A98442"/>
                </a:solidFill>
                <a:latin typeface="メイリオ" pitchFamily="34" charset="0"/>
                <a:ea typeface="メイリオ" pitchFamily="34" charset="-122"/>
                <a:cs typeface="メイリオ" pitchFamily="34" charset="-120"/>
              </a:rPr>
              <a:t>＋95.6</a:t>
            </a:r>
            <a:endParaRPr lang="en-US" sz="4200" dirty="0"/>
          </a:p>
        </p:txBody>
      </p:sp>
      <p:sp>
        <p:nvSpPr>
          <p:cNvPr id="27" name="Text 25"/>
          <p:cNvSpPr/>
          <p:nvPr/>
        </p:nvSpPr>
        <p:spPr>
          <a:xfrm>
            <a:off x="7863840" y="2770632"/>
            <a:ext cx="3474720" cy="274320"/>
          </a:xfrm>
          <a:prstGeom prst="rect">
            <a:avLst/>
          </a:prstGeom>
          <a:noFill/>
          <a:ln/>
        </p:spPr>
        <p:txBody>
          <a:bodyPr wrap="square" lIns="0" tIns="0" rIns="0" bIns="0" rtlCol="0" anchor="ctr"/>
          <a:lstStyle/>
          <a:p>
            <a:pPr algn="ctr" indent="0" marL="0">
              <a:buNone/>
            </a:pPr>
            <a:r>
              <a:rPr lang="en-US" sz="1100" dirty="0">
                <a:solidFill>
                  <a:srgbClr val="D9D7D2"/>
                </a:solidFill>
                <a:latin typeface="メイリオ" pitchFamily="34" charset="0"/>
                <a:ea typeface="メイリオ" pitchFamily="34" charset="-122"/>
                <a:cs typeface="メイリオ" pitchFamily="34" charset="-120"/>
              </a:rPr>
              <a:t>百万円</a:t>
            </a:r>
            <a:endParaRPr lang="en-US" sz="1100" dirty="0"/>
          </a:p>
        </p:txBody>
      </p:sp>
      <p:sp>
        <p:nvSpPr>
          <p:cNvPr id="28" name="Text 26"/>
          <p:cNvSpPr/>
          <p:nvPr/>
        </p:nvSpPr>
        <p:spPr>
          <a:xfrm>
            <a:off x="7863840" y="3127248"/>
            <a:ext cx="347472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メイリオ" pitchFamily="34" charset="0"/>
                <a:ea typeface="メイリオ" pitchFamily="34" charset="-122"/>
                <a:cs typeface="メイリオ" pitchFamily="34" charset="-120"/>
              </a:rPr>
              <a:t>経常利益は＋80.6百万円</a:t>
            </a:r>
            <a:endParaRPr lang="en-US" sz="1150" dirty="0"/>
          </a:p>
          <a:p>
            <a:pPr algn="ctr" indent="0" marL="0">
              <a:buNone/>
            </a:pPr>
            <a:r>
              <a:rPr lang="en-US" sz="1150" dirty="0">
                <a:solidFill>
                  <a:srgbClr val="FFFFFF"/>
                </a:solidFill>
                <a:latin typeface="メイリオ" pitchFamily="34" charset="0"/>
                <a:ea typeface="メイリオ" pitchFamily="34" charset="-122"/>
                <a:cs typeface="メイリオ" pitchFamily="34" charset="-120"/>
              </a:rPr>
              <a:t>FY2026 ▲124.8百万円からの転換</a:t>
            </a:r>
            <a:endParaRPr lang="en-US" sz="1150" dirty="0"/>
          </a:p>
        </p:txBody>
      </p:sp>
      <p:sp>
        <p:nvSpPr>
          <p:cNvPr id="29" name="Shape 27"/>
          <p:cNvSpPr/>
          <p:nvPr/>
        </p:nvSpPr>
        <p:spPr>
          <a:xfrm>
            <a:off x="8092440" y="3877056"/>
            <a:ext cx="3017520" cy="0"/>
          </a:xfrm>
          <a:prstGeom prst="line">
            <a:avLst/>
          </a:prstGeom>
          <a:noFill/>
          <a:ln w="12700">
            <a:solidFill>
              <a:srgbClr val="6E6E6E"/>
            </a:solidFill>
            <a:prstDash val="solid"/>
          </a:ln>
        </p:spPr>
      </p:sp>
      <p:sp>
        <p:nvSpPr>
          <p:cNvPr id="30" name="Text 28"/>
          <p:cNvSpPr/>
          <p:nvPr/>
        </p:nvSpPr>
        <p:spPr>
          <a:xfrm>
            <a:off x="7863840" y="4023360"/>
            <a:ext cx="3474720" cy="274320"/>
          </a:xfrm>
          <a:prstGeom prst="rect">
            <a:avLst/>
          </a:prstGeom>
          <a:noFill/>
          <a:ln/>
        </p:spPr>
        <p:txBody>
          <a:bodyPr wrap="square" lIns="0" tIns="0" rIns="0" bIns="0" rtlCol="0" anchor="ctr"/>
          <a:lstStyle/>
          <a:p>
            <a:pPr algn="ctr" indent="0" marL="0">
              <a:buNone/>
            </a:pPr>
            <a:r>
              <a:rPr lang="en-US" sz="1100" dirty="0">
                <a:solidFill>
                  <a:srgbClr val="D9D7D2"/>
                </a:solidFill>
                <a:latin typeface="メイリオ" pitchFamily="34" charset="0"/>
                <a:ea typeface="メイリオ" pitchFamily="34" charset="-122"/>
                <a:cs typeface="メイリオ" pitchFamily="34" charset="-120"/>
              </a:rPr>
              <a:t>売上高（上乗せ含む）</a:t>
            </a:r>
            <a:endParaRPr lang="en-US" sz="1100" dirty="0"/>
          </a:p>
        </p:txBody>
      </p:sp>
      <p:sp>
        <p:nvSpPr>
          <p:cNvPr id="31" name="Text 29"/>
          <p:cNvSpPr/>
          <p:nvPr/>
        </p:nvSpPr>
        <p:spPr>
          <a:xfrm>
            <a:off x="7863840" y="4297680"/>
            <a:ext cx="3474720" cy="548640"/>
          </a:xfrm>
          <a:prstGeom prst="rect">
            <a:avLst/>
          </a:prstGeom>
          <a:noFill/>
          <a:ln/>
        </p:spPr>
        <p:txBody>
          <a:bodyPr wrap="square" lIns="0" tIns="0" rIns="0" bIns="0" rtlCol="0" anchor="ctr"/>
          <a:lstStyle/>
          <a:p>
            <a:pPr algn="ctr" indent="0" marL="0">
              <a:buNone/>
            </a:pPr>
            <a:r>
              <a:rPr lang="en-US" sz="2600" b="1" dirty="0">
                <a:solidFill>
                  <a:srgbClr val="A98442"/>
                </a:solidFill>
                <a:latin typeface="メイリオ" pitchFamily="34" charset="0"/>
                <a:ea typeface="メイリオ" pitchFamily="34" charset="-122"/>
                <a:cs typeface="メイリオ" pitchFamily="34" charset="-120"/>
              </a:rPr>
              <a:t>730.5百万円</a:t>
            </a:r>
            <a:endParaRPr lang="en-US" sz="2600" dirty="0"/>
          </a:p>
        </p:txBody>
      </p:sp>
      <p:sp>
        <p:nvSpPr>
          <p:cNvPr id="32" name="Text 30"/>
          <p:cNvSpPr/>
          <p:nvPr/>
        </p:nvSpPr>
        <p:spPr>
          <a:xfrm>
            <a:off x="7863840" y="4901184"/>
            <a:ext cx="3474720" cy="640080"/>
          </a:xfrm>
          <a:prstGeom prst="rect">
            <a:avLst/>
          </a:prstGeom>
          <a:noFill/>
          <a:ln/>
        </p:spPr>
        <p:txBody>
          <a:bodyPr wrap="square" lIns="0" tIns="0" rIns="0" bIns="0" rtlCol="0" anchor="ctr"/>
          <a:lstStyle/>
          <a:p>
            <a:pPr algn="ctr" indent="0" marL="0">
              <a:buNone/>
            </a:pPr>
            <a:r>
              <a:rPr lang="en-US" sz="1100" dirty="0">
                <a:solidFill>
                  <a:srgbClr val="FFFFFF"/>
                </a:solidFill>
                <a:latin typeface="メイリオ" pitchFamily="34" charset="0"/>
                <a:ea typeface="メイリオ" pitchFamily="34" charset="-122"/>
                <a:cs typeface="メイリオ" pitchFamily="34" charset="-120"/>
              </a:rPr>
              <a:t>FY2025実績とFY2026見込の平均</a:t>
            </a:r>
            <a:endParaRPr lang="en-US" sz="1100" dirty="0"/>
          </a:p>
          <a:p>
            <a:pPr algn="ctr" indent="0" marL="0">
              <a:buNone/>
            </a:pPr>
            <a:r>
              <a:rPr lang="en-US" sz="1100" dirty="0">
                <a:solidFill>
                  <a:srgbClr val="FFFFFF"/>
                </a:solidFill>
                <a:latin typeface="メイリオ" pitchFamily="34" charset="0"/>
                <a:ea typeface="メイリオ" pitchFamily="34" charset="-122"/>
                <a:cs typeface="メイリオ" pitchFamily="34" charset="-120"/>
              </a:rPr>
              <a:t>期中最低現預金は＋14.6百万円</a:t>
            </a:r>
            <a:endParaRPr lang="en-US" sz="1100" dirty="0"/>
          </a:p>
        </p:txBody>
      </p:sp>
      <p:sp>
        <p:nvSpPr>
          <p:cNvPr id="33" name="Text 31"/>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出典：事業計画202608（銀行様）全社シート月次実績、決算報告書 第54期、2026年7月度 取締役会資料</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FY2025・FY2026 － 性質の異なる2期の赤字</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いずれも一過性・構造改革に起因するもので、本業の継続的な採算悪化ではありません。</a:t>
            </a:r>
            <a:endParaRPr lang="en-US" sz="1250" dirty="0"/>
          </a:p>
        </p:txBody>
      </p:sp>
      <p:sp>
        <p:nvSpPr>
          <p:cNvPr id="4" name="Shape 2"/>
          <p:cNvSpPr/>
          <p:nvPr/>
        </p:nvSpPr>
        <p:spPr>
          <a:xfrm>
            <a:off x="594360" y="1463040"/>
            <a:ext cx="5486400" cy="4343400"/>
          </a:xfrm>
          <a:prstGeom prst="roundRect">
            <a:avLst>
              <a:gd name="adj" fmla="val 1053"/>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Text 3"/>
          <p:cNvSpPr/>
          <p:nvPr/>
        </p:nvSpPr>
        <p:spPr>
          <a:xfrm>
            <a:off x="914400" y="1691640"/>
            <a:ext cx="4846320" cy="292608"/>
          </a:xfrm>
          <a:prstGeom prst="rect">
            <a:avLst/>
          </a:prstGeom>
          <a:noFill/>
          <a:ln/>
        </p:spPr>
        <p:txBody>
          <a:bodyPr wrap="square" lIns="0" tIns="0" rIns="0" bIns="0" rtlCol="0" anchor="ctr"/>
          <a:lstStyle/>
          <a:p>
            <a:pPr indent="0" marL="0">
              <a:buNone/>
            </a:pPr>
            <a:r>
              <a:rPr lang="en-US" sz="1150" b="1" dirty="0">
                <a:solidFill>
                  <a:srgbClr val="8C8C8C"/>
                </a:solidFill>
                <a:latin typeface="メイリオ" pitchFamily="34" charset="0"/>
                <a:ea typeface="メイリオ" pitchFamily="34" charset="-122"/>
                <a:cs typeface="メイリオ" pitchFamily="34" charset="-120"/>
              </a:rPr>
              <a:t>FY2025（2025年9月期）実績</a:t>
            </a:r>
            <a:endParaRPr lang="en-US" sz="1150" dirty="0"/>
          </a:p>
        </p:txBody>
      </p:sp>
      <p:sp>
        <p:nvSpPr>
          <p:cNvPr id="6" name="Text 4"/>
          <p:cNvSpPr/>
          <p:nvPr/>
        </p:nvSpPr>
        <p:spPr>
          <a:xfrm>
            <a:off x="914400" y="2011680"/>
            <a:ext cx="4846320" cy="457200"/>
          </a:xfrm>
          <a:prstGeom prst="rect">
            <a:avLst/>
          </a:prstGeom>
          <a:noFill/>
          <a:ln/>
        </p:spPr>
        <p:txBody>
          <a:bodyPr wrap="square" lIns="0" tIns="0" rIns="0" bIns="0" rtlCol="0" anchor="ctr"/>
          <a:lstStyle/>
          <a:p>
            <a:pPr indent="0" marL="0">
              <a:buNone/>
            </a:pPr>
            <a:r>
              <a:rPr lang="en-US" sz="2200" b="1" dirty="0">
                <a:solidFill>
                  <a:srgbClr val="1A1A1A"/>
                </a:solidFill>
                <a:latin typeface="メイリオ" pitchFamily="34" charset="0"/>
                <a:ea typeface="メイリオ" pitchFamily="34" charset="-122"/>
                <a:cs typeface="メイリオ" pitchFamily="34" charset="-120"/>
              </a:rPr>
              <a:t>当期純損失 ▲127.8百万円</a:t>
            </a:r>
            <a:endParaRPr lang="en-US" sz="2200" dirty="0"/>
          </a:p>
        </p:txBody>
      </p:sp>
      <p:sp>
        <p:nvSpPr>
          <p:cNvPr id="7" name="Text 5"/>
          <p:cNvSpPr/>
          <p:nvPr/>
        </p:nvSpPr>
        <p:spPr>
          <a:xfrm>
            <a:off x="914400" y="2514600"/>
            <a:ext cx="4846320" cy="621792"/>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経常損失は▲5.8百万円にとどまる。損失の大半は組織再編に伴う特別損失。</a:t>
            </a:r>
            <a:endParaRPr lang="en-US" sz="1100" dirty="0"/>
          </a:p>
        </p:txBody>
      </p:sp>
      <p:sp>
        <p:nvSpPr>
          <p:cNvPr id="8" name="Shape 6"/>
          <p:cNvSpPr/>
          <p:nvPr/>
        </p:nvSpPr>
        <p:spPr>
          <a:xfrm>
            <a:off x="914400" y="3246120"/>
            <a:ext cx="4846320" cy="457200"/>
          </a:xfrm>
          <a:prstGeom prst="rect">
            <a:avLst/>
          </a:prstGeom>
          <a:solidFill>
            <a:srgbClr val="FBFAF8"/>
          </a:solidFill>
          <a:ln w="6350">
            <a:solidFill>
              <a:srgbClr val="E2E0DC"/>
            </a:solidFill>
            <a:prstDash val="solid"/>
          </a:ln>
        </p:spPr>
      </p:sp>
      <p:sp>
        <p:nvSpPr>
          <p:cNvPr id="9" name="Text 7"/>
          <p:cNvSpPr/>
          <p:nvPr/>
        </p:nvSpPr>
        <p:spPr>
          <a:xfrm>
            <a:off x="1051560" y="324612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事業譲渡損</a:t>
            </a:r>
            <a:endParaRPr lang="en-US" sz="1050" dirty="0"/>
          </a:p>
        </p:txBody>
      </p:sp>
      <p:sp>
        <p:nvSpPr>
          <p:cNvPr id="10" name="Text 8"/>
          <p:cNvSpPr/>
          <p:nvPr/>
        </p:nvSpPr>
        <p:spPr>
          <a:xfrm>
            <a:off x="3886200" y="324612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59.8百万円</a:t>
            </a:r>
            <a:endParaRPr lang="en-US" sz="1150" dirty="0"/>
          </a:p>
        </p:txBody>
      </p:sp>
      <p:sp>
        <p:nvSpPr>
          <p:cNvPr id="11" name="Shape 9"/>
          <p:cNvSpPr/>
          <p:nvPr/>
        </p:nvSpPr>
        <p:spPr>
          <a:xfrm>
            <a:off x="914400" y="3794760"/>
            <a:ext cx="4846320" cy="457200"/>
          </a:xfrm>
          <a:prstGeom prst="rect">
            <a:avLst/>
          </a:prstGeom>
          <a:solidFill>
            <a:srgbClr val="FBFAF8"/>
          </a:solidFill>
          <a:ln w="6350">
            <a:solidFill>
              <a:srgbClr val="E2E0DC"/>
            </a:solidFill>
            <a:prstDash val="solid"/>
          </a:ln>
        </p:spPr>
      </p:sp>
      <p:sp>
        <p:nvSpPr>
          <p:cNvPr id="12" name="Text 10"/>
          <p:cNvSpPr/>
          <p:nvPr/>
        </p:nvSpPr>
        <p:spPr>
          <a:xfrm>
            <a:off x="1051560" y="379476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固定資産除却損</a:t>
            </a:r>
            <a:endParaRPr lang="en-US" sz="1050" dirty="0"/>
          </a:p>
        </p:txBody>
      </p:sp>
      <p:sp>
        <p:nvSpPr>
          <p:cNvPr id="13" name="Text 11"/>
          <p:cNvSpPr/>
          <p:nvPr/>
        </p:nvSpPr>
        <p:spPr>
          <a:xfrm>
            <a:off x="3886200" y="379476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18.1百万円</a:t>
            </a:r>
            <a:endParaRPr lang="en-US" sz="1150" dirty="0"/>
          </a:p>
        </p:txBody>
      </p:sp>
      <p:sp>
        <p:nvSpPr>
          <p:cNvPr id="14" name="Shape 12"/>
          <p:cNvSpPr/>
          <p:nvPr/>
        </p:nvSpPr>
        <p:spPr>
          <a:xfrm>
            <a:off x="914400" y="4343400"/>
            <a:ext cx="4846320" cy="457200"/>
          </a:xfrm>
          <a:prstGeom prst="rect">
            <a:avLst/>
          </a:prstGeom>
          <a:solidFill>
            <a:srgbClr val="FBFAF8"/>
          </a:solidFill>
          <a:ln w="6350">
            <a:solidFill>
              <a:srgbClr val="E2E0DC"/>
            </a:solidFill>
            <a:prstDash val="solid"/>
          </a:ln>
        </p:spPr>
      </p:sp>
      <p:sp>
        <p:nvSpPr>
          <p:cNvPr id="15" name="Text 13"/>
          <p:cNvSpPr/>
          <p:nvPr/>
        </p:nvSpPr>
        <p:spPr>
          <a:xfrm>
            <a:off x="1051560" y="434340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抱合せ株式消滅差損</a:t>
            </a:r>
            <a:endParaRPr lang="en-US" sz="1050" dirty="0"/>
          </a:p>
        </p:txBody>
      </p:sp>
      <p:sp>
        <p:nvSpPr>
          <p:cNvPr id="16" name="Text 14"/>
          <p:cNvSpPr/>
          <p:nvPr/>
        </p:nvSpPr>
        <p:spPr>
          <a:xfrm>
            <a:off x="3886200" y="434340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45.4百万円</a:t>
            </a:r>
            <a:endParaRPr lang="en-US" sz="1150" dirty="0"/>
          </a:p>
        </p:txBody>
      </p:sp>
      <p:sp>
        <p:nvSpPr>
          <p:cNvPr id="17" name="Shape 15"/>
          <p:cNvSpPr/>
          <p:nvPr/>
        </p:nvSpPr>
        <p:spPr>
          <a:xfrm>
            <a:off x="914400" y="4892040"/>
            <a:ext cx="4846320" cy="457200"/>
          </a:xfrm>
          <a:prstGeom prst="rect">
            <a:avLst/>
          </a:prstGeom>
          <a:solidFill>
            <a:srgbClr val="FAF3E2"/>
          </a:solidFill>
          <a:ln w="6350">
            <a:solidFill>
              <a:srgbClr val="E2E0DC"/>
            </a:solidFill>
            <a:prstDash val="solid"/>
          </a:ln>
        </p:spPr>
      </p:sp>
      <p:sp>
        <p:nvSpPr>
          <p:cNvPr id="18" name="Text 16"/>
          <p:cNvSpPr/>
          <p:nvPr/>
        </p:nvSpPr>
        <p:spPr>
          <a:xfrm>
            <a:off x="1051560" y="4892040"/>
            <a:ext cx="3017520" cy="45720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特別損失 計</a:t>
            </a:r>
            <a:endParaRPr lang="en-US" sz="1050" dirty="0"/>
          </a:p>
        </p:txBody>
      </p:sp>
      <p:sp>
        <p:nvSpPr>
          <p:cNvPr id="19" name="Text 17"/>
          <p:cNvSpPr/>
          <p:nvPr/>
        </p:nvSpPr>
        <p:spPr>
          <a:xfrm>
            <a:off x="3886200" y="489204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123.4百万円</a:t>
            </a:r>
            <a:endParaRPr lang="en-US" sz="1150" dirty="0"/>
          </a:p>
        </p:txBody>
      </p:sp>
      <p:sp>
        <p:nvSpPr>
          <p:cNvPr id="20" name="Shape 18"/>
          <p:cNvSpPr/>
          <p:nvPr/>
        </p:nvSpPr>
        <p:spPr>
          <a:xfrm>
            <a:off x="6400800" y="1463040"/>
            <a:ext cx="5486400" cy="4343400"/>
          </a:xfrm>
          <a:prstGeom prst="roundRect">
            <a:avLst>
              <a:gd name="adj" fmla="val 1053"/>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1" name="Text 19"/>
          <p:cNvSpPr/>
          <p:nvPr/>
        </p:nvSpPr>
        <p:spPr>
          <a:xfrm>
            <a:off x="6720840" y="1691640"/>
            <a:ext cx="4846320" cy="292608"/>
          </a:xfrm>
          <a:prstGeom prst="rect">
            <a:avLst/>
          </a:prstGeom>
          <a:noFill/>
          <a:ln/>
        </p:spPr>
        <p:txBody>
          <a:bodyPr wrap="square" lIns="0" tIns="0" rIns="0" bIns="0" rtlCol="0" anchor="ctr"/>
          <a:lstStyle/>
          <a:p>
            <a:pPr indent="0" marL="0">
              <a:buNone/>
            </a:pPr>
            <a:r>
              <a:rPr lang="en-US" sz="1150" b="1" dirty="0">
                <a:solidFill>
                  <a:srgbClr val="8C8C8C"/>
                </a:solidFill>
                <a:latin typeface="メイリオ" pitchFamily="34" charset="0"/>
                <a:ea typeface="メイリオ" pitchFamily="34" charset="-122"/>
                <a:cs typeface="メイリオ" pitchFamily="34" charset="-120"/>
              </a:rPr>
              <a:t>FY2026（2026年9月期）見込</a:t>
            </a:r>
            <a:endParaRPr lang="en-US" sz="1150" dirty="0"/>
          </a:p>
        </p:txBody>
      </p:sp>
      <p:sp>
        <p:nvSpPr>
          <p:cNvPr id="22" name="Text 20"/>
          <p:cNvSpPr/>
          <p:nvPr/>
        </p:nvSpPr>
        <p:spPr>
          <a:xfrm>
            <a:off x="6720840" y="2011680"/>
            <a:ext cx="4846320" cy="457200"/>
          </a:xfrm>
          <a:prstGeom prst="rect">
            <a:avLst/>
          </a:prstGeom>
          <a:noFill/>
          <a:ln/>
        </p:spPr>
        <p:txBody>
          <a:bodyPr wrap="square" lIns="0" tIns="0" rIns="0" bIns="0" rtlCol="0" anchor="ctr"/>
          <a:lstStyle/>
          <a:p>
            <a:pPr indent="0" marL="0">
              <a:buNone/>
            </a:pPr>
            <a:r>
              <a:rPr lang="en-US" sz="2200" b="1" dirty="0">
                <a:solidFill>
                  <a:srgbClr val="1A1A1A"/>
                </a:solidFill>
                <a:latin typeface="メイリオ" pitchFamily="34" charset="0"/>
                <a:ea typeface="メイリオ" pitchFamily="34" charset="-122"/>
                <a:cs typeface="メイリオ" pitchFamily="34" charset="-120"/>
              </a:rPr>
              <a:t>経常損失 ▲124.8百万円</a:t>
            </a:r>
            <a:endParaRPr lang="en-US" sz="2200" dirty="0"/>
          </a:p>
        </p:txBody>
      </p:sp>
      <p:sp>
        <p:nvSpPr>
          <p:cNvPr id="23" name="Text 21"/>
          <p:cNvSpPr/>
          <p:nvPr/>
        </p:nvSpPr>
        <p:spPr>
          <a:xfrm>
            <a:off x="6720840" y="2514600"/>
            <a:ext cx="4846320" cy="621792"/>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不採算3店舗の撤退と、それに伴う一時費用・先行投資が主因。撤退は2026年3月で完了。</a:t>
            </a:r>
            <a:endParaRPr lang="en-US" sz="1100" dirty="0"/>
          </a:p>
        </p:txBody>
      </p:sp>
      <p:sp>
        <p:nvSpPr>
          <p:cNvPr id="24" name="Shape 22"/>
          <p:cNvSpPr/>
          <p:nvPr/>
        </p:nvSpPr>
        <p:spPr>
          <a:xfrm>
            <a:off x="6720840" y="3246120"/>
            <a:ext cx="4846320" cy="457200"/>
          </a:xfrm>
          <a:prstGeom prst="rect">
            <a:avLst/>
          </a:prstGeom>
          <a:solidFill>
            <a:srgbClr val="FBFAF8"/>
          </a:solidFill>
          <a:ln w="6350">
            <a:solidFill>
              <a:srgbClr val="E2E0DC"/>
            </a:solidFill>
            <a:prstDash val="solid"/>
          </a:ln>
        </p:spPr>
      </p:sp>
      <p:sp>
        <p:nvSpPr>
          <p:cNvPr id="25" name="Text 23"/>
          <p:cNvSpPr/>
          <p:nvPr/>
        </p:nvSpPr>
        <p:spPr>
          <a:xfrm>
            <a:off x="6858000" y="324612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上期(10-3月) 販管費 月平均</a:t>
            </a:r>
            <a:endParaRPr lang="en-US" sz="1050" dirty="0"/>
          </a:p>
        </p:txBody>
      </p:sp>
      <p:sp>
        <p:nvSpPr>
          <p:cNvPr id="26" name="Text 24"/>
          <p:cNvSpPr/>
          <p:nvPr/>
        </p:nvSpPr>
        <p:spPr>
          <a:xfrm>
            <a:off x="9692640" y="324612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33.6百万円</a:t>
            </a:r>
            <a:endParaRPr lang="en-US" sz="1150" dirty="0"/>
          </a:p>
        </p:txBody>
      </p:sp>
      <p:sp>
        <p:nvSpPr>
          <p:cNvPr id="27" name="Shape 25"/>
          <p:cNvSpPr/>
          <p:nvPr/>
        </p:nvSpPr>
        <p:spPr>
          <a:xfrm>
            <a:off x="6720840" y="3794760"/>
            <a:ext cx="4846320" cy="457200"/>
          </a:xfrm>
          <a:prstGeom prst="rect">
            <a:avLst/>
          </a:prstGeom>
          <a:solidFill>
            <a:srgbClr val="FBFAF8"/>
          </a:solidFill>
          <a:ln w="6350">
            <a:solidFill>
              <a:srgbClr val="E2E0DC"/>
            </a:solidFill>
            <a:prstDash val="solid"/>
          </a:ln>
        </p:spPr>
      </p:sp>
      <p:sp>
        <p:nvSpPr>
          <p:cNvPr id="28" name="Text 26"/>
          <p:cNvSpPr/>
          <p:nvPr/>
        </p:nvSpPr>
        <p:spPr>
          <a:xfrm>
            <a:off x="6858000" y="379476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下期(4-6月) 販管費 月平均</a:t>
            </a:r>
            <a:endParaRPr lang="en-US" sz="1050" dirty="0"/>
          </a:p>
        </p:txBody>
      </p:sp>
      <p:sp>
        <p:nvSpPr>
          <p:cNvPr id="29" name="Text 27"/>
          <p:cNvSpPr/>
          <p:nvPr/>
        </p:nvSpPr>
        <p:spPr>
          <a:xfrm>
            <a:off x="9692640" y="379476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25.0百万円</a:t>
            </a:r>
            <a:endParaRPr lang="en-US" sz="1150" dirty="0"/>
          </a:p>
        </p:txBody>
      </p:sp>
      <p:sp>
        <p:nvSpPr>
          <p:cNvPr id="30" name="Shape 28"/>
          <p:cNvSpPr/>
          <p:nvPr/>
        </p:nvSpPr>
        <p:spPr>
          <a:xfrm>
            <a:off x="6720840" y="4343400"/>
            <a:ext cx="4846320" cy="457200"/>
          </a:xfrm>
          <a:prstGeom prst="rect">
            <a:avLst/>
          </a:prstGeom>
          <a:solidFill>
            <a:srgbClr val="FBFAF8"/>
          </a:solidFill>
          <a:ln w="6350">
            <a:solidFill>
              <a:srgbClr val="E2E0DC"/>
            </a:solidFill>
            <a:prstDash val="solid"/>
          </a:ln>
        </p:spPr>
      </p:sp>
      <p:sp>
        <p:nvSpPr>
          <p:cNvPr id="31" name="Text 29"/>
          <p:cNvSpPr/>
          <p:nvPr/>
        </p:nvSpPr>
        <p:spPr>
          <a:xfrm>
            <a:off x="6858000" y="434340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削減額</a:t>
            </a:r>
            <a:endParaRPr lang="en-US" sz="1050" dirty="0"/>
          </a:p>
        </p:txBody>
      </p:sp>
      <p:sp>
        <p:nvSpPr>
          <p:cNvPr id="32" name="Text 30"/>
          <p:cNvSpPr/>
          <p:nvPr/>
        </p:nvSpPr>
        <p:spPr>
          <a:xfrm>
            <a:off x="9692640" y="434340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月 ▲8.6百万円</a:t>
            </a:r>
            <a:endParaRPr lang="en-US" sz="1150" dirty="0"/>
          </a:p>
        </p:txBody>
      </p:sp>
      <p:sp>
        <p:nvSpPr>
          <p:cNvPr id="33" name="Shape 31"/>
          <p:cNvSpPr/>
          <p:nvPr/>
        </p:nvSpPr>
        <p:spPr>
          <a:xfrm>
            <a:off x="6720840" y="4892040"/>
            <a:ext cx="4846320" cy="457200"/>
          </a:xfrm>
          <a:prstGeom prst="rect">
            <a:avLst/>
          </a:prstGeom>
          <a:solidFill>
            <a:srgbClr val="FAF3E2"/>
          </a:solidFill>
          <a:ln w="6350">
            <a:solidFill>
              <a:srgbClr val="E2E0DC"/>
            </a:solidFill>
            <a:prstDash val="solid"/>
          </a:ln>
        </p:spPr>
      </p:sp>
      <p:sp>
        <p:nvSpPr>
          <p:cNvPr id="34" name="Text 32"/>
          <p:cNvSpPr/>
          <p:nvPr/>
        </p:nvSpPr>
        <p:spPr>
          <a:xfrm>
            <a:off x="6858000" y="4892040"/>
            <a:ext cx="3017520" cy="45720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年換算</a:t>
            </a:r>
            <a:endParaRPr lang="en-US" sz="1050" dirty="0"/>
          </a:p>
        </p:txBody>
      </p:sp>
      <p:sp>
        <p:nvSpPr>
          <p:cNvPr id="35" name="Text 33"/>
          <p:cNvSpPr/>
          <p:nvPr/>
        </p:nvSpPr>
        <p:spPr>
          <a:xfrm>
            <a:off x="9692640" y="489204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▲103百万円</a:t>
            </a:r>
            <a:endParaRPr lang="en-US" sz="1150" dirty="0"/>
          </a:p>
        </p:txBody>
      </p:sp>
      <p:sp>
        <p:nvSpPr>
          <p:cNvPr id="36" name="Text 34"/>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出典：決算報告書 第54期（2025年9月期）、事業計画202608（銀行様）全社シート</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今期の反省と来期の方針</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数字が悪かった原因を切り分け、来期の打ち手に落としています。</a:t>
            </a:r>
            <a:endParaRPr lang="en-US" sz="1250" dirty="0"/>
          </a:p>
        </p:txBody>
      </p:sp>
      <p:sp>
        <p:nvSpPr>
          <p:cNvPr id="4" name="Text 2"/>
          <p:cNvSpPr/>
          <p:nvPr/>
        </p:nvSpPr>
        <p:spPr>
          <a:xfrm>
            <a:off x="594360" y="1463040"/>
            <a:ext cx="5349240" cy="329184"/>
          </a:xfrm>
          <a:prstGeom prst="rect">
            <a:avLst/>
          </a:prstGeom>
          <a:noFill/>
          <a:ln/>
        </p:spPr>
        <p:txBody>
          <a:bodyPr wrap="square" lIns="0" tIns="0" rIns="0" bIns="0" rtlCol="0" anchor="ctr"/>
          <a:lstStyle/>
          <a:p>
            <a:pPr indent="0" marL="0">
              <a:buNone/>
            </a:pPr>
            <a:r>
              <a:rPr lang="en-US" sz="1700" b="1" dirty="0">
                <a:solidFill>
                  <a:srgbClr val="1A1A1A"/>
                </a:solidFill>
                <a:latin typeface="メイリオ" pitchFamily="34" charset="0"/>
                <a:ea typeface="メイリオ" pitchFamily="34" charset="-122"/>
                <a:cs typeface="メイリオ" pitchFamily="34" charset="-120"/>
              </a:rPr>
              <a:t>今期（FY2026）の反省</a:t>
            </a:r>
            <a:endParaRPr lang="en-US" sz="1700" dirty="0"/>
          </a:p>
        </p:txBody>
      </p:sp>
      <p:sp>
        <p:nvSpPr>
          <p:cNvPr id="5" name="Shape 3"/>
          <p:cNvSpPr/>
          <p:nvPr/>
        </p:nvSpPr>
        <p:spPr>
          <a:xfrm>
            <a:off x="594360" y="1847088"/>
            <a:ext cx="1280160" cy="22860"/>
          </a:xfrm>
          <a:prstGeom prst="rect">
            <a:avLst/>
          </a:prstGeom>
          <a:solidFill>
            <a:srgbClr val="A98442"/>
          </a:solidFill>
          <a:ln/>
        </p:spPr>
      </p:sp>
      <p:sp>
        <p:nvSpPr>
          <p:cNvPr id="6" name="Shape 4"/>
          <p:cNvSpPr/>
          <p:nvPr/>
        </p:nvSpPr>
        <p:spPr>
          <a:xfrm>
            <a:off x="594360" y="2084832"/>
            <a:ext cx="5349240" cy="1115568"/>
          </a:xfrm>
          <a:prstGeom prst="roundRect">
            <a:avLst>
              <a:gd name="adj" fmla="val 409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7" name="Shape 5"/>
          <p:cNvSpPr/>
          <p:nvPr/>
        </p:nvSpPr>
        <p:spPr>
          <a:xfrm>
            <a:off x="868680" y="2468880"/>
            <a:ext cx="310896" cy="310896"/>
          </a:xfrm>
          <a:prstGeom prst="ellipse">
            <a:avLst/>
          </a:prstGeom>
          <a:solidFill>
            <a:srgbClr val="1A1A1A"/>
          </a:solidFill>
          <a:ln/>
        </p:spPr>
      </p:sp>
      <p:sp>
        <p:nvSpPr>
          <p:cNvPr id="8" name="Text 6"/>
          <p:cNvSpPr/>
          <p:nvPr/>
        </p:nvSpPr>
        <p:spPr>
          <a:xfrm>
            <a:off x="868680" y="2468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1</a:t>
            </a:r>
            <a:endParaRPr lang="en-US" sz="1300" dirty="0"/>
          </a:p>
        </p:txBody>
      </p:sp>
      <p:sp>
        <p:nvSpPr>
          <p:cNvPr id="9" name="Text 7"/>
          <p:cNvSpPr/>
          <p:nvPr/>
        </p:nvSpPr>
        <p:spPr>
          <a:xfrm>
            <a:off x="1325880" y="2249424"/>
            <a:ext cx="4434840" cy="365760"/>
          </a:xfrm>
          <a:prstGeom prst="rect">
            <a:avLst/>
          </a:prstGeom>
          <a:noFill/>
          <a:ln/>
        </p:spPr>
        <p:txBody>
          <a:bodyPr wrap="square" lIns="0" tIns="0" rIns="0" bIns="0" rtlCol="0" anchor="ctr"/>
          <a:lstStyle/>
          <a:p>
            <a:pPr indent="0" marL="0">
              <a:buNone/>
            </a:pPr>
            <a:r>
              <a:rPr lang="en-US" sz="1250" b="1" dirty="0">
                <a:solidFill>
                  <a:srgbClr val="1A1A1A"/>
                </a:solidFill>
                <a:latin typeface="メイリオ" pitchFamily="34" charset="0"/>
                <a:ea typeface="メイリオ" pitchFamily="34" charset="-122"/>
                <a:cs typeface="メイリオ" pitchFamily="34" charset="-120"/>
              </a:rPr>
              <a:t>前期合併により引き継いだ飲食店</a:t>
            </a:r>
            <a:endParaRPr lang="en-US" sz="1250" dirty="0"/>
          </a:p>
        </p:txBody>
      </p:sp>
      <p:sp>
        <p:nvSpPr>
          <p:cNvPr id="10" name="Text 8"/>
          <p:cNvSpPr/>
          <p:nvPr/>
        </p:nvSpPr>
        <p:spPr>
          <a:xfrm>
            <a:off x="1325880" y="2633472"/>
            <a:ext cx="4434840" cy="475488"/>
          </a:xfrm>
          <a:prstGeom prst="rect">
            <a:avLst/>
          </a:prstGeom>
          <a:noFill/>
          <a:ln/>
        </p:spPr>
        <p:txBody>
          <a:bodyPr wrap="square" lIns="0" tIns="0" rIns="0" bIns="0" rtlCol="0" anchor="ctr"/>
          <a:lstStyle/>
          <a:p>
            <a:pPr indent="0" marL="0">
              <a:buNone/>
            </a:pPr>
            <a:r>
              <a:rPr lang="en-US" sz="1050" dirty="0">
                <a:solidFill>
                  <a:srgbClr val="4A4A4A"/>
                </a:solidFill>
                <a:latin typeface="メイリオ" pitchFamily="34" charset="0"/>
                <a:ea typeface="メイリオ" pitchFamily="34" charset="-122"/>
                <a:cs typeface="メイリオ" pitchFamily="34" charset="-120"/>
              </a:rPr>
              <a:t>上期の収益を圧迫。不採算3店舗は2026年3月に撤退完了。</a:t>
            </a:r>
            <a:endParaRPr lang="en-US" sz="1050" dirty="0"/>
          </a:p>
        </p:txBody>
      </p:sp>
      <p:sp>
        <p:nvSpPr>
          <p:cNvPr id="11" name="Shape 9"/>
          <p:cNvSpPr/>
          <p:nvPr/>
        </p:nvSpPr>
        <p:spPr>
          <a:xfrm>
            <a:off x="594360" y="3346704"/>
            <a:ext cx="5349240" cy="1115568"/>
          </a:xfrm>
          <a:prstGeom prst="roundRect">
            <a:avLst>
              <a:gd name="adj" fmla="val 409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2" name="Shape 10"/>
          <p:cNvSpPr/>
          <p:nvPr/>
        </p:nvSpPr>
        <p:spPr>
          <a:xfrm>
            <a:off x="868680" y="3730752"/>
            <a:ext cx="310896" cy="310896"/>
          </a:xfrm>
          <a:prstGeom prst="ellipse">
            <a:avLst/>
          </a:prstGeom>
          <a:solidFill>
            <a:srgbClr val="1A1A1A"/>
          </a:solidFill>
          <a:ln/>
        </p:spPr>
      </p:sp>
      <p:sp>
        <p:nvSpPr>
          <p:cNvPr id="13" name="Text 11"/>
          <p:cNvSpPr/>
          <p:nvPr/>
        </p:nvSpPr>
        <p:spPr>
          <a:xfrm>
            <a:off x="868680" y="373075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2</a:t>
            </a:r>
            <a:endParaRPr lang="en-US" sz="1300" dirty="0"/>
          </a:p>
        </p:txBody>
      </p:sp>
      <p:sp>
        <p:nvSpPr>
          <p:cNvPr id="14" name="Text 12"/>
          <p:cNvSpPr/>
          <p:nvPr/>
        </p:nvSpPr>
        <p:spPr>
          <a:xfrm>
            <a:off x="1325880" y="3511296"/>
            <a:ext cx="4434840" cy="365760"/>
          </a:xfrm>
          <a:prstGeom prst="rect">
            <a:avLst/>
          </a:prstGeom>
          <a:noFill/>
          <a:ln/>
        </p:spPr>
        <p:txBody>
          <a:bodyPr wrap="square" lIns="0" tIns="0" rIns="0" bIns="0" rtlCol="0" anchor="ctr"/>
          <a:lstStyle/>
          <a:p>
            <a:pPr indent="0" marL="0">
              <a:buNone/>
            </a:pPr>
            <a:r>
              <a:rPr lang="en-US" sz="1250" b="1" dirty="0">
                <a:solidFill>
                  <a:srgbClr val="1A1A1A"/>
                </a:solidFill>
                <a:latin typeface="メイリオ" pitchFamily="34" charset="0"/>
                <a:ea typeface="メイリオ" pitchFamily="34" charset="-122"/>
                <a:cs typeface="メイリオ" pitchFamily="34" charset="-120"/>
              </a:rPr>
              <a:t>SBI証券との公募ファンドが大幅に遅延</a:t>
            </a:r>
            <a:endParaRPr lang="en-US" sz="1250" dirty="0"/>
          </a:p>
        </p:txBody>
      </p:sp>
      <p:sp>
        <p:nvSpPr>
          <p:cNvPr id="15" name="Text 13"/>
          <p:cNvSpPr/>
          <p:nvPr/>
        </p:nvSpPr>
        <p:spPr>
          <a:xfrm>
            <a:off x="1325880" y="3895344"/>
            <a:ext cx="4434840" cy="475488"/>
          </a:xfrm>
          <a:prstGeom prst="rect">
            <a:avLst/>
          </a:prstGeom>
          <a:noFill/>
          <a:ln/>
        </p:spPr>
        <p:txBody>
          <a:bodyPr wrap="square" lIns="0" tIns="0" rIns="0" bIns="0" rtlCol="0" anchor="ctr"/>
          <a:lstStyle/>
          <a:p>
            <a:pPr indent="0" marL="0">
              <a:buNone/>
            </a:pPr>
            <a:r>
              <a:rPr lang="en-US" sz="1050" dirty="0">
                <a:solidFill>
                  <a:srgbClr val="4A4A4A"/>
                </a:solidFill>
                <a:latin typeface="メイリオ" pitchFamily="34" charset="0"/>
                <a:ea typeface="メイリオ" pitchFamily="34" charset="-122"/>
                <a:cs typeface="メイリオ" pitchFamily="34" charset="-120"/>
              </a:rPr>
              <a:t>当期の計画未達の最大要因。組成の主導権が当社側になかった。</a:t>
            </a:r>
            <a:endParaRPr lang="en-US" sz="1050" dirty="0"/>
          </a:p>
        </p:txBody>
      </p:sp>
      <p:sp>
        <p:nvSpPr>
          <p:cNvPr id="16" name="Shape 14"/>
          <p:cNvSpPr/>
          <p:nvPr/>
        </p:nvSpPr>
        <p:spPr>
          <a:xfrm>
            <a:off x="594360" y="4608576"/>
            <a:ext cx="5349240" cy="1115568"/>
          </a:xfrm>
          <a:prstGeom prst="roundRect">
            <a:avLst>
              <a:gd name="adj" fmla="val 409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7" name="Shape 15"/>
          <p:cNvSpPr/>
          <p:nvPr/>
        </p:nvSpPr>
        <p:spPr>
          <a:xfrm>
            <a:off x="868680" y="4992624"/>
            <a:ext cx="310896" cy="310896"/>
          </a:xfrm>
          <a:prstGeom prst="ellipse">
            <a:avLst/>
          </a:prstGeom>
          <a:solidFill>
            <a:srgbClr val="1A1A1A"/>
          </a:solidFill>
          <a:ln/>
        </p:spPr>
      </p:sp>
      <p:sp>
        <p:nvSpPr>
          <p:cNvPr id="18" name="Text 16"/>
          <p:cNvSpPr/>
          <p:nvPr/>
        </p:nvSpPr>
        <p:spPr>
          <a:xfrm>
            <a:off x="868680" y="49926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3</a:t>
            </a:r>
            <a:endParaRPr lang="en-US" sz="1300" dirty="0"/>
          </a:p>
        </p:txBody>
      </p:sp>
      <p:sp>
        <p:nvSpPr>
          <p:cNvPr id="19" name="Text 17"/>
          <p:cNvSpPr/>
          <p:nvPr/>
        </p:nvSpPr>
        <p:spPr>
          <a:xfrm>
            <a:off x="1325880" y="4773168"/>
            <a:ext cx="4434840" cy="365760"/>
          </a:xfrm>
          <a:prstGeom prst="rect">
            <a:avLst/>
          </a:prstGeom>
          <a:noFill/>
          <a:ln/>
        </p:spPr>
        <p:txBody>
          <a:bodyPr wrap="square" lIns="0" tIns="0" rIns="0" bIns="0" rtlCol="0" anchor="ctr"/>
          <a:lstStyle/>
          <a:p>
            <a:pPr indent="0" marL="0">
              <a:buNone/>
            </a:pPr>
            <a:r>
              <a:rPr lang="en-US" sz="1250" b="1" dirty="0">
                <a:solidFill>
                  <a:srgbClr val="1A1A1A"/>
                </a:solidFill>
                <a:latin typeface="メイリオ" pitchFamily="34" charset="0"/>
                <a:ea typeface="メイリオ" pitchFamily="34" charset="-122"/>
                <a:cs typeface="メイリオ" pitchFamily="34" charset="-120"/>
              </a:rPr>
              <a:t>挽回策が後手に回った</a:t>
            </a:r>
            <a:endParaRPr lang="en-US" sz="1250" dirty="0"/>
          </a:p>
        </p:txBody>
      </p:sp>
      <p:sp>
        <p:nvSpPr>
          <p:cNvPr id="20" name="Text 18"/>
          <p:cNvSpPr/>
          <p:nvPr/>
        </p:nvSpPr>
        <p:spPr>
          <a:xfrm>
            <a:off x="1325880" y="5157216"/>
            <a:ext cx="4434840" cy="475488"/>
          </a:xfrm>
          <a:prstGeom prst="rect">
            <a:avLst/>
          </a:prstGeom>
          <a:noFill/>
          <a:ln/>
        </p:spPr>
        <p:txBody>
          <a:bodyPr wrap="square" lIns="0" tIns="0" rIns="0" bIns="0" rtlCol="0" anchor="ctr"/>
          <a:lstStyle/>
          <a:p>
            <a:pPr indent="0" marL="0">
              <a:buNone/>
            </a:pPr>
            <a:r>
              <a:rPr lang="en-US" sz="1050" dirty="0">
                <a:solidFill>
                  <a:srgbClr val="4A4A4A"/>
                </a:solidFill>
                <a:latin typeface="メイリオ" pitchFamily="34" charset="0"/>
                <a:ea typeface="メイリオ" pitchFamily="34" charset="-122"/>
                <a:cs typeface="メイリオ" pitchFamily="34" charset="-120"/>
              </a:rPr>
              <a:t>私募ファンドで3億円程度を巻き返すにとどまり、遅延分を吸収できなかった。</a:t>
            </a:r>
            <a:endParaRPr lang="en-US" sz="1050" dirty="0"/>
          </a:p>
        </p:txBody>
      </p:sp>
      <p:sp>
        <p:nvSpPr>
          <p:cNvPr id="21" name="Text 19"/>
          <p:cNvSpPr/>
          <p:nvPr/>
        </p:nvSpPr>
        <p:spPr>
          <a:xfrm>
            <a:off x="6217920" y="1463040"/>
            <a:ext cx="5349240" cy="329184"/>
          </a:xfrm>
          <a:prstGeom prst="rect">
            <a:avLst/>
          </a:prstGeom>
          <a:noFill/>
          <a:ln/>
        </p:spPr>
        <p:txBody>
          <a:bodyPr wrap="square" lIns="0" tIns="0" rIns="0" bIns="0" rtlCol="0" anchor="ctr"/>
          <a:lstStyle/>
          <a:p>
            <a:pPr indent="0" marL="0">
              <a:buNone/>
            </a:pPr>
            <a:r>
              <a:rPr lang="en-US" sz="1700" b="1" dirty="0">
                <a:solidFill>
                  <a:srgbClr val="1A1A1A"/>
                </a:solidFill>
                <a:latin typeface="メイリオ" pitchFamily="34" charset="0"/>
                <a:ea typeface="メイリオ" pitchFamily="34" charset="-122"/>
                <a:cs typeface="メイリオ" pitchFamily="34" charset="-120"/>
              </a:rPr>
              <a:t>来期（FY2027）の方針</a:t>
            </a:r>
            <a:endParaRPr lang="en-US" sz="1700" dirty="0"/>
          </a:p>
        </p:txBody>
      </p:sp>
      <p:sp>
        <p:nvSpPr>
          <p:cNvPr id="22" name="Shape 20"/>
          <p:cNvSpPr/>
          <p:nvPr/>
        </p:nvSpPr>
        <p:spPr>
          <a:xfrm>
            <a:off x="6217920" y="1847088"/>
            <a:ext cx="1280160" cy="22860"/>
          </a:xfrm>
          <a:prstGeom prst="rect">
            <a:avLst/>
          </a:prstGeom>
          <a:solidFill>
            <a:srgbClr val="A98442"/>
          </a:solidFill>
          <a:ln/>
        </p:spPr>
      </p:sp>
      <p:sp>
        <p:nvSpPr>
          <p:cNvPr id="23" name="Shape 21"/>
          <p:cNvSpPr/>
          <p:nvPr/>
        </p:nvSpPr>
        <p:spPr>
          <a:xfrm>
            <a:off x="6217920" y="2084832"/>
            <a:ext cx="5349240" cy="1874520"/>
          </a:xfrm>
          <a:prstGeom prst="roundRect">
            <a:avLst>
              <a:gd name="adj" fmla="val 2439"/>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4" name="Text 22"/>
          <p:cNvSpPr/>
          <p:nvPr/>
        </p:nvSpPr>
        <p:spPr>
          <a:xfrm>
            <a:off x="6537960" y="2286000"/>
            <a:ext cx="4709160" cy="365760"/>
          </a:xfrm>
          <a:prstGeom prst="rect">
            <a:avLst/>
          </a:prstGeom>
          <a:noFill/>
          <a:ln/>
        </p:spPr>
        <p:txBody>
          <a:bodyPr wrap="square" lIns="0" tIns="0" rIns="0" bIns="0" rtlCol="0" anchor="ctr"/>
          <a:lstStyle/>
          <a:p>
            <a:pPr indent="0" marL="0">
              <a:buNone/>
            </a:pPr>
            <a:r>
              <a:rPr lang="en-US" sz="1900" b="1" dirty="0">
                <a:solidFill>
                  <a:srgbClr val="A98442"/>
                </a:solidFill>
                <a:latin typeface="メイリオ" pitchFamily="34" charset="0"/>
                <a:ea typeface="メイリオ" pitchFamily="34" charset="-122"/>
                <a:cs typeface="メイリオ" pitchFamily="34" charset="-120"/>
              </a:rPr>
              <a:t>公募ファンドは優先しない</a:t>
            </a:r>
            <a:endParaRPr lang="en-US" sz="1900" dirty="0"/>
          </a:p>
        </p:txBody>
      </p:sp>
      <p:sp>
        <p:nvSpPr>
          <p:cNvPr id="25" name="Text 23"/>
          <p:cNvSpPr/>
          <p:nvPr/>
        </p:nvSpPr>
        <p:spPr>
          <a:xfrm>
            <a:off x="6537960" y="2724912"/>
            <a:ext cx="4709160" cy="1005840"/>
          </a:xfrm>
          <a:prstGeom prst="rect">
            <a:avLst/>
          </a:prstGeom>
          <a:noFill/>
          <a:ln/>
        </p:spPr>
        <p:txBody>
          <a:bodyPr wrap="square" lIns="0" tIns="0" rIns="0" bIns="0" rtlCol="0" anchor="t"/>
          <a:lstStyle/>
          <a:p>
            <a:pPr indent="0" marL="0">
              <a:buNone/>
            </a:pPr>
            <a:r>
              <a:rPr lang="en-US" sz="1150" dirty="0">
                <a:solidFill>
                  <a:srgbClr val="FFFFFF"/>
                </a:solidFill>
                <a:latin typeface="メイリオ" pitchFamily="34" charset="0"/>
                <a:ea typeface="メイリオ" pitchFamily="34" charset="-122"/>
                <a:cs typeface="メイリオ" pitchFamily="34" charset="-120"/>
              </a:rPr>
              <a:t>外部要因で組成時期が動く公募は、当期の収益計画の柱に置きません。遅延が全体計画を崩す構造から離れます。</a:t>
            </a:r>
            <a:endParaRPr lang="en-US" sz="1150" dirty="0"/>
          </a:p>
        </p:txBody>
      </p:sp>
      <p:sp>
        <p:nvSpPr>
          <p:cNvPr id="26" name="Shape 24"/>
          <p:cNvSpPr/>
          <p:nvPr/>
        </p:nvSpPr>
        <p:spPr>
          <a:xfrm>
            <a:off x="6217920" y="4114800"/>
            <a:ext cx="5349240" cy="1874520"/>
          </a:xfrm>
          <a:prstGeom prst="roundRect">
            <a:avLst>
              <a:gd name="adj" fmla="val 2439"/>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7" name="Text 25"/>
          <p:cNvSpPr/>
          <p:nvPr/>
        </p:nvSpPr>
        <p:spPr>
          <a:xfrm>
            <a:off x="6537960" y="4315968"/>
            <a:ext cx="4709160" cy="365760"/>
          </a:xfrm>
          <a:prstGeom prst="rect">
            <a:avLst/>
          </a:prstGeom>
          <a:noFill/>
          <a:ln/>
        </p:spPr>
        <p:txBody>
          <a:bodyPr wrap="square" lIns="0" tIns="0" rIns="0" bIns="0" rtlCol="0" anchor="ctr"/>
          <a:lstStyle/>
          <a:p>
            <a:pPr indent="0" marL="0">
              <a:buNone/>
            </a:pPr>
            <a:r>
              <a:rPr lang="en-US" sz="1900" b="1" dirty="0">
                <a:solidFill>
                  <a:srgbClr val="1A1A1A"/>
                </a:solidFill>
                <a:latin typeface="メイリオ" pitchFamily="34" charset="0"/>
                <a:ea typeface="メイリオ" pitchFamily="34" charset="-122"/>
                <a:cs typeface="メイリオ" pitchFamily="34" charset="-120"/>
              </a:rPr>
              <a:t>私募ファンドを毎年組成する</a:t>
            </a:r>
            <a:endParaRPr lang="en-US" sz="1900" dirty="0"/>
          </a:p>
        </p:txBody>
      </p:sp>
      <p:sp>
        <p:nvSpPr>
          <p:cNvPr id="28" name="Text 26"/>
          <p:cNvSpPr/>
          <p:nvPr/>
        </p:nvSpPr>
        <p:spPr>
          <a:xfrm>
            <a:off x="6537960" y="4754880"/>
            <a:ext cx="4709160" cy="1005840"/>
          </a:xfrm>
          <a:prstGeom prst="rect">
            <a:avLst/>
          </a:prstGeom>
          <a:noFill/>
          <a:ln/>
        </p:spPr>
        <p:txBody>
          <a:bodyPr wrap="square" lIns="0" tIns="0" rIns="0" bIns="0" rtlCol="0" anchor="t"/>
          <a:lstStyle/>
          <a:p>
            <a:pPr indent="0" marL="0">
              <a:buNone/>
            </a:pPr>
            <a:r>
              <a:rPr lang="en-US" sz="1150" dirty="0">
                <a:solidFill>
                  <a:srgbClr val="1A1A1A"/>
                </a:solidFill>
                <a:latin typeface="メイリオ" pitchFamily="34" charset="0"/>
                <a:ea typeface="メイリオ" pitchFamily="34" charset="-122"/>
                <a:cs typeface="メイリオ" pitchFamily="34" charset="-120"/>
              </a:rPr>
              <a:t>自社で時期をコントロールでき、実績もある私募を主軸に切り替えます。毎年の定例組成として体制化し、単年度の振れを抑えます。</a:t>
            </a:r>
            <a:endParaRPr lang="en-US" sz="1150" dirty="0"/>
          </a:p>
        </p:txBody>
      </p:sp>
      <p:sp>
        <p:nvSpPr>
          <p:cNvPr id="29" name="Text 27"/>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私募ファンドはFY2026に約3億円の実績。公募の遅延を補う位置づけから、来期は主軸へ転換します。</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転換点 － 飲食事業の再編による固定費削減</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不採算3店舗を撤退。撤退に紐づく費用科目が実際に減少しています。削減は計画ではなく実績です。</a:t>
            </a:r>
            <a:endParaRPr lang="en-US" sz="1250" dirty="0"/>
          </a:p>
        </p:txBody>
      </p:sp>
      <p:sp>
        <p:nvSpPr>
          <p:cNvPr id="4" name="Shape 2"/>
          <p:cNvSpPr/>
          <p:nvPr/>
        </p:nvSpPr>
        <p:spPr>
          <a:xfrm>
            <a:off x="594360" y="1572768"/>
            <a:ext cx="7680960" cy="384048"/>
          </a:xfrm>
          <a:prstGeom prst="rect">
            <a:avLst/>
          </a:prstGeom>
          <a:solidFill>
            <a:srgbClr val="1A1A1A"/>
          </a:solidFill>
          <a:ln/>
        </p:spPr>
      </p:sp>
      <p:sp>
        <p:nvSpPr>
          <p:cNvPr id="5" name="Text 3"/>
          <p:cNvSpPr/>
          <p:nvPr/>
        </p:nvSpPr>
        <p:spPr>
          <a:xfrm>
            <a:off x="704088" y="1572768"/>
            <a:ext cx="2889504" cy="384048"/>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勘定科目（単位：円）</a:t>
            </a:r>
            <a:endParaRPr lang="en-US" sz="950" dirty="0"/>
          </a:p>
        </p:txBody>
      </p:sp>
      <p:sp>
        <p:nvSpPr>
          <p:cNvPr id="6" name="Text 4"/>
          <p:cNvSpPr/>
          <p:nvPr/>
        </p:nvSpPr>
        <p:spPr>
          <a:xfrm>
            <a:off x="3813048" y="1572768"/>
            <a:ext cx="147218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① 25/10-26/3 月平均</a:t>
            </a:r>
            <a:endParaRPr lang="en-US" sz="950" dirty="0"/>
          </a:p>
        </p:txBody>
      </p:sp>
      <p:sp>
        <p:nvSpPr>
          <p:cNvPr id="7" name="Text 5"/>
          <p:cNvSpPr/>
          <p:nvPr/>
        </p:nvSpPr>
        <p:spPr>
          <a:xfrm>
            <a:off x="5504688" y="1572768"/>
            <a:ext cx="128930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② 26/4-6 月平均</a:t>
            </a:r>
            <a:endParaRPr lang="en-US" sz="950" dirty="0"/>
          </a:p>
        </p:txBody>
      </p:sp>
      <p:sp>
        <p:nvSpPr>
          <p:cNvPr id="8" name="Text 6"/>
          <p:cNvSpPr/>
          <p:nvPr/>
        </p:nvSpPr>
        <p:spPr>
          <a:xfrm>
            <a:off x="7013448" y="1572768"/>
            <a:ext cx="115214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差 ②-①</a:t>
            </a:r>
            <a:endParaRPr lang="en-US" sz="950" dirty="0"/>
          </a:p>
        </p:txBody>
      </p:sp>
      <p:sp>
        <p:nvSpPr>
          <p:cNvPr id="9" name="Shape 7"/>
          <p:cNvSpPr/>
          <p:nvPr/>
        </p:nvSpPr>
        <p:spPr>
          <a:xfrm>
            <a:off x="594360" y="1956816"/>
            <a:ext cx="7680960" cy="457200"/>
          </a:xfrm>
          <a:prstGeom prst="rect">
            <a:avLst/>
          </a:prstGeom>
          <a:solidFill>
            <a:srgbClr val="FFFFFF"/>
          </a:solidFill>
          <a:ln w="6350">
            <a:solidFill>
              <a:srgbClr val="E2E0DC"/>
            </a:solidFill>
            <a:prstDash val="solid"/>
          </a:ln>
        </p:spPr>
      </p:sp>
      <p:sp>
        <p:nvSpPr>
          <p:cNvPr id="10" name="Text 8"/>
          <p:cNvSpPr/>
          <p:nvPr/>
        </p:nvSpPr>
        <p:spPr>
          <a:xfrm>
            <a:off x="704088" y="19568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雑給（店舗人件費）</a:t>
            </a:r>
            <a:endParaRPr lang="en-US" sz="1050" dirty="0"/>
          </a:p>
        </p:txBody>
      </p:sp>
      <p:sp>
        <p:nvSpPr>
          <p:cNvPr id="11" name="Text 9"/>
          <p:cNvSpPr/>
          <p:nvPr/>
        </p:nvSpPr>
        <p:spPr>
          <a:xfrm>
            <a:off x="3813048" y="19568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1,976,720</a:t>
            </a:r>
            <a:endParaRPr lang="en-US" sz="1050" dirty="0"/>
          </a:p>
        </p:txBody>
      </p:sp>
      <p:sp>
        <p:nvSpPr>
          <p:cNvPr id="12" name="Text 10"/>
          <p:cNvSpPr/>
          <p:nvPr/>
        </p:nvSpPr>
        <p:spPr>
          <a:xfrm>
            <a:off x="5504688" y="19568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198,075</a:t>
            </a:r>
            <a:endParaRPr lang="en-US" sz="1050" dirty="0"/>
          </a:p>
        </p:txBody>
      </p:sp>
      <p:sp>
        <p:nvSpPr>
          <p:cNvPr id="13" name="Text 11"/>
          <p:cNvSpPr/>
          <p:nvPr/>
        </p:nvSpPr>
        <p:spPr>
          <a:xfrm>
            <a:off x="7013448" y="19568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▲1,778,645</a:t>
            </a:r>
            <a:endParaRPr lang="en-US" sz="1050" dirty="0"/>
          </a:p>
        </p:txBody>
      </p:sp>
      <p:sp>
        <p:nvSpPr>
          <p:cNvPr id="14" name="Shape 12"/>
          <p:cNvSpPr/>
          <p:nvPr/>
        </p:nvSpPr>
        <p:spPr>
          <a:xfrm>
            <a:off x="594360" y="2414016"/>
            <a:ext cx="7680960" cy="457200"/>
          </a:xfrm>
          <a:prstGeom prst="rect">
            <a:avLst/>
          </a:prstGeom>
          <a:solidFill>
            <a:srgbClr val="FBFAF8"/>
          </a:solidFill>
          <a:ln w="6350">
            <a:solidFill>
              <a:srgbClr val="E2E0DC"/>
            </a:solidFill>
            <a:prstDash val="solid"/>
          </a:ln>
        </p:spPr>
      </p:sp>
      <p:sp>
        <p:nvSpPr>
          <p:cNvPr id="15" name="Text 13"/>
          <p:cNvSpPr/>
          <p:nvPr/>
        </p:nvSpPr>
        <p:spPr>
          <a:xfrm>
            <a:off x="704088" y="24140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従業員給与</a:t>
            </a:r>
            <a:endParaRPr lang="en-US" sz="1050" dirty="0"/>
          </a:p>
        </p:txBody>
      </p:sp>
      <p:sp>
        <p:nvSpPr>
          <p:cNvPr id="16" name="Text 14"/>
          <p:cNvSpPr/>
          <p:nvPr/>
        </p:nvSpPr>
        <p:spPr>
          <a:xfrm>
            <a:off x="3813048" y="24140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4,877,779</a:t>
            </a:r>
            <a:endParaRPr lang="en-US" sz="1050" dirty="0"/>
          </a:p>
        </p:txBody>
      </p:sp>
      <p:sp>
        <p:nvSpPr>
          <p:cNvPr id="17" name="Text 15"/>
          <p:cNvSpPr/>
          <p:nvPr/>
        </p:nvSpPr>
        <p:spPr>
          <a:xfrm>
            <a:off x="5504688" y="24140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2,844,602</a:t>
            </a:r>
            <a:endParaRPr lang="en-US" sz="1050" dirty="0"/>
          </a:p>
        </p:txBody>
      </p:sp>
      <p:sp>
        <p:nvSpPr>
          <p:cNvPr id="18" name="Text 16"/>
          <p:cNvSpPr/>
          <p:nvPr/>
        </p:nvSpPr>
        <p:spPr>
          <a:xfrm>
            <a:off x="7013448" y="24140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▲2,033,177</a:t>
            </a:r>
            <a:endParaRPr lang="en-US" sz="1050" dirty="0"/>
          </a:p>
        </p:txBody>
      </p:sp>
      <p:sp>
        <p:nvSpPr>
          <p:cNvPr id="19" name="Shape 17"/>
          <p:cNvSpPr/>
          <p:nvPr/>
        </p:nvSpPr>
        <p:spPr>
          <a:xfrm>
            <a:off x="594360" y="2871216"/>
            <a:ext cx="7680960" cy="457200"/>
          </a:xfrm>
          <a:prstGeom prst="rect">
            <a:avLst/>
          </a:prstGeom>
          <a:solidFill>
            <a:srgbClr val="FFFFFF"/>
          </a:solidFill>
          <a:ln w="6350">
            <a:solidFill>
              <a:srgbClr val="E2E0DC"/>
            </a:solidFill>
            <a:prstDash val="solid"/>
          </a:ln>
        </p:spPr>
      </p:sp>
      <p:sp>
        <p:nvSpPr>
          <p:cNvPr id="20" name="Text 18"/>
          <p:cNvSpPr/>
          <p:nvPr/>
        </p:nvSpPr>
        <p:spPr>
          <a:xfrm>
            <a:off x="704088" y="28712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倉庫＆保管・移設代</a:t>
            </a:r>
            <a:endParaRPr lang="en-US" sz="1050" dirty="0"/>
          </a:p>
        </p:txBody>
      </p:sp>
      <p:sp>
        <p:nvSpPr>
          <p:cNvPr id="21" name="Text 19"/>
          <p:cNvSpPr/>
          <p:nvPr/>
        </p:nvSpPr>
        <p:spPr>
          <a:xfrm>
            <a:off x="3813048" y="28712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2,578,077</a:t>
            </a:r>
            <a:endParaRPr lang="en-US" sz="1050" dirty="0"/>
          </a:p>
        </p:txBody>
      </p:sp>
      <p:sp>
        <p:nvSpPr>
          <p:cNvPr id="22" name="Text 20"/>
          <p:cNvSpPr/>
          <p:nvPr/>
        </p:nvSpPr>
        <p:spPr>
          <a:xfrm>
            <a:off x="5504688" y="28712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272,484</a:t>
            </a:r>
            <a:endParaRPr lang="en-US" sz="1050" dirty="0"/>
          </a:p>
        </p:txBody>
      </p:sp>
      <p:sp>
        <p:nvSpPr>
          <p:cNvPr id="23" name="Text 21"/>
          <p:cNvSpPr/>
          <p:nvPr/>
        </p:nvSpPr>
        <p:spPr>
          <a:xfrm>
            <a:off x="7013448" y="28712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▲2,305,593</a:t>
            </a:r>
            <a:endParaRPr lang="en-US" sz="1050" dirty="0"/>
          </a:p>
        </p:txBody>
      </p:sp>
      <p:sp>
        <p:nvSpPr>
          <p:cNvPr id="24" name="Shape 22"/>
          <p:cNvSpPr/>
          <p:nvPr/>
        </p:nvSpPr>
        <p:spPr>
          <a:xfrm>
            <a:off x="594360" y="3328416"/>
            <a:ext cx="7680960" cy="457200"/>
          </a:xfrm>
          <a:prstGeom prst="rect">
            <a:avLst/>
          </a:prstGeom>
          <a:solidFill>
            <a:srgbClr val="FBFAF8"/>
          </a:solidFill>
          <a:ln w="6350">
            <a:solidFill>
              <a:srgbClr val="E2E0DC"/>
            </a:solidFill>
            <a:prstDash val="solid"/>
          </a:ln>
        </p:spPr>
      </p:sp>
      <p:sp>
        <p:nvSpPr>
          <p:cNvPr id="25" name="Text 23"/>
          <p:cNvSpPr/>
          <p:nvPr/>
        </p:nvSpPr>
        <p:spPr>
          <a:xfrm>
            <a:off x="704088" y="33284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地代家賃（店舗賃料）</a:t>
            </a:r>
            <a:endParaRPr lang="en-US" sz="1050" dirty="0"/>
          </a:p>
        </p:txBody>
      </p:sp>
      <p:sp>
        <p:nvSpPr>
          <p:cNvPr id="26" name="Text 24"/>
          <p:cNvSpPr/>
          <p:nvPr/>
        </p:nvSpPr>
        <p:spPr>
          <a:xfrm>
            <a:off x="3813048" y="33284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5,000,985</a:t>
            </a:r>
            <a:endParaRPr lang="en-US" sz="1050" dirty="0"/>
          </a:p>
        </p:txBody>
      </p:sp>
      <p:sp>
        <p:nvSpPr>
          <p:cNvPr id="27" name="Text 25"/>
          <p:cNvSpPr/>
          <p:nvPr/>
        </p:nvSpPr>
        <p:spPr>
          <a:xfrm>
            <a:off x="5504688" y="33284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3,721,703</a:t>
            </a:r>
            <a:endParaRPr lang="en-US" sz="1050" dirty="0"/>
          </a:p>
        </p:txBody>
      </p:sp>
      <p:sp>
        <p:nvSpPr>
          <p:cNvPr id="28" name="Text 26"/>
          <p:cNvSpPr/>
          <p:nvPr/>
        </p:nvSpPr>
        <p:spPr>
          <a:xfrm>
            <a:off x="7013448" y="33284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▲1,279,282</a:t>
            </a:r>
            <a:endParaRPr lang="en-US" sz="1050" dirty="0"/>
          </a:p>
        </p:txBody>
      </p:sp>
      <p:sp>
        <p:nvSpPr>
          <p:cNvPr id="29" name="Shape 27"/>
          <p:cNvSpPr/>
          <p:nvPr/>
        </p:nvSpPr>
        <p:spPr>
          <a:xfrm>
            <a:off x="594360" y="3785616"/>
            <a:ext cx="7680960" cy="457200"/>
          </a:xfrm>
          <a:prstGeom prst="rect">
            <a:avLst/>
          </a:prstGeom>
          <a:solidFill>
            <a:srgbClr val="FFFFFF"/>
          </a:solidFill>
          <a:ln w="6350">
            <a:solidFill>
              <a:srgbClr val="E2E0DC"/>
            </a:solidFill>
            <a:prstDash val="solid"/>
          </a:ln>
        </p:spPr>
      </p:sp>
      <p:sp>
        <p:nvSpPr>
          <p:cNvPr id="30" name="Text 28"/>
          <p:cNvSpPr/>
          <p:nvPr/>
        </p:nvSpPr>
        <p:spPr>
          <a:xfrm>
            <a:off x="704088" y="37856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支払手数料</a:t>
            </a:r>
            <a:endParaRPr lang="en-US" sz="1050" dirty="0"/>
          </a:p>
        </p:txBody>
      </p:sp>
      <p:sp>
        <p:nvSpPr>
          <p:cNvPr id="31" name="Text 29"/>
          <p:cNvSpPr/>
          <p:nvPr/>
        </p:nvSpPr>
        <p:spPr>
          <a:xfrm>
            <a:off x="3813048" y="37856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4,121,789</a:t>
            </a:r>
            <a:endParaRPr lang="en-US" sz="1050" dirty="0"/>
          </a:p>
        </p:txBody>
      </p:sp>
      <p:sp>
        <p:nvSpPr>
          <p:cNvPr id="32" name="Text 30"/>
          <p:cNvSpPr/>
          <p:nvPr/>
        </p:nvSpPr>
        <p:spPr>
          <a:xfrm>
            <a:off x="5504688" y="37856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3,258,950</a:t>
            </a:r>
            <a:endParaRPr lang="en-US" sz="1050" dirty="0"/>
          </a:p>
        </p:txBody>
      </p:sp>
      <p:sp>
        <p:nvSpPr>
          <p:cNvPr id="33" name="Text 31"/>
          <p:cNvSpPr/>
          <p:nvPr/>
        </p:nvSpPr>
        <p:spPr>
          <a:xfrm>
            <a:off x="7013448" y="37856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▲862,839</a:t>
            </a:r>
            <a:endParaRPr lang="en-US" sz="1050" dirty="0"/>
          </a:p>
        </p:txBody>
      </p:sp>
      <p:sp>
        <p:nvSpPr>
          <p:cNvPr id="34" name="Shape 32"/>
          <p:cNvSpPr/>
          <p:nvPr/>
        </p:nvSpPr>
        <p:spPr>
          <a:xfrm>
            <a:off x="594360" y="4242816"/>
            <a:ext cx="7680960" cy="457200"/>
          </a:xfrm>
          <a:prstGeom prst="rect">
            <a:avLst/>
          </a:prstGeom>
          <a:solidFill>
            <a:srgbClr val="FBFAF8"/>
          </a:solidFill>
          <a:ln w="6350">
            <a:solidFill>
              <a:srgbClr val="E2E0DC"/>
            </a:solidFill>
            <a:prstDash val="solid"/>
          </a:ln>
        </p:spPr>
      </p:sp>
      <p:sp>
        <p:nvSpPr>
          <p:cNvPr id="35" name="Text 33"/>
          <p:cNvSpPr/>
          <p:nvPr/>
        </p:nvSpPr>
        <p:spPr>
          <a:xfrm>
            <a:off x="704088" y="42428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水道光熱費</a:t>
            </a:r>
            <a:endParaRPr lang="en-US" sz="1050" dirty="0"/>
          </a:p>
        </p:txBody>
      </p:sp>
      <p:sp>
        <p:nvSpPr>
          <p:cNvPr id="36" name="Text 34"/>
          <p:cNvSpPr/>
          <p:nvPr/>
        </p:nvSpPr>
        <p:spPr>
          <a:xfrm>
            <a:off x="3813048" y="42428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974,234</a:t>
            </a:r>
            <a:endParaRPr lang="en-US" sz="1050" dirty="0"/>
          </a:p>
        </p:txBody>
      </p:sp>
      <p:sp>
        <p:nvSpPr>
          <p:cNvPr id="37" name="Text 35"/>
          <p:cNvSpPr/>
          <p:nvPr/>
        </p:nvSpPr>
        <p:spPr>
          <a:xfrm>
            <a:off x="5504688" y="42428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687,496</a:t>
            </a:r>
            <a:endParaRPr lang="en-US" sz="1050" dirty="0"/>
          </a:p>
        </p:txBody>
      </p:sp>
      <p:sp>
        <p:nvSpPr>
          <p:cNvPr id="38" name="Text 36"/>
          <p:cNvSpPr/>
          <p:nvPr/>
        </p:nvSpPr>
        <p:spPr>
          <a:xfrm>
            <a:off x="7013448" y="42428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▲286,738</a:t>
            </a:r>
            <a:endParaRPr lang="en-US" sz="1050" dirty="0"/>
          </a:p>
        </p:txBody>
      </p:sp>
      <p:sp>
        <p:nvSpPr>
          <p:cNvPr id="39" name="Shape 37"/>
          <p:cNvSpPr/>
          <p:nvPr/>
        </p:nvSpPr>
        <p:spPr>
          <a:xfrm>
            <a:off x="594360" y="4700016"/>
            <a:ext cx="7680960" cy="457200"/>
          </a:xfrm>
          <a:prstGeom prst="rect">
            <a:avLst/>
          </a:prstGeom>
          <a:solidFill>
            <a:srgbClr val="FFFFFF"/>
          </a:solidFill>
          <a:ln w="6350">
            <a:solidFill>
              <a:srgbClr val="E2E0DC"/>
            </a:solidFill>
            <a:prstDash val="solid"/>
          </a:ln>
        </p:spPr>
      </p:sp>
      <p:sp>
        <p:nvSpPr>
          <p:cNvPr id="40" name="Text 38"/>
          <p:cNvSpPr/>
          <p:nvPr/>
        </p:nvSpPr>
        <p:spPr>
          <a:xfrm>
            <a:off x="704088" y="47000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清掃費</a:t>
            </a:r>
            <a:endParaRPr lang="en-US" sz="1050" dirty="0"/>
          </a:p>
        </p:txBody>
      </p:sp>
      <p:sp>
        <p:nvSpPr>
          <p:cNvPr id="41" name="Text 39"/>
          <p:cNvSpPr/>
          <p:nvPr/>
        </p:nvSpPr>
        <p:spPr>
          <a:xfrm>
            <a:off x="3813048" y="47000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182,516</a:t>
            </a:r>
            <a:endParaRPr lang="en-US" sz="1050" dirty="0"/>
          </a:p>
        </p:txBody>
      </p:sp>
      <p:sp>
        <p:nvSpPr>
          <p:cNvPr id="42" name="Text 40"/>
          <p:cNvSpPr/>
          <p:nvPr/>
        </p:nvSpPr>
        <p:spPr>
          <a:xfrm>
            <a:off x="5504688" y="47000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0</a:t>
            </a:r>
            <a:endParaRPr lang="en-US" sz="1050" dirty="0"/>
          </a:p>
        </p:txBody>
      </p:sp>
      <p:sp>
        <p:nvSpPr>
          <p:cNvPr id="43" name="Text 41"/>
          <p:cNvSpPr/>
          <p:nvPr/>
        </p:nvSpPr>
        <p:spPr>
          <a:xfrm>
            <a:off x="7013448" y="47000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▲182,516</a:t>
            </a:r>
            <a:endParaRPr lang="en-US" sz="1050" dirty="0"/>
          </a:p>
        </p:txBody>
      </p:sp>
      <p:sp>
        <p:nvSpPr>
          <p:cNvPr id="44" name="Shape 42"/>
          <p:cNvSpPr/>
          <p:nvPr/>
        </p:nvSpPr>
        <p:spPr>
          <a:xfrm>
            <a:off x="594360" y="5157216"/>
            <a:ext cx="7680960" cy="457200"/>
          </a:xfrm>
          <a:prstGeom prst="rect">
            <a:avLst/>
          </a:prstGeom>
          <a:solidFill>
            <a:srgbClr val="FAF3E2"/>
          </a:solidFill>
          <a:ln w="6350">
            <a:solidFill>
              <a:srgbClr val="E2E0DC"/>
            </a:solidFill>
            <a:prstDash val="solid"/>
          </a:ln>
        </p:spPr>
      </p:sp>
      <p:sp>
        <p:nvSpPr>
          <p:cNvPr id="45" name="Text 43"/>
          <p:cNvSpPr/>
          <p:nvPr/>
        </p:nvSpPr>
        <p:spPr>
          <a:xfrm>
            <a:off x="704088" y="5157216"/>
            <a:ext cx="2889504" cy="457200"/>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全23科目 合計</a:t>
            </a:r>
            <a:endParaRPr lang="en-US" sz="1050" dirty="0"/>
          </a:p>
        </p:txBody>
      </p:sp>
      <p:sp>
        <p:nvSpPr>
          <p:cNvPr id="46" name="Text 44"/>
          <p:cNvSpPr/>
          <p:nvPr/>
        </p:nvSpPr>
        <p:spPr>
          <a:xfrm>
            <a:off x="3813048" y="5157216"/>
            <a:ext cx="1472184" cy="45720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33,590,696</a:t>
            </a:r>
            <a:endParaRPr lang="en-US" sz="1050" dirty="0"/>
          </a:p>
        </p:txBody>
      </p:sp>
      <p:sp>
        <p:nvSpPr>
          <p:cNvPr id="47" name="Text 45"/>
          <p:cNvSpPr/>
          <p:nvPr/>
        </p:nvSpPr>
        <p:spPr>
          <a:xfrm>
            <a:off x="5504688" y="5157216"/>
            <a:ext cx="1289304" cy="45720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25,013,422</a:t>
            </a:r>
            <a:endParaRPr lang="en-US" sz="1050" dirty="0"/>
          </a:p>
        </p:txBody>
      </p:sp>
      <p:sp>
        <p:nvSpPr>
          <p:cNvPr id="48" name="Text 46"/>
          <p:cNvSpPr/>
          <p:nvPr/>
        </p:nvSpPr>
        <p:spPr>
          <a:xfrm>
            <a:off x="7013448" y="5157216"/>
            <a:ext cx="1152144" cy="457200"/>
          </a:xfrm>
          <a:prstGeom prst="rect">
            <a:avLst/>
          </a:prstGeom>
          <a:noFill/>
          <a:ln/>
        </p:spPr>
        <p:txBody>
          <a:bodyPr wrap="square" lIns="0" tIns="0" rIns="0" bIns="0" rtlCol="0" anchor="ctr"/>
          <a:lstStyle/>
          <a:p>
            <a:pPr algn="r" indent="0" marL="0">
              <a:buNone/>
            </a:pPr>
            <a:r>
              <a:rPr lang="en-US" sz="1050" b="1" dirty="0">
                <a:solidFill>
                  <a:srgbClr val="6E6E6E"/>
                </a:solidFill>
                <a:latin typeface="メイリオ" pitchFamily="34" charset="0"/>
                <a:ea typeface="メイリオ" pitchFamily="34" charset="-122"/>
                <a:cs typeface="メイリオ" pitchFamily="34" charset="-120"/>
              </a:rPr>
              <a:t>▲8,577,274</a:t>
            </a:r>
            <a:endParaRPr lang="en-US" sz="1050" dirty="0"/>
          </a:p>
        </p:txBody>
      </p:sp>
      <p:sp>
        <p:nvSpPr>
          <p:cNvPr id="49" name="Shape 47"/>
          <p:cNvSpPr/>
          <p:nvPr/>
        </p:nvSpPr>
        <p:spPr>
          <a:xfrm>
            <a:off x="8641080" y="1572768"/>
            <a:ext cx="2926080" cy="2148840"/>
          </a:xfrm>
          <a:prstGeom prst="roundRect">
            <a:avLst>
              <a:gd name="adj" fmla="val 2128"/>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0" name="Text 48"/>
          <p:cNvSpPr/>
          <p:nvPr/>
        </p:nvSpPr>
        <p:spPr>
          <a:xfrm>
            <a:off x="8823960" y="1828800"/>
            <a:ext cx="2560320" cy="274320"/>
          </a:xfrm>
          <a:prstGeom prst="rect">
            <a:avLst/>
          </a:prstGeom>
          <a:noFill/>
          <a:ln/>
        </p:spPr>
        <p:txBody>
          <a:bodyPr wrap="square" lIns="0" tIns="0" rIns="0" bIns="0" rtlCol="0" anchor="ctr"/>
          <a:lstStyle/>
          <a:p>
            <a:pPr algn="ctr" indent="0" marL="0">
              <a:buNone/>
            </a:pPr>
            <a:r>
              <a:rPr lang="en-US" sz="1100" dirty="0">
                <a:solidFill>
                  <a:srgbClr val="FAF3E2"/>
                </a:solidFill>
                <a:latin typeface="メイリオ" pitchFamily="34" charset="0"/>
                <a:ea typeface="メイリオ" pitchFamily="34" charset="-122"/>
                <a:cs typeface="メイリオ" pitchFamily="34" charset="-120"/>
              </a:rPr>
              <a:t>年間削減額</a:t>
            </a:r>
            <a:endParaRPr lang="en-US" sz="1100" dirty="0"/>
          </a:p>
        </p:txBody>
      </p:sp>
      <p:sp>
        <p:nvSpPr>
          <p:cNvPr id="51" name="Text 49"/>
          <p:cNvSpPr/>
          <p:nvPr/>
        </p:nvSpPr>
        <p:spPr>
          <a:xfrm>
            <a:off x="8823960" y="2121408"/>
            <a:ext cx="2560320" cy="731520"/>
          </a:xfrm>
          <a:prstGeom prst="rect">
            <a:avLst/>
          </a:prstGeom>
          <a:noFill/>
          <a:ln/>
        </p:spPr>
        <p:txBody>
          <a:bodyPr wrap="square" lIns="0" tIns="0" rIns="0" bIns="0" rtlCol="0" anchor="ctr"/>
          <a:lstStyle/>
          <a:p>
            <a:pPr algn="ctr" indent="0" marL="0">
              <a:buNone/>
            </a:pPr>
            <a:r>
              <a:rPr lang="en-US" sz="4000" b="1" dirty="0">
                <a:solidFill>
                  <a:srgbClr val="A98442"/>
                </a:solidFill>
                <a:latin typeface="メイリオ" pitchFamily="34" charset="0"/>
                <a:ea typeface="メイリオ" pitchFamily="34" charset="-122"/>
                <a:cs typeface="メイリオ" pitchFamily="34" charset="-120"/>
              </a:rPr>
              <a:t>▲103</a:t>
            </a:r>
            <a:endParaRPr lang="en-US" sz="4000" dirty="0"/>
          </a:p>
        </p:txBody>
      </p:sp>
      <p:sp>
        <p:nvSpPr>
          <p:cNvPr id="52" name="Text 50"/>
          <p:cNvSpPr/>
          <p:nvPr/>
        </p:nvSpPr>
        <p:spPr>
          <a:xfrm>
            <a:off x="8823960" y="2852928"/>
            <a:ext cx="2560320" cy="274320"/>
          </a:xfrm>
          <a:prstGeom prst="rect">
            <a:avLst/>
          </a:prstGeom>
          <a:noFill/>
          <a:ln/>
        </p:spPr>
        <p:txBody>
          <a:bodyPr wrap="square" lIns="0" tIns="0" rIns="0" bIns="0" rtlCol="0" anchor="ctr"/>
          <a:lstStyle/>
          <a:p>
            <a:pPr algn="ctr" indent="0" marL="0">
              <a:buNone/>
            </a:pPr>
            <a:r>
              <a:rPr lang="en-US" sz="1200" dirty="0">
                <a:solidFill>
                  <a:srgbClr val="FAF3E2"/>
                </a:solidFill>
                <a:latin typeface="メイリオ" pitchFamily="34" charset="0"/>
                <a:ea typeface="メイリオ" pitchFamily="34" charset="-122"/>
                <a:cs typeface="メイリオ" pitchFamily="34" charset="-120"/>
              </a:rPr>
              <a:t>百万円</a:t>
            </a:r>
            <a:endParaRPr lang="en-US" sz="1200" dirty="0"/>
          </a:p>
        </p:txBody>
      </p:sp>
      <p:sp>
        <p:nvSpPr>
          <p:cNvPr id="53" name="Text 51"/>
          <p:cNvSpPr/>
          <p:nvPr/>
        </p:nvSpPr>
        <p:spPr>
          <a:xfrm>
            <a:off x="8823960" y="3200400"/>
            <a:ext cx="2560320" cy="274320"/>
          </a:xfrm>
          <a:prstGeom prst="rect">
            <a:avLst/>
          </a:prstGeom>
          <a:noFill/>
          <a:ln/>
        </p:spPr>
        <p:txBody>
          <a:bodyPr wrap="square" lIns="0" tIns="0" rIns="0" bIns="0" rtlCol="0" anchor="ctr"/>
          <a:lstStyle/>
          <a:p>
            <a:pPr algn="ctr" indent="0" marL="0">
              <a:buNone/>
            </a:pPr>
            <a:r>
              <a:rPr lang="en-US" sz="950" dirty="0">
                <a:solidFill>
                  <a:srgbClr val="FAF3E2"/>
                </a:solidFill>
                <a:latin typeface="メイリオ" pitchFamily="34" charset="0"/>
                <a:ea typeface="メイリオ" pitchFamily="34" charset="-122"/>
                <a:cs typeface="メイリオ" pitchFamily="34" charset="-120"/>
              </a:rPr>
              <a:t>月▲8.58百万円 × 12か月</a:t>
            </a:r>
            <a:endParaRPr lang="en-US" sz="950" dirty="0"/>
          </a:p>
        </p:txBody>
      </p:sp>
      <p:sp>
        <p:nvSpPr>
          <p:cNvPr id="54" name="Shape 52"/>
          <p:cNvSpPr/>
          <p:nvPr/>
        </p:nvSpPr>
        <p:spPr>
          <a:xfrm>
            <a:off x="8641080" y="3886200"/>
            <a:ext cx="2926080" cy="1920240"/>
          </a:xfrm>
          <a:prstGeom prst="roundRect">
            <a:avLst>
              <a:gd name="adj" fmla="val 2381"/>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5" name="Text 53"/>
          <p:cNvSpPr/>
          <p:nvPr/>
        </p:nvSpPr>
        <p:spPr>
          <a:xfrm>
            <a:off x="8823960" y="4069080"/>
            <a:ext cx="2560320" cy="274320"/>
          </a:xfrm>
          <a:prstGeom prst="rect">
            <a:avLst/>
          </a:prstGeom>
          <a:noFill/>
          <a:ln/>
        </p:spPr>
        <p:txBody>
          <a:bodyPr wrap="square" lIns="0" tIns="0" rIns="0" bIns="0" rtlCol="0" anchor="ctr"/>
          <a:lstStyle/>
          <a:p>
            <a:pPr indent="0" marL="0">
              <a:buNone/>
            </a:pPr>
            <a:r>
              <a:rPr lang="en-US" sz="1100" b="1" dirty="0">
                <a:solidFill>
                  <a:srgbClr val="1A1A1A"/>
                </a:solidFill>
                <a:latin typeface="メイリオ" pitchFamily="34" charset="0"/>
                <a:ea typeface="メイリオ" pitchFamily="34" charset="-122"/>
                <a:cs typeface="メイリオ" pitchFamily="34" charset="-120"/>
              </a:rPr>
              <a:t>飲食事業の再編</a:t>
            </a:r>
            <a:endParaRPr lang="en-US" sz="1100" dirty="0"/>
          </a:p>
        </p:txBody>
      </p:sp>
      <p:sp>
        <p:nvSpPr>
          <p:cNvPr id="56" name="Text 54"/>
          <p:cNvSpPr/>
          <p:nvPr/>
        </p:nvSpPr>
        <p:spPr>
          <a:xfrm>
            <a:off x="8823960" y="4343400"/>
            <a:ext cx="2560320" cy="137160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1A1A1A"/>
                </a:solidFill>
                <a:latin typeface="メイリオ" pitchFamily="34" charset="0"/>
                <a:ea typeface="メイリオ" pitchFamily="34" charset="-122"/>
                <a:cs typeface="メイリオ" pitchFamily="34" charset="-120"/>
              </a:rPr>
              <a:t>不採算3店舗を撤退</a:t>
            </a:r>
            <a:endParaRPr lang="en-US" sz="1000" dirty="0"/>
          </a:p>
          <a:p>
            <a:pPr marL="342900" indent="-342900">
              <a:spcAft>
                <a:spcPts val="300"/>
              </a:spcAft>
              <a:buSzPct val="100000"/>
              <a:buChar char="•"/>
            </a:pPr>
            <a:r>
              <a:rPr lang="en-US" sz="1000" dirty="0">
                <a:solidFill>
                  <a:srgbClr val="1A1A1A"/>
                </a:solidFill>
                <a:latin typeface="メイリオ" pitchFamily="34" charset="0"/>
                <a:ea typeface="メイリオ" pitchFamily="34" charset="-122"/>
                <a:cs typeface="メイリオ" pitchFamily="34" charset="-120"/>
              </a:rPr>
              <a:t>WineBankテラスは改善のうえ継続</a:t>
            </a:r>
            <a:endParaRPr lang="en-US" sz="1000" dirty="0"/>
          </a:p>
          <a:p>
            <a:pPr indent="0" marL="0">
              <a:spcAft>
                <a:spcPts val="300"/>
              </a:spcAft>
              <a:buNone/>
            </a:pPr>
            <a:r>
              <a:rPr lang="en-US" sz="1000" dirty="0">
                <a:solidFill>
                  <a:srgbClr val="1A1A1A"/>
                </a:solidFill>
                <a:latin typeface="メイリオ" pitchFamily="34" charset="0"/>
                <a:ea typeface="メイリオ" pitchFamily="34" charset="-122"/>
                <a:cs typeface="メイリオ" pitchFamily="34" charset="-120"/>
              </a:rPr>
              <a:t>　→ WineBank CLUBのフラッグシップ店</a:t>
            </a:r>
            <a:endParaRPr lang="en-US" sz="1000" dirty="0"/>
          </a:p>
          <a:p>
            <a:pPr marL="342900" indent="-342900">
              <a:spcAft>
                <a:spcPts val="300"/>
              </a:spcAft>
              <a:buSzPct val="100000"/>
              <a:buChar char="•"/>
            </a:pPr>
            <a:r>
              <a:rPr lang="en-US" sz="1000" dirty="0">
                <a:solidFill>
                  <a:srgbClr val="1A1A1A"/>
                </a:solidFill>
                <a:latin typeface="メイリオ" pitchFamily="34" charset="0"/>
                <a:ea typeface="メイリオ" pitchFamily="34" charset="-122"/>
                <a:cs typeface="メイリオ" pitchFamily="34" charset="-120"/>
              </a:rPr>
              <a:t>清掃費ゼロ・雑給90%減が撤退完了の裏付け</a:t>
            </a:r>
            <a:endParaRPr lang="en-US" sz="1000" dirty="0"/>
          </a:p>
        </p:txBody>
      </p:sp>
      <p:sp>
        <p:nvSpPr>
          <p:cNvPr id="57" name="Text 55"/>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 販管費内訳（全23科目の月次実績）</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販管費の月次推移 － 削減は実行済み</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2026年3月をピークに、2026年6月は▲36.4%。以降はこの水準を横ばいで計画しています。</a:t>
            </a:r>
            <a:endParaRPr lang="en-US" sz="1250" dirty="0"/>
          </a:p>
        </p:txBody>
      </p:sp>
      <p:graphicFrame>
        <p:nvGraphicFramePr>
          <p:cNvPr id="4" name="Chart 0" descr=""/>
          <p:cNvGraphicFramePr/>
          <p:nvPr/>
        </p:nvGraphicFramePr>
        <p:xfrm>
          <a:off x="594360" y="1481328"/>
          <a:ext cx="7772400" cy="41148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686800" y="1481328"/>
            <a:ext cx="2880360" cy="1920240"/>
          </a:xfrm>
          <a:prstGeom prst="roundRect">
            <a:avLst>
              <a:gd name="adj" fmla="val 2381"/>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6" name="Text 3"/>
          <p:cNvSpPr/>
          <p:nvPr/>
        </p:nvSpPr>
        <p:spPr>
          <a:xfrm>
            <a:off x="8869680" y="1691640"/>
            <a:ext cx="2514600" cy="274320"/>
          </a:xfrm>
          <a:prstGeom prst="rect">
            <a:avLst/>
          </a:prstGeom>
          <a:noFill/>
          <a:ln/>
        </p:spPr>
        <p:txBody>
          <a:bodyPr wrap="square" lIns="0" tIns="0" rIns="0" bIns="0" rtlCol="0" anchor="ctr"/>
          <a:lstStyle/>
          <a:p>
            <a:pPr algn="ctr" indent="0" marL="0">
              <a:buNone/>
            </a:pPr>
            <a:r>
              <a:rPr lang="en-US" sz="1100" dirty="0">
                <a:solidFill>
                  <a:srgbClr val="FAF3E2"/>
                </a:solidFill>
                <a:latin typeface="メイリオ" pitchFamily="34" charset="0"/>
                <a:ea typeface="メイリオ" pitchFamily="34" charset="-122"/>
                <a:cs typeface="メイリオ" pitchFamily="34" charset="-120"/>
              </a:rPr>
              <a:t>ピーク → 直近</a:t>
            </a:r>
            <a:endParaRPr lang="en-US" sz="1100" dirty="0"/>
          </a:p>
        </p:txBody>
      </p:sp>
      <p:sp>
        <p:nvSpPr>
          <p:cNvPr id="7" name="Text 4"/>
          <p:cNvSpPr/>
          <p:nvPr/>
        </p:nvSpPr>
        <p:spPr>
          <a:xfrm>
            <a:off x="8869680" y="1965960"/>
            <a:ext cx="2514600" cy="685800"/>
          </a:xfrm>
          <a:prstGeom prst="rect">
            <a:avLst/>
          </a:prstGeom>
          <a:noFill/>
          <a:ln/>
        </p:spPr>
        <p:txBody>
          <a:bodyPr wrap="square" lIns="0" tIns="0" rIns="0" bIns="0" rtlCol="0" anchor="ctr"/>
          <a:lstStyle/>
          <a:p>
            <a:pPr algn="ctr" indent="0" marL="0">
              <a:buNone/>
            </a:pPr>
            <a:r>
              <a:rPr lang="en-US" sz="3600" b="1" dirty="0">
                <a:solidFill>
                  <a:srgbClr val="A98442"/>
                </a:solidFill>
                <a:latin typeface="メイリオ" pitchFamily="34" charset="0"/>
                <a:ea typeface="メイリオ" pitchFamily="34" charset="-122"/>
                <a:cs typeface="メイリオ" pitchFamily="34" charset="-120"/>
              </a:rPr>
              <a:t>▲36.4%</a:t>
            </a:r>
            <a:endParaRPr lang="en-US" sz="3600" dirty="0"/>
          </a:p>
        </p:txBody>
      </p:sp>
      <p:sp>
        <p:nvSpPr>
          <p:cNvPr id="8" name="Text 5"/>
          <p:cNvSpPr/>
          <p:nvPr/>
        </p:nvSpPr>
        <p:spPr>
          <a:xfrm>
            <a:off x="8869680" y="2670048"/>
            <a:ext cx="2514600" cy="548640"/>
          </a:xfrm>
          <a:prstGeom prst="rect">
            <a:avLst/>
          </a:prstGeom>
          <a:noFill/>
          <a:ln/>
        </p:spPr>
        <p:txBody>
          <a:bodyPr wrap="square" lIns="0" tIns="0" rIns="0" bIns="0" rtlCol="0" anchor="ctr"/>
          <a:lstStyle/>
          <a:p>
            <a:pPr algn="ctr" indent="0" marL="0">
              <a:buNone/>
            </a:pPr>
            <a:r>
              <a:rPr lang="en-US" sz="1050" dirty="0">
                <a:solidFill>
                  <a:srgbClr val="FAF3E2"/>
                </a:solidFill>
                <a:latin typeface="メイリオ" pitchFamily="34" charset="0"/>
                <a:ea typeface="メイリオ" pitchFamily="34" charset="-122"/>
                <a:cs typeface="メイリオ" pitchFamily="34" charset="-120"/>
              </a:rPr>
              <a:t>38.7百万円（26/3）</a:t>
            </a:r>
            <a:endParaRPr lang="en-US" sz="1050" dirty="0"/>
          </a:p>
          <a:p>
            <a:pPr algn="ctr" indent="0" marL="0">
              <a:buNone/>
            </a:pPr>
            <a:r>
              <a:rPr lang="en-US" sz="1050" dirty="0">
                <a:solidFill>
                  <a:srgbClr val="FAF3E2"/>
                </a:solidFill>
                <a:latin typeface="メイリオ" pitchFamily="34" charset="0"/>
                <a:ea typeface="メイリオ" pitchFamily="34" charset="-122"/>
                <a:cs typeface="メイリオ" pitchFamily="34" charset="-120"/>
              </a:rPr>
              <a:t>→ 24.6百万円（26/6）</a:t>
            </a:r>
            <a:endParaRPr lang="en-US" sz="1050" dirty="0"/>
          </a:p>
        </p:txBody>
      </p:sp>
      <p:sp>
        <p:nvSpPr>
          <p:cNvPr id="9" name="Shape 6"/>
          <p:cNvSpPr/>
          <p:nvPr/>
        </p:nvSpPr>
        <p:spPr>
          <a:xfrm>
            <a:off x="8686800" y="3566160"/>
            <a:ext cx="288036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0" name="Text 7"/>
          <p:cNvSpPr/>
          <p:nvPr/>
        </p:nvSpPr>
        <p:spPr>
          <a:xfrm>
            <a:off x="8869680" y="3749040"/>
            <a:ext cx="2514600" cy="274320"/>
          </a:xfrm>
          <a:prstGeom prst="rect">
            <a:avLst/>
          </a:prstGeom>
          <a:noFill/>
          <a:ln/>
        </p:spPr>
        <p:txBody>
          <a:bodyPr wrap="square" lIns="0" tIns="0" rIns="0" bIns="0" rtlCol="0" anchor="ctr"/>
          <a:lstStyle/>
          <a:p>
            <a:pPr indent="0" marL="0">
              <a:buNone/>
            </a:pPr>
            <a:r>
              <a:rPr lang="en-US" sz="1100" b="1" dirty="0">
                <a:solidFill>
                  <a:srgbClr val="1A1A1A"/>
                </a:solidFill>
                <a:latin typeface="メイリオ" pitchFamily="34" charset="0"/>
                <a:ea typeface="メイリオ" pitchFamily="34" charset="-122"/>
                <a:cs typeface="メイリオ" pitchFamily="34" charset="-120"/>
              </a:rPr>
              <a:t>計画の前提</a:t>
            </a:r>
            <a:endParaRPr lang="en-US" sz="1100" dirty="0"/>
          </a:p>
        </p:txBody>
      </p:sp>
      <p:sp>
        <p:nvSpPr>
          <p:cNvPr id="11" name="Text 8"/>
          <p:cNvSpPr/>
          <p:nvPr/>
        </p:nvSpPr>
        <p:spPr>
          <a:xfrm>
            <a:off x="8869680" y="4041648"/>
            <a:ext cx="2514600" cy="1371600"/>
          </a:xfrm>
          <a:prstGeom prst="rect">
            <a:avLst/>
          </a:prstGeom>
          <a:noFill/>
          <a:ln/>
        </p:spPr>
        <p:txBody>
          <a:bodyPr wrap="square" lIns="0" tIns="0" rIns="0" bIns="0" rtlCol="0" anchor="t"/>
          <a:lstStyle/>
          <a:p>
            <a:pPr indent="0" marL="0">
              <a:buNone/>
            </a:pPr>
            <a:r>
              <a:rPr lang="en-US" sz="1050" dirty="0">
                <a:solidFill>
                  <a:srgbClr val="1A1A1A"/>
                </a:solidFill>
                <a:latin typeface="メイリオ" pitchFamily="34" charset="0"/>
                <a:ea typeface="メイリオ" pitchFamily="34" charset="-122"/>
                <a:cs typeface="メイリオ" pitchFamily="34" charset="-120"/>
              </a:rPr>
              <a:t>FY2027の販管費は、2026年4-6月の実績平均 25.0百万円/月をそのまま横ばいで置いています。さらなる削減は織り込んでいません。</a:t>
            </a:r>
            <a:endParaRPr lang="en-US" sz="1050" dirty="0"/>
          </a:p>
        </p:txBody>
      </p:sp>
      <p:sp>
        <p:nvSpPr>
          <p:cNvPr id="12" name="Text 9"/>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出典：事業計画202608（銀行様）全社シート。2026/07以降は見込値のため本グラフから除外。</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撤退後の実力値 － 2026年4-6月の月次平均</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この3か月が、再編後のWineBank単体の実力です。FY2027はここを起点にしています。（単位：円）</a:t>
            </a:r>
            <a:endParaRPr lang="en-US" sz="1250" dirty="0"/>
          </a:p>
        </p:txBody>
      </p:sp>
      <p:sp>
        <p:nvSpPr>
          <p:cNvPr id="4" name="Shape 2"/>
          <p:cNvSpPr/>
          <p:nvPr/>
        </p:nvSpPr>
        <p:spPr>
          <a:xfrm>
            <a:off x="594360" y="1554480"/>
            <a:ext cx="5943600" cy="676656"/>
          </a:xfrm>
          <a:prstGeom prst="roundRect">
            <a:avLst>
              <a:gd name="adj" fmla="val 675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Text 3"/>
          <p:cNvSpPr/>
          <p:nvPr/>
        </p:nvSpPr>
        <p:spPr>
          <a:xfrm>
            <a:off x="868680" y="1554480"/>
            <a:ext cx="2194560" cy="67665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売上</a:t>
            </a:r>
            <a:endParaRPr lang="en-US" sz="1300" dirty="0"/>
          </a:p>
        </p:txBody>
      </p:sp>
      <p:sp>
        <p:nvSpPr>
          <p:cNvPr id="6" name="Text 4"/>
          <p:cNvSpPr/>
          <p:nvPr/>
        </p:nvSpPr>
        <p:spPr>
          <a:xfrm>
            <a:off x="3063240" y="1554480"/>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32,428,397</a:t>
            </a:r>
            <a:endParaRPr lang="en-US" sz="1600" dirty="0"/>
          </a:p>
        </p:txBody>
      </p:sp>
      <p:sp>
        <p:nvSpPr>
          <p:cNvPr id="7" name="Text 5"/>
          <p:cNvSpPr/>
          <p:nvPr/>
        </p:nvSpPr>
        <p:spPr>
          <a:xfrm>
            <a:off x="5349240" y="1554480"/>
            <a:ext cx="1005840" cy="676656"/>
          </a:xfrm>
          <a:prstGeom prst="rect">
            <a:avLst/>
          </a:prstGeom>
          <a:noFill/>
          <a:ln/>
        </p:spPr>
        <p:txBody>
          <a:bodyPr wrap="square" lIns="0" tIns="0" rIns="0" bIns="0" rtlCol="0" anchor="ctr"/>
          <a:lstStyle/>
          <a:p>
            <a:pPr algn="r" indent="0" marL="0">
              <a:buNone/>
            </a:pPr>
            <a:endParaRPr lang="en-US" sz="950" dirty="0"/>
          </a:p>
        </p:txBody>
      </p:sp>
      <p:sp>
        <p:nvSpPr>
          <p:cNvPr id="8" name="Shape 6"/>
          <p:cNvSpPr/>
          <p:nvPr/>
        </p:nvSpPr>
        <p:spPr>
          <a:xfrm>
            <a:off x="594360" y="2340864"/>
            <a:ext cx="5943600" cy="676656"/>
          </a:xfrm>
          <a:prstGeom prst="roundRect">
            <a:avLst>
              <a:gd name="adj" fmla="val 675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9" name="Text 7"/>
          <p:cNvSpPr/>
          <p:nvPr/>
        </p:nvSpPr>
        <p:spPr>
          <a:xfrm>
            <a:off x="868680" y="2340864"/>
            <a:ext cx="2194560" cy="67665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売上原価</a:t>
            </a:r>
            <a:endParaRPr lang="en-US" sz="1300" dirty="0"/>
          </a:p>
        </p:txBody>
      </p:sp>
      <p:sp>
        <p:nvSpPr>
          <p:cNvPr id="10" name="Text 8"/>
          <p:cNvSpPr/>
          <p:nvPr/>
        </p:nvSpPr>
        <p:spPr>
          <a:xfrm>
            <a:off x="3063240" y="2340864"/>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▲15,711,570</a:t>
            </a:r>
            <a:endParaRPr lang="en-US" sz="1600" dirty="0"/>
          </a:p>
        </p:txBody>
      </p:sp>
      <p:sp>
        <p:nvSpPr>
          <p:cNvPr id="11" name="Text 9"/>
          <p:cNvSpPr/>
          <p:nvPr/>
        </p:nvSpPr>
        <p:spPr>
          <a:xfrm>
            <a:off x="5349240" y="2340864"/>
            <a:ext cx="1005840" cy="676656"/>
          </a:xfrm>
          <a:prstGeom prst="rect">
            <a:avLst/>
          </a:prstGeom>
          <a:noFill/>
          <a:ln/>
        </p:spPr>
        <p:txBody>
          <a:bodyPr wrap="square" lIns="0" tIns="0" rIns="0" bIns="0" rtlCol="0" anchor="ctr"/>
          <a:lstStyle/>
          <a:p>
            <a:pPr algn="r" indent="0" marL="0">
              <a:buNone/>
            </a:pPr>
            <a:endParaRPr lang="en-US" sz="950" dirty="0"/>
          </a:p>
        </p:txBody>
      </p:sp>
      <p:sp>
        <p:nvSpPr>
          <p:cNvPr id="12" name="Shape 10"/>
          <p:cNvSpPr/>
          <p:nvPr/>
        </p:nvSpPr>
        <p:spPr>
          <a:xfrm>
            <a:off x="594360" y="3127248"/>
            <a:ext cx="5943600" cy="676656"/>
          </a:xfrm>
          <a:prstGeom prst="roundRect">
            <a:avLst>
              <a:gd name="adj" fmla="val 6757"/>
            </a:avLst>
          </a:prstGeom>
          <a:solidFill>
            <a:srgbClr val="FAF3E2"/>
          </a:solidFill>
          <a:ln w="12700">
            <a:solidFill>
              <a:srgbClr val="1A1A1A"/>
            </a:solidFill>
            <a:prstDash val="solid"/>
          </a:ln>
          <a:effectLst>
            <a:outerShdw sx="100000" sy="100000" kx="0" ky="0" algn="bl" rotWithShape="0" blurRad="114300" dist="25400" dir="5400000">
              <a:srgbClr val="000000">
                <a:alpha val="8000"/>
              </a:srgbClr>
            </a:outerShdw>
          </a:effectLst>
        </p:spPr>
      </p:sp>
      <p:sp>
        <p:nvSpPr>
          <p:cNvPr id="13" name="Text 11"/>
          <p:cNvSpPr/>
          <p:nvPr/>
        </p:nvSpPr>
        <p:spPr>
          <a:xfrm>
            <a:off x="868680" y="3127248"/>
            <a:ext cx="2194560" cy="676656"/>
          </a:xfrm>
          <a:prstGeom prst="rect">
            <a:avLst/>
          </a:prstGeom>
          <a:noFill/>
          <a:ln/>
        </p:spPr>
        <p:txBody>
          <a:bodyPr wrap="square" lIns="0" tIns="0" rIns="0" bIns="0" rtlCol="0" anchor="ctr"/>
          <a:lstStyle/>
          <a:p>
            <a:pPr indent="0" marL="0">
              <a:buNone/>
            </a:pPr>
            <a:r>
              <a:rPr lang="en-US" sz="1300" b="1" dirty="0">
                <a:solidFill>
                  <a:srgbClr val="1A1A1A"/>
                </a:solidFill>
                <a:latin typeface="メイリオ" pitchFamily="34" charset="0"/>
                <a:ea typeface="メイリオ" pitchFamily="34" charset="-122"/>
                <a:cs typeface="メイリオ" pitchFamily="34" charset="-120"/>
              </a:rPr>
              <a:t>売上総利益</a:t>
            </a:r>
            <a:endParaRPr lang="en-US" sz="1300" dirty="0"/>
          </a:p>
        </p:txBody>
      </p:sp>
      <p:sp>
        <p:nvSpPr>
          <p:cNvPr id="14" name="Text 12"/>
          <p:cNvSpPr/>
          <p:nvPr/>
        </p:nvSpPr>
        <p:spPr>
          <a:xfrm>
            <a:off x="3063240" y="3127248"/>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16,716,827</a:t>
            </a:r>
            <a:endParaRPr lang="en-US" sz="1600" dirty="0"/>
          </a:p>
        </p:txBody>
      </p:sp>
      <p:sp>
        <p:nvSpPr>
          <p:cNvPr id="15" name="Text 13"/>
          <p:cNvSpPr/>
          <p:nvPr/>
        </p:nvSpPr>
        <p:spPr>
          <a:xfrm>
            <a:off x="5349240" y="3127248"/>
            <a:ext cx="1005840" cy="676656"/>
          </a:xfrm>
          <a:prstGeom prst="rect">
            <a:avLst/>
          </a:prstGeom>
          <a:noFill/>
          <a:ln/>
        </p:spPr>
        <p:txBody>
          <a:bodyPr wrap="square" lIns="0" tIns="0" rIns="0" bIns="0" rtlCol="0" anchor="ctr"/>
          <a:lstStyle/>
          <a:p>
            <a:pPr algn="r" indent="0" marL="0">
              <a:buNone/>
            </a:pPr>
            <a:r>
              <a:rPr lang="en-US" sz="950" dirty="0">
                <a:solidFill>
                  <a:srgbClr val="8C8C8C"/>
                </a:solidFill>
                <a:latin typeface="メイリオ" pitchFamily="34" charset="0"/>
                <a:ea typeface="メイリオ" pitchFamily="34" charset="-122"/>
                <a:cs typeface="メイリオ" pitchFamily="34" charset="-120"/>
              </a:rPr>
              <a:t>粗利率 51.5%</a:t>
            </a:r>
            <a:endParaRPr lang="en-US" sz="950" dirty="0"/>
          </a:p>
        </p:txBody>
      </p:sp>
      <p:sp>
        <p:nvSpPr>
          <p:cNvPr id="16" name="Shape 14"/>
          <p:cNvSpPr/>
          <p:nvPr/>
        </p:nvSpPr>
        <p:spPr>
          <a:xfrm>
            <a:off x="594360" y="3913632"/>
            <a:ext cx="5943600" cy="676656"/>
          </a:xfrm>
          <a:prstGeom prst="roundRect">
            <a:avLst>
              <a:gd name="adj" fmla="val 675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7" name="Text 15"/>
          <p:cNvSpPr/>
          <p:nvPr/>
        </p:nvSpPr>
        <p:spPr>
          <a:xfrm>
            <a:off x="868680" y="3913632"/>
            <a:ext cx="2194560" cy="67665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販管費</a:t>
            </a:r>
            <a:endParaRPr lang="en-US" sz="1300" dirty="0"/>
          </a:p>
        </p:txBody>
      </p:sp>
      <p:sp>
        <p:nvSpPr>
          <p:cNvPr id="18" name="Text 16"/>
          <p:cNvSpPr/>
          <p:nvPr/>
        </p:nvSpPr>
        <p:spPr>
          <a:xfrm>
            <a:off x="3063240" y="3913632"/>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▲25,013,422</a:t>
            </a:r>
            <a:endParaRPr lang="en-US" sz="1600" dirty="0"/>
          </a:p>
        </p:txBody>
      </p:sp>
      <p:sp>
        <p:nvSpPr>
          <p:cNvPr id="19" name="Text 17"/>
          <p:cNvSpPr/>
          <p:nvPr/>
        </p:nvSpPr>
        <p:spPr>
          <a:xfrm>
            <a:off x="5349240" y="3913632"/>
            <a:ext cx="1005840" cy="676656"/>
          </a:xfrm>
          <a:prstGeom prst="rect">
            <a:avLst/>
          </a:prstGeom>
          <a:noFill/>
          <a:ln/>
        </p:spPr>
        <p:txBody>
          <a:bodyPr wrap="square" lIns="0" tIns="0" rIns="0" bIns="0" rtlCol="0" anchor="ctr"/>
          <a:lstStyle/>
          <a:p>
            <a:pPr algn="r" indent="0" marL="0">
              <a:buNone/>
            </a:pPr>
            <a:r>
              <a:rPr lang="en-US" sz="950" dirty="0">
                <a:solidFill>
                  <a:srgbClr val="8C8C8C"/>
                </a:solidFill>
                <a:latin typeface="メイリオ" pitchFamily="34" charset="0"/>
                <a:ea typeface="メイリオ" pitchFamily="34" charset="-122"/>
                <a:cs typeface="メイリオ" pitchFamily="34" charset="-120"/>
              </a:rPr>
              <a:t>全23科目</a:t>
            </a:r>
            <a:endParaRPr lang="en-US" sz="950" dirty="0"/>
          </a:p>
        </p:txBody>
      </p:sp>
      <p:sp>
        <p:nvSpPr>
          <p:cNvPr id="20" name="Shape 18"/>
          <p:cNvSpPr/>
          <p:nvPr/>
        </p:nvSpPr>
        <p:spPr>
          <a:xfrm>
            <a:off x="594360" y="4700016"/>
            <a:ext cx="5943600" cy="676656"/>
          </a:xfrm>
          <a:prstGeom prst="roundRect">
            <a:avLst>
              <a:gd name="adj" fmla="val 6757"/>
            </a:avLst>
          </a:prstGeom>
          <a:solidFill>
            <a:srgbClr val="1A1A1A"/>
          </a:solidFill>
          <a:ln w="12700">
            <a:solidFill>
              <a:srgbClr val="1A1A1A"/>
            </a:solidFill>
            <a:prstDash val="solid"/>
          </a:ln>
          <a:effectLst>
            <a:outerShdw sx="100000" sy="100000" kx="0" ky="0" algn="bl" rotWithShape="0" blurRad="114300" dist="25400" dir="5400000">
              <a:srgbClr val="000000">
                <a:alpha val="8000"/>
              </a:srgbClr>
            </a:outerShdw>
          </a:effectLst>
        </p:spPr>
      </p:sp>
      <p:sp>
        <p:nvSpPr>
          <p:cNvPr id="21" name="Text 19"/>
          <p:cNvSpPr/>
          <p:nvPr/>
        </p:nvSpPr>
        <p:spPr>
          <a:xfrm>
            <a:off x="868680" y="4700016"/>
            <a:ext cx="2194560" cy="676656"/>
          </a:xfrm>
          <a:prstGeom prst="rect">
            <a:avLst/>
          </a:prstGeom>
          <a:noFill/>
          <a:ln/>
        </p:spPr>
        <p:txBody>
          <a:bodyPr wrap="square" lIns="0" tIns="0" rIns="0" bIns="0" rtlCol="0" anchor="ctr"/>
          <a:lstStyle/>
          <a:p>
            <a:pPr indent="0" marL="0">
              <a:buNone/>
            </a:pPr>
            <a:r>
              <a:rPr lang="en-US" sz="1300" b="1" dirty="0">
                <a:solidFill>
                  <a:srgbClr val="FFFFFF"/>
                </a:solidFill>
                <a:latin typeface="メイリオ" pitchFamily="34" charset="0"/>
                <a:ea typeface="メイリオ" pitchFamily="34" charset="-122"/>
                <a:cs typeface="メイリオ" pitchFamily="34" charset="-120"/>
              </a:rPr>
              <a:t>営業利益</a:t>
            </a:r>
            <a:endParaRPr lang="en-US" sz="1300" dirty="0"/>
          </a:p>
        </p:txBody>
      </p:sp>
      <p:sp>
        <p:nvSpPr>
          <p:cNvPr id="22" name="Text 20"/>
          <p:cNvSpPr/>
          <p:nvPr/>
        </p:nvSpPr>
        <p:spPr>
          <a:xfrm>
            <a:off x="3063240" y="4700016"/>
            <a:ext cx="2194560" cy="676656"/>
          </a:xfrm>
          <a:prstGeom prst="rect">
            <a:avLst/>
          </a:prstGeom>
          <a:noFill/>
          <a:ln/>
        </p:spPr>
        <p:txBody>
          <a:bodyPr wrap="square" lIns="0" tIns="0" rIns="0" bIns="0" rtlCol="0" anchor="ctr"/>
          <a:lstStyle/>
          <a:p>
            <a:pPr algn="r" indent="0" marL="0">
              <a:buNone/>
            </a:pPr>
            <a:r>
              <a:rPr lang="en-US" sz="1600" b="1" dirty="0">
                <a:solidFill>
                  <a:srgbClr val="FFFFFF"/>
                </a:solidFill>
                <a:latin typeface="メイリオ" pitchFamily="34" charset="0"/>
                <a:ea typeface="メイリオ" pitchFamily="34" charset="-122"/>
                <a:cs typeface="メイリオ" pitchFamily="34" charset="-120"/>
              </a:rPr>
              <a:t>▲8,296,595</a:t>
            </a:r>
            <a:endParaRPr lang="en-US" sz="1600" dirty="0"/>
          </a:p>
        </p:txBody>
      </p:sp>
      <p:sp>
        <p:nvSpPr>
          <p:cNvPr id="23" name="Text 21"/>
          <p:cNvSpPr/>
          <p:nvPr/>
        </p:nvSpPr>
        <p:spPr>
          <a:xfrm>
            <a:off x="5349240" y="4700016"/>
            <a:ext cx="1005840" cy="676656"/>
          </a:xfrm>
          <a:prstGeom prst="rect">
            <a:avLst/>
          </a:prstGeom>
          <a:noFill/>
          <a:ln/>
        </p:spPr>
        <p:txBody>
          <a:bodyPr wrap="square" lIns="0" tIns="0" rIns="0" bIns="0" rtlCol="0" anchor="ctr"/>
          <a:lstStyle/>
          <a:p>
            <a:pPr algn="r" indent="0" marL="0">
              <a:buNone/>
            </a:pPr>
            <a:r>
              <a:rPr lang="en-US" sz="950" dirty="0">
                <a:solidFill>
                  <a:srgbClr val="FAF3E2"/>
                </a:solidFill>
                <a:latin typeface="メイリオ" pitchFamily="34" charset="0"/>
                <a:ea typeface="メイリオ" pitchFamily="34" charset="-122"/>
                <a:cs typeface="メイリオ" pitchFamily="34" charset="-120"/>
              </a:rPr>
              <a:t>月次</a:t>
            </a:r>
            <a:endParaRPr lang="en-US" sz="950" dirty="0"/>
          </a:p>
        </p:txBody>
      </p:sp>
      <p:sp>
        <p:nvSpPr>
          <p:cNvPr id="24" name="Shape 22"/>
          <p:cNvSpPr/>
          <p:nvPr/>
        </p:nvSpPr>
        <p:spPr>
          <a:xfrm>
            <a:off x="6858000" y="1554480"/>
            <a:ext cx="4709160" cy="4206240"/>
          </a:xfrm>
          <a:prstGeom prst="roundRect">
            <a:avLst>
              <a:gd name="adj" fmla="val 108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5" name="Text 23"/>
          <p:cNvSpPr/>
          <p:nvPr/>
        </p:nvSpPr>
        <p:spPr>
          <a:xfrm>
            <a:off x="7178040" y="1783080"/>
            <a:ext cx="4069080" cy="329184"/>
          </a:xfrm>
          <a:prstGeom prst="rect">
            <a:avLst/>
          </a:prstGeom>
          <a:noFill/>
          <a:ln/>
        </p:spPr>
        <p:txBody>
          <a:bodyPr wrap="square" lIns="0" tIns="0" rIns="0" bIns="0" rtlCol="0" anchor="ctr"/>
          <a:lstStyle/>
          <a:p>
            <a:pPr indent="0" marL="0">
              <a:buNone/>
            </a:pPr>
            <a:r>
              <a:rPr lang="en-US" sz="1700" b="1" dirty="0">
                <a:solidFill>
                  <a:srgbClr val="1A1A1A"/>
                </a:solidFill>
                <a:latin typeface="メイリオ" pitchFamily="34" charset="0"/>
                <a:ea typeface="メイリオ" pitchFamily="34" charset="-122"/>
                <a:cs typeface="メイリオ" pitchFamily="34" charset="-120"/>
              </a:rPr>
              <a:t>なぜ4月以降なのか</a:t>
            </a:r>
            <a:endParaRPr lang="en-US" sz="1700" dirty="0"/>
          </a:p>
        </p:txBody>
      </p:sp>
      <p:sp>
        <p:nvSpPr>
          <p:cNvPr id="26" name="Text 24"/>
          <p:cNvSpPr/>
          <p:nvPr/>
        </p:nvSpPr>
        <p:spPr>
          <a:xfrm>
            <a:off x="7178040" y="2240280"/>
            <a:ext cx="4069080" cy="3200400"/>
          </a:xfrm>
          <a:prstGeom prst="rect">
            <a:avLst/>
          </a:prstGeom>
          <a:noFill/>
          <a:ln/>
        </p:spPr>
        <p:txBody>
          <a:bodyPr wrap="square" lIns="0" tIns="0" rIns="0" bIns="0" rtlCol="0" anchor="ctr"/>
          <a:lstStyle/>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2025年10月〜2026年3月の数値には、撤退した不採算3店舗の売上と費用が含まれています。</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このため同期間を基準にすると、すでに存在しない事業の損益を将来計画に持ち込むことになります。</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撤退が完了した2026年4月以降の3か月を基準とすることで、現在の事業構造をそのまま反映した計画になります。</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粗利率が51.5%と高いのは、低採算店が抜け、ワイン投資販売中心の構成になったためです。</a:t>
            </a:r>
            <a:endParaRPr lang="en-US" sz="1150" dirty="0"/>
          </a:p>
        </p:txBody>
      </p:sp>
      <p:sp>
        <p:nvSpPr>
          <p:cNvPr id="27" name="Text 25"/>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 2026/04・05・06 実績の単純平均</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FY2027の収益上乗せ － 132.5百万円</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経営指導料を中心としたストック型収益。全額を営業収益に計上します。</a:t>
            </a:r>
            <a:endParaRPr lang="en-US" sz="1250" dirty="0"/>
          </a:p>
        </p:txBody>
      </p:sp>
      <p:sp>
        <p:nvSpPr>
          <p:cNvPr id="4" name="Shape 2"/>
          <p:cNvSpPr/>
          <p:nvPr/>
        </p:nvSpPr>
        <p:spPr>
          <a:xfrm>
            <a:off x="594360" y="1517904"/>
            <a:ext cx="7223760" cy="402336"/>
          </a:xfrm>
          <a:prstGeom prst="rect">
            <a:avLst/>
          </a:prstGeom>
          <a:solidFill>
            <a:srgbClr val="1A1A1A"/>
          </a:solidFill>
          <a:ln/>
        </p:spPr>
      </p:sp>
      <p:sp>
        <p:nvSpPr>
          <p:cNvPr id="5" name="Text 3"/>
          <p:cNvSpPr/>
          <p:nvPr/>
        </p:nvSpPr>
        <p:spPr>
          <a:xfrm>
            <a:off x="777240" y="1517904"/>
            <a:ext cx="1737360" cy="402336"/>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区分</a:t>
            </a:r>
            <a:endParaRPr lang="en-US" sz="950" dirty="0"/>
          </a:p>
        </p:txBody>
      </p:sp>
      <p:sp>
        <p:nvSpPr>
          <p:cNvPr id="6" name="Text 4"/>
          <p:cNvSpPr/>
          <p:nvPr/>
        </p:nvSpPr>
        <p:spPr>
          <a:xfrm>
            <a:off x="2514600" y="1517904"/>
            <a:ext cx="2286000" cy="402336"/>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案件</a:t>
            </a:r>
            <a:endParaRPr lang="en-US" sz="950" dirty="0"/>
          </a:p>
        </p:txBody>
      </p:sp>
      <p:sp>
        <p:nvSpPr>
          <p:cNvPr id="7" name="Text 5"/>
          <p:cNvSpPr/>
          <p:nvPr/>
        </p:nvSpPr>
        <p:spPr>
          <a:xfrm>
            <a:off x="4846320" y="1517904"/>
            <a:ext cx="1417320" cy="402336"/>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金額</a:t>
            </a:r>
            <a:endParaRPr lang="en-US" sz="950" dirty="0"/>
          </a:p>
        </p:txBody>
      </p:sp>
      <p:sp>
        <p:nvSpPr>
          <p:cNvPr id="8" name="Text 6"/>
          <p:cNvSpPr/>
          <p:nvPr/>
        </p:nvSpPr>
        <p:spPr>
          <a:xfrm>
            <a:off x="6355080" y="1517904"/>
            <a:ext cx="1417320" cy="402336"/>
          </a:xfrm>
          <a:prstGeom prst="rect">
            <a:avLst/>
          </a:prstGeom>
          <a:noFill/>
          <a:ln/>
        </p:spPr>
        <p:txBody>
          <a:bodyPr wrap="square" lIns="0" tIns="0" rIns="0" bIns="0" rtlCol="0" anchor="ctr"/>
          <a:lstStyle/>
          <a:p>
            <a:pPr algn="ctr" indent="0" marL="0">
              <a:buNone/>
            </a:pPr>
            <a:r>
              <a:rPr lang="en-US" sz="950" b="1" dirty="0">
                <a:solidFill>
                  <a:srgbClr val="FFFFFF"/>
                </a:solidFill>
                <a:latin typeface="メイリオ" pitchFamily="34" charset="0"/>
                <a:ea typeface="メイリオ" pitchFamily="34" charset="-122"/>
                <a:cs typeface="メイリオ" pitchFamily="34" charset="-120"/>
              </a:rPr>
              <a:t>取引先</a:t>
            </a:r>
            <a:endParaRPr lang="en-US" sz="950" dirty="0"/>
          </a:p>
        </p:txBody>
      </p:sp>
      <p:sp>
        <p:nvSpPr>
          <p:cNvPr id="9" name="Shape 7"/>
          <p:cNvSpPr/>
          <p:nvPr/>
        </p:nvSpPr>
        <p:spPr>
          <a:xfrm>
            <a:off x="594360" y="1920240"/>
            <a:ext cx="7223760" cy="484632"/>
          </a:xfrm>
          <a:prstGeom prst="rect">
            <a:avLst/>
          </a:prstGeom>
          <a:solidFill>
            <a:srgbClr val="FFFFFF"/>
          </a:solidFill>
          <a:ln w="6350">
            <a:solidFill>
              <a:srgbClr val="E2E0DC"/>
            </a:solidFill>
            <a:prstDash val="solid"/>
          </a:ln>
        </p:spPr>
      </p:sp>
      <p:sp>
        <p:nvSpPr>
          <p:cNvPr id="10" name="Text 8"/>
          <p:cNvSpPr/>
          <p:nvPr/>
        </p:nvSpPr>
        <p:spPr>
          <a:xfrm>
            <a:off x="777240" y="1920240"/>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経営指導料</a:t>
            </a:r>
            <a:endParaRPr lang="en-US" sz="900" dirty="0"/>
          </a:p>
        </p:txBody>
      </p:sp>
      <p:sp>
        <p:nvSpPr>
          <p:cNvPr id="11" name="Text 9"/>
          <p:cNvSpPr/>
          <p:nvPr/>
        </p:nvSpPr>
        <p:spPr>
          <a:xfrm>
            <a:off x="2514600" y="1920240"/>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間接グループ5社</a:t>
            </a:r>
            <a:endParaRPr lang="en-US" sz="1000" dirty="0"/>
          </a:p>
        </p:txBody>
      </p:sp>
      <p:sp>
        <p:nvSpPr>
          <p:cNvPr id="12" name="Text 10"/>
          <p:cNvSpPr/>
          <p:nvPr/>
        </p:nvSpPr>
        <p:spPr>
          <a:xfrm>
            <a:off x="4846320" y="1920240"/>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¥80,000,000</a:t>
            </a:r>
            <a:endParaRPr lang="en-US" sz="1150" dirty="0"/>
          </a:p>
        </p:txBody>
      </p:sp>
      <p:sp>
        <p:nvSpPr>
          <p:cNvPr id="13" name="Shape 11"/>
          <p:cNvSpPr/>
          <p:nvPr/>
        </p:nvSpPr>
        <p:spPr>
          <a:xfrm>
            <a:off x="6355080" y="2020824"/>
            <a:ext cx="1417320" cy="283464"/>
          </a:xfrm>
          <a:prstGeom prst="roundRect">
            <a:avLst>
              <a:gd name="adj" fmla="val 16129"/>
            </a:avLst>
          </a:prstGeom>
          <a:solidFill>
            <a:srgbClr val="1A1A1A"/>
          </a:solidFill>
          <a:ln w="9525">
            <a:solidFill>
              <a:srgbClr val="1A1A1A"/>
            </a:solidFill>
            <a:prstDash val="solid"/>
          </a:ln>
        </p:spPr>
      </p:sp>
      <p:sp>
        <p:nvSpPr>
          <p:cNvPr id="14" name="Text 12"/>
          <p:cNvSpPr/>
          <p:nvPr/>
        </p:nvSpPr>
        <p:spPr>
          <a:xfrm>
            <a:off x="6355080" y="2020824"/>
            <a:ext cx="1417320" cy="283464"/>
          </a:xfrm>
          <a:prstGeom prst="rect">
            <a:avLst/>
          </a:prstGeom>
          <a:noFill/>
          <a:ln/>
        </p:spPr>
        <p:txBody>
          <a:bodyPr wrap="square" lIns="0" tIns="0" rIns="0" bIns="0" rtlCol="0" anchor="ctr"/>
          <a:lstStyle/>
          <a:p>
            <a:pPr algn="ctr" indent="0" marL="0">
              <a:buNone/>
            </a:pPr>
            <a:r>
              <a:rPr lang="en-US" sz="800" dirty="0">
                <a:solidFill>
                  <a:srgbClr val="FFFFFF"/>
                </a:solidFill>
                <a:latin typeface="メイリオ" pitchFamily="34" charset="0"/>
                <a:ea typeface="メイリオ" pitchFamily="34" charset="-122"/>
                <a:cs typeface="メイリオ" pitchFamily="34" charset="-120"/>
              </a:rPr>
              <a:t>中野出資</a:t>
            </a:r>
            <a:endParaRPr lang="en-US" sz="800" dirty="0"/>
          </a:p>
        </p:txBody>
      </p:sp>
      <p:sp>
        <p:nvSpPr>
          <p:cNvPr id="15" name="Shape 13"/>
          <p:cNvSpPr/>
          <p:nvPr/>
        </p:nvSpPr>
        <p:spPr>
          <a:xfrm>
            <a:off x="594360" y="2404872"/>
            <a:ext cx="7223760" cy="484632"/>
          </a:xfrm>
          <a:prstGeom prst="rect">
            <a:avLst/>
          </a:prstGeom>
          <a:solidFill>
            <a:srgbClr val="FBFAF8"/>
          </a:solidFill>
          <a:ln w="6350">
            <a:solidFill>
              <a:srgbClr val="E2E0DC"/>
            </a:solidFill>
            <a:prstDash val="solid"/>
          </a:ln>
        </p:spPr>
      </p:sp>
      <p:sp>
        <p:nvSpPr>
          <p:cNvPr id="16" name="Text 14"/>
          <p:cNvSpPr/>
          <p:nvPr/>
        </p:nvSpPr>
        <p:spPr>
          <a:xfrm>
            <a:off x="777240" y="2404872"/>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経営指導料</a:t>
            </a:r>
            <a:endParaRPr lang="en-US" sz="900" dirty="0"/>
          </a:p>
        </p:txBody>
      </p:sp>
      <p:sp>
        <p:nvSpPr>
          <p:cNvPr id="17" name="Text 15"/>
          <p:cNvSpPr/>
          <p:nvPr/>
        </p:nvSpPr>
        <p:spPr>
          <a:xfrm>
            <a:off x="2514600" y="2404872"/>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Thierry Marx（2026年4月開業）</a:t>
            </a:r>
            <a:endParaRPr lang="en-US" sz="1000" dirty="0"/>
          </a:p>
        </p:txBody>
      </p:sp>
      <p:sp>
        <p:nvSpPr>
          <p:cNvPr id="18" name="Text 16"/>
          <p:cNvSpPr/>
          <p:nvPr/>
        </p:nvSpPr>
        <p:spPr>
          <a:xfrm>
            <a:off x="4846320" y="2404872"/>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¥2,500,000</a:t>
            </a:r>
            <a:endParaRPr lang="en-US" sz="1150" dirty="0"/>
          </a:p>
        </p:txBody>
      </p:sp>
      <p:sp>
        <p:nvSpPr>
          <p:cNvPr id="19" name="Shape 17"/>
          <p:cNvSpPr/>
          <p:nvPr/>
        </p:nvSpPr>
        <p:spPr>
          <a:xfrm>
            <a:off x="6355080" y="2505456"/>
            <a:ext cx="1417320" cy="283464"/>
          </a:xfrm>
          <a:prstGeom prst="roundRect">
            <a:avLst>
              <a:gd name="adj" fmla="val 16129"/>
            </a:avLst>
          </a:prstGeom>
          <a:solidFill>
            <a:srgbClr val="1A1A1A"/>
          </a:solidFill>
          <a:ln w="9525">
            <a:solidFill>
              <a:srgbClr val="1A1A1A"/>
            </a:solidFill>
            <a:prstDash val="solid"/>
          </a:ln>
        </p:spPr>
      </p:sp>
      <p:sp>
        <p:nvSpPr>
          <p:cNvPr id="20" name="Text 18"/>
          <p:cNvSpPr/>
          <p:nvPr/>
        </p:nvSpPr>
        <p:spPr>
          <a:xfrm>
            <a:off x="6355080" y="2505456"/>
            <a:ext cx="1417320" cy="283464"/>
          </a:xfrm>
          <a:prstGeom prst="rect">
            <a:avLst/>
          </a:prstGeom>
          <a:noFill/>
          <a:ln/>
        </p:spPr>
        <p:txBody>
          <a:bodyPr wrap="square" lIns="0" tIns="0" rIns="0" bIns="0" rtlCol="0" anchor="ctr"/>
          <a:lstStyle/>
          <a:p>
            <a:pPr algn="ctr" indent="0" marL="0">
              <a:buNone/>
            </a:pPr>
            <a:r>
              <a:rPr lang="en-US" sz="800" dirty="0">
                <a:solidFill>
                  <a:srgbClr val="FFFFFF"/>
                </a:solidFill>
                <a:latin typeface="メイリオ" pitchFamily="34" charset="0"/>
                <a:ea typeface="メイリオ" pitchFamily="34" charset="-122"/>
                <a:cs typeface="メイリオ" pitchFamily="34" charset="-120"/>
              </a:rPr>
              <a:t>Apiciusグループ</a:t>
            </a:r>
            <a:endParaRPr lang="en-US" sz="800" dirty="0"/>
          </a:p>
        </p:txBody>
      </p:sp>
      <p:sp>
        <p:nvSpPr>
          <p:cNvPr id="21" name="Shape 19"/>
          <p:cNvSpPr/>
          <p:nvPr/>
        </p:nvSpPr>
        <p:spPr>
          <a:xfrm>
            <a:off x="594360" y="2889504"/>
            <a:ext cx="7223760" cy="484632"/>
          </a:xfrm>
          <a:prstGeom prst="rect">
            <a:avLst/>
          </a:prstGeom>
          <a:solidFill>
            <a:srgbClr val="FFFFFF"/>
          </a:solidFill>
          <a:ln w="6350">
            <a:solidFill>
              <a:srgbClr val="E2E0DC"/>
            </a:solidFill>
            <a:prstDash val="solid"/>
          </a:ln>
        </p:spPr>
      </p:sp>
      <p:sp>
        <p:nvSpPr>
          <p:cNvPr id="22" name="Text 20"/>
          <p:cNvSpPr/>
          <p:nvPr/>
        </p:nvSpPr>
        <p:spPr>
          <a:xfrm>
            <a:off x="777240" y="2889504"/>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経営指導料</a:t>
            </a:r>
            <a:endParaRPr lang="en-US" sz="900" dirty="0"/>
          </a:p>
        </p:txBody>
      </p:sp>
      <p:sp>
        <p:nvSpPr>
          <p:cNvPr id="23" name="Text 21"/>
          <p:cNvSpPr/>
          <p:nvPr/>
        </p:nvSpPr>
        <p:spPr>
          <a:xfrm>
            <a:off x="2514600" y="2889504"/>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Apicius</a:t>
            </a:r>
            <a:endParaRPr lang="en-US" sz="1000" dirty="0"/>
          </a:p>
        </p:txBody>
      </p:sp>
      <p:sp>
        <p:nvSpPr>
          <p:cNvPr id="24" name="Text 22"/>
          <p:cNvSpPr/>
          <p:nvPr/>
        </p:nvSpPr>
        <p:spPr>
          <a:xfrm>
            <a:off x="4846320" y="2889504"/>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¥10,000,000</a:t>
            </a:r>
            <a:endParaRPr lang="en-US" sz="1150" dirty="0"/>
          </a:p>
        </p:txBody>
      </p:sp>
      <p:sp>
        <p:nvSpPr>
          <p:cNvPr id="25" name="Shape 23"/>
          <p:cNvSpPr/>
          <p:nvPr/>
        </p:nvSpPr>
        <p:spPr>
          <a:xfrm>
            <a:off x="6355080" y="2990088"/>
            <a:ext cx="1417320" cy="283464"/>
          </a:xfrm>
          <a:prstGeom prst="roundRect">
            <a:avLst>
              <a:gd name="adj" fmla="val 16129"/>
            </a:avLst>
          </a:prstGeom>
          <a:solidFill>
            <a:srgbClr val="1A1A1A"/>
          </a:solidFill>
          <a:ln w="9525">
            <a:solidFill>
              <a:srgbClr val="1A1A1A"/>
            </a:solidFill>
            <a:prstDash val="solid"/>
          </a:ln>
        </p:spPr>
      </p:sp>
      <p:sp>
        <p:nvSpPr>
          <p:cNvPr id="26" name="Text 24"/>
          <p:cNvSpPr/>
          <p:nvPr/>
        </p:nvSpPr>
        <p:spPr>
          <a:xfrm>
            <a:off x="6355080" y="2990088"/>
            <a:ext cx="1417320" cy="283464"/>
          </a:xfrm>
          <a:prstGeom prst="rect">
            <a:avLst/>
          </a:prstGeom>
          <a:noFill/>
          <a:ln/>
        </p:spPr>
        <p:txBody>
          <a:bodyPr wrap="square" lIns="0" tIns="0" rIns="0" bIns="0" rtlCol="0" anchor="ctr"/>
          <a:lstStyle/>
          <a:p>
            <a:pPr algn="ctr" indent="0" marL="0">
              <a:buNone/>
            </a:pPr>
            <a:r>
              <a:rPr lang="en-US" sz="800" dirty="0">
                <a:solidFill>
                  <a:srgbClr val="FFFFFF"/>
                </a:solidFill>
                <a:latin typeface="メイリオ" pitchFamily="34" charset="0"/>
                <a:ea typeface="メイリオ" pitchFamily="34" charset="-122"/>
                <a:cs typeface="メイリオ" pitchFamily="34" charset="-120"/>
              </a:rPr>
              <a:t>中野出資</a:t>
            </a:r>
            <a:endParaRPr lang="en-US" sz="800" dirty="0"/>
          </a:p>
        </p:txBody>
      </p:sp>
      <p:sp>
        <p:nvSpPr>
          <p:cNvPr id="27" name="Shape 25"/>
          <p:cNvSpPr/>
          <p:nvPr/>
        </p:nvSpPr>
        <p:spPr>
          <a:xfrm>
            <a:off x="594360" y="3374136"/>
            <a:ext cx="7223760" cy="484632"/>
          </a:xfrm>
          <a:prstGeom prst="rect">
            <a:avLst/>
          </a:prstGeom>
          <a:solidFill>
            <a:srgbClr val="FBFAF8"/>
          </a:solidFill>
          <a:ln w="6350">
            <a:solidFill>
              <a:srgbClr val="E2E0DC"/>
            </a:solidFill>
            <a:prstDash val="solid"/>
          </a:ln>
        </p:spPr>
      </p:sp>
      <p:sp>
        <p:nvSpPr>
          <p:cNvPr id="28" name="Text 26"/>
          <p:cNvSpPr/>
          <p:nvPr/>
        </p:nvSpPr>
        <p:spPr>
          <a:xfrm>
            <a:off x="777240" y="3374136"/>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M&amp;A仲介</a:t>
            </a:r>
            <a:endParaRPr lang="en-US" sz="900" dirty="0"/>
          </a:p>
        </p:txBody>
      </p:sp>
      <p:sp>
        <p:nvSpPr>
          <p:cNvPr id="29" name="Text 27"/>
          <p:cNvSpPr/>
          <p:nvPr/>
        </p:nvSpPr>
        <p:spPr>
          <a:xfrm>
            <a:off x="2514600" y="3374136"/>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Apicius既存株主売却仲介</a:t>
            </a:r>
            <a:endParaRPr lang="en-US" sz="1000" dirty="0"/>
          </a:p>
        </p:txBody>
      </p:sp>
      <p:sp>
        <p:nvSpPr>
          <p:cNvPr id="30" name="Text 28"/>
          <p:cNvSpPr/>
          <p:nvPr/>
        </p:nvSpPr>
        <p:spPr>
          <a:xfrm>
            <a:off x="4846320" y="3374136"/>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¥20,000,000</a:t>
            </a:r>
            <a:endParaRPr lang="en-US" sz="1150" dirty="0"/>
          </a:p>
        </p:txBody>
      </p:sp>
      <p:sp>
        <p:nvSpPr>
          <p:cNvPr id="31" name="Shape 29"/>
          <p:cNvSpPr/>
          <p:nvPr/>
        </p:nvSpPr>
        <p:spPr>
          <a:xfrm>
            <a:off x="6355080" y="3474720"/>
            <a:ext cx="1417320" cy="283464"/>
          </a:xfrm>
          <a:prstGeom prst="roundRect">
            <a:avLst>
              <a:gd name="adj" fmla="val 16129"/>
            </a:avLst>
          </a:prstGeom>
          <a:solidFill>
            <a:srgbClr val="FFFFFF"/>
          </a:solidFill>
          <a:ln w="9525">
            <a:solidFill>
              <a:srgbClr val="8C8C8C"/>
            </a:solidFill>
            <a:prstDash val="solid"/>
          </a:ln>
        </p:spPr>
      </p:sp>
      <p:sp>
        <p:nvSpPr>
          <p:cNvPr id="32" name="Text 30"/>
          <p:cNvSpPr/>
          <p:nvPr/>
        </p:nvSpPr>
        <p:spPr>
          <a:xfrm>
            <a:off x="6355080" y="3474720"/>
            <a:ext cx="1417320" cy="283464"/>
          </a:xfrm>
          <a:prstGeom prst="rect">
            <a:avLst/>
          </a:prstGeom>
          <a:noFill/>
          <a:ln/>
        </p:spPr>
        <p:txBody>
          <a:bodyPr wrap="square" lIns="0" tIns="0" rIns="0" bIns="0" rtlCol="0" anchor="ctr"/>
          <a:lstStyle/>
          <a:p>
            <a:pPr algn="ctr" indent="0" marL="0">
              <a:buNone/>
            </a:pPr>
            <a:r>
              <a:rPr lang="en-US" sz="800" dirty="0">
                <a:solidFill>
                  <a:srgbClr val="1A1A1A"/>
                </a:solidFill>
                <a:latin typeface="メイリオ" pitchFamily="34" charset="0"/>
                <a:ea typeface="メイリオ" pitchFamily="34" charset="-122"/>
                <a:cs typeface="メイリオ" pitchFamily="34" charset="-120"/>
              </a:rPr>
              <a:t>外部</a:t>
            </a:r>
            <a:endParaRPr lang="en-US" sz="800" dirty="0"/>
          </a:p>
        </p:txBody>
      </p:sp>
      <p:sp>
        <p:nvSpPr>
          <p:cNvPr id="33" name="Shape 31"/>
          <p:cNvSpPr/>
          <p:nvPr/>
        </p:nvSpPr>
        <p:spPr>
          <a:xfrm>
            <a:off x="594360" y="3858768"/>
            <a:ext cx="7223760" cy="484632"/>
          </a:xfrm>
          <a:prstGeom prst="rect">
            <a:avLst/>
          </a:prstGeom>
          <a:solidFill>
            <a:srgbClr val="FFFFFF"/>
          </a:solidFill>
          <a:ln w="6350">
            <a:solidFill>
              <a:srgbClr val="E2E0DC"/>
            </a:solidFill>
            <a:prstDash val="solid"/>
          </a:ln>
        </p:spPr>
      </p:sp>
      <p:sp>
        <p:nvSpPr>
          <p:cNvPr id="34" name="Text 32"/>
          <p:cNvSpPr/>
          <p:nvPr/>
        </p:nvSpPr>
        <p:spPr>
          <a:xfrm>
            <a:off x="777240" y="3858768"/>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新規事業利益</a:t>
            </a:r>
            <a:endParaRPr lang="en-US" sz="900" dirty="0"/>
          </a:p>
        </p:txBody>
      </p:sp>
      <p:sp>
        <p:nvSpPr>
          <p:cNvPr id="35" name="Text 33"/>
          <p:cNvSpPr/>
          <p:nvPr/>
        </p:nvSpPr>
        <p:spPr>
          <a:xfrm>
            <a:off x="2514600" y="3858768"/>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新規クルーザー事業</a:t>
            </a:r>
            <a:endParaRPr lang="en-US" sz="1000" dirty="0"/>
          </a:p>
        </p:txBody>
      </p:sp>
      <p:sp>
        <p:nvSpPr>
          <p:cNvPr id="36" name="Text 34"/>
          <p:cNvSpPr/>
          <p:nvPr/>
        </p:nvSpPr>
        <p:spPr>
          <a:xfrm>
            <a:off x="4846320" y="3858768"/>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¥20,000,000</a:t>
            </a:r>
            <a:endParaRPr lang="en-US" sz="1150" dirty="0"/>
          </a:p>
        </p:txBody>
      </p:sp>
      <p:sp>
        <p:nvSpPr>
          <p:cNvPr id="37" name="Shape 35"/>
          <p:cNvSpPr/>
          <p:nvPr/>
        </p:nvSpPr>
        <p:spPr>
          <a:xfrm>
            <a:off x="6355080" y="3959352"/>
            <a:ext cx="1417320" cy="283464"/>
          </a:xfrm>
          <a:prstGeom prst="roundRect">
            <a:avLst>
              <a:gd name="adj" fmla="val 16129"/>
            </a:avLst>
          </a:prstGeom>
          <a:solidFill>
            <a:srgbClr val="FFFFFF"/>
          </a:solidFill>
          <a:ln w="9525">
            <a:solidFill>
              <a:srgbClr val="8C8C8C"/>
            </a:solidFill>
            <a:prstDash val="solid"/>
          </a:ln>
        </p:spPr>
      </p:sp>
      <p:sp>
        <p:nvSpPr>
          <p:cNvPr id="38" name="Text 36"/>
          <p:cNvSpPr/>
          <p:nvPr/>
        </p:nvSpPr>
        <p:spPr>
          <a:xfrm>
            <a:off x="6355080" y="3959352"/>
            <a:ext cx="1417320" cy="283464"/>
          </a:xfrm>
          <a:prstGeom prst="rect">
            <a:avLst/>
          </a:prstGeom>
          <a:noFill/>
          <a:ln/>
        </p:spPr>
        <p:txBody>
          <a:bodyPr wrap="square" lIns="0" tIns="0" rIns="0" bIns="0" rtlCol="0" anchor="ctr"/>
          <a:lstStyle/>
          <a:p>
            <a:pPr algn="ctr" indent="0" marL="0">
              <a:buNone/>
            </a:pPr>
            <a:r>
              <a:rPr lang="en-US" sz="800" dirty="0">
                <a:solidFill>
                  <a:srgbClr val="1A1A1A"/>
                </a:solidFill>
                <a:latin typeface="メイリオ" pitchFamily="34" charset="0"/>
                <a:ea typeface="メイリオ" pitchFamily="34" charset="-122"/>
                <a:cs typeface="メイリオ" pitchFamily="34" charset="-120"/>
              </a:rPr>
              <a:t>外部</a:t>
            </a:r>
            <a:endParaRPr lang="en-US" sz="800" dirty="0"/>
          </a:p>
        </p:txBody>
      </p:sp>
      <p:sp>
        <p:nvSpPr>
          <p:cNvPr id="39" name="Shape 37"/>
          <p:cNvSpPr/>
          <p:nvPr/>
        </p:nvSpPr>
        <p:spPr>
          <a:xfrm>
            <a:off x="594360" y="4343400"/>
            <a:ext cx="7223760" cy="475488"/>
          </a:xfrm>
          <a:prstGeom prst="rect">
            <a:avLst/>
          </a:prstGeom>
          <a:solidFill>
            <a:srgbClr val="FAF3E2"/>
          </a:solidFill>
          <a:ln w="12700">
            <a:solidFill>
              <a:srgbClr val="1A1A1A"/>
            </a:solidFill>
            <a:prstDash val="solid"/>
          </a:ln>
        </p:spPr>
      </p:sp>
      <p:sp>
        <p:nvSpPr>
          <p:cNvPr id="40" name="Text 38"/>
          <p:cNvSpPr/>
          <p:nvPr/>
        </p:nvSpPr>
        <p:spPr>
          <a:xfrm>
            <a:off x="777240" y="4343400"/>
            <a:ext cx="1828800" cy="475488"/>
          </a:xfrm>
          <a:prstGeom prst="rect">
            <a:avLst/>
          </a:prstGeom>
          <a:noFill/>
          <a:ln/>
        </p:spPr>
        <p:txBody>
          <a:bodyPr wrap="square" lIns="0" tIns="0" rIns="0" bIns="0" rtlCol="0" anchor="ctr"/>
          <a:lstStyle/>
          <a:p>
            <a:pPr indent="0" marL="0">
              <a:buNone/>
            </a:pPr>
            <a:r>
              <a:rPr lang="en-US" sz="1150" b="1" dirty="0">
                <a:solidFill>
                  <a:srgbClr val="1A1A1A"/>
                </a:solidFill>
                <a:latin typeface="メイリオ" pitchFamily="34" charset="0"/>
                <a:ea typeface="メイリオ" pitchFamily="34" charset="-122"/>
                <a:cs typeface="メイリオ" pitchFamily="34" charset="-120"/>
              </a:rPr>
              <a:t>合計</a:t>
            </a:r>
            <a:endParaRPr lang="en-US" sz="1150" dirty="0"/>
          </a:p>
        </p:txBody>
      </p:sp>
      <p:sp>
        <p:nvSpPr>
          <p:cNvPr id="41" name="Text 39"/>
          <p:cNvSpPr/>
          <p:nvPr/>
        </p:nvSpPr>
        <p:spPr>
          <a:xfrm>
            <a:off x="4846320" y="4343400"/>
            <a:ext cx="1417320" cy="475488"/>
          </a:xfrm>
          <a:prstGeom prst="rect">
            <a:avLst/>
          </a:prstGeom>
          <a:noFill/>
          <a:ln/>
        </p:spPr>
        <p:txBody>
          <a:bodyPr wrap="square" lIns="0" tIns="0" rIns="0" bIns="0" rtlCol="0" anchor="ctr"/>
          <a:lstStyle/>
          <a:p>
            <a:pPr algn="r" indent="0" marL="0">
              <a:buNone/>
            </a:pPr>
            <a:r>
              <a:rPr lang="en-US" sz="1250" b="1" dirty="0">
                <a:solidFill>
                  <a:srgbClr val="1A1A1A"/>
                </a:solidFill>
                <a:latin typeface="メイリオ" pitchFamily="34" charset="0"/>
                <a:ea typeface="メイリオ" pitchFamily="34" charset="-122"/>
                <a:cs typeface="メイリオ" pitchFamily="34" charset="-120"/>
              </a:rPr>
              <a:t>¥132,500,000</a:t>
            </a:r>
            <a:endParaRPr lang="en-US" sz="1250" dirty="0"/>
          </a:p>
        </p:txBody>
      </p:sp>
      <p:sp>
        <p:nvSpPr>
          <p:cNvPr id="42" name="Shape 40"/>
          <p:cNvSpPr/>
          <p:nvPr/>
        </p:nvSpPr>
        <p:spPr>
          <a:xfrm>
            <a:off x="8183880" y="1517904"/>
            <a:ext cx="3383280" cy="1554480"/>
          </a:xfrm>
          <a:prstGeom prst="roundRect">
            <a:avLst>
              <a:gd name="adj" fmla="val 2941"/>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3" name="Text 41"/>
          <p:cNvSpPr/>
          <p:nvPr/>
        </p:nvSpPr>
        <p:spPr>
          <a:xfrm>
            <a:off x="8412480" y="1682496"/>
            <a:ext cx="2926080" cy="27432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全額を営業収益に計上</a:t>
            </a:r>
            <a:endParaRPr lang="en-US" sz="1050" dirty="0"/>
          </a:p>
        </p:txBody>
      </p:sp>
      <p:sp>
        <p:nvSpPr>
          <p:cNvPr id="44" name="Text 42"/>
          <p:cNvSpPr/>
          <p:nvPr/>
        </p:nvSpPr>
        <p:spPr>
          <a:xfrm>
            <a:off x="8412480" y="1993392"/>
            <a:ext cx="2926080" cy="914400"/>
          </a:xfrm>
          <a:prstGeom prst="rect">
            <a:avLst/>
          </a:prstGeom>
          <a:noFill/>
          <a:ln/>
        </p:spPr>
        <p:txBody>
          <a:bodyPr wrap="square" lIns="0" tIns="0" rIns="0" bIns="0" rtlCol="0" anchor="t"/>
          <a:lstStyle/>
          <a:p>
            <a:pPr indent="0" marL="0">
              <a:buNone/>
            </a:pPr>
            <a:r>
              <a:rPr lang="en-US" sz="1050" dirty="0">
                <a:solidFill>
                  <a:srgbClr val="1A1A1A"/>
                </a:solidFill>
                <a:latin typeface="メイリオ" pitchFamily="34" charset="0"/>
                <a:ea typeface="メイリオ" pitchFamily="34" charset="-122"/>
                <a:cs typeface="メイリオ" pitchFamily="34" charset="-120"/>
              </a:rPr>
              <a:t>新規クルーザー事業の利益は投資損益ではなく事業利益のため、営業外収益ではなく営業収益として計上しています。</a:t>
            </a:r>
            <a:endParaRPr lang="en-US" sz="1050" dirty="0"/>
          </a:p>
        </p:txBody>
      </p:sp>
      <p:sp>
        <p:nvSpPr>
          <p:cNvPr id="45" name="Shape 43"/>
          <p:cNvSpPr/>
          <p:nvPr/>
        </p:nvSpPr>
        <p:spPr>
          <a:xfrm>
            <a:off x="8183880" y="3200400"/>
            <a:ext cx="3383280" cy="1280160"/>
          </a:xfrm>
          <a:prstGeom prst="roundRect">
            <a:avLst>
              <a:gd name="adj" fmla="val 3571"/>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6" name="Text 44"/>
          <p:cNvSpPr/>
          <p:nvPr/>
        </p:nvSpPr>
        <p:spPr>
          <a:xfrm>
            <a:off x="8412480" y="3346704"/>
            <a:ext cx="2926080" cy="27432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取引先の内訳</a:t>
            </a:r>
            <a:endParaRPr lang="en-US" sz="1050" dirty="0"/>
          </a:p>
        </p:txBody>
      </p:sp>
      <p:sp>
        <p:nvSpPr>
          <p:cNvPr id="47" name="Text 45"/>
          <p:cNvSpPr/>
          <p:nvPr/>
        </p:nvSpPr>
        <p:spPr>
          <a:xfrm>
            <a:off x="8412480" y="3639312"/>
            <a:ext cx="2926080" cy="822960"/>
          </a:xfrm>
          <a:prstGeom prst="rect">
            <a:avLst/>
          </a:prstGeom>
          <a:noFill/>
          <a:ln/>
        </p:spPr>
        <p:txBody>
          <a:bodyPr wrap="square" lIns="0" tIns="0" rIns="0" bIns="0" rtlCol="0" anchor="ctr"/>
          <a:lstStyle/>
          <a:p>
            <a:pPr indent="0" marL="0">
              <a:lnSpc>
                <a:spcPts val="1700"/>
              </a:lnSpc>
              <a:buNone/>
            </a:pPr>
            <a:r>
              <a:rPr lang="en-US" sz="1100" dirty="0">
                <a:solidFill>
                  <a:srgbClr val="1A1A1A"/>
                </a:solidFill>
                <a:latin typeface="メイリオ" pitchFamily="34" charset="0"/>
                <a:ea typeface="メイリオ" pitchFamily="34" charset="-122"/>
                <a:cs typeface="メイリオ" pitchFamily="34" charset="-120"/>
              </a:rPr>
              <a:t>中野出資　90.0百万円</a:t>
            </a:r>
            <a:endParaRPr lang="en-US" sz="1100" dirty="0"/>
          </a:p>
          <a:p>
            <a:pPr indent="0" marL="0">
              <a:lnSpc>
                <a:spcPts val="1700"/>
              </a:lnSpc>
              <a:buNone/>
            </a:pPr>
            <a:r>
              <a:rPr lang="en-US" sz="1100" dirty="0">
                <a:solidFill>
                  <a:srgbClr val="1A1A1A"/>
                </a:solidFill>
                <a:latin typeface="メイリオ" pitchFamily="34" charset="0"/>
                <a:ea typeface="メイリオ" pitchFamily="34" charset="-122"/>
                <a:cs typeface="メイリオ" pitchFamily="34" charset="-120"/>
              </a:rPr>
              <a:t>Apiciusグループ　2.5百万円</a:t>
            </a:r>
            <a:endParaRPr lang="en-US" sz="1100" dirty="0"/>
          </a:p>
          <a:p>
            <a:pPr indent="0" marL="0">
              <a:lnSpc>
                <a:spcPts val="1700"/>
              </a:lnSpc>
              <a:buNone/>
            </a:pPr>
            <a:r>
              <a:rPr lang="en-US" sz="1100" dirty="0">
                <a:solidFill>
                  <a:srgbClr val="1A1A1A"/>
                </a:solidFill>
                <a:latin typeface="メイリオ" pitchFamily="34" charset="0"/>
                <a:ea typeface="メイリオ" pitchFamily="34" charset="-122"/>
                <a:cs typeface="メイリオ" pitchFamily="34" charset="-120"/>
              </a:rPr>
              <a:t>外部　40.0百万円</a:t>
            </a:r>
            <a:endParaRPr lang="en-US" sz="1100" dirty="0"/>
          </a:p>
        </p:txBody>
      </p:sp>
      <p:sp>
        <p:nvSpPr>
          <p:cNvPr id="48" name="Shape 46"/>
          <p:cNvSpPr/>
          <p:nvPr/>
        </p:nvSpPr>
        <p:spPr>
          <a:xfrm>
            <a:off x="8183880" y="4608576"/>
            <a:ext cx="3383280" cy="1152144"/>
          </a:xfrm>
          <a:prstGeom prst="roundRect">
            <a:avLst>
              <a:gd name="adj" fmla="val 3968"/>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9" name="Text 47"/>
          <p:cNvSpPr/>
          <p:nvPr/>
        </p:nvSpPr>
        <p:spPr>
          <a:xfrm>
            <a:off x="8412480" y="4754880"/>
            <a:ext cx="2926080" cy="868680"/>
          </a:xfrm>
          <a:prstGeom prst="rect">
            <a:avLst/>
          </a:prstGeom>
          <a:noFill/>
          <a:ln/>
        </p:spPr>
        <p:txBody>
          <a:bodyPr wrap="square" lIns="0" tIns="0" rIns="0" bIns="0" rtlCol="0" anchor="ctr"/>
          <a:lstStyle/>
          <a:p>
            <a:pPr indent="0" marL="0">
              <a:buNone/>
            </a:pPr>
            <a:r>
              <a:rPr lang="en-US" sz="1000" dirty="0">
                <a:solidFill>
                  <a:srgbClr val="1A1A1A"/>
                </a:solidFill>
                <a:latin typeface="メイリオ" pitchFamily="34" charset="0"/>
                <a:ea typeface="メイリオ" pitchFamily="34" charset="-122"/>
                <a:cs typeface="メイリオ" pitchFamily="34" charset="-120"/>
              </a:rPr>
              <a:t>グループ内取引については、支払側の支払能力と対価の算定根拠を整備のうえご説明します。</a:t>
            </a:r>
            <a:endParaRPr lang="en-US" sz="1000" dirty="0"/>
          </a:p>
        </p:txBody>
      </p:sp>
      <p:sp>
        <p:nvSpPr>
          <p:cNvPr id="50" name="Text 48"/>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期間表記は2026/09-2027/08。決算期（2026/10-2027/09）と1か月ズレるため、全額をFY2027帰属として試算。</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FY2026 → FY2027 営業利益ブリッジ</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固定費削減と上乗せ案件だけで、既に営業損益は黒字転換します。</a:t>
            </a:r>
            <a:endParaRPr lang="en-US" sz="1250" dirty="0"/>
          </a:p>
        </p:txBody>
      </p:sp>
      <p:sp>
        <p:nvSpPr>
          <p:cNvPr id="4" name="Shape 2"/>
          <p:cNvSpPr/>
          <p:nvPr/>
        </p:nvSpPr>
        <p:spPr>
          <a:xfrm>
            <a:off x="1234440" y="2365802"/>
            <a:ext cx="9692640" cy="0"/>
          </a:xfrm>
          <a:prstGeom prst="line">
            <a:avLst/>
          </a:prstGeom>
          <a:noFill/>
          <a:ln w="12700">
            <a:solidFill>
              <a:srgbClr val="C9BDB5"/>
            </a:solidFill>
            <a:prstDash val="solid"/>
          </a:ln>
        </p:spPr>
      </p:sp>
      <p:sp>
        <p:nvSpPr>
          <p:cNvPr id="5" name="Text 3"/>
          <p:cNvSpPr/>
          <p:nvPr/>
        </p:nvSpPr>
        <p:spPr>
          <a:xfrm>
            <a:off x="850392" y="2246930"/>
            <a:ext cx="329184" cy="237744"/>
          </a:xfrm>
          <a:prstGeom prst="rect">
            <a:avLst/>
          </a:prstGeom>
          <a:noFill/>
          <a:ln/>
        </p:spPr>
        <p:txBody>
          <a:bodyPr wrap="square" lIns="0" tIns="0" rIns="0" bIns="0" rtlCol="0" anchor="ctr"/>
          <a:lstStyle/>
          <a:p>
            <a:pPr algn="r" indent="0" marL="0">
              <a:buNone/>
            </a:pPr>
            <a:r>
              <a:rPr lang="en-US" sz="900" dirty="0">
                <a:solidFill>
                  <a:srgbClr val="8C8C8C"/>
                </a:solidFill>
                <a:latin typeface="メイリオ" pitchFamily="34" charset="0"/>
                <a:ea typeface="メイリオ" pitchFamily="34" charset="-122"/>
                <a:cs typeface="メイリオ" pitchFamily="34" charset="-120"/>
              </a:rPr>
              <a:t>0</a:t>
            </a:r>
            <a:endParaRPr lang="en-US" sz="900" dirty="0"/>
          </a:p>
        </p:txBody>
      </p:sp>
      <p:sp>
        <p:nvSpPr>
          <p:cNvPr id="6" name="Shape 4"/>
          <p:cNvSpPr/>
          <p:nvPr/>
        </p:nvSpPr>
        <p:spPr>
          <a:xfrm>
            <a:off x="1234440" y="2365802"/>
            <a:ext cx="1783080" cy="1517252"/>
          </a:xfrm>
          <a:prstGeom prst="rect">
            <a:avLst/>
          </a:prstGeom>
          <a:solidFill>
            <a:srgbClr val="6E6E6E"/>
          </a:solidFill>
          <a:ln/>
        </p:spPr>
      </p:sp>
      <p:sp>
        <p:nvSpPr>
          <p:cNvPr id="7" name="Text 5"/>
          <p:cNvSpPr/>
          <p:nvPr/>
        </p:nvSpPr>
        <p:spPr>
          <a:xfrm>
            <a:off x="1234440" y="3919630"/>
            <a:ext cx="1783080" cy="292608"/>
          </a:xfrm>
          <a:prstGeom prst="rect">
            <a:avLst/>
          </a:prstGeom>
          <a:noFill/>
          <a:ln/>
        </p:spPr>
        <p:txBody>
          <a:bodyPr wrap="square" lIns="0" tIns="0" rIns="0" bIns="0" rtlCol="0" anchor="ctr"/>
          <a:lstStyle/>
          <a:p>
            <a:pPr algn="ctr" indent="0" marL="0">
              <a:buNone/>
            </a:pPr>
            <a:r>
              <a:rPr lang="en-US" sz="1300" b="1" dirty="0">
                <a:solidFill>
                  <a:srgbClr val="6E6E6E"/>
                </a:solidFill>
                <a:latin typeface="メイリオ" pitchFamily="34" charset="0"/>
                <a:ea typeface="メイリオ" pitchFamily="34" charset="-122"/>
                <a:cs typeface="メイリオ" pitchFamily="34" charset="-120"/>
              </a:rPr>
              <a:t>▲114.8</a:t>
            </a:r>
            <a:endParaRPr lang="en-US" sz="1300" dirty="0"/>
          </a:p>
        </p:txBody>
      </p:sp>
      <p:sp>
        <p:nvSpPr>
          <p:cNvPr id="8" name="Text 6"/>
          <p:cNvSpPr/>
          <p:nvPr/>
        </p:nvSpPr>
        <p:spPr>
          <a:xfrm>
            <a:off x="109728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FY2026</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営業利益</a:t>
            </a:r>
            <a:endParaRPr lang="en-US" sz="1000" dirty="0"/>
          </a:p>
        </p:txBody>
      </p:sp>
      <p:sp>
        <p:nvSpPr>
          <p:cNvPr id="9" name="Shape 7"/>
          <p:cNvSpPr/>
          <p:nvPr/>
        </p:nvSpPr>
        <p:spPr>
          <a:xfrm>
            <a:off x="3474720" y="3883054"/>
            <a:ext cx="1783080" cy="377187"/>
          </a:xfrm>
          <a:prstGeom prst="rect">
            <a:avLst/>
          </a:prstGeom>
          <a:solidFill>
            <a:srgbClr val="6E6E6E"/>
          </a:solidFill>
          <a:ln/>
        </p:spPr>
      </p:sp>
      <p:sp>
        <p:nvSpPr>
          <p:cNvPr id="10" name="Text 8"/>
          <p:cNvSpPr/>
          <p:nvPr/>
        </p:nvSpPr>
        <p:spPr>
          <a:xfrm>
            <a:off x="3474720" y="4296817"/>
            <a:ext cx="1783080" cy="292608"/>
          </a:xfrm>
          <a:prstGeom prst="rect">
            <a:avLst/>
          </a:prstGeom>
          <a:noFill/>
          <a:ln/>
        </p:spPr>
        <p:txBody>
          <a:bodyPr wrap="square" lIns="0" tIns="0" rIns="0" bIns="0" rtlCol="0" anchor="ctr"/>
          <a:lstStyle/>
          <a:p>
            <a:pPr algn="ctr" indent="0" marL="0">
              <a:buNone/>
            </a:pPr>
            <a:r>
              <a:rPr lang="en-US" sz="1300" b="1" dirty="0">
                <a:solidFill>
                  <a:srgbClr val="6E6E6E"/>
                </a:solidFill>
                <a:latin typeface="メイリオ" pitchFamily="34" charset="0"/>
                <a:ea typeface="メイリオ" pitchFamily="34" charset="-122"/>
                <a:cs typeface="メイリオ" pitchFamily="34" charset="-120"/>
              </a:rPr>
              <a:t>▲28.5</a:t>
            </a:r>
            <a:endParaRPr lang="en-US" sz="1300" dirty="0"/>
          </a:p>
        </p:txBody>
      </p:sp>
      <p:sp>
        <p:nvSpPr>
          <p:cNvPr id="11" name="Text 9"/>
          <p:cNvSpPr/>
          <p:nvPr/>
        </p:nvSpPr>
        <p:spPr>
          <a:xfrm>
            <a:off x="333756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① 既存事業</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粗利の減少</a:t>
            </a:r>
            <a:endParaRPr lang="en-US" sz="1000" dirty="0"/>
          </a:p>
        </p:txBody>
      </p:sp>
      <p:sp>
        <p:nvSpPr>
          <p:cNvPr id="12" name="Shape 10"/>
          <p:cNvSpPr/>
          <p:nvPr/>
        </p:nvSpPr>
        <p:spPr>
          <a:xfrm>
            <a:off x="5715000" y="3681699"/>
            <a:ext cx="1783080" cy="578542"/>
          </a:xfrm>
          <a:prstGeom prst="rect">
            <a:avLst/>
          </a:prstGeom>
          <a:solidFill>
            <a:srgbClr val="1A1A1A"/>
          </a:solidFill>
          <a:ln/>
        </p:spPr>
      </p:sp>
      <p:sp>
        <p:nvSpPr>
          <p:cNvPr id="13" name="Text 11"/>
          <p:cNvSpPr/>
          <p:nvPr/>
        </p:nvSpPr>
        <p:spPr>
          <a:xfrm>
            <a:off x="5715000" y="3352515"/>
            <a:ext cx="1783080" cy="292608"/>
          </a:xfrm>
          <a:prstGeom prst="rect">
            <a:avLst/>
          </a:prstGeom>
          <a:noFill/>
          <a:ln/>
        </p:spPr>
        <p:txBody>
          <a:bodyPr wrap="square" lIns="0" tIns="0" rIns="0" bIns="0" rtlCol="0" anchor="ctr"/>
          <a:lstStyle/>
          <a:p>
            <a:pPr algn="ctr" indent="0" marL="0">
              <a:buNone/>
            </a:pPr>
            <a:r>
              <a:rPr lang="en-US" sz="1300" b="1" dirty="0">
                <a:solidFill>
                  <a:srgbClr val="1A1A1A"/>
                </a:solidFill>
                <a:latin typeface="メイリオ" pitchFamily="34" charset="0"/>
                <a:ea typeface="メイリオ" pitchFamily="34" charset="-122"/>
                <a:cs typeface="メイリオ" pitchFamily="34" charset="-120"/>
              </a:rPr>
              <a:t>+43.8</a:t>
            </a:r>
            <a:endParaRPr lang="en-US" sz="1300" dirty="0"/>
          </a:p>
        </p:txBody>
      </p:sp>
      <p:sp>
        <p:nvSpPr>
          <p:cNvPr id="14" name="Text 12"/>
          <p:cNvSpPr/>
          <p:nvPr/>
        </p:nvSpPr>
        <p:spPr>
          <a:xfrm>
            <a:off x="557784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② 販管費</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の削減</a:t>
            </a:r>
            <a:endParaRPr lang="en-US" sz="1000" dirty="0"/>
          </a:p>
        </p:txBody>
      </p:sp>
      <p:sp>
        <p:nvSpPr>
          <p:cNvPr id="15" name="Shape 13"/>
          <p:cNvSpPr/>
          <p:nvPr/>
        </p:nvSpPr>
        <p:spPr>
          <a:xfrm>
            <a:off x="7955280" y="1930415"/>
            <a:ext cx="1783080" cy="1751284"/>
          </a:xfrm>
          <a:prstGeom prst="rect">
            <a:avLst/>
          </a:prstGeom>
          <a:solidFill>
            <a:srgbClr val="1A1A1A"/>
          </a:solidFill>
          <a:ln/>
        </p:spPr>
      </p:sp>
      <p:sp>
        <p:nvSpPr>
          <p:cNvPr id="16" name="Text 14"/>
          <p:cNvSpPr/>
          <p:nvPr/>
        </p:nvSpPr>
        <p:spPr>
          <a:xfrm>
            <a:off x="7955280" y="1601231"/>
            <a:ext cx="1783080" cy="292608"/>
          </a:xfrm>
          <a:prstGeom prst="rect">
            <a:avLst/>
          </a:prstGeom>
          <a:noFill/>
          <a:ln/>
        </p:spPr>
        <p:txBody>
          <a:bodyPr wrap="square" lIns="0" tIns="0" rIns="0" bIns="0" rtlCol="0" anchor="ctr"/>
          <a:lstStyle/>
          <a:p>
            <a:pPr algn="ctr" indent="0" marL="0">
              <a:buNone/>
            </a:pPr>
            <a:r>
              <a:rPr lang="en-US" sz="1300" b="1" dirty="0">
                <a:solidFill>
                  <a:srgbClr val="1A1A1A"/>
                </a:solidFill>
                <a:latin typeface="メイリオ" pitchFamily="34" charset="0"/>
                <a:ea typeface="メイリオ" pitchFamily="34" charset="-122"/>
                <a:cs typeface="メイリオ" pitchFamily="34" charset="-120"/>
              </a:rPr>
              <a:t>+132.5</a:t>
            </a:r>
            <a:endParaRPr lang="en-US" sz="1300" dirty="0"/>
          </a:p>
        </p:txBody>
      </p:sp>
      <p:sp>
        <p:nvSpPr>
          <p:cNvPr id="17" name="Text 15"/>
          <p:cNvSpPr/>
          <p:nvPr/>
        </p:nvSpPr>
        <p:spPr>
          <a:xfrm>
            <a:off x="781812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③ 上乗せ案件</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（営業収益）</a:t>
            </a:r>
            <a:endParaRPr lang="en-US" sz="1000" dirty="0"/>
          </a:p>
        </p:txBody>
      </p:sp>
      <p:sp>
        <p:nvSpPr>
          <p:cNvPr id="18" name="Shape 16"/>
          <p:cNvSpPr/>
          <p:nvPr/>
        </p:nvSpPr>
        <p:spPr>
          <a:xfrm>
            <a:off x="10195560" y="1930415"/>
            <a:ext cx="1783080" cy="435387"/>
          </a:xfrm>
          <a:prstGeom prst="rect">
            <a:avLst/>
          </a:prstGeom>
          <a:solidFill>
            <a:srgbClr val="6E6E6E"/>
          </a:solidFill>
          <a:ln/>
        </p:spPr>
      </p:sp>
      <p:sp>
        <p:nvSpPr>
          <p:cNvPr id="19" name="Text 17"/>
          <p:cNvSpPr/>
          <p:nvPr/>
        </p:nvSpPr>
        <p:spPr>
          <a:xfrm>
            <a:off x="10195560" y="1601231"/>
            <a:ext cx="1783080" cy="292608"/>
          </a:xfrm>
          <a:prstGeom prst="rect">
            <a:avLst/>
          </a:prstGeom>
          <a:noFill/>
          <a:ln/>
        </p:spPr>
        <p:txBody>
          <a:bodyPr wrap="square" lIns="0" tIns="0" rIns="0" bIns="0" rtlCol="0" anchor="ctr"/>
          <a:lstStyle/>
          <a:p>
            <a:pPr algn="ctr" indent="0" marL="0">
              <a:buNone/>
            </a:pPr>
            <a:r>
              <a:rPr lang="en-US" sz="1300" b="1" dirty="0">
                <a:solidFill>
                  <a:srgbClr val="6E6E6E"/>
                </a:solidFill>
                <a:latin typeface="メイリオ" pitchFamily="34" charset="0"/>
                <a:ea typeface="メイリオ" pitchFamily="34" charset="-122"/>
                <a:cs typeface="メイリオ" pitchFamily="34" charset="-120"/>
              </a:rPr>
              <a:t>+32.9</a:t>
            </a:r>
            <a:endParaRPr lang="en-US" sz="1300" dirty="0"/>
          </a:p>
        </p:txBody>
      </p:sp>
      <p:sp>
        <p:nvSpPr>
          <p:cNvPr id="20" name="Text 18"/>
          <p:cNvSpPr/>
          <p:nvPr/>
        </p:nvSpPr>
        <p:spPr>
          <a:xfrm>
            <a:off x="1005840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FY2027 営業利益</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（プランB）</a:t>
            </a:r>
            <a:endParaRPr lang="en-US" sz="1000" dirty="0"/>
          </a:p>
        </p:txBody>
      </p:sp>
      <p:sp>
        <p:nvSpPr>
          <p:cNvPr id="21" name="Text 19"/>
          <p:cNvSpPr/>
          <p:nvPr/>
        </p:nvSpPr>
        <p:spPr>
          <a:xfrm>
            <a:off x="594360" y="1298448"/>
            <a:ext cx="1828800" cy="237744"/>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単位：百万円</a:t>
            </a:r>
            <a:endParaRPr lang="en-US" sz="900" dirty="0"/>
          </a:p>
        </p:txBody>
      </p:sp>
      <p:sp>
        <p:nvSpPr>
          <p:cNvPr id="22" name="Shape 20"/>
          <p:cNvSpPr/>
          <p:nvPr/>
        </p:nvSpPr>
        <p:spPr>
          <a:xfrm>
            <a:off x="822960" y="5632704"/>
            <a:ext cx="10607040" cy="621792"/>
          </a:xfrm>
          <a:prstGeom prst="roundRect">
            <a:avLst>
              <a:gd name="adj" fmla="val 7353"/>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3" name="Text 21"/>
          <p:cNvSpPr/>
          <p:nvPr/>
        </p:nvSpPr>
        <p:spPr>
          <a:xfrm>
            <a:off x="1051560" y="5632704"/>
            <a:ext cx="10149840" cy="621792"/>
          </a:xfrm>
          <a:prstGeom prst="rect">
            <a:avLst/>
          </a:prstGeom>
          <a:noFill/>
          <a:ln/>
        </p:spPr>
        <p:txBody>
          <a:bodyPr wrap="square" lIns="0" tIns="0" rIns="0" bIns="0" rtlCol="0" anchor="ctr"/>
          <a:lstStyle/>
          <a:p>
            <a:pPr indent="0" marL="0">
              <a:buNone/>
            </a:pPr>
            <a:r>
              <a:rPr lang="en-US" sz="1220" b="1" dirty="0">
                <a:solidFill>
                  <a:srgbClr val="1A1A1A"/>
                </a:solidFill>
                <a:latin typeface="メイリオ" pitchFamily="34" charset="0"/>
                <a:ea typeface="メイリオ" pitchFamily="34" charset="-122"/>
                <a:cs typeface="メイリオ" pitchFamily="34" charset="-120"/>
              </a:rPr>
              <a:t>FY2026 ▲114.8百万円　→　FY2027 ＋32.9百万円。上乗せ案件と固定費削減だけで、営業損益は147.7百万円改善します。</a:t>
            </a:r>
            <a:endParaRPr lang="en-US" sz="1220" dirty="0"/>
          </a:p>
        </p:txBody>
      </p:sp>
      <p:sp>
        <p:nvSpPr>
          <p:cNvPr id="24" name="Text 22"/>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①はFY2026に含まれる大口案件（2025/11・2026/09）を保守的にゼロと置いたことによる減少。</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3つのプラン － Cを本線とします</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Bに、前期・今期の売上平均までの差額を粗利率30%で加算したものがCです。</a:t>
            </a:r>
            <a:endParaRPr lang="en-US" sz="1250" dirty="0"/>
          </a:p>
        </p:txBody>
      </p:sp>
      <p:sp>
        <p:nvSpPr>
          <p:cNvPr id="4" name="Shape 2"/>
          <p:cNvSpPr/>
          <p:nvPr/>
        </p:nvSpPr>
        <p:spPr>
          <a:xfrm>
            <a:off x="594360" y="1517904"/>
            <a:ext cx="10972800" cy="384048"/>
          </a:xfrm>
          <a:prstGeom prst="rect">
            <a:avLst/>
          </a:prstGeom>
          <a:solidFill>
            <a:srgbClr val="1A1A1A"/>
          </a:solidFill>
          <a:ln/>
        </p:spPr>
      </p:sp>
      <p:sp>
        <p:nvSpPr>
          <p:cNvPr id="5" name="Text 3"/>
          <p:cNvSpPr/>
          <p:nvPr/>
        </p:nvSpPr>
        <p:spPr>
          <a:xfrm>
            <a:off x="704088" y="1517904"/>
            <a:ext cx="3803904" cy="384048"/>
          </a:xfrm>
          <a:prstGeom prst="rect">
            <a:avLst/>
          </a:prstGeom>
          <a:noFill/>
          <a:ln/>
        </p:spPr>
        <p:txBody>
          <a:bodyPr wrap="square" lIns="0" tIns="0" rIns="0" bIns="0" rtlCol="0" anchor="ctr"/>
          <a:lstStyle/>
          <a:p>
            <a:pPr algn="l" indent="0" marL="0">
              <a:buNone/>
            </a:pPr>
            <a:r>
              <a:rPr lang="en-US" sz="900" b="1" dirty="0">
                <a:solidFill>
                  <a:srgbClr val="FFFFFF"/>
                </a:solidFill>
                <a:latin typeface="メイリオ" pitchFamily="34" charset="0"/>
                <a:ea typeface="メイリオ" pitchFamily="34" charset="-122"/>
                <a:cs typeface="メイリオ" pitchFamily="34" charset="-120"/>
              </a:rPr>
              <a:t>（百万円）</a:t>
            </a:r>
            <a:endParaRPr lang="en-US" sz="900" dirty="0"/>
          </a:p>
        </p:txBody>
      </p:sp>
      <p:sp>
        <p:nvSpPr>
          <p:cNvPr id="6" name="Text 4"/>
          <p:cNvSpPr/>
          <p:nvPr/>
        </p:nvSpPr>
        <p:spPr>
          <a:xfrm>
            <a:off x="4727448" y="1517904"/>
            <a:ext cx="2066544" cy="384048"/>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A. 横ばいのみ</a:t>
            </a:r>
            <a:endParaRPr lang="en-US" sz="900" dirty="0"/>
          </a:p>
        </p:txBody>
      </p:sp>
      <p:sp>
        <p:nvSpPr>
          <p:cNvPr id="7" name="Text 5"/>
          <p:cNvSpPr/>
          <p:nvPr/>
        </p:nvSpPr>
        <p:spPr>
          <a:xfrm>
            <a:off x="7013448" y="1517904"/>
            <a:ext cx="2112264" cy="384048"/>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B. ＋上乗せ132.5</a:t>
            </a:r>
            <a:endParaRPr lang="en-US" sz="900" dirty="0"/>
          </a:p>
        </p:txBody>
      </p:sp>
      <p:sp>
        <p:nvSpPr>
          <p:cNvPr id="8" name="Text 6"/>
          <p:cNvSpPr/>
          <p:nvPr/>
        </p:nvSpPr>
        <p:spPr>
          <a:xfrm>
            <a:off x="9345168" y="1517904"/>
            <a:ext cx="2112264" cy="384048"/>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C. B＋差額売上（粗利率30%）</a:t>
            </a:r>
            <a:endParaRPr lang="en-US" sz="900" dirty="0"/>
          </a:p>
        </p:txBody>
      </p:sp>
      <p:sp>
        <p:nvSpPr>
          <p:cNvPr id="9" name="Shape 7"/>
          <p:cNvSpPr/>
          <p:nvPr/>
        </p:nvSpPr>
        <p:spPr>
          <a:xfrm>
            <a:off x="594360" y="1901952"/>
            <a:ext cx="10972800" cy="338328"/>
          </a:xfrm>
          <a:prstGeom prst="rect">
            <a:avLst/>
          </a:prstGeom>
          <a:solidFill>
            <a:srgbClr val="FFFFFF"/>
          </a:solidFill>
          <a:ln w="6350">
            <a:solidFill>
              <a:srgbClr val="E2E0DC"/>
            </a:solidFill>
            <a:prstDash val="solid"/>
          </a:ln>
        </p:spPr>
      </p:sp>
      <p:sp>
        <p:nvSpPr>
          <p:cNvPr id="10" name="Text 8"/>
          <p:cNvSpPr/>
          <p:nvPr/>
        </p:nvSpPr>
        <p:spPr>
          <a:xfrm>
            <a:off x="704088" y="1901952"/>
            <a:ext cx="3803904" cy="33832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売上高（上乗せ含む）</a:t>
            </a:r>
            <a:endParaRPr lang="en-US" sz="1050" dirty="0"/>
          </a:p>
        </p:txBody>
      </p:sp>
      <p:sp>
        <p:nvSpPr>
          <p:cNvPr id="11" name="Text 9"/>
          <p:cNvSpPr/>
          <p:nvPr/>
        </p:nvSpPr>
        <p:spPr>
          <a:xfrm>
            <a:off x="4727448" y="1901952"/>
            <a:ext cx="206654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389.1</a:t>
            </a:r>
            <a:endParaRPr lang="en-US" sz="1050" dirty="0"/>
          </a:p>
        </p:txBody>
      </p:sp>
      <p:sp>
        <p:nvSpPr>
          <p:cNvPr id="12" name="Text 10"/>
          <p:cNvSpPr/>
          <p:nvPr/>
        </p:nvSpPr>
        <p:spPr>
          <a:xfrm>
            <a:off x="7013448" y="1901952"/>
            <a:ext cx="211226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521.6</a:t>
            </a:r>
            <a:endParaRPr lang="en-US" sz="1050" dirty="0"/>
          </a:p>
        </p:txBody>
      </p:sp>
      <p:sp>
        <p:nvSpPr>
          <p:cNvPr id="13" name="Text 11"/>
          <p:cNvSpPr/>
          <p:nvPr/>
        </p:nvSpPr>
        <p:spPr>
          <a:xfrm>
            <a:off x="9345168" y="1901952"/>
            <a:ext cx="211226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730.5</a:t>
            </a:r>
            <a:endParaRPr lang="en-US" sz="1050" dirty="0"/>
          </a:p>
        </p:txBody>
      </p:sp>
      <p:sp>
        <p:nvSpPr>
          <p:cNvPr id="14" name="Shape 12"/>
          <p:cNvSpPr/>
          <p:nvPr/>
        </p:nvSpPr>
        <p:spPr>
          <a:xfrm>
            <a:off x="594360" y="2240280"/>
            <a:ext cx="10972800" cy="338328"/>
          </a:xfrm>
          <a:prstGeom prst="rect">
            <a:avLst/>
          </a:prstGeom>
          <a:solidFill>
            <a:srgbClr val="FBFAF8"/>
          </a:solidFill>
          <a:ln w="6350">
            <a:solidFill>
              <a:srgbClr val="E2E0DC"/>
            </a:solidFill>
            <a:prstDash val="solid"/>
          </a:ln>
        </p:spPr>
      </p:sp>
      <p:sp>
        <p:nvSpPr>
          <p:cNvPr id="15" name="Text 13"/>
          <p:cNvSpPr/>
          <p:nvPr/>
        </p:nvSpPr>
        <p:spPr>
          <a:xfrm>
            <a:off x="704088" y="2240280"/>
            <a:ext cx="3803904" cy="33832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　うち 既存事業</a:t>
            </a:r>
            <a:endParaRPr lang="en-US" sz="1050" dirty="0"/>
          </a:p>
        </p:txBody>
      </p:sp>
      <p:sp>
        <p:nvSpPr>
          <p:cNvPr id="16" name="Text 14"/>
          <p:cNvSpPr/>
          <p:nvPr/>
        </p:nvSpPr>
        <p:spPr>
          <a:xfrm>
            <a:off x="4727448" y="2240280"/>
            <a:ext cx="206654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389.1</a:t>
            </a:r>
            <a:endParaRPr lang="en-US" sz="1050" dirty="0"/>
          </a:p>
        </p:txBody>
      </p:sp>
      <p:sp>
        <p:nvSpPr>
          <p:cNvPr id="17" name="Text 15"/>
          <p:cNvSpPr/>
          <p:nvPr/>
        </p:nvSpPr>
        <p:spPr>
          <a:xfrm>
            <a:off x="7013448" y="2240280"/>
            <a:ext cx="211226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389.1</a:t>
            </a:r>
            <a:endParaRPr lang="en-US" sz="1050" dirty="0"/>
          </a:p>
        </p:txBody>
      </p:sp>
      <p:sp>
        <p:nvSpPr>
          <p:cNvPr id="18" name="Text 16"/>
          <p:cNvSpPr/>
          <p:nvPr/>
        </p:nvSpPr>
        <p:spPr>
          <a:xfrm>
            <a:off x="9345168" y="2240280"/>
            <a:ext cx="211226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598.0</a:t>
            </a:r>
            <a:endParaRPr lang="en-US" sz="1050" dirty="0"/>
          </a:p>
        </p:txBody>
      </p:sp>
      <p:sp>
        <p:nvSpPr>
          <p:cNvPr id="19" name="Shape 17"/>
          <p:cNvSpPr/>
          <p:nvPr/>
        </p:nvSpPr>
        <p:spPr>
          <a:xfrm>
            <a:off x="594360" y="2578608"/>
            <a:ext cx="10972800" cy="338328"/>
          </a:xfrm>
          <a:prstGeom prst="rect">
            <a:avLst/>
          </a:prstGeom>
          <a:solidFill>
            <a:srgbClr val="FFFFFF"/>
          </a:solidFill>
          <a:ln w="6350">
            <a:solidFill>
              <a:srgbClr val="E2E0DC"/>
            </a:solidFill>
            <a:prstDash val="solid"/>
          </a:ln>
        </p:spPr>
      </p:sp>
      <p:sp>
        <p:nvSpPr>
          <p:cNvPr id="20" name="Text 18"/>
          <p:cNvSpPr/>
          <p:nvPr/>
        </p:nvSpPr>
        <p:spPr>
          <a:xfrm>
            <a:off x="704088" y="2578608"/>
            <a:ext cx="3803904" cy="33832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　うち 上乗せ案件</a:t>
            </a:r>
            <a:endParaRPr lang="en-US" sz="1050" dirty="0"/>
          </a:p>
        </p:txBody>
      </p:sp>
      <p:sp>
        <p:nvSpPr>
          <p:cNvPr id="21" name="Text 19"/>
          <p:cNvSpPr/>
          <p:nvPr/>
        </p:nvSpPr>
        <p:spPr>
          <a:xfrm>
            <a:off x="4727448" y="2578608"/>
            <a:ext cx="206654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22" name="Text 20"/>
          <p:cNvSpPr/>
          <p:nvPr/>
        </p:nvSpPr>
        <p:spPr>
          <a:xfrm>
            <a:off x="7013448" y="2578608"/>
            <a:ext cx="211226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132.5</a:t>
            </a:r>
            <a:endParaRPr lang="en-US" sz="1050" dirty="0"/>
          </a:p>
        </p:txBody>
      </p:sp>
      <p:sp>
        <p:nvSpPr>
          <p:cNvPr id="23" name="Text 21"/>
          <p:cNvSpPr/>
          <p:nvPr/>
        </p:nvSpPr>
        <p:spPr>
          <a:xfrm>
            <a:off x="9345168" y="2578608"/>
            <a:ext cx="211226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132.5</a:t>
            </a:r>
            <a:endParaRPr lang="en-US" sz="1050" dirty="0"/>
          </a:p>
        </p:txBody>
      </p:sp>
      <p:sp>
        <p:nvSpPr>
          <p:cNvPr id="24" name="Shape 22"/>
          <p:cNvSpPr/>
          <p:nvPr/>
        </p:nvSpPr>
        <p:spPr>
          <a:xfrm>
            <a:off x="594360" y="2916936"/>
            <a:ext cx="10972800" cy="338328"/>
          </a:xfrm>
          <a:prstGeom prst="rect">
            <a:avLst/>
          </a:prstGeom>
          <a:solidFill>
            <a:srgbClr val="FBFAF8"/>
          </a:solidFill>
          <a:ln w="6350">
            <a:solidFill>
              <a:srgbClr val="E2E0DC"/>
            </a:solidFill>
            <a:prstDash val="solid"/>
          </a:ln>
        </p:spPr>
      </p:sp>
      <p:sp>
        <p:nvSpPr>
          <p:cNvPr id="25" name="Text 23"/>
          <p:cNvSpPr/>
          <p:nvPr/>
        </p:nvSpPr>
        <p:spPr>
          <a:xfrm>
            <a:off x="704088" y="2916936"/>
            <a:ext cx="3803904" cy="33832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売上総利益 合計</a:t>
            </a:r>
            <a:endParaRPr lang="en-US" sz="1050" dirty="0"/>
          </a:p>
        </p:txBody>
      </p:sp>
      <p:sp>
        <p:nvSpPr>
          <p:cNvPr id="26" name="Text 24"/>
          <p:cNvSpPr/>
          <p:nvPr/>
        </p:nvSpPr>
        <p:spPr>
          <a:xfrm>
            <a:off x="4727448" y="2916936"/>
            <a:ext cx="206654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200.6</a:t>
            </a:r>
            <a:endParaRPr lang="en-US" sz="1050" dirty="0"/>
          </a:p>
        </p:txBody>
      </p:sp>
      <p:sp>
        <p:nvSpPr>
          <p:cNvPr id="27" name="Text 25"/>
          <p:cNvSpPr/>
          <p:nvPr/>
        </p:nvSpPr>
        <p:spPr>
          <a:xfrm>
            <a:off x="7013448" y="2916936"/>
            <a:ext cx="211226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333.1</a:t>
            </a:r>
            <a:endParaRPr lang="en-US" sz="1050" dirty="0"/>
          </a:p>
        </p:txBody>
      </p:sp>
      <p:sp>
        <p:nvSpPr>
          <p:cNvPr id="28" name="Text 26"/>
          <p:cNvSpPr/>
          <p:nvPr/>
        </p:nvSpPr>
        <p:spPr>
          <a:xfrm>
            <a:off x="9345168" y="2916936"/>
            <a:ext cx="211226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395.8</a:t>
            </a:r>
            <a:endParaRPr lang="en-US" sz="1050" dirty="0"/>
          </a:p>
        </p:txBody>
      </p:sp>
      <p:sp>
        <p:nvSpPr>
          <p:cNvPr id="29" name="Shape 27"/>
          <p:cNvSpPr/>
          <p:nvPr/>
        </p:nvSpPr>
        <p:spPr>
          <a:xfrm>
            <a:off x="594360" y="3255264"/>
            <a:ext cx="10972800" cy="338328"/>
          </a:xfrm>
          <a:prstGeom prst="rect">
            <a:avLst/>
          </a:prstGeom>
          <a:solidFill>
            <a:srgbClr val="FFFFFF"/>
          </a:solidFill>
          <a:ln w="6350">
            <a:solidFill>
              <a:srgbClr val="E2E0DC"/>
            </a:solidFill>
            <a:prstDash val="solid"/>
          </a:ln>
        </p:spPr>
      </p:sp>
      <p:sp>
        <p:nvSpPr>
          <p:cNvPr id="30" name="Text 28"/>
          <p:cNvSpPr/>
          <p:nvPr/>
        </p:nvSpPr>
        <p:spPr>
          <a:xfrm>
            <a:off x="704088" y="3255264"/>
            <a:ext cx="3803904" cy="33832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総合粗利率</a:t>
            </a:r>
            <a:endParaRPr lang="en-US" sz="1050" dirty="0"/>
          </a:p>
        </p:txBody>
      </p:sp>
      <p:sp>
        <p:nvSpPr>
          <p:cNvPr id="31" name="Text 29"/>
          <p:cNvSpPr/>
          <p:nvPr/>
        </p:nvSpPr>
        <p:spPr>
          <a:xfrm>
            <a:off x="4727448" y="3255264"/>
            <a:ext cx="206654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51.5%</a:t>
            </a:r>
            <a:endParaRPr lang="en-US" sz="1050" dirty="0"/>
          </a:p>
        </p:txBody>
      </p:sp>
      <p:sp>
        <p:nvSpPr>
          <p:cNvPr id="32" name="Text 30"/>
          <p:cNvSpPr/>
          <p:nvPr/>
        </p:nvSpPr>
        <p:spPr>
          <a:xfrm>
            <a:off x="7013448" y="3255264"/>
            <a:ext cx="211226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63.9%</a:t>
            </a:r>
            <a:endParaRPr lang="en-US" sz="1050" dirty="0"/>
          </a:p>
        </p:txBody>
      </p:sp>
      <p:sp>
        <p:nvSpPr>
          <p:cNvPr id="33" name="Text 31"/>
          <p:cNvSpPr/>
          <p:nvPr/>
        </p:nvSpPr>
        <p:spPr>
          <a:xfrm>
            <a:off x="9345168" y="3255264"/>
            <a:ext cx="211226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54.2%</a:t>
            </a:r>
            <a:endParaRPr lang="en-US" sz="1050" dirty="0"/>
          </a:p>
        </p:txBody>
      </p:sp>
      <p:sp>
        <p:nvSpPr>
          <p:cNvPr id="34" name="Shape 32"/>
          <p:cNvSpPr/>
          <p:nvPr/>
        </p:nvSpPr>
        <p:spPr>
          <a:xfrm>
            <a:off x="594360" y="3593592"/>
            <a:ext cx="10972800" cy="338328"/>
          </a:xfrm>
          <a:prstGeom prst="rect">
            <a:avLst/>
          </a:prstGeom>
          <a:solidFill>
            <a:srgbClr val="FBFAF8"/>
          </a:solidFill>
          <a:ln w="6350">
            <a:solidFill>
              <a:srgbClr val="E2E0DC"/>
            </a:solidFill>
            <a:prstDash val="solid"/>
          </a:ln>
        </p:spPr>
      </p:sp>
      <p:sp>
        <p:nvSpPr>
          <p:cNvPr id="35" name="Text 33"/>
          <p:cNvSpPr/>
          <p:nvPr/>
        </p:nvSpPr>
        <p:spPr>
          <a:xfrm>
            <a:off x="704088" y="3593592"/>
            <a:ext cx="3803904" cy="33832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販管費</a:t>
            </a:r>
            <a:endParaRPr lang="en-US" sz="1050" dirty="0"/>
          </a:p>
        </p:txBody>
      </p:sp>
      <p:sp>
        <p:nvSpPr>
          <p:cNvPr id="36" name="Text 34"/>
          <p:cNvSpPr/>
          <p:nvPr/>
        </p:nvSpPr>
        <p:spPr>
          <a:xfrm>
            <a:off x="4727448" y="3593592"/>
            <a:ext cx="206654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37" name="Text 35"/>
          <p:cNvSpPr/>
          <p:nvPr/>
        </p:nvSpPr>
        <p:spPr>
          <a:xfrm>
            <a:off x="7013448" y="3593592"/>
            <a:ext cx="211226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38" name="Text 36"/>
          <p:cNvSpPr/>
          <p:nvPr/>
        </p:nvSpPr>
        <p:spPr>
          <a:xfrm>
            <a:off x="9345168" y="3593592"/>
            <a:ext cx="211226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39" name="Shape 37"/>
          <p:cNvSpPr/>
          <p:nvPr/>
        </p:nvSpPr>
        <p:spPr>
          <a:xfrm>
            <a:off x="594360" y="3931920"/>
            <a:ext cx="10972800" cy="338328"/>
          </a:xfrm>
          <a:prstGeom prst="rect">
            <a:avLst/>
          </a:prstGeom>
          <a:solidFill>
            <a:srgbClr val="FAF3E2"/>
          </a:solidFill>
          <a:ln w="6350">
            <a:solidFill>
              <a:srgbClr val="E2E0DC"/>
            </a:solidFill>
            <a:prstDash val="solid"/>
          </a:ln>
        </p:spPr>
      </p:sp>
      <p:sp>
        <p:nvSpPr>
          <p:cNvPr id="40" name="Text 38"/>
          <p:cNvSpPr/>
          <p:nvPr/>
        </p:nvSpPr>
        <p:spPr>
          <a:xfrm>
            <a:off x="704088" y="3931920"/>
            <a:ext cx="3803904" cy="338328"/>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営業利益</a:t>
            </a:r>
            <a:endParaRPr lang="en-US" sz="1050" dirty="0"/>
          </a:p>
        </p:txBody>
      </p:sp>
      <p:sp>
        <p:nvSpPr>
          <p:cNvPr id="41" name="Text 39"/>
          <p:cNvSpPr/>
          <p:nvPr/>
        </p:nvSpPr>
        <p:spPr>
          <a:xfrm>
            <a:off x="4727448" y="3931920"/>
            <a:ext cx="2066544" cy="338328"/>
          </a:xfrm>
          <a:prstGeom prst="rect">
            <a:avLst/>
          </a:prstGeom>
          <a:noFill/>
          <a:ln/>
        </p:spPr>
        <p:txBody>
          <a:bodyPr wrap="square" lIns="0" tIns="0" rIns="0" bIns="0" rtlCol="0" anchor="ctr"/>
          <a:lstStyle/>
          <a:p>
            <a:pPr algn="r" indent="0" marL="0">
              <a:buNone/>
            </a:pPr>
            <a:r>
              <a:rPr lang="en-US" sz="1050" b="1" dirty="0">
                <a:solidFill>
                  <a:srgbClr val="6E6E6E"/>
                </a:solidFill>
                <a:latin typeface="メイリオ" pitchFamily="34" charset="0"/>
                <a:ea typeface="メイリオ" pitchFamily="34" charset="-122"/>
                <a:cs typeface="メイリオ" pitchFamily="34" charset="-120"/>
              </a:rPr>
              <a:t>▲99.6</a:t>
            </a:r>
            <a:endParaRPr lang="en-US" sz="1050" dirty="0"/>
          </a:p>
        </p:txBody>
      </p:sp>
      <p:sp>
        <p:nvSpPr>
          <p:cNvPr id="42" name="Text 40"/>
          <p:cNvSpPr/>
          <p:nvPr/>
        </p:nvSpPr>
        <p:spPr>
          <a:xfrm>
            <a:off x="7013448" y="3931920"/>
            <a:ext cx="2112264" cy="33832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＋32.9</a:t>
            </a:r>
            <a:endParaRPr lang="en-US" sz="1050" dirty="0"/>
          </a:p>
        </p:txBody>
      </p:sp>
      <p:sp>
        <p:nvSpPr>
          <p:cNvPr id="43" name="Text 41"/>
          <p:cNvSpPr/>
          <p:nvPr/>
        </p:nvSpPr>
        <p:spPr>
          <a:xfrm>
            <a:off x="9345168" y="3931920"/>
            <a:ext cx="2112264" cy="33832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＋95.6</a:t>
            </a:r>
            <a:endParaRPr lang="en-US" sz="1050" dirty="0"/>
          </a:p>
        </p:txBody>
      </p:sp>
      <p:sp>
        <p:nvSpPr>
          <p:cNvPr id="44" name="Shape 42"/>
          <p:cNvSpPr/>
          <p:nvPr/>
        </p:nvSpPr>
        <p:spPr>
          <a:xfrm>
            <a:off x="594360" y="4270248"/>
            <a:ext cx="10972800" cy="338328"/>
          </a:xfrm>
          <a:prstGeom prst="rect">
            <a:avLst/>
          </a:prstGeom>
          <a:solidFill>
            <a:srgbClr val="FAF3E2"/>
          </a:solidFill>
          <a:ln w="6350">
            <a:solidFill>
              <a:srgbClr val="E2E0DC"/>
            </a:solidFill>
            <a:prstDash val="solid"/>
          </a:ln>
        </p:spPr>
      </p:sp>
      <p:sp>
        <p:nvSpPr>
          <p:cNvPr id="45" name="Text 43"/>
          <p:cNvSpPr/>
          <p:nvPr/>
        </p:nvSpPr>
        <p:spPr>
          <a:xfrm>
            <a:off x="704088" y="4270248"/>
            <a:ext cx="3803904" cy="338328"/>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経常利益</a:t>
            </a:r>
            <a:endParaRPr lang="en-US" sz="1050" dirty="0"/>
          </a:p>
        </p:txBody>
      </p:sp>
      <p:sp>
        <p:nvSpPr>
          <p:cNvPr id="46" name="Text 44"/>
          <p:cNvSpPr/>
          <p:nvPr/>
        </p:nvSpPr>
        <p:spPr>
          <a:xfrm>
            <a:off x="4727448" y="4270248"/>
            <a:ext cx="2066544" cy="338328"/>
          </a:xfrm>
          <a:prstGeom prst="rect">
            <a:avLst/>
          </a:prstGeom>
          <a:noFill/>
          <a:ln/>
        </p:spPr>
        <p:txBody>
          <a:bodyPr wrap="square" lIns="0" tIns="0" rIns="0" bIns="0" rtlCol="0" anchor="ctr"/>
          <a:lstStyle/>
          <a:p>
            <a:pPr algn="r" indent="0" marL="0">
              <a:buNone/>
            </a:pPr>
            <a:r>
              <a:rPr lang="en-US" sz="1050" b="1" dirty="0">
                <a:solidFill>
                  <a:srgbClr val="6E6E6E"/>
                </a:solidFill>
                <a:latin typeface="メイリオ" pitchFamily="34" charset="0"/>
                <a:ea typeface="メイリオ" pitchFamily="34" charset="-122"/>
                <a:cs typeface="メイリオ" pitchFamily="34" charset="-120"/>
              </a:rPr>
              <a:t>▲114.6</a:t>
            </a:r>
            <a:endParaRPr lang="en-US" sz="1050" dirty="0"/>
          </a:p>
        </p:txBody>
      </p:sp>
      <p:sp>
        <p:nvSpPr>
          <p:cNvPr id="47" name="Text 45"/>
          <p:cNvSpPr/>
          <p:nvPr/>
        </p:nvSpPr>
        <p:spPr>
          <a:xfrm>
            <a:off x="7013448" y="4270248"/>
            <a:ext cx="2112264" cy="33832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＋17.9</a:t>
            </a:r>
            <a:endParaRPr lang="en-US" sz="1050" dirty="0"/>
          </a:p>
        </p:txBody>
      </p:sp>
      <p:sp>
        <p:nvSpPr>
          <p:cNvPr id="48" name="Text 46"/>
          <p:cNvSpPr/>
          <p:nvPr/>
        </p:nvSpPr>
        <p:spPr>
          <a:xfrm>
            <a:off x="9345168" y="4270248"/>
            <a:ext cx="2112264" cy="33832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＋80.6</a:t>
            </a:r>
            <a:endParaRPr lang="en-US" sz="1050" dirty="0"/>
          </a:p>
        </p:txBody>
      </p:sp>
      <p:sp>
        <p:nvSpPr>
          <p:cNvPr id="49" name="Shape 47"/>
          <p:cNvSpPr/>
          <p:nvPr/>
        </p:nvSpPr>
        <p:spPr>
          <a:xfrm>
            <a:off x="594360" y="4608576"/>
            <a:ext cx="10972800" cy="338328"/>
          </a:xfrm>
          <a:prstGeom prst="rect">
            <a:avLst/>
          </a:prstGeom>
          <a:solidFill>
            <a:srgbClr val="FAF3E2"/>
          </a:solidFill>
          <a:ln w="6350">
            <a:solidFill>
              <a:srgbClr val="E2E0DC"/>
            </a:solidFill>
            <a:prstDash val="solid"/>
          </a:ln>
        </p:spPr>
      </p:sp>
      <p:sp>
        <p:nvSpPr>
          <p:cNvPr id="50" name="Text 48"/>
          <p:cNvSpPr/>
          <p:nvPr/>
        </p:nvSpPr>
        <p:spPr>
          <a:xfrm>
            <a:off x="704088" y="4608576"/>
            <a:ext cx="3803904" cy="338328"/>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期中 最低現預金</a:t>
            </a:r>
            <a:endParaRPr lang="en-US" sz="1050" dirty="0"/>
          </a:p>
        </p:txBody>
      </p:sp>
      <p:sp>
        <p:nvSpPr>
          <p:cNvPr id="51" name="Text 49"/>
          <p:cNvSpPr/>
          <p:nvPr/>
        </p:nvSpPr>
        <p:spPr>
          <a:xfrm>
            <a:off x="4727448" y="4608576"/>
            <a:ext cx="2066544" cy="33832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52" name="Text 50"/>
          <p:cNvSpPr/>
          <p:nvPr/>
        </p:nvSpPr>
        <p:spPr>
          <a:xfrm>
            <a:off x="7013448" y="4608576"/>
            <a:ext cx="2112264" cy="33832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53" name="Text 51"/>
          <p:cNvSpPr/>
          <p:nvPr/>
        </p:nvSpPr>
        <p:spPr>
          <a:xfrm>
            <a:off x="9345168" y="4608576"/>
            <a:ext cx="2112264" cy="33832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＋14.6</a:t>
            </a:r>
            <a:endParaRPr lang="en-US" sz="1050" dirty="0"/>
          </a:p>
        </p:txBody>
      </p:sp>
      <p:sp>
        <p:nvSpPr>
          <p:cNvPr id="54" name="Shape 52"/>
          <p:cNvSpPr/>
          <p:nvPr/>
        </p:nvSpPr>
        <p:spPr>
          <a:xfrm>
            <a:off x="594360" y="4983480"/>
            <a:ext cx="5349240" cy="1298448"/>
          </a:xfrm>
          <a:prstGeom prst="roundRect">
            <a:avLst>
              <a:gd name="adj" fmla="val 3521"/>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5" name="Text 53"/>
          <p:cNvSpPr/>
          <p:nvPr/>
        </p:nvSpPr>
        <p:spPr>
          <a:xfrm>
            <a:off x="868680" y="5138928"/>
            <a:ext cx="4800600" cy="274320"/>
          </a:xfrm>
          <a:prstGeom prst="rect">
            <a:avLst/>
          </a:prstGeom>
          <a:noFill/>
          <a:ln/>
        </p:spPr>
        <p:txBody>
          <a:bodyPr wrap="square" lIns="0" tIns="0" rIns="0" bIns="0" rtlCol="0" anchor="ctr"/>
          <a:lstStyle/>
          <a:p>
            <a:pPr indent="0" marL="0">
              <a:buNone/>
            </a:pPr>
            <a:r>
              <a:rPr lang="en-US" sz="1100" b="1" dirty="0">
                <a:solidFill>
                  <a:srgbClr val="A98442"/>
                </a:solidFill>
                <a:latin typeface="メイリオ" pitchFamily="34" charset="0"/>
                <a:ea typeface="メイリオ" pitchFamily="34" charset="-122"/>
                <a:cs typeface="メイリオ" pitchFamily="34" charset="-120"/>
              </a:rPr>
              <a:t>Cの粗利の内訳</a:t>
            </a:r>
            <a:endParaRPr lang="en-US" sz="1100" dirty="0"/>
          </a:p>
        </p:txBody>
      </p:sp>
      <p:sp>
        <p:nvSpPr>
          <p:cNvPr id="56" name="Text 54"/>
          <p:cNvSpPr/>
          <p:nvPr/>
        </p:nvSpPr>
        <p:spPr>
          <a:xfrm>
            <a:off x="868680" y="5422392"/>
            <a:ext cx="4800600" cy="777240"/>
          </a:xfrm>
          <a:prstGeom prst="rect">
            <a:avLst/>
          </a:prstGeom>
          <a:noFill/>
          <a:ln/>
        </p:spPr>
        <p:txBody>
          <a:bodyPr wrap="square" lIns="0" tIns="0" rIns="0" bIns="0" rtlCol="0" anchor="t"/>
          <a:lstStyle/>
          <a:p>
            <a:pPr indent="0" marL="0">
              <a:buNone/>
            </a:pPr>
            <a:r>
              <a:rPr lang="en-US" sz="1050" dirty="0">
                <a:solidFill>
                  <a:srgbClr val="FFFFFF"/>
                </a:solidFill>
                <a:latin typeface="メイリオ" pitchFamily="34" charset="0"/>
                <a:ea typeface="メイリオ" pitchFamily="34" charset="-122"/>
                <a:cs typeface="メイリオ" pitchFamily="34" charset="-120"/>
              </a:rPr>
              <a:t>既存389.1×51.5%＝200.6　／　差額208.9×30%＝62.7　／　上乗せ132.5×100%＝132.5。合計395.8百万円です。</a:t>
            </a:r>
            <a:endParaRPr lang="en-US" sz="1050" dirty="0"/>
          </a:p>
        </p:txBody>
      </p:sp>
      <p:sp>
        <p:nvSpPr>
          <p:cNvPr id="57" name="Shape 55"/>
          <p:cNvSpPr/>
          <p:nvPr/>
        </p:nvSpPr>
        <p:spPr>
          <a:xfrm>
            <a:off x="6217920" y="4983480"/>
            <a:ext cx="5349240" cy="1298448"/>
          </a:xfrm>
          <a:prstGeom prst="roundRect">
            <a:avLst>
              <a:gd name="adj" fmla="val 3521"/>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8" name="Text 56"/>
          <p:cNvSpPr/>
          <p:nvPr/>
        </p:nvSpPr>
        <p:spPr>
          <a:xfrm>
            <a:off x="6492240" y="5138928"/>
            <a:ext cx="4800600" cy="274320"/>
          </a:xfrm>
          <a:prstGeom prst="rect">
            <a:avLst/>
          </a:prstGeom>
          <a:noFill/>
          <a:ln/>
        </p:spPr>
        <p:txBody>
          <a:bodyPr wrap="square" lIns="0" tIns="0" rIns="0" bIns="0" rtlCol="0" anchor="ctr"/>
          <a:lstStyle/>
          <a:p>
            <a:pPr indent="0" marL="0">
              <a:buNone/>
            </a:pPr>
            <a:r>
              <a:rPr lang="en-US" sz="1100" b="1" dirty="0">
                <a:solidFill>
                  <a:srgbClr val="1A1A1A"/>
                </a:solidFill>
                <a:latin typeface="メイリオ" pitchFamily="34" charset="0"/>
                <a:ea typeface="メイリオ" pitchFamily="34" charset="-122"/>
                <a:cs typeface="メイリオ" pitchFamily="34" charset="-120"/>
              </a:rPr>
              <a:t>差額売上の粗利率30%の根拠</a:t>
            </a:r>
            <a:endParaRPr lang="en-US" sz="1100" dirty="0"/>
          </a:p>
        </p:txBody>
      </p:sp>
      <p:sp>
        <p:nvSpPr>
          <p:cNvPr id="59" name="Text 57"/>
          <p:cNvSpPr/>
          <p:nvPr/>
        </p:nvSpPr>
        <p:spPr>
          <a:xfrm>
            <a:off x="6492240" y="5422392"/>
            <a:ext cx="4800600" cy="777240"/>
          </a:xfrm>
          <a:prstGeom prst="rect">
            <a:avLst/>
          </a:prstGeom>
          <a:noFill/>
          <a:ln/>
        </p:spPr>
        <p:txBody>
          <a:bodyPr wrap="square" lIns="0" tIns="0" rIns="0" bIns="0" rtlCol="0" anchor="t"/>
          <a:lstStyle/>
          <a:p>
            <a:pPr indent="0" marL="0">
              <a:buNone/>
            </a:pPr>
            <a:r>
              <a:rPr lang="en-US" sz="1050" dirty="0">
                <a:solidFill>
                  <a:srgbClr val="1A1A1A"/>
                </a:solidFill>
                <a:latin typeface="メイリオ" pitchFamily="34" charset="0"/>
                <a:ea typeface="メイリオ" pitchFamily="34" charset="-122"/>
                <a:cs typeface="メイリオ" pitchFamily="34" charset="-120"/>
              </a:rPr>
              <a:t>既存事業の実績はFY2025 26.8%・FY2026 32.4%。その水準に合わせ、4-6月実績の51.5%は差額分には適用していません。</a:t>
            </a:r>
            <a:endParaRPr lang="en-US" sz="1050" dirty="0"/>
          </a:p>
        </p:txBody>
      </p:sp>
      <p:sp>
        <p:nvSpPr>
          <p:cNvPr id="60" name="Text 58"/>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上場関連コストは計上せず、期首現預金30百万円（2026/09末のみずほ銀行200百万円返済後）を前提。上乗せ案件132.5百万円は原価なしのため総合粗利率を押し上げます。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ワイン在庫は成長の源泉 － 仕入は落としません</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仕入を絞ると生産者からの割当が戻らず、2〜3年先の成長を失います。</a:t>
            </a:r>
            <a:endParaRPr lang="en-US" sz="1250" dirty="0"/>
          </a:p>
        </p:txBody>
      </p:sp>
      <p:sp>
        <p:nvSpPr>
          <p:cNvPr id="4" name="Shape 2"/>
          <p:cNvSpPr/>
          <p:nvPr/>
        </p:nvSpPr>
        <p:spPr>
          <a:xfrm>
            <a:off x="594360" y="1481328"/>
            <a:ext cx="5349240" cy="2377440"/>
          </a:xfrm>
          <a:prstGeom prst="roundRect">
            <a:avLst>
              <a:gd name="adj" fmla="val 1923"/>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Text 3"/>
          <p:cNvSpPr/>
          <p:nvPr/>
        </p:nvSpPr>
        <p:spPr>
          <a:xfrm>
            <a:off x="914400" y="1664208"/>
            <a:ext cx="3657600" cy="310896"/>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自社在庫（簿価）の推移</a:t>
            </a:r>
            <a:endParaRPr lang="en-US" sz="1200" dirty="0"/>
          </a:p>
        </p:txBody>
      </p:sp>
      <p:sp>
        <p:nvSpPr>
          <p:cNvPr id="6" name="Text 4"/>
          <p:cNvSpPr/>
          <p:nvPr/>
        </p:nvSpPr>
        <p:spPr>
          <a:xfrm>
            <a:off x="4572000" y="1682496"/>
            <a:ext cx="1188720" cy="237744"/>
          </a:xfrm>
          <a:prstGeom prst="rect">
            <a:avLst/>
          </a:prstGeom>
          <a:noFill/>
          <a:ln/>
        </p:spPr>
        <p:txBody>
          <a:bodyPr wrap="square" lIns="0" tIns="0" rIns="0" bIns="0" rtlCol="0" anchor="ctr"/>
          <a:lstStyle/>
          <a:p>
            <a:pPr algn="r" indent="0" marL="0">
              <a:buNone/>
            </a:pPr>
            <a:r>
              <a:rPr lang="en-US" sz="850" dirty="0">
                <a:solidFill>
                  <a:srgbClr val="8C8C8C"/>
                </a:solidFill>
                <a:latin typeface="メイリオ" pitchFamily="34" charset="0"/>
                <a:ea typeface="メイリオ" pitchFamily="34" charset="-122"/>
                <a:cs typeface="メイリオ" pitchFamily="34" charset="-120"/>
              </a:rPr>
              <a:t>単位：億円</a:t>
            </a:r>
            <a:endParaRPr lang="en-US" sz="850" dirty="0"/>
          </a:p>
        </p:txBody>
      </p:sp>
      <p:sp>
        <p:nvSpPr>
          <p:cNvPr id="7" name="Shape 5"/>
          <p:cNvSpPr/>
          <p:nvPr/>
        </p:nvSpPr>
        <p:spPr>
          <a:xfrm>
            <a:off x="914400" y="2374345"/>
            <a:ext cx="621792" cy="1118663"/>
          </a:xfrm>
          <a:prstGeom prst="rect">
            <a:avLst/>
          </a:prstGeom>
          <a:solidFill>
            <a:srgbClr val="D6D4D0"/>
          </a:solidFill>
          <a:ln/>
        </p:spPr>
      </p:sp>
      <p:sp>
        <p:nvSpPr>
          <p:cNvPr id="8" name="Text 6"/>
          <p:cNvSpPr/>
          <p:nvPr/>
        </p:nvSpPr>
        <p:spPr>
          <a:xfrm>
            <a:off x="822960" y="2100025"/>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5.6</a:t>
            </a:r>
            <a:endParaRPr lang="en-US" sz="1000" dirty="0"/>
          </a:p>
        </p:txBody>
      </p:sp>
      <p:sp>
        <p:nvSpPr>
          <p:cNvPr id="9" name="Text 7"/>
          <p:cNvSpPr/>
          <p:nvPr/>
        </p:nvSpPr>
        <p:spPr>
          <a:xfrm>
            <a:off x="78638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24/12末</a:t>
            </a:r>
            <a:endParaRPr lang="en-US" sz="850" dirty="0"/>
          </a:p>
        </p:txBody>
      </p:sp>
      <p:sp>
        <p:nvSpPr>
          <p:cNvPr id="10" name="Shape 8"/>
          <p:cNvSpPr/>
          <p:nvPr/>
        </p:nvSpPr>
        <p:spPr>
          <a:xfrm>
            <a:off x="1874520" y="2554130"/>
            <a:ext cx="621792" cy="938878"/>
          </a:xfrm>
          <a:prstGeom prst="rect">
            <a:avLst/>
          </a:prstGeom>
          <a:solidFill>
            <a:srgbClr val="D6D4D0"/>
          </a:solidFill>
          <a:ln/>
        </p:spPr>
      </p:sp>
      <p:sp>
        <p:nvSpPr>
          <p:cNvPr id="11" name="Text 9"/>
          <p:cNvSpPr/>
          <p:nvPr/>
        </p:nvSpPr>
        <p:spPr>
          <a:xfrm>
            <a:off x="1783080" y="2279810"/>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4.7</a:t>
            </a:r>
            <a:endParaRPr lang="en-US" sz="1000" dirty="0"/>
          </a:p>
        </p:txBody>
      </p:sp>
      <p:sp>
        <p:nvSpPr>
          <p:cNvPr id="12" name="Text 10"/>
          <p:cNvSpPr/>
          <p:nvPr/>
        </p:nvSpPr>
        <p:spPr>
          <a:xfrm>
            <a:off x="174650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25/07末</a:t>
            </a:r>
            <a:endParaRPr lang="en-US" sz="850" dirty="0"/>
          </a:p>
        </p:txBody>
      </p:sp>
      <p:sp>
        <p:nvSpPr>
          <p:cNvPr id="13" name="Shape 11"/>
          <p:cNvSpPr/>
          <p:nvPr/>
        </p:nvSpPr>
        <p:spPr>
          <a:xfrm>
            <a:off x="2834640" y="2534154"/>
            <a:ext cx="621792" cy="958854"/>
          </a:xfrm>
          <a:prstGeom prst="rect">
            <a:avLst/>
          </a:prstGeom>
          <a:solidFill>
            <a:srgbClr val="1A1A1A"/>
          </a:solidFill>
          <a:ln/>
        </p:spPr>
      </p:sp>
      <p:sp>
        <p:nvSpPr>
          <p:cNvPr id="14" name="Text 12"/>
          <p:cNvSpPr/>
          <p:nvPr/>
        </p:nvSpPr>
        <p:spPr>
          <a:xfrm>
            <a:off x="2743200" y="2259834"/>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4.8</a:t>
            </a:r>
            <a:endParaRPr lang="en-US" sz="1000" dirty="0"/>
          </a:p>
        </p:txBody>
      </p:sp>
      <p:sp>
        <p:nvSpPr>
          <p:cNvPr id="15" name="Text 13"/>
          <p:cNvSpPr/>
          <p:nvPr/>
        </p:nvSpPr>
        <p:spPr>
          <a:xfrm>
            <a:off x="270662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25/09末</a:t>
            </a:r>
            <a:endParaRPr lang="en-US" sz="850" dirty="0"/>
          </a:p>
        </p:txBody>
      </p:sp>
      <p:sp>
        <p:nvSpPr>
          <p:cNvPr id="16" name="Shape 14"/>
          <p:cNvSpPr/>
          <p:nvPr/>
        </p:nvSpPr>
        <p:spPr>
          <a:xfrm>
            <a:off x="3794760" y="2434273"/>
            <a:ext cx="621792" cy="1058735"/>
          </a:xfrm>
          <a:prstGeom prst="rect">
            <a:avLst/>
          </a:prstGeom>
          <a:solidFill>
            <a:srgbClr val="1A1A1A"/>
          </a:solidFill>
          <a:ln/>
        </p:spPr>
      </p:sp>
      <p:sp>
        <p:nvSpPr>
          <p:cNvPr id="17" name="Text 15"/>
          <p:cNvSpPr/>
          <p:nvPr/>
        </p:nvSpPr>
        <p:spPr>
          <a:xfrm>
            <a:off x="3703320" y="2159953"/>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5.3</a:t>
            </a:r>
            <a:endParaRPr lang="en-US" sz="1000" dirty="0"/>
          </a:p>
        </p:txBody>
      </p:sp>
      <p:sp>
        <p:nvSpPr>
          <p:cNvPr id="18" name="Text 16"/>
          <p:cNvSpPr/>
          <p:nvPr/>
        </p:nvSpPr>
        <p:spPr>
          <a:xfrm>
            <a:off x="366674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25/12末</a:t>
            </a:r>
            <a:endParaRPr lang="en-US" sz="850" dirty="0"/>
          </a:p>
        </p:txBody>
      </p:sp>
      <p:sp>
        <p:nvSpPr>
          <p:cNvPr id="19" name="Shape 17"/>
          <p:cNvSpPr/>
          <p:nvPr/>
        </p:nvSpPr>
        <p:spPr>
          <a:xfrm>
            <a:off x="4754880" y="2254488"/>
            <a:ext cx="621792" cy="1238520"/>
          </a:xfrm>
          <a:prstGeom prst="rect">
            <a:avLst/>
          </a:prstGeom>
          <a:solidFill>
            <a:srgbClr val="1A1A1A"/>
          </a:solidFill>
          <a:ln/>
        </p:spPr>
      </p:sp>
      <p:sp>
        <p:nvSpPr>
          <p:cNvPr id="20" name="Text 18"/>
          <p:cNvSpPr/>
          <p:nvPr/>
        </p:nvSpPr>
        <p:spPr>
          <a:xfrm>
            <a:off x="4663440" y="1980168"/>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6.2</a:t>
            </a:r>
            <a:endParaRPr lang="en-US" sz="1000" dirty="0"/>
          </a:p>
        </p:txBody>
      </p:sp>
      <p:sp>
        <p:nvSpPr>
          <p:cNvPr id="21" name="Text 19"/>
          <p:cNvSpPr/>
          <p:nvPr/>
        </p:nvSpPr>
        <p:spPr>
          <a:xfrm>
            <a:off x="462686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26/03末</a:t>
            </a:r>
            <a:endParaRPr lang="en-US" sz="850" dirty="0"/>
          </a:p>
        </p:txBody>
      </p:sp>
      <p:sp>
        <p:nvSpPr>
          <p:cNvPr id="22" name="Shape 20"/>
          <p:cNvSpPr/>
          <p:nvPr/>
        </p:nvSpPr>
        <p:spPr>
          <a:xfrm>
            <a:off x="6217920" y="1481328"/>
            <a:ext cx="5349240" cy="2377440"/>
          </a:xfrm>
          <a:prstGeom prst="roundRect">
            <a:avLst>
              <a:gd name="adj" fmla="val 1923"/>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3" name="Text 21"/>
          <p:cNvSpPr/>
          <p:nvPr/>
        </p:nvSpPr>
        <p:spPr>
          <a:xfrm>
            <a:off x="6537960" y="1691640"/>
            <a:ext cx="4709160" cy="274320"/>
          </a:xfrm>
          <a:prstGeom prst="rect">
            <a:avLst/>
          </a:prstGeom>
          <a:noFill/>
          <a:ln/>
        </p:spPr>
        <p:txBody>
          <a:bodyPr wrap="square" lIns="0" tIns="0" rIns="0" bIns="0" rtlCol="0" anchor="ctr"/>
          <a:lstStyle/>
          <a:p>
            <a:pPr indent="0" marL="0">
              <a:buNone/>
            </a:pPr>
            <a:r>
              <a:rPr lang="en-US" sz="1100" dirty="0">
                <a:solidFill>
                  <a:srgbClr val="FAF3E2"/>
                </a:solidFill>
                <a:latin typeface="メイリオ" pitchFamily="34" charset="0"/>
                <a:ea typeface="メイリオ" pitchFamily="34" charset="-122"/>
                <a:cs typeface="メイリオ" pitchFamily="34" charset="-120"/>
              </a:rPr>
              <a:t>FY2027の仕入方針</a:t>
            </a:r>
            <a:endParaRPr lang="en-US" sz="1100" dirty="0"/>
          </a:p>
        </p:txBody>
      </p:sp>
      <p:sp>
        <p:nvSpPr>
          <p:cNvPr id="24" name="Text 22"/>
          <p:cNvSpPr/>
          <p:nvPr/>
        </p:nvSpPr>
        <p:spPr>
          <a:xfrm>
            <a:off x="6537960" y="1965960"/>
            <a:ext cx="4709160" cy="640080"/>
          </a:xfrm>
          <a:prstGeom prst="rect">
            <a:avLst/>
          </a:prstGeom>
          <a:noFill/>
          <a:ln/>
        </p:spPr>
        <p:txBody>
          <a:bodyPr wrap="square" lIns="0" tIns="0" rIns="0" bIns="0" rtlCol="0" anchor="ctr"/>
          <a:lstStyle/>
          <a:p>
            <a:pPr indent="0" marL="0">
              <a:buNone/>
            </a:pPr>
            <a:r>
              <a:rPr lang="en-US" sz="3600" b="1" dirty="0">
                <a:solidFill>
                  <a:srgbClr val="FFFFFF"/>
                </a:solidFill>
                <a:latin typeface="メイリオ" pitchFamily="34" charset="0"/>
                <a:ea typeface="メイリオ" pitchFamily="34" charset="-122"/>
                <a:cs typeface="メイリオ" pitchFamily="34" charset="-120"/>
              </a:rPr>
              <a:t>419.1百万円</a:t>
            </a:r>
            <a:endParaRPr lang="en-US" sz="3600" dirty="0"/>
          </a:p>
        </p:txBody>
      </p:sp>
      <p:sp>
        <p:nvSpPr>
          <p:cNvPr id="25" name="Text 23"/>
          <p:cNvSpPr/>
          <p:nvPr/>
        </p:nvSpPr>
        <p:spPr>
          <a:xfrm>
            <a:off x="6537960" y="2651760"/>
            <a:ext cx="4709160" cy="1051560"/>
          </a:xfrm>
          <a:prstGeom prst="rect">
            <a:avLst/>
          </a:prstGeom>
          <a:noFill/>
          <a:ln/>
        </p:spPr>
        <p:txBody>
          <a:bodyPr wrap="square" lIns="0" tIns="0" rIns="0" bIns="0" rtlCol="0" anchor="t"/>
          <a:lstStyle/>
          <a:p>
            <a:pPr indent="0" marL="0">
              <a:buNone/>
            </a:pPr>
            <a:r>
              <a:rPr lang="en-US" sz="1150" dirty="0">
                <a:solidFill>
                  <a:srgbClr val="FAF3E2"/>
                </a:solidFill>
                <a:latin typeface="メイリオ" pitchFamily="34" charset="0"/>
                <a:ea typeface="メイリオ" pitchFamily="34" charset="-122"/>
                <a:cs typeface="メイリオ" pitchFamily="34" charset="-120"/>
              </a:rPr>
              <a:t>FY2026と同水準を維持。仕入を絞ると優良銘柄の割当が減り、一度失った枠を戻すには数年を要します。目先の資金のために将来の成長を削らない、という判断です。</a:t>
            </a:r>
            <a:endParaRPr lang="en-US" sz="1150" dirty="0"/>
          </a:p>
        </p:txBody>
      </p:sp>
      <p:sp>
        <p:nvSpPr>
          <p:cNvPr id="26" name="Shape 24"/>
          <p:cNvSpPr/>
          <p:nvPr/>
        </p:nvSpPr>
        <p:spPr>
          <a:xfrm>
            <a:off x="594360" y="4069080"/>
            <a:ext cx="2606040" cy="1051560"/>
          </a:xfrm>
          <a:prstGeom prst="roundRect">
            <a:avLst>
              <a:gd name="adj" fmla="val 43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7" name="Text 25"/>
          <p:cNvSpPr/>
          <p:nvPr/>
        </p:nvSpPr>
        <p:spPr>
          <a:xfrm>
            <a:off x="777240"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期首在庫（2026/09末）</a:t>
            </a:r>
            <a:endParaRPr lang="en-US" sz="950" dirty="0"/>
          </a:p>
        </p:txBody>
      </p:sp>
      <p:sp>
        <p:nvSpPr>
          <p:cNvPr id="28" name="Text 26"/>
          <p:cNvSpPr/>
          <p:nvPr/>
        </p:nvSpPr>
        <p:spPr>
          <a:xfrm>
            <a:off x="777240" y="4498848"/>
            <a:ext cx="2240280" cy="457200"/>
          </a:xfrm>
          <a:prstGeom prst="rect">
            <a:avLst/>
          </a:prstGeom>
          <a:noFill/>
          <a:ln/>
        </p:spPr>
        <p:txBody>
          <a:bodyPr wrap="square" lIns="0" tIns="0" rIns="0" bIns="0" rtlCol="0" anchor="ctr"/>
          <a:lstStyle/>
          <a:p>
            <a:pPr indent="0" marL="0">
              <a:buNone/>
            </a:pPr>
            <a:r>
              <a:rPr lang="en-US" sz="1800" b="1" dirty="0">
                <a:solidFill>
                  <a:srgbClr val="1A1A1A"/>
                </a:solidFill>
                <a:latin typeface="メイリオ" pitchFamily="34" charset="0"/>
                <a:ea typeface="メイリオ" pitchFamily="34" charset="-122"/>
                <a:cs typeface="メイリオ" pitchFamily="34" charset="-120"/>
              </a:rPr>
              <a:t>420.0百万円</a:t>
            </a:r>
            <a:endParaRPr lang="en-US" sz="1800" dirty="0"/>
          </a:p>
        </p:txBody>
      </p:sp>
      <p:sp>
        <p:nvSpPr>
          <p:cNvPr id="29" name="Shape 27"/>
          <p:cNvSpPr/>
          <p:nvPr/>
        </p:nvSpPr>
        <p:spPr>
          <a:xfrm>
            <a:off x="3419856" y="4069080"/>
            <a:ext cx="2606040" cy="1051560"/>
          </a:xfrm>
          <a:prstGeom prst="roundRect">
            <a:avLst>
              <a:gd name="adj" fmla="val 43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0" name="Text 28"/>
          <p:cNvSpPr/>
          <p:nvPr/>
        </p:nvSpPr>
        <p:spPr>
          <a:xfrm>
            <a:off x="3602736"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FY2027 仕入</a:t>
            </a:r>
            <a:endParaRPr lang="en-US" sz="950" dirty="0"/>
          </a:p>
        </p:txBody>
      </p:sp>
      <p:sp>
        <p:nvSpPr>
          <p:cNvPr id="31" name="Text 29"/>
          <p:cNvSpPr/>
          <p:nvPr/>
        </p:nvSpPr>
        <p:spPr>
          <a:xfrm>
            <a:off x="3602736" y="4498848"/>
            <a:ext cx="2240280" cy="457200"/>
          </a:xfrm>
          <a:prstGeom prst="rect">
            <a:avLst/>
          </a:prstGeom>
          <a:noFill/>
          <a:ln/>
        </p:spPr>
        <p:txBody>
          <a:bodyPr wrap="square" lIns="0" tIns="0" rIns="0" bIns="0" rtlCol="0" anchor="ctr"/>
          <a:lstStyle/>
          <a:p>
            <a:pPr indent="0" marL="0">
              <a:buNone/>
            </a:pPr>
            <a:r>
              <a:rPr lang="en-US" sz="1800" b="1" dirty="0">
                <a:solidFill>
                  <a:srgbClr val="1A1A1A"/>
                </a:solidFill>
                <a:latin typeface="メイリオ" pitchFamily="34" charset="0"/>
                <a:ea typeface="メイリオ" pitchFamily="34" charset="-122"/>
                <a:cs typeface="メイリオ" pitchFamily="34" charset="-120"/>
              </a:rPr>
              <a:t>419.1百万円</a:t>
            </a:r>
            <a:endParaRPr lang="en-US" sz="1800" dirty="0"/>
          </a:p>
        </p:txBody>
      </p:sp>
      <p:sp>
        <p:nvSpPr>
          <p:cNvPr id="32" name="Shape 30"/>
          <p:cNvSpPr/>
          <p:nvPr/>
        </p:nvSpPr>
        <p:spPr>
          <a:xfrm>
            <a:off x="6245352" y="4069080"/>
            <a:ext cx="2606040" cy="1051560"/>
          </a:xfrm>
          <a:prstGeom prst="roundRect">
            <a:avLst>
              <a:gd name="adj" fmla="val 43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3" name="Text 31"/>
          <p:cNvSpPr/>
          <p:nvPr/>
        </p:nvSpPr>
        <p:spPr>
          <a:xfrm>
            <a:off x="6428232"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FY2027 売上原価（出庫）</a:t>
            </a:r>
            <a:endParaRPr lang="en-US" sz="950" dirty="0"/>
          </a:p>
        </p:txBody>
      </p:sp>
      <p:sp>
        <p:nvSpPr>
          <p:cNvPr id="34" name="Text 32"/>
          <p:cNvSpPr/>
          <p:nvPr/>
        </p:nvSpPr>
        <p:spPr>
          <a:xfrm>
            <a:off x="6428232" y="4498848"/>
            <a:ext cx="2240280" cy="457200"/>
          </a:xfrm>
          <a:prstGeom prst="rect">
            <a:avLst/>
          </a:prstGeom>
          <a:noFill/>
          <a:ln/>
        </p:spPr>
        <p:txBody>
          <a:bodyPr wrap="square" lIns="0" tIns="0" rIns="0" bIns="0" rtlCol="0" anchor="ctr"/>
          <a:lstStyle/>
          <a:p>
            <a:pPr indent="0" marL="0">
              <a:buNone/>
            </a:pPr>
            <a:r>
              <a:rPr lang="en-US" sz="1800" b="1" dirty="0">
                <a:solidFill>
                  <a:srgbClr val="1A1A1A"/>
                </a:solidFill>
                <a:latin typeface="メイリオ" pitchFamily="34" charset="0"/>
                <a:ea typeface="メイリオ" pitchFamily="34" charset="-122"/>
                <a:cs typeface="メイリオ" pitchFamily="34" charset="-120"/>
              </a:rPr>
              <a:t>334.8百万円</a:t>
            </a:r>
            <a:endParaRPr lang="en-US" sz="1800" dirty="0"/>
          </a:p>
        </p:txBody>
      </p:sp>
      <p:sp>
        <p:nvSpPr>
          <p:cNvPr id="35" name="Shape 33"/>
          <p:cNvSpPr/>
          <p:nvPr/>
        </p:nvSpPr>
        <p:spPr>
          <a:xfrm>
            <a:off x="9070848" y="4069080"/>
            <a:ext cx="2606040" cy="1051560"/>
          </a:xfrm>
          <a:prstGeom prst="roundRect">
            <a:avLst>
              <a:gd name="adj" fmla="val 43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6" name="Text 34"/>
          <p:cNvSpPr/>
          <p:nvPr/>
        </p:nvSpPr>
        <p:spPr>
          <a:xfrm>
            <a:off x="9253728"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期末在庫</a:t>
            </a:r>
            <a:endParaRPr lang="en-US" sz="950" dirty="0"/>
          </a:p>
        </p:txBody>
      </p:sp>
      <p:sp>
        <p:nvSpPr>
          <p:cNvPr id="37" name="Text 35"/>
          <p:cNvSpPr/>
          <p:nvPr/>
        </p:nvSpPr>
        <p:spPr>
          <a:xfrm>
            <a:off x="9253728" y="4498848"/>
            <a:ext cx="2240280" cy="457200"/>
          </a:xfrm>
          <a:prstGeom prst="rect">
            <a:avLst/>
          </a:prstGeom>
          <a:noFill/>
          <a:ln/>
        </p:spPr>
        <p:txBody>
          <a:bodyPr wrap="square" lIns="0" tIns="0" rIns="0" bIns="0" rtlCol="0" anchor="ctr"/>
          <a:lstStyle/>
          <a:p>
            <a:pPr indent="0" marL="0">
              <a:buNone/>
            </a:pPr>
            <a:r>
              <a:rPr lang="en-US" sz="1800" b="1" dirty="0">
                <a:solidFill>
                  <a:srgbClr val="A98442"/>
                </a:solidFill>
                <a:latin typeface="メイリオ" pitchFamily="34" charset="0"/>
                <a:ea typeface="メイリオ" pitchFamily="34" charset="-122"/>
                <a:cs typeface="メイリオ" pitchFamily="34" charset="-120"/>
              </a:rPr>
              <a:t>504.3百万円</a:t>
            </a:r>
            <a:endParaRPr lang="en-US" sz="1800" dirty="0"/>
          </a:p>
        </p:txBody>
      </p:sp>
      <p:sp>
        <p:nvSpPr>
          <p:cNvPr id="38" name="Shape 36"/>
          <p:cNvSpPr/>
          <p:nvPr/>
        </p:nvSpPr>
        <p:spPr>
          <a:xfrm>
            <a:off x="594360" y="5349240"/>
            <a:ext cx="10963656" cy="731520"/>
          </a:xfrm>
          <a:prstGeom prst="roundRect">
            <a:avLst>
              <a:gd name="adj" fmla="val 6250"/>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9" name="Text 37"/>
          <p:cNvSpPr/>
          <p:nvPr/>
        </p:nvSpPr>
        <p:spPr>
          <a:xfrm>
            <a:off x="914400" y="5349240"/>
            <a:ext cx="10332720" cy="731520"/>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在庫は420.0→504.3百万円と84.3百万円積み上がりますが、時価1.37倍の換価可能資産です。運転資金としてのご理解をお願いしたい部分です。</a:t>
            </a:r>
            <a:endParaRPr lang="en-US" sz="1200" dirty="0"/>
          </a:p>
        </p:txBody>
      </p:sp>
      <p:sp>
        <p:nvSpPr>
          <p:cNvPr id="40" name="Text 38"/>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出典：2026年7月度 取締役会資料「ワイン預かり残高推移KPI」（税抜・簿価）。FY2026仕入額は売上原価479.1百万円＋在庫増減▲60.0百万円から逆算。</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FY2027 月次推移表 － プランC</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既存389.1（51.5%）＋差額208.9（30%）＋上乗せ132.5（原価なし）。単位：百万円</a:t>
            </a:r>
            <a:endParaRPr lang="en-US" sz="1250" dirty="0"/>
          </a:p>
        </p:txBody>
      </p:sp>
      <p:sp>
        <p:nvSpPr>
          <p:cNvPr id="4" name="Shape 2"/>
          <p:cNvSpPr/>
          <p:nvPr/>
        </p:nvSpPr>
        <p:spPr>
          <a:xfrm>
            <a:off x="594360" y="1481328"/>
            <a:ext cx="11658600" cy="384048"/>
          </a:xfrm>
          <a:prstGeom prst="rect">
            <a:avLst/>
          </a:prstGeom>
          <a:solidFill>
            <a:srgbClr val="1A1A1A"/>
          </a:solidFill>
          <a:ln/>
        </p:spPr>
      </p:sp>
      <p:sp>
        <p:nvSpPr>
          <p:cNvPr id="5" name="Text 3"/>
          <p:cNvSpPr/>
          <p:nvPr/>
        </p:nvSpPr>
        <p:spPr>
          <a:xfrm>
            <a:off x="704088" y="1481328"/>
            <a:ext cx="2011680" cy="384048"/>
          </a:xfrm>
          <a:prstGeom prst="rect">
            <a:avLst/>
          </a:prstGeom>
          <a:noFill/>
          <a:ln/>
        </p:spPr>
        <p:txBody>
          <a:bodyPr wrap="square" lIns="0" tIns="0" rIns="0" bIns="0" rtlCol="0" anchor="ctr"/>
          <a:lstStyle/>
          <a:p>
            <a:pPr indent="0" marL="0">
              <a:buNone/>
            </a:pPr>
            <a:r>
              <a:rPr lang="en-US" sz="900" b="1" dirty="0">
                <a:solidFill>
                  <a:srgbClr val="FFFFFF"/>
                </a:solidFill>
                <a:latin typeface="メイリオ" pitchFamily="34" charset="0"/>
                <a:ea typeface="メイリオ" pitchFamily="34" charset="-122"/>
                <a:cs typeface="メイリオ" pitchFamily="34" charset="-120"/>
              </a:rPr>
              <a:t>科目</a:t>
            </a:r>
            <a:endParaRPr lang="en-US" sz="900" dirty="0"/>
          </a:p>
        </p:txBody>
      </p:sp>
      <p:sp>
        <p:nvSpPr>
          <p:cNvPr id="6" name="Text 4"/>
          <p:cNvSpPr/>
          <p:nvPr/>
        </p:nvSpPr>
        <p:spPr>
          <a:xfrm>
            <a:off x="260604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26/10</a:t>
            </a:r>
            <a:endParaRPr lang="en-US" sz="850" dirty="0"/>
          </a:p>
        </p:txBody>
      </p:sp>
      <p:sp>
        <p:nvSpPr>
          <p:cNvPr id="7" name="Text 5"/>
          <p:cNvSpPr/>
          <p:nvPr/>
        </p:nvSpPr>
        <p:spPr>
          <a:xfrm>
            <a:off x="333756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26/11</a:t>
            </a:r>
            <a:endParaRPr lang="en-US" sz="850" dirty="0"/>
          </a:p>
        </p:txBody>
      </p:sp>
      <p:sp>
        <p:nvSpPr>
          <p:cNvPr id="8" name="Text 6"/>
          <p:cNvSpPr/>
          <p:nvPr/>
        </p:nvSpPr>
        <p:spPr>
          <a:xfrm>
            <a:off x="406908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26/12</a:t>
            </a:r>
            <a:endParaRPr lang="en-US" sz="850" dirty="0"/>
          </a:p>
        </p:txBody>
      </p:sp>
      <p:sp>
        <p:nvSpPr>
          <p:cNvPr id="9" name="Text 7"/>
          <p:cNvSpPr/>
          <p:nvPr/>
        </p:nvSpPr>
        <p:spPr>
          <a:xfrm>
            <a:off x="480060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27/01</a:t>
            </a:r>
            <a:endParaRPr lang="en-US" sz="850" dirty="0"/>
          </a:p>
        </p:txBody>
      </p:sp>
      <p:sp>
        <p:nvSpPr>
          <p:cNvPr id="10" name="Text 8"/>
          <p:cNvSpPr/>
          <p:nvPr/>
        </p:nvSpPr>
        <p:spPr>
          <a:xfrm>
            <a:off x="553212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27/02</a:t>
            </a:r>
            <a:endParaRPr lang="en-US" sz="850" dirty="0"/>
          </a:p>
        </p:txBody>
      </p:sp>
      <p:sp>
        <p:nvSpPr>
          <p:cNvPr id="11" name="Text 9"/>
          <p:cNvSpPr/>
          <p:nvPr/>
        </p:nvSpPr>
        <p:spPr>
          <a:xfrm>
            <a:off x="626364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27/03</a:t>
            </a:r>
            <a:endParaRPr lang="en-US" sz="850" dirty="0"/>
          </a:p>
        </p:txBody>
      </p:sp>
      <p:sp>
        <p:nvSpPr>
          <p:cNvPr id="12" name="Text 10"/>
          <p:cNvSpPr/>
          <p:nvPr/>
        </p:nvSpPr>
        <p:spPr>
          <a:xfrm>
            <a:off x="699516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27/04</a:t>
            </a:r>
            <a:endParaRPr lang="en-US" sz="850" dirty="0"/>
          </a:p>
        </p:txBody>
      </p:sp>
      <p:sp>
        <p:nvSpPr>
          <p:cNvPr id="13" name="Text 11"/>
          <p:cNvSpPr/>
          <p:nvPr/>
        </p:nvSpPr>
        <p:spPr>
          <a:xfrm>
            <a:off x="772668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27/05</a:t>
            </a:r>
            <a:endParaRPr lang="en-US" sz="850" dirty="0"/>
          </a:p>
        </p:txBody>
      </p:sp>
      <p:sp>
        <p:nvSpPr>
          <p:cNvPr id="14" name="Text 12"/>
          <p:cNvSpPr/>
          <p:nvPr/>
        </p:nvSpPr>
        <p:spPr>
          <a:xfrm>
            <a:off x="845820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27/06</a:t>
            </a:r>
            <a:endParaRPr lang="en-US" sz="850" dirty="0"/>
          </a:p>
        </p:txBody>
      </p:sp>
      <p:sp>
        <p:nvSpPr>
          <p:cNvPr id="15" name="Text 13"/>
          <p:cNvSpPr/>
          <p:nvPr/>
        </p:nvSpPr>
        <p:spPr>
          <a:xfrm>
            <a:off x="918972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27/07</a:t>
            </a:r>
            <a:endParaRPr lang="en-US" sz="850" dirty="0"/>
          </a:p>
        </p:txBody>
      </p:sp>
      <p:sp>
        <p:nvSpPr>
          <p:cNvPr id="16" name="Text 14"/>
          <p:cNvSpPr/>
          <p:nvPr/>
        </p:nvSpPr>
        <p:spPr>
          <a:xfrm>
            <a:off x="992124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27/08</a:t>
            </a:r>
            <a:endParaRPr lang="en-US" sz="850" dirty="0"/>
          </a:p>
        </p:txBody>
      </p:sp>
      <p:sp>
        <p:nvSpPr>
          <p:cNvPr id="17" name="Text 15"/>
          <p:cNvSpPr/>
          <p:nvPr/>
        </p:nvSpPr>
        <p:spPr>
          <a:xfrm>
            <a:off x="1065276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27/09</a:t>
            </a:r>
            <a:endParaRPr lang="en-US" sz="850" dirty="0"/>
          </a:p>
        </p:txBody>
      </p:sp>
      <p:sp>
        <p:nvSpPr>
          <p:cNvPr id="18" name="Text 16"/>
          <p:cNvSpPr/>
          <p:nvPr/>
        </p:nvSpPr>
        <p:spPr>
          <a:xfrm>
            <a:off x="11384280" y="1481328"/>
            <a:ext cx="868680" cy="384048"/>
          </a:xfrm>
          <a:prstGeom prst="rect">
            <a:avLst/>
          </a:prstGeom>
          <a:noFill/>
          <a:ln/>
        </p:spPr>
        <p:txBody>
          <a:bodyPr wrap="square" lIns="0" tIns="0" rIns="0" bIns="0" rtlCol="0" anchor="ctr"/>
          <a:lstStyle/>
          <a:p>
            <a:pPr algn="ctr" indent="0" marL="0">
              <a:buNone/>
            </a:pPr>
            <a:r>
              <a:rPr lang="en-US" sz="900" b="1" dirty="0">
                <a:solidFill>
                  <a:srgbClr val="FFFFFF"/>
                </a:solidFill>
                <a:latin typeface="メイリオ" pitchFamily="34" charset="0"/>
                <a:ea typeface="メイリオ" pitchFamily="34" charset="-122"/>
                <a:cs typeface="メイリオ" pitchFamily="34" charset="-120"/>
              </a:rPr>
              <a:t>通期</a:t>
            </a:r>
            <a:endParaRPr lang="en-US" sz="900" dirty="0"/>
          </a:p>
        </p:txBody>
      </p:sp>
      <p:sp>
        <p:nvSpPr>
          <p:cNvPr id="19" name="Shape 17"/>
          <p:cNvSpPr/>
          <p:nvPr/>
        </p:nvSpPr>
        <p:spPr>
          <a:xfrm>
            <a:off x="594360" y="1865376"/>
            <a:ext cx="11658600" cy="365760"/>
          </a:xfrm>
          <a:prstGeom prst="rect">
            <a:avLst/>
          </a:prstGeom>
          <a:solidFill>
            <a:srgbClr val="FFFFFF"/>
          </a:solidFill>
          <a:ln w="6350">
            <a:solidFill>
              <a:srgbClr val="E2E0DC"/>
            </a:solidFill>
            <a:prstDash val="solid"/>
          </a:ln>
        </p:spPr>
      </p:sp>
      <p:sp>
        <p:nvSpPr>
          <p:cNvPr id="20" name="Text 18"/>
          <p:cNvSpPr/>
          <p:nvPr/>
        </p:nvSpPr>
        <p:spPr>
          <a:xfrm>
            <a:off x="704088" y="186537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売上高（既存事業）</a:t>
            </a:r>
            <a:endParaRPr lang="en-US" sz="900" dirty="0"/>
          </a:p>
        </p:txBody>
      </p:sp>
      <p:sp>
        <p:nvSpPr>
          <p:cNvPr id="21" name="Text 19"/>
          <p:cNvSpPr/>
          <p:nvPr/>
        </p:nvSpPr>
        <p:spPr>
          <a:xfrm>
            <a:off x="260604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22" name="Text 20"/>
          <p:cNvSpPr/>
          <p:nvPr/>
        </p:nvSpPr>
        <p:spPr>
          <a:xfrm>
            <a:off x="333756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23" name="Text 21"/>
          <p:cNvSpPr/>
          <p:nvPr/>
        </p:nvSpPr>
        <p:spPr>
          <a:xfrm>
            <a:off x="406908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24" name="Text 22"/>
          <p:cNvSpPr/>
          <p:nvPr/>
        </p:nvSpPr>
        <p:spPr>
          <a:xfrm>
            <a:off x="480060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25" name="Text 23"/>
          <p:cNvSpPr/>
          <p:nvPr/>
        </p:nvSpPr>
        <p:spPr>
          <a:xfrm>
            <a:off x="553212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26" name="Text 24"/>
          <p:cNvSpPr/>
          <p:nvPr/>
        </p:nvSpPr>
        <p:spPr>
          <a:xfrm>
            <a:off x="626364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27" name="Text 25"/>
          <p:cNvSpPr/>
          <p:nvPr/>
        </p:nvSpPr>
        <p:spPr>
          <a:xfrm>
            <a:off x="699516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28" name="Text 26"/>
          <p:cNvSpPr/>
          <p:nvPr/>
        </p:nvSpPr>
        <p:spPr>
          <a:xfrm>
            <a:off x="772668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29" name="Text 27"/>
          <p:cNvSpPr/>
          <p:nvPr/>
        </p:nvSpPr>
        <p:spPr>
          <a:xfrm>
            <a:off x="845820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30" name="Text 28"/>
          <p:cNvSpPr/>
          <p:nvPr/>
        </p:nvSpPr>
        <p:spPr>
          <a:xfrm>
            <a:off x="918972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31" name="Text 29"/>
          <p:cNvSpPr/>
          <p:nvPr/>
        </p:nvSpPr>
        <p:spPr>
          <a:xfrm>
            <a:off x="992124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32" name="Text 30"/>
          <p:cNvSpPr/>
          <p:nvPr/>
        </p:nvSpPr>
        <p:spPr>
          <a:xfrm>
            <a:off x="1065276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49.8</a:t>
            </a:r>
            <a:endParaRPr lang="en-US" sz="850" dirty="0"/>
          </a:p>
        </p:txBody>
      </p:sp>
      <p:sp>
        <p:nvSpPr>
          <p:cNvPr id="33" name="Text 31"/>
          <p:cNvSpPr/>
          <p:nvPr/>
        </p:nvSpPr>
        <p:spPr>
          <a:xfrm>
            <a:off x="11384280" y="186537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598.0</a:t>
            </a:r>
            <a:endParaRPr lang="en-US" sz="900" dirty="0"/>
          </a:p>
        </p:txBody>
      </p:sp>
      <p:sp>
        <p:nvSpPr>
          <p:cNvPr id="34" name="Shape 32"/>
          <p:cNvSpPr/>
          <p:nvPr/>
        </p:nvSpPr>
        <p:spPr>
          <a:xfrm>
            <a:off x="594360" y="2231136"/>
            <a:ext cx="11658600" cy="365760"/>
          </a:xfrm>
          <a:prstGeom prst="rect">
            <a:avLst/>
          </a:prstGeom>
          <a:solidFill>
            <a:srgbClr val="FBFAF8"/>
          </a:solidFill>
          <a:ln w="6350">
            <a:solidFill>
              <a:srgbClr val="E2E0DC"/>
            </a:solidFill>
            <a:prstDash val="solid"/>
          </a:ln>
        </p:spPr>
      </p:sp>
      <p:sp>
        <p:nvSpPr>
          <p:cNvPr id="35" name="Text 33"/>
          <p:cNvSpPr/>
          <p:nvPr/>
        </p:nvSpPr>
        <p:spPr>
          <a:xfrm>
            <a:off x="704088" y="223113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売上原価</a:t>
            </a:r>
            <a:endParaRPr lang="en-US" sz="900" dirty="0"/>
          </a:p>
        </p:txBody>
      </p:sp>
      <p:sp>
        <p:nvSpPr>
          <p:cNvPr id="36" name="Text 34"/>
          <p:cNvSpPr/>
          <p:nvPr/>
        </p:nvSpPr>
        <p:spPr>
          <a:xfrm>
            <a:off x="260604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▲27.9</a:t>
            </a:r>
            <a:endParaRPr lang="en-US" sz="850" dirty="0"/>
          </a:p>
        </p:txBody>
      </p:sp>
      <p:sp>
        <p:nvSpPr>
          <p:cNvPr id="37" name="Text 35"/>
          <p:cNvSpPr/>
          <p:nvPr/>
        </p:nvSpPr>
        <p:spPr>
          <a:xfrm>
            <a:off x="333756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▲27.9</a:t>
            </a:r>
            <a:endParaRPr lang="en-US" sz="850" dirty="0"/>
          </a:p>
        </p:txBody>
      </p:sp>
      <p:sp>
        <p:nvSpPr>
          <p:cNvPr id="38" name="Text 36"/>
          <p:cNvSpPr/>
          <p:nvPr/>
        </p:nvSpPr>
        <p:spPr>
          <a:xfrm>
            <a:off x="406908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▲27.9</a:t>
            </a:r>
            <a:endParaRPr lang="en-US" sz="850" dirty="0"/>
          </a:p>
        </p:txBody>
      </p:sp>
      <p:sp>
        <p:nvSpPr>
          <p:cNvPr id="39" name="Text 37"/>
          <p:cNvSpPr/>
          <p:nvPr/>
        </p:nvSpPr>
        <p:spPr>
          <a:xfrm>
            <a:off x="480060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▲27.9</a:t>
            </a:r>
            <a:endParaRPr lang="en-US" sz="850" dirty="0"/>
          </a:p>
        </p:txBody>
      </p:sp>
      <p:sp>
        <p:nvSpPr>
          <p:cNvPr id="40" name="Text 38"/>
          <p:cNvSpPr/>
          <p:nvPr/>
        </p:nvSpPr>
        <p:spPr>
          <a:xfrm>
            <a:off x="553212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▲27.9</a:t>
            </a:r>
            <a:endParaRPr lang="en-US" sz="850" dirty="0"/>
          </a:p>
        </p:txBody>
      </p:sp>
      <p:sp>
        <p:nvSpPr>
          <p:cNvPr id="41" name="Text 39"/>
          <p:cNvSpPr/>
          <p:nvPr/>
        </p:nvSpPr>
        <p:spPr>
          <a:xfrm>
            <a:off x="626364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▲27.9</a:t>
            </a:r>
            <a:endParaRPr lang="en-US" sz="850" dirty="0"/>
          </a:p>
        </p:txBody>
      </p:sp>
      <p:sp>
        <p:nvSpPr>
          <p:cNvPr id="42" name="Text 40"/>
          <p:cNvSpPr/>
          <p:nvPr/>
        </p:nvSpPr>
        <p:spPr>
          <a:xfrm>
            <a:off x="699516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▲27.9</a:t>
            </a:r>
            <a:endParaRPr lang="en-US" sz="850" dirty="0"/>
          </a:p>
        </p:txBody>
      </p:sp>
      <p:sp>
        <p:nvSpPr>
          <p:cNvPr id="43" name="Text 41"/>
          <p:cNvSpPr/>
          <p:nvPr/>
        </p:nvSpPr>
        <p:spPr>
          <a:xfrm>
            <a:off x="772668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▲27.9</a:t>
            </a:r>
            <a:endParaRPr lang="en-US" sz="850" dirty="0"/>
          </a:p>
        </p:txBody>
      </p:sp>
      <p:sp>
        <p:nvSpPr>
          <p:cNvPr id="44" name="Text 42"/>
          <p:cNvSpPr/>
          <p:nvPr/>
        </p:nvSpPr>
        <p:spPr>
          <a:xfrm>
            <a:off x="845820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▲27.9</a:t>
            </a:r>
            <a:endParaRPr lang="en-US" sz="850" dirty="0"/>
          </a:p>
        </p:txBody>
      </p:sp>
      <p:sp>
        <p:nvSpPr>
          <p:cNvPr id="45" name="Text 43"/>
          <p:cNvSpPr/>
          <p:nvPr/>
        </p:nvSpPr>
        <p:spPr>
          <a:xfrm>
            <a:off x="918972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▲27.9</a:t>
            </a:r>
            <a:endParaRPr lang="en-US" sz="850" dirty="0"/>
          </a:p>
        </p:txBody>
      </p:sp>
      <p:sp>
        <p:nvSpPr>
          <p:cNvPr id="46" name="Text 44"/>
          <p:cNvSpPr/>
          <p:nvPr/>
        </p:nvSpPr>
        <p:spPr>
          <a:xfrm>
            <a:off x="992124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▲27.9</a:t>
            </a:r>
            <a:endParaRPr lang="en-US" sz="850" dirty="0"/>
          </a:p>
        </p:txBody>
      </p:sp>
      <p:sp>
        <p:nvSpPr>
          <p:cNvPr id="47" name="Text 45"/>
          <p:cNvSpPr/>
          <p:nvPr/>
        </p:nvSpPr>
        <p:spPr>
          <a:xfrm>
            <a:off x="10652760" y="223113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▲27.9</a:t>
            </a:r>
            <a:endParaRPr lang="en-US" sz="850" dirty="0"/>
          </a:p>
        </p:txBody>
      </p:sp>
      <p:sp>
        <p:nvSpPr>
          <p:cNvPr id="48" name="Text 46"/>
          <p:cNvSpPr/>
          <p:nvPr/>
        </p:nvSpPr>
        <p:spPr>
          <a:xfrm>
            <a:off x="11384280" y="2231136"/>
            <a:ext cx="868680" cy="365760"/>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▲334.8</a:t>
            </a:r>
            <a:endParaRPr lang="en-US" sz="900" dirty="0"/>
          </a:p>
        </p:txBody>
      </p:sp>
      <p:sp>
        <p:nvSpPr>
          <p:cNvPr id="49" name="Shape 47"/>
          <p:cNvSpPr/>
          <p:nvPr/>
        </p:nvSpPr>
        <p:spPr>
          <a:xfrm>
            <a:off x="594360" y="2596896"/>
            <a:ext cx="11658600" cy="365760"/>
          </a:xfrm>
          <a:prstGeom prst="rect">
            <a:avLst/>
          </a:prstGeom>
          <a:solidFill>
            <a:srgbClr val="FFFFFF"/>
          </a:solidFill>
          <a:ln w="6350">
            <a:solidFill>
              <a:srgbClr val="E2E0DC"/>
            </a:solidFill>
            <a:prstDash val="solid"/>
          </a:ln>
        </p:spPr>
      </p:sp>
      <p:sp>
        <p:nvSpPr>
          <p:cNvPr id="50" name="Text 48"/>
          <p:cNvSpPr/>
          <p:nvPr/>
        </p:nvSpPr>
        <p:spPr>
          <a:xfrm>
            <a:off x="704088" y="259689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売上総利益（既存事業）</a:t>
            </a:r>
            <a:endParaRPr lang="en-US" sz="900" dirty="0"/>
          </a:p>
        </p:txBody>
      </p:sp>
      <p:sp>
        <p:nvSpPr>
          <p:cNvPr id="51" name="Text 49"/>
          <p:cNvSpPr/>
          <p:nvPr/>
        </p:nvSpPr>
        <p:spPr>
          <a:xfrm>
            <a:off x="260604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21.9</a:t>
            </a:r>
            <a:endParaRPr lang="en-US" sz="850" dirty="0"/>
          </a:p>
        </p:txBody>
      </p:sp>
      <p:sp>
        <p:nvSpPr>
          <p:cNvPr id="52" name="Text 50"/>
          <p:cNvSpPr/>
          <p:nvPr/>
        </p:nvSpPr>
        <p:spPr>
          <a:xfrm>
            <a:off x="333756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21.9</a:t>
            </a:r>
            <a:endParaRPr lang="en-US" sz="850" dirty="0"/>
          </a:p>
        </p:txBody>
      </p:sp>
      <p:sp>
        <p:nvSpPr>
          <p:cNvPr id="53" name="Text 51"/>
          <p:cNvSpPr/>
          <p:nvPr/>
        </p:nvSpPr>
        <p:spPr>
          <a:xfrm>
            <a:off x="406908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21.9</a:t>
            </a:r>
            <a:endParaRPr lang="en-US" sz="850" dirty="0"/>
          </a:p>
        </p:txBody>
      </p:sp>
      <p:sp>
        <p:nvSpPr>
          <p:cNvPr id="54" name="Text 52"/>
          <p:cNvSpPr/>
          <p:nvPr/>
        </p:nvSpPr>
        <p:spPr>
          <a:xfrm>
            <a:off x="480060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21.9</a:t>
            </a:r>
            <a:endParaRPr lang="en-US" sz="850" dirty="0"/>
          </a:p>
        </p:txBody>
      </p:sp>
      <p:sp>
        <p:nvSpPr>
          <p:cNvPr id="55" name="Text 53"/>
          <p:cNvSpPr/>
          <p:nvPr/>
        </p:nvSpPr>
        <p:spPr>
          <a:xfrm>
            <a:off x="553212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21.9</a:t>
            </a:r>
            <a:endParaRPr lang="en-US" sz="850" dirty="0"/>
          </a:p>
        </p:txBody>
      </p:sp>
      <p:sp>
        <p:nvSpPr>
          <p:cNvPr id="56" name="Text 54"/>
          <p:cNvSpPr/>
          <p:nvPr/>
        </p:nvSpPr>
        <p:spPr>
          <a:xfrm>
            <a:off x="626364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21.9</a:t>
            </a:r>
            <a:endParaRPr lang="en-US" sz="850" dirty="0"/>
          </a:p>
        </p:txBody>
      </p:sp>
      <p:sp>
        <p:nvSpPr>
          <p:cNvPr id="57" name="Text 55"/>
          <p:cNvSpPr/>
          <p:nvPr/>
        </p:nvSpPr>
        <p:spPr>
          <a:xfrm>
            <a:off x="699516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21.9</a:t>
            </a:r>
            <a:endParaRPr lang="en-US" sz="850" dirty="0"/>
          </a:p>
        </p:txBody>
      </p:sp>
      <p:sp>
        <p:nvSpPr>
          <p:cNvPr id="58" name="Text 56"/>
          <p:cNvSpPr/>
          <p:nvPr/>
        </p:nvSpPr>
        <p:spPr>
          <a:xfrm>
            <a:off x="772668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21.9</a:t>
            </a:r>
            <a:endParaRPr lang="en-US" sz="850" dirty="0"/>
          </a:p>
        </p:txBody>
      </p:sp>
      <p:sp>
        <p:nvSpPr>
          <p:cNvPr id="59" name="Text 57"/>
          <p:cNvSpPr/>
          <p:nvPr/>
        </p:nvSpPr>
        <p:spPr>
          <a:xfrm>
            <a:off x="845820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21.9</a:t>
            </a:r>
            <a:endParaRPr lang="en-US" sz="850" dirty="0"/>
          </a:p>
        </p:txBody>
      </p:sp>
      <p:sp>
        <p:nvSpPr>
          <p:cNvPr id="60" name="Text 58"/>
          <p:cNvSpPr/>
          <p:nvPr/>
        </p:nvSpPr>
        <p:spPr>
          <a:xfrm>
            <a:off x="918972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21.9</a:t>
            </a:r>
            <a:endParaRPr lang="en-US" sz="850" dirty="0"/>
          </a:p>
        </p:txBody>
      </p:sp>
      <p:sp>
        <p:nvSpPr>
          <p:cNvPr id="61" name="Text 59"/>
          <p:cNvSpPr/>
          <p:nvPr/>
        </p:nvSpPr>
        <p:spPr>
          <a:xfrm>
            <a:off x="992124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21.9</a:t>
            </a:r>
            <a:endParaRPr lang="en-US" sz="850" dirty="0"/>
          </a:p>
        </p:txBody>
      </p:sp>
      <p:sp>
        <p:nvSpPr>
          <p:cNvPr id="62" name="Text 60"/>
          <p:cNvSpPr/>
          <p:nvPr/>
        </p:nvSpPr>
        <p:spPr>
          <a:xfrm>
            <a:off x="1065276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21.9</a:t>
            </a:r>
            <a:endParaRPr lang="en-US" sz="850" dirty="0"/>
          </a:p>
        </p:txBody>
      </p:sp>
      <p:sp>
        <p:nvSpPr>
          <p:cNvPr id="63" name="Text 61"/>
          <p:cNvSpPr/>
          <p:nvPr/>
        </p:nvSpPr>
        <p:spPr>
          <a:xfrm>
            <a:off x="11384280" y="259689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263.3</a:t>
            </a:r>
            <a:endParaRPr lang="en-US" sz="900" dirty="0"/>
          </a:p>
        </p:txBody>
      </p:sp>
      <p:sp>
        <p:nvSpPr>
          <p:cNvPr id="64" name="Shape 62"/>
          <p:cNvSpPr/>
          <p:nvPr/>
        </p:nvSpPr>
        <p:spPr>
          <a:xfrm>
            <a:off x="594360" y="2962656"/>
            <a:ext cx="11658600" cy="365760"/>
          </a:xfrm>
          <a:prstGeom prst="rect">
            <a:avLst/>
          </a:prstGeom>
          <a:solidFill>
            <a:srgbClr val="FBFAF8"/>
          </a:solidFill>
          <a:ln w="6350">
            <a:solidFill>
              <a:srgbClr val="E2E0DC"/>
            </a:solidFill>
            <a:prstDash val="solid"/>
          </a:ln>
        </p:spPr>
      </p:sp>
      <p:sp>
        <p:nvSpPr>
          <p:cNvPr id="65" name="Text 63"/>
          <p:cNvSpPr/>
          <p:nvPr/>
        </p:nvSpPr>
        <p:spPr>
          <a:xfrm>
            <a:off x="704088" y="296265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＋経営指導料</a:t>
            </a:r>
            <a:endParaRPr lang="en-US" sz="900" dirty="0"/>
          </a:p>
        </p:txBody>
      </p:sp>
      <p:sp>
        <p:nvSpPr>
          <p:cNvPr id="66" name="Text 64"/>
          <p:cNvSpPr/>
          <p:nvPr/>
        </p:nvSpPr>
        <p:spPr>
          <a:xfrm>
            <a:off x="260604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67" name="Text 65"/>
          <p:cNvSpPr/>
          <p:nvPr/>
        </p:nvSpPr>
        <p:spPr>
          <a:xfrm>
            <a:off x="333756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68" name="Text 66"/>
          <p:cNvSpPr/>
          <p:nvPr/>
        </p:nvSpPr>
        <p:spPr>
          <a:xfrm>
            <a:off x="406908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69" name="Text 67"/>
          <p:cNvSpPr/>
          <p:nvPr/>
        </p:nvSpPr>
        <p:spPr>
          <a:xfrm>
            <a:off x="480060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0" name="Text 68"/>
          <p:cNvSpPr/>
          <p:nvPr/>
        </p:nvSpPr>
        <p:spPr>
          <a:xfrm>
            <a:off x="553212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1" name="Text 69"/>
          <p:cNvSpPr/>
          <p:nvPr/>
        </p:nvSpPr>
        <p:spPr>
          <a:xfrm>
            <a:off x="626364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2" name="Text 70"/>
          <p:cNvSpPr/>
          <p:nvPr/>
        </p:nvSpPr>
        <p:spPr>
          <a:xfrm>
            <a:off x="699516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3" name="Text 71"/>
          <p:cNvSpPr/>
          <p:nvPr/>
        </p:nvSpPr>
        <p:spPr>
          <a:xfrm>
            <a:off x="772668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4" name="Text 72"/>
          <p:cNvSpPr/>
          <p:nvPr/>
        </p:nvSpPr>
        <p:spPr>
          <a:xfrm>
            <a:off x="845820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5" name="Text 73"/>
          <p:cNvSpPr/>
          <p:nvPr/>
        </p:nvSpPr>
        <p:spPr>
          <a:xfrm>
            <a:off x="918972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6" name="Text 74"/>
          <p:cNvSpPr/>
          <p:nvPr/>
        </p:nvSpPr>
        <p:spPr>
          <a:xfrm>
            <a:off x="992124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7" name="Text 75"/>
          <p:cNvSpPr/>
          <p:nvPr/>
        </p:nvSpPr>
        <p:spPr>
          <a:xfrm>
            <a:off x="1065276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8" name="Text 76"/>
          <p:cNvSpPr/>
          <p:nvPr/>
        </p:nvSpPr>
        <p:spPr>
          <a:xfrm>
            <a:off x="11384280" y="296265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92.5</a:t>
            </a:r>
            <a:endParaRPr lang="en-US" sz="900" dirty="0"/>
          </a:p>
        </p:txBody>
      </p:sp>
      <p:sp>
        <p:nvSpPr>
          <p:cNvPr id="79" name="Shape 77"/>
          <p:cNvSpPr/>
          <p:nvPr/>
        </p:nvSpPr>
        <p:spPr>
          <a:xfrm>
            <a:off x="594360" y="3328416"/>
            <a:ext cx="11658600" cy="365760"/>
          </a:xfrm>
          <a:prstGeom prst="rect">
            <a:avLst/>
          </a:prstGeom>
          <a:solidFill>
            <a:srgbClr val="FFFFFF"/>
          </a:solidFill>
          <a:ln w="6350">
            <a:solidFill>
              <a:srgbClr val="E2E0DC"/>
            </a:solidFill>
            <a:prstDash val="solid"/>
          </a:ln>
        </p:spPr>
      </p:sp>
      <p:sp>
        <p:nvSpPr>
          <p:cNvPr id="80" name="Text 78"/>
          <p:cNvSpPr/>
          <p:nvPr/>
        </p:nvSpPr>
        <p:spPr>
          <a:xfrm>
            <a:off x="704088" y="332841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＋M&amp;A仲介</a:t>
            </a:r>
            <a:endParaRPr lang="en-US" sz="900" dirty="0"/>
          </a:p>
        </p:txBody>
      </p:sp>
      <p:sp>
        <p:nvSpPr>
          <p:cNvPr id="81" name="Text 79"/>
          <p:cNvSpPr/>
          <p:nvPr/>
        </p:nvSpPr>
        <p:spPr>
          <a:xfrm>
            <a:off x="260604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2" name="Text 80"/>
          <p:cNvSpPr/>
          <p:nvPr/>
        </p:nvSpPr>
        <p:spPr>
          <a:xfrm>
            <a:off x="333756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3" name="Text 81"/>
          <p:cNvSpPr/>
          <p:nvPr/>
        </p:nvSpPr>
        <p:spPr>
          <a:xfrm>
            <a:off x="406908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4" name="Text 82"/>
          <p:cNvSpPr/>
          <p:nvPr/>
        </p:nvSpPr>
        <p:spPr>
          <a:xfrm>
            <a:off x="480060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5" name="Text 83"/>
          <p:cNvSpPr/>
          <p:nvPr/>
        </p:nvSpPr>
        <p:spPr>
          <a:xfrm>
            <a:off x="553212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6" name="Text 84"/>
          <p:cNvSpPr/>
          <p:nvPr/>
        </p:nvSpPr>
        <p:spPr>
          <a:xfrm>
            <a:off x="626364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20.0</a:t>
            </a:r>
            <a:endParaRPr lang="en-US" sz="850" dirty="0"/>
          </a:p>
        </p:txBody>
      </p:sp>
      <p:sp>
        <p:nvSpPr>
          <p:cNvPr id="87" name="Text 85"/>
          <p:cNvSpPr/>
          <p:nvPr/>
        </p:nvSpPr>
        <p:spPr>
          <a:xfrm>
            <a:off x="699516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8" name="Text 86"/>
          <p:cNvSpPr/>
          <p:nvPr/>
        </p:nvSpPr>
        <p:spPr>
          <a:xfrm>
            <a:off x="772668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9" name="Text 87"/>
          <p:cNvSpPr/>
          <p:nvPr/>
        </p:nvSpPr>
        <p:spPr>
          <a:xfrm>
            <a:off x="845820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0" name="Text 88"/>
          <p:cNvSpPr/>
          <p:nvPr/>
        </p:nvSpPr>
        <p:spPr>
          <a:xfrm>
            <a:off x="918972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1" name="Text 89"/>
          <p:cNvSpPr/>
          <p:nvPr/>
        </p:nvSpPr>
        <p:spPr>
          <a:xfrm>
            <a:off x="992124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2" name="Text 90"/>
          <p:cNvSpPr/>
          <p:nvPr/>
        </p:nvSpPr>
        <p:spPr>
          <a:xfrm>
            <a:off x="1065276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3" name="Text 91"/>
          <p:cNvSpPr/>
          <p:nvPr/>
        </p:nvSpPr>
        <p:spPr>
          <a:xfrm>
            <a:off x="11384280" y="332841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20.0</a:t>
            </a:r>
            <a:endParaRPr lang="en-US" sz="900" dirty="0"/>
          </a:p>
        </p:txBody>
      </p:sp>
      <p:sp>
        <p:nvSpPr>
          <p:cNvPr id="94" name="Shape 92"/>
          <p:cNvSpPr/>
          <p:nvPr/>
        </p:nvSpPr>
        <p:spPr>
          <a:xfrm>
            <a:off x="594360" y="3694176"/>
            <a:ext cx="11658600" cy="365760"/>
          </a:xfrm>
          <a:prstGeom prst="rect">
            <a:avLst/>
          </a:prstGeom>
          <a:solidFill>
            <a:srgbClr val="FBFAF8"/>
          </a:solidFill>
          <a:ln w="6350">
            <a:solidFill>
              <a:srgbClr val="E2E0DC"/>
            </a:solidFill>
            <a:prstDash val="solid"/>
          </a:ln>
        </p:spPr>
      </p:sp>
      <p:sp>
        <p:nvSpPr>
          <p:cNvPr id="95" name="Text 93"/>
          <p:cNvSpPr/>
          <p:nvPr/>
        </p:nvSpPr>
        <p:spPr>
          <a:xfrm>
            <a:off x="704088" y="369417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＋新規事業利益（クルーザー）</a:t>
            </a:r>
            <a:endParaRPr lang="en-US" sz="900" dirty="0"/>
          </a:p>
        </p:txBody>
      </p:sp>
      <p:sp>
        <p:nvSpPr>
          <p:cNvPr id="96" name="Text 94"/>
          <p:cNvSpPr/>
          <p:nvPr/>
        </p:nvSpPr>
        <p:spPr>
          <a:xfrm>
            <a:off x="260604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7" name="Text 95"/>
          <p:cNvSpPr/>
          <p:nvPr/>
        </p:nvSpPr>
        <p:spPr>
          <a:xfrm>
            <a:off x="333756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8" name="Text 96"/>
          <p:cNvSpPr/>
          <p:nvPr/>
        </p:nvSpPr>
        <p:spPr>
          <a:xfrm>
            <a:off x="406908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9" name="Text 97"/>
          <p:cNvSpPr/>
          <p:nvPr/>
        </p:nvSpPr>
        <p:spPr>
          <a:xfrm>
            <a:off x="480060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0" name="Text 98"/>
          <p:cNvSpPr/>
          <p:nvPr/>
        </p:nvSpPr>
        <p:spPr>
          <a:xfrm>
            <a:off x="553212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1" name="Text 99"/>
          <p:cNvSpPr/>
          <p:nvPr/>
        </p:nvSpPr>
        <p:spPr>
          <a:xfrm>
            <a:off x="626364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10.0</a:t>
            </a:r>
            <a:endParaRPr lang="en-US" sz="850" dirty="0"/>
          </a:p>
        </p:txBody>
      </p:sp>
      <p:sp>
        <p:nvSpPr>
          <p:cNvPr id="102" name="Text 100"/>
          <p:cNvSpPr/>
          <p:nvPr/>
        </p:nvSpPr>
        <p:spPr>
          <a:xfrm>
            <a:off x="699516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3" name="Text 101"/>
          <p:cNvSpPr/>
          <p:nvPr/>
        </p:nvSpPr>
        <p:spPr>
          <a:xfrm>
            <a:off x="772668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4" name="Text 102"/>
          <p:cNvSpPr/>
          <p:nvPr/>
        </p:nvSpPr>
        <p:spPr>
          <a:xfrm>
            <a:off x="845820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5" name="Text 103"/>
          <p:cNvSpPr/>
          <p:nvPr/>
        </p:nvSpPr>
        <p:spPr>
          <a:xfrm>
            <a:off x="918972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6" name="Text 104"/>
          <p:cNvSpPr/>
          <p:nvPr/>
        </p:nvSpPr>
        <p:spPr>
          <a:xfrm>
            <a:off x="992124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7" name="Text 105"/>
          <p:cNvSpPr/>
          <p:nvPr/>
        </p:nvSpPr>
        <p:spPr>
          <a:xfrm>
            <a:off x="10652760" y="36941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10.0</a:t>
            </a:r>
            <a:endParaRPr lang="en-US" sz="850" dirty="0"/>
          </a:p>
        </p:txBody>
      </p:sp>
      <p:sp>
        <p:nvSpPr>
          <p:cNvPr id="108" name="Text 106"/>
          <p:cNvSpPr/>
          <p:nvPr/>
        </p:nvSpPr>
        <p:spPr>
          <a:xfrm>
            <a:off x="11384280" y="369417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20.0</a:t>
            </a:r>
            <a:endParaRPr lang="en-US" sz="900" dirty="0"/>
          </a:p>
        </p:txBody>
      </p:sp>
      <p:sp>
        <p:nvSpPr>
          <p:cNvPr id="109" name="Shape 107"/>
          <p:cNvSpPr/>
          <p:nvPr/>
        </p:nvSpPr>
        <p:spPr>
          <a:xfrm>
            <a:off x="594360" y="4059936"/>
            <a:ext cx="11658600" cy="365760"/>
          </a:xfrm>
          <a:prstGeom prst="rect">
            <a:avLst/>
          </a:prstGeom>
          <a:solidFill>
            <a:srgbClr val="F5F3EE"/>
          </a:solidFill>
          <a:ln w="6350">
            <a:solidFill>
              <a:srgbClr val="E2E0DC"/>
            </a:solidFill>
            <a:prstDash val="solid"/>
          </a:ln>
        </p:spPr>
      </p:sp>
      <p:sp>
        <p:nvSpPr>
          <p:cNvPr id="110" name="Text 108"/>
          <p:cNvSpPr/>
          <p:nvPr/>
        </p:nvSpPr>
        <p:spPr>
          <a:xfrm>
            <a:off x="704088" y="4059936"/>
            <a:ext cx="2011680" cy="365760"/>
          </a:xfrm>
          <a:prstGeom prst="rect">
            <a:avLst/>
          </a:prstGeom>
          <a:noFill/>
          <a:ln/>
        </p:spPr>
        <p:txBody>
          <a:bodyPr wrap="square" lIns="0" tIns="0" rIns="0" bIns="0" rtlCol="0" anchor="ctr"/>
          <a:lstStyle/>
          <a:p>
            <a:pPr indent="0" marL="0">
              <a:buNone/>
            </a:pPr>
            <a:r>
              <a:rPr lang="en-US" sz="900" b="1" dirty="0">
                <a:solidFill>
                  <a:srgbClr val="1A1A1A"/>
                </a:solidFill>
                <a:latin typeface="メイリオ" pitchFamily="34" charset="0"/>
                <a:ea typeface="メイリオ" pitchFamily="34" charset="-122"/>
                <a:cs typeface="メイリオ" pitchFamily="34" charset="-120"/>
              </a:rPr>
              <a:t>売上総利益 合計</a:t>
            </a:r>
            <a:endParaRPr lang="en-US" sz="900" dirty="0"/>
          </a:p>
        </p:txBody>
      </p:sp>
      <p:sp>
        <p:nvSpPr>
          <p:cNvPr id="111" name="Text 109"/>
          <p:cNvSpPr/>
          <p:nvPr/>
        </p:nvSpPr>
        <p:spPr>
          <a:xfrm>
            <a:off x="260604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29.6</a:t>
            </a:r>
            <a:endParaRPr lang="en-US" sz="850" dirty="0"/>
          </a:p>
        </p:txBody>
      </p:sp>
      <p:sp>
        <p:nvSpPr>
          <p:cNvPr id="112" name="Text 110"/>
          <p:cNvSpPr/>
          <p:nvPr/>
        </p:nvSpPr>
        <p:spPr>
          <a:xfrm>
            <a:off x="333756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29.6</a:t>
            </a:r>
            <a:endParaRPr lang="en-US" sz="850" dirty="0"/>
          </a:p>
        </p:txBody>
      </p:sp>
      <p:sp>
        <p:nvSpPr>
          <p:cNvPr id="113" name="Text 111"/>
          <p:cNvSpPr/>
          <p:nvPr/>
        </p:nvSpPr>
        <p:spPr>
          <a:xfrm>
            <a:off x="406908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29.6</a:t>
            </a:r>
            <a:endParaRPr lang="en-US" sz="850" dirty="0"/>
          </a:p>
        </p:txBody>
      </p:sp>
      <p:sp>
        <p:nvSpPr>
          <p:cNvPr id="114" name="Text 112"/>
          <p:cNvSpPr/>
          <p:nvPr/>
        </p:nvSpPr>
        <p:spPr>
          <a:xfrm>
            <a:off x="480060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29.6</a:t>
            </a:r>
            <a:endParaRPr lang="en-US" sz="850" dirty="0"/>
          </a:p>
        </p:txBody>
      </p:sp>
      <p:sp>
        <p:nvSpPr>
          <p:cNvPr id="115" name="Text 113"/>
          <p:cNvSpPr/>
          <p:nvPr/>
        </p:nvSpPr>
        <p:spPr>
          <a:xfrm>
            <a:off x="553212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29.6</a:t>
            </a:r>
            <a:endParaRPr lang="en-US" sz="850" dirty="0"/>
          </a:p>
        </p:txBody>
      </p:sp>
      <p:sp>
        <p:nvSpPr>
          <p:cNvPr id="116" name="Text 114"/>
          <p:cNvSpPr/>
          <p:nvPr/>
        </p:nvSpPr>
        <p:spPr>
          <a:xfrm>
            <a:off x="626364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59.6</a:t>
            </a:r>
            <a:endParaRPr lang="en-US" sz="850" dirty="0"/>
          </a:p>
        </p:txBody>
      </p:sp>
      <p:sp>
        <p:nvSpPr>
          <p:cNvPr id="117" name="Text 115"/>
          <p:cNvSpPr/>
          <p:nvPr/>
        </p:nvSpPr>
        <p:spPr>
          <a:xfrm>
            <a:off x="699516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29.6</a:t>
            </a:r>
            <a:endParaRPr lang="en-US" sz="850" dirty="0"/>
          </a:p>
        </p:txBody>
      </p:sp>
      <p:sp>
        <p:nvSpPr>
          <p:cNvPr id="118" name="Text 116"/>
          <p:cNvSpPr/>
          <p:nvPr/>
        </p:nvSpPr>
        <p:spPr>
          <a:xfrm>
            <a:off x="772668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29.6</a:t>
            </a:r>
            <a:endParaRPr lang="en-US" sz="850" dirty="0"/>
          </a:p>
        </p:txBody>
      </p:sp>
      <p:sp>
        <p:nvSpPr>
          <p:cNvPr id="119" name="Text 117"/>
          <p:cNvSpPr/>
          <p:nvPr/>
        </p:nvSpPr>
        <p:spPr>
          <a:xfrm>
            <a:off x="845820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29.6</a:t>
            </a:r>
            <a:endParaRPr lang="en-US" sz="850" dirty="0"/>
          </a:p>
        </p:txBody>
      </p:sp>
      <p:sp>
        <p:nvSpPr>
          <p:cNvPr id="120" name="Text 118"/>
          <p:cNvSpPr/>
          <p:nvPr/>
        </p:nvSpPr>
        <p:spPr>
          <a:xfrm>
            <a:off x="918972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29.6</a:t>
            </a:r>
            <a:endParaRPr lang="en-US" sz="850" dirty="0"/>
          </a:p>
        </p:txBody>
      </p:sp>
      <p:sp>
        <p:nvSpPr>
          <p:cNvPr id="121" name="Text 119"/>
          <p:cNvSpPr/>
          <p:nvPr/>
        </p:nvSpPr>
        <p:spPr>
          <a:xfrm>
            <a:off x="992124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29.6</a:t>
            </a:r>
            <a:endParaRPr lang="en-US" sz="850" dirty="0"/>
          </a:p>
        </p:txBody>
      </p:sp>
      <p:sp>
        <p:nvSpPr>
          <p:cNvPr id="122" name="Text 120"/>
          <p:cNvSpPr/>
          <p:nvPr/>
        </p:nvSpPr>
        <p:spPr>
          <a:xfrm>
            <a:off x="10652760" y="405993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39.6</a:t>
            </a:r>
            <a:endParaRPr lang="en-US" sz="850" dirty="0"/>
          </a:p>
        </p:txBody>
      </p:sp>
      <p:sp>
        <p:nvSpPr>
          <p:cNvPr id="123" name="Text 121"/>
          <p:cNvSpPr/>
          <p:nvPr/>
        </p:nvSpPr>
        <p:spPr>
          <a:xfrm>
            <a:off x="11384280" y="405993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395.8</a:t>
            </a:r>
            <a:endParaRPr lang="en-US" sz="900" dirty="0"/>
          </a:p>
        </p:txBody>
      </p:sp>
      <p:sp>
        <p:nvSpPr>
          <p:cNvPr id="124" name="Shape 122"/>
          <p:cNvSpPr/>
          <p:nvPr/>
        </p:nvSpPr>
        <p:spPr>
          <a:xfrm>
            <a:off x="594360" y="4425696"/>
            <a:ext cx="11658600" cy="365760"/>
          </a:xfrm>
          <a:prstGeom prst="rect">
            <a:avLst/>
          </a:prstGeom>
          <a:solidFill>
            <a:srgbClr val="FBFAF8"/>
          </a:solidFill>
          <a:ln w="6350">
            <a:solidFill>
              <a:srgbClr val="E2E0DC"/>
            </a:solidFill>
            <a:prstDash val="solid"/>
          </a:ln>
        </p:spPr>
      </p:sp>
      <p:sp>
        <p:nvSpPr>
          <p:cNvPr id="125" name="Text 123"/>
          <p:cNvSpPr/>
          <p:nvPr/>
        </p:nvSpPr>
        <p:spPr>
          <a:xfrm>
            <a:off x="704088" y="442569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販管費</a:t>
            </a:r>
            <a:endParaRPr lang="en-US" sz="900" dirty="0"/>
          </a:p>
        </p:txBody>
      </p:sp>
      <p:sp>
        <p:nvSpPr>
          <p:cNvPr id="126" name="Text 124"/>
          <p:cNvSpPr/>
          <p:nvPr/>
        </p:nvSpPr>
        <p:spPr>
          <a:xfrm>
            <a:off x="260604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27" name="Text 125"/>
          <p:cNvSpPr/>
          <p:nvPr/>
        </p:nvSpPr>
        <p:spPr>
          <a:xfrm>
            <a:off x="333756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28" name="Text 126"/>
          <p:cNvSpPr/>
          <p:nvPr/>
        </p:nvSpPr>
        <p:spPr>
          <a:xfrm>
            <a:off x="406908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29" name="Text 127"/>
          <p:cNvSpPr/>
          <p:nvPr/>
        </p:nvSpPr>
        <p:spPr>
          <a:xfrm>
            <a:off x="480060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0" name="Text 128"/>
          <p:cNvSpPr/>
          <p:nvPr/>
        </p:nvSpPr>
        <p:spPr>
          <a:xfrm>
            <a:off x="553212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1" name="Text 129"/>
          <p:cNvSpPr/>
          <p:nvPr/>
        </p:nvSpPr>
        <p:spPr>
          <a:xfrm>
            <a:off x="626364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2" name="Text 130"/>
          <p:cNvSpPr/>
          <p:nvPr/>
        </p:nvSpPr>
        <p:spPr>
          <a:xfrm>
            <a:off x="699516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3" name="Text 131"/>
          <p:cNvSpPr/>
          <p:nvPr/>
        </p:nvSpPr>
        <p:spPr>
          <a:xfrm>
            <a:off x="772668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4" name="Text 132"/>
          <p:cNvSpPr/>
          <p:nvPr/>
        </p:nvSpPr>
        <p:spPr>
          <a:xfrm>
            <a:off x="845820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5" name="Text 133"/>
          <p:cNvSpPr/>
          <p:nvPr/>
        </p:nvSpPr>
        <p:spPr>
          <a:xfrm>
            <a:off x="918972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6" name="Text 134"/>
          <p:cNvSpPr/>
          <p:nvPr/>
        </p:nvSpPr>
        <p:spPr>
          <a:xfrm>
            <a:off x="992124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7" name="Text 135"/>
          <p:cNvSpPr/>
          <p:nvPr/>
        </p:nvSpPr>
        <p:spPr>
          <a:xfrm>
            <a:off x="10652760" y="442569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8" name="Text 136"/>
          <p:cNvSpPr/>
          <p:nvPr/>
        </p:nvSpPr>
        <p:spPr>
          <a:xfrm>
            <a:off x="11384280" y="4425696"/>
            <a:ext cx="868680" cy="365760"/>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▲300.2</a:t>
            </a:r>
            <a:endParaRPr lang="en-US" sz="900" dirty="0"/>
          </a:p>
        </p:txBody>
      </p:sp>
      <p:sp>
        <p:nvSpPr>
          <p:cNvPr id="139" name="Shape 137"/>
          <p:cNvSpPr/>
          <p:nvPr/>
        </p:nvSpPr>
        <p:spPr>
          <a:xfrm>
            <a:off x="594360" y="4791456"/>
            <a:ext cx="11658600" cy="365760"/>
          </a:xfrm>
          <a:prstGeom prst="rect">
            <a:avLst/>
          </a:prstGeom>
          <a:solidFill>
            <a:srgbClr val="F5F3EE"/>
          </a:solidFill>
          <a:ln w="6350">
            <a:solidFill>
              <a:srgbClr val="E2E0DC"/>
            </a:solidFill>
            <a:prstDash val="solid"/>
          </a:ln>
        </p:spPr>
      </p:sp>
      <p:sp>
        <p:nvSpPr>
          <p:cNvPr id="140" name="Text 138"/>
          <p:cNvSpPr/>
          <p:nvPr/>
        </p:nvSpPr>
        <p:spPr>
          <a:xfrm>
            <a:off x="704088" y="4791456"/>
            <a:ext cx="2011680" cy="365760"/>
          </a:xfrm>
          <a:prstGeom prst="rect">
            <a:avLst/>
          </a:prstGeom>
          <a:noFill/>
          <a:ln/>
        </p:spPr>
        <p:txBody>
          <a:bodyPr wrap="square" lIns="0" tIns="0" rIns="0" bIns="0" rtlCol="0" anchor="ctr"/>
          <a:lstStyle/>
          <a:p>
            <a:pPr indent="0" marL="0">
              <a:buNone/>
            </a:pPr>
            <a:r>
              <a:rPr lang="en-US" sz="900" b="1" dirty="0">
                <a:solidFill>
                  <a:srgbClr val="1A1A1A"/>
                </a:solidFill>
                <a:latin typeface="メイリオ" pitchFamily="34" charset="0"/>
                <a:ea typeface="メイリオ" pitchFamily="34" charset="-122"/>
                <a:cs typeface="メイリオ" pitchFamily="34" charset="-120"/>
              </a:rPr>
              <a:t>営業利益</a:t>
            </a:r>
            <a:endParaRPr lang="en-US" sz="900" dirty="0"/>
          </a:p>
        </p:txBody>
      </p:sp>
      <p:sp>
        <p:nvSpPr>
          <p:cNvPr id="141" name="Text 139"/>
          <p:cNvSpPr/>
          <p:nvPr/>
        </p:nvSpPr>
        <p:spPr>
          <a:xfrm>
            <a:off x="2606040" y="479145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4.6</a:t>
            </a:r>
            <a:endParaRPr lang="en-US" sz="850" dirty="0"/>
          </a:p>
        </p:txBody>
      </p:sp>
      <p:sp>
        <p:nvSpPr>
          <p:cNvPr id="142" name="Text 140"/>
          <p:cNvSpPr/>
          <p:nvPr/>
        </p:nvSpPr>
        <p:spPr>
          <a:xfrm>
            <a:off x="3337560" y="479145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4.6</a:t>
            </a:r>
            <a:endParaRPr lang="en-US" sz="850" dirty="0"/>
          </a:p>
        </p:txBody>
      </p:sp>
      <p:sp>
        <p:nvSpPr>
          <p:cNvPr id="143" name="Text 141"/>
          <p:cNvSpPr/>
          <p:nvPr/>
        </p:nvSpPr>
        <p:spPr>
          <a:xfrm>
            <a:off x="4069080" y="479145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4.6</a:t>
            </a:r>
            <a:endParaRPr lang="en-US" sz="850" dirty="0"/>
          </a:p>
        </p:txBody>
      </p:sp>
      <p:sp>
        <p:nvSpPr>
          <p:cNvPr id="144" name="Text 142"/>
          <p:cNvSpPr/>
          <p:nvPr/>
        </p:nvSpPr>
        <p:spPr>
          <a:xfrm>
            <a:off x="4800600" y="479145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4.6</a:t>
            </a:r>
            <a:endParaRPr lang="en-US" sz="850" dirty="0"/>
          </a:p>
        </p:txBody>
      </p:sp>
      <p:sp>
        <p:nvSpPr>
          <p:cNvPr id="145" name="Text 143"/>
          <p:cNvSpPr/>
          <p:nvPr/>
        </p:nvSpPr>
        <p:spPr>
          <a:xfrm>
            <a:off x="5532120" y="479145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4.6</a:t>
            </a:r>
            <a:endParaRPr lang="en-US" sz="850" dirty="0"/>
          </a:p>
        </p:txBody>
      </p:sp>
      <p:sp>
        <p:nvSpPr>
          <p:cNvPr id="146" name="Text 144"/>
          <p:cNvSpPr/>
          <p:nvPr/>
        </p:nvSpPr>
        <p:spPr>
          <a:xfrm>
            <a:off x="6263640" y="479145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34.6</a:t>
            </a:r>
            <a:endParaRPr lang="en-US" sz="850" dirty="0"/>
          </a:p>
        </p:txBody>
      </p:sp>
      <p:sp>
        <p:nvSpPr>
          <p:cNvPr id="147" name="Text 145"/>
          <p:cNvSpPr/>
          <p:nvPr/>
        </p:nvSpPr>
        <p:spPr>
          <a:xfrm>
            <a:off x="6995160" y="479145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4.6</a:t>
            </a:r>
            <a:endParaRPr lang="en-US" sz="850" dirty="0"/>
          </a:p>
        </p:txBody>
      </p:sp>
      <p:sp>
        <p:nvSpPr>
          <p:cNvPr id="148" name="Text 146"/>
          <p:cNvSpPr/>
          <p:nvPr/>
        </p:nvSpPr>
        <p:spPr>
          <a:xfrm>
            <a:off x="7726680" y="479145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4.6</a:t>
            </a:r>
            <a:endParaRPr lang="en-US" sz="850" dirty="0"/>
          </a:p>
        </p:txBody>
      </p:sp>
      <p:sp>
        <p:nvSpPr>
          <p:cNvPr id="149" name="Text 147"/>
          <p:cNvSpPr/>
          <p:nvPr/>
        </p:nvSpPr>
        <p:spPr>
          <a:xfrm>
            <a:off x="8458200" y="479145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4.6</a:t>
            </a:r>
            <a:endParaRPr lang="en-US" sz="850" dirty="0"/>
          </a:p>
        </p:txBody>
      </p:sp>
      <p:sp>
        <p:nvSpPr>
          <p:cNvPr id="150" name="Text 148"/>
          <p:cNvSpPr/>
          <p:nvPr/>
        </p:nvSpPr>
        <p:spPr>
          <a:xfrm>
            <a:off x="9189720" y="479145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4.6</a:t>
            </a:r>
            <a:endParaRPr lang="en-US" sz="850" dirty="0"/>
          </a:p>
        </p:txBody>
      </p:sp>
      <p:sp>
        <p:nvSpPr>
          <p:cNvPr id="151" name="Text 149"/>
          <p:cNvSpPr/>
          <p:nvPr/>
        </p:nvSpPr>
        <p:spPr>
          <a:xfrm>
            <a:off x="9921240" y="479145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4.6</a:t>
            </a:r>
            <a:endParaRPr lang="en-US" sz="850" dirty="0"/>
          </a:p>
        </p:txBody>
      </p:sp>
      <p:sp>
        <p:nvSpPr>
          <p:cNvPr id="152" name="Text 150"/>
          <p:cNvSpPr/>
          <p:nvPr/>
        </p:nvSpPr>
        <p:spPr>
          <a:xfrm>
            <a:off x="10652760" y="479145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14.6</a:t>
            </a:r>
            <a:endParaRPr lang="en-US" sz="850" dirty="0"/>
          </a:p>
        </p:txBody>
      </p:sp>
      <p:sp>
        <p:nvSpPr>
          <p:cNvPr id="153" name="Text 151"/>
          <p:cNvSpPr/>
          <p:nvPr/>
        </p:nvSpPr>
        <p:spPr>
          <a:xfrm>
            <a:off x="11384280" y="479145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95.6</a:t>
            </a:r>
            <a:endParaRPr lang="en-US" sz="900" dirty="0"/>
          </a:p>
        </p:txBody>
      </p:sp>
      <p:sp>
        <p:nvSpPr>
          <p:cNvPr id="154" name="Shape 152"/>
          <p:cNvSpPr/>
          <p:nvPr/>
        </p:nvSpPr>
        <p:spPr>
          <a:xfrm>
            <a:off x="594360" y="5157216"/>
            <a:ext cx="11658600" cy="365760"/>
          </a:xfrm>
          <a:prstGeom prst="rect">
            <a:avLst/>
          </a:prstGeom>
          <a:solidFill>
            <a:srgbClr val="FBFAF8"/>
          </a:solidFill>
          <a:ln w="6350">
            <a:solidFill>
              <a:srgbClr val="E2E0DC"/>
            </a:solidFill>
            <a:prstDash val="solid"/>
          </a:ln>
        </p:spPr>
      </p:sp>
      <p:sp>
        <p:nvSpPr>
          <p:cNvPr id="155" name="Text 153"/>
          <p:cNvSpPr/>
          <p:nvPr/>
        </p:nvSpPr>
        <p:spPr>
          <a:xfrm>
            <a:off x="704088" y="515721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営業外費用</a:t>
            </a:r>
            <a:endParaRPr lang="en-US" sz="900" dirty="0"/>
          </a:p>
        </p:txBody>
      </p:sp>
      <p:sp>
        <p:nvSpPr>
          <p:cNvPr id="156" name="Text 154"/>
          <p:cNvSpPr/>
          <p:nvPr/>
        </p:nvSpPr>
        <p:spPr>
          <a:xfrm>
            <a:off x="260604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57" name="Text 155"/>
          <p:cNvSpPr/>
          <p:nvPr/>
        </p:nvSpPr>
        <p:spPr>
          <a:xfrm>
            <a:off x="333756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58" name="Text 156"/>
          <p:cNvSpPr/>
          <p:nvPr/>
        </p:nvSpPr>
        <p:spPr>
          <a:xfrm>
            <a:off x="406908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59" name="Text 157"/>
          <p:cNvSpPr/>
          <p:nvPr/>
        </p:nvSpPr>
        <p:spPr>
          <a:xfrm>
            <a:off x="480060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0" name="Text 158"/>
          <p:cNvSpPr/>
          <p:nvPr/>
        </p:nvSpPr>
        <p:spPr>
          <a:xfrm>
            <a:off x="553212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1" name="Text 159"/>
          <p:cNvSpPr/>
          <p:nvPr/>
        </p:nvSpPr>
        <p:spPr>
          <a:xfrm>
            <a:off x="626364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2" name="Text 160"/>
          <p:cNvSpPr/>
          <p:nvPr/>
        </p:nvSpPr>
        <p:spPr>
          <a:xfrm>
            <a:off x="699516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3" name="Text 161"/>
          <p:cNvSpPr/>
          <p:nvPr/>
        </p:nvSpPr>
        <p:spPr>
          <a:xfrm>
            <a:off x="772668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4" name="Text 162"/>
          <p:cNvSpPr/>
          <p:nvPr/>
        </p:nvSpPr>
        <p:spPr>
          <a:xfrm>
            <a:off x="845820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5" name="Text 163"/>
          <p:cNvSpPr/>
          <p:nvPr/>
        </p:nvSpPr>
        <p:spPr>
          <a:xfrm>
            <a:off x="918972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6" name="Text 164"/>
          <p:cNvSpPr/>
          <p:nvPr/>
        </p:nvSpPr>
        <p:spPr>
          <a:xfrm>
            <a:off x="992124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7" name="Text 165"/>
          <p:cNvSpPr/>
          <p:nvPr/>
        </p:nvSpPr>
        <p:spPr>
          <a:xfrm>
            <a:off x="10652760" y="5157216"/>
            <a:ext cx="731520" cy="365760"/>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8" name="Text 166"/>
          <p:cNvSpPr/>
          <p:nvPr/>
        </p:nvSpPr>
        <p:spPr>
          <a:xfrm>
            <a:off x="11384280" y="5157216"/>
            <a:ext cx="868680" cy="365760"/>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▲15.0</a:t>
            </a:r>
            <a:endParaRPr lang="en-US" sz="900" dirty="0"/>
          </a:p>
        </p:txBody>
      </p:sp>
      <p:sp>
        <p:nvSpPr>
          <p:cNvPr id="169" name="Shape 167"/>
          <p:cNvSpPr/>
          <p:nvPr/>
        </p:nvSpPr>
        <p:spPr>
          <a:xfrm>
            <a:off x="594360" y="5522976"/>
            <a:ext cx="11658600" cy="365760"/>
          </a:xfrm>
          <a:prstGeom prst="rect">
            <a:avLst/>
          </a:prstGeom>
          <a:solidFill>
            <a:srgbClr val="FAF3E2"/>
          </a:solidFill>
          <a:ln w="6350">
            <a:solidFill>
              <a:srgbClr val="E2E0DC"/>
            </a:solidFill>
            <a:prstDash val="solid"/>
          </a:ln>
        </p:spPr>
      </p:sp>
      <p:sp>
        <p:nvSpPr>
          <p:cNvPr id="170" name="Text 168"/>
          <p:cNvSpPr/>
          <p:nvPr/>
        </p:nvSpPr>
        <p:spPr>
          <a:xfrm>
            <a:off x="704088" y="5522976"/>
            <a:ext cx="2011680" cy="365760"/>
          </a:xfrm>
          <a:prstGeom prst="rect">
            <a:avLst/>
          </a:prstGeom>
          <a:noFill/>
          <a:ln/>
        </p:spPr>
        <p:txBody>
          <a:bodyPr wrap="square" lIns="0" tIns="0" rIns="0" bIns="0" rtlCol="0" anchor="ctr"/>
          <a:lstStyle/>
          <a:p>
            <a:pPr indent="0" marL="0">
              <a:buNone/>
            </a:pPr>
            <a:r>
              <a:rPr lang="en-US" sz="900" b="1" dirty="0">
                <a:solidFill>
                  <a:srgbClr val="1A1A1A"/>
                </a:solidFill>
                <a:latin typeface="メイリオ" pitchFamily="34" charset="0"/>
                <a:ea typeface="メイリオ" pitchFamily="34" charset="-122"/>
                <a:cs typeface="メイリオ" pitchFamily="34" charset="-120"/>
              </a:rPr>
              <a:t>経常利益</a:t>
            </a:r>
            <a:endParaRPr lang="en-US" sz="900" dirty="0"/>
          </a:p>
        </p:txBody>
      </p:sp>
      <p:sp>
        <p:nvSpPr>
          <p:cNvPr id="171" name="Text 169"/>
          <p:cNvSpPr/>
          <p:nvPr/>
        </p:nvSpPr>
        <p:spPr>
          <a:xfrm>
            <a:off x="2606040" y="55229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a:t>
            </a:r>
            <a:endParaRPr lang="en-US" sz="850" dirty="0"/>
          </a:p>
        </p:txBody>
      </p:sp>
      <p:sp>
        <p:nvSpPr>
          <p:cNvPr id="172" name="Text 170"/>
          <p:cNvSpPr/>
          <p:nvPr/>
        </p:nvSpPr>
        <p:spPr>
          <a:xfrm>
            <a:off x="3337560" y="55229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a:t>
            </a:r>
            <a:endParaRPr lang="en-US" sz="850" dirty="0"/>
          </a:p>
        </p:txBody>
      </p:sp>
      <p:sp>
        <p:nvSpPr>
          <p:cNvPr id="173" name="Text 171"/>
          <p:cNvSpPr/>
          <p:nvPr/>
        </p:nvSpPr>
        <p:spPr>
          <a:xfrm>
            <a:off x="4069080" y="55229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a:t>
            </a:r>
            <a:endParaRPr lang="en-US" sz="850" dirty="0"/>
          </a:p>
        </p:txBody>
      </p:sp>
      <p:sp>
        <p:nvSpPr>
          <p:cNvPr id="174" name="Text 172"/>
          <p:cNvSpPr/>
          <p:nvPr/>
        </p:nvSpPr>
        <p:spPr>
          <a:xfrm>
            <a:off x="4800600" y="55229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a:t>
            </a:r>
            <a:endParaRPr lang="en-US" sz="850" dirty="0"/>
          </a:p>
        </p:txBody>
      </p:sp>
      <p:sp>
        <p:nvSpPr>
          <p:cNvPr id="175" name="Text 173"/>
          <p:cNvSpPr/>
          <p:nvPr/>
        </p:nvSpPr>
        <p:spPr>
          <a:xfrm>
            <a:off x="5532120" y="55229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a:t>
            </a:r>
            <a:endParaRPr lang="en-US" sz="850" dirty="0"/>
          </a:p>
        </p:txBody>
      </p:sp>
      <p:sp>
        <p:nvSpPr>
          <p:cNvPr id="176" name="Text 174"/>
          <p:cNvSpPr/>
          <p:nvPr/>
        </p:nvSpPr>
        <p:spPr>
          <a:xfrm>
            <a:off x="6263640" y="55229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33.4</a:t>
            </a:r>
            <a:endParaRPr lang="en-US" sz="850" dirty="0"/>
          </a:p>
        </p:txBody>
      </p:sp>
      <p:sp>
        <p:nvSpPr>
          <p:cNvPr id="177" name="Text 175"/>
          <p:cNvSpPr/>
          <p:nvPr/>
        </p:nvSpPr>
        <p:spPr>
          <a:xfrm>
            <a:off x="6995160" y="55229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a:t>
            </a:r>
            <a:endParaRPr lang="en-US" sz="850" dirty="0"/>
          </a:p>
        </p:txBody>
      </p:sp>
      <p:sp>
        <p:nvSpPr>
          <p:cNvPr id="178" name="Text 176"/>
          <p:cNvSpPr/>
          <p:nvPr/>
        </p:nvSpPr>
        <p:spPr>
          <a:xfrm>
            <a:off x="7726680" y="55229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a:t>
            </a:r>
            <a:endParaRPr lang="en-US" sz="850" dirty="0"/>
          </a:p>
        </p:txBody>
      </p:sp>
      <p:sp>
        <p:nvSpPr>
          <p:cNvPr id="179" name="Text 177"/>
          <p:cNvSpPr/>
          <p:nvPr/>
        </p:nvSpPr>
        <p:spPr>
          <a:xfrm>
            <a:off x="8458200" y="55229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a:t>
            </a:r>
            <a:endParaRPr lang="en-US" sz="850" dirty="0"/>
          </a:p>
        </p:txBody>
      </p:sp>
      <p:sp>
        <p:nvSpPr>
          <p:cNvPr id="180" name="Text 178"/>
          <p:cNvSpPr/>
          <p:nvPr/>
        </p:nvSpPr>
        <p:spPr>
          <a:xfrm>
            <a:off x="9189720" y="55229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a:t>
            </a:r>
            <a:endParaRPr lang="en-US" sz="850" dirty="0"/>
          </a:p>
        </p:txBody>
      </p:sp>
      <p:sp>
        <p:nvSpPr>
          <p:cNvPr id="181" name="Text 179"/>
          <p:cNvSpPr/>
          <p:nvPr/>
        </p:nvSpPr>
        <p:spPr>
          <a:xfrm>
            <a:off x="9921240" y="55229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a:t>
            </a:r>
            <a:endParaRPr lang="en-US" sz="850" dirty="0"/>
          </a:p>
        </p:txBody>
      </p:sp>
      <p:sp>
        <p:nvSpPr>
          <p:cNvPr id="182" name="Text 180"/>
          <p:cNvSpPr/>
          <p:nvPr/>
        </p:nvSpPr>
        <p:spPr>
          <a:xfrm>
            <a:off x="10652760" y="55229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13.4</a:t>
            </a:r>
            <a:endParaRPr lang="en-US" sz="850" dirty="0"/>
          </a:p>
        </p:txBody>
      </p:sp>
      <p:sp>
        <p:nvSpPr>
          <p:cNvPr id="183" name="Text 181"/>
          <p:cNvSpPr/>
          <p:nvPr/>
        </p:nvSpPr>
        <p:spPr>
          <a:xfrm>
            <a:off x="11384280" y="552297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80.6</a:t>
            </a:r>
            <a:endParaRPr lang="en-US" sz="900" dirty="0"/>
          </a:p>
        </p:txBody>
      </p:sp>
      <p:sp>
        <p:nvSpPr>
          <p:cNvPr id="184" name="Shape 182"/>
          <p:cNvSpPr/>
          <p:nvPr/>
        </p:nvSpPr>
        <p:spPr>
          <a:xfrm>
            <a:off x="594360" y="6108192"/>
            <a:ext cx="10963656" cy="841248"/>
          </a:xfrm>
          <a:prstGeom prst="roundRect">
            <a:avLst>
              <a:gd name="adj" fmla="val 5435"/>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85" name="Text 183"/>
          <p:cNvSpPr/>
          <p:nvPr/>
        </p:nvSpPr>
        <p:spPr>
          <a:xfrm>
            <a:off x="914400" y="6181344"/>
            <a:ext cx="3291840" cy="237744"/>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売上高 合計（上乗せ含む）</a:t>
            </a:r>
            <a:endParaRPr lang="en-US" sz="950" dirty="0"/>
          </a:p>
        </p:txBody>
      </p:sp>
      <p:sp>
        <p:nvSpPr>
          <p:cNvPr id="186" name="Text 184"/>
          <p:cNvSpPr/>
          <p:nvPr/>
        </p:nvSpPr>
        <p:spPr>
          <a:xfrm>
            <a:off x="914400" y="6382512"/>
            <a:ext cx="3291840" cy="310896"/>
          </a:xfrm>
          <a:prstGeom prst="rect">
            <a:avLst/>
          </a:prstGeom>
          <a:noFill/>
          <a:ln/>
        </p:spPr>
        <p:txBody>
          <a:bodyPr wrap="square" lIns="0" tIns="0" rIns="0" bIns="0" rtlCol="0" anchor="ctr"/>
          <a:lstStyle/>
          <a:p>
            <a:pPr indent="0" marL="0">
              <a:buNone/>
            </a:pPr>
            <a:r>
              <a:rPr lang="en-US" sz="1600" b="1" dirty="0">
                <a:solidFill>
                  <a:srgbClr val="1A1A1A"/>
                </a:solidFill>
                <a:latin typeface="メイリオ" pitchFamily="34" charset="0"/>
                <a:ea typeface="メイリオ" pitchFamily="34" charset="-122"/>
                <a:cs typeface="メイリオ" pitchFamily="34" charset="-120"/>
              </a:rPr>
              <a:t>730.5百万円</a:t>
            </a:r>
            <a:endParaRPr lang="en-US" sz="1600" dirty="0"/>
          </a:p>
        </p:txBody>
      </p:sp>
      <p:sp>
        <p:nvSpPr>
          <p:cNvPr id="187" name="Text 185"/>
          <p:cNvSpPr/>
          <p:nvPr/>
        </p:nvSpPr>
        <p:spPr>
          <a:xfrm>
            <a:off x="4526280" y="6181344"/>
            <a:ext cx="3291840" cy="237744"/>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通期 営業利益</a:t>
            </a:r>
            <a:endParaRPr lang="en-US" sz="950" dirty="0"/>
          </a:p>
        </p:txBody>
      </p:sp>
      <p:sp>
        <p:nvSpPr>
          <p:cNvPr id="188" name="Text 186"/>
          <p:cNvSpPr/>
          <p:nvPr/>
        </p:nvSpPr>
        <p:spPr>
          <a:xfrm>
            <a:off x="4526280" y="6382512"/>
            <a:ext cx="3291840" cy="310896"/>
          </a:xfrm>
          <a:prstGeom prst="rect">
            <a:avLst/>
          </a:prstGeom>
          <a:noFill/>
          <a:ln/>
        </p:spPr>
        <p:txBody>
          <a:bodyPr wrap="square" lIns="0" tIns="0" rIns="0" bIns="0" rtlCol="0" anchor="ctr"/>
          <a:lstStyle/>
          <a:p>
            <a:pPr indent="0" marL="0">
              <a:buNone/>
            </a:pPr>
            <a:r>
              <a:rPr lang="en-US" sz="1600" b="1" dirty="0">
                <a:solidFill>
                  <a:srgbClr val="1A1A1A"/>
                </a:solidFill>
                <a:latin typeface="メイリオ" pitchFamily="34" charset="0"/>
                <a:ea typeface="メイリオ" pitchFamily="34" charset="-122"/>
                <a:cs typeface="メイリオ" pitchFamily="34" charset="-120"/>
              </a:rPr>
              <a:t>＋95.6百万円</a:t>
            </a:r>
            <a:endParaRPr lang="en-US" sz="1600" dirty="0"/>
          </a:p>
        </p:txBody>
      </p:sp>
      <p:sp>
        <p:nvSpPr>
          <p:cNvPr id="189" name="Text 187"/>
          <p:cNvSpPr/>
          <p:nvPr/>
        </p:nvSpPr>
        <p:spPr>
          <a:xfrm>
            <a:off x="8138160" y="6181344"/>
            <a:ext cx="3291840" cy="237744"/>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通期 経常利益</a:t>
            </a:r>
            <a:endParaRPr lang="en-US" sz="950" dirty="0"/>
          </a:p>
        </p:txBody>
      </p:sp>
      <p:sp>
        <p:nvSpPr>
          <p:cNvPr id="190" name="Text 188"/>
          <p:cNvSpPr/>
          <p:nvPr/>
        </p:nvSpPr>
        <p:spPr>
          <a:xfrm>
            <a:off x="8138160" y="6382512"/>
            <a:ext cx="3291840" cy="310896"/>
          </a:xfrm>
          <a:prstGeom prst="rect">
            <a:avLst/>
          </a:prstGeom>
          <a:noFill/>
          <a:ln/>
        </p:spPr>
        <p:txBody>
          <a:bodyPr wrap="square" lIns="0" tIns="0" rIns="0" bIns="0" rtlCol="0" anchor="ctr"/>
          <a:lstStyle/>
          <a:p>
            <a:pPr indent="0" marL="0">
              <a:buNone/>
            </a:pPr>
            <a:r>
              <a:rPr lang="en-US" sz="1600" b="1" dirty="0">
                <a:solidFill>
                  <a:srgbClr val="1A1A1A"/>
                </a:solidFill>
                <a:latin typeface="メイリオ" pitchFamily="34" charset="0"/>
                <a:ea typeface="メイリオ" pitchFamily="34" charset="-122"/>
                <a:cs typeface="メイリオ" pitchFamily="34" charset="-120"/>
              </a:rPr>
              <a:t>＋80.6百万円</a:t>
            </a:r>
            <a:endParaRPr lang="en-US" sz="1600" dirty="0"/>
          </a:p>
        </p:txBody>
      </p:sp>
      <p:sp>
        <p:nvSpPr>
          <p:cNvPr id="191" name="Text 189"/>
          <p:cNvSpPr/>
          <p:nvPr/>
        </p:nvSpPr>
        <p:spPr>
          <a:xfrm>
            <a:off x="914400" y="6693408"/>
            <a:ext cx="10332720" cy="219456"/>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経営指導料は12か月按分。M&amp;A仲介は2027/03、新規クルーザー事業は2027/03と2027/09に各10百万円を計上。</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FY2027 月次資金繰り － プランC</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ワイン仕入419.1百万円を維持したまま、期中に一度も現預金がマイナスになりません。単位：百万円（税込）</a:t>
            </a:r>
            <a:endParaRPr lang="en-US" sz="1250" dirty="0"/>
          </a:p>
        </p:txBody>
      </p:sp>
      <p:sp>
        <p:nvSpPr>
          <p:cNvPr id="4" name="Shape 2"/>
          <p:cNvSpPr/>
          <p:nvPr/>
        </p:nvSpPr>
        <p:spPr>
          <a:xfrm>
            <a:off x="594360" y="1517904"/>
            <a:ext cx="11430000" cy="384048"/>
          </a:xfrm>
          <a:prstGeom prst="rect">
            <a:avLst/>
          </a:prstGeom>
          <a:solidFill>
            <a:srgbClr val="1A1A1A"/>
          </a:solidFill>
          <a:ln/>
        </p:spPr>
      </p:sp>
      <p:sp>
        <p:nvSpPr>
          <p:cNvPr id="5" name="Text 3"/>
          <p:cNvSpPr/>
          <p:nvPr/>
        </p:nvSpPr>
        <p:spPr>
          <a:xfrm>
            <a:off x="704088" y="1517904"/>
            <a:ext cx="2103120" cy="384048"/>
          </a:xfrm>
          <a:prstGeom prst="rect">
            <a:avLst/>
          </a:prstGeom>
          <a:noFill/>
          <a:ln/>
        </p:spPr>
        <p:txBody>
          <a:bodyPr wrap="square" lIns="0" tIns="0" rIns="0" bIns="0" rtlCol="0" anchor="ctr"/>
          <a:lstStyle/>
          <a:p>
            <a:pPr indent="0" marL="0">
              <a:buNone/>
            </a:pPr>
            <a:r>
              <a:rPr lang="en-US" sz="950" b="1" dirty="0">
                <a:solidFill>
                  <a:srgbClr val="FFFFFF"/>
                </a:solidFill>
                <a:latin typeface="メイリオ" pitchFamily="34" charset="0"/>
                <a:ea typeface="メイリオ" pitchFamily="34" charset="-122"/>
                <a:cs typeface="メイリオ" pitchFamily="34" charset="-120"/>
              </a:rPr>
              <a:t>科目</a:t>
            </a:r>
            <a:endParaRPr lang="en-US" sz="950" dirty="0"/>
          </a:p>
        </p:txBody>
      </p:sp>
      <p:sp>
        <p:nvSpPr>
          <p:cNvPr id="6" name="Text 4"/>
          <p:cNvSpPr/>
          <p:nvPr/>
        </p:nvSpPr>
        <p:spPr>
          <a:xfrm>
            <a:off x="269748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26/10</a:t>
            </a:r>
            <a:endParaRPr lang="en-US" sz="850" dirty="0"/>
          </a:p>
        </p:txBody>
      </p:sp>
      <p:sp>
        <p:nvSpPr>
          <p:cNvPr id="7" name="Text 5"/>
          <p:cNvSpPr/>
          <p:nvPr/>
        </p:nvSpPr>
        <p:spPr>
          <a:xfrm>
            <a:off x="347472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26/11</a:t>
            </a:r>
            <a:endParaRPr lang="en-US" sz="850" dirty="0"/>
          </a:p>
        </p:txBody>
      </p:sp>
      <p:sp>
        <p:nvSpPr>
          <p:cNvPr id="8" name="Text 6"/>
          <p:cNvSpPr/>
          <p:nvPr/>
        </p:nvSpPr>
        <p:spPr>
          <a:xfrm>
            <a:off x="425196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26/12</a:t>
            </a:r>
            <a:endParaRPr lang="en-US" sz="850" dirty="0"/>
          </a:p>
        </p:txBody>
      </p:sp>
      <p:sp>
        <p:nvSpPr>
          <p:cNvPr id="9" name="Text 7"/>
          <p:cNvSpPr/>
          <p:nvPr/>
        </p:nvSpPr>
        <p:spPr>
          <a:xfrm>
            <a:off x="502920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27/01</a:t>
            </a:r>
            <a:endParaRPr lang="en-US" sz="850" dirty="0"/>
          </a:p>
        </p:txBody>
      </p:sp>
      <p:sp>
        <p:nvSpPr>
          <p:cNvPr id="10" name="Text 8"/>
          <p:cNvSpPr/>
          <p:nvPr/>
        </p:nvSpPr>
        <p:spPr>
          <a:xfrm>
            <a:off x="580644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27/02</a:t>
            </a:r>
            <a:endParaRPr lang="en-US" sz="850" dirty="0"/>
          </a:p>
        </p:txBody>
      </p:sp>
      <p:sp>
        <p:nvSpPr>
          <p:cNvPr id="11" name="Text 9"/>
          <p:cNvSpPr/>
          <p:nvPr/>
        </p:nvSpPr>
        <p:spPr>
          <a:xfrm>
            <a:off x="658368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27/03</a:t>
            </a:r>
            <a:endParaRPr lang="en-US" sz="850" dirty="0"/>
          </a:p>
        </p:txBody>
      </p:sp>
      <p:sp>
        <p:nvSpPr>
          <p:cNvPr id="12" name="Text 10"/>
          <p:cNvSpPr/>
          <p:nvPr/>
        </p:nvSpPr>
        <p:spPr>
          <a:xfrm>
            <a:off x="736092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27/04</a:t>
            </a:r>
            <a:endParaRPr lang="en-US" sz="850" dirty="0"/>
          </a:p>
        </p:txBody>
      </p:sp>
      <p:sp>
        <p:nvSpPr>
          <p:cNvPr id="13" name="Text 11"/>
          <p:cNvSpPr/>
          <p:nvPr/>
        </p:nvSpPr>
        <p:spPr>
          <a:xfrm>
            <a:off x="813816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27/05</a:t>
            </a:r>
            <a:endParaRPr lang="en-US" sz="850" dirty="0"/>
          </a:p>
        </p:txBody>
      </p:sp>
      <p:sp>
        <p:nvSpPr>
          <p:cNvPr id="14" name="Text 12"/>
          <p:cNvSpPr/>
          <p:nvPr/>
        </p:nvSpPr>
        <p:spPr>
          <a:xfrm>
            <a:off x="891540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27/06</a:t>
            </a:r>
            <a:endParaRPr lang="en-US" sz="850" dirty="0"/>
          </a:p>
        </p:txBody>
      </p:sp>
      <p:sp>
        <p:nvSpPr>
          <p:cNvPr id="15" name="Text 13"/>
          <p:cNvSpPr/>
          <p:nvPr/>
        </p:nvSpPr>
        <p:spPr>
          <a:xfrm>
            <a:off x="969264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27/07</a:t>
            </a:r>
            <a:endParaRPr lang="en-US" sz="850" dirty="0"/>
          </a:p>
        </p:txBody>
      </p:sp>
      <p:sp>
        <p:nvSpPr>
          <p:cNvPr id="16" name="Text 14"/>
          <p:cNvSpPr/>
          <p:nvPr/>
        </p:nvSpPr>
        <p:spPr>
          <a:xfrm>
            <a:off x="1046988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27/08</a:t>
            </a:r>
            <a:endParaRPr lang="en-US" sz="850" dirty="0"/>
          </a:p>
        </p:txBody>
      </p:sp>
      <p:sp>
        <p:nvSpPr>
          <p:cNvPr id="17" name="Text 15"/>
          <p:cNvSpPr/>
          <p:nvPr/>
        </p:nvSpPr>
        <p:spPr>
          <a:xfrm>
            <a:off x="1124712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27/09</a:t>
            </a:r>
            <a:endParaRPr lang="en-US" sz="850" dirty="0"/>
          </a:p>
        </p:txBody>
      </p:sp>
      <p:sp>
        <p:nvSpPr>
          <p:cNvPr id="18" name="Shape 16"/>
          <p:cNvSpPr/>
          <p:nvPr/>
        </p:nvSpPr>
        <p:spPr>
          <a:xfrm>
            <a:off x="594360" y="1901952"/>
            <a:ext cx="11430000" cy="438912"/>
          </a:xfrm>
          <a:prstGeom prst="rect">
            <a:avLst/>
          </a:prstGeom>
          <a:solidFill>
            <a:srgbClr val="FFFFFF"/>
          </a:solidFill>
          <a:ln w="6350">
            <a:solidFill>
              <a:srgbClr val="E2E0DC"/>
            </a:solidFill>
            <a:prstDash val="solid"/>
          </a:ln>
        </p:spPr>
      </p:sp>
      <p:sp>
        <p:nvSpPr>
          <p:cNvPr id="19" name="Text 17"/>
          <p:cNvSpPr/>
          <p:nvPr/>
        </p:nvSpPr>
        <p:spPr>
          <a:xfrm>
            <a:off x="704088" y="1901952"/>
            <a:ext cx="2103120" cy="438912"/>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営業収入 計</a:t>
            </a:r>
            <a:endParaRPr lang="en-US" sz="950" dirty="0"/>
          </a:p>
        </p:txBody>
      </p:sp>
      <p:sp>
        <p:nvSpPr>
          <p:cNvPr id="20" name="Text 18"/>
          <p:cNvSpPr/>
          <p:nvPr/>
        </p:nvSpPr>
        <p:spPr>
          <a:xfrm>
            <a:off x="269748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21" name="Text 19"/>
          <p:cNvSpPr/>
          <p:nvPr/>
        </p:nvSpPr>
        <p:spPr>
          <a:xfrm>
            <a:off x="347472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22" name="Text 20"/>
          <p:cNvSpPr/>
          <p:nvPr/>
        </p:nvSpPr>
        <p:spPr>
          <a:xfrm>
            <a:off x="425196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23" name="Text 21"/>
          <p:cNvSpPr/>
          <p:nvPr/>
        </p:nvSpPr>
        <p:spPr>
          <a:xfrm>
            <a:off x="502920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24" name="Text 22"/>
          <p:cNvSpPr/>
          <p:nvPr/>
        </p:nvSpPr>
        <p:spPr>
          <a:xfrm>
            <a:off x="580644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25" name="Text 23"/>
          <p:cNvSpPr/>
          <p:nvPr/>
        </p:nvSpPr>
        <p:spPr>
          <a:xfrm>
            <a:off x="658368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96.3</a:t>
            </a:r>
            <a:endParaRPr lang="en-US" sz="900" dirty="0"/>
          </a:p>
        </p:txBody>
      </p:sp>
      <p:sp>
        <p:nvSpPr>
          <p:cNvPr id="26" name="Text 24"/>
          <p:cNvSpPr/>
          <p:nvPr/>
        </p:nvSpPr>
        <p:spPr>
          <a:xfrm>
            <a:off x="736092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27" name="Text 25"/>
          <p:cNvSpPr/>
          <p:nvPr/>
        </p:nvSpPr>
        <p:spPr>
          <a:xfrm>
            <a:off x="813816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28" name="Text 26"/>
          <p:cNvSpPr/>
          <p:nvPr/>
        </p:nvSpPr>
        <p:spPr>
          <a:xfrm>
            <a:off x="891540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29" name="Text 27"/>
          <p:cNvSpPr/>
          <p:nvPr/>
        </p:nvSpPr>
        <p:spPr>
          <a:xfrm>
            <a:off x="969264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30" name="Text 28"/>
          <p:cNvSpPr/>
          <p:nvPr/>
        </p:nvSpPr>
        <p:spPr>
          <a:xfrm>
            <a:off x="1046988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63.3</a:t>
            </a:r>
            <a:endParaRPr lang="en-US" sz="900" dirty="0"/>
          </a:p>
        </p:txBody>
      </p:sp>
      <p:sp>
        <p:nvSpPr>
          <p:cNvPr id="31" name="Text 29"/>
          <p:cNvSpPr/>
          <p:nvPr/>
        </p:nvSpPr>
        <p:spPr>
          <a:xfrm>
            <a:off x="1124712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74.3</a:t>
            </a:r>
            <a:endParaRPr lang="en-US" sz="900" dirty="0"/>
          </a:p>
        </p:txBody>
      </p:sp>
      <p:sp>
        <p:nvSpPr>
          <p:cNvPr id="32" name="Shape 30"/>
          <p:cNvSpPr/>
          <p:nvPr/>
        </p:nvSpPr>
        <p:spPr>
          <a:xfrm>
            <a:off x="594360" y="2340864"/>
            <a:ext cx="11430000" cy="438912"/>
          </a:xfrm>
          <a:prstGeom prst="rect">
            <a:avLst/>
          </a:prstGeom>
          <a:solidFill>
            <a:srgbClr val="FBFAF8"/>
          </a:solidFill>
          <a:ln w="6350">
            <a:solidFill>
              <a:srgbClr val="E2E0DC"/>
            </a:solidFill>
            <a:prstDash val="solid"/>
          </a:ln>
        </p:spPr>
      </p:sp>
      <p:sp>
        <p:nvSpPr>
          <p:cNvPr id="33" name="Text 31"/>
          <p:cNvSpPr/>
          <p:nvPr/>
        </p:nvSpPr>
        <p:spPr>
          <a:xfrm>
            <a:off x="704088" y="2340864"/>
            <a:ext cx="2103120" cy="438912"/>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営業支出 計</a:t>
            </a:r>
            <a:endParaRPr lang="en-US" sz="950" dirty="0"/>
          </a:p>
        </p:txBody>
      </p:sp>
      <p:sp>
        <p:nvSpPr>
          <p:cNvPr id="34" name="Text 32"/>
          <p:cNvSpPr/>
          <p:nvPr/>
        </p:nvSpPr>
        <p:spPr>
          <a:xfrm>
            <a:off x="269748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35" name="Text 33"/>
          <p:cNvSpPr/>
          <p:nvPr/>
        </p:nvSpPr>
        <p:spPr>
          <a:xfrm>
            <a:off x="347472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66.5</a:t>
            </a:r>
            <a:endParaRPr lang="en-US" sz="900" dirty="0"/>
          </a:p>
        </p:txBody>
      </p:sp>
      <p:sp>
        <p:nvSpPr>
          <p:cNvPr id="36" name="Text 34"/>
          <p:cNvSpPr/>
          <p:nvPr/>
        </p:nvSpPr>
        <p:spPr>
          <a:xfrm>
            <a:off x="425196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37" name="Text 35"/>
          <p:cNvSpPr/>
          <p:nvPr/>
        </p:nvSpPr>
        <p:spPr>
          <a:xfrm>
            <a:off x="502920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38" name="Text 36"/>
          <p:cNvSpPr/>
          <p:nvPr/>
        </p:nvSpPr>
        <p:spPr>
          <a:xfrm>
            <a:off x="580644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64.5</a:t>
            </a:r>
            <a:endParaRPr lang="en-US" sz="900" dirty="0"/>
          </a:p>
        </p:txBody>
      </p:sp>
      <p:sp>
        <p:nvSpPr>
          <p:cNvPr id="39" name="Text 37"/>
          <p:cNvSpPr/>
          <p:nvPr/>
        </p:nvSpPr>
        <p:spPr>
          <a:xfrm>
            <a:off x="658368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0" name="Text 38"/>
          <p:cNvSpPr/>
          <p:nvPr/>
        </p:nvSpPr>
        <p:spPr>
          <a:xfrm>
            <a:off x="736092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1" name="Text 39"/>
          <p:cNvSpPr/>
          <p:nvPr/>
        </p:nvSpPr>
        <p:spPr>
          <a:xfrm>
            <a:off x="813816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64.5</a:t>
            </a:r>
            <a:endParaRPr lang="en-US" sz="900" dirty="0"/>
          </a:p>
        </p:txBody>
      </p:sp>
      <p:sp>
        <p:nvSpPr>
          <p:cNvPr id="42" name="Text 40"/>
          <p:cNvSpPr/>
          <p:nvPr/>
        </p:nvSpPr>
        <p:spPr>
          <a:xfrm>
            <a:off x="891540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3" name="Text 41"/>
          <p:cNvSpPr/>
          <p:nvPr/>
        </p:nvSpPr>
        <p:spPr>
          <a:xfrm>
            <a:off x="969264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4" name="Text 42"/>
          <p:cNvSpPr/>
          <p:nvPr/>
        </p:nvSpPr>
        <p:spPr>
          <a:xfrm>
            <a:off x="1046988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64.5</a:t>
            </a:r>
            <a:endParaRPr lang="en-US" sz="900" dirty="0"/>
          </a:p>
        </p:txBody>
      </p:sp>
      <p:sp>
        <p:nvSpPr>
          <p:cNvPr id="45" name="Text 43"/>
          <p:cNvSpPr/>
          <p:nvPr/>
        </p:nvSpPr>
        <p:spPr>
          <a:xfrm>
            <a:off x="1124712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6" name="Shape 44"/>
          <p:cNvSpPr/>
          <p:nvPr/>
        </p:nvSpPr>
        <p:spPr>
          <a:xfrm>
            <a:off x="594360" y="2779776"/>
            <a:ext cx="11430000" cy="438912"/>
          </a:xfrm>
          <a:prstGeom prst="rect">
            <a:avLst/>
          </a:prstGeom>
          <a:solidFill>
            <a:srgbClr val="F5F3EE"/>
          </a:solidFill>
          <a:ln w="6350">
            <a:solidFill>
              <a:srgbClr val="E2E0DC"/>
            </a:solidFill>
            <a:prstDash val="solid"/>
          </a:ln>
        </p:spPr>
      </p:sp>
      <p:sp>
        <p:nvSpPr>
          <p:cNvPr id="47" name="Text 45"/>
          <p:cNvSpPr/>
          <p:nvPr/>
        </p:nvSpPr>
        <p:spPr>
          <a:xfrm>
            <a:off x="704088" y="2779776"/>
            <a:ext cx="2103120" cy="43891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経常収支</a:t>
            </a:r>
            <a:endParaRPr lang="en-US" sz="950" dirty="0"/>
          </a:p>
        </p:txBody>
      </p:sp>
      <p:sp>
        <p:nvSpPr>
          <p:cNvPr id="48" name="Text 46"/>
          <p:cNvSpPr/>
          <p:nvPr/>
        </p:nvSpPr>
        <p:spPr>
          <a:xfrm>
            <a:off x="269748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0.8</a:t>
            </a:r>
            <a:endParaRPr lang="en-US" sz="900" dirty="0"/>
          </a:p>
        </p:txBody>
      </p:sp>
      <p:sp>
        <p:nvSpPr>
          <p:cNvPr id="49" name="Text 47"/>
          <p:cNvSpPr/>
          <p:nvPr/>
        </p:nvSpPr>
        <p:spPr>
          <a:xfrm>
            <a:off x="3474720" y="2779776"/>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▲3.2</a:t>
            </a:r>
            <a:endParaRPr lang="en-US" sz="900" dirty="0"/>
          </a:p>
        </p:txBody>
      </p:sp>
      <p:sp>
        <p:nvSpPr>
          <p:cNvPr id="50" name="Text 48"/>
          <p:cNvSpPr/>
          <p:nvPr/>
        </p:nvSpPr>
        <p:spPr>
          <a:xfrm>
            <a:off x="425196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0.8</a:t>
            </a:r>
            <a:endParaRPr lang="en-US" sz="900" dirty="0"/>
          </a:p>
        </p:txBody>
      </p:sp>
      <p:sp>
        <p:nvSpPr>
          <p:cNvPr id="51" name="Text 49"/>
          <p:cNvSpPr/>
          <p:nvPr/>
        </p:nvSpPr>
        <p:spPr>
          <a:xfrm>
            <a:off x="502920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0.8</a:t>
            </a:r>
            <a:endParaRPr lang="en-US" sz="900" dirty="0"/>
          </a:p>
        </p:txBody>
      </p:sp>
      <p:sp>
        <p:nvSpPr>
          <p:cNvPr id="52" name="Text 50"/>
          <p:cNvSpPr/>
          <p:nvPr/>
        </p:nvSpPr>
        <p:spPr>
          <a:xfrm>
            <a:off x="5806440" y="2779776"/>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▲1.2</a:t>
            </a:r>
            <a:endParaRPr lang="en-US" sz="900" dirty="0"/>
          </a:p>
        </p:txBody>
      </p:sp>
      <p:sp>
        <p:nvSpPr>
          <p:cNvPr id="53" name="Text 51"/>
          <p:cNvSpPr/>
          <p:nvPr/>
        </p:nvSpPr>
        <p:spPr>
          <a:xfrm>
            <a:off x="658368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33.8</a:t>
            </a:r>
            <a:endParaRPr lang="en-US" sz="900" dirty="0"/>
          </a:p>
        </p:txBody>
      </p:sp>
      <p:sp>
        <p:nvSpPr>
          <p:cNvPr id="54" name="Text 52"/>
          <p:cNvSpPr/>
          <p:nvPr/>
        </p:nvSpPr>
        <p:spPr>
          <a:xfrm>
            <a:off x="736092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0.8</a:t>
            </a:r>
            <a:endParaRPr lang="en-US" sz="900" dirty="0"/>
          </a:p>
        </p:txBody>
      </p:sp>
      <p:sp>
        <p:nvSpPr>
          <p:cNvPr id="55" name="Text 53"/>
          <p:cNvSpPr/>
          <p:nvPr/>
        </p:nvSpPr>
        <p:spPr>
          <a:xfrm>
            <a:off x="8138160" y="2779776"/>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▲1.2</a:t>
            </a:r>
            <a:endParaRPr lang="en-US" sz="900" dirty="0"/>
          </a:p>
        </p:txBody>
      </p:sp>
      <p:sp>
        <p:nvSpPr>
          <p:cNvPr id="56" name="Text 54"/>
          <p:cNvSpPr/>
          <p:nvPr/>
        </p:nvSpPr>
        <p:spPr>
          <a:xfrm>
            <a:off x="891540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0.8</a:t>
            </a:r>
            <a:endParaRPr lang="en-US" sz="900" dirty="0"/>
          </a:p>
        </p:txBody>
      </p:sp>
      <p:sp>
        <p:nvSpPr>
          <p:cNvPr id="57" name="Text 55"/>
          <p:cNvSpPr/>
          <p:nvPr/>
        </p:nvSpPr>
        <p:spPr>
          <a:xfrm>
            <a:off x="969264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0.8</a:t>
            </a:r>
            <a:endParaRPr lang="en-US" sz="900" dirty="0"/>
          </a:p>
        </p:txBody>
      </p:sp>
      <p:sp>
        <p:nvSpPr>
          <p:cNvPr id="58" name="Text 56"/>
          <p:cNvSpPr/>
          <p:nvPr/>
        </p:nvSpPr>
        <p:spPr>
          <a:xfrm>
            <a:off x="10469880" y="2779776"/>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▲1.2</a:t>
            </a:r>
            <a:endParaRPr lang="en-US" sz="900" dirty="0"/>
          </a:p>
        </p:txBody>
      </p:sp>
      <p:sp>
        <p:nvSpPr>
          <p:cNvPr id="59" name="Text 57"/>
          <p:cNvSpPr/>
          <p:nvPr/>
        </p:nvSpPr>
        <p:spPr>
          <a:xfrm>
            <a:off x="1124712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11.8</a:t>
            </a:r>
            <a:endParaRPr lang="en-US" sz="900" dirty="0"/>
          </a:p>
        </p:txBody>
      </p:sp>
      <p:sp>
        <p:nvSpPr>
          <p:cNvPr id="60" name="Shape 58"/>
          <p:cNvSpPr/>
          <p:nvPr/>
        </p:nvSpPr>
        <p:spPr>
          <a:xfrm>
            <a:off x="594360" y="3218688"/>
            <a:ext cx="11430000" cy="438912"/>
          </a:xfrm>
          <a:prstGeom prst="rect">
            <a:avLst/>
          </a:prstGeom>
          <a:solidFill>
            <a:srgbClr val="FBFAF8"/>
          </a:solidFill>
          <a:ln w="6350">
            <a:solidFill>
              <a:srgbClr val="E2E0DC"/>
            </a:solidFill>
            <a:prstDash val="solid"/>
          </a:ln>
        </p:spPr>
      </p:sp>
      <p:sp>
        <p:nvSpPr>
          <p:cNvPr id="61" name="Text 59"/>
          <p:cNvSpPr/>
          <p:nvPr/>
        </p:nvSpPr>
        <p:spPr>
          <a:xfrm>
            <a:off x="704088" y="3218688"/>
            <a:ext cx="2103120" cy="438912"/>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財務収支 計</a:t>
            </a:r>
            <a:endParaRPr lang="en-US" sz="950" dirty="0"/>
          </a:p>
        </p:txBody>
      </p:sp>
      <p:sp>
        <p:nvSpPr>
          <p:cNvPr id="62" name="Text 60"/>
          <p:cNvSpPr/>
          <p:nvPr/>
        </p:nvSpPr>
        <p:spPr>
          <a:xfrm>
            <a:off x="269748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3" name="Text 61"/>
          <p:cNvSpPr/>
          <p:nvPr/>
        </p:nvSpPr>
        <p:spPr>
          <a:xfrm>
            <a:off x="347472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4" name="Text 62"/>
          <p:cNvSpPr/>
          <p:nvPr/>
        </p:nvSpPr>
        <p:spPr>
          <a:xfrm>
            <a:off x="425196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5" name="Text 63"/>
          <p:cNvSpPr/>
          <p:nvPr/>
        </p:nvSpPr>
        <p:spPr>
          <a:xfrm>
            <a:off x="502920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6" name="Text 64"/>
          <p:cNvSpPr/>
          <p:nvPr/>
        </p:nvSpPr>
        <p:spPr>
          <a:xfrm>
            <a:off x="580644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7" name="Text 65"/>
          <p:cNvSpPr/>
          <p:nvPr/>
        </p:nvSpPr>
        <p:spPr>
          <a:xfrm>
            <a:off x="658368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8" name="Text 66"/>
          <p:cNvSpPr/>
          <p:nvPr/>
        </p:nvSpPr>
        <p:spPr>
          <a:xfrm>
            <a:off x="736092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9" name="Text 67"/>
          <p:cNvSpPr/>
          <p:nvPr/>
        </p:nvSpPr>
        <p:spPr>
          <a:xfrm>
            <a:off x="813816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0" name="Text 68"/>
          <p:cNvSpPr/>
          <p:nvPr/>
        </p:nvSpPr>
        <p:spPr>
          <a:xfrm>
            <a:off x="891540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1" name="Text 69"/>
          <p:cNvSpPr/>
          <p:nvPr/>
        </p:nvSpPr>
        <p:spPr>
          <a:xfrm>
            <a:off x="969264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2" name="Text 70"/>
          <p:cNvSpPr/>
          <p:nvPr/>
        </p:nvSpPr>
        <p:spPr>
          <a:xfrm>
            <a:off x="1046988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3" name="Text 71"/>
          <p:cNvSpPr/>
          <p:nvPr/>
        </p:nvSpPr>
        <p:spPr>
          <a:xfrm>
            <a:off x="1124712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4" name="Shape 72"/>
          <p:cNvSpPr/>
          <p:nvPr/>
        </p:nvSpPr>
        <p:spPr>
          <a:xfrm>
            <a:off x="594360" y="3657600"/>
            <a:ext cx="11430000" cy="438912"/>
          </a:xfrm>
          <a:prstGeom prst="rect">
            <a:avLst/>
          </a:prstGeom>
          <a:solidFill>
            <a:srgbClr val="F5F3EE"/>
          </a:solidFill>
          <a:ln w="6350">
            <a:solidFill>
              <a:srgbClr val="E2E0DC"/>
            </a:solidFill>
            <a:prstDash val="solid"/>
          </a:ln>
        </p:spPr>
      </p:sp>
      <p:sp>
        <p:nvSpPr>
          <p:cNvPr id="75" name="Text 73"/>
          <p:cNvSpPr/>
          <p:nvPr/>
        </p:nvSpPr>
        <p:spPr>
          <a:xfrm>
            <a:off x="704088" y="3657600"/>
            <a:ext cx="2103120" cy="43891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当月収支</a:t>
            </a:r>
            <a:endParaRPr lang="en-US" sz="950" dirty="0"/>
          </a:p>
        </p:txBody>
      </p:sp>
      <p:sp>
        <p:nvSpPr>
          <p:cNvPr id="76" name="Text 74"/>
          <p:cNvSpPr/>
          <p:nvPr/>
        </p:nvSpPr>
        <p:spPr>
          <a:xfrm>
            <a:off x="269748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▲1.9</a:t>
            </a:r>
            <a:endParaRPr lang="en-US" sz="900" dirty="0"/>
          </a:p>
        </p:txBody>
      </p:sp>
      <p:sp>
        <p:nvSpPr>
          <p:cNvPr id="77" name="Text 75"/>
          <p:cNvSpPr/>
          <p:nvPr/>
        </p:nvSpPr>
        <p:spPr>
          <a:xfrm>
            <a:off x="347472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▲5.9</a:t>
            </a:r>
            <a:endParaRPr lang="en-US" sz="900" dirty="0"/>
          </a:p>
        </p:txBody>
      </p:sp>
      <p:sp>
        <p:nvSpPr>
          <p:cNvPr id="78" name="Text 76"/>
          <p:cNvSpPr/>
          <p:nvPr/>
        </p:nvSpPr>
        <p:spPr>
          <a:xfrm>
            <a:off x="425196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▲1.9</a:t>
            </a:r>
            <a:endParaRPr lang="en-US" sz="900" dirty="0"/>
          </a:p>
        </p:txBody>
      </p:sp>
      <p:sp>
        <p:nvSpPr>
          <p:cNvPr id="79" name="Text 77"/>
          <p:cNvSpPr/>
          <p:nvPr/>
        </p:nvSpPr>
        <p:spPr>
          <a:xfrm>
            <a:off x="502920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▲1.9</a:t>
            </a:r>
            <a:endParaRPr lang="en-US" sz="900" dirty="0"/>
          </a:p>
        </p:txBody>
      </p:sp>
      <p:sp>
        <p:nvSpPr>
          <p:cNvPr id="80" name="Text 78"/>
          <p:cNvSpPr/>
          <p:nvPr/>
        </p:nvSpPr>
        <p:spPr>
          <a:xfrm>
            <a:off x="580644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▲3.9</a:t>
            </a:r>
            <a:endParaRPr lang="en-US" sz="900" dirty="0"/>
          </a:p>
        </p:txBody>
      </p:sp>
      <p:sp>
        <p:nvSpPr>
          <p:cNvPr id="81" name="Text 79"/>
          <p:cNvSpPr/>
          <p:nvPr/>
        </p:nvSpPr>
        <p:spPr>
          <a:xfrm>
            <a:off x="658368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31.1</a:t>
            </a:r>
            <a:endParaRPr lang="en-US" sz="900" dirty="0"/>
          </a:p>
        </p:txBody>
      </p:sp>
      <p:sp>
        <p:nvSpPr>
          <p:cNvPr id="82" name="Text 80"/>
          <p:cNvSpPr/>
          <p:nvPr/>
        </p:nvSpPr>
        <p:spPr>
          <a:xfrm>
            <a:off x="736092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▲1.9</a:t>
            </a:r>
            <a:endParaRPr lang="en-US" sz="900" dirty="0"/>
          </a:p>
        </p:txBody>
      </p:sp>
      <p:sp>
        <p:nvSpPr>
          <p:cNvPr id="83" name="Text 81"/>
          <p:cNvSpPr/>
          <p:nvPr/>
        </p:nvSpPr>
        <p:spPr>
          <a:xfrm>
            <a:off x="813816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▲3.9</a:t>
            </a:r>
            <a:endParaRPr lang="en-US" sz="900" dirty="0"/>
          </a:p>
        </p:txBody>
      </p:sp>
      <p:sp>
        <p:nvSpPr>
          <p:cNvPr id="84" name="Text 82"/>
          <p:cNvSpPr/>
          <p:nvPr/>
        </p:nvSpPr>
        <p:spPr>
          <a:xfrm>
            <a:off x="891540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▲1.9</a:t>
            </a:r>
            <a:endParaRPr lang="en-US" sz="900" dirty="0"/>
          </a:p>
        </p:txBody>
      </p:sp>
      <p:sp>
        <p:nvSpPr>
          <p:cNvPr id="85" name="Text 83"/>
          <p:cNvSpPr/>
          <p:nvPr/>
        </p:nvSpPr>
        <p:spPr>
          <a:xfrm>
            <a:off x="969264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▲1.9</a:t>
            </a:r>
            <a:endParaRPr lang="en-US" sz="900" dirty="0"/>
          </a:p>
        </p:txBody>
      </p:sp>
      <p:sp>
        <p:nvSpPr>
          <p:cNvPr id="86" name="Text 84"/>
          <p:cNvSpPr/>
          <p:nvPr/>
        </p:nvSpPr>
        <p:spPr>
          <a:xfrm>
            <a:off x="10469880" y="3657600"/>
            <a:ext cx="777240" cy="438912"/>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▲3.9</a:t>
            </a:r>
            <a:endParaRPr lang="en-US" sz="900" dirty="0"/>
          </a:p>
        </p:txBody>
      </p:sp>
      <p:sp>
        <p:nvSpPr>
          <p:cNvPr id="87" name="Text 85"/>
          <p:cNvSpPr/>
          <p:nvPr/>
        </p:nvSpPr>
        <p:spPr>
          <a:xfrm>
            <a:off x="1124712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9.1</a:t>
            </a:r>
            <a:endParaRPr lang="en-US" sz="900" dirty="0"/>
          </a:p>
        </p:txBody>
      </p:sp>
      <p:sp>
        <p:nvSpPr>
          <p:cNvPr id="88" name="Shape 86"/>
          <p:cNvSpPr/>
          <p:nvPr/>
        </p:nvSpPr>
        <p:spPr>
          <a:xfrm>
            <a:off x="594360" y="4096512"/>
            <a:ext cx="11430000" cy="438912"/>
          </a:xfrm>
          <a:prstGeom prst="rect">
            <a:avLst/>
          </a:prstGeom>
          <a:solidFill>
            <a:srgbClr val="FAF3E2"/>
          </a:solidFill>
          <a:ln w="6350">
            <a:solidFill>
              <a:srgbClr val="E2E0DC"/>
            </a:solidFill>
            <a:prstDash val="solid"/>
          </a:ln>
        </p:spPr>
      </p:sp>
      <p:sp>
        <p:nvSpPr>
          <p:cNvPr id="89" name="Text 87"/>
          <p:cNvSpPr/>
          <p:nvPr/>
        </p:nvSpPr>
        <p:spPr>
          <a:xfrm>
            <a:off x="704088" y="4096512"/>
            <a:ext cx="2103120" cy="43891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月末 現預金残高</a:t>
            </a:r>
            <a:endParaRPr lang="en-US" sz="950" dirty="0"/>
          </a:p>
        </p:txBody>
      </p:sp>
      <p:sp>
        <p:nvSpPr>
          <p:cNvPr id="90" name="Text 88"/>
          <p:cNvSpPr/>
          <p:nvPr/>
        </p:nvSpPr>
        <p:spPr>
          <a:xfrm>
            <a:off x="269748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28.1</a:t>
            </a:r>
            <a:endParaRPr lang="en-US" sz="900" dirty="0"/>
          </a:p>
        </p:txBody>
      </p:sp>
      <p:sp>
        <p:nvSpPr>
          <p:cNvPr id="91" name="Text 89"/>
          <p:cNvSpPr/>
          <p:nvPr/>
        </p:nvSpPr>
        <p:spPr>
          <a:xfrm>
            <a:off x="347472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22.2</a:t>
            </a:r>
            <a:endParaRPr lang="en-US" sz="900" dirty="0"/>
          </a:p>
        </p:txBody>
      </p:sp>
      <p:sp>
        <p:nvSpPr>
          <p:cNvPr id="92" name="Text 90"/>
          <p:cNvSpPr/>
          <p:nvPr/>
        </p:nvSpPr>
        <p:spPr>
          <a:xfrm>
            <a:off x="425196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20.3</a:t>
            </a:r>
            <a:endParaRPr lang="en-US" sz="900" dirty="0"/>
          </a:p>
        </p:txBody>
      </p:sp>
      <p:sp>
        <p:nvSpPr>
          <p:cNvPr id="93" name="Text 91"/>
          <p:cNvSpPr/>
          <p:nvPr/>
        </p:nvSpPr>
        <p:spPr>
          <a:xfrm>
            <a:off x="502920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18.5</a:t>
            </a:r>
            <a:endParaRPr lang="en-US" sz="900" dirty="0"/>
          </a:p>
        </p:txBody>
      </p:sp>
      <p:sp>
        <p:nvSpPr>
          <p:cNvPr id="94" name="Text 92"/>
          <p:cNvSpPr/>
          <p:nvPr/>
        </p:nvSpPr>
        <p:spPr>
          <a:xfrm>
            <a:off x="580644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14.6</a:t>
            </a:r>
            <a:endParaRPr lang="en-US" sz="900" dirty="0"/>
          </a:p>
        </p:txBody>
      </p:sp>
      <p:sp>
        <p:nvSpPr>
          <p:cNvPr id="95" name="Text 93"/>
          <p:cNvSpPr/>
          <p:nvPr/>
        </p:nvSpPr>
        <p:spPr>
          <a:xfrm>
            <a:off x="658368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45.7</a:t>
            </a:r>
            <a:endParaRPr lang="en-US" sz="900" dirty="0"/>
          </a:p>
        </p:txBody>
      </p:sp>
      <p:sp>
        <p:nvSpPr>
          <p:cNvPr id="96" name="Text 94"/>
          <p:cNvSpPr/>
          <p:nvPr/>
        </p:nvSpPr>
        <p:spPr>
          <a:xfrm>
            <a:off x="736092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43.8</a:t>
            </a:r>
            <a:endParaRPr lang="en-US" sz="900" dirty="0"/>
          </a:p>
        </p:txBody>
      </p:sp>
      <p:sp>
        <p:nvSpPr>
          <p:cNvPr id="97" name="Text 95"/>
          <p:cNvSpPr/>
          <p:nvPr/>
        </p:nvSpPr>
        <p:spPr>
          <a:xfrm>
            <a:off x="813816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39.9</a:t>
            </a:r>
            <a:endParaRPr lang="en-US" sz="900" dirty="0"/>
          </a:p>
        </p:txBody>
      </p:sp>
      <p:sp>
        <p:nvSpPr>
          <p:cNvPr id="98" name="Text 96"/>
          <p:cNvSpPr/>
          <p:nvPr/>
        </p:nvSpPr>
        <p:spPr>
          <a:xfrm>
            <a:off x="891540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38.0</a:t>
            </a:r>
            <a:endParaRPr lang="en-US" sz="900" dirty="0"/>
          </a:p>
        </p:txBody>
      </p:sp>
      <p:sp>
        <p:nvSpPr>
          <p:cNvPr id="99" name="Text 97"/>
          <p:cNvSpPr/>
          <p:nvPr/>
        </p:nvSpPr>
        <p:spPr>
          <a:xfrm>
            <a:off x="969264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36.2</a:t>
            </a:r>
            <a:endParaRPr lang="en-US" sz="900" dirty="0"/>
          </a:p>
        </p:txBody>
      </p:sp>
      <p:sp>
        <p:nvSpPr>
          <p:cNvPr id="100" name="Text 98"/>
          <p:cNvSpPr/>
          <p:nvPr/>
        </p:nvSpPr>
        <p:spPr>
          <a:xfrm>
            <a:off x="1046988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32.3</a:t>
            </a:r>
            <a:endParaRPr lang="en-US" sz="900" dirty="0"/>
          </a:p>
        </p:txBody>
      </p:sp>
      <p:sp>
        <p:nvSpPr>
          <p:cNvPr id="101" name="Text 99"/>
          <p:cNvSpPr/>
          <p:nvPr/>
        </p:nvSpPr>
        <p:spPr>
          <a:xfrm>
            <a:off x="1124712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41.4</a:t>
            </a:r>
            <a:endParaRPr lang="en-US" sz="900" dirty="0"/>
          </a:p>
        </p:txBody>
      </p:sp>
      <p:sp>
        <p:nvSpPr>
          <p:cNvPr id="102" name="Shape 100"/>
          <p:cNvSpPr/>
          <p:nvPr/>
        </p:nvSpPr>
        <p:spPr>
          <a:xfrm>
            <a:off x="594360" y="4791456"/>
            <a:ext cx="5349240" cy="1371600"/>
          </a:xfrm>
          <a:prstGeom prst="roundRect">
            <a:avLst>
              <a:gd name="adj" fmla="val 3333"/>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03" name="Text 101"/>
          <p:cNvSpPr/>
          <p:nvPr/>
        </p:nvSpPr>
        <p:spPr>
          <a:xfrm>
            <a:off x="868680" y="4956048"/>
            <a:ext cx="4800600" cy="292608"/>
          </a:xfrm>
          <a:prstGeom prst="rect">
            <a:avLst/>
          </a:prstGeom>
          <a:noFill/>
          <a:ln/>
        </p:spPr>
        <p:txBody>
          <a:bodyPr wrap="square" lIns="0" tIns="0" rIns="0" bIns="0" rtlCol="0" anchor="ctr"/>
          <a:lstStyle/>
          <a:p>
            <a:pPr indent="0" marL="0">
              <a:buNone/>
            </a:pPr>
            <a:r>
              <a:rPr lang="en-US" sz="1200" b="1" dirty="0">
                <a:solidFill>
                  <a:srgbClr val="A98442"/>
                </a:solidFill>
                <a:latin typeface="メイリオ" pitchFamily="34" charset="0"/>
                <a:ea typeface="メイリオ" pitchFamily="34" charset="-122"/>
                <a:cs typeface="メイリオ" pitchFamily="34" charset="-120"/>
              </a:rPr>
              <a:t>ボトルネックは2027年2月</a:t>
            </a:r>
            <a:endParaRPr lang="en-US" sz="1200" dirty="0"/>
          </a:p>
        </p:txBody>
      </p:sp>
      <p:sp>
        <p:nvSpPr>
          <p:cNvPr id="104" name="Text 102"/>
          <p:cNvSpPr/>
          <p:nvPr/>
        </p:nvSpPr>
        <p:spPr>
          <a:xfrm>
            <a:off x="868680" y="5294376"/>
            <a:ext cx="4800600" cy="868680"/>
          </a:xfrm>
          <a:prstGeom prst="rect">
            <a:avLst/>
          </a:prstGeom>
          <a:noFill/>
          <a:ln/>
        </p:spPr>
        <p:txBody>
          <a:bodyPr wrap="square" lIns="0" tIns="0" rIns="0" bIns="0" rtlCol="0" anchor="t"/>
          <a:lstStyle/>
          <a:p>
            <a:pPr indent="0" marL="0">
              <a:buNone/>
            </a:pPr>
            <a:r>
              <a:rPr lang="en-US" sz="1050" dirty="0">
                <a:solidFill>
                  <a:srgbClr val="FFFFFF"/>
                </a:solidFill>
                <a:latin typeface="メイリオ" pitchFamily="34" charset="0"/>
                <a:ea typeface="メイリオ" pitchFamily="34" charset="-122"/>
                <a:cs typeface="メイリオ" pitchFamily="34" charset="-120"/>
              </a:rPr>
              <a:t>11月にFY2026分の消費税確定納付3.6百万円、2月に当期の中間納付2.0百万円。3月の一時収益44百万円が入るまでが最も薄い期間ですが、最低14.6百万円を確保します。</a:t>
            </a:r>
            <a:endParaRPr lang="en-US" sz="1050" dirty="0"/>
          </a:p>
        </p:txBody>
      </p:sp>
      <p:sp>
        <p:nvSpPr>
          <p:cNvPr id="105" name="Shape 103"/>
          <p:cNvSpPr/>
          <p:nvPr/>
        </p:nvSpPr>
        <p:spPr>
          <a:xfrm>
            <a:off x="6217920" y="4791456"/>
            <a:ext cx="5349240" cy="329184"/>
          </a:xfrm>
          <a:prstGeom prst="rect">
            <a:avLst/>
          </a:prstGeom>
          <a:solidFill>
            <a:srgbClr val="1A1A1A"/>
          </a:solidFill>
          <a:ln/>
        </p:spPr>
      </p:sp>
      <p:sp>
        <p:nvSpPr>
          <p:cNvPr id="106" name="Text 104"/>
          <p:cNvSpPr/>
          <p:nvPr/>
        </p:nvSpPr>
        <p:spPr>
          <a:xfrm>
            <a:off x="6355080" y="4791456"/>
            <a:ext cx="2377440" cy="329184"/>
          </a:xfrm>
          <a:prstGeom prst="rect">
            <a:avLst/>
          </a:prstGeom>
          <a:noFill/>
          <a:ln/>
        </p:spPr>
        <p:txBody>
          <a:bodyPr wrap="square" lIns="0" tIns="0" rIns="0" bIns="0" rtlCol="0" anchor="ctr"/>
          <a:lstStyle/>
          <a:p>
            <a:pPr algn="l" indent="0" marL="0">
              <a:buNone/>
            </a:pPr>
            <a:r>
              <a:rPr lang="en-US" sz="900" b="1" dirty="0">
                <a:solidFill>
                  <a:srgbClr val="FFFFFF"/>
                </a:solidFill>
                <a:latin typeface="メイリオ" pitchFamily="34" charset="0"/>
                <a:ea typeface="メイリオ" pitchFamily="34" charset="-122"/>
                <a:cs typeface="メイリオ" pitchFamily="34" charset="-120"/>
              </a:rPr>
              <a:t>感応度</a:t>
            </a:r>
            <a:endParaRPr lang="en-US" sz="900" dirty="0"/>
          </a:p>
        </p:txBody>
      </p:sp>
      <p:sp>
        <p:nvSpPr>
          <p:cNvPr id="107" name="Text 105"/>
          <p:cNvSpPr/>
          <p:nvPr/>
        </p:nvSpPr>
        <p:spPr>
          <a:xfrm>
            <a:off x="8732520" y="4791456"/>
            <a:ext cx="1280160" cy="329184"/>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期末残高</a:t>
            </a:r>
            <a:endParaRPr lang="en-US" sz="900" dirty="0"/>
          </a:p>
        </p:txBody>
      </p:sp>
      <p:sp>
        <p:nvSpPr>
          <p:cNvPr id="108" name="Text 106"/>
          <p:cNvSpPr/>
          <p:nvPr/>
        </p:nvSpPr>
        <p:spPr>
          <a:xfrm>
            <a:off x="10104120" y="4791456"/>
            <a:ext cx="1325880" cy="329184"/>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期中最低</a:t>
            </a:r>
            <a:endParaRPr lang="en-US" sz="900" dirty="0"/>
          </a:p>
        </p:txBody>
      </p:sp>
      <p:sp>
        <p:nvSpPr>
          <p:cNvPr id="109" name="Shape 107"/>
          <p:cNvSpPr/>
          <p:nvPr/>
        </p:nvSpPr>
        <p:spPr>
          <a:xfrm>
            <a:off x="6217920" y="5120640"/>
            <a:ext cx="5349240" cy="260604"/>
          </a:xfrm>
          <a:prstGeom prst="rect">
            <a:avLst/>
          </a:prstGeom>
          <a:solidFill>
            <a:srgbClr val="FAF3E2"/>
          </a:solidFill>
          <a:ln w="6350">
            <a:solidFill>
              <a:srgbClr val="E2E0DC"/>
            </a:solidFill>
            <a:prstDash val="solid"/>
          </a:ln>
        </p:spPr>
      </p:sp>
      <p:sp>
        <p:nvSpPr>
          <p:cNvPr id="110" name="Text 108"/>
          <p:cNvSpPr/>
          <p:nvPr/>
        </p:nvSpPr>
        <p:spPr>
          <a:xfrm>
            <a:off x="6355080" y="5120640"/>
            <a:ext cx="2377440" cy="260604"/>
          </a:xfrm>
          <a:prstGeom prst="rect">
            <a:avLst/>
          </a:prstGeom>
          <a:noFill/>
          <a:ln/>
        </p:spPr>
        <p:txBody>
          <a:bodyPr wrap="square" lIns="0" tIns="0" rIns="0" bIns="0" rtlCol="0" anchor="ctr"/>
          <a:lstStyle/>
          <a:p>
            <a:pPr indent="0" marL="0">
              <a:buNone/>
            </a:pPr>
            <a:r>
              <a:rPr lang="en-US" sz="850" b="1" dirty="0">
                <a:solidFill>
                  <a:srgbClr val="1A1A1A"/>
                </a:solidFill>
                <a:latin typeface="メイリオ" pitchFamily="34" charset="0"/>
                <a:ea typeface="メイリオ" pitchFamily="34" charset="-122"/>
                <a:cs typeface="メイリオ" pitchFamily="34" charset="-120"/>
              </a:rPr>
              <a:t>A. プランC（本線）</a:t>
            </a:r>
            <a:endParaRPr lang="en-US" sz="850" dirty="0"/>
          </a:p>
        </p:txBody>
      </p:sp>
      <p:sp>
        <p:nvSpPr>
          <p:cNvPr id="111" name="Text 109"/>
          <p:cNvSpPr/>
          <p:nvPr/>
        </p:nvSpPr>
        <p:spPr>
          <a:xfrm>
            <a:off x="8732520" y="5120640"/>
            <a:ext cx="1280160" cy="260604"/>
          </a:xfrm>
          <a:prstGeom prst="rect">
            <a:avLst/>
          </a:prstGeom>
          <a:noFill/>
          <a:ln/>
        </p:spPr>
        <p:txBody>
          <a:bodyPr wrap="square" lIns="0" tIns="0" rIns="0" bIns="0" rtlCol="0" anchor="ctr"/>
          <a:lstStyle/>
          <a:p>
            <a:pPr algn="r" indent="0" marL="0">
              <a:buNone/>
            </a:pPr>
            <a:r>
              <a:rPr lang="en-US" sz="850" b="1" dirty="0">
                <a:solidFill>
                  <a:srgbClr val="1A1A1A"/>
                </a:solidFill>
                <a:latin typeface="メイリオ" pitchFamily="34" charset="0"/>
                <a:ea typeface="メイリオ" pitchFamily="34" charset="-122"/>
                <a:cs typeface="メイリオ" pitchFamily="34" charset="-120"/>
              </a:rPr>
              <a:t>＋41.4</a:t>
            </a:r>
            <a:endParaRPr lang="en-US" sz="850" dirty="0"/>
          </a:p>
        </p:txBody>
      </p:sp>
      <p:sp>
        <p:nvSpPr>
          <p:cNvPr id="112" name="Text 110"/>
          <p:cNvSpPr/>
          <p:nvPr/>
        </p:nvSpPr>
        <p:spPr>
          <a:xfrm>
            <a:off x="10104120" y="5120640"/>
            <a:ext cx="1325880" cy="260604"/>
          </a:xfrm>
          <a:prstGeom prst="rect">
            <a:avLst/>
          </a:prstGeom>
          <a:noFill/>
          <a:ln/>
        </p:spPr>
        <p:txBody>
          <a:bodyPr wrap="square" lIns="0" tIns="0" rIns="0" bIns="0" rtlCol="0" anchor="ctr"/>
          <a:lstStyle/>
          <a:p>
            <a:pPr algn="r" indent="0" marL="0">
              <a:buNone/>
            </a:pPr>
            <a:r>
              <a:rPr lang="en-US" sz="850" b="1" dirty="0">
                <a:solidFill>
                  <a:srgbClr val="1A1A1A"/>
                </a:solidFill>
                <a:latin typeface="メイリオ" pitchFamily="34" charset="0"/>
                <a:ea typeface="メイリオ" pitchFamily="34" charset="-122"/>
                <a:cs typeface="メイリオ" pitchFamily="34" charset="-120"/>
              </a:rPr>
              <a:t>＋14.6</a:t>
            </a:r>
            <a:endParaRPr lang="en-US" sz="850" dirty="0"/>
          </a:p>
        </p:txBody>
      </p:sp>
      <p:sp>
        <p:nvSpPr>
          <p:cNvPr id="113" name="Shape 111"/>
          <p:cNvSpPr/>
          <p:nvPr/>
        </p:nvSpPr>
        <p:spPr>
          <a:xfrm>
            <a:off x="6217920" y="5381244"/>
            <a:ext cx="5349240" cy="260604"/>
          </a:xfrm>
          <a:prstGeom prst="rect">
            <a:avLst/>
          </a:prstGeom>
          <a:solidFill>
            <a:srgbClr val="FBFAF8"/>
          </a:solidFill>
          <a:ln w="6350">
            <a:solidFill>
              <a:srgbClr val="E2E0DC"/>
            </a:solidFill>
            <a:prstDash val="solid"/>
          </a:ln>
        </p:spPr>
      </p:sp>
      <p:sp>
        <p:nvSpPr>
          <p:cNvPr id="114" name="Text 112"/>
          <p:cNvSpPr/>
          <p:nvPr/>
        </p:nvSpPr>
        <p:spPr>
          <a:xfrm>
            <a:off x="6355080" y="5381244"/>
            <a:ext cx="2377440" cy="260604"/>
          </a:xfrm>
          <a:prstGeom prst="rect">
            <a:avLst/>
          </a:prstGeom>
          <a:noFill/>
          <a:ln/>
        </p:spPr>
        <p:txBody>
          <a:bodyPr wrap="square" lIns="0" tIns="0" rIns="0" bIns="0" rtlCol="0" anchor="ctr"/>
          <a:lstStyle/>
          <a:p>
            <a:pPr indent="0" marL="0">
              <a:buNone/>
            </a:pPr>
            <a:r>
              <a:rPr lang="en-US" sz="850" dirty="0">
                <a:solidFill>
                  <a:srgbClr val="1A1A1A"/>
                </a:solidFill>
                <a:latin typeface="メイリオ" pitchFamily="34" charset="0"/>
                <a:ea typeface="メイリオ" pitchFamily="34" charset="-122"/>
                <a:cs typeface="メイリオ" pitchFamily="34" charset="-120"/>
              </a:rPr>
              <a:t>B. 仕入を売上原価に連動</a:t>
            </a:r>
            <a:endParaRPr lang="en-US" sz="850" dirty="0"/>
          </a:p>
        </p:txBody>
      </p:sp>
      <p:sp>
        <p:nvSpPr>
          <p:cNvPr id="115" name="Text 113"/>
          <p:cNvSpPr/>
          <p:nvPr/>
        </p:nvSpPr>
        <p:spPr>
          <a:xfrm>
            <a:off x="8732520" y="5381244"/>
            <a:ext cx="1280160" cy="260604"/>
          </a:xfrm>
          <a:prstGeom prst="rect">
            <a:avLst/>
          </a:prstGeom>
          <a:noFill/>
          <a:ln/>
        </p:spPr>
        <p:txBody>
          <a:bodyPr wrap="square" lIns="0" tIns="0" rIns="0" bIns="0" rtlCol="0" anchor="ctr"/>
          <a:lstStyle/>
          <a:p>
            <a:pPr algn="r" indent="0" marL="0">
              <a:buNone/>
            </a:pPr>
            <a:r>
              <a:rPr lang="en-US" sz="850" dirty="0">
                <a:solidFill>
                  <a:srgbClr val="1A1A1A"/>
                </a:solidFill>
                <a:latin typeface="メイリオ" pitchFamily="34" charset="0"/>
                <a:ea typeface="メイリオ" pitchFamily="34" charset="-122"/>
                <a:cs typeface="メイリオ" pitchFamily="34" charset="-120"/>
              </a:rPr>
              <a:t>＋38.6</a:t>
            </a:r>
            <a:endParaRPr lang="en-US" sz="850" dirty="0"/>
          </a:p>
        </p:txBody>
      </p:sp>
      <p:sp>
        <p:nvSpPr>
          <p:cNvPr id="116" name="Text 114"/>
          <p:cNvSpPr/>
          <p:nvPr/>
        </p:nvSpPr>
        <p:spPr>
          <a:xfrm>
            <a:off x="10104120" y="5381244"/>
            <a:ext cx="1325880" cy="260604"/>
          </a:xfrm>
          <a:prstGeom prst="rect">
            <a:avLst/>
          </a:prstGeom>
          <a:noFill/>
          <a:ln/>
        </p:spPr>
        <p:txBody>
          <a:bodyPr wrap="square" lIns="0" tIns="0" rIns="0" bIns="0" rtlCol="0" anchor="ctr"/>
          <a:lstStyle/>
          <a:p>
            <a:pPr algn="r" indent="0" marL="0">
              <a:buNone/>
            </a:pPr>
            <a:r>
              <a:rPr lang="en-US" sz="850" dirty="0">
                <a:solidFill>
                  <a:srgbClr val="1A1A1A"/>
                </a:solidFill>
                <a:latin typeface="メイリオ" pitchFamily="34" charset="0"/>
                <a:ea typeface="メイリオ" pitchFamily="34" charset="-122"/>
                <a:cs typeface="メイリオ" pitchFamily="34" charset="-120"/>
              </a:rPr>
              <a:t>＋11.8</a:t>
            </a:r>
            <a:endParaRPr lang="en-US" sz="850" dirty="0"/>
          </a:p>
        </p:txBody>
      </p:sp>
      <p:sp>
        <p:nvSpPr>
          <p:cNvPr id="117" name="Shape 115"/>
          <p:cNvSpPr/>
          <p:nvPr/>
        </p:nvSpPr>
        <p:spPr>
          <a:xfrm>
            <a:off x="6217920" y="5641848"/>
            <a:ext cx="5349240" cy="260604"/>
          </a:xfrm>
          <a:prstGeom prst="rect">
            <a:avLst/>
          </a:prstGeom>
          <a:solidFill>
            <a:srgbClr val="FFFFFF"/>
          </a:solidFill>
          <a:ln w="6350">
            <a:solidFill>
              <a:srgbClr val="E2E0DC"/>
            </a:solidFill>
            <a:prstDash val="solid"/>
          </a:ln>
        </p:spPr>
      </p:sp>
      <p:sp>
        <p:nvSpPr>
          <p:cNvPr id="118" name="Text 116"/>
          <p:cNvSpPr/>
          <p:nvPr/>
        </p:nvSpPr>
        <p:spPr>
          <a:xfrm>
            <a:off x="6355080" y="5641848"/>
            <a:ext cx="2377440" cy="260604"/>
          </a:xfrm>
          <a:prstGeom prst="rect">
            <a:avLst/>
          </a:prstGeom>
          <a:noFill/>
          <a:ln/>
        </p:spPr>
        <p:txBody>
          <a:bodyPr wrap="square" lIns="0" tIns="0" rIns="0" bIns="0" rtlCol="0" anchor="ctr"/>
          <a:lstStyle/>
          <a:p>
            <a:pPr indent="0" marL="0">
              <a:buNone/>
            </a:pPr>
            <a:r>
              <a:rPr lang="en-US" sz="850" dirty="0">
                <a:solidFill>
                  <a:srgbClr val="1A1A1A"/>
                </a:solidFill>
                <a:latin typeface="メイリオ" pitchFamily="34" charset="0"/>
                <a:ea typeface="メイリオ" pitchFamily="34" charset="-122"/>
                <a:cs typeface="メイリオ" pitchFamily="34" charset="-120"/>
              </a:rPr>
              <a:t>C. 一時収益44百万円が未入金</a:t>
            </a:r>
            <a:endParaRPr lang="en-US" sz="850" dirty="0"/>
          </a:p>
        </p:txBody>
      </p:sp>
      <p:sp>
        <p:nvSpPr>
          <p:cNvPr id="119" name="Text 117"/>
          <p:cNvSpPr/>
          <p:nvPr/>
        </p:nvSpPr>
        <p:spPr>
          <a:xfrm>
            <a:off x="8732520" y="5641848"/>
            <a:ext cx="1280160" cy="260604"/>
          </a:xfrm>
          <a:prstGeom prst="rect">
            <a:avLst/>
          </a:prstGeom>
          <a:noFill/>
          <a:ln/>
        </p:spPr>
        <p:txBody>
          <a:bodyPr wrap="square" lIns="0" tIns="0" rIns="0" bIns="0" rtlCol="0" anchor="ctr"/>
          <a:lstStyle/>
          <a:p>
            <a:pPr algn="r" indent="0" marL="0">
              <a:buNone/>
            </a:pPr>
            <a:r>
              <a:rPr lang="en-US" sz="850" dirty="0">
                <a:solidFill>
                  <a:srgbClr val="6E6E6E"/>
                </a:solidFill>
                <a:latin typeface="メイリオ" pitchFamily="34" charset="0"/>
                <a:ea typeface="メイリオ" pitchFamily="34" charset="-122"/>
                <a:cs typeface="メイリオ" pitchFamily="34" charset="-120"/>
              </a:rPr>
              <a:t>▲2.6</a:t>
            </a:r>
            <a:endParaRPr lang="en-US" sz="850" dirty="0"/>
          </a:p>
        </p:txBody>
      </p:sp>
      <p:sp>
        <p:nvSpPr>
          <p:cNvPr id="120" name="Text 118"/>
          <p:cNvSpPr/>
          <p:nvPr/>
        </p:nvSpPr>
        <p:spPr>
          <a:xfrm>
            <a:off x="10104120" y="5641848"/>
            <a:ext cx="1325880" cy="260604"/>
          </a:xfrm>
          <a:prstGeom prst="rect">
            <a:avLst/>
          </a:prstGeom>
          <a:noFill/>
          <a:ln/>
        </p:spPr>
        <p:txBody>
          <a:bodyPr wrap="square" lIns="0" tIns="0" rIns="0" bIns="0" rtlCol="0" anchor="ctr"/>
          <a:lstStyle/>
          <a:p>
            <a:pPr algn="r" indent="0" marL="0">
              <a:buNone/>
            </a:pPr>
            <a:r>
              <a:rPr lang="en-US" sz="850" dirty="0">
                <a:solidFill>
                  <a:srgbClr val="6E6E6E"/>
                </a:solidFill>
                <a:latin typeface="メイリオ" pitchFamily="34" charset="0"/>
                <a:ea typeface="メイリオ" pitchFamily="34" charset="-122"/>
                <a:cs typeface="メイリオ" pitchFamily="34" charset="-120"/>
              </a:rPr>
              <a:t>▲29.4</a:t>
            </a:r>
            <a:endParaRPr lang="en-US" sz="850" dirty="0"/>
          </a:p>
        </p:txBody>
      </p:sp>
      <p:sp>
        <p:nvSpPr>
          <p:cNvPr id="121" name="Shape 119"/>
          <p:cNvSpPr/>
          <p:nvPr/>
        </p:nvSpPr>
        <p:spPr>
          <a:xfrm>
            <a:off x="6217920" y="5902452"/>
            <a:ext cx="5349240" cy="260604"/>
          </a:xfrm>
          <a:prstGeom prst="rect">
            <a:avLst/>
          </a:prstGeom>
          <a:solidFill>
            <a:srgbClr val="FBFAF8"/>
          </a:solidFill>
          <a:ln w="6350">
            <a:solidFill>
              <a:srgbClr val="E2E0DC"/>
            </a:solidFill>
            <a:prstDash val="solid"/>
          </a:ln>
        </p:spPr>
      </p:sp>
      <p:sp>
        <p:nvSpPr>
          <p:cNvPr id="122" name="Text 120"/>
          <p:cNvSpPr/>
          <p:nvPr/>
        </p:nvSpPr>
        <p:spPr>
          <a:xfrm>
            <a:off x="6355080" y="5902452"/>
            <a:ext cx="2377440" cy="260604"/>
          </a:xfrm>
          <a:prstGeom prst="rect">
            <a:avLst/>
          </a:prstGeom>
          <a:noFill/>
          <a:ln/>
        </p:spPr>
        <p:txBody>
          <a:bodyPr wrap="square" lIns="0" tIns="0" rIns="0" bIns="0" rtlCol="0" anchor="ctr"/>
          <a:lstStyle/>
          <a:p>
            <a:pPr indent="0" marL="0">
              <a:buNone/>
            </a:pPr>
            <a:r>
              <a:rPr lang="en-US" sz="850" dirty="0">
                <a:solidFill>
                  <a:srgbClr val="1A1A1A"/>
                </a:solidFill>
                <a:latin typeface="メイリオ" pitchFamily="34" charset="0"/>
                <a:ea typeface="メイリオ" pitchFamily="34" charset="-122"/>
                <a:cs typeface="メイリオ" pitchFamily="34" charset="-120"/>
              </a:rPr>
              <a:t>D. 差額売上208.9百万円が未達</a:t>
            </a:r>
            <a:endParaRPr lang="en-US" sz="850" dirty="0"/>
          </a:p>
        </p:txBody>
      </p:sp>
      <p:sp>
        <p:nvSpPr>
          <p:cNvPr id="123" name="Text 121"/>
          <p:cNvSpPr/>
          <p:nvPr/>
        </p:nvSpPr>
        <p:spPr>
          <a:xfrm>
            <a:off x="8732520" y="5902452"/>
            <a:ext cx="1280160" cy="260604"/>
          </a:xfrm>
          <a:prstGeom prst="rect">
            <a:avLst/>
          </a:prstGeom>
          <a:noFill/>
          <a:ln/>
        </p:spPr>
        <p:txBody>
          <a:bodyPr wrap="square" lIns="0" tIns="0" rIns="0" bIns="0" rtlCol="0" anchor="ctr"/>
          <a:lstStyle/>
          <a:p>
            <a:pPr algn="r" indent="0" marL="0">
              <a:buNone/>
            </a:pPr>
            <a:r>
              <a:rPr lang="en-US" sz="850" dirty="0">
                <a:solidFill>
                  <a:srgbClr val="6E6E6E"/>
                </a:solidFill>
                <a:latin typeface="メイリオ" pitchFamily="34" charset="0"/>
                <a:ea typeface="メイリオ" pitchFamily="34" charset="-122"/>
                <a:cs typeface="メイリオ" pitchFamily="34" charset="-120"/>
              </a:rPr>
              <a:t>▲153.4</a:t>
            </a:r>
            <a:endParaRPr lang="en-US" sz="850" dirty="0"/>
          </a:p>
        </p:txBody>
      </p:sp>
      <p:sp>
        <p:nvSpPr>
          <p:cNvPr id="124" name="Text 122"/>
          <p:cNvSpPr/>
          <p:nvPr/>
        </p:nvSpPr>
        <p:spPr>
          <a:xfrm>
            <a:off x="10104120" y="5902452"/>
            <a:ext cx="1325880" cy="260604"/>
          </a:xfrm>
          <a:prstGeom prst="rect">
            <a:avLst/>
          </a:prstGeom>
          <a:noFill/>
          <a:ln/>
        </p:spPr>
        <p:txBody>
          <a:bodyPr wrap="square" lIns="0" tIns="0" rIns="0" bIns="0" rtlCol="0" anchor="ctr"/>
          <a:lstStyle/>
          <a:p>
            <a:pPr algn="r" indent="0" marL="0">
              <a:buNone/>
            </a:pPr>
            <a:r>
              <a:rPr lang="en-US" sz="850" dirty="0">
                <a:solidFill>
                  <a:srgbClr val="6E6E6E"/>
                </a:solidFill>
                <a:latin typeface="メイリオ" pitchFamily="34" charset="0"/>
                <a:ea typeface="メイリオ" pitchFamily="34" charset="-122"/>
                <a:cs typeface="メイリオ" pitchFamily="34" charset="-120"/>
              </a:rPr>
              <a:t>▲180.2</a:t>
            </a:r>
            <a:endParaRPr lang="en-US" sz="850" dirty="0"/>
          </a:p>
        </p:txBody>
      </p:sp>
      <p:sp>
        <p:nvSpPr>
          <p:cNvPr id="125" name="Text 123"/>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期首現預金30百万円（2026/09末にみずほ銀行へ200百万円返済後）。消費税はFY2026実績から算定（確定3.6＋中間2.0×3回＝年9.6百万円）。</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財務基盤 － 簿価より実態が厚い</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ワイン現物という換価可能な資産があり、実態純資産は簿価を上回ります。（単位：円）</a:t>
            </a:r>
            <a:endParaRPr lang="en-US" sz="1250" dirty="0"/>
          </a:p>
        </p:txBody>
      </p:sp>
      <p:sp>
        <p:nvSpPr>
          <p:cNvPr id="4" name="Shape 2"/>
          <p:cNvSpPr/>
          <p:nvPr/>
        </p:nvSpPr>
        <p:spPr>
          <a:xfrm>
            <a:off x="594360" y="1572768"/>
            <a:ext cx="6400800" cy="621792"/>
          </a:xfrm>
          <a:prstGeom prst="rect">
            <a:avLst/>
          </a:prstGeom>
          <a:solidFill>
            <a:srgbClr val="FFFFFF"/>
          </a:solidFill>
          <a:ln w="6350">
            <a:solidFill>
              <a:srgbClr val="E2E0DC"/>
            </a:solidFill>
            <a:prstDash val="solid"/>
          </a:ln>
        </p:spPr>
      </p:sp>
      <p:sp>
        <p:nvSpPr>
          <p:cNvPr id="5" name="Text 3"/>
          <p:cNvSpPr/>
          <p:nvPr/>
        </p:nvSpPr>
        <p:spPr>
          <a:xfrm>
            <a:off x="822960" y="1572768"/>
            <a:ext cx="3931920" cy="621792"/>
          </a:xfrm>
          <a:prstGeom prst="rect">
            <a:avLst/>
          </a:prstGeom>
          <a:noFill/>
          <a:ln/>
        </p:spPr>
        <p:txBody>
          <a:bodyPr wrap="square" lIns="0" tIns="0" rIns="0" bIns="0" rtlCol="0" anchor="ctr"/>
          <a:lstStyle/>
          <a:p>
            <a:pPr indent="0" marL="0">
              <a:buNone/>
            </a:pPr>
            <a:r>
              <a:rPr lang="en-US" sz="1150" dirty="0">
                <a:solidFill>
                  <a:srgbClr val="1A1A1A"/>
                </a:solidFill>
                <a:latin typeface="メイリオ" pitchFamily="34" charset="0"/>
                <a:ea typeface="メイリオ" pitchFamily="34" charset="-122"/>
                <a:cs typeface="メイリオ" pitchFamily="34" charset="-120"/>
              </a:rPr>
              <a:t>簿価純資産（2025/9末）</a:t>
            </a:r>
            <a:endParaRPr lang="en-US" sz="1150" dirty="0"/>
          </a:p>
        </p:txBody>
      </p:sp>
      <p:sp>
        <p:nvSpPr>
          <p:cNvPr id="6" name="Text 4"/>
          <p:cNvSpPr/>
          <p:nvPr/>
        </p:nvSpPr>
        <p:spPr>
          <a:xfrm>
            <a:off x="4754880" y="1572768"/>
            <a:ext cx="2011680" cy="621792"/>
          </a:xfrm>
          <a:prstGeom prst="rect">
            <a:avLst/>
          </a:prstGeom>
          <a:noFill/>
          <a:ln/>
        </p:spPr>
        <p:txBody>
          <a:bodyPr wrap="square" lIns="0" tIns="0" rIns="0" bIns="0" rtlCol="0" anchor="ctr"/>
          <a:lstStyle/>
          <a:p>
            <a:pPr algn="r" indent="0" marL="0">
              <a:buNone/>
            </a:pPr>
            <a:r>
              <a:rPr lang="en-US" sz="1300" b="1" dirty="0">
                <a:solidFill>
                  <a:srgbClr val="1A1A1A"/>
                </a:solidFill>
                <a:latin typeface="メイリオ" pitchFamily="34" charset="0"/>
                <a:ea typeface="メイリオ" pitchFamily="34" charset="-122"/>
                <a:cs typeface="メイリオ" pitchFamily="34" charset="-120"/>
              </a:rPr>
              <a:t>211,755,689</a:t>
            </a:r>
            <a:endParaRPr lang="en-US" sz="1300" dirty="0"/>
          </a:p>
        </p:txBody>
      </p:sp>
      <p:sp>
        <p:nvSpPr>
          <p:cNvPr id="7" name="Shape 5"/>
          <p:cNvSpPr/>
          <p:nvPr/>
        </p:nvSpPr>
        <p:spPr>
          <a:xfrm>
            <a:off x="594360" y="2304288"/>
            <a:ext cx="6400800" cy="621792"/>
          </a:xfrm>
          <a:prstGeom prst="rect">
            <a:avLst/>
          </a:prstGeom>
          <a:solidFill>
            <a:srgbClr val="FBFAF8"/>
          </a:solidFill>
          <a:ln w="6350">
            <a:solidFill>
              <a:srgbClr val="E2E0DC"/>
            </a:solidFill>
            <a:prstDash val="solid"/>
          </a:ln>
        </p:spPr>
      </p:sp>
      <p:sp>
        <p:nvSpPr>
          <p:cNvPr id="8" name="Text 6"/>
          <p:cNvSpPr/>
          <p:nvPr/>
        </p:nvSpPr>
        <p:spPr>
          <a:xfrm>
            <a:off x="822960" y="2304288"/>
            <a:ext cx="3931920" cy="621792"/>
          </a:xfrm>
          <a:prstGeom prst="rect">
            <a:avLst/>
          </a:prstGeom>
          <a:noFill/>
          <a:ln/>
        </p:spPr>
        <p:txBody>
          <a:bodyPr wrap="square" lIns="0" tIns="0" rIns="0" bIns="0" rtlCol="0" anchor="ctr"/>
          <a:lstStyle/>
          <a:p>
            <a:pPr indent="0" marL="0">
              <a:buNone/>
            </a:pPr>
            <a:r>
              <a:rPr lang="en-US" sz="1150" dirty="0">
                <a:solidFill>
                  <a:srgbClr val="1A1A1A"/>
                </a:solidFill>
                <a:latin typeface="メイリオ" pitchFamily="34" charset="0"/>
                <a:ea typeface="メイリオ" pitchFamily="34" charset="-122"/>
                <a:cs typeface="メイリオ" pitchFamily="34" charset="-120"/>
              </a:rPr>
              <a:t>▲ ソフトウェア（換価性を保守評価）</a:t>
            </a:r>
            <a:endParaRPr lang="en-US" sz="1150" dirty="0"/>
          </a:p>
        </p:txBody>
      </p:sp>
      <p:sp>
        <p:nvSpPr>
          <p:cNvPr id="9" name="Text 7"/>
          <p:cNvSpPr/>
          <p:nvPr/>
        </p:nvSpPr>
        <p:spPr>
          <a:xfrm>
            <a:off x="4754880" y="2304288"/>
            <a:ext cx="2011680" cy="621792"/>
          </a:xfrm>
          <a:prstGeom prst="rect">
            <a:avLst/>
          </a:prstGeom>
          <a:noFill/>
          <a:ln/>
        </p:spPr>
        <p:txBody>
          <a:bodyPr wrap="square" lIns="0" tIns="0" rIns="0" bIns="0" rtlCol="0" anchor="ctr"/>
          <a:lstStyle/>
          <a:p>
            <a:pPr algn="r" indent="0" marL="0">
              <a:buNone/>
            </a:pPr>
            <a:r>
              <a:rPr lang="en-US" sz="1300" b="1" dirty="0">
                <a:solidFill>
                  <a:srgbClr val="6E6E6E"/>
                </a:solidFill>
                <a:latin typeface="メイリオ" pitchFamily="34" charset="0"/>
                <a:ea typeface="メイリオ" pitchFamily="34" charset="-122"/>
                <a:cs typeface="メイリオ" pitchFamily="34" charset="-120"/>
              </a:rPr>
              <a:t>▲129,822,924</a:t>
            </a:r>
            <a:endParaRPr lang="en-US" sz="1300" dirty="0"/>
          </a:p>
        </p:txBody>
      </p:sp>
      <p:sp>
        <p:nvSpPr>
          <p:cNvPr id="10" name="Shape 8"/>
          <p:cNvSpPr/>
          <p:nvPr/>
        </p:nvSpPr>
        <p:spPr>
          <a:xfrm>
            <a:off x="594360" y="3035808"/>
            <a:ext cx="6400800" cy="621792"/>
          </a:xfrm>
          <a:prstGeom prst="rect">
            <a:avLst/>
          </a:prstGeom>
          <a:solidFill>
            <a:srgbClr val="FFFFFF"/>
          </a:solidFill>
          <a:ln w="6350">
            <a:solidFill>
              <a:srgbClr val="E2E0DC"/>
            </a:solidFill>
            <a:prstDash val="solid"/>
          </a:ln>
        </p:spPr>
      </p:sp>
      <p:sp>
        <p:nvSpPr>
          <p:cNvPr id="11" name="Text 9"/>
          <p:cNvSpPr/>
          <p:nvPr/>
        </p:nvSpPr>
        <p:spPr>
          <a:xfrm>
            <a:off x="822960" y="3035808"/>
            <a:ext cx="3931920" cy="621792"/>
          </a:xfrm>
          <a:prstGeom prst="rect">
            <a:avLst/>
          </a:prstGeom>
          <a:noFill/>
          <a:ln/>
        </p:spPr>
        <p:txBody>
          <a:bodyPr wrap="square" lIns="0" tIns="0" rIns="0" bIns="0" rtlCol="0" anchor="ctr"/>
          <a:lstStyle/>
          <a:p>
            <a:pPr indent="0" marL="0">
              <a:buNone/>
            </a:pPr>
            <a:r>
              <a:rPr lang="en-US" sz="1150" dirty="0">
                <a:solidFill>
                  <a:srgbClr val="1A1A1A"/>
                </a:solidFill>
                <a:latin typeface="メイリオ" pitchFamily="34" charset="0"/>
                <a:ea typeface="メイリオ" pitchFamily="34" charset="-122"/>
                <a:cs typeface="メイリオ" pitchFamily="34" charset="-120"/>
              </a:rPr>
              <a:t>＋ 商品の含み益（時価1.37倍）</a:t>
            </a:r>
            <a:endParaRPr lang="en-US" sz="1150" dirty="0"/>
          </a:p>
        </p:txBody>
      </p:sp>
      <p:sp>
        <p:nvSpPr>
          <p:cNvPr id="12" name="Text 10"/>
          <p:cNvSpPr/>
          <p:nvPr/>
        </p:nvSpPr>
        <p:spPr>
          <a:xfrm>
            <a:off x="4754880" y="3035808"/>
            <a:ext cx="2011680" cy="621792"/>
          </a:xfrm>
          <a:prstGeom prst="rect">
            <a:avLst/>
          </a:prstGeom>
          <a:noFill/>
          <a:ln/>
        </p:spPr>
        <p:txBody>
          <a:bodyPr wrap="square" lIns="0" tIns="0" rIns="0" bIns="0" rtlCol="0" anchor="ctr"/>
          <a:lstStyle/>
          <a:p>
            <a:pPr algn="r" indent="0" marL="0">
              <a:buNone/>
            </a:pPr>
            <a:r>
              <a:rPr lang="en-US" sz="1300" b="1" dirty="0">
                <a:solidFill>
                  <a:srgbClr val="1A1A1A"/>
                </a:solidFill>
                <a:latin typeface="メイリオ" pitchFamily="34" charset="0"/>
                <a:ea typeface="メイリオ" pitchFamily="34" charset="-122"/>
                <a:cs typeface="メイリオ" pitchFamily="34" charset="-120"/>
              </a:rPr>
              <a:t>186,716,373</a:t>
            </a:r>
            <a:endParaRPr lang="en-US" sz="1300" dirty="0"/>
          </a:p>
        </p:txBody>
      </p:sp>
      <p:sp>
        <p:nvSpPr>
          <p:cNvPr id="13" name="Shape 11"/>
          <p:cNvSpPr/>
          <p:nvPr/>
        </p:nvSpPr>
        <p:spPr>
          <a:xfrm>
            <a:off x="594360" y="3767328"/>
            <a:ext cx="6400800" cy="731520"/>
          </a:xfrm>
          <a:prstGeom prst="rect">
            <a:avLst/>
          </a:prstGeom>
          <a:solidFill>
            <a:srgbClr val="1A1A1A"/>
          </a:solidFill>
          <a:ln/>
        </p:spPr>
      </p:sp>
      <p:sp>
        <p:nvSpPr>
          <p:cNvPr id="14" name="Text 12"/>
          <p:cNvSpPr/>
          <p:nvPr/>
        </p:nvSpPr>
        <p:spPr>
          <a:xfrm>
            <a:off x="822960" y="3767328"/>
            <a:ext cx="3931920" cy="731520"/>
          </a:xfrm>
          <a:prstGeom prst="rect">
            <a:avLst/>
          </a:prstGeom>
          <a:noFill/>
          <a:ln/>
        </p:spPr>
        <p:txBody>
          <a:bodyPr wrap="square" lIns="0" tIns="0" rIns="0" bIns="0" rtlCol="0" anchor="ctr"/>
          <a:lstStyle/>
          <a:p>
            <a:pPr indent="0" marL="0">
              <a:buNone/>
            </a:pPr>
            <a:r>
              <a:rPr lang="en-US" sz="1300" b="1" dirty="0">
                <a:solidFill>
                  <a:srgbClr val="FFFFFF"/>
                </a:solidFill>
                <a:latin typeface="メイリオ" pitchFamily="34" charset="0"/>
                <a:ea typeface="メイリオ" pitchFamily="34" charset="-122"/>
                <a:cs typeface="メイリオ" pitchFamily="34" charset="-120"/>
              </a:rPr>
              <a:t>実態純資産</a:t>
            </a:r>
            <a:endParaRPr lang="en-US" sz="1300" dirty="0"/>
          </a:p>
        </p:txBody>
      </p:sp>
      <p:sp>
        <p:nvSpPr>
          <p:cNvPr id="15" name="Text 13"/>
          <p:cNvSpPr/>
          <p:nvPr/>
        </p:nvSpPr>
        <p:spPr>
          <a:xfrm>
            <a:off x="4754880" y="3767328"/>
            <a:ext cx="2011680" cy="731520"/>
          </a:xfrm>
          <a:prstGeom prst="rect">
            <a:avLst/>
          </a:prstGeom>
          <a:noFill/>
          <a:ln/>
        </p:spPr>
        <p:txBody>
          <a:bodyPr wrap="square" lIns="0" tIns="0" rIns="0" bIns="0" rtlCol="0" anchor="ctr"/>
          <a:lstStyle/>
          <a:p>
            <a:pPr algn="r" indent="0" marL="0">
              <a:buNone/>
            </a:pPr>
            <a:r>
              <a:rPr lang="en-US" sz="1700" b="1" dirty="0">
                <a:solidFill>
                  <a:srgbClr val="FFFFFF"/>
                </a:solidFill>
                <a:latin typeface="メイリオ" pitchFamily="34" charset="0"/>
                <a:ea typeface="メイリオ" pitchFamily="34" charset="-122"/>
                <a:cs typeface="メイリオ" pitchFamily="34" charset="-120"/>
              </a:rPr>
              <a:t>268,649,138</a:t>
            </a:r>
            <a:endParaRPr lang="en-US" sz="1700" dirty="0"/>
          </a:p>
        </p:txBody>
      </p:sp>
      <p:sp>
        <p:nvSpPr>
          <p:cNvPr id="16" name="Text 14"/>
          <p:cNvSpPr/>
          <p:nvPr/>
        </p:nvSpPr>
        <p:spPr>
          <a:xfrm>
            <a:off x="822960" y="4608576"/>
            <a:ext cx="594360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簿価純資産を＋56.9百万円上回る</a:t>
            </a:r>
            <a:endParaRPr lang="en-US" sz="1050" dirty="0"/>
          </a:p>
        </p:txBody>
      </p:sp>
      <p:sp>
        <p:nvSpPr>
          <p:cNvPr id="17" name="Shape 15"/>
          <p:cNvSpPr/>
          <p:nvPr/>
        </p:nvSpPr>
        <p:spPr>
          <a:xfrm>
            <a:off x="7269480" y="1572768"/>
            <a:ext cx="4297680" cy="1325880"/>
          </a:xfrm>
          <a:prstGeom prst="roundRect">
            <a:avLst>
              <a:gd name="adj" fmla="val 34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8" name="Text 16"/>
          <p:cNvSpPr/>
          <p:nvPr/>
        </p:nvSpPr>
        <p:spPr>
          <a:xfrm>
            <a:off x="7498080" y="1700784"/>
            <a:ext cx="201168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繰越欠損金</a:t>
            </a:r>
            <a:endParaRPr lang="en-US" sz="1050" dirty="0"/>
          </a:p>
        </p:txBody>
      </p:sp>
      <p:sp>
        <p:nvSpPr>
          <p:cNvPr id="19" name="Text 17"/>
          <p:cNvSpPr/>
          <p:nvPr/>
        </p:nvSpPr>
        <p:spPr>
          <a:xfrm>
            <a:off x="7498080" y="1938528"/>
            <a:ext cx="3840480" cy="384048"/>
          </a:xfrm>
          <a:prstGeom prst="rect">
            <a:avLst/>
          </a:prstGeom>
          <a:noFill/>
          <a:ln/>
        </p:spPr>
        <p:txBody>
          <a:bodyPr wrap="square" lIns="0" tIns="0" rIns="0" bIns="0" rtlCol="0" anchor="ctr"/>
          <a:lstStyle/>
          <a:p>
            <a:pPr indent="0" marL="0">
              <a:buNone/>
            </a:pPr>
            <a:r>
              <a:rPr lang="en-US" sz="2000" b="1" dirty="0">
                <a:solidFill>
                  <a:srgbClr val="1A1A1A"/>
                </a:solidFill>
                <a:latin typeface="メイリオ" pitchFamily="34" charset="0"/>
                <a:ea typeface="メイリオ" pitchFamily="34" charset="-122"/>
                <a:cs typeface="メイリオ" pitchFamily="34" charset="-120"/>
              </a:rPr>
              <a:t>約252百万円</a:t>
            </a:r>
            <a:endParaRPr lang="en-US" sz="2000" dirty="0"/>
          </a:p>
        </p:txBody>
      </p:sp>
      <p:sp>
        <p:nvSpPr>
          <p:cNvPr id="20" name="Text 18"/>
          <p:cNvSpPr/>
          <p:nvPr/>
        </p:nvSpPr>
        <p:spPr>
          <a:xfrm>
            <a:off x="7498080" y="2350008"/>
            <a:ext cx="3840480" cy="475488"/>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FY2025 ▲127.4 ＋ FY2026 ▲124.8。資本金1,000万円の中小法人は所得の100%控除が可能。FY2027の黒字に法人税は実質発生せず、税引前＝税引後でキャッシュに残ります。</a:t>
            </a:r>
            <a:endParaRPr lang="en-US" sz="950" dirty="0"/>
          </a:p>
        </p:txBody>
      </p:sp>
      <p:sp>
        <p:nvSpPr>
          <p:cNvPr id="21" name="Shape 19"/>
          <p:cNvSpPr/>
          <p:nvPr/>
        </p:nvSpPr>
        <p:spPr>
          <a:xfrm>
            <a:off x="7269480" y="3054096"/>
            <a:ext cx="4297680" cy="1325880"/>
          </a:xfrm>
          <a:prstGeom prst="roundRect">
            <a:avLst>
              <a:gd name="adj" fmla="val 34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2" name="Text 20"/>
          <p:cNvSpPr/>
          <p:nvPr/>
        </p:nvSpPr>
        <p:spPr>
          <a:xfrm>
            <a:off x="7498080" y="3182112"/>
            <a:ext cx="201168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有利子負債</a:t>
            </a:r>
            <a:endParaRPr lang="en-US" sz="1050" dirty="0"/>
          </a:p>
        </p:txBody>
      </p:sp>
      <p:sp>
        <p:nvSpPr>
          <p:cNvPr id="23" name="Text 21"/>
          <p:cNvSpPr/>
          <p:nvPr/>
        </p:nvSpPr>
        <p:spPr>
          <a:xfrm>
            <a:off x="7498080" y="3419856"/>
            <a:ext cx="3840480" cy="384048"/>
          </a:xfrm>
          <a:prstGeom prst="rect">
            <a:avLst/>
          </a:prstGeom>
          <a:noFill/>
          <a:ln/>
        </p:spPr>
        <p:txBody>
          <a:bodyPr wrap="square" lIns="0" tIns="0" rIns="0" bIns="0" rtlCol="0" anchor="ctr"/>
          <a:lstStyle/>
          <a:p>
            <a:pPr indent="0" marL="0">
              <a:buNone/>
            </a:pPr>
            <a:r>
              <a:rPr lang="en-US" sz="2000" b="1" dirty="0">
                <a:solidFill>
                  <a:srgbClr val="1A1A1A"/>
                </a:solidFill>
                <a:latin typeface="メイリオ" pitchFamily="34" charset="0"/>
                <a:ea typeface="メイリオ" pitchFamily="34" charset="-122"/>
                <a:cs typeface="メイリオ" pitchFamily="34" charset="-120"/>
              </a:rPr>
              <a:t>386百万円</a:t>
            </a:r>
            <a:endParaRPr lang="en-US" sz="2000" dirty="0"/>
          </a:p>
        </p:txBody>
      </p:sp>
      <p:sp>
        <p:nvSpPr>
          <p:cNvPr id="24" name="Text 22"/>
          <p:cNvSpPr/>
          <p:nvPr/>
        </p:nvSpPr>
        <p:spPr>
          <a:xfrm>
            <a:off x="7498080" y="3831336"/>
            <a:ext cx="3840480" cy="475488"/>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2025/9末586百万円から、2026/09末のみずほ銀行200百万円返済で減少。</a:t>
            </a:r>
            <a:endParaRPr lang="en-US" sz="950" dirty="0"/>
          </a:p>
        </p:txBody>
      </p:sp>
      <p:sp>
        <p:nvSpPr>
          <p:cNvPr id="25" name="Shape 23"/>
          <p:cNvSpPr/>
          <p:nvPr/>
        </p:nvSpPr>
        <p:spPr>
          <a:xfrm>
            <a:off x="7269480" y="4535424"/>
            <a:ext cx="4297680" cy="1325880"/>
          </a:xfrm>
          <a:prstGeom prst="roundRect">
            <a:avLst>
              <a:gd name="adj" fmla="val 34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6" name="Text 24"/>
          <p:cNvSpPr/>
          <p:nvPr/>
        </p:nvSpPr>
        <p:spPr>
          <a:xfrm>
            <a:off x="7498080" y="4663440"/>
            <a:ext cx="201168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期首 現預金</a:t>
            </a:r>
            <a:endParaRPr lang="en-US" sz="1050" dirty="0"/>
          </a:p>
        </p:txBody>
      </p:sp>
      <p:sp>
        <p:nvSpPr>
          <p:cNvPr id="27" name="Text 25"/>
          <p:cNvSpPr/>
          <p:nvPr/>
        </p:nvSpPr>
        <p:spPr>
          <a:xfrm>
            <a:off x="7498080" y="4901184"/>
            <a:ext cx="3840480" cy="384048"/>
          </a:xfrm>
          <a:prstGeom prst="rect">
            <a:avLst/>
          </a:prstGeom>
          <a:noFill/>
          <a:ln/>
        </p:spPr>
        <p:txBody>
          <a:bodyPr wrap="square" lIns="0" tIns="0" rIns="0" bIns="0" rtlCol="0" anchor="ctr"/>
          <a:lstStyle/>
          <a:p>
            <a:pPr indent="0" marL="0">
              <a:buNone/>
            </a:pPr>
            <a:r>
              <a:rPr lang="en-US" sz="2000" b="1" dirty="0">
                <a:solidFill>
                  <a:srgbClr val="1A1A1A"/>
                </a:solidFill>
                <a:latin typeface="メイリオ" pitchFamily="34" charset="0"/>
                <a:ea typeface="メイリオ" pitchFamily="34" charset="-122"/>
                <a:cs typeface="メイリオ" pitchFamily="34" charset="-120"/>
              </a:rPr>
              <a:t>30百万円</a:t>
            </a:r>
            <a:endParaRPr lang="en-US" sz="2000" dirty="0"/>
          </a:p>
        </p:txBody>
      </p:sp>
      <p:sp>
        <p:nvSpPr>
          <p:cNvPr id="28" name="Text 26"/>
          <p:cNvSpPr/>
          <p:nvPr/>
        </p:nvSpPr>
        <p:spPr>
          <a:xfrm>
            <a:off x="7498080" y="5312664"/>
            <a:ext cx="3840480" cy="475488"/>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2026/09末時点。手元流動性は薄く、月次資金繰り表を別途ご提出します。</a:t>
            </a:r>
            <a:endParaRPr lang="en-US" sz="950" dirty="0"/>
          </a:p>
        </p:txBody>
      </p:sp>
      <p:sp>
        <p:nvSpPr>
          <p:cNvPr id="29" name="Text 27"/>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出典：決算報告書 第54期（2025年9月30日現在）。商品の時価倍率1.37は事業計画202608（銀行様）の自社販売在庫 簿価/時価比率による。</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想定されるご指摘と当社の対応</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先に論点を開示し、対応方針をあわせてご説明します。</a:t>
            </a:r>
            <a:endParaRPr lang="en-US" sz="1250" dirty="0"/>
          </a:p>
        </p:txBody>
      </p:sp>
      <p:sp>
        <p:nvSpPr>
          <p:cNvPr id="4" name="Shape 2"/>
          <p:cNvSpPr/>
          <p:nvPr/>
        </p:nvSpPr>
        <p:spPr>
          <a:xfrm>
            <a:off x="594360" y="1481328"/>
            <a:ext cx="548640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Shape 3"/>
          <p:cNvSpPr/>
          <p:nvPr/>
        </p:nvSpPr>
        <p:spPr>
          <a:xfrm>
            <a:off x="868680" y="1719072"/>
            <a:ext cx="310896" cy="310896"/>
          </a:xfrm>
          <a:prstGeom prst="ellipse">
            <a:avLst/>
          </a:prstGeom>
          <a:solidFill>
            <a:srgbClr val="1A1A1A"/>
          </a:solidFill>
          <a:ln/>
        </p:spPr>
      </p:sp>
      <p:sp>
        <p:nvSpPr>
          <p:cNvPr id="6" name="Text 4"/>
          <p:cNvSpPr/>
          <p:nvPr/>
        </p:nvSpPr>
        <p:spPr>
          <a:xfrm>
            <a:off x="868680"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1</a:t>
            </a:r>
            <a:endParaRPr lang="en-US" sz="1300" dirty="0"/>
          </a:p>
        </p:txBody>
      </p:sp>
      <p:sp>
        <p:nvSpPr>
          <p:cNvPr id="7" name="Text 5"/>
          <p:cNvSpPr/>
          <p:nvPr/>
        </p:nvSpPr>
        <p:spPr>
          <a:xfrm>
            <a:off x="1307592" y="1700784"/>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グループ内取引 92.5百万円</a:t>
            </a:r>
            <a:endParaRPr lang="en-US" sz="1350" dirty="0"/>
          </a:p>
        </p:txBody>
      </p:sp>
      <p:sp>
        <p:nvSpPr>
          <p:cNvPr id="8" name="Text 6"/>
          <p:cNvSpPr/>
          <p:nvPr/>
        </p:nvSpPr>
        <p:spPr>
          <a:xfrm>
            <a:off x="886968" y="2121408"/>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上乗せ案件132.5百万円のうち92.5百万円はグループ会社からの経営指導料。</a:t>
            </a:r>
            <a:endParaRPr lang="en-US" sz="1050" dirty="0"/>
          </a:p>
        </p:txBody>
      </p:sp>
      <p:sp>
        <p:nvSpPr>
          <p:cNvPr id="9" name="Shape 7"/>
          <p:cNvSpPr/>
          <p:nvPr/>
        </p:nvSpPr>
        <p:spPr>
          <a:xfrm>
            <a:off x="886968" y="2670048"/>
            <a:ext cx="4937760" cy="694944"/>
          </a:xfrm>
          <a:prstGeom prst="roundRect">
            <a:avLst>
              <a:gd name="adj" fmla="val 6579"/>
            </a:avLst>
          </a:prstGeom>
          <a:solidFill>
            <a:srgbClr val="FAF3E2"/>
          </a:solidFill>
          <a:ln/>
        </p:spPr>
      </p:sp>
      <p:sp>
        <p:nvSpPr>
          <p:cNvPr id="10" name="Text 8"/>
          <p:cNvSpPr/>
          <p:nvPr/>
        </p:nvSpPr>
        <p:spPr>
          <a:xfrm>
            <a:off x="1051560" y="2670048"/>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支払側各社の支払能力と、対価の算定根拠（業務内容・工数）を文書化してご提出します。</a:t>
            </a:r>
            <a:endParaRPr lang="en-US" sz="1050" dirty="0"/>
          </a:p>
        </p:txBody>
      </p:sp>
      <p:sp>
        <p:nvSpPr>
          <p:cNvPr id="11" name="Shape 9"/>
          <p:cNvSpPr/>
          <p:nvPr/>
        </p:nvSpPr>
        <p:spPr>
          <a:xfrm>
            <a:off x="6400800" y="1481328"/>
            <a:ext cx="548640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2" name="Shape 10"/>
          <p:cNvSpPr/>
          <p:nvPr/>
        </p:nvSpPr>
        <p:spPr>
          <a:xfrm>
            <a:off x="6675120" y="1719072"/>
            <a:ext cx="310896" cy="310896"/>
          </a:xfrm>
          <a:prstGeom prst="ellipse">
            <a:avLst/>
          </a:prstGeom>
          <a:solidFill>
            <a:srgbClr val="1A1A1A"/>
          </a:solidFill>
          <a:ln/>
        </p:spPr>
      </p:sp>
      <p:sp>
        <p:nvSpPr>
          <p:cNvPr id="13" name="Text 11"/>
          <p:cNvSpPr/>
          <p:nvPr/>
        </p:nvSpPr>
        <p:spPr>
          <a:xfrm>
            <a:off x="6675120"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2</a:t>
            </a:r>
            <a:endParaRPr lang="en-US" sz="1300" dirty="0"/>
          </a:p>
        </p:txBody>
      </p:sp>
      <p:sp>
        <p:nvSpPr>
          <p:cNvPr id="14" name="Text 12"/>
          <p:cNvSpPr/>
          <p:nvPr/>
        </p:nvSpPr>
        <p:spPr>
          <a:xfrm>
            <a:off x="7114032" y="1700784"/>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在庫積み増し 118百万円</a:t>
            </a:r>
            <a:endParaRPr lang="en-US" sz="1350" dirty="0"/>
          </a:p>
        </p:txBody>
      </p:sp>
      <p:sp>
        <p:nvSpPr>
          <p:cNvPr id="15" name="Text 13"/>
          <p:cNvSpPr/>
          <p:nvPr/>
        </p:nvSpPr>
        <p:spPr>
          <a:xfrm>
            <a:off x="6693408" y="2121408"/>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仕入を維持するため、在庫が420→538百万円に増加します。</a:t>
            </a:r>
            <a:endParaRPr lang="en-US" sz="1050" dirty="0"/>
          </a:p>
        </p:txBody>
      </p:sp>
      <p:sp>
        <p:nvSpPr>
          <p:cNvPr id="16" name="Shape 14"/>
          <p:cNvSpPr/>
          <p:nvPr/>
        </p:nvSpPr>
        <p:spPr>
          <a:xfrm>
            <a:off x="6693408" y="2670048"/>
            <a:ext cx="4937760" cy="694944"/>
          </a:xfrm>
          <a:prstGeom prst="roundRect">
            <a:avLst>
              <a:gd name="adj" fmla="val 6579"/>
            </a:avLst>
          </a:prstGeom>
          <a:solidFill>
            <a:srgbClr val="FAF3E2"/>
          </a:solidFill>
          <a:ln/>
        </p:spPr>
      </p:sp>
      <p:sp>
        <p:nvSpPr>
          <p:cNvPr id="17" name="Text 15"/>
          <p:cNvSpPr/>
          <p:nvPr/>
        </p:nvSpPr>
        <p:spPr>
          <a:xfrm>
            <a:off x="6858000" y="2670048"/>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時価1.37倍の換価可能資産です。在庫見合いの運転資金枠をご相談させてください。</a:t>
            </a:r>
            <a:endParaRPr lang="en-US" sz="1050" dirty="0"/>
          </a:p>
        </p:txBody>
      </p:sp>
      <p:sp>
        <p:nvSpPr>
          <p:cNvPr id="18" name="Shape 16"/>
          <p:cNvSpPr/>
          <p:nvPr/>
        </p:nvSpPr>
        <p:spPr>
          <a:xfrm>
            <a:off x="594360" y="3694176"/>
            <a:ext cx="548640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9" name="Shape 17"/>
          <p:cNvSpPr/>
          <p:nvPr/>
        </p:nvSpPr>
        <p:spPr>
          <a:xfrm>
            <a:off x="868680" y="3931920"/>
            <a:ext cx="310896" cy="310896"/>
          </a:xfrm>
          <a:prstGeom prst="ellipse">
            <a:avLst/>
          </a:prstGeom>
          <a:solidFill>
            <a:srgbClr val="1A1A1A"/>
          </a:solidFill>
          <a:ln/>
        </p:spPr>
      </p:sp>
      <p:sp>
        <p:nvSpPr>
          <p:cNvPr id="20" name="Text 18"/>
          <p:cNvSpPr/>
          <p:nvPr/>
        </p:nvSpPr>
        <p:spPr>
          <a:xfrm>
            <a:off x="868680" y="39319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3</a:t>
            </a:r>
            <a:endParaRPr lang="en-US" sz="1300" dirty="0"/>
          </a:p>
        </p:txBody>
      </p:sp>
      <p:sp>
        <p:nvSpPr>
          <p:cNvPr id="21" name="Text 19"/>
          <p:cNvSpPr/>
          <p:nvPr/>
        </p:nvSpPr>
        <p:spPr>
          <a:xfrm>
            <a:off x="1307592" y="3913632"/>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2026年11月の資金需要</a:t>
            </a:r>
            <a:endParaRPr lang="en-US" sz="1350" dirty="0"/>
          </a:p>
        </p:txBody>
      </p:sp>
      <p:sp>
        <p:nvSpPr>
          <p:cNvPr id="22" name="Text 20"/>
          <p:cNvSpPr/>
          <p:nvPr/>
        </p:nvSpPr>
        <p:spPr>
          <a:xfrm>
            <a:off x="886968" y="4334256"/>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消費税30百万円の納付が、売上回収が進む前の時期に重なります。</a:t>
            </a:r>
            <a:endParaRPr lang="en-US" sz="1050" dirty="0"/>
          </a:p>
        </p:txBody>
      </p:sp>
      <p:sp>
        <p:nvSpPr>
          <p:cNvPr id="23" name="Shape 21"/>
          <p:cNvSpPr/>
          <p:nvPr/>
        </p:nvSpPr>
        <p:spPr>
          <a:xfrm>
            <a:off x="886968" y="4882896"/>
            <a:ext cx="4937760" cy="694944"/>
          </a:xfrm>
          <a:prstGeom prst="roundRect">
            <a:avLst>
              <a:gd name="adj" fmla="val 6579"/>
            </a:avLst>
          </a:prstGeom>
          <a:solidFill>
            <a:srgbClr val="FAF3E2"/>
          </a:solidFill>
          <a:ln/>
        </p:spPr>
      </p:sp>
      <p:sp>
        <p:nvSpPr>
          <p:cNvPr id="24" name="Text 22"/>
          <p:cNvSpPr/>
          <p:nvPr/>
        </p:nvSpPr>
        <p:spPr>
          <a:xfrm>
            <a:off x="1051560" y="4882896"/>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短期のつなぎ資金でこの一点を越えられれば、通期の資金繰りは成立します。</a:t>
            </a:r>
            <a:endParaRPr lang="en-US" sz="1050" dirty="0"/>
          </a:p>
        </p:txBody>
      </p:sp>
      <p:sp>
        <p:nvSpPr>
          <p:cNvPr id="25" name="Shape 23"/>
          <p:cNvSpPr/>
          <p:nvPr/>
        </p:nvSpPr>
        <p:spPr>
          <a:xfrm>
            <a:off x="6400800" y="3694176"/>
            <a:ext cx="548640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6" name="Shape 24"/>
          <p:cNvSpPr/>
          <p:nvPr/>
        </p:nvSpPr>
        <p:spPr>
          <a:xfrm>
            <a:off x="6675120" y="3931920"/>
            <a:ext cx="310896" cy="310896"/>
          </a:xfrm>
          <a:prstGeom prst="ellipse">
            <a:avLst/>
          </a:prstGeom>
          <a:solidFill>
            <a:srgbClr val="1A1A1A"/>
          </a:solidFill>
          <a:ln/>
        </p:spPr>
      </p:sp>
      <p:sp>
        <p:nvSpPr>
          <p:cNvPr id="27" name="Text 25"/>
          <p:cNvSpPr/>
          <p:nvPr/>
        </p:nvSpPr>
        <p:spPr>
          <a:xfrm>
            <a:off x="6675120" y="39319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4</a:t>
            </a:r>
            <a:endParaRPr lang="en-US" sz="1300" dirty="0"/>
          </a:p>
        </p:txBody>
      </p:sp>
      <p:sp>
        <p:nvSpPr>
          <p:cNvPr id="28" name="Text 26"/>
          <p:cNvSpPr/>
          <p:nvPr/>
        </p:nvSpPr>
        <p:spPr>
          <a:xfrm>
            <a:off x="7114032" y="3913632"/>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追加売上の未達リスク</a:t>
            </a:r>
            <a:endParaRPr lang="en-US" sz="1350" dirty="0"/>
          </a:p>
        </p:txBody>
      </p:sp>
      <p:sp>
        <p:nvSpPr>
          <p:cNvPr id="29" name="Text 27"/>
          <p:cNvSpPr/>
          <p:nvPr/>
        </p:nvSpPr>
        <p:spPr>
          <a:xfrm>
            <a:off x="6693408" y="4334256"/>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仕入を固定するため、売上未達時の資金影響が大きくなります。</a:t>
            </a:r>
            <a:endParaRPr lang="en-US" sz="1050" dirty="0"/>
          </a:p>
        </p:txBody>
      </p:sp>
      <p:sp>
        <p:nvSpPr>
          <p:cNvPr id="30" name="Shape 28"/>
          <p:cNvSpPr/>
          <p:nvPr/>
        </p:nvSpPr>
        <p:spPr>
          <a:xfrm>
            <a:off x="6693408" y="4882896"/>
            <a:ext cx="4937760" cy="694944"/>
          </a:xfrm>
          <a:prstGeom prst="roundRect">
            <a:avLst>
              <a:gd name="adj" fmla="val 6579"/>
            </a:avLst>
          </a:prstGeom>
          <a:solidFill>
            <a:srgbClr val="FAF3E2"/>
          </a:solidFill>
          <a:ln/>
        </p:spPr>
      </p:sp>
      <p:sp>
        <p:nvSpPr>
          <p:cNvPr id="31" name="Text 29"/>
          <p:cNvSpPr/>
          <p:nvPr/>
        </p:nvSpPr>
        <p:spPr>
          <a:xfrm>
            <a:off x="6858000" y="4882896"/>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月次で進捗をご報告し、未達が見込まれる場合は仕入計画を機動的に見直します。</a:t>
            </a:r>
            <a:endParaRPr lang="en-US" sz="1050" dirty="0"/>
          </a:p>
        </p:txBody>
      </p:sp>
      <p:sp>
        <p:nvSpPr>
          <p:cNvPr id="32" name="Text 30"/>
          <p:cNvSpPr/>
          <p:nvPr/>
        </p:nvSpPr>
        <p:spPr>
          <a:xfrm>
            <a:off x="594360" y="6382512"/>
            <a:ext cx="10972800" cy="274320"/>
          </a:xfrm>
          <a:prstGeom prst="rect">
            <a:avLst/>
          </a:prstGeom>
          <a:noFill/>
          <a:ln/>
        </p:spPr>
        <p:txBody>
          <a:bodyPr wrap="square" lIns="0" tIns="0" rIns="0" bIns="0" rtlCol="0" anchor="ctr"/>
          <a:lstStyle/>
          <a:p>
            <a:pPr indent="0" marL="0">
              <a:buNone/>
            </a:pP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プランCの蓋然性 － 過去実績が裏付けています</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売上は前期・今期と同水準。上振れを織り込まず、粗利率も過去実績の平均に落としています。</a:t>
            </a:r>
            <a:endParaRPr lang="en-US" sz="1250" dirty="0"/>
          </a:p>
        </p:txBody>
      </p:sp>
      <p:sp>
        <p:nvSpPr>
          <p:cNvPr id="4" name="Shape 2"/>
          <p:cNvSpPr/>
          <p:nvPr/>
        </p:nvSpPr>
        <p:spPr>
          <a:xfrm>
            <a:off x="594360" y="1517904"/>
            <a:ext cx="10058400" cy="384048"/>
          </a:xfrm>
          <a:prstGeom prst="rect">
            <a:avLst/>
          </a:prstGeom>
          <a:solidFill>
            <a:srgbClr val="1A1A1A"/>
          </a:solidFill>
          <a:ln/>
        </p:spPr>
      </p:sp>
      <p:sp>
        <p:nvSpPr>
          <p:cNvPr id="5" name="Text 3"/>
          <p:cNvSpPr/>
          <p:nvPr/>
        </p:nvSpPr>
        <p:spPr>
          <a:xfrm>
            <a:off x="704088" y="1517904"/>
            <a:ext cx="2432304" cy="384048"/>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期</a:t>
            </a:r>
            <a:endParaRPr lang="en-US" sz="950" dirty="0"/>
          </a:p>
        </p:txBody>
      </p:sp>
      <p:sp>
        <p:nvSpPr>
          <p:cNvPr id="6" name="Text 4"/>
          <p:cNvSpPr/>
          <p:nvPr/>
        </p:nvSpPr>
        <p:spPr>
          <a:xfrm>
            <a:off x="3355848" y="1517904"/>
            <a:ext cx="179222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売上高（百万円）</a:t>
            </a:r>
            <a:endParaRPr lang="en-US" sz="950" dirty="0"/>
          </a:p>
        </p:txBody>
      </p:sp>
      <p:sp>
        <p:nvSpPr>
          <p:cNvPr id="7" name="Text 5"/>
          <p:cNvSpPr/>
          <p:nvPr/>
        </p:nvSpPr>
        <p:spPr>
          <a:xfrm>
            <a:off x="5367528" y="1517904"/>
            <a:ext cx="188366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事業粗利（百万円）</a:t>
            </a:r>
            <a:endParaRPr lang="en-US" sz="950" dirty="0"/>
          </a:p>
        </p:txBody>
      </p:sp>
      <p:sp>
        <p:nvSpPr>
          <p:cNvPr id="8" name="Text 6"/>
          <p:cNvSpPr/>
          <p:nvPr/>
        </p:nvSpPr>
        <p:spPr>
          <a:xfrm>
            <a:off x="7470648" y="1517904"/>
            <a:ext cx="124358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粗利率</a:t>
            </a:r>
            <a:endParaRPr lang="en-US" sz="950" dirty="0"/>
          </a:p>
        </p:txBody>
      </p:sp>
      <p:sp>
        <p:nvSpPr>
          <p:cNvPr id="9" name="Text 7"/>
          <p:cNvSpPr/>
          <p:nvPr/>
        </p:nvSpPr>
        <p:spPr>
          <a:xfrm>
            <a:off x="8933688" y="1517904"/>
            <a:ext cx="160934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プランC/実績</a:t>
            </a:r>
            <a:endParaRPr lang="en-US" sz="950" dirty="0"/>
          </a:p>
        </p:txBody>
      </p:sp>
      <p:sp>
        <p:nvSpPr>
          <p:cNvPr id="10" name="Shape 8"/>
          <p:cNvSpPr/>
          <p:nvPr/>
        </p:nvSpPr>
        <p:spPr>
          <a:xfrm>
            <a:off x="594360" y="1901952"/>
            <a:ext cx="10058400" cy="475488"/>
          </a:xfrm>
          <a:prstGeom prst="rect">
            <a:avLst/>
          </a:prstGeom>
          <a:solidFill>
            <a:srgbClr val="FFFFFF"/>
          </a:solidFill>
          <a:ln w="6350">
            <a:solidFill>
              <a:srgbClr val="E2E0DC"/>
            </a:solidFill>
            <a:prstDash val="solid"/>
          </a:ln>
        </p:spPr>
      </p:sp>
      <p:sp>
        <p:nvSpPr>
          <p:cNvPr id="11" name="Text 9"/>
          <p:cNvSpPr/>
          <p:nvPr/>
        </p:nvSpPr>
        <p:spPr>
          <a:xfrm>
            <a:off x="704088" y="1901952"/>
            <a:ext cx="2432304" cy="47548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FY2024 実績</a:t>
            </a:r>
            <a:endParaRPr lang="en-US" sz="1050" dirty="0"/>
          </a:p>
        </p:txBody>
      </p:sp>
      <p:sp>
        <p:nvSpPr>
          <p:cNvPr id="12" name="Text 10"/>
          <p:cNvSpPr/>
          <p:nvPr/>
        </p:nvSpPr>
        <p:spPr>
          <a:xfrm>
            <a:off x="3355848" y="1901952"/>
            <a:ext cx="179222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512.5</a:t>
            </a:r>
            <a:endParaRPr lang="en-US" sz="1050" dirty="0"/>
          </a:p>
        </p:txBody>
      </p:sp>
      <p:sp>
        <p:nvSpPr>
          <p:cNvPr id="13" name="Text 11"/>
          <p:cNvSpPr/>
          <p:nvPr/>
        </p:nvSpPr>
        <p:spPr>
          <a:xfrm>
            <a:off x="5367528" y="1901952"/>
            <a:ext cx="188366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203.7</a:t>
            </a:r>
            <a:endParaRPr lang="en-US" sz="1050" dirty="0"/>
          </a:p>
        </p:txBody>
      </p:sp>
      <p:sp>
        <p:nvSpPr>
          <p:cNvPr id="14" name="Text 12"/>
          <p:cNvSpPr/>
          <p:nvPr/>
        </p:nvSpPr>
        <p:spPr>
          <a:xfrm>
            <a:off x="7470648" y="1901952"/>
            <a:ext cx="124358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39.8%</a:t>
            </a:r>
            <a:endParaRPr lang="en-US" sz="1050" dirty="0"/>
          </a:p>
        </p:txBody>
      </p:sp>
      <p:sp>
        <p:nvSpPr>
          <p:cNvPr id="15" name="Text 13"/>
          <p:cNvSpPr/>
          <p:nvPr/>
        </p:nvSpPr>
        <p:spPr>
          <a:xfrm>
            <a:off x="8933688" y="1901952"/>
            <a:ext cx="160934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16" name="Shape 14"/>
          <p:cNvSpPr/>
          <p:nvPr/>
        </p:nvSpPr>
        <p:spPr>
          <a:xfrm>
            <a:off x="594360" y="2377440"/>
            <a:ext cx="10058400" cy="475488"/>
          </a:xfrm>
          <a:prstGeom prst="rect">
            <a:avLst/>
          </a:prstGeom>
          <a:solidFill>
            <a:srgbClr val="FBFAF8"/>
          </a:solidFill>
          <a:ln w="6350">
            <a:solidFill>
              <a:srgbClr val="E2E0DC"/>
            </a:solidFill>
            <a:prstDash val="solid"/>
          </a:ln>
        </p:spPr>
      </p:sp>
      <p:sp>
        <p:nvSpPr>
          <p:cNvPr id="17" name="Text 15"/>
          <p:cNvSpPr/>
          <p:nvPr/>
        </p:nvSpPr>
        <p:spPr>
          <a:xfrm>
            <a:off x="704088" y="2377440"/>
            <a:ext cx="2432304" cy="47548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FY2025 実績</a:t>
            </a:r>
            <a:endParaRPr lang="en-US" sz="1050" dirty="0"/>
          </a:p>
        </p:txBody>
      </p:sp>
      <p:sp>
        <p:nvSpPr>
          <p:cNvPr id="18" name="Text 16"/>
          <p:cNvSpPr/>
          <p:nvPr/>
        </p:nvSpPr>
        <p:spPr>
          <a:xfrm>
            <a:off x="3355848" y="2377440"/>
            <a:ext cx="179222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752.9</a:t>
            </a:r>
            <a:endParaRPr lang="en-US" sz="1050" dirty="0"/>
          </a:p>
        </p:txBody>
      </p:sp>
      <p:sp>
        <p:nvSpPr>
          <p:cNvPr id="19" name="Text 17"/>
          <p:cNvSpPr/>
          <p:nvPr/>
        </p:nvSpPr>
        <p:spPr>
          <a:xfrm>
            <a:off x="5367528" y="2377440"/>
            <a:ext cx="188366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201.9</a:t>
            </a:r>
            <a:endParaRPr lang="en-US" sz="1050" dirty="0"/>
          </a:p>
        </p:txBody>
      </p:sp>
      <p:sp>
        <p:nvSpPr>
          <p:cNvPr id="20" name="Text 18"/>
          <p:cNvSpPr/>
          <p:nvPr/>
        </p:nvSpPr>
        <p:spPr>
          <a:xfrm>
            <a:off x="7470648" y="2377440"/>
            <a:ext cx="124358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26.8%</a:t>
            </a:r>
            <a:endParaRPr lang="en-US" sz="1050" dirty="0"/>
          </a:p>
        </p:txBody>
      </p:sp>
      <p:sp>
        <p:nvSpPr>
          <p:cNvPr id="21" name="Text 19"/>
          <p:cNvSpPr/>
          <p:nvPr/>
        </p:nvSpPr>
        <p:spPr>
          <a:xfrm>
            <a:off x="8933688" y="2377440"/>
            <a:ext cx="160934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97.0%</a:t>
            </a:r>
            <a:endParaRPr lang="en-US" sz="1050" dirty="0"/>
          </a:p>
        </p:txBody>
      </p:sp>
      <p:sp>
        <p:nvSpPr>
          <p:cNvPr id="22" name="Shape 20"/>
          <p:cNvSpPr/>
          <p:nvPr/>
        </p:nvSpPr>
        <p:spPr>
          <a:xfrm>
            <a:off x="594360" y="2852928"/>
            <a:ext cx="10058400" cy="475488"/>
          </a:xfrm>
          <a:prstGeom prst="rect">
            <a:avLst/>
          </a:prstGeom>
          <a:solidFill>
            <a:srgbClr val="FFFFFF"/>
          </a:solidFill>
          <a:ln w="6350">
            <a:solidFill>
              <a:srgbClr val="E2E0DC"/>
            </a:solidFill>
            <a:prstDash val="solid"/>
          </a:ln>
        </p:spPr>
      </p:sp>
      <p:sp>
        <p:nvSpPr>
          <p:cNvPr id="23" name="Text 21"/>
          <p:cNvSpPr/>
          <p:nvPr/>
        </p:nvSpPr>
        <p:spPr>
          <a:xfrm>
            <a:off x="704088" y="2852928"/>
            <a:ext cx="2432304" cy="47548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FY2026 見込</a:t>
            </a:r>
            <a:endParaRPr lang="en-US" sz="1050" dirty="0"/>
          </a:p>
        </p:txBody>
      </p:sp>
      <p:sp>
        <p:nvSpPr>
          <p:cNvPr id="24" name="Text 22"/>
          <p:cNvSpPr/>
          <p:nvPr/>
        </p:nvSpPr>
        <p:spPr>
          <a:xfrm>
            <a:off x="3355848" y="2852928"/>
            <a:ext cx="179222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708.2</a:t>
            </a:r>
            <a:endParaRPr lang="en-US" sz="1050" dirty="0"/>
          </a:p>
        </p:txBody>
      </p:sp>
      <p:sp>
        <p:nvSpPr>
          <p:cNvPr id="25" name="Text 23"/>
          <p:cNvSpPr/>
          <p:nvPr/>
        </p:nvSpPr>
        <p:spPr>
          <a:xfrm>
            <a:off x="5367528" y="2852928"/>
            <a:ext cx="188366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229.1</a:t>
            </a:r>
            <a:endParaRPr lang="en-US" sz="1050" dirty="0"/>
          </a:p>
        </p:txBody>
      </p:sp>
      <p:sp>
        <p:nvSpPr>
          <p:cNvPr id="26" name="Text 24"/>
          <p:cNvSpPr/>
          <p:nvPr/>
        </p:nvSpPr>
        <p:spPr>
          <a:xfrm>
            <a:off x="7470648" y="2852928"/>
            <a:ext cx="124358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32.4%</a:t>
            </a:r>
            <a:endParaRPr lang="en-US" sz="1050" dirty="0"/>
          </a:p>
        </p:txBody>
      </p:sp>
      <p:sp>
        <p:nvSpPr>
          <p:cNvPr id="27" name="Text 25"/>
          <p:cNvSpPr/>
          <p:nvPr/>
        </p:nvSpPr>
        <p:spPr>
          <a:xfrm>
            <a:off x="8933688" y="2852928"/>
            <a:ext cx="160934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103.2%</a:t>
            </a:r>
            <a:endParaRPr lang="en-US" sz="1050" dirty="0"/>
          </a:p>
        </p:txBody>
      </p:sp>
      <p:sp>
        <p:nvSpPr>
          <p:cNvPr id="28" name="Shape 26"/>
          <p:cNvSpPr/>
          <p:nvPr/>
        </p:nvSpPr>
        <p:spPr>
          <a:xfrm>
            <a:off x="594360" y="3328416"/>
            <a:ext cx="10058400" cy="475488"/>
          </a:xfrm>
          <a:prstGeom prst="rect">
            <a:avLst/>
          </a:prstGeom>
          <a:solidFill>
            <a:srgbClr val="FAF3E2"/>
          </a:solidFill>
          <a:ln w="6350">
            <a:solidFill>
              <a:srgbClr val="E2E0DC"/>
            </a:solidFill>
            <a:prstDash val="solid"/>
          </a:ln>
        </p:spPr>
      </p:sp>
      <p:sp>
        <p:nvSpPr>
          <p:cNvPr id="29" name="Text 27"/>
          <p:cNvSpPr/>
          <p:nvPr/>
        </p:nvSpPr>
        <p:spPr>
          <a:xfrm>
            <a:off x="704088" y="3328416"/>
            <a:ext cx="2432304" cy="475488"/>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プランC（FY2027）</a:t>
            </a:r>
            <a:endParaRPr lang="en-US" sz="1050" dirty="0"/>
          </a:p>
        </p:txBody>
      </p:sp>
      <p:sp>
        <p:nvSpPr>
          <p:cNvPr id="30" name="Text 28"/>
          <p:cNvSpPr/>
          <p:nvPr/>
        </p:nvSpPr>
        <p:spPr>
          <a:xfrm>
            <a:off x="3355848" y="3328416"/>
            <a:ext cx="1792224" cy="47548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730.5</a:t>
            </a:r>
            <a:endParaRPr lang="en-US" sz="1050" dirty="0"/>
          </a:p>
        </p:txBody>
      </p:sp>
      <p:sp>
        <p:nvSpPr>
          <p:cNvPr id="31" name="Text 29"/>
          <p:cNvSpPr/>
          <p:nvPr/>
        </p:nvSpPr>
        <p:spPr>
          <a:xfrm>
            <a:off x="5367528" y="3328416"/>
            <a:ext cx="1883664" cy="47548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395.8</a:t>
            </a:r>
            <a:endParaRPr lang="en-US" sz="1050" dirty="0"/>
          </a:p>
        </p:txBody>
      </p:sp>
      <p:sp>
        <p:nvSpPr>
          <p:cNvPr id="32" name="Text 30"/>
          <p:cNvSpPr/>
          <p:nvPr/>
        </p:nvSpPr>
        <p:spPr>
          <a:xfrm>
            <a:off x="7470648" y="3328416"/>
            <a:ext cx="1243584" cy="47548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54.2%</a:t>
            </a:r>
            <a:endParaRPr lang="en-US" sz="1050" dirty="0"/>
          </a:p>
        </p:txBody>
      </p:sp>
      <p:sp>
        <p:nvSpPr>
          <p:cNvPr id="33" name="Text 31"/>
          <p:cNvSpPr/>
          <p:nvPr/>
        </p:nvSpPr>
        <p:spPr>
          <a:xfrm>
            <a:off x="8933688" y="3328416"/>
            <a:ext cx="1609344" cy="47548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100.0%</a:t>
            </a:r>
            <a:endParaRPr lang="en-US" sz="1050" dirty="0"/>
          </a:p>
        </p:txBody>
      </p:sp>
      <p:sp>
        <p:nvSpPr>
          <p:cNvPr id="34" name="Shape 32"/>
          <p:cNvSpPr/>
          <p:nvPr/>
        </p:nvSpPr>
        <p:spPr>
          <a:xfrm>
            <a:off x="594360" y="3794760"/>
            <a:ext cx="5349240" cy="1417320"/>
          </a:xfrm>
          <a:prstGeom prst="roundRect">
            <a:avLst>
              <a:gd name="adj" fmla="val 3226"/>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5" name="Text 33"/>
          <p:cNvSpPr/>
          <p:nvPr/>
        </p:nvSpPr>
        <p:spPr>
          <a:xfrm>
            <a:off x="868680" y="3959352"/>
            <a:ext cx="4800600" cy="292608"/>
          </a:xfrm>
          <a:prstGeom prst="rect">
            <a:avLst/>
          </a:prstGeom>
          <a:noFill/>
          <a:ln/>
        </p:spPr>
        <p:txBody>
          <a:bodyPr wrap="square" lIns="0" tIns="0" rIns="0" bIns="0" rtlCol="0" anchor="ctr"/>
          <a:lstStyle/>
          <a:p>
            <a:pPr indent="0" marL="0">
              <a:buNone/>
            </a:pPr>
            <a:r>
              <a:rPr lang="en-US" sz="1200" b="1" dirty="0">
                <a:solidFill>
                  <a:srgbClr val="A98442"/>
                </a:solidFill>
                <a:latin typeface="メイリオ" pitchFamily="34" charset="0"/>
                <a:ea typeface="メイリオ" pitchFamily="34" charset="-122"/>
                <a:cs typeface="メイリオ" pitchFamily="34" charset="-120"/>
              </a:rPr>
              <a:t>売上は過去2期と同水準</a:t>
            </a:r>
            <a:endParaRPr lang="en-US" sz="1200" dirty="0"/>
          </a:p>
        </p:txBody>
      </p:sp>
      <p:sp>
        <p:nvSpPr>
          <p:cNvPr id="36" name="Text 34"/>
          <p:cNvSpPr/>
          <p:nvPr/>
        </p:nvSpPr>
        <p:spPr>
          <a:xfrm>
            <a:off x="868680" y="4297680"/>
            <a:ext cx="4800600" cy="868680"/>
          </a:xfrm>
          <a:prstGeom prst="rect">
            <a:avLst/>
          </a:prstGeom>
          <a:noFill/>
          <a:ln/>
        </p:spPr>
        <p:txBody>
          <a:bodyPr wrap="square" lIns="0" tIns="0" rIns="0" bIns="0" rtlCol="0" anchor="t"/>
          <a:lstStyle/>
          <a:p>
            <a:pPr indent="0" marL="0">
              <a:buNone/>
            </a:pPr>
            <a:r>
              <a:rPr lang="en-US" sz="1100" dirty="0">
                <a:solidFill>
                  <a:srgbClr val="FFFFFF"/>
                </a:solidFill>
                <a:latin typeface="メイリオ" pitchFamily="34" charset="0"/>
                <a:ea typeface="メイリオ" pitchFamily="34" charset="-122"/>
                <a:cs typeface="メイリオ" pitchFamily="34" charset="-120"/>
              </a:rPr>
              <a:t>プランCの730.5百万円は、FY2025実績752.9とFY2026見込708.2のちょうど平均。新たな成長を前提にせず、過去2期に到達した売上規模をそのまま置いています。</a:t>
            </a:r>
            <a:endParaRPr lang="en-US" sz="1100" dirty="0"/>
          </a:p>
        </p:txBody>
      </p:sp>
      <p:sp>
        <p:nvSpPr>
          <p:cNvPr id="37" name="Shape 35"/>
          <p:cNvSpPr/>
          <p:nvPr/>
        </p:nvSpPr>
        <p:spPr>
          <a:xfrm>
            <a:off x="6217920" y="3794760"/>
            <a:ext cx="5349240" cy="1417320"/>
          </a:xfrm>
          <a:prstGeom prst="roundRect">
            <a:avLst>
              <a:gd name="adj" fmla="val 3226"/>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8" name="Text 36"/>
          <p:cNvSpPr/>
          <p:nvPr/>
        </p:nvSpPr>
        <p:spPr>
          <a:xfrm>
            <a:off x="6492240" y="3959352"/>
            <a:ext cx="4800600" cy="292608"/>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差額分の粗利率は保守的に30%</a:t>
            </a:r>
            <a:endParaRPr lang="en-US" sz="1200" dirty="0"/>
          </a:p>
        </p:txBody>
      </p:sp>
      <p:sp>
        <p:nvSpPr>
          <p:cNvPr id="39" name="Text 37"/>
          <p:cNvSpPr/>
          <p:nvPr/>
        </p:nvSpPr>
        <p:spPr>
          <a:xfrm>
            <a:off x="6492240" y="4297680"/>
            <a:ext cx="4800600" cy="868680"/>
          </a:xfrm>
          <a:prstGeom prst="rect">
            <a:avLst/>
          </a:prstGeom>
          <a:noFill/>
          <a:ln/>
        </p:spPr>
        <p:txBody>
          <a:bodyPr wrap="square" lIns="0" tIns="0" rIns="0" bIns="0" rtlCol="0" anchor="t"/>
          <a:lstStyle/>
          <a:p>
            <a:pPr indent="0" marL="0">
              <a:buNone/>
            </a:pPr>
            <a:r>
              <a:rPr lang="en-US" sz="1100" dirty="0">
                <a:solidFill>
                  <a:srgbClr val="1A1A1A"/>
                </a:solidFill>
                <a:latin typeface="メイリオ" pitchFamily="34" charset="0"/>
                <a:ea typeface="メイリオ" pitchFamily="34" charset="-122"/>
                <a:cs typeface="メイリオ" pitchFamily="34" charset="-120"/>
              </a:rPr>
              <a:t>Bからの差額売上208.9百万円には粗利率30%を適用。FY2025 26.8%・FY2026 32.4%という実績水準に合わせた保守値で、4-6月実績の51.5%は使っていません。</a:t>
            </a:r>
            <a:endParaRPr lang="en-US" sz="1100" dirty="0"/>
          </a:p>
        </p:txBody>
      </p:sp>
      <p:sp>
        <p:nvSpPr>
          <p:cNvPr id="40" name="Shape 38"/>
          <p:cNvSpPr/>
          <p:nvPr/>
        </p:nvSpPr>
        <p:spPr>
          <a:xfrm>
            <a:off x="594360" y="5394960"/>
            <a:ext cx="10963656" cy="777240"/>
          </a:xfrm>
          <a:prstGeom prst="roundRect">
            <a:avLst>
              <a:gd name="adj" fmla="val 5882"/>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1" name="Text 39"/>
          <p:cNvSpPr/>
          <p:nvPr/>
        </p:nvSpPr>
        <p:spPr>
          <a:xfrm>
            <a:off x="914400" y="5394960"/>
            <a:ext cx="10332720" cy="777240"/>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差額売上208.9百万円の粗利率が4-6月実績の51.5%であれば、同じ売上730.5百万円で経常利益は約125百万円。プランCはその上振れを織り込んでいません。</a:t>
            </a:r>
            <a:endParaRPr lang="en-US" sz="1200" dirty="0"/>
          </a:p>
        </p:txBody>
      </p:sp>
      <p:sp>
        <p:nvSpPr>
          <p:cNvPr id="42" name="Text 40"/>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プランCの粗利395.8百万円＝既存389.1×51.5%（200.6）＋差額208.9×30%（62.7）＋上乗せ132.5（原価なし）。出典：事業計画202608（銀行様）、決算報告書 第54期。</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1A1A1A"/>
          </a:solidFill>
          <a:ln/>
        </p:spPr>
      </p:sp>
      <p:sp>
        <p:nvSpPr>
          <p:cNvPr id="3" name="Text 1"/>
          <p:cNvSpPr/>
          <p:nvPr/>
        </p:nvSpPr>
        <p:spPr>
          <a:xfrm>
            <a:off x="822960" y="685800"/>
            <a:ext cx="7315200" cy="640080"/>
          </a:xfrm>
          <a:prstGeom prst="rect">
            <a:avLst/>
          </a:prstGeom>
          <a:noFill/>
          <a:ln/>
        </p:spPr>
        <p:txBody>
          <a:bodyPr wrap="square" lIns="0" tIns="0" rIns="0" bIns="0" rtlCol="0" anchor="ctr"/>
          <a:lstStyle/>
          <a:p>
            <a:pPr indent="0" marL="0">
              <a:buNone/>
            </a:pPr>
            <a:r>
              <a:rPr lang="en-US" sz="3400" b="1" dirty="0">
                <a:solidFill>
                  <a:srgbClr val="1A1A1A"/>
                </a:solidFill>
                <a:latin typeface="メイリオ" pitchFamily="34" charset="0"/>
                <a:ea typeface="メイリオ" pitchFamily="34" charset="-122"/>
                <a:cs typeface="メイリオ" pitchFamily="34" charset="-120"/>
              </a:rPr>
              <a:t>まとめ</a:t>
            </a:r>
            <a:endParaRPr lang="en-US" sz="3400" dirty="0"/>
          </a:p>
        </p:txBody>
      </p:sp>
      <p:sp>
        <p:nvSpPr>
          <p:cNvPr id="4" name="Shape 2"/>
          <p:cNvSpPr/>
          <p:nvPr/>
        </p:nvSpPr>
        <p:spPr>
          <a:xfrm>
            <a:off x="822960" y="1371600"/>
            <a:ext cx="1463040" cy="22860"/>
          </a:xfrm>
          <a:prstGeom prst="rect">
            <a:avLst/>
          </a:prstGeom>
          <a:solidFill>
            <a:srgbClr val="A98442"/>
          </a:solidFill>
          <a:ln/>
        </p:spPr>
      </p:sp>
      <p:sp>
        <p:nvSpPr>
          <p:cNvPr id="5" name="Shape 3"/>
          <p:cNvSpPr/>
          <p:nvPr/>
        </p:nvSpPr>
        <p:spPr>
          <a:xfrm>
            <a:off x="822960" y="1655064"/>
            <a:ext cx="365760" cy="365760"/>
          </a:xfrm>
          <a:prstGeom prst="ellipse">
            <a:avLst/>
          </a:prstGeom>
          <a:solidFill>
            <a:srgbClr val="1A1A1A"/>
          </a:solidFill>
          <a:ln/>
        </p:spPr>
      </p:sp>
      <p:sp>
        <p:nvSpPr>
          <p:cNvPr id="6" name="Text 4"/>
          <p:cNvSpPr/>
          <p:nvPr/>
        </p:nvSpPr>
        <p:spPr>
          <a:xfrm>
            <a:off x="822960" y="16550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メイリオ" pitchFamily="34" charset="0"/>
                <a:ea typeface="メイリオ" pitchFamily="34" charset="-122"/>
                <a:cs typeface="メイリオ" pitchFamily="34" charset="-120"/>
              </a:rPr>
              <a:t>1</a:t>
            </a:r>
            <a:endParaRPr lang="en-US" sz="1400" dirty="0"/>
          </a:p>
        </p:txBody>
      </p:sp>
      <p:sp>
        <p:nvSpPr>
          <p:cNvPr id="7" name="Text 5"/>
          <p:cNvSpPr/>
          <p:nvPr/>
        </p:nvSpPr>
        <p:spPr>
          <a:xfrm>
            <a:off x="1417320" y="1600200"/>
            <a:ext cx="6766560" cy="365760"/>
          </a:xfrm>
          <a:prstGeom prst="rect">
            <a:avLst/>
          </a:prstGeom>
          <a:noFill/>
          <a:ln/>
        </p:spPr>
        <p:txBody>
          <a:bodyPr wrap="square" lIns="0" tIns="0" rIns="0" bIns="0" rtlCol="0" anchor="ctr"/>
          <a:lstStyle/>
          <a:p>
            <a:pPr indent="0" marL="0">
              <a:buNone/>
            </a:pPr>
            <a:r>
              <a:rPr lang="en-US" sz="1550" b="1" dirty="0">
                <a:solidFill>
                  <a:srgbClr val="1A1A1A"/>
                </a:solidFill>
                <a:latin typeface="メイリオ" pitchFamily="34" charset="0"/>
                <a:ea typeface="メイリオ" pitchFamily="34" charset="-122"/>
                <a:cs typeface="メイリオ" pitchFamily="34" charset="-120"/>
              </a:rPr>
              <a:t>FY2026の赤字は構造改革の費用</a:t>
            </a:r>
            <a:endParaRPr lang="en-US" sz="1550" dirty="0"/>
          </a:p>
        </p:txBody>
      </p:sp>
      <p:sp>
        <p:nvSpPr>
          <p:cNvPr id="8" name="Text 6"/>
          <p:cNvSpPr/>
          <p:nvPr/>
        </p:nvSpPr>
        <p:spPr>
          <a:xfrm>
            <a:off x="1417320" y="1984248"/>
            <a:ext cx="6766560" cy="402336"/>
          </a:xfrm>
          <a:prstGeom prst="rect">
            <a:avLst/>
          </a:prstGeom>
          <a:noFill/>
          <a:ln/>
        </p:spPr>
        <p:txBody>
          <a:bodyPr wrap="square" lIns="0" tIns="0" rIns="0" bIns="0" rtlCol="0" anchor="ctr"/>
          <a:lstStyle/>
          <a:p>
            <a:pPr indent="0" marL="0">
              <a:buNone/>
            </a:pPr>
            <a:r>
              <a:rPr lang="en-US" sz="1150" dirty="0">
                <a:solidFill>
                  <a:srgbClr val="6E6E6E"/>
                </a:solidFill>
                <a:latin typeface="メイリオ" pitchFamily="34" charset="0"/>
                <a:ea typeface="メイリオ" pitchFamily="34" charset="-122"/>
                <a:cs typeface="メイリオ" pitchFamily="34" charset="-120"/>
              </a:rPr>
              <a:t>不採算3店舗の撤退は2026年3月に完了。年103百万円の固定費削減は実績です。</a:t>
            </a:r>
            <a:endParaRPr lang="en-US" sz="1150" dirty="0"/>
          </a:p>
        </p:txBody>
      </p:sp>
      <p:sp>
        <p:nvSpPr>
          <p:cNvPr id="9" name="Shape 7"/>
          <p:cNvSpPr/>
          <p:nvPr/>
        </p:nvSpPr>
        <p:spPr>
          <a:xfrm>
            <a:off x="822960" y="2679192"/>
            <a:ext cx="365760" cy="365760"/>
          </a:xfrm>
          <a:prstGeom prst="ellipse">
            <a:avLst/>
          </a:prstGeom>
          <a:solidFill>
            <a:srgbClr val="1A1A1A"/>
          </a:solidFill>
          <a:ln/>
        </p:spPr>
      </p:sp>
      <p:sp>
        <p:nvSpPr>
          <p:cNvPr id="10" name="Text 8"/>
          <p:cNvSpPr/>
          <p:nvPr/>
        </p:nvSpPr>
        <p:spPr>
          <a:xfrm>
            <a:off x="822960" y="267919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メイリオ" pitchFamily="34" charset="0"/>
                <a:ea typeface="メイリオ" pitchFamily="34" charset="-122"/>
                <a:cs typeface="メイリオ" pitchFamily="34" charset="-120"/>
              </a:rPr>
              <a:t>2</a:t>
            </a:r>
            <a:endParaRPr lang="en-US" sz="1400" dirty="0"/>
          </a:p>
        </p:txBody>
      </p:sp>
      <p:sp>
        <p:nvSpPr>
          <p:cNvPr id="11" name="Text 9"/>
          <p:cNvSpPr/>
          <p:nvPr/>
        </p:nvSpPr>
        <p:spPr>
          <a:xfrm>
            <a:off x="1417320" y="2624328"/>
            <a:ext cx="6766560" cy="365760"/>
          </a:xfrm>
          <a:prstGeom prst="rect">
            <a:avLst/>
          </a:prstGeom>
          <a:noFill/>
          <a:ln/>
        </p:spPr>
        <p:txBody>
          <a:bodyPr wrap="square" lIns="0" tIns="0" rIns="0" bIns="0" rtlCol="0" anchor="ctr"/>
          <a:lstStyle/>
          <a:p>
            <a:pPr indent="0" marL="0">
              <a:buNone/>
            </a:pPr>
            <a:r>
              <a:rPr lang="en-US" sz="1550" b="1" dirty="0">
                <a:solidFill>
                  <a:srgbClr val="1A1A1A"/>
                </a:solidFill>
                <a:latin typeface="メイリオ" pitchFamily="34" charset="0"/>
                <a:ea typeface="メイリオ" pitchFamily="34" charset="-122"/>
                <a:cs typeface="メイリオ" pitchFamily="34" charset="-120"/>
              </a:rPr>
              <a:t>上乗せ案件だけで営業損益は黒字転換</a:t>
            </a:r>
            <a:endParaRPr lang="en-US" sz="1550" dirty="0"/>
          </a:p>
        </p:txBody>
      </p:sp>
      <p:sp>
        <p:nvSpPr>
          <p:cNvPr id="12" name="Text 10"/>
          <p:cNvSpPr/>
          <p:nvPr/>
        </p:nvSpPr>
        <p:spPr>
          <a:xfrm>
            <a:off x="1417320" y="3008376"/>
            <a:ext cx="6766560" cy="402336"/>
          </a:xfrm>
          <a:prstGeom prst="rect">
            <a:avLst/>
          </a:prstGeom>
          <a:noFill/>
          <a:ln/>
        </p:spPr>
        <p:txBody>
          <a:bodyPr wrap="square" lIns="0" tIns="0" rIns="0" bIns="0" rtlCol="0" anchor="ctr"/>
          <a:lstStyle/>
          <a:p>
            <a:pPr indent="0" marL="0">
              <a:buNone/>
            </a:pPr>
            <a:r>
              <a:rPr lang="en-US" sz="1150" dirty="0">
                <a:solidFill>
                  <a:srgbClr val="6E6E6E"/>
                </a:solidFill>
                <a:latin typeface="メイリオ" pitchFamily="34" charset="0"/>
                <a:ea typeface="メイリオ" pitchFamily="34" charset="-122"/>
                <a:cs typeface="メイリオ" pitchFamily="34" charset="-120"/>
              </a:rPr>
              <a:t>132.5百万円の計上により、FY2026比147.7百万円の改善。</a:t>
            </a:r>
            <a:endParaRPr lang="en-US" sz="1150" dirty="0"/>
          </a:p>
        </p:txBody>
      </p:sp>
      <p:sp>
        <p:nvSpPr>
          <p:cNvPr id="13" name="Shape 11"/>
          <p:cNvSpPr/>
          <p:nvPr/>
        </p:nvSpPr>
        <p:spPr>
          <a:xfrm>
            <a:off x="822960" y="3703320"/>
            <a:ext cx="365760" cy="365760"/>
          </a:xfrm>
          <a:prstGeom prst="ellipse">
            <a:avLst/>
          </a:prstGeom>
          <a:solidFill>
            <a:srgbClr val="1A1A1A"/>
          </a:solidFill>
          <a:ln/>
        </p:spPr>
      </p:sp>
      <p:sp>
        <p:nvSpPr>
          <p:cNvPr id="14" name="Text 12"/>
          <p:cNvSpPr/>
          <p:nvPr/>
        </p:nvSpPr>
        <p:spPr>
          <a:xfrm>
            <a:off x="822960" y="37033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メイリオ" pitchFamily="34" charset="0"/>
                <a:ea typeface="メイリオ" pitchFamily="34" charset="-122"/>
                <a:cs typeface="メイリオ" pitchFamily="34" charset="-120"/>
              </a:rPr>
              <a:t>3</a:t>
            </a:r>
            <a:endParaRPr lang="en-US" sz="1400" dirty="0"/>
          </a:p>
        </p:txBody>
      </p:sp>
      <p:sp>
        <p:nvSpPr>
          <p:cNvPr id="15" name="Text 13"/>
          <p:cNvSpPr/>
          <p:nvPr/>
        </p:nvSpPr>
        <p:spPr>
          <a:xfrm>
            <a:off x="1417320" y="3648456"/>
            <a:ext cx="6766560" cy="365760"/>
          </a:xfrm>
          <a:prstGeom prst="rect">
            <a:avLst/>
          </a:prstGeom>
          <a:noFill/>
          <a:ln/>
        </p:spPr>
        <p:txBody>
          <a:bodyPr wrap="square" lIns="0" tIns="0" rIns="0" bIns="0" rtlCol="0" anchor="ctr"/>
          <a:lstStyle/>
          <a:p>
            <a:pPr indent="0" marL="0">
              <a:buNone/>
            </a:pPr>
            <a:r>
              <a:rPr lang="en-US" sz="1550" b="1" dirty="0">
                <a:solidFill>
                  <a:srgbClr val="1A1A1A"/>
                </a:solidFill>
                <a:latin typeface="メイリオ" pitchFamily="34" charset="0"/>
                <a:ea typeface="メイリオ" pitchFamily="34" charset="-122"/>
                <a:cs typeface="メイリオ" pitchFamily="34" charset="-120"/>
              </a:rPr>
              <a:t>ワイン仕入は落としません</a:t>
            </a:r>
            <a:endParaRPr lang="en-US" sz="1550" dirty="0"/>
          </a:p>
        </p:txBody>
      </p:sp>
      <p:sp>
        <p:nvSpPr>
          <p:cNvPr id="16" name="Text 14"/>
          <p:cNvSpPr/>
          <p:nvPr/>
        </p:nvSpPr>
        <p:spPr>
          <a:xfrm>
            <a:off x="1417320" y="4032504"/>
            <a:ext cx="6766560" cy="402336"/>
          </a:xfrm>
          <a:prstGeom prst="rect">
            <a:avLst/>
          </a:prstGeom>
          <a:noFill/>
          <a:ln/>
        </p:spPr>
        <p:txBody>
          <a:bodyPr wrap="square" lIns="0" tIns="0" rIns="0" bIns="0" rtlCol="0" anchor="ctr"/>
          <a:lstStyle/>
          <a:p>
            <a:pPr indent="0" marL="0">
              <a:buNone/>
            </a:pPr>
            <a:r>
              <a:rPr lang="en-US" sz="1150" dirty="0">
                <a:solidFill>
                  <a:srgbClr val="6E6E6E"/>
                </a:solidFill>
                <a:latin typeface="メイリオ" pitchFamily="34" charset="0"/>
                <a:ea typeface="メイリオ" pitchFamily="34" charset="-122"/>
                <a:cs typeface="メイリオ" pitchFamily="34" charset="-120"/>
              </a:rPr>
              <a:t>割当を守り2〜3年先の成長を確保。在庫は時価1.37倍の換価可能資産です。</a:t>
            </a:r>
            <a:endParaRPr lang="en-US" sz="1150" dirty="0"/>
          </a:p>
        </p:txBody>
      </p:sp>
      <p:sp>
        <p:nvSpPr>
          <p:cNvPr id="17" name="Shape 15"/>
          <p:cNvSpPr/>
          <p:nvPr/>
        </p:nvSpPr>
        <p:spPr>
          <a:xfrm>
            <a:off x="822960" y="4727448"/>
            <a:ext cx="365760" cy="365760"/>
          </a:xfrm>
          <a:prstGeom prst="ellipse">
            <a:avLst/>
          </a:prstGeom>
          <a:solidFill>
            <a:srgbClr val="1A1A1A"/>
          </a:solidFill>
          <a:ln/>
        </p:spPr>
      </p:sp>
      <p:sp>
        <p:nvSpPr>
          <p:cNvPr id="18" name="Text 16"/>
          <p:cNvSpPr/>
          <p:nvPr/>
        </p:nvSpPr>
        <p:spPr>
          <a:xfrm>
            <a:off x="822960" y="472744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メイリオ" pitchFamily="34" charset="0"/>
                <a:ea typeface="メイリオ" pitchFamily="34" charset="-122"/>
                <a:cs typeface="メイリオ" pitchFamily="34" charset="-120"/>
              </a:rPr>
              <a:t>4</a:t>
            </a:r>
            <a:endParaRPr lang="en-US" sz="1400" dirty="0"/>
          </a:p>
        </p:txBody>
      </p:sp>
      <p:sp>
        <p:nvSpPr>
          <p:cNvPr id="19" name="Text 17"/>
          <p:cNvSpPr/>
          <p:nvPr/>
        </p:nvSpPr>
        <p:spPr>
          <a:xfrm>
            <a:off x="1417320" y="4672584"/>
            <a:ext cx="6766560" cy="365760"/>
          </a:xfrm>
          <a:prstGeom prst="rect">
            <a:avLst/>
          </a:prstGeom>
          <a:noFill/>
          <a:ln/>
        </p:spPr>
        <p:txBody>
          <a:bodyPr wrap="square" lIns="0" tIns="0" rIns="0" bIns="0" rtlCol="0" anchor="ctr"/>
          <a:lstStyle/>
          <a:p>
            <a:pPr indent="0" marL="0">
              <a:buNone/>
            </a:pPr>
            <a:r>
              <a:rPr lang="en-US" sz="1550" b="1" dirty="0">
                <a:solidFill>
                  <a:srgbClr val="1A1A1A"/>
                </a:solidFill>
                <a:latin typeface="メイリオ" pitchFamily="34" charset="0"/>
                <a:ea typeface="メイリオ" pitchFamily="34" charset="-122"/>
                <a:cs typeface="メイリオ" pitchFamily="34" charset="-120"/>
              </a:rPr>
              <a:t>売上は過去2期と同水準・差額分は粗利率30%</a:t>
            </a:r>
            <a:endParaRPr lang="en-US" sz="1550" dirty="0"/>
          </a:p>
        </p:txBody>
      </p:sp>
      <p:sp>
        <p:nvSpPr>
          <p:cNvPr id="20" name="Text 18"/>
          <p:cNvSpPr/>
          <p:nvPr/>
        </p:nvSpPr>
        <p:spPr>
          <a:xfrm>
            <a:off x="1417320" y="5056632"/>
            <a:ext cx="6766560" cy="402336"/>
          </a:xfrm>
          <a:prstGeom prst="rect">
            <a:avLst/>
          </a:prstGeom>
          <a:noFill/>
          <a:ln/>
        </p:spPr>
        <p:txBody>
          <a:bodyPr wrap="square" lIns="0" tIns="0" rIns="0" bIns="0" rtlCol="0" anchor="ctr"/>
          <a:lstStyle/>
          <a:p>
            <a:pPr indent="0" marL="0">
              <a:buNone/>
            </a:pPr>
            <a:r>
              <a:rPr lang="en-US" sz="1150" dirty="0">
                <a:solidFill>
                  <a:srgbClr val="6E6E6E"/>
                </a:solidFill>
                <a:latin typeface="メイリオ" pitchFamily="34" charset="0"/>
                <a:ea typeface="メイリオ" pitchFamily="34" charset="-122"/>
                <a:cs typeface="メイリオ" pitchFamily="34" charset="-120"/>
              </a:rPr>
              <a:t>売上730.5百万円は2期平均そのもの。営業利益＋95.6／経常利益＋80.6百万円です。</a:t>
            </a:r>
            <a:endParaRPr lang="en-US" sz="1150" dirty="0"/>
          </a:p>
        </p:txBody>
      </p:sp>
      <p:sp>
        <p:nvSpPr>
          <p:cNvPr id="21" name="Shape 19"/>
          <p:cNvSpPr/>
          <p:nvPr/>
        </p:nvSpPr>
        <p:spPr>
          <a:xfrm>
            <a:off x="8595360" y="1600200"/>
            <a:ext cx="2971800" cy="3886200"/>
          </a:xfrm>
          <a:prstGeom prst="roundRect">
            <a:avLst>
              <a:gd name="adj" fmla="val 1538"/>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2" name="Text 20"/>
          <p:cNvSpPr/>
          <p:nvPr/>
        </p:nvSpPr>
        <p:spPr>
          <a:xfrm>
            <a:off x="8823960" y="1828800"/>
            <a:ext cx="2514600" cy="310896"/>
          </a:xfrm>
          <a:prstGeom prst="rect">
            <a:avLst/>
          </a:prstGeom>
          <a:noFill/>
          <a:ln/>
        </p:spPr>
        <p:txBody>
          <a:bodyPr wrap="square" lIns="0" tIns="0" rIns="0" bIns="0" rtlCol="0" anchor="ctr"/>
          <a:lstStyle/>
          <a:p>
            <a:pPr indent="0" marL="0">
              <a:buNone/>
            </a:pPr>
            <a:r>
              <a:rPr lang="en-US" sz="1200" b="1" dirty="0">
                <a:solidFill>
                  <a:srgbClr val="A98442"/>
                </a:solidFill>
                <a:latin typeface="メイリオ" pitchFamily="34" charset="0"/>
                <a:ea typeface="メイリオ" pitchFamily="34" charset="-122"/>
                <a:cs typeface="メイリオ" pitchFamily="34" charset="-120"/>
              </a:rPr>
              <a:t>ご相談事項</a:t>
            </a:r>
            <a:endParaRPr lang="en-US" sz="1200" dirty="0"/>
          </a:p>
        </p:txBody>
      </p:sp>
      <p:sp>
        <p:nvSpPr>
          <p:cNvPr id="23" name="Text 21"/>
          <p:cNvSpPr/>
          <p:nvPr/>
        </p:nvSpPr>
        <p:spPr>
          <a:xfrm>
            <a:off x="8823960" y="2240280"/>
            <a:ext cx="2514600" cy="1828800"/>
          </a:xfrm>
          <a:prstGeom prst="rect">
            <a:avLst/>
          </a:prstGeom>
          <a:noFill/>
          <a:ln/>
        </p:spPr>
        <p:txBody>
          <a:bodyPr wrap="square" lIns="0" tIns="0" rIns="0" bIns="0" rtlCol="0" anchor="ctr"/>
          <a:lstStyle/>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2026年11月のつなぎ資金</a:t>
            </a:r>
            <a:endParaRPr lang="en-US" sz="1100" dirty="0"/>
          </a:p>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在庫見合いの運転資金枠</a:t>
            </a:r>
            <a:endParaRPr lang="en-US" sz="1100" dirty="0"/>
          </a:p>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財務制限条項の事前確認</a:t>
            </a:r>
            <a:endParaRPr lang="en-US" sz="1100" dirty="0"/>
          </a:p>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月次資金繰り表のご報告</a:t>
            </a:r>
            <a:endParaRPr lang="en-US" sz="1100" dirty="0"/>
          </a:p>
        </p:txBody>
      </p:sp>
      <p:sp>
        <p:nvSpPr>
          <p:cNvPr id="24" name="Text 22"/>
          <p:cNvSpPr/>
          <p:nvPr/>
        </p:nvSpPr>
        <p:spPr>
          <a:xfrm>
            <a:off x="822960" y="5989320"/>
            <a:ext cx="5486400" cy="310896"/>
          </a:xfrm>
          <a:prstGeom prst="rect">
            <a:avLst/>
          </a:prstGeom>
          <a:noFill/>
          <a:ln/>
        </p:spPr>
        <p:txBody>
          <a:bodyPr wrap="square" lIns="0" tIns="0" rIns="0" bIns="0" rtlCol="0" anchor="ctr"/>
          <a:lstStyle/>
          <a:p>
            <a:pPr indent="0" marL="0">
              <a:buNone/>
            </a:pPr>
            <a:r>
              <a:rPr lang="en-US" sz="1100" dirty="0">
                <a:solidFill>
                  <a:srgbClr val="8C8C8C"/>
                </a:solidFill>
                <a:latin typeface="メイリオ" pitchFamily="34" charset="0"/>
                <a:ea typeface="メイリオ" pitchFamily="34" charset="-122"/>
                <a:cs typeface="メイリオ" pitchFamily="34" charset="-120"/>
              </a:rPr>
              <a:t>株式会社WineBank</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WineBank 事業再生計画 FY2027</dc:title>
  <dc:subject>PptxGenJS Presentation</dc:subject>
  <dc:creator>株式会社WineBank</dc:creator>
  <cp:lastModifiedBy>株式会社WineBank</cp:lastModifiedBy>
  <cp:revision>1</cp:revision>
  <dcterms:created xsi:type="dcterms:W3CDTF">2026-08-23T07:33:11Z</dcterms:created>
  <dcterms:modified xsi:type="dcterms:W3CDTF">2026-08-23T07:33:11Z</dcterms:modified>
</cp:coreProperties>
</file>