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発行1マイルあたりの会員価値 0.8100円（利用率90% × 交換先加重平均0.900）。顧客が「マイル − 管理料 − 6%×PS」と引き算した場合、100万は▲0.55%、500万は+0.75%、1000万は+2.00%。100万だけマイナスになるため、この引き算をさせない見せ方（＝値上がりの有無で場合分けする本スライドの構成）が必要。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1000万ティアの現金がゼロになる発行1マイル原価は 0.325円（現状 0.511円）。原価率の根拠：グループ直営飲食90%、ワインスクール80%、会員交流イベント・ワイナート年間購読50%、ワイン追加購入80%、WineBank CLUB年会費充当10%、オークション参加30%。グランメゾンは交換レート0.5円×原価率90%。利用時の加重平均0.568円に利用率90%を掛けて発行1マイル原価0.511円。現金収支には保管・保険▲1.05%とオークション手数料+0.5%を織り込み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件費・システム費・支払利息・自社在庫の保管料は本表に含めていない（別途）。プロフィットシェアは契約終了時に精算するため、初年度時点では現金化していない発生額。会員メリットは交換先ミックスを反映した実利用ベース。額面ベースなら6%上昇時 629万円。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P/L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値上がりが起きても、起きなくても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プロフィットシェアは値上がり益からしか発生しません。値上がりがなければ、会員が払うのは管理料だけです。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276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737360"/>
                <a:gridCol w="2011680"/>
                <a:gridCol w="2039112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ティア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管理料を払う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マイルをもらう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値上がり益の取分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年間差引【6%上昇】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年間差引【上昇ゼロ】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▲27,500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(2.75%)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(4%)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+42,000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(会員70.0%)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+54,500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+5.45%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+12,500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+1.25%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▲130,000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(2.60%)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+250,000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(5%)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+217,500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(会員72.5%)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+337,500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+6.75%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+120,000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+2.40%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1000万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▲250,000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(2.50%)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+600,000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(6%)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+450,000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(会員75.0%)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+800,000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+8.00%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+350,000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+3.50%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22776"/>
            <a:ext cx="5394960" cy="1170432"/>
          </a:xfrm>
          <a:prstGeom prst="roundRect">
            <a:avLst>
              <a:gd name="adj" fmla="val 468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41056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ワインが年6%上がったら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4489704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値上がり益の70〜75%は会員のものです。100万円なら年42,000円。マイル40,000円と合わせ、管理料27,500円を引いても年54,500円のプラス。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99632" y="3922776"/>
            <a:ext cx="5394960" cy="1170432"/>
          </a:xfrm>
          <a:prstGeom prst="roundRect">
            <a:avLst>
              <a:gd name="adj" fmla="val 4688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565392" y="41056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ワインが上がらなかったら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565392" y="4489704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値上がり益がゼロなら、プロフィットシェアもゼロ円です。会員が払うのは管理料27,500円だけ。マイル40,000円が残り、年12,500円のプラス。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5230368"/>
            <a:ext cx="11027664" cy="822960"/>
          </a:xfrm>
          <a:prstGeom prst="roundRect">
            <a:avLst>
              <a:gd name="adj" fmla="val 6667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78408" y="5376672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プロフィットシェアは「損をしたら払わない」設計です。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5760720"/>
            <a:ext cx="10204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実利用ベースでも、100万は +46,900円（6%上昇）／ +4,900円（上昇ゼロ）といずれもプラスです。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STRUCTURE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マイル1円につき、当社はいくら払うか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交換先によって当社の原価はまったく違います。加重平均すると、額面1円あたりの当社負担は0.511円です。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051560"/>
                <a:gridCol w="1051560"/>
                <a:gridCol w="1143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交換先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構成比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当社原価率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1マイル原価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グループ直営飲食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27.8%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0.900円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グランメゾン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90%×0.5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0.450円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WineBank CLUB 会費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13.3%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0.100円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オークション参加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13.3%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0.300円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ワインスクール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0.800円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会員交流イベント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ワイナート年間購読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ワイン追加購入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5.6%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0.800円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加重平均（利用時）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0.568円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974336"/>
            <a:ext cx="5394960" cy="658368"/>
          </a:xfrm>
          <a:prstGeom prst="roundRect">
            <a:avLst>
              <a:gd name="adj" fmla="val 8333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32688" y="5047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利用率90%を掛けて、発行1マイル原価は 0.511円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5321808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残る10%は有効期限切れ。失効益はあてにしない保守的な置き方です。</a:t>
            </a:r>
            <a:endParaRPr lang="en-US" sz="10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143000"/>
                <a:gridCol w="109728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ティア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管理料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マイル費用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現金収支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経済収支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27,500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▲20,455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+1,545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+19,545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130,000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▲127,845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▲25,345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+57,155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1000万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250,000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▲306,828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6A6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▲111,828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+38,172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199632" y="3401568"/>
            <a:ext cx="5394960" cy="1005840"/>
          </a:xfrm>
          <a:prstGeom prst="roundRect">
            <a:avLst>
              <a:gd name="adj" fmla="val 5455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519672" y="354787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預かり資産1億円の合計（55名・5名・2名）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473952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73952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266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443216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保管・保険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43216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▲105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0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オークション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8412480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9381744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マイル費用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381744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▲238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0351008" y="387705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経済収支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0351008" y="407822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144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99632" y="4517136"/>
            <a:ext cx="5394960" cy="1133856"/>
          </a:xfrm>
          <a:prstGeom prst="roundRect">
            <a:avLst>
              <a:gd name="adj" fmla="val 4839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565392" y="4681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上位ほど、当社の現金収支は薄くなります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565392" y="499262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管理料は2.50〜2.75%とほぼ一定なのに、マイル還元は4%→6%へ上がるためです。1000万は現金で年111,828円の持ち出しとなり、プロフィットシェア150,000円で回収する設計です。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66928" y="572414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B5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現金収支 ＝ 管理手数料 − 保管・保険料（預かり資産×1.05%・鈴与実額210円/本） ＋ オークション手数料（同×0.5%＝回転10%×当社ルート50%×買い手10%） − マイル費用（マイル額面×0.511円）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6B5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 経済収支 ＝ 現金収支 ＋ プロフィットシェア（預かり資産×値上がり6%×当社シェア率）。PSは契約終了時に精算する発生額で、現金化していません。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1億円を販売したら、どうなるか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ワイン販売の粗利30%を含めた初年度と、販売が止まった2年目以降の両方で見ます。単位：万円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64373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WineBank CONFIDENTIAL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初年度 損益（1億円販売）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1E3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ワイン販売売上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管理手数料収入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オークション手数料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 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10,316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ワイン売上原価（粗利30%）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▲7,000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売上総利益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8CE7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3,316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マイル費用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▲238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保管・保険料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0A45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▲105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2,973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プロフィットシェア（発生・未実現）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2908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2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2EDE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経済利益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7FD1A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3,144</a:t>
                      </a:r>
                      <a:endParaRPr lang="en-US" sz="12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30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202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327648" y="1627632"/>
            <a:ext cx="5266944" cy="1792224"/>
          </a:xfrm>
          <a:prstGeom prst="roundRect">
            <a:avLst>
              <a:gd name="adj" fmla="val 3061"/>
            </a:avLst>
          </a:prstGeom>
          <a:solidFill>
            <a:srgbClr val="2A1620"/>
          </a:solidFill>
          <a:ln w="12700">
            <a:solidFill>
              <a:srgbClr val="2A162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693408" y="1810512"/>
            <a:ext cx="4535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2年目以降（新規販売が止まっても）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693408" y="2194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管理手数料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156448" y="21945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266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693408" y="2468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保管・保険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56448" y="2468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▲105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693408" y="274320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オークション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156448" y="27432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693408" y="301752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マイル費用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156448" y="30175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0A4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▲238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345168" y="223113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A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現金 ▲27 万円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345168" y="2578608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PS 170 万円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345168" y="287121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経済 144 万円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27648" y="3547872"/>
            <a:ext cx="5266944" cy="1591056"/>
          </a:xfrm>
          <a:prstGeom prst="roundRect">
            <a:avLst>
              <a:gd name="adj" fmla="val 3448"/>
            </a:avLst>
          </a:prstGeom>
          <a:solidFill>
            <a:srgbClr val="38202C"/>
          </a:solidFill>
          <a:ln w="12700">
            <a:solidFill>
              <a:srgbClr val="38202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693408" y="3730752"/>
            <a:ext cx="4535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会員が受け取る価値（62名・実利用ベース）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693408" y="42428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ワインが年6%上がった場合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9528048" y="420624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540 万円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6693408" y="47183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290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ワインが上がらなかった場合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9528048" y="4681728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7FD1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110 万円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66928" y="5212080"/>
            <a:ext cx="11027664" cy="822960"/>
          </a:xfrm>
          <a:prstGeom prst="roundRect">
            <a:avLst>
              <a:gd name="adj" fmla="val 6667"/>
            </a:avLst>
          </a:prstGeom>
          <a:solidFill>
            <a:srgbClr val="7B1E3A"/>
          </a:solidFill>
          <a:ln w="12700">
            <a:solidFill>
              <a:srgbClr val="7B1E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978408" y="5358384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CE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会員は年110〜540万円、当社は初年度3,144万円。両方が取れています。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78408" y="5742432"/>
            <a:ext cx="10204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ただし2年目以降の現金は▲27万円。利益はワイン販売の粗利とプロフィットシェアに乗っています。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WineBank ワインマイル 新レートカード</dc:title>
  <dc:subject>PptxGenJS Presentation</dc:subject>
  <dc:creator>WineBank</dc:creator>
  <cp:lastModifiedBy>WineBank</cp:lastModifiedBy>
  <cp:revision>1</cp:revision>
  <dcterms:created xsi:type="dcterms:W3CDTF">2026-09-11T06:51:59Z</dcterms:created>
  <dcterms:modified xsi:type="dcterms:W3CDTF">2026-09-11T06:51:59Z</dcterms:modified>
</cp:coreProperties>
</file>