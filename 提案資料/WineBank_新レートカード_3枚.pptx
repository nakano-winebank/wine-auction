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発行1マイルあたりの会員価値 0.8100円（利用率90% × 交換先加重平均0.900）。顧客が「マイル − 管理料 − 6%×PS」と引き算した場合、100万は▲0.55%、500万は+0.75%、1000万は+2.00%。100万だけマイナスになるため、この引き算をさせない見せ方（＝値上がりの有無で場合分けする本スライドの構成）が必要。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価率の根拠：グループ直営飲食90%、ワインスクール80%、会員交流イベント・ワイナート年間購読50%、ワイン追加購入80%、CLUB年会費充当とオークション参加は内部振替のため0%。グランメゾンは交換レート0.5円×原価率90%。利用時の加重平均0.515円に利用率90%を掛けて発行1マイル原価0.464円。現金収支には保管・保険▲1.05%とオークション手数料+0.5%を織り込み済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人件費・システム費・支払利息・自社在庫の保管料は本表に含めていない（別途）。プロフィットシェアは契約終了時に精算するため、初年度時点では現金化していない発生額。会員メリットは交換先ミックスを反映した実利用ベース。額面ベースなら6%上昇時 629万円。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P/L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値上がりが起きても、起きなくても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5214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プロフィットシェアは値上がり益からしか発生しません。値上がりがなければ、会員が払うのは管理料だけです。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110276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737360"/>
                <a:gridCol w="1737360"/>
                <a:gridCol w="2011680"/>
                <a:gridCol w="2039112"/>
                <a:gridCol w="203911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ティア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管理料を払う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マイルをもらう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値上がり益の取分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年間差引【6%上昇】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年間差引【上昇ゼロ】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8CE7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100万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▲27,500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(2.75%)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CE7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+40,000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CE7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(4%)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+42,000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(会員70.0%)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+54,500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+5.45%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+12,500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+1.25%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8CE7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500万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▲130,000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(2.60%)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CE7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+250,000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CE7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(5%)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+217,500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(会員72.5%)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+337,500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+6.75%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+120,000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+2.40%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8CE7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1000万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▲250,000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(2.50%)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CE7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+600,000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CE7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(6%)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+450,000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(会員75.0%)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+800,000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+8.00%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+350,000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+3.50%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922776"/>
            <a:ext cx="5394960" cy="1170432"/>
          </a:xfrm>
          <a:prstGeom prst="roundRect">
            <a:avLst>
              <a:gd name="adj" fmla="val 4688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932688" y="4105656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ワインが年6%上がったら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932688" y="4489704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値上がり益の70〜75%は会員のものです。100万円なら年42,000円。マイル40,000円と合わせ、管理料27,500円を引いても年54,500円のプラス。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199632" y="3922776"/>
            <a:ext cx="5394960" cy="1170432"/>
          </a:xfrm>
          <a:prstGeom prst="roundRect">
            <a:avLst>
              <a:gd name="adj" fmla="val 4688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565392" y="4105656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ワインが上がらなかったら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565392" y="4489704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値上がり益がゼロなら、プロフィットシェアもゼロ円です。会員が払うのは管理料27,500円だけ。マイル40,000円が残り、年12,500円のプラス。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5230368"/>
            <a:ext cx="11027664" cy="822960"/>
          </a:xfrm>
          <a:prstGeom prst="roundRect">
            <a:avLst>
              <a:gd name="adj" fmla="val 6667"/>
            </a:avLst>
          </a:prstGeom>
          <a:solidFill>
            <a:srgbClr val="7B1E3A"/>
          </a:solidFill>
          <a:ln w="12700">
            <a:solidFill>
              <a:srgbClr val="7B1E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978408" y="5376672"/>
            <a:ext cx="10204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プロフィットシェアは「損をしたら払わない」設計です。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978408" y="5760720"/>
            <a:ext cx="10204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実利用ベースでも、100万は +46,900円（6%上昇）／ +4,900円（上昇ゼロ）といずれもプラスです。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STRUCTURE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マイル1円につき、当社はいくら払うか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5214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交換先によって当社の原価はまったく違います。加重平均すると、額面1円あたりの当社負担は0.464円です。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539496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051560"/>
                <a:gridCol w="1051560"/>
                <a:gridCol w="11430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交換先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構成比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当社原価率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1マイル原価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グループ直営飲食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27.8%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0A45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0.900円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グランメゾン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20.0%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90%×0.5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0.450円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WineBank CLUB 会費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13.3%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0.000円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オークション参加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13.3%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0.000円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ワインスクール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10.0%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80%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0A45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0.800円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会員交流イベント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7.0%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0.500円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ワイナート年間購読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3.0%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0.500円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ワイン追加購入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5.6%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80%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0A45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0.800円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加重平均（利用時）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—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CE7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0.515円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248656"/>
            <a:ext cx="5394960" cy="786384"/>
          </a:xfrm>
          <a:prstGeom prst="roundRect">
            <a:avLst>
              <a:gd name="adj" fmla="val 6977"/>
            </a:avLst>
          </a:prstGeom>
          <a:solidFill>
            <a:srgbClr val="7B1E3A"/>
          </a:solidFill>
          <a:ln w="12700">
            <a:solidFill>
              <a:srgbClr val="7B1E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932688" y="5376672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利用率90%を掛けて、発行1マイル原価は 0.464円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932688" y="5687568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残る10%は有効期限切れ。失効益はあてにしない保守的な置き方です。</a:t>
            </a:r>
            <a:endParaRPr lang="en-US" sz="105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627632"/>
          <a:ext cx="539496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051560"/>
                <a:gridCol w="1143000"/>
                <a:gridCol w="1097280"/>
                <a:gridCol w="11430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ティア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管理料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マイル費用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現金収支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経済収支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8CE7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100万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27,500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0A45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▲18,540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+3,460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+21,460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8CE7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500万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130,000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0A45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▲115,875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6A6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▲13,375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+69,125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8CE7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1000万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250,000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0A45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▲278,100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6A6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▲83,100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+66,900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199632" y="3401568"/>
            <a:ext cx="5394960" cy="1078992"/>
          </a:xfrm>
          <a:prstGeom prst="roundRect">
            <a:avLst>
              <a:gd name="adj" fmla="val 5085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519672" y="354787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預かり資産1億円の合計（55名・5名・2名）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6473952" y="3877056"/>
            <a:ext cx="932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管理手数料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6473952" y="407822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266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443216" y="3877056"/>
            <a:ext cx="932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保管・保険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7443216" y="407822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A4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▲105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8412480" y="3877056"/>
            <a:ext cx="932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オークション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8412480" y="407822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FD1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9381744" y="3877056"/>
            <a:ext cx="932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マイル費用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9381744" y="407822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A4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▲216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0351008" y="3877056"/>
            <a:ext cx="932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経済収支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10351008" y="407822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FD1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166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6199632" y="4608576"/>
            <a:ext cx="5394960" cy="1426464"/>
          </a:xfrm>
          <a:prstGeom prst="roundRect">
            <a:avLst>
              <a:gd name="adj" fmla="val 3846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6565392" y="4809744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上位ほど、当社の現金収支は薄くなります</a:t>
            </a:r>
            <a:endParaRPr lang="en-US" sz="1450" dirty="0"/>
          </a:p>
        </p:txBody>
      </p:sp>
      <p:sp>
        <p:nvSpPr>
          <p:cNvPr id="25" name="Text 21"/>
          <p:cNvSpPr txBox="1"/>
          <p:nvPr/>
        </p:nvSpPr>
        <p:spPr>
          <a:xfrm>
            <a:off x="6565392" y="5157216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料は2.50〜2.75%とほぼ一定なのに、マイル還元は4%→6%へ上がるためです。1000万は現金で年83,100円の持ち出しとなり、プロフィットシェア150,000円で回収する設計。ストック単体で黒字化させるには、発行1マイル原価を0.400円まで下げる必要があり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1億円を販売したら、どうなるか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5214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ワイン販売の粗利30%を含めた初年度と、販売が止まった2年目以降の両方で見ます。単位：万円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53949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3774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初年度 損益（1億円販売）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金額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ワイン販売売上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10,000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管理手数料収入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266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オークション手数料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売上高 計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8CE7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10,316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ワイン売上原価（粗利30%）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▲7,000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売上総利益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8CE7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3,316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マイル費用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0A45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▲216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保管・保険料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0A45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▲105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営業利益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2,996</a:t>
                      </a:r>
                      <a:endParaRPr lang="en-US" sz="12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プロフィットシェア（発生・未実現）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170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経済利益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3,166</a:t>
                      </a:r>
                      <a:endParaRPr lang="en-US" sz="12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327648" y="1627632"/>
            <a:ext cx="5266944" cy="1792224"/>
          </a:xfrm>
          <a:prstGeom prst="roundRect">
            <a:avLst>
              <a:gd name="adj" fmla="val 3061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693408" y="1810512"/>
            <a:ext cx="4535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2年目以降（新規販売が止まっても）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693408" y="21945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管理手数料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156448" y="219456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266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693408" y="246888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保管・保険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156448" y="246888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0A4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▲105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693408" y="274320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オークション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156448" y="27432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693408" y="301752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マイル費用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156448" y="30175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0A4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▲216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9345168" y="2231136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6A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現金 ▲4 万円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9345168" y="2578608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 PS 170 万円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9345168" y="2871216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FD1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経済 166 万円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327648" y="3547872"/>
            <a:ext cx="5266944" cy="1591056"/>
          </a:xfrm>
          <a:prstGeom prst="roundRect">
            <a:avLst>
              <a:gd name="adj" fmla="val 3448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6693408" y="3730752"/>
            <a:ext cx="4535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会員が受け取る価値（62名・実利用ベース）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6693408" y="42428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ワインが年6%上がった場合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9528048" y="4206240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7FD1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540 万円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6693408" y="471830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ワインが上がらなかった場合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9528048" y="4681728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7FD1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110 万円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566928" y="5212080"/>
            <a:ext cx="11027664" cy="822960"/>
          </a:xfrm>
          <a:prstGeom prst="roundRect">
            <a:avLst>
              <a:gd name="adj" fmla="val 6667"/>
            </a:avLst>
          </a:prstGeom>
          <a:solidFill>
            <a:srgbClr val="7B1E3A"/>
          </a:solidFill>
          <a:ln w="12700">
            <a:solidFill>
              <a:srgbClr val="7B1E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978408" y="5358384"/>
            <a:ext cx="10204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会員は年110〜540万円、当社は初年度3,166万円。両方が取れています。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978408" y="5742432"/>
            <a:ext cx="10204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ただし2年目以降の現金は▲4万円。利益はワイン販売の粗利とプロフィットシェアに乗っています。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WineBank ワインマイル 新レートカード</dc:title>
  <dc:subject>PptxGenJS Presentation</dc:subject>
  <dc:creator>WineBank</dc:creator>
  <cp:lastModifiedBy>WineBank</cp:lastModifiedBy>
  <cp:revision>1</cp:revision>
  <dcterms:created xsi:type="dcterms:W3CDTF">2026-09-11T04:10:28Z</dcterms:created>
  <dcterms:modified xsi:type="dcterms:W3CDTF">2026-09-11T04:10:28Z</dcterms:modified>
</cp:coreProperties>
</file>