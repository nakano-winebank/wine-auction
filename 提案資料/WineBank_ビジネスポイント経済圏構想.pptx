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核心はサブリース構造。含み益と引き換えに価格リスクを当社が取り、会員には確定ポイントを渡す。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サブリース＝賃貸借契約。預り金でも集団投資スキームでもない。ここが法務上の最大の利点。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この頁が事業の収益構造そのもの。ただし次頁のリスク管理とセットで説明すること。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かぼちゃの馬車・レオパレスのサブリース破綻と同じ失敗様式。規模が小さいうちに歯止めを設計しておく。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法人付与にすることで役員賞与リスクを断ち切れる。これは前回の議論で最大の税務リスクだった論点。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弁護士確認は3点セット：①サブリース＝賃貸借の建て付けが金商法・出資法外にあること ②ポイントの前払式支払手段該当性と6ヶ月ルール ③買戻し条項の会計上の帰結。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7B1E3A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2984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GROWTH STRATEGY 2026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37360"/>
            <a:ext cx="11027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ビジネスポイント経済圏構想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615184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「ワイン貯金」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52958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不確実な含み益を、確実なビジネスポイントに換える。価格リスクは、WineBankが取る。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429768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41248" y="44805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確実な </a:t>
            </a:r>
            <a:pPr indent="0" marL="0">
              <a:buNone/>
            </a:pPr>
            <a:r>
              <a:rPr lang="en-US" sz="2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94690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会員は不確実な値上がりを確定ポイントに換える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2544" y="429768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26864" y="44805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実原価 </a:t>
            </a:r>
            <a:pPr indent="0" marL="0">
              <a:buNone/>
            </a:pPr>
            <a:r>
              <a:rPr lang="en-US" sz="2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494690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原価率30%。5万ptの当社負担は1.5万円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429768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412480" y="44805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1pt </a:t>
            </a:r>
            <a:pPr indent="0" marL="0">
              <a:buNone/>
            </a:pPr>
            <a:r>
              <a:rPr lang="en-US" sz="2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0.5円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494690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グランメゾンは権威性を値付けする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508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2026年8月｜株式会社WineBank｜社外秘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なぜ、ワイン投資は売れないのか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商品が悪いのではない。買ったあとに「何も起きない」ことが問題です。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9584" cy="2286000"/>
          </a:xfrm>
          <a:prstGeom prst="roundRect">
            <a:avLst>
              <a:gd name="adj" fmla="val 24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0482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0665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買った後、何も起きない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615184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1,000万円を払う。あとはマイページで時価を見るだけ。接点が年に数回しかなく、熱量が続かない。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1783080"/>
            <a:ext cx="3529584" cy="2286000"/>
          </a:xfrm>
          <a:prstGeom prst="roundRect">
            <a:avLst>
              <a:gd name="adj" fmla="val 24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45152" y="20482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45152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9784" y="20665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比較で負ける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45152" y="2615184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「年率◯%」を語った瞬間、S&amp;P500や債券と同じ土俵に立つ。金融商品の実績と規模では証券会社に勝てない。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529584" cy="2286000"/>
          </a:xfrm>
          <a:prstGeom prst="roundRect">
            <a:avLst>
              <a:gd name="adj" fmla="val 24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30768" y="20482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30768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20665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属人化する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15184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リターンの説得はトップ営業の話術と人脈に依存する。再現性がなく、広告に載せられない。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370832"/>
            <a:ext cx="11027664" cy="1572768"/>
          </a:xfrm>
          <a:prstGeom prst="roundRect">
            <a:avLst>
              <a:gd name="adj" fmla="val 348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78408" y="4617720"/>
            <a:ext cx="10204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いまのワイン投資には「コンテンツ」しかない。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" y="5175504"/>
            <a:ext cx="10204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パッケージ化され、完結し、コミュニケーションが存在しない。だから熱量が続かず、紹介も生まれない。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SNSが証明したこと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SNSの本質は、本来別々だった二つの要素を一体化させたことにあります。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3063240"/>
          </a:xfrm>
          <a:prstGeom prst="roundRect">
            <a:avLst>
              <a:gd name="adj" fmla="val 179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従来のプロコンテンツ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映画・本・ドラマ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816352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制作されたパッケージである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物語は必ず完結する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「面白かった」で日常に戻る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「終わり」がある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45936" y="1783080"/>
            <a:ext cx="5468112" cy="3063240"/>
          </a:xfrm>
          <a:prstGeom prst="roundRect">
            <a:avLst>
              <a:gd name="adj" fmla="val 1791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11696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11696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 × コミュニケーション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2816352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情報とつながりが一体化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タイムラインは完結しない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つながりを求めて再び開く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「終わり」がない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5120640"/>
            <a:ext cx="11027664" cy="932688"/>
          </a:xfrm>
          <a:prstGeom prst="roundRect">
            <a:avLst>
              <a:gd name="adj" fmla="val 588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8408" y="5413248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ワイン＝コンテンツ。</a:t>
            </a:r>
            <a:pPr indent="0" marL="0">
              <a:buNone/>
            </a:pPr>
            <a:r>
              <a:rPr lang="en-US" sz="15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ビジネスポイント＋会食＋BYO＋オークション＝コミュニケーション。</a:t>
            </a:r>
            <a:pPr indent="0" marL="0">
              <a:buNone/>
            </a:pPr>
            <a:r>
              <a:rPr lang="en-US" sz="15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一体化して初めて「終わり」がなくなる。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「終わり」があるか、ないか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会員権の優劣は、利用日数ではなく「終わるかどうか」で決まります。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55648"/>
          <a:ext cx="1102766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62272"/>
                <a:gridCol w="446227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NOT A HOTEL ／ 会員制リゾート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Signature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体験の構造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非日常。チェックアウトで完結する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日常。次の会食が必ず来る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接点の頻度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年10泊。使い切れば終わり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週次。ポイントが貯まり続ける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使わない年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権利が消化されず費用だけ残る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資産が残り、育つ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出口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共有持分。流動性は限定的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現物。売る／飲む／贈るの3経路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828032"/>
            <a:ext cx="11027664" cy="1170432"/>
          </a:xfrm>
          <a:prstGeom prst="roundRect">
            <a:avLst>
              <a:gd name="adj" fmla="val 468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78408" y="5047488"/>
            <a:ext cx="10204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 A HOTELには「終わり」がある。WineBank Signatureには「終わり」がない。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5532120"/>
            <a:ext cx="10204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比較表の1行として、これ以上に強い差別化はありません。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構造：ワインのサブリース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不動産のサブリースと同じ。所有者に確定収益を渡し、運営者が市況リスクを取る。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468112" cy="2011680"/>
          </a:xfrm>
          <a:prstGeom prst="roundRect">
            <a:avLst>
              <a:gd name="adj" fmla="val 2727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会員（法人）が得るもの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28600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確実な 5%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8895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不確実な値上がり（実績年6%）を手放す代わりに、毎年必ず入るビジネスポイントを受け取る。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45936" y="1737360"/>
            <a:ext cx="5468112" cy="2011680"/>
          </a:xfrm>
          <a:prstGeom prst="roundRect">
            <a:avLst>
              <a:gd name="adj" fmla="val 2727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711696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WineBank が得るもの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711696" y="228600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含み益 ＋ 2.5%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711696" y="28895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価格リスクを引き受ける代わりに、ワインの値上がり分と管理手数料を得る。実原価は1.5%のみ。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950208"/>
            <a:ext cx="11027664" cy="1051560"/>
          </a:xfrm>
          <a:prstGeom prst="roundRect">
            <a:avLst>
              <a:gd name="adj" fmla="val 521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78408" y="4133088"/>
            <a:ext cx="10204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契約の形：セール・アンド・リースバック（動産賃貸借）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78408" y="4517136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会員がワインを購入し所有権を持つ。そのワインをWineBankに賃貸し、賃料をビジネスポイントで受け取る。既存の「展示用高級ワイン節税商品」と同じ枠組みです。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193792"/>
            <a:ext cx="11027664" cy="868680"/>
          </a:xfrm>
          <a:prstGeom prst="roundRect">
            <a:avLst>
              <a:gd name="adj" fmla="val 6316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78408" y="5413248"/>
            <a:ext cx="10204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この形なら「5%」は利回りではなく賃料率になる。出資法・金商法の議論から外れます。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設計：ワイン貯金の3ステップ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所有権は会員に。管理手数料を払う代わりに、その倍のポイントを受け取る。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121408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13969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ワインを購入し、預ける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633472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324612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所有権は会員。定温セラーで保管・動産保険付帯。WineBankに賃貸する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69664" y="2761488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17136" y="187452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09744" y="2121408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9744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94376" y="213969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管理手数料を払う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809744" y="2633472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▲25,000円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809744" y="324612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年率2.5%。保管料・保険料を含む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19872" y="2761488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467344" y="187452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759952" y="2121408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759952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213969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ビジネスポイントを得る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59952" y="2633472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50,000pt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759952" y="324612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年率5%相当。会食・贈答・追加購入・オークションに使える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315968"/>
            <a:ext cx="11027664" cy="1645920"/>
          </a:xfrm>
          <a:prstGeom prst="roundRect">
            <a:avLst>
              <a:gd name="adj" fmla="val 3333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78408" y="4553712"/>
            <a:ext cx="10204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会員は2.5万円払って、5万円分を受け取る。差額の2.5万円を「貯金」していると考える。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" y="5074920"/>
            <a:ext cx="10204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この「貯金」の感覚が、日本人にとって最も強い購買トリガーです。しかもWineBank側は、この交換で損をしません（次頁）。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どの交換経路を通っても黒字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ワイン100万円・会員1名・年間。飲食原価率30%で算定。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2766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05840"/>
                <a:gridCol w="1371600"/>
                <a:gridCol w="1920240"/>
                <a:gridCol w="1463040"/>
                <a:gridCol w="2066544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ポイント交換先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レート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額面価値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当社実原価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手数料収入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ネット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系列店（テラス・oto 等）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+10,000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アピシウス／T.マルクス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7,500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+17,500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CLUB 年会費充当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 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オークション成約手数料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失効（期間限定ポイント）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+25,000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1772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4846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最悪ケースでも +10,000円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3218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負ける交換経路が一つもない。保管料・保険料は管理手数料の内数（実数は別途確定済み）。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45936" y="4617720"/>
            <a:ext cx="5266944" cy="1371600"/>
          </a:xfrm>
          <a:prstGeom prst="roundRect">
            <a:avLst>
              <a:gd name="adj" fmla="val 4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93408" y="48463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これは「賃料」部分の収支にすぎない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93408" y="52486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本当の収益は、当社が引き受ける価格リスクの対価＝含み益にあります（次頁）。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サブリースの本当の収益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1.5%の実コストで、年6%の期待値を買う取引です。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468112" cy="2670048"/>
          </a:xfrm>
          <a:prstGeom prst="roundRect">
            <a:avLst>
              <a:gd name="adj" fmla="val 2055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会員（法人）から見た取引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3957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会員が受け取る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944368" y="232257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+5.0%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270248" y="241401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ポイント額面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072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会員が払う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44368" y="29992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▲2.5%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270248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3749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会員の確定純益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944368" y="367588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+2.5%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7673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含み益を手放す対価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45936" y="1737360"/>
            <a:ext cx="5468112" cy="2670048"/>
          </a:xfrm>
          <a:prstGeom prst="roundRect">
            <a:avLst>
              <a:gd name="adj" fmla="val 2055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11696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WineBankから見た取引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711696" y="23957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当社の実コスト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723376" y="232257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▲1.5%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49256" y="241401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5万pt × 原価率30%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711696" y="3072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管理手数料収入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723376" y="29992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+2.5%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0049256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保管・保険を含む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711696" y="3749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引き受ける含み益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23376" y="367588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+6.0%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10049256" y="37673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P1実績・経費控除後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4754880"/>
            <a:ext cx="11027664" cy="1298448"/>
          </a:xfrm>
          <a:prstGeom prst="roundRect">
            <a:avLst>
              <a:gd name="adj" fmla="val 4225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8408" y="4956048"/>
            <a:ext cx="10204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期待値：当社 +7.0%／年（2.5% + 6.0% − 1.5%）。会員は確定 +2.5%。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" y="5394960"/>
            <a:ext cx="1020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損益分岐点はワイン価格が年▲7%を超えて下落した場合。Liv-ex 1000は過去20年で約4倍（年率約7%）、P1は指数下落局面でも年率6%を確保。ただしこれは、レバレッジのかかったワイン市況への賭けでもあります（次頁）。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SIZING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買戻し設計：ここだけは慎重に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サブリースは、規模に比例して膨らむショート・ボラティリティのポジションです。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19072"/>
          <a:ext cx="11027664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468880"/>
                <a:gridCol w="2926080"/>
                <a:gridCol w="2889504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プログラム規模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買戻し債務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ワイン▲20%時の損失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資本金4.37億円に対して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100名（1億円）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1.0億円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▲2,000万円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吸収可能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500名（5億円）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5.0億円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▲1.0億円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資本の約1/4が毀損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2,000名（20億円）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20.0億円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▲4.0億円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債務超過の水準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57600"/>
            <a:ext cx="11027664" cy="932688"/>
          </a:xfrm>
          <a:prstGeom prst="roundRect">
            <a:avLst>
              <a:gd name="adj" fmla="val 588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78408" y="3840480"/>
            <a:ext cx="10204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 買戻しを「契約上の保証」にすると、会計上は売上ではなく借入金になります。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4206240"/>
            <a:ext cx="10204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リスクと経済価値が移転していないため、収益認識会計基準上、100万円を売上計上できない可能性がある。P/LもB/Sの物語も崩れ、SBIのDDで必ず論点になります。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75488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推奨する4つの歯止め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5029200"/>
            <a:ext cx="2624328" cy="1051560"/>
          </a:xfrm>
          <a:prstGeom prst="roundRect">
            <a:avLst>
              <a:gd name="adj" fmla="val 521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68096" y="51755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「保証」でなく「価格表」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5504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Liv-ex連動の買取価格表を毎月公表。契約上の保証にはしない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410712" y="5029200"/>
            <a:ext cx="2624328" cy="1051560"/>
          </a:xfrm>
          <a:prstGeom prst="roundRect">
            <a:avLst>
              <a:gd name="adj" fmla="val 521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611880" y="51755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買戻し価格に掛目を置く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11880" y="5504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取得価額の80%等。当社の損失を20%でキャップする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254496" y="5029200"/>
            <a:ext cx="2624328" cy="1051560"/>
          </a:xfrm>
          <a:prstGeom prst="roundRect">
            <a:avLst>
              <a:gd name="adj" fmla="val 521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55664" y="51755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買戻し総額に上限を設ける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55664" y="5504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プログラム全体の◯%まで。青天井の債務を作らない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098280" y="5029200"/>
            <a:ext cx="2624328" cy="1051560"/>
          </a:xfrm>
          <a:prstGeom prst="roundRect">
            <a:avLst>
              <a:gd name="adj" fmla="val 521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99448" y="51755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含み益の一部を引当に回す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9299448" y="5504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毎期、買戻引当金として留保。好況時に備えを積む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1ポイント＝0.5円という発明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グランメゾンでレートを半分にすることは、制約ではなく「権威性の値付け」です。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0391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原価の非対称性を吸収する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47802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グランメゾンは食材原価だけでなく席の機会費用が高い。定価で埋まる席を1:1で割り引くとイールドが壊れる。0.5円なら当社利益が1.75倍になる。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45936" y="178308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38544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38544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23176" y="20391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権威性がフックになる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8544" y="247802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マイルと同じ構造。ファーストクラスの交換レートが割高でも誰も文句を言わない。「憧れの席に交換できる」こと自体が商品。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56616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9536" y="38039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44168" y="38221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ランク差別化に使える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" y="426110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BLACK 0.7円／PLATINUM 0.6円／STANDARD 0.5円。年500円の手数料差は伝わらないが、「1.4倍使える」は伝わる。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45936" y="356616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38544" y="38039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38544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23176" y="38221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席のイールド管理になる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426110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平日ランチ1円／平日ディナー0.7円／週末0.5円／12月は不可。ポイントが満席を食うのではなく、空席を埋めるようになる。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394960"/>
            <a:ext cx="11027664" cy="658368"/>
          </a:xfrm>
          <a:prstGeom prst="roundRect">
            <a:avLst>
              <a:gd name="adj" fmla="val 8333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78408" y="5559552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安く交換できたら、ブランドが安く見える。0.5円はブランドを守るための価格です。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DESIGN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「ビジネスポイント」として設計する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個人向けのポイ活ではありません。法人に付与し、法人の接待・会食・贈答に使う取引条件です。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0391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役員賞与認定を回避できる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47802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個人に付与して個人が飲めば「実質的に役員個人の消費」と認定され、損金不算入＋個人課税の往復ビンタになる。法人付与・法人の接待利用なら正常な事業経費。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45936" y="178308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38544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38544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23176" y="20391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接待交際費として処理できる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8544" y="247802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現金支出部分は接待交際費。ポイント充当部分は値引き。消費の都度、確実に経費化できる足の速い設計。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56616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9536" y="38039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44168" y="38221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議論の枠組みが変わる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" y="426110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消費者向けポイントプログラムではなく、法人間の取引条件。景表法・特商法の消費者保護の文脈から距離が取れる。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45936" y="3566160"/>
            <a:ext cx="5468112" cy="1572768"/>
          </a:xfrm>
          <a:prstGeom prst="roundRect">
            <a:avLst>
              <a:gd name="adj" fmla="val 348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38544" y="38039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38544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23176" y="38221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6ヶ月ルールの検討余地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4261104"/>
            <a:ext cx="4882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資金決済法は発行から6ヶ月以内に限り使用できる前払式支払手段を適用除外としている。四半期付与・6ヶ月有効なら届出・供託を回避できる可能性（要弁護士確認）。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394960"/>
            <a:ext cx="11027664" cy="658368"/>
          </a:xfrm>
          <a:prstGeom prst="roundRect">
            <a:avLst>
              <a:gd name="adj" fmla="val 8333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78408" y="5559552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名称：WineBank Business Points ／ ブランド名としての「ワイン貯金」は維持する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楽天に学ぶ：村を1つにしない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楽天の凄さはポイントを作ったことではなく、楽天市場という1つの村に閉じ込めなかったことです。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627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交換先が「CLUB年会費と系列飲食店」の2つだけなら、それはポイントではなくクーポンです。WineBankには、すでに村が7つあります。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84832"/>
          <a:ext cx="11027664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108960"/>
                <a:gridCol w="2377440"/>
                <a:gridCol w="1609344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の村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ポイントの使い道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当社の実コスト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判定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系列レストラン（26→100店）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会食・接待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原価 30%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CLUB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年会費充当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ほぼゼロ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ワイン追加購入・贈答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購入代金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原価 75〜85%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要上限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マーケットプレイス／オークション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入札・成約手数料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ほぼゼロ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WineGO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配送料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実費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要上限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管理手数料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翌年の手数料に充当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ほぼゼロ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P1ファンド／ST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出資への充当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要法務確認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413248"/>
            <a:ext cx="11027664" cy="658368"/>
          </a:xfrm>
          <a:prstGeom prst="roundRect">
            <a:avLst>
              <a:gd name="adj" fmla="val 8333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78408" y="5577840"/>
            <a:ext cx="1020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方針：自社の7つの村すべてに開く。外部提携は会員数200名を超えてから検討する。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第3の原資は、オークションにある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楽天のポイント原資は加盟店手数料。自腹を切っていません。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11027664" cy="786384"/>
          </a:xfrm>
          <a:prstGeom prst="roundRect">
            <a:avLst>
              <a:gd name="adj" fmla="val 6977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78408" y="1956816"/>
            <a:ext cx="1020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現状のポイント原資は「管理手数料＋含み益」だけ。</a:t>
            </a:r>
            <a:pPr indent="0" marL="0">
              <a:buNone/>
            </a:pPr>
            <a:r>
              <a:rPr lang="en-US" sz="145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市況に依存しすぎている。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80644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8660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ワインを買う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46604" y="32918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839212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967228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限定ポイントが貯まる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5172" y="32918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97780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225796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会食・入札に使う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063740" y="32918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56348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484364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在庫が回転する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2308" y="329184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14916" y="2834640"/>
            <a:ext cx="1965960" cy="1170432"/>
          </a:xfrm>
          <a:prstGeom prst="roundRect">
            <a:avLst>
              <a:gd name="adj" fmla="val 4688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42932" y="3035808"/>
            <a:ext cx="1709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成約手数料が入る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37844" y="4279392"/>
            <a:ext cx="10085832" cy="384048"/>
          </a:xfrm>
          <a:prstGeom prst="leftArrow">
            <a:avLst/>
          </a:prstGeom>
          <a:solidFill>
            <a:srgbClr val="C9A2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37844" y="4279392"/>
            <a:ext cx="10085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0E1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その成約手数料が、次のポイント原資になる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37760"/>
            <a:ext cx="11027664" cy="1097280"/>
          </a:xfrm>
          <a:prstGeom prst="roundRect">
            <a:avLst>
              <a:gd name="adj" fmla="val 5000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78408" y="5138928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「出口が課題」と「原資が市況に依存する」が、同じ一手で同時に解けます。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" y="5577840"/>
            <a:ext cx="10204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成約手数料をポイントで支払わせれば当社の実コストはゼロ。自社オークション基盤は既に開発中です。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期間限定ポイントは「来店装置」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期限の本質は失効益ではありません。会員を店に向かわせる装置です。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2331720"/>
          </a:xfrm>
          <a:prstGeom prst="roundRect">
            <a:avLst>
              <a:gd name="adj" fmla="val 2353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通常ポイント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無期限・譲渡不可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788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ワインの追加購入・贈答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翌年の管理手数料に充当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63931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資産として積み上がる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45936" y="1783080"/>
            <a:ext cx="5468112" cy="2331720"/>
          </a:xfrm>
          <a:prstGeom prst="roundRect">
            <a:avLst>
              <a:gd name="adj" fmla="val 2353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11696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期間限定ポイント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711696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四半期付与・6ヶ月有効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2788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系列店での会食・接待・BYO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オークション成約手数料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363931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年次の5%還元はこちら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370832"/>
            <a:ext cx="11027664" cy="1627632"/>
          </a:xfrm>
          <a:prstGeom prst="roundRect">
            <a:avLst>
              <a:gd name="adj" fmla="val 3371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8408" y="4590288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無期限ポイントは、一度も卓に変わりません。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5084064"/>
            <a:ext cx="10204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貸借対照表に積み上がるだけです。期限に追われた会員が店に行けば、同伴者が現金を落とす。失効前通知をWineGOの予約導線に直結させれば、そのまま送客オペレーションになります。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MEMBERSHIP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新・会員制度（差し替え案）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手数料はフラットに。ランク差はポイント還元率とレートだけに寄せる。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55648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PRESTIGE  100万〜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GOLD  400万〜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SIGNATURE  1,000万〜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管理手数料（年）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ポイント還元率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実質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+0.5%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+2.5%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グランメゾン交換レート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A22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CLUB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ポイントで充当可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半額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無料付与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17720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48280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廃止するもの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212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9行×5ランクの特典マトリクス。「乾杯ドリンク×2回」「BYOチケット3本」は営業が覚えられず、顧客が比較できない。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45936" y="4617720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711696" y="48280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やめる理由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711696" y="5212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手数料を2.75%→2.7%と刻んでも、100万円あたり年500円。体感はゼロ。刻むなら還元率を刻む。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「円」で表示しない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レートを公表せず、必要ポイント数で見せる。マイルと同じ方式です。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68112" cy="1417320"/>
          </a:xfrm>
          <a:prstGeom prst="roundRect">
            <a:avLst>
              <a:gd name="adj" fmla="val 387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011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✕  レート表記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3957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「アピシウスは 1pt＝0.5円」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345936" y="1810512"/>
            <a:ext cx="5468112" cy="1417320"/>
          </a:xfrm>
          <a:prstGeom prst="roundRect">
            <a:avLst>
              <a:gd name="adj" fmla="val 3871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11696" y="2011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  必要ポイント表記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11696" y="23957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「アピシウス ディナー（1名）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30,000pt」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456432"/>
            <a:ext cx="3529584" cy="1874520"/>
          </a:xfrm>
          <a:prstGeom prst="roundRect">
            <a:avLst>
              <a:gd name="adj" fmla="val 292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6941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371246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レートの議論が消える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18795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会員は「0.5円は損だ」ではなく「3万ptで行ける」と考える。マイルもディズニーもこの方式。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52544" y="3456432"/>
            <a:ext cx="3529584" cy="1874520"/>
          </a:xfrm>
          <a:prstGeom prst="roundRect">
            <a:avLst>
              <a:gd name="adj" fmla="val 292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26864" y="36941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26864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84064" y="371246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有利誤認リスクが消える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626864" y="418795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「1pt＝1円」と大書して特定店だけ0.5円という運用は景表法上グレー。円換算を出さなければ争点にならない。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8160" y="3456432"/>
            <a:ext cx="3529584" cy="1874520"/>
          </a:xfrm>
          <a:prstGeom prst="roundRect">
            <a:avLst>
              <a:gd name="adj" fmla="val 292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412480" y="36941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869680" y="371246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法務・税務が軽くなる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18795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前払式支払手段（資金決済法）も課税区分も、「円建ての金銭的価値が明示されているか」が効く。明確に安全側。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532120"/>
            <a:ext cx="11027664" cy="548640"/>
          </a:xfrm>
          <a:prstGeom prst="roundRect">
            <a:avLst>
              <a:gd name="adj" fmla="val 10000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78408" y="5660136"/>
            <a:ext cx="10204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会員には「5%還元」とだけ伝え、交換表は「◯◯ptで何ができるか」で見せる。同じ経済実態で、リスクだけが減ります。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出口設計：4つの経路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元本保証は使わない。それでも下値は作れます。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00253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002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02082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P2P・オークション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44144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会員が自身のボトルを売却。当社は成約手数料を収受。法的に最もクリーンで、経済圏の原資にもなる。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45936" y="1783080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38544" y="200253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38544" y="2002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23176" y="202082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当社買取（価格表方式）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8544" y="244144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Liv-ex連動の買取価格表を毎月公表。掛目◯%。「保証」ではなく「可視性」を提供する。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55848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9536" y="35753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44168" y="35935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ポイント転換（飲んで出る）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" y="4014216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保有ワインを当社評価額でポイントに転換し消費できる。保証の一言も使わずに心理的な下値が生まれる。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45936" y="3355848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38544" y="357530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38544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23176" y="359359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贈答・承継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4014216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取引先への贈答、次世代への引き継ぎ。換金ではないため規制論点が生じない。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029200"/>
            <a:ext cx="11027664" cy="1005840"/>
          </a:xfrm>
          <a:prstGeom prst="roundRect">
            <a:avLst>
              <a:gd name="adj" fmla="val 5455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78408" y="5230368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値下がりしても、飲めば取り戻せる。消費効用が下値になる資産は、ワインだけです。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" y="5660136"/>
            <a:ext cx="10204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実コストは額面の30%。NOT A HOTELは泊まっても資産は戻らない。金もアートも同じです。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CONTROL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先に塞ぐ：4つのリスク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攻める前に、法務・税務・会計を設計に織り込みます。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468112" cy="1920240"/>
          </a:xfrm>
          <a:prstGeom prst="roundRect">
            <a:avLst>
              <a:gd name="adj" fmla="val 285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02082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出資法・景表法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45973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「年率5%」と言わない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2807208"/>
            <a:ext cx="4882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「預ける＋年率＋貯金」の組合せは預り金と読まれる。サブリース（動産賃貸借）の建て付けにし、5%は『賃料率』として説明する。商標『ワイン貯金』は競合を止めるが、法規制は止めない。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45936" y="1783080"/>
            <a:ext cx="5468112" cy="1920240"/>
          </a:xfrm>
          <a:prstGeom prst="roundRect">
            <a:avLst>
              <a:gd name="adj" fmla="val 285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38544" y="2020824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38544" y="2020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123176" y="202082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資金決済法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38544" y="245973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6ヶ月ルールか、届出か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2807208"/>
            <a:ext cx="4882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自家型前払式支払手段は基準日の未使用残高1,000万円超で届出＋供託（残高の半額）。1人5万ptなら約200名で到達。四半期付与・6ヶ月有効なら適用除外の余地（要確認）。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904488"/>
            <a:ext cx="5468112" cy="1920240"/>
          </a:xfrm>
          <a:prstGeom prst="roundRect">
            <a:avLst>
              <a:gd name="adj" fmla="val 2857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59536" y="4142232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" y="4142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44168" y="41422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課税・役員賞与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59536" y="4581144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法人付与・値引き構成にする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" y="4928616"/>
            <a:ext cx="4882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個人付与＋個人消費は役員賞与認定の往復ビンタ。法人に付与し、接待交際費の値引きとして構成する。ローンチ前に顧問税理士の一筆を。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5936" y="3904488"/>
            <a:ext cx="5468112" cy="1920240"/>
          </a:xfrm>
          <a:prstGeom prst="roundRect">
            <a:avLst>
              <a:gd name="adj" fmla="val 2857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38544" y="4142232"/>
            <a:ext cx="347472" cy="347472"/>
          </a:xfrm>
          <a:prstGeom prst="ellips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38544" y="4142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23176" y="41422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会計（最重要）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38544" y="4581144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買戻し保証は売上を消す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638544" y="4928616"/>
            <a:ext cx="48828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契約上の買戻し保証があるとリスクと経済価値が移転せず、収益認識基準上、売上計上できない可能性。ポイントも履行義務として繰延が必要。SBIのDDで必ず出る。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ロードマップ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法務確認と買戻し設計を終えてから、ポイントを走らせます。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24328" cy="3584448"/>
          </a:xfrm>
          <a:prstGeom prst="roundRect">
            <a:avLst>
              <a:gd name="adj" fmla="val 209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993392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〜2ヶ月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7249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土台を固める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27248"/>
            <a:ext cx="21122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店舗原価率30%の検証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弁護士意見書（3点）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買戻し条項と引当方針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会員・ポイント規約の整備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10712" y="1783080"/>
            <a:ext cx="2624328" cy="3584448"/>
          </a:xfrm>
          <a:prstGeom prst="roundRect">
            <a:avLst>
              <a:gd name="adj" fmla="val 209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66744" y="1993392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22860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3〜6ヶ月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27249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100万プランで開始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666744" y="3127248"/>
            <a:ext cx="21122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ポイント台帳をマイページに実装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四半期付与・失効通知の運用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店舗別レート表の運用開始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783080"/>
            <a:ext cx="2624328" cy="3584448"/>
          </a:xfrm>
          <a:prstGeom prst="roundRect">
            <a:avLst>
              <a:gd name="adj" fmla="val 209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0528" y="1993392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22860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6〜12ヶ月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10528" y="27249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経済圏に広げる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510528" y="3127248"/>
            <a:ext cx="21122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Signature（1,000万）展開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オークション手数料との接続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曜日・時間帯の動的レート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98280" y="1783080"/>
            <a:ext cx="2624328" cy="3584448"/>
          </a:xfrm>
          <a:prstGeom prst="roundRect">
            <a:avLst>
              <a:gd name="adj" fmla="val 2091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354312" y="1993392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354312" y="22860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Year 2〜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354312" y="27249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ST公募へ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354312" y="3127248"/>
            <a:ext cx="21122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会員数と在庫回転率を実績に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SBI証券へ再提案</a:t>
            </a:r>
            <a:endParaRPr lang="en-US" sz="1200" dirty="0"/>
          </a:p>
          <a:p>
            <a:pPr marL="152400" indent="-152400">
              <a:lnSpc>
                <a:spcPts val="2000"/>
              </a:lnSpc>
              <a:spcAft>
                <a:spcPts val="1500"/>
              </a:spcAft>
              <a:buSzPct val="100000"/>
              <a:buChar char="•"/>
            </a:pPr>
            <a:r>
              <a:rPr lang="en-US" sz="12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100億円のCloud Cave構想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577840"/>
            <a:ext cx="11027664" cy="502920"/>
          </a:xfrm>
          <a:prstGeom prst="roundRect">
            <a:avLst>
              <a:gd name="adj" fmla="val 10909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78408" y="5687568"/>
            <a:ext cx="10204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規模が小さいうちに歯止めを設計する。サブリースは、後から縮められません。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次に決めるべきこと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サブリースの歯止めが決まれば、レート表とランク設計は利益から逆算して確定できます。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691640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経営判断が必要な3点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04825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223113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2231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2494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買戻しの形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61518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「保証」か「価格表オプション」か。売上計上の可否がここで決まる。最優先。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23697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4198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34381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還元率の構造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380390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フラット5% か、ランク別 3/4/5% か。コストはどちらでも成立する。判断軸は「上位ランクに上がる理由を作りたいか」。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42569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46085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608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316736" y="46268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社内精算レート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499262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系列レストランへの補填率（例：額面の70%）。後から決めると必ず揉める。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45936" y="1691640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弁護士に投げる3点セット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45936" y="204825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620256" y="223113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20256" y="2231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095744" y="22494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サブリースの建て付け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620256" y="261518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動産賃貸借として、出資法・金商法の枠外にあることの確認。5%＝賃料率という整理の妥当性。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5936" y="323697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620256" y="341985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0256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95744" y="34381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ポイントの法的性質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620256" y="380390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前払式支払手段への該当性。四半期付与・6ヶ月有効による適用除外の可否。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45936" y="4425696"/>
            <a:ext cx="5468112" cy="1060704"/>
          </a:xfrm>
          <a:prstGeom prst="roundRect">
            <a:avLst>
              <a:gd name="adj" fmla="val 5172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620256" y="4608576"/>
            <a:ext cx="347472" cy="34747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20256" y="4608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0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095744" y="46268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買戻し条項の帰結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620256" y="4992624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買戻しの形ごとの収益認識・リース会計・出資法上の評価。会計士と合同で。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5687568"/>
            <a:ext cx="11027664" cy="548640"/>
          </a:xfrm>
          <a:prstGeom prst="roundRect">
            <a:avLst>
              <a:gd name="adj" fmla="val 10000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78408" y="5806440"/>
            <a:ext cx="10204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資産と体験を、ひとつの通貨でつなぐ。ワインは、終わらない資産になる。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WineBank ビジネスポイント経済圏構想</dc:title>
  <dc:subject>PptxGenJS Presentation</dc:subject>
  <dc:creator>WineBank</dc:creator>
  <cp:lastModifiedBy>WineBank</cp:lastModifiedBy>
  <cp:revision>1</cp:revision>
  <dcterms:created xsi:type="dcterms:W3CDTF">2026-08-30T04:52:32Z</dcterms:created>
  <dcterms:modified xsi:type="dcterms:W3CDTF">2026-08-30T04:52:32Z</dcterms:modified>
</cp:coreProperties>
</file>