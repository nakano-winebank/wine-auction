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核心は不動産と同じ形。サブリースで保証賃料、専属専任媒介で出口。含み益は会員のもの、当社は買戻し債務を負わない。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サブリース＝賃貸借契約。預り金でも集団投資スキームでもない。ここが法務上の最大の利点。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当社と会員が同じ方向を向いている点が最大の訴求。買戻しモデルとの決定的な違い。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①は出資法と収益認識で不可。②は損失分担が集団投資スキームに当たる。③を採用する。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自分で選んだワインは飲みたいワイン。当社が選んだワインは資産。顧客心理と契約構造が一致する。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法人付与にすることで役員賞与リスクを断ち切れる。これは前回の議論で最大の税務リスクだった論点。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会員間オークションを運営する場合、古物営業法上の「古物競りあっせん業者」の届出（公安委員会）が必要になる可能性が高い。許可ではなく届出。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弁護士確認は3点セット：①動産賃貸借＋専属専任媒介が金商法・出資法外にあること ②ポイントの前払式支払手段該当性と6ヶ月ルール ③特定物の分別管理か消費寄託か。古物競りあっせん業者の届出要否も。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7B1E3A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2984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GROWTH STRATEGY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ビジネスポイント経済圏構想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15184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「ワイン貯金」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2958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保証賃料はポイントで。出口は専属専任媒介で。不動産オーナーの標準形を、ワインで。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29768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賃料 </a:t>
            </a:r>
            <a:pPr indent="0" marL="0">
              <a:buNone/>
            </a:pPr>
            <a:r>
              <a:rPr lang="en-US" sz="2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9469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毎年確実に入る。含み益は会員のもの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2544" y="429768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26864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 </a:t>
            </a:r>
            <a:pPr indent="0" marL="0">
              <a:buNone/>
            </a:pPr>
            <a:r>
              <a:rPr lang="en-US" sz="2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49469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専属専任媒介。当社は会員と同じ側に立つ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429768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0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買戻し </a:t>
            </a:r>
            <a:pPr indent="0" marL="0">
              <a:buNone/>
            </a:pPr>
            <a:r>
              <a:rPr lang="en-US" sz="2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9469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B/Sリスクゼロ。売上は完全に計上できる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550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2026年8月｜株式会社WineBank｜社外秘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なぜ、ワイン投資は売れないのか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商品が悪いのではない。買ったあとに「何も起きない」ことが問題です。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04825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0665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買った後、何も起きない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615184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1,000万円を払う。あとはマイページで時価を見るだけ。接点が年に数回しかなく、熱量が続かない。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178308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204825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5152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9784" y="20665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比較で負ける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2615184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「年率◯%」を語った瞬間、S&amp;P500や債券と同じ土俵に立つ。金融商品の実績と規模では証券会社に勝てない。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0768" y="204825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0768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0665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属人化する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2615184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リターンの説得はトップ営業の話術と人脈に依存する。再現性がなく、広告に載せられない。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370832"/>
            <a:ext cx="11027664" cy="1572768"/>
          </a:xfrm>
          <a:prstGeom prst="roundRect">
            <a:avLst>
              <a:gd name="adj" fmla="val 3488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78408" y="4617720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いまのワイン投資には「コンテンツ」しかない。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175504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パッケージ化され、完結し、コミュニケーションが存在しない。だから熱量が続かず、紹介も生まれない。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SNSが証明したこと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SNSの本質は、本来別々だった二つの要素を一体化させたことにあります。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68112" cy="3063240"/>
          </a:xfrm>
          <a:prstGeom prst="roundRect">
            <a:avLst>
              <a:gd name="adj" fmla="val 1791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従来のプロコンテンツ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映画・本・ドラマ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81635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制作されたパッケージである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物語は必ず完結する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「面白かった」で日常に戻る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「終わり」がある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45936" y="1783080"/>
            <a:ext cx="5468112" cy="3063240"/>
          </a:xfrm>
          <a:prstGeom prst="roundRect">
            <a:avLst>
              <a:gd name="adj" fmla="val 1791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11696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 × コミュニケーション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81635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情報とつながりが一体化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タイムラインは完結しない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つながりを求めて再び開く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「終わり」がない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408" y="5413248"/>
            <a:ext cx="10204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ワイン＝コンテンツ。</a:t>
            </a:r>
            <a:pPr indent="0" marL="0">
              <a:buNone/>
            </a:pPr>
            <a:r>
              <a:rPr lang="en-US" sz="15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ビジネスポイント＋会食＋BYO＋オークション＝コミュニケーション。</a:t>
            </a:r>
            <a:pPr indent="0" marL="0">
              <a:buNone/>
            </a:pPr>
            <a:r>
              <a:rPr lang="en-US" sz="15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一体化して初めて「終わり」がなくなる。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「終わり」があるか、ないか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会員権の優劣は、利用日数ではなく「終わるかどうか」で決まります。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62272"/>
                <a:gridCol w="44622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NOT A HOTEL ／ 会員制リゾート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WineBank Signature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体験の構造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非日常。チェックアウトで完結する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日常。次の会食が必ず来る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接点の頻度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年10泊。使い切れば終わり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週次。ポイントが貯まり続ける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使わない年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権利が消化されず費用だけ残る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資産が残り、育つ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出口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共有持分。流動性は限定的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現物。売る／飲む／贈るの3経路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828032"/>
            <a:ext cx="11027664" cy="1170432"/>
          </a:xfrm>
          <a:prstGeom prst="roundRect">
            <a:avLst>
              <a:gd name="adj" fmla="val 4688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78408" y="5047488"/>
            <a:ext cx="10204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 A HOTELには「終わり」がある。WineBank Signatureには「終わり」がない。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5532120"/>
            <a:ext cx="1020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比較表の1行として、これ以上に強い差別化はありません。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構造：ワインのサブリース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不動産のサブリースと同じ。所有者に保証賃料を渡し、含み益は所有者に残す。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468112" cy="2011680"/>
          </a:xfrm>
          <a:prstGeom prst="roundRect">
            <a:avLst>
              <a:gd name="adj" fmla="val 2727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1938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会員（法人）が得るもの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2860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確実な 5%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8895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市況にかかわらず毎年必ず入る保証賃料。しかも含み益は会員のものとして残る。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5936" y="1737360"/>
            <a:ext cx="5468112" cy="2011680"/>
          </a:xfrm>
          <a:prstGeom prst="roundRect">
            <a:avLst>
              <a:gd name="adj" fmla="val 2727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11696" y="1938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 が得るもの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22860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 ＋ 年3.7%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8895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借入ゼロで在庫を調達し、管理手数料と出口の媒介手数料を得る。買戻し債務は負わない。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950208"/>
            <a:ext cx="11027664" cy="1051560"/>
          </a:xfrm>
          <a:prstGeom prst="roundRect">
            <a:avLst>
              <a:gd name="adj" fmla="val 5217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78408" y="4133088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契約の形：サブリース（動産賃貸借）＋ 専属専任媒介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4517136"/>
            <a:ext cx="10204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不動産オーナーは、物件をサブリース会社に貸して保証賃料を得て、売るときは媒介業者に頼んで手数料を払う。含み益はオーナーのもの。それをそのままワインでやるだけです。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193792"/>
            <a:ext cx="11027664" cy="868680"/>
          </a:xfrm>
          <a:prstGeom prst="roundRect">
            <a:avLst>
              <a:gd name="adj" fmla="val 6316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78408" y="5413248"/>
            <a:ext cx="10204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この形なら「5%」は利回りではなく賃料率、「10%」は分配ではなく媒介手数料になる。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設計：ワイン貯金の3ステップ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所有権は会員に。管理手数料を払う代わりに、その倍のポイントを受け取る。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12140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139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ワインを購入し、預ける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633472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24612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所有権は会員。定温セラーで保管・動産保険付帯。WineBankに賃貸する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69664" y="276148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17136" y="1874520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9744" y="212140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9744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2139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管理手数料を払う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633472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▲25,000円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324612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年率2.5%。保管料・保険料を含む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276148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467344" y="1874520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59952" y="212140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59952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2139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ビジネスポイントを得る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759952" y="2633472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50,000pt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759952" y="324612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年率5%相当。会食・贈答・追加購入・オークションに使える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315968"/>
            <a:ext cx="11027664" cy="1645920"/>
          </a:xfrm>
          <a:prstGeom prst="roundRect">
            <a:avLst>
              <a:gd name="adj" fmla="val 3333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78408" y="4553712"/>
            <a:ext cx="10204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会員は2.5万円払って、5万円分を受け取る。差額の2.5万円を「貯金」していると考える。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" y="5074920"/>
            <a:ext cx="10204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この「貯金」の感覚が、日本人にとって最も強い購買トリガーです。しかもWineBank側は、この交換で損をしません（次頁）。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どの交換経路を通っても黒字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ワイン100万円・会員1名・年間。飲食原価率30%で算定。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2766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1371600"/>
                <a:gridCol w="1920240"/>
                <a:gridCol w="1463040"/>
                <a:gridCol w="206654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ポイント交換先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レート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額面価値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当社実原価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手数料収入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ネット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系列店（テラス・oto 等）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+10,000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アピシウス／T.マルクス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7,500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+17,500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WineBank CLUB 年会費充当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 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オークション成約手数料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失効（期間限定ポイント）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+25,000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61772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32688" y="4846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最悪ケースでも +10,000円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321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負ける交換経路が一つもない。保管料・保険料は管理手数料の内数（実数は別途確定済み）。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45936" y="4617720"/>
            <a:ext cx="5266944" cy="1371600"/>
          </a:xfrm>
          <a:prstGeom prst="roundRect">
            <a:avLst>
              <a:gd name="adj" fmla="val 40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693408" y="4846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これは「賃料」部分の収支にすぎない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93408" y="52486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これに出口の媒介手数料10%（年率換算 約2.7%）が乗り、当社の総取り分は年3.7%になります（次頁）。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収益構造：会員と当社の取り分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ワイン100万円・年6%成長・5年保有を前提とした年率換算。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468112" cy="2670048"/>
          </a:xfrm>
          <a:prstGeom prst="roundRect">
            <a:avLst>
              <a:gd name="adj" fmla="val 2055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1938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会員（法人）の取り分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保証賃料（ポイント）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44368" y="2322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+5.0%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270248" y="24140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毎年確定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管理手数料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9992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▲2.5%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70248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保管・保険込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含み益（手数料控除後）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+3.8%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270248" y="3767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媒介10%控除後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45936" y="1737360"/>
            <a:ext cx="5468112" cy="2670048"/>
          </a:xfrm>
          <a:prstGeom prst="roundRect">
            <a:avLst>
              <a:gd name="adj" fmla="val 2055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11696" y="1938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WineBankの取り分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管理手数料収入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23376" y="2322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+2.5%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049256" y="24140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保管・保険を含む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11696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ポイント実原価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723376" y="29992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▲1.5%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049256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5万pt × 原価率30%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711696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出口の媒介手数料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23376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+2.7%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049256" y="37673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売却額の10%を年率換算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4754880"/>
            <a:ext cx="11027664" cy="1298448"/>
          </a:xfrm>
          <a:prstGeom prst="roundRect">
            <a:avLst>
              <a:gd name="adj" fmla="val 4225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78408" y="4956048"/>
            <a:ext cx="10204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 +6.3%／年、当社 +3.7%／年。どちらも同じ方向を向いています。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" y="5394960"/>
            <a:ext cx="10204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は会員の取引相手ではなく代理人なので、高く早く売れるほど双方が儲かる。買戻しモデルの約7%より低いが、市場リスクを一切負わず、100万円を全額売上計上できる収益です。加えて在庫金利（自社保有なら年3%）の回避が乗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CHOICE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構造の選択：なぜ買戻しではなく媒介か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出口の設計は4通りありました。法務・会計・利益相反の3面で評価すると、答えは1つに絞られます。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19072"/>
          <a:ext cx="11027664" cy="914400"/>
        </p:xfrm>
        <a:graphic>
          <a:graphicData uri="http://schemas.openxmlformats.org/drawingml/2006/table">
            <a:tbl>
              <a:tblPr/>
              <a:tblGrid>
                <a:gridCol w="2395728"/>
                <a:gridCol w="2084832"/>
                <a:gridCol w="2084832"/>
                <a:gridCol w="2084832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買戻し保証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損益折半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②' 利益のみ折半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媒介＋賃貸借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出資法（預り金）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元本保証と読まれる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該当しない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金商法（集団投資）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損益分配そのもの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50%は高い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手数料は分配でない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売上計上（収益認識）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借入金になる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完全な売却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B/Sリスク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規模に比例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規模に比例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なし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なし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会員との利益相反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当社が買主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同じ側に立つ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当社の期待収益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約7%／年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約5%／年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約4〜5%／年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約3.7%／年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説明のしやすさ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全員が知っている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828032"/>
            <a:ext cx="5394960" cy="1225296"/>
          </a:xfrm>
          <a:prstGeom prst="roundRect">
            <a:avLst>
              <a:gd name="adj" fmla="val 447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32688" y="49926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②の致命傷は「折半」ではなく「損失も」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3583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手数料はマイナスになりません。損失を分担した瞬間、それは共同事業の損益分配になり、①で避けたB/Sリスクも形を変えて戻ってきます。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4828032"/>
            <a:ext cx="5394960" cy="1225296"/>
          </a:xfrm>
          <a:prstGeom prst="roundRect">
            <a:avLst>
              <a:gd name="adj" fmla="val 4478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49926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市場リスクを抱えた7%より、リスクゼロの3.7%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65392" y="53583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③は当社の収益を半分にしますが、買戻し債務も市場リスクも負わず、100万円を全額売上計上できます。SBIに持っていける形は③だけです。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TRACKS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2本立て：飲む人には、貸させない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飲むつもりの人に含み益はなく、売る出口も要りません。サブリースは運用型だけに掛けます。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消費型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40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自己利用・贈答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27249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 ＋ 寄託のみ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50008" y="3127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購入時の値引きポイント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35295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飲む・贈る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規制の表面積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50008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ほぼゼロ（小売＋保管＋販促）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9632" y="173736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65392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運用型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2340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サブリース ＋ 専属専任媒介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82712" y="27249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 ＋ 賃貸借 ＋ 媒介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982712" y="3127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賃料としてのビジネスポイント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82712" y="35295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売る（いつでも消費型へ転換可）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65392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規制の表面積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82712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賃貸借と媒介の設計が要る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626864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78408" y="4809744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そしてこの2本立ては、8:2のハイブリッド設計とそのまま重なります。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" y="5175504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80%＝お任せ銘柄＝運用型（当社が選び、貸し、いずれ売る）　／　20%＝指名銘柄＝消費型（自分で選んだ、飲むための一本）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5669280"/>
            <a:ext cx="11027664" cy="566928"/>
          </a:xfrm>
          <a:prstGeom prst="roundRect">
            <a:avLst>
              <a:gd name="adj" fmla="val 9677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78408" y="5797296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運用型 → 消費型への転換はいつでも可。値下がり局面で「売らずに飲む」を選べることが、保証なしの下値になります。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1ポイント＝0.5円という発明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グランメゾンでレートを半分にすることは、制約ではなく「権威性の値付け」です。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02082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0391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原価の非対称性を吸収する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47802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グランメゾンは食材原価だけでなく席の機会費用が高い。定価で埋まる席を1:1で割り引くとイールドが壊れる。0.5円なら当社利益が1.75倍になる。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45936" y="178308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38544" y="202082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38544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23176" y="20391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権威性がフックになる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8544" y="247802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マイルと同じ構造。ファーストクラスの交換レートが割高でも誰も文句を言わない。「憧れの席に交換できる」こと自体が商品。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" y="380390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44168" y="38221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ランク差別化に使える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426110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BLACK 0.7円／PLATINUM 0.6円／STANDARD 0.5円。年500円の手数料差は伝わらないが、「1.4倍使える」は伝わる。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45936" y="356616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38544" y="380390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38544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23176" y="38221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席のイールド管理になる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38544" y="426110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平日ランチ1円／平日ディナー0.7円／週末0.5円／12月は不可。ポイントが満席を食うのではなく、空席を埋めるようになる。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394960"/>
            <a:ext cx="11027664" cy="658368"/>
          </a:xfrm>
          <a:prstGeom prst="roundRect">
            <a:avLst>
              <a:gd name="adj" fmla="val 8333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78408" y="5559552"/>
            <a:ext cx="10204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安く交換できたら、ブランドが安く見える。0.5円はブランドを守るための価格です。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DESIGN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「ビジネスポイント」として設計する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個人向けのポイ活ではありません。法人に付与し、法人の接待・会食・贈答に使う取引条件です。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02082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0391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役員賞与認定を回避できる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47802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個人に付与して個人が飲めば「実質的に役員個人の消費」と認定され、損金不算入＋個人課税の往復ビンタになる。法人付与・法人の接待利用なら正常な事業経費。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45936" y="178308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38544" y="202082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38544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23176" y="20391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接待交際費として処理できる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38544" y="247802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現金支出部分は接待交際費。ポイント充当部分は値引き。消費の都度、確実に経費化できる足の速い設計。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" y="380390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44168" y="38221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議論の枠組みが変わる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426110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消費者向けポイントプログラムではなく、法人間の取引条件。景表法・特商法の消費者保護の文脈から距離が取れる。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45936" y="3566160"/>
            <a:ext cx="5468112" cy="1572768"/>
          </a:xfrm>
          <a:prstGeom prst="roundRect">
            <a:avLst>
              <a:gd name="adj" fmla="val 3488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38544" y="380390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38544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23176" y="38221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6ヶ月ルールの検討余地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38544" y="4261104"/>
            <a:ext cx="4882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資金決済法は発行から6ヶ月以内に限り使用できる前払式支払手段を適用除外としている。四半期付与・6ヶ月有効なら届出・供託を回避できる可能性（要弁護士確認）。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394960"/>
            <a:ext cx="11027664" cy="658368"/>
          </a:xfrm>
          <a:prstGeom prst="roundRect">
            <a:avLst>
              <a:gd name="adj" fmla="val 8333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78408" y="5559552"/>
            <a:ext cx="10204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名称：WineBank Business Points ／ ブランド名としての「ワイン貯金」は維持する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楽天に学ぶ：村を1つにしない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楽天の凄さはポイントを作ったことではなく、楽天市場という1つの村に閉じ込めなかったことです。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27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交換先が「CLUB年会費と系列飲食店」の2つだけなら、それはポイントではなくクーポンです。WineBankには、すでに村が7つあります。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108960"/>
                <a:gridCol w="2377440"/>
                <a:gridCol w="160934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WineBank の村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ポイントの使い道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当社の実コスト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系列レストラン（26→100店）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会食・接待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原価 30%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WineBank CLUB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年会費充当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ほぼゼロ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ワイン追加購入・贈答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購入代金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原価 75〜85%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要上限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マーケットプレイス／オークション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入札・成約手数料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ほぼゼロ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WineGO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配送料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実費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要上限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管理手数料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翌年の手数料に充当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ほぼゼロ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P1ファンド／ST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出資への充当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要法務確認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413248"/>
            <a:ext cx="11027664" cy="658368"/>
          </a:xfrm>
          <a:prstGeom prst="roundRect">
            <a:avLst>
              <a:gd name="adj" fmla="val 8333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78408" y="5577840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方針：自社の7つの村すべてに開く。外部提携は会員数200名を超えてから検討する。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第3の原資は、オークションにある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楽天のポイント原資は加盟店手数料。自腹を切っていません。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27664" cy="786384"/>
          </a:xfrm>
          <a:prstGeom prst="roundRect">
            <a:avLst>
              <a:gd name="adj" fmla="val 6977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78408" y="1956816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ポイント原資は「管理手数料2.5%」と「出口の媒介手数料10%」。</a:t>
            </a:r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後者は売れるたびに入る。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80644" y="2834640"/>
            <a:ext cx="1965960" cy="1170432"/>
          </a:xfrm>
          <a:prstGeom prst="roundRect">
            <a:avLst>
              <a:gd name="adj" fmla="val 46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8660" y="3035808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ワインを買う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46604" y="3291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9212" y="2834640"/>
            <a:ext cx="1965960" cy="1170432"/>
          </a:xfrm>
          <a:prstGeom prst="roundRect">
            <a:avLst>
              <a:gd name="adj" fmla="val 46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67228" y="3035808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限定ポイントが貯まる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5172" y="3291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97780" y="2834640"/>
            <a:ext cx="1965960" cy="1170432"/>
          </a:xfrm>
          <a:prstGeom prst="roundRect">
            <a:avLst>
              <a:gd name="adj" fmla="val 46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25796" y="3035808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会食・入札に使う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63740" y="3291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56348" y="2834640"/>
            <a:ext cx="1965960" cy="1170432"/>
          </a:xfrm>
          <a:prstGeom prst="roundRect">
            <a:avLst>
              <a:gd name="adj" fmla="val 46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84364" y="3035808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在庫が回転する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2308" y="3291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4916" y="2834640"/>
            <a:ext cx="1965960" cy="1170432"/>
          </a:xfrm>
          <a:prstGeom prst="roundRect">
            <a:avLst>
              <a:gd name="adj" fmla="val 4688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42932" y="3035808"/>
            <a:ext cx="170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成約手数料が入る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37844" y="4279392"/>
            <a:ext cx="10085832" cy="384048"/>
          </a:xfrm>
          <a:prstGeom prst="leftArrow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7844" y="4279392"/>
            <a:ext cx="10085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0E1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その成約手数料が、次のポイント原資になる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937760"/>
            <a:ext cx="11027664" cy="1097280"/>
          </a:xfrm>
          <a:prstGeom prst="roundRect">
            <a:avLst>
              <a:gd name="adj" fmla="val 5000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78408" y="5138928"/>
            <a:ext cx="10204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専属専任媒介だから、すべての出口が自社の板を通ります。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" y="5577840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会員は他社にもヤフオクにも出せない。ポイント原資が努力目標ではなく契約になります。手数料をポイントで支払わせれば実コストはゼロ。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期間限定ポイントは「来店装置」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期限の本質は失効益ではありません。会員を店に向かわせる装置です。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68112" cy="2331720"/>
          </a:xfrm>
          <a:prstGeom prst="roundRect">
            <a:avLst>
              <a:gd name="adj" fmla="val 2353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通常ポイント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無期限・譲渡不可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788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ワインの追加購入・贈答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翌年の管理手数料に充当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6393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資産として積み上がる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45936" y="1783080"/>
            <a:ext cx="5468112" cy="2331720"/>
          </a:xfrm>
          <a:prstGeom prst="roundRect">
            <a:avLst>
              <a:gd name="adj" fmla="val 2353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11696" y="2011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期間限定ポイント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四半期付与・6ヶ月有効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788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系列店での会食・接待・BYO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オークション成約手数料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36393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年次の5%還元はこちら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370832"/>
            <a:ext cx="11027664" cy="1627632"/>
          </a:xfrm>
          <a:prstGeom prst="roundRect">
            <a:avLst>
              <a:gd name="adj" fmla="val 3371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408" y="4590288"/>
            <a:ext cx="10204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無期限ポイントは、一度も卓に変わりません。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5084064"/>
            <a:ext cx="10204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貸借対照表に積み上がるだけです。期限に追われた会員が店に行けば、同伴者が現金を落とす。失効前通知をWineGOの予約導線に直結させれば、そのまま送客オペレーションになります。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新・会員制度（差し替え案）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手数料はフラットに。ランク差はポイント還元率とレートだけに寄せる。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27664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70048"/>
                <a:gridCol w="2670048"/>
                <a:gridCol w="267004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PRESTIGE  100万〜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GOLD  400万〜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SIGNATURE  1,000万〜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管理手数料（年）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ポイント還元率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実質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+1.5%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+2.5%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グランメゾン交換レート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WineBank CLUB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ポイントで充当可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半額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無料付与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617720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32688" y="4828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廃止するもの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212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9行×5ランクの特典マトリクス。「乾杯ドリンク×2回」「BYOチケット3本」は営業が覚えられず、顧客が比較できない。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45936" y="4617720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11696" y="4828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やめる理由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11696" y="5212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手数料を2.75%→2.7%と刻んでも、100万円あたり年500円。体感はゼロ。刻むなら還元率を刻む。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「円」で表示しない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レートを公表せず、必要ポイント数で見せる。マイルと同じ方式です。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2011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 レート表記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「アピシウスは 1pt＝0.5円」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45936" y="1810512"/>
            <a:ext cx="5468112" cy="1417320"/>
          </a:xfrm>
          <a:prstGeom prst="roundRect">
            <a:avLst>
              <a:gd name="adj" fmla="val 3871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11696" y="2011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  必要ポイント表記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11696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「アピシウス ディナー（1名）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30,000pt」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3456432"/>
            <a:ext cx="3529584" cy="1874520"/>
          </a:xfrm>
          <a:prstGeom prst="roundRect">
            <a:avLst>
              <a:gd name="adj" fmla="val 2927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69417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レートの議論が消える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18795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会員は「0.5円は損だ」ではなく「3万ptで行ける」と考える。マイルもディズニーもこの方式。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52544" y="3456432"/>
            <a:ext cx="3529584" cy="1874520"/>
          </a:xfrm>
          <a:prstGeom prst="roundRect">
            <a:avLst>
              <a:gd name="adj" fmla="val 2927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369417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26864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84064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有利誤認リスクが消える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418795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「1pt＝1円」と大書して特定店だけ0.5円という運用は景表法上グレー。円換算を出さなければ争点にならない。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3456432"/>
            <a:ext cx="3529584" cy="1874520"/>
          </a:xfrm>
          <a:prstGeom prst="roundRect">
            <a:avLst>
              <a:gd name="adj" fmla="val 2927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0" y="369417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法務・税務が軽くなる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18795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前払式支払手段（資金決済法）も課税区分も、「円建ての金銭的価値が明示されているか」が効く。明確に安全側。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532120"/>
            <a:ext cx="11027664" cy="548640"/>
          </a:xfrm>
          <a:prstGeom prst="roundRect">
            <a:avLst>
              <a:gd name="adj" fmla="val 10000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8408" y="5660136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会員には「5%還元」とだけ伝え、交換表は「◯◯ptで何ができるか」で見せる。同じ経済実態で、リスクだけが減ります。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出口設計：ワインの専属専任媒介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価格は約束しない。売る努力を約束する。元本保証を一言も使わずに、出口をつくります。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1938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媒介契約の設計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28600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動産には宅建業法の適用がありません。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報酬上限も期間制限もレインズ義務もかからず、10%は自由に設定できます。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8895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手数料は階段制にする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3218688"/>
            <a:ext cx="1426464" cy="621792"/>
          </a:xfrm>
          <a:prstGeom prst="roundRect">
            <a:avLst>
              <a:gd name="adj" fmla="val 8824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87552" y="32918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取得価額以下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5021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68880" y="3218688"/>
            <a:ext cx="1426464" cy="621792"/>
          </a:xfrm>
          <a:prstGeom prst="roundRect">
            <a:avLst>
              <a:gd name="adj" fmla="val 8824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523744" y="32918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+30%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523744" y="35021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05072" y="3218688"/>
            <a:ext cx="1426464" cy="621792"/>
          </a:xfrm>
          <a:prstGeom prst="roundRect">
            <a:avLst>
              <a:gd name="adj" fmla="val 8824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059936" y="32918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+30% 超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059936" y="35021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99632" y="173736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65392" y="1938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自主的に移植する4つの保護規定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23042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専属で縛りながら売却義務を負わないのは片務的です。不動産で用意されている保護を、自分から入れておきます。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2724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報告義務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62672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月1回、掲載状況・入札・引合いを書面で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30540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62672" y="3054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1年更新。サブリース契約中は自動更新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65392" y="33832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解除権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662672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一定期間売れなければ解除し他社売却可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37124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掲載義務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自社マーケットプレイスへの掲載（レインズ相当）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169664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78408" y="4352544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当社は会員の取引相手ではなく、代理人になる。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8408" y="4718304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買戻しでは、会員は高く売りたく当社は安く買いたい。媒介なら、高く早く売れるほど双方が儲かる。この利益相反の解消は、投資家にもSBIにも必ず効きます。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5248656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32688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最後のバックストップ：現物返還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" y="5687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売れなければ現物をお届けする。当社の負担はゼロ、会員には絶対的。出口は常にあります。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9632" y="5248656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565392" y="5394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手数料はポイントで支払可能に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65392" y="5687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当社はポイント負債を額面で消却でき、実質コストはゼロ。ポイントと出口が一つの系になります。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先に塞ぐ：4つのリスク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攻める前に、法務・税務・会計を設計に織り込みます。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68112" cy="1920240"/>
          </a:xfrm>
          <a:prstGeom prst="roundRect">
            <a:avLst>
              <a:gd name="adj" fmla="val 2857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02082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020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出資法・景表法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45973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「年率5%」と言わない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807208"/>
            <a:ext cx="4882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「預ける＋年率＋貯金」の組合せは預り金と読まれる。サブリース（動産賃貸借）の建て付けにし、5%は『賃料率』として説明する。商標『ワイン貯金』は競合を止めるが、法規制は止めない。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45936" y="1783080"/>
            <a:ext cx="5468112" cy="1920240"/>
          </a:xfrm>
          <a:prstGeom prst="roundRect">
            <a:avLst>
              <a:gd name="adj" fmla="val 2857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38544" y="202082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23176" y="2020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資金決済法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38544" y="245973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6ヶ月ルールか、届出か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38544" y="2807208"/>
            <a:ext cx="4882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自家型前払式支払手段は基準日の未使用残高1,000万円超で届出＋供託（残高の半額）。1人5万ptなら約200名で到達。四半期付与・6ヶ月有効なら適用除外の余地（要確認）。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904488"/>
            <a:ext cx="5468112" cy="1920240"/>
          </a:xfrm>
          <a:prstGeom prst="roundRect">
            <a:avLst>
              <a:gd name="adj" fmla="val 2857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4142232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4142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課税・役員賞与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458114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法人付与・値引き構成にする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928616"/>
            <a:ext cx="4882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個人付与＋個人消費は役員賞与認定の往復ビンタ。法人に付与し、接待交際費の値引きとして構成する。ローンチ前に顧問税理士の一筆を。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45936" y="3904488"/>
            <a:ext cx="5468112" cy="1920240"/>
          </a:xfrm>
          <a:prstGeom prst="roundRect">
            <a:avLst>
              <a:gd name="adj" fmla="val 2857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38544" y="4142232"/>
            <a:ext cx="347472" cy="347472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23176" y="4142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638544" y="458114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だから買戻しを採らない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638544" y="4928616"/>
            <a:ext cx="4882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買戻し保証があるとリスクと経済価値が移転せず、収益認識基準上100万円を売上計上できない。媒介方式ならこの論点自体が消える。ポイントは履行義務として繰延が必要。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ロードマップ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契約設計と法務確認を終えてから、ポイントを走らせます。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24328" cy="3584448"/>
          </a:xfrm>
          <a:prstGeom prst="roundRect">
            <a:avLst>
              <a:gd name="adj" fmla="val 2091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〜2ヶ月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2491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土台を固める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21122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店舗原価率30%の検証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弁護士意見書（3点）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賃貸借・媒介契約の整備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消費型／運用型の比率設計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0712" y="1783080"/>
            <a:ext cx="2624328" cy="3584448"/>
          </a:xfrm>
          <a:prstGeom prst="roundRect">
            <a:avLst>
              <a:gd name="adj" fmla="val 2091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66744" y="199339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3〜6ヶ月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272491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100万プランで開始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66744" y="3127248"/>
            <a:ext cx="21122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ポイント台帳をマイページに実装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四半期付与・失効通知の運用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店舗別レート表の運用開始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783080"/>
            <a:ext cx="2624328" cy="3584448"/>
          </a:xfrm>
          <a:prstGeom prst="roundRect">
            <a:avLst>
              <a:gd name="adj" fmla="val 2091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10528" y="199339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6〜12ヶ月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272491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経済圏に広げる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127248"/>
            <a:ext cx="21122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Signature（1,000万）展開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オークション手数料との接続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曜日・時間帯の動的レート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98280" y="1783080"/>
            <a:ext cx="2624328" cy="3584448"/>
          </a:xfrm>
          <a:prstGeom prst="roundRect">
            <a:avLst>
              <a:gd name="adj" fmla="val 2091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354312" y="1993392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354312" y="228600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Year 2〜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354312" y="272491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ST公募へ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354312" y="3127248"/>
            <a:ext cx="21122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会員数と在庫回転率を実績に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SBI証券へ再提案</a:t>
            </a:r>
            <a:endParaRPr lang="en-US" sz="1200" dirty="0"/>
          </a:p>
          <a:p>
            <a:pPr marL="152400" indent="-152400">
              <a:lnSpc>
                <a:spcPts val="2000"/>
              </a:lnSpc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100億円のCloud Cave構想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577840"/>
            <a:ext cx="11027664" cy="502920"/>
          </a:xfrm>
          <a:prstGeom prst="roundRect">
            <a:avLst>
              <a:gd name="adj" fmla="val 10909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78408" y="5687568"/>
            <a:ext cx="1020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専属専任は最初の契約書でしか作れません。後から追加でお願いはできません。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次に決めるべきこと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契約の骨格が決まれば、レート表とランク設計は利益から逆算して確定できます。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91640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経営判断が必要な3点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5468112" cy="1060704"/>
          </a:xfrm>
          <a:prstGeom prst="roundRect">
            <a:avLst>
              <a:gd name="adj" fmla="val 5172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23113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2494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媒介手数料の階段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61518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5%／10%／15%の刻みと閾値。②で狙った利益折半の経済性を、手数料の枠内でどこまで取り戻すか。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236976"/>
            <a:ext cx="5468112" cy="1060704"/>
          </a:xfrm>
          <a:prstGeom prst="roundRect">
            <a:avLst>
              <a:gd name="adj" fmla="val 5172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41985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4381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還元率の構造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80390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フラット5% か、ランク別 3/4/5% か。コストはどちらでも成立する。判断軸は「上位ランクに上がる理由を作りたいか」。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425696"/>
            <a:ext cx="5468112" cy="1060704"/>
          </a:xfrm>
          <a:prstGeom prst="roundRect">
            <a:avLst>
              <a:gd name="adj" fmla="val 5172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60857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16736" y="46268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社内精算レート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99262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系列レストランへの補填率（例：額面の70%）。後から決めると必ず揉める。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45936" y="1691640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弁護士に投げる3点セット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45936" y="2048256"/>
            <a:ext cx="5468112" cy="1060704"/>
          </a:xfrm>
          <a:prstGeom prst="roundRect">
            <a:avLst>
              <a:gd name="adj" fmla="val 5172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0256" y="223113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025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95744" y="22494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サブリースと媒介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20256" y="261518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動産賃貸借＋専属専任媒介が出資法・金商法の枠外にあることの確認。古物競りあっせん業者の届出要否も。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45936" y="3236976"/>
            <a:ext cx="5468112" cy="1060704"/>
          </a:xfrm>
          <a:prstGeom prst="roundRect">
            <a:avLst>
              <a:gd name="adj" fmla="val 5172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0256" y="341985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0256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95744" y="34381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ポイントの法的性質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20256" y="380390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前払式支払手段への該当性。四半期付与・6ヶ月有効による適用除外の可否。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45936" y="4425696"/>
            <a:ext cx="5468112" cy="1060704"/>
          </a:xfrm>
          <a:prstGeom prst="roundRect">
            <a:avLst>
              <a:gd name="adj" fmla="val 5172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20256" y="460857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0256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95744" y="46268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特定物か消費寄託か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620256" y="499262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分別管理（会員は所有者）か、同種同等を返す消費寄託（在庫は動くが会員は債権者）か。最も重い判断。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5687568"/>
            <a:ext cx="11027664" cy="548640"/>
          </a:xfrm>
          <a:prstGeom prst="roundRect">
            <a:avLst>
              <a:gd name="adj" fmla="val 10000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78408" y="5806440"/>
            <a:ext cx="10204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資産と体験を、ひとつの通貨でつなぐ。ワインは、終わらない資産になる。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WineBank ビジネスポイント経済圏構想</dc:title>
  <dc:subject>PptxGenJS Presentation</dc:subject>
  <dc:creator>WineBank</dc:creator>
  <cp:lastModifiedBy>WineBank</cp:lastModifiedBy>
  <cp:revision>1</cp:revision>
  <dcterms:created xsi:type="dcterms:W3CDTF">2026-08-30T05:22:23Z</dcterms:created>
  <dcterms:modified xsi:type="dcterms:W3CDTF">2026-08-30T05:22:23Z</dcterms:modified>
</cp:coreProperties>
</file>