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すべて単体ベース。連結（マイル原価17.5%）ならPLは+2,451万、継続は+186万/年。保管料1.5%と粗利30%が最大の変数。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中谷氏のご指摘への回答スライド。要点は「両方ともAUMに比例するので比率が固定される」という構造の話。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8/31 MTG決定事項：①コミュニティ通貨モデルの採用 ②3〜6ヶ月の有効期限 ③会員向け交流イベントの追加。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純粋サブリース（値上がり全取り）は買戻し義務を伴い収益認識で詰む。2契約に分けることで、法務・会計・マーケの3つが同時に立つ。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継続収支：基本ケース+86万/年、良好ケース（オークション誘導強化）+128万/年、最悪ケース▲81万/年。90%保証は系列店への送客投資であり、連結では相殺される。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6ヶ月ルールは撤回。無償付与のマイルは前払式支払手段に該当しないため、期限は自由。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WineBank単体ベース。ワイン1億円／値上がり6%・金利3%・保管料1.5%・粗利30%・管理手数料2.5%</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販売ミックス：100万×52名 ＋ 400万×7名 ＋ 1,000万×2名 ＝ 1億円　／　マイル発行 368万円（原価率44.5%＝想定交換ミックス）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+2,351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+2,801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+9,351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+9,801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▲649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▲199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▲450万と▲649万。差は199万円です。同じだけ現金を使って、セラーのワインは1億から2億5,000万へ。しかもうち1億は、会員のお金で買われたワインです。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年▲450万（金利300＋保管150）。会員に持たせて預かると 年+86万（手数料250−マイル164）。同じワインで、年536万ひっくり返ります。加えて成功報酬が5年後846万。</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ACCUMULATION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「手出しは、増え続けないか」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単発の試算で黒字でも、マイルの支払いが年々膨らんで食い潰すのではないか——ご指摘への回答です。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毎年1億円ずつ販売を続けた場合。単体ベース、マイル原価率44.5%。　※単位：万円</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1005840"/>
                <a:gridCol w="1737360"/>
                <a:gridCol w="1280160"/>
                <a:gridCol w="1645920"/>
                <a:gridCol w="1645920"/>
                <a:gridCol w="1463040"/>
                <a:gridCol w="1371600"/>
                <a:gridCol w="877824"/>
              </a:tblGrid>
              <a:tr h="438912">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預かり資産</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粗利</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管理手数料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マイル費用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年間計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累計マイル</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▲164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+3,086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164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3,086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▲491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983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9,517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▲819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+3,431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2,456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16,294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38912">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▲1,638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+3,862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9,007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34,743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114800"/>
            <a:ext cx="5394960" cy="1133856"/>
          </a:xfrm>
          <a:prstGeom prst="roundRect">
            <a:avLst>
              <a:gd name="adj" fmla="val 4839"/>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242816"/>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マイルも手数料も、同じ預かり資産に比例します。</a:t>
            </a:r>
            <a:endParaRPr lang="en-US" sz="1500" dirty="0"/>
          </a:p>
        </p:txBody>
      </p:sp>
      <p:sp>
        <p:nvSpPr>
          <p:cNvPr id="10" name="Text 7"/>
          <p:cNvSpPr txBox="1"/>
          <p:nvPr/>
        </p:nvSpPr>
        <p:spPr>
          <a:xfrm>
            <a:off x="932688" y="4553712"/>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マイル費用は預かり資産の1.64%、管理手数料は2.5%。どちらも定率なので、規模がどれだけ大きくなっても比は変わりません。手出しが収入を追い越す構造になっていない、というのが答えです。</a:t>
            </a:r>
            <a:endParaRPr lang="en-US" sz="1050" dirty="0"/>
          </a:p>
        </p:txBody>
      </p:sp>
      <p:sp>
        <p:nvSpPr>
          <p:cNvPr id="11" name="Shape 8"/>
          <p:cNvSpPr/>
          <p:nvPr/>
        </p:nvSpPr>
        <p:spPr>
          <a:xfrm>
            <a:off x="6199632" y="4114800"/>
            <a:ext cx="5394960" cy="1133856"/>
          </a:xfrm>
          <a:prstGeom prst="roundRect">
            <a:avLst>
              <a:gd name="adj" fmla="val 483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242816"/>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販売を止めても、ストックだけで回ります。</a:t>
            </a:r>
            <a:endParaRPr lang="en-US" sz="1500" dirty="0"/>
          </a:p>
        </p:txBody>
      </p:sp>
      <p:sp>
        <p:nvSpPr>
          <p:cNvPr id="13" name="Text 10"/>
          <p:cNvSpPr txBox="1"/>
          <p:nvPr/>
        </p:nvSpPr>
        <p:spPr>
          <a:xfrm>
            <a:off x="6565392" y="4553712"/>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新規販売がゼロでも、預かり資産1億あたり年+86万。5億で+431万、10億で+862万。赤字になるのはマイル原価率が67.9%を超えたときだけです。</a:t>
            </a:r>
            <a:endParaRPr lang="en-US" sz="1050" dirty="0"/>
          </a:p>
        </p:txBody>
      </p:sp>
      <p:sp>
        <p:nvSpPr>
          <p:cNvPr id="14" name="Shape 11"/>
          <p:cNvSpPr/>
          <p:nvPr/>
        </p:nvSpPr>
        <p:spPr>
          <a:xfrm>
            <a:off x="566928" y="5394960"/>
            <a:ext cx="11027664" cy="658368"/>
          </a:xfrm>
          <a:prstGeom prst="roundRect">
            <a:avLst>
              <a:gd name="adj" fmla="val 8333"/>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2"/>
          <p:cNvSpPr txBox="1"/>
          <p:nvPr/>
        </p:nvSpPr>
        <p:spPr>
          <a:xfrm>
            <a:off x="978408" y="5559552"/>
            <a:ext cx="10204704" cy="36576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10年で累計マイル支払 9,007万に対し、累計利益 3億4,743万。マイルが利益を食い潰す局面は訪れません。</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COMMUNITY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コミュニティは、通貨だけでは育たない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8/31 MTGでの決定事項。マイルに「集まる理由」と「貯める楽しさ」を足します。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交流イベントを標準装備</a:t>
            </a:r>
            <a:endParaRPr lang="en-US" sz="1450" dirty="0"/>
          </a:p>
        </p:txBody>
      </p:sp>
      <p:sp>
        <p:nvSpPr>
          <p:cNvPr id="10" name="Text 8"/>
          <p:cNvSpPr txBox="1"/>
          <p:nvPr/>
        </p:nvSpPr>
        <p:spPr>
          <a:xfrm>
            <a:off x="859536"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オークション開催に合わせて交流会を開く。クレジットカードの特典と同じ発想です。ワイン関連企業を巻き込めば低コストで回り、会員同士の横のつながりが継続率を押し上げます。</a:t>
            </a:r>
            <a:endParaRPr lang="en-US" sz="1100" dirty="0"/>
          </a:p>
        </p:txBody>
      </p:sp>
      <p:sp>
        <p:nvSpPr>
          <p:cNvPr id="11" name="Shape 9"/>
          <p:cNvSpPr/>
          <p:nvPr/>
        </p:nvSpPr>
        <p:spPr>
          <a:xfrm>
            <a:off x="6199632" y="1664208"/>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ワインスクールにも使える</a:t>
            </a:r>
            <a:endParaRPr lang="en-US" sz="1450" dirty="0"/>
          </a:p>
        </p:txBody>
      </p:sp>
      <p:sp>
        <p:nvSpPr>
          <p:cNvPr id="15" name="Text 13"/>
          <p:cNvSpPr txBox="1"/>
          <p:nvPr/>
        </p:nvSpPr>
        <p:spPr>
          <a:xfrm>
            <a:off x="6492240"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買う・飲むだけでなく、学ぶにも使える。使い道が増えるほど経済圏に留まる理由が増え、入会のハードルは下がります。</a:t>
            </a:r>
            <a:endParaRPr lang="en-US" sz="1100" dirty="0"/>
          </a:p>
        </p:txBody>
      </p:sp>
      <p:sp>
        <p:nvSpPr>
          <p:cNvPr id="16" name="Shape 14"/>
          <p:cNvSpPr/>
          <p:nvPr/>
        </p:nvSpPr>
        <p:spPr>
          <a:xfrm>
            <a:off x="566928" y="3346704"/>
            <a:ext cx="5394960" cy="1481328"/>
          </a:xfrm>
          <a:prstGeom prst="roundRect">
            <a:avLst>
              <a:gd name="adj" fmla="val 370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66160"/>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6616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貯めるプロセス自体を楽しませる</a:t>
            </a:r>
            <a:endParaRPr lang="en-US" sz="1450" dirty="0"/>
          </a:p>
        </p:txBody>
      </p:sp>
      <p:sp>
        <p:nvSpPr>
          <p:cNvPr id="20" name="Text 18"/>
          <p:cNvSpPr txBox="1"/>
          <p:nvPr/>
        </p:nvSpPr>
        <p:spPr>
          <a:xfrm>
            <a:off x="859536"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使うたびに貯まり、ランクが上がる。「上位にいることが賢い選択だ」と会員自身が感じる設計にします。修行のように貯める行為そのものが体験になります。</a:t>
            </a:r>
            <a:endParaRPr lang="en-US" sz="1100" dirty="0"/>
          </a:p>
        </p:txBody>
      </p:sp>
      <p:sp>
        <p:nvSpPr>
          <p:cNvPr id="21" name="Shape 19"/>
          <p:cNvSpPr/>
          <p:nvPr/>
        </p:nvSpPr>
        <p:spPr>
          <a:xfrm>
            <a:off x="6199632" y="3346704"/>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66160"/>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6616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期限が、次の行動を呼ぶ</a:t>
            </a:r>
            <a:endParaRPr lang="en-US" sz="1450" dirty="0"/>
          </a:p>
        </p:txBody>
      </p:sp>
      <p:sp>
        <p:nvSpPr>
          <p:cNvPr id="25" name="Text 23"/>
          <p:cNvSpPr txBox="1"/>
          <p:nvPr/>
        </p:nvSpPr>
        <p:spPr>
          <a:xfrm>
            <a:off x="6492240"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限定マイルは3〜6ヶ月。消費とオークション参加を継続的に促します。残高が減っても、行動すればまた増える。</a:t>
            </a:r>
            <a:endParaRPr lang="en-US" sz="1100" dirty="0"/>
          </a:p>
        </p:txBody>
      </p:sp>
      <p:sp>
        <p:nvSpPr>
          <p:cNvPr id="26" name="Shape 24"/>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266944"/>
            <a:ext cx="10204704" cy="365760"/>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投資の話をやめて、ワインのある暮らしの話をする。</a:t>
            </a:r>
            <a:endParaRPr lang="en-US" sz="1900" dirty="0"/>
          </a:p>
        </p:txBody>
      </p:sp>
      <p:sp>
        <p:nvSpPr>
          <p:cNvPr id="28" name="Text 26"/>
          <p:cNvSpPr txBox="1"/>
          <p:nvPr/>
        </p:nvSpPr>
        <p:spPr>
          <a:xfrm>
            <a:off x="978408" y="5669280"/>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「夢のある見せ方」が、入会のハードルを下げ、長期の関係をつくります。マイルはその共通言語にすぎません。</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契約は2本立て：マスターリース ＋ アセットマネジメント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純粋なサブリースなら値上がり分は全額こちらのもの。ただしそれには買戻し義務が必要で、売上が立たなくなります。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マスターリース（動産賃貸借）</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賃料：ワインマイル 年5%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会員が所有するワインをWineBankが賃借する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賃料は現金ではなくワインマイルで支払う</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「5%」は利回りではなく賃料率</a:t>
            </a:r>
            <a:endParaRPr lang="en-US" sz="1150" dirty="0"/>
          </a:p>
        </p:txBody>
      </p:sp>
      <p:sp>
        <p:nvSpPr>
          <p:cNvPr id="10" name="Shape 8"/>
          <p:cNvSpPr/>
          <p:nvPr/>
        </p:nvSpPr>
        <p:spPr>
          <a:xfrm>
            <a:off x="6199632" y="1627632"/>
            <a:ext cx="5394960" cy="2487168"/>
          </a:xfrm>
          <a:prstGeom prst="roundRect">
            <a:avLst>
              <a:gd name="adj" fmla="val 220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不動産のファンドと同じ形です。マスターリース会社が保証賃料を払い、AM会社が運用報酬とディスポジションフィーを取る。</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1本の「サブリース」に押し込むと、値上がり分を取るために買戻し義務が要る＝100万円を売上計上できなくなります。2本に分けることが、法務と会計の両方を通す唯一の形です。</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賃料5%は当社が払う。値上がりの75%は会員のもの。当社の取り分は25%だけ。</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50,000マイル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年率5%相当。会食・贈答・イベント・オークション・ワイナートに使える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会員は2.5万円払って、5万円分を受け取る。差額の2.5万円を「貯金」していると考える。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WineBank単体ベース。系列店へはマイル額面×レート×90%を保証。額面100に対する当社コストで表示。</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最優先で誘導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Text 4"/>
          <p:cNvSpPr txBox="1"/>
          <p:nvPr/>
        </p:nvSpPr>
        <p:spPr>
          <a:xfrm>
            <a:off x="566928" y="4480560"/>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想定ミックス：系列店35% ／ グランメゾン20% ／ CLUB充当15% ／ オークション10% ／ 追加購入5% ／ 失効15%　→　加重平均 単体44.5%</a:t>
            </a:r>
            <a:endParaRPr lang="en-US" sz="1050" dirty="0"/>
          </a:p>
        </p:txBody>
      </p:sp>
      <p:sp>
        <p:nvSpPr>
          <p:cNvPr id="8" name="Shape 5"/>
          <p:cNvSpPr/>
          <p:nvPr/>
        </p:nvSpPr>
        <p:spPr>
          <a:xfrm>
            <a:off x="566928" y="4828032"/>
            <a:ext cx="5394960" cy="1225296"/>
          </a:xfrm>
          <a:prstGeom prst="roundRect">
            <a:avLst>
              <a:gd name="adj" fmla="val 447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956048"/>
            <a:ext cx="4663440" cy="310896"/>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損益分岐は 67.9%</a:t>
            </a:r>
            <a:endParaRPr lang="en-US" sz="1700" dirty="0"/>
          </a:p>
        </p:txBody>
      </p:sp>
      <p:sp>
        <p:nvSpPr>
          <p:cNvPr id="10" name="Text 7"/>
          <p:cNvSpPr txBox="1"/>
          <p:nvPr/>
        </p:nvSpPr>
        <p:spPr>
          <a:xfrm>
            <a:off x="932688" y="5303520"/>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管理手数料250万 ÷ マイル発行368万。加重平均の原価率がこれを下回れば、単体でも継続収支は黒字です。想定ミックスは44.5%で、23ポイントの余裕があります。</a:t>
            </a:r>
            <a:endParaRPr lang="en-US" sz="1050" dirty="0"/>
          </a:p>
        </p:txBody>
      </p:sp>
      <p:sp>
        <p:nvSpPr>
          <p:cNvPr id="11" name="Shape 8"/>
          <p:cNvSpPr/>
          <p:nvPr/>
        </p:nvSpPr>
        <p:spPr>
          <a:xfrm>
            <a:off x="6199632" y="4828032"/>
            <a:ext cx="5394960" cy="1225296"/>
          </a:xfrm>
          <a:prstGeom prst="roundRect">
            <a:avLst>
              <a:gd name="adj" fmla="val 44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956048"/>
            <a:ext cx="4663440" cy="310896"/>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赤字になるのは、たった一つの場合だけ</a:t>
            </a:r>
            <a:endParaRPr lang="en-US" sz="1500" dirty="0"/>
          </a:p>
        </p:txBody>
      </p:sp>
      <p:sp>
        <p:nvSpPr>
          <p:cNvPr id="13" name="Text 10"/>
          <p:cNvSpPr txBox="1"/>
          <p:nvPr/>
        </p:nvSpPr>
        <p:spPr>
          <a:xfrm>
            <a:off x="6565392" y="5303520"/>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全額を系列店の1.0円で使われた場合のみ90%となり、継続▲81万/年。逆に言えば、どこで使わせるかの設計が、そのまま収支になります。</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飲むつもりの人に賃貸借は不要です。そして運用型の人も、途中で飲みたくなります。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賃貸借 ＋ 成功報酬25%</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ワインは当社が賃借し、マイルが賃料として入る</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値上がりの75%は会員のもの</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出口は自由。縛りなし</a:t>
            </a:r>
            <a:endParaRPr lang="en-US" sz="1150" dirty="0"/>
          </a:p>
        </p:txBody>
      </p:sp>
      <p:sp>
        <p:nvSpPr>
          <p:cNvPr id="10" name="Shape 8"/>
          <p:cNvSpPr/>
          <p:nvPr/>
        </p:nvSpPr>
        <p:spPr>
          <a:xfrm>
            <a:off x="6199632" y="1627632"/>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賃貸借も成功報酬もかからない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保有資産に比例した年次付与（保有残高×5%）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3〜6ヶ月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行動に対する都度付与（落札・出品・会食・イベント・スクール受講）</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29184">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講師・会場費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992624"/>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WineBank CLUB への充当ルール</a:t>
            </a:r>
            <a:endParaRPr lang="en-US" sz="1300" dirty="0"/>
          </a:p>
        </p:txBody>
      </p:sp>
      <p:sp>
        <p:nvSpPr>
          <p:cNvPr id="9" name="Text 6"/>
          <p:cNvSpPr txBox="1"/>
          <p:nvPr/>
        </p:nvSpPr>
        <p:spPr>
          <a:xfrm>
            <a:off x="932688"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a:t>
            </a:r>
            <a:endParaRPr lang="en-US" sz="1000" dirty="0"/>
          </a:p>
        </p:txBody>
      </p:sp>
      <p:sp>
        <p:nvSpPr>
          <p:cNvPr id="10" name="Shape 7"/>
          <p:cNvSpPr/>
          <p:nvPr/>
        </p:nvSpPr>
        <p:spPr>
          <a:xfrm>
            <a:off x="6199632" y="4992624"/>
            <a:ext cx="5394960" cy="1060704"/>
          </a:xfrm>
          <a:prstGeom prst="roundRect">
            <a:avLst>
              <a:gd name="adj" fmla="val 517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00" dirty="0"/>
          </a:p>
        </p:txBody>
      </p:sp>
      <p:sp>
        <p:nvSpPr>
          <p:cNvPr id="12" name="Text 9"/>
          <p:cNvSpPr txBox="1"/>
          <p:nvPr/>
        </p:nvSpPr>
        <p:spPr>
          <a:xfrm>
            <a:off x="6565392"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「上のランクだと還元が1.7倍」「未公開ワインが先に届く」は伝わります。レートを刻むのはやめ、体感できる2軸だけに集約します。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賃貸借契約の終了時（売却・引取・転換のいずれでも）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RISK CONTROL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先に塞ぐ：4つのリスク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攻める前に、法務・税務・会計を設計に織り込みます。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出資法・景表法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「年率5%」と言わない</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「預ける＋年率＋貯金」の組合せは預り金と読まれます。マスターリース（動産賃貸借）の建て付けにし、5%は『賃料率』として説明する。商標『ワイン貯金』は競合を止めますが、法規制は止めません。</a:t>
            </a:r>
            <a:endParaRPr lang="en-US" sz="1050" dirty="0"/>
          </a:p>
        </p:txBody>
      </p:sp>
      <p:sp>
        <p:nvSpPr>
          <p:cNvPr id="12" name="Shape 10"/>
          <p:cNvSpPr/>
          <p:nvPr/>
        </p:nvSpPr>
        <p:spPr>
          <a:xfrm>
            <a:off x="6199632" y="166420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マイルを「売る」と性質が変わる</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無償付与なら前払式支払手段に該当せず、期限も自由です。ただしマイルを購入できる設計にすると対価性が生じて該当し、届出＋供託（未使用残高の半額）が必要になります。購入導線は法務確認後に判断します。</a:t>
            </a:r>
            <a:endParaRPr lang="en-US" sz="1050" dirty="0"/>
          </a:p>
        </p:txBody>
      </p:sp>
      <p:sp>
        <p:nvSpPr>
          <p:cNvPr id="18" name="Shape 16"/>
          <p:cNvSpPr/>
          <p:nvPr/>
        </p:nvSpPr>
        <p:spPr>
          <a:xfrm>
            <a:off x="566928" y="385876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課税</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マイレージ還元として構成</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クレジットカードのマイル還元は法人・個人とも課税されないのが実務です。ただし本件は賃料としての性格も併存するため、規約の文言で決まります。ローンチ前に顧問税理士の一筆を。</a:t>
            </a:r>
            <a:endParaRPr lang="en-US" sz="1050" dirty="0"/>
          </a:p>
        </p:txBody>
      </p:sp>
      <p:sp>
        <p:nvSpPr>
          <p:cNvPr id="24" name="Shape 22"/>
          <p:cNvSpPr/>
          <p:nvPr/>
        </p:nvSpPr>
        <p:spPr>
          <a:xfrm>
            <a:off x="6199632" y="3858768"/>
            <a:ext cx="5394960" cy="1975104"/>
          </a:xfrm>
          <a:prstGeom prst="roundRect">
            <a:avLst>
              <a:gd name="adj" fmla="val 277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会計</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買戻しを採らない理由</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買戻し保証があるとリスクと経済価値が移転せず、100万円を売上計上できません。成功報酬方式ならこの論点自体が消えます。マイルは履行義務として繰延が必要です。</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弁護士・税理士の意見書（先行）</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賃貸借＋AM契約の整備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交流イベントの年間計画</a:t>
            </a:r>
            <a:endParaRPr lang="en-US" sz="1200" dirty="0"/>
          </a:p>
        </p:txBody>
      </p:sp>
      <p:sp>
        <p:nvSpPr>
          <p:cNvPr id="11" name="Shape 9"/>
          <p:cNvSpPr/>
          <p:nvPr/>
        </p:nvSpPr>
        <p:spPr>
          <a:xfrm>
            <a:off x="3410712"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AI活用の内製で開発費を圧縮</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弁護士・税理士への確認</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①賃貸借＋AM契約が出資法・金商法の枠外にあること ②マイルの無償付与としての整理と課税 ③古物競りあっせん業者の届出要否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2026-09-01T05:42:30Z</dcterms:created>
  <dcterms:modified xsi:type="dcterms:W3CDTF">2026-09-01T05:42:30Z</dcterms:modified>
</cp:coreProperties>
</file>