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従来「継続収支+86万/年」としていたのは保管料1.5%の控除漏れ。正しくは現金ベース▲64万/年、成功報酬の発生を含めて+105万/年。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WineBank単体ベース。ワイン1億円／値上がり6%・金利3%・保管料1.5%・粗利30%・管理手数料2.5%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マイル発行 368万円（原価率44.5%＝想定交換ミックス）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▲649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▲199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▲450万と▲649万。差は199万円です。同じだけ現金を使って、セラーのワインは1億から2億5,000万へ。しかもうち1億は、会員のお金で買われたワインです。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年▲450万（金利300＋保管150）。会員に持たせて預かると、現金ベースは▲64万（手数料250−保管150−マイル164）ですが、成功報酬が年169万発生します。差引 年+105万。同じワインで年555万ひっくり返ります。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毎年1億円ずつ販売を続けた場合。単体ベース、マイル原価率44.5%。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管理手数料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保管・保険</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▲164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+3,086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▲491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▲819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▲1,638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マイルの原資は、管理手数料ではなく成功報酬です。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手数料2.5%から保管1.5%を引くと残りは1.0%。マイル1.64%はこれを超えます。埋めているのは値上がり益25%（年1.5%相当）。先に出して、値上がりで回収する構造です。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手数料2.5%・保管1.5%・マイル1.64%・成功報酬1.5%。全部が定率なので、規模が何倍になっても差引0.86%は動きません。手出しが収入を追い越す構造になっていません。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ただし現金ベースでは年▲64万。成功報酬は出口までキャッシュになりません。ここは資金繰りとして別途見る必要があります。</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WineBank単体ベース。系列店へはマイル額面×レート×90%を保証。額面100に対する当社コストで表示。</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4480560"/>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想定ミックス：系列店35% ／ グランメゾン20% ／ CLUB充当15% ／ オークション10% ／ 追加購入5% ／ 失効15%　→　加重平均 単体44.5%</a:t>
            </a:r>
            <a:endParaRPr lang="en-US" sz="1050" dirty="0"/>
          </a:p>
        </p:txBody>
      </p:sp>
      <p:sp>
        <p:nvSpPr>
          <p:cNvPr id="8" name="Shape 5"/>
          <p:cNvSpPr/>
          <p:nvPr/>
        </p:nvSpPr>
        <p:spPr>
          <a:xfrm>
            <a:off x="566928" y="4828032"/>
            <a:ext cx="5394960" cy="1225296"/>
          </a:xfrm>
          <a:prstGeom prst="roundRect">
            <a:avLst>
              <a:gd name="adj" fmla="val 447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956048"/>
            <a:ext cx="4663440" cy="310896"/>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損益分岐は 2つあります</a:t>
            </a:r>
            <a:endParaRPr lang="en-US" sz="1700" dirty="0"/>
          </a:p>
        </p:txBody>
      </p:sp>
      <p:sp>
        <p:nvSpPr>
          <p:cNvPr id="10" name="Text 7"/>
          <p:cNvSpPr txBox="1"/>
          <p:nvPr/>
        </p:nvSpPr>
        <p:spPr>
          <a:xfrm>
            <a:off x="932688"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現金ベース（手数料2.5%−保管1.5%）÷ 発行3.68% ＝ 27.2%。成功報酬（年1.5%相当）を含めると 73.1%。想定ミックスの44.5%は、現金では届かず、成功報酬込みなら29ポイントの余裕があります。</a:t>
            </a:r>
            <a:endParaRPr lang="en-US" sz="1050" dirty="0"/>
          </a:p>
        </p:txBody>
      </p:sp>
      <p:sp>
        <p:nvSpPr>
          <p:cNvPr id="11" name="Shape 8"/>
          <p:cNvSpPr/>
          <p:nvPr/>
        </p:nvSpPr>
        <p:spPr>
          <a:xfrm>
            <a:off x="6199632" y="4828032"/>
            <a:ext cx="5394960" cy="1225296"/>
          </a:xfrm>
          <a:prstGeom prst="roundRect">
            <a:avLst>
              <a:gd name="adj" fmla="val 44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956048"/>
            <a:ext cx="4663440" cy="310896"/>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だからこそ、どこで使わせるかを設計する</a:t>
            </a:r>
            <a:endParaRPr lang="en-US" sz="1500" dirty="0"/>
          </a:p>
        </p:txBody>
      </p:sp>
      <p:sp>
        <p:nvSpPr>
          <p:cNvPr id="13" name="Text 10"/>
          <p:cNvSpPr txBox="1"/>
          <p:nvPr/>
        </p:nvSpPr>
        <p:spPr>
          <a:xfrm>
            <a:off x="6565392"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原価ゼロのオークション・CLUB充当へ誘導できれば33.2%まで下がり、現金ベースの赤字も縮みます。全額を系列店1.0円で使われると90%となり、成功報酬を含めても赤字です。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マイルを「売る」と性質が変わる</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付与なら前払式支払手段に該当せず、期限も自由です。ただしマイルを購入できる設計にすると対価性が生じて該当し、届出＋供託（未使用残高の半額）が必要になります。購入導線は法務確認後に判断します。</a:t>
            </a:r>
            <a:endParaRPr lang="en-US" sz="1050" dirty="0"/>
          </a:p>
        </p:txBody>
      </p:sp>
      <p:sp>
        <p:nvSpPr>
          <p:cNvPr id="18" name="Shape 16"/>
          <p:cNvSpPr/>
          <p:nvPr/>
        </p:nvSpPr>
        <p:spPr>
          <a:xfrm>
            <a:off x="566928" y="385876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弁護士・税理士の意見書（先行）</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2026-09-01T12:52:03Z</dcterms:created>
  <dcterms:modified xsi:type="dcterms:W3CDTF">2026-09-01T12:52:03Z</dcterms:modified>
</cp:coreProperties>
</file>