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Lst>
  <p:notesMasterIdLst>
    <p:notesMasterId r:id="rId3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notesMaster" Target="notesMasters/notesMaster1.xml"/><Relationship Id="rId34" Type="http://schemas.openxmlformats.org/officeDocument/2006/relationships/presProps" Target="presProps.xml"/><Relationship Id="rId35" Type="http://schemas.openxmlformats.org/officeDocument/2006/relationships/viewProps" Target="viewProps.xml"/><Relationship Id="rId36" Type="http://schemas.openxmlformats.org/officeDocument/2006/relationships/theme" Target="theme/theme1.xml"/><Relationship Id="rId3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新ビジョン「ワインでライフスタイルを豊かにする」を掲げ、その手段としてワインマイル経済圏を置く。</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この頁は説得ではなく告白として読ませる。WineBankが先にリスクを取っていることが伝われば、以降の数字はすべて素直に入る。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すべて単体ベース。マイル原価率51.1%（オークション30%・CLUB10%・スクール80%を織り込み後）。粗利30%とマイル原価率が最大の変数。ストック現金は▲18万/年で、利益はワイン販売粗利と成功報酬に乗ってい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新レートカード（管理料2.75%統一・還元率4/5/6%・成功報酬30%一律）。ストック単体の現金は▲18万/年で、黒字化には発行1マイル原価を47.3%まで下げる必要がある（現状51.1%）。利益はワイン販売粗利3,000万と成功報酬に乗ってい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メルマガ・イベント案内のような一方通行の接点ではなく、行動への都度付与とUGC（他人が見える）が「終わらない」の正体。</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8/31 MTG決定事項：①コミュニティ通貨モデルの採用 ②3〜6ヶ月の有効期限 ③会員向け交流イベントの追加。</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2026年9月20日の岩田合同法律事務所の回答により、マイルは管理料に対するおまけ（無償発行）として整理し、前払式支払手段の対価性要件を満たさないことを確認済み。当初検討していたマスターリース（動産賃貸借）は締結しない。賃料としてマイルを発行すると対価性が生じるため、賃貸借を置かないこと自体が最も安全な設計になる。売買契約は利用規約への同意により成立し、管理手数料の対価も規約に記載す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発行1マイル原価51.1%＝利用時の加重平均56.8%×最終利用率90%。損益分岐47.3%に対し3.8ポイント超過しており、ストック単体の現金は1億あたり年▲18万。90%保証は直営店への送客投資であり、連結では相殺される。誘導先の構成比を動かすことが、この事業で最も効くレバー。</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仲介手数料はWineBank経由で成約した場合のみ収受。会員に当社経由を強制しない。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都度時価精算は運用負荷が高すぎる。年次リバランスなら双方に不利益がなく、オペレーションも年1回で済む。</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マイルの有効期限は無償付与であれば自由に設定できる（資金決済法の前払式支払手段に該当しないため）。JALマイル36ヶ月・楽天1年と同様。ただし消費者契約法10条により、事前告知なく一方的に失効させる条項は無効となり得るため、失効の30日前予告を規約とシステムの両方に組み込む。</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P1ファンド・STへの充当は削除（法務論点が重いうえ、投資勧誘と受け取られる）。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STANDARD 月8,800円＝年約10.6万円。GOLD 月22,000円＝年26.4万円。SIGNATUREへのSTANDARD無料付与は年10.6万円相当の原価。</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岩田合同法律事務所（大櫛・関口・國本）2026年9月20日クリーンオピニオン。／通常マイルの有効期限は1年とするため、資金決済法4条2号の適用外。無償付与という第1の安全弁のみに依存する。仮に該当と評価された場合、基準日の未使用残高が1,000万円を超えると届出・供託が生じるが、その水準に達するのは預かり資産およそ3.9億円から。／有償でのマイル販売は本意見書の照会対象外。ただし有効期限を6ヶ月以内にすれば4条2号により各種義務は生じないため、実装する場合はその設計を前提に別途照会する。／残る宿題は成果報酬契約の文言と、無償付与マイルの課税整理（税理士）。</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前提：管理料2.75%を月払い、マイル（4/5/6%）を年一括付与、発行1マイルの当社原価0.511円。購入ワインの場合、100万円販売の粗利30万円からストック損1.8万円を差し引いても当社は+28万円。持込ワインは販売粗利がないため純損となり、預け直すたびに繰り返され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③の月割後付与は、マイル台帳（mile_lots）がロット単位で有効期限を持つ設計のため、システム上は月次で付与ロットを1本立てるだけで実装できる。現行の年次還元（grantAnnualReward）を月次バッチに置き換える。購入時に一括でマイルを付与する場合（本マイル①）は、同じ裁定が残るため、購入時付与は販売粗利の範囲に収まる小さな額に留めるか、廃止す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A1：値下がり時は成功報酬が発生しないため、会員の年間収支は マイル − 管理料 − 下落額。額面で4%−2.75%=+1.25%のため、年1.25%までの下落なら差し引きゼロ。A2：オークションは売り手手数料0%・買い手手数料10%のため、買い手の支払総額が市場価格に並ぶとき、落札価格は約91%。100万会員の年間収支（6%上昇）は額面5.45%／実利用4.69%なので、9.1%の目減りを取り戻すのに1.7〜1.9年。</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項目すべてを広告に載せる必要はない。規約・重要事項説明書で網羅し、広告には次のスライドの4項目を出す。C10は弁護士意見書が明示的に求めた「制限の内容等を正確に記載」に直結するため、交換画面でも選択前にレートを表示する。E17は税理士の確認前に断定しな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広告運用上「デメリットがない」ことが怪しく見えるという中谷氏の指摘への回答。4項目はいずれも事実であり、かつ3番は設計上のメリットに直結する。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遡及付与は業界に前例なし。創業会員ボーナス＋恒久ステータスで感情面を満たすのが標準解。</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7B1E3A">
              <a:alpha val="12000"/>
            </a:srgbClr>
          </a:solidFill>
          <a:ln w="12700">
            <a:solidFill>
              <a:srgbClr val="333333"/>
            </a:solidFill>
            <a:prstDash val="solid"/>
          </a:ln>
        </p:spPr>
      </p:sp>
      <p:sp>
        <p:nvSpPr>
          <p:cNvPr id="3" name="Text 1"/>
          <p:cNvSpPr txBox="1"/>
          <p:nvPr/>
        </p:nvSpPr>
        <p:spPr>
          <a:xfrm>
            <a:off x="566928" y="1188720"/>
            <a:ext cx="11027664" cy="274320"/>
          </a:xfrm>
          <a:prstGeom prst="rect">
            <a:avLst/>
          </a:prstGeom>
          <a:noFill/>
          <a:ln/>
        </p:spPr>
        <p:txBody>
          <a:bodyPr wrap="square" lIns="0" tIns="0" rIns="0" bIns="0" rtlCol="0" anchor="ctr"/>
          <a:lstStyle/>
          <a:p>
            <a:pPr indent="0" marL="0">
              <a:buNone/>
            </a:pPr>
            <a:r>
              <a:rPr lang="en-US" sz="1100" b="1" spc="400" kern="0" dirty="0">
                <a:solidFill>
                  <a:srgbClr val="C9A227"/>
                </a:solidFill>
                <a:latin typeface="Arial" pitchFamily="34" charset="0"/>
                <a:ea typeface="Arial" pitchFamily="34" charset="-122"/>
                <a:cs typeface="Arial" pitchFamily="34" charset="-120"/>
              </a:rPr>
              <a:t>WINEBANK GROWTH STRATEGY 2026</a:t>
            </a:r>
            <a:endParaRPr lang="en-US" sz="1100" dirty="0"/>
          </a:p>
        </p:txBody>
      </p:sp>
      <p:sp>
        <p:nvSpPr>
          <p:cNvPr id="4" name="Text 2"/>
          <p:cNvSpPr txBox="1"/>
          <p:nvPr/>
        </p:nvSpPr>
        <p:spPr>
          <a:xfrm>
            <a:off x="566928" y="1627632"/>
            <a:ext cx="11027664" cy="777240"/>
          </a:xfrm>
          <a:prstGeom prst="rect">
            <a:avLst/>
          </a:prstGeom>
          <a:noFill/>
          <a:ln/>
        </p:spPr>
        <p:txBody>
          <a:bodyPr wrap="square" lIns="0" tIns="0" rIns="0" bIns="0" rtlCol="0" anchor="ctr"/>
          <a:lstStyle/>
          <a:p>
            <a:pPr indent="0" marL="0">
              <a:buNone/>
            </a:pPr>
            <a:r>
              <a:rPr lang="en-US" sz="4000" b="1" dirty="0">
                <a:solidFill>
                  <a:srgbClr val="F2EDE6"/>
                </a:solidFill>
                <a:latin typeface="Meiryo" pitchFamily="34" charset="0"/>
                <a:ea typeface="Meiryo" pitchFamily="34" charset="-122"/>
                <a:cs typeface="Meiryo" pitchFamily="34" charset="-120"/>
              </a:rPr>
              <a:t>ワインで、ライフスタイルを豊かにする。</a:t>
            </a:r>
            <a:endParaRPr lang="en-US" sz="4000" dirty="0"/>
          </a:p>
        </p:txBody>
      </p:sp>
      <p:sp>
        <p:nvSpPr>
          <p:cNvPr id="5" name="Text 3"/>
          <p:cNvSpPr txBox="1"/>
          <p:nvPr/>
        </p:nvSpPr>
        <p:spPr>
          <a:xfrm>
            <a:off x="566928" y="2487168"/>
            <a:ext cx="11027664" cy="640080"/>
          </a:xfrm>
          <a:prstGeom prst="rect">
            <a:avLst/>
          </a:prstGeom>
          <a:noFill/>
          <a:ln/>
        </p:spPr>
        <p:txBody>
          <a:bodyPr wrap="square" lIns="0" tIns="0" rIns="0" bIns="0" rtlCol="0" anchor="ctr"/>
          <a:lstStyle/>
          <a:p>
            <a:pPr indent="0" marL="0">
              <a:buNone/>
            </a:pPr>
            <a:r>
              <a:rPr lang="en-US" sz="3100" b="1" dirty="0">
                <a:solidFill>
                  <a:srgbClr val="E8CE78"/>
                </a:solidFill>
                <a:latin typeface="Meiryo" pitchFamily="34" charset="0"/>
                <a:ea typeface="Meiryo" pitchFamily="34" charset="-122"/>
                <a:cs typeface="Meiryo" pitchFamily="34" charset="-120"/>
              </a:rPr>
              <a:t>ワインマイル経済圏構想 ／「ワイン貯金」</a:t>
            </a:r>
            <a:endParaRPr lang="en-US" sz="3100" dirty="0"/>
          </a:p>
        </p:txBody>
      </p:sp>
      <p:sp>
        <p:nvSpPr>
          <p:cNvPr id="6" name="Text 4"/>
          <p:cNvSpPr txBox="1"/>
          <p:nvPr/>
        </p:nvSpPr>
        <p:spPr>
          <a:xfrm>
            <a:off x="566928" y="3346704"/>
            <a:ext cx="11027664" cy="365760"/>
          </a:xfrm>
          <a:prstGeom prst="rect">
            <a:avLst/>
          </a:prstGeom>
          <a:noFill/>
          <a:ln/>
        </p:spPr>
        <p:txBody>
          <a:bodyPr wrap="square" lIns="0" tIns="0" rIns="0" bIns="0" rtlCol="0" anchor="ctr"/>
          <a:lstStyle/>
          <a:p>
            <a:pPr indent="0" marL="0">
              <a:buNone/>
            </a:pPr>
            <a:r>
              <a:rPr lang="en-US" sz="1550" dirty="0">
                <a:solidFill>
                  <a:srgbClr val="A2908C"/>
                </a:solidFill>
                <a:latin typeface="Meiryo" pitchFamily="34" charset="0"/>
                <a:ea typeface="Meiryo" pitchFamily="34" charset="-122"/>
                <a:cs typeface="Meiryo" pitchFamily="34" charset="-120"/>
              </a:rPr>
              <a:t>持つ・貯める・開ける・贈る・譲る。ワインにまつわるすべてを、ひとつの通貨でつなぐ。</a:t>
            </a:r>
            <a:endParaRPr lang="en-US" sz="1550" dirty="0"/>
          </a:p>
        </p:txBody>
      </p:sp>
      <p:sp>
        <p:nvSpPr>
          <p:cNvPr id="7" name="Shape 5"/>
          <p:cNvSpPr/>
          <p:nvPr/>
        </p:nvSpPr>
        <p:spPr>
          <a:xfrm>
            <a:off x="566928" y="4206240"/>
            <a:ext cx="3529584" cy="1280160"/>
          </a:xfrm>
          <a:prstGeom prst="roundRect">
            <a:avLst>
              <a:gd name="adj" fmla="val 4286"/>
            </a:avLst>
          </a:prstGeom>
          <a:solidFill>
            <a:srgbClr val="17111A"/>
          </a:solidFill>
          <a:ln w="12700">
            <a:solidFill>
              <a:srgbClr val="17111A"/>
            </a:solidFill>
            <a:prstDash val="solid"/>
          </a:ln>
          <a:effectLst>
            <a:outerShdw sx="100000" sy="100000" kx="0" ky="0" algn="bl" rotWithShape="0" blurRad="127000" dist="25400" dir="5400000">
              <a:srgbClr val="000000">
                <a:alpha val="35000"/>
              </a:srgbClr>
            </a:outerShdw>
          </a:effectLst>
        </p:spPr>
      </p:sp>
      <p:sp>
        <p:nvSpPr>
          <p:cNvPr id="8" name="Text 6"/>
          <p:cNvSpPr txBox="1"/>
          <p:nvPr/>
        </p:nvSpPr>
        <p:spPr>
          <a:xfrm>
            <a:off x="841248" y="4370832"/>
            <a:ext cx="3017520" cy="237744"/>
          </a:xfrm>
          <a:prstGeom prst="rect">
            <a:avLst/>
          </a:prstGeom>
          <a:noFill/>
          <a:ln/>
        </p:spPr>
        <p:txBody>
          <a:bodyPr wrap="square" lIns="0" tIns="0" rIns="0" bIns="0" rtlCol="0" anchor="ctr"/>
          <a:lstStyle/>
          <a:p>
            <a:pPr indent="0" marL="0">
              <a:buNone/>
            </a:pPr>
            <a:r>
              <a:rPr lang="en-US" sz="1100" dirty="0">
                <a:solidFill>
                  <a:srgbClr val="A2908C"/>
                </a:solidFill>
                <a:latin typeface="Meiryo" pitchFamily="34" charset="0"/>
                <a:ea typeface="Meiryo" pitchFamily="34" charset="-122"/>
                <a:cs typeface="Meiryo" pitchFamily="34" charset="-120"/>
              </a:rPr>
              <a:t>貯まる</a:t>
            </a:r>
            <a:endParaRPr lang="en-US" sz="1100" dirty="0"/>
          </a:p>
        </p:txBody>
      </p:sp>
      <p:sp>
        <p:nvSpPr>
          <p:cNvPr id="9" name="Text 7"/>
          <p:cNvSpPr txBox="1"/>
          <p:nvPr/>
        </p:nvSpPr>
        <p:spPr>
          <a:xfrm>
            <a:off x="841248" y="4626864"/>
            <a:ext cx="3017520" cy="365760"/>
          </a:xfrm>
          <a:prstGeom prst="rect">
            <a:avLst/>
          </a:prstGeom>
          <a:noFill/>
          <a:ln/>
        </p:spPr>
        <p:txBody>
          <a:bodyPr wrap="square" lIns="0" tIns="0" rIns="0" bIns="0" rtlCol="0" anchor="ctr"/>
          <a:lstStyle/>
          <a:p>
            <a:pPr indent="0" marL="0">
              <a:buNone/>
            </a:pPr>
            <a:r>
              <a:rPr lang="en-US" sz="2000" b="1" dirty="0">
                <a:solidFill>
                  <a:srgbClr val="C9A227"/>
                </a:solidFill>
                <a:latin typeface="Meiryo" pitchFamily="34" charset="0"/>
                <a:ea typeface="Meiryo" pitchFamily="34" charset="-122"/>
                <a:cs typeface="Meiryo" pitchFamily="34" charset="-120"/>
              </a:rPr>
              <a:t>ワインマイル</a:t>
            </a:r>
            <a:endParaRPr lang="en-US" sz="2000" dirty="0"/>
          </a:p>
        </p:txBody>
      </p:sp>
      <p:sp>
        <p:nvSpPr>
          <p:cNvPr id="10" name="Text 8"/>
          <p:cNvSpPr txBox="1"/>
          <p:nvPr/>
        </p:nvSpPr>
        <p:spPr>
          <a:xfrm>
            <a:off x="841248" y="5029200"/>
            <a:ext cx="3017520" cy="384048"/>
          </a:xfrm>
          <a:prstGeom prst="rect">
            <a:avLst/>
          </a:prstGeom>
          <a:noFill/>
          <a:ln/>
        </p:spPr>
        <p:txBody>
          <a:bodyPr wrap="square" lIns="0" tIns="0" rIns="0" bIns="0" rtlCol="0" anchor="ctr"/>
          <a:lstStyle/>
          <a:p>
            <a:pPr indent="0" marL="0">
              <a:lnSpc>
                <a:spcPts val="1400"/>
              </a:lnSpc>
              <a:buNone/>
            </a:pPr>
            <a:r>
              <a:rPr lang="en-US" sz="1000" dirty="0">
                <a:solidFill>
                  <a:srgbClr val="A2908C"/>
                </a:solidFill>
                <a:latin typeface="Meiryo" pitchFamily="34" charset="0"/>
                <a:ea typeface="Meiryo" pitchFamily="34" charset="-122"/>
                <a:cs typeface="Meiryo" pitchFamily="34" charset="-120"/>
              </a:rPr>
              <a:t>持っていても、動かしても貯まる</a:t>
            </a:r>
            <a:endParaRPr lang="en-US" sz="1000" dirty="0"/>
          </a:p>
        </p:txBody>
      </p:sp>
      <p:sp>
        <p:nvSpPr>
          <p:cNvPr id="11" name="Shape 9"/>
          <p:cNvSpPr/>
          <p:nvPr/>
        </p:nvSpPr>
        <p:spPr>
          <a:xfrm>
            <a:off x="4352544" y="4206240"/>
            <a:ext cx="3529584" cy="1280160"/>
          </a:xfrm>
          <a:prstGeom prst="roundRect">
            <a:avLst>
              <a:gd name="adj" fmla="val 4286"/>
            </a:avLst>
          </a:prstGeom>
          <a:solidFill>
            <a:srgbClr val="17111A"/>
          </a:solidFill>
          <a:ln w="12700">
            <a:solidFill>
              <a:srgbClr val="17111A"/>
            </a:solidFill>
            <a:prstDash val="solid"/>
          </a:ln>
          <a:effectLst>
            <a:outerShdw sx="100000" sy="100000" kx="0" ky="0" algn="bl" rotWithShape="0" blurRad="127000" dist="25400" dir="5400000">
              <a:srgbClr val="000000">
                <a:alpha val="35000"/>
              </a:srgbClr>
            </a:outerShdw>
          </a:effectLst>
        </p:spPr>
      </p:sp>
      <p:sp>
        <p:nvSpPr>
          <p:cNvPr id="12" name="Text 10"/>
          <p:cNvSpPr txBox="1"/>
          <p:nvPr/>
        </p:nvSpPr>
        <p:spPr>
          <a:xfrm>
            <a:off x="4626864" y="4370832"/>
            <a:ext cx="3017520" cy="237744"/>
          </a:xfrm>
          <a:prstGeom prst="rect">
            <a:avLst/>
          </a:prstGeom>
          <a:noFill/>
          <a:ln/>
        </p:spPr>
        <p:txBody>
          <a:bodyPr wrap="square" lIns="0" tIns="0" rIns="0" bIns="0" rtlCol="0" anchor="ctr"/>
          <a:lstStyle/>
          <a:p>
            <a:pPr indent="0" marL="0">
              <a:buNone/>
            </a:pPr>
            <a:r>
              <a:rPr lang="en-US" sz="1100" dirty="0">
                <a:solidFill>
                  <a:srgbClr val="A2908C"/>
                </a:solidFill>
                <a:latin typeface="Meiryo" pitchFamily="34" charset="0"/>
                <a:ea typeface="Meiryo" pitchFamily="34" charset="-122"/>
                <a:cs typeface="Meiryo" pitchFamily="34" charset="-120"/>
              </a:rPr>
              <a:t>使える</a:t>
            </a:r>
            <a:endParaRPr lang="en-US" sz="1100" dirty="0"/>
          </a:p>
        </p:txBody>
      </p:sp>
      <p:sp>
        <p:nvSpPr>
          <p:cNvPr id="13" name="Text 11"/>
          <p:cNvSpPr txBox="1"/>
          <p:nvPr/>
        </p:nvSpPr>
        <p:spPr>
          <a:xfrm>
            <a:off x="4626864" y="4626864"/>
            <a:ext cx="3017520" cy="365760"/>
          </a:xfrm>
          <a:prstGeom prst="rect">
            <a:avLst/>
          </a:prstGeom>
          <a:noFill/>
          <a:ln/>
        </p:spPr>
        <p:txBody>
          <a:bodyPr wrap="square" lIns="0" tIns="0" rIns="0" bIns="0" rtlCol="0" anchor="ctr"/>
          <a:lstStyle/>
          <a:p>
            <a:pPr indent="0" marL="0">
              <a:buNone/>
            </a:pPr>
            <a:r>
              <a:rPr lang="en-US" sz="2000" b="1" dirty="0">
                <a:solidFill>
                  <a:srgbClr val="C9A227"/>
                </a:solidFill>
                <a:latin typeface="Meiryo" pitchFamily="34" charset="0"/>
                <a:ea typeface="Meiryo" pitchFamily="34" charset="-122"/>
                <a:cs typeface="Meiryo" pitchFamily="34" charset="-120"/>
              </a:rPr>
              <a:t>WineBank経済圏</a:t>
            </a:r>
            <a:endParaRPr lang="en-US" sz="2000" dirty="0"/>
          </a:p>
        </p:txBody>
      </p:sp>
      <p:sp>
        <p:nvSpPr>
          <p:cNvPr id="14" name="Text 12"/>
          <p:cNvSpPr txBox="1"/>
          <p:nvPr/>
        </p:nvSpPr>
        <p:spPr>
          <a:xfrm>
            <a:off x="4626864" y="5029200"/>
            <a:ext cx="3017520" cy="384048"/>
          </a:xfrm>
          <a:prstGeom prst="rect">
            <a:avLst/>
          </a:prstGeom>
          <a:noFill/>
          <a:ln/>
        </p:spPr>
        <p:txBody>
          <a:bodyPr wrap="square" lIns="0" tIns="0" rIns="0" bIns="0" rtlCol="0" anchor="ctr"/>
          <a:lstStyle/>
          <a:p>
            <a:pPr indent="0" marL="0">
              <a:lnSpc>
                <a:spcPts val="1400"/>
              </a:lnSpc>
              <a:buNone/>
            </a:pPr>
            <a:r>
              <a:rPr lang="en-US" sz="1000" dirty="0">
                <a:solidFill>
                  <a:srgbClr val="A2908C"/>
                </a:solidFill>
                <a:latin typeface="Meiryo" pitchFamily="34" charset="0"/>
                <a:ea typeface="Meiryo" pitchFamily="34" charset="-122"/>
                <a:cs typeface="Meiryo" pitchFamily="34" charset="-120"/>
              </a:rPr>
              <a:t>会食・贈答・イベント・オークション・ワイナート</a:t>
            </a:r>
            <a:endParaRPr lang="en-US" sz="1000" dirty="0"/>
          </a:p>
        </p:txBody>
      </p:sp>
      <p:sp>
        <p:nvSpPr>
          <p:cNvPr id="15" name="Shape 13"/>
          <p:cNvSpPr/>
          <p:nvPr/>
        </p:nvSpPr>
        <p:spPr>
          <a:xfrm>
            <a:off x="8138160" y="4206240"/>
            <a:ext cx="3529584" cy="1280160"/>
          </a:xfrm>
          <a:prstGeom prst="roundRect">
            <a:avLst>
              <a:gd name="adj" fmla="val 4286"/>
            </a:avLst>
          </a:prstGeom>
          <a:solidFill>
            <a:srgbClr val="17111A"/>
          </a:solidFill>
          <a:ln w="12700">
            <a:solidFill>
              <a:srgbClr val="17111A"/>
            </a:solidFill>
            <a:prstDash val="solid"/>
          </a:ln>
          <a:effectLst>
            <a:outerShdw sx="100000" sy="100000" kx="0" ky="0" algn="bl" rotWithShape="0" blurRad="127000" dist="25400" dir="5400000">
              <a:srgbClr val="000000">
                <a:alpha val="35000"/>
              </a:srgbClr>
            </a:outerShdw>
          </a:effectLst>
        </p:spPr>
      </p:sp>
      <p:sp>
        <p:nvSpPr>
          <p:cNvPr id="16" name="Text 14"/>
          <p:cNvSpPr txBox="1"/>
          <p:nvPr/>
        </p:nvSpPr>
        <p:spPr>
          <a:xfrm>
            <a:off x="8412480" y="4370832"/>
            <a:ext cx="3017520" cy="237744"/>
          </a:xfrm>
          <a:prstGeom prst="rect">
            <a:avLst/>
          </a:prstGeom>
          <a:noFill/>
          <a:ln/>
        </p:spPr>
        <p:txBody>
          <a:bodyPr wrap="square" lIns="0" tIns="0" rIns="0" bIns="0" rtlCol="0" anchor="ctr"/>
          <a:lstStyle/>
          <a:p>
            <a:pPr indent="0" marL="0">
              <a:buNone/>
            </a:pPr>
            <a:r>
              <a:rPr lang="en-US" sz="1100" dirty="0">
                <a:solidFill>
                  <a:srgbClr val="A2908C"/>
                </a:solidFill>
                <a:latin typeface="Meiryo" pitchFamily="34" charset="0"/>
                <a:ea typeface="Meiryo" pitchFamily="34" charset="-122"/>
                <a:cs typeface="Meiryo" pitchFamily="34" charset="-120"/>
              </a:rPr>
              <a:t>育つ</a:t>
            </a:r>
            <a:endParaRPr lang="en-US" sz="1100" dirty="0"/>
          </a:p>
        </p:txBody>
      </p:sp>
      <p:sp>
        <p:nvSpPr>
          <p:cNvPr id="17" name="Text 15"/>
          <p:cNvSpPr txBox="1"/>
          <p:nvPr/>
        </p:nvSpPr>
        <p:spPr>
          <a:xfrm>
            <a:off x="8412480" y="4626864"/>
            <a:ext cx="3017520" cy="365760"/>
          </a:xfrm>
          <a:prstGeom prst="rect">
            <a:avLst/>
          </a:prstGeom>
          <a:noFill/>
          <a:ln/>
        </p:spPr>
        <p:txBody>
          <a:bodyPr wrap="square" lIns="0" tIns="0" rIns="0" bIns="0" rtlCol="0" anchor="ctr"/>
          <a:lstStyle/>
          <a:p>
            <a:pPr indent="0" marL="0">
              <a:buNone/>
            </a:pPr>
            <a:r>
              <a:rPr lang="en-US" sz="2000" b="1" dirty="0">
                <a:solidFill>
                  <a:srgbClr val="C9A227"/>
                </a:solidFill>
                <a:latin typeface="Meiryo" pitchFamily="34" charset="0"/>
                <a:ea typeface="Meiryo" pitchFamily="34" charset="-122"/>
                <a:cs typeface="Meiryo" pitchFamily="34" charset="-120"/>
              </a:rPr>
              <a:t>値上がりの75%</a:t>
            </a:r>
            <a:endParaRPr lang="en-US" sz="2000" dirty="0"/>
          </a:p>
        </p:txBody>
      </p:sp>
      <p:sp>
        <p:nvSpPr>
          <p:cNvPr id="18" name="Text 16"/>
          <p:cNvSpPr txBox="1"/>
          <p:nvPr/>
        </p:nvSpPr>
        <p:spPr>
          <a:xfrm>
            <a:off x="8412480" y="5029200"/>
            <a:ext cx="3017520" cy="384048"/>
          </a:xfrm>
          <a:prstGeom prst="rect">
            <a:avLst/>
          </a:prstGeom>
          <a:noFill/>
          <a:ln/>
        </p:spPr>
        <p:txBody>
          <a:bodyPr wrap="square" lIns="0" tIns="0" rIns="0" bIns="0" rtlCol="0" anchor="ctr"/>
          <a:lstStyle/>
          <a:p>
            <a:pPr indent="0" marL="0">
              <a:lnSpc>
                <a:spcPts val="1400"/>
              </a:lnSpc>
              <a:buNone/>
            </a:pPr>
            <a:r>
              <a:rPr lang="en-US" sz="1000" dirty="0">
                <a:solidFill>
                  <a:srgbClr val="A2908C"/>
                </a:solidFill>
                <a:latin typeface="Meiryo" pitchFamily="34" charset="0"/>
                <a:ea typeface="Meiryo" pitchFamily="34" charset="-122"/>
                <a:cs typeface="Meiryo" pitchFamily="34" charset="-120"/>
              </a:rPr>
              <a:t>キャピタルゲインは会員のもの</a:t>
            </a:r>
            <a:endParaRPr lang="en-US" sz="1000" dirty="0"/>
          </a:p>
        </p:txBody>
      </p:sp>
      <p:sp>
        <p:nvSpPr>
          <p:cNvPr id="19" name="Text 17"/>
          <p:cNvSpPr txBox="1"/>
          <p:nvPr/>
        </p:nvSpPr>
        <p:spPr>
          <a:xfrm>
            <a:off x="566928" y="6355080"/>
            <a:ext cx="11027664" cy="274320"/>
          </a:xfrm>
          <a:prstGeom prst="rect">
            <a:avLst/>
          </a:prstGeom>
          <a:noFill/>
          <a:ln/>
        </p:spPr>
        <p:txBody>
          <a:bodyPr wrap="square" lIns="0" tIns="0" rIns="0" bIns="0" rtlCol="0" anchor="ctr"/>
          <a:lstStyle/>
          <a:p>
            <a:pPr indent="0" marL="0">
              <a:buNone/>
            </a:pPr>
            <a:r>
              <a:rPr lang="en-US" sz="1000" dirty="0">
                <a:solidFill>
                  <a:srgbClr val="6B5A5F"/>
                </a:solidFill>
                <a:latin typeface="Arial" pitchFamily="34" charset="0"/>
                <a:ea typeface="Arial" pitchFamily="34" charset="-122"/>
                <a:cs typeface="Arial" pitchFamily="34" charset="-120"/>
              </a:rPr>
              <a:t>2026年8月｜株式会社WineBank｜社外秘</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00000"/>
        </a:solidFill>
      </p:bgPr>
    </p:bg>
    <p:spTree>
      <p:nvGrpSpPr>
        <p:cNvPr id="1" name=""/>
        <p:cNvGrpSpPr/>
        <p:nvPr/>
      </p:nvGrpSpPr>
      <p:grpSpPr>
        <a:xfrm>
          <a:off x="0" y="0"/>
          <a:ext cx="0" cy="0"/>
          <a:chOff x="0" y="0"/>
          <a:chExt cx="0" cy="0"/>
        </a:xfrm>
      </p:grpSpPr>
      <p:sp>
        <p:nvSpPr>
          <p:cNvPr id="2" name="Text 0"/>
          <p:cNvSpPr txBox="1"/>
          <p:nvPr/>
        </p:nvSpPr>
        <p:spPr>
          <a:xfrm>
            <a:off x="566928" y="310896"/>
            <a:ext cx="11027664" cy="237744"/>
          </a:xfrm>
          <a:prstGeom prst="rect">
            <a:avLst/>
          </a:prstGeom>
          <a:noFill/>
          <a:ln/>
        </p:spPr>
        <p:txBody>
          <a:bodyPr wrap="square" lIns="0" tIns="0" rIns="0" bIns="0" rtlCol="0" anchor="ctr"/>
          <a:lstStyle/>
          <a:p>
            <a:pPr indent="0" marL="0">
              <a:buNone/>
            </a:pPr>
            <a:r>
              <a:rPr lang="en-US" sz="1050" b="1" spc="300" kern="0" dirty="0">
                <a:solidFill>
                  <a:srgbClr val="C9A227"/>
                </a:solidFill>
                <a:latin typeface="Arial" pitchFamily="34" charset="0"/>
                <a:ea typeface="Arial" pitchFamily="34" charset="-122"/>
                <a:cs typeface="Arial" pitchFamily="34" charset="-120"/>
              </a:rPr>
              <a:t>PROBLEM</a:t>
            </a:r>
            <a:endParaRPr lang="en-US" sz="1050" dirty="0"/>
          </a:p>
        </p:txBody>
      </p:sp>
      <p:sp>
        <p:nvSpPr>
          <p:cNvPr id="3" name="Text 1"/>
          <p:cNvSpPr txBox="1"/>
          <p:nvPr/>
        </p:nvSpPr>
        <p:spPr>
          <a:xfrm>
            <a:off x="566928" y="566928"/>
            <a:ext cx="11027664" cy="548640"/>
          </a:xfrm>
          <a:prstGeom prst="rect">
            <a:avLst/>
          </a:prstGeom>
          <a:noFill/>
          <a:ln/>
        </p:spPr>
        <p:txBody>
          <a:bodyPr wrap="square" lIns="0" tIns="0" rIns="0" bIns="0" rtlCol="0" anchor="ctr"/>
          <a:lstStyle/>
          <a:p>
            <a:pPr indent="0" marL="0">
              <a:buNone/>
            </a:pPr>
            <a:r>
              <a:rPr lang="en-US" sz="2900" b="1" dirty="0">
                <a:solidFill>
                  <a:srgbClr val="F2EDE6"/>
                </a:solidFill>
                <a:latin typeface="Meiryo" pitchFamily="34" charset="0"/>
                <a:ea typeface="Meiryo" pitchFamily="34" charset="-122"/>
                <a:cs typeface="Meiryo" pitchFamily="34" charset="-120"/>
              </a:rPr>
              <a:t>ワイン投資は、まだ「買うだけ」で終わっている</a:t>
            </a:r>
            <a:endParaRPr lang="en-US" sz="2900" dirty="0"/>
          </a:p>
        </p:txBody>
      </p:sp>
      <p:sp>
        <p:nvSpPr>
          <p:cNvPr id="4" name="Text 2"/>
          <p:cNvSpPr txBox="1"/>
          <p:nvPr/>
        </p:nvSpPr>
        <p:spPr>
          <a:xfrm>
            <a:off x="566928" y="1152144"/>
            <a:ext cx="11027664" cy="310896"/>
          </a:xfrm>
          <a:prstGeom prst="rect">
            <a:avLst/>
          </a:prstGeom>
          <a:noFill/>
          <a:ln/>
        </p:spPr>
        <p:txBody>
          <a:bodyPr wrap="square" lIns="0" tIns="0" rIns="0" bIns="0" rtlCol="0" anchor="ctr"/>
          <a:lstStyle/>
          <a:p>
            <a:pPr indent="0" marL="0">
              <a:buNone/>
            </a:pPr>
            <a:r>
              <a:rPr lang="en-US" sz="1300" dirty="0">
                <a:solidFill>
                  <a:srgbClr val="A2908C"/>
                </a:solidFill>
                <a:latin typeface="Meiryo" pitchFamily="34" charset="0"/>
                <a:ea typeface="Meiryo" pitchFamily="34" charset="-122"/>
                <a:cs typeface="Meiryo" pitchFamily="34" charset="-120"/>
              </a:rPr>
              <a:t>商品が悪いのではありません。買ったあとに起きることが、設計されてこなかっただけです。</a:t>
            </a:r>
            <a:endParaRPr lang="en-US" sz="1300" dirty="0"/>
          </a:p>
        </p:txBody>
      </p:sp>
      <p:sp>
        <p:nvSpPr>
          <p:cNvPr id="5" name="Text 3"/>
          <p:cNvSpPr txBox="1"/>
          <p:nvPr/>
        </p:nvSpPr>
        <p:spPr>
          <a:xfrm>
            <a:off x="566928" y="6437376"/>
            <a:ext cx="4572000" cy="219456"/>
          </a:xfrm>
          <a:prstGeom prst="rect">
            <a:avLst/>
          </a:prstGeom>
          <a:noFill/>
          <a:ln/>
        </p:spPr>
        <p:txBody>
          <a:bodyPr wrap="square" lIns="0" tIns="0" rIns="0" bIns="0" rtlCol="0" anchor="ctr"/>
          <a:lstStyle/>
          <a:p>
            <a:pPr indent="0" marL="0">
              <a:buNone/>
            </a:pPr>
            <a:r>
              <a:rPr lang="en-US" sz="850" dirty="0">
                <a:solidFill>
                  <a:srgbClr val="6B5A5F"/>
                </a:solidFill>
                <a:latin typeface="Arial" pitchFamily="34" charset="0"/>
                <a:ea typeface="Arial" pitchFamily="34" charset="-122"/>
                <a:cs typeface="Arial" pitchFamily="34" charset="-120"/>
              </a:rPr>
              <a:t>WineBank CONFIDENTIAL</a:t>
            </a:r>
            <a:endParaRPr lang="en-US" sz="850" dirty="0"/>
          </a:p>
        </p:txBody>
      </p:sp>
      <p:sp>
        <p:nvSpPr>
          <p:cNvPr id="6" name="Shape 4"/>
          <p:cNvSpPr/>
          <p:nvPr/>
        </p:nvSpPr>
        <p:spPr>
          <a:xfrm>
            <a:off x="566928" y="1664208"/>
            <a:ext cx="3529584" cy="3200400"/>
          </a:xfrm>
          <a:prstGeom prst="roundRect">
            <a:avLst>
              <a:gd name="adj" fmla="val 1714"/>
            </a:avLst>
          </a:prstGeom>
          <a:solidFill>
            <a:srgbClr val="17111A"/>
          </a:solidFill>
          <a:ln w="12700">
            <a:solidFill>
              <a:srgbClr val="17111A"/>
            </a:solidFill>
            <a:prstDash val="solid"/>
          </a:ln>
          <a:effectLst>
            <a:outerShdw sx="100000" sy="100000" kx="0" ky="0" algn="bl" rotWithShape="0" blurRad="127000" dist="25400" dir="5400000">
              <a:srgbClr val="000000">
                <a:alpha val="35000"/>
              </a:srgbClr>
            </a:outerShdw>
          </a:effectLst>
        </p:spPr>
      </p:sp>
      <p:sp>
        <p:nvSpPr>
          <p:cNvPr id="7" name="Text 5"/>
          <p:cNvSpPr txBox="1"/>
          <p:nvPr/>
        </p:nvSpPr>
        <p:spPr>
          <a:xfrm>
            <a:off x="859536" y="1847088"/>
            <a:ext cx="2962656" cy="219456"/>
          </a:xfrm>
          <a:prstGeom prst="rect">
            <a:avLst/>
          </a:prstGeom>
          <a:noFill/>
          <a:ln/>
        </p:spPr>
        <p:txBody>
          <a:bodyPr wrap="square" lIns="0" tIns="0" rIns="0" bIns="0" rtlCol="0" anchor="ctr"/>
          <a:lstStyle/>
          <a:p>
            <a:pPr indent="0" marL="0">
              <a:buNone/>
            </a:pPr>
            <a:r>
              <a:rPr lang="en-US" sz="950" b="1" spc="200" kern="0" dirty="0">
                <a:solidFill>
                  <a:srgbClr val="C9A227"/>
                </a:solidFill>
                <a:latin typeface="Arial" pitchFamily="34" charset="0"/>
                <a:ea typeface="Arial" pitchFamily="34" charset="-122"/>
                <a:cs typeface="Arial" pitchFamily="34" charset="-120"/>
              </a:rPr>
              <a:t>これまで</a:t>
            </a:r>
            <a:endParaRPr lang="en-US" sz="950" dirty="0"/>
          </a:p>
        </p:txBody>
      </p:sp>
      <p:sp>
        <p:nvSpPr>
          <p:cNvPr id="8" name="Text 6"/>
          <p:cNvSpPr txBox="1"/>
          <p:nvPr/>
        </p:nvSpPr>
        <p:spPr>
          <a:xfrm>
            <a:off x="859536" y="2103120"/>
            <a:ext cx="2962656" cy="329184"/>
          </a:xfrm>
          <a:prstGeom prst="rect">
            <a:avLst/>
          </a:prstGeom>
          <a:noFill/>
          <a:ln/>
        </p:spPr>
        <p:txBody>
          <a:bodyPr wrap="square" lIns="0" tIns="0" rIns="0" bIns="0" rtlCol="0" anchor="ctr"/>
          <a:lstStyle/>
          <a:p>
            <a:pPr indent="0" marL="0">
              <a:buNone/>
            </a:pPr>
            <a:r>
              <a:rPr lang="en-US" sz="1700" b="1" dirty="0">
                <a:solidFill>
                  <a:srgbClr val="E0A458"/>
                </a:solidFill>
                <a:latin typeface="Meiryo" pitchFamily="34" charset="0"/>
                <a:ea typeface="Meiryo" pitchFamily="34" charset="-122"/>
                <a:cs typeface="Meiryo" pitchFamily="34" charset="-120"/>
              </a:rPr>
              <a:t>ワイン投資 1.0</a:t>
            </a:r>
            <a:endParaRPr lang="en-US" sz="1700" dirty="0"/>
          </a:p>
        </p:txBody>
      </p:sp>
      <p:sp>
        <p:nvSpPr>
          <p:cNvPr id="9" name="Text 7"/>
          <p:cNvSpPr txBox="1"/>
          <p:nvPr/>
        </p:nvSpPr>
        <p:spPr>
          <a:xfrm>
            <a:off x="859536" y="2505456"/>
            <a:ext cx="2962656" cy="310896"/>
          </a:xfrm>
          <a:prstGeom prst="rect">
            <a:avLst/>
          </a:prstGeom>
          <a:noFill/>
          <a:ln/>
        </p:spPr>
        <p:txBody>
          <a:bodyPr wrap="square" lIns="0" tIns="0" rIns="0" bIns="0" rtlCol="0" anchor="ctr"/>
          <a:lstStyle/>
          <a:p>
            <a:pPr indent="0" marL="0">
              <a:buNone/>
            </a:pPr>
            <a:r>
              <a:rPr lang="en-US" sz="1400" b="1" dirty="0">
                <a:solidFill>
                  <a:srgbClr val="E8CE78"/>
                </a:solidFill>
                <a:latin typeface="Meiryo" pitchFamily="34" charset="0"/>
                <a:ea typeface="Meiryo" pitchFamily="34" charset="-122"/>
                <a:cs typeface="Meiryo" pitchFamily="34" charset="-120"/>
              </a:rPr>
              <a:t>買うだけ</a:t>
            </a:r>
            <a:endParaRPr lang="en-US" sz="1400" dirty="0"/>
          </a:p>
        </p:txBody>
      </p:sp>
      <p:sp>
        <p:nvSpPr>
          <p:cNvPr id="10" name="Text 8"/>
          <p:cNvSpPr txBox="1"/>
          <p:nvPr/>
        </p:nvSpPr>
        <p:spPr>
          <a:xfrm>
            <a:off x="859536" y="2962656"/>
            <a:ext cx="2962656" cy="1737360"/>
          </a:xfrm>
          <a:prstGeom prst="rect">
            <a:avLst/>
          </a:prstGeom>
          <a:noFill/>
          <a:ln/>
        </p:spPr>
        <p:txBody>
          <a:bodyPr wrap="square" lIns="0" tIns="0" rIns="0" bIns="0" rtlCol="0" anchor="t"/>
          <a:lstStyle/>
          <a:p>
            <a:pPr marL="152400" indent="-152400">
              <a:lnSpc>
                <a:spcPts val="1700"/>
              </a:lnSpc>
              <a:spcAft>
                <a:spcPts val="1100"/>
              </a:spcAft>
              <a:buSzPct val="100000"/>
              <a:buChar char="•"/>
            </a:pPr>
            <a:r>
              <a:rPr lang="en-US" sz="1150" dirty="0">
                <a:solidFill>
                  <a:srgbClr val="A2908C"/>
                </a:solidFill>
                <a:latin typeface="Meiryo" pitchFamily="34" charset="0"/>
                <a:ea typeface="Meiryo" pitchFamily="34" charset="-122"/>
                <a:cs typeface="Meiryo" pitchFamily="34" charset="-120"/>
              </a:rPr>
              <a:t>買って、預けて、終わり</a:t>
            </a:r>
            <a:endParaRPr lang="en-US" sz="1150" dirty="0"/>
          </a:p>
          <a:p>
            <a:pPr marL="152400" indent="-152400">
              <a:lnSpc>
                <a:spcPts val="1700"/>
              </a:lnSpc>
              <a:spcAft>
                <a:spcPts val="1100"/>
              </a:spcAft>
              <a:buSzPct val="100000"/>
              <a:buChar char="•"/>
            </a:pPr>
            <a:r>
              <a:rPr lang="en-US" sz="1150" dirty="0">
                <a:solidFill>
                  <a:srgbClr val="A2908C"/>
                </a:solidFill>
                <a:latin typeface="Meiryo" pitchFamily="34" charset="0"/>
                <a:ea typeface="Meiryo" pitchFamily="34" charset="-122"/>
                <a:cs typeface="Meiryo" pitchFamily="34" charset="-120"/>
              </a:rPr>
              <a:t>接点は年に数回の時価確認</a:t>
            </a:r>
            <a:endParaRPr lang="en-US" sz="1150" dirty="0"/>
          </a:p>
          <a:p>
            <a:pPr marL="152400" indent="-152400">
              <a:lnSpc>
                <a:spcPts val="1700"/>
              </a:lnSpc>
              <a:spcAft>
                <a:spcPts val="1100"/>
              </a:spcAft>
              <a:buSzPct val="100000"/>
              <a:buChar char="•"/>
            </a:pPr>
            <a:r>
              <a:rPr lang="en-US" sz="1150" dirty="0">
                <a:solidFill>
                  <a:srgbClr val="A2908C"/>
                </a:solidFill>
                <a:latin typeface="Meiryo" pitchFamily="34" charset="0"/>
                <a:ea typeface="Meiryo" pitchFamily="34" charset="-122"/>
                <a:cs typeface="Meiryo" pitchFamily="34" charset="-120"/>
              </a:rPr>
              <a:t>コンテンツもコミュニケーションもない</a:t>
            </a:r>
            <a:endParaRPr lang="en-US" sz="1150" dirty="0"/>
          </a:p>
        </p:txBody>
      </p:sp>
      <p:sp>
        <p:nvSpPr>
          <p:cNvPr id="11" name="Shape 9"/>
          <p:cNvSpPr/>
          <p:nvPr/>
        </p:nvSpPr>
        <p:spPr>
          <a:xfrm>
            <a:off x="4352544" y="1664208"/>
            <a:ext cx="3529584" cy="3200400"/>
          </a:xfrm>
          <a:prstGeom prst="roundRect">
            <a:avLst>
              <a:gd name="adj" fmla="val 1714"/>
            </a:avLst>
          </a:prstGeom>
          <a:solidFill>
            <a:srgbClr val="17111A"/>
          </a:solidFill>
          <a:ln w="12700">
            <a:solidFill>
              <a:srgbClr val="17111A"/>
            </a:solidFill>
            <a:prstDash val="solid"/>
          </a:ln>
          <a:effectLst>
            <a:outerShdw sx="100000" sy="100000" kx="0" ky="0" algn="bl" rotWithShape="0" blurRad="127000" dist="25400" dir="5400000">
              <a:srgbClr val="000000">
                <a:alpha val="35000"/>
              </a:srgbClr>
            </a:outerShdw>
          </a:effectLst>
        </p:spPr>
      </p:sp>
      <p:sp>
        <p:nvSpPr>
          <p:cNvPr id="12" name="Text 10"/>
          <p:cNvSpPr txBox="1"/>
          <p:nvPr/>
        </p:nvSpPr>
        <p:spPr>
          <a:xfrm>
            <a:off x="4645152" y="1847088"/>
            <a:ext cx="2962656" cy="219456"/>
          </a:xfrm>
          <a:prstGeom prst="rect">
            <a:avLst/>
          </a:prstGeom>
          <a:noFill/>
          <a:ln/>
        </p:spPr>
        <p:txBody>
          <a:bodyPr wrap="square" lIns="0" tIns="0" rIns="0" bIns="0" rtlCol="0" anchor="ctr"/>
          <a:lstStyle/>
          <a:p>
            <a:pPr indent="0" marL="0">
              <a:buNone/>
            </a:pPr>
            <a:r>
              <a:rPr lang="en-US" sz="950" b="1" spc="200" kern="0" dirty="0">
                <a:solidFill>
                  <a:srgbClr val="C9A227"/>
                </a:solidFill>
                <a:latin typeface="Arial" pitchFamily="34" charset="0"/>
                <a:ea typeface="Arial" pitchFamily="34" charset="-122"/>
                <a:cs typeface="Arial" pitchFamily="34" charset="-120"/>
              </a:rPr>
              <a:t>リニューアル後</a:t>
            </a:r>
            <a:endParaRPr lang="en-US" sz="950" dirty="0"/>
          </a:p>
        </p:txBody>
      </p:sp>
      <p:sp>
        <p:nvSpPr>
          <p:cNvPr id="13" name="Text 11"/>
          <p:cNvSpPr txBox="1"/>
          <p:nvPr/>
        </p:nvSpPr>
        <p:spPr>
          <a:xfrm>
            <a:off x="4645152" y="2103120"/>
            <a:ext cx="2962656" cy="329184"/>
          </a:xfrm>
          <a:prstGeom prst="rect">
            <a:avLst/>
          </a:prstGeom>
          <a:noFill/>
          <a:ln/>
        </p:spPr>
        <p:txBody>
          <a:bodyPr wrap="square" lIns="0" tIns="0" rIns="0" bIns="0" rtlCol="0" anchor="ctr"/>
          <a:lstStyle/>
          <a:p>
            <a:pPr indent="0" marL="0">
              <a:buNone/>
            </a:pPr>
            <a:r>
              <a:rPr lang="en-US" sz="1700" b="1" dirty="0">
                <a:solidFill>
                  <a:srgbClr val="F2EDE6"/>
                </a:solidFill>
                <a:latin typeface="Meiryo" pitchFamily="34" charset="0"/>
                <a:ea typeface="Meiryo" pitchFamily="34" charset="-122"/>
                <a:cs typeface="Meiryo" pitchFamily="34" charset="-120"/>
              </a:rPr>
              <a:t>ワイン投資 2.1</a:t>
            </a:r>
            <a:endParaRPr lang="en-US" sz="1700" dirty="0"/>
          </a:p>
        </p:txBody>
      </p:sp>
      <p:sp>
        <p:nvSpPr>
          <p:cNvPr id="14" name="Text 12"/>
          <p:cNvSpPr txBox="1"/>
          <p:nvPr/>
        </p:nvSpPr>
        <p:spPr>
          <a:xfrm>
            <a:off x="4645152" y="2505456"/>
            <a:ext cx="2962656" cy="310896"/>
          </a:xfrm>
          <a:prstGeom prst="rect">
            <a:avLst/>
          </a:prstGeom>
          <a:noFill/>
          <a:ln/>
        </p:spPr>
        <p:txBody>
          <a:bodyPr wrap="square" lIns="0" tIns="0" rIns="0" bIns="0" rtlCol="0" anchor="ctr"/>
          <a:lstStyle/>
          <a:p>
            <a:pPr indent="0" marL="0">
              <a:buNone/>
            </a:pPr>
            <a:r>
              <a:rPr lang="en-US" sz="1400" b="1" dirty="0">
                <a:solidFill>
                  <a:srgbClr val="E8CE78"/>
                </a:solidFill>
                <a:latin typeface="Meiryo" pitchFamily="34" charset="0"/>
                <a:ea typeface="Meiryo" pitchFamily="34" charset="-122"/>
                <a:cs typeface="Meiryo" pitchFamily="34" charset="-120"/>
              </a:rPr>
              <a:t>コンテンツを載せた</a:t>
            </a:r>
            <a:endParaRPr lang="en-US" sz="1400" dirty="0"/>
          </a:p>
        </p:txBody>
      </p:sp>
      <p:sp>
        <p:nvSpPr>
          <p:cNvPr id="15" name="Text 13"/>
          <p:cNvSpPr txBox="1"/>
          <p:nvPr/>
        </p:nvSpPr>
        <p:spPr>
          <a:xfrm>
            <a:off x="4645152" y="2962656"/>
            <a:ext cx="2962656" cy="1737360"/>
          </a:xfrm>
          <a:prstGeom prst="rect">
            <a:avLst/>
          </a:prstGeom>
          <a:noFill/>
          <a:ln/>
        </p:spPr>
        <p:txBody>
          <a:bodyPr wrap="square" lIns="0" tIns="0" rIns="0" bIns="0" rtlCol="0" anchor="t"/>
          <a:lstStyle/>
          <a:p>
            <a:pPr marL="152400" indent="-152400">
              <a:lnSpc>
                <a:spcPts val="1700"/>
              </a:lnSpc>
              <a:spcAft>
                <a:spcPts val="1100"/>
              </a:spcAft>
              <a:buSzPct val="100000"/>
              <a:buChar char="•"/>
            </a:pPr>
            <a:r>
              <a:rPr lang="en-US" sz="1150" dirty="0">
                <a:solidFill>
                  <a:srgbClr val="A2908C"/>
                </a:solidFill>
                <a:latin typeface="Meiryo" pitchFamily="34" charset="0"/>
                <a:ea typeface="Meiryo" pitchFamily="34" charset="-122"/>
                <a:cs typeface="Meiryo" pitchFamily="34" charset="-120"/>
              </a:rPr>
              <a:t>ファンド実績・指数・銘柄情報</a:t>
            </a:r>
            <a:endParaRPr lang="en-US" sz="1150" dirty="0"/>
          </a:p>
          <a:p>
            <a:pPr marL="152400" indent="-152400">
              <a:lnSpc>
                <a:spcPts val="1700"/>
              </a:lnSpc>
              <a:spcAft>
                <a:spcPts val="1100"/>
              </a:spcAft>
              <a:buSzPct val="100000"/>
              <a:buChar char="•"/>
            </a:pPr>
            <a:r>
              <a:rPr lang="en-US" sz="1150" dirty="0">
                <a:solidFill>
                  <a:srgbClr val="A2908C"/>
                </a:solidFill>
                <a:latin typeface="Meiryo" pitchFamily="34" charset="0"/>
                <a:ea typeface="Meiryo" pitchFamily="34" charset="-122"/>
                <a:cs typeface="Meiryo" pitchFamily="34" charset="-120"/>
              </a:rPr>
              <a:t>マイページで時価が見える</a:t>
            </a:r>
            <a:endParaRPr lang="en-US" sz="1150" dirty="0"/>
          </a:p>
          <a:p>
            <a:pPr marL="152400" indent="-152400">
              <a:lnSpc>
                <a:spcPts val="1700"/>
              </a:lnSpc>
              <a:spcAft>
                <a:spcPts val="1100"/>
              </a:spcAft>
              <a:buSzPct val="100000"/>
              <a:buChar char="•"/>
            </a:pPr>
            <a:r>
              <a:rPr lang="en-US" sz="1150" dirty="0">
                <a:solidFill>
                  <a:srgbClr val="A2908C"/>
                </a:solidFill>
                <a:latin typeface="Meiryo" pitchFamily="34" charset="0"/>
                <a:ea typeface="Meiryo" pitchFamily="34" charset="-122"/>
                <a:cs typeface="Meiryo" pitchFamily="34" charset="-120"/>
              </a:rPr>
              <a:t>情報は届く。ただ、それだけ</a:t>
            </a:r>
            <a:endParaRPr lang="en-US" sz="1150" dirty="0"/>
          </a:p>
        </p:txBody>
      </p:sp>
      <p:sp>
        <p:nvSpPr>
          <p:cNvPr id="16" name="Shape 14"/>
          <p:cNvSpPr/>
          <p:nvPr/>
        </p:nvSpPr>
        <p:spPr>
          <a:xfrm>
            <a:off x="8138160" y="1664208"/>
            <a:ext cx="3529584" cy="3200400"/>
          </a:xfrm>
          <a:prstGeom prst="roundRect">
            <a:avLst>
              <a:gd name="adj" fmla="val 1714"/>
            </a:avLst>
          </a:prstGeom>
          <a:solidFill>
            <a:srgbClr val="261A24"/>
          </a:solidFill>
          <a:ln w="12700">
            <a:solidFill>
              <a:srgbClr val="261A24"/>
            </a:solidFill>
            <a:prstDash val="solid"/>
          </a:ln>
          <a:effectLst>
            <a:outerShdw sx="100000" sy="100000" kx="0" ky="0" algn="bl" rotWithShape="0" blurRad="127000" dist="25400" dir="5400000">
              <a:srgbClr val="000000">
                <a:alpha val="35000"/>
              </a:srgbClr>
            </a:outerShdw>
          </a:effectLst>
        </p:spPr>
      </p:sp>
      <p:sp>
        <p:nvSpPr>
          <p:cNvPr id="17" name="Text 15"/>
          <p:cNvSpPr txBox="1"/>
          <p:nvPr/>
        </p:nvSpPr>
        <p:spPr>
          <a:xfrm>
            <a:off x="8430768" y="1847088"/>
            <a:ext cx="2962656" cy="219456"/>
          </a:xfrm>
          <a:prstGeom prst="rect">
            <a:avLst/>
          </a:prstGeom>
          <a:noFill/>
          <a:ln/>
        </p:spPr>
        <p:txBody>
          <a:bodyPr wrap="square" lIns="0" tIns="0" rIns="0" bIns="0" rtlCol="0" anchor="ctr"/>
          <a:lstStyle/>
          <a:p>
            <a:pPr indent="0" marL="0">
              <a:buNone/>
            </a:pPr>
            <a:r>
              <a:rPr lang="en-US" sz="950" b="1" spc="200" kern="0" dirty="0">
                <a:solidFill>
                  <a:srgbClr val="C9A227"/>
                </a:solidFill>
                <a:latin typeface="Arial" pitchFamily="34" charset="0"/>
                <a:ea typeface="Arial" pitchFamily="34" charset="-122"/>
                <a:cs typeface="Arial" pitchFamily="34" charset="-120"/>
              </a:rPr>
              <a:t>本提案</a:t>
            </a:r>
            <a:endParaRPr lang="en-US" sz="950" dirty="0"/>
          </a:p>
        </p:txBody>
      </p:sp>
      <p:sp>
        <p:nvSpPr>
          <p:cNvPr id="18" name="Text 16"/>
          <p:cNvSpPr txBox="1"/>
          <p:nvPr/>
        </p:nvSpPr>
        <p:spPr>
          <a:xfrm>
            <a:off x="8430768" y="2103120"/>
            <a:ext cx="2962656" cy="329184"/>
          </a:xfrm>
          <a:prstGeom prst="rect">
            <a:avLst/>
          </a:prstGeom>
          <a:noFill/>
          <a:ln/>
        </p:spPr>
        <p:txBody>
          <a:bodyPr wrap="square" lIns="0" tIns="0" rIns="0" bIns="0" rtlCol="0" anchor="ctr"/>
          <a:lstStyle/>
          <a:p>
            <a:pPr indent="0" marL="0">
              <a:buNone/>
            </a:pPr>
            <a:r>
              <a:rPr lang="en-US" sz="1700" b="1" dirty="0">
                <a:solidFill>
                  <a:srgbClr val="7FD1AE"/>
                </a:solidFill>
                <a:latin typeface="Meiryo" pitchFamily="34" charset="0"/>
                <a:ea typeface="Meiryo" pitchFamily="34" charset="-122"/>
                <a:cs typeface="Meiryo" pitchFamily="34" charset="-120"/>
              </a:rPr>
              <a:t>ワイン投資 3.0</a:t>
            </a:r>
            <a:endParaRPr lang="en-US" sz="1700" dirty="0"/>
          </a:p>
        </p:txBody>
      </p:sp>
      <p:sp>
        <p:nvSpPr>
          <p:cNvPr id="19" name="Text 17"/>
          <p:cNvSpPr txBox="1"/>
          <p:nvPr/>
        </p:nvSpPr>
        <p:spPr>
          <a:xfrm>
            <a:off x="8430768" y="2505456"/>
            <a:ext cx="2962656" cy="310896"/>
          </a:xfrm>
          <a:prstGeom prst="rect">
            <a:avLst/>
          </a:prstGeom>
          <a:noFill/>
          <a:ln/>
        </p:spPr>
        <p:txBody>
          <a:bodyPr wrap="square" lIns="0" tIns="0" rIns="0" bIns="0" rtlCol="0" anchor="ctr"/>
          <a:lstStyle/>
          <a:p>
            <a:pPr indent="0" marL="0">
              <a:buNone/>
            </a:pPr>
            <a:r>
              <a:rPr lang="en-US" sz="1400" b="1" dirty="0">
                <a:solidFill>
                  <a:srgbClr val="E8CE78"/>
                </a:solidFill>
                <a:latin typeface="Meiryo" pitchFamily="34" charset="0"/>
                <a:ea typeface="Meiryo" pitchFamily="34" charset="-122"/>
                <a:cs typeface="Meiryo" pitchFamily="34" charset="-120"/>
              </a:rPr>
              <a:t>コミュニケーションを足す</a:t>
            </a:r>
            <a:endParaRPr lang="en-US" sz="1400" dirty="0"/>
          </a:p>
        </p:txBody>
      </p:sp>
      <p:sp>
        <p:nvSpPr>
          <p:cNvPr id="20" name="Text 18"/>
          <p:cNvSpPr txBox="1"/>
          <p:nvPr/>
        </p:nvSpPr>
        <p:spPr>
          <a:xfrm>
            <a:off x="8430768" y="2962656"/>
            <a:ext cx="2962656" cy="1737360"/>
          </a:xfrm>
          <a:prstGeom prst="rect">
            <a:avLst/>
          </a:prstGeom>
          <a:noFill/>
          <a:ln/>
        </p:spPr>
        <p:txBody>
          <a:bodyPr wrap="square" lIns="0" tIns="0" rIns="0" bIns="0" rtlCol="0" anchor="t"/>
          <a:lstStyle/>
          <a:p>
            <a:pPr marL="152400" indent="-152400">
              <a:lnSpc>
                <a:spcPts val="1700"/>
              </a:lnSpc>
              <a:spcAft>
                <a:spcPts val="1100"/>
              </a:spcAft>
              <a:buSzPct val="100000"/>
              <a:buChar char="•"/>
            </a:pPr>
            <a:r>
              <a:rPr lang="en-US" sz="1150" dirty="0">
                <a:solidFill>
                  <a:srgbClr val="A2908C"/>
                </a:solidFill>
                <a:latin typeface="Meiryo" pitchFamily="34" charset="0"/>
                <a:ea typeface="Meiryo" pitchFamily="34" charset="-122"/>
                <a:cs typeface="Meiryo" pitchFamily="34" charset="-120"/>
              </a:rPr>
              <a:t>ワインマイルが貯まり、使われる</a:t>
            </a:r>
            <a:endParaRPr lang="en-US" sz="1150" dirty="0"/>
          </a:p>
          <a:p>
            <a:pPr marL="152400" indent="-152400">
              <a:lnSpc>
                <a:spcPts val="1700"/>
              </a:lnSpc>
              <a:spcAft>
                <a:spcPts val="1100"/>
              </a:spcAft>
              <a:buSzPct val="100000"/>
              <a:buChar char="•"/>
            </a:pPr>
            <a:r>
              <a:rPr lang="en-US" sz="1150" dirty="0">
                <a:solidFill>
                  <a:srgbClr val="A2908C"/>
                </a:solidFill>
                <a:latin typeface="Meiryo" pitchFamily="34" charset="0"/>
                <a:ea typeface="Meiryo" pitchFamily="34" charset="-122"/>
                <a:cs typeface="Meiryo" pitchFamily="34" charset="-120"/>
              </a:rPr>
              <a:t>会食・贈答・オークションが動く</a:t>
            </a:r>
            <a:endParaRPr lang="en-US" sz="1150" dirty="0"/>
          </a:p>
          <a:p>
            <a:pPr marL="152400" indent="-152400">
              <a:lnSpc>
                <a:spcPts val="1700"/>
              </a:lnSpc>
              <a:spcAft>
                <a:spcPts val="1100"/>
              </a:spcAft>
              <a:buSzPct val="100000"/>
              <a:buChar char="•"/>
            </a:pPr>
            <a:r>
              <a:rPr lang="en-US" sz="1150" dirty="0">
                <a:solidFill>
                  <a:srgbClr val="A2908C"/>
                </a:solidFill>
                <a:latin typeface="Meiryo" pitchFamily="34" charset="0"/>
                <a:ea typeface="Meiryo" pitchFamily="34" charset="-122"/>
                <a:cs typeface="Meiryo" pitchFamily="34" charset="-120"/>
              </a:rPr>
              <a:t>他の会員の一本が見える</a:t>
            </a:r>
            <a:endParaRPr lang="en-US" sz="1150" dirty="0"/>
          </a:p>
        </p:txBody>
      </p:sp>
      <p:sp>
        <p:nvSpPr>
          <p:cNvPr id="21" name="Shape 19"/>
          <p:cNvSpPr/>
          <p:nvPr/>
        </p:nvSpPr>
        <p:spPr>
          <a:xfrm>
            <a:off x="566928" y="5084064"/>
            <a:ext cx="11027664" cy="969264"/>
          </a:xfrm>
          <a:prstGeom prst="roundRect">
            <a:avLst>
              <a:gd name="adj" fmla="val 5660"/>
            </a:avLst>
          </a:prstGeom>
          <a:solidFill>
            <a:srgbClr val="7B1E3A"/>
          </a:solidFill>
          <a:ln w="12700">
            <a:solidFill>
              <a:srgbClr val="7B1E3A"/>
            </a:solidFill>
            <a:prstDash val="solid"/>
          </a:ln>
          <a:effectLst>
            <a:outerShdw sx="100000" sy="100000" kx="0" ky="0" algn="bl" rotWithShape="0" blurRad="127000" dist="25400" dir="5400000">
              <a:srgbClr val="000000">
                <a:alpha val="35000"/>
              </a:srgbClr>
            </a:outerShdw>
          </a:effectLst>
        </p:spPr>
      </p:sp>
      <p:sp>
        <p:nvSpPr>
          <p:cNvPr id="22" name="Text 20"/>
          <p:cNvSpPr txBox="1"/>
          <p:nvPr/>
        </p:nvSpPr>
        <p:spPr>
          <a:xfrm>
            <a:off x="978408" y="5285232"/>
            <a:ext cx="10204704" cy="384048"/>
          </a:xfrm>
          <a:prstGeom prst="rect">
            <a:avLst/>
          </a:prstGeom>
          <a:noFill/>
          <a:ln/>
        </p:spPr>
        <p:txBody>
          <a:bodyPr wrap="square" lIns="0" tIns="0" rIns="0" bIns="0" rtlCol="0" anchor="ctr"/>
          <a:lstStyle/>
          <a:p>
            <a:pPr indent="0" marL="0">
              <a:buNone/>
            </a:pPr>
            <a:r>
              <a:rPr lang="en-US" sz="1900" b="1" dirty="0">
                <a:solidFill>
                  <a:srgbClr val="E8CE78"/>
                </a:solidFill>
                <a:latin typeface="Meiryo" pitchFamily="34" charset="0"/>
                <a:ea typeface="Meiryo" pitchFamily="34" charset="-122"/>
                <a:cs typeface="Meiryo" pitchFamily="34" charset="-120"/>
              </a:rPr>
              <a:t>足りないのは商品ではなく、買ったあとに起きる「出来事」でした。</a:t>
            </a:r>
            <a:endParaRPr lang="en-US" sz="1900" dirty="0"/>
          </a:p>
        </p:txBody>
      </p:sp>
      <p:sp>
        <p:nvSpPr>
          <p:cNvPr id="23" name="Text 21"/>
          <p:cNvSpPr txBox="1"/>
          <p:nvPr/>
        </p:nvSpPr>
        <p:spPr>
          <a:xfrm>
            <a:off x="978408" y="5687568"/>
            <a:ext cx="10204704" cy="292608"/>
          </a:xfrm>
          <a:prstGeom prst="rect">
            <a:avLst/>
          </a:prstGeom>
          <a:noFill/>
          <a:ln/>
        </p:spPr>
        <p:txBody>
          <a:bodyPr wrap="square" lIns="0" tIns="0" rIns="0" bIns="0" rtlCol="0" anchor="ctr"/>
          <a:lstStyle/>
          <a:p>
            <a:pPr indent="0" marL="0">
              <a:buNone/>
            </a:pPr>
            <a:r>
              <a:rPr lang="en-US" sz="1200" dirty="0">
                <a:solidFill>
                  <a:srgbClr val="F2EDE6"/>
                </a:solidFill>
                <a:latin typeface="Meiryo" pitchFamily="34" charset="0"/>
                <a:ea typeface="Meiryo" pitchFamily="34" charset="-122"/>
                <a:cs typeface="Meiryo" pitchFamily="34" charset="-120"/>
              </a:rPr>
              <a:t>2.1は情報を届けるところまで。3.0は、会員が動き、他の会員とつながるところまでを設計します。</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00000"/>
        </a:solidFill>
      </p:bgPr>
    </p:bg>
    <p:spTree>
      <p:nvGrpSpPr>
        <p:cNvPr id="1" name=""/>
        <p:cNvGrpSpPr/>
        <p:nvPr/>
      </p:nvGrpSpPr>
      <p:grpSpPr>
        <a:xfrm>
          <a:off x="0" y="0"/>
          <a:ext cx="0" cy="0"/>
          <a:chOff x="0" y="0"/>
          <a:chExt cx="0" cy="0"/>
        </a:xfrm>
      </p:grpSpPr>
      <p:sp>
        <p:nvSpPr>
          <p:cNvPr id="2" name="Text 0"/>
          <p:cNvSpPr txBox="1"/>
          <p:nvPr/>
        </p:nvSpPr>
        <p:spPr>
          <a:xfrm>
            <a:off x="566928" y="310896"/>
            <a:ext cx="11027664" cy="237744"/>
          </a:xfrm>
          <a:prstGeom prst="rect">
            <a:avLst/>
          </a:prstGeom>
          <a:noFill/>
          <a:ln/>
        </p:spPr>
        <p:txBody>
          <a:bodyPr wrap="square" lIns="0" tIns="0" rIns="0" bIns="0" rtlCol="0" anchor="ctr"/>
          <a:lstStyle/>
          <a:p>
            <a:pPr indent="0" marL="0">
              <a:buNone/>
            </a:pPr>
            <a:r>
              <a:rPr lang="en-US" sz="1050" b="1" spc="300" kern="0" dirty="0">
                <a:solidFill>
                  <a:srgbClr val="C9A227"/>
                </a:solidFill>
                <a:latin typeface="Arial" pitchFamily="34" charset="0"/>
                <a:ea typeface="Arial" pitchFamily="34" charset="-122"/>
                <a:cs typeface="Arial" pitchFamily="34" charset="-120"/>
              </a:rPr>
              <a:t>WHY</a:t>
            </a:r>
            <a:endParaRPr lang="en-US" sz="1050" dirty="0"/>
          </a:p>
        </p:txBody>
      </p:sp>
      <p:sp>
        <p:nvSpPr>
          <p:cNvPr id="3" name="Text 1"/>
          <p:cNvSpPr txBox="1"/>
          <p:nvPr/>
        </p:nvSpPr>
        <p:spPr>
          <a:xfrm>
            <a:off x="566928" y="566928"/>
            <a:ext cx="11027664" cy="548640"/>
          </a:xfrm>
          <a:prstGeom prst="rect">
            <a:avLst/>
          </a:prstGeom>
          <a:noFill/>
          <a:ln/>
        </p:spPr>
        <p:txBody>
          <a:bodyPr wrap="square" lIns="0" tIns="0" rIns="0" bIns="0" rtlCol="0" anchor="ctr"/>
          <a:lstStyle/>
          <a:p>
            <a:pPr indent="0" marL="0">
              <a:buNone/>
            </a:pPr>
            <a:r>
              <a:rPr lang="en-US" sz="2900" b="1" dirty="0">
                <a:solidFill>
                  <a:srgbClr val="F2EDE6"/>
                </a:solidFill>
                <a:latin typeface="Meiryo" pitchFamily="34" charset="0"/>
                <a:ea typeface="Meiryo" pitchFamily="34" charset="-122"/>
                <a:cs typeface="Meiryo" pitchFamily="34" charset="-120"/>
              </a:rPr>
              <a:t>「WineBankは、損をしていませんか？」</a:t>
            </a:r>
            <a:endParaRPr lang="en-US" sz="2900" dirty="0"/>
          </a:p>
        </p:txBody>
      </p:sp>
      <p:sp>
        <p:nvSpPr>
          <p:cNvPr id="4" name="Text 2"/>
          <p:cNvSpPr txBox="1"/>
          <p:nvPr/>
        </p:nvSpPr>
        <p:spPr>
          <a:xfrm>
            <a:off x="566928" y="1152144"/>
            <a:ext cx="11027664" cy="310896"/>
          </a:xfrm>
          <a:prstGeom prst="rect">
            <a:avLst/>
          </a:prstGeom>
          <a:noFill/>
          <a:ln/>
        </p:spPr>
        <p:txBody>
          <a:bodyPr wrap="square" lIns="0" tIns="0" rIns="0" bIns="0" rtlCol="0" anchor="ctr"/>
          <a:lstStyle/>
          <a:p>
            <a:pPr indent="0" marL="0">
              <a:buNone/>
            </a:pPr>
            <a:r>
              <a:rPr lang="en-US" sz="1300" dirty="0">
                <a:solidFill>
                  <a:srgbClr val="A2908C"/>
                </a:solidFill>
                <a:latin typeface="Meiryo" pitchFamily="34" charset="0"/>
                <a:ea typeface="Meiryo" pitchFamily="34" charset="-122"/>
                <a:cs typeface="Meiryo" pitchFamily="34" charset="-120"/>
              </a:rPr>
              <a:t>いちばん多くいただく質問です。正直にお答えします。</a:t>
            </a:r>
            <a:endParaRPr lang="en-US" sz="1300" dirty="0"/>
          </a:p>
        </p:txBody>
      </p:sp>
      <p:sp>
        <p:nvSpPr>
          <p:cNvPr id="5" name="Text 3"/>
          <p:cNvSpPr txBox="1"/>
          <p:nvPr/>
        </p:nvSpPr>
        <p:spPr>
          <a:xfrm>
            <a:off x="566928" y="6437376"/>
            <a:ext cx="4572000" cy="219456"/>
          </a:xfrm>
          <a:prstGeom prst="rect">
            <a:avLst/>
          </a:prstGeom>
          <a:noFill/>
          <a:ln/>
        </p:spPr>
        <p:txBody>
          <a:bodyPr wrap="square" lIns="0" tIns="0" rIns="0" bIns="0" rtlCol="0" anchor="ctr"/>
          <a:lstStyle/>
          <a:p>
            <a:pPr indent="0" marL="0">
              <a:buNone/>
            </a:pPr>
            <a:r>
              <a:rPr lang="en-US" sz="850" dirty="0">
                <a:solidFill>
                  <a:srgbClr val="6B5A5F"/>
                </a:solidFill>
                <a:latin typeface="Arial" pitchFamily="34" charset="0"/>
                <a:ea typeface="Arial" pitchFamily="34" charset="-122"/>
                <a:cs typeface="Arial" pitchFamily="34" charset="-120"/>
              </a:rPr>
              <a:t>WineBank CONFIDENTIAL</a:t>
            </a:r>
            <a:endParaRPr lang="en-US" sz="850" dirty="0"/>
          </a:p>
        </p:txBody>
      </p:sp>
      <p:sp>
        <p:nvSpPr>
          <p:cNvPr id="6" name="Text 4"/>
          <p:cNvSpPr txBox="1"/>
          <p:nvPr/>
        </p:nvSpPr>
        <p:spPr>
          <a:xfrm>
            <a:off x="566928" y="1517904"/>
            <a:ext cx="11027664" cy="566928"/>
          </a:xfrm>
          <a:prstGeom prst="rect">
            <a:avLst/>
          </a:prstGeom>
          <a:noFill/>
          <a:ln/>
        </p:spPr>
        <p:txBody>
          <a:bodyPr wrap="square" lIns="0" tIns="0" rIns="0" bIns="0" rtlCol="0" anchor="ctr"/>
          <a:lstStyle/>
          <a:p>
            <a:pPr indent="0" marL="0">
              <a:buNone/>
            </a:pPr>
            <a:r>
              <a:rPr lang="en-US" sz="3100" b="1" dirty="0">
                <a:solidFill>
                  <a:srgbClr val="E8CE78"/>
                </a:solidFill>
                <a:latin typeface="Meiryo" pitchFamily="34" charset="0"/>
                <a:ea typeface="Meiryo" pitchFamily="34" charset="-122"/>
                <a:cs typeface="Meiryo" pitchFamily="34" charset="-120"/>
              </a:rPr>
              <a:t>いいえ。先に、出しているだけです。</a:t>
            </a:r>
            <a:endParaRPr lang="en-US" sz="3100" dirty="0"/>
          </a:p>
        </p:txBody>
      </p:sp>
      <p:sp>
        <p:nvSpPr>
          <p:cNvPr id="7" name="Shape 5"/>
          <p:cNvSpPr/>
          <p:nvPr/>
        </p:nvSpPr>
        <p:spPr>
          <a:xfrm>
            <a:off x="566928" y="2286000"/>
            <a:ext cx="2606040" cy="2395728"/>
          </a:xfrm>
          <a:prstGeom prst="roundRect">
            <a:avLst>
              <a:gd name="adj" fmla="val 2290"/>
            </a:avLst>
          </a:prstGeom>
          <a:solidFill>
            <a:srgbClr val="17111A"/>
          </a:solidFill>
          <a:ln w="12700">
            <a:solidFill>
              <a:srgbClr val="17111A"/>
            </a:solidFill>
            <a:prstDash val="solid"/>
          </a:ln>
          <a:effectLst>
            <a:outerShdw sx="100000" sy="100000" kx="0" ky="0" algn="bl" rotWithShape="0" blurRad="127000" dist="25400" dir="5400000">
              <a:srgbClr val="000000">
                <a:alpha val="35000"/>
              </a:srgbClr>
            </a:outerShdw>
          </a:effectLst>
        </p:spPr>
      </p:sp>
      <p:sp>
        <p:nvSpPr>
          <p:cNvPr id="8" name="Shape 6"/>
          <p:cNvSpPr/>
          <p:nvPr/>
        </p:nvSpPr>
        <p:spPr>
          <a:xfrm>
            <a:off x="822960" y="2505456"/>
            <a:ext cx="329184" cy="329184"/>
          </a:xfrm>
          <a:prstGeom prst="ellipse">
            <a:avLst/>
          </a:prstGeom>
          <a:solidFill>
            <a:srgbClr val="C9A227"/>
          </a:solidFill>
          <a:ln w="12700">
            <a:solidFill>
              <a:srgbClr val="C9A227"/>
            </a:solidFill>
            <a:prstDash val="solid"/>
          </a:ln>
        </p:spPr>
      </p:sp>
      <p:sp>
        <p:nvSpPr>
          <p:cNvPr id="9" name="Text 7"/>
          <p:cNvSpPr txBox="1"/>
          <p:nvPr/>
        </p:nvSpPr>
        <p:spPr>
          <a:xfrm>
            <a:off x="822960" y="2505456"/>
            <a:ext cx="329184" cy="329184"/>
          </a:xfrm>
          <a:prstGeom prst="rect">
            <a:avLst/>
          </a:prstGeom>
          <a:noFill/>
          <a:ln/>
        </p:spPr>
        <p:txBody>
          <a:bodyPr wrap="square" lIns="0" tIns="0" rIns="0" bIns="0" rtlCol="0" anchor="ctr"/>
          <a:lstStyle/>
          <a:p>
            <a:pPr algn="ctr" indent="0" marL="0">
              <a:buNone/>
            </a:pPr>
            <a:r>
              <a:rPr lang="en-US" sz="1300" b="1" dirty="0">
                <a:solidFill>
                  <a:srgbClr val="000000"/>
                </a:solidFill>
                <a:latin typeface="Arial" pitchFamily="34" charset="0"/>
                <a:ea typeface="Arial" pitchFamily="34" charset="-122"/>
                <a:cs typeface="Arial" pitchFamily="34" charset="-120"/>
              </a:rPr>
              <a:t>1</a:t>
            </a:r>
            <a:endParaRPr lang="en-US" sz="1300" dirty="0"/>
          </a:p>
        </p:txBody>
      </p:sp>
      <p:sp>
        <p:nvSpPr>
          <p:cNvPr id="10" name="Text 8"/>
          <p:cNvSpPr txBox="1"/>
          <p:nvPr/>
        </p:nvSpPr>
        <p:spPr>
          <a:xfrm>
            <a:off x="822960" y="2926080"/>
            <a:ext cx="2093976" cy="548640"/>
          </a:xfrm>
          <a:prstGeom prst="rect">
            <a:avLst/>
          </a:prstGeom>
          <a:noFill/>
          <a:ln/>
        </p:spPr>
        <p:txBody>
          <a:bodyPr wrap="square" lIns="0" tIns="0" rIns="0" bIns="0" rtlCol="0" anchor="ctr"/>
          <a:lstStyle/>
          <a:p>
            <a:pPr indent="0" marL="0">
              <a:lnSpc>
                <a:spcPts val="1900"/>
              </a:lnSpc>
              <a:buNone/>
            </a:pPr>
            <a:r>
              <a:rPr lang="en-US" sz="1350" b="1" dirty="0">
                <a:solidFill>
                  <a:srgbClr val="E8CE78"/>
                </a:solidFill>
                <a:latin typeface="Meiryo" pitchFamily="34" charset="0"/>
                <a:ea typeface="Meiryo" pitchFamily="34" charset="-122"/>
                <a:cs typeface="Meiryo" pitchFamily="34" charset="-120"/>
              </a:rPr>
              <a:t>ワイン投資だけでは、広がらなかった</a:t>
            </a:r>
            <a:endParaRPr lang="en-US" sz="1350" dirty="0"/>
          </a:p>
        </p:txBody>
      </p:sp>
      <p:sp>
        <p:nvSpPr>
          <p:cNvPr id="11" name="Text 9"/>
          <p:cNvSpPr txBox="1"/>
          <p:nvPr/>
        </p:nvSpPr>
        <p:spPr>
          <a:xfrm>
            <a:off x="822960" y="3547872"/>
            <a:ext cx="2093976" cy="1060704"/>
          </a:xfrm>
          <a:prstGeom prst="rect">
            <a:avLst/>
          </a:prstGeom>
          <a:noFill/>
          <a:ln/>
        </p:spPr>
        <p:txBody>
          <a:bodyPr wrap="square" lIns="0" tIns="0" rIns="0" bIns="0" rtlCol="0" anchor="ctr"/>
          <a:lstStyle/>
          <a:p>
            <a:pPr indent="0" marL="0">
              <a:lnSpc>
                <a:spcPts val="1600"/>
              </a:lnSpc>
              <a:buNone/>
            </a:pPr>
            <a:r>
              <a:rPr lang="en-US" sz="1050" dirty="0">
                <a:solidFill>
                  <a:srgbClr val="A2908C"/>
                </a:solidFill>
                <a:latin typeface="Meiryo" pitchFamily="34" charset="0"/>
                <a:ea typeface="Meiryo" pitchFamily="34" charset="-122"/>
                <a:cs typeface="Meiryo" pitchFamily="34" charset="-120"/>
              </a:rPr>
              <a:t>持っているだけでは、ワインは資産のまま。飲む相手も、語る相手もいない。豊かにするには、コミュニティが要る。そこに気づきました。</a:t>
            </a:r>
            <a:endParaRPr lang="en-US" sz="1050" dirty="0"/>
          </a:p>
        </p:txBody>
      </p:sp>
      <p:sp>
        <p:nvSpPr>
          <p:cNvPr id="12" name="Shape 10"/>
          <p:cNvSpPr/>
          <p:nvPr/>
        </p:nvSpPr>
        <p:spPr>
          <a:xfrm>
            <a:off x="3374136" y="2286000"/>
            <a:ext cx="2606040" cy="2395728"/>
          </a:xfrm>
          <a:prstGeom prst="roundRect">
            <a:avLst>
              <a:gd name="adj" fmla="val 2290"/>
            </a:avLst>
          </a:prstGeom>
          <a:solidFill>
            <a:srgbClr val="17111A"/>
          </a:solidFill>
          <a:ln w="12700">
            <a:solidFill>
              <a:srgbClr val="17111A"/>
            </a:solidFill>
            <a:prstDash val="solid"/>
          </a:ln>
          <a:effectLst>
            <a:outerShdw sx="100000" sy="100000" kx="0" ky="0" algn="bl" rotWithShape="0" blurRad="127000" dist="25400" dir="5400000">
              <a:srgbClr val="000000">
                <a:alpha val="35000"/>
              </a:srgbClr>
            </a:outerShdw>
          </a:effectLst>
        </p:spPr>
      </p:sp>
      <p:sp>
        <p:nvSpPr>
          <p:cNvPr id="13" name="Shape 11"/>
          <p:cNvSpPr/>
          <p:nvPr/>
        </p:nvSpPr>
        <p:spPr>
          <a:xfrm>
            <a:off x="3630168" y="2505456"/>
            <a:ext cx="329184" cy="329184"/>
          </a:xfrm>
          <a:prstGeom prst="ellipse">
            <a:avLst/>
          </a:prstGeom>
          <a:solidFill>
            <a:srgbClr val="C9A227"/>
          </a:solidFill>
          <a:ln w="12700">
            <a:solidFill>
              <a:srgbClr val="C9A227"/>
            </a:solidFill>
            <a:prstDash val="solid"/>
          </a:ln>
        </p:spPr>
      </p:sp>
      <p:sp>
        <p:nvSpPr>
          <p:cNvPr id="14" name="Text 12"/>
          <p:cNvSpPr txBox="1"/>
          <p:nvPr/>
        </p:nvSpPr>
        <p:spPr>
          <a:xfrm>
            <a:off x="3630168" y="2505456"/>
            <a:ext cx="329184" cy="329184"/>
          </a:xfrm>
          <a:prstGeom prst="rect">
            <a:avLst/>
          </a:prstGeom>
          <a:noFill/>
          <a:ln/>
        </p:spPr>
        <p:txBody>
          <a:bodyPr wrap="square" lIns="0" tIns="0" rIns="0" bIns="0" rtlCol="0" anchor="ctr"/>
          <a:lstStyle/>
          <a:p>
            <a:pPr algn="ctr" indent="0" marL="0">
              <a:buNone/>
            </a:pPr>
            <a:r>
              <a:rPr lang="en-US" sz="1300" b="1" dirty="0">
                <a:solidFill>
                  <a:srgbClr val="000000"/>
                </a:solidFill>
                <a:latin typeface="Arial" pitchFamily="34" charset="0"/>
                <a:ea typeface="Arial" pitchFamily="34" charset="-122"/>
                <a:cs typeface="Arial" pitchFamily="34" charset="-120"/>
              </a:rPr>
              <a:t>2</a:t>
            </a:r>
            <a:endParaRPr lang="en-US" sz="1300" dirty="0"/>
          </a:p>
        </p:txBody>
      </p:sp>
      <p:sp>
        <p:nvSpPr>
          <p:cNvPr id="15" name="Text 13"/>
          <p:cNvSpPr txBox="1"/>
          <p:nvPr/>
        </p:nvSpPr>
        <p:spPr>
          <a:xfrm>
            <a:off x="3630168" y="2926080"/>
            <a:ext cx="2093976" cy="548640"/>
          </a:xfrm>
          <a:prstGeom prst="rect">
            <a:avLst/>
          </a:prstGeom>
          <a:noFill/>
          <a:ln/>
        </p:spPr>
        <p:txBody>
          <a:bodyPr wrap="square" lIns="0" tIns="0" rIns="0" bIns="0" rtlCol="0" anchor="ctr"/>
          <a:lstStyle/>
          <a:p>
            <a:pPr indent="0" marL="0">
              <a:lnSpc>
                <a:spcPts val="1900"/>
              </a:lnSpc>
              <a:buNone/>
            </a:pPr>
            <a:r>
              <a:rPr lang="en-US" sz="1350" b="1" dirty="0">
                <a:solidFill>
                  <a:srgbClr val="E8CE78"/>
                </a:solidFill>
                <a:latin typeface="Meiryo" pitchFamily="34" charset="0"/>
                <a:ea typeface="Meiryo" pitchFamily="34" charset="-122"/>
                <a:cs typeface="Meiryo" pitchFamily="34" charset="-120"/>
              </a:rPr>
              <a:t>だから去年、WineBank CLUBをつくった</a:t>
            </a:r>
            <a:endParaRPr lang="en-US" sz="1350" dirty="0"/>
          </a:p>
        </p:txBody>
      </p:sp>
      <p:sp>
        <p:nvSpPr>
          <p:cNvPr id="16" name="Text 14"/>
          <p:cNvSpPr txBox="1"/>
          <p:nvPr/>
        </p:nvSpPr>
        <p:spPr>
          <a:xfrm>
            <a:off x="3630168" y="3547872"/>
            <a:ext cx="2093976" cy="1060704"/>
          </a:xfrm>
          <a:prstGeom prst="rect">
            <a:avLst/>
          </a:prstGeom>
          <a:noFill/>
          <a:ln/>
        </p:spPr>
        <p:txBody>
          <a:bodyPr wrap="square" lIns="0" tIns="0" rIns="0" bIns="0" rtlCol="0" anchor="ctr"/>
          <a:lstStyle/>
          <a:p>
            <a:pPr indent="0" marL="0">
              <a:lnSpc>
                <a:spcPts val="1600"/>
              </a:lnSpc>
              <a:buNone/>
            </a:pPr>
            <a:r>
              <a:rPr lang="en-US" sz="1050" dirty="0">
                <a:solidFill>
                  <a:srgbClr val="A2908C"/>
                </a:solidFill>
                <a:latin typeface="Meiryo" pitchFamily="34" charset="0"/>
                <a:ea typeface="Meiryo" pitchFamily="34" charset="-122"/>
                <a:cs typeface="Meiryo" pitchFamily="34" charset="-120"/>
              </a:rPr>
              <a:t>そこで会員の皆さまから聞いた声が、すべての出発点でした。「もっと、ワインを通じて人と繋がりたい」。この一言です。</a:t>
            </a:r>
            <a:endParaRPr lang="en-US" sz="1050" dirty="0"/>
          </a:p>
        </p:txBody>
      </p:sp>
      <p:sp>
        <p:nvSpPr>
          <p:cNvPr id="17" name="Shape 15"/>
          <p:cNvSpPr/>
          <p:nvPr/>
        </p:nvSpPr>
        <p:spPr>
          <a:xfrm>
            <a:off x="6181344" y="2286000"/>
            <a:ext cx="2606040" cy="2395728"/>
          </a:xfrm>
          <a:prstGeom prst="roundRect">
            <a:avLst>
              <a:gd name="adj" fmla="val 2290"/>
            </a:avLst>
          </a:prstGeom>
          <a:solidFill>
            <a:srgbClr val="17111A"/>
          </a:solidFill>
          <a:ln w="12700">
            <a:solidFill>
              <a:srgbClr val="17111A"/>
            </a:solidFill>
            <a:prstDash val="solid"/>
          </a:ln>
          <a:effectLst>
            <a:outerShdw sx="100000" sy="100000" kx="0" ky="0" algn="bl" rotWithShape="0" blurRad="127000" dist="25400" dir="5400000">
              <a:srgbClr val="000000">
                <a:alpha val="35000"/>
              </a:srgbClr>
            </a:outerShdw>
          </a:effectLst>
        </p:spPr>
      </p:sp>
      <p:sp>
        <p:nvSpPr>
          <p:cNvPr id="18" name="Shape 16"/>
          <p:cNvSpPr/>
          <p:nvPr/>
        </p:nvSpPr>
        <p:spPr>
          <a:xfrm>
            <a:off x="6437376" y="2505456"/>
            <a:ext cx="329184" cy="329184"/>
          </a:xfrm>
          <a:prstGeom prst="ellipse">
            <a:avLst/>
          </a:prstGeom>
          <a:solidFill>
            <a:srgbClr val="C9A227"/>
          </a:solidFill>
          <a:ln w="12700">
            <a:solidFill>
              <a:srgbClr val="C9A227"/>
            </a:solidFill>
            <a:prstDash val="solid"/>
          </a:ln>
        </p:spPr>
      </p:sp>
      <p:sp>
        <p:nvSpPr>
          <p:cNvPr id="19" name="Text 17"/>
          <p:cNvSpPr txBox="1"/>
          <p:nvPr/>
        </p:nvSpPr>
        <p:spPr>
          <a:xfrm>
            <a:off x="6437376" y="2505456"/>
            <a:ext cx="329184" cy="329184"/>
          </a:xfrm>
          <a:prstGeom prst="rect">
            <a:avLst/>
          </a:prstGeom>
          <a:noFill/>
          <a:ln/>
        </p:spPr>
        <p:txBody>
          <a:bodyPr wrap="square" lIns="0" tIns="0" rIns="0" bIns="0" rtlCol="0" anchor="ctr"/>
          <a:lstStyle/>
          <a:p>
            <a:pPr algn="ctr" indent="0" marL="0">
              <a:buNone/>
            </a:pPr>
            <a:r>
              <a:rPr lang="en-US" sz="1300" b="1" dirty="0">
                <a:solidFill>
                  <a:srgbClr val="000000"/>
                </a:solidFill>
                <a:latin typeface="Arial" pitchFamily="34" charset="0"/>
                <a:ea typeface="Arial" pitchFamily="34" charset="-122"/>
                <a:cs typeface="Arial" pitchFamily="34" charset="-120"/>
              </a:rPr>
              <a:t>3</a:t>
            </a:r>
            <a:endParaRPr lang="en-US" sz="1300" dirty="0"/>
          </a:p>
        </p:txBody>
      </p:sp>
      <p:sp>
        <p:nvSpPr>
          <p:cNvPr id="20" name="Text 18"/>
          <p:cNvSpPr txBox="1"/>
          <p:nvPr/>
        </p:nvSpPr>
        <p:spPr>
          <a:xfrm>
            <a:off x="6437376" y="2926080"/>
            <a:ext cx="2093976" cy="548640"/>
          </a:xfrm>
          <a:prstGeom prst="rect">
            <a:avLst/>
          </a:prstGeom>
          <a:noFill/>
          <a:ln/>
        </p:spPr>
        <p:txBody>
          <a:bodyPr wrap="square" lIns="0" tIns="0" rIns="0" bIns="0" rtlCol="0" anchor="ctr"/>
          <a:lstStyle/>
          <a:p>
            <a:pPr indent="0" marL="0">
              <a:lnSpc>
                <a:spcPts val="1900"/>
              </a:lnSpc>
              <a:buNone/>
            </a:pPr>
            <a:r>
              <a:rPr lang="en-US" sz="1350" b="1" dirty="0">
                <a:solidFill>
                  <a:srgbClr val="E8CE78"/>
                </a:solidFill>
                <a:latin typeface="Meiryo" pitchFamily="34" charset="0"/>
                <a:ea typeface="Meiryo" pitchFamily="34" charset="-122"/>
                <a:cs typeface="Meiryo" pitchFamily="34" charset="-120"/>
              </a:rPr>
              <a:t>だから、先に渡すことにした</a:t>
            </a:r>
            <a:endParaRPr lang="en-US" sz="1350" dirty="0"/>
          </a:p>
        </p:txBody>
      </p:sp>
      <p:sp>
        <p:nvSpPr>
          <p:cNvPr id="21" name="Text 19"/>
          <p:cNvSpPr txBox="1"/>
          <p:nvPr/>
        </p:nvSpPr>
        <p:spPr>
          <a:xfrm>
            <a:off x="6437376" y="3547872"/>
            <a:ext cx="2093976" cy="1060704"/>
          </a:xfrm>
          <a:prstGeom prst="rect">
            <a:avLst/>
          </a:prstGeom>
          <a:noFill/>
          <a:ln/>
        </p:spPr>
        <p:txBody>
          <a:bodyPr wrap="square" lIns="0" tIns="0" rIns="0" bIns="0" rtlCol="0" anchor="ctr"/>
          <a:lstStyle/>
          <a:p>
            <a:pPr indent="0" marL="0">
              <a:lnSpc>
                <a:spcPts val="1600"/>
              </a:lnSpc>
              <a:buNone/>
            </a:pPr>
            <a:r>
              <a:rPr lang="en-US" sz="1050" dirty="0">
                <a:solidFill>
                  <a:srgbClr val="A2908C"/>
                </a:solidFill>
                <a:latin typeface="Meiryo" pitchFamily="34" charset="0"/>
                <a:ea typeface="Meiryo" pitchFamily="34" charset="-122"/>
                <a:cs typeface="Meiryo" pitchFamily="34" charset="-120"/>
              </a:rPr>
              <a:t>価値は、体験しないと分かりません。だから一定数ご購入いただいた方に、まずマイルをお渡しします。使って、集まって、また誰かを連れてきてもらう。</a:t>
            </a:r>
            <a:endParaRPr lang="en-US" sz="1050" dirty="0"/>
          </a:p>
        </p:txBody>
      </p:sp>
      <p:sp>
        <p:nvSpPr>
          <p:cNvPr id="22" name="Shape 20"/>
          <p:cNvSpPr/>
          <p:nvPr/>
        </p:nvSpPr>
        <p:spPr>
          <a:xfrm>
            <a:off x="8988552" y="2286000"/>
            <a:ext cx="2606040" cy="2395728"/>
          </a:xfrm>
          <a:prstGeom prst="roundRect">
            <a:avLst>
              <a:gd name="adj" fmla="val 2290"/>
            </a:avLst>
          </a:prstGeom>
          <a:solidFill>
            <a:srgbClr val="261A24"/>
          </a:solidFill>
          <a:ln w="12700">
            <a:solidFill>
              <a:srgbClr val="261A24"/>
            </a:solidFill>
            <a:prstDash val="solid"/>
          </a:ln>
          <a:effectLst>
            <a:outerShdw sx="100000" sy="100000" kx="0" ky="0" algn="bl" rotWithShape="0" blurRad="127000" dist="25400" dir="5400000">
              <a:srgbClr val="000000">
                <a:alpha val="35000"/>
              </a:srgbClr>
            </a:outerShdw>
          </a:effectLst>
        </p:spPr>
      </p:sp>
      <p:sp>
        <p:nvSpPr>
          <p:cNvPr id="23" name="Shape 21"/>
          <p:cNvSpPr/>
          <p:nvPr/>
        </p:nvSpPr>
        <p:spPr>
          <a:xfrm>
            <a:off x="9244584" y="2505456"/>
            <a:ext cx="329184" cy="329184"/>
          </a:xfrm>
          <a:prstGeom prst="ellipse">
            <a:avLst/>
          </a:prstGeom>
          <a:solidFill>
            <a:srgbClr val="C9A227"/>
          </a:solidFill>
          <a:ln w="12700">
            <a:solidFill>
              <a:srgbClr val="C9A227"/>
            </a:solidFill>
            <a:prstDash val="solid"/>
          </a:ln>
        </p:spPr>
      </p:sp>
      <p:sp>
        <p:nvSpPr>
          <p:cNvPr id="24" name="Text 22"/>
          <p:cNvSpPr txBox="1"/>
          <p:nvPr/>
        </p:nvSpPr>
        <p:spPr>
          <a:xfrm>
            <a:off x="9244584" y="2505456"/>
            <a:ext cx="329184" cy="329184"/>
          </a:xfrm>
          <a:prstGeom prst="rect">
            <a:avLst/>
          </a:prstGeom>
          <a:noFill/>
          <a:ln/>
        </p:spPr>
        <p:txBody>
          <a:bodyPr wrap="square" lIns="0" tIns="0" rIns="0" bIns="0" rtlCol="0" anchor="ctr"/>
          <a:lstStyle/>
          <a:p>
            <a:pPr algn="ctr" indent="0" marL="0">
              <a:buNone/>
            </a:pPr>
            <a:r>
              <a:rPr lang="en-US" sz="1300" b="1" dirty="0">
                <a:solidFill>
                  <a:srgbClr val="000000"/>
                </a:solidFill>
                <a:latin typeface="Arial" pitchFamily="34" charset="0"/>
                <a:ea typeface="Arial" pitchFamily="34" charset="-122"/>
                <a:cs typeface="Arial" pitchFamily="34" charset="-120"/>
              </a:rPr>
              <a:t>4</a:t>
            </a:r>
            <a:endParaRPr lang="en-US" sz="1300" dirty="0"/>
          </a:p>
        </p:txBody>
      </p:sp>
      <p:sp>
        <p:nvSpPr>
          <p:cNvPr id="25" name="Text 23"/>
          <p:cNvSpPr txBox="1"/>
          <p:nvPr/>
        </p:nvSpPr>
        <p:spPr>
          <a:xfrm>
            <a:off x="9244584" y="2926080"/>
            <a:ext cx="2093976" cy="548640"/>
          </a:xfrm>
          <a:prstGeom prst="rect">
            <a:avLst/>
          </a:prstGeom>
          <a:noFill/>
          <a:ln/>
        </p:spPr>
        <p:txBody>
          <a:bodyPr wrap="square" lIns="0" tIns="0" rIns="0" bIns="0" rtlCol="0" anchor="ctr"/>
          <a:lstStyle/>
          <a:p>
            <a:pPr indent="0" marL="0">
              <a:lnSpc>
                <a:spcPts val="1900"/>
              </a:lnSpc>
              <a:buNone/>
            </a:pPr>
            <a:r>
              <a:rPr lang="en-US" sz="1350" b="1" dirty="0">
                <a:solidFill>
                  <a:srgbClr val="E8CE78"/>
                </a:solidFill>
                <a:latin typeface="Meiryo" pitchFamily="34" charset="0"/>
                <a:ea typeface="Meiryo" pitchFamily="34" charset="-122"/>
                <a:cs typeface="Meiryo" pitchFamily="34" charset="-120"/>
              </a:rPr>
              <a:t>原資は、ワインの未来です</a:t>
            </a:r>
            <a:endParaRPr lang="en-US" sz="1350" dirty="0"/>
          </a:p>
        </p:txBody>
      </p:sp>
      <p:sp>
        <p:nvSpPr>
          <p:cNvPr id="26" name="Text 24"/>
          <p:cNvSpPr txBox="1"/>
          <p:nvPr/>
        </p:nvSpPr>
        <p:spPr>
          <a:xfrm>
            <a:off x="9244584" y="3547872"/>
            <a:ext cx="2093976" cy="1060704"/>
          </a:xfrm>
          <a:prstGeom prst="rect">
            <a:avLst/>
          </a:prstGeom>
          <a:noFill/>
          <a:ln/>
        </p:spPr>
        <p:txBody>
          <a:bodyPr wrap="square" lIns="0" tIns="0" rIns="0" bIns="0" rtlCol="0" anchor="ctr"/>
          <a:lstStyle/>
          <a:p>
            <a:pPr indent="0" marL="0">
              <a:lnSpc>
                <a:spcPts val="1600"/>
              </a:lnSpc>
              <a:buNone/>
            </a:pPr>
            <a:r>
              <a:rPr lang="en-US" sz="1050" dirty="0">
                <a:solidFill>
                  <a:srgbClr val="A2908C"/>
                </a:solidFill>
                <a:latin typeface="Meiryo" pitchFamily="34" charset="0"/>
                <a:ea typeface="Meiryo" pitchFamily="34" charset="-122"/>
                <a:cs typeface="Meiryo" pitchFamily="34" charset="-120"/>
              </a:rPr>
              <a:t>ワインは値上がりする。私たちはそう信じています。その未来を先読みして、私たちもお客様と一緒にリスクを取り、先にお渡しする。</a:t>
            </a:r>
            <a:endParaRPr lang="en-US" sz="1050" dirty="0"/>
          </a:p>
        </p:txBody>
      </p:sp>
      <p:sp>
        <p:nvSpPr>
          <p:cNvPr id="27" name="Shape 25"/>
          <p:cNvSpPr/>
          <p:nvPr/>
        </p:nvSpPr>
        <p:spPr>
          <a:xfrm>
            <a:off x="566928" y="4882896"/>
            <a:ext cx="11027664" cy="1170432"/>
          </a:xfrm>
          <a:prstGeom prst="roundRect">
            <a:avLst>
              <a:gd name="adj" fmla="val 4688"/>
            </a:avLst>
          </a:prstGeom>
          <a:solidFill>
            <a:srgbClr val="7B1E3A"/>
          </a:solidFill>
          <a:ln w="12700">
            <a:solidFill>
              <a:srgbClr val="7B1E3A"/>
            </a:solidFill>
            <a:prstDash val="solid"/>
          </a:ln>
          <a:effectLst>
            <a:outerShdw sx="100000" sy="100000" kx="0" ky="0" algn="bl" rotWithShape="0" blurRad="127000" dist="25400" dir="5400000">
              <a:srgbClr val="000000">
                <a:alpha val="35000"/>
              </a:srgbClr>
            </a:outerShdw>
          </a:effectLst>
        </p:spPr>
      </p:sp>
      <p:sp>
        <p:nvSpPr>
          <p:cNvPr id="28" name="Text 26"/>
          <p:cNvSpPr txBox="1"/>
          <p:nvPr/>
        </p:nvSpPr>
        <p:spPr>
          <a:xfrm>
            <a:off x="978408" y="5084064"/>
            <a:ext cx="10204704" cy="402336"/>
          </a:xfrm>
          <a:prstGeom prst="rect">
            <a:avLst/>
          </a:prstGeom>
          <a:noFill/>
          <a:ln/>
        </p:spPr>
        <p:txBody>
          <a:bodyPr wrap="square" lIns="0" tIns="0" rIns="0" bIns="0" rtlCol="0" anchor="ctr"/>
          <a:lstStyle/>
          <a:p>
            <a:pPr indent="0" marL="0">
              <a:buNone/>
            </a:pPr>
            <a:r>
              <a:rPr lang="en-US" sz="2100" b="1" dirty="0">
                <a:solidFill>
                  <a:srgbClr val="E8CE78"/>
                </a:solidFill>
                <a:latin typeface="Meiryo" pitchFamily="34" charset="0"/>
                <a:ea typeface="Meiryo" pitchFamily="34" charset="-122"/>
                <a:cs typeface="Meiryo" pitchFamily="34" charset="-120"/>
              </a:rPr>
              <a:t>損をしているのではありません。先に出して、一緒に賭けているだけです。</a:t>
            </a:r>
            <a:endParaRPr lang="en-US" sz="2100" dirty="0"/>
          </a:p>
        </p:txBody>
      </p:sp>
      <p:sp>
        <p:nvSpPr>
          <p:cNvPr id="29" name="Text 27"/>
          <p:cNvSpPr txBox="1"/>
          <p:nvPr/>
        </p:nvSpPr>
        <p:spPr>
          <a:xfrm>
            <a:off x="978408" y="5541264"/>
            <a:ext cx="10204704" cy="384048"/>
          </a:xfrm>
          <a:prstGeom prst="rect">
            <a:avLst/>
          </a:prstGeom>
          <a:noFill/>
          <a:ln/>
        </p:spPr>
        <p:txBody>
          <a:bodyPr wrap="square" lIns="0" tIns="0" rIns="0" bIns="0" rtlCol="0" anchor="ctr"/>
          <a:lstStyle/>
          <a:p>
            <a:pPr indent="0" marL="0">
              <a:buNone/>
            </a:pPr>
            <a:r>
              <a:rPr lang="en-US" sz="1300" dirty="0">
                <a:solidFill>
                  <a:srgbClr val="F2EDE6"/>
                </a:solidFill>
                <a:latin typeface="Meiryo" pitchFamily="34" charset="0"/>
                <a:ea typeface="Meiryo" pitchFamily="34" charset="-122"/>
                <a:cs typeface="Meiryo" pitchFamily="34" charset="-120"/>
              </a:rPr>
              <a:t>だから管理費の一部と、将来の利益の一部を——お客様の取り分を優先したうえで——分けていただく。増えたら、分け合う。それだけのことです。</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00000"/>
        </a:solidFill>
      </p:bgPr>
    </p:bg>
    <p:spTree>
      <p:nvGrpSpPr>
        <p:cNvPr id="1" name=""/>
        <p:cNvGrpSpPr/>
        <p:nvPr/>
      </p:nvGrpSpPr>
      <p:grpSpPr>
        <a:xfrm>
          <a:off x="0" y="0"/>
          <a:ext cx="0" cy="0"/>
          <a:chOff x="0" y="0"/>
          <a:chExt cx="0" cy="0"/>
        </a:xfrm>
      </p:grpSpPr>
      <p:sp>
        <p:nvSpPr>
          <p:cNvPr id="2" name="Text 0"/>
          <p:cNvSpPr txBox="1"/>
          <p:nvPr/>
        </p:nvSpPr>
        <p:spPr>
          <a:xfrm>
            <a:off x="566928" y="310896"/>
            <a:ext cx="11027664" cy="237744"/>
          </a:xfrm>
          <a:prstGeom prst="rect">
            <a:avLst/>
          </a:prstGeom>
          <a:noFill/>
          <a:ln/>
        </p:spPr>
        <p:txBody>
          <a:bodyPr wrap="square" lIns="0" tIns="0" rIns="0" bIns="0" rtlCol="0" anchor="ctr"/>
          <a:lstStyle/>
          <a:p>
            <a:pPr indent="0" marL="0">
              <a:buNone/>
            </a:pPr>
            <a:r>
              <a:rPr lang="en-US" sz="1050" b="1" spc="300" kern="0" dirty="0">
                <a:solidFill>
                  <a:srgbClr val="C9A227"/>
                </a:solidFill>
                <a:latin typeface="Arial" pitchFamily="34" charset="0"/>
                <a:ea typeface="Arial" pitchFamily="34" charset="-122"/>
                <a:cs typeface="Arial" pitchFamily="34" charset="-120"/>
              </a:rPr>
              <a:t>BUSINESS CASE</a:t>
            </a:r>
            <a:endParaRPr lang="en-US" sz="1050" dirty="0"/>
          </a:p>
        </p:txBody>
      </p:sp>
      <p:sp>
        <p:nvSpPr>
          <p:cNvPr id="3" name="Text 1"/>
          <p:cNvSpPr txBox="1"/>
          <p:nvPr/>
        </p:nvSpPr>
        <p:spPr>
          <a:xfrm>
            <a:off x="566928" y="566928"/>
            <a:ext cx="11027664" cy="548640"/>
          </a:xfrm>
          <a:prstGeom prst="rect">
            <a:avLst/>
          </a:prstGeom>
          <a:noFill/>
          <a:ln/>
        </p:spPr>
        <p:txBody>
          <a:bodyPr wrap="square" lIns="0" tIns="0" rIns="0" bIns="0" rtlCol="0" anchor="ctr"/>
          <a:lstStyle/>
          <a:p>
            <a:pPr indent="0" marL="0">
              <a:buNone/>
            </a:pPr>
            <a:r>
              <a:rPr lang="en-US" sz="2900" b="1" dirty="0">
                <a:solidFill>
                  <a:srgbClr val="F2EDE6"/>
                </a:solidFill>
                <a:latin typeface="Meiryo" pitchFamily="34" charset="0"/>
                <a:ea typeface="Meiryo" pitchFamily="34" charset="-122"/>
                <a:cs typeface="Meiryo" pitchFamily="34" charset="-120"/>
              </a:rPr>
              <a:t>数字で見ると：同じキャッシュで、ワインは2.5倍</a:t>
            </a:r>
            <a:endParaRPr lang="en-US" sz="2900" dirty="0"/>
          </a:p>
        </p:txBody>
      </p:sp>
      <p:sp>
        <p:nvSpPr>
          <p:cNvPr id="4" name="Text 2"/>
          <p:cNvSpPr txBox="1"/>
          <p:nvPr/>
        </p:nvSpPr>
        <p:spPr>
          <a:xfrm>
            <a:off x="566928" y="1152144"/>
            <a:ext cx="11027664" cy="310896"/>
          </a:xfrm>
          <a:prstGeom prst="rect">
            <a:avLst/>
          </a:prstGeom>
          <a:noFill/>
          <a:ln/>
        </p:spPr>
        <p:txBody>
          <a:bodyPr wrap="square" lIns="0" tIns="0" rIns="0" bIns="0" rtlCol="0" anchor="ctr"/>
          <a:lstStyle/>
          <a:p>
            <a:pPr indent="0" marL="0">
              <a:buNone/>
            </a:pPr>
            <a:r>
              <a:rPr lang="en-US" sz="1300" dirty="0">
                <a:solidFill>
                  <a:srgbClr val="A2908C"/>
                </a:solidFill>
                <a:latin typeface="Meiryo" pitchFamily="34" charset="0"/>
                <a:ea typeface="Meiryo" pitchFamily="34" charset="-122"/>
                <a:cs typeface="Meiryo" pitchFamily="34" charset="-120"/>
              </a:rPr>
              <a:t>WineBank単体ベース。ワイン1億円／値上がり6%（単利）・金利3%・保管料210円/本・粗利30%</a:t>
            </a:r>
            <a:endParaRPr lang="en-US" sz="1300" dirty="0"/>
          </a:p>
        </p:txBody>
      </p:sp>
      <p:sp>
        <p:nvSpPr>
          <p:cNvPr id="5" name="Text 3"/>
          <p:cNvSpPr txBox="1"/>
          <p:nvPr/>
        </p:nvSpPr>
        <p:spPr>
          <a:xfrm>
            <a:off x="566928" y="6437376"/>
            <a:ext cx="4572000" cy="219456"/>
          </a:xfrm>
          <a:prstGeom prst="rect">
            <a:avLst/>
          </a:prstGeom>
          <a:noFill/>
          <a:ln/>
        </p:spPr>
        <p:txBody>
          <a:bodyPr wrap="square" lIns="0" tIns="0" rIns="0" bIns="0" rtlCol="0" anchor="ctr"/>
          <a:lstStyle/>
          <a:p>
            <a:pPr indent="0" marL="0">
              <a:buNone/>
            </a:pPr>
            <a:r>
              <a:rPr lang="en-US" sz="850" dirty="0">
                <a:solidFill>
                  <a:srgbClr val="6B5A5F"/>
                </a:solidFill>
                <a:latin typeface="Arial" pitchFamily="34" charset="0"/>
                <a:ea typeface="Arial" pitchFamily="34" charset="-122"/>
                <a:cs typeface="Arial" pitchFamily="34" charset="-120"/>
              </a:rPr>
              <a:t>WineBank CONFIDENTIAL</a:t>
            </a:r>
            <a:endParaRPr lang="en-US" sz="850" dirty="0"/>
          </a:p>
        </p:txBody>
      </p:sp>
      <p:sp>
        <p:nvSpPr>
          <p:cNvPr id="6" name="Text 4"/>
          <p:cNvSpPr txBox="1"/>
          <p:nvPr/>
        </p:nvSpPr>
        <p:spPr>
          <a:xfrm>
            <a:off x="566928" y="1499616"/>
            <a:ext cx="11027664" cy="256032"/>
          </a:xfrm>
          <a:prstGeom prst="rect">
            <a:avLst/>
          </a:prstGeom>
          <a:noFill/>
          <a:ln/>
        </p:spPr>
        <p:txBody>
          <a:bodyPr wrap="square" lIns="0" tIns="0" rIns="0" bIns="0" rtlCol="0" anchor="ctr"/>
          <a:lstStyle/>
          <a:p>
            <a:pPr indent="0" marL="0">
              <a:buNone/>
            </a:pPr>
            <a:r>
              <a:rPr lang="en-US" sz="1050" dirty="0">
                <a:solidFill>
                  <a:srgbClr val="C9A227"/>
                </a:solidFill>
                <a:latin typeface="Meiryo" pitchFamily="34" charset="0"/>
                <a:ea typeface="Meiryo" pitchFamily="34" charset="-122"/>
                <a:cs typeface="Meiryo" pitchFamily="34" charset="-120"/>
              </a:rPr>
              <a:t>販売ミックス：100万×55名 ＋ 500万×5名 ＋ 1,000万×2名 ＝ 1億円　／　管理料 2.75%（全ランク）　還元率 4/5/6%　マイル発行 465万円（原価率51.1%）　※単位：万円</a:t>
            </a:r>
            <a:endParaRPr lang="en-US" sz="105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66928" y="1810512"/>
          <a:ext cx="11027664" cy="914400"/>
        </p:xfrm>
        <a:graphic>
          <a:graphicData uri="http://schemas.openxmlformats.org/drawingml/2006/table">
            <a:tbl>
              <a:tblPr/>
              <a:tblGrid>
                <a:gridCol w="3017520"/>
                <a:gridCol w="2468880"/>
                <a:gridCol w="3200400"/>
                <a:gridCol w="2340864"/>
              </a:tblGrid>
              <a:tr h="384048">
                <a:tc>
                  <a:txBody>
                    <a:bodyPr/>
                    <a:lstStyle/>
                    <a:p>
                      <a:pPr algn="ctr" indent="0" marL="0">
                        <a:buNone/>
                      </a:pP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7B1E3A"/>
                    </a:solidFill>
                  </a:tcPr>
                </a:tc>
                <a:tc>
                  <a:txBody>
                    <a:bodyPr/>
                    <a:lstStyle/>
                    <a:p>
                      <a:pPr algn="ctr" indent="0" marL="0">
                        <a:buNone/>
                      </a:pPr>
                      <a:r>
                        <a:rPr lang="en-US" sz="1100" b="1" dirty="0">
                          <a:solidFill>
                            <a:srgbClr val="F2EDE6"/>
                          </a:solidFill>
                          <a:latin typeface="Meiryo" pitchFamily="34" charset="0"/>
                          <a:ea typeface="Meiryo" pitchFamily="34" charset="-122"/>
                          <a:cs typeface="Meiryo" pitchFamily="34" charset="-120"/>
                        </a:rPr>
                        <a:t>① 1億を保有し続ける</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7B1E3A"/>
                    </a:solidFill>
                  </a:tcPr>
                </a:tc>
                <a:tc>
                  <a:txBody>
                    <a:bodyPr/>
                    <a:lstStyle/>
                    <a:p>
                      <a:pPr algn="ctr" indent="0" marL="0">
                        <a:buNone/>
                      </a:pPr>
                      <a:r>
                        <a:rPr lang="en-US" sz="1100" b="1" dirty="0">
                          <a:solidFill>
                            <a:srgbClr val="F2EDE6"/>
                          </a:solidFill>
                          <a:latin typeface="Meiryo" pitchFamily="34" charset="0"/>
                          <a:ea typeface="Meiryo" pitchFamily="34" charset="-122"/>
                          <a:cs typeface="Meiryo" pitchFamily="34" charset="-120"/>
                        </a:rPr>
                        <a:t>② 1億を販売＋1.2億を新規買付</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7B1E3A"/>
                    </a:solidFill>
                  </a:tcPr>
                </a:tc>
                <a:tc>
                  <a:txBody>
                    <a:bodyPr/>
                    <a:lstStyle/>
                    <a:p>
                      <a:pPr algn="ctr" indent="0" marL="0">
                        <a:buNone/>
                      </a:pPr>
                      <a:r>
                        <a:rPr lang="en-US" sz="1100" b="1" dirty="0">
                          <a:solidFill>
                            <a:srgbClr val="F2EDE6"/>
                          </a:solidFill>
                          <a:latin typeface="Meiryo" pitchFamily="34" charset="0"/>
                          <a:ea typeface="Meiryo" pitchFamily="34" charset="-122"/>
                          <a:cs typeface="Meiryo" pitchFamily="34" charset="-120"/>
                        </a:rPr>
                        <a:t>差</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7B1E3A"/>
                    </a:solidFill>
                  </a:tcPr>
                </a:tc>
              </a:tr>
              <a:tr h="384048">
                <a:tc>
                  <a:txBody>
                    <a:bodyPr/>
                    <a:lstStyle/>
                    <a:p>
                      <a:pPr algn="l" indent="0" marL="0">
                        <a:buNone/>
                      </a:pPr>
                      <a:r>
                        <a:rPr lang="en-US" sz="1100" b="1" dirty="0">
                          <a:solidFill>
                            <a:srgbClr val="F2EDE6"/>
                          </a:solidFill>
                          <a:latin typeface="Meiryo" pitchFamily="34" charset="0"/>
                          <a:ea typeface="Meiryo" pitchFamily="34" charset="-122"/>
                          <a:cs typeface="Meiryo" pitchFamily="34" charset="-120"/>
                        </a:rPr>
                        <a:t>PL（営業損益）</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61A24"/>
                    </a:solidFill>
                  </a:tcPr>
                </a:tc>
                <a:tc>
                  <a:txBody>
                    <a:bodyPr/>
                    <a:lstStyle/>
                    <a:p>
                      <a:pPr algn="ctr" indent="0" marL="0">
                        <a:buNone/>
                      </a:pPr>
                      <a:r>
                        <a:rPr lang="en-US" sz="1100" dirty="0">
                          <a:solidFill>
                            <a:srgbClr val="D96A6A"/>
                          </a:solidFill>
                          <a:latin typeface="Meiryo" pitchFamily="34" charset="0"/>
                          <a:ea typeface="Meiryo" pitchFamily="34" charset="-122"/>
                          <a:cs typeface="Meiryo" pitchFamily="34" charset="-120"/>
                        </a:rPr>
                        <a:t>▲405</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17111A"/>
                    </a:solidFill>
                  </a:tcPr>
                </a:tc>
                <a:tc>
                  <a:txBody>
                    <a:bodyPr/>
                    <a:lstStyle/>
                    <a:p>
                      <a:pPr algn="ctr" indent="0" marL="0">
                        <a:buNone/>
                      </a:pPr>
                      <a:r>
                        <a:rPr lang="en-US" sz="1100" b="1" dirty="0">
                          <a:solidFill>
                            <a:srgbClr val="7FD1AE"/>
                          </a:solidFill>
                          <a:latin typeface="Meiryo" pitchFamily="34" charset="0"/>
                          <a:ea typeface="Meiryo" pitchFamily="34" charset="-122"/>
                          <a:cs typeface="Meiryo" pitchFamily="34" charset="-120"/>
                        </a:rPr>
                        <a:t>+2,464</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17111A"/>
                    </a:solidFill>
                  </a:tcPr>
                </a:tc>
                <a:tc>
                  <a:txBody>
                    <a:bodyPr/>
                    <a:lstStyle/>
                    <a:p>
                      <a:pPr algn="ctr" indent="0" marL="0">
                        <a:buNone/>
                      </a:pPr>
                      <a:r>
                        <a:rPr lang="en-US" sz="1100" b="1" dirty="0">
                          <a:solidFill>
                            <a:srgbClr val="7FD1AE"/>
                          </a:solidFill>
                          <a:latin typeface="Meiryo" pitchFamily="34" charset="0"/>
                          <a:ea typeface="Meiryo" pitchFamily="34" charset="-122"/>
                          <a:cs typeface="Meiryo" pitchFamily="34" charset="-120"/>
                        </a:rPr>
                        <a:t>+2,869</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17111A"/>
                    </a:solidFill>
                  </a:tcPr>
                </a:tc>
              </a:tr>
              <a:tr h="384048">
                <a:tc>
                  <a:txBody>
                    <a:bodyPr/>
                    <a:lstStyle/>
                    <a:p>
                      <a:pPr algn="l" indent="0" marL="0">
                        <a:buNone/>
                      </a:pPr>
                      <a:r>
                        <a:rPr lang="en-US" sz="1100" b="1" dirty="0">
                          <a:solidFill>
                            <a:srgbClr val="F2EDE6"/>
                          </a:solidFill>
                          <a:latin typeface="Meiryo" pitchFamily="34" charset="0"/>
                          <a:ea typeface="Meiryo" pitchFamily="34" charset="-122"/>
                          <a:cs typeface="Meiryo" pitchFamily="34" charset="-120"/>
                        </a:rPr>
                        <a:t>新規買付前のCF</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61A24"/>
                    </a:solidFill>
                  </a:tcPr>
                </a:tc>
                <a:tc>
                  <a:txBody>
                    <a:bodyPr/>
                    <a:lstStyle/>
                    <a:p>
                      <a:pPr algn="ctr" indent="0" marL="0">
                        <a:buNone/>
                      </a:pPr>
                      <a:r>
                        <a:rPr lang="en-US" sz="1100" dirty="0">
                          <a:solidFill>
                            <a:srgbClr val="D96A6A"/>
                          </a:solidFill>
                          <a:latin typeface="Meiryo" pitchFamily="34" charset="0"/>
                          <a:ea typeface="Meiryo" pitchFamily="34" charset="-122"/>
                          <a:cs typeface="Meiryo" pitchFamily="34" charset="-120"/>
                        </a:rPr>
                        <a:t>▲405</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17111A"/>
                    </a:solidFill>
                  </a:tcPr>
                </a:tc>
                <a:tc>
                  <a:txBody>
                    <a:bodyPr/>
                    <a:lstStyle/>
                    <a:p>
                      <a:pPr algn="ctr" indent="0" marL="0">
                        <a:buNone/>
                      </a:pPr>
                      <a:r>
                        <a:rPr lang="en-US" sz="1100" b="1" dirty="0">
                          <a:solidFill>
                            <a:srgbClr val="7FD1AE"/>
                          </a:solidFill>
                          <a:latin typeface="Meiryo" pitchFamily="34" charset="0"/>
                          <a:ea typeface="Meiryo" pitchFamily="34" charset="-122"/>
                          <a:cs typeface="Meiryo" pitchFamily="34" charset="-120"/>
                        </a:rPr>
                        <a:t>+9,464</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17111A"/>
                    </a:solidFill>
                  </a:tcPr>
                </a:tc>
                <a:tc>
                  <a:txBody>
                    <a:bodyPr/>
                    <a:lstStyle/>
                    <a:p>
                      <a:pPr algn="ctr" indent="0" marL="0">
                        <a:buNone/>
                      </a:pPr>
                      <a:r>
                        <a:rPr lang="en-US" sz="1100" b="1" dirty="0">
                          <a:solidFill>
                            <a:srgbClr val="7FD1AE"/>
                          </a:solidFill>
                          <a:latin typeface="Meiryo" pitchFamily="34" charset="0"/>
                          <a:ea typeface="Meiryo" pitchFamily="34" charset="-122"/>
                          <a:cs typeface="Meiryo" pitchFamily="34" charset="-120"/>
                        </a:rPr>
                        <a:t>+9,869</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17111A"/>
                    </a:solidFill>
                  </a:tcPr>
                </a:tc>
              </a:tr>
              <a:tr h="384048">
                <a:tc>
                  <a:txBody>
                    <a:bodyPr/>
                    <a:lstStyle/>
                    <a:p>
                      <a:pPr algn="l" indent="0" marL="0">
                        <a:buNone/>
                      </a:pPr>
                      <a:r>
                        <a:rPr lang="en-US" sz="1100" b="1" dirty="0">
                          <a:solidFill>
                            <a:srgbClr val="F2EDE6"/>
                          </a:solidFill>
                          <a:latin typeface="Meiryo" pitchFamily="34" charset="0"/>
                          <a:ea typeface="Meiryo" pitchFamily="34" charset="-122"/>
                          <a:cs typeface="Meiryo" pitchFamily="34" charset="-120"/>
                        </a:rPr>
                        <a:t>純CF</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61A24"/>
                    </a:solidFill>
                  </a:tcPr>
                </a:tc>
                <a:tc>
                  <a:txBody>
                    <a:bodyPr/>
                    <a:lstStyle/>
                    <a:p>
                      <a:pPr algn="ctr" indent="0" marL="0">
                        <a:buNone/>
                      </a:pPr>
                      <a:r>
                        <a:rPr lang="en-US" sz="1100" dirty="0">
                          <a:solidFill>
                            <a:srgbClr val="F2EDE6"/>
                          </a:solidFill>
                          <a:latin typeface="Meiryo" pitchFamily="34" charset="0"/>
                          <a:ea typeface="Meiryo" pitchFamily="34" charset="-122"/>
                          <a:cs typeface="Meiryo" pitchFamily="34" charset="-120"/>
                        </a:rPr>
                        <a:t>▲405</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17111A"/>
                    </a:solidFill>
                  </a:tcPr>
                </a:tc>
                <a:tc>
                  <a:txBody>
                    <a:bodyPr/>
                    <a:lstStyle/>
                    <a:p>
                      <a:pPr algn="ctr" indent="0" marL="0">
                        <a:buNone/>
                      </a:pPr>
                      <a:r>
                        <a:rPr lang="en-US" sz="1100" dirty="0">
                          <a:solidFill>
                            <a:srgbClr val="F2EDE6"/>
                          </a:solidFill>
                          <a:latin typeface="Meiryo" pitchFamily="34" charset="0"/>
                          <a:ea typeface="Meiryo" pitchFamily="34" charset="-122"/>
                          <a:cs typeface="Meiryo" pitchFamily="34" charset="-120"/>
                        </a:rPr>
                        <a:t>▲536</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17111A"/>
                    </a:solidFill>
                  </a:tcPr>
                </a:tc>
                <a:tc>
                  <a:txBody>
                    <a:bodyPr/>
                    <a:lstStyle/>
                    <a:p>
                      <a:pPr algn="ctr" indent="0" marL="0">
                        <a:buNone/>
                      </a:pPr>
                      <a:r>
                        <a:rPr lang="en-US" sz="1100" b="1" dirty="0">
                          <a:solidFill>
                            <a:srgbClr val="E0A458"/>
                          </a:solidFill>
                          <a:latin typeface="Meiryo" pitchFamily="34" charset="0"/>
                          <a:ea typeface="Meiryo" pitchFamily="34" charset="-122"/>
                          <a:cs typeface="Meiryo" pitchFamily="34" charset="-120"/>
                        </a:rPr>
                        <a:t>▲131</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17111A"/>
                    </a:solidFill>
                  </a:tcPr>
                </a:tc>
              </a:tr>
              <a:tr h="384048">
                <a:tc>
                  <a:txBody>
                    <a:bodyPr/>
                    <a:lstStyle/>
                    <a:p>
                      <a:pPr algn="l" indent="0" marL="0">
                        <a:buNone/>
                      </a:pPr>
                      <a:r>
                        <a:rPr lang="en-US" sz="1100" b="1" dirty="0">
                          <a:solidFill>
                            <a:srgbClr val="F2EDE6"/>
                          </a:solidFill>
                          <a:latin typeface="Meiryo" pitchFamily="34" charset="0"/>
                          <a:ea typeface="Meiryo" pitchFamily="34" charset="-122"/>
                          <a:cs typeface="Meiryo" pitchFamily="34" charset="-120"/>
                        </a:rPr>
                        <a:t>ワイン在庫（簿価）</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61A24"/>
                    </a:solidFill>
                  </a:tcPr>
                </a:tc>
                <a:tc>
                  <a:txBody>
                    <a:bodyPr/>
                    <a:lstStyle/>
                    <a:p>
                      <a:pPr algn="ctr" indent="0" marL="0">
                        <a:buNone/>
                      </a:pPr>
                      <a:r>
                        <a:rPr lang="en-US" sz="1100" dirty="0">
                          <a:solidFill>
                            <a:srgbClr val="F2EDE6"/>
                          </a:solidFill>
                          <a:latin typeface="Meiryo" pitchFamily="34" charset="0"/>
                          <a:ea typeface="Meiryo" pitchFamily="34" charset="-122"/>
                          <a:cs typeface="Meiryo" pitchFamily="34" charset="-120"/>
                        </a:rPr>
                        <a:t>10,000</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17111A"/>
                    </a:solidFill>
                  </a:tcPr>
                </a:tc>
                <a:tc>
                  <a:txBody>
                    <a:bodyPr/>
                    <a:lstStyle/>
                    <a:p>
                      <a:pPr algn="ctr" indent="0" marL="0">
                        <a:buNone/>
                      </a:pPr>
                      <a:r>
                        <a:rPr lang="en-US" sz="1100" dirty="0">
                          <a:solidFill>
                            <a:srgbClr val="F2EDE6"/>
                          </a:solidFill>
                          <a:latin typeface="Meiryo" pitchFamily="34" charset="0"/>
                          <a:ea typeface="Meiryo" pitchFamily="34" charset="-122"/>
                          <a:cs typeface="Meiryo" pitchFamily="34" charset="-120"/>
                        </a:rPr>
                        <a:t>15,000</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17111A"/>
                    </a:solidFill>
                  </a:tcPr>
                </a:tc>
                <a:tc>
                  <a:txBody>
                    <a:bodyPr/>
                    <a:lstStyle/>
                    <a:p>
                      <a:pPr algn="ctr" indent="0" marL="0">
                        <a:buNone/>
                      </a:pPr>
                      <a:r>
                        <a:rPr lang="en-US" sz="1100" dirty="0">
                          <a:solidFill>
                            <a:srgbClr val="7FD1AE"/>
                          </a:solidFill>
                          <a:latin typeface="Meiryo" pitchFamily="34" charset="0"/>
                          <a:ea typeface="Meiryo" pitchFamily="34" charset="-122"/>
                          <a:cs typeface="Meiryo" pitchFamily="34" charset="-120"/>
                        </a:rPr>
                        <a:t>+5,000</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17111A"/>
                    </a:solidFill>
                  </a:tcPr>
                </a:tc>
              </a:tr>
              <a:tr h="384048">
                <a:tc>
                  <a:txBody>
                    <a:bodyPr/>
                    <a:lstStyle/>
                    <a:p>
                      <a:pPr algn="l" indent="0" marL="0">
                        <a:buNone/>
                      </a:pPr>
                      <a:r>
                        <a:rPr lang="en-US" sz="1100" b="1" dirty="0">
                          <a:solidFill>
                            <a:srgbClr val="F2EDE6"/>
                          </a:solidFill>
                          <a:latin typeface="Meiryo" pitchFamily="34" charset="0"/>
                          <a:ea typeface="Meiryo" pitchFamily="34" charset="-122"/>
                          <a:cs typeface="Meiryo" pitchFamily="34" charset="-120"/>
                        </a:rPr>
                        <a:t>預かり資産（会員所有）</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61A24"/>
                    </a:solidFill>
                  </a:tcPr>
                </a:tc>
                <a:tc>
                  <a:txBody>
                    <a:bodyPr/>
                    <a:lstStyle/>
                    <a:p>
                      <a:pPr algn="ctr" indent="0" marL="0">
                        <a:buNone/>
                      </a:pPr>
                      <a:r>
                        <a:rPr lang="en-US" sz="1100" dirty="0">
                          <a:solidFill>
                            <a:srgbClr val="F2EDE6"/>
                          </a:solidFill>
                          <a:latin typeface="Meiryo" pitchFamily="34" charset="0"/>
                          <a:ea typeface="Meiryo" pitchFamily="34" charset="-122"/>
                          <a:cs typeface="Meiryo" pitchFamily="34" charset="-120"/>
                        </a:rPr>
                        <a:t>0</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17111A"/>
                    </a:solidFill>
                  </a:tcPr>
                </a:tc>
                <a:tc>
                  <a:txBody>
                    <a:bodyPr/>
                    <a:lstStyle/>
                    <a:p>
                      <a:pPr algn="ctr" indent="0" marL="0">
                        <a:buNone/>
                      </a:pPr>
                      <a:r>
                        <a:rPr lang="en-US" sz="1100" b="1" dirty="0">
                          <a:solidFill>
                            <a:srgbClr val="C9A227"/>
                          </a:solidFill>
                          <a:latin typeface="Meiryo" pitchFamily="34" charset="0"/>
                          <a:ea typeface="Meiryo" pitchFamily="34" charset="-122"/>
                          <a:cs typeface="Meiryo" pitchFamily="34" charset="-120"/>
                        </a:rPr>
                        <a:t>10,000</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17111A"/>
                    </a:solidFill>
                  </a:tcPr>
                </a:tc>
                <a:tc>
                  <a:txBody>
                    <a:bodyPr/>
                    <a:lstStyle/>
                    <a:p>
                      <a:pPr algn="ctr" indent="0" marL="0">
                        <a:buNone/>
                      </a:pPr>
                      <a:r>
                        <a:rPr lang="en-US" sz="1100" b="1" dirty="0">
                          <a:solidFill>
                            <a:srgbClr val="7FD1AE"/>
                          </a:solidFill>
                          <a:latin typeface="Meiryo" pitchFamily="34" charset="0"/>
                          <a:ea typeface="Meiryo" pitchFamily="34" charset="-122"/>
                          <a:cs typeface="Meiryo" pitchFamily="34" charset="-120"/>
                        </a:rPr>
                        <a:t>+10,000</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17111A"/>
                    </a:solidFill>
                  </a:tcPr>
                </a:tc>
              </a:tr>
              <a:tr h="420624">
                <a:tc>
                  <a:txBody>
                    <a:bodyPr/>
                    <a:lstStyle/>
                    <a:p>
                      <a:pPr algn="l" indent="0" marL="0">
                        <a:buNone/>
                      </a:pPr>
                      <a:r>
                        <a:rPr lang="en-US" sz="1100" b="1" dirty="0">
                          <a:solidFill>
                            <a:srgbClr val="F2EDE6"/>
                          </a:solidFill>
                          <a:latin typeface="Meiryo" pitchFamily="34" charset="0"/>
                          <a:ea typeface="Meiryo" pitchFamily="34" charset="-122"/>
                          <a:cs typeface="Meiryo" pitchFamily="34" charset="-120"/>
                        </a:rPr>
                        <a:t>支配下のワイン総額</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7B1E3A"/>
                    </a:solidFill>
                  </a:tcPr>
                </a:tc>
                <a:tc>
                  <a:txBody>
                    <a:bodyPr/>
                    <a:lstStyle/>
                    <a:p>
                      <a:pPr algn="ctr" indent="0" marL="0">
                        <a:buNone/>
                      </a:pPr>
                      <a:r>
                        <a:rPr lang="en-US" sz="1100" dirty="0">
                          <a:solidFill>
                            <a:srgbClr val="F2EDE6"/>
                          </a:solidFill>
                          <a:latin typeface="Meiryo" pitchFamily="34" charset="0"/>
                          <a:ea typeface="Meiryo" pitchFamily="34" charset="-122"/>
                          <a:cs typeface="Meiryo" pitchFamily="34" charset="-120"/>
                        </a:rPr>
                        <a:t>10,000</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7B1E3A"/>
                    </a:solidFill>
                  </a:tcPr>
                </a:tc>
                <a:tc>
                  <a:txBody>
                    <a:bodyPr/>
                    <a:lstStyle/>
                    <a:p>
                      <a:pPr algn="ctr" indent="0" marL="0">
                        <a:buNone/>
                      </a:pPr>
                      <a:r>
                        <a:rPr lang="en-US" sz="1100" b="1" dirty="0">
                          <a:solidFill>
                            <a:srgbClr val="E8CE78"/>
                          </a:solidFill>
                          <a:latin typeface="Meiryo" pitchFamily="34" charset="0"/>
                          <a:ea typeface="Meiryo" pitchFamily="34" charset="-122"/>
                          <a:cs typeface="Meiryo" pitchFamily="34" charset="-120"/>
                        </a:rPr>
                        <a:t>25,000</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7B1E3A"/>
                    </a:solidFill>
                  </a:tcPr>
                </a:tc>
                <a:tc>
                  <a:txBody>
                    <a:bodyPr/>
                    <a:lstStyle/>
                    <a:p>
                      <a:pPr algn="ctr" indent="0" marL="0">
                        <a:buNone/>
                      </a:pPr>
                      <a:r>
                        <a:rPr lang="en-US" sz="1100" b="1" dirty="0">
                          <a:solidFill>
                            <a:srgbClr val="E8CE78"/>
                          </a:solidFill>
                          <a:latin typeface="Meiryo" pitchFamily="34" charset="0"/>
                          <a:ea typeface="Meiryo" pitchFamily="34" charset="-122"/>
                          <a:cs typeface="Meiryo" pitchFamily="34" charset="-120"/>
                        </a:rPr>
                        <a:t>2.50倍</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7B1E3A"/>
                    </a:solidFill>
                  </a:tcPr>
                </a:tc>
              </a:tr>
            </a:tbl>
          </a:graphicData>
        </a:graphic>
      </p:graphicFrame>
      <p:sp>
        <p:nvSpPr>
          <p:cNvPr id="8" name="Shape 5"/>
          <p:cNvSpPr/>
          <p:nvPr/>
        </p:nvSpPr>
        <p:spPr>
          <a:xfrm>
            <a:off x="566928" y="4700016"/>
            <a:ext cx="5394960" cy="1353312"/>
          </a:xfrm>
          <a:prstGeom prst="roundRect">
            <a:avLst>
              <a:gd name="adj" fmla="val 4054"/>
            </a:avLst>
          </a:prstGeom>
          <a:solidFill>
            <a:srgbClr val="7B1E3A"/>
          </a:solidFill>
          <a:ln w="12700">
            <a:solidFill>
              <a:srgbClr val="7B1E3A"/>
            </a:solidFill>
            <a:prstDash val="solid"/>
          </a:ln>
          <a:effectLst>
            <a:outerShdw sx="100000" sy="100000" kx="0" ky="0" algn="bl" rotWithShape="0" blurRad="127000" dist="25400" dir="5400000">
              <a:srgbClr val="000000">
                <a:alpha val="35000"/>
              </a:srgbClr>
            </a:outerShdw>
          </a:effectLst>
        </p:spPr>
      </p:sp>
      <p:sp>
        <p:nvSpPr>
          <p:cNvPr id="9" name="Text 6"/>
          <p:cNvSpPr txBox="1"/>
          <p:nvPr/>
        </p:nvSpPr>
        <p:spPr>
          <a:xfrm>
            <a:off x="932688" y="4846320"/>
            <a:ext cx="4663440" cy="292608"/>
          </a:xfrm>
          <a:prstGeom prst="rect">
            <a:avLst/>
          </a:prstGeom>
          <a:noFill/>
          <a:ln/>
        </p:spPr>
        <p:txBody>
          <a:bodyPr wrap="square" lIns="0" tIns="0" rIns="0" bIns="0" rtlCol="0" anchor="ctr"/>
          <a:lstStyle/>
          <a:p>
            <a:pPr indent="0" marL="0">
              <a:buNone/>
            </a:pPr>
            <a:r>
              <a:rPr lang="en-US" sz="1500" b="1" dirty="0">
                <a:solidFill>
                  <a:srgbClr val="E8CE78"/>
                </a:solidFill>
                <a:latin typeface="Meiryo" pitchFamily="34" charset="0"/>
                <a:ea typeface="Meiryo" pitchFamily="34" charset="-122"/>
                <a:cs typeface="Meiryo" pitchFamily="34" charset="-120"/>
              </a:rPr>
              <a:t>純CFはほぼ同じ。なのに、ワインは2.5倍。</a:t>
            </a:r>
            <a:endParaRPr lang="en-US" sz="1500" dirty="0"/>
          </a:p>
        </p:txBody>
      </p:sp>
      <p:sp>
        <p:nvSpPr>
          <p:cNvPr id="10" name="Text 7"/>
          <p:cNvSpPr txBox="1"/>
          <p:nvPr/>
        </p:nvSpPr>
        <p:spPr>
          <a:xfrm>
            <a:off x="932688" y="5175504"/>
            <a:ext cx="4663440" cy="786384"/>
          </a:xfrm>
          <a:prstGeom prst="rect">
            <a:avLst/>
          </a:prstGeom>
          <a:noFill/>
          <a:ln/>
        </p:spPr>
        <p:txBody>
          <a:bodyPr wrap="square" lIns="0" tIns="0" rIns="0" bIns="0" rtlCol="0" anchor="ctr"/>
          <a:lstStyle/>
          <a:p>
            <a:pPr indent="0" marL="0">
              <a:lnSpc>
                <a:spcPts val="1500"/>
              </a:lnSpc>
              <a:buNone/>
            </a:pPr>
            <a:r>
              <a:rPr lang="en-US" sz="1050" dirty="0">
                <a:solidFill>
                  <a:srgbClr val="F2EDE6"/>
                </a:solidFill>
                <a:latin typeface="Meiryo" pitchFamily="34" charset="0"/>
                <a:ea typeface="Meiryo" pitchFamily="34" charset="-122"/>
                <a:cs typeface="Meiryo" pitchFamily="34" charset="-120"/>
              </a:rPr>
              <a:t>▲405万と▲536万。差は131万円です。同じだけ現金を使って、セラーのワインは1億から2億5,000万へ。しかもうち1億は、会員のお金で買われたワインです。</a:t>
            </a:r>
            <a:endParaRPr lang="en-US" sz="1050" dirty="0"/>
          </a:p>
        </p:txBody>
      </p:sp>
      <p:sp>
        <p:nvSpPr>
          <p:cNvPr id="11" name="Shape 8"/>
          <p:cNvSpPr/>
          <p:nvPr/>
        </p:nvSpPr>
        <p:spPr>
          <a:xfrm>
            <a:off x="6199632" y="4700016"/>
            <a:ext cx="5394960" cy="1353312"/>
          </a:xfrm>
          <a:prstGeom prst="roundRect">
            <a:avLst>
              <a:gd name="adj" fmla="val 4054"/>
            </a:avLst>
          </a:prstGeom>
          <a:solidFill>
            <a:srgbClr val="17111A"/>
          </a:solidFill>
          <a:ln w="12700">
            <a:solidFill>
              <a:srgbClr val="17111A"/>
            </a:solidFill>
            <a:prstDash val="solid"/>
          </a:ln>
          <a:effectLst>
            <a:outerShdw sx="100000" sy="100000" kx="0" ky="0" algn="bl" rotWithShape="0" blurRad="127000" dist="25400" dir="5400000">
              <a:srgbClr val="000000">
                <a:alpha val="35000"/>
              </a:srgbClr>
            </a:outerShdw>
          </a:effectLst>
        </p:spPr>
      </p:sp>
      <p:sp>
        <p:nvSpPr>
          <p:cNvPr id="12" name="Text 9"/>
          <p:cNvSpPr txBox="1"/>
          <p:nvPr/>
        </p:nvSpPr>
        <p:spPr>
          <a:xfrm>
            <a:off x="6565392" y="4846320"/>
            <a:ext cx="4663440" cy="292608"/>
          </a:xfrm>
          <a:prstGeom prst="rect">
            <a:avLst/>
          </a:prstGeom>
          <a:noFill/>
          <a:ln/>
        </p:spPr>
        <p:txBody>
          <a:bodyPr wrap="square" lIns="0" tIns="0" rIns="0" bIns="0" rtlCol="0" anchor="ctr"/>
          <a:lstStyle/>
          <a:p>
            <a:pPr indent="0" marL="0">
              <a:buNone/>
            </a:pPr>
            <a:r>
              <a:rPr lang="en-US" sz="1500" b="1" dirty="0">
                <a:solidFill>
                  <a:srgbClr val="E8CE78"/>
                </a:solidFill>
                <a:latin typeface="Meiryo" pitchFamily="34" charset="0"/>
                <a:ea typeface="Meiryo" pitchFamily="34" charset="-122"/>
                <a:cs typeface="Meiryo" pitchFamily="34" charset="-120"/>
              </a:rPr>
              <a:t>同じ1億が、コストから収益に変わる。</a:t>
            </a:r>
            <a:endParaRPr lang="en-US" sz="1500" dirty="0"/>
          </a:p>
        </p:txBody>
      </p:sp>
      <p:sp>
        <p:nvSpPr>
          <p:cNvPr id="13" name="Text 10"/>
          <p:cNvSpPr txBox="1"/>
          <p:nvPr/>
        </p:nvSpPr>
        <p:spPr>
          <a:xfrm>
            <a:off x="6565392" y="5175504"/>
            <a:ext cx="4663440" cy="786384"/>
          </a:xfrm>
          <a:prstGeom prst="rect">
            <a:avLst/>
          </a:prstGeom>
          <a:noFill/>
          <a:ln/>
        </p:spPr>
        <p:txBody>
          <a:bodyPr wrap="square" lIns="0" tIns="0" rIns="0" bIns="0" rtlCol="0" anchor="ctr"/>
          <a:lstStyle/>
          <a:p>
            <a:pPr indent="0" marL="0">
              <a:lnSpc>
                <a:spcPts val="1500"/>
              </a:lnSpc>
              <a:buNone/>
            </a:pPr>
            <a:r>
              <a:rPr lang="en-US" sz="1050" dirty="0">
                <a:solidFill>
                  <a:srgbClr val="A2908C"/>
                </a:solidFill>
                <a:latin typeface="Meiryo" pitchFamily="34" charset="0"/>
                <a:ea typeface="Meiryo" pitchFamily="34" charset="-122"/>
                <a:cs typeface="Meiryo" pitchFamily="34" charset="-120"/>
              </a:rPr>
              <a:t>自社で持つと 年▲405万（金利300＋保管105）。会員に持たせて預かると 年▲18万（手数料275−保管105−マイル238＋オークション50）。成功報酬180万を含めれば +162万。同じワインで年567万ひっくり返ります。</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00000"/>
        </a:solidFill>
      </p:bgPr>
    </p:bg>
    <p:spTree>
      <p:nvGrpSpPr>
        <p:cNvPr id="1" name=""/>
        <p:cNvGrpSpPr/>
        <p:nvPr/>
      </p:nvGrpSpPr>
      <p:grpSpPr>
        <a:xfrm>
          <a:off x="0" y="0"/>
          <a:ext cx="0" cy="0"/>
          <a:chOff x="0" y="0"/>
          <a:chExt cx="0" cy="0"/>
        </a:xfrm>
      </p:grpSpPr>
      <p:sp>
        <p:nvSpPr>
          <p:cNvPr id="2" name="Text 0"/>
          <p:cNvSpPr txBox="1"/>
          <p:nvPr/>
        </p:nvSpPr>
        <p:spPr>
          <a:xfrm>
            <a:off x="566928" y="310896"/>
            <a:ext cx="11027664" cy="237744"/>
          </a:xfrm>
          <a:prstGeom prst="rect">
            <a:avLst/>
          </a:prstGeom>
          <a:noFill/>
          <a:ln/>
        </p:spPr>
        <p:txBody>
          <a:bodyPr wrap="square" lIns="0" tIns="0" rIns="0" bIns="0" rtlCol="0" anchor="ctr"/>
          <a:lstStyle/>
          <a:p>
            <a:pPr indent="0" marL="0">
              <a:buNone/>
            </a:pPr>
            <a:r>
              <a:rPr lang="en-US" sz="1050" b="1" spc="300" kern="0" dirty="0">
                <a:solidFill>
                  <a:srgbClr val="C9A227"/>
                </a:solidFill>
                <a:latin typeface="Arial" pitchFamily="34" charset="0"/>
                <a:ea typeface="Arial" pitchFamily="34" charset="-122"/>
                <a:cs typeface="Arial" pitchFamily="34" charset="-120"/>
              </a:rPr>
              <a:t>ACCUMULATION</a:t>
            </a:r>
            <a:endParaRPr lang="en-US" sz="1050" dirty="0"/>
          </a:p>
        </p:txBody>
      </p:sp>
      <p:sp>
        <p:nvSpPr>
          <p:cNvPr id="3" name="Text 1"/>
          <p:cNvSpPr txBox="1"/>
          <p:nvPr/>
        </p:nvSpPr>
        <p:spPr>
          <a:xfrm>
            <a:off x="566928" y="566928"/>
            <a:ext cx="11027664" cy="548640"/>
          </a:xfrm>
          <a:prstGeom prst="rect">
            <a:avLst/>
          </a:prstGeom>
          <a:noFill/>
          <a:ln/>
        </p:spPr>
        <p:txBody>
          <a:bodyPr wrap="square" lIns="0" tIns="0" rIns="0" bIns="0" rtlCol="0" anchor="ctr"/>
          <a:lstStyle/>
          <a:p>
            <a:pPr indent="0" marL="0">
              <a:buNone/>
            </a:pPr>
            <a:r>
              <a:rPr lang="en-US" sz="2900" b="1" dirty="0">
                <a:solidFill>
                  <a:srgbClr val="F2EDE6"/>
                </a:solidFill>
                <a:latin typeface="Meiryo" pitchFamily="34" charset="0"/>
                <a:ea typeface="Meiryo" pitchFamily="34" charset="-122"/>
                <a:cs typeface="Meiryo" pitchFamily="34" charset="-120"/>
              </a:rPr>
              <a:t>「手出しは、増え続けないか」</a:t>
            </a:r>
            <a:endParaRPr lang="en-US" sz="2900" dirty="0"/>
          </a:p>
        </p:txBody>
      </p:sp>
      <p:sp>
        <p:nvSpPr>
          <p:cNvPr id="4" name="Text 2"/>
          <p:cNvSpPr txBox="1"/>
          <p:nvPr/>
        </p:nvSpPr>
        <p:spPr>
          <a:xfrm>
            <a:off x="566928" y="1152144"/>
            <a:ext cx="11027664" cy="310896"/>
          </a:xfrm>
          <a:prstGeom prst="rect">
            <a:avLst/>
          </a:prstGeom>
          <a:noFill/>
          <a:ln/>
        </p:spPr>
        <p:txBody>
          <a:bodyPr wrap="square" lIns="0" tIns="0" rIns="0" bIns="0" rtlCol="0" anchor="ctr"/>
          <a:lstStyle/>
          <a:p>
            <a:pPr indent="0" marL="0">
              <a:buNone/>
            </a:pPr>
            <a:r>
              <a:rPr lang="en-US" sz="1300" dirty="0">
                <a:solidFill>
                  <a:srgbClr val="A2908C"/>
                </a:solidFill>
                <a:latin typeface="Meiryo" pitchFamily="34" charset="0"/>
                <a:ea typeface="Meiryo" pitchFamily="34" charset="-122"/>
                <a:cs typeface="Meiryo" pitchFamily="34" charset="-120"/>
              </a:rPr>
              <a:t>単発の試算で黒字でも、マイルの支払いが年々膨らんで食い潰すのではないか——ご指摘への回答です。</a:t>
            </a:r>
            <a:endParaRPr lang="en-US" sz="1300" dirty="0"/>
          </a:p>
        </p:txBody>
      </p:sp>
      <p:sp>
        <p:nvSpPr>
          <p:cNvPr id="5" name="Text 3"/>
          <p:cNvSpPr txBox="1"/>
          <p:nvPr/>
        </p:nvSpPr>
        <p:spPr>
          <a:xfrm>
            <a:off x="566928" y="6437376"/>
            <a:ext cx="4572000" cy="219456"/>
          </a:xfrm>
          <a:prstGeom prst="rect">
            <a:avLst/>
          </a:prstGeom>
          <a:noFill/>
          <a:ln/>
        </p:spPr>
        <p:txBody>
          <a:bodyPr wrap="square" lIns="0" tIns="0" rIns="0" bIns="0" rtlCol="0" anchor="ctr"/>
          <a:lstStyle/>
          <a:p>
            <a:pPr indent="0" marL="0">
              <a:buNone/>
            </a:pPr>
            <a:r>
              <a:rPr lang="en-US" sz="850" dirty="0">
                <a:solidFill>
                  <a:srgbClr val="6B5A5F"/>
                </a:solidFill>
                <a:latin typeface="Arial" pitchFamily="34" charset="0"/>
                <a:ea typeface="Arial" pitchFamily="34" charset="-122"/>
                <a:cs typeface="Arial" pitchFamily="34" charset="-120"/>
              </a:rPr>
              <a:t>WineBank CONFIDENTIAL</a:t>
            </a:r>
            <a:endParaRPr lang="en-US" sz="850" dirty="0"/>
          </a:p>
        </p:txBody>
      </p:sp>
      <p:sp>
        <p:nvSpPr>
          <p:cNvPr id="6" name="Text 4"/>
          <p:cNvSpPr txBox="1"/>
          <p:nvPr/>
        </p:nvSpPr>
        <p:spPr>
          <a:xfrm>
            <a:off x="566928" y="1499616"/>
            <a:ext cx="11027664" cy="256032"/>
          </a:xfrm>
          <a:prstGeom prst="rect">
            <a:avLst/>
          </a:prstGeom>
          <a:noFill/>
          <a:ln/>
        </p:spPr>
        <p:txBody>
          <a:bodyPr wrap="square" lIns="0" tIns="0" rIns="0" bIns="0" rtlCol="0" anchor="ctr"/>
          <a:lstStyle/>
          <a:p>
            <a:pPr indent="0" marL="0">
              <a:buNone/>
            </a:pPr>
            <a:r>
              <a:rPr lang="en-US" sz="1050" dirty="0">
                <a:solidFill>
                  <a:srgbClr val="C9A227"/>
                </a:solidFill>
                <a:latin typeface="Meiryo" pitchFamily="34" charset="0"/>
                <a:ea typeface="Meiryo" pitchFamily="34" charset="-122"/>
                <a:cs typeface="Meiryo" pitchFamily="34" charset="-120"/>
              </a:rPr>
              <a:t>毎年1億円ずつ販売を続けた場合。単体ベース、還元率4/5/6%、マイル原価率51.1%。　※単位：万円</a:t>
            </a:r>
            <a:endParaRPr lang="en-US" sz="105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66928" y="1810512"/>
          <a:ext cx="11027664" cy="914400"/>
        </p:xfrm>
        <a:graphic>
          <a:graphicData uri="http://schemas.openxmlformats.org/drawingml/2006/table">
            <a:tbl>
              <a:tblPr/>
              <a:tblGrid>
                <a:gridCol w="822960"/>
                <a:gridCol w="1554480"/>
                <a:gridCol w="1188720"/>
                <a:gridCol w="1554480"/>
                <a:gridCol w="1463040"/>
                <a:gridCol w="1463040"/>
                <a:gridCol w="1371600"/>
                <a:gridCol w="1609344"/>
              </a:tblGrid>
              <a:tr h="457200">
                <a:tc>
                  <a:txBody>
                    <a:bodyPr/>
                    <a:lstStyle/>
                    <a:p>
                      <a:pPr algn="ctr" indent="0" marL="0">
                        <a:buNone/>
                      </a:pPr>
                      <a:r>
                        <a:rPr lang="en-US" sz="1100" b="1" dirty="0">
                          <a:solidFill>
                            <a:srgbClr val="F2EDE6"/>
                          </a:solidFill>
                          <a:latin typeface="Meiryo" pitchFamily="34" charset="0"/>
                          <a:ea typeface="Meiryo" pitchFamily="34" charset="-122"/>
                          <a:cs typeface="Meiryo" pitchFamily="34" charset="-120"/>
                        </a:rPr>
                        <a:t>年</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7B1E3A"/>
                    </a:solidFill>
                  </a:tcPr>
                </a:tc>
                <a:tc>
                  <a:txBody>
                    <a:bodyPr/>
                    <a:lstStyle/>
                    <a:p>
                      <a:pPr algn="ctr" indent="0" marL="0">
                        <a:buNone/>
                      </a:pPr>
                      <a:r>
                        <a:rPr lang="en-US" sz="1100" b="1" dirty="0">
                          <a:solidFill>
                            <a:srgbClr val="F2EDE6"/>
                          </a:solidFill>
                          <a:latin typeface="Meiryo" pitchFamily="34" charset="0"/>
                          <a:ea typeface="Meiryo" pitchFamily="34" charset="-122"/>
                          <a:cs typeface="Meiryo" pitchFamily="34" charset="-120"/>
                        </a:rPr>
                        <a:t>預かり資産</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7B1E3A"/>
                    </a:solidFill>
                  </a:tcPr>
                </a:tc>
                <a:tc>
                  <a:txBody>
                    <a:bodyPr/>
                    <a:lstStyle/>
                    <a:p>
                      <a:pPr algn="ctr" indent="0" marL="0">
                        <a:buNone/>
                      </a:pPr>
                      <a:r>
                        <a:rPr lang="en-US" sz="1100" b="1" dirty="0">
                          <a:solidFill>
                            <a:srgbClr val="F2EDE6"/>
                          </a:solidFill>
                          <a:latin typeface="Meiryo" pitchFamily="34" charset="0"/>
                          <a:ea typeface="Meiryo" pitchFamily="34" charset="-122"/>
                          <a:cs typeface="Meiryo" pitchFamily="34" charset="-120"/>
                        </a:rPr>
                        <a:t>粗利</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7B1E3A"/>
                    </a:solidFill>
                  </a:tcPr>
                </a:tc>
                <a:tc>
                  <a:txBody>
                    <a:bodyPr/>
                    <a:lstStyle/>
                    <a:p>
                      <a:pPr algn="ctr" indent="0" marL="0">
                        <a:buNone/>
                      </a:pPr>
                      <a:r>
                        <a:rPr lang="en-US" sz="1100" b="1" dirty="0">
                          <a:solidFill>
                            <a:srgbClr val="F2EDE6"/>
                          </a:solidFill>
                          <a:latin typeface="Meiryo" pitchFamily="34" charset="0"/>
                          <a:ea typeface="Meiryo" pitchFamily="34" charset="-122"/>
                          <a:cs typeface="Meiryo" pitchFamily="34" charset="-120"/>
                        </a:rPr>
                        <a:t>手数料−保管</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7B1E3A"/>
                    </a:solidFill>
                  </a:tcPr>
                </a:tc>
                <a:tc>
                  <a:txBody>
                    <a:bodyPr/>
                    <a:lstStyle/>
                    <a:p>
                      <a:pPr algn="ctr" indent="0" marL="0">
                        <a:buNone/>
                      </a:pPr>
                      <a:r>
                        <a:rPr lang="en-US" sz="1100" b="1" dirty="0">
                          <a:solidFill>
                            <a:srgbClr val="F2EDE6"/>
                          </a:solidFill>
                          <a:latin typeface="Meiryo" pitchFamily="34" charset="0"/>
                          <a:ea typeface="Meiryo" pitchFamily="34" charset="-122"/>
                          <a:cs typeface="Meiryo" pitchFamily="34" charset="-120"/>
                        </a:rPr>
                        <a:t>マイル費用</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7B1E3A"/>
                    </a:solidFill>
                  </a:tcPr>
                </a:tc>
                <a:tc>
                  <a:txBody>
                    <a:bodyPr/>
                    <a:lstStyle/>
                    <a:p>
                      <a:pPr algn="ctr" indent="0" marL="0">
                        <a:buNone/>
                      </a:pPr>
                      <a:r>
                        <a:rPr lang="en-US" sz="1100" b="1" dirty="0">
                          <a:solidFill>
                            <a:srgbClr val="F2EDE6"/>
                          </a:solidFill>
                          <a:latin typeface="Meiryo" pitchFamily="34" charset="0"/>
                          <a:ea typeface="Meiryo" pitchFamily="34" charset="-122"/>
                          <a:cs typeface="Meiryo" pitchFamily="34" charset="-120"/>
                        </a:rPr>
                        <a:t>オーク</a:t>
                      </a:r>
                      <a:endParaRPr lang="en-US" sz="1100" dirty="0">
                        <a:latin typeface="Meiryo" charset="0"/>
                        <a:ea typeface="Meiryo" charset="0"/>
                        <a:cs typeface="Meiryo" charset="0"/>
                      </a:endParaRPr>
                    </a:p>
                    <a:p>
                      <a:pPr algn="ctr" indent="0" marL="0">
                        <a:buNone/>
                      </a:pPr>
                      <a:r>
                        <a:rPr lang="en-US" sz="1100" b="1" dirty="0">
                          <a:solidFill>
                            <a:srgbClr val="F2EDE6"/>
                          </a:solidFill>
                          <a:latin typeface="Meiryo" pitchFamily="34" charset="0"/>
                          <a:ea typeface="Meiryo" pitchFamily="34" charset="-122"/>
                          <a:cs typeface="Meiryo" pitchFamily="34" charset="-120"/>
                        </a:rPr>
                        <a:t>ション</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7B1E3A"/>
                    </a:solidFill>
                  </a:tcPr>
                </a:tc>
                <a:tc>
                  <a:txBody>
                    <a:bodyPr/>
                    <a:lstStyle/>
                    <a:p>
                      <a:pPr algn="ctr" indent="0" marL="0">
                        <a:buNone/>
                      </a:pPr>
                      <a:r>
                        <a:rPr lang="en-US" sz="1100" b="1" dirty="0">
                          <a:solidFill>
                            <a:srgbClr val="F2EDE6"/>
                          </a:solidFill>
                          <a:latin typeface="Meiryo" pitchFamily="34" charset="0"/>
                          <a:ea typeface="Meiryo" pitchFamily="34" charset="-122"/>
                          <a:cs typeface="Meiryo" pitchFamily="34" charset="-120"/>
                        </a:rPr>
                        <a:t>成功報酬</a:t>
                      </a:r>
                      <a:endParaRPr lang="en-US" sz="1100" dirty="0">
                        <a:latin typeface="Meiryo" charset="0"/>
                        <a:ea typeface="Meiryo" charset="0"/>
                        <a:cs typeface="Meiryo" charset="0"/>
                      </a:endParaRPr>
                    </a:p>
                    <a:p>
                      <a:pPr algn="ctr" indent="0" marL="0">
                        <a:buNone/>
                      </a:pPr>
                      <a:r>
                        <a:rPr lang="en-US" sz="1100" b="1" dirty="0">
                          <a:solidFill>
                            <a:srgbClr val="F2EDE6"/>
                          </a:solidFill>
                          <a:latin typeface="Meiryo" pitchFamily="34" charset="0"/>
                          <a:ea typeface="Meiryo" pitchFamily="34" charset="-122"/>
                          <a:cs typeface="Meiryo" pitchFamily="34" charset="-120"/>
                        </a:rPr>
                        <a:t>（発生）</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7B1E3A"/>
                    </a:solidFill>
                  </a:tcPr>
                </a:tc>
                <a:tc>
                  <a:txBody>
                    <a:bodyPr/>
                    <a:lstStyle/>
                    <a:p>
                      <a:pPr algn="ctr" indent="0" marL="0">
                        <a:buNone/>
                      </a:pPr>
                      <a:r>
                        <a:rPr lang="en-US" sz="1100" b="1" dirty="0">
                          <a:solidFill>
                            <a:srgbClr val="F2EDE6"/>
                          </a:solidFill>
                          <a:latin typeface="Meiryo" pitchFamily="34" charset="0"/>
                          <a:ea typeface="Meiryo" pitchFamily="34" charset="-122"/>
                          <a:cs typeface="Meiryo" pitchFamily="34" charset="-120"/>
                        </a:rPr>
                        <a:t>年間計</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7B1E3A"/>
                    </a:solidFill>
                  </a:tcPr>
                </a:tc>
              </a:tr>
              <a:tr h="402336">
                <a:tc>
                  <a:txBody>
                    <a:bodyPr/>
                    <a:lstStyle/>
                    <a:p>
                      <a:pPr algn="l" indent="0" marL="0">
                        <a:buNone/>
                      </a:pPr>
                      <a:r>
                        <a:rPr lang="en-US" sz="1100" b="1" dirty="0">
                          <a:solidFill>
                            <a:srgbClr val="F2EDE6"/>
                          </a:solidFill>
                          <a:latin typeface="Meiryo" pitchFamily="34" charset="0"/>
                          <a:ea typeface="Meiryo" pitchFamily="34" charset="-122"/>
                          <a:cs typeface="Meiryo" pitchFamily="34" charset="-120"/>
                        </a:rPr>
                        <a:t>1年</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61A24"/>
                    </a:solidFill>
                  </a:tcPr>
                </a:tc>
                <a:tc>
                  <a:txBody>
                    <a:bodyPr/>
                    <a:lstStyle/>
                    <a:p>
                      <a:pPr algn="ctr" indent="0" marL="0">
                        <a:buNone/>
                      </a:pPr>
                      <a:r>
                        <a:rPr lang="en-US" sz="1100" dirty="0">
                          <a:solidFill>
                            <a:srgbClr val="F2EDE6"/>
                          </a:solidFill>
                          <a:latin typeface="Meiryo" pitchFamily="34" charset="0"/>
                          <a:ea typeface="Meiryo" pitchFamily="34" charset="-122"/>
                          <a:cs typeface="Meiryo" pitchFamily="34" charset="-120"/>
                        </a:rPr>
                        <a:t>10,000</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17111A"/>
                    </a:solidFill>
                  </a:tcPr>
                </a:tc>
                <a:tc>
                  <a:txBody>
                    <a:bodyPr/>
                    <a:lstStyle/>
                    <a:p>
                      <a:pPr algn="ctr" indent="0" marL="0">
                        <a:buNone/>
                      </a:pPr>
                      <a:r>
                        <a:rPr lang="en-US" sz="1100" dirty="0">
                          <a:solidFill>
                            <a:srgbClr val="F2EDE6"/>
                          </a:solidFill>
                          <a:latin typeface="Meiryo" pitchFamily="34" charset="0"/>
                          <a:ea typeface="Meiryo" pitchFamily="34" charset="-122"/>
                          <a:cs typeface="Meiryo" pitchFamily="34" charset="-120"/>
                        </a:rPr>
                        <a:t>3,000</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17111A"/>
                    </a:solidFill>
                  </a:tcPr>
                </a:tc>
                <a:tc>
                  <a:txBody>
                    <a:bodyPr/>
                    <a:lstStyle/>
                    <a:p>
                      <a:pPr algn="ctr" indent="0" marL="0">
                        <a:buNone/>
                      </a:pPr>
                      <a:r>
                        <a:rPr lang="en-US" sz="1100" dirty="0">
                          <a:solidFill>
                            <a:srgbClr val="F2EDE6"/>
                          </a:solidFill>
                          <a:latin typeface="Meiryo" pitchFamily="34" charset="0"/>
                          <a:ea typeface="Meiryo" pitchFamily="34" charset="-122"/>
                          <a:cs typeface="Meiryo" pitchFamily="34" charset="-120"/>
                        </a:rPr>
                        <a:t>+170</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17111A"/>
                    </a:solidFill>
                  </a:tcPr>
                </a:tc>
                <a:tc>
                  <a:txBody>
                    <a:bodyPr/>
                    <a:lstStyle/>
                    <a:p>
                      <a:pPr algn="ctr" indent="0" marL="0">
                        <a:buNone/>
                      </a:pPr>
                      <a:r>
                        <a:rPr lang="en-US" sz="1100" dirty="0">
                          <a:solidFill>
                            <a:srgbClr val="E0A458"/>
                          </a:solidFill>
                          <a:latin typeface="Meiryo" pitchFamily="34" charset="0"/>
                          <a:ea typeface="Meiryo" pitchFamily="34" charset="-122"/>
                          <a:cs typeface="Meiryo" pitchFamily="34" charset="-120"/>
                        </a:rPr>
                        <a:t>▲238</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17111A"/>
                    </a:solidFill>
                  </a:tcPr>
                </a:tc>
                <a:tc>
                  <a:txBody>
                    <a:bodyPr/>
                    <a:lstStyle/>
                    <a:p>
                      <a:pPr algn="ctr" indent="0" marL="0">
                        <a:buNone/>
                      </a:pPr>
                      <a:r>
                        <a:rPr lang="en-US" sz="1100" dirty="0">
                          <a:solidFill>
                            <a:srgbClr val="7FD1AE"/>
                          </a:solidFill>
                          <a:latin typeface="Meiryo" pitchFamily="34" charset="0"/>
                          <a:ea typeface="Meiryo" pitchFamily="34" charset="-122"/>
                          <a:cs typeface="Meiryo" pitchFamily="34" charset="-120"/>
                        </a:rPr>
                        <a:t>+50</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17111A"/>
                    </a:solidFill>
                  </a:tcPr>
                </a:tc>
                <a:tc>
                  <a:txBody>
                    <a:bodyPr/>
                    <a:lstStyle/>
                    <a:p>
                      <a:pPr algn="ctr" indent="0" marL="0">
                        <a:buNone/>
                      </a:pPr>
                      <a:r>
                        <a:rPr lang="en-US" sz="1100" dirty="0">
                          <a:solidFill>
                            <a:srgbClr val="C9A227"/>
                          </a:solidFill>
                          <a:latin typeface="Meiryo" pitchFamily="34" charset="0"/>
                          <a:ea typeface="Meiryo" pitchFamily="34" charset="-122"/>
                          <a:cs typeface="Meiryo" pitchFamily="34" charset="-120"/>
                        </a:rPr>
                        <a:t>+180</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17111A"/>
                    </a:solidFill>
                  </a:tcPr>
                </a:tc>
                <a:tc>
                  <a:txBody>
                    <a:bodyPr/>
                    <a:lstStyle/>
                    <a:p>
                      <a:pPr algn="ctr" indent="0" marL="0">
                        <a:buNone/>
                      </a:pPr>
                      <a:r>
                        <a:rPr lang="en-US" sz="1100" b="1" dirty="0">
                          <a:solidFill>
                            <a:srgbClr val="7FD1AE"/>
                          </a:solidFill>
                          <a:latin typeface="Meiryo" pitchFamily="34" charset="0"/>
                          <a:ea typeface="Meiryo" pitchFamily="34" charset="-122"/>
                          <a:cs typeface="Meiryo" pitchFamily="34" charset="-120"/>
                        </a:rPr>
                        <a:t>+3,162</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17111A"/>
                    </a:solidFill>
                  </a:tcPr>
                </a:tc>
              </a:tr>
              <a:tr h="402336">
                <a:tc>
                  <a:txBody>
                    <a:bodyPr/>
                    <a:lstStyle/>
                    <a:p>
                      <a:pPr algn="l" indent="0" marL="0">
                        <a:buNone/>
                      </a:pPr>
                      <a:r>
                        <a:rPr lang="en-US" sz="1100" b="1" dirty="0">
                          <a:solidFill>
                            <a:srgbClr val="F2EDE6"/>
                          </a:solidFill>
                          <a:latin typeface="Meiryo" pitchFamily="34" charset="0"/>
                          <a:ea typeface="Meiryo" pitchFamily="34" charset="-122"/>
                          <a:cs typeface="Meiryo" pitchFamily="34" charset="-120"/>
                        </a:rPr>
                        <a:t>3年</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61A24"/>
                    </a:solidFill>
                  </a:tcPr>
                </a:tc>
                <a:tc>
                  <a:txBody>
                    <a:bodyPr/>
                    <a:lstStyle/>
                    <a:p>
                      <a:pPr algn="ctr" indent="0" marL="0">
                        <a:buNone/>
                      </a:pPr>
                      <a:r>
                        <a:rPr lang="en-US" sz="1100" dirty="0">
                          <a:solidFill>
                            <a:srgbClr val="F2EDE6"/>
                          </a:solidFill>
                          <a:latin typeface="Meiryo" pitchFamily="34" charset="0"/>
                          <a:ea typeface="Meiryo" pitchFamily="34" charset="-122"/>
                          <a:cs typeface="Meiryo" pitchFamily="34" charset="-120"/>
                        </a:rPr>
                        <a:t>30,000</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17111A"/>
                    </a:solidFill>
                  </a:tcPr>
                </a:tc>
                <a:tc>
                  <a:txBody>
                    <a:bodyPr/>
                    <a:lstStyle/>
                    <a:p>
                      <a:pPr algn="ctr" indent="0" marL="0">
                        <a:buNone/>
                      </a:pPr>
                      <a:r>
                        <a:rPr lang="en-US" sz="1100" dirty="0">
                          <a:solidFill>
                            <a:srgbClr val="F2EDE6"/>
                          </a:solidFill>
                          <a:latin typeface="Meiryo" pitchFamily="34" charset="0"/>
                          <a:ea typeface="Meiryo" pitchFamily="34" charset="-122"/>
                          <a:cs typeface="Meiryo" pitchFamily="34" charset="-120"/>
                        </a:rPr>
                        <a:t>3,000</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17111A"/>
                    </a:solidFill>
                  </a:tcPr>
                </a:tc>
                <a:tc>
                  <a:txBody>
                    <a:bodyPr/>
                    <a:lstStyle/>
                    <a:p>
                      <a:pPr algn="ctr" indent="0" marL="0">
                        <a:buNone/>
                      </a:pPr>
                      <a:r>
                        <a:rPr lang="en-US" sz="1100" dirty="0">
                          <a:solidFill>
                            <a:srgbClr val="F2EDE6"/>
                          </a:solidFill>
                          <a:latin typeface="Meiryo" pitchFamily="34" charset="0"/>
                          <a:ea typeface="Meiryo" pitchFamily="34" charset="-122"/>
                          <a:cs typeface="Meiryo" pitchFamily="34" charset="-120"/>
                        </a:rPr>
                        <a:t>+510</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17111A"/>
                    </a:solidFill>
                  </a:tcPr>
                </a:tc>
                <a:tc>
                  <a:txBody>
                    <a:bodyPr/>
                    <a:lstStyle/>
                    <a:p>
                      <a:pPr algn="ctr" indent="0" marL="0">
                        <a:buNone/>
                      </a:pPr>
                      <a:r>
                        <a:rPr lang="en-US" sz="1100" dirty="0">
                          <a:solidFill>
                            <a:srgbClr val="E0A458"/>
                          </a:solidFill>
                          <a:latin typeface="Meiryo" pitchFamily="34" charset="0"/>
                          <a:ea typeface="Meiryo" pitchFamily="34" charset="-122"/>
                          <a:cs typeface="Meiryo" pitchFamily="34" charset="-120"/>
                        </a:rPr>
                        <a:t>▲713</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17111A"/>
                    </a:solidFill>
                  </a:tcPr>
                </a:tc>
                <a:tc>
                  <a:txBody>
                    <a:bodyPr/>
                    <a:lstStyle/>
                    <a:p>
                      <a:pPr algn="ctr" indent="0" marL="0">
                        <a:buNone/>
                      </a:pPr>
                      <a:r>
                        <a:rPr lang="en-US" sz="1100" dirty="0">
                          <a:solidFill>
                            <a:srgbClr val="7FD1AE"/>
                          </a:solidFill>
                          <a:latin typeface="Meiryo" pitchFamily="34" charset="0"/>
                          <a:ea typeface="Meiryo" pitchFamily="34" charset="-122"/>
                          <a:cs typeface="Meiryo" pitchFamily="34" charset="-120"/>
                        </a:rPr>
                        <a:t>+150</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17111A"/>
                    </a:solidFill>
                  </a:tcPr>
                </a:tc>
                <a:tc>
                  <a:txBody>
                    <a:bodyPr/>
                    <a:lstStyle/>
                    <a:p>
                      <a:pPr algn="ctr" indent="0" marL="0">
                        <a:buNone/>
                      </a:pPr>
                      <a:r>
                        <a:rPr lang="en-US" sz="1100" dirty="0">
                          <a:solidFill>
                            <a:srgbClr val="C9A227"/>
                          </a:solidFill>
                          <a:latin typeface="Meiryo" pitchFamily="34" charset="0"/>
                          <a:ea typeface="Meiryo" pitchFamily="34" charset="-122"/>
                          <a:cs typeface="Meiryo" pitchFamily="34" charset="-120"/>
                        </a:rPr>
                        <a:t>+540</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17111A"/>
                    </a:solidFill>
                  </a:tcPr>
                </a:tc>
                <a:tc>
                  <a:txBody>
                    <a:bodyPr/>
                    <a:lstStyle/>
                    <a:p>
                      <a:pPr algn="ctr" indent="0" marL="0">
                        <a:buNone/>
                      </a:pPr>
                      <a:r>
                        <a:rPr lang="en-US" sz="1100" b="1" dirty="0">
                          <a:solidFill>
                            <a:srgbClr val="7FD1AE"/>
                          </a:solidFill>
                          <a:latin typeface="Meiryo" pitchFamily="34" charset="0"/>
                          <a:ea typeface="Meiryo" pitchFamily="34" charset="-122"/>
                          <a:cs typeface="Meiryo" pitchFamily="34" charset="-120"/>
                        </a:rPr>
                        <a:t>+3,487</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17111A"/>
                    </a:solidFill>
                  </a:tcPr>
                </a:tc>
              </a:tr>
              <a:tr h="402336">
                <a:tc>
                  <a:txBody>
                    <a:bodyPr/>
                    <a:lstStyle/>
                    <a:p>
                      <a:pPr algn="l" indent="0" marL="0">
                        <a:buNone/>
                      </a:pPr>
                      <a:r>
                        <a:rPr lang="en-US" sz="1100" b="1" dirty="0">
                          <a:solidFill>
                            <a:srgbClr val="F2EDE6"/>
                          </a:solidFill>
                          <a:latin typeface="Meiryo" pitchFamily="34" charset="0"/>
                          <a:ea typeface="Meiryo" pitchFamily="34" charset="-122"/>
                          <a:cs typeface="Meiryo" pitchFamily="34" charset="-120"/>
                        </a:rPr>
                        <a:t>5年</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61A24"/>
                    </a:solidFill>
                  </a:tcPr>
                </a:tc>
                <a:tc>
                  <a:txBody>
                    <a:bodyPr/>
                    <a:lstStyle/>
                    <a:p>
                      <a:pPr algn="ctr" indent="0" marL="0">
                        <a:buNone/>
                      </a:pPr>
                      <a:r>
                        <a:rPr lang="en-US" sz="1100" dirty="0">
                          <a:solidFill>
                            <a:srgbClr val="F2EDE6"/>
                          </a:solidFill>
                          <a:latin typeface="Meiryo" pitchFamily="34" charset="0"/>
                          <a:ea typeface="Meiryo" pitchFamily="34" charset="-122"/>
                          <a:cs typeface="Meiryo" pitchFamily="34" charset="-120"/>
                        </a:rPr>
                        <a:t>50,000</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17111A"/>
                    </a:solidFill>
                  </a:tcPr>
                </a:tc>
                <a:tc>
                  <a:txBody>
                    <a:bodyPr/>
                    <a:lstStyle/>
                    <a:p>
                      <a:pPr algn="ctr" indent="0" marL="0">
                        <a:buNone/>
                      </a:pPr>
                      <a:r>
                        <a:rPr lang="en-US" sz="1100" dirty="0">
                          <a:solidFill>
                            <a:srgbClr val="F2EDE6"/>
                          </a:solidFill>
                          <a:latin typeface="Meiryo" pitchFamily="34" charset="0"/>
                          <a:ea typeface="Meiryo" pitchFamily="34" charset="-122"/>
                          <a:cs typeface="Meiryo" pitchFamily="34" charset="-120"/>
                        </a:rPr>
                        <a:t>3,000</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17111A"/>
                    </a:solidFill>
                  </a:tcPr>
                </a:tc>
                <a:tc>
                  <a:txBody>
                    <a:bodyPr/>
                    <a:lstStyle/>
                    <a:p>
                      <a:pPr algn="ctr" indent="0" marL="0">
                        <a:buNone/>
                      </a:pPr>
                      <a:r>
                        <a:rPr lang="en-US" sz="1100" dirty="0">
                          <a:solidFill>
                            <a:srgbClr val="F2EDE6"/>
                          </a:solidFill>
                          <a:latin typeface="Meiryo" pitchFamily="34" charset="0"/>
                          <a:ea typeface="Meiryo" pitchFamily="34" charset="-122"/>
                          <a:cs typeface="Meiryo" pitchFamily="34" charset="-120"/>
                        </a:rPr>
                        <a:t>+850</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17111A"/>
                    </a:solidFill>
                  </a:tcPr>
                </a:tc>
                <a:tc>
                  <a:txBody>
                    <a:bodyPr/>
                    <a:lstStyle/>
                    <a:p>
                      <a:pPr algn="ctr" indent="0" marL="0">
                        <a:buNone/>
                      </a:pPr>
                      <a:r>
                        <a:rPr lang="en-US" sz="1100" dirty="0">
                          <a:solidFill>
                            <a:srgbClr val="E0A458"/>
                          </a:solidFill>
                          <a:latin typeface="Meiryo" pitchFamily="34" charset="0"/>
                          <a:ea typeface="Meiryo" pitchFamily="34" charset="-122"/>
                          <a:cs typeface="Meiryo" pitchFamily="34" charset="-120"/>
                        </a:rPr>
                        <a:t>▲1,189</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17111A"/>
                    </a:solidFill>
                  </a:tcPr>
                </a:tc>
                <a:tc>
                  <a:txBody>
                    <a:bodyPr/>
                    <a:lstStyle/>
                    <a:p>
                      <a:pPr algn="ctr" indent="0" marL="0">
                        <a:buNone/>
                      </a:pPr>
                      <a:r>
                        <a:rPr lang="en-US" sz="1100" dirty="0">
                          <a:solidFill>
                            <a:srgbClr val="7FD1AE"/>
                          </a:solidFill>
                          <a:latin typeface="Meiryo" pitchFamily="34" charset="0"/>
                          <a:ea typeface="Meiryo" pitchFamily="34" charset="-122"/>
                          <a:cs typeface="Meiryo" pitchFamily="34" charset="-120"/>
                        </a:rPr>
                        <a:t>+250</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17111A"/>
                    </a:solidFill>
                  </a:tcPr>
                </a:tc>
                <a:tc>
                  <a:txBody>
                    <a:bodyPr/>
                    <a:lstStyle/>
                    <a:p>
                      <a:pPr algn="ctr" indent="0" marL="0">
                        <a:buNone/>
                      </a:pPr>
                      <a:r>
                        <a:rPr lang="en-US" sz="1100" dirty="0">
                          <a:solidFill>
                            <a:srgbClr val="C9A227"/>
                          </a:solidFill>
                          <a:latin typeface="Meiryo" pitchFamily="34" charset="0"/>
                          <a:ea typeface="Meiryo" pitchFamily="34" charset="-122"/>
                          <a:cs typeface="Meiryo" pitchFamily="34" charset="-120"/>
                        </a:rPr>
                        <a:t>+900</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17111A"/>
                    </a:solidFill>
                  </a:tcPr>
                </a:tc>
                <a:tc>
                  <a:txBody>
                    <a:bodyPr/>
                    <a:lstStyle/>
                    <a:p>
                      <a:pPr algn="ctr" indent="0" marL="0">
                        <a:buNone/>
                      </a:pPr>
                      <a:r>
                        <a:rPr lang="en-US" sz="1100" b="1" dirty="0">
                          <a:solidFill>
                            <a:srgbClr val="7FD1AE"/>
                          </a:solidFill>
                          <a:latin typeface="Meiryo" pitchFamily="34" charset="0"/>
                          <a:ea typeface="Meiryo" pitchFamily="34" charset="-122"/>
                          <a:cs typeface="Meiryo" pitchFamily="34" charset="-120"/>
                        </a:rPr>
                        <a:t>+3,811</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17111A"/>
                    </a:solidFill>
                  </a:tcPr>
                </a:tc>
              </a:tr>
              <a:tr h="438912">
                <a:tc>
                  <a:txBody>
                    <a:bodyPr/>
                    <a:lstStyle/>
                    <a:p>
                      <a:pPr algn="l" indent="0" marL="0">
                        <a:buNone/>
                      </a:pPr>
                      <a:r>
                        <a:rPr lang="en-US" sz="1100" b="1" dirty="0">
                          <a:solidFill>
                            <a:srgbClr val="F2EDE6"/>
                          </a:solidFill>
                          <a:latin typeface="Meiryo" pitchFamily="34" charset="0"/>
                          <a:ea typeface="Meiryo" pitchFamily="34" charset="-122"/>
                          <a:cs typeface="Meiryo" pitchFamily="34" charset="-120"/>
                        </a:rPr>
                        <a:t>10年</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7B1E3A"/>
                    </a:solidFill>
                  </a:tcPr>
                </a:tc>
                <a:tc>
                  <a:txBody>
                    <a:bodyPr/>
                    <a:lstStyle/>
                    <a:p>
                      <a:pPr algn="ctr" indent="0" marL="0">
                        <a:buNone/>
                      </a:pPr>
                      <a:r>
                        <a:rPr lang="en-US" sz="1100" dirty="0">
                          <a:solidFill>
                            <a:srgbClr val="F2EDE6"/>
                          </a:solidFill>
                          <a:latin typeface="Meiryo" pitchFamily="34" charset="0"/>
                          <a:ea typeface="Meiryo" pitchFamily="34" charset="-122"/>
                          <a:cs typeface="Meiryo" pitchFamily="34" charset="-120"/>
                        </a:rPr>
                        <a:t>100,000</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7B1E3A"/>
                    </a:solidFill>
                  </a:tcPr>
                </a:tc>
                <a:tc>
                  <a:txBody>
                    <a:bodyPr/>
                    <a:lstStyle/>
                    <a:p>
                      <a:pPr algn="ctr" indent="0" marL="0">
                        <a:buNone/>
                      </a:pPr>
                      <a:r>
                        <a:rPr lang="en-US" sz="1100" dirty="0">
                          <a:solidFill>
                            <a:srgbClr val="F2EDE6"/>
                          </a:solidFill>
                          <a:latin typeface="Meiryo" pitchFamily="34" charset="0"/>
                          <a:ea typeface="Meiryo" pitchFamily="34" charset="-122"/>
                          <a:cs typeface="Meiryo" pitchFamily="34" charset="-120"/>
                        </a:rPr>
                        <a:t>3,000</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7B1E3A"/>
                    </a:solidFill>
                  </a:tcPr>
                </a:tc>
                <a:tc>
                  <a:txBody>
                    <a:bodyPr/>
                    <a:lstStyle/>
                    <a:p>
                      <a:pPr algn="ctr" indent="0" marL="0">
                        <a:buNone/>
                      </a:pPr>
                      <a:r>
                        <a:rPr lang="en-US" sz="1100" dirty="0">
                          <a:solidFill>
                            <a:srgbClr val="F2EDE6"/>
                          </a:solidFill>
                          <a:latin typeface="Meiryo" pitchFamily="34" charset="0"/>
                          <a:ea typeface="Meiryo" pitchFamily="34" charset="-122"/>
                          <a:cs typeface="Meiryo" pitchFamily="34" charset="-120"/>
                        </a:rPr>
                        <a:t>+1,700</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7B1E3A"/>
                    </a:solidFill>
                  </a:tcPr>
                </a:tc>
                <a:tc>
                  <a:txBody>
                    <a:bodyPr/>
                    <a:lstStyle/>
                    <a:p>
                      <a:pPr algn="ctr" indent="0" marL="0">
                        <a:buNone/>
                      </a:pPr>
                      <a:r>
                        <a:rPr lang="en-US" sz="1100" dirty="0">
                          <a:solidFill>
                            <a:srgbClr val="E0A458"/>
                          </a:solidFill>
                          <a:latin typeface="Meiryo" pitchFamily="34" charset="0"/>
                          <a:ea typeface="Meiryo" pitchFamily="34" charset="-122"/>
                          <a:cs typeface="Meiryo" pitchFamily="34" charset="-120"/>
                        </a:rPr>
                        <a:t>▲2,378</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7B1E3A"/>
                    </a:solidFill>
                  </a:tcPr>
                </a:tc>
                <a:tc>
                  <a:txBody>
                    <a:bodyPr/>
                    <a:lstStyle/>
                    <a:p>
                      <a:pPr algn="ctr" indent="0" marL="0">
                        <a:buNone/>
                      </a:pPr>
                      <a:r>
                        <a:rPr lang="en-US" sz="1100" dirty="0">
                          <a:solidFill>
                            <a:srgbClr val="7FD1AE"/>
                          </a:solidFill>
                          <a:latin typeface="Meiryo" pitchFamily="34" charset="0"/>
                          <a:ea typeface="Meiryo" pitchFamily="34" charset="-122"/>
                          <a:cs typeface="Meiryo" pitchFamily="34" charset="-120"/>
                        </a:rPr>
                        <a:t>+500</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7B1E3A"/>
                    </a:solidFill>
                  </a:tcPr>
                </a:tc>
                <a:tc>
                  <a:txBody>
                    <a:bodyPr/>
                    <a:lstStyle/>
                    <a:p>
                      <a:pPr algn="ctr" indent="0" marL="0">
                        <a:buNone/>
                      </a:pPr>
                      <a:r>
                        <a:rPr lang="en-US" sz="1100" dirty="0">
                          <a:solidFill>
                            <a:srgbClr val="E8CE78"/>
                          </a:solidFill>
                          <a:latin typeface="Meiryo" pitchFamily="34" charset="0"/>
                          <a:ea typeface="Meiryo" pitchFamily="34" charset="-122"/>
                          <a:cs typeface="Meiryo" pitchFamily="34" charset="-120"/>
                        </a:rPr>
                        <a:t>+1,800</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7B1E3A"/>
                    </a:solidFill>
                  </a:tcPr>
                </a:tc>
                <a:tc>
                  <a:txBody>
                    <a:bodyPr/>
                    <a:lstStyle/>
                    <a:p>
                      <a:pPr algn="ctr" indent="0" marL="0">
                        <a:buNone/>
                      </a:pPr>
                      <a:r>
                        <a:rPr lang="en-US" sz="1100" b="1" dirty="0">
                          <a:solidFill>
                            <a:srgbClr val="7FD1AE"/>
                          </a:solidFill>
                          <a:latin typeface="Meiryo" pitchFamily="34" charset="0"/>
                          <a:ea typeface="Meiryo" pitchFamily="34" charset="-122"/>
                          <a:cs typeface="Meiryo" pitchFamily="34" charset="-120"/>
                        </a:rPr>
                        <a:t>+4,622</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7B1E3A"/>
                    </a:solidFill>
                  </a:tcPr>
                </a:tc>
              </a:tr>
            </a:tbl>
          </a:graphicData>
        </a:graphic>
      </p:graphicFrame>
      <p:sp>
        <p:nvSpPr>
          <p:cNvPr id="8" name="Shape 5"/>
          <p:cNvSpPr/>
          <p:nvPr/>
        </p:nvSpPr>
        <p:spPr>
          <a:xfrm>
            <a:off x="566928" y="4133088"/>
            <a:ext cx="5394960" cy="1115568"/>
          </a:xfrm>
          <a:prstGeom prst="roundRect">
            <a:avLst>
              <a:gd name="adj" fmla="val 4918"/>
            </a:avLst>
          </a:prstGeom>
          <a:solidFill>
            <a:srgbClr val="7B1E3A"/>
          </a:solidFill>
          <a:ln w="12700">
            <a:solidFill>
              <a:srgbClr val="7B1E3A"/>
            </a:solidFill>
            <a:prstDash val="solid"/>
          </a:ln>
          <a:effectLst>
            <a:outerShdw sx="100000" sy="100000" kx="0" ky="0" algn="bl" rotWithShape="0" blurRad="127000" dist="25400" dir="5400000">
              <a:srgbClr val="000000">
                <a:alpha val="35000"/>
              </a:srgbClr>
            </a:outerShdw>
          </a:effectLst>
        </p:spPr>
      </p:sp>
      <p:sp>
        <p:nvSpPr>
          <p:cNvPr id="9" name="Text 6"/>
          <p:cNvSpPr txBox="1"/>
          <p:nvPr/>
        </p:nvSpPr>
        <p:spPr>
          <a:xfrm>
            <a:off x="932688" y="4261104"/>
            <a:ext cx="4663440" cy="292608"/>
          </a:xfrm>
          <a:prstGeom prst="rect">
            <a:avLst/>
          </a:prstGeom>
          <a:noFill/>
          <a:ln/>
        </p:spPr>
        <p:txBody>
          <a:bodyPr wrap="square" lIns="0" tIns="0" rIns="0" bIns="0" rtlCol="0" anchor="ctr"/>
          <a:lstStyle/>
          <a:p>
            <a:pPr indent="0" marL="0">
              <a:buNone/>
            </a:pPr>
            <a:r>
              <a:rPr lang="en-US" sz="1500" b="1" dirty="0">
                <a:solidFill>
                  <a:srgbClr val="E8CE78"/>
                </a:solidFill>
                <a:latin typeface="Meiryo" pitchFamily="34" charset="0"/>
                <a:ea typeface="Meiryo" pitchFamily="34" charset="-122"/>
                <a:cs typeface="Meiryo" pitchFamily="34" charset="-120"/>
              </a:rPr>
              <a:t>手数料だけでは足りない。だから3つで支えます。</a:t>
            </a:r>
            <a:endParaRPr lang="en-US" sz="1500" dirty="0"/>
          </a:p>
        </p:txBody>
      </p:sp>
      <p:sp>
        <p:nvSpPr>
          <p:cNvPr id="10" name="Text 7"/>
          <p:cNvSpPr txBox="1"/>
          <p:nvPr/>
        </p:nvSpPr>
        <p:spPr>
          <a:xfrm>
            <a:off x="932688" y="4572000"/>
            <a:ext cx="4663440" cy="640080"/>
          </a:xfrm>
          <a:prstGeom prst="rect">
            <a:avLst/>
          </a:prstGeom>
          <a:noFill/>
          <a:ln/>
        </p:spPr>
        <p:txBody>
          <a:bodyPr wrap="square" lIns="0" tIns="0" rIns="0" bIns="0" rtlCol="0" anchor="ctr"/>
          <a:lstStyle/>
          <a:p>
            <a:pPr indent="0" marL="0">
              <a:lnSpc>
                <a:spcPts val="1500"/>
              </a:lnSpc>
              <a:buNone/>
            </a:pPr>
            <a:r>
              <a:rPr lang="en-US" sz="1050" dirty="0">
                <a:solidFill>
                  <a:srgbClr val="F2EDE6"/>
                </a:solidFill>
                <a:latin typeface="Meiryo" pitchFamily="34" charset="0"/>
                <a:ea typeface="Meiryo" pitchFamily="34" charset="-122"/>
                <a:cs typeface="Meiryo" pitchFamily="34" charset="-120"/>
              </a:rPr>
              <a:t>手数料2.75%から保管1.05%（鈴与実額210円/本）を引くと残りは1.70%。マイル2.38%はこれを超えます。差を埋めるのがオークション手数料0.5%と、値上がり益30%（年1.8%相当）です。</a:t>
            </a:r>
            <a:endParaRPr lang="en-US" sz="1050" dirty="0"/>
          </a:p>
        </p:txBody>
      </p:sp>
      <p:sp>
        <p:nvSpPr>
          <p:cNvPr id="11" name="Shape 8"/>
          <p:cNvSpPr/>
          <p:nvPr/>
        </p:nvSpPr>
        <p:spPr>
          <a:xfrm>
            <a:off x="6199632" y="4133088"/>
            <a:ext cx="5394960" cy="1115568"/>
          </a:xfrm>
          <a:prstGeom prst="roundRect">
            <a:avLst>
              <a:gd name="adj" fmla="val 4918"/>
            </a:avLst>
          </a:prstGeom>
          <a:solidFill>
            <a:srgbClr val="17111A"/>
          </a:solidFill>
          <a:ln w="12700">
            <a:solidFill>
              <a:srgbClr val="17111A"/>
            </a:solidFill>
            <a:prstDash val="solid"/>
          </a:ln>
          <a:effectLst>
            <a:outerShdw sx="100000" sy="100000" kx="0" ky="0" algn="bl" rotWithShape="0" blurRad="127000" dist="25400" dir="5400000">
              <a:srgbClr val="000000">
                <a:alpha val="35000"/>
              </a:srgbClr>
            </a:outerShdw>
          </a:effectLst>
        </p:spPr>
      </p:sp>
      <p:sp>
        <p:nvSpPr>
          <p:cNvPr id="12" name="Text 9"/>
          <p:cNvSpPr txBox="1"/>
          <p:nvPr/>
        </p:nvSpPr>
        <p:spPr>
          <a:xfrm>
            <a:off x="6565392" y="4261104"/>
            <a:ext cx="4663440" cy="292608"/>
          </a:xfrm>
          <a:prstGeom prst="rect">
            <a:avLst/>
          </a:prstGeom>
          <a:noFill/>
          <a:ln/>
        </p:spPr>
        <p:txBody>
          <a:bodyPr wrap="square" lIns="0" tIns="0" rIns="0" bIns="0" rtlCol="0" anchor="ctr"/>
          <a:lstStyle/>
          <a:p>
            <a:pPr indent="0" marL="0">
              <a:buNone/>
            </a:pPr>
            <a:r>
              <a:rPr lang="en-US" sz="1500" b="1" dirty="0">
                <a:solidFill>
                  <a:srgbClr val="E8CE78"/>
                </a:solidFill>
                <a:latin typeface="Meiryo" pitchFamily="34" charset="0"/>
                <a:ea typeface="Meiryo" pitchFamily="34" charset="-122"/>
                <a:cs typeface="Meiryo" pitchFamily="34" charset="-120"/>
              </a:rPr>
              <a:t>すべて預かり資産に比例するので、比は変わりません。</a:t>
            </a:r>
            <a:endParaRPr lang="en-US" sz="1500" dirty="0"/>
          </a:p>
        </p:txBody>
      </p:sp>
      <p:sp>
        <p:nvSpPr>
          <p:cNvPr id="13" name="Text 10"/>
          <p:cNvSpPr txBox="1"/>
          <p:nvPr/>
        </p:nvSpPr>
        <p:spPr>
          <a:xfrm>
            <a:off x="6565392" y="4572000"/>
            <a:ext cx="4663440" cy="640080"/>
          </a:xfrm>
          <a:prstGeom prst="rect">
            <a:avLst/>
          </a:prstGeom>
          <a:noFill/>
          <a:ln/>
        </p:spPr>
        <p:txBody>
          <a:bodyPr wrap="square" lIns="0" tIns="0" rIns="0" bIns="0" rtlCol="0" anchor="ctr"/>
          <a:lstStyle/>
          <a:p>
            <a:pPr indent="0" marL="0">
              <a:lnSpc>
                <a:spcPts val="1500"/>
              </a:lnSpc>
              <a:buNone/>
            </a:pPr>
            <a:r>
              <a:rPr lang="en-US" sz="1050" dirty="0">
                <a:solidFill>
                  <a:srgbClr val="A2908C"/>
                </a:solidFill>
                <a:latin typeface="Meiryo" pitchFamily="34" charset="0"/>
                <a:ea typeface="Meiryo" pitchFamily="34" charset="-122"/>
                <a:cs typeface="Meiryo" pitchFamily="34" charset="-120"/>
              </a:rPr>
              <a:t>手数料2.75%・保管1.05%・マイル2.38%・オークション0.5%・成功報酬1.8%。全部が定率なので、規模が何倍になっても差引1.62%は動きません。手出しが収入を追い越す構造ではありません。</a:t>
            </a:r>
            <a:endParaRPr lang="en-US" sz="1050" dirty="0"/>
          </a:p>
        </p:txBody>
      </p:sp>
      <p:sp>
        <p:nvSpPr>
          <p:cNvPr id="14" name="Shape 11"/>
          <p:cNvSpPr/>
          <p:nvPr/>
        </p:nvSpPr>
        <p:spPr>
          <a:xfrm>
            <a:off x="566928" y="5394960"/>
            <a:ext cx="11027664" cy="658368"/>
          </a:xfrm>
          <a:prstGeom prst="roundRect">
            <a:avLst>
              <a:gd name="adj" fmla="val 8333"/>
            </a:avLst>
          </a:prstGeom>
          <a:solidFill>
            <a:srgbClr val="261A24"/>
          </a:solidFill>
          <a:ln w="12700">
            <a:solidFill>
              <a:srgbClr val="261A24"/>
            </a:solidFill>
            <a:prstDash val="solid"/>
          </a:ln>
          <a:effectLst>
            <a:outerShdw sx="100000" sy="100000" kx="0" ky="0" algn="bl" rotWithShape="0" blurRad="127000" dist="25400" dir="5400000">
              <a:srgbClr val="000000">
                <a:alpha val="35000"/>
              </a:srgbClr>
            </a:outerShdw>
          </a:effectLst>
        </p:spPr>
      </p:sp>
      <p:sp>
        <p:nvSpPr>
          <p:cNvPr id="15" name="Text 12"/>
          <p:cNvSpPr txBox="1"/>
          <p:nvPr/>
        </p:nvSpPr>
        <p:spPr>
          <a:xfrm>
            <a:off x="978408" y="5559552"/>
            <a:ext cx="10204704" cy="365760"/>
          </a:xfrm>
          <a:prstGeom prst="rect">
            <a:avLst/>
          </a:prstGeom>
          <a:noFill/>
          <a:ln/>
        </p:spPr>
        <p:txBody>
          <a:bodyPr wrap="square" lIns="0" tIns="0" rIns="0" bIns="0" rtlCol="0" anchor="ctr"/>
          <a:lstStyle/>
          <a:p>
            <a:pPr indent="0" marL="0">
              <a:buNone/>
            </a:pPr>
            <a:r>
              <a:rPr lang="en-US" sz="1350" b="1" dirty="0">
                <a:solidFill>
                  <a:srgbClr val="E0A458"/>
                </a:solidFill>
                <a:latin typeface="Meiryo" pitchFamily="34" charset="0"/>
                <a:ea typeface="Meiryo" pitchFamily="34" charset="-122"/>
                <a:cs typeface="Meiryo" pitchFamily="34" charset="-120"/>
              </a:rPr>
              <a:t>現金ベースは年▲18万。成功報酬180万を含めて+162万。ただし成功報酬は出口までキャッシュになりません。</a:t>
            </a:r>
            <a:endParaRPr lang="en-US" sz="13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00000"/>
        </a:solidFill>
      </p:bgPr>
    </p:bg>
    <p:spTree>
      <p:nvGrpSpPr>
        <p:cNvPr id="1" name=""/>
        <p:cNvGrpSpPr/>
        <p:nvPr/>
      </p:nvGrpSpPr>
      <p:grpSpPr>
        <a:xfrm>
          <a:off x="0" y="0"/>
          <a:ext cx="0" cy="0"/>
          <a:chOff x="0" y="0"/>
          <a:chExt cx="0" cy="0"/>
        </a:xfrm>
      </p:grpSpPr>
      <p:sp>
        <p:nvSpPr>
          <p:cNvPr id="2" name="Text 0"/>
          <p:cNvSpPr txBox="1"/>
          <p:nvPr/>
        </p:nvSpPr>
        <p:spPr>
          <a:xfrm>
            <a:off x="566928" y="310896"/>
            <a:ext cx="11027664" cy="237744"/>
          </a:xfrm>
          <a:prstGeom prst="rect">
            <a:avLst/>
          </a:prstGeom>
          <a:noFill/>
          <a:ln/>
        </p:spPr>
        <p:txBody>
          <a:bodyPr wrap="square" lIns="0" tIns="0" rIns="0" bIns="0" rtlCol="0" anchor="ctr"/>
          <a:lstStyle/>
          <a:p>
            <a:pPr indent="0" marL="0">
              <a:buNone/>
            </a:pPr>
            <a:r>
              <a:rPr lang="en-US" sz="1050" b="1" spc="300" kern="0" dirty="0">
                <a:solidFill>
                  <a:srgbClr val="C9A227"/>
                </a:solidFill>
                <a:latin typeface="Arial" pitchFamily="34" charset="0"/>
                <a:ea typeface="Arial" pitchFamily="34" charset="-122"/>
                <a:cs typeface="Arial" pitchFamily="34" charset="-120"/>
              </a:rPr>
              <a:t>INSIGHT</a:t>
            </a:r>
            <a:endParaRPr lang="en-US" sz="1050" dirty="0"/>
          </a:p>
        </p:txBody>
      </p:sp>
      <p:sp>
        <p:nvSpPr>
          <p:cNvPr id="3" name="Text 1"/>
          <p:cNvSpPr txBox="1"/>
          <p:nvPr/>
        </p:nvSpPr>
        <p:spPr>
          <a:xfrm>
            <a:off x="566928" y="566928"/>
            <a:ext cx="11027664" cy="548640"/>
          </a:xfrm>
          <a:prstGeom prst="rect">
            <a:avLst/>
          </a:prstGeom>
          <a:noFill/>
          <a:ln/>
        </p:spPr>
        <p:txBody>
          <a:bodyPr wrap="square" lIns="0" tIns="0" rIns="0" bIns="0" rtlCol="0" anchor="ctr"/>
          <a:lstStyle/>
          <a:p>
            <a:pPr indent="0" marL="0">
              <a:buNone/>
            </a:pPr>
            <a:r>
              <a:rPr lang="en-US" sz="2900" b="1" dirty="0">
                <a:solidFill>
                  <a:srgbClr val="F2EDE6"/>
                </a:solidFill>
                <a:latin typeface="Meiryo" pitchFamily="34" charset="0"/>
                <a:ea typeface="Meiryo" pitchFamily="34" charset="-122"/>
                <a:cs typeface="Meiryo" pitchFamily="34" charset="-120"/>
              </a:rPr>
              <a:t>ワイン＝コンテンツ。ワインマイル＝コミュニケーション。</a:t>
            </a:r>
            <a:endParaRPr lang="en-US" sz="2900" dirty="0"/>
          </a:p>
        </p:txBody>
      </p:sp>
      <p:sp>
        <p:nvSpPr>
          <p:cNvPr id="4" name="Text 2"/>
          <p:cNvSpPr txBox="1"/>
          <p:nvPr/>
        </p:nvSpPr>
        <p:spPr>
          <a:xfrm>
            <a:off x="566928" y="1152144"/>
            <a:ext cx="11027664" cy="310896"/>
          </a:xfrm>
          <a:prstGeom prst="rect">
            <a:avLst/>
          </a:prstGeom>
          <a:noFill/>
          <a:ln/>
        </p:spPr>
        <p:txBody>
          <a:bodyPr wrap="square" lIns="0" tIns="0" rIns="0" bIns="0" rtlCol="0" anchor="ctr"/>
          <a:lstStyle/>
          <a:p>
            <a:pPr indent="0" marL="0">
              <a:buNone/>
            </a:pPr>
            <a:r>
              <a:rPr lang="en-US" sz="1300" dirty="0">
                <a:solidFill>
                  <a:srgbClr val="A2908C"/>
                </a:solidFill>
                <a:latin typeface="Meiryo" pitchFamily="34" charset="0"/>
                <a:ea typeface="Meiryo" pitchFamily="34" charset="-122"/>
                <a:cs typeface="Meiryo" pitchFamily="34" charset="-120"/>
              </a:rPr>
              <a:t>SNSの本質は、本来別々だった二つを一体化させたこと。ワインでも同じことが起きます。</a:t>
            </a:r>
            <a:endParaRPr lang="en-US" sz="1300" dirty="0"/>
          </a:p>
        </p:txBody>
      </p:sp>
      <p:sp>
        <p:nvSpPr>
          <p:cNvPr id="5" name="Text 3"/>
          <p:cNvSpPr txBox="1"/>
          <p:nvPr/>
        </p:nvSpPr>
        <p:spPr>
          <a:xfrm>
            <a:off x="566928" y="6437376"/>
            <a:ext cx="4572000" cy="219456"/>
          </a:xfrm>
          <a:prstGeom prst="rect">
            <a:avLst/>
          </a:prstGeom>
          <a:noFill/>
          <a:ln/>
        </p:spPr>
        <p:txBody>
          <a:bodyPr wrap="square" lIns="0" tIns="0" rIns="0" bIns="0" rtlCol="0" anchor="ctr"/>
          <a:lstStyle/>
          <a:p>
            <a:pPr indent="0" marL="0">
              <a:buNone/>
            </a:pPr>
            <a:r>
              <a:rPr lang="en-US" sz="850" dirty="0">
                <a:solidFill>
                  <a:srgbClr val="6B5A5F"/>
                </a:solidFill>
                <a:latin typeface="Arial" pitchFamily="34" charset="0"/>
                <a:ea typeface="Arial" pitchFamily="34" charset="-122"/>
                <a:cs typeface="Arial" pitchFamily="34" charset="-120"/>
              </a:rPr>
              <a:t>WineBank CONFIDENTIAL</a:t>
            </a:r>
            <a:endParaRPr lang="en-US" sz="850" dirty="0"/>
          </a:p>
        </p:txBody>
      </p:sp>
      <p:sp>
        <p:nvSpPr>
          <p:cNvPr id="6" name="Shape 4"/>
          <p:cNvSpPr/>
          <p:nvPr/>
        </p:nvSpPr>
        <p:spPr>
          <a:xfrm>
            <a:off x="566928" y="1627632"/>
            <a:ext cx="3017520" cy="3017520"/>
          </a:xfrm>
          <a:prstGeom prst="roundRect">
            <a:avLst>
              <a:gd name="adj" fmla="val 1818"/>
            </a:avLst>
          </a:prstGeom>
          <a:solidFill>
            <a:srgbClr val="261A24"/>
          </a:solidFill>
          <a:ln w="12700">
            <a:solidFill>
              <a:srgbClr val="261A24"/>
            </a:solidFill>
            <a:prstDash val="solid"/>
          </a:ln>
          <a:effectLst>
            <a:outerShdw sx="100000" sy="100000" kx="0" ky="0" algn="bl" rotWithShape="0" blurRad="127000" dist="25400" dir="5400000">
              <a:srgbClr val="000000">
                <a:alpha val="35000"/>
              </a:srgbClr>
            </a:outerShdw>
          </a:effectLst>
        </p:spPr>
      </p:sp>
      <p:sp>
        <p:nvSpPr>
          <p:cNvPr id="7" name="Text 5"/>
          <p:cNvSpPr txBox="1"/>
          <p:nvPr/>
        </p:nvSpPr>
        <p:spPr>
          <a:xfrm>
            <a:off x="859536" y="1828800"/>
            <a:ext cx="2432304" cy="402336"/>
          </a:xfrm>
          <a:prstGeom prst="rect">
            <a:avLst/>
          </a:prstGeom>
          <a:noFill/>
          <a:ln/>
        </p:spPr>
        <p:txBody>
          <a:bodyPr wrap="square" lIns="0" tIns="0" rIns="0" bIns="0" rtlCol="0" anchor="ctr"/>
          <a:lstStyle/>
          <a:p>
            <a:pPr indent="0" marL="0">
              <a:buNone/>
            </a:pPr>
            <a:r>
              <a:rPr lang="en-US" sz="2400" b="1" dirty="0">
                <a:solidFill>
                  <a:srgbClr val="E8CE78"/>
                </a:solidFill>
                <a:latin typeface="Meiryo" pitchFamily="34" charset="0"/>
                <a:ea typeface="Meiryo" pitchFamily="34" charset="-122"/>
                <a:cs typeface="Meiryo" pitchFamily="34" charset="-120"/>
              </a:rPr>
              <a:t>ワイン</a:t>
            </a:r>
            <a:endParaRPr lang="en-US" sz="2400" dirty="0"/>
          </a:p>
        </p:txBody>
      </p:sp>
      <p:sp>
        <p:nvSpPr>
          <p:cNvPr id="8" name="Text 6"/>
          <p:cNvSpPr txBox="1"/>
          <p:nvPr/>
        </p:nvSpPr>
        <p:spPr>
          <a:xfrm>
            <a:off x="859536" y="2267712"/>
            <a:ext cx="2432304" cy="274320"/>
          </a:xfrm>
          <a:prstGeom prst="rect">
            <a:avLst/>
          </a:prstGeom>
          <a:noFill/>
          <a:ln/>
        </p:spPr>
        <p:txBody>
          <a:bodyPr wrap="square" lIns="0" tIns="0" rIns="0" bIns="0" rtlCol="0" anchor="ctr"/>
          <a:lstStyle/>
          <a:p>
            <a:pPr indent="0" marL="0">
              <a:buNone/>
            </a:pPr>
            <a:r>
              <a:rPr lang="en-US" sz="1300" dirty="0">
                <a:solidFill>
                  <a:srgbClr val="A2908C"/>
                </a:solidFill>
                <a:latin typeface="Meiryo" pitchFamily="34" charset="0"/>
                <a:ea typeface="Meiryo" pitchFamily="34" charset="-122"/>
                <a:cs typeface="Meiryo" pitchFamily="34" charset="-120"/>
              </a:rPr>
              <a:t>＝ コンテンツ</a:t>
            </a:r>
            <a:endParaRPr lang="en-US" sz="1300" dirty="0"/>
          </a:p>
        </p:txBody>
      </p:sp>
      <p:sp>
        <p:nvSpPr>
          <p:cNvPr id="9" name="Text 7"/>
          <p:cNvSpPr txBox="1"/>
          <p:nvPr/>
        </p:nvSpPr>
        <p:spPr>
          <a:xfrm>
            <a:off x="859536" y="2670048"/>
            <a:ext cx="2432304" cy="1005840"/>
          </a:xfrm>
          <a:prstGeom prst="rect">
            <a:avLst/>
          </a:prstGeom>
          <a:noFill/>
          <a:ln/>
        </p:spPr>
        <p:txBody>
          <a:bodyPr wrap="square" lIns="0" tIns="0" rIns="0" bIns="0" rtlCol="0" anchor="ctr"/>
          <a:lstStyle/>
          <a:p>
            <a:pPr indent="0" marL="0">
              <a:lnSpc>
                <a:spcPts val="1800"/>
              </a:lnSpc>
              <a:buNone/>
            </a:pPr>
            <a:r>
              <a:rPr lang="en-US" sz="1150" dirty="0">
                <a:solidFill>
                  <a:srgbClr val="A2908C"/>
                </a:solidFill>
                <a:latin typeface="Meiryo" pitchFamily="34" charset="0"/>
                <a:ea typeface="Meiryo" pitchFamily="34" charset="-122"/>
                <a:cs typeface="Meiryo" pitchFamily="34" charset="-120"/>
              </a:rPr>
              <a:t>現物資産。時価が動き、飲み頃が来て、いつか開けられる。ここまでは2.1で作れました。</a:t>
            </a:r>
            <a:endParaRPr lang="en-US" sz="1150" dirty="0"/>
          </a:p>
        </p:txBody>
      </p:sp>
      <p:sp>
        <p:nvSpPr>
          <p:cNvPr id="10" name="Text 8"/>
          <p:cNvSpPr txBox="1"/>
          <p:nvPr/>
        </p:nvSpPr>
        <p:spPr>
          <a:xfrm>
            <a:off x="3675888" y="2834640"/>
            <a:ext cx="365760" cy="365760"/>
          </a:xfrm>
          <a:prstGeom prst="rect">
            <a:avLst/>
          </a:prstGeom>
          <a:noFill/>
          <a:ln/>
        </p:spPr>
        <p:txBody>
          <a:bodyPr wrap="square" lIns="0" tIns="0" rIns="0" bIns="0" rtlCol="0" anchor="ctr"/>
          <a:lstStyle/>
          <a:p>
            <a:pPr algn="ctr" indent="0" marL="0">
              <a:buNone/>
            </a:pPr>
            <a:r>
              <a:rPr lang="en-US" sz="2200" b="1" dirty="0">
                <a:solidFill>
                  <a:srgbClr val="C9A227"/>
                </a:solidFill>
                <a:latin typeface="Meiryo" pitchFamily="34" charset="0"/>
                <a:ea typeface="Meiryo" pitchFamily="34" charset="-122"/>
                <a:cs typeface="Meiryo" pitchFamily="34" charset="-120"/>
              </a:rPr>
              <a:t>＋</a:t>
            </a:r>
            <a:endParaRPr lang="en-US" sz="2200" dirty="0"/>
          </a:p>
        </p:txBody>
      </p:sp>
      <p:sp>
        <p:nvSpPr>
          <p:cNvPr id="11" name="Shape 9"/>
          <p:cNvSpPr/>
          <p:nvPr/>
        </p:nvSpPr>
        <p:spPr>
          <a:xfrm>
            <a:off x="4133088" y="1627632"/>
            <a:ext cx="7461504" cy="3017520"/>
          </a:xfrm>
          <a:prstGeom prst="roundRect">
            <a:avLst>
              <a:gd name="adj" fmla="val 1818"/>
            </a:avLst>
          </a:prstGeom>
          <a:solidFill>
            <a:srgbClr val="17111A"/>
          </a:solidFill>
          <a:ln w="12700">
            <a:solidFill>
              <a:srgbClr val="17111A"/>
            </a:solidFill>
            <a:prstDash val="solid"/>
          </a:ln>
          <a:effectLst>
            <a:outerShdw sx="100000" sy="100000" kx="0" ky="0" algn="bl" rotWithShape="0" blurRad="127000" dist="25400" dir="5400000">
              <a:srgbClr val="000000">
                <a:alpha val="35000"/>
              </a:srgbClr>
            </a:outerShdw>
          </a:effectLst>
        </p:spPr>
      </p:sp>
      <p:sp>
        <p:nvSpPr>
          <p:cNvPr id="12" name="Text 10"/>
          <p:cNvSpPr txBox="1"/>
          <p:nvPr/>
        </p:nvSpPr>
        <p:spPr>
          <a:xfrm>
            <a:off x="4425696" y="1828800"/>
            <a:ext cx="6858000" cy="402336"/>
          </a:xfrm>
          <a:prstGeom prst="rect">
            <a:avLst/>
          </a:prstGeom>
          <a:noFill/>
          <a:ln/>
        </p:spPr>
        <p:txBody>
          <a:bodyPr wrap="square" lIns="0" tIns="0" rIns="0" bIns="0" rtlCol="0" anchor="ctr"/>
          <a:lstStyle/>
          <a:p>
            <a:pPr indent="0" marL="0">
              <a:buNone/>
            </a:pPr>
            <a:r>
              <a:rPr lang="en-US" sz="2400" b="1" dirty="0">
                <a:solidFill>
                  <a:srgbClr val="C9A227"/>
                </a:solidFill>
                <a:latin typeface="Meiryo" pitchFamily="34" charset="0"/>
                <a:ea typeface="Meiryo" pitchFamily="34" charset="-122"/>
                <a:cs typeface="Meiryo" pitchFamily="34" charset="-120"/>
              </a:rPr>
              <a:t>ワインマイル</a:t>
            </a:r>
            <a:endParaRPr lang="en-US" sz="2400" dirty="0"/>
          </a:p>
        </p:txBody>
      </p:sp>
      <p:sp>
        <p:nvSpPr>
          <p:cNvPr id="13" name="Text 11"/>
          <p:cNvSpPr txBox="1"/>
          <p:nvPr/>
        </p:nvSpPr>
        <p:spPr>
          <a:xfrm>
            <a:off x="4425696" y="2267712"/>
            <a:ext cx="6858000" cy="274320"/>
          </a:xfrm>
          <a:prstGeom prst="rect">
            <a:avLst/>
          </a:prstGeom>
          <a:noFill/>
          <a:ln/>
        </p:spPr>
        <p:txBody>
          <a:bodyPr wrap="square" lIns="0" tIns="0" rIns="0" bIns="0" rtlCol="0" anchor="ctr"/>
          <a:lstStyle/>
          <a:p>
            <a:pPr indent="0" marL="0">
              <a:buNone/>
            </a:pPr>
            <a:r>
              <a:rPr lang="en-US" sz="1300" dirty="0">
                <a:solidFill>
                  <a:srgbClr val="A2908C"/>
                </a:solidFill>
                <a:latin typeface="Meiryo" pitchFamily="34" charset="0"/>
                <a:ea typeface="Meiryo" pitchFamily="34" charset="-122"/>
                <a:cs typeface="Meiryo" pitchFamily="34" charset="-120"/>
              </a:rPr>
              <a:t>＝ コミュニケーション　　交換先はすべて「人と会う」「人に贈る」に繋がる</a:t>
            </a:r>
            <a:endParaRPr lang="en-US" sz="1300" dirty="0"/>
          </a:p>
        </p:txBody>
      </p:sp>
      <p:sp>
        <p:nvSpPr>
          <p:cNvPr id="14" name="Shape 12"/>
          <p:cNvSpPr/>
          <p:nvPr/>
        </p:nvSpPr>
        <p:spPr>
          <a:xfrm>
            <a:off x="4425696" y="2688336"/>
            <a:ext cx="1609344" cy="402336"/>
          </a:xfrm>
          <a:prstGeom prst="roundRect">
            <a:avLst>
              <a:gd name="adj" fmla="val 13636"/>
            </a:avLst>
          </a:prstGeom>
          <a:solidFill>
            <a:srgbClr val="261A24"/>
          </a:solidFill>
          <a:ln w="12700">
            <a:solidFill>
              <a:srgbClr val="261A24"/>
            </a:solidFill>
            <a:prstDash val="solid"/>
          </a:ln>
          <a:effectLst>
            <a:outerShdw sx="100000" sy="100000" kx="0" ky="0" algn="bl" rotWithShape="0" blurRad="127000" dist="25400" dir="5400000">
              <a:srgbClr val="000000">
                <a:alpha val="35000"/>
              </a:srgbClr>
            </a:outerShdw>
          </a:effectLst>
        </p:spPr>
      </p:sp>
      <p:sp>
        <p:nvSpPr>
          <p:cNvPr id="15" name="Text 13"/>
          <p:cNvSpPr txBox="1"/>
          <p:nvPr/>
        </p:nvSpPr>
        <p:spPr>
          <a:xfrm>
            <a:off x="4480560" y="2688336"/>
            <a:ext cx="1499616" cy="402336"/>
          </a:xfrm>
          <a:prstGeom prst="rect">
            <a:avLst/>
          </a:prstGeom>
          <a:noFill/>
          <a:ln/>
        </p:spPr>
        <p:txBody>
          <a:bodyPr wrap="square" lIns="0" tIns="0" rIns="0" bIns="0" rtlCol="0" anchor="ctr"/>
          <a:lstStyle/>
          <a:p>
            <a:pPr algn="ctr" indent="0" marL="0">
              <a:buNone/>
            </a:pPr>
            <a:r>
              <a:rPr lang="en-US" sz="950" dirty="0">
                <a:solidFill>
                  <a:srgbClr val="F2EDE6"/>
                </a:solidFill>
                <a:latin typeface="Meiryo" pitchFamily="34" charset="0"/>
                <a:ea typeface="Meiryo" pitchFamily="34" charset="-122"/>
                <a:cs typeface="Meiryo" pitchFamily="34" charset="-120"/>
              </a:rPr>
              <a:t>WineBank会員イベント</a:t>
            </a:r>
            <a:endParaRPr lang="en-US" sz="950" dirty="0"/>
          </a:p>
        </p:txBody>
      </p:sp>
      <p:sp>
        <p:nvSpPr>
          <p:cNvPr id="16" name="Shape 14"/>
          <p:cNvSpPr/>
          <p:nvPr/>
        </p:nvSpPr>
        <p:spPr>
          <a:xfrm>
            <a:off x="6163056" y="2688336"/>
            <a:ext cx="1609344" cy="402336"/>
          </a:xfrm>
          <a:prstGeom prst="roundRect">
            <a:avLst>
              <a:gd name="adj" fmla="val 13636"/>
            </a:avLst>
          </a:prstGeom>
          <a:solidFill>
            <a:srgbClr val="261A24"/>
          </a:solidFill>
          <a:ln w="12700">
            <a:solidFill>
              <a:srgbClr val="261A24"/>
            </a:solidFill>
            <a:prstDash val="solid"/>
          </a:ln>
          <a:effectLst>
            <a:outerShdw sx="100000" sy="100000" kx="0" ky="0" algn="bl" rotWithShape="0" blurRad="127000" dist="25400" dir="5400000">
              <a:srgbClr val="000000">
                <a:alpha val="35000"/>
              </a:srgbClr>
            </a:outerShdw>
          </a:effectLst>
        </p:spPr>
      </p:sp>
      <p:sp>
        <p:nvSpPr>
          <p:cNvPr id="17" name="Text 15"/>
          <p:cNvSpPr txBox="1"/>
          <p:nvPr/>
        </p:nvSpPr>
        <p:spPr>
          <a:xfrm>
            <a:off x="6217920" y="2688336"/>
            <a:ext cx="1499616" cy="402336"/>
          </a:xfrm>
          <a:prstGeom prst="rect">
            <a:avLst/>
          </a:prstGeom>
          <a:noFill/>
          <a:ln/>
        </p:spPr>
        <p:txBody>
          <a:bodyPr wrap="square" lIns="0" tIns="0" rIns="0" bIns="0" rtlCol="0" anchor="ctr"/>
          <a:lstStyle/>
          <a:p>
            <a:pPr algn="ctr" indent="0" marL="0">
              <a:buNone/>
            </a:pPr>
            <a:r>
              <a:rPr lang="en-US" sz="950" dirty="0">
                <a:solidFill>
                  <a:srgbClr val="F2EDE6"/>
                </a:solidFill>
                <a:latin typeface="Meiryo" pitchFamily="34" charset="0"/>
                <a:ea typeface="Meiryo" pitchFamily="34" charset="-122"/>
                <a:cs typeface="Meiryo" pitchFamily="34" charset="-120"/>
              </a:rPr>
              <a:t>WineBank CLUB</a:t>
            </a:r>
            <a:endParaRPr lang="en-US" sz="950" dirty="0"/>
          </a:p>
        </p:txBody>
      </p:sp>
      <p:sp>
        <p:nvSpPr>
          <p:cNvPr id="18" name="Shape 16"/>
          <p:cNvSpPr/>
          <p:nvPr/>
        </p:nvSpPr>
        <p:spPr>
          <a:xfrm>
            <a:off x="7900416" y="2688336"/>
            <a:ext cx="1609344" cy="402336"/>
          </a:xfrm>
          <a:prstGeom prst="roundRect">
            <a:avLst>
              <a:gd name="adj" fmla="val 13636"/>
            </a:avLst>
          </a:prstGeom>
          <a:solidFill>
            <a:srgbClr val="261A24"/>
          </a:solidFill>
          <a:ln w="12700">
            <a:solidFill>
              <a:srgbClr val="261A24"/>
            </a:solidFill>
            <a:prstDash val="solid"/>
          </a:ln>
          <a:effectLst>
            <a:outerShdw sx="100000" sy="100000" kx="0" ky="0" algn="bl" rotWithShape="0" blurRad="127000" dist="25400" dir="5400000">
              <a:srgbClr val="000000">
                <a:alpha val="35000"/>
              </a:srgbClr>
            </a:outerShdw>
          </a:effectLst>
        </p:spPr>
      </p:sp>
      <p:sp>
        <p:nvSpPr>
          <p:cNvPr id="19" name="Text 17"/>
          <p:cNvSpPr txBox="1"/>
          <p:nvPr/>
        </p:nvSpPr>
        <p:spPr>
          <a:xfrm>
            <a:off x="7955280" y="2688336"/>
            <a:ext cx="1499616" cy="402336"/>
          </a:xfrm>
          <a:prstGeom prst="rect">
            <a:avLst/>
          </a:prstGeom>
          <a:noFill/>
          <a:ln/>
        </p:spPr>
        <p:txBody>
          <a:bodyPr wrap="square" lIns="0" tIns="0" rIns="0" bIns="0" rtlCol="0" anchor="ctr"/>
          <a:lstStyle/>
          <a:p>
            <a:pPr algn="ctr" indent="0" marL="0">
              <a:buNone/>
            </a:pPr>
            <a:r>
              <a:rPr lang="en-US" sz="950" dirty="0">
                <a:solidFill>
                  <a:srgbClr val="F2EDE6"/>
                </a:solidFill>
                <a:latin typeface="Meiryo" pitchFamily="34" charset="0"/>
                <a:ea typeface="Meiryo" pitchFamily="34" charset="-122"/>
                <a:cs typeface="Meiryo" pitchFamily="34" charset="-120"/>
              </a:rPr>
              <a:t>系列店での会食</a:t>
            </a:r>
            <a:endParaRPr lang="en-US" sz="950" dirty="0"/>
          </a:p>
        </p:txBody>
      </p:sp>
      <p:sp>
        <p:nvSpPr>
          <p:cNvPr id="20" name="Shape 18"/>
          <p:cNvSpPr/>
          <p:nvPr/>
        </p:nvSpPr>
        <p:spPr>
          <a:xfrm>
            <a:off x="9637776" y="2688336"/>
            <a:ext cx="1609344" cy="402336"/>
          </a:xfrm>
          <a:prstGeom prst="roundRect">
            <a:avLst>
              <a:gd name="adj" fmla="val 13636"/>
            </a:avLst>
          </a:prstGeom>
          <a:solidFill>
            <a:srgbClr val="261A24"/>
          </a:solidFill>
          <a:ln w="12700">
            <a:solidFill>
              <a:srgbClr val="261A24"/>
            </a:solidFill>
            <a:prstDash val="solid"/>
          </a:ln>
          <a:effectLst>
            <a:outerShdw sx="100000" sy="100000" kx="0" ky="0" algn="bl" rotWithShape="0" blurRad="127000" dist="25400" dir="5400000">
              <a:srgbClr val="000000">
                <a:alpha val="35000"/>
              </a:srgbClr>
            </a:outerShdw>
          </a:effectLst>
        </p:spPr>
      </p:sp>
      <p:sp>
        <p:nvSpPr>
          <p:cNvPr id="21" name="Text 19"/>
          <p:cNvSpPr txBox="1"/>
          <p:nvPr/>
        </p:nvSpPr>
        <p:spPr>
          <a:xfrm>
            <a:off x="9692640" y="2688336"/>
            <a:ext cx="1499616" cy="402336"/>
          </a:xfrm>
          <a:prstGeom prst="rect">
            <a:avLst/>
          </a:prstGeom>
          <a:noFill/>
          <a:ln/>
        </p:spPr>
        <p:txBody>
          <a:bodyPr wrap="square" lIns="0" tIns="0" rIns="0" bIns="0" rtlCol="0" anchor="ctr"/>
          <a:lstStyle/>
          <a:p>
            <a:pPr algn="ctr" indent="0" marL="0">
              <a:buNone/>
            </a:pPr>
            <a:r>
              <a:rPr lang="en-US" sz="950" dirty="0">
                <a:solidFill>
                  <a:srgbClr val="F2EDE6"/>
                </a:solidFill>
                <a:latin typeface="Meiryo" pitchFamily="34" charset="0"/>
                <a:ea typeface="Meiryo" pitchFamily="34" charset="-122"/>
                <a:cs typeface="Meiryo" pitchFamily="34" charset="-120"/>
              </a:rPr>
              <a:t>ワインの贈答</a:t>
            </a:r>
            <a:endParaRPr lang="en-US" sz="950" dirty="0"/>
          </a:p>
        </p:txBody>
      </p:sp>
      <p:sp>
        <p:nvSpPr>
          <p:cNvPr id="22" name="Shape 20"/>
          <p:cNvSpPr/>
          <p:nvPr/>
        </p:nvSpPr>
        <p:spPr>
          <a:xfrm>
            <a:off x="4425696" y="3200400"/>
            <a:ext cx="1609344" cy="402336"/>
          </a:xfrm>
          <a:prstGeom prst="roundRect">
            <a:avLst>
              <a:gd name="adj" fmla="val 13636"/>
            </a:avLst>
          </a:prstGeom>
          <a:solidFill>
            <a:srgbClr val="261A24"/>
          </a:solidFill>
          <a:ln w="12700">
            <a:solidFill>
              <a:srgbClr val="261A24"/>
            </a:solidFill>
            <a:prstDash val="solid"/>
          </a:ln>
          <a:effectLst>
            <a:outerShdw sx="100000" sy="100000" kx="0" ky="0" algn="bl" rotWithShape="0" blurRad="127000" dist="25400" dir="5400000">
              <a:srgbClr val="000000">
                <a:alpha val="35000"/>
              </a:srgbClr>
            </a:outerShdw>
          </a:effectLst>
        </p:spPr>
      </p:sp>
      <p:sp>
        <p:nvSpPr>
          <p:cNvPr id="23" name="Text 21"/>
          <p:cNvSpPr txBox="1"/>
          <p:nvPr/>
        </p:nvSpPr>
        <p:spPr>
          <a:xfrm>
            <a:off x="4480560" y="3200400"/>
            <a:ext cx="1499616" cy="402336"/>
          </a:xfrm>
          <a:prstGeom prst="rect">
            <a:avLst/>
          </a:prstGeom>
          <a:noFill/>
          <a:ln/>
        </p:spPr>
        <p:txBody>
          <a:bodyPr wrap="square" lIns="0" tIns="0" rIns="0" bIns="0" rtlCol="0" anchor="ctr"/>
          <a:lstStyle/>
          <a:p>
            <a:pPr algn="ctr" indent="0" marL="0">
              <a:buNone/>
            </a:pPr>
            <a:r>
              <a:rPr lang="en-US" sz="950" dirty="0">
                <a:solidFill>
                  <a:srgbClr val="F2EDE6"/>
                </a:solidFill>
                <a:latin typeface="Meiryo" pitchFamily="34" charset="0"/>
                <a:ea typeface="Meiryo" pitchFamily="34" charset="-122"/>
                <a:cs typeface="Meiryo" pitchFamily="34" charset="-120"/>
              </a:rPr>
              <a:t>マーケットプレイス／オークション</a:t>
            </a:r>
            <a:endParaRPr lang="en-US" sz="950" dirty="0"/>
          </a:p>
        </p:txBody>
      </p:sp>
      <p:sp>
        <p:nvSpPr>
          <p:cNvPr id="24" name="Shape 22"/>
          <p:cNvSpPr/>
          <p:nvPr/>
        </p:nvSpPr>
        <p:spPr>
          <a:xfrm>
            <a:off x="6163056" y="3200400"/>
            <a:ext cx="1609344" cy="402336"/>
          </a:xfrm>
          <a:prstGeom prst="roundRect">
            <a:avLst>
              <a:gd name="adj" fmla="val 13636"/>
            </a:avLst>
          </a:prstGeom>
          <a:solidFill>
            <a:srgbClr val="261A24"/>
          </a:solidFill>
          <a:ln w="12700">
            <a:solidFill>
              <a:srgbClr val="261A24"/>
            </a:solidFill>
            <a:prstDash val="solid"/>
          </a:ln>
          <a:effectLst>
            <a:outerShdw sx="100000" sy="100000" kx="0" ky="0" algn="bl" rotWithShape="0" blurRad="127000" dist="25400" dir="5400000">
              <a:srgbClr val="000000">
                <a:alpha val="35000"/>
              </a:srgbClr>
            </a:outerShdw>
          </a:effectLst>
        </p:spPr>
      </p:sp>
      <p:sp>
        <p:nvSpPr>
          <p:cNvPr id="25" name="Text 23"/>
          <p:cNvSpPr txBox="1"/>
          <p:nvPr/>
        </p:nvSpPr>
        <p:spPr>
          <a:xfrm>
            <a:off x="6217920" y="3200400"/>
            <a:ext cx="1499616" cy="402336"/>
          </a:xfrm>
          <a:prstGeom prst="rect">
            <a:avLst/>
          </a:prstGeom>
          <a:noFill/>
          <a:ln/>
        </p:spPr>
        <p:txBody>
          <a:bodyPr wrap="square" lIns="0" tIns="0" rIns="0" bIns="0" rtlCol="0" anchor="ctr"/>
          <a:lstStyle/>
          <a:p>
            <a:pPr algn="ctr" indent="0" marL="0">
              <a:buNone/>
            </a:pPr>
            <a:r>
              <a:rPr lang="en-US" sz="950" dirty="0">
                <a:solidFill>
                  <a:srgbClr val="F2EDE6"/>
                </a:solidFill>
                <a:latin typeface="Meiryo" pitchFamily="34" charset="0"/>
                <a:ea typeface="Meiryo" pitchFamily="34" charset="-122"/>
                <a:cs typeface="Meiryo" pitchFamily="34" charset="-120"/>
              </a:rPr>
              <a:t>BYO（持ち込み）</a:t>
            </a:r>
            <a:endParaRPr lang="en-US" sz="950" dirty="0"/>
          </a:p>
        </p:txBody>
      </p:sp>
      <p:sp>
        <p:nvSpPr>
          <p:cNvPr id="26" name="Shape 24"/>
          <p:cNvSpPr/>
          <p:nvPr/>
        </p:nvSpPr>
        <p:spPr>
          <a:xfrm>
            <a:off x="7900416" y="3200400"/>
            <a:ext cx="1609344" cy="402336"/>
          </a:xfrm>
          <a:prstGeom prst="roundRect">
            <a:avLst>
              <a:gd name="adj" fmla="val 13636"/>
            </a:avLst>
          </a:prstGeom>
          <a:solidFill>
            <a:srgbClr val="261A24"/>
          </a:solidFill>
          <a:ln w="12700">
            <a:solidFill>
              <a:srgbClr val="261A24"/>
            </a:solidFill>
            <a:prstDash val="solid"/>
          </a:ln>
          <a:effectLst>
            <a:outerShdw sx="100000" sy="100000" kx="0" ky="0" algn="bl" rotWithShape="0" blurRad="127000" dist="25400" dir="5400000">
              <a:srgbClr val="000000">
                <a:alpha val="35000"/>
              </a:srgbClr>
            </a:outerShdw>
          </a:effectLst>
        </p:spPr>
      </p:sp>
      <p:sp>
        <p:nvSpPr>
          <p:cNvPr id="27" name="Text 25"/>
          <p:cNvSpPr txBox="1"/>
          <p:nvPr/>
        </p:nvSpPr>
        <p:spPr>
          <a:xfrm>
            <a:off x="7955280" y="3200400"/>
            <a:ext cx="1499616" cy="402336"/>
          </a:xfrm>
          <a:prstGeom prst="rect">
            <a:avLst/>
          </a:prstGeom>
          <a:noFill/>
          <a:ln/>
        </p:spPr>
        <p:txBody>
          <a:bodyPr wrap="square" lIns="0" tIns="0" rIns="0" bIns="0" rtlCol="0" anchor="ctr"/>
          <a:lstStyle/>
          <a:p>
            <a:pPr algn="ctr" indent="0" marL="0">
              <a:buNone/>
            </a:pPr>
            <a:r>
              <a:rPr lang="en-US" sz="950" dirty="0">
                <a:solidFill>
                  <a:srgbClr val="F2EDE6"/>
                </a:solidFill>
                <a:latin typeface="Meiryo" pitchFamily="34" charset="0"/>
                <a:ea typeface="Meiryo" pitchFamily="34" charset="-122"/>
                <a:cs typeface="Meiryo" pitchFamily="34" charset="-120"/>
              </a:rPr>
              <a:t>配送</a:t>
            </a:r>
            <a:endParaRPr lang="en-US" sz="950" dirty="0"/>
          </a:p>
        </p:txBody>
      </p:sp>
      <p:sp>
        <p:nvSpPr>
          <p:cNvPr id="28" name="Shape 26"/>
          <p:cNvSpPr/>
          <p:nvPr/>
        </p:nvSpPr>
        <p:spPr>
          <a:xfrm>
            <a:off x="9637776" y="3200400"/>
            <a:ext cx="1609344" cy="402336"/>
          </a:xfrm>
          <a:prstGeom prst="roundRect">
            <a:avLst>
              <a:gd name="adj" fmla="val 13636"/>
            </a:avLst>
          </a:prstGeom>
          <a:solidFill>
            <a:srgbClr val="261A24"/>
          </a:solidFill>
          <a:ln w="12700">
            <a:solidFill>
              <a:srgbClr val="261A24"/>
            </a:solidFill>
            <a:prstDash val="solid"/>
          </a:ln>
          <a:effectLst>
            <a:outerShdw sx="100000" sy="100000" kx="0" ky="0" algn="bl" rotWithShape="0" blurRad="127000" dist="25400" dir="5400000">
              <a:srgbClr val="000000">
                <a:alpha val="35000"/>
              </a:srgbClr>
            </a:outerShdw>
          </a:effectLst>
        </p:spPr>
      </p:sp>
      <p:sp>
        <p:nvSpPr>
          <p:cNvPr id="29" name="Text 27"/>
          <p:cNvSpPr txBox="1"/>
          <p:nvPr/>
        </p:nvSpPr>
        <p:spPr>
          <a:xfrm>
            <a:off x="9692640" y="3200400"/>
            <a:ext cx="1499616" cy="402336"/>
          </a:xfrm>
          <a:prstGeom prst="rect">
            <a:avLst/>
          </a:prstGeom>
          <a:noFill/>
          <a:ln/>
        </p:spPr>
        <p:txBody>
          <a:bodyPr wrap="square" lIns="0" tIns="0" rIns="0" bIns="0" rtlCol="0" anchor="ctr"/>
          <a:lstStyle/>
          <a:p>
            <a:pPr algn="ctr" indent="0" marL="0">
              <a:buNone/>
            </a:pPr>
            <a:r>
              <a:rPr lang="en-US" sz="950" dirty="0">
                <a:solidFill>
                  <a:srgbClr val="F2EDE6"/>
                </a:solidFill>
                <a:latin typeface="Meiryo" pitchFamily="34" charset="0"/>
                <a:ea typeface="Meiryo" pitchFamily="34" charset="-122"/>
                <a:cs typeface="Meiryo" pitchFamily="34" charset="-120"/>
              </a:rPr>
              <a:t>ワイナート年間購読</a:t>
            </a:r>
            <a:endParaRPr lang="en-US" sz="950" dirty="0"/>
          </a:p>
        </p:txBody>
      </p:sp>
      <p:sp>
        <p:nvSpPr>
          <p:cNvPr id="30" name="Text 28"/>
          <p:cNvSpPr txBox="1"/>
          <p:nvPr/>
        </p:nvSpPr>
        <p:spPr>
          <a:xfrm>
            <a:off x="4425696" y="3803904"/>
            <a:ext cx="6858000" cy="274320"/>
          </a:xfrm>
          <a:prstGeom prst="rect">
            <a:avLst/>
          </a:prstGeom>
          <a:noFill/>
          <a:ln/>
        </p:spPr>
        <p:txBody>
          <a:bodyPr wrap="square" lIns="0" tIns="0" rIns="0" bIns="0" rtlCol="0" anchor="ctr"/>
          <a:lstStyle/>
          <a:p>
            <a:pPr indent="0" marL="0">
              <a:buNone/>
            </a:pPr>
            <a:r>
              <a:rPr lang="en-US" sz="1050" dirty="0">
                <a:solidFill>
                  <a:srgbClr val="A2908C"/>
                </a:solidFill>
                <a:latin typeface="Meiryo" pitchFamily="34" charset="0"/>
                <a:ea typeface="Meiryo" pitchFamily="34" charset="-122"/>
                <a:cs typeface="Meiryo" pitchFamily="34" charset="-120"/>
              </a:rPr>
              <a:t>※今後、WineBankが提供するサービス（ワイナリー・オーベルジュ等）へ順次拡大</a:t>
            </a:r>
            <a:endParaRPr lang="en-US" sz="1050" dirty="0"/>
          </a:p>
        </p:txBody>
      </p:sp>
      <p:sp>
        <p:nvSpPr>
          <p:cNvPr id="31" name="Shape 29"/>
          <p:cNvSpPr/>
          <p:nvPr/>
        </p:nvSpPr>
        <p:spPr>
          <a:xfrm>
            <a:off x="566928" y="4846320"/>
            <a:ext cx="11027664" cy="1188720"/>
          </a:xfrm>
          <a:prstGeom prst="roundRect">
            <a:avLst>
              <a:gd name="adj" fmla="val 4615"/>
            </a:avLst>
          </a:prstGeom>
          <a:solidFill>
            <a:srgbClr val="7B1E3A"/>
          </a:solidFill>
          <a:ln w="12700">
            <a:solidFill>
              <a:srgbClr val="7B1E3A"/>
            </a:solidFill>
            <a:prstDash val="solid"/>
          </a:ln>
          <a:effectLst>
            <a:outerShdw sx="100000" sy="100000" kx="0" ky="0" algn="bl" rotWithShape="0" blurRad="127000" dist="25400" dir="5400000">
              <a:srgbClr val="000000">
                <a:alpha val="35000"/>
              </a:srgbClr>
            </a:outerShdw>
          </a:effectLst>
        </p:spPr>
      </p:sp>
      <p:sp>
        <p:nvSpPr>
          <p:cNvPr id="32" name="Text 30"/>
          <p:cNvSpPr txBox="1"/>
          <p:nvPr/>
        </p:nvSpPr>
        <p:spPr>
          <a:xfrm>
            <a:off x="978408" y="5047488"/>
            <a:ext cx="10204704" cy="384048"/>
          </a:xfrm>
          <a:prstGeom prst="rect">
            <a:avLst/>
          </a:prstGeom>
          <a:noFill/>
          <a:ln/>
        </p:spPr>
        <p:txBody>
          <a:bodyPr wrap="square" lIns="0" tIns="0" rIns="0" bIns="0" rtlCol="0" anchor="ctr"/>
          <a:lstStyle/>
          <a:p>
            <a:pPr indent="0" marL="0">
              <a:buNone/>
            </a:pPr>
            <a:r>
              <a:rPr lang="en-US" sz="1900" b="1" dirty="0">
                <a:solidFill>
                  <a:srgbClr val="E8CE78"/>
                </a:solidFill>
                <a:latin typeface="Meiryo" pitchFamily="34" charset="0"/>
                <a:ea typeface="Meiryo" pitchFamily="34" charset="-122"/>
                <a:cs typeface="Meiryo" pitchFamily="34" charset="-120"/>
              </a:rPr>
              <a:t>ワインは、一人では飲みません。だからマイルは、必ず誰かと過ごす時間に変わります。</a:t>
            </a:r>
            <a:endParaRPr lang="en-US" sz="1900" dirty="0"/>
          </a:p>
        </p:txBody>
      </p:sp>
      <p:sp>
        <p:nvSpPr>
          <p:cNvPr id="33" name="Text 31"/>
          <p:cNvSpPr txBox="1"/>
          <p:nvPr/>
        </p:nvSpPr>
        <p:spPr>
          <a:xfrm>
            <a:off x="978408" y="5504688"/>
            <a:ext cx="10204704" cy="365760"/>
          </a:xfrm>
          <a:prstGeom prst="rect">
            <a:avLst/>
          </a:prstGeom>
          <a:noFill/>
          <a:ln/>
        </p:spPr>
        <p:txBody>
          <a:bodyPr wrap="square" lIns="0" tIns="0" rIns="0" bIns="0" rtlCol="0" anchor="ctr"/>
          <a:lstStyle/>
          <a:p>
            <a:pPr indent="0" marL="0">
              <a:buNone/>
            </a:pPr>
            <a:r>
              <a:rPr lang="en-US" sz="1250" dirty="0">
                <a:solidFill>
                  <a:srgbClr val="F2EDE6"/>
                </a:solidFill>
                <a:latin typeface="Meiryo" pitchFamily="34" charset="0"/>
                <a:ea typeface="Meiryo" pitchFamily="34" charset="-122"/>
                <a:cs typeface="Meiryo" pitchFamily="34" charset="-120"/>
              </a:rPr>
              <a:t>現金の還元は口座で終わります。マイルの還元は、食卓か、贈り先か、次の一本に必ず着地します。</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00000"/>
        </a:solidFill>
      </p:bgPr>
    </p:bg>
    <p:spTree>
      <p:nvGrpSpPr>
        <p:cNvPr id="1" name=""/>
        <p:cNvGrpSpPr/>
        <p:nvPr/>
      </p:nvGrpSpPr>
      <p:grpSpPr>
        <a:xfrm>
          <a:off x="0" y="0"/>
          <a:ext cx="0" cy="0"/>
          <a:chOff x="0" y="0"/>
          <a:chExt cx="0" cy="0"/>
        </a:xfrm>
      </p:grpSpPr>
      <p:sp>
        <p:nvSpPr>
          <p:cNvPr id="2" name="Text 0"/>
          <p:cNvSpPr txBox="1"/>
          <p:nvPr/>
        </p:nvSpPr>
        <p:spPr>
          <a:xfrm>
            <a:off x="566928" y="310896"/>
            <a:ext cx="11027664" cy="237744"/>
          </a:xfrm>
          <a:prstGeom prst="rect">
            <a:avLst/>
          </a:prstGeom>
          <a:noFill/>
          <a:ln/>
        </p:spPr>
        <p:txBody>
          <a:bodyPr wrap="square" lIns="0" tIns="0" rIns="0" bIns="0" rtlCol="0" anchor="ctr"/>
          <a:lstStyle/>
          <a:p>
            <a:pPr indent="0" marL="0">
              <a:buNone/>
            </a:pPr>
            <a:r>
              <a:rPr lang="en-US" sz="1050" b="1" spc="300" kern="0" dirty="0">
                <a:solidFill>
                  <a:srgbClr val="C9A227"/>
                </a:solidFill>
                <a:latin typeface="Arial" pitchFamily="34" charset="0"/>
                <a:ea typeface="Arial" pitchFamily="34" charset="-122"/>
                <a:cs typeface="Arial" pitchFamily="34" charset="-120"/>
              </a:rPr>
              <a:t>WHY IT NEVER ENDS</a:t>
            </a:r>
            <a:endParaRPr lang="en-US" sz="1050" dirty="0"/>
          </a:p>
        </p:txBody>
      </p:sp>
      <p:sp>
        <p:nvSpPr>
          <p:cNvPr id="3" name="Text 1"/>
          <p:cNvSpPr txBox="1"/>
          <p:nvPr/>
        </p:nvSpPr>
        <p:spPr>
          <a:xfrm>
            <a:off x="566928" y="566928"/>
            <a:ext cx="11027664" cy="548640"/>
          </a:xfrm>
          <a:prstGeom prst="rect">
            <a:avLst/>
          </a:prstGeom>
          <a:noFill/>
          <a:ln/>
        </p:spPr>
        <p:txBody>
          <a:bodyPr wrap="square" lIns="0" tIns="0" rIns="0" bIns="0" rtlCol="0" anchor="ctr"/>
          <a:lstStyle/>
          <a:p>
            <a:pPr indent="0" marL="0">
              <a:buNone/>
            </a:pPr>
            <a:r>
              <a:rPr lang="en-US" sz="2900" b="1" dirty="0">
                <a:solidFill>
                  <a:srgbClr val="F2EDE6"/>
                </a:solidFill>
                <a:latin typeface="Meiryo" pitchFamily="34" charset="0"/>
                <a:ea typeface="Meiryo" pitchFamily="34" charset="-122"/>
                <a:cs typeface="Meiryo" pitchFamily="34" charset="-120"/>
              </a:rPr>
              <a:t>「マイルも使い切ったら終わり」——終わるのは残高だけです</a:t>
            </a:r>
            <a:endParaRPr lang="en-US" sz="2900" dirty="0"/>
          </a:p>
        </p:txBody>
      </p:sp>
      <p:sp>
        <p:nvSpPr>
          <p:cNvPr id="4" name="Text 2"/>
          <p:cNvSpPr txBox="1"/>
          <p:nvPr/>
        </p:nvSpPr>
        <p:spPr>
          <a:xfrm>
            <a:off x="566928" y="1152144"/>
            <a:ext cx="11027664" cy="310896"/>
          </a:xfrm>
          <a:prstGeom prst="rect">
            <a:avLst/>
          </a:prstGeom>
          <a:noFill/>
          <a:ln/>
        </p:spPr>
        <p:txBody>
          <a:bodyPr wrap="square" lIns="0" tIns="0" rIns="0" bIns="0" rtlCol="0" anchor="ctr"/>
          <a:lstStyle/>
          <a:p>
            <a:pPr indent="0" marL="0">
              <a:buNone/>
            </a:pPr>
            <a:r>
              <a:rPr lang="en-US" sz="1300" dirty="0">
                <a:solidFill>
                  <a:srgbClr val="A2908C"/>
                </a:solidFill>
                <a:latin typeface="Meiryo" pitchFamily="34" charset="0"/>
                <a:ea typeface="Meiryo" pitchFamily="34" charset="-122"/>
                <a:cs typeface="Meiryo" pitchFamily="34" charset="-120"/>
              </a:rPr>
              <a:t>終わらないのは、マイルが貯まる理由のほうです。イベント案内やメルマガのことではありません。</a:t>
            </a:r>
            <a:endParaRPr lang="en-US" sz="1300" dirty="0"/>
          </a:p>
        </p:txBody>
      </p:sp>
      <p:sp>
        <p:nvSpPr>
          <p:cNvPr id="5" name="Text 3"/>
          <p:cNvSpPr txBox="1"/>
          <p:nvPr/>
        </p:nvSpPr>
        <p:spPr>
          <a:xfrm>
            <a:off x="566928" y="6437376"/>
            <a:ext cx="4572000" cy="219456"/>
          </a:xfrm>
          <a:prstGeom prst="rect">
            <a:avLst/>
          </a:prstGeom>
          <a:noFill/>
          <a:ln/>
        </p:spPr>
        <p:txBody>
          <a:bodyPr wrap="square" lIns="0" tIns="0" rIns="0" bIns="0" rtlCol="0" anchor="ctr"/>
          <a:lstStyle/>
          <a:p>
            <a:pPr indent="0" marL="0">
              <a:buNone/>
            </a:pPr>
            <a:r>
              <a:rPr lang="en-US" sz="850" dirty="0">
                <a:solidFill>
                  <a:srgbClr val="6B5A5F"/>
                </a:solidFill>
                <a:latin typeface="Arial" pitchFamily="34" charset="0"/>
                <a:ea typeface="Arial" pitchFamily="34" charset="-122"/>
                <a:cs typeface="Arial" pitchFamily="34" charset="-120"/>
              </a:rPr>
              <a:t>WineBank CONFIDENTIAL</a:t>
            </a:r>
            <a:endParaRPr lang="en-US" sz="850" dirty="0"/>
          </a:p>
        </p:txBody>
      </p:sp>
      <p:sp>
        <p:nvSpPr>
          <p:cNvPr id="6" name="Shape 4"/>
          <p:cNvSpPr/>
          <p:nvPr/>
        </p:nvSpPr>
        <p:spPr>
          <a:xfrm>
            <a:off x="566928" y="1691640"/>
            <a:ext cx="3529584" cy="2606040"/>
          </a:xfrm>
          <a:prstGeom prst="roundRect">
            <a:avLst>
              <a:gd name="adj" fmla="val 2105"/>
            </a:avLst>
          </a:prstGeom>
          <a:solidFill>
            <a:srgbClr val="17111A"/>
          </a:solidFill>
          <a:ln w="12700">
            <a:solidFill>
              <a:srgbClr val="17111A"/>
            </a:solidFill>
            <a:prstDash val="solid"/>
          </a:ln>
          <a:effectLst>
            <a:outerShdw sx="100000" sy="100000" kx="0" ky="0" algn="bl" rotWithShape="0" blurRad="127000" dist="25400" dir="5400000">
              <a:srgbClr val="000000">
                <a:alpha val="35000"/>
              </a:srgbClr>
            </a:outerShdw>
          </a:effectLst>
        </p:spPr>
      </p:sp>
      <p:sp>
        <p:nvSpPr>
          <p:cNvPr id="7" name="Shape 5"/>
          <p:cNvSpPr/>
          <p:nvPr/>
        </p:nvSpPr>
        <p:spPr>
          <a:xfrm>
            <a:off x="841248" y="1901952"/>
            <a:ext cx="329184" cy="329184"/>
          </a:xfrm>
          <a:prstGeom prst="ellipse">
            <a:avLst/>
          </a:prstGeom>
          <a:solidFill>
            <a:srgbClr val="C9A227"/>
          </a:solidFill>
          <a:ln w="12700">
            <a:solidFill>
              <a:srgbClr val="C9A227"/>
            </a:solidFill>
            <a:prstDash val="solid"/>
          </a:ln>
        </p:spPr>
      </p:sp>
      <p:sp>
        <p:nvSpPr>
          <p:cNvPr id="8" name="Text 6"/>
          <p:cNvSpPr txBox="1"/>
          <p:nvPr/>
        </p:nvSpPr>
        <p:spPr>
          <a:xfrm>
            <a:off x="841248" y="1901952"/>
            <a:ext cx="329184" cy="329184"/>
          </a:xfrm>
          <a:prstGeom prst="rect">
            <a:avLst/>
          </a:prstGeom>
          <a:noFill/>
          <a:ln/>
        </p:spPr>
        <p:txBody>
          <a:bodyPr wrap="square" lIns="0" tIns="0" rIns="0" bIns="0" rtlCol="0" anchor="ctr"/>
          <a:lstStyle/>
          <a:p>
            <a:pPr algn="ctr" indent="0" marL="0">
              <a:buNone/>
            </a:pPr>
            <a:r>
              <a:rPr lang="en-US" sz="1300" b="1" dirty="0">
                <a:solidFill>
                  <a:srgbClr val="000000"/>
                </a:solidFill>
                <a:latin typeface="Arial" pitchFamily="34" charset="0"/>
                <a:ea typeface="Arial" pitchFamily="34" charset="-122"/>
                <a:cs typeface="Arial" pitchFamily="34" charset="-120"/>
              </a:rPr>
              <a:t>1</a:t>
            </a:r>
            <a:endParaRPr lang="en-US" sz="1300" dirty="0"/>
          </a:p>
        </p:txBody>
      </p:sp>
      <p:sp>
        <p:nvSpPr>
          <p:cNvPr id="9" name="Text 7"/>
          <p:cNvSpPr txBox="1"/>
          <p:nvPr/>
        </p:nvSpPr>
        <p:spPr>
          <a:xfrm>
            <a:off x="1280160" y="1920240"/>
            <a:ext cx="2578608" cy="310896"/>
          </a:xfrm>
          <a:prstGeom prst="rect">
            <a:avLst/>
          </a:prstGeom>
          <a:noFill/>
          <a:ln/>
        </p:spPr>
        <p:txBody>
          <a:bodyPr wrap="square" lIns="0" tIns="0" rIns="0" bIns="0" rtlCol="0" anchor="ctr"/>
          <a:lstStyle/>
          <a:p>
            <a:pPr indent="0" marL="0">
              <a:buNone/>
            </a:pPr>
            <a:r>
              <a:rPr lang="en-US" sz="1400" b="1" dirty="0">
                <a:solidFill>
                  <a:srgbClr val="E8CE78"/>
                </a:solidFill>
                <a:latin typeface="Meiryo" pitchFamily="34" charset="0"/>
                <a:ea typeface="Meiryo" pitchFamily="34" charset="-122"/>
                <a:cs typeface="Meiryo" pitchFamily="34" charset="-120"/>
              </a:rPr>
              <a:t>行動に対して、毎回貯まる</a:t>
            </a:r>
            <a:endParaRPr lang="en-US" sz="1400" dirty="0"/>
          </a:p>
        </p:txBody>
      </p:sp>
      <p:sp>
        <p:nvSpPr>
          <p:cNvPr id="10" name="Text 8"/>
          <p:cNvSpPr txBox="1"/>
          <p:nvPr/>
        </p:nvSpPr>
        <p:spPr>
          <a:xfrm>
            <a:off x="841248" y="2432304"/>
            <a:ext cx="2999232" cy="1691640"/>
          </a:xfrm>
          <a:prstGeom prst="rect">
            <a:avLst/>
          </a:prstGeom>
          <a:noFill/>
          <a:ln/>
        </p:spPr>
        <p:txBody>
          <a:bodyPr wrap="square" lIns="0" tIns="0" rIns="0" bIns="0" rtlCol="0" anchor="ctr"/>
          <a:lstStyle/>
          <a:p>
            <a:pPr indent="0" marL="0">
              <a:lnSpc>
                <a:spcPts val="1900"/>
              </a:lnSpc>
              <a:buNone/>
            </a:pPr>
            <a:r>
              <a:rPr lang="en-US" sz="1150" dirty="0">
                <a:solidFill>
                  <a:srgbClr val="A2908C"/>
                </a:solidFill>
                <a:latin typeface="Meiryo" pitchFamily="34" charset="0"/>
                <a:ea typeface="Meiryo" pitchFamily="34" charset="-122"/>
                <a:cs typeface="Meiryo" pitchFamily="34" charset="-120"/>
              </a:rPr>
              <a:t>落札した。出品した。会食した。贈った。イベントに出た。そのたびに限定マイルが入ります。残高は減っても、翌週にはまた増えている。保有への年次付与だけなら終わりますが、行動への都度付与は終わりません。</a:t>
            </a:r>
            <a:endParaRPr lang="en-US" sz="1150" dirty="0"/>
          </a:p>
        </p:txBody>
      </p:sp>
      <p:sp>
        <p:nvSpPr>
          <p:cNvPr id="11" name="Shape 9"/>
          <p:cNvSpPr/>
          <p:nvPr/>
        </p:nvSpPr>
        <p:spPr>
          <a:xfrm>
            <a:off x="4352544" y="1691640"/>
            <a:ext cx="3529584" cy="2606040"/>
          </a:xfrm>
          <a:prstGeom prst="roundRect">
            <a:avLst>
              <a:gd name="adj" fmla="val 2105"/>
            </a:avLst>
          </a:prstGeom>
          <a:solidFill>
            <a:srgbClr val="261A24"/>
          </a:solidFill>
          <a:ln w="12700">
            <a:solidFill>
              <a:srgbClr val="261A24"/>
            </a:solidFill>
            <a:prstDash val="solid"/>
          </a:ln>
          <a:effectLst>
            <a:outerShdw sx="100000" sy="100000" kx="0" ky="0" algn="bl" rotWithShape="0" blurRad="127000" dist="25400" dir="5400000">
              <a:srgbClr val="000000">
                <a:alpha val="35000"/>
              </a:srgbClr>
            </a:outerShdw>
          </a:effectLst>
        </p:spPr>
      </p:sp>
      <p:sp>
        <p:nvSpPr>
          <p:cNvPr id="12" name="Shape 10"/>
          <p:cNvSpPr/>
          <p:nvPr/>
        </p:nvSpPr>
        <p:spPr>
          <a:xfrm>
            <a:off x="4626864" y="1901952"/>
            <a:ext cx="329184" cy="329184"/>
          </a:xfrm>
          <a:prstGeom prst="ellipse">
            <a:avLst/>
          </a:prstGeom>
          <a:solidFill>
            <a:srgbClr val="C9A227"/>
          </a:solidFill>
          <a:ln w="12700">
            <a:solidFill>
              <a:srgbClr val="C9A227"/>
            </a:solidFill>
            <a:prstDash val="solid"/>
          </a:ln>
        </p:spPr>
      </p:sp>
      <p:sp>
        <p:nvSpPr>
          <p:cNvPr id="13" name="Text 11"/>
          <p:cNvSpPr txBox="1"/>
          <p:nvPr/>
        </p:nvSpPr>
        <p:spPr>
          <a:xfrm>
            <a:off x="4626864" y="1901952"/>
            <a:ext cx="329184" cy="329184"/>
          </a:xfrm>
          <a:prstGeom prst="rect">
            <a:avLst/>
          </a:prstGeom>
          <a:noFill/>
          <a:ln/>
        </p:spPr>
        <p:txBody>
          <a:bodyPr wrap="square" lIns="0" tIns="0" rIns="0" bIns="0" rtlCol="0" anchor="ctr"/>
          <a:lstStyle/>
          <a:p>
            <a:pPr algn="ctr" indent="0" marL="0">
              <a:buNone/>
            </a:pPr>
            <a:r>
              <a:rPr lang="en-US" sz="1300" b="1" dirty="0">
                <a:solidFill>
                  <a:srgbClr val="000000"/>
                </a:solidFill>
                <a:latin typeface="Arial" pitchFamily="34" charset="0"/>
                <a:ea typeface="Arial" pitchFamily="34" charset="-122"/>
                <a:cs typeface="Arial" pitchFamily="34" charset="-120"/>
              </a:rPr>
              <a:t>2</a:t>
            </a:r>
            <a:endParaRPr lang="en-US" sz="1300" dirty="0"/>
          </a:p>
        </p:txBody>
      </p:sp>
      <p:sp>
        <p:nvSpPr>
          <p:cNvPr id="14" name="Text 12"/>
          <p:cNvSpPr txBox="1"/>
          <p:nvPr/>
        </p:nvSpPr>
        <p:spPr>
          <a:xfrm>
            <a:off x="5065776" y="1920240"/>
            <a:ext cx="2578608" cy="310896"/>
          </a:xfrm>
          <a:prstGeom prst="rect">
            <a:avLst/>
          </a:prstGeom>
          <a:noFill/>
          <a:ln/>
        </p:spPr>
        <p:txBody>
          <a:bodyPr wrap="square" lIns="0" tIns="0" rIns="0" bIns="0" rtlCol="0" anchor="ctr"/>
          <a:lstStyle/>
          <a:p>
            <a:pPr indent="0" marL="0">
              <a:buNone/>
            </a:pPr>
            <a:r>
              <a:rPr lang="en-US" sz="1400" b="1" dirty="0">
                <a:solidFill>
                  <a:srgbClr val="E8CE78"/>
                </a:solidFill>
                <a:latin typeface="Meiryo" pitchFamily="34" charset="0"/>
                <a:ea typeface="Meiryo" pitchFamily="34" charset="-122"/>
                <a:cs typeface="Meiryo" pitchFamily="34" charset="-120"/>
              </a:rPr>
              <a:t>他の会員の一本が、見える</a:t>
            </a:r>
            <a:endParaRPr lang="en-US" sz="1400" dirty="0"/>
          </a:p>
        </p:txBody>
      </p:sp>
      <p:sp>
        <p:nvSpPr>
          <p:cNvPr id="15" name="Text 13"/>
          <p:cNvSpPr txBox="1"/>
          <p:nvPr/>
        </p:nvSpPr>
        <p:spPr>
          <a:xfrm>
            <a:off x="4626864" y="2432304"/>
            <a:ext cx="2999232" cy="1691640"/>
          </a:xfrm>
          <a:prstGeom prst="rect">
            <a:avLst/>
          </a:prstGeom>
          <a:noFill/>
          <a:ln/>
        </p:spPr>
        <p:txBody>
          <a:bodyPr wrap="square" lIns="0" tIns="0" rIns="0" bIns="0" rtlCol="0" anchor="ctr"/>
          <a:lstStyle/>
          <a:p>
            <a:pPr indent="0" marL="0">
              <a:lnSpc>
                <a:spcPts val="1900"/>
              </a:lnSpc>
              <a:buNone/>
            </a:pPr>
            <a:r>
              <a:rPr lang="en-US" sz="1150" dirty="0">
                <a:solidFill>
                  <a:srgbClr val="A2908C"/>
                </a:solidFill>
                <a:latin typeface="Meiryo" pitchFamily="34" charset="0"/>
                <a:ea typeface="Meiryo" pitchFamily="34" charset="-122"/>
                <a:cs typeface="Meiryo" pitchFamily="34" charset="-120"/>
              </a:rPr>
              <a:t>誰がどのヴィンテージを開けたか。何がいくらで落札されたか。相場がどう動いたか。ニコニコ動画が発明したのは「一人で見ているのに、一人じゃない」体験でした。日本の文化は、共有して初めて完成します。</a:t>
            </a:r>
            <a:endParaRPr lang="en-US" sz="1150" dirty="0"/>
          </a:p>
        </p:txBody>
      </p:sp>
      <p:sp>
        <p:nvSpPr>
          <p:cNvPr id="16" name="Shape 14"/>
          <p:cNvSpPr/>
          <p:nvPr/>
        </p:nvSpPr>
        <p:spPr>
          <a:xfrm>
            <a:off x="8138160" y="1691640"/>
            <a:ext cx="3529584" cy="2606040"/>
          </a:xfrm>
          <a:prstGeom prst="roundRect">
            <a:avLst>
              <a:gd name="adj" fmla="val 2105"/>
            </a:avLst>
          </a:prstGeom>
          <a:solidFill>
            <a:srgbClr val="17111A"/>
          </a:solidFill>
          <a:ln w="12700">
            <a:solidFill>
              <a:srgbClr val="17111A"/>
            </a:solidFill>
            <a:prstDash val="solid"/>
          </a:ln>
          <a:effectLst>
            <a:outerShdw sx="100000" sy="100000" kx="0" ky="0" algn="bl" rotWithShape="0" blurRad="127000" dist="25400" dir="5400000">
              <a:srgbClr val="000000">
                <a:alpha val="35000"/>
              </a:srgbClr>
            </a:outerShdw>
          </a:effectLst>
        </p:spPr>
      </p:sp>
      <p:sp>
        <p:nvSpPr>
          <p:cNvPr id="17" name="Shape 15"/>
          <p:cNvSpPr/>
          <p:nvPr/>
        </p:nvSpPr>
        <p:spPr>
          <a:xfrm>
            <a:off x="8412480" y="1901952"/>
            <a:ext cx="329184" cy="329184"/>
          </a:xfrm>
          <a:prstGeom prst="ellipse">
            <a:avLst/>
          </a:prstGeom>
          <a:solidFill>
            <a:srgbClr val="C9A227"/>
          </a:solidFill>
          <a:ln w="12700">
            <a:solidFill>
              <a:srgbClr val="C9A227"/>
            </a:solidFill>
            <a:prstDash val="solid"/>
          </a:ln>
        </p:spPr>
      </p:sp>
      <p:sp>
        <p:nvSpPr>
          <p:cNvPr id="18" name="Text 16"/>
          <p:cNvSpPr txBox="1"/>
          <p:nvPr/>
        </p:nvSpPr>
        <p:spPr>
          <a:xfrm>
            <a:off x="8412480" y="1901952"/>
            <a:ext cx="329184" cy="329184"/>
          </a:xfrm>
          <a:prstGeom prst="rect">
            <a:avLst/>
          </a:prstGeom>
          <a:noFill/>
          <a:ln/>
        </p:spPr>
        <p:txBody>
          <a:bodyPr wrap="square" lIns="0" tIns="0" rIns="0" bIns="0" rtlCol="0" anchor="ctr"/>
          <a:lstStyle/>
          <a:p>
            <a:pPr algn="ctr" indent="0" marL="0">
              <a:buNone/>
            </a:pPr>
            <a:r>
              <a:rPr lang="en-US" sz="1300" b="1" dirty="0">
                <a:solidFill>
                  <a:srgbClr val="000000"/>
                </a:solidFill>
                <a:latin typeface="Arial" pitchFamily="34" charset="0"/>
                <a:ea typeface="Arial" pitchFamily="34" charset="-122"/>
                <a:cs typeface="Arial" pitchFamily="34" charset="-120"/>
              </a:rPr>
              <a:t>3</a:t>
            </a:r>
            <a:endParaRPr lang="en-US" sz="1300" dirty="0"/>
          </a:p>
        </p:txBody>
      </p:sp>
      <p:sp>
        <p:nvSpPr>
          <p:cNvPr id="19" name="Text 17"/>
          <p:cNvSpPr txBox="1"/>
          <p:nvPr/>
        </p:nvSpPr>
        <p:spPr>
          <a:xfrm>
            <a:off x="8851392" y="1920240"/>
            <a:ext cx="2578608" cy="310896"/>
          </a:xfrm>
          <a:prstGeom prst="rect">
            <a:avLst/>
          </a:prstGeom>
          <a:noFill/>
          <a:ln/>
        </p:spPr>
        <p:txBody>
          <a:bodyPr wrap="square" lIns="0" tIns="0" rIns="0" bIns="0" rtlCol="0" anchor="ctr"/>
          <a:lstStyle/>
          <a:p>
            <a:pPr indent="0" marL="0">
              <a:buNone/>
            </a:pPr>
            <a:r>
              <a:rPr lang="en-US" sz="1400" b="1" dirty="0">
                <a:solidFill>
                  <a:srgbClr val="E8CE78"/>
                </a:solidFill>
                <a:latin typeface="Meiryo" pitchFamily="34" charset="0"/>
                <a:ea typeface="Meiryo" pitchFamily="34" charset="-122"/>
                <a:cs typeface="Meiryo" pitchFamily="34" charset="-120"/>
              </a:rPr>
              <a:t>自分のセラーが、動いている</a:t>
            </a:r>
            <a:endParaRPr lang="en-US" sz="1400" dirty="0"/>
          </a:p>
        </p:txBody>
      </p:sp>
      <p:sp>
        <p:nvSpPr>
          <p:cNvPr id="20" name="Text 18"/>
          <p:cNvSpPr txBox="1"/>
          <p:nvPr/>
        </p:nvSpPr>
        <p:spPr>
          <a:xfrm>
            <a:off x="8412480" y="2432304"/>
            <a:ext cx="2999232" cy="1691640"/>
          </a:xfrm>
          <a:prstGeom prst="rect">
            <a:avLst/>
          </a:prstGeom>
          <a:noFill/>
          <a:ln/>
        </p:spPr>
        <p:txBody>
          <a:bodyPr wrap="square" lIns="0" tIns="0" rIns="0" bIns="0" rtlCol="0" anchor="ctr"/>
          <a:lstStyle/>
          <a:p>
            <a:pPr indent="0" marL="0">
              <a:lnSpc>
                <a:spcPts val="1900"/>
              </a:lnSpc>
              <a:buNone/>
            </a:pPr>
            <a:r>
              <a:rPr lang="en-US" sz="1150" dirty="0">
                <a:solidFill>
                  <a:srgbClr val="A2908C"/>
                </a:solidFill>
                <a:latin typeface="Meiryo" pitchFamily="34" charset="0"/>
                <a:ea typeface="Meiryo" pitchFamily="34" charset="-122"/>
                <a:cs typeface="Meiryo" pitchFamily="34" charset="-120"/>
              </a:rPr>
              <a:t>時価が動く。マイルが貯まる。飲み頃が近づく。落札通知が来る。毎日ひらく理由があること自体が、他のどんな会員権にもない性質です。</a:t>
            </a:r>
            <a:endParaRPr lang="en-US" sz="1150" dirty="0"/>
          </a:p>
        </p:txBody>
      </p:sp>
      <p:sp>
        <p:nvSpPr>
          <p:cNvPr id="21" name="Shape 19"/>
          <p:cNvSpPr/>
          <p:nvPr/>
        </p:nvSpPr>
        <p:spPr>
          <a:xfrm>
            <a:off x="566928" y="4553712"/>
            <a:ext cx="11027664" cy="1481328"/>
          </a:xfrm>
          <a:prstGeom prst="roundRect">
            <a:avLst>
              <a:gd name="adj" fmla="val 3704"/>
            </a:avLst>
          </a:prstGeom>
          <a:solidFill>
            <a:srgbClr val="7B1E3A"/>
          </a:solidFill>
          <a:ln w="12700">
            <a:solidFill>
              <a:srgbClr val="7B1E3A"/>
            </a:solidFill>
            <a:prstDash val="solid"/>
          </a:ln>
          <a:effectLst>
            <a:outerShdw sx="100000" sy="100000" kx="0" ky="0" algn="bl" rotWithShape="0" blurRad="127000" dist="25400" dir="5400000">
              <a:srgbClr val="000000">
                <a:alpha val="35000"/>
              </a:srgbClr>
            </a:outerShdw>
          </a:effectLst>
        </p:spPr>
      </p:sp>
      <p:sp>
        <p:nvSpPr>
          <p:cNvPr id="22" name="Text 20"/>
          <p:cNvSpPr txBox="1"/>
          <p:nvPr/>
        </p:nvSpPr>
        <p:spPr>
          <a:xfrm>
            <a:off x="978408" y="4754880"/>
            <a:ext cx="10204704" cy="384048"/>
          </a:xfrm>
          <a:prstGeom prst="rect">
            <a:avLst/>
          </a:prstGeom>
          <a:noFill/>
          <a:ln/>
        </p:spPr>
        <p:txBody>
          <a:bodyPr wrap="square" lIns="0" tIns="0" rIns="0" bIns="0" rtlCol="0" anchor="ctr"/>
          <a:lstStyle/>
          <a:p>
            <a:pPr indent="0" marL="0">
              <a:buNone/>
            </a:pPr>
            <a:r>
              <a:rPr lang="en-US" sz="1900" b="1" dirty="0">
                <a:solidFill>
                  <a:srgbClr val="E8CE78"/>
                </a:solidFill>
                <a:latin typeface="Meiryo" pitchFamily="34" charset="0"/>
                <a:ea typeface="Meiryo" pitchFamily="34" charset="-122"/>
                <a:cs typeface="Meiryo" pitchFamily="34" charset="-120"/>
              </a:rPr>
              <a:t>ロイヤリティの高さは、機能ではなく「つながりの濃さ」で決まります。</a:t>
            </a:r>
            <a:endParaRPr lang="en-US" sz="1900" dirty="0"/>
          </a:p>
        </p:txBody>
      </p:sp>
      <p:sp>
        <p:nvSpPr>
          <p:cNvPr id="23" name="Text 21"/>
          <p:cNvSpPr txBox="1"/>
          <p:nvPr/>
        </p:nvSpPr>
        <p:spPr>
          <a:xfrm>
            <a:off x="978408" y="5230368"/>
            <a:ext cx="10204704" cy="640080"/>
          </a:xfrm>
          <a:prstGeom prst="rect">
            <a:avLst/>
          </a:prstGeom>
          <a:noFill/>
          <a:ln/>
        </p:spPr>
        <p:txBody>
          <a:bodyPr wrap="square" lIns="0" tIns="0" rIns="0" bIns="0" rtlCol="0" anchor="ctr"/>
          <a:lstStyle/>
          <a:p>
            <a:pPr indent="0" marL="0">
              <a:lnSpc>
                <a:spcPts val="1900"/>
              </a:lnSpc>
              <a:buNone/>
            </a:pPr>
            <a:r>
              <a:rPr lang="en-US" sz="1250" dirty="0">
                <a:solidFill>
                  <a:srgbClr val="F2EDE6"/>
                </a:solidFill>
                <a:latin typeface="Meiryo" pitchFamily="34" charset="0"/>
                <a:ea typeface="Meiryo" pitchFamily="34" charset="-122"/>
                <a:cs typeface="Meiryo" pitchFamily="34" charset="-120"/>
              </a:rPr>
              <a:t>ワインは、日本人にとって最もエモい商材のひとつです。誰と、いつ、何を開けたかを人は覚えている。そこにマイルという共通言語を通せば、会員は「取引先」ではなく「同じ村の住人」になります。</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00000"/>
        </a:solidFill>
      </p:bgPr>
    </p:bg>
    <p:spTree>
      <p:nvGrpSpPr>
        <p:cNvPr id="1" name=""/>
        <p:cNvGrpSpPr/>
        <p:nvPr/>
      </p:nvGrpSpPr>
      <p:grpSpPr>
        <a:xfrm>
          <a:off x="0" y="0"/>
          <a:ext cx="0" cy="0"/>
          <a:chOff x="0" y="0"/>
          <a:chExt cx="0" cy="0"/>
        </a:xfrm>
      </p:grpSpPr>
      <p:sp>
        <p:nvSpPr>
          <p:cNvPr id="2" name="Text 0"/>
          <p:cNvSpPr txBox="1"/>
          <p:nvPr/>
        </p:nvSpPr>
        <p:spPr>
          <a:xfrm>
            <a:off x="566928" y="310896"/>
            <a:ext cx="11027664" cy="237744"/>
          </a:xfrm>
          <a:prstGeom prst="rect">
            <a:avLst/>
          </a:prstGeom>
          <a:noFill/>
          <a:ln/>
        </p:spPr>
        <p:txBody>
          <a:bodyPr wrap="square" lIns="0" tIns="0" rIns="0" bIns="0" rtlCol="0" anchor="ctr"/>
          <a:lstStyle/>
          <a:p>
            <a:pPr indent="0" marL="0">
              <a:buNone/>
            </a:pPr>
            <a:r>
              <a:rPr lang="en-US" sz="1050" b="1" spc="300" kern="0" dirty="0">
                <a:solidFill>
                  <a:srgbClr val="C9A227"/>
                </a:solidFill>
                <a:latin typeface="Arial" pitchFamily="34" charset="0"/>
                <a:ea typeface="Arial" pitchFamily="34" charset="-122"/>
                <a:cs typeface="Arial" pitchFamily="34" charset="-120"/>
              </a:rPr>
              <a:t>COMMUNITY</a:t>
            </a:r>
            <a:endParaRPr lang="en-US" sz="1050" dirty="0"/>
          </a:p>
        </p:txBody>
      </p:sp>
      <p:sp>
        <p:nvSpPr>
          <p:cNvPr id="3" name="Text 1"/>
          <p:cNvSpPr txBox="1"/>
          <p:nvPr/>
        </p:nvSpPr>
        <p:spPr>
          <a:xfrm>
            <a:off x="566928" y="566928"/>
            <a:ext cx="11027664" cy="548640"/>
          </a:xfrm>
          <a:prstGeom prst="rect">
            <a:avLst/>
          </a:prstGeom>
          <a:noFill/>
          <a:ln/>
        </p:spPr>
        <p:txBody>
          <a:bodyPr wrap="square" lIns="0" tIns="0" rIns="0" bIns="0" rtlCol="0" anchor="ctr"/>
          <a:lstStyle/>
          <a:p>
            <a:pPr indent="0" marL="0">
              <a:buNone/>
            </a:pPr>
            <a:r>
              <a:rPr lang="en-US" sz="2900" b="1" dirty="0">
                <a:solidFill>
                  <a:srgbClr val="F2EDE6"/>
                </a:solidFill>
                <a:latin typeface="Meiryo" pitchFamily="34" charset="0"/>
                <a:ea typeface="Meiryo" pitchFamily="34" charset="-122"/>
                <a:cs typeface="Meiryo" pitchFamily="34" charset="-120"/>
              </a:rPr>
              <a:t>コミュニティは、通貨だけでは育たない</a:t>
            </a:r>
            <a:endParaRPr lang="en-US" sz="2900" dirty="0"/>
          </a:p>
        </p:txBody>
      </p:sp>
      <p:sp>
        <p:nvSpPr>
          <p:cNvPr id="4" name="Text 2"/>
          <p:cNvSpPr txBox="1"/>
          <p:nvPr/>
        </p:nvSpPr>
        <p:spPr>
          <a:xfrm>
            <a:off x="566928" y="1152144"/>
            <a:ext cx="11027664" cy="310896"/>
          </a:xfrm>
          <a:prstGeom prst="rect">
            <a:avLst/>
          </a:prstGeom>
          <a:noFill/>
          <a:ln/>
        </p:spPr>
        <p:txBody>
          <a:bodyPr wrap="square" lIns="0" tIns="0" rIns="0" bIns="0" rtlCol="0" anchor="ctr"/>
          <a:lstStyle/>
          <a:p>
            <a:pPr indent="0" marL="0">
              <a:buNone/>
            </a:pPr>
            <a:r>
              <a:rPr lang="en-US" sz="1300" dirty="0">
                <a:solidFill>
                  <a:srgbClr val="A2908C"/>
                </a:solidFill>
                <a:latin typeface="Meiryo" pitchFamily="34" charset="0"/>
                <a:ea typeface="Meiryo" pitchFamily="34" charset="-122"/>
                <a:cs typeface="Meiryo" pitchFamily="34" charset="-120"/>
              </a:rPr>
              <a:t>8/31 MTGでの決定事項。マイルに「集まる理由」と「貯める楽しさ」を足します。</a:t>
            </a:r>
            <a:endParaRPr lang="en-US" sz="1300" dirty="0"/>
          </a:p>
        </p:txBody>
      </p:sp>
      <p:sp>
        <p:nvSpPr>
          <p:cNvPr id="5" name="Text 3"/>
          <p:cNvSpPr txBox="1"/>
          <p:nvPr/>
        </p:nvSpPr>
        <p:spPr>
          <a:xfrm>
            <a:off x="566928" y="6437376"/>
            <a:ext cx="4572000" cy="219456"/>
          </a:xfrm>
          <a:prstGeom prst="rect">
            <a:avLst/>
          </a:prstGeom>
          <a:noFill/>
          <a:ln/>
        </p:spPr>
        <p:txBody>
          <a:bodyPr wrap="square" lIns="0" tIns="0" rIns="0" bIns="0" rtlCol="0" anchor="ctr"/>
          <a:lstStyle/>
          <a:p>
            <a:pPr indent="0" marL="0">
              <a:buNone/>
            </a:pPr>
            <a:r>
              <a:rPr lang="en-US" sz="850" dirty="0">
                <a:solidFill>
                  <a:srgbClr val="6B5A5F"/>
                </a:solidFill>
                <a:latin typeface="Arial" pitchFamily="34" charset="0"/>
                <a:ea typeface="Arial" pitchFamily="34" charset="-122"/>
                <a:cs typeface="Arial" pitchFamily="34" charset="-120"/>
              </a:rPr>
              <a:t>WineBank CONFIDENTIAL</a:t>
            </a:r>
            <a:endParaRPr lang="en-US" sz="850" dirty="0"/>
          </a:p>
        </p:txBody>
      </p:sp>
      <p:sp>
        <p:nvSpPr>
          <p:cNvPr id="6" name="Shape 4"/>
          <p:cNvSpPr/>
          <p:nvPr/>
        </p:nvSpPr>
        <p:spPr>
          <a:xfrm>
            <a:off x="566928" y="1664208"/>
            <a:ext cx="5394960" cy="1481328"/>
          </a:xfrm>
          <a:prstGeom prst="roundRect">
            <a:avLst>
              <a:gd name="adj" fmla="val 3704"/>
            </a:avLst>
          </a:prstGeom>
          <a:solidFill>
            <a:srgbClr val="17111A"/>
          </a:solidFill>
          <a:ln w="12700">
            <a:solidFill>
              <a:srgbClr val="17111A"/>
            </a:solidFill>
            <a:prstDash val="solid"/>
          </a:ln>
          <a:effectLst>
            <a:outerShdw sx="100000" sy="100000" kx="0" ky="0" algn="bl" rotWithShape="0" blurRad="127000" dist="25400" dir="5400000">
              <a:srgbClr val="000000">
                <a:alpha val="35000"/>
              </a:srgbClr>
            </a:outerShdw>
          </a:effectLst>
        </p:spPr>
      </p:sp>
      <p:sp>
        <p:nvSpPr>
          <p:cNvPr id="7" name="Shape 5"/>
          <p:cNvSpPr/>
          <p:nvPr/>
        </p:nvSpPr>
        <p:spPr>
          <a:xfrm>
            <a:off x="859536" y="1883664"/>
            <a:ext cx="329184" cy="329184"/>
          </a:xfrm>
          <a:prstGeom prst="ellipse">
            <a:avLst/>
          </a:prstGeom>
          <a:solidFill>
            <a:srgbClr val="C9A227"/>
          </a:solidFill>
          <a:ln w="12700">
            <a:solidFill>
              <a:srgbClr val="C9A227"/>
            </a:solidFill>
            <a:prstDash val="solid"/>
          </a:ln>
        </p:spPr>
      </p:sp>
      <p:sp>
        <p:nvSpPr>
          <p:cNvPr id="8" name="Text 6"/>
          <p:cNvSpPr txBox="1"/>
          <p:nvPr/>
        </p:nvSpPr>
        <p:spPr>
          <a:xfrm>
            <a:off x="859536" y="1883664"/>
            <a:ext cx="329184" cy="329184"/>
          </a:xfrm>
          <a:prstGeom prst="rect">
            <a:avLst/>
          </a:prstGeom>
          <a:noFill/>
          <a:ln/>
        </p:spPr>
        <p:txBody>
          <a:bodyPr wrap="square" lIns="0" tIns="0" rIns="0" bIns="0" rtlCol="0" anchor="ctr"/>
          <a:lstStyle/>
          <a:p>
            <a:pPr algn="ctr" indent="0" marL="0">
              <a:buNone/>
            </a:pPr>
            <a:r>
              <a:rPr lang="en-US" sz="1300" b="1" dirty="0">
                <a:solidFill>
                  <a:srgbClr val="000000"/>
                </a:solidFill>
                <a:latin typeface="Arial" pitchFamily="34" charset="0"/>
                <a:ea typeface="Arial" pitchFamily="34" charset="-122"/>
                <a:cs typeface="Arial" pitchFamily="34" charset="-120"/>
              </a:rPr>
              <a:t>1</a:t>
            </a:r>
            <a:endParaRPr lang="en-US" sz="1300" dirty="0"/>
          </a:p>
        </p:txBody>
      </p:sp>
      <p:sp>
        <p:nvSpPr>
          <p:cNvPr id="9" name="Text 7"/>
          <p:cNvSpPr txBox="1"/>
          <p:nvPr/>
        </p:nvSpPr>
        <p:spPr>
          <a:xfrm>
            <a:off x="1298448" y="1901952"/>
            <a:ext cx="4389120" cy="292608"/>
          </a:xfrm>
          <a:prstGeom prst="rect">
            <a:avLst/>
          </a:prstGeom>
          <a:noFill/>
          <a:ln/>
        </p:spPr>
        <p:txBody>
          <a:bodyPr wrap="square" lIns="0" tIns="0" rIns="0" bIns="0" rtlCol="0" anchor="ctr"/>
          <a:lstStyle/>
          <a:p>
            <a:pPr indent="0" marL="0">
              <a:buNone/>
            </a:pPr>
            <a:r>
              <a:rPr lang="en-US" sz="1450" b="1" dirty="0">
                <a:solidFill>
                  <a:srgbClr val="E8CE78"/>
                </a:solidFill>
                <a:latin typeface="Meiryo" pitchFamily="34" charset="0"/>
                <a:ea typeface="Meiryo" pitchFamily="34" charset="-122"/>
                <a:cs typeface="Meiryo" pitchFamily="34" charset="-120"/>
              </a:rPr>
              <a:t>交流イベントを標準装備</a:t>
            </a:r>
            <a:endParaRPr lang="en-US" sz="1450" dirty="0"/>
          </a:p>
        </p:txBody>
      </p:sp>
      <p:sp>
        <p:nvSpPr>
          <p:cNvPr id="10" name="Text 8"/>
          <p:cNvSpPr txBox="1"/>
          <p:nvPr/>
        </p:nvSpPr>
        <p:spPr>
          <a:xfrm>
            <a:off x="859536" y="2322576"/>
            <a:ext cx="4809744" cy="731520"/>
          </a:xfrm>
          <a:prstGeom prst="rect">
            <a:avLst/>
          </a:prstGeom>
          <a:noFill/>
          <a:ln/>
        </p:spPr>
        <p:txBody>
          <a:bodyPr wrap="square" lIns="0" tIns="0" rIns="0" bIns="0" rtlCol="0" anchor="ctr"/>
          <a:lstStyle/>
          <a:p>
            <a:pPr indent="0" marL="0">
              <a:lnSpc>
                <a:spcPts val="1600"/>
              </a:lnSpc>
              <a:buNone/>
            </a:pPr>
            <a:r>
              <a:rPr lang="en-US" sz="1100" dirty="0">
                <a:solidFill>
                  <a:srgbClr val="A2908C"/>
                </a:solidFill>
                <a:latin typeface="Meiryo" pitchFamily="34" charset="0"/>
                <a:ea typeface="Meiryo" pitchFamily="34" charset="-122"/>
                <a:cs typeface="Meiryo" pitchFamily="34" charset="-120"/>
              </a:rPr>
              <a:t>オークション開催に合わせて交流会を開く。クレジットカードの特典と同じ発想です。ワイン関連企業を巻き込めば低コストで回り、会員同士の横のつながりが継続率を押し上げます。</a:t>
            </a:r>
            <a:endParaRPr lang="en-US" sz="1100" dirty="0"/>
          </a:p>
        </p:txBody>
      </p:sp>
      <p:sp>
        <p:nvSpPr>
          <p:cNvPr id="11" name="Shape 9"/>
          <p:cNvSpPr/>
          <p:nvPr/>
        </p:nvSpPr>
        <p:spPr>
          <a:xfrm>
            <a:off x="6199632" y="1664208"/>
            <a:ext cx="5394960" cy="1481328"/>
          </a:xfrm>
          <a:prstGeom prst="roundRect">
            <a:avLst>
              <a:gd name="adj" fmla="val 3704"/>
            </a:avLst>
          </a:prstGeom>
          <a:solidFill>
            <a:srgbClr val="17111A"/>
          </a:solidFill>
          <a:ln w="12700">
            <a:solidFill>
              <a:srgbClr val="17111A"/>
            </a:solidFill>
            <a:prstDash val="solid"/>
          </a:ln>
          <a:effectLst>
            <a:outerShdw sx="100000" sy="100000" kx="0" ky="0" algn="bl" rotWithShape="0" blurRad="127000" dist="25400" dir="5400000">
              <a:srgbClr val="000000">
                <a:alpha val="35000"/>
              </a:srgbClr>
            </a:outerShdw>
          </a:effectLst>
        </p:spPr>
      </p:sp>
      <p:sp>
        <p:nvSpPr>
          <p:cNvPr id="12" name="Shape 10"/>
          <p:cNvSpPr/>
          <p:nvPr/>
        </p:nvSpPr>
        <p:spPr>
          <a:xfrm>
            <a:off x="6492240" y="1883664"/>
            <a:ext cx="329184" cy="329184"/>
          </a:xfrm>
          <a:prstGeom prst="ellipse">
            <a:avLst/>
          </a:prstGeom>
          <a:solidFill>
            <a:srgbClr val="C9A227"/>
          </a:solidFill>
          <a:ln w="12700">
            <a:solidFill>
              <a:srgbClr val="C9A227"/>
            </a:solidFill>
            <a:prstDash val="solid"/>
          </a:ln>
        </p:spPr>
      </p:sp>
      <p:sp>
        <p:nvSpPr>
          <p:cNvPr id="13" name="Text 11"/>
          <p:cNvSpPr txBox="1"/>
          <p:nvPr/>
        </p:nvSpPr>
        <p:spPr>
          <a:xfrm>
            <a:off x="6492240" y="1883664"/>
            <a:ext cx="329184" cy="329184"/>
          </a:xfrm>
          <a:prstGeom prst="rect">
            <a:avLst/>
          </a:prstGeom>
          <a:noFill/>
          <a:ln/>
        </p:spPr>
        <p:txBody>
          <a:bodyPr wrap="square" lIns="0" tIns="0" rIns="0" bIns="0" rtlCol="0" anchor="ctr"/>
          <a:lstStyle/>
          <a:p>
            <a:pPr algn="ctr" indent="0" marL="0">
              <a:buNone/>
            </a:pPr>
            <a:r>
              <a:rPr lang="en-US" sz="1300" b="1" dirty="0">
                <a:solidFill>
                  <a:srgbClr val="000000"/>
                </a:solidFill>
                <a:latin typeface="Arial" pitchFamily="34" charset="0"/>
                <a:ea typeface="Arial" pitchFamily="34" charset="-122"/>
                <a:cs typeface="Arial" pitchFamily="34" charset="-120"/>
              </a:rPr>
              <a:t>2</a:t>
            </a:r>
            <a:endParaRPr lang="en-US" sz="1300" dirty="0"/>
          </a:p>
        </p:txBody>
      </p:sp>
      <p:sp>
        <p:nvSpPr>
          <p:cNvPr id="14" name="Text 12"/>
          <p:cNvSpPr txBox="1"/>
          <p:nvPr/>
        </p:nvSpPr>
        <p:spPr>
          <a:xfrm>
            <a:off x="6931152" y="1901952"/>
            <a:ext cx="4389120" cy="292608"/>
          </a:xfrm>
          <a:prstGeom prst="rect">
            <a:avLst/>
          </a:prstGeom>
          <a:noFill/>
          <a:ln/>
        </p:spPr>
        <p:txBody>
          <a:bodyPr wrap="square" lIns="0" tIns="0" rIns="0" bIns="0" rtlCol="0" anchor="ctr"/>
          <a:lstStyle/>
          <a:p>
            <a:pPr indent="0" marL="0">
              <a:buNone/>
            </a:pPr>
            <a:r>
              <a:rPr lang="en-US" sz="1450" b="1" dirty="0">
                <a:solidFill>
                  <a:srgbClr val="E8CE78"/>
                </a:solidFill>
                <a:latin typeface="Meiryo" pitchFamily="34" charset="0"/>
                <a:ea typeface="Meiryo" pitchFamily="34" charset="-122"/>
                <a:cs typeface="Meiryo" pitchFamily="34" charset="-120"/>
              </a:rPr>
              <a:t>ワインスクールにも使える</a:t>
            </a:r>
            <a:endParaRPr lang="en-US" sz="1450" dirty="0"/>
          </a:p>
        </p:txBody>
      </p:sp>
      <p:sp>
        <p:nvSpPr>
          <p:cNvPr id="15" name="Text 13"/>
          <p:cNvSpPr txBox="1"/>
          <p:nvPr/>
        </p:nvSpPr>
        <p:spPr>
          <a:xfrm>
            <a:off x="6492240" y="2322576"/>
            <a:ext cx="4809744" cy="731520"/>
          </a:xfrm>
          <a:prstGeom prst="rect">
            <a:avLst/>
          </a:prstGeom>
          <a:noFill/>
          <a:ln/>
        </p:spPr>
        <p:txBody>
          <a:bodyPr wrap="square" lIns="0" tIns="0" rIns="0" bIns="0" rtlCol="0" anchor="ctr"/>
          <a:lstStyle/>
          <a:p>
            <a:pPr indent="0" marL="0">
              <a:lnSpc>
                <a:spcPts val="1600"/>
              </a:lnSpc>
              <a:buNone/>
            </a:pPr>
            <a:r>
              <a:rPr lang="en-US" sz="1100" dirty="0">
                <a:solidFill>
                  <a:srgbClr val="A2908C"/>
                </a:solidFill>
                <a:latin typeface="Meiryo" pitchFamily="34" charset="0"/>
                <a:ea typeface="Meiryo" pitchFamily="34" charset="-122"/>
                <a:cs typeface="Meiryo" pitchFamily="34" charset="-120"/>
              </a:rPr>
              <a:t>買う・飲むだけでなく、学ぶにも使える。使い道が増えるほど経済圏に留まる理由が増え、入会のハードルは下がります。</a:t>
            </a:r>
            <a:endParaRPr lang="en-US" sz="1100" dirty="0"/>
          </a:p>
        </p:txBody>
      </p:sp>
      <p:sp>
        <p:nvSpPr>
          <p:cNvPr id="16" name="Shape 14"/>
          <p:cNvSpPr/>
          <p:nvPr/>
        </p:nvSpPr>
        <p:spPr>
          <a:xfrm>
            <a:off x="566928" y="3346704"/>
            <a:ext cx="5394960" cy="1481328"/>
          </a:xfrm>
          <a:prstGeom prst="roundRect">
            <a:avLst>
              <a:gd name="adj" fmla="val 3704"/>
            </a:avLst>
          </a:prstGeom>
          <a:solidFill>
            <a:srgbClr val="261A24"/>
          </a:solidFill>
          <a:ln w="12700">
            <a:solidFill>
              <a:srgbClr val="261A24"/>
            </a:solidFill>
            <a:prstDash val="solid"/>
          </a:ln>
          <a:effectLst>
            <a:outerShdw sx="100000" sy="100000" kx="0" ky="0" algn="bl" rotWithShape="0" blurRad="127000" dist="25400" dir="5400000">
              <a:srgbClr val="000000">
                <a:alpha val="35000"/>
              </a:srgbClr>
            </a:outerShdw>
          </a:effectLst>
        </p:spPr>
      </p:sp>
      <p:sp>
        <p:nvSpPr>
          <p:cNvPr id="17" name="Shape 15"/>
          <p:cNvSpPr/>
          <p:nvPr/>
        </p:nvSpPr>
        <p:spPr>
          <a:xfrm>
            <a:off x="859536" y="3566160"/>
            <a:ext cx="329184" cy="329184"/>
          </a:xfrm>
          <a:prstGeom prst="ellipse">
            <a:avLst/>
          </a:prstGeom>
          <a:solidFill>
            <a:srgbClr val="C9A227"/>
          </a:solidFill>
          <a:ln w="12700">
            <a:solidFill>
              <a:srgbClr val="C9A227"/>
            </a:solidFill>
            <a:prstDash val="solid"/>
          </a:ln>
        </p:spPr>
      </p:sp>
      <p:sp>
        <p:nvSpPr>
          <p:cNvPr id="18" name="Text 16"/>
          <p:cNvSpPr txBox="1"/>
          <p:nvPr/>
        </p:nvSpPr>
        <p:spPr>
          <a:xfrm>
            <a:off x="859536" y="3566160"/>
            <a:ext cx="329184" cy="329184"/>
          </a:xfrm>
          <a:prstGeom prst="rect">
            <a:avLst/>
          </a:prstGeom>
          <a:noFill/>
          <a:ln/>
        </p:spPr>
        <p:txBody>
          <a:bodyPr wrap="square" lIns="0" tIns="0" rIns="0" bIns="0" rtlCol="0" anchor="ctr"/>
          <a:lstStyle/>
          <a:p>
            <a:pPr algn="ctr" indent="0" marL="0">
              <a:buNone/>
            </a:pPr>
            <a:r>
              <a:rPr lang="en-US" sz="1300" b="1" dirty="0">
                <a:solidFill>
                  <a:srgbClr val="000000"/>
                </a:solidFill>
                <a:latin typeface="Arial" pitchFamily="34" charset="0"/>
                <a:ea typeface="Arial" pitchFamily="34" charset="-122"/>
                <a:cs typeface="Arial" pitchFamily="34" charset="-120"/>
              </a:rPr>
              <a:t>3</a:t>
            </a:r>
            <a:endParaRPr lang="en-US" sz="1300" dirty="0"/>
          </a:p>
        </p:txBody>
      </p:sp>
      <p:sp>
        <p:nvSpPr>
          <p:cNvPr id="19" name="Text 17"/>
          <p:cNvSpPr txBox="1"/>
          <p:nvPr/>
        </p:nvSpPr>
        <p:spPr>
          <a:xfrm>
            <a:off x="1298448" y="3584448"/>
            <a:ext cx="4389120" cy="292608"/>
          </a:xfrm>
          <a:prstGeom prst="rect">
            <a:avLst/>
          </a:prstGeom>
          <a:noFill/>
          <a:ln/>
        </p:spPr>
        <p:txBody>
          <a:bodyPr wrap="square" lIns="0" tIns="0" rIns="0" bIns="0" rtlCol="0" anchor="ctr"/>
          <a:lstStyle/>
          <a:p>
            <a:pPr indent="0" marL="0">
              <a:buNone/>
            </a:pPr>
            <a:r>
              <a:rPr lang="en-US" sz="1450" b="1" dirty="0">
                <a:solidFill>
                  <a:srgbClr val="E8CE78"/>
                </a:solidFill>
                <a:latin typeface="Meiryo" pitchFamily="34" charset="0"/>
                <a:ea typeface="Meiryo" pitchFamily="34" charset="-122"/>
                <a:cs typeface="Meiryo" pitchFamily="34" charset="-120"/>
              </a:rPr>
              <a:t>貯めるプロセス自体を楽しませる</a:t>
            </a:r>
            <a:endParaRPr lang="en-US" sz="1450" dirty="0"/>
          </a:p>
        </p:txBody>
      </p:sp>
      <p:sp>
        <p:nvSpPr>
          <p:cNvPr id="20" name="Text 18"/>
          <p:cNvSpPr txBox="1"/>
          <p:nvPr/>
        </p:nvSpPr>
        <p:spPr>
          <a:xfrm>
            <a:off x="859536" y="4005072"/>
            <a:ext cx="4809744" cy="731520"/>
          </a:xfrm>
          <a:prstGeom prst="rect">
            <a:avLst/>
          </a:prstGeom>
          <a:noFill/>
          <a:ln/>
        </p:spPr>
        <p:txBody>
          <a:bodyPr wrap="square" lIns="0" tIns="0" rIns="0" bIns="0" rtlCol="0" anchor="ctr"/>
          <a:lstStyle/>
          <a:p>
            <a:pPr indent="0" marL="0">
              <a:lnSpc>
                <a:spcPts val="1600"/>
              </a:lnSpc>
              <a:buNone/>
            </a:pPr>
            <a:r>
              <a:rPr lang="en-US" sz="1100" dirty="0">
                <a:solidFill>
                  <a:srgbClr val="A2908C"/>
                </a:solidFill>
                <a:latin typeface="Meiryo" pitchFamily="34" charset="0"/>
                <a:ea typeface="Meiryo" pitchFamily="34" charset="-122"/>
                <a:cs typeface="Meiryo" pitchFamily="34" charset="-120"/>
              </a:rPr>
              <a:t>使うたびに貯まり、ランクが上がる。「上位にいることが賢い選択だ」と会員自身が感じる設計にします。修行のように貯める行為そのものが体験になります。</a:t>
            </a:r>
            <a:endParaRPr lang="en-US" sz="1100" dirty="0"/>
          </a:p>
        </p:txBody>
      </p:sp>
      <p:sp>
        <p:nvSpPr>
          <p:cNvPr id="21" name="Shape 19"/>
          <p:cNvSpPr/>
          <p:nvPr/>
        </p:nvSpPr>
        <p:spPr>
          <a:xfrm>
            <a:off x="6199632" y="3346704"/>
            <a:ext cx="5394960" cy="1481328"/>
          </a:xfrm>
          <a:prstGeom prst="roundRect">
            <a:avLst>
              <a:gd name="adj" fmla="val 3704"/>
            </a:avLst>
          </a:prstGeom>
          <a:solidFill>
            <a:srgbClr val="17111A"/>
          </a:solidFill>
          <a:ln w="12700">
            <a:solidFill>
              <a:srgbClr val="17111A"/>
            </a:solidFill>
            <a:prstDash val="solid"/>
          </a:ln>
          <a:effectLst>
            <a:outerShdw sx="100000" sy="100000" kx="0" ky="0" algn="bl" rotWithShape="0" blurRad="127000" dist="25400" dir="5400000">
              <a:srgbClr val="000000">
                <a:alpha val="35000"/>
              </a:srgbClr>
            </a:outerShdw>
          </a:effectLst>
        </p:spPr>
      </p:sp>
      <p:sp>
        <p:nvSpPr>
          <p:cNvPr id="22" name="Shape 20"/>
          <p:cNvSpPr/>
          <p:nvPr/>
        </p:nvSpPr>
        <p:spPr>
          <a:xfrm>
            <a:off x="6492240" y="3566160"/>
            <a:ext cx="329184" cy="329184"/>
          </a:xfrm>
          <a:prstGeom prst="ellipse">
            <a:avLst/>
          </a:prstGeom>
          <a:solidFill>
            <a:srgbClr val="C9A227"/>
          </a:solidFill>
          <a:ln w="12700">
            <a:solidFill>
              <a:srgbClr val="C9A227"/>
            </a:solidFill>
            <a:prstDash val="solid"/>
          </a:ln>
        </p:spPr>
      </p:sp>
      <p:sp>
        <p:nvSpPr>
          <p:cNvPr id="23" name="Text 21"/>
          <p:cNvSpPr txBox="1"/>
          <p:nvPr/>
        </p:nvSpPr>
        <p:spPr>
          <a:xfrm>
            <a:off x="6492240" y="3566160"/>
            <a:ext cx="329184" cy="329184"/>
          </a:xfrm>
          <a:prstGeom prst="rect">
            <a:avLst/>
          </a:prstGeom>
          <a:noFill/>
          <a:ln/>
        </p:spPr>
        <p:txBody>
          <a:bodyPr wrap="square" lIns="0" tIns="0" rIns="0" bIns="0" rtlCol="0" anchor="ctr"/>
          <a:lstStyle/>
          <a:p>
            <a:pPr algn="ctr" indent="0" marL="0">
              <a:buNone/>
            </a:pPr>
            <a:r>
              <a:rPr lang="en-US" sz="1300" b="1" dirty="0">
                <a:solidFill>
                  <a:srgbClr val="000000"/>
                </a:solidFill>
                <a:latin typeface="Arial" pitchFamily="34" charset="0"/>
                <a:ea typeface="Arial" pitchFamily="34" charset="-122"/>
                <a:cs typeface="Arial" pitchFamily="34" charset="-120"/>
              </a:rPr>
              <a:t>4</a:t>
            </a:r>
            <a:endParaRPr lang="en-US" sz="1300" dirty="0"/>
          </a:p>
        </p:txBody>
      </p:sp>
      <p:sp>
        <p:nvSpPr>
          <p:cNvPr id="24" name="Text 22"/>
          <p:cNvSpPr txBox="1"/>
          <p:nvPr/>
        </p:nvSpPr>
        <p:spPr>
          <a:xfrm>
            <a:off x="6931152" y="3584448"/>
            <a:ext cx="4389120" cy="292608"/>
          </a:xfrm>
          <a:prstGeom prst="rect">
            <a:avLst/>
          </a:prstGeom>
          <a:noFill/>
          <a:ln/>
        </p:spPr>
        <p:txBody>
          <a:bodyPr wrap="square" lIns="0" tIns="0" rIns="0" bIns="0" rtlCol="0" anchor="ctr"/>
          <a:lstStyle/>
          <a:p>
            <a:pPr indent="0" marL="0">
              <a:buNone/>
            </a:pPr>
            <a:r>
              <a:rPr lang="en-US" sz="1450" b="1" dirty="0">
                <a:solidFill>
                  <a:srgbClr val="E8CE78"/>
                </a:solidFill>
                <a:latin typeface="Meiryo" pitchFamily="34" charset="0"/>
                <a:ea typeface="Meiryo" pitchFamily="34" charset="-122"/>
                <a:cs typeface="Meiryo" pitchFamily="34" charset="-120"/>
              </a:rPr>
              <a:t>期限が、次の行動を呼ぶ</a:t>
            </a:r>
            <a:endParaRPr lang="en-US" sz="1450" dirty="0"/>
          </a:p>
        </p:txBody>
      </p:sp>
      <p:sp>
        <p:nvSpPr>
          <p:cNvPr id="25" name="Text 23"/>
          <p:cNvSpPr txBox="1"/>
          <p:nvPr/>
        </p:nvSpPr>
        <p:spPr>
          <a:xfrm>
            <a:off x="6492240" y="4005072"/>
            <a:ext cx="4809744" cy="731520"/>
          </a:xfrm>
          <a:prstGeom prst="rect">
            <a:avLst/>
          </a:prstGeom>
          <a:noFill/>
          <a:ln/>
        </p:spPr>
        <p:txBody>
          <a:bodyPr wrap="square" lIns="0" tIns="0" rIns="0" bIns="0" rtlCol="0" anchor="ctr"/>
          <a:lstStyle/>
          <a:p>
            <a:pPr indent="0" marL="0">
              <a:lnSpc>
                <a:spcPts val="1600"/>
              </a:lnSpc>
              <a:buNone/>
            </a:pPr>
            <a:r>
              <a:rPr lang="en-US" sz="1100" dirty="0">
                <a:solidFill>
                  <a:srgbClr val="A2908C"/>
                </a:solidFill>
                <a:latin typeface="Meiryo" pitchFamily="34" charset="0"/>
                <a:ea typeface="Meiryo" pitchFamily="34" charset="-122"/>
                <a:cs typeface="Meiryo" pitchFamily="34" charset="-120"/>
              </a:rPr>
              <a:t>限定マイルは3〜6ヶ月。消費とオークション参加を継続的に促します。残高が減っても、行動すればまた増える。</a:t>
            </a:r>
            <a:endParaRPr lang="en-US" sz="1100" dirty="0"/>
          </a:p>
        </p:txBody>
      </p:sp>
      <p:sp>
        <p:nvSpPr>
          <p:cNvPr id="26" name="Shape 24"/>
          <p:cNvSpPr/>
          <p:nvPr/>
        </p:nvSpPr>
        <p:spPr>
          <a:xfrm>
            <a:off x="566928" y="5084064"/>
            <a:ext cx="11027664" cy="969264"/>
          </a:xfrm>
          <a:prstGeom prst="roundRect">
            <a:avLst>
              <a:gd name="adj" fmla="val 5660"/>
            </a:avLst>
          </a:prstGeom>
          <a:solidFill>
            <a:srgbClr val="7B1E3A"/>
          </a:solidFill>
          <a:ln w="12700">
            <a:solidFill>
              <a:srgbClr val="7B1E3A"/>
            </a:solidFill>
            <a:prstDash val="solid"/>
          </a:ln>
          <a:effectLst>
            <a:outerShdw sx="100000" sy="100000" kx="0" ky="0" algn="bl" rotWithShape="0" blurRad="127000" dist="25400" dir="5400000">
              <a:srgbClr val="000000">
                <a:alpha val="35000"/>
              </a:srgbClr>
            </a:outerShdw>
          </a:effectLst>
        </p:spPr>
      </p:sp>
      <p:sp>
        <p:nvSpPr>
          <p:cNvPr id="27" name="Text 25"/>
          <p:cNvSpPr txBox="1"/>
          <p:nvPr/>
        </p:nvSpPr>
        <p:spPr>
          <a:xfrm>
            <a:off x="978408" y="5266944"/>
            <a:ext cx="10204704" cy="365760"/>
          </a:xfrm>
          <a:prstGeom prst="rect">
            <a:avLst/>
          </a:prstGeom>
          <a:noFill/>
          <a:ln/>
        </p:spPr>
        <p:txBody>
          <a:bodyPr wrap="square" lIns="0" tIns="0" rIns="0" bIns="0" rtlCol="0" anchor="ctr"/>
          <a:lstStyle/>
          <a:p>
            <a:pPr indent="0" marL="0">
              <a:buNone/>
            </a:pPr>
            <a:r>
              <a:rPr lang="en-US" sz="1900" b="1" dirty="0">
                <a:solidFill>
                  <a:srgbClr val="E8CE78"/>
                </a:solidFill>
                <a:latin typeface="Meiryo" pitchFamily="34" charset="0"/>
                <a:ea typeface="Meiryo" pitchFamily="34" charset="-122"/>
                <a:cs typeface="Meiryo" pitchFamily="34" charset="-120"/>
              </a:rPr>
              <a:t>投資の話をやめて、ワインのある暮らしの話をする。</a:t>
            </a:r>
            <a:endParaRPr lang="en-US" sz="1900" dirty="0"/>
          </a:p>
        </p:txBody>
      </p:sp>
      <p:sp>
        <p:nvSpPr>
          <p:cNvPr id="28" name="Text 26"/>
          <p:cNvSpPr txBox="1"/>
          <p:nvPr/>
        </p:nvSpPr>
        <p:spPr>
          <a:xfrm>
            <a:off x="978408" y="5669280"/>
            <a:ext cx="10204704" cy="310896"/>
          </a:xfrm>
          <a:prstGeom prst="rect">
            <a:avLst/>
          </a:prstGeom>
          <a:noFill/>
          <a:ln/>
        </p:spPr>
        <p:txBody>
          <a:bodyPr wrap="square" lIns="0" tIns="0" rIns="0" bIns="0" rtlCol="0" anchor="ctr"/>
          <a:lstStyle/>
          <a:p>
            <a:pPr indent="0" marL="0">
              <a:buNone/>
            </a:pPr>
            <a:r>
              <a:rPr lang="en-US" sz="1250" dirty="0">
                <a:solidFill>
                  <a:srgbClr val="F2EDE6"/>
                </a:solidFill>
                <a:latin typeface="Meiryo" pitchFamily="34" charset="0"/>
                <a:ea typeface="Meiryo" pitchFamily="34" charset="-122"/>
                <a:cs typeface="Meiryo" pitchFamily="34" charset="-120"/>
              </a:rPr>
              <a:t>「夢のある見せ方」が、入会のハードルを下げ、長期の関係をつくります。マイルはその共通言語にすぎません。</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00000"/>
        </a:solidFill>
      </p:bgPr>
    </p:bg>
    <p:spTree>
      <p:nvGrpSpPr>
        <p:cNvPr id="1" name=""/>
        <p:cNvGrpSpPr/>
        <p:nvPr/>
      </p:nvGrpSpPr>
      <p:grpSpPr>
        <a:xfrm>
          <a:off x="0" y="0"/>
          <a:ext cx="0" cy="0"/>
          <a:chOff x="0" y="0"/>
          <a:chExt cx="0" cy="0"/>
        </a:xfrm>
      </p:grpSpPr>
      <p:sp>
        <p:nvSpPr>
          <p:cNvPr id="2" name="Text 0"/>
          <p:cNvSpPr txBox="1"/>
          <p:nvPr/>
        </p:nvSpPr>
        <p:spPr>
          <a:xfrm>
            <a:off x="566928" y="310896"/>
            <a:ext cx="11027664" cy="237744"/>
          </a:xfrm>
          <a:prstGeom prst="rect">
            <a:avLst/>
          </a:prstGeom>
          <a:noFill/>
          <a:ln/>
        </p:spPr>
        <p:txBody>
          <a:bodyPr wrap="square" lIns="0" tIns="0" rIns="0" bIns="0" rtlCol="0" anchor="ctr"/>
          <a:lstStyle/>
          <a:p>
            <a:pPr indent="0" marL="0">
              <a:buNone/>
            </a:pPr>
            <a:r>
              <a:rPr lang="en-US" sz="1050" b="1" spc="300" kern="0" dirty="0">
                <a:solidFill>
                  <a:srgbClr val="C9A227"/>
                </a:solidFill>
                <a:latin typeface="Arial" pitchFamily="34" charset="0"/>
                <a:ea typeface="Arial" pitchFamily="34" charset="-122"/>
                <a:cs typeface="Arial" pitchFamily="34" charset="-120"/>
              </a:rPr>
              <a:t>STRUCTURE</a:t>
            </a:r>
            <a:endParaRPr lang="en-US" sz="1050" dirty="0"/>
          </a:p>
        </p:txBody>
      </p:sp>
      <p:sp>
        <p:nvSpPr>
          <p:cNvPr id="3" name="Text 1"/>
          <p:cNvSpPr txBox="1"/>
          <p:nvPr/>
        </p:nvSpPr>
        <p:spPr>
          <a:xfrm>
            <a:off x="566928" y="566928"/>
            <a:ext cx="11027664" cy="548640"/>
          </a:xfrm>
          <a:prstGeom prst="rect">
            <a:avLst/>
          </a:prstGeom>
          <a:noFill/>
          <a:ln/>
        </p:spPr>
        <p:txBody>
          <a:bodyPr wrap="square" lIns="0" tIns="0" rIns="0" bIns="0" rtlCol="0" anchor="ctr"/>
          <a:lstStyle/>
          <a:p>
            <a:pPr indent="0" marL="0">
              <a:buNone/>
            </a:pPr>
            <a:r>
              <a:rPr lang="en-US" sz="2900" b="1" dirty="0">
                <a:solidFill>
                  <a:srgbClr val="F2EDE6"/>
                </a:solidFill>
                <a:latin typeface="Meiryo" pitchFamily="34" charset="0"/>
                <a:ea typeface="Meiryo" pitchFamily="34" charset="-122"/>
                <a:cs typeface="Meiryo" pitchFamily="34" charset="-120"/>
              </a:rPr>
              <a:t>契約は2本立て：売買・管理 ＋ 成功報酬</a:t>
            </a:r>
            <a:endParaRPr lang="en-US" sz="2900" dirty="0"/>
          </a:p>
        </p:txBody>
      </p:sp>
      <p:sp>
        <p:nvSpPr>
          <p:cNvPr id="4" name="Text 2"/>
          <p:cNvSpPr txBox="1"/>
          <p:nvPr/>
        </p:nvSpPr>
        <p:spPr>
          <a:xfrm>
            <a:off x="566928" y="1152144"/>
            <a:ext cx="11027664" cy="310896"/>
          </a:xfrm>
          <a:prstGeom prst="rect">
            <a:avLst/>
          </a:prstGeom>
          <a:noFill/>
          <a:ln/>
        </p:spPr>
        <p:txBody>
          <a:bodyPr wrap="square" lIns="0" tIns="0" rIns="0" bIns="0" rtlCol="0" anchor="ctr"/>
          <a:lstStyle/>
          <a:p>
            <a:pPr indent="0" marL="0">
              <a:buNone/>
            </a:pPr>
            <a:r>
              <a:rPr lang="en-US" sz="1300" dirty="0">
                <a:solidFill>
                  <a:srgbClr val="A2908C"/>
                </a:solidFill>
                <a:latin typeface="Meiryo" pitchFamily="34" charset="0"/>
                <a:ea typeface="Meiryo" pitchFamily="34" charset="-122"/>
                <a:cs typeface="Meiryo" pitchFamily="34" charset="-120"/>
              </a:rPr>
              <a:t>賃貸借は使いません。所有権は会員のまま、当社は管理を担い、値上がりの一部を成功報酬で受け取ります。</a:t>
            </a:r>
            <a:endParaRPr lang="en-US" sz="1300" dirty="0"/>
          </a:p>
        </p:txBody>
      </p:sp>
      <p:sp>
        <p:nvSpPr>
          <p:cNvPr id="5" name="Text 3"/>
          <p:cNvSpPr txBox="1"/>
          <p:nvPr/>
        </p:nvSpPr>
        <p:spPr>
          <a:xfrm>
            <a:off x="566928" y="6437376"/>
            <a:ext cx="4572000" cy="219456"/>
          </a:xfrm>
          <a:prstGeom prst="rect">
            <a:avLst/>
          </a:prstGeom>
          <a:noFill/>
          <a:ln/>
        </p:spPr>
        <p:txBody>
          <a:bodyPr wrap="square" lIns="0" tIns="0" rIns="0" bIns="0" rtlCol="0" anchor="ctr"/>
          <a:lstStyle/>
          <a:p>
            <a:pPr indent="0" marL="0">
              <a:buNone/>
            </a:pPr>
            <a:r>
              <a:rPr lang="en-US" sz="850" dirty="0">
                <a:solidFill>
                  <a:srgbClr val="6B5A5F"/>
                </a:solidFill>
                <a:latin typeface="Arial" pitchFamily="34" charset="0"/>
                <a:ea typeface="Arial" pitchFamily="34" charset="-122"/>
                <a:cs typeface="Arial" pitchFamily="34" charset="-120"/>
              </a:rPr>
              <a:t>WineBank CONFIDENTIAL</a:t>
            </a:r>
            <a:endParaRPr lang="en-US" sz="850" dirty="0"/>
          </a:p>
        </p:txBody>
      </p:sp>
      <p:sp>
        <p:nvSpPr>
          <p:cNvPr id="6" name="Shape 4"/>
          <p:cNvSpPr/>
          <p:nvPr/>
        </p:nvSpPr>
        <p:spPr>
          <a:xfrm>
            <a:off x="566928" y="1627632"/>
            <a:ext cx="5394960" cy="2487168"/>
          </a:xfrm>
          <a:prstGeom prst="roundRect">
            <a:avLst>
              <a:gd name="adj" fmla="val 2206"/>
            </a:avLst>
          </a:prstGeom>
          <a:solidFill>
            <a:srgbClr val="17111A"/>
          </a:solidFill>
          <a:ln w="12700">
            <a:solidFill>
              <a:srgbClr val="17111A"/>
            </a:solidFill>
            <a:prstDash val="solid"/>
          </a:ln>
          <a:effectLst>
            <a:outerShdw sx="100000" sy="100000" kx="0" ky="0" algn="bl" rotWithShape="0" blurRad="127000" dist="25400" dir="5400000">
              <a:srgbClr val="000000">
                <a:alpha val="35000"/>
              </a:srgbClr>
            </a:outerShdw>
          </a:effectLst>
        </p:spPr>
      </p:sp>
      <p:sp>
        <p:nvSpPr>
          <p:cNvPr id="7" name="Text 5"/>
          <p:cNvSpPr txBox="1"/>
          <p:nvPr/>
        </p:nvSpPr>
        <p:spPr>
          <a:xfrm>
            <a:off x="932688" y="1810512"/>
            <a:ext cx="4663440" cy="310896"/>
          </a:xfrm>
          <a:prstGeom prst="rect">
            <a:avLst/>
          </a:prstGeom>
          <a:noFill/>
          <a:ln/>
        </p:spPr>
        <p:txBody>
          <a:bodyPr wrap="square" lIns="0" tIns="0" rIns="0" bIns="0" rtlCol="0" anchor="ctr"/>
          <a:lstStyle/>
          <a:p>
            <a:pPr indent="0" marL="0">
              <a:buNone/>
            </a:pPr>
            <a:r>
              <a:rPr lang="en-US" sz="1500" b="1" dirty="0">
                <a:solidFill>
                  <a:srgbClr val="E8CE78"/>
                </a:solidFill>
                <a:latin typeface="Meiryo" pitchFamily="34" charset="0"/>
                <a:ea typeface="Meiryo" pitchFamily="34" charset="-122"/>
                <a:cs typeface="Meiryo" pitchFamily="34" charset="-120"/>
              </a:rPr>
              <a:t>① 売買 ＋ 管理（利用規約）</a:t>
            </a:r>
            <a:endParaRPr lang="en-US" sz="1500" dirty="0"/>
          </a:p>
        </p:txBody>
      </p:sp>
      <p:sp>
        <p:nvSpPr>
          <p:cNvPr id="8" name="Text 6"/>
          <p:cNvSpPr txBox="1"/>
          <p:nvPr/>
        </p:nvSpPr>
        <p:spPr>
          <a:xfrm>
            <a:off x="932688" y="2194560"/>
            <a:ext cx="4663440" cy="365760"/>
          </a:xfrm>
          <a:prstGeom prst="rect">
            <a:avLst/>
          </a:prstGeom>
          <a:noFill/>
          <a:ln/>
        </p:spPr>
        <p:txBody>
          <a:bodyPr wrap="square" lIns="0" tIns="0" rIns="0" bIns="0" rtlCol="0" anchor="ctr"/>
          <a:lstStyle/>
          <a:p>
            <a:pPr indent="0" marL="0">
              <a:buNone/>
            </a:pPr>
            <a:r>
              <a:rPr lang="en-US" sz="2000" b="1" dirty="0">
                <a:solidFill>
                  <a:srgbClr val="F2EDE6"/>
                </a:solidFill>
                <a:latin typeface="Meiryo" pitchFamily="34" charset="0"/>
                <a:ea typeface="Meiryo" pitchFamily="34" charset="-122"/>
                <a:cs typeface="Meiryo" pitchFamily="34" charset="-120"/>
              </a:rPr>
              <a:t>管理手数料：2.75%（全ランク）</a:t>
            </a:r>
            <a:endParaRPr lang="en-US" sz="2000" dirty="0"/>
          </a:p>
        </p:txBody>
      </p:sp>
      <p:sp>
        <p:nvSpPr>
          <p:cNvPr id="9" name="Text 7"/>
          <p:cNvSpPr txBox="1"/>
          <p:nvPr/>
        </p:nvSpPr>
        <p:spPr>
          <a:xfrm>
            <a:off x="932688" y="2688336"/>
            <a:ext cx="4663440" cy="1280160"/>
          </a:xfrm>
          <a:prstGeom prst="rect">
            <a:avLst/>
          </a:prstGeom>
          <a:noFill/>
          <a:ln/>
        </p:spPr>
        <p:txBody>
          <a:bodyPr wrap="square" lIns="0" tIns="0" rIns="0" bIns="0" rtlCol="0" anchor="t"/>
          <a:lstStyle/>
          <a:p>
            <a:pPr marL="152400" indent="-152400">
              <a:lnSpc>
                <a:spcPts val="1700"/>
              </a:lnSpc>
              <a:spcAft>
                <a:spcPts val="900"/>
              </a:spcAft>
              <a:buSzPct val="100000"/>
              <a:buChar char="•"/>
            </a:pPr>
            <a:r>
              <a:rPr lang="en-US" sz="1150" dirty="0">
                <a:solidFill>
                  <a:srgbClr val="A2908C"/>
                </a:solidFill>
                <a:latin typeface="Meiryo" pitchFamily="34" charset="0"/>
                <a:ea typeface="Meiryo" pitchFamily="34" charset="-122"/>
                <a:cs typeface="Meiryo" pitchFamily="34" charset="-120"/>
              </a:rPr>
              <a:t>利用規約への同意で売買契約が成立する</a:t>
            </a:r>
            <a:endParaRPr lang="en-US" sz="1150" dirty="0"/>
          </a:p>
          <a:p>
            <a:pPr marL="152400" indent="-152400">
              <a:lnSpc>
                <a:spcPts val="1700"/>
              </a:lnSpc>
              <a:spcAft>
                <a:spcPts val="900"/>
              </a:spcAft>
              <a:buSzPct val="100000"/>
              <a:buChar char="•"/>
            </a:pPr>
            <a:r>
              <a:rPr lang="en-US" sz="1150" dirty="0">
                <a:solidFill>
                  <a:srgbClr val="A2908C"/>
                </a:solidFill>
                <a:latin typeface="Meiryo" pitchFamily="34" charset="0"/>
                <a:ea typeface="Meiryo" pitchFamily="34" charset="-122"/>
                <a:cs typeface="Meiryo" pitchFamily="34" charset="-120"/>
              </a:rPr>
              <a:t>デジタルでの資産価値提供・倉庫アレンジ・保険付保の対価</a:t>
            </a:r>
            <a:endParaRPr lang="en-US" sz="1150" dirty="0"/>
          </a:p>
          <a:p>
            <a:pPr marL="152400" indent="-152400">
              <a:lnSpc>
                <a:spcPts val="1700"/>
              </a:lnSpc>
              <a:spcAft>
                <a:spcPts val="900"/>
              </a:spcAft>
              <a:buSzPct val="100000"/>
              <a:buChar char="•"/>
            </a:pPr>
            <a:r>
              <a:rPr lang="en-US" sz="1150" dirty="0">
                <a:solidFill>
                  <a:srgbClr val="A2908C"/>
                </a:solidFill>
                <a:latin typeface="Meiryo" pitchFamily="34" charset="0"/>
                <a:ea typeface="Meiryo" pitchFamily="34" charset="-122"/>
                <a:cs typeface="Meiryo" pitchFamily="34" charset="-120"/>
              </a:rPr>
              <a:t>マイルはこの管理料に対するおまけ（無償）</a:t>
            </a:r>
            <a:endParaRPr lang="en-US" sz="1150" dirty="0"/>
          </a:p>
        </p:txBody>
      </p:sp>
      <p:sp>
        <p:nvSpPr>
          <p:cNvPr id="10" name="Shape 8"/>
          <p:cNvSpPr/>
          <p:nvPr/>
        </p:nvSpPr>
        <p:spPr>
          <a:xfrm>
            <a:off x="6199632" y="1627632"/>
            <a:ext cx="5394960" cy="2487168"/>
          </a:xfrm>
          <a:prstGeom prst="roundRect">
            <a:avLst>
              <a:gd name="adj" fmla="val 2206"/>
            </a:avLst>
          </a:prstGeom>
          <a:solidFill>
            <a:srgbClr val="261A24"/>
          </a:solidFill>
          <a:ln w="12700">
            <a:solidFill>
              <a:srgbClr val="261A24"/>
            </a:solidFill>
            <a:prstDash val="solid"/>
          </a:ln>
          <a:effectLst>
            <a:outerShdw sx="100000" sy="100000" kx="0" ky="0" algn="bl" rotWithShape="0" blurRad="127000" dist="25400" dir="5400000">
              <a:srgbClr val="000000">
                <a:alpha val="35000"/>
              </a:srgbClr>
            </a:outerShdw>
          </a:effectLst>
        </p:spPr>
      </p:sp>
      <p:sp>
        <p:nvSpPr>
          <p:cNvPr id="11" name="Text 9"/>
          <p:cNvSpPr txBox="1"/>
          <p:nvPr/>
        </p:nvSpPr>
        <p:spPr>
          <a:xfrm>
            <a:off x="6565392" y="1810512"/>
            <a:ext cx="4663440" cy="310896"/>
          </a:xfrm>
          <a:prstGeom prst="rect">
            <a:avLst/>
          </a:prstGeom>
          <a:noFill/>
          <a:ln/>
        </p:spPr>
        <p:txBody>
          <a:bodyPr wrap="square" lIns="0" tIns="0" rIns="0" bIns="0" rtlCol="0" anchor="ctr"/>
          <a:lstStyle/>
          <a:p>
            <a:pPr indent="0" marL="0">
              <a:buNone/>
            </a:pPr>
            <a:r>
              <a:rPr lang="en-US" sz="1500" b="1" dirty="0">
                <a:solidFill>
                  <a:srgbClr val="C9A227"/>
                </a:solidFill>
                <a:latin typeface="Meiryo" pitchFamily="34" charset="0"/>
                <a:ea typeface="Meiryo" pitchFamily="34" charset="-122"/>
                <a:cs typeface="Meiryo" pitchFamily="34" charset="-120"/>
              </a:rPr>
              <a:t>② アセットマネジメント（役務提供）</a:t>
            </a:r>
            <a:endParaRPr lang="en-US" sz="1500" dirty="0"/>
          </a:p>
        </p:txBody>
      </p:sp>
      <p:sp>
        <p:nvSpPr>
          <p:cNvPr id="12" name="Text 10"/>
          <p:cNvSpPr txBox="1"/>
          <p:nvPr/>
        </p:nvSpPr>
        <p:spPr>
          <a:xfrm>
            <a:off x="6565392" y="2194560"/>
            <a:ext cx="4663440" cy="365760"/>
          </a:xfrm>
          <a:prstGeom prst="rect">
            <a:avLst/>
          </a:prstGeom>
          <a:noFill/>
          <a:ln/>
        </p:spPr>
        <p:txBody>
          <a:bodyPr wrap="square" lIns="0" tIns="0" rIns="0" bIns="0" rtlCol="0" anchor="ctr"/>
          <a:lstStyle/>
          <a:p>
            <a:pPr indent="0" marL="0">
              <a:buNone/>
            </a:pPr>
            <a:r>
              <a:rPr lang="en-US" sz="2000" b="1" dirty="0">
                <a:solidFill>
                  <a:srgbClr val="F2EDE6"/>
                </a:solidFill>
                <a:latin typeface="Meiryo" pitchFamily="34" charset="0"/>
                <a:ea typeface="Meiryo" pitchFamily="34" charset="-122"/>
                <a:cs typeface="Meiryo" pitchFamily="34" charset="-120"/>
              </a:rPr>
              <a:t>成功報酬：値上がり分の30%</a:t>
            </a:r>
            <a:endParaRPr lang="en-US" sz="2000" dirty="0"/>
          </a:p>
        </p:txBody>
      </p:sp>
      <p:sp>
        <p:nvSpPr>
          <p:cNvPr id="13" name="Text 11"/>
          <p:cNvSpPr txBox="1"/>
          <p:nvPr/>
        </p:nvSpPr>
        <p:spPr>
          <a:xfrm>
            <a:off x="6565392" y="2688336"/>
            <a:ext cx="4663440" cy="1280160"/>
          </a:xfrm>
          <a:prstGeom prst="rect">
            <a:avLst/>
          </a:prstGeom>
          <a:noFill/>
          <a:ln/>
        </p:spPr>
        <p:txBody>
          <a:bodyPr wrap="square" lIns="0" tIns="0" rIns="0" bIns="0" rtlCol="0" anchor="t"/>
          <a:lstStyle/>
          <a:p>
            <a:pPr marL="152400" indent="-152400">
              <a:lnSpc>
                <a:spcPts val="1700"/>
              </a:lnSpc>
              <a:spcAft>
                <a:spcPts val="900"/>
              </a:spcAft>
              <a:buSzPct val="100000"/>
              <a:buChar char="•"/>
            </a:pPr>
            <a:r>
              <a:rPr lang="en-US" sz="1150" dirty="0">
                <a:solidFill>
                  <a:srgbClr val="A2908C"/>
                </a:solidFill>
                <a:latin typeface="Meiryo" pitchFamily="34" charset="0"/>
                <a:ea typeface="Meiryo" pitchFamily="34" charset="-122"/>
                <a:cs typeface="Meiryo" pitchFamily="34" charset="-120"/>
              </a:rPr>
              <a:t>保管・真正性管理・市場形成の対価</a:t>
            </a:r>
            <a:endParaRPr lang="en-US" sz="1150" dirty="0"/>
          </a:p>
          <a:p>
            <a:pPr marL="152400" indent="-152400">
              <a:lnSpc>
                <a:spcPts val="1700"/>
              </a:lnSpc>
              <a:spcAft>
                <a:spcPts val="900"/>
              </a:spcAft>
              <a:buSzPct val="100000"/>
              <a:buChar char="•"/>
            </a:pPr>
            <a:r>
              <a:rPr lang="en-US" sz="1150" dirty="0">
                <a:solidFill>
                  <a:srgbClr val="A2908C"/>
                </a:solidFill>
                <a:latin typeface="Meiryo" pitchFamily="34" charset="0"/>
                <a:ea typeface="Meiryo" pitchFamily="34" charset="-122"/>
                <a:cs typeface="Meiryo" pitchFamily="34" charset="-120"/>
              </a:rPr>
              <a:t>契約終了時に評価額の差分で精算</a:t>
            </a:r>
            <a:endParaRPr lang="en-US" sz="1150" dirty="0"/>
          </a:p>
          <a:p>
            <a:pPr marL="152400" indent="-152400">
              <a:lnSpc>
                <a:spcPts val="1700"/>
              </a:lnSpc>
              <a:spcAft>
                <a:spcPts val="900"/>
              </a:spcAft>
              <a:buSzPct val="100000"/>
              <a:buChar char="•"/>
            </a:pPr>
            <a:r>
              <a:rPr lang="en-US" sz="1150" dirty="0">
                <a:solidFill>
                  <a:srgbClr val="A2908C"/>
                </a:solidFill>
                <a:latin typeface="Meiryo" pitchFamily="34" charset="0"/>
                <a:ea typeface="Meiryo" pitchFamily="34" charset="-122"/>
                <a:cs typeface="Meiryo" pitchFamily="34" charset="-120"/>
              </a:rPr>
              <a:t>仲介手数料はWineBank経由で売れた場合のみ</a:t>
            </a:r>
            <a:endParaRPr lang="en-US" sz="1150" dirty="0"/>
          </a:p>
        </p:txBody>
      </p:sp>
      <p:sp>
        <p:nvSpPr>
          <p:cNvPr id="14" name="Shape 12"/>
          <p:cNvSpPr/>
          <p:nvPr/>
        </p:nvSpPr>
        <p:spPr>
          <a:xfrm>
            <a:off x="566928" y="4261104"/>
            <a:ext cx="11027664" cy="896112"/>
          </a:xfrm>
          <a:prstGeom prst="roundRect">
            <a:avLst>
              <a:gd name="adj" fmla="val 6122"/>
            </a:avLst>
          </a:prstGeom>
          <a:solidFill>
            <a:srgbClr val="17111A"/>
          </a:solidFill>
          <a:ln w="12700">
            <a:solidFill>
              <a:srgbClr val="17111A"/>
            </a:solidFill>
            <a:prstDash val="solid"/>
          </a:ln>
          <a:effectLst>
            <a:outerShdw sx="100000" sy="100000" kx="0" ky="0" algn="bl" rotWithShape="0" blurRad="127000" dist="25400" dir="5400000">
              <a:srgbClr val="000000">
                <a:alpha val="35000"/>
              </a:srgbClr>
            </a:outerShdw>
          </a:effectLst>
        </p:spPr>
      </p:sp>
      <p:sp>
        <p:nvSpPr>
          <p:cNvPr id="15" name="Text 13"/>
          <p:cNvSpPr txBox="1"/>
          <p:nvPr/>
        </p:nvSpPr>
        <p:spPr>
          <a:xfrm>
            <a:off x="978408" y="4443984"/>
            <a:ext cx="10204704" cy="329184"/>
          </a:xfrm>
          <a:prstGeom prst="rect">
            <a:avLst/>
          </a:prstGeom>
          <a:noFill/>
          <a:ln/>
        </p:spPr>
        <p:txBody>
          <a:bodyPr wrap="square" lIns="0" tIns="0" rIns="0" bIns="0" rtlCol="0" anchor="ctr"/>
          <a:lstStyle/>
          <a:p>
            <a:pPr indent="0" marL="0">
              <a:buNone/>
            </a:pPr>
            <a:r>
              <a:rPr lang="en-US" sz="1350" b="1" dirty="0">
                <a:solidFill>
                  <a:srgbClr val="F2EDE6"/>
                </a:solidFill>
                <a:latin typeface="Meiryo" pitchFamily="34" charset="0"/>
                <a:ea typeface="Meiryo" pitchFamily="34" charset="-122"/>
                <a:cs typeface="Meiryo" pitchFamily="34" charset="-120"/>
              </a:rPr>
              <a:t>賃貸借契約は締結しません。所有権は会員のまま、当社は保管・保険・真正性管理と、売却時の成功報酬を担います。</a:t>
            </a:r>
            <a:endParaRPr lang="en-US" sz="1350" dirty="0"/>
          </a:p>
        </p:txBody>
      </p:sp>
      <p:sp>
        <p:nvSpPr>
          <p:cNvPr id="16" name="Text 14"/>
          <p:cNvSpPr txBox="1"/>
          <p:nvPr/>
        </p:nvSpPr>
        <p:spPr>
          <a:xfrm>
            <a:off x="978408" y="4791456"/>
            <a:ext cx="10204704" cy="292608"/>
          </a:xfrm>
          <a:prstGeom prst="rect">
            <a:avLst/>
          </a:prstGeom>
          <a:noFill/>
          <a:ln/>
        </p:spPr>
        <p:txBody>
          <a:bodyPr wrap="square" lIns="0" tIns="0" rIns="0" bIns="0" rtlCol="0" anchor="ctr"/>
          <a:lstStyle/>
          <a:p>
            <a:pPr indent="0" marL="0">
              <a:buNone/>
            </a:pPr>
            <a:r>
              <a:rPr lang="en-US" sz="1150" dirty="0">
                <a:solidFill>
                  <a:srgbClr val="A2908C"/>
                </a:solidFill>
                <a:latin typeface="Meiryo" pitchFamily="34" charset="0"/>
                <a:ea typeface="Meiryo" pitchFamily="34" charset="-122"/>
                <a:cs typeface="Meiryo" pitchFamily="34" charset="-120"/>
              </a:rPr>
              <a:t>買戻し保証を付けると経済価値が移転せず、100万円を売上計上できません。成功報酬型ならこの論点は生じません。</a:t>
            </a:r>
            <a:endParaRPr lang="en-US" sz="1150" dirty="0"/>
          </a:p>
        </p:txBody>
      </p:sp>
      <p:sp>
        <p:nvSpPr>
          <p:cNvPr id="17" name="Shape 15"/>
          <p:cNvSpPr/>
          <p:nvPr/>
        </p:nvSpPr>
        <p:spPr>
          <a:xfrm>
            <a:off x="566928" y="5285232"/>
            <a:ext cx="11027664" cy="768096"/>
          </a:xfrm>
          <a:prstGeom prst="roundRect">
            <a:avLst>
              <a:gd name="adj" fmla="val 7143"/>
            </a:avLst>
          </a:prstGeom>
          <a:solidFill>
            <a:srgbClr val="7B1E3A"/>
          </a:solidFill>
          <a:ln w="12700">
            <a:solidFill>
              <a:srgbClr val="7B1E3A"/>
            </a:solidFill>
            <a:prstDash val="solid"/>
          </a:ln>
          <a:effectLst>
            <a:outerShdw sx="100000" sy="100000" kx="0" ky="0" algn="bl" rotWithShape="0" blurRad="127000" dist="25400" dir="5400000">
              <a:srgbClr val="000000">
                <a:alpha val="35000"/>
              </a:srgbClr>
            </a:outerShdw>
          </a:effectLst>
        </p:spPr>
      </p:sp>
      <p:sp>
        <p:nvSpPr>
          <p:cNvPr id="18" name="Text 16"/>
          <p:cNvSpPr txBox="1"/>
          <p:nvPr/>
        </p:nvSpPr>
        <p:spPr>
          <a:xfrm>
            <a:off x="978408" y="5468112"/>
            <a:ext cx="10204704" cy="384048"/>
          </a:xfrm>
          <a:prstGeom prst="rect">
            <a:avLst/>
          </a:prstGeom>
          <a:noFill/>
          <a:ln/>
        </p:spPr>
        <p:txBody>
          <a:bodyPr wrap="square" lIns="0" tIns="0" rIns="0" bIns="0" rtlCol="0" anchor="ctr"/>
          <a:lstStyle/>
          <a:p>
            <a:pPr indent="0" marL="0">
              <a:buNone/>
            </a:pPr>
            <a:r>
              <a:rPr lang="en-US" sz="1700" b="1" dirty="0">
                <a:solidFill>
                  <a:srgbClr val="E8CE78"/>
                </a:solidFill>
                <a:latin typeface="Meiryo" pitchFamily="34" charset="0"/>
                <a:ea typeface="Meiryo" pitchFamily="34" charset="-122"/>
                <a:cs typeface="Meiryo" pitchFamily="34" charset="-120"/>
              </a:rPr>
              <a:t>マイルは管理料に対するおまけです。値上がりの70%は会員のもの。</a:t>
            </a:r>
            <a:endParaRPr lang="en-US" sz="17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00000"/>
        </a:solidFill>
      </p:bgPr>
    </p:bg>
    <p:spTree>
      <p:nvGrpSpPr>
        <p:cNvPr id="1" name=""/>
        <p:cNvGrpSpPr/>
        <p:nvPr/>
      </p:nvGrpSpPr>
      <p:grpSpPr>
        <a:xfrm>
          <a:off x="0" y="0"/>
          <a:ext cx="0" cy="0"/>
          <a:chOff x="0" y="0"/>
          <a:chExt cx="0" cy="0"/>
        </a:xfrm>
      </p:grpSpPr>
      <p:sp>
        <p:nvSpPr>
          <p:cNvPr id="2" name="Text 0"/>
          <p:cNvSpPr txBox="1"/>
          <p:nvPr/>
        </p:nvSpPr>
        <p:spPr>
          <a:xfrm>
            <a:off x="566928" y="310896"/>
            <a:ext cx="11027664" cy="237744"/>
          </a:xfrm>
          <a:prstGeom prst="rect">
            <a:avLst/>
          </a:prstGeom>
          <a:noFill/>
          <a:ln/>
        </p:spPr>
        <p:txBody>
          <a:bodyPr wrap="square" lIns="0" tIns="0" rIns="0" bIns="0" rtlCol="0" anchor="ctr"/>
          <a:lstStyle/>
          <a:p>
            <a:pPr indent="0" marL="0">
              <a:buNone/>
            </a:pPr>
            <a:r>
              <a:rPr lang="en-US" sz="1050" b="1" spc="300" kern="0" dirty="0">
                <a:solidFill>
                  <a:srgbClr val="C9A227"/>
                </a:solidFill>
                <a:latin typeface="Arial" pitchFamily="34" charset="0"/>
                <a:ea typeface="Arial" pitchFamily="34" charset="-122"/>
                <a:cs typeface="Arial" pitchFamily="34" charset="-120"/>
              </a:rPr>
              <a:t>SOLUTION</a:t>
            </a:r>
            <a:endParaRPr lang="en-US" sz="1050" dirty="0"/>
          </a:p>
        </p:txBody>
      </p:sp>
      <p:sp>
        <p:nvSpPr>
          <p:cNvPr id="3" name="Text 1"/>
          <p:cNvSpPr txBox="1"/>
          <p:nvPr/>
        </p:nvSpPr>
        <p:spPr>
          <a:xfrm>
            <a:off x="566928" y="566928"/>
            <a:ext cx="11027664" cy="548640"/>
          </a:xfrm>
          <a:prstGeom prst="rect">
            <a:avLst/>
          </a:prstGeom>
          <a:noFill/>
          <a:ln/>
        </p:spPr>
        <p:txBody>
          <a:bodyPr wrap="square" lIns="0" tIns="0" rIns="0" bIns="0" rtlCol="0" anchor="ctr"/>
          <a:lstStyle/>
          <a:p>
            <a:pPr indent="0" marL="0">
              <a:buNone/>
            </a:pPr>
            <a:r>
              <a:rPr lang="en-US" sz="2900" b="1" dirty="0">
                <a:solidFill>
                  <a:srgbClr val="F2EDE6"/>
                </a:solidFill>
                <a:latin typeface="Meiryo" pitchFamily="34" charset="0"/>
                <a:ea typeface="Meiryo" pitchFamily="34" charset="-122"/>
                <a:cs typeface="Meiryo" pitchFamily="34" charset="-120"/>
              </a:rPr>
              <a:t>設計：ワイン貯金の3ステップ</a:t>
            </a:r>
            <a:endParaRPr lang="en-US" sz="2900" dirty="0"/>
          </a:p>
        </p:txBody>
      </p:sp>
      <p:sp>
        <p:nvSpPr>
          <p:cNvPr id="4" name="Text 2"/>
          <p:cNvSpPr txBox="1"/>
          <p:nvPr/>
        </p:nvSpPr>
        <p:spPr>
          <a:xfrm>
            <a:off x="566928" y="1152144"/>
            <a:ext cx="11027664" cy="310896"/>
          </a:xfrm>
          <a:prstGeom prst="rect">
            <a:avLst/>
          </a:prstGeom>
          <a:noFill/>
          <a:ln/>
        </p:spPr>
        <p:txBody>
          <a:bodyPr wrap="square" lIns="0" tIns="0" rIns="0" bIns="0" rtlCol="0" anchor="ctr"/>
          <a:lstStyle/>
          <a:p>
            <a:pPr indent="0" marL="0">
              <a:buNone/>
            </a:pPr>
            <a:r>
              <a:rPr lang="en-US" sz="1300" dirty="0">
                <a:solidFill>
                  <a:srgbClr val="A2908C"/>
                </a:solidFill>
                <a:latin typeface="Meiryo" pitchFamily="34" charset="0"/>
                <a:ea typeface="Meiryo" pitchFamily="34" charset="-122"/>
                <a:cs typeface="Meiryo" pitchFamily="34" charset="-120"/>
              </a:rPr>
              <a:t>所有権は会員に。管理手数料を払う代わりに、その倍のマイルを受け取る。</a:t>
            </a:r>
            <a:endParaRPr lang="en-US" sz="1300" dirty="0"/>
          </a:p>
        </p:txBody>
      </p:sp>
      <p:sp>
        <p:nvSpPr>
          <p:cNvPr id="5" name="Text 3"/>
          <p:cNvSpPr txBox="1"/>
          <p:nvPr/>
        </p:nvSpPr>
        <p:spPr>
          <a:xfrm>
            <a:off x="566928" y="6437376"/>
            <a:ext cx="4572000" cy="219456"/>
          </a:xfrm>
          <a:prstGeom prst="rect">
            <a:avLst/>
          </a:prstGeom>
          <a:noFill/>
          <a:ln/>
        </p:spPr>
        <p:txBody>
          <a:bodyPr wrap="square" lIns="0" tIns="0" rIns="0" bIns="0" rtlCol="0" anchor="ctr"/>
          <a:lstStyle/>
          <a:p>
            <a:pPr indent="0" marL="0">
              <a:buNone/>
            </a:pPr>
            <a:r>
              <a:rPr lang="en-US" sz="850" dirty="0">
                <a:solidFill>
                  <a:srgbClr val="6B5A5F"/>
                </a:solidFill>
                <a:latin typeface="Arial" pitchFamily="34" charset="0"/>
                <a:ea typeface="Arial" pitchFamily="34" charset="-122"/>
                <a:cs typeface="Arial" pitchFamily="34" charset="-120"/>
              </a:rPr>
              <a:t>WineBank CONFIDENTIAL</a:t>
            </a:r>
            <a:endParaRPr lang="en-US" sz="850" dirty="0"/>
          </a:p>
        </p:txBody>
      </p:sp>
      <p:sp>
        <p:nvSpPr>
          <p:cNvPr id="6" name="Shape 4"/>
          <p:cNvSpPr/>
          <p:nvPr/>
        </p:nvSpPr>
        <p:spPr>
          <a:xfrm>
            <a:off x="566928" y="1737360"/>
            <a:ext cx="3566160" cy="2194560"/>
          </a:xfrm>
          <a:prstGeom prst="roundRect">
            <a:avLst>
              <a:gd name="adj" fmla="val 2500"/>
            </a:avLst>
          </a:prstGeom>
          <a:solidFill>
            <a:srgbClr val="17111A"/>
          </a:solidFill>
          <a:ln w="12700">
            <a:solidFill>
              <a:srgbClr val="17111A"/>
            </a:solidFill>
            <a:prstDash val="solid"/>
          </a:ln>
          <a:effectLst>
            <a:outerShdw sx="100000" sy="100000" kx="0" ky="0" algn="bl" rotWithShape="0" blurRad="127000" dist="25400" dir="5400000">
              <a:srgbClr val="000000">
                <a:alpha val="35000"/>
              </a:srgbClr>
            </a:outerShdw>
          </a:effectLst>
        </p:spPr>
      </p:sp>
      <p:sp>
        <p:nvSpPr>
          <p:cNvPr id="7" name="Shape 5"/>
          <p:cNvSpPr/>
          <p:nvPr/>
        </p:nvSpPr>
        <p:spPr>
          <a:xfrm>
            <a:off x="859536" y="1975104"/>
            <a:ext cx="329184" cy="329184"/>
          </a:xfrm>
          <a:prstGeom prst="ellipse">
            <a:avLst/>
          </a:prstGeom>
          <a:solidFill>
            <a:srgbClr val="C9A227"/>
          </a:solidFill>
          <a:ln w="12700">
            <a:solidFill>
              <a:srgbClr val="C9A227"/>
            </a:solidFill>
            <a:prstDash val="solid"/>
          </a:ln>
        </p:spPr>
      </p:sp>
      <p:sp>
        <p:nvSpPr>
          <p:cNvPr id="8" name="Text 6"/>
          <p:cNvSpPr txBox="1"/>
          <p:nvPr/>
        </p:nvSpPr>
        <p:spPr>
          <a:xfrm>
            <a:off x="859536" y="1975104"/>
            <a:ext cx="329184" cy="329184"/>
          </a:xfrm>
          <a:prstGeom prst="rect">
            <a:avLst/>
          </a:prstGeom>
          <a:noFill/>
          <a:ln/>
        </p:spPr>
        <p:txBody>
          <a:bodyPr wrap="square" lIns="0" tIns="0" rIns="0" bIns="0" rtlCol="0" anchor="ctr"/>
          <a:lstStyle/>
          <a:p>
            <a:pPr algn="ctr" indent="0" marL="0">
              <a:buNone/>
            </a:pPr>
            <a:r>
              <a:rPr lang="en-US" sz="1300" b="1" dirty="0">
                <a:solidFill>
                  <a:srgbClr val="000000"/>
                </a:solidFill>
                <a:latin typeface="Arial" pitchFamily="34" charset="0"/>
                <a:ea typeface="Arial" pitchFamily="34" charset="-122"/>
                <a:cs typeface="Arial" pitchFamily="34" charset="-120"/>
              </a:rPr>
              <a:t>1</a:t>
            </a:r>
            <a:endParaRPr lang="en-US" sz="1300" dirty="0"/>
          </a:p>
        </p:txBody>
      </p:sp>
      <p:sp>
        <p:nvSpPr>
          <p:cNvPr id="9" name="Text 7"/>
          <p:cNvSpPr txBox="1"/>
          <p:nvPr/>
        </p:nvSpPr>
        <p:spPr>
          <a:xfrm>
            <a:off x="1298448" y="1993392"/>
            <a:ext cx="2578608" cy="292608"/>
          </a:xfrm>
          <a:prstGeom prst="rect">
            <a:avLst/>
          </a:prstGeom>
          <a:noFill/>
          <a:ln/>
        </p:spPr>
        <p:txBody>
          <a:bodyPr wrap="square" lIns="0" tIns="0" rIns="0" bIns="0" rtlCol="0" anchor="ctr"/>
          <a:lstStyle/>
          <a:p>
            <a:pPr indent="0" marL="0">
              <a:buNone/>
            </a:pPr>
            <a:r>
              <a:rPr lang="en-US" sz="1350" b="1" dirty="0">
                <a:solidFill>
                  <a:srgbClr val="F2EDE6"/>
                </a:solidFill>
                <a:latin typeface="Meiryo" pitchFamily="34" charset="0"/>
                <a:ea typeface="Meiryo" pitchFamily="34" charset="-122"/>
                <a:cs typeface="Meiryo" pitchFamily="34" charset="-120"/>
              </a:rPr>
              <a:t>ワインを購入し、預ける</a:t>
            </a:r>
            <a:endParaRPr lang="en-US" sz="1350" dirty="0"/>
          </a:p>
        </p:txBody>
      </p:sp>
      <p:sp>
        <p:nvSpPr>
          <p:cNvPr id="10" name="Text 8"/>
          <p:cNvSpPr txBox="1"/>
          <p:nvPr/>
        </p:nvSpPr>
        <p:spPr>
          <a:xfrm>
            <a:off x="859536" y="2487168"/>
            <a:ext cx="2980944" cy="530352"/>
          </a:xfrm>
          <a:prstGeom prst="rect">
            <a:avLst/>
          </a:prstGeom>
          <a:noFill/>
          <a:ln/>
        </p:spPr>
        <p:txBody>
          <a:bodyPr wrap="square" lIns="0" tIns="0" rIns="0" bIns="0" rtlCol="0" anchor="ctr"/>
          <a:lstStyle/>
          <a:p>
            <a:pPr indent="0" marL="0">
              <a:buNone/>
            </a:pPr>
            <a:r>
              <a:rPr lang="en-US" sz="2800" b="1" dirty="0">
                <a:solidFill>
                  <a:srgbClr val="C9A227"/>
                </a:solidFill>
                <a:latin typeface="Meiryo" pitchFamily="34" charset="0"/>
                <a:ea typeface="Meiryo" pitchFamily="34" charset="-122"/>
                <a:cs typeface="Meiryo" pitchFamily="34" charset="-120"/>
              </a:rPr>
              <a:t>100万円</a:t>
            </a:r>
            <a:endParaRPr lang="en-US" sz="2800" dirty="0"/>
          </a:p>
        </p:txBody>
      </p:sp>
      <p:sp>
        <p:nvSpPr>
          <p:cNvPr id="11" name="Text 9"/>
          <p:cNvSpPr txBox="1"/>
          <p:nvPr/>
        </p:nvSpPr>
        <p:spPr>
          <a:xfrm>
            <a:off x="859536" y="3108960"/>
            <a:ext cx="2980944" cy="731520"/>
          </a:xfrm>
          <a:prstGeom prst="rect">
            <a:avLst/>
          </a:prstGeom>
          <a:noFill/>
          <a:ln/>
        </p:spPr>
        <p:txBody>
          <a:bodyPr wrap="square" lIns="0" tIns="0" rIns="0" bIns="0" rtlCol="0" anchor="ctr"/>
          <a:lstStyle/>
          <a:p>
            <a:pPr indent="0" marL="0">
              <a:lnSpc>
                <a:spcPts val="1700"/>
              </a:lnSpc>
              <a:buNone/>
            </a:pPr>
            <a:r>
              <a:rPr lang="en-US" sz="1100" dirty="0">
                <a:solidFill>
                  <a:srgbClr val="A2908C"/>
                </a:solidFill>
                <a:latin typeface="Meiryo" pitchFamily="34" charset="0"/>
                <a:ea typeface="Meiryo" pitchFamily="34" charset="-122"/>
                <a:cs typeface="Meiryo" pitchFamily="34" charset="-120"/>
              </a:rPr>
              <a:t>所有権は会員。定温セラーで保管・動産保険付帯。WineBankに賃貸する</a:t>
            </a:r>
            <a:endParaRPr lang="en-US" sz="1100" dirty="0"/>
          </a:p>
        </p:txBody>
      </p:sp>
      <p:sp>
        <p:nvSpPr>
          <p:cNvPr id="12" name="Text 10"/>
          <p:cNvSpPr txBox="1"/>
          <p:nvPr/>
        </p:nvSpPr>
        <p:spPr>
          <a:xfrm>
            <a:off x="4169664" y="2633472"/>
            <a:ext cx="329184" cy="365760"/>
          </a:xfrm>
          <a:prstGeom prst="rect">
            <a:avLst/>
          </a:prstGeom>
          <a:noFill/>
          <a:ln/>
        </p:spPr>
        <p:txBody>
          <a:bodyPr wrap="square" lIns="0" tIns="0" rIns="0" bIns="0" rtlCol="0" anchor="ctr"/>
          <a:lstStyle/>
          <a:p>
            <a:pPr algn="ctr" indent="0" marL="0">
              <a:buNone/>
            </a:pPr>
            <a:r>
              <a:rPr lang="en-US" sz="1700" dirty="0">
                <a:solidFill>
                  <a:srgbClr val="C9A227"/>
                </a:solidFill>
                <a:latin typeface="Meiryo" pitchFamily="34" charset="0"/>
                <a:ea typeface="Meiryo" pitchFamily="34" charset="-122"/>
                <a:cs typeface="Meiryo" pitchFamily="34" charset="-120"/>
              </a:rPr>
              <a:t>▶</a:t>
            </a:r>
            <a:endParaRPr lang="en-US" sz="1700" dirty="0"/>
          </a:p>
        </p:txBody>
      </p:sp>
      <p:sp>
        <p:nvSpPr>
          <p:cNvPr id="13" name="Shape 11"/>
          <p:cNvSpPr/>
          <p:nvPr/>
        </p:nvSpPr>
        <p:spPr>
          <a:xfrm>
            <a:off x="4517136" y="1737360"/>
            <a:ext cx="3566160" cy="2194560"/>
          </a:xfrm>
          <a:prstGeom prst="roundRect">
            <a:avLst>
              <a:gd name="adj" fmla="val 2500"/>
            </a:avLst>
          </a:prstGeom>
          <a:solidFill>
            <a:srgbClr val="17111A"/>
          </a:solidFill>
          <a:ln w="12700">
            <a:solidFill>
              <a:srgbClr val="17111A"/>
            </a:solidFill>
            <a:prstDash val="solid"/>
          </a:ln>
          <a:effectLst>
            <a:outerShdw sx="100000" sy="100000" kx="0" ky="0" algn="bl" rotWithShape="0" blurRad="127000" dist="25400" dir="5400000">
              <a:srgbClr val="000000">
                <a:alpha val="35000"/>
              </a:srgbClr>
            </a:outerShdw>
          </a:effectLst>
        </p:spPr>
      </p:sp>
      <p:sp>
        <p:nvSpPr>
          <p:cNvPr id="14" name="Shape 12"/>
          <p:cNvSpPr/>
          <p:nvPr/>
        </p:nvSpPr>
        <p:spPr>
          <a:xfrm>
            <a:off x="4809744" y="1975104"/>
            <a:ext cx="329184" cy="329184"/>
          </a:xfrm>
          <a:prstGeom prst="ellipse">
            <a:avLst/>
          </a:prstGeom>
          <a:solidFill>
            <a:srgbClr val="C9A227"/>
          </a:solidFill>
          <a:ln w="12700">
            <a:solidFill>
              <a:srgbClr val="C9A227"/>
            </a:solidFill>
            <a:prstDash val="solid"/>
          </a:ln>
        </p:spPr>
      </p:sp>
      <p:sp>
        <p:nvSpPr>
          <p:cNvPr id="15" name="Text 13"/>
          <p:cNvSpPr txBox="1"/>
          <p:nvPr/>
        </p:nvSpPr>
        <p:spPr>
          <a:xfrm>
            <a:off x="4809744" y="1975104"/>
            <a:ext cx="329184" cy="329184"/>
          </a:xfrm>
          <a:prstGeom prst="rect">
            <a:avLst/>
          </a:prstGeom>
          <a:noFill/>
          <a:ln/>
        </p:spPr>
        <p:txBody>
          <a:bodyPr wrap="square" lIns="0" tIns="0" rIns="0" bIns="0" rtlCol="0" anchor="ctr"/>
          <a:lstStyle/>
          <a:p>
            <a:pPr algn="ctr" indent="0" marL="0">
              <a:buNone/>
            </a:pPr>
            <a:r>
              <a:rPr lang="en-US" sz="1300" b="1" dirty="0">
                <a:solidFill>
                  <a:srgbClr val="000000"/>
                </a:solidFill>
                <a:latin typeface="Arial" pitchFamily="34" charset="0"/>
                <a:ea typeface="Arial" pitchFamily="34" charset="-122"/>
                <a:cs typeface="Arial" pitchFamily="34" charset="-120"/>
              </a:rPr>
              <a:t>2</a:t>
            </a:r>
            <a:endParaRPr lang="en-US" sz="1300" dirty="0"/>
          </a:p>
        </p:txBody>
      </p:sp>
      <p:sp>
        <p:nvSpPr>
          <p:cNvPr id="16" name="Text 14"/>
          <p:cNvSpPr txBox="1"/>
          <p:nvPr/>
        </p:nvSpPr>
        <p:spPr>
          <a:xfrm>
            <a:off x="5248656" y="1993392"/>
            <a:ext cx="2578608" cy="292608"/>
          </a:xfrm>
          <a:prstGeom prst="rect">
            <a:avLst/>
          </a:prstGeom>
          <a:noFill/>
          <a:ln/>
        </p:spPr>
        <p:txBody>
          <a:bodyPr wrap="square" lIns="0" tIns="0" rIns="0" bIns="0" rtlCol="0" anchor="ctr"/>
          <a:lstStyle/>
          <a:p>
            <a:pPr indent="0" marL="0">
              <a:buNone/>
            </a:pPr>
            <a:r>
              <a:rPr lang="en-US" sz="1350" b="1" dirty="0">
                <a:solidFill>
                  <a:srgbClr val="F2EDE6"/>
                </a:solidFill>
                <a:latin typeface="Meiryo" pitchFamily="34" charset="0"/>
                <a:ea typeface="Meiryo" pitchFamily="34" charset="-122"/>
                <a:cs typeface="Meiryo" pitchFamily="34" charset="-120"/>
              </a:rPr>
              <a:t>管理手数料を払う</a:t>
            </a:r>
            <a:endParaRPr lang="en-US" sz="1350" dirty="0"/>
          </a:p>
        </p:txBody>
      </p:sp>
      <p:sp>
        <p:nvSpPr>
          <p:cNvPr id="17" name="Text 15"/>
          <p:cNvSpPr txBox="1"/>
          <p:nvPr/>
        </p:nvSpPr>
        <p:spPr>
          <a:xfrm>
            <a:off x="4809744" y="2487168"/>
            <a:ext cx="2980944" cy="530352"/>
          </a:xfrm>
          <a:prstGeom prst="rect">
            <a:avLst/>
          </a:prstGeom>
          <a:noFill/>
          <a:ln/>
        </p:spPr>
        <p:txBody>
          <a:bodyPr wrap="square" lIns="0" tIns="0" rIns="0" bIns="0" rtlCol="0" anchor="ctr"/>
          <a:lstStyle/>
          <a:p>
            <a:pPr indent="0" marL="0">
              <a:buNone/>
            </a:pPr>
            <a:r>
              <a:rPr lang="en-US" sz="2800" b="1" dirty="0">
                <a:solidFill>
                  <a:srgbClr val="E0A458"/>
                </a:solidFill>
                <a:latin typeface="Meiryo" pitchFamily="34" charset="0"/>
                <a:ea typeface="Meiryo" pitchFamily="34" charset="-122"/>
                <a:cs typeface="Meiryo" pitchFamily="34" charset="-120"/>
              </a:rPr>
              <a:t>▲27,500円</a:t>
            </a:r>
            <a:endParaRPr lang="en-US" sz="2800" dirty="0"/>
          </a:p>
        </p:txBody>
      </p:sp>
      <p:sp>
        <p:nvSpPr>
          <p:cNvPr id="18" name="Text 16"/>
          <p:cNvSpPr txBox="1"/>
          <p:nvPr/>
        </p:nvSpPr>
        <p:spPr>
          <a:xfrm>
            <a:off x="4809744" y="3108960"/>
            <a:ext cx="2980944" cy="731520"/>
          </a:xfrm>
          <a:prstGeom prst="rect">
            <a:avLst/>
          </a:prstGeom>
          <a:noFill/>
          <a:ln/>
        </p:spPr>
        <p:txBody>
          <a:bodyPr wrap="square" lIns="0" tIns="0" rIns="0" bIns="0" rtlCol="0" anchor="ctr"/>
          <a:lstStyle/>
          <a:p>
            <a:pPr indent="0" marL="0">
              <a:lnSpc>
                <a:spcPts val="1700"/>
              </a:lnSpc>
              <a:buNone/>
            </a:pPr>
            <a:r>
              <a:rPr lang="en-US" sz="1100" dirty="0">
                <a:solidFill>
                  <a:srgbClr val="A2908C"/>
                </a:solidFill>
                <a:latin typeface="Meiryo" pitchFamily="34" charset="0"/>
                <a:ea typeface="Meiryo" pitchFamily="34" charset="-122"/>
                <a:cs typeface="Meiryo" pitchFamily="34" charset="-120"/>
              </a:rPr>
              <a:t>年率2.75%。保管料・保険料を含む</a:t>
            </a:r>
            <a:endParaRPr lang="en-US" sz="1100" dirty="0"/>
          </a:p>
        </p:txBody>
      </p:sp>
      <p:sp>
        <p:nvSpPr>
          <p:cNvPr id="19" name="Text 17"/>
          <p:cNvSpPr txBox="1"/>
          <p:nvPr/>
        </p:nvSpPr>
        <p:spPr>
          <a:xfrm>
            <a:off x="8119872" y="2633472"/>
            <a:ext cx="329184" cy="365760"/>
          </a:xfrm>
          <a:prstGeom prst="rect">
            <a:avLst/>
          </a:prstGeom>
          <a:noFill/>
          <a:ln/>
        </p:spPr>
        <p:txBody>
          <a:bodyPr wrap="square" lIns="0" tIns="0" rIns="0" bIns="0" rtlCol="0" anchor="ctr"/>
          <a:lstStyle/>
          <a:p>
            <a:pPr algn="ctr" indent="0" marL="0">
              <a:buNone/>
            </a:pPr>
            <a:r>
              <a:rPr lang="en-US" sz="1700" dirty="0">
                <a:solidFill>
                  <a:srgbClr val="C9A227"/>
                </a:solidFill>
                <a:latin typeface="Meiryo" pitchFamily="34" charset="0"/>
                <a:ea typeface="Meiryo" pitchFamily="34" charset="-122"/>
                <a:cs typeface="Meiryo" pitchFamily="34" charset="-120"/>
              </a:rPr>
              <a:t>▶</a:t>
            </a:r>
            <a:endParaRPr lang="en-US" sz="1700" dirty="0"/>
          </a:p>
        </p:txBody>
      </p:sp>
      <p:sp>
        <p:nvSpPr>
          <p:cNvPr id="20" name="Shape 18"/>
          <p:cNvSpPr/>
          <p:nvPr/>
        </p:nvSpPr>
        <p:spPr>
          <a:xfrm>
            <a:off x="8467344" y="1737360"/>
            <a:ext cx="3566160" cy="2194560"/>
          </a:xfrm>
          <a:prstGeom prst="roundRect">
            <a:avLst>
              <a:gd name="adj" fmla="val 2500"/>
            </a:avLst>
          </a:prstGeom>
          <a:solidFill>
            <a:srgbClr val="17111A"/>
          </a:solidFill>
          <a:ln w="12700">
            <a:solidFill>
              <a:srgbClr val="17111A"/>
            </a:solidFill>
            <a:prstDash val="solid"/>
          </a:ln>
          <a:effectLst>
            <a:outerShdw sx="100000" sy="100000" kx="0" ky="0" algn="bl" rotWithShape="0" blurRad="127000" dist="25400" dir="5400000">
              <a:srgbClr val="000000">
                <a:alpha val="35000"/>
              </a:srgbClr>
            </a:outerShdw>
          </a:effectLst>
        </p:spPr>
      </p:sp>
      <p:sp>
        <p:nvSpPr>
          <p:cNvPr id="21" name="Shape 19"/>
          <p:cNvSpPr/>
          <p:nvPr/>
        </p:nvSpPr>
        <p:spPr>
          <a:xfrm>
            <a:off x="8759952" y="1975104"/>
            <a:ext cx="329184" cy="329184"/>
          </a:xfrm>
          <a:prstGeom prst="ellipse">
            <a:avLst/>
          </a:prstGeom>
          <a:solidFill>
            <a:srgbClr val="C9A227"/>
          </a:solidFill>
          <a:ln w="12700">
            <a:solidFill>
              <a:srgbClr val="C9A227"/>
            </a:solidFill>
            <a:prstDash val="solid"/>
          </a:ln>
        </p:spPr>
      </p:sp>
      <p:sp>
        <p:nvSpPr>
          <p:cNvPr id="22" name="Text 20"/>
          <p:cNvSpPr txBox="1"/>
          <p:nvPr/>
        </p:nvSpPr>
        <p:spPr>
          <a:xfrm>
            <a:off x="8759952" y="1975104"/>
            <a:ext cx="329184" cy="329184"/>
          </a:xfrm>
          <a:prstGeom prst="rect">
            <a:avLst/>
          </a:prstGeom>
          <a:noFill/>
          <a:ln/>
        </p:spPr>
        <p:txBody>
          <a:bodyPr wrap="square" lIns="0" tIns="0" rIns="0" bIns="0" rtlCol="0" anchor="ctr"/>
          <a:lstStyle/>
          <a:p>
            <a:pPr algn="ctr" indent="0" marL="0">
              <a:buNone/>
            </a:pPr>
            <a:r>
              <a:rPr lang="en-US" sz="1300" b="1" dirty="0">
                <a:solidFill>
                  <a:srgbClr val="000000"/>
                </a:solidFill>
                <a:latin typeface="Arial" pitchFamily="34" charset="0"/>
                <a:ea typeface="Arial" pitchFamily="34" charset="-122"/>
                <a:cs typeface="Arial" pitchFamily="34" charset="-120"/>
              </a:rPr>
              <a:t>3</a:t>
            </a:r>
            <a:endParaRPr lang="en-US" sz="1300" dirty="0"/>
          </a:p>
        </p:txBody>
      </p:sp>
      <p:sp>
        <p:nvSpPr>
          <p:cNvPr id="23" name="Text 21"/>
          <p:cNvSpPr txBox="1"/>
          <p:nvPr/>
        </p:nvSpPr>
        <p:spPr>
          <a:xfrm>
            <a:off x="9198864" y="1993392"/>
            <a:ext cx="2578608" cy="292608"/>
          </a:xfrm>
          <a:prstGeom prst="rect">
            <a:avLst/>
          </a:prstGeom>
          <a:noFill/>
          <a:ln/>
        </p:spPr>
        <p:txBody>
          <a:bodyPr wrap="square" lIns="0" tIns="0" rIns="0" bIns="0" rtlCol="0" anchor="ctr"/>
          <a:lstStyle/>
          <a:p>
            <a:pPr indent="0" marL="0">
              <a:buNone/>
            </a:pPr>
            <a:r>
              <a:rPr lang="en-US" sz="1350" b="1" dirty="0">
                <a:solidFill>
                  <a:srgbClr val="F2EDE6"/>
                </a:solidFill>
                <a:latin typeface="Meiryo" pitchFamily="34" charset="0"/>
                <a:ea typeface="Meiryo" pitchFamily="34" charset="-122"/>
                <a:cs typeface="Meiryo" pitchFamily="34" charset="-120"/>
              </a:rPr>
              <a:t>ワインマイルを得る</a:t>
            </a:r>
            <a:endParaRPr lang="en-US" sz="1350" dirty="0"/>
          </a:p>
        </p:txBody>
      </p:sp>
      <p:sp>
        <p:nvSpPr>
          <p:cNvPr id="24" name="Text 22"/>
          <p:cNvSpPr txBox="1"/>
          <p:nvPr/>
        </p:nvSpPr>
        <p:spPr>
          <a:xfrm>
            <a:off x="8759952" y="2487168"/>
            <a:ext cx="2980944" cy="530352"/>
          </a:xfrm>
          <a:prstGeom prst="rect">
            <a:avLst/>
          </a:prstGeom>
          <a:noFill/>
          <a:ln/>
        </p:spPr>
        <p:txBody>
          <a:bodyPr wrap="square" lIns="0" tIns="0" rIns="0" bIns="0" rtlCol="0" anchor="ctr"/>
          <a:lstStyle/>
          <a:p>
            <a:pPr indent="0" marL="0">
              <a:buNone/>
            </a:pPr>
            <a:r>
              <a:rPr lang="en-US" sz="2800" b="1" dirty="0">
                <a:solidFill>
                  <a:srgbClr val="C9A227"/>
                </a:solidFill>
                <a:latin typeface="Meiryo" pitchFamily="34" charset="0"/>
                <a:ea typeface="Meiryo" pitchFamily="34" charset="-122"/>
                <a:cs typeface="Meiryo" pitchFamily="34" charset="-120"/>
              </a:rPr>
              <a:t>40,000マイル</a:t>
            </a:r>
            <a:endParaRPr lang="en-US" sz="2800" dirty="0"/>
          </a:p>
        </p:txBody>
      </p:sp>
      <p:sp>
        <p:nvSpPr>
          <p:cNvPr id="25" name="Text 23"/>
          <p:cNvSpPr txBox="1"/>
          <p:nvPr/>
        </p:nvSpPr>
        <p:spPr>
          <a:xfrm>
            <a:off x="8759952" y="3108960"/>
            <a:ext cx="2980944" cy="731520"/>
          </a:xfrm>
          <a:prstGeom prst="rect">
            <a:avLst/>
          </a:prstGeom>
          <a:noFill/>
          <a:ln/>
        </p:spPr>
        <p:txBody>
          <a:bodyPr wrap="square" lIns="0" tIns="0" rIns="0" bIns="0" rtlCol="0" anchor="ctr"/>
          <a:lstStyle/>
          <a:p>
            <a:pPr indent="0" marL="0">
              <a:lnSpc>
                <a:spcPts val="1700"/>
              </a:lnSpc>
              <a:buNone/>
            </a:pPr>
            <a:r>
              <a:rPr lang="en-US" sz="1100" dirty="0">
                <a:solidFill>
                  <a:srgbClr val="A2908C"/>
                </a:solidFill>
                <a:latin typeface="Meiryo" pitchFamily="34" charset="0"/>
                <a:ea typeface="Meiryo" pitchFamily="34" charset="-122"/>
                <a:cs typeface="Meiryo" pitchFamily="34" charset="-120"/>
              </a:rPr>
              <a:t>年率4%（PRESTIGE）。会食・贈答・イベント・オークション・スクールに使える</a:t>
            </a:r>
            <a:endParaRPr lang="en-US" sz="1100" dirty="0"/>
          </a:p>
        </p:txBody>
      </p:sp>
      <p:sp>
        <p:nvSpPr>
          <p:cNvPr id="26" name="Shape 24"/>
          <p:cNvSpPr/>
          <p:nvPr/>
        </p:nvSpPr>
        <p:spPr>
          <a:xfrm>
            <a:off x="566928" y="4206240"/>
            <a:ext cx="11027664" cy="914400"/>
          </a:xfrm>
          <a:prstGeom prst="roundRect">
            <a:avLst>
              <a:gd name="adj" fmla="val 6000"/>
            </a:avLst>
          </a:prstGeom>
          <a:solidFill>
            <a:srgbClr val="261A24"/>
          </a:solidFill>
          <a:ln w="12700">
            <a:solidFill>
              <a:srgbClr val="261A24"/>
            </a:solidFill>
            <a:prstDash val="solid"/>
          </a:ln>
          <a:effectLst>
            <a:outerShdw sx="100000" sy="100000" kx="0" ky="0" algn="bl" rotWithShape="0" blurRad="127000" dist="25400" dir="5400000">
              <a:srgbClr val="000000">
                <a:alpha val="35000"/>
              </a:srgbClr>
            </a:outerShdw>
          </a:effectLst>
        </p:spPr>
      </p:sp>
      <p:sp>
        <p:nvSpPr>
          <p:cNvPr id="27" name="Text 25"/>
          <p:cNvSpPr txBox="1"/>
          <p:nvPr/>
        </p:nvSpPr>
        <p:spPr>
          <a:xfrm>
            <a:off x="978408" y="4407408"/>
            <a:ext cx="10204704" cy="384048"/>
          </a:xfrm>
          <a:prstGeom prst="rect">
            <a:avLst/>
          </a:prstGeom>
          <a:noFill/>
          <a:ln/>
        </p:spPr>
        <p:txBody>
          <a:bodyPr wrap="square" lIns="0" tIns="0" rIns="0" bIns="0" rtlCol="0" anchor="ctr"/>
          <a:lstStyle/>
          <a:p>
            <a:pPr indent="0" marL="0">
              <a:buNone/>
            </a:pPr>
            <a:r>
              <a:rPr lang="en-US" sz="1900" b="1" dirty="0">
                <a:solidFill>
                  <a:srgbClr val="E8CE78"/>
                </a:solidFill>
                <a:latin typeface="Meiryo" pitchFamily="34" charset="0"/>
                <a:ea typeface="Meiryo" pitchFamily="34" charset="-122"/>
                <a:cs typeface="Meiryo" pitchFamily="34" charset="-120"/>
              </a:rPr>
              <a:t>会員は2.5万円払って、3.5万円分を受け取る。差額の1万円を「貯金」していると考える。</a:t>
            </a:r>
            <a:endParaRPr lang="en-US" sz="1900" dirty="0"/>
          </a:p>
        </p:txBody>
      </p:sp>
      <p:sp>
        <p:nvSpPr>
          <p:cNvPr id="28" name="Text 26"/>
          <p:cNvSpPr txBox="1"/>
          <p:nvPr/>
        </p:nvSpPr>
        <p:spPr>
          <a:xfrm>
            <a:off x="978408" y="4809744"/>
            <a:ext cx="10204704" cy="274320"/>
          </a:xfrm>
          <a:prstGeom prst="rect">
            <a:avLst/>
          </a:prstGeom>
          <a:noFill/>
          <a:ln/>
        </p:spPr>
        <p:txBody>
          <a:bodyPr wrap="square" lIns="0" tIns="0" rIns="0" bIns="0" rtlCol="0" anchor="ctr"/>
          <a:lstStyle/>
          <a:p>
            <a:pPr indent="0" marL="0">
              <a:buNone/>
            </a:pPr>
            <a:r>
              <a:rPr lang="en-US" sz="1250" dirty="0">
                <a:solidFill>
                  <a:srgbClr val="F2EDE6"/>
                </a:solidFill>
                <a:latin typeface="Meiryo" pitchFamily="34" charset="0"/>
                <a:ea typeface="Meiryo" pitchFamily="34" charset="-122"/>
                <a:cs typeface="Meiryo" pitchFamily="34" charset="-120"/>
              </a:rPr>
              <a:t>上位ランクは5%・6%。さらに値上がり分の70%も会員のものとして残ります。</a:t>
            </a:r>
            <a:endParaRPr lang="en-US" sz="1250" dirty="0"/>
          </a:p>
        </p:txBody>
      </p:sp>
      <p:sp>
        <p:nvSpPr>
          <p:cNvPr id="29" name="Shape 27"/>
          <p:cNvSpPr/>
          <p:nvPr/>
        </p:nvSpPr>
        <p:spPr>
          <a:xfrm>
            <a:off x="566928" y="5266944"/>
            <a:ext cx="11027664" cy="786384"/>
          </a:xfrm>
          <a:prstGeom prst="roundRect">
            <a:avLst>
              <a:gd name="adj" fmla="val 6977"/>
            </a:avLst>
          </a:prstGeom>
          <a:solidFill>
            <a:srgbClr val="7B1E3A"/>
          </a:solidFill>
          <a:ln w="12700">
            <a:solidFill>
              <a:srgbClr val="7B1E3A"/>
            </a:solidFill>
            <a:prstDash val="solid"/>
          </a:ln>
          <a:effectLst>
            <a:outerShdw sx="100000" sy="100000" kx="0" ky="0" algn="bl" rotWithShape="0" blurRad="127000" dist="25400" dir="5400000">
              <a:srgbClr val="000000">
                <a:alpha val="35000"/>
              </a:srgbClr>
            </a:outerShdw>
          </a:effectLst>
        </p:spPr>
      </p:sp>
      <p:sp>
        <p:nvSpPr>
          <p:cNvPr id="30" name="Text 28"/>
          <p:cNvSpPr txBox="1"/>
          <p:nvPr/>
        </p:nvSpPr>
        <p:spPr>
          <a:xfrm>
            <a:off x="978408" y="5468112"/>
            <a:ext cx="10204704" cy="365760"/>
          </a:xfrm>
          <a:prstGeom prst="rect">
            <a:avLst/>
          </a:prstGeom>
          <a:noFill/>
          <a:ln/>
        </p:spPr>
        <p:txBody>
          <a:bodyPr wrap="square" lIns="0" tIns="0" rIns="0" bIns="0" rtlCol="0" anchor="ctr"/>
          <a:lstStyle/>
          <a:p>
            <a:pPr indent="0" marL="0">
              <a:buNone/>
            </a:pPr>
            <a:r>
              <a:rPr lang="en-US" sz="1500" b="1" dirty="0">
                <a:solidFill>
                  <a:srgbClr val="E8CE78"/>
                </a:solidFill>
                <a:latin typeface="Meiryo" pitchFamily="34" charset="0"/>
                <a:ea typeface="Meiryo" pitchFamily="34" charset="-122"/>
                <a:cs typeface="Meiryo" pitchFamily="34" charset="-120"/>
              </a:rPr>
              <a:t>加えて、落札・出品・会食・贈答・イベント参加のたびに限定マイルが貯まります。</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00000"/>
        </a:solidFill>
      </p:bgPr>
    </p:bg>
    <p:spTree>
      <p:nvGrpSpPr>
        <p:cNvPr id="1" name=""/>
        <p:cNvGrpSpPr/>
        <p:nvPr/>
      </p:nvGrpSpPr>
      <p:grpSpPr>
        <a:xfrm>
          <a:off x="0" y="0"/>
          <a:ext cx="0" cy="0"/>
          <a:chOff x="0" y="0"/>
          <a:chExt cx="0" cy="0"/>
        </a:xfrm>
      </p:grpSpPr>
      <p:sp>
        <p:nvSpPr>
          <p:cNvPr id="2" name="Text 0"/>
          <p:cNvSpPr txBox="1"/>
          <p:nvPr/>
        </p:nvSpPr>
        <p:spPr>
          <a:xfrm>
            <a:off x="566928" y="310896"/>
            <a:ext cx="11027664" cy="237744"/>
          </a:xfrm>
          <a:prstGeom prst="rect">
            <a:avLst/>
          </a:prstGeom>
          <a:noFill/>
          <a:ln/>
        </p:spPr>
        <p:txBody>
          <a:bodyPr wrap="square" lIns="0" tIns="0" rIns="0" bIns="0" rtlCol="0" anchor="ctr"/>
          <a:lstStyle/>
          <a:p>
            <a:pPr indent="0" marL="0">
              <a:buNone/>
            </a:pPr>
            <a:r>
              <a:rPr lang="en-US" sz="1050" b="1" spc="300" kern="0" dirty="0">
                <a:solidFill>
                  <a:srgbClr val="C9A227"/>
                </a:solidFill>
                <a:latin typeface="Arial" pitchFamily="34" charset="0"/>
                <a:ea typeface="Arial" pitchFamily="34" charset="-122"/>
                <a:cs typeface="Arial" pitchFamily="34" charset="-120"/>
              </a:rPr>
              <a:t>NARRATIVE</a:t>
            </a:r>
            <a:endParaRPr lang="en-US" sz="1050" dirty="0"/>
          </a:p>
        </p:txBody>
      </p:sp>
      <p:sp>
        <p:nvSpPr>
          <p:cNvPr id="3" name="Text 1"/>
          <p:cNvSpPr txBox="1"/>
          <p:nvPr/>
        </p:nvSpPr>
        <p:spPr>
          <a:xfrm>
            <a:off x="566928" y="566928"/>
            <a:ext cx="11027664" cy="548640"/>
          </a:xfrm>
          <a:prstGeom prst="rect">
            <a:avLst/>
          </a:prstGeom>
          <a:noFill/>
          <a:ln/>
        </p:spPr>
        <p:txBody>
          <a:bodyPr wrap="square" lIns="0" tIns="0" rIns="0" bIns="0" rtlCol="0" anchor="ctr"/>
          <a:lstStyle/>
          <a:p>
            <a:pPr indent="0" marL="0">
              <a:buNone/>
            </a:pPr>
            <a:r>
              <a:rPr lang="en-US" sz="2900" b="1" dirty="0">
                <a:solidFill>
                  <a:srgbClr val="F2EDE6"/>
                </a:solidFill>
                <a:latin typeface="Meiryo" pitchFamily="34" charset="0"/>
                <a:ea typeface="Meiryo" pitchFamily="34" charset="-122"/>
                <a:cs typeface="Meiryo" pitchFamily="34" charset="-120"/>
              </a:rPr>
              <a:t>「相殺してよ」と言われたら</a:t>
            </a:r>
            <a:endParaRPr lang="en-US" sz="2900" dirty="0"/>
          </a:p>
        </p:txBody>
      </p:sp>
      <p:sp>
        <p:nvSpPr>
          <p:cNvPr id="4" name="Text 2"/>
          <p:cNvSpPr txBox="1"/>
          <p:nvPr/>
        </p:nvSpPr>
        <p:spPr>
          <a:xfrm>
            <a:off x="566928" y="1152144"/>
            <a:ext cx="11027664" cy="310896"/>
          </a:xfrm>
          <a:prstGeom prst="rect">
            <a:avLst/>
          </a:prstGeom>
          <a:noFill/>
          <a:ln/>
        </p:spPr>
        <p:txBody>
          <a:bodyPr wrap="square" lIns="0" tIns="0" rIns="0" bIns="0" rtlCol="0" anchor="ctr"/>
          <a:lstStyle/>
          <a:p>
            <a:pPr indent="0" marL="0">
              <a:buNone/>
            </a:pPr>
            <a:r>
              <a:rPr lang="en-US" sz="1300" dirty="0">
                <a:solidFill>
                  <a:srgbClr val="A2908C"/>
                </a:solidFill>
                <a:latin typeface="Meiryo" pitchFamily="34" charset="0"/>
                <a:ea typeface="Meiryo" pitchFamily="34" charset="-122"/>
                <a:cs typeface="Meiryo" pitchFamily="34" charset="-120"/>
              </a:rPr>
              <a:t>差額をください——ごもっともです。ただ、相殺した世界には、次の1年で何も起きません。</a:t>
            </a:r>
            <a:endParaRPr lang="en-US" sz="1300" dirty="0"/>
          </a:p>
        </p:txBody>
      </p:sp>
      <p:sp>
        <p:nvSpPr>
          <p:cNvPr id="5" name="Text 3"/>
          <p:cNvSpPr txBox="1"/>
          <p:nvPr/>
        </p:nvSpPr>
        <p:spPr>
          <a:xfrm>
            <a:off x="566928" y="6437376"/>
            <a:ext cx="4572000" cy="219456"/>
          </a:xfrm>
          <a:prstGeom prst="rect">
            <a:avLst/>
          </a:prstGeom>
          <a:noFill/>
          <a:ln/>
        </p:spPr>
        <p:txBody>
          <a:bodyPr wrap="square" lIns="0" tIns="0" rIns="0" bIns="0" rtlCol="0" anchor="ctr"/>
          <a:lstStyle/>
          <a:p>
            <a:pPr indent="0" marL="0">
              <a:buNone/>
            </a:pPr>
            <a:r>
              <a:rPr lang="en-US" sz="850" dirty="0">
                <a:solidFill>
                  <a:srgbClr val="6B5A5F"/>
                </a:solidFill>
                <a:latin typeface="Arial" pitchFamily="34" charset="0"/>
                <a:ea typeface="Arial" pitchFamily="34" charset="-122"/>
                <a:cs typeface="Arial" pitchFamily="34" charset="-120"/>
              </a:rPr>
              <a:t>WineBank CONFIDENTIAL</a:t>
            </a:r>
            <a:endParaRPr lang="en-US" sz="850" dirty="0"/>
          </a:p>
        </p:txBody>
      </p:sp>
      <p:sp>
        <p:nvSpPr>
          <p:cNvPr id="6" name="Shape 4"/>
          <p:cNvSpPr/>
          <p:nvPr/>
        </p:nvSpPr>
        <p:spPr>
          <a:xfrm>
            <a:off x="566928" y="1572768"/>
            <a:ext cx="3200400" cy="2487168"/>
          </a:xfrm>
          <a:prstGeom prst="roundRect">
            <a:avLst>
              <a:gd name="adj" fmla="val 2206"/>
            </a:avLst>
          </a:prstGeom>
          <a:solidFill>
            <a:srgbClr val="17111A"/>
          </a:solidFill>
          <a:ln w="12700">
            <a:solidFill>
              <a:srgbClr val="17111A"/>
            </a:solidFill>
            <a:prstDash val="solid"/>
          </a:ln>
          <a:effectLst>
            <a:outerShdw sx="100000" sy="100000" kx="0" ky="0" algn="bl" rotWithShape="0" blurRad="127000" dist="25400" dir="5400000">
              <a:srgbClr val="000000">
                <a:alpha val="35000"/>
              </a:srgbClr>
            </a:outerShdw>
          </a:effectLst>
        </p:spPr>
      </p:sp>
      <p:sp>
        <p:nvSpPr>
          <p:cNvPr id="7" name="Text 5"/>
          <p:cNvSpPr txBox="1"/>
          <p:nvPr/>
        </p:nvSpPr>
        <p:spPr>
          <a:xfrm>
            <a:off x="859536" y="1737360"/>
            <a:ext cx="2615184" cy="274320"/>
          </a:xfrm>
          <a:prstGeom prst="rect">
            <a:avLst/>
          </a:prstGeom>
          <a:noFill/>
          <a:ln/>
        </p:spPr>
        <p:txBody>
          <a:bodyPr wrap="square" lIns="0" tIns="0" rIns="0" bIns="0" rtlCol="0" anchor="ctr"/>
          <a:lstStyle/>
          <a:p>
            <a:pPr indent="0" marL="0">
              <a:buNone/>
            </a:pPr>
            <a:r>
              <a:rPr lang="en-US" sz="1300" b="1" dirty="0">
                <a:solidFill>
                  <a:srgbClr val="A2908C"/>
                </a:solidFill>
                <a:latin typeface="Meiryo" pitchFamily="34" charset="0"/>
                <a:ea typeface="Meiryo" pitchFamily="34" charset="-122"/>
                <a:cs typeface="Meiryo" pitchFamily="34" charset="-120"/>
              </a:rPr>
              <a:t>相殺した世界</a:t>
            </a:r>
            <a:endParaRPr lang="en-US" sz="1300" dirty="0"/>
          </a:p>
        </p:txBody>
      </p:sp>
      <p:sp>
        <p:nvSpPr>
          <p:cNvPr id="8" name="Text 6"/>
          <p:cNvSpPr txBox="1"/>
          <p:nvPr/>
        </p:nvSpPr>
        <p:spPr>
          <a:xfrm>
            <a:off x="859536" y="2048256"/>
            <a:ext cx="2615184" cy="329184"/>
          </a:xfrm>
          <a:prstGeom prst="rect">
            <a:avLst/>
          </a:prstGeom>
          <a:noFill/>
          <a:ln/>
        </p:spPr>
        <p:txBody>
          <a:bodyPr wrap="square" lIns="0" tIns="0" rIns="0" bIns="0" rtlCol="0" anchor="ctr"/>
          <a:lstStyle/>
          <a:p>
            <a:pPr indent="0" marL="0">
              <a:buNone/>
            </a:pPr>
            <a:r>
              <a:rPr lang="en-US" sz="1500" b="1" dirty="0">
                <a:solidFill>
                  <a:srgbClr val="F2EDE6"/>
                </a:solidFill>
                <a:latin typeface="Meiryo" pitchFamily="34" charset="0"/>
                <a:ea typeface="Meiryo" pitchFamily="34" charset="-122"/>
                <a:cs typeface="Meiryo" pitchFamily="34" charset="-120"/>
              </a:rPr>
              <a:t>3月。口座に25,000円。</a:t>
            </a:r>
            <a:endParaRPr lang="en-US" sz="1500" dirty="0"/>
          </a:p>
        </p:txBody>
      </p:sp>
      <p:sp>
        <p:nvSpPr>
          <p:cNvPr id="9" name="Text 7"/>
          <p:cNvSpPr txBox="1"/>
          <p:nvPr/>
        </p:nvSpPr>
        <p:spPr>
          <a:xfrm>
            <a:off x="859536" y="2487168"/>
            <a:ext cx="2615184" cy="1188720"/>
          </a:xfrm>
          <a:prstGeom prst="rect">
            <a:avLst/>
          </a:prstGeom>
          <a:noFill/>
          <a:ln/>
        </p:spPr>
        <p:txBody>
          <a:bodyPr wrap="square" lIns="0" tIns="0" rIns="0" bIns="0" rtlCol="0" anchor="ctr"/>
          <a:lstStyle/>
          <a:p>
            <a:pPr indent="0" marL="0">
              <a:lnSpc>
                <a:spcPts val="2000"/>
              </a:lnSpc>
              <a:buNone/>
            </a:pPr>
            <a:r>
              <a:rPr lang="en-US" sz="1150" dirty="0">
                <a:solidFill>
                  <a:srgbClr val="A2908C"/>
                </a:solidFill>
                <a:latin typeface="Meiryo" pitchFamily="34" charset="0"/>
                <a:ea typeface="Meiryo" pitchFamily="34" charset="-122"/>
                <a:cs typeface="Meiryo" pitchFamily="34" charset="-120"/>
              </a:rPr>
              <a:t>明細に一行増える。それだけ。</a:t>
            </a:r>
            <a:endParaRPr lang="en-US" sz="1150" dirty="0"/>
          </a:p>
          <a:p>
            <a:pPr indent="0" marL="0">
              <a:lnSpc>
                <a:spcPts val="2000"/>
              </a:lnSpc>
              <a:buNone/>
            </a:pPr>
            <a:r>
              <a:rPr lang="en-US" sz="1150" dirty="0">
                <a:solidFill>
                  <a:srgbClr val="A2908C"/>
                </a:solidFill>
                <a:latin typeface="Meiryo" pitchFamily="34" charset="0"/>
                <a:ea typeface="Meiryo" pitchFamily="34" charset="-122"/>
                <a:cs typeface="Meiryo" pitchFamily="34" charset="-120"/>
              </a:rPr>
              <a:t>誰にも会わず、何も残らない。</a:t>
            </a:r>
            <a:endParaRPr lang="en-US" sz="1150" dirty="0"/>
          </a:p>
          <a:p>
            <a:pPr indent="0" marL="0">
              <a:lnSpc>
                <a:spcPts val="2000"/>
              </a:lnSpc>
              <a:buNone/>
            </a:pPr>
            <a:r>
              <a:rPr lang="en-US" sz="1150" dirty="0">
                <a:solidFill>
                  <a:srgbClr val="A2908C"/>
                </a:solidFill>
                <a:latin typeface="Meiryo" pitchFamily="34" charset="0"/>
                <a:ea typeface="Meiryo" pitchFamily="34" charset="-122"/>
                <a:cs typeface="Meiryo" pitchFamily="34" charset="-120"/>
              </a:rPr>
              <a:t>来年また、同じ一行が増える。</a:t>
            </a:r>
            <a:endParaRPr lang="en-US" sz="1150" dirty="0"/>
          </a:p>
        </p:txBody>
      </p:sp>
      <p:sp>
        <p:nvSpPr>
          <p:cNvPr id="10" name="Shape 8"/>
          <p:cNvSpPr/>
          <p:nvPr/>
        </p:nvSpPr>
        <p:spPr>
          <a:xfrm>
            <a:off x="3913632" y="1572768"/>
            <a:ext cx="7680960" cy="2487168"/>
          </a:xfrm>
          <a:prstGeom prst="roundRect">
            <a:avLst>
              <a:gd name="adj" fmla="val 2206"/>
            </a:avLst>
          </a:prstGeom>
          <a:solidFill>
            <a:srgbClr val="261A24"/>
          </a:solidFill>
          <a:ln w="12700">
            <a:solidFill>
              <a:srgbClr val="261A24"/>
            </a:solidFill>
            <a:prstDash val="solid"/>
          </a:ln>
          <a:effectLst>
            <a:outerShdw sx="100000" sy="100000" kx="0" ky="0" algn="bl" rotWithShape="0" blurRad="127000" dist="25400" dir="5400000">
              <a:srgbClr val="000000">
                <a:alpha val="35000"/>
              </a:srgbClr>
            </a:outerShdw>
          </a:effectLst>
        </p:spPr>
      </p:sp>
      <p:sp>
        <p:nvSpPr>
          <p:cNvPr id="11" name="Text 9"/>
          <p:cNvSpPr txBox="1"/>
          <p:nvPr/>
        </p:nvSpPr>
        <p:spPr>
          <a:xfrm>
            <a:off x="4206240" y="1737360"/>
            <a:ext cx="7095744" cy="274320"/>
          </a:xfrm>
          <a:prstGeom prst="rect">
            <a:avLst/>
          </a:prstGeom>
          <a:noFill/>
          <a:ln/>
        </p:spPr>
        <p:txBody>
          <a:bodyPr wrap="square" lIns="0" tIns="0" rIns="0" bIns="0" rtlCol="0" anchor="ctr"/>
          <a:lstStyle/>
          <a:p>
            <a:pPr indent="0" marL="0">
              <a:buNone/>
            </a:pPr>
            <a:r>
              <a:rPr lang="en-US" sz="1300" b="1" dirty="0">
                <a:solidFill>
                  <a:srgbClr val="C9A227"/>
                </a:solidFill>
                <a:latin typeface="Meiryo" pitchFamily="34" charset="0"/>
                <a:ea typeface="Meiryo" pitchFamily="34" charset="-122"/>
                <a:cs typeface="Meiryo" pitchFamily="34" charset="-120"/>
              </a:rPr>
              <a:t>相殺しない世界</a:t>
            </a:r>
            <a:endParaRPr lang="en-US" sz="1300" dirty="0"/>
          </a:p>
        </p:txBody>
      </p:sp>
      <p:sp>
        <p:nvSpPr>
          <p:cNvPr id="12" name="Text 10"/>
          <p:cNvSpPr txBox="1"/>
          <p:nvPr/>
        </p:nvSpPr>
        <p:spPr>
          <a:xfrm>
            <a:off x="4206240" y="2066544"/>
            <a:ext cx="566928" cy="256032"/>
          </a:xfrm>
          <a:prstGeom prst="rect">
            <a:avLst/>
          </a:prstGeom>
          <a:noFill/>
          <a:ln/>
        </p:spPr>
        <p:txBody>
          <a:bodyPr wrap="square" lIns="0" tIns="0" rIns="0" bIns="0" rtlCol="0" anchor="ctr"/>
          <a:lstStyle/>
          <a:p>
            <a:pPr indent="0" marL="0">
              <a:buNone/>
            </a:pPr>
            <a:r>
              <a:rPr lang="en-US" sz="1100" b="1" dirty="0">
                <a:solidFill>
                  <a:srgbClr val="C9A227"/>
                </a:solidFill>
                <a:latin typeface="Meiryo" pitchFamily="34" charset="0"/>
                <a:ea typeface="Meiryo" pitchFamily="34" charset="-122"/>
                <a:cs typeface="Meiryo" pitchFamily="34" charset="-120"/>
              </a:rPr>
              <a:t>5月</a:t>
            </a:r>
            <a:endParaRPr lang="en-US" sz="1100" dirty="0"/>
          </a:p>
        </p:txBody>
      </p:sp>
      <p:sp>
        <p:nvSpPr>
          <p:cNvPr id="13" name="Text 11"/>
          <p:cNvSpPr txBox="1"/>
          <p:nvPr/>
        </p:nvSpPr>
        <p:spPr>
          <a:xfrm>
            <a:off x="4828032" y="2066544"/>
            <a:ext cx="2834640" cy="256032"/>
          </a:xfrm>
          <a:prstGeom prst="rect">
            <a:avLst/>
          </a:prstGeom>
          <a:noFill/>
          <a:ln/>
        </p:spPr>
        <p:txBody>
          <a:bodyPr wrap="square" lIns="0" tIns="0" rIns="0" bIns="0" rtlCol="0" anchor="ctr"/>
          <a:lstStyle/>
          <a:p>
            <a:pPr indent="0" marL="0">
              <a:buNone/>
            </a:pPr>
            <a:r>
              <a:rPr lang="en-US" sz="1150" dirty="0">
                <a:solidFill>
                  <a:srgbClr val="F2EDE6"/>
                </a:solidFill>
                <a:latin typeface="Meiryo" pitchFamily="34" charset="0"/>
                <a:ea typeface="Meiryo" pitchFamily="34" charset="-122"/>
                <a:cs typeface="Meiryo" pitchFamily="34" charset="-120"/>
              </a:rPr>
              <a:t>取引先と、グランメゾンで。</a:t>
            </a:r>
            <a:endParaRPr lang="en-US" sz="1150" dirty="0"/>
          </a:p>
        </p:txBody>
      </p:sp>
      <p:sp>
        <p:nvSpPr>
          <p:cNvPr id="14" name="Text 12"/>
          <p:cNvSpPr txBox="1"/>
          <p:nvPr/>
        </p:nvSpPr>
        <p:spPr>
          <a:xfrm>
            <a:off x="7772400" y="2066544"/>
            <a:ext cx="566928" cy="256032"/>
          </a:xfrm>
          <a:prstGeom prst="rect">
            <a:avLst/>
          </a:prstGeom>
          <a:noFill/>
          <a:ln/>
        </p:spPr>
        <p:txBody>
          <a:bodyPr wrap="square" lIns="0" tIns="0" rIns="0" bIns="0" rtlCol="0" anchor="ctr"/>
          <a:lstStyle/>
          <a:p>
            <a:pPr indent="0" marL="0">
              <a:buNone/>
            </a:pPr>
            <a:r>
              <a:rPr lang="en-US" sz="1100" b="1" dirty="0">
                <a:solidFill>
                  <a:srgbClr val="C9A227"/>
                </a:solidFill>
                <a:latin typeface="Meiryo" pitchFamily="34" charset="0"/>
                <a:ea typeface="Meiryo" pitchFamily="34" charset="-122"/>
                <a:cs typeface="Meiryo" pitchFamily="34" charset="-120"/>
              </a:rPr>
              <a:t>8月</a:t>
            </a:r>
            <a:endParaRPr lang="en-US" sz="1100" dirty="0"/>
          </a:p>
        </p:txBody>
      </p:sp>
      <p:sp>
        <p:nvSpPr>
          <p:cNvPr id="15" name="Text 13"/>
          <p:cNvSpPr txBox="1"/>
          <p:nvPr/>
        </p:nvSpPr>
        <p:spPr>
          <a:xfrm>
            <a:off x="8394192" y="2066544"/>
            <a:ext cx="2834640" cy="256032"/>
          </a:xfrm>
          <a:prstGeom prst="rect">
            <a:avLst/>
          </a:prstGeom>
          <a:noFill/>
          <a:ln/>
        </p:spPr>
        <p:txBody>
          <a:bodyPr wrap="square" lIns="0" tIns="0" rIns="0" bIns="0" rtlCol="0" anchor="ctr"/>
          <a:lstStyle/>
          <a:p>
            <a:pPr indent="0" marL="0">
              <a:buNone/>
            </a:pPr>
            <a:r>
              <a:rPr lang="en-US" sz="1150" dirty="0">
                <a:solidFill>
                  <a:srgbClr val="F2EDE6"/>
                </a:solidFill>
                <a:latin typeface="Meiryo" pitchFamily="34" charset="0"/>
                <a:ea typeface="Meiryo" pitchFamily="34" charset="-122"/>
                <a:cs typeface="Meiryo" pitchFamily="34" charset="-120"/>
              </a:rPr>
              <a:t>義父の誕生日に、生まれ年を一本。</a:t>
            </a:r>
            <a:endParaRPr lang="en-US" sz="1150" dirty="0"/>
          </a:p>
        </p:txBody>
      </p:sp>
      <p:sp>
        <p:nvSpPr>
          <p:cNvPr id="16" name="Text 14"/>
          <p:cNvSpPr txBox="1"/>
          <p:nvPr/>
        </p:nvSpPr>
        <p:spPr>
          <a:xfrm>
            <a:off x="4206240" y="2615184"/>
            <a:ext cx="566928" cy="256032"/>
          </a:xfrm>
          <a:prstGeom prst="rect">
            <a:avLst/>
          </a:prstGeom>
          <a:noFill/>
          <a:ln/>
        </p:spPr>
        <p:txBody>
          <a:bodyPr wrap="square" lIns="0" tIns="0" rIns="0" bIns="0" rtlCol="0" anchor="ctr"/>
          <a:lstStyle/>
          <a:p>
            <a:pPr indent="0" marL="0">
              <a:buNone/>
            </a:pPr>
            <a:r>
              <a:rPr lang="en-US" sz="1100" b="1" dirty="0">
                <a:solidFill>
                  <a:srgbClr val="C9A227"/>
                </a:solidFill>
                <a:latin typeface="Meiryo" pitchFamily="34" charset="0"/>
                <a:ea typeface="Meiryo" pitchFamily="34" charset="-122"/>
                <a:cs typeface="Meiryo" pitchFamily="34" charset="-120"/>
              </a:rPr>
              <a:t>11月</a:t>
            </a:r>
            <a:endParaRPr lang="en-US" sz="1100" dirty="0"/>
          </a:p>
        </p:txBody>
      </p:sp>
      <p:sp>
        <p:nvSpPr>
          <p:cNvPr id="17" name="Text 15"/>
          <p:cNvSpPr txBox="1"/>
          <p:nvPr/>
        </p:nvSpPr>
        <p:spPr>
          <a:xfrm>
            <a:off x="4828032" y="2615184"/>
            <a:ext cx="2834640" cy="256032"/>
          </a:xfrm>
          <a:prstGeom prst="rect">
            <a:avLst/>
          </a:prstGeom>
          <a:noFill/>
          <a:ln/>
        </p:spPr>
        <p:txBody>
          <a:bodyPr wrap="square" lIns="0" tIns="0" rIns="0" bIns="0" rtlCol="0" anchor="ctr"/>
          <a:lstStyle/>
          <a:p>
            <a:pPr indent="0" marL="0">
              <a:buNone/>
            </a:pPr>
            <a:r>
              <a:rPr lang="en-US" sz="1150" dirty="0">
                <a:solidFill>
                  <a:srgbClr val="F2EDE6"/>
                </a:solidFill>
                <a:latin typeface="Meiryo" pitchFamily="34" charset="0"/>
                <a:ea typeface="Meiryo" pitchFamily="34" charset="-122"/>
                <a:cs typeface="Meiryo" pitchFamily="34" charset="-120"/>
              </a:rPr>
              <a:t>ブルゴーニュワイン樽を共同落札。</a:t>
            </a:r>
            <a:endParaRPr lang="en-US" sz="1150" dirty="0"/>
          </a:p>
        </p:txBody>
      </p:sp>
      <p:sp>
        <p:nvSpPr>
          <p:cNvPr id="18" name="Text 16"/>
          <p:cNvSpPr txBox="1"/>
          <p:nvPr/>
        </p:nvSpPr>
        <p:spPr>
          <a:xfrm>
            <a:off x="7772400" y="2615184"/>
            <a:ext cx="566928" cy="256032"/>
          </a:xfrm>
          <a:prstGeom prst="rect">
            <a:avLst/>
          </a:prstGeom>
          <a:noFill/>
          <a:ln/>
        </p:spPr>
        <p:txBody>
          <a:bodyPr wrap="square" lIns="0" tIns="0" rIns="0" bIns="0" rtlCol="0" anchor="ctr"/>
          <a:lstStyle/>
          <a:p>
            <a:pPr indent="0" marL="0">
              <a:buNone/>
            </a:pPr>
            <a:r>
              <a:rPr lang="en-US" sz="1100" b="1" dirty="0">
                <a:solidFill>
                  <a:srgbClr val="C9A227"/>
                </a:solidFill>
                <a:latin typeface="Meiryo" pitchFamily="34" charset="0"/>
                <a:ea typeface="Meiryo" pitchFamily="34" charset="-122"/>
                <a:cs typeface="Meiryo" pitchFamily="34" charset="-120"/>
              </a:rPr>
              <a:t>1月</a:t>
            </a:r>
            <a:endParaRPr lang="en-US" sz="1100" dirty="0"/>
          </a:p>
        </p:txBody>
      </p:sp>
      <p:sp>
        <p:nvSpPr>
          <p:cNvPr id="19" name="Text 17"/>
          <p:cNvSpPr txBox="1"/>
          <p:nvPr/>
        </p:nvSpPr>
        <p:spPr>
          <a:xfrm>
            <a:off x="8394192" y="2615184"/>
            <a:ext cx="2834640" cy="256032"/>
          </a:xfrm>
          <a:prstGeom prst="rect">
            <a:avLst/>
          </a:prstGeom>
          <a:noFill/>
          <a:ln/>
        </p:spPr>
        <p:txBody>
          <a:bodyPr wrap="square" lIns="0" tIns="0" rIns="0" bIns="0" rtlCol="0" anchor="ctr"/>
          <a:lstStyle/>
          <a:p>
            <a:pPr indent="0" marL="0">
              <a:buNone/>
            </a:pPr>
            <a:r>
              <a:rPr lang="en-US" sz="1150" dirty="0">
                <a:solidFill>
                  <a:srgbClr val="F2EDE6"/>
                </a:solidFill>
                <a:latin typeface="Meiryo" pitchFamily="34" charset="0"/>
                <a:ea typeface="Meiryo" pitchFamily="34" charset="-122"/>
                <a:cs typeface="Meiryo" pitchFamily="34" charset="-120"/>
              </a:rPr>
              <a:t>会員限定の生産者イベントへ。</a:t>
            </a:r>
            <a:endParaRPr lang="en-US" sz="1150" dirty="0"/>
          </a:p>
        </p:txBody>
      </p:sp>
      <p:sp>
        <p:nvSpPr>
          <p:cNvPr id="20" name="Text 18"/>
          <p:cNvSpPr txBox="1"/>
          <p:nvPr/>
        </p:nvSpPr>
        <p:spPr>
          <a:xfrm>
            <a:off x="4206240" y="3163824"/>
            <a:ext cx="566928" cy="256032"/>
          </a:xfrm>
          <a:prstGeom prst="rect">
            <a:avLst/>
          </a:prstGeom>
          <a:noFill/>
          <a:ln/>
        </p:spPr>
        <p:txBody>
          <a:bodyPr wrap="square" lIns="0" tIns="0" rIns="0" bIns="0" rtlCol="0" anchor="ctr"/>
          <a:lstStyle/>
          <a:p>
            <a:pPr indent="0" marL="0">
              <a:buNone/>
            </a:pPr>
            <a:r>
              <a:rPr lang="en-US" sz="1100" b="1" dirty="0">
                <a:solidFill>
                  <a:srgbClr val="C9A227"/>
                </a:solidFill>
                <a:latin typeface="Meiryo" pitchFamily="34" charset="0"/>
                <a:ea typeface="Meiryo" pitchFamily="34" charset="-122"/>
                <a:cs typeface="Meiryo" pitchFamily="34" charset="-120"/>
              </a:rPr>
              <a:t>3月</a:t>
            </a:r>
            <a:endParaRPr lang="en-US" sz="1100" dirty="0"/>
          </a:p>
        </p:txBody>
      </p:sp>
      <p:sp>
        <p:nvSpPr>
          <p:cNvPr id="21" name="Text 19"/>
          <p:cNvSpPr txBox="1"/>
          <p:nvPr/>
        </p:nvSpPr>
        <p:spPr>
          <a:xfrm>
            <a:off x="4828032" y="3163824"/>
            <a:ext cx="2834640" cy="256032"/>
          </a:xfrm>
          <a:prstGeom prst="rect">
            <a:avLst/>
          </a:prstGeom>
          <a:noFill/>
          <a:ln/>
        </p:spPr>
        <p:txBody>
          <a:bodyPr wrap="square" lIns="0" tIns="0" rIns="0" bIns="0" rtlCol="0" anchor="ctr"/>
          <a:lstStyle/>
          <a:p>
            <a:pPr indent="0" marL="0">
              <a:buNone/>
            </a:pPr>
            <a:r>
              <a:rPr lang="en-US" sz="1150" dirty="0">
                <a:solidFill>
                  <a:srgbClr val="F2EDE6"/>
                </a:solidFill>
                <a:latin typeface="Meiryo" pitchFamily="34" charset="0"/>
                <a:ea typeface="Meiryo" pitchFamily="34" charset="-122"/>
                <a:cs typeface="Meiryo" pitchFamily="34" charset="-120"/>
              </a:rPr>
              <a:t>オークションで落札。マイルがまた入る。</a:t>
            </a:r>
            <a:endParaRPr lang="en-US" sz="1150" dirty="0"/>
          </a:p>
        </p:txBody>
      </p:sp>
      <p:sp>
        <p:nvSpPr>
          <p:cNvPr id="22" name="Text 20"/>
          <p:cNvSpPr txBox="1"/>
          <p:nvPr/>
        </p:nvSpPr>
        <p:spPr>
          <a:xfrm>
            <a:off x="7772400" y="3163824"/>
            <a:ext cx="566928" cy="256032"/>
          </a:xfrm>
          <a:prstGeom prst="rect">
            <a:avLst/>
          </a:prstGeom>
          <a:noFill/>
          <a:ln/>
        </p:spPr>
        <p:txBody>
          <a:bodyPr wrap="square" lIns="0" tIns="0" rIns="0" bIns="0" rtlCol="0" anchor="ctr"/>
          <a:lstStyle/>
          <a:p>
            <a:pPr indent="0" marL="0">
              <a:buNone/>
            </a:pPr>
            <a:r>
              <a:rPr lang="en-US" sz="1100" b="1" dirty="0">
                <a:solidFill>
                  <a:srgbClr val="C9A227"/>
                </a:solidFill>
                <a:latin typeface="Meiryo" pitchFamily="34" charset="0"/>
                <a:ea typeface="Meiryo" pitchFamily="34" charset="-122"/>
                <a:cs typeface="Meiryo" pitchFamily="34" charset="-120"/>
              </a:rPr>
              <a:t>通年</a:t>
            </a:r>
            <a:endParaRPr lang="en-US" sz="1100" dirty="0"/>
          </a:p>
        </p:txBody>
      </p:sp>
      <p:sp>
        <p:nvSpPr>
          <p:cNvPr id="23" name="Text 21"/>
          <p:cNvSpPr txBox="1"/>
          <p:nvPr/>
        </p:nvSpPr>
        <p:spPr>
          <a:xfrm>
            <a:off x="8394192" y="3163824"/>
            <a:ext cx="2834640" cy="256032"/>
          </a:xfrm>
          <a:prstGeom prst="rect">
            <a:avLst/>
          </a:prstGeom>
          <a:noFill/>
          <a:ln/>
        </p:spPr>
        <p:txBody>
          <a:bodyPr wrap="square" lIns="0" tIns="0" rIns="0" bIns="0" rtlCol="0" anchor="ctr"/>
          <a:lstStyle/>
          <a:p>
            <a:pPr indent="0" marL="0">
              <a:buNone/>
            </a:pPr>
            <a:r>
              <a:rPr lang="en-US" sz="1150" dirty="0">
                <a:solidFill>
                  <a:srgbClr val="F2EDE6"/>
                </a:solidFill>
                <a:latin typeface="Meiryo" pitchFamily="34" charset="0"/>
                <a:ea typeface="Meiryo" pitchFamily="34" charset="-122"/>
                <a:cs typeface="Meiryo" pitchFamily="34" charset="-120"/>
              </a:rPr>
              <a:t>ワイナートが毎号届く。</a:t>
            </a:r>
            <a:endParaRPr lang="en-US" sz="1150" dirty="0"/>
          </a:p>
        </p:txBody>
      </p:sp>
      <p:sp>
        <p:nvSpPr>
          <p:cNvPr id="24" name="Text 22"/>
          <p:cNvSpPr txBox="1"/>
          <p:nvPr/>
        </p:nvSpPr>
        <p:spPr>
          <a:xfrm>
            <a:off x="4206240" y="3456432"/>
            <a:ext cx="7095744" cy="365760"/>
          </a:xfrm>
          <a:prstGeom prst="rect">
            <a:avLst/>
          </a:prstGeom>
          <a:noFill/>
          <a:ln/>
        </p:spPr>
        <p:txBody>
          <a:bodyPr wrap="square" lIns="0" tIns="0" rIns="0" bIns="0" rtlCol="0" anchor="ctr"/>
          <a:lstStyle/>
          <a:p>
            <a:pPr indent="0" marL="0">
              <a:lnSpc>
                <a:spcPts val="1400"/>
              </a:lnSpc>
              <a:buNone/>
            </a:pPr>
            <a:r>
              <a:rPr lang="en-US" sz="1000" dirty="0">
                <a:solidFill>
                  <a:srgbClr val="C9A227"/>
                </a:solidFill>
                <a:latin typeface="Meiryo" pitchFamily="34" charset="0"/>
                <a:ea typeface="Meiryo" pitchFamily="34" charset="-122"/>
                <a:cs typeface="Meiryo" pitchFamily="34" charset="-120"/>
              </a:rPr>
              <a:t>※ その他、ボルドーマラソン・5大シャトー訪問企画、国内ワイナリーツアー等の年間ワインイベント盛りだくさん</a:t>
            </a:r>
            <a:endParaRPr lang="en-US" sz="1000" dirty="0"/>
          </a:p>
        </p:txBody>
      </p:sp>
      <p:sp>
        <p:nvSpPr>
          <p:cNvPr id="25" name="Shape 23"/>
          <p:cNvSpPr/>
          <p:nvPr/>
        </p:nvSpPr>
        <p:spPr>
          <a:xfrm>
            <a:off x="566928" y="4187952"/>
            <a:ext cx="11027664" cy="731520"/>
          </a:xfrm>
          <a:prstGeom prst="roundRect">
            <a:avLst>
              <a:gd name="adj" fmla="val 7500"/>
            </a:avLst>
          </a:prstGeom>
          <a:solidFill>
            <a:srgbClr val="7B1E3A"/>
          </a:solidFill>
          <a:ln w="12700">
            <a:solidFill>
              <a:srgbClr val="7B1E3A"/>
            </a:solidFill>
            <a:prstDash val="solid"/>
          </a:ln>
          <a:effectLst>
            <a:outerShdw sx="100000" sy="100000" kx="0" ky="0" algn="bl" rotWithShape="0" blurRad="127000" dist="25400" dir="5400000">
              <a:srgbClr val="000000">
                <a:alpha val="35000"/>
              </a:srgbClr>
            </a:outerShdw>
          </a:effectLst>
        </p:spPr>
      </p:sp>
      <p:sp>
        <p:nvSpPr>
          <p:cNvPr id="26" name="Text 24"/>
          <p:cNvSpPr txBox="1"/>
          <p:nvPr/>
        </p:nvSpPr>
        <p:spPr>
          <a:xfrm>
            <a:off x="978408" y="4343400"/>
            <a:ext cx="10204704" cy="384048"/>
          </a:xfrm>
          <a:prstGeom prst="rect">
            <a:avLst/>
          </a:prstGeom>
          <a:noFill/>
          <a:ln/>
        </p:spPr>
        <p:txBody>
          <a:bodyPr wrap="square" lIns="0" tIns="0" rIns="0" bIns="0" rtlCol="0" anchor="ctr"/>
          <a:lstStyle/>
          <a:p>
            <a:pPr algn="ctr" indent="0" marL="0">
              <a:buNone/>
            </a:pPr>
            <a:r>
              <a:rPr lang="en-US" sz="1800" b="1" dirty="0">
                <a:solidFill>
                  <a:srgbClr val="E8CE78"/>
                </a:solidFill>
                <a:latin typeface="Meiryo" pitchFamily="34" charset="0"/>
                <a:ea typeface="Meiryo" pitchFamily="34" charset="-122"/>
                <a:cs typeface="Meiryo" pitchFamily="34" charset="-120"/>
              </a:rPr>
              <a:t>25,000円は貯金になりません。50,000マイルは、ワインのある一年になります。</a:t>
            </a:r>
            <a:endParaRPr lang="en-US" sz="1800" dirty="0"/>
          </a:p>
        </p:txBody>
      </p:sp>
      <p:sp>
        <p:nvSpPr>
          <p:cNvPr id="27" name="Shape 25"/>
          <p:cNvSpPr/>
          <p:nvPr/>
        </p:nvSpPr>
        <p:spPr>
          <a:xfrm>
            <a:off x="566928" y="5029200"/>
            <a:ext cx="3529584" cy="1060704"/>
          </a:xfrm>
          <a:prstGeom prst="roundRect">
            <a:avLst>
              <a:gd name="adj" fmla="val 5172"/>
            </a:avLst>
          </a:prstGeom>
          <a:solidFill>
            <a:srgbClr val="17111A"/>
          </a:solidFill>
          <a:ln w="12700">
            <a:solidFill>
              <a:srgbClr val="17111A"/>
            </a:solidFill>
            <a:prstDash val="solid"/>
          </a:ln>
          <a:effectLst>
            <a:outerShdw sx="100000" sy="100000" kx="0" ky="0" algn="bl" rotWithShape="0" blurRad="127000" dist="25400" dir="5400000">
              <a:srgbClr val="000000">
                <a:alpha val="35000"/>
              </a:srgbClr>
            </a:outerShdw>
          </a:effectLst>
        </p:spPr>
      </p:sp>
      <p:sp>
        <p:nvSpPr>
          <p:cNvPr id="28" name="Text 26"/>
          <p:cNvSpPr txBox="1"/>
          <p:nvPr/>
        </p:nvSpPr>
        <p:spPr>
          <a:xfrm>
            <a:off x="841248" y="5157216"/>
            <a:ext cx="2980944" cy="274320"/>
          </a:xfrm>
          <a:prstGeom prst="rect">
            <a:avLst/>
          </a:prstGeom>
          <a:noFill/>
          <a:ln/>
        </p:spPr>
        <p:txBody>
          <a:bodyPr wrap="square" lIns="0" tIns="0" rIns="0" bIns="0" rtlCol="0" anchor="ctr"/>
          <a:lstStyle/>
          <a:p>
            <a:pPr indent="0" marL="0">
              <a:buNone/>
            </a:pPr>
            <a:r>
              <a:rPr lang="en-US" sz="1250" b="1" dirty="0">
                <a:solidFill>
                  <a:srgbClr val="E8CE78"/>
                </a:solidFill>
                <a:latin typeface="Meiryo" pitchFamily="34" charset="0"/>
                <a:ea typeface="Meiryo" pitchFamily="34" charset="-122"/>
                <a:cs typeface="Meiryo" pitchFamily="34" charset="-120"/>
              </a:rPr>
              <a:t>税務はカードのマイルと同じ</a:t>
            </a:r>
            <a:endParaRPr lang="en-US" sz="1250" dirty="0"/>
          </a:p>
        </p:txBody>
      </p:sp>
      <p:sp>
        <p:nvSpPr>
          <p:cNvPr id="29" name="Text 27"/>
          <p:cNvSpPr txBox="1"/>
          <p:nvPr/>
        </p:nvSpPr>
        <p:spPr>
          <a:xfrm>
            <a:off x="841248" y="5449824"/>
            <a:ext cx="2980944" cy="566928"/>
          </a:xfrm>
          <a:prstGeom prst="rect">
            <a:avLst/>
          </a:prstGeom>
          <a:noFill/>
          <a:ln/>
        </p:spPr>
        <p:txBody>
          <a:bodyPr wrap="square" lIns="0" tIns="0" rIns="0" bIns="0" rtlCol="0" anchor="ctr"/>
          <a:lstStyle/>
          <a:p>
            <a:pPr indent="0" marL="0">
              <a:lnSpc>
                <a:spcPts val="1300"/>
              </a:lnSpc>
              <a:buNone/>
            </a:pPr>
            <a:r>
              <a:rPr lang="en-US" sz="950" dirty="0">
                <a:solidFill>
                  <a:srgbClr val="A2908C"/>
                </a:solidFill>
                <a:latin typeface="Meiryo" pitchFamily="34" charset="0"/>
                <a:ea typeface="Meiryo" pitchFamily="34" charset="-122"/>
                <a:cs typeface="Meiryo" pitchFamily="34" charset="-120"/>
              </a:rPr>
              <a:t>AMEX等のマイレージ還元は法人・個人とも課税されません。ワインマイルも同じ「利用に応じた還元」として設計します。※顧問税理士の確認を前提</a:t>
            </a:r>
            <a:endParaRPr lang="en-US" sz="950" dirty="0"/>
          </a:p>
        </p:txBody>
      </p:sp>
      <p:sp>
        <p:nvSpPr>
          <p:cNvPr id="30" name="Shape 28"/>
          <p:cNvSpPr/>
          <p:nvPr/>
        </p:nvSpPr>
        <p:spPr>
          <a:xfrm>
            <a:off x="4352544" y="5029200"/>
            <a:ext cx="3529584" cy="1060704"/>
          </a:xfrm>
          <a:prstGeom prst="roundRect">
            <a:avLst>
              <a:gd name="adj" fmla="val 5172"/>
            </a:avLst>
          </a:prstGeom>
          <a:solidFill>
            <a:srgbClr val="17111A"/>
          </a:solidFill>
          <a:ln w="12700">
            <a:solidFill>
              <a:srgbClr val="17111A"/>
            </a:solidFill>
            <a:prstDash val="solid"/>
          </a:ln>
          <a:effectLst>
            <a:outerShdw sx="100000" sy="100000" kx="0" ky="0" algn="bl" rotWithShape="0" blurRad="127000" dist="25400" dir="5400000">
              <a:srgbClr val="000000">
                <a:alpha val="35000"/>
              </a:srgbClr>
            </a:outerShdw>
          </a:effectLst>
        </p:spPr>
      </p:sp>
      <p:sp>
        <p:nvSpPr>
          <p:cNvPr id="31" name="Text 29"/>
          <p:cNvSpPr txBox="1"/>
          <p:nvPr/>
        </p:nvSpPr>
        <p:spPr>
          <a:xfrm>
            <a:off x="4626864" y="5157216"/>
            <a:ext cx="2980944" cy="274320"/>
          </a:xfrm>
          <a:prstGeom prst="rect">
            <a:avLst/>
          </a:prstGeom>
          <a:noFill/>
          <a:ln/>
        </p:spPr>
        <p:txBody>
          <a:bodyPr wrap="square" lIns="0" tIns="0" rIns="0" bIns="0" rtlCol="0" anchor="ctr"/>
          <a:lstStyle/>
          <a:p>
            <a:pPr indent="0" marL="0">
              <a:buNone/>
            </a:pPr>
            <a:r>
              <a:rPr lang="en-US" sz="1250" b="1" dirty="0">
                <a:solidFill>
                  <a:srgbClr val="E8CE78"/>
                </a:solidFill>
                <a:latin typeface="Meiryo" pitchFamily="34" charset="0"/>
                <a:ea typeface="Meiryo" pitchFamily="34" charset="-122"/>
                <a:cs typeface="Meiryo" pitchFamily="34" charset="-120"/>
              </a:rPr>
              <a:t>一般サービスへの交換は 0.5</a:t>
            </a:r>
            <a:endParaRPr lang="en-US" sz="1250" dirty="0"/>
          </a:p>
        </p:txBody>
      </p:sp>
      <p:sp>
        <p:nvSpPr>
          <p:cNvPr id="32" name="Text 30"/>
          <p:cNvSpPr txBox="1"/>
          <p:nvPr/>
        </p:nvSpPr>
        <p:spPr>
          <a:xfrm>
            <a:off x="4626864" y="5449824"/>
            <a:ext cx="2980944" cy="566928"/>
          </a:xfrm>
          <a:prstGeom prst="rect">
            <a:avLst/>
          </a:prstGeom>
          <a:noFill/>
          <a:ln/>
        </p:spPr>
        <p:txBody>
          <a:bodyPr wrap="square" lIns="0" tIns="0" rIns="0" bIns="0" rtlCol="0" anchor="ctr"/>
          <a:lstStyle/>
          <a:p>
            <a:pPr indent="0" marL="0">
              <a:lnSpc>
                <a:spcPts val="1300"/>
              </a:lnSpc>
              <a:buNone/>
            </a:pPr>
            <a:r>
              <a:rPr lang="en-US" sz="950" dirty="0">
                <a:solidFill>
                  <a:srgbClr val="A2908C"/>
                </a:solidFill>
                <a:latin typeface="Meiryo" pitchFamily="34" charset="0"/>
                <a:ea typeface="Meiryo" pitchFamily="34" charset="-122"/>
                <a:cs typeface="Meiryo" pitchFamily="34" charset="-120"/>
              </a:rPr>
              <a:t>ワイン関連の一般サービスへは0.5で交換可能。比べたうえで「ワインならWineBank経済圏が一番得だ」と分かる設計にします。</a:t>
            </a:r>
            <a:endParaRPr lang="en-US" sz="950" dirty="0"/>
          </a:p>
        </p:txBody>
      </p:sp>
      <p:sp>
        <p:nvSpPr>
          <p:cNvPr id="33" name="Shape 31"/>
          <p:cNvSpPr/>
          <p:nvPr/>
        </p:nvSpPr>
        <p:spPr>
          <a:xfrm>
            <a:off x="8138160" y="5029200"/>
            <a:ext cx="3529584" cy="1060704"/>
          </a:xfrm>
          <a:prstGeom prst="roundRect">
            <a:avLst>
              <a:gd name="adj" fmla="val 5172"/>
            </a:avLst>
          </a:prstGeom>
          <a:solidFill>
            <a:srgbClr val="17111A"/>
          </a:solidFill>
          <a:ln w="12700">
            <a:solidFill>
              <a:srgbClr val="17111A"/>
            </a:solidFill>
            <a:prstDash val="solid"/>
          </a:ln>
          <a:effectLst>
            <a:outerShdw sx="100000" sy="100000" kx="0" ky="0" algn="bl" rotWithShape="0" blurRad="127000" dist="25400" dir="5400000">
              <a:srgbClr val="000000">
                <a:alpha val="35000"/>
              </a:srgbClr>
            </a:outerShdw>
          </a:effectLst>
        </p:spPr>
      </p:sp>
      <p:sp>
        <p:nvSpPr>
          <p:cNvPr id="34" name="Text 32"/>
          <p:cNvSpPr txBox="1"/>
          <p:nvPr/>
        </p:nvSpPr>
        <p:spPr>
          <a:xfrm>
            <a:off x="8412480" y="5157216"/>
            <a:ext cx="2980944" cy="274320"/>
          </a:xfrm>
          <a:prstGeom prst="rect">
            <a:avLst/>
          </a:prstGeom>
          <a:noFill/>
          <a:ln/>
        </p:spPr>
        <p:txBody>
          <a:bodyPr wrap="square" lIns="0" tIns="0" rIns="0" bIns="0" rtlCol="0" anchor="ctr"/>
          <a:lstStyle/>
          <a:p>
            <a:pPr indent="0" marL="0">
              <a:buNone/>
            </a:pPr>
            <a:r>
              <a:rPr lang="en-US" sz="1250" b="1" dirty="0">
                <a:solidFill>
                  <a:srgbClr val="E8CE78"/>
                </a:solidFill>
                <a:latin typeface="Meiryo" pitchFamily="34" charset="0"/>
                <a:ea typeface="Meiryo" pitchFamily="34" charset="-122"/>
                <a:cs typeface="Meiryo" pitchFamily="34" charset="-120"/>
              </a:rPr>
              <a:t>手間は、ゼロ</a:t>
            </a:r>
            <a:endParaRPr lang="en-US" sz="1250" dirty="0"/>
          </a:p>
        </p:txBody>
      </p:sp>
      <p:sp>
        <p:nvSpPr>
          <p:cNvPr id="35" name="Text 33"/>
          <p:cNvSpPr txBox="1"/>
          <p:nvPr/>
        </p:nvSpPr>
        <p:spPr>
          <a:xfrm>
            <a:off x="8412480" y="5449824"/>
            <a:ext cx="2980944" cy="566928"/>
          </a:xfrm>
          <a:prstGeom prst="rect">
            <a:avLst/>
          </a:prstGeom>
          <a:noFill/>
          <a:ln/>
        </p:spPr>
        <p:txBody>
          <a:bodyPr wrap="square" lIns="0" tIns="0" rIns="0" bIns="0" rtlCol="0" anchor="ctr"/>
          <a:lstStyle/>
          <a:p>
            <a:pPr indent="0" marL="0">
              <a:lnSpc>
                <a:spcPts val="1300"/>
              </a:lnSpc>
              <a:buNone/>
            </a:pPr>
            <a:r>
              <a:rPr lang="en-US" sz="950" dirty="0">
                <a:solidFill>
                  <a:srgbClr val="A2908C"/>
                </a:solidFill>
                <a:latin typeface="Meiryo" pitchFamily="34" charset="0"/>
                <a:ea typeface="Meiryo" pitchFamily="34" charset="-122"/>
                <a:cs typeface="Meiryo" pitchFamily="34" charset="-120"/>
              </a:rPr>
              <a:t>手数料は年1回の自動引落。マイルは自動付与。使うときは、お店で名前を言うだけです。</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00000"/>
        </a:solidFill>
      </p:bgPr>
    </p:bg>
    <p:spTree>
      <p:nvGrpSpPr>
        <p:cNvPr id="1" name=""/>
        <p:cNvGrpSpPr/>
        <p:nvPr/>
      </p:nvGrpSpPr>
      <p:grpSpPr>
        <a:xfrm>
          <a:off x="0" y="0"/>
          <a:ext cx="0" cy="0"/>
          <a:chOff x="0" y="0"/>
          <a:chExt cx="0" cy="0"/>
        </a:xfrm>
      </p:grpSpPr>
      <p:sp>
        <p:nvSpPr>
          <p:cNvPr id="2" name="Text 0"/>
          <p:cNvSpPr txBox="1"/>
          <p:nvPr/>
        </p:nvSpPr>
        <p:spPr>
          <a:xfrm>
            <a:off x="566928" y="310896"/>
            <a:ext cx="11027664" cy="237744"/>
          </a:xfrm>
          <a:prstGeom prst="rect">
            <a:avLst/>
          </a:prstGeom>
          <a:noFill/>
          <a:ln/>
        </p:spPr>
        <p:txBody>
          <a:bodyPr wrap="square" lIns="0" tIns="0" rIns="0" bIns="0" rtlCol="0" anchor="ctr"/>
          <a:lstStyle/>
          <a:p>
            <a:pPr indent="0" marL="0">
              <a:buNone/>
            </a:pPr>
            <a:r>
              <a:rPr lang="en-US" sz="1050" b="1" spc="300" kern="0" dirty="0">
                <a:solidFill>
                  <a:srgbClr val="C9A227"/>
                </a:solidFill>
                <a:latin typeface="Arial" pitchFamily="34" charset="0"/>
                <a:ea typeface="Arial" pitchFamily="34" charset="-122"/>
                <a:cs typeface="Arial" pitchFamily="34" charset="-120"/>
              </a:rPr>
              <a:t>UNIT ECONOMICS</a:t>
            </a:r>
            <a:endParaRPr lang="en-US" sz="1050" dirty="0"/>
          </a:p>
        </p:txBody>
      </p:sp>
      <p:sp>
        <p:nvSpPr>
          <p:cNvPr id="3" name="Text 1"/>
          <p:cNvSpPr txBox="1"/>
          <p:nvPr/>
        </p:nvSpPr>
        <p:spPr>
          <a:xfrm>
            <a:off x="566928" y="566928"/>
            <a:ext cx="11027664" cy="548640"/>
          </a:xfrm>
          <a:prstGeom prst="rect">
            <a:avLst/>
          </a:prstGeom>
          <a:noFill/>
          <a:ln/>
        </p:spPr>
        <p:txBody>
          <a:bodyPr wrap="square" lIns="0" tIns="0" rIns="0" bIns="0" rtlCol="0" anchor="ctr"/>
          <a:lstStyle/>
          <a:p>
            <a:pPr indent="0" marL="0">
              <a:buNone/>
            </a:pPr>
            <a:r>
              <a:rPr lang="en-US" sz="2900" b="1" dirty="0">
                <a:solidFill>
                  <a:srgbClr val="F2EDE6"/>
                </a:solidFill>
                <a:latin typeface="Meiryo" pitchFamily="34" charset="0"/>
                <a:ea typeface="Meiryo" pitchFamily="34" charset="-122"/>
                <a:cs typeface="Meiryo" pitchFamily="34" charset="-120"/>
              </a:rPr>
              <a:t>マイル原価は「どこで使われるか」で決まる</a:t>
            </a:r>
            <a:endParaRPr lang="en-US" sz="2900" dirty="0"/>
          </a:p>
        </p:txBody>
      </p:sp>
      <p:sp>
        <p:nvSpPr>
          <p:cNvPr id="4" name="Text 2"/>
          <p:cNvSpPr txBox="1"/>
          <p:nvPr/>
        </p:nvSpPr>
        <p:spPr>
          <a:xfrm>
            <a:off x="566928" y="1152144"/>
            <a:ext cx="11027664" cy="310896"/>
          </a:xfrm>
          <a:prstGeom prst="rect">
            <a:avLst/>
          </a:prstGeom>
          <a:noFill/>
          <a:ln/>
        </p:spPr>
        <p:txBody>
          <a:bodyPr wrap="square" lIns="0" tIns="0" rIns="0" bIns="0" rtlCol="0" anchor="ctr"/>
          <a:lstStyle/>
          <a:p>
            <a:pPr indent="0" marL="0">
              <a:buNone/>
            </a:pPr>
            <a:r>
              <a:rPr lang="en-US" sz="1300" dirty="0">
                <a:solidFill>
                  <a:srgbClr val="A2908C"/>
                </a:solidFill>
                <a:latin typeface="Meiryo" pitchFamily="34" charset="0"/>
                <a:ea typeface="Meiryo" pitchFamily="34" charset="-122"/>
                <a:cs typeface="Meiryo" pitchFamily="34" charset="-120"/>
              </a:rPr>
              <a:t>WineBank単体ベース。直営店へはマイル額面×レート×90%を保証。額面100に対する当社コストで示します。</a:t>
            </a:r>
            <a:endParaRPr lang="en-US" sz="1300" dirty="0"/>
          </a:p>
        </p:txBody>
      </p:sp>
      <p:sp>
        <p:nvSpPr>
          <p:cNvPr id="5" name="Text 3"/>
          <p:cNvSpPr txBox="1"/>
          <p:nvPr/>
        </p:nvSpPr>
        <p:spPr>
          <a:xfrm>
            <a:off x="566928" y="6437376"/>
            <a:ext cx="4572000" cy="219456"/>
          </a:xfrm>
          <a:prstGeom prst="rect">
            <a:avLst/>
          </a:prstGeom>
          <a:noFill/>
          <a:ln/>
        </p:spPr>
        <p:txBody>
          <a:bodyPr wrap="square" lIns="0" tIns="0" rIns="0" bIns="0" rtlCol="0" anchor="ctr"/>
          <a:lstStyle/>
          <a:p>
            <a:pPr indent="0" marL="0">
              <a:buNone/>
            </a:pPr>
            <a:r>
              <a:rPr lang="en-US" sz="850" dirty="0">
                <a:solidFill>
                  <a:srgbClr val="6B5A5F"/>
                </a:solidFill>
                <a:latin typeface="Arial" pitchFamily="34" charset="0"/>
                <a:ea typeface="Arial" pitchFamily="34" charset="-122"/>
                <a:cs typeface="Arial" pitchFamily="34" charset="-120"/>
              </a:rPr>
              <a:t>WineBank CONFIDENTIAL</a:t>
            </a:r>
            <a:endParaRPr lang="en-US" sz="85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66928" y="1700784"/>
          <a:ext cx="11027664" cy="914400"/>
        </p:xfrm>
        <a:graphic>
          <a:graphicData uri="http://schemas.openxmlformats.org/drawingml/2006/table">
            <a:tbl>
              <a:tblPr/>
              <a:tblGrid>
                <a:gridCol w="3383280"/>
                <a:gridCol w="1371600"/>
                <a:gridCol w="2011680"/>
                <a:gridCol w="2651760"/>
                <a:gridCol w="1609344"/>
              </a:tblGrid>
              <a:tr h="365760">
                <a:tc>
                  <a:txBody>
                    <a:bodyPr/>
                    <a:lstStyle/>
                    <a:p>
                      <a:pPr algn="ctr" indent="0" marL="0">
                        <a:buNone/>
                      </a:pPr>
                      <a:r>
                        <a:rPr lang="en-US" sz="1100" b="1" dirty="0">
                          <a:solidFill>
                            <a:srgbClr val="F2EDE6"/>
                          </a:solidFill>
                          <a:latin typeface="Meiryo" pitchFamily="34" charset="0"/>
                          <a:ea typeface="Meiryo" pitchFamily="34" charset="-122"/>
                          <a:cs typeface="Meiryo" pitchFamily="34" charset="-120"/>
                        </a:rPr>
                        <a:t>交換先</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7B1E3A"/>
                    </a:solidFill>
                  </a:tcPr>
                </a:tc>
                <a:tc>
                  <a:txBody>
                    <a:bodyPr/>
                    <a:lstStyle/>
                    <a:p>
                      <a:pPr algn="ctr" indent="0" marL="0">
                        <a:buNone/>
                      </a:pPr>
                      <a:r>
                        <a:rPr lang="en-US" sz="1100" b="1" dirty="0">
                          <a:solidFill>
                            <a:srgbClr val="F2EDE6"/>
                          </a:solidFill>
                          <a:latin typeface="Meiryo" pitchFamily="34" charset="0"/>
                          <a:ea typeface="Meiryo" pitchFamily="34" charset="-122"/>
                          <a:cs typeface="Meiryo" pitchFamily="34" charset="-120"/>
                        </a:rPr>
                        <a:t>レート</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7B1E3A"/>
                    </a:solidFill>
                  </a:tcPr>
                </a:tc>
                <a:tc>
                  <a:txBody>
                    <a:bodyPr/>
                    <a:lstStyle/>
                    <a:p>
                      <a:pPr algn="ctr" indent="0" marL="0">
                        <a:buNone/>
                      </a:pPr>
                      <a:r>
                        <a:rPr lang="en-US" sz="1100" b="1" dirty="0">
                          <a:solidFill>
                            <a:srgbClr val="F2EDE6"/>
                          </a:solidFill>
                          <a:latin typeface="Meiryo" pitchFamily="34" charset="0"/>
                          <a:ea typeface="Meiryo" pitchFamily="34" charset="-122"/>
                          <a:cs typeface="Meiryo" pitchFamily="34" charset="-120"/>
                        </a:rPr>
                        <a:t>単体コスト</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7B1E3A"/>
                    </a:solidFill>
                  </a:tcPr>
                </a:tc>
                <a:tc>
                  <a:txBody>
                    <a:bodyPr/>
                    <a:lstStyle/>
                    <a:p>
                      <a:pPr algn="ctr" indent="0" marL="0">
                        <a:buNone/>
                      </a:pPr>
                      <a:r>
                        <a:rPr lang="en-US" sz="1100" b="1" dirty="0">
                          <a:solidFill>
                            <a:srgbClr val="F2EDE6"/>
                          </a:solidFill>
                          <a:latin typeface="Meiryo" pitchFamily="34" charset="0"/>
                          <a:ea typeface="Meiryo" pitchFamily="34" charset="-122"/>
                          <a:cs typeface="Meiryo" pitchFamily="34" charset="-120"/>
                        </a:rPr>
                        <a:t>連結コスト（参考）</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7B1E3A"/>
                    </a:solidFill>
                  </a:tcPr>
                </a:tc>
                <a:tc>
                  <a:txBody>
                    <a:bodyPr/>
                    <a:lstStyle/>
                    <a:p>
                      <a:pPr algn="ctr" indent="0" marL="0">
                        <a:buNone/>
                      </a:pPr>
                      <a:r>
                        <a:rPr lang="en-US" sz="1100" b="1" dirty="0">
                          <a:solidFill>
                            <a:srgbClr val="F2EDE6"/>
                          </a:solidFill>
                          <a:latin typeface="Meiryo" pitchFamily="34" charset="0"/>
                          <a:ea typeface="Meiryo" pitchFamily="34" charset="-122"/>
                          <a:cs typeface="Meiryo" pitchFamily="34" charset="-120"/>
                        </a:rPr>
                        <a:t>方針</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7B1E3A"/>
                    </a:solidFill>
                  </a:tcPr>
                </a:tc>
              </a:tr>
              <a:tr h="310896">
                <a:tc>
                  <a:txBody>
                    <a:bodyPr/>
                    <a:lstStyle/>
                    <a:p>
                      <a:pPr algn="l" indent="0" marL="0">
                        <a:buNone/>
                      </a:pPr>
                      <a:r>
                        <a:rPr lang="en-US" sz="1100" dirty="0">
                          <a:solidFill>
                            <a:srgbClr val="F2EDE6"/>
                          </a:solidFill>
                          <a:latin typeface="Meiryo" pitchFamily="34" charset="0"/>
                          <a:ea typeface="Meiryo" pitchFamily="34" charset="-122"/>
                          <a:cs typeface="Meiryo" pitchFamily="34" charset="-120"/>
                        </a:rPr>
                        <a:t>グループ直営飲食</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17111A"/>
                    </a:solidFill>
                  </a:tcPr>
                </a:tc>
                <a:tc>
                  <a:txBody>
                    <a:bodyPr/>
                    <a:lstStyle/>
                    <a:p>
                      <a:pPr algn="ctr" indent="0" marL="0">
                        <a:buNone/>
                      </a:pPr>
                      <a:r>
                        <a:rPr lang="en-US" sz="1100" dirty="0">
                          <a:solidFill>
                            <a:srgbClr val="F2EDE6"/>
                          </a:solidFill>
                          <a:latin typeface="Meiryo" pitchFamily="34" charset="0"/>
                          <a:ea typeface="Meiryo" pitchFamily="34" charset="-122"/>
                          <a:cs typeface="Meiryo" pitchFamily="34" charset="-120"/>
                        </a:rPr>
                        <a:t>1.0円</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17111A"/>
                    </a:solidFill>
                  </a:tcPr>
                </a:tc>
                <a:tc>
                  <a:txBody>
                    <a:bodyPr/>
                    <a:lstStyle/>
                    <a:p>
                      <a:pPr algn="ctr" indent="0" marL="0">
                        <a:buNone/>
                      </a:pPr>
                      <a:r>
                        <a:rPr lang="en-US" sz="1100" b="1" dirty="0">
                          <a:solidFill>
                            <a:srgbClr val="D96A6A"/>
                          </a:solidFill>
                          <a:latin typeface="Meiryo" pitchFamily="34" charset="0"/>
                          <a:ea typeface="Meiryo" pitchFamily="34" charset="-122"/>
                          <a:cs typeface="Meiryo" pitchFamily="34" charset="-120"/>
                        </a:rPr>
                        <a:t>90</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17111A"/>
                    </a:solidFill>
                  </a:tcPr>
                </a:tc>
                <a:tc>
                  <a:txBody>
                    <a:bodyPr/>
                    <a:lstStyle/>
                    <a:p>
                      <a:pPr algn="ctr" indent="0" marL="0">
                        <a:buNone/>
                      </a:pPr>
                      <a:r>
                        <a:rPr lang="en-US" sz="1100" dirty="0">
                          <a:solidFill>
                            <a:srgbClr val="F2EDE6"/>
                          </a:solidFill>
                          <a:latin typeface="Meiryo" pitchFamily="34" charset="0"/>
                          <a:ea typeface="Meiryo" pitchFamily="34" charset="-122"/>
                          <a:cs typeface="Meiryo" pitchFamily="34" charset="-120"/>
                        </a:rPr>
                        <a:t>30</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17111A"/>
                    </a:solidFill>
                  </a:tcPr>
                </a:tc>
                <a:tc>
                  <a:txBody>
                    <a:bodyPr/>
                    <a:lstStyle/>
                    <a:p>
                      <a:pPr algn="ctr" indent="0" marL="0">
                        <a:buNone/>
                      </a:pPr>
                      <a:r>
                        <a:rPr lang="en-US" sz="1100" dirty="0">
                          <a:solidFill>
                            <a:srgbClr val="E0A458"/>
                          </a:solidFill>
                          <a:latin typeface="Meiryo" pitchFamily="34" charset="0"/>
                          <a:ea typeface="Meiryo" pitchFamily="34" charset="-122"/>
                          <a:cs typeface="Meiryo" pitchFamily="34" charset="-120"/>
                        </a:rPr>
                        <a:t>要誘導</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17111A"/>
                    </a:solidFill>
                  </a:tcPr>
                </a:tc>
              </a:tr>
              <a:tr h="310896">
                <a:tc>
                  <a:txBody>
                    <a:bodyPr/>
                    <a:lstStyle/>
                    <a:p>
                      <a:pPr algn="l" indent="0" marL="0">
                        <a:buNone/>
                      </a:pPr>
                      <a:r>
                        <a:rPr lang="en-US" sz="1100" dirty="0">
                          <a:solidFill>
                            <a:srgbClr val="F2EDE6"/>
                          </a:solidFill>
                          <a:latin typeface="Meiryo" pitchFamily="34" charset="0"/>
                          <a:ea typeface="Meiryo" pitchFamily="34" charset="-122"/>
                          <a:cs typeface="Meiryo" pitchFamily="34" charset="-120"/>
                        </a:rPr>
                        <a:t>グランメゾン</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61A24"/>
                    </a:solidFill>
                  </a:tcPr>
                </a:tc>
                <a:tc>
                  <a:txBody>
                    <a:bodyPr/>
                    <a:lstStyle/>
                    <a:p>
                      <a:pPr algn="ctr" indent="0" marL="0">
                        <a:buNone/>
                      </a:pPr>
                      <a:r>
                        <a:rPr lang="en-US" sz="1100" b="1" dirty="0">
                          <a:solidFill>
                            <a:srgbClr val="C9A227"/>
                          </a:solidFill>
                          <a:latin typeface="Meiryo" pitchFamily="34" charset="0"/>
                          <a:ea typeface="Meiryo" pitchFamily="34" charset="-122"/>
                          <a:cs typeface="Meiryo" pitchFamily="34" charset="-120"/>
                        </a:rPr>
                        <a:t>0.5円</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61A24"/>
                    </a:solidFill>
                  </a:tcPr>
                </a:tc>
                <a:tc>
                  <a:txBody>
                    <a:bodyPr/>
                    <a:lstStyle/>
                    <a:p>
                      <a:pPr algn="ctr" indent="0" marL="0">
                        <a:buNone/>
                      </a:pPr>
                      <a:r>
                        <a:rPr lang="en-US" sz="1100" dirty="0">
                          <a:solidFill>
                            <a:srgbClr val="F2EDE6"/>
                          </a:solidFill>
                          <a:latin typeface="Meiryo" pitchFamily="34" charset="0"/>
                          <a:ea typeface="Meiryo" pitchFamily="34" charset="-122"/>
                          <a:cs typeface="Meiryo" pitchFamily="34" charset="-120"/>
                        </a:rPr>
                        <a:t>45</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61A24"/>
                    </a:solidFill>
                  </a:tcPr>
                </a:tc>
                <a:tc>
                  <a:txBody>
                    <a:bodyPr/>
                    <a:lstStyle/>
                    <a:p>
                      <a:pPr algn="ctr" indent="0" marL="0">
                        <a:buNone/>
                      </a:pPr>
                      <a:r>
                        <a:rPr lang="en-US" sz="1100" dirty="0">
                          <a:solidFill>
                            <a:srgbClr val="F2EDE6"/>
                          </a:solidFill>
                          <a:latin typeface="Meiryo" pitchFamily="34" charset="0"/>
                          <a:ea typeface="Meiryo" pitchFamily="34" charset="-122"/>
                          <a:cs typeface="Meiryo" pitchFamily="34" charset="-120"/>
                        </a:rPr>
                        <a:t>15</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61A24"/>
                    </a:solidFill>
                  </a:tcPr>
                </a:tc>
                <a:tc>
                  <a:txBody>
                    <a:bodyPr/>
                    <a:lstStyle/>
                    <a:p>
                      <a:pPr algn="ctr" indent="0" marL="0">
                        <a:buNone/>
                      </a:pPr>
                      <a:r>
                        <a:rPr lang="en-US" sz="1100" b="1" dirty="0">
                          <a:solidFill>
                            <a:srgbClr val="7FD1AE"/>
                          </a:solidFill>
                          <a:latin typeface="Meiryo" pitchFamily="34" charset="0"/>
                          <a:ea typeface="Meiryo" pitchFamily="34" charset="-122"/>
                          <a:cs typeface="Meiryo" pitchFamily="34" charset="-120"/>
                        </a:rPr>
                        <a:t>◎</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61A24"/>
                    </a:solidFill>
                  </a:tcPr>
                </a:tc>
              </a:tr>
              <a:tr h="310896">
                <a:tc>
                  <a:txBody>
                    <a:bodyPr/>
                    <a:lstStyle/>
                    <a:p>
                      <a:pPr algn="l" indent="0" marL="0">
                        <a:buNone/>
                      </a:pPr>
                      <a:r>
                        <a:rPr lang="en-US" sz="1100" dirty="0">
                          <a:solidFill>
                            <a:srgbClr val="F2EDE6"/>
                          </a:solidFill>
                          <a:latin typeface="Meiryo" pitchFamily="34" charset="0"/>
                          <a:ea typeface="Meiryo" pitchFamily="34" charset="-122"/>
                          <a:cs typeface="Meiryo" pitchFamily="34" charset="-120"/>
                        </a:rPr>
                        <a:t>WineBank CLUB 会費充当</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17111A"/>
                    </a:solidFill>
                  </a:tcPr>
                </a:tc>
                <a:tc>
                  <a:txBody>
                    <a:bodyPr/>
                    <a:lstStyle/>
                    <a:p>
                      <a:pPr algn="ctr" indent="0" marL="0">
                        <a:buNone/>
                      </a:pPr>
                      <a:r>
                        <a:rPr lang="en-US" sz="1100" dirty="0">
                          <a:solidFill>
                            <a:srgbClr val="F2EDE6"/>
                          </a:solidFill>
                          <a:latin typeface="Meiryo" pitchFamily="34" charset="0"/>
                          <a:ea typeface="Meiryo" pitchFamily="34" charset="-122"/>
                          <a:cs typeface="Meiryo" pitchFamily="34" charset="-120"/>
                        </a:rPr>
                        <a:t>1.0円</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17111A"/>
                    </a:solidFill>
                  </a:tcPr>
                </a:tc>
                <a:tc>
                  <a:txBody>
                    <a:bodyPr/>
                    <a:lstStyle/>
                    <a:p>
                      <a:pPr algn="ctr" indent="0" marL="0">
                        <a:buNone/>
                      </a:pPr>
                      <a:r>
                        <a:rPr lang="en-US" sz="1100" b="1" dirty="0">
                          <a:solidFill>
                            <a:srgbClr val="7FD1AE"/>
                          </a:solidFill>
                          <a:latin typeface="Meiryo" pitchFamily="34" charset="0"/>
                          <a:ea typeface="Meiryo" pitchFamily="34" charset="-122"/>
                          <a:cs typeface="Meiryo" pitchFamily="34" charset="-120"/>
                        </a:rPr>
                        <a:t>10</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17111A"/>
                    </a:solidFill>
                  </a:tcPr>
                </a:tc>
                <a:tc>
                  <a:txBody>
                    <a:bodyPr/>
                    <a:lstStyle/>
                    <a:p>
                      <a:pPr algn="ctr" indent="0" marL="0">
                        <a:buNone/>
                      </a:pPr>
                      <a:r>
                        <a:rPr lang="en-US" sz="1100" dirty="0">
                          <a:solidFill>
                            <a:srgbClr val="F2EDE6"/>
                          </a:solidFill>
                          <a:latin typeface="Meiryo" pitchFamily="34" charset="0"/>
                          <a:ea typeface="Meiryo" pitchFamily="34" charset="-122"/>
                          <a:cs typeface="Meiryo" pitchFamily="34" charset="-120"/>
                        </a:rPr>
                        <a:t>10</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17111A"/>
                    </a:solidFill>
                  </a:tcPr>
                </a:tc>
                <a:tc>
                  <a:txBody>
                    <a:bodyPr/>
                    <a:lstStyle/>
                    <a:p>
                      <a:pPr algn="ctr" indent="0" marL="0">
                        <a:buNone/>
                      </a:pPr>
                      <a:r>
                        <a:rPr lang="en-US" sz="1100" b="1" dirty="0">
                          <a:solidFill>
                            <a:srgbClr val="7FD1AE"/>
                          </a:solidFill>
                          <a:latin typeface="Meiryo" pitchFamily="34" charset="0"/>
                          <a:ea typeface="Meiryo" pitchFamily="34" charset="-122"/>
                          <a:cs typeface="Meiryo" pitchFamily="34" charset="-120"/>
                        </a:rPr>
                        <a:t>◎ 最優先</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17111A"/>
                    </a:solidFill>
                  </a:tcPr>
                </a:tc>
              </a:tr>
              <a:tr h="310896">
                <a:tc>
                  <a:txBody>
                    <a:bodyPr/>
                    <a:lstStyle/>
                    <a:p>
                      <a:pPr algn="l" indent="0" marL="0">
                        <a:buNone/>
                      </a:pPr>
                      <a:r>
                        <a:rPr lang="en-US" sz="1100" dirty="0">
                          <a:solidFill>
                            <a:srgbClr val="F2EDE6"/>
                          </a:solidFill>
                          <a:latin typeface="Meiryo" pitchFamily="34" charset="0"/>
                          <a:ea typeface="Meiryo" pitchFamily="34" charset="-122"/>
                          <a:cs typeface="Meiryo" pitchFamily="34" charset="-120"/>
                        </a:rPr>
                        <a:t>オークション参加</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17111A"/>
                    </a:solidFill>
                  </a:tcPr>
                </a:tc>
                <a:tc>
                  <a:txBody>
                    <a:bodyPr/>
                    <a:lstStyle/>
                    <a:p>
                      <a:pPr algn="ctr" indent="0" marL="0">
                        <a:buNone/>
                      </a:pPr>
                      <a:r>
                        <a:rPr lang="en-US" sz="1100" dirty="0">
                          <a:solidFill>
                            <a:srgbClr val="F2EDE6"/>
                          </a:solidFill>
                          <a:latin typeface="Meiryo" pitchFamily="34" charset="0"/>
                          <a:ea typeface="Meiryo" pitchFamily="34" charset="-122"/>
                          <a:cs typeface="Meiryo" pitchFamily="34" charset="-120"/>
                        </a:rPr>
                        <a:t>1.0円</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17111A"/>
                    </a:solidFill>
                  </a:tcPr>
                </a:tc>
                <a:tc>
                  <a:txBody>
                    <a:bodyPr/>
                    <a:lstStyle/>
                    <a:p>
                      <a:pPr algn="ctr" indent="0" marL="0">
                        <a:buNone/>
                      </a:pPr>
                      <a:r>
                        <a:rPr lang="en-US" sz="1100" b="1" dirty="0">
                          <a:solidFill>
                            <a:srgbClr val="7FD1AE"/>
                          </a:solidFill>
                          <a:latin typeface="Meiryo" pitchFamily="34" charset="0"/>
                          <a:ea typeface="Meiryo" pitchFamily="34" charset="-122"/>
                          <a:cs typeface="Meiryo" pitchFamily="34" charset="-120"/>
                        </a:rPr>
                        <a:t>30</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17111A"/>
                    </a:solidFill>
                  </a:tcPr>
                </a:tc>
                <a:tc>
                  <a:txBody>
                    <a:bodyPr/>
                    <a:lstStyle/>
                    <a:p>
                      <a:pPr algn="ctr" indent="0" marL="0">
                        <a:buNone/>
                      </a:pPr>
                      <a:r>
                        <a:rPr lang="en-US" sz="1100" dirty="0">
                          <a:solidFill>
                            <a:srgbClr val="F2EDE6"/>
                          </a:solidFill>
                          <a:latin typeface="Meiryo" pitchFamily="34" charset="0"/>
                          <a:ea typeface="Meiryo" pitchFamily="34" charset="-122"/>
                          <a:cs typeface="Meiryo" pitchFamily="34" charset="-120"/>
                        </a:rPr>
                        <a:t>30</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17111A"/>
                    </a:solidFill>
                  </a:tcPr>
                </a:tc>
                <a:tc>
                  <a:txBody>
                    <a:bodyPr/>
                    <a:lstStyle/>
                    <a:p>
                      <a:pPr algn="ctr" indent="0" marL="0">
                        <a:buNone/>
                      </a:pPr>
                      <a:r>
                        <a:rPr lang="en-US" sz="1100" b="1" dirty="0">
                          <a:solidFill>
                            <a:srgbClr val="7FD1AE"/>
                          </a:solidFill>
                          <a:latin typeface="Meiryo" pitchFamily="34" charset="0"/>
                          <a:ea typeface="Meiryo" pitchFamily="34" charset="-122"/>
                          <a:cs typeface="Meiryo" pitchFamily="34" charset="-120"/>
                        </a:rPr>
                        <a:t>◎ 優先誘導</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17111A"/>
                    </a:solidFill>
                  </a:tcPr>
                </a:tc>
              </a:tr>
              <a:tr h="310896">
                <a:tc>
                  <a:txBody>
                    <a:bodyPr/>
                    <a:lstStyle/>
                    <a:p>
                      <a:pPr algn="l" indent="0" marL="0">
                        <a:buNone/>
                      </a:pPr>
                      <a:r>
                        <a:rPr lang="en-US" sz="1100" dirty="0">
                          <a:solidFill>
                            <a:srgbClr val="F2EDE6"/>
                          </a:solidFill>
                          <a:latin typeface="Meiryo" pitchFamily="34" charset="0"/>
                          <a:ea typeface="Meiryo" pitchFamily="34" charset="-122"/>
                          <a:cs typeface="Meiryo" pitchFamily="34" charset="-120"/>
                        </a:rPr>
                        <a:t>ワインスクール受講料</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17111A"/>
                    </a:solidFill>
                  </a:tcPr>
                </a:tc>
                <a:tc>
                  <a:txBody>
                    <a:bodyPr/>
                    <a:lstStyle/>
                    <a:p>
                      <a:pPr algn="ctr" indent="0" marL="0">
                        <a:buNone/>
                      </a:pPr>
                      <a:r>
                        <a:rPr lang="en-US" sz="1100" dirty="0">
                          <a:solidFill>
                            <a:srgbClr val="F2EDE6"/>
                          </a:solidFill>
                          <a:latin typeface="Meiryo" pitchFamily="34" charset="0"/>
                          <a:ea typeface="Meiryo" pitchFamily="34" charset="-122"/>
                          <a:cs typeface="Meiryo" pitchFamily="34" charset="-120"/>
                        </a:rPr>
                        <a:t>1.0円</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17111A"/>
                    </a:solidFill>
                  </a:tcPr>
                </a:tc>
                <a:tc>
                  <a:txBody>
                    <a:bodyPr/>
                    <a:lstStyle/>
                    <a:p>
                      <a:pPr algn="ctr" indent="0" marL="0">
                        <a:buNone/>
                      </a:pPr>
                      <a:r>
                        <a:rPr lang="en-US" sz="1100" dirty="0">
                          <a:solidFill>
                            <a:srgbClr val="D96A6A"/>
                          </a:solidFill>
                          <a:latin typeface="Meiryo" pitchFamily="34" charset="0"/>
                          <a:ea typeface="Meiryo" pitchFamily="34" charset="-122"/>
                          <a:cs typeface="Meiryo" pitchFamily="34" charset="-120"/>
                        </a:rPr>
                        <a:t>80</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17111A"/>
                    </a:solidFill>
                  </a:tcPr>
                </a:tc>
                <a:tc>
                  <a:txBody>
                    <a:bodyPr/>
                    <a:lstStyle/>
                    <a:p>
                      <a:pPr algn="ctr" indent="0" marL="0">
                        <a:buNone/>
                      </a:pPr>
                      <a:r>
                        <a:rPr lang="en-US" sz="1100" dirty="0">
                          <a:solidFill>
                            <a:srgbClr val="F2EDE6"/>
                          </a:solidFill>
                          <a:latin typeface="Meiryo" pitchFamily="34" charset="0"/>
                          <a:ea typeface="Meiryo" pitchFamily="34" charset="-122"/>
                          <a:cs typeface="Meiryo" pitchFamily="34" charset="-120"/>
                        </a:rPr>
                        <a:t>80</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17111A"/>
                    </a:solidFill>
                  </a:tcPr>
                </a:tc>
                <a:tc>
                  <a:txBody>
                    <a:bodyPr/>
                    <a:lstStyle/>
                    <a:p>
                      <a:pPr algn="ctr" indent="0" marL="0">
                        <a:buNone/>
                      </a:pPr>
                      <a:r>
                        <a:rPr lang="en-US" sz="1100" dirty="0">
                          <a:solidFill>
                            <a:srgbClr val="E0A458"/>
                          </a:solidFill>
                          <a:latin typeface="Meiryo" pitchFamily="34" charset="0"/>
                          <a:ea typeface="Meiryo" pitchFamily="34" charset="-122"/>
                          <a:cs typeface="Meiryo" pitchFamily="34" charset="-120"/>
                        </a:rPr>
                        <a:t>上限管理</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17111A"/>
                    </a:solidFill>
                  </a:tcPr>
                </a:tc>
              </a:tr>
              <a:tr h="310896">
                <a:tc>
                  <a:txBody>
                    <a:bodyPr/>
                    <a:lstStyle/>
                    <a:p>
                      <a:pPr algn="l" indent="0" marL="0">
                        <a:buNone/>
                      </a:pPr>
                      <a:r>
                        <a:rPr lang="en-US" sz="1100" dirty="0">
                          <a:solidFill>
                            <a:srgbClr val="F2EDE6"/>
                          </a:solidFill>
                          <a:latin typeface="Meiryo" pitchFamily="34" charset="0"/>
                          <a:ea typeface="Meiryo" pitchFamily="34" charset="-122"/>
                          <a:cs typeface="Meiryo" pitchFamily="34" charset="-120"/>
                        </a:rPr>
                        <a:t>会員交流イベント参加費</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17111A"/>
                    </a:solidFill>
                  </a:tcPr>
                </a:tc>
                <a:tc>
                  <a:txBody>
                    <a:bodyPr/>
                    <a:lstStyle/>
                    <a:p>
                      <a:pPr algn="ctr" indent="0" marL="0">
                        <a:buNone/>
                      </a:pPr>
                      <a:r>
                        <a:rPr lang="en-US" sz="1100" dirty="0">
                          <a:solidFill>
                            <a:srgbClr val="F2EDE6"/>
                          </a:solidFill>
                          <a:latin typeface="Meiryo" pitchFamily="34" charset="0"/>
                          <a:ea typeface="Meiryo" pitchFamily="34" charset="-122"/>
                          <a:cs typeface="Meiryo" pitchFamily="34" charset="-120"/>
                        </a:rPr>
                        <a:t>1.0円</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17111A"/>
                    </a:solidFill>
                  </a:tcPr>
                </a:tc>
                <a:tc>
                  <a:txBody>
                    <a:bodyPr/>
                    <a:lstStyle/>
                    <a:p>
                      <a:pPr algn="ctr" indent="0" marL="0">
                        <a:buNone/>
                      </a:pPr>
                      <a:r>
                        <a:rPr lang="en-US" sz="1100" dirty="0">
                          <a:solidFill>
                            <a:srgbClr val="E0A458"/>
                          </a:solidFill>
                          <a:latin typeface="Meiryo" pitchFamily="34" charset="0"/>
                          <a:ea typeface="Meiryo" pitchFamily="34" charset="-122"/>
                          <a:cs typeface="Meiryo" pitchFamily="34" charset="-120"/>
                        </a:rPr>
                        <a:t>50</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17111A"/>
                    </a:solidFill>
                  </a:tcPr>
                </a:tc>
                <a:tc>
                  <a:txBody>
                    <a:bodyPr/>
                    <a:lstStyle/>
                    <a:p>
                      <a:pPr algn="ctr" indent="0" marL="0">
                        <a:buNone/>
                      </a:pPr>
                      <a:r>
                        <a:rPr lang="en-US" sz="1100" dirty="0">
                          <a:solidFill>
                            <a:srgbClr val="F2EDE6"/>
                          </a:solidFill>
                          <a:latin typeface="Meiryo" pitchFamily="34" charset="0"/>
                          <a:ea typeface="Meiryo" pitchFamily="34" charset="-122"/>
                          <a:cs typeface="Meiryo" pitchFamily="34" charset="-120"/>
                        </a:rPr>
                        <a:t>50</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17111A"/>
                    </a:solidFill>
                  </a:tcPr>
                </a:tc>
                <a:tc>
                  <a:txBody>
                    <a:bodyPr/>
                    <a:lstStyle/>
                    <a:p>
                      <a:pPr algn="ctr" indent="0" marL="0">
                        <a:buNone/>
                      </a:pPr>
                      <a:r>
                        <a:rPr lang="en-US" sz="1100" dirty="0">
                          <a:solidFill>
                            <a:srgbClr val="F2EDE6"/>
                          </a:solidFill>
                          <a:latin typeface="Meiryo" pitchFamily="34" charset="0"/>
                          <a:ea typeface="Meiryo" pitchFamily="34" charset="-122"/>
                          <a:cs typeface="Meiryo" pitchFamily="34" charset="-120"/>
                        </a:rPr>
                        <a:t>○</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17111A"/>
                    </a:solidFill>
                  </a:tcPr>
                </a:tc>
              </a:tr>
              <a:tr h="310896">
                <a:tc>
                  <a:txBody>
                    <a:bodyPr/>
                    <a:lstStyle/>
                    <a:p>
                      <a:pPr algn="l" indent="0" marL="0">
                        <a:buNone/>
                      </a:pPr>
                      <a:r>
                        <a:rPr lang="en-US" sz="1100" dirty="0">
                          <a:solidFill>
                            <a:srgbClr val="F2EDE6"/>
                          </a:solidFill>
                          <a:latin typeface="Meiryo" pitchFamily="34" charset="0"/>
                          <a:ea typeface="Meiryo" pitchFamily="34" charset="-122"/>
                          <a:cs typeface="Meiryo" pitchFamily="34" charset="-120"/>
                        </a:rPr>
                        <a:t>ワイナート年間購読</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17111A"/>
                    </a:solidFill>
                  </a:tcPr>
                </a:tc>
                <a:tc>
                  <a:txBody>
                    <a:bodyPr/>
                    <a:lstStyle/>
                    <a:p>
                      <a:pPr algn="ctr" indent="0" marL="0">
                        <a:buNone/>
                      </a:pPr>
                      <a:r>
                        <a:rPr lang="en-US" sz="1100" dirty="0">
                          <a:solidFill>
                            <a:srgbClr val="F2EDE6"/>
                          </a:solidFill>
                          <a:latin typeface="Meiryo" pitchFamily="34" charset="0"/>
                          <a:ea typeface="Meiryo" pitchFamily="34" charset="-122"/>
                          <a:cs typeface="Meiryo" pitchFamily="34" charset="-120"/>
                        </a:rPr>
                        <a:t>1.0円</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17111A"/>
                    </a:solidFill>
                  </a:tcPr>
                </a:tc>
                <a:tc>
                  <a:txBody>
                    <a:bodyPr/>
                    <a:lstStyle/>
                    <a:p>
                      <a:pPr algn="ctr" indent="0" marL="0">
                        <a:buNone/>
                      </a:pPr>
                      <a:r>
                        <a:rPr lang="en-US" sz="1100" dirty="0">
                          <a:solidFill>
                            <a:srgbClr val="E0A458"/>
                          </a:solidFill>
                          <a:latin typeface="Meiryo" pitchFamily="34" charset="0"/>
                          <a:ea typeface="Meiryo" pitchFamily="34" charset="-122"/>
                          <a:cs typeface="Meiryo" pitchFamily="34" charset="-120"/>
                        </a:rPr>
                        <a:t>50</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17111A"/>
                    </a:solidFill>
                  </a:tcPr>
                </a:tc>
                <a:tc>
                  <a:txBody>
                    <a:bodyPr/>
                    <a:lstStyle/>
                    <a:p>
                      <a:pPr algn="ctr" indent="0" marL="0">
                        <a:buNone/>
                      </a:pPr>
                      <a:r>
                        <a:rPr lang="en-US" sz="1100" dirty="0">
                          <a:solidFill>
                            <a:srgbClr val="F2EDE6"/>
                          </a:solidFill>
                          <a:latin typeface="Meiryo" pitchFamily="34" charset="0"/>
                          <a:ea typeface="Meiryo" pitchFamily="34" charset="-122"/>
                          <a:cs typeface="Meiryo" pitchFamily="34" charset="-120"/>
                        </a:rPr>
                        <a:t>50</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17111A"/>
                    </a:solidFill>
                  </a:tcPr>
                </a:tc>
                <a:tc>
                  <a:txBody>
                    <a:bodyPr/>
                    <a:lstStyle/>
                    <a:p>
                      <a:pPr algn="ctr" indent="0" marL="0">
                        <a:buNone/>
                      </a:pPr>
                      <a:r>
                        <a:rPr lang="en-US" sz="1100" dirty="0">
                          <a:solidFill>
                            <a:srgbClr val="F2EDE6"/>
                          </a:solidFill>
                          <a:latin typeface="Meiryo" pitchFamily="34" charset="0"/>
                          <a:ea typeface="Meiryo" pitchFamily="34" charset="-122"/>
                          <a:cs typeface="Meiryo" pitchFamily="34" charset="-120"/>
                        </a:rPr>
                        <a:t>○</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17111A"/>
                    </a:solidFill>
                  </a:tcPr>
                </a:tc>
              </a:tr>
              <a:tr h="310896">
                <a:tc>
                  <a:txBody>
                    <a:bodyPr/>
                    <a:lstStyle/>
                    <a:p>
                      <a:pPr algn="l" indent="0" marL="0">
                        <a:buNone/>
                      </a:pPr>
                      <a:r>
                        <a:rPr lang="en-US" sz="1100" dirty="0">
                          <a:solidFill>
                            <a:srgbClr val="F2EDE6"/>
                          </a:solidFill>
                          <a:latin typeface="Meiryo" pitchFamily="34" charset="0"/>
                          <a:ea typeface="Meiryo" pitchFamily="34" charset="-122"/>
                          <a:cs typeface="Meiryo" pitchFamily="34" charset="-120"/>
                        </a:rPr>
                        <a:t>ワイン追加購入</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17111A"/>
                    </a:solidFill>
                  </a:tcPr>
                </a:tc>
                <a:tc>
                  <a:txBody>
                    <a:bodyPr/>
                    <a:lstStyle/>
                    <a:p>
                      <a:pPr algn="ctr" indent="0" marL="0">
                        <a:buNone/>
                      </a:pPr>
                      <a:r>
                        <a:rPr lang="en-US" sz="1100" dirty="0">
                          <a:solidFill>
                            <a:srgbClr val="F2EDE6"/>
                          </a:solidFill>
                          <a:latin typeface="Meiryo" pitchFamily="34" charset="0"/>
                          <a:ea typeface="Meiryo" pitchFamily="34" charset="-122"/>
                          <a:cs typeface="Meiryo" pitchFamily="34" charset="-120"/>
                        </a:rPr>
                        <a:t>1.0円</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17111A"/>
                    </a:solidFill>
                  </a:tcPr>
                </a:tc>
                <a:tc>
                  <a:txBody>
                    <a:bodyPr/>
                    <a:lstStyle/>
                    <a:p>
                      <a:pPr algn="ctr" indent="0" marL="0">
                        <a:buNone/>
                      </a:pPr>
                      <a:r>
                        <a:rPr lang="en-US" sz="1100" dirty="0">
                          <a:solidFill>
                            <a:srgbClr val="D96A6A"/>
                          </a:solidFill>
                          <a:latin typeface="Meiryo" pitchFamily="34" charset="0"/>
                          <a:ea typeface="Meiryo" pitchFamily="34" charset="-122"/>
                          <a:cs typeface="Meiryo" pitchFamily="34" charset="-120"/>
                        </a:rPr>
                        <a:t>80</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17111A"/>
                    </a:solidFill>
                  </a:tcPr>
                </a:tc>
                <a:tc>
                  <a:txBody>
                    <a:bodyPr/>
                    <a:lstStyle/>
                    <a:p>
                      <a:pPr algn="ctr" indent="0" marL="0">
                        <a:buNone/>
                      </a:pPr>
                      <a:r>
                        <a:rPr lang="en-US" sz="1100" dirty="0">
                          <a:solidFill>
                            <a:srgbClr val="F2EDE6"/>
                          </a:solidFill>
                          <a:latin typeface="Meiryo" pitchFamily="34" charset="0"/>
                          <a:ea typeface="Meiryo" pitchFamily="34" charset="-122"/>
                          <a:cs typeface="Meiryo" pitchFamily="34" charset="-120"/>
                        </a:rPr>
                        <a:t>80</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17111A"/>
                    </a:solidFill>
                  </a:tcPr>
                </a:tc>
                <a:tc>
                  <a:txBody>
                    <a:bodyPr/>
                    <a:lstStyle/>
                    <a:p>
                      <a:pPr algn="ctr" indent="0" marL="0">
                        <a:buNone/>
                      </a:pPr>
                      <a:r>
                        <a:rPr lang="en-US" sz="1100" dirty="0">
                          <a:solidFill>
                            <a:srgbClr val="E0A458"/>
                          </a:solidFill>
                          <a:latin typeface="Meiryo" pitchFamily="34" charset="0"/>
                          <a:ea typeface="Meiryo" pitchFamily="34" charset="-122"/>
                          <a:cs typeface="Meiryo" pitchFamily="34" charset="-120"/>
                        </a:rPr>
                        <a:t>上限20%</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17111A"/>
                    </a:solidFill>
                  </a:tcPr>
                </a:tc>
              </a:tr>
            </a:tbl>
          </a:graphicData>
        </a:graphic>
      </p:graphicFrame>
      <p:sp>
        <p:nvSpPr>
          <p:cNvPr id="7" name="Text 4"/>
          <p:cNvSpPr txBox="1"/>
          <p:nvPr/>
        </p:nvSpPr>
        <p:spPr>
          <a:xfrm>
            <a:off x="566928" y="4645152"/>
            <a:ext cx="11027664" cy="219456"/>
          </a:xfrm>
          <a:prstGeom prst="rect">
            <a:avLst/>
          </a:prstGeom>
          <a:noFill/>
          <a:ln/>
        </p:spPr>
        <p:txBody>
          <a:bodyPr wrap="square" lIns="0" tIns="0" rIns="0" bIns="0" rtlCol="0" anchor="ctr"/>
          <a:lstStyle/>
          <a:p>
            <a:pPr indent="0" marL="0">
              <a:buNone/>
            </a:pPr>
            <a:r>
              <a:rPr lang="en-US" sz="950" dirty="0">
                <a:solidFill>
                  <a:srgbClr val="C9A227"/>
                </a:solidFill>
                <a:latin typeface="Meiryo" pitchFamily="34" charset="0"/>
                <a:ea typeface="Meiryo" pitchFamily="34" charset="-122"/>
                <a:cs typeface="Meiryo" pitchFamily="34" charset="-120"/>
              </a:rPr>
              <a:t>想定ミックス（利用マイル内・%）：直営27.8／グランメゾン20.0／CLUB13.3／オークション13.3／スクール10.0／イベント7.0／ワイナート3.0／追加購入5.6　→　発行ベース51.1%</a:t>
            </a:r>
            <a:endParaRPr lang="en-US" sz="950" dirty="0"/>
          </a:p>
        </p:txBody>
      </p:sp>
      <p:sp>
        <p:nvSpPr>
          <p:cNvPr id="8" name="Shape 5"/>
          <p:cNvSpPr/>
          <p:nvPr/>
        </p:nvSpPr>
        <p:spPr>
          <a:xfrm>
            <a:off x="566928" y="4956048"/>
            <a:ext cx="5394960" cy="1097280"/>
          </a:xfrm>
          <a:prstGeom prst="roundRect">
            <a:avLst>
              <a:gd name="adj" fmla="val 5000"/>
            </a:avLst>
          </a:prstGeom>
          <a:solidFill>
            <a:srgbClr val="7B1E3A"/>
          </a:solidFill>
          <a:ln w="12700">
            <a:solidFill>
              <a:srgbClr val="7B1E3A"/>
            </a:solidFill>
            <a:prstDash val="solid"/>
          </a:ln>
          <a:effectLst>
            <a:outerShdw sx="100000" sy="100000" kx="0" ky="0" algn="bl" rotWithShape="0" blurRad="127000" dist="25400" dir="5400000">
              <a:srgbClr val="000000">
                <a:alpha val="35000"/>
              </a:srgbClr>
            </a:outerShdw>
          </a:effectLst>
        </p:spPr>
      </p:sp>
      <p:sp>
        <p:nvSpPr>
          <p:cNvPr id="9" name="Text 6"/>
          <p:cNvSpPr txBox="1"/>
          <p:nvPr/>
        </p:nvSpPr>
        <p:spPr>
          <a:xfrm>
            <a:off x="932688" y="5065776"/>
            <a:ext cx="4663440" cy="292608"/>
          </a:xfrm>
          <a:prstGeom prst="rect">
            <a:avLst/>
          </a:prstGeom>
          <a:noFill/>
          <a:ln/>
        </p:spPr>
        <p:txBody>
          <a:bodyPr wrap="square" lIns="0" tIns="0" rIns="0" bIns="0" rtlCol="0" anchor="ctr"/>
          <a:lstStyle/>
          <a:p>
            <a:pPr indent="0" marL="0">
              <a:buNone/>
            </a:pPr>
            <a:r>
              <a:rPr lang="en-US" sz="1600" b="1" dirty="0">
                <a:solidFill>
                  <a:srgbClr val="E0A458"/>
                </a:solidFill>
                <a:latin typeface="Meiryo" pitchFamily="34" charset="0"/>
                <a:ea typeface="Meiryo" pitchFamily="34" charset="-122"/>
                <a:cs typeface="Meiryo" pitchFamily="34" charset="-120"/>
              </a:rPr>
              <a:t>損益分岐は 47.3%。想定は 51.1%。</a:t>
            </a:r>
            <a:endParaRPr lang="en-US" sz="1600" dirty="0"/>
          </a:p>
        </p:txBody>
      </p:sp>
      <p:sp>
        <p:nvSpPr>
          <p:cNvPr id="10" name="Text 7"/>
          <p:cNvSpPr txBox="1"/>
          <p:nvPr/>
        </p:nvSpPr>
        <p:spPr>
          <a:xfrm>
            <a:off x="932688" y="5358384"/>
            <a:ext cx="4663440" cy="603504"/>
          </a:xfrm>
          <a:prstGeom prst="rect">
            <a:avLst/>
          </a:prstGeom>
          <a:noFill/>
          <a:ln/>
        </p:spPr>
        <p:txBody>
          <a:bodyPr wrap="square" lIns="0" tIns="0" rIns="0" bIns="0" rtlCol="0" anchor="ctr"/>
          <a:lstStyle/>
          <a:p>
            <a:pPr indent="0" marL="0">
              <a:lnSpc>
                <a:spcPts val="1400"/>
              </a:lnSpc>
              <a:buNone/>
            </a:pPr>
            <a:r>
              <a:rPr lang="en-US" sz="1000" dirty="0">
                <a:solidFill>
                  <a:srgbClr val="F2EDE6"/>
                </a:solidFill>
                <a:latin typeface="Meiryo" pitchFamily="34" charset="0"/>
                <a:ea typeface="Meiryo" pitchFamily="34" charset="-122"/>
                <a:cs typeface="Meiryo" pitchFamily="34" charset="-120"/>
              </a:rPr>
              <a:t>（手数料2.75% − 保管1.05% ＋ オークション0.5%）÷ 発行4.65% ＝ 47.3%。想定は3.8ポイント超えており、ストック現金は年▲0.18%。成功報酬1.8%を含めて+1.62%が実力です。</a:t>
            </a:r>
            <a:endParaRPr lang="en-US" sz="1000" dirty="0"/>
          </a:p>
        </p:txBody>
      </p:sp>
      <p:sp>
        <p:nvSpPr>
          <p:cNvPr id="11" name="Shape 8"/>
          <p:cNvSpPr/>
          <p:nvPr/>
        </p:nvSpPr>
        <p:spPr>
          <a:xfrm>
            <a:off x="6199632" y="4956048"/>
            <a:ext cx="5394960" cy="1097280"/>
          </a:xfrm>
          <a:prstGeom prst="roundRect">
            <a:avLst>
              <a:gd name="adj" fmla="val 5000"/>
            </a:avLst>
          </a:prstGeom>
          <a:solidFill>
            <a:srgbClr val="17111A"/>
          </a:solidFill>
          <a:ln w="12700">
            <a:solidFill>
              <a:srgbClr val="17111A"/>
            </a:solidFill>
            <a:prstDash val="solid"/>
          </a:ln>
          <a:effectLst>
            <a:outerShdw sx="100000" sy="100000" kx="0" ky="0" algn="bl" rotWithShape="0" blurRad="127000" dist="25400" dir="5400000">
              <a:srgbClr val="000000">
                <a:alpha val="35000"/>
              </a:srgbClr>
            </a:outerShdw>
          </a:effectLst>
        </p:spPr>
      </p:sp>
      <p:sp>
        <p:nvSpPr>
          <p:cNvPr id="12" name="Text 9"/>
          <p:cNvSpPr txBox="1"/>
          <p:nvPr/>
        </p:nvSpPr>
        <p:spPr>
          <a:xfrm>
            <a:off x="6565392" y="5065776"/>
            <a:ext cx="4663440" cy="292608"/>
          </a:xfrm>
          <a:prstGeom prst="rect">
            <a:avLst/>
          </a:prstGeom>
          <a:noFill/>
          <a:ln/>
        </p:spPr>
        <p:txBody>
          <a:bodyPr wrap="square" lIns="0" tIns="0" rIns="0" bIns="0" rtlCol="0" anchor="ctr"/>
          <a:lstStyle/>
          <a:p>
            <a:pPr indent="0" marL="0">
              <a:buNone/>
            </a:pPr>
            <a:r>
              <a:rPr lang="en-US" sz="1500" b="1" dirty="0">
                <a:solidFill>
                  <a:srgbClr val="E0A458"/>
                </a:solidFill>
                <a:latin typeface="Meiryo" pitchFamily="34" charset="0"/>
                <a:ea typeface="Meiryo" pitchFamily="34" charset="-122"/>
                <a:cs typeface="Meiryo" pitchFamily="34" charset="-120"/>
              </a:rPr>
              <a:t>余裕は薄い。だから誘導の設計で決まる。</a:t>
            </a:r>
            <a:endParaRPr lang="en-US" sz="1500" dirty="0"/>
          </a:p>
        </p:txBody>
      </p:sp>
      <p:sp>
        <p:nvSpPr>
          <p:cNvPr id="13" name="Text 10"/>
          <p:cNvSpPr txBox="1"/>
          <p:nvPr/>
        </p:nvSpPr>
        <p:spPr>
          <a:xfrm>
            <a:off x="6565392" y="5358384"/>
            <a:ext cx="4663440" cy="603504"/>
          </a:xfrm>
          <a:prstGeom prst="rect">
            <a:avLst/>
          </a:prstGeom>
          <a:noFill/>
          <a:ln/>
        </p:spPr>
        <p:txBody>
          <a:bodyPr wrap="square" lIns="0" tIns="0" rIns="0" bIns="0" rtlCol="0" anchor="ctr"/>
          <a:lstStyle/>
          <a:p>
            <a:pPr indent="0" marL="0">
              <a:lnSpc>
                <a:spcPts val="1400"/>
              </a:lnSpc>
              <a:buNone/>
            </a:pPr>
            <a:r>
              <a:rPr lang="en-US" sz="1000" dirty="0">
                <a:solidFill>
                  <a:srgbClr val="A2908C"/>
                </a:solidFill>
                <a:latin typeface="Meiryo" pitchFamily="34" charset="0"/>
                <a:ea typeface="Meiryo" pitchFamily="34" charset="-122"/>
                <a:cs typeface="Meiryo" pitchFamily="34" charset="-120"/>
              </a:rPr>
              <a:t>直営飲食1.0円に偏るほど90%へ近づきます。原価10%のCLUB会費充当と30%のオークション参加へ誘導するほど収支は改善し、47.3%に届けばストック単体で黒字化します。</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00000"/>
        </a:solidFill>
      </p:bgPr>
    </p:bg>
    <p:spTree>
      <p:nvGrpSpPr>
        <p:cNvPr id="1" name=""/>
        <p:cNvGrpSpPr/>
        <p:nvPr/>
      </p:nvGrpSpPr>
      <p:grpSpPr>
        <a:xfrm>
          <a:off x="0" y="0"/>
          <a:ext cx="0" cy="0"/>
          <a:chOff x="0" y="0"/>
          <a:chExt cx="0" cy="0"/>
        </a:xfrm>
      </p:grpSpPr>
      <p:sp>
        <p:nvSpPr>
          <p:cNvPr id="2" name="Text 0"/>
          <p:cNvSpPr txBox="1"/>
          <p:nvPr/>
        </p:nvSpPr>
        <p:spPr>
          <a:xfrm>
            <a:off x="566928" y="310896"/>
            <a:ext cx="11027664" cy="237744"/>
          </a:xfrm>
          <a:prstGeom prst="rect">
            <a:avLst/>
          </a:prstGeom>
          <a:noFill/>
          <a:ln/>
        </p:spPr>
        <p:txBody>
          <a:bodyPr wrap="square" lIns="0" tIns="0" rIns="0" bIns="0" rtlCol="0" anchor="ctr"/>
          <a:lstStyle/>
          <a:p>
            <a:pPr indent="0" marL="0">
              <a:buNone/>
            </a:pPr>
            <a:r>
              <a:rPr lang="en-US" sz="1050" b="1" spc="300" kern="0" dirty="0">
                <a:solidFill>
                  <a:srgbClr val="C9A227"/>
                </a:solidFill>
                <a:latin typeface="Arial" pitchFamily="34" charset="0"/>
                <a:ea typeface="Arial" pitchFamily="34" charset="-122"/>
                <a:cs typeface="Arial" pitchFamily="34" charset="-120"/>
              </a:rPr>
              <a:t>RETURN</a:t>
            </a:r>
            <a:endParaRPr lang="en-US" sz="1050" dirty="0"/>
          </a:p>
        </p:txBody>
      </p:sp>
      <p:sp>
        <p:nvSpPr>
          <p:cNvPr id="3" name="Text 1"/>
          <p:cNvSpPr txBox="1"/>
          <p:nvPr/>
        </p:nvSpPr>
        <p:spPr>
          <a:xfrm>
            <a:off x="566928" y="566928"/>
            <a:ext cx="11027664" cy="548640"/>
          </a:xfrm>
          <a:prstGeom prst="rect">
            <a:avLst/>
          </a:prstGeom>
          <a:noFill/>
          <a:ln/>
        </p:spPr>
        <p:txBody>
          <a:bodyPr wrap="square" lIns="0" tIns="0" rIns="0" bIns="0" rtlCol="0" anchor="ctr"/>
          <a:lstStyle/>
          <a:p>
            <a:pPr indent="0" marL="0">
              <a:buNone/>
            </a:pPr>
            <a:r>
              <a:rPr lang="en-US" sz="2900" b="1" dirty="0">
                <a:solidFill>
                  <a:srgbClr val="F2EDE6"/>
                </a:solidFill>
                <a:latin typeface="Meiryo" pitchFamily="34" charset="0"/>
                <a:ea typeface="Meiryo" pitchFamily="34" charset="-122"/>
                <a:cs typeface="Meiryo" pitchFamily="34" charset="-120"/>
              </a:rPr>
              <a:t>3年・5年・10年で、双方いくらになるか</a:t>
            </a:r>
            <a:endParaRPr lang="en-US" sz="2900" dirty="0"/>
          </a:p>
        </p:txBody>
      </p:sp>
      <p:sp>
        <p:nvSpPr>
          <p:cNvPr id="4" name="Text 2"/>
          <p:cNvSpPr txBox="1"/>
          <p:nvPr/>
        </p:nvSpPr>
        <p:spPr>
          <a:xfrm>
            <a:off x="566928" y="1152144"/>
            <a:ext cx="11027664" cy="310896"/>
          </a:xfrm>
          <a:prstGeom prst="rect">
            <a:avLst/>
          </a:prstGeom>
          <a:noFill/>
          <a:ln/>
        </p:spPr>
        <p:txBody>
          <a:bodyPr wrap="square" lIns="0" tIns="0" rIns="0" bIns="0" rtlCol="0" anchor="ctr"/>
          <a:lstStyle/>
          <a:p>
            <a:pPr indent="0" marL="0">
              <a:buNone/>
            </a:pPr>
            <a:r>
              <a:rPr lang="en-US" sz="1300" dirty="0">
                <a:solidFill>
                  <a:srgbClr val="A2908C"/>
                </a:solidFill>
                <a:latin typeface="Meiryo" pitchFamily="34" charset="0"/>
                <a:ea typeface="Meiryo" pitchFamily="34" charset="-122"/>
                <a:cs typeface="Meiryo" pitchFamily="34" charset="-120"/>
              </a:rPr>
              <a:t>ワイン100万円・年6%成長（単利）・成功報酬30%・仲介手数料なし。単体ベース。</a:t>
            </a:r>
            <a:endParaRPr lang="en-US" sz="1300" dirty="0"/>
          </a:p>
        </p:txBody>
      </p:sp>
      <p:sp>
        <p:nvSpPr>
          <p:cNvPr id="5" name="Text 3"/>
          <p:cNvSpPr txBox="1"/>
          <p:nvPr/>
        </p:nvSpPr>
        <p:spPr>
          <a:xfrm>
            <a:off x="566928" y="6437376"/>
            <a:ext cx="4572000" cy="219456"/>
          </a:xfrm>
          <a:prstGeom prst="rect">
            <a:avLst/>
          </a:prstGeom>
          <a:noFill/>
          <a:ln/>
        </p:spPr>
        <p:txBody>
          <a:bodyPr wrap="square" lIns="0" tIns="0" rIns="0" bIns="0" rtlCol="0" anchor="ctr"/>
          <a:lstStyle/>
          <a:p>
            <a:pPr indent="0" marL="0">
              <a:buNone/>
            </a:pPr>
            <a:r>
              <a:rPr lang="en-US" sz="850" dirty="0">
                <a:solidFill>
                  <a:srgbClr val="6B5A5F"/>
                </a:solidFill>
                <a:latin typeface="Arial" pitchFamily="34" charset="0"/>
                <a:ea typeface="Arial" pitchFamily="34" charset="-122"/>
                <a:cs typeface="Arial" pitchFamily="34" charset="-120"/>
              </a:rPr>
              <a:t>WineBank CONFIDENTIAL</a:t>
            </a:r>
            <a:endParaRPr lang="en-US" sz="85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66928" y="1645920"/>
          <a:ext cx="11027664" cy="914400"/>
        </p:xfrm>
        <a:graphic>
          <a:graphicData uri="http://schemas.openxmlformats.org/drawingml/2006/table">
            <a:tbl>
              <a:tblPr/>
              <a:tblGrid>
                <a:gridCol w="777240"/>
                <a:gridCol w="1371600"/>
                <a:gridCol w="1280160"/>
                <a:gridCol w="1325880"/>
                <a:gridCol w="1508760"/>
                <a:gridCol w="1188720"/>
                <a:gridCol w="1051560"/>
                <a:gridCol w="1371600"/>
                <a:gridCol w="1152144"/>
              </a:tblGrid>
              <a:tr h="512064">
                <a:tc>
                  <a:txBody>
                    <a:bodyPr/>
                    <a:lstStyle/>
                    <a:p>
                      <a:pPr algn="ctr" indent="0" marL="0">
                        <a:buNone/>
                      </a:pP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7B1E3A"/>
                    </a:solidFill>
                  </a:tcPr>
                </a:tc>
                <a:tc>
                  <a:txBody>
                    <a:bodyPr/>
                    <a:lstStyle/>
                    <a:p>
                      <a:pPr algn="ctr" indent="0" marL="0">
                        <a:buNone/>
                      </a:pPr>
                      <a:r>
                        <a:rPr lang="en-US" sz="1100" b="1" dirty="0">
                          <a:solidFill>
                            <a:srgbClr val="F2EDE6"/>
                          </a:solidFill>
                          <a:latin typeface="Meiryo" pitchFamily="34" charset="0"/>
                          <a:ea typeface="Meiryo" pitchFamily="34" charset="-122"/>
                          <a:cs typeface="Meiryo" pitchFamily="34" charset="-120"/>
                        </a:rPr>
                        <a:t>ワイン時価</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7B1E3A"/>
                    </a:solidFill>
                  </a:tcPr>
                </a:tc>
                <a:tc>
                  <a:txBody>
                    <a:bodyPr/>
                    <a:lstStyle/>
                    <a:p>
                      <a:pPr algn="ctr" indent="0" marL="0">
                        <a:buNone/>
                      </a:pPr>
                      <a:r>
                        <a:rPr lang="en-US" sz="1100" b="1" dirty="0">
                          <a:solidFill>
                            <a:srgbClr val="F2EDE6"/>
                          </a:solidFill>
                          <a:latin typeface="Meiryo" pitchFamily="34" charset="0"/>
                          <a:ea typeface="Meiryo" pitchFamily="34" charset="-122"/>
                          <a:cs typeface="Meiryo" pitchFamily="34" charset="-120"/>
                        </a:rPr>
                        <a:t>値上がり益</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7B1E3A"/>
                    </a:solidFill>
                  </a:tcPr>
                </a:tc>
                <a:tc>
                  <a:txBody>
                    <a:bodyPr/>
                    <a:lstStyle/>
                    <a:p>
                      <a:pPr algn="ctr" indent="0" marL="0">
                        <a:buNone/>
                      </a:pPr>
                      <a:r>
                        <a:rPr lang="en-US" sz="1100" b="1" dirty="0">
                          <a:solidFill>
                            <a:srgbClr val="F2EDE6"/>
                          </a:solidFill>
                          <a:latin typeface="Meiryo" pitchFamily="34" charset="0"/>
                          <a:ea typeface="Meiryo" pitchFamily="34" charset="-122"/>
                          <a:cs typeface="Meiryo" pitchFamily="34" charset="-120"/>
                        </a:rPr>
                        <a:t>成功報酬30%</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7B1E3A"/>
                    </a:solidFill>
                  </a:tcPr>
                </a:tc>
                <a:tc>
                  <a:txBody>
                    <a:bodyPr/>
                    <a:lstStyle/>
                    <a:p>
                      <a:pPr algn="ctr" indent="0" marL="0">
                        <a:buNone/>
                      </a:pPr>
                      <a:r>
                        <a:rPr lang="en-US" sz="1100" b="1" dirty="0">
                          <a:solidFill>
                            <a:srgbClr val="F2EDE6"/>
                          </a:solidFill>
                          <a:latin typeface="Meiryo" pitchFamily="34" charset="0"/>
                          <a:ea typeface="Meiryo" pitchFamily="34" charset="-122"/>
                          <a:cs typeface="Meiryo" pitchFamily="34" charset="-120"/>
                        </a:rPr>
                        <a:t>会員の累計利益</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7B1E3A"/>
                    </a:solidFill>
                  </a:tcPr>
                </a:tc>
                <a:tc>
                  <a:txBody>
                    <a:bodyPr/>
                    <a:lstStyle/>
                    <a:p>
                      <a:pPr algn="ctr" indent="0" marL="0">
                        <a:buNone/>
                      </a:pPr>
                      <a:r>
                        <a:rPr lang="en-US" sz="1100" b="1" dirty="0">
                          <a:solidFill>
                            <a:srgbClr val="F2EDE6"/>
                          </a:solidFill>
                          <a:latin typeface="Meiryo" pitchFamily="34" charset="0"/>
                          <a:ea typeface="Meiryo" pitchFamily="34" charset="-122"/>
                          <a:cs typeface="Meiryo" pitchFamily="34" charset="-120"/>
                        </a:rPr>
                        <a:t>会員 単純年率</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7B1E3A"/>
                    </a:solidFill>
                  </a:tcPr>
                </a:tc>
                <a:tc>
                  <a:txBody>
                    <a:bodyPr/>
                    <a:lstStyle/>
                    <a:p>
                      <a:pPr algn="ctr" indent="0" marL="0">
                        <a:buNone/>
                      </a:pPr>
                      <a:r>
                        <a:rPr lang="en-US" sz="1100" b="1" dirty="0">
                          <a:solidFill>
                            <a:srgbClr val="F2EDE6"/>
                          </a:solidFill>
                          <a:latin typeface="Meiryo" pitchFamily="34" charset="0"/>
                          <a:ea typeface="Meiryo" pitchFamily="34" charset="-122"/>
                          <a:cs typeface="Meiryo" pitchFamily="34" charset="-120"/>
                        </a:rPr>
                        <a:t>会員 CAGR</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7B1E3A"/>
                    </a:solidFill>
                  </a:tcPr>
                </a:tc>
                <a:tc>
                  <a:txBody>
                    <a:bodyPr/>
                    <a:lstStyle/>
                    <a:p>
                      <a:pPr algn="ctr" indent="0" marL="0">
                        <a:buNone/>
                      </a:pPr>
                      <a:r>
                        <a:rPr lang="en-US" sz="1100" b="1" dirty="0">
                          <a:solidFill>
                            <a:srgbClr val="F2EDE6"/>
                          </a:solidFill>
                          <a:latin typeface="Meiryo" pitchFamily="34" charset="0"/>
                          <a:ea typeface="Meiryo" pitchFamily="34" charset="-122"/>
                          <a:cs typeface="Meiryo" pitchFamily="34" charset="-120"/>
                        </a:rPr>
                        <a:t>当社の累計</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7B1E3A"/>
                    </a:solidFill>
                  </a:tcPr>
                </a:tc>
                <a:tc>
                  <a:txBody>
                    <a:bodyPr/>
                    <a:lstStyle/>
                    <a:p>
                      <a:pPr algn="ctr" indent="0" marL="0">
                        <a:buNone/>
                      </a:pPr>
                      <a:r>
                        <a:rPr lang="en-US" sz="1100" b="1" dirty="0">
                          <a:solidFill>
                            <a:srgbClr val="F2EDE6"/>
                          </a:solidFill>
                          <a:latin typeface="Meiryo" pitchFamily="34" charset="0"/>
                          <a:ea typeface="Meiryo" pitchFamily="34" charset="-122"/>
                          <a:cs typeface="Meiryo" pitchFamily="34" charset="-120"/>
                        </a:rPr>
                        <a:t>当社 年率</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7B1E3A"/>
                    </a:solidFill>
                  </a:tcPr>
                </a:tc>
              </a:tr>
              <a:tr h="457200">
                <a:tc>
                  <a:txBody>
                    <a:bodyPr/>
                    <a:lstStyle/>
                    <a:p>
                      <a:pPr algn="l" indent="0" marL="0">
                        <a:buNone/>
                      </a:pPr>
                      <a:r>
                        <a:rPr lang="en-US" sz="1100" b="1" dirty="0">
                          <a:solidFill>
                            <a:srgbClr val="F2EDE6"/>
                          </a:solidFill>
                          <a:latin typeface="Meiryo" pitchFamily="34" charset="0"/>
                          <a:ea typeface="Meiryo" pitchFamily="34" charset="-122"/>
                          <a:cs typeface="Meiryo" pitchFamily="34" charset="-120"/>
                        </a:rPr>
                        <a:t>3年</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61A24"/>
                    </a:solidFill>
                  </a:tcPr>
                </a:tc>
                <a:tc>
                  <a:txBody>
                    <a:bodyPr/>
                    <a:lstStyle/>
                    <a:p>
                      <a:pPr algn="ctr" indent="0" marL="0">
                        <a:buNone/>
                      </a:pPr>
                      <a:r>
                        <a:rPr lang="en-US" sz="1100" dirty="0">
                          <a:solidFill>
                            <a:srgbClr val="F2EDE6"/>
                          </a:solidFill>
                          <a:latin typeface="Meiryo" pitchFamily="34" charset="0"/>
                          <a:ea typeface="Meiryo" pitchFamily="34" charset="-122"/>
                          <a:cs typeface="Meiryo" pitchFamily="34" charset="-120"/>
                        </a:rPr>
                        <a:t>1,180,000</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17111A"/>
                    </a:solidFill>
                  </a:tcPr>
                </a:tc>
                <a:tc>
                  <a:txBody>
                    <a:bodyPr/>
                    <a:lstStyle/>
                    <a:p>
                      <a:pPr algn="ctr" indent="0" marL="0">
                        <a:buNone/>
                      </a:pPr>
                      <a:r>
                        <a:rPr lang="en-US" sz="1100" dirty="0">
                          <a:solidFill>
                            <a:srgbClr val="F2EDE6"/>
                          </a:solidFill>
                          <a:latin typeface="Meiryo" pitchFamily="34" charset="0"/>
                          <a:ea typeface="Meiryo" pitchFamily="34" charset="-122"/>
                          <a:cs typeface="Meiryo" pitchFamily="34" charset="-120"/>
                        </a:rPr>
                        <a:t>180,000</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17111A"/>
                    </a:solidFill>
                  </a:tcPr>
                </a:tc>
                <a:tc>
                  <a:txBody>
                    <a:bodyPr/>
                    <a:lstStyle/>
                    <a:p>
                      <a:pPr algn="ctr" indent="0" marL="0">
                        <a:buNone/>
                      </a:pPr>
                      <a:r>
                        <a:rPr lang="en-US" sz="1100" dirty="0">
                          <a:solidFill>
                            <a:srgbClr val="F2EDE6"/>
                          </a:solidFill>
                          <a:latin typeface="Meiryo" pitchFamily="34" charset="0"/>
                          <a:ea typeface="Meiryo" pitchFamily="34" charset="-122"/>
                          <a:cs typeface="Meiryo" pitchFamily="34" charset="-120"/>
                        </a:rPr>
                        <a:t>54,000</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17111A"/>
                    </a:solidFill>
                  </a:tcPr>
                </a:tc>
                <a:tc>
                  <a:txBody>
                    <a:bodyPr/>
                    <a:lstStyle/>
                    <a:p>
                      <a:pPr algn="ctr" indent="0" marL="0">
                        <a:buNone/>
                      </a:pPr>
                      <a:r>
                        <a:rPr lang="en-US" sz="1100" b="1" dirty="0">
                          <a:solidFill>
                            <a:srgbClr val="7FD1AE"/>
                          </a:solidFill>
                          <a:latin typeface="Meiryo" pitchFamily="34" charset="0"/>
                          <a:ea typeface="Meiryo" pitchFamily="34" charset="-122"/>
                          <a:cs typeface="Meiryo" pitchFamily="34" charset="-120"/>
                        </a:rPr>
                        <a:t>163,500</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17111A"/>
                    </a:solidFill>
                  </a:tcPr>
                </a:tc>
                <a:tc>
                  <a:txBody>
                    <a:bodyPr/>
                    <a:lstStyle/>
                    <a:p>
                      <a:pPr algn="ctr" indent="0" marL="0">
                        <a:buNone/>
                      </a:pPr>
                      <a:r>
                        <a:rPr lang="en-US" sz="1100" dirty="0">
                          <a:solidFill>
                            <a:srgbClr val="7FD1AE"/>
                          </a:solidFill>
                          <a:latin typeface="Meiryo" pitchFamily="34" charset="0"/>
                          <a:ea typeface="Meiryo" pitchFamily="34" charset="-122"/>
                          <a:cs typeface="Meiryo" pitchFamily="34" charset="-120"/>
                        </a:rPr>
                        <a:t>5.45%</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17111A"/>
                    </a:solidFill>
                  </a:tcPr>
                </a:tc>
                <a:tc>
                  <a:txBody>
                    <a:bodyPr/>
                    <a:lstStyle/>
                    <a:p>
                      <a:pPr algn="ctr" indent="0" marL="0">
                        <a:buNone/>
                      </a:pPr>
                      <a:r>
                        <a:rPr lang="en-US" sz="1100" dirty="0">
                          <a:solidFill>
                            <a:srgbClr val="F2EDE6"/>
                          </a:solidFill>
                          <a:latin typeface="Meiryo" pitchFamily="34" charset="0"/>
                          <a:ea typeface="Meiryo" pitchFamily="34" charset="-122"/>
                          <a:cs typeface="Meiryo" pitchFamily="34" charset="-120"/>
                        </a:rPr>
                        <a:t>5.18%</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17111A"/>
                    </a:solidFill>
                  </a:tcPr>
                </a:tc>
                <a:tc>
                  <a:txBody>
                    <a:bodyPr/>
                    <a:lstStyle/>
                    <a:p>
                      <a:pPr algn="ctr" indent="0" marL="0">
                        <a:buNone/>
                      </a:pPr>
                      <a:r>
                        <a:rPr lang="en-US" sz="1100" b="1" dirty="0">
                          <a:solidFill>
                            <a:srgbClr val="C9A227"/>
                          </a:solidFill>
                          <a:latin typeface="Meiryo" pitchFamily="34" charset="0"/>
                          <a:ea typeface="Meiryo" pitchFamily="34" charset="-122"/>
                          <a:cs typeface="Meiryo" pitchFamily="34" charset="-120"/>
                        </a:rPr>
                        <a:t>58,634</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17111A"/>
                    </a:solidFill>
                  </a:tcPr>
                </a:tc>
                <a:tc>
                  <a:txBody>
                    <a:bodyPr/>
                    <a:lstStyle/>
                    <a:p>
                      <a:pPr algn="ctr" indent="0" marL="0">
                        <a:buNone/>
                      </a:pPr>
                      <a:r>
                        <a:rPr lang="en-US" sz="1100" dirty="0">
                          <a:solidFill>
                            <a:srgbClr val="F2EDE6"/>
                          </a:solidFill>
                          <a:latin typeface="Meiryo" pitchFamily="34" charset="0"/>
                          <a:ea typeface="Meiryo" pitchFamily="34" charset="-122"/>
                          <a:cs typeface="Meiryo" pitchFamily="34" charset="-120"/>
                        </a:rPr>
                        <a:t>1.95%</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17111A"/>
                    </a:solidFill>
                  </a:tcPr>
                </a:tc>
              </a:tr>
              <a:tr h="457200">
                <a:tc>
                  <a:txBody>
                    <a:bodyPr/>
                    <a:lstStyle/>
                    <a:p>
                      <a:pPr algn="l" indent="0" marL="0">
                        <a:buNone/>
                      </a:pPr>
                      <a:r>
                        <a:rPr lang="en-US" sz="1100" b="1" dirty="0">
                          <a:solidFill>
                            <a:srgbClr val="F2EDE6"/>
                          </a:solidFill>
                          <a:latin typeface="Meiryo" pitchFamily="34" charset="0"/>
                          <a:ea typeface="Meiryo" pitchFamily="34" charset="-122"/>
                          <a:cs typeface="Meiryo" pitchFamily="34" charset="-120"/>
                        </a:rPr>
                        <a:t>5年</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61A24"/>
                    </a:solidFill>
                  </a:tcPr>
                </a:tc>
                <a:tc>
                  <a:txBody>
                    <a:bodyPr/>
                    <a:lstStyle/>
                    <a:p>
                      <a:pPr algn="ctr" indent="0" marL="0">
                        <a:buNone/>
                      </a:pPr>
                      <a:r>
                        <a:rPr lang="en-US" sz="1100" dirty="0">
                          <a:solidFill>
                            <a:srgbClr val="F2EDE6"/>
                          </a:solidFill>
                          <a:latin typeface="Meiryo" pitchFamily="34" charset="0"/>
                          <a:ea typeface="Meiryo" pitchFamily="34" charset="-122"/>
                          <a:cs typeface="Meiryo" pitchFamily="34" charset="-120"/>
                        </a:rPr>
                        <a:t>1,300,000</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17111A"/>
                    </a:solidFill>
                  </a:tcPr>
                </a:tc>
                <a:tc>
                  <a:txBody>
                    <a:bodyPr/>
                    <a:lstStyle/>
                    <a:p>
                      <a:pPr algn="ctr" indent="0" marL="0">
                        <a:buNone/>
                      </a:pPr>
                      <a:r>
                        <a:rPr lang="en-US" sz="1100" dirty="0">
                          <a:solidFill>
                            <a:srgbClr val="F2EDE6"/>
                          </a:solidFill>
                          <a:latin typeface="Meiryo" pitchFamily="34" charset="0"/>
                          <a:ea typeface="Meiryo" pitchFamily="34" charset="-122"/>
                          <a:cs typeface="Meiryo" pitchFamily="34" charset="-120"/>
                        </a:rPr>
                        <a:t>300,000</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17111A"/>
                    </a:solidFill>
                  </a:tcPr>
                </a:tc>
                <a:tc>
                  <a:txBody>
                    <a:bodyPr/>
                    <a:lstStyle/>
                    <a:p>
                      <a:pPr algn="ctr" indent="0" marL="0">
                        <a:buNone/>
                      </a:pPr>
                      <a:r>
                        <a:rPr lang="en-US" sz="1100" dirty="0">
                          <a:solidFill>
                            <a:srgbClr val="F2EDE6"/>
                          </a:solidFill>
                          <a:latin typeface="Meiryo" pitchFamily="34" charset="0"/>
                          <a:ea typeface="Meiryo" pitchFamily="34" charset="-122"/>
                          <a:cs typeface="Meiryo" pitchFamily="34" charset="-120"/>
                        </a:rPr>
                        <a:t>90,000</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17111A"/>
                    </a:solidFill>
                  </a:tcPr>
                </a:tc>
                <a:tc>
                  <a:txBody>
                    <a:bodyPr/>
                    <a:lstStyle/>
                    <a:p>
                      <a:pPr algn="ctr" indent="0" marL="0">
                        <a:buNone/>
                      </a:pPr>
                      <a:r>
                        <a:rPr lang="en-US" sz="1100" b="1" dirty="0">
                          <a:solidFill>
                            <a:srgbClr val="7FD1AE"/>
                          </a:solidFill>
                          <a:latin typeface="Meiryo" pitchFamily="34" charset="0"/>
                          <a:ea typeface="Meiryo" pitchFamily="34" charset="-122"/>
                          <a:cs typeface="Meiryo" pitchFamily="34" charset="-120"/>
                        </a:rPr>
                        <a:t>272,500</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17111A"/>
                    </a:solidFill>
                  </a:tcPr>
                </a:tc>
                <a:tc>
                  <a:txBody>
                    <a:bodyPr/>
                    <a:lstStyle/>
                    <a:p>
                      <a:pPr algn="ctr" indent="0" marL="0">
                        <a:buNone/>
                      </a:pPr>
                      <a:r>
                        <a:rPr lang="en-US" sz="1100" dirty="0">
                          <a:solidFill>
                            <a:srgbClr val="7FD1AE"/>
                          </a:solidFill>
                          <a:latin typeface="Meiryo" pitchFamily="34" charset="0"/>
                          <a:ea typeface="Meiryo" pitchFamily="34" charset="-122"/>
                          <a:cs typeface="Meiryo" pitchFamily="34" charset="-120"/>
                        </a:rPr>
                        <a:t>5.45%</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17111A"/>
                    </a:solidFill>
                  </a:tcPr>
                </a:tc>
                <a:tc>
                  <a:txBody>
                    <a:bodyPr/>
                    <a:lstStyle/>
                    <a:p>
                      <a:pPr algn="ctr" indent="0" marL="0">
                        <a:buNone/>
                      </a:pPr>
                      <a:r>
                        <a:rPr lang="en-US" sz="1100" dirty="0">
                          <a:solidFill>
                            <a:srgbClr val="F2EDE6"/>
                          </a:solidFill>
                          <a:latin typeface="Meiryo" pitchFamily="34" charset="0"/>
                          <a:ea typeface="Meiryo" pitchFamily="34" charset="-122"/>
                          <a:cs typeface="Meiryo" pitchFamily="34" charset="-120"/>
                        </a:rPr>
                        <a:t>4.94%</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17111A"/>
                    </a:solidFill>
                  </a:tcPr>
                </a:tc>
                <a:tc>
                  <a:txBody>
                    <a:bodyPr/>
                    <a:lstStyle/>
                    <a:p>
                      <a:pPr algn="ctr" indent="0" marL="0">
                        <a:buNone/>
                      </a:pPr>
                      <a:r>
                        <a:rPr lang="en-US" sz="1100" b="1" dirty="0">
                          <a:solidFill>
                            <a:srgbClr val="C9A227"/>
                          </a:solidFill>
                          <a:latin typeface="Meiryo" pitchFamily="34" charset="0"/>
                          <a:ea typeface="Meiryo" pitchFamily="34" charset="-122"/>
                          <a:cs typeface="Meiryo" pitchFamily="34" charset="-120"/>
                        </a:rPr>
                        <a:t>97,724</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17111A"/>
                    </a:solidFill>
                  </a:tcPr>
                </a:tc>
                <a:tc>
                  <a:txBody>
                    <a:bodyPr/>
                    <a:lstStyle/>
                    <a:p>
                      <a:pPr algn="ctr" indent="0" marL="0">
                        <a:buNone/>
                      </a:pPr>
                      <a:r>
                        <a:rPr lang="en-US" sz="1100" dirty="0">
                          <a:solidFill>
                            <a:srgbClr val="F2EDE6"/>
                          </a:solidFill>
                          <a:latin typeface="Meiryo" pitchFamily="34" charset="0"/>
                          <a:ea typeface="Meiryo" pitchFamily="34" charset="-122"/>
                          <a:cs typeface="Meiryo" pitchFamily="34" charset="-120"/>
                        </a:rPr>
                        <a:t>1.95%</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17111A"/>
                    </a:solidFill>
                  </a:tcPr>
                </a:tc>
              </a:tr>
              <a:tr h="457200">
                <a:tc>
                  <a:txBody>
                    <a:bodyPr/>
                    <a:lstStyle/>
                    <a:p>
                      <a:pPr algn="l" indent="0" marL="0">
                        <a:buNone/>
                      </a:pPr>
                      <a:r>
                        <a:rPr lang="en-US" sz="1100" b="1" dirty="0">
                          <a:solidFill>
                            <a:srgbClr val="F2EDE6"/>
                          </a:solidFill>
                          <a:latin typeface="Meiryo" pitchFamily="34" charset="0"/>
                          <a:ea typeface="Meiryo" pitchFamily="34" charset="-122"/>
                          <a:cs typeface="Meiryo" pitchFamily="34" charset="-120"/>
                        </a:rPr>
                        <a:t>10年</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61A24"/>
                    </a:solidFill>
                  </a:tcPr>
                </a:tc>
                <a:tc>
                  <a:txBody>
                    <a:bodyPr/>
                    <a:lstStyle/>
                    <a:p>
                      <a:pPr algn="ctr" indent="0" marL="0">
                        <a:buNone/>
                      </a:pPr>
                      <a:r>
                        <a:rPr lang="en-US" sz="1100" dirty="0">
                          <a:solidFill>
                            <a:srgbClr val="F2EDE6"/>
                          </a:solidFill>
                          <a:latin typeface="Meiryo" pitchFamily="34" charset="0"/>
                          <a:ea typeface="Meiryo" pitchFamily="34" charset="-122"/>
                          <a:cs typeface="Meiryo" pitchFamily="34" charset="-120"/>
                        </a:rPr>
                        <a:t>1,600,000</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17111A"/>
                    </a:solidFill>
                  </a:tcPr>
                </a:tc>
                <a:tc>
                  <a:txBody>
                    <a:bodyPr/>
                    <a:lstStyle/>
                    <a:p>
                      <a:pPr algn="ctr" indent="0" marL="0">
                        <a:buNone/>
                      </a:pPr>
                      <a:r>
                        <a:rPr lang="en-US" sz="1100" dirty="0">
                          <a:solidFill>
                            <a:srgbClr val="F2EDE6"/>
                          </a:solidFill>
                          <a:latin typeface="Meiryo" pitchFamily="34" charset="0"/>
                          <a:ea typeface="Meiryo" pitchFamily="34" charset="-122"/>
                          <a:cs typeface="Meiryo" pitchFamily="34" charset="-120"/>
                        </a:rPr>
                        <a:t>600,000</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17111A"/>
                    </a:solidFill>
                  </a:tcPr>
                </a:tc>
                <a:tc>
                  <a:txBody>
                    <a:bodyPr/>
                    <a:lstStyle/>
                    <a:p>
                      <a:pPr algn="ctr" indent="0" marL="0">
                        <a:buNone/>
                      </a:pPr>
                      <a:r>
                        <a:rPr lang="en-US" sz="1100" dirty="0">
                          <a:solidFill>
                            <a:srgbClr val="F2EDE6"/>
                          </a:solidFill>
                          <a:latin typeface="Meiryo" pitchFamily="34" charset="0"/>
                          <a:ea typeface="Meiryo" pitchFamily="34" charset="-122"/>
                          <a:cs typeface="Meiryo" pitchFamily="34" charset="-120"/>
                        </a:rPr>
                        <a:t>180,000</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17111A"/>
                    </a:solidFill>
                  </a:tcPr>
                </a:tc>
                <a:tc>
                  <a:txBody>
                    <a:bodyPr/>
                    <a:lstStyle/>
                    <a:p>
                      <a:pPr algn="ctr" indent="0" marL="0">
                        <a:buNone/>
                      </a:pPr>
                      <a:r>
                        <a:rPr lang="en-US" sz="1100" b="1" dirty="0">
                          <a:solidFill>
                            <a:srgbClr val="7FD1AE"/>
                          </a:solidFill>
                          <a:latin typeface="Meiryo" pitchFamily="34" charset="0"/>
                          <a:ea typeface="Meiryo" pitchFamily="34" charset="-122"/>
                          <a:cs typeface="Meiryo" pitchFamily="34" charset="-120"/>
                        </a:rPr>
                        <a:t>545,000</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17111A"/>
                    </a:solidFill>
                  </a:tcPr>
                </a:tc>
                <a:tc>
                  <a:txBody>
                    <a:bodyPr/>
                    <a:lstStyle/>
                    <a:p>
                      <a:pPr algn="ctr" indent="0" marL="0">
                        <a:buNone/>
                      </a:pPr>
                      <a:r>
                        <a:rPr lang="en-US" sz="1100" dirty="0">
                          <a:solidFill>
                            <a:srgbClr val="7FD1AE"/>
                          </a:solidFill>
                          <a:latin typeface="Meiryo" pitchFamily="34" charset="0"/>
                          <a:ea typeface="Meiryo" pitchFamily="34" charset="-122"/>
                          <a:cs typeface="Meiryo" pitchFamily="34" charset="-120"/>
                        </a:rPr>
                        <a:t>5.45%</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17111A"/>
                    </a:solidFill>
                  </a:tcPr>
                </a:tc>
                <a:tc>
                  <a:txBody>
                    <a:bodyPr/>
                    <a:lstStyle/>
                    <a:p>
                      <a:pPr algn="ctr" indent="0" marL="0">
                        <a:buNone/>
                      </a:pPr>
                      <a:r>
                        <a:rPr lang="en-US" sz="1100" dirty="0">
                          <a:solidFill>
                            <a:srgbClr val="F2EDE6"/>
                          </a:solidFill>
                          <a:latin typeface="Meiryo" pitchFamily="34" charset="0"/>
                          <a:ea typeface="Meiryo" pitchFamily="34" charset="-122"/>
                          <a:cs typeface="Meiryo" pitchFamily="34" charset="-120"/>
                        </a:rPr>
                        <a:t>4.45%</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17111A"/>
                    </a:solidFill>
                  </a:tcPr>
                </a:tc>
                <a:tc>
                  <a:txBody>
                    <a:bodyPr/>
                    <a:lstStyle/>
                    <a:p>
                      <a:pPr algn="ctr" indent="0" marL="0">
                        <a:buNone/>
                      </a:pPr>
                      <a:r>
                        <a:rPr lang="en-US" sz="1100" b="1" dirty="0">
                          <a:solidFill>
                            <a:srgbClr val="C9A227"/>
                          </a:solidFill>
                          <a:latin typeface="Meiryo" pitchFamily="34" charset="0"/>
                          <a:ea typeface="Meiryo" pitchFamily="34" charset="-122"/>
                          <a:cs typeface="Meiryo" pitchFamily="34" charset="-120"/>
                        </a:rPr>
                        <a:t>195,448</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17111A"/>
                    </a:solidFill>
                  </a:tcPr>
                </a:tc>
                <a:tc>
                  <a:txBody>
                    <a:bodyPr/>
                    <a:lstStyle/>
                    <a:p>
                      <a:pPr algn="ctr" indent="0" marL="0">
                        <a:buNone/>
                      </a:pPr>
                      <a:r>
                        <a:rPr lang="en-US" sz="1100" dirty="0">
                          <a:solidFill>
                            <a:srgbClr val="F2EDE6"/>
                          </a:solidFill>
                          <a:latin typeface="Meiryo" pitchFamily="34" charset="0"/>
                          <a:ea typeface="Meiryo" pitchFamily="34" charset="-122"/>
                          <a:cs typeface="Meiryo" pitchFamily="34" charset="-120"/>
                        </a:rPr>
                        <a:t>1.95%</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17111A"/>
                    </a:solidFill>
                  </a:tcPr>
                </a:tc>
              </a:tr>
            </a:tbl>
          </a:graphicData>
        </a:graphic>
      </p:graphicFrame>
      <p:sp>
        <p:nvSpPr>
          <p:cNvPr id="7" name="Text 4"/>
          <p:cNvSpPr txBox="1"/>
          <p:nvPr/>
        </p:nvSpPr>
        <p:spPr>
          <a:xfrm>
            <a:off x="566928" y="3621024"/>
            <a:ext cx="11027664" cy="219456"/>
          </a:xfrm>
          <a:prstGeom prst="rect">
            <a:avLst/>
          </a:prstGeom>
          <a:noFill/>
          <a:ln/>
        </p:spPr>
        <p:txBody>
          <a:bodyPr wrap="square" lIns="0" tIns="0" rIns="0" bIns="0" rtlCol="0" anchor="ctr"/>
          <a:lstStyle/>
          <a:p>
            <a:pPr indent="0" marL="0">
              <a:buNone/>
            </a:pPr>
            <a:r>
              <a:rPr lang="en-US" sz="950" dirty="0">
                <a:solidFill>
                  <a:srgbClr val="A2908C"/>
                </a:solidFill>
                <a:latin typeface="Meiryo" pitchFamily="34" charset="0"/>
                <a:ea typeface="Meiryo" pitchFamily="34" charset="-122"/>
                <a:cs typeface="Meiryo" pitchFamily="34" charset="-120"/>
              </a:rPr>
              <a:t>※PRESTIGE（100万）の数値。会員＝（マイル額面−手数料）×年数＋（値上がり益−成功報酬）。当社＝（2.75%−1.05%＋0.5%−2.05%）×年数＋成功報酬</a:t>
            </a:r>
            <a:endParaRPr lang="en-US" sz="950" dirty="0"/>
          </a:p>
        </p:txBody>
      </p:sp>
      <p:sp>
        <p:nvSpPr>
          <p:cNvPr id="8" name="Shape 5"/>
          <p:cNvSpPr/>
          <p:nvPr/>
        </p:nvSpPr>
        <p:spPr>
          <a:xfrm>
            <a:off x="566928" y="3950208"/>
            <a:ext cx="3529584" cy="1371600"/>
          </a:xfrm>
          <a:prstGeom prst="roundRect">
            <a:avLst>
              <a:gd name="adj" fmla="val 4000"/>
            </a:avLst>
          </a:prstGeom>
          <a:solidFill>
            <a:srgbClr val="17111A"/>
          </a:solidFill>
          <a:ln w="12700">
            <a:solidFill>
              <a:srgbClr val="17111A"/>
            </a:solidFill>
            <a:prstDash val="solid"/>
          </a:ln>
          <a:effectLst>
            <a:outerShdw sx="100000" sy="100000" kx="0" ky="0" algn="bl" rotWithShape="0" blurRad="127000" dist="25400" dir="5400000">
              <a:srgbClr val="000000">
                <a:alpha val="35000"/>
              </a:srgbClr>
            </a:outerShdw>
          </a:effectLst>
        </p:spPr>
      </p:sp>
      <p:sp>
        <p:nvSpPr>
          <p:cNvPr id="9" name="Shape 6"/>
          <p:cNvSpPr/>
          <p:nvPr/>
        </p:nvSpPr>
        <p:spPr>
          <a:xfrm>
            <a:off x="841248" y="4114800"/>
            <a:ext cx="329184" cy="329184"/>
          </a:xfrm>
          <a:prstGeom prst="ellipse">
            <a:avLst/>
          </a:prstGeom>
          <a:solidFill>
            <a:srgbClr val="C9A227"/>
          </a:solidFill>
          <a:ln w="12700">
            <a:solidFill>
              <a:srgbClr val="C9A227"/>
            </a:solidFill>
            <a:prstDash val="solid"/>
          </a:ln>
        </p:spPr>
      </p:sp>
      <p:sp>
        <p:nvSpPr>
          <p:cNvPr id="10" name="Text 7"/>
          <p:cNvSpPr txBox="1"/>
          <p:nvPr/>
        </p:nvSpPr>
        <p:spPr>
          <a:xfrm>
            <a:off x="841248" y="4114800"/>
            <a:ext cx="329184" cy="329184"/>
          </a:xfrm>
          <a:prstGeom prst="rect">
            <a:avLst/>
          </a:prstGeom>
          <a:noFill/>
          <a:ln/>
        </p:spPr>
        <p:txBody>
          <a:bodyPr wrap="square" lIns="0" tIns="0" rIns="0" bIns="0" rtlCol="0" anchor="ctr"/>
          <a:lstStyle/>
          <a:p>
            <a:pPr algn="ctr" indent="0" marL="0">
              <a:buNone/>
            </a:pPr>
            <a:r>
              <a:rPr lang="en-US" sz="1300" b="1" dirty="0">
                <a:solidFill>
                  <a:srgbClr val="000000"/>
                </a:solidFill>
                <a:latin typeface="Arial" pitchFamily="34" charset="0"/>
                <a:ea typeface="Arial" pitchFamily="34" charset="-122"/>
                <a:cs typeface="Arial" pitchFamily="34" charset="-120"/>
              </a:rPr>
              <a:t>1</a:t>
            </a:r>
            <a:endParaRPr lang="en-US" sz="1300" dirty="0"/>
          </a:p>
        </p:txBody>
      </p:sp>
      <p:sp>
        <p:nvSpPr>
          <p:cNvPr id="11" name="Text 8"/>
          <p:cNvSpPr txBox="1"/>
          <p:nvPr/>
        </p:nvSpPr>
        <p:spPr>
          <a:xfrm>
            <a:off x="1261872" y="4133088"/>
            <a:ext cx="2596896" cy="274320"/>
          </a:xfrm>
          <a:prstGeom prst="rect">
            <a:avLst/>
          </a:prstGeom>
          <a:noFill/>
          <a:ln/>
        </p:spPr>
        <p:txBody>
          <a:bodyPr wrap="square" lIns="0" tIns="0" rIns="0" bIns="0" rtlCol="0" anchor="ctr"/>
          <a:lstStyle/>
          <a:p>
            <a:pPr indent="0" marL="0">
              <a:buNone/>
            </a:pPr>
            <a:r>
              <a:rPr lang="en-US" sz="1250" b="1" dirty="0">
                <a:solidFill>
                  <a:srgbClr val="E8CE78"/>
                </a:solidFill>
                <a:latin typeface="Meiryo" pitchFamily="34" charset="0"/>
                <a:ea typeface="Meiryo" pitchFamily="34" charset="-122"/>
                <a:cs typeface="Meiryo" pitchFamily="34" charset="-120"/>
              </a:rPr>
              <a:t>成長率が上がるほど、当社も伸びる</a:t>
            </a:r>
            <a:endParaRPr lang="en-US" sz="1250" dirty="0"/>
          </a:p>
        </p:txBody>
      </p:sp>
      <p:sp>
        <p:nvSpPr>
          <p:cNvPr id="12" name="Text 9"/>
          <p:cNvSpPr txBox="1"/>
          <p:nvPr/>
        </p:nvSpPr>
        <p:spPr>
          <a:xfrm>
            <a:off x="841248" y="4553712"/>
            <a:ext cx="2980944" cy="694944"/>
          </a:xfrm>
          <a:prstGeom prst="rect">
            <a:avLst/>
          </a:prstGeom>
          <a:noFill/>
          <a:ln/>
        </p:spPr>
        <p:txBody>
          <a:bodyPr wrap="square" lIns="0" tIns="0" rIns="0" bIns="0" rtlCol="0" anchor="ctr"/>
          <a:lstStyle/>
          <a:p>
            <a:pPr indent="0" marL="0">
              <a:lnSpc>
                <a:spcPts val="1500"/>
              </a:lnSpc>
              <a:buNone/>
            </a:pPr>
            <a:r>
              <a:rPr lang="en-US" sz="1050" dirty="0">
                <a:solidFill>
                  <a:srgbClr val="A2908C"/>
                </a:solidFill>
                <a:latin typeface="Meiryo" pitchFamily="34" charset="0"/>
                <a:ea typeface="Meiryo" pitchFamily="34" charset="-122"/>
                <a:cs typeface="Meiryo" pitchFamily="34" charset="-120"/>
              </a:rPr>
              <a:t>年5%なら当社1.65%／年6%で1.95%／年10%で3.15%。会員と当社が完全に同じ方向を向きます。</a:t>
            </a:r>
            <a:endParaRPr lang="en-US" sz="1050" dirty="0"/>
          </a:p>
        </p:txBody>
      </p:sp>
      <p:sp>
        <p:nvSpPr>
          <p:cNvPr id="13" name="Shape 10"/>
          <p:cNvSpPr/>
          <p:nvPr/>
        </p:nvSpPr>
        <p:spPr>
          <a:xfrm>
            <a:off x="4352544" y="3950208"/>
            <a:ext cx="3529584" cy="1371600"/>
          </a:xfrm>
          <a:prstGeom prst="roundRect">
            <a:avLst>
              <a:gd name="adj" fmla="val 4000"/>
            </a:avLst>
          </a:prstGeom>
          <a:solidFill>
            <a:srgbClr val="17111A"/>
          </a:solidFill>
          <a:ln w="12700">
            <a:solidFill>
              <a:srgbClr val="17111A"/>
            </a:solidFill>
            <a:prstDash val="solid"/>
          </a:ln>
          <a:effectLst>
            <a:outerShdw sx="100000" sy="100000" kx="0" ky="0" algn="bl" rotWithShape="0" blurRad="127000" dist="25400" dir="5400000">
              <a:srgbClr val="000000">
                <a:alpha val="35000"/>
              </a:srgbClr>
            </a:outerShdw>
          </a:effectLst>
        </p:spPr>
      </p:sp>
      <p:sp>
        <p:nvSpPr>
          <p:cNvPr id="14" name="Shape 11"/>
          <p:cNvSpPr/>
          <p:nvPr/>
        </p:nvSpPr>
        <p:spPr>
          <a:xfrm>
            <a:off x="4626864" y="4114800"/>
            <a:ext cx="329184" cy="329184"/>
          </a:xfrm>
          <a:prstGeom prst="ellipse">
            <a:avLst/>
          </a:prstGeom>
          <a:solidFill>
            <a:srgbClr val="C9A227"/>
          </a:solidFill>
          <a:ln w="12700">
            <a:solidFill>
              <a:srgbClr val="C9A227"/>
            </a:solidFill>
            <a:prstDash val="solid"/>
          </a:ln>
        </p:spPr>
      </p:sp>
      <p:sp>
        <p:nvSpPr>
          <p:cNvPr id="15" name="Text 12"/>
          <p:cNvSpPr txBox="1"/>
          <p:nvPr/>
        </p:nvSpPr>
        <p:spPr>
          <a:xfrm>
            <a:off x="4626864" y="4114800"/>
            <a:ext cx="329184" cy="329184"/>
          </a:xfrm>
          <a:prstGeom prst="rect">
            <a:avLst/>
          </a:prstGeom>
          <a:noFill/>
          <a:ln/>
        </p:spPr>
        <p:txBody>
          <a:bodyPr wrap="square" lIns="0" tIns="0" rIns="0" bIns="0" rtlCol="0" anchor="ctr"/>
          <a:lstStyle/>
          <a:p>
            <a:pPr algn="ctr" indent="0" marL="0">
              <a:buNone/>
            </a:pPr>
            <a:r>
              <a:rPr lang="en-US" sz="1300" b="1" dirty="0">
                <a:solidFill>
                  <a:srgbClr val="000000"/>
                </a:solidFill>
                <a:latin typeface="Arial" pitchFamily="34" charset="0"/>
                <a:ea typeface="Arial" pitchFamily="34" charset="-122"/>
                <a:cs typeface="Arial" pitchFamily="34" charset="-120"/>
              </a:rPr>
              <a:t>2</a:t>
            </a:r>
            <a:endParaRPr lang="en-US" sz="1300" dirty="0"/>
          </a:p>
        </p:txBody>
      </p:sp>
      <p:sp>
        <p:nvSpPr>
          <p:cNvPr id="16" name="Text 13"/>
          <p:cNvSpPr txBox="1"/>
          <p:nvPr/>
        </p:nvSpPr>
        <p:spPr>
          <a:xfrm>
            <a:off x="5047488" y="4133088"/>
            <a:ext cx="2596896" cy="274320"/>
          </a:xfrm>
          <a:prstGeom prst="rect">
            <a:avLst/>
          </a:prstGeom>
          <a:noFill/>
          <a:ln/>
        </p:spPr>
        <p:txBody>
          <a:bodyPr wrap="square" lIns="0" tIns="0" rIns="0" bIns="0" rtlCol="0" anchor="ctr"/>
          <a:lstStyle/>
          <a:p>
            <a:pPr indent="0" marL="0">
              <a:buNone/>
            </a:pPr>
            <a:r>
              <a:rPr lang="en-US" sz="1250" b="1" dirty="0">
                <a:solidFill>
                  <a:srgbClr val="E8CE78"/>
                </a:solidFill>
                <a:latin typeface="Meiryo" pitchFamily="34" charset="0"/>
                <a:ea typeface="Meiryo" pitchFamily="34" charset="-122"/>
                <a:cs typeface="Meiryo" pitchFamily="34" charset="-120"/>
              </a:rPr>
              <a:t>長く持つほど、当社が有利になる</a:t>
            </a:r>
            <a:endParaRPr lang="en-US" sz="1250" dirty="0"/>
          </a:p>
        </p:txBody>
      </p:sp>
      <p:sp>
        <p:nvSpPr>
          <p:cNvPr id="17" name="Text 14"/>
          <p:cNvSpPr txBox="1"/>
          <p:nvPr/>
        </p:nvSpPr>
        <p:spPr>
          <a:xfrm>
            <a:off x="4626864" y="4553712"/>
            <a:ext cx="2980944" cy="694944"/>
          </a:xfrm>
          <a:prstGeom prst="rect">
            <a:avLst/>
          </a:prstGeom>
          <a:noFill/>
          <a:ln/>
        </p:spPr>
        <p:txBody>
          <a:bodyPr wrap="square" lIns="0" tIns="0" rIns="0" bIns="0" rtlCol="0" anchor="ctr"/>
          <a:lstStyle/>
          <a:p>
            <a:pPr indent="0" marL="0">
              <a:lnSpc>
                <a:spcPts val="1500"/>
              </a:lnSpc>
              <a:buNone/>
            </a:pPr>
            <a:r>
              <a:rPr lang="en-US" sz="1050" dirty="0">
                <a:solidFill>
                  <a:srgbClr val="A2908C"/>
                </a:solidFill>
                <a:latin typeface="Meiryo" pitchFamily="34" charset="0"/>
                <a:ea typeface="Meiryo" pitchFamily="34" charset="-122"/>
                <a:cs typeface="Meiryo" pitchFamily="34" charset="-120"/>
              </a:rPr>
              <a:t>成功報酬30%と媒介10%の損益分岐は8.3年（6%成長時）。10%成長なら5.0年。長期保有を促す動機が当社側に働きます。</a:t>
            </a:r>
            <a:endParaRPr lang="en-US" sz="1050" dirty="0"/>
          </a:p>
        </p:txBody>
      </p:sp>
      <p:sp>
        <p:nvSpPr>
          <p:cNvPr id="18" name="Shape 15"/>
          <p:cNvSpPr/>
          <p:nvPr/>
        </p:nvSpPr>
        <p:spPr>
          <a:xfrm>
            <a:off x="8138160" y="3950208"/>
            <a:ext cx="3529584" cy="1371600"/>
          </a:xfrm>
          <a:prstGeom prst="roundRect">
            <a:avLst>
              <a:gd name="adj" fmla="val 4000"/>
            </a:avLst>
          </a:prstGeom>
          <a:solidFill>
            <a:srgbClr val="261A24"/>
          </a:solidFill>
          <a:ln w="12700">
            <a:solidFill>
              <a:srgbClr val="261A24"/>
            </a:solidFill>
            <a:prstDash val="solid"/>
          </a:ln>
          <a:effectLst>
            <a:outerShdw sx="100000" sy="100000" kx="0" ky="0" algn="bl" rotWithShape="0" blurRad="127000" dist="25400" dir="5400000">
              <a:srgbClr val="000000">
                <a:alpha val="35000"/>
              </a:srgbClr>
            </a:outerShdw>
          </a:effectLst>
        </p:spPr>
      </p:sp>
      <p:sp>
        <p:nvSpPr>
          <p:cNvPr id="19" name="Shape 16"/>
          <p:cNvSpPr/>
          <p:nvPr/>
        </p:nvSpPr>
        <p:spPr>
          <a:xfrm>
            <a:off x="8412480" y="4114800"/>
            <a:ext cx="329184" cy="329184"/>
          </a:xfrm>
          <a:prstGeom prst="ellipse">
            <a:avLst/>
          </a:prstGeom>
          <a:solidFill>
            <a:srgbClr val="C9A227"/>
          </a:solidFill>
          <a:ln w="12700">
            <a:solidFill>
              <a:srgbClr val="C9A227"/>
            </a:solidFill>
            <a:prstDash val="solid"/>
          </a:ln>
        </p:spPr>
      </p:sp>
      <p:sp>
        <p:nvSpPr>
          <p:cNvPr id="20" name="Text 17"/>
          <p:cNvSpPr txBox="1"/>
          <p:nvPr/>
        </p:nvSpPr>
        <p:spPr>
          <a:xfrm>
            <a:off x="8412480" y="4114800"/>
            <a:ext cx="329184" cy="329184"/>
          </a:xfrm>
          <a:prstGeom prst="rect">
            <a:avLst/>
          </a:prstGeom>
          <a:noFill/>
          <a:ln/>
        </p:spPr>
        <p:txBody>
          <a:bodyPr wrap="square" lIns="0" tIns="0" rIns="0" bIns="0" rtlCol="0" anchor="ctr"/>
          <a:lstStyle/>
          <a:p>
            <a:pPr algn="ctr" indent="0" marL="0">
              <a:buNone/>
            </a:pPr>
            <a:r>
              <a:rPr lang="en-US" sz="1300" b="1" dirty="0">
                <a:solidFill>
                  <a:srgbClr val="000000"/>
                </a:solidFill>
                <a:latin typeface="Arial" pitchFamily="34" charset="0"/>
                <a:ea typeface="Arial" pitchFamily="34" charset="-122"/>
                <a:cs typeface="Arial" pitchFamily="34" charset="-120"/>
              </a:rPr>
              <a:t>3</a:t>
            </a:r>
            <a:endParaRPr lang="en-US" sz="1300" dirty="0"/>
          </a:p>
        </p:txBody>
      </p:sp>
      <p:sp>
        <p:nvSpPr>
          <p:cNvPr id="21" name="Text 18"/>
          <p:cNvSpPr txBox="1"/>
          <p:nvPr/>
        </p:nvSpPr>
        <p:spPr>
          <a:xfrm>
            <a:off x="8833104" y="4133088"/>
            <a:ext cx="2596896" cy="274320"/>
          </a:xfrm>
          <a:prstGeom prst="rect">
            <a:avLst/>
          </a:prstGeom>
          <a:noFill/>
          <a:ln/>
        </p:spPr>
        <p:txBody>
          <a:bodyPr wrap="square" lIns="0" tIns="0" rIns="0" bIns="0" rtlCol="0" anchor="ctr"/>
          <a:lstStyle/>
          <a:p>
            <a:pPr indent="0" marL="0">
              <a:buNone/>
            </a:pPr>
            <a:r>
              <a:rPr lang="en-US" sz="1250" b="1" dirty="0">
                <a:solidFill>
                  <a:srgbClr val="E8CE78"/>
                </a:solidFill>
                <a:latin typeface="Meiryo" pitchFamily="34" charset="0"/>
                <a:ea typeface="Meiryo" pitchFamily="34" charset="-122"/>
                <a:cs typeface="Meiryo" pitchFamily="34" charset="-120"/>
              </a:rPr>
              <a:t>だからセラーが増える方向に働く</a:t>
            </a:r>
            <a:endParaRPr lang="en-US" sz="1250" dirty="0"/>
          </a:p>
        </p:txBody>
      </p:sp>
      <p:sp>
        <p:nvSpPr>
          <p:cNvPr id="22" name="Text 19"/>
          <p:cNvSpPr txBox="1"/>
          <p:nvPr/>
        </p:nvSpPr>
        <p:spPr>
          <a:xfrm>
            <a:off x="8412480" y="4553712"/>
            <a:ext cx="2980944" cy="694944"/>
          </a:xfrm>
          <a:prstGeom prst="rect">
            <a:avLst/>
          </a:prstGeom>
          <a:noFill/>
          <a:ln/>
        </p:spPr>
        <p:txBody>
          <a:bodyPr wrap="square" lIns="0" tIns="0" rIns="0" bIns="0" rtlCol="0" anchor="ctr"/>
          <a:lstStyle/>
          <a:p>
            <a:pPr indent="0" marL="0">
              <a:lnSpc>
                <a:spcPts val="1500"/>
              </a:lnSpc>
              <a:buNone/>
            </a:pPr>
            <a:r>
              <a:rPr lang="en-US" sz="1050" dirty="0">
                <a:solidFill>
                  <a:srgbClr val="A2908C"/>
                </a:solidFill>
                <a:latin typeface="Meiryo" pitchFamily="34" charset="0"/>
                <a:ea typeface="Meiryo" pitchFamily="34" charset="-122"/>
                <a:cs typeface="Meiryo" pitchFamily="34" charset="-120"/>
              </a:rPr>
              <a:t>媒介モデルは回転させたくなり、セラーが減ります。成功報酬は寝かせたくなる。Cloud Cave構想と同じ向きです。</a:t>
            </a:r>
            <a:endParaRPr lang="en-US" sz="1050" dirty="0"/>
          </a:p>
        </p:txBody>
      </p:sp>
      <p:sp>
        <p:nvSpPr>
          <p:cNvPr id="23" name="Shape 20"/>
          <p:cNvSpPr/>
          <p:nvPr/>
        </p:nvSpPr>
        <p:spPr>
          <a:xfrm>
            <a:off x="566928" y="5468112"/>
            <a:ext cx="11027664" cy="585216"/>
          </a:xfrm>
          <a:prstGeom prst="roundRect">
            <a:avLst>
              <a:gd name="adj" fmla="val 9375"/>
            </a:avLst>
          </a:prstGeom>
          <a:solidFill>
            <a:srgbClr val="7B1E3A"/>
          </a:solidFill>
          <a:ln w="12700">
            <a:solidFill>
              <a:srgbClr val="7B1E3A"/>
            </a:solidFill>
            <a:prstDash val="solid"/>
          </a:ln>
          <a:effectLst>
            <a:outerShdw sx="100000" sy="100000" kx="0" ky="0" algn="bl" rotWithShape="0" blurRad="127000" dist="25400" dir="5400000">
              <a:srgbClr val="000000">
                <a:alpha val="35000"/>
              </a:srgbClr>
            </a:outerShdw>
          </a:effectLst>
        </p:spPr>
      </p:sp>
      <p:sp>
        <p:nvSpPr>
          <p:cNvPr id="24" name="Text 21"/>
          <p:cNvSpPr txBox="1"/>
          <p:nvPr/>
        </p:nvSpPr>
        <p:spPr>
          <a:xfrm>
            <a:off x="978408" y="5614416"/>
            <a:ext cx="10204704" cy="329184"/>
          </a:xfrm>
          <a:prstGeom prst="rect">
            <a:avLst/>
          </a:prstGeom>
          <a:noFill/>
          <a:ln/>
        </p:spPr>
        <p:txBody>
          <a:bodyPr wrap="square" lIns="0" tIns="0" rIns="0" bIns="0" rtlCol="0" anchor="ctr"/>
          <a:lstStyle/>
          <a:p>
            <a:pPr algn="ctr" indent="0" marL="0">
              <a:buNone/>
            </a:pPr>
            <a:r>
              <a:rPr lang="en-US" sz="1500" b="1" dirty="0">
                <a:solidFill>
                  <a:srgbClr val="E8CE78"/>
                </a:solidFill>
                <a:latin typeface="Meiryo" pitchFamily="34" charset="0"/>
                <a:ea typeface="Meiryo" pitchFamily="34" charset="-122"/>
                <a:cs typeface="Meiryo" pitchFamily="34" charset="-120"/>
              </a:rPr>
              <a:t>会員は年5.45%、当社は年1.95%。値上がりの70%を会員に残しても、事業は成立します。</a:t>
            </a:r>
            <a:endParaRPr lang="en-US" sz="15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00000"/>
        </a:solidFill>
      </p:bgPr>
    </p:bg>
    <p:spTree>
      <p:nvGrpSpPr>
        <p:cNvPr id="1" name=""/>
        <p:cNvGrpSpPr/>
        <p:nvPr/>
      </p:nvGrpSpPr>
      <p:grpSpPr>
        <a:xfrm>
          <a:off x="0" y="0"/>
          <a:ext cx="0" cy="0"/>
          <a:chOff x="0" y="0"/>
          <a:chExt cx="0" cy="0"/>
        </a:xfrm>
      </p:grpSpPr>
      <p:sp>
        <p:nvSpPr>
          <p:cNvPr id="2" name="Text 0"/>
          <p:cNvSpPr txBox="1"/>
          <p:nvPr/>
        </p:nvSpPr>
        <p:spPr>
          <a:xfrm>
            <a:off x="566928" y="310896"/>
            <a:ext cx="11027664" cy="237744"/>
          </a:xfrm>
          <a:prstGeom prst="rect">
            <a:avLst/>
          </a:prstGeom>
          <a:noFill/>
          <a:ln/>
        </p:spPr>
        <p:txBody>
          <a:bodyPr wrap="square" lIns="0" tIns="0" rIns="0" bIns="0" rtlCol="0" anchor="ctr"/>
          <a:lstStyle/>
          <a:p>
            <a:pPr indent="0" marL="0">
              <a:buNone/>
            </a:pPr>
            <a:r>
              <a:rPr lang="en-US" sz="1050" b="1" spc="300" kern="0" dirty="0">
                <a:solidFill>
                  <a:srgbClr val="C9A227"/>
                </a:solidFill>
                <a:latin typeface="Arial" pitchFamily="34" charset="0"/>
                <a:ea typeface="Arial" pitchFamily="34" charset="-122"/>
                <a:cs typeface="Arial" pitchFamily="34" charset="-120"/>
              </a:rPr>
              <a:t>STRUCTURE CHOICE</a:t>
            </a:r>
            <a:endParaRPr lang="en-US" sz="1050" dirty="0"/>
          </a:p>
        </p:txBody>
      </p:sp>
      <p:sp>
        <p:nvSpPr>
          <p:cNvPr id="3" name="Text 1"/>
          <p:cNvSpPr txBox="1"/>
          <p:nvPr/>
        </p:nvSpPr>
        <p:spPr>
          <a:xfrm>
            <a:off x="566928" y="566928"/>
            <a:ext cx="11027664" cy="548640"/>
          </a:xfrm>
          <a:prstGeom prst="rect">
            <a:avLst/>
          </a:prstGeom>
          <a:noFill/>
          <a:ln/>
        </p:spPr>
        <p:txBody>
          <a:bodyPr wrap="square" lIns="0" tIns="0" rIns="0" bIns="0" rtlCol="0" anchor="ctr"/>
          <a:lstStyle/>
          <a:p>
            <a:pPr indent="0" marL="0">
              <a:buNone/>
            </a:pPr>
            <a:r>
              <a:rPr lang="en-US" sz="2900" b="1" dirty="0">
                <a:solidFill>
                  <a:srgbClr val="F2EDE6"/>
                </a:solidFill>
                <a:latin typeface="Meiryo" pitchFamily="34" charset="0"/>
                <a:ea typeface="Meiryo" pitchFamily="34" charset="-122"/>
                <a:cs typeface="Meiryo" pitchFamily="34" charset="-120"/>
              </a:rPr>
              <a:t>構造の選択：なぜ買戻しではなく成功報酬か</a:t>
            </a:r>
            <a:endParaRPr lang="en-US" sz="2900" dirty="0"/>
          </a:p>
        </p:txBody>
      </p:sp>
      <p:sp>
        <p:nvSpPr>
          <p:cNvPr id="4" name="Text 2"/>
          <p:cNvSpPr txBox="1"/>
          <p:nvPr/>
        </p:nvSpPr>
        <p:spPr>
          <a:xfrm>
            <a:off x="566928" y="1152144"/>
            <a:ext cx="11027664" cy="310896"/>
          </a:xfrm>
          <a:prstGeom prst="rect">
            <a:avLst/>
          </a:prstGeom>
          <a:noFill/>
          <a:ln/>
        </p:spPr>
        <p:txBody>
          <a:bodyPr wrap="square" lIns="0" tIns="0" rIns="0" bIns="0" rtlCol="0" anchor="ctr"/>
          <a:lstStyle/>
          <a:p>
            <a:pPr indent="0" marL="0">
              <a:buNone/>
            </a:pPr>
            <a:r>
              <a:rPr lang="en-US" sz="1300" dirty="0">
                <a:solidFill>
                  <a:srgbClr val="A2908C"/>
                </a:solidFill>
                <a:latin typeface="Meiryo" pitchFamily="34" charset="0"/>
                <a:ea typeface="Meiryo" pitchFamily="34" charset="-122"/>
                <a:cs typeface="Meiryo" pitchFamily="34" charset="-120"/>
              </a:rPr>
              <a:t>検討した3案を、法務・会計・利益相反の3面で評価しました。</a:t>
            </a:r>
            <a:endParaRPr lang="en-US" sz="1300" dirty="0"/>
          </a:p>
        </p:txBody>
      </p:sp>
      <p:sp>
        <p:nvSpPr>
          <p:cNvPr id="5" name="Text 3"/>
          <p:cNvSpPr txBox="1"/>
          <p:nvPr/>
        </p:nvSpPr>
        <p:spPr>
          <a:xfrm>
            <a:off x="566928" y="6437376"/>
            <a:ext cx="4572000" cy="219456"/>
          </a:xfrm>
          <a:prstGeom prst="rect">
            <a:avLst/>
          </a:prstGeom>
          <a:noFill/>
          <a:ln/>
        </p:spPr>
        <p:txBody>
          <a:bodyPr wrap="square" lIns="0" tIns="0" rIns="0" bIns="0" rtlCol="0" anchor="ctr"/>
          <a:lstStyle/>
          <a:p>
            <a:pPr indent="0" marL="0">
              <a:buNone/>
            </a:pPr>
            <a:r>
              <a:rPr lang="en-US" sz="850" dirty="0">
                <a:solidFill>
                  <a:srgbClr val="6B5A5F"/>
                </a:solidFill>
                <a:latin typeface="Arial" pitchFamily="34" charset="0"/>
                <a:ea typeface="Arial" pitchFamily="34" charset="-122"/>
                <a:cs typeface="Arial" pitchFamily="34" charset="-120"/>
              </a:rPr>
              <a:t>WineBank CONFIDENTIAL</a:t>
            </a:r>
            <a:endParaRPr lang="en-US" sz="85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66928" y="1645920"/>
          <a:ext cx="11027664" cy="914400"/>
        </p:xfrm>
        <a:graphic>
          <a:graphicData uri="http://schemas.openxmlformats.org/drawingml/2006/table">
            <a:tbl>
              <a:tblPr/>
              <a:tblGrid>
                <a:gridCol w="2432304"/>
                <a:gridCol w="2560320"/>
                <a:gridCol w="3474720"/>
                <a:gridCol w="2560320"/>
              </a:tblGrid>
              <a:tr h="402336">
                <a:tc>
                  <a:txBody>
                    <a:bodyPr/>
                    <a:lstStyle/>
                    <a:p>
                      <a:pPr algn="ctr" indent="0" marL="0">
                        <a:buNone/>
                      </a:pP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7B1E3A"/>
                    </a:solidFill>
                  </a:tcPr>
                </a:tc>
                <a:tc>
                  <a:txBody>
                    <a:bodyPr/>
                    <a:lstStyle/>
                    <a:p>
                      <a:pPr algn="ctr" indent="0" marL="0">
                        <a:buNone/>
                      </a:pPr>
                      <a:r>
                        <a:rPr lang="en-US" sz="1100" b="1" dirty="0">
                          <a:solidFill>
                            <a:srgbClr val="F2EDE6"/>
                          </a:solidFill>
                          <a:latin typeface="Meiryo" pitchFamily="34" charset="0"/>
                          <a:ea typeface="Meiryo" pitchFamily="34" charset="-122"/>
                          <a:cs typeface="Meiryo" pitchFamily="34" charset="-120"/>
                        </a:rPr>
                        <a:t>① 買戻し保証</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7B1E3A"/>
                    </a:solidFill>
                  </a:tcPr>
                </a:tc>
                <a:tc>
                  <a:txBody>
                    <a:bodyPr/>
                    <a:lstStyle/>
                    <a:p>
                      <a:pPr algn="ctr" indent="0" marL="0">
                        <a:buNone/>
                      </a:pPr>
                      <a:r>
                        <a:rPr lang="en-US" sz="1100" b="1" dirty="0">
                          <a:solidFill>
                            <a:srgbClr val="F2EDE6"/>
                          </a:solidFill>
                          <a:latin typeface="Meiryo" pitchFamily="34" charset="0"/>
                          <a:ea typeface="Meiryo" pitchFamily="34" charset="-122"/>
                          <a:cs typeface="Meiryo" pitchFamily="34" charset="-120"/>
                        </a:rPr>
                        <a:t>② 成功報酬30%（採用）</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7B1E3A"/>
                    </a:solidFill>
                  </a:tcPr>
                </a:tc>
                <a:tc>
                  <a:txBody>
                    <a:bodyPr/>
                    <a:lstStyle/>
                    <a:p>
                      <a:pPr algn="ctr" indent="0" marL="0">
                        <a:buNone/>
                      </a:pPr>
                      <a:r>
                        <a:rPr lang="en-US" sz="1100" b="1" dirty="0">
                          <a:solidFill>
                            <a:srgbClr val="F2EDE6"/>
                          </a:solidFill>
                          <a:latin typeface="Meiryo" pitchFamily="34" charset="0"/>
                          <a:ea typeface="Meiryo" pitchFamily="34" charset="-122"/>
                          <a:cs typeface="Meiryo" pitchFamily="34" charset="-120"/>
                        </a:rPr>
                        <a:t>③ 専属専任媒介 10%</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7B1E3A"/>
                    </a:solidFill>
                  </a:tcPr>
                </a:tc>
              </a:tr>
              <a:tr h="384048">
                <a:tc>
                  <a:txBody>
                    <a:bodyPr/>
                    <a:lstStyle/>
                    <a:p>
                      <a:pPr algn="l" indent="0" marL="0">
                        <a:buNone/>
                      </a:pPr>
                      <a:r>
                        <a:rPr lang="en-US" sz="1100" b="1" dirty="0">
                          <a:solidFill>
                            <a:srgbClr val="F2EDE6"/>
                          </a:solidFill>
                          <a:latin typeface="Meiryo" pitchFamily="34" charset="0"/>
                          <a:ea typeface="Meiryo" pitchFamily="34" charset="-122"/>
                          <a:cs typeface="Meiryo" pitchFamily="34" charset="-120"/>
                        </a:rPr>
                        <a:t>出資法（預り金）</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61A24"/>
                    </a:solidFill>
                  </a:tcPr>
                </a:tc>
                <a:tc>
                  <a:txBody>
                    <a:bodyPr/>
                    <a:lstStyle/>
                    <a:p>
                      <a:pPr algn="ctr" indent="0" marL="0">
                        <a:buNone/>
                      </a:pPr>
                      <a:r>
                        <a:rPr lang="en-US" sz="1050" b="1" dirty="0">
                          <a:solidFill>
                            <a:srgbClr val="D96A6A"/>
                          </a:solidFill>
                          <a:latin typeface="Meiryo" pitchFamily="34" charset="0"/>
                          <a:ea typeface="Meiryo" pitchFamily="34" charset="-122"/>
                          <a:cs typeface="Meiryo" pitchFamily="34" charset="-120"/>
                        </a:rPr>
                        <a:t>✗ 元本保証と読まれる</a:t>
                      </a:r>
                      <a:endParaRPr lang="en-US" sz="105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17111A"/>
                    </a:solidFill>
                  </a:tcPr>
                </a:tc>
                <a:tc>
                  <a:txBody>
                    <a:bodyPr/>
                    <a:lstStyle/>
                    <a:p>
                      <a:pPr algn="ctr" indent="0" marL="0">
                        <a:buNone/>
                      </a:pPr>
                      <a:r>
                        <a:rPr lang="en-US" sz="1050" b="1" dirty="0">
                          <a:solidFill>
                            <a:srgbClr val="7FD1AE"/>
                          </a:solidFill>
                          <a:latin typeface="Meiryo" pitchFamily="34" charset="0"/>
                          <a:ea typeface="Meiryo" pitchFamily="34" charset="-122"/>
                          <a:cs typeface="Meiryo" pitchFamily="34" charset="-120"/>
                        </a:rPr>
                        <a:t>◎ 該当しない</a:t>
                      </a:r>
                      <a:endParaRPr lang="en-US" sz="105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17111A"/>
                    </a:solidFill>
                  </a:tcPr>
                </a:tc>
                <a:tc>
                  <a:txBody>
                    <a:bodyPr/>
                    <a:lstStyle/>
                    <a:p>
                      <a:pPr algn="ctr" indent="0" marL="0">
                        <a:buNone/>
                      </a:pPr>
                      <a:r>
                        <a:rPr lang="en-US" sz="1050" b="1" dirty="0">
                          <a:solidFill>
                            <a:srgbClr val="7FD1AE"/>
                          </a:solidFill>
                          <a:latin typeface="Meiryo" pitchFamily="34" charset="0"/>
                          <a:ea typeface="Meiryo" pitchFamily="34" charset="-122"/>
                          <a:cs typeface="Meiryo" pitchFamily="34" charset="-120"/>
                        </a:rPr>
                        <a:t>◎ 該当しない</a:t>
                      </a:r>
                      <a:endParaRPr lang="en-US" sz="105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17111A"/>
                    </a:solidFill>
                  </a:tcPr>
                </a:tc>
              </a:tr>
              <a:tr h="384048">
                <a:tc>
                  <a:txBody>
                    <a:bodyPr/>
                    <a:lstStyle/>
                    <a:p>
                      <a:pPr algn="l" indent="0" marL="0">
                        <a:buNone/>
                      </a:pPr>
                      <a:r>
                        <a:rPr lang="en-US" sz="1100" b="1" dirty="0">
                          <a:solidFill>
                            <a:srgbClr val="F2EDE6"/>
                          </a:solidFill>
                          <a:latin typeface="Meiryo" pitchFamily="34" charset="0"/>
                          <a:ea typeface="Meiryo" pitchFamily="34" charset="-122"/>
                          <a:cs typeface="Meiryo" pitchFamily="34" charset="-120"/>
                        </a:rPr>
                        <a:t>金商法（集団投資）</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61A24"/>
                    </a:solidFill>
                  </a:tcPr>
                </a:tc>
                <a:tc>
                  <a:txBody>
                    <a:bodyPr/>
                    <a:lstStyle/>
                    <a:p>
                      <a:pPr algn="ctr" indent="0" marL="0">
                        <a:buNone/>
                      </a:pPr>
                      <a:r>
                        <a:rPr lang="en-US" sz="1050" b="1" dirty="0">
                          <a:solidFill>
                            <a:srgbClr val="E0A458"/>
                          </a:solidFill>
                          <a:latin typeface="Meiryo" pitchFamily="34" charset="0"/>
                          <a:ea typeface="Meiryo" pitchFamily="34" charset="-122"/>
                          <a:cs typeface="Meiryo" pitchFamily="34" charset="-120"/>
                        </a:rPr>
                        <a:t>△</a:t>
                      </a:r>
                      <a:endParaRPr lang="en-US" sz="105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17111A"/>
                    </a:solidFill>
                  </a:tcPr>
                </a:tc>
                <a:tc>
                  <a:txBody>
                    <a:bodyPr/>
                    <a:lstStyle/>
                    <a:p>
                      <a:pPr algn="ctr" indent="0" marL="0">
                        <a:buNone/>
                      </a:pPr>
                      <a:r>
                        <a:rPr lang="en-US" sz="1050" b="1" dirty="0">
                          <a:solidFill>
                            <a:srgbClr val="7FD1AE"/>
                          </a:solidFill>
                          <a:latin typeface="Meiryo" pitchFamily="34" charset="0"/>
                          <a:ea typeface="Meiryo" pitchFamily="34" charset="-122"/>
                          <a:cs typeface="Meiryo" pitchFamily="34" charset="-120"/>
                        </a:rPr>
                        <a:t>◎ 会員が払う手数料。分配ではない</a:t>
                      </a:r>
                      <a:endParaRPr lang="en-US" sz="105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17111A"/>
                    </a:solidFill>
                  </a:tcPr>
                </a:tc>
                <a:tc>
                  <a:txBody>
                    <a:bodyPr/>
                    <a:lstStyle/>
                    <a:p>
                      <a:pPr algn="ctr" indent="0" marL="0">
                        <a:buNone/>
                      </a:pPr>
                      <a:r>
                        <a:rPr lang="en-US" sz="1050" b="1" dirty="0">
                          <a:solidFill>
                            <a:srgbClr val="7FD1AE"/>
                          </a:solidFill>
                          <a:latin typeface="Meiryo" pitchFamily="34" charset="0"/>
                          <a:ea typeface="Meiryo" pitchFamily="34" charset="-122"/>
                          <a:cs typeface="Meiryo" pitchFamily="34" charset="-120"/>
                        </a:rPr>
                        <a:t>◎ 媒介手数料</a:t>
                      </a:r>
                      <a:endParaRPr lang="en-US" sz="105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17111A"/>
                    </a:solidFill>
                  </a:tcPr>
                </a:tc>
              </a:tr>
              <a:tr h="384048">
                <a:tc>
                  <a:txBody>
                    <a:bodyPr/>
                    <a:lstStyle/>
                    <a:p>
                      <a:pPr algn="l" indent="0" marL="0">
                        <a:buNone/>
                      </a:pPr>
                      <a:r>
                        <a:rPr lang="en-US" sz="1100" b="1" dirty="0">
                          <a:solidFill>
                            <a:srgbClr val="F2EDE6"/>
                          </a:solidFill>
                          <a:latin typeface="Meiryo" pitchFamily="34" charset="0"/>
                          <a:ea typeface="Meiryo" pitchFamily="34" charset="-122"/>
                          <a:cs typeface="Meiryo" pitchFamily="34" charset="-120"/>
                        </a:rPr>
                        <a:t>売上計上（収益認識）</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61A24"/>
                    </a:solidFill>
                  </a:tcPr>
                </a:tc>
                <a:tc>
                  <a:txBody>
                    <a:bodyPr/>
                    <a:lstStyle/>
                    <a:p>
                      <a:pPr algn="ctr" indent="0" marL="0">
                        <a:buNone/>
                      </a:pPr>
                      <a:r>
                        <a:rPr lang="en-US" sz="1050" b="1" dirty="0">
                          <a:solidFill>
                            <a:srgbClr val="D96A6A"/>
                          </a:solidFill>
                          <a:latin typeface="Meiryo" pitchFamily="34" charset="0"/>
                          <a:ea typeface="Meiryo" pitchFamily="34" charset="-122"/>
                          <a:cs typeface="Meiryo" pitchFamily="34" charset="-120"/>
                        </a:rPr>
                        <a:t>✗ 借入金になる</a:t>
                      </a:r>
                      <a:endParaRPr lang="en-US" sz="105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17111A"/>
                    </a:solidFill>
                  </a:tcPr>
                </a:tc>
                <a:tc>
                  <a:txBody>
                    <a:bodyPr/>
                    <a:lstStyle/>
                    <a:p>
                      <a:pPr algn="ctr" indent="0" marL="0">
                        <a:buNone/>
                      </a:pPr>
                      <a:r>
                        <a:rPr lang="en-US" sz="1050" b="1" dirty="0">
                          <a:solidFill>
                            <a:srgbClr val="7FD1AE"/>
                          </a:solidFill>
                          <a:latin typeface="Meiryo" pitchFamily="34" charset="0"/>
                          <a:ea typeface="Meiryo" pitchFamily="34" charset="-122"/>
                          <a:cs typeface="Meiryo" pitchFamily="34" charset="-120"/>
                        </a:rPr>
                        <a:t>◎ 完全な売却</a:t>
                      </a:r>
                      <a:endParaRPr lang="en-US" sz="105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17111A"/>
                    </a:solidFill>
                  </a:tcPr>
                </a:tc>
                <a:tc>
                  <a:txBody>
                    <a:bodyPr/>
                    <a:lstStyle/>
                    <a:p>
                      <a:pPr algn="ctr" indent="0" marL="0">
                        <a:buNone/>
                      </a:pPr>
                      <a:r>
                        <a:rPr lang="en-US" sz="1050" b="1" dirty="0">
                          <a:solidFill>
                            <a:srgbClr val="7FD1AE"/>
                          </a:solidFill>
                          <a:latin typeface="Meiryo" pitchFamily="34" charset="0"/>
                          <a:ea typeface="Meiryo" pitchFamily="34" charset="-122"/>
                          <a:cs typeface="Meiryo" pitchFamily="34" charset="-120"/>
                        </a:rPr>
                        <a:t>◎ 完全な売却</a:t>
                      </a:r>
                      <a:endParaRPr lang="en-US" sz="105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17111A"/>
                    </a:solidFill>
                  </a:tcPr>
                </a:tc>
              </a:tr>
              <a:tr h="384048">
                <a:tc>
                  <a:txBody>
                    <a:bodyPr/>
                    <a:lstStyle/>
                    <a:p>
                      <a:pPr algn="l" indent="0" marL="0">
                        <a:buNone/>
                      </a:pPr>
                      <a:r>
                        <a:rPr lang="en-US" sz="1100" b="1" dirty="0">
                          <a:solidFill>
                            <a:srgbClr val="F2EDE6"/>
                          </a:solidFill>
                          <a:latin typeface="Meiryo" pitchFamily="34" charset="0"/>
                          <a:ea typeface="Meiryo" pitchFamily="34" charset="-122"/>
                          <a:cs typeface="Meiryo" pitchFamily="34" charset="-120"/>
                        </a:rPr>
                        <a:t>B/Sリスク</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61A24"/>
                    </a:solidFill>
                  </a:tcPr>
                </a:tc>
                <a:tc>
                  <a:txBody>
                    <a:bodyPr/>
                    <a:lstStyle/>
                    <a:p>
                      <a:pPr algn="ctr" indent="0" marL="0">
                        <a:buNone/>
                      </a:pPr>
                      <a:r>
                        <a:rPr lang="en-US" sz="1050" b="1" dirty="0">
                          <a:solidFill>
                            <a:srgbClr val="D96A6A"/>
                          </a:solidFill>
                          <a:latin typeface="Meiryo" pitchFamily="34" charset="0"/>
                          <a:ea typeface="Meiryo" pitchFamily="34" charset="-122"/>
                          <a:cs typeface="Meiryo" pitchFamily="34" charset="-120"/>
                        </a:rPr>
                        <a:t>✗ 規模に比例</a:t>
                      </a:r>
                      <a:endParaRPr lang="en-US" sz="105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17111A"/>
                    </a:solidFill>
                  </a:tcPr>
                </a:tc>
                <a:tc>
                  <a:txBody>
                    <a:bodyPr/>
                    <a:lstStyle/>
                    <a:p>
                      <a:pPr algn="ctr" indent="0" marL="0">
                        <a:buNone/>
                      </a:pPr>
                      <a:r>
                        <a:rPr lang="en-US" sz="1050" b="1" dirty="0">
                          <a:solidFill>
                            <a:srgbClr val="7FD1AE"/>
                          </a:solidFill>
                          <a:latin typeface="Meiryo" pitchFamily="34" charset="0"/>
                          <a:ea typeface="Meiryo" pitchFamily="34" charset="-122"/>
                          <a:cs typeface="Meiryo" pitchFamily="34" charset="-120"/>
                        </a:rPr>
                        <a:t>◎ なし</a:t>
                      </a:r>
                      <a:endParaRPr lang="en-US" sz="105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17111A"/>
                    </a:solidFill>
                  </a:tcPr>
                </a:tc>
                <a:tc>
                  <a:txBody>
                    <a:bodyPr/>
                    <a:lstStyle/>
                    <a:p>
                      <a:pPr algn="ctr" indent="0" marL="0">
                        <a:buNone/>
                      </a:pPr>
                      <a:r>
                        <a:rPr lang="en-US" sz="1050" b="1" dirty="0">
                          <a:solidFill>
                            <a:srgbClr val="7FD1AE"/>
                          </a:solidFill>
                          <a:latin typeface="Meiryo" pitchFamily="34" charset="0"/>
                          <a:ea typeface="Meiryo" pitchFamily="34" charset="-122"/>
                          <a:cs typeface="Meiryo" pitchFamily="34" charset="-120"/>
                        </a:rPr>
                        <a:t>◎ なし</a:t>
                      </a:r>
                      <a:endParaRPr lang="en-US" sz="105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17111A"/>
                    </a:solidFill>
                  </a:tcPr>
                </a:tc>
              </a:tr>
              <a:tr h="384048">
                <a:tc>
                  <a:txBody>
                    <a:bodyPr/>
                    <a:lstStyle/>
                    <a:p>
                      <a:pPr algn="l" indent="0" marL="0">
                        <a:buNone/>
                      </a:pPr>
                      <a:r>
                        <a:rPr lang="en-US" sz="1100" b="1" dirty="0">
                          <a:solidFill>
                            <a:srgbClr val="F2EDE6"/>
                          </a:solidFill>
                          <a:latin typeface="Meiryo" pitchFamily="34" charset="0"/>
                          <a:ea typeface="Meiryo" pitchFamily="34" charset="-122"/>
                          <a:cs typeface="Meiryo" pitchFamily="34" charset="-120"/>
                        </a:rPr>
                        <a:t>利益相反</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61A24"/>
                    </a:solidFill>
                  </a:tcPr>
                </a:tc>
                <a:tc>
                  <a:txBody>
                    <a:bodyPr/>
                    <a:lstStyle/>
                    <a:p>
                      <a:pPr algn="ctr" indent="0" marL="0">
                        <a:buNone/>
                      </a:pPr>
                      <a:r>
                        <a:rPr lang="en-US" sz="1050" b="1" dirty="0">
                          <a:solidFill>
                            <a:srgbClr val="D96A6A"/>
                          </a:solidFill>
                          <a:latin typeface="Meiryo" pitchFamily="34" charset="0"/>
                          <a:ea typeface="Meiryo" pitchFamily="34" charset="-122"/>
                          <a:cs typeface="Meiryo" pitchFamily="34" charset="-120"/>
                        </a:rPr>
                        <a:t>✗ 当社が買主</a:t>
                      </a:r>
                      <a:endParaRPr lang="en-US" sz="105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17111A"/>
                    </a:solidFill>
                  </a:tcPr>
                </a:tc>
                <a:tc>
                  <a:txBody>
                    <a:bodyPr/>
                    <a:lstStyle/>
                    <a:p>
                      <a:pPr algn="ctr" indent="0" marL="0">
                        <a:buNone/>
                      </a:pPr>
                      <a:r>
                        <a:rPr lang="en-US" sz="1050" b="1" dirty="0">
                          <a:solidFill>
                            <a:srgbClr val="7FD1AE"/>
                          </a:solidFill>
                          <a:latin typeface="Meiryo" pitchFamily="34" charset="0"/>
                          <a:ea typeface="Meiryo" pitchFamily="34" charset="-122"/>
                          <a:cs typeface="Meiryo" pitchFamily="34" charset="-120"/>
                        </a:rPr>
                        <a:t>◎ 値上がりだけを共に願う</a:t>
                      </a:r>
                      <a:endParaRPr lang="en-US" sz="105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17111A"/>
                    </a:solidFill>
                  </a:tcPr>
                </a:tc>
                <a:tc>
                  <a:txBody>
                    <a:bodyPr/>
                    <a:lstStyle/>
                    <a:p>
                      <a:pPr algn="ctr" indent="0" marL="0">
                        <a:buNone/>
                      </a:pPr>
                      <a:r>
                        <a:rPr lang="en-US" sz="1050" b="1" dirty="0">
                          <a:solidFill>
                            <a:srgbClr val="E0A458"/>
                          </a:solidFill>
                          <a:latin typeface="Meiryo" pitchFamily="34" charset="0"/>
                          <a:ea typeface="Meiryo" pitchFamily="34" charset="-122"/>
                          <a:cs typeface="Meiryo" pitchFamily="34" charset="-120"/>
                        </a:rPr>
                        <a:t>△ 当社は早く売りたい</a:t>
                      </a:r>
                      <a:endParaRPr lang="en-US" sz="105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17111A"/>
                    </a:solidFill>
                  </a:tcPr>
                </a:tc>
              </a:tr>
              <a:tr h="384048">
                <a:tc>
                  <a:txBody>
                    <a:bodyPr/>
                    <a:lstStyle/>
                    <a:p>
                      <a:pPr algn="l" indent="0" marL="0">
                        <a:buNone/>
                      </a:pPr>
                      <a:r>
                        <a:rPr lang="en-US" sz="1100" b="1" dirty="0">
                          <a:solidFill>
                            <a:srgbClr val="F2EDE6"/>
                          </a:solidFill>
                          <a:latin typeface="Meiryo" pitchFamily="34" charset="0"/>
                          <a:ea typeface="Meiryo" pitchFamily="34" charset="-122"/>
                          <a:cs typeface="Meiryo" pitchFamily="34" charset="-120"/>
                        </a:rPr>
                        <a:t>顧客の自由度</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61A24"/>
                    </a:solidFill>
                  </a:tcPr>
                </a:tc>
                <a:tc>
                  <a:txBody>
                    <a:bodyPr/>
                    <a:lstStyle/>
                    <a:p>
                      <a:pPr algn="ctr" indent="0" marL="0">
                        <a:buNone/>
                      </a:pPr>
                      <a:r>
                        <a:rPr lang="en-US" sz="1050" b="1" dirty="0">
                          <a:solidFill>
                            <a:srgbClr val="E0A458"/>
                          </a:solidFill>
                          <a:latin typeface="Meiryo" pitchFamily="34" charset="0"/>
                          <a:ea typeface="Meiryo" pitchFamily="34" charset="-122"/>
                          <a:cs typeface="Meiryo" pitchFamily="34" charset="-120"/>
                        </a:rPr>
                        <a:t>△</a:t>
                      </a:r>
                      <a:endParaRPr lang="en-US" sz="105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17111A"/>
                    </a:solidFill>
                  </a:tcPr>
                </a:tc>
                <a:tc>
                  <a:txBody>
                    <a:bodyPr/>
                    <a:lstStyle/>
                    <a:p>
                      <a:pPr algn="ctr" indent="0" marL="0">
                        <a:buNone/>
                      </a:pPr>
                      <a:r>
                        <a:rPr lang="en-US" sz="1050" b="1" dirty="0">
                          <a:solidFill>
                            <a:srgbClr val="7FD1AE"/>
                          </a:solidFill>
                          <a:latin typeface="Meiryo" pitchFamily="34" charset="0"/>
                          <a:ea typeface="Meiryo" pitchFamily="34" charset="-122"/>
                          <a:cs typeface="Meiryo" pitchFamily="34" charset="-120"/>
                        </a:rPr>
                        <a:t>◎ 縛らない</a:t>
                      </a:r>
                      <a:endParaRPr lang="en-US" sz="105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17111A"/>
                    </a:solidFill>
                  </a:tcPr>
                </a:tc>
                <a:tc>
                  <a:txBody>
                    <a:bodyPr/>
                    <a:lstStyle/>
                    <a:p>
                      <a:pPr algn="ctr" indent="0" marL="0">
                        <a:buNone/>
                      </a:pPr>
                      <a:r>
                        <a:rPr lang="en-US" sz="1050" b="1" dirty="0">
                          <a:solidFill>
                            <a:srgbClr val="D96A6A"/>
                          </a:solidFill>
                          <a:latin typeface="Meiryo" pitchFamily="34" charset="0"/>
                          <a:ea typeface="Meiryo" pitchFamily="34" charset="-122"/>
                          <a:cs typeface="Meiryo" pitchFamily="34" charset="-120"/>
                        </a:rPr>
                        <a:t>✗ 専属専任で縛る</a:t>
                      </a:r>
                      <a:endParaRPr lang="en-US" sz="105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17111A"/>
                    </a:solidFill>
                  </a:tcPr>
                </a:tc>
              </a:tr>
              <a:tr h="384048">
                <a:tc>
                  <a:txBody>
                    <a:bodyPr/>
                    <a:lstStyle/>
                    <a:p>
                      <a:pPr algn="l" indent="0" marL="0">
                        <a:buNone/>
                      </a:pPr>
                      <a:r>
                        <a:rPr lang="en-US" sz="1100" b="1" dirty="0">
                          <a:solidFill>
                            <a:srgbClr val="F2EDE6"/>
                          </a:solidFill>
                          <a:latin typeface="Meiryo" pitchFamily="34" charset="0"/>
                          <a:ea typeface="Meiryo" pitchFamily="34" charset="-122"/>
                          <a:cs typeface="Meiryo" pitchFamily="34" charset="-120"/>
                        </a:rPr>
                        <a:t>当社の年率（5年）</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61A24"/>
                    </a:solidFill>
                  </a:tcPr>
                </a:tc>
                <a:tc>
                  <a:txBody>
                    <a:bodyPr/>
                    <a:lstStyle/>
                    <a:p>
                      <a:pPr algn="ctr" indent="0" marL="0">
                        <a:buNone/>
                      </a:pPr>
                      <a:r>
                        <a:rPr lang="en-US" sz="1100" dirty="0">
                          <a:solidFill>
                            <a:srgbClr val="F2EDE6"/>
                          </a:solidFill>
                          <a:latin typeface="Meiryo" pitchFamily="34" charset="0"/>
                          <a:ea typeface="Meiryo" pitchFamily="34" charset="-122"/>
                          <a:cs typeface="Meiryo" pitchFamily="34" charset="-120"/>
                        </a:rPr>
                        <a:t>約7.0%</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17111A"/>
                    </a:solidFill>
                  </a:tcPr>
                </a:tc>
                <a:tc>
                  <a:txBody>
                    <a:bodyPr/>
                    <a:lstStyle/>
                    <a:p>
                      <a:pPr algn="ctr" indent="0" marL="0">
                        <a:buNone/>
                      </a:pPr>
                      <a:r>
                        <a:rPr lang="en-US" sz="1100" b="1" dirty="0">
                          <a:solidFill>
                            <a:srgbClr val="C9A227"/>
                          </a:solidFill>
                          <a:latin typeface="Meiryo" pitchFamily="34" charset="0"/>
                          <a:ea typeface="Meiryo" pitchFamily="34" charset="-122"/>
                          <a:cs typeface="Meiryo" pitchFamily="34" charset="-120"/>
                        </a:rPr>
                        <a:t>約1.95%</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17111A"/>
                    </a:solidFill>
                  </a:tcPr>
                </a:tc>
                <a:tc>
                  <a:txBody>
                    <a:bodyPr/>
                    <a:lstStyle/>
                    <a:p>
                      <a:pPr algn="ctr" indent="0" marL="0">
                        <a:buNone/>
                      </a:pPr>
                      <a:r>
                        <a:rPr lang="en-US" sz="1100" dirty="0">
                          <a:solidFill>
                            <a:srgbClr val="F2EDE6"/>
                          </a:solidFill>
                          <a:latin typeface="Meiryo" pitchFamily="34" charset="0"/>
                          <a:ea typeface="Meiryo" pitchFamily="34" charset="-122"/>
                          <a:cs typeface="Meiryo" pitchFamily="34" charset="-120"/>
                        </a:rPr>
                        <a:t>約3.7%</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17111A"/>
                    </a:solidFill>
                  </a:tcPr>
                </a:tc>
              </a:tr>
            </a:tbl>
          </a:graphicData>
        </a:graphic>
      </p:graphicFrame>
      <p:sp>
        <p:nvSpPr>
          <p:cNvPr id="7" name="Shape 4"/>
          <p:cNvSpPr/>
          <p:nvPr/>
        </p:nvSpPr>
        <p:spPr>
          <a:xfrm>
            <a:off x="566928" y="4864608"/>
            <a:ext cx="5394960" cy="1188720"/>
          </a:xfrm>
          <a:prstGeom prst="roundRect">
            <a:avLst>
              <a:gd name="adj" fmla="val 4615"/>
            </a:avLst>
          </a:prstGeom>
          <a:solidFill>
            <a:srgbClr val="17111A"/>
          </a:solidFill>
          <a:ln w="12700">
            <a:solidFill>
              <a:srgbClr val="17111A"/>
            </a:solidFill>
            <a:prstDash val="solid"/>
          </a:ln>
          <a:effectLst>
            <a:outerShdw sx="100000" sy="100000" kx="0" ky="0" algn="bl" rotWithShape="0" blurRad="127000" dist="25400" dir="5400000">
              <a:srgbClr val="000000">
                <a:alpha val="35000"/>
              </a:srgbClr>
            </a:outerShdw>
          </a:effectLst>
        </p:spPr>
      </p:sp>
      <p:sp>
        <p:nvSpPr>
          <p:cNvPr id="8" name="Text 5"/>
          <p:cNvSpPr txBox="1"/>
          <p:nvPr/>
        </p:nvSpPr>
        <p:spPr>
          <a:xfrm>
            <a:off x="932688" y="4992624"/>
            <a:ext cx="4663440" cy="274320"/>
          </a:xfrm>
          <a:prstGeom prst="rect">
            <a:avLst/>
          </a:prstGeom>
          <a:noFill/>
          <a:ln/>
        </p:spPr>
        <p:txBody>
          <a:bodyPr wrap="square" lIns="0" tIns="0" rIns="0" bIns="0" rtlCol="0" anchor="ctr"/>
          <a:lstStyle/>
          <a:p>
            <a:pPr indent="0" marL="0">
              <a:buNone/>
            </a:pPr>
            <a:r>
              <a:rPr lang="en-US" sz="1400" b="1" dirty="0">
                <a:solidFill>
                  <a:srgbClr val="E8CE78"/>
                </a:solidFill>
                <a:latin typeface="Meiryo" pitchFamily="34" charset="0"/>
                <a:ea typeface="Meiryo" pitchFamily="34" charset="-122"/>
                <a:cs typeface="Meiryo" pitchFamily="34" charset="-120"/>
              </a:rPr>
              <a:t>30%でも「手数料」であって「分配」ではない</a:t>
            </a:r>
            <a:endParaRPr lang="en-US" sz="1400" dirty="0"/>
          </a:p>
        </p:txBody>
      </p:sp>
      <p:sp>
        <p:nvSpPr>
          <p:cNvPr id="9" name="Text 6"/>
          <p:cNvSpPr txBox="1"/>
          <p:nvPr/>
        </p:nvSpPr>
        <p:spPr>
          <a:xfrm>
            <a:off x="932688" y="5285232"/>
            <a:ext cx="4663440" cy="676656"/>
          </a:xfrm>
          <a:prstGeom prst="rect">
            <a:avLst/>
          </a:prstGeom>
          <a:noFill/>
          <a:ln/>
        </p:spPr>
        <p:txBody>
          <a:bodyPr wrap="square" lIns="0" tIns="0" rIns="0" bIns="0" rtlCol="0" anchor="ctr"/>
          <a:lstStyle/>
          <a:p>
            <a:pPr indent="0" marL="0">
              <a:lnSpc>
                <a:spcPts val="1500"/>
              </a:lnSpc>
              <a:buNone/>
            </a:pPr>
            <a:r>
              <a:rPr lang="en-US" sz="1050" dirty="0">
                <a:solidFill>
                  <a:srgbClr val="A2908C"/>
                </a:solidFill>
                <a:latin typeface="Meiryo" pitchFamily="34" charset="0"/>
                <a:ea typeface="Meiryo" pitchFamily="34" charset="-122"/>
                <a:cs typeface="Meiryo" pitchFamily="34" charset="-120"/>
              </a:rPr>
              <a:t>会員が当社に払う役務の成功報酬であり、会員への利益分配ではありません。P1ファンドの成功報酬25%に対し5ポイント高い水準ですが、当社が保管・保険・真正性管理まで担うことで説明できます。</a:t>
            </a:r>
            <a:endParaRPr lang="en-US" sz="1050" dirty="0"/>
          </a:p>
        </p:txBody>
      </p:sp>
      <p:sp>
        <p:nvSpPr>
          <p:cNvPr id="10" name="Shape 7"/>
          <p:cNvSpPr/>
          <p:nvPr/>
        </p:nvSpPr>
        <p:spPr>
          <a:xfrm>
            <a:off x="6199632" y="4864608"/>
            <a:ext cx="5394960" cy="1188720"/>
          </a:xfrm>
          <a:prstGeom prst="roundRect">
            <a:avLst>
              <a:gd name="adj" fmla="val 4615"/>
            </a:avLst>
          </a:prstGeom>
          <a:solidFill>
            <a:srgbClr val="7B1E3A"/>
          </a:solidFill>
          <a:ln w="12700">
            <a:solidFill>
              <a:srgbClr val="7B1E3A"/>
            </a:solidFill>
            <a:prstDash val="solid"/>
          </a:ln>
          <a:effectLst>
            <a:outerShdw sx="100000" sy="100000" kx="0" ky="0" algn="bl" rotWithShape="0" blurRad="127000" dist="25400" dir="5400000">
              <a:srgbClr val="000000">
                <a:alpha val="35000"/>
              </a:srgbClr>
            </a:outerShdw>
          </a:effectLst>
        </p:spPr>
      </p:sp>
      <p:sp>
        <p:nvSpPr>
          <p:cNvPr id="11" name="Text 8"/>
          <p:cNvSpPr txBox="1"/>
          <p:nvPr/>
        </p:nvSpPr>
        <p:spPr>
          <a:xfrm>
            <a:off x="6565392" y="4992624"/>
            <a:ext cx="4663440" cy="274320"/>
          </a:xfrm>
          <a:prstGeom prst="rect">
            <a:avLst/>
          </a:prstGeom>
          <a:noFill/>
          <a:ln/>
        </p:spPr>
        <p:txBody>
          <a:bodyPr wrap="square" lIns="0" tIns="0" rIns="0" bIns="0" rtlCol="0" anchor="ctr"/>
          <a:lstStyle/>
          <a:p>
            <a:pPr indent="0" marL="0">
              <a:buNone/>
            </a:pPr>
            <a:r>
              <a:rPr lang="en-US" sz="1400" b="1" dirty="0">
                <a:solidFill>
                  <a:srgbClr val="E8CE78"/>
                </a:solidFill>
                <a:latin typeface="Meiryo" pitchFamily="34" charset="0"/>
                <a:ea typeface="Meiryo" pitchFamily="34" charset="-122"/>
                <a:cs typeface="Meiryo" pitchFamily="34" charset="-120"/>
              </a:rPr>
              <a:t>縛らないために、精算は「契約終了時」に</a:t>
            </a:r>
            <a:endParaRPr lang="en-US" sz="1400" dirty="0"/>
          </a:p>
        </p:txBody>
      </p:sp>
      <p:sp>
        <p:nvSpPr>
          <p:cNvPr id="12" name="Text 9"/>
          <p:cNvSpPr txBox="1"/>
          <p:nvPr/>
        </p:nvSpPr>
        <p:spPr>
          <a:xfrm>
            <a:off x="6565392" y="5285232"/>
            <a:ext cx="4663440" cy="676656"/>
          </a:xfrm>
          <a:prstGeom prst="rect">
            <a:avLst/>
          </a:prstGeom>
          <a:noFill/>
          <a:ln/>
        </p:spPr>
        <p:txBody>
          <a:bodyPr wrap="square" lIns="0" tIns="0" rIns="0" bIns="0" rtlCol="0" anchor="ctr"/>
          <a:lstStyle/>
          <a:p>
            <a:pPr indent="0" marL="0">
              <a:lnSpc>
                <a:spcPts val="1500"/>
              </a:lnSpc>
              <a:buNone/>
            </a:pPr>
            <a:r>
              <a:rPr lang="en-US" sz="1050" dirty="0">
                <a:solidFill>
                  <a:srgbClr val="F2EDE6"/>
                </a:solidFill>
                <a:latin typeface="Meiryo" pitchFamily="34" charset="0"/>
                <a:ea typeface="Meiryo" pitchFamily="34" charset="-122"/>
                <a:cs typeface="Meiryo" pitchFamily="34" charset="-120"/>
              </a:rPr>
              <a:t>売却時精算だと、拘束がない限り会員は当社を通さず売ります。契約終了時にLiv-ex連動評価額の差分で精算すれば、どこで売っても飲んでも同じ。専属専任も媒介手数料も不要です。</a:t>
            </a:r>
            <a:endParaRPr lang="en-US" sz="10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00000"/>
        </a:solidFill>
      </p:bgPr>
    </p:bg>
    <p:spTree>
      <p:nvGrpSpPr>
        <p:cNvPr id="1" name=""/>
        <p:cNvGrpSpPr/>
        <p:nvPr/>
      </p:nvGrpSpPr>
      <p:grpSpPr>
        <a:xfrm>
          <a:off x="0" y="0"/>
          <a:ext cx="0" cy="0"/>
          <a:chOff x="0" y="0"/>
          <a:chExt cx="0" cy="0"/>
        </a:xfrm>
      </p:grpSpPr>
      <p:sp>
        <p:nvSpPr>
          <p:cNvPr id="2" name="Text 0"/>
          <p:cNvSpPr txBox="1"/>
          <p:nvPr/>
        </p:nvSpPr>
        <p:spPr>
          <a:xfrm>
            <a:off x="566928" y="310896"/>
            <a:ext cx="11027664" cy="237744"/>
          </a:xfrm>
          <a:prstGeom prst="rect">
            <a:avLst/>
          </a:prstGeom>
          <a:noFill/>
          <a:ln/>
        </p:spPr>
        <p:txBody>
          <a:bodyPr wrap="square" lIns="0" tIns="0" rIns="0" bIns="0" rtlCol="0" anchor="ctr"/>
          <a:lstStyle/>
          <a:p>
            <a:pPr indent="0" marL="0">
              <a:buNone/>
            </a:pPr>
            <a:r>
              <a:rPr lang="en-US" sz="1050" b="1" spc="300" kern="0" dirty="0">
                <a:solidFill>
                  <a:srgbClr val="C9A227"/>
                </a:solidFill>
                <a:latin typeface="Arial" pitchFamily="34" charset="0"/>
                <a:ea typeface="Arial" pitchFamily="34" charset="-122"/>
                <a:cs typeface="Arial" pitchFamily="34" charset="-120"/>
              </a:rPr>
              <a:t>TWO TRACKS</a:t>
            </a:r>
            <a:endParaRPr lang="en-US" sz="1050" dirty="0"/>
          </a:p>
        </p:txBody>
      </p:sp>
      <p:sp>
        <p:nvSpPr>
          <p:cNvPr id="3" name="Text 1"/>
          <p:cNvSpPr txBox="1"/>
          <p:nvPr/>
        </p:nvSpPr>
        <p:spPr>
          <a:xfrm>
            <a:off x="566928" y="566928"/>
            <a:ext cx="11027664" cy="548640"/>
          </a:xfrm>
          <a:prstGeom prst="rect">
            <a:avLst/>
          </a:prstGeom>
          <a:noFill/>
          <a:ln/>
        </p:spPr>
        <p:txBody>
          <a:bodyPr wrap="square" lIns="0" tIns="0" rIns="0" bIns="0" rtlCol="0" anchor="ctr"/>
          <a:lstStyle/>
          <a:p>
            <a:pPr indent="0" marL="0">
              <a:buNone/>
            </a:pPr>
            <a:r>
              <a:rPr lang="en-US" sz="2900" b="1" dirty="0">
                <a:solidFill>
                  <a:srgbClr val="F2EDE6"/>
                </a:solidFill>
                <a:latin typeface="Meiryo" pitchFamily="34" charset="0"/>
                <a:ea typeface="Meiryo" pitchFamily="34" charset="-122"/>
                <a:cs typeface="Meiryo" pitchFamily="34" charset="-120"/>
              </a:rPr>
              <a:t>運用型を基本に。ただし「飲みたい」も、無理なく受け止める。</a:t>
            </a:r>
            <a:endParaRPr lang="en-US" sz="2900" dirty="0"/>
          </a:p>
        </p:txBody>
      </p:sp>
      <p:sp>
        <p:nvSpPr>
          <p:cNvPr id="4" name="Text 2"/>
          <p:cNvSpPr txBox="1"/>
          <p:nvPr/>
        </p:nvSpPr>
        <p:spPr>
          <a:xfrm>
            <a:off x="566928" y="1152144"/>
            <a:ext cx="11027664" cy="310896"/>
          </a:xfrm>
          <a:prstGeom prst="rect">
            <a:avLst/>
          </a:prstGeom>
          <a:noFill/>
          <a:ln/>
        </p:spPr>
        <p:txBody>
          <a:bodyPr wrap="square" lIns="0" tIns="0" rIns="0" bIns="0" rtlCol="0" anchor="ctr"/>
          <a:lstStyle/>
          <a:p>
            <a:pPr indent="0" marL="0">
              <a:buNone/>
            </a:pPr>
            <a:r>
              <a:rPr lang="en-US" sz="1300" dirty="0">
                <a:solidFill>
                  <a:srgbClr val="A2908C"/>
                </a:solidFill>
                <a:latin typeface="Meiryo" pitchFamily="34" charset="0"/>
                <a:ea typeface="Meiryo" pitchFamily="34" charset="-122"/>
                <a:cs typeface="Meiryo" pitchFamily="34" charset="-120"/>
              </a:rPr>
              <a:t>飲むつもりの人に成果報酬は不要です。そして運用型の人も、途中で飲みたくなります。</a:t>
            </a:r>
            <a:endParaRPr lang="en-US" sz="1300" dirty="0"/>
          </a:p>
        </p:txBody>
      </p:sp>
      <p:sp>
        <p:nvSpPr>
          <p:cNvPr id="5" name="Text 3"/>
          <p:cNvSpPr txBox="1"/>
          <p:nvPr/>
        </p:nvSpPr>
        <p:spPr>
          <a:xfrm>
            <a:off x="566928" y="6437376"/>
            <a:ext cx="4572000" cy="219456"/>
          </a:xfrm>
          <a:prstGeom prst="rect">
            <a:avLst/>
          </a:prstGeom>
          <a:noFill/>
          <a:ln/>
        </p:spPr>
        <p:txBody>
          <a:bodyPr wrap="square" lIns="0" tIns="0" rIns="0" bIns="0" rtlCol="0" anchor="ctr"/>
          <a:lstStyle/>
          <a:p>
            <a:pPr indent="0" marL="0">
              <a:buNone/>
            </a:pPr>
            <a:r>
              <a:rPr lang="en-US" sz="850" dirty="0">
                <a:solidFill>
                  <a:srgbClr val="6B5A5F"/>
                </a:solidFill>
                <a:latin typeface="Arial" pitchFamily="34" charset="0"/>
                <a:ea typeface="Arial" pitchFamily="34" charset="-122"/>
                <a:cs typeface="Arial" pitchFamily="34" charset="-120"/>
              </a:rPr>
              <a:t>WineBank CONFIDENTIAL</a:t>
            </a:r>
            <a:endParaRPr lang="en-US" sz="850" dirty="0"/>
          </a:p>
        </p:txBody>
      </p:sp>
      <p:sp>
        <p:nvSpPr>
          <p:cNvPr id="6" name="Shape 4"/>
          <p:cNvSpPr/>
          <p:nvPr/>
        </p:nvSpPr>
        <p:spPr>
          <a:xfrm>
            <a:off x="566928" y="1627632"/>
            <a:ext cx="5394960" cy="1975104"/>
          </a:xfrm>
          <a:prstGeom prst="roundRect">
            <a:avLst>
              <a:gd name="adj" fmla="val 2778"/>
            </a:avLst>
          </a:prstGeom>
          <a:solidFill>
            <a:srgbClr val="261A24"/>
          </a:solidFill>
          <a:ln w="12700">
            <a:solidFill>
              <a:srgbClr val="261A24"/>
            </a:solidFill>
            <a:prstDash val="solid"/>
          </a:ln>
          <a:effectLst>
            <a:outerShdw sx="100000" sy="100000" kx="0" ky="0" algn="bl" rotWithShape="0" blurRad="127000" dist="25400" dir="5400000">
              <a:srgbClr val="000000">
                <a:alpha val="35000"/>
              </a:srgbClr>
            </a:outerShdw>
          </a:effectLst>
        </p:spPr>
      </p:sp>
      <p:sp>
        <p:nvSpPr>
          <p:cNvPr id="7" name="Text 5"/>
          <p:cNvSpPr txBox="1"/>
          <p:nvPr/>
        </p:nvSpPr>
        <p:spPr>
          <a:xfrm>
            <a:off x="932688" y="1792224"/>
            <a:ext cx="4663440" cy="329184"/>
          </a:xfrm>
          <a:prstGeom prst="rect">
            <a:avLst/>
          </a:prstGeom>
          <a:noFill/>
          <a:ln/>
        </p:spPr>
        <p:txBody>
          <a:bodyPr wrap="square" lIns="0" tIns="0" rIns="0" bIns="0" rtlCol="0" anchor="ctr"/>
          <a:lstStyle/>
          <a:p>
            <a:pPr indent="0" marL="0">
              <a:buNone/>
            </a:pPr>
            <a:r>
              <a:rPr lang="en-US" sz="1800" b="1" dirty="0">
                <a:solidFill>
                  <a:srgbClr val="C9A227"/>
                </a:solidFill>
                <a:latin typeface="Meiryo" pitchFamily="34" charset="0"/>
                <a:ea typeface="Meiryo" pitchFamily="34" charset="-122"/>
                <a:cs typeface="Meiryo" pitchFamily="34" charset="-120"/>
              </a:rPr>
              <a:t>運用型（推奨・基本）</a:t>
            </a:r>
            <a:endParaRPr lang="en-US" sz="1800" dirty="0"/>
          </a:p>
        </p:txBody>
      </p:sp>
      <p:sp>
        <p:nvSpPr>
          <p:cNvPr id="8" name="Text 6"/>
          <p:cNvSpPr txBox="1"/>
          <p:nvPr/>
        </p:nvSpPr>
        <p:spPr>
          <a:xfrm>
            <a:off x="932688" y="2157984"/>
            <a:ext cx="4663440" cy="274320"/>
          </a:xfrm>
          <a:prstGeom prst="rect">
            <a:avLst/>
          </a:prstGeom>
          <a:noFill/>
          <a:ln/>
        </p:spPr>
        <p:txBody>
          <a:bodyPr wrap="square" lIns="0" tIns="0" rIns="0" bIns="0" rtlCol="0" anchor="ctr"/>
          <a:lstStyle/>
          <a:p>
            <a:pPr indent="0" marL="0">
              <a:buNone/>
            </a:pPr>
            <a:r>
              <a:rPr lang="en-US" sz="1200" dirty="0">
                <a:solidFill>
                  <a:srgbClr val="A2908C"/>
                </a:solidFill>
                <a:latin typeface="Meiryo" pitchFamily="34" charset="0"/>
                <a:ea typeface="Meiryo" pitchFamily="34" charset="-122"/>
                <a:cs typeface="Meiryo" pitchFamily="34" charset="-120"/>
              </a:rPr>
              <a:t>売買・管理 ＋ 成果報酬</a:t>
            </a:r>
            <a:endParaRPr lang="en-US" sz="1200" dirty="0"/>
          </a:p>
        </p:txBody>
      </p:sp>
      <p:sp>
        <p:nvSpPr>
          <p:cNvPr id="9" name="Text 7"/>
          <p:cNvSpPr txBox="1"/>
          <p:nvPr/>
        </p:nvSpPr>
        <p:spPr>
          <a:xfrm>
            <a:off x="932688" y="2523744"/>
            <a:ext cx="4663440" cy="1005840"/>
          </a:xfrm>
          <a:prstGeom prst="rect">
            <a:avLst/>
          </a:prstGeom>
          <a:noFill/>
          <a:ln/>
        </p:spPr>
        <p:txBody>
          <a:bodyPr wrap="square" lIns="0" tIns="0" rIns="0" bIns="0" rtlCol="0" anchor="t"/>
          <a:lstStyle/>
          <a:p>
            <a:pPr marL="152400" indent="-152400">
              <a:lnSpc>
                <a:spcPts val="1700"/>
              </a:lnSpc>
              <a:spcAft>
                <a:spcPts val="800"/>
              </a:spcAft>
              <a:buSzPct val="100000"/>
              <a:buChar char="•"/>
            </a:pPr>
            <a:r>
              <a:rPr lang="en-US" sz="1150" dirty="0">
                <a:solidFill>
                  <a:srgbClr val="F2EDE6"/>
                </a:solidFill>
                <a:latin typeface="Meiryo" pitchFamily="34" charset="0"/>
                <a:ea typeface="Meiryo" pitchFamily="34" charset="-122"/>
                <a:cs typeface="Meiryo" pitchFamily="34" charset="-120"/>
              </a:rPr>
              <a:t>所有権は会員のまま。当社が保管・保険・管理</a:t>
            </a:r>
            <a:endParaRPr lang="en-US" sz="1150" dirty="0"/>
          </a:p>
          <a:p>
            <a:pPr marL="152400" indent="-152400">
              <a:lnSpc>
                <a:spcPts val="1700"/>
              </a:lnSpc>
              <a:spcAft>
                <a:spcPts val="800"/>
              </a:spcAft>
              <a:buSzPct val="100000"/>
              <a:buChar char="•"/>
            </a:pPr>
            <a:r>
              <a:rPr lang="en-US" sz="1150" dirty="0">
                <a:solidFill>
                  <a:srgbClr val="F2EDE6"/>
                </a:solidFill>
                <a:latin typeface="Meiryo" pitchFamily="34" charset="0"/>
                <a:ea typeface="Meiryo" pitchFamily="34" charset="-122"/>
                <a:cs typeface="Meiryo" pitchFamily="34" charset="-120"/>
              </a:rPr>
              <a:t>マイルは管理料に対するおまけ（無償）</a:t>
            </a:r>
            <a:endParaRPr lang="en-US" sz="1150" dirty="0"/>
          </a:p>
          <a:p>
            <a:pPr marL="152400" indent="-152400">
              <a:lnSpc>
                <a:spcPts val="1700"/>
              </a:lnSpc>
              <a:spcAft>
                <a:spcPts val="800"/>
              </a:spcAft>
              <a:buSzPct val="100000"/>
              <a:buChar char="•"/>
            </a:pPr>
            <a:r>
              <a:rPr lang="en-US" sz="1150" dirty="0">
                <a:solidFill>
                  <a:srgbClr val="F2EDE6"/>
                </a:solidFill>
                <a:latin typeface="Meiryo" pitchFamily="34" charset="0"/>
                <a:ea typeface="Meiryo" pitchFamily="34" charset="-122"/>
                <a:cs typeface="Meiryo" pitchFamily="34" charset="-120"/>
              </a:rPr>
              <a:t>値上がりの70〜75%は会員のもの。出口は自由</a:t>
            </a:r>
            <a:endParaRPr lang="en-US" sz="1150" dirty="0"/>
          </a:p>
        </p:txBody>
      </p:sp>
      <p:sp>
        <p:nvSpPr>
          <p:cNvPr id="10" name="Shape 8"/>
          <p:cNvSpPr/>
          <p:nvPr/>
        </p:nvSpPr>
        <p:spPr>
          <a:xfrm>
            <a:off x="6199632" y="1627632"/>
            <a:ext cx="5394960" cy="1975104"/>
          </a:xfrm>
          <a:prstGeom prst="roundRect">
            <a:avLst>
              <a:gd name="adj" fmla="val 2778"/>
            </a:avLst>
          </a:prstGeom>
          <a:solidFill>
            <a:srgbClr val="17111A"/>
          </a:solidFill>
          <a:ln w="12700">
            <a:solidFill>
              <a:srgbClr val="17111A"/>
            </a:solidFill>
            <a:prstDash val="solid"/>
          </a:ln>
          <a:effectLst>
            <a:outerShdw sx="100000" sy="100000" kx="0" ky="0" algn="bl" rotWithShape="0" blurRad="127000" dist="25400" dir="5400000">
              <a:srgbClr val="000000">
                <a:alpha val="35000"/>
              </a:srgbClr>
            </a:outerShdw>
          </a:effectLst>
        </p:spPr>
      </p:sp>
      <p:sp>
        <p:nvSpPr>
          <p:cNvPr id="11" name="Text 9"/>
          <p:cNvSpPr txBox="1"/>
          <p:nvPr/>
        </p:nvSpPr>
        <p:spPr>
          <a:xfrm>
            <a:off x="6565392" y="1792224"/>
            <a:ext cx="4663440" cy="329184"/>
          </a:xfrm>
          <a:prstGeom prst="rect">
            <a:avLst/>
          </a:prstGeom>
          <a:noFill/>
          <a:ln/>
        </p:spPr>
        <p:txBody>
          <a:bodyPr wrap="square" lIns="0" tIns="0" rIns="0" bIns="0" rtlCol="0" anchor="ctr"/>
          <a:lstStyle/>
          <a:p>
            <a:pPr indent="0" marL="0">
              <a:buNone/>
            </a:pPr>
            <a:r>
              <a:rPr lang="en-US" sz="1800" b="1" dirty="0">
                <a:solidFill>
                  <a:srgbClr val="7FD1AE"/>
                </a:solidFill>
                <a:latin typeface="Meiryo" pitchFamily="34" charset="0"/>
                <a:ea typeface="Meiryo" pitchFamily="34" charset="-122"/>
                <a:cs typeface="Meiryo" pitchFamily="34" charset="-120"/>
              </a:rPr>
              <a:t>消費型（自己利用・贈答）</a:t>
            </a:r>
            <a:endParaRPr lang="en-US" sz="1800" dirty="0"/>
          </a:p>
        </p:txBody>
      </p:sp>
      <p:sp>
        <p:nvSpPr>
          <p:cNvPr id="12" name="Text 10"/>
          <p:cNvSpPr txBox="1"/>
          <p:nvPr/>
        </p:nvSpPr>
        <p:spPr>
          <a:xfrm>
            <a:off x="6565392" y="2157984"/>
            <a:ext cx="4663440" cy="274320"/>
          </a:xfrm>
          <a:prstGeom prst="rect">
            <a:avLst/>
          </a:prstGeom>
          <a:noFill/>
          <a:ln/>
        </p:spPr>
        <p:txBody>
          <a:bodyPr wrap="square" lIns="0" tIns="0" rIns="0" bIns="0" rtlCol="0" anchor="ctr"/>
          <a:lstStyle/>
          <a:p>
            <a:pPr indent="0" marL="0">
              <a:buNone/>
            </a:pPr>
            <a:r>
              <a:rPr lang="en-US" sz="1200" dirty="0">
                <a:solidFill>
                  <a:srgbClr val="A2908C"/>
                </a:solidFill>
                <a:latin typeface="Meiryo" pitchFamily="34" charset="0"/>
                <a:ea typeface="Meiryo" pitchFamily="34" charset="-122"/>
                <a:cs typeface="Meiryo" pitchFamily="34" charset="-120"/>
              </a:rPr>
              <a:t>売買 ＋ 寄託のみ</a:t>
            </a:r>
            <a:endParaRPr lang="en-US" sz="1200" dirty="0"/>
          </a:p>
        </p:txBody>
      </p:sp>
      <p:sp>
        <p:nvSpPr>
          <p:cNvPr id="13" name="Text 11"/>
          <p:cNvSpPr txBox="1"/>
          <p:nvPr/>
        </p:nvSpPr>
        <p:spPr>
          <a:xfrm>
            <a:off x="6565392" y="2523744"/>
            <a:ext cx="4663440" cy="1005840"/>
          </a:xfrm>
          <a:prstGeom prst="rect">
            <a:avLst/>
          </a:prstGeom>
          <a:noFill/>
          <a:ln/>
        </p:spPr>
        <p:txBody>
          <a:bodyPr wrap="square" lIns="0" tIns="0" rIns="0" bIns="0" rtlCol="0" anchor="t"/>
          <a:lstStyle/>
          <a:p>
            <a:pPr marL="152400" indent="-152400">
              <a:lnSpc>
                <a:spcPts val="1700"/>
              </a:lnSpc>
              <a:spcAft>
                <a:spcPts val="800"/>
              </a:spcAft>
              <a:buSzPct val="100000"/>
              <a:buChar char="•"/>
            </a:pPr>
            <a:r>
              <a:rPr lang="en-US" sz="1150" dirty="0">
                <a:solidFill>
                  <a:srgbClr val="F2EDE6"/>
                </a:solidFill>
                <a:latin typeface="Meiryo" pitchFamily="34" charset="0"/>
                <a:ea typeface="Meiryo" pitchFamily="34" charset="-122"/>
                <a:cs typeface="Meiryo" pitchFamily="34" charset="-120"/>
              </a:rPr>
              <a:t>成果報酬はかからない</a:t>
            </a:r>
            <a:endParaRPr lang="en-US" sz="1150" dirty="0"/>
          </a:p>
          <a:p>
            <a:pPr marL="152400" indent="-152400">
              <a:lnSpc>
                <a:spcPts val="1700"/>
              </a:lnSpc>
              <a:spcAft>
                <a:spcPts val="800"/>
              </a:spcAft>
              <a:buSzPct val="100000"/>
              <a:buChar char="•"/>
            </a:pPr>
            <a:r>
              <a:rPr lang="en-US" sz="1150" dirty="0">
                <a:solidFill>
                  <a:srgbClr val="F2EDE6"/>
                </a:solidFill>
                <a:latin typeface="Meiryo" pitchFamily="34" charset="0"/>
                <a:ea typeface="Meiryo" pitchFamily="34" charset="-122"/>
                <a:cs typeface="Meiryo" pitchFamily="34" charset="-120"/>
              </a:rPr>
              <a:t>マイルは購入時の還元として付与</a:t>
            </a:r>
            <a:endParaRPr lang="en-US" sz="1150" dirty="0"/>
          </a:p>
          <a:p>
            <a:pPr marL="152400" indent="-152400">
              <a:lnSpc>
                <a:spcPts val="1700"/>
              </a:lnSpc>
              <a:spcAft>
                <a:spcPts val="800"/>
              </a:spcAft>
              <a:buSzPct val="100000"/>
              <a:buChar char="•"/>
            </a:pPr>
            <a:r>
              <a:rPr lang="en-US" sz="1150" dirty="0">
                <a:solidFill>
                  <a:srgbClr val="F2EDE6"/>
                </a:solidFill>
                <a:latin typeface="Meiryo" pitchFamily="34" charset="0"/>
                <a:ea typeface="Meiryo" pitchFamily="34" charset="-122"/>
                <a:cs typeface="Meiryo" pitchFamily="34" charset="-120"/>
              </a:rPr>
              <a:t>規制の表面積はほぼゼロ</a:t>
            </a:r>
            <a:endParaRPr lang="en-US" sz="1150" dirty="0"/>
          </a:p>
        </p:txBody>
      </p:sp>
      <p:sp>
        <p:nvSpPr>
          <p:cNvPr id="14" name="Shape 12"/>
          <p:cNvSpPr/>
          <p:nvPr/>
        </p:nvSpPr>
        <p:spPr>
          <a:xfrm>
            <a:off x="566928" y="3749040"/>
            <a:ext cx="11027664" cy="1371600"/>
          </a:xfrm>
          <a:prstGeom prst="roundRect">
            <a:avLst>
              <a:gd name="adj" fmla="val 4000"/>
            </a:avLst>
          </a:prstGeom>
          <a:solidFill>
            <a:srgbClr val="261A24"/>
          </a:solidFill>
          <a:ln w="12700">
            <a:solidFill>
              <a:srgbClr val="261A24"/>
            </a:solidFill>
            <a:prstDash val="solid"/>
          </a:ln>
          <a:effectLst>
            <a:outerShdw sx="100000" sy="100000" kx="0" ky="0" algn="bl" rotWithShape="0" blurRad="127000" dist="25400" dir="5400000">
              <a:srgbClr val="000000">
                <a:alpha val="35000"/>
              </a:srgbClr>
            </a:outerShdw>
          </a:effectLst>
        </p:spPr>
      </p:sp>
      <p:sp>
        <p:nvSpPr>
          <p:cNvPr id="15" name="Text 13"/>
          <p:cNvSpPr txBox="1"/>
          <p:nvPr/>
        </p:nvSpPr>
        <p:spPr>
          <a:xfrm>
            <a:off x="978408" y="3931920"/>
            <a:ext cx="10204704" cy="310896"/>
          </a:xfrm>
          <a:prstGeom prst="rect">
            <a:avLst/>
          </a:prstGeom>
          <a:noFill/>
          <a:ln/>
        </p:spPr>
        <p:txBody>
          <a:bodyPr wrap="square" lIns="0" tIns="0" rIns="0" bIns="0" rtlCol="0" anchor="ctr"/>
          <a:lstStyle/>
          <a:p>
            <a:pPr indent="0" marL="0">
              <a:buNone/>
            </a:pPr>
            <a:r>
              <a:rPr lang="en-US" sz="1600" b="1" dirty="0">
                <a:solidFill>
                  <a:srgbClr val="E8CE78"/>
                </a:solidFill>
                <a:latin typeface="Meiryo" pitchFamily="34" charset="0"/>
                <a:ea typeface="Meiryo" pitchFamily="34" charset="-122"/>
                <a:cs typeface="Meiryo" pitchFamily="34" charset="-120"/>
              </a:rPr>
              <a:t>途中で飲みたくなったら —— 年に1度、まとめて精算します（年次リバランス）</a:t>
            </a:r>
            <a:endParaRPr lang="en-US" sz="1600" dirty="0"/>
          </a:p>
        </p:txBody>
      </p:sp>
      <p:sp>
        <p:nvSpPr>
          <p:cNvPr id="16" name="Text 14"/>
          <p:cNvSpPr txBox="1"/>
          <p:nvPr/>
        </p:nvSpPr>
        <p:spPr>
          <a:xfrm>
            <a:off x="978408" y="4352544"/>
            <a:ext cx="237744" cy="256032"/>
          </a:xfrm>
          <a:prstGeom prst="rect">
            <a:avLst/>
          </a:prstGeom>
          <a:noFill/>
          <a:ln/>
        </p:spPr>
        <p:txBody>
          <a:bodyPr wrap="square" lIns="0" tIns="0" rIns="0" bIns="0" rtlCol="0" anchor="ctr"/>
          <a:lstStyle/>
          <a:p>
            <a:pPr indent="0" marL="0">
              <a:buNone/>
            </a:pPr>
            <a:r>
              <a:rPr lang="en-US" sz="1200" b="1" dirty="0">
                <a:solidFill>
                  <a:srgbClr val="C9A227"/>
                </a:solidFill>
                <a:latin typeface="Meiryo" pitchFamily="34" charset="0"/>
                <a:ea typeface="Meiryo" pitchFamily="34" charset="-122"/>
                <a:cs typeface="Meiryo" pitchFamily="34" charset="-120"/>
              </a:rPr>
              <a:t>1.</a:t>
            </a:r>
            <a:endParaRPr lang="en-US" sz="1200" dirty="0"/>
          </a:p>
        </p:txBody>
      </p:sp>
      <p:sp>
        <p:nvSpPr>
          <p:cNvPr id="17" name="Text 15"/>
          <p:cNvSpPr txBox="1"/>
          <p:nvPr/>
        </p:nvSpPr>
        <p:spPr>
          <a:xfrm>
            <a:off x="1252728" y="4352544"/>
            <a:ext cx="3017520" cy="658368"/>
          </a:xfrm>
          <a:prstGeom prst="rect">
            <a:avLst/>
          </a:prstGeom>
          <a:noFill/>
          <a:ln/>
        </p:spPr>
        <p:txBody>
          <a:bodyPr wrap="square" lIns="0" tIns="0" rIns="0" bIns="0" rtlCol="0" anchor="ctr"/>
          <a:lstStyle/>
          <a:p>
            <a:pPr indent="0" marL="0">
              <a:lnSpc>
                <a:spcPts val="1600"/>
              </a:lnSpc>
              <a:buNone/>
            </a:pPr>
            <a:r>
              <a:rPr lang="en-US" sz="1100" dirty="0">
                <a:solidFill>
                  <a:srgbClr val="A2908C"/>
                </a:solidFill>
                <a:latin typeface="Meiryo" pitchFamily="34" charset="0"/>
                <a:ea typeface="Meiryo" pitchFamily="34" charset="-122"/>
                <a:cs typeface="Meiryo" pitchFamily="34" charset="-120"/>
              </a:rPr>
              <a:t>引き出して飲んだ分は、引出時の評価額で運用資産から控除</a:t>
            </a:r>
            <a:endParaRPr lang="en-US" sz="1100" dirty="0"/>
          </a:p>
        </p:txBody>
      </p:sp>
      <p:sp>
        <p:nvSpPr>
          <p:cNvPr id="18" name="Text 16"/>
          <p:cNvSpPr txBox="1"/>
          <p:nvPr/>
        </p:nvSpPr>
        <p:spPr>
          <a:xfrm>
            <a:off x="4498848" y="4352544"/>
            <a:ext cx="237744" cy="256032"/>
          </a:xfrm>
          <a:prstGeom prst="rect">
            <a:avLst/>
          </a:prstGeom>
          <a:noFill/>
          <a:ln/>
        </p:spPr>
        <p:txBody>
          <a:bodyPr wrap="square" lIns="0" tIns="0" rIns="0" bIns="0" rtlCol="0" anchor="ctr"/>
          <a:lstStyle/>
          <a:p>
            <a:pPr indent="0" marL="0">
              <a:buNone/>
            </a:pPr>
            <a:r>
              <a:rPr lang="en-US" sz="1200" b="1" dirty="0">
                <a:solidFill>
                  <a:srgbClr val="C9A227"/>
                </a:solidFill>
                <a:latin typeface="Meiryo" pitchFamily="34" charset="0"/>
                <a:ea typeface="Meiryo" pitchFamily="34" charset="-122"/>
                <a:cs typeface="Meiryo" pitchFamily="34" charset="-120"/>
              </a:rPr>
              <a:t>2.</a:t>
            </a:r>
            <a:endParaRPr lang="en-US" sz="1200" dirty="0"/>
          </a:p>
        </p:txBody>
      </p:sp>
      <p:sp>
        <p:nvSpPr>
          <p:cNvPr id="19" name="Text 17"/>
          <p:cNvSpPr txBox="1"/>
          <p:nvPr/>
        </p:nvSpPr>
        <p:spPr>
          <a:xfrm>
            <a:off x="4773168" y="4352544"/>
            <a:ext cx="3017520" cy="658368"/>
          </a:xfrm>
          <a:prstGeom prst="rect">
            <a:avLst/>
          </a:prstGeom>
          <a:noFill/>
          <a:ln/>
        </p:spPr>
        <p:txBody>
          <a:bodyPr wrap="square" lIns="0" tIns="0" rIns="0" bIns="0" rtlCol="0" anchor="ctr"/>
          <a:lstStyle/>
          <a:p>
            <a:pPr indent="0" marL="0">
              <a:lnSpc>
                <a:spcPts val="1600"/>
              </a:lnSpc>
              <a:buNone/>
            </a:pPr>
            <a:r>
              <a:rPr lang="en-US" sz="1100" dirty="0">
                <a:solidFill>
                  <a:srgbClr val="A2908C"/>
                </a:solidFill>
                <a:latin typeface="Meiryo" pitchFamily="34" charset="0"/>
                <a:ea typeface="Meiryo" pitchFamily="34" charset="-122"/>
                <a:cs typeface="Meiryo" pitchFamily="34" charset="-120"/>
              </a:rPr>
              <a:t>翌年の管理手数料とマイル付与は、控除後の残高で計算</a:t>
            </a:r>
            <a:endParaRPr lang="en-US" sz="1100" dirty="0"/>
          </a:p>
        </p:txBody>
      </p:sp>
      <p:sp>
        <p:nvSpPr>
          <p:cNvPr id="20" name="Text 18"/>
          <p:cNvSpPr txBox="1"/>
          <p:nvPr/>
        </p:nvSpPr>
        <p:spPr>
          <a:xfrm>
            <a:off x="8019288" y="4352544"/>
            <a:ext cx="237744" cy="256032"/>
          </a:xfrm>
          <a:prstGeom prst="rect">
            <a:avLst/>
          </a:prstGeom>
          <a:noFill/>
          <a:ln/>
        </p:spPr>
        <p:txBody>
          <a:bodyPr wrap="square" lIns="0" tIns="0" rIns="0" bIns="0" rtlCol="0" anchor="ctr"/>
          <a:lstStyle/>
          <a:p>
            <a:pPr indent="0" marL="0">
              <a:buNone/>
            </a:pPr>
            <a:r>
              <a:rPr lang="en-US" sz="1200" b="1" dirty="0">
                <a:solidFill>
                  <a:srgbClr val="C9A227"/>
                </a:solidFill>
                <a:latin typeface="Meiryo" pitchFamily="34" charset="0"/>
                <a:ea typeface="Meiryo" pitchFamily="34" charset="-122"/>
                <a:cs typeface="Meiryo" pitchFamily="34" charset="-120"/>
              </a:rPr>
              <a:t>3.</a:t>
            </a:r>
            <a:endParaRPr lang="en-US" sz="1200" dirty="0"/>
          </a:p>
        </p:txBody>
      </p:sp>
      <p:sp>
        <p:nvSpPr>
          <p:cNvPr id="21" name="Text 19"/>
          <p:cNvSpPr txBox="1"/>
          <p:nvPr/>
        </p:nvSpPr>
        <p:spPr>
          <a:xfrm>
            <a:off x="8293608" y="4352544"/>
            <a:ext cx="3017520" cy="658368"/>
          </a:xfrm>
          <a:prstGeom prst="rect">
            <a:avLst/>
          </a:prstGeom>
          <a:noFill/>
          <a:ln/>
        </p:spPr>
        <p:txBody>
          <a:bodyPr wrap="square" lIns="0" tIns="0" rIns="0" bIns="0" rtlCol="0" anchor="ctr"/>
          <a:lstStyle/>
          <a:p>
            <a:pPr indent="0" marL="0">
              <a:lnSpc>
                <a:spcPts val="1600"/>
              </a:lnSpc>
              <a:buNone/>
            </a:pPr>
            <a:r>
              <a:rPr lang="en-US" sz="1100" dirty="0">
                <a:solidFill>
                  <a:srgbClr val="A2908C"/>
                </a:solidFill>
                <a:latin typeface="Meiryo" pitchFamily="34" charset="0"/>
                <a:ea typeface="Meiryo" pitchFamily="34" charset="-122"/>
                <a:cs typeface="Meiryo" pitchFamily="34" charset="-120"/>
              </a:rPr>
              <a:t>都度精算はしない。手数料の請求とマイルの付与を、同じ日に一度だけ行う</a:t>
            </a:r>
            <a:endParaRPr lang="en-US" sz="1100" dirty="0"/>
          </a:p>
        </p:txBody>
      </p:sp>
      <p:sp>
        <p:nvSpPr>
          <p:cNvPr id="22" name="Shape 20"/>
          <p:cNvSpPr/>
          <p:nvPr/>
        </p:nvSpPr>
        <p:spPr>
          <a:xfrm>
            <a:off x="566928" y="5266944"/>
            <a:ext cx="11027664" cy="786384"/>
          </a:xfrm>
          <a:prstGeom prst="roundRect">
            <a:avLst>
              <a:gd name="adj" fmla="val 6977"/>
            </a:avLst>
          </a:prstGeom>
          <a:solidFill>
            <a:srgbClr val="7B1E3A"/>
          </a:solidFill>
          <a:ln w="12700">
            <a:solidFill>
              <a:srgbClr val="7B1E3A"/>
            </a:solidFill>
            <a:prstDash val="solid"/>
          </a:ln>
          <a:effectLst>
            <a:outerShdw sx="100000" sy="100000" kx="0" ky="0" algn="bl" rotWithShape="0" blurRad="127000" dist="25400" dir="5400000">
              <a:srgbClr val="000000">
                <a:alpha val="35000"/>
              </a:srgbClr>
            </a:outerShdw>
          </a:effectLst>
        </p:spPr>
      </p:sp>
      <p:sp>
        <p:nvSpPr>
          <p:cNvPr id="23" name="Text 21"/>
          <p:cNvSpPr txBox="1"/>
          <p:nvPr/>
        </p:nvSpPr>
        <p:spPr>
          <a:xfrm>
            <a:off x="978408" y="5468112"/>
            <a:ext cx="10204704" cy="365760"/>
          </a:xfrm>
          <a:prstGeom prst="rect">
            <a:avLst/>
          </a:prstGeom>
          <a:noFill/>
          <a:ln/>
        </p:spPr>
        <p:txBody>
          <a:bodyPr wrap="square" lIns="0" tIns="0" rIns="0" bIns="0" rtlCol="0" anchor="ctr"/>
          <a:lstStyle/>
          <a:p>
            <a:pPr indent="0" marL="0">
              <a:buNone/>
            </a:pPr>
            <a:r>
              <a:rPr lang="en-US" sz="1500" b="1" dirty="0">
                <a:solidFill>
                  <a:srgbClr val="E8CE78"/>
                </a:solidFill>
                <a:latin typeface="Meiryo" pitchFamily="34" charset="0"/>
                <a:ea typeface="Meiryo" pitchFamily="34" charset="-122"/>
                <a:cs typeface="Meiryo" pitchFamily="34" charset="-120"/>
              </a:rPr>
              <a:t>会員は手続きを意識しません。年1回、手数料が引き落とされ、同じ日に翌年分のマイルが入るだけです。</a:t>
            </a:r>
            <a:endParaRPr lang="en-US" sz="15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00000"/>
        </a:solidFill>
      </p:bgPr>
    </p:bg>
    <p:spTree>
      <p:nvGrpSpPr>
        <p:cNvPr id="1" name=""/>
        <p:cNvGrpSpPr/>
        <p:nvPr/>
      </p:nvGrpSpPr>
      <p:grpSpPr>
        <a:xfrm>
          <a:off x="0" y="0"/>
          <a:ext cx="0" cy="0"/>
          <a:chOff x="0" y="0"/>
          <a:chExt cx="0" cy="0"/>
        </a:xfrm>
      </p:grpSpPr>
      <p:sp>
        <p:nvSpPr>
          <p:cNvPr id="2" name="Text 0"/>
          <p:cNvSpPr txBox="1"/>
          <p:nvPr/>
        </p:nvSpPr>
        <p:spPr>
          <a:xfrm>
            <a:off x="566928" y="310896"/>
            <a:ext cx="11027664" cy="237744"/>
          </a:xfrm>
          <a:prstGeom prst="rect">
            <a:avLst/>
          </a:prstGeom>
          <a:noFill/>
          <a:ln/>
        </p:spPr>
        <p:txBody>
          <a:bodyPr wrap="square" lIns="0" tIns="0" rIns="0" bIns="0" rtlCol="0" anchor="ctr"/>
          <a:lstStyle/>
          <a:p>
            <a:pPr indent="0" marL="0">
              <a:buNone/>
            </a:pPr>
            <a:r>
              <a:rPr lang="en-US" sz="1050" b="1" spc="300" kern="0" dirty="0">
                <a:solidFill>
                  <a:srgbClr val="C9A227"/>
                </a:solidFill>
                <a:latin typeface="Arial" pitchFamily="34" charset="0"/>
                <a:ea typeface="Arial" pitchFamily="34" charset="-122"/>
                <a:cs typeface="Arial" pitchFamily="34" charset="-120"/>
              </a:rPr>
              <a:t>MILE DESIGN</a:t>
            </a:r>
            <a:endParaRPr lang="en-US" sz="1050" dirty="0"/>
          </a:p>
        </p:txBody>
      </p:sp>
      <p:sp>
        <p:nvSpPr>
          <p:cNvPr id="3" name="Text 1"/>
          <p:cNvSpPr txBox="1"/>
          <p:nvPr/>
        </p:nvSpPr>
        <p:spPr>
          <a:xfrm>
            <a:off x="566928" y="566928"/>
            <a:ext cx="11027664" cy="548640"/>
          </a:xfrm>
          <a:prstGeom prst="rect">
            <a:avLst/>
          </a:prstGeom>
          <a:noFill/>
          <a:ln/>
        </p:spPr>
        <p:txBody>
          <a:bodyPr wrap="square" lIns="0" tIns="0" rIns="0" bIns="0" rtlCol="0" anchor="ctr"/>
          <a:lstStyle/>
          <a:p>
            <a:pPr indent="0" marL="0">
              <a:buNone/>
            </a:pPr>
            <a:r>
              <a:rPr lang="en-US" sz="2900" b="1" dirty="0">
                <a:solidFill>
                  <a:srgbClr val="F2EDE6"/>
                </a:solidFill>
                <a:latin typeface="Meiryo" pitchFamily="34" charset="0"/>
                <a:ea typeface="Meiryo" pitchFamily="34" charset="-122"/>
                <a:cs typeface="Meiryo" pitchFamily="34" charset="-120"/>
              </a:rPr>
              <a:t>マイルは2階建て。貯まり方も2通り。</a:t>
            </a:r>
            <a:endParaRPr lang="en-US" sz="2900" dirty="0"/>
          </a:p>
        </p:txBody>
      </p:sp>
      <p:sp>
        <p:nvSpPr>
          <p:cNvPr id="4" name="Text 2"/>
          <p:cNvSpPr txBox="1"/>
          <p:nvPr/>
        </p:nvSpPr>
        <p:spPr>
          <a:xfrm>
            <a:off x="566928" y="1152144"/>
            <a:ext cx="11027664" cy="310896"/>
          </a:xfrm>
          <a:prstGeom prst="rect">
            <a:avLst/>
          </a:prstGeom>
          <a:noFill/>
          <a:ln/>
        </p:spPr>
        <p:txBody>
          <a:bodyPr wrap="square" lIns="0" tIns="0" rIns="0" bIns="0" rtlCol="0" anchor="ctr"/>
          <a:lstStyle/>
          <a:p>
            <a:pPr indent="0" marL="0">
              <a:buNone/>
            </a:pPr>
            <a:r>
              <a:rPr lang="en-US" sz="1300" dirty="0">
                <a:solidFill>
                  <a:srgbClr val="A2908C"/>
                </a:solidFill>
                <a:latin typeface="Meiryo" pitchFamily="34" charset="0"/>
                <a:ea typeface="Meiryo" pitchFamily="34" charset="-122"/>
                <a:cs typeface="Meiryo" pitchFamily="34" charset="-120"/>
              </a:rPr>
              <a:t>保有に対する年次付与と、行動に対する都度付与。後者が「終わらない」の正体です。</a:t>
            </a:r>
            <a:endParaRPr lang="en-US" sz="1300" dirty="0"/>
          </a:p>
        </p:txBody>
      </p:sp>
      <p:sp>
        <p:nvSpPr>
          <p:cNvPr id="5" name="Text 3"/>
          <p:cNvSpPr txBox="1"/>
          <p:nvPr/>
        </p:nvSpPr>
        <p:spPr>
          <a:xfrm>
            <a:off x="566928" y="6437376"/>
            <a:ext cx="4572000" cy="219456"/>
          </a:xfrm>
          <a:prstGeom prst="rect">
            <a:avLst/>
          </a:prstGeom>
          <a:noFill/>
          <a:ln/>
        </p:spPr>
        <p:txBody>
          <a:bodyPr wrap="square" lIns="0" tIns="0" rIns="0" bIns="0" rtlCol="0" anchor="ctr"/>
          <a:lstStyle/>
          <a:p>
            <a:pPr indent="0" marL="0">
              <a:buNone/>
            </a:pPr>
            <a:r>
              <a:rPr lang="en-US" sz="850" dirty="0">
                <a:solidFill>
                  <a:srgbClr val="6B5A5F"/>
                </a:solidFill>
                <a:latin typeface="Arial" pitchFamily="34" charset="0"/>
                <a:ea typeface="Arial" pitchFamily="34" charset="-122"/>
                <a:cs typeface="Arial" pitchFamily="34" charset="-120"/>
              </a:rPr>
              <a:t>WineBank CONFIDENTIAL</a:t>
            </a:r>
            <a:endParaRPr lang="en-US" sz="850" dirty="0"/>
          </a:p>
        </p:txBody>
      </p:sp>
      <p:sp>
        <p:nvSpPr>
          <p:cNvPr id="6" name="Shape 4"/>
          <p:cNvSpPr/>
          <p:nvPr/>
        </p:nvSpPr>
        <p:spPr>
          <a:xfrm>
            <a:off x="566928" y="1627632"/>
            <a:ext cx="5394960" cy="3346704"/>
          </a:xfrm>
          <a:prstGeom prst="roundRect">
            <a:avLst>
              <a:gd name="adj" fmla="val 1639"/>
            </a:avLst>
          </a:prstGeom>
          <a:solidFill>
            <a:srgbClr val="17111A"/>
          </a:solidFill>
          <a:ln w="12700">
            <a:solidFill>
              <a:srgbClr val="17111A"/>
            </a:solidFill>
            <a:prstDash val="solid"/>
          </a:ln>
          <a:effectLst>
            <a:outerShdw sx="100000" sy="100000" kx="0" ky="0" algn="bl" rotWithShape="0" blurRad="127000" dist="25400" dir="5400000">
              <a:srgbClr val="000000">
                <a:alpha val="35000"/>
              </a:srgbClr>
            </a:outerShdw>
          </a:effectLst>
        </p:spPr>
      </p:sp>
      <p:sp>
        <p:nvSpPr>
          <p:cNvPr id="7" name="Text 5"/>
          <p:cNvSpPr txBox="1"/>
          <p:nvPr/>
        </p:nvSpPr>
        <p:spPr>
          <a:xfrm>
            <a:off x="932688" y="1792224"/>
            <a:ext cx="4663440" cy="347472"/>
          </a:xfrm>
          <a:prstGeom prst="rect">
            <a:avLst/>
          </a:prstGeom>
          <a:noFill/>
          <a:ln/>
        </p:spPr>
        <p:txBody>
          <a:bodyPr wrap="square" lIns="0" tIns="0" rIns="0" bIns="0" rtlCol="0" anchor="ctr"/>
          <a:lstStyle/>
          <a:p>
            <a:pPr indent="0" marL="0">
              <a:buNone/>
            </a:pPr>
            <a:r>
              <a:rPr lang="en-US" sz="1900" b="1" dirty="0">
                <a:solidFill>
                  <a:srgbClr val="E8CE78"/>
                </a:solidFill>
                <a:latin typeface="Meiryo" pitchFamily="34" charset="0"/>
                <a:ea typeface="Meiryo" pitchFamily="34" charset="-122"/>
                <a:cs typeface="Meiryo" pitchFamily="34" charset="-120"/>
              </a:rPr>
              <a:t>通常マイル</a:t>
            </a:r>
            <a:endParaRPr lang="en-US" sz="1900" dirty="0"/>
          </a:p>
        </p:txBody>
      </p:sp>
      <p:sp>
        <p:nvSpPr>
          <p:cNvPr id="8" name="Text 6"/>
          <p:cNvSpPr txBox="1"/>
          <p:nvPr/>
        </p:nvSpPr>
        <p:spPr>
          <a:xfrm>
            <a:off x="932688" y="2176272"/>
            <a:ext cx="4663440" cy="274320"/>
          </a:xfrm>
          <a:prstGeom prst="rect">
            <a:avLst/>
          </a:prstGeom>
          <a:noFill/>
          <a:ln/>
        </p:spPr>
        <p:txBody>
          <a:bodyPr wrap="square" lIns="0" tIns="0" rIns="0" bIns="0" rtlCol="0" anchor="ctr"/>
          <a:lstStyle/>
          <a:p>
            <a:pPr indent="0" marL="0">
              <a:buNone/>
            </a:pPr>
            <a:r>
              <a:rPr lang="en-US" sz="1250" b="1" dirty="0">
                <a:solidFill>
                  <a:srgbClr val="A2908C"/>
                </a:solidFill>
                <a:latin typeface="Meiryo" pitchFamily="34" charset="0"/>
                <a:ea typeface="Meiryo" pitchFamily="34" charset="-122"/>
                <a:cs typeface="Meiryo" pitchFamily="34" charset="-120"/>
              </a:rPr>
              <a:t>有効期限 1年</a:t>
            </a:r>
            <a:endParaRPr lang="en-US" sz="1250" dirty="0"/>
          </a:p>
        </p:txBody>
      </p:sp>
      <p:sp>
        <p:nvSpPr>
          <p:cNvPr id="9" name="Text 7"/>
          <p:cNvSpPr txBox="1"/>
          <p:nvPr/>
        </p:nvSpPr>
        <p:spPr>
          <a:xfrm>
            <a:off x="932688" y="2523744"/>
            <a:ext cx="4663440" cy="777240"/>
          </a:xfrm>
          <a:prstGeom prst="rect">
            <a:avLst/>
          </a:prstGeom>
          <a:noFill/>
          <a:ln/>
        </p:spPr>
        <p:txBody>
          <a:bodyPr wrap="square" lIns="0" tIns="0" rIns="0" bIns="0" rtlCol="0" anchor="t"/>
          <a:lstStyle/>
          <a:p>
            <a:pPr marL="152400" indent="-152400">
              <a:lnSpc>
                <a:spcPts val="1600"/>
              </a:lnSpc>
              <a:spcAft>
                <a:spcPts val="700"/>
              </a:spcAft>
              <a:buSzPct val="100000"/>
              <a:buChar char="•"/>
            </a:pPr>
            <a:r>
              <a:rPr lang="en-US" sz="1100" dirty="0">
                <a:solidFill>
                  <a:srgbClr val="A2908C"/>
                </a:solidFill>
                <a:latin typeface="Meiryo" pitchFamily="34" charset="0"/>
                <a:ea typeface="Meiryo" pitchFamily="34" charset="-122"/>
                <a:cs typeface="Meiryo" pitchFamily="34" charset="-120"/>
              </a:rPr>
              <a:t>管理手数料に対する無償付与（簿価×4〜6%）</a:t>
            </a:r>
            <a:endParaRPr lang="en-US" sz="1100" dirty="0"/>
          </a:p>
          <a:p>
            <a:pPr marL="152400" indent="-152400">
              <a:lnSpc>
                <a:spcPts val="1600"/>
              </a:lnSpc>
              <a:spcAft>
                <a:spcPts val="700"/>
              </a:spcAft>
              <a:buSzPct val="100000"/>
              <a:buChar char="•"/>
            </a:pPr>
            <a:r>
              <a:rPr lang="en-US" sz="1100" dirty="0">
                <a:solidFill>
                  <a:srgbClr val="A2908C"/>
                </a:solidFill>
                <a:latin typeface="Meiryo" pitchFamily="34" charset="0"/>
                <a:ea typeface="Meiryo" pitchFamily="34" charset="-122"/>
                <a:cs typeface="Meiryo" pitchFamily="34" charset="-120"/>
              </a:rPr>
              <a:t>年会費の考え方と同じく、1年サイクル</a:t>
            </a:r>
            <a:endParaRPr lang="en-US" sz="1100" dirty="0"/>
          </a:p>
        </p:txBody>
      </p:sp>
      <p:sp>
        <p:nvSpPr>
          <p:cNvPr id="10" name="Text 8"/>
          <p:cNvSpPr txBox="1"/>
          <p:nvPr/>
        </p:nvSpPr>
        <p:spPr>
          <a:xfrm>
            <a:off x="932688" y="3346704"/>
            <a:ext cx="4663440" cy="237744"/>
          </a:xfrm>
          <a:prstGeom prst="rect">
            <a:avLst/>
          </a:prstGeom>
          <a:noFill/>
          <a:ln/>
        </p:spPr>
        <p:txBody>
          <a:bodyPr wrap="square" lIns="0" tIns="0" rIns="0" bIns="0" rtlCol="0" anchor="ctr"/>
          <a:lstStyle/>
          <a:p>
            <a:pPr indent="0" marL="0">
              <a:buNone/>
            </a:pPr>
            <a:r>
              <a:rPr lang="en-US" sz="1100" b="1" dirty="0">
                <a:solidFill>
                  <a:srgbClr val="C9A227"/>
                </a:solidFill>
                <a:latin typeface="Meiryo" pitchFamily="34" charset="0"/>
                <a:ea typeface="Meiryo" pitchFamily="34" charset="-122"/>
                <a:cs typeface="Meiryo" pitchFamily="34" charset="-120"/>
              </a:rPr>
              <a:t>使える先</a:t>
            </a:r>
            <a:endParaRPr lang="en-US" sz="1100" dirty="0"/>
          </a:p>
        </p:txBody>
      </p:sp>
      <p:sp>
        <p:nvSpPr>
          <p:cNvPr id="11" name="Text 9"/>
          <p:cNvSpPr txBox="1"/>
          <p:nvPr/>
        </p:nvSpPr>
        <p:spPr>
          <a:xfrm>
            <a:off x="932688" y="3639312"/>
            <a:ext cx="4663440" cy="1280160"/>
          </a:xfrm>
          <a:prstGeom prst="rect">
            <a:avLst/>
          </a:prstGeom>
          <a:noFill/>
          <a:ln/>
        </p:spPr>
        <p:txBody>
          <a:bodyPr wrap="square" lIns="0" tIns="0" rIns="0" bIns="0" rtlCol="0" anchor="t"/>
          <a:lstStyle/>
          <a:p>
            <a:pPr marL="152400" indent="-152400">
              <a:lnSpc>
                <a:spcPts val="1500"/>
              </a:lnSpc>
              <a:spcAft>
                <a:spcPts val="500"/>
              </a:spcAft>
              <a:buSzPct val="100000"/>
              <a:buChar char="•"/>
            </a:pPr>
            <a:r>
              <a:rPr lang="en-US" sz="1100" dirty="0">
                <a:solidFill>
                  <a:srgbClr val="F2EDE6"/>
                </a:solidFill>
                <a:latin typeface="Meiryo" pitchFamily="34" charset="0"/>
                <a:ea typeface="Meiryo" pitchFamily="34" charset="-122"/>
                <a:cs typeface="Meiryo" pitchFamily="34" charset="-120"/>
              </a:rPr>
              <a:t>会食・贈答</a:t>
            </a:r>
            <a:endParaRPr lang="en-US" sz="1100" dirty="0"/>
          </a:p>
          <a:p>
            <a:pPr marL="152400" indent="-152400">
              <a:lnSpc>
                <a:spcPts val="1500"/>
              </a:lnSpc>
              <a:spcAft>
                <a:spcPts val="500"/>
              </a:spcAft>
              <a:buSzPct val="100000"/>
              <a:buChar char="•"/>
            </a:pPr>
            <a:r>
              <a:rPr lang="en-US" sz="1100" dirty="0">
                <a:solidFill>
                  <a:srgbClr val="F2EDE6"/>
                </a:solidFill>
                <a:latin typeface="Meiryo" pitchFamily="34" charset="0"/>
                <a:ea typeface="Meiryo" pitchFamily="34" charset="-122"/>
                <a:cs typeface="Meiryo" pitchFamily="34" charset="-120"/>
              </a:rPr>
              <a:t>WineBank CLUB充当</a:t>
            </a:r>
            <a:endParaRPr lang="en-US" sz="1100" dirty="0"/>
          </a:p>
          <a:p>
            <a:pPr marL="152400" indent="-152400">
              <a:lnSpc>
                <a:spcPts val="1500"/>
              </a:lnSpc>
              <a:spcAft>
                <a:spcPts val="500"/>
              </a:spcAft>
              <a:buSzPct val="100000"/>
              <a:buChar char="•"/>
            </a:pPr>
            <a:r>
              <a:rPr lang="en-US" sz="1100" dirty="0">
                <a:solidFill>
                  <a:srgbClr val="F2EDE6"/>
                </a:solidFill>
                <a:latin typeface="Meiryo" pitchFamily="34" charset="0"/>
                <a:ea typeface="Meiryo" pitchFamily="34" charset="-122"/>
                <a:cs typeface="Meiryo" pitchFamily="34" charset="-120"/>
              </a:rPr>
              <a:t>ワイナート年間購読</a:t>
            </a:r>
            <a:endParaRPr lang="en-US" sz="1100" dirty="0"/>
          </a:p>
          <a:p>
            <a:pPr marL="152400" indent="-152400">
              <a:lnSpc>
                <a:spcPts val="1500"/>
              </a:lnSpc>
              <a:spcAft>
                <a:spcPts val="500"/>
              </a:spcAft>
              <a:buSzPct val="100000"/>
              <a:buChar char="•"/>
            </a:pPr>
            <a:r>
              <a:rPr lang="en-US" sz="1100" dirty="0">
                <a:solidFill>
                  <a:srgbClr val="F2EDE6"/>
                </a:solidFill>
                <a:latin typeface="Meiryo" pitchFamily="34" charset="0"/>
                <a:ea typeface="Meiryo" pitchFamily="34" charset="-122"/>
                <a:cs typeface="Meiryo" pitchFamily="34" charset="-120"/>
              </a:rPr>
              <a:t>ワイン追加購入（上限あり）</a:t>
            </a:r>
            <a:endParaRPr lang="en-US" sz="1100" dirty="0"/>
          </a:p>
          <a:p>
            <a:pPr marL="152400" indent="-152400">
              <a:lnSpc>
                <a:spcPts val="1500"/>
              </a:lnSpc>
              <a:spcAft>
                <a:spcPts val="500"/>
              </a:spcAft>
              <a:buSzPct val="100000"/>
              <a:buChar char="•"/>
            </a:pPr>
            <a:r>
              <a:rPr lang="en-US" sz="1100" dirty="0">
                <a:solidFill>
                  <a:srgbClr val="F2EDE6"/>
                </a:solidFill>
                <a:latin typeface="Meiryo" pitchFamily="34" charset="0"/>
                <a:ea typeface="Meiryo" pitchFamily="34" charset="-122"/>
                <a:cs typeface="Meiryo" pitchFamily="34" charset="-120"/>
              </a:rPr>
              <a:t>オークション成約手数料</a:t>
            </a:r>
            <a:endParaRPr lang="en-US" sz="1100" dirty="0"/>
          </a:p>
        </p:txBody>
      </p:sp>
      <p:sp>
        <p:nvSpPr>
          <p:cNvPr id="12" name="Shape 10"/>
          <p:cNvSpPr/>
          <p:nvPr/>
        </p:nvSpPr>
        <p:spPr>
          <a:xfrm>
            <a:off x="6199632" y="1627632"/>
            <a:ext cx="5394960" cy="3346704"/>
          </a:xfrm>
          <a:prstGeom prst="roundRect">
            <a:avLst>
              <a:gd name="adj" fmla="val 1639"/>
            </a:avLst>
          </a:prstGeom>
          <a:solidFill>
            <a:srgbClr val="261A24"/>
          </a:solidFill>
          <a:ln w="12700">
            <a:solidFill>
              <a:srgbClr val="261A24"/>
            </a:solidFill>
            <a:prstDash val="solid"/>
          </a:ln>
          <a:effectLst>
            <a:outerShdw sx="100000" sy="100000" kx="0" ky="0" algn="bl" rotWithShape="0" blurRad="127000" dist="25400" dir="5400000">
              <a:srgbClr val="000000">
                <a:alpha val="35000"/>
              </a:srgbClr>
            </a:outerShdw>
          </a:effectLst>
        </p:spPr>
      </p:sp>
      <p:sp>
        <p:nvSpPr>
          <p:cNvPr id="13" name="Text 11"/>
          <p:cNvSpPr txBox="1"/>
          <p:nvPr/>
        </p:nvSpPr>
        <p:spPr>
          <a:xfrm>
            <a:off x="6565392" y="1792224"/>
            <a:ext cx="4663440" cy="347472"/>
          </a:xfrm>
          <a:prstGeom prst="rect">
            <a:avLst/>
          </a:prstGeom>
          <a:noFill/>
          <a:ln/>
        </p:spPr>
        <p:txBody>
          <a:bodyPr wrap="square" lIns="0" tIns="0" rIns="0" bIns="0" rtlCol="0" anchor="ctr"/>
          <a:lstStyle/>
          <a:p>
            <a:pPr indent="0" marL="0">
              <a:buNone/>
            </a:pPr>
            <a:r>
              <a:rPr lang="en-US" sz="1900" b="1" dirty="0">
                <a:solidFill>
                  <a:srgbClr val="C9A227"/>
                </a:solidFill>
                <a:latin typeface="Meiryo" pitchFamily="34" charset="0"/>
                <a:ea typeface="Meiryo" pitchFamily="34" charset="-122"/>
                <a:cs typeface="Meiryo" pitchFamily="34" charset="-120"/>
              </a:rPr>
              <a:t>限定マイル</a:t>
            </a:r>
            <a:endParaRPr lang="en-US" sz="1900" dirty="0"/>
          </a:p>
        </p:txBody>
      </p:sp>
      <p:sp>
        <p:nvSpPr>
          <p:cNvPr id="14" name="Text 12"/>
          <p:cNvSpPr txBox="1"/>
          <p:nvPr/>
        </p:nvSpPr>
        <p:spPr>
          <a:xfrm>
            <a:off x="6565392" y="2176272"/>
            <a:ext cx="4663440" cy="274320"/>
          </a:xfrm>
          <a:prstGeom prst="rect">
            <a:avLst/>
          </a:prstGeom>
          <a:noFill/>
          <a:ln/>
        </p:spPr>
        <p:txBody>
          <a:bodyPr wrap="square" lIns="0" tIns="0" rIns="0" bIns="0" rtlCol="0" anchor="ctr"/>
          <a:lstStyle/>
          <a:p>
            <a:pPr indent="0" marL="0">
              <a:buNone/>
            </a:pPr>
            <a:r>
              <a:rPr lang="en-US" sz="1250" b="1" dirty="0">
                <a:solidFill>
                  <a:srgbClr val="A2908C"/>
                </a:solidFill>
                <a:latin typeface="Meiryo" pitchFamily="34" charset="0"/>
                <a:ea typeface="Meiryo" pitchFamily="34" charset="-122"/>
                <a:cs typeface="Meiryo" pitchFamily="34" charset="-120"/>
              </a:rPr>
              <a:t>有効期限 3〜6ヶ月</a:t>
            </a:r>
            <a:endParaRPr lang="en-US" sz="1250" dirty="0"/>
          </a:p>
        </p:txBody>
      </p:sp>
      <p:sp>
        <p:nvSpPr>
          <p:cNvPr id="15" name="Text 13"/>
          <p:cNvSpPr txBox="1"/>
          <p:nvPr/>
        </p:nvSpPr>
        <p:spPr>
          <a:xfrm>
            <a:off x="6565392" y="2523744"/>
            <a:ext cx="4663440" cy="777240"/>
          </a:xfrm>
          <a:prstGeom prst="rect">
            <a:avLst/>
          </a:prstGeom>
          <a:noFill/>
          <a:ln/>
        </p:spPr>
        <p:txBody>
          <a:bodyPr wrap="square" lIns="0" tIns="0" rIns="0" bIns="0" rtlCol="0" anchor="t"/>
          <a:lstStyle/>
          <a:p>
            <a:pPr marL="152400" indent="-152400">
              <a:lnSpc>
                <a:spcPts val="1600"/>
              </a:lnSpc>
              <a:spcAft>
                <a:spcPts val="700"/>
              </a:spcAft>
              <a:buSzPct val="100000"/>
              <a:buChar char="•"/>
            </a:pPr>
            <a:r>
              <a:rPr lang="en-US" sz="1100" dirty="0">
                <a:solidFill>
                  <a:srgbClr val="A2908C"/>
                </a:solidFill>
                <a:latin typeface="Meiryo" pitchFamily="34" charset="0"/>
                <a:ea typeface="Meiryo" pitchFamily="34" charset="-122"/>
                <a:cs typeface="Meiryo" pitchFamily="34" charset="-120"/>
              </a:rPr>
              <a:t>行動に対する都度付与（落札・出品・会食・イベント・スクール受講）</a:t>
            </a:r>
            <a:endParaRPr lang="en-US" sz="1100" dirty="0"/>
          </a:p>
          <a:p>
            <a:pPr marL="152400" indent="-152400">
              <a:lnSpc>
                <a:spcPts val="1600"/>
              </a:lnSpc>
              <a:spcAft>
                <a:spcPts val="700"/>
              </a:spcAft>
              <a:buSzPct val="100000"/>
              <a:buChar char="•"/>
            </a:pPr>
            <a:r>
              <a:rPr lang="en-US" sz="1100" dirty="0">
                <a:solidFill>
                  <a:srgbClr val="A2908C"/>
                </a:solidFill>
                <a:latin typeface="Meiryo" pitchFamily="34" charset="0"/>
                <a:ea typeface="Meiryo" pitchFamily="34" charset="-122"/>
                <a:cs typeface="Meiryo" pitchFamily="34" charset="-120"/>
              </a:rPr>
              <a:t>短い期限が、次の行動を呼ぶ</a:t>
            </a:r>
            <a:endParaRPr lang="en-US" sz="1100" dirty="0"/>
          </a:p>
        </p:txBody>
      </p:sp>
      <p:sp>
        <p:nvSpPr>
          <p:cNvPr id="16" name="Text 14"/>
          <p:cNvSpPr txBox="1"/>
          <p:nvPr/>
        </p:nvSpPr>
        <p:spPr>
          <a:xfrm>
            <a:off x="6565392" y="3346704"/>
            <a:ext cx="4663440" cy="237744"/>
          </a:xfrm>
          <a:prstGeom prst="rect">
            <a:avLst/>
          </a:prstGeom>
          <a:noFill/>
          <a:ln/>
        </p:spPr>
        <p:txBody>
          <a:bodyPr wrap="square" lIns="0" tIns="0" rIns="0" bIns="0" rtlCol="0" anchor="ctr"/>
          <a:lstStyle/>
          <a:p>
            <a:pPr indent="0" marL="0">
              <a:buNone/>
            </a:pPr>
            <a:r>
              <a:rPr lang="en-US" sz="1100" b="1" dirty="0">
                <a:solidFill>
                  <a:srgbClr val="C9A227"/>
                </a:solidFill>
                <a:latin typeface="Meiryo" pitchFamily="34" charset="0"/>
                <a:ea typeface="Meiryo" pitchFamily="34" charset="-122"/>
                <a:cs typeface="Meiryo" pitchFamily="34" charset="-120"/>
              </a:rPr>
              <a:t>使える先</a:t>
            </a:r>
            <a:endParaRPr lang="en-US" sz="1100" dirty="0"/>
          </a:p>
        </p:txBody>
      </p:sp>
      <p:sp>
        <p:nvSpPr>
          <p:cNvPr id="17" name="Text 15"/>
          <p:cNvSpPr txBox="1"/>
          <p:nvPr/>
        </p:nvSpPr>
        <p:spPr>
          <a:xfrm>
            <a:off x="6565392" y="3639312"/>
            <a:ext cx="4663440" cy="1280160"/>
          </a:xfrm>
          <a:prstGeom prst="rect">
            <a:avLst/>
          </a:prstGeom>
          <a:noFill/>
          <a:ln/>
        </p:spPr>
        <p:txBody>
          <a:bodyPr wrap="square" lIns="0" tIns="0" rIns="0" bIns="0" rtlCol="0" anchor="t"/>
          <a:lstStyle/>
          <a:p>
            <a:pPr marL="152400" indent="-152400">
              <a:lnSpc>
                <a:spcPts val="1500"/>
              </a:lnSpc>
              <a:spcAft>
                <a:spcPts val="500"/>
              </a:spcAft>
              <a:buSzPct val="100000"/>
              <a:buChar char="•"/>
            </a:pPr>
            <a:r>
              <a:rPr lang="en-US" sz="1100" dirty="0">
                <a:solidFill>
                  <a:srgbClr val="F2EDE6"/>
                </a:solidFill>
                <a:latin typeface="Meiryo" pitchFamily="34" charset="0"/>
                <a:ea typeface="Meiryo" pitchFamily="34" charset="-122"/>
                <a:cs typeface="Meiryo" pitchFamily="34" charset="-120"/>
              </a:rPr>
              <a:t>オークション・マーケットプレイス</a:t>
            </a:r>
            <a:endParaRPr lang="en-US" sz="1100" dirty="0"/>
          </a:p>
          <a:p>
            <a:pPr marL="152400" indent="-152400">
              <a:lnSpc>
                <a:spcPts val="1500"/>
              </a:lnSpc>
              <a:spcAft>
                <a:spcPts val="500"/>
              </a:spcAft>
              <a:buSzPct val="100000"/>
              <a:buChar char="•"/>
            </a:pPr>
            <a:r>
              <a:rPr lang="en-US" sz="1100" dirty="0">
                <a:solidFill>
                  <a:srgbClr val="F2EDE6"/>
                </a:solidFill>
                <a:latin typeface="Meiryo" pitchFamily="34" charset="0"/>
                <a:ea typeface="Meiryo" pitchFamily="34" charset="-122"/>
                <a:cs typeface="Meiryo" pitchFamily="34" charset="-120"/>
              </a:rPr>
              <a:t>ワインスクール受講料</a:t>
            </a:r>
            <a:endParaRPr lang="en-US" sz="1100" dirty="0"/>
          </a:p>
          <a:p>
            <a:pPr marL="152400" indent="-152400">
              <a:lnSpc>
                <a:spcPts val="1500"/>
              </a:lnSpc>
              <a:spcAft>
                <a:spcPts val="500"/>
              </a:spcAft>
              <a:buSzPct val="100000"/>
              <a:buChar char="•"/>
            </a:pPr>
            <a:r>
              <a:rPr lang="en-US" sz="1100" dirty="0">
                <a:solidFill>
                  <a:srgbClr val="F2EDE6"/>
                </a:solidFill>
                <a:latin typeface="Meiryo" pitchFamily="34" charset="0"/>
                <a:ea typeface="Meiryo" pitchFamily="34" charset="-122"/>
                <a:cs typeface="Meiryo" pitchFamily="34" charset="-120"/>
              </a:rPr>
              <a:t>ワイン関連の購入</a:t>
            </a:r>
            <a:endParaRPr lang="en-US" sz="1100" dirty="0"/>
          </a:p>
          <a:p>
            <a:pPr marL="152400" indent="-152400">
              <a:lnSpc>
                <a:spcPts val="1500"/>
              </a:lnSpc>
              <a:spcAft>
                <a:spcPts val="500"/>
              </a:spcAft>
              <a:buSzPct val="100000"/>
              <a:buChar char="•"/>
            </a:pPr>
            <a:r>
              <a:rPr lang="en-US" sz="1100" dirty="0">
                <a:solidFill>
                  <a:srgbClr val="F2EDE6"/>
                </a:solidFill>
                <a:latin typeface="Meiryo" pitchFamily="34" charset="0"/>
                <a:ea typeface="Meiryo" pitchFamily="34" charset="-122"/>
                <a:cs typeface="Meiryo" pitchFamily="34" charset="-120"/>
              </a:rPr>
              <a:t>※飲食は会計を追えないため対象外</a:t>
            </a:r>
            <a:endParaRPr lang="en-US" sz="1100" dirty="0"/>
          </a:p>
        </p:txBody>
      </p:sp>
      <p:sp>
        <p:nvSpPr>
          <p:cNvPr id="18" name="Shape 16"/>
          <p:cNvSpPr/>
          <p:nvPr/>
        </p:nvSpPr>
        <p:spPr>
          <a:xfrm>
            <a:off x="566928" y="5120640"/>
            <a:ext cx="11027664" cy="932688"/>
          </a:xfrm>
          <a:prstGeom prst="roundRect">
            <a:avLst>
              <a:gd name="adj" fmla="val 5882"/>
            </a:avLst>
          </a:prstGeom>
          <a:solidFill>
            <a:srgbClr val="7B1E3A"/>
          </a:solidFill>
          <a:ln w="12700">
            <a:solidFill>
              <a:srgbClr val="7B1E3A"/>
            </a:solidFill>
            <a:prstDash val="solid"/>
          </a:ln>
          <a:effectLst>
            <a:outerShdw sx="100000" sy="100000" kx="0" ky="0" algn="bl" rotWithShape="0" blurRad="127000" dist="25400" dir="5400000">
              <a:srgbClr val="000000">
                <a:alpha val="35000"/>
              </a:srgbClr>
            </a:outerShdw>
          </a:effectLst>
        </p:spPr>
      </p:sp>
      <p:sp>
        <p:nvSpPr>
          <p:cNvPr id="19" name="Text 17"/>
          <p:cNvSpPr txBox="1"/>
          <p:nvPr/>
        </p:nvSpPr>
        <p:spPr>
          <a:xfrm>
            <a:off x="978408" y="5303520"/>
            <a:ext cx="10204704" cy="365760"/>
          </a:xfrm>
          <a:prstGeom prst="rect">
            <a:avLst/>
          </a:prstGeom>
          <a:noFill/>
          <a:ln/>
        </p:spPr>
        <p:txBody>
          <a:bodyPr wrap="square" lIns="0" tIns="0" rIns="0" bIns="0" rtlCol="0" anchor="ctr"/>
          <a:lstStyle/>
          <a:p>
            <a:pPr indent="0" marL="0">
              <a:buNone/>
            </a:pPr>
            <a:r>
              <a:rPr lang="en-US" sz="1700" b="1" dirty="0">
                <a:solidFill>
                  <a:srgbClr val="E8CE78"/>
                </a:solidFill>
                <a:latin typeface="Meiryo" pitchFamily="34" charset="0"/>
                <a:ea typeface="Meiryo" pitchFamily="34" charset="-122"/>
                <a:cs typeface="Meiryo" pitchFamily="34" charset="-120"/>
              </a:rPr>
              <a:t>落札しても、出品しても、会食しても、イベントに出ても、マイルが入る。</a:t>
            </a:r>
            <a:endParaRPr lang="en-US" sz="1700" dirty="0"/>
          </a:p>
        </p:txBody>
      </p:sp>
      <p:sp>
        <p:nvSpPr>
          <p:cNvPr id="20" name="Text 18"/>
          <p:cNvSpPr txBox="1"/>
          <p:nvPr/>
        </p:nvSpPr>
        <p:spPr>
          <a:xfrm>
            <a:off x="978408" y="5687568"/>
            <a:ext cx="10204704" cy="310896"/>
          </a:xfrm>
          <a:prstGeom prst="rect">
            <a:avLst/>
          </a:prstGeom>
          <a:noFill/>
          <a:ln/>
        </p:spPr>
        <p:txBody>
          <a:bodyPr wrap="square" lIns="0" tIns="0" rIns="0" bIns="0" rtlCol="0" anchor="ctr"/>
          <a:lstStyle/>
          <a:p>
            <a:pPr indent="0" marL="0">
              <a:buNone/>
            </a:pPr>
            <a:r>
              <a:rPr lang="en-US" sz="1250" dirty="0">
                <a:solidFill>
                  <a:srgbClr val="F2EDE6"/>
                </a:solidFill>
                <a:latin typeface="Meiryo" pitchFamily="34" charset="0"/>
                <a:ea typeface="Meiryo" pitchFamily="34" charset="-122"/>
                <a:cs typeface="Meiryo" pitchFamily="34" charset="-120"/>
              </a:rPr>
              <a:t>だから残高を使い切っても、翌週にはまた増えている。これが「終わらない」の仕組みです。</a:t>
            </a:r>
            <a:endParaRPr lang="en-US" sz="12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00000"/>
        </a:solidFill>
      </p:bgPr>
    </p:bg>
    <p:spTree>
      <p:nvGrpSpPr>
        <p:cNvPr id="1" name=""/>
        <p:cNvGrpSpPr/>
        <p:nvPr/>
      </p:nvGrpSpPr>
      <p:grpSpPr>
        <a:xfrm>
          <a:off x="0" y="0"/>
          <a:ext cx="0" cy="0"/>
          <a:chOff x="0" y="0"/>
          <a:chExt cx="0" cy="0"/>
        </a:xfrm>
      </p:grpSpPr>
      <p:sp>
        <p:nvSpPr>
          <p:cNvPr id="2" name="Text 0"/>
          <p:cNvSpPr txBox="1"/>
          <p:nvPr/>
        </p:nvSpPr>
        <p:spPr>
          <a:xfrm>
            <a:off x="566928" y="310896"/>
            <a:ext cx="11027664" cy="237744"/>
          </a:xfrm>
          <a:prstGeom prst="rect">
            <a:avLst/>
          </a:prstGeom>
          <a:noFill/>
          <a:ln/>
        </p:spPr>
        <p:txBody>
          <a:bodyPr wrap="square" lIns="0" tIns="0" rIns="0" bIns="0" rtlCol="0" anchor="ctr"/>
          <a:lstStyle/>
          <a:p>
            <a:pPr indent="0" marL="0">
              <a:buNone/>
            </a:pPr>
            <a:r>
              <a:rPr lang="en-US" sz="1050" b="1" spc="300" kern="0" dirty="0">
                <a:solidFill>
                  <a:srgbClr val="C9A227"/>
                </a:solidFill>
                <a:latin typeface="Arial" pitchFamily="34" charset="0"/>
                <a:ea typeface="Arial" pitchFamily="34" charset="-122"/>
                <a:cs typeface="Arial" pitchFamily="34" charset="-120"/>
              </a:rPr>
              <a:t>REDEMPTION</a:t>
            </a:r>
            <a:endParaRPr lang="en-US" sz="1050" dirty="0"/>
          </a:p>
        </p:txBody>
      </p:sp>
      <p:sp>
        <p:nvSpPr>
          <p:cNvPr id="3" name="Text 1"/>
          <p:cNvSpPr txBox="1"/>
          <p:nvPr/>
        </p:nvSpPr>
        <p:spPr>
          <a:xfrm>
            <a:off x="566928" y="566928"/>
            <a:ext cx="11027664" cy="548640"/>
          </a:xfrm>
          <a:prstGeom prst="rect">
            <a:avLst/>
          </a:prstGeom>
          <a:noFill/>
          <a:ln/>
        </p:spPr>
        <p:txBody>
          <a:bodyPr wrap="square" lIns="0" tIns="0" rIns="0" bIns="0" rtlCol="0" anchor="ctr"/>
          <a:lstStyle/>
          <a:p>
            <a:pPr indent="0" marL="0">
              <a:buNone/>
            </a:pPr>
            <a:r>
              <a:rPr lang="en-US" sz="2900" b="1" dirty="0">
                <a:solidFill>
                  <a:srgbClr val="F2EDE6"/>
                </a:solidFill>
                <a:latin typeface="Meiryo" pitchFamily="34" charset="0"/>
                <a:ea typeface="Meiryo" pitchFamily="34" charset="-122"/>
                <a:cs typeface="Meiryo" pitchFamily="34" charset="-120"/>
              </a:rPr>
              <a:t>交換先マップ：村を1つにしない</a:t>
            </a:r>
            <a:endParaRPr lang="en-US" sz="2900" dirty="0"/>
          </a:p>
        </p:txBody>
      </p:sp>
      <p:sp>
        <p:nvSpPr>
          <p:cNvPr id="4" name="Text 2"/>
          <p:cNvSpPr txBox="1"/>
          <p:nvPr/>
        </p:nvSpPr>
        <p:spPr>
          <a:xfrm>
            <a:off x="566928" y="1152144"/>
            <a:ext cx="11027664" cy="310896"/>
          </a:xfrm>
          <a:prstGeom prst="rect">
            <a:avLst/>
          </a:prstGeom>
          <a:noFill/>
          <a:ln/>
        </p:spPr>
        <p:txBody>
          <a:bodyPr wrap="square" lIns="0" tIns="0" rIns="0" bIns="0" rtlCol="0" anchor="ctr"/>
          <a:lstStyle/>
          <a:p>
            <a:pPr indent="0" marL="0">
              <a:buNone/>
            </a:pPr>
            <a:r>
              <a:rPr lang="en-US" sz="1300" dirty="0">
                <a:solidFill>
                  <a:srgbClr val="A2908C"/>
                </a:solidFill>
                <a:latin typeface="Meiryo" pitchFamily="34" charset="0"/>
                <a:ea typeface="Meiryo" pitchFamily="34" charset="-122"/>
                <a:cs typeface="Meiryo" pitchFamily="34" charset="-120"/>
              </a:rPr>
              <a:t>楽天の凄さは、ポイントを楽天市場という1つの村に閉じ込めなかったことでした。</a:t>
            </a:r>
            <a:endParaRPr lang="en-US" sz="1300" dirty="0"/>
          </a:p>
        </p:txBody>
      </p:sp>
      <p:sp>
        <p:nvSpPr>
          <p:cNvPr id="5" name="Text 3"/>
          <p:cNvSpPr txBox="1"/>
          <p:nvPr/>
        </p:nvSpPr>
        <p:spPr>
          <a:xfrm>
            <a:off x="566928" y="6437376"/>
            <a:ext cx="4572000" cy="219456"/>
          </a:xfrm>
          <a:prstGeom prst="rect">
            <a:avLst/>
          </a:prstGeom>
          <a:noFill/>
          <a:ln/>
        </p:spPr>
        <p:txBody>
          <a:bodyPr wrap="square" lIns="0" tIns="0" rIns="0" bIns="0" rtlCol="0" anchor="ctr"/>
          <a:lstStyle/>
          <a:p>
            <a:pPr indent="0" marL="0">
              <a:buNone/>
            </a:pPr>
            <a:r>
              <a:rPr lang="en-US" sz="850" dirty="0">
                <a:solidFill>
                  <a:srgbClr val="6B5A5F"/>
                </a:solidFill>
                <a:latin typeface="Arial" pitchFamily="34" charset="0"/>
                <a:ea typeface="Arial" pitchFamily="34" charset="-122"/>
                <a:cs typeface="Arial" pitchFamily="34" charset="-120"/>
              </a:rPr>
              <a:t>WineBank CONFIDENTIAL</a:t>
            </a:r>
            <a:endParaRPr lang="en-US" sz="85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66928" y="1627632"/>
          <a:ext cx="11027664" cy="914400"/>
        </p:xfrm>
        <a:graphic>
          <a:graphicData uri="http://schemas.openxmlformats.org/drawingml/2006/table">
            <a:tbl>
              <a:tblPr/>
              <a:tblGrid>
                <a:gridCol w="4114800"/>
                <a:gridCol w="1280160"/>
                <a:gridCol w="2103120"/>
                <a:gridCol w="2103120"/>
                <a:gridCol w="1426464"/>
              </a:tblGrid>
              <a:tr h="329184">
                <a:tc>
                  <a:txBody>
                    <a:bodyPr/>
                    <a:lstStyle/>
                    <a:p>
                      <a:pPr algn="ctr" indent="0" marL="0">
                        <a:buNone/>
                      </a:pPr>
                      <a:r>
                        <a:rPr lang="en-US" sz="1100" b="1" dirty="0">
                          <a:solidFill>
                            <a:srgbClr val="F2EDE6"/>
                          </a:solidFill>
                          <a:latin typeface="Meiryo" pitchFamily="34" charset="0"/>
                          <a:ea typeface="Meiryo" pitchFamily="34" charset="-122"/>
                          <a:cs typeface="Meiryo" pitchFamily="34" charset="-120"/>
                        </a:rPr>
                        <a:t>交換先</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7B1E3A"/>
                    </a:solidFill>
                  </a:tcPr>
                </a:tc>
                <a:tc>
                  <a:txBody>
                    <a:bodyPr/>
                    <a:lstStyle/>
                    <a:p>
                      <a:pPr algn="ctr" indent="0" marL="0">
                        <a:buNone/>
                      </a:pPr>
                      <a:r>
                        <a:rPr lang="en-US" sz="1100" b="1" dirty="0">
                          <a:solidFill>
                            <a:srgbClr val="F2EDE6"/>
                          </a:solidFill>
                          <a:latin typeface="Meiryo" pitchFamily="34" charset="0"/>
                          <a:ea typeface="Meiryo" pitchFamily="34" charset="-122"/>
                          <a:cs typeface="Meiryo" pitchFamily="34" charset="-120"/>
                        </a:rPr>
                        <a:t>レート</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7B1E3A"/>
                    </a:solidFill>
                  </a:tcPr>
                </a:tc>
                <a:tc>
                  <a:txBody>
                    <a:bodyPr/>
                    <a:lstStyle/>
                    <a:p>
                      <a:pPr algn="ctr" indent="0" marL="0">
                        <a:buNone/>
                      </a:pPr>
                      <a:r>
                        <a:rPr lang="en-US" sz="1100" b="1" dirty="0">
                          <a:solidFill>
                            <a:srgbClr val="F2EDE6"/>
                          </a:solidFill>
                          <a:latin typeface="Meiryo" pitchFamily="34" charset="0"/>
                          <a:ea typeface="Meiryo" pitchFamily="34" charset="-122"/>
                          <a:cs typeface="Meiryo" pitchFamily="34" charset="-120"/>
                        </a:rPr>
                        <a:t>上限</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7B1E3A"/>
                    </a:solidFill>
                  </a:tcPr>
                </a:tc>
                <a:tc>
                  <a:txBody>
                    <a:bodyPr/>
                    <a:lstStyle/>
                    <a:p>
                      <a:pPr algn="ctr" indent="0" marL="0">
                        <a:buNone/>
                      </a:pPr>
                      <a:r>
                        <a:rPr lang="en-US" sz="1100" b="1" dirty="0">
                          <a:solidFill>
                            <a:srgbClr val="F2EDE6"/>
                          </a:solidFill>
                          <a:latin typeface="Meiryo" pitchFamily="34" charset="0"/>
                          <a:ea typeface="Meiryo" pitchFamily="34" charset="-122"/>
                          <a:cs typeface="Meiryo" pitchFamily="34" charset="-120"/>
                        </a:rPr>
                        <a:t>当社の連結コスト</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7B1E3A"/>
                    </a:solidFill>
                  </a:tcPr>
                </a:tc>
                <a:tc>
                  <a:txBody>
                    <a:bodyPr/>
                    <a:lstStyle/>
                    <a:p>
                      <a:pPr algn="ctr" indent="0" marL="0">
                        <a:buNone/>
                      </a:pPr>
                      <a:r>
                        <a:rPr lang="en-US" sz="1100" b="1" dirty="0">
                          <a:solidFill>
                            <a:srgbClr val="F2EDE6"/>
                          </a:solidFill>
                          <a:latin typeface="Meiryo" pitchFamily="34" charset="0"/>
                          <a:ea typeface="Meiryo" pitchFamily="34" charset="-122"/>
                          <a:cs typeface="Meiryo" pitchFamily="34" charset="-120"/>
                        </a:rPr>
                        <a:t>判定</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7B1E3A"/>
                    </a:solidFill>
                  </a:tcPr>
                </a:tc>
              </a:tr>
              <a:tr h="292608">
                <a:tc>
                  <a:txBody>
                    <a:bodyPr/>
                    <a:lstStyle/>
                    <a:p>
                      <a:pPr algn="l" indent="0" marL="0">
                        <a:buNone/>
                      </a:pPr>
                      <a:r>
                        <a:rPr lang="en-US" sz="1100" dirty="0">
                          <a:solidFill>
                            <a:srgbClr val="F2EDE6"/>
                          </a:solidFill>
                          <a:latin typeface="Meiryo" pitchFamily="34" charset="0"/>
                          <a:ea typeface="Meiryo" pitchFamily="34" charset="-122"/>
                          <a:cs typeface="Meiryo" pitchFamily="34" charset="-120"/>
                        </a:rPr>
                        <a:t>系列レストランでの会食</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17111A"/>
                    </a:solidFill>
                  </a:tcPr>
                </a:tc>
                <a:tc>
                  <a:txBody>
                    <a:bodyPr/>
                    <a:lstStyle/>
                    <a:p>
                      <a:pPr algn="ctr" indent="0" marL="0">
                        <a:buNone/>
                      </a:pPr>
                      <a:r>
                        <a:rPr lang="en-US" sz="1100" dirty="0">
                          <a:solidFill>
                            <a:srgbClr val="F2EDE6"/>
                          </a:solidFill>
                          <a:latin typeface="Meiryo" pitchFamily="34" charset="0"/>
                          <a:ea typeface="Meiryo" pitchFamily="34" charset="-122"/>
                          <a:cs typeface="Meiryo" pitchFamily="34" charset="-120"/>
                        </a:rPr>
                        <a:t>1.0円</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17111A"/>
                    </a:solidFill>
                  </a:tcPr>
                </a:tc>
                <a:tc>
                  <a:txBody>
                    <a:bodyPr/>
                    <a:lstStyle/>
                    <a:p>
                      <a:pPr algn="ctr" indent="0" marL="0">
                        <a:buNone/>
                      </a:pPr>
                      <a:r>
                        <a:rPr lang="en-US" sz="1100" dirty="0">
                          <a:solidFill>
                            <a:srgbClr val="F2EDE6"/>
                          </a:solidFill>
                          <a:latin typeface="Meiryo" pitchFamily="34" charset="0"/>
                          <a:ea typeface="Meiryo" pitchFamily="34" charset="-122"/>
                          <a:cs typeface="Meiryo" pitchFamily="34" charset="-120"/>
                        </a:rPr>
                        <a:t>—</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17111A"/>
                    </a:solidFill>
                  </a:tcPr>
                </a:tc>
                <a:tc>
                  <a:txBody>
                    <a:bodyPr/>
                    <a:lstStyle/>
                    <a:p>
                      <a:pPr algn="ctr" indent="0" marL="0">
                        <a:buNone/>
                      </a:pPr>
                      <a:r>
                        <a:rPr lang="en-US" sz="1100" dirty="0">
                          <a:solidFill>
                            <a:srgbClr val="F2EDE6"/>
                          </a:solidFill>
                          <a:latin typeface="Meiryo" pitchFamily="34" charset="0"/>
                          <a:ea typeface="Meiryo" pitchFamily="34" charset="-122"/>
                          <a:cs typeface="Meiryo" pitchFamily="34" charset="-120"/>
                        </a:rPr>
                        <a:t>実原価 30%</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17111A"/>
                    </a:solidFill>
                  </a:tcPr>
                </a:tc>
                <a:tc>
                  <a:txBody>
                    <a:bodyPr/>
                    <a:lstStyle/>
                    <a:p>
                      <a:pPr algn="ctr" indent="0" marL="0">
                        <a:buNone/>
                      </a:pPr>
                      <a:r>
                        <a:rPr lang="en-US" sz="1100" dirty="0">
                          <a:solidFill>
                            <a:srgbClr val="F2EDE6"/>
                          </a:solidFill>
                          <a:latin typeface="Meiryo" pitchFamily="34" charset="0"/>
                          <a:ea typeface="Meiryo" pitchFamily="34" charset="-122"/>
                          <a:cs typeface="Meiryo" pitchFamily="34" charset="-120"/>
                        </a:rPr>
                        <a:t>○</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17111A"/>
                    </a:solidFill>
                  </a:tcPr>
                </a:tc>
              </a:tr>
              <a:tr h="292608">
                <a:tc>
                  <a:txBody>
                    <a:bodyPr/>
                    <a:lstStyle/>
                    <a:p>
                      <a:pPr algn="l" indent="0" marL="0">
                        <a:buNone/>
                      </a:pPr>
                      <a:r>
                        <a:rPr lang="en-US" sz="1100" dirty="0">
                          <a:solidFill>
                            <a:srgbClr val="F2EDE6"/>
                          </a:solidFill>
                          <a:latin typeface="Meiryo" pitchFamily="34" charset="0"/>
                          <a:ea typeface="Meiryo" pitchFamily="34" charset="-122"/>
                          <a:cs typeface="Meiryo" pitchFamily="34" charset="-120"/>
                        </a:rPr>
                        <a:t>グランメゾン（全ランク共通）</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61A24"/>
                    </a:solidFill>
                  </a:tcPr>
                </a:tc>
                <a:tc>
                  <a:txBody>
                    <a:bodyPr/>
                    <a:lstStyle/>
                    <a:p>
                      <a:pPr algn="ctr" indent="0" marL="0">
                        <a:buNone/>
                      </a:pPr>
                      <a:r>
                        <a:rPr lang="en-US" sz="1100" b="1" dirty="0">
                          <a:solidFill>
                            <a:srgbClr val="C9A227"/>
                          </a:solidFill>
                          <a:latin typeface="Meiryo" pitchFamily="34" charset="0"/>
                          <a:ea typeface="Meiryo" pitchFamily="34" charset="-122"/>
                          <a:cs typeface="Meiryo" pitchFamily="34" charset="-120"/>
                        </a:rPr>
                        <a:t>0.5円</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61A24"/>
                    </a:solidFill>
                  </a:tcPr>
                </a:tc>
                <a:tc>
                  <a:txBody>
                    <a:bodyPr/>
                    <a:lstStyle/>
                    <a:p>
                      <a:pPr algn="ctr" indent="0" marL="0">
                        <a:buNone/>
                      </a:pPr>
                      <a:r>
                        <a:rPr lang="en-US" sz="1100" dirty="0">
                          <a:solidFill>
                            <a:srgbClr val="F2EDE6"/>
                          </a:solidFill>
                          <a:latin typeface="Meiryo" pitchFamily="34" charset="0"/>
                          <a:ea typeface="Meiryo" pitchFamily="34" charset="-122"/>
                          <a:cs typeface="Meiryo" pitchFamily="34" charset="-120"/>
                        </a:rPr>
                        <a:t>—</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61A24"/>
                    </a:solidFill>
                  </a:tcPr>
                </a:tc>
                <a:tc>
                  <a:txBody>
                    <a:bodyPr/>
                    <a:lstStyle/>
                    <a:p>
                      <a:pPr algn="ctr" indent="0" marL="0">
                        <a:buNone/>
                      </a:pPr>
                      <a:r>
                        <a:rPr lang="en-US" sz="1100" dirty="0">
                          <a:solidFill>
                            <a:srgbClr val="F2EDE6"/>
                          </a:solidFill>
                          <a:latin typeface="Meiryo" pitchFamily="34" charset="0"/>
                          <a:ea typeface="Meiryo" pitchFamily="34" charset="-122"/>
                          <a:cs typeface="Meiryo" pitchFamily="34" charset="-120"/>
                        </a:rPr>
                        <a:t>実原価 30%</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61A24"/>
                    </a:solidFill>
                  </a:tcPr>
                </a:tc>
                <a:tc>
                  <a:txBody>
                    <a:bodyPr/>
                    <a:lstStyle/>
                    <a:p>
                      <a:pPr algn="ctr" indent="0" marL="0">
                        <a:buNone/>
                      </a:pPr>
                      <a:r>
                        <a:rPr lang="en-US" sz="1100" b="1" dirty="0">
                          <a:solidFill>
                            <a:srgbClr val="7FD1AE"/>
                          </a:solidFill>
                          <a:latin typeface="Meiryo" pitchFamily="34" charset="0"/>
                          <a:ea typeface="Meiryo" pitchFamily="34" charset="-122"/>
                          <a:cs typeface="Meiryo" pitchFamily="34" charset="-120"/>
                        </a:rPr>
                        <a:t>◎</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61A24"/>
                    </a:solidFill>
                  </a:tcPr>
                </a:tc>
              </a:tr>
              <a:tr h="292608">
                <a:tc>
                  <a:txBody>
                    <a:bodyPr/>
                    <a:lstStyle/>
                    <a:p>
                      <a:pPr algn="l" indent="0" marL="0">
                        <a:buNone/>
                      </a:pPr>
                      <a:r>
                        <a:rPr lang="en-US" sz="1100" dirty="0">
                          <a:solidFill>
                            <a:srgbClr val="F2EDE6"/>
                          </a:solidFill>
                          <a:latin typeface="Meiryo" pitchFamily="34" charset="0"/>
                          <a:ea typeface="Meiryo" pitchFamily="34" charset="-122"/>
                          <a:cs typeface="Meiryo" pitchFamily="34" charset="-120"/>
                        </a:rPr>
                        <a:t>WineBank CLUB 会費充当</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17111A"/>
                    </a:solidFill>
                  </a:tcPr>
                </a:tc>
                <a:tc>
                  <a:txBody>
                    <a:bodyPr/>
                    <a:lstStyle/>
                    <a:p>
                      <a:pPr algn="ctr" indent="0" marL="0">
                        <a:buNone/>
                      </a:pPr>
                      <a:r>
                        <a:rPr lang="en-US" sz="1100" dirty="0">
                          <a:solidFill>
                            <a:srgbClr val="F2EDE6"/>
                          </a:solidFill>
                          <a:latin typeface="Meiryo" pitchFamily="34" charset="0"/>
                          <a:ea typeface="Meiryo" pitchFamily="34" charset="-122"/>
                          <a:cs typeface="Meiryo" pitchFamily="34" charset="-120"/>
                        </a:rPr>
                        <a:t>1.0円</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17111A"/>
                    </a:solidFill>
                  </a:tcPr>
                </a:tc>
                <a:tc>
                  <a:txBody>
                    <a:bodyPr/>
                    <a:lstStyle/>
                    <a:p>
                      <a:pPr algn="ctr" indent="0" marL="0">
                        <a:buNone/>
                      </a:pPr>
                      <a:r>
                        <a:rPr lang="en-US" sz="1100" dirty="0">
                          <a:solidFill>
                            <a:srgbClr val="F2EDE6"/>
                          </a:solidFill>
                          <a:latin typeface="Meiryo" pitchFamily="34" charset="0"/>
                          <a:ea typeface="Meiryo" pitchFamily="34" charset="-122"/>
                          <a:cs typeface="Meiryo" pitchFamily="34" charset="-120"/>
                        </a:rPr>
                        <a:t>下記※</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17111A"/>
                    </a:solidFill>
                  </a:tcPr>
                </a:tc>
                <a:tc>
                  <a:txBody>
                    <a:bodyPr/>
                    <a:lstStyle/>
                    <a:p>
                      <a:pPr algn="ctr" indent="0" marL="0">
                        <a:buNone/>
                      </a:pPr>
                      <a:r>
                        <a:rPr lang="en-US" sz="1100" dirty="0">
                          <a:solidFill>
                            <a:srgbClr val="F2EDE6"/>
                          </a:solidFill>
                          <a:latin typeface="Meiryo" pitchFamily="34" charset="0"/>
                          <a:ea typeface="Meiryo" pitchFamily="34" charset="-122"/>
                          <a:cs typeface="Meiryo" pitchFamily="34" charset="-120"/>
                        </a:rPr>
                        <a:t>ほぼゼロ</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17111A"/>
                    </a:solidFill>
                  </a:tcPr>
                </a:tc>
                <a:tc>
                  <a:txBody>
                    <a:bodyPr/>
                    <a:lstStyle/>
                    <a:p>
                      <a:pPr algn="ctr" indent="0" marL="0">
                        <a:buNone/>
                      </a:pPr>
                      <a:r>
                        <a:rPr lang="en-US" sz="1100" b="1" dirty="0">
                          <a:solidFill>
                            <a:srgbClr val="7FD1AE"/>
                          </a:solidFill>
                          <a:latin typeface="Meiryo" pitchFamily="34" charset="0"/>
                          <a:ea typeface="Meiryo" pitchFamily="34" charset="-122"/>
                          <a:cs typeface="Meiryo" pitchFamily="34" charset="-120"/>
                        </a:rPr>
                        <a:t>◎</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17111A"/>
                    </a:solidFill>
                  </a:tcPr>
                </a:tc>
              </a:tr>
              <a:tr h="292608">
                <a:tc>
                  <a:txBody>
                    <a:bodyPr/>
                    <a:lstStyle/>
                    <a:p>
                      <a:pPr algn="l" indent="0" marL="0">
                        <a:buNone/>
                      </a:pPr>
                      <a:r>
                        <a:rPr lang="en-US" sz="1100" dirty="0">
                          <a:solidFill>
                            <a:srgbClr val="F2EDE6"/>
                          </a:solidFill>
                          <a:latin typeface="Meiryo" pitchFamily="34" charset="0"/>
                          <a:ea typeface="Meiryo" pitchFamily="34" charset="-122"/>
                          <a:cs typeface="Meiryo" pitchFamily="34" charset="-120"/>
                        </a:rPr>
                        <a:t>ワイナート 年間購読</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17111A"/>
                    </a:solidFill>
                  </a:tcPr>
                </a:tc>
                <a:tc>
                  <a:txBody>
                    <a:bodyPr/>
                    <a:lstStyle/>
                    <a:p>
                      <a:pPr algn="ctr" indent="0" marL="0">
                        <a:buNone/>
                      </a:pPr>
                      <a:r>
                        <a:rPr lang="en-US" sz="1100" dirty="0">
                          <a:solidFill>
                            <a:srgbClr val="F2EDE6"/>
                          </a:solidFill>
                          <a:latin typeface="Meiryo" pitchFamily="34" charset="0"/>
                          <a:ea typeface="Meiryo" pitchFamily="34" charset="-122"/>
                          <a:cs typeface="Meiryo" pitchFamily="34" charset="-120"/>
                        </a:rPr>
                        <a:t>1.0円</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17111A"/>
                    </a:solidFill>
                  </a:tcPr>
                </a:tc>
                <a:tc>
                  <a:txBody>
                    <a:bodyPr/>
                    <a:lstStyle/>
                    <a:p>
                      <a:pPr algn="ctr" indent="0" marL="0">
                        <a:buNone/>
                      </a:pPr>
                      <a:r>
                        <a:rPr lang="en-US" sz="1100" dirty="0">
                          <a:solidFill>
                            <a:srgbClr val="F2EDE6"/>
                          </a:solidFill>
                          <a:latin typeface="Meiryo" pitchFamily="34" charset="0"/>
                          <a:ea typeface="Meiryo" pitchFamily="34" charset="-122"/>
                          <a:cs typeface="Meiryo" pitchFamily="34" charset="-120"/>
                        </a:rPr>
                        <a:t>—</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17111A"/>
                    </a:solidFill>
                  </a:tcPr>
                </a:tc>
                <a:tc>
                  <a:txBody>
                    <a:bodyPr/>
                    <a:lstStyle/>
                    <a:p>
                      <a:pPr algn="ctr" indent="0" marL="0">
                        <a:buNone/>
                      </a:pPr>
                      <a:r>
                        <a:rPr lang="en-US" sz="1100" dirty="0">
                          <a:solidFill>
                            <a:srgbClr val="F2EDE6"/>
                          </a:solidFill>
                          <a:latin typeface="Meiryo" pitchFamily="34" charset="0"/>
                          <a:ea typeface="Meiryo" pitchFamily="34" charset="-122"/>
                          <a:cs typeface="Meiryo" pitchFamily="34" charset="-120"/>
                        </a:rPr>
                        <a:t>購読実費</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17111A"/>
                    </a:solidFill>
                  </a:tcPr>
                </a:tc>
                <a:tc>
                  <a:txBody>
                    <a:bodyPr/>
                    <a:lstStyle/>
                    <a:p>
                      <a:pPr algn="ctr" indent="0" marL="0">
                        <a:buNone/>
                      </a:pPr>
                      <a:r>
                        <a:rPr lang="en-US" sz="1100" dirty="0">
                          <a:solidFill>
                            <a:srgbClr val="F2EDE6"/>
                          </a:solidFill>
                          <a:latin typeface="Meiryo" pitchFamily="34" charset="0"/>
                          <a:ea typeface="Meiryo" pitchFamily="34" charset="-122"/>
                          <a:cs typeface="Meiryo" pitchFamily="34" charset="-120"/>
                        </a:rPr>
                        <a:t>○</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17111A"/>
                    </a:solidFill>
                  </a:tcPr>
                </a:tc>
              </a:tr>
              <a:tr h="292608">
                <a:tc>
                  <a:txBody>
                    <a:bodyPr/>
                    <a:lstStyle/>
                    <a:p>
                      <a:pPr algn="l" indent="0" marL="0">
                        <a:buNone/>
                      </a:pPr>
                      <a:r>
                        <a:rPr lang="en-US" sz="1100" dirty="0">
                          <a:solidFill>
                            <a:srgbClr val="F2EDE6"/>
                          </a:solidFill>
                          <a:latin typeface="Meiryo" pitchFamily="34" charset="0"/>
                          <a:ea typeface="Meiryo" pitchFamily="34" charset="-122"/>
                          <a:cs typeface="Meiryo" pitchFamily="34" charset="-120"/>
                        </a:rPr>
                        <a:t>ワインスクール受講料</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17111A"/>
                    </a:solidFill>
                  </a:tcPr>
                </a:tc>
                <a:tc>
                  <a:txBody>
                    <a:bodyPr/>
                    <a:lstStyle/>
                    <a:p>
                      <a:pPr algn="ctr" indent="0" marL="0">
                        <a:buNone/>
                      </a:pPr>
                      <a:r>
                        <a:rPr lang="en-US" sz="1100" dirty="0">
                          <a:solidFill>
                            <a:srgbClr val="F2EDE6"/>
                          </a:solidFill>
                          <a:latin typeface="Meiryo" pitchFamily="34" charset="0"/>
                          <a:ea typeface="Meiryo" pitchFamily="34" charset="-122"/>
                          <a:cs typeface="Meiryo" pitchFamily="34" charset="-120"/>
                        </a:rPr>
                        <a:t>1.0円</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17111A"/>
                    </a:solidFill>
                  </a:tcPr>
                </a:tc>
                <a:tc>
                  <a:txBody>
                    <a:bodyPr/>
                    <a:lstStyle/>
                    <a:p>
                      <a:pPr algn="ctr" indent="0" marL="0">
                        <a:buNone/>
                      </a:pPr>
                      <a:r>
                        <a:rPr lang="en-US" sz="1100" dirty="0">
                          <a:solidFill>
                            <a:srgbClr val="F2EDE6"/>
                          </a:solidFill>
                          <a:latin typeface="Meiryo" pitchFamily="34" charset="0"/>
                          <a:ea typeface="Meiryo" pitchFamily="34" charset="-122"/>
                          <a:cs typeface="Meiryo" pitchFamily="34" charset="-120"/>
                        </a:rPr>
                        <a:t>—</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17111A"/>
                    </a:solidFill>
                  </a:tcPr>
                </a:tc>
                <a:tc>
                  <a:txBody>
                    <a:bodyPr/>
                    <a:lstStyle/>
                    <a:p>
                      <a:pPr algn="ctr" indent="0" marL="0">
                        <a:buNone/>
                      </a:pPr>
                      <a:r>
                        <a:rPr lang="en-US" sz="1100" dirty="0">
                          <a:solidFill>
                            <a:srgbClr val="F2EDE6"/>
                          </a:solidFill>
                          <a:latin typeface="Meiryo" pitchFamily="34" charset="0"/>
                          <a:ea typeface="Meiryo" pitchFamily="34" charset="-122"/>
                          <a:cs typeface="Meiryo" pitchFamily="34" charset="-120"/>
                        </a:rPr>
                        <a:t>講師・会場費</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17111A"/>
                    </a:solidFill>
                  </a:tcPr>
                </a:tc>
                <a:tc>
                  <a:txBody>
                    <a:bodyPr/>
                    <a:lstStyle/>
                    <a:p>
                      <a:pPr algn="ctr" indent="0" marL="0">
                        <a:buNone/>
                      </a:pPr>
                      <a:r>
                        <a:rPr lang="en-US" sz="1100" b="1" dirty="0">
                          <a:solidFill>
                            <a:srgbClr val="7FD1AE"/>
                          </a:solidFill>
                          <a:latin typeface="Meiryo" pitchFamily="34" charset="0"/>
                          <a:ea typeface="Meiryo" pitchFamily="34" charset="-122"/>
                          <a:cs typeface="Meiryo" pitchFamily="34" charset="-120"/>
                        </a:rPr>
                        <a:t>◎</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17111A"/>
                    </a:solidFill>
                  </a:tcPr>
                </a:tc>
              </a:tr>
              <a:tr h="292608">
                <a:tc>
                  <a:txBody>
                    <a:bodyPr/>
                    <a:lstStyle/>
                    <a:p>
                      <a:pPr algn="l" indent="0" marL="0">
                        <a:buNone/>
                      </a:pPr>
                      <a:r>
                        <a:rPr lang="en-US" sz="1100" dirty="0">
                          <a:solidFill>
                            <a:srgbClr val="F2EDE6"/>
                          </a:solidFill>
                          <a:latin typeface="Meiryo" pitchFamily="34" charset="0"/>
                          <a:ea typeface="Meiryo" pitchFamily="34" charset="-122"/>
                          <a:cs typeface="Meiryo" pitchFamily="34" charset="-120"/>
                        </a:rPr>
                        <a:t>会員交流イベント参加費</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17111A"/>
                    </a:solidFill>
                  </a:tcPr>
                </a:tc>
                <a:tc>
                  <a:txBody>
                    <a:bodyPr/>
                    <a:lstStyle/>
                    <a:p>
                      <a:pPr algn="ctr" indent="0" marL="0">
                        <a:buNone/>
                      </a:pPr>
                      <a:r>
                        <a:rPr lang="en-US" sz="1100" dirty="0">
                          <a:solidFill>
                            <a:srgbClr val="F2EDE6"/>
                          </a:solidFill>
                          <a:latin typeface="Meiryo" pitchFamily="34" charset="0"/>
                          <a:ea typeface="Meiryo" pitchFamily="34" charset="-122"/>
                          <a:cs typeface="Meiryo" pitchFamily="34" charset="-120"/>
                        </a:rPr>
                        <a:t>1.0円</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17111A"/>
                    </a:solidFill>
                  </a:tcPr>
                </a:tc>
                <a:tc>
                  <a:txBody>
                    <a:bodyPr/>
                    <a:lstStyle/>
                    <a:p>
                      <a:pPr algn="ctr" indent="0" marL="0">
                        <a:buNone/>
                      </a:pPr>
                      <a:r>
                        <a:rPr lang="en-US" sz="1100" dirty="0">
                          <a:solidFill>
                            <a:srgbClr val="F2EDE6"/>
                          </a:solidFill>
                          <a:latin typeface="Meiryo" pitchFamily="34" charset="0"/>
                          <a:ea typeface="Meiryo" pitchFamily="34" charset="-122"/>
                          <a:cs typeface="Meiryo" pitchFamily="34" charset="-120"/>
                        </a:rPr>
                        <a:t>—</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17111A"/>
                    </a:solidFill>
                  </a:tcPr>
                </a:tc>
                <a:tc>
                  <a:txBody>
                    <a:bodyPr/>
                    <a:lstStyle/>
                    <a:p>
                      <a:pPr algn="ctr" indent="0" marL="0">
                        <a:buNone/>
                      </a:pPr>
                      <a:r>
                        <a:rPr lang="en-US" sz="1100" dirty="0">
                          <a:solidFill>
                            <a:srgbClr val="F2EDE6"/>
                          </a:solidFill>
                          <a:latin typeface="Meiryo" pitchFamily="34" charset="0"/>
                          <a:ea typeface="Meiryo" pitchFamily="34" charset="-122"/>
                          <a:cs typeface="Meiryo" pitchFamily="34" charset="-120"/>
                        </a:rPr>
                        <a:t>ほぼゼロ</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17111A"/>
                    </a:solidFill>
                  </a:tcPr>
                </a:tc>
                <a:tc>
                  <a:txBody>
                    <a:bodyPr/>
                    <a:lstStyle/>
                    <a:p>
                      <a:pPr algn="ctr" indent="0" marL="0">
                        <a:buNone/>
                      </a:pPr>
                      <a:r>
                        <a:rPr lang="en-US" sz="1100" b="1" dirty="0">
                          <a:solidFill>
                            <a:srgbClr val="7FD1AE"/>
                          </a:solidFill>
                          <a:latin typeface="Meiryo" pitchFamily="34" charset="0"/>
                          <a:ea typeface="Meiryo" pitchFamily="34" charset="-122"/>
                          <a:cs typeface="Meiryo" pitchFamily="34" charset="-120"/>
                        </a:rPr>
                        <a:t>◎</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17111A"/>
                    </a:solidFill>
                  </a:tcPr>
                </a:tc>
              </a:tr>
              <a:tr h="292608">
                <a:tc>
                  <a:txBody>
                    <a:bodyPr/>
                    <a:lstStyle/>
                    <a:p>
                      <a:pPr algn="l" indent="0" marL="0">
                        <a:buNone/>
                      </a:pPr>
                      <a:r>
                        <a:rPr lang="en-US" sz="1100" dirty="0">
                          <a:solidFill>
                            <a:srgbClr val="F2EDE6"/>
                          </a:solidFill>
                          <a:latin typeface="Meiryo" pitchFamily="34" charset="0"/>
                          <a:ea typeface="Meiryo" pitchFamily="34" charset="-122"/>
                          <a:cs typeface="Meiryo" pitchFamily="34" charset="-120"/>
                        </a:rPr>
                        <a:t>マーケットプレイス／オークション</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17111A"/>
                    </a:solidFill>
                  </a:tcPr>
                </a:tc>
                <a:tc>
                  <a:txBody>
                    <a:bodyPr/>
                    <a:lstStyle/>
                    <a:p>
                      <a:pPr algn="ctr" indent="0" marL="0">
                        <a:buNone/>
                      </a:pPr>
                      <a:r>
                        <a:rPr lang="en-US" sz="1100" dirty="0">
                          <a:solidFill>
                            <a:srgbClr val="F2EDE6"/>
                          </a:solidFill>
                          <a:latin typeface="Meiryo" pitchFamily="34" charset="0"/>
                          <a:ea typeface="Meiryo" pitchFamily="34" charset="-122"/>
                          <a:cs typeface="Meiryo" pitchFamily="34" charset="-120"/>
                        </a:rPr>
                        <a:t>1.0円</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17111A"/>
                    </a:solidFill>
                  </a:tcPr>
                </a:tc>
                <a:tc>
                  <a:txBody>
                    <a:bodyPr/>
                    <a:lstStyle/>
                    <a:p>
                      <a:pPr algn="ctr" indent="0" marL="0">
                        <a:buNone/>
                      </a:pPr>
                      <a:r>
                        <a:rPr lang="en-US" sz="1100" dirty="0">
                          <a:solidFill>
                            <a:srgbClr val="F2EDE6"/>
                          </a:solidFill>
                          <a:latin typeface="Meiryo" pitchFamily="34" charset="0"/>
                          <a:ea typeface="Meiryo" pitchFamily="34" charset="-122"/>
                          <a:cs typeface="Meiryo" pitchFamily="34" charset="-120"/>
                        </a:rPr>
                        <a:t>—</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17111A"/>
                    </a:solidFill>
                  </a:tcPr>
                </a:tc>
                <a:tc>
                  <a:txBody>
                    <a:bodyPr/>
                    <a:lstStyle/>
                    <a:p>
                      <a:pPr algn="ctr" indent="0" marL="0">
                        <a:buNone/>
                      </a:pPr>
                      <a:r>
                        <a:rPr lang="en-US" sz="1100" dirty="0">
                          <a:solidFill>
                            <a:srgbClr val="F2EDE6"/>
                          </a:solidFill>
                          <a:latin typeface="Meiryo" pitchFamily="34" charset="0"/>
                          <a:ea typeface="Meiryo" pitchFamily="34" charset="-122"/>
                          <a:cs typeface="Meiryo" pitchFamily="34" charset="-120"/>
                        </a:rPr>
                        <a:t>ゼロ</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17111A"/>
                    </a:solidFill>
                  </a:tcPr>
                </a:tc>
                <a:tc>
                  <a:txBody>
                    <a:bodyPr/>
                    <a:lstStyle/>
                    <a:p>
                      <a:pPr algn="ctr" indent="0" marL="0">
                        <a:buNone/>
                      </a:pPr>
                      <a:r>
                        <a:rPr lang="en-US" sz="1100" b="1" dirty="0">
                          <a:solidFill>
                            <a:srgbClr val="7FD1AE"/>
                          </a:solidFill>
                          <a:latin typeface="Meiryo" pitchFamily="34" charset="0"/>
                          <a:ea typeface="Meiryo" pitchFamily="34" charset="-122"/>
                          <a:cs typeface="Meiryo" pitchFamily="34" charset="-120"/>
                        </a:rPr>
                        <a:t>◎</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17111A"/>
                    </a:solidFill>
                  </a:tcPr>
                </a:tc>
              </a:tr>
              <a:tr h="292608">
                <a:tc>
                  <a:txBody>
                    <a:bodyPr/>
                    <a:lstStyle/>
                    <a:p>
                      <a:pPr algn="l" indent="0" marL="0">
                        <a:buNone/>
                      </a:pPr>
                      <a:r>
                        <a:rPr lang="en-US" sz="1100" dirty="0">
                          <a:solidFill>
                            <a:srgbClr val="F2EDE6"/>
                          </a:solidFill>
                          <a:latin typeface="Meiryo" pitchFamily="34" charset="0"/>
                          <a:ea typeface="Meiryo" pitchFamily="34" charset="-122"/>
                          <a:cs typeface="Meiryo" pitchFamily="34" charset="-120"/>
                        </a:rPr>
                        <a:t>ワインの追加購入・贈答</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17111A"/>
                    </a:solidFill>
                  </a:tcPr>
                </a:tc>
                <a:tc>
                  <a:txBody>
                    <a:bodyPr/>
                    <a:lstStyle/>
                    <a:p>
                      <a:pPr algn="ctr" indent="0" marL="0">
                        <a:buNone/>
                      </a:pPr>
                      <a:r>
                        <a:rPr lang="en-US" sz="1100" dirty="0">
                          <a:solidFill>
                            <a:srgbClr val="F2EDE6"/>
                          </a:solidFill>
                          <a:latin typeface="Meiryo" pitchFamily="34" charset="0"/>
                          <a:ea typeface="Meiryo" pitchFamily="34" charset="-122"/>
                          <a:cs typeface="Meiryo" pitchFamily="34" charset="-120"/>
                        </a:rPr>
                        <a:t>1.0円</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17111A"/>
                    </a:solidFill>
                  </a:tcPr>
                </a:tc>
                <a:tc>
                  <a:txBody>
                    <a:bodyPr/>
                    <a:lstStyle/>
                    <a:p>
                      <a:pPr algn="ctr" indent="0" marL="0">
                        <a:buNone/>
                      </a:pPr>
                      <a:r>
                        <a:rPr lang="en-US" sz="1100" dirty="0">
                          <a:solidFill>
                            <a:srgbClr val="E0A458"/>
                          </a:solidFill>
                          <a:latin typeface="Meiryo" pitchFamily="34" charset="0"/>
                          <a:ea typeface="Meiryo" pitchFamily="34" charset="-122"/>
                          <a:cs typeface="Meiryo" pitchFamily="34" charset="-120"/>
                        </a:rPr>
                        <a:t>年間付与の20%</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17111A"/>
                    </a:solidFill>
                  </a:tcPr>
                </a:tc>
                <a:tc>
                  <a:txBody>
                    <a:bodyPr/>
                    <a:lstStyle/>
                    <a:p>
                      <a:pPr algn="ctr" indent="0" marL="0">
                        <a:buNone/>
                      </a:pPr>
                      <a:r>
                        <a:rPr lang="en-US" sz="1100" dirty="0">
                          <a:solidFill>
                            <a:srgbClr val="F2EDE6"/>
                          </a:solidFill>
                          <a:latin typeface="Meiryo" pitchFamily="34" charset="0"/>
                          <a:ea typeface="Meiryo" pitchFamily="34" charset="-122"/>
                          <a:cs typeface="Meiryo" pitchFamily="34" charset="-120"/>
                        </a:rPr>
                        <a:t>原価 75〜85%</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17111A"/>
                    </a:solidFill>
                  </a:tcPr>
                </a:tc>
                <a:tc>
                  <a:txBody>
                    <a:bodyPr/>
                    <a:lstStyle/>
                    <a:p>
                      <a:pPr algn="ctr" indent="0" marL="0">
                        <a:buNone/>
                      </a:pPr>
                      <a:r>
                        <a:rPr lang="en-US" sz="1100" dirty="0">
                          <a:solidFill>
                            <a:srgbClr val="E0A458"/>
                          </a:solidFill>
                          <a:latin typeface="Meiryo" pitchFamily="34" charset="0"/>
                          <a:ea typeface="Meiryo" pitchFamily="34" charset="-122"/>
                          <a:cs typeface="Meiryo" pitchFamily="34" charset="-120"/>
                        </a:rPr>
                        <a:t>上限必須</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17111A"/>
                    </a:solidFill>
                  </a:tcPr>
                </a:tc>
              </a:tr>
              <a:tr h="292608">
                <a:tc>
                  <a:txBody>
                    <a:bodyPr/>
                    <a:lstStyle/>
                    <a:p>
                      <a:pPr algn="l" indent="0" marL="0">
                        <a:buNone/>
                      </a:pPr>
                      <a:r>
                        <a:rPr lang="en-US" sz="1100" dirty="0">
                          <a:solidFill>
                            <a:srgbClr val="F2EDE6"/>
                          </a:solidFill>
                          <a:latin typeface="Meiryo" pitchFamily="34" charset="0"/>
                          <a:ea typeface="Meiryo" pitchFamily="34" charset="-122"/>
                          <a:cs typeface="Meiryo" pitchFamily="34" charset="-120"/>
                        </a:rPr>
                        <a:t>配送料</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17111A"/>
                    </a:solidFill>
                  </a:tcPr>
                </a:tc>
                <a:tc>
                  <a:txBody>
                    <a:bodyPr/>
                    <a:lstStyle/>
                    <a:p>
                      <a:pPr algn="ctr" indent="0" marL="0">
                        <a:buNone/>
                      </a:pPr>
                      <a:r>
                        <a:rPr lang="en-US" sz="1100" dirty="0">
                          <a:solidFill>
                            <a:srgbClr val="F2EDE6"/>
                          </a:solidFill>
                          <a:latin typeface="Meiryo" pitchFamily="34" charset="0"/>
                          <a:ea typeface="Meiryo" pitchFamily="34" charset="-122"/>
                          <a:cs typeface="Meiryo" pitchFamily="34" charset="-120"/>
                        </a:rPr>
                        <a:t>1.0円</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17111A"/>
                    </a:solidFill>
                  </a:tcPr>
                </a:tc>
                <a:tc>
                  <a:txBody>
                    <a:bodyPr/>
                    <a:lstStyle/>
                    <a:p>
                      <a:pPr algn="ctr" indent="0" marL="0">
                        <a:buNone/>
                      </a:pPr>
                      <a:r>
                        <a:rPr lang="en-US" sz="1100" dirty="0">
                          <a:solidFill>
                            <a:srgbClr val="F2EDE6"/>
                          </a:solidFill>
                          <a:latin typeface="Meiryo" pitchFamily="34" charset="0"/>
                          <a:ea typeface="Meiryo" pitchFamily="34" charset="-122"/>
                          <a:cs typeface="Meiryo" pitchFamily="34" charset="-120"/>
                        </a:rPr>
                        <a:t>要設定</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17111A"/>
                    </a:solidFill>
                  </a:tcPr>
                </a:tc>
                <a:tc>
                  <a:txBody>
                    <a:bodyPr/>
                    <a:lstStyle/>
                    <a:p>
                      <a:pPr algn="ctr" indent="0" marL="0">
                        <a:buNone/>
                      </a:pPr>
                      <a:r>
                        <a:rPr lang="en-US" sz="1100" dirty="0">
                          <a:solidFill>
                            <a:srgbClr val="F2EDE6"/>
                          </a:solidFill>
                          <a:latin typeface="Meiryo" pitchFamily="34" charset="0"/>
                          <a:ea typeface="Meiryo" pitchFamily="34" charset="-122"/>
                          <a:cs typeface="Meiryo" pitchFamily="34" charset="-120"/>
                        </a:rPr>
                        <a:t>実費</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17111A"/>
                    </a:solidFill>
                  </a:tcPr>
                </a:tc>
                <a:tc>
                  <a:txBody>
                    <a:bodyPr/>
                    <a:lstStyle/>
                    <a:p>
                      <a:pPr algn="ctr" indent="0" marL="0">
                        <a:buNone/>
                      </a:pPr>
                      <a:r>
                        <a:rPr lang="en-US" sz="1100" dirty="0">
                          <a:solidFill>
                            <a:srgbClr val="E0A458"/>
                          </a:solidFill>
                          <a:latin typeface="Meiryo" pitchFamily="34" charset="0"/>
                          <a:ea typeface="Meiryo" pitchFamily="34" charset="-122"/>
                          <a:cs typeface="Meiryo" pitchFamily="34" charset="-120"/>
                        </a:rPr>
                        <a:t>上限必須</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17111A"/>
                    </a:solidFill>
                  </a:tcPr>
                </a:tc>
              </a:tr>
              <a:tr h="292608">
                <a:tc>
                  <a:txBody>
                    <a:bodyPr/>
                    <a:lstStyle/>
                    <a:p>
                      <a:pPr algn="l" indent="0" marL="0">
                        <a:buNone/>
                      </a:pPr>
                      <a:r>
                        <a:rPr lang="en-US" sz="1100" dirty="0">
                          <a:solidFill>
                            <a:srgbClr val="F2EDE6"/>
                          </a:solidFill>
                          <a:latin typeface="Meiryo" pitchFamily="34" charset="0"/>
                          <a:ea typeface="Meiryo" pitchFamily="34" charset="-122"/>
                          <a:cs typeface="Meiryo" pitchFamily="34" charset="-120"/>
                        </a:rPr>
                        <a:t>ワイン関連の一般サービス</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17111A"/>
                    </a:solidFill>
                  </a:tcPr>
                </a:tc>
                <a:tc>
                  <a:txBody>
                    <a:bodyPr/>
                    <a:lstStyle/>
                    <a:p>
                      <a:pPr algn="ctr" indent="0" marL="0">
                        <a:buNone/>
                      </a:pPr>
                      <a:r>
                        <a:rPr lang="en-US" sz="1100" dirty="0">
                          <a:solidFill>
                            <a:srgbClr val="E0A458"/>
                          </a:solidFill>
                          <a:latin typeface="Meiryo" pitchFamily="34" charset="0"/>
                          <a:ea typeface="Meiryo" pitchFamily="34" charset="-122"/>
                          <a:cs typeface="Meiryo" pitchFamily="34" charset="-120"/>
                        </a:rPr>
                        <a:t>0.5円</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17111A"/>
                    </a:solidFill>
                  </a:tcPr>
                </a:tc>
                <a:tc>
                  <a:txBody>
                    <a:bodyPr/>
                    <a:lstStyle/>
                    <a:p>
                      <a:pPr algn="ctr" indent="0" marL="0">
                        <a:buNone/>
                      </a:pPr>
                      <a:r>
                        <a:rPr lang="en-US" sz="1100" dirty="0">
                          <a:solidFill>
                            <a:srgbClr val="F2EDE6"/>
                          </a:solidFill>
                          <a:latin typeface="Meiryo" pitchFamily="34" charset="0"/>
                          <a:ea typeface="Meiryo" pitchFamily="34" charset="-122"/>
                          <a:cs typeface="Meiryo" pitchFamily="34" charset="-120"/>
                        </a:rPr>
                        <a:t>要設定</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17111A"/>
                    </a:solidFill>
                  </a:tcPr>
                </a:tc>
                <a:tc>
                  <a:txBody>
                    <a:bodyPr/>
                    <a:lstStyle/>
                    <a:p>
                      <a:pPr algn="ctr" indent="0" marL="0">
                        <a:buNone/>
                      </a:pPr>
                      <a:r>
                        <a:rPr lang="en-US" sz="1100" dirty="0">
                          <a:solidFill>
                            <a:srgbClr val="F2EDE6"/>
                          </a:solidFill>
                          <a:latin typeface="Meiryo" pitchFamily="34" charset="0"/>
                          <a:ea typeface="Meiryo" pitchFamily="34" charset="-122"/>
                          <a:cs typeface="Meiryo" pitchFamily="34" charset="-120"/>
                        </a:rPr>
                        <a:t>真水（現金）</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17111A"/>
                    </a:solidFill>
                  </a:tcPr>
                </a:tc>
                <a:tc>
                  <a:txBody>
                    <a:bodyPr/>
                    <a:lstStyle/>
                    <a:p>
                      <a:pPr algn="ctr" indent="0" marL="0">
                        <a:buNone/>
                      </a:pPr>
                      <a:r>
                        <a:rPr lang="en-US" sz="1100" dirty="0">
                          <a:solidFill>
                            <a:srgbClr val="E0A458"/>
                          </a:solidFill>
                          <a:latin typeface="Meiryo" pitchFamily="34" charset="0"/>
                          <a:ea typeface="Meiryo" pitchFamily="34" charset="-122"/>
                          <a:cs typeface="Meiryo" pitchFamily="34" charset="-120"/>
                        </a:rPr>
                        <a:t>要検討</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17111A"/>
                    </a:solidFill>
                  </a:tcPr>
                </a:tc>
              </a:tr>
            </a:tbl>
          </a:graphicData>
        </a:graphic>
      </p:graphicFrame>
      <p:sp>
        <p:nvSpPr>
          <p:cNvPr id="7" name="Shape 4"/>
          <p:cNvSpPr/>
          <p:nvPr/>
        </p:nvSpPr>
        <p:spPr>
          <a:xfrm>
            <a:off x="566928" y="4992624"/>
            <a:ext cx="5394960" cy="1060704"/>
          </a:xfrm>
          <a:prstGeom prst="roundRect">
            <a:avLst>
              <a:gd name="adj" fmla="val 5172"/>
            </a:avLst>
          </a:prstGeom>
          <a:solidFill>
            <a:srgbClr val="17111A"/>
          </a:solidFill>
          <a:ln w="12700">
            <a:solidFill>
              <a:srgbClr val="17111A"/>
            </a:solidFill>
            <a:prstDash val="solid"/>
          </a:ln>
          <a:effectLst>
            <a:outerShdw sx="100000" sy="100000" kx="0" ky="0" algn="bl" rotWithShape="0" blurRad="127000" dist="25400" dir="5400000">
              <a:srgbClr val="000000">
                <a:alpha val="35000"/>
              </a:srgbClr>
            </a:outerShdw>
          </a:effectLst>
        </p:spPr>
      </p:sp>
      <p:sp>
        <p:nvSpPr>
          <p:cNvPr id="8" name="Text 5"/>
          <p:cNvSpPr txBox="1"/>
          <p:nvPr/>
        </p:nvSpPr>
        <p:spPr>
          <a:xfrm>
            <a:off x="932688" y="5102352"/>
            <a:ext cx="4663440" cy="256032"/>
          </a:xfrm>
          <a:prstGeom prst="rect">
            <a:avLst/>
          </a:prstGeom>
          <a:noFill/>
          <a:ln/>
        </p:spPr>
        <p:txBody>
          <a:bodyPr wrap="square" lIns="0" tIns="0" rIns="0" bIns="0" rtlCol="0" anchor="ctr"/>
          <a:lstStyle/>
          <a:p>
            <a:pPr indent="0" marL="0">
              <a:buNone/>
            </a:pPr>
            <a:r>
              <a:rPr lang="en-US" sz="1300" b="1" dirty="0">
                <a:solidFill>
                  <a:srgbClr val="E8CE78"/>
                </a:solidFill>
                <a:latin typeface="Meiryo" pitchFamily="34" charset="0"/>
                <a:ea typeface="Meiryo" pitchFamily="34" charset="-122"/>
                <a:cs typeface="Meiryo" pitchFamily="34" charset="-120"/>
              </a:rPr>
              <a:t>WineBank CLUB への充当ルール</a:t>
            </a:r>
            <a:endParaRPr lang="en-US" sz="1300" dirty="0"/>
          </a:p>
        </p:txBody>
      </p:sp>
      <p:sp>
        <p:nvSpPr>
          <p:cNvPr id="9" name="Text 6"/>
          <p:cNvSpPr txBox="1"/>
          <p:nvPr/>
        </p:nvSpPr>
        <p:spPr>
          <a:xfrm>
            <a:off x="932688" y="5376672"/>
            <a:ext cx="4663440" cy="585216"/>
          </a:xfrm>
          <a:prstGeom prst="rect">
            <a:avLst/>
          </a:prstGeom>
          <a:noFill/>
          <a:ln/>
        </p:spPr>
        <p:txBody>
          <a:bodyPr wrap="square" lIns="0" tIns="0" rIns="0" bIns="0" rtlCol="0" anchor="ctr"/>
          <a:lstStyle/>
          <a:p>
            <a:pPr indent="0" marL="0">
              <a:lnSpc>
                <a:spcPts val="1400"/>
              </a:lnSpc>
              <a:buNone/>
            </a:pPr>
            <a:r>
              <a:rPr lang="en-US" sz="1000" dirty="0">
                <a:solidFill>
                  <a:srgbClr val="A2908C"/>
                </a:solidFill>
                <a:latin typeface="Meiryo" pitchFamily="34" charset="0"/>
                <a:ea typeface="Meiryo" pitchFamily="34" charset="-122"/>
                <a:cs typeface="Meiryo" pitchFamily="34" charset="-120"/>
              </a:rPr>
              <a:t>100万・500万会員はマイル充当による単月利用のみ可。未利用時の特典をワイン購入代金へ振り替えることはできません。</a:t>
            </a:r>
            <a:endParaRPr lang="en-US" sz="1000" dirty="0"/>
          </a:p>
        </p:txBody>
      </p:sp>
      <p:sp>
        <p:nvSpPr>
          <p:cNvPr id="10" name="Shape 7"/>
          <p:cNvSpPr/>
          <p:nvPr/>
        </p:nvSpPr>
        <p:spPr>
          <a:xfrm>
            <a:off x="6199632" y="4992624"/>
            <a:ext cx="5394960" cy="1060704"/>
          </a:xfrm>
          <a:prstGeom prst="roundRect">
            <a:avLst>
              <a:gd name="adj" fmla="val 5172"/>
            </a:avLst>
          </a:prstGeom>
          <a:solidFill>
            <a:srgbClr val="7B1E3A"/>
          </a:solidFill>
          <a:ln w="12700">
            <a:solidFill>
              <a:srgbClr val="7B1E3A"/>
            </a:solidFill>
            <a:prstDash val="solid"/>
          </a:ln>
          <a:effectLst>
            <a:outerShdw sx="100000" sy="100000" kx="0" ky="0" algn="bl" rotWithShape="0" blurRad="127000" dist="25400" dir="5400000">
              <a:srgbClr val="000000">
                <a:alpha val="35000"/>
              </a:srgbClr>
            </a:outerShdw>
          </a:effectLst>
        </p:spPr>
      </p:sp>
      <p:sp>
        <p:nvSpPr>
          <p:cNvPr id="11" name="Text 8"/>
          <p:cNvSpPr txBox="1"/>
          <p:nvPr/>
        </p:nvSpPr>
        <p:spPr>
          <a:xfrm>
            <a:off x="6565392" y="5102352"/>
            <a:ext cx="4663440" cy="256032"/>
          </a:xfrm>
          <a:prstGeom prst="rect">
            <a:avLst/>
          </a:prstGeom>
          <a:noFill/>
          <a:ln/>
        </p:spPr>
        <p:txBody>
          <a:bodyPr wrap="square" lIns="0" tIns="0" rIns="0" bIns="0" rtlCol="0" anchor="ctr"/>
          <a:lstStyle/>
          <a:p>
            <a:pPr indent="0" marL="0">
              <a:buNone/>
            </a:pPr>
            <a:r>
              <a:rPr lang="en-US" sz="1300" b="1" dirty="0">
                <a:solidFill>
                  <a:srgbClr val="E8CE78"/>
                </a:solidFill>
                <a:latin typeface="Meiryo" pitchFamily="34" charset="0"/>
                <a:ea typeface="Meiryo" pitchFamily="34" charset="-122"/>
                <a:cs typeface="Meiryo" pitchFamily="34" charset="-120"/>
              </a:rPr>
              <a:t>一般サービス 0.5円は、比較させるための設計です</a:t>
            </a:r>
            <a:endParaRPr lang="en-US" sz="1300" dirty="0"/>
          </a:p>
        </p:txBody>
      </p:sp>
      <p:sp>
        <p:nvSpPr>
          <p:cNvPr id="12" name="Text 9"/>
          <p:cNvSpPr txBox="1"/>
          <p:nvPr/>
        </p:nvSpPr>
        <p:spPr>
          <a:xfrm>
            <a:off x="6565392" y="5376672"/>
            <a:ext cx="4663440" cy="585216"/>
          </a:xfrm>
          <a:prstGeom prst="rect">
            <a:avLst/>
          </a:prstGeom>
          <a:noFill/>
          <a:ln/>
        </p:spPr>
        <p:txBody>
          <a:bodyPr wrap="square" lIns="0" tIns="0" rIns="0" bIns="0" rtlCol="0" anchor="ctr"/>
          <a:lstStyle/>
          <a:p>
            <a:pPr indent="0" marL="0">
              <a:lnSpc>
                <a:spcPts val="1400"/>
              </a:lnSpc>
              <a:buNone/>
            </a:pPr>
            <a:r>
              <a:rPr lang="en-US" sz="1000" dirty="0">
                <a:solidFill>
                  <a:srgbClr val="F2EDE6"/>
                </a:solidFill>
                <a:latin typeface="Meiryo" pitchFamily="34" charset="0"/>
                <a:ea typeface="Meiryo" pitchFamily="34" charset="-122"/>
                <a:cs typeface="Meiryo" pitchFamily="34" charset="-120"/>
              </a:rPr>
              <a:t>外に出せば必ず不利になる。会員は一度比べたうえで「ワインのことなら、WineBankの中が一番得だ」と自分で気づきます。</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00000"/>
        </a:solidFill>
      </p:bgPr>
    </p:bg>
    <p:spTree>
      <p:nvGrpSpPr>
        <p:cNvPr id="1" name=""/>
        <p:cNvGrpSpPr/>
        <p:nvPr/>
      </p:nvGrpSpPr>
      <p:grpSpPr>
        <a:xfrm>
          <a:off x="0" y="0"/>
          <a:ext cx="0" cy="0"/>
          <a:chOff x="0" y="0"/>
          <a:chExt cx="0" cy="0"/>
        </a:xfrm>
      </p:grpSpPr>
      <p:sp>
        <p:nvSpPr>
          <p:cNvPr id="2" name="Text 0"/>
          <p:cNvSpPr txBox="1"/>
          <p:nvPr/>
        </p:nvSpPr>
        <p:spPr>
          <a:xfrm>
            <a:off x="566928" y="310896"/>
            <a:ext cx="11027664" cy="237744"/>
          </a:xfrm>
          <a:prstGeom prst="rect">
            <a:avLst/>
          </a:prstGeom>
          <a:noFill/>
          <a:ln/>
        </p:spPr>
        <p:txBody>
          <a:bodyPr wrap="square" lIns="0" tIns="0" rIns="0" bIns="0" rtlCol="0" anchor="ctr"/>
          <a:lstStyle/>
          <a:p>
            <a:pPr indent="0" marL="0">
              <a:buNone/>
            </a:pPr>
            <a:r>
              <a:rPr lang="en-US" sz="1050" b="1" spc="300" kern="0" dirty="0">
                <a:solidFill>
                  <a:srgbClr val="C9A227"/>
                </a:solidFill>
                <a:latin typeface="Arial" pitchFamily="34" charset="0"/>
                <a:ea typeface="Arial" pitchFamily="34" charset="-122"/>
                <a:cs typeface="Arial" pitchFamily="34" charset="-120"/>
              </a:rPr>
              <a:t>RATE POLICY</a:t>
            </a:r>
            <a:endParaRPr lang="en-US" sz="1050" dirty="0"/>
          </a:p>
        </p:txBody>
      </p:sp>
      <p:sp>
        <p:nvSpPr>
          <p:cNvPr id="3" name="Text 1"/>
          <p:cNvSpPr txBox="1"/>
          <p:nvPr/>
        </p:nvSpPr>
        <p:spPr>
          <a:xfrm>
            <a:off x="566928" y="566928"/>
            <a:ext cx="11027664" cy="548640"/>
          </a:xfrm>
          <a:prstGeom prst="rect">
            <a:avLst/>
          </a:prstGeom>
          <a:noFill/>
          <a:ln/>
        </p:spPr>
        <p:txBody>
          <a:bodyPr wrap="square" lIns="0" tIns="0" rIns="0" bIns="0" rtlCol="0" anchor="ctr"/>
          <a:lstStyle/>
          <a:p>
            <a:pPr indent="0" marL="0">
              <a:buNone/>
            </a:pPr>
            <a:r>
              <a:rPr lang="en-US" sz="2900" b="1" dirty="0">
                <a:solidFill>
                  <a:srgbClr val="F2EDE6"/>
                </a:solidFill>
                <a:latin typeface="Meiryo" pitchFamily="34" charset="0"/>
                <a:ea typeface="Meiryo" pitchFamily="34" charset="-122"/>
                <a:cs typeface="Meiryo" pitchFamily="34" charset="-120"/>
              </a:rPr>
              <a:t>レート設計：シンプルに、そして繁忙期は守る</a:t>
            </a:r>
            <a:endParaRPr lang="en-US" sz="2900" dirty="0"/>
          </a:p>
        </p:txBody>
      </p:sp>
      <p:sp>
        <p:nvSpPr>
          <p:cNvPr id="4" name="Text 2"/>
          <p:cNvSpPr txBox="1"/>
          <p:nvPr/>
        </p:nvSpPr>
        <p:spPr>
          <a:xfrm>
            <a:off x="566928" y="1152144"/>
            <a:ext cx="11027664" cy="310896"/>
          </a:xfrm>
          <a:prstGeom prst="rect">
            <a:avLst/>
          </a:prstGeom>
          <a:noFill/>
          <a:ln/>
        </p:spPr>
        <p:txBody>
          <a:bodyPr wrap="square" lIns="0" tIns="0" rIns="0" bIns="0" rtlCol="0" anchor="ctr"/>
          <a:lstStyle/>
          <a:p>
            <a:pPr indent="0" marL="0">
              <a:buNone/>
            </a:pPr>
            <a:r>
              <a:rPr lang="en-US" sz="1300" dirty="0">
                <a:solidFill>
                  <a:srgbClr val="A2908C"/>
                </a:solidFill>
                <a:latin typeface="Meiryo" pitchFamily="34" charset="0"/>
                <a:ea typeface="Meiryo" pitchFamily="34" charset="-122"/>
                <a:cs typeface="Meiryo" pitchFamily="34" charset="-120"/>
              </a:rPr>
              <a:t>グランメゾンは全ランク共通の0.5円。ランクで差をつけるのは、レートではなく情報です。</a:t>
            </a:r>
            <a:endParaRPr lang="en-US" sz="1300" dirty="0"/>
          </a:p>
        </p:txBody>
      </p:sp>
      <p:sp>
        <p:nvSpPr>
          <p:cNvPr id="5" name="Text 3"/>
          <p:cNvSpPr txBox="1"/>
          <p:nvPr/>
        </p:nvSpPr>
        <p:spPr>
          <a:xfrm>
            <a:off x="566928" y="6437376"/>
            <a:ext cx="4572000" cy="219456"/>
          </a:xfrm>
          <a:prstGeom prst="rect">
            <a:avLst/>
          </a:prstGeom>
          <a:noFill/>
          <a:ln/>
        </p:spPr>
        <p:txBody>
          <a:bodyPr wrap="square" lIns="0" tIns="0" rIns="0" bIns="0" rtlCol="0" anchor="ctr"/>
          <a:lstStyle/>
          <a:p>
            <a:pPr indent="0" marL="0">
              <a:buNone/>
            </a:pPr>
            <a:r>
              <a:rPr lang="en-US" sz="850" dirty="0">
                <a:solidFill>
                  <a:srgbClr val="6B5A5F"/>
                </a:solidFill>
                <a:latin typeface="Arial" pitchFamily="34" charset="0"/>
                <a:ea typeface="Arial" pitchFamily="34" charset="-122"/>
                <a:cs typeface="Arial" pitchFamily="34" charset="-120"/>
              </a:rPr>
              <a:t>WineBank CONFIDENTIAL</a:t>
            </a:r>
            <a:endParaRPr lang="en-US" sz="850" dirty="0"/>
          </a:p>
        </p:txBody>
      </p:sp>
      <p:sp>
        <p:nvSpPr>
          <p:cNvPr id="6" name="Shape 4"/>
          <p:cNvSpPr/>
          <p:nvPr/>
        </p:nvSpPr>
        <p:spPr>
          <a:xfrm>
            <a:off x="566928" y="1664208"/>
            <a:ext cx="5394960" cy="1499616"/>
          </a:xfrm>
          <a:prstGeom prst="roundRect">
            <a:avLst>
              <a:gd name="adj" fmla="val 3659"/>
            </a:avLst>
          </a:prstGeom>
          <a:solidFill>
            <a:srgbClr val="17111A"/>
          </a:solidFill>
          <a:ln w="12700">
            <a:solidFill>
              <a:srgbClr val="17111A"/>
            </a:solidFill>
            <a:prstDash val="solid"/>
          </a:ln>
          <a:effectLst>
            <a:outerShdw sx="100000" sy="100000" kx="0" ky="0" algn="bl" rotWithShape="0" blurRad="127000" dist="25400" dir="5400000">
              <a:srgbClr val="000000">
                <a:alpha val="35000"/>
              </a:srgbClr>
            </a:outerShdw>
          </a:effectLst>
        </p:spPr>
      </p:sp>
      <p:sp>
        <p:nvSpPr>
          <p:cNvPr id="7" name="Shape 5"/>
          <p:cNvSpPr/>
          <p:nvPr/>
        </p:nvSpPr>
        <p:spPr>
          <a:xfrm>
            <a:off x="859536" y="1883664"/>
            <a:ext cx="329184" cy="329184"/>
          </a:xfrm>
          <a:prstGeom prst="ellipse">
            <a:avLst/>
          </a:prstGeom>
          <a:solidFill>
            <a:srgbClr val="C9A227"/>
          </a:solidFill>
          <a:ln w="12700">
            <a:solidFill>
              <a:srgbClr val="C9A227"/>
            </a:solidFill>
            <a:prstDash val="solid"/>
          </a:ln>
        </p:spPr>
      </p:sp>
      <p:sp>
        <p:nvSpPr>
          <p:cNvPr id="8" name="Text 6"/>
          <p:cNvSpPr txBox="1"/>
          <p:nvPr/>
        </p:nvSpPr>
        <p:spPr>
          <a:xfrm>
            <a:off x="859536" y="1883664"/>
            <a:ext cx="329184" cy="329184"/>
          </a:xfrm>
          <a:prstGeom prst="rect">
            <a:avLst/>
          </a:prstGeom>
          <a:noFill/>
          <a:ln/>
        </p:spPr>
        <p:txBody>
          <a:bodyPr wrap="square" lIns="0" tIns="0" rIns="0" bIns="0" rtlCol="0" anchor="ctr"/>
          <a:lstStyle/>
          <a:p>
            <a:pPr algn="ctr" indent="0" marL="0">
              <a:buNone/>
            </a:pPr>
            <a:r>
              <a:rPr lang="en-US" sz="1300" b="1" dirty="0">
                <a:solidFill>
                  <a:srgbClr val="000000"/>
                </a:solidFill>
                <a:latin typeface="Arial" pitchFamily="34" charset="0"/>
                <a:ea typeface="Arial" pitchFamily="34" charset="-122"/>
                <a:cs typeface="Arial" pitchFamily="34" charset="-120"/>
              </a:rPr>
              <a:t>1</a:t>
            </a:r>
            <a:endParaRPr lang="en-US" sz="1300" dirty="0"/>
          </a:p>
        </p:txBody>
      </p:sp>
      <p:sp>
        <p:nvSpPr>
          <p:cNvPr id="9" name="Text 7"/>
          <p:cNvSpPr txBox="1"/>
          <p:nvPr/>
        </p:nvSpPr>
        <p:spPr>
          <a:xfrm>
            <a:off x="1298448" y="1901952"/>
            <a:ext cx="4389120" cy="292608"/>
          </a:xfrm>
          <a:prstGeom prst="rect">
            <a:avLst/>
          </a:prstGeom>
          <a:noFill/>
          <a:ln/>
        </p:spPr>
        <p:txBody>
          <a:bodyPr wrap="square" lIns="0" tIns="0" rIns="0" bIns="0" rtlCol="0" anchor="ctr"/>
          <a:lstStyle/>
          <a:p>
            <a:pPr indent="0" marL="0">
              <a:buNone/>
            </a:pPr>
            <a:r>
              <a:rPr lang="en-US" sz="1450" b="1" dirty="0">
                <a:solidFill>
                  <a:srgbClr val="E8CE78"/>
                </a:solidFill>
                <a:latin typeface="Meiryo" pitchFamily="34" charset="0"/>
                <a:ea typeface="Meiryo" pitchFamily="34" charset="-122"/>
                <a:cs typeface="Meiryo" pitchFamily="34" charset="-120"/>
              </a:rPr>
              <a:t>グランメゾンは 0.5円で固定</a:t>
            </a:r>
            <a:endParaRPr lang="en-US" sz="1450" dirty="0"/>
          </a:p>
        </p:txBody>
      </p:sp>
      <p:sp>
        <p:nvSpPr>
          <p:cNvPr id="10" name="Text 8"/>
          <p:cNvSpPr txBox="1"/>
          <p:nvPr/>
        </p:nvSpPr>
        <p:spPr>
          <a:xfrm>
            <a:off x="859536" y="2322576"/>
            <a:ext cx="4809744" cy="749808"/>
          </a:xfrm>
          <a:prstGeom prst="rect">
            <a:avLst/>
          </a:prstGeom>
          <a:noFill/>
          <a:ln/>
        </p:spPr>
        <p:txBody>
          <a:bodyPr wrap="square" lIns="0" tIns="0" rIns="0" bIns="0" rtlCol="0" anchor="ctr"/>
          <a:lstStyle/>
          <a:p>
            <a:pPr indent="0" marL="0">
              <a:lnSpc>
                <a:spcPts val="1600"/>
              </a:lnSpc>
              <a:buNone/>
            </a:pPr>
            <a:r>
              <a:rPr lang="en-US" sz="1100" dirty="0">
                <a:solidFill>
                  <a:srgbClr val="A2908C"/>
                </a:solidFill>
                <a:latin typeface="Meiryo" pitchFamily="34" charset="0"/>
                <a:ea typeface="Meiryo" pitchFamily="34" charset="-122"/>
                <a:cs typeface="Meiryo" pitchFamily="34" charset="-120"/>
              </a:rPr>
              <a:t>ランクによる差はつけません。席の機会費用が高く、定価で埋まる枠を1:1で割り引くとイールドが壊れるためです。「憧れの席に交換できる」こと自体が商品であり、マイルと同じ構造です。</a:t>
            </a:r>
            <a:endParaRPr lang="en-US" sz="1100" dirty="0"/>
          </a:p>
        </p:txBody>
      </p:sp>
      <p:sp>
        <p:nvSpPr>
          <p:cNvPr id="11" name="Shape 9"/>
          <p:cNvSpPr/>
          <p:nvPr/>
        </p:nvSpPr>
        <p:spPr>
          <a:xfrm>
            <a:off x="6199632" y="1664208"/>
            <a:ext cx="5394960" cy="1499616"/>
          </a:xfrm>
          <a:prstGeom prst="roundRect">
            <a:avLst>
              <a:gd name="adj" fmla="val 3659"/>
            </a:avLst>
          </a:prstGeom>
          <a:solidFill>
            <a:srgbClr val="17111A"/>
          </a:solidFill>
          <a:ln w="12700">
            <a:solidFill>
              <a:srgbClr val="17111A"/>
            </a:solidFill>
            <a:prstDash val="solid"/>
          </a:ln>
          <a:effectLst>
            <a:outerShdw sx="100000" sy="100000" kx="0" ky="0" algn="bl" rotWithShape="0" blurRad="127000" dist="25400" dir="5400000">
              <a:srgbClr val="000000">
                <a:alpha val="35000"/>
              </a:srgbClr>
            </a:outerShdw>
          </a:effectLst>
        </p:spPr>
      </p:sp>
      <p:sp>
        <p:nvSpPr>
          <p:cNvPr id="12" name="Shape 10"/>
          <p:cNvSpPr/>
          <p:nvPr/>
        </p:nvSpPr>
        <p:spPr>
          <a:xfrm>
            <a:off x="6492240" y="1883664"/>
            <a:ext cx="329184" cy="329184"/>
          </a:xfrm>
          <a:prstGeom prst="ellipse">
            <a:avLst/>
          </a:prstGeom>
          <a:solidFill>
            <a:srgbClr val="C9A227"/>
          </a:solidFill>
          <a:ln w="12700">
            <a:solidFill>
              <a:srgbClr val="C9A227"/>
            </a:solidFill>
            <a:prstDash val="solid"/>
          </a:ln>
        </p:spPr>
      </p:sp>
      <p:sp>
        <p:nvSpPr>
          <p:cNvPr id="13" name="Text 11"/>
          <p:cNvSpPr txBox="1"/>
          <p:nvPr/>
        </p:nvSpPr>
        <p:spPr>
          <a:xfrm>
            <a:off x="6492240" y="1883664"/>
            <a:ext cx="329184" cy="329184"/>
          </a:xfrm>
          <a:prstGeom prst="rect">
            <a:avLst/>
          </a:prstGeom>
          <a:noFill/>
          <a:ln/>
        </p:spPr>
        <p:txBody>
          <a:bodyPr wrap="square" lIns="0" tIns="0" rIns="0" bIns="0" rtlCol="0" anchor="ctr"/>
          <a:lstStyle/>
          <a:p>
            <a:pPr algn="ctr" indent="0" marL="0">
              <a:buNone/>
            </a:pPr>
            <a:r>
              <a:rPr lang="en-US" sz="1300" b="1" dirty="0">
                <a:solidFill>
                  <a:srgbClr val="000000"/>
                </a:solidFill>
                <a:latin typeface="Arial" pitchFamily="34" charset="0"/>
                <a:ea typeface="Arial" pitchFamily="34" charset="-122"/>
                <a:cs typeface="Arial" pitchFamily="34" charset="-120"/>
              </a:rPr>
              <a:t>2</a:t>
            </a:r>
            <a:endParaRPr lang="en-US" sz="1300" dirty="0"/>
          </a:p>
        </p:txBody>
      </p:sp>
      <p:sp>
        <p:nvSpPr>
          <p:cNvPr id="14" name="Text 12"/>
          <p:cNvSpPr txBox="1"/>
          <p:nvPr/>
        </p:nvSpPr>
        <p:spPr>
          <a:xfrm>
            <a:off x="6931152" y="1901952"/>
            <a:ext cx="4389120" cy="292608"/>
          </a:xfrm>
          <a:prstGeom prst="rect">
            <a:avLst/>
          </a:prstGeom>
          <a:noFill/>
          <a:ln/>
        </p:spPr>
        <p:txBody>
          <a:bodyPr wrap="square" lIns="0" tIns="0" rIns="0" bIns="0" rtlCol="0" anchor="ctr"/>
          <a:lstStyle/>
          <a:p>
            <a:pPr indent="0" marL="0">
              <a:buNone/>
            </a:pPr>
            <a:r>
              <a:rPr lang="en-US" sz="1450" b="1" dirty="0">
                <a:solidFill>
                  <a:srgbClr val="E8CE78"/>
                </a:solidFill>
                <a:latin typeface="Meiryo" pitchFamily="34" charset="0"/>
                <a:ea typeface="Meiryo" pitchFamily="34" charset="-122"/>
                <a:cs typeface="Meiryo" pitchFamily="34" charset="-120"/>
              </a:rPr>
              <a:t>ランチとディナーは同一レート</a:t>
            </a:r>
            <a:endParaRPr lang="en-US" sz="1450" dirty="0"/>
          </a:p>
        </p:txBody>
      </p:sp>
      <p:sp>
        <p:nvSpPr>
          <p:cNvPr id="15" name="Text 13"/>
          <p:cNvSpPr txBox="1"/>
          <p:nvPr/>
        </p:nvSpPr>
        <p:spPr>
          <a:xfrm>
            <a:off x="6492240" y="2322576"/>
            <a:ext cx="4809744" cy="749808"/>
          </a:xfrm>
          <a:prstGeom prst="rect">
            <a:avLst/>
          </a:prstGeom>
          <a:noFill/>
          <a:ln/>
        </p:spPr>
        <p:txBody>
          <a:bodyPr wrap="square" lIns="0" tIns="0" rIns="0" bIns="0" rtlCol="0" anchor="ctr"/>
          <a:lstStyle/>
          <a:p>
            <a:pPr indent="0" marL="0">
              <a:lnSpc>
                <a:spcPts val="1600"/>
              </a:lnSpc>
              <a:buNone/>
            </a:pPr>
            <a:r>
              <a:rPr lang="en-US" sz="1100" dirty="0">
                <a:solidFill>
                  <a:srgbClr val="A2908C"/>
                </a:solidFill>
                <a:latin typeface="Meiryo" pitchFamily="34" charset="0"/>
                <a:ea typeface="Meiryo" pitchFamily="34" charset="-122"/>
                <a:cs typeface="Meiryo" pitchFamily="34" charset="-120"/>
              </a:rPr>
              <a:t>時間帯で刻む運用は現場が混乱します。オペレーションを優先し、同一に揃えます。</a:t>
            </a:r>
            <a:endParaRPr lang="en-US" sz="1100" dirty="0"/>
          </a:p>
        </p:txBody>
      </p:sp>
      <p:sp>
        <p:nvSpPr>
          <p:cNvPr id="16" name="Shape 14"/>
          <p:cNvSpPr/>
          <p:nvPr/>
        </p:nvSpPr>
        <p:spPr>
          <a:xfrm>
            <a:off x="566928" y="3364992"/>
            <a:ext cx="5394960" cy="1499616"/>
          </a:xfrm>
          <a:prstGeom prst="roundRect">
            <a:avLst>
              <a:gd name="adj" fmla="val 3659"/>
            </a:avLst>
          </a:prstGeom>
          <a:solidFill>
            <a:srgbClr val="17111A"/>
          </a:solidFill>
          <a:ln w="12700">
            <a:solidFill>
              <a:srgbClr val="17111A"/>
            </a:solidFill>
            <a:prstDash val="solid"/>
          </a:ln>
          <a:effectLst>
            <a:outerShdw sx="100000" sy="100000" kx="0" ky="0" algn="bl" rotWithShape="0" blurRad="127000" dist="25400" dir="5400000">
              <a:srgbClr val="000000">
                <a:alpha val="35000"/>
              </a:srgbClr>
            </a:outerShdw>
          </a:effectLst>
        </p:spPr>
      </p:sp>
      <p:sp>
        <p:nvSpPr>
          <p:cNvPr id="17" name="Shape 15"/>
          <p:cNvSpPr/>
          <p:nvPr/>
        </p:nvSpPr>
        <p:spPr>
          <a:xfrm>
            <a:off x="859536" y="3584448"/>
            <a:ext cx="329184" cy="329184"/>
          </a:xfrm>
          <a:prstGeom prst="ellipse">
            <a:avLst/>
          </a:prstGeom>
          <a:solidFill>
            <a:srgbClr val="C9A227"/>
          </a:solidFill>
          <a:ln w="12700">
            <a:solidFill>
              <a:srgbClr val="C9A227"/>
            </a:solidFill>
            <a:prstDash val="solid"/>
          </a:ln>
        </p:spPr>
      </p:sp>
      <p:sp>
        <p:nvSpPr>
          <p:cNvPr id="18" name="Text 16"/>
          <p:cNvSpPr txBox="1"/>
          <p:nvPr/>
        </p:nvSpPr>
        <p:spPr>
          <a:xfrm>
            <a:off x="859536" y="3584448"/>
            <a:ext cx="329184" cy="329184"/>
          </a:xfrm>
          <a:prstGeom prst="rect">
            <a:avLst/>
          </a:prstGeom>
          <a:noFill/>
          <a:ln/>
        </p:spPr>
        <p:txBody>
          <a:bodyPr wrap="square" lIns="0" tIns="0" rIns="0" bIns="0" rtlCol="0" anchor="ctr"/>
          <a:lstStyle/>
          <a:p>
            <a:pPr algn="ctr" indent="0" marL="0">
              <a:buNone/>
            </a:pPr>
            <a:r>
              <a:rPr lang="en-US" sz="1300" b="1" dirty="0">
                <a:solidFill>
                  <a:srgbClr val="000000"/>
                </a:solidFill>
                <a:latin typeface="Arial" pitchFamily="34" charset="0"/>
                <a:ea typeface="Arial" pitchFamily="34" charset="-122"/>
                <a:cs typeface="Arial" pitchFamily="34" charset="-120"/>
              </a:rPr>
              <a:t>3</a:t>
            </a:r>
            <a:endParaRPr lang="en-US" sz="1300" dirty="0"/>
          </a:p>
        </p:txBody>
      </p:sp>
      <p:sp>
        <p:nvSpPr>
          <p:cNvPr id="19" name="Text 17"/>
          <p:cNvSpPr txBox="1"/>
          <p:nvPr/>
        </p:nvSpPr>
        <p:spPr>
          <a:xfrm>
            <a:off x="1298448" y="3602736"/>
            <a:ext cx="4389120" cy="292608"/>
          </a:xfrm>
          <a:prstGeom prst="rect">
            <a:avLst/>
          </a:prstGeom>
          <a:noFill/>
          <a:ln/>
        </p:spPr>
        <p:txBody>
          <a:bodyPr wrap="square" lIns="0" tIns="0" rIns="0" bIns="0" rtlCol="0" anchor="ctr"/>
          <a:lstStyle/>
          <a:p>
            <a:pPr indent="0" marL="0">
              <a:buNone/>
            </a:pPr>
            <a:r>
              <a:rPr lang="en-US" sz="1450" b="1" dirty="0">
                <a:solidFill>
                  <a:srgbClr val="E8CE78"/>
                </a:solidFill>
                <a:latin typeface="Meiryo" pitchFamily="34" charset="0"/>
                <a:ea typeface="Meiryo" pitchFamily="34" charset="-122"/>
                <a:cs typeface="Meiryo" pitchFamily="34" charset="-120"/>
              </a:rPr>
              <a:t>イベント時期は利用不可</a:t>
            </a:r>
            <a:endParaRPr lang="en-US" sz="1450" dirty="0"/>
          </a:p>
        </p:txBody>
      </p:sp>
      <p:sp>
        <p:nvSpPr>
          <p:cNvPr id="20" name="Text 18"/>
          <p:cNvSpPr txBox="1"/>
          <p:nvPr/>
        </p:nvSpPr>
        <p:spPr>
          <a:xfrm>
            <a:off x="859536" y="4023360"/>
            <a:ext cx="4809744" cy="749808"/>
          </a:xfrm>
          <a:prstGeom prst="rect">
            <a:avLst/>
          </a:prstGeom>
          <a:noFill/>
          <a:ln/>
        </p:spPr>
        <p:txBody>
          <a:bodyPr wrap="square" lIns="0" tIns="0" rIns="0" bIns="0" rtlCol="0" anchor="ctr"/>
          <a:lstStyle/>
          <a:p>
            <a:pPr indent="0" marL="0">
              <a:lnSpc>
                <a:spcPts val="1600"/>
              </a:lnSpc>
              <a:buNone/>
            </a:pPr>
            <a:r>
              <a:rPr lang="en-US" sz="1100" dirty="0">
                <a:solidFill>
                  <a:srgbClr val="A2908C"/>
                </a:solidFill>
                <a:latin typeface="Meiryo" pitchFamily="34" charset="0"/>
                <a:ea typeface="Meiryo" pitchFamily="34" charset="-122"/>
                <a:cs typeface="Meiryo" pitchFamily="34" charset="-120"/>
              </a:rPr>
              <a:t>クリスマス、バレンタイン、およびそれに準ずる週末。満席が確実に見込める日にマイル利用枠を空けておく必要はありません。</a:t>
            </a:r>
            <a:endParaRPr lang="en-US" sz="1100" dirty="0"/>
          </a:p>
        </p:txBody>
      </p:sp>
      <p:sp>
        <p:nvSpPr>
          <p:cNvPr id="21" name="Shape 19"/>
          <p:cNvSpPr/>
          <p:nvPr/>
        </p:nvSpPr>
        <p:spPr>
          <a:xfrm>
            <a:off x="6199632" y="3364992"/>
            <a:ext cx="5394960" cy="1499616"/>
          </a:xfrm>
          <a:prstGeom prst="roundRect">
            <a:avLst>
              <a:gd name="adj" fmla="val 3659"/>
            </a:avLst>
          </a:prstGeom>
          <a:solidFill>
            <a:srgbClr val="261A24"/>
          </a:solidFill>
          <a:ln w="12700">
            <a:solidFill>
              <a:srgbClr val="261A24"/>
            </a:solidFill>
            <a:prstDash val="solid"/>
          </a:ln>
          <a:effectLst>
            <a:outerShdw sx="100000" sy="100000" kx="0" ky="0" algn="bl" rotWithShape="0" blurRad="127000" dist="25400" dir="5400000">
              <a:srgbClr val="000000">
                <a:alpha val="35000"/>
              </a:srgbClr>
            </a:outerShdw>
          </a:effectLst>
        </p:spPr>
      </p:sp>
      <p:sp>
        <p:nvSpPr>
          <p:cNvPr id="22" name="Shape 20"/>
          <p:cNvSpPr/>
          <p:nvPr/>
        </p:nvSpPr>
        <p:spPr>
          <a:xfrm>
            <a:off x="6492240" y="3584448"/>
            <a:ext cx="329184" cy="329184"/>
          </a:xfrm>
          <a:prstGeom prst="ellipse">
            <a:avLst/>
          </a:prstGeom>
          <a:solidFill>
            <a:srgbClr val="C9A227"/>
          </a:solidFill>
          <a:ln w="12700">
            <a:solidFill>
              <a:srgbClr val="C9A227"/>
            </a:solidFill>
            <a:prstDash val="solid"/>
          </a:ln>
        </p:spPr>
      </p:sp>
      <p:sp>
        <p:nvSpPr>
          <p:cNvPr id="23" name="Text 21"/>
          <p:cNvSpPr txBox="1"/>
          <p:nvPr/>
        </p:nvSpPr>
        <p:spPr>
          <a:xfrm>
            <a:off x="6492240" y="3584448"/>
            <a:ext cx="329184" cy="329184"/>
          </a:xfrm>
          <a:prstGeom prst="rect">
            <a:avLst/>
          </a:prstGeom>
          <a:noFill/>
          <a:ln/>
        </p:spPr>
        <p:txBody>
          <a:bodyPr wrap="square" lIns="0" tIns="0" rIns="0" bIns="0" rtlCol="0" anchor="ctr"/>
          <a:lstStyle/>
          <a:p>
            <a:pPr algn="ctr" indent="0" marL="0">
              <a:buNone/>
            </a:pPr>
            <a:r>
              <a:rPr lang="en-US" sz="1300" b="1" dirty="0">
                <a:solidFill>
                  <a:srgbClr val="000000"/>
                </a:solidFill>
                <a:latin typeface="Arial" pitchFamily="34" charset="0"/>
                <a:ea typeface="Arial" pitchFamily="34" charset="-122"/>
                <a:cs typeface="Arial" pitchFamily="34" charset="-120"/>
              </a:rPr>
              <a:t>4</a:t>
            </a:r>
            <a:endParaRPr lang="en-US" sz="1300" dirty="0"/>
          </a:p>
        </p:txBody>
      </p:sp>
      <p:sp>
        <p:nvSpPr>
          <p:cNvPr id="24" name="Text 22"/>
          <p:cNvSpPr txBox="1"/>
          <p:nvPr/>
        </p:nvSpPr>
        <p:spPr>
          <a:xfrm>
            <a:off x="6931152" y="3602736"/>
            <a:ext cx="4389120" cy="292608"/>
          </a:xfrm>
          <a:prstGeom prst="rect">
            <a:avLst/>
          </a:prstGeom>
          <a:noFill/>
          <a:ln/>
        </p:spPr>
        <p:txBody>
          <a:bodyPr wrap="square" lIns="0" tIns="0" rIns="0" bIns="0" rtlCol="0" anchor="ctr"/>
          <a:lstStyle/>
          <a:p>
            <a:pPr indent="0" marL="0">
              <a:buNone/>
            </a:pPr>
            <a:r>
              <a:rPr lang="en-US" sz="1450" b="1" dirty="0">
                <a:solidFill>
                  <a:srgbClr val="E8CE78"/>
                </a:solidFill>
                <a:latin typeface="Meiryo" pitchFamily="34" charset="0"/>
                <a:ea typeface="Meiryo" pitchFamily="34" charset="-122"/>
                <a:cs typeface="Meiryo" pitchFamily="34" charset="-120"/>
              </a:rPr>
              <a:t>系列店外は 0.75円（要検討）</a:t>
            </a:r>
            <a:endParaRPr lang="en-US" sz="1450" dirty="0"/>
          </a:p>
        </p:txBody>
      </p:sp>
      <p:sp>
        <p:nvSpPr>
          <p:cNvPr id="25" name="Text 23"/>
          <p:cNvSpPr txBox="1"/>
          <p:nvPr/>
        </p:nvSpPr>
        <p:spPr>
          <a:xfrm>
            <a:off x="6492240" y="4023360"/>
            <a:ext cx="4809744" cy="749808"/>
          </a:xfrm>
          <a:prstGeom prst="rect">
            <a:avLst/>
          </a:prstGeom>
          <a:noFill/>
          <a:ln/>
        </p:spPr>
        <p:txBody>
          <a:bodyPr wrap="square" lIns="0" tIns="0" rIns="0" bIns="0" rtlCol="0" anchor="ctr"/>
          <a:lstStyle/>
          <a:p>
            <a:pPr indent="0" marL="0">
              <a:lnSpc>
                <a:spcPts val="1600"/>
              </a:lnSpc>
              <a:buNone/>
            </a:pPr>
            <a:r>
              <a:rPr lang="en-US" sz="1100" dirty="0">
                <a:solidFill>
                  <a:srgbClr val="A2908C"/>
                </a:solidFill>
                <a:latin typeface="Meiryo" pitchFamily="34" charset="0"/>
                <a:ea typeface="Meiryo" pitchFamily="34" charset="-122"/>
                <a:cs typeface="Meiryo" pitchFamily="34" charset="-120"/>
              </a:rPr>
              <a:t>真水の現金流出になるため、レートを割り引いたうえで年間上限を設けます。楽天やマイレージの外部提携レートを参照して確定します。</a:t>
            </a:r>
            <a:endParaRPr lang="en-US" sz="1100" dirty="0"/>
          </a:p>
        </p:txBody>
      </p:sp>
      <p:sp>
        <p:nvSpPr>
          <p:cNvPr id="26" name="Shape 24"/>
          <p:cNvSpPr/>
          <p:nvPr/>
        </p:nvSpPr>
        <p:spPr>
          <a:xfrm>
            <a:off x="566928" y="5120640"/>
            <a:ext cx="11027664" cy="932688"/>
          </a:xfrm>
          <a:prstGeom prst="roundRect">
            <a:avLst>
              <a:gd name="adj" fmla="val 5882"/>
            </a:avLst>
          </a:prstGeom>
          <a:solidFill>
            <a:srgbClr val="7B1E3A"/>
          </a:solidFill>
          <a:ln w="12700">
            <a:solidFill>
              <a:srgbClr val="7B1E3A"/>
            </a:solidFill>
            <a:prstDash val="solid"/>
          </a:ln>
          <a:effectLst>
            <a:outerShdw sx="100000" sy="100000" kx="0" ky="0" algn="bl" rotWithShape="0" blurRad="127000" dist="25400" dir="5400000">
              <a:srgbClr val="000000">
                <a:alpha val="35000"/>
              </a:srgbClr>
            </a:outerShdw>
          </a:effectLst>
        </p:spPr>
      </p:sp>
      <p:sp>
        <p:nvSpPr>
          <p:cNvPr id="27" name="Text 25"/>
          <p:cNvSpPr txBox="1"/>
          <p:nvPr/>
        </p:nvSpPr>
        <p:spPr>
          <a:xfrm>
            <a:off x="978408" y="5303520"/>
            <a:ext cx="10204704" cy="347472"/>
          </a:xfrm>
          <a:prstGeom prst="rect">
            <a:avLst/>
          </a:prstGeom>
          <a:noFill/>
          <a:ln/>
        </p:spPr>
        <p:txBody>
          <a:bodyPr wrap="square" lIns="0" tIns="0" rIns="0" bIns="0" rtlCol="0" anchor="ctr"/>
          <a:lstStyle/>
          <a:p>
            <a:pPr indent="0" marL="0">
              <a:buNone/>
            </a:pPr>
            <a:r>
              <a:rPr lang="en-US" sz="1700" b="1" dirty="0">
                <a:solidFill>
                  <a:srgbClr val="E8CE78"/>
                </a:solidFill>
                <a:latin typeface="Meiryo" pitchFamily="34" charset="0"/>
                <a:ea typeface="Meiryo" pitchFamily="34" charset="-122"/>
                <a:cs typeface="Meiryo" pitchFamily="34" charset="-120"/>
              </a:rPr>
              <a:t>ランクで差をつけるのは、レートではなく「未公開ワインの情報」です。</a:t>
            </a:r>
            <a:endParaRPr lang="en-US" sz="1700" dirty="0"/>
          </a:p>
        </p:txBody>
      </p:sp>
      <p:sp>
        <p:nvSpPr>
          <p:cNvPr id="28" name="Text 26"/>
          <p:cNvSpPr txBox="1"/>
          <p:nvPr/>
        </p:nvSpPr>
        <p:spPr>
          <a:xfrm>
            <a:off x="978408" y="5687568"/>
            <a:ext cx="10204704" cy="292608"/>
          </a:xfrm>
          <a:prstGeom prst="rect">
            <a:avLst/>
          </a:prstGeom>
          <a:noFill/>
          <a:ln/>
        </p:spPr>
        <p:txBody>
          <a:bodyPr wrap="square" lIns="0" tIns="0" rIns="0" bIns="0" rtlCol="0" anchor="ctr"/>
          <a:lstStyle/>
          <a:p>
            <a:pPr indent="0" marL="0">
              <a:buNone/>
            </a:pPr>
            <a:r>
              <a:rPr lang="en-US" sz="1200" dirty="0">
                <a:solidFill>
                  <a:srgbClr val="F2EDE6"/>
                </a:solidFill>
                <a:latin typeface="Meiryo" pitchFamily="34" charset="0"/>
                <a:ea typeface="Meiryo" pitchFamily="34" charset="-122"/>
                <a:cs typeface="Meiryo" pitchFamily="34" charset="-120"/>
              </a:rPr>
              <a:t>上位会員には、市場に出る前の割当情報を先に届ける。原価はかからず、しかも交換レートを刻むより遥かに効きます。</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00000"/>
        </a:solidFill>
      </p:bgPr>
    </p:bg>
    <p:spTree>
      <p:nvGrpSpPr>
        <p:cNvPr id="1" name=""/>
        <p:cNvGrpSpPr/>
        <p:nvPr/>
      </p:nvGrpSpPr>
      <p:grpSpPr>
        <a:xfrm>
          <a:off x="0" y="0"/>
          <a:ext cx="0" cy="0"/>
          <a:chOff x="0" y="0"/>
          <a:chExt cx="0" cy="0"/>
        </a:xfrm>
      </p:grpSpPr>
      <p:sp>
        <p:nvSpPr>
          <p:cNvPr id="2" name="Text 0"/>
          <p:cNvSpPr txBox="1"/>
          <p:nvPr/>
        </p:nvSpPr>
        <p:spPr>
          <a:xfrm>
            <a:off x="566928" y="310896"/>
            <a:ext cx="11027664" cy="237744"/>
          </a:xfrm>
          <a:prstGeom prst="rect">
            <a:avLst/>
          </a:prstGeom>
          <a:noFill/>
          <a:ln/>
        </p:spPr>
        <p:txBody>
          <a:bodyPr wrap="square" lIns="0" tIns="0" rIns="0" bIns="0" rtlCol="0" anchor="ctr"/>
          <a:lstStyle/>
          <a:p>
            <a:pPr indent="0" marL="0">
              <a:buNone/>
            </a:pPr>
            <a:r>
              <a:rPr lang="en-US" sz="1050" b="1" spc="300" kern="0" dirty="0">
                <a:solidFill>
                  <a:srgbClr val="C9A227"/>
                </a:solidFill>
                <a:latin typeface="Arial" pitchFamily="34" charset="0"/>
                <a:ea typeface="Arial" pitchFamily="34" charset="-122"/>
                <a:cs typeface="Arial" pitchFamily="34" charset="-120"/>
              </a:rPr>
              <a:t>MEMBERSHIP</a:t>
            </a:r>
            <a:endParaRPr lang="en-US" sz="1050" dirty="0"/>
          </a:p>
        </p:txBody>
      </p:sp>
      <p:sp>
        <p:nvSpPr>
          <p:cNvPr id="3" name="Text 1"/>
          <p:cNvSpPr txBox="1"/>
          <p:nvPr/>
        </p:nvSpPr>
        <p:spPr>
          <a:xfrm>
            <a:off x="566928" y="566928"/>
            <a:ext cx="11027664" cy="548640"/>
          </a:xfrm>
          <a:prstGeom prst="rect">
            <a:avLst/>
          </a:prstGeom>
          <a:noFill/>
          <a:ln/>
        </p:spPr>
        <p:txBody>
          <a:bodyPr wrap="square" lIns="0" tIns="0" rIns="0" bIns="0" rtlCol="0" anchor="ctr"/>
          <a:lstStyle/>
          <a:p>
            <a:pPr indent="0" marL="0">
              <a:buNone/>
            </a:pPr>
            <a:r>
              <a:rPr lang="en-US" sz="2900" b="1" dirty="0">
                <a:solidFill>
                  <a:srgbClr val="F2EDE6"/>
                </a:solidFill>
                <a:latin typeface="Meiryo" pitchFamily="34" charset="0"/>
                <a:ea typeface="Meiryo" pitchFamily="34" charset="-122"/>
                <a:cs typeface="Meiryo" pitchFamily="34" charset="-120"/>
              </a:rPr>
              <a:t>新・会員制度（差し替え案）</a:t>
            </a:r>
            <a:endParaRPr lang="en-US" sz="2900" dirty="0"/>
          </a:p>
        </p:txBody>
      </p:sp>
      <p:sp>
        <p:nvSpPr>
          <p:cNvPr id="4" name="Text 2"/>
          <p:cNvSpPr txBox="1"/>
          <p:nvPr/>
        </p:nvSpPr>
        <p:spPr>
          <a:xfrm>
            <a:off x="566928" y="1152144"/>
            <a:ext cx="11027664" cy="310896"/>
          </a:xfrm>
          <a:prstGeom prst="rect">
            <a:avLst/>
          </a:prstGeom>
          <a:noFill/>
          <a:ln/>
        </p:spPr>
        <p:txBody>
          <a:bodyPr wrap="square" lIns="0" tIns="0" rIns="0" bIns="0" rtlCol="0" anchor="ctr"/>
          <a:lstStyle/>
          <a:p>
            <a:pPr indent="0" marL="0">
              <a:buNone/>
            </a:pPr>
            <a:r>
              <a:rPr lang="en-US" sz="1300" dirty="0">
                <a:solidFill>
                  <a:srgbClr val="A2908C"/>
                </a:solidFill>
                <a:latin typeface="Meiryo" pitchFamily="34" charset="0"/>
                <a:ea typeface="Meiryo" pitchFamily="34" charset="-122"/>
                <a:cs typeface="Meiryo" pitchFamily="34" charset="-120"/>
              </a:rPr>
              <a:t>手数料は2.75%で統一。ランク差は還元率と、届く情報に寄せます。</a:t>
            </a:r>
            <a:endParaRPr lang="en-US" sz="1300" dirty="0"/>
          </a:p>
        </p:txBody>
      </p:sp>
      <p:sp>
        <p:nvSpPr>
          <p:cNvPr id="5" name="Text 3"/>
          <p:cNvSpPr txBox="1"/>
          <p:nvPr/>
        </p:nvSpPr>
        <p:spPr>
          <a:xfrm>
            <a:off x="566928" y="6437376"/>
            <a:ext cx="4572000" cy="219456"/>
          </a:xfrm>
          <a:prstGeom prst="rect">
            <a:avLst/>
          </a:prstGeom>
          <a:noFill/>
          <a:ln/>
        </p:spPr>
        <p:txBody>
          <a:bodyPr wrap="square" lIns="0" tIns="0" rIns="0" bIns="0" rtlCol="0" anchor="ctr"/>
          <a:lstStyle/>
          <a:p>
            <a:pPr indent="0" marL="0">
              <a:buNone/>
            </a:pPr>
            <a:r>
              <a:rPr lang="en-US" sz="850" dirty="0">
                <a:solidFill>
                  <a:srgbClr val="6B5A5F"/>
                </a:solidFill>
                <a:latin typeface="Arial" pitchFamily="34" charset="0"/>
                <a:ea typeface="Arial" pitchFamily="34" charset="-122"/>
                <a:cs typeface="Arial" pitchFamily="34" charset="-120"/>
              </a:rPr>
              <a:t>WineBank CONFIDENTIAL</a:t>
            </a:r>
            <a:endParaRPr lang="en-US" sz="85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66928" y="1645920"/>
          <a:ext cx="11027664" cy="914400"/>
        </p:xfrm>
        <a:graphic>
          <a:graphicData uri="http://schemas.openxmlformats.org/drawingml/2006/table">
            <a:tbl>
              <a:tblPr/>
              <a:tblGrid>
                <a:gridCol w="3017520"/>
                <a:gridCol w="2670048"/>
                <a:gridCol w="2670048"/>
                <a:gridCol w="2670048"/>
              </a:tblGrid>
              <a:tr h="402336">
                <a:tc>
                  <a:txBody>
                    <a:bodyPr/>
                    <a:lstStyle/>
                    <a:p>
                      <a:pPr algn="ctr" indent="0" marL="0">
                        <a:buNone/>
                      </a:pP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7B1E3A"/>
                    </a:solidFill>
                  </a:tcPr>
                </a:tc>
                <a:tc>
                  <a:txBody>
                    <a:bodyPr/>
                    <a:lstStyle/>
                    <a:p>
                      <a:pPr algn="ctr" indent="0" marL="0">
                        <a:buNone/>
                      </a:pPr>
                      <a:r>
                        <a:rPr lang="en-US" sz="1100" b="1" dirty="0">
                          <a:solidFill>
                            <a:srgbClr val="F2EDE6"/>
                          </a:solidFill>
                          <a:latin typeface="Meiryo" pitchFamily="34" charset="0"/>
                          <a:ea typeface="Meiryo" pitchFamily="34" charset="-122"/>
                          <a:cs typeface="Meiryo" pitchFamily="34" charset="-120"/>
                        </a:rPr>
                        <a:t>PRESTIGE  100万〜</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7B1E3A"/>
                    </a:solidFill>
                  </a:tcPr>
                </a:tc>
                <a:tc>
                  <a:txBody>
                    <a:bodyPr/>
                    <a:lstStyle/>
                    <a:p>
                      <a:pPr algn="ctr" indent="0" marL="0">
                        <a:buNone/>
                      </a:pPr>
                      <a:r>
                        <a:rPr lang="en-US" sz="1100" b="1" dirty="0">
                          <a:solidFill>
                            <a:srgbClr val="F2EDE6"/>
                          </a:solidFill>
                          <a:latin typeface="Meiryo" pitchFamily="34" charset="0"/>
                          <a:ea typeface="Meiryo" pitchFamily="34" charset="-122"/>
                          <a:cs typeface="Meiryo" pitchFamily="34" charset="-120"/>
                        </a:rPr>
                        <a:t>GOLD  500万〜</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7B1E3A"/>
                    </a:solidFill>
                  </a:tcPr>
                </a:tc>
                <a:tc>
                  <a:txBody>
                    <a:bodyPr/>
                    <a:lstStyle/>
                    <a:p>
                      <a:pPr algn="ctr" indent="0" marL="0">
                        <a:buNone/>
                      </a:pPr>
                      <a:r>
                        <a:rPr lang="en-US" sz="1100" b="1" dirty="0">
                          <a:solidFill>
                            <a:srgbClr val="F2EDE6"/>
                          </a:solidFill>
                          <a:latin typeface="Meiryo" pitchFamily="34" charset="0"/>
                          <a:ea typeface="Meiryo" pitchFamily="34" charset="-122"/>
                          <a:cs typeface="Meiryo" pitchFamily="34" charset="-120"/>
                        </a:rPr>
                        <a:t>SIGNATURE  1,000万〜</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7B1E3A"/>
                    </a:solidFill>
                  </a:tcPr>
                </a:tc>
              </a:tr>
              <a:tr h="384048">
                <a:tc>
                  <a:txBody>
                    <a:bodyPr/>
                    <a:lstStyle/>
                    <a:p>
                      <a:pPr algn="l" indent="0" marL="0">
                        <a:buNone/>
                      </a:pPr>
                      <a:r>
                        <a:rPr lang="en-US" sz="1100" b="1" dirty="0">
                          <a:solidFill>
                            <a:srgbClr val="F2EDE6"/>
                          </a:solidFill>
                          <a:latin typeface="Meiryo" pitchFamily="34" charset="0"/>
                          <a:ea typeface="Meiryo" pitchFamily="34" charset="-122"/>
                          <a:cs typeface="Meiryo" pitchFamily="34" charset="-120"/>
                        </a:rPr>
                        <a:t>管理手数料（年）</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61A24"/>
                    </a:solidFill>
                  </a:tcPr>
                </a:tc>
                <a:tc>
                  <a:txBody>
                    <a:bodyPr/>
                    <a:lstStyle/>
                    <a:p>
                      <a:pPr algn="ctr" indent="0" marL="0">
                        <a:buNone/>
                      </a:pPr>
                      <a:r>
                        <a:rPr lang="en-US" sz="1100" dirty="0">
                          <a:solidFill>
                            <a:srgbClr val="F2EDE6"/>
                          </a:solidFill>
                          <a:latin typeface="Meiryo" pitchFamily="34" charset="0"/>
                          <a:ea typeface="Meiryo" pitchFamily="34" charset="-122"/>
                          <a:cs typeface="Meiryo" pitchFamily="34" charset="-120"/>
                        </a:rPr>
                        <a:t>2.75%</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17111A"/>
                    </a:solidFill>
                  </a:tcPr>
                </a:tc>
                <a:tc>
                  <a:txBody>
                    <a:bodyPr/>
                    <a:lstStyle/>
                    <a:p>
                      <a:pPr algn="ctr" indent="0" marL="0">
                        <a:buNone/>
                      </a:pPr>
                      <a:r>
                        <a:rPr lang="en-US" sz="1100" dirty="0">
                          <a:solidFill>
                            <a:srgbClr val="F2EDE6"/>
                          </a:solidFill>
                          <a:latin typeface="Meiryo" pitchFamily="34" charset="0"/>
                          <a:ea typeface="Meiryo" pitchFamily="34" charset="-122"/>
                          <a:cs typeface="Meiryo" pitchFamily="34" charset="-120"/>
                        </a:rPr>
                        <a:t>2.75%</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17111A"/>
                    </a:solidFill>
                  </a:tcPr>
                </a:tc>
                <a:tc>
                  <a:txBody>
                    <a:bodyPr/>
                    <a:lstStyle/>
                    <a:p>
                      <a:pPr algn="ctr" indent="0" marL="0">
                        <a:buNone/>
                      </a:pPr>
                      <a:r>
                        <a:rPr lang="en-US" sz="1100" dirty="0">
                          <a:solidFill>
                            <a:srgbClr val="F2EDE6"/>
                          </a:solidFill>
                          <a:latin typeface="Meiryo" pitchFamily="34" charset="0"/>
                          <a:ea typeface="Meiryo" pitchFamily="34" charset="-122"/>
                          <a:cs typeface="Meiryo" pitchFamily="34" charset="-120"/>
                        </a:rPr>
                        <a:t>2.75%</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17111A"/>
                    </a:solidFill>
                  </a:tcPr>
                </a:tc>
              </a:tr>
              <a:tr h="384048">
                <a:tc>
                  <a:txBody>
                    <a:bodyPr/>
                    <a:lstStyle/>
                    <a:p>
                      <a:pPr algn="l" indent="0" marL="0">
                        <a:buNone/>
                      </a:pPr>
                      <a:r>
                        <a:rPr lang="en-US" sz="1100" b="1" dirty="0">
                          <a:solidFill>
                            <a:srgbClr val="F2EDE6"/>
                          </a:solidFill>
                          <a:latin typeface="Meiryo" pitchFamily="34" charset="0"/>
                          <a:ea typeface="Meiryo" pitchFamily="34" charset="-122"/>
                          <a:cs typeface="Meiryo" pitchFamily="34" charset="-120"/>
                        </a:rPr>
                        <a:t>ワインマイル還元率</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61A24"/>
                    </a:solidFill>
                  </a:tcPr>
                </a:tc>
                <a:tc>
                  <a:txBody>
                    <a:bodyPr/>
                    <a:lstStyle/>
                    <a:p>
                      <a:pPr algn="ctr" indent="0" marL="0">
                        <a:buNone/>
                      </a:pPr>
                      <a:r>
                        <a:rPr lang="en-US" sz="1100" b="1" dirty="0">
                          <a:solidFill>
                            <a:srgbClr val="C9A227"/>
                          </a:solidFill>
                          <a:latin typeface="Meiryo" pitchFamily="34" charset="0"/>
                          <a:ea typeface="Meiryo" pitchFamily="34" charset="-122"/>
                          <a:cs typeface="Meiryo" pitchFamily="34" charset="-120"/>
                        </a:rPr>
                        <a:t>4%</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17111A"/>
                    </a:solidFill>
                  </a:tcPr>
                </a:tc>
                <a:tc>
                  <a:txBody>
                    <a:bodyPr/>
                    <a:lstStyle/>
                    <a:p>
                      <a:pPr algn="ctr" indent="0" marL="0">
                        <a:buNone/>
                      </a:pPr>
                      <a:r>
                        <a:rPr lang="en-US" sz="1100" b="1" dirty="0">
                          <a:solidFill>
                            <a:srgbClr val="C9A227"/>
                          </a:solidFill>
                          <a:latin typeface="Meiryo" pitchFamily="34" charset="0"/>
                          <a:ea typeface="Meiryo" pitchFamily="34" charset="-122"/>
                          <a:cs typeface="Meiryo" pitchFamily="34" charset="-120"/>
                        </a:rPr>
                        <a:t>5%</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17111A"/>
                    </a:solidFill>
                  </a:tcPr>
                </a:tc>
                <a:tc>
                  <a:txBody>
                    <a:bodyPr/>
                    <a:lstStyle/>
                    <a:p>
                      <a:pPr algn="ctr" indent="0" marL="0">
                        <a:buNone/>
                      </a:pPr>
                      <a:r>
                        <a:rPr lang="en-US" sz="1100" b="1" dirty="0">
                          <a:solidFill>
                            <a:srgbClr val="C9A227"/>
                          </a:solidFill>
                          <a:latin typeface="Meiryo" pitchFamily="34" charset="0"/>
                          <a:ea typeface="Meiryo" pitchFamily="34" charset="-122"/>
                          <a:cs typeface="Meiryo" pitchFamily="34" charset="-120"/>
                        </a:rPr>
                        <a:t>6%</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17111A"/>
                    </a:solidFill>
                  </a:tcPr>
                </a:tc>
              </a:tr>
              <a:tr h="384048">
                <a:tc>
                  <a:txBody>
                    <a:bodyPr/>
                    <a:lstStyle/>
                    <a:p>
                      <a:pPr algn="l" indent="0" marL="0">
                        <a:buNone/>
                      </a:pPr>
                      <a:r>
                        <a:rPr lang="en-US" sz="1100" b="1" dirty="0">
                          <a:solidFill>
                            <a:srgbClr val="F2EDE6"/>
                          </a:solidFill>
                          <a:latin typeface="Meiryo" pitchFamily="34" charset="0"/>
                          <a:ea typeface="Meiryo" pitchFamily="34" charset="-122"/>
                          <a:cs typeface="Meiryo" pitchFamily="34" charset="-120"/>
                        </a:rPr>
                        <a:t>実質（額面差引）</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61A24"/>
                    </a:solidFill>
                  </a:tcPr>
                </a:tc>
                <a:tc>
                  <a:txBody>
                    <a:bodyPr/>
                    <a:lstStyle/>
                    <a:p>
                      <a:pPr algn="ctr" indent="0" marL="0">
                        <a:buNone/>
                      </a:pPr>
                      <a:r>
                        <a:rPr lang="en-US" sz="1100" dirty="0">
                          <a:solidFill>
                            <a:srgbClr val="7FD1AE"/>
                          </a:solidFill>
                          <a:latin typeface="Meiryo" pitchFamily="34" charset="0"/>
                          <a:ea typeface="Meiryo" pitchFamily="34" charset="-122"/>
                          <a:cs typeface="Meiryo" pitchFamily="34" charset="-120"/>
                        </a:rPr>
                        <a:t>+1.25%</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17111A"/>
                    </a:solidFill>
                  </a:tcPr>
                </a:tc>
                <a:tc>
                  <a:txBody>
                    <a:bodyPr/>
                    <a:lstStyle/>
                    <a:p>
                      <a:pPr algn="ctr" indent="0" marL="0">
                        <a:buNone/>
                      </a:pPr>
                      <a:r>
                        <a:rPr lang="en-US" sz="1100" dirty="0">
                          <a:solidFill>
                            <a:srgbClr val="7FD1AE"/>
                          </a:solidFill>
                          <a:latin typeface="Meiryo" pitchFamily="34" charset="0"/>
                          <a:ea typeface="Meiryo" pitchFamily="34" charset="-122"/>
                          <a:cs typeface="Meiryo" pitchFamily="34" charset="-120"/>
                        </a:rPr>
                        <a:t>+2.25%</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17111A"/>
                    </a:solidFill>
                  </a:tcPr>
                </a:tc>
                <a:tc>
                  <a:txBody>
                    <a:bodyPr/>
                    <a:lstStyle/>
                    <a:p>
                      <a:pPr algn="ctr" indent="0" marL="0">
                        <a:buNone/>
                      </a:pPr>
                      <a:r>
                        <a:rPr lang="en-US" sz="1100" b="1" dirty="0">
                          <a:solidFill>
                            <a:srgbClr val="7FD1AE"/>
                          </a:solidFill>
                          <a:latin typeface="Meiryo" pitchFamily="34" charset="0"/>
                          <a:ea typeface="Meiryo" pitchFamily="34" charset="-122"/>
                          <a:cs typeface="Meiryo" pitchFamily="34" charset="-120"/>
                        </a:rPr>
                        <a:t>+3.25%</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17111A"/>
                    </a:solidFill>
                  </a:tcPr>
                </a:tc>
              </a:tr>
              <a:tr h="384048">
                <a:tc>
                  <a:txBody>
                    <a:bodyPr/>
                    <a:lstStyle/>
                    <a:p>
                      <a:pPr algn="l" indent="0" marL="0">
                        <a:buNone/>
                      </a:pPr>
                      <a:r>
                        <a:rPr lang="en-US" sz="1100" b="1" dirty="0">
                          <a:solidFill>
                            <a:srgbClr val="F2EDE6"/>
                          </a:solidFill>
                          <a:latin typeface="Meiryo" pitchFamily="34" charset="0"/>
                          <a:ea typeface="Meiryo" pitchFamily="34" charset="-122"/>
                          <a:cs typeface="Meiryo" pitchFamily="34" charset="-120"/>
                        </a:rPr>
                        <a:t>成功報酬（値上がり分）</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61A24"/>
                    </a:solidFill>
                  </a:tcPr>
                </a:tc>
                <a:tc>
                  <a:txBody>
                    <a:bodyPr/>
                    <a:lstStyle/>
                    <a:p>
                      <a:pPr algn="ctr" indent="0" marL="0">
                        <a:buNone/>
                      </a:pPr>
                      <a:r>
                        <a:rPr lang="en-US" sz="1100" dirty="0">
                          <a:solidFill>
                            <a:srgbClr val="F2EDE6"/>
                          </a:solidFill>
                          <a:latin typeface="Meiryo" pitchFamily="34" charset="0"/>
                          <a:ea typeface="Meiryo" pitchFamily="34" charset="-122"/>
                          <a:cs typeface="Meiryo" pitchFamily="34" charset="-120"/>
                        </a:rPr>
                        <a:t>30%</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17111A"/>
                    </a:solidFill>
                  </a:tcPr>
                </a:tc>
                <a:tc>
                  <a:txBody>
                    <a:bodyPr/>
                    <a:lstStyle/>
                    <a:p>
                      <a:pPr algn="ctr" indent="0" marL="0">
                        <a:buNone/>
                      </a:pPr>
                      <a:r>
                        <a:rPr lang="en-US" sz="1100" dirty="0">
                          <a:solidFill>
                            <a:srgbClr val="F2EDE6"/>
                          </a:solidFill>
                          <a:latin typeface="Meiryo" pitchFamily="34" charset="0"/>
                          <a:ea typeface="Meiryo" pitchFamily="34" charset="-122"/>
                          <a:cs typeface="Meiryo" pitchFamily="34" charset="-120"/>
                        </a:rPr>
                        <a:t>30%</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17111A"/>
                    </a:solidFill>
                  </a:tcPr>
                </a:tc>
                <a:tc>
                  <a:txBody>
                    <a:bodyPr/>
                    <a:lstStyle/>
                    <a:p>
                      <a:pPr algn="ctr" indent="0" marL="0">
                        <a:buNone/>
                      </a:pPr>
                      <a:r>
                        <a:rPr lang="en-US" sz="1100" dirty="0">
                          <a:solidFill>
                            <a:srgbClr val="F2EDE6"/>
                          </a:solidFill>
                          <a:latin typeface="Meiryo" pitchFamily="34" charset="0"/>
                          <a:ea typeface="Meiryo" pitchFamily="34" charset="-122"/>
                          <a:cs typeface="Meiryo" pitchFamily="34" charset="-120"/>
                        </a:rPr>
                        <a:t>30%</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17111A"/>
                    </a:solidFill>
                  </a:tcPr>
                </a:tc>
              </a:tr>
              <a:tr h="384048">
                <a:tc>
                  <a:txBody>
                    <a:bodyPr/>
                    <a:lstStyle/>
                    <a:p>
                      <a:pPr algn="l" indent="0" marL="0">
                        <a:buNone/>
                      </a:pPr>
                      <a:r>
                        <a:rPr lang="en-US" sz="1100" b="1" dirty="0">
                          <a:solidFill>
                            <a:srgbClr val="F2EDE6"/>
                          </a:solidFill>
                          <a:latin typeface="Meiryo" pitchFamily="34" charset="0"/>
                          <a:ea typeface="Meiryo" pitchFamily="34" charset="-122"/>
                          <a:cs typeface="Meiryo" pitchFamily="34" charset="-120"/>
                        </a:rPr>
                        <a:t>グランメゾン交換レート</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61A24"/>
                    </a:solidFill>
                  </a:tcPr>
                </a:tc>
                <a:tc>
                  <a:txBody>
                    <a:bodyPr/>
                    <a:lstStyle/>
                    <a:p>
                      <a:pPr algn="ctr" indent="0" marL="0">
                        <a:buNone/>
                      </a:pPr>
                      <a:r>
                        <a:rPr lang="en-US" sz="1100" dirty="0">
                          <a:solidFill>
                            <a:srgbClr val="F2EDE6"/>
                          </a:solidFill>
                          <a:latin typeface="Meiryo" pitchFamily="34" charset="0"/>
                          <a:ea typeface="Meiryo" pitchFamily="34" charset="-122"/>
                          <a:cs typeface="Meiryo" pitchFamily="34" charset="-120"/>
                        </a:rPr>
                        <a:t>0.5円</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17111A"/>
                    </a:solidFill>
                  </a:tcPr>
                </a:tc>
                <a:tc>
                  <a:txBody>
                    <a:bodyPr/>
                    <a:lstStyle/>
                    <a:p>
                      <a:pPr algn="ctr" indent="0" marL="0">
                        <a:buNone/>
                      </a:pPr>
                      <a:r>
                        <a:rPr lang="en-US" sz="1100" dirty="0">
                          <a:solidFill>
                            <a:srgbClr val="F2EDE6"/>
                          </a:solidFill>
                          <a:latin typeface="Meiryo" pitchFamily="34" charset="0"/>
                          <a:ea typeface="Meiryo" pitchFamily="34" charset="-122"/>
                          <a:cs typeface="Meiryo" pitchFamily="34" charset="-120"/>
                        </a:rPr>
                        <a:t>0.5円</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17111A"/>
                    </a:solidFill>
                  </a:tcPr>
                </a:tc>
                <a:tc>
                  <a:txBody>
                    <a:bodyPr/>
                    <a:lstStyle/>
                    <a:p>
                      <a:pPr algn="ctr" indent="0" marL="0">
                        <a:buNone/>
                      </a:pPr>
                      <a:r>
                        <a:rPr lang="en-US" sz="1100" dirty="0">
                          <a:solidFill>
                            <a:srgbClr val="F2EDE6"/>
                          </a:solidFill>
                          <a:latin typeface="Meiryo" pitchFamily="34" charset="0"/>
                          <a:ea typeface="Meiryo" pitchFamily="34" charset="-122"/>
                          <a:cs typeface="Meiryo" pitchFamily="34" charset="-120"/>
                        </a:rPr>
                        <a:t>0.5円</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17111A"/>
                    </a:solidFill>
                  </a:tcPr>
                </a:tc>
              </a:tr>
              <a:tr h="384048">
                <a:tc>
                  <a:txBody>
                    <a:bodyPr/>
                    <a:lstStyle/>
                    <a:p>
                      <a:pPr algn="l" indent="0" marL="0">
                        <a:buNone/>
                      </a:pPr>
                      <a:r>
                        <a:rPr lang="en-US" sz="1100" b="1" dirty="0">
                          <a:solidFill>
                            <a:srgbClr val="F2EDE6"/>
                          </a:solidFill>
                          <a:latin typeface="Meiryo" pitchFamily="34" charset="0"/>
                          <a:ea typeface="Meiryo" pitchFamily="34" charset="-122"/>
                          <a:cs typeface="Meiryo" pitchFamily="34" charset="-120"/>
                        </a:rPr>
                        <a:t>未公開ワインの情報</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61A24"/>
                    </a:solidFill>
                  </a:tcPr>
                </a:tc>
                <a:tc>
                  <a:txBody>
                    <a:bodyPr/>
                    <a:lstStyle/>
                    <a:p>
                      <a:pPr algn="ctr" indent="0" marL="0">
                        <a:buNone/>
                      </a:pPr>
                      <a:r>
                        <a:rPr lang="en-US" sz="1100" dirty="0">
                          <a:solidFill>
                            <a:srgbClr val="F2EDE6"/>
                          </a:solidFill>
                          <a:latin typeface="Meiryo" pitchFamily="34" charset="0"/>
                          <a:ea typeface="Meiryo" pitchFamily="34" charset="-122"/>
                          <a:cs typeface="Meiryo" pitchFamily="34" charset="-120"/>
                        </a:rPr>
                        <a:t>—</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17111A"/>
                    </a:solidFill>
                  </a:tcPr>
                </a:tc>
                <a:tc>
                  <a:txBody>
                    <a:bodyPr/>
                    <a:lstStyle/>
                    <a:p>
                      <a:pPr algn="ctr" indent="0" marL="0">
                        <a:buNone/>
                      </a:pPr>
                      <a:r>
                        <a:rPr lang="en-US" sz="1100" dirty="0">
                          <a:solidFill>
                            <a:srgbClr val="F2EDE6"/>
                          </a:solidFill>
                          <a:latin typeface="Meiryo" pitchFamily="34" charset="0"/>
                          <a:ea typeface="Meiryo" pitchFamily="34" charset="-122"/>
                          <a:cs typeface="Meiryo" pitchFamily="34" charset="-120"/>
                        </a:rPr>
                        <a:t>先行案内</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17111A"/>
                    </a:solidFill>
                  </a:tcPr>
                </a:tc>
                <a:tc>
                  <a:txBody>
                    <a:bodyPr/>
                    <a:lstStyle/>
                    <a:p>
                      <a:pPr algn="ctr" indent="0" marL="0">
                        <a:buNone/>
                      </a:pPr>
                      <a:r>
                        <a:rPr lang="en-US" sz="1100" b="1" dirty="0">
                          <a:solidFill>
                            <a:srgbClr val="C9A227"/>
                          </a:solidFill>
                          <a:latin typeface="Meiryo" pitchFamily="34" charset="0"/>
                          <a:ea typeface="Meiryo" pitchFamily="34" charset="-122"/>
                          <a:cs typeface="Meiryo" pitchFamily="34" charset="-120"/>
                        </a:rPr>
                        <a:t>優先割当</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17111A"/>
                    </a:solidFill>
                  </a:tcPr>
                </a:tc>
              </a:tr>
              <a:tr h="384048">
                <a:tc>
                  <a:txBody>
                    <a:bodyPr/>
                    <a:lstStyle/>
                    <a:p>
                      <a:pPr algn="l" indent="0" marL="0">
                        <a:buNone/>
                      </a:pPr>
                      <a:r>
                        <a:rPr lang="en-US" sz="1100" b="1" dirty="0">
                          <a:solidFill>
                            <a:srgbClr val="F2EDE6"/>
                          </a:solidFill>
                          <a:latin typeface="Meiryo" pitchFamily="34" charset="0"/>
                          <a:ea typeface="Meiryo" pitchFamily="34" charset="-122"/>
                          <a:cs typeface="Meiryo" pitchFamily="34" charset="-120"/>
                        </a:rPr>
                        <a:t>WineBank CLUB</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61A24"/>
                    </a:solidFill>
                  </a:tcPr>
                </a:tc>
                <a:tc>
                  <a:txBody>
                    <a:bodyPr/>
                    <a:lstStyle/>
                    <a:p>
                      <a:pPr algn="ctr" indent="0" marL="0">
                        <a:buNone/>
                      </a:pPr>
                      <a:r>
                        <a:rPr lang="en-US" sz="1100" dirty="0">
                          <a:solidFill>
                            <a:srgbClr val="F2EDE6"/>
                          </a:solidFill>
                          <a:latin typeface="Meiryo" pitchFamily="34" charset="0"/>
                          <a:ea typeface="Meiryo" pitchFamily="34" charset="-122"/>
                          <a:cs typeface="Meiryo" pitchFamily="34" charset="-120"/>
                        </a:rPr>
                        <a:t>マイル充当・単月のみ</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17111A"/>
                    </a:solidFill>
                  </a:tcPr>
                </a:tc>
                <a:tc>
                  <a:txBody>
                    <a:bodyPr/>
                    <a:lstStyle/>
                    <a:p>
                      <a:pPr algn="ctr" indent="0" marL="0">
                        <a:buNone/>
                      </a:pPr>
                      <a:r>
                        <a:rPr lang="en-US" sz="1100" dirty="0">
                          <a:solidFill>
                            <a:srgbClr val="F2EDE6"/>
                          </a:solidFill>
                          <a:latin typeface="Meiryo" pitchFamily="34" charset="0"/>
                          <a:ea typeface="Meiryo" pitchFamily="34" charset="-122"/>
                          <a:cs typeface="Meiryo" pitchFamily="34" charset="-120"/>
                        </a:rPr>
                        <a:t>マイル充当・単月のみ</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17111A"/>
                    </a:solidFill>
                  </a:tcPr>
                </a:tc>
                <a:tc>
                  <a:txBody>
                    <a:bodyPr/>
                    <a:lstStyle/>
                    <a:p>
                      <a:pPr algn="ctr" indent="0" marL="0">
                        <a:buNone/>
                      </a:pPr>
                      <a:r>
                        <a:rPr lang="en-US" sz="1100" b="1" dirty="0">
                          <a:solidFill>
                            <a:srgbClr val="C9A227"/>
                          </a:solidFill>
                          <a:latin typeface="Meiryo" pitchFamily="34" charset="0"/>
                          <a:ea typeface="Meiryo" pitchFamily="34" charset="-122"/>
                          <a:cs typeface="Meiryo" pitchFamily="34" charset="-120"/>
                        </a:rPr>
                        <a:t>STANDARD 無料付与</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17111A"/>
                    </a:solidFill>
                  </a:tcPr>
                </a:tc>
              </a:tr>
            </a:tbl>
          </a:graphicData>
        </a:graphic>
      </p:graphicFrame>
      <p:sp>
        <p:nvSpPr>
          <p:cNvPr id="7" name="Shape 4"/>
          <p:cNvSpPr/>
          <p:nvPr/>
        </p:nvSpPr>
        <p:spPr>
          <a:xfrm>
            <a:off x="566928" y="4864608"/>
            <a:ext cx="5394960" cy="1188720"/>
          </a:xfrm>
          <a:prstGeom prst="roundRect">
            <a:avLst>
              <a:gd name="adj" fmla="val 4615"/>
            </a:avLst>
          </a:prstGeom>
          <a:solidFill>
            <a:srgbClr val="17111A"/>
          </a:solidFill>
          <a:ln w="12700">
            <a:solidFill>
              <a:srgbClr val="17111A"/>
            </a:solidFill>
            <a:prstDash val="solid"/>
          </a:ln>
          <a:effectLst>
            <a:outerShdw sx="100000" sy="100000" kx="0" ky="0" algn="bl" rotWithShape="0" blurRad="127000" dist="25400" dir="5400000">
              <a:srgbClr val="000000">
                <a:alpha val="35000"/>
              </a:srgbClr>
            </a:outerShdw>
          </a:effectLst>
        </p:spPr>
      </p:sp>
      <p:sp>
        <p:nvSpPr>
          <p:cNvPr id="8" name="Text 5"/>
          <p:cNvSpPr txBox="1"/>
          <p:nvPr/>
        </p:nvSpPr>
        <p:spPr>
          <a:xfrm>
            <a:off x="932688" y="4992624"/>
            <a:ext cx="4663440" cy="274320"/>
          </a:xfrm>
          <a:prstGeom prst="rect">
            <a:avLst/>
          </a:prstGeom>
          <a:noFill/>
          <a:ln/>
        </p:spPr>
        <p:txBody>
          <a:bodyPr wrap="square" lIns="0" tIns="0" rIns="0" bIns="0" rtlCol="0" anchor="ctr"/>
          <a:lstStyle/>
          <a:p>
            <a:pPr indent="0" marL="0">
              <a:buNone/>
            </a:pPr>
            <a:r>
              <a:rPr lang="en-US" sz="1400" b="1" dirty="0">
                <a:solidFill>
                  <a:srgbClr val="E0A458"/>
                </a:solidFill>
                <a:latin typeface="Meiryo" pitchFamily="34" charset="0"/>
                <a:ea typeface="Meiryo" pitchFamily="34" charset="-122"/>
                <a:cs typeface="Meiryo" pitchFamily="34" charset="-120"/>
              </a:rPr>
              <a:t>廃止するもの</a:t>
            </a:r>
            <a:endParaRPr lang="en-US" sz="1400" dirty="0"/>
          </a:p>
        </p:txBody>
      </p:sp>
      <p:sp>
        <p:nvSpPr>
          <p:cNvPr id="9" name="Text 6"/>
          <p:cNvSpPr txBox="1"/>
          <p:nvPr/>
        </p:nvSpPr>
        <p:spPr>
          <a:xfrm>
            <a:off x="932688" y="5285232"/>
            <a:ext cx="4663440" cy="676656"/>
          </a:xfrm>
          <a:prstGeom prst="rect">
            <a:avLst/>
          </a:prstGeom>
          <a:noFill/>
          <a:ln/>
        </p:spPr>
        <p:txBody>
          <a:bodyPr wrap="square" lIns="0" tIns="0" rIns="0" bIns="0" rtlCol="0" anchor="ctr"/>
          <a:lstStyle/>
          <a:p>
            <a:pPr indent="0" marL="0">
              <a:lnSpc>
                <a:spcPts val="1500"/>
              </a:lnSpc>
              <a:buNone/>
            </a:pPr>
            <a:r>
              <a:rPr lang="en-US" sz="1050" dirty="0">
                <a:solidFill>
                  <a:srgbClr val="A2908C"/>
                </a:solidFill>
                <a:latin typeface="Meiryo" pitchFamily="34" charset="0"/>
                <a:ea typeface="Meiryo" pitchFamily="34" charset="-122"/>
                <a:cs typeface="Meiryo" pitchFamily="34" charset="-120"/>
              </a:rPr>
              <a:t>9行×5ランクの特典マトリクス。営業が覚えられず、顧客も比較できません。差は「還元率・情報」の2つに集約し、手数料2.75%と成功報酬30%は全ランクで揃えます。</a:t>
            </a:r>
            <a:endParaRPr lang="en-US" sz="1050" dirty="0"/>
          </a:p>
        </p:txBody>
      </p:sp>
      <p:sp>
        <p:nvSpPr>
          <p:cNvPr id="10" name="Shape 7"/>
          <p:cNvSpPr/>
          <p:nvPr/>
        </p:nvSpPr>
        <p:spPr>
          <a:xfrm>
            <a:off x="6199632" y="4864608"/>
            <a:ext cx="5394960" cy="1188720"/>
          </a:xfrm>
          <a:prstGeom prst="roundRect">
            <a:avLst>
              <a:gd name="adj" fmla="val 4615"/>
            </a:avLst>
          </a:prstGeom>
          <a:solidFill>
            <a:srgbClr val="7B1E3A"/>
          </a:solidFill>
          <a:ln w="12700">
            <a:solidFill>
              <a:srgbClr val="7B1E3A"/>
            </a:solidFill>
            <a:prstDash val="solid"/>
          </a:ln>
          <a:effectLst>
            <a:outerShdw sx="100000" sy="100000" kx="0" ky="0" algn="bl" rotWithShape="0" blurRad="127000" dist="25400" dir="5400000">
              <a:srgbClr val="000000">
                <a:alpha val="35000"/>
              </a:srgbClr>
            </a:outerShdw>
          </a:effectLst>
        </p:spPr>
      </p:sp>
      <p:sp>
        <p:nvSpPr>
          <p:cNvPr id="11" name="Text 8"/>
          <p:cNvSpPr txBox="1"/>
          <p:nvPr/>
        </p:nvSpPr>
        <p:spPr>
          <a:xfrm>
            <a:off x="6565392" y="4992624"/>
            <a:ext cx="4663440" cy="274320"/>
          </a:xfrm>
          <a:prstGeom prst="rect">
            <a:avLst/>
          </a:prstGeom>
          <a:noFill/>
          <a:ln/>
        </p:spPr>
        <p:txBody>
          <a:bodyPr wrap="square" lIns="0" tIns="0" rIns="0" bIns="0" rtlCol="0" anchor="ctr"/>
          <a:lstStyle/>
          <a:p>
            <a:pPr indent="0" marL="0">
              <a:buNone/>
            </a:pPr>
            <a:r>
              <a:rPr lang="en-US" sz="1400" b="1" dirty="0">
                <a:solidFill>
                  <a:srgbClr val="E8CE78"/>
                </a:solidFill>
                <a:latin typeface="Meiryo" pitchFamily="34" charset="0"/>
                <a:ea typeface="Meiryo" pitchFamily="34" charset="-122"/>
                <a:cs typeface="Meiryo" pitchFamily="34" charset="-120"/>
              </a:rPr>
              <a:t>刻むなら、還元率と情報を刻む</a:t>
            </a:r>
            <a:endParaRPr lang="en-US" sz="1400" dirty="0"/>
          </a:p>
        </p:txBody>
      </p:sp>
      <p:sp>
        <p:nvSpPr>
          <p:cNvPr id="12" name="Text 9"/>
          <p:cNvSpPr txBox="1"/>
          <p:nvPr/>
        </p:nvSpPr>
        <p:spPr>
          <a:xfrm>
            <a:off x="6565392" y="5285232"/>
            <a:ext cx="4663440" cy="676656"/>
          </a:xfrm>
          <a:prstGeom prst="rect">
            <a:avLst/>
          </a:prstGeom>
          <a:noFill/>
          <a:ln/>
        </p:spPr>
        <p:txBody>
          <a:bodyPr wrap="square" lIns="0" tIns="0" rIns="0" bIns="0" rtlCol="0" anchor="ctr"/>
          <a:lstStyle/>
          <a:p>
            <a:pPr indent="0" marL="0">
              <a:lnSpc>
                <a:spcPts val="1500"/>
              </a:lnSpc>
              <a:buNone/>
            </a:pPr>
            <a:r>
              <a:rPr lang="en-US" sz="1050" dirty="0">
                <a:solidFill>
                  <a:srgbClr val="F2EDE6"/>
                </a:solidFill>
                <a:latin typeface="Meiryo" pitchFamily="34" charset="0"/>
                <a:ea typeface="Meiryo" pitchFamily="34" charset="-122"/>
                <a:cs typeface="Meiryo" pitchFamily="34" charset="-120"/>
              </a:rPr>
              <a:t>100万でも実質+1.25%を確保。額面を0.5pp上げても当社の実費用は0.26ppしか増えません。還元率を上げるほうが費用対効果の高い設計です。</a:t>
            </a:r>
            <a:endParaRPr lang="en-US" sz="10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00000"/>
        </a:solidFill>
      </p:bgPr>
    </p:bg>
    <p:spTree>
      <p:nvGrpSpPr>
        <p:cNvPr id="1" name=""/>
        <p:cNvGrpSpPr/>
        <p:nvPr/>
      </p:nvGrpSpPr>
      <p:grpSpPr>
        <a:xfrm>
          <a:off x="0" y="0"/>
          <a:ext cx="0" cy="0"/>
          <a:chOff x="0" y="0"/>
          <a:chExt cx="0" cy="0"/>
        </a:xfrm>
      </p:grpSpPr>
      <p:sp>
        <p:nvSpPr>
          <p:cNvPr id="2" name="Text 0"/>
          <p:cNvSpPr txBox="1"/>
          <p:nvPr/>
        </p:nvSpPr>
        <p:spPr>
          <a:xfrm>
            <a:off x="566928" y="310896"/>
            <a:ext cx="11027664" cy="237744"/>
          </a:xfrm>
          <a:prstGeom prst="rect">
            <a:avLst/>
          </a:prstGeom>
          <a:noFill/>
          <a:ln/>
        </p:spPr>
        <p:txBody>
          <a:bodyPr wrap="square" lIns="0" tIns="0" rIns="0" bIns="0" rtlCol="0" anchor="ctr"/>
          <a:lstStyle/>
          <a:p>
            <a:pPr indent="0" marL="0">
              <a:buNone/>
            </a:pPr>
            <a:r>
              <a:rPr lang="en-US" sz="1050" b="1" spc="300" kern="0" dirty="0">
                <a:solidFill>
                  <a:srgbClr val="C9A227"/>
                </a:solidFill>
                <a:latin typeface="Arial" pitchFamily="34" charset="0"/>
                <a:ea typeface="Arial" pitchFamily="34" charset="-122"/>
                <a:cs typeface="Arial" pitchFamily="34" charset="-120"/>
              </a:rPr>
              <a:t>WINEBANK CLUB</a:t>
            </a:r>
            <a:endParaRPr lang="en-US" sz="1050" dirty="0"/>
          </a:p>
        </p:txBody>
      </p:sp>
      <p:sp>
        <p:nvSpPr>
          <p:cNvPr id="3" name="Text 1"/>
          <p:cNvSpPr txBox="1"/>
          <p:nvPr/>
        </p:nvSpPr>
        <p:spPr>
          <a:xfrm>
            <a:off x="566928" y="566928"/>
            <a:ext cx="11027664" cy="548640"/>
          </a:xfrm>
          <a:prstGeom prst="rect">
            <a:avLst/>
          </a:prstGeom>
          <a:noFill/>
          <a:ln/>
        </p:spPr>
        <p:txBody>
          <a:bodyPr wrap="square" lIns="0" tIns="0" rIns="0" bIns="0" rtlCol="0" anchor="ctr"/>
          <a:lstStyle/>
          <a:p>
            <a:pPr indent="0" marL="0">
              <a:buNone/>
            </a:pPr>
            <a:r>
              <a:rPr lang="en-US" sz="2900" b="1" dirty="0">
                <a:solidFill>
                  <a:srgbClr val="F2EDE6"/>
                </a:solidFill>
                <a:latin typeface="Meiryo" pitchFamily="34" charset="0"/>
                <a:ea typeface="Meiryo" pitchFamily="34" charset="-122"/>
                <a:cs typeface="Meiryo" pitchFamily="34" charset="-120"/>
              </a:rPr>
              <a:t>WineBank CLUB とは</a:t>
            </a:r>
            <a:endParaRPr lang="en-US" sz="2900" dirty="0"/>
          </a:p>
        </p:txBody>
      </p:sp>
      <p:sp>
        <p:nvSpPr>
          <p:cNvPr id="4" name="Text 2"/>
          <p:cNvSpPr txBox="1"/>
          <p:nvPr/>
        </p:nvSpPr>
        <p:spPr>
          <a:xfrm>
            <a:off x="566928" y="1152144"/>
            <a:ext cx="11027664" cy="310896"/>
          </a:xfrm>
          <a:prstGeom prst="rect">
            <a:avLst/>
          </a:prstGeom>
          <a:noFill/>
          <a:ln/>
        </p:spPr>
        <p:txBody>
          <a:bodyPr wrap="square" lIns="0" tIns="0" rIns="0" bIns="0" rtlCol="0" anchor="ctr"/>
          <a:lstStyle/>
          <a:p>
            <a:pPr indent="0" marL="0">
              <a:buNone/>
            </a:pPr>
            <a:r>
              <a:rPr lang="en-US" sz="1300" dirty="0">
                <a:solidFill>
                  <a:srgbClr val="A2908C"/>
                </a:solidFill>
                <a:latin typeface="Meiryo" pitchFamily="34" charset="0"/>
                <a:ea typeface="Meiryo" pitchFamily="34" charset="-122"/>
                <a:cs typeface="Meiryo" pitchFamily="34" charset="-120"/>
              </a:rPr>
              <a:t>会員制度とは別の、飲むための会員制度。レストラン販売価格の半額（原価相当）でワインが楽しめます。</a:t>
            </a:r>
            <a:endParaRPr lang="en-US" sz="1300" dirty="0"/>
          </a:p>
        </p:txBody>
      </p:sp>
      <p:sp>
        <p:nvSpPr>
          <p:cNvPr id="5" name="Text 3"/>
          <p:cNvSpPr txBox="1"/>
          <p:nvPr/>
        </p:nvSpPr>
        <p:spPr>
          <a:xfrm>
            <a:off x="566928" y="6437376"/>
            <a:ext cx="4572000" cy="219456"/>
          </a:xfrm>
          <a:prstGeom prst="rect">
            <a:avLst/>
          </a:prstGeom>
          <a:noFill/>
          <a:ln/>
        </p:spPr>
        <p:txBody>
          <a:bodyPr wrap="square" lIns="0" tIns="0" rIns="0" bIns="0" rtlCol="0" anchor="ctr"/>
          <a:lstStyle/>
          <a:p>
            <a:pPr indent="0" marL="0">
              <a:buNone/>
            </a:pPr>
            <a:r>
              <a:rPr lang="en-US" sz="850" dirty="0">
                <a:solidFill>
                  <a:srgbClr val="6B5A5F"/>
                </a:solidFill>
                <a:latin typeface="Arial" pitchFamily="34" charset="0"/>
                <a:ea typeface="Arial" pitchFamily="34" charset="-122"/>
                <a:cs typeface="Arial" pitchFamily="34" charset="-120"/>
              </a:rPr>
              <a:t>WineBank CONFIDENTIAL</a:t>
            </a:r>
            <a:endParaRPr lang="en-US" sz="850" dirty="0"/>
          </a:p>
        </p:txBody>
      </p:sp>
      <p:sp>
        <p:nvSpPr>
          <p:cNvPr id="6" name="Shape 4"/>
          <p:cNvSpPr/>
          <p:nvPr/>
        </p:nvSpPr>
        <p:spPr>
          <a:xfrm>
            <a:off x="566928" y="1664208"/>
            <a:ext cx="3529584" cy="3035808"/>
          </a:xfrm>
          <a:prstGeom prst="roundRect">
            <a:avLst>
              <a:gd name="adj" fmla="val 1807"/>
            </a:avLst>
          </a:prstGeom>
          <a:solidFill>
            <a:srgbClr val="17111A"/>
          </a:solidFill>
          <a:ln w="12700">
            <a:solidFill>
              <a:srgbClr val="17111A"/>
            </a:solidFill>
            <a:prstDash val="solid"/>
          </a:ln>
          <a:effectLst>
            <a:outerShdw sx="100000" sy="100000" kx="0" ky="0" algn="bl" rotWithShape="0" blurRad="127000" dist="25400" dir="5400000">
              <a:srgbClr val="000000">
                <a:alpha val="35000"/>
              </a:srgbClr>
            </a:outerShdw>
          </a:effectLst>
        </p:spPr>
      </p:sp>
      <p:sp>
        <p:nvSpPr>
          <p:cNvPr id="7" name="Text 5"/>
          <p:cNvSpPr txBox="1"/>
          <p:nvPr/>
        </p:nvSpPr>
        <p:spPr>
          <a:xfrm>
            <a:off x="859536" y="1847088"/>
            <a:ext cx="2962656" cy="365760"/>
          </a:xfrm>
          <a:prstGeom prst="rect">
            <a:avLst/>
          </a:prstGeom>
          <a:noFill/>
          <a:ln/>
        </p:spPr>
        <p:txBody>
          <a:bodyPr wrap="square" lIns="0" tIns="0" rIns="0" bIns="0" rtlCol="0" anchor="ctr"/>
          <a:lstStyle/>
          <a:p>
            <a:pPr indent="0" marL="0">
              <a:buNone/>
            </a:pPr>
            <a:r>
              <a:rPr lang="en-US" sz="2000" b="1" dirty="0">
                <a:solidFill>
                  <a:srgbClr val="F2EDE6"/>
                </a:solidFill>
                <a:latin typeface="Meiryo" pitchFamily="34" charset="0"/>
                <a:ea typeface="Meiryo" pitchFamily="34" charset="-122"/>
                <a:cs typeface="Meiryo" pitchFamily="34" charset="-120"/>
              </a:rPr>
              <a:t>STANDARD</a:t>
            </a:r>
            <a:endParaRPr lang="en-US" sz="2000" dirty="0"/>
          </a:p>
        </p:txBody>
      </p:sp>
      <p:sp>
        <p:nvSpPr>
          <p:cNvPr id="8" name="Text 6"/>
          <p:cNvSpPr txBox="1"/>
          <p:nvPr/>
        </p:nvSpPr>
        <p:spPr>
          <a:xfrm>
            <a:off x="859536" y="2249424"/>
            <a:ext cx="2962656" cy="384048"/>
          </a:xfrm>
          <a:prstGeom prst="rect">
            <a:avLst/>
          </a:prstGeom>
          <a:noFill/>
          <a:ln/>
        </p:spPr>
        <p:txBody>
          <a:bodyPr wrap="square" lIns="0" tIns="0" rIns="0" bIns="0" rtlCol="0" anchor="ctr"/>
          <a:lstStyle/>
          <a:p>
            <a:pPr indent="0" marL="0">
              <a:lnSpc>
                <a:spcPts val="1400"/>
              </a:lnSpc>
              <a:buNone/>
            </a:pPr>
            <a:r>
              <a:rPr lang="en-US" sz="1050" dirty="0">
                <a:solidFill>
                  <a:srgbClr val="A2908C"/>
                </a:solidFill>
                <a:latin typeface="Meiryo" pitchFamily="34" charset="0"/>
                <a:ea typeface="Meiryo" pitchFamily="34" charset="-122"/>
                <a:cs typeface="Meiryo" pitchFamily="34" charset="-120"/>
              </a:rPr>
              <a:t>月 8,800円〜　マイル充当・単月利用可</a:t>
            </a:r>
            <a:endParaRPr lang="en-US" sz="1050" dirty="0"/>
          </a:p>
        </p:txBody>
      </p:sp>
      <p:sp>
        <p:nvSpPr>
          <p:cNvPr id="9" name="Text 7"/>
          <p:cNvSpPr txBox="1"/>
          <p:nvPr/>
        </p:nvSpPr>
        <p:spPr>
          <a:xfrm>
            <a:off x="859536" y="2706624"/>
            <a:ext cx="2962656" cy="1901952"/>
          </a:xfrm>
          <a:prstGeom prst="rect">
            <a:avLst/>
          </a:prstGeom>
          <a:noFill/>
          <a:ln/>
        </p:spPr>
        <p:txBody>
          <a:bodyPr wrap="square" lIns="0" tIns="0" rIns="0" bIns="0" rtlCol="0" anchor="t"/>
          <a:lstStyle/>
          <a:p>
            <a:pPr marL="152400" indent="-152400">
              <a:lnSpc>
                <a:spcPts val="1600"/>
              </a:lnSpc>
              <a:spcAft>
                <a:spcPts val="800"/>
              </a:spcAft>
              <a:buSzPct val="100000"/>
              <a:buChar char="•"/>
            </a:pPr>
            <a:r>
              <a:rPr lang="en-US" sz="1100" dirty="0">
                <a:solidFill>
                  <a:srgbClr val="F2EDE6"/>
                </a:solidFill>
                <a:latin typeface="Meiryo" pitchFamily="34" charset="0"/>
                <a:ea typeface="Meiryo" pitchFamily="34" charset="-122"/>
                <a:cs typeface="Meiryo" pitchFamily="34" charset="-120"/>
              </a:rPr>
              <a:t>提携店でのコルケージ無料</a:t>
            </a:r>
            <a:endParaRPr lang="en-US" sz="1100" dirty="0"/>
          </a:p>
          <a:p>
            <a:pPr marL="152400" indent="-152400">
              <a:lnSpc>
                <a:spcPts val="1600"/>
              </a:lnSpc>
              <a:spcAft>
                <a:spcPts val="800"/>
              </a:spcAft>
              <a:buSzPct val="100000"/>
              <a:buChar char="•"/>
            </a:pPr>
            <a:r>
              <a:rPr lang="en-US" sz="1100" dirty="0">
                <a:solidFill>
                  <a:srgbClr val="F2EDE6"/>
                </a:solidFill>
                <a:latin typeface="Meiryo" pitchFamily="34" charset="0"/>
                <a:ea typeface="Meiryo" pitchFamily="34" charset="-122"/>
                <a:cs typeface="Meiryo" pitchFamily="34" charset="-120"/>
              </a:rPr>
              <a:t>グループ飲食店の優待</a:t>
            </a:r>
            <a:endParaRPr lang="en-US" sz="1100" dirty="0"/>
          </a:p>
          <a:p>
            <a:pPr marL="152400" indent="-152400">
              <a:lnSpc>
                <a:spcPts val="1600"/>
              </a:lnSpc>
              <a:spcAft>
                <a:spcPts val="800"/>
              </a:spcAft>
              <a:buSzPct val="100000"/>
              <a:buChar char="•"/>
            </a:pPr>
            <a:r>
              <a:rPr lang="en-US" sz="1100" dirty="0">
                <a:solidFill>
                  <a:srgbClr val="F2EDE6"/>
                </a:solidFill>
                <a:latin typeface="Meiryo" pitchFamily="34" charset="0"/>
                <a:ea typeface="Meiryo" pitchFamily="34" charset="-122"/>
                <a:cs typeface="Meiryo" pitchFamily="34" charset="-120"/>
              </a:rPr>
              <a:t>会員向けワイン価格（半額）</a:t>
            </a:r>
            <a:endParaRPr lang="en-US" sz="1100" dirty="0"/>
          </a:p>
          <a:p>
            <a:pPr marL="152400" indent="-152400">
              <a:lnSpc>
                <a:spcPts val="1600"/>
              </a:lnSpc>
              <a:spcAft>
                <a:spcPts val="800"/>
              </a:spcAft>
              <a:buSzPct val="100000"/>
              <a:buChar char="•"/>
            </a:pPr>
            <a:r>
              <a:rPr lang="en-US" sz="1100" dirty="0">
                <a:solidFill>
                  <a:srgbClr val="F2EDE6"/>
                </a:solidFill>
                <a:latin typeface="Meiryo" pitchFamily="34" charset="0"/>
                <a:ea typeface="Meiryo" pitchFamily="34" charset="-122"/>
                <a:cs typeface="Meiryo" pitchFamily="34" charset="-120"/>
              </a:rPr>
              <a:t>提携店向けワイン配送料無料</a:t>
            </a:r>
            <a:endParaRPr lang="en-US" sz="1100" dirty="0"/>
          </a:p>
          <a:p>
            <a:pPr marL="152400" indent="-152400">
              <a:lnSpc>
                <a:spcPts val="1600"/>
              </a:lnSpc>
              <a:spcAft>
                <a:spcPts val="800"/>
              </a:spcAft>
              <a:buSzPct val="100000"/>
              <a:buChar char="•"/>
            </a:pPr>
            <a:r>
              <a:rPr lang="en-US" sz="1100" dirty="0">
                <a:solidFill>
                  <a:srgbClr val="F2EDE6"/>
                </a:solidFill>
                <a:latin typeface="Meiryo" pitchFamily="34" charset="0"/>
                <a:ea typeface="Meiryo" pitchFamily="34" charset="-122"/>
                <a:cs typeface="Meiryo" pitchFamily="34" charset="-120"/>
              </a:rPr>
              <a:t>4名未満・ワイン価格 上限5万円</a:t>
            </a:r>
            <a:endParaRPr lang="en-US" sz="1100" dirty="0"/>
          </a:p>
        </p:txBody>
      </p:sp>
      <p:sp>
        <p:nvSpPr>
          <p:cNvPr id="10" name="Shape 8"/>
          <p:cNvSpPr/>
          <p:nvPr/>
        </p:nvSpPr>
        <p:spPr>
          <a:xfrm>
            <a:off x="4352544" y="1664208"/>
            <a:ext cx="3529584" cy="3035808"/>
          </a:xfrm>
          <a:prstGeom prst="roundRect">
            <a:avLst>
              <a:gd name="adj" fmla="val 1807"/>
            </a:avLst>
          </a:prstGeom>
          <a:solidFill>
            <a:srgbClr val="17111A"/>
          </a:solidFill>
          <a:ln w="12700">
            <a:solidFill>
              <a:srgbClr val="17111A"/>
            </a:solidFill>
            <a:prstDash val="solid"/>
          </a:ln>
          <a:effectLst>
            <a:outerShdw sx="100000" sy="100000" kx="0" ky="0" algn="bl" rotWithShape="0" blurRad="127000" dist="25400" dir="5400000">
              <a:srgbClr val="000000">
                <a:alpha val="35000"/>
              </a:srgbClr>
            </a:outerShdw>
          </a:effectLst>
        </p:spPr>
      </p:sp>
      <p:sp>
        <p:nvSpPr>
          <p:cNvPr id="11" name="Text 9"/>
          <p:cNvSpPr txBox="1"/>
          <p:nvPr/>
        </p:nvSpPr>
        <p:spPr>
          <a:xfrm>
            <a:off x="4645152" y="1847088"/>
            <a:ext cx="2962656" cy="365760"/>
          </a:xfrm>
          <a:prstGeom prst="rect">
            <a:avLst/>
          </a:prstGeom>
          <a:noFill/>
          <a:ln/>
        </p:spPr>
        <p:txBody>
          <a:bodyPr wrap="square" lIns="0" tIns="0" rIns="0" bIns="0" rtlCol="0" anchor="ctr"/>
          <a:lstStyle/>
          <a:p>
            <a:pPr indent="0" marL="0">
              <a:buNone/>
            </a:pPr>
            <a:r>
              <a:rPr lang="en-US" sz="2000" b="1" dirty="0">
                <a:solidFill>
                  <a:srgbClr val="E8CE78"/>
                </a:solidFill>
                <a:latin typeface="Meiryo" pitchFamily="34" charset="0"/>
                <a:ea typeface="Meiryo" pitchFamily="34" charset="-122"/>
                <a:cs typeface="Meiryo" pitchFamily="34" charset="-120"/>
              </a:rPr>
              <a:t>GOLD</a:t>
            </a:r>
            <a:endParaRPr lang="en-US" sz="2000" dirty="0"/>
          </a:p>
        </p:txBody>
      </p:sp>
      <p:sp>
        <p:nvSpPr>
          <p:cNvPr id="12" name="Text 10"/>
          <p:cNvSpPr txBox="1"/>
          <p:nvPr/>
        </p:nvSpPr>
        <p:spPr>
          <a:xfrm>
            <a:off x="4645152" y="2249424"/>
            <a:ext cx="2962656" cy="384048"/>
          </a:xfrm>
          <a:prstGeom prst="rect">
            <a:avLst/>
          </a:prstGeom>
          <a:noFill/>
          <a:ln/>
        </p:spPr>
        <p:txBody>
          <a:bodyPr wrap="square" lIns="0" tIns="0" rIns="0" bIns="0" rtlCol="0" anchor="ctr"/>
          <a:lstStyle/>
          <a:p>
            <a:pPr indent="0" marL="0">
              <a:lnSpc>
                <a:spcPts val="1400"/>
              </a:lnSpc>
              <a:buNone/>
            </a:pPr>
            <a:r>
              <a:rPr lang="en-US" sz="1050" dirty="0">
                <a:solidFill>
                  <a:srgbClr val="A2908C"/>
                </a:solidFill>
                <a:latin typeface="Meiryo" pitchFamily="34" charset="0"/>
                <a:ea typeface="Meiryo" pitchFamily="34" charset="-122"/>
                <a:cs typeface="Meiryo" pitchFamily="34" charset="-120"/>
              </a:rPr>
              <a:t>月 22,000円〜</a:t>
            </a:r>
            <a:endParaRPr lang="en-US" sz="1050" dirty="0"/>
          </a:p>
        </p:txBody>
      </p:sp>
      <p:sp>
        <p:nvSpPr>
          <p:cNvPr id="13" name="Text 11"/>
          <p:cNvSpPr txBox="1"/>
          <p:nvPr/>
        </p:nvSpPr>
        <p:spPr>
          <a:xfrm>
            <a:off x="4645152" y="2706624"/>
            <a:ext cx="2962656" cy="1901952"/>
          </a:xfrm>
          <a:prstGeom prst="rect">
            <a:avLst/>
          </a:prstGeom>
          <a:noFill/>
          <a:ln/>
        </p:spPr>
        <p:txBody>
          <a:bodyPr wrap="square" lIns="0" tIns="0" rIns="0" bIns="0" rtlCol="0" anchor="t"/>
          <a:lstStyle/>
          <a:p>
            <a:pPr marL="152400" indent="-152400">
              <a:lnSpc>
                <a:spcPts val="1600"/>
              </a:lnSpc>
              <a:spcAft>
                <a:spcPts val="800"/>
              </a:spcAft>
              <a:buSzPct val="100000"/>
              <a:buChar char="•"/>
            </a:pPr>
            <a:r>
              <a:rPr lang="en-US" sz="1100" dirty="0">
                <a:solidFill>
                  <a:srgbClr val="F2EDE6"/>
                </a:solidFill>
                <a:latin typeface="Meiryo" pitchFamily="34" charset="0"/>
                <a:ea typeface="Meiryo" pitchFamily="34" charset="-122"/>
                <a:cs typeface="Meiryo" pitchFamily="34" charset="-120"/>
              </a:rPr>
              <a:t>上記に加え、生産者イベント招待</a:t>
            </a:r>
            <a:endParaRPr lang="en-US" sz="1100" dirty="0"/>
          </a:p>
          <a:p>
            <a:pPr marL="152400" indent="-152400">
              <a:lnSpc>
                <a:spcPts val="1600"/>
              </a:lnSpc>
              <a:spcAft>
                <a:spcPts val="800"/>
              </a:spcAft>
              <a:buSzPct val="100000"/>
              <a:buChar char="•"/>
            </a:pPr>
            <a:r>
              <a:rPr lang="en-US" sz="1100" dirty="0">
                <a:solidFill>
                  <a:srgbClr val="F2EDE6"/>
                </a:solidFill>
                <a:latin typeface="Meiryo" pitchFamily="34" charset="0"/>
                <a:ea typeface="Meiryo" pitchFamily="34" charset="-122"/>
                <a:cs typeface="Meiryo" pitchFamily="34" charset="-120"/>
              </a:rPr>
              <a:t>ザルト高級グラス使用</a:t>
            </a:r>
            <a:endParaRPr lang="en-US" sz="1100" dirty="0"/>
          </a:p>
          <a:p>
            <a:pPr marL="152400" indent="-152400">
              <a:lnSpc>
                <a:spcPts val="1600"/>
              </a:lnSpc>
              <a:spcAft>
                <a:spcPts val="800"/>
              </a:spcAft>
              <a:buSzPct val="100000"/>
              <a:buChar char="•"/>
            </a:pPr>
            <a:r>
              <a:rPr lang="en-US" sz="1100" dirty="0">
                <a:solidFill>
                  <a:srgbClr val="F2EDE6"/>
                </a:solidFill>
                <a:latin typeface="Meiryo" pitchFamily="34" charset="0"/>
                <a:ea typeface="Meiryo" pitchFamily="34" charset="-122"/>
                <a:cs typeface="Meiryo" pitchFamily="34" charset="-120"/>
              </a:rPr>
              <a:t>個室優先利用・予約4名以上</a:t>
            </a:r>
            <a:endParaRPr lang="en-US" sz="1100" dirty="0"/>
          </a:p>
          <a:p>
            <a:pPr marL="152400" indent="-152400">
              <a:lnSpc>
                <a:spcPts val="1600"/>
              </a:lnSpc>
              <a:spcAft>
                <a:spcPts val="800"/>
              </a:spcAft>
              <a:buSzPct val="100000"/>
              <a:buChar char="•"/>
            </a:pPr>
            <a:r>
              <a:rPr lang="en-US" sz="1100" dirty="0">
                <a:solidFill>
                  <a:srgbClr val="F2EDE6"/>
                </a:solidFill>
                <a:latin typeface="Meiryo" pitchFamily="34" charset="0"/>
                <a:ea typeface="Meiryo" pitchFamily="34" charset="-122"/>
                <a:cs typeface="Meiryo" pitchFamily="34" charset="-120"/>
              </a:rPr>
              <a:t>ワイン価格の上限なし</a:t>
            </a:r>
            <a:endParaRPr lang="en-US" sz="1100" dirty="0"/>
          </a:p>
          <a:p>
            <a:pPr marL="152400" indent="-152400">
              <a:lnSpc>
                <a:spcPts val="1600"/>
              </a:lnSpc>
              <a:spcAft>
                <a:spcPts val="800"/>
              </a:spcAft>
              <a:buSzPct val="100000"/>
              <a:buChar char="•"/>
            </a:pPr>
            <a:r>
              <a:rPr lang="en-US" sz="1100" dirty="0">
                <a:solidFill>
                  <a:srgbClr val="F2EDE6"/>
                </a:solidFill>
                <a:latin typeface="Meiryo" pitchFamily="34" charset="0"/>
                <a:ea typeface="Meiryo" pitchFamily="34" charset="-122"/>
                <a:cs typeface="Meiryo" pitchFamily="34" charset="-120"/>
              </a:rPr>
              <a:t>コンシェルジュによる選定</a:t>
            </a:r>
            <a:endParaRPr lang="en-US" sz="1100" dirty="0"/>
          </a:p>
        </p:txBody>
      </p:sp>
      <p:sp>
        <p:nvSpPr>
          <p:cNvPr id="14" name="Shape 12"/>
          <p:cNvSpPr/>
          <p:nvPr/>
        </p:nvSpPr>
        <p:spPr>
          <a:xfrm>
            <a:off x="8138160" y="1664208"/>
            <a:ext cx="3529584" cy="3035808"/>
          </a:xfrm>
          <a:prstGeom prst="roundRect">
            <a:avLst>
              <a:gd name="adj" fmla="val 1807"/>
            </a:avLst>
          </a:prstGeom>
          <a:solidFill>
            <a:srgbClr val="261A24"/>
          </a:solidFill>
          <a:ln w="12700">
            <a:solidFill>
              <a:srgbClr val="261A24"/>
            </a:solidFill>
            <a:prstDash val="solid"/>
          </a:ln>
          <a:effectLst>
            <a:outerShdw sx="100000" sy="100000" kx="0" ky="0" algn="bl" rotWithShape="0" blurRad="127000" dist="25400" dir="5400000">
              <a:srgbClr val="000000">
                <a:alpha val="35000"/>
              </a:srgbClr>
            </a:outerShdw>
          </a:effectLst>
        </p:spPr>
      </p:sp>
      <p:sp>
        <p:nvSpPr>
          <p:cNvPr id="15" name="Text 13"/>
          <p:cNvSpPr txBox="1"/>
          <p:nvPr/>
        </p:nvSpPr>
        <p:spPr>
          <a:xfrm>
            <a:off x="8430768" y="1847088"/>
            <a:ext cx="2962656" cy="365760"/>
          </a:xfrm>
          <a:prstGeom prst="rect">
            <a:avLst/>
          </a:prstGeom>
          <a:noFill/>
          <a:ln/>
        </p:spPr>
        <p:txBody>
          <a:bodyPr wrap="square" lIns="0" tIns="0" rIns="0" bIns="0" rtlCol="0" anchor="ctr"/>
          <a:lstStyle/>
          <a:p>
            <a:pPr indent="0" marL="0">
              <a:buNone/>
            </a:pPr>
            <a:r>
              <a:rPr lang="en-US" sz="2000" b="1" dirty="0">
                <a:solidFill>
                  <a:srgbClr val="C9A227"/>
                </a:solidFill>
                <a:latin typeface="Meiryo" pitchFamily="34" charset="0"/>
                <a:ea typeface="Meiryo" pitchFamily="34" charset="-122"/>
                <a:cs typeface="Meiryo" pitchFamily="34" charset="-120"/>
              </a:rPr>
              <a:t>BLACK</a:t>
            </a:r>
            <a:endParaRPr lang="en-US" sz="2000" dirty="0"/>
          </a:p>
        </p:txBody>
      </p:sp>
      <p:sp>
        <p:nvSpPr>
          <p:cNvPr id="16" name="Text 14"/>
          <p:cNvSpPr txBox="1"/>
          <p:nvPr/>
        </p:nvSpPr>
        <p:spPr>
          <a:xfrm>
            <a:off x="8430768" y="2249424"/>
            <a:ext cx="2962656" cy="384048"/>
          </a:xfrm>
          <a:prstGeom prst="rect">
            <a:avLst/>
          </a:prstGeom>
          <a:noFill/>
          <a:ln/>
        </p:spPr>
        <p:txBody>
          <a:bodyPr wrap="square" lIns="0" tIns="0" rIns="0" bIns="0" rtlCol="0" anchor="ctr"/>
          <a:lstStyle/>
          <a:p>
            <a:pPr indent="0" marL="0">
              <a:lnSpc>
                <a:spcPts val="1400"/>
              </a:lnSpc>
              <a:buNone/>
            </a:pPr>
            <a:r>
              <a:rPr lang="en-US" sz="1050" dirty="0">
                <a:solidFill>
                  <a:srgbClr val="A2908C"/>
                </a:solidFill>
                <a:latin typeface="Meiryo" pitchFamily="34" charset="0"/>
                <a:ea typeface="Meiryo" pitchFamily="34" charset="-122"/>
                <a:cs typeface="Meiryo" pitchFamily="34" charset="-120"/>
              </a:rPr>
              <a:t>年間5,000万以上、もしくは年会費60万円</a:t>
            </a:r>
            <a:endParaRPr lang="en-US" sz="1050" dirty="0"/>
          </a:p>
        </p:txBody>
      </p:sp>
      <p:sp>
        <p:nvSpPr>
          <p:cNvPr id="17" name="Text 15"/>
          <p:cNvSpPr txBox="1"/>
          <p:nvPr/>
        </p:nvSpPr>
        <p:spPr>
          <a:xfrm>
            <a:off x="8430768" y="2706624"/>
            <a:ext cx="2962656" cy="1901952"/>
          </a:xfrm>
          <a:prstGeom prst="rect">
            <a:avLst/>
          </a:prstGeom>
          <a:noFill/>
          <a:ln/>
        </p:spPr>
        <p:txBody>
          <a:bodyPr wrap="square" lIns="0" tIns="0" rIns="0" bIns="0" rtlCol="0" anchor="t"/>
          <a:lstStyle/>
          <a:p>
            <a:pPr marL="152400" indent="-152400">
              <a:lnSpc>
                <a:spcPts val="1600"/>
              </a:lnSpc>
              <a:spcAft>
                <a:spcPts val="800"/>
              </a:spcAft>
              <a:buSzPct val="100000"/>
              <a:buChar char="•"/>
            </a:pPr>
            <a:r>
              <a:rPr lang="en-US" sz="1100" dirty="0">
                <a:solidFill>
                  <a:srgbClr val="F2EDE6"/>
                </a:solidFill>
                <a:latin typeface="Meiryo" pitchFamily="34" charset="0"/>
                <a:ea typeface="Meiryo" pitchFamily="34" charset="-122"/>
                <a:cs typeface="Meiryo" pitchFamily="34" charset="-120"/>
              </a:rPr>
              <a:t>未公開ワインの優先割当</a:t>
            </a:r>
            <a:endParaRPr lang="en-US" sz="1100" dirty="0"/>
          </a:p>
          <a:p>
            <a:pPr marL="152400" indent="-152400">
              <a:lnSpc>
                <a:spcPts val="1600"/>
              </a:lnSpc>
              <a:spcAft>
                <a:spcPts val="800"/>
              </a:spcAft>
              <a:buSzPct val="100000"/>
              <a:buChar char="•"/>
            </a:pPr>
            <a:r>
              <a:rPr lang="en-US" sz="1100" dirty="0">
                <a:solidFill>
                  <a:srgbClr val="F2EDE6"/>
                </a:solidFill>
                <a:latin typeface="Meiryo" pitchFamily="34" charset="0"/>
                <a:ea typeface="Meiryo" pitchFamily="34" charset="-122"/>
                <a:cs typeface="Meiryo" pitchFamily="34" charset="-120"/>
              </a:rPr>
              <a:t>ワイン樽買いの権利</a:t>
            </a:r>
            <a:endParaRPr lang="en-US" sz="1100" dirty="0"/>
          </a:p>
          <a:p>
            <a:pPr marL="152400" indent="-152400">
              <a:lnSpc>
                <a:spcPts val="1600"/>
              </a:lnSpc>
              <a:spcAft>
                <a:spcPts val="800"/>
              </a:spcAft>
              <a:buSzPct val="100000"/>
              <a:buChar char="•"/>
            </a:pPr>
            <a:r>
              <a:rPr lang="en-US" sz="1100" dirty="0">
                <a:solidFill>
                  <a:srgbClr val="F2EDE6"/>
                </a:solidFill>
                <a:latin typeface="Meiryo" pitchFamily="34" charset="0"/>
                <a:ea typeface="Meiryo" pitchFamily="34" charset="-122"/>
                <a:cs typeface="Meiryo" pitchFamily="34" charset="-120"/>
              </a:rPr>
              <a:t>ソムリエへの直接相談</a:t>
            </a:r>
            <a:endParaRPr lang="en-US" sz="1100" dirty="0"/>
          </a:p>
          <a:p>
            <a:pPr marL="152400" indent="-152400">
              <a:lnSpc>
                <a:spcPts val="1600"/>
              </a:lnSpc>
              <a:spcAft>
                <a:spcPts val="800"/>
              </a:spcAft>
              <a:buSzPct val="100000"/>
              <a:buChar char="•"/>
            </a:pPr>
            <a:r>
              <a:rPr lang="en-US" sz="1100" dirty="0">
                <a:solidFill>
                  <a:srgbClr val="F2EDE6"/>
                </a:solidFill>
                <a:latin typeface="Meiryo" pitchFamily="34" charset="0"/>
                <a:ea typeface="Meiryo" pitchFamily="34" charset="-122"/>
                <a:cs typeface="Meiryo" pitchFamily="34" charset="-120"/>
              </a:rPr>
              <a:t>会員限定のクローズドな会</a:t>
            </a:r>
            <a:endParaRPr lang="en-US" sz="1100" dirty="0"/>
          </a:p>
          <a:p>
            <a:pPr marL="152400" indent="-152400">
              <a:lnSpc>
                <a:spcPts val="1600"/>
              </a:lnSpc>
              <a:spcAft>
                <a:spcPts val="800"/>
              </a:spcAft>
              <a:buSzPct val="100000"/>
              <a:buChar char="•"/>
            </a:pPr>
            <a:r>
              <a:rPr lang="en-US" sz="1100" dirty="0">
                <a:solidFill>
                  <a:srgbClr val="F2EDE6"/>
                </a:solidFill>
                <a:latin typeface="Meiryo" pitchFamily="34" charset="0"/>
                <a:ea typeface="Meiryo" pitchFamily="34" charset="-122"/>
                <a:cs typeface="Meiryo" pitchFamily="34" charset="-120"/>
              </a:rPr>
              <a:t>国内外ワイナリーツアー</a:t>
            </a:r>
            <a:endParaRPr lang="en-US" sz="1100" dirty="0"/>
          </a:p>
        </p:txBody>
      </p:sp>
      <p:sp>
        <p:nvSpPr>
          <p:cNvPr id="18" name="Shape 16"/>
          <p:cNvSpPr/>
          <p:nvPr/>
        </p:nvSpPr>
        <p:spPr>
          <a:xfrm>
            <a:off x="566928" y="4864608"/>
            <a:ext cx="5394960" cy="1188720"/>
          </a:xfrm>
          <a:prstGeom prst="roundRect">
            <a:avLst>
              <a:gd name="adj" fmla="val 4615"/>
            </a:avLst>
          </a:prstGeom>
          <a:solidFill>
            <a:srgbClr val="7B1E3A"/>
          </a:solidFill>
          <a:ln w="12700">
            <a:solidFill>
              <a:srgbClr val="7B1E3A"/>
            </a:solidFill>
            <a:prstDash val="solid"/>
          </a:ln>
          <a:effectLst>
            <a:outerShdw sx="100000" sy="100000" kx="0" ky="0" algn="bl" rotWithShape="0" blurRad="127000" dist="25400" dir="5400000">
              <a:srgbClr val="000000">
                <a:alpha val="35000"/>
              </a:srgbClr>
            </a:outerShdw>
          </a:effectLst>
        </p:spPr>
      </p:sp>
      <p:sp>
        <p:nvSpPr>
          <p:cNvPr id="19" name="Text 17"/>
          <p:cNvSpPr txBox="1"/>
          <p:nvPr/>
        </p:nvSpPr>
        <p:spPr>
          <a:xfrm>
            <a:off x="932688" y="4992624"/>
            <a:ext cx="4663440" cy="274320"/>
          </a:xfrm>
          <a:prstGeom prst="rect">
            <a:avLst/>
          </a:prstGeom>
          <a:noFill/>
          <a:ln/>
        </p:spPr>
        <p:txBody>
          <a:bodyPr wrap="square" lIns="0" tIns="0" rIns="0" bIns="0" rtlCol="0" anchor="ctr"/>
          <a:lstStyle/>
          <a:p>
            <a:pPr indent="0" marL="0">
              <a:buNone/>
            </a:pPr>
            <a:r>
              <a:rPr lang="en-US" sz="1400" b="1" dirty="0">
                <a:solidFill>
                  <a:srgbClr val="E8CE78"/>
                </a:solidFill>
                <a:latin typeface="Meiryo" pitchFamily="34" charset="0"/>
                <a:ea typeface="Meiryo" pitchFamily="34" charset="-122"/>
                <a:cs typeface="Meiryo" pitchFamily="34" charset="-120"/>
              </a:rPr>
              <a:t>「半額」が、すべてを説明します</a:t>
            </a:r>
            <a:endParaRPr lang="en-US" sz="1400" dirty="0"/>
          </a:p>
        </p:txBody>
      </p:sp>
      <p:sp>
        <p:nvSpPr>
          <p:cNvPr id="20" name="Text 18"/>
          <p:cNvSpPr txBox="1"/>
          <p:nvPr/>
        </p:nvSpPr>
        <p:spPr>
          <a:xfrm>
            <a:off x="932688" y="5285232"/>
            <a:ext cx="4663440" cy="676656"/>
          </a:xfrm>
          <a:prstGeom prst="rect">
            <a:avLst/>
          </a:prstGeom>
          <a:noFill/>
          <a:ln/>
        </p:spPr>
        <p:txBody>
          <a:bodyPr wrap="square" lIns="0" tIns="0" rIns="0" bIns="0" rtlCol="0" anchor="ctr"/>
          <a:lstStyle/>
          <a:p>
            <a:pPr indent="0" marL="0">
              <a:lnSpc>
                <a:spcPts val="1500"/>
              </a:lnSpc>
              <a:buNone/>
            </a:pPr>
            <a:r>
              <a:rPr lang="en-US" sz="1050" dirty="0">
                <a:solidFill>
                  <a:srgbClr val="F2EDE6"/>
                </a:solidFill>
                <a:latin typeface="Meiryo" pitchFamily="34" charset="0"/>
                <a:ea typeface="Meiryo" pitchFamily="34" charset="-122"/>
                <a:cs typeface="Meiryo" pitchFamily="34" charset="-120"/>
              </a:rPr>
              <a:t>レストランで3倍の値がつくワインが、原価相当で飲める。これ以上わかりやすい入会理由はありません。ワイン好きにとっては、これ自体がキラーコンテンツです。</a:t>
            </a:r>
            <a:endParaRPr lang="en-US" sz="1050" dirty="0"/>
          </a:p>
        </p:txBody>
      </p:sp>
      <p:sp>
        <p:nvSpPr>
          <p:cNvPr id="21" name="Shape 19"/>
          <p:cNvSpPr/>
          <p:nvPr/>
        </p:nvSpPr>
        <p:spPr>
          <a:xfrm>
            <a:off x="6199632" y="4864608"/>
            <a:ext cx="5394960" cy="1188720"/>
          </a:xfrm>
          <a:prstGeom prst="roundRect">
            <a:avLst>
              <a:gd name="adj" fmla="val 4615"/>
            </a:avLst>
          </a:prstGeom>
          <a:solidFill>
            <a:srgbClr val="17111A"/>
          </a:solidFill>
          <a:ln w="12700">
            <a:solidFill>
              <a:srgbClr val="17111A"/>
            </a:solidFill>
            <a:prstDash val="solid"/>
          </a:ln>
          <a:effectLst>
            <a:outerShdw sx="100000" sy="100000" kx="0" ky="0" algn="bl" rotWithShape="0" blurRad="127000" dist="25400" dir="5400000">
              <a:srgbClr val="000000">
                <a:alpha val="35000"/>
              </a:srgbClr>
            </a:outerShdw>
          </a:effectLst>
        </p:spPr>
      </p:sp>
      <p:sp>
        <p:nvSpPr>
          <p:cNvPr id="22" name="Text 20"/>
          <p:cNvSpPr txBox="1"/>
          <p:nvPr/>
        </p:nvSpPr>
        <p:spPr>
          <a:xfrm>
            <a:off x="6565392" y="4992624"/>
            <a:ext cx="4663440" cy="274320"/>
          </a:xfrm>
          <a:prstGeom prst="rect">
            <a:avLst/>
          </a:prstGeom>
          <a:noFill/>
          <a:ln/>
        </p:spPr>
        <p:txBody>
          <a:bodyPr wrap="square" lIns="0" tIns="0" rIns="0" bIns="0" rtlCol="0" anchor="ctr"/>
          <a:lstStyle/>
          <a:p>
            <a:pPr indent="0" marL="0">
              <a:buNone/>
            </a:pPr>
            <a:r>
              <a:rPr lang="en-US" sz="1400" b="1" dirty="0">
                <a:solidFill>
                  <a:srgbClr val="E8CE78"/>
                </a:solidFill>
                <a:latin typeface="Meiryo" pitchFamily="34" charset="0"/>
                <a:ea typeface="Meiryo" pitchFamily="34" charset="-122"/>
                <a:cs typeface="Meiryo" pitchFamily="34" charset="-120"/>
              </a:rPr>
              <a:t>引き上げの動線は「人数」と「上限」</a:t>
            </a:r>
            <a:endParaRPr lang="en-US" sz="1400" dirty="0"/>
          </a:p>
        </p:txBody>
      </p:sp>
      <p:sp>
        <p:nvSpPr>
          <p:cNvPr id="23" name="Text 21"/>
          <p:cNvSpPr txBox="1"/>
          <p:nvPr/>
        </p:nvSpPr>
        <p:spPr>
          <a:xfrm>
            <a:off x="6565392" y="5285232"/>
            <a:ext cx="4663440" cy="676656"/>
          </a:xfrm>
          <a:prstGeom prst="rect">
            <a:avLst/>
          </a:prstGeom>
          <a:noFill/>
          <a:ln/>
        </p:spPr>
        <p:txBody>
          <a:bodyPr wrap="square" lIns="0" tIns="0" rIns="0" bIns="0" rtlCol="0" anchor="ctr"/>
          <a:lstStyle/>
          <a:p>
            <a:pPr indent="0" marL="0">
              <a:lnSpc>
                <a:spcPts val="1500"/>
              </a:lnSpc>
              <a:buNone/>
            </a:pPr>
            <a:r>
              <a:rPr lang="en-US" sz="1050" dirty="0">
                <a:solidFill>
                  <a:srgbClr val="A2908C"/>
                </a:solidFill>
                <a:latin typeface="Meiryo" pitchFamily="34" charset="0"/>
                <a:ea typeface="Meiryo" pitchFamily="34" charset="-122"/>
                <a:cs typeface="Meiryo" pitchFamily="34" charset="-120"/>
              </a:rPr>
              <a:t>STANDARDは4名未満・ワイン5万円まで。GOLDでその両方が外れます。SIGNATUREにはSTANDARDを無料付与し、まず半額を体験させてから上げる設計です。</a:t>
            </a:r>
            <a:endParaRPr lang="en-US" sz="10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00000"/>
        </a:solidFill>
      </p:bgPr>
    </p:bg>
    <p:spTree>
      <p:nvGrpSpPr>
        <p:cNvPr id="1" name=""/>
        <p:cNvGrpSpPr/>
        <p:nvPr/>
      </p:nvGrpSpPr>
      <p:grpSpPr>
        <a:xfrm>
          <a:off x="0" y="0"/>
          <a:ext cx="0" cy="0"/>
          <a:chOff x="0" y="0"/>
          <a:chExt cx="0" cy="0"/>
        </a:xfrm>
      </p:grpSpPr>
      <p:sp>
        <p:nvSpPr>
          <p:cNvPr id="2" name="Text 0"/>
          <p:cNvSpPr txBox="1"/>
          <p:nvPr/>
        </p:nvSpPr>
        <p:spPr>
          <a:xfrm>
            <a:off x="566928" y="310896"/>
            <a:ext cx="11027664" cy="237744"/>
          </a:xfrm>
          <a:prstGeom prst="rect">
            <a:avLst/>
          </a:prstGeom>
          <a:noFill/>
          <a:ln/>
        </p:spPr>
        <p:txBody>
          <a:bodyPr wrap="square" lIns="0" tIns="0" rIns="0" bIns="0" rtlCol="0" anchor="ctr"/>
          <a:lstStyle/>
          <a:p>
            <a:pPr indent="0" marL="0">
              <a:buNone/>
            </a:pPr>
            <a:r>
              <a:rPr lang="en-US" sz="1050" b="1" spc="300" kern="0" dirty="0">
                <a:solidFill>
                  <a:srgbClr val="C9A227"/>
                </a:solidFill>
                <a:latin typeface="Arial" pitchFamily="34" charset="0"/>
                <a:ea typeface="Arial" pitchFamily="34" charset="-122"/>
                <a:cs typeface="Arial" pitchFamily="34" charset="-120"/>
              </a:rPr>
              <a:t>COMMUNICATION</a:t>
            </a:r>
            <a:endParaRPr lang="en-US" sz="1050" dirty="0"/>
          </a:p>
        </p:txBody>
      </p:sp>
      <p:sp>
        <p:nvSpPr>
          <p:cNvPr id="3" name="Text 1"/>
          <p:cNvSpPr txBox="1"/>
          <p:nvPr/>
        </p:nvSpPr>
        <p:spPr>
          <a:xfrm>
            <a:off x="566928" y="566928"/>
            <a:ext cx="11027664" cy="548640"/>
          </a:xfrm>
          <a:prstGeom prst="rect">
            <a:avLst/>
          </a:prstGeom>
          <a:noFill/>
          <a:ln/>
        </p:spPr>
        <p:txBody>
          <a:bodyPr wrap="square" lIns="0" tIns="0" rIns="0" bIns="0" rtlCol="0" anchor="ctr"/>
          <a:lstStyle/>
          <a:p>
            <a:pPr indent="0" marL="0">
              <a:buNone/>
            </a:pPr>
            <a:r>
              <a:rPr lang="en-US" sz="2900" b="1" dirty="0">
                <a:solidFill>
                  <a:srgbClr val="F2EDE6"/>
                </a:solidFill>
                <a:latin typeface="Meiryo" pitchFamily="34" charset="0"/>
                <a:ea typeface="Meiryo" pitchFamily="34" charset="-122"/>
                <a:cs typeface="Meiryo" pitchFamily="34" charset="-120"/>
              </a:rPr>
              <a:t>「円」で表示しない</a:t>
            </a:r>
            <a:endParaRPr lang="en-US" sz="2900" dirty="0"/>
          </a:p>
        </p:txBody>
      </p:sp>
      <p:sp>
        <p:nvSpPr>
          <p:cNvPr id="4" name="Text 2"/>
          <p:cNvSpPr txBox="1"/>
          <p:nvPr/>
        </p:nvSpPr>
        <p:spPr>
          <a:xfrm>
            <a:off x="566928" y="1152144"/>
            <a:ext cx="11027664" cy="310896"/>
          </a:xfrm>
          <a:prstGeom prst="rect">
            <a:avLst/>
          </a:prstGeom>
          <a:noFill/>
          <a:ln/>
        </p:spPr>
        <p:txBody>
          <a:bodyPr wrap="square" lIns="0" tIns="0" rIns="0" bIns="0" rtlCol="0" anchor="ctr"/>
          <a:lstStyle/>
          <a:p>
            <a:pPr indent="0" marL="0">
              <a:buNone/>
            </a:pPr>
            <a:r>
              <a:rPr lang="en-US" sz="1300" dirty="0">
                <a:solidFill>
                  <a:srgbClr val="A2908C"/>
                </a:solidFill>
                <a:latin typeface="Meiryo" pitchFamily="34" charset="0"/>
                <a:ea typeface="Meiryo" pitchFamily="34" charset="-122"/>
                <a:cs typeface="Meiryo" pitchFamily="34" charset="-120"/>
              </a:rPr>
              <a:t>レートを公表せず、必要マイル数で見せる。航空会社のマイルと同じ方式です。</a:t>
            </a:r>
            <a:endParaRPr lang="en-US" sz="1300" dirty="0"/>
          </a:p>
        </p:txBody>
      </p:sp>
      <p:sp>
        <p:nvSpPr>
          <p:cNvPr id="5" name="Text 3"/>
          <p:cNvSpPr txBox="1"/>
          <p:nvPr/>
        </p:nvSpPr>
        <p:spPr>
          <a:xfrm>
            <a:off x="566928" y="6437376"/>
            <a:ext cx="4572000" cy="219456"/>
          </a:xfrm>
          <a:prstGeom prst="rect">
            <a:avLst/>
          </a:prstGeom>
          <a:noFill/>
          <a:ln/>
        </p:spPr>
        <p:txBody>
          <a:bodyPr wrap="square" lIns="0" tIns="0" rIns="0" bIns="0" rtlCol="0" anchor="ctr"/>
          <a:lstStyle/>
          <a:p>
            <a:pPr indent="0" marL="0">
              <a:buNone/>
            </a:pPr>
            <a:r>
              <a:rPr lang="en-US" sz="850" dirty="0">
                <a:solidFill>
                  <a:srgbClr val="6B5A5F"/>
                </a:solidFill>
                <a:latin typeface="Arial" pitchFamily="34" charset="0"/>
                <a:ea typeface="Arial" pitchFamily="34" charset="-122"/>
                <a:cs typeface="Arial" pitchFamily="34" charset="-120"/>
              </a:rPr>
              <a:t>WineBank CONFIDENTIAL</a:t>
            </a:r>
            <a:endParaRPr lang="en-US" sz="850" dirty="0"/>
          </a:p>
        </p:txBody>
      </p:sp>
      <p:sp>
        <p:nvSpPr>
          <p:cNvPr id="6" name="Shape 4"/>
          <p:cNvSpPr/>
          <p:nvPr/>
        </p:nvSpPr>
        <p:spPr>
          <a:xfrm>
            <a:off x="566928" y="1719072"/>
            <a:ext cx="5394960" cy="1371600"/>
          </a:xfrm>
          <a:prstGeom prst="roundRect">
            <a:avLst>
              <a:gd name="adj" fmla="val 4000"/>
            </a:avLst>
          </a:prstGeom>
          <a:solidFill>
            <a:srgbClr val="17111A"/>
          </a:solidFill>
          <a:ln w="12700">
            <a:solidFill>
              <a:srgbClr val="17111A"/>
            </a:solidFill>
            <a:prstDash val="solid"/>
          </a:ln>
          <a:effectLst>
            <a:outerShdw sx="100000" sy="100000" kx="0" ky="0" algn="bl" rotWithShape="0" blurRad="127000" dist="25400" dir="5400000">
              <a:srgbClr val="000000">
                <a:alpha val="35000"/>
              </a:srgbClr>
            </a:outerShdw>
          </a:effectLst>
        </p:spPr>
      </p:sp>
      <p:sp>
        <p:nvSpPr>
          <p:cNvPr id="7" name="Text 5"/>
          <p:cNvSpPr txBox="1"/>
          <p:nvPr/>
        </p:nvSpPr>
        <p:spPr>
          <a:xfrm>
            <a:off x="932688" y="1901952"/>
            <a:ext cx="4663440" cy="274320"/>
          </a:xfrm>
          <a:prstGeom prst="rect">
            <a:avLst/>
          </a:prstGeom>
          <a:noFill/>
          <a:ln/>
        </p:spPr>
        <p:txBody>
          <a:bodyPr wrap="square" lIns="0" tIns="0" rIns="0" bIns="0" rtlCol="0" anchor="ctr"/>
          <a:lstStyle/>
          <a:p>
            <a:pPr indent="0" marL="0">
              <a:buNone/>
            </a:pPr>
            <a:r>
              <a:rPr lang="en-US" sz="1200" b="1" dirty="0">
                <a:solidFill>
                  <a:srgbClr val="E0A458"/>
                </a:solidFill>
                <a:latin typeface="Meiryo" pitchFamily="34" charset="0"/>
                <a:ea typeface="Meiryo" pitchFamily="34" charset="-122"/>
                <a:cs typeface="Meiryo" pitchFamily="34" charset="-120"/>
              </a:rPr>
              <a:t>✕  レート表記</a:t>
            </a:r>
            <a:endParaRPr lang="en-US" sz="1200" dirty="0"/>
          </a:p>
        </p:txBody>
      </p:sp>
      <p:sp>
        <p:nvSpPr>
          <p:cNvPr id="8" name="Text 6"/>
          <p:cNvSpPr txBox="1"/>
          <p:nvPr/>
        </p:nvSpPr>
        <p:spPr>
          <a:xfrm>
            <a:off x="932688" y="2249424"/>
            <a:ext cx="4663440" cy="640080"/>
          </a:xfrm>
          <a:prstGeom prst="rect">
            <a:avLst/>
          </a:prstGeom>
          <a:noFill/>
          <a:ln/>
        </p:spPr>
        <p:txBody>
          <a:bodyPr wrap="square" lIns="0" tIns="0" rIns="0" bIns="0" rtlCol="0" anchor="ctr"/>
          <a:lstStyle/>
          <a:p>
            <a:pPr indent="0" marL="0">
              <a:buNone/>
            </a:pPr>
            <a:r>
              <a:rPr lang="en-US" sz="1600" b="1" dirty="0">
                <a:solidFill>
                  <a:srgbClr val="F2EDE6"/>
                </a:solidFill>
                <a:latin typeface="Meiryo" pitchFamily="34" charset="0"/>
                <a:ea typeface="Meiryo" pitchFamily="34" charset="-122"/>
                <a:cs typeface="Meiryo" pitchFamily="34" charset="-120"/>
              </a:rPr>
              <a:t>「グランメゾンは 1マイル＝0.5円」</a:t>
            </a:r>
            <a:endParaRPr lang="en-US" sz="1600" dirty="0"/>
          </a:p>
        </p:txBody>
      </p:sp>
      <p:sp>
        <p:nvSpPr>
          <p:cNvPr id="9" name="Shape 7"/>
          <p:cNvSpPr/>
          <p:nvPr/>
        </p:nvSpPr>
        <p:spPr>
          <a:xfrm>
            <a:off x="6199632" y="1719072"/>
            <a:ext cx="5394960" cy="1371600"/>
          </a:xfrm>
          <a:prstGeom prst="roundRect">
            <a:avLst>
              <a:gd name="adj" fmla="val 4000"/>
            </a:avLst>
          </a:prstGeom>
          <a:solidFill>
            <a:srgbClr val="261A24"/>
          </a:solidFill>
          <a:ln w="12700">
            <a:solidFill>
              <a:srgbClr val="261A24"/>
            </a:solidFill>
            <a:prstDash val="solid"/>
          </a:ln>
          <a:effectLst>
            <a:outerShdw sx="100000" sy="100000" kx="0" ky="0" algn="bl" rotWithShape="0" blurRad="127000" dist="25400" dir="5400000">
              <a:srgbClr val="000000">
                <a:alpha val="35000"/>
              </a:srgbClr>
            </a:outerShdw>
          </a:effectLst>
        </p:spPr>
      </p:sp>
      <p:sp>
        <p:nvSpPr>
          <p:cNvPr id="10" name="Text 8"/>
          <p:cNvSpPr txBox="1"/>
          <p:nvPr/>
        </p:nvSpPr>
        <p:spPr>
          <a:xfrm>
            <a:off x="6565392" y="1901952"/>
            <a:ext cx="4663440" cy="274320"/>
          </a:xfrm>
          <a:prstGeom prst="rect">
            <a:avLst/>
          </a:prstGeom>
          <a:noFill/>
          <a:ln/>
        </p:spPr>
        <p:txBody>
          <a:bodyPr wrap="square" lIns="0" tIns="0" rIns="0" bIns="0" rtlCol="0" anchor="ctr"/>
          <a:lstStyle/>
          <a:p>
            <a:pPr indent="0" marL="0">
              <a:buNone/>
            </a:pPr>
            <a:r>
              <a:rPr lang="en-US" sz="1200" b="1" dirty="0">
                <a:solidFill>
                  <a:srgbClr val="7FD1AE"/>
                </a:solidFill>
                <a:latin typeface="Meiryo" pitchFamily="34" charset="0"/>
                <a:ea typeface="Meiryo" pitchFamily="34" charset="-122"/>
                <a:cs typeface="Meiryo" pitchFamily="34" charset="-120"/>
              </a:rPr>
              <a:t>◯  必要マイル表記</a:t>
            </a:r>
            <a:endParaRPr lang="en-US" sz="1200" dirty="0"/>
          </a:p>
        </p:txBody>
      </p:sp>
      <p:sp>
        <p:nvSpPr>
          <p:cNvPr id="11" name="Text 9"/>
          <p:cNvSpPr txBox="1"/>
          <p:nvPr/>
        </p:nvSpPr>
        <p:spPr>
          <a:xfrm>
            <a:off x="6565392" y="2249424"/>
            <a:ext cx="4663440" cy="640080"/>
          </a:xfrm>
          <a:prstGeom prst="rect">
            <a:avLst/>
          </a:prstGeom>
          <a:noFill/>
          <a:ln/>
        </p:spPr>
        <p:txBody>
          <a:bodyPr wrap="square" lIns="0" tIns="0" rIns="0" bIns="0" rtlCol="0" anchor="ctr"/>
          <a:lstStyle/>
          <a:p>
            <a:pPr indent="0" marL="0">
              <a:buNone/>
            </a:pPr>
            <a:r>
              <a:rPr lang="en-US" sz="1600" b="1" dirty="0">
                <a:solidFill>
                  <a:srgbClr val="F2EDE6"/>
                </a:solidFill>
                <a:latin typeface="Meiryo" pitchFamily="34" charset="0"/>
                <a:ea typeface="Meiryo" pitchFamily="34" charset="-122"/>
                <a:cs typeface="Meiryo" pitchFamily="34" charset="-120"/>
              </a:rPr>
              <a:t>「グランメゾン ディナー（1名）</a:t>
            </a:r>
            <a:endParaRPr lang="en-US" sz="1600" dirty="0"/>
          </a:p>
          <a:p>
            <a:pPr indent="0" marL="0">
              <a:buNone/>
            </a:pPr>
            <a:r>
              <a:rPr lang="en-US" sz="1600" b="1" dirty="0">
                <a:solidFill>
                  <a:srgbClr val="F2EDE6"/>
                </a:solidFill>
                <a:latin typeface="Meiryo" pitchFamily="34" charset="0"/>
                <a:ea typeface="Meiryo" pitchFamily="34" charset="-122"/>
                <a:cs typeface="Meiryo" pitchFamily="34" charset="-120"/>
              </a:rPr>
              <a:t>＝ 30,000マイル」</a:t>
            </a:r>
            <a:endParaRPr lang="en-US" sz="1600" dirty="0"/>
          </a:p>
        </p:txBody>
      </p:sp>
      <p:sp>
        <p:nvSpPr>
          <p:cNvPr id="12" name="Shape 10"/>
          <p:cNvSpPr/>
          <p:nvPr/>
        </p:nvSpPr>
        <p:spPr>
          <a:xfrm>
            <a:off x="566928" y="3328416"/>
            <a:ext cx="3529584" cy="1920240"/>
          </a:xfrm>
          <a:prstGeom prst="roundRect">
            <a:avLst>
              <a:gd name="adj" fmla="val 2857"/>
            </a:avLst>
          </a:prstGeom>
          <a:solidFill>
            <a:srgbClr val="17111A"/>
          </a:solidFill>
          <a:ln w="12700">
            <a:solidFill>
              <a:srgbClr val="17111A"/>
            </a:solidFill>
            <a:prstDash val="solid"/>
          </a:ln>
          <a:effectLst>
            <a:outerShdw sx="100000" sy="100000" kx="0" ky="0" algn="bl" rotWithShape="0" blurRad="127000" dist="25400" dir="5400000">
              <a:srgbClr val="000000">
                <a:alpha val="35000"/>
              </a:srgbClr>
            </a:outerShdw>
          </a:effectLst>
        </p:spPr>
      </p:sp>
      <p:sp>
        <p:nvSpPr>
          <p:cNvPr id="13" name="Shape 11"/>
          <p:cNvSpPr/>
          <p:nvPr/>
        </p:nvSpPr>
        <p:spPr>
          <a:xfrm>
            <a:off x="841248" y="3547872"/>
            <a:ext cx="329184" cy="329184"/>
          </a:xfrm>
          <a:prstGeom prst="ellipse">
            <a:avLst/>
          </a:prstGeom>
          <a:solidFill>
            <a:srgbClr val="C9A227"/>
          </a:solidFill>
          <a:ln w="12700">
            <a:solidFill>
              <a:srgbClr val="C9A227"/>
            </a:solidFill>
            <a:prstDash val="solid"/>
          </a:ln>
        </p:spPr>
      </p:sp>
      <p:sp>
        <p:nvSpPr>
          <p:cNvPr id="14" name="Text 12"/>
          <p:cNvSpPr txBox="1"/>
          <p:nvPr/>
        </p:nvSpPr>
        <p:spPr>
          <a:xfrm>
            <a:off x="841248" y="3547872"/>
            <a:ext cx="329184" cy="329184"/>
          </a:xfrm>
          <a:prstGeom prst="rect">
            <a:avLst/>
          </a:prstGeom>
          <a:noFill/>
          <a:ln/>
        </p:spPr>
        <p:txBody>
          <a:bodyPr wrap="square" lIns="0" tIns="0" rIns="0" bIns="0" rtlCol="0" anchor="ctr"/>
          <a:lstStyle/>
          <a:p>
            <a:pPr algn="ctr" indent="0" marL="0">
              <a:buNone/>
            </a:pPr>
            <a:r>
              <a:rPr lang="en-US" sz="1300" b="1" dirty="0">
                <a:solidFill>
                  <a:srgbClr val="000000"/>
                </a:solidFill>
                <a:latin typeface="Arial" pitchFamily="34" charset="0"/>
                <a:ea typeface="Arial" pitchFamily="34" charset="-122"/>
                <a:cs typeface="Arial" pitchFamily="34" charset="-120"/>
              </a:rPr>
              <a:t>1</a:t>
            </a:r>
            <a:endParaRPr lang="en-US" sz="1300" dirty="0"/>
          </a:p>
        </p:txBody>
      </p:sp>
      <p:sp>
        <p:nvSpPr>
          <p:cNvPr id="15" name="Text 13"/>
          <p:cNvSpPr txBox="1"/>
          <p:nvPr/>
        </p:nvSpPr>
        <p:spPr>
          <a:xfrm>
            <a:off x="1261872" y="3566160"/>
            <a:ext cx="2615184" cy="292608"/>
          </a:xfrm>
          <a:prstGeom prst="rect">
            <a:avLst/>
          </a:prstGeom>
          <a:noFill/>
          <a:ln/>
        </p:spPr>
        <p:txBody>
          <a:bodyPr wrap="square" lIns="0" tIns="0" rIns="0" bIns="0" rtlCol="0" anchor="ctr"/>
          <a:lstStyle/>
          <a:p>
            <a:pPr indent="0" marL="0">
              <a:buNone/>
            </a:pPr>
            <a:r>
              <a:rPr lang="en-US" sz="1350" b="1" dirty="0">
                <a:solidFill>
                  <a:srgbClr val="E8CE78"/>
                </a:solidFill>
                <a:latin typeface="Meiryo" pitchFamily="34" charset="0"/>
                <a:ea typeface="Meiryo" pitchFamily="34" charset="-122"/>
                <a:cs typeface="Meiryo" pitchFamily="34" charset="-120"/>
              </a:rPr>
              <a:t>レートの議論が消える</a:t>
            </a:r>
            <a:endParaRPr lang="en-US" sz="1350" dirty="0"/>
          </a:p>
        </p:txBody>
      </p:sp>
      <p:sp>
        <p:nvSpPr>
          <p:cNvPr id="16" name="Text 14"/>
          <p:cNvSpPr txBox="1"/>
          <p:nvPr/>
        </p:nvSpPr>
        <p:spPr>
          <a:xfrm>
            <a:off x="841248" y="4023360"/>
            <a:ext cx="2980944" cy="1097280"/>
          </a:xfrm>
          <a:prstGeom prst="rect">
            <a:avLst/>
          </a:prstGeom>
          <a:noFill/>
          <a:ln/>
        </p:spPr>
        <p:txBody>
          <a:bodyPr wrap="square" lIns="0" tIns="0" rIns="0" bIns="0" rtlCol="0" anchor="ctr"/>
          <a:lstStyle/>
          <a:p>
            <a:pPr indent="0" marL="0">
              <a:lnSpc>
                <a:spcPts val="1800"/>
              </a:lnSpc>
              <a:buNone/>
            </a:pPr>
            <a:r>
              <a:rPr lang="en-US" sz="1150" dirty="0">
                <a:solidFill>
                  <a:srgbClr val="A2908C"/>
                </a:solidFill>
                <a:latin typeface="Meiryo" pitchFamily="34" charset="0"/>
                <a:ea typeface="Meiryo" pitchFamily="34" charset="-122"/>
                <a:cs typeface="Meiryo" pitchFamily="34" charset="-120"/>
              </a:rPr>
              <a:t>会員は「0.5円は損だ」ではなく「3万マイルで行ける」と考えます。マイルもディズニーもこの方式です。</a:t>
            </a:r>
            <a:endParaRPr lang="en-US" sz="1150" dirty="0"/>
          </a:p>
        </p:txBody>
      </p:sp>
      <p:sp>
        <p:nvSpPr>
          <p:cNvPr id="17" name="Shape 15"/>
          <p:cNvSpPr/>
          <p:nvPr/>
        </p:nvSpPr>
        <p:spPr>
          <a:xfrm>
            <a:off x="4352544" y="3328416"/>
            <a:ext cx="3529584" cy="1920240"/>
          </a:xfrm>
          <a:prstGeom prst="roundRect">
            <a:avLst>
              <a:gd name="adj" fmla="val 2857"/>
            </a:avLst>
          </a:prstGeom>
          <a:solidFill>
            <a:srgbClr val="17111A"/>
          </a:solidFill>
          <a:ln w="12700">
            <a:solidFill>
              <a:srgbClr val="17111A"/>
            </a:solidFill>
            <a:prstDash val="solid"/>
          </a:ln>
          <a:effectLst>
            <a:outerShdw sx="100000" sy="100000" kx="0" ky="0" algn="bl" rotWithShape="0" blurRad="127000" dist="25400" dir="5400000">
              <a:srgbClr val="000000">
                <a:alpha val="35000"/>
              </a:srgbClr>
            </a:outerShdw>
          </a:effectLst>
        </p:spPr>
      </p:sp>
      <p:sp>
        <p:nvSpPr>
          <p:cNvPr id="18" name="Shape 16"/>
          <p:cNvSpPr/>
          <p:nvPr/>
        </p:nvSpPr>
        <p:spPr>
          <a:xfrm>
            <a:off x="4626864" y="3547872"/>
            <a:ext cx="329184" cy="329184"/>
          </a:xfrm>
          <a:prstGeom prst="ellipse">
            <a:avLst/>
          </a:prstGeom>
          <a:solidFill>
            <a:srgbClr val="C9A227"/>
          </a:solidFill>
          <a:ln w="12700">
            <a:solidFill>
              <a:srgbClr val="C9A227"/>
            </a:solidFill>
            <a:prstDash val="solid"/>
          </a:ln>
        </p:spPr>
      </p:sp>
      <p:sp>
        <p:nvSpPr>
          <p:cNvPr id="19" name="Text 17"/>
          <p:cNvSpPr txBox="1"/>
          <p:nvPr/>
        </p:nvSpPr>
        <p:spPr>
          <a:xfrm>
            <a:off x="4626864" y="3547872"/>
            <a:ext cx="329184" cy="329184"/>
          </a:xfrm>
          <a:prstGeom prst="rect">
            <a:avLst/>
          </a:prstGeom>
          <a:noFill/>
          <a:ln/>
        </p:spPr>
        <p:txBody>
          <a:bodyPr wrap="square" lIns="0" tIns="0" rIns="0" bIns="0" rtlCol="0" anchor="ctr"/>
          <a:lstStyle/>
          <a:p>
            <a:pPr algn="ctr" indent="0" marL="0">
              <a:buNone/>
            </a:pPr>
            <a:r>
              <a:rPr lang="en-US" sz="1300" b="1" dirty="0">
                <a:solidFill>
                  <a:srgbClr val="000000"/>
                </a:solidFill>
                <a:latin typeface="Arial" pitchFamily="34" charset="0"/>
                <a:ea typeface="Arial" pitchFamily="34" charset="-122"/>
                <a:cs typeface="Arial" pitchFamily="34" charset="-120"/>
              </a:rPr>
              <a:t>2</a:t>
            </a:r>
            <a:endParaRPr lang="en-US" sz="1300" dirty="0"/>
          </a:p>
        </p:txBody>
      </p:sp>
      <p:sp>
        <p:nvSpPr>
          <p:cNvPr id="20" name="Text 18"/>
          <p:cNvSpPr txBox="1"/>
          <p:nvPr/>
        </p:nvSpPr>
        <p:spPr>
          <a:xfrm>
            <a:off x="5047488" y="3566160"/>
            <a:ext cx="2615184" cy="292608"/>
          </a:xfrm>
          <a:prstGeom prst="rect">
            <a:avLst/>
          </a:prstGeom>
          <a:noFill/>
          <a:ln/>
        </p:spPr>
        <p:txBody>
          <a:bodyPr wrap="square" lIns="0" tIns="0" rIns="0" bIns="0" rtlCol="0" anchor="ctr"/>
          <a:lstStyle/>
          <a:p>
            <a:pPr indent="0" marL="0">
              <a:buNone/>
            </a:pPr>
            <a:r>
              <a:rPr lang="en-US" sz="1350" b="1" dirty="0">
                <a:solidFill>
                  <a:srgbClr val="E8CE78"/>
                </a:solidFill>
                <a:latin typeface="Meiryo" pitchFamily="34" charset="0"/>
                <a:ea typeface="Meiryo" pitchFamily="34" charset="-122"/>
                <a:cs typeface="Meiryo" pitchFamily="34" charset="-120"/>
              </a:rPr>
              <a:t>有利誤認リスクが消える</a:t>
            </a:r>
            <a:endParaRPr lang="en-US" sz="1350" dirty="0"/>
          </a:p>
        </p:txBody>
      </p:sp>
      <p:sp>
        <p:nvSpPr>
          <p:cNvPr id="21" name="Text 19"/>
          <p:cNvSpPr txBox="1"/>
          <p:nvPr/>
        </p:nvSpPr>
        <p:spPr>
          <a:xfrm>
            <a:off x="4626864" y="4023360"/>
            <a:ext cx="2980944" cy="1097280"/>
          </a:xfrm>
          <a:prstGeom prst="rect">
            <a:avLst/>
          </a:prstGeom>
          <a:noFill/>
          <a:ln/>
        </p:spPr>
        <p:txBody>
          <a:bodyPr wrap="square" lIns="0" tIns="0" rIns="0" bIns="0" rtlCol="0" anchor="ctr"/>
          <a:lstStyle/>
          <a:p>
            <a:pPr indent="0" marL="0">
              <a:lnSpc>
                <a:spcPts val="1800"/>
              </a:lnSpc>
              <a:buNone/>
            </a:pPr>
            <a:r>
              <a:rPr lang="en-US" sz="1150" dirty="0">
                <a:solidFill>
                  <a:srgbClr val="A2908C"/>
                </a:solidFill>
                <a:latin typeface="Meiryo" pitchFamily="34" charset="0"/>
                <a:ea typeface="Meiryo" pitchFamily="34" charset="-122"/>
                <a:cs typeface="Meiryo" pitchFamily="34" charset="-120"/>
              </a:rPr>
              <a:t>「1マイル＝1円」と大書して特定店だけ0.5円という運用は景表法上グレーです。円換算を出さなければ争点になりません。</a:t>
            </a:r>
            <a:endParaRPr lang="en-US" sz="1150" dirty="0"/>
          </a:p>
        </p:txBody>
      </p:sp>
      <p:sp>
        <p:nvSpPr>
          <p:cNvPr id="22" name="Shape 20"/>
          <p:cNvSpPr/>
          <p:nvPr/>
        </p:nvSpPr>
        <p:spPr>
          <a:xfrm>
            <a:off x="8138160" y="3328416"/>
            <a:ext cx="3529584" cy="1920240"/>
          </a:xfrm>
          <a:prstGeom prst="roundRect">
            <a:avLst>
              <a:gd name="adj" fmla="val 2857"/>
            </a:avLst>
          </a:prstGeom>
          <a:solidFill>
            <a:srgbClr val="17111A"/>
          </a:solidFill>
          <a:ln w="12700">
            <a:solidFill>
              <a:srgbClr val="17111A"/>
            </a:solidFill>
            <a:prstDash val="solid"/>
          </a:ln>
          <a:effectLst>
            <a:outerShdw sx="100000" sy="100000" kx="0" ky="0" algn="bl" rotWithShape="0" blurRad="127000" dist="25400" dir="5400000">
              <a:srgbClr val="000000">
                <a:alpha val="35000"/>
              </a:srgbClr>
            </a:outerShdw>
          </a:effectLst>
        </p:spPr>
      </p:sp>
      <p:sp>
        <p:nvSpPr>
          <p:cNvPr id="23" name="Shape 21"/>
          <p:cNvSpPr/>
          <p:nvPr/>
        </p:nvSpPr>
        <p:spPr>
          <a:xfrm>
            <a:off x="8412480" y="3547872"/>
            <a:ext cx="329184" cy="329184"/>
          </a:xfrm>
          <a:prstGeom prst="ellipse">
            <a:avLst/>
          </a:prstGeom>
          <a:solidFill>
            <a:srgbClr val="C9A227"/>
          </a:solidFill>
          <a:ln w="12700">
            <a:solidFill>
              <a:srgbClr val="C9A227"/>
            </a:solidFill>
            <a:prstDash val="solid"/>
          </a:ln>
        </p:spPr>
      </p:sp>
      <p:sp>
        <p:nvSpPr>
          <p:cNvPr id="24" name="Text 22"/>
          <p:cNvSpPr txBox="1"/>
          <p:nvPr/>
        </p:nvSpPr>
        <p:spPr>
          <a:xfrm>
            <a:off x="8412480" y="3547872"/>
            <a:ext cx="329184" cy="329184"/>
          </a:xfrm>
          <a:prstGeom prst="rect">
            <a:avLst/>
          </a:prstGeom>
          <a:noFill/>
          <a:ln/>
        </p:spPr>
        <p:txBody>
          <a:bodyPr wrap="square" lIns="0" tIns="0" rIns="0" bIns="0" rtlCol="0" anchor="ctr"/>
          <a:lstStyle/>
          <a:p>
            <a:pPr algn="ctr" indent="0" marL="0">
              <a:buNone/>
            </a:pPr>
            <a:r>
              <a:rPr lang="en-US" sz="1300" b="1" dirty="0">
                <a:solidFill>
                  <a:srgbClr val="000000"/>
                </a:solidFill>
                <a:latin typeface="Arial" pitchFamily="34" charset="0"/>
                <a:ea typeface="Arial" pitchFamily="34" charset="-122"/>
                <a:cs typeface="Arial" pitchFamily="34" charset="-120"/>
              </a:rPr>
              <a:t>3</a:t>
            </a:r>
            <a:endParaRPr lang="en-US" sz="1300" dirty="0"/>
          </a:p>
        </p:txBody>
      </p:sp>
      <p:sp>
        <p:nvSpPr>
          <p:cNvPr id="25" name="Text 23"/>
          <p:cNvSpPr txBox="1"/>
          <p:nvPr/>
        </p:nvSpPr>
        <p:spPr>
          <a:xfrm>
            <a:off x="8833104" y="3566160"/>
            <a:ext cx="2615184" cy="292608"/>
          </a:xfrm>
          <a:prstGeom prst="rect">
            <a:avLst/>
          </a:prstGeom>
          <a:noFill/>
          <a:ln/>
        </p:spPr>
        <p:txBody>
          <a:bodyPr wrap="square" lIns="0" tIns="0" rIns="0" bIns="0" rtlCol="0" anchor="ctr"/>
          <a:lstStyle/>
          <a:p>
            <a:pPr indent="0" marL="0">
              <a:buNone/>
            </a:pPr>
            <a:r>
              <a:rPr lang="en-US" sz="1350" b="1" dirty="0">
                <a:solidFill>
                  <a:srgbClr val="E8CE78"/>
                </a:solidFill>
                <a:latin typeface="Meiryo" pitchFamily="34" charset="0"/>
                <a:ea typeface="Meiryo" pitchFamily="34" charset="-122"/>
                <a:cs typeface="Meiryo" pitchFamily="34" charset="-120"/>
              </a:rPr>
              <a:t>税務の説明が軽くなる</a:t>
            </a:r>
            <a:endParaRPr lang="en-US" sz="1350" dirty="0"/>
          </a:p>
        </p:txBody>
      </p:sp>
      <p:sp>
        <p:nvSpPr>
          <p:cNvPr id="26" name="Text 24"/>
          <p:cNvSpPr txBox="1"/>
          <p:nvPr/>
        </p:nvSpPr>
        <p:spPr>
          <a:xfrm>
            <a:off x="8412480" y="4023360"/>
            <a:ext cx="2980944" cy="1097280"/>
          </a:xfrm>
          <a:prstGeom prst="rect">
            <a:avLst/>
          </a:prstGeom>
          <a:noFill/>
          <a:ln/>
        </p:spPr>
        <p:txBody>
          <a:bodyPr wrap="square" lIns="0" tIns="0" rIns="0" bIns="0" rtlCol="0" anchor="ctr"/>
          <a:lstStyle/>
          <a:p>
            <a:pPr indent="0" marL="0">
              <a:lnSpc>
                <a:spcPts val="1800"/>
              </a:lnSpc>
              <a:buNone/>
            </a:pPr>
            <a:r>
              <a:rPr lang="en-US" sz="1150" dirty="0">
                <a:solidFill>
                  <a:srgbClr val="A2908C"/>
                </a:solidFill>
                <a:latin typeface="Meiryo" pitchFamily="34" charset="0"/>
                <a:ea typeface="Meiryo" pitchFamily="34" charset="-122"/>
                <a:cs typeface="Meiryo" pitchFamily="34" charset="-120"/>
              </a:rPr>
              <a:t>円建ての金銭的価値を明示しないほうが、クレジットカードのマイレージ還元と同じ扱いで説明しやすくなります。</a:t>
            </a:r>
            <a:endParaRPr lang="en-US" sz="1150" dirty="0"/>
          </a:p>
        </p:txBody>
      </p:sp>
      <p:sp>
        <p:nvSpPr>
          <p:cNvPr id="27" name="Shape 25"/>
          <p:cNvSpPr/>
          <p:nvPr/>
        </p:nvSpPr>
        <p:spPr>
          <a:xfrm>
            <a:off x="566928" y="5449824"/>
            <a:ext cx="11027664" cy="603504"/>
          </a:xfrm>
          <a:prstGeom prst="roundRect">
            <a:avLst>
              <a:gd name="adj" fmla="val 9091"/>
            </a:avLst>
          </a:prstGeom>
          <a:solidFill>
            <a:srgbClr val="7B1E3A"/>
          </a:solidFill>
          <a:ln w="12700">
            <a:solidFill>
              <a:srgbClr val="7B1E3A"/>
            </a:solidFill>
            <a:prstDash val="solid"/>
          </a:ln>
          <a:effectLst>
            <a:outerShdw sx="100000" sy="100000" kx="0" ky="0" algn="bl" rotWithShape="0" blurRad="127000" dist="25400" dir="5400000">
              <a:srgbClr val="000000">
                <a:alpha val="35000"/>
              </a:srgbClr>
            </a:outerShdw>
          </a:effectLst>
        </p:spPr>
      </p:sp>
      <p:sp>
        <p:nvSpPr>
          <p:cNvPr id="28" name="Text 26"/>
          <p:cNvSpPr txBox="1"/>
          <p:nvPr/>
        </p:nvSpPr>
        <p:spPr>
          <a:xfrm>
            <a:off x="978408" y="5596128"/>
            <a:ext cx="10204704" cy="329184"/>
          </a:xfrm>
          <a:prstGeom prst="rect">
            <a:avLst/>
          </a:prstGeom>
          <a:noFill/>
          <a:ln/>
        </p:spPr>
        <p:txBody>
          <a:bodyPr wrap="square" lIns="0" tIns="0" rIns="0" bIns="0" rtlCol="0" anchor="ctr"/>
          <a:lstStyle/>
          <a:p>
            <a:pPr algn="ctr" indent="0" marL="0">
              <a:buNone/>
            </a:pPr>
            <a:r>
              <a:rPr lang="en-US" sz="1450" b="1" dirty="0">
                <a:solidFill>
                  <a:srgbClr val="E8CE78"/>
                </a:solidFill>
                <a:latin typeface="Meiryo" pitchFamily="34" charset="0"/>
                <a:ea typeface="Meiryo" pitchFamily="34" charset="-122"/>
                <a:cs typeface="Meiryo" pitchFamily="34" charset="-120"/>
              </a:rPr>
              <a:t>会員には「5%還元」とだけ伝え、交換表は「◯◯マイルで何ができるか」で見せる。</a:t>
            </a:r>
            <a:endParaRPr lang="en-US" sz="14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00000"/>
        </a:solidFill>
      </p:bgPr>
    </p:bg>
    <p:spTree>
      <p:nvGrpSpPr>
        <p:cNvPr id="1" name=""/>
        <p:cNvGrpSpPr/>
        <p:nvPr/>
      </p:nvGrpSpPr>
      <p:grpSpPr>
        <a:xfrm>
          <a:off x="0" y="0"/>
          <a:ext cx="0" cy="0"/>
          <a:chOff x="0" y="0"/>
          <a:chExt cx="0" cy="0"/>
        </a:xfrm>
      </p:grpSpPr>
      <p:sp>
        <p:nvSpPr>
          <p:cNvPr id="2" name="Text 0"/>
          <p:cNvSpPr txBox="1"/>
          <p:nvPr/>
        </p:nvSpPr>
        <p:spPr>
          <a:xfrm>
            <a:off x="566928" y="310896"/>
            <a:ext cx="11027664" cy="237744"/>
          </a:xfrm>
          <a:prstGeom prst="rect">
            <a:avLst/>
          </a:prstGeom>
          <a:noFill/>
          <a:ln/>
        </p:spPr>
        <p:txBody>
          <a:bodyPr wrap="square" lIns="0" tIns="0" rIns="0" bIns="0" rtlCol="0" anchor="ctr"/>
          <a:lstStyle/>
          <a:p>
            <a:pPr indent="0" marL="0">
              <a:buNone/>
            </a:pPr>
            <a:r>
              <a:rPr lang="en-US" sz="1050" b="1" spc="300" kern="0" dirty="0">
                <a:solidFill>
                  <a:srgbClr val="C9A227"/>
                </a:solidFill>
                <a:latin typeface="Arial" pitchFamily="34" charset="0"/>
                <a:ea typeface="Arial" pitchFamily="34" charset="-122"/>
                <a:cs typeface="Arial" pitchFamily="34" charset="-120"/>
              </a:rPr>
              <a:t>EXIT</a:t>
            </a:r>
            <a:endParaRPr lang="en-US" sz="1050" dirty="0"/>
          </a:p>
        </p:txBody>
      </p:sp>
      <p:sp>
        <p:nvSpPr>
          <p:cNvPr id="3" name="Text 1"/>
          <p:cNvSpPr txBox="1"/>
          <p:nvPr/>
        </p:nvSpPr>
        <p:spPr>
          <a:xfrm>
            <a:off x="566928" y="566928"/>
            <a:ext cx="11027664" cy="548640"/>
          </a:xfrm>
          <a:prstGeom prst="rect">
            <a:avLst/>
          </a:prstGeom>
          <a:noFill/>
          <a:ln/>
        </p:spPr>
        <p:txBody>
          <a:bodyPr wrap="square" lIns="0" tIns="0" rIns="0" bIns="0" rtlCol="0" anchor="ctr"/>
          <a:lstStyle/>
          <a:p>
            <a:pPr indent="0" marL="0">
              <a:buNone/>
            </a:pPr>
            <a:r>
              <a:rPr lang="en-US" sz="2900" b="1" dirty="0">
                <a:solidFill>
                  <a:srgbClr val="F2EDE6"/>
                </a:solidFill>
                <a:latin typeface="Meiryo" pitchFamily="34" charset="0"/>
                <a:ea typeface="Meiryo" pitchFamily="34" charset="-122"/>
                <a:cs typeface="Meiryo" pitchFamily="34" charset="-120"/>
              </a:rPr>
              <a:t>出口設計：縛らない。それでも取りこぼさない。</a:t>
            </a:r>
            <a:endParaRPr lang="en-US" sz="2900" dirty="0"/>
          </a:p>
        </p:txBody>
      </p:sp>
      <p:sp>
        <p:nvSpPr>
          <p:cNvPr id="4" name="Text 2"/>
          <p:cNvSpPr txBox="1"/>
          <p:nvPr/>
        </p:nvSpPr>
        <p:spPr>
          <a:xfrm>
            <a:off x="566928" y="1152144"/>
            <a:ext cx="11027664" cy="310896"/>
          </a:xfrm>
          <a:prstGeom prst="rect">
            <a:avLst/>
          </a:prstGeom>
          <a:noFill/>
          <a:ln/>
        </p:spPr>
        <p:txBody>
          <a:bodyPr wrap="square" lIns="0" tIns="0" rIns="0" bIns="0" rtlCol="0" anchor="ctr"/>
          <a:lstStyle/>
          <a:p>
            <a:pPr indent="0" marL="0">
              <a:buNone/>
            </a:pPr>
            <a:r>
              <a:rPr lang="en-US" sz="1300" dirty="0">
                <a:solidFill>
                  <a:srgbClr val="A2908C"/>
                </a:solidFill>
                <a:latin typeface="Meiryo" pitchFamily="34" charset="0"/>
                <a:ea typeface="Meiryo" pitchFamily="34" charset="-122"/>
                <a:cs typeface="Meiryo" pitchFamily="34" charset="-120"/>
              </a:rPr>
              <a:t>専属専任で縛るのをやめ、成功報酬を契約終了時の精算に一本化します。</a:t>
            </a:r>
            <a:endParaRPr lang="en-US" sz="1300" dirty="0"/>
          </a:p>
        </p:txBody>
      </p:sp>
      <p:sp>
        <p:nvSpPr>
          <p:cNvPr id="5" name="Text 3"/>
          <p:cNvSpPr txBox="1"/>
          <p:nvPr/>
        </p:nvSpPr>
        <p:spPr>
          <a:xfrm>
            <a:off x="566928" y="6437376"/>
            <a:ext cx="4572000" cy="219456"/>
          </a:xfrm>
          <a:prstGeom prst="rect">
            <a:avLst/>
          </a:prstGeom>
          <a:noFill/>
          <a:ln/>
        </p:spPr>
        <p:txBody>
          <a:bodyPr wrap="square" lIns="0" tIns="0" rIns="0" bIns="0" rtlCol="0" anchor="ctr"/>
          <a:lstStyle/>
          <a:p>
            <a:pPr indent="0" marL="0">
              <a:buNone/>
            </a:pPr>
            <a:r>
              <a:rPr lang="en-US" sz="850" dirty="0">
                <a:solidFill>
                  <a:srgbClr val="6B5A5F"/>
                </a:solidFill>
                <a:latin typeface="Arial" pitchFamily="34" charset="0"/>
                <a:ea typeface="Arial" pitchFamily="34" charset="-122"/>
                <a:cs typeface="Arial" pitchFamily="34" charset="-120"/>
              </a:rPr>
              <a:t>WineBank CONFIDENTIAL</a:t>
            </a:r>
            <a:endParaRPr lang="en-US" sz="850" dirty="0"/>
          </a:p>
        </p:txBody>
      </p:sp>
      <p:sp>
        <p:nvSpPr>
          <p:cNvPr id="6" name="Shape 4"/>
          <p:cNvSpPr/>
          <p:nvPr/>
        </p:nvSpPr>
        <p:spPr>
          <a:xfrm>
            <a:off x="566928" y="1645920"/>
            <a:ext cx="5394960" cy="2194560"/>
          </a:xfrm>
          <a:prstGeom prst="roundRect">
            <a:avLst>
              <a:gd name="adj" fmla="val 2500"/>
            </a:avLst>
          </a:prstGeom>
          <a:solidFill>
            <a:srgbClr val="261A24"/>
          </a:solidFill>
          <a:ln w="12700">
            <a:solidFill>
              <a:srgbClr val="261A24"/>
            </a:solidFill>
            <a:prstDash val="solid"/>
          </a:ln>
          <a:effectLst>
            <a:outerShdw sx="100000" sy="100000" kx="0" ky="0" algn="bl" rotWithShape="0" blurRad="127000" dist="25400" dir="5400000">
              <a:srgbClr val="000000">
                <a:alpha val="35000"/>
              </a:srgbClr>
            </a:outerShdw>
          </a:effectLst>
        </p:spPr>
      </p:sp>
      <p:sp>
        <p:nvSpPr>
          <p:cNvPr id="7" name="Text 5"/>
          <p:cNvSpPr txBox="1"/>
          <p:nvPr/>
        </p:nvSpPr>
        <p:spPr>
          <a:xfrm>
            <a:off x="932688" y="1828800"/>
            <a:ext cx="4663440" cy="292608"/>
          </a:xfrm>
          <a:prstGeom prst="rect">
            <a:avLst/>
          </a:prstGeom>
          <a:noFill/>
          <a:ln/>
        </p:spPr>
        <p:txBody>
          <a:bodyPr wrap="square" lIns="0" tIns="0" rIns="0" bIns="0" rtlCol="0" anchor="ctr"/>
          <a:lstStyle/>
          <a:p>
            <a:pPr indent="0" marL="0">
              <a:buNone/>
            </a:pPr>
            <a:r>
              <a:rPr lang="en-US" sz="1500" b="1" dirty="0">
                <a:solidFill>
                  <a:srgbClr val="E8CE78"/>
                </a:solidFill>
                <a:latin typeface="Meiryo" pitchFamily="34" charset="0"/>
                <a:ea typeface="Meiryo" pitchFamily="34" charset="-122"/>
                <a:cs typeface="Meiryo" pitchFamily="34" charset="-120"/>
              </a:rPr>
              <a:t>精算のルール</a:t>
            </a:r>
            <a:endParaRPr lang="en-US" sz="1500" dirty="0"/>
          </a:p>
        </p:txBody>
      </p:sp>
      <p:sp>
        <p:nvSpPr>
          <p:cNvPr id="8" name="Text 6"/>
          <p:cNvSpPr txBox="1"/>
          <p:nvPr/>
        </p:nvSpPr>
        <p:spPr>
          <a:xfrm>
            <a:off x="932688" y="2231136"/>
            <a:ext cx="1051560" cy="274320"/>
          </a:xfrm>
          <a:prstGeom prst="rect">
            <a:avLst/>
          </a:prstGeom>
          <a:noFill/>
          <a:ln/>
        </p:spPr>
        <p:txBody>
          <a:bodyPr wrap="square" lIns="0" tIns="0" rIns="0" bIns="0" rtlCol="0" anchor="ctr"/>
          <a:lstStyle/>
          <a:p>
            <a:pPr indent="0" marL="0">
              <a:buNone/>
            </a:pPr>
            <a:r>
              <a:rPr lang="en-US" sz="1100" b="1" dirty="0">
                <a:solidFill>
                  <a:srgbClr val="C9A227"/>
                </a:solidFill>
                <a:latin typeface="Meiryo" pitchFamily="34" charset="0"/>
                <a:ea typeface="Meiryo" pitchFamily="34" charset="-122"/>
                <a:cs typeface="Meiryo" pitchFamily="34" charset="-120"/>
              </a:rPr>
              <a:t>基準</a:t>
            </a:r>
            <a:endParaRPr lang="en-US" sz="1100" dirty="0"/>
          </a:p>
        </p:txBody>
      </p:sp>
      <p:sp>
        <p:nvSpPr>
          <p:cNvPr id="9" name="Text 7"/>
          <p:cNvSpPr txBox="1"/>
          <p:nvPr/>
        </p:nvSpPr>
        <p:spPr>
          <a:xfrm>
            <a:off x="2029968" y="2231136"/>
            <a:ext cx="3566160" cy="274320"/>
          </a:xfrm>
          <a:prstGeom prst="rect">
            <a:avLst/>
          </a:prstGeom>
          <a:noFill/>
          <a:ln/>
        </p:spPr>
        <p:txBody>
          <a:bodyPr wrap="square" lIns="0" tIns="0" rIns="0" bIns="0" rtlCol="0" anchor="ctr"/>
          <a:lstStyle/>
          <a:p>
            <a:pPr indent="0" marL="0">
              <a:buNone/>
            </a:pPr>
            <a:r>
              <a:rPr lang="en-US" sz="1100" dirty="0">
                <a:solidFill>
                  <a:srgbClr val="A2908C"/>
                </a:solidFill>
                <a:latin typeface="Meiryo" pitchFamily="34" charset="0"/>
                <a:ea typeface="Meiryo" pitchFamily="34" charset="-122"/>
                <a:cs typeface="Meiryo" pitchFamily="34" charset="-120"/>
              </a:rPr>
              <a:t>売却価格ではなく、当社のLiv-ex連動評価額</a:t>
            </a:r>
            <a:endParaRPr lang="en-US" sz="1100" dirty="0"/>
          </a:p>
        </p:txBody>
      </p:sp>
      <p:sp>
        <p:nvSpPr>
          <p:cNvPr id="10" name="Text 8"/>
          <p:cNvSpPr txBox="1"/>
          <p:nvPr/>
        </p:nvSpPr>
        <p:spPr>
          <a:xfrm>
            <a:off x="932688" y="2615184"/>
            <a:ext cx="1051560" cy="274320"/>
          </a:xfrm>
          <a:prstGeom prst="rect">
            <a:avLst/>
          </a:prstGeom>
          <a:noFill/>
          <a:ln/>
        </p:spPr>
        <p:txBody>
          <a:bodyPr wrap="square" lIns="0" tIns="0" rIns="0" bIns="0" rtlCol="0" anchor="ctr"/>
          <a:lstStyle/>
          <a:p>
            <a:pPr indent="0" marL="0">
              <a:buNone/>
            </a:pPr>
            <a:r>
              <a:rPr lang="en-US" sz="1100" b="1" dirty="0">
                <a:solidFill>
                  <a:srgbClr val="C9A227"/>
                </a:solidFill>
                <a:latin typeface="Meiryo" pitchFamily="34" charset="0"/>
                <a:ea typeface="Meiryo" pitchFamily="34" charset="-122"/>
                <a:cs typeface="Meiryo" pitchFamily="34" charset="-120"/>
              </a:rPr>
              <a:t>時点</a:t>
            </a:r>
            <a:endParaRPr lang="en-US" sz="1100" dirty="0"/>
          </a:p>
        </p:txBody>
      </p:sp>
      <p:sp>
        <p:nvSpPr>
          <p:cNvPr id="11" name="Text 9"/>
          <p:cNvSpPr txBox="1"/>
          <p:nvPr/>
        </p:nvSpPr>
        <p:spPr>
          <a:xfrm>
            <a:off x="2029968" y="2615184"/>
            <a:ext cx="3566160" cy="274320"/>
          </a:xfrm>
          <a:prstGeom prst="rect">
            <a:avLst/>
          </a:prstGeom>
          <a:noFill/>
          <a:ln/>
        </p:spPr>
        <p:txBody>
          <a:bodyPr wrap="square" lIns="0" tIns="0" rIns="0" bIns="0" rtlCol="0" anchor="ctr"/>
          <a:lstStyle/>
          <a:p>
            <a:pPr indent="0" marL="0">
              <a:buNone/>
            </a:pPr>
            <a:r>
              <a:rPr lang="en-US" sz="1100" dirty="0">
                <a:solidFill>
                  <a:srgbClr val="A2908C"/>
                </a:solidFill>
                <a:latin typeface="Meiryo" pitchFamily="34" charset="0"/>
                <a:ea typeface="Meiryo" pitchFamily="34" charset="-122"/>
                <a:cs typeface="Meiryo" pitchFamily="34" charset="-120"/>
              </a:rPr>
              <a:t>管理契約の終了時（売却・引取・転換のいずれでも）</a:t>
            </a:r>
            <a:endParaRPr lang="en-US" sz="1100" dirty="0"/>
          </a:p>
        </p:txBody>
      </p:sp>
      <p:sp>
        <p:nvSpPr>
          <p:cNvPr id="12" name="Text 10"/>
          <p:cNvSpPr txBox="1"/>
          <p:nvPr/>
        </p:nvSpPr>
        <p:spPr>
          <a:xfrm>
            <a:off x="932688" y="2999232"/>
            <a:ext cx="1051560" cy="274320"/>
          </a:xfrm>
          <a:prstGeom prst="rect">
            <a:avLst/>
          </a:prstGeom>
          <a:noFill/>
          <a:ln/>
        </p:spPr>
        <p:txBody>
          <a:bodyPr wrap="square" lIns="0" tIns="0" rIns="0" bIns="0" rtlCol="0" anchor="ctr"/>
          <a:lstStyle/>
          <a:p>
            <a:pPr indent="0" marL="0">
              <a:buNone/>
            </a:pPr>
            <a:r>
              <a:rPr lang="en-US" sz="1100" b="1" dirty="0">
                <a:solidFill>
                  <a:srgbClr val="C9A227"/>
                </a:solidFill>
                <a:latin typeface="Meiryo" pitchFamily="34" charset="0"/>
                <a:ea typeface="Meiryo" pitchFamily="34" charset="-122"/>
                <a:cs typeface="Meiryo" pitchFamily="34" charset="-120"/>
              </a:rPr>
              <a:t>料率</a:t>
            </a:r>
            <a:endParaRPr lang="en-US" sz="1100" dirty="0"/>
          </a:p>
        </p:txBody>
      </p:sp>
      <p:sp>
        <p:nvSpPr>
          <p:cNvPr id="13" name="Text 11"/>
          <p:cNvSpPr txBox="1"/>
          <p:nvPr/>
        </p:nvSpPr>
        <p:spPr>
          <a:xfrm>
            <a:off x="2029968" y="2999232"/>
            <a:ext cx="3566160" cy="274320"/>
          </a:xfrm>
          <a:prstGeom prst="rect">
            <a:avLst/>
          </a:prstGeom>
          <a:noFill/>
          <a:ln/>
        </p:spPr>
        <p:txBody>
          <a:bodyPr wrap="square" lIns="0" tIns="0" rIns="0" bIns="0" rtlCol="0" anchor="ctr"/>
          <a:lstStyle/>
          <a:p>
            <a:pPr indent="0" marL="0">
              <a:buNone/>
            </a:pPr>
            <a:r>
              <a:rPr lang="en-US" sz="1100" dirty="0">
                <a:solidFill>
                  <a:srgbClr val="A2908C"/>
                </a:solidFill>
                <a:latin typeface="Meiryo" pitchFamily="34" charset="0"/>
                <a:ea typeface="Meiryo" pitchFamily="34" charset="-122"/>
                <a:cs typeface="Meiryo" pitchFamily="34" charset="-120"/>
              </a:rPr>
              <a:t>契約開始時と終了時の評価額の差分 × 30%</a:t>
            </a:r>
            <a:endParaRPr lang="en-US" sz="1100" dirty="0"/>
          </a:p>
        </p:txBody>
      </p:sp>
      <p:sp>
        <p:nvSpPr>
          <p:cNvPr id="14" name="Text 12"/>
          <p:cNvSpPr txBox="1"/>
          <p:nvPr/>
        </p:nvSpPr>
        <p:spPr>
          <a:xfrm>
            <a:off x="932688" y="3383280"/>
            <a:ext cx="1051560" cy="274320"/>
          </a:xfrm>
          <a:prstGeom prst="rect">
            <a:avLst/>
          </a:prstGeom>
          <a:noFill/>
          <a:ln/>
        </p:spPr>
        <p:txBody>
          <a:bodyPr wrap="square" lIns="0" tIns="0" rIns="0" bIns="0" rtlCol="0" anchor="ctr"/>
          <a:lstStyle/>
          <a:p>
            <a:pPr indent="0" marL="0">
              <a:buNone/>
            </a:pPr>
            <a:r>
              <a:rPr lang="en-US" sz="1100" b="1" dirty="0">
                <a:solidFill>
                  <a:srgbClr val="C9A227"/>
                </a:solidFill>
                <a:latin typeface="Meiryo" pitchFamily="34" charset="0"/>
                <a:ea typeface="Meiryo" pitchFamily="34" charset="-122"/>
                <a:cs typeface="Meiryo" pitchFamily="34" charset="-120"/>
              </a:rPr>
              <a:t>仲介手数料</a:t>
            </a:r>
            <a:endParaRPr lang="en-US" sz="1100" dirty="0"/>
          </a:p>
        </p:txBody>
      </p:sp>
      <p:sp>
        <p:nvSpPr>
          <p:cNvPr id="15" name="Text 13"/>
          <p:cNvSpPr txBox="1"/>
          <p:nvPr/>
        </p:nvSpPr>
        <p:spPr>
          <a:xfrm>
            <a:off x="2029968" y="3383280"/>
            <a:ext cx="3566160" cy="274320"/>
          </a:xfrm>
          <a:prstGeom prst="rect">
            <a:avLst/>
          </a:prstGeom>
          <a:noFill/>
          <a:ln/>
        </p:spPr>
        <p:txBody>
          <a:bodyPr wrap="square" lIns="0" tIns="0" rIns="0" bIns="0" rtlCol="0" anchor="ctr"/>
          <a:lstStyle/>
          <a:p>
            <a:pPr indent="0" marL="0">
              <a:buNone/>
            </a:pPr>
            <a:r>
              <a:rPr lang="en-US" sz="1100" dirty="0">
                <a:solidFill>
                  <a:srgbClr val="A2908C"/>
                </a:solidFill>
                <a:latin typeface="Meiryo" pitchFamily="34" charset="0"/>
                <a:ea typeface="Meiryo" pitchFamily="34" charset="-122"/>
                <a:cs typeface="Meiryo" pitchFamily="34" charset="-120"/>
              </a:rPr>
              <a:t>WineBank経由で成約した場合のみ収受。強制しない</a:t>
            </a:r>
            <a:endParaRPr lang="en-US" sz="1100" dirty="0"/>
          </a:p>
        </p:txBody>
      </p:sp>
      <p:sp>
        <p:nvSpPr>
          <p:cNvPr id="16" name="Shape 14"/>
          <p:cNvSpPr/>
          <p:nvPr/>
        </p:nvSpPr>
        <p:spPr>
          <a:xfrm>
            <a:off x="6199632" y="1645920"/>
            <a:ext cx="5394960" cy="2194560"/>
          </a:xfrm>
          <a:prstGeom prst="roundRect">
            <a:avLst>
              <a:gd name="adj" fmla="val 2500"/>
            </a:avLst>
          </a:prstGeom>
          <a:solidFill>
            <a:srgbClr val="17111A"/>
          </a:solidFill>
          <a:ln w="12700">
            <a:solidFill>
              <a:srgbClr val="17111A"/>
            </a:solidFill>
            <a:prstDash val="solid"/>
          </a:ln>
          <a:effectLst>
            <a:outerShdw sx="100000" sy="100000" kx="0" ky="0" algn="bl" rotWithShape="0" blurRad="127000" dist="25400" dir="5400000">
              <a:srgbClr val="000000">
                <a:alpha val="35000"/>
              </a:srgbClr>
            </a:outerShdw>
          </a:effectLst>
        </p:spPr>
      </p:sp>
      <p:sp>
        <p:nvSpPr>
          <p:cNvPr id="17" name="Text 15"/>
          <p:cNvSpPr txBox="1"/>
          <p:nvPr/>
        </p:nvSpPr>
        <p:spPr>
          <a:xfrm>
            <a:off x="6565392" y="1828800"/>
            <a:ext cx="4663440" cy="292608"/>
          </a:xfrm>
          <a:prstGeom prst="rect">
            <a:avLst/>
          </a:prstGeom>
          <a:noFill/>
          <a:ln/>
        </p:spPr>
        <p:txBody>
          <a:bodyPr wrap="square" lIns="0" tIns="0" rIns="0" bIns="0" rtlCol="0" anchor="ctr"/>
          <a:lstStyle/>
          <a:p>
            <a:pPr indent="0" marL="0">
              <a:buNone/>
            </a:pPr>
            <a:r>
              <a:rPr lang="en-US" sz="1500" b="1" dirty="0">
                <a:solidFill>
                  <a:srgbClr val="E8CE78"/>
                </a:solidFill>
                <a:latin typeface="Meiryo" pitchFamily="34" charset="0"/>
                <a:ea typeface="Meiryo" pitchFamily="34" charset="-122"/>
                <a:cs typeface="Meiryo" pitchFamily="34" charset="-120"/>
              </a:rPr>
              <a:t>会員が得られる自由</a:t>
            </a:r>
            <a:endParaRPr lang="en-US" sz="1500" dirty="0"/>
          </a:p>
        </p:txBody>
      </p:sp>
      <p:sp>
        <p:nvSpPr>
          <p:cNvPr id="18" name="Text 16"/>
          <p:cNvSpPr txBox="1"/>
          <p:nvPr/>
        </p:nvSpPr>
        <p:spPr>
          <a:xfrm>
            <a:off x="6565392" y="2231136"/>
            <a:ext cx="1691640" cy="274320"/>
          </a:xfrm>
          <a:prstGeom prst="rect">
            <a:avLst/>
          </a:prstGeom>
          <a:noFill/>
          <a:ln/>
        </p:spPr>
        <p:txBody>
          <a:bodyPr wrap="square" lIns="0" tIns="0" rIns="0" bIns="0" rtlCol="0" anchor="ctr"/>
          <a:lstStyle/>
          <a:p>
            <a:pPr indent="0" marL="0">
              <a:buNone/>
            </a:pPr>
            <a:r>
              <a:rPr lang="en-US" sz="1100" b="1" dirty="0">
                <a:solidFill>
                  <a:srgbClr val="C9A227"/>
                </a:solidFill>
                <a:latin typeface="Meiryo" pitchFamily="34" charset="0"/>
                <a:ea typeface="Meiryo" pitchFamily="34" charset="-122"/>
                <a:cs typeface="Meiryo" pitchFamily="34" charset="-120"/>
              </a:rPr>
              <a:t>どこで売ってもいい</a:t>
            </a:r>
            <a:endParaRPr lang="en-US" sz="1100" dirty="0"/>
          </a:p>
        </p:txBody>
      </p:sp>
      <p:sp>
        <p:nvSpPr>
          <p:cNvPr id="19" name="Text 17"/>
          <p:cNvSpPr txBox="1"/>
          <p:nvPr/>
        </p:nvSpPr>
        <p:spPr>
          <a:xfrm>
            <a:off x="8302752" y="2231136"/>
            <a:ext cx="3017520" cy="274320"/>
          </a:xfrm>
          <a:prstGeom prst="rect">
            <a:avLst/>
          </a:prstGeom>
          <a:noFill/>
          <a:ln/>
        </p:spPr>
        <p:txBody>
          <a:bodyPr wrap="square" lIns="0" tIns="0" rIns="0" bIns="0" rtlCol="0" anchor="ctr"/>
          <a:lstStyle/>
          <a:p>
            <a:pPr indent="0" marL="0">
              <a:buNone/>
            </a:pPr>
            <a:r>
              <a:rPr lang="en-US" sz="1050" dirty="0">
                <a:solidFill>
                  <a:srgbClr val="A2908C"/>
                </a:solidFill>
                <a:latin typeface="Meiryo" pitchFamily="34" charset="0"/>
                <a:ea typeface="Meiryo" pitchFamily="34" charset="-122"/>
                <a:cs typeface="Meiryo" pitchFamily="34" charset="-120"/>
              </a:rPr>
              <a:t>他社でもヤフオクでも構いません。精算は変わりません</a:t>
            </a:r>
            <a:endParaRPr lang="en-US" sz="1050" dirty="0"/>
          </a:p>
        </p:txBody>
      </p:sp>
      <p:sp>
        <p:nvSpPr>
          <p:cNvPr id="20" name="Text 18"/>
          <p:cNvSpPr txBox="1"/>
          <p:nvPr/>
        </p:nvSpPr>
        <p:spPr>
          <a:xfrm>
            <a:off x="6565392" y="2615184"/>
            <a:ext cx="1691640" cy="274320"/>
          </a:xfrm>
          <a:prstGeom prst="rect">
            <a:avLst/>
          </a:prstGeom>
          <a:noFill/>
          <a:ln/>
        </p:spPr>
        <p:txBody>
          <a:bodyPr wrap="square" lIns="0" tIns="0" rIns="0" bIns="0" rtlCol="0" anchor="ctr"/>
          <a:lstStyle/>
          <a:p>
            <a:pPr indent="0" marL="0">
              <a:buNone/>
            </a:pPr>
            <a:r>
              <a:rPr lang="en-US" sz="1100" b="1" dirty="0">
                <a:solidFill>
                  <a:srgbClr val="C9A227"/>
                </a:solidFill>
                <a:latin typeface="Meiryo" pitchFamily="34" charset="0"/>
                <a:ea typeface="Meiryo" pitchFamily="34" charset="-122"/>
                <a:cs typeface="Meiryo" pitchFamily="34" charset="-120"/>
              </a:rPr>
              <a:t>市場より高く売れたら</a:t>
            </a:r>
            <a:endParaRPr lang="en-US" sz="1100" dirty="0"/>
          </a:p>
        </p:txBody>
      </p:sp>
      <p:sp>
        <p:nvSpPr>
          <p:cNvPr id="21" name="Text 19"/>
          <p:cNvSpPr txBox="1"/>
          <p:nvPr/>
        </p:nvSpPr>
        <p:spPr>
          <a:xfrm>
            <a:off x="8302752" y="2615184"/>
            <a:ext cx="3017520" cy="274320"/>
          </a:xfrm>
          <a:prstGeom prst="rect">
            <a:avLst/>
          </a:prstGeom>
          <a:noFill/>
          <a:ln/>
        </p:spPr>
        <p:txBody>
          <a:bodyPr wrap="square" lIns="0" tIns="0" rIns="0" bIns="0" rtlCol="0" anchor="ctr"/>
          <a:lstStyle/>
          <a:p>
            <a:pPr indent="0" marL="0">
              <a:buNone/>
            </a:pPr>
            <a:r>
              <a:rPr lang="en-US" sz="1050" dirty="0">
                <a:solidFill>
                  <a:srgbClr val="A2908C"/>
                </a:solidFill>
                <a:latin typeface="Meiryo" pitchFamily="34" charset="0"/>
                <a:ea typeface="Meiryo" pitchFamily="34" charset="-122"/>
                <a:cs typeface="Meiryo" pitchFamily="34" charset="-120"/>
              </a:rPr>
              <a:t>超過分はすべて会員のものです</a:t>
            </a:r>
            <a:endParaRPr lang="en-US" sz="1050" dirty="0"/>
          </a:p>
        </p:txBody>
      </p:sp>
      <p:sp>
        <p:nvSpPr>
          <p:cNvPr id="22" name="Text 20"/>
          <p:cNvSpPr txBox="1"/>
          <p:nvPr/>
        </p:nvSpPr>
        <p:spPr>
          <a:xfrm>
            <a:off x="6565392" y="2999232"/>
            <a:ext cx="1691640" cy="274320"/>
          </a:xfrm>
          <a:prstGeom prst="rect">
            <a:avLst/>
          </a:prstGeom>
          <a:noFill/>
          <a:ln/>
        </p:spPr>
        <p:txBody>
          <a:bodyPr wrap="square" lIns="0" tIns="0" rIns="0" bIns="0" rtlCol="0" anchor="ctr"/>
          <a:lstStyle/>
          <a:p>
            <a:pPr indent="0" marL="0">
              <a:buNone/>
            </a:pPr>
            <a:r>
              <a:rPr lang="en-US" sz="1100" b="1" dirty="0">
                <a:solidFill>
                  <a:srgbClr val="C9A227"/>
                </a:solidFill>
                <a:latin typeface="Meiryo" pitchFamily="34" charset="0"/>
                <a:ea typeface="Meiryo" pitchFamily="34" charset="-122"/>
                <a:cs typeface="Meiryo" pitchFamily="34" charset="-120"/>
              </a:rPr>
              <a:t>飲んでもいい</a:t>
            </a:r>
            <a:endParaRPr lang="en-US" sz="1100" dirty="0"/>
          </a:p>
        </p:txBody>
      </p:sp>
      <p:sp>
        <p:nvSpPr>
          <p:cNvPr id="23" name="Text 21"/>
          <p:cNvSpPr txBox="1"/>
          <p:nvPr/>
        </p:nvSpPr>
        <p:spPr>
          <a:xfrm>
            <a:off x="8302752" y="2999232"/>
            <a:ext cx="3017520" cy="274320"/>
          </a:xfrm>
          <a:prstGeom prst="rect">
            <a:avLst/>
          </a:prstGeom>
          <a:noFill/>
          <a:ln/>
        </p:spPr>
        <p:txBody>
          <a:bodyPr wrap="square" lIns="0" tIns="0" rIns="0" bIns="0" rtlCol="0" anchor="ctr"/>
          <a:lstStyle/>
          <a:p>
            <a:pPr indent="0" marL="0">
              <a:buNone/>
            </a:pPr>
            <a:r>
              <a:rPr lang="en-US" sz="1050" dirty="0">
                <a:solidFill>
                  <a:srgbClr val="A2908C"/>
                </a:solidFill>
                <a:latin typeface="Meiryo" pitchFamily="34" charset="0"/>
                <a:ea typeface="Meiryo" pitchFamily="34" charset="-122"/>
                <a:cs typeface="Meiryo" pitchFamily="34" charset="-120"/>
              </a:rPr>
              <a:t>年次リバランスで運用資産から控除するだけです</a:t>
            </a:r>
            <a:endParaRPr lang="en-US" sz="1050" dirty="0"/>
          </a:p>
        </p:txBody>
      </p:sp>
      <p:sp>
        <p:nvSpPr>
          <p:cNvPr id="24" name="Text 22"/>
          <p:cNvSpPr txBox="1"/>
          <p:nvPr/>
        </p:nvSpPr>
        <p:spPr>
          <a:xfrm>
            <a:off x="6565392" y="3383280"/>
            <a:ext cx="1691640" cy="274320"/>
          </a:xfrm>
          <a:prstGeom prst="rect">
            <a:avLst/>
          </a:prstGeom>
          <a:noFill/>
          <a:ln/>
        </p:spPr>
        <p:txBody>
          <a:bodyPr wrap="square" lIns="0" tIns="0" rIns="0" bIns="0" rtlCol="0" anchor="ctr"/>
          <a:lstStyle/>
          <a:p>
            <a:pPr indent="0" marL="0">
              <a:buNone/>
            </a:pPr>
            <a:r>
              <a:rPr lang="en-US" sz="1100" b="1" dirty="0">
                <a:solidFill>
                  <a:srgbClr val="C9A227"/>
                </a:solidFill>
                <a:latin typeface="Meiryo" pitchFamily="34" charset="0"/>
                <a:ea typeface="Meiryo" pitchFamily="34" charset="-122"/>
                <a:cs typeface="Meiryo" pitchFamily="34" charset="-120"/>
              </a:rPr>
              <a:t>現物で引き取ってもいい</a:t>
            </a:r>
            <a:endParaRPr lang="en-US" sz="1100" dirty="0"/>
          </a:p>
        </p:txBody>
      </p:sp>
      <p:sp>
        <p:nvSpPr>
          <p:cNvPr id="25" name="Text 23"/>
          <p:cNvSpPr txBox="1"/>
          <p:nvPr/>
        </p:nvSpPr>
        <p:spPr>
          <a:xfrm>
            <a:off x="8302752" y="3383280"/>
            <a:ext cx="3017520" cy="274320"/>
          </a:xfrm>
          <a:prstGeom prst="rect">
            <a:avLst/>
          </a:prstGeom>
          <a:noFill/>
          <a:ln/>
        </p:spPr>
        <p:txBody>
          <a:bodyPr wrap="square" lIns="0" tIns="0" rIns="0" bIns="0" rtlCol="0" anchor="ctr"/>
          <a:lstStyle/>
          <a:p>
            <a:pPr indent="0" marL="0">
              <a:buNone/>
            </a:pPr>
            <a:r>
              <a:rPr lang="en-US" sz="1050" dirty="0">
                <a:solidFill>
                  <a:srgbClr val="A2908C"/>
                </a:solidFill>
                <a:latin typeface="Meiryo" pitchFamily="34" charset="0"/>
                <a:ea typeface="Meiryo" pitchFamily="34" charset="-122"/>
                <a:cs typeface="Meiryo" pitchFamily="34" charset="-120"/>
              </a:rPr>
              <a:t>売れなければ現物をお届けします。当社の負担はゼロ</a:t>
            </a:r>
            <a:endParaRPr lang="en-US" sz="1050" dirty="0"/>
          </a:p>
        </p:txBody>
      </p:sp>
      <p:sp>
        <p:nvSpPr>
          <p:cNvPr id="26" name="Shape 24"/>
          <p:cNvSpPr/>
          <p:nvPr/>
        </p:nvSpPr>
        <p:spPr>
          <a:xfrm>
            <a:off x="566928" y="4023360"/>
            <a:ext cx="11027664" cy="1005840"/>
          </a:xfrm>
          <a:prstGeom prst="roundRect">
            <a:avLst>
              <a:gd name="adj" fmla="val 5455"/>
            </a:avLst>
          </a:prstGeom>
          <a:solidFill>
            <a:srgbClr val="7B1E3A"/>
          </a:solidFill>
          <a:ln w="12700">
            <a:solidFill>
              <a:srgbClr val="7B1E3A"/>
            </a:solidFill>
            <a:prstDash val="solid"/>
          </a:ln>
          <a:effectLst>
            <a:outerShdw sx="100000" sy="100000" kx="0" ky="0" algn="bl" rotWithShape="0" blurRad="127000" dist="25400" dir="5400000">
              <a:srgbClr val="000000">
                <a:alpha val="35000"/>
              </a:srgbClr>
            </a:outerShdw>
          </a:effectLst>
        </p:spPr>
      </p:sp>
      <p:sp>
        <p:nvSpPr>
          <p:cNvPr id="27" name="Text 25"/>
          <p:cNvSpPr txBox="1"/>
          <p:nvPr/>
        </p:nvSpPr>
        <p:spPr>
          <a:xfrm>
            <a:off x="978408" y="4206240"/>
            <a:ext cx="10204704" cy="365760"/>
          </a:xfrm>
          <a:prstGeom prst="rect">
            <a:avLst/>
          </a:prstGeom>
          <a:noFill/>
          <a:ln/>
        </p:spPr>
        <p:txBody>
          <a:bodyPr wrap="square" lIns="0" tIns="0" rIns="0" bIns="0" rtlCol="0" anchor="ctr"/>
          <a:lstStyle/>
          <a:p>
            <a:pPr indent="0" marL="0">
              <a:buNone/>
            </a:pPr>
            <a:r>
              <a:rPr lang="en-US" sz="1800" b="1" dirty="0">
                <a:solidFill>
                  <a:srgbClr val="E8CE78"/>
                </a:solidFill>
                <a:latin typeface="Meiryo" pitchFamily="34" charset="0"/>
                <a:ea typeface="Meiryo" pitchFamily="34" charset="-122"/>
                <a:cs typeface="Meiryo" pitchFamily="34" charset="-120"/>
              </a:rPr>
              <a:t>当社は会員の取引相手ではなく、値上がりを一緒に願う側にいます。</a:t>
            </a:r>
            <a:endParaRPr lang="en-US" sz="1800" dirty="0"/>
          </a:p>
        </p:txBody>
      </p:sp>
      <p:sp>
        <p:nvSpPr>
          <p:cNvPr id="28" name="Text 26"/>
          <p:cNvSpPr txBox="1"/>
          <p:nvPr/>
        </p:nvSpPr>
        <p:spPr>
          <a:xfrm>
            <a:off x="978408" y="4608576"/>
            <a:ext cx="10204704" cy="310896"/>
          </a:xfrm>
          <a:prstGeom prst="rect">
            <a:avLst/>
          </a:prstGeom>
          <a:noFill/>
          <a:ln/>
        </p:spPr>
        <p:txBody>
          <a:bodyPr wrap="square" lIns="0" tIns="0" rIns="0" bIns="0" rtlCol="0" anchor="ctr"/>
          <a:lstStyle/>
          <a:p>
            <a:pPr indent="0" marL="0">
              <a:buNone/>
            </a:pPr>
            <a:r>
              <a:rPr lang="en-US" sz="1200" dirty="0">
                <a:solidFill>
                  <a:srgbClr val="F2EDE6"/>
                </a:solidFill>
                <a:latin typeface="Meiryo" pitchFamily="34" charset="0"/>
                <a:ea typeface="Meiryo" pitchFamily="34" charset="-122"/>
                <a:cs typeface="Meiryo" pitchFamily="34" charset="-120"/>
              </a:rPr>
              <a:t>買戻しでは、会員は高く売りたく当社は安く買いたい。媒介では、当社は早く売りたい。成功報酬なら、当社が願うのは「値上がり」だけです。</a:t>
            </a:r>
            <a:endParaRPr lang="en-US" sz="1200" dirty="0"/>
          </a:p>
        </p:txBody>
      </p:sp>
      <p:sp>
        <p:nvSpPr>
          <p:cNvPr id="29" name="Shape 27"/>
          <p:cNvSpPr/>
          <p:nvPr/>
        </p:nvSpPr>
        <p:spPr>
          <a:xfrm>
            <a:off x="566928" y="5175504"/>
            <a:ext cx="11027664" cy="877824"/>
          </a:xfrm>
          <a:prstGeom prst="roundRect">
            <a:avLst>
              <a:gd name="adj" fmla="val 6250"/>
            </a:avLst>
          </a:prstGeom>
          <a:solidFill>
            <a:srgbClr val="17111A"/>
          </a:solidFill>
          <a:ln w="12700">
            <a:solidFill>
              <a:srgbClr val="17111A"/>
            </a:solidFill>
            <a:prstDash val="solid"/>
          </a:ln>
          <a:effectLst>
            <a:outerShdw sx="100000" sy="100000" kx="0" ky="0" algn="bl" rotWithShape="0" blurRad="127000" dist="25400" dir="5400000">
              <a:srgbClr val="000000">
                <a:alpha val="35000"/>
              </a:srgbClr>
            </a:outerShdw>
          </a:effectLst>
        </p:spPr>
      </p:sp>
      <p:sp>
        <p:nvSpPr>
          <p:cNvPr id="30" name="Text 28"/>
          <p:cNvSpPr txBox="1"/>
          <p:nvPr/>
        </p:nvSpPr>
        <p:spPr>
          <a:xfrm>
            <a:off x="978408" y="5340096"/>
            <a:ext cx="10204704" cy="292608"/>
          </a:xfrm>
          <a:prstGeom prst="rect">
            <a:avLst/>
          </a:prstGeom>
          <a:noFill/>
          <a:ln/>
        </p:spPr>
        <p:txBody>
          <a:bodyPr wrap="square" lIns="0" tIns="0" rIns="0" bIns="0" rtlCol="0" anchor="ctr"/>
          <a:lstStyle/>
          <a:p>
            <a:pPr indent="0" marL="0">
              <a:buNone/>
            </a:pPr>
            <a:r>
              <a:rPr lang="en-US" sz="1400" b="1" dirty="0">
                <a:solidFill>
                  <a:srgbClr val="E8CE78"/>
                </a:solidFill>
                <a:latin typeface="Meiryo" pitchFamily="34" charset="0"/>
                <a:ea typeface="Meiryo" pitchFamily="34" charset="-122"/>
                <a:cs typeface="Meiryo" pitchFamily="34" charset="-120"/>
              </a:rPr>
              <a:t>縛らないほうが、結果として当社を通ります。</a:t>
            </a:r>
            <a:endParaRPr lang="en-US" sz="1400" dirty="0"/>
          </a:p>
        </p:txBody>
      </p:sp>
      <p:sp>
        <p:nvSpPr>
          <p:cNvPr id="31" name="Text 29"/>
          <p:cNvSpPr txBox="1"/>
          <p:nvPr/>
        </p:nvSpPr>
        <p:spPr>
          <a:xfrm>
            <a:off x="978408" y="5669280"/>
            <a:ext cx="10204704" cy="292608"/>
          </a:xfrm>
          <a:prstGeom prst="rect">
            <a:avLst/>
          </a:prstGeom>
          <a:noFill/>
          <a:ln/>
        </p:spPr>
        <p:txBody>
          <a:bodyPr wrap="square" lIns="0" tIns="0" rIns="0" bIns="0" rtlCol="0" anchor="ctr"/>
          <a:lstStyle/>
          <a:p>
            <a:pPr indent="0" marL="0">
              <a:buNone/>
            </a:pPr>
            <a:r>
              <a:rPr lang="en-US" sz="1150" dirty="0">
                <a:solidFill>
                  <a:srgbClr val="A2908C"/>
                </a:solidFill>
                <a:latin typeface="Meiryo" pitchFamily="34" charset="0"/>
                <a:ea typeface="Meiryo" pitchFamily="34" charset="-122"/>
                <a:cs typeface="Meiryo" pitchFamily="34" charset="-120"/>
              </a:rPr>
              <a:t>精算が済んでいれば、会員が自社の板を使わない理由は「手間」だけになります。マーケットプレイスの使い勝手で勝てばよく、契約で縛る必要はありません。</a:t>
            </a:r>
            <a:endParaRPr lang="en-US" sz="11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00000"/>
        </a:solidFill>
      </p:bgPr>
    </p:bg>
    <p:spTree>
      <p:nvGrpSpPr>
        <p:cNvPr id="1" name=""/>
        <p:cNvGrpSpPr/>
        <p:nvPr/>
      </p:nvGrpSpPr>
      <p:grpSpPr>
        <a:xfrm>
          <a:off x="0" y="0"/>
          <a:ext cx="0" cy="0"/>
          <a:chOff x="0" y="0"/>
          <a:chExt cx="0" cy="0"/>
        </a:xfrm>
      </p:grpSpPr>
      <p:sp>
        <p:nvSpPr>
          <p:cNvPr id="2" name="Text 0"/>
          <p:cNvSpPr txBox="1"/>
          <p:nvPr/>
        </p:nvSpPr>
        <p:spPr>
          <a:xfrm>
            <a:off x="566928" y="310896"/>
            <a:ext cx="11027664" cy="237744"/>
          </a:xfrm>
          <a:prstGeom prst="rect">
            <a:avLst/>
          </a:prstGeom>
          <a:noFill/>
          <a:ln/>
        </p:spPr>
        <p:txBody>
          <a:bodyPr wrap="square" lIns="0" tIns="0" rIns="0" bIns="0" rtlCol="0" anchor="ctr"/>
          <a:lstStyle/>
          <a:p>
            <a:pPr indent="0" marL="0">
              <a:buNone/>
            </a:pPr>
            <a:r>
              <a:rPr lang="en-US" sz="1050" b="1" spc="300" kern="0" dirty="0">
                <a:solidFill>
                  <a:srgbClr val="C9A227"/>
                </a:solidFill>
                <a:latin typeface="Arial" pitchFamily="34" charset="0"/>
                <a:ea typeface="Arial" pitchFamily="34" charset="-122"/>
                <a:cs typeface="Arial" pitchFamily="34" charset="-120"/>
              </a:rPr>
              <a:t>LEGAL</a:t>
            </a:r>
            <a:endParaRPr lang="en-US" sz="1050" dirty="0"/>
          </a:p>
        </p:txBody>
      </p:sp>
      <p:sp>
        <p:nvSpPr>
          <p:cNvPr id="3" name="Text 1"/>
          <p:cNvSpPr txBox="1"/>
          <p:nvPr/>
        </p:nvSpPr>
        <p:spPr>
          <a:xfrm>
            <a:off x="566928" y="566928"/>
            <a:ext cx="11027664" cy="548640"/>
          </a:xfrm>
          <a:prstGeom prst="rect">
            <a:avLst/>
          </a:prstGeom>
          <a:noFill/>
          <a:ln/>
        </p:spPr>
        <p:txBody>
          <a:bodyPr wrap="square" lIns="0" tIns="0" rIns="0" bIns="0" rtlCol="0" anchor="ctr"/>
          <a:lstStyle/>
          <a:p>
            <a:pPr indent="0" marL="0">
              <a:buNone/>
            </a:pPr>
            <a:r>
              <a:rPr lang="en-US" sz="2900" b="1" dirty="0">
                <a:solidFill>
                  <a:srgbClr val="F2EDE6"/>
                </a:solidFill>
                <a:latin typeface="Meiryo" pitchFamily="34" charset="0"/>
                <a:ea typeface="Meiryo" pitchFamily="34" charset="-122"/>
                <a:cs typeface="Meiryo" pitchFamily="34" charset="-120"/>
              </a:rPr>
              <a:t>法務確認済み：実施できます</a:t>
            </a:r>
            <a:endParaRPr lang="en-US" sz="2900" dirty="0"/>
          </a:p>
        </p:txBody>
      </p:sp>
      <p:sp>
        <p:nvSpPr>
          <p:cNvPr id="4" name="Text 2"/>
          <p:cNvSpPr txBox="1"/>
          <p:nvPr/>
        </p:nvSpPr>
        <p:spPr>
          <a:xfrm>
            <a:off x="566928" y="1152144"/>
            <a:ext cx="11027664" cy="310896"/>
          </a:xfrm>
          <a:prstGeom prst="rect">
            <a:avLst/>
          </a:prstGeom>
          <a:noFill/>
          <a:ln/>
        </p:spPr>
        <p:txBody>
          <a:bodyPr wrap="square" lIns="0" tIns="0" rIns="0" bIns="0" rtlCol="0" anchor="ctr"/>
          <a:lstStyle/>
          <a:p>
            <a:pPr indent="0" marL="0">
              <a:buNone/>
            </a:pPr>
            <a:r>
              <a:rPr lang="en-US" sz="1300" dirty="0">
                <a:solidFill>
                  <a:srgbClr val="A2908C"/>
                </a:solidFill>
                <a:latin typeface="Meiryo" pitchFamily="34" charset="0"/>
                <a:ea typeface="Meiryo" pitchFamily="34" charset="-122"/>
                <a:cs typeface="Meiryo" pitchFamily="34" charset="-120"/>
              </a:rPr>
              <a:t>岩田合同法律事務所より2026年9月20日にクリーンオピニオンを取得。「対価性の要件を充足する事情は不見当」との結論です。</a:t>
            </a:r>
            <a:endParaRPr lang="en-US" sz="1300" dirty="0"/>
          </a:p>
        </p:txBody>
      </p:sp>
      <p:sp>
        <p:nvSpPr>
          <p:cNvPr id="5" name="Text 3"/>
          <p:cNvSpPr txBox="1"/>
          <p:nvPr/>
        </p:nvSpPr>
        <p:spPr>
          <a:xfrm>
            <a:off x="566928" y="6437376"/>
            <a:ext cx="4572000" cy="219456"/>
          </a:xfrm>
          <a:prstGeom prst="rect">
            <a:avLst/>
          </a:prstGeom>
          <a:noFill/>
          <a:ln/>
        </p:spPr>
        <p:txBody>
          <a:bodyPr wrap="square" lIns="0" tIns="0" rIns="0" bIns="0" rtlCol="0" anchor="ctr"/>
          <a:lstStyle/>
          <a:p>
            <a:pPr indent="0" marL="0">
              <a:buNone/>
            </a:pPr>
            <a:r>
              <a:rPr lang="en-US" sz="850" dirty="0">
                <a:solidFill>
                  <a:srgbClr val="6B5A5F"/>
                </a:solidFill>
                <a:latin typeface="Arial" pitchFamily="34" charset="0"/>
                <a:ea typeface="Arial" pitchFamily="34" charset="-122"/>
                <a:cs typeface="Arial" pitchFamily="34" charset="-120"/>
              </a:rPr>
              <a:t>WineBank CONFIDENTIAL</a:t>
            </a:r>
            <a:endParaRPr lang="en-US" sz="850" dirty="0"/>
          </a:p>
        </p:txBody>
      </p:sp>
      <p:sp>
        <p:nvSpPr>
          <p:cNvPr id="6" name="Shape 4"/>
          <p:cNvSpPr/>
          <p:nvPr/>
        </p:nvSpPr>
        <p:spPr>
          <a:xfrm>
            <a:off x="566928" y="1664208"/>
            <a:ext cx="5394960" cy="1975104"/>
          </a:xfrm>
          <a:prstGeom prst="roundRect">
            <a:avLst>
              <a:gd name="adj" fmla="val 2778"/>
            </a:avLst>
          </a:prstGeom>
          <a:solidFill>
            <a:srgbClr val="17111A"/>
          </a:solidFill>
          <a:ln w="12700">
            <a:solidFill>
              <a:srgbClr val="17111A"/>
            </a:solidFill>
            <a:prstDash val="solid"/>
          </a:ln>
          <a:effectLst>
            <a:outerShdw sx="100000" sy="100000" kx="0" ky="0" algn="bl" rotWithShape="0" blurRad="127000" dist="25400" dir="5400000">
              <a:srgbClr val="000000">
                <a:alpha val="35000"/>
              </a:srgbClr>
            </a:outerShdw>
          </a:effectLst>
        </p:spPr>
      </p:sp>
      <p:sp>
        <p:nvSpPr>
          <p:cNvPr id="7" name="Shape 5"/>
          <p:cNvSpPr/>
          <p:nvPr/>
        </p:nvSpPr>
        <p:spPr>
          <a:xfrm>
            <a:off x="859536" y="1883664"/>
            <a:ext cx="329184" cy="329184"/>
          </a:xfrm>
          <a:prstGeom prst="ellipse">
            <a:avLst/>
          </a:prstGeom>
          <a:solidFill>
            <a:srgbClr val="C9A227"/>
          </a:solidFill>
          <a:ln w="12700">
            <a:solidFill>
              <a:srgbClr val="C9A227"/>
            </a:solidFill>
            <a:prstDash val="solid"/>
          </a:ln>
        </p:spPr>
      </p:sp>
      <p:sp>
        <p:nvSpPr>
          <p:cNvPr id="8" name="Text 6"/>
          <p:cNvSpPr txBox="1"/>
          <p:nvPr/>
        </p:nvSpPr>
        <p:spPr>
          <a:xfrm>
            <a:off x="859536" y="1883664"/>
            <a:ext cx="329184" cy="329184"/>
          </a:xfrm>
          <a:prstGeom prst="rect">
            <a:avLst/>
          </a:prstGeom>
          <a:noFill/>
          <a:ln/>
        </p:spPr>
        <p:txBody>
          <a:bodyPr wrap="square" lIns="0" tIns="0" rIns="0" bIns="0" rtlCol="0" anchor="ctr"/>
          <a:lstStyle/>
          <a:p>
            <a:pPr algn="ctr" indent="0" marL="0">
              <a:buNone/>
            </a:pPr>
            <a:r>
              <a:rPr lang="en-US" sz="1300" b="1" dirty="0">
                <a:solidFill>
                  <a:srgbClr val="000000"/>
                </a:solidFill>
                <a:latin typeface="Arial" pitchFamily="34" charset="0"/>
                <a:ea typeface="Arial" pitchFamily="34" charset="-122"/>
                <a:cs typeface="Arial" pitchFamily="34" charset="-120"/>
              </a:rPr>
              <a:t>1</a:t>
            </a:r>
            <a:endParaRPr lang="en-US" sz="1300" dirty="0"/>
          </a:p>
        </p:txBody>
      </p:sp>
      <p:sp>
        <p:nvSpPr>
          <p:cNvPr id="9" name="Text 7"/>
          <p:cNvSpPr txBox="1"/>
          <p:nvPr/>
        </p:nvSpPr>
        <p:spPr>
          <a:xfrm>
            <a:off x="1298448" y="1901952"/>
            <a:ext cx="2651760" cy="292608"/>
          </a:xfrm>
          <a:prstGeom prst="rect">
            <a:avLst/>
          </a:prstGeom>
          <a:noFill/>
          <a:ln/>
        </p:spPr>
        <p:txBody>
          <a:bodyPr wrap="square" lIns="0" tIns="0" rIns="0" bIns="0" rtlCol="0" anchor="ctr"/>
          <a:lstStyle/>
          <a:p>
            <a:pPr indent="0" marL="0">
              <a:buNone/>
            </a:pPr>
            <a:r>
              <a:rPr lang="en-US" sz="1400" b="1" dirty="0">
                <a:solidFill>
                  <a:srgbClr val="F2EDE6"/>
                </a:solidFill>
                <a:latin typeface="Meiryo" pitchFamily="34" charset="0"/>
                <a:ea typeface="Meiryo" pitchFamily="34" charset="-122"/>
                <a:cs typeface="Meiryo" pitchFamily="34" charset="-120"/>
              </a:rPr>
              <a:t>資金決済法</a:t>
            </a:r>
            <a:endParaRPr lang="en-US" sz="1400" dirty="0"/>
          </a:p>
        </p:txBody>
      </p:sp>
      <p:sp>
        <p:nvSpPr>
          <p:cNvPr id="10" name="Text 8"/>
          <p:cNvSpPr txBox="1"/>
          <p:nvPr/>
        </p:nvSpPr>
        <p:spPr>
          <a:xfrm>
            <a:off x="859536" y="2322576"/>
            <a:ext cx="4809744" cy="292608"/>
          </a:xfrm>
          <a:prstGeom prst="rect">
            <a:avLst/>
          </a:prstGeom>
          <a:noFill/>
          <a:ln/>
        </p:spPr>
        <p:txBody>
          <a:bodyPr wrap="square" lIns="0" tIns="0" rIns="0" bIns="0" rtlCol="0" anchor="ctr"/>
          <a:lstStyle/>
          <a:p>
            <a:pPr indent="0" marL="0">
              <a:buNone/>
            </a:pPr>
            <a:r>
              <a:rPr lang="en-US" sz="1300" b="1" dirty="0">
                <a:solidFill>
                  <a:srgbClr val="E0A458"/>
                </a:solidFill>
                <a:latin typeface="Meiryo" pitchFamily="34" charset="0"/>
                <a:ea typeface="Meiryo" pitchFamily="34" charset="-122"/>
                <a:cs typeface="Meiryo" pitchFamily="34" charset="-120"/>
              </a:rPr>
              <a:t>二重の安全弁がかかっています</a:t>
            </a:r>
            <a:endParaRPr lang="en-US" sz="1300" dirty="0"/>
          </a:p>
        </p:txBody>
      </p:sp>
      <p:sp>
        <p:nvSpPr>
          <p:cNvPr id="11" name="Text 9"/>
          <p:cNvSpPr txBox="1"/>
          <p:nvPr/>
        </p:nvSpPr>
        <p:spPr>
          <a:xfrm>
            <a:off x="859536" y="2670048"/>
            <a:ext cx="4809744" cy="877824"/>
          </a:xfrm>
          <a:prstGeom prst="rect">
            <a:avLst/>
          </a:prstGeom>
          <a:noFill/>
          <a:ln/>
        </p:spPr>
        <p:txBody>
          <a:bodyPr wrap="square" lIns="0" tIns="0" rIns="0" bIns="0" rtlCol="0" anchor="ctr"/>
          <a:lstStyle/>
          <a:p>
            <a:pPr indent="0" marL="0">
              <a:lnSpc>
                <a:spcPts val="1600"/>
              </a:lnSpc>
              <a:buNone/>
            </a:pPr>
            <a:r>
              <a:rPr lang="en-US" sz="1050" dirty="0">
                <a:solidFill>
                  <a:srgbClr val="A2908C"/>
                </a:solidFill>
                <a:latin typeface="Meiryo" pitchFamily="34" charset="0"/>
                <a:ea typeface="Meiryo" pitchFamily="34" charset="-122"/>
                <a:cs typeface="Meiryo" pitchFamily="34" charset="-120"/>
              </a:rPr>
              <a:t>① 管理料に対するおまけ（無償発行）のため、前払式支払手段の対価性要件を満たしません。② 仮に該当しても、有効期限が発行から6ヶ月以内なら届出・供託・帳簿・報告の義務が生じません（法4条2号）。期間限定マイルは②も満たします。</a:t>
            </a:r>
            <a:endParaRPr lang="en-US" sz="1050" dirty="0"/>
          </a:p>
        </p:txBody>
      </p:sp>
      <p:sp>
        <p:nvSpPr>
          <p:cNvPr id="12" name="Shape 10"/>
          <p:cNvSpPr/>
          <p:nvPr/>
        </p:nvSpPr>
        <p:spPr>
          <a:xfrm>
            <a:off x="6199632" y="1664208"/>
            <a:ext cx="5394960" cy="1975104"/>
          </a:xfrm>
          <a:prstGeom prst="roundRect">
            <a:avLst>
              <a:gd name="adj" fmla="val 2778"/>
            </a:avLst>
          </a:prstGeom>
          <a:solidFill>
            <a:srgbClr val="17111A"/>
          </a:solidFill>
          <a:ln w="12700">
            <a:solidFill>
              <a:srgbClr val="17111A"/>
            </a:solidFill>
            <a:prstDash val="solid"/>
          </a:ln>
          <a:effectLst>
            <a:outerShdw sx="100000" sy="100000" kx="0" ky="0" algn="bl" rotWithShape="0" blurRad="127000" dist="25400" dir="5400000">
              <a:srgbClr val="000000">
                <a:alpha val="35000"/>
              </a:srgbClr>
            </a:outerShdw>
          </a:effectLst>
        </p:spPr>
      </p:sp>
      <p:sp>
        <p:nvSpPr>
          <p:cNvPr id="13" name="Shape 11"/>
          <p:cNvSpPr/>
          <p:nvPr/>
        </p:nvSpPr>
        <p:spPr>
          <a:xfrm>
            <a:off x="6492240" y="1883664"/>
            <a:ext cx="329184" cy="329184"/>
          </a:xfrm>
          <a:prstGeom prst="ellipse">
            <a:avLst/>
          </a:prstGeom>
          <a:solidFill>
            <a:srgbClr val="C9A227"/>
          </a:solidFill>
          <a:ln w="12700">
            <a:solidFill>
              <a:srgbClr val="C9A227"/>
            </a:solidFill>
            <a:prstDash val="solid"/>
          </a:ln>
        </p:spPr>
      </p:sp>
      <p:sp>
        <p:nvSpPr>
          <p:cNvPr id="14" name="Text 12"/>
          <p:cNvSpPr txBox="1"/>
          <p:nvPr/>
        </p:nvSpPr>
        <p:spPr>
          <a:xfrm>
            <a:off x="6492240" y="1883664"/>
            <a:ext cx="329184" cy="329184"/>
          </a:xfrm>
          <a:prstGeom prst="rect">
            <a:avLst/>
          </a:prstGeom>
          <a:noFill/>
          <a:ln/>
        </p:spPr>
        <p:txBody>
          <a:bodyPr wrap="square" lIns="0" tIns="0" rIns="0" bIns="0" rtlCol="0" anchor="ctr"/>
          <a:lstStyle/>
          <a:p>
            <a:pPr algn="ctr" indent="0" marL="0">
              <a:buNone/>
            </a:pPr>
            <a:r>
              <a:rPr lang="en-US" sz="1300" b="1" dirty="0">
                <a:solidFill>
                  <a:srgbClr val="000000"/>
                </a:solidFill>
                <a:latin typeface="Arial" pitchFamily="34" charset="0"/>
                <a:ea typeface="Arial" pitchFamily="34" charset="-122"/>
                <a:cs typeface="Arial" pitchFamily="34" charset="-120"/>
              </a:rPr>
              <a:t>2</a:t>
            </a:r>
            <a:endParaRPr lang="en-US" sz="1300" dirty="0"/>
          </a:p>
        </p:txBody>
      </p:sp>
      <p:sp>
        <p:nvSpPr>
          <p:cNvPr id="15" name="Text 13"/>
          <p:cNvSpPr txBox="1"/>
          <p:nvPr/>
        </p:nvSpPr>
        <p:spPr>
          <a:xfrm>
            <a:off x="6931152" y="1901952"/>
            <a:ext cx="2651760" cy="292608"/>
          </a:xfrm>
          <a:prstGeom prst="rect">
            <a:avLst/>
          </a:prstGeom>
          <a:noFill/>
          <a:ln/>
        </p:spPr>
        <p:txBody>
          <a:bodyPr wrap="square" lIns="0" tIns="0" rIns="0" bIns="0" rtlCol="0" anchor="ctr"/>
          <a:lstStyle/>
          <a:p>
            <a:pPr indent="0" marL="0">
              <a:buNone/>
            </a:pPr>
            <a:r>
              <a:rPr lang="en-US" sz="1400" b="1" dirty="0">
                <a:solidFill>
                  <a:srgbClr val="F2EDE6"/>
                </a:solidFill>
                <a:latin typeface="Meiryo" pitchFamily="34" charset="0"/>
                <a:ea typeface="Meiryo" pitchFamily="34" charset="-122"/>
                <a:cs typeface="Meiryo" pitchFamily="34" charset="-120"/>
              </a:rPr>
              <a:t>出資法・銀行法</a:t>
            </a:r>
            <a:endParaRPr lang="en-US" sz="1400" dirty="0"/>
          </a:p>
        </p:txBody>
      </p:sp>
      <p:sp>
        <p:nvSpPr>
          <p:cNvPr id="16" name="Text 14"/>
          <p:cNvSpPr txBox="1"/>
          <p:nvPr/>
        </p:nvSpPr>
        <p:spPr>
          <a:xfrm>
            <a:off x="6492240" y="2322576"/>
            <a:ext cx="4809744" cy="292608"/>
          </a:xfrm>
          <a:prstGeom prst="rect">
            <a:avLst/>
          </a:prstGeom>
          <a:noFill/>
          <a:ln/>
        </p:spPr>
        <p:txBody>
          <a:bodyPr wrap="square" lIns="0" tIns="0" rIns="0" bIns="0" rtlCol="0" anchor="ctr"/>
          <a:lstStyle/>
          <a:p>
            <a:pPr indent="0" marL="0">
              <a:buNone/>
            </a:pPr>
            <a:r>
              <a:rPr lang="en-US" sz="1300" b="1" dirty="0">
                <a:solidFill>
                  <a:srgbClr val="E0A458"/>
                </a:solidFill>
                <a:latin typeface="Meiryo" pitchFamily="34" charset="0"/>
                <a:ea typeface="Meiryo" pitchFamily="34" charset="-122"/>
                <a:cs typeface="Meiryo" pitchFamily="34" charset="-120"/>
              </a:rPr>
              <a:t>そもそも該当しない</a:t>
            </a:r>
            <a:endParaRPr lang="en-US" sz="1300" dirty="0"/>
          </a:p>
        </p:txBody>
      </p:sp>
      <p:sp>
        <p:nvSpPr>
          <p:cNvPr id="17" name="Text 15"/>
          <p:cNvSpPr txBox="1"/>
          <p:nvPr/>
        </p:nvSpPr>
        <p:spPr>
          <a:xfrm>
            <a:off x="6492240" y="2670048"/>
            <a:ext cx="4809744" cy="877824"/>
          </a:xfrm>
          <a:prstGeom prst="rect">
            <a:avLst/>
          </a:prstGeom>
          <a:noFill/>
          <a:ln/>
        </p:spPr>
        <p:txBody>
          <a:bodyPr wrap="square" lIns="0" tIns="0" rIns="0" bIns="0" rtlCol="0" anchor="ctr"/>
          <a:lstStyle/>
          <a:p>
            <a:pPr indent="0" marL="0">
              <a:lnSpc>
                <a:spcPts val="1600"/>
              </a:lnSpc>
              <a:buNone/>
            </a:pPr>
            <a:r>
              <a:rPr lang="en-US" sz="1050" dirty="0">
                <a:solidFill>
                  <a:srgbClr val="A2908C"/>
                </a:solidFill>
                <a:latin typeface="Meiryo" pitchFamily="34" charset="0"/>
                <a:ea typeface="Meiryo" pitchFamily="34" charset="-122"/>
                <a:cs typeface="Meiryo" pitchFamily="34" charset="-120"/>
              </a:rPr>
              <a:t>預かるのはワインであり金銭ではないため、『預金』『預り金』の4要件を満たしません。賃貸借契約を置かないため、賃料としての対価性が生じる余地もありません。</a:t>
            </a:r>
            <a:endParaRPr lang="en-US" sz="1050" dirty="0"/>
          </a:p>
        </p:txBody>
      </p:sp>
      <p:sp>
        <p:nvSpPr>
          <p:cNvPr id="18" name="Shape 16"/>
          <p:cNvSpPr/>
          <p:nvPr/>
        </p:nvSpPr>
        <p:spPr>
          <a:xfrm>
            <a:off x="566928" y="3858768"/>
            <a:ext cx="5394960" cy="1975104"/>
          </a:xfrm>
          <a:prstGeom prst="roundRect">
            <a:avLst>
              <a:gd name="adj" fmla="val 2778"/>
            </a:avLst>
          </a:prstGeom>
          <a:solidFill>
            <a:srgbClr val="17111A"/>
          </a:solidFill>
          <a:ln w="12700">
            <a:solidFill>
              <a:srgbClr val="17111A"/>
            </a:solidFill>
            <a:prstDash val="solid"/>
          </a:ln>
          <a:effectLst>
            <a:outerShdw sx="100000" sy="100000" kx="0" ky="0" algn="bl" rotWithShape="0" blurRad="127000" dist="25400" dir="5400000">
              <a:srgbClr val="000000">
                <a:alpha val="35000"/>
              </a:srgbClr>
            </a:outerShdw>
          </a:effectLst>
        </p:spPr>
      </p:sp>
      <p:sp>
        <p:nvSpPr>
          <p:cNvPr id="19" name="Shape 17"/>
          <p:cNvSpPr/>
          <p:nvPr/>
        </p:nvSpPr>
        <p:spPr>
          <a:xfrm>
            <a:off x="859536" y="4078224"/>
            <a:ext cx="329184" cy="329184"/>
          </a:xfrm>
          <a:prstGeom prst="ellipse">
            <a:avLst/>
          </a:prstGeom>
          <a:solidFill>
            <a:srgbClr val="C9A227"/>
          </a:solidFill>
          <a:ln w="12700">
            <a:solidFill>
              <a:srgbClr val="C9A227"/>
            </a:solidFill>
            <a:prstDash val="solid"/>
          </a:ln>
        </p:spPr>
      </p:sp>
      <p:sp>
        <p:nvSpPr>
          <p:cNvPr id="20" name="Text 18"/>
          <p:cNvSpPr txBox="1"/>
          <p:nvPr/>
        </p:nvSpPr>
        <p:spPr>
          <a:xfrm>
            <a:off x="859536" y="4078224"/>
            <a:ext cx="329184" cy="329184"/>
          </a:xfrm>
          <a:prstGeom prst="rect">
            <a:avLst/>
          </a:prstGeom>
          <a:noFill/>
          <a:ln/>
        </p:spPr>
        <p:txBody>
          <a:bodyPr wrap="square" lIns="0" tIns="0" rIns="0" bIns="0" rtlCol="0" anchor="ctr"/>
          <a:lstStyle/>
          <a:p>
            <a:pPr algn="ctr" indent="0" marL="0">
              <a:buNone/>
            </a:pPr>
            <a:r>
              <a:rPr lang="en-US" sz="1300" b="1" dirty="0">
                <a:solidFill>
                  <a:srgbClr val="000000"/>
                </a:solidFill>
                <a:latin typeface="Arial" pitchFamily="34" charset="0"/>
                <a:ea typeface="Arial" pitchFamily="34" charset="-122"/>
                <a:cs typeface="Arial" pitchFamily="34" charset="-120"/>
              </a:rPr>
              <a:t>3</a:t>
            </a:r>
            <a:endParaRPr lang="en-US" sz="1300" dirty="0"/>
          </a:p>
        </p:txBody>
      </p:sp>
      <p:sp>
        <p:nvSpPr>
          <p:cNvPr id="21" name="Text 19"/>
          <p:cNvSpPr txBox="1"/>
          <p:nvPr/>
        </p:nvSpPr>
        <p:spPr>
          <a:xfrm>
            <a:off x="1298448" y="4096512"/>
            <a:ext cx="2651760" cy="292608"/>
          </a:xfrm>
          <a:prstGeom prst="rect">
            <a:avLst/>
          </a:prstGeom>
          <a:noFill/>
          <a:ln/>
        </p:spPr>
        <p:txBody>
          <a:bodyPr wrap="square" lIns="0" tIns="0" rIns="0" bIns="0" rtlCol="0" anchor="ctr"/>
          <a:lstStyle/>
          <a:p>
            <a:pPr indent="0" marL="0">
              <a:buNone/>
            </a:pPr>
            <a:r>
              <a:rPr lang="en-US" sz="1400" b="1" dirty="0">
                <a:solidFill>
                  <a:srgbClr val="F2EDE6"/>
                </a:solidFill>
                <a:latin typeface="Meiryo" pitchFamily="34" charset="0"/>
                <a:ea typeface="Meiryo" pitchFamily="34" charset="-122"/>
                <a:cs typeface="Meiryo" pitchFamily="34" charset="-120"/>
              </a:rPr>
              <a:t>景品表示法</a:t>
            </a:r>
            <a:endParaRPr lang="en-US" sz="1400" dirty="0"/>
          </a:p>
        </p:txBody>
      </p:sp>
      <p:sp>
        <p:nvSpPr>
          <p:cNvPr id="22" name="Text 20"/>
          <p:cNvSpPr txBox="1"/>
          <p:nvPr/>
        </p:nvSpPr>
        <p:spPr>
          <a:xfrm>
            <a:off x="859536" y="4517136"/>
            <a:ext cx="4809744" cy="292608"/>
          </a:xfrm>
          <a:prstGeom prst="rect">
            <a:avLst/>
          </a:prstGeom>
          <a:noFill/>
          <a:ln/>
        </p:spPr>
        <p:txBody>
          <a:bodyPr wrap="square" lIns="0" tIns="0" rIns="0" bIns="0" rtlCol="0" anchor="ctr"/>
          <a:lstStyle/>
          <a:p>
            <a:pPr indent="0" marL="0">
              <a:buNone/>
            </a:pPr>
            <a:r>
              <a:rPr lang="en-US" sz="1300" b="1" dirty="0">
                <a:solidFill>
                  <a:srgbClr val="E0A458"/>
                </a:solidFill>
                <a:latin typeface="Meiryo" pitchFamily="34" charset="0"/>
                <a:ea typeface="Meiryo" pitchFamily="34" charset="-122"/>
                <a:cs typeface="Meiryo" pitchFamily="34" charset="-120"/>
              </a:rPr>
              <a:t>値引と整理され、還元率に上限はない</a:t>
            </a:r>
            <a:endParaRPr lang="en-US" sz="1300" dirty="0"/>
          </a:p>
        </p:txBody>
      </p:sp>
      <p:sp>
        <p:nvSpPr>
          <p:cNvPr id="23" name="Text 21"/>
          <p:cNvSpPr txBox="1"/>
          <p:nvPr/>
        </p:nvSpPr>
        <p:spPr>
          <a:xfrm>
            <a:off x="859536" y="4864608"/>
            <a:ext cx="4809744" cy="877824"/>
          </a:xfrm>
          <a:prstGeom prst="rect">
            <a:avLst/>
          </a:prstGeom>
          <a:noFill/>
          <a:ln/>
        </p:spPr>
        <p:txBody>
          <a:bodyPr wrap="square" lIns="0" tIns="0" rIns="0" bIns="0" rtlCol="0" anchor="ctr"/>
          <a:lstStyle/>
          <a:p>
            <a:pPr indent="0" marL="0">
              <a:lnSpc>
                <a:spcPts val="1600"/>
              </a:lnSpc>
              <a:buNone/>
            </a:pPr>
            <a:r>
              <a:rPr lang="en-US" sz="1050" dirty="0">
                <a:solidFill>
                  <a:srgbClr val="A2908C"/>
                </a:solidFill>
                <a:latin typeface="Meiryo" pitchFamily="34" charset="0"/>
                <a:ea typeface="Meiryo" pitchFamily="34" charset="-122"/>
                <a:cs typeface="Meiryo" pitchFamily="34" charset="-120"/>
              </a:rPr>
              <a:t>自社でのみ使えるマイルは『正常な商慣習に照らして値引』にあたり景品類に該当しません。実質50%値引を許容する消費者庁Q&amp;Aもあり、4〜6%は論点になりません。ただし表示は正確に。</a:t>
            </a:r>
            <a:endParaRPr lang="en-US" sz="1050" dirty="0"/>
          </a:p>
        </p:txBody>
      </p:sp>
      <p:sp>
        <p:nvSpPr>
          <p:cNvPr id="24" name="Shape 22"/>
          <p:cNvSpPr/>
          <p:nvPr/>
        </p:nvSpPr>
        <p:spPr>
          <a:xfrm>
            <a:off x="6199632" y="3858768"/>
            <a:ext cx="5394960" cy="1975104"/>
          </a:xfrm>
          <a:prstGeom prst="roundRect">
            <a:avLst>
              <a:gd name="adj" fmla="val 2778"/>
            </a:avLst>
          </a:prstGeom>
          <a:solidFill>
            <a:srgbClr val="261A24"/>
          </a:solidFill>
          <a:ln w="12700">
            <a:solidFill>
              <a:srgbClr val="261A24"/>
            </a:solidFill>
            <a:prstDash val="solid"/>
          </a:ln>
          <a:effectLst>
            <a:outerShdw sx="100000" sy="100000" kx="0" ky="0" algn="bl" rotWithShape="0" blurRad="127000" dist="25400" dir="5400000">
              <a:srgbClr val="000000">
                <a:alpha val="35000"/>
              </a:srgbClr>
            </a:outerShdw>
          </a:effectLst>
        </p:spPr>
      </p:sp>
      <p:sp>
        <p:nvSpPr>
          <p:cNvPr id="25" name="Shape 23"/>
          <p:cNvSpPr/>
          <p:nvPr/>
        </p:nvSpPr>
        <p:spPr>
          <a:xfrm>
            <a:off x="6492240" y="4078224"/>
            <a:ext cx="329184" cy="329184"/>
          </a:xfrm>
          <a:prstGeom prst="ellipse">
            <a:avLst/>
          </a:prstGeom>
          <a:solidFill>
            <a:srgbClr val="E0A458"/>
          </a:solidFill>
          <a:ln w="12700">
            <a:solidFill>
              <a:srgbClr val="E0A458"/>
            </a:solidFill>
            <a:prstDash val="solid"/>
          </a:ln>
        </p:spPr>
      </p:sp>
      <p:sp>
        <p:nvSpPr>
          <p:cNvPr id="26" name="Text 24"/>
          <p:cNvSpPr txBox="1"/>
          <p:nvPr/>
        </p:nvSpPr>
        <p:spPr>
          <a:xfrm>
            <a:off x="6492240" y="4078224"/>
            <a:ext cx="329184" cy="329184"/>
          </a:xfrm>
          <a:prstGeom prst="rect">
            <a:avLst/>
          </a:prstGeom>
          <a:noFill/>
          <a:ln/>
        </p:spPr>
        <p:txBody>
          <a:bodyPr wrap="square" lIns="0" tIns="0" rIns="0" bIns="0" rtlCol="0" anchor="ctr"/>
          <a:lstStyle/>
          <a:p>
            <a:pPr algn="ctr" indent="0" marL="0">
              <a:buNone/>
            </a:pPr>
            <a:r>
              <a:rPr lang="en-US" sz="1300" b="1" dirty="0">
                <a:solidFill>
                  <a:srgbClr val="000000"/>
                </a:solidFill>
                <a:latin typeface="Arial" pitchFamily="34" charset="0"/>
                <a:ea typeface="Arial" pitchFamily="34" charset="-122"/>
                <a:cs typeface="Arial" pitchFamily="34" charset="-120"/>
              </a:rPr>
              <a:t>4</a:t>
            </a:r>
            <a:endParaRPr lang="en-US" sz="1300" dirty="0"/>
          </a:p>
        </p:txBody>
      </p:sp>
      <p:sp>
        <p:nvSpPr>
          <p:cNvPr id="27" name="Text 25"/>
          <p:cNvSpPr txBox="1"/>
          <p:nvPr/>
        </p:nvSpPr>
        <p:spPr>
          <a:xfrm>
            <a:off x="6931152" y="4096512"/>
            <a:ext cx="2651760" cy="292608"/>
          </a:xfrm>
          <a:prstGeom prst="rect">
            <a:avLst/>
          </a:prstGeom>
          <a:noFill/>
          <a:ln/>
        </p:spPr>
        <p:txBody>
          <a:bodyPr wrap="square" lIns="0" tIns="0" rIns="0" bIns="0" rtlCol="0" anchor="ctr"/>
          <a:lstStyle/>
          <a:p>
            <a:pPr indent="0" marL="0">
              <a:buNone/>
            </a:pPr>
            <a:r>
              <a:rPr lang="en-US" sz="1400" b="1" dirty="0">
                <a:solidFill>
                  <a:srgbClr val="F2EDE6"/>
                </a:solidFill>
                <a:latin typeface="Meiryo" pitchFamily="34" charset="0"/>
                <a:ea typeface="Meiryo" pitchFamily="34" charset="-122"/>
                <a:cs typeface="Meiryo" pitchFamily="34" charset="-120"/>
              </a:rPr>
              <a:t>消費者契約法</a:t>
            </a:r>
            <a:endParaRPr lang="en-US" sz="1400" dirty="0"/>
          </a:p>
        </p:txBody>
      </p:sp>
      <p:sp>
        <p:nvSpPr>
          <p:cNvPr id="28" name="Text 26"/>
          <p:cNvSpPr txBox="1"/>
          <p:nvPr/>
        </p:nvSpPr>
        <p:spPr>
          <a:xfrm>
            <a:off x="6492240" y="4517136"/>
            <a:ext cx="4809744" cy="292608"/>
          </a:xfrm>
          <a:prstGeom prst="rect">
            <a:avLst/>
          </a:prstGeom>
          <a:noFill/>
          <a:ln/>
        </p:spPr>
        <p:txBody>
          <a:bodyPr wrap="square" lIns="0" tIns="0" rIns="0" bIns="0" rtlCol="0" anchor="ctr"/>
          <a:lstStyle/>
          <a:p>
            <a:pPr indent="0" marL="0">
              <a:buNone/>
            </a:pPr>
            <a:r>
              <a:rPr lang="en-US" sz="1300" b="1" dirty="0">
                <a:solidFill>
                  <a:srgbClr val="E0A458"/>
                </a:solidFill>
                <a:latin typeface="Meiryo" pitchFamily="34" charset="0"/>
                <a:ea typeface="Meiryo" pitchFamily="34" charset="-122"/>
                <a:cs typeface="Meiryo" pitchFamily="34" charset="-120"/>
              </a:rPr>
              <a:t>事前告知なき失効は無効になり得る</a:t>
            </a:r>
            <a:endParaRPr lang="en-US" sz="1300" dirty="0"/>
          </a:p>
        </p:txBody>
      </p:sp>
      <p:sp>
        <p:nvSpPr>
          <p:cNvPr id="29" name="Text 27"/>
          <p:cNvSpPr txBox="1"/>
          <p:nvPr/>
        </p:nvSpPr>
        <p:spPr>
          <a:xfrm>
            <a:off x="6492240" y="4864608"/>
            <a:ext cx="4809744" cy="877824"/>
          </a:xfrm>
          <a:prstGeom prst="rect">
            <a:avLst/>
          </a:prstGeom>
          <a:noFill/>
          <a:ln/>
        </p:spPr>
        <p:txBody>
          <a:bodyPr wrap="square" lIns="0" tIns="0" rIns="0" bIns="0" rtlCol="0" anchor="ctr"/>
          <a:lstStyle/>
          <a:p>
            <a:pPr indent="0" marL="0">
              <a:lnSpc>
                <a:spcPts val="1600"/>
              </a:lnSpc>
              <a:buNone/>
            </a:pPr>
            <a:r>
              <a:rPr lang="en-US" sz="1050" dirty="0">
                <a:solidFill>
                  <a:srgbClr val="A2908C"/>
                </a:solidFill>
                <a:latin typeface="Meiryo" pitchFamily="34" charset="0"/>
                <a:ea typeface="Meiryo" pitchFamily="34" charset="-122"/>
                <a:cs typeface="Meiryo" pitchFamily="34" charset="-120"/>
              </a:rPr>
              <a:t>大量に貯まったマイルを予告なく失効させる条項は法10条で無効となり得ます。付与・利用・変更手続・トラブル対応・譲渡可否・終了時対応の6点を規約に明記し公表します（経産省ガイドライン）。</a:t>
            </a:r>
            <a:endParaRPr lang="en-US" sz="10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00000"/>
        </a:solidFill>
      </p:bgPr>
    </p:bg>
    <p:spTree>
      <p:nvGrpSpPr>
        <p:cNvPr id="1" name=""/>
        <p:cNvGrpSpPr/>
        <p:nvPr/>
      </p:nvGrpSpPr>
      <p:grpSpPr>
        <a:xfrm>
          <a:off x="0" y="0"/>
          <a:ext cx="0" cy="0"/>
          <a:chOff x="0" y="0"/>
          <a:chExt cx="0" cy="0"/>
        </a:xfrm>
      </p:grpSpPr>
      <p:sp>
        <p:nvSpPr>
          <p:cNvPr id="2" name="Text 0"/>
          <p:cNvSpPr txBox="1"/>
          <p:nvPr/>
        </p:nvSpPr>
        <p:spPr>
          <a:xfrm>
            <a:off x="566928" y="310896"/>
            <a:ext cx="11027664" cy="237744"/>
          </a:xfrm>
          <a:prstGeom prst="rect">
            <a:avLst/>
          </a:prstGeom>
          <a:noFill/>
          <a:ln/>
        </p:spPr>
        <p:txBody>
          <a:bodyPr wrap="square" lIns="0" tIns="0" rIns="0" bIns="0" rtlCol="0" anchor="ctr"/>
          <a:lstStyle/>
          <a:p>
            <a:pPr indent="0" marL="0">
              <a:buNone/>
            </a:pPr>
            <a:r>
              <a:rPr lang="en-US" sz="1050" b="1" spc="300" kern="0" dirty="0">
                <a:solidFill>
                  <a:srgbClr val="C9A227"/>
                </a:solidFill>
                <a:latin typeface="Arial" pitchFamily="34" charset="0"/>
                <a:ea typeface="Arial" pitchFamily="34" charset="-122"/>
                <a:cs typeface="Arial" pitchFamily="34" charset="-120"/>
              </a:rPr>
              <a:t>DRINK RISK</a:t>
            </a:r>
            <a:endParaRPr lang="en-US" sz="1050" dirty="0"/>
          </a:p>
        </p:txBody>
      </p:sp>
      <p:sp>
        <p:nvSpPr>
          <p:cNvPr id="3" name="Text 1"/>
          <p:cNvSpPr txBox="1"/>
          <p:nvPr/>
        </p:nvSpPr>
        <p:spPr>
          <a:xfrm>
            <a:off x="566928" y="566928"/>
            <a:ext cx="11027664" cy="548640"/>
          </a:xfrm>
          <a:prstGeom prst="rect">
            <a:avLst/>
          </a:prstGeom>
          <a:noFill/>
          <a:ln/>
        </p:spPr>
        <p:txBody>
          <a:bodyPr wrap="square" lIns="0" tIns="0" rIns="0" bIns="0" rtlCol="0" anchor="ctr"/>
          <a:lstStyle/>
          <a:p>
            <a:pPr indent="0" marL="0">
              <a:buNone/>
            </a:pPr>
            <a:r>
              <a:rPr lang="en-US" sz="2900" b="1" dirty="0">
                <a:solidFill>
                  <a:srgbClr val="F2EDE6"/>
                </a:solidFill>
                <a:latin typeface="Meiryo" pitchFamily="34" charset="0"/>
                <a:ea typeface="Meiryo" pitchFamily="34" charset="-122"/>
                <a:cs typeface="Meiryo" pitchFamily="34" charset="-120"/>
              </a:rPr>
              <a:t>「全部飲まれる」の正体は付与タイミング</a:t>
            </a:r>
            <a:endParaRPr lang="en-US" sz="2900" dirty="0"/>
          </a:p>
        </p:txBody>
      </p:sp>
      <p:sp>
        <p:nvSpPr>
          <p:cNvPr id="4" name="Text 2"/>
          <p:cNvSpPr txBox="1"/>
          <p:nvPr/>
        </p:nvSpPr>
        <p:spPr>
          <a:xfrm>
            <a:off x="566928" y="1152144"/>
            <a:ext cx="11027664" cy="310896"/>
          </a:xfrm>
          <a:prstGeom prst="rect">
            <a:avLst/>
          </a:prstGeom>
          <a:noFill/>
          <a:ln/>
        </p:spPr>
        <p:txBody>
          <a:bodyPr wrap="square" lIns="0" tIns="0" rIns="0" bIns="0" rtlCol="0" anchor="ctr"/>
          <a:lstStyle/>
          <a:p>
            <a:pPr indent="0" marL="0">
              <a:buNone/>
            </a:pPr>
            <a:r>
              <a:rPr lang="en-US" sz="1300" dirty="0">
                <a:solidFill>
                  <a:srgbClr val="A2908C"/>
                </a:solidFill>
                <a:latin typeface="Meiryo" pitchFamily="34" charset="0"/>
                <a:ea typeface="Meiryo" pitchFamily="34" charset="-122"/>
                <a:cs typeface="Meiryo" pitchFamily="34" charset="-120"/>
              </a:rPr>
              <a:t>買ったワインを飲まれても、販売粗利30%があるので赤字にはなりません。問題は「管理料は月払い・マイルは年一括」です。</a:t>
            </a:r>
            <a:endParaRPr lang="en-US" sz="1300" dirty="0"/>
          </a:p>
        </p:txBody>
      </p:sp>
      <p:sp>
        <p:nvSpPr>
          <p:cNvPr id="5" name="Text 3"/>
          <p:cNvSpPr txBox="1"/>
          <p:nvPr/>
        </p:nvSpPr>
        <p:spPr>
          <a:xfrm>
            <a:off x="566928" y="6437376"/>
            <a:ext cx="4572000" cy="219456"/>
          </a:xfrm>
          <a:prstGeom prst="rect">
            <a:avLst/>
          </a:prstGeom>
          <a:noFill/>
          <a:ln/>
        </p:spPr>
        <p:txBody>
          <a:bodyPr wrap="square" lIns="0" tIns="0" rIns="0" bIns="0" rtlCol="0" anchor="ctr"/>
          <a:lstStyle/>
          <a:p>
            <a:pPr indent="0" marL="0">
              <a:buNone/>
            </a:pPr>
            <a:r>
              <a:rPr lang="en-US" sz="850" dirty="0">
                <a:solidFill>
                  <a:srgbClr val="6B5A5F"/>
                </a:solidFill>
                <a:latin typeface="Arial" pitchFamily="34" charset="0"/>
                <a:ea typeface="Arial" pitchFamily="34" charset="-122"/>
                <a:cs typeface="Arial" pitchFamily="34" charset="-120"/>
              </a:rPr>
              <a:t>WineBank CONFIDENTIAL</a:t>
            </a:r>
            <a:endParaRPr lang="en-US" sz="85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566928" y="1645920"/>
          <a:ext cx="5394960" cy="914400"/>
        </p:xfrm>
        <a:graphic>
          <a:graphicData uri="http://schemas.openxmlformats.org/drawingml/2006/table">
            <a:tbl>
              <a:tblPr/>
              <a:tblGrid>
                <a:gridCol w="1005840"/>
                <a:gridCol w="1280160"/>
                <a:gridCol w="1737360"/>
                <a:gridCol w="1371600"/>
              </a:tblGrid>
              <a:tr h="420624">
                <a:tc>
                  <a:txBody>
                    <a:bodyPr/>
                    <a:lstStyle/>
                    <a:p>
                      <a:pPr algn="ctr" indent="0" marL="0">
                        <a:buNone/>
                      </a:pPr>
                      <a:r>
                        <a:rPr lang="en-US" sz="1100" b="1" dirty="0">
                          <a:solidFill>
                            <a:srgbClr val="F2EDE6"/>
                          </a:solidFill>
                          <a:latin typeface="Meiryo" pitchFamily="34" charset="0"/>
                          <a:ea typeface="Meiryo" pitchFamily="34" charset="-122"/>
                          <a:cs typeface="Meiryo" pitchFamily="34" charset="-120"/>
                        </a:rPr>
                        <a:t>ティア</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7B1E3A"/>
                    </a:solidFill>
                  </a:tcPr>
                </a:tc>
                <a:tc>
                  <a:txBody>
                    <a:bodyPr/>
                    <a:lstStyle/>
                    <a:p>
                      <a:pPr algn="ctr" indent="0" marL="0">
                        <a:buNone/>
                      </a:pPr>
                      <a:r>
                        <a:rPr lang="en-US" sz="1100" b="1" dirty="0">
                          <a:solidFill>
                            <a:srgbClr val="F2EDE6"/>
                          </a:solidFill>
                          <a:latin typeface="Meiryo" pitchFamily="34" charset="0"/>
                          <a:ea typeface="Meiryo" pitchFamily="34" charset="-122"/>
                          <a:cs typeface="Meiryo" pitchFamily="34" charset="-120"/>
                        </a:rPr>
                        <a:t>月の管理料</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7B1E3A"/>
                    </a:solidFill>
                  </a:tcPr>
                </a:tc>
                <a:tc>
                  <a:txBody>
                    <a:bodyPr/>
                    <a:lstStyle/>
                    <a:p>
                      <a:pPr algn="ctr" indent="0" marL="0">
                        <a:buNone/>
                      </a:pPr>
                      <a:r>
                        <a:rPr lang="en-US" sz="1100" b="1" dirty="0">
                          <a:solidFill>
                            <a:srgbClr val="F2EDE6"/>
                          </a:solidFill>
                          <a:latin typeface="Meiryo" pitchFamily="34" charset="0"/>
                          <a:ea typeface="Meiryo" pitchFamily="34" charset="-122"/>
                          <a:cs typeface="Meiryo" pitchFamily="34" charset="-120"/>
                        </a:rPr>
                        <a:t>年一括のマイル</a:t>
                      </a:r>
                      <a:endParaRPr lang="en-US" sz="1100" dirty="0">
                        <a:latin typeface="Meiryo" charset="0"/>
                        <a:ea typeface="Meiryo" charset="0"/>
                        <a:cs typeface="Meiryo" charset="0"/>
                      </a:endParaRPr>
                    </a:p>
                    <a:p>
                      <a:pPr algn="ctr" indent="0" marL="0">
                        <a:buNone/>
                      </a:pPr>
                      <a:r>
                        <a:rPr lang="en-US" sz="1100" b="1" dirty="0">
                          <a:solidFill>
                            <a:srgbClr val="F2EDE6"/>
                          </a:solidFill>
                          <a:latin typeface="Meiryo" pitchFamily="34" charset="0"/>
                          <a:ea typeface="Meiryo" pitchFamily="34" charset="-122"/>
                          <a:cs typeface="Meiryo" pitchFamily="34" charset="-120"/>
                        </a:rPr>
                        <a:t>（当社原価）</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7B1E3A"/>
                    </a:solidFill>
                  </a:tcPr>
                </a:tc>
                <a:tc>
                  <a:txBody>
                    <a:bodyPr/>
                    <a:lstStyle/>
                    <a:p>
                      <a:pPr algn="ctr" indent="0" marL="0">
                        <a:buNone/>
                      </a:pPr>
                      <a:r>
                        <a:rPr lang="en-US" sz="1100" b="1" dirty="0">
                          <a:solidFill>
                            <a:srgbClr val="F2EDE6"/>
                          </a:solidFill>
                          <a:latin typeface="Meiryo" pitchFamily="34" charset="0"/>
                          <a:ea typeface="Meiryo" pitchFamily="34" charset="-122"/>
                          <a:cs typeface="Meiryo" pitchFamily="34" charset="-120"/>
                        </a:rPr>
                        <a:t>翌月に</a:t>
                      </a:r>
                      <a:endParaRPr lang="en-US" sz="1100" dirty="0">
                        <a:latin typeface="Meiryo" charset="0"/>
                        <a:ea typeface="Meiryo" charset="0"/>
                        <a:cs typeface="Meiryo" charset="0"/>
                      </a:endParaRPr>
                    </a:p>
                    <a:p>
                      <a:pPr algn="ctr" indent="0" marL="0">
                        <a:buNone/>
                      </a:pPr>
                      <a:r>
                        <a:rPr lang="en-US" sz="1100" b="1" dirty="0">
                          <a:solidFill>
                            <a:srgbClr val="F2EDE6"/>
                          </a:solidFill>
                          <a:latin typeface="Meiryo" pitchFamily="34" charset="0"/>
                          <a:ea typeface="Meiryo" pitchFamily="34" charset="-122"/>
                          <a:cs typeface="Meiryo" pitchFamily="34" charset="-120"/>
                        </a:rPr>
                        <a:t>引き出されると</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7B1E3A"/>
                    </a:solidFill>
                  </a:tcPr>
                </a:tc>
              </a:tr>
              <a:tr h="457200">
                <a:tc>
                  <a:txBody>
                    <a:bodyPr/>
                    <a:lstStyle/>
                    <a:p>
                      <a:pPr algn="ctr" indent="0" marL="0">
                        <a:buNone/>
                      </a:pPr>
                      <a:r>
                        <a:rPr lang="en-US" sz="1100" b="1" dirty="0">
                          <a:solidFill>
                            <a:srgbClr val="E8CE78"/>
                          </a:solidFill>
                          <a:latin typeface="Meiryo" pitchFamily="34" charset="0"/>
                          <a:ea typeface="Meiryo" pitchFamily="34" charset="-122"/>
                          <a:cs typeface="Meiryo" pitchFamily="34" charset="-120"/>
                        </a:rPr>
                        <a:t>100万</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17111A"/>
                    </a:solidFill>
                  </a:tcPr>
                </a:tc>
                <a:tc>
                  <a:txBody>
                    <a:bodyPr/>
                    <a:lstStyle/>
                    <a:p>
                      <a:pPr algn="ctr" indent="0" marL="0">
                        <a:buNone/>
                      </a:pPr>
                      <a:r>
                        <a:rPr lang="en-US" sz="1100" dirty="0">
                          <a:solidFill>
                            <a:srgbClr val="F2EDE6"/>
                          </a:solidFill>
                          <a:latin typeface="Meiryo" pitchFamily="34" charset="0"/>
                          <a:ea typeface="Meiryo" pitchFamily="34" charset="-122"/>
                          <a:cs typeface="Meiryo" pitchFamily="34" charset="-120"/>
                        </a:rPr>
                        <a:t>2,292円</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17111A"/>
                    </a:solidFill>
                  </a:tcPr>
                </a:tc>
                <a:tc>
                  <a:txBody>
                    <a:bodyPr/>
                    <a:lstStyle/>
                    <a:p>
                      <a:pPr algn="ctr" indent="0" marL="0">
                        <a:buNone/>
                      </a:pPr>
                      <a:r>
                        <a:rPr lang="en-US" sz="1100" dirty="0">
                          <a:solidFill>
                            <a:srgbClr val="F2EDE6"/>
                          </a:solidFill>
                          <a:latin typeface="Meiryo" pitchFamily="34" charset="0"/>
                          <a:ea typeface="Meiryo" pitchFamily="34" charset="-122"/>
                          <a:cs typeface="Meiryo" pitchFamily="34" charset="-120"/>
                        </a:rPr>
                        <a:t>40,000</a:t>
                      </a:r>
                      <a:endParaRPr lang="en-US" sz="1100" dirty="0">
                        <a:latin typeface="Meiryo" charset="0"/>
                        <a:ea typeface="Meiryo" charset="0"/>
                        <a:cs typeface="Meiryo" charset="0"/>
                      </a:endParaRPr>
                    </a:p>
                    <a:p>
                      <a:pPr algn="ctr" indent="0" marL="0">
                        <a:buNone/>
                      </a:pPr>
                      <a:r>
                        <a:rPr lang="en-US" sz="1100" dirty="0">
                          <a:solidFill>
                            <a:srgbClr val="F2EDE6"/>
                          </a:solidFill>
                          <a:latin typeface="Meiryo" pitchFamily="34" charset="0"/>
                          <a:ea typeface="Meiryo" pitchFamily="34" charset="-122"/>
                          <a:cs typeface="Meiryo" pitchFamily="34" charset="-120"/>
                        </a:rPr>
                        <a:t>（20,455円）</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17111A"/>
                    </a:solidFill>
                  </a:tcPr>
                </a:tc>
                <a:tc>
                  <a:txBody>
                    <a:bodyPr/>
                    <a:lstStyle/>
                    <a:p>
                      <a:pPr algn="ctr" indent="0" marL="0">
                        <a:buNone/>
                      </a:pPr>
                      <a:r>
                        <a:rPr lang="en-US" sz="1100" b="1" dirty="0">
                          <a:solidFill>
                            <a:srgbClr val="D96A6A"/>
                          </a:solidFill>
                          <a:latin typeface="Meiryo" pitchFamily="34" charset="0"/>
                          <a:ea typeface="Meiryo" pitchFamily="34" charset="-122"/>
                          <a:cs typeface="Meiryo" pitchFamily="34" charset="-120"/>
                        </a:rPr>
                        <a:t>▲18,164円</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17111A"/>
                    </a:solidFill>
                  </a:tcPr>
                </a:tc>
              </a:tr>
              <a:tr h="457200">
                <a:tc>
                  <a:txBody>
                    <a:bodyPr/>
                    <a:lstStyle/>
                    <a:p>
                      <a:pPr algn="ctr" indent="0" marL="0">
                        <a:buNone/>
                      </a:pPr>
                      <a:r>
                        <a:rPr lang="en-US" sz="1100" b="1" dirty="0">
                          <a:solidFill>
                            <a:srgbClr val="E8CE78"/>
                          </a:solidFill>
                          <a:latin typeface="Meiryo" pitchFamily="34" charset="0"/>
                          <a:ea typeface="Meiryo" pitchFamily="34" charset="-122"/>
                          <a:cs typeface="Meiryo" pitchFamily="34" charset="-120"/>
                        </a:rPr>
                        <a:t>500万</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17111A"/>
                    </a:solidFill>
                  </a:tcPr>
                </a:tc>
                <a:tc>
                  <a:txBody>
                    <a:bodyPr/>
                    <a:lstStyle/>
                    <a:p>
                      <a:pPr algn="ctr" indent="0" marL="0">
                        <a:buNone/>
                      </a:pPr>
                      <a:r>
                        <a:rPr lang="en-US" sz="1100" dirty="0">
                          <a:solidFill>
                            <a:srgbClr val="F2EDE6"/>
                          </a:solidFill>
                          <a:latin typeface="Meiryo" pitchFamily="34" charset="0"/>
                          <a:ea typeface="Meiryo" pitchFamily="34" charset="-122"/>
                          <a:cs typeface="Meiryo" pitchFamily="34" charset="-120"/>
                        </a:rPr>
                        <a:t>11,458円</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17111A"/>
                    </a:solidFill>
                  </a:tcPr>
                </a:tc>
                <a:tc>
                  <a:txBody>
                    <a:bodyPr/>
                    <a:lstStyle/>
                    <a:p>
                      <a:pPr algn="ctr" indent="0" marL="0">
                        <a:buNone/>
                      </a:pPr>
                      <a:r>
                        <a:rPr lang="en-US" sz="1100" dirty="0">
                          <a:solidFill>
                            <a:srgbClr val="F2EDE6"/>
                          </a:solidFill>
                          <a:latin typeface="Meiryo" pitchFamily="34" charset="0"/>
                          <a:ea typeface="Meiryo" pitchFamily="34" charset="-122"/>
                          <a:cs typeface="Meiryo" pitchFamily="34" charset="-120"/>
                        </a:rPr>
                        <a:t>250,000</a:t>
                      </a:r>
                      <a:endParaRPr lang="en-US" sz="1100" dirty="0">
                        <a:latin typeface="Meiryo" charset="0"/>
                        <a:ea typeface="Meiryo" charset="0"/>
                        <a:cs typeface="Meiryo" charset="0"/>
                      </a:endParaRPr>
                    </a:p>
                    <a:p>
                      <a:pPr algn="ctr" indent="0" marL="0">
                        <a:buNone/>
                      </a:pPr>
                      <a:r>
                        <a:rPr lang="en-US" sz="1100" dirty="0">
                          <a:solidFill>
                            <a:srgbClr val="F2EDE6"/>
                          </a:solidFill>
                          <a:latin typeface="Meiryo" pitchFamily="34" charset="0"/>
                          <a:ea typeface="Meiryo" pitchFamily="34" charset="-122"/>
                          <a:cs typeface="Meiryo" pitchFamily="34" charset="-120"/>
                        </a:rPr>
                        <a:t>（127,845円）</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17111A"/>
                    </a:solidFill>
                  </a:tcPr>
                </a:tc>
                <a:tc>
                  <a:txBody>
                    <a:bodyPr/>
                    <a:lstStyle/>
                    <a:p>
                      <a:pPr algn="ctr" indent="0" marL="0">
                        <a:buNone/>
                      </a:pPr>
                      <a:r>
                        <a:rPr lang="en-US" sz="1100" b="1" dirty="0">
                          <a:solidFill>
                            <a:srgbClr val="D96A6A"/>
                          </a:solidFill>
                          <a:latin typeface="Meiryo" pitchFamily="34" charset="0"/>
                          <a:ea typeface="Meiryo" pitchFamily="34" charset="-122"/>
                          <a:cs typeface="Meiryo" pitchFamily="34" charset="-120"/>
                        </a:rPr>
                        <a:t>▲116,387円</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17111A"/>
                    </a:solidFill>
                  </a:tcPr>
                </a:tc>
              </a:tr>
              <a:tr h="457200">
                <a:tc>
                  <a:txBody>
                    <a:bodyPr/>
                    <a:lstStyle/>
                    <a:p>
                      <a:pPr algn="ctr" indent="0" marL="0">
                        <a:buNone/>
                      </a:pPr>
                      <a:r>
                        <a:rPr lang="en-US" sz="1100" b="1" dirty="0">
                          <a:solidFill>
                            <a:srgbClr val="E8CE78"/>
                          </a:solidFill>
                          <a:latin typeface="Meiryo" pitchFamily="34" charset="0"/>
                          <a:ea typeface="Meiryo" pitchFamily="34" charset="-122"/>
                          <a:cs typeface="Meiryo" pitchFamily="34" charset="-120"/>
                        </a:rPr>
                        <a:t>1000万</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17111A"/>
                    </a:solidFill>
                  </a:tcPr>
                </a:tc>
                <a:tc>
                  <a:txBody>
                    <a:bodyPr/>
                    <a:lstStyle/>
                    <a:p>
                      <a:pPr algn="ctr" indent="0" marL="0">
                        <a:buNone/>
                      </a:pPr>
                      <a:r>
                        <a:rPr lang="en-US" sz="1100" dirty="0">
                          <a:solidFill>
                            <a:srgbClr val="F2EDE6"/>
                          </a:solidFill>
                          <a:latin typeface="Meiryo" pitchFamily="34" charset="0"/>
                          <a:ea typeface="Meiryo" pitchFamily="34" charset="-122"/>
                          <a:cs typeface="Meiryo" pitchFamily="34" charset="-120"/>
                        </a:rPr>
                        <a:t>22,917円</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17111A"/>
                    </a:solidFill>
                  </a:tcPr>
                </a:tc>
                <a:tc>
                  <a:txBody>
                    <a:bodyPr/>
                    <a:lstStyle/>
                    <a:p>
                      <a:pPr algn="ctr" indent="0" marL="0">
                        <a:buNone/>
                      </a:pPr>
                      <a:r>
                        <a:rPr lang="en-US" sz="1100" dirty="0">
                          <a:solidFill>
                            <a:srgbClr val="F2EDE6"/>
                          </a:solidFill>
                          <a:latin typeface="Meiryo" pitchFamily="34" charset="0"/>
                          <a:ea typeface="Meiryo" pitchFamily="34" charset="-122"/>
                          <a:cs typeface="Meiryo" pitchFamily="34" charset="-120"/>
                        </a:rPr>
                        <a:t>600,000</a:t>
                      </a:r>
                      <a:endParaRPr lang="en-US" sz="1100" dirty="0">
                        <a:latin typeface="Meiryo" charset="0"/>
                        <a:ea typeface="Meiryo" charset="0"/>
                        <a:cs typeface="Meiryo" charset="0"/>
                      </a:endParaRPr>
                    </a:p>
                    <a:p>
                      <a:pPr algn="ctr" indent="0" marL="0">
                        <a:buNone/>
                      </a:pPr>
                      <a:r>
                        <a:rPr lang="en-US" sz="1100" dirty="0">
                          <a:solidFill>
                            <a:srgbClr val="F2EDE6"/>
                          </a:solidFill>
                          <a:latin typeface="Meiryo" pitchFamily="34" charset="0"/>
                          <a:ea typeface="Meiryo" pitchFamily="34" charset="-122"/>
                          <a:cs typeface="Meiryo" pitchFamily="34" charset="-120"/>
                        </a:rPr>
                        <a:t>（306,828円）</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17111A"/>
                    </a:solidFill>
                  </a:tcPr>
                </a:tc>
                <a:tc>
                  <a:txBody>
                    <a:bodyPr/>
                    <a:lstStyle/>
                    <a:p>
                      <a:pPr algn="ctr" indent="0" marL="0">
                        <a:buNone/>
                      </a:pPr>
                      <a:r>
                        <a:rPr lang="en-US" sz="1100" b="1" dirty="0">
                          <a:solidFill>
                            <a:srgbClr val="D96A6A"/>
                          </a:solidFill>
                          <a:latin typeface="Meiryo" pitchFamily="34" charset="0"/>
                          <a:ea typeface="Meiryo" pitchFamily="34" charset="-122"/>
                          <a:cs typeface="Meiryo" pitchFamily="34" charset="-120"/>
                        </a:rPr>
                        <a:t>▲283,911円</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17111A"/>
                    </a:solidFill>
                  </a:tcPr>
                </a:tc>
              </a:tr>
            </a:tbl>
          </a:graphicData>
        </a:graphic>
      </p:graphicFrame>
      <p:sp>
        <p:nvSpPr>
          <p:cNvPr id="7" name="Shape 4"/>
          <p:cNvSpPr/>
          <p:nvPr/>
        </p:nvSpPr>
        <p:spPr>
          <a:xfrm>
            <a:off x="566928" y="3566160"/>
            <a:ext cx="5394960" cy="1517904"/>
          </a:xfrm>
          <a:prstGeom prst="roundRect">
            <a:avLst>
              <a:gd name="adj" fmla="val 3614"/>
            </a:avLst>
          </a:prstGeom>
          <a:solidFill>
            <a:srgbClr val="17111A"/>
          </a:solidFill>
          <a:ln w="12700">
            <a:solidFill>
              <a:srgbClr val="17111A"/>
            </a:solidFill>
            <a:prstDash val="solid"/>
          </a:ln>
          <a:effectLst>
            <a:outerShdw sx="100000" sy="100000" kx="0" ky="0" algn="bl" rotWithShape="0" blurRad="127000" dist="25400" dir="5400000">
              <a:srgbClr val="000000">
                <a:alpha val="35000"/>
              </a:srgbClr>
            </a:outerShdw>
          </a:effectLst>
        </p:spPr>
      </p:sp>
      <p:sp>
        <p:nvSpPr>
          <p:cNvPr id="8" name="Text 5"/>
          <p:cNvSpPr txBox="1"/>
          <p:nvPr/>
        </p:nvSpPr>
        <p:spPr>
          <a:xfrm>
            <a:off x="932688" y="3749040"/>
            <a:ext cx="4663440" cy="274320"/>
          </a:xfrm>
          <a:prstGeom prst="rect">
            <a:avLst/>
          </a:prstGeom>
          <a:noFill/>
          <a:ln/>
        </p:spPr>
        <p:txBody>
          <a:bodyPr wrap="square" lIns="0" tIns="0" rIns="0" bIns="0" rtlCol="0" anchor="ctr"/>
          <a:lstStyle/>
          <a:p>
            <a:pPr indent="0" marL="0">
              <a:buNone/>
            </a:pPr>
            <a:r>
              <a:rPr lang="en-US" sz="1400" b="1" dirty="0">
                <a:solidFill>
                  <a:srgbClr val="7FD1AE"/>
                </a:solidFill>
                <a:latin typeface="Meiryo" pitchFamily="34" charset="0"/>
                <a:ea typeface="Meiryo" pitchFamily="34" charset="-122"/>
                <a:cs typeface="Meiryo" pitchFamily="34" charset="-120"/>
              </a:rPr>
              <a:t>購入ワインなら、粗利で吸収できる</a:t>
            </a:r>
            <a:endParaRPr lang="en-US" sz="1400" dirty="0"/>
          </a:p>
        </p:txBody>
      </p:sp>
      <p:sp>
        <p:nvSpPr>
          <p:cNvPr id="9" name="Text 6"/>
          <p:cNvSpPr txBox="1"/>
          <p:nvPr/>
        </p:nvSpPr>
        <p:spPr>
          <a:xfrm>
            <a:off x="932688" y="4114800"/>
            <a:ext cx="4663440" cy="859536"/>
          </a:xfrm>
          <a:prstGeom prst="rect">
            <a:avLst/>
          </a:prstGeom>
          <a:noFill/>
          <a:ln/>
        </p:spPr>
        <p:txBody>
          <a:bodyPr wrap="square" lIns="0" tIns="0" rIns="0" bIns="0" rtlCol="0" anchor="ctr"/>
          <a:lstStyle/>
          <a:p>
            <a:pPr indent="0" marL="0">
              <a:lnSpc>
                <a:spcPts val="1600"/>
              </a:lnSpc>
              <a:buNone/>
            </a:pPr>
            <a:r>
              <a:rPr lang="en-US" sz="1100" dirty="0">
                <a:solidFill>
                  <a:srgbClr val="A2908C"/>
                </a:solidFill>
                <a:latin typeface="Meiryo" pitchFamily="34" charset="0"/>
                <a:ea typeface="Meiryo" pitchFamily="34" charset="-122"/>
                <a:cs typeface="Meiryo" pitchFamily="34" charset="-120"/>
              </a:rPr>
              <a:t>100万円の販売で粗利は30万円。▲1.8万円のストック損は吸収され、当社は+28万円です。失うのは、その後の管理料と成功報酬だけです。</a:t>
            </a:r>
            <a:endParaRPr lang="en-US" sz="1100" dirty="0"/>
          </a:p>
        </p:txBody>
      </p:sp>
      <p:sp>
        <p:nvSpPr>
          <p:cNvPr id="10" name="Shape 7"/>
          <p:cNvSpPr/>
          <p:nvPr/>
        </p:nvSpPr>
        <p:spPr>
          <a:xfrm>
            <a:off x="6199632" y="1645920"/>
            <a:ext cx="5394960" cy="3438144"/>
          </a:xfrm>
          <a:prstGeom prst="roundRect">
            <a:avLst>
              <a:gd name="adj" fmla="val 1596"/>
            </a:avLst>
          </a:prstGeom>
          <a:solidFill>
            <a:srgbClr val="261A24"/>
          </a:solidFill>
          <a:ln w="12700">
            <a:solidFill>
              <a:srgbClr val="261A24"/>
            </a:solidFill>
            <a:prstDash val="solid"/>
          </a:ln>
          <a:effectLst>
            <a:outerShdw sx="100000" sy="100000" kx="0" ky="0" algn="bl" rotWithShape="0" blurRad="127000" dist="25400" dir="5400000">
              <a:srgbClr val="000000">
                <a:alpha val="35000"/>
              </a:srgbClr>
            </a:outerShdw>
          </a:effectLst>
        </p:spPr>
      </p:sp>
      <p:sp>
        <p:nvSpPr>
          <p:cNvPr id="11" name="Text 8"/>
          <p:cNvSpPr txBox="1"/>
          <p:nvPr/>
        </p:nvSpPr>
        <p:spPr>
          <a:xfrm>
            <a:off x="6565392" y="1828800"/>
            <a:ext cx="4663440" cy="310896"/>
          </a:xfrm>
          <a:prstGeom prst="rect">
            <a:avLst/>
          </a:prstGeom>
          <a:noFill/>
          <a:ln/>
        </p:spPr>
        <p:txBody>
          <a:bodyPr wrap="square" lIns="0" tIns="0" rIns="0" bIns="0" rtlCol="0" anchor="ctr"/>
          <a:lstStyle/>
          <a:p>
            <a:pPr indent="0" marL="0">
              <a:buNone/>
            </a:pPr>
            <a:r>
              <a:rPr lang="en-US" sz="1600" b="1" dirty="0">
                <a:solidFill>
                  <a:srgbClr val="E0A458"/>
                </a:solidFill>
                <a:latin typeface="Meiryo" pitchFamily="34" charset="0"/>
                <a:ea typeface="Meiryo" pitchFamily="34" charset="-122"/>
                <a:cs typeface="Meiryo" pitchFamily="34" charset="-120"/>
              </a:rPr>
              <a:t>本当に危ないのは、持込ワイン</a:t>
            </a:r>
            <a:endParaRPr lang="en-US" sz="1600" dirty="0"/>
          </a:p>
        </p:txBody>
      </p:sp>
      <p:sp>
        <p:nvSpPr>
          <p:cNvPr id="12" name="Text 9"/>
          <p:cNvSpPr txBox="1"/>
          <p:nvPr/>
        </p:nvSpPr>
        <p:spPr>
          <a:xfrm>
            <a:off x="6565392" y="2212848"/>
            <a:ext cx="4663440" cy="548640"/>
          </a:xfrm>
          <a:prstGeom prst="rect">
            <a:avLst/>
          </a:prstGeom>
          <a:noFill/>
          <a:ln/>
        </p:spPr>
        <p:txBody>
          <a:bodyPr wrap="square" lIns="0" tIns="0" rIns="0" bIns="0" rtlCol="0" anchor="ctr"/>
          <a:lstStyle/>
          <a:p>
            <a:pPr indent="0" marL="0">
              <a:lnSpc>
                <a:spcPts val="1600"/>
              </a:lnSpc>
              <a:buNone/>
            </a:pPr>
            <a:r>
              <a:rPr lang="en-US" sz="1100" dirty="0">
                <a:solidFill>
                  <a:srgbClr val="A2908C"/>
                </a:solidFill>
                <a:latin typeface="Meiryo" pitchFamily="34" charset="0"/>
                <a:ea typeface="Meiryo" pitchFamily="34" charset="-122"/>
                <a:cs typeface="Meiryo" pitchFamily="34" charset="-120"/>
              </a:rPr>
              <a:t>当社で販売していないワインには粗利がありません。次の4手を繰り返されると、毎回そのまま純損になります。</a:t>
            </a:r>
            <a:endParaRPr lang="en-US" sz="1100" dirty="0"/>
          </a:p>
        </p:txBody>
      </p:sp>
      <p:sp>
        <p:nvSpPr>
          <p:cNvPr id="13" name="Shape 10"/>
          <p:cNvSpPr/>
          <p:nvPr/>
        </p:nvSpPr>
        <p:spPr>
          <a:xfrm>
            <a:off x="6565392" y="2871216"/>
            <a:ext cx="329184" cy="329184"/>
          </a:xfrm>
          <a:prstGeom prst="ellipse">
            <a:avLst/>
          </a:prstGeom>
          <a:solidFill>
            <a:srgbClr val="C9A227"/>
          </a:solidFill>
          <a:ln w="12700">
            <a:solidFill>
              <a:srgbClr val="C9A227"/>
            </a:solidFill>
            <a:prstDash val="solid"/>
          </a:ln>
        </p:spPr>
      </p:sp>
      <p:sp>
        <p:nvSpPr>
          <p:cNvPr id="14" name="Text 11"/>
          <p:cNvSpPr txBox="1"/>
          <p:nvPr/>
        </p:nvSpPr>
        <p:spPr>
          <a:xfrm>
            <a:off x="6565392" y="2871216"/>
            <a:ext cx="329184" cy="329184"/>
          </a:xfrm>
          <a:prstGeom prst="rect">
            <a:avLst/>
          </a:prstGeom>
          <a:noFill/>
          <a:ln/>
        </p:spPr>
        <p:txBody>
          <a:bodyPr wrap="square" lIns="0" tIns="0" rIns="0" bIns="0" rtlCol="0" anchor="ctr"/>
          <a:lstStyle/>
          <a:p>
            <a:pPr algn="ctr" indent="0" marL="0">
              <a:buNone/>
            </a:pPr>
            <a:r>
              <a:rPr lang="en-US" sz="1300" b="1" dirty="0">
                <a:solidFill>
                  <a:srgbClr val="000000"/>
                </a:solidFill>
                <a:latin typeface="Arial" pitchFamily="34" charset="0"/>
                <a:ea typeface="Arial" pitchFamily="34" charset="-122"/>
                <a:cs typeface="Arial" pitchFamily="34" charset="-120"/>
              </a:rPr>
              <a:t>1</a:t>
            </a:r>
            <a:endParaRPr lang="en-US" sz="1300" dirty="0"/>
          </a:p>
        </p:txBody>
      </p:sp>
      <p:sp>
        <p:nvSpPr>
          <p:cNvPr id="15" name="Text 12"/>
          <p:cNvSpPr txBox="1"/>
          <p:nvPr/>
        </p:nvSpPr>
        <p:spPr>
          <a:xfrm>
            <a:off x="7022592" y="2852928"/>
            <a:ext cx="4206240" cy="256032"/>
          </a:xfrm>
          <a:prstGeom prst="rect">
            <a:avLst/>
          </a:prstGeom>
          <a:noFill/>
          <a:ln/>
        </p:spPr>
        <p:txBody>
          <a:bodyPr wrap="square" lIns="0" tIns="0" rIns="0" bIns="0" rtlCol="0" anchor="ctr"/>
          <a:lstStyle/>
          <a:p>
            <a:pPr indent="0" marL="0">
              <a:buNone/>
            </a:pPr>
            <a:r>
              <a:rPr lang="en-US" sz="1250" b="1" dirty="0">
                <a:solidFill>
                  <a:srgbClr val="F2EDE6"/>
                </a:solidFill>
                <a:latin typeface="Meiryo" pitchFamily="34" charset="0"/>
                <a:ea typeface="Meiryo" pitchFamily="34" charset="-122"/>
                <a:cs typeface="Meiryo" pitchFamily="34" charset="-120"/>
              </a:rPr>
              <a:t>手元のワインを預ける</a:t>
            </a:r>
            <a:endParaRPr lang="en-US" sz="1250" dirty="0"/>
          </a:p>
        </p:txBody>
      </p:sp>
      <p:sp>
        <p:nvSpPr>
          <p:cNvPr id="16" name="Text 13"/>
          <p:cNvSpPr txBox="1"/>
          <p:nvPr/>
        </p:nvSpPr>
        <p:spPr>
          <a:xfrm>
            <a:off x="7022592" y="3108960"/>
            <a:ext cx="4206240" cy="219456"/>
          </a:xfrm>
          <a:prstGeom prst="rect">
            <a:avLst/>
          </a:prstGeom>
          <a:noFill/>
          <a:ln/>
        </p:spPr>
        <p:txBody>
          <a:bodyPr wrap="square" lIns="0" tIns="0" rIns="0" bIns="0" rtlCol="0" anchor="ctr"/>
          <a:lstStyle/>
          <a:p>
            <a:pPr indent="0" marL="0">
              <a:buNone/>
            </a:pPr>
            <a:r>
              <a:rPr lang="en-US" sz="1000" dirty="0">
                <a:solidFill>
                  <a:srgbClr val="A2908C"/>
                </a:solidFill>
                <a:latin typeface="Meiryo" pitchFamily="34" charset="0"/>
                <a:ea typeface="Meiryo" pitchFamily="34" charset="-122"/>
                <a:cs typeface="Meiryo" pitchFamily="34" charset="-120"/>
              </a:rPr>
              <a:t>持込・移管。当社の販売を経ない</a:t>
            </a:r>
            <a:endParaRPr lang="en-US" sz="1000" dirty="0"/>
          </a:p>
        </p:txBody>
      </p:sp>
      <p:sp>
        <p:nvSpPr>
          <p:cNvPr id="17" name="Shape 14"/>
          <p:cNvSpPr/>
          <p:nvPr/>
        </p:nvSpPr>
        <p:spPr>
          <a:xfrm>
            <a:off x="6565392" y="3401568"/>
            <a:ext cx="329184" cy="329184"/>
          </a:xfrm>
          <a:prstGeom prst="ellipse">
            <a:avLst/>
          </a:prstGeom>
          <a:solidFill>
            <a:srgbClr val="C9A227"/>
          </a:solidFill>
          <a:ln w="12700">
            <a:solidFill>
              <a:srgbClr val="C9A227"/>
            </a:solidFill>
            <a:prstDash val="solid"/>
          </a:ln>
        </p:spPr>
      </p:sp>
      <p:sp>
        <p:nvSpPr>
          <p:cNvPr id="18" name="Text 15"/>
          <p:cNvSpPr txBox="1"/>
          <p:nvPr/>
        </p:nvSpPr>
        <p:spPr>
          <a:xfrm>
            <a:off x="6565392" y="3401568"/>
            <a:ext cx="329184" cy="329184"/>
          </a:xfrm>
          <a:prstGeom prst="rect">
            <a:avLst/>
          </a:prstGeom>
          <a:noFill/>
          <a:ln/>
        </p:spPr>
        <p:txBody>
          <a:bodyPr wrap="square" lIns="0" tIns="0" rIns="0" bIns="0" rtlCol="0" anchor="ctr"/>
          <a:lstStyle/>
          <a:p>
            <a:pPr algn="ctr" indent="0" marL="0">
              <a:buNone/>
            </a:pPr>
            <a:r>
              <a:rPr lang="en-US" sz="1300" b="1" dirty="0">
                <a:solidFill>
                  <a:srgbClr val="000000"/>
                </a:solidFill>
                <a:latin typeface="Arial" pitchFamily="34" charset="0"/>
                <a:ea typeface="Arial" pitchFamily="34" charset="-122"/>
                <a:cs typeface="Arial" pitchFamily="34" charset="-120"/>
              </a:rPr>
              <a:t>2</a:t>
            </a:r>
            <a:endParaRPr lang="en-US" sz="1300" dirty="0"/>
          </a:p>
        </p:txBody>
      </p:sp>
      <p:sp>
        <p:nvSpPr>
          <p:cNvPr id="19" name="Text 16"/>
          <p:cNvSpPr txBox="1"/>
          <p:nvPr/>
        </p:nvSpPr>
        <p:spPr>
          <a:xfrm>
            <a:off x="7022592" y="3383280"/>
            <a:ext cx="4206240" cy="256032"/>
          </a:xfrm>
          <a:prstGeom prst="rect">
            <a:avLst/>
          </a:prstGeom>
          <a:noFill/>
          <a:ln/>
        </p:spPr>
        <p:txBody>
          <a:bodyPr wrap="square" lIns="0" tIns="0" rIns="0" bIns="0" rtlCol="0" anchor="ctr"/>
          <a:lstStyle/>
          <a:p>
            <a:pPr indent="0" marL="0">
              <a:buNone/>
            </a:pPr>
            <a:r>
              <a:rPr lang="en-US" sz="1250" b="1" dirty="0">
                <a:solidFill>
                  <a:srgbClr val="F2EDE6"/>
                </a:solidFill>
                <a:latin typeface="Meiryo" pitchFamily="34" charset="0"/>
                <a:ea typeface="Meiryo" pitchFamily="34" charset="-122"/>
                <a:cs typeface="Meiryo" pitchFamily="34" charset="-120"/>
              </a:rPr>
              <a:t>年分のマイルを受け取る</a:t>
            </a:r>
            <a:endParaRPr lang="en-US" sz="1250" dirty="0"/>
          </a:p>
        </p:txBody>
      </p:sp>
      <p:sp>
        <p:nvSpPr>
          <p:cNvPr id="20" name="Text 17"/>
          <p:cNvSpPr txBox="1"/>
          <p:nvPr/>
        </p:nvSpPr>
        <p:spPr>
          <a:xfrm>
            <a:off x="7022592" y="3639312"/>
            <a:ext cx="4206240" cy="219456"/>
          </a:xfrm>
          <a:prstGeom prst="rect">
            <a:avLst/>
          </a:prstGeom>
          <a:noFill/>
          <a:ln/>
        </p:spPr>
        <p:txBody>
          <a:bodyPr wrap="square" lIns="0" tIns="0" rIns="0" bIns="0" rtlCol="0" anchor="ctr"/>
          <a:lstStyle/>
          <a:p>
            <a:pPr indent="0" marL="0">
              <a:buNone/>
            </a:pPr>
            <a:r>
              <a:rPr lang="en-US" sz="1000" dirty="0">
                <a:solidFill>
                  <a:srgbClr val="A2908C"/>
                </a:solidFill>
                <a:latin typeface="Meiryo" pitchFamily="34" charset="0"/>
                <a:ea typeface="Meiryo" pitchFamily="34" charset="-122"/>
                <a:cs typeface="Meiryo" pitchFamily="34" charset="-120"/>
              </a:rPr>
              <a:t>年一括付与なら初月に全額</a:t>
            </a:r>
            <a:endParaRPr lang="en-US" sz="1000" dirty="0"/>
          </a:p>
        </p:txBody>
      </p:sp>
      <p:sp>
        <p:nvSpPr>
          <p:cNvPr id="21" name="Shape 18"/>
          <p:cNvSpPr/>
          <p:nvPr/>
        </p:nvSpPr>
        <p:spPr>
          <a:xfrm>
            <a:off x="6565392" y="3931920"/>
            <a:ext cx="329184" cy="329184"/>
          </a:xfrm>
          <a:prstGeom prst="ellipse">
            <a:avLst/>
          </a:prstGeom>
          <a:solidFill>
            <a:srgbClr val="C9A227"/>
          </a:solidFill>
          <a:ln w="12700">
            <a:solidFill>
              <a:srgbClr val="C9A227"/>
            </a:solidFill>
            <a:prstDash val="solid"/>
          </a:ln>
        </p:spPr>
      </p:sp>
      <p:sp>
        <p:nvSpPr>
          <p:cNvPr id="22" name="Text 19"/>
          <p:cNvSpPr txBox="1"/>
          <p:nvPr/>
        </p:nvSpPr>
        <p:spPr>
          <a:xfrm>
            <a:off x="6565392" y="3931920"/>
            <a:ext cx="329184" cy="329184"/>
          </a:xfrm>
          <a:prstGeom prst="rect">
            <a:avLst/>
          </a:prstGeom>
          <a:noFill/>
          <a:ln/>
        </p:spPr>
        <p:txBody>
          <a:bodyPr wrap="square" lIns="0" tIns="0" rIns="0" bIns="0" rtlCol="0" anchor="ctr"/>
          <a:lstStyle/>
          <a:p>
            <a:pPr algn="ctr" indent="0" marL="0">
              <a:buNone/>
            </a:pPr>
            <a:r>
              <a:rPr lang="en-US" sz="1300" b="1" dirty="0">
                <a:solidFill>
                  <a:srgbClr val="000000"/>
                </a:solidFill>
                <a:latin typeface="Arial" pitchFamily="34" charset="0"/>
                <a:ea typeface="Arial" pitchFamily="34" charset="-122"/>
                <a:cs typeface="Arial" pitchFamily="34" charset="-120"/>
              </a:rPr>
              <a:t>3</a:t>
            </a:r>
            <a:endParaRPr lang="en-US" sz="1300" dirty="0"/>
          </a:p>
        </p:txBody>
      </p:sp>
      <p:sp>
        <p:nvSpPr>
          <p:cNvPr id="23" name="Text 20"/>
          <p:cNvSpPr txBox="1"/>
          <p:nvPr/>
        </p:nvSpPr>
        <p:spPr>
          <a:xfrm>
            <a:off x="7022592" y="3913632"/>
            <a:ext cx="4206240" cy="256032"/>
          </a:xfrm>
          <a:prstGeom prst="rect">
            <a:avLst/>
          </a:prstGeom>
          <a:noFill/>
          <a:ln/>
        </p:spPr>
        <p:txBody>
          <a:bodyPr wrap="square" lIns="0" tIns="0" rIns="0" bIns="0" rtlCol="0" anchor="ctr"/>
          <a:lstStyle/>
          <a:p>
            <a:pPr indent="0" marL="0">
              <a:buNone/>
            </a:pPr>
            <a:r>
              <a:rPr lang="en-US" sz="1250" b="1" dirty="0">
                <a:solidFill>
                  <a:srgbClr val="F2EDE6"/>
                </a:solidFill>
                <a:latin typeface="Meiryo" pitchFamily="34" charset="0"/>
                <a:ea typeface="Meiryo" pitchFamily="34" charset="-122"/>
                <a:cs typeface="Meiryo" pitchFamily="34" charset="-120"/>
              </a:rPr>
              <a:t>翌月に引き出して飲む</a:t>
            </a:r>
            <a:endParaRPr lang="en-US" sz="1250" dirty="0"/>
          </a:p>
        </p:txBody>
      </p:sp>
      <p:sp>
        <p:nvSpPr>
          <p:cNvPr id="24" name="Text 21"/>
          <p:cNvSpPr txBox="1"/>
          <p:nvPr/>
        </p:nvSpPr>
        <p:spPr>
          <a:xfrm>
            <a:off x="7022592" y="4169664"/>
            <a:ext cx="4206240" cy="219456"/>
          </a:xfrm>
          <a:prstGeom prst="rect">
            <a:avLst/>
          </a:prstGeom>
          <a:noFill/>
          <a:ln/>
        </p:spPr>
        <p:txBody>
          <a:bodyPr wrap="square" lIns="0" tIns="0" rIns="0" bIns="0" rtlCol="0" anchor="ctr"/>
          <a:lstStyle/>
          <a:p>
            <a:pPr indent="0" marL="0">
              <a:buNone/>
            </a:pPr>
            <a:r>
              <a:rPr lang="en-US" sz="1000" dirty="0">
                <a:solidFill>
                  <a:srgbClr val="A2908C"/>
                </a:solidFill>
                <a:latin typeface="Meiryo" pitchFamily="34" charset="0"/>
                <a:ea typeface="Meiryo" pitchFamily="34" charset="-122"/>
                <a:cs typeface="Meiryo" pitchFamily="34" charset="-120"/>
              </a:rPr>
              <a:t>管理料は1か月分しか入らない</a:t>
            </a:r>
            <a:endParaRPr lang="en-US" sz="1000" dirty="0"/>
          </a:p>
        </p:txBody>
      </p:sp>
      <p:sp>
        <p:nvSpPr>
          <p:cNvPr id="25" name="Shape 22"/>
          <p:cNvSpPr/>
          <p:nvPr/>
        </p:nvSpPr>
        <p:spPr>
          <a:xfrm>
            <a:off x="6565392" y="4462272"/>
            <a:ext cx="329184" cy="329184"/>
          </a:xfrm>
          <a:prstGeom prst="ellipse">
            <a:avLst/>
          </a:prstGeom>
          <a:solidFill>
            <a:srgbClr val="E0A458"/>
          </a:solidFill>
          <a:ln w="12700">
            <a:solidFill>
              <a:srgbClr val="E0A458"/>
            </a:solidFill>
            <a:prstDash val="solid"/>
          </a:ln>
        </p:spPr>
      </p:sp>
      <p:sp>
        <p:nvSpPr>
          <p:cNvPr id="26" name="Text 23"/>
          <p:cNvSpPr txBox="1"/>
          <p:nvPr/>
        </p:nvSpPr>
        <p:spPr>
          <a:xfrm>
            <a:off x="6565392" y="4462272"/>
            <a:ext cx="329184" cy="329184"/>
          </a:xfrm>
          <a:prstGeom prst="rect">
            <a:avLst/>
          </a:prstGeom>
          <a:noFill/>
          <a:ln/>
        </p:spPr>
        <p:txBody>
          <a:bodyPr wrap="square" lIns="0" tIns="0" rIns="0" bIns="0" rtlCol="0" anchor="ctr"/>
          <a:lstStyle/>
          <a:p>
            <a:pPr algn="ctr" indent="0" marL="0">
              <a:buNone/>
            </a:pPr>
            <a:r>
              <a:rPr lang="en-US" sz="1300" b="1" dirty="0">
                <a:solidFill>
                  <a:srgbClr val="000000"/>
                </a:solidFill>
                <a:latin typeface="Arial" pitchFamily="34" charset="0"/>
                <a:ea typeface="Arial" pitchFamily="34" charset="-122"/>
                <a:cs typeface="Arial" pitchFamily="34" charset="-120"/>
              </a:rPr>
              <a:t>4</a:t>
            </a:r>
            <a:endParaRPr lang="en-US" sz="1300" dirty="0"/>
          </a:p>
        </p:txBody>
      </p:sp>
      <p:sp>
        <p:nvSpPr>
          <p:cNvPr id="27" name="Text 24"/>
          <p:cNvSpPr txBox="1"/>
          <p:nvPr/>
        </p:nvSpPr>
        <p:spPr>
          <a:xfrm>
            <a:off x="7022592" y="4443984"/>
            <a:ext cx="4206240" cy="256032"/>
          </a:xfrm>
          <a:prstGeom prst="rect">
            <a:avLst/>
          </a:prstGeom>
          <a:noFill/>
          <a:ln/>
        </p:spPr>
        <p:txBody>
          <a:bodyPr wrap="square" lIns="0" tIns="0" rIns="0" bIns="0" rtlCol="0" anchor="ctr"/>
          <a:lstStyle/>
          <a:p>
            <a:pPr indent="0" marL="0">
              <a:buNone/>
            </a:pPr>
            <a:r>
              <a:rPr lang="en-US" sz="1250" b="1" dirty="0">
                <a:solidFill>
                  <a:srgbClr val="F2EDE6"/>
                </a:solidFill>
                <a:latin typeface="Meiryo" pitchFamily="34" charset="0"/>
                <a:ea typeface="Meiryo" pitchFamily="34" charset="-122"/>
                <a:cs typeface="Meiryo" pitchFamily="34" charset="-120"/>
              </a:rPr>
              <a:t>また預け直す</a:t>
            </a:r>
            <a:endParaRPr lang="en-US" sz="1250" dirty="0"/>
          </a:p>
        </p:txBody>
      </p:sp>
      <p:sp>
        <p:nvSpPr>
          <p:cNvPr id="28" name="Text 25"/>
          <p:cNvSpPr txBox="1"/>
          <p:nvPr/>
        </p:nvSpPr>
        <p:spPr>
          <a:xfrm>
            <a:off x="7022592" y="4700016"/>
            <a:ext cx="4206240" cy="219456"/>
          </a:xfrm>
          <a:prstGeom prst="rect">
            <a:avLst/>
          </a:prstGeom>
          <a:noFill/>
          <a:ln/>
        </p:spPr>
        <p:txBody>
          <a:bodyPr wrap="square" lIns="0" tIns="0" rIns="0" bIns="0" rtlCol="0" anchor="ctr"/>
          <a:lstStyle/>
          <a:p>
            <a:pPr indent="0" marL="0">
              <a:buNone/>
            </a:pPr>
            <a:r>
              <a:rPr lang="en-US" sz="1000" dirty="0">
                <a:solidFill>
                  <a:srgbClr val="A2908C"/>
                </a:solidFill>
                <a:latin typeface="Meiryo" pitchFamily="34" charset="0"/>
                <a:ea typeface="Meiryo" pitchFamily="34" charset="-122"/>
                <a:cs typeface="Meiryo" pitchFamily="34" charset="-120"/>
              </a:rPr>
              <a:t>翌年分のマイルがまた出る</a:t>
            </a:r>
            <a:endParaRPr lang="en-US" sz="1000" dirty="0"/>
          </a:p>
        </p:txBody>
      </p:sp>
      <p:sp>
        <p:nvSpPr>
          <p:cNvPr id="29" name="Shape 26"/>
          <p:cNvSpPr/>
          <p:nvPr/>
        </p:nvSpPr>
        <p:spPr>
          <a:xfrm>
            <a:off x="566928" y="5230368"/>
            <a:ext cx="11027664" cy="822960"/>
          </a:xfrm>
          <a:prstGeom prst="roundRect">
            <a:avLst>
              <a:gd name="adj" fmla="val 6667"/>
            </a:avLst>
          </a:prstGeom>
          <a:solidFill>
            <a:srgbClr val="7B1E3A"/>
          </a:solidFill>
          <a:ln w="12700">
            <a:solidFill>
              <a:srgbClr val="7B1E3A"/>
            </a:solidFill>
            <a:prstDash val="solid"/>
          </a:ln>
          <a:effectLst>
            <a:outerShdw sx="100000" sy="100000" kx="0" ky="0" algn="bl" rotWithShape="0" blurRad="127000" dist="25400" dir="5400000">
              <a:srgbClr val="000000">
                <a:alpha val="35000"/>
              </a:srgbClr>
            </a:outerShdw>
          </a:effectLst>
        </p:spPr>
      </p:sp>
      <p:sp>
        <p:nvSpPr>
          <p:cNvPr id="30" name="Text 27"/>
          <p:cNvSpPr txBox="1"/>
          <p:nvPr/>
        </p:nvSpPr>
        <p:spPr>
          <a:xfrm>
            <a:off x="978408" y="5376672"/>
            <a:ext cx="10204704" cy="329184"/>
          </a:xfrm>
          <a:prstGeom prst="rect">
            <a:avLst/>
          </a:prstGeom>
          <a:noFill/>
          <a:ln/>
        </p:spPr>
        <p:txBody>
          <a:bodyPr wrap="square" lIns="0" tIns="0" rIns="0" bIns="0" rtlCol="0" anchor="ctr"/>
          <a:lstStyle/>
          <a:p>
            <a:pPr indent="0" marL="0">
              <a:buNone/>
            </a:pPr>
            <a:r>
              <a:rPr lang="en-US" sz="1700" b="1" dirty="0">
                <a:solidFill>
                  <a:srgbClr val="E8CE78"/>
                </a:solidFill>
                <a:latin typeface="Meiryo" pitchFamily="34" charset="0"/>
                <a:ea typeface="Meiryo" pitchFamily="34" charset="-122"/>
                <a:cs typeface="Meiryo" pitchFamily="34" charset="-120"/>
              </a:rPr>
              <a:t>塞ぐべきは「飲むこと」ではなく「年一括の付与」です。</a:t>
            </a:r>
            <a:endParaRPr lang="en-US" sz="1700" dirty="0"/>
          </a:p>
        </p:txBody>
      </p:sp>
      <p:sp>
        <p:nvSpPr>
          <p:cNvPr id="31" name="Text 28"/>
          <p:cNvSpPr txBox="1"/>
          <p:nvPr/>
        </p:nvSpPr>
        <p:spPr>
          <a:xfrm>
            <a:off x="978408" y="5742432"/>
            <a:ext cx="10204704" cy="256032"/>
          </a:xfrm>
          <a:prstGeom prst="rect">
            <a:avLst/>
          </a:prstGeom>
          <a:noFill/>
          <a:ln/>
        </p:spPr>
        <p:txBody>
          <a:bodyPr wrap="square" lIns="0" tIns="0" rIns="0" bIns="0" rtlCol="0" anchor="ctr"/>
          <a:lstStyle/>
          <a:p>
            <a:pPr indent="0" marL="0">
              <a:buNone/>
            </a:pPr>
            <a:r>
              <a:rPr lang="en-US" sz="1150" dirty="0">
                <a:solidFill>
                  <a:srgbClr val="F2EDE6"/>
                </a:solidFill>
                <a:latin typeface="Meiryo" pitchFamily="34" charset="0"/>
                <a:ea typeface="Meiryo" pitchFamily="34" charset="-122"/>
                <a:cs typeface="Meiryo" pitchFamily="34" charset="-120"/>
              </a:rPr>
              <a:t>飲むことは愛好家にとって最大の価値です。9/28に愛好家層をメインターゲットにした以上、持込ニーズは確実に増えます。</a:t>
            </a:r>
            <a:endParaRPr lang="en-US" sz="11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00000"/>
        </a:solidFill>
      </p:bgPr>
    </p:bg>
    <p:spTree>
      <p:nvGrpSpPr>
        <p:cNvPr id="1" name=""/>
        <p:cNvGrpSpPr/>
        <p:nvPr/>
      </p:nvGrpSpPr>
      <p:grpSpPr>
        <a:xfrm>
          <a:off x="0" y="0"/>
          <a:ext cx="0" cy="0"/>
          <a:chOff x="0" y="0"/>
          <a:chExt cx="0" cy="0"/>
        </a:xfrm>
      </p:grpSpPr>
      <p:sp>
        <p:nvSpPr>
          <p:cNvPr id="2" name="Text 0"/>
          <p:cNvSpPr txBox="1"/>
          <p:nvPr/>
        </p:nvSpPr>
        <p:spPr>
          <a:xfrm>
            <a:off x="566928" y="310896"/>
            <a:ext cx="11027664" cy="237744"/>
          </a:xfrm>
          <a:prstGeom prst="rect">
            <a:avLst/>
          </a:prstGeom>
          <a:noFill/>
          <a:ln/>
        </p:spPr>
        <p:txBody>
          <a:bodyPr wrap="square" lIns="0" tIns="0" rIns="0" bIns="0" rtlCol="0" anchor="ctr"/>
          <a:lstStyle/>
          <a:p>
            <a:pPr indent="0" marL="0">
              <a:buNone/>
            </a:pPr>
            <a:r>
              <a:rPr lang="en-US" sz="1050" b="1" spc="300" kern="0" dirty="0">
                <a:solidFill>
                  <a:srgbClr val="C9A227"/>
                </a:solidFill>
                <a:latin typeface="Arial" pitchFamily="34" charset="0"/>
                <a:ea typeface="Arial" pitchFamily="34" charset="-122"/>
                <a:cs typeface="Arial" pitchFamily="34" charset="-120"/>
              </a:rPr>
              <a:t>COUNTERMEASURE</a:t>
            </a:r>
            <a:endParaRPr lang="en-US" sz="1050" dirty="0"/>
          </a:p>
        </p:txBody>
      </p:sp>
      <p:sp>
        <p:nvSpPr>
          <p:cNvPr id="3" name="Text 1"/>
          <p:cNvSpPr txBox="1"/>
          <p:nvPr/>
        </p:nvSpPr>
        <p:spPr>
          <a:xfrm>
            <a:off x="566928" y="566928"/>
            <a:ext cx="11027664" cy="548640"/>
          </a:xfrm>
          <a:prstGeom prst="rect">
            <a:avLst/>
          </a:prstGeom>
          <a:noFill/>
          <a:ln/>
        </p:spPr>
        <p:txBody>
          <a:bodyPr wrap="square" lIns="0" tIns="0" rIns="0" bIns="0" rtlCol="0" anchor="ctr"/>
          <a:lstStyle/>
          <a:p>
            <a:pPr indent="0" marL="0">
              <a:buNone/>
            </a:pPr>
            <a:r>
              <a:rPr lang="en-US" sz="2900" b="1" dirty="0">
                <a:solidFill>
                  <a:srgbClr val="F2EDE6"/>
                </a:solidFill>
                <a:latin typeface="Meiryo" pitchFamily="34" charset="0"/>
                <a:ea typeface="Meiryo" pitchFamily="34" charset="-122"/>
                <a:cs typeface="Meiryo" pitchFamily="34" charset="-120"/>
              </a:rPr>
              <a:t>ロックより、マイルの月割後付与</a:t>
            </a:r>
            <a:endParaRPr lang="en-US" sz="2900" dirty="0"/>
          </a:p>
        </p:txBody>
      </p:sp>
      <p:sp>
        <p:nvSpPr>
          <p:cNvPr id="4" name="Text 2"/>
          <p:cNvSpPr txBox="1"/>
          <p:nvPr/>
        </p:nvSpPr>
        <p:spPr>
          <a:xfrm>
            <a:off x="566928" y="1152144"/>
            <a:ext cx="11027664" cy="310896"/>
          </a:xfrm>
          <a:prstGeom prst="rect">
            <a:avLst/>
          </a:prstGeom>
          <a:noFill/>
          <a:ln/>
        </p:spPr>
        <p:txBody>
          <a:bodyPr wrap="square" lIns="0" tIns="0" rIns="0" bIns="0" rtlCol="0" anchor="ctr"/>
          <a:lstStyle/>
          <a:p>
            <a:pPr indent="0" marL="0">
              <a:buNone/>
            </a:pPr>
            <a:r>
              <a:rPr lang="en-US" sz="1300" dirty="0">
                <a:solidFill>
                  <a:srgbClr val="A2908C"/>
                </a:solidFill>
                <a:latin typeface="Meiryo" pitchFamily="34" charset="0"/>
                <a:ea typeface="Meiryo" pitchFamily="34" charset="-122"/>
                <a:cs typeface="Meiryo" pitchFamily="34" charset="-120"/>
              </a:rPr>
              <a:t>お支払いいただいた管理料に応じて、毎月あとからマイルを付与する。これだけで、何か月目に引き出されても赤字になりません。</a:t>
            </a:r>
            <a:endParaRPr lang="en-US" sz="1300" dirty="0"/>
          </a:p>
        </p:txBody>
      </p:sp>
      <p:sp>
        <p:nvSpPr>
          <p:cNvPr id="5" name="Text 3"/>
          <p:cNvSpPr txBox="1"/>
          <p:nvPr/>
        </p:nvSpPr>
        <p:spPr>
          <a:xfrm>
            <a:off x="566928" y="6437376"/>
            <a:ext cx="4572000" cy="219456"/>
          </a:xfrm>
          <a:prstGeom prst="rect">
            <a:avLst/>
          </a:prstGeom>
          <a:noFill/>
          <a:ln/>
        </p:spPr>
        <p:txBody>
          <a:bodyPr wrap="square" lIns="0" tIns="0" rIns="0" bIns="0" rtlCol="0" anchor="ctr"/>
          <a:lstStyle/>
          <a:p>
            <a:pPr indent="0" marL="0">
              <a:buNone/>
            </a:pPr>
            <a:r>
              <a:rPr lang="en-US" sz="850" dirty="0">
                <a:solidFill>
                  <a:srgbClr val="6B5A5F"/>
                </a:solidFill>
                <a:latin typeface="Arial" pitchFamily="34" charset="0"/>
                <a:ea typeface="Arial" pitchFamily="34" charset="-122"/>
                <a:cs typeface="Arial" pitchFamily="34" charset="-120"/>
              </a:rPr>
              <a:t>WineBank CONFIDENTIAL</a:t>
            </a:r>
            <a:endParaRPr lang="en-US" sz="85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566928" y="1645920"/>
          <a:ext cx="11027664" cy="914400"/>
        </p:xfrm>
        <a:graphic>
          <a:graphicData uri="http://schemas.openxmlformats.org/drawingml/2006/table">
            <a:tbl>
              <a:tblPr/>
              <a:tblGrid>
                <a:gridCol w="2432304"/>
                <a:gridCol w="2651760"/>
                <a:gridCol w="2651760"/>
                <a:gridCol w="3291840"/>
              </a:tblGrid>
              <a:tr h="402336">
                <a:tc>
                  <a:txBody>
                    <a:bodyPr/>
                    <a:lstStyle/>
                    <a:p>
                      <a:pPr algn="ctr" indent="0" marL="0">
                        <a:buNone/>
                      </a:pP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7B1E3A"/>
                    </a:solidFill>
                  </a:tcPr>
                </a:tc>
                <a:tc>
                  <a:txBody>
                    <a:bodyPr/>
                    <a:lstStyle/>
                    <a:p>
                      <a:pPr algn="ctr" indent="0" marL="0">
                        <a:buNone/>
                      </a:pPr>
                      <a:r>
                        <a:rPr lang="en-US" sz="1100" b="1" dirty="0">
                          <a:solidFill>
                            <a:srgbClr val="F2EDE6"/>
                          </a:solidFill>
                          <a:latin typeface="Meiryo" pitchFamily="34" charset="0"/>
                          <a:ea typeface="Meiryo" pitchFamily="34" charset="-122"/>
                          <a:cs typeface="Meiryo" pitchFamily="34" charset="-120"/>
                        </a:rPr>
                        <a:t>① 1年ロック</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7B1E3A"/>
                    </a:solidFill>
                  </a:tcPr>
                </a:tc>
                <a:tc>
                  <a:txBody>
                    <a:bodyPr/>
                    <a:lstStyle/>
                    <a:p>
                      <a:pPr algn="ctr" indent="0" marL="0">
                        <a:buNone/>
                      </a:pPr>
                      <a:r>
                        <a:rPr lang="en-US" sz="1100" b="1" dirty="0">
                          <a:solidFill>
                            <a:srgbClr val="F2EDE6"/>
                          </a:solidFill>
                          <a:latin typeface="Meiryo" pitchFamily="34" charset="0"/>
                          <a:ea typeface="Meiryo" pitchFamily="34" charset="-122"/>
                          <a:cs typeface="Meiryo" pitchFamily="34" charset="-120"/>
                        </a:rPr>
                        <a:t>② 飲用上限 年2割</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7B1E3A"/>
                    </a:solidFill>
                  </a:tcPr>
                </a:tc>
                <a:tc>
                  <a:txBody>
                    <a:bodyPr/>
                    <a:lstStyle/>
                    <a:p>
                      <a:pPr algn="ctr" indent="0" marL="0">
                        <a:buNone/>
                      </a:pPr>
                      <a:r>
                        <a:rPr lang="en-US" sz="1100" b="1" dirty="0">
                          <a:solidFill>
                            <a:srgbClr val="F2EDE6"/>
                          </a:solidFill>
                          <a:latin typeface="Meiryo" pitchFamily="34" charset="0"/>
                          <a:ea typeface="Meiryo" pitchFamily="34" charset="-122"/>
                          <a:cs typeface="Meiryo" pitchFamily="34" charset="-120"/>
                        </a:rPr>
                        <a:t>③ 月割の後付与（推奨）</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7B1E3A"/>
                    </a:solidFill>
                  </a:tcPr>
                </a:tc>
              </a:tr>
              <a:tr h="384048">
                <a:tc>
                  <a:txBody>
                    <a:bodyPr/>
                    <a:lstStyle/>
                    <a:p>
                      <a:pPr algn="l" indent="0" marL="0">
                        <a:buNone/>
                      </a:pPr>
                      <a:r>
                        <a:rPr lang="en-US" sz="1100" b="1" dirty="0">
                          <a:solidFill>
                            <a:srgbClr val="F2EDE6"/>
                          </a:solidFill>
                          <a:latin typeface="Meiryo" pitchFamily="34" charset="0"/>
                          <a:ea typeface="Meiryo" pitchFamily="34" charset="-122"/>
                          <a:cs typeface="Meiryo" pitchFamily="34" charset="-120"/>
                        </a:rPr>
                        <a:t>持込ワインの裁定</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61A24"/>
                    </a:solidFill>
                  </a:tcPr>
                </a:tc>
                <a:tc>
                  <a:txBody>
                    <a:bodyPr/>
                    <a:lstStyle/>
                    <a:p>
                      <a:pPr algn="ctr" indent="0" marL="0">
                        <a:buNone/>
                      </a:pPr>
                      <a:r>
                        <a:rPr lang="en-US" sz="1050" b="1" dirty="0">
                          <a:solidFill>
                            <a:srgbClr val="7FD1AE"/>
                          </a:solidFill>
                          <a:latin typeface="Meiryo" pitchFamily="34" charset="0"/>
                          <a:ea typeface="Meiryo" pitchFamily="34" charset="-122"/>
                          <a:cs typeface="Meiryo" pitchFamily="34" charset="-120"/>
                        </a:rPr>
                        <a:t>◎ 防げる</a:t>
                      </a:r>
                      <a:endParaRPr lang="en-US" sz="105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17111A"/>
                    </a:solidFill>
                  </a:tcPr>
                </a:tc>
                <a:tc>
                  <a:txBody>
                    <a:bodyPr/>
                    <a:lstStyle/>
                    <a:p>
                      <a:pPr algn="ctr" indent="0" marL="0">
                        <a:buNone/>
                      </a:pPr>
                      <a:r>
                        <a:rPr lang="en-US" sz="1050" b="1" dirty="0">
                          <a:solidFill>
                            <a:srgbClr val="E0A458"/>
                          </a:solidFill>
                          <a:latin typeface="Meiryo" pitchFamily="34" charset="0"/>
                          <a:ea typeface="Meiryo" pitchFamily="34" charset="-122"/>
                          <a:cs typeface="Meiryo" pitchFamily="34" charset="-120"/>
                        </a:rPr>
                        <a:t>△ 2割までは取られる</a:t>
                      </a:r>
                      <a:endParaRPr lang="en-US" sz="105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17111A"/>
                    </a:solidFill>
                  </a:tcPr>
                </a:tc>
                <a:tc>
                  <a:txBody>
                    <a:bodyPr/>
                    <a:lstStyle/>
                    <a:p>
                      <a:pPr algn="ctr" indent="0" marL="0">
                        <a:buNone/>
                      </a:pPr>
                      <a:r>
                        <a:rPr lang="en-US" sz="1050" b="1" dirty="0">
                          <a:solidFill>
                            <a:srgbClr val="7FD1AE"/>
                          </a:solidFill>
                          <a:latin typeface="Meiryo" pitchFamily="34" charset="0"/>
                          <a:ea typeface="Meiryo" pitchFamily="34" charset="-122"/>
                          <a:cs typeface="Meiryo" pitchFamily="34" charset="-120"/>
                        </a:rPr>
                        <a:t>◎ 構造的に消える</a:t>
                      </a:r>
                      <a:endParaRPr lang="en-US" sz="105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17111A"/>
                    </a:solidFill>
                  </a:tcPr>
                </a:tc>
              </a:tr>
              <a:tr h="384048">
                <a:tc>
                  <a:txBody>
                    <a:bodyPr/>
                    <a:lstStyle/>
                    <a:p>
                      <a:pPr algn="l" indent="0" marL="0">
                        <a:buNone/>
                      </a:pPr>
                      <a:r>
                        <a:rPr lang="en-US" sz="1100" b="1" dirty="0">
                          <a:solidFill>
                            <a:srgbClr val="F2EDE6"/>
                          </a:solidFill>
                          <a:latin typeface="Meiryo" pitchFamily="34" charset="0"/>
                          <a:ea typeface="Meiryo" pitchFamily="34" charset="-122"/>
                          <a:cs typeface="Meiryo" pitchFamily="34" charset="-120"/>
                        </a:rPr>
                        <a:t>ルールの単純さ</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61A24"/>
                    </a:solidFill>
                  </a:tcPr>
                </a:tc>
                <a:tc>
                  <a:txBody>
                    <a:bodyPr/>
                    <a:lstStyle/>
                    <a:p>
                      <a:pPr algn="ctr" indent="0" marL="0">
                        <a:buNone/>
                      </a:pPr>
                      <a:r>
                        <a:rPr lang="en-US" sz="1050" b="1" dirty="0">
                          <a:solidFill>
                            <a:srgbClr val="F2EDE6"/>
                          </a:solidFill>
                          <a:latin typeface="Meiryo" pitchFamily="34" charset="0"/>
                          <a:ea typeface="Meiryo" pitchFamily="34" charset="-122"/>
                          <a:cs typeface="Meiryo" pitchFamily="34" charset="-120"/>
                        </a:rPr>
                        <a:t>○ 明快だが例外対応が要る</a:t>
                      </a:r>
                      <a:endParaRPr lang="en-US" sz="105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17111A"/>
                    </a:solidFill>
                  </a:tcPr>
                </a:tc>
                <a:tc>
                  <a:txBody>
                    <a:bodyPr/>
                    <a:lstStyle/>
                    <a:p>
                      <a:pPr algn="ctr" indent="0" marL="0">
                        <a:buNone/>
                      </a:pPr>
                      <a:r>
                        <a:rPr lang="en-US" sz="1050" b="1" dirty="0">
                          <a:solidFill>
                            <a:srgbClr val="D96A6A"/>
                          </a:solidFill>
                          <a:latin typeface="Meiryo" pitchFamily="34" charset="0"/>
                          <a:ea typeface="Meiryo" pitchFamily="34" charset="-122"/>
                          <a:cs typeface="Meiryo" pitchFamily="34" charset="-120"/>
                        </a:rPr>
                        <a:t>✗ 毎年の計算が要る</a:t>
                      </a:r>
                      <a:endParaRPr lang="en-US" sz="105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17111A"/>
                    </a:solidFill>
                  </a:tcPr>
                </a:tc>
                <a:tc>
                  <a:txBody>
                    <a:bodyPr/>
                    <a:lstStyle/>
                    <a:p>
                      <a:pPr algn="ctr" indent="0" marL="0">
                        <a:buNone/>
                      </a:pPr>
                      <a:r>
                        <a:rPr lang="en-US" sz="1050" b="1" dirty="0">
                          <a:solidFill>
                            <a:srgbClr val="7FD1AE"/>
                          </a:solidFill>
                          <a:latin typeface="Meiryo" pitchFamily="34" charset="0"/>
                          <a:ea typeface="Meiryo" pitchFamily="34" charset="-122"/>
                          <a:cs typeface="Meiryo" pitchFamily="34" charset="-120"/>
                        </a:rPr>
                        <a:t>◎ 預けた月の分だけ</a:t>
                      </a:r>
                      <a:endParaRPr lang="en-US" sz="105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17111A"/>
                    </a:solidFill>
                  </a:tcPr>
                </a:tc>
              </a:tr>
              <a:tr h="384048">
                <a:tc>
                  <a:txBody>
                    <a:bodyPr/>
                    <a:lstStyle/>
                    <a:p>
                      <a:pPr algn="l" indent="0" marL="0">
                        <a:buNone/>
                      </a:pPr>
                      <a:r>
                        <a:rPr lang="en-US" sz="1100" b="1" dirty="0">
                          <a:solidFill>
                            <a:srgbClr val="F2EDE6"/>
                          </a:solidFill>
                          <a:latin typeface="Meiryo" pitchFamily="34" charset="0"/>
                          <a:ea typeface="Meiryo" pitchFamily="34" charset="-122"/>
                          <a:cs typeface="Meiryo" pitchFamily="34" charset="-120"/>
                        </a:rPr>
                        <a:t>愛好家の「飲みたい」</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61A24"/>
                    </a:solidFill>
                  </a:tcPr>
                </a:tc>
                <a:tc>
                  <a:txBody>
                    <a:bodyPr/>
                    <a:lstStyle/>
                    <a:p>
                      <a:pPr algn="ctr" indent="0" marL="0">
                        <a:buNone/>
                      </a:pPr>
                      <a:r>
                        <a:rPr lang="en-US" sz="1050" b="1" dirty="0">
                          <a:solidFill>
                            <a:srgbClr val="D96A6A"/>
                          </a:solidFill>
                          <a:latin typeface="Meiryo" pitchFamily="34" charset="0"/>
                          <a:ea typeface="Meiryo" pitchFamily="34" charset="-122"/>
                          <a:cs typeface="Meiryo" pitchFamily="34" charset="-120"/>
                        </a:rPr>
                        <a:t>✗ 1年は飲めない</a:t>
                      </a:r>
                      <a:endParaRPr lang="en-US" sz="105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17111A"/>
                    </a:solidFill>
                  </a:tcPr>
                </a:tc>
                <a:tc>
                  <a:txBody>
                    <a:bodyPr/>
                    <a:lstStyle/>
                    <a:p>
                      <a:pPr algn="ctr" indent="0" marL="0">
                        <a:buNone/>
                      </a:pPr>
                      <a:r>
                        <a:rPr lang="en-US" sz="1050" b="1" dirty="0">
                          <a:solidFill>
                            <a:srgbClr val="E0A458"/>
                          </a:solidFill>
                          <a:latin typeface="Meiryo" pitchFamily="34" charset="0"/>
                          <a:ea typeface="Meiryo" pitchFamily="34" charset="-122"/>
                          <a:cs typeface="Meiryo" pitchFamily="34" charset="-120"/>
                        </a:rPr>
                        <a:t>△ 2割までなら</a:t>
                      </a:r>
                      <a:endParaRPr lang="en-US" sz="105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17111A"/>
                    </a:solidFill>
                  </a:tcPr>
                </a:tc>
                <a:tc>
                  <a:txBody>
                    <a:bodyPr/>
                    <a:lstStyle/>
                    <a:p>
                      <a:pPr algn="ctr" indent="0" marL="0">
                        <a:buNone/>
                      </a:pPr>
                      <a:r>
                        <a:rPr lang="en-US" sz="1050" b="1" dirty="0">
                          <a:solidFill>
                            <a:srgbClr val="7FD1AE"/>
                          </a:solidFill>
                          <a:latin typeface="Meiryo" pitchFamily="34" charset="0"/>
                          <a:ea typeface="Meiryo" pitchFamily="34" charset="-122"/>
                          <a:cs typeface="Meiryo" pitchFamily="34" charset="-120"/>
                        </a:rPr>
                        <a:t>◎ いつでも飲める</a:t>
                      </a:r>
                      <a:endParaRPr lang="en-US" sz="105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17111A"/>
                    </a:solidFill>
                  </a:tcPr>
                </a:tc>
              </a:tr>
              <a:tr h="384048">
                <a:tc>
                  <a:txBody>
                    <a:bodyPr/>
                    <a:lstStyle/>
                    <a:p>
                      <a:pPr algn="l" indent="0" marL="0">
                        <a:buNone/>
                      </a:pPr>
                      <a:r>
                        <a:rPr lang="en-US" sz="1100" b="1" dirty="0">
                          <a:solidFill>
                            <a:srgbClr val="F2EDE6"/>
                          </a:solidFill>
                          <a:latin typeface="Meiryo" pitchFamily="34" charset="0"/>
                          <a:ea typeface="Meiryo" pitchFamily="34" charset="-122"/>
                          <a:cs typeface="Meiryo" pitchFamily="34" charset="-120"/>
                        </a:rPr>
                        <a:t>弁護士意見書との整合</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61A24"/>
                    </a:solidFill>
                  </a:tcPr>
                </a:tc>
                <a:tc>
                  <a:txBody>
                    <a:bodyPr/>
                    <a:lstStyle/>
                    <a:p>
                      <a:pPr algn="ctr" indent="0" marL="0">
                        <a:buNone/>
                      </a:pPr>
                      <a:r>
                        <a:rPr lang="en-US" sz="1050" b="1" dirty="0">
                          <a:solidFill>
                            <a:srgbClr val="F2EDE6"/>
                          </a:solidFill>
                          <a:latin typeface="Meiryo" pitchFamily="34" charset="0"/>
                          <a:ea typeface="Meiryo" pitchFamily="34" charset="-122"/>
                          <a:cs typeface="Meiryo" pitchFamily="34" charset="-120"/>
                        </a:rPr>
                        <a:t>○</a:t>
                      </a:r>
                      <a:endParaRPr lang="en-US" sz="105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17111A"/>
                    </a:solidFill>
                  </a:tcPr>
                </a:tc>
                <a:tc>
                  <a:txBody>
                    <a:bodyPr/>
                    <a:lstStyle/>
                    <a:p>
                      <a:pPr algn="ctr" indent="0" marL="0">
                        <a:buNone/>
                      </a:pPr>
                      <a:r>
                        <a:rPr lang="en-US" sz="1050" b="1" dirty="0">
                          <a:solidFill>
                            <a:srgbClr val="F2EDE6"/>
                          </a:solidFill>
                          <a:latin typeface="Meiryo" pitchFamily="34" charset="0"/>
                          <a:ea typeface="Meiryo" pitchFamily="34" charset="-122"/>
                          <a:cs typeface="Meiryo" pitchFamily="34" charset="-120"/>
                        </a:rPr>
                        <a:t>○</a:t>
                      </a:r>
                      <a:endParaRPr lang="en-US" sz="105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17111A"/>
                    </a:solidFill>
                  </a:tcPr>
                </a:tc>
                <a:tc>
                  <a:txBody>
                    <a:bodyPr/>
                    <a:lstStyle/>
                    <a:p>
                      <a:pPr algn="ctr" indent="0" marL="0">
                        <a:buNone/>
                      </a:pPr>
                      <a:r>
                        <a:rPr lang="en-US" sz="1050" b="1" dirty="0">
                          <a:solidFill>
                            <a:srgbClr val="7FD1AE"/>
                          </a:solidFill>
                          <a:latin typeface="Meiryo" pitchFamily="34" charset="0"/>
                          <a:ea typeface="Meiryo" pitchFamily="34" charset="-122"/>
                          <a:cs typeface="Meiryo" pitchFamily="34" charset="-120"/>
                        </a:rPr>
                        <a:t>◎「管理料に応じたおまけ」そのもの</a:t>
                      </a:r>
                      <a:endParaRPr lang="en-US" sz="105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17111A"/>
                    </a:solidFill>
                  </a:tcPr>
                </a:tc>
              </a:tr>
              <a:tr h="384048">
                <a:tc>
                  <a:txBody>
                    <a:bodyPr/>
                    <a:lstStyle/>
                    <a:p>
                      <a:pPr algn="l" indent="0" marL="0">
                        <a:buNone/>
                      </a:pPr>
                      <a:r>
                        <a:rPr lang="en-US" sz="1100" b="1" dirty="0">
                          <a:solidFill>
                            <a:srgbClr val="F2EDE6"/>
                          </a:solidFill>
                          <a:latin typeface="Meiryo" pitchFamily="34" charset="0"/>
                          <a:ea typeface="Meiryo" pitchFamily="34" charset="-122"/>
                          <a:cs typeface="Meiryo" pitchFamily="34" charset="-120"/>
                        </a:rPr>
                        <a:t>顧客デメリットの重さ</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61A24"/>
                    </a:solidFill>
                  </a:tcPr>
                </a:tc>
                <a:tc>
                  <a:txBody>
                    <a:bodyPr/>
                    <a:lstStyle/>
                    <a:p>
                      <a:pPr algn="ctr" indent="0" marL="0">
                        <a:buNone/>
                      </a:pPr>
                      <a:r>
                        <a:rPr lang="en-US" sz="1050" b="1" dirty="0">
                          <a:solidFill>
                            <a:srgbClr val="D96A6A"/>
                          </a:solidFill>
                          <a:latin typeface="Meiryo" pitchFamily="34" charset="0"/>
                          <a:ea typeface="Meiryo" pitchFamily="34" charset="-122"/>
                          <a:cs typeface="Meiryo" pitchFamily="34" charset="-120"/>
                        </a:rPr>
                        <a:t>重い</a:t>
                      </a:r>
                      <a:endParaRPr lang="en-US" sz="105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17111A"/>
                    </a:solidFill>
                  </a:tcPr>
                </a:tc>
                <a:tc>
                  <a:txBody>
                    <a:bodyPr/>
                    <a:lstStyle/>
                    <a:p>
                      <a:pPr algn="ctr" indent="0" marL="0">
                        <a:buNone/>
                      </a:pPr>
                      <a:r>
                        <a:rPr lang="en-US" sz="1050" b="1" dirty="0">
                          <a:solidFill>
                            <a:srgbClr val="E0A458"/>
                          </a:solidFill>
                          <a:latin typeface="Meiryo" pitchFamily="34" charset="0"/>
                          <a:ea typeface="Meiryo" pitchFamily="34" charset="-122"/>
                          <a:cs typeface="Meiryo" pitchFamily="34" charset="-120"/>
                        </a:rPr>
                        <a:t>中</a:t>
                      </a:r>
                      <a:endParaRPr lang="en-US" sz="105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17111A"/>
                    </a:solidFill>
                  </a:tcPr>
                </a:tc>
                <a:tc>
                  <a:txBody>
                    <a:bodyPr/>
                    <a:lstStyle/>
                    <a:p>
                      <a:pPr algn="ctr" indent="0" marL="0">
                        <a:buNone/>
                      </a:pPr>
                      <a:r>
                        <a:rPr lang="en-US" sz="1050" b="1" dirty="0">
                          <a:solidFill>
                            <a:srgbClr val="7FD1AE"/>
                          </a:solidFill>
                          <a:latin typeface="Meiryo" pitchFamily="34" charset="0"/>
                          <a:ea typeface="Meiryo" pitchFamily="34" charset="-122"/>
                          <a:cs typeface="Meiryo" pitchFamily="34" charset="-120"/>
                        </a:rPr>
                        <a:t>軽い（1行で済む）</a:t>
                      </a:r>
                      <a:endParaRPr lang="en-US" sz="105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17111A"/>
                    </a:solidFill>
                  </a:tcPr>
                </a:tc>
              </a:tr>
            </a:tbl>
          </a:graphicData>
        </a:graphic>
      </p:graphicFrame>
      <p:graphicFrame>
        <p:nvGraphicFramePr>
          <p:cNvPr id="51" name="Table 1"/>
          <p:cNvGraphicFramePr>
            <a:graphicFrameLocks noGrp="1"/>
          </p:cNvGraphicFramePr>
          <p:nvPr>
            <p:extLst>
              <p:ext uri="{D42A27DB-BD31-4B8C-83A1-F6EECF244321}">
                <p14:modId xmlns:p14="http://schemas.microsoft.com/office/powerpoint/2010/main" val="1579011935"/>
              </p:ext>
            </p:extLst>
          </p:nvPr>
        </p:nvGraphicFramePr>
        <p:xfrm>
          <a:off x="566928" y="4114800"/>
          <a:ext cx="5394960" cy="914400"/>
        </p:xfrm>
        <a:graphic>
          <a:graphicData uri="http://schemas.openxmlformats.org/drawingml/2006/table">
            <a:tbl>
              <a:tblPr/>
              <a:tblGrid>
                <a:gridCol w="1188720"/>
                <a:gridCol w="1280160"/>
                <a:gridCol w="1371600"/>
                <a:gridCol w="1554480"/>
              </a:tblGrid>
              <a:tr h="347472">
                <a:tc>
                  <a:txBody>
                    <a:bodyPr/>
                    <a:lstStyle/>
                    <a:p>
                      <a:pPr algn="ctr" indent="0" marL="0">
                        <a:buNone/>
                      </a:pPr>
                      <a:r>
                        <a:rPr lang="en-US" sz="1100" b="1" dirty="0">
                          <a:solidFill>
                            <a:srgbClr val="F2EDE6"/>
                          </a:solidFill>
                          <a:latin typeface="Meiryo" pitchFamily="34" charset="0"/>
                          <a:ea typeface="Meiryo" pitchFamily="34" charset="-122"/>
                          <a:cs typeface="Meiryo" pitchFamily="34" charset="-120"/>
                        </a:rPr>
                        <a:t>ティア</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7B1E3A"/>
                    </a:solidFill>
                  </a:tcPr>
                </a:tc>
                <a:tc>
                  <a:txBody>
                    <a:bodyPr/>
                    <a:lstStyle/>
                    <a:p>
                      <a:pPr algn="ctr" indent="0" marL="0">
                        <a:buNone/>
                      </a:pPr>
                      <a:r>
                        <a:rPr lang="en-US" sz="1100" b="1" dirty="0">
                          <a:solidFill>
                            <a:srgbClr val="F2EDE6"/>
                          </a:solidFill>
                          <a:latin typeface="Meiryo" pitchFamily="34" charset="0"/>
                          <a:ea typeface="Meiryo" pitchFamily="34" charset="-122"/>
                          <a:cs typeface="Meiryo" pitchFamily="34" charset="-120"/>
                        </a:rPr>
                        <a:t>現金</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7B1E3A"/>
                    </a:solidFill>
                  </a:tcPr>
                </a:tc>
                <a:tc>
                  <a:txBody>
                    <a:bodyPr/>
                    <a:lstStyle/>
                    <a:p>
                      <a:pPr algn="ctr" indent="0" marL="0">
                        <a:buNone/>
                      </a:pPr>
                      <a:r>
                        <a:rPr lang="en-US" sz="1100" b="1" dirty="0">
                          <a:solidFill>
                            <a:srgbClr val="F2EDE6"/>
                          </a:solidFill>
                          <a:latin typeface="Meiryo" pitchFamily="34" charset="0"/>
                          <a:ea typeface="Meiryo" pitchFamily="34" charset="-122"/>
                          <a:cs typeface="Meiryo" pitchFamily="34" charset="-120"/>
                        </a:rPr>
                        <a:t>＋成功報酬</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7B1E3A"/>
                    </a:solidFill>
                  </a:tcPr>
                </a:tc>
                <a:tc>
                  <a:txBody>
                    <a:bodyPr/>
                    <a:lstStyle/>
                    <a:p>
                      <a:pPr algn="ctr" indent="0" marL="0">
                        <a:buNone/>
                      </a:pPr>
                      <a:r>
                        <a:rPr lang="en-US" sz="1100" b="1" dirty="0">
                          <a:solidFill>
                            <a:srgbClr val="F2EDE6"/>
                          </a:solidFill>
                          <a:latin typeface="Meiryo" pitchFamily="34" charset="0"/>
                          <a:ea typeface="Meiryo" pitchFamily="34" charset="-122"/>
                          <a:cs typeface="Meiryo" pitchFamily="34" charset="-120"/>
                        </a:rPr>
                        <a:t>＝1か月ごと</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7B1E3A"/>
                    </a:solidFill>
                  </a:tcPr>
                </a:tc>
              </a:tr>
              <a:tr h="329184">
                <a:tc>
                  <a:txBody>
                    <a:bodyPr/>
                    <a:lstStyle/>
                    <a:p>
                      <a:pPr algn="ctr" indent="0" marL="0">
                        <a:buNone/>
                      </a:pPr>
                      <a:r>
                        <a:rPr lang="en-US" sz="1100" b="1" dirty="0">
                          <a:solidFill>
                            <a:srgbClr val="E8CE78"/>
                          </a:solidFill>
                          <a:latin typeface="Meiryo" pitchFamily="34" charset="0"/>
                          <a:ea typeface="Meiryo" pitchFamily="34" charset="-122"/>
                          <a:cs typeface="Meiryo" pitchFamily="34" charset="-120"/>
                        </a:rPr>
                        <a:t>100万</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17111A"/>
                    </a:solidFill>
                  </a:tcPr>
                </a:tc>
                <a:tc>
                  <a:txBody>
                    <a:bodyPr/>
                    <a:lstStyle/>
                    <a:p>
                      <a:pPr algn="ctr" indent="0" marL="0">
                        <a:buNone/>
                      </a:pPr>
                      <a:r>
                        <a:rPr lang="en-US" sz="1100" dirty="0">
                          <a:solidFill>
                            <a:srgbClr val="7FD1AE"/>
                          </a:solidFill>
                          <a:latin typeface="Meiryo" pitchFamily="34" charset="0"/>
                          <a:ea typeface="Meiryo" pitchFamily="34" charset="-122"/>
                          <a:cs typeface="Meiryo" pitchFamily="34" charset="-120"/>
                        </a:rPr>
                        <a:t>+129円</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17111A"/>
                    </a:solidFill>
                  </a:tcPr>
                </a:tc>
                <a:tc>
                  <a:txBody>
                    <a:bodyPr/>
                    <a:lstStyle/>
                    <a:p>
                      <a:pPr algn="ctr" indent="0" marL="0">
                        <a:buNone/>
                      </a:pPr>
                      <a:r>
                        <a:rPr lang="en-US" sz="1100" dirty="0">
                          <a:solidFill>
                            <a:srgbClr val="F2EDE6"/>
                          </a:solidFill>
                          <a:latin typeface="Meiryo" pitchFamily="34" charset="0"/>
                          <a:ea typeface="Meiryo" pitchFamily="34" charset="-122"/>
                          <a:cs typeface="Meiryo" pitchFamily="34" charset="-120"/>
                        </a:rPr>
                        <a:t>+1,500円</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17111A"/>
                    </a:solidFill>
                  </a:tcPr>
                </a:tc>
                <a:tc>
                  <a:txBody>
                    <a:bodyPr/>
                    <a:lstStyle/>
                    <a:p>
                      <a:pPr algn="ctr" indent="0" marL="0">
                        <a:buNone/>
                      </a:pPr>
                      <a:r>
                        <a:rPr lang="en-US" sz="1100" b="1" dirty="0">
                          <a:solidFill>
                            <a:srgbClr val="7FD1AE"/>
                          </a:solidFill>
                          <a:latin typeface="Meiryo" pitchFamily="34" charset="0"/>
                          <a:ea typeface="Meiryo" pitchFamily="34" charset="-122"/>
                          <a:cs typeface="Meiryo" pitchFamily="34" charset="-120"/>
                        </a:rPr>
                        <a:t>+1,629円</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17111A"/>
                    </a:solidFill>
                  </a:tcPr>
                </a:tc>
              </a:tr>
              <a:tr h="329184">
                <a:tc>
                  <a:txBody>
                    <a:bodyPr/>
                    <a:lstStyle/>
                    <a:p>
                      <a:pPr algn="ctr" indent="0" marL="0">
                        <a:buNone/>
                      </a:pPr>
                      <a:r>
                        <a:rPr lang="en-US" sz="1100" b="1" dirty="0">
                          <a:solidFill>
                            <a:srgbClr val="E8CE78"/>
                          </a:solidFill>
                          <a:latin typeface="Meiryo" pitchFamily="34" charset="0"/>
                          <a:ea typeface="Meiryo" pitchFamily="34" charset="-122"/>
                          <a:cs typeface="Meiryo" pitchFamily="34" charset="-120"/>
                        </a:rPr>
                        <a:t>500万</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17111A"/>
                    </a:solidFill>
                  </a:tcPr>
                </a:tc>
                <a:tc>
                  <a:txBody>
                    <a:bodyPr/>
                    <a:lstStyle/>
                    <a:p>
                      <a:pPr algn="ctr" indent="0" marL="0">
                        <a:buNone/>
                      </a:pPr>
                      <a:r>
                        <a:rPr lang="en-US" sz="1100" dirty="0">
                          <a:solidFill>
                            <a:srgbClr val="D96A6A"/>
                          </a:solidFill>
                          <a:latin typeface="Meiryo" pitchFamily="34" charset="0"/>
                          <a:ea typeface="Meiryo" pitchFamily="34" charset="-122"/>
                          <a:cs typeface="Meiryo" pitchFamily="34" charset="-120"/>
                        </a:rPr>
                        <a:t>▲1,487円</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17111A"/>
                    </a:solidFill>
                  </a:tcPr>
                </a:tc>
                <a:tc>
                  <a:txBody>
                    <a:bodyPr/>
                    <a:lstStyle/>
                    <a:p>
                      <a:pPr algn="ctr" indent="0" marL="0">
                        <a:buNone/>
                      </a:pPr>
                      <a:r>
                        <a:rPr lang="en-US" sz="1100" dirty="0">
                          <a:solidFill>
                            <a:srgbClr val="F2EDE6"/>
                          </a:solidFill>
                          <a:latin typeface="Meiryo" pitchFamily="34" charset="0"/>
                          <a:ea typeface="Meiryo" pitchFamily="34" charset="-122"/>
                          <a:cs typeface="Meiryo" pitchFamily="34" charset="-120"/>
                        </a:rPr>
                        <a:t>+7,500円</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17111A"/>
                    </a:solidFill>
                  </a:tcPr>
                </a:tc>
                <a:tc>
                  <a:txBody>
                    <a:bodyPr/>
                    <a:lstStyle/>
                    <a:p>
                      <a:pPr algn="ctr" indent="0" marL="0">
                        <a:buNone/>
                      </a:pPr>
                      <a:r>
                        <a:rPr lang="en-US" sz="1100" b="1" dirty="0">
                          <a:solidFill>
                            <a:srgbClr val="7FD1AE"/>
                          </a:solidFill>
                          <a:latin typeface="Meiryo" pitchFamily="34" charset="0"/>
                          <a:ea typeface="Meiryo" pitchFamily="34" charset="-122"/>
                          <a:cs typeface="Meiryo" pitchFamily="34" charset="-120"/>
                        </a:rPr>
                        <a:t>+6,013円</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17111A"/>
                    </a:solidFill>
                  </a:tcPr>
                </a:tc>
              </a:tr>
              <a:tr h="329184">
                <a:tc>
                  <a:txBody>
                    <a:bodyPr/>
                    <a:lstStyle/>
                    <a:p>
                      <a:pPr algn="ctr" indent="0" marL="0">
                        <a:buNone/>
                      </a:pPr>
                      <a:r>
                        <a:rPr lang="en-US" sz="1100" b="1" dirty="0">
                          <a:solidFill>
                            <a:srgbClr val="E8CE78"/>
                          </a:solidFill>
                          <a:latin typeface="Meiryo" pitchFamily="34" charset="0"/>
                          <a:ea typeface="Meiryo" pitchFamily="34" charset="-122"/>
                          <a:cs typeface="Meiryo" pitchFamily="34" charset="-120"/>
                        </a:rPr>
                        <a:t>1000万</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17111A"/>
                    </a:solidFill>
                  </a:tcPr>
                </a:tc>
                <a:tc>
                  <a:txBody>
                    <a:bodyPr/>
                    <a:lstStyle/>
                    <a:p>
                      <a:pPr algn="ctr" indent="0" marL="0">
                        <a:buNone/>
                      </a:pPr>
                      <a:r>
                        <a:rPr lang="en-US" sz="1100" dirty="0">
                          <a:solidFill>
                            <a:srgbClr val="D96A6A"/>
                          </a:solidFill>
                          <a:latin typeface="Meiryo" pitchFamily="34" charset="0"/>
                          <a:ea typeface="Meiryo" pitchFamily="34" charset="-122"/>
                          <a:cs typeface="Meiryo" pitchFamily="34" charset="-120"/>
                        </a:rPr>
                        <a:t>▲7,236円</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17111A"/>
                    </a:solidFill>
                  </a:tcPr>
                </a:tc>
                <a:tc>
                  <a:txBody>
                    <a:bodyPr/>
                    <a:lstStyle/>
                    <a:p>
                      <a:pPr algn="ctr" indent="0" marL="0">
                        <a:buNone/>
                      </a:pPr>
                      <a:r>
                        <a:rPr lang="en-US" sz="1100" dirty="0">
                          <a:solidFill>
                            <a:srgbClr val="F2EDE6"/>
                          </a:solidFill>
                          <a:latin typeface="Meiryo" pitchFamily="34" charset="0"/>
                          <a:ea typeface="Meiryo" pitchFamily="34" charset="-122"/>
                          <a:cs typeface="Meiryo" pitchFamily="34" charset="-120"/>
                        </a:rPr>
                        <a:t>+15,000円</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17111A"/>
                    </a:solidFill>
                  </a:tcPr>
                </a:tc>
                <a:tc>
                  <a:txBody>
                    <a:bodyPr/>
                    <a:lstStyle/>
                    <a:p>
                      <a:pPr algn="ctr" indent="0" marL="0">
                        <a:buNone/>
                      </a:pPr>
                      <a:r>
                        <a:rPr lang="en-US" sz="1100" b="1" dirty="0">
                          <a:solidFill>
                            <a:srgbClr val="7FD1AE"/>
                          </a:solidFill>
                          <a:latin typeface="Meiryo" pitchFamily="34" charset="0"/>
                          <a:ea typeface="Meiryo" pitchFamily="34" charset="-122"/>
                          <a:cs typeface="Meiryo" pitchFamily="34" charset="-120"/>
                        </a:rPr>
                        <a:t>+7,764円</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17111A"/>
                    </a:solidFill>
                  </a:tcPr>
                </a:tc>
              </a:tr>
            </a:tbl>
          </a:graphicData>
        </a:graphic>
      </p:graphicFrame>
      <p:sp>
        <p:nvSpPr>
          <p:cNvPr id="8" name="Text 4"/>
          <p:cNvSpPr txBox="1"/>
          <p:nvPr/>
        </p:nvSpPr>
        <p:spPr>
          <a:xfrm>
            <a:off x="566928" y="5486400"/>
            <a:ext cx="5394960" cy="219456"/>
          </a:xfrm>
          <a:prstGeom prst="rect">
            <a:avLst/>
          </a:prstGeom>
          <a:noFill/>
          <a:ln/>
        </p:spPr>
        <p:txBody>
          <a:bodyPr wrap="square" lIns="0" tIns="0" rIns="0" bIns="0" rtlCol="0" anchor="ctr"/>
          <a:lstStyle/>
          <a:p>
            <a:pPr indent="0" marL="0">
              <a:buNone/>
            </a:pPr>
            <a:r>
              <a:rPr lang="en-US" sz="950" dirty="0">
                <a:solidFill>
                  <a:srgbClr val="A2908C"/>
                </a:solidFill>
                <a:latin typeface="Meiryo" pitchFamily="34" charset="0"/>
                <a:ea typeface="Meiryo" pitchFamily="34" charset="-122"/>
                <a:cs typeface="Meiryo" pitchFamily="34" charset="-120"/>
              </a:rPr>
              <a:t>③を採った場合の、1か月保有ごとの当社収支（6%上昇時）</a:t>
            </a:r>
            <a:endParaRPr lang="en-US" sz="950" dirty="0"/>
          </a:p>
        </p:txBody>
      </p:sp>
      <p:sp>
        <p:nvSpPr>
          <p:cNvPr id="9" name="Shape 5"/>
          <p:cNvSpPr/>
          <p:nvPr/>
        </p:nvSpPr>
        <p:spPr>
          <a:xfrm>
            <a:off x="6199632" y="4114800"/>
            <a:ext cx="5394960" cy="1591056"/>
          </a:xfrm>
          <a:prstGeom prst="roundRect">
            <a:avLst>
              <a:gd name="adj" fmla="val 3448"/>
            </a:avLst>
          </a:prstGeom>
          <a:solidFill>
            <a:srgbClr val="17111A"/>
          </a:solidFill>
          <a:ln w="12700">
            <a:solidFill>
              <a:srgbClr val="17111A"/>
            </a:solidFill>
            <a:prstDash val="solid"/>
          </a:ln>
          <a:effectLst>
            <a:outerShdw sx="100000" sy="100000" kx="0" ky="0" algn="bl" rotWithShape="0" blurRad="127000" dist="25400" dir="5400000">
              <a:srgbClr val="000000">
                <a:alpha val="35000"/>
              </a:srgbClr>
            </a:outerShdw>
          </a:effectLst>
        </p:spPr>
      </p:sp>
      <p:sp>
        <p:nvSpPr>
          <p:cNvPr id="10" name="Text 6"/>
          <p:cNvSpPr txBox="1"/>
          <p:nvPr/>
        </p:nvSpPr>
        <p:spPr>
          <a:xfrm>
            <a:off x="6565392" y="4279392"/>
            <a:ext cx="4663440" cy="274320"/>
          </a:xfrm>
          <a:prstGeom prst="rect">
            <a:avLst/>
          </a:prstGeom>
          <a:noFill/>
          <a:ln/>
        </p:spPr>
        <p:txBody>
          <a:bodyPr wrap="square" lIns="0" tIns="0" rIns="0" bIns="0" rtlCol="0" anchor="ctr"/>
          <a:lstStyle/>
          <a:p>
            <a:pPr indent="0" marL="0">
              <a:buNone/>
            </a:pPr>
            <a:r>
              <a:rPr lang="en-US" sz="1350" b="1" dirty="0">
                <a:solidFill>
                  <a:srgbClr val="E0A458"/>
                </a:solidFill>
                <a:latin typeface="Meiryo" pitchFamily="34" charset="0"/>
                <a:ea typeface="Meiryo" pitchFamily="34" charset="-122"/>
                <a:cs typeface="Meiryo" pitchFamily="34" charset="-120"/>
              </a:rPr>
              <a:t>ロックでも防げないリスクが1つあります</a:t>
            </a:r>
            <a:endParaRPr lang="en-US" sz="1350" dirty="0"/>
          </a:p>
        </p:txBody>
      </p:sp>
      <p:sp>
        <p:nvSpPr>
          <p:cNvPr id="11" name="Text 7"/>
          <p:cNvSpPr txBox="1"/>
          <p:nvPr/>
        </p:nvSpPr>
        <p:spPr>
          <a:xfrm>
            <a:off x="6565392" y="4626864"/>
            <a:ext cx="4663440" cy="1005840"/>
          </a:xfrm>
          <a:prstGeom prst="rect">
            <a:avLst/>
          </a:prstGeom>
          <a:noFill/>
          <a:ln/>
        </p:spPr>
        <p:txBody>
          <a:bodyPr wrap="square" lIns="0" tIns="0" rIns="0" bIns="0" rtlCol="0" anchor="ctr"/>
          <a:lstStyle/>
          <a:p>
            <a:pPr indent="0" marL="0">
              <a:lnSpc>
                <a:spcPts val="1500"/>
              </a:lnSpc>
              <a:buNone/>
            </a:pPr>
            <a:r>
              <a:rPr lang="en-US" sz="1050" dirty="0">
                <a:solidFill>
                  <a:srgbClr val="A2908C"/>
                </a:solidFill>
                <a:latin typeface="Meiryo" pitchFamily="34" charset="0"/>
                <a:ea typeface="Meiryo" pitchFamily="34" charset="-122"/>
                <a:cs typeface="Meiryo" pitchFamily="34" charset="-120"/>
              </a:rPr>
              <a:t>値下がり局面では成功報酬がゼロになり、500万・1000万は現金赤字だけが残ります。これは飲まれるかどうかではなく市場リスクで、交換先の誘導（原価率の引き下げ）でしか効きません。</a:t>
            </a:r>
            <a:endParaRPr lang="en-US" sz="10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00000"/>
        </a:solidFill>
      </p:bgPr>
    </p:bg>
    <p:spTree>
      <p:nvGrpSpPr>
        <p:cNvPr id="1" name=""/>
        <p:cNvGrpSpPr/>
        <p:nvPr/>
      </p:nvGrpSpPr>
      <p:grpSpPr>
        <a:xfrm>
          <a:off x="0" y="0"/>
          <a:ext cx="0" cy="0"/>
          <a:chOff x="0" y="0"/>
          <a:chExt cx="0" cy="0"/>
        </a:xfrm>
      </p:grpSpPr>
      <p:sp>
        <p:nvSpPr>
          <p:cNvPr id="2" name="Text 0"/>
          <p:cNvSpPr txBox="1"/>
          <p:nvPr/>
        </p:nvSpPr>
        <p:spPr>
          <a:xfrm>
            <a:off x="566928" y="310896"/>
            <a:ext cx="11027664" cy="237744"/>
          </a:xfrm>
          <a:prstGeom prst="rect">
            <a:avLst/>
          </a:prstGeom>
          <a:noFill/>
          <a:ln/>
        </p:spPr>
        <p:txBody>
          <a:bodyPr wrap="square" lIns="0" tIns="0" rIns="0" bIns="0" rtlCol="0" anchor="ctr"/>
          <a:lstStyle/>
          <a:p>
            <a:pPr indent="0" marL="0">
              <a:buNone/>
            </a:pPr>
            <a:r>
              <a:rPr lang="en-US" sz="1050" b="1" spc="300" kern="0" dirty="0">
                <a:solidFill>
                  <a:srgbClr val="C9A227"/>
                </a:solidFill>
                <a:latin typeface="Arial" pitchFamily="34" charset="0"/>
                <a:ea typeface="Arial" pitchFamily="34" charset="-122"/>
                <a:cs typeface="Arial" pitchFamily="34" charset="-120"/>
              </a:rPr>
              <a:t>DISCLOSURE 1/2</a:t>
            </a:r>
            <a:endParaRPr lang="en-US" sz="1050" dirty="0"/>
          </a:p>
        </p:txBody>
      </p:sp>
      <p:sp>
        <p:nvSpPr>
          <p:cNvPr id="3" name="Text 1"/>
          <p:cNvSpPr txBox="1"/>
          <p:nvPr/>
        </p:nvSpPr>
        <p:spPr>
          <a:xfrm>
            <a:off x="566928" y="566928"/>
            <a:ext cx="11027664" cy="548640"/>
          </a:xfrm>
          <a:prstGeom prst="rect">
            <a:avLst/>
          </a:prstGeom>
          <a:noFill/>
          <a:ln/>
        </p:spPr>
        <p:txBody>
          <a:bodyPr wrap="square" lIns="0" tIns="0" rIns="0" bIns="0" rtlCol="0" anchor="ctr"/>
          <a:lstStyle/>
          <a:p>
            <a:pPr indent="0" marL="0">
              <a:buNone/>
            </a:pPr>
            <a:r>
              <a:rPr lang="en-US" sz="2900" b="1" dirty="0">
                <a:solidFill>
                  <a:srgbClr val="F2EDE6"/>
                </a:solidFill>
                <a:latin typeface="Meiryo" pitchFamily="34" charset="0"/>
                <a:ea typeface="Meiryo" pitchFamily="34" charset="-122"/>
                <a:cs typeface="Meiryo" pitchFamily="34" charset="-120"/>
              </a:rPr>
              <a:t>正直にお伝えすべきこと：資産と費用</a:t>
            </a:r>
            <a:endParaRPr lang="en-US" sz="2900" dirty="0"/>
          </a:p>
        </p:txBody>
      </p:sp>
      <p:sp>
        <p:nvSpPr>
          <p:cNvPr id="4" name="Text 2"/>
          <p:cNvSpPr txBox="1"/>
          <p:nvPr/>
        </p:nvSpPr>
        <p:spPr>
          <a:xfrm>
            <a:off x="566928" y="1152144"/>
            <a:ext cx="11027664" cy="310896"/>
          </a:xfrm>
          <a:prstGeom prst="rect">
            <a:avLst/>
          </a:prstGeom>
          <a:noFill/>
          <a:ln/>
        </p:spPr>
        <p:txBody>
          <a:bodyPr wrap="square" lIns="0" tIns="0" rIns="0" bIns="0" rtlCol="0" anchor="ctr"/>
          <a:lstStyle/>
          <a:p>
            <a:pPr indent="0" marL="0">
              <a:buNone/>
            </a:pPr>
            <a:r>
              <a:rPr lang="en-US" sz="1300" dirty="0">
                <a:solidFill>
                  <a:srgbClr val="A2908C"/>
                </a:solidFill>
                <a:latin typeface="Meiryo" pitchFamily="34" charset="0"/>
                <a:ea typeface="Meiryo" pitchFamily="34" charset="-122"/>
                <a:cs typeface="Meiryo" pitchFamily="34" charset="-120"/>
              </a:rPr>
              <a:t>デメリットを書かない広告は、かえって怪しく見えます。「投」＝投資目的、「愛」＝飲む目的の方に重い項目。</a:t>
            </a:r>
            <a:endParaRPr lang="en-US" sz="1300" dirty="0"/>
          </a:p>
        </p:txBody>
      </p:sp>
      <p:sp>
        <p:nvSpPr>
          <p:cNvPr id="5" name="Text 3"/>
          <p:cNvSpPr txBox="1"/>
          <p:nvPr/>
        </p:nvSpPr>
        <p:spPr>
          <a:xfrm>
            <a:off x="566928" y="6437376"/>
            <a:ext cx="4572000" cy="219456"/>
          </a:xfrm>
          <a:prstGeom prst="rect">
            <a:avLst/>
          </a:prstGeom>
          <a:noFill/>
          <a:ln/>
        </p:spPr>
        <p:txBody>
          <a:bodyPr wrap="square" lIns="0" tIns="0" rIns="0" bIns="0" rtlCol="0" anchor="ctr"/>
          <a:lstStyle/>
          <a:p>
            <a:pPr indent="0" marL="0">
              <a:buNone/>
            </a:pPr>
            <a:r>
              <a:rPr lang="en-US" sz="850" dirty="0">
                <a:solidFill>
                  <a:srgbClr val="6B5A5F"/>
                </a:solidFill>
                <a:latin typeface="Arial" pitchFamily="34" charset="0"/>
                <a:ea typeface="Arial" pitchFamily="34" charset="-122"/>
                <a:cs typeface="Arial" pitchFamily="34" charset="-120"/>
              </a:rPr>
              <a:t>WineBank CONFIDENTIAL</a:t>
            </a:r>
            <a:endParaRPr lang="en-US" sz="85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566928" y="1645920"/>
          <a:ext cx="11027664" cy="914400"/>
        </p:xfrm>
        <a:graphic>
          <a:graphicData uri="http://schemas.openxmlformats.org/drawingml/2006/table">
            <a:tbl>
              <a:tblPr/>
              <a:tblGrid>
                <a:gridCol w="548640"/>
                <a:gridCol w="4297680"/>
                <a:gridCol w="5266944"/>
                <a:gridCol w="914400"/>
              </a:tblGrid>
              <a:tr h="365760">
                <a:tc>
                  <a:txBody>
                    <a:bodyPr/>
                    <a:lstStyle/>
                    <a:p>
                      <a:pPr algn="ctr" indent="0" marL="0">
                        <a:buNone/>
                      </a:pPr>
                      <a:r>
                        <a:rPr lang="en-US" sz="1100" b="1" dirty="0">
                          <a:solidFill>
                            <a:srgbClr val="F2EDE6"/>
                          </a:solidFill>
                          <a:latin typeface="Meiryo" pitchFamily="34" charset="0"/>
                          <a:ea typeface="Meiryo" pitchFamily="34" charset="-122"/>
                          <a:cs typeface="Meiryo" pitchFamily="34" charset="-120"/>
                        </a:rPr>
                        <a:t>#</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7B1E3A"/>
                    </a:solidFill>
                  </a:tcPr>
                </a:tc>
                <a:tc>
                  <a:txBody>
                    <a:bodyPr/>
                    <a:lstStyle/>
                    <a:p>
                      <a:pPr algn="ctr" indent="0" marL="0">
                        <a:buNone/>
                      </a:pPr>
                      <a:r>
                        <a:rPr lang="en-US" sz="1100" b="1" dirty="0">
                          <a:solidFill>
                            <a:srgbClr val="F2EDE6"/>
                          </a:solidFill>
                          <a:latin typeface="Meiryo" pitchFamily="34" charset="0"/>
                          <a:ea typeface="Meiryo" pitchFamily="34" charset="-122"/>
                          <a:cs typeface="Meiryo" pitchFamily="34" charset="-120"/>
                        </a:rPr>
                        <a:t>デメリット</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7B1E3A"/>
                    </a:solidFill>
                  </a:tcPr>
                </a:tc>
                <a:tc>
                  <a:txBody>
                    <a:bodyPr/>
                    <a:lstStyle/>
                    <a:p>
                      <a:pPr algn="ctr" indent="0" marL="0">
                        <a:buNone/>
                      </a:pPr>
                      <a:r>
                        <a:rPr lang="en-US" sz="1100" b="1" dirty="0">
                          <a:solidFill>
                            <a:srgbClr val="F2EDE6"/>
                          </a:solidFill>
                          <a:latin typeface="Meiryo" pitchFamily="34" charset="0"/>
                          <a:ea typeface="Meiryo" pitchFamily="34" charset="-122"/>
                          <a:cs typeface="Meiryo" pitchFamily="34" charset="-120"/>
                        </a:rPr>
                        <a:t>数字・補足</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7B1E3A"/>
                    </a:solidFill>
                  </a:tcPr>
                </a:tc>
                <a:tc>
                  <a:txBody>
                    <a:bodyPr/>
                    <a:lstStyle/>
                    <a:p>
                      <a:pPr algn="ctr" indent="0" marL="0">
                        <a:buNone/>
                      </a:pPr>
                      <a:r>
                        <a:rPr lang="en-US" sz="1100" b="1" dirty="0">
                          <a:solidFill>
                            <a:srgbClr val="F2EDE6"/>
                          </a:solidFill>
                          <a:latin typeface="Meiryo" pitchFamily="34" charset="0"/>
                          <a:ea typeface="Meiryo" pitchFamily="34" charset="-122"/>
                          <a:cs typeface="Meiryo" pitchFamily="34" charset="-120"/>
                        </a:rPr>
                        <a:t>対象</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7B1E3A"/>
                    </a:solidFill>
                  </a:tcPr>
                </a:tc>
              </a:tr>
              <a:tr h="475488">
                <a:tc>
                  <a:txBody>
                    <a:bodyPr/>
                    <a:lstStyle/>
                    <a:p>
                      <a:pPr algn="ctr" indent="0" marL="0">
                        <a:buNone/>
                      </a:pPr>
                      <a:r>
                        <a:rPr lang="en-US" sz="1050" b="1" dirty="0">
                          <a:solidFill>
                            <a:srgbClr val="C9A227"/>
                          </a:solidFill>
                          <a:latin typeface="Meiryo" pitchFamily="34" charset="0"/>
                          <a:ea typeface="Meiryo" pitchFamily="34" charset="-122"/>
                          <a:cs typeface="Meiryo" pitchFamily="34" charset="-120"/>
                        </a:rPr>
                        <a:t>A1</a:t>
                      </a:r>
                      <a:endParaRPr lang="en-US" sz="105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17111A"/>
                    </a:solidFill>
                  </a:tcPr>
                </a:tc>
                <a:tc>
                  <a:txBody>
                    <a:bodyPr/>
                    <a:lstStyle/>
                    <a:p>
                      <a:pPr algn="l" indent="0" marL="0">
                        <a:buNone/>
                      </a:pPr>
                      <a:r>
                        <a:rPr lang="en-US" sz="1050" dirty="0">
                          <a:solidFill>
                            <a:srgbClr val="F2EDE6"/>
                          </a:solidFill>
                          <a:latin typeface="Meiryo" pitchFamily="34" charset="0"/>
                          <a:ea typeface="Meiryo" pitchFamily="34" charset="-122"/>
                          <a:cs typeface="Meiryo" pitchFamily="34" charset="-120"/>
                        </a:rPr>
                        <a:t>元本保証はない。値下がりはすべて会員の負担（成功報酬は値上がり時のみ）</a:t>
                      </a:r>
                      <a:endParaRPr lang="en-US" sz="105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17111A"/>
                    </a:solidFill>
                  </a:tcPr>
                </a:tc>
                <a:tc>
                  <a:txBody>
                    <a:bodyPr/>
                    <a:lstStyle/>
                    <a:p>
                      <a:pPr algn="l" indent="0" marL="0">
                        <a:buNone/>
                      </a:pPr>
                      <a:r>
                        <a:rPr lang="en-US" sz="1000" dirty="0">
                          <a:solidFill>
                            <a:srgbClr val="A2908C"/>
                          </a:solidFill>
                          <a:latin typeface="Meiryo" pitchFamily="34" charset="0"/>
                          <a:ea typeface="Meiryo" pitchFamily="34" charset="-122"/>
                          <a:cs typeface="Meiryo" pitchFamily="34" charset="-120"/>
                        </a:rPr>
                        <a:t>1年で10%下落すると100万で▲87,500円。マイナスにならないのは年▲1.25%の下落まで（実利用ベースでは▲0.49%）</a:t>
                      </a:r>
                      <a:endParaRPr lang="en-US" sz="10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17111A"/>
                    </a:solidFill>
                  </a:tcPr>
                </a:tc>
                <a:tc>
                  <a:txBody>
                    <a:bodyPr/>
                    <a:lstStyle/>
                    <a:p>
                      <a:pPr algn="ctr" indent="0" marL="0">
                        <a:buNone/>
                      </a:pPr>
                      <a:r>
                        <a:rPr lang="en-US" sz="1000" dirty="0">
                          <a:solidFill>
                            <a:srgbClr val="F2EDE6"/>
                          </a:solidFill>
                          <a:latin typeface="Meiryo" pitchFamily="34" charset="0"/>
                          <a:ea typeface="Meiryo" pitchFamily="34" charset="-122"/>
                          <a:cs typeface="Meiryo" pitchFamily="34" charset="-120"/>
                        </a:rPr>
                        <a:t>投</a:t>
                      </a:r>
                      <a:endParaRPr lang="en-US" sz="10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17111A"/>
                    </a:solidFill>
                  </a:tcPr>
                </a:tc>
              </a:tr>
              <a:tr h="475488">
                <a:tc>
                  <a:txBody>
                    <a:bodyPr/>
                    <a:lstStyle/>
                    <a:p>
                      <a:pPr algn="ctr" indent="0" marL="0">
                        <a:buNone/>
                      </a:pPr>
                      <a:r>
                        <a:rPr lang="en-US" sz="1050" b="1" dirty="0">
                          <a:solidFill>
                            <a:srgbClr val="C9A227"/>
                          </a:solidFill>
                          <a:latin typeface="Meiryo" pitchFamily="34" charset="0"/>
                          <a:ea typeface="Meiryo" pitchFamily="34" charset="-122"/>
                          <a:cs typeface="Meiryo" pitchFamily="34" charset="-120"/>
                        </a:rPr>
                        <a:t>A2</a:t>
                      </a:r>
                      <a:endParaRPr lang="en-US" sz="105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61A24"/>
                    </a:solidFill>
                  </a:tcPr>
                </a:tc>
                <a:tc>
                  <a:txBody>
                    <a:bodyPr/>
                    <a:lstStyle/>
                    <a:p>
                      <a:pPr algn="l" indent="0" marL="0">
                        <a:buNone/>
                      </a:pPr>
                      <a:r>
                        <a:rPr lang="en-US" sz="1050" b="1" dirty="0">
                          <a:solidFill>
                            <a:srgbClr val="F2EDE6"/>
                          </a:solidFill>
                          <a:latin typeface="Meiryo" pitchFamily="34" charset="0"/>
                          <a:ea typeface="Meiryo" pitchFamily="34" charset="-122"/>
                          <a:cs typeface="Meiryo" pitchFamily="34" charset="-120"/>
                        </a:rPr>
                        <a:t>買ってすぐ売ると約1割目減りする（買い手手数料10%ぶん、落札価格は買値の約91%）</a:t>
                      </a:r>
                      <a:endParaRPr lang="en-US" sz="105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61A24"/>
                    </a:solidFill>
                  </a:tcPr>
                </a:tc>
                <a:tc>
                  <a:txBody>
                    <a:bodyPr/>
                    <a:lstStyle/>
                    <a:p>
                      <a:pPr algn="l" indent="0" marL="0">
                        <a:buNone/>
                      </a:pPr>
                      <a:r>
                        <a:rPr lang="en-US" sz="1000" dirty="0">
                          <a:solidFill>
                            <a:srgbClr val="A2908C"/>
                          </a:solidFill>
                          <a:latin typeface="Meiryo" pitchFamily="34" charset="0"/>
                          <a:ea typeface="Meiryo" pitchFamily="34" charset="-122"/>
                          <a:cs typeface="Meiryo" pitchFamily="34" charset="-120"/>
                        </a:rPr>
                        <a:t>100万で約9.1万円。取り戻すまで、6%上昇で約1.7〜1.9年</a:t>
                      </a:r>
                      <a:endParaRPr lang="en-US" sz="10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61A24"/>
                    </a:solidFill>
                  </a:tcPr>
                </a:tc>
                <a:tc>
                  <a:txBody>
                    <a:bodyPr/>
                    <a:lstStyle/>
                    <a:p>
                      <a:pPr algn="ctr" indent="0" marL="0">
                        <a:buNone/>
                      </a:pPr>
                      <a:r>
                        <a:rPr lang="en-US" sz="1000" dirty="0">
                          <a:solidFill>
                            <a:srgbClr val="F2EDE6"/>
                          </a:solidFill>
                          <a:latin typeface="Meiryo" pitchFamily="34" charset="0"/>
                          <a:ea typeface="Meiryo" pitchFamily="34" charset="-122"/>
                          <a:cs typeface="Meiryo" pitchFamily="34" charset="-120"/>
                        </a:rPr>
                        <a:t>投</a:t>
                      </a:r>
                      <a:endParaRPr lang="en-US" sz="10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61A24"/>
                    </a:solidFill>
                  </a:tcPr>
                </a:tc>
              </a:tr>
              <a:tr h="420624">
                <a:tc>
                  <a:txBody>
                    <a:bodyPr/>
                    <a:lstStyle/>
                    <a:p>
                      <a:pPr algn="ctr" indent="0" marL="0">
                        <a:buNone/>
                      </a:pPr>
                      <a:r>
                        <a:rPr lang="en-US" sz="1050" b="1" dirty="0">
                          <a:solidFill>
                            <a:srgbClr val="C9A227"/>
                          </a:solidFill>
                          <a:latin typeface="Meiryo" pitchFamily="34" charset="0"/>
                          <a:ea typeface="Meiryo" pitchFamily="34" charset="-122"/>
                          <a:cs typeface="Meiryo" pitchFamily="34" charset="-120"/>
                        </a:rPr>
                        <a:t>A3</a:t>
                      </a:r>
                      <a:endParaRPr lang="en-US" sz="105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17111A"/>
                    </a:solidFill>
                  </a:tcPr>
                </a:tc>
                <a:tc>
                  <a:txBody>
                    <a:bodyPr/>
                    <a:lstStyle/>
                    <a:p>
                      <a:pPr algn="l" indent="0" marL="0">
                        <a:buNone/>
                      </a:pPr>
                      <a:r>
                        <a:rPr lang="en-US" sz="1050" dirty="0">
                          <a:solidFill>
                            <a:srgbClr val="F2EDE6"/>
                          </a:solidFill>
                          <a:latin typeface="Meiryo" pitchFamily="34" charset="0"/>
                          <a:ea typeface="Meiryo" pitchFamily="34" charset="-122"/>
                          <a:cs typeface="Meiryo" pitchFamily="34" charset="-120"/>
                        </a:rPr>
                        <a:t>評価額と実際の売却額がずれる</a:t>
                      </a:r>
                      <a:endParaRPr lang="en-US" sz="105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17111A"/>
                    </a:solidFill>
                  </a:tcPr>
                </a:tc>
                <a:tc>
                  <a:txBody>
                    <a:bodyPr/>
                    <a:lstStyle/>
                    <a:p>
                      <a:pPr algn="l" indent="0" marL="0">
                        <a:buNone/>
                      </a:pPr>
                      <a:r>
                        <a:rPr lang="en-US" sz="1000" dirty="0">
                          <a:solidFill>
                            <a:srgbClr val="A2908C"/>
                          </a:solidFill>
                          <a:latin typeface="Meiryo" pitchFamily="34" charset="0"/>
                          <a:ea typeface="Meiryo" pitchFamily="34" charset="-122"/>
                          <a:cs typeface="Meiryo" pitchFamily="34" charset="-120"/>
                        </a:rPr>
                        <a:t>Liv-ex連動評価は参考値。落札額は銘柄・時期・需給で変わる</a:t>
                      </a:r>
                      <a:endParaRPr lang="en-US" sz="10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17111A"/>
                    </a:solidFill>
                  </a:tcPr>
                </a:tc>
                <a:tc>
                  <a:txBody>
                    <a:bodyPr/>
                    <a:lstStyle/>
                    <a:p>
                      <a:pPr algn="ctr" indent="0" marL="0">
                        <a:buNone/>
                      </a:pPr>
                      <a:r>
                        <a:rPr lang="en-US" sz="1000" dirty="0">
                          <a:solidFill>
                            <a:srgbClr val="F2EDE6"/>
                          </a:solidFill>
                          <a:latin typeface="Meiryo" pitchFamily="34" charset="0"/>
                          <a:ea typeface="Meiryo" pitchFamily="34" charset="-122"/>
                          <a:cs typeface="Meiryo" pitchFamily="34" charset="-120"/>
                        </a:rPr>
                        <a:t>投</a:t>
                      </a:r>
                      <a:endParaRPr lang="en-US" sz="10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17111A"/>
                    </a:solidFill>
                  </a:tcPr>
                </a:tc>
              </a:tr>
              <a:tr h="420624">
                <a:tc>
                  <a:txBody>
                    <a:bodyPr/>
                    <a:lstStyle/>
                    <a:p>
                      <a:pPr algn="ctr" indent="0" marL="0">
                        <a:buNone/>
                      </a:pPr>
                      <a:r>
                        <a:rPr lang="en-US" sz="1050" b="1" dirty="0">
                          <a:solidFill>
                            <a:srgbClr val="C9A227"/>
                          </a:solidFill>
                          <a:latin typeface="Meiryo" pitchFamily="34" charset="0"/>
                          <a:ea typeface="Meiryo" pitchFamily="34" charset="-122"/>
                          <a:cs typeface="Meiryo" pitchFamily="34" charset="-120"/>
                        </a:rPr>
                        <a:t>A4</a:t>
                      </a:r>
                      <a:endParaRPr lang="en-US" sz="105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17111A"/>
                    </a:solidFill>
                  </a:tcPr>
                </a:tc>
                <a:tc>
                  <a:txBody>
                    <a:bodyPr/>
                    <a:lstStyle/>
                    <a:p>
                      <a:pPr algn="l" indent="0" marL="0">
                        <a:buNone/>
                      </a:pPr>
                      <a:r>
                        <a:rPr lang="en-US" sz="1050" dirty="0">
                          <a:solidFill>
                            <a:srgbClr val="F2EDE6"/>
                          </a:solidFill>
                          <a:latin typeface="Meiryo" pitchFamily="34" charset="0"/>
                          <a:ea typeface="Meiryo" pitchFamily="34" charset="-122"/>
                          <a:cs typeface="Meiryo" pitchFamily="34" charset="-120"/>
                        </a:rPr>
                        <a:t>即日には現金化できない</a:t>
                      </a:r>
                      <a:endParaRPr lang="en-US" sz="105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17111A"/>
                    </a:solidFill>
                  </a:tcPr>
                </a:tc>
                <a:tc>
                  <a:txBody>
                    <a:bodyPr/>
                    <a:lstStyle/>
                    <a:p>
                      <a:pPr algn="l" indent="0" marL="0">
                        <a:buNone/>
                      </a:pPr>
                      <a:r>
                        <a:rPr lang="en-US" sz="1000" dirty="0">
                          <a:solidFill>
                            <a:srgbClr val="A2908C"/>
                          </a:solidFill>
                          <a:latin typeface="Meiryo" pitchFamily="34" charset="0"/>
                          <a:ea typeface="Meiryo" pitchFamily="34" charset="-122"/>
                          <a:cs typeface="Meiryo" pitchFamily="34" charset="-120"/>
                        </a:rPr>
                        <a:t>オークション出品から成約まで数週間かかる</a:t>
                      </a:r>
                      <a:endParaRPr lang="en-US" sz="10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17111A"/>
                    </a:solidFill>
                  </a:tcPr>
                </a:tc>
                <a:tc>
                  <a:txBody>
                    <a:bodyPr/>
                    <a:lstStyle/>
                    <a:p>
                      <a:pPr algn="ctr" indent="0" marL="0">
                        <a:buNone/>
                      </a:pPr>
                      <a:r>
                        <a:rPr lang="en-US" sz="1000" dirty="0">
                          <a:solidFill>
                            <a:srgbClr val="F2EDE6"/>
                          </a:solidFill>
                          <a:latin typeface="Meiryo" pitchFamily="34" charset="0"/>
                          <a:ea typeface="Meiryo" pitchFamily="34" charset="-122"/>
                          <a:cs typeface="Meiryo" pitchFamily="34" charset="-120"/>
                        </a:rPr>
                        <a:t>投</a:t>
                      </a:r>
                      <a:endParaRPr lang="en-US" sz="10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17111A"/>
                    </a:solidFill>
                  </a:tcPr>
                </a:tc>
              </a:tr>
              <a:tr h="420624">
                <a:tc>
                  <a:txBody>
                    <a:bodyPr/>
                    <a:lstStyle/>
                    <a:p>
                      <a:pPr algn="ctr" indent="0" marL="0">
                        <a:buNone/>
                      </a:pPr>
                      <a:r>
                        <a:rPr lang="en-US" sz="1050" b="1" dirty="0">
                          <a:solidFill>
                            <a:srgbClr val="C9A227"/>
                          </a:solidFill>
                          <a:latin typeface="Meiryo" pitchFamily="34" charset="0"/>
                          <a:ea typeface="Meiryo" pitchFamily="34" charset="-122"/>
                          <a:cs typeface="Meiryo" pitchFamily="34" charset="-120"/>
                        </a:rPr>
                        <a:t>B5</a:t>
                      </a:r>
                      <a:endParaRPr lang="en-US" sz="105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17111A"/>
                    </a:solidFill>
                  </a:tcPr>
                </a:tc>
                <a:tc>
                  <a:txBody>
                    <a:bodyPr/>
                    <a:lstStyle/>
                    <a:p>
                      <a:pPr algn="l" indent="0" marL="0">
                        <a:buNone/>
                      </a:pPr>
                      <a:r>
                        <a:rPr lang="en-US" sz="1050" dirty="0">
                          <a:solidFill>
                            <a:srgbClr val="F2EDE6"/>
                          </a:solidFill>
                          <a:latin typeface="Meiryo" pitchFamily="34" charset="0"/>
                          <a:ea typeface="Meiryo" pitchFamily="34" charset="-122"/>
                          <a:cs typeface="Meiryo" pitchFamily="34" charset="-120"/>
                        </a:rPr>
                        <a:t>管理手数料が毎年かかる。値上がりがなくても発生する</a:t>
                      </a:r>
                      <a:endParaRPr lang="en-US" sz="105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17111A"/>
                    </a:solidFill>
                  </a:tcPr>
                </a:tc>
                <a:tc>
                  <a:txBody>
                    <a:bodyPr/>
                    <a:lstStyle/>
                    <a:p>
                      <a:pPr algn="l" indent="0" marL="0">
                        <a:buNone/>
                      </a:pPr>
                      <a:r>
                        <a:rPr lang="en-US" sz="1000" dirty="0">
                          <a:solidFill>
                            <a:srgbClr val="A2908C"/>
                          </a:solidFill>
                          <a:latin typeface="Meiryo" pitchFamily="34" charset="0"/>
                          <a:ea typeface="Meiryo" pitchFamily="34" charset="-122"/>
                          <a:cs typeface="Meiryo" pitchFamily="34" charset="-120"/>
                        </a:rPr>
                        <a:t>全ランク年2.75%。100万で27,500円</a:t>
                      </a:r>
                      <a:endParaRPr lang="en-US" sz="10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17111A"/>
                    </a:solidFill>
                  </a:tcPr>
                </a:tc>
                <a:tc>
                  <a:txBody>
                    <a:bodyPr/>
                    <a:lstStyle/>
                    <a:p>
                      <a:pPr algn="ctr" indent="0" marL="0">
                        <a:buNone/>
                      </a:pPr>
                      <a:r>
                        <a:rPr lang="en-US" sz="1000" dirty="0">
                          <a:solidFill>
                            <a:srgbClr val="E0A458"/>
                          </a:solidFill>
                          <a:latin typeface="Meiryo" pitchFamily="34" charset="0"/>
                          <a:ea typeface="Meiryo" pitchFamily="34" charset="-122"/>
                          <a:cs typeface="Meiryo" pitchFamily="34" charset="-120"/>
                        </a:rPr>
                        <a:t>投・愛</a:t>
                      </a:r>
                      <a:endParaRPr lang="en-US" sz="10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17111A"/>
                    </a:solidFill>
                  </a:tcPr>
                </a:tc>
              </a:tr>
              <a:tr h="475488">
                <a:tc>
                  <a:txBody>
                    <a:bodyPr/>
                    <a:lstStyle/>
                    <a:p>
                      <a:pPr algn="ctr" indent="0" marL="0">
                        <a:buNone/>
                      </a:pPr>
                      <a:r>
                        <a:rPr lang="en-US" sz="1050" b="1" dirty="0">
                          <a:solidFill>
                            <a:srgbClr val="C9A227"/>
                          </a:solidFill>
                          <a:latin typeface="Meiryo" pitchFamily="34" charset="0"/>
                          <a:ea typeface="Meiryo" pitchFamily="34" charset="-122"/>
                          <a:cs typeface="Meiryo" pitchFamily="34" charset="-120"/>
                        </a:rPr>
                        <a:t>B6</a:t>
                      </a:r>
                      <a:endParaRPr lang="en-US" sz="105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17111A"/>
                    </a:solidFill>
                  </a:tcPr>
                </a:tc>
                <a:tc>
                  <a:txBody>
                    <a:bodyPr/>
                    <a:lstStyle/>
                    <a:p>
                      <a:pPr algn="l" indent="0" marL="0">
                        <a:buNone/>
                      </a:pPr>
                      <a:r>
                        <a:rPr lang="en-US" sz="1050" dirty="0">
                          <a:solidFill>
                            <a:srgbClr val="F2EDE6"/>
                          </a:solidFill>
                          <a:latin typeface="Meiryo" pitchFamily="34" charset="0"/>
                          <a:ea typeface="Meiryo" pitchFamily="34" charset="-122"/>
                          <a:cs typeface="Meiryo" pitchFamily="34" charset="-120"/>
                        </a:rPr>
                        <a:t>値上がり益の30%は、成功報酬として当社が受け取る</a:t>
                      </a:r>
                      <a:endParaRPr lang="en-US" sz="105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17111A"/>
                    </a:solidFill>
                  </a:tcPr>
                </a:tc>
                <a:tc>
                  <a:txBody>
                    <a:bodyPr/>
                    <a:lstStyle/>
                    <a:p>
                      <a:pPr algn="l" indent="0" marL="0">
                        <a:buNone/>
                      </a:pPr>
                      <a:r>
                        <a:rPr lang="en-US" sz="1000" dirty="0">
                          <a:solidFill>
                            <a:srgbClr val="A2908C"/>
                          </a:solidFill>
                          <a:latin typeface="Meiryo" pitchFamily="34" charset="0"/>
                          <a:ea typeface="Meiryo" pitchFamily="34" charset="-122"/>
                          <a:cs typeface="Meiryo" pitchFamily="34" charset="-120"/>
                        </a:rPr>
                        <a:t>6%上昇なら年1.8%相当。値上がりしなければゼロ</a:t>
                      </a:r>
                      <a:endParaRPr lang="en-US" sz="10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17111A"/>
                    </a:solidFill>
                  </a:tcPr>
                </a:tc>
                <a:tc>
                  <a:txBody>
                    <a:bodyPr/>
                    <a:lstStyle/>
                    <a:p>
                      <a:pPr algn="ctr" indent="0" marL="0">
                        <a:buNone/>
                      </a:pPr>
                      <a:r>
                        <a:rPr lang="en-US" sz="1000" dirty="0">
                          <a:solidFill>
                            <a:srgbClr val="F2EDE6"/>
                          </a:solidFill>
                          <a:latin typeface="Meiryo" pitchFamily="34" charset="0"/>
                          <a:ea typeface="Meiryo" pitchFamily="34" charset="-122"/>
                          <a:cs typeface="Meiryo" pitchFamily="34" charset="-120"/>
                        </a:rPr>
                        <a:t>投</a:t>
                      </a:r>
                      <a:endParaRPr lang="en-US" sz="10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17111A"/>
                    </a:solidFill>
                  </a:tcPr>
                </a:tc>
              </a:tr>
              <a:tr h="475488">
                <a:tc>
                  <a:txBody>
                    <a:bodyPr/>
                    <a:lstStyle/>
                    <a:p>
                      <a:pPr algn="ctr" indent="0" marL="0">
                        <a:buNone/>
                      </a:pPr>
                      <a:r>
                        <a:rPr lang="en-US" sz="1050" b="1" dirty="0">
                          <a:solidFill>
                            <a:srgbClr val="C9A227"/>
                          </a:solidFill>
                          <a:latin typeface="Meiryo" pitchFamily="34" charset="0"/>
                          <a:ea typeface="Meiryo" pitchFamily="34" charset="-122"/>
                          <a:cs typeface="Meiryo" pitchFamily="34" charset="-120"/>
                        </a:rPr>
                        <a:t>B7</a:t>
                      </a:r>
                      <a:endParaRPr lang="en-US" sz="105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61A24"/>
                    </a:solidFill>
                  </a:tcPr>
                </a:tc>
                <a:tc>
                  <a:txBody>
                    <a:bodyPr/>
                    <a:lstStyle/>
                    <a:p>
                      <a:pPr algn="l" indent="0" marL="0">
                        <a:buNone/>
                      </a:pPr>
                      <a:r>
                        <a:rPr lang="en-US" sz="1050" b="1" dirty="0">
                          <a:solidFill>
                            <a:srgbClr val="F2EDE6"/>
                          </a:solidFill>
                          <a:latin typeface="Meiryo" pitchFamily="34" charset="0"/>
                          <a:ea typeface="Meiryo" pitchFamily="34" charset="-122"/>
                          <a:cs typeface="Meiryo" pitchFamily="34" charset="-120"/>
                        </a:rPr>
                        <a:t>引き取って飲むときも、それまでの値上がり分の30%を精算する</a:t>
                      </a:r>
                      <a:endParaRPr lang="en-US" sz="105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61A24"/>
                    </a:solidFill>
                  </a:tcPr>
                </a:tc>
                <a:tc>
                  <a:txBody>
                    <a:bodyPr/>
                    <a:lstStyle/>
                    <a:p>
                      <a:pPr algn="l" indent="0" marL="0">
                        <a:buNone/>
                      </a:pPr>
                      <a:r>
                        <a:rPr lang="en-US" sz="1000" dirty="0">
                          <a:solidFill>
                            <a:srgbClr val="A2908C"/>
                          </a:solidFill>
                          <a:latin typeface="Meiryo" pitchFamily="34" charset="0"/>
                          <a:ea typeface="Meiryo" pitchFamily="34" charset="-122"/>
                          <a:cs typeface="Meiryo" pitchFamily="34" charset="-120"/>
                        </a:rPr>
                        <a:t>100万を1年後に引き取る場合、6%上昇で18,000円</a:t>
                      </a:r>
                      <a:endParaRPr lang="en-US" sz="10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61A24"/>
                    </a:solidFill>
                  </a:tcPr>
                </a:tc>
                <a:tc>
                  <a:txBody>
                    <a:bodyPr/>
                    <a:lstStyle/>
                    <a:p>
                      <a:pPr algn="ctr" indent="0" marL="0">
                        <a:buNone/>
                      </a:pPr>
                      <a:r>
                        <a:rPr lang="en-US" sz="1000" dirty="0">
                          <a:solidFill>
                            <a:srgbClr val="E0A458"/>
                          </a:solidFill>
                          <a:latin typeface="Meiryo" pitchFamily="34" charset="0"/>
                          <a:ea typeface="Meiryo" pitchFamily="34" charset="-122"/>
                          <a:cs typeface="Meiryo" pitchFamily="34" charset="-120"/>
                        </a:rPr>
                        <a:t>愛</a:t>
                      </a:r>
                      <a:endParaRPr lang="en-US" sz="10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61A24"/>
                    </a:solidFill>
                  </a:tcPr>
                </a:tc>
              </a:tr>
            </a:tbl>
          </a:graphicData>
        </a:graphic>
      </p:graphicFrame>
      <p:sp>
        <p:nvSpPr>
          <p:cNvPr id="7" name="Shape 4"/>
          <p:cNvSpPr/>
          <p:nvPr/>
        </p:nvSpPr>
        <p:spPr>
          <a:xfrm>
            <a:off x="566928" y="5303520"/>
            <a:ext cx="5394960" cy="749808"/>
          </a:xfrm>
          <a:prstGeom prst="roundRect">
            <a:avLst>
              <a:gd name="adj" fmla="val 7317"/>
            </a:avLst>
          </a:prstGeom>
          <a:solidFill>
            <a:srgbClr val="7B1E3A"/>
          </a:solidFill>
          <a:ln w="12700">
            <a:solidFill>
              <a:srgbClr val="7B1E3A"/>
            </a:solidFill>
            <a:prstDash val="solid"/>
          </a:ln>
          <a:effectLst>
            <a:outerShdw sx="100000" sy="100000" kx="0" ky="0" algn="bl" rotWithShape="0" blurRad="127000" dist="25400" dir="5400000">
              <a:srgbClr val="000000">
                <a:alpha val="35000"/>
              </a:srgbClr>
            </a:outerShdw>
          </a:effectLst>
        </p:spPr>
      </p:sp>
      <p:sp>
        <p:nvSpPr>
          <p:cNvPr id="8" name="Text 5"/>
          <p:cNvSpPr txBox="1"/>
          <p:nvPr/>
        </p:nvSpPr>
        <p:spPr>
          <a:xfrm>
            <a:off x="886968" y="5431536"/>
            <a:ext cx="4754880" cy="256032"/>
          </a:xfrm>
          <a:prstGeom prst="rect">
            <a:avLst/>
          </a:prstGeom>
          <a:noFill/>
          <a:ln/>
        </p:spPr>
        <p:txBody>
          <a:bodyPr wrap="square" lIns="0" tIns="0" rIns="0" bIns="0" rtlCol="0" anchor="ctr"/>
          <a:lstStyle/>
          <a:p>
            <a:pPr indent="0" marL="0">
              <a:buNone/>
            </a:pPr>
            <a:r>
              <a:rPr lang="en-US" sz="1250" b="1" dirty="0">
                <a:solidFill>
                  <a:srgbClr val="E8CE78"/>
                </a:solidFill>
                <a:latin typeface="Meiryo" pitchFamily="34" charset="0"/>
                <a:ea typeface="Meiryo" pitchFamily="34" charset="-122"/>
                <a:cs typeface="Meiryo" pitchFamily="34" charset="-120"/>
              </a:rPr>
              <a:t>A2は「1年以上の保有を推奨」の根拠になる</a:t>
            </a:r>
            <a:endParaRPr lang="en-US" sz="1250" dirty="0"/>
          </a:p>
        </p:txBody>
      </p:sp>
      <p:sp>
        <p:nvSpPr>
          <p:cNvPr id="9" name="Text 6"/>
          <p:cNvSpPr txBox="1"/>
          <p:nvPr/>
        </p:nvSpPr>
        <p:spPr>
          <a:xfrm>
            <a:off x="886968" y="5724144"/>
            <a:ext cx="4754880" cy="237744"/>
          </a:xfrm>
          <a:prstGeom prst="rect">
            <a:avLst/>
          </a:prstGeom>
          <a:noFill/>
          <a:ln/>
        </p:spPr>
        <p:txBody>
          <a:bodyPr wrap="square" lIns="0" tIns="0" rIns="0" bIns="0" rtlCol="0" anchor="ctr"/>
          <a:lstStyle/>
          <a:p>
            <a:pPr indent="0" marL="0">
              <a:buNone/>
            </a:pPr>
            <a:r>
              <a:rPr lang="en-US" sz="1050" dirty="0">
                <a:solidFill>
                  <a:srgbClr val="F2EDE6"/>
                </a:solidFill>
                <a:latin typeface="Meiryo" pitchFamily="34" charset="0"/>
                <a:ea typeface="Meiryo" pitchFamily="34" charset="-122"/>
                <a:cs typeface="Meiryo" pitchFamily="34" charset="-120"/>
              </a:rPr>
              <a:t>禁止（ロック）ではなく、理由つきの推奨で同じ効果が出ます。</a:t>
            </a:r>
            <a:endParaRPr lang="en-US" sz="1050" dirty="0"/>
          </a:p>
        </p:txBody>
      </p:sp>
      <p:sp>
        <p:nvSpPr>
          <p:cNvPr id="10" name="Shape 7"/>
          <p:cNvSpPr/>
          <p:nvPr/>
        </p:nvSpPr>
        <p:spPr>
          <a:xfrm>
            <a:off x="6199632" y="5303520"/>
            <a:ext cx="5394960" cy="749808"/>
          </a:xfrm>
          <a:prstGeom prst="roundRect">
            <a:avLst>
              <a:gd name="adj" fmla="val 7317"/>
            </a:avLst>
          </a:prstGeom>
          <a:solidFill>
            <a:srgbClr val="261A24"/>
          </a:solidFill>
          <a:ln w="12700">
            <a:solidFill>
              <a:srgbClr val="261A24"/>
            </a:solidFill>
            <a:prstDash val="solid"/>
          </a:ln>
          <a:effectLst>
            <a:outerShdw sx="100000" sy="100000" kx="0" ky="0" algn="bl" rotWithShape="0" blurRad="127000" dist="25400" dir="5400000">
              <a:srgbClr val="000000">
                <a:alpha val="35000"/>
              </a:srgbClr>
            </a:outerShdw>
          </a:effectLst>
        </p:spPr>
      </p:sp>
      <p:sp>
        <p:nvSpPr>
          <p:cNvPr id="11" name="Text 8"/>
          <p:cNvSpPr txBox="1"/>
          <p:nvPr/>
        </p:nvSpPr>
        <p:spPr>
          <a:xfrm>
            <a:off x="6519672" y="5431536"/>
            <a:ext cx="4754880" cy="256032"/>
          </a:xfrm>
          <a:prstGeom prst="rect">
            <a:avLst/>
          </a:prstGeom>
          <a:noFill/>
          <a:ln/>
        </p:spPr>
        <p:txBody>
          <a:bodyPr wrap="square" lIns="0" tIns="0" rIns="0" bIns="0" rtlCol="0" anchor="ctr"/>
          <a:lstStyle/>
          <a:p>
            <a:pPr indent="0" marL="0">
              <a:buNone/>
            </a:pPr>
            <a:r>
              <a:rPr lang="en-US" sz="1250" b="1" dirty="0">
                <a:solidFill>
                  <a:srgbClr val="E0A458"/>
                </a:solidFill>
                <a:latin typeface="Meiryo" pitchFamily="34" charset="0"/>
                <a:ea typeface="Meiryo" pitchFamily="34" charset="-122"/>
                <a:cs typeface="Meiryo" pitchFamily="34" charset="-120"/>
              </a:rPr>
              <a:t>B7は愛好家向けに必ず書く</a:t>
            </a:r>
            <a:endParaRPr lang="en-US" sz="1250" dirty="0"/>
          </a:p>
        </p:txBody>
      </p:sp>
      <p:sp>
        <p:nvSpPr>
          <p:cNvPr id="12" name="Text 9"/>
          <p:cNvSpPr txBox="1"/>
          <p:nvPr/>
        </p:nvSpPr>
        <p:spPr>
          <a:xfrm>
            <a:off x="6519672" y="5724144"/>
            <a:ext cx="4754880" cy="237744"/>
          </a:xfrm>
          <a:prstGeom prst="rect">
            <a:avLst/>
          </a:prstGeom>
          <a:noFill/>
          <a:ln/>
        </p:spPr>
        <p:txBody>
          <a:bodyPr wrap="square" lIns="0" tIns="0" rIns="0" bIns="0" rtlCol="0" anchor="ctr"/>
          <a:lstStyle/>
          <a:p>
            <a:pPr indent="0" marL="0">
              <a:buNone/>
            </a:pPr>
            <a:r>
              <a:rPr lang="en-US" sz="1050" dirty="0">
                <a:solidFill>
                  <a:srgbClr val="F2EDE6"/>
                </a:solidFill>
                <a:latin typeface="Meiryo" pitchFamily="34" charset="0"/>
                <a:ea typeface="Meiryo" pitchFamily="34" charset="-122"/>
                <a:cs typeface="Meiryo" pitchFamily="34" charset="-120"/>
              </a:rPr>
              <a:t>「飲むのに、なぜ払うの？」は後から必ずクレームになります。</a:t>
            </a:r>
            <a:endParaRPr lang="en-US" sz="10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00000"/>
        </a:solidFill>
      </p:bgPr>
    </p:bg>
    <p:spTree>
      <p:nvGrpSpPr>
        <p:cNvPr id="1" name=""/>
        <p:cNvGrpSpPr/>
        <p:nvPr/>
      </p:nvGrpSpPr>
      <p:grpSpPr>
        <a:xfrm>
          <a:off x="0" y="0"/>
          <a:ext cx="0" cy="0"/>
          <a:chOff x="0" y="0"/>
          <a:chExt cx="0" cy="0"/>
        </a:xfrm>
      </p:grpSpPr>
      <p:sp>
        <p:nvSpPr>
          <p:cNvPr id="2" name="Text 0"/>
          <p:cNvSpPr txBox="1"/>
          <p:nvPr/>
        </p:nvSpPr>
        <p:spPr>
          <a:xfrm>
            <a:off x="566928" y="310896"/>
            <a:ext cx="11027664" cy="237744"/>
          </a:xfrm>
          <a:prstGeom prst="rect">
            <a:avLst/>
          </a:prstGeom>
          <a:noFill/>
          <a:ln/>
        </p:spPr>
        <p:txBody>
          <a:bodyPr wrap="square" lIns="0" tIns="0" rIns="0" bIns="0" rtlCol="0" anchor="ctr"/>
          <a:lstStyle/>
          <a:p>
            <a:pPr indent="0" marL="0">
              <a:buNone/>
            </a:pPr>
            <a:r>
              <a:rPr lang="en-US" sz="1050" b="1" spc="300" kern="0" dirty="0">
                <a:solidFill>
                  <a:srgbClr val="C9A227"/>
                </a:solidFill>
                <a:latin typeface="Arial" pitchFamily="34" charset="0"/>
                <a:ea typeface="Arial" pitchFamily="34" charset="-122"/>
                <a:cs typeface="Arial" pitchFamily="34" charset="-120"/>
              </a:rPr>
              <a:t>DISCLOSURE 2/2</a:t>
            </a:r>
            <a:endParaRPr lang="en-US" sz="1050" dirty="0"/>
          </a:p>
        </p:txBody>
      </p:sp>
      <p:sp>
        <p:nvSpPr>
          <p:cNvPr id="3" name="Text 1"/>
          <p:cNvSpPr txBox="1"/>
          <p:nvPr/>
        </p:nvSpPr>
        <p:spPr>
          <a:xfrm>
            <a:off x="566928" y="566928"/>
            <a:ext cx="11027664" cy="548640"/>
          </a:xfrm>
          <a:prstGeom prst="rect">
            <a:avLst/>
          </a:prstGeom>
          <a:noFill/>
          <a:ln/>
        </p:spPr>
        <p:txBody>
          <a:bodyPr wrap="square" lIns="0" tIns="0" rIns="0" bIns="0" rtlCol="0" anchor="ctr"/>
          <a:lstStyle/>
          <a:p>
            <a:pPr indent="0" marL="0">
              <a:buNone/>
            </a:pPr>
            <a:r>
              <a:rPr lang="en-US" sz="2900" b="1" dirty="0">
                <a:solidFill>
                  <a:srgbClr val="F2EDE6"/>
                </a:solidFill>
                <a:latin typeface="Meiryo" pitchFamily="34" charset="0"/>
                <a:ea typeface="Meiryo" pitchFamily="34" charset="-122"/>
                <a:cs typeface="Meiryo" pitchFamily="34" charset="-120"/>
              </a:rPr>
              <a:t>正直にお伝えすべきこと：マイルと保管</a:t>
            </a:r>
            <a:endParaRPr lang="en-US" sz="2900" dirty="0"/>
          </a:p>
        </p:txBody>
      </p:sp>
      <p:sp>
        <p:nvSpPr>
          <p:cNvPr id="4" name="Text 2"/>
          <p:cNvSpPr txBox="1"/>
          <p:nvPr/>
        </p:nvSpPr>
        <p:spPr>
          <a:xfrm>
            <a:off x="566928" y="1152144"/>
            <a:ext cx="11027664" cy="310896"/>
          </a:xfrm>
          <a:prstGeom prst="rect">
            <a:avLst/>
          </a:prstGeom>
          <a:noFill/>
          <a:ln/>
        </p:spPr>
        <p:txBody>
          <a:bodyPr wrap="square" lIns="0" tIns="0" rIns="0" bIns="0" rtlCol="0" anchor="ctr"/>
          <a:lstStyle/>
          <a:p>
            <a:pPr indent="0" marL="0">
              <a:buNone/>
            </a:pPr>
            <a:r>
              <a:rPr lang="en-US" sz="1300" dirty="0">
                <a:solidFill>
                  <a:srgbClr val="A2908C"/>
                </a:solidFill>
                <a:latin typeface="Meiryo" pitchFamily="34" charset="0"/>
                <a:ea typeface="Meiryo" pitchFamily="34" charset="-122"/>
                <a:cs typeface="Meiryo" pitchFamily="34" charset="-120"/>
              </a:rPr>
              <a:t>マイルは「現金ではない」ことを明確に。交換先によってレートが違うことの明示は、有利誤認を避けるうえで最も重要です。</a:t>
            </a:r>
            <a:endParaRPr lang="en-US" sz="1300" dirty="0"/>
          </a:p>
        </p:txBody>
      </p:sp>
      <p:sp>
        <p:nvSpPr>
          <p:cNvPr id="5" name="Text 3"/>
          <p:cNvSpPr txBox="1"/>
          <p:nvPr/>
        </p:nvSpPr>
        <p:spPr>
          <a:xfrm>
            <a:off x="566928" y="6437376"/>
            <a:ext cx="4572000" cy="219456"/>
          </a:xfrm>
          <a:prstGeom prst="rect">
            <a:avLst/>
          </a:prstGeom>
          <a:noFill/>
          <a:ln/>
        </p:spPr>
        <p:txBody>
          <a:bodyPr wrap="square" lIns="0" tIns="0" rIns="0" bIns="0" rtlCol="0" anchor="ctr"/>
          <a:lstStyle/>
          <a:p>
            <a:pPr indent="0" marL="0">
              <a:buNone/>
            </a:pPr>
            <a:r>
              <a:rPr lang="en-US" sz="850" dirty="0">
                <a:solidFill>
                  <a:srgbClr val="6B5A5F"/>
                </a:solidFill>
                <a:latin typeface="Arial" pitchFamily="34" charset="0"/>
                <a:ea typeface="Arial" pitchFamily="34" charset="-122"/>
                <a:cs typeface="Arial" pitchFamily="34" charset="-120"/>
              </a:rPr>
              <a:t>WineBank CONFIDENTIAL</a:t>
            </a:r>
            <a:endParaRPr lang="en-US" sz="85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566928" y="1645920"/>
          <a:ext cx="11027664" cy="914400"/>
        </p:xfrm>
        <a:graphic>
          <a:graphicData uri="http://schemas.openxmlformats.org/drawingml/2006/table">
            <a:tbl>
              <a:tblPr/>
              <a:tblGrid>
                <a:gridCol w="548640"/>
                <a:gridCol w="4297680"/>
                <a:gridCol w="5266944"/>
                <a:gridCol w="914400"/>
              </a:tblGrid>
              <a:tr h="365760">
                <a:tc>
                  <a:txBody>
                    <a:bodyPr/>
                    <a:lstStyle/>
                    <a:p>
                      <a:pPr algn="ctr" indent="0" marL="0">
                        <a:buNone/>
                      </a:pPr>
                      <a:r>
                        <a:rPr lang="en-US" sz="1100" b="1" dirty="0">
                          <a:solidFill>
                            <a:srgbClr val="F2EDE6"/>
                          </a:solidFill>
                          <a:latin typeface="Meiryo" pitchFamily="34" charset="0"/>
                          <a:ea typeface="Meiryo" pitchFamily="34" charset="-122"/>
                          <a:cs typeface="Meiryo" pitchFamily="34" charset="-120"/>
                        </a:rPr>
                        <a:t>#</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7B1E3A"/>
                    </a:solidFill>
                  </a:tcPr>
                </a:tc>
                <a:tc>
                  <a:txBody>
                    <a:bodyPr/>
                    <a:lstStyle/>
                    <a:p>
                      <a:pPr algn="ctr" indent="0" marL="0">
                        <a:buNone/>
                      </a:pPr>
                      <a:r>
                        <a:rPr lang="en-US" sz="1100" b="1" dirty="0">
                          <a:solidFill>
                            <a:srgbClr val="F2EDE6"/>
                          </a:solidFill>
                          <a:latin typeface="Meiryo" pitchFamily="34" charset="0"/>
                          <a:ea typeface="Meiryo" pitchFamily="34" charset="-122"/>
                          <a:cs typeface="Meiryo" pitchFamily="34" charset="-120"/>
                        </a:rPr>
                        <a:t>デメリット</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7B1E3A"/>
                    </a:solidFill>
                  </a:tcPr>
                </a:tc>
                <a:tc>
                  <a:txBody>
                    <a:bodyPr/>
                    <a:lstStyle/>
                    <a:p>
                      <a:pPr algn="ctr" indent="0" marL="0">
                        <a:buNone/>
                      </a:pPr>
                      <a:r>
                        <a:rPr lang="en-US" sz="1100" b="1" dirty="0">
                          <a:solidFill>
                            <a:srgbClr val="F2EDE6"/>
                          </a:solidFill>
                          <a:latin typeface="Meiryo" pitchFamily="34" charset="0"/>
                          <a:ea typeface="Meiryo" pitchFamily="34" charset="-122"/>
                          <a:cs typeface="Meiryo" pitchFamily="34" charset="-120"/>
                        </a:rPr>
                        <a:t>数字・補足</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7B1E3A"/>
                    </a:solidFill>
                  </a:tcPr>
                </a:tc>
                <a:tc>
                  <a:txBody>
                    <a:bodyPr/>
                    <a:lstStyle/>
                    <a:p>
                      <a:pPr algn="ctr" indent="0" marL="0">
                        <a:buNone/>
                      </a:pPr>
                      <a:r>
                        <a:rPr lang="en-US" sz="1100" b="1" dirty="0">
                          <a:solidFill>
                            <a:srgbClr val="F2EDE6"/>
                          </a:solidFill>
                          <a:latin typeface="Meiryo" pitchFamily="34" charset="0"/>
                          <a:ea typeface="Meiryo" pitchFamily="34" charset="-122"/>
                          <a:cs typeface="Meiryo" pitchFamily="34" charset="-120"/>
                        </a:rPr>
                        <a:t>対象</a:t>
                      </a:r>
                      <a:endParaRPr lang="en-US" sz="11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7B1E3A"/>
                    </a:solidFill>
                  </a:tcPr>
                </a:tc>
              </a:tr>
              <a:tr h="393192">
                <a:tc>
                  <a:txBody>
                    <a:bodyPr/>
                    <a:lstStyle/>
                    <a:p>
                      <a:pPr algn="ctr" indent="0" marL="0">
                        <a:buNone/>
                      </a:pPr>
                      <a:r>
                        <a:rPr lang="en-US" sz="1050" b="1" dirty="0">
                          <a:solidFill>
                            <a:srgbClr val="C9A227"/>
                          </a:solidFill>
                          <a:latin typeface="Meiryo" pitchFamily="34" charset="0"/>
                          <a:ea typeface="Meiryo" pitchFamily="34" charset="-122"/>
                          <a:cs typeface="Meiryo" pitchFamily="34" charset="-120"/>
                        </a:rPr>
                        <a:t>C8</a:t>
                      </a:r>
                      <a:endParaRPr lang="en-US" sz="105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17111A"/>
                    </a:solidFill>
                  </a:tcPr>
                </a:tc>
                <a:tc>
                  <a:txBody>
                    <a:bodyPr/>
                    <a:lstStyle/>
                    <a:p>
                      <a:pPr algn="l" indent="0" marL="0">
                        <a:buNone/>
                      </a:pPr>
                      <a:r>
                        <a:rPr lang="en-US" sz="1050" dirty="0">
                          <a:solidFill>
                            <a:srgbClr val="F2EDE6"/>
                          </a:solidFill>
                          <a:latin typeface="Meiryo" pitchFamily="34" charset="0"/>
                          <a:ea typeface="Meiryo" pitchFamily="34" charset="-122"/>
                          <a:cs typeface="Meiryo" pitchFamily="34" charset="-120"/>
                        </a:rPr>
                        <a:t>現金化できない。WineBankの経済圏でのみ使える</a:t>
                      </a:r>
                      <a:endParaRPr lang="en-US" sz="105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17111A"/>
                    </a:solidFill>
                  </a:tcPr>
                </a:tc>
                <a:tc>
                  <a:txBody>
                    <a:bodyPr/>
                    <a:lstStyle/>
                    <a:p>
                      <a:pPr algn="l" indent="0" marL="0">
                        <a:buNone/>
                      </a:pPr>
                      <a:r>
                        <a:rPr lang="en-US" sz="1000" dirty="0">
                          <a:solidFill>
                            <a:srgbClr val="A2908C"/>
                          </a:solidFill>
                          <a:latin typeface="Meiryo" pitchFamily="34" charset="0"/>
                          <a:ea typeface="Meiryo" pitchFamily="34" charset="-122"/>
                          <a:cs typeface="Meiryo" pitchFamily="34" charset="-120"/>
                        </a:rPr>
                        <a:t>他社ポイントとの交換も不可</a:t>
                      </a:r>
                      <a:endParaRPr lang="en-US" sz="10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17111A"/>
                    </a:solidFill>
                  </a:tcPr>
                </a:tc>
                <a:tc>
                  <a:txBody>
                    <a:bodyPr/>
                    <a:lstStyle/>
                    <a:p>
                      <a:pPr algn="ctr" indent="0" marL="0">
                        <a:buNone/>
                      </a:pPr>
                      <a:r>
                        <a:rPr lang="en-US" sz="1000" dirty="0">
                          <a:solidFill>
                            <a:srgbClr val="E0A458"/>
                          </a:solidFill>
                          <a:latin typeface="Meiryo" pitchFamily="34" charset="0"/>
                          <a:ea typeface="Meiryo" pitchFamily="34" charset="-122"/>
                          <a:cs typeface="Meiryo" pitchFamily="34" charset="-120"/>
                        </a:rPr>
                        <a:t>投・愛</a:t>
                      </a:r>
                      <a:endParaRPr lang="en-US" sz="10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17111A"/>
                    </a:solidFill>
                  </a:tcPr>
                </a:tc>
              </a:tr>
              <a:tr h="393192">
                <a:tc>
                  <a:txBody>
                    <a:bodyPr/>
                    <a:lstStyle/>
                    <a:p>
                      <a:pPr algn="ctr" indent="0" marL="0">
                        <a:buNone/>
                      </a:pPr>
                      <a:r>
                        <a:rPr lang="en-US" sz="1050" b="1" dirty="0">
                          <a:solidFill>
                            <a:srgbClr val="C9A227"/>
                          </a:solidFill>
                          <a:latin typeface="Meiryo" pitchFamily="34" charset="0"/>
                          <a:ea typeface="Meiryo" pitchFamily="34" charset="-122"/>
                          <a:cs typeface="Meiryo" pitchFamily="34" charset="-120"/>
                        </a:rPr>
                        <a:t>C9</a:t>
                      </a:r>
                      <a:endParaRPr lang="en-US" sz="105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17111A"/>
                    </a:solidFill>
                  </a:tcPr>
                </a:tc>
                <a:tc>
                  <a:txBody>
                    <a:bodyPr/>
                    <a:lstStyle/>
                    <a:p>
                      <a:pPr algn="l" indent="0" marL="0">
                        <a:buNone/>
                      </a:pPr>
                      <a:r>
                        <a:rPr lang="en-US" sz="1050" dirty="0">
                          <a:solidFill>
                            <a:srgbClr val="F2EDE6"/>
                          </a:solidFill>
                          <a:latin typeface="Meiryo" pitchFamily="34" charset="0"/>
                          <a:ea typeface="Meiryo" pitchFamily="34" charset="-122"/>
                          <a:cs typeface="Meiryo" pitchFamily="34" charset="-120"/>
                        </a:rPr>
                        <a:t>有効期限がある</a:t>
                      </a:r>
                      <a:endParaRPr lang="en-US" sz="105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17111A"/>
                    </a:solidFill>
                  </a:tcPr>
                </a:tc>
                <a:tc>
                  <a:txBody>
                    <a:bodyPr/>
                    <a:lstStyle/>
                    <a:p>
                      <a:pPr algn="l" indent="0" marL="0">
                        <a:buNone/>
                      </a:pPr>
                      <a:r>
                        <a:rPr lang="en-US" sz="1000" dirty="0">
                          <a:solidFill>
                            <a:srgbClr val="A2908C"/>
                          </a:solidFill>
                          <a:latin typeface="Meiryo" pitchFamily="34" charset="0"/>
                          <a:ea typeface="Meiryo" pitchFamily="34" charset="-122"/>
                          <a:cs typeface="Meiryo" pitchFamily="34" charset="-120"/>
                        </a:rPr>
                        <a:t>通常1年・期間限定6か月以内。失効の30日前にメールで通知</a:t>
                      </a:r>
                      <a:endParaRPr lang="en-US" sz="10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17111A"/>
                    </a:solidFill>
                  </a:tcPr>
                </a:tc>
                <a:tc>
                  <a:txBody>
                    <a:bodyPr/>
                    <a:lstStyle/>
                    <a:p>
                      <a:pPr algn="ctr" indent="0" marL="0">
                        <a:buNone/>
                      </a:pPr>
                      <a:r>
                        <a:rPr lang="en-US" sz="1000" dirty="0">
                          <a:solidFill>
                            <a:srgbClr val="E0A458"/>
                          </a:solidFill>
                          <a:latin typeface="Meiryo" pitchFamily="34" charset="0"/>
                          <a:ea typeface="Meiryo" pitchFamily="34" charset="-122"/>
                          <a:cs typeface="Meiryo" pitchFamily="34" charset="-120"/>
                        </a:rPr>
                        <a:t>投・愛</a:t>
                      </a:r>
                      <a:endParaRPr lang="en-US" sz="10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17111A"/>
                    </a:solidFill>
                  </a:tcPr>
                </a:tc>
              </a:tr>
              <a:tr h="393192">
                <a:tc>
                  <a:txBody>
                    <a:bodyPr/>
                    <a:lstStyle/>
                    <a:p>
                      <a:pPr algn="ctr" indent="0" marL="0">
                        <a:buNone/>
                      </a:pPr>
                      <a:r>
                        <a:rPr lang="en-US" sz="1050" b="1" dirty="0">
                          <a:solidFill>
                            <a:srgbClr val="C9A227"/>
                          </a:solidFill>
                          <a:latin typeface="Meiryo" pitchFamily="34" charset="0"/>
                          <a:ea typeface="Meiryo" pitchFamily="34" charset="-122"/>
                          <a:cs typeface="Meiryo" pitchFamily="34" charset="-120"/>
                        </a:rPr>
                        <a:t>C10</a:t>
                      </a:r>
                      <a:endParaRPr lang="en-US" sz="105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61A24"/>
                    </a:solidFill>
                  </a:tcPr>
                </a:tc>
                <a:tc>
                  <a:txBody>
                    <a:bodyPr/>
                    <a:lstStyle/>
                    <a:p>
                      <a:pPr algn="l" indent="0" marL="0">
                        <a:buNone/>
                      </a:pPr>
                      <a:r>
                        <a:rPr lang="en-US" sz="1050" b="1" dirty="0">
                          <a:solidFill>
                            <a:srgbClr val="F2EDE6"/>
                          </a:solidFill>
                          <a:latin typeface="Meiryo" pitchFamily="34" charset="0"/>
                          <a:ea typeface="Meiryo" pitchFamily="34" charset="-122"/>
                          <a:cs typeface="Meiryo" pitchFamily="34" charset="-120"/>
                        </a:rPr>
                        <a:t>交換先で1マイルの価値が違う</a:t>
                      </a:r>
                      <a:endParaRPr lang="en-US" sz="105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61A24"/>
                    </a:solidFill>
                  </a:tcPr>
                </a:tc>
                <a:tc>
                  <a:txBody>
                    <a:bodyPr/>
                    <a:lstStyle/>
                    <a:p>
                      <a:pPr algn="l" indent="0" marL="0">
                        <a:buNone/>
                      </a:pPr>
                      <a:r>
                        <a:rPr lang="en-US" sz="1000" dirty="0">
                          <a:solidFill>
                            <a:srgbClr val="A2908C"/>
                          </a:solidFill>
                          <a:latin typeface="Meiryo" pitchFamily="34" charset="0"/>
                          <a:ea typeface="Meiryo" pitchFamily="34" charset="-122"/>
                          <a:cs typeface="Meiryo" pitchFamily="34" charset="-120"/>
                        </a:rPr>
                        <a:t>直営飲食1.0円・グランメゾン0.5円。平均で額面の約8割（0.81円）</a:t>
                      </a:r>
                      <a:endParaRPr lang="en-US" sz="10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61A24"/>
                    </a:solidFill>
                  </a:tcPr>
                </a:tc>
                <a:tc>
                  <a:txBody>
                    <a:bodyPr/>
                    <a:lstStyle/>
                    <a:p>
                      <a:pPr algn="ctr" indent="0" marL="0">
                        <a:buNone/>
                      </a:pPr>
                      <a:r>
                        <a:rPr lang="en-US" sz="1000" dirty="0">
                          <a:solidFill>
                            <a:srgbClr val="E0A458"/>
                          </a:solidFill>
                          <a:latin typeface="Meiryo" pitchFamily="34" charset="0"/>
                          <a:ea typeface="Meiryo" pitchFamily="34" charset="-122"/>
                          <a:cs typeface="Meiryo" pitchFamily="34" charset="-120"/>
                        </a:rPr>
                        <a:t>投・愛</a:t>
                      </a:r>
                      <a:endParaRPr lang="en-US" sz="10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261A24"/>
                    </a:solidFill>
                  </a:tcPr>
                </a:tc>
              </a:tr>
              <a:tr h="393192">
                <a:tc>
                  <a:txBody>
                    <a:bodyPr/>
                    <a:lstStyle/>
                    <a:p>
                      <a:pPr algn="ctr" indent="0" marL="0">
                        <a:buNone/>
                      </a:pPr>
                      <a:r>
                        <a:rPr lang="en-US" sz="1050" b="1" dirty="0">
                          <a:solidFill>
                            <a:srgbClr val="C9A227"/>
                          </a:solidFill>
                          <a:latin typeface="Meiryo" pitchFamily="34" charset="0"/>
                          <a:ea typeface="Meiryo" pitchFamily="34" charset="-122"/>
                          <a:cs typeface="Meiryo" pitchFamily="34" charset="-120"/>
                        </a:rPr>
                        <a:t>C11</a:t>
                      </a:r>
                      <a:endParaRPr lang="en-US" sz="105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17111A"/>
                    </a:solidFill>
                  </a:tcPr>
                </a:tc>
                <a:tc>
                  <a:txBody>
                    <a:bodyPr/>
                    <a:lstStyle/>
                    <a:p>
                      <a:pPr algn="l" indent="0" marL="0">
                        <a:buNone/>
                      </a:pPr>
                      <a:r>
                        <a:rPr lang="en-US" sz="1050" dirty="0">
                          <a:solidFill>
                            <a:srgbClr val="F2EDE6"/>
                          </a:solidFill>
                          <a:latin typeface="Meiryo" pitchFamily="34" charset="0"/>
                          <a:ea typeface="Meiryo" pitchFamily="34" charset="-122"/>
                          <a:cs typeface="Meiryo" pitchFamily="34" charset="-120"/>
                        </a:rPr>
                        <a:t>付与率・交換レートは変わることがある</a:t>
                      </a:r>
                      <a:endParaRPr lang="en-US" sz="105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17111A"/>
                    </a:solidFill>
                  </a:tcPr>
                </a:tc>
                <a:tc>
                  <a:txBody>
                    <a:bodyPr/>
                    <a:lstStyle/>
                    <a:p>
                      <a:pPr algn="l" indent="0" marL="0">
                        <a:buNone/>
                      </a:pPr>
                      <a:r>
                        <a:rPr lang="en-US" sz="1000" dirty="0">
                          <a:solidFill>
                            <a:srgbClr val="A2908C"/>
                          </a:solidFill>
                          <a:latin typeface="Meiryo" pitchFamily="34" charset="0"/>
                          <a:ea typeface="Meiryo" pitchFamily="34" charset="-122"/>
                          <a:cs typeface="Meiryo" pitchFamily="34" charset="-120"/>
                        </a:rPr>
                        <a:t>30日前に予告</a:t>
                      </a:r>
                      <a:endParaRPr lang="en-US" sz="10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17111A"/>
                    </a:solidFill>
                  </a:tcPr>
                </a:tc>
                <a:tc>
                  <a:txBody>
                    <a:bodyPr/>
                    <a:lstStyle/>
                    <a:p>
                      <a:pPr algn="ctr" indent="0" marL="0">
                        <a:buNone/>
                      </a:pPr>
                      <a:r>
                        <a:rPr lang="en-US" sz="1000" dirty="0">
                          <a:solidFill>
                            <a:srgbClr val="E0A458"/>
                          </a:solidFill>
                          <a:latin typeface="Meiryo" pitchFamily="34" charset="0"/>
                          <a:ea typeface="Meiryo" pitchFamily="34" charset="-122"/>
                          <a:cs typeface="Meiryo" pitchFamily="34" charset="-120"/>
                        </a:rPr>
                        <a:t>投・愛</a:t>
                      </a:r>
                      <a:endParaRPr lang="en-US" sz="10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17111A"/>
                    </a:solidFill>
                  </a:tcPr>
                </a:tc>
              </a:tr>
              <a:tr h="393192">
                <a:tc>
                  <a:txBody>
                    <a:bodyPr/>
                    <a:lstStyle/>
                    <a:p>
                      <a:pPr algn="ctr" indent="0" marL="0">
                        <a:buNone/>
                      </a:pPr>
                      <a:r>
                        <a:rPr lang="en-US" sz="1050" b="1" dirty="0">
                          <a:solidFill>
                            <a:srgbClr val="C9A227"/>
                          </a:solidFill>
                          <a:latin typeface="Meiryo" pitchFamily="34" charset="0"/>
                          <a:ea typeface="Meiryo" pitchFamily="34" charset="-122"/>
                          <a:cs typeface="Meiryo" pitchFamily="34" charset="-120"/>
                        </a:rPr>
                        <a:t>C12</a:t>
                      </a:r>
                      <a:endParaRPr lang="en-US" sz="105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17111A"/>
                    </a:solidFill>
                  </a:tcPr>
                </a:tc>
                <a:tc>
                  <a:txBody>
                    <a:bodyPr/>
                    <a:lstStyle/>
                    <a:p>
                      <a:pPr algn="l" indent="0" marL="0">
                        <a:buNone/>
                      </a:pPr>
                      <a:r>
                        <a:rPr lang="en-US" sz="1050" dirty="0">
                          <a:solidFill>
                            <a:srgbClr val="F2EDE6"/>
                          </a:solidFill>
                          <a:latin typeface="Meiryo" pitchFamily="34" charset="0"/>
                          <a:ea typeface="Meiryo" pitchFamily="34" charset="-122"/>
                          <a:cs typeface="Meiryo" pitchFamily="34" charset="-120"/>
                        </a:rPr>
                        <a:t>預けていた月の分だけ付与される（月割付与の場合）</a:t>
                      </a:r>
                      <a:endParaRPr lang="en-US" sz="105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17111A"/>
                    </a:solidFill>
                  </a:tcPr>
                </a:tc>
                <a:tc>
                  <a:txBody>
                    <a:bodyPr/>
                    <a:lstStyle/>
                    <a:p>
                      <a:pPr algn="l" indent="0" marL="0">
                        <a:buNone/>
                      </a:pPr>
                      <a:r>
                        <a:rPr lang="en-US" sz="1000" dirty="0">
                          <a:solidFill>
                            <a:srgbClr val="A2908C"/>
                          </a:solidFill>
                          <a:latin typeface="Meiryo" pitchFamily="34" charset="0"/>
                          <a:ea typeface="Meiryo" pitchFamily="34" charset="-122"/>
                          <a:cs typeface="Meiryo" pitchFamily="34" charset="-120"/>
                        </a:rPr>
                        <a:t>引き出した月以降は付与されない</a:t>
                      </a:r>
                      <a:endParaRPr lang="en-US" sz="10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17111A"/>
                    </a:solidFill>
                  </a:tcPr>
                </a:tc>
                <a:tc>
                  <a:txBody>
                    <a:bodyPr/>
                    <a:lstStyle/>
                    <a:p>
                      <a:pPr algn="ctr" indent="0" marL="0">
                        <a:buNone/>
                      </a:pPr>
                      <a:r>
                        <a:rPr lang="en-US" sz="1000" dirty="0">
                          <a:solidFill>
                            <a:srgbClr val="E0A458"/>
                          </a:solidFill>
                          <a:latin typeface="Meiryo" pitchFamily="34" charset="0"/>
                          <a:ea typeface="Meiryo" pitchFamily="34" charset="-122"/>
                          <a:cs typeface="Meiryo" pitchFamily="34" charset="-120"/>
                        </a:rPr>
                        <a:t>投・愛</a:t>
                      </a:r>
                      <a:endParaRPr lang="en-US" sz="10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17111A"/>
                    </a:solidFill>
                  </a:tcPr>
                </a:tc>
              </a:tr>
              <a:tr h="393192">
                <a:tc>
                  <a:txBody>
                    <a:bodyPr/>
                    <a:lstStyle/>
                    <a:p>
                      <a:pPr algn="ctr" indent="0" marL="0">
                        <a:buNone/>
                      </a:pPr>
                      <a:r>
                        <a:rPr lang="en-US" sz="1050" b="1" dirty="0">
                          <a:solidFill>
                            <a:srgbClr val="C9A227"/>
                          </a:solidFill>
                          <a:latin typeface="Meiryo" pitchFamily="34" charset="0"/>
                          <a:ea typeface="Meiryo" pitchFamily="34" charset="-122"/>
                          <a:cs typeface="Meiryo" pitchFamily="34" charset="-120"/>
                        </a:rPr>
                        <a:t>D13</a:t>
                      </a:r>
                      <a:endParaRPr lang="en-US" sz="105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17111A"/>
                    </a:solidFill>
                  </a:tcPr>
                </a:tc>
                <a:tc>
                  <a:txBody>
                    <a:bodyPr/>
                    <a:lstStyle/>
                    <a:p>
                      <a:pPr algn="l" indent="0" marL="0">
                        <a:buNone/>
                      </a:pPr>
                      <a:r>
                        <a:rPr lang="en-US" sz="1050" dirty="0">
                          <a:solidFill>
                            <a:srgbClr val="F2EDE6"/>
                          </a:solidFill>
                          <a:latin typeface="Meiryo" pitchFamily="34" charset="0"/>
                          <a:ea typeface="Meiryo" pitchFamily="34" charset="-122"/>
                          <a:cs typeface="Meiryo" pitchFamily="34" charset="-120"/>
                        </a:rPr>
                        <a:t>自宅に届けるには、出庫手続きと配送料がかかる</a:t>
                      </a:r>
                      <a:endParaRPr lang="en-US" sz="105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17111A"/>
                    </a:solidFill>
                  </a:tcPr>
                </a:tc>
                <a:tc>
                  <a:txBody>
                    <a:bodyPr/>
                    <a:lstStyle/>
                    <a:p>
                      <a:pPr algn="l" indent="0" marL="0">
                        <a:buNone/>
                      </a:pPr>
                      <a:r>
                        <a:rPr lang="en-US" sz="1000" dirty="0">
                          <a:solidFill>
                            <a:srgbClr val="A2908C"/>
                          </a:solidFill>
                          <a:latin typeface="Meiryo" pitchFamily="34" charset="0"/>
                          <a:ea typeface="Meiryo" pitchFamily="34" charset="-122"/>
                          <a:cs typeface="Meiryo" pitchFamily="34" charset="-120"/>
                        </a:rPr>
                        <a:t>配送代行の導入で緩和予定</a:t>
                      </a:r>
                      <a:endParaRPr lang="en-US" sz="10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17111A"/>
                    </a:solidFill>
                  </a:tcPr>
                </a:tc>
                <a:tc>
                  <a:txBody>
                    <a:bodyPr/>
                    <a:lstStyle/>
                    <a:p>
                      <a:pPr algn="ctr" indent="0" marL="0">
                        <a:buNone/>
                      </a:pPr>
                      <a:r>
                        <a:rPr lang="en-US" sz="1000" dirty="0">
                          <a:solidFill>
                            <a:srgbClr val="E0A458"/>
                          </a:solidFill>
                          <a:latin typeface="Meiryo" pitchFamily="34" charset="0"/>
                          <a:ea typeface="Meiryo" pitchFamily="34" charset="-122"/>
                          <a:cs typeface="Meiryo" pitchFamily="34" charset="-120"/>
                        </a:rPr>
                        <a:t>愛</a:t>
                      </a:r>
                      <a:endParaRPr lang="en-US" sz="10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17111A"/>
                    </a:solidFill>
                  </a:tcPr>
                </a:tc>
              </a:tr>
              <a:tr h="393192">
                <a:tc>
                  <a:txBody>
                    <a:bodyPr/>
                    <a:lstStyle/>
                    <a:p>
                      <a:pPr algn="ctr" indent="0" marL="0">
                        <a:buNone/>
                      </a:pPr>
                      <a:r>
                        <a:rPr lang="en-US" sz="1050" b="1" dirty="0">
                          <a:solidFill>
                            <a:srgbClr val="C9A227"/>
                          </a:solidFill>
                          <a:latin typeface="Meiryo" pitchFamily="34" charset="0"/>
                          <a:ea typeface="Meiryo" pitchFamily="34" charset="-122"/>
                          <a:cs typeface="Meiryo" pitchFamily="34" charset="-120"/>
                        </a:rPr>
                        <a:t>D14</a:t>
                      </a:r>
                      <a:endParaRPr lang="en-US" sz="105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17111A"/>
                    </a:solidFill>
                  </a:tcPr>
                </a:tc>
                <a:tc>
                  <a:txBody>
                    <a:bodyPr/>
                    <a:lstStyle/>
                    <a:p>
                      <a:pPr algn="l" indent="0" marL="0">
                        <a:buNone/>
                      </a:pPr>
                      <a:r>
                        <a:rPr lang="en-US" sz="1050" dirty="0">
                          <a:solidFill>
                            <a:srgbClr val="F2EDE6"/>
                          </a:solidFill>
                          <a:latin typeface="Meiryo" pitchFamily="34" charset="0"/>
                          <a:ea typeface="Meiryo" pitchFamily="34" charset="-122"/>
                          <a:cs typeface="Meiryo" pitchFamily="34" charset="-120"/>
                        </a:rPr>
                        <a:t>引き取ると管理契約が終了し、成功報酬の精算が発生する</a:t>
                      </a:r>
                      <a:endParaRPr lang="en-US" sz="105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17111A"/>
                    </a:solidFill>
                  </a:tcPr>
                </a:tc>
                <a:tc>
                  <a:txBody>
                    <a:bodyPr/>
                    <a:lstStyle/>
                    <a:p>
                      <a:pPr algn="l" indent="0" marL="0">
                        <a:buNone/>
                      </a:pPr>
                      <a:r>
                        <a:rPr lang="en-US" sz="1000" dirty="0">
                          <a:solidFill>
                            <a:srgbClr val="A2908C"/>
                          </a:solidFill>
                          <a:latin typeface="Meiryo" pitchFamily="34" charset="0"/>
                          <a:ea typeface="Meiryo" pitchFamily="34" charset="-122"/>
                          <a:cs typeface="Meiryo" pitchFamily="34" charset="-120"/>
                        </a:rPr>
                        <a:t>B7と同じ論点</a:t>
                      </a:r>
                      <a:endParaRPr lang="en-US" sz="10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17111A"/>
                    </a:solidFill>
                  </a:tcPr>
                </a:tc>
                <a:tc>
                  <a:txBody>
                    <a:bodyPr/>
                    <a:lstStyle/>
                    <a:p>
                      <a:pPr algn="ctr" indent="0" marL="0">
                        <a:buNone/>
                      </a:pPr>
                      <a:r>
                        <a:rPr lang="en-US" sz="1000" dirty="0">
                          <a:solidFill>
                            <a:srgbClr val="E0A458"/>
                          </a:solidFill>
                          <a:latin typeface="Meiryo" pitchFamily="34" charset="0"/>
                          <a:ea typeface="Meiryo" pitchFamily="34" charset="-122"/>
                          <a:cs typeface="Meiryo" pitchFamily="34" charset="-120"/>
                        </a:rPr>
                        <a:t>愛</a:t>
                      </a:r>
                      <a:endParaRPr lang="en-US" sz="10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17111A"/>
                    </a:solidFill>
                  </a:tcPr>
                </a:tc>
              </a:tr>
              <a:tr h="393192">
                <a:tc>
                  <a:txBody>
                    <a:bodyPr/>
                    <a:lstStyle/>
                    <a:p>
                      <a:pPr algn="ctr" indent="0" marL="0">
                        <a:buNone/>
                      </a:pPr>
                      <a:r>
                        <a:rPr lang="en-US" sz="1050" b="1" dirty="0">
                          <a:solidFill>
                            <a:srgbClr val="C9A227"/>
                          </a:solidFill>
                          <a:latin typeface="Meiryo" pitchFamily="34" charset="0"/>
                          <a:ea typeface="Meiryo" pitchFamily="34" charset="-122"/>
                          <a:cs typeface="Meiryo" pitchFamily="34" charset="-120"/>
                        </a:rPr>
                        <a:t>E15</a:t>
                      </a:r>
                      <a:endParaRPr lang="en-US" sz="105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17111A"/>
                    </a:solidFill>
                  </a:tcPr>
                </a:tc>
                <a:tc>
                  <a:txBody>
                    <a:bodyPr/>
                    <a:lstStyle/>
                    <a:p>
                      <a:pPr algn="l" indent="0" marL="0">
                        <a:buNone/>
                      </a:pPr>
                      <a:r>
                        <a:rPr lang="en-US" sz="1050" dirty="0">
                          <a:solidFill>
                            <a:srgbClr val="F2EDE6"/>
                          </a:solidFill>
                          <a:latin typeface="Meiryo" pitchFamily="34" charset="0"/>
                          <a:ea typeface="Meiryo" pitchFamily="34" charset="-122"/>
                          <a:cs typeface="Meiryo" pitchFamily="34" charset="-120"/>
                        </a:rPr>
                        <a:t>WineBankの経営リスク</a:t>
                      </a:r>
                      <a:endParaRPr lang="en-US" sz="105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17111A"/>
                    </a:solidFill>
                  </a:tcPr>
                </a:tc>
                <a:tc>
                  <a:txBody>
                    <a:bodyPr/>
                    <a:lstStyle/>
                    <a:p>
                      <a:pPr algn="l" indent="0" marL="0">
                        <a:buNone/>
                      </a:pPr>
                      <a:r>
                        <a:rPr lang="en-US" sz="1000" dirty="0">
                          <a:solidFill>
                            <a:srgbClr val="A2908C"/>
                          </a:solidFill>
                          <a:latin typeface="Meiryo" pitchFamily="34" charset="0"/>
                          <a:ea typeface="Meiryo" pitchFamily="34" charset="-122"/>
                          <a:cs typeface="Meiryo" pitchFamily="34" charset="-120"/>
                        </a:rPr>
                        <a:t>ワインは会員所有、保管は鈴与、保険付保。万一の際は返還に時間がかかりうる</a:t>
                      </a:r>
                      <a:endParaRPr lang="en-US" sz="10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17111A"/>
                    </a:solidFill>
                  </a:tcPr>
                </a:tc>
                <a:tc>
                  <a:txBody>
                    <a:bodyPr/>
                    <a:lstStyle/>
                    <a:p>
                      <a:pPr algn="ctr" indent="0" marL="0">
                        <a:buNone/>
                      </a:pPr>
                      <a:r>
                        <a:rPr lang="en-US" sz="1000" dirty="0">
                          <a:solidFill>
                            <a:srgbClr val="E0A458"/>
                          </a:solidFill>
                          <a:latin typeface="Meiryo" pitchFamily="34" charset="0"/>
                          <a:ea typeface="Meiryo" pitchFamily="34" charset="-122"/>
                          <a:cs typeface="Meiryo" pitchFamily="34" charset="-120"/>
                        </a:rPr>
                        <a:t>投・愛</a:t>
                      </a:r>
                      <a:endParaRPr lang="en-US" sz="10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17111A"/>
                    </a:solidFill>
                  </a:tcPr>
                </a:tc>
              </a:tr>
              <a:tr h="393192">
                <a:tc>
                  <a:txBody>
                    <a:bodyPr/>
                    <a:lstStyle/>
                    <a:p>
                      <a:pPr algn="ctr" indent="0" marL="0">
                        <a:buNone/>
                      </a:pPr>
                      <a:r>
                        <a:rPr lang="en-US" sz="1050" b="1" dirty="0">
                          <a:solidFill>
                            <a:srgbClr val="C9A227"/>
                          </a:solidFill>
                          <a:latin typeface="Meiryo" pitchFamily="34" charset="0"/>
                          <a:ea typeface="Meiryo" pitchFamily="34" charset="-122"/>
                          <a:cs typeface="Meiryo" pitchFamily="34" charset="-120"/>
                        </a:rPr>
                        <a:t>E16</a:t>
                      </a:r>
                      <a:endParaRPr lang="en-US" sz="105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17111A"/>
                    </a:solidFill>
                  </a:tcPr>
                </a:tc>
                <a:tc>
                  <a:txBody>
                    <a:bodyPr/>
                    <a:lstStyle/>
                    <a:p>
                      <a:pPr algn="l" indent="0" marL="0">
                        <a:buNone/>
                      </a:pPr>
                      <a:r>
                        <a:rPr lang="en-US" sz="1050" dirty="0">
                          <a:solidFill>
                            <a:srgbClr val="F2EDE6"/>
                          </a:solidFill>
                          <a:latin typeface="Meiryo" pitchFamily="34" charset="0"/>
                          <a:ea typeface="Meiryo" pitchFamily="34" charset="-122"/>
                          <a:cs typeface="Meiryo" pitchFamily="34" charset="-120"/>
                        </a:rPr>
                        <a:t>保管中の事故</a:t>
                      </a:r>
                      <a:endParaRPr lang="en-US" sz="105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17111A"/>
                    </a:solidFill>
                  </a:tcPr>
                </a:tc>
                <a:tc>
                  <a:txBody>
                    <a:bodyPr/>
                    <a:lstStyle/>
                    <a:p>
                      <a:pPr algn="l" indent="0" marL="0">
                        <a:buNone/>
                      </a:pPr>
                      <a:r>
                        <a:rPr lang="en-US" sz="1000" dirty="0">
                          <a:solidFill>
                            <a:srgbClr val="A2908C"/>
                          </a:solidFill>
                          <a:latin typeface="Meiryo" pitchFamily="34" charset="0"/>
                          <a:ea typeface="Meiryo" pitchFamily="34" charset="-122"/>
                          <a:cs typeface="Meiryo" pitchFamily="34" charset="-120"/>
                        </a:rPr>
                        <a:t>保険は評価額ベース。同じヴィンテージが再入手できないことがある</a:t>
                      </a:r>
                      <a:endParaRPr lang="en-US" sz="10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17111A"/>
                    </a:solidFill>
                  </a:tcPr>
                </a:tc>
                <a:tc>
                  <a:txBody>
                    <a:bodyPr/>
                    <a:lstStyle/>
                    <a:p>
                      <a:pPr algn="ctr" indent="0" marL="0">
                        <a:buNone/>
                      </a:pPr>
                      <a:r>
                        <a:rPr lang="en-US" sz="1000" dirty="0">
                          <a:solidFill>
                            <a:srgbClr val="E0A458"/>
                          </a:solidFill>
                          <a:latin typeface="Meiryo" pitchFamily="34" charset="0"/>
                          <a:ea typeface="Meiryo" pitchFamily="34" charset="-122"/>
                          <a:cs typeface="Meiryo" pitchFamily="34" charset="-120"/>
                        </a:rPr>
                        <a:t>投・愛</a:t>
                      </a:r>
                      <a:endParaRPr lang="en-US" sz="10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17111A"/>
                    </a:solidFill>
                  </a:tcPr>
                </a:tc>
              </a:tr>
              <a:tr h="393192">
                <a:tc>
                  <a:txBody>
                    <a:bodyPr/>
                    <a:lstStyle/>
                    <a:p>
                      <a:pPr algn="ctr" indent="0" marL="0">
                        <a:buNone/>
                      </a:pPr>
                      <a:r>
                        <a:rPr lang="en-US" sz="1050" b="1" dirty="0">
                          <a:solidFill>
                            <a:srgbClr val="C9A227"/>
                          </a:solidFill>
                          <a:latin typeface="Meiryo" pitchFamily="34" charset="0"/>
                          <a:ea typeface="Meiryo" pitchFamily="34" charset="-122"/>
                          <a:cs typeface="Meiryo" pitchFamily="34" charset="-120"/>
                        </a:rPr>
                        <a:t>E17</a:t>
                      </a:r>
                      <a:endParaRPr lang="en-US" sz="105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17111A"/>
                    </a:solidFill>
                  </a:tcPr>
                </a:tc>
                <a:tc>
                  <a:txBody>
                    <a:bodyPr/>
                    <a:lstStyle/>
                    <a:p>
                      <a:pPr algn="l" indent="0" marL="0">
                        <a:buNone/>
                      </a:pPr>
                      <a:r>
                        <a:rPr lang="en-US" sz="1050" dirty="0">
                          <a:solidFill>
                            <a:srgbClr val="F2EDE6"/>
                          </a:solidFill>
                          <a:latin typeface="Meiryo" pitchFamily="34" charset="0"/>
                          <a:ea typeface="Meiryo" pitchFamily="34" charset="-122"/>
                          <a:cs typeface="Meiryo" pitchFamily="34" charset="-120"/>
                        </a:rPr>
                        <a:t>高額ワインの売却益は、課税対象となる可能性がある</a:t>
                      </a:r>
                      <a:endParaRPr lang="en-US" sz="105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17111A"/>
                    </a:solidFill>
                  </a:tcPr>
                </a:tc>
                <a:tc>
                  <a:txBody>
                    <a:bodyPr/>
                    <a:lstStyle/>
                    <a:p>
                      <a:pPr algn="l" indent="0" marL="0">
                        <a:buNone/>
                      </a:pPr>
                      <a:r>
                        <a:rPr lang="en-US" sz="1000" dirty="0">
                          <a:solidFill>
                            <a:srgbClr val="A2908C"/>
                          </a:solidFill>
                          <a:latin typeface="Meiryo" pitchFamily="34" charset="0"/>
                          <a:ea typeface="Meiryo" pitchFamily="34" charset="-122"/>
                          <a:cs typeface="Meiryo" pitchFamily="34" charset="-120"/>
                        </a:rPr>
                        <a:t>税理士確認中。断定しないこと</a:t>
                      </a:r>
                      <a:endParaRPr lang="en-US" sz="10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17111A"/>
                    </a:solidFill>
                  </a:tcPr>
                </a:tc>
                <a:tc>
                  <a:txBody>
                    <a:bodyPr/>
                    <a:lstStyle/>
                    <a:p>
                      <a:pPr algn="ctr" indent="0" marL="0">
                        <a:buNone/>
                      </a:pPr>
                      <a:r>
                        <a:rPr lang="en-US" sz="1000" dirty="0">
                          <a:solidFill>
                            <a:srgbClr val="F2EDE6"/>
                          </a:solidFill>
                          <a:latin typeface="Meiryo" pitchFamily="34" charset="0"/>
                          <a:ea typeface="Meiryo" pitchFamily="34" charset="-122"/>
                          <a:cs typeface="Meiryo" pitchFamily="34" charset="-120"/>
                        </a:rPr>
                        <a:t>投</a:t>
                      </a:r>
                      <a:endParaRPr lang="en-US" sz="1000" dirty="0">
                        <a:latin typeface="Meiryo" charset="0"/>
                        <a:ea typeface="Meiryo" charset="0"/>
                        <a:cs typeface="Meiryo" charset="0"/>
                      </a:endParaRPr>
                    </a:p>
                  </a:txBody>
                  <a:tcPr marL="91440" marR="91440" marT="45720" marB="45720" anchor="ctr">
                    <a:lnL w="9525" cap="flat" cmpd="sng" algn="ctr">
                      <a:solidFill>
                        <a:srgbClr val="4A3038"/>
                      </a:solidFill>
                      <a:prstDash val="solid"/>
                      <a:round/>
                      <a:headEnd type="none" w="med" len="med"/>
                      <a:tailEnd type="none" w="med" len="med"/>
                    </a:lnL>
                    <a:lnR w="9525" cap="flat" cmpd="sng" algn="ctr">
                      <a:solidFill>
                        <a:srgbClr val="4A3038"/>
                      </a:solidFill>
                      <a:prstDash val="solid"/>
                      <a:round/>
                      <a:headEnd type="none" w="med" len="med"/>
                      <a:tailEnd type="none" w="med" len="med"/>
                    </a:lnR>
                    <a:lnT w="9525" cap="flat" cmpd="sng" algn="ctr">
                      <a:solidFill>
                        <a:srgbClr val="4A3038"/>
                      </a:solidFill>
                      <a:prstDash val="solid"/>
                      <a:round/>
                      <a:headEnd type="none" w="med" len="med"/>
                      <a:tailEnd type="none" w="med" len="med"/>
                    </a:lnT>
                    <a:lnB w="9525" cap="flat" cmpd="sng" algn="ctr">
                      <a:solidFill>
                        <a:srgbClr val="4A3038"/>
                      </a:solidFill>
                      <a:prstDash val="solid"/>
                      <a:round/>
                      <a:headEnd type="none" w="med" len="med"/>
                      <a:tailEnd type="none" w="med" len="med"/>
                    </a:lnB>
                    <a:solidFill>
                      <a:srgbClr val="17111A"/>
                    </a:solidFill>
                  </a:tcPr>
                </a:tc>
              </a:tr>
            </a:tbl>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00000"/>
        </a:solidFill>
      </p:bgPr>
    </p:bg>
    <p:spTree>
      <p:nvGrpSpPr>
        <p:cNvPr id="1" name=""/>
        <p:cNvGrpSpPr/>
        <p:nvPr/>
      </p:nvGrpSpPr>
      <p:grpSpPr>
        <a:xfrm>
          <a:off x="0" y="0"/>
          <a:ext cx="0" cy="0"/>
          <a:chOff x="0" y="0"/>
          <a:chExt cx="0" cy="0"/>
        </a:xfrm>
      </p:grpSpPr>
      <p:sp>
        <p:nvSpPr>
          <p:cNvPr id="2" name="Text 0"/>
          <p:cNvSpPr txBox="1"/>
          <p:nvPr/>
        </p:nvSpPr>
        <p:spPr>
          <a:xfrm>
            <a:off x="566928" y="310896"/>
            <a:ext cx="11027664" cy="237744"/>
          </a:xfrm>
          <a:prstGeom prst="rect">
            <a:avLst/>
          </a:prstGeom>
          <a:noFill/>
          <a:ln/>
        </p:spPr>
        <p:txBody>
          <a:bodyPr wrap="square" lIns="0" tIns="0" rIns="0" bIns="0" rtlCol="0" anchor="ctr"/>
          <a:lstStyle/>
          <a:p>
            <a:pPr indent="0" marL="0">
              <a:buNone/>
            </a:pPr>
            <a:r>
              <a:rPr lang="en-US" sz="1050" b="1" spc="300" kern="0" dirty="0">
                <a:solidFill>
                  <a:srgbClr val="C9A227"/>
                </a:solidFill>
                <a:latin typeface="Arial" pitchFamily="34" charset="0"/>
                <a:ea typeface="Arial" pitchFamily="34" charset="-122"/>
                <a:cs typeface="Arial" pitchFamily="34" charset="-120"/>
              </a:rPr>
              <a:t>AD COPY</a:t>
            </a:r>
            <a:endParaRPr lang="en-US" sz="1050" dirty="0"/>
          </a:p>
        </p:txBody>
      </p:sp>
      <p:sp>
        <p:nvSpPr>
          <p:cNvPr id="3" name="Text 1"/>
          <p:cNvSpPr txBox="1"/>
          <p:nvPr/>
        </p:nvSpPr>
        <p:spPr>
          <a:xfrm>
            <a:off x="566928" y="566928"/>
            <a:ext cx="11027664" cy="548640"/>
          </a:xfrm>
          <a:prstGeom prst="rect">
            <a:avLst/>
          </a:prstGeom>
          <a:noFill/>
          <a:ln/>
        </p:spPr>
        <p:txBody>
          <a:bodyPr wrap="square" lIns="0" tIns="0" rIns="0" bIns="0" rtlCol="0" anchor="ctr"/>
          <a:lstStyle/>
          <a:p>
            <a:pPr indent="0" marL="0">
              <a:buNone/>
            </a:pPr>
            <a:r>
              <a:rPr lang="en-US" sz="2900" b="1" dirty="0">
                <a:solidFill>
                  <a:srgbClr val="F2EDE6"/>
                </a:solidFill>
                <a:latin typeface="Meiryo" pitchFamily="34" charset="0"/>
                <a:ea typeface="Meiryo" pitchFamily="34" charset="-122"/>
                <a:cs typeface="Meiryo" pitchFamily="34" charset="-120"/>
              </a:rPr>
              <a:t>広告では、この4つを先に書く</a:t>
            </a:r>
            <a:endParaRPr lang="en-US" sz="2900" dirty="0"/>
          </a:p>
        </p:txBody>
      </p:sp>
      <p:sp>
        <p:nvSpPr>
          <p:cNvPr id="4" name="Text 2"/>
          <p:cNvSpPr txBox="1"/>
          <p:nvPr/>
        </p:nvSpPr>
        <p:spPr>
          <a:xfrm>
            <a:off x="566928" y="1152144"/>
            <a:ext cx="11027664" cy="310896"/>
          </a:xfrm>
          <a:prstGeom prst="rect">
            <a:avLst/>
          </a:prstGeom>
          <a:noFill/>
          <a:ln/>
        </p:spPr>
        <p:txBody>
          <a:bodyPr wrap="square" lIns="0" tIns="0" rIns="0" bIns="0" rtlCol="0" anchor="ctr"/>
          <a:lstStyle/>
          <a:p>
            <a:pPr indent="0" marL="0">
              <a:buNone/>
            </a:pPr>
            <a:r>
              <a:rPr lang="en-US" sz="1300" dirty="0">
                <a:solidFill>
                  <a:srgbClr val="A2908C"/>
                </a:solidFill>
                <a:latin typeface="Meiryo" pitchFamily="34" charset="0"/>
                <a:ea typeface="Meiryo" pitchFamily="34" charset="-122"/>
                <a:cs typeface="Meiryo" pitchFamily="34" charset="-120"/>
              </a:rPr>
              <a:t>17項目は規約・重要事項説明書で網羅し、広告には4つだけを「正直にお伝えします」枠で太字にして出します。</a:t>
            </a:r>
            <a:endParaRPr lang="en-US" sz="1300" dirty="0"/>
          </a:p>
        </p:txBody>
      </p:sp>
      <p:sp>
        <p:nvSpPr>
          <p:cNvPr id="5" name="Text 3"/>
          <p:cNvSpPr txBox="1"/>
          <p:nvPr/>
        </p:nvSpPr>
        <p:spPr>
          <a:xfrm>
            <a:off x="566928" y="6437376"/>
            <a:ext cx="4572000" cy="219456"/>
          </a:xfrm>
          <a:prstGeom prst="rect">
            <a:avLst/>
          </a:prstGeom>
          <a:noFill/>
          <a:ln/>
        </p:spPr>
        <p:txBody>
          <a:bodyPr wrap="square" lIns="0" tIns="0" rIns="0" bIns="0" rtlCol="0" anchor="ctr"/>
          <a:lstStyle/>
          <a:p>
            <a:pPr indent="0" marL="0">
              <a:buNone/>
            </a:pPr>
            <a:r>
              <a:rPr lang="en-US" sz="850" dirty="0">
                <a:solidFill>
                  <a:srgbClr val="6B5A5F"/>
                </a:solidFill>
                <a:latin typeface="Arial" pitchFamily="34" charset="0"/>
                <a:ea typeface="Arial" pitchFamily="34" charset="-122"/>
                <a:cs typeface="Arial" pitchFamily="34" charset="-120"/>
              </a:rPr>
              <a:t>WineBank CONFIDENTIAL</a:t>
            </a:r>
            <a:endParaRPr lang="en-US" sz="850" dirty="0"/>
          </a:p>
        </p:txBody>
      </p:sp>
      <p:sp>
        <p:nvSpPr>
          <p:cNvPr id="6" name="Shape 4"/>
          <p:cNvSpPr/>
          <p:nvPr/>
        </p:nvSpPr>
        <p:spPr>
          <a:xfrm>
            <a:off x="566928" y="1645920"/>
            <a:ext cx="5394960" cy="1463040"/>
          </a:xfrm>
          <a:prstGeom prst="roundRect">
            <a:avLst>
              <a:gd name="adj" fmla="val 3750"/>
            </a:avLst>
          </a:prstGeom>
          <a:solidFill>
            <a:srgbClr val="17111A"/>
          </a:solidFill>
          <a:ln w="12700">
            <a:solidFill>
              <a:srgbClr val="17111A"/>
            </a:solidFill>
            <a:prstDash val="solid"/>
          </a:ln>
          <a:effectLst>
            <a:outerShdw sx="100000" sy="100000" kx="0" ky="0" algn="bl" rotWithShape="0" blurRad="127000" dist="25400" dir="5400000">
              <a:srgbClr val="000000">
                <a:alpha val="35000"/>
              </a:srgbClr>
            </a:outerShdw>
          </a:effectLst>
        </p:spPr>
      </p:sp>
      <p:sp>
        <p:nvSpPr>
          <p:cNvPr id="7" name="Shape 5"/>
          <p:cNvSpPr/>
          <p:nvPr/>
        </p:nvSpPr>
        <p:spPr>
          <a:xfrm>
            <a:off x="859536" y="1865376"/>
            <a:ext cx="329184" cy="329184"/>
          </a:xfrm>
          <a:prstGeom prst="ellipse">
            <a:avLst/>
          </a:prstGeom>
          <a:solidFill>
            <a:srgbClr val="C9A227"/>
          </a:solidFill>
          <a:ln w="12700">
            <a:solidFill>
              <a:srgbClr val="C9A227"/>
            </a:solidFill>
            <a:prstDash val="solid"/>
          </a:ln>
        </p:spPr>
      </p:sp>
      <p:sp>
        <p:nvSpPr>
          <p:cNvPr id="8" name="Text 6"/>
          <p:cNvSpPr txBox="1"/>
          <p:nvPr/>
        </p:nvSpPr>
        <p:spPr>
          <a:xfrm>
            <a:off x="859536" y="1865376"/>
            <a:ext cx="329184" cy="329184"/>
          </a:xfrm>
          <a:prstGeom prst="rect">
            <a:avLst/>
          </a:prstGeom>
          <a:noFill/>
          <a:ln/>
        </p:spPr>
        <p:txBody>
          <a:bodyPr wrap="square" lIns="0" tIns="0" rIns="0" bIns="0" rtlCol="0" anchor="ctr"/>
          <a:lstStyle/>
          <a:p>
            <a:pPr algn="ctr" indent="0" marL="0">
              <a:buNone/>
            </a:pPr>
            <a:r>
              <a:rPr lang="en-US" sz="1300" b="1" dirty="0">
                <a:solidFill>
                  <a:srgbClr val="000000"/>
                </a:solidFill>
                <a:latin typeface="Arial" pitchFamily="34" charset="0"/>
                <a:ea typeface="Arial" pitchFamily="34" charset="-122"/>
                <a:cs typeface="Arial" pitchFamily="34" charset="-120"/>
              </a:rPr>
              <a:t>1</a:t>
            </a:r>
            <a:endParaRPr lang="en-US" sz="1300" dirty="0"/>
          </a:p>
        </p:txBody>
      </p:sp>
      <p:sp>
        <p:nvSpPr>
          <p:cNvPr id="9" name="Text 7"/>
          <p:cNvSpPr txBox="1"/>
          <p:nvPr/>
        </p:nvSpPr>
        <p:spPr>
          <a:xfrm>
            <a:off x="1335024" y="1865376"/>
            <a:ext cx="4389120" cy="310896"/>
          </a:xfrm>
          <a:prstGeom prst="rect">
            <a:avLst/>
          </a:prstGeom>
          <a:noFill/>
          <a:ln/>
        </p:spPr>
        <p:txBody>
          <a:bodyPr wrap="square" lIns="0" tIns="0" rIns="0" bIns="0" rtlCol="0" anchor="ctr"/>
          <a:lstStyle/>
          <a:p>
            <a:pPr indent="0" marL="0">
              <a:buNone/>
            </a:pPr>
            <a:r>
              <a:rPr lang="en-US" sz="1500" b="1" dirty="0">
                <a:solidFill>
                  <a:srgbClr val="E8CE78"/>
                </a:solidFill>
                <a:latin typeface="Meiryo" pitchFamily="34" charset="0"/>
                <a:ea typeface="Meiryo" pitchFamily="34" charset="-122"/>
                <a:cs typeface="Meiryo" pitchFamily="34" charset="-120"/>
              </a:rPr>
              <a:t>元本保証はありません。</a:t>
            </a:r>
            <a:endParaRPr lang="en-US" sz="1500" dirty="0"/>
          </a:p>
        </p:txBody>
      </p:sp>
      <p:sp>
        <p:nvSpPr>
          <p:cNvPr id="10" name="Text 8"/>
          <p:cNvSpPr txBox="1"/>
          <p:nvPr/>
        </p:nvSpPr>
        <p:spPr>
          <a:xfrm>
            <a:off x="1335024" y="2231136"/>
            <a:ext cx="4389120" cy="274320"/>
          </a:xfrm>
          <a:prstGeom prst="rect">
            <a:avLst/>
          </a:prstGeom>
          <a:noFill/>
          <a:ln/>
        </p:spPr>
        <p:txBody>
          <a:bodyPr wrap="square" lIns="0" tIns="0" rIns="0" bIns="0" rtlCol="0" anchor="ctr"/>
          <a:lstStyle/>
          <a:p>
            <a:pPr indent="0" marL="0">
              <a:buNone/>
            </a:pPr>
            <a:r>
              <a:rPr lang="en-US" sz="1200" dirty="0">
                <a:solidFill>
                  <a:srgbClr val="F2EDE6"/>
                </a:solidFill>
                <a:latin typeface="Meiryo" pitchFamily="34" charset="0"/>
                <a:ea typeface="Meiryo" pitchFamily="34" charset="-122"/>
                <a:cs typeface="Meiryo" pitchFamily="34" charset="-120"/>
              </a:rPr>
              <a:t>値下がりした場合、その損失はお客様のものです。</a:t>
            </a:r>
            <a:endParaRPr lang="en-US" sz="1200" dirty="0"/>
          </a:p>
        </p:txBody>
      </p:sp>
      <p:sp>
        <p:nvSpPr>
          <p:cNvPr id="11" name="Text 9"/>
          <p:cNvSpPr txBox="1"/>
          <p:nvPr/>
        </p:nvSpPr>
        <p:spPr>
          <a:xfrm>
            <a:off x="1335024" y="2615184"/>
            <a:ext cx="4389120" cy="365760"/>
          </a:xfrm>
          <a:prstGeom prst="rect">
            <a:avLst/>
          </a:prstGeom>
          <a:noFill/>
          <a:ln/>
        </p:spPr>
        <p:txBody>
          <a:bodyPr wrap="square" lIns="0" tIns="0" rIns="0" bIns="0" rtlCol="0" anchor="ctr"/>
          <a:lstStyle/>
          <a:p>
            <a:pPr indent="0" marL="0">
              <a:buNone/>
            </a:pPr>
            <a:r>
              <a:rPr lang="en-US" sz="1000" dirty="0">
                <a:solidFill>
                  <a:srgbClr val="A2908C"/>
                </a:solidFill>
                <a:latin typeface="Meiryo" pitchFamily="34" charset="0"/>
                <a:ea typeface="Meiryo" pitchFamily="34" charset="-122"/>
                <a:cs typeface="Meiryo" pitchFamily="34" charset="-120"/>
              </a:rPr>
              <a:t>なぜ：「元本保証」と誤認されることを先に防ぎます</a:t>
            </a:r>
            <a:endParaRPr lang="en-US" sz="1000" dirty="0"/>
          </a:p>
        </p:txBody>
      </p:sp>
      <p:sp>
        <p:nvSpPr>
          <p:cNvPr id="12" name="Shape 10"/>
          <p:cNvSpPr/>
          <p:nvPr/>
        </p:nvSpPr>
        <p:spPr>
          <a:xfrm>
            <a:off x="6199632" y="1645920"/>
            <a:ext cx="5394960" cy="1463040"/>
          </a:xfrm>
          <a:prstGeom prst="roundRect">
            <a:avLst>
              <a:gd name="adj" fmla="val 3750"/>
            </a:avLst>
          </a:prstGeom>
          <a:solidFill>
            <a:srgbClr val="17111A"/>
          </a:solidFill>
          <a:ln w="12700">
            <a:solidFill>
              <a:srgbClr val="17111A"/>
            </a:solidFill>
            <a:prstDash val="solid"/>
          </a:ln>
          <a:effectLst>
            <a:outerShdw sx="100000" sy="100000" kx="0" ky="0" algn="bl" rotWithShape="0" blurRad="127000" dist="25400" dir="5400000">
              <a:srgbClr val="000000">
                <a:alpha val="35000"/>
              </a:srgbClr>
            </a:outerShdw>
          </a:effectLst>
        </p:spPr>
      </p:sp>
      <p:sp>
        <p:nvSpPr>
          <p:cNvPr id="13" name="Shape 11"/>
          <p:cNvSpPr/>
          <p:nvPr/>
        </p:nvSpPr>
        <p:spPr>
          <a:xfrm>
            <a:off x="6492240" y="1865376"/>
            <a:ext cx="329184" cy="329184"/>
          </a:xfrm>
          <a:prstGeom prst="ellipse">
            <a:avLst/>
          </a:prstGeom>
          <a:solidFill>
            <a:srgbClr val="C9A227"/>
          </a:solidFill>
          <a:ln w="12700">
            <a:solidFill>
              <a:srgbClr val="C9A227"/>
            </a:solidFill>
            <a:prstDash val="solid"/>
          </a:ln>
        </p:spPr>
      </p:sp>
      <p:sp>
        <p:nvSpPr>
          <p:cNvPr id="14" name="Text 12"/>
          <p:cNvSpPr txBox="1"/>
          <p:nvPr/>
        </p:nvSpPr>
        <p:spPr>
          <a:xfrm>
            <a:off x="6492240" y="1865376"/>
            <a:ext cx="329184" cy="329184"/>
          </a:xfrm>
          <a:prstGeom prst="rect">
            <a:avLst/>
          </a:prstGeom>
          <a:noFill/>
          <a:ln/>
        </p:spPr>
        <p:txBody>
          <a:bodyPr wrap="square" lIns="0" tIns="0" rIns="0" bIns="0" rtlCol="0" anchor="ctr"/>
          <a:lstStyle/>
          <a:p>
            <a:pPr algn="ctr" indent="0" marL="0">
              <a:buNone/>
            </a:pPr>
            <a:r>
              <a:rPr lang="en-US" sz="1300" b="1" dirty="0">
                <a:solidFill>
                  <a:srgbClr val="000000"/>
                </a:solidFill>
                <a:latin typeface="Arial" pitchFamily="34" charset="0"/>
                <a:ea typeface="Arial" pitchFamily="34" charset="-122"/>
                <a:cs typeface="Arial" pitchFamily="34" charset="-120"/>
              </a:rPr>
              <a:t>2</a:t>
            </a:r>
            <a:endParaRPr lang="en-US" sz="1300" dirty="0"/>
          </a:p>
        </p:txBody>
      </p:sp>
      <p:sp>
        <p:nvSpPr>
          <p:cNvPr id="15" name="Text 13"/>
          <p:cNvSpPr txBox="1"/>
          <p:nvPr/>
        </p:nvSpPr>
        <p:spPr>
          <a:xfrm>
            <a:off x="6967728" y="1865376"/>
            <a:ext cx="4389120" cy="310896"/>
          </a:xfrm>
          <a:prstGeom prst="rect">
            <a:avLst/>
          </a:prstGeom>
          <a:noFill/>
          <a:ln/>
        </p:spPr>
        <p:txBody>
          <a:bodyPr wrap="square" lIns="0" tIns="0" rIns="0" bIns="0" rtlCol="0" anchor="ctr"/>
          <a:lstStyle/>
          <a:p>
            <a:pPr indent="0" marL="0">
              <a:buNone/>
            </a:pPr>
            <a:r>
              <a:rPr lang="en-US" sz="1500" b="1" dirty="0">
                <a:solidFill>
                  <a:srgbClr val="E8CE78"/>
                </a:solidFill>
                <a:latin typeface="Meiryo" pitchFamily="34" charset="0"/>
                <a:ea typeface="Meiryo" pitchFamily="34" charset="-122"/>
                <a:cs typeface="Meiryo" pitchFamily="34" charset="-120"/>
              </a:rPr>
              <a:t>買ってすぐ売ると、約1割目減りします。</a:t>
            </a:r>
            <a:endParaRPr lang="en-US" sz="1500" dirty="0"/>
          </a:p>
        </p:txBody>
      </p:sp>
      <p:sp>
        <p:nvSpPr>
          <p:cNvPr id="16" name="Text 14"/>
          <p:cNvSpPr txBox="1"/>
          <p:nvPr/>
        </p:nvSpPr>
        <p:spPr>
          <a:xfrm>
            <a:off x="6967728" y="2231136"/>
            <a:ext cx="4389120" cy="274320"/>
          </a:xfrm>
          <a:prstGeom prst="rect">
            <a:avLst/>
          </a:prstGeom>
          <a:noFill/>
          <a:ln/>
        </p:spPr>
        <p:txBody>
          <a:bodyPr wrap="square" lIns="0" tIns="0" rIns="0" bIns="0" rtlCol="0" anchor="ctr"/>
          <a:lstStyle/>
          <a:p>
            <a:pPr indent="0" marL="0">
              <a:buNone/>
            </a:pPr>
            <a:r>
              <a:rPr lang="en-US" sz="1200" dirty="0">
                <a:solidFill>
                  <a:srgbClr val="F2EDE6"/>
                </a:solidFill>
                <a:latin typeface="Meiryo" pitchFamily="34" charset="0"/>
                <a:ea typeface="Meiryo" pitchFamily="34" charset="-122"/>
                <a:cs typeface="Meiryo" pitchFamily="34" charset="-120"/>
              </a:rPr>
              <a:t>1年以上の保有をおすすめする理由です。</a:t>
            </a:r>
            <a:endParaRPr lang="en-US" sz="1200" dirty="0"/>
          </a:p>
        </p:txBody>
      </p:sp>
      <p:sp>
        <p:nvSpPr>
          <p:cNvPr id="17" name="Text 15"/>
          <p:cNvSpPr txBox="1"/>
          <p:nvPr/>
        </p:nvSpPr>
        <p:spPr>
          <a:xfrm>
            <a:off x="6967728" y="2615184"/>
            <a:ext cx="4389120" cy="365760"/>
          </a:xfrm>
          <a:prstGeom prst="rect">
            <a:avLst/>
          </a:prstGeom>
          <a:noFill/>
          <a:ln/>
        </p:spPr>
        <p:txBody>
          <a:bodyPr wrap="square" lIns="0" tIns="0" rIns="0" bIns="0" rtlCol="0" anchor="ctr"/>
          <a:lstStyle/>
          <a:p>
            <a:pPr indent="0" marL="0">
              <a:buNone/>
            </a:pPr>
            <a:r>
              <a:rPr lang="en-US" sz="1000" dirty="0">
                <a:solidFill>
                  <a:srgbClr val="A2908C"/>
                </a:solidFill>
                <a:latin typeface="Meiryo" pitchFamily="34" charset="0"/>
                <a:ea typeface="Meiryo" pitchFamily="34" charset="-122"/>
                <a:cs typeface="Meiryo" pitchFamily="34" charset="-120"/>
              </a:rPr>
              <a:t>なぜ：禁止ではなく理由つきの推奨にすれば、ロックは要りません</a:t>
            </a:r>
            <a:endParaRPr lang="en-US" sz="1000" dirty="0"/>
          </a:p>
        </p:txBody>
      </p:sp>
      <p:sp>
        <p:nvSpPr>
          <p:cNvPr id="18" name="Shape 16"/>
          <p:cNvSpPr/>
          <p:nvPr/>
        </p:nvSpPr>
        <p:spPr>
          <a:xfrm>
            <a:off x="566928" y="3236976"/>
            <a:ext cx="5394960" cy="1463040"/>
          </a:xfrm>
          <a:prstGeom prst="roundRect">
            <a:avLst>
              <a:gd name="adj" fmla="val 3750"/>
            </a:avLst>
          </a:prstGeom>
          <a:solidFill>
            <a:srgbClr val="261A24"/>
          </a:solidFill>
          <a:ln w="12700">
            <a:solidFill>
              <a:srgbClr val="261A24"/>
            </a:solidFill>
            <a:prstDash val="solid"/>
          </a:ln>
          <a:effectLst>
            <a:outerShdw sx="100000" sy="100000" kx="0" ky="0" algn="bl" rotWithShape="0" blurRad="127000" dist="25400" dir="5400000">
              <a:srgbClr val="000000">
                <a:alpha val="35000"/>
              </a:srgbClr>
            </a:outerShdw>
          </a:effectLst>
        </p:spPr>
      </p:sp>
      <p:sp>
        <p:nvSpPr>
          <p:cNvPr id="19" name="Shape 17"/>
          <p:cNvSpPr/>
          <p:nvPr/>
        </p:nvSpPr>
        <p:spPr>
          <a:xfrm>
            <a:off x="859536" y="3456432"/>
            <a:ext cx="329184" cy="329184"/>
          </a:xfrm>
          <a:prstGeom prst="ellipse">
            <a:avLst/>
          </a:prstGeom>
          <a:solidFill>
            <a:srgbClr val="C9A227"/>
          </a:solidFill>
          <a:ln w="12700">
            <a:solidFill>
              <a:srgbClr val="C9A227"/>
            </a:solidFill>
            <a:prstDash val="solid"/>
          </a:ln>
        </p:spPr>
      </p:sp>
      <p:sp>
        <p:nvSpPr>
          <p:cNvPr id="20" name="Text 18"/>
          <p:cNvSpPr txBox="1"/>
          <p:nvPr/>
        </p:nvSpPr>
        <p:spPr>
          <a:xfrm>
            <a:off x="859536" y="3456432"/>
            <a:ext cx="329184" cy="329184"/>
          </a:xfrm>
          <a:prstGeom prst="rect">
            <a:avLst/>
          </a:prstGeom>
          <a:noFill/>
          <a:ln/>
        </p:spPr>
        <p:txBody>
          <a:bodyPr wrap="square" lIns="0" tIns="0" rIns="0" bIns="0" rtlCol="0" anchor="ctr"/>
          <a:lstStyle/>
          <a:p>
            <a:pPr algn="ctr" indent="0" marL="0">
              <a:buNone/>
            </a:pPr>
            <a:r>
              <a:rPr lang="en-US" sz="1300" b="1" dirty="0">
                <a:solidFill>
                  <a:srgbClr val="000000"/>
                </a:solidFill>
                <a:latin typeface="Arial" pitchFamily="34" charset="0"/>
                <a:ea typeface="Arial" pitchFamily="34" charset="-122"/>
                <a:cs typeface="Arial" pitchFamily="34" charset="-120"/>
              </a:rPr>
              <a:t>3</a:t>
            </a:r>
            <a:endParaRPr lang="en-US" sz="1300" dirty="0"/>
          </a:p>
        </p:txBody>
      </p:sp>
      <p:sp>
        <p:nvSpPr>
          <p:cNvPr id="21" name="Text 19"/>
          <p:cNvSpPr txBox="1"/>
          <p:nvPr/>
        </p:nvSpPr>
        <p:spPr>
          <a:xfrm>
            <a:off x="1335024" y="3456432"/>
            <a:ext cx="4389120" cy="310896"/>
          </a:xfrm>
          <a:prstGeom prst="rect">
            <a:avLst/>
          </a:prstGeom>
          <a:noFill/>
          <a:ln/>
        </p:spPr>
        <p:txBody>
          <a:bodyPr wrap="square" lIns="0" tIns="0" rIns="0" bIns="0" rtlCol="0" anchor="ctr"/>
          <a:lstStyle/>
          <a:p>
            <a:pPr indent="0" marL="0">
              <a:buNone/>
            </a:pPr>
            <a:r>
              <a:rPr lang="en-US" sz="1500" b="1" dirty="0">
                <a:solidFill>
                  <a:srgbClr val="E8CE78"/>
                </a:solidFill>
                <a:latin typeface="Meiryo" pitchFamily="34" charset="0"/>
                <a:ea typeface="Meiryo" pitchFamily="34" charset="-122"/>
                <a:cs typeface="Meiryo" pitchFamily="34" charset="-120"/>
              </a:rPr>
              <a:t>値上がり益の30%をいただきます。</a:t>
            </a:r>
            <a:endParaRPr lang="en-US" sz="1500" dirty="0"/>
          </a:p>
        </p:txBody>
      </p:sp>
      <p:sp>
        <p:nvSpPr>
          <p:cNvPr id="22" name="Text 20"/>
          <p:cNvSpPr txBox="1"/>
          <p:nvPr/>
        </p:nvSpPr>
        <p:spPr>
          <a:xfrm>
            <a:off x="1335024" y="3822192"/>
            <a:ext cx="4389120" cy="274320"/>
          </a:xfrm>
          <a:prstGeom prst="rect">
            <a:avLst/>
          </a:prstGeom>
          <a:noFill/>
          <a:ln/>
        </p:spPr>
        <p:txBody>
          <a:bodyPr wrap="square" lIns="0" tIns="0" rIns="0" bIns="0" rtlCol="0" anchor="ctr"/>
          <a:lstStyle/>
          <a:p>
            <a:pPr indent="0" marL="0">
              <a:buNone/>
            </a:pPr>
            <a:r>
              <a:rPr lang="en-US" sz="1200" dirty="0">
                <a:solidFill>
                  <a:srgbClr val="F2EDE6"/>
                </a:solidFill>
                <a:latin typeface="Meiryo" pitchFamily="34" charset="0"/>
                <a:ea typeface="Meiryo" pitchFamily="34" charset="-122"/>
                <a:cs typeface="Meiryo" pitchFamily="34" charset="-120"/>
              </a:rPr>
              <a:t>値上がりしなければ、いただくものはありません。</a:t>
            </a:r>
            <a:endParaRPr lang="en-US" sz="1200" dirty="0"/>
          </a:p>
        </p:txBody>
      </p:sp>
      <p:sp>
        <p:nvSpPr>
          <p:cNvPr id="23" name="Text 21"/>
          <p:cNvSpPr txBox="1"/>
          <p:nvPr/>
        </p:nvSpPr>
        <p:spPr>
          <a:xfrm>
            <a:off x="1335024" y="4206240"/>
            <a:ext cx="4389120" cy="365760"/>
          </a:xfrm>
          <a:prstGeom prst="rect">
            <a:avLst/>
          </a:prstGeom>
          <a:noFill/>
          <a:ln/>
        </p:spPr>
        <p:txBody>
          <a:bodyPr wrap="square" lIns="0" tIns="0" rIns="0" bIns="0" rtlCol="0" anchor="ctr"/>
          <a:lstStyle/>
          <a:p>
            <a:pPr indent="0" marL="0">
              <a:buNone/>
            </a:pPr>
            <a:r>
              <a:rPr lang="en-US" sz="1000" dirty="0">
                <a:solidFill>
                  <a:srgbClr val="A2908C"/>
                </a:solidFill>
                <a:latin typeface="Meiryo" pitchFamily="34" charset="0"/>
                <a:ea typeface="Meiryo" pitchFamily="34" charset="-122"/>
                <a:cs typeface="Meiryo" pitchFamily="34" charset="-120"/>
              </a:rPr>
              <a:t>なぜ：デメリットがそのまま「損をしたら払わない」メリットになります</a:t>
            </a:r>
            <a:endParaRPr lang="en-US" sz="1000" dirty="0"/>
          </a:p>
        </p:txBody>
      </p:sp>
      <p:sp>
        <p:nvSpPr>
          <p:cNvPr id="24" name="Shape 22"/>
          <p:cNvSpPr/>
          <p:nvPr/>
        </p:nvSpPr>
        <p:spPr>
          <a:xfrm>
            <a:off x="6199632" y="3236976"/>
            <a:ext cx="5394960" cy="1463040"/>
          </a:xfrm>
          <a:prstGeom prst="roundRect">
            <a:avLst>
              <a:gd name="adj" fmla="val 3750"/>
            </a:avLst>
          </a:prstGeom>
          <a:solidFill>
            <a:srgbClr val="17111A"/>
          </a:solidFill>
          <a:ln w="12700">
            <a:solidFill>
              <a:srgbClr val="17111A"/>
            </a:solidFill>
            <a:prstDash val="solid"/>
          </a:ln>
          <a:effectLst>
            <a:outerShdw sx="100000" sy="100000" kx="0" ky="0" algn="bl" rotWithShape="0" blurRad="127000" dist="25400" dir="5400000">
              <a:srgbClr val="000000">
                <a:alpha val="35000"/>
              </a:srgbClr>
            </a:outerShdw>
          </a:effectLst>
        </p:spPr>
      </p:sp>
      <p:sp>
        <p:nvSpPr>
          <p:cNvPr id="25" name="Shape 23"/>
          <p:cNvSpPr/>
          <p:nvPr/>
        </p:nvSpPr>
        <p:spPr>
          <a:xfrm>
            <a:off x="6492240" y="3456432"/>
            <a:ext cx="329184" cy="329184"/>
          </a:xfrm>
          <a:prstGeom prst="ellipse">
            <a:avLst/>
          </a:prstGeom>
          <a:solidFill>
            <a:srgbClr val="C9A227"/>
          </a:solidFill>
          <a:ln w="12700">
            <a:solidFill>
              <a:srgbClr val="C9A227"/>
            </a:solidFill>
            <a:prstDash val="solid"/>
          </a:ln>
        </p:spPr>
      </p:sp>
      <p:sp>
        <p:nvSpPr>
          <p:cNvPr id="26" name="Text 24"/>
          <p:cNvSpPr txBox="1"/>
          <p:nvPr/>
        </p:nvSpPr>
        <p:spPr>
          <a:xfrm>
            <a:off x="6492240" y="3456432"/>
            <a:ext cx="329184" cy="329184"/>
          </a:xfrm>
          <a:prstGeom prst="rect">
            <a:avLst/>
          </a:prstGeom>
          <a:noFill/>
          <a:ln/>
        </p:spPr>
        <p:txBody>
          <a:bodyPr wrap="square" lIns="0" tIns="0" rIns="0" bIns="0" rtlCol="0" anchor="ctr"/>
          <a:lstStyle/>
          <a:p>
            <a:pPr algn="ctr" indent="0" marL="0">
              <a:buNone/>
            </a:pPr>
            <a:r>
              <a:rPr lang="en-US" sz="1300" b="1" dirty="0">
                <a:solidFill>
                  <a:srgbClr val="000000"/>
                </a:solidFill>
                <a:latin typeface="Arial" pitchFamily="34" charset="0"/>
                <a:ea typeface="Arial" pitchFamily="34" charset="-122"/>
                <a:cs typeface="Arial" pitchFamily="34" charset="-120"/>
              </a:rPr>
              <a:t>4</a:t>
            </a:r>
            <a:endParaRPr lang="en-US" sz="1300" dirty="0"/>
          </a:p>
        </p:txBody>
      </p:sp>
      <p:sp>
        <p:nvSpPr>
          <p:cNvPr id="27" name="Text 25"/>
          <p:cNvSpPr txBox="1"/>
          <p:nvPr/>
        </p:nvSpPr>
        <p:spPr>
          <a:xfrm>
            <a:off x="6967728" y="3456432"/>
            <a:ext cx="4389120" cy="310896"/>
          </a:xfrm>
          <a:prstGeom prst="rect">
            <a:avLst/>
          </a:prstGeom>
          <a:noFill/>
          <a:ln/>
        </p:spPr>
        <p:txBody>
          <a:bodyPr wrap="square" lIns="0" tIns="0" rIns="0" bIns="0" rtlCol="0" anchor="ctr"/>
          <a:lstStyle/>
          <a:p>
            <a:pPr indent="0" marL="0">
              <a:buNone/>
            </a:pPr>
            <a:r>
              <a:rPr lang="en-US" sz="1500" b="1" dirty="0">
                <a:solidFill>
                  <a:srgbClr val="E8CE78"/>
                </a:solidFill>
                <a:latin typeface="Meiryo" pitchFamily="34" charset="0"/>
                <a:ea typeface="Meiryo" pitchFamily="34" charset="-122"/>
                <a:cs typeface="Meiryo" pitchFamily="34" charset="-120"/>
              </a:rPr>
              <a:t>マイルは現金になりません。</a:t>
            </a:r>
            <a:endParaRPr lang="en-US" sz="1500" dirty="0"/>
          </a:p>
        </p:txBody>
      </p:sp>
      <p:sp>
        <p:nvSpPr>
          <p:cNvPr id="28" name="Text 26"/>
          <p:cNvSpPr txBox="1"/>
          <p:nvPr/>
        </p:nvSpPr>
        <p:spPr>
          <a:xfrm>
            <a:off x="6967728" y="3822192"/>
            <a:ext cx="4389120" cy="274320"/>
          </a:xfrm>
          <a:prstGeom prst="rect">
            <a:avLst/>
          </a:prstGeom>
          <a:noFill/>
          <a:ln/>
        </p:spPr>
        <p:txBody>
          <a:bodyPr wrap="square" lIns="0" tIns="0" rIns="0" bIns="0" rtlCol="0" anchor="ctr"/>
          <a:lstStyle/>
          <a:p>
            <a:pPr indent="0" marL="0">
              <a:buNone/>
            </a:pPr>
            <a:r>
              <a:rPr lang="en-US" sz="1200" dirty="0">
                <a:solidFill>
                  <a:srgbClr val="F2EDE6"/>
                </a:solidFill>
                <a:latin typeface="Meiryo" pitchFamily="34" charset="0"/>
                <a:ea typeface="Meiryo" pitchFamily="34" charset="-122"/>
                <a:cs typeface="Meiryo" pitchFamily="34" charset="-120"/>
              </a:rPr>
              <a:t>使える先と交換レートはこちら。</a:t>
            </a:r>
            <a:endParaRPr lang="en-US" sz="1200" dirty="0"/>
          </a:p>
        </p:txBody>
      </p:sp>
      <p:sp>
        <p:nvSpPr>
          <p:cNvPr id="29" name="Text 27"/>
          <p:cNvSpPr txBox="1"/>
          <p:nvPr/>
        </p:nvSpPr>
        <p:spPr>
          <a:xfrm>
            <a:off x="6967728" y="4206240"/>
            <a:ext cx="4389120" cy="365760"/>
          </a:xfrm>
          <a:prstGeom prst="rect">
            <a:avLst/>
          </a:prstGeom>
          <a:noFill/>
          <a:ln/>
        </p:spPr>
        <p:txBody>
          <a:bodyPr wrap="square" lIns="0" tIns="0" rIns="0" bIns="0" rtlCol="0" anchor="ctr"/>
          <a:lstStyle/>
          <a:p>
            <a:pPr indent="0" marL="0">
              <a:buNone/>
            </a:pPr>
            <a:r>
              <a:rPr lang="en-US" sz="1000" dirty="0">
                <a:solidFill>
                  <a:srgbClr val="A2908C"/>
                </a:solidFill>
                <a:latin typeface="Meiryo" pitchFamily="34" charset="0"/>
                <a:ea typeface="Meiryo" pitchFamily="34" charset="-122"/>
                <a:cs typeface="Meiryo" pitchFamily="34" charset="-120"/>
              </a:rPr>
              <a:t>なぜ：レートが0.5〜1.0円と違うことの明示は、有利誤認対策の要です</a:t>
            </a:r>
            <a:endParaRPr lang="en-US" sz="1000" dirty="0"/>
          </a:p>
        </p:txBody>
      </p:sp>
      <p:sp>
        <p:nvSpPr>
          <p:cNvPr id="30" name="Shape 28"/>
          <p:cNvSpPr/>
          <p:nvPr/>
        </p:nvSpPr>
        <p:spPr>
          <a:xfrm>
            <a:off x="566928" y="4882896"/>
            <a:ext cx="11027664" cy="1170432"/>
          </a:xfrm>
          <a:prstGeom prst="roundRect">
            <a:avLst>
              <a:gd name="adj" fmla="val 4688"/>
            </a:avLst>
          </a:prstGeom>
          <a:solidFill>
            <a:srgbClr val="7B1E3A"/>
          </a:solidFill>
          <a:ln w="12700">
            <a:solidFill>
              <a:srgbClr val="7B1E3A"/>
            </a:solidFill>
            <a:prstDash val="solid"/>
          </a:ln>
          <a:effectLst>
            <a:outerShdw sx="100000" sy="100000" kx="0" ky="0" algn="bl" rotWithShape="0" blurRad="127000" dist="25400" dir="5400000">
              <a:srgbClr val="000000">
                <a:alpha val="35000"/>
              </a:srgbClr>
            </a:outerShdw>
          </a:effectLst>
        </p:spPr>
      </p:sp>
      <p:sp>
        <p:nvSpPr>
          <p:cNvPr id="31" name="Text 29"/>
          <p:cNvSpPr txBox="1"/>
          <p:nvPr/>
        </p:nvSpPr>
        <p:spPr>
          <a:xfrm>
            <a:off x="978408" y="5029200"/>
            <a:ext cx="10204704" cy="329184"/>
          </a:xfrm>
          <a:prstGeom prst="rect">
            <a:avLst/>
          </a:prstGeom>
          <a:noFill/>
          <a:ln/>
        </p:spPr>
        <p:txBody>
          <a:bodyPr wrap="square" lIns="0" tIns="0" rIns="0" bIns="0" rtlCol="0" anchor="ctr"/>
          <a:lstStyle/>
          <a:p>
            <a:pPr indent="0" marL="0">
              <a:buNone/>
            </a:pPr>
            <a:r>
              <a:rPr lang="en-US" sz="1700" b="1" dirty="0">
                <a:solidFill>
                  <a:srgbClr val="E8CE78"/>
                </a:solidFill>
                <a:latin typeface="Meiryo" pitchFamily="34" charset="0"/>
                <a:ea typeface="Meiryo" pitchFamily="34" charset="-122"/>
                <a:cs typeface="Meiryo" pitchFamily="34" charset="-120"/>
              </a:rPr>
              <a:t>3番は、書いた瞬間にメリットへ裏返ります。</a:t>
            </a:r>
            <a:endParaRPr lang="en-US" sz="1700" dirty="0"/>
          </a:p>
        </p:txBody>
      </p:sp>
      <p:sp>
        <p:nvSpPr>
          <p:cNvPr id="32" name="Text 30"/>
          <p:cNvSpPr txBox="1"/>
          <p:nvPr/>
        </p:nvSpPr>
        <p:spPr>
          <a:xfrm>
            <a:off x="978408" y="5413248"/>
            <a:ext cx="10204704" cy="548640"/>
          </a:xfrm>
          <a:prstGeom prst="rect">
            <a:avLst/>
          </a:prstGeom>
          <a:noFill/>
          <a:ln/>
        </p:spPr>
        <p:txBody>
          <a:bodyPr wrap="square" lIns="0" tIns="0" rIns="0" bIns="0" rtlCol="0" anchor="ctr"/>
          <a:lstStyle/>
          <a:p>
            <a:pPr indent="0" marL="0">
              <a:lnSpc>
                <a:spcPts val="1700"/>
              </a:lnSpc>
              <a:buNone/>
            </a:pPr>
            <a:r>
              <a:rPr lang="en-US" sz="1150" dirty="0">
                <a:solidFill>
                  <a:srgbClr val="F2EDE6"/>
                </a:solidFill>
                <a:latin typeface="Meiryo" pitchFamily="34" charset="0"/>
                <a:ea typeface="Meiryo" pitchFamily="34" charset="-122"/>
                <a:cs typeface="Meiryo" pitchFamily="34" charset="-120"/>
              </a:rPr>
              <a:t>「値上がりが起きても、起きなくても」の話を、デメリット欄から始められます。弁護士意見書も「制限の内容等を正確に記載」を求めており、この枠はコンプライアンス上も必要なものです。</a:t>
            </a:r>
            <a:endParaRPr lang="en-US" sz="11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00000"/>
        </a:solidFill>
      </p:bgPr>
    </p:bg>
    <p:spTree>
      <p:nvGrpSpPr>
        <p:cNvPr id="1" name=""/>
        <p:cNvGrpSpPr/>
        <p:nvPr/>
      </p:nvGrpSpPr>
      <p:grpSpPr>
        <a:xfrm>
          <a:off x="0" y="0"/>
          <a:ext cx="0" cy="0"/>
          <a:chOff x="0" y="0"/>
          <a:chExt cx="0" cy="0"/>
        </a:xfrm>
      </p:grpSpPr>
      <p:sp>
        <p:nvSpPr>
          <p:cNvPr id="2" name="Text 0"/>
          <p:cNvSpPr txBox="1"/>
          <p:nvPr/>
        </p:nvSpPr>
        <p:spPr>
          <a:xfrm>
            <a:off x="566928" y="310896"/>
            <a:ext cx="11027664" cy="237744"/>
          </a:xfrm>
          <a:prstGeom prst="rect">
            <a:avLst/>
          </a:prstGeom>
          <a:noFill/>
          <a:ln/>
        </p:spPr>
        <p:txBody>
          <a:bodyPr wrap="square" lIns="0" tIns="0" rIns="0" bIns="0" rtlCol="0" anchor="ctr"/>
          <a:lstStyle/>
          <a:p>
            <a:pPr indent="0" marL="0">
              <a:buNone/>
            </a:pPr>
            <a:r>
              <a:rPr lang="en-US" sz="1050" b="1" spc="300" kern="0" dirty="0">
                <a:solidFill>
                  <a:srgbClr val="C9A227"/>
                </a:solidFill>
                <a:latin typeface="Arial" pitchFamily="34" charset="0"/>
                <a:ea typeface="Arial" pitchFamily="34" charset="-122"/>
                <a:cs typeface="Arial" pitchFamily="34" charset="-120"/>
              </a:rPr>
              <a:t>MIGRATION &amp; ACQUISITION</a:t>
            </a:r>
            <a:endParaRPr lang="en-US" sz="1050" dirty="0"/>
          </a:p>
        </p:txBody>
      </p:sp>
      <p:sp>
        <p:nvSpPr>
          <p:cNvPr id="3" name="Text 1"/>
          <p:cNvSpPr txBox="1"/>
          <p:nvPr/>
        </p:nvSpPr>
        <p:spPr>
          <a:xfrm>
            <a:off x="566928" y="566928"/>
            <a:ext cx="11027664" cy="548640"/>
          </a:xfrm>
          <a:prstGeom prst="rect">
            <a:avLst/>
          </a:prstGeom>
          <a:noFill/>
          <a:ln/>
        </p:spPr>
        <p:txBody>
          <a:bodyPr wrap="square" lIns="0" tIns="0" rIns="0" bIns="0" rtlCol="0" anchor="ctr"/>
          <a:lstStyle/>
          <a:p>
            <a:pPr indent="0" marL="0">
              <a:buNone/>
            </a:pPr>
            <a:r>
              <a:rPr lang="en-US" sz="2900" b="1" dirty="0">
                <a:solidFill>
                  <a:srgbClr val="F2EDE6"/>
                </a:solidFill>
                <a:latin typeface="Meiryo" pitchFamily="34" charset="0"/>
                <a:ea typeface="Meiryo" pitchFamily="34" charset="-122"/>
                <a:cs typeface="Meiryo" pitchFamily="34" charset="-120"/>
              </a:rPr>
              <a:t>既存顧客と、まだ顧客でない人</a:t>
            </a:r>
            <a:endParaRPr lang="en-US" sz="2900" dirty="0"/>
          </a:p>
        </p:txBody>
      </p:sp>
      <p:sp>
        <p:nvSpPr>
          <p:cNvPr id="4" name="Text 2"/>
          <p:cNvSpPr txBox="1"/>
          <p:nvPr/>
        </p:nvSpPr>
        <p:spPr>
          <a:xfrm>
            <a:off x="566928" y="1152144"/>
            <a:ext cx="11027664" cy="310896"/>
          </a:xfrm>
          <a:prstGeom prst="rect">
            <a:avLst/>
          </a:prstGeom>
          <a:noFill/>
          <a:ln/>
        </p:spPr>
        <p:txBody>
          <a:bodyPr wrap="square" lIns="0" tIns="0" rIns="0" bIns="0" rtlCol="0" anchor="ctr"/>
          <a:lstStyle/>
          <a:p>
            <a:pPr indent="0" marL="0">
              <a:buNone/>
            </a:pPr>
            <a:r>
              <a:rPr lang="en-US" sz="1300" dirty="0">
                <a:solidFill>
                  <a:srgbClr val="A2908C"/>
                </a:solidFill>
                <a:latin typeface="Meiryo" pitchFamily="34" charset="0"/>
                <a:ea typeface="Meiryo" pitchFamily="34" charset="-122"/>
                <a:cs typeface="Meiryo" pitchFamily="34" charset="-120"/>
              </a:rPr>
              <a:t>遡及付与はしません。代わりに「格」で報い、まったく別の入口を1つ開けます。</a:t>
            </a:r>
            <a:endParaRPr lang="en-US" sz="1300" dirty="0"/>
          </a:p>
        </p:txBody>
      </p:sp>
      <p:sp>
        <p:nvSpPr>
          <p:cNvPr id="5" name="Text 3"/>
          <p:cNvSpPr txBox="1"/>
          <p:nvPr/>
        </p:nvSpPr>
        <p:spPr>
          <a:xfrm>
            <a:off x="566928" y="6437376"/>
            <a:ext cx="4572000" cy="219456"/>
          </a:xfrm>
          <a:prstGeom prst="rect">
            <a:avLst/>
          </a:prstGeom>
          <a:noFill/>
          <a:ln/>
        </p:spPr>
        <p:txBody>
          <a:bodyPr wrap="square" lIns="0" tIns="0" rIns="0" bIns="0" rtlCol="0" anchor="ctr"/>
          <a:lstStyle/>
          <a:p>
            <a:pPr indent="0" marL="0">
              <a:buNone/>
            </a:pPr>
            <a:r>
              <a:rPr lang="en-US" sz="850" dirty="0">
                <a:solidFill>
                  <a:srgbClr val="6B5A5F"/>
                </a:solidFill>
                <a:latin typeface="Arial" pitchFamily="34" charset="0"/>
                <a:ea typeface="Arial" pitchFamily="34" charset="-122"/>
                <a:cs typeface="Arial" pitchFamily="34" charset="-120"/>
              </a:rPr>
              <a:t>WineBank CONFIDENTIAL</a:t>
            </a:r>
            <a:endParaRPr lang="en-US" sz="850" dirty="0"/>
          </a:p>
        </p:txBody>
      </p:sp>
      <p:sp>
        <p:nvSpPr>
          <p:cNvPr id="6" name="Shape 4"/>
          <p:cNvSpPr/>
          <p:nvPr/>
        </p:nvSpPr>
        <p:spPr>
          <a:xfrm>
            <a:off x="566928" y="1645920"/>
            <a:ext cx="5394960" cy="3200400"/>
          </a:xfrm>
          <a:prstGeom prst="roundRect">
            <a:avLst>
              <a:gd name="adj" fmla="val 1714"/>
            </a:avLst>
          </a:prstGeom>
          <a:solidFill>
            <a:srgbClr val="261A24"/>
          </a:solidFill>
          <a:ln w="12700">
            <a:solidFill>
              <a:srgbClr val="261A24"/>
            </a:solidFill>
            <a:prstDash val="solid"/>
          </a:ln>
          <a:effectLst>
            <a:outerShdw sx="100000" sy="100000" kx="0" ky="0" algn="bl" rotWithShape="0" blurRad="127000" dist="25400" dir="5400000">
              <a:srgbClr val="000000">
                <a:alpha val="35000"/>
              </a:srgbClr>
            </a:outerShdw>
          </a:effectLst>
        </p:spPr>
      </p:sp>
      <p:sp>
        <p:nvSpPr>
          <p:cNvPr id="7" name="Text 5"/>
          <p:cNvSpPr txBox="1"/>
          <p:nvPr/>
        </p:nvSpPr>
        <p:spPr>
          <a:xfrm>
            <a:off x="932688" y="1828800"/>
            <a:ext cx="4663440" cy="310896"/>
          </a:xfrm>
          <a:prstGeom prst="rect">
            <a:avLst/>
          </a:prstGeom>
          <a:noFill/>
          <a:ln/>
        </p:spPr>
        <p:txBody>
          <a:bodyPr wrap="square" lIns="0" tIns="0" rIns="0" bIns="0" rtlCol="0" anchor="ctr"/>
          <a:lstStyle/>
          <a:p>
            <a:pPr indent="0" marL="0">
              <a:buNone/>
            </a:pPr>
            <a:r>
              <a:rPr lang="en-US" sz="1600" b="1" dirty="0">
                <a:solidFill>
                  <a:srgbClr val="E8CE78"/>
                </a:solidFill>
                <a:latin typeface="Meiryo" pitchFamily="34" charset="0"/>
                <a:ea typeface="Meiryo" pitchFamily="34" charset="-122"/>
                <a:cs typeface="Meiryo" pitchFamily="34" charset="-120"/>
              </a:rPr>
              <a:t>既存顧客への移行</a:t>
            </a:r>
            <a:endParaRPr lang="en-US" sz="1600" dirty="0"/>
          </a:p>
        </p:txBody>
      </p:sp>
      <p:sp>
        <p:nvSpPr>
          <p:cNvPr id="8" name="Text 6"/>
          <p:cNvSpPr txBox="1"/>
          <p:nvPr/>
        </p:nvSpPr>
        <p:spPr>
          <a:xfrm>
            <a:off x="932688" y="2212848"/>
            <a:ext cx="4663440" cy="658368"/>
          </a:xfrm>
          <a:prstGeom prst="rect">
            <a:avLst/>
          </a:prstGeom>
          <a:noFill/>
          <a:ln/>
        </p:spPr>
        <p:txBody>
          <a:bodyPr wrap="square" lIns="0" tIns="0" rIns="0" bIns="0" rtlCol="0" anchor="ctr"/>
          <a:lstStyle/>
          <a:p>
            <a:pPr indent="0" marL="0">
              <a:lnSpc>
                <a:spcPts val="1600"/>
              </a:lnSpc>
              <a:buNone/>
            </a:pPr>
            <a:r>
              <a:rPr lang="en-US" sz="1100" dirty="0">
                <a:solidFill>
                  <a:srgbClr val="A2908C"/>
                </a:solidFill>
                <a:latin typeface="Meiryo" pitchFamily="34" charset="0"/>
                <a:ea typeface="Meiryo" pitchFamily="34" charset="-122"/>
                <a:cs typeface="Meiryo" pitchFamily="34" charset="-120"/>
              </a:rPr>
              <a:t>マイレージ制度の導入時に過去搭乗分へ遡及した航空会社はありません。楽天もカード各社も同じで、開始日から全員同じ条件が業界の標準です。数百万円の遡及コストを負う必要はありません。</a:t>
            </a:r>
            <a:endParaRPr lang="en-US" sz="1100" dirty="0"/>
          </a:p>
        </p:txBody>
      </p:sp>
      <p:sp>
        <p:nvSpPr>
          <p:cNvPr id="9" name="Shape 7"/>
          <p:cNvSpPr/>
          <p:nvPr/>
        </p:nvSpPr>
        <p:spPr>
          <a:xfrm>
            <a:off x="932688" y="2944368"/>
            <a:ext cx="329184" cy="329184"/>
          </a:xfrm>
          <a:prstGeom prst="ellipse">
            <a:avLst/>
          </a:prstGeom>
          <a:solidFill>
            <a:srgbClr val="C9A227"/>
          </a:solidFill>
          <a:ln w="12700">
            <a:solidFill>
              <a:srgbClr val="C9A227"/>
            </a:solidFill>
            <a:prstDash val="solid"/>
          </a:ln>
        </p:spPr>
      </p:sp>
      <p:sp>
        <p:nvSpPr>
          <p:cNvPr id="10" name="Text 8"/>
          <p:cNvSpPr txBox="1"/>
          <p:nvPr/>
        </p:nvSpPr>
        <p:spPr>
          <a:xfrm>
            <a:off x="932688" y="2944368"/>
            <a:ext cx="329184" cy="329184"/>
          </a:xfrm>
          <a:prstGeom prst="rect">
            <a:avLst/>
          </a:prstGeom>
          <a:noFill/>
          <a:ln/>
        </p:spPr>
        <p:txBody>
          <a:bodyPr wrap="square" lIns="0" tIns="0" rIns="0" bIns="0" rtlCol="0" anchor="ctr"/>
          <a:lstStyle/>
          <a:p>
            <a:pPr algn="ctr" indent="0" marL="0">
              <a:buNone/>
            </a:pPr>
            <a:r>
              <a:rPr lang="en-US" sz="1300" b="1" dirty="0">
                <a:solidFill>
                  <a:srgbClr val="000000"/>
                </a:solidFill>
                <a:latin typeface="Arial" pitchFamily="34" charset="0"/>
                <a:ea typeface="Arial" pitchFamily="34" charset="-122"/>
                <a:cs typeface="Arial" pitchFamily="34" charset="-120"/>
              </a:rPr>
              <a:t>1</a:t>
            </a:r>
            <a:endParaRPr lang="en-US" sz="1300" dirty="0"/>
          </a:p>
        </p:txBody>
      </p:sp>
      <p:sp>
        <p:nvSpPr>
          <p:cNvPr id="11" name="Text 9"/>
          <p:cNvSpPr txBox="1"/>
          <p:nvPr/>
        </p:nvSpPr>
        <p:spPr>
          <a:xfrm>
            <a:off x="1353312" y="2971800"/>
            <a:ext cx="1481328" cy="274320"/>
          </a:xfrm>
          <a:prstGeom prst="rect">
            <a:avLst/>
          </a:prstGeom>
          <a:noFill/>
          <a:ln/>
        </p:spPr>
        <p:txBody>
          <a:bodyPr wrap="square" lIns="0" tIns="0" rIns="0" bIns="0" rtlCol="0" anchor="ctr"/>
          <a:lstStyle/>
          <a:p>
            <a:pPr indent="0" marL="0">
              <a:buNone/>
            </a:pPr>
            <a:r>
              <a:rPr lang="en-US" sz="1100" b="1" dirty="0">
                <a:solidFill>
                  <a:srgbClr val="C9A227"/>
                </a:solidFill>
                <a:latin typeface="Meiryo" pitchFamily="34" charset="0"/>
                <a:ea typeface="Meiryo" pitchFamily="34" charset="-122"/>
                <a:cs typeface="Meiryo" pitchFamily="34" charset="-120"/>
              </a:rPr>
              <a:t>全員、同じ条件から</a:t>
            </a:r>
            <a:endParaRPr lang="en-US" sz="1100" dirty="0"/>
          </a:p>
        </p:txBody>
      </p:sp>
      <p:sp>
        <p:nvSpPr>
          <p:cNvPr id="12" name="Text 10"/>
          <p:cNvSpPr txBox="1"/>
          <p:nvPr/>
        </p:nvSpPr>
        <p:spPr>
          <a:xfrm>
            <a:off x="2907792" y="2944368"/>
            <a:ext cx="2688336" cy="384048"/>
          </a:xfrm>
          <a:prstGeom prst="rect">
            <a:avLst/>
          </a:prstGeom>
          <a:noFill/>
          <a:ln/>
        </p:spPr>
        <p:txBody>
          <a:bodyPr wrap="square" lIns="0" tIns="0" rIns="0" bIns="0" rtlCol="0" anchor="ctr"/>
          <a:lstStyle/>
          <a:p>
            <a:pPr indent="0" marL="0">
              <a:lnSpc>
                <a:spcPts val="1300"/>
              </a:lnSpc>
              <a:buNone/>
            </a:pPr>
            <a:r>
              <a:rPr lang="en-US" sz="950" dirty="0">
                <a:solidFill>
                  <a:srgbClr val="A2908C"/>
                </a:solidFill>
                <a:latin typeface="Meiryo" pitchFamily="34" charset="0"/>
                <a:ea typeface="Meiryo" pitchFamily="34" charset="-122"/>
                <a:cs typeface="Meiryo" pitchFamily="34" charset="-120"/>
              </a:rPr>
              <a:t>遡及付与はしない。説明が簡単で、完全に公平</a:t>
            </a:r>
            <a:endParaRPr lang="en-US" sz="950" dirty="0"/>
          </a:p>
        </p:txBody>
      </p:sp>
      <p:sp>
        <p:nvSpPr>
          <p:cNvPr id="13" name="Shape 11"/>
          <p:cNvSpPr/>
          <p:nvPr/>
        </p:nvSpPr>
        <p:spPr>
          <a:xfrm>
            <a:off x="932688" y="3401568"/>
            <a:ext cx="329184" cy="329184"/>
          </a:xfrm>
          <a:prstGeom prst="ellipse">
            <a:avLst/>
          </a:prstGeom>
          <a:solidFill>
            <a:srgbClr val="C9A227"/>
          </a:solidFill>
          <a:ln w="12700">
            <a:solidFill>
              <a:srgbClr val="C9A227"/>
            </a:solidFill>
            <a:prstDash val="solid"/>
          </a:ln>
        </p:spPr>
      </p:sp>
      <p:sp>
        <p:nvSpPr>
          <p:cNvPr id="14" name="Text 12"/>
          <p:cNvSpPr txBox="1"/>
          <p:nvPr/>
        </p:nvSpPr>
        <p:spPr>
          <a:xfrm>
            <a:off x="932688" y="3401568"/>
            <a:ext cx="329184" cy="329184"/>
          </a:xfrm>
          <a:prstGeom prst="rect">
            <a:avLst/>
          </a:prstGeom>
          <a:noFill/>
          <a:ln/>
        </p:spPr>
        <p:txBody>
          <a:bodyPr wrap="square" lIns="0" tIns="0" rIns="0" bIns="0" rtlCol="0" anchor="ctr"/>
          <a:lstStyle/>
          <a:p>
            <a:pPr algn="ctr" indent="0" marL="0">
              <a:buNone/>
            </a:pPr>
            <a:r>
              <a:rPr lang="en-US" sz="1300" b="1" dirty="0">
                <a:solidFill>
                  <a:srgbClr val="000000"/>
                </a:solidFill>
                <a:latin typeface="Arial" pitchFamily="34" charset="0"/>
                <a:ea typeface="Arial" pitchFamily="34" charset="-122"/>
                <a:cs typeface="Arial" pitchFamily="34" charset="-120"/>
              </a:rPr>
              <a:t>2</a:t>
            </a:r>
            <a:endParaRPr lang="en-US" sz="1300" dirty="0"/>
          </a:p>
        </p:txBody>
      </p:sp>
      <p:sp>
        <p:nvSpPr>
          <p:cNvPr id="15" name="Text 13"/>
          <p:cNvSpPr txBox="1"/>
          <p:nvPr/>
        </p:nvSpPr>
        <p:spPr>
          <a:xfrm>
            <a:off x="1353312" y="3429000"/>
            <a:ext cx="1481328" cy="274320"/>
          </a:xfrm>
          <a:prstGeom prst="rect">
            <a:avLst/>
          </a:prstGeom>
          <a:noFill/>
          <a:ln/>
        </p:spPr>
        <p:txBody>
          <a:bodyPr wrap="square" lIns="0" tIns="0" rIns="0" bIns="0" rtlCol="0" anchor="ctr"/>
          <a:lstStyle/>
          <a:p>
            <a:pPr indent="0" marL="0">
              <a:buNone/>
            </a:pPr>
            <a:r>
              <a:rPr lang="en-US" sz="1100" b="1" dirty="0">
                <a:solidFill>
                  <a:srgbClr val="C9A227"/>
                </a:solidFill>
                <a:latin typeface="Meiryo" pitchFamily="34" charset="0"/>
                <a:ea typeface="Meiryo" pitchFamily="34" charset="-122"/>
                <a:cs typeface="Meiryo" pitchFamily="34" charset="-120"/>
              </a:rPr>
              <a:t>創業会員ボーナス</a:t>
            </a:r>
            <a:endParaRPr lang="en-US" sz="1100" dirty="0"/>
          </a:p>
        </p:txBody>
      </p:sp>
      <p:sp>
        <p:nvSpPr>
          <p:cNvPr id="16" name="Text 14"/>
          <p:cNvSpPr txBox="1"/>
          <p:nvPr/>
        </p:nvSpPr>
        <p:spPr>
          <a:xfrm>
            <a:off x="2907792" y="3401568"/>
            <a:ext cx="2688336" cy="384048"/>
          </a:xfrm>
          <a:prstGeom prst="rect">
            <a:avLst/>
          </a:prstGeom>
          <a:noFill/>
          <a:ln/>
        </p:spPr>
        <p:txBody>
          <a:bodyPr wrap="square" lIns="0" tIns="0" rIns="0" bIns="0" rtlCol="0" anchor="ctr"/>
          <a:lstStyle/>
          <a:p>
            <a:pPr indent="0" marL="0">
              <a:lnSpc>
                <a:spcPts val="1300"/>
              </a:lnSpc>
              <a:buNone/>
            </a:pPr>
            <a:r>
              <a:rPr lang="en-US" sz="950" dirty="0">
                <a:solidFill>
                  <a:srgbClr val="A2908C"/>
                </a:solidFill>
                <a:latin typeface="Meiryo" pitchFamily="34" charset="0"/>
                <a:ea typeface="Meiryo" pitchFamily="34" charset="-122"/>
                <a:cs typeface="Meiryo" pitchFamily="34" charset="-120"/>
              </a:rPr>
              <a:t>保有年数×一定マイル（例：1年5,000・上限3万）。連結原価30%なら呑める</a:t>
            </a:r>
            <a:endParaRPr lang="en-US" sz="950" dirty="0"/>
          </a:p>
        </p:txBody>
      </p:sp>
      <p:sp>
        <p:nvSpPr>
          <p:cNvPr id="17" name="Shape 15"/>
          <p:cNvSpPr/>
          <p:nvPr/>
        </p:nvSpPr>
        <p:spPr>
          <a:xfrm>
            <a:off x="932688" y="3858768"/>
            <a:ext cx="329184" cy="329184"/>
          </a:xfrm>
          <a:prstGeom prst="ellipse">
            <a:avLst/>
          </a:prstGeom>
          <a:solidFill>
            <a:srgbClr val="C9A227"/>
          </a:solidFill>
          <a:ln w="12700">
            <a:solidFill>
              <a:srgbClr val="C9A227"/>
            </a:solidFill>
            <a:prstDash val="solid"/>
          </a:ln>
        </p:spPr>
      </p:sp>
      <p:sp>
        <p:nvSpPr>
          <p:cNvPr id="18" name="Text 16"/>
          <p:cNvSpPr txBox="1"/>
          <p:nvPr/>
        </p:nvSpPr>
        <p:spPr>
          <a:xfrm>
            <a:off x="932688" y="3858768"/>
            <a:ext cx="329184" cy="329184"/>
          </a:xfrm>
          <a:prstGeom prst="rect">
            <a:avLst/>
          </a:prstGeom>
          <a:noFill/>
          <a:ln/>
        </p:spPr>
        <p:txBody>
          <a:bodyPr wrap="square" lIns="0" tIns="0" rIns="0" bIns="0" rtlCol="0" anchor="ctr"/>
          <a:lstStyle/>
          <a:p>
            <a:pPr algn="ctr" indent="0" marL="0">
              <a:buNone/>
            </a:pPr>
            <a:r>
              <a:rPr lang="en-US" sz="1300" b="1" dirty="0">
                <a:solidFill>
                  <a:srgbClr val="000000"/>
                </a:solidFill>
                <a:latin typeface="Arial" pitchFamily="34" charset="0"/>
                <a:ea typeface="Arial" pitchFamily="34" charset="-122"/>
                <a:cs typeface="Arial" pitchFamily="34" charset="-120"/>
              </a:rPr>
              <a:t>3</a:t>
            </a:r>
            <a:endParaRPr lang="en-US" sz="1300" dirty="0"/>
          </a:p>
        </p:txBody>
      </p:sp>
      <p:sp>
        <p:nvSpPr>
          <p:cNvPr id="19" name="Text 17"/>
          <p:cNvSpPr txBox="1"/>
          <p:nvPr/>
        </p:nvSpPr>
        <p:spPr>
          <a:xfrm>
            <a:off x="1353312" y="3886200"/>
            <a:ext cx="1481328" cy="274320"/>
          </a:xfrm>
          <a:prstGeom prst="rect">
            <a:avLst/>
          </a:prstGeom>
          <a:noFill/>
          <a:ln/>
        </p:spPr>
        <p:txBody>
          <a:bodyPr wrap="square" lIns="0" tIns="0" rIns="0" bIns="0" rtlCol="0" anchor="ctr"/>
          <a:lstStyle/>
          <a:p>
            <a:pPr indent="0" marL="0">
              <a:buNone/>
            </a:pPr>
            <a:r>
              <a:rPr lang="en-US" sz="1100" b="1" dirty="0">
                <a:solidFill>
                  <a:srgbClr val="C9A227"/>
                </a:solidFill>
                <a:latin typeface="Meiryo" pitchFamily="34" charset="0"/>
                <a:ea typeface="Meiryo" pitchFamily="34" charset="-122"/>
                <a:cs typeface="Meiryo" pitchFamily="34" charset="-120"/>
              </a:rPr>
              <a:t>恒久ステータス</a:t>
            </a:r>
            <a:endParaRPr lang="en-US" sz="1100" dirty="0"/>
          </a:p>
        </p:txBody>
      </p:sp>
      <p:sp>
        <p:nvSpPr>
          <p:cNvPr id="20" name="Text 18"/>
          <p:cNvSpPr txBox="1"/>
          <p:nvPr/>
        </p:nvSpPr>
        <p:spPr>
          <a:xfrm>
            <a:off x="2907792" y="3858768"/>
            <a:ext cx="2688336" cy="384048"/>
          </a:xfrm>
          <a:prstGeom prst="rect">
            <a:avLst/>
          </a:prstGeom>
          <a:noFill/>
          <a:ln/>
        </p:spPr>
        <p:txBody>
          <a:bodyPr wrap="square" lIns="0" tIns="0" rIns="0" bIns="0" rtlCol="0" anchor="ctr"/>
          <a:lstStyle/>
          <a:p>
            <a:pPr indent="0" marL="0">
              <a:lnSpc>
                <a:spcPts val="1300"/>
              </a:lnSpc>
              <a:buNone/>
            </a:pPr>
            <a:r>
              <a:rPr lang="en-US" sz="950" dirty="0">
                <a:solidFill>
                  <a:srgbClr val="A2908C"/>
                </a:solidFill>
                <a:latin typeface="Meiryo" pitchFamily="34" charset="0"/>
                <a:ea typeface="Meiryo" pitchFamily="34" charset="-122"/>
                <a:cs typeface="Meiryo" pitchFamily="34" charset="-120"/>
              </a:rPr>
              <a:t>未公開ワインの優先案内、イベント優先招待。原価はゼロ</a:t>
            </a:r>
            <a:endParaRPr lang="en-US" sz="950" dirty="0"/>
          </a:p>
        </p:txBody>
      </p:sp>
      <p:sp>
        <p:nvSpPr>
          <p:cNvPr id="21" name="Shape 19"/>
          <p:cNvSpPr/>
          <p:nvPr/>
        </p:nvSpPr>
        <p:spPr>
          <a:xfrm>
            <a:off x="932688" y="4315968"/>
            <a:ext cx="329184" cy="329184"/>
          </a:xfrm>
          <a:prstGeom prst="ellipse">
            <a:avLst/>
          </a:prstGeom>
          <a:solidFill>
            <a:srgbClr val="C9A227"/>
          </a:solidFill>
          <a:ln w="12700">
            <a:solidFill>
              <a:srgbClr val="C9A227"/>
            </a:solidFill>
            <a:prstDash val="solid"/>
          </a:ln>
        </p:spPr>
      </p:sp>
      <p:sp>
        <p:nvSpPr>
          <p:cNvPr id="22" name="Text 20"/>
          <p:cNvSpPr txBox="1"/>
          <p:nvPr/>
        </p:nvSpPr>
        <p:spPr>
          <a:xfrm>
            <a:off x="932688" y="4315968"/>
            <a:ext cx="329184" cy="329184"/>
          </a:xfrm>
          <a:prstGeom prst="rect">
            <a:avLst/>
          </a:prstGeom>
          <a:noFill/>
          <a:ln/>
        </p:spPr>
        <p:txBody>
          <a:bodyPr wrap="square" lIns="0" tIns="0" rIns="0" bIns="0" rtlCol="0" anchor="ctr"/>
          <a:lstStyle/>
          <a:p>
            <a:pPr algn="ctr" indent="0" marL="0">
              <a:buNone/>
            </a:pPr>
            <a:r>
              <a:rPr lang="en-US" sz="1300" b="1" dirty="0">
                <a:solidFill>
                  <a:srgbClr val="000000"/>
                </a:solidFill>
                <a:latin typeface="Arial" pitchFamily="34" charset="0"/>
                <a:ea typeface="Arial" pitchFamily="34" charset="-122"/>
                <a:cs typeface="Arial" pitchFamily="34" charset="-120"/>
              </a:rPr>
              <a:t>4</a:t>
            </a:r>
            <a:endParaRPr lang="en-US" sz="1300" dirty="0"/>
          </a:p>
        </p:txBody>
      </p:sp>
      <p:sp>
        <p:nvSpPr>
          <p:cNvPr id="23" name="Text 21"/>
          <p:cNvSpPr txBox="1"/>
          <p:nvPr/>
        </p:nvSpPr>
        <p:spPr>
          <a:xfrm>
            <a:off x="1353312" y="4343400"/>
            <a:ext cx="1481328" cy="274320"/>
          </a:xfrm>
          <a:prstGeom prst="rect">
            <a:avLst/>
          </a:prstGeom>
          <a:noFill/>
          <a:ln/>
        </p:spPr>
        <p:txBody>
          <a:bodyPr wrap="square" lIns="0" tIns="0" rIns="0" bIns="0" rtlCol="0" anchor="ctr"/>
          <a:lstStyle/>
          <a:p>
            <a:pPr indent="0" marL="0">
              <a:buNone/>
            </a:pPr>
            <a:r>
              <a:rPr lang="en-US" sz="1100" b="1" dirty="0">
                <a:solidFill>
                  <a:srgbClr val="C9A227"/>
                </a:solidFill>
                <a:latin typeface="Meiryo" pitchFamily="34" charset="0"/>
                <a:ea typeface="Meiryo" pitchFamily="34" charset="-122"/>
                <a:cs typeface="Meiryo" pitchFamily="34" charset="-120"/>
              </a:rPr>
              <a:t>条件は、つけない</a:t>
            </a:r>
            <a:endParaRPr lang="en-US" sz="1100" dirty="0"/>
          </a:p>
        </p:txBody>
      </p:sp>
      <p:sp>
        <p:nvSpPr>
          <p:cNvPr id="24" name="Text 22"/>
          <p:cNvSpPr txBox="1"/>
          <p:nvPr/>
        </p:nvSpPr>
        <p:spPr>
          <a:xfrm>
            <a:off x="2907792" y="4315968"/>
            <a:ext cx="2688336" cy="384048"/>
          </a:xfrm>
          <a:prstGeom prst="rect">
            <a:avLst/>
          </a:prstGeom>
          <a:noFill/>
          <a:ln/>
        </p:spPr>
        <p:txBody>
          <a:bodyPr wrap="square" lIns="0" tIns="0" rIns="0" bIns="0" rtlCol="0" anchor="ctr"/>
          <a:lstStyle/>
          <a:p>
            <a:pPr indent="0" marL="0">
              <a:lnSpc>
                <a:spcPts val="1300"/>
              </a:lnSpc>
              <a:buNone/>
            </a:pPr>
            <a:r>
              <a:rPr lang="en-US" sz="950" dirty="0">
                <a:solidFill>
                  <a:srgbClr val="A2908C"/>
                </a:solidFill>
                <a:latin typeface="Meiryo" pitchFamily="34" charset="0"/>
                <a:ea typeface="Meiryo" pitchFamily="34" charset="-122"/>
                <a:cs typeface="Meiryo" pitchFamily="34" charset="-120"/>
              </a:rPr>
              <a:t>見返りを求めると必ず伝わる。無条件のほうが結果的にアップセルされる</a:t>
            </a:r>
            <a:endParaRPr lang="en-US" sz="950" dirty="0"/>
          </a:p>
        </p:txBody>
      </p:sp>
      <p:sp>
        <p:nvSpPr>
          <p:cNvPr id="25" name="Shape 23"/>
          <p:cNvSpPr/>
          <p:nvPr/>
        </p:nvSpPr>
        <p:spPr>
          <a:xfrm>
            <a:off x="6199632" y="1645920"/>
            <a:ext cx="5394960" cy="3200400"/>
          </a:xfrm>
          <a:prstGeom prst="roundRect">
            <a:avLst>
              <a:gd name="adj" fmla="val 1714"/>
            </a:avLst>
          </a:prstGeom>
          <a:solidFill>
            <a:srgbClr val="17111A"/>
          </a:solidFill>
          <a:ln w="12700">
            <a:solidFill>
              <a:srgbClr val="17111A"/>
            </a:solidFill>
            <a:prstDash val="solid"/>
          </a:ln>
          <a:effectLst>
            <a:outerShdw sx="100000" sy="100000" kx="0" ky="0" algn="bl" rotWithShape="0" blurRad="127000" dist="25400" dir="5400000">
              <a:srgbClr val="000000">
                <a:alpha val="35000"/>
              </a:srgbClr>
            </a:outerShdw>
          </a:effectLst>
        </p:spPr>
      </p:sp>
      <p:sp>
        <p:nvSpPr>
          <p:cNvPr id="26" name="Text 24"/>
          <p:cNvSpPr txBox="1"/>
          <p:nvPr/>
        </p:nvSpPr>
        <p:spPr>
          <a:xfrm>
            <a:off x="6565392" y="1828800"/>
            <a:ext cx="4663440" cy="310896"/>
          </a:xfrm>
          <a:prstGeom prst="rect">
            <a:avLst/>
          </a:prstGeom>
          <a:noFill/>
          <a:ln/>
        </p:spPr>
        <p:txBody>
          <a:bodyPr wrap="square" lIns="0" tIns="0" rIns="0" bIns="0" rtlCol="0" anchor="ctr"/>
          <a:lstStyle/>
          <a:p>
            <a:pPr indent="0" marL="0">
              <a:buNone/>
            </a:pPr>
            <a:r>
              <a:rPr lang="en-US" sz="1600" b="1" dirty="0">
                <a:solidFill>
                  <a:srgbClr val="E8CE78"/>
                </a:solidFill>
                <a:latin typeface="Meiryo" pitchFamily="34" charset="0"/>
                <a:ea typeface="Meiryo" pitchFamily="34" charset="-122"/>
                <a:cs typeface="Meiryo" pitchFamily="34" charset="-120"/>
              </a:rPr>
              <a:t>新規獲得：VVIP限定 100本お預かりプラン</a:t>
            </a:r>
            <a:endParaRPr lang="en-US" sz="1600" dirty="0"/>
          </a:p>
        </p:txBody>
      </p:sp>
      <p:sp>
        <p:nvSpPr>
          <p:cNvPr id="27" name="Text 25"/>
          <p:cNvSpPr txBox="1"/>
          <p:nvPr/>
        </p:nvSpPr>
        <p:spPr>
          <a:xfrm>
            <a:off x="6565392" y="2212848"/>
            <a:ext cx="4663440" cy="658368"/>
          </a:xfrm>
          <a:prstGeom prst="rect">
            <a:avLst/>
          </a:prstGeom>
          <a:noFill/>
          <a:ln/>
        </p:spPr>
        <p:txBody>
          <a:bodyPr wrap="square" lIns="0" tIns="0" rIns="0" bIns="0" rtlCol="0" anchor="ctr"/>
          <a:lstStyle/>
          <a:p>
            <a:pPr indent="0" marL="0">
              <a:lnSpc>
                <a:spcPts val="1600"/>
              </a:lnSpc>
              <a:buNone/>
            </a:pPr>
            <a:r>
              <a:rPr lang="en-US" sz="1100" dirty="0">
                <a:solidFill>
                  <a:srgbClr val="A2908C"/>
                </a:solidFill>
                <a:latin typeface="Meiryo" pitchFamily="34" charset="0"/>
                <a:ea typeface="Meiryo" pitchFamily="34" charset="-122"/>
                <a:cs typeface="Meiryo" pitchFamily="34" charset="-120"/>
              </a:rPr>
              <a:t>買わなくていい。いま自宅にある100本を預けるだけ。購入資金ゼロで在庫が増え、これまでWineBankの顧客層でなかった愛好家層に入口が開きます。</a:t>
            </a:r>
            <a:endParaRPr lang="en-US" sz="1100" dirty="0"/>
          </a:p>
        </p:txBody>
      </p:sp>
      <p:sp>
        <p:nvSpPr>
          <p:cNvPr id="28" name="Shape 26"/>
          <p:cNvSpPr/>
          <p:nvPr/>
        </p:nvSpPr>
        <p:spPr>
          <a:xfrm>
            <a:off x="6565392" y="2944368"/>
            <a:ext cx="329184" cy="329184"/>
          </a:xfrm>
          <a:prstGeom prst="ellipse">
            <a:avLst/>
          </a:prstGeom>
          <a:solidFill>
            <a:srgbClr val="C9A227"/>
          </a:solidFill>
          <a:ln w="12700">
            <a:solidFill>
              <a:srgbClr val="C9A227"/>
            </a:solidFill>
            <a:prstDash val="solid"/>
          </a:ln>
        </p:spPr>
      </p:sp>
      <p:sp>
        <p:nvSpPr>
          <p:cNvPr id="29" name="Text 27"/>
          <p:cNvSpPr txBox="1"/>
          <p:nvPr/>
        </p:nvSpPr>
        <p:spPr>
          <a:xfrm>
            <a:off x="6565392" y="2944368"/>
            <a:ext cx="329184" cy="329184"/>
          </a:xfrm>
          <a:prstGeom prst="rect">
            <a:avLst/>
          </a:prstGeom>
          <a:noFill/>
          <a:ln/>
        </p:spPr>
        <p:txBody>
          <a:bodyPr wrap="square" lIns="0" tIns="0" rIns="0" bIns="0" rtlCol="0" anchor="ctr"/>
          <a:lstStyle/>
          <a:p>
            <a:pPr algn="ctr" indent="0" marL="0">
              <a:buNone/>
            </a:pPr>
            <a:r>
              <a:rPr lang="en-US" sz="1300" b="1" dirty="0">
                <a:solidFill>
                  <a:srgbClr val="000000"/>
                </a:solidFill>
                <a:latin typeface="Arial" pitchFamily="34" charset="0"/>
                <a:ea typeface="Arial" pitchFamily="34" charset="-122"/>
                <a:cs typeface="Arial" pitchFamily="34" charset="-120"/>
              </a:rPr>
              <a:t>1</a:t>
            </a:r>
            <a:endParaRPr lang="en-US" sz="1300" dirty="0"/>
          </a:p>
        </p:txBody>
      </p:sp>
      <p:sp>
        <p:nvSpPr>
          <p:cNvPr id="30" name="Text 28"/>
          <p:cNvSpPr txBox="1"/>
          <p:nvPr/>
        </p:nvSpPr>
        <p:spPr>
          <a:xfrm>
            <a:off x="6986016" y="2971800"/>
            <a:ext cx="1517904" cy="274320"/>
          </a:xfrm>
          <a:prstGeom prst="rect">
            <a:avLst/>
          </a:prstGeom>
          <a:noFill/>
          <a:ln/>
        </p:spPr>
        <p:txBody>
          <a:bodyPr wrap="square" lIns="0" tIns="0" rIns="0" bIns="0" rtlCol="0" anchor="ctr"/>
          <a:lstStyle/>
          <a:p>
            <a:pPr indent="0" marL="0">
              <a:buNone/>
            </a:pPr>
            <a:r>
              <a:rPr lang="en-US" sz="1100" b="1" dirty="0">
                <a:solidFill>
                  <a:srgbClr val="C9A227"/>
                </a:solidFill>
                <a:latin typeface="Meiryo" pitchFamily="34" charset="0"/>
                <a:ea typeface="Meiryo" pitchFamily="34" charset="-122"/>
                <a:cs typeface="Meiryo" pitchFamily="34" charset="-120"/>
              </a:rPr>
              <a:t>摩擦が、ゼロ</a:t>
            </a:r>
            <a:endParaRPr lang="en-US" sz="1100" dirty="0"/>
          </a:p>
        </p:txBody>
      </p:sp>
      <p:sp>
        <p:nvSpPr>
          <p:cNvPr id="31" name="Text 29"/>
          <p:cNvSpPr txBox="1"/>
          <p:nvPr/>
        </p:nvSpPr>
        <p:spPr>
          <a:xfrm>
            <a:off x="8577072" y="2944368"/>
            <a:ext cx="2651760" cy="384048"/>
          </a:xfrm>
          <a:prstGeom prst="rect">
            <a:avLst/>
          </a:prstGeom>
          <a:noFill/>
          <a:ln/>
        </p:spPr>
        <p:txBody>
          <a:bodyPr wrap="square" lIns="0" tIns="0" rIns="0" bIns="0" rtlCol="0" anchor="ctr"/>
          <a:lstStyle/>
          <a:p>
            <a:pPr indent="0" marL="0">
              <a:lnSpc>
                <a:spcPts val="1300"/>
              </a:lnSpc>
              <a:buNone/>
            </a:pPr>
            <a:r>
              <a:rPr lang="en-US" sz="950" dirty="0">
                <a:solidFill>
                  <a:srgbClr val="A2908C"/>
                </a:solidFill>
                <a:latin typeface="Meiryo" pitchFamily="34" charset="0"/>
                <a:ea typeface="Meiryo" pitchFamily="34" charset="-122"/>
                <a:cs typeface="Meiryo" pitchFamily="34" charset="-120"/>
              </a:rPr>
              <a:t>購入も入会金も不要。「セラーが満杯」という最大のペインを直撃する</a:t>
            </a:r>
            <a:endParaRPr lang="en-US" sz="950" dirty="0"/>
          </a:p>
        </p:txBody>
      </p:sp>
      <p:sp>
        <p:nvSpPr>
          <p:cNvPr id="32" name="Shape 30"/>
          <p:cNvSpPr/>
          <p:nvPr/>
        </p:nvSpPr>
        <p:spPr>
          <a:xfrm>
            <a:off x="6565392" y="3401568"/>
            <a:ext cx="329184" cy="329184"/>
          </a:xfrm>
          <a:prstGeom prst="ellipse">
            <a:avLst/>
          </a:prstGeom>
          <a:solidFill>
            <a:srgbClr val="C9A227"/>
          </a:solidFill>
          <a:ln w="12700">
            <a:solidFill>
              <a:srgbClr val="C9A227"/>
            </a:solidFill>
            <a:prstDash val="solid"/>
          </a:ln>
        </p:spPr>
      </p:sp>
      <p:sp>
        <p:nvSpPr>
          <p:cNvPr id="33" name="Text 31"/>
          <p:cNvSpPr txBox="1"/>
          <p:nvPr/>
        </p:nvSpPr>
        <p:spPr>
          <a:xfrm>
            <a:off x="6565392" y="3401568"/>
            <a:ext cx="329184" cy="329184"/>
          </a:xfrm>
          <a:prstGeom prst="rect">
            <a:avLst/>
          </a:prstGeom>
          <a:noFill/>
          <a:ln/>
        </p:spPr>
        <p:txBody>
          <a:bodyPr wrap="square" lIns="0" tIns="0" rIns="0" bIns="0" rtlCol="0" anchor="ctr"/>
          <a:lstStyle/>
          <a:p>
            <a:pPr algn="ctr" indent="0" marL="0">
              <a:buNone/>
            </a:pPr>
            <a:r>
              <a:rPr lang="en-US" sz="1300" b="1" dirty="0">
                <a:solidFill>
                  <a:srgbClr val="000000"/>
                </a:solidFill>
                <a:latin typeface="Arial" pitchFamily="34" charset="0"/>
                <a:ea typeface="Arial" pitchFamily="34" charset="-122"/>
                <a:cs typeface="Arial" pitchFamily="34" charset="-120"/>
              </a:rPr>
              <a:t>2</a:t>
            </a:r>
            <a:endParaRPr lang="en-US" sz="1300" dirty="0"/>
          </a:p>
        </p:txBody>
      </p:sp>
      <p:sp>
        <p:nvSpPr>
          <p:cNvPr id="34" name="Text 32"/>
          <p:cNvSpPr txBox="1"/>
          <p:nvPr/>
        </p:nvSpPr>
        <p:spPr>
          <a:xfrm>
            <a:off x="6986016" y="3429000"/>
            <a:ext cx="1517904" cy="274320"/>
          </a:xfrm>
          <a:prstGeom prst="rect">
            <a:avLst/>
          </a:prstGeom>
          <a:noFill/>
          <a:ln/>
        </p:spPr>
        <p:txBody>
          <a:bodyPr wrap="square" lIns="0" tIns="0" rIns="0" bIns="0" rtlCol="0" anchor="ctr"/>
          <a:lstStyle/>
          <a:p>
            <a:pPr indent="0" marL="0">
              <a:buNone/>
            </a:pPr>
            <a:r>
              <a:rPr lang="en-US" sz="1100" b="1" dirty="0">
                <a:solidFill>
                  <a:srgbClr val="C9A227"/>
                </a:solidFill>
                <a:latin typeface="Meiryo" pitchFamily="34" charset="0"/>
                <a:ea typeface="Meiryo" pitchFamily="34" charset="-122"/>
                <a:cs typeface="Meiryo" pitchFamily="34" charset="-120"/>
              </a:rPr>
              <a:t>即、経済圏に入る</a:t>
            </a:r>
            <a:endParaRPr lang="en-US" sz="1100" dirty="0"/>
          </a:p>
        </p:txBody>
      </p:sp>
      <p:sp>
        <p:nvSpPr>
          <p:cNvPr id="35" name="Text 33"/>
          <p:cNvSpPr txBox="1"/>
          <p:nvPr/>
        </p:nvSpPr>
        <p:spPr>
          <a:xfrm>
            <a:off x="8577072" y="3401568"/>
            <a:ext cx="2651760" cy="384048"/>
          </a:xfrm>
          <a:prstGeom prst="rect">
            <a:avLst/>
          </a:prstGeom>
          <a:noFill/>
          <a:ln/>
        </p:spPr>
        <p:txBody>
          <a:bodyPr wrap="square" lIns="0" tIns="0" rIns="0" bIns="0" rtlCol="0" anchor="ctr"/>
          <a:lstStyle/>
          <a:p>
            <a:pPr indent="0" marL="0">
              <a:lnSpc>
                <a:spcPts val="1300"/>
              </a:lnSpc>
              <a:buNone/>
            </a:pPr>
            <a:r>
              <a:rPr lang="en-US" sz="950" dirty="0">
                <a:solidFill>
                  <a:srgbClr val="A2908C"/>
                </a:solidFill>
                <a:latin typeface="Meiryo" pitchFamily="34" charset="0"/>
                <a:ea typeface="Meiryo" pitchFamily="34" charset="-122"/>
                <a:cs typeface="Meiryo" pitchFamily="34" charset="-120"/>
              </a:rPr>
              <a:t>時価評価→管理手数料→マイル付与。運用型にもそのまま乗せられる</a:t>
            </a:r>
            <a:endParaRPr lang="en-US" sz="950" dirty="0"/>
          </a:p>
        </p:txBody>
      </p:sp>
      <p:sp>
        <p:nvSpPr>
          <p:cNvPr id="36" name="Shape 34"/>
          <p:cNvSpPr/>
          <p:nvPr/>
        </p:nvSpPr>
        <p:spPr>
          <a:xfrm>
            <a:off x="6565392" y="3858768"/>
            <a:ext cx="329184" cy="329184"/>
          </a:xfrm>
          <a:prstGeom prst="ellipse">
            <a:avLst/>
          </a:prstGeom>
          <a:solidFill>
            <a:srgbClr val="C9A227"/>
          </a:solidFill>
          <a:ln w="12700">
            <a:solidFill>
              <a:srgbClr val="C9A227"/>
            </a:solidFill>
            <a:prstDash val="solid"/>
          </a:ln>
        </p:spPr>
      </p:sp>
      <p:sp>
        <p:nvSpPr>
          <p:cNvPr id="37" name="Text 35"/>
          <p:cNvSpPr txBox="1"/>
          <p:nvPr/>
        </p:nvSpPr>
        <p:spPr>
          <a:xfrm>
            <a:off x="6565392" y="3858768"/>
            <a:ext cx="329184" cy="329184"/>
          </a:xfrm>
          <a:prstGeom prst="rect">
            <a:avLst/>
          </a:prstGeom>
          <a:noFill/>
          <a:ln/>
        </p:spPr>
        <p:txBody>
          <a:bodyPr wrap="square" lIns="0" tIns="0" rIns="0" bIns="0" rtlCol="0" anchor="ctr"/>
          <a:lstStyle/>
          <a:p>
            <a:pPr algn="ctr" indent="0" marL="0">
              <a:buNone/>
            </a:pPr>
            <a:r>
              <a:rPr lang="en-US" sz="1300" b="1" dirty="0">
                <a:solidFill>
                  <a:srgbClr val="000000"/>
                </a:solidFill>
                <a:latin typeface="Arial" pitchFamily="34" charset="0"/>
                <a:ea typeface="Arial" pitchFamily="34" charset="-122"/>
                <a:cs typeface="Arial" pitchFamily="34" charset="-120"/>
              </a:rPr>
              <a:t>3</a:t>
            </a:r>
            <a:endParaRPr lang="en-US" sz="1300" dirty="0"/>
          </a:p>
        </p:txBody>
      </p:sp>
      <p:sp>
        <p:nvSpPr>
          <p:cNvPr id="38" name="Text 36"/>
          <p:cNvSpPr txBox="1"/>
          <p:nvPr/>
        </p:nvSpPr>
        <p:spPr>
          <a:xfrm>
            <a:off x="6986016" y="3886200"/>
            <a:ext cx="1517904" cy="274320"/>
          </a:xfrm>
          <a:prstGeom prst="rect">
            <a:avLst/>
          </a:prstGeom>
          <a:noFill/>
          <a:ln/>
        </p:spPr>
        <p:txBody>
          <a:bodyPr wrap="square" lIns="0" tIns="0" rIns="0" bIns="0" rtlCol="0" anchor="ctr"/>
          <a:lstStyle/>
          <a:p>
            <a:pPr indent="0" marL="0">
              <a:buNone/>
            </a:pPr>
            <a:r>
              <a:rPr lang="en-US" sz="1100" b="1" dirty="0">
                <a:solidFill>
                  <a:srgbClr val="C9A227"/>
                </a:solidFill>
                <a:latin typeface="Meiryo" pitchFamily="34" charset="0"/>
                <a:ea typeface="Meiryo" pitchFamily="34" charset="-122"/>
                <a:cs typeface="Meiryo" pitchFamily="34" charset="-120"/>
              </a:rPr>
              <a:t>アップセルは自然に</a:t>
            </a:r>
            <a:endParaRPr lang="en-US" sz="1100" dirty="0"/>
          </a:p>
        </p:txBody>
      </p:sp>
      <p:sp>
        <p:nvSpPr>
          <p:cNvPr id="39" name="Text 37"/>
          <p:cNvSpPr txBox="1"/>
          <p:nvPr/>
        </p:nvSpPr>
        <p:spPr>
          <a:xfrm>
            <a:off x="8577072" y="3858768"/>
            <a:ext cx="2651760" cy="384048"/>
          </a:xfrm>
          <a:prstGeom prst="rect">
            <a:avLst/>
          </a:prstGeom>
          <a:noFill/>
          <a:ln/>
        </p:spPr>
        <p:txBody>
          <a:bodyPr wrap="square" lIns="0" tIns="0" rIns="0" bIns="0" rtlCol="0" anchor="ctr"/>
          <a:lstStyle/>
          <a:p>
            <a:pPr indent="0" marL="0">
              <a:lnSpc>
                <a:spcPts val="1300"/>
              </a:lnSpc>
              <a:buNone/>
            </a:pPr>
            <a:r>
              <a:rPr lang="en-US" sz="950" dirty="0">
                <a:solidFill>
                  <a:srgbClr val="A2908C"/>
                </a:solidFill>
                <a:latin typeface="Meiryo" pitchFamily="34" charset="0"/>
                <a:ea typeface="Meiryo" pitchFamily="34" charset="-122"/>
                <a:cs typeface="Meiryo" pitchFamily="34" charset="-120"/>
              </a:rPr>
              <a:t>マイルが貯まり、板を見て、会食に出る。売り込まなくても次を買う</a:t>
            </a:r>
            <a:endParaRPr lang="en-US" sz="950" dirty="0"/>
          </a:p>
        </p:txBody>
      </p:sp>
      <p:sp>
        <p:nvSpPr>
          <p:cNvPr id="40" name="Shape 38"/>
          <p:cNvSpPr/>
          <p:nvPr/>
        </p:nvSpPr>
        <p:spPr>
          <a:xfrm>
            <a:off x="6565392" y="4315968"/>
            <a:ext cx="329184" cy="329184"/>
          </a:xfrm>
          <a:prstGeom prst="ellipse">
            <a:avLst/>
          </a:prstGeom>
          <a:solidFill>
            <a:srgbClr val="E0A458"/>
          </a:solidFill>
          <a:ln w="12700">
            <a:solidFill>
              <a:srgbClr val="E0A458"/>
            </a:solidFill>
            <a:prstDash val="solid"/>
          </a:ln>
        </p:spPr>
      </p:sp>
      <p:sp>
        <p:nvSpPr>
          <p:cNvPr id="41" name="Text 39"/>
          <p:cNvSpPr txBox="1"/>
          <p:nvPr/>
        </p:nvSpPr>
        <p:spPr>
          <a:xfrm>
            <a:off x="6565392" y="4315968"/>
            <a:ext cx="329184" cy="329184"/>
          </a:xfrm>
          <a:prstGeom prst="rect">
            <a:avLst/>
          </a:prstGeom>
          <a:noFill/>
          <a:ln/>
        </p:spPr>
        <p:txBody>
          <a:bodyPr wrap="square" lIns="0" tIns="0" rIns="0" bIns="0" rtlCol="0" anchor="ctr"/>
          <a:lstStyle/>
          <a:p>
            <a:pPr algn="ctr" indent="0" marL="0">
              <a:buNone/>
            </a:pPr>
            <a:r>
              <a:rPr lang="en-US" sz="1300" b="1" dirty="0">
                <a:solidFill>
                  <a:srgbClr val="000000"/>
                </a:solidFill>
                <a:latin typeface="Arial" pitchFamily="34" charset="0"/>
                <a:ea typeface="Arial" pitchFamily="34" charset="-122"/>
                <a:cs typeface="Arial" pitchFamily="34" charset="-120"/>
              </a:rPr>
              <a:t>4</a:t>
            </a:r>
            <a:endParaRPr lang="en-US" sz="1300" dirty="0"/>
          </a:p>
        </p:txBody>
      </p:sp>
      <p:sp>
        <p:nvSpPr>
          <p:cNvPr id="42" name="Text 40"/>
          <p:cNvSpPr txBox="1"/>
          <p:nvPr/>
        </p:nvSpPr>
        <p:spPr>
          <a:xfrm>
            <a:off x="6986016" y="4343400"/>
            <a:ext cx="1517904" cy="274320"/>
          </a:xfrm>
          <a:prstGeom prst="rect">
            <a:avLst/>
          </a:prstGeom>
          <a:noFill/>
          <a:ln/>
        </p:spPr>
        <p:txBody>
          <a:bodyPr wrap="square" lIns="0" tIns="0" rIns="0" bIns="0" rtlCol="0" anchor="ctr"/>
          <a:lstStyle/>
          <a:p>
            <a:pPr indent="0" marL="0">
              <a:buNone/>
            </a:pPr>
            <a:r>
              <a:rPr lang="en-US" sz="1100" b="1" dirty="0">
                <a:solidFill>
                  <a:srgbClr val="E0A458"/>
                </a:solidFill>
                <a:latin typeface="Meiryo" pitchFamily="34" charset="0"/>
                <a:ea typeface="Meiryo" pitchFamily="34" charset="-122"/>
                <a:cs typeface="Meiryo" pitchFamily="34" charset="-120"/>
              </a:rPr>
              <a:t>検品基準は必須</a:t>
            </a:r>
            <a:endParaRPr lang="en-US" sz="1100" dirty="0"/>
          </a:p>
        </p:txBody>
      </p:sp>
      <p:sp>
        <p:nvSpPr>
          <p:cNvPr id="43" name="Text 41"/>
          <p:cNvSpPr txBox="1"/>
          <p:nvPr/>
        </p:nvSpPr>
        <p:spPr>
          <a:xfrm>
            <a:off x="8577072" y="4315968"/>
            <a:ext cx="2651760" cy="384048"/>
          </a:xfrm>
          <a:prstGeom prst="rect">
            <a:avLst/>
          </a:prstGeom>
          <a:noFill/>
          <a:ln/>
        </p:spPr>
        <p:txBody>
          <a:bodyPr wrap="square" lIns="0" tIns="0" rIns="0" bIns="0" rtlCol="0" anchor="ctr"/>
          <a:lstStyle/>
          <a:p>
            <a:pPr indent="0" marL="0">
              <a:lnSpc>
                <a:spcPts val="1300"/>
              </a:lnSpc>
              <a:buNone/>
            </a:pPr>
            <a:r>
              <a:rPr lang="en-US" sz="950" dirty="0">
                <a:solidFill>
                  <a:srgbClr val="A2908C"/>
                </a:solidFill>
                <a:latin typeface="Meiryo" pitchFamily="34" charset="0"/>
                <a:ea typeface="Meiryo" pitchFamily="34" charset="-122"/>
                <a:cs typeface="Meiryo" pitchFamily="34" charset="-120"/>
              </a:rPr>
              <a:t>持込はプロヴナンス不明。液面・ラベル・コルク・保管履歴で受入可否を判断</a:t>
            </a:r>
            <a:endParaRPr lang="en-US" sz="950" dirty="0"/>
          </a:p>
        </p:txBody>
      </p:sp>
      <p:sp>
        <p:nvSpPr>
          <p:cNvPr id="44" name="Shape 42"/>
          <p:cNvSpPr/>
          <p:nvPr/>
        </p:nvSpPr>
        <p:spPr>
          <a:xfrm>
            <a:off x="566928" y="5029200"/>
            <a:ext cx="11027664" cy="1024128"/>
          </a:xfrm>
          <a:prstGeom prst="roundRect">
            <a:avLst>
              <a:gd name="adj" fmla="val 5357"/>
            </a:avLst>
          </a:prstGeom>
          <a:solidFill>
            <a:srgbClr val="7B1E3A"/>
          </a:solidFill>
          <a:ln w="12700">
            <a:solidFill>
              <a:srgbClr val="7B1E3A"/>
            </a:solidFill>
            <a:prstDash val="solid"/>
          </a:ln>
          <a:effectLst>
            <a:outerShdw sx="100000" sy="100000" kx="0" ky="0" algn="bl" rotWithShape="0" blurRad="127000" dist="25400" dir="5400000">
              <a:srgbClr val="000000">
                <a:alpha val="35000"/>
              </a:srgbClr>
            </a:outerShdw>
          </a:effectLst>
        </p:spPr>
      </p:sp>
      <p:sp>
        <p:nvSpPr>
          <p:cNvPr id="45" name="Text 43"/>
          <p:cNvSpPr txBox="1"/>
          <p:nvPr/>
        </p:nvSpPr>
        <p:spPr>
          <a:xfrm>
            <a:off x="978408" y="5230368"/>
            <a:ext cx="10204704" cy="365760"/>
          </a:xfrm>
          <a:prstGeom prst="rect">
            <a:avLst/>
          </a:prstGeom>
          <a:noFill/>
          <a:ln/>
        </p:spPr>
        <p:txBody>
          <a:bodyPr wrap="square" lIns="0" tIns="0" rIns="0" bIns="0" rtlCol="0" anchor="ctr"/>
          <a:lstStyle/>
          <a:p>
            <a:pPr indent="0" marL="0">
              <a:buNone/>
            </a:pPr>
            <a:r>
              <a:rPr lang="en-US" sz="1800" b="1" dirty="0">
                <a:solidFill>
                  <a:srgbClr val="E8CE78"/>
                </a:solidFill>
                <a:latin typeface="Meiryo" pitchFamily="34" charset="0"/>
                <a:ea typeface="Meiryo" pitchFamily="34" charset="-122"/>
                <a:cs typeface="Meiryo" pitchFamily="34" charset="-120"/>
              </a:rPr>
              <a:t>既存顧客には恩を売らず、格を配る。新規には、買わせずにまず預けさせる。</a:t>
            </a:r>
            <a:endParaRPr lang="en-US" sz="1800" dirty="0"/>
          </a:p>
        </p:txBody>
      </p:sp>
      <p:sp>
        <p:nvSpPr>
          <p:cNvPr id="46" name="Text 44"/>
          <p:cNvSpPr txBox="1"/>
          <p:nvPr/>
        </p:nvSpPr>
        <p:spPr>
          <a:xfrm>
            <a:off x="978408" y="5632704"/>
            <a:ext cx="10204704" cy="310896"/>
          </a:xfrm>
          <a:prstGeom prst="rect">
            <a:avLst/>
          </a:prstGeom>
          <a:noFill/>
          <a:ln/>
        </p:spPr>
        <p:txBody>
          <a:bodyPr wrap="square" lIns="0" tIns="0" rIns="0" bIns="0" rtlCol="0" anchor="ctr"/>
          <a:lstStyle/>
          <a:p>
            <a:pPr indent="0" marL="0">
              <a:buNone/>
            </a:pPr>
            <a:r>
              <a:rPr lang="en-US" sz="1200" dirty="0">
                <a:solidFill>
                  <a:srgbClr val="F2EDE6"/>
                </a:solidFill>
                <a:latin typeface="Meiryo" pitchFamily="34" charset="0"/>
                <a:ea typeface="Meiryo" pitchFamily="34" charset="-122"/>
                <a:cs typeface="Meiryo" pitchFamily="34" charset="-120"/>
              </a:rPr>
              <a:t>どちらも「先にこちらが与える」設計です。ポイント経済圏は、入ってもらわないと何も始まりません。</a:t>
            </a:r>
            <a:endParaRPr lang="en-US" sz="12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00000"/>
        </a:solidFill>
      </p:bgPr>
    </p:bg>
    <p:spTree>
      <p:nvGrpSpPr>
        <p:cNvPr id="1" name=""/>
        <p:cNvGrpSpPr/>
        <p:nvPr/>
      </p:nvGrpSpPr>
      <p:grpSpPr>
        <a:xfrm>
          <a:off x="0" y="0"/>
          <a:ext cx="0" cy="0"/>
          <a:chOff x="0" y="0"/>
          <a:chExt cx="0" cy="0"/>
        </a:xfrm>
      </p:grpSpPr>
      <p:sp>
        <p:nvSpPr>
          <p:cNvPr id="2" name="Text 0"/>
          <p:cNvSpPr txBox="1"/>
          <p:nvPr/>
        </p:nvSpPr>
        <p:spPr>
          <a:xfrm>
            <a:off x="566928" y="310896"/>
            <a:ext cx="11027664" cy="237744"/>
          </a:xfrm>
          <a:prstGeom prst="rect">
            <a:avLst/>
          </a:prstGeom>
          <a:noFill/>
          <a:ln/>
        </p:spPr>
        <p:txBody>
          <a:bodyPr wrap="square" lIns="0" tIns="0" rIns="0" bIns="0" rtlCol="0" anchor="ctr"/>
          <a:lstStyle/>
          <a:p>
            <a:pPr indent="0" marL="0">
              <a:buNone/>
            </a:pPr>
            <a:r>
              <a:rPr lang="en-US" sz="1050" b="1" spc="300" kern="0" dirty="0">
                <a:solidFill>
                  <a:srgbClr val="C9A227"/>
                </a:solidFill>
                <a:latin typeface="Arial" pitchFamily="34" charset="0"/>
                <a:ea typeface="Arial" pitchFamily="34" charset="-122"/>
                <a:cs typeface="Arial" pitchFamily="34" charset="-120"/>
              </a:rPr>
              <a:t>ROADMAP</a:t>
            </a:r>
            <a:endParaRPr lang="en-US" sz="1050" dirty="0"/>
          </a:p>
        </p:txBody>
      </p:sp>
      <p:sp>
        <p:nvSpPr>
          <p:cNvPr id="3" name="Text 1"/>
          <p:cNvSpPr txBox="1"/>
          <p:nvPr/>
        </p:nvSpPr>
        <p:spPr>
          <a:xfrm>
            <a:off x="566928" y="566928"/>
            <a:ext cx="11027664" cy="548640"/>
          </a:xfrm>
          <a:prstGeom prst="rect">
            <a:avLst/>
          </a:prstGeom>
          <a:noFill/>
          <a:ln/>
        </p:spPr>
        <p:txBody>
          <a:bodyPr wrap="square" lIns="0" tIns="0" rIns="0" bIns="0" rtlCol="0" anchor="ctr"/>
          <a:lstStyle/>
          <a:p>
            <a:pPr indent="0" marL="0">
              <a:buNone/>
            </a:pPr>
            <a:r>
              <a:rPr lang="en-US" sz="2900" b="1" dirty="0">
                <a:solidFill>
                  <a:srgbClr val="F2EDE6"/>
                </a:solidFill>
                <a:latin typeface="Meiryo" pitchFamily="34" charset="0"/>
                <a:ea typeface="Meiryo" pitchFamily="34" charset="-122"/>
                <a:cs typeface="Meiryo" pitchFamily="34" charset="-120"/>
              </a:rPr>
              <a:t>ロードマップ</a:t>
            </a:r>
            <a:endParaRPr lang="en-US" sz="2900" dirty="0"/>
          </a:p>
        </p:txBody>
      </p:sp>
      <p:sp>
        <p:nvSpPr>
          <p:cNvPr id="4" name="Text 2"/>
          <p:cNvSpPr txBox="1"/>
          <p:nvPr/>
        </p:nvSpPr>
        <p:spPr>
          <a:xfrm>
            <a:off x="566928" y="1152144"/>
            <a:ext cx="11027664" cy="310896"/>
          </a:xfrm>
          <a:prstGeom prst="rect">
            <a:avLst/>
          </a:prstGeom>
          <a:noFill/>
          <a:ln/>
        </p:spPr>
        <p:txBody>
          <a:bodyPr wrap="square" lIns="0" tIns="0" rIns="0" bIns="0" rtlCol="0" anchor="ctr"/>
          <a:lstStyle/>
          <a:p>
            <a:pPr indent="0" marL="0">
              <a:buNone/>
            </a:pPr>
            <a:r>
              <a:rPr lang="en-US" sz="1300" dirty="0">
                <a:solidFill>
                  <a:srgbClr val="A2908C"/>
                </a:solidFill>
                <a:latin typeface="Meiryo" pitchFamily="34" charset="0"/>
                <a:ea typeface="Meiryo" pitchFamily="34" charset="-122"/>
                <a:cs typeface="Meiryo" pitchFamily="34" charset="-120"/>
              </a:rPr>
              <a:t>契約設計と法務確認を終えてから、マイルを走らせます。</a:t>
            </a:r>
            <a:endParaRPr lang="en-US" sz="1300" dirty="0"/>
          </a:p>
        </p:txBody>
      </p:sp>
      <p:sp>
        <p:nvSpPr>
          <p:cNvPr id="5" name="Text 3"/>
          <p:cNvSpPr txBox="1"/>
          <p:nvPr/>
        </p:nvSpPr>
        <p:spPr>
          <a:xfrm>
            <a:off x="566928" y="6437376"/>
            <a:ext cx="4572000" cy="219456"/>
          </a:xfrm>
          <a:prstGeom prst="rect">
            <a:avLst/>
          </a:prstGeom>
          <a:noFill/>
          <a:ln/>
        </p:spPr>
        <p:txBody>
          <a:bodyPr wrap="square" lIns="0" tIns="0" rIns="0" bIns="0" rtlCol="0" anchor="ctr"/>
          <a:lstStyle/>
          <a:p>
            <a:pPr indent="0" marL="0">
              <a:buNone/>
            </a:pPr>
            <a:r>
              <a:rPr lang="en-US" sz="850" dirty="0">
                <a:solidFill>
                  <a:srgbClr val="6B5A5F"/>
                </a:solidFill>
                <a:latin typeface="Arial" pitchFamily="34" charset="0"/>
                <a:ea typeface="Arial" pitchFamily="34" charset="-122"/>
                <a:cs typeface="Arial" pitchFamily="34" charset="-120"/>
              </a:rPr>
              <a:t>WineBank CONFIDENTIAL</a:t>
            </a:r>
            <a:endParaRPr lang="en-US" sz="850" dirty="0"/>
          </a:p>
        </p:txBody>
      </p:sp>
      <p:sp>
        <p:nvSpPr>
          <p:cNvPr id="6" name="Shape 4"/>
          <p:cNvSpPr/>
          <p:nvPr/>
        </p:nvSpPr>
        <p:spPr>
          <a:xfrm>
            <a:off x="566928" y="1691640"/>
            <a:ext cx="2624328" cy="3611880"/>
          </a:xfrm>
          <a:prstGeom prst="roundRect">
            <a:avLst>
              <a:gd name="adj" fmla="val 2091"/>
            </a:avLst>
          </a:prstGeom>
          <a:solidFill>
            <a:srgbClr val="17111A"/>
          </a:solidFill>
          <a:ln w="12700">
            <a:solidFill>
              <a:srgbClr val="17111A"/>
            </a:solidFill>
            <a:prstDash val="solid"/>
          </a:ln>
          <a:effectLst>
            <a:outerShdw sx="100000" sy="100000" kx="0" ky="0" algn="bl" rotWithShape="0" blurRad="127000" dist="25400" dir="5400000">
              <a:srgbClr val="000000">
                <a:alpha val="35000"/>
              </a:srgbClr>
            </a:outerShdw>
          </a:effectLst>
        </p:spPr>
      </p:sp>
      <p:sp>
        <p:nvSpPr>
          <p:cNvPr id="7" name="Text 5"/>
          <p:cNvSpPr txBox="1"/>
          <p:nvPr/>
        </p:nvSpPr>
        <p:spPr>
          <a:xfrm>
            <a:off x="822960" y="1901952"/>
            <a:ext cx="2112264" cy="256032"/>
          </a:xfrm>
          <a:prstGeom prst="rect">
            <a:avLst/>
          </a:prstGeom>
          <a:noFill/>
          <a:ln/>
        </p:spPr>
        <p:txBody>
          <a:bodyPr wrap="square" lIns="0" tIns="0" rIns="0" bIns="0" rtlCol="0" anchor="ctr"/>
          <a:lstStyle/>
          <a:p>
            <a:pPr indent="0" marL="0">
              <a:buNone/>
            </a:pPr>
            <a:r>
              <a:rPr lang="en-US" sz="1050" b="1" spc="200" kern="0" dirty="0">
                <a:solidFill>
                  <a:srgbClr val="C9A227"/>
                </a:solidFill>
                <a:latin typeface="Arial" pitchFamily="34" charset="0"/>
                <a:ea typeface="Arial" pitchFamily="34" charset="-122"/>
                <a:cs typeface="Arial" pitchFamily="34" charset="-120"/>
              </a:rPr>
              <a:t>PHASE 0</a:t>
            </a:r>
            <a:endParaRPr lang="en-US" sz="1050" dirty="0"/>
          </a:p>
        </p:txBody>
      </p:sp>
      <p:sp>
        <p:nvSpPr>
          <p:cNvPr id="8" name="Text 6"/>
          <p:cNvSpPr txBox="1"/>
          <p:nvPr/>
        </p:nvSpPr>
        <p:spPr>
          <a:xfrm>
            <a:off x="822960" y="2194560"/>
            <a:ext cx="2112264" cy="365760"/>
          </a:xfrm>
          <a:prstGeom prst="rect">
            <a:avLst/>
          </a:prstGeom>
          <a:noFill/>
          <a:ln/>
        </p:spPr>
        <p:txBody>
          <a:bodyPr wrap="square" lIns="0" tIns="0" rIns="0" bIns="0" rtlCol="0" anchor="ctr"/>
          <a:lstStyle/>
          <a:p>
            <a:pPr indent="0" marL="0">
              <a:buNone/>
            </a:pPr>
            <a:r>
              <a:rPr lang="en-US" sz="2000" b="1" dirty="0">
                <a:solidFill>
                  <a:srgbClr val="F2EDE6"/>
                </a:solidFill>
                <a:latin typeface="Meiryo" pitchFamily="34" charset="0"/>
                <a:ea typeface="Meiryo" pitchFamily="34" charset="-122"/>
                <a:cs typeface="Meiryo" pitchFamily="34" charset="-120"/>
              </a:rPr>
              <a:t>〜2ヶ月</a:t>
            </a:r>
            <a:endParaRPr lang="en-US" sz="2000" dirty="0"/>
          </a:p>
        </p:txBody>
      </p:sp>
      <p:sp>
        <p:nvSpPr>
          <p:cNvPr id="9" name="Text 7"/>
          <p:cNvSpPr txBox="1"/>
          <p:nvPr/>
        </p:nvSpPr>
        <p:spPr>
          <a:xfrm>
            <a:off x="822960" y="2633472"/>
            <a:ext cx="2112264" cy="310896"/>
          </a:xfrm>
          <a:prstGeom prst="rect">
            <a:avLst/>
          </a:prstGeom>
          <a:noFill/>
          <a:ln/>
        </p:spPr>
        <p:txBody>
          <a:bodyPr wrap="square" lIns="0" tIns="0" rIns="0" bIns="0" rtlCol="0" anchor="ctr"/>
          <a:lstStyle/>
          <a:p>
            <a:pPr indent="0" marL="0">
              <a:buNone/>
            </a:pPr>
            <a:r>
              <a:rPr lang="en-US" sz="1350" b="1" dirty="0">
                <a:solidFill>
                  <a:srgbClr val="E8CE78"/>
                </a:solidFill>
                <a:latin typeface="Meiryo" pitchFamily="34" charset="0"/>
                <a:ea typeface="Meiryo" pitchFamily="34" charset="-122"/>
                <a:cs typeface="Meiryo" pitchFamily="34" charset="-120"/>
              </a:rPr>
              <a:t>土台を固める</a:t>
            </a:r>
            <a:endParaRPr lang="en-US" sz="1350" dirty="0"/>
          </a:p>
        </p:txBody>
      </p:sp>
      <p:sp>
        <p:nvSpPr>
          <p:cNvPr id="10" name="Text 8"/>
          <p:cNvSpPr txBox="1"/>
          <p:nvPr/>
        </p:nvSpPr>
        <p:spPr>
          <a:xfrm>
            <a:off x="822960" y="3054096"/>
            <a:ext cx="2112264" cy="2103120"/>
          </a:xfrm>
          <a:prstGeom prst="rect">
            <a:avLst/>
          </a:prstGeom>
          <a:noFill/>
          <a:ln/>
        </p:spPr>
        <p:txBody>
          <a:bodyPr wrap="square" lIns="0" tIns="0" rIns="0" bIns="0" rtlCol="0" anchor="t"/>
          <a:lstStyle/>
          <a:p>
            <a:pPr marL="152400" indent="-152400">
              <a:lnSpc>
                <a:spcPts val="2000"/>
              </a:lnSpc>
              <a:spcAft>
                <a:spcPts val="1500"/>
              </a:spcAft>
              <a:buSzPct val="100000"/>
              <a:buChar char="•"/>
            </a:pPr>
            <a:r>
              <a:rPr lang="en-US" sz="1200" dirty="0">
                <a:solidFill>
                  <a:srgbClr val="A2908C"/>
                </a:solidFill>
                <a:latin typeface="Meiryo" pitchFamily="34" charset="0"/>
                <a:ea typeface="Meiryo" pitchFamily="34" charset="-122"/>
                <a:cs typeface="Meiryo" pitchFamily="34" charset="-120"/>
              </a:rPr>
              <a:t>店舗原価率と90%精算の合意</a:t>
            </a:r>
            <a:endParaRPr lang="en-US" sz="1200" dirty="0"/>
          </a:p>
          <a:p>
            <a:pPr marL="152400" indent="-152400">
              <a:lnSpc>
                <a:spcPts val="2000"/>
              </a:lnSpc>
              <a:spcAft>
                <a:spcPts val="1500"/>
              </a:spcAft>
              <a:buSzPct val="100000"/>
              <a:buChar char="•"/>
            </a:pPr>
            <a:r>
              <a:rPr lang="en-US" sz="1200" dirty="0">
                <a:solidFill>
                  <a:srgbClr val="A2908C"/>
                </a:solidFill>
                <a:latin typeface="Meiryo" pitchFamily="34" charset="0"/>
                <a:ea typeface="Meiryo" pitchFamily="34" charset="-122"/>
                <a:cs typeface="Meiryo" pitchFamily="34" charset="-120"/>
              </a:rPr>
              <a:t>弁護士意見書（取得済）</a:t>
            </a:r>
            <a:endParaRPr lang="en-US" sz="1200" dirty="0"/>
          </a:p>
          <a:p>
            <a:pPr marL="152400" indent="-152400">
              <a:lnSpc>
                <a:spcPts val="2000"/>
              </a:lnSpc>
              <a:spcAft>
                <a:spcPts val="1500"/>
              </a:spcAft>
              <a:buSzPct val="100000"/>
              <a:buChar char="•"/>
            </a:pPr>
            <a:r>
              <a:rPr lang="en-US" sz="1200" dirty="0">
                <a:solidFill>
                  <a:srgbClr val="A2908C"/>
                </a:solidFill>
                <a:latin typeface="Meiryo" pitchFamily="34" charset="0"/>
                <a:ea typeface="Meiryo" pitchFamily="34" charset="-122"/>
                <a:cs typeface="Meiryo" pitchFamily="34" charset="-120"/>
              </a:rPr>
              <a:t>売買・管理規約と成果報酬契約の整備</a:t>
            </a:r>
            <a:endParaRPr lang="en-US" sz="1200" dirty="0"/>
          </a:p>
          <a:p>
            <a:pPr marL="152400" indent="-152400">
              <a:lnSpc>
                <a:spcPts val="2000"/>
              </a:lnSpc>
              <a:spcAft>
                <a:spcPts val="1500"/>
              </a:spcAft>
              <a:buSzPct val="100000"/>
              <a:buChar char="•"/>
            </a:pPr>
            <a:r>
              <a:rPr lang="en-US" sz="1200" dirty="0">
                <a:solidFill>
                  <a:srgbClr val="A2908C"/>
                </a:solidFill>
                <a:latin typeface="Meiryo" pitchFamily="34" charset="0"/>
                <a:ea typeface="Meiryo" pitchFamily="34" charset="-122"/>
                <a:cs typeface="Meiryo" pitchFamily="34" charset="-120"/>
              </a:rPr>
              <a:t>交流イベントの年間計画</a:t>
            </a:r>
            <a:endParaRPr lang="en-US" sz="1200" dirty="0"/>
          </a:p>
        </p:txBody>
      </p:sp>
      <p:sp>
        <p:nvSpPr>
          <p:cNvPr id="11" name="Shape 9"/>
          <p:cNvSpPr/>
          <p:nvPr/>
        </p:nvSpPr>
        <p:spPr>
          <a:xfrm>
            <a:off x="3410712" y="1691640"/>
            <a:ext cx="2624328" cy="3611880"/>
          </a:xfrm>
          <a:prstGeom prst="roundRect">
            <a:avLst>
              <a:gd name="adj" fmla="val 2091"/>
            </a:avLst>
          </a:prstGeom>
          <a:solidFill>
            <a:srgbClr val="17111A"/>
          </a:solidFill>
          <a:ln w="12700">
            <a:solidFill>
              <a:srgbClr val="17111A"/>
            </a:solidFill>
            <a:prstDash val="solid"/>
          </a:ln>
          <a:effectLst>
            <a:outerShdw sx="100000" sy="100000" kx="0" ky="0" algn="bl" rotWithShape="0" blurRad="127000" dist="25400" dir="5400000">
              <a:srgbClr val="000000">
                <a:alpha val="35000"/>
              </a:srgbClr>
            </a:outerShdw>
          </a:effectLst>
        </p:spPr>
      </p:sp>
      <p:sp>
        <p:nvSpPr>
          <p:cNvPr id="12" name="Text 10"/>
          <p:cNvSpPr txBox="1"/>
          <p:nvPr/>
        </p:nvSpPr>
        <p:spPr>
          <a:xfrm>
            <a:off x="3666744" y="1901952"/>
            <a:ext cx="2112264" cy="256032"/>
          </a:xfrm>
          <a:prstGeom prst="rect">
            <a:avLst/>
          </a:prstGeom>
          <a:noFill/>
          <a:ln/>
        </p:spPr>
        <p:txBody>
          <a:bodyPr wrap="square" lIns="0" tIns="0" rIns="0" bIns="0" rtlCol="0" anchor="ctr"/>
          <a:lstStyle/>
          <a:p>
            <a:pPr indent="0" marL="0">
              <a:buNone/>
            </a:pPr>
            <a:r>
              <a:rPr lang="en-US" sz="1050" b="1" spc="200" kern="0" dirty="0">
                <a:solidFill>
                  <a:srgbClr val="C9A227"/>
                </a:solidFill>
                <a:latin typeface="Arial" pitchFamily="34" charset="0"/>
                <a:ea typeface="Arial" pitchFamily="34" charset="-122"/>
                <a:cs typeface="Arial" pitchFamily="34" charset="-120"/>
              </a:rPr>
              <a:t>PHASE 1</a:t>
            </a:r>
            <a:endParaRPr lang="en-US" sz="1050" dirty="0"/>
          </a:p>
        </p:txBody>
      </p:sp>
      <p:sp>
        <p:nvSpPr>
          <p:cNvPr id="13" name="Text 11"/>
          <p:cNvSpPr txBox="1"/>
          <p:nvPr/>
        </p:nvSpPr>
        <p:spPr>
          <a:xfrm>
            <a:off x="3666744" y="2194560"/>
            <a:ext cx="2112264" cy="365760"/>
          </a:xfrm>
          <a:prstGeom prst="rect">
            <a:avLst/>
          </a:prstGeom>
          <a:noFill/>
          <a:ln/>
        </p:spPr>
        <p:txBody>
          <a:bodyPr wrap="square" lIns="0" tIns="0" rIns="0" bIns="0" rtlCol="0" anchor="ctr"/>
          <a:lstStyle/>
          <a:p>
            <a:pPr indent="0" marL="0">
              <a:buNone/>
            </a:pPr>
            <a:r>
              <a:rPr lang="en-US" sz="2000" b="1" dirty="0">
                <a:solidFill>
                  <a:srgbClr val="F2EDE6"/>
                </a:solidFill>
                <a:latin typeface="Meiryo" pitchFamily="34" charset="0"/>
                <a:ea typeface="Meiryo" pitchFamily="34" charset="-122"/>
                <a:cs typeface="Meiryo" pitchFamily="34" charset="-120"/>
              </a:rPr>
              <a:t>3〜6ヶ月</a:t>
            </a:r>
            <a:endParaRPr lang="en-US" sz="2000" dirty="0"/>
          </a:p>
        </p:txBody>
      </p:sp>
      <p:sp>
        <p:nvSpPr>
          <p:cNvPr id="14" name="Text 12"/>
          <p:cNvSpPr txBox="1"/>
          <p:nvPr/>
        </p:nvSpPr>
        <p:spPr>
          <a:xfrm>
            <a:off x="3666744" y="2633472"/>
            <a:ext cx="2112264" cy="310896"/>
          </a:xfrm>
          <a:prstGeom prst="rect">
            <a:avLst/>
          </a:prstGeom>
          <a:noFill/>
          <a:ln/>
        </p:spPr>
        <p:txBody>
          <a:bodyPr wrap="square" lIns="0" tIns="0" rIns="0" bIns="0" rtlCol="0" anchor="ctr"/>
          <a:lstStyle/>
          <a:p>
            <a:pPr indent="0" marL="0">
              <a:buNone/>
            </a:pPr>
            <a:r>
              <a:rPr lang="en-US" sz="1350" b="1" dirty="0">
                <a:solidFill>
                  <a:srgbClr val="E8CE78"/>
                </a:solidFill>
                <a:latin typeface="Meiryo" pitchFamily="34" charset="0"/>
                <a:ea typeface="Meiryo" pitchFamily="34" charset="-122"/>
                <a:cs typeface="Meiryo" pitchFamily="34" charset="-120"/>
              </a:rPr>
              <a:t>100万プランで開始</a:t>
            </a:r>
            <a:endParaRPr lang="en-US" sz="1350" dirty="0"/>
          </a:p>
        </p:txBody>
      </p:sp>
      <p:sp>
        <p:nvSpPr>
          <p:cNvPr id="15" name="Text 13"/>
          <p:cNvSpPr txBox="1"/>
          <p:nvPr/>
        </p:nvSpPr>
        <p:spPr>
          <a:xfrm>
            <a:off x="3666744" y="3054096"/>
            <a:ext cx="2112264" cy="2103120"/>
          </a:xfrm>
          <a:prstGeom prst="rect">
            <a:avLst/>
          </a:prstGeom>
          <a:noFill/>
          <a:ln/>
        </p:spPr>
        <p:txBody>
          <a:bodyPr wrap="square" lIns="0" tIns="0" rIns="0" bIns="0" rtlCol="0" anchor="t"/>
          <a:lstStyle/>
          <a:p>
            <a:pPr marL="152400" indent="-152400">
              <a:lnSpc>
                <a:spcPts val="2000"/>
              </a:lnSpc>
              <a:spcAft>
                <a:spcPts val="1500"/>
              </a:spcAft>
              <a:buSzPct val="100000"/>
              <a:buChar char="•"/>
            </a:pPr>
            <a:r>
              <a:rPr lang="en-US" sz="1200" dirty="0">
                <a:solidFill>
                  <a:srgbClr val="A2908C"/>
                </a:solidFill>
                <a:latin typeface="Meiryo" pitchFamily="34" charset="0"/>
                <a:ea typeface="Meiryo" pitchFamily="34" charset="-122"/>
                <a:cs typeface="Meiryo" pitchFamily="34" charset="-120"/>
              </a:rPr>
              <a:t>マイル台帳をマイページに実装</a:t>
            </a:r>
            <a:endParaRPr lang="en-US" sz="1200" dirty="0"/>
          </a:p>
          <a:p>
            <a:pPr marL="152400" indent="-152400">
              <a:lnSpc>
                <a:spcPts val="2000"/>
              </a:lnSpc>
              <a:spcAft>
                <a:spcPts val="1500"/>
              </a:spcAft>
              <a:buSzPct val="100000"/>
              <a:buChar char="•"/>
            </a:pPr>
            <a:r>
              <a:rPr lang="en-US" sz="1200" dirty="0">
                <a:solidFill>
                  <a:srgbClr val="A2908C"/>
                </a:solidFill>
                <a:latin typeface="Meiryo" pitchFamily="34" charset="0"/>
                <a:ea typeface="Meiryo" pitchFamily="34" charset="-122"/>
                <a:cs typeface="Meiryo" pitchFamily="34" charset="-120"/>
              </a:rPr>
              <a:t>AI活用の内製で開発費を圧縮</a:t>
            </a:r>
            <a:endParaRPr lang="en-US" sz="1200" dirty="0"/>
          </a:p>
          <a:p>
            <a:pPr marL="152400" indent="-152400">
              <a:lnSpc>
                <a:spcPts val="2000"/>
              </a:lnSpc>
              <a:spcAft>
                <a:spcPts val="1500"/>
              </a:spcAft>
              <a:buSzPct val="100000"/>
              <a:buChar char="•"/>
            </a:pPr>
            <a:r>
              <a:rPr lang="en-US" sz="1200" dirty="0">
                <a:solidFill>
                  <a:srgbClr val="A2908C"/>
                </a:solidFill>
                <a:latin typeface="Meiryo" pitchFamily="34" charset="0"/>
                <a:ea typeface="Meiryo" pitchFamily="34" charset="-122"/>
                <a:cs typeface="Meiryo" pitchFamily="34" charset="-120"/>
              </a:rPr>
              <a:t>年次リバランスの運用設計</a:t>
            </a:r>
            <a:endParaRPr lang="en-US" sz="1200" dirty="0"/>
          </a:p>
          <a:p>
            <a:pPr marL="152400" indent="-152400">
              <a:lnSpc>
                <a:spcPts val="2000"/>
              </a:lnSpc>
              <a:spcAft>
                <a:spcPts val="1500"/>
              </a:spcAft>
              <a:buSzPct val="100000"/>
              <a:buChar char="•"/>
            </a:pPr>
            <a:r>
              <a:rPr lang="en-US" sz="1200" dirty="0">
                <a:solidFill>
                  <a:srgbClr val="A2908C"/>
                </a:solidFill>
                <a:latin typeface="Meiryo" pitchFamily="34" charset="0"/>
                <a:ea typeface="Meiryo" pitchFamily="34" charset="-122"/>
                <a:cs typeface="Meiryo" pitchFamily="34" charset="-120"/>
              </a:rPr>
              <a:t>既存顧客への移行案内</a:t>
            </a:r>
            <a:endParaRPr lang="en-US" sz="1200" dirty="0"/>
          </a:p>
        </p:txBody>
      </p:sp>
      <p:sp>
        <p:nvSpPr>
          <p:cNvPr id="16" name="Shape 14"/>
          <p:cNvSpPr/>
          <p:nvPr/>
        </p:nvSpPr>
        <p:spPr>
          <a:xfrm>
            <a:off x="6254496" y="1691640"/>
            <a:ext cx="2624328" cy="3611880"/>
          </a:xfrm>
          <a:prstGeom prst="roundRect">
            <a:avLst>
              <a:gd name="adj" fmla="val 2091"/>
            </a:avLst>
          </a:prstGeom>
          <a:solidFill>
            <a:srgbClr val="17111A"/>
          </a:solidFill>
          <a:ln w="12700">
            <a:solidFill>
              <a:srgbClr val="17111A"/>
            </a:solidFill>
            <a:prstDash val="solid"/>
          </a:ln>
          <a:effectLst>
            <a:outerShdw sx="100000" sy="100000" kx="0" ky="0" algn="bl" rotWithShape="0" blurRad="127000" dist="25400" dir="5400000">
              <a:srgbClr val="000000">
                <a:alpha val="35000"/>
              </a:srgbClr>
            </a:outerShdw>
          </a:effectLst>
        </p:spPr>
      </p:sp>
      <p:sp>
        <p:nvSpPr>
          <p:cNvPr id="17" name="Text 15"/>
          <p:cNvSpPr txBox="1"/>
          <p:nvPr/>
        </p:nvSpPr>
        <p:spPr>
          <a:xfrm>
            <a:off x="6510528" y="1901952"/>
            <a:ext cx="2112264" cy="256032"/>
          </a:xfrm>
          <a:prstGeom prst="rect">
            <a:avLst/>
          </a:prstGeom>
          <a:noFill/>
          <a:ln/>
        </p:spPr>
        <p:txBody>
          <a:bodyPr wrap="square" lIns="0" tIns="0" rIns="0" bIns="0" rtlCol="0" anchor="ctr"/>
          <a:lstStyle/>
          <a:p>
            <a:pPr indent="0" marL="0">
              <a:buNone/>
            </a:pPr>
            <a:r>
              <a:rPr lang="en-US" sz="1050" b="1" spc="200" kern="0" dirty="0">
                <a:solidFill>
                  <a:srgbClr val="C9A227"/>
                </a:solidFill>
                <a:latin typeface="Arial" pitchFamily="34" charset="0"/>
                <a:ea typeface="Arial" pitchFamily="34" charset="-122"/>
                <a:cs typeface="Arial" pitchFamily="34" charset="-120"/>
              </a:rPr>
              <a:t>PHASE 2</a:t>
            </a:r>
            <a:endParaRPr lang="en-US" sz="1050" dirty="0"/>
          </a:p>
        </p:txBody>
      </p:sp>
      <p:sp>
        <p:nvSpPr>
          <p:cNvPr id="18" name="Text 16"/>
          <p:cNvSpPr txBox="1"/>
          <p:nvPr/>
        </p:nvSpPr>
        <p:spPr>
          <a:xfrm>
            <a:off x="6510528" y="2194560"/>
            <a:ext cx="2112264" cy="365760"/>
          </a:xfrm>
          <a:prstGeom prst="rect">
            <a:avLst/>
          </a:prstGeom>
          <a:noFill/>
          <a:ln/>
        </p:spPr>
        <p:txBody>
          <a:bodyPr wrap="square" lIns="0" tIns="0" rIns="0" bIns="0" rtlCol="0" anchor="ctr"/>
          <a:lstStyle/>
          <a:p>
            <a:pPr indent="0" marL="0">
              <a:buNone/>
            </a:pPr>
            <a:r>
              <a:rPr lang="en-US" sz="2000" b="1" dirty="0">
                <a:solidFill>
                  <a:srgbClr val="F2EDE6"/>
                </a:solidFill>
                <a:latin typeface="Meiryo" pitchFamily="34" charset="0"/>
                <a:ea typeface="Meiryo" pitchFamily="34" charset="-122"/>
                <a:cs typeface="Meiryo" pitchFamily="34" charset="-120"/>
              </a:rPr>
              <a:t>6〜12ヶ月</a:t>
            </a:r>
            <a:endParaRPr lang="en-US" sz="2000" dirty="0"/>
          </a:p>
        </p:txBody>
      </p:sp>
      <p:sp>
        <p:nvSpPr>
          <p:cNvPr id="19" name="Text 17"/>
          <p:cNvSpPr txBox="1"/>
          <p:nvPr/>
        </p:nvSpPr>
        <p:spPr>
          <a:xfrm>
            <a:off x="6510528" y="2633472"/>
            <a:ext cx="2112264" cy="310896"/>
          </a:xfrm>
          <a:prstGeom prst="rect">
            <a:avLst/>
          </a:prstGeom>
          <a:noFill/>
          <a:ln/>
        </p:spPr>
        <p:txBody>
          <a:bodyPr wrap="square" lIns="0" tIns="0" rIns="0" bIns="0" rtlCol="0" anchor="ctr"/>
          <a:lstStyle/>
          <a:p>
            <a:pPr indent="0" marL="0">
              <a:buNone/>
            </a:pPr>
            <a:r>
              <a:rPr lang="en-US" sz="1350" b="1" dirty="0">
                <a:solidFill>
                  <a:srgbClr val="E8CE78"/>
                </a:solidFill>
                <a:latin typeface="Meiryo" pitchFamily="34" charset="0"/>
                <a:ea typeface="Meiryo" pitchFamily="34" charset="-122"/>
                <a:cs typeface="Meiryo" pitchFamily="34" charset="-120"/>
              </a:rPr>
              <a:t>経済圏に広げる</a:t>
            </a:r>
            <a:endParaRPr lang="en-US" sz="1350" dirty="0"/>
          </a:p>
        </p:txBody>
      </p:sp>
      <p:sp>
        <p:nvSpPr>
          <p:cNvPr id="20" name="Text 18"/>
          <p:cNvSpPr txBox="1"/>
          <p:nvPr/>
        </p:nvSpPr>
        <p:spPr>
          <a:xfrm>
            <a:off x="6510528" y="3054096"/>
            <a:ext cx="2112264" cy="2103120"/>
          </a:xfrm>
          <a:prstGeom prst="rect">
            <a:avLst/>
          </a:prstGeom>
          <a:noFill/>
          <a:ln/>
        </p:spPr>
        <p:txBody>
          <a:bodyPr wrap="square" lIns="0" tIns="0" rIns="0" bIns="0" rtlCol="0" anchor="t"/>
          <a:lstStyle/>
          <a:p>
            <a:pPr marL="152400" indent="-152400">
              <a:lnSpc>
                <a:spcPts val="2000"/>
              </a:lnSpc>
              <a:spcAft>
                <a:spcPts val="1500"/>
              </a:spcAft>
              <a:buSzPct val="100000"/>
              <a:buChar char="•"/>
            </a:pPr>
            <a:r>
              <a:rPr lang="en-US" sz="1200" dirty="0">
                <a:solidFill>
                  <a:srgbClr val="A2908C"/>
                </a:solidFill>
                <a:latin typeface="Meiryo" pitchFamily="34" charset="0"/>
                <a:ea typeface="Meiryo" pitchFamily="34" charset="-122"/>
                <a:cs typeface="Meiryo" pitchFamily="34" charset="-120"/>
              </a:rPr>
              <a:t>SIGNATURE（1,000万）展開</a:t>
            </a:r>
            <a:endParaRPr lang="en-US" sz="1200" dirty="0"/>
          </a:p>
          <a:p>
            <a:pPr marL="152400" indent="-152400">
              <a:lnSpc>
                <a:spcPts val="2000"/>
              </a:lnSpc>
              <a:spcAft>
                <a:spcPts val="1500"/>
              </a:spcAft>
              <a:buSzPct val="100000"/>
              <a:buChar char="•"/>
            </a:pPr>
            <a:r>
              <a:rPr lang="en-US" sz="1200" dirty="0">
                <a:solidFill>
                  <a:srgbClr val="A2908C"/>
                </a:solidFill>
                <a:latin typeface="Meiryo" pitchFamily="34" charset="0"/>
                <a:ea typeface="Meiryo" pitchFamily="34" charset="-122"/>
                <a:cs typeface="Meiryo" pitchFamily="34" charset="-120"/>
              </a:rPr>
              <a:t>オークションでの限定マイル付与</a:t>
            </a:r>
            <a:endParaRPr lang="en-US" sz="1200" dirty="0"/>
          </a:p>
          <a:p>
            <a:pPr marL="152400" indent="-152400">
              <a:lnSpc>
                <a:spcPts val="2000"/>
              </a:lnSpc>
              <a:spcAft>
                <a:spcPts val="1500"/>
              </a:spcAft>
              <a:buSzPct val="100000"/>
              <a:buChar char="•"/>
            </a:pPr>
            <a:r>
              <a:rPr lang="en-US" sz="1200" dirty="0">
                <a:solidFill>
                  <a:srgbClr val="A2908C"/>
                </a:solidFill>
                <a:latin typeface="Meiryo" pitchFamily="34" charset="0"/>
                <a:ea typeface="Meiryo" pitchFamily="34" charset="-122"/>
                <a:cs typeface="Meiryo" pitchFamily="34" charset="-120"/>
              </a:rPr>
              <a:t>100本お預かりプラン開始</a:t>
            </a:r>
            <a:endParaRPr lang="en-US" sz="1200" dirty="0"/>
          </a:p>
        </p:txBody>
      </p:sp>
      <p:sp>
        <p:nvSpPr>
          <p:cNvPr id="21" name="Shape 19"/>
          <p:cNvSpPr/>
          <p:nvPr/>
        </p:nvSpPr>
        <p:spPr>
          <a:xfrm>
            <a:off x="9098280" y="1691640"/>
            <a:ext cx="2624328" cy="3611880"/>
          </a:xfrm>
          <a:prstGeom prst="roundRect">
            <a:avLst>
              <a:gd name="adj" fmla="val 2091"/>
            </a:avLst>
          </a:prstGeom>
          <a:solidFill>
            <a:srgbClr val="7B1E3A"/>
          </a:solidFill>
          <a:ln w="12700">
            <a:solidFill>
              <a:srgbClr val="7B1E3A"/>
            </a:solidFill>
            <a:prstDash val="solid"/>
          </a:ln>
          <a:effectLst>
            <a:outerShdw sx="100000" sy="100000" kx="0" ky="0" algn="bl" rotWithShape="0" blurRad="127000" dist="25400" dir="5400000">
              <a:srgbClr val="000000">
                <a:alpha val="35000"/>
              </a:srgbClr>
            </a:outerShdw>
          </a:effectLst>
        </p:spPr>
      </p:sp>
      <p:sp>
        <p:nvSpPr>
          <p:cNvPr id="22" name="Text 20"/>
          <p:cNvSpPr txBox="1"/>
          <p:nvPr/>
        </p:nvSpPr>
        <p:spPr>
          <a:xfrm>
            <a:off x="9354312" y="1901952"/>
            <a:ext cx="2112264" cy="256032"/>
          </a:xfrm>
          <a:prstGeom prst="rect">
            <a:avLst/>
          </a:prstGeom>
          <a:noFill/>
          <a:ln/>
        </p:spPr>
        <p:txBody>
          <a:bodyPr wrap="square" lIns="0" tIns="0" rIns="0" bIns="0" rtlCol="0" anchor="ctr"/>
          <a:lstStyle/>
          <a:p>
            <a:pPr indent="0" marL="0">
              <a:buNone/>
            </a:pPr>
            <a:r>
              <a:rPr lang="en-US" sz="1050" b="1" spc="200" kern="0" dirty="0">
                <a:solidFill>
                  <a:srgbClr val="C9A227"/>
                </a:solidFill>
                <a:latin typeface="Arial" pitchFamily="34" charset="0"/>
                <a:ea typeface="Arial" pitchFamily="34" charset="-122"/>
                <a:cs typeface="Arial" pitchFamily="34" charset="-120"/>
              </a:rPr>
              <a:t>PHASE 3</a:t>
            </a:r>
            <a:endParaRPr lang="en-US" sz="1050" dirty="0"/>
          </a:p>
        </p:txBody>
      </p:sp>
      <p:sp>
        <p:nvSpPr>
          <p:cNvPr id="23" name="Text 21"/>
          <p:cNvSpPr txBox="1"/>
          <p:nvPr/>
        </p:nvSpPr>
        <p:spPr>
          <a:xfrm>
            <a:off x="9354312" y="2194560"/>
            <a:ext cx="2112264" cy="365760"/>
          </a:xfrm>
          <a:prstGeom prst="rect">
            <a:avLst/>
          </a:prstGeom>
          <a:noFill/>
          <a:ln/>
        </p:spPr>
        <p:txBody>
          <a:bodyPr wrap="square" lIns="0" tIns="0" rIns="0" bIns="0" rtlCol="0" anchor="ctr"/>
          <a:lstStyle/>
          <a:p>
            <a:pPr indent="0" marL="0">
              <a:buNone/>
            </a:pPr>
            <a:r>
              <a:rPr lang="en-US" sz="2000" b="1" dirty="0">
                <a:solidFill>
                  <a:srgbClr val="F2EDE6"/>
                </a:solidFill>
                <a:latin typeface="Meiryo" pitchFamily="34" charset="0"/>
                <a:ea typeface="Meiryo" pitchFamily="34" charset="-122"/>
                <a:cs typeface="Meiryo" pitchFamily="34" charset="-120"/>
              </a:rPr>
              <a:t>Year 2〜</a:t>
            </a:r>
            <a:endParaRPr lang="en-US" sz="2000" dirty="0"/>
          </a:p>
        </p:txBody>
      </p:sp>
      <p:sp>
        <p:nvSpPr>
          <p:cNvPr id="24" name="Text 22"/>
          <p:cNvSpPr txBox="1"/>
          <p:nvPr/>
        </p:nvSpPr>
        <p:spPr>
          <a:xfrm>
            <a:off x="9354312" y="2633472"/>
            <a:ext cx="2112264" cy="310896"/>
          </a:xfrm>
          <a:prstGeom prst="rect">
            <a:avLst/>
          </a:prstGeom>
          <a:noFill/>
          <a:ln/>
        </p:spPr>
        <p:txBody>
          <a:bodyPr wrap="square" lIns="0" tIns="0" rIns="0" bIns="0" rtlCol="0" anchor="ctr"/>
          <a:lstStyle/>
          <a:p>
            <a:pPr indent="0" marL="0">
              <a:buNone/>
            </a:pPr>
            <a:r>
              <a:rPr lang="en-US" sz="1350" b="1" dirty="0">
                <a:solidFill>
                  <a:srgbClr val="E8CE78"/>
                </a:solidFill>
                <a:latin typeface="Meiryo" pitchFamily="34" charset="0"/>
                <a:ea typeface="Meiryo" pitchFamily="34" charset="-122"/>
                <a:cs typeface="Meiryo" pitchFamily="34" charset="-120"/>
              </a:rPr>
              <a:t>ST公募へ</a:t>
            </a:r>
            <a:endParaRPr lang="en-US" sz="1350" dirty="0"/>
          </a:p>
        </p:txBody>
      </p:sp>
      <p:sp>
        <p:nvSpPr>
          <p:cNvPr id="25" name="Text 23"/>
          <p:cNvSpPr txBox="1"/>
          <p:nvPr/>
        </p:nvSpPr>
        <p:spPr>
          <a:xfrm>
            <a:off x="9354312" y="3054096"/>
            <a:ext cx="2112264" cy="2103120"/>
          </a:xfrm>
          <a:prstGeom prst="rect">
            <a:avLst/>
          </a:prstGeom>
          <a:noFill/>
          <a:ln/>
        </p:spPr>
        <p:txBody>
          <a:bodyPr wrap="square" lIns="0" tIns="0" rIns="0" bIns="0" rtlCol="0" anchor="t"/>
          <a:lstStyle/>
          <a:p>
            <a:pPr marL="152400" indent="-152400">
              <a:lnSpc>
                <a:spcPts val="2000"/>
              </a:lnSpc>
              <a:spcAft>
                <a:spcPts val="1500"/>
              </a:spcAft>
              <a:buSzPct val="100000"/>
              <a:buChar char="•"/>
            </a:pPr>
            <a:r>
              <a:rPr lang="en-US" sz="1200" dirty="0">
                <a:solidFill>
                  <a:srgbClr val="A2908C"/>
                </a:solidFill>
                <a:latin typeface="Meiryo" pitchFamily="34" charset="0"/>
                <a:ea typeface="Meiryo" pitchFamily="34" charset="-122"/>
                <a:cs typeface="Meiryo" pitchFamily="34" charset="-120"/>
              </a:rPr>
              <a:t>会員数と在庫回転率を実績に</a:t>
            </a:r>
            <a:endParaRPr lang="en-US" sz="1200" dirty="0"/>
          </a:p>
          <a:p>
            <a:pPr marL="152400" indent="-152400">
              <a:lnSpc>
                <a:spcPts val="2000"/>
              </a:lnSpc>
              <a:spcAft>
                <a:spcPts val="1500"/>
              </a:spcAft>
              <a:buSzPct val="100000"/>
              <a:buChar char="•"/>
            </a:pPr>
            <a:r>
              <a:rPr lang="en-US" sz="1200" dirty="0">
                <a:solidFill>
                  <a:srgbClr val="A2908C"/>
                </a:solidFill>
                <a:latin typeface="Meiryo" pitchFamily="34" charset="0"/>
                <a:ea typeface="Meiryo" pitchFamily="34" charset="-122"/>
                <a:cs typeface="Meiryo" pitchFamily="34" charset="-120"/>
              </a:rPr>
              <a:t>SBI証券へ再提案</a:t>
            </a:r>
            <a:endParaRPr lang="en-US" sz="1200" dirty="0"/>
          </a:p>
          <a:p>
            <a:pPr marL="152400" indent="-152400">
              <a:lnSpc>
                <a:spcPts val="2000"/>
              </a:lnSpc>
              <a:spcAft>
                <a:spcPts val="1500"/>
              </a:spcAft>
              <a:buSzPct val="100000"/>
              <a:buChar char="•"/>
            </a:pPr>
            <a:r>
              <a:rPr lang="en-US" sz="1200" dirty="0">
                <a:solidFill>
                  <a:srgbClr val="A2908C"/>
                </a:solidFill>
                <a:latin typeface="Meiryo" pitchFamily="34" charset="0"/>
                <a:ea typeface="Meiryo" pitchFamily="34" charset="-122"/>
                <a:cs typeface="Meiryo" pitchFamily="34" charset="-120"/>
              </a:rPr>
              <a:t>100億円のCloud Cave構想へ</a:t>
            </a:r>
            <a:endParaRPr lang="en-US" sz="1200" dirty="0"/>
          </a:p>
        </p:txBody>
      </p:sp>
      <p:sp>
        <p:nvSpPr>
          <p:cNvPr id="26" name="Shape 24"/>
          <p:cNvSpPr/>
          <p:nvPr/>
        </p:nvSpPr>
        <p:spPr>
          <a:xfrm>
            <a:off x="566928" y="5468112"/>
            <a:ext cx="11027664" cy="585216"/>
          </a:xfrm>
          <a:prstGeom prst="roundRect">
            <a:avLst>
              <a:gd name="adj" fmla="val 9375"/>
            </a:avLst>
          </a:prstGeom>
          <a:solidFill>
            <a:srgbClr val="261A24"/>
          </a:solidFill>
          <a:ln w="12700">
            <a:solidFill>
              <a:srgbClr val="261A24"/>
            </a:solidFill>
            <a:prstDash val="solid"/>
          </a:ln>
          <a:effectLst>
            <a:outerShdw sx="100000" sy="100000" kx="0" ky="0" algn="bl" rotWithShape="0" blurRad="127000" dist="25400" dir="5400000">
              <a:srgbClr val="000000">
                <a:alpha val="35000"/>
              </a:srgbClr>
            </a:outerShdw>
          </a:effectLst>
        </p:spPr>
      </p:sp>
      <p:sp>
        <p:nvSpPr>
          <p:cNvPr id="27" name="Text 25"/>
          <p:cNvSpPr txBox="1"/>
          <p:nvPr/>
        </p:nvSpPr>
        <p:spPr>
          <a:xfrm>
            <a:off x="978408" y="5605272"/>
            <a:ext cx="10204704" cy="310896"/>
          </a:xfrm>
          <a:prstGeom prst="rect">
            <a:avLst/>
          </a:prstGeom>
          <a:noFill/>
          <a:ln/>
        </p:spPr>
        <p:txBody>
          <a:bodyPr wrap="square" lIns="0" tIns="0" rIns="0" bIns="0" rtlCol="0" anchor="ctr"/>
          <a:lstStyle/>
          <a:p>
            <a:pPr indent="0" marL="0">
              <a:buNone/>
            </a:pPr>
            <a:r>
              <a:rPr lang="en-US" sz="1250" b="1" dirty="0">
                <a:solidFill>
                  <a:srgbClr val="E8CE78"/>
                </a:solidFill>
                <a:latin typeface="Meiryo" pitchFamily="34" charset="0"/>
                <a:ea typeface="Meiryo" pitchFamily="34" charset="-122"/>
                <a:cs typeface="Meiryo" pitchFamily="34" charset="-120"/>
              </a:rPr>
              <a:t>先に決めるべきは、系列店との90%精算の合意です。ここが動くと、還元率もレートも全部動きます。</a:t>
            </a:r>
            <a:endParaRPr lang="en-US" sz="12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000000"/>
        </a:solidFill>
      </p:bgPr>
    </p:bg>
    <p:spTree>
      <p:nvGrpSpPr>
        <p:cNvPr id="1" name=""/>
        <p:cNvGrpSpPr/>
        <p:nvPr/>
      </p:nvGrpSpPr>
      <p:grpSpPr>
        <a:xfrm>
          <a:off x="0" y="0"/>
          <a:ext cx="0" cy="0"/>
          <a:chOff x="0" y="0"/>
          <a:chExt cx="0" cy="0"/>
        </a:xfrm>
      </p:grpSpPr>
      <p:sp>
        <p:nvSpPr>
          <p:cNvPr id="2" name="Text 0"/>
          <p:cNvSpPr txBox="1"/>
          <p:nvPr/>
        </p:nvSpPr>
        <p:spPr>
          <a:xfrm>
            <a:off x="566928" y="310896"/>
            <a:ext cx="11027664" cy="237744"/>
          </a:xfrm>
          <a:prstGeom prst="rect">
            <a:avLst/>
          </a:prstGeom>
          <a:noFill/>
          <a:ln/>
        </p:spPr>
        <p:txBody>
          <a:bodyPr wrap="square" lIns="0" tIns="0" rIns="0" bIns="0" rtlCol="0" anchor="ctr"/>
          <a:lstStyle/>
          <a:p>
            <a:pPr indent="0" marL="0">
              <a:buNone/>
            </a:pPr>
            <a:r>
              <a:rPr lang="en-US" sz="1050" b="1" spc="300" kern="0" dirty="0">
                <a:solidFill>
                  <a:srgbClr val="C9A227"/>
                </a:solidFill>
                <a:latin typeface="Arial" pitchFamily="34" charset="0"/>
                <a:ea typeface="Arial" pitchFamily="34" charset="-122"/>
                <a:cs typeface="Arial" pitchFamily="34" charset="-120"/>
              </a:rPr>
              <a:t>NEXT ACTION</a:t>
            </a:r>
            <a:endParaRPr lang="en-US" sz="1050" dirty="0"/>
          </a:p>
        </p:txBody>
      </p:sp>
      <p:sp>
        <p:nvSpPr>
          <p:cNvPr id="3" name="Text 1"/>
          <p:cNvSpPr txBox="1"/>
          <p:nvPr/>
        </p:nvSpPr>
        <p:spPr>
          <a:xfrm>
            <a:off x="566928" y="566928"/>
            <a:ext cx="11027664" cy="548640"/>
          </a:xfrm>
          <a:prstGeom prst="rect">
            <a:avLst/>
          </a:prstGeom>
          <a:noFill/>
          <a:ln/>
        </p:spPr>
        <p:txBody>
          <a:bodyPr wrap="square" lIns="0" tIns="0" rIns="0" bIns="0" rtlCol="0" anchor="ctr"/>
          <a:lstStyle/>
          <a:p>
            <a:pPr indent="0" marL="0">
              <a:buNone/>
            </a:pPr>
            <a:r>
              <a:rPr lang="en-US" sz="2900" b="1" dirty="0">
                <a:solidFill>
                  <a:srgbClr val="F2EDE6"/>
                </a:solidFill>
                <a:latin typeface="Meiryo" pitchFamily="34" charset="0"/>
                <a:ea typeface="Meiryo" pitchFamily="34" charset="-122"/>
                <a:cs typeface="Meiryo" pitchFamily="34" charset="-120"/>
              </a:rPr>
              <a:t>次に決めるべきこと</a:t>
            </a:r>
            <a:endParaRPr lang="en-US" sz="2900" dirty="0"/>
          </a:p>
        </p:txBody>
      </p:sp>
      <p:sp>
        <p:nvSpPr>
          <p:cNvPr id="4" name="Text 2"/>
          <p:cNvSpPr txBox="1"/>
          <p:nvPr/>
        </p:nvSpPr>
        <p:spPr>
          <a:xfrm>
            <a:off x="566928" y="1152144"/>
            <a:ext cx="11027664" cy="310896"/>
          </a:xfrm>
          <a:prstGeom prst="rect">
            <a:avLst/>
          </a:prstGeom>
          <a:noFill/>
          <a:ln/>
        </p:spPr>
        <p:txBody>
          <a:bodyPr wrap="square" lIns="0" tIns="0" rIns="0" bIns="0" rtlCol="0" anchor="ctr"/>
          <a:lstStyle/>
          <a:p>
            <a:pPr indent="0" marL="0">
              <a:buNone/>
            </a:pPr>
            <a:r>
              <a:rPr lang="en-US" sz="1300" dirty="0">
                <a:solidFill>
                  <a:srgbClr val="A2908C"/>
                </a:solidFill>
                <a:latin typeface="Meiryo" pitchFamily="34" charset="0"/>
                <a:ea typeface="Meiryo" pitchFamily="34" charset="-122"/>
                <a:cs typeface="Meiryo" pitchFamily="34" charset="-120"/>
              </a:rPr>
              <a:t>この6つが決まれば、マイル制度を確定してローンチの準備に入れます。</a:t>
            </a:r>
            <a:endParaRPr lang="en-US" sz="1300" dirty="0"/>
          </a:p>
        </p:txBody>
      </p:sp>
      <p:sp>
        <p:nvSpPr>
          <p:cNvPr id="5" name="Text 3"/>
          <p:cNvSpPr txBox="1"/>
          <p:nvPr/>
        </p:nvSpPr>
        <p:spPr>
          <a:xfrm>
            <a:off x="566928" y="6437376"/>
            <a:ext cx="4572000" cy="219456"/>
          </a:xfrm>
          <a:prstGeom prst="rect">
            <a:avLst/>
          </a:prstGeom>
          <a:noFill/>
          <a:ln/>
        </p:spPr>
        <p:txBody>
          <a:bodyPr wrap="square" lIns="0" tIns="0" rIns="0" bIns="0" rtlCol="0" anchor="ctr"/>
          <a:lstStyle/>
          <a:p>
            <a:pPr indent="0" marL="0">
              <a:buNone/>
            </a:pPr>
            <a:r>
              <a:rPr lang="en-US" sz="850" dirty="0">
                <a:solidFill>
                  <a:srgbClr val="6B5A5F"/>
                </a:solidFill>
                <a:latin typeface="Arial" pitchFamily="34" charset="0"/>
                <a:ea typeface="Arial" pitchFamily="34" charset="-122"/>
                <a:cs typeface="Arial" pitchFamily="34" charset="-120"/>
              </a:rPr>
              <a:t>WineBank CONFIDENTIAL</a:t>
            </a:r>
            <a:endParaRPr lang="en-US" sz="850" dirty="0"/>
          </a:p>
        </p:txBody>
      </p:sp>
      <p:sp>
        <p:nvSpPr>
          <p:cNvPr id="6" name="Text 4"/>
          <p:cNvSpPr txBox="1"/>
          <p:nvPr/>
        </p:nvSpPr>
        <p:spPr>
          <a:xfrm>
            <a:off x="566928" y="1645920"/>
            <a:ext cx="5394960" cy="292608"/>
          </a:xfrm>
          <a:prstGeom prst="rect">
            <a:avLst/>
          </a:prstGeom>
          <a:noFill/>
          <a:ln/>
        </p:spPr>
        <p:txBody>
          <a:bodyPr wrap="square" lIns="0" tIns="0" rIns="0" bIns="0" rtlCol="0" anchor="ctr"/>
          <a:lstStyle/>
          <a:p>
            <a:pPr indent="0" marL="0">
              <a:buNone/>
            </a:pPr>
            <a:r>
              <a:rPr lang="en-US" sz="1500" b="1" dirty="0">
                <a:solidFill>
                  <a:srgbClr val="C9A227"/>
                </a:solidFill>
                <a:latin typeface="Meiryo" pitchFamily="34" charset="0"/>
                <a:ea typeface="Meiryo" pitchFamily="34" charset="-122"/>
                <a:cs typeface="Meiryo" pitchFamily="34" charset="-120"/>
              </a:rPr>
              <a:t>経営判断が必要な3点</a:t>
            </a:r>
            <a:endParaRPr lang="en-US" sz="1500" dirty="0"/>
          </a:p>
        </p:txBody>
      </p:sp>
      <p:sp>
        <p:nvSpPr>
          <p:cNvPr id="7" name="Shape 5"/>
          <p:cNvSpPr/>
          <p:nvPr/>
        </p:nvSpPr>
        <p:spPr>
          <a:xfrm>
            <a:off x="566928" y="2029968"/>
            <a:ext cx="5394960" cy="1060704"/>
          </a:xfrm>
          <a:prstGeom prst="roundRect">
            <a:avLst>
              <a:gd name="adj" fmla="val 5172"/>
            </a:avLst>
          </a:prstGeom>
          <a:solidFill>
            <a:srgbClr val="261A24"/>
          </a:solidFill>
          <a:ln w="12700">
            <a:solidFill>
              <a:srgbClr val="261A24"/>
            </a:solidFill>
            <a:prstDash val="solid"/>
          </a:ln>
          <a:effectLst>
            <a:outerShdw sx="100000" sy="100000" kx="0" ky="0" algn="bl" rotWithShape="0" blurRad="127000" dist="25400" dir="5400000">
              <a:srgbClr val="000000">
                <a:alpha val="35000"/>
              </a:srgbClr>
            </a:outerShdw>
          </a:effectLst>
        </p:spPr>
      </p:sp>
      <p:sp>
        <p:nvSpPr>
          <p:cNvPr id="8" name="Shape 6"/>
          <p:cNvSpPr/>
          <p:nvPr/>
        </p:nvSpPr>
        <p:spPr>
          <a:xfrm>
            <a:off x="841248" y="2212848"/>
            <a:ext cx="329184" cy="329184"/>
          </a:xfrm>
          <a:prstGeom prst="ellipse">
            <a:avLst/>
          </a:prstGeom>
          <a:solidFill>
            <a:srgbClr val="C9A227"/>
          </a:solidFill>
          <a:ln w="12700">
            <a:solidFill>
              <a:srgbClr val="C9A227"/>
            </a:solidFill>
            <a:prstDash val="solid"/>
          </a:ln>
        </p:spPr>
      </p:sp>
      <p:sp>
        <p:nvSpPr>
          <p:cNvPr id="9" name="Text 7"/>
          <p:cNvSpPr txBox="1"/>
          <p:nvPr/>
        </p:nvSpPr>
        <p:spPr>
          <a:xfrm>
            <a:off x="841248" y="2212848"/>
            <a:ext cx="329184" cy="329184"/>
          </a:xfrm>
          <a:prstGeom prst="rect">
            <a:avLst/>
          </a:prstGeom>
          <a:noFill/>
          <a:ln/>
        </p:spPr>
        <p:txBody>
          <a:bodyPr wrap="square" lIns="0" tIns="0" rIns="0" bIns="0" rtlCol="0" anchor="ctr"/>
          <a:lstStyle/>
          <a:p>
            <a:pPr algn="ctr" indent="0" marL="0">
              <a:buNone/>
            </a:pPr>
            <a:r>
              <a:rPr lang="en-US" sz="1300" b="1" dirty="0">
                <a:solidFill>
                  <a:srgbClr val="000000"/>
                </a:solidFill>
                <a:latin typeface="Arial" pitchFamily="34" charset="0"/>
                <a:ea typeface="Arial" pitchFamily="34" charset="-122"/>
                <a:cs typeface="Arial" pitchFamily="34" charset="-120"/>
              </a:rPr>
              <a:t>1</a:t>
            </a:r>
            <a:endParaRPr lang="en-US" sz="1300" dirty="0"/>
          </a:p>
        </p:txBody>
      </p:sp>
      <p:sp>
        <p:nvSpPr>
          <p:cNvPr id="10" name="Text 8"/>
          <p:cNvSpPr txBox="1"/>
          <p:nvPr/>
        </p:nvSpPr>
        <p:spPr>
          <a:xfrm>
            <a:off x="1298448" y="2231136"/>
            <a:ext cx="4480560" cy="274320"/>
          </a:xfrm>
          <a:prstGeom prst="rect">
            <a:avLst/>
          </a:prstGeom>
          <a:noFill/>
          <a:ln/>
        </p:spPr>
        <p:txBody>
          <a:bodyPr wrap="square" lIns="0" tIns="0" rIns="0" bIns="0" rtlCol="0" anchor="ctr"/>
          <a:lstStyle/>
          <a:p>
            <a:pPr indent="0" marL="0">
              <a:buNone/>
            </a:pPr>
            <a:r>
              <a:rPr lang="en-US" sz="1350" b="1" dirty="0">
                <a:solidFill>
                  <a:srgbClr val="E8CE78"/>
                </a:solidFill>
                <a:latin typeface="Meiryo" pitchFamily="34" charset="0"/>
                <a:ea typeface="Meiryo" pitchFamily="34" charset="-122"/>
                <a:cs typeface="Meiryo" pitchFamily="34" charset="-120"/>
              </a:rPr>
              <a:t>マイルの付与タイミング</a:t>
            </a:r>
            <a:endParaRPr lang="en-US" sz="1350" dirty="0"/>
          </a:p>
        </p:txBody>
      </p:sp>
      <p:sp>
        <p:nvSpPr>
          <p:cNvPr id="11" name="Text 9"/>
          <p:cNvSpPr txBox="1"/>
          <p:nvPr/>
        </p:nvSpPr>
        <p:spPr>
          <a:xfrm>
            <a:off x="841248" y="2578608"/>
            <a:ext cx="4846320" cy="438912"/>
          </a:xfrm>
          <a:prstGeom prst="rect">
            <a:avLst/>
          </a:prstGeom>
          <a:noFill/>
          <a:ln/>
        </p:spPr>
        <p:txBody>
          <a:bodyPr wrap="square" lIns="0" tIns="0" rIns="0" bIns="0" rtlCol="0" anchor="ctr"/>
          <a:lstStyle/>
          <a:p>
            <a:pPr indent="0" marL="0">
              <a:lnSpc>
                <a:spcPts val="1500"/>
              </a:lnSpc>
              <a:buNone/>
            </a:pPr>
            <a:r>
              <a:rPr lang="en-US" sz="1050" dirty="0">
                <a:solidFill>
                  <a:srgbClr val="A2908C"/>
                </a:solidFill>
                <a:latin typeface="Meiryo" pitchFamily="34" charset="0"/>
                <a:ea typeface="Meiryo" pitchFamily="34" charset="-122"/>
                <a:cs typeface="Meiryo" pitchFamily="34" charset="-120"/>
              </a:rPr>
              <a:t>月割の後付与を採るか。年一括のままなら、持込ワインの裁定を塞ぐ別のルール（ロック・飲用上限）が要ります。</a:t>
            </a:r>
            <a:endParaRPr lang="en-US" sz="1050" dirty="0"/>
          </a:p>
        </p:txBody>
      </p:sp>
      <p:sp>
        <p:nvSpPr>
          <p:cNvPr id="12" name="Shape 10"/>
          <p:cNvSpPr/>
          <p:nvPr/>
        </p:nvSpPr>
        <p:spPr>
          <a:xfrm>
            <a:off x="566928" y="3218688"/>
            <a:ext cx="5394960" cy="1060704"/>
          </a:xfrm>
          <a:prstGeom prst="roundRect">
            <a:avLst>
              <a:gd name="adj" fmla="val 5172"/>
            </a:avLst>
          </a:prstGeom>
          <a:solidFill>
            <a:srgbClr val="261A24"/>
          </a:solidFill>
          <a:ln w="12700">
            <a:solidFill>
              <a:srgbClr val="261A24"/>
            </a:solidFill>
            <a:prstDash val="solid"/>
          </a:ln>
          <a:effectLst>
            <a:outerShdw sx="100000" sy="100000" kx="0" ky="0" algn="bl" rotWithShape="0" blurRad="127000" dist="25400" dir="5400000">
              <a:srgbClr val="000000">
                <a:alpha val="35000"/>
              </a:srgbClr>
            </a:outerShdw>
          </a:effectLst>
        </p:spPr>
      </p:sp>
      <p:sp>
        <p:nvSpPr>
          <p:cNvPr id="13" name="Shape 11"/>
          <p:cNvSpPr/>
          <p:nvPr/>
        </p:nvSpPr>
        <p:spPr>
          <a:xfrm>
            <a:off x="841248" y="3401568"/>
            <a:ext cx="329184" cy="329184"/>
          </a:xfrm>
          <a:prstGeom prst="ellipse">
            <a:avLst/>
          </a:prstGeom>
          <a:solidFill>
            <a:srgbClr val="C9A227"/>
          </a:solidFill>
          <a:ln w="12700">
            <a:solidFill>
              <a:srgbClr val="C9A227"/>
            </a:solidFill>
            <a:prstDash val="solid"/>
          </a:ln>
        </p:spPr>
      </p:sp>
      <p:sp>
        <p:nvSpPr>
          <p:cNvPr id="14" name="Text 12"/>
          <p:cNvSpPr txBox="1"/>
          <p:nvPr/>
        </p:nvSpPr>
        <p:spPr>
          <a:xfrm>
            <a:off x="841248" y="3401568"/>
            <a:ext cx="329184" cy="329184"/>
          </a:xfrm>
          <a:prstGeom prst="rect">
            <a:avLst/>
          </a:prstGeom>
          <a:noFill/>
          <a:ln/>
        </p:spPr>
        <p:txBody>
          <a:bodyPr wrap="square" lIns="0" tIns="0" rIns="0" bIns="0" rtlCol="0" anchor="ctr"/>
          <a:lstStyle/>
          <a:p>
            <a:pPr algn="ctr" indent="0" marL="0">
              <a:buNone/>
            </a:pPr>
            <a:r>
              <a:rPr lang="en-US" sz="1300" b="1" dirty="0">
                <a:solidFill>
                  <a:srgbClr val="000000"/>
                </a:solidFill>
                <a:latin typeface="Arial" pitchFamily="34" charset="0"/>
                <a:ea typeface="Arial" pitchFamily="34" charset="-122"/>
                <a:cs typeface="Arial" pitchFamily="34" charset="-120"/>
              </a:rPr>
              <a:t>2</a:t>
            </a:r>
            <a:endParaRPr lang="en-US" sz="1300" dirty="0"/>
          </a:p>
        </p:txBody>
      </p:sp>
      <p:sp>
        <p:nvSpPr>
          <p:cNvPr id="15" name="Text 13"/>
          <p:cNvSpPr txBox="1"/>
          <p:nvPr/>
        </p:nvSpPr>
        <p:spPr>
          <a:xfrm>
            <a:off x="1298448" y="3419856"/>
            <a:ext cx="4480560" cy="274320"/>
          </a:xfrm>
          <a:prstGeom prst="rect">
            <a:avLst/>
          </a:prstGeom>
          <a:noFill/>
          <a:ln/>
        </p:spPr>
        <p:txBody>
          <a:bodyPr wrap="square" lIns="0" tIns="0" rIns="0" bIns="0" rtlCol="0" anchor="ctr"/>
          <a:lstStyle/>
          <a:p>
            <a:pPr indent="0" marL="0">
              <a:buNone/>
            </a:pPr>
            <a:r>
              <a:rPr lang="en-US" sz="1350" b="1" dirty="0">
                <a:solidFill>
                  <a:srgbClr val="E8CE78"/>
                </a:solidFill>
                <a:latin typeface="Meiryo" pitchFamily="34" charset="0"/>
                <a:ea typeface="Meiryo" pitchFamily="34" charset="-122"/>
                <a:cs typeface="Meiryo" pitchFamily="34" charset="-120"/>
              </a:rPr>
              <a:t>SIGNATUREの還元率</a:t>
            </a:r>
            <a:endParaRPr lang="en-US" sz="1350" dirty="0"/>
          </a:p>
        </p:txBody>
      </p:sp>
      <p:sp>
        <p:nvSpPr>
          <p:cNvPr id="16" name="Text 14"/>
          <p:cNvSpPr txBox="1"/>
          <p:nvPr/>
        </p:nvSpPr>
        <p:spPr>
          <a:xfrm>
            <a:off x="841248" y="3767328"/>
            <a:ext cx="4846320" cy="438912"/>
          </a:xfrm>
          <a:prstGeom prst="rect">
            <a:avLst/>
          </a:prstGeom>
          <a:noFill/>
          <a:ln/>
        </p:spPr>
        <p:txBody>
          <a:bodyPr wrap="square" lIns="0" tIns="0" rIns="0" bIns="0" rtlCol="0" anchor="ctr"/>
          <a:lstStyle/>
          <a:p>
            <a:pPr indent="0" marL="0">
              <a:lnSpc>
                <a:spcPts val="1500"/>
              </a:lnSpc>
              <a:buNone/>
            </a:pPr>
            <a:r>
              <a:rPr lang="en-US" sz="1050" dirty="0">
                <a:solidFill>
                  <a:srgbClr val="A2908C"/>
                </a:solidFill>
                <a:latin typeface="Meiryo" pitchFamily="34" charset="0"/>
                <a:ea typeface="Meiryo" pitchFamily="34" charset="-122"/>
                <a:cs typeface="Meiryo" pitchFamily="34" charset="-120"/>
              </a:rPr>
              <a:t>6%維持か5%か。5%なら当社の現金は年▲8.7万→▲3.6万に改善しますが、GOLDと同率になります。</a:t>
            </a:r>
            <a:endParaRPr lang="en-US" sz="1050" dirty="0"/>
          </a:p>
        </p:txBody>
      </p:sp>
      <p:sp>
        <p:nvSpPr>
          <p:cNvPr id="17" name="Shape 15"/>
          <p:cNvSpPr/>
          <p:nvPr/>
        </p:nvSpPr>
        <p:spPr>
          <a:xfrm>
            <a:off x="566928" y="4407408"/>
            <a:ext cx="5394960" cy="1060704"/>
          </a:xfrm>
          <a:prstGeom prst="roundRect">
            <a:avLst>
              <a:gd name="adj" fmla="val 5172"/>
            </a:avLst>
          </a:prstGeom>
          <a:solidFill>
            <a:srgbClr val="261A24"/>
          </a:solidFill>
          <a:ln w="12700">
            <a:solidFill>
              <a:srgbClr val="261A24"/>
            </a:solidFill>
            <a:prstDash val="solid"/>
          </a:ln>
          <a:effectLst>
            <a:outerShdw sx="100000" sy="100000" kx="0" ky="0" algn="bl" rotWithShape="0" blurRad="127000" dist="25400" dir="5400000">
              <a:srgbClr val="000000">
                <a:alpha val="35000"/>
              </a:srgbClr>
            </a:outerShdw>
          </a:effectLst>
        </p:spPr>
      </p:sp>
      <p:sp>
        <p:nvSpPr>
          <p:cNvPr id="18" name="Shape 16"/>
          <p:cNvSpPr/>
          <p:nvPr/>
        </p:nvSpPr>
        <p:spPr>
          <a:xfrm>
            <a:off x="841248" y="4590288"/>
            <a:ext cx="329184" cy="329184"/>
          </a:xfrm>
          <a:prstGeom prst="ellipse">
            <a:avLst/>
          </a:prstGeom>
          <a:solidFill>
            <a:srgbClr val="C9A227"/>
          </a:solidFill>
          <a:ln w="12700">
            <a:solidFill>
              <a:srgbClr val="C9A227"/>
            </a:solidFill>
            <a:prstDash val="solid"/>
          </a:ln>
        </p:spPr>
      </p:sp>
      <p:sp>
        <p:nvSpPr>
          <p:cNvPr id="19" name="Text 17"/>
          <p:cNvSpPr txBox="1"/>
          <p:nvPr/>
        </p:nvSpPr>
        <p:spPr>
          <a:xfrm>
            <a:off x="841248" y="4590288"/>
            <a:ext cx="329184" cy="329184"/>
          </a:xfrm>
          <a:prstGeom prst="rect">
            <a:avLst/>
          </a:prstGeom>
          <a:noFill/>
          <a:ln/>
        </p:spPr>
        <p:txBody>
          <a:bodyPr wrap="square" lIns="0" tIns="0" rIns="0" bIns="0" rtlCol="0" anchor="ctr"/>
          <a:lstStyle/>
          <a:p>
            <a:pPr algn="ctr" indent="0" marL="0">
              <a:buNone/>
            </a:pPr>
            <a:r>
              <a:rPr lang="en-US" sz="1300" b="1" dirty="0">
                <a:solidFill>
                  <a:srgbClr val="000000"/>
                </a:solidFill>
                <a:latin typeface="Arial" pitchFamily="34" charset="0"/>
                <a:ea typeface="Arial" pitchFamily="34" charset="-122"/>
                <a:cs typeface="Arial" pitchFamily="34" charset="-120"/>
              </a:rPr>
              <a:t>3</a:t>
            </a:r>
            <a:endParaRPr lang="en-US" sz="1300" dirty="0"/>
          </a:p>
        </p:txBody>
      </p:sp>
      <p:sp>
        <p:nvSpPr>
          <p:cNvPr id="20" name="Text 18"/>
          <p:cNvSpPr txBox="1"/>
          <p:nvPr/>
        </p:nvSpPr>
        <p:spPr>
          <a:xfrm>
            <a:off x="1298448" y="4608576"/>
            <a:ext cx="4480560" cy="274320"/>
          </a:xfrm>
          <a:prstGeom prst="rect">
            <a:avLst/>
          </a:prstGeom>
          <a:noFill/>
          <a:ln/>
        </p:spPr>
        <p:txBody>
          <a:bodyPr wrap="square" lIns="0" tIns="0" rIns="0" bIns="0" rtlCol="0" anchor="ctr"/>
          <a:lstStyle/>
          <a:p>
            <a:pPr indent="0" marL="0">
              <a:buNone/>
            </a:pPr>
            <a:r>
              <a:rPr lang="en-US" sz="1350" b="1" dirty="0">
                <a:solidFill>
                  <a:srgbClr val="E8CE78"/>
                </a:solidFill>
                <a:latin typeface="Meiryo" pitchFamily="34" charset="0"/>
                <a:ea typeface="Meiryo" pitchFamily="34" charset="-122"/>
                <a:cs typeface="Meiryo" pitchFamily="34" charset="-120"/>
              </a:rPr>
              <a:t>直営店との90%精算の合意</a:t>
            </a:r>
            <a:endParaRPr lang="en-US" sz="1350" dirty="0"/>
          </a:p>
        </p:txBody>
      </p:sp>
      <p:sp>
        <p:nvSpPr>
          <p:cNvPr id="21" name="Text 19"/>
          <p:cNvSpPr txBox="1"/>
          <p:nvPr/>
        </p:nvSpPr>
        <p:spPr>
          <a:xfrm>
            <a:off x="841248" y="4956048"/>
            <a:ext cx="4846320" cy="438912"/>
          </a:xfrm>
          <a:prstGeom prst="rect">
            <a:avLst/>
          </a:prstGeom>
          <a:noFill/>
          <a:ln/>
        </p:spPr>
        <p:txBody>
          <a:bodyPr wrap="square" lIns="0" tIns="0" rIns="0" bIns="0" rtlCol="0" anchor="ctr"/>
          <a:lstStyle/>
          <a:p>
            <a:pPr indent="0" marL="0">
              <a:lnSpc>
                <a:spcPts val="1500"/>
              </a:lnSpc>
              <a:buNone/>
            </a:pPr>
            <a:r>
              <a:rPr lang="en-US" sz="1050" dirty="0">
                <a:solidFill>
                  <a:srgbClr val="A2908C"/>
                </a:solidFill>
                <a:latin typeface="Meiryo" pitchFamily="34" charset="0"/>
                <a:ea typeface="Meiryo" pitchFamily="34" charset="-122"/>
                <a:cs typeface="Meiryo" pitchFamily="34" charset="-120"/>
              </a:rPr>
              <a:t>単体では直営飲食1.0円の経路が最も重い。連結で見る前提を経営として固める必要があります。</a:t>
            </a:r>
            <a:endParaRPr lang="en-US" sz="1050" dirty="0"/>
          </a:p>
        </p:txBody>
      </p:sp>
      <p:sp>
        <p:nvSpPr>
          <p:cNvPr id="22" name="Text 20"/>
          <p:cNvSpPr txBox="1"/>
          <p:nvPr/>
        </p:nvSpPr>
        <p:spPr>
          <a:xfrm>
            <a:off x="6199632" y="1645920"/>
            <a:ext cx="5394960" cy="292608"/>
          </a:xfrm>
          <a:prstGeom prst="rect">
            <a:avLst/>
          </a:prstGeom>
          <a:noFill/>
          <a:ln/>
        </p:spPr>
        <p:txBody>
          <a:bodyPr wrap="square" lIns="0" tIns="0" rIns="0" bIns="0" rtlCol="0" anchor="ctr"/>
          <a:lstStyle/>
          <a:p>
            <a:pPr indent="0" marL="0">
              <a:buNone/>
            </a:pPr>
            <a:r>
              <a:rPr lang="en-US" sz="1500" b="1" dirty="0">
                <a:solidFill>
                  <a:srgbClr val="C9A227"/>
                </a:solidFill>
                <a:latin typeface="Meiryo" pitchFamily="34" charset="0"/>
                <a:ea typeface="Meiryo" pitchFamily="34" charset="-122"/>
                <a:cs typeface="Meiryo" pitchFamily="34" charset="-120"/>
              </a:rPr>
              <a:t>確認・提供いただきたい3点</a:t>
            </a:r>
            <a:endParaRPr lang="en-US" sz="1500" dirty="0"/>
          </a:p>
        </p:txBody>
      </p:sp>
      <p:sp>
        <p:nvSpPr>
          <p:cNvPr id="23" name="Shape 21"/>
          <p:cNvSpPr/>
          <p:nvPr/>
        </p:nvSpPr>
        <p:spPr>
          <a:xfrm>
            <a:off x="6199632" y="2029968"/>
            <a:ext cx="5394960" cy="1060704"/>
          </a:xfrm>
          <a:prstGeom prst="roundRect">
            <a:avLst>
              <a:gd name="adj" fmla="val 5172"/>
            </a:avLst>
          </a:prstGeom>
          <a:solidFill>
            <a:srgbClr val="17111A"/>
          </a:solidFill>
          <a:ln w="12700">
            <a:solidFill>
              <a:srgbClr val="17111A"/>
            </a:solidFill>
            <a:prstDash val="solid"/>
          </a:ln>
          <a:effectLst>
            <a:outerShdw sx="100000" sy="100000" kx="0" ky="0" algn="bl" rotWithShape="0" blurRad="127000" dist="25400" dir="5400000">
              <a:srgbClr val="000000">
                <a:alpha val="35000"/>
              </a:srgbClr>
            </a:outerShdw>
          </a:effectLst>
        </p:spPr>
      </p:sp>
      <p:sp>
        <p:nvSpPr>
          <p:cNvPr id="24" name="Shape 22"/>
          <p:cNvSpPr/>
          <p:nvPr/>
        </p:nvSpPr>
        <p:spPr>
          <a:xfrm>
            <a:off x="6473952" y="2212848"/>
            <a:ext cx="329184" cy="329184"/>
          </a:xfrm>
          <a:prstGeom prst="ellipse">
            <a:avLst/>
          </a:prstGeom>
          <a:solidFill>
            <a:srgbClr val="C9A227"/>
          </a:solidFill>
          <a:ln w="12700">
            <a:solidFill>
              <a:srgbClr val="C9A227"/>
            </a:solidFill>
            <a:prstDash val="solid"/>
          </a:ln>
        </p:spPr>
      </p:sp>
      <p:sp>
        <p:nvSpPr>
          <p:cNvPr id="25" name="Text 23"/>
          <p:cNvSpPr txBox="1"/>
          <p:nvPr/>
        </p:nvSpPr>
        <p:spPr>
          <a:xfrm>
            <a:off x="6473952" y="2212848"/>
            <a:ext cx="329184" cy="329184"/>
          </a:xfrm>
          <a:prstGeom prst="rect">
            <a:avLst/>
          </a:prstGeom>
          <a:noFill/>
          <a:ln/>
        </p:spPr>
        <p:txBody>
          <a:bodyPr wrap="square" lIns="0" tIns="0" rIns="0" bIns="0" rtlCol="0" anchor="ctr"/>
          <a:lstStyle/>
          <a:p>
            <a:pPr algn="ctr" indent="0" marL="0">
              <a:buNone/>
            </a:pPr>
            <a:r>
              <a:rPr lang="en-US" sz="1300" b="1" dirty="0">
                <a:solidFill>
                  <a:srgbClr val="000000"/>
                </a:solidFill>
                <a:latin typeface="Arial" pitchFamily="34" charset="0"/>
                <a:ea typeface="Arial" pitchFamily="34" charset="-122"/>
                <a:cs typeface="Arial" pitchFamily="34" charset="-120"/>
              </a:rPr>
              <a:t>1</a:t>
            </a:r>
            <a:endParaRPr lang="en-US" sz="1300" dirty="0"/>
          </a:p>
        </p:txBody>
      </p:sp>
      <p:sp>
        <p:nvSpPr>
          <p:cNvPr id="26" name="Text 24"/>
          <p:cNvSpPr txBox="1"/>
          <p:nvPr/>
        </p:nvSpPr>
        <p:spPr>
          <a:xfrm>
            <a:off x="6931152" y="2231136"/>
            <a:ext cx="4480560" cy="274320"/>
          </a:xfrm>
          <a:prstGeom prst="rect">
            <a:avLst/>
          </a:prstGeom>
          <a:noFill/>
          <a:ln/>
        </p:spPr>
        <p:txBody>
          <a:bodyPr wrap="square" lIns="0" tIns="0" rIns="0" bIns="0" rtlCol="0" anchor="ctr"/>
          <a:lstStyle/>
          <a:p>
            <a:pPr indent="0" marL="0">
              <a:buNone/>
            </a:pPr>
            <a:r>
              <a:rPr lang="en-US" sz="1350" b="1" dirty="0">
                <a:solidFill>
                  <a:srgbClr val="E8CE78"/>
                </a:solidFill>
                <a:latin typeface="Meiryo" pitchFamily="34" charset="0"/>
                <a:ea typeface="Meiryo" pitchFamily="34" charset="-122"/>
                <a:cs typeface="Meiryo" pitchFamily="34" charset="-120"/>
              </a:rPr>
              <a:t>WineBank CLUBの実数</a:t>
            </a:r>
            <a:endParaRPr lang="en-US" sz="1350" dirty="0"/>
          </a:p>
        </p:txBody>
      </p:sp>
      <p:sp>
        <p:nvSpPr>
          <p:cNvPr id="27" name="Text 25"/>
          <p:cNvSpPr txBox="1"/>
          <p:nvPr/>
        </p:nvSpPr>
        <p:spPr>
          <a:xfrm>
            <a:off x="6473952" y="2578608"/>
            <a:ext cx="4846320" cy="438912"/>
          </a:xfrm>
          <a:prstGeom prst="rect">
            <a:avLst/>
          </a:prstGeom>
          <a:noFill/>
          <a:ln/>
        </p:spPr>
        <p:txBody>
          <a:bodyPr wrap="square" lIns="0" tIns="0" rIns="0" bIns="0" rtlCol="0" anchor="ctr"/>
          <a:lstStyle/>
          <a:p>
            <a:pPr indent="0" marL="0">
              <a:lnSpc>
                <a:spcPts val="1500"/>
              </a:lnSpc>
              <a:buNone/>
            </a:pPr>
            <a:r>
              <a:rPr lang="en-US" sz="1050" dirty="0">
                <a:solidFill>
                  <a:srgbClr val="A2908C"/>
                </a:solidFill>
                <a:latin typeface="Meiryo" pitchFamily="34" charset="0"/>
                <a:ea typeface="Meiryo" pitchFamily="34" charset="-122"/>
                <a:cs typeface="Meiryo" pitchFamily="34" charset="-120"/>
              </a:rPr>
              <a:t>ランク別の年会費・特典・提携店数。BLACKの特典内容がSIGNATUREの購買動機を決めます。</a:t>
            </a:r>
            <a:endParaRPr lang="en-US" sz="1050" dirty="0"/>
          </a:p>
        </p:txBody>
      </p:sp>
      <p:sp>
        <p:nvSpPr>
          <p:cNvPr id="28" name="Shape 26"/>
          <p:cNvSpPr/>
          <p:nvPr/>
        </p:nvSpPr>
        <p:spPr>
          <a:xfrm>
            <a:off x="6199632" y="3218688"/>
            <a:ext cx="5394960" cy="1060704"/>
          </a:xfrm>
          <a:prstGeom prst="roundRect">
            <a:avLst>
              <a:gd name="adj" fmla="val 5172"/>
            </a:avLst>
          </a:prstGeom>
          <a:solidFill>
            <a:srgbClr val="17111A"/>
          </a:solidFill>
          <a:ln w="12700">
            <a:solidFill>
              <a:srgbClr val="17111A"/>
            </a:solidFill>
            <a:prstDash val="solid"/>
          </a:ln>
          <a:effectLst>
            <a:outerShdw sx="100000" sy="100000" kx="0" ky="0" algn="bl" rotWithShape="0" blurRad="127000" dist="25400" dir="5400000">
              <a:srgbClr val="000000">
                <a:alpha val="35000"/>
              </a:srgbClr>
            </a:outerShdw>
          </a:effectLst>
        </p:spPr>
      </p:sp>
      <p:sp>
        <p:nvSpPr>
          <p:cNvPr id="29" name="Shape 27"/>
          <p:cNvSpPr/>
          <p:nvPr/>
        </p:nvSpPr>
        <p:spPr>
          <a:xfrm>
            <a:off x="6473952" y="3401568"/>
            <a:ext cx="329184" cy="329184"/>
          </a:xfrm>
          <a:prstGeom prst="ellipse">
            <a:avLst/>
          </a:prstGeom>
          <a:solidFill>
            <a:srgbClr val="C9A227"/>
          </a:solidFill>
          <a:ln w="12700">
            <a:solidFill>
              <a:srgbClr val="C9A227"/>
            </a:solidFill>
            <a:prstDash val="solid"/>
          </a:ln>
        </p:spPr>
      </p:sp>
      <p:sp>
        <p:nvSpPr>
          <p:cNvPr id="30" name="Text 28"/>
          <p:cNvSpPr txBox="1"/>
          <p:nvPr/>
        </p:nvSpPr>
        <p:spPr>
          <a:xfrm>
            <a:off x="6473952" y="3401568"/>
            <a:ext cx="329184" cy="329184"/>
          </a:xfrm>
          <a:prstGeom prst="rect">
            <a:avLst/>
          </a:prstGeom>
          <a:noFill/>
          <a:ln/>
        </p:spPr>
        <p:txBody>
          <a:bodyPr wrap="square" lIns="0" tIns="0" rIns="0" bIns="0" rtlCol="0" anchor="ctr"/>
          <a:lstStyle/>
          <a:p>
            <a:pPr algn="ctr" indent="0" marL="0">
              <a:buNone/>
            </a:pPr>
            <a:r>
              <a:rPr lang="en-US" sz="1300" b="1" dirty="0">
                <a:solidFill>
                  <a:srgbClr val="000000"/>
                </a:solidFill>
                <a:latin typeface="Arial" pitchFamily="34" charset="0"/>
                <a:ea typeface="Arial" pitchFamily="34" charset="-122"/>
                <a:cs typeface="Arial" pitchFamily="34" charset="-120"/>
              </a:rPr>
              <a:t>2</a:t>
            </a:r>
            <a:endParaRPr lang="en-US" sz="1300" dirty="0"/>
          </a:p>
        </p:txBody>
      </p:sp>
      <p:sp>
        <p:nvSpPr>
          <p:cNvPr id="31" name="Text 29"/>
          <p:cNvSpPr txBox="1"/>
          <p:nvPr/>
        </p:nvSpPr>
        <p:spPr>
          <a:xfrm>
            <a:off x="6931152" y="3419856"/>
            <a:ext cx="4480560" cy="274320"/>
          </a:xfrm>
          <a:prstGeom prst="rect">
            <a:avLst/>
          </a:prstGeom>
          <a:noFill/>
          <a:ln/>
        </p:spPr>
        <p:txBody>
          <a:bodyPr wrap="square" lIns="0" tIns="0" rIns="0" bIns="0" rtlCol="0" anchor="ctr"/>
          <a:lstStyle/>
          <a:p>
            <a:pPr indent="0" marL="0">
              <a:buNone/>
            </a:pPr>
            <a:r>
              <a:rPr lang="en-US" sz="1350" b="1" dirty="0">
                <a:solidFill>
                  <a:srgbClr val="E8CE78"/>
                </a:solidFill>
                <a:latin typeface="Meiryo" pitchFamily="34" charset="0"/>
                <a:ea typeface="Meiryo" pitchFamily="34" charset="-122"/>
                <a:cs typeface="Meiryo" pitchFamily="34" charset="-120"/>
              </a:rPr>
              <a:t>ワイナート年間購読の実額</a:t>
            </a:r>
            <a:endParaRPr lang="en-US" sz="1350" dirty="0"/>
          </a:p>
        </p:txBody>
      </p:sp>
      <p:sp>
        <p:nvSpPr>
          <p:cNvPr id="32" name="Text 30"/>
          <p:cNvSpPr txBox="1"/>
          <p:nvPr/>
        </p:nvSpPr>
        <p:spPr>
          <a:xfrm>
            <a:off x="6473952" y="3767328"/>
            <a:ext cx="4846320" cy="438912"/>
          </a:xfrm>
          <a:prstGeom prst="rect">
            <a:avLst/>
          </a:prstGeom>
          <a:noFill/>
          <a:ln/>
        </p:spPr>
        <p:txBody>
          <a:bodyPr wrap="square" lIns="0" tIns="0" rIns="0" bIns="0" rtlCol="0" anchor="ctr"/>
          <a:lstStyle/>
          <a:p>
            <a:pPr indent="0" marL="0">
              <a:lnSpc>
                <a:spcPts val="1500"/>
              </a:lnSpc>
              <a:buNone/>
            </a:pPr>
            <a:r>
              <a:rPr lang="en-US" sz="1050" dirty="0">
                <a:solidFill>
                  <a:srgbClr val="A2908C"/>
                </a:solidFill>
                <a:latin typeface="Meiryo" pitchFamily="34" charset="0"/>
                <a:ea typeface="Meiryo" pitchFamily="34" charset="-122"/>
                <a:cs typeface="Meiryo" pitchFamily="34" charset="-120"/>
              </a:rPr>
              <a:t>交換先の原価計算に必要です。</a:t>
            </a:r>
            <a:endParaRPr lang="en-US" sz="1050" dirty="0"/>
          </a:p>
        </p:txBody>
      </p:sp>
      <p:sp>
        <p:nvSpPr>
          <p:cNvPr id="33" name="Shape 31"/>
          <p:cNvSpPr/>
          <p:nvPr/>
        </p:nvSpPr>
        <p:spPr>
          <a:xfrm>
            <a:off x="6199632" y="4407408"/>
            <a:ext cx="5394960" cy="1060704"/>
          </a:xfrm>
          <a:prstGeom prst="roundRect">
            <a:avLst>
              <a:gd name="adj" fmla="val 5172"/>
            </a:avLst>
          </a:prstGeom>
          <a:solidFill>
            <a:srgbClr val="17111A"/>
          </a:solidFill>
          <a:ln w="12700">
            <a:solidFill>
              <a:srgbClr val="17111A"/>
            </a:solidFill>
            <a:prstDash val="solid"/>
          </a:ln>
          <a:effectLst>
            <a:outerShdw sx="100000" sy="100000" kx="0" ky="0" algn="bl" rotWithShape="0" blurRad="127000" dist="25400" dir="5400000">
              <a:srgbClr val="000000">
                <a:alpha val="35000"/>
              </a:srgbClr>
            </a:outerShdw>
          </a:effectLst>
        </p:spPr>
      </p:sp>
      <p:sp>
        <p:nvSpPr>
          <p:cNvPr id="34" name="Shape 32"/>
          <p:cNvSpPr/>
          <p:nvPr/>
        </p:nvSpPr>
        <p:spPr>
          <a:xfrm>
            <a:off x="6473952" y="4590288"/>
            <a:ext cx="329184" cy="329184"/>
          </a:xfrm>
          <a:prstGeom prst="ellipse">
            <a:avLst/>
          </a:prstGeom>
          <a:solidFill>
            <a:srgbClr val="C9A227"/>
          </a:solidFill>
          <a:ln w="12700">
            <a:solidFill>
              <a:srgbClr val="C9A227"/>
            </a:solidFill>
            <a:prstDash val="solid"/>
          </a:ln>
        </p:spPr>
      </p:sp>
      <p:sp>
        <p:nvSpPr>
          <p:cNvPr id="35" name="Text 33"/>
          <p:cNvSpPr txBox="1"/>
          <p:nvPr/>
        </p:nvSpPr>
        <p:spPr>
          <a:xfrm>
            <a:off x="6473952" y="4590288"/>
            <a:ext cx="329184" cy="329184"/>
          </a:xfrm>
          <a:prstGeom prst="rect">
            <a:avLst/>
          </a:prstGeom>
          <a:noFill/>
          <a:ln/>
        </p:spPr>
        <p:txBody>
          <a:bodyPr wrap="square" lIns="0" tIns="0" rIns="0" bIns="0" rtlCol="0" anchor="ctr"/>
          <a:lstStyle/>
          <a:p>
            <a:pPr algn="ctr" indent="0" marL="0">
              <a:buNone/>
            </a:pPr>
            <a:r>
              <a:rPr lang="en-US" sz="1300" b="1" dirty="0">
                <a:solidFill>
                  <a:srgbClr val="000000"/>
                </a:solidFill>
                <a:latin typeface="Arial" pitchFamily="34" charset="0"/>
                <a:ea typeface="Arial" pitchFamily="34" charset="-122"/>
                <a:cs typeface="Arial" pitchFamily="34" charset="-120"/>
              </a:rPr>
              <a:t>3</a:t>
            </a:r>
            <a:endParaRPr lang="en-US" sz="1300" dirty="0"/>
          </a:p>
        </p:txBody>
      </p:sp>
      <p:sp>
        <p:nvSpPr>
          <p:cNvPr id="36" name="Text 34"/>
          <p:cNvSpPr txBox="1"/>
          <p:nvPr/>
        </p:nvSpPr>
        <p:spPr>
          <a:xfrm>
            <a:off x="6931152" y="4608576"/>
            <a:ext cx="4480560" cy="274320"/>
          </a:xfrm>
          <a:prstGeom prst="rect">
            <a:avLst/>
          </a:prstGeom>
          <a:noFill/>
          <a:ln/>
        </p:spPr>
        <p:txBody>
          <a:bodyPr wrap="square" lIns="0" tIns="0" rIns="0" bIns="0" rtlCol="0" anchor="ctr"/>
          <a:lstStyle/>
          <a:p>
            <a:pPr indent="0" marL="0">
              <a:buNone/>
            </a:pPr>
            <a:r>
              <a:rPr lang="en-US" sz="1350" b="1" dirty="0">
                <a:solidFill>
                  <a:srgbClr val="E8CE78"/>
                </a:solidFill>
                <a:latin typeface="Meiryo" pitchFamily="34" charset="0"/>
                <a:ea typeface="Meiryo" pitchFamily="34" charset="-122"/>
                <a:cs typeface="Meiryo" pitchFamily="34" charset="-120"/>
              </a:rPr>
              <a:t>残る法務・税務の宿題</a:t>
            </a:r>
            <a:endParaRPr lang="en-US" sz="1350" dirty="0"/>
          </a:p>
        </p:txBody>
      </p:sp>
      <p:sp>
        <p:nvSpPr>
          <p:cNvPr id="37" name="Text 35"/>
          <p:cNvSpPr txBox="1"/>
          <p:nvPr/>
        </p:nvSpPr>
        <p:spPr>
          <a:xfrm>
            <a:off x="6473952" y="4956048"/>
            <a:ext cx="4846320" cy="438912"/>
          </a:xfrm>
          <a:prstGeom prst="rect">
            <a:avLst/>
          </a:prstGeom>
          <a:noFill/>
          <a:ln/>
        </p:spPr>
        <p:txBody>
          <a:bodyPr wrap="square" lIns="0" tIns="0" rIns="0" bIns="0" rtlCol="0" anchor="ctr"/>
          <a:lstStyle/>
          <a:p>
            <a:pPr indent="0" marL="0">
              <a:lnSpc>
                <a:spcPts val="1500"/>
              </a:lnSpc>
              <a:buNone/>
            </a:pPr>
            <a:r>
              <a:rPr lang="en-US" sz="1050" dirty="0">
                <a:solidFill>
                  <a:srgbClr val="A2908C"/>
                </a:solidFill>
                <a:latin typeface="Meiryo" pitchFamily="34" charset="0"/>
                <a:ea typeface="Meiryo" pitchFamily="34" charset="-122"/>
                <a:cs typeface="Meiryo" pitchFamily="34" charset="-120"/>
              </a:rPr>
              <a:t>①マイル利用規約の整備（経産省ガイドラインの6項目）②成果報酬契約の文言 ③無償付与マイルの課税整理（税理士）④古物競りあっせん業者の届出要否</a:t>
            </a:r>
            <a:endParaRPr lang="en-US" sz="1050" dirty="0"/>
          </a:p>
        </p:txBody>
      </p:sp>
      <p:sp>
        <p:nvSpPr>
          <p:cNvPr id="38" name="Shape 36"/>
          <p:cNvSpPr/>
          <p:nvPr/>
        </p:nvSpPr>
        <p:spPr>
          <a:xfrm>
            <a:off x="566928" y="5614416"/>
            <a:ext cx="11027664" cy="566928"/>
          </a:xfrm>
          <a:prstGeom prst="roundRect">
            <a:avLst>
              <a:gd name="adj" fmla="val 9677"/>
            </a:avLst>
          </a:prstGeom>
          <a:solidFill>
            <a:srgbClr val="7B1E3A"/>
          </a:solidFill>
          <a:ln w="12700">
            <a:solidFill>
              <a:srgbClr val="7B1E3A"/>
            </a:solidFill>
            <a:prstDash val="solid"/>
          </a:ln>
          <a:effectLst>
            <a:outerShdw sx="100000" sy="100000" kx="0" ky="0" algn="bl" rotWithShape="0" blurRad="127000" dist="25400" dir="5400000">
              <a:srgbClr val="000000">
                <a:alpha val="35000"/>
              </a:srgbClr>
            </a:outerShdw>
          </a:effectLst>
        </p:spPr>
      </p:sp>
      <p:sp>
        <p:nvSpPr>
          <p:cNvPr id="39" name="Text 37"/>
          <p:cNvSpPr txBox="1"/>
          <p:nvPr/>
        </p:nvSpPr>
        <p:spPr>
          <a:xfrm>
            <a:off x="978408" y="5742432"/>
            <a:ext cx="10204704" cy="329184"/>
          </a:xfrm>
          <a:prstGeom prst="rect">
            <a:avLst/>
          </a:prstGeom>
          <a:noFill/>
          <a:ln/>
        </p:spPr>
        <p:txBody>
          <a:bodyPr wrap="square" lIns="0" tIns="0" rIns="0" bIns="0" rtlCol="0" anchor="ctr"/>
          <a:lstStyle/>
          <a:p>
            <a:pPr algn="ctr" indent="0" marL="0">
              <a:buNone/>
            </a:pPr>
            <a:r>
              <a:rPr lang="en-US" sz="1500" b="1" dirty="0">
                <a:solidFill>
                  <a:srgbClr val="E8CE78"/>
                </a:solidFill>
                <a:latin typeface="Meiryo" pitchFamily="34" charset="0"/>
                <a:ea typeface="Meiryo" pitchFamily="34" charset="-122"/>
                <a:cs typeface="Meiryo" pitchFamily="34" charset="-120"/>
              </a:rPr>
              <a:t>ワインで、ライフスタイルを豊かにする。マイルは、その手段です。</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31</Slides>
  <Notes>31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31</vt:i4>
      </vt:variant>
    </vt:vector>
  </HeadingPairs>
  <TitlesOfParts>
    <vt:vector size="3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ワインマイル経済圏構想</dc:title>
  <dc:subject>PptxGenJS Presentation</dc:subject>
  <dc:creator>WineBank</dc:creator>
  <cp:lastModifiedBy>WineBank</cp:lastModifiedBy>
  <cp:revision>1</cp:revision>
  <dcterms:created xsi:type="dcterms:W3CDTF">2026-09-29T06:14:15Z</dcterms:created>
  <dcterms:modified xsi:type="dcterms:W3CDTF">2026-09-29T06:14:15Z</dcterms:modified>
</cp:coreProperties>
</file>