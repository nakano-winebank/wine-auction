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すべて単体ベース。連結（マイル原価17.5%）ならPLは+2,451万、継続は+186万/年。保管料1.5%と粗利30%が最大の変数。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継続収支：基本ケース+86万/年、良好ケース（オークション誘導強化）+128万/年、最悪ケース▲81万/年。90%保証は系列店への送客投資であり、連結では相殺される。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6ヶ月ルールは撤回。無償付与のマイルは前払式支払手段に該当しないため、期限は自由。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WineBank単体ベース。ワイン1億円／値上がり6%・金利3%・保管料1.5%・粗利30%・管理手数料2.5%</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マイル発行 368万円（原価率44.5%＝想定交換ミックス）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▲649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▲199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▲450万と▲649万。差は199万円です。同じだけ現金を使って、セラーのワインは1億から2億5,000万へ。しかもうち1億は、会員のお金で買われたワインです。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年▲450万（金利300＋保管150）。会員に持たせて預かると 年+86万（手数料250−マイル164）。同じワインで、年536万ひっくり返ります。加えて成功報酬が5年後846万。</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賃料：ワインマイル 年5%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賃料は現金ではなくワインマイルで支払う</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「5%」は利回りではなく賃料率</a:t>
            </a:r>
            <a:endParaRPr lang="en-US" sz="1150" dirty="0"/>
          </a:p>
        </p:txBody>
      </p:sp>
      <p:sp>
        <p:nvSpPr>
          <p:cNvPr id="10" name="Shape 8"/>
          <p:cNvSpPr/>
          <p:nvPr/>
        </p:nvSpPr>
        <p:spPr>
          <a:xfrm>
            <a:off x="6199632" y="1627632"/>
            <a:ext cx="5394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不動産のファンドと同じ形です。マスターリース会社が保証賃料を払い、AM会社が運用報酬とディスポジションフィーを取る。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賃料5%は当社が払う。値上がりの75%は会員のもの。当社の取り分は25%だけ。</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50,000マイル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年率5%相当。会食・贈答・イベント・オークション・ワイナートに使える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会員は2.5万円払って、5万円分を受け取る。差額の2.5万円を「貯金」していると考える。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WineBank単体ベース。系列店へはマイル額面×レート×90%を保証。額面100に対する当社コストで表示。</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最優先で誘導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4480560"/>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想定ミックス：系列店35% ／ グランメゾン20% ／ CLUB充当15% ／ オークション10% ／ 追加購入5% ／ 失効15%　→　加重平均 単体44.5%</a:t>
            </a:r>
            <a:endParaRPr lang="en-US" sz="1050" dirty="0"/>
          </a:p>
        </p:txBody>
      </p:sp>
      <p:sp>
        <p:nvSpPr>
          <p:cNvPr id="8" name="Shape 5"/>
          <p:cNvSpPr/>
          <p:nvPr/>
        </p:nvSpPr>
        <p:spPr>
          <a:xfrm>
            <a:off x="566928" y="4828032"/>
            <a:ext cx="5394960" cy="1225296"/>
          </a:xfrm>
          <a:prstGeom prst="roundRect">
            <a:avLst>
              <a:gd name="adj" fmla="val 447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956048"/>
            <a:ext cx="4663440" cy="310896"/>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損益分岐は 67.9%</a:t>
            </a:r>
            <a:endParaRPr lang="en-US" sz="1700" dirty="0"/>
          </a:p>
        </p:txBody>
      </p:sp>
      <p:sp>
        <p:nvSpPr>
          <p:cNvPr id="10" name="Text 7"/>
          <p:cNvSpPr txBox="1"/>
          <p:nvPr/>
        </p:nvSpPr>
        <p:spPr>
          <a:xfrm>
            <a:off x="932688"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管理手数料250万 ÷ マイル発行368万。加重平均の原価率がこれを下回れば、単体でも継続収支は黒字です。想定ミックスは44.5%で、23ポイントの余裕があります。</a:t>
            </a:r>
            <a:endParaRPr lang="en-US" sz="1050" dirty="0"/>
          </a:p>
        </p:txBody>
      </p:sp>
      <p:sp>
        <p:nvSpPr>
          <p:cNvPr id="11" name="Shape 8"/>
          <p:cNvSpPr/>
          <p:nvPr/>
        </p:nvSpPr>
        <p:spPr>
          <a:xfrm>
            <a:off x="6199632" y="4828032"/>
            <a:ext cx="5394960" cy="1225296"/>
          </a:xfrm>
          <a:prstGeom prst="roundRect">
            <a:avLst>
              <a:gd name="adj" fmla="val 44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956048"/>
            <a:ext cx="4663440" cy="310896"/>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赤字になるのは、たった一つの場合だけ</a:t>
            </a:r>
            <a:endParaRPr lang="en-US" sz="1500" dirty="0"/>
          </a:p>
        </p:txBody>
      </p:sp>
      <p:sp>
        <p:nvSpPr>
          <p:cNvPr id="13" name="Text 10"/>
          <p:cNvSpPr txBox="1"/>
          <p:nvPr/>
        </p:nvSpPr>
        <p:spPr>
          <a:xfrm>
            <a:off x="6565392"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全額を系列店の1.0円で使われた場合のみ90%となり、継続▲81万/年。逆に言えば、どこで使わせるかの設計が、そのまま収支になります。</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ワインは当社が賃借し、マイルが賃料として入る</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出口は自由。縛りなし</a:t>
            </a:r>
            <a:endParaRPr lang="en-US" sz="1150" dirty="0"/>
          </a:p>
        </p:txBody>
      </p:sp>
      <p:sp>
        <p:nvSpPr>
          <p:cNvPr id="10" name="Shape 8"/>
          <p:cNvSpPr/>
          <p:nvPr/>
        </p:nvSpPr>
        <p:spPr>
          <a:xfrm>
            <a:off x="6199632" y="1627632"/>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保有資産に比例した年次付与（保有残高×5%）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行動に対する都度付与（落札・出品・会食・イベント参加）</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901184"/>
            <a:ext cx="5394960" cy="1152144"/>
          </a:xfrm>
          <a:prstGeom prst="roundRect">
            <a:avLst>
              <a:gd name="adj" fmla="val 476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029200"/>
            <a:ext cx="4663440" cy="256032"/>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 への充当ルール</a:t>
            </a:r>
            <a:endParaRPr lang="en-US" sz="1350" dirty="0"/>
          </a:p>
        </p:txBody>
      </p:sp>
      <p:sp>
        <p:nvSpPr>
          <p:cNvPr id="9" name="Text 6"/>
          <p:cNvSpPr txBox="1"/>
          <p:nvPr/>
        </p:nvSpPr>
        <p:spPr>
          <a:xfrm>
            <a:off x="932688" y="5321808"/>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100万・400万会員はマイル充当による単月利用のみ可。未利用時の特典をワイン購入代金へ振り替えることはできません（二重取りになるため）。</a:t>
            </a:r>
            <a:endParaRPr lang="en-US" sz="1050" dirty="0"/>
          </a:p>
        </p:txBody>
      </p:sp>
      <p:sp>
        <p:nvSpPr>
          <p:cNvPr id="10" name="Shape 7"/>
          <p:cNvSpPr/>
          <p:nvPr/>
        </p:nvSpPr>
        <p:spPr>
          <a:xfrm>
            <a:off x="6199632" y="4901184"/>
            <a:ext cx="5394960" cy="1152144"/>
          </a:xfrm>
          <a:prstGeom prst="roundRect">
            <a:avLst>
              <a:gd name="adj" fmla="val 476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029200"/>
            <a:ext cx="4663440" cy="256032"/>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50" dirty="0"/>
          </a:p>
        </p:txBody>
      </p:sp>
      <p:sp>
        <p:nvSpPr>
          <p:cNvPr id="12" name="Text 9"/>
          <p:cNvSpPr txBox="1"/>
          <p:nvPr/>
        </p:nvSpPr>
        <p:spPr>
          <a:xfrm>
            <a:off x="6565392" y="5321808"/>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「上のランクだと還元が1.7倍」「未公開ワインが先に届く」は伝わります。レートを刻むのはやめ、体感できる2軸だけに集約します。</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RISK CONTROL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先に塞ぐ：4つのリスク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攻める前に、法務・税務・会計を設計に織り込みます。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出資法・景表法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「年率5%」と言わない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「預ける＋年率＋貯金」の組合せは預り金と読まれます。マスターリース（動産賃貸借）の建て付けにし、5%は『賃料率』として説明する。商標『ワイン貯金』は競合を止めますが、法規制は止めません。</a:t>
            </a:r>
            <a:endParaRPr lang="en-US" sz="1050" dirty="0"/>
          </a:p>
        </p:txBody>
      </p:sp>
      <p:sp>
        <p:nvSpPr>
          <p:cNvPr id="12" name="Shape 10"/>
          <p:cNvSpPr/>
          <p:nvPr/>
        </p:nvSpPr>
        <p:spPr>
          <a:xfrm>
            <a:off x="6199632"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無償付与なら期限は自由</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無償で付与するマイルは前払式支払手段に該当しないため、JALマイル36ヶ月・楽天1年と同様に期限は自由に設定できます。届出・供託の論点は、対価性が生じない限り発生しません。</a:t>
            </a:r>
            <a:endParaRPr lang="en-US" sz="1050" dirty="0"/>
          </a:p>
        </p:txBody>
      </p:sp>
      <p:sp>
        <p:nvSpPr>
          <p:cNvPr id="18" name="Shape 16"/>
          <p:cNvSpPr/>
          <p:nvPr/>
        </p:nvSpPr>
        <p:spPr>
          <a:xfrm>
            <a:off x="566928" y="385876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課税</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マイレージ還元として構成</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クレジットカードのマイル還元は法人・個人とも課税されないのが実務です。ただし本件は賃料としての性格も併存するため、規約の文言で決まります。ローンチ前に顧問税理士の一筆を。</a:t>
            </a:r>
            <a:endParaRPr lang="en-US" sz="1050" dirty="0"/>
          </a:p>
        </p:txBody>
      </p:sp>
      <p:sp>
        <p:nvSpPr>
          <p:cNvPr id="24" name="Shape 22"/>
          <p:cNvSpPr/>
          <p:nvPr/>
        </p:nvSpPr>
        <p:spPr>
          <a:xfrm>
            <a:off x="6199632" y="3858768"/>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会計</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買戻しを採らない理由</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買戻し保証があるとリスクと経済価値が移転せず、100万円を売上計上できません。成功報酬方式ならこの論点自体が消えます。マイルは履行義務として繰延が必要です。</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CLUB特典の実数確定</a:t>
            </a:r>
            <a:endParaRPr lang="en-US" sz="1200" dirty="0"/>
          </a:p>
        </p:txBody>
      </p:sp>
      <p:sp>
        <p:nvSpPr>
          <p:cNvPr id="11" name="Shape 9"/>
          <p:cNvSpPr/>
          <p:nvPr/>
        </p:nvSpPr>
        <p:spPr>
          <a:xfrm>
            <a:off x="3410712"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弁護士・税理士への確認</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①賃貸借＋AM契約が出資法・金商法の枠外にあること ②マイルの無償付与としての整理と課税 ③古物競りあっせん業者の届出要否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2026-08-31T21:23:04Z</dcterms:created>
  <dcterms:modified xsi:type="dcterms:W3CDTF">2026-08-31T21:23:04Z</dcterms:modified>
</cp:coreProperties>
</file>