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マイル原価率51.1%（オークション30%・CLUB10%・スクール80%を織り込み後）。粗利30%とマイル原価率が最大の変数。ストック現金は▲27万/年で、利益はワイン販売粗利と成功報酬に乗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レートカード（管理料2.75/2.60/2.50%・還元率4/5/6%・成功報酬30%一律）。ストック単体の現金は▲27万/年で、黒字化には発行1マイル原価を45.4%まで下げる必要がある（現状51.1%）。利益はワイン販売粗利3,000万と成功報酬に乗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9月20日の岩田合同法律事務所の回答により、マイルは管理料に対するおまけ（無償発行）として整理し、前払式支払手段の対価性要件を満たさないことを確認済み。当初検討していたマスターリース（動産賃貸借）は締結しない。賃料としてマイルを発行すると対価性が生じるため、賃貸借を置かないこと自体が最も安全な設計になる。売買契約は利用規約への同意により成立し、管理手数料の対価も規約に記載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行1マイル原価51.1%＝利用時の加重平均56.8%×最終利用率90%。損益分岐45.4%に対し5.7ポイント超過しており、ストック単体の現金は1億あたり年▲27万。90%保証は直営店への送客投資であり、連結では相殺される。誘導先の構成比を動かすことが、この事業で最も効くレバ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ただし消費者契約法10条により、事前告知なく一方的に失効させる条項は無効となり得るため、失効の30日前予告を規約とシステムの両方に組み込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岩田合同法律事務所（大櫛・関口・國本）2026年9月20日クリーンオピニオン。／通常マイルの有効期限は1年とするため、資金決済法4条2号の適用外。無償付与という第1の安全弁のみに依存する。仮に該当と評価された場合、基準日の未使用残高が1,000万円を超えると届出・供託が生じるが、その水準に達するのは預かり資産およそ3.9億円から。／有償でのマイル販売は本意見書の照会対象外。ただし有効期限を6ヶ月以内にすれば4条2号により各種義務は生じないため、実装する場合はその設計を前提に別途照会する。／残る宿題は成果報酬契約の文言と、無償付与マイルの課税整理（税理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WineBank単体ベース。ワイン1億円／値上がり6%（単利）・金利3%・保管料210円/本・粗利30%</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販売ミックス：100万×55名 ＋ 500万×5名 ＋ 1,000万×2名 ＝ 1億円　／　管理料 2.75/2.60/2.50%　還元率 4/5/6%　マイル発行 465万円（原価率51.1%）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+2,860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+9,860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▲140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▲405万と▲545万。差は140万円です。同じだけ現金を使って、セラーのワインは1億から2億5,000万へ。しかもうち1億は、会員のお金で買われたワインです。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年▲27万（手数料266−保管105−マイル238＋オークション50）。成功報酬180万を含めれば +153万。同じワインで年558万ひっくり返ります。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毎年1億円ずつ販売を続けた場合。単体ベース、還元率4/5/6%、マイル原価率51.1%。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▲238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+3,153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▲713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+540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+3,461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▲1,189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+3,767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+1,613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▲2,378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+1,800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+4,535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手数料2.66%から保管1.05%（鈴与実額210円/本）を引くと残りは1.61%。マイル2.38%はこれを超えます。差を埋めるのがオークション手数料0.5%と、値上がり益30%（年1.8%相当）です。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手数料2.66%・保管1.05%・マイル2.38%・オークション0.5%・成功報酬1.8%。全部が定率なので、規模が何倍になっても差引1.53%は動きません。手出しが収入を追い越す構造ではありません。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現金ベースは年▲27万。成功報酬180万を含めて+153万。ただし成功報酬は出口までキャッシュになりません。</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契約は2本立て：売買・管理 ＋ 成功報酬</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賃貸借は使いません。所有権は会員のまま、当社は管理を担い、値上がりの一部を成功報酬で受け取ります。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売買 ＋ 管理（利用規約）</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管理手数料：2.50〜2.75%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利用規約への同意で売買契約が成立する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デジタルでの資産価値提供・倉庫アレンジ・保険付保の対価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マイルはこの管理料に対するおまけ（無償）</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成功報酬：値上がり分の30%</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賃貸借契約は締結しません。所有権は会員のまま、当社は保管・保険・真正性管理と、売却時の成功報酬を担います。</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買戻し保証を付けると経済価値が移転せず、100万円を売上計上できません。成功報酬型ならこの論点は生じません。</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マイルは管理料に対するおまけです。値上がりの70%は会員のもの。</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▲27,500円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年率2.75%。保管料・保険料を含む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40,000マイル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年率4%（PRESTIGE）。会食・贈答・イベント・オークション・スクールに使える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上位ランクは5%・6%。さらに値上がり分の70%も会員のものとして残ります。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WineBank単体ベース。直営店へはマイル額面×レート×90%を保証。額面100に対する当社コストで示します。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グループ直営飲食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オークション参加</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優先誘導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上限管理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645152"/>
            <a:ext cx="11027664" cy="219456"/>
          </a:xfrm>
          <a:prstGeom prst="rect">
            <a:avLst/>
          </a:prstGeom>
          <a:noFill/>
          <a:ln/>
        </p:spPr>
        <p:txBody>
          <a:bodyPr wrap="square" lIns="0" tIns="0" rIns="0" bIns="0" rtlCol="0" anchor="ctr"/>
          <a:lstStyle/>
          <a:p>
            <a:pPr indent="0" marL="0">
              <a:buNone/>
            </a:pPr>
            <a:r>
              <a:rPr lang="en-US" sz="950" dirty="0">
                <a:solidFill>
                  <a:srgbClr val="C9A227"/>
                </a:solidFill>
                <a:latin typeface="Meiryo" pitchFamily="34" charset="0"/>
                <a:ea typeface="Meiryo" pitchFamily="34" charset="-122"/>
                <a:cs typeface="Meiryo" pitchFamily="34" charset="-120"/>
              </a:rPr>
              <a:t>想定ミックス（利用マイル内・%）：直営27.8／グランメゾン20.0／CLUB13.3／オークション13.3／スクール10.0／イベント7.0／ワイナート3.0／追加購入5.6　→　発行ベース51.1%</a:t>
            </a:r>
            <a:endParaRPr lang="en-US" sz="95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0A458"/>
                </a:solidFill>
                <a:latin typeface="Meiryo" pitchFamily="34" charset="0"/>
                <a:ea typeface="Meiryo" pitchFamily="34" charset="-122"/>
                <a:cs typeface="Meiryo" pitchFamily="34" charset="-120"/>
              </a:rPr>
              <a:t>損益分岐は 45.4%。想定は 51.1%。</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（手数料2.66% − 保管1.05% ＋ オークション0.5%）÷ 発行4.65% ＝ 45.4%。想定は5.7ポイント超えており、ストック現金は年▲0.27%。成功報酬1.8%を含めて+1.53%が実力です。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直営飲食1.0円に偏るほど90%へ近づきます。原価10%のCLUB会費充当と30%のオークション参加へ誘導するほど収支は改善し、45.4%に届けばストック単体で黒字化します。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ワイン100万円・年6%成長（単利）・成功報酬30%・仲介手数料なし。単体ベース。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54,000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163,500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5.18%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58,634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90,000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272,500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4.94%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97,724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545,000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195,448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621024"/>
            <a:ext cx="11027664" cy="219456"/>
          </a:xfrm>
          <a:prstGeom prst="rect">
            <a:avLst/>
          </a:prstGeom>
          <a:noFill/>
          <a:ln/>
        </p:spPr>
        <p:txBody>
          <a:bodyPr wrap="square" lIns="0" tIns="0" rIns="0" bIns="0" rtlCol="0" anchor="ctr"/>
          <a:lstStyle/>
          <a:p>
            <a:pPr indent="0" marL="0">
              <a:buNone/>
            </a:pPr>
            <a:r>
              <a:rPr lang="en-US" sz="950" dirty="0">
                <a:solidFill>
                  <a:srgbClr val="A2908C"/>
                </a:solidFill>
                <a:latin typeface="Meiryo" pitchFamily="34" charset="0"/>
                <a:ea typeface="Meiryo" pitchFamily="34" charset="-122"/>
                <a:cs typeface="Meiryo" pitchFamily="34" charset="-120"/>
              </a:rPr>
              <a:t>※PRESTIGE（100万）の数値。会員＝（マイル額面−手数料）×年数＋（値上がり益−成功報酬）。当社＝（2.75%−1.05%＋0.5%−2.05%）×年数＋成功報酬</a:t>
            </a:r>
            <a:endParaRPr lang="en-US" sz="95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年5%なら当社1.65%／年6%で1.95%／年10%で3.15%。会員と当社が完全に同じ方向を向きます。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成功報酬30%と媒介10%の損益分岐は8.3年（6%成長時）。10%成長なら5.0年。長期保有を促す動機が当社側に働きます。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会員は年5.45%、当社は年1.95%。値上がりの70%を会員に残しても、事業は成立します。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成功報酬30%（採用）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30%でも「手数料」であって「分配」ではない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会員が当社に払う役務の成功報酬であり、会員への利益分配ではありません。P1ファンドの成功報酬25%に対し5ポイント高い水準ですが、当社が保管・保険・真正性管理まで担うことで説明できます。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飲むつもりの人に成果報酬は不要です。そして運用型の人も、途中で飲みたくなります。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売買・管理 ＋ 成果報酬</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所有権は会員のまま。当社が保管・保険・管理</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マイルは管理料に対するおまけ（無償）</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値上がりの70〜75%は会員のもの。出口は自由</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成果報酬はかからない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管理手数料に対する無償付与（簿価×4〜6%）</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100万・500万会員はマイル充当による単月利用のみ可。未利用時の特典をワイン購入代金へ振り替えることはできません。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ランクが上がるほど、手数料は下がり還元率は上がる。差を3つの数字に集約します。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500万〜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実質（額面差引）</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+2.40%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9行×5ランクの特典マトリクス。営業が覚えられず、顧客も比較できません。差は「手数料・還元率・情報」の3つに集約し、成功報酬は30%で揃えます。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100万でも実質+1.25%を確保。額面を0.5pp上げても当社の実費用は0.26ppしか増えません。還元率を上げるほうが費用対効果の高い設計です。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管理契約の終了時（売却・引取・転換のいずれでも）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30%</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LEGAL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法務確認済み：実施できます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岩田合同法律事務所より2026年9月20日にクリーンオピニオンを取得。「対価性の要件を充足する事情は不見当」との結論です。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二重の安全弁がかかっています</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① 管理料に対するおまけ（無償発行）のため、前払式支払手段の対価性要件を満たしません。② 仮に該当しても、有効期限が発行から6ヶ月以内なら届出・供託・帳簿・報告の義務が生じません（法4条2号）。期間限定マイルは②も満たします。</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出資法・銀行法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そもそも該当しない</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預かるのはワインであり金銭ではないため、『預金』『預り金』の4要件を満たしません。賃貸借契約を置かないため、賃料としての対価性が生じる余地もありません。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景品表示法</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値引と整理され、還元率に上限はない</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自社でのみ使えるマイルは『正常な商慣習に照らして値引』にあたり景品類に該当しません。実質50%値引を許容する消費者庁Q&amp;Aもあり、4〜6%は論点になりません。ただし表示は正確に。</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消費者契約法</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事前告知なき失効は無効になり得る</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大量に貯まったマイルを予告なく失効させる条項は法10条で無効となり得ます。付与・利用・変更手続・トラブル対応・譲渡可否・終了時対応の6点を規約に明記し公表します（経産省ガイドライン）。</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弁護士意見書（取得済）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売買・管理規約と成果報酬契約の整備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残る法務・税務の宿題</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①マイル利用規約の整備（経産省ガイドラインの6項目）②成果報酬契約の文言 ③無償付与マイルの課税整理（税理士）④古物競りあっせん業者の届出要否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2026-09-25T06:44:24Z</dcterms:created>
  <dcterms:modified xsi:type="dcterms:W3CDTF">2026-09-25T06:44:24Z</dcterms:modified>
</cp:coreProperties>
</file>