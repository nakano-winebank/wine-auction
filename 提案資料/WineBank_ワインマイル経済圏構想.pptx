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新ビジョン「ワインでライフスタイルを豊かにする」を掲げ、その手段としてワインマイル経済圏を置く。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この頁は説得ではなく告白として読ませる。WineBankが先にリスクを取っていることが伝われば、以降の数字はすべて素直に入る。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メルマガ・イベント案内のような一方通行の接点ではなく、行動への都度付与とUGC（他人が見える）が「終わらない」の正体。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純粋サブリース（値上がり全取り）は買戻し義務を伴い収益認識で詰む。2契約に分けることで、法務・会計・マーケの3つが同時に立つ。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重要：単体P/Lと連結P/Lを必ず分けて説明する。SBIには連結、系列店の店長には単体（90%が入る）を見せる。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仲介手数料はWineBank経由で成約した場合のみ収受。会員に当社経由を強制しない。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都度時価精算は運用負荷が高すぎる。年次リバランスなら双方に不利益がなく、オペレーションも年1回で済む。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マイルの有効期限は無償付与であれば自由に設定できる（資金決済法の前払式支払手段に該当しないため）。JALマイル36ヶ月・楽天1年と同様。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P1ファンド・STへの充当は削除（法務論点が重いうえ、投資勧誘と受け取られる）。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8,800円〜の課金サイクル（月額／年額）は要確認。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6ヶ月ルールは撤回。無償付与のマイルは前払式支払手段に該当しないため、期限は自由。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遡及付与は業界に前例なし。創業会員ボーナス＋恒久ステータスで感情面を満たすのが標準解。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0E14"/>
        </a:solidFill>
      </p:bgPr>
    </p:bg>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7B1E3A">
              <a:alpha val="12000"/>
            </a:srgbClr>
          </a:solidFill>
          <a:ln w="12700">
            <a:solidFill>
              <a:srgbClr val="333333"/>
            </a:solidFill>
            <a:prstDash val="solid"/>
          </a:ln>
        </p:spPr>
      </p:sp>
      <p:sp>
        <p:nvSpPr>
          <p:cNvPr id="3" name="Text 1"/>
          <p:cNvSpPr txBox="1"/>
          <p:nvPr/>
        </p:nvSpPr>
        <p:spPr>
          <a:xfrm>
            <a:off x="566928" y="1188720"/>
            <a:ext cx="11027664" cy="274320"/>
          </a:xfrm>
          <a:prstGeom prst="rect">
            <a:avLst/>
          </a:prstGeom>
          <a:noFill/>
          <a:ln/>
        </p:spPr>
        <p:txBody>
          <a:bodyPr wrap="square" lIns="0" tIns="0" rIns="0" bIns="0" rtlCol="0" anchor="ctr"/>
          <a:lstStyle/>
          <a:p>
            <a:pPr indent="0" marL="0">
              <a:buNone/>
            </a:pPr>
            <a:r>
              <a:rPr lang="en-US" sz="1100" b="1" spc="400" kern="0" dirty="0">
                <a:solidFill>
                  <a:srgbClr val="C9A227"/>
                </a:solidFill>
                <a:latin typeface="Arial" pitchFamily="34" charset="0"/>
                <a:ea typeface="Arial" pitchFamily="34" charset="-122"/>
                <a:cs typeface="Arial" pitchFamily="34" charset="-120"/>
              </a:rPr>
              <a:t>WINEBANK GROWTH STRATEGY 2026</a:t>
            </a:r>
            <a:endParaRPr lang="en-US" sz="1100" dirty="0"/>
          </a:p>
        </p:txBody>
      </p:sp>
      <p:sp>
        <p:nvSpPr>
          <p:cNvPr id="4" name="Text 2"/>
          <p:cNvSpPr txBox="1"/>
          <p:nvPr/>
        </p:nvSpPr>
        <p:spPr>
          <a:xfrm>
            <a:off x="566928" y="1627632"/>
            <a:ext cx="11027664" cy="777240"/>
          </a:xfrm>
          <a:prstGeom prst="rect">
            <a:avLst/>
          </a:prstGeom>
          <a:noFill/>
          <a:ln/>
        </p:spPr>
        <p:txBody>
          <a:bodyPr wrap="square" lIns="0" tIns="0" rIns="0" bIns="0" rtlCol="0" anchor="ctr"/>
          <a:lstStyle/>
          <a:p>
            <a:pPr indent="0" marL="0">
              <a:buNone/>
            </a:pPr>
            <a:r>
              <a:rPr lang="en-US" sz="4000" b="1" dirty="0">
                <a:solidFill>
                  <a:srgbClr val="F2EDE6"/>
                </a:solidFill>
                <a:latin typeface="Meiryo" pitchFamily="34" charset="0"/>
                <a:ea typeface="Meiryo" pitchFamily="34" charset="-122"/>
                <a:cs typeface="Meiryo" pitchFamily="34" charset="-120"/>
              </a:rPr>
              <a:t>ワインで、ライフスタイルを豊かにする。</a:t>
            </a:r>
            <a:endParaRPr lang="en-US" sz="4000" dirty="0"/>
          </a:p>
        </p:txBody>
      </p:sp>
      <p:sp>
        <p:nvSpPr>
          <p:cNvPr id="5" name="Text 3"/>
          <p:cNvSpPr txBox="1"/>
          <p:nvPr/>
        </p:nvSpPr>
        <p:spPr>
          <a:xfrm>
            <a:off x="566928" y="2487168"/>
            <a:ext cx="11027664" cy="640080"/>
          </a:xfrm>
          <a:prstGeom prst="rect">
            <a:avLst/>
          </a:prstGeom>
          <a:noFill/>
          <a:ln/>
        </p:spPr>
        <p:txBody>
          <a:bodyPr wrap="square" lIns="0" tIns="0" rIns="0" bIns="0" rtlCol="0" anchor="ctr"/>
          <a:lstStyle/>
          <a:p>
            <a:pPr indent="0" marL="0">
              <a:buNone/>
            </a:pPr>
            <a:r>
              <a:rPr lang="en-US" sz="3100" b="1" dirty="0">
                <a:solidFill>
                  <a:srgbClr val="E8CE78"/>
                </a:solidFill>
                <a:latin typeface="Meiryo" pitchFamily="34" charset="0"/>
                <a:ea typeface="Meiryo" pitchFamily="34" charset="-122"/>
                <a:cs typeface="Meiryo" pitchFamily="34" charset="-120"/>
              </a:rPr>
              <a:t>ワインマイル経済圏構想 ／「ワイン貯金」</a:t>
            </a:r>
            <a:endParaRPr lang="en-US" sz="3100" dirty="0"/>
          </a:p>
        </p:txBody>
      </p:sp>
      <p:sp>
        <p:nvSpPr>
          <p:cNvPr id="6" name="Text 4"/>
          <p:cNvSpPr txBox="1"/>
          <p:nvPr/>
        </p:nvSpPr>
        <p:spPr>
          <a:xfrm>
            <a:off x="566928" y="3346704"/>
            <a:ext cx="11027664" cy="365760"/>
          </a:xfrm>
          <a:prstGeom prst="rect">
            <a:avLst/>
          </a:prstGeom>
          <a:noFill/>
          <a:ln/>
        </p:spPr>
        <p:txBody>
          <a:bodyPr wrap="square" lIns="0" tIns="0" rIns="0" bIns="0" rtlCol="0" anchor="ctr"/>
          <a:lstStyle/>
          <a:p>
            <a:pPr indent="0" marL="0">
              <a:buNone/>
            </a:pPr>
            <a:r>
              <a:rPr lang="en-US" sz="1550" dirty="0">
                <a:solidFill>
                  <a:srgbClr val="A2908C"/>
                </a:solidFill>
                <a:latin typeface="Meiryo" pitchFamily="34" charset="0"/>
                <a:ea typeface="Meiryo" pitchFamily="34" charset="-122"/>
                <a:cs typeface="Meiryo" pitchFamily="34" charset="-120"/>
              </a:rPr>
              <a:t>持つ・貯める・開ける・贈る・譲る。ワインにまつわるすべてを、ひとつの通貨でつなぐ。</a:t>
            </a:r>
            <a:endParaRPr lang="en-US" sz="1550" dirty="0"/>
          </a:p>
        </p:txBody>
      </p:sp>
      <p:sp>
        <p:nvSpPr>
          <p:cNvPr id="7" name="Shape 5"/>
          <p:cNvSpPr/>
          <p:nvPr/>
        </p:nvSpPr>
        <p:spPr>
          <a:xfrm>
            <a:off x="566928" y="4206240"/>
            <a:ext cx="3529584" cy="1280160"/>
          </a:xfrm>
          <a:prstGeom prst="roundRect">
            <a:avLst>
              <a:gd name="adj" fmla="val 428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Text 6"/>
          <p:cNvSpPr txBox="1"/>
          <p:nvPr/>
        </p:nvSpPr>
        <p:spPr>
          <a:xfrm>
            <a:off x="841248" y="4370832"/>
            <a:ext cx="3017520" cy="237744"/>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貯まる</a:t>
            </a:r>
            <a:endParaRPr lang="en-US" sz="1100" dirty="0"/>
          </a:p>
        </p:txBody>
      </p:sp>
      <p:sp>
        <p:nvSpPr>
          <p:cNvPr id="9" name="Text 7"/>
          <p:cNvSpPr txBox="1"/>
          <p:nvPr/>
        </p:nvSpPr>
        <p:spPr>
          <a:xfrm>
            <a:off x="841248" y="4626864"/>
            <a:ext cx="3017520"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ワインマイル</a:t>
            </a:r>
            <a:endParaRPr lang="en-US" sz="2000" dirty="0"/>
          </a:p>
        </p:txBody>
      </p:sp>
      <p:sp>
        <p:nvSpPr>
          <p:cNvPr id="10" name="Text 8"/>
          <p:cNvSpPr txBox="1"/>
          <p:nvPr/>
        </p:nvSpPr>
        <p:spPr>
          <a:xfrm>
            <a:off x="841248" y="5029200"/>
            <a:ext cx="3017520" cy="384048"/>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持っていても、動かしても貯まる</a:t>
            </a:r>
            <a:endParaRPr lang="en-US" sz="1000" dirty="0"/>
          </a:p>
        </p:txBody>
      </p:sp>
      <p:sp>
        <p:nvSpPr>
          <p:cNvPr id="11" name="Shape 9"/>
          <p:cNvSpPr/>
          <p:nvPr/>
        </p:nvSpPr>
        <p:spPr>
          <a:xfrm>
            <a:off x="4352544" y="4206240"/>
            <a:ext cx="3529584" cy="1280160"/>
          </a:xfrm>
          <a:prstGeom prst="roundRect">
            <a:avLst>
              <a:gd name="adj" fmla="val 428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4626864" y="4370832"/>
            <a:ext cx="3017520" cy="237744"/>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使える</a:t>
            </a:r>
            <a:endParaRPr lang="en-US" sz="1100" dirty="0"/>
          </a:p>
        </p:txBody>
      </p:sp>
      <p:sp>
        <p:nvSpPr>
          <p:cNvPr id="13" name="Text 11"/>
          <p:cNvSpPr txBox="1"/>
          <p:nvPr/>
        </p:nvSpPr>
        <p:spPr>
          <a:xfrm>
            <a:off x="4626864" y="4626864"/>
            <a:ext cx="3017520"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WineBank経済圏</a:t>
            </a:r>
            <a:endParaRPr lang="en-US" sz="2000" dirty="0"/>
          </a:p>
        </p:txBody>
      </p:sp>
      <p:sp>
        <p:nvSpPr>
          <p:cNvPr id="14" name="Text 12"/>
          <p:cNvSpPr txBox="1"/>
          <p:nvPr/>
        </p:nvSpPr>
        <p:spPr>
          <a:xfrm>
            <a:off x="4626864" y="5029200"/>
            <a:ext cx="3017520" cy="384048"/>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会食・贈答・イベント・オークション・ワイナート</a:t>
            </a:r>
            <a:endParaRPr lang="en-US" sz="1000" dirty="0"/>
          </a:p>
        </p:txBody>
      </p:sp>
      <p:sp>
        <p:nvSpPr>
          <p:cNvPr id="15" name="Shape 13"/>
          <p:cNvSpPr/>
          <p:nvPr/>
        </p:nvSpPr>
        <p:spPr>
          <a:xfrm>
            <a:off x="8138160" y="4206240"/>
            <a:ext cx="3529584" cy="1280160"/>
          </a:xfrm>
          <a:prstGeom prst="roundRect">
            <a:avLst>
              <a:gd name="adj" fmla="val 428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6" name="Text 14"/>
          <p:cNvSpPr txBox="1"/>
          <p:nvPr/>
        </p:nvSpPr>
        <p:spPr>
          <a:xfrm>
            <a:off x="8412480" y="4370832"/>
            <a:ext cx="3017520" cy="237744"/>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育つ</a:t>
            </a:r>
            <a:endParaRPr lang="en-US" sz="1100" dirty="0"/>
          </a:p>
        </p:txBody>
      </p:sp>
      <p:sp>
        <p:nvSpPr>
          <p:cNvPr id="17" name="Text 15"/>
          <p:cNvSpPr txBox="1"/>
          <p:nvPr/>
        </p:nvSpPr>
        <p:spPr>
          <a:xfrm>
            <a:off x="8412480" y="4626864"/>
            <a:ext cx="3017520"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値上がりの75%</a:t>
            </a:r>
            <a:endParaRPr lang="en-US" sz="2000" dirty="0"/>
          </a:p>
        </p:txBody>
      </p:sp>
      <p:sp>
        <p:nvSpPr>
          <p:cNvPr id="18" name="Text 16"/>
          <p:cNvSpPr txBox="1"/>
          <p:nvPr/>
        </p:nvSpPr>
        <p:spPr>
          <a:xfrm>
            <a:off x="8412480" y="5029200"/>
            <a:ext cx="3017520" cy="384048"/>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キャピタルゲインは会員のもの</a:t>
            </a:r>
            <a:endParaRPr lang="en-US" sz="1000" dirty="0"/>
          </a:p>
        </p:txBody>
      </p:sp>
      <p:sp>
        <p:nvSpPr>
          <p:cNvPr id="19" name="Text 17"/>
          <p:cNvSpPr txBox="1"/>
          <p:nvPr/>
        </p:nvSpPr>
        <p:spPr>
          <a:xfrm>
            <a:off x="566928" y="6355080"/>
            <a:ext cx="11027664" cy="274320"/>
          </a:xfrm>
          <a:prstGeom prst="rect">
            <a:avLst/>
          </a:prstGeom>
          <a:noFill/>
          <a:ln/>
        </p:spPr>
        <p:txBody>
          <a:bodyPr wrap="square" lIns="0" tIns="0" rIns="0" bIns="0" rtlCol="0" anchor="ctr"/>
          <a:lstStyle/>
          <a:p>
            <a:pPr indent="0" marL="0">
              <a:buNone/>
            </a:pPr>
            <a:r>
              <a:rPr lang="en-US" sz="1000" dirty="0">
                <a:solidFill>
                  <a:srgbClr val="6B5A5F"/>
                </a:solidFill>
                <a:latin typeface="Arial" pitchFamily="34" charset="0"/>
                <a:ea typeface="Arial" pitchFamily="34" charset="-122"/>
                <a:cs typeface="Arial" pitchFamily="34" charset="-120"/>
              </a:rPr>
              <a:t>2026年8月｜株式会社WineBank｜社外秘</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PROBLEM</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ワイン投資は、まだ「買うだけ」で終わっている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商品が悪いのではありません。買ったあとに起きることが、設計されてこなかっただけです。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3529584" cy="3200400"/>
          </a:xfrm>
          <a:prstGeom prst="roundRect">
            <a:avLst>
              <a:gd name="adj" fmla="val 171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847088"/>
            <a:ext cx="2962656" cy="219456"/>
          </a:xfrm>
          <a:prstGeom prst="rect">
            <a:avLst/>
          </a:prstGeom>
          <a:noFill/>
          <a:ln/>
        </p:spPr>
        <p:txBody>
          <a:bodyPr wrap="square" lIns="0" tIns="0" rIns="0" bIns="0" rtlCol="0" anchor="ctr"/>
          <a:lstStyle/>
          <a:p>
            <a:pPr indent="0" marL="0">
              <a:buNone/>
            </a:pPr>
            <a:r>
              <a:rPr lang="en-US" sz="950" b="1" spc="200" kern="0" dirty="0">
                <a:solidFill>
                  <a:srgbClr val="C9A227"/>
                </a:solidFill>
                <a:latin typeface="Arial" pitchFamily="34" charset="0"/>
                <a:ea typeface="Arial" pitchFamily="34" charset="-122"/>
                <a:cs typeface="Arial" pitchFamily="34" charset="-120"/>
              </a:rPr>
              <a:t>これまで</a:t>
            </a:r>
            <a:endParaRPr lang="en-US" sz="950" dirty="0"/>
          </a:p>
        </p:txBody>
      </p:sp>
      <p:sp>
        <p:nvSpPr>
          <p:cNvPr id="8" name="Text 6"/>
          <p:cNvSpPr txBox="1"/>
          <p:nvPr/>
        </p:nvSpPr>
        <p:spPr>
          <a:xfrm>
            <a:off x="859536" y="2103120"/>
            <a:ext cx="2962656" cy="329184"/>
          </a:xfrm>
          <a:prstGeom prst="rect">
            <a:avLst/>
          </a:prstGeom>
          <a:noFill/>
          <a:ln/>
        </p:spPr>
        <p:txBody>
          <a:bodyPr wrap="square" lIns="0" tIns="0" rIns="0" bIns="0" rtlCol="0" anchor="ctr"/>
          <a:lstStyle/>
          <a:p>
            <a:pPr indent="0" marL="0">
              <a:buNone/>
            </a:pPr>
            <a:r>
              <a:rPr lang="en-US" sz="1700" b="1" dirty="0">
                <a:solidFill>
                  <a:srgbClr val="E0A458"/>
                </a:solidFill>
                <a:latin typeface="Meiryo" pitchFamily="34" charset="0"/>
                <a:ea typeface="Meiryo" pitchFamily="34" charset="-122"/>
                <a:cs typeface="Meiryo" pitchFamily="34" charset="-120"/>
              </a:rPr>
              <a:t>ワイン投資 1.0</a:t>
            </a:r>
            <a:endParaRPr lang="en-US" sz="1700" dirty="0"/>
          </a:p>
        </p:txBody>
      </p:sp>
      <p:sp>
        <p:nvSpPr>
          <p:cNvPr id="9" name="Text 7"/>
          <p:cNvSpPr txBox="1"/>
          <p:nvPr/>
        </p:nvSpPr>
        <p:spPr>
          <a:xfrm>
            <a:off x="859536" y="2505456"/>
            <a:ext cx="2962656"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買うだけ</a:t>
            </a:r>
            <a:endParaRPr lang="en-US" sz="1400" dirty="0"/>
          </a:p>
        </p:txBody>
      </p:sp>
      <p:sp>
        <p:nvSpPr>
          <p:cNvPr id="10" name="Text 8"/>
          <p:cNvSpPr txBox="1"/>
          <p:nvPr/>
        </p:nvSpPr>
        <p:spPr>
          <a:xfrm>
            <a:off x="859536" y="2962656"/>
            <a:ext cx="2962656" cy="1737360"/>
          </a:xfrm>
          <a:prstGeom prst="rect">
            <a:avLst/>
          </a:prstGeom>
          <a:noFill/>
          <a:ln/>
        </p:spPr>
        <p:txBody>
          <a:bodyPr wrap="square" lIns="0" tIns="0" rIns="0" bIns="0" rtlCol="0" anchor="t"/>
          <a:lstStyle/>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買って、預けて、終わり</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接点は年に数回の時価確認</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コンテンツもコミュニケーションもない</a:t>
            </a:r>
            <a:endParaRPr lang="en-US" sz="1150" dirty="0"/>
          </a:p>
        </p:txBody>
      </p:sp>
      <p:sp>
        <p:nvSpPr>
          <p:cNvPr id="11" name="Shape 9"/>
          <p:cNvSpPr/>
          <p:nvPr/>
        </p:nvSpPr>
        <p:spPr>
          <a:xfrm>
            <a:off x="4352544" y="1664208"/>
            <a:ext cx="3529584" cy="3200400"/>
          </a:xfrm>
          <a:prstGeom prst="roundRect">
            <a:avLst>
              <a:gd name="adj" fmla="val 171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4645152" y="1847088"/>
            <a:ext cx="2962656" cy="219456"/>
          </a:xfrm>
          <a:prstGeom prst="rect">
            <a:avLst/>
          </a:prstGeom>
          <a:noFill/>
          <a:ln/>
        </p:spPr>
        <p:txBody>
          <a:bodyPr wrap="square" lIns="0" tIns="0" rIns="0" bIns="0" rtlCol="0" anchor="ctr"/>
          <a:lstStyle/>
          <a:p>
            <a:pPr indent="0" marL="0">
              <a:buNone/>
            </a:pPr>
            <a:r>
              <a:rPr lang="en-US" sz="950" b="1" spc="200" kern="0" dirty="0">
                <a:solidFill>
                  <a:srgbClr val="C9A227"/>
                </a:solidFill>
                <a:latin typeface="Arial" pitchFamily="34" charset="0"/>
                <a:ea typeface="Arial" pitchFamily="34" charset="-122"/>
                <a:cs typeface="Arial" pitchFamily="34" charset="-120"/>
              </a:rPr>
              <a:t>リニューアル後</a:t>
            </a:r>
            <a:endParaRPr lang="en-US" sz="950" dirty="0"/>
          </a:p>
        </p:txBody>
      </p:sp>
      <p:sp>
        <p:nvSpPr>
          <p:cNvPr id="13" name="Text 11"/>
          <p:cNvSpPr txBox="1"/>
          <p:nvPr/>
        </p:nvSpPr>
        <p:spPr>
          <a:xfrm>
            <a:off x="4645152" y="2103120"/>
            <a:ext cx="2962656" cy="329184"/>
          </a:xfrm>
          <a:prstGeom prst="rect">
            <a:avLst/>
          </a:prstGeom>
          <a:noFill/>
          <a:ln/>
        </p:spPr>
        <p:txBody>
          <a:bodyPr wrap="square" lIns="0" tIns="0" rIns="0" bIns="0" rtlCol="0" anchor="ctr"/>
          <a:lstStyle/>
          <a:p>
            <a:pPr indent="0" marL="0">
              <a:buNone/>
            </a:pPr>
            <a:r>
              <a:rPr lang="en-US" sz="1700" b="1" dirty="0">
                <a:solidFill>
                  <a:srgbClr val="F2EDE6"/>
                </a:solidFill>
                <a:latin typeface="Meiryo" pitchFamily="34" charset="0"/>
                <a:ea typeface="Meiryo" pitchFamily="34" charset="-122"/>
                <a:cs typeface="Meiryo" pitchFamily="34" charset="-120"/>
              </a:rPr>
              <a:t>ワイン投資 2.1</a:t>
            </a:r>
            <a:endParaRPr lang="en-US" sz="1700" dirty="0"/>
          </a:p>
        </p:txBody>
      </p:sp>
      <p:sp>
        <p:nvSpPr>
          <p:cNvPr id="14" name="Text 12"/>
          <p:cNvSpPr txBox="1"/>
          <p:nvPr/>
        </p:nvSpPr>
        <p:spPr>
          <a:xfrm>
            <a:off x="4645152" y="2505456"/>
            <a:ext cx="2962656"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コンテンツを載せた</a:t>
            </a:r>
            <a:endParaRPr lang="en-US" sz="1400" dirty="0"/>
          </a:p>
        </p:txBody>
      </p:sp>
      <p:sp>
        <p:nvSpPr>
          <p:cNvPr id="15" name="Text 13"/>
          <p:cNvSpPr txBox="1"/>
          <p:nvPr/>
        </p:nvSpPr>
        <p:spPr>
          <a:xfrm>
            <a:off x="4645152" y="2962656"/>
            <a:ext cx="2962656" cy="1737360"/>
          </a:xfrm>
          <a:prstGeom prst="rect">
            <a:avLst/>
          </a:prstGeom>
          <a:noFill/>
          <a:ln/>
        </p:spPr>
        <p:txBody>
          <a:bodyPr wrap="square" lIns="0" tIns="0" rIns="0" bIns="0" rtlCol="0" anchor="t"/>
          <a:lstStyle/>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ファンド実績・指数・銘柄情報</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マイページで時価が見える</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情報は届く。ただ、それだけ</a:t>
            </a:r>
            <a:endParaRPr lang="en-US" sz="1150" dirty="0"/>
          </a:p>
        </p:txBody>
      </p:sp>
      <p:sp>
        <p:nvSpPr>
          <p:cNvPr id="16" name="Shape 14"/>
          <p:cNvSpPr/>
          <p:nvPr/>
        </p:nvSpPr>
        <p:spPr>
          <a:xfrm>
            <a:off x="8138160" y="1664208"/>
            <a:ext cx="3529584" cy="3200400"/>
          </a:xfrm>
          <a:prstGeom prst="roundRect">
            <a:avLst>
              <a:gd name="adj" fmla="val 1714"/>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8430768" y="1847088"/>
            <a:ext cx="2962656" cy="219456"/>
          </a:xfrm>
          <a:prstGeom prst="rect">
            <a:avLst/>
          </a:prstGeom>
          <a:noFill/>
          <a:ln/>
        </p:spPr>
        <p:txBody>
          <a:bodyPr wrap="square" lIns="0" tIns="0" rIns="0" bIns="0" rtlCol="0" anchor="ctr"/>
          <a:lstStyle/>
          <a:p>
            <a:pPr indent="0" marL="0">
              <a:buNone/>
            </a:pPr>
            <a:r>
              <a:rPr lang="en-US" sz="950" b="1" spc="200" kern="0" dirty="0">
                <a:solidFill>
                  <a:srgbClr val="C9A227"/>
                </a:solidFill>
                <a:latin typeface="Arial" pitchFamily="34" charset="0"/>
                <a:ea typeface="Arial" pitchFamily="34" charset="-122"/>
                <a:cs typeface="Arial" pitchFamily="34" charset="-120"/>
              </a:rPr>
              <a:t>本提案</a:t>
            </a:r>
            <a:endParaRPr lang="en-US" sz="950" dirty="0"/>
          </a:p>
        </p:txBody>
      </p:sp>
      <p:sp>
        <p:nvSpPr>
          <p:cNvPr id="18" name="Text 16"/>
          <p:cNvSpPr txBox="1"/>
          <p:nvPr/>
        </p:nvSpPr>
        <p:spPr>
          <a:xfrm>
            <a:off x="8430768" y="2103120"/>
            <a:ext cx="2962656" cy="329184"/>
          </a:xfrm>
          <a:prstGeom prst="rect">
            <a:avLst/>
          </a:prstGeom>
          <a:noFill/>
          <a:ln/>
        </p:spPr>
        <p:txBody>
          <a:bodyPr wrap="square" lIns="0" tIns="0" rIns="0" bIns="0" rtlCol="0" anchor="ctr"/>
          <a:lstStyle/>
          <a:p>
            <a:pPr indent="0" marL="0">
              <a:buNone/>
            </a:pPr>
            <a:r>
              <a:rPr lang="en-US" sz="1700" b="1" dirty="0">
                <a:solidFill>
                  <a:srgbClr val="7FD1AE"/>
                </a:solidFill>
                <a:latin typeface="Meiryo" pitchFamily="34" charset="0"/>
                <a:ea typeface="Meiryo" pitchFamily="34" charset="-122"/>
                <a:cs typeface="Meiryo" pitchFamily="34" charset="-120"/>
              </a:rPr>
              <a:t>ワイン投資 3.0</a:t>
            </a:r>
            <a:endParaRPr lang="en-US" sz="1700" dirty="0"/>
          </a:p>
        </p:txBody>
      </p:sp>
      <p:sp>
        <p:nvSpPr>
          <p:cNvPr id="19" name="Text 17"/>
          <p:cNvSpPr txBox="1"/>
          <p:nvPr/>
        </p:nvSpPr>
        <p:spPr>
          <a:xfrm>
            <a:off x="8430768" y="2505456"/>
            <a:ext cx="2962656"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コミュニケーションを足す</a:t>
            </a:r>
            <a:endParaRPr lang="en-US" sz="1400" dirty="0"/>
          </a:p>
        </p:txBody>
      </p:sp>
      <p:sp>
        <p:nvSpPr>
          <p:cNvPr id="20" name="Text 18"/>
          <p:cNvSpPr txBox="1"/>
          <p:nvPr/>
        </p:nvSpPr>
        <p:spPr>
          <a:xfrm>
            <a:off x="8430768" y="2962656"/>
            <a:ext cx="2962656" cy="1737360"/>
          </a:xfrm>
          <a:prstGeom prst="rect">
            <a:avLst/>
          </a:prstGeom>
          <a:noFill/>
          <a:ln/>
        </p:spPr>
        <p:txBody>
          <a:bodyPr wrap="square" lIns="0" tIns="0" rIns="0" bIns="0" rtlCol="0" anchor="t"/>
          <a:lstStyle/>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ワインマイルが貯まり、使われる</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会食・贈答・オークションが動く</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他の会員の一本が見える</a:t>
            </a:r>
            <a:endParaRPr lang="en-US" sz="1150" dirty="0"/>
          </a:p>
        </p:txBody>
      </p:sp>
      <p:sp>
        <p:nvSpPr>
          <p:cNvPr id="21" name="Shape 19"/>
          <p:cNvSpPr/>
          <p:nvPr/>
        </p:nvSpPr>
        <p:spPr>
          <a:xfrm>
            <a:off x="566928" y="5084064"/>
            <a:ext cx="11027664" cy="969264"/>
          </a:xfrm>
          <a:prstGeom prst="roundRect">
            <a:avLst>
              <a:gd name="adj" fmla="val 566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978408" y="5285232"/>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足りないのは商品ではなく、買ったあとに起きる「出来事」でした。</a:t>
            </a:r>
            <a:endParaRPr lang="en-US" sz="1900" dirty="0"/>
          </a:p>
        </p:txBody>
      </p:sp>
      <p:sp>
        <p:nvSpPr>
          <p:cNvPr id="23" name="Text 21"/>
          <p:cNvSpPr txBox="1"/>
          <p:nvPr/>
        </p:nvSpPr>
        <p:spPr>
          <a:xfrm>
            <a:off x="978408" y="5687568"/>
            <a:ext cx="10204704" cy="292608"/>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2.1は情報を届けるところまで。3.0は、会員が動き、他の会員とつながるところまでを設計します。</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WHY</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「WineBankは、損をしていませんか？」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いちばん多くいただく質問です。正直にお答えします。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517904"/>
            <a:ext cx="11027664" cy="566928"/>
          </a:xfrm>
          <a:prstGeom prst="rect">
            <a:avLst/>
          </a:prstGeom>
          <a:noFill/>
          <a:ln/>
        </p:spPr>
        <p:txBody>
          <a:bodyPr wrap="square" lIns="0" tIns="0" rIns="0" bIns="0" rtlCol="0" anchor="ctr"/>
          <a:lstStyle/>
          <a:p>
            <a:pPr indent="0" marL="0">
              <a:buNone/>
            </a:pPr>
            <a:r>
              <a:rPr lang="en-US" sz="3100" b="1" dirty="0">
                <a:solidFill>
                  <a:srgbClr val="E8CE78"/>
                </a:solidFill>
                <a:latin typeface="Meiryo" pitchFamily="34" charset="0"/>
                <a:ea typeface="Meiryo" pitchFamily="34" charset="-122"/>
                <a:cs typeface="Meiryo" pitchFamily="34" charset="-120"/>
              </a:rPr>
              <a:t>いいえ。先に、出しているだけです。</a:t>
            </a:r>
            <a:endParaRPr lang="en-US" sz="3100" dirty="0"/>
          </a:p>
        </p:txBody>
      </p:sp>
      <p:sp>
        <p:nvSpPr>
          <p:cNvPr id="7" name="Shape 5"/>
          <p:cNvSpPr/>
          <p:nvPr/>
        </p:nvSpPr>
        <p:spPr>
          <a:xfrm>
            <a:off x="566928" y="2286000"/>
            <a:ext cx="2606040" cy="2395728"/>
          </a:xfrm>
          <a:prstGeom prst="roundRect">
            <a:avLst>
              <a:gd name="adj" fmla="val 229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Shape 6"/>
          <p:cNvSpPr/>
          <p:nvPr/>
        </p:nvSpPr>
        <p:spPr>
          <a:xfrm>
            <a:off x="822960" y="2505456"/>
            <a:ext cx="329184" cy="329184"/>
          </a:xfrm>
          <a:prstGeom prst="ellipse">
            <a:avLst/>
          </a:prstGeom>
          <a:solidFill>
            <a:srgbClr val="C9A227"/>
          </a:solidFill>
          <a:ln w="12700">
            <a:solidFill>
              <a:srgbClr val="C9A227"/>
            </a:solidFill>
            <a:prstDash val="solid"/>
          </a:ln>
        </p:spPr>
      </p:sp>
      <p:sp>
        <p:nvSpPr>
          <p:cNvPr id="9" name="Text 7"/>
          <p:cNvSpPr txBox="1"/>
          <p:nvPr/>
        </p:nvSpPr>
        <p:spPr>
          <a:xfrm>
            <a:off x="822960" y="2505456"/>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822960"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ワイン投資だけでは、広がらなかった</a:t>
            </a:r>
            <a:endParaRPr lang="en-US" sz="1350" dirty="0"/>
          </a:p>
        </p:txBody>
      </p:sp>
      <p:sp>
        <p:nvSpPr>
          <p:cNvPr id="11" name="Text 9"/>
          <p:cNvSpPr txBox="1"/>
          <p:nvPr/>
        </p:nvSpPr>
        <p:spPr>
          <a:xfrm>
            <a:off x="822960"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持っているだけでは、ワインは資産のまま。飲む相手も、語る相手もいない。豊かにするには、コミュニティが要る。そこに気づきました。</a:t>
            </a:r>
            <a:endParaRPr lang="en-US" sz="1050" dirty="0"/>
          </a:p>
        </p:txBody>
      </p:sp>
      <p:sp>
        <p:nvSpPr>
          <p:cNvPr id="12" name="Shape 10"/>
          <p:cNvSpPr/>
          <p:nvPr/>
        </p:nvSpPr>
        <p:spPr>
          <a:xfrm>
            <a:off x="3374136" y="2286000"/>
            <a:ext cx="2606040" cy="2395728"/>
          </a:xfrm>
          <a:prstGeom prst="roundRect">
            <a:avLst>
              <a:gd name="adj" fmla="val 229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3630168" y="2505456"/>
            <a:ext cx="329184" cy="329184"/>
          </a:xfrm>
          <a:prstGeom prst="ellipse">
            <a:avLst/>
          </a:prstGeom>
          <a:solidFill>
            <a:srgbClr val="C9A227"/>
          </a:solidFill>
          <a:ln w="12700">
            <a:solidFill>
              <a:srgbClr val="C9A227"/>
            </a:solidFill>
            <a:prstDash val="solid"/>
          </a:ln>
        </p:spPr>
      </p:sp>
      <p:sp>
        <p:nvSpPr>
          <p:cNvPr id="14" name="Text 12"/>
          <p:cNvSpPr txBox="1"/>
          <p:nvPr/>
        </p:nvSpPr>
        <p:spPr>
          <a:xfrm>
            <a:off x="3630168" y="2505456"/>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3630168"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だから去年、WineBank CLUBをつくった</a:t>
            </a:r>
            <a:endParaRPr lang="en-US" sz="1350" dirty="0"/>
          </a:p>
        </p:txBody>
      </p:sp>
      <p:sp>
        <p:nvSpPr>
          <p:cNvPr id="16" name="Text 14"/>
          <p:cNvSpPr txBox="1"/>
          <p:nvPr/>
        </p:nvSpPr>
        <p:spPr>
          <a:xfrm>
            <a:off x="3630168"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そこで会員の皆さまから聞いた声が、すべての出発点でした。「もっと、ワインを通じて人と繋がりたい」。この一言です。</a:t>
            </a:r>
            <a:endParaRPr lang="en-US" sz="1050" dirty="0"/>
          </a:p>
        </p:txBody>
      </p:sp>
      <p:sp>
        <p:nvSpPr>
          <p:cNvPr id="17" name="Shape 15"/>
          <p:cNvSpPr/>
          <p:nvPr/>
        </p:nvSpPr>
        <p:spPr>
          <a:xfrm>
            <a:off x="6181344" y="2286000"/>
            <a:ext cx="2606040" cy="2395728"/>
          </a:xfrm>
          <a:prstGeom prst="roundRect">
            <a:avLst>
              <a:gd name="adj" fmla="val 229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8" name="Shape 16"/>
          <p:cNvSpPr/>
          <p:nvPr/>
        </p:nvSpPr>
        <p:spPr>
          <a:xfrm>
            <a:off x="6437376" y="2505456"/>
            <a:ext cx="329184" cy="329184"/>
          </a:xfrm>
          <a:prstGeom prst="ellipse">
            <a:avLst/>
          </a:prstGeom>
          <a:solidFill>
            <a:srgbClr val="C9A227"/>
          </a:solidFill>
          <a:ln w="12700">
            <a:solidFill>
              <a:srgbClr val="C9A227"/>
            </a:solidFill>
            <a:prstDash val="solid"/>
          </a:ln>
        </p:spPr>
      </p:sp>
      <p:sp>
        <p:nvSpPr>
          <p:cNvPr id="19" name="Text 17"/>
          <p:cNvSpPr txBox="1"/>
          <p:nvPr/>
        </p:nvSpPr>
        <p:spPr>
          <a:xfrm>
            <a:off x="6437376" y="2505456"/>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6437376"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だから、先に渡すことにした</a:t>
            </a:r>
            <a:endParaRPr lang="en-US" sz="1350" dirty="0"/>
          </a:p>
        </p:txBody>
      </p:sp>
      <p:sp>
        <p:nvSpPr>
          <p:cNvPr id="21" name="Text 19"/>
          <p:cNvSpPr txBox="1"/>
          <p:nvPr/>
        </p:nvSpPr>
        <p:spPr>
          <a:xfrm>
            <a:off x="6437376"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価値は、体験しないと分かりません。だから一定数ご購入いただいた方に、まずマイルをお渡しします。使って、集まって、また誰かを連れてきてもらう。</a:t>
            </a:r>
            <a:endParaRPr lang="en-US" sz="1050" dirty="0"/>
          </a:p>
        </p:txBody>
      </p:sp>
      <p:sp>
        <p:nvSpPr>
          <p:cNvPr id="22" name="Shape 20"/>
          <p:cNvSpPr/>
          <p:nvPr/>
        </p:nvSpPr>
        <p:spPr>
          <a:xfrm>
            <a:off x="8988552" y="2286000"/>
            <a:ext cx="2606040" cy="2395728"/>
          </a:xfrm>
          <a:prstGeom prst="roundRect">
            <a:avLst>
              <a:gd name="adj" fmla="val 229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3" name="Shape 21"/>
          <p:cNvSpPr/>
          <p:nvPr/>
        </p:nvSpPr>
        <p:spPr>
          <a:xfrm>
            <a:off x="9244584" y="2505456"/>
            <a:ext cx="329184" cy="329184"/>
          </a:xfrm>
          <a:prstGeom prst="ellipse">
            <a:avLst/>
          </a:prstGeom>
          <a:solidFill>
            <a:srgbClr val="C9A227"/>
          </a:solidFill>
          <a:ln w="12700">
            <a:solidFill>
              <a:srgbClr val="C9A227"/>
            </a:solidFill>
            <a:prstDash val="solid"/>
          </a:ln>
        </p:spPr>
      </p:sp>
      <p:sp>
        <p:nvSpPr>
          <p:cNvPr id="24" name="Text 22"/>
          <p:cNvSpPr txBox="1"/>
          <p:nvPr/>
        </p:nvSpPr>
        <p:spPr>
          <a:xfrm>
            <a:off x="9244584" y="2505456"/>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244584"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原資は、ワインの未来です</a:t>
            </a:r>
            <a:endParaRPr lang="en-US" sz="1350" dirty="0"/>
          </a:p>
        </p:txBody>
      </p:sp>
      <p:sp>
        <p:nvSpPr>
          <p:cNvPr id="26" name="Text 24"/>
          <p:cNvSpPr txBox="1"/>
          <p:nvPr/>
        </p:nvSpPr>
        <p:spPr>
          <a:xfrm>
            <a:off x="9244584"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ワインは値上がりする。私たちはそう信じています。その未来を先読みして、私たちもお客様と一緒にリスクを取り、先にお渡しする。</a:t>
            </a:r>
            <a:endParaRPr lang="en-US" sz="1050" dirty="0"/>
          </a:p>
        </p:txBody>
      </p:sp>
      <p:sp>
        <p:nvSpPr>
          <p:cNvPr id="27" name="Shape 25"/>
          <p:cNvSpPr/>
          <p:nvPr/>
        </p:nvSpPr>
        <p:spPr>
          <a:xfrm>
            <a:off x="566928" y="4882896"/>
            <a:ext cx="11027664" cy="1170432"/>
          </a:xfrm>
          <a:prstGeom prst="roundRect">
            <a:avLst>
              <a:gd name="adj" fmla="val 4688"/>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8" name="Text 26"/>
          <p:cNvSpPr txBox="1"/>
          <p:nvPr/>
        </p:nvSpPr>
        <p:spPr>
          <a:xfrm>
            <a:off x="978408" y="5084064"/>
            <a:ext cx="10204704" cy="402336"/>
          </a:xfrm>
          <a:prstGeom prst="rect">
            <a:avLst/>
          </a:prstGeom>
          <a:noFill/>
          <a:ln/>
        </p:spPr>
        <p:txBody>
          <a:bodyPr wrap="square" lIns="0" tIns="0" rIns="0" bIns="0" rtlCol="0" anchor="ctr"/>
          <a:lstStyle/>
          <a:p>
            <a:pPr indent="0" marL="0">
              <a:buNone/>
            </a:pPr>
            <a:r>
              <a:rPr lang="en-US" sz="2100" b="1" dirty="0">
                <a:solidFill>
                  <a:srgbClr val="E8CE78"/>
                </a:solidFill>
                <a:latin typeface="Meiryo" pitchFamily="34" charset="0"/>
                <a:ea typeface="Meiryo" pitchFamily="34" charset="-122"/>
                <a:cs typeface="Meiryo" pitchFamily="34" charset="-120"/>
              </a:rPr>
              <a:t>損をしているのではありません。先に出して、一緒に賭けているだけです。</a:t>
            </a:r>
            <a:endParaRPr lang="en-US" sz="2100" dirty="0"/>
          </a:p>
        </p:txBody>
      </p:sp>
      <p:sp>
        <p:nvSpPr>
          <p:cNvPr id="29" name="Text 27"/>
          <p:cNvSpPr txBox="1"/>
          <p:nvPr/>
        </p:nvSpPr>
        <p:spPr>
          <a:xfrm>
            <a:off x="978408" y="5541264"/>
            <a:ext cx="10204704" cy="384048"/>
          </a:xfrm>
          <a:prstGeom prst="rect">
            <a:avLst/>
          </a:prstGeom>
          <a:noFill/>
          <a:ln/>
        </p:spPr>
        <p:txBody>
          <a:bodyPr wrap="square" lIns="0" tIns="0" rIns="0" bIns="0" rtlCol="0" anchor="ctr"/>
          <a:lstStyle/>
          <a:p>
            <a:pPr indent="0" marL="0">
              <a:buNone/>
            </a:pPr>
            <a:r>
              <a:rPr lang="en-US" sz="1300" dirty="0">
                <a:solidFill>
                  <a:srgbClr val="F2EDE6"/>
                </a:solidFill>
                <a:latin typeface="Meiryo" pitchFamily="34" charset="0"/>
                <a:ea typeface="Meiryo" pitchFamily="34" charset="-122"/>
                <a:cs typeface="Meiryo" pitchFamily="34" charset="-120"/>
              </a:rPr>
              <a:t>だから管理費の一部と、将来の利益の一部を——お客様の取り分を優先したうえで——分けていただく。増えたら、分け合う。それだけのことです。</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INSIGHT</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ワイン＝コンテンツ。ワインマイル＝コミュニケーション。</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SNSの本質は、本来別々だった二つを一体化させたこと。ワインでも同じことが起きます。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3017520" cy="3017520"/>
          </a:xfrm>
          <a:prstGeom prst="roundRect">
            <a:avLst>
              <a:gd name="adj" fmla="val 1818"/>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828800"/>
            <a:ext cx="2432304" cy="402336"/>
          </a:xfrm>
          <a:prstGeom prst="rect">
            <a:avLst/>
          </a:prstGeom>
          <a:noFill/>
          <a:ln/>
        </p:spPr>
        <p:txBody>
          <a:bodyPr wrap="square" lIns="0" tIns="0" rIns="0" bIns="0" rtlCol="0" anchor="ctr"/>
          <a:lstStyle/>
          <a:p>
            <a:pPr indent="0" marL="0">
              <a:buNone/>
            </a:pPr>
            <a:r>
              <a:rPr lang="en-US" sz="2400" b="1" dirty="0">
                <a:solidFill>
                  <a:srgbClr val="E8CE78"/>
                </a:solidFill>
                <a:latin typeface="Meiryo" pitchFamily="34" charset="0"/>
                <a:ea typeface="Meiryo" pitchFamily="34" charset="-122"/>
                <a:cs typeface="Meiryo" pitchFamily="34" charset="-120"/>
              </a:rPr>
              <a:t>ワイン</a:t>
            </a:r>
            <a:endParaRPr lang="en-US" sz="2400" dirty="0"/>
          </a:p>
        </p:txBody>
      </p:sp>
      <p:sp>
        <p:nvSpPr>
          <p:cNvPr id="8" name="Text 6"/>
          <p:cNvSpPr txBox="1"/>
          <p:nvPr/>
        </p:nvSpPr>
        <p:spPr>
          <a:xfrm>
            <a:off x="859536" y="2267712"/>
            <a:ext cx="2432304" cy="274320"/>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 コンテンツ</a:t>
            </a:r>
            <a:endParaRPr lang="en-US" sz="1300" dirty="0"/>
          </a:p>
        </p:txBody>
      </p:sp>
      <p:sp>
        <p:nvSpPr>
          <p:cNvPr id="9" name="Text 7"/>
          <p:cNvSpPr txBox="1"/>
          <p:nvPr/>
        </p:nvSpPr>
        <p:spPr>
          <a:xfrm>
            <a:off x="859536" y="2670048"/>
            <a:ext cx="2432304" cy="100584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現物資産。時価が動き、飲み頃が来て、いつか開けられる。ここまでは2.1で作れました。</a:t>
            </a:r>
            <a:endParaRPr lang="en-US" sz="1150" dirty="0"/>
          </a:p>
        </p:txBody>
      </p:sp>
      <p:sp>
        <p:nvSpPr>
          <p:cNvPr id="10" name="Text 8"/>
          <p:cNvSpPr txBox="1"/>
          <p:nvPr/>
        </p:nvSpPr>
        <p:spPr>
          <a:xfrm>
            <a:off x="3675888" y="2834640"/>
            <a:ext cx="365760" cy="365760"/>
          </a:xfrm>
          <a:prstGeom prst="rect">
            <a:avLst/>
          </a:prstGeom>
          <a:noFill/>
          <a:ln/>
        </p:spPr>
        <p:txBody>
          <a:bodyPr wrap="square" lIns="0" tIns="0" rIns="0" bIns="0" rtlCol="0" anchor="ctr"/>
          <a:lstStyle/>
          <a:p>
            <a:pPr algn="ctr" indent="0" marL="0">
              <a:buNone/>
            </a:pPr>
            <a:r>
              <a:rPr lang="en-US" sz="2200" b="1" dirty="0">
                <a:solidFill>
                  <a:srgbClr val="C9A227"/>
                </a:solidFill>
                <a:latin typeface="Meiryo" pitchFamily="34" charset="0"/>
                <a:ea typeface="Meiryo" pitchFamily="34" charset="-122"/>
                <a:cs typeface="Meiryo" pitchFamily="34" charset="-120"/>
              </a:rPr>
              <a:t>＋</a:t>
            </a:r>
            <a:endParaRPr lang="en-US" sz="2200" dirty="0"/>
          </a:p>
        </p:txBody>
      </p:sp>
      <p:sp>
        <p:nvSpPr>
          <p:cNvPr id="11" name="Shape 9"/>
          <p:cNvSpPr/>
          <p:nvPr/>
        </p:nvSpPr>
        <p:spPr>
          <a:xfrm>
            <a:off x="4133088" y="1627632"/>
            <a:ext cx="7461504" cy="3017520"/>
          </a:xfrm>
          <a:prstGeom prst="roundRect">
            <a:avLst>
              <a:gd name="adj" fmla="val 181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4425696" y="1828800"/>
            <a:ext cx="6858000" cy="402336"/>
          </a:xfrm>
          <a:prstGeom prst="rect">
            <a:avLst/>
          </a:prstGeom>
          <a:noFill/>
          <a:ln/>
        </p:spPr>
        <p:txBody>
          <a:bodyPr wrap="square" lIns="0" tIns="0" rIns="0" bIns="0" rtlCol="0" anchor="ctr"/>
          <a:lstStyle/>
          <a:p>
            <a:pPr indent="0" marL="0">
              <a:buNone/>
            </a:pPr>
            <a:r>
              <a:rPr lang="en-US" sz="2400" b="1" dirty="0">
                <a:solidFill>
                  <a:srgbClr val="C9A227"/>
                </a:solidFill>
                <a:latin typeface="Meiryo" pitchFamily="34" charset="0"/>
                <a:ea typeface="Meiryo" pitchFamily="34" charset="-122"/>
                <a:cs typeface="Meiryo" pitchFamily="34" charset="-120"/>
              </a:rPr>
              <a:t>ワインマイル</a:t>
            </a:r>
            <a:endParaRPr lang="en-US" sz="2400" dirty="0"/>
          </a:p>
        </p:txBody>
      </p:sp>
      <p:sp>
        <p:nvSpPr>
          <p:cNvPr id="13" name="Text 11"/>
          <p:cNvSpPr txBox="1"/>
          <p:nvPr/>
        </p:nvSpPr>
        <p:spPr>
          <a:xfrm>
            <a:off x="4425696" y="2267712"/>
            <a:ext cx="6858000" cy="274320"/>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 コミュニケーション　　交換先はすべて「人と会う」「人に贈る」に繋がる</a:t>
            </a:r>
            <a:endParaRPr lang="en-US" sz="1300" dirty="0"/>
          </a:p>
        </p:txBody>
      </p:sp>
      <p:sp>
        <p:nvSpPr>
          <p:cNvPr id="14" name="Shape 12"/>
          <p:cNvSpPr/>
          <p:nvPr/>
        </p:nvSpPr>
        <p:spPr>
          <a:xfrm>
            <a:off x="4425696" y="2688336"/>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448056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WineBank会員イベント</a:t>
            </a:r>
            <a:endParaRPr lang="en-US" sz="950" dirty="0"/>
          </a:p>
        </p:txBody>
      </p:sp>
      <p:sp>
        <p:nvSpPr>
          <p:cNvPr id="16" name="Shape 14"/>
          <p:cNvSpPr/>
          <p:nvPr/>
        </p:nvSpPr>
        <p:spPr>
          <a:xfrm>
            <a:off x="6163056" y="2688336"/>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621792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WineBank CLUB</a:t>
            </a:r>
            <a:endParaRPr lang="en-US" sz="950" dirty="0"/>
          </a:p>
        </p:txBody>
      </p:sp>
      <p:sp>
        <p:nvSpPr>
          <p:cNvPr id="18" name="Shape 16"/>
          <p:cNvSpPr/>
          <p:nvPr/>
        </p:nvSpPr>
        <p:spPr>
          <a:xfrm>
            <a:off x="7900416" y="2688336"/>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9" name="Text 17"/>
          <p:cNvSpPr txBox="1"/>
          <p:nvPr/>
        </p:nvSpPr>
        <p:spPr>
          <a:xfrm>
            <a:off x="795528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系列店での会食</a:t>
            </a:r>
            <a:endParaRPr lang="en-US" sz="950" dirty="0"/>
          </a:p>
        </p:txBody>
      </p:sp>
      <p:sp>
        <p:nvSpPr>
          <p:cNvPr id="20" name="Shape 18"/>
          <p:cNvSpPr/>
          <p:nvPr/>
        </p:nvSpPr>
        <p:spPr>
          <a:xfrm>
            <a:off x="9637776" y="2688336"/>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1" name="Text 19"/>
          <p:cNvSpPr txBox="1"/>
          <p:nvPr/>
        </p:nvSpPr>
        <p:spPr>
          <a:xfrm>
            <a:off x="969264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ワインの贈答</a:t>
            </a:r>
            <a:endParaRPr lang="en-US" sz="950" dirty="0"/>
          </a:p>
        </p:txBody>
      </p:sp>
      <p:sp>
        <p:nvSpPr>
          <p:cNvPr id="22" name="Shape 20"/>
          <p:cNvSpPr/>
          <p:nvPr/>
        </p:nvSpPr>
        <p:spPr>
          <a:xfrm>
            <a:off x="4425696" y="3200400"/>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3" name="Text 21"/>
          <p:cNvSpPr txBox="1"/>
          <p:nvPr/>
        </p:nvSpPr>
        <p:spPr>
          <a:xfrm>
            <a:off x="448056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マーケットプレイス／オークション</a:t>
            </a:r>
            <a:endParaRPr lang="en-US" sz="950" dirty="0"/>
          </a:p>
        </p:txBody>
      </p:sp>
      <p:sp>
        <p:nvSpPr>
          <p:cNvPr id="24" name="Shape 22"/>
          <p:cNvSpPr/>
          <p:nvPr/>
        </p:nvSpPr>
        <p:spPr>
          <a:xfrm>
            <a:off x="6163056" y="3200400"/>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5" name="Text 23"/>
          <p:cNvSpPr txBox="1"/>
          <p:nvPr/>
        </p:nvSpPr>
        <p:spPr>
          <a:xfrm>
            <a:off x="621792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BYO（持ち込み）</a:t>
            </a:r>
            <a:endParaRPr lang="en-US" sz="950" dirty="0"/>
          </a:p>
        </p:txBody>
      </p:sp>
      <p:sp>
        <p:nvSpPr>
          <p:cNvPr id="26" name="Shape 24"/>
          <p:cNvSpPr/>
          <p:nvPr/>
        </p:nvSpPr>
        <p:spPr>
          <a:xfrm>
            <a:off x="7900416" y="3200400"/>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795528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配送</a:t>
            </a:r>
            <a:endParaRPr lang="en-US" sz="950" dirty="0"/>
          </a:p>
        </p:txBody>
      </p:sp>
      <p:sp>
        <p:nvSpPr>
          <p:cNvPr id="28" name="Shape 26"/>
          <p:cNvSpPr/>
          <p:nvPr/>
        </p:nvSpPr>
        <p:spPr>
          <a:xfrm>
            <a:off x="9637776" y="3200400"/>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9" name="Text 27"/>
          <p:cNvSpPr txBox="1"/>
          <p:nvPr/>
        </p:nvSpPr>
        <p:spPr>
          <a:xfrm>
            <a:off x="969264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ワイナート年間購読</a:t>
            </a:r>
            <a:endParaRPr lang="en-US" sz="950" dirty="0"/>
          </a:p>
        </p:txBody>
      </p:sp>
      <p:sp>
        <p:nvSpPr>
          <p:cNvPr id="30" name="Text 28"/>
          <p:cNvSpPr txBox="1"/>
          <p:nvPr/>
        </p:nvSpPr>
        <p:spPr>
          <a:xfrm>
            <a:off x="4425696" y="3803904"/>
            <a:ext cx="685800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※今後、WineBankが提供するサービス（ワイナリー・オーベルジュ等）へ順次拡大</a:t>
            </a:r>
            <a:endParaRPr lang="en-US" sz="1050" dirty="0"/>
          </a:p>
        </p:txBody>
      </p:sp>
      <p:sp>
        <p:nvSpPr>
          <p:cNvPr id="31" name="Shape 29"/>
          <p:cNvSpPr/>
          <p:nvPr/>
        </p:nvSpPr>
        <p:spPr>
          <a:xfrm>
            <a:off x="566928" y="4846320"/>
            <a:ext cx="11027664"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2" name="Text 30"/>
          <p:cNvSpPr txBox="1"/>
          <p:nvPr/>
        </p:nvSpPr>
        <p:spPr>
          <a:xfrm>
            <a:off x="978408" y="5047488"/>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ワインは、一人では飲みません。だからマイルは、必ず誰かと過ごす時間に変わります。</a:t>
            </a:r>
            <a:endParaRPr lang="en-US" sz="1900" dirty="0"/>
          </a:p>
        </p:txBody>
      </p:sp>
      <p:sp>
        <p:nvSpPr>
          <p:cNvPr id="33" name="Text 31"/>
          <p:cNvSpPr txBox="1"/>
          <p:nvPr/>
        </p:nvSpPr>
        <p:spPr>
          <a:xfrm>
            <a:off x="978408" y="5504688"/>
            <a:ext cx="10204704" cy="365760"/>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現金の還元は口座で終わります。マイルの還元は、食卓か、贈り先か、次の一本に必ず着地します。</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WHY IT NEVER ENDS</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「マイルも使い切ったら終わり」——終わるのは残高だけです</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終わらないのは、マイルが貯まる理由のほうです。イベント案内やメルマガのことではありません。</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91640"/>
            <a:ext cx="3529584" cy="2606040"/>
          </a:xfrm>
          <a:prstGeom prst="roundRect">
            <a:avLst>
              <a:gd name="adj" fmla="val 210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41248" y="1901952"/>
            <a:ext cx="329184" cy="329184"/>
          </a:xfrm>
          <a:prstGeom prst="ellipse">
            <a:avLst/>
          </a:prstGeom>
          <a:solidFill>
            <a:srgbClr val="C9A227"/>
          </a:solidFill>
          <a:ln w="12700">
            <a:solidFill>
              <a:srgbClr val="C9A227"/>
            </a:solidFill>
            <a:prstDash val="solid"/>
          </a:ln>
        </p:spPr>
      </p:sp>
      <p:sp>
        <p:nvSpPr>
          <p:cNvPr id="8" name="Text 6"/>
          <p:cNvSpPr txBox="1"/>
          <p:nvPr/>
        </p:nvSpPr>
        <p:spPr>
          <a:xfrm>
            <a:off x="841248" y="190195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80160" y="1920240"/>
            <a:ext cx="2578608"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行動に対して、毎回貯まる</a:t>
            </a:r>
            <a:endParaRPr lang="en-US" sz="1400" dirty="0"/>
          </a:p>
        </p:txBody>
      </p:sp>
      <p:sp>
        <p:nvSpPr>
          <p:cNvPr id="10" name="Text 8"/>
          <p:cNvSpPr txBox="1"/>
          <p:nvPr/>
        </p:nvSpPr>
        <p:spPr>
          <a:xfrm>
            <a:off x="841248" y="2432304"/>
            <a:ext cx="2999232" cy="1691640"/>
          </a:xfrm>
          <a:prstGeom prst="rect">
            <a:avLst/>
          </a:prstGeom>
          <a:noFill/>
          <a:ln/>
        </p:spPr>
        <p:txBody>
          <a:bodyPr wrap="square" lIns="0" tIns="0" rIns="0" bIns="0" rtlCol="0" anchor="ctr"/>
          <a:lstStyle/>
          <a:p>
            <a:pPr indent="0" marL="0">
              <a:lnSpc>
                <a:spcPts val="1900"/>
              </a:lnSpc>
              <a:buNone/>
            </a:pPr>
            <a:r>
              <a:rPr lang="en-US" sz="1150" dirty="0">
                <a:solidFill>
                  <a:srgbClr val="A2908C"/>
                </a:solidFill>
                <a:latin typeface="Meiryo" pitchFamily="34" charset="0"/>
                <a:ea typeface="Meiryo" pitchFamily="34" charset="-122"/>
                <a:cs typeface="Meiryo" pitchFamily="34" charset="-120"/>
              </a:rPr>
              <a:t>落札した。出品した。会食した。贈った。イベントに出た。そのたびに限定マイルが入ります。残高は減っても、翌週にはまた増えている。保有への年次付与だけなら終わりますが、行動への都度付与は終わりません。</a:t>
            </a:r>
            <a:endParaRPr lang="en-US" sz="1150" dirty="0"/>
          </a:p>
        </p:txBody>
      </p:sp>
      <p:sp>
        <p:nvSpPr>
          <p:cNvPr id="11" name="Shape 9"/>
          <p:cNvSpPr/>
          <p:nvPr/>
        </p:nvSpPr>
        <p:spPr>
          <a:xfrm>
            <a:off x="4352544" y="1691640"/>
            <a:ext cx="3529584" cy="2606040"/>
          </a:xfrm>
          <a:prstGeom prst="roundRect">
            <a:avLst>
              <a:gd name="adj" fmla="val 2105"/>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2" name="Shape 10"/>
          <p:cNvSpPr/>
          <p:nvPr/>
        </p:nvSpPr>
        <p:spPr>
          <a:xfrm>
            <a:off x="4626864" y="1901952"/>
            <a:ext cx="329184" cy="329184"/>
          </a:xfrm>
          <a:prstGeom prst="ellipse">
            <a:avLst/>
          </a:prstGeom>
          <a:solidFill>
            <a:srgbClr val="C9A227"/>
          </a:solidFill>
          <a:ln w="12700">
            <a:solidFill>
              <a:srgbClr val="C9A227"/>
            </a:solidFill>
            <a:prstDash val="solid"/>
          </a:ln>
        </p:spPr>
      </p:sp>
      <p:sp>
        <p:nvSpPr>
          <p:cNvPr id="13" name="Text 11"/>
          <p:cNvSpPr txBox="1"/>
          <p:nvPr/>
        </p:nvSpPr>
        <p:spPr>
          <a:xfrm>
            <a:off x="4626864" y="190195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5065776" y="1920240"/>
            <a:ext cx="2578608"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他の会員の一本が、見える</a:t>
            </a:r>
            <a:endParaRPr lang="en-US" sz="1400" dirty="0"/>
          </a:p>
        </p:txBody>
      </p:sp>
      <p:sp>
        <p:nvSpPr>
          <p:cNvPr id="15" name="Text 13"/>
          <p:cNvSpPr txBox="1"/>
          <p:nvPr/>
        </p:nvSpPr>
        <p:spPr>
          <a:xfrm>
            <a:off x="4626864" y="2432304"/>
            <a:ext cx="2999232" cy="1691640"/>
          </a:xfrm>
          <a:prstGeom prst="rect">
            <a:avLst/>
          </a:prstGeom>
          <a:noFill/>
          <a:ln/>
        </p:spPr>
        <p:txBody>
          <a:bodyPr wrap="square" lIns="0" tIns="0" rIns="0" bIns="0" rtlCol="0" anchor="ctr"/>
          <a:lstStyle/>
          <a:p>
            <a:pPr indent="0" marL="0">
              <a:lnSpc>
                <a:spcPts val="1900"/>
              </a:lnSpc>
              <a:buNone/>
            </a:pPr>
            <a:r>
              <a:rPr lang="en-US" sz="1150" dirty="0">
                <a:solidFill>
                  <a:srgbClr val="A2908C"/>
                </a:solidFill>
                <a:latin typeface="Meiryo" pitchFamily="34" charset="0"/>
                <a:ea typeface="Meiryo" pitchFamily="34" charset="-122"/>
                <a:cs typeface="Meiryo" pitchFamily="34" charset="-120"/>
              </a:rPr>
              <a:t>誰がどのヴィンテージを開けたか。何がいくらで落札されたか。相場がどう動いたか。ニコニコ動画が発明したのは「一人で見ているのに、一人じゃない」体験でした。日本の文化は、共有して初めて完成します。</a:t>
            </a:r>
            <a:endParaRPr lang="en-US" sz="1150" dirty="0"/>
          </a:p>
        </p:txBody>
      </p:sp>
      <p:sp>
        <p:nvSpPr>
          <p:cNvPr id="16" name="Shape 14"/>
          <p:cNvSpPr/>
          <p:nvPr/>
        </p:nvSpPr>
        <p:spPr>
          <a:xfrm>
            <a:off x="8138160" y="1691640"/>
            <a:ext cx="3529584" cy="2606040"/>
          </a:xfrm>
          <a:prstGeom prst="roundRect">
            <a:avLst>
              <a:gd name="adj" fmla="val 210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7" name="Shape 15"/>
          <p:cNvSpPr/>
          <p:nvPr/>
        </p:nvSpPr>
        <p:spPr>
          <a:xfrm>
            <a:off x="8412480" y="1901952"/>
            <a:ext cx="329184" cy="329184"/>
          </a:xfrm>
          <a:prstGeom prst="ellipse">
            <a:avLst/>
          </a:prstGeom>
          <a:solidFill>
            <a:srgbClr val="C9A227"/>
          </a:solidFill>
          <a:ln w="12700">
            <a:solidFill>
              <a:srgbClr val="C9A227"/>
            </a:solidFill>
            <a:prstDash val="solid"/>
          </a:ln>
        </p:spPr>
      </p:sp>
      <p:sp>
        <p:nvSpPr>
          <p:cNvPr id="18" name="Text 16"/>
          <p:cNvSpPr txBox="1"/>
          <p:nvPr/>
        </p:nvSpPr>
        <p:spPr>
          <a:xfrm>
            <a:off x="8412480" y="190195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8851392" y="1920240"/>
            <a:ext cx="2578608"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自分のセラーが、動いている</a:t>
            </a:r>
            <a:endParaRPr lang="en-US" sz="1400" dirty="0"/>
          </a:p>
        </p:txBody>
      </p:sp>
      <p:sp>
        <p:nvSpPr>
          <p:cNvPr id="20" name="Text 18"/>
          <p:cNvSpPr txBox="1"/>
          <p:nvPr/>
        </p:nvSpPr>
        <p:spPr>
          <a:xfrm>
            <a:off x="8412480" y="2432304"/>
            <a:ext cx="2999232" cy="1691640"/>
          </a:xfrm>
          <a:prstGeom prst="rect">
            <a:avLst/>
          </a:prstGeom>
          <a:noFill/>
          <a:ln/>
        </p:spPr>
        <p:txBody>
          <a:bodyPr wrap="square" lIns="0" tIns="0" rIns="0" bIns="0" rtlCol="0" anchor="ctr"/>
          <a:lstStyle/>
          <a:p>
            <a:pPr indent="0" marL="0">
              <a:lnSpc>
                <a:spcPts val="1900"/>
              </a:lnSpc>
              <a:buNone/>
            </a:pPr>
            <a:r>
              <a:rPr lang="en-US" sz="1150" dirty="0">
                <a:solidFill>
                  <a:srgbClr val="A2908C"/>
                </a:solidFill>
                <a:latin typeface="Meiryo" pitchFamily="34" charset="0"/>
                <a:ea typeface="Meiryo" pitchFamily="34" charset="-122"/>
                <a:cs typeface="Meiryo" pitchFamily="34" charset="-120"/>
              </a:rPr>
              <a:t>時価が動く。マイルが貯まる。飲み頃が近づく。落札通知が来る。毎日ひらく理由があること自体が、他のどんな会員権にもない性質です。</a:t>
            </a:r>
            <a:endParaRPr lang="en-US" sz="1150" dirty="0"/>
          </a:p>
        </p:txBody>
      </p:sp>
      <p:sp>
        <p:nvSpPr>
          <p:cNvPr id="21" name="Shape 19"/>
          <p:cNvSpPr/>
          <p:nvPr/>
        </p:nvSpPr>
        <p:spPr>
          <a:xfrm>
            <a:off x="566928" y="4553712"/>
            <a:ext cx="11027664" cy="1481328"/>
          </a:xfrm>
          <a:prstGeom prst="roundRect">
            <a:avLst>
              <a:gd name="adj" fmla="val 3704"/>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978408" y="4754880"/>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ロイヤリティの高さは、機能ではなく「つながりの濃さ」で決まります。</a:t>
            </a:r>
            <a:endParaRPr lang="en-US" sz="1900" dirty="0"/>
          </a:p>
        </p:txBody>
      </p:sp>
      <p:sp>
        <p:nvSpPr>
          <p:cNvPr id="23" name="Text 21"/>
          <p:cNvSpPr txBox="1"/>
          <p:nvPr/>
        </p:nvSpPr>
        <p:spPr>
          <a:xfrm>
            <a:off x="978408" y="5230368"/>
            <a:ext cx="10204704" cy="640080"/>
          </a:xfrm>
          <a:prstGeom prst="rect">
            <a:avLst/>
          </a:prstGeom>
          <a:noFill/>
          <a:ln/>
        </p:spPr>
        <p:txBody>
          <a:bodyPr wrap="square" lIns="0" tIns="0" rIns="0" bIns="0" rtlCol="0" anchor="ctr"/>
          <a:lstStyle/>
          <a:p>
            <a:pPr indent="0" marL="0">
              <a:lnSpc>
                <a:spcPts val="1900"/>
              </a:lnSpc>
              <a:buNone/>
            </a:pPr>
            <a:r>
              <a:rPr lang="en-US" sz="1250" dirty="0">
                <a:solidFill>
                  <a:srgbClr val="F2EDE6"/>
                </a:solidFill>
                <a:latin typeface="Meiryo" pitchFamily="34" charset="0"/>
                <a:ea typeface="Meiryo" pitchFamily="34" charset="-122"/>
                <a:cs typeface="Meiryo" pitchFamily="34" charset="-120"/>
              </a:rPr>
              <a:t>ワインは、日本人にとって最もエモい商材のひとつです。誰と、いつ、何を開けたかを人は覚えている。そこにマイルという共通言語を通せば、会員は「取引先」ではなく「同じ村の住人」になります。</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STRUCTURE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契約は2本立て：マスターリース ＋ アセットマネジメント</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純粋なサブリースなら値上がり分は全額こちらのもの。ただしそれには買戻し義務が必要で、売上が立たなくなります。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5394960" cy="2487168"/>
          </a:xfrm>
          <a:prstGeom prst="roundRect">
            <a:avLst>
              <a:gd name="adj" fmla="val 220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810512"/>
            <a:ext cx="4663440" cy="310896"/>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① マスターリース（動産賃貸借）</a:t>
            </a:r>
            <a:endParaRPr lang="en-US" sz="1500" dirty="0"/>
          </a:p>
        </p:txBody>
      </p:sp>
      <p:sp>
        <p:nvSpPr>
          <p:cNvPr id="8" name="Text 6"/>
          <p:cNvSpPr txBox="1"/>
          <p:nvPr/>
        </p:nvSpPr>
        <p:spPr>
          <a:xfrm>
            <a:off x="932688" y="2194560"/>
            <a:ext cx="4663440"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賃料：ワインマイル 年5%</a:t>
            </a:r>
            <a:endParaRPr lang="en-US" sz="2000" dirty="0"/>
          </a:p>
        </p:txBody>
      </p:sp>
      <p:sp>
        <p:nvSpPr>
          <p:cNvPr id="9" name="Text 7"/>
          <p:cNvSpPr txBox="1"/>
          <p:nvPr/>
        </p:nvSpPr>
        <p:spPr>
          <a:xfrm>
            <a:off x="932688" y="2688336"/>
            <a:ext cx="4663440" cy="1280160"/>
          </a:xfrm>
          <a:prstGeom prst="rect">
            <a:avLst/>
          </a:prstGeom>
          <a:noFill/>
          <a:ln/>
        </p:spPr>
        <p:txBody>
          <a:bodyPr wrap="square" lIns="0" tIns="0" rIns="0" bIns="0" rtlCol="0" anchor="t"/>
          <a:lstStyle/>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会員が所有するワインをWineBankが賃借する</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賃料は現金ではなくワインマイルで支払う</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「5%」は利回りではなく賃料率</a:t>
            </a:r>
            <a:endParaRPr lang="en-US" sz="1150" dirty="0"/>
          </a:p>
        </p:txBody>
      </p:sp>
      <p:sp>
        <p:nvSpPr>
          <p:cNvPr id="10" name="Shape 8"/>
          <p:cNvSpPr/>
          <p:nvPr/>
        </p:nvSpPr>
        <p:spPr>
          <a:xfrm>
            <a:off x="6199632" y="1627632"/>
            <a:ext cx="5394960" cy="2487168"/>
          </a:xfrm>
          <a:prstGeom prst="roundRect">
            <a:avLst>
              <a:gd name="adj" fmla="val 220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6565392" y="1810512"/>
            <a:ext cx="4663440" cy="310896"/>
          </a:xfrm>
          <a:prstGeom prst="rect">
            <a:avLst/>
          </a:prstGeom>
          <a:noFill/>
          <a:ln/>
        </p:spPr>
        <p:txBody>
          <a:bodyPr wrap="square" lIns="0" tIns="0" rIns="0" bIns="0" rtlCol="0" anchor="ctr"/>
          <a:lstStyle/>
          <a:p>
            <a:pPr indent="0" marL="0">
              <a:buNone/>
            </a:pPr>
            <a:r>
              <a:rPr lang="en-US" sz="1500" b="1" dirty="0">
                <a:solidFill>
                  <a:srgbClr val="C9A227"/>
                </a:solidFill>
                <a:latin typeface="Meiryo" pitchFamily="34" charset="0"/>
                <a:ea typeface="Meiryo" pitchFamily="34" charset="-122"/>
                <a:cs typeface="Meiryo" pitchFamily="34" charset="-120"/>
              </a:rPr>
              <a:t>② アセットマネジメント（役務提供）</a:t>
            </a:r>
            <a:endParaRPr lang="en-US" sz="1500" dirty="0"/>
          </a:p>
        </p:txBody>
      </p:sp>
      <p:sp>
        <p:nvSpPr>
          <p:cNvPr id="12" name="Text 10"/>
          <p:cNvSpPr txBox="1"/>
          <p:nvPr/>
        </p:nvSpPr>
        <p:spPr>
          <a:xfrm>
            <a:off x="6565392" y="2194560"/>
            <a:ext cx="4663440"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成功報酬：値上がり分の25%</a:t>
            </a:r>
            <a:endParaRPr lang="en-US" sz="2000" dirty="0"/>
          </a:p>
        </p:txBody>
      </p:sp>
      <p:sp>
        <p:nvSpPr>
          <p:cNvPr id="13" name="Text 11"/>
          <p:cNvSpPr txBox="1"/>
          <p:nvPr/>
        </p:nvSpPr>
        <p:spPr>
          <a:xfrm>
            <a:off x="6565392" y="2688336"/>
            <a:ext cx="4663440" cy="1280160"/>
          </a:xfrm>
          <a:prstGeom prst="rect">
            <a:avLst/>
          </a:prstGeom>
          <a:noFill/>
          <a:ln/>
        </p:spPr>
        <p:txBody>
          <a:bodyPr wrap="square" lIns="0" tIns="0" rIns="0" bIns="0" rtlCol="0" anchor="t"/>
          <a:lstStyle/>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保管・真正性管理・市場形成の対価</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契約終了時に評価額の差分で精算</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仲介手数料はWineBank経由で売れた場合のみ</a:t>
            </a:r>
            <a:endParaRPr lang="en-US" sz="1150" dirty="0"/>
          </a:p>
        </p:txBody>
      </p:sp>
      <p:sp>
        <p:nvSpPr>
          <p:cNvPr id="14" name="Shape 12"/>
          <p:cNvSpPr/>
          <p:nvPr/>
        </p:nvSpPr>
        <p:spPr>
          <a:xfrm>
            <a:off x="566928" y="4261104"/>
            <a:ext cx="11027664" cy="896112"/>
          </a:xfrm>
          <a:prstGeom prst="roundRect">
            <a:avLst>
              <a:gd name="adj" fmla="val 612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978408" y="4443984"/>
            <a:ext cx="10204704" cy="329184"/>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不動産のファンドと同じ形です。マスターリース会社が保証賃料を払い、AM会社が運用報酬とディスポジションフィーを取る。</a:t>
            </a:r>
            <a:endParaRPr lang="en-US" sz="1350" dirty="0"/>
          </a:p>
        </p:txBody>
      </p:sp>
      <p:sp>
        <p:nvSpPr>
          <p:cNvPr id="16" name="Text 14"/>
          <p:cNvSpPr txBox="1"/>
          <p:nvPr/>
        </p:nvSpPr>
        <p:spPr>
          <a:xfrm>
            <a:off x="978408" y="4791456"/>
            <a:ext cx="10204704" cy="292608"/>
          </a:xfrm>
          <a:prstGeom prst="rect">
            <a:avLst/>
          </a:prstGeom>
          <a:noFill/>
          <a:ln/>
        </p:spPr>
        <p:txBody>
          <a:bodyPr wrap="square" lIns="0" tIns="0" rIns="0" bIns="0" rtlCol="0" anchor="ctr"/>
          <a:lstStyle/>
          <a:p>
            <a:pPr indent="0" marL="0">
              <a:buNone/>
            </a:pPr>
            <a:r>
              <a:rPr lang="en-US" sz="1150" dirty="0">
                <a:solidFill>
                  <a:srgbClr val="A2908C"/>
                </a:solidFill>
                <a:latin typeface="Meiryo" pitchFamily="34" charset="0"/>
                <a:ea typeface="Meiryo" pitchFamily="34" charset="-122"/>
                <a:cs typeface="Meiryo" pitchFamily="34" charset="-120"/>
              </a:rPr>
              <a:t>1本の「サブリース」に押し込むと、値上がり分を取るために買戻し義務が要る＝100万円を売上計上できなくなります。2本に分けることが、法務と会計の両方を通す唯一の形です。</a:t>
            </a:r>
            <a:endParaRPr lang="en-US" sz="1150" dirty="0"/>
          </a:p>
        </p:txBody>
      </p:sp>
      <p:sp>
        <p:nvSpPr>
          <p:cNvPr id="17" name="Shape 15"/>
          <p:cNvSpPr/>
          <p:nvPr/>
        </p:nvSpPr>
        <p:spPr>
          <a:xfrm>
            <a:off x="566928" y="5285232"/>
            <a:ext cx="11027664" cy="768096"/>
          </a:xfrm>
          <a:prstGeom prst="roundRect">
            <a:avLst>
              <a:gd name="adj" fmla="val 7143"/>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8" name="Text 16"/>
          <p:cNvSpPr txBox="1"/>
          <p:nvPr/>
        </p:nvSpPr>
        <p:spPr>
          <a:xfrm>
            <a:off x="978408" y="5468112"/>
            <a:ext cx="10204704" cy="384048"/>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賃料5%は当社が払う。値上がりの75%は会員のもの。当社の取り分は25%だけ。</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SOLUTION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設計：ワイン貯金の3ステップ</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所有権は会員に。管理手数料を払う代わりに、その倍のマイルを受け取る。</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737360"/>
            <a:ext cx="3566160" cy="2194560"/>
          </a:xfrm>
          <a:prstGeom prst="roundRect">
            <a:avLst>
              <a:gd name="adj" fmla="val 25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97510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97510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93392"/>
            <a:ext cx="2578608" cy="292608"/>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ワインを購入し、預ける</a:t>
            </a:r>
            <a:endParaRPr lang="en-US" sz="1350" dirty="0"/>
          </a:p>
        </p:txBody>
      </p:sp>
      <p:sp>
        <p:nvSpPr>
          <p:cNvPr id="10" name="Text 8"/>
          <p:cNvSpPr txBox="1"/>
          <p:nvPr/>
        </p:nvSpPr>
        <p:spPr>
          <a:xfrm>
            <a:off x="859536" y="2487168"/>
            <a:ext cx="2980944" cy="530352"/>
          </a:xfrm>
          <a:prstGeom prst="rect">
            <a:avLst/>
          </a:prstGeom>
          <a:noFill/>
          <a:ln/>
        </p:spPr>
        <p:txBody>
          <a:bodyPr wrap="square" lIns="0" tIns="0" rIns="0" bIns="0" rtlCol="0" anchor="ctr"/>
          <a:lstStyle/>
          <a:p>
            <a:pPr indent="0" marL="0">
              <a:buNone/>
            </a:pPr>
            <a:r>
              <a:rPr lang="en-US" sz="2800" b="1" dirty="0">
                <a:solidFill>
                  <a:srgbClr val="C9A227"/>
                </a:solidFill>
                <a:latin typeface="Meiryo" pitchFamily="34" charset="0"/>
                <a:ea typeface="Meiryo" pitchFamily="34" charset="-122"/>
                <a:cs typeface="Meiryo" pitchFamily="34" charset="-120"/>
              </a:rPr>
              <a:t>100万円</a:t>
            </a:r>
            <a:endParaRPr lang="en-US" sz="2800" dirty="0"/>
          </a:p>
        </p:txBody>
      </p:sp>
      <p:sp>
        <p:nvSpPr>
          <p:cNvPr id="11" name="Text 9"/>
          <p:cNvSpPr txBox="1"/>
          <p:nvPr/>
        </p:nvSpPr>
        <p:spPr>
          <a:xfrm>
            <a:off x="859536" y="3108960"/>
            <a:ext cx="2980944" cy="731520"/>
          </a:xfrm>
          <a:prstGeom prst="rect">
            <a:avLst/>
          </a:prstGeom>
          <a:noFill/>
          <a:ln/>
        </p:spPr>
        <p:txBody>
          <a:bodyPr wrap="square" lIns="0" tIns="0" rIns="0" bIns="0" rtlCol="0" anchor="ctr"/>
          <a:lstStyle/>
          <a:p>
            <a:pPr indent="0" marL="0">
              <a:lnSpc>
                <a:spcPts val="1700"/>
              </a:lnSpc>
              <a:buNone/>
            </a:pPr>
            <a:r>
              <a:rPr lang="en-US" sz="1100" dirty="0">
                <a:solidFill>
                  <a:srgbClr val="A2908C"/>
                </a:solidFill>
                <a:latin typeface="Meiryo" pitchFamily="34" charset="0"/>
                <a:ea typeface="Meiryo" pitchFamily="34" charset="-122"/>
                <a:cs typeface="Meiryo" pitchFamily="34" charset="-120"/>
              </a:rPr>
              <a:t>所有権は会員。定温セラーで保管・動産保険付帯。WineBankに賃貸する</a:t>
            </a:r>
            <a:endParaRPr lang="en-US" sz="1100" dirty="0"/>
          </a:p>
        </p:txBody>
      </p:sp>
      <p:sp>
        <p:nvSpPr>
          <p:cNvPr id="12" name="Text 10"/>
          <p:cNvSpPr txBox="1"/>
          <p:nvPr/>
        </p:nvSpPr>
        <p:spPr>
          <a:xfrm>
            <a:off x="4169664" y="2633472"/>
            <a:ext cx="329184" cy="365760"/>
          </a:xfrm>
          <a:prstGeom prst="rect">
            <a:avLst/>
          </a:prstGeom>
          <a:noFill/>
          <a:ln/>
        </p:spPr>
        <p:txBody>
          <a:bodyPr wrap="square" lIns="0" tIns="0" rIns="0" bIns="0" rtlCol="0" anchor="ctr"/>
          <a:lstStyle/>
          <a:p>
            <a:pPr algn="ctr" indent="0" marL="0">
              <a:buNone/>
            </a:pPr>
            <a:r>
              <a:rPr lang="en-US" sz="1700" dirty="0">
                <a:solidFill>
                  <a:srgbClr val="C9A227"/>
                </a:solidFill>
                <a:latin typeface="Meiryo" pitchFamily="34" charset="0"/>
                <a:ea typeface="Meiryo" pitchFamily="34" charset="-122"/>
                <a:cs typeface="Meiryo" pitchFamily="34" charset="-120"/>
              </a:rPr>
              <a:t>▶</a:t>
            </a:r>
            <a:endParaRPr lang="en-US" sz="1700" dirty="0"/>
          </a:p>
        </p:txBody>
      </p:sp>
      <p:sp>
        <p:nvSpPr>
          <p:cNvPr id="13" name="Shape 11"/>
          <p:cNvSpPr/>
          <p:nvPr/>
        </p:nvSpPr>
        <p:spPr>
          <a:xfrm>
            <a:off x="4517136" y="1737360"/>
            <a:ext cx="3566160" cy="2194560"/>
          </a:xfrm>
          <a:prstGeom prst="roundRect">
            <a:avLst>
              <a:gd name="adj" fmla="val 25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4" name="Shape 12"/>
          <p:cNvSpPr/>
          <p:nvPr/>
        </p:nvSpPr>
        <p:spPr>
          <a:xfrm>
            <a:off x="4809744" y="1975104"/>
            <a:ext cx="329184" cy="329184"/>
          </a:xfrm>
          <a:prstGeom prst="ellipse">
            <a:avLst/>
          </a:prstGeom>
          <a:solidFill>
            <a:srgbClr val="C9A227"/>
          </a:solidFill>
          <a:ln w="12700">
            <a:solidFill>
              <a:srgbClr val="C9A227"/>
            </a:solidFill>
            <a:prstDash val="solid"/>
          </a:ln>
        </p:spPr>
      </p:sp>
      <p:sp>
        <p:nvSpPr>
          <p:cNvPr id="15" name="Text 13"/>
          <p:cNvSpPr txBox="1"/>
          <p:nvPr/>
        </p:nvSpPr>
        <p:spPr>
          <a:xfrm>
            <a:off x="4809744" y="197510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6" name="Text 14"/>
          <p:cNvSpPr txBox="1"/>
          <p:nvPr/>
        </p:nvSpPr>
        <p:spPr>
          <a:xfrm>
            <a:off x="5248656" y="1993392"/>
            <a:ext cx="2578608" cy="292608"/>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管理手数料を払う</a:t>
            </a:r>
            <a:endParaRPr lang="en-US" sz="1350" dirty="0"/>
          </a:p>
        </p:txBody>
      </p:sp>
      <p:sp>
        <p:nvSpPr>
          <p:cNvPr id="17" name="Text 15"/>
          <p:cNvSpPr txBox="1"/>
          <p:nvPr/>
        </p:nvSpPr>
        <p:spPr>
          <a:xfrm>
            <a:off x="4809744" y="2487168"/>
            <a:ext cx="2980944" cy="530352"/>
          </a:xfrm>
          <a:prstGeom prst="rect">
            <a:avLst/>
          </a:prstGeom>
          <a:noFill/>
          <a:ln/>
        </p:spPr>
        <p:txBody>
          <a:bodyPr wrap="square" lIns="0" tIns="0" rIns="0" bIns="0" rtlCol="0" anchor="ctr"/>
          <a:lstStyle/>
          <a:p>
            <a:pPr indent="0" marL="0">
              <a:buNone/>
            </a:pPr>
            <a:r>
              <a:rPr lang="en-US" sz="2800" b="1" dirty="0">
                <a:solidFill>
                  <a:srgbClr val="E0A458"/>
                </a:solidFill>
                <a:latin typeface="Meiryo" pitchFamily="34" charset="0"/>
                <a:ea typeface="Meiryo" pitchFamily="34" charset="-122"/>
                <a:cs typeface="Meiryo" pitchFamily="34" charset="-120"/>
              </a:rPr>
              <a:t>▲25,000円</a:t>
            </a:r>
            <a:endParaRPr lang="en-US" sz="2800" dirty="0"/>
          </a:p>
        </p:txBody>
      </p:sp>
      <p:sp>
        <p:nvSpPr>
          <p:cNvPr id="18" name="Text 16"/>
          <p:cNvSpPr txBox="1"/>
          <p:nvPr/>
        </p:nvSpPr>
        <p:spPr>
          <a:xfrm>
            <a:off x="4809744" y="3108960"/>
            <a:ext cx="2980944" cy="731520"/>
          </a:xfrm>
          <a:prstGeom prst="rect">
            <a:avLst/>
          </a:prstGeom>
          <a:noFill/>
          <a:ln/>
        </p:spPr>
        <p:txBody>
          <a:bodyPr wrap="square" lIns="0" tIns="0" rIns="0" bIns="0" rtlCol="0" anchor="ctr"/>
          <a:lstStyle/>
          <a:p>
            <a:pPr indent="0" marL="0">
              <a:lnSpc>
                <a:spcPts val="1700"/>
              </a:lnSpc>
              <a:buNone/>
            </a:pPr>
            <a:r>
              <a:rPr lang="en-US" sz="1100" dirty="0">
                <a:solidFill>
                  <a:srgbClr val="A2908C"/>
                </a:solidFill>
                <a:latin typeface="Meiryo" pitchFamily="34" charset="0"/>
                <a:ea typeface="Meiryo" pitchFamily="34" charset="-122"/>
                <a:cs typeface="Meiryo" pitchFamily="34" charset="-120"/>
              </a:rPr>
              <a:t>年率2.5%。保管料・保険料を含む</a:t>
            </a:r>
            <a:endParaRPr lang="en-US" sz="1100" dirty="0"/>
          </a:p>
        </p:txBody>
      </p:sp>
      <p:sp>
        <p:nvSpPr>
          <p:cNvPr id="19" name="Text 17"/>
          <p:cNvSpPr txBox="1"/>
          <p:nvPr/>
        </p:nvSpPr>
        <p:spPr>
          <a:xfrm>
            <a:off x="8119872" y="2633472"/>
            <a:ext cx="329184" cy="365760"/>
          </a:xfrm>
          <a:prstGeom prst="rect">
            <a:avLst/>
          </a:prstGeom>
          <a:noFill/>
          <a:ln/>
        </p:spPr>
        <p:txBody>
          <a:bodyPr wrap="square" lIns="0" tIns="0" rIns="0" bIns="0" rtlCol="0" anchor="ctr"/>
          <a:lstStyle/>
          <a:p>
            <a:pPr algn="ctr" indent="0" marL="0">
              <a:buNone/>
            </a:pPr>
            <a:r>
              <a:rPr lang="en-US" sz="1700" dirty="0">
                <a:solidFill>
                  <a:srgbClr val="C9A227"/>
                </a:solidFill>
                <a:latin typeface="Meiryo" pitchFamily="34" charset="0"/>
                <a:ea typeface="Meiryo" pitchFamily="34" charset="-122"/>
                <a:cs typeface="Meiryo" pitchFamily="34" charset="-120"/>
              </a:rPr>
              <a:t>▶</a:t>
            </a:r>
            <a:endParaRPr lang="en-US" sz="1700" dirty="0"/>
          </a:p>
        </p:txBody>
      </p:sp>
      <p:sp>
        <p:nvSpPr>
          <p:cNvPr id="20" name="Shape 18"/>
          <p:cNvSpPr/>
          <p:nvPr/>
        </p:nvSpPr>
        <p:spPr>
          <a:xfrm>
            <a:off x="8467344" y="1737360"/>
            <a:ext cx="3566160" cy="2194560"/>
          </a:xfrm>
          <a:prstGeom prst="roundRect">
            <a:avLst>
              <a:gd name="adj" fmla="val 25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1" name="Shape 19"/>
          <p:cNvSpPr/>
          <p:nvPr/>
        </p:nvSpPr>
        <p:spPr>
          <a:xfrm>
            <a:off x="8759952" y="1975104"/>
            <a:ext cx="329184" cy="329184"/>
          </a:xfrm>
          <a:prstGeom prst="ellipse">
            <a:avLst/>
          </a:prstGeom>
          <a:solidFill>
            <a:srgbClr val="C9A227"/>
          </a:solidFill>
          <a:ln w="12700">
            <a:solidFill>
              <a:srgbClr val="C9A227"/>
            </a:solidFill>
            <a:prstDash val="solid"/>
          </a:ln>
        </p:spPr>
      </p:sp>
      <p:sp>
        <p:nvSpPr>
          <p:cNvPr id="22" name="Text 20"/>
          <p:cNvSpPr txBox="1"/>
          <p:nvPr/>
        </p:nvSpPr>
        <p:spPr>
          <a:xfrm>
            <a:off x="8759952" y="197510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3" name="Text 21"/>
          <p:cNvSpPr txBox="1"/>
          <p:nvPr/>
        </p:nvSpPr>
        <p:spPr>
          <a:xfrm>
            <a:off x="9198864" y="1993392"/>
            <a:ext cx="2578608" cy="292608"/>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ワインマイルを得る</a:t>
            </a:r>
            <a:endParaRPr lang="en-US" sz="1350" dirty="0"/>
          </a:p>
        </p:txBody>
      </p:sp>
      <p:sp>
        <p:nvSpPr>
          <p:cNvPr id="24" name="Text 22"/>
          <p:cNvSpPr txBox="1"/>
          <p:nvPr/>
        </p:nvSpPr>
        <p:spPr>
          <a:xfrm>
            <a:off x="8759952" y="2487168"/>
            <a:ext cx="2980944" cy="530352"/>
          </a:xfrm>
          <a:prstGeom prst="rect">
            <a:avLst/>
          </a:prstGeom>
          <a:noFill/>
          <a:ln/>
        </p:spPr>
        <p:txBody>
          <a:bodyPr wrap="square" lIns="0" tIns="0" rIns="0" bIns="0" rtlCol="0" anchor="ctr"/>
          <a:lstStyle/>
          <a:p>
            <a:pPr indent="0" marL="0">
              <a:buNone/>
            </a:pPr>
            <a:r>
              <a:rPr lang="en-US" sz="2800" b="1" dirty="0">
                <a:solidFill>
                  <a:srgbClr val="C9A227"/>
                </a:solidFill>
                <a:latin typeface="Meiryo" pitchFamily="34" charset="0"/>
                <a:ea typeface="Meiryo" pitchFamily="34" charset="-122"/>
                <a:cs typeface="Meiryo" pitchFamily="34" charset="-120"/>
              </a:rPr>
              <a:t>50,000マイル</a:t>
            </a:r>
            <a:endParaRPr lang="en-US" sz="2800" dirty="0"/>
          </a:p>
        </p:txBody>
      </p:sp>
      <p:sp>
        <p:nvSpPr>
          <p:cNvPr id="25" name="Text 23"/>
          <p:cNvSpPr txBox="1"/>
          <p:nvPr/>
        </p:nvSpPr>
        <p:spPr>
          <a:xfrm>
            <a:off x="8759952" y="3108960"/>
            <a:ext cx="2980944" cy="731520"/>
          </a:xfrm>
          <a:prstGeom prst="rect">
            <a:avLst/>
          </a:prstGeom>
          <a:noFill/>
          <a:ln/>
        </p:spPr>
        <p:txBody>
          <a:bodyPr wrap="square" lIns="0" tIns="0" rIns="0" bIns="0" rtlCol="0" anchor="ctr"/>
          <a:lstStyle/>
          <a:p>
            <a:pPr indent="0" marL="0">
              <a:lnSpc>
                <a:spcPts val="1700"/>
              </a:lnSpc>
              <a:buNone/>
            </a:pPr>
            <a:r>
              <a:rPr lang="en-US" sz="1100" dirty="0">
                <a:solidFill>
                  <a:srgbClr val="A2908C"/>
                </a:solidFill>
                <a:latin typeface="Meiryo" pitchFamily="34" charset="0"/>
                <a:ea typeface="Meiryo" pitchFamily="34" charset="-122"/>
                <a:cs typeface="Meiryo" pitchFamily="34" charset="-120"/>
              </a:rPr>
              <a:t>年率5%相当。会食・贈答・イベント・オークション・ワイナートに使える</a:t>
            </a:r>
            <a:endParaRPr lang="en-US" sz="1100" dirty="0"/>
          </a:p>
        </p:txBody>
      </p:sp>
      <p:sp>
        <p:nvSpPr>
          <p:cNvPr id="26" name="Shape 24"/>
          <p:cNvSpPr/>
          <p:nvPr/>
        </p:nvSpPr>
        <p:spPr>
          <a:xfrm>
            <a:off x="566928" y="4206240"/>
            <a:ext cx="11027664" cy="914400"/>
          </a:xfrm>
          <a:prstGeom prst="roundRect">
            <a:avLst>
              <a:gd name="adj" fmla="val 60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4407408"/>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会員は2.5万円払って、5万円分を受け取る。差額の2.5万円を「貯金」していると考える。</a:t>
            </a:r>
            <a:endParaRPr lang="en-US" sz="1900" dirty="0"/>
          </a:p>
        </p:txBody>
      </p:sp>
      <p:sp>
        <p:nvSpPr>
          <p:cNvPr id="28" name="Text 26"/>
          <p:cNvSpPr txBox="1"/>
          <p:nvPr/>
        </p:nvSpPr>
        <p:spPr>
          <a:xfrm>
            <a:off x="978408" y="4809744"/>
            <a:ext cx="10204704" cy="274320"/>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さらに、値上がり分の75%も会員のものとして残ります。</a:t>
            </a:r>
            <a:endParaRPr lang="en-US" sz="1250" dirty="0"/>
          </a:p>
        </p:txBody>
      </p:sp>
      <p:sp>
        <p:nvSpPr>
          <p:cNvPr id="29" name="Shape 27"/>
          <p:cNvSpPr/>
          <p:nvPr/>
        </p:nvSpPr>
        <p:spPr>
          <a:xfrm>
            <a:off x="566928" y="5266944"/>
            <a:ext cx="11027664" cy="786384"/>
          </a:xfrm>
          <a:prstGeom prst="roundRect">
            <a:avLst>
              <a:gd name="adj" fmla="val 697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0" name="Text 28"/>
          <p:cNvSpPr txBox="1"/>
          <p:nvPr/>
        </p:nvSpPr>
        <p:spPr>
          <a:xfrm>
            <a:off x="978408" y="5468112"/>
            <a:ext cx="10204704" cy="365760"/>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加えて、落札・出品・会食・贈答・イベント参加のたびに限定マイルが貯まります。</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NARRATIVE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「相殺してよ」と言われたら</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差額をください——ごもっともです。ただ、相殺した世界には、次の1年で何も起きません。</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572768"/>
            <a:ext cx="3200400" cy="2487168"/>
          </a:xfrm>
          <a:prstGeom prst="roundRect">
            <a:avLst>
              <a:gd name="adj" fmla="val 220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737360"/>
            <a:ext cx="2615184" cy="274320"/>
          </a:xfrm>
          <a:prstGeom prst="rect">
            <a:avLst/>
          </a:prstGeom>
          <a:noFill/>
          <a:ln/>
        </p:spPr>
        <p:txBody>
          <a:bodyPr wrap="square" lIns="0" tIns="0" rIns="0" bIns="0" rtlCol="0" anchor="ctr"/>
          <a:lstStyle/>
          <a:p>
            <a:pPr indent="0" marL="0">
              <a:buNone/>
            </a:pPr>
            <a:r>
              <a:rPr lang="en-US" sz="1300" b="1" dirty="0">
                <a:solidFill>
                  <a:srgbClr val="A2908C"/>
                </a:solidFill>
                <a:latin typeface="Meiryo" pitchFamily="34" charset="0"/>
                <a:ea typeface="Meiryo" pitchFamily="34" charset="-122"/>
                <a:cs typeface="Meiryo" pitchFamily="34" charset="-120"/>
              </a:rPr>
              <a:t>相殺した世界</a:t>
            </a:r>
            <a:endParaRPr lang="en-US" sz="1300" dirty="0"/>
          </a:p>
        </p:txBody>
      </p:sp>
      <p:sp>
        <p:nvSpPr>
          <p:cNvPr id="8" name="Text 6"/>
          <p:cNvSpPr txBox="1"/>
          <p:nvPr/>
        </p:nvSpPr>
        <p:spPr>
          <a:xfrm>
            <a:off x="859536" y="2048256"/>
            <a:ext cx="2615184" cy="329184"/>
          </a:xfrm>
          <a:prstGeom prst="rect">
            <a:avLst/>
          </a:prstGeom>
          <a:noFill/>
          <a:ln/>
        </p:spPr>
        <p:txBody>
          <a:bodyPr wrap="square" lIns="0" tIns="0" rIns="0" bIns="0" rtlCol="0" anchor="ctr"/>
          <a:lstStyle/>
          <a:p>
            <a:pPr indent="0" marL="0">
              <a:buNone/>
            </a:pPr>
            <a:r>
              <a:rPr lang="en-US" sz="1500" b="1" dirty="0">
                <a:solidFill>
                  <a:srgbClr val="F2EDE6"/>
                </a:solidFill>
                <a:latin typeface="Meiryo" pitchFamily="34" charset="0"/>
                <a:ea typeface="Meiryo" pitchFamily="34" charset="-122"/>
                <a:cs typeface="Meiryo" pitchFamily="34" charset="-120"/>
              </a:rPr>
              <a:t>3月。口座に25,000円。</a:t>
            </a:r>
            <a:endParaRPr lang="en-US" sz="1500" dirty="0"/>
          </a:p>
        </p:txBody>
      </p:sp>
      <p:sp>
        <p:nvSpPr>
          <p:cNvPr id="9" name="Text 7"/>
          <p:cNvSpPr txBox="1"/>
          <p:nvPr/>
        </p:nvSpPr>
        <p:spPr>
          <a:xfrm>
            <a:off x="859536" y="2487168"/>
            <a:ext cx="2615184" cy="1188720"/>
          </a:xfrm>
          <a:prstGeom prst="rect">
            <a:avLst/>
          </a:prstGeom>
          <a:noFill/>
          <a:ln/>
        </p:spPr>
        <p:txBody>
          <a:bodyPr wrap="square" lIns="0" tIns="0" rIns="0" bIns="0" rtlCol="0" anchor="ctr"/>
          <a:lstStyle/>
          <a:p>
            <a:pPr indent="0" marL="0">
              <a:lnSpc>
                <a:spcPts val="2000"/>
              </a:lnSpc>
              <a:buNone/>
            </a:pPr>
            <a:r>
              <a:rPr lang="en-US" sz="1150" dirty="0">
                <a:solidFill>
                  <a:srgbClr val="A2908C"/>
                </a:solidFill>
                <a:latin typeface="Meiryo" pitchFamily="34" charset="0"/>
                <a:ea typeface="Meiryo" pitchFamily="34" charset="-122"/>
                <a:cs typeface="Meiryo" pitchFamily="34" charset="-120"/>
              </a:rPr>
              <a:t>明細に一行増える。それだけ。</a:t>
            </a:r>
            <a:endParaRPr lang="en-US" sz="1150" dirty="0"/>
          </a:p>
          <a:p>
            <a:pPr indent="0" marL="0">
              <a:lnSpc>
                <a:spcPts val="2000"/>
              </a:lnSpc>
              <a:buNone/>
            </a:pPr>
            <a:r>
              <a:rPr lang="en-US" sz="1150" dirty="0">
                <a:solidFill>
                  <a:srgbClr val="A2908C"/>
                </a:solidFill>
                <a:latin typeface="Meiryo" pitchFamily="34" charset="0"/>
                <a:ea typeface="Meiryo" pitchFamily="34" charset="-122"/>
                <a:cs typeface="Meiryo" pitchFamily="34" charset="-120"/>
              </a:rPr>
              <a:t>誰にも会わず、何も残らない。</a:t>
            </a:r>
            <a:endParaRPr lang="en-US" sz="1150" dirty="0"/>
          </a:p>
          <a:p>
            <a:pPr indent="0" marL="0">
              <a:lnSpc>
                <a:spcPts val="2000"/>
              </a:lnSpc>
              <a:buNone/>
            </a:pPr>
            <a:r>
              <a:rPr lang="en-US" sz="1150" dirty="0">
                <a:solidFill>
                  <a:srgbClr val="A2908C"/>
                </a:solidFill>
                <a:latin typeface="Meiryo" pitchFamily="34" charset="0"/>
                <a:ea typeface="Meiryo" pitchFamily="34" charset="-122"/>
                <a:cs typeface="Meiryo" pitchFamily="34" charset="-120"/>
              </a:rPr>
              <a:t>来年また、同じ一行が増える。</a:t>
            </a:r>
            <a:endParaRPr lang="en-US" sz="1150" dirty="0"/>
          </a:p>
        </p:txBody>
      </p:sp>
      <p:sp>
        <p:nvSpPr>
          <p:cNvPr id="10" name="Shape 8"/>
          <p:cNvSpPr/>
          <p:nvPr/>
        </p:nvSpPr>
        <p:spPr>
          <a:xfrm>
            <a:off x="3913632" y="1572768"/>
            <a:ext cx="7680960" cy="2487168"/>
          </a:xfrm>
          <a:prstGeom prst="roundRect">
            <a:avLst>
              <a:gd name="adj" fmla="val 220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4206240" y="1737360"/>
            <a:ext cx="7095744" cy="274320"/>
          </a:xfrm>
          <a:prstGeom prst="rect">
            <a:avLst/>
          </a:prstGeom>
          <a:noFill/>
          <a:ln/>
        </p:spPr>
        <p:txBody>
          <a:bodyPr wrap="square" lIns="0" tIns="0" rIns="0" bIns="0" rtlCol="0" anchor="ctr"/>
          <a:lstStyle/>
          <a:p>
            <a:pPr indent="0" marL="0">
              <a:buNone/>
            </a:pPr>
            <a:r>
              <a:rPr lang="en-US" sz="1300" b="1" dirty="0">
                <a:solidFill>
                  <a:srgbClr val="C9A227"/>
                </a:solidFill>
                <a:latin typeface="Meiryo" pitchFamily="34" charset="0"/>
                <a:ea typeface="Meiryo" pitchFamily="34" charset="-122"/>
                <a:cs typeface="Meiryo" pitchFamily="34" charset="-120"/>
              </a:rPr>
              <a:t>相殺しない世界</a:t>
            </a:r>
            <a:endParaRPr lang="en-US" sz="1300" dirty="0"/>
          </a:p>
        </p:txBody>
      </p:sp>
      <p:sp>
        <p:nvSpPr>
          <p:cNvPr id="12" name="Text 10"/>
          <p:cNvSpPr txBox="1"/>
          <p:nvPr/>
        </p:nvSpPr>
        <p:spPr>
          <a:xfrm>
            <a:off x="4206240" y="206654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5月</a:t>
            </a:r>
            <a:endParaRPr lang="en-US" sz="1100" dirty="0"/>
          </a:p>
        </p:txBody>
      </p:sp>
      <p:sp>
        <p:nvSpPr>
          <p:cNvPr id="13" name="Text 11"/>
          <p:cNvSpPr txBox="1"/>
          <p:nvPr/>
        </p:nvSpPr>
        <p:spPr>
          <a:xfrm>
            <a:off x="4828032" y="206654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取引先と、グランメゾンで。</a:t>
            </a:r>
            <a:endParaRPr lang="en-US" sz="1150" dirty="0"/>
          </a:p>
        </p:txBody>
      </p:sp>
      <p:sp>
        <p:nvSpPr>
          <p:cNvPr id="14" name="Text 12"/>
          <p:cNvSpPr txBox="1"/>
          <p:nvPr/>
        </p:nvSpPr>
        <p:spPr>
          <a:xfrm>
            <a:off x="7772400" y="206654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8月</a:t>
            </a:r>
            <a:endParaRPr lang="en-US" sz="1100" dirty="0"/>
          </a:p>
        </p:txBody>
      </p:sp>
      <p:sp>
        <p:nvSpPr>
          <p:cNvPr id="15" name="Text 13"/>
          <p:cNvSpPr txBox="1"/>
          <p:nvPr/>
        </p:nvSpPr>
        <p:spPr>
          <a:xfrm>
            <a:off x="8394192" y="206654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義父の誕生日に、生まれ年を一本。</a:t>
            </a:r>
            <a:endParaRPr lang="en-US" sz="1150" dirty="0"/>
          </a:p>
        </p:txBody>
      </p:sp>
      <p:sp>
        <p:nvSpPr>
          <p:cNvPr id="16" name="Text 14"/>
          <p:cNvSpPr txBox="1"/>
          <p:nvPr/>
        </p:nvSpPr>
        <p:spPr>
          <a:xfrm>
            <a:off x="4206240" y="261518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11月</a:t>
            </a:r>
            <a:endParaRPr lang="en-US" sz="1100" dirty="0"/>
          </a:p>
        </p:txBody>
      </p:sp>
      <p:sp>
        <p:nvSpPr>
          <p:cNvPr id="17" name="Text 15"/>
          <p:cNvSpPr txBox="1"/>
          <p:nvPr/>
        </p:nvSpPr>
        <p:spPr>
          <a:xfrm>
            <a:off x="4828032" y="261518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ブルゴーニュワイン樽を共同落札。</a:t>
            </a:r>
            <a:endParaRPr lang="en-US" sz="1150" dirty="0"/>
          </a:p>
        </p:txBody>
      </p:sp>
      <p:sp>
        <p:nvSpPr>
          <p:cNvPr id="18" name="Text 16"/>
          <p:cNvSpPr txBox="1"/>
          <p:nvPr/>
        </p:nvSpPr>
        <p:spPr>
          <a:xfrm>
            <a:off x="7772400" y="261518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1月</a:t>
            </a:r>
            <a:endParaRPr lang="en-US" sz="1100" dirty="0"/>
          </a:p>
        </p:txBody>
      </p:sp>
      <p:sp>
        <p:nvSpPr>
          <p:cNvPr id="19" name="Text 17"/>
          <p:cNvSpPr txBox="1"/>
          <p:nvPr/>
        </p:nvSpPr>
        <p:spPr>
          <a:xfrm>
            <a:off x="8394192" y="261518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会員限定の生産者イベントへ。</a:t>
            </a:r>
            <a:endParaRPr lang="en-US" sz="1150" dirty="0"/>
          </a:p>
        </p:txBody>
      </p:sp>
      <p:sp>
        <p:nvSpPr>
          <p:cNvPr id="20" name="Text 18"/>
          <p:cNvSpPr txBox="1"/>
          <p:nvPr/>
        </p:nvSpPr>
        <p:spPr>
          <a:xfrm>
            <a:off x="4206240" y="316382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3月</a:t>
            </a:r>
            <a:endParaRPr lang="en-US" sz="1100" dirty="0"/>
          </a:p>
        </p:txBody>
      </p:sp>
      <p:sp>
        <p:nvSpPr>
          <p:cNvPr id="21" name="Text 19"/>
          <p:cNvSpPr txBox="1"/>
          <p:nvPr/>
        </p:nvSpPr>
        <p:spPr>
          <a:xfrm>
            <a:off x="4828032" y="316382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オークションで落札。マイルがまた入る。</a:t>
            </a:r>
            <a:endParaRPr lang="en-US" sz="1150" dirty="0"/>
          </a:p>
        </p:txBody>
      </p:sp>
      <p:sp>
        <p:nvSpPr>
          <p:cNvPr id="22" name="Text 20"/>
          <p:cNvSpPr txBox="1"/>
          <p:nvPr/>
        </p:nvSpPr>
        <p:spPr>
          <a:xfrm>
            <a:off x="7772400" y="316382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通年</a:t>
            </a:r>
            <a:endParaRPr lang="en-US" sz="1100" dirty="0"/>
          </a:p>
        </p:txBody>
      </p:sp>
      <p:sp>
        <p:nvSpPr>
          <p:cNvPr id="23" name="Text 21"/>
          <p:cNvSpPr txBox="1"/>
          <p:nvPr/>
        </p:nvSpPr>
        <p:spPr>
          <a:xfrm>
            <a:off x="8394192" y="316382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ワイナートが毎号届く。</a:t>
            </a:r>
            <a:endParaRPr lang="en-US" sz="1150" dirty="0"/>
          </a:p>
        </p:txBody>
      </p:sp>
      <p:sp>
        <p:nvSpPr>
          <p:cNvPr id="24" name="Text 22"/>
          <p:cNvSpPr txBox="1"/>
          <p:nvPr/>
        </p:nvSpPr>
        <p:spPr>
          <a:xfrm>
            <a:off x="4206240" y="3456432"/>
            <a:ext cx="7095744" cy="365760"/>
          </a:xfrm>
          <a:prstGeom prst="rect">
            <a:avLst/>
          </a:prstGeom>
          <a:noFill/>
          <a:ln/>
        </p:spPr>
        <p:txBody>
          <a:bodyPr wrap="square" lIns="0" tIns="0" rIns="0" bIns="0" rtlCol="0" anchor="ctr"/>
          <a:lstStyle/>
          <a:p>
            <a:pPr indent="0" marL="0">
              <a:lnSpc>
                <a:spcPts val="1400"/>
              </a:lnSpc>
              <a:buNone/>
            </a:pPr>
            <a:r>
              <a:rPr lang="en-US" sz="1000" dirty="0">
                <a:solidFill>
                  <a:srgbClr val="C9A227"/>
                </a:solidFill>
                <a:latin typeface="Meiryo" pitchFamily="34" charset="0"/>
                <a:ea typeface="Meiryo" pitchFamily="34" charset="-122"/>
                <a:cs typeface="Meiryo" pitchFamily="34" charset="-120"/>
              </a:rPr>
              <a:t>※ その他、ボルドーマラソン・5大シャトー訪問企画、国内ワイナリーツアー等の年間ワインイベント盛りだくさん</a:t>
            </a:r>
            <a:endParaRPr lang="en-US" sz="1000" dirty="0"/>
          </a:p>
        </p:txBody>
      </p:sp>
      <p:sp>
        <p:nvSpPr>
          <p:cNvPr id="25" name="Shape 23"/>
          <p:cNvSpPr/>
          <p:nvPr/>
        </p:nvSpPr>
        <p:spPr>
          <a:xfrm>
            <a:off x="566928" y="4187952"/>
            <a:ext cx="11027664" cy="731520"/>
          </a:xfrm>
          <a:prstGeom prst="roundRect">
            <a:avLst>
              <a:gd name="adj" fmla="val 750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6" name="Text 24"/>
          <p:cNvSpPr txBox="1"/>
          <p:nvPr/>
        </p:nvSpPr>
        <p:spPr>
          <a:xfrm>
            <a:off x="978408" y="4343400"/>
            <a:ext cx="10204704" cy="384048"/>
          </a:xfrm>
          <a:prstGeom prst="rect">
            <a:avLst/>
          </a:prstGeom>
          <a:noFill/>
          <a:ln/>
        </p:spPr>
        <p:txBody>
          <a:bodyPr wrap="square" lIns="0" tIns="0" rIns="0" bIns="0" rtlCol="0" anchor="ctr"/>
          <a:lstStyle/>
          <a:p>
            <a:pPr algn="ctr" indent="0" marL="0">
              <a:buNone/>
            </a:pPr>
            <a:r>
              <a:rPr lang="en-US" sz="1800" b="1" dirty="0">
                <a:solidFill>
                  <a:srgbClr val="E8CE78"/>
                </a:solidFill>
                <a:latin typeface="Meiryo" pitchFamily="34" charset="0"/>
                <a:ea typeface="Meiryo" pitchFamily="34" charset="-122"/>
                <a:cs typeface="Meiryo" pitchFamily="34" charset="-120"/>
              </a:rPr>
              <a:t>25,000円は貯金になりません。50,000マイルは、ワインのある一年になります。</a:t>
            </a:r>
            <a:endParaRPr lang="en-US" sz="1800" dirty="0"/>
          </a:p>
        </p:txBody>
      </p:sp>
      <p:sp>
        <p:nvSpPr>
          <p:cNvPr id="27" name="Shape 25"/>
          <p:cNvSpPr/>
          <p:nvPr/>
        </p:nvSpPr>
        <p:spPr>
          <a:xfrm>
            <a:off x="566928" y="5029200"/>
            <a:ext cx="3529584"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8" name="Text 26"/>
          <p:cNvSpPr txBox="1"/>
          <p:nvPr/>
        </p:nvSpPr>
        <p:spPr>
          <a:xfrm>
            <a:off x="841248" y="5157216"/>
            <a:ext cx="2980944"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税務はカードのマイルと同じ</a:t>
            </a:r>
            <a:endParaRPr lang="en-US" sz="1250" dirty="0"/>
          </a:p>
        </p:txBody>
      </p:sp>
      <p:sp>
        <p:nvSpPr>
          <p:cNvPr id="29" name="Text 27"/>
          <p:cNvSpPr txBox="1"/>
          <p:nvPr/>
        </p:nvSpPr>
        <p:spPr>
          <a:xfrm>
            <a:off x="841248" y="5449824"/>
            <a:ext cx="2980944" cy="56692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AMEX等のマイレージ還元は法人・個人とも課税されません。ワインマイルも同じ「利用に応じた還元」として設計します。※顧問税理士の確認を前提</a:t>
            </a:r>
            <a:endParaRPr lang="en-US" sz="950" dirty="0"/>
          </a:p>
        </p:txBody>
      </p:sp>
      <p:sp>
        <p:nvSpPr>
          <p:cNvPr id="30" name="Shape 28"/>
          <p:cNvSpPr/>
          <p:nvPr/>
        </p:nvSpPr>
        <p:spPr>
          <a:xfrm>
            <a:off x="4352544" y="5029200"/>
            <a:ext cx="3529584"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31" name="Text 29"/>
          <p:cNvSpPr txBox="1"/>
          <p:nvPr/>
        </p:nvSpPr>
        <p:spPr>
          <a:xfrm>
            <a:off x="4626864" y="5157216"/>
            <a:ext cx="2980944"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一般サービスへの交換は 0.5</a:t>
            </a:r>
            <a:endParaRPr lang="en-US" sz="1250" dirty="0"/>
          </a:p>
        </p:txBody>
      </p:sp>
      <p:sp>
        <p:nvSpPr>
          <p:cNvPr id="32" name="Text 30"/>
          <p:cNvSpPr txBox="1"/>
          <p:nvPr/>
        </p:nvSpPr>
        <p:spPr>
          <a:xfrm>
            <a:off x="4626864" y="5449824"/>
            <a:ext cx="2980944" cy="56692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ワイン関連の一般サービスへは0.5で交換可能。比べたうえで「ワインならWineBank経済圏が一番得だ」と分かる設計にします。</a:t>
            </a:r>
            <a:endParaRPr lang="en-US" sz="950" dirty="0"/>
          </a:p>
        </p:txBody>
      </p:sp>
      <p:sp>
        <p:nvSpPr>
          <p:cNvPr id="33" name="Shape 31"/>
          <p:cNvSpPr/>
          <p:nvPr/>
        </p:nvSpPr>
        <p:spPr>
          <a:xfrm>
            <a:off x="8138160" y="5029200"/>
            <a:ext cx="3529584"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34" name="Text 32"/>
          <p:cNvSpPr txBox="1"/>
          <p:nvPr/>
        </p:nvSpPr>
        <p:spPr>
          <a:xfrm>
            <a:off x="8412480" y="5157216"/>
            <a:ext cx="2980944"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手間は、ゼロ</a:t>
            </a:r>
            <a:endParaRPr lang="en-US" sz="1250" dirty="0"/>
          </a:p>
        </p:txBody>
      </p:sp>
      <p:sp>
        <p:nvSpPr>
          <p:cNvPr id="35" name="Text 33"/>
          <p:cNvSpPr txBox="1"/>
          <p:nvPr/>
        </p:nvSpPr>
        <p:spPr>
          <a:xfrm>
            <a:off x="8412480" y="5449824"/>
            <a:ext cx="2980944" cy="56692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手数料は年1回の自動引落。マイルは自動付与。使うときは、お店で名前を言うだけです。</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UNIT ECONOMICS</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単体では赤字の経路がある。連結では、全経路が黒字。</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ワイン100万円・年間5万マイル。系列店へはマイル額面×90%を保証、系列店の実原価は30%。</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2468880"/>
                <a:gridCol w="914400"/>
                <a:gridCol w="1188720"/>
                <a:gridCol w="1463040"/>
                <a:gridCol w="1463040"/>
                <a:gridCol w="1097280"/>
                <a:gridCol w="1216152"/>
                <a:gridCol w="1216152"/>
              </a:tblGrid>
              <a:tr h="457200">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交換先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レート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額面</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単体原価</a:t>
                      </a:r>
                      <a:endParaRPr lang="en-US" sz="1100" dirty="0">
                        <a:latin typeface="Meiryo" charset="0"/>
                        <a:ea typeface="Meiryo" charset="0"/>
                        <a:cs typeface="Meiryo" charset="0"/>
                      </a:endParaRPr>
                    </a:p>
                    <a:p>
                      <a:pPr algn="ctr" indent="0" marL="0">
                        <a:buNone/>
                      </a:pPr>
                      <a:r>
                        <a:rPr lang="en-US" sz="1100" b="1" dirty="0">
                          <a:solidFill>
                            <a:srgbClr val="F2EDE6"/>
                          </a:solidFill>
                          <a:latin typeface="Meiryo" pitchFamily="34" charset="0"/>
                          <a:ea typeface="Meiryo" pitchFamily="34" charset="-122"/>
                          <a:cs typeface="Meiryo" pitchFamily="34" charset="-120"/>
                        </a:rPr>
                        <a:t>(90%保証)</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連結原価</a:t>
                      </a:r>
                      <a:endParaRPr lang="en-US" sz="1100" dirty="0">
                        <a:latin typeface="Meiryo" charset="0"/>
                        <a:ea typeface="Meiryo" charset="0"/>
                        <a:cs typeface="Meiryo" charset="0"/>
                      </a:endParaRPr>
                    </a:p>
                    <a:p>
                      <a:pPr algn="ctr" indent="0" marL="0">
                        <a:buNone/>
                      </a:pPr>
                      <a:r>
                        <a:rPr lang="en-US" sz="1100" b="1" dirty="0">
                          <a:solidFill>
                            <a:srgbClr val="F2EDE6"/>
                          </a:solidFill>
                          <a:latin typeface="Meiryo" pitchFamily="34" charset="0"/>
                          <a:ea typeface="Meiryo" pitchFamily="34" charset="-122"/>
                          <a:cs typeface="Meiryo" pitchFamily="34" charset="-120"/>
                        </a:rPr>
                        <a:t>(実原価30%)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手数料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単体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連結</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系列レストラン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50,000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D96A6A"/>
                          </a:solidFill>
                          <a:latin typeface="Meiryo" pitchFamily="34" charset="0"/>
                          <a:ea typeface="Meiryo" pitchFamily="34" charset="-122"/>
                          <a:cs typeface="Meiryo" pitchFamily="34" charset="-120"/>
                        </a:rPr>
                        <a:t>▲20,000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グランメゾン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22,500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7,500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+2,500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+17,500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r>
              <a:tr h="38404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WineBank CLUB充当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50,000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ほぼ0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ほぼ0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+25,000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オークション成約手数料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50,000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+25,000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系列店外の飲食</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0.75円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37,500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37,500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37,500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▲12,500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D96A6A"/>
                          </a:solidFill>
                          <a:latin typeface="Meiryo" pitchFamily="34" charset="0"/>
                          <a:ea typeface="Meiryo" pitchFamily="34" charset="-122"/>
                          <a:cs typeface="Meiryo" pitchFamily="34" charset="-120"/>
                        </a:rPr>
                        <a:t>▲12,500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失効</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+25,000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Shape 4"/>
          <p:cNvSpPr/>
          <p:nvPr/>
        </p:nvSpPr>
        <p:spPr>
          <a:xfrm>
            <a:off x="566928" y="4553712"/>
            <a:ext cx="5394960" cy="1481328"/>
          </a:xfrm>
          <a:prstGeom prst="roundRect">
            <a:avLst>
              <a:gd name="adj" fmla="val 3704"/>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4736592"/>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90%保証は「原価」ではなく「送客投資」です</a:t>
            </a:r>
            <a:endParaRPr lang="en-US" sz="1500" dirty="0"/>
          </a:p>
        </p:txBody>
      </p:sp>
      <p:sp>
        <p:nvSpPr>
          <p:cNvPr id="9" name="Text 6"/>
          <p:cNvSpPr txBox="1"/>
          <p:nvPr/>
        </p:nvSpPr>
        <p:spPr>
          <a:xfrm>
            <a:off x="932688" y="5102352"/>
            <a:ext cx="4663440" cy="731520"/>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系列店が原価だけで受けると外部店に展開できません。90%を保証すれば店は歓迎し、同じ条件を系列店外へ広げられます。グループ連結では相殺されるため、真の原価は30%のままです。</a:t>
            </a:r>
            <a:endParaRPr lang="en-US" sz="1100" dirty="0"/>
          </a:p>
        </p:txBody>
      </p:sp>
      <p:sp>
        <p:nvSpPr>
          <p:cNvPr id="10" name="Shape 7"/>
          <p:cNvSpPr/>
          <p:nvPr/>
        </p:nvSpPr>
        <p:spPr>
          <a:xfrm>
            <a:off x="6199632" y="4553712"/>
            <a:ext cx="5394960" cy="1481328"/>
          </a:xfrm>
          <a:prstGeom prst="roundRect">
            <a:avLst>
              <a:gd name="adj" fmla="val 3704"/>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4736592"/>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真水で出ていくのは、系列店外だけ</a:t>
            </a:r>
            <a:endParaRPr lang="en-US" sz="1500" dirty="0"/>
          </a:p>
        </p:txBody>
      </p:sp>
      <p:sp>
        <p:nvSpPr>
          <p:cNvPr id="12" name="Text 9"/>
          <p:cNvSpPr txBox="1"/>
          <p:nvPr/>
        </p:nvSpPr>
        <p:spPr>
          <a:xfrm>
            <a:off x="6565392" y="5102352"/>
            <a:ext cx="4663440" cy="731520"/>
          </a:xfrm>
          <a:prstGeom prst="rect">
            <a:avLst/>
          </a:prstGeom>
          <a:noFill/>
          <a:ln/>
        </p:spPr>
        <p:txBody>
          <a:bodyPr wrap="square" lIns="0" tIns="0" rIns="0" bIns="0" rtlCol="0" anchor="ctr"/>
          <a:lstStyle/>
          <a:p>
            <a:pPr indent="0" marL="0">
              <a:lnSpc>
                <a:spcPts val="1600"/>
              </a:lnSpc>
              <a:buNone/>
            </a:pPr>
            <a:r>
              <a:rPr lang="en-US" sz="1100" dirty="0">
                <a:solidFill>
                  <a:srgbClr val="F2EDE6"/>
                </a:solidFill>
                <a:latin typeface="Meiryo" pitchFamily="34" charset="0"/>
                <a:ea typeface="Meiryo" pitchFamily="34" charset="-122"/>
                <a:cs typeface="Meiryo" pitchFamily="34" charset="-120"/>
              </a:rPr>
              <a:t>系列店外・一般サービスへの交換は連結でも現金流出です。ここだけはレートを0.5〜0.75に割り引き、年間付与マイルに対する上限を設ける必要があります。航空会社が自社便と提携他社便でレートを変えるのと同じ考え方です。※要検討</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RETURN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3年・5年・10年で、双方いくらになるか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ワイン100万円・年6%成長・成功報酬25%・仲介手数料なし。連結ベース。</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777240"/>
                <a:gridCol w="1371600"/>
                <a:gridCol w="1280160"/>
                <a:gridCol w="1325880"/>
                <a:gridCol w="1508760"/>
                <a:gridCol w="1188720"/>
                <a:gridCol w="1051560"/>
                <a:gridCol w="1371600"/>
                <a:gridCol w="1152144"/>
              </a:tblGrid>
              <a:tr h="512064">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ワイン時価</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値上がり益</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成功報酬25%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会員の累計利益</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会員 単純年率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会員 CAGR</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当社の累計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当社 年率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457200">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3年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1,191,016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191,016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47,754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218,262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7.3%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6.80%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77,754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57200">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5年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1,338,226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338,226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84,556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378,669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7.6%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6.63%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134,556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2.69%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57200">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10年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1,790,848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790,848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197,712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843,136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8.4%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6.31%</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297,712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2.98%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Text 4"/>
          <p:cNvSpPr txBox="1"/>
          <p:nvPr/>
        </p:nvSpPr>
        <p:spPr>
          <a:xfrm>
            <a:off x="566928" y="3566160"/>
            <a:ext cx="11027664" cy="256032"/>
          </a:xfrm>
          <a:prstGeom prst="rect">
            <a:avLst/>
          </a:prstGeom>
          <a:noFill/>
          <a:ln/>
        </p:spPr>
        <p:txBody>
          <a:bodyPr wrap="square" lIns="0" tIns="0" rIns="0" bIns="0" rtlCol="0" anchor="ctr"/>
          <a:lstStyle/>
          <a:p>
            <a:pPr indent="0" marL="0">
              <a:buNone/>
            </a:pPr>
            <a:r>
              <a:rPr lang="en-US" sz="1000" dirty="0">
                <a:solidFill>
                  <a:srgbClr val="A2908C"/>
                </a:solidFill>
                <a:latin typeface="Meiryo" pitchFamily="34" charset="0"/>
                <a:ea typeface="Meiryo" pitchFamily="34" charset="-122"/>
                <a:cs typeface="Meiryo" pitchFamily="34" charset="-120"/>
              </a:rPr>
              <a:t>※会員＝（マイル額面累計 − 手数料累計）＋（値上がり益 − 成功報酬）。当社＝（手数料2.5% − マイル連結原価1.5%）×年数 ＋ 成功報酬</a:t>
            </a:r>
            <a:endParaRPr lang="en-US" sz="1000" dirty="0"/>
          </a:p>
        </p:txBody>
      </p:sp>
      <p:sp>
        <p:nvSpPr>
          <p:cNvPr id="8" name="Shape 5"/>
          <p:cNvSpPr/>
          <p:nvPr/>
        </p:nvSpPr>
        <p:spPr>
          <a:xfrm>
            <a:off x="566928" y="3950208"/>
            <a:ext cx="3529584" cy="1371600"/>
          </a:xfrm>
          <a:prstGeom prst="roundRect">
            <a:avLst>
              <a:gd name="adj" fmla="val 40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9" name="Shape 6"/>
          <p:cNvSpPr/>
          <p:nvPr/>
        </p:nvSpPr>
        <p:spPr>
          <a:xfrm>
            <a:off x="841248" y="4114800"/>
            <a:ext cx="329184" cy="329184"/>
          </a:xfrm>
          <a:prstGeom prst="ellipse">
            <a:avLst/>
          </a:prstGeom>
          <a:solidFill>
            <a:srgbClr val="C9A227"/>
          </a:solidFill>
          <a:ln w="12700">
            <a:solidFill>
              <a:srgbClr val="C9A227"/>
            </a:solidFill>
            <a:prstDash val="solid"/>
          </a:ln>
        </p:spPr>
      </p:sp>
      <p:sp>
        <p:nvSpPr>
          <p:cNvPr id="10" name="Text 7"/>
          <p:cNvSpPr txBox="1"/>
          <p:nvPr/>
        </p:nvSpPr>
        <p:spPr>
          <a:xfrm>
            <a:off x="841248" y="4114800"/>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1" name="Text 8"/>
          <p:cNvSpPr txBox="1"/>
          <p:nvPr/>
        </p:nvSpPr>
        <p:spPr>
          <a:xfrm>
            <a:off x="1261872" y="4133088"/>
            <a:ext cx="2596896"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成長率が上がるほど、当社も伸びる</a:t>
            </a:r>
            <a:endParaRPr lang="en-US" sz="1250" dirty="0"/>
          </a:p>
        </p:txBody>
      </p:sp>
      <p:sp>
        <p:nvSpPr>
          <p:cNvPr id="12" name="Text 9"/>
          <p:cNvSpPr txBox="1"/>
          <p:nvPr/>
        </p:nvSpPr>
        <p:spPr>
          <a:xfrm>
            <a:off x="841248" y="4553712"/>
            <a:ext cx="2980944" cy="69494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年5%なら当社2.38%／年6%で2.69%／年10%で4.05%（いずれも5年）。会員と当社が完全に同じ方向を向きます。</a:t>
            </a:r>
            <a:endParaRPr lang="en-US" sz="1050" dirty="0"/>
          </a:p>
        </p:txBody>
      </p:sp>
      <p:sp>
        <p:nvSpPr>
          <p:cNvPr id="13" name="Shape 10"/>
          <p:cNvSpPr/>
          <p:nvPr/>
        </p:nvSpPr>
        <p:spPr>
          <a:xfrm>
            <a:off x="4352544" y="3950208"/>
            <a:ext cx="3529584" cy="1371600"/>
          </a:xfrm>
          <a:prstGeom prst="roundRect">
            <a:avLst>
              <a:gd name="adj" fmla="val 40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4" name="Shape 11"/>
          <p:cNvSpPr/>
          <p:nvPr/>
        </p:nvSpPr>
        <p:spPr>
          <a:xfrm>
            <a:off x="4626864" y="4114800"/>
            <a:ext cx="329184" cy="329184"/>
          </a:xfrm>
          <a:prstGeom prst="ellipse">
            <a:avLst/>
          </a:prstGeom>
          <a:solidFill>
            <a:srgbClr val="C9A227"/>
          </a:solidFill>
          <a:ln w="12700">
            <a:solidFill>
              <a:srgbClr val="C9A227"/>
            </a:solidFill>
            <a:prstDash val="solid"/>
          </a:ln>
        </p:spPr>
      </p:sp>
      <p:sp>
        <p:nvSpPr>
          <p:cNvPr id="15" name="Text 12"/>
          <p:cNvSpPr txBox="1"/>
          <p:nvPr/>
        </p:nvSpPr>
        <p:spPr>
          <a:xfrm>
            <a:off x="4626864" y="4114800"/>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6" name="Text 13"/>
          <p:cNvSpPr txBox="1"/>
          <p:nvPr/>
        </p:nvSpPr>
        <p:spPr>
          <a:xfrm>
            <a:off x="5047488" y="4133088"/>
            <a:ext cx="2596896"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長く持つほど、当社が有利になる</a:t>
            </a:r>
            <a:endParaRPr lang="en-US" sz="1250" dirty="0"/>
          </a:p>
        </p:txBody>
      </p:sp>
      <p:sp>
        <p:nvSpPr>
          <p:cNvPr id="17" name="Text 14"/>
          <p:cNvSpPr txBox="1"/>
          <p:nvPr/>
        </p:nvSpPr>
        <p:spPr>
          <a:xfrm>
            <a:off x="4626864" y="4553712"/>
            <a:ext cx="2980944" cy="69494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成功報酬25%と媒介10%の損益分岐は8.8年（6%成長時）。10%成長なら5.4年。長期保有を促す動機が当社側に働きます。</a:t>
            </a:r>
            <a:endParaRPr lang="en-US" sz="1050" dirty="0"/>
          </a:p>
        </p:txBody>
      </p:sp>
      <p:sp>
        <p:nvSpPr>
          <p:cNvPr id="18" name="Shape 15"/>
          <p:cNvSpPr/>
          <p:nvPr/>
        </p:nvSpPr>
        <p:spPr>
          <a:xfrm>
            <a:off x="8138160" y="3950208"/>
            <a:ext cx="3529584" cy="1371600"/>
          </a:xfrm>
          <a:prstGeom prst="roundRect">
            <a:avLst>
              <a:gd name="adj" fmla="val 40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9" name="Shape 16"/>
          <p:cNvSpPr/>
          <p:nvPr/>
        </p:nvSpPr>
        <p:spPr>
          <a:xfrm>
            <a:off x="8412480" y="4114800"/>
            <a:ext cx="329184" cy="329184"/>
          </a:xfrm>
          <a:prstGeom prst="ellipse">
            <a:avLst/>
          </a:prstGeom>
          <a:solidFill>
            <a:srgbClr val="C9A227"/>
          </a:solidFill>
          <a:ln w="12700">
            <a:solidFill>
              <a:srgbClr val="C9A227"/>
            </a:solidFill>
            <a:prstDash val="solid"/>
          </a:ln>
        </p:spPr>
      </p:sp>
      <p:sp>
        <p:nvSpPr>
          <p:cNvPr id="20" name="Text 17"/>
          <p:cNvSpPr txBox="1"/>
          <p:nvPr/>
        </p:nvSpPr>
        <p:spPr>
          <a:xfrm>
            <a:off x="8412480" y="4114800"/>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1" name="Text 18"/>
          <p:cNvSpPr txBox="1"/>
          <p:nvPr/>
        </p:nvSpPr>
        <p:spPr>
          <a:xfrm>
            <a:off x="8833104" y="4133088"/>
            <a:ext cx="2596896"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だからセラーが増える方向に働く</a:t>
            </a:r>
            <a:endParaRPr lang="en-US" sz="1250" dirty="0"/>
          </a:p>
        </p:txBody>
      </p:sp>
      <p:sp>
        <p:nvSpPr>
          <p:cNvPr id="22" name="Text 19"/>
          <p:cNvSpPr txBox="1"/>
          <p:nvPr/>
        </p:nvSpPr>
        <p:spPr>
          <a:xfrm>
            <a:off x="8412480" y="4553712"/>
            <a:ext cx="2980944" cy="69494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媒介モデルは回転させたくなり、セラーが減ります。成功報酬は寝かせたくなる。Cloud Cave構想と同じ向きです。</a:t>
            </a:r>
            <a:endParaRPr lang="en-US" sz="1050" dirty="0"/>
          </a:p>
        </p:txBody>
      </p:sp>
      <p:sp>
        <p:nvSpPr>
          <p:cNvPr id="23" name="Shape 20"/>
          <p:cNvSpPr/>
          <p:nvPr/>
        </p:nvSpPr>
        <p:spPr>
          <a:xfrm>
            <a:off x="566928" y="5468112"/>
            <a:ext cx="11027664" cy="585216"/>
          </a:xfrm>
          <a:prstGeom prst="roundRect">
            <a:avLst>
              <a:gd name="adj" fmla="val 937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4" name="Text 21"/>
          <p:cNvSpPr txBox="1"/>
          <p:nvPr/>
        </p:nvSpPr>
        <p:spPr>
          <a:xfrm>
            <a:off x="978408" y="5614416"/>
            <a:ext cx="10204704" cy="329184"/>
          </a:xfrm>
          <a:prstGeom prst="rect">
            <a:avLst/>
          </a:prstGeom>
          <a:noFill/>
          <a:ln/>
        </p:spPr>
        <p:txBody>
          <a:bodyPr wrap="square" lIns="0" tIns="0" rIns="0" bIns="0" rtlCol="0" anchor="ctr"/>
          <a:lstStyle/>
          <a:p>
            <a:pPr algn="ctr" indent="0" marL="0">
              <a:buNone/>
            </a:pPr>
            <a:r>
              <a:rPr lang="en-US" sz="1500" b="1" dirty="0">
                <a:solidFill>
                  <a:srgbClr val="E8CE78"/>
                </a:solidFill>
                <a:latin typeface="Meiryo" pitchFamily="34" charset="0"/>
                <a:ea typeface="Meiryo" pitchFamily="34" charset="-122"/>
                <a:cs typeface="Meiryo" pitchFamily="34" charset="-120"/>
              </a:rPr>
              <a:t>会員は年7〜8%、当社は年2.6〜3.0%。値上がりの75%を会員に残しても、事業は成立します。</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STRUCTURE CHOICE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構造の選択：なぜ買戻しではなく成功報酬か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検討した3案を、法務・会計・利益相反の3面で評価しました。</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2432304"/>
                <a:gridCol w="2560320"/>
                <a:gridCol w="3474720"/>
                <a:gridCol w="2560320"/>
              </a:tblGrid>
              <a:tr h="402336">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① 買戻し保証</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② 成功報酬25%（採用）</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③ 専属専任媒介 10%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出資法（預り金）</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元本保証と読まれる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該当しない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該当しない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金商法（集団投資）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会員が払う手数料。分配ではない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媒介手数料</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売上計上（収益認識）</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借入金になる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完全な売却</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完全な売却</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B/Sリスク</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規模に比例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なし</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なし</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利益相反</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当社が買主</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値上がりだけを共に願う</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 当社は早く売りたい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顧客の自由度</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縛らない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専属専任で縛る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当社の年率（5年）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約7.0%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約2.7%</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約3.7%</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Shape 4"/>
          <p:cNvSpPr/>
          <p:nvPr/>
        </p:nvSpPr>
        <p:spPr>
          <a:xfrm>
            <a:off x="566928" y="4864608"/>
            <a:ext cx="5394960" cy="1188720"/>
          </a:xfrm>
          <a:prstGeom prst="roundRect">
            <a:avLst>
              <a:gd name="adj" fmla="val 461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25%なら「手数料」であって「分配」ではない</a:t>
            </a:r>
            <a:endParaRPr lang="en-US" sz="1400" dirty="0"/>
          </a:p>
        </p:txBody>
      </p:sp>
      <p:sp>
        <p:nvSpPr>
          <p:cNvPr id="9" name="Text 6"/>
          <p:cNvSpPr txBox="1"/>
          <p:nvPr/>
        </p:nvSpPr>
        <p:spPr>
          <a:xfrm>
            <a:off x="932688"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会員が当社に払う役務の成功報酬であり、会員への利益分配ではありません。P1ファンドの成功報酬25%と同じ水準なので、既に通っている説明が使えます。</a:t>
            </a:r>
            <a:endParaRPr lang="en-US" sz="1050" dirty="0"/>
          </a:p>
        </p:txBody>
      </p:sp>
      <p:sp>
        <p:nvSpPr>
          <p:cNvPr id="10" name="Shape 7"/>
          <p:cNvSpPr/>
          <p:nvPr/>
        </p:nvSpPr>
        <p:spPr>
          <a:xfrm>
            <a:off x="6199632" y="4864608"/>
            <a:ext cx="5394960"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縛らないために、精算は「契約終了時」に</a:t>
            </a:r>
            <a:endParaRPr lang="en-US" sz="1400" dirty="0"/>
          </a:p>
        </p:txBody>
      </p:sp>
      <p:sp>
        <p:nvSpPr>
          <p:cNvPr id="12" name="Text 9"/>
          <p:cNvSpPr txBox="1"/>
          <p:nvPr/>
        </p:nvSpPr>
        <p:spPr>
          <a:xfrm>
            <a:off x="6565392"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売却時精算だと、拘束がない限り会員は当社を通さず売ります。契約終了時にLiv-ex連動評価額の差分で精算すれば、どこで売っても飲んでも同じ。専属専任も媒介手数料も不要です。</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TWO TRACKS</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運用型を基本に。ただし「飲みたい」も、無理なく受け止める。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飲むつもりの人に賃貸借は不要です。そして運用型の人も、途中で飲みたくなります。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5394960" cy="1975104"/>
          </a:xfrm>
          <a:prstGeom prst="roundRect">
            <a:avLst>
              <a:gd name="adj" fmla="val 2778"/>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792224"/>
            <a:ext cx="4663440" cy="329184"/>
          </a:xfrm>
          <a:prstGeom prst="rect">
            <a:avLst/>
          </a:prstGeom>
          <a:noFill/>
          <a:ln/>
        </p:spPr>
        <p:txBody>
          <a:bodyPr wrap="square" lIns="0" tIns="0" rIns="0" bIns="0" rtlCol="0" anchor="ctr"/>
          <a:lstStyle/>
          <a:p>
            <a:pPr indent="0" marL="0">
              <a:buNone/>
            </a:pPr>
            <a:r>
              <a:rPr lang="en-US" sz="1800" b="1" dirty="0">
                <a:solidFill>
                  <a:srgbClr val="C9A227"/>
                </a:solidFill>
                <a:latin typeface="Meiryo" pitchFamily="34" charset="0"/>
                <a:ea typeface="Meiryo" pitchFamily="34" charset="-122"/>
                <a:cs typeface="Meiryo" pitchFamily="34" charset="-120"/>
              </a:rPr>
              <a:t>運用型（推奨・基本）</a:t>
            </a:r>
            <a:endParaRPr lang="en-US" sz="1800" dirty="0"/>
          </a:p>
        </p:txBody>
      </p:sp>
      <p:sp>
        <p:nvSpPr>
          <p:cNvPr id="8" name="Text 6"/>
          <p:cNvSpPr txBox="1"/>
          <p:nvPr/>
        </p:nvSpPr>
        <p:spPr>
          <a:xfrm>
            <a:off x="932688" y="2157984"/>
            <a:ext cx="4663440" cy="274320"/>
          </a:xfrm>
          <a:prstGeom prst="rect">
            <a:avLst/>
          </a:prstGeom>
          <a:noFill/>
          <a:ln/>
        </p:spPr>
        <p:txBody>
          <a:bodyPr wrap="square" lIns="0" tIns="0" rIns="0" bIns="0" rtlCol="0" anchor="ctr"/>
          <a:lstStyle/>
          <a:p>
            <a:pPr indent="0" marL="0">
              <a:buNone/>
            </a:pPr>
            <a:r>
              <a:rPr lang="en-US" sz="1200" dirty="0">
                <a:solidFill>
                  <a:srgbClr val="A2908C"/>
                </a:solidFill>
                <a:latin typeface="Meiryo" pitchFamily="34" charset="0"/>
                <a:ea typeface="Meiryo" pitchFamily="34" charset="-122"/>
                <a:cs typeface="Meiryo" pitchFamily="34" charset="-120"/>
              </a:rPr>
              <a:t>賃貸借 ＋ 成功報酬25%</a:t>
            </a:r>
            <a:endParaRPr lang="en-US" sz="1200" dirty="0"/>
          </a:p>
        </p:txBody>
      </p:sp>
      <p:sp>
        <p:nvSpPr>
          <p:cNvPr id="9" name="Text 7"/>
          <p:cNvSpPr txBox="1"/>
          <p:nvPr/>
        </p:nvSpPr>
        <p:spPr>
          <a:xfrm>
            <a:off x="932688" y="2523744"/>
            <a:ext cx="4663440" cy="1005840"/>
          </a:xfrm>
          <a:prstGeom prst="rect">
            <a:avLst/>
          </a:prstGeom>
          <a:noFill/>
          <a:ln/>
        </p:spPr>
        <p:txBody>
          <a:bodyPr wrap="square" lIns="0" tIns="0" rIns="0" bIns="0" rtlCol="0" anchor="t"/>
          <a:lstStyle/>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ワインは当社が賃借し、マイルが賃料として入る</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値上がりの75%は会員のもの</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出口は自由。縛りなし</a:t>
            </a:r>
            <a:endParaRPr lang="en-US" sz="1150" dirty="0"/>
          </a:p>
        </p:txBody>
      </p:sp>
      <p:sp>
        <p:nvSpPr>
          <p:cNvPr id="10" name="Shape 8"/>
          <p:cNvSpPr/>
          <p:nvPr/>
        </p:nvSpPr>
        <p:spPr>
          <a:xfrm>
            <a:off x="6199632" y="1627632"/>
            <a:ext cx="5394960" cy="1975104"/>
          </a:xfrm>
          <a:prstGeom prst="roundRect">
            <a:avLst>
              <a:gd name="adj" fmla="val 277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6565392" y="1792224"/>
            <a:ext cx="4663440" cy="329184"/>
          </a:xfrm>
          <a:prstGeom prst="rect">
            <a:avLst/>
          </a:prstGeom>
          <a:noFill/>
          <a:ln/>
        </p:spPr>
        <p:txBody>
          <a:bodyPr wrap="square" lIns="0" tIns="0" rIns="0" bIns="0" rtlCol="0" anchor="ctr"/>
          <a:lstStyle/>
          <a:p>
            <a:pPr indent="0" marL="0">
              <a:buNone/>
            </a:pPr>
            <a:r>
              <a:rPr lang="en-US" sz="1800" b="1" dirty="0">
                <a:solidFill>
                  <a:srgbClr val="7FD1AE"/>
                </a:solidFill>
                <a:latin typeface="Meiryo" pitchFamily="34" charset="0"/>
                <a:ea typeface="Meiryo" pitchFamily="34" charset="-122"/>
                <a:cs typeface="Meiryo" pitchFamily="34" charset="-120"/>
              </a:rPr>
              <a:t>消費型（自己利用・贈答）</a:t>
            </a:r>
            <a:endParaRPr lang="en-US" sz="1800" dirty="0"/>
          </a:p>
        </p:txBody>
      </p:sp>
      <p:sp>
        <p:nvSpPr>
          <p:cNvPr id="12" name="Text 10"/>
          <p:cNvSpPr txBox="1"/>
          <p:nvPr/>
        </p:nvSpPr>
        <p:spPr>
          <a:xfrm>
            <a:off x="6565392" y="2157984"/>
            <a:ext cx="4663440" cy="274320"/>
          </a:xfrm>
          <a:prstGeom prst="rect">
            <a:avLst/>
          </a:prstGeom>
          <a:noFill/>
          <a:ln/>
        </p:spPr>
        <p:txBody>
          <a:bodyPr wrap="square" lIns="0" tIns="0" rIns="0" bIns="0" rtlCol="0" anchor="ctr"/>
          <a:lstStyle/>
          <a:p>
            <a:pPr indent="0" marL="0">
              <a:buNone/>
            </a:pPr>
            <a:r>
              <a:rPr lang="en-US" sz="1200" dirty="0">
                <a:solidFill>
                  <a:srgbClr val="A2908C"/>
                </a:solidFill>
                <a:latin typeface="Meiryo" pitchFamily="34" charset="0"/>
                <a:ea typeface="Meiryo" pitchFamily="34" charset="-122"/>
                <a:cs typeface="Meiryo" pitchFamily="34" charset="-120"/>
              </a:rPr>
              <a:t>売買 ＋ 寄託のみ</a:t>
            </a:r>
            <a:endParaRPr lang="en-US" sz="1200" dirty="0"/>
          </a:p>
        </p:txBody>
      </p:sp>
      <p:sp>
        <p:nvSpPr>
          <p:cNvPr id="13" name="Text 11"/>
          <p:cNvSpPr txBox="1"/>
          <p:nvPr/>
        </p:nvSpPr>
        <p:spPr>
          <a:xfrm>
            <a:off x="6565392" y="2523744"/>
            <a:ext cx="4663440" cy="1005840"/>
          </a:xfrm>
          <a:prstGeom prst="rect">
            <a:avLst/>
          </a:prstGeom>
          <a:noFill/>
          <a:ln/>
        </p:spPr>
        <p:txBody>
          <a:bodyPr wrap="square" lIns="0" tIns="0" rIns="0" bIns="0" rtlCol="0" anchor="t"/>
          <a:lstStyle/>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賃貸借も成功報酬もかからない</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マイルは購入時の還元として付与</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規制の表面積はほぼゼロ</a:t>
            </a:r>
            <a:endParaRPr lang="en-US" sz="1150" dirty="0"/>
          </a:p>
        </p:txBody>
      </p:sp>
      <p:sp>
        <p:nvSpPr>
          <p:cNvPr id="14" name="Shape 12"/>
          <p:cNvSpPr/>
          <p:nvPr/>
        </p:nvSpPr>
        <p:spPr>
          <a:xfrm>
            <a:off x="566928" y="3749040"/>
            <a:ext cx="11027664" cy="1371600"/>
          </a:xfrm>
          <a:prstGeom prst="roundRect">
            <a:avLst>
              <a:gd name="adj" fmla="val 40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978408" y="3931920"/>
            <a:ext cx="10204704" cy="310896"/>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途中で飲みたくなったら —— 年に1度、まとめて精算します（年次リバランス）</a:t>
            </a:r>
            <a:endParaRPr lang="en-US" sz="1600" dirty="0"/>
          </a:p>
        </p:txBody>
      </p:sp>
      <p:sp>
        <p:nvSpPr>
          <p:cNvPr id="16" name="Text 14"/>
          <p:cNvSpPr txBox="1"/>
          <p:nvPr/>
        </p:nvSpPr>
        <p:spPr>
          <a:xfrm>
            <a:off x="978408" y="4352544"/>
            <a:ext cx="237744" cy="256032"/>
          </a:xfrm>
          <a:prstGeom prst="rect">
            <a:avLst/>
          </a:prstGeom>
          <a:noFill/>
          <a:ln/>
        </p:spPr>
        <p:txBody>
          <a:bodyPr wrap="square" lIns="0" tIns="0" rIns="0" bIns="0" rtlCol="0" anchor="ctr"/>
          <a:lstStyle/>
          <a:p>
            <a:pPr indent="0" marL="0">
              <a:buNone/>
            </a:pPr>
            <a:r>
              <a:rPr lang="en-US" sz="1200" b="1" dirty="0">
                <a:solidFill>
                  <a:srgbClr val="C9A227"/>
                </a:solidFill>
                <a:latin typeface="Meiryo" pitchFamily="34" charset="0"/>
                <a:ea typeface="Meiryo" pitchFamily="34" charset="-122"/>
                <a:cs typeface="Meiryo" pitchFamily="34" charset="-120"/>
              </a:rPr>
              <a:t>1.</a:t>
            </a:r>
            <a:endParaRPr lang="en-US" sz="1200" dirty="0"/>
          </a:p>
        </p:txBody>
      </p:sp>
      <p:sp>
        <p:nvSpPr>
          <p:cNvPr id="17" name="Text 15"/>
          <p:cNvSpPr txBox="1"/>
          <p:nvPr/>
        </p:nvSpPr>
        <p:spPr>
          <a:xfrm>
            <a:off x="1252728" y="4352544"/>
            <a:ext cx="301752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引き出して飲んだ分は、引出時の評価額で運用資産から控除</a:t>
            </a:r>
            <a:endParaRPr lang="en-US" sz="1100" dirty="0"/>
          </a:p>
        </p:txBody>
      </p:sp>
      <p:sp>
        <p:nvSpPr>
          <p:cNvPr id="18" name="Text 16"/>
          <p:cNvSpPr txBox="1"/>
          <p:nvPr/>
        </p:nvSpPr>
        <p:spPr>
          <a:xfrm>
            <a:off x="4498848" y="4352544"/>
            <a:ext cx="237744" cy="256032"/>
          </a:xfrm>
          <a:prstGeom prst="rect">
            <a:avLst/>
          </a:prstGeom>
          <a:noFill/>
          <a:ln/>
        </p:spPr>
        <p:txBody>
          <a:bodyPr wrap="square" lIns="0" tIns="0" rIns="0" bIns="0" rtlCol="0" anchor="ctr"/>
          <a:lstStyle/>
          <a:p>
            <a:pPr indent="0" marL="0">
              <a:buNone/>
            </a:pPr>
            <a:r>
              <a:rPr lang="en-US" sz="1200" b="1" dirty="0">
                <a:solidFill>
                  <a:srgbClr val="C9A227"/>
                </a:solidFill>
                <a:latin typeface="Meiryo" pitchFamily="34" charset="0"/>
                <a:ea typeface="Meiryo" pitchFamily="34" charset="-122"/>
                <a:cs typeface="Meiryo" pitchFamily="34" charset="-120"/>
              </a:rPr>
              <a:t>2.</a:t>
            </a:r>
            <a:endParaRPr lang="en-US" sz="1200" dirty="0"/>
          </a:p>
        </p:txBody>
      </p:sp>
      <p:sp>
        <p:nvSpPr>
          <p:cNvPr id="19" name="Text 17"/>
          <p:cNvSpPr txBox="1"/>
          <p:nvPr/>
        </p:nvSpPr>
        <p:spPr>
          <a:xfrm>
            <a:off x="4773168" y="4352544"/>
            <a:ext cx="301752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翌年の管理手数料とマイル付与は、控除後の残高で計算</a:t>
            </a:r>
            <a:endParaRPr lang="en-US" sz="1100" dirty="0"/>
          </a:p>
        </p:txBody>
      </p:sp>
      <p:sp>
        <p:nvSpPr>
          <p:cNvPr id="20" name="Text 18"/>
          <p:cNvSpPr txBox="1"/>
          <p:nvPr/>
        </p:nvSpPr>
        <p:spPr>
          <a:xfrm>
            <a:off x="8019288" y="4352544"/>
            <a:ext cx="237744" cy="256032"/>
          </a:xfrm>
          <a:prstGeom prst="rect">
            <a:avLst/>
          </a:prstGeom>
          <a:noFill/>
          <a:ln/>
        </p:spPr>
        <p:txBody>
          <a:bodyPr wrap="square" lIns="0" tIns="0" rIns="0" bIns="0" rtlCol="0" anchor="ctr"/>
          <a:lstStyle/>
          <a:p>
            <a:pPr indent="0" marL="0">
              <a:buNone/>
            </a:pPr>
            <a:r>
              <a:rPr lang="en-US" sz="1200" b="1" dirty="0">
                <a:solidFill>
                  <a:srgbClr val="C9A227"/>
                </a:solidFill>
                <a:latin typeface="Meiryo" pitchFamily="34" charset="0"/>
                <a:ea typeface="Meiryo" pitchFamily="34" charset="-122"/>
                <a:cs typeface="Meiryo" pitchFamily="34" charset="-120"/>
              </a:rPr>
              <a:t>3.</a:t>
            </a:r>
            <a:endParaRPr lang="en-US" sz="1200" dirty="0"/>
          </a:p>
        </p:txBody>
      </p:sp>
      <p:sp>
        <p:nvSpPr>
          <p:cNvPr id="21" name="Text 19"/>
          <p:cNvSpPr txBox="1"/>
          <p:nvPr/>
        </p:nvSpPr>
        <p:spPr>
          <a:xfrm>
            <a:off x="8293608" y="4352544"/>
            <a:ext cx="301752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都度精算はしない。手数料の請求とマイルの付与を、同じ日に一度だけ行う</a:t>
            </a:r>
            <a:endParaRPr lang="en-US" sz="1100" dirty="0"/>
          </a:p>
        </p:txBody>
      </p:sp>
      <p:sp>
        <p:nvSpPr>
          <p:cNvPr id="22" name="Shape 20"/>
          <p:cNvSpPr/>
          <p:nvPr/>
        </p:nvSpPr>
        <p:spPr>
          <a:xfrm>
            <a:off x="566928" y="5266944"/>
            <a:ext cx="11027664" cy="786384"/>
          </a:xfrm>
          <a:prstGeom prst="roundRect">
            <a:avLst>
              <a:gd name="adj" fmla="val 697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3" name="Text 21"/>
          <p:cNvSpPr txBox="1"/>
          <p:nvPr/>
        </p:nvSpPr>
        <p:spPr>
          <a:xfrm>
            <a:off x="978408" y="5468112"/>
            <a:ext cx="10204704" cy="365760"/>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会員は手続きを意識しません。年1回、手数料が引き落とされ、同じ日に翌年分のマイルが入るだけです。</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MILE DESIGN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マイルは2階建て。貯まり方も2通り。</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保有に対する年次付与と、行動に対する都度付与。後者が「終わらない」の正体です。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5394960" cy="3346704"/>
          </a:xfrm>
          <a:prstGeom prst="roundRect">
            <a:avLst>
              <a:gd name="adj" fmla="val 1639"/>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792224"/>
            <a:ext cx="4663440" cy="347472"/>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通常マイル</a:t>
            </a:r>
            <a:endParaRPr lang="en-US" sz="1900" dirty="0"/>
          </a:p>
        </p:txBody>
      </p:sp>
      <p:sp>
        <p:nvSpPr>
          <p:cNvPr id="8" name="Text 6"/>
          <p:cNvSpPr txBox="1"/>
          <p:nvPr/>
        </p:nvSpPr>
        <p:spPr>
          <a:xfrm>
            <a:off x="932688" y="2176272"/>
            <a:ext cx="4663440" cy="274320"/>
          </a:xfrm>
          <a:prstGeom prst="rect">
            <a:avLst/>
          </a:prstGeom>
          <a:noFill/>
          <a:ln/>
        </p:spPr>
        <p:txBody>
          <a:bodyPr wrap="square" lIns="0" tIns="0" rIns="0" bIns="0" rtlCol="0" anchor="ctr"/>
          <a:lstStyle/>
          <a:p>
            <a:pPr indent="0" marL="0">
              <a:buNone/>
            </a:pPr>
            <a:r>
              <a:rPr lang="en-US" sz="1250" b="1" dirty="0">
                <a:solidFill>
                  <a:srgbClr val="A2908C"/>
                </a:solidFill>
                <a:latin typeface="Meiryo" pitchFamily="34" charset="0"/>
                <a:ea typeface="Meiryo" pitchFamily="34" charset="-122"/>
                <a:cs typeface="Meiryo" pitchFamily="34" charset="-120"/>
              </a:rPr>
              <a:t>有効期限 1年</a:t>
            </a:r>
            <a:endParaRPr lang="en-US" sz="1250" dirty="0"/>
          </a:p>
        </p:txBody>
      </p:sp>
      <p:sp>
        <p:nvSpPr>
          <p:cNvPr id="9" name="Text 7"/>
          <p:cNvSpPr txBox="1"/>
          <p:nvPr/>
        </p:nvSpPr>
        <p:spPr>
          <a:xfrm>
            <a:off x="932688" y="2523744"/>
            <a:ext cx="4663440" cy="777240"/>
          </a:xfrm>
          <a:prstGeom prst="rect">
            <a:avLst/>
          </a:prstGeom>
          <a:noFill/>
          <a:ln/>
        </p:spPr>
        <p:txBody>
          <a:bodyPr wrap="square" lIns="0" tIns="0" rIns="0" bIns="0" rtlCol="0" anchor="t"/>
          <a:lstStyle/>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保有資産に比例した年次付与（保有残高×5%）</a:t>
            </a:r>
            <a:endParaRPr lang="en-US" sz="1100" dirty="0"/>
          </a:p>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年会費の考え方と同じく、1年サイクル</a:t>
            </a:r>
            <a:endParaRPr lang="en-US" sz="1100" dirty="0"/>
          </a:p>
        </p:txBody>
      </p:sp>
      <p:sp>
        <p:nvSpPr>
          <p:cNvPr id="10" name="Text 8"/>
          <p:cNvSpPr txBox="1"/>
          <p:nvPr/>
        </p:nvSpPr>
        <p:spPr>
          <a:xfrm>
            <a:off x="932688" y="3346704"/>
            <a:ext cx="4663440" cy="237744"/>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使える先</a:t>
            </a:r>
            <a:endParaRPr lang="en-US" sz="1100" dirty="0"/>
          </a:p>
        </p:txBody>
      </p:sp>
      <p:sp>
        <p:nvSpPr>
          <p:cNvPr id="11" name="Text 9"/>
          <p:cNvSpPr txBox="1"/>
          <p:nvPr/>
        </p:nvSpPr>
        <p:spPr>
          <a:xfrm>
            <a:off x="932688" y="3639312"/>
            <a:ext cx="4663440" cy="1280160"/>
          </a:xfrm>
          <a:prstGeom prst="rect">
            <a:avLst/>
          </a:prstGeom>
          <a:noFill/>
          <a:ln/>
        </p:spPr>
        <p:txBody>
          <a:bodyPr wrap="square" lIns="0" tIns="0" rIns="0" bIns="0" rtlCol="0" anchor="t"/>
          <a:lstStyle/>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会食・贈答</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WineBank CLUB充当</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ワイナート年間購読</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ワイン追加購入（上限あり）</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オークション成約手数料</a:t>
            </a:r>
            <a:endParaRPr lang="en-US" sz="1100" dirty="0"/>
          </a:p>
        </p:txBody>
      </p:sp>
      <p:sp>
        <p:nvSpPr>
          <p:cNvPr id="12" name="Shape 10"/>
          <p:cNvSpPr/>
          <p:nvPr/>
        </p:nvSpPr>
        <p:spPr>
          <a:xfrm>
            <a:off x="6199632" y="1627632"/>
            <a:ext cx="5394960" cy="3346704"/>
          </a:xfrm>
          <a:prstGeom prst="roundRect">
            <a:avLst>
              <a:gd name="adj" fmla="val 1639"/>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3" name="Text 11"/>
          <p:cNvSpPr txBox="1"/>
          <p:nvPr/>
        </p:nvSpPr>
        <p:spPr>
          <a:xfrm>
            <a:off x="6565392" y="1792224"/>
            <a:ext cx="4663440" cy="347472"/>
          </a:xfrm>
          <a:prstGeom prst="rect">
            <a:avLst/>
          </a:prstGeom>
          <a:noFill/>
          <a:ln/>
        </p:spPr>
        <p:txBody>
          <a:bodyPr wrap="square" lIns="0" tIns="0" rIns="0" bIns="0" rtlCol="0" anchor="ctr"/>
          <a:lstStyle/>
          <a:p>
            <a:pPr indent="0" marL="0">
              <a:buNone/>
            </a:pPr>
            <a:r>
              <a:rPr lang="en-US" sz="1900" b="1" dirty="0">
                <a:solidFill>
                  <a:srgbClr val="C9A227"/>
                </a:solidFill>
                <a:latin typeface="Meiryo" pitchFamily="34" charset="0"/>
                <a:ea typeface="Meiryo" pitchFamily="34" charset="-122"/>
                <a:cs typeface="Meiryo" pitchFamily="34" charset="-120"/>
              </a:rPr>
              <a:t>限定マイル</a:t>
            </a:r>
            <a:endParaRPr lang="en-US" sz="1900" dirty="0"/>
          </a:p>
        </p:txBody>
      </p:sp>
      <p:sp>
        <p:nvSpPr>
          <p:cNvPr id="14" name="Text 12"/>
          <p:cNvSpPr txBox="1"/>
          <p:nvPr/>
        </p:nvSpPr>
        <p:spPr>
          <a:xfrm>
            <a:off x="6565392" y="2176272"/>
            <a:ext cx="4663440" cy="274320"/>
          </a:xfrm>
          <a:prstGeom prst="rect">
            <a:avLst/>
          </a:prstGeom>
          <a:noFill/>
          <a:ln/>
        </p:spPr>
        <p:txBody>
          <a:bodyPr wrap="square" lIns="0" tIns="0" rIns="0" bIns="0" rtlCol="0" anchor="ctr"/>
          <a:lstStyle/>
          <a:p>
            <a:pPr indent="0" marL="0">
              <a:buNone/>
            </a:pPr>
            <a:r>
              <a:rPr lang="en-US" sz="1250" b="1" dirty="0">
                <a:solidFill>
                  <a:srgbClr val="A2908C"/>
                </a:solidFill>
                <a:latin typeface="Meiryo" pitchFamily="34" charset="0"/>
                <a:ea typeface="Meiryo" pitchFamily="34" charset="-122"/>
                <a:cs typeface="Meiryo" pitchFamily="34" charset="-120"/>
              </a:rPr>
              <a:t>有効期限 3ヶ月</a:t>
            </a:r>
            <a:endParaRPr lang="en-US" sz="1250" dirty="0"/>
          </a:p>
        </p:txBody>
      </p:sp>
      <p:sp>
        <p:nvSpPr>
          <p:cNvPr id="15" name="Text 13"/>
          <p:cNvSpPr txBox="1"/>
          <p:nvPr/>
        </p:nvSpPr>
        <p:spPr>
          <a:xfrm>
            <a:off x="6565392" y="2523744"/>
            <a:ext cx="4663440" cy="777240"/>
          </a:xfrm>
          <a:prstGeom prst="rect">
            <a:avLst/>
          </a:prstGeom>
          <a:noFill/>
          <a:ln/>
        </p:spPr>
        <p:txBody>
          <a:bodyPr wrap="square" lIns="0" tIns="0" rIns="0" bIns="0" rtlCol="0" anchor="t"/>
          <a:lstStyle/>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行動に対する都度付与（落札・出品・会食・イベント参加）</a:t>
            </a:r>
            <a:endParaRPr lang="en-US" sz="1100" dirty="0"/>
          </a:p>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短い期限が、次の行動を呼ぶ</a:t>
            </a:r>
            <a:endParaRPr lang="en-US" sz="1100" dirty="0"/>
          </a:p>
        </p:txBody>
      </p:sp>
      <p:sp>
        <p:nvSpPr>
          <p:cNvPr id="16" name="Text 14"/>
          <p:cNvSpPr txBox="1"/>
          <p:nvPr/>
        </p:nvSpPr>
        <p:spPr>
          <a:xfrm>
            <a:off x="6565392" y="3346704"/>
            <a:ext cx="4663440" cy="237744"/>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使える先</a:t>
            </a:r>
            <a:endParaRPr lang="en-US" sz="1100" dirty="0"/>
          </a:p>
        </p:txBody>
      </p:sp>
      <p:sp>
        <p:nvSpPr>
          <p:cNvPr id="17" name="Text 15"/>
          <p:cNvSpPr txBox="1"/>
          <p:nvPr/>
        </p:nvSpPr>
        <p:spPr>
          <a:xfrm>
            <a:off x="6565392" y="3639312"/>
            <a:ext cx="4663440" cy="1280160"/>
          </a:xfrm>
          <a:prstGeom prst="rect">
            <a:avLst/>
          </a:prstGeom>
          <a:noFill/>
          <a:ln/>
        </p:spPr>
        <p:txBody>
          <a:bodyPr wrap="square" lIns="0" tIns="0" rIns="0" bIns="0" rtlCol="0" anchor="t"/>
          <a:lstStyle/>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オークション・マーケットプレイス</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ワイン関連の購入</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※飲食は会計を追えないため対象外</a:t>
            </a:r>
            <a:endParaRPr lang="en-US" sz="1100" dirty="0"/>
          </a:p>
        </p:txBody>
      </p:sp>
      <p:sp>
        <p:nvSpPr>
          <p:cNvPr id="18" name="Shape 16"/>
          <p:cNvSpPr/>
          <p:nvPr/>
        </p:nvSpPr>
        <p:spPr>
          <a:xfrm>
            <a:off x="566928" y="5120640"/>
            <a:ext cx="11027664" cy="932688"/>
          </a:xfrm>
          <a:prstGeom prst="roundRect">
            <a:avLst>
              <a:gd name="adj" fmla="val 5882"/>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9" name="Text 17"/>
          <p:cNvSpPr txBox="1"/>
          <p:nvPr/>
        </p:nvSpPr>
        <p:spPr>
          <a:xfrm>
            <a:off x="978408" y="5303520"/>
            <a:ext cx="10204704" cy="365760"/>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落札しても、出品しても、会食しても、イベントに出ても、マイルが入る。</a:t>
            </a:r>
            <a:endParaRPr lang="en-US" sz="1700" dirty="0"/>
          </a:p>
        </p:txBody>
      </p:sp>
      <p:sp>
        <p:nvSpPr>
          <p:cNvPr id="20" name="Text 18"/>
          <p:cNvSpPr txBox="1"/>
          <p:nvPr/>
        </p:nvSpPr>
        <p:spPr>
          <a:xfrm>
            <a:off x="978408" y="5687568"/>
            <a:ext cx="10204704" cy="310896"/>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だから残高を使い切っても、翌週にはまた増えている。これが「終わらない」の仕組みです。</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REDEMPTION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交換先マップ：村を1つにしない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楽天の凄さは、ポイントを楽天市場という1つの村に閉じ込めなかったことでした。</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27664" cy="914400"/>
        </p:xfrm>
        <a:graphic>
          <a:graphicData uri="http://schemas.openxmlformats.org/drawingml/2006/table">
            <a:tbl>
              <a:tblPr/>
              <a:tblGrid>
                <a:gridCol w="4114800"/>
                <a:gridCol w="1280160"/>
                <a:gridCol w="2103120"/>
                <a:gridCol w="2103120"/>
                <a:gridCol w="1426464"/>
              </a:tblGrid>
              <a:tr h="365760">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交換先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レート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上限</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当社の連結コスト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判定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47472">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系列レストランでの会食</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実原価 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47472">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グランメゾン（全ランク共通）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実原価 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r>
              <a:tr h="347472">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WineBank CLUB 会費充当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下記※</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ほぼゼロ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47472">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ワイナート 年間購読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購読実費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47472">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マーケットプレイス／オークション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ゼロ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47472">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ワインの追加購入・贈答</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年間付与の20%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原価 75〜85%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上限必須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47472">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配送料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要設定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実費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上限必須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47472">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ワイン関連の一般サービス</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要設定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真水（現金）</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要検討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Shape 4"/>
          <p:cNvSpPr/>
          <p:nvPr/>
        </p:nvSpPr>
        <p:spPr>
          <a:xfrm>
            <a:off x="566928" y="4901184"/>
            <a:ext cx="5394960" cy="1152144"/>
          </a:xfrm>
          <a:prstGeom prst="roundRect">
            <a:avLst>
              <a:gd name="adj" fmla="val 476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5029200"/>
            <a:ext cx="4663440" cy="256032"/>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WineBank CLUB への充当ルール</a:t>
            </a:r>
            <a:endParaRPr lang="en-US" sz="1350" dirty="0"/>
          </a:p>
        </p:txBody>
      </p:sp>
      <p:sp>
        <p:nvSpPr>
          <p:cNvPr id="9" name="Text 6"/>
          <p:cNvSpPr txBox="1"/>
          <p:nvPr/>
        </p:nvSpPr>
        <p:spPr>
          <a:xfrm>
            <a:off x="932688" y="5321808"/>
            <a:ext cx="4663440" cy="640080"/>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100万・400万会員はマイル充当による単月利用のみ可。未利用時の特典をワイン購入代金へ振り替えることはできません（二重取りになるため）。</a:t>
            </a:r>
            <a:endParaRPr lang="en-US" sz="1050" dirty="0"/>
          </a:p>
        </p:txBody>
      </p:sp>
      <p:sp>
        <p:nvSpPr>
          <p:cNvPr id="10" name="Shape 7"/>
          <p:cNvSpPr/>
          <p:nvPr/>
        </p:nvSpPr>
        <p:spPr>
          <a:xfrm>
            <a:off x="6199632" y="4901184"/>
            <a:ext cx="5394960" cy="1152144"/>
          </a:xfrm>
          <a:prstGeom prst="roundRect">
            <a:avLst>
              <a:gd name="adj" fmla="val 4762"/>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5029200"/>
            <a:ext cx="4663440" cy="256032"/>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一般サービス 0.5円は、比較させるための設計です</a:t>
            </a:r>
            <a:endParaRPr lang="en-US" sz="1350" dirty="0"/>
          </a:p>
        </p:txBody>
      </p:sp>
      <p:sp>
        <p:nvSpPr>
          <p:cNvPr id="12" name="Text 9"/>
          <p:cNvSpPr txBox="1"/>
          <p:nvPr/>
        </p:nvSpPr>
        <p:spPr>
          <a:xfrm>
            <a:off x="6565392" y="5321808"/>
            <a:ext cx="4663440" cy="640080"/>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外に出せば必ず不利になる。会員は一度比べたうえで「ワインのことなら、WineBankの中が一番得だ」と自分で気づきます。</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RATE POLICY</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レート設計：シンプルに、そして繁忙期は守る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グランメゾンは全ランク共通の0.5円。ランクで差をつけるのは、レートではなく情報です。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5394960" cy="1499616"/>
          </a:xfrm>
          <a:prstGeom prst="roundRect">
            <a:avLst>
              <a:gd name="adj" fmla="val 3659"/>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88366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グランメゾンは 0.5円で固定</a:t>
            </a:r>
            <a:endParaRPr lang="en-US" sz="1450" dirty="0"/>
          </a:p>
        </p:txBody>
      </p:sp>
      <p:sp>
        <p:nvSpPr>
          <p:cNvPr id="10" name="Text 8"/>
          <p:cNvSpPr txBox="1"/>
          <p:nvPr/>
        </p:nvSpPr>
        <p:spPr>
          <a:xfrm>
            <a:off x="859536" y="2322576"/>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ランクによる差はつけません。席の機会費用が高く、定価で埋まる枠を1:1で割り引くとイールドが壊れるためです。「憧れの席に交換できる」こと自体が商品であり、マイルと同じ構造です。</a:t>
            </a:r>
            <a:endParaRPr lang="en-US" sz="1100" dirty="0"/>
          </a:p>
        </p:txBody>
      </p:sp>
      <p:sp>
        <p:nvSpPr>
          <p:cNvPr id="11" name="Shape 9"/>
          <p:cNvSpPr/>
          <p:nvPr/>
        </p:nvSpPr>
        <p:spPr>
          <a:xfrm>
            <a:off x="6199632" y="1664208"/>
            <a:ext cx="5394960" cy="1499616"/>
          </a:xfrm>
          <a:prstGeom prst="roundRect">
            <a:avLst>
              <a:gd name="adj" fmla="val 3659"/>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Shape 10"/>
          <p:cNvSpPr/>
          <p:nvPr/>
        </p:nvSpPr>
        <p:spPr>
          <a:xfrm>
            <a:off x="6492240" y="1883664"/>
            <a:ext cx="329184" cy="329184"/>
          </a:xfrm>
          <a:prstGeom prst="ellipse">
            <a:avLst/>
          </a:prstGeom>
          <a:solidFill>
            <a:srgbClr val="C9A227"/>
          </a:solidFill>
          <a:ln w="12700">
            <a:solidFill>
              <a:srgbClr val="C9A227"/>
            </a:solidFill>
            <a:prstDash val="solid"/>
          </a:ln>
        </p:spPr>
      </p:sp>
      <p:sp>
        <p:nvSpPr>
          <p:cNvPr id="13" name="Text 11"/>
          <p:cNvSpPr txBox="1"/>
          <p:nvPr/>
        </p:nvSpPr>
        <p:spPr>
          <a:xfrm>
            <a:off x="6492240"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6931152"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ランチとディナーは同一レート</a:t>
            </a:r>
            <a:endParaRPr lang="en-US" sz="1450" dirty="0"/>
          </a:p>
        </p:txBody>
      </p:sp>
      <p:sp>
        <p:nvSpPr>
          <p:cNvPr id="15" name="Text 13"/>
          <p:cNvSpPr txBox="1"/>
          <p:nvPr/>
        </p:nvSpPr>
        <p:spPr>
          <a:xfrm>
            <a:off x="6492240" y="2322576"/>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時間帯で刻む運用は現場が混乱します。オペレーションを優先し、同一に揃えます。</a:t>
            </a:r>
            <a:endParaRPr lang="en-US" sz="1100" dirty="0"/>
          </a:p>
        </p:txBody>
      </p:sp>
      <p:sp>
        <p:nvSpPr>
          <p:cNvPr id="16" name="Shape 14"/>
          <p:cNvSpPr/>
          <p:nvPr/>
        </p:nvSpPr>
        <p:spPr>
          <a:xfrm>
            <a:off x="566928" y="3364992"/>
            <a:ext cx="5394960" cy="1499616"/>
          </a:xfrm>
          <a:prstGeom prst="roundRect">
            <a:avLst>
              <a:gd name="adj" fmla="val 3659"/>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7" name="Shape 15"/>
          <p:cNvSpPr/>
          <p:nvPr/>
        </p:nvSpPr>
        <p:spPr>
          <a:xfrm>
            <a:off x="859536" y="3584448"/>
            <a:ext cx="329184" cy="329184"/>
          </a:xfrm>
          <a:prstGeom prst="ellipse">
            <a:avLst/>
          </a:prstGeom>
          <a:solidFill>
            <a:srgbClr val="C9A227"/>
          </a:solidFill>
          <a:ln w="12700">
            <a:solidFill>
              <a:srgbClr val="C9A227"/>
            </a:solidFill>
            <a:prstDash val="solid"/>
          </a:ln>
        </p:spPr>
      </p:sp>
      <p:sp>
        <p:nvSpPr>
          <p:cNvPr id="18" name="Text 16"/>
          <p:cNvSpPr txBox="1"/>
          <p:nvPr/>
        </p:nvSpPr>
        <p:spPr>
          <a:xfrm>
            <a:off x="859536" y="358444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1298448" y="3602736"/>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イベント時期は利用不可</a:t>
            </a:r>
            <a:endParaRPr lang="en-US" sz="1450" dirty="0"/>
          </a:p>
        </p:txBody>
      </p:sp>
      <p:sp>
        <p:nvSpPr>
          <p:cNvPr id="20" name="Text 18"/>
          <p:cNvSpPr txBox="1"/>
          <p:nvPr/>
        </p:nvSpPr>
        <p:spPr>
          <a:xfrm>
            <a:off x="859536" y="4023360"/>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クリスマス、バレンタイン、およびそれに準ずる週末。満席が確実に見込める日にマイル利用枠を空けておく必要はありません。</a:t>
            </a:r>
            <a:endParaRPr lang="en-US" sz="1100" dirty="0"/>
          </a:p>
        </p:txBody>
      </p:sp>
      <p:sp>
        <p:nvSpPr>
          <p:cNvPr id="21" name="Shape 19"/>
          <p:cNvSpPr/>
          <p:nvPr/>
        </p:nvSpPr>
        <p:spPr>
          <a:xfrm>
            <a:off x="6199632" y="3364992"/>
            <a:ext cx="5394960" cy="1499616"/>
          </a:xfrm>
          <a:prstGeom prst="roundRect">
            <a:avLst>
              <a:gd name="adj" fmla="val 3659"/>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2" name="Shape 20"/>
          <p:cNvSpPr/>
          <p:nvPr/>
        </p:nvSpPr>
        <p:spPr>
          <a:xfrm>
            <a:off x="6492240" y="3584448"/>
            <a:ext cx="329184" cy="329184"/>
          </a:xfrm>
          <a:prstGeom prst="ellipse">
            <a:avLst/>
          </a:prstGeom>
          <a:solidFill>
            <a:srgbClr val="C9A227"/>
          </a:solidFill>
          <a:ln w="12700">
            <a:solidFill>
              <a:srgbClr val="C9A227"/>
            </a:solidFill>
            <a:prstDash val="solid"/>
          </a:ln>
        </p:spPr>
      </p:sp>
      <p:sp>
        <p:nvSpPr>
          <p:cNvPr id="23" name="Text 21"/>
          <p:cNvSpPr txBox="1"/>
          <p:nvPr/>
        </p:nvSpPr>
        <p:spPr>
          <a:xfrm>
            <a:off x="6492240" y="358444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24" name="Text 22"/>
          <p:cNvSpPr txBox="1"/>
          <p:nvPr/>
        </p:nvSpPr>
        <p:spPr>
          <a:xfrm>
            <a:off x="6931152" y="3602736"/>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系列店外は 0.75円（要検討）</a:t>
            </a:r>
            <a:endParaRPr lang="en-US" sz="1450" dirty="0"/>
          </a:p>
        </p:txBody>
      </p:sp>
      <p:sp>
        <p:nvSpPr>
          <p:cNvPr id="25" name="Text 23"/>
          <p:cNvSpPr txBox="1"/>
          <p:nvPr/>
        </p:nvSpPr>
        <p:spPr>
          <a:xfrm>
            <a:off x="6492240" y="4023360"/>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真水の現金流出になるため、レートを割り引いたうえで年間上限を設けます。楽天やマイレージの外部提携レートを参照して確定します。</a:t>
            </a:r>
            <a:endParaRPr lang="en-US" sz="1100" dirty="0"/>
          </a:p>
        </p:txBody>
      </p:sp>
      <p:sp>
        <p:nvSpPr>
          <p:cNvPr id="26" name="Shape 24"/>
          <p:cNvSpPr/>
          <p:nvPr/>
        </p:nvSpPr>
        <p:spPr>
          <a:xfrm>
            <a:off x="566928" y="5120640"/>
            <a:ext cx="11027664" cy="932688"/>
          </a:xfrm>
          <a:prstGeom prst="roundRect">
            <a:avLst>
              <a:gd name="adj" fmla="val 5882"/>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5303520"/>
            <a:ext cx="10204704" cy="347472"/>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ランクで差をつけるのは、レートではなく「未公開ワインの情報」です。</a:t>
            </a:r>
            <a:endParaRPr lang="en-US" sz="1700" dirty="0"/>
          </a:p>
        </p:txBody>
      </p:sp>
      <p:sp>
        <p:nvSpPr>
          <p:cNvPr id="28" name="Text 26"/>
          <p:cNvSpPr txBox="1"/>
          <p:nvPr/>
        </p:nvSpPr>
        <p:spPr>
          <a:xfrm>
            <a:off x="978408" y="5687568"/>
            <a:ext cx="10204704" cy="292608"/>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上位会員には、市場に出る前の割当情報を先に届ける。原価はかからず、しかも交換レートを刻むより遥かに効きます。</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MEMBERSHIP</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新・会員制度（差し替え案）</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手数料はフラットに。ランク差は還元率と、届く情報に寄せる。</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3017520"/>
                <a:gridCol w="2670048"/>
                <a:gridCol w="2670048"/>
                <a:gridCol w="2670048"/>
              </a:tblGrid>
              <a:tr h="402336">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PRESTIGE  100万〜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GOLD  400万〜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SIGNATURE  1,000万〜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管理手数料（年）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ワインマイル還元率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実質</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+0.5%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+1.5%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成功報酬（値上がり分）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グランメゾン交換レート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未公開ワインの情報</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先行案内</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優先割当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WineBank CLUB</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マイル充当・単月のみ</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マイル充当・単月のみ</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STANDARD 無料付与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Shape 4"/>
          <p:cNvSpPr/>
          <p:nvPr/>
        </p:nvSpPr>
        <p:spPr>
          <a:xfrm>
            <a:off x="566928" y="4864608"/>
            <a:ext cx="5394960" cy="1188720"/>
          </a:xfrm>
          <a:prstGeom prst="roundRect">
            <a:avLst>
              <a:gd name="adj" fmla="val 461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4992624"/>
            <a:ext cx="4663440" cy="274320"/>
          </a:xfrm>
          <a:prstGeom prst="rect">
            <a:avLst/>
          </a:prstGeom>
          <a:noFill/>
          <a:ln/>
        </p:spPr>
        <p:txBody>
          <a:bodyPr wrap="square" lIns="0" tIns="0" rIns="0" bIns="0" rtlCol="0" anchor="ctr"/>
          <a:lstStyle/>
          <a:p>
            <a:pPr indent="0" marL="0">
              <a:buNone/>
            </a:pPr>
            <a:r>
              <a:rPr lang="en-US" sz="1400" b="1" dirty="0">
                <a:solidFill>
                  <a:srgbClr val="E0A458"/>
                </a:solidFill>
                <a:latin typeface="Meiryo" pitchFamily="34" charset="0"/>
                <a:ea typeface="Meiryo" pitchFamily="34" charset="-122"/>
                <a:cs typeface="Meiryo" pitchFamily="34" charset="-120"/>
              </a:rPr>
              <a:t>廃止するもの</a:t>
            </a:r>
            <a:endParaRPr lang="en-US" sz="1400" dirty="0"/>
          </a:p>
        </p:txBody>
      </p:sp>
      <p:sp>
        <p:nvSpPr>
          <p:cNvPr id="9" name="Text 6"/>
          <p:cNvSpPr txBox="1"/>
          <p:nvPr/>
        </p:nvSpPr>
        <p:spPr>
          <a:xfrm>
            <a:off x="932688"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9行×5ランクの特典マトリクス。営業が覚えられず、顧客も比較できません。手数料を2.75%→2.7%と刻んでも100万円あたり年500円で、体感はゼロです。</a:t>
            </a:r>
            <a:endParaRPr lang="en-US" sz="1050" dirty="0"/>
          </a:p>
        </p:txBody>
      </p:sp>
      <p:sp>
        <p:nvSpPr>
          <p:cNvPr id="10" name="Shape 7"/>
          <p:cNvSpPr/>
          <p:nvPr/>
        </p:nvSpPr>
        <p:spPr>
          <a:xfrm>
            <a:off x="6199632" y="4864608"/>
            <a:ext cx="5394960"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刻むなら、還元率と情報を刻む</a:t>
            </a:r>
            <a:endParaRPr lang="en-US" sz="1400" dirty="0"/>
          </a:p>
        </p:txBody>
      </p:sp>
      <p:sp>
        <p:nvSpPr>
          <p:cNvPr id="12" name="Text 9"/>
          <p:cNvSpPr txBox="1"/>
          <p:nvPr/>
        </p:nvSpPr>
        <p:spPr>
          <a:xfrm>
            <a:off x="6565392"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「上のランクだと還元が1.7倍」「未公開ワインが先に届く」は伝わります。レートを刻むのはやめ、体感できる2軸だけに集約します。</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WINEBANK CLUB</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WineBank CLUB とは</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会員制度とは別の、飲むための会員制度。レストラン販売価格の半額（原価相当）でワインが楽しめます。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3529584" cy="3035808"/>
          </a:xfrm>
          <a:prstGeom prst="roundRect">
            <a:avLst>
              <a:gd name="adj" fmla="val 1807"/>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847088"/>
            <a:ext cx="2962656"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STANDARD</a:t>
            </a:r>
            <a:endParaRPr lang="en-US" sz="2000" dirty="0"/>
          </a:p>
        </p:txBody>
      </p:sp>
      <p:sp>
        <p:nvSpPr>
          <p:cNvPr id="8" name="Text 6"/>
          <p:cNvSpPr txBox="1"/>
          <p:nvPr/>
        </p:nvSpPr>
        <p:spPr>
          <a:xfrm>
            <a:off x="859536" y="2249424"/>
            <a:ext cx="2962656" cy="384048"/>
          </a:xfrm>
          <a:prstGeom prst="rect">
            <a:avLst/>
          </a:prstGeom>
          <a:noFill/>
          <a:ln/>
        </p:spPr>
        <p:txBody>
          <a:bodyPr wrap="square" lIns="0" tIns="0" rIns="0" bIns="0" rtlCol="0" anchor="ctr"/>
          <a:lstStyle/>
          <a:p>
            <a:pPr indent="0" marL="0">
              <a:lnSpc>
                <a:spcPts val="1400"/>
              </a:lnSpc>
              <a:buNone/>
            </a:pPr>
            <a:r>
              <a:rPr lang="en-US" sz="1050" dirty="0">
                <a:solidFill>
                  <a:srgbClr val="A2908C"/>
                </a:solidFill>
                <a:latin typeface="Meiryo" pitchFamily="34" charset="0"/>
                <a:ea typeface="Meiryo" pitchFamily="34" charset="-122"/>
                <a:cs typeface="Meiryo" pitchFamily="34" charset="-120"/>
              </a:rPr>
              <a:t>8,800円〜　マイル充当・単月利用可</a:t>
            </a:r>
            <a:endParaRPr lang="en-US" sz="1050" dirty="0"/>
          </a:p>
        </p:txBody>
      </p:sp>
      <p:sp>
        <p:nvSpPr>
          <p:cNvPr id="9" name="Text 7"/>
          <p:cNvSpPr txBox="1"/>
          <p:nvPr/>
        </p:nvSpPr>
        <p:spPr>
          <a:xfrm>
            <a:off x="859536" y="2724912"/>
            <a:ext cx="2962656" cy="1883664"/>
          </a:xfrm>
          <a:prstGeom prst="rect">
            <a:avLst/>
          </a:prstGeom>
          <a:noFill/>
          <a:ln/>
        </p:spPr>
        <p:txBody>
          <a:bodyPr wrap="square" lIns="0" tIns="0" rIns="0" bIns="0" rtlCol="0" anchor="t"/>
          <a:lstStyle/>
          <a:p>
            <a:pPr marL="152400" indent="-152400">
              <a:lnSpc>
                <a:spcPts val="1600"/>
              </a:lnSpc>
              <a:spcAft>
                <a:spcPts val="900"/>
              </a:spcAft>
              <a:buSzPct val="100000"/>
              <a:buChar char="•"/>
            </a:pPr>
            <a:r>
              <a:rPr lang="en-US" sz="1100" dirty="0">
                <a:solidFill>
                  <a:srgbClr val="F2EDE6"/>
                </a:solidFill>
                <a:latin typeface="Meiryo" pitchFamily="34" charset="0"/>
                <a:ea typeface="Meiryo" pitchFamily="34" charset="-122"/>
                <a:cs typeface="Meiryo" pitchFamily="34" charset="-120"/>
              </a:rPr>
              <a:t>提携店でのコルケージ無料</a:t>
            </a:r>
            <a:endParaRPr lang="en-US" sz="1100" dirty="0"/>
          </a:p>
          <a:p>
            <a:pPr marL="152400" indent="-152400">
              <a:lnSpc>
                <a:spcPts val="1600"/>
              </a:lnSpc>
              <a:spcAft>
                <a:spcPts val="900"/>
              </a:spcAft>
              <a:buSzPct val="100000"/>
              <a:buChar char="•"/>
            </a:pPr>
            <a:r>
              <a:rPr lang="en-US" sz="1100" dirty="0">
                <a:solidFill>
                  <a:srgbClr val="F2EDE6"/>
                </a:solidFill>
                <a:latin typeface="Meiryo" pitchFamily="34" charset="0"/>
                <a:ea typeface="Meiryo" pitchFamily="34" charset="-122"/>
                <a:cs typeface="Meiryo" pitchFamily="34" charset="-120"/>
              </a:rPr>
              <a:t>グループ飲食店の優待</a:t>
            </a:r>
            <a:endParaRPr lang="en-US" sz="1100" dirty="0"/>
          </a:p>
          <a:p>
            <a:pPr marL="152400" indent="-152400">
              <a:lnSpc>
                <a:spcPts val="1600"/>
              </a:lnSpc>
              <a:spcAft>
                <a:spcPts val="900"/>
              </a:spcAft>
              <a:buSzPct val="100000"/>
              <a:buChar char="•"/>
            </a:pPr>
            <a:r>
              <a:rPr lang="en-US" sz="1100" dirty="0">
                <a:solidFill>
                  <a:srgbClr val="F2EDE6"/>
                </a:solidFill>
                <a:latin typeface="Meiryo" pitchFamily="34" charset="0"/>
                <a:ea typeface="Meiryo" pitchFamily="34" charset="-122"/>
                <a:cs typeface="Meiryo" pitchFamily="34" charset="-120"/>
              </a:rPr>
              <a:t>会員向けワイン価格（半額）</a:t>
            </a:r>
            <a:endParaRPr lang="en-US" sz="1100" dirty="0"/>
          </a:p>
          <a:p>
            <a:pPr marL="152400" indent="-152400">
              <a:lnSpc>
                <a:spcPts val="1600"/>
              </a:lnSpc>
              <a:spcAft>
                <a:spcPts val="900"/>
              </a:spcAft>
              <a:buSzPct val="100000"/>
              <a:buChar char="•"/>
            </a:pPr>
            <a:r>
              <a:rPr lang="en-US" sz="1100" dirty="0">
                <a:solidFill>
                  <a:srgbClr val="F2EDE6"/>
                </a:solidFill>
                <a:latin typeface="Meiryo" pitchFamily="34" charset="0"/>
                <a:ea typeface="Meiryo" pitchFamily="34" charset="-122"/>
                <a:cs typeface="Meiryo" pitchFamily="34" charset="-120"/>
              </a:rPr>
              <a:t>提携店向けワイン配送料無料</a:t>
            </a:r>
            <a:endParaRPr lang="en-US" sz="1100" dirty="0"/>
          </a:p>
        </p:txBody>
      </p:sp>
      <p:sp>
        <p:nvSpPr>
          <p:cNvPr id="10" name="Shape 8"/>
          <p:cNvSpPr/>
          <p:nvPr/>
        </p:nvSpPr>
        <p:spPr>
          <a:xfrm>
            <a:off x="4352544" y="1664208"/>
            <a:ext cx="3529584" cy="3035808"/>
          </a:xfrm>
          <a:prstGeom prst="roundRect">
            <a:avLst>
              <a:gd name="adj" fmla="val 1807"/>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4645152" y="1847088"/>
            <a:ext cx="2962656" cy="365760"/>
          </a:xfrm>
          <a:prstGeom prst="rect">
            <a:avLst/>
          </a:prstGeom>
          <a:noFill/>
          <a:ln/>
        </p:spPr>
        <p:txBody>
          <a:bodyPr wrap="square" lIns="0" tIns="0" rIns="0" bIns="0" rtlCol="0" anchor="ctr"/>
          <a:lstStyle/>
          <a:p>
            <a:pPr indent="0" marL="0">
              <a:buNone/>
            </a:pPr>
            <a:r>
              <a:rPr lang="en-US" sz="2000" b="1" dirty="0">
                <a:solidFill>
                  <a:srgbClr val="E8CE78"/>
                </a:solidFill>
                <a:latin typeface="Meiryo" pitchFamily="34" charset="0"/>
                <a:ea typeface="Meiryo" pitchFamily="34" charset="-122"/>
                <a:cs typeface="Meiryo" pitchFamily="34" charset="-120"/>
              </a:rPr>
              <a:t>GOLD</a:t>
            </a:r>
            <a:endParaRPr lang="en-US" sz="2000" dirty="0"/>
          </a:p>
        </p:txBody>
      </p:sp>
      <p:sp>
        <p:nvSpPr>
          <p:cNvPr id="12" name="Text 10"/>
          <p:cNvSpPr txBox="1"/>
          <p:nvPr/>
        </p:nvSpPr>
        <p:spPr>
          <a:xfrm>
            <a:off x="4645152" y="2249424"/>
            <a:ext cx="2962656" cy="384048"/>
          </a:xfrm>
          <a:prstGeom prst="rect">
            <a:avLst/>
          </a:prstGeom>
          <a:noFill/>
          <a:ln/>
        </p:spPr>
        <p:txBody>
          <a:bodyPr wrap="square" lIns="0" tIns="0" rIns="0" bIns="0" rtlCol="0" anchor="ctr"/>
          <a:lstStyle/>
          <a:p>
            <a:pPr indent="0" marL="0">
              <a:lnSpc>
                <a:spcPts val="1400"/>
              </a:lnSpc>
              <a:buNone/>
            </a:pPr>
            <a:r>
              <a:rPr lang="en-US" sz="1050" dirty="0">
                <a:solidFill>
                  <a:srgbClr val="A2908C"/>
                </a:solidFill>
                <a:latin typeface="Meiryo" pitchFamily="34" charset="0"/>
                <a:ea typeface="Meiryo" pitchFamily="34" charset="-122"/>
                <a:cs typeface="Meiryo" pitchFamily="34" charset="-120"/>
              </a:rPr>
              <a:t>年会費制</a:t>
            </a:r>
            <a:endParaRPr lang="en-US" sz="1050" dirty="0"/>
          </a:p>
        </p:txBody>
      </p:sp>
      <p:sp>
        <p:nvSpPr>
          <p:cNvPr id="13" name="Text 11"/>
          <p:cNvSpPr txBox="1"/>
          <p:nvPr/>
        </p:nvSpPr>
        <p:spPr>
          <a:xfrm>
            <a:off x="4645152" y="2724912"/>
            <a:ext cx="2962656" cy="1883664"/>
          </a:xfrm>
          <a:prstGeom prst="rect">
            <a:avLst/>
          </a:prstGeom>
          <a:noFill/>
          <a:ln/>
        </p:spPr>
        <p:txBody>
          <a:bodyPr wrap="square" lIns="0" tIns="0" rIns="0" bIns="0" rtlCol="0" anchor="t"/>
          <a:lstStyle/>
          <a:p>
            <a:pPr marL="152400" indent="-152400">
              <a:lnSpc>
                <a:spcPts val="1600"/>
              </a:lnSpc>
              <a:spcAft>
                <a:spcPts val="900"/>
              </a:spcAft>
              <a:buSzPct val="100000"/>
              <a:buChar char="•"/>
            </a:pPr>
            <a:r>
              <a:rPr lang="en-US" sz="1100" dirty="0">
                <a:solidFill>
                  <a:srgbClr val="F2EDE6"/>
                </a:solidFill>
                <a:latin typeface="Meiryo" pitchFamily="34" charset="0"/>
                <a:ea typeface="Meiryo" pitchFamily="34" charset="-122"/>
                <a:cs typeface="Meiryo" pitchFamily="34" charset="-120"/>
              </a:rPr>
              <a:t>上記に加え、生産者イベント招待</a:t>
            </a:r>
            <a:endParaRPr lang="en-US" sz="1100" dirty="0"/>
          </a:p>
          <a:p>
            <a:pPr marL="152400" indent="-152400">
              <a:lnSpc>
                <a:spcPts val="1600"/>
              </a:lnSpc>
              <a:spcAft>
                <a:spcPts val="900"/>
              </a:spcAft>
              <a:buSzPct val="100000"/>
              <a:buChar char="•"/>
            </a:pPr>
            <a:r>
              <a:rPr lang="en-US" sz="1100" dirty="0">
                <a:solidFill>
                  <a:srgbClr val="F2EDE6"/>
                </a:solidFill>
                <a:latin typeface="Meiryo" pitchFamily="34" charset="0"/>
                <a:ea typeface="Meiryo" pitchFamily="34" charset="-122"/>
                <a:cs typeface="Meiryo" pitchFamily="34" charset="-120"/>
              </a:rPr>
              <a:t>ザルト高級グラス使用</a:t>
            </a:r>
            <a:endParaRPr lang="en-US" sz="1100" dirty="0"/>
          </a:p>
          <a:p>
            <a:pPr marL="152400" indent="-152400">
              <a:lnSpc>
                <a:spcPts val="1600"/>
              </a:lnSpc>
              <a:spcAft>
                <a:spcPts val="900"/>
              </a:spcAft>
              <a:buSzPct val="100000"/>
              <a:buChar char="•"/>
            </a:pPr>
            <a:r>
              <a:rPr lang="en-US" sz="1100" dirty="0">
                <a:solidFill>
                  <a:srgbClr val="F2EDE6"/>
                </a:solidFill>
                <a:latin typeface="Meiryo" pitchFamily="34" charset="0"/>
                <a:ea typeface="Meiryo" pitchFamily="34" charset="-122"/>
                <a:cs typeface="Meiryo" pitchFamily="34" charset="-120"/>
              </a:rPr>
              <a:t>個室優先利用・予約4名以上</a:t>
            </a:r>
            <a:endParaRPr lang="en-US" sz="1100" dirty="0"/>
          </a:p>
          <a:p>
            <a:pPr marL="152400" indent="-152400">
              <a:lnSpc>
                <a:spcPts val="1600"/>
              </a:lnSpc>
              <a:spcAft>
                <a:spcPts val="900"/>
              </a:spcAft>
              <a:buSzPct val="100000"/>
              <a:buChar char="•"/>
            </a:pPr>
            <a:r>
              <a:rPr lang="en-US" sz="1100" dirty="0">
                <a:solidFill>
                  <a:srgbClr val="F2EDE6"/>
                </a:solidFill>
                <a:latin typeface="Meiryo" pitchFamily="34" charset="0"/>
                <a:ea typeface="Meiryo" pitchFamily="34" charset="-122"/>
                <a:cs typeface="Meiryo" pitchFamily="34" charset="-120"/>
              </a:rPr>
              <a:t>コンシェルジュによる選定</a:t>
            </a:r>
            <a:endParaRPr lang="en-US" sz="1100" dirty="0"/>
          </a:p>
        </p:txBody>
      </p:sp>
      <p:sp>
        <p:nvSpPr>
          <p:cNvPr id="14" name="Shape 12"/>
          <p:cNvSpPr/>
          <p:nvPr/>
        </p:nvSpPr>
        <p:spPr>
          <a:xfrm>
            <a:off x="8138160" y="1664208"/>
            <a:ext cx="3529584" cy="3035808"/>
          </a:xfrm>
          <a:prstGeom prst="roundRect">
            <a:avLst>
              <a:gd name="adj" fmla="val 1807"/>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8430768" y="1847088"/>
            <a:ext cx="2962656"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BLACK</a:t>
            </a:r>
            <a:endParaRPr lang="en-US" sz="2000" dirty="0"/>
          </a:p>
        </p:txBody>
      </p:sp>
      <p:sp>
        <p:nvSpPr>
          <p:cNvPr id="16" name="Text 14"/>
          <p:cNvSpPr txBox="1"/>
          <p:nvPr/>
        </p:nvSpPr>
        <p:spPr>
          <a:xfrm>
            <a:off x="8430768" y="2249424"/>
            <a:ext cx="2962656" cy="384048"/>
          </a:xfrm>
          <a:prstGeom prst="rect">
            <a:avLst/>
          </a:prstGeom>
          <a:noFill/>
          <a:ln/>
        </p:spPr>
        <p:txBody>
          <a:bodyPr wrap="square" lIns="0" tIns="0" rIns="0" bIns="0" rtlCol="0" anchor="ctr"/>
          <a:lstStyle/>
          <a:p>
            <a:pPr indent="0" marL="0">
              <a:lnSpc>
                <a:spcPts val="1400"/>
              </a:lnSpc>
              <a:buNone/>
            </a:pPr>
            <a:r>
              <a:rPr lang="en-US" sz="1050" dirty="0">
                <a:solidFill>
                  <a:srgbClr val="A2908C"/>
                </a:solidFill>
                <a:latin typeface="Meiryo" pitchFamily="34" charset="0"/>
                <a:ea typeface="Meiryo" pitchFamily="34" charset="-122"/>
                <a:cs typeface="Meiryo" pitchFamily="34" charset="-120"/>
              </a:rPr>
              <a:t>年間5,000万以上、もしくは年会費60万円</a:t>
            </a:r>
            <a:endParaRPr lang="en-US" sz="1050" dirty="0"/>
          </a:p>
        </p:txBody>
      </p:sp>
      <p:sp>
        <p:nvSpPr>
          <p:cNvPr id="17" name="Text 15"/>
          <p:cNvSpPr txBox="1"/>
          <p:nvPr/>
        </p:nvSpPr>
        <p:spPr>
          <a:xfrm>
            <a:off x="8430768" y="2724912"/>
            <a:ext cx="2962656" cy="1883664"/>
          </a:xfrm>
          <a:prstGeom prst="rect">
            <a:avLst/>
          </a:prstGeom>
          <a:noFill/>
          <a:ln/>
        </p:spPr>
        <p:txBody>
          <a:bodyPr wrap="square" lIns="0" tIns="0" rIns="0" bIns="0" rtlCol="0" anchor="t"/>
          <a:lstStyle/>
          <a:p>
            <a:pPr marL="152400" indent="-152400">
              <a:lnSpc>
                <a:spcPts val="1600"/>
              </a:lnSpc>
              <a:spcAft>
                <a:spcPts val="900"/>
              </a:spcAft>
              <a:buSzPct val="100000"/>
              <a:buChar char="•"/>
            </a:pPr>
            <a:r>
              <a:rPr lang="en-US" sz="1100" dirty="0">
                <a:solidFill>
                  <a:srgbClr val="F2EDE6"/>
                </a:solidFill>
                <a:latin typeface="Meiryo" pitchFamily="34" charset="0"/>
                <a:ea typeface="Meiryo" pitchFamily="34" charset="-122"/>
                <a:cs typeface="Meiryo" pitchFamily="34" charset="-120"/>
              </a:rPr>
              <a:t>未公開ワインの優先割当</a:t>
            </a:r>
            <a:endParaRPr lang="en-US" sz="1100" dirty="0"/>
          </a:p>
          <a:p>
            <a:pPr marL="152400" indent="-152400">
              <a:lnSpc>
                <a:spcPts val="1600"/>
              </a:lnSpc>
              <a:spcAft>
                <a:spcPts val="900"/>
              </a:spcAft>
              <a:buSzPct val="100000"/>
              <a:buChar char="•"/>
            </a:pPr>
            <a:r>
              <a:rPr lang="en-US" sz="1100" dirty="0">
                <a:solidFill>
                  <a:srgbClr val="F2EDE6"/>
                </a:solidFill>
                <a:latin typeface="Meiryo" pitchFamily="34" charset="0"/>
                <a:ea typeface="Meiryo" pitchFamily="34" charset="-122"/>
                <a:cs typeface="Meiryo" pitchFamily="34" charset="-120"/>
              </a:rPr>
              <a:t>ワイン樽買いの権利</a:t>
            </a:r>
            <a:endParaRPr lang="en-US" sz="1100" dirty="0"/>
          </a:p>
          <a:p>
            <a:pPr marL="152400" indent="-152400">
              <a:lnSpc>
                <a:spcPts val="1600"/>
              </a:lnSpc>
              <a:spcAft>
                <a:spcPts val="900"/>
              </a:spcAft>
              <a:buSzPct val="100000"/>
              <a:buChar char="•"/>
            </a:pPr>
            <a:r>
              <a:rPr lang="en-US" sz="1100" dirty="0">
                <a:solidFill>
                  <a:srgbClr val="F2EDE6"/>
                </a:solidFill>
                <a:latin typeface="Meiryo" pitchFamily="34" charset="0"/>
                <a:ea typeface="Meiryo" pitchFamily="34" charset="-122"/>
                <a:cs typeface="Meiryo" pitchFamily="34" charset="-120"/>
              </a:rPr>
              <a:t>ソムリエへの直接相談</a:t>
            </a:r>
            <a:endParaRPr lang="en-US" sz="1100" dirty="0"/>
          </a:p>
          <a:p>
            <a:pPr marL="152400" indent="-152400">
              <a:lnSpc>
                <a:spcPts val="1600"/>
              </a:lnSpc>
              <a:spcAft>
                <a:spcPts val="900"/>
              </a:spcAft>
              <a:buSzPct val="100000"/>
              <a:buChar char="•"/>
            </a:pPr>
            <a:r>
              <a:rPr lang="en-US" sz="1100" dirty="0">
                <a:solidFill>
                  <a:srgbClr val="F2EDE6"/>
                </a:solidFill>
                <a:latin typeface="Meiryo" pitchFamily="34" charset="0"/>
                <a:ea typeface="Meiryo" pitchFamily="34" charset="-122"/>
                <a:cs typeface="Meiryo" pitchFamily="34" charset="-120"/>
              </a:rPr>
              <a:t>会員限定のクローズドな会</a:t>
            </a:r>
            <a:endParaRPr lang="en-US" sz="1100" dirty="0"/>
          </a:p>
          <a:p>
            <a:pPr marL="152400" indent="-152400">
              <a:lnSpc>
                <a:spcPts val="1600"/>
              </a:lnSpc>
              <a:spcAft>
                <a:spcPts val="900"/>
              </a:spcAft>
              <a:buSzPct val="100000"/>
              <a:buChar char="•"/>
            </a:pPr>
            <a:r>
              <a:rPr lang="en-US" sz="1100" dirty="0">
                <a:solidFill>
                  <a:srgbClr val="F2EDE6"/>
                </a:solidFill>
                <a:latin typeface="Meiryo" pitchFamily="34" charset="0"/>
                <a:ea typeface="Meiryo" pitchFamily="34" charset="-122"/>
                <a:cs typeface="Meiryo" pitchFamily="34" charset="-120"/>
              </a:rPr>
              <a:t>国内外ワイナリーツアー</a:t>
            </a:r>
            <a:endParaRPr lang="en-US" sz="1100" dirty="0"/>
          </a:p>
        </p:txBody>
      </p:sp>
      <p:sp>
        <p:nvSpPr>
          <p:cNvPr id="18" name="Shape 16"/>
          <p:cNvSpPr/>
          <p:nvPr/>
        </p:nvSpPr>
        <p:spPr>
          <a:xfrm>
            <a:off x="566928" y="4864608"/>
            <a:ext cx="5394960"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9" name="Text 17"/>
          <p:cNvSpPr txBox="1"/>
          <p:nvPr/>
        </p:nvSpPr>
        <p:spPr>
          <a:xfrm>
            <a:off x="932688"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「半額」が、すべてを説明します</a:t>
            </a:r>
            <a:endParaRPr lang="en-US" sz="1400" dirty="0"/>
          </a:p>
        </p:txBody>
      </p:sp>
      <p:sp>
        <p:nvSpPr>
          <p:cNvPr id="20" name="Text 18"/>
          <p:cNvSpPr txBox="1"/>
          <p:nvPr/>
        </p:nvSpPr>
        <p:spPr>
          <a:xfrm>
            <a:off x="932688"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レストランで3倍の値がつくワインが、原価相当で飲める。これ以上わかりやすい入会理由はありません。ワイン好きにとっては、これ自体がキラーコンテンツです。</a:t>
            </a:r>
            <a:endParaRPr lang="en-US" sz="1050" dirty="0"/>
          </a:p>
        </p:txBody>
      </p:sp>
      <p:sp>
        <p:nvSpPr>
          <p:cNvPr id="21" name="Shape 19"/>
          <p:cNvSpPr/>
          <p:nvPr/>
        </p:nvSpPr>
        <p:spPr>
          <a:xfrm>
            <a:off x="6199632" y="4864608"/>
            <a:ext cx="5394960" cy="1188720"/>
          </a:xfrm>
          <a:prstGeom prst="roundRect">
            <a:avLst>
              <a:gd name="adj" fmla="val 461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6565392"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マイルとの接続：まず体験させ、引き上げる</a:t>
            </a:r>
            <a:endParaRPr lang="en-US" sz="1400" dirty="0"/>
          </a:p>
        </p:txBody>
      </p:sp>
      <p:sp>
        <p:nvSpPr>
          <p:cNvPr id="23" name="Text 21"/>
          <p:cNvSpPr txBox="1"/>
          <p:nvPr/>
        </p:nvSpPr>
        <p:spPr>
          <a:xfrm>
            <a:off x="6565392"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100万・400万会員はマイル充当で単月利用。SIGNATUREにはSTANDARDを無料付与。半額を一度体験した人が、GOLD・BLACKへ自分から上がっていきます。</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COMMUNICATION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「円」で表示しない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レートを公表せず、必要マイル数で見せる。航空会社のマイルと同じ方式です。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719072"/>
            <a:ext cx="5394960" cy="1371600"/>
          </a:xfrm>
          <a:prstGeom prst="roundRect">
            <a:avLst>
              <a:gd name="adj" fmla="val 40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901952"/>
            <a:ext cx="4663440" cy="274320"/>
          </a:xfrm>
          <a:prstGeom prst="rect">
            <a:avLst/>
          </a:prstGeom>
          <a:noFill/>
          <a:ln/>
        </p:spPr>
        <p:txBody>
          <a:bodyPr wrap="square" lIns="0" tIns="0" rIns="0" bIns="0" rtlCol="0" anchor="ctr"/>
          <a:lstStyle/>
          <a:p>
            <a:pPr indent="0" marL="0">
              <a:buNone/>
            </a:pPr>
            <a:r>
              <a:rPr lang="en-US" sz="1200" b="1" dirty="0">
                <a:solidFill>
                  <a:srgbClr val="E0A458"/>
                </a:solidFill>
                <a:latin typeface="Meiryo" pitchFamily="34" charset="0"/>
                <a:ea typeface="Meiryo" pitchFamily="34" charset="-122"/>
                <a:cs typeface="Meiryo" pitchFamily="34" charset="-120"/>
              </a:rPr>
              <a:t>✕  レート表記</a:t>
            </a:r>
            <a:endParaRPr lang="en-US" sz="1200" dirty="0"/>
          </a:p>
        </p:txBody>
      </p:sp>
      <p:sp>
        <p:nvSpPr>
          <p:cNvPr id="8" name="Text 6"/>
          <p:cNvSpPr txBox="1"/>
          <p:nvPr/>
        </p:nvSpPr>
        <p:spPr>
          <a:xfrm>
            <a:off x="932688" y="2249424"/>
            <a:ext cx="4663440" cy="640080"/>
          </a:xfrm>
          <a:prstGeom prst="rect">
            <a:avLst/>
          </a:prstGeom>
          <a:noFill/>
          <a:ln/>
        </p:spPr>
        <p:txBody>
          <a:bodyPr wrap="square" lIns="0" tIns="0" rIns="0" bIns="0" rtlCol="0" anchor="ctr"/>
          <a:lstStyle/>
          <a:p>
            <a:pPr indent="0" marL="0">
              <a:buNone/>
            </a:pPr>
            <a:r>
              <a:rPr lang="en-US" sz="1600" b="1" dirty="0">
                <a:solidFill>
                  <a:srgbClr val="F2EDE6"/>
                </a:solidFill>
                <a:latin typeface="Meiryo" pitchFamily="34" charset="0"/>
                <a:ea typeface="Meiryo" pitchFamily="34" charset="-122"/>
                <a:cs typeface="Meiryo" pitchFamily="34" charset="-120"/>
              </a:rPr>
              <a:t>「グランメゾンは 1マイル＝0.5円」</a:t>
            </a:r>
            <a:endParaRPr lang="en-US" sz="1600" dirty="0"/>
          </a:p>
        </p:txBody>
      </p:sp>
      <p:sp>
        <p:nvSpPr>
          <p:cNvPr id="9" name="Shape 7"/>
          <p:cNvSpPr/>
          <p:nvPr/>
        </p:nvSpPr>
        <p:spPr>
          <a:xfrm>
            <a:off x="6199632" y="1719072"/>
            <a:ext cx="5394960" cy="1371600"/>
          </a:xfrm>
          <a:prstGeom prst="roundRect">
            <a:avLst>
              <a:gd name="adj" fmla="val 40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0" name="Text 8"/>
          <p:cNvSpPr txBox="1"/>
          <p:nvPr/>
        </p:nvSpPr>
        <p:spPr>
          <a:xfrm>
            <a:off x="6565392" y="1901952"/>
            <a:ext cx="4663440" cy="274320"/>
          </a:xfrm>
          <a:prstGeom prst="rect">
            <a:avLst/>
          </a:prstGeom>
          <a:noFill/>
          <a:ln/>
        </p:spPr>
        <p:txBody>
          <a:bodyPr wrap="square" lIns="0" tIns="0" rIns="0" bIns="0" rtlCol="0" anchor="ctr"/>
          <a:lstStyle/>
          <a:p>
            <a:pPr indent="0" marL="0">
              <a:buNone/>
            </a:pPr>
            <a:r>
              <a:rPr lang="en-US" sz="1200" b="1" dirty="0">
                <a:solidFill>
                  <a:srgbClr val="7FD1AE"/>
                </a:solidFill>
                <a:latin typeface="Meiryo" pitchFamily="34" charset="0"/>
                <a:ea typeface="Meiryo" pitchFamily="34" charset="-122"/>
                <a:cs typeface="Meiryo" pitchFamily="34" charset="-120"/>
              </a:rPr>
              <a:t>◯  必要マイル表記</a:t>
            </a:r>
            <a:endParaRPr lang="en-US" sz="1200" dirty="0"/>
          </a:p>
        </p:txBody>
      </p:sp>
      <p:sp>
        <p:nvSpPr>
          <p:cNvPr id="11" name="Text 9"/>
          <p:cNvSpPr txBox="1"/>
          <p:nvPr/>
        </p:nvSpPr>
        <p:spPr>
          <a:xfrm>
            <a:off x="6565392" y="2249424"/>
            <a:ext cx="4663440" cy="640080"/>
          </a:xfrm>
          <a:prstGeom prst="rect">
            <a:avLst/>
          </a:prstGeom>
          <a:noFill/>
          <a:ln/>
        </p:spPr>
        <p:txBody>
          <a:bodyPr wrap="square" lIns="0" tIns="0" rIns="0" bIns="0" rtlCol="0" anchor="ctr"/>
          <a:lstStyle/>
          <a:p>
            <a:pPr indent="0" marL="0">
              <a:buNone/>
            </a:pPr>
            <a:r>
              <a:rPr lang="en-US" sz="1600" b="1" dirty="0">
                <a:solidFill>
                  <a:srgbClr val="F2EDE6"/>
                </a:solidFill>
                <a:latin typeface="Meiryo" pitchFamily="34" charset="0"/>
                <a:ea typeface="Meiryo" pitchFamily="34" charset="-122"/>
                <a:cs typeface="Meiryo" pitchFamily="34" charset="-120"/>
              </a:rPr>
              <a:t>「グランメゾン ディナー（1名）</a:t>
            </a:r>
            <a:endParaRPr lang="en-US" sz="1600" dirty="0"/>
          </a:p>
          <a:p>
            <a:pPr indent="0" marL="0">
              <a:buNone/>
            </a:pPr>
            <a:r>
              <a:rPr lang="en-US" sz="1600" b="1" dirty="0">
                <a:solidFill>
                  <a:srgbClr val="F2EDE6"/>
                </a:solidFill>
                <a:latin typeface="Meiryo" pitchFamily="34" charset="0"/>
                <a:ea typeface="Meiryo" pitchFamily="34" charset="-122"/>
                <a:cs typeface="Meiryo" pitchFamily="34" charset="-120"/>
              </a:rPr>
              <a:t>＝ 30,000マイル」</a:t>
            </a:r>
            <a:endParaRPr lang="en-US" sz="1600" dirty="0"/>
          </a:p>
        </p:txBody>
      </p:sp>
      <p:sp>
        <p:nvSpPr>
          <p:cNvPr id="12" name="Shape 10"/>
          <p:cNvSpPr/>
          <p:nvPr/>
        </p:nvSpPr>
        <p:spPr>
          <a:xfrm>
            <a:off x="566928" y="3328416"/>
            <a:ext cx="3529584" cy="1920240"/>
          </a:xfrm>
          <a:prstGeom prst="roundRect">
            <a:avLst>
              <a:gd name="adj" fmla="val 2857"/>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841248" y="3547872"/>
            <a:ext cx="329184" cy="329184"/>
          </a:xfrm>
          <a:prstGeom prst="ellipse">
            <a:avLst/>
          </a:prstGeom>
          <a:solidFill>
            <a:srgbClr val="C9A227"/>
          </a:solidFill>
          <a:ln w="12700">
            <a:solidFill>
              <a:srgbClr val="C9A227"/>
            </a:solidFill>
            <a:prstDash val="solid"/>
          </a:ln>
        </p:spPr>
      </p:sp>
      <p:sp>
        <p:nvSpPr>
          <p:cNvPr id="14" name="Text 12"/>
          <p:cNvSpPr txBox="1"/>
          <p:nvPr/>
        </p:nvSpPr>
        <p:spPr>
          <a:xfrm>
            <a:off x="841248" y="354787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5" name="Text 13"/>
          <p:cNvSpPr txBox="1"/>
          <p:nvPr/>
        </p:nvSpPr>
        <p:spPr>
          <a:xfrm>
            <a:off x="1261872" y="3566160"/>
            <a:ext cx="2615184" cy="292608"/>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レートの議論が消える</a:t>
            </a:r>
            <a:endParaRPr lang="en-US" sz="1350" dirty="0"/>
          </a:p>
        </p:txBody>
      </p:sp>
      <p:sp>
        <p:nvSpPr>
          <p:cNvPr id="16" name="Text 14"/>
          <p:cNvSpPr txBox="1"/>
          <p:nvPr/>
        </p:nvSpPr>
        <p:spPr>
          <a:xfrm>
            <a:off x="841248" y="4023360"/>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会員は「0.5円は損だ」ではなく「3万マイルで行ける」と考えます。マイルもディズニーもこの方式です。</a:t>
            </a:r>
            <a:endParaRPr lang="en-US" sz="1150" dirty="0"/>
          </a:p>
        </p:txBody>
      </p:sp>
      <p:sp>
        <p:nvSpPr>
          <p:cNvPr id="17" name="Shape 15"/>
          <p:cNvSpPr/>
          <p:nvPr/>
        </p:nvSpPr>
        <p:spPr>
          <a:xfrm>
            <a:off x="4352544" y="3328416"/>
            <a:ext cx="3529584" cy="1920240"/>
          </a:xfrm>
          <a:prstGeom prst="roundRect">
            <a:avLst>
              <a:gd name="adj" fmla="val 2857"/>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8" name="Shape 16"/>
          <p:cNvSpPr/>
          <p:nvPr/>
        </p:nvSpPr>
        <p:spPr>
          <a:xfrm>
            <a:off x="4626864" y="3547872"/>
            <a:ext cx="329184" cy="329184"/>
          </a:xfrm>
          <a:prstGeom prst="ellipse">
            <a:avLst/>
          </a:prstGeom>
          <a:solidFill>
            <a:srgbClr val="C9A227"/>
          </a:solidFill>
          <a:ln w="12700">
            <a:solidFill>
              <a:srgbClr val="C9A227"/>
            </a:solidFill>
            <a:prstDash val="solid"/>
          </a:ln>
        </p:spPr>
      </p:sp>
      <p:sp>
        <p:nvSpPr>
          <p:cNvPr id="19" name="Text 17"/>
          <p:cNvSpPr txBox="1"/>
          <p:nvPr/>
        </p:nvSpPr>
        <p:spPr>
          <a:xfrm>
            <a:off x="4626864" y="354787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20" name="Text 18"/>
          <p:cNvSpPr txBox="1"/>
          <p:nvPr/>
        </p:nvSpPr>
        <p:spPr>
          <a:xfrm>
            <a:off x="5047488" y="3566160"/>
            <a:ext cx="2615184" cy="292608"/>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有利誤認リスクが消える</a:t>
            </a:r>
            <a:endParaRPr lang="en-US" sz="1350" dirty="0"/>
          </a:p>
        </p:txBody>
      </p:sp>
      <p:sp>
        <p:nvSpPr>
          <p:cNvPr id="21" name="Text 19"/>
          <p:cNvSpPr txBox="1"/>
          <p:nvPr/>
        </p:nvSpPr>
        <p:spPr>
          <a:xfrm>
            <a:off x="4626864" y="4023360"/>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「1マイル＝1円」と大書して特定店だけ0.5円という運用は景表法上グレーです。円換算を出さなければ争点になりません。</a:t>
            </a:r>
            <a:endParaRPr lang="en-US" sz="1150" dirty="0"/>
          </a:p>
        </p:txBody>
      </p:sp>
      <p:sp>
        <p:nvSpPr>
          <p:cNvPr id="22" name="Shape 20"/>
          <p:cNvSpPr/>
          <p:nvPr/>
        </p:nvSpPr>
        <p:spPr>
          <a:xfrm>
            <a:off x="8138160" y="3328416"/>
            <a:ext cx="3529584" cy="1920240"/>
          </a:xfrm>
          <a:prstGeom prst="roundRect">
            <a:avLst>
              <a:gd name="adj" fmla="val 2857"/>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3" name="Shape 21"/>
          <p:cNvSpPr/>
          <p:nvPr/>
        </p:nvSpPr>
        <p:spPr>
          <a:xfrm>
            <a:off x="8412480" y="3547872"/>
            <a:ext cx="329184" cy="329184"/>
          </a:xfrm>
          <a:prstGeom prst="ellipse">
            <a:avLst/>
          </a:prstGeom>
          <a:solidFill>
            <a:srgbClr val="C9A227"/>
          </a:solidFill>
          <a:ln w="12700">
            <a:solidFill>
              <a:srgbClr val="C9A227"/>
            </a:solidFill>
            <a:prstDash val="solid"/>
          </a:ln>
        </p:spPr>
      </p:sp>
      <p:sp>
        <p:nvSpPr>
          <p:cNvPr id="24" name="Text 22"/>
          <p:cNvSpPr txBox="1"/>
          <p:nvPr/>
        </p:nvSpPr>
        <p:spPr>
          <a:xfrm>
            <a:off x="8412480" y="354787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5" name="Text 23"/>
          <p:cNvSpPr txBox="1"/>
          <p:nvPr/>
        </p:nvSpPr>
        <p:spPr>
          <a:xfrm>
            <a:off x="8833104" y="3566160"/>
            <a:ext cx="2615184" cy="292608"/>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税務の説明が軽くなる</a:t>
            </a:r>
            <a:endParaRPr lang="en-US" sz="1350" dirty="0"/>
          </a:p>
        </p:txBody>
      </p:sp>
      <p:sp>
        <p:nvSpPr>
          <p:cNvPr id="26" name="Text 24"/>
          <p:cNvSpPr txBox="1"/>
          <p:nvPr/>
        </p:nvSpPr>
        <p:spPr>
          <a:xfrm>
            <a:off x="8412480" y="4023360"/>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円建ての金銭的価値を明示しないほうが、クレジットカードのマイレージ還元と同じ扱いで説明しやすくなります。</a:t>
            </a:r>
            <a:endParaRPr lang="en-US" sz="1150" dirty="0"/>
          </a:p>
        </p:txBody>
      </p:sp>
      <p:sp>
        <p:nvSpPr>
          <p:cNvPr id="27" name="Shape 25"/>
          <p:cNvSpPr/>
          <p:nvPr/>
        </p:nvSpPr>
        <p:spPr>
          <a:xfrm>
            <a:off x="566928" y="5449824"/>
            <a:ext cx="11027664" cy="603504"/>
          </a:xfrm>
          <a:prstGeom prst="roundRect">
            <a:avLst>
              <a:gd name="adj" fmla="val 9091"/>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8" name="Text 26"/>
          <p:cNvSpPr txBox="1"/>
          <p:nvPr/>
        </p:nvSpPr>
        <p:spPr>
          <a:xfrm>
            <a:off x="978408" y="5596128"/>
            <a:ext cx="10204704" cy="329184"/>
          </a:xfrm>
          <a:prstGeom prst="rect">
            <a:avLst/>
          </a:prstGeom>
          <a:noFill/>
          <a:ln/>
        </p:spPr>
        <p:txBody>
          <a:bodyPr wrap="square" lIns="0" tIns="0" rIns="0" bIns="0" rtlCol="0" anchor="ctr"/>
          <a:lstStyle/>
          <a:p>
            <a:pPr algn="ctr" indent="0" marL="0">
              <a:buNone/>
            </a:pPr>
            <a:r>
              <a:rPr lang="en-US" sz="1450" b="1" dirty="0">
                <a:solidFill>
                  <a:srgbClr val="E8CE78"/>
                </a:solidFill>
                <a:latin typeface="Meiryo" pitchFamily="34" charset="0"/>
                <a:ea typeface="Meiryo" pitchFamily="34" charset="-122"/>
                <a:cs typeface="Meiryo" pitchFamily="34" charset="-120"/>
              </a:rPr>
              <a:t>会員には「5%還元」とだけ伝え、交換表は「◯◯マイルで何ができるか」で見せる。</a:t>
            </a:r>
            <a:endParaRPr lang="en-US" sz="14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EXIT</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出口設計：縛らない。それでも取りこぼさない。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専属専任で縛るのをやめ、成功報酬を契約終了時の精算に一本化します。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45920"/>
            <a:ext cx="5394960" cy="2194560"/>
          </a:xfrm>
          <a:prstGeom prst="roundRect">
            <a:avLst>
              <a:gd name="adj" fmla="val 25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82880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精算のルール</a:t>
            </a:r>
            <a:endParaRPr lang="en-US" sz="1500" dirty="0"/>
          </a:p>
        </p:txBody>
      </p:sp>
      <p:sp>
        <p:nvSpPr>
          <p:cNvPr id="8" name="Text 6"/>
          <p:cNvSpPr txBox="1"/>
          <p:nvPr/>
        </p:nvSpPr>
        <p:spPr>
          <a:xfrm>
            <a:off x="932688" y="2231136"/>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基準</a:t>
            </a:r>
            <a:endParaRPr lang="en-US" sz="1100" dirty="0"/>
          </a:p>
        </p:txBody>
      </p:sp>
      <p:sp>
        <p:nvSpPr>
          <p:cNvPr id="9" name="Text 7"/>
          <p:cNvSpPr txBox="1"/>
          <p:nvPr/>
        </p:nvSpPr>
        <p:spPr>
          <a:xfrm>
            <a:off x="2029968" y="2231136"/>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売却価格ではなく、当社のLiv-ex連動評価額</a:t>
            </a:r>
            <a:endParaRPr lang="en-US" sz="1100" dirty="0"/>
          </a:p>
        </p:txBody>
      </p:sp>
      <p:sp>
        <p:nvSpPr>
          <p:cNvPr id="10" name="Text 8"/>
          <p:cNvSpPr txBox="1"/>
          <p:nvPr/>
        </p:nvSpPr>
        <p:spPr>
          <a:xfrm>
            <a:off x="932688" y="2615184"/>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時点</a:t>
            </a:r>
            <a:endParaRPr lang="en-US" sz="1100" dirty="0"/>
          </a:p>
        </p:txBody>
      </p:sp>
      <p:sp>
        <p:nvSpPr>
          <p:cNvPr id="11" name="Text 9"/>
          <p:cNvSpPr txBox="1"/>
          <p:nvPr/>
        </p:nvSpPr>
        <p:spPr>
          <a:xfrm>
            <a:off x="2029968" y="2615184"/>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賃貸借契約の終了時（売却・引取・転換のいずれでも）</a:t>
            </a:r>
            <a:endParaRPr lang="en-US" sz="1100" dirty="0"/>
          </a:p>
        </p:txBody>
      </p:sp>
      <p:sp>
        <p:nvSpPr>
          <p:cNvPr id="12" name="Text 10"/>
          <p:cNvSpPr txBox="1"/>
          <p:nvPr/>
        </p:nvSpPr>
        <p:spPr>
          <a:xfrm>
            <a:off x="932688" y="2999232"/>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料率</a:t>
            </a:r>
            <a:endParaRPr lang="en-US" sz="1100" dirty="0"/>
          </a:p>
        </p:txBody>
      </p:sp>
      <p:sp>
        <p:nvSpPr>
          <p:cNvPr id="13" name="Text 11"/>
          <p:cNvSpPr txBox="1"/>
          <p:nvPr/>
        </p:nvSpPr>
        <p:spPr>
          <a:xfrm>
            <a:off x="2029968" y="2999232"/>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契約開始時と終了時の評価額の差分 × 25%</a:t>
            </a:r>
            <a:endParaRPr lang="en-US" sz="1100" dirty="0"/>
          </a:p>
        </p:txBody>
      </p:sp>
      <p:sp>
        <p:nvSpPr>
          <p:cNvPr id="14" name="Text 12"/>
          <p:cNvSpPr txBox="1"/>
          <p:nvPr/>
        </p:nvSpPr>
        <p:spPr>
          <a:xfrm>
            <a:off x="932688" y="3383280"/>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仲介手数料</a:t>
            </a:r>
            <a:endParaRPr lang="en-US" sz="1100" dirty="0"/>
          </a:p>
        </p:txBody>
      </p:sp>
      <p:sp>
        <p:nvSpPr>
          <p:cNvPr id="15" name="Text 13"/>
          <p:cNvSpPr txBox="1"/>
          <p:nvPr/>
        </p:nvSpPr>
        <p:spPr>
          <a:xfrm>
            <a:off x="2029968" y="3383280"/>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WineBank経由で成約した場合のみ収受。強制しない</a:t>
            </a:r>
            <a:endParaRPr lang="en-US" sz="1100" dirty="0"/>
          </a:p>
        </p:txBody>
      </p:sp>
      <p:sp>
        <p:nvSpPr>
          <p:cNvPr id="16" name="Shape 14"/>
          <p:cNvSpPr/>
          <p:nvPr/>
        </p:nvSpPr>
        <p:spPr>
          <a:xfrm>
            <a:off x="6199632" y="1645920"/>
            <a:ext cx="5394960" cy="2194560"/>
          </a:xfrm>
          <a:prstGeom prst="roundRect">
            <a:avLst>
              <a:gd name="adj" fmla="val 25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6565392" y="182880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会員が得られる自由</a:t>
            </a:r>
            <a:endParaRPr lang="en-US" sz="1500" dirty="0"/>
          </a:p>
        </p:txBody>
      </p:sp>
      <p:sp>
        <p:nvSpPr>
          <p:cNvPr id="18" name="Text 16"/>
          <p:cNvSpPr txBox="1"/>
          <p:nvPr/>
        </p:nvSpPr>
        <p:spPr>
          <a:xfrm>
            <a:off x="6565392" y="2231136"/>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どこで売ってもいい</a:t>
            </a:r>
            <a:endParaRPr lang="en-US" sz="1100" dirty="0"/>
          </a:p>
        </p:txBody>
      </p:sp>
      <p:sp>
        <p:nvSpPr>
          <p:cNvPr id="19" name="Text 17"/>
          <p:cNvSpPr txBox="1"/>
          <p:nvPr/>
        </p:nvSpPr>
        <p:spPr>
          <a:xfrm>
            <a:off x="8302752" y="2231136"/>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他社でもヤフオクでも構いません。精算は変わりません</a:t>
            </a:r>
            <a:endParaRPr lang="en-US" sz="1050" dirty="0"/>
          </a:p>
        </p:txBody>
      </p:sp>
      <p:sp>
        <p:nvSpPr>
          <p:cNvPr id="20" name="Text 18"/>
          <p:cNvSpPr txBox="1"/>
          <p:nvPr/>
        </p:nvSpPr>
        <p:spPr>
          <a:xfrm>
            <a:off x="6565392" y="2615184"/>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市場より高く売れたら</a:t>
            </a:r>
            <a:endParaRPr lang="en-US" sz="1100" dirty="0"/>
          </a:p>
        </p:txBody>
      </p:sp>
      <p:sp>
        <p:nvSpPr>
          <p:cNvPr id="21" name="Text 19"/>
          <p:cNvSpPr txBox="1"/>
          <p:nvPr/>
        </p:nvSpPr>
        <p:spPr>
          <a:xfrm>
            <a:off x="8302752" y="2615184"/>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超過分はすべて会員のものです</a:t>
            </a:r>
            <a:endParaRPr lang="en-US" sz="1050" dirty="0"/>
          </a:p>
        </p:txBody>
      </p:sp>
      <p:sp>
        <p:nvSpPr>
          <p:cNvPr id="22" name="Text 20"/>
          <p:cNvSpPr txBox="1"/>
          <p:nvPr/>
        </p:nvSpPr>
        <p:spPr>
          <a:xfrm>
            <a:off x="6565392" y="2999232"/>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飲んでもいい</a:t>
            </a:r>
            <a:endParaRPr lang="en-US" sz="1100" dirty="0"/>
          </a:p>
        </p:txBody>
      </p:sp>
      <p:sp>
        <p:nvSpPr>
          <p:cNvPr id="23" name="Text 21"/>
          <p:cNvSpPr txBox="1"/>
          <p:nvPr/>
        </p:nvSpPr>
        <p:spPr>
          <a:xfrm>
            <a:off x="8302752" y="2999232"/>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年次リバランスで運用資産から控除するだけです</a:t>
            </a:r>
            <a:endParaRPr lang="en-US" sz="1050" dirty="0"/>
          </a:p>
        </p:txBody>
      </p:sp>
      <p:sp>
        <p:nvSpPr>
          <p:cNvPr id="24" name="Text 22"/>
          <p:cNvSpPr txBox="1"/>
          <p:nvPr/>
        </p:nvSpPr>
        <p:spPr>
          <a:xfrm>
            <a:off x="6565392" y="3383280"/>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現物で引き取ってもいい</a:t>
            </a:r>
            <a:endParaRPr lang="en-US" sz="1100" dirty="0"/>
          </a:p>
        </p:txBody>
      </p:sp>
      <p:sp>
        <p:nvSpPr>
          <p:cNvPr id="25" name="Text 23"/>
          <p:cNvSpPr txBox="1"/>
          <p:nvPr/>
        </p:nvSpPr>
        <p:spPr>
          <a:xfrm>
            <a:off x="8302752" y="3383280"/>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売れなければ現物をお届けします。当社の負担はゼロ</a:t>
            </a:r>
            <a:endParaRPr lang="en-US" sz="1050" dirty="0"/>
          </a:p>
        </p:txBody>
      </p:sp>
      <p:sp>
        <p:nvSpPr>
          <p:cNvPr id="26" name="Shape 24"/>
          <p:cNvSpPr/>
          <p:nvPr/>
        </p:nvSpPr>
        <p:spPr>
          <a:xfrm>
            <a:off x="566928" y="4023360"/>
            <a:ext cx="11027664" cy="1005840"/>
          </a:xfrm>
          <a:prstGeom prst="roundRect">
            <a:avLst>
              <a:gd name="adj" fmla="val 545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4206240"/>
            <a:ext cx="10204704" cy="365760"/>
          </a:xfrm>
          <a:prstGeom prst="rect">
            <a:avLst/>
          </a:prstGeom>
          <a:noFill/>
          <a:ln/>
        </p:spPr>
        <p:txBody>
          <a:bodyPr wrap="square" lIns="0" tIns="0" rIns="0" bIns="0" rtlCol="0" anchor="ctr"/>
          <a:lstStyle/>
          <a:p>
            <a:pPr indent="0" marL="0">
              <a:buNone/>
            </a:pPr>
            <a:r>
              <a:rPr lang="en-US" sz="1800" b="1" dirty="0">
                <a:solidFill>
                  <a:srgbClr val="E8CE78"/>
                </a:solidFill>
                <a:latin typeface="Meiryo" pitchFamily="34" charset="0"/>
                <a:ea typeface="Meiryo" pitchFamily="34" charset="-122"/>
                <a:cs typeface="Meiryo" pitchFamily="34" charset="-120"/>
              </a:rPr>
              <a:t>当社は会員の取引相手ではなく、値上がりを一緒に願う側にいます。</a:t>
            </a:r>
            <a:endParaRPr lang="en-US" sz="1800" dirty="0"/>
          </a:p>
        </p:txBody>
      </p:sp>
      <p:sp>
        <p:nvSpPr>
          <p:cNvPr id="28" name="Text 26"/>
          <p:cNvSpPr txBox="1"/>
          <p:nvPr/>
        </p:nvSpPr>
        <p:spPr>
          <a:xfrm>
            <a:off x="978408" y="4608576"/>
            <a:ext cx="10204704" cy="310896"/>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買戻しでは、会員は高く売りたく当社は安く買いたい。媒介では、当社は早く売りたい。成功報酬なら、当社が願うのは「値上がり」だけです。</a:t>
            </a:r>
            <a:endParaRPr lang="en-US" sz="1200" dirty="0"/>
          </a:p>
        </p:txBody>
      </p:sp>
      <p:sp>
        <p:nvSpPr>
          <p:cNvPr id="29" name="Shape 27"/>
          <p:cNvSpPr/>
          <p:nvPr/>
        </p:nvSpPr>
        <p:spPr>
          <a:xfrm>
            <a:off x="566928" y="5175504"/>
            <a:ext cx="11027664" cy="877824"/>
          </a:xfrm>
          <a:prstGeom prst="roundRect">
            <a:avLst>
              <a:gd name="adj" fmla="val 625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30" name="Text 28"/>
          <p:cNvSpPr txBox="1"/>
          <p:nvPr/>
        </p:nvSpPr>
        <p:spPr>
          <a:xfrm>
            <a:off x="978408" y="5340096"/>
            <a:ext cx="10204704" cy="292608"/>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縛らないほうが、結果として当社を通ります。</a:t>
            </a:r>
            <a:endParaRPr lang="en-US" sz="1400" dirty="0"/>
          </a:p>
        </p:txBody>
      </p:sp>
      <p:sp>
        <p:nvSpPr>
          <p:cNvPr id="31" name="Text 29"/>
          <p:cNvSpPr txBox="1"/>
          <p:nvPr/>
        </p:nvSpPr>
        <p:spPr>
          <a:xfrm>
            <a:off x="978408" y="5669280"/>
            <a:ext cx="10204704" cy="292608"/>
          </a:xfrm>
          <a:prstGeom prst="rect">
            <a:avLst/>
          </a:prstGeom>
          <a:noFill/>
          <a:ln/>
        </p:spPr>
        <p:txBody>
          <a:bodyPr wrap="square" lIns="0" tIns="0" rIns="0" bIns="0" rtlCol="0" anchor="ctr"/>
          <a:lstStyle/>
          <a:p>
            <a:pPr indent="0" marL="0">
              <a:buNone/>
            </a:pPr>
            <a:r>
              <a:rPr lang="en-US" sz="1150" dirty="0">
                <a:solidFill>
                  <a:srgbClr val="A2908C"/>
                </a:solidFill>
                <a:latin typeface="Meiryo" pitchFamily="34" charset="0"/>
                <a:ea typeface="Meiryo" pitchFamily="34" charset="-122"/>
                <a:cs typeface="Meiryo" pitchFamily="34" charset="-120"/>
              </a:rPr>
              <a:t>精算が済んでいれば、会員が自社の板を使わない理由は「手間」だけになります。マーケットプレイスの使い勝手で勝てばよく、契約で縛る必要はありません。</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RISK CONTROL</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先に塞ぐ：4つのリスク</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攻める前に、法務・税務・会計を設計に織り込みます。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5394960" cy="1975104"/>
          </a:xfrm>
          <a:prstGeom prst="roundRect">
            <a:avLst>
              <a:gd name="adj" fmla="val 277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88366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0195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出資法・景表法</a:t>
            </a:r>
            <a:endParaRPr lang="en-US" sz="1400" dirty="0"/>
          </a:p>
        </p:txBody>
      </p:sp>
      <p:sp>
        <p:nvSpPr>
          <p:cNvPr id="10" name="Text 8"/>
          <p:cNvSpPr txBox="1"/>
          <p:nvPr/>
        </p:nvSpPr>
        <p:spPr>
          <a:xfrm>
            <a:off x="859536" y="232257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「年率5%」と言わない</a:t>
            </a:r>
            <a:endParaRPr lang="en-US" sz="1300" dirty="0"/>
          </a:p>
        </p:txBody>
      </p:sp>
      <p:sp>
        <p:nvSpPr>
          <p:cNvPr id="11" name="Text 9"/>
          <p:cNvSpPr txBox="1"/>
          <p:nvPr/>
        </p:nvSpPr>
        <p:spPr>
          <a:xfrm>
            <a:off x="859536" y="267004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「預ける＋年率＋貯金」の組合せは預り金と読まれます。マスターリース（動産賃貸借）の建て付けにし、5%は『賃料率』として説明する。商標『ワイン貯金』は競合を止めますが、法規制は止めません。</a:t>
            </a:r>
            <a:endParaRPr lang="en-US" sz="1050" dirty="0"/>
          </a:p>
        </p:txBody>
      </p:sp>
      <p:sp>
        <p:nvSpPr>
          <p:cNvPr id="12" name="Shape 10"/>
          <p:cNvSpPr/>
          <p:nvPr/>
        </p:nvSpPr>
        <p:spPr>
          <a:xfrm>
            <a:off x="6199632" y="1664208"/>
            <a:ext cx="5394960" cy="1975104"/>
          </a:xfrm>
          <a:prstGeom prst="roundRect">
            <a:avLst>
              <a:gd name="adj" fmla="val 277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6492240" y="1883664"/>
            <a:ext cx="329184" cy="329184"/>
          </a:xfrm>
          <a:prstGeom prst="ellipse">
            <a:avLst/>
          </a:prstGeom>
          <a:solidFill>
            <a:srgbClr val="C9A227"/>
          </a:solidFill>
          <a:ln w="12700">
            <a:solidFill>
              <a:srgbClr val="C9A227"/>
            </a:solidFill>
            <a:prstDash val="solid"/>
          </a:ln>
        </p:spPr>
      </p:sp>
      <p:sp>
        <p:nvSpPr>
          <p:cNvPr id="14" name="Text 12"/>
          <p:cNvSpPr txBox="1"/>
          <p:nvPr/>
        </p:nvSpPr>
        <p:spPr>
          <a:xfrm>
            <a:off x="6492240"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6931152" y="190195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資金決済法</a:t>
            </a:r>
            <a:endParaRPr lang="en-US" sz="1400" dirty="0"/>
          </a:p>
        </p:txBody>
      </p:sp>
      <p:sp>
        <p:nvSpPr>
          <p:cNvPr id="16" name="Text 14"/>
          <p:cNvSpPr txBox="1"/>
          <p:nvPr/>
        </p:nvSpPr>
        <p:spPr>
          <a:xfrm>
            <a:off x="6492240" y="232257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無償付与なら期限は自由</a:t>
            </a:r>
            <a:endParaRPr lang="en-US" sz="1300" dirty="0"/>
          </a:p>
        </p:txBody>
      </p:sp>
      <p:sp>
        <p:nvSpPr>
          <p:cNvPr id="17" name="Text 15"/>
          <p:cNvSpPr txBox="1"/>
          <p:nvPr/>
        </p:nvSpPr>
        <p:spPr>
          <a:xfrm>
            <a:off x="6492240" y="267004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無償で付与するマイルは前払式支払手段に該当しないため、JALマイル36ヶ月・楽天1年と同様に期限は自由に設定できます。届出・供託の論点は、対価性が生じない限り発生しません。</a:t>
            </a:r>
            <a:endParaRPr lang="en-US" sz="1050" dirty="0"/>
          </a:p>
        </p:txBody>
      </p:sp>
      <p:sp>
        <p:nvSpPr>
          <p:cNvPr id="18" name="Shape 16"/>
          <p:cNvSpPr/>
          <p:nvPr/>
        </p:nvSpPr>
        <p:spPr>
          <a:xfrm>
            <a:off x="566928" y="3858768"/>
            <a:ext cx="5394960" cy="1975104"/>
          </a:xfrm>
          <a:prstGeom prst="roundRect">
            <a:avLst>
              <a:gd name="adj" fmla="val 277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9" name="Shape 17"/>
          <p:cNvSpPr/>
          <p:nvPr/>
        </p:nvSpPr>
        <p:spPr>
          <a:xfrm>
            <a:off x="859536" y="4078224"/>
            <a:ext cx="329184" cy="329184"/>
          </a:xfrm>
          <a:prstGeom prst="ellipse">
            <a:avLst/>
          </a:prstGeom>
          <a:solidFill>
            <a:srgbClr val="C9A227"/>
          </a:solidFill>
          <a:ln w="12700">
            <a:solidFill>
              <a:srgbClr val="C9A227"/>
            </a:solidFill>
            <a:prstDash val="solid"/>
          </a:ln>
        </p:spPr>
      </p:sp>
      <p:sp>
        <p:nvSpPr>
          <p:cNvPr id="20" name="Text 18"/>
          <p:cNvSpPr txBox="1"/>
          <p:nvPr/>
        </p:nvSpPr>
        <p:spPr>
          <a:xfrm>
            <a:off x="859536" y="407822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1" name="Text 19"/>
          <p:cNvSpPr txBox="1"/>
          <p:nvPr/>
        </p:nvSpPr>
        <p:spPr>
          <a:xfrm>
            <a:off x="1298448" y="409651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課税</a:t>
            </a:r>
            <a:endParaRPr lang="en-US" sz="1400" dirty="0"/>
          </a:p>
        </p:txBody>
      </p:sp>
      <p:sp>
        <p:nvSpPr>
          <p:cNvPr id="22" name="Text 20"/>
          <p:cNvSpPr txBox="1"/>
          <p:nvPr/>
        </p:nvSpPr>
        <p:spPr>
          <a:xfrm>
            <a:off x="859536" y="451713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マイレージ還元として構成</a:t>
            </a:r>
            <a:endParaRPr lang="en-US" sz="1300" dirty="0"/>
          </a:p>
        </p:txBody>
      </p:sp>
      <p:sp>
        <p:nvSpPr>
          <p:cNvPr id="23" name="Text 21"/>
          <p:cNvSpPr txBox="1"/>
          <p:nvPr/>
        </p:nvSpPr>
        <p:spPr>
          <a:xfrm>
            <a:off x="859536" y="486460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クレジットカードのマイル還元は法人・個人とも課税されないのが実務です。ただし本件は賃料としての性格も併存するため、規約の文言で決まります。ローンチ前に顧問税理士の一筆を。</a:t>
            </a:r>
            <a:endParaRPr lang="en-US" sz="1050" dirty="0"/>
          </a:p>
        </p:txBody>
      </p:sp>
      <p:sp>
        <p:nvSpPr>
          <p:cNvPr id="24" name="Shape 22"/>
          <p:cNvSpPr/>
          <p:nvPr/>
        </p:nvSpPr>
        <p:spPr>
          <a:xfrm>
            <a:off x="6199632" y="3858768"/>
            <a:ext cx="5394960" cy="1975104"/>
          </a:xfrm>
          <a:prstGeom prst="roundRect">
            <a:avLst>
              <a:gd name="adj" fmla="val 2778"/>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5" name="Shape 23"/>
          <p:cNvSpPr/>
          <p:nvPr/>
        </p:nvSpPr>
        <p:spPr>
          <a:xfrm>
            <a:off x="6492240" y="4078224"/>
            <a:ext cx="329184" cy="329184"/>
          </a:xfrm>
          <a:prstGeom prst="ellipse">
            <a:avLst/>
          </a:prstGeom>
          <a:solidFill>
            <a:srgbClr val="E0A458"/>
          </a:solidFill>
          <a:ln w="12700">
            <a:solidFill>
              <a:srgbClr val="E0A458"/>
            </a:solidFill>
            <a:prstDash val="solid"/>
          </a:ln>
        </p:spPr>
      </p:sp>
      <p:sp>
        <p:nvSpPr>
          <p:cNvPr id="26" name="Text 24"/>
          <p:cNvSpPr txBox="1"/>
          <p:nvPr/>
        </p:nvSpPr>
        <p:spPr>
          <a:xfrm>
            <a:off x="6492240" y="407822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27" name="Text 25"/>
          <p:cNvSpPr txBox="1"/>
          <p:nvPr/>
        </p:nvSpPr>
        <p:spPr>
          <a:xfrm>
            <a:off x="6931152" y="409651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会計</a:t>
            </a:r>
            <a:endParaRPr lang="en-US" sz="1400" dirty="0"/>
          </a:p>
        </p:txBody>
      </p:sp>
      <p:sp>
        <p:nvSpPr>
          <p:cNvPr id="28" name="Text 26"/>
          <p:cNvSpPr txBox="1"/>
          <p:nvPr/>
        </p:nvSpPr>
        <p:spPr>
          <a:xfrm>
            <a:off x="6492240" y="451713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買戻しを採らない理由</a:t>
            </a:r>
            <a:endParaRPr lang="en-US" sz="1300" dirty="0"/>
          </a:p>
        </p:txBody>
      </p:sp>
      <p:sp>
        <p:nvSpPr>
          <p:cNvPr id="29" name="Text 27"/>
          <p:cNvSpPr txBox="1"/>
          <p:nvPr/>
        </p:nvSpPr>
        <p:spPr>
          <a:xfrm>
            <a:off x="6492240" y="486460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買戻し保証があるとリスクと経済価値が移転せず、100万円を売上計上できません。成功報酬方式ならこの論点自体が消えます。マイルは履行義務として繰延が必要です。</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MIGRATION &amp; ACQUISITION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既存顧客と、まだ顧客でない人</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遡及付与はしません。代わりに「格」で報い、まったく別の入口を1つ開けます。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45920"/>
            <a:ext cx="5394960" cy="3200400"/>
          </a:xfrm>
          <a:prstGeom prst="roundRect">
            <a:avLst>
              <a:gd name="adj" fmla="val 1714"/>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828800"/>
            <a:ext cx="4663440" cy="310896"/>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既存顧客への移行</a:t>
            </a:r>
            <a:endParaRPr lang="en-US" sz="1600" dirty="0"/>
          </a:p>
        </p:txBody>
      </p:sp>
      <p:sp>
        <p:nvSpPr>
          <p:cNvPr id="8" name="Text 6"/>
          <p:cNvSpPr txBox="1"/>
          <p:nvPr/>
        </p:nvSpPr>
        <p:spPr>
          <a:xfrm>
            <a:off x="932688" y="2212848"/>
            <a:ext cx="466344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マイレージ制度の導入時に過去搭乗分へ遡及した航空会社はありません。楽天もカード各社も同じで、開始日から全員同じ条件が業界の標準です。数百万円の遡及コストを負う必要はありません。</a:t>
            </a:r>
            <a:endParaRPr lang="en-US" sz="1100" dirty="0"/>
          </a:p>
        </p:txBody>
      </p:sp>
      <p:sp>
        <p:nvSpPr>
          <p:cNvPr id="9" name="Shape 7"/>
          <p:cNvSpPr/>
          <p:nvPr/>
        </p:nvSpPr>
        <p:spPr>
          <a:xfrm>
            <a:off x="932688" y="2944368"/>
            <a:ext cx="329184" cy="329184"/>
          </a:xfrm>
          <a:prstGeom prst="ellipse">
            <a:avLst/>
          </a:prstGeom>
          <a:solidFill>
            <a:srgbClr val="C9A227"/>
          </a:solidFill>
          <a:ln w="12700">
            <a:solidFill>
              <a:srgbClr val="C9A227"/>
            </a:solidFill>
            <a:prstDash val="solid"/>
          </a:ln>
        </p:spPr>
      </p:sp>
      <p:sp>
        <p:nvSpPr>
          <p:cNvPr id="10" name="Text 8"/>
          <p:cNvSpPr txBox="1"/>
          <p:nvPr/>
        </p:nvSpPr>
        <p:spPr>
          <a:xfrm>
            <a:off x="932688" y="29443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1" name="Text 9"/>
          <p:cNvSpPr txBox="1"/>
          <p:nvPr/>
        </p:nvSpPr>
        <p:spPr>
          <a:xfrm>
            <a:off x="1353312" y="29718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全員、同じ条件から</a:t>
            </a:r>
            <a:endParaRPr lang="en-US" sz="1100" dirty="0"/>
          </a:p>
        </p:txBody>
      </p:sp>
      <p:sp>
        <p:nvSpPr>
          <p:cNvPr id="12" name="Text 10"/>
          <p:cNvSpPr txBox="1"/>
          <p:nvPr/>
        </p:nvSpPr>
        <p:spPr>
          <a:xfrm>
            <a:off x="2907792" y="29443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遡及付与はしない。説明が簡単で、完全に公平</a:t>
            </a:r>
            <a:endParaRPr lang="en-US" sz="950" dirty="0"/>
          </a:p>
        </p:txBody>
      </p:sp>
      <p:sp>
        <p:nvSpPr>
          <p:cNvPr id="13" name="Shape 11"/>
          <p:cNvSpPr/>
          <p:nvPr/>
        </p:nvSpPr>
        <p:spPr>
          <a:xfrm>
            <a:off x="932688" y="3401568"/>
            <a:ext cx="329184" cy="329184"/>
          </a:xfrm>
          <a:prstGeom prst="ellipse">
            <a:avLst/>
          </a:prstGeom>
          <a:solidFill>
            <a:srgbClr val="C9A227"/>
          </a:solidFill>
          <a:ln w="12700">
            <a:solidFill>
              <a:srgbClr val="C9A227"/>
            </a:solidFill>
            <a:prstDash val="solid"/>
          </a:ln>
        </p:spPr>
      </p:sp>
      <p:sp>
        <p:nvSpPr>
          <p:cNvPr id="14" name="Text 12"/>
          <p:cNvSpPr txBox="1"/>
          <p:nvPr/>
        </p:nvSpPr>
        <p:spPr>
          <a:xfrm>
            <a:off x="932688" y="34015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1353312" y="34290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創業会員ボーナス</a:t>
            </a:r>
            <a:endParaRPr lang="en-US" sz="1100" dirty="0"/>
          </a:p>
        </p:txBody>
      </p:sp>
      <p:sp>
        <p:nvSpPr>
          <p:cNvPr id="16" name="Text 14"/>
          <p:cNvSpPr txBox="1"/>
          <p:nvPr/>
        </p:nvSpPr>
        <p:spPr>
          <a:xfrm>
            <a:off x="2907792" y="34015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保有年数×一定マイル（例：1年5,000・上限3万）。連結原価30%なら呑める</a:t>
            </a:r>
            <a:endParaRPr lang="en-US" sz="950" dirty="0"/>
          </a:p>
        </p:txBody>
      </p:sp>
      <p:sp>
        <p:nvSpPr>
          <p:cNvPr id="17" name="Shape 15"/>
          <p:cNvSpPr/>
          <p:nvPr/>
        </p:nvSpPr>
        <p:spPr>
          <a:xfrm>
            <a:off x="932688" y="3858768"/>
            <a:ext cx="329184" cy="329184"/>
          </a:xfrm>
          <a:prstGeom prst="ellipse">
            <a:avLst/>
          </a:prstGeom>
          <a:solidFill>
            <a:srgbClr val="C9A227"/>
          </a:solidFill>
          <a:ln w="12700">
            <a:solidFill>
              <a:srgbClr val="C9A227"/>
            </a:solidFill>
            <a:prstDash val="solid"/>
          </a:ln>
        </p:spPr>
      </p:sp>
      <p:sp>
        <p:nvSpPr>
          <p:cNvPr id="18" name="Text 16"/>
          <p:cNvSpPr txBox="1"/>
          <p:nvPr/>
        </p:nvSpPr>
        <p:spPr>
          <a:xfrm>
            <a:off x="932688" y="38587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1353312" y="38862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恒久ステータス</a:t>
            </a:r>
            <a:endParaRPr lang="en-US" sz="1100" dirty="0"/>
          </a:p>
        </p:txBody>
      </p:sp>
      <p:sp>
        <p:nvSpPr>
          <p:cNvPr id="20" name="Text 18"/>
          <p:cNvSpPr txBox="1"/>
          <p:nvPr/>
        </p:nvSpPr>
        <p:spPr>
          <a:xfrm>
            <a:off x="2907792" y="38587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未公開ワインの優先案内、イベント優先招待。原価はゼロ</a:t>
            </a:r>
            <a:endParaRPr lang="en-US" sz="950" dirty="0"/>
          </a:p>
        </p:txBody>
      </p:sp>
      <p:sp>
        <p:nvSpPr>
          <p:cNvPr id="21" name="Shape 19"/>
          <p:cNvSpPr/>
          <p:nvPr/>
        </p:nvSpPr>
        <p:spPr>
          <a:xfrm>
            <a:off x="932688" y="4315968"/>
            <a:ext cx="329184" cy="329184"/>
          </a:xfrm>
          <a:prstGeom prst="ellipse">
            <a:avLst/>
          </a:prstGeom>
          <a:solidFill>
            <a:srgbClr val="C9A227"/>
          </a:solidFill>
          <a:ln w="12700">
            <a:solidFill>
              <a:srgbClr val="C9A227"/>
            </a:solidFill>
            <a:prstDash val="solid"/>
          </a:ln>
        </p:spPr>
      </p:sp>
      <p:sp>
        <p:nvSpPr>
          <p:cNvPr id="22" name="Text 20"/>
          <p:cNvSpPr txBox="1"/>
          <p:nvPr/>
        </p:nvSpPr>
        <p:spPr>
          <a:xfrm>
            <a:off x="932688" y="43159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23" name="Text 21"/>
          <p:cNvSpPr txBox="1"/>
          <p:nvPr/>
        </p:nvSpPr>
        <p:spPr>
          <a:xfrm>
            <a:off x="1353312" y="43434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条件は、つけない</a:t>
            </a:r>
            <a:endParaRPr lang="en-US" sz="1100" dirty="0"/>
          </a:p>
        </p:txBody>
      </p:sp>
      <p:sp>
        <p:nvSpPr>
          <p:cNvPr id="24" name="Text 22"/>
          <p:cNvSpPr txBox="1"/>
          <p:nvPr/>
        </p:nvSpPr>
        <p:spPr>
          <a:xfrm>
            <a:off x="2907792" y="43159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見返りを求めると必ず伝わる。無条件のほうが結果的にアップセルされる</a:t>
            </a:r>
            <a:endParaRPr lang="en-US" sz="950" dirty="0"/>
          </a:p>
        </p:txBody>
      </p:sp>
      <p:sp>
        <p:nvSpPr>
          <p:cNvPr id="25" name="Shape 23"/>
          <p:cNvSpPr/>
          <p:nvPr/>
        </p:nvSpPr>
        <p:spPr>
          <a:xfrm>
            <a:off x="6199632" y="1645920"/>
            <a:ext cx="5394960" cy="3200400"/>
          </a:xfrm>
          <a:prstGeom prst="roundRect">
            <a:avLst>
              <a:gd name="adj" fmla="val 171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6" name="Text 24"/>
          <p:cNvSpPr txBox="1"/>
          <p:nvPr/>
        </p:nvSpPr>
        <p:spPr>
          <a:xfrm>
            <a:off x="6565392" y="1828800"/>
            <a:ext cx="4663440" cy="310896"/>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新規獲得：VVIP限定 100本お預かりプラン</a:t>
            </a:r>
            <a:endParaRPr lang="en-US" sz="1600" dirty="0"/>
          </a:p>
        </p:txBody>
      </p:sp>
      <p:sp>
        <p:nvSpPr>
          <p:cNvPr id="27" name="Text 25"/>
          <p:cNvSpPr txBox="1"/>
          <p:nvPr/>
        </p:nvSpPr>
        <p:spPr>
          <a:xfrm>
            <a:off x="6565392" y="2212848"/>
            <a:ext cx="466344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買わなくていい。いま自宅にある100本を預けるだけ。購入資金ゼロで在庫が増え、これまでWineBankの顧客層でなかった愛好家層に入口が開きます。</a:t>
            </a:r>
            <a:endParaRPr lang="en-US" sz="1100" dirty="0"/>
          </a:p>
        </p:txBody>
      </p:sp>
      <p:sp>
        <p:nvSpPr>
          <p:cNvPr id="28" name="Shape 26"/>
          <p:cNvSpPr/>
          <p:nvPr/>
        </p:nvSpPr>
        <p:spPr>
          <a:xfrm>
            <a:off x="6565392" y="2944368"/>
            <a:ext cx="329184" cy="329184"/>
          </a:xfrm>
          <a:prstGeom prst="ellipse">
            <a:avLst/>
          </a:prstGeom>
          <a:solidFill>
            <a:srgbClr val="C9A227"/>
          </a:solidFill>
          <a:ln w="12700">
            <a:solidFill>
              <a:srgbClr val="C9A227"/>
            </a:solidFill>
            <a:prstDash val="solid"/>
          </a:ln>
        </p:spPr>
      </p:sp>
      <p:sp>
        <p:nvSpPr>
          <p:cNvPr id="29" name="Text 27"/>
          <p:cNvSpPr txBox="1"/>
          <p:nvPr/>
        </p:nvSpPr>
        <p:spPr>
          <a:xfrm>
            <a:off x="6565392" y="29443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30" name="Text 28"/>
          <p:cNvSpPr txBox="1"/>
          <p:nvPr/>
        </p:nvSpPr>
        <p:spPr>
          <a:xfrm>
            <a:off x="6986016" y="2971800"/>
            <a:ext cx="1517904"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摩擦が、ゼロ</a:t>
            </a:r>
            <a:endParaRPr lang="en-US" sz="1100" dirty="0"/>
          </a:p>
        </p:txBody>
      </p:sp>
      <p:sp>
        <p:nvSpPr>
          <p:cNvPr id="31" name="Text 29"/>
          <p:cNvSpPr txBox="1"/>
          <p:nvPr/>
        </p:nvSpPr>
        <p:spPr>
          <a:xfrm>
            <a:off x="8577072" y="29443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購入も入会金も不要。「セラーが満杯」という最大のペインを直撃する</a:t>
            </a:r>
            <a:endParaRPr lang="en-US" sz="950" dirty="0"/>
          </a:p>
        </p:txBody>
      </p:sp>
      <p:sp>
        <p:nvSpPr>
          <p:cNvPr id="32" name="Shape 30"/>
          <p:cNvSpPr/>
          <p:nvPr/>
        </p:nvSpPr>
        <p:spPr>
          <a:xfrm>
            <a:off x="6565392" y="3401568"/>
            <a:ext cx="329184" cy="329184"/>
          </a:xfrm>
          <a:prstGeom prst="ellipse">
            <a:avLst/>
          </a:prstGeom>
          <a:solidFill>
            <a:srgbClr val="C9A227"/>
          </a:solidFill>
          <a:ln w="12700">
            <a:solidFill>
              <a:srgbClr val="C9A227"/>
            </a:solidFill>
            <a:prstDash val="solid"/>
          </a:ln>
        </p:spPr>
      </p:sp>
      <p:sp>
        <p:nvSpPr>
          <p:cNvPr id="33" name="Text 31"/>
          <p:cNvSpPr txBox="1"/>
          <p:nvPr/>
        </p:nvSpPr>
        <p:spPr>
          <a:xfrm>
            <a:off x="6565392" y="34015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34" name="Text 32"/>
          <p:cNvSpPr txBox="1"/>
          <p:nvPr/>
        </p:nvSpPr>
        <p:spPr>
          <a:xfrm>
            <a:off x="6986016" y="3429000"/>
            <a:ext cx="1517904"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即、経済圏に入る</a:t>
            </a:r>
            <a:endParaRPr lang="en-US" sz="1100" dirty="0"/>
          </a:p>
        </p:txBody>
      </p:sp>
      <p:sp>
        <p:nvSpPr>
          <p:cNvPr id="35" name="Text 33"/>
          <p:cNvSpPr txBox="1"/>
          <p:nvPr/>
        </p:nvSpPr>
        <p:spPr>
          <a:xfrm>
            <a:off x="8577072" y="34015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時価評価→管理手数料→マイル付与。運用型にもそのまま乗せられる</a:t>
            </a:r>
            <a:endParaRPr lang="en-US" sz="950" dirty="0"/>
          </a:p>
        </p:txBody>
      </p:sp>
      <p:sp>
        <p:nvSpPr>
          <p:cNvPr id="36" name="Shape 34"/>
          <p:cNvSpPr/>
          <p:nvPr/>
        </p:nvSpPr>
        <p:spPr>
          <a:xfrm>
            <a:off x="6565392" y="3858768"/>
            <a:ext cx="329184" cy="329184"/>
          </a:xfrm>
          <a:prstGeom prst="ellipse">
            <a:avLst/>
          </a:prstGeom>
          <a:solidFill>
            <a:srgbClr val="C9A227"/>
          </a:solidFill>
          <a:ln w="12700">
            <a:solidFill>
              <a:srgbClr val="C9A227"/>
            </a:solidFill>
            <a:prstDash val="solid"/>
          </a:ln>
        </p:spPr>
      </p:sp>
      <p:sp>
        <p:nvSpPr>
          <p:cNvPr id="37" name="Text 35"/>
          <p:cNvSpPr txBox="1"/>
          <p:nvPr/>
        </p:nvSpPr>
        <p:spPr>
          <a:xfrm>
            <a:off x="6565392" y="38587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38" name="Text 36"/>
          <p:cNvSpPr txBox="1"/>
          <p:nvPr/>
        </p:nvSpPr>
        <p:spPr>
          <a:xfrm>
            <a:off x="6986016" y="3886200"/>
            <a:ext cx="1517904"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アップセルは自然に</a:t>
            </a:r>
            <a:endParaRPr lang="en-US" sz="1100" dirty="0"/>
          </a:p>
        </p:txBody>
      </p:sp>
      <p:sp>
        <p:nvSpPr>
          <p:cNvPr id="39" name="Text 37"/>
          <p:cNvSpPr txBox="1"/>
          <p:nvPr/>
        </p:nvSpPr>
        <p:spPr>
          <a:xfrm>
            <a:off x="8577072" y="38587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マイルが貯まり、板を見て、会食に出る。売り込まなくても次を買う</a:t>
            </a:r>
            <a:endParaRPr lang="en-US" sz="950" dirty="0"/>
          </a:p>
        </p:txBody>
      </p:sp>
      <p:sp>
        <p:nvSpPr>
          <p:cNvPr id="40" name="Shape 38"/>
          <p:cNvSpPr/>
          <p:nvPr/>
        </p:nvSpPr>
        <p:spPr>
          <a:xfrm>
            <a:off x="6565392" y="4315968"/>
            <a:ext cx="329184" cy="329184"/>
          </a:xfrm>
          <a:prstGeom prst="ellipse">
            <a:avLst/>
          </a:prstGeom>
          <a:solidFill>
            <a:srgbClr val="E0A458"/>
          </a:solidFill>
          <a:ln w="12700">
            <a:solidFill>
              <a:srgbClr val="E0A458"/>
            </a:solidFill>
            <a:prstDash val="solid"/>
          </a:ln>
        </p:spPr>
      </p:sp>
      <p:sp>
        <p:nvSpPr>
          <p:cNvPr id="41" name="Text 39"/>
          <p:cNvSpPr txBox="1"/>
          <p:nvPr/>
        </p:nvSpPr>
        <p:spPr>
          <a:xfrm>
            <a:off x="6565392" y="43159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42" name="Text 40"/>
          <p:cNvSpPr txBox="1"/>
          <p:nvPr/>
        </p:nvSpPr>
        <p:spPr>
          <a:xfrm>
            <a:off x="6986016" y="4343400"/>
            <a:ext cx="1517904" cy="274320"/>
          </a:xfrm>
          <a:prstGeom prst="rect">
            <a:avLst/>
          </a:prstGeom>
          <a:noFill/>
          <a:ln/>
        </p:spPr>
        <p:txBody>
          <a:bodyPr wrap="square" lIns="0" tIns="0" rIns="0" bIns="0" rtlCol="0" anchor="ctr"/>
          <a:lstStyle/>
          <a:p>
            <a:pPr indent="0" marL="0">
              <a:buNone/>
            </a:pPr>
            <a:r>
              <a:rPr lang="en-US" sz="1100" b="1" dirty="0">
                <a:solidFill>
                  <a:srgbClr val="E0A458"/>
                </a:solidFill>
                <a:latin typeface="Meiryo" pitchFamily="34" charset="0"/>
                <a:ea typeface="Meiryo" pitchFamily="34" charset="-122"/>
                <a:cs typeface="Meiryo" pitchFamily="34" charset="-120"/>
              </a:rPr>
              <a:t>検品基準は必須</a:t>
            </a:r>
            <a:endParaRPr lang="en-US" sz="1100" dirty="0"/>
          </a:p>
        </p:txBody>
      </p:sp>
      <p:sp>
        <p:nvSpPr>
          <p:cNvPr id="43" name="Text 41"/>
          <p:cNvSpPr txBox="1"/>
          <p:nvPr/>
        </p:nvSpPr>
        <p:spPr>
          <a:xfrm>
            <a:off x="8577072" y="43159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持込はプロヴナンス不明。液面・ラベル・コルク・保管履歴で受入可否を判断</a:t>
            </a:r>
            <a:endParaRPr lang="en-US" sz="950" dirty="0"/>
          </a:p>
        </p:txBody>
      </p:sp>
      <p:sp>
        <p:nvSpPr>
          <p:cNvPr id="44" name="Shape 42"/>
          <p:cNvSpPr/>
          <p:nvPr/>
        </p:nvSpPr>
        <p:spPr>
          <a:xfrm>
            <a:off x="566928" y="5029200"/>
            <a:ext cx="11027664" cy="1024128"/>
          </a:xfrm>
          <a:prstGeom prst="roundRect">
            <a:avLst>
              <a:gd name="adj" fmla="val 535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45" name="Text 43"/>
          <p:cNvSpPr txBox="1"/>
          <p:nvPr/>
        </p:nvSpPr>
        <p:spPr>
          <a:xfrm>
            <a:off x="978408" y="5230368"/>
            <a:ext cx="10204704" cy="365760"/>
          </a:xfrm>
          <a:prstGeom prst="rect">
            <a:avLst/>
          </a:prstGeom>
          <a:noFill/>
          <a:ln/>
        </p:spPr>
        <p:txBody>
          <a:bodyPr wrap="square" lIns="0" tIns="0" rIns="0" bIns="0" rtlCol="0" anchor="ctr"/>
          <a:lstStyle/>
          <a:p>
            <a:pPr indent="0" marL="0">
              <a:buNone/>
            </a:pPr>
            <a:r>
              <a:rPr lang="en-US" sz="1800" b="1" dirty="0">
                <a:solidFill>
                  <a:srgbClr val="E8CE78"/>
                </a:solidFill>
                <a:latin typeface="Meiryo" pitchFamily="34" charset="0"/>
                <a:ea typeface="Meiryo" pitchFamily="34" charset="-122"/>
                <a:cs typeface="Meiryo" pitchFamily="34" charset="-120"/>
              </a:rPr>
              <a:t>既存顧客には恩を売らず、格を配る。新規には、買わせずにまず預けさせる。</a:t>
            </a:r>
            <a:endParaRPr lang="en-US" sz="1800" dirty="0"/>
          </a:p>
        </p:txBody>
      </p:sp>
      <p:sp>
        <p:nvSpPr>
          <p:cNvPr id="46" name="Text 44"/>
          <p:cNvSpPr txBox="1"/>
          <p:nvPr/>
        </p:nvSpPr>
        <p:spPr>
          <a:xfrm>
            <a:off x="978408" y="5632704"/>
            <a:ext cx="10204704" cy="310896"/>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どちらも「先にこちらが与える」設計です。ポイント経済圏は、入ってもらわないと何も始まりません。</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ROADMAP</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ロードマップ</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契約設計と法務確認を終えてから、マイルを走らせます。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91640"/>
            <a:ext cx="2624328" cy="3611880"/>
          </a:xfrm>
          <a:prstGeom prst="roundRect">
            <a:avLst>
              <a:gd name="adj" fmla="val 2091"/>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22960"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0</a:t>
            </a:r>
            <a:endParaRPr lang="en-US" sz="1050" dirty="0"/>
          </a:p>
        </p:txBody>
      </p:sp>
      <p:sp>
        <p:nvSpPr>
          <p:cNvPr id="8" name="Text 6"/>
          <p:cNvSpPr txBox="1"/>
          <p:nvPr/>
        </p:nvSpPr>
        <p:spPr>
          <a:xfrm>
            <a:off x="822960"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〜2ヶ月</a:t>
            </a:r>
            <a:endParaRPr lang="en-US" sz="2000" dirty="0"/>
          </a:p>
        </p:txBody>
      </p:sp>
      <p:sp>
        <p:nvSpPr>
          <p:cNvPr id="9" name="Text 7"/>
          <p:cNvSpPr txBox="1"/>
          <p:nvPr/>
        </p:nvSpPr>
        <p:spPr>
          <a:xfrm>
            <a:off x="822960"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土台を固める</a:t>
            </a:r>
            <a:endParaRPr lang="en-US" sz="1350" dirty="0"/>
          </a:p>
        </p:txBody>
      </p:sp>
      <p:sp>
        <p:nvSpPr>
          <p:cNvPr id="10" name="Text 8"/>
          <p:cNvSpPr txBox="1"/>
          <p:nvPr/>
        </p:nvSpPr>
        <p:spPr>
          <a:xfrm>
            <a:off x="822960"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店舗原価率と90%精算の合意</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弁護士・税理士の意見書</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賃貸借＋AM契約の整備</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CLUB特典の実数確定</a:t>
            </a:r>
            <a:endParaRPr lang="en-US" sz="1200" dirty="0"/>
          </a:p>
        </p:txBody>
      </p:sp>
      <p:sp>
        <p:nvSpPr>
          <p:cNvPr id="11" name="Shape 9"/>
          <p:cNvSpPr/>
          <p:nvPr/>
        </p:nvSpPr>
        <p:spPr>
          <a:xfrm>
            <a:off x="3410712" y="1691640"/>
            <a:ext cx="2624328" cy="3611880"/>
          </a:xfrm>
          <a:prstGeom prst="roundRect">
            <a:avLst>
              <a:gd name="adj" fmla="val 2091"/>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3666744"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1</a:t>
            </a:r>
            <a:endParaRPr lang="en-US" sz="1050" dirty="0"/>
          </a:p>
        </p:txBody>
      </p:sp>
      <p:sp>
        <p:nvSpPr>
          <p:cNvPr id="13" name="Text 11"/>
          <p:cNvSpPr txBox="1"/>
          <p:nvPr/>
        </p:nvSpPr>
        <p:spPr>
          <a:xfrm>
            <a:off x="3666744"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3〜6ヶ月</a:t>
            </a:r>
            <a:endParaRPr lang="en-US" sz="2000" dirty="0"/>
          </a:p>
        </p:txBody>
      </p:sp>
      <p:sp>
        <p:nvSpPr>
          <p:cNvPr id="14" name="Text 12"/>
          <p:cNvSpPr txBox="1"/>
          <p:nvPr/>
        </p:nvSpPr>
        <p:spPr>
          <a:xfrm>
            <a:off x="3666744"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100万プランで開始</a:t>
            </a:r>
            <a:endParaRPr lang="en-US" sz="1350" dirty="0"/>
          </a:p>
        </p:txBody>
      </p:sp>
      <p:sp>
        <p:nvSpPr>
          <p:cNvPr id="15" name="Text 13"/>
          <p:cNvSpPr txBox="1"/>
          <p:nvPr/>
        </p:nvSpPr>
        <p:spPr>
          <a:xfrm>
            <a:off x="3666744"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マイル台帳をマイページに実装</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年次リバランスの運用設計</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既存顧客への移行案内</a:t>
            </a:r>
            <a:endParaRPr lang="en-US" sz="1200" dirty="0"/>
          </a:p>
        </p:txBody>
      </p:sp>
      <p:sp>
        <p:nvSpPr>
          <p:cNvPr id="16" name="Shape 14"/>
          <p:cNvSpPr/>
          <p:nvPr/>
        </p:nvSpPr>
        <p:spPr>
          <a:xfrm>
            <a:off x="6254496" y="1691640"/>
            <a:ext cx="2624328" cy="3611880"/>
          </a:xfrm>
          <a:prstGeom prst="roundRect">
            <a:avLst>
              <a:gd name="adj" fmla="val 2091"/>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6510528"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2</a:t>
            </a:r>
            <a:endParaRPr lang="en-US" sz="1050" dirty="0"/>
          </a:p>
        </p:txBody>
      </p:sp>
      <p:sp>
        <p:nvSpPr>
          <p:cNvPr id="18" name="Text 16"/>
          <p:cNvSpPr txBox="1"/>
          <p:nvPr/>
        </p:nvSpPr>
        <p:spPr>
          <a:xfrm>
            <a:off x="6510528"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6〜12ヶ月</a:t>
            </a:r>
            <a:endParaRPr lang="en-US" sz="2000" dirty="0"/>
          </a:p>
        </p:txBody>
      </p:sp>
      <p:sp>
        <p:nvSpPr>
          <p:cNvPr id="19" name="Text 17"/>
          <p:cNvSpPr txBox="1"/>
          <p:nvPr/>
        </p:nvSpPr>
        <p:spPr>
          <a:xfrm>
            <a:off x="6510528"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経済圏に広げる</a:t>
            </a:r>
            <a:endParaRPr lang="en-US" sz="1350" dirty="0"/>
          </a:p>
        </p:txBody>
      </p:sp>
      <p:sp>
        <p:nvSpPr>
          <p:cNvPr id="20" name="Text 18"/>
          <p:cNvSpPr txBox="1"/>
          <p:nvPr/>
        </p:nvSpPr>
        <p:spPr>
          <a:xfrm>
            <a:off x="6510528"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SIGNATURE（1,000万）展開</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オークションでの限定マイル付与</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100本お預かりプラン開始</a:t>
            </a:r>
            <a:endParaRPr lang="en-US" sz="1200" dirty="0"/>
          </a:p>
        </p:txBody>
      </p:sp>
      <p:sp>
        <p:nvSpPr>
          <p:cNvPr id="21" name="Shape 19"/>
          <p:cNvSpPr/>
          <p:nvPr/>
        </p:nvSpPr>
        <p:spPr>
          <a:xfrm>
            <a:off x="9098280" y="1691640"/>
            <a:ext cx="2624328" cy="3611880"/>
          </a:xfrm>
          <a:prstGeom prst="roundRect">
            <a:avLst>
              <a:gd name="adj" fmla="val 2091"/>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9354312"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3</a:t>
            </a:r>
            <a:endParaRPr lang="en-US" sz="1050" dirty="0"/>
          </a:p>
        </p:txBody>
      </p:sp>
      <p:sp>
        <p:nvSpPr>
          <p:cNvPr id="23" name="Text 21"/>
          <p:cNvSpPr txBox="1"/>
          <p:nvPr/>
        </p:nvSpPr>
        <p:spPr>
          <a:xfrm>
            <a:off x="9354312"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Year 2〜</a:t>
            </a:r>
            <a:endParaRPr lang="en-US" sz="2000" dirty="0"/>
          </a:p>
        </p:txBody>
      </p:sp>
      <p:sp>
        <p:nvSpPr>
          <p:cNvPr id="24" name="Text 22"/>
          <p:cNvSpPr txBox="1"/>
          <p:nvPr/>
        </p:nvSpPr>
        <p:spPr>
          <a:xfrm>
            <a:off x="9354312"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ST公募へ</a:t>
            </a:r>
            <a:endParaRPr lang="en-US" sz="1350" dirty="0"/>
          </a:p>
        </p:txBody>
      </p:sp>
      <p:sp>
        <p:nvSpPr>
          <p:cNvPr id="25" name="Text 23"/>
          <p:cNvSpPr txBox="1"/>
          <p:nvPr/>
        </p:nvSpPr>
        <p:spPr>
          <a:xfrm>
            <a:off x="9354312"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会員数と在庫回転率を実績に</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SBI証券へ再提案</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100億円のCloud Cave構想へ</a:t>
            </a:r>
            <a:endParaRPr lang="en-US" sz="1200" dirty="0"/>
          </a:p>
        </p:txBody>
      </p:sp>
      <p:sp>
        <p:nvSpPr>
          <p:cNvPr id="26" name="Shape 24"/>
          <p:cNvSpPr/>
          <p:nvPr/>
        </p:nvSpPr>
        <p:spPr>
          <a:xfrm>
            <a:off x="566928" y="5468112"/>
            <a:ext cx="11027664" cy="585216"/>
          </a:xfrm>
          <a:prstGeom prst="roundRect">
            <a:avLst>
              <a:gd name="adj" fmla="val 9375"/>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5605272"/>
            <a:ext cx="10204704" cy="310896"/>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先に決めるべきは、系列店との90%精算の合意です。ここが動くと、還元率もレートも全部動きます。</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NEXT ACTION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次に決めるべきこと</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この6つが決まれば、還元率とレート表は利益から逆算して確定できます。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645920"/>
            <a:ext cx="5394960" cy="292608"/>
          </a:xfrm>
          <a:prstGeom prst="rect">
            <a:avLst/>
          </a:prstGeom>
          <a:noFill/>
          <a:ln/>
        </p:spPr>
        <p:txBody>
          <a:bodyPr wrap="square" lIns="0" tIns="0" rIns="0" bIns="0" rtlCol="0" anchor="ctr"/>
          <a:lstStyle/>
          <a:p>
            <a:pPr indent="0" marL="0">
              <a:buNone/>
            </a:pPr>
            <a:r>
              <a:rPr lang="en-US" sz="1500" b="1" dirty="0">
                <a:solidFill>
                  <a:srgbClr val="C9A227"/>
                </a:solidFill>
                <a:latin typeface="Meiryo" pitchFamily="34" charset="0"/>
                <a:ea typeface="Meiryo" pitchFamily="34" charset="-122"/>
                <a:cs typeface="Meiryo" pitchFamily="34" charset="-120"/>
              </a:rPr>
              <a:t>経営判断が必要な3点</a:t>
            </a:r>
            <a:endParaRPr lang="en-US" sz="1500" dirty="0"/>
          </a:p>
        </p:txBody>
      </p:sp>
      <p:sp>
        <p:nvSpPr>
          <p:cNvPr id="7" name="Shape 5"/>
          <p:cNvSpPr/>
          <p:nvPr/>
        </p:nvSpPr>
        <p:spPr>
          <a:xfrm>
            <a:off x="566928" y="2029968"/>
            <a:ext cx="5394960" cy="1060704"/>
          </a:xfrm>
          <a:prstGeom prst="roundRect">
            <a:avLst>
              <a:gd name="adj" fmla="val 5172"/>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8" name="Shape 6"/>
          <p:cNvSpPr/>
          <p:nvPr/>
        </p:nvSpPr>
        <p:spPr>
          <a:xfrm>
            <a:off x="841248" y="2212848"/>
            <a:ext cx="329184" cy="329184"/>
          </a:xfrm>
          <a:prstGeom prst="ellipse">
            <a:avLst/>
          </a:prstGeom>
          <a:solidFill>
            <a:srgbClr val="C9A227"/>
          </a:solidFill>
          <a:ln w="12700">
            <a:solidFill>
              <a:srgbClr val="C9A227"/>
            </a:solidFill>
            <a:prstDash val="solid"/>
          </a:ln>
        </p:spPr>
      </p:sp>
      <p:sp>
        <p:nvSpPr>
          <p:cNvPr id="9" name="Text 7"/>
          <p:cNvSpPr txBox="1"/>
          <p:nvPr/>
        </p:nvSpPr>
        <p:spPr>
          <a:xfrm>
            <a:off x="841248" y="221284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1298448" y="223113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系列店との90%精算の合意</a:t>
            </a:r>
            <a:endParaRPr lang="en-US" sz="1350" dirty="0"/>
          </a:p>
        </p:txBody>
      </p:sp>
      <p:sp>
        <p:nvSpPr>
          <p:cNvPr id="11" name="Text 9"/>
          <p:cNvSpPr txBox="1"/>
          <p:nvPr/>
        </p:nvSpPr>
        <p:spPr>
          <a:xfrm>
            <a:off x="841248" y="257860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単体では系列店1.0の経路が赤字になります。連結で見る前提を経営として固める必要があります。</a:t>
            </a:r>
            <a:endParaRPr lang="en-US" sz="1050" dirty="0"/>
          </a:p>
        </p:txBody>
      </p:sp>
      <p:sp>
        <p:nvSpPr>
          <p:cNvPr id="12" name="Shape 10"/>
          <p:cNvSpPr/>
          <p:nvPr/>
        </p:nvSpPr>
        <p:spPr>
          <a:xfrm>
            <a:off x="566928" y="3218688"/>
            <a:ext cx="5394960" cy="1060704"/>
          </a:xfrm>
          <a:prstGeom prst="roundRect">
            <a:avLst>
              <a:gd name="adj" fmla="val 5172"/>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841248" y="3401568"/>
            <a:ext cx="329184" cy="329184"/>
          </a:xfrm>
          <a:prstGeom prst="ellipse">
            <a:avLst/>
          </a:prstGeom>
          <a:solidFill>
            <a:srgbClr val="C9A227"/>
          </a:solidFill>
          <a:ln w="12700">
            <a:solidFill>
              <a:srgbClr val="C9A227"/>
            </a:solidFill>
            <a:prstDash val="solid"/>
          </a:ln>
        </p:spPr>
      </p:sp>
      <p:sp>
        <p:nvSpPr>
          <p:cNvPr id="14" name="Text 12"/>
          <p:cNvSpPr txBox="1"/>
          <p:nvPr/>
        </p:nvSpPr>
        <p:spPr>
          <a:xfrm>
            <a:off x="841248" y="34015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1298448" y="341985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還元率の構造</a:t>
            </a:r>
            <a:endParaRPr lang="en-US" sz="1350" dirty="0"/>
          </a:p>
        </p:txBody>
      </p:sp>
      <p:sp>
        <p:nvSpPr>
          <p:cNvPr id="16" name="Text 14"/>
          <p:cNvSpPr txBox="1"/>
          <p:nvPr/>
        </p:nvSpPr>
        <p:spPr>
          <a:xfrm>
            <a:off x="841248" y="376732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フラット5%か、ランク別3/4/5%か。90%保証の前提では、レート0.56円以下でないと単体は黒字になりません。</a:t>
            </a:r>
            <a:endParaRPr lang="en-US" sz="1050" dirty="0"/>
          </a:p>
        </p:txBody>
      </p:sp>
      <p:sp>
        <p:nvSpPr>
          <p:cNvPr id="17" name="Shape 15"/>
          <p:cNvSpPr/>
          <p:nvPr/>
        </p:nvSpPr>
        <p:spPr>
          <a:xfrm>
            <a:off x="566928" y="4407408"/>
            <a:ext cx="5394960" cy="1060704"/>
          </a:xfrm>
          <a:prstGeom prst="roundRect">
            <a:avLst>
              <a:gd name="adj" fmla="val 5172"/>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8" name="Shape 16"/>
          <p:cNvSpPr/>
          <p:nvPr/>
        </p:nvSpPr>
        <p:spPr>
          <a:xfrm>
            <a:off x="841248" y="4590288"/>
            <a:ext cx="329184" cy="329184"/>
          </a:xfrm>
          <a:prstGeom prst="ellipse">
            <a:avLst/>
          </a:prstGeom>
          <a:solidFill>
            <a:srgbClr val="C9A227"/>
          </a:solidFill>
          <a:ln w="12700">
            <a:solidFill>
              <a:srgbClr val="C9A227"/>
            </a:solidFill>
            <a:prstDash val="solid"/>
          </a:ln>
        </p:spPr>
      </p:sp>
      <p:sp>
        <p:nvSpPr>
          <p:cNvPr id="19" name="Text 17"/>
          <p:cNvSpPr txBox="1"/>
          <p:nvPr/>
        </p:nvSpPr>
        <p:spPr>
          <a:xfrm>
            <a:off x="841248" y="459028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1298448" y="460857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系列店外・一般サービスの上限</a:t>
            </a:r>
            <a:endParaRPr lang="en-US" sz="1350" dirty="0"/>
          </a:p>
        </p:txBody>
      </p:sp>
      <p:sp>
        <p:nvSpPr>
          <p:cNvPr id="21" name="Text 19"/>
          <p:cNvSpPr txBox="1"/>
          <p:nvPr/>
        </p:nvSpPr>
        <p:spPr>
          <a:xfrm>
            <a:off x="841248" y="495604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真水の現金流出です。レート0.5〜0.75に加え、年間付与マイルに対する上限が要ります。</a:t>
            </a:r>
            <a:endParaRPr lang="en-US" sz="1050" dirty="0"/>
          </a:p>
        </p:txBody>
      </p:sp>
      <p:sp>
        <p:nvSpPr>
          <p:cNvPr id="22" name="Text 20"/>
          <p:cNvSpPr txBox="1"/>
          <p:nvPr/>
        </p:nvSpPr>
        <p:spPr>
          <a:xfrm>
            <a:off x="6199632" y="1645920"/>
            <a:ext cx="5394960" cy="292608"/>
          </a:xfrm>
          <a:prstGeom prst="rect">
            <a:avLst/>
          </a:prstGeom>
          <a:noFill/>
          <a:ln/>
        </p:spPr>
        <p:txBody>
          <a:bodyPr wrap="square" lIns="0" tIns="0" rIns="0" bIns="0" rtlCol="0" anchor="ctr"/>
          <a:lstStyle/>
          <a:p>
            <a:pPr indent="0" marL="0">
              <a:buNone/>
            </a:pPr>
            <a:r>
              <a:rPr lang="en-US" sz="1500" b="1" dirty="0">
                <a:solidFill>
                  <a:srgbClr val="C9A227"/>
                </a:solidFill>
                <a:latin typeface="Meiryo" pitchFamily="34" charset="0"/>
                <a:ea typeface="Meiryo" pitchFamily="34" charset="-122"/>
                <a:cs typeface="Meiryo" pitchFamily="34" charset="-120"/>
              </a:rPr>
              <a:t>確認・提供いただきたい3点</a:t>
            </a:r>
            <a:endParaRPr lang="en-US" sz="1500" dirty="0"/>
          </a:p>
        </p:txBody>
      </p:sp>
      <p:sp>
        <p:nvSpPr>
          <p:cNvPr id="23" name="Shape 21"/>
          <p:cNvSpPr/>
          <p:nvPr/>
        </p:nvSpPr>
        <p:spPr>
          <a:xfrm>
            <a:off x="6199632" y="2029968"/>
            <a:ext cx="5394960"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4" name="Shape 22"/>
          <p:cNvSpPr/>
          <p:nvPr/>
        </p:nvSpPr>
        <p:spPr>
          <a:xfrm>
            <a:off x="6473952" y="2212848"/>
            <a:ext cx="329184" cy="329184"/>
          </a:xfrm>
          <a:prstGeom prst="ellipse">
            <a:avLst/>
          </a:prstGeom>
          <a:solidFill>
            <a:srgbClr val="C9A227"/>
          </a:solidFill>
          <a:ln w="12700">
            <a:solidFill>
              <a:srgbClr val="C9A227"/>
            </a:solidFill>
            <a:prstDash val="solid"/>
          </a:ln>
        </p:spPr>
      </p:sp>
      <p:sp>
        <p:nvSpPr>
          <p:cNvPr id="25" name="Text 23"/>
          <p:cNvSpPr txBox="1"/>
          <p:nvPr/>
        </p:nvSpPr>
        <p:spPr>
          <a:xfrm>
            <a:off x="6473952" y="221284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26" name="Text 24"/>
          <p:cNvSpPr txBox="1"/>
          <p:nvPr/>
        </p:nvSpPr>
        <p:spPr>
          <a:xfrm>
            <a:off x="6931152" y="223113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WineBank CLUBの実数</a:t>
            </a:r>
            <a:endParaRPr lang="en-US" sz="1350" dirty="0"/>
          </a:p>
        </p:txBody>
      </p:sp>
      <p:sp>
        <p:nvSpPr>
          <p:cNvPr id="27" name="Text 25"/>
          <p:cNvSpPr txBox="1"/>
          <p:nvPr/>
        </p:nvSpPr>
        <p:spPr>
          <a:xfrm>
            <a:off x="6473952" y="257860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ランク別の年会費・特典・提携店数。BLACKの特典内容がSIGNATUREの購買動機を決めます。</a:t>
            </a:r>
            <a:endParaRPr lang="en-US" sz="1050" dirty="0"/>
          </a:p>
        </p:txBody>
      </p:sp>
      <p:sp>
        <p:nvSpPr>
          <p:cNvPr id="28" name="Shape 26"/>
          <p:cNvSpPr/>
          <p:nvPr/>
        </p:nvSpPr>
        <p:spPr>
          <a:xfrm>
            <a:off x="6199632" y="3218688"/>
            <a:ext cx="5394960"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9" name="Shape 27"/>
          <p:cNvSpPr/>
          <p:nvPr/>
        </p:nvSpPr>
        <p:spPr>
          <a:xfrm>
            <a:off x="6473952" y="3401568"/>
            <a:ext cx="329184" cy="329184"/>
          </a:xfrm>
          <a:prstGeom prst="ellipse">
            <a:avLst/>
          </a:prstGeom>
          <a:solidFill>
            <a:srgbClr val="C9A227"/>
          </a:solidFill>
          <a:ln w="12700">
            <a:solidFill>
              <a:srgbClr val="C9A227"/>
            </a:solidFill>
            <a:prstDash val="solid"/>
          </a:ln>
        </p:spPr>
      </p:sp>
      <p:sp>
        <p:nvSpPr>
          <p:cNvPr id="30" name="Text 28"/>
          <p:cNvSpPr txBox="1"/>
          <p:nvPr/>
        </p:nvSpPr>
        <p:spPr>
          <a:xfrm>
            <a:off x="6473952" y="34015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31" name="Text 29"/>
          <p:cNvSpPr txBox="1"/>
          <p:nvPr/>
        </p:nvSpPr>
        <p:spPr>
          <a:xfrm>
            <a:off x="6931152" y="341985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ワイナート年間購読の実額</a:t>
            </a:r>
            <a:endParaRPr lang="en-US" sz="1350" dirty="0"/>
          </a:p>
        </p:txBody>
      </p:sp>
      <p:sp>
        <p:nvSpPr>
          <p:cNvPr id="32" name="Text 30"/>
          <p:cNvSpPr txBox="1"/>
          <p:nvPr/>
        </p:nvSpPr>
        <p:spPr>
          <a:xfrm>
            <a:off x="6473952" y="376732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交換先の原価計算に必要です。</a:t>
            </a:r>
            <a:endParaRPr lang="en-US" sz="1050" dirty="0"/>
          </a:p>
        </p:txBody>
      </p:sp>
      <p:sp>
        <p:nvSpPr>
          <p:cNvPr id="33" name="Shape 31"/>
          <p:cNvSpPr/>
          <p:nvPr/>
        </p:nvSpPr>
        <p:spPr>
          <a:xfrm>
            <a:off x="6199632" y="4407408"/>
            <a:ext cx="5394960"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34" name="Shape 32"/>
          <p:cNvSpPr/>
          <p:nvPr/>
        </p:nvSpPr>
        <p:spPr>
          <a:xfrm>
            <a:off x="6473952" y="4590288"/>
            <a:ext cx="329184" cy="329184"/>
          </a:xfrm>
          <a:prstGeom prst="ellipse">
            <a:avLst/>
          </a:prstGeom>
          <a:solidFill>
            <a:srgbClr val="C9A227"/>
          </a:solidFill>
          <a:ln w="12700">
            <a:solidFill>
              <a:srgbClr val="C9A227"/>
            </a:solidFill>
            <a:prstDash val="solid"/>
          </a:ln>
        </p:spPr>
      </p:sp>
      <p:sp>
        <p:nvSpPr>
          <p:cNvPr id="35" name="Text 33"/>
          <p:cNvSpPr txBox="1"/>
          <p:nvPr/>
        </p:nvSpPr>
        <p:spPr>
          <a:xfrm>
            <a:off x="6473952" y="459028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36" name="Text 34"/>
          <p:cNvSpPr txBox="1"/>
          <p:nvPr/>
        </p:nvSpPr>
        <p:spPr>
          <a:xfrm>
            <a:off x="6931152" y="460857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弁護士・税理士への確認</a:t>
            </a:r>
            <a:endParaRPr lang="en-US" sz="1350" dirty="0"/>
          </a:p>
        </p:txBody>
      </p:sp>
      <p:sp>
        <p:nvSpPr>
          <p:cNvPr id="37" name="Text 35"/>
          <p:cNvSpPr txBox="1"/>
          <p:nvPr/>
        </p:nvSpPr>
        <p:spPr>
          <a:xfrm>
            <a:off x="6473952" y="495604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①賃貸借＋AM契約が出資法・金商法の枠外にあること ②マイルの無償付与としての整理と課税 ③古物競りあっせん業者の届出要否</a:t>
            </a:r>
            <a:endParaRPr lang="en-US" sz="1050" dirty="0"/>
          </a:p>
        </p:txBody>
      </p:sp>
      <p:sp>
        <p:nvSpPr>
          <p:cNvPr id="38" name="Shape 36"/>
          <p:cNvSpPr/>
          <p:nvPr/>
        </p:nvSpPr>
        <p:spPr>
          <a:xfrm>
            <a:off x="566928" y="5614416"/>
            <a:ext cx="11027664" cy="566928"/>
          </a:xfrm>
          <a:prstGeom prst="roundRect">
            <a:avLst>
              <a:gd name="adj" fmla="val 967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9" name="Text 37"/>
          <p:cNvSpPr txBox="1"/>
          <p:nvPr/>
        </p:nvSpPr>
        <p:spPr>
          <a:xfrm>
            <a:off x="978408" y="5742432"/>
            <a:ext cx="10204704" cy="329184"/>
          </a:xfrm>
          <a:prstGeom prst="rect">
            <a:avLst/>
          </a:prstGeom>
          <a:noFill/>
          <a:ln/>
        </p:spPr>
        <p:txBody>
          <a:bodyPr wrap="square" lIns="0" tIns="0" rIns="0" bIns="0" rtlCol="0" anchor="ctr"/>
          <a:lstStyle/>
          <a:p>
            <a:pPr algn="ctr" indent="0" marL="0">
              <a:buNone/>
            </a:pPr>
            <a:r>
              <a:rPr lang="en-US" sz="1500" b="1" dirty="0">
                <a:solidFill>
                  <a:srgbClr val="E8CE78"/>
                </a:solidFill>
                <a:latin typeface="Meiryo" pitchFamily="34" charset="0"/>
                <a:ea typeface="Meiryo" pitchFamily="34" charset="-122"/>
                <a:cs typeface="Meiryo" pitchFamily="34" charset="-120"/>
              </a:rPr>
              <a:t>ワインで、ライフスタイルを豊かにする。マイルは、その手段です。</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ワインマイル経済圏構想</dc:title>
  <dc:subject>PptxGenJS Presentation</dc:subject>
  <dc:creator>WineBank</dc:creator>
  <cp:lastModifiedBy>WineBank</cp:lastModifiedBy>
  <cp:revision>1</cp:revision>
  <dcterms:created xsi:type="dcterms:W3CDTF">2026-08-31T06:25:54Z</dcterms:created>
  <dcterms:modified xsi:type="dcterms:W3CDTF">2026-08-31T06:25:54Z</dcterms:modified>
</cp:coreProperties>
</file>