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すべて単体ベース。マイル原価率51.1%（オークション30%・CLUB10%・スクール80%を織り込み後）。粗利30%とマイル原価率が最大の変数。ストック現金は▲18万/年で、利益はワイン販売粗利と成功報酬に乗っ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レートカード（管理料2.75%統一・還元率4/5/6%・成功報酬30%一律）。ストック単体の現金は▲18万/年で、黒字化には発行1マイル原価を47.3%まで下げる必要がある（現状51.1%）。利益はワイン販売粗利3,000万と成功報酬に乗っ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8/31 MTG決定事項：①コミュニティ通貨モデルの採用 ②3〜6ヶ月の有効期限 ③会員向け交流イベントの追加。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年9月20日の岩田合同法律事務所の回答により、マイルは管理料に対するおまけ（無償発行）として整理し、前払式支払手段の対価性要件を満たさないことを確認済み。当初検討していたマスターリース（動産賃貸借）は締結しない。賃料としてマイルを発行すると対価性が生じるため、賃貸借を置かないこと自体が最も安全な設計になる。売買契約は利用規約への同意により成立し、管理手数料の対価も規約に記載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発行1マイル原価51.1%＝利用時の加重平均56.8%×最終利用率90%。損益分岐47.3%に対し3.8ポイント超過しており、ストック単体の現金は1億あたり年▲18万。90%保証は直営店への送客投資であり、連結では相殺される。誘導先の構成比を動かすことが、この事業で最も効くレバ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ただし消費者契約法10条により、事前告知なく一方的に失効させる条項は無効となり得るため、失効の30日前予告を規約とシステムの両方に組み込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月8,800円＝年約10.6万円。GOLD 月22,000円＝年26.4万円。SIGNATUREへのSTANDARD無料付与は年10.6万円相当の原価。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岩田合同法律事務所（大櫛・関口・國本）2026年9月20日クリーンオピニオン。／通常マイルの有効期限は1年とするため、資金決済法4条2号の適用外。無償付与という第1の安全弁のみに依存する。仮に該当と評価された場合、基準日の未使用残高が1,000万円を超えると届出・供託が生じるが、その水準に達するのは預かり資産およそ3.9億円から。／有償でのマイル販売は本意見書の照会対象外。ただし有効期限を6ヶ月以内にすれば4条2号により各種義務は生じないため、実装する場合はその設計を前提に別途照会する。／残る宿題は成果報酬契約の文言と、無償付与マイルの課税整理（税理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提：管理料2.75%を月払い、マイル（4/5/6%）を年一括付与、発行1マイルの当社原価0.511円。購入ワインの場合、100万円販売の粗利30万円からストック損1.8万円を差し引いても当社は+28万円。持込ワインは販売粗利がないため純損となり、預け直すたびに繰り返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の月割後付与は、マイル台帳（mile_lots）がロット単位で有効期限を持つ設計のため、システム上は月次で付与ロットを1本立てるだけで実装できる。現行の年次還元（grantAnnualReward）を月次バッチに置き換える。購入時に一括でマイルを付与する場合（本マイル①）は、同じ裁定が残るため、購入時付与は販売粗利の範囲に収まる小さな額に留めるか、廃止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A1：値下がり時は成功報酬が発生しないため、会員の年間収支は マイル − 管理料 − 下落額。額面で4%−2.75%=+1.25%のため、年1.25%までの下落なら差し引きゼロ。A2：オークションは売り手手数料0%・買い手手数料10%のため、買い手の支払総額が市場価格に並ぶとき、落札価格は約91%。100万会員の年間収支（6%上昇）は額面5.45%／実利用4.69%なので、9.1%の目減りを取り戻すのに1.7〜1.9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項目すべてを広告に載せる必要はない。規約・重要事項説明書で網羅し、広告には次のスライドの4項目を出す。C10は弁護士意見書が明示的に求めた「制限の内容等を正確に記載」に直結するため、交換画面でも選択前にレートを表示する。E17は税理士の確認前に断定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広告運用上「デメリットがない」ことが怪しく見えるという中谷氏の指摘への回答。4項目はいずれも事実であり、かつ3番は設計上のメリットに直結する。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E14"/>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BUSINESS CASE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数字で見ると：同じキャッシュで、ワインは2.5倍</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WineBank単体ベース。ワイン1億円／値上がり6%（単利）・金利3%・保管料210円/本・粗利30%</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販売ミックス：100万×55名 ＋ 500万×5名 ＋ 1,000万×2名 ＝ 1億円　／　管理料 2.75%（全ランク）　還元率 4/5/6%　マイル発行 465万円（原価率51.1%）　※単位：万円</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3017520"/>
                <a:gridCol w="2468880"/>
                <a:gridCol w="3200400"/>
                <a:gridCol w="2340864"/>
              </a:tblGrid>
              <a:tr h="384048">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1億を保有し続ける</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1億を販売＋1.2億を新規買付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PL（営業損益）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+2,464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+2,869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新規買付前のCF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+9,464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+9,869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純CF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▲536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E0A458"/>
                          </a:solidFill>
                          <a:latin typeface="Meiryo" pitchFamily="34" charset="0"/>
                          <a:ea typeface="Meiryo" pitchFamily="34" charset="-122"/>
                          <a:cs typeface="Meiryo" pitchFamily="34" charset="-120"/>
                        </a:rPr>
                        <a:t>▲131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ワイン在庫（簿価）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預かり資産（会員所有）</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20624">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支配下のワイン総額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700016"/>
            <a:ext cx="5394960" cy="1353312"/>
          </a:xfrm>
          <a:prstGeom prst="roundRect">
            <a:avLst>
              <a:gd name="adj" fmla="val 405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純CFはほぼ同じ。なのに、ワインは2.5倍。</a:t>
            </a:r>
            <a:endParaRPr lang="en-US" sz="1500" dirty="0"/>
          </a:p>
        </p:txBody>
      </p:sp>
      <p:sp>
        <p:nvSpPr>
          <p:cNvPr id="10" name="Text 7"/>
          <p:cNvSpPr txBox="1"/>
          <p:nvPr/>
        </p:nvSpPr>
        <p:spPr>
          <a:xfrm>
            <a:off x="932688"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▲405万と▲536万。差は131万円です。同じだけ現金を使って、セラーのワインは1億から2億5,000万へ。しかもうち1億は、会員のお金で買われたワインです。</a:t>
            </a:r>
            <a:endParaRPr lang="en-US" sz="1050" dirty="0"/>
          </a:p>
        </p:txBody>
      </p:sp>
      <p:sp>
        <p:nvSpPr>
          <p:cNvPr id="11" name="Shape 8"/>
          <p:cNvSpPr/>
          <p:nvPr/>
        </p:nvSpPr>
        <p:spPr>
          <a:xfrm>
            <a:off x="6199632" y="4700016"/>
            <a:ext cx="5394960" cy="1353312"/>
          </a:xfrm>
          <a:prstGeom prst="roundRect">
            <a:avLst>
              <a:gd name="adj" fmla="val 405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同じ1億が、コストから収益に変わる。</a:t>
            </a:r>
            <a:endParaRPr lang="en-US" sz="1500" dirty="0"/>
          </a:p>
        </p:txBody>
      </p:sp>
      <p:sp>
        <p:nvSpPr>
          <p:cNvPr id="13" name="Text 10"/>
          <p:cNvSpPr txBox="1"/>
          <p:nvPr/>
        </p:nvSpPr>
        <p:spPr>
          <a:xfrm>
            <a:off x="6565392"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自社で持つと 年▲405万（金利300＋保管105）。会員に持たせて預かると 年▲18万（手数料275−保管105−マイル238＋オークション50）。成功報酬180万を含めれば +162万。同じワインで年567万ひっくり返ります。</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ACCUMULATION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「手出しは、増え続けないか」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単発の試算で黒字でも、マイルの支払いが年々膨らんで食い潰すのではないか——ご指摘への回答です。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毎年1億円ずつ販売を続けた場合。単体ベース、還元率4/5/6%、マイル原価率51.1%。　※単位：万円</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822960"/>
                <a:gridCol w="1554480"/>
                <a:gridCol w="1188720"/>
                <a:gridCol w="1554480"/>
                <a:gridCol w="1463040"/>
                <a:gridCol w="1463040"/>
                <a:gridCol w="1371600"/>
                <a:gridCol w="1609344"/>
              </a:tblGrid>
              <a:tr h="45720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預かり資産</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粗利</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手数料−保管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マイル費用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オーク</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（発生）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年間計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▲238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+180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+3,162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▲713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+540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+3,487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▲1,189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+900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+3,811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38912">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▲2,378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8CE78"/>
                          </a:solidFill>
                          <a:latin typeface="Meiryo" pitchFamily="34" charset="0"/>
                          <a:ea typeface="Meiryo" pitchFamily="34" charset="-122"/>
                          <a:cs typeface="Meiryo" pitchFamily="34" charset="-120"/>
                        </a:rPr>
                        <a:t>+1,800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+4,622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133088"/>
            <a:ext cx="5394960" cy="1115568"/>
          </a:xfrm>
          <a:prstGeom prst="roundRect">
            <a:avLst>
              <a:gd name="adj" fmla="val 491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手数料だけでは足りない。だから3つで支えます。</a:t>
            </a:r>
            <a:endParaRPr lang="en-US" sz="1500" dirty="0"/>
          </a:p>
        </p:txBody>
      </p:sp>
      <p:sp>
        <p:nvSpPr>
          <p:cNvPr id="10" name="Text 7"/>
          <p:cNvSpPr txBox="1"/>
          <p:nvPr/>
        </p:nvSpPr>
        <p:spPr>
          <a:xfrm>
            <a:off x="932688"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手数料2.75%から保管1.05%（鈴与実額210円/本）を引くと残りは1.70%。マイル2.38%はこれを超えます。差を埋めるのがオークション手数料0.5%と、値上がり益30%（年1.8%相当）です。</a:t>
            </a:r>
            <a:endParaRPr lang="en-US" sz="1050" dirty="0"/>
          </a:p>
        </p:txBody>
      </p:sp>
      <p:sp>
        <p:nvSpPr>
          <p:cNvPr id="11" name="Shape 8"/>
          <p:cNvSpPr/>
          <p:nvPr/>
        </p:nvSpPr>
        <p:spPr>
          <a:xfrm>
            <a:off x="6199632" y="4133088"/>
            <a:ext cx="5394960" cy="1115568"/>
          </a:xfrm>
          <a:prstGeom prst="roundRect">
            <a:avLst>
              <a:gd name="adj" fmla="val 49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すべて預かり資産に比例するので、比は変わりません。</a:t>
            </a:r>
            <a:endParaRPr lang="en-US" sz="1500" dirty="0"/>
          </a:p>
        </p:txBody>
      </p:sp>
      <p:sp>
        <p:nvSpPr>
          <p:cNvPr id="13" name="Text 10"/>
          <p:cNvSpPr txBox="1"/>
          <p:nvPr/>
        </p:nvSpPr>
        <p:spPr>
          <a:xfrm>
            <a:off x="6565392"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手数料2.75%・保管1.05%・マイル2.38%・オークション0.5%・成功報酬1.8%。全部が定率なので、規模が何倍になっても差引1.62%は動きません。手出しが収入を追い越す構造ではありません。</a:t>
            </a:r>
            <a:endParaRPr lang="en-US" sz="1050" dirty="0"/>
          </a:p>
        </p:txBody>
      </p:sp>
      <p:sp>
        <p:nvSpPr>
          <p:cNvPr id="14" name="Shape 11"/>
          <p:cNvSpPr/>
          <p:nvPr/>
        </p:nvSpPr>
        <p:spPr>
          <a:xfrm>
            <a:off x="566928" y="5394960"/>
            <a:ext cx="11027664" cy="658368"/>
          </a:xfrm>
          <a:prstGeom prst="roundRect">
            <a:avLst>
              <a:gd name="adj" fmla="val 8333"/>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2"/>
          <p:cNvSpPr txBox="1"/>
          <p:nvPr/>
        </p:nvSpPr>
        <p:spPr>
          <a:xfrm>
            <a:off x="978408" y="5559552"/>
            <a:ext cx="10204704" cy="365760"/>
          </a:xfrm>
          <a:prstGeom prst="rect">
            <a:avLst/>
          </a:prstGeom>
          <a:noFill/>
          <a:ln/>
        </p:spPr>
        <p:txBody>
          <a:bodyPr wrap="square" lIns="0" tIns="0" rIns="0" bIns="0" rtlCol="0" anchor="ctr"/>
          <a:lstStyle/>
          <a:p>
            <a:pPr indent="0" marL="0">
              <a:buNone/>
            </a:pPr>
            <a:r>
              <a:rPr lang="en-US" sz="1350" b="1" dirty="0">
                <a:solidFill>
                  <a:srgbClr val="E0A458"/>
                </a:solidFill>
                <a:latin typeface="Meiryo" pitchFamily="34" charset="0"/>
                <a:ea typeface="Meiryo" pitchFamily="34" charset="-122"/>
                <a:cs typeface="Meiryo" pitchFamily="34" charset="-120"/>
              </a:rPr>
              <a:t>現金ベースは年▲18万。成功報酬180万を含めて+162万。ただし成功報酬は出口までキャッシュになりません。</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COMMUNITY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コミュニティは、通貨だけでは育たない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8/31 MTGでの決定事項。マイルに「集まる理由」と「貯める楽しさ」を足します。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交流イベントを標準装備</a:t>
            </a:r>
            <a:endParaRPr lang="en-US" sz="1450" dirty="0"/>
          </a:p>
        </p:txBody>
      </p:sp>
      <p:sp>
        <p:nvSpPr>
          <p:cNvPr id="10" name="Text 8"/>
          <p:cNvSpPr txBox="1"/>
          <p:nvPr/>
        </p:nvSpPr>
        <p:spPr>
          <a:xfrm>
            <a:off x="859536"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オークション開催に合わせて交流会を開く。クレジットカードの特典と同じ発想です。ワイン関連企業を巻き込めば低コストで回り、会員同士の横のつながりが継続率を押し上げます。</a:t>
            </a:r>
            <a:endParaRPr lang="en-US" sz="1100" dirty="0"/>
          </a:p>
        </p:txBody>
      </p:sp>
      <p:sp>
        <p:nvSpPr>
          <p:cNvPr id="11" name="Shape 9"/>
          <p:cNvSpPr/>
          <p:nvPr/>
        </p:nvSpPr>
        <p:spPr>
          <a:xfrm>
            <a:off x="6199632" y="1664208"/>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ワインスクールにも使える</a:t>
            </a:r>
            <a:endParaRPr lang="en-US" sz="1450" dirty="0"/>
          </a:p>
        </p:txBody>
      </p:sp>
      <p:sp>
        <p:nvSpPr>
          <p:cNvPr id="15" name="Text 13"/>
          <p:cNvSpPr txBox="1"/>
          <p:nvPr/>
        </p:nvSpPr>
        <p:spPr>
          <a:xfrm>
            <a:off x="6492240"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買う・飲むだけでなく、学ぶにも使える。使い道が増えるほど経済圏に留まる理由が増え、入会のハードルは下がります。</a:t>
            </a:r>
            <a:endParaRPr lang="en-US" sz="1100" dirty="0"/>
          </a:p>
        </p:txBody>
      </p:sp>
      <p:sp>
        <p:nvSpPr>
          <p:cNvPr id="16" name="Shape 14"/>
          <p:cNvSpPr/>
          <p:nvPr/>
        </p:nvSpPr>
        <p:spPr>
          <a:xfrm>
            <a:off x="566928" y="3346704"/>
            <a:ext cx="5394960" cy="1481328"/>
          </a:xfrm>
          <a:prstGeom prst="roundRect">
            <a:avLst>
              <a:gd name="adj" fmla="val 370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66160"/>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6616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貯めるプロセス自体を楽しませる</a:t>
            </a:r>
            <a:endParaRPr lang="en-US" sz="1450" dirty="0"/>
          </a:p>
        </p:txBody>
      </p:sp>
      <p:sp>
        <p:nvSpPr>
          <p:cNvPr id="20" name="Text 18"/>
          <p:cNvSpPr txBox="1"/>
          <p:nvPr/>
        </p:nvSpPr>
        <p:spPr>
          <a:xfrm>
            <a:off x="859536"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使うたびに貯まり、ランクが上がる。「上位にいることが賢い選択だ」と会員自身が感じる設計にします。修行のように貯める行為そのものが体験になります。</a:t>
            </a:r>
            <a:endParaRPr lang="en-US" sz="1100" dirty="0"/>
          </a:p>
        </p:txBody>
      </p:sp>
      <p:sp>
        <p:nvSpPr>
          <p:cNvPr id="21" name="Shape 19"/>
          <p:cNvSpPr/>
          <p:nvPr/>
        </p:nvSpPr>
        <p:spPr>
          <a:xfrm>
            <a:off x="6199632" y="3346704"/>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66160"/>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6616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期限が、次の行動を呼ぶ</a:t>
            </a:r>
            <a:endParaRPr lang="en-US" sz="1450" dirty="0"/>
          </a:p>
        </p:txBody>
      </p:sp>
      <p:sp>
        <p:nvSpPr>
          <p:cNvPr id="25" name="Text 23"/>
          <p:cNvSpPr txBox="1"/>
          <p:nvPr/>
        </p:nvSpPr>
        <p:spPr>
          <a:xfrm>
            <a:off x="6492240"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限定マイルは3〜6ヶ月。消費とオークション参加を継続的に促します。残高が減っても、行動すればまた増える。</a:t>
            </a:r>
            <a:endParaRPr lang="en-US" sz="1100" dirty="0"/>
          </a:p>
        </p:txBody>
      </p:sp>
      <p:sp>
        <p:nvSpPr>
          <p:cNvPr id="26" name="Shape 24"/>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266944"/>
            <a:ext cx="10204704" cy="365760"/>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投資の話をやめて、ワインのある暮らしの話をする。</a:t>
            </a:r>
            <a:endParaRPr lang="en-US" sz="1900" dirty="0"/>
          </a:p>
        </p:txBody>
      </p:sp>
      <p:sp>
        <p:nvSpPr>
          <p:cNvPr id="28" name="Text 26"/>
          <p:cNvSpPr txBox="1"/>
          <p:nvPr/>
        </p:nvSpPr>
        <p:spPr>
          <a:xfrm>
            <a:off x="978408" y="5669280"/>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「夢のある見せ方」が、入会のハードルを下げ、長期の関係をつくります。マイルはその共通言語にすぎません。</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契約は2本立て：売買・管理 ＋ 成功報酬</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賃貸借は使いません。所有権は会員のまま、当社は管理を担い、値上がりの一部を成功報酬で受け取ります。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売買 ＋ 管理（利用規約）</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管理手数料：2.75%（全ランク）</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利用規約への同意で売買契約が成立する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デジタルでの資産価値提供・倉庫アレンジ・保険付保の対価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マイルはこの管理料に対するおまけ（無償）</a:t>
            </a:r>
            <a:endParaRPr lang="en-US" sz="1150" dirty="0"/>
          </a:p>
        </p:txBody>
      </p:sp>
      <p:sp>
        <p:nvSpPr>
          <p:cNvPr id="10" name="Shape 8"/>
          <p:cNvSpPr/>
          <p:nvPr/>
        </p:nvSpPr>
        <p:spPr>
          <a:xfrm>
            <a:off x="6199632" y="1627632"/>
            <a:ext cx="5394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成功報酬：値上がり分の30%</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賃貸借契約は締結しません。所有権は会員のまま、当社は保管・保険・真正性管理と、売却時の成功報酬を担います。</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買戻し保証を付けると経済価値が移転せず、100万円を売上計上できません。成功報酬型ならこの論点は生じません。</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マイルは管理料に対するおまけです。値上がりの70%は会員のもの。</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▲27,500円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年率2.75%。保管料・保険料を含む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40,000マイル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年率4%（PRESTIGE）。会食・贈答・イベント・オークション・スクールに使える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会員は2.5万円払って、3.5万円分を受け取る。差額の1万円を「貯金」していると考える。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上位ランクは5%・6%。さらに値上がり分の70%も会員のものとして残ります。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マイル原価は「どこで使われるか」で決まる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WineBank単体ベース。直営店へはマイル額面×レート×90%を保証。額面100に対する当社コストで示します。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27664" cy="914400"/>
        </p:xfrm>
        <a:graphic>
          <a:graphicData uri="http://schemas.openxmlformats.org/drawingml/2006/table">
            <a:tbl>
              <a:tblPr/>
              <a:tblGrid>
                <a:gridCol w="3383280"/>
                <a:gridCol w="1371600"/>
                <a:gridCol w="2011680"/>
                <a:gridCol w="2651760"/>
                <a:gridCol w="1609344"/>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連結コスト（参考）</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方針</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グループ直営飲食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90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最優先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オークション参加</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優先誘導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上限管理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10896">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ワイン追加購入</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4645152"/>
            <a:ext cx="11027664" cy="219456"/>
          </a:xfrm>
          <a:prstGeom prst="rect">
            <a:avLst/>
          </a:prstGeom>
          <a:noFill/>
          <a:ln/>
        </p:spPr>
        <p:txBody>
          <a:bodyPr wrap="square" lIns="0" tIns="0" rIns="0" bIns="0" rtlCol="0" anchor="ctr"/>
          <a:lstStyle/>
          <a:p>
            <a:pPr indent="0" marL="0">
              <a:buNone/>
            </a:pPr>
            <a:r>
              <a:rPr lang="en-US" sz="950" dirty="0">
                <a:solidFill>
                  <a:srgbClr val="C9A227"/>
                </a:solidFill>
                <a:latin typeface="Meiryo" pitchFamily="34" charset="0"/>
                <a:ea typeface="Meiryo" pitchFamily="34" charset="-122"/>
                <a:cs typeface="Meiryo" pitchFamily="34" charset="-120"/>
              </a:rPr>
              <a:t>想定ミックス（利用マイル内・%）：直営27.8／グランメゾン20.0／CLUB13.3／オークション13.3／スクール10.0／イベント7.0／ワイナート3.0／追加購入5.6　→　発行ベース51.1%</a:t>
            </a:r>
            <a:endParaRPr lang="en-US" sz="950" dirty="0"/>
          </a:p>
        </p:txBody>
      </p:sp>
      <p:sp>
        <p:nvSpPr>
          <p:cNvPr id="8" name="Shape 5"/>
          <p:cNvSpPr/>
          <p:nvPr/>
        </p:nvSpPr>
        <p:spPr>
          <a:xfrm>
            <a:off x="566928" y="4956048"/>
            <a:ext cx="5394960" cy="1097280"/>
          </a:xfrm>
          <a:prstGeom prst="roundRect">
            <a:avLst>
              <a:gd name="adj" fmla="val 50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5065776"/>
            <a:ext cx="4663440" cy="292608"/>
          </a:xfrm>
          <a:prstGeom prst="rect">
            <a:avLst/>
          </a:prstGeom>
          <a:noFill/>
          <a:ln/>
        </p:spPr>
        <p:txBody>
          <a:bodyPr wrap="square" lIns="0" tIns="0" rIns="0" bIns="0" rtlCol="0" anchor="ctr"/>
          <a:lstStyle/>
          <a:p>
            <a:pPr indent="0" marL="0">
              <a:buNone/>
            </a:pPr>
            <a:r>
              <a:rPr lang="en-US" sz="1600" b="1" dirty="0">
                <a:solidFill>
                  <a:srgbClr val="E0A458"/>
                </a:solidFill>
                <a:latin typeface="Meiryo" pitchFamily="34" charset="0"/>
                <a:ea typeface="Meiryo" pitchFamily="34" charset="-122"/>
                <a:cs typeface="Meiryo" pitchFamily="34" charset="-120"/>
              </a:rPr>
              <a:t>損益分岐は 47.3%。想定は 51.1%。</a:t>
            </a:r>
            <a:endParaRPr lang="en-US" sz="1600" dirty="0"/>
          </a:p>
        </p:txBody>
      </p:sp>
      <p:sp>
        <p:nvSpPr>
          <p:cNvPr id="10" name="Text 7"/>
          <p:cNvSpPr txBox="1"/>
          <p:nvPr/>
        </p:nvSpPr>
        <p:spPr>
          <a:xfrm>
            <a:off x="932688"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（手数料2.75% − 保管1.05% ＋ オークション0.5%）÷ 発行4.65% ＝ 47.3%。想定は3.8ポイント超えており、ストック現金は年▲0.18%。成功報酬1.8%を含めて+1.62%が実力です。</a:t>
            </a:r>
            <a:endParaRPr lang="en-US" sz="1000" dirty="0"/>
          </a:p>
        </p:txBody>
      </p:sp>
      <p:sp>
        <p:nvSpPr>
          <p:cNvPr id="11" name="Shape 8"/>
          <p:cNvSpPr/>
          <p:nvPr/>
        </p:nvSpPr>
        <p:spPr>
          <a:xfrm>
            <a:off x="6199632" y="4956048"/>
            <a:ext cx="5394960" cy="1097280"/>
          </a:xfrm>
          <a:prstGeom prst="roundRect">
            <a:avLst>
              <a:gd name="adj" fmla="val 5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5065776"/>
            <a:ext cx="4663440" cy="292608"/>
          </a:xfrm>
          <a:prstGeom prst="rect">
            <a:avLst/>
          </a:prstGeom>
          <a:noFill/>
          <a:ln/>
        </p:spPr>
        <p:txBody>
          <a:bodyPr wrap="square" lIns="0" tIns="0" rIns="0" bIns="0" rtlCol="0" anchor="ctr"/>
          <a:lstStyle/>
          <a:p>
            <a:pPr indent="0" marL="0">
              <a:buNone/>
            </a:pPr>
            <a:r>
              <a:rPr lang="en-US" sz="1500" b="1" dirty="0">
                <a:solidFill>
                  <a:srgbClr val="E0A458"/>
                </a:solidFill>
                <a:latin typeface="Meiryo" pitchFamily="34" charset="0"/>
                <a:ea typeface="Meiryo" pitchFamily="34" charset="-122"/>
                <a:cs typeface="Meiryo" pitchFamily="34" charset="-120"/>
              </a:rPr>
              <a:t>余裕は薄い。だから誘導の設計で決まる。</a:t>
            </a:r>
            <a:endParaRPr lang="en-US" sz="1500" dirty="0"/>
          </a:p>
        </p:txBody>
      </p:sp>
      <p:sp>
        <p:nvSpPr>
          <p:cNvPr id="13" name="Text 10"/>
          <p:cNvSpPr txBox="1"/>
          <p:nvPr/>
        </p:nvSpPr>
        <p:spPr>
          <a:xfrm>
            <a:off x="6565392"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直営飲食1.0円に偏るほど90%へ近づきます。原価10%のCLUB会費充当と30%のオークション参加へ誘導するほど収支は改善し、47.3%に届けばストック単体で黒字化します。</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ワイン100万円・年6%成長（単利）・成功報酬30%・仲介手数料なし。単体ベース。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1,180,000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180,000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54,000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163,500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5.18%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58,634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90,000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272,500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4.94%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97,724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1,600,000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180,000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545,000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195,448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3621024"/>
            <a:ext cx="11027664" cy="219456"/>
          </a:xfrm>
          <a:prstGeom prst="rect">
            <a:avLst/>
          </a:prstGeom>
          <a:noFill/>
          <a:ln/>
        </p:spPr>
        <p:txBody>
          <a:bodyPr wrap="square" lIns="0" tIns="0" rIns="0" bIns="0" rtlCol="0" anchor="ctr"/>
          <a:lstStyle/>
          <a:p>
            <a:pPr indent="0" marL="0">
              <a:buNone/>
            </a:pPr>
            <a:r>
              <a:rPr lang="en-US" sz="950" dirty="0">
                <a:solidFill>
                  <a:srgbClr val="A2908C"/>
                </a:solidFill>
                <a:latin typeface="Meiryo" pitchFamily="34" charset="0"/>
                <a:ea typeface="Meiryo" pitchFamily="34" charset="-122"/>
                <a:cs typeface="Meiryo" pitchFamily="34" charset="-120"/>
              </a:rPr>
              <a:t>※PRESTIGE（100万）の数値。会員＝（マイル額面−手数料）×年数＋（値上がり益−成功報酬）。当社＝（2.75%−1.05%＋0.5%−2.05%）×年数＋成功報酬</a:t>
            </a:r>
            <a:endParaRPr lang="en-US" sz="950" dirty="0"/>
          </a:p>
        </p:txBody>
      </p:sp>
      <p:sp>
        <p:nvSpPr>
          <p:cNvPr id="8" name="Shape 5"/>
          <p:cNvSpPr/>
          <p:nvPr/>
        </p:nvSpPr>
        <p:spPr>
          <a:xfrm>
            <a:off x="566928"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年5%なら当社1.65%／年6%で1.95%／年10%で3.15%。会員と当社が完全に同じ方向を向きます。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成功報酬30%と媒介10%の損益分岐は8.3年（6%成長時）。10%成長なら5.0年。長期保有を促す動機が当社側に働きます。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会員は年5.45%、当社は年1.95%。値上がりの70%を会員に残しても、事業は成立します。</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成功報酬30%（採用）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約1.95%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30%でも「手数料」であって「分配」ではない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会員が当社に払う役務の成功報酬であり、会員への利益分配ではありません。P1ファンドの成功報酬25%に対し5ポイント高い水準ですが、当社が保管・保険・真正性管理まで担うことで説明できます。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飲むつもりの人に成果報酬は不要です。そして運用型の人も、途中で飲みたくなります。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売買・管理 ＋ 成果報酬</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所有権は会員のまま。当社が保管・保険・管理</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マイルは管理料に対するおまけ（無償）</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値上がりの70〜75%は会員のもの。出口は自由</a:t>
            </a:r>
            <a:endParaRPr lang="en-US" sz="1150" dirty="0"/>
          </a:p>
        </p:txBody>
      </p:sp>
      <p:sp>
        <p:nvSpPr>
          <p:cNvPr id="10" name="Shape 8"/>
          <p:cNvSpPr/>
          <p:nvPr/>
        </p:nvSpPr>
        <p:spPr>
          <a:xfrm>
            <a:off x="6199632" y="1627632"/>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成果報酬はかからない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管理手数料に対する無償付与（簿価×4〜6%）</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3〜6ヶ月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行動に対する都度付与（落札・出品・会食・イベント・スクール受講）</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29184">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講師・会場費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992624"/>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WineBank CLUB への充当ルール</a:t>
            </a:r>
            <a:endParaRPr lang="en-US" sz="1300" dirty="0"/>
          </a:p>
        </p:txBody>
      </p:sp>
      <p:sp>
        <p:nvSpPr>
          <p:cNvPr id="9" name="Text 6"/>
          <p:cNvSpPr txBox="1"/>
          <p:nvPr/>
        </p:nvSpPr>
        <p:spPr>
          <a:xfrm>
            <a:off x="932688"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100万・500万会員はマイル充当による単月利用のみ可。未利用時の特典をワイン購入代金へ振り替えることはできません。</a:t>
            </a:r>
            <a:endParaRPr lang="en-US" sz="1000" dirty="0"/>
          </a:p>
        </p:txBody>
      </p:sp>
      <p:sp>
        <p:nvSpPr>
          <p:cNvPr id="10" name="Shape 7"/>
          <p:cNvSpPr/>
          <p:nvPr/>
        </p:nvSpPr>
        <p:spPr>
          <a:xfrm>
            <a:off x="6199632" y="4992624"/>
            <a:ext cx="5394960" cy="1060704"/>
          </a:xfrm>
          <a:prstGeom prst="roundRect">
            <a:avLst>
              <a:gd name="adj" fmla="val 517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00" dirty="0"/>
          </a:p>
        </p:txBody>
      </p:sp>
      <p:sp>
        <p:nvSpPr>
          <p:cNvPr id="12" name="Text 9"/>
          <p:cNvSpPr txBox="1"/>
          <p:nvPr/>
        </p:nvSpPr>
        <p:spPr>
          <a:xfrm>
            <a:off x="6565392"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手数料は2.75%で統一。ランク差は還元率と、届く情報に寄せます。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500万〜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実質（額面差引）</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9行×5ランクの特典マトリクス。営業が覚えられず、顧客も比較できません。差は「還元率・情報」の2つに集約し、手数料2.75%と成功報酬30%は全ランクで揃えます。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100万でも実質+1.25%を確保。額面を0.5pp上げても当社の実費用は0.26ppしか増えません。還元率を上げるほうが費用対効果の高い設計です。</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8,800円〜　マイル充当・単月利用可</a:t>
            </a:r>
            <a:endParaRPr lang="en-US" sz="1050" dirty="0"/>
          </a:p>
        </p:txBody>
      </p:sp>
      <p:sp>
        <p:nvSpPr>
          <p:cNvPr id="9" name="Text 7"/>
          <p:cNvSpPr txBox="1"/>
          <p:nvPr/>
        </p:nvSpPr>
        <p:spPr>
          <a:xfrm>
            <a:off x="859536"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4名未満・ワイン価格 上限5万円</a:t>
            </a:r>
            <a:endParaRPr lang="en-US" sz="1100" dirty="0"/>
          </a:p>
        </p:txBody>
      </p:sp>
      <p:sp>
        <p:nvSpPr>
          <p:cNvPr id="10" name="Shape 8"/>
          <p:cNvSpPr/>
          <p:nvPr/>
        </p:nvSpPr>
        <p:spPr>
          <a:xfrm>
            <a:off x="4352544"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22,000円〜</a:t>
            </a:r>
            <a:endParaRPr lang="en-US" sz="1050" dirty="0"/>
          </a:p>
        </p:txBody>
      </p:sp>
      <p:sp>
        <p:nvSpPr>
          <p:cNvPr id="13" name="Text 11"/>
          <p:cNvSpPr txBox="1"/>
          <p:nvPr/>
        </p:nvSpPr>
        <p:spPr>
          <a:xfrm>
            <a:off x="4645152"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ワイン価格の上限なし</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引き上げの動線は「人数」と「上限」</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STANDARDは4名未満・ワイン5万円まで。GOLDでその両方が外れます。SIGNATUREにはSTANDARDを無料付与し、まず半額を体験させてから上げる設計です。</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管理契約の終了時（売却・引取・転換のいずれでも）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30%</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LEGAL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法務確認済み：実施できます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岩田合同法律事務所より2026年9月20日にクリーンオピニオンを取得。「対価性の要件を充足する事情は不見当」との結論です。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二重の安全弁がかかっています</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① 管理料に対するおまけ（無償発行）のため、前払式支払手段の対価性要件を満たしません。② 仮に該当しても、有効期限が発行から6ヶ月以内なら届出・供託・帳簿・報告の義務が生じません（法4条2号）。期間限定マイルは②も満たします。</a:t>
            </a:r>
            <a:endParaRPr lang="en-US" sz="1050" dirty="0"/>
          </a:p>
        </p:txBody>
      </p:sp>
      <p:sp>
        <p:nvSpPr>
          <p:cNvPr id="12" name="Shape 10"/>
          <p:cNvSpPr/>
          <p:nvPr/>
        </p:nvSpPr>
        <p:spPr>
          <a:xfrm>
            <a:off x="6199632"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出資法・銀行法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そもそも該当しない</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預かるのはワインであり金銭ではないため、『預金』『預り金』の4要件を満たしません。賃貸借契約を置かないため、賃料としての対価性が生じる余地もありません。</a:t>
            </a:r>
            <a:endParaRPr lang="en-US" sz="1050" dirty="0"/>
          </a:p>
        </p:txBody>
      </p:sp>
      <p:sp>
        <p:nvSpPr>
          <p:cNvPr id="18" name="Shape 16"/>
          <p:cNvSpPr/>
          <p:nvPr/>
        </p:nvSpPr>
        <p:spPr>
          <a:xfrm>
            <a:off x="566928" y="385876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景品表示法</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値引と整理され、還元率に上限はない</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自社でのみ使えるマイルは『正常な商慣習に照らして値引』にあたり景品類に該当しません。実質50%値引を許容する消費者庁Q&amp;Aもあり、4〜6%は論点になりません。ただし表示は正確に。</a:t>
            </a:r>
            <a:endParaRPr lang="en-US" sz="1050" dirty="0"/>
          </a:p>
        </p:txBody>
      </p:sp>
      <p:sp>
        <p:nvSpPr>
          <p:cNvPr id="24" name="Shape 22"/>
          <p:cNvSpPr/>
          <p:nvPr/>
        </p:nvSpPr>
        <p:spPr>
          <a:xfrm>
            <a:off x="6199632" y="3858768"/>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消費者契約法</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事前告知なき失効は無効になり得る</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大量に貯まったマイルを予告なく失効させる条項は法10条で無効となり得ます。付与・利用・変更手続・トラブル対応・譲渡可否・終了時対応の6点を規約に明記し公表します（経産省ガイドライン）。</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DRINK RISK</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「全部飲まれる」の正体は付与タイミング</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買ったワインを飲まれても、販売粗利30%があるので赤字にはなりません。問題は「管理料は月払い・マイルは年一括」です。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5394960" cy="914400"/>
        </p:xfrm>
        <a:graphic>
          <a:graphicData uri="http://schemas.openxmlformats.org/drawingml/2006/table">
            <a:tbl>
              <a:tblPr/>
              <a:tblGrid>
                <a:gridCol w="1005840"/>
                <a:gridCol w="1280160"/>
                <a:gridCol w="1737360"/>
                <a:gridCol w="1371600"/>
              </a:tblGrid>
              <a:tr h="420624">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ティア</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月の管理料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年一括のマイル</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（当社原価）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翌月に</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引き出されると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2,292円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40,000</a:t>
                      </a:r>
                      <a:endParaRPr lang="en-US" sz="1100" dirty="0">
                        <a:latin typeface="Meiryo" charset="0"/>
                        <a:ea typeface="Meiryo" charset="0"/>
                        <a:cs typeface="Meiryo" charset="0"/>
                      </a:endParaRPr>
                    </a:p>
                    <a:p>
                      <a:pPr algn="ctr" indent="0" marL="0">
                        <a:buNone/>
                      </a:pPr>
                      <a:r>
                        <a:rPr lang="en-US" sz="1100" dirty="0">
                          <a:solidFill>
                            <a:srgbClr val="F2EDE6"/>
                          </a:solidFill>
                          <a:latin typeface="Meiryo" pitchFamily="34" charset="0"/>
                          <a:ea typeface="Meiryo" pitchFamily="34" charset="-122"/>
                          <a:cs typeface="Meiryo" pitchFamily="34" charset="-120"/>
                        </a:rPr>
                        <a:t>（20,455円）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▲18,164円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500万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11,458円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250,000</a:t>
                      </a:r>
                      <a:endParaRPr lang="en-US" sz="1100" dirty="0">
                        <a:latin typeface="Meiryo" charset="0"/>
                        <a:ea typeface="Meiryo" charset="0"/>
                        <a:cs typeface="Meiryo" charset="0"/>
                      </a:endParaRPr>
                    </a:p>
                    <a:p>
                      <a:pPr algn="ctr" indent="0" marL="0">
                        <a:buNone/>
                      </a:pPr>
                      <a:r>
                        <a:rPr lang="en-US" sz="1100" dirty="0">
                          <a:solidFill>
                            <a:srgbClr val="F2EDE6"/>
                          </a:solidFill>
                          <a:latin typeface="Meiryo" pitchFamily="34" charset="0"/>
                          <a:ea typeface="Meiryo" pitchFamily="34" charset="-122"/>
                          <a:cs typeface="Meiryo" pitchFamily="34" charset="-120"/>
                        </a:rPr>
                        <a:t>（127,845円）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▲116,387円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22,917円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600,000</a:t>
                      </a:r>
                      <a:endParaRPr lang="en-US" sz="1100" dirty="0">
                        <a:latin typeface="Meiryo" charset="0"/>
                        <a:ea typeface="Meiryo" charset="0"/>
                        <a:cs typeface="Meiryo" charset="0"/>
                      </a:endParaRPr>
                    </a:p>
                    <a:p>
                      <a:pPr algn="ctr" indent="0" marL="0">
                        <a:buNone/>
                      </a:pPr>
                      <a:r>
                        <a:rPr lang="en-US" sz="1100" dirty="0">
                          <a:solidFill>
                            <a:srgbClr val="F2EDE6"/>
                          </a:solidFill>
                          <a:latin typeface="Meiryo" pitchFamily="34" charset="0"/>
                          <a:ea typeface="Meiryo" pitchFamily="34" charset="-122"/>
                          <a:cs typeface="Meiryo" pitchFamily="34" charset="-120"/>
                        </a:rPr>
                        <a:t>（306,828円）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▲283,911円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3566160"/>
            <a:ext cx="5394960" cy="1517904"/>
          </a:xfrm>
          <a:prstGeom prst="roundRect">
            <a:avLst>
              <a:gd name="adj" fmla="val 36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3749040"/>
            <a:ext cx="4663440" cy="274320"/>
          </a:xfrm>
          <a:prstGeom prst="rect">
            <a:avLst/>
          </a:prstGeom>
          <a:noFill/>
          <a:ln/>
        </p:spPr>
        <p:txBody>
          <a:bodyPr wrap="square" lIns="0" tIns="0" rIns="0" bIns="0" rtlCol="0" anchor="ctr"/>
          <a:lstStyle/>
          <a:p>
            <a:pPr indent="0" marL="0">
              <a:buNone/>
            </a:pPr>
            <a:r>
              <a:rPr lang="en-US" sz="1400" b="1" dirty="0">
                <a:solidFill>
                  <a:srgbClr val="7FD1AE"/>
                </a:solidFill>
                <a:latin typeface="Meiryo" pitchFamily="34" charset="0"/>
                <a:ea typeface="Meiryo" pitchFamily="34" charset="-122"/>
                <a:cs typeface="Meiryo" pitchFamily="34" charset="-120"/>
              </a:rPr>
              <a:t>購入ワインなら、粗利で吸収できる</a:t>
            </a:r>
            <a:endParaRPr lang="en-US" sz="1400" dirty="0"/>
          </a:p>
        </p:txBody>
      </p:sp>
      <p:sp>
        <p:nvSpPr>
          <p:cNvPr id="9" name="Text 6"/>
          <p:cNvSpPr txBox="1"/>
          <p:nvPr/>
        </p:nvSpPr>
        <p:spPr>
          <a:xfrm>
            <a:off x="932688" y="4114800"/>
            <a:ext cx="4663440" cy="859536"/>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100万円の販売で粗利は30万円。▲1.8万円のストック損は吸収され、当社は+28万円です。失うのは、その後の管理料と成功報酬だけです。</a:t>
            </a:r>
            <a:endParaRPr lang="en-US" sz="1100" dirty="0"/>
          </a:p>
        </p:txBody>
      </p:sp>
      <p:sp>
        <p:nvSpPr>
          <p:cNvPr id="10" name="Shape 7"/>
          <p:cNvSpPr/>
          <p:nvPr/>
        </p:nvSpPr>
        <p:spPr>
          <a:xfrm>
            <a:off x="6199632" y="1645920"/>
            <a:ext cx="5394960" cy="3438144"/>
          </a:xfrm>
          <a:prstGeom prst="roundRect">
            <a:avLst>
              <a:gd name="adj" fmla="val 159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0A458"/>
                </a:solidFill>
                <a:latin typeface="Meiryo" pitchFamily="34" charset="0"/>
                <a:ea typeface="Meiryo" pitchFamily="34" charset="-122"/>
                <a:cs typeface="Meiryo" pitchFamily="34" charset="-120"/>
              </a:rPr>
              <a:t>本当に危ないのは、持込ワイン</a:t>
            </a:r>
            <a:endParaRPr lang="en-US" sz="1600" dirty="0"/>
          </a:p>
        </p:txBody>
      </p:sp>
      <p:sp>
        <p:nvSpPr>
          <p:cNvPr id="12" name="Text 9"/>
          <p:cNvSpPr txBox="1"/>
          <p:nvPr/>
        </p:nvSpPr>
        <p:spPr>
          <a:xfrm>
            <a:off x="6565392" y="2212848"/>
            <a:ext cx="4663440" cy="54864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当社で販売していないワインには粗利がありません。次の4手を繰り返されると、毎回そのまま純損になります。</a:t>
            </a:r>
            <a:endParaRPr lang="en-US" sz="1100" dirty="0"/>
          </a:p>
        </p:txBody>
      </p:sp>
      <p:sp>
        <p:nvSpPr>
          <p:cNvPr id="13" name="Shape 10"/>
          <p:cNvSpPr/>
          <p:nvPr/>
        </p:nvSpPr>
        <p:spPr>
          <a:xfrm>
            <a:off x="6565392" y="2871216"/>
            <a:ext cx="329184" cy="329184"/>
          </a:xfrm>
          <a:prstGeom prst="ellipse">
            <a:avLst/>
          </a:prstGeom>
          <a:solidFill>
            <a:srgbClr val="C9A227"/>
          </a:solidFill>
          <a:ln w="12700">
            <a:solidFill>
              <a:srgbClr val="C9A227"/>
            </a:solidFill>
            <a:prstDash val="solid"/>
          </a:ln>
        </p:spPr>
      </p:sp>
      <p:sp>
        <p:nvSpPr>
          <p:cNvPr id="14" name="Text 11"/>
          <p:cNvSpPr txBox="1"/>
          <p:nvPr/>
        </p:nvSpPr>
        <p:spPr>
          <a:xfrm>
            <a:off x="6565392" y="287121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5" name="Text 12"/>
          <p:cNvSpPr txBox="1"/>
          <p:nvPr/>
        </p:nvSpPr>
        <p:spPr>
          <a:xfrm>
            <a:off x="7022592" y="2852928"/>
            <a:ext cx="4206240" cy="256032"/>
          </a:xfrm>
          <a:prstGeom prst="rect">
            <a:avLst/>
          </a:prstGeom>
          <a:noFill/>
          <a:ln/>
        </p:spPr>
        <p:txBody>
          <a:bodyPr wrap="square" lIns="0" tIns="0" rIns="0" bIns="0" rtlCol="0" anchor="ctr"/>
          <a:lstStyle/>
          <a:p>
            <a:pPr indent="0" marL="0">
              <a:buNone/>
            </a:pPr>
            <a:r>
              <a:rPr lang="en-US" sz="1250" b="1" dirty="0">
                <a:solidFill>
                  <a:srgbClr val="F2EDE6"/>
                </a:solidFill>
                <a:latin typeface="Meiryo" pitchFamily="34" charset="0"/>
                <a:ea typeface="Meiryo" pitchFamily="34" charset="-122"/>
                <a:cs typeface="Meiryo" pitchFamily="34" charset="-120"/>
              </a:rPr>
              <a:t>手元のワインを預ける</a:t>
            </a:r>
            <a:endParaRPr lang="en-US" sz="1250" dirty="0"/>
          </a:p>
        </p:txBody>
      </p:sp>
      <p:sp>
        <p:nvSpPr>
          <p:cNvPr id="16" name="Text 13"/>
          <p:cNvSpPr txBox="1"/>
          <p:nvPr/>
        </p:nvSpPr>
        <p:spPr>
          <a:xfrm>
            <a:off x="7022592" y="3108960"/>
            <a:ext cx="4206240" cy="219456"/>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持込・移管。当社の販売を経ない</a:t>
            </a:r>
            <a:endParaRPr lang="en-US" sz="1000" dirty="0"/>
          </a:p>
        </p:txBody>
      </p:sp>
      <p:sp>
        <p:nvSpPr>
          <p:cNvPr id="17" name="Shape 14"/>
          <p:cNvSpPr/>
          <p:nvPr/>
        </p:nvSpPr>
        <p:spPr>
          <a:xfrm>
            <a:off x="6565392" y="3401568"/>
            <a:ext cx="329184" cy="329184"/>
          </a:xfrm>
          <a:prstGeom prst="ellipse">
            <a:avLst/>
          </a:prstGeom>
          <a:solidFill>
            <a:srgbClr val="C9A227"/>
          </a:solidFill>
          <a:ln w="12700">
            <a:solidFill>
              <a:srgbClr val="C9A227"/>
            </a:solidFill>
            <a:prstDash val="solid"/>
          </a:ln>
        </p:spPr>
      </p:sp>
      <p:sp>
        <p:nvSpPr>
          <p:cNvPr id="18" name="Text 15"/>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9" name="Text 16"/>
          <p:cNvSpPr txBox="1"/>
          <p:nvPr/>
        </p:nvSpPr>
        <p:spPr>
          <a:xfrm>
            <a:off x="7022592" y="3383280"/>
            <a:ext cx="4206240" cy="256032"/>
          </a:xfrm>
          <a:prstGeom prst="rect">
            <a:avLst/>
          </a:prstGeom>
          <a:noFill/>
          <a:ln/>
        </p:spPr>
        <p:txBody>
          <a:bodyPr wrap="square" lIns="0" tIns="0" rIns="0" bIns="0" rtlCol="0" anchor="ctr"/>
          <a:lstStyle/>
          <a:p>
            <a:pPr indent="0" marL="0">
              <a:buNone/>
            </a:pPr>
            <a:r>
              <a:rPr lang="en-US" sz="1250" b="1" dirty="0">
                <a:solidFill>
                  <a:srgbClr val="F2EDE6"/>
                </a:solidFill>
                <a:latin typeface="Meiryo" pitchFamily="34" charset="0"/>
                <a:ea typeface="Meiryo" pitchFamily="34" charset="-122"/>
                <a:cs typeface="Meiryo" pitchFamily="34" charset="-120"/>
              </a:rPr>
              <a:t>年分のマイルを受け取る</a:t>
            </a:r>
            <a:endParaRPr lang="en-US" sz="1250" dirty="0"/>
          </a:p>
        </p:txBody>
      </p:sp>
      <p:sp>
        <p:nvSpPr>
          <p:cNvPr id="20" name="Text 17"/>
          <p:cNvSpPr txBox="1"/>
          <p:nvPr/>
        </p:nvSpPr>
        <p:spPr>
          <a:xfrm>
            <a:off x="7022592" y="3639312"/>
            <a:ext cx="4206240" cy="219456"/>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年一括付与なら初月に全額</a:t>
            </a:r>
            <a:endParaRPr lang="en-US" sz="1000" dirty="0"/>
          </a:p>
        </p:txBody>
      </p:sp>
      <p:sp>
        <p:nvSpPr>
          <p:cNvPr id="21" name="Shape 18"/>
          <p:cNvSpPr/>
          <p:nvPr/>
        </p:nvSpPr>
        <p:spPr>
          <a:xfrm>
            <a:off x="6565392" y="3931920"/>
            <a:ext cx="329184" cy="329184"/>
          </a:xfrm>
          <a:prstGeom prst="ellipse">
            <a:avLst/>
          </a:prstGeom>
          <a:solidFill>
            <a:srgbClr val="C9A227"/>
          </a:solidFill>
          <a:ln w="12700">
            <a:solidFill>
              <a:srgbClr val="C9A227"/>
            </a:solidFill>
            <a:prstDash val="solid"/>
          </a:ln>
        </p:spPr>
      </p:sp>
      <p:sp>
        <p:nvSpPr>
          <p:cNvPr id="22" name="Text 19"/>
          <p:cNvSpPr txBox="1"/>
          <p:nvPr/>
        </p:nvSpPr>
        <p:spPr>
          <a:xfrm>
            <a:off x="6565392" y="393192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3" name="Text 20"/>
          <p:cNvSpPr txBox="1"/>
          <p:nvPr/>
        </p:nvSpPr>
        <p:spPr>
          <a:xfrm>
            <a:off x="7022592" y="3913632"/>
            <a:ext cx="4206240" cy="256032"/>
          </a:xfrm>
          <a:prstGeom prst="rect">
            <a:avLst/>
          </a:prstGeom>
          <a:noFill/>
          <a:ln/>
        </p:spPr>
        <p:txBody>
          <a:bodyPr wrap="square" lIns="0" tIns="0" rIns="0" bIns="0" rtlCol="0" anchor="ctr"/>
          <a:lstStyle/>
          <a:p>
            <a:pPr indent="0" marL="0">
              <a:buNone/>
            </a:pPr>
            <a:r>
              <a:rPr lang="en-US" sz="1250" b="1" dirty="0">
                <a:solidFill>
                  <a:srgbClr val="F2EDE6"/>
                </a:solidFill>
                <a:latin typeface="Meiryo" pitchFamily="34" charset="0"/>
                <a:ea typeface="Meiryo" pitchFamily="34" charset="-122"/>
                <a:cs typeface="Meiryo" pitchFamily="34" charset="-120"/>
              </a:rPr>
              <a:t>翌月に引き出して飲む</a:t>
            </a:r>
            <a:endParaRPr lang="en-US" sz="1250" dirty="0"/>
          </a:p>
        </p:txBody>
      </p:sp>
      <p:sp>
        <p:nvSpPr>
          <p:cNvPr id="24" name="Text 21"/>
          <p:cNvSpPr txBox="1"/>
          <p:nvPr/>
        </p:nvSpPr>
        <p:spPr>
          <a:xfrm>
            <a:off x="7022592" y="4169664"/>
            <a:ext cx="4206240" cy="219456"/>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管理料は1か月分しか入らない</a:t>
            </a:r>
            <a:endParaRPr lang="en-US" sz="1000" dirty="0"/>
          </a:p>
        </p:txBody>
      </p:sp>
      <p:sp>
        <p:nvSpPr>
          <p:cNvPr id="25" name="Shape 22"/>
          <p:cNvSpPr/>
          <p:nvPr/>
        </p:nvSpPr>
        <p:spPr>
          <a:xfrm>
            <a:off x="6565392" y="4462272"/>
            <a:ext cx="329184" cy="329184"/>
          </a:xfrm>
          <a:prstGeom prst="ellipse">
            <a:avLst/>
          </a:prstGeom>
          <a:solidFill>
            <a:srgbClr val="E0A458"/>
          </a:solidFill>
          <a:ln w="12700">
            <a:solidFill>
              <a:srgbClr val="E0A458"/>
            </a:solidFill>
            <a:prstDash val="solid"/>
          </a:ln>
        </p:spPr>
      </p:sp>
      <p:sp>
        <p:nvSpPr>
          <p:cNvPr id="26" name="Text 23"/>
          <p:cNvSpPr txBox="1"/>
          <p:nvPr/>
        </p:nvSpPr>
        <p:spPr>
          <a:xfrm>
            <a:off x="6565392" y="44622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7" name="Text 24"/>
          <p:cNvSpPr txBox="1"/>
          <p:nvPr/>
        </p:nvSpPr>
        <p:spPr>
          <a:xfrm>
            <a:off x="7022592" y="4443984"/>
            <a:ext cx="4206240" cy="256032"/>
          </a:xfrm>
          <a:prstGeom prst="rect">
            <a:avLst/>
          </a:prstGeom>
          <a:noFill/>
          <a:ln/>
        </p:spPr>
        <p:txBody>
          <a:bodyPr wrap="square" lIns="0" tIns="0" rIns="0" bIns="0" rtlCol="0" anchor="ctr"/>
          <a:lstStyle/>
          <a:p>
            <a:pPr indent="0" marL="0">
              <a:buNone/>
            </a:pPr>
            <a:r>
              <a:rPr lang="en-US" sz="1250" b="1" dirty="0">
                <a:solidFill>
                  <a:srgbClr val="F2EDE6"/>
                </a:solidFill>
                <a:latin typeface="Meiryo" pitchFamily="34" charset="0"/>
                <a:ea typeface="Meiryo" pitchFamily="34" charset="-122"/>
                <a:cs typeface="Meiryo" pitchFamily="34" charset="-120"/>
              </a:rPr>
              <a:t>また預け直す</a:t>
            </a:r>
            <a:endParaRPr lang="en-US" sz="1250" dirty="0"/>
          </a:p>
        </p:txBody>
      </p:sp>
      <p:sp>
        <p:nvSpPr>
          <p:cNvPr id="28" name="Text 25"/>
          <p:cNvSpPr txBox="1"/>
          <p:nvPr/>
        </p:nvSpPr>
        <p:spPr>
          <a:xfrm>
            <a:off x="7022592" y="4700016"/>
            <a:ext cx="4206240" cy="219456"/>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翌年分のマイルがまた出る</a:t>
            </a:r>
            <a:endParaRPr lang="en-US" sz="1000" dirty="0"/>
          </a:p>
        </p:txBody>
      </p:sp>
      <p:sp>
        <p:nvSpPr>
          <p:cNvPr id="29" name="Shape 26"/>
          <p:cNvSpPr/>
          <p:nvPr/>
        </p:nvSpPr>
        <p:spPr>
          <a:xfrm>
            <a:off x="566928" y="5230368"/>
            <a:ext cx="11027664" cy="822960"/>
          </a:xfrm>
          <a:prstGeom prst="roundRect">
            <a:avLst>
              <a:gd name="adj" fmla="val 666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7"/>
          <p:cNvSpPr txBox="1"/>
          <p:nvPr/>
        </p:nvSpPr>
        <p:spPr>
          <a:xfrm>
            <a:off x="978408" y="5376672"/>
            <a:ext cx="10204704" cy="329184"/>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塞ぐべきは「飲むこと」ではなく「年一括の付与」です。</a:t>
            </a:r>
            <a:endParaRPr lang="en-US" sz="1700" dirty="0"/>
          </a:p>
        </p:txBody>
      </p:sp>
      <p:sp>
        <p:nvSpPr>
          <p:cNvPr id="31" name="Text 28"/>
          <p:cNvSpPr txBox="1"/>
          <p:nvPr/>
        </p:nvSpPr>
        <p:spPr>
          <a:xfrm>
            <a:off x="978408" y="5742432"/>
            <a:ext cx="10204704"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飲むことは愛好家にとって最大の価値です。9/28に愛好家層をメインターゲットにした以上、持込ニーズは確実に増えます。</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COUNTERMEASURE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ロックより、マイルの月割後付与</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お支払いいただいた管理料に応じて、毎月あとからマイルを付与する。これだけで、何か月目に引き出されても赤字になりません。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651760"/>
                <a:gridCol w="2651760"/>
                <a:gridCol w="329184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1年ロック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飲用上限 年2割</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月割の後付与（推奨）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持込ワインの裁定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防げる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2割までは取られる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構造的に消える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ルールの単純さ</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F2EDE6"/>
                          </a:solidFill>
                          <a:latin typeface="Meiryo" pitchFamily="34" charset="0"/>
                          <a:ea typeface="Meiryo" pitchFamily="34" charset="-122"/>
                          <a:cs typeface="Meiryo" pitchFamily="34" charset="-120"/>
                        </a:rPr>
                        <a:t>○ 明快だが例外対応が要る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毎年の計算が要る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預けた月の分だけ</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愛好家の「飲みたい」</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1年は飲めない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2割までなら</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いつでも飲める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弁護士意見書との整合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F2EDE6"/>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F2EDE6"/>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◎「管理料に応じたおまけ」そのもの</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顧客デメリットの重さ</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重い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中</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軽い（1行で済む）</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566928" y="4114800"/>
          <a:ext cx="5394960" cy="914400"/>
        </p:xfrm>
        <a:graphic>
          <a:graphicData uri="http://schemas.openxmlformats.org/drawingml/2006/table">
            <a:tbl>
              <a:tblPr/>
              <a:tblGrid>
                <a:gridCol w="1188720"/>
                <a:gridCol w="1280160"/>
                <a:gridCol w="1371600"/>
                <a:gridCol w="1554480"/>
              </a:tblGrid>
              <a:tr h="347472">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ティア</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＝1か月ごと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29184">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+129円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+1,629円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500万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▲1,487円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+7,500円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+6,013円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▲7,236円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+7,764円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8" name="Text 4"/>
          <p:cNvSpPr txBox="1"/>
          <p:nvPr/>
        </p:nvSpPr>
        <p:spPr>
          <a:xfrm>
            <a:off x="566928" y="5486400"/>
            <a:ext cx="5394960" cy="219456"/>
          </a:xfrm>
          <a:prstGeom prst="rect">
            <a:avLst/>
          </a:prstGeom>
          <a:noFill/>
          <a:ln/>
        </p:spPr>
        <p:txBody>
          <a:bodyPr wrap="square" lIns="0" tIns="0" rIns="0" bIns="0" rtlCol="0" anchor="ctr"/>
          <a:lstStyle/>
          <a:p>
            <a:pPr indent="0" marL="0">
              <a:buNone/>
            </a:pPr>
            <a:r>
              <a:rPr lang="en-US" sz="950" dirty="0">
                <a:solidFill>
                  <a:srgbClr val="A2908C"/>
                </a:solidFill>
                <a:latin typeface="Meiryo" pitchFamily="34" charset="0"/>
                <a:ea typeface="Meiryo" pitchFamily="34" charset="-122"/>
                <a:cs typeface="Meiryo" pitchFamily="34" charset="-120"/>
              </a:rPr>
              <a:t>③を採った場合の、1か月保有ごとの当社収支（6%上昇時）</a:t>
            </a:r>
            <a:endParaRPr lang="en-US" sz="950" dirty="0"/>
          </a:p>
        </p:txBody>
      </p:sp>
      <p:sp>
        <p:nvSpPr>
          <p:cNvPr id="9" name="Shape 5"/>
          <p:cNvSpPr/>
          <p:nvPr/>
        </p:nvSpPr>
        <p:spPr>
          <a:xfrm>
            <a:off x="6199632" y="4114800"/>
            <a:ext cx="5394960" cy="1591056"/>
          </a:xfrm>
          <a:prstGeom prst="roundRect">
            <a:avLst>
              <a:gd name="adj" fmla="val 344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0" name="Text 6"/>
          <p:cNvSpPr txBox="1"/>
          <p:nvPr/>
        </p:nvSpPr>
        <p:spPr>
          <a:xfrm>
            <a:off x="6565392" y="4279392"/>
            <a:ext cx="4663440" cy="274320"/>
          </a:xfrm>
          <a:prstGeom prst="rect">
            <a:avLst/>
          </a:prstGeom>
          <a:noFill/>
          <a:ln/>
        </p:spPr>
        <p:txBody>
          <a:bodyPr wrap="square" lIns="0" tIns="0" rIns="0" bIns="0" rtlCol="0" anchor="ctr"/>
          <a:lstStyle/>
          <a:p>
            <a:pPr indent="0" marL="0">
              <a:buNone/>
            </a:pPr>
            <a:r>
              <a:rPr lang="en-US" sz="1350" b="1" dirty="0">
                <a:solidFill>
                  <a:srgbClr val="E0A458"/>
                </a:solidFill>
                <a:latin typeface="Meiryo" pitchFamily="34" charset="0"/>
                <a:ea typeface="Meiryo" pitchFamily="34" charset="-122"/>
                <a:cs typeface="Meiryo" pitchFamily="34" charset="-120"/>
              </a:rPr>
              <a:t>ロックでも防げないリスクが1つあります</a:t>
            </a:r>
            <a:endParaRPr lang="en-US" sz="1350" dirty="0"/>
          </a:p>
        </p:txBody>
      </p:sp>
      <p:sp>
        <p:nvSpPr>
          <p:cNvPr id="11" name="Text 7"/>
          <p:cNvSpPr txBox="1"/>
          <p:nvPr/>
        </p:nvSpPr>
        <p:spPr>
          <a:xfrm>
            <a:off x="6565392" y="4626864"/>
            <a:ext cx="4663440" cy="100584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値下がり局面では成功報酬がゼロになり、500万・1000万は現金赤字だけが残ります。これは飲まれるかどうかではなく市場リスクで、交換先の誘導（原価率の引き下げ）でしか効きません。</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DISCLOSURE 1/2</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正直にお伝えすべきこと：資産と費用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デメリットを書かない広告は、かえって怪しく見えます。「投」＝投資目的、「愛」＝飲む目的の方に重い項目。</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548640"/>
                <a:gridCol w="4297680"/>
                <a:gridCol w="5266944"/>
                <a:gridCol w="914400"/>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デメリット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数字・補足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対象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75488">
                <a:tc>
                  <a:txBody>
                    <a:bodyPr/>
                    <a:lstStyle/>
                    <a:p>
                      <a:pPr algn="ctr" indent="0" marL="0">
                        <a:buNone/>
                      </a:pPr>
                      <a:r>
                        <a:rPr lang="en-US" sz="1050" b="1" dirty="0">
                          <a:solidFill>
                            <a:srgbClr val="C9A227"/>
                          </a:solidFill>
                          <a:latin typeface="Meiryo" pitchFamily="34" charset="0"/>
                          <a:ea typeface="Meiryo" pitchFamily="34" charset="-122"/>
                          <a:cs typeface="Meiryo" pitchFamily="34" charset="-120"/>
                        </a:rPr>
                        <a:t>A1</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50" dirty="0">
                          <a:solidFill>
                            <a:srgbClr val="F2EDE6"/>
                          </a:solidFill>
                          <a:latin typeface="Meiryo" pitchFamily="34" charset="0"/>
                          <a:ea typeface="Meiryo" pitchFamily="34" charset="-122"/>
                          <a:cs typeface="Meiryo" pitchFamily="34" charset="-120"/>
                        </a:rPr>
                        <a:t>元本保証はない。値下がりはすべて会員の負担（成功報酬は値上がり時のみ）</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00" dirty="0">
                          <a:solidFill>
                            <a:srgbClr val="A2908C"/>
                          </a:solidFill>
                          <a:latin typeface="Meiryo" pitchFamily="34" charset="0"/>
                          <a:ea typeface="Meiryo" pitchFamily="34" charset="-122"/>
                          <a:cs typeface="Meiryo" pitchFamily="34" charset="-120"/>
                        </a:rPr>
                        <a:t>1年で10%下落すると100万で▲87,500円。マイナスにならないのは年▲1.25%の下落まで（実利用ベースでは▲0.49%）</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00" dirty="0">
                          <a:solidFill>
                            <a:srgbClr val="F2EDE6"/>
                          </a:solidFill>
                          <a:latin typeface="Meiryo" pitchFamily="34" charset="0"/>
                          <a:ea typeface="Meiryo" pitchFamily="34" charset="-122"/>
                          <a:cs typeface="Meiryo" pitchFamily="34" charset="-120"/>
                        </a:rPr>
                        <a:t>投</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75488">
                <a:tc>
                  <a:txBody>
                    <a:bodyPr/>
                    <a:lstStyle/>
                    <a:p>
                      <a:pPr algn="ctr" indent="0" marL="0">
                        <a:buNone/>
                      </a:pPr>
                      <a:r>
                        <a:rPr lang="en-US" sz="1050" b="1" dirty="0">
                          <a:solidFill>
                            <a:srgbClr val="C9A227"/>
                          </a:solidFill>
                          <a:latin typeface="Meiryo" pitchFamily="34" charset="0"/>
                          <a:ea typeface="Meiryo" pitchFamily="34" charset="-122"/>
                          <a:cs typeface="Meiryo" pitchFamily="34" charset="-120"/>
                        </a:rPr>
                        <a:t>A2</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l" indent="0" marL="0">
                        <a:buNone/>
                      </a:pPr>
                      <a:r>
                        <a:rPr lang="en-US" sz="1050" b="1" dirty="0">
                          <a:solidFill>
                            <a:srgbClr val="F2EDE6"/>
                          </a:solidFill>
                          <a:latin typeface="Meiryo" pitchFamily="34" charset="0"/>
                          <a:ea typeface="Meiryo" pitchFamily="34" charset="-122"/>
                          <a:cs typeface="Meiryo" pitchFamily="34" charset="-120"/>
                        </a:rPr>
                        <a:t>買ってすぐ売ると約1割目減りする（買い手手数料10%ぶん、落札価格は買値の約91%）</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l" indent="0" marL="0">
                        <a:buNone/>
                      </a:pPr>
                      <a:r>
                        <a:rPr lang="en-US" sz="1000" dirty="0">
                          <a:solidFill>
                            <a:srgbClr val="A2908C"/>
                          </a:solidFill>
                          <a:latin typeface="Meiryo" pitchFamily="34" charset="0"/>
                          <a:ea typeface="Meiryo" pitchFamily="34" charset="-122"/>
                          <a:cs typeface="Meiryo" pitchFamily="34" charset="-120"/>
                        </a:rPr>
                        <a:t>100万で約9.1万円。取り戻すまで、6%上昇で約1.7〜1.9年</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00" dirty="0">
                          <a:solidFill>
                            <a:srgbClr val="F2EDE6"/>
                          </a:solidFill>
                          <a:latin typeface="Meiryo" pitchFamily="34" charset="0"/>
                          <a:ea typeface="Meiryo" pitchFamily="34" charset="-122"/>
                          <a:cs typeface="Meiryo" pitchFamily="34" charset="-120"/>
                        </a:rPr>
                        <a:t>投</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420624">
                <a:tc>
                  <a:txBody>
                    <a:bodyPr/>
                    <a:lstStyle/>
                    <a:p>
                      <a:pPr algn="ctr" indent="0" marL="0">
                        <a:buNone/>
                      </a:pPr>
                      <a:r>
                        <a:rPr lang="en-US" sz="1050" b="1" dirty="0">
                          <a:solidFill>
                            <a:srgbClr val="C9A227"/>
                          </a:solidFill>
                          <a:latin typeface="Meiryo" pitchFamily="34" charset="0"/>
                          <a:ea typeface="Meiryo" pitchFamily="34" charset="-122"/>
                          <a:cs typeface="Meiryo" pitchFamily="34" charset="-120"/>
                        </a:rPr>
                        <a:t>A3</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50" dirty="0">
                          <a:solidFill>
                            <a:srgbClr val="F2EDE6"/>
                          </a:solidFill>
                          <a:latin typeface="Meiryo" pitchFamily="34" charset="0"/>
                          <a:ea typeface="Meiryo" pitchFamily="34" charset="-122"/>
                          <a:cs typeface="Meiryo" pitchFamily="34" charset="-120"/>
                        </a:rPr>
                        <a:t>評価額と実際の売却額がずれる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00" dirty="0">
                          <a:solidFill>
                            <a:srgbClr val="A2908C"/>
                          </a:solidFill>
                          <a:latin typeface="Meiryo" pitchFamily="34" charset="0"/>
                          <a:ea typeface="Meiryo" pitchFamily="34" charset="-122"/>
                          <a:cs typeface="Meiryo" pitchFamily="34" charset="-120"/>
                        </a:rPr>
                        <a:t>Liv-ex連動評価は参考値。落札額は銘柄・時期・需給で変わる</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00" dirty="0">
                          <a:solidFill>
                            <a:srgbClr val="F2EDE6"/>
                          </a:solidFill>
                          <a:latin typeface="Meiryo" pitchFamily="34" charset="0"/>
                          <a:ea typeface="Meiryo" pitchFamily="34" charset="-122"/>
                          <a:cs typeface="Meiryo" pitchFamily="34" charset="-120"/>
                        </a:rPr>
                        <a:t>投</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20624">
                <a:tc>
                  <a:txBody>
                    <a:bodyPr/>
                    <a:lstStyle/>
                    <a:p>
                      <a:pPr algn="ctr" indent="0" marL="0">
                        <a:buNone/>
                      </a:pPr>
                      <a:r>
                        <a:rPr lang="en-US" sz="1050" b="1" dirty="0">
                          <a:solidFill>
                            <a:srgbClr val="C9A227"/>
                          </a:solidFill>
                          <a:latin typeface="Meiryo" pitchFamily="34" charset="0"/>
                          <a:ea typeface="Meiryo" pitchFamily="34" charset="-122"/>
                          <a:cs typeface="Meiryo" pitchFamily="34" charset="-120"/>
                        </a:rPr>
                        <a:t>A4</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50" dirty="0">
                          <a:solidFill>
                            <a:srgbClr val="F2EDE6"/>
                          </a:solidFill>
                          <a:latin typeface="Meiryo" pitchFamily="34" charset="0"/>
                          <a:ea typeface="Meiryo" pitchFamily="34" charset="-122"/>
                          <a:cs typeface="Meiryo" pitchFamily="34" charset="-120"/>
                        </a:rPr>
                        <a:t>即日には現金化できない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00" dirty="0">
                          <a:solidFill>
                            <a:srgbClr val="A2908C"/>
                          </a:solidFill>
                          <a:latin typeface="Meiryo" pitchFamily="34" charset="0"/>
                          <a:ea typeface="Meiryo" pitchFamily="34" charset="-122"/>
                          <a:cs typeface="Meiryo" pitchFamily="34" charset="-120"/>
                        </a:rPr>
                        <a:t>オークション出品から成約まで数週間かかる</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00" dirty="0">
                          <a:solidFill>
                            <a:srgbClr val="F2EDE6"/>
                          </a:solidFill>
                          <a:latin typeface="Meiryo" pitchFamily="34" charset="0"/>
                          <a:ea typeface="Meiryo" pitchFamily="34" charset="-122"/>
                          <a:cs typeface="Meiryo" pitchFamily="34" charset="-120"/>
                        </a:rPr>
                        <a:t>投</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20624">
                <a:tc>
                  <a:txBody>
                    <a:bodyPr/>
                    <a:lstStyle/>
                    <a:p>
                      <a:pPr algn="ctr" indent="0" marL="0">
                        <a:buNone/>
                      </a:pPr>
                      <a:r>
                        <a:rPr lang="en-US" sz="1050" b="1" dirty="0">
                          <a:solidFill>
                            <a:srgbClr val="C9A227"/>
                          </a:solidFill>
                          <a:latin typeface="Meiryo" pitchFamily="34" charset="0"/>
                          <a:ea typeface="Meiryo" pitchFamily="34" charset="-122"/>
                          <a:cs typeface="Meiryo" pitchFamily="34" charset="-120"/>
                        </a:rPr>
                        <a:t>B5</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50" dirty="0">
                          <a:solidFill>
                            <a:srgbClr val="F2EDE6"/>
                          </a:solidFill>
                          <a:latin typeface="Meiryo" pitchFamily="34" charset="0"/>
                          <a:ea typeface="Meiryo" pitchFamily="34" charset="-122"/>
                          <a:cs typeface="Meiryo" pitchFamily="34" charset="-120"/>
                        </a:rPr>
                        <a:t>管理手数料が毎年かかる。値上がりがなくても発生する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00" dirty="0">
                          <a:solidFill>
                            <a:srgbClr val="A2908C"/>
                          </a:solidFill>
                          <a:latin typeface="Meiryo" pitchFamily="34" charset="0"/>
                          <a:ea typeface="Meiryo" pitchFamily="34" charset="-122"/>
                          <a:cs typeface="Meiryo" pitchFamily="34" charset="-120"/>
                        </a:rPr>
                        <a:t>全ランク年2.75%。100万で27,500円</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00" dirty="0">
                          <a:solidFill>
                            <a:srgbClr val="E0A458"/>
                          </a:solidFill>
                          <a:latin typeface="Meiryo" pitchFamily="34" charset="0"/>
                          <a:ea typeface="Meiryo" pitchFamily="34" charset="-122"/>
                          <a:cs typeface="Meiryo" pitchFamily="34" charset="-120"/>
                        </a:rPr>
                        <a:t>投・愛</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75488">
                <a:tc>
                  <a:txBody>
                    <a:bodyPr/>
                    <a:lstStyle/>
                    <a:p>
                      <a:pPr algn="ctr" indent="0" marL="0">
                        <a:buNone/>
                      </a:pPr>
                      <a:r>
                        <a:rPr lang="en-US" sz="1050" b="1" dirty="0">
                          <a:solidFill>
                            <a:srgbClr val="C9A227"/>
                          </a:solidFill>
                          <a:latin typeface="Meiryo" pitchFamily="34" charset="0"/>
                          <a:ea typeface="Meiryo" pitchFamily="34" charset="-122"/>
                          <a:cs typeface="Meiryo" pitchFamily="34" charset="-120"/>
                        </a:rPr>
                        <a:t>B6</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50" dirty="0">
                          <a:solidFill>
                            <a:srgbClr val="F2EDE6"/>
                          </a:solidFill>
                          <a:latin typeface="Meiryo" pitchFamily="34" charset="0"/>
                          <a:ea typeface="Meiryo" pitchFamily="34" charset="-122"/>
                          <a:cs typeface="Meiryo" pitchFamily="34" charset="-120"/>
                        </a:rPr>
                        <a:t>値上がり益の30%は、成功報酬として当社が受け取る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00" dirty="0">
                          <a:solidFill>
                            <a:srgbClr val="A2908C"/>
                          </a:solidFill>
                          <a:latin typeface="Meiryo" pitchFamily="34" charset="0"/>
                          <a:ea typeface="Meiryo" pitchFamily="34" charset="-122"/>
                          <a:cs typeface="Meiryo" pitchFamily="34" charset="-120"/>
                        </a:rPr>
                        <a:t>6%上昇なら年1.8%相当。値上がりしなければゼロ</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00" dirty="0">
                          <a:solidFill>
                            <a:srgbClr val="F2EDE6"/>
                          </a:solidFill>
                          <a:latin typeface="Meiryo" pitchFamily="34" charset="0"/>
                          <a:ea typeface="Meiryo" pitchFamily="34" charset="-122"/>
                          <a:cs typeface="Meiryo" pitchFamily="34" charset="-120"/>
                        </a:rPr>
                        <a:t>投</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75488">
                <a:tc>
                  <a:txBody>
                    <a:bodyPr/>
                    <a:lstStyle/>
                    <a:p>
                      <a:pPr algn="ctr" indent="0" marL="0">
                        <a:buNone/>
                      </a:pPr>
                      <a:r>
                        <a:rPr lang="en-US" sz="1050" b="1" dirty="0">
                          <a:solidFill>
                            <a:srgbClr val="C9A227"/>
                          </a:solidFill>
                          <a:latin typeface="Meiryo" pitchFamily="34" charset="0"/>
                          <a:ea typeface="Meiryo" pitchFamily="34" charset="-122"/>
                          <a:cs typeface="Meiryo" pitchFamily="34" charset="-120"/>
                        </a:rPr>
                        <a:t>B7</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l" indent="0" marL="0">
                        <a:buNone/>
                      </a:pPr>
                      <a:r>
                        <a:rPr lang="en-US" sz="1050" b="1" dirty="0">
                          <a:solidFill>
                            <a:srgbClr val="F2EDE6"/>
                          </a:solidFill>
                          <a:latin typeface="Meiryo" pitchFamily="34" charset="0"/>
                          <a:ea typeface="Meiryo" pitchFamily="34" charset="-122"/>
                          <a:cs typeface="Meiryo" pitchFamily="34" charset="-120"/>
                        </a:rPr>
                        <a:t>引き取って飲むときも、それまでの値上がり分の30%を精算する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l" indent="0" marL="0">
                        <a:buNone/>
                      </a:pPr>
                      <a:r>
                        <a:rPr lang="en-US" sz="1000" dirty="0">
                          <a:solidFill>
                            <a:srgbClr val="A2908C"/>
                          </a:solidFill>
                          <a:latin typeface="Meiryo" pitchFamily="34" charset="0"/>
                          <a:ea typeface="Meiryo" pitchFamily="34" charset="-122"/>
                          <a:cs typeface="Meiryo" pitchFamily="34" charset="-120"/>
                        </a:rPr>
                        <a:t>100万を1年後に引き取る場合、6%上昇で18,000円</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00" dirty="0">
                          <a:solidFill>
                            <a:srgbClr val="E0A458"/>
                          </a:solidFill>
                          <a:latin typeface="Meiryo" pitchFamily="34" charset="0"/>
                          <a:ea typeface="Meiryo" pitchFamily="34" charset="-122"/>
                          <a:cs typeface="Meiryo" pitchFamily="34" charset="-120"/>
                        </a:rPr>
                        <a:t>愛</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bl>
          </a:graphicData>
        </a:graphic>
      </p:graphicFrame>
      <p:sp>
        <p:nvSpPr>
          <p:cNvPr id="7" name="Shape 4"/>
          <p:cNvSpPr/>
          <p:nvPr/>
        </p:nvSpPr>
        <p:spPr>
          <a:xfrm>
            <a:off x="566928" y="5303520"/>
            <a:ext cx="5394960" cy="749808"/>
          </a:xfrm>
          <a:prstGeom prst="roundRect">
            <a:avLst>
              <a:gd name="adj" fmla="val 731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886968" y="5431536"/>
            <a:ext cx="4754880" cy="256032"/>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A2は「1年以上の保有を推奨」の根拠になる</a:t>
            </a:r>
            <a:endParaRPr lang="en-US" sz="1250" dirty="0"/>
          </a:p>
        </p:txBody>
      </p:sp>
      <p:sp>
        <p:nvSpPr>
          <p:cNvPr id="9" name="Text 6"/>
          <p:cNvSpPr txBox="1"/>
          <p:nvPr/>
        </p:nvSpPr>
        <p:spPr>
          <a:xfrm>
            <a:off x="886968" y="5724144"/>
            <a:ext cx="4754880" cy="237744"/>
          </a:xfrm>
          <a:prstGeom prst="rect">
            <a:avLst/>
          </a:prstGeom>
          <a:noFill/>
          <a:ln/>
        </p:spPr>
        <p:txBody>
          <a:bodyPr wrap="square" lIns="0" tIns="0" rIns="0" bIns="0" rtlCol="0" anchor="ctr"/>
          <a:lstStyle/>
          <a:p>
            <a:pPr indent="0" marL="0">
              <a:buNone/>
            </a:pPr>
            <a:r>
              <a:rPr lang="en-US" sz="1050" dirty="0">
                <a:solidFill>
                  <a:srgbClr val="F2EDE6"/>
                </a:solidFill>
                <a:latin typeface="Meiryo" pitchFamily="34" charset="0"/>
                <a:ea typeface="Meiryo" pitchFamily="34" charset="-122"/>
                <a:cs typeface="Meiryo" pitchFamily="34" charset="-120"/>
              </a:rPr>
              <a:t>禁止（ロック）ではなく、理由つきの推奨で同じ効果が出ます。</a:t>
            </a:r>
            <a:endParaRPr lang="en-US" sz="1050" dirty="0"/>
          </a:p>
        </p:txBody>
      </p:sp>
      <p:sp>
        <p:nvSpPr>
          <p:cNvPr id="10" name="Shape 7"/>
          <p:cNvSpPr/>
          <p:nvPr/>
        </p:nvSpPr>
        <p:spPr>
          <a:xfrm>
            <a:off x="6199632" y="5303520"/>
            <a:ext cx="5394960" cy="749808"/>
          </a:xfrm>
          <a:prstGeom prst="roundRect">
            <a:avLst>
              <a:gd name="adj" fmla="val 7317"/>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19672" y="5431536"/>
            <a:ext cx="4754880" cy="256032"/>
          </a:xfrm>
          <a:prstGeom prst="rect">
            <a:avLst/>
          </a:prstGeom>
          <a:noFill/>
          <a:ln/>
        </p:spPr>
        <p:txBody>
          <a:bodyPr wrap="square" lIns="0" tIns="0" rIns="0" bIns="0" rtlCol="0" anchor="ctr"/>
          <a:lstStyle/>
          <a:p>
            <a:pPr indent="0" marL="0">
              <a:buNone/>
            </a:pPr>
            <a:r>
              <a:rPr lang="en-US" sz="1250" b="1" dirty="0">
                <a:solidFill>
                  <a:srgbClr val="E0A458"/>
                </a:solidFill>
                <a:latin typeface="Meiryo" pitchFamily="34" charset="0"/>
                <a:ea typeface="Meiryo" pitchFamily="34" charset="-122"/>
                <a:cs typeface="Meiryo" pitchFamily="34" charset="-120"/>
              </a:rPr>
              <a:t>B7は愛好家向けに必ず書く</a:t>
            </a:r>
            <a:endParaRPr lang="en-US" sz="1250" dirty="0"/>
          </a:p>
        </p:txBody>
      </p:sp>
      <p:sp>
        <p:nvSpPr>
          <p:cNvPr id="12" name="Text 9"/>
          <p:cNvSpPr txBox="1"/>
          <p:nvPr/>
        </p:nvSpPr>
        <p:spPr>
          <a:xfrm>
            <a:off x="6519672" y="5724144"/>
            <a:ext cx="4754880" cy="237744"/>
          </a:xfrm>
          <a:prstGeom prst="rect">
            <a:avLst/>
          </a:prstGeom>
          <a:noFill/>
          <a:ln/>
        </p:spPr>
        <p:txBody>
          <a:bodyPr wrap="square" lIns="0" tIns="0" rIns="0" bIns="0" rtlCol="0" anchor="ctr"/>
          <a:lstStyle/>
          <a:p>
            <a:pPr indent="0" marL="0">
              <a:buNone/>
            </a:pPr>
            <a:r>
              <a:rPr lang="en-US" sz="1050" dirty="0">
                <a:solidFill>
                  <a:srgbClr val="F2EDE6"/>
                </a:solidFill>
                <a:latin typeface="Meiryo" pitchFamily="34" charset="0"/>
                <a:ea typeface="Meiryo" pitchFamily="34" charset="-122"/>
                <a:cs typeface="Meiryo" pitchFamily="34" charset="-120"/>
              </a:rPr>
              <a:t>「飲むのに、なぜ払うの？」は後から必ずクレームになります。</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DISCLOSURE 2/2</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正直にお伝えすべきこと：マイルと保管</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マイルは「現金ではない」ことを明確に。交換先によってレートが違うことの明示は、有利誤認を避けるうえで最も重要です。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548640"/>
                <a:gridCol w="4297680"/>
                <a:gridCol w="5266944"/>
                <a:gridCol w="914400"/>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デメリット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数字・補足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対象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93192">
                <a:tc>
                  <a:txBody>
                    <a:bodyPr/>
                    <a:lstStyle/>
                    <a:p>
                      <a:pPr algn="ctr" indent="0" marL="0">
                        <a:buNone/>
                      </a:pPr>
                      <a:r>
                        <a:rPr lang="en-US" sz="1050" b="1" dirty="0">
                          <a:solidFill>
                            <a:srgbClr val="C9A227"/>
                          </a:solidFill>
                          <a:latin typeface="Meiryo" pitchFamily="34" charset="0"/>
                          <a:ea typeface="Meiryo" pitchFamily="34" charset="-122"/>
                          <a:cs typeface="Meiryo" pitchFamily="34" charset="-120"/>
                        </a:rPr>
                        <a:t>C8</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50" dirty="0">
                          <a:solidFill>
                            <a:srgbClr val="F2EDE6"/>
                          </a:solidFill>
                          <a:latin typeface="Meiryo" pitchFamily="34" charset="0"/>
                          <a:ea typeface="Meiryo" pitchFamily="34" charset="-122"/>
                          <a:cs typeface="Meiryo" pitchFamily="34" charset="-120"/>
                        </a:rPr>
                        <a:t>現金化できない。WineBankの経済圏でのみ使える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00" dirty="0">
                          <a:solidFill>
                            <a:srgbClr val="A2908C"/>
                          </a:solidFill>
                          <a:latin typeface="Meiryo" pitchFamily="34" charset="0"/>
                          <a:ea typeface="Meiryo" pitchFamily="34" charset="-122"/>
                          <a:cs typeface="Meiryo" pitchFamily="34" charset="-120"/>
                        </a:rPr>
                        <a:t>他社ポイントとの交換も不可</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00" dirty="0">
                          <a:solidFill>
                            <a:srgbClr val="E0A458"/>
                          </a:solidFill>
                          <a:latin typeface="Meiryo" pitchFamily="34" charset="0"/>
                          <a:ea typeface="Meiryo" pitchFamily="34" charset="-122"/>
                          <a:cs typeface="Meiryo" pitchFamily="34" charset="-120"/>
                        </a:rPr>
                        <a:t>投・愛</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93192">
                <a:tc>
                  <a:txBody>
                    <a:bodyPr/>
                    <a:lstStyle/>
                    <a:p>
                      <a:pPr algn="ctr" indent="0" marL="0">
                        <a:buNone/>
                      </a:pPr>
                      <a:r>
                        <a:rPr lang="en-US" sz="1050" b="1" dirty="0">
                          <a:solidFill>
                            <a:srgbClr val="C9A227"/>
                          </a:solidFill>
                          <a:latin typeface="Meiryo" pitchFamily="34" charset="0"/>
                          <a:ea typeface="Meiryo" pitchFamily="34" charset="-122"/>
                          <a:cs typeface="Meiryo" pitchFamily="34" charset="-120"/>
                        </a:rPr>
                        <a:t>C9</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50" dirty="0">
                          <a:solidFill>
                            <a:srgbClr val="F2EDE6"/>
                          </a:solidFill>
                          <a:latin typeface="Meiryo" pitchFamily="34" charset="0"/>
                          <a:ea typeface="Meiryo" pitchFamily="34" charset="-122"/>
                          <a:cs typeface="Meiryo" pitchFamily="34" charset="-120"/>
                        </a:rPr>
                        <a:t>有効期限がある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00" dirty="0">
                          <a:solidFill>
                            <a:srgbClr val="A2908C"/>
                          </a:solidFill>
                          <a:latin typeface="Meiryo" pitchFamily="34" charset="0"/>
                          <a:ea typeface="Meiryo" pitchFamily="34" charset="-122"/>
                          <a:cs typeface="Meiryo" pitchFamily="34" charset="-120"/>
                        </a:rPr>
                        <a:t>通常1年・期間限定6か月以内。失効の30日前にメールで通知</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00" dirty="0">
                          <a:solidFill>
                            <a:srgbClr val="E0A458"/>
                          </a:solidFill>
                          <a:latin typeface="Meiryo" pitchFamily="34" charset="0"/>
                          <a:ea typeface="Meiryo" pitchFamily="34" charset="-122"/>
                          <a:cs typeface="Meiryo" pitchFamily="34" charset="-120"/>
                        </a:rPr>
                        <a:t>投・愛</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93192">
                <a:tc>
                  <a:txBody>
                    <a:bodyPr/>
                    <a:lstStyle/>
                    <a:p>
                      <a:pPr algn="ctr" indent="0" marL="0">
                        <a:buNone/>
                      </a:pPr>
                      <a:r>
                        <a:rPr lang="en-US" sz="1050" b="1" dirty="0">
                          <a:solidFill>
                            <a:srgbClr val="C9A227"/>
                          </a:solidFill>
                          <a:latin typeface="Meiryo" pitchFamily="34" charset="0"/>
                          <a:ea typeface="Meiryo" pitchFamily="34" charset="-122"/>
                          <a:cs typeface="Meiryo" pitchFamily="34" charset="-120"/>
                        </a:rPr>
                        <a:t>C10</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l" indent="0" marL="0">
                        <a:buNone/>
                      </a:pPr>
                      <a:r>
                        <a:rPr lang="en-US" sz="1050" b="1" dirty="0">
                          <a:solidFill>
                            <a:srgbClr val="F2EDE6"/>
                          </a:solidFill>
                          <a:latin typeface="Meiryo" pitchFamily="34" charset="0"/>
                          <a:ea typeface="Meiryo" pitchFamily="34" charset="-122"/>
                          <a:cs typeface="Meiryo" pitchFamily="34" charset="-120"/>
                        </a:rPr>
                        <a:t>交換先で1マイルの価値が違う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l" indent="0" marL="0">
                        <a:buNone/>
                      </a:pPr>
                      <a:r>
                        <a:rPr lang="en-US" sz="1000" dirty="0">
                          <a:solidFill>
                            <a:srgbClr val="A2908C"/>
                          </a:solidFill>
                          <a:latin typeface="Meiryo" pitchFamily="34" charset="0"/>
                          <a:ea typeface="Meiryo" pitchFamily="34" charset="-122"/>
                          <a:cs typeface="Meiryo" pitchFamily="34" charset="-120"/>
                        </a:rPr>
                        <a:t>直営飲食1.0円・グランメゾン0.5円。平均で額面の約8割（0.81円）</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00" dirty="0">
                          <a:solidFill>
                            <a:srgbClr val="E0A458"/>
                          </a:solidFill>
                          <a:latin typeface="Meiryo" pitchFamily="34" charset="0"/>
                          <a:ea typeface="Meiryo" pitchFamily="34" charset="-122"/>
                          <a:cs typeface="Meiryo" pitchFamily="34" charset="-120"/>
                        </a:rPr>
                        <a:t>投・愛</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393192">
                <a:tc>
                  <a:txBody>
                    <a:bodyPr/>
                    <a:lstStyle/>
                    <a:p>
                      <a:pPr algn="ctr" indent="0" marL="0">
                        <a:buNone/>
                      </a:pPr>
                      <a:r>
                        <a:rPr lang="en-US" sz="1050" b="1" dirty="0">
                          <a:solidFill>
                            <a:srgbClr val="C9A227"/>
                          </a:solidFill>
                          <a:latin typeface="Meiryo" pitchFamily="34" charset="0"/>
                          <a:ea typeface="Meiryo" pitchFamily="34" charset="-122"/>
                          <a:cs typeface="Meiryo" pitchFamily="34" charset="-120"/>
                        </a:rPr>
                        <a:t>C11</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50" dirty="0">
                          <a:solidFill>
                            <a:srgbClr val="F2EDE6"/>
                          </a:solidFill>
                          <a:latin typeface="Meiryo" pitchFamily="34" charset="0"/>
                          <a:ea typeface="Meiryo" pitchFamily="34" charset="-122"/>
                          <a:cs typeface="Meiryo" pitchFamily="34" charset="-120"/>
                        </a:rPr>
                        <a:t>付与率・交換レートは変わることがある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00" dirty="0">
                          <a:solidFill>
                            <a:srgbClr val="A2908C"/>
                          </a:solidFill>
                          <a:latin typeface="Meiryo" pitchFamily="34" charset="0"/>
                          <a:ea typeface="Meiryo" pitchFamily="34" charset="-122"/>
                          <a:cs typeface="Meiryo" pitchFamily="34" charset="-120"/>
                        </a:rPr>
                        <a:t>30日前に予告</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00" dirty="0">
                          <a:solidFill>
                            <a:srgbClr val="E0A458"/>
                          </a:solidFill>
                          <a:latin typeface="Meiryo" pitchFamily="34" charset="0"/>
                          <a:ea typeface="Meiryo" pitchFamily="34" charset="-122"/>
                          <a:cs typeface="Meiryo" pitchFamily="34" charset="-120"/>
                        </a:rPr>
                        <a:t>投・愛</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93192">
                <a:tc>
                  <a:txBody>
                    <a:bodyPr/>
                    <a:lstStyle/>
                    <a:p>
                      <a:pPr algn="ctr" indent="0" marL="0">
                        <a:buNone/>
                      </a:pPr>
                      <a:r>
                        <a:rPr lang="en-US" sz="1050" b="1" dirty="0">
                          <a:solidFill>
                            <a:srgbClr val="C9A227"/>
                          </a:solidFill>
                          <a:latin typeface="Meiryo" pitchFamily="34" charset="0"/>
                          <a:ea typeface="Meiryo" pitchFamily="34" charset="-122"/>
                          <a:cs typeface="Meiryo" pitchFamily="34" charset="-120"/>
                        </a:rPr>
                        <a:t>C12</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50" dirty="0">
                          <a:solidFill>
                            <a:srgbClr val="F2EDE6"/>
                          </a:solidFill>
                          <a:latin typeface="Meiryo" pitchFamily="34" charset="0"/>
                          <a:ea typeface="Meiryo" pitchFamily="34" charset="-122"/>
                          <a:cs typeface="Meiryo" pitchFamily="34" charset="-120"/>
                        </a:rPr>
                        <a:t>預けていた月の分だけ付与される（月割付与の場合）</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00" dirty="0">
                          <a:solidFill>
                            <a:srgbClr val="A2908C"/>
                          </a:solidFill>
                          <a:latin typeface="Meiryo" pitchFamily="34" charset="0"/>
                          <a:ea typeface="Meiryo" pitchFamily="34" charset="-122"/>
                          <a:cs typeface="Meiryo" pitchFamily="34" charset="-120"/>
                        </a:rPr>
                        <a:t>引き出した月以降は付与されない</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00" dirty="0">
                          <a:solidFill>
                            <a:srgbClr val="E0A458"/>
                          </a:solidFill>
                          <a:latin typeface="Meiryo" pitchFamily="34" charset="0"/>
                          <a:ea typeface="Meiryo" pitchFamily="34" charset="-122"/>
                          <a:cs typeface="Meiryo" pitchFamily="34" charset="-120"/>
                        </a:rPr>
                        <a:t>投・愛</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93192">
                <a:tc>
                  <a:txBody>
                    <a:bodyPr/>
                    <a:lstStyle/>
                    <a:p>
                      <a:pPr algn="ctr" indent="0" marL="0">
                        <a:buNone/>
                      </a:pPr>
                      <a:r>
                        <a:rPr lang="en-US" sz="1050" b="1" dirty="0">
                          <a:solidFill>
                            <a:srgbClr val="C9A227"/>
                          </a:solidFill>
                          <a:latin typeface="Meiryo" pitchFamily="34" charset="0"/>
                          <a:ea typeface="Meiryo" pitchFamily="34" charset="-122"/>
                          <a:cs typeface="Meiryo" pitchFamily="34" charset="-120"/>
                        </a:rPr>
                        <a:t>D13</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50" dirty="0">
                          <a:solidFill>
                            <a:srgbClr val="F2EDE6"/>
                          </a:solidFill>
                          <a:latin typeface="Meiryo" pitchFamily="34" charset="0"/>
                          <a:ea typeface="Meiryo" pitchFamily="34" charset="-122"/>
                          <a:cs typeface="Meiryo" pitchFamily="34" charset="-120"/>
                        </a:rPr>
                        <a:t>自宅に届けるには、出庫手続きと配送料がかかる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00" dirty="0">
                          <a:solidFill>
                            <a:srgbClr val="A2908C"/>
                          </a:solidFill>
                          <a:latin typeface="Meiryo" pitchFamily="34" charset="0"/>
                          <a:ea typeface="Meiryo" pitchFamily="34" charset="-122"/>
                          <a:cs typeface="Meiryo" pitchFamily="34" charset="-120"/>
                        </a:rPr>
                        <a:t>配送代行の導入で緩和予定</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00" dirty="0">
                          <a:solidFill>
                            <a:srgbClr val="E0A458"/>
                          </a:solidFill>
                          <a:latin typeface="Meiryo" pitchFamily="34" charset="0"/>
                          <a:ea typeface="Meiryo" pitchFamily="34" charset="-122"/>
                          <a:cs typeface="Meiryo" pitchFamily="34" charset="-120"/>
                        </a:rPr>
                        <a:t>愛</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93192">
                <a:tc>
                  <a:txBody>
                    <a:bodyPr/>
                    <a:lstStyle/>
                    <a:p>
                      <a:pPr algn="ctr" indent="0" marL="0">
                        <a:buNone/>
                      </a:pPr>
                      <a:r>
                        <a:rPr lang="en-US" sz="1050" b="1" dirty="0">
                          <a:solidFill>
                            <a:srgbClr val="C9A227"/>
                          </a:solidFill>
                          <a:latin typeface="Meiryo" pitchFamily="34" charset="0"/>
                          <a:ea typeface="Meiryo" pitchFamily="34" charset="-122"/>
                          <a:cs typeface="Meiryo" pitchFamily="34" charset="-120"/>
                        </a:rPr>
                        <a:t>D14</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50" dirty="0">
                          <a:solidFill>
                            <a:srgbClr val="F2EDE6"/>
                          </a:solidFill>
                          <a:latin typeface="Meiryo" pitchFamily="34" charset="0"/>
                          <a:ea typeface="Meiryo" pitchFamily="34" charset="-122"/>
                          <a:cs typeface="Meiryo" pitchFamily="34" charset="-120"/>
                        </a:rPr>
                        <a:t>引き取ると管理契約が終了し、成功報酬の精算が発生する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00" dirty="0">
                          <a:solidFill>
                            <a:srgbClr val="A2908C"/>
                          </a:solidFill>
                          <a:latin typeface="Meiryo" pitchFamily="34" charset="0"/>
                          <a:ea typeface="Meiryo" pitchFamily="34" charset="-122"/>
                          <a:cs typeface="Meiryo" pitchFamily="34" charset="-120"/>
                        </a:rPr>
                        <a:t>B7と同じ論点</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00" dirty="0">
                          <a:solidFill>
                            <a:srgbClr val="E0A458"/>
                          </a:solidFill>
                          <a:latin typeface="Meiryo" pitchFamily="34" charset="0"/>
                          <a:ea typeface="Meiryo" pitchFamily="34" charset="-122"/>
                          <a:cs typeface="Meiryo" pitchFamily="34" charset="-120"/>
                        </a:rPr>
                        <a:t>愛</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93192">
                <a:tc>
                  <a:txBody>
                    <a:bodyPr/>
                    <a:lstStyle/>
                    <a:p>
                      <a:pPr algn="ctr" indent="0" marL="0">
                        <a:buNone/>
                      </a:pPr>
                      <a:r>
                        <a:rPr lang="en-US" sz="1050" b="1" dirty="0">
                          <a:solidFill>
                            <a:srgbClr val="C9A227"/>
                          </a:solidFill>
                          <a:latin typeface="Meiryo" pitchFamily="34" charset="0"/>
                          <a:ea typeface="Meiryo" pitchFamily="34" charset="-122"/>
                          <a:cs typeface="Meiryo" pitchFamily="34" charset="-120"/>
                        </a:rPr>
                        <a:t>E15</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50" dirty="0">
                          <a:solidFill>
                            <a:srgbClr val="F2EDE6"/>
                          </a:solidFill>
                          <a:latin typeface="Meiryo" pitchFamily="34" charset="0"/>
                          <a:ea typeface="Meiryo" pitchFamily="34" charset="-122"/>
                          <a:cs typeface="Meiryo" pitchFamily="34" charset="-120"/>
                        </a:rPr>
                        <a:t>WineBankの経営リスク</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00" dirty="0">
                          <a:solidFill>
                            <a:srgbClr val="A2908C"/>
                          </a:solidFill>
                          <a:latin typeface="Meiryo" pitchFamily="34" charset="0"/>
                          <a:ea typeface="Meiryo" pitchFamily="34" charset="-122"/>
                          <a:cs typeface="Meiryo" pitchFamily="34" charset="-120"/>
                        </a:rPr>
                        <a:t>ワインは会員所有、保管は鈴与、保険付保。万一の際は返還に時間がかかりうる</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00" dirty="0">
                          <a:solidFill>
                            <a:srgbClr val="E0A458"/>
                          </a:solidFill>
                          <a:latin typeface="Meiryo" pitchFamily="34" charset="0"/>
                          <a:ea typeface="Meiryo" pitchFamily="34" charset="-122"/>
                          <a:cs typeface="Meiryo" pitchFamily="34" charset="-120"/>
                        </a:rPr>
                        <a:t>投・愛</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93192">
                <a:tc>
                  <a:txBody>
                    <a:bodyPr/>
                    <a:lstStyle/>
                    <a:p>
                      <a:pPr algn="ctr" indent="0" marL="0">
                        <a:buNone/>
                      </a:pPr>
                      <a:r>
                        <a:rPr lang="en-US" sz="1050" b="1" dirty="0">
                          <a:solidFill>
                            <a:srgbClr val="C9A227"/>
                          </a:solidFill>
                          <a:latin typeface="Meiryo" pitchFamily="34" charset="0"/>
                          <a:ea typeface="Meiryo" pitchFamily="34" charset="-122"/>
                          <a:cs typeface="Meiryo" pitchFamily="34" charset="-120"/>
                        </a:rPr>
                        <a:t>E16</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50" dirty="0">
                          <a:solidFill>
                            <a:srgbClr val="F2EDE6"/>
                          </a:solidFill>
                          <a:latin typeface="Meiryo" pitchFamily="34" charset="0"/>
                          <a:ea typeface="Meiryo" pitchFamily="34" charset="-122"/>
                          <a:cs typeface="Meiryo" pitchFamily="34" charset="-120"/>
                        </a:rPr>
                        <a:t>保管中の事故</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00" dirty="0">
                          <a:solidFill>
                            <a:srgbClr val="A2908C"/>
                          </a:solidFill>
                          <a:latin typeface="Meiryo" pitchFamily="34" charset="0"/>
                          <a:ea typeface="Meiryo" pitchFamily="34" charset="-122"/>
                          <a:cs typeface="Meiryo" pitchFamily="34" charset="-120"/>
                        </a:rPr>
                        <a:t>保険は評価額ベース。同じヴィンテージが再入手できないことがある</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00" dirty="0">
                          <a:solidFill>
                            <a:srgbClr val="E0A458"/>
                          </a:solidFill>
                          <a:latin typeface="Meiryo" pitchFamily="34" charset="0"/>
                          <a:ea typeface="Meiryo" pitchFamily="34" charset="-122"/>
                          <a:cs typeface="Meiryo" pitchFamily="34" charset="-120"/>
                        </a:rPr>
                        <a:t>投・愛</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93192">
                <a:tc>
                  <a:txBody>
                    <a:bodyPr/>
                    <a:lstStyle/>
                    <a:p>
                      <a:pPr algn="ctr" indent="0" marL="0">
                        <a:buNone/>
                      </a:pPr>
                      <a:r>
                        <a:rPr lang="en-US" sz="1050" b="1" dirty="0">
                          <a:solidFill>
                            <a:srgbClr val="C9A227"/>
                          </a:solidFill>
                          <a:latin typeface="Meiryo" pitchFamily="34" charset="0"/>
                          <a:ea typeface="Meiryo" pitchFamily="34" charset="-122"/>
                          <a:cs typeface="Meiryo" pitchFamily="34" charset="-120"/>
                        </a:rPr>
                        <a:t>E17</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50" dirty="0">
                          <a:solidFill>
                            <a:srgbClr val="F2EDE6"/>
                          </a:solidFill>
                          <a:latin typeface="Meiryo" pitchFamily="34" charset="0"/>
                          <a:ea typeface="Meiryo" pitchFamily="34" charset="-122"/>
                          <a:cs typeface="Meiryo" pitchFamily="34" charset="-120"/>
                        </a:rPr>
                        <a:t>高額ワインの売却益は、課税対象となる可能性がある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l" indent="0" marL="0">
                        <a:buNone/>
                      </a:pPr>
                      <a:r>
                        <a:rPr lang="en-US" sz="1000" dirty="0">
                          <a:solidFill>
                            <a:srgbClr val="A2908C"/>
                          </a:solidFill>
                          <a:latin typeface="Meiryo" pitchFamily="34" charset="0"/>
                          <a:ea typeface="Meiryo" pitchFamily="34" charset="-122"/>
                          <a:cs typeface="Meiryo" pitchFamily="34" charset="-120"/>
                        </a:rPr>
                        <a:t>税理士確認中。断定しないこと</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00" dirty="0">
                          <a:solidFill>
                            <a:srgbClr val="F2EDE6"/>
                          </a:solidFill>
                          <a:latin typeface="Meiryo" pitchFamily="34" charset="0"/>
                          <a:ea typeface="Meiryo" pitchFamily="34" charset="-122"/>
                          <a:cs typeface="Meiryo" pitchFamily="34" charset="-120"/>
                        </a:rPr>
                        <a:t>投</a:t>
                      </a:r>
                      <a:endParaRPr lang="en-US" sz="10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AD COPY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広告では、この4つを先に書く</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17項目は規約・重要事項説明書で網羅し、広告には4つだけを「正直にお伝えします」枠で太字にして出します。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1463040"/>
          </a:xfrm>
          <a:prstGeom prst="roundRect">
            <a:avLst>
              <a:gd name="adj" fmla="val 375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65376"/>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6537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335024" y="1865376"/>
            <a:ext cx="438912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元本保証はありません。</a:t>
            </a:r>
            <a:endParaRPr lang="en-US" sz="1500" dirty="0"/>
          </a:p>
        </p:txBody>
      </p:sp>
      <p:sp>
        <p:nvSpPr>
          <p:cNvPr id="10" name="Text 8"/>
          <p:cNvSpPr txBox="1"/>
          <p:nvPr/>
        </p:nvSpPr>
        <p:spPr>
          <a:xfrm>
            <a:off x="1335024" y="2231136"/>
            <a:ext cx="4389120" cy="274320"/>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値下がりした場合、その損失はお客様のものです。</a:t>
            </a:r>
            <a:endParaRPr lang="en-US" sz="1200" dirty="0"/>
          </a:p>
        </p:txBody>
      </p:sp>
      <p:sp>
        <p:nvSpPr>
          <p:cNvPr id="11" name="Text 9"/>
          <p:cNvSpPr txBox="1"/>
          <p:nvPr/>
        </p:nvSpPr>
        <p:spPr>
          <a:xfrm>
            <a:off x="1335024" y="2615184"/>
            <a:ext cx="4389120" cy="365760"/>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なぜ：「元本保証」と誤認されることを先に防ぎます</a:t>
            </a:r>
            <a:endParaRPr lang="en-US" sz="1000" dirty="0"/>
          </a:p>
        </p:txBody>
      </p:sp>
      <p:sp>
        <p:nvSpPr>
          <p:cNvPr id="12" name="Shape 10"/>
          <p:cNvSpPr/>
          <p:nvPr/>
        </p:nvSpPr>
        <p:spPr>
          <a:xfrm>
            <a:off x="6199632" y="1645920"/>
            <a:ext cx="5394960" cy="1463040"/>
          </a:xfrm>
          <a:prstGeom prst="roundRect">
            <a:avLst>
              <a:gd name="adj" fmla="val 375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6537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6537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67728" y="1865376"/>
            <a:ext cx="438912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買ってすぐ売ると、約1割目減りします。</a:t>
            </a:r>
            <a:endParaRPr lang="en-US" sz="1500" dirty="0"/>
          </a:p>
        </p:txBody>
      </p:sp>
      <p:sp>
        <p:nvSpPr>
          <p:cNvPr id="16" name="Text 14"/>
          <p:cNvSpPr txBox="1"/>
          <p:nvPr/>
        </p:nvSpPr>
        <p:spPr>
          <a:xfrm>
            <a:off x="6967728" y="2231136"/>
            <a:ext cx="4389120" cy="274320"/>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1年以上の保有をおすすめする理由です。</a:t>
            </a:r>
            <a:endParaRPr lang="en-US" sz="1200" dirty="0"/>
          </a:p>
        </p:txBody>
      </p:sp>
      <p:sp>
        <p:nvSpPr>
          <p:cNvPr id="17" name="Text 15"/>
          <p:cNvSpPr txBox="1"/>
          <p:nvPr/>
        </p:nvSpPr>
        <p:spPr>
          <a:xfrm>
            <a:off x="6967728" y="2615184"/>
            <a:ext cx="4389120" cy="365760"/>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なぜ：禁止ではなく理由つきの推奨にすれば、ロックは要りません</a:t>
            </a:r>
            <a:endParaRPr lang="en-US" sz="1000" dirty="0"/>
          </a:p>
        </p:txBody>
      </p:sp>
      <p:sp>
        <p:nvSpPr>
          <p:cNvPr id="18" name="Shape 16"/>
          <p:cNvSpPr/>
          <p:nvPr/>
        </p:nvSpPr>
        <p:spPr>
          <a:xfrm>
            <a:off x="566928" y="3236976"/>
            <a:ext cx="5394960" cy="1463040"/>
          </a:xfrm>
          <a:prstGeom prst="roundRect">
            <a:avLst>
              <a:gd name="adj" fmla="val 375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3456432"/>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345643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335024" y="3456432"/>
            <a:ext cx="438912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値上がり益の30%をいただきます。</a:t>
            </a:r>
            <a:endParaRPr lang="en-US" sz="1500" dirty="0"/>
          </a:p>
        </p:txBody>
      </p:sp>
      <p:sp>
        <p:nvSpPr>
          <p:cNvPr id="22" name="Text 20"/>
          <p:cNvSpPr txBox="1"/>
          <p:nvPr/>
        </p:nvSpPr>
        <p:spPr>
          <a:xfrm>
            <a:off x="1335024" y="3822192"/>
            <a:ext cx="4389120" cy="274320"/>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値上がりしなければ、いただくものはありません。</a:t>
            </a:r>
            <a:endParaRPr lang="en-US" sz="1200" dirty="0"/>
          </a:p>
        </p:txBody>
      </p:sp>
      <p:sp>
        <p:nvSpPr>
          <p:cNvPr id="23" name="Text 21"/>
          <p:cNvSpPr txBox="1"/>
          <p:nvPr/>
        </p:nvSpPr>
        <p:spPr>
          <a:xfrm>
            <a:off x="1335024" y="4206240"/>
            <a:ext cx="4389120" cy="365760"/>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なぜ：デメリットがそのまま「損をしたら払わない」メリットになります</a:t>
            </a:r>
            <a:endParaRPr lang="en-US" sz="1000" dirty="0"/>
          </a:p>
        </p:txBody>
      </p:sp>
      <p:sp>
        <p:nvSpPr>
          <p:cNvPr id="24" name="Shape 22"/>
          <p:cNvSpPr/>
          <p:nvPr/>
        </p:nvSpPr>
        <p:spPr>
          <a:xfrm>
            <a:off x="6199632" y="3236976"/>
            <a:ext cx="5394960" cy="1463040"/>
          </a:xfrm>
          <a:prstGeom prst="roundRect">
            <a:avLst>
              <a:gd name="adj" fmla="val 375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3456432"/>
            <a:ext cx="329184" cy="329184"/>
          </a:xfrm>
          <a:prstGeom prst="ellipse">
            <a:avLst/>
          </a:prstGeom>
          <a:solidFill>
            <a:srgbClr val="C9A227"/>
          </a:solidFill>
          <a:ln w="12700">
            <a:solidFill>
              <a:srgbClr val="C9A227"/>
            </a:solidFill>
            <a:prstDash val="solid"/>
          </a:ln>
        </p:spPr>
      </p:sp>
      <p:sp>
        <p:nvSpPr>
          <p:cNvPr id="26" name="Text 24"/>
          <p:cNvSpPr txBox="1"/>
          <p:nvPr/>
        </p:nvSpPr>
        <p:spPr>
          <a:xfrm>
            <a:off x="6492240" y="345643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67728" y="3456432"/>
            <a:ext cx="438912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マイルは現金になりません。</a:t>
            </a:r>
            <a:endParaRPr lang="en-US" sz="1500" dirty="0"/>
          </a:p>
        </p:txBody>
      </p:sp>
      <p:sp>
        <p:nvSpPr>
          <p:cNvPr id="28" name="Text 26"/>
          <p:cNvSpPr txBox="1"/>
          <p:nvPr/>
        </p:nvSpPr>
        <p:spPr>
          <a:xfrm>
            <a:off x="6967728" y="3822192"/>
            <a:ext cx="4389120" cy="274320"/>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使える先と交換レートはこちら。</a:t>
            </a:r>
            <a:endParaRPr lang="en-US" sz="1200" dirty="0"/>
          </a:p>
        </p:txBody>
      </p:sp>
      <p:sp>
        <p:nvSpPr>
          <p:cNvPr id="29" name="Text 27"/>
          <p:cNvSpPr txBox="1"/>
          <p:nvPr/>
        </p:nvSpPr>
        <p:spPr>
          <a:xfrm>
            <a:off x="6967728" y="4206240"/>
            <a:ext cx="4389120" cy="365760"/>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なぜ：レートが0.5〜1.0円と違うことの明示は、有利誤認対策の要です</a:t>
            </a:r>
            <a:endParaRPr lang="en-US" sz="1000" dirty="0"/>
          </a:p>
        </p:txBody>
      </p:sp>
      <p:sp>
        <p:nvSpPr>
          <p:cNvPr id="30" name="Shape 28"/>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978408" y="5029200"/>
            <a:ext cx="10204704" cy="329184"/>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3番は、書いた瞬間にメリットへ裏返ります。</a:t>
            </a:r>
            <a:endParaRPr lang="en-US" sz="1700" dirty="0"/>
          </a:p>
        </p:txBody>
      </p:sp>
      <p:sp>
        <p:nvSpPr>
          <p:cNvPr id="32" name="Text 30"/>
          <p:cNvSpPr txBox="1"/>
          <p:nvPr/>
        </p:nvSpPr>
        <p:spPr>
          <a:xfrm>
            <a:off x="978408" y="5413248"/>
            <a:ext cx="10204704" cy="548640"/>
          </a:xfrm>
          <a:prstGeom prst="rect">
            <a:avLst/>
          </a:prstGeom>
          <a:noFill/>
          <a:ln/>
        </p:spPr>
        <p:txBody>
          <a:bodyPr wrap="square" lIns="0" tIns="0" rIns="0" bIns="0" rtlCol="0" anchor="ctr"/>
          <a:lstStyle/>
          <a:p>
            <a:pPr indent="0" marL="0">
              <a:lnSpc>
                <a:spcPts val="1700"/>
              </a:lnSpc>
              <a:buNone/>
            </a:pPr>
            <a:r>
              <a:rPr lang="en-US" sz="1150" dirty="0">
                <a:solidFill>
                  <a:srgbClr val="F2EDE6"/>
                </a:solidFill>
                <a:latin typeface="Meiryo" pitchFamily="34" charset="0"/>
                <a:ea typeface="Meiryo" pitchFamily="34" charset="-122"/>
                <a:cs typeface="Meiryo" pitchFamily="34" charset="-120"/>
              </a:rPr>
              <a:t>「値上がりが起きても、起きなくても」の話を、デメリット欄から始められます。弁護士意見書も「制限の内容等を正確に記載」を求めており、この枠はコンプライアンス上も必要なものです。</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弁護士意見書（取得済）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売買・管理規約と成果報酬契約の整備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交流イベントの年間計画</a:t>
            </a:r>
            <a:endParaRPr lang="en-US" sz="1200" dirty="0"/>
          </a:p>
        </p:txBody>
      </p:sp>
      <p:sp>
        <p:nvSpPr>
          <p:cNvPr id="11" name="Shape 9"/>
          <p:cNvSpPr/>
          <p:nvPr/>
        </p:nvSpPr>
        <p:spPr>
          <a:xfrm>
            <a:off x="3410712"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AI活用の内製で開発費を圧縮</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この6つが決まれば、マイル制度を確定してローンチの準備に入れます。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マイルの付与タイミング</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月割の後付与を採るか。年一括のままなら、持込ワインの裁定を塞ぐ別のルール（ロック・飲用上限）が要ります。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SIGNATUREの還元率</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6%維持か5%か。5%なら当社の現金は年▲8.7万→▲3.6万に改善しますが、GOLDと同率になります。</a:t>
            </a:r>
            <a:endParaRPr lang="en-US" sz="1050" dirty="0"/>
          </a:p>
        </p:txBody>
      </p:sp>
      <p:sp>
        <p:nvSpPr>
          <p:cNvPr id="17" name="Shape 15"/>
          <p:cNvSpPr/>
          <p:nvPr/>
        </p:nvSpPr>
        <p:spPr>
          <a:xfrm>
            <a:off x="566928" y="440740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直営店との90%精算の合意</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単体では直営飲食1.0円の経路が最も重い。連結で見る前提を経営として固める必要があります。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残る法務・税務の宿題</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①マイル利用規約の整備（経産省ガイドラインの6項目）②成果報酬契約の文言 ③無償付与マイルの課税整理（税理士）④古物競りあっせん業者の届出要否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2026-09-29T06:14:14Z</dcterms:created>
  <dcterms:modified xsi:type="dcterms:W3CDTF">2026-09-29T06:14:14Z</dcterms:modified>
</cp:coreProperties>
</file>