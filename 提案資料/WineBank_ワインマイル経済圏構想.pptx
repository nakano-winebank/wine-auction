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重要：単体P/Lと連結P/Lを必ず分けて説明する。SBIには連結、系列店の店長には単体（90%が入る）を見せる。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現行WineBank CLUBのランク・年会費・特典の正確な情報を未入手のため、構造のみ提案。実数を反映して確定させる必要がある。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377440"/>
          </a:xfrm>
          <a:prstGeom prst="roundRect">
            <a:avLst>
              <a:gd name="adj" fmla="val 230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377440"/>
          </a:xfrm>
          <a:prstGeom prst="roundRect">
            <a:avLst>
              <a:gd name="adj" fmla="val 230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部下の昇進祝いに、もう一本。</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オークションで一本落札。また限定マイルが入る。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Shape 22"/>
          <p:cNvSpPr/>
          <p:nvPr/>
        </p:nvSpPr>
        <p:spPr>
          <a:xfrm>
            <a:off x="566928" y="4078224"/>
            <a:ext cx="11027664" cy="749808"/>
          </a:xfrm>
          <a:prstGeom prst="roundRect">
            <a:avLst>
              <a:gd name="adj" fmla="val 731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978408" y="4242816"/>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6" name="Shape 24"/>
          <p:cNvSpPr/>
          <p:nvPr/>
        </p:nvSpPr>
        <p:spPr>
          <a:xfrm>
            <a:off x="566928" y="4956048"/>
            <a:ext cx="3529584" cy="1097280"/>
          </a:xfrm>
          <a:prstGeom prst="roundRect">
            <a:avLst>
              <a:gd name="adj" fmla="val 5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841248" y="5102352"/>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8" name="Text 26"/>
          <p:cNvSpPr txBox="1"/>
          <p:nvPr/>
        </p:nvSpPr>
        <p:spPr>
          <a:xfrm>
            <a:off x="841248" y="5413248"/>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29" name="Shape 27"/>
          <p:cNvSpPr/>
          <p:nvPr/>
        </p:nvSpPr>
        <p:spPr>
          <a:xfrm>
            <a:off x="4352544" y="4956048"/>
            <a:ext cx="3529584" cy="1097280"/>
          </a:xfrm>
          <a:prstGeom prst="roundRect">
            <a:avLst>
              <a:gd name="adj" fmla="val 5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4626864" y="5102352"/>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1" name="Text 29"/>
          <p:cNvSpPr txBox="1"/>
          <p:nvPr/>
        </p:nvSpPr>
        <p:spPr>
          <a:xfrm>
            <a:off x="4626864" y="5413248"/>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2" name="Shape 30"/>
          <p:cNvSpPr/>
          <p:nvPr/>
        </p:nvSpPr>
        <p:spPr>
          <a:xfrm>
            <a:off x="8138160" y="4956048"/>
            <a:ext cx="3529584" cy="1097280"/>
          </a:xfrm>
          <a:prstGeom prst="roundRect">
            <a:avLst>
              <a:gd name="adj" fmla="val 5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3" name="Text 31"/>
          <p:cNvSpPr txBox="1"/>
          <p:nvPr/>
        </p:nvSpPr>
        <p:spPr>
          <a:xfrm>
            <a:off x="8412480" y="5102352"/>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4" name="Text 32"/>
          <p:cNvSpPr txBox="1"/>
          <p:nvPr/>
        </p:nvSpPr>
        <p:spPr>
          <a:xfrm>
            <a:off x="8412480" y="5413248"/>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単体では赤字の経路がある。連結では、全経路が黒字。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ワイン100万円・年間5万マイル。系列店へはマイル額面×90%を保証、系列店の実原価は30%。</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68880"/>
                <a:gridCol w="914400"/>
                <a:gridCol w="1188720"/>
                <a:gridCol w="1463040"/>
                <a:gridCol w="1463040"/>
                <a:gridCol w="1097280"/>
                <a:gridCol w="1216152"/>
                <a:gridCol w="1216152"/>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額面</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単体原価</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(90%保証)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連結原価</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(実原価30%)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▲20,000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37,500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▲12,500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▲12,500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553712"/>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736592"/>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90%保証は「原価」ではなく「送客投資」です</a:t>
            </a:r>
            <a:endParaRPr lang="en-US" sz="1500" dirty="0"/>
          </a:p>
        </p:txBody>
      </p:sp>
      <p:sp>
        <p:nvSpPr>
          <p:cNvPr id="9" name="Text 6"/>
          <p:cNvSpPr txBox="1"/>
          <p:nvPr/>
        </p:nvSpPr>
        <p:spPr>
          <a:xfrm>
            <a:off x="932688" y="5102352"/>
            <a:ext cx="4663440"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系列店が原価だけで受けると外部店に展開できません。90%を保証すれば店は歓迎し、同じ条件を系列店外へ広げられます。グループ連結では相殺されるため、真の原価は30%のままです。</a:t>
            </a:r>
            <a:endParaRPr lang="en-US" sz="1100" dirty="0"/>
          </a:p>
        </p:txBody>
      </p:sp>
      <p:sp>
        <p:nvSpPr>
          <p:cNvPr id="10" name="Shape 7"/>
          <p:cNvSpPr/>
          <p:nvPr/>
        </p:nvSpPr>
        <p:spPr>
          <a:xfrm>
            <a:off x="6199632" y="4553712"/>
            <a:ext cx="5394960"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736592"/>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真水で出ていくのは、系列店外だけ</a:t>
            </a:r>
            <a:endParaRPr lang="en-US" sz="1500" dirty="0"/>
          </a:p>
        </p:txBody>
      </p:sp>
      <p:sp>
        <p:nvSpPr>
          <p:cNvPr id="12" name="Text 9"/>
          <p:cNvSpPr txBox="1"/>
          <p:nvPr/>
        </p:nvSpPr>
        <p:spPr>
          <a:xfrm>
            <a:off x="6565392" y="5102352"/>
            <a:ext cx="4663440" cy="731520"/>
          </a:xfrm>
          <a:prstGeom prst="rect">
            <a:avLst/>
          </a:prstGeom>
          <a:noFill/>
          <a:ln/>
        </p:spPr>
        <p:txBody>
          <a:bodyPr wrap="square" lIns="0" tIns="0" rIns="0" bIns="0" rtlCol="0" anchor="ctr"/>
          <a:lstStyle/>
          <a:p>
            <a:pPr indent="0" marL="0">
              <a:lnSpc>
                <a:spcPts val="1600"/>
              </a:lnSpc>
              <a:buNone/>
            </a:pPr>
            <a:r>
              <a:rPr lang="en-US" sz="1100" dirty="0">
                <a:solidFill>
                  <a:srgbClr val="F2EDE6"/>
                </a:solidFill>
                <a:latin typeface="Meiryo" pitchFamily="34" charset="0"/>
                <a:ea typeface="Meiryo" pitchFamily="34" charset="-122"/>
                <a:cs typeface="Meiryo" pitchFamily="34" charset="-120"/>
              </a:rPr>
              <a:t>系列店外・一般サービスへの交換は連結でも現金流出です。ここだけはレートを0.5〜0.75に割り引き、年間付与マイルに対する上限を設ける必要があります。航空会社が自社便と提携他社便でレートを変えるのと同じ考え方です。</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行動に対する都度付与（落札・出品・会食・イベント参加）</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47472">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01184"/>
            <a:ext cx="5394960" cy="1152144"/>
          </a:xfrm>
          <a:prstGeom prst="roundRect">
            <a:avLst>
              <a:gd name="adj" fmla="val 476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 への充当ルール</a:t>
            </a:r>
            <a:endParaRPr lang="en-US" sz="1350" dirty="0"/>
          </a:p>
        </p:txBody>
      </p:sp>
      <p:sp>
        <p:nvSpPr>
          <p:cNvPr id="9" name="Text 6"/>
          <p:cNvSpPr txBox="1"/>
          <p:nvPr/>
        </p:nvSpPr>
        <p:spPr>
          <a:xfrm>
            <a:off x="932688"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100万・400万会員はマイル充当による単月利用のみ可。未利用時の特典をワイン購入代金へ振り替えることはできません（二重取りになるため）。</a:t>
            </a:r>
            <a:endParaRPr lang="en-US" sz="1050" dirty="0"/>
          </a:p>
        </p:txBody>
      </p:sp>
      <p:sp>
        <p:nvSpPr>
          <p:cNvPr id="10" name="Shape 7"/>
          <p:cNvSpPr/>
          <p:nvPr/>
        </p:nvSpPr>
        <p:spPr>
          <a:xfrm>
            <a:off x="6199632" y="4901184"/>
            <a:ext cx="5394960" cy="1152144"/>
          </a:xfrm>
          <a:prstGeom prst="roundRect">
            <a:avLst>
              <a:gd name="adj" fmla="val 476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029200"/>
            <a:ext cx="4663440" cy="256032"/>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50" dirty="0"/>
          </a:p>
        </p:txBody>
      </p:sp>
      <p:sp>
        <p:nvSpPr>
          <p:cNvPr id="12" name="Text 9"/>
          <p:cNvSpPr txBox="1"/>
          <p:nvPr/>
        </p:nvSpPr>
        <p:spPr>
          <a:xfrm>
            <a:off x="6565392" y="5321808"/>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BLACK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とは何か（1枚で）</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投資会員制度とは別の、飲むための会員制度です。BLACKがキラーコンテンツになります。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2926080"/>
          </a:xfrm>
          <a:prstGeom prst="roundRect">
            <a:avLst>
              <a:gd name="adj" fmla="val 187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65376"/>
            <a:ext cx="2962656" cy="365760"/>
          </a:xfrm>
          <a:prstGeom prst="rect">
            <a:avLst/>
          </a:prstGeom>
          <a:noFill/>
          <a:ln/>
        </p:spPr>
        <p:txBody>
          <a:bodyPr wrap="square" lIns="0" tIns="0" rIns="0" bIns="0" rtlCol="0" anchor="ctr"/>
          <a:lstStyle/>
          <a:p>
            <a:pPr indent="0" marL="0">
              <a:buNone/>
            </a:pPr>
            <a:r>
              <a:rPr lang="en-US" sz="2000" b="1" dirty="0">
                <a:solidFill>
                  <a:srgbClr val="A2908C"/>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86000"/>
            <a:ext cx="2962656"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マイル充当・単月利用可</a:t>
            </a:r>
            <a:endParaRPr lang="en-US" sz="1100" dirty="0"/>
          </a:p>
        </p:txBody>
      </p:sp>
      <p:sp>
        <p:nvSpPr>
          <p:cNvPr id="9" name="Text 7"/>
          <p:cNvSpPr txBox="1"/>
          <p:nvPr/>
        </p:nvSpPr>
        <p:spPr>
          <a:xfrm>
            <a:off x="859536" y="2651760"/>
            <a:ext cx="2962656" cy="1783080"/>
          </a:xfrm>
          <a:prstGeom prst="rect">
            <a:avLst/>
          </a:prstGeom>
          <a:noFill/>
          <a:ln/>
        </p:spPr>
        <p:txBody>
          <a:bodyPr wrap="square" lIns="0" tIns="0" rIns="0" bIns="0" rtlCol="0" anchor="t"/>
          <a:lstStyle/>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提携店でのコルケージ無料</a:t>
            </a:r>
            <a:endParaRPr lang="en-US" sz="1150" dirty="0"/>
          </a:p>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グループ飲食店の優待</a:t>
            </a:r>
            <a:endParaRPr lang="en-US" sz="1150" dirty="0"/>
          </a:p>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会員向けワイン価格</a:t>
            </a:r>
            <a:endParaRPr lang="en-US" sz="1150" dirty="0"/>
          </a:p>
        </p:txBody>
      </p:sp>
      <p:sp>
        <p:nvSpPr>
          <p:cNvPr id="10" name="Shape 8"/>
          <p:cNvSpPr/>
          <p:nvPr/>
        </p:nvSpPr>
        <p:spPr>
          <a:xfrm>
            <a:off x="4352544" y="1664208"/>
            <a:ext cx="3529584" cy="2926080"/>
          </a:xfrm>
          <a:prstGeom prst="roundRect">
            <a:avLst>
              <a:gd name="adj" fmla="val 187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65376"/>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86000"/>
            <a:ext cx="2962656"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年会費制</a:t>
            </a:r>
            <a:endParaRPr lang="en-US" sz="1100" dirty="0"/>
          </a:p>
        </p:txBody>
      </p:sp>
      <p:sp>
        <p:nvSpPr>
          <p:cNvPr id="13" name="Text 11"/>
          <p:cNvSpPr txBox="1"/>
          <p:nvPr/>
        </p:nvSpPr>
        <p:spPr>
          <a:xfrm>
            <a:off x="4645152" y="2651760"/>
            <a:ext cx="2962656" cy="1783080"/>
          </a:xfrm>
          <a:prstGeom prst="rect">
            <a:avLst/>
          </a:prstGeom>
          <a:noFill/>
          <a:ln/>
        </p:spPr>
        <p:txBody>
          <a:bodyPr wrap="square" lIns="0" tIns="0" rIns="0" bIns="0" rtlCol="0" anchor="t"/>
          <a:lstStyle/>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上記に加え、生産者イベント招待</a:t>
            </a:r>
            <a:endParaRPr lang="en-US" sz="1150" dirty="0"/>
          </a:p>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マーケットプレイス送料優遇</a:t>
            </a:r>
            <a:endParaRPr lang="en-US" sz="1150" dirty="0"/>
          </a:p>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コンシェルジュによる選定</a:t>
            </a:r>
            <a:endParaRPr lang="en-US" sz="1150" dirty="0"/>
          </a:p>
        </p:txBody>
      </p:sp>
      <p:sp>
        <p:nvSpPr>
          <p:cNvPr id="14" name="Shape 12"/>
          <p:cNvSpPr/>
          <p:nvPr/>
        </p:nvSpPr>
        <p:spPr>
          <a:xfrm>
            <a:off x="8138160" y="1664208"/>
            <a:ext cx="3529584" cy="2926080"/>
          </a:xfrm>
          <a:prstGeom prst="roundRect">
            <a:avLst>
              <a:gd name="adj" fmla="val 18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65376"/>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86000"/>
            <a:ext cx="2962656"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SIGNATURE会員へ無料付与</a:t>
            </a:r>
            <a:endParaRPr lang="en-US" sz="1100" dirty="0"/>
          </a:p>
        </p:txBody>
      </p:sp>
      <p:sp>
        <p:nvSpPr>
          <p:cNvPr id="17" name="Text 15"/>
          <p:cNvSpPr txBox="1"/>
          <p:nvPr/>
        </p:nvSpPr>
        <p:spPr>
          <a:xfrm>
            <a:off x="8430768" y="2651760"/>
            <a:ext cx="2962656" cy="1783080"/>
          </a:xfrm>
          <a:prstGeom prst="rect">
            <a:avLst/>
          </a:prstGeom>
          <a:noFill/>
          <a:ln/>
        </p:spPr>
        <p:txBody>
          <a:bodyPr wrap="square" lIns="0" tIns="0" rIns="0" bIns="0" rtlCol="0" anchor="t"/>
          <a:lstStyle/>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未公開ワインの優先割当</a:t>
            </a:r>
            <a:endParaRPr lang="en-US" sz="1150" dirty="0"/>
          </a:p>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グランメゾンVIP席の優先予約</a:t>
            </a:r>
            <a:endParaRPr lang="en-US" sz="1150" dirty="0"/>
          </a:p>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ソムリエへの直接相談</a:t>
            </a:r>
            <a:endParaRPr lang="en-US" sz="1150" dirty="0"/>
          </a:p>
          <a:p>
            <a:pPr marL="152400" indent="-152400">
              <a:lnSpc>
                <a:spcPts val="1700"/>
              </a:lnSpc>
              <a:spcAft>
                <a:spcPts val="1000"/>
              </a:spcAft>
              <a:buSzPct val="100000"/>
              <a:buChar char="•"/>
            </a:pPr>
            <a:r>
              <a:rPr lang="en-US" sz="1150" dirty="0">
                <a:solidFill>
                  <a:srgbClr val="F2EDE6"/>
                </a:solidFill>
                <a:latin typeface="Meiryo" pitchFamily="34" charset="0"/>
                <a:ea typeface="Meiryo" pitchFamily="34" charset="-122"/>
                <a:cs typeface="Meiryo" pitchFamily="34" charset="-120"/>
              </a:rPr>
              <a:t>会員限定のクローズドな会</a:t>
            </a:r>
            <a:endParaRPr lang="en-US" sz="1150" dirty="0"/>
          </a:p>
        </p:txBody>
      </p:sp>
      <p:sp>
        <p:nvSpPr>
          <p:cNvPr id="18" name="Shape 16"/>
          <p:cNvSpPr/>
          <p:nvPr/>
        </p:nvSpPr>
        <p:spPr>
          <a:xfrm>
            <a:off x="566928" y="4754880"/>
            <a:ext cx="5394960" cy="1298448"/>
          </a:xfrm>
          <a:prstGeom prst="roundRect">
            <a:avLst>
              <a:gd name="adj" fmla="val 422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37760"/>
            <a:ext cx="4663440" cy="274320"/>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BLACKだけは、お金では買えない設計に</a:t>
            </a:r>
            <a:endParaRPr lang="en-US" sz="1450" dirty="0"/>
          </a:p>
        </p:txBody>
      </p:sp>
      <p:sp>
        <p:nvSpPr>
          <p:cNvPr id="20" name="Text 18"/>
          <p:cNvSpPr txBox="1"/>
          <p:nvPr/>
        </p:nvSpPr>
        <p:spPr>
          <a:xfrm>
            <a:off x="932688" y="5266944"/>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F2EDE6"/>
                </a:solidFill>
                <a:latin typeface="Meiryo" pitchFamily="34" charset="0"/>
                <a:ea typeface="Meiryo" pitchFamily="34" charset="-122"/>
                <a:cs typeface="Meiryo" pitchFamily="34" charset="-120"/>
              </a:rPr>
              <a:t>年会費を払えば入れる会員権は、いくらでもあります。SIGNATURE（1,000万）に付帯するかたちにすれば、BLACKは「買えないもの」になり、それ自体がSIGNATUREを売る理由になります。</a:t>
            </a:r>
            <a:endParaRPr lang="en-US" sz="1100" dirty="0"/>
          </a:p>
        </p:txBody>
      </p:sp>
      <p:sp>
        <p:nvSpPr>
          <p:cNvPr id="21" name="Shape 19"/>
          <p:cNvSpPr/>
          <p:nvPr/>
        </p:nvSpPr>
        <p:spPr>
          <a:xfrm>
            <a:off x="6199632" y="4754880"/>
            <a:ext cx="5394960" cy="1298448"/>
          </a:xfrm>
          <a:prstGeom prst="roundRect">
            <a:avLst>
              <a:gd name="adj" fmla="val 422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37760"/>
            <a:ext cx="4663440" cy="274320"/>
          </a:xfrm>
          <a:prstGeom prst="rect">
            <a:avLst/>
          </a:prstGeom>
          <a:noFill/>
          <a:ln/>
        </p:spPr>
        <p:txBody>
          <a:bodyPr wrap="square" lIns="0" tIns="0" rIns="0" bIns="0" rtlCol="0" anchor="ctr"/>
          <a:lstStyle/>
          <a:p>
            <a:pPr indent="0" marL="0">
              <a:buNone/>
            </a:pPr>
            <a:r>
              <a:rPr lang="en-US" sz="1450" b="1" dirty="0">
                <a:solidFill>
                  <a:srgbClr val="E0A458"/>
                </a:solidFill>
                <a:latin typeface="Meiryo" pitchFamily="34" charset="0"/>
                <a:ea typeface="Meiryo" pitchFamily="34" charset="-122"/>
                <a:cs typeface="Meiryo" pitchFamily="34" charset="-120"/>
              </a:rPr>
              <a:t>要確定：ランク別の年会費と特典の実数</a:t>
            </a:r>
            <a:endParaRPr lang="en-US" sz="1450" dirty="0"/>
          </a:p>
        </p:txBody>
      </p:sp>
      <p:sp>
        <p:nvSpPr>
          <p:cNvPr id="23" name="Text 21"/>
          <p:cNvSpPr txBox="1"/>
          <p:nvPr/>
        </p:nvSpPr>
        <p:spPr>
          <a:xfrm>
            <a:off x="6565392" y="5266944"/>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本頁は構造の提案です。現行CLUBの年会費・特典・提携店数の実数をいただければ、そのまま確定版に差し替えます。BLACKの特典内容は、SIGNATUREの購買動機を決める最重要項目です。</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無償付与なら期限は自由</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無償で付与するマイルは前払式支払手段に該当しないため、JALマイル36ヶ月・楽天1年と同様に期限は自由に設定できます。届出・供託の論点は、対価性が生じない限り発生しません。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CLUB特典の実数確定</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2026-08-30T16:29:41Z</dcterms:created>
  <dcterms:modified xsi:type="dcterms:W3CDTF">2026-08-30T16:29:41Z</dcterms:modified>
</cp:coreProperties>
</file>