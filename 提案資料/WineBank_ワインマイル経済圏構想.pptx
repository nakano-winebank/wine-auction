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保管料1.5%は仮定。2.0%まで上げてもシナリオ2のPLは+2,280万で結論は変わらない。最大の変数は粗利30%を維持できるか。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重要：単体P/Lと連結P/Lを必ず分けて説明する。SBIには連結、系列店の店長には単体（90%が入る）を見せる。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8,800円〜の課金サイクル（月額／年額）は要確認。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6ヶ月ルールは撤回。無償付与のマイルは前払式支払手段に該当しないため、期限は自由。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ワイン1億円／値上がり6%・金利3%・保管料1.5%・粗利30%・管理手数料2.5%・マイル還元3〜5%（連結原価30%）</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マイル発行 368万円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+2,855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+9,855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▲450万と▲595万。差は145万円です。同じだけ現金を使って、セラーのワインは1億から2億5,000万へ。しかもうち1億は、会員のお金で買われたワインです。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年▲450万（金利300＋保管150）。会員に持たせて預かると 年+140万（手数料250−マイル110）。同じワインで、年590万ひっくり返ります。加えて成功報酬が5年後846万。</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賃料：ワインマイル 年5%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賃料は現金ではなくワインマイルで支払う</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「5%」は利回りではなく賃料率</a:t>
            </a:r>
            <a:endParaRPr lang="en-US" sz="1150" dirty="0"/>
          </a:p>
        </p:txBody>
      </p:sp>
      <p:sp>
        <p:nvSpPr>
          <p:cNvPr id="10" name="Shape 8"/>
          <p:cNvSpPr/>
          <p:nvPr/>
        </p:nvSpPr>
        <p:spPr>
          <a:xfrm>
            <a:off x="6199632" y="1627632"/>
            <a:ext cx="5394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不動産のファンドと同じ形です。マスターリース会社が保証賃料を払い、AM会社が運用報酬とディスポジションフィーを取る。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賃料5%は当社が払う。値上がりの75%は会員のもの。当社の取り分は25%だけ。</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50,000マイル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年率5%相当。会食・贈答・イベント・オークション・ワイナートに使える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会員は2.5万円払って、5万円分を受け取る。差額の2.5万円を「貯金」していると考える。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単体では赤字の経路がある。連結では、全経路が黒字。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ワイン100万円・年間5万マイル。系列店へはマイル額面×90%を保証、系列店の実原価は30%。</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68880"/>
                <a:gridCol w="914400"/>
                <a:gridCol w="1188720"/>
                <a:gridCol w="1463040"/>
                <a:gridCol w="1463040"/>
                <a:gridCol w="1097280"/>
                <a:gridCol w="1216152"/>
                <a:gridCol w="1216152"/>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額面</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単体原価</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(90%保証)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連結原価</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(実原価30%)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▲20,000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▲12,500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▲12,500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553712"/>
            <a:ext cx="5394960" cy="1481328"/>
          </a:xfrm>
          <a:prstGeom prst="roundRect">
            <a:avLst>
              <a:gd name="adj" fmla="val 370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736592"/>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90%保証は「原価」ではなく「送客投資」です</a:t>
            </a:r>
            <a:endParaRPr lang="en-US" sz="1500" dirty="0"/>
          </a:p>
        </p:txBody>
      </p:sp>
      <p:sp>
        <p:nvSpPr>
          <p:cNvPr id="9" name="Text 6"/>
          <p:cNvSpPr txBox="1"/>
          <p:nvPr/>
        </p:nvSpPr>
        <p:spPr>
          <a:xfrm>
            <a:off x="932688" y="5102352"/>
            <a:ext cx="4663440"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系列店が原価だけで受けると外部店に展開できません。90%を保証すれば店は歓迎し、同じ条件を系列店外へ広げられます。グループ連結では相殺されるため、真の原価は30%のままです。</a:t>
            </a:r>
            <a:endParaRPr lang="en-US" sz="1100" dirty="0"/>
          </a:p>
        </p:txBody>
      </p:sp>
      <p:sp>
        <p:nvSpPr>
          <p:cNvPr id="10" name="Shape 7"/>
          <p:cNvSpPr/>
          <p:nvPr/>
        </p:nvSpPr>
        <p:spPr>
          <a:xfrm>
            <a:off x="6199632" y="4553712"/>
            <a:ext cx="5394960"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736592"/>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真水で出ていくのは、系列店外だけ</a:t>
            </a:r>
            <a:endParaRPr lang="en-US" sz="1500" dirty="0"/>
          </a:p>
        </p:txBody>
      </p:sp>
      <p:sp>
        <p:nvSpPr>
          <p:cNvPr id="12" name="Text 9"/>
          <p:cNvSpPr txBox="1"/>
          <p:nvPr/>
        </p:nvSpPr>
        <p:spPr>
          <a:xfrm>
            <a:off x="6565392" y="5102352"/>
            <a:ext cx="4663440" cy="731520"/>
          </a:xfrm>
          <a:prstGeom prst="rect">
            <a:avLst/>
          </a:prstGeom>
          <a:noFill/>
          <a:ln/>
        </p:spPr>
        <p:txBody>
          <a:bodyPr wrap="square" lIns="0" tIns="0" rIns="0" bIns="0" rtlCol="0" anchor="ctr"/>
          <a:lstStyle/>
          <a:p>
            <a:pPr indent="0" marL="0">
              <a:lnSpc>
                <a:spcPts val="1600"/>
              </a:lnSpc>
              <a:buNone/>
            </a:pPr>
            <a:r>
              <a:rPr lang="en-US" sz="1100" dirty="0">
                <a:solidFill>
                  <a:srgbClr val="F2EDE6"/>
                </a:solidFill>
                <a:latin typeface="Meiryo" pitchFamily="34" charset="0"/>
                <a:ea typeface="Meiryo" pitchFamily="34" charset="-122"/>
                <a:cs typeface="Meiryo" pitchFamily="34" charset="-120"/>
              </a:rPr>
              <a:t>系列店外・一般サービスへの交換は連結でも現金流出です。ここだけはレートを0.5〜0.75に割り引き、年間付与マイルに対する上限を設ける必要があります。航空会社が自社便と提携他社便でレートを変えるのと同じ考え方です。※要検討</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ワインは当社が賃借し、マイルが賃料として入る</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出口は自由。縛りなし</a:t>
            </a:r>
            <a:endParaRPr lang="en-US" sz="1150" dirty="0"/>
          </a:p>
        </p:txBody>
      </p:sp>
      <p:sp>
        <p:nvSpPr>
          <p:cNvPr id="10" name="Shape 8"/>
          <p:cNvSpPr/>
          <p:nvPr/>
        </p:nvSpPr>
        <p:spPr>
          <a:xfrm>
            <a:off x="6199632" y="1627632"/>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保有資産に比例した年次付与（保有残高×5%）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行動に対する都度付与（落札・出品・会食・イベント参加）</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901184"/>
            <a:ext cx="5394960" cy="1152144"/>
          </a:xfrm>
          <a:prstGeom prst="roundRect">
            <a:avLst>
              <a:gd name="adj" fmla="val 476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029200"/>
            <a:ext cx="4663440" cy="256032"/>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 への充当ルール</a:t>
            </a:r>
            <a:endParaRPr lang="en-US" sz="1350" dirty="0"/>
          </a:p>
        </p:txBody>
      </p:sp>
      <p:sp>
        <p:nvSpPr>
          <p:cNvPr id="9" name="Text 6"/>
          <p:cNvSpPr txBox="1"/>
          <p:nvPr/>
        </p:nvSpPr>
        <p:spPr>
          <a:xfrm>
            <a:off x="932688" y="5321808"/>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100万・400万会員はマイル充当による単月利用のみ可。未利用時の特典をワイン購入代金へ振り替えることはできません（二重取りになるため）。</a:t>
            </a:r>
            <a:endParaRPr lang="en-US" sz="1050" dirty="0"/>
          </a:p>
        </p:txBody>
      </p:sp>
      <p:sp>
        <p:nvSpPr>
          <p:cNvPr id="10" name="Shape 7"/>
          <p:cNvSpPr/>
          <p:nvPr/>
        </p:nvSpPr>
        <p:spPr>
          <a:xfrm>
            <a:off x="6199632" y="4901184"/>
            <a:ext cx="5394960" cy="1152144"/>
          </a:xfrm>
          <a:prstGeom prst="roundRect">
            <a:avLst>
              <a:gd name="adj" fmla="val 476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029200"/>
            <a:ext cx="4663440" cy="256032"/>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50" dirty="0"/>
          </a:p>
        </p:txBody>
      </p:sp>
      <p:sp>
        <p:nvSpPr>
          <p:cNvPr id="12" name="Text 9"/>
          <p:cNvSpPr txBox="1"/>
          <p:nvPr/>
        </p:nvSpPr>
        <p:spPr>
          <a:xfrm>
            <a:off x="6565392" y="5321808"/>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「上のランクだと還元が1.7倍」「未公開ワインが先に届く」は伝わります。レートを刻むのはやめ、体感できる2軸だけに集約します。</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8,800円〜　マイル充当・単月利用可</a:t>
            </a:r>
            <a:endParaRPr lang="en-US" sz="1050" dirty="0"/>
          </a:p>
        </p:txBody>
      </p:sp>
      <p:sp>
        <p:nvSpPr>
          <p:cNvPr id="9" name="Text 7"/>
          <p:cNvSpPr txBox="1"/>
          <p:nvPr/>
        </p:nvSpPr>
        <p:spPr>
          <a:xfrm>
            <a:off x="859536" y="2724912"/>
            <a:ext cx="2962656" cy="1883664"/>
          </a:xfrm>
          <a:prstGeom prst="rect">
            <a:avLst/>
          </a:prstGeom>
          <a:noFill/>
          <a:ln/>
        </p:spPr>
        <p:txBody>
          <a:bodyPr wrap="square" lIns="0" tIns="0" rIns="0" bIns="0" rtlCol="0" anchor="t"/>
          <a:lstStyle/>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p:txBody>
      </p:sp>
      <p:sp>
        <p:nvSpPr>
          <p:cNvPr id="10" name="Shape 8"/>
          <p:cNvSpPr/>
          <p:nvPr/>
        </p:nvSpPr>
        <p:spPr>
          <a:xfrm>
            <a:off x="4352544"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年会費制</a:t>
            </a:r>
            <a:endParaRPr lang="en-US" sz="1050" dirty="0"/>
          </a:p>
        </p:txBody>
      </p:sp>
      <p:sp>
        <p:nvSpPr>
          <p:cNvPr id="13" name="Text 11"/>
          <p:cNvSpPr txBox="1"/>
          <p:nvPr/>
        </p:nvSpPr>
        <p:spPr>
          <a:xfrm>
            <a:off x="4645152" y="2724912"/>
            <a:ext cx="2962656" cy="1883664"/>
          </a:xfrm>
          <a:prstGeom prst="rect">
            <a:avLst/>
          </a:prstGeom>
          <a:noFill/>
          <a:ln/>
        </p:spPr>
        <p:txBody>
          <a:bodyPr wrap="square" lIns="0" tIns="0" rIns="0" bIns="0" rtlCol="0" anchor="t"/>
          <a:lstStyle/>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24912"/>
            <a:ext cx="2962656" cy="1883664"/>
          </a:xfrm>
          <a:prstGeom prst="rect">
            <a:avLst/>
          </a:prstGeom>
          <a:noFill/>
          <a:ln/>
        </p:spPr>
        <p:txBody>
          <a:bodyPr wrap="square" lIns="0" tIns="0" rIns="0" bIns="0" rtlCol="0" anchor="t"/>
          <a:lstStyle/>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9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マイルとの接続：まず体験させ、引き上げる</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100万・400万会員はマイル充当で単月利用。SIGNATUREにはSTANDARDを無料付与。半額を一度体験した人が、GOLD・BLACKへ自分から上がっていきます。</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RISK CONTROL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先に塞ぐ：4つのリスク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攻める前に、法務・税務・会計を設計に織り込みます。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出資法・景表法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「年率5%」と言わない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「預ける＋年率＋貯金」の組合せは預り金と読まれます。マスターリース（動産賃貸借）の建て付けにし、5%は『賃料率』として説明する。商標『ワイン貯金』は競合を止めますが、法規制は止めません。</a:t>
            </a:r>
            <a:endParaRPr lang="en-US" sz="1050" dirty="0"/>
          </a:p>
        </p:txBody>
      </p:sp>
      <p:sp>
        <p:nvSpPr>
          <p:cNvPr id="12" name="Shape 10"/>
          <p:cNvSpPr/>
          <p:nvPr/>
        </p:nvSpPr>
        <p:spPr>
          <a:xfrm>
            <a:off x="6199632"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無償付与なら期限は自由</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無償で付与するマイルは前払式支払手段に該当しないため、JALマイル36ヶ月・楽天1年と同様に期限は自由に設定できます。届出・供託の論点は、対価性が生じない限り発生しません。</a:t>
            </a:r>
            <a:endParaRPr lang="en-US" sz="1050" dirty="0"/>
          </a:p>
        </p:txBody>
      </p:sp>
      <p:sp>
        <p:nvSpPr>
          <p:cNvPr id="18" name="Shape 16"/>
          <p:cNvSpPr/>
          <p:nvPr/>
        </p:nvSpPr>
        <p:spPr>
          <a:xfrm>
            <a:off x="566928" y="385876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課税</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マイレージ還元として構成</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クレジットカードのマイル還元は法人・個人とも課税されないのが実務です。ただし本件は賃料としての性格も併存するため、規約の文言で決まります。ローンチ前に顧問税理士の一筆を。</a:t>
            </a:r>
            <a:endParaRPr lang="en-US" sz="1050" dirty="0"/>
          </a:p>
        </p:txBody>
      </p:sp>
      <p:sp>
        <p:nvSpPr>
          <p:cNvPr id="24" name="Shape 22"/>
          <p:cNvSpPr/>
          <p:nvPr/>
        </p:nvSpPr>
        <p:spPr>
          <a:xfrm>
            <a:off x="6199632" y="3858768"/>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会計</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買戻しを採らない理由</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買戻し保証があるとリスクと経済価値が移転せず、100万円を売上計上できません。成功報酬方式ならこの論点自体が消えます。マイルは履行義務として繰延が必要です。</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CLUB特典の実数確定</a:t>
            </a:r>
            <a:endParaRPr lang="en-US" sz="1200" dirty="0"/>
          </a:p>
        </p:txBody>
      </p:sp>
      <p:sp>
        <p:nvSpPr>
          <p:cNvPr id="11" name="Shape 9"/>
          <p:cNvSpPr/>
          <p:nvPr/>
        </p:nvSpPr>
        <p:spPr>
          <a:xfrm>
            <a:off x="3410712"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弁護士・税理士への確認</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①賃貸借＋AM契約が出資法・金商法の枠外にあること ②マイルの無償付与としての整理と課税 ③古物競りあっせん業者の届出要否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2026-08-31T07:19:44Z</dcterms:created>
  <dcterms:modified xsi:type="dcterms:W3CDTF">2026-08-31T07:19:44Z</dcterms:modified>
</cp:coreProperties>
</file>