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84"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0217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新ビジョン「ワインでライフスタイルを豊かにする」を掲げ、その手段としてワインマイル経済圏を置く。</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この頁は説得ではなく告白として読ませる。WineBankが先にリスクを取っていることが伝われば、以降の数字はすべて素直に入る。</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すべて単体ベース。マイル原価率51.1%（オークション30%・CLUB10%・スクール80%を織り込み後）。粗利30%とマイル原価率が最大の変数。ストック現金は▲18万/年で、利益はワイン販売粗利と成功報酬に乗っている。</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レートカード（管理料2.75%統一・還元率4/5/6%・成功報酬30%一律）。ストック単体の現金は▲18万/年で、黒字化には発行1マイル原価を47.3%まで下げる必要がある（現状51.1%）。利益はワイン販売粗利3,000万と成功報酬に乗っている。</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メルマガ・イベント案内のような一方通行の接点ではなく、行動への都度付与とUGC（他人が見える）が「終わらない」の正体。</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8/31 MTG決定事項：①コミュニティ通貨モデルの採用 ②3〜6ヶ月の有効期限 ③会員向け交流イベントの追加。</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9月20日の岩田合同法律事務所の回答により、マイルは管理料に対するおまけ（無償発行）として整理し、前払式支払手段の対価性要件を満たさないことを確認済み。当初検討していたマスターリース（動産賃貸借）は締結しない。賃料としてマイルを発行すると対価性が生じるため、賃貸借を置かないこと自体が最も安全な設計になる。売買契約は利用規約への同意により成立し、管理手数料の対価も規約に記載す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行1マイル原価51.1%＝利用時の加重平均56.8%×最終利用率90%。損益分岐47.3%に対し3.8ポイント超過しており、ストック単体の現金は1億あたり年▲18万。90%保証は直営店への送客投資であり、連結では相殺される。誘導先の構成比を動かすことが、この事業で最も効くレバー。</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仲介手数料はWineBank経由で成約した場合のみ収受。会員に当社経由を強制しない。</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都度時価精算は運用負荷が高すぎる。年次リバランスなら双方に不利益がなく、オペレーションも年1回で済む。</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イルの有効期限は無償付与であれば自由に設定できる（資金決済法の前払式支払手段に該当しないため）。JALマイル36ヶ月・楽天1年と同様。ただし消費者契約法10条により、事前告知なく一方的に失効させる条項は無効となり得るため、失効の30日前予告を規約とシステムの両方に組み込む。</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P1ファンド・STへの充当は削除（法務論点が重いうえ、投資勧誘と受け取られる）。</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月8,800円＝年約10.6万円。GOLD 月22,000円＝年26.4万円。SIGNATUREへのSTANDARD無料付与は年10.6万円相当の原価。</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岩田合同法律事務所（大櫛・関口・國本）2026年9月20日クリーンオピニオン。／通常マイルの有効期限は1年とするため、資金決済法4条2号の適用外。無償付与という第1の安全弁のみに依存する。仮に該当と評価された場合、基準日の未使用残高が1,000万円を超えると届出・供託が生じるが、その水準に達するのは預かり資産およそ3.9億円から。／有償でのマイル販売は本意見書の照会対象外。ただし有効期限を6ヶ月以内にすれば4条2号により各種義務は生じないため、実装する場合はその設計を前提に別途照会する。／残る宿題は成果報酬契約の文言と、無償付与マイルの課税整理（税理士）。</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提：管理料2.75%を月払い、マイル（4/5/6%）を年一括付与、発行1マイルの当社原価0.511円。購入ワインの場合、100万円販売の粗利30万円からストック損1.8万円を差し引いても当社は+28万円。持込ワインは販売粗利がないため純損となり、預け直すたびに繰り返される。</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③の月割後付与は、マイル台帳（mile_lots）がロット単位で有効期限を持つ設計のため、システム上は月次で付与ロットを1本立てるだけで実装できる。現行の年次還元（grantAnnualReward）を月次バッチに置き換える。購入時に一括でマイルを付与する場合（本マイル①）は、同じ裁定が残るため、購入時付与は販売粗利の範囲に収まる小さな額に留めるか、廃止する。</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A1：値下がり時は成功報酬が発生しないため、会員の年間収支は マイル − 管理料 − 下落額。額面で4%−2.75%=+1.25%のため、年1.25%までの下落なら差し引きゼロ。A2：オークションは売り手手数料0%・買い手手数料10%のため、買い手の支払総額が市場価格に並ぶとき、落札価格は約91%。100万会員の年間収支（6%上昇）は額面5.45%／実利用4.69%なので、9.1%の目減りを取り戻すのに1.7〜1.9年。</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項目すべてを広告に載せる必要はない。規約・重要事項説明書で網羅し、広告には次のスライドの4項目を出す。C10は弁護士意見書が明示的に求めた「制限の内容等を正確に記載」に直結するため、交換画面でも選択前にレートを表示する。E17は税理士の確認前に断定しな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広告運用上「デメリットがない」ことが怪しく見えるという中谷氏の指摘への回答。4項目はいずれも事実であり、かつ3番は設計上のメリットに直結する。</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遡及付与は業界に前例なし。創業会員ボーナス＋恒久ステータスで感情面を満たすのが標準解。</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中谷さんと話した世界観を、1人の会員の1か月で見せるスライド。
前提：平均単価2万円×100本＝2,000,000円、100万円コース（管理料2.75%・マイル4%・成功報酬30%）。
BYOで2本、贈答で1本を出庫し、月末残高は97本・1,940,000円。
マイルは月末残高×4%÷12＝6,467マイル、管理料は月末残高×2.75%÷12＝4,446円（いずれも月割後付与・月割課金）。
値上がりは単利6%想定で年116,400円、うち会員取り分70%＝81,480円。
系列（グループ直営）レストランは1マイル＝1円。提携グランメゾンは0.5円のため、ここでは直営店で表示している（有利誤認の回避）。
BYO配送無料は会員特典（配送代行：佐川）。贈答配送の送料の扱いは未確定のため、スライドでは無料と書いていない。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E14"/>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7B1E3A">
              <a:alpha val="12000"/>
            </a:srgbClr>
          </a:solidFill>
          <a:ln w="12700">
            <a:solidFill>
              <a:srgbClr val="333333"/>
            </a:solidFill>
            <a:prstDash val="solid"/>
          </a:ln>
        </p:spPr>
      </p:sp>
      <p:sp>
        <p:nvSpPr>
          <p:cNvPr id="3" name="Text 1"/>
          <p:cNvSpPr txBox="1"/>
          <p:nvPr/>
        </p:nvSpPr>
        <p:spPr>
          <a:xfrm>
            <a:off x="566928" y="1188720"/>
            <a:ext cx="11027664" cy="274320"/>
          </a:xfrm>
          <a:prstGeom prst="rect">
            <a:avLst/>
          </a:prstGeom>
          <a:noFill/>
          <a:ln/>
        </p:spPr>
        <p:txBody>
          <a:bodyPr wrap="square" lIns="0" tIns="0" rIns="0" bIns="0" rtlCol="0" anchor="ctr"/>
          <a:lstStyle/>
          <a:p>
            <a:pPr marL="0" indent="0">
              <a:buNone/>
            </a:pPr>
            <a:r>
              <a:rPr lang="en-US" sz="1100" b="1" kern="0" spc="400" dirty="0">
                <a:solidFill>
                  <a:srgbClr val="C9A227"/>
                </a:solidFill>
                <a:latin typeface="Arial" pitchFamily="34" charset="0"/>
                <a:ea typeface="Arial" pitchFamily="34" charset="-122"/>
                <a:cs typeface="Arial" pitchFamily="34" charset="-120"/>
              </a:rPr>
              <a:t>WINEBANK GROWTH STRATEGY 2026</a:t>
            </a:r>
            <a:endParaRPr lang="en-US" sz="1100" dirty="0"/>
          </a:p>
        </p:txBody>
      </p:sp>
      <p:sp>
        <p:nvSpPr>
          <p:cNvPr id="4" name="Text 2"/>
          <p:cNvSpPr txBox="1"/>
          <p:nvPr/>
        </p:nvSpPr>
        <p:spPr>
          <a:xfrm>
            <a:off x="566928" y="1627632"/>
            <a:ext cx="11027664" cy="777240"/>
          </a:xfrm>
          <a:prstGeom prst="rect">
            <a:avLst/>
          </a:prstGeom>
          <a:noFill/>
          <a:ln/>
        </p:spPr>
        <p:txBody>
          <a:bodyPr wrap="square" lIns="0" tIns="0" rIns="0" bIns="0" rtlCol="0" anchor="ctr"/>
          <a:lstStyle/>
          <a:p>
            <a:pPr marL="0" indent="0">
              <a:buNone/>
            </a:pPr>
            <a:r>
              <a:rPr lang="en-US" sz="4000" b="1" dirty="0">
                <a:solidFill>
                  <a:srgbClr val="F2EDE6"/>
                </a:solidFill>
                <a:latin typeface="Meiryo" pitchFamily="34" charset="0"/>
                <a:ea typeface="Meiryo" pitchFamily="34" charset="-122"/>
                <a:cs typeface="Meiryo" pitchFamily="34" charset="-120"/>
              </a:rPr>
              <a:t>ワインで、ライフスタイルを豊かにする。</a:t>
            </a:r>
            <a:endParaRPr lang="en-US" sz="4000" dirty="0"/>
          </a:p>
        </p:txBody>
      </p:sp>
      <p:sp>
        <p:nvSpPr>
          <p:cNvPr id="5" name="Text 3"/>
          <p:cNvSpPr txBox="1"/>
          <p:nvPr/>
        </p:nvSpPr>
        <p:spPr>
          <a:xfrm>
            <a:off x="566928" y="2487168"/>
            <a:ext cx="11027664" cy="640080"/>
          </a:xfrm>
          <a:prstGeom prst="rect">
            <a:avLst/>
          </a:prstGeom>
          <a:noFill/>
          <a:ln/>
        </p:spPr>
        <p:txBody>
          <a:bodyPr wrap="square" lIns="0" tIns="0" rIns="0" bIns="0" rtlCol="0" anchor="ctr"/>
          <a:lstStyle/>
          <a:p>
            <a:pPr marL="0" indent="0">
              <a:buNone/>
            </a:pPr>
            <a:r>
              <a:rPr lang="en-US" sz="3100" b="1" dirty="0">
                <a:solidFill>
                  <a:srgbClr val="E8CE78"/>
                </a:solidFill>
                <a:latin typeface="Meiryo" pitchFamily="34" charset="0"/>
                <a:ea typeface="Meiryo" pitchFamily="34" charset="-122"/>
                <a:cs typeface="Meiryo" pitchFamily="34" charset="-120"/>
              </a:rPr>
              <a:t>ワインマイル経済圏構想 ／「ワイン貯金」</a:t>
            </a:r>
            <a:endParaRPr lang="en-US" sz="3100" dirty="0"/>
          </a:p>
        </p:txBody>
      </p:sp>
      <p:sp>
        <p:nvSpPr>
          <p:cNvPr id="6" name="Text 4"/>
          <p:cNvSpPr txBox="1"/>
          <p:nvPr/>
        </p:nvSpPr>
        <p:spPr>
          <a:xfrm>
            <a:off x="566928" y="3346704"/>
            <a:ext cx="11027664" cy="365760"/>
          </a:xfrm>
          <a:prstGeom prst="rect">
            <a:avLst/>
          </a:prstGeom>
          <a:noFill/>
          <a:ln/>
        </p:spPr>
        <p:txBody>
          <a:bodyPr wrap="square" lIns="0" tIns="0" rIns="0" bIns="0" rtlCol="0" anchor="ctr"/>
          <a:lstStyle/>
          <a:p>
            <a:pPr marL="0" indent="0">
              <a:buNone/>
            </a:pPr>
            <a:r>
              <a:rPr lang="en-US" sz="1550" dirty="0">
                <a:solidFill>
                  <a:srgbClr val="A2908C"/>
                </a:solidFill>
                <a:latin typeface="Meiryo" pitchFamily="34" charset="0"/>
                <a:ea typeface="Meiryo" pitchFamily="34" charset="-122"/>
                <a:cs typeface="Meiryo" pitchFamily="34" charset="-120"/>
              </a:rPr>
              <a:t>持つ・貯める・開ける・贈る・譲る。ワインにまつわるすべてを、ひとつの通貨でつなぐ。</a:t>
            </a:r>
            <a:endParaRPr lang="en-US" sz="1550" dirty="0"/>
          </a:p>
        </p:txBody>
      </p:sp>
      <p:sp>
        <p:nvSpPr>
          <p:cNvPr id="7" name="Shape 5"/>
          <p:cNvSpPr/>
          <p:nvPr/>
        </p:nvSpPr>
        <p:spPr>
          <a:xfrm>
            <a:off x="566928" y="4206240"/>
            <a:ext cx="3529584" cy="1280160"/>
          </a:xfrm>
          <a:prstGeom prst="roundRect">
            <a:avLst>
              <a:gd name="adj" fmla="val 4286"/>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8" name="Text 6"/>
          <p:cNvSpPr txBox="1"/>
          <p:nvPr/>
        </p:nvSpPr>
        <p:spPr>
          <a:xfrm>
            <a:off x="841248" y="4370832"/>
            <a:ext cx="3017520" cy="237744"/>
          </a:xfrm>
          <a:prstGeom prst="rect">
            <a:avLst/>
          </a:prstGeom>
          <a:noFill/>
          <a:ln/>
        </p:spPr>
        <p:txBody>
          <a:bodyPr wrap="square" lIns="0" tIns="0" rIns="0" bIns="0" rtlCol="0" anchor="ctr"/>
          <a:lstStyle/>
          <a:p>
            <a:pPr marL="0" indent="0">
              <a:buNone/>
            </a:pPr>
            <a:r>
              <a:rPr lang="en-US" sz="1100" dirty="0">
                <a:solidFill>
                  <a:srgbClr val="A2908C"/>
                </a:solidFill>
                <a:latin typeface="Meiryo" pitchFamily="34" charset="0"/>
                <a:ea typeface="Meiryo" pitchFamily="34" charset="-122"/>
                <a:cs typeface="Meiryo" pitchFamily="34" charset="-120"/>
              </a:rPr>
              <a:t>貯まる</a:t>
            </a:r>
            <a:endParaRPr lang="en-US" sz="1100" dirty="0"/>
          </a:p>
        </p:txBody>
      </p:sp>
      <p:sp>
        <p:nvSpPr>
          <p:cNvPr id="9" name="Text 7"/>
          <p:cNvSpPr txBox="1"/>
          <p:nvPr/>
        </p:nvSpPr>
        <p:spPr>
          <a:xfrm>
            <a:off x="841248" y="4626864"/>
            <a:ext cx="3017520" cy="365760"/>
          </a:xfrm>
          <a:prstGeom prst="rect">
            <a:avLst/>
          </a:prstGeom>
          <a:noFill/>
          <a:ln/>
        </p:spPr>
        <p:txBody>
          <a:bodyPr wrap="square" lIns="0" tIns="0" rIns="0" bIns="0" rtlCol="0" anchor="ctr"/>
          <a:lstStyle/>
          <a:p>
            <a:pPr marL="0" indent="0">
              <a:buNone/>
            </a:pPr>
            <a:r>
              <a:rPr lang="en-US" sz="2000" b="1" dirty="0">
                <a:solidFill>
                  <a:srgbClr val="C9A227"/>
                </a:solidFill>
                <a:latin typeface="Meiryo" pitchFamily="34" charset="0"/>
                <a:ea typeface="Meiryo" pitchFamily="34" charset="-122"/>
                <a:cs typeface="Meiryo" pitchFamily="34" charset="-120"/>
              </a:rPr>
              <a:t>ワインマイル</a:t>
            </a:r>
            <a:endParaRPr lang="en-US" sz="2000" dirty="0"/>
          </a:p>
        </p:txBody>
      </p:sp>
      <p:sp>
        <p:nvSpPr>
          <p:cNvPr id="10" name="Text 8"/>
          <p:cNvSpPr txBox="1"/>
          <p:nvPr/>
        </p:nvSpPr>
        <p:spPr>
          <a:xfrm>
            <a:off x="841248" y="5029200"/>
            <a:ext cx="3017520" cy="384048"/>
          </a:xfrm>
          <a:prstGeom prst="rect">
            <a:avLst/>
          </a:prstGeom>
          <a:noFill/>
          <a:ln/>
        </p:spPr>
        <p:txBody>
          <a:bodyPr wrap="square" lIns="0" tIns="0" rIns="0" bIns="0" rtlCol="0" anchor="ctr"/>
          <a:lstStyle/>
          <a:p>
            <a:pPr marL="0" indent="0">
              <a:lnSpc>
                <a:spcPts val="1400"/>
              </a:lnSpc>
              <a:buNone/>
            </a:pPr>
            <a:r>
              <a:rPr lang="en-US" sz="1000" dirty="0">
                <a:solidFill>
                  <a:srgbClr val="A2908C"/>
                </a:solidFill>
                <a:latin typeface="Meiryo" pitchFamily="34" charset="0"/>
                <a:ea typeface="Meiryo" pitchFamily="34" charset="-122"/>
                <a:cs typeface="Meiryo" pitchFamily="34" charset="-120"/>
              </a:rPr>
              <a:t>持っていても、動かしても貯まる</a:t>
            </a:r>
            <a:endParaRPr lang="en-US" sz="1000" dirty="0"/>
          </a:p>
        </p:txBody>
      </p:sp>
      <p:sp>
        <p:nvSpPr>
          <p:cNvPr id="11" name="Shape 9"/>
          <p:cNvSpPr/>
          <p:nvPr/>
        </p:nvSpPr>
        <p:spPr>
          <a:xfrm>
            <a:off x="4352544" y="4206240"/>
            <a:ext cx="3529584" cy="1280160"/>
          </a:xfrm>
          <a:prstGeom prst="roundRect">
            <a:avLst>
              <a:gd name="adj" fmla="val 4286"/>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2" name="Text 10"/>
          <p:cNvSpPr txBox="1"/>
          <p:nvPr/>
        </p:nvSpPr>
        <p:spPr>
          <a:xfrm>
            <a:off x="4626864" y="4370832"/>
            <a:ext cx="3017520" cy="237744"/>
          </a:xfrm>
          <a:prstGeom prst="rect">
            <a:avLst/>
          </a:prstGeom>
          <a:noFill/>
          <a:ln/>
        </p:spPr>
        <p:txBody>
          <a:bodyPr wrap="square" lIns="0" tIns="0" rIns="0" bIns="0" rtlCol="0" anchor="ctr"/>
          <a:lstStyle/>
          <a:p>
            <a:pPr marL="0" indent="0">
              <a:buNone/>
            </a:pPr>
            <a:r>
              <a:rPr lang="en-US" sz="1100" dirty="0">
                <a:solidFill>
                  <a:srgbClr val="A2908C"/>
                </a:solidFill>
                <a:latin typeface="Meiryo" pitchFamily="34" charset="0"/>
                <a:ea typeface="Meiryo" pitchFamily="34" charset="-122"/>
                <a:cs typeface="Meiryo" pitchFamily="34" charset="-120"/>
              </a:rPr>
              <a:t>使える</a:t>
            </a:r>
            <a:endParaRPr lang="en-US" sz="1100" dirty="0"/>
          </a:p>
        </p:txBody>
      </p:sp>
      <p:sp>
        <p:nvSpPr>
          <p:cNvPr id="13" name="Text 11"/>
          <p:cNvSpPr txBox="1"/>
          <p:nvPr/>
        </p:nvSpPr>
        <p:spPr>
          <a:xfrm>
            <a:off x="4626864" y="4626864"/>
            <a:ext cx="3017520" cy="365760"/>
          </a:xfrm>
          <a:prstGeom prst="rect">
            <a:avLst/>
          </a:prstGeom>
          <a:noFill/>
          <a:ln/>
        </p:spPr>
        <p:txBody>
          <a:bodyPr wrap="square" lIns="0" tIns="0" rIns="0" bIns="0" rtlCol="0" anchor="ctr"/>
          <a:lstStyle/>
          <a:p>
            <a:pPr marL="0" indent="0">
              <a:buNone/>
            </a:pPr>
            <a:r>
              <a:rPr lang="en-US" sz="2000" b="1" dirty="0">
                <a:solidFill>
                  <a:srgbClr val="C9A227"/>
                </a:solidFill>
                <a:latin typeface="Meiryo" pitchFamily="34" charset="0"/>
                <a:ea typeface="Meiryo" pitchFamily="34" charset="-122"/>
                <a:cs typeface="Meiryo" pitchFamily="34" charset="-120"/>
              </a:rPr>
              <a:t>WineBank経済圏</a:t>
            </a:r>
            <a:endParaRPr lang="en-US" sz="2000" dirty="0"/>
          </a:p>
        </p:txBody>
      </p:sp>
      <p:sp>
        <p:nvSpPr>
          <p:cNvPr id="14" name="Text 12"/>
          <p:cNvSpPr txBox="1"/>
          <p:nvPr/>
        </p:nvSpPr>
        <p:spPr>
          <a:xfrm>
            <a:off x="4626864" y="5029200"/>
            <a:ext cx="3017520" cy="384048"/>
          </a:xfrm>
          <a:prstGeom prst="rect">
            <a:avLst/>
          </a:prstGeom>
          <a:noFill/>
          <a:ln/>
        </p:spPr>
        <p:txBody>
          <a:bodyPr wrap="square" lIns="0" tIns="0" rIns="0" bIns="0" rtlCol="0" anchor="ctr"/>
          <a:lstStyle/>
          <a:p>
            <a:pPr marL="0" indent="0">
              <a:lnSpc>
                <a:spcPts val="1400"/>
              </a:lnSpc>
              <a:buNone/>
            </a:pPr>
            <a:r>
              <a:rPr lang="en-US" sz="1000" dirty="0">
                <a:solidFill>
                  <a:srgbClr val="A2908C"/>
                </a:solidFill>
                <a:latin typeface="Meiryo" pitchFamily="34" charset="0"/>
                <a:ea typeface="Meiryo" pitchFamily="34" charset="-122"/>
                <a:cs typeface="Meiryo" pitchFamily="34" charset="-120"/>
              </a:rPr>
              <a:t>会食・贈答・イベント・オークション・ワイナート</a:t>
            </a:r>
            <a:endParaRPr lang="en-US" sz="1000" dirty="0"/>
          </a:p>
        </p:txBody>
      </p:sp>
      <p:sp>
        <p:nvSpPr>
          <p:cNvPr id="15" name="Shape 13"/>
          <p:cNvSpPr/>
          <p:nvPr/>
        </p:nvSpPr>
        <p:spPr>
          <a:xfrm>
            <a:off x="8138160" y="4206240"/>
            <a:ext cx="3529584" cy="1280160"/>
          </a:xfrm>
          <a:prstGeom prst="roundRect">
            <a:avLst>
              <a:gd name="adj" fmla="val 4286"/>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6" name="Text 14"/>
          <p:cNvSpPr txBox="1"/>
          <p:nvPr/>
        </p:nvSpPr>
        <p:spPr>
          <a:xfrm>
            <a:off x="8412480" y="4370832"/>
            <a:ext cx="3017520" cy="237744"/>
          </a:xfrm>
          <a:prstGeom prst="rect">
            <a:avLst/>
          </a:prstGeom>
          <a:noFill/>
          <a:ln/>
        </p:spPr>
        <p:txBody>
          <a:bodyPr wrap="square" lIns="0" tIns="0" rIns="0" bIns="0" rtlCol="0" anchor="ctr"/>
          <a:lstStyle/>
          <a:p>
            <a:pPr marL="0" indent="0">
              <a:buNone/>
            </a:pPr>
            <a:r>
              <a:rPr lang="en-US" sz="1100" dirty="0">
                <a:solidFill>
                  <a:srgbClr val="A2908C"/>
                </a:solidFill>
                <a:latin typeface="Meiryo" pitchFamily="34" charset="0"/>
                <a:ea typeface="Meiryo" pitchFamily="34" charset="-122"/>
                <a:cs typeface="Meiryo" pitchFamily="34" charset="-120"/>
              </a:rPr>
              <a:t>育つ</a:t>
            </a:r>
            <a:endParaRPr lang="en-US" sz="1100" dirty="0"/>
          </a:p>
        </p:txBody>
      </p:sp>
      <p:sp>
        <p:nvSpPr>
          <p:cNvPr id="17" name="Text 15"/>
          <p:cNvSpPr txBox="1"/>
          <p:nvPr/>
        </p:nvSpPr>
        <p:spPr>
          <a:xfrm>
            <a:off x="8412480" y="4626864"/>
            <a:ext cx="3017520" cy="365760"/>
          </a:xfrm>
          <a:prstGeom prst="rect">
            <a:avLst/>
          </a:prstGeom>
          <a:noFill/>
          <a:ln/>
        </p:spPr>
        <p:txBody>
          <a:bodyPr wrap="square" lIns="0" tIns="0" rIns="0" bIns="0" rtlCol="0" anchor="ctr"/>
          <a:lstStyle/>
          <a:p>
            <a:pPr marL="0" indent="0">
              <a:buNone/>
            </a:pPr>
            <a:r>
              <a:rPr lang="en-US" sz="2000" b="1" dirty="0">
                <a:solidFill>
                  <a:srgbClr val="C9A227"/>
                </a:solidFill>
                <a:latin typeface="Meiryo" pitchFamily="34" charset="0"/>
                <a:ea typeface="Meiryo" pitchFamily="34" charset="-122"/>
                <a:cs typeface="Meiryo" pitchFamily="34" charset="-120"/>
              </a:rPr>
              <a:t>値上がりの75%</a:t>
            </a:r>
            <a:endParaRPr lang="en-US" sz="2000" dirty="0"/>
          </a:p>
        </p:txBody>
      </p:sp>
      <p:sp>
        <p:nvSpPr>
          <p:cNvPr id="18" name="Text 16"/>
          <p:cNvSpPr txBox="1"/>
          <p:nvPr/>
        </p:nvSpPr>
        <p:spPr>
          <a:xfrm>
            <a:off x="8412480" y="5029200"/>
            <a:ext cx="3017520" cy="384048"/>
          </a:xfrm>
          <a:prstGeom prst="rect">
            <a:avLst/>
          </a:prstGeom>
          <a:noFill/>
          <a:ln/>
        </p:spPr>
        <p:txBody>
          <a:bodyPr wrap="square" lIns="0" tIns="0" rIns="0" bIns="0" rtlCol="0" anchor="ctr"/>
          <a:lstStyle/>
          <a:p>
            <a:pPr marL="0" indent="0">
              <a:lnSpc>
                <a:spcPts val="1400"/>
              </a:lnSpc>
              <a:buNone/>
            </a:pPr>
            <a:r>
              <a:rPr lang="en-US" sz="1000" dirty="0">
                <a:solidFill>
                  <a:srgbClr val="A2908C"/>
                </a:solidFill>
                <a:latin typeface="Meiryo" pitchFamily="34" charset="0"/>
                <a:ea typeface="Meiryo" pitchFamily="34" charset="-122"/>
                <a:cs typeface="Meiryo" pitchFamily="34" charset="-120"/>
              </a:rPr>
              <a:t>キャピタルゲインは会員のもの</a:t>
            </a:r>
            <a:endParaRPr lang="en-US" sz="1000" dirty="0"/>
          </a:p>
        </p:txBody>
      </p:sp>
      <p:sp>
        <p:nvSpPr>
          <p:cNvPr id="19" name="Text 17"/>
          <p:cNvSpPr txBox="1"/>
          <p:nvPr/>
        </p:nvSpPr>
        <p:spPr>
          <a:xfrm>
            <a:off x="566928" y="6355080"/>
            <a:ext cx="11027664" cy="274320"/>
          </a:xfrm>
          <a:prstGeom prst="rect">
            <a:avLst/>
          </a:prstGeom>
          <a:noFill/>
          <a:ln/>
        </p:spPr>
        <p:txBody>
          <a:bodyPr wrap="square" lIns="0" tIns="0" rIns="0" bIns="0" rtlCol="0" anchor="ctr"/>
          <a:lstStyle/>
          <a:p>
            <a:pPr marL="0" indent="0">
              <a:buNone/>
            </a:pPr>
            <a:r>
              <a:rPr lang="en-US" sz="1000" dirty="0">
                <a:solidFill>
                  <a:srgbClr val="6B5A5F"/>
                </a:solidFill>
                <a:latin typeface="Arial" pitchFamily="34" charset="0"/>
                <a:ea typeface="Arial" pitchFamily="34" charset="-122"/>
                <a:cs typeface="Arial" pitchFamily="34" charset="-120"/>
              </a:rPr>
              <a:t>2026年8月｜株式会社WineBank｜社外秘</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PROBLEM</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ワイン投資は、まだ「買うだけ」で終わっている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商品が悪いのではありません。買ったあとに起きることが、設計されてこなかっただけです。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3529584" cy="3200400"/>
          </a:xfrm>
          <a:prstGeom prst="roundRect">
            <a:avLst>
              <a:gd name="adj" fmla="val 1714"/>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Text 5"/>
          <p:cNvSpPr txBox="1"/>
          <p:nvPr/>
        </p:nvSpPr>
        <p:spPr>
          <a:xfrm>
            <a:off x="859536" y="1847088"/>
            <a:ext cx="2962656" cy="219456"/>
          </a:xfrm>
          <a:prstGeom prst="rect">
            <a:avLst/>
          </a:prstGeom>
          <a:noFill/>
          <a:ln/>
        </p:spPr>
        <p:txBody>
          <a:bodyPr wrap="square" lIns="0" tIns="0" rIns="0" bIns="0" rtlCol="0" anchor="ctr"/>
          <a:lstStyle/>
          <a:p>
            <a:pPr marL="0" indent="0">
              <a:buNone/>
            </a:pPr>
            <a:r>
              <a:rPr lang="en-US" sz="950" b="1" kern="0" spc="200" dirty="0">
                <a:solidFill>
                  <a:srgbClr val="C9A227"/>
                </a:solidFill>
                <a:latin typeface="Arial" pitchFamily="34" charset="0"/>
                <a:ea typeface="Arial" pitchFamily="34" charset="-122"/>
                <a:cs typeface="Arial" pitchFamily="34" charset="-120"/>
              </a:rPr>
              <a:t>これまで</a:t>
            </a:r>
            <a:endParaRPr lang="en-US" sz="950" dirty="0"/>
          </a:p>
        </p:txBody>
      </p:sp>
      <p:sp>
        <p:nvSpPr>
          <p:cNvPr id="8" name="Text 6"/>
          <p:cNvSpPr txBox="1"/>
          <p:nvPr/>
        </p:nvSpPr>
        <p:spPr>
          <a:xfrm>
            <a:off x="859536" y="2103120"/>
            <a:ext cx="2962656" cy="329184"/>
          </a:xfrm>
          <a:prstGeom prst="rect">
            <a:avLst/>
          </a:prstGeom>
          <a:noFill/>
          <a:ln/>
        </p:spPr>
        <p:txBody>
          <a:bodyPr wrap="square" lIns="0" tIns="0" rIns="0" bIns="0" rtlCol="0" anchor="ctr"/>
          <a:lstStyle/>
          <a:p>
            <a:pPr marL="0" indent="0">
              <a:buNone/>
            </a:pPr>
            <a:r>
              <a:rPr lang="en-US" sz="1700" b="1" dirty="0">
                <a:solidFill>
                  <a:srgbClr val="E0A458"/>
                </a:solidFill>
                <a:latin typeface="Meiryo" pitchFamily="34" charset="0"/>
                <a:ea typeface="Meiryo" pitchFamily="34" charset="-122"/>
                <a:cs typeface="Meiryo" pitchFamily="34" charset="-120"/>
              </a:rPr>
              <a:t>ワイン投資 1.0</a:t>
            </a:r>
            <a:endParaRPr lang="en-US" sz="1700" dirty="0"/>
          </a:p>
        </p:txBody>
      </p:sp>
      <p:sp>
        <p:nvSpPr>
          <p:cNvPr id="9" name="Text 7"/>
          <p:cNvSpPr txBox="1"/>
          <p:nvPr/>
        </p:nvSpPr>
        <p:spPr>
          <a:xfrm>
            <a:off x="859536" y="2505456"/>
            <a:ext cx="2962656" cy="310896"/>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買うだけ</a:t>
            </a:r>
            <a:endParaRPr lang="en-US" sz="1400" dirty="0"/>
          </a:p>
        </p:txBody>
      </p:sp>
      <p:sp>
        <p:nvSpPr>
          <p:cNvPr id="10" name="Text 8"/>
          <p:cNvSpPr txBox="1"/>
          <p:nvPr/>
        </p:nvSpPr>
        <p:spPr>
          <a:xfrm>
            <a:off x="859536" y="2962656"/>
            <a:ext cx="2962656" cy="1737360"/>
          </a:xfrm>
          <a:prstGeom prst="rect">
            <a:avLst/>
          </a:prstGeom>
          <a:noFill/>
          <a:ln/>
        </p:spPr>
        <p:txBody>
          <a:bodyPr wrap="square" lIns="0" tIns="0" rIns="0" bIns="0" rtlCol="0" anchor="t"/>
          <a:lstStyle/>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買って、預けて、終わり</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接点は年に数回の時価確認</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コンテンツもコミュニケーションもない</a:t>
            </a:r>
            <a:endParaRPr lang="en-US" sz="1150" dirty="0"/>
          </a:p>
        </p:txBody>
      </p:sp>
      <p:sp>
        <p:nvSpPr>
          <p:cNvPr id="11" name="Shape 9"/>
          <p:cNvSpPr/>
          <p:nvPr/>
        </p:nvSpPr>
        <p:spPr>
          <a:xfrm>
            <a:off x="4352544" y="1664208"/>
            <a:ext cx="3529584" cy="3200400"/>
          </a:xfrm>
          <a:prstGeom prst="roundRect">
            <a:avLst>
              <a:gd name="adj" fmla="val 1714"/>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2" name="Text 10"/>
          <p:cNvSpPr txBox="1"/>
          <p:nvPr/>
        </p:nvSpPr>
        <p:spPr>
          <a:xfrm>
            <a:off x="4645152" y="1847088"/>
            <a:ext cx="2962656" cy="219456"/>
          </a:xfrm>
          <a:prstGeom prst="rect">
            <a:avLst/>
          </a:prstGeom>
          <a:noFill/>
          <a:ln/>
        </p:spPr>
        <p:txBody>
          <a:bodyPr wrap="square" lIns="0" tIns="0" rIns="0" bIns="0" rtlCol="0" anchor="ctr"/>
          <a:lstStyle/>
          <a:p>
            <a:pPr marL="0" indent="0">
              <a:buNone/>
            </a:pPr>
            <a:r>
              <a:rPr lang="en-US" sz="950" b="1" kern="0" spc="200" dirty="0">
                <a:solidFill>
                  <a:srgbClr val="C9A227"/>
                </a:solidFill>
                <a:latin typeface="Arial" pitchFamily="34" charset="0"/>
                <a:ea typeface="Arial" pitchFamily="34" charset="-122"/>
                <a:cs typeface="Arial" pitchFamily="34" charset="-120"/>
              </a:rPr>
              <a:t>リニューアル後</a:t>
            </a:r>
            <a:endParaRPr lang="en-US" sz="950" dirty="0"/>
          </a:p>
        </p:txBody>
      </p:sp>
      <p:sp>
        <p:nvSpPr>
          <p:cNvPr id="13" name="Text 11"/>
          <p:cNvSpPr txBox="1"/>
          <p:nvPr/>
        </p:nvSpPr>
        <p:spPr>
          <a:xfrm>
            <a:off x="4645152" y="2103120"/>
            <a:ext cx="2962656" cy="329184"/>
          </a:xfrm>
          <a:prstGeom prst="rect">
            <a:avLst/>
          </a:prstGeom>
          <a:noFill/>
          <a:ln/>
        </p:spPr>
        <p:txBody>
          <a:bodyPr wrap="square" lIns="0" tIns="0" rIns="0" bIns="0" rtlCol="0" anchor="ctr"/>
          <a:lstStyle/>
          <a:p>
            <a:pPr marL="0" indent="0">
              <a:buNone/>
            </a:pPr>
            <a:r>
              <a:rPr lang="en-US" sz="1700" b="1" dirty="0">
                <a:solidFill>
                  <a:srgbClr val="F2EDE6"/>
                </a:solidFill>
                <a:latin typeface="Meiryo" pitchFamily="34" charset="0"/>
                <a:ea typeface="Meiryo" pitchFamily="34" charset="-122"/>
                <a:cs typeface="Meiryo" pitchFamily="34" charset="-120"/>
              </a:rPr>
              <a:t>ワイン投資 2.1</a:t>
            </a:r>
            <a:endParaRPr lang="en-US" sz="1700" dirty="0"/>
          </a:p>
        </p:txBody>
      </p:sp>
      <p:sp>
        <p:nvSpPr>
          <p:cNvPr id="14" name="Text 12"/>
          <p:cNvSpPr txBox="1"/>
          <p:nvPr/>
        </p:nvSpPr>
        <p:spPr>
          <a:xfrm>
            <a:off x="4645152" y="2505456"/>
            <a:ext cx="2962656" cy="310896"/>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コンテンツを載せた</a:t>
            </a:r>
            <a:endParaRPr lang="en-US" sz="1400" dirty="0"/>
          </a:p>
        </p:txBody>
      </p:sp>
      <p:sp>
        <p:nvSpPr>
          <p:cNvPr id="15" name="Text 13"/>
          <p:cNvSpPr txBox="1"/>
          <p:nvPr/>
        </p:nvSpPr>
        <p:spPr>
          <a:xfrm>
            <a:off x="4645152" y="2962656"/>
            <a:ext cx="2962656" cy="1737360"/>
          </a:xfrm>
          <a:prstGeom prst="rect">
            <a:avLst/>
          </a:prstGeom>
          <a:noFill/>
          <a:ln/>
        </p:spPr>
        <p:txBody>
          <a:bodyPr wrap="square" lIns="0" tIns="0" rIns="0" bIns="0" rtlCol="0" anchor="t"/>
          <a:lstStyle/>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ファンド実績・指数・銘柄情報</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マイページで時価が見える</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情報は届く。ただ、それだけ</a:t>
            </a:r>
            <a:endParaRPr lang="en-US" sz="1150" dirty="0"/>
          </a:p>
        </p:txBody>
      </p:sp>
      <p:sp>
        <p:nvSpPr>
          <p:cNvPr id="16" name="Shape 14"/>
          <p:cNvSpPr/>
          <p:nvPr/>
        </p:nvSpPr>
        <p:spPr>
          <a:xfrm>
            <a:off x="8138160" y="1664208"/>
            <a:ext cx="3529584" cy="3200400"/>
          </a:xfrm>
          <a:prstGeom prst="roundRect">
            <a:avLst>
              <a:gd name="adj" fmla="val 1714"/>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7" name="Text 15"/>
          <p:cNvSpPr txBox="1"/>
          <p:nvPr/>
        </p:nvSpPr>
        <p:spPr>
          <a:xfrm>
            <a:off x="8430768" y="1847088"/>
            <a:ext cx="2962656" cy="219456"/>
          </a:xfrm>
          <a:prstGeom prst="rect">
            <a:avLst/>
          </a:prstGeom>
          <a:noFill/>
          <a:ln/>
        </p:spPr>
        <p:txBody>
          <a:bodyPr wrap="square" lIns="0" tIns="0" rIns="0" bIns="0" rtlCol="0" anchor="ctr"/>
          <a:lstStyle/>
          <a:p>
            <a:pPr marL="0" indent="0">
              <a:buNone/>
            </a:pPr>
            <a:r>
              <a:rPr lang="en-US" sz="950" b="1" kern="0" spc="200" dirty="0">
                <a:solidFill>
                  <a:srgbClr val="C9A227"/>
                </a:solidFill>
                <a:latin typeface="Arial" pitchFamily="34" charset="0"/>
                <a:ea typeface="Arial" pitchFamily="34" charset="-122"/>
                <a:cs typeface="Arial" pitchFamily="34" charset="-120"/>
              </a:rPr>
              <a:t>本提案</a:t>
            </a:r>
            <a:endParaRPr lang="en-US" sz="950" dirty="0"/>
          </a:p>
        </p:txBody>
      </p:sp>
      <p:sp>
        <p:nvSpPr>
          <p:cNvPr id="18" name="Text 16"/>
          <p:cNvSpPr txBox="1"/>
          <p:nvPr/>
        </p:nvSpPr>
        <p:spPr>
          <a:xfrm>
            <a:off x="8430768" y="2103120"/>
            <a:ext cx="2962656" cy="329184"/>
          </a:xfrm>
          <a:prstGeom prst="rect">
            <a:avLst/>
          </a:prstGeom>
          <a:noFill/>
          <a:ln/>
        </p:spPr>
        <p:txBody>
          <a:bodyPr wrap="square" lIns="0" tIns="0" rIns="0" bIns="0" rtlCol="0" anchor="ctr"/>
          <a:lstStyle/>
          <a:p>
            <a:pPr marL="0" indent="0">
              <a:buNone/>
            </a:pPr>
            <a:r>
              <a:rPr lang="en-US" sz="1700" b="1" dirty="0">
                <a:solidFill>
                  <a:srgbClr val="7FD1AE"/>
                </a:solidFill>
                <a:latin typeface="Meiryo" pitchFamily="34" charset="0"/>
                <a:ea typeface="Meiryo" pitchFamily="34" charset="-122"/>
                <a:cs typeface="Meiryo" pitchFamily="34" charset="-120"/>
              </a:rPr>
              <a:t>ワイン投資 3.0</a:t>
            </a:r>
            <a:endParaRPr lang="en-US" sz="1700" dirty="0"/>
          </a:p>
        </p:txBody>
      </p:sp>
      <p:sp>
        <p:nvSpPr>
          <p:cNvPr id="19" name="Text 17"/>
          <p:cNvSpPr txBox="1"/>
          <p:nvPr/>
        </p:nvSpPr>
        <p:spPr>
          <a:xfrm>
            <a:off x="8430768" y="2505456"/>
            <a:ext cx="2962656" cy="310896"/>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コミュニケーションを足す</a:t>
            </a:r>
            <a:endParaRPr lang="en-US" sz="1400" dirty="0"/>
          </a:p>
        </p:txBody>
      </p:sp>
      <p:sp>
        <p:nvSpPr>
          <p:cNvPr id="20" name="Text 18"/>
          <p:cNvSpPr txBox="1"/>
          <p:nvPr/>
        </p:nvSpPr>
        <p:spPr>
          <a:xfrm>
            <a:off x="8430768" y="2962656"/>
            <a:ext cx="2962656" cy="1737360"/>
          </a:xfrm>
          <a:prstGeom prst="rect">
            <a:avLst/>
          </a:prstGeom>
          <a:noFill/>
          <a:ln/>
        </p:spPr>
        <p:txBody>
          <a:bodyPr wrap="square" lIns="0" tIns="0" rIns="0" bIns="0" rtlCol="0" anchor="t"/>
          <a:lstStyle/>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ワインマイルが貯まり、使われる</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会食・贈答・オークションが動く</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他の会員の一本が見える</a:t>
            </a:r>
            <a:endParaRPr lang="en-US" sz="1150" dirty="0"/>
          </a:p>
        </p:txBody>
      </p:sp>
      <p:sp>
        <p:nvSpPr>
          <p:cNvPr id="21" name="Shape 19"/>
          <p:cNvSpPr/>
          <p:nvPr/>
        </p:nvSpPr>
        <p:spPr>
          <a:xfrm>
            <a:off x="566928" y="5084064"/>
            <a:ext cx="11027664" cy="969264"/>
          </a:xfrm>
          <a:prstGeom prst="roundRect">
            <a:avLst>
              <a:gd name="adj" fmla="val 5660"/>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2" name="Text 20"/>
          <p:cNvSpPr txBox="1"/>
          <p:nvPr/>
        </p:nvSpPr>
        <p:spPr>
          <a:xfrm>
            <a:off x="978408" y="5285232"/>
            <a:ext cx="10204704" cy="384048"/>
          </a:xfrm>
          <a:prstGeom prst="rect">
            <a:avLst/>
          </a:prstGeom>
          <a:noFill/>
          <a:ln/>
        </p:spPr>
        <p:txBody>
          <a:bodyPr wrap="square" lIns="0" tIns="0" rIns="0" bIns="0" rtlCol="0" anchor="ctr"/>
          <a:lstStyle/>
          <a:p>
            <a:pPr marL="0" indent="0">
              <a:buNone/>
            </a:pPr>
            <a:r>
              <a:rPr lang="en-US" sz="1900" b="1" dirty="0">
                <a:solidFill>
                  <a:srgbClr val="E8CE78"/>
                </a:solidFill>
                <a:latin typeface="Meiryo" pitchFamily="34" charset="0"/>
                <a:ea typeface="Meiryo" pitchFamily="34" charset="-122"/>
                <a:cs typeface="Meiryo" pitchFamily="34" charset="-120"/>
              </a:rPr>
              <a:t>足りないのは商品ではなく、買ったあとに起きる「出来事」でした。</a:t>
            </a:r>
            <a:endParaRPr lang="en-US" sz="1900" dirty="0"/>
          </a:p>
        </p:txBody>
      </p:sp>
      <p:sp>
        <p:nvSpPr>
          <p:cNvPr id="23" name="Text 21"/>
          <p:cNvSpPr txBox="1"/>
          <p:nvPr/>
        </p:nvSpPr>
        <p:spPr>
          <a:xfrm>
            <a:off x="978408" y="5687568"/>
            <a:ext cx="10204704" cy="292608"/>
          </a:xfrm>
          <a:prstGeom prst="rect">
            <a:avLst/>
          </a:prstGeom>
          <a:noFill/>
          <a:ln/>
        </p:spPr>
        <p:txBody>
          <a:bodyPr wrap="square" lIns="0" tIns="0" rIns="0" bIns="0" rtlCol="0" anchor="ctr"/>
          <a:lstStyle/>
          <a:p>
            <a:pPr marL="0" indent="0">
              <a:buNone/>
            </a:pPr>
            <a:r>
              <a:rPr lang="en-US" sz="1200" dirty="0">
                <a:solidFill>
                  <a:srgbClr val="F2EDE6"/>
                </a:solidFill>
                <a:latin typeface="Meiryo" pitchFamily="34" charset="0"/>
                <a:ea typeface="Meiryo" pitchFamily="34" charset="-122"/>
                <a:cs typeface="Meiryo" pitchFamily="34" charset="-120"/>
              </a:rPr>
              <a:t>2.1は情報を届けるところまで。3.0は、会員が動き、他の会員とつながるところまでを設計します。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WHY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「WineBankは、損をしていませんか？」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いちばん多くいただく質問です。正直にお答えします。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517904"/>
            <a:ext cx="11027664" cy="566928"/>
          </a:xfrm>
          <a:prstGeom prst="rect">
            <a:avLst/>
          </a:prstGeom>
          <a:noFill/>
          <a:ln/>
        </p:spPr>
        <p:txBody>
          <a:bodyPr wrap="square" lIns="0" tIns="0" rIns="0" bIns="0" rtlCol="0" anchor="ctr"/>
          <a:lstStyle/>
          <a:p>
            <a:pPr marL="0" indent="0">
              <a:buNone/>
            </a:pPr>
            <a:r>
              <a:rPr lang="en-US" sz="3100" b="1" dirty="0">
                <a:solidFill>
                  <a:srgbClr val="E8CE78"/>
                </a:solidFill>
                <a:latin typeface="Meiryo" pitchFamily="34" charset="0"/>
                <a:ea typeface="Meiryo" pitchFamily="34" charset="-122"/>
                <a:cs typeface="Meiryo" pitchFamily="34" charset="-120"/>
              </a:rPr>
              <a:t>いいえ。先に、出しているだけです。</a:t>
            </a:r>
            <a:endParaRPr lang="en-US" sz="3100" dirty="0"/>
          </a:p>
        </p:txBody>
      </p:sp>
      <p:sp>
        <p:nvSpPr>
          <p:cNvPr id="7" name="Shape 5"/>
          <p:cNvSpPr/>
          <p:nvPr/>
        </p:nvSpPr>
        <p:spPr>
          <a:xfrm>
            <a:off x="566928" y="2286000"/>
            <a:ext cx="2606040" cy="2395728"/>
          </a:xfrm>
          <a:prstGeom prst="roundRect">
            <a:avLst>
              <a:gd name="adj" fmla="val 229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8" name="Shape 6"/>
          <p:cNvSpPr/>
          <p:nvPr/>
        </p:nvSpPr>
        <p:spPr>
          <a:xfrm>
            <a:off x="822960" y="2505456"/>
            <a:ext cx="329184" cy="329184"/>
          </a:xfrm>
          <a:prstGeom prst="ellipse">
            <a:avLst/>
          </a:prstGeom>
          <a:solidFill>
            <a:srgbClr val="C9A227"/>
          </a:solidFill>
          <a:ln w="12700">
            <a:solidFill>
              <a:srgbClr val="C9A227"/>
            </a:solidFill>
            <a:prstDash val="solid"/>
          </a:ln>
        </p:spPr>
      </p:sp>
      <p:sp>
        <p:nvSpPr>
          <p:cNvPr id="9" name="Text 7"/>
          <p:cNvSpPr txBox="1"/>
          <p:nvPr/>
        </p:nvSpPr>
        <p:spPr>
          <a:xfrm>
            <a:off x="822960" y="2505456"/>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822960" y="2926080"/>
            <a:ext cx="2093976" cy="548640"/>
          </a:xfrm>
          <a:prstGeom prst="rect">
            <a:avLst/>
          </a:prstGeom>
          <a:noFill/>
          <a:ln/>
        </p:spPr>
        <p:txBody>
          <a:bodyPr wrap="square" lIns="0" tIns="0" rIns="0" bIns="0" rtlCol="0" anchor="ctr"/>
          <a:lstStyle/>
          <a:p>
            <a:pPr marL="0" indent="0">
              <a:lnSpc>
                <a:spcPts val="1900"/>
              </a:lnSpc>
              <a:buNone/>
            </a:pPr>
            <a:r>
              <a:rPr lang="en-US" sz="1350" b="1" dirty="0">
                <a:solidFill>
                  <a:srgbClr val="E8CE78"/>
                </a:solidFill>
                <a:latin typeface="Meiryo" pitchFamily="34" charset="0"/>
                <a:ea typeface="Meiryo" pitchFamily="34" charset="-122"/>
                <a:cs typeface="Meiryo" pitchFamily="34" charset="-120"/>
              </a:rPr>
              <a:t>ワイン投資だけでは、広がらなかった</a:t>
            </a:r>
            <a:endParaRPr lang="en-US" sz="1350" dirty="0"/>
          </a:p>
        </p:txBody>
      </p:sp>
      <p:sp>
        <p:nvSpPr>
          <p:cNvPr id="11" name="Text 9"/>
          <p:cNvSpPr txBox="1"/>
          <p:nvPr/>
        </p:nvSpPr>
        <p:spPr>
          <a:xfrm>
            <a:off x="822960" y="3547872"/>
            <a:ext cx="2093976" cy="1060704"/>
          </a:xfrm>
          <a:prstGeom prst="rect">
            <a:avLst/>
          </a:prstGeom>
          <a:noFill/>
          <a:ln/>
        </p:spPr>
        <p:txBody>
          <a:bodyPr wrap="square" lIns="0" tIns="0" rIns="0" bIns="0" rtlCol="0" anchor="ctr"/>
          <a:lstStyle/>
          <a:p>
            <a:pPr marL="0" indent="0">
              <a:lnSpc>
                <a:spcPts val="1600"/>
              </a:lnSpc>
              <a:buNone/>
            </a:pPr>
            <a:r>
              <a:rPr lang="en-US" sz="1050" dirty="0">
                <a:solidFill>
                  <a:srgbClr val="A2908C"/>
                </a:solidFill>
                <a:latin typeface="Meiryo" pitchFamily="34" charset="0"/>
                <a:ea typeface="Meiryo" pitchFamily="34" charset="-122"/>
                <a:cs typeface="Meiryo" pitchFamily="34" charset="-120"/>
              </a:rPr>
              <a:t>持っているだけでは、ワインは資産のまま。飲む相手も、語る相手もいない。豊かにするには、コミュニティが要る。そこに気づきました。</a:t>
            </a:r>
            <a:endParaRPr lang="en-US" sz="1050" dirty="0"/>
          </a:p>
        </p:txBody>
      </p:sp>
      <p:sp>
        <p:nvSpPr>
          <p:cNvPr id="12" name="Shape 10"/>
          <p:cNvSpPr/>
          <p:nvPr/>
        </p:nvSpPr>
        <p:spPr>
          <a:xfrm>
            <a:off x="3374136" y="2286000"/>
            <a:ext cx="2606040" cy="2395728"/>
          </a:xfrm>
          <a:prstGeom prst="roundRect">
            <a:avLst>
              <a:gd name="adj" fmla="val 229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3" name="Shape 11"/>
          <p:cNvSpPr/>
          <p:nvPr/>
        </p:nvSpPr>
        <p:spPr>
          <a:xfrm>
            <a:off x="3630168" y="2505456"/>
            <a:ext cx="329184" cy="329184"/>
          </a:xfrm>
          <a:prstGeom prst="ellipse">
            <a:avLst/>
          </a:prstGeom>
          <a:solidFill>
            <a:srgbClr val="C9A227"/>
          </a:solidFill>
          <a:ln w="12700">
            <a:solidFill>
              <a:srgbClr val="C9A227"/>
            </a:solidFill>
            <a:prstDash val="solid"/>
          </a:ln>
        </p:spPr>
      </p:sp>
      <p:sp>
        <p:nvSpPr>
          <p:cNvPr id="14" name="Text 12"/>
          <p:cNvSpPr txBox="1"/>
          <p:nvPr/>
        </p:nvSpPr>
        <p:spPr>
          <a:xfrm>
            <a:off x="3630168" y="2505456"/>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3630168" y="2926080"/>
            <a:ext cx="2093976" cy="548640"/>
          </a:xfrm>
          <a:prstGeom prst="rect">
            <a:avLst/>
          </a:prstGeom>
          <a:noFill/>
          <a:ln/>
        </p:spPr>
        <p:txBody>
          <a:bodyPr wrap="square" lIns="0" tIns="0" rIns="0" bIns="0" rtlCol="0" anchor="ctr"/>
          <a:lstStyle/>
          <a:p>
            <a:pPr marL="0" indent="0">
              <a:lnSpc>
                <a:spcPts val="1900"/>
              </a:lnSpc>
              <a:buNone/>
            </a:pPr>
            <a:r>
              <a:rPr lang="en-US" sz="1350" b="1" dirty="0">
                <a:solidFill>
                  <a:srgbClr val="E8CE78"/>
                </a:solidFill>
                <a:latin typeface="Meiryo" pitchFamily="34" charset="0"/>
                <a:ea typeface="Meiryo" pitchFamily="34" charset="-122"/>
                <a:cs typeface="Meiryo" pitchFamily="34" charset="-120"/>
              </a:rPr>
              <a:t>だから去年、WineBank CLUBをつくった</a:t>
            </a:r>
            <a:endParaRPr lang="en-US" sz="1350" dirty="0"/>
          </a:p>
        </p:txBody>
      </p:sp>
      <p:sp>
        <p:nvSpPr>
          <p:cNvPr id="16" name="Text 14"/>
          <p:cNvSpPr txBox="1"/>
          <p:nvPr/>
        </p:nvSpPr>
        <p:spPr>
          <a:xfrm>
            <a:off x="3630168" y="3547872"/>
            <a:ext cx="2093976" cy="1060704"/>
          </a:xfrm>
          <a:prstGeom prst="rect">
            <a:avLst/>
          </a:prstGeom>
          <a:noFill/>
          <a:ln/>
        </p:spPr>
        <p:txBody>
          <a:bodyPr wrap="square" lIns="0" tIns="0" rIns="0" bIns="0" rtlCol="0" anchor="ctr"/>
          <a:lstStyle/>
          <a:p>
            <a:pPr marL="0" indent="0">
              <a:lnSpc>
                <a:spcPts val="1600"/>
              </a:lnSpc>
              <a:buNone/>
            </a:pPr>
            <a:r>
              <a:rPr lang="en-US" sz="1050" dirty="0">
                <a:solidFill>
                  <a:srgbClr val="A2908C"/>
                </a:solidFill>
                <a:latin typeface="Meiryo" pitchFamily="34" charset="0"/>
                <a:ea typeface="Meiryo" pitchFamily="34" charset="-122"/>
                <a:cs typeface="Meiryo" pitchFamily="34" charset="-120"/>
              </a:rPr>
              <a:t>そこで会員の皆さまから聞いた声が、すべての出発点でした。「もっと、ワインを通じて人と繋がりたい」。この一言です。</a:t>
            </a:r>
            <a:endParaRPr lang="en-US" sz="1050" dirty="0"/>
          </a:p>
        </p:txBody>
      </p:sp>
      <p:sp>
        <p:nvSpPr>
          <p:cNvPr id="17" name="Shape 15"/>
          <p:cNvSpPr/>
          <p:nvPr/>
        </p:nvSpPr>
        <p:spPr>
          <a:xfrm>
            <a:off x="6181344" y="2286000"/>
            <a:ext cx="2606040" cy="2395728"/>
          </a:xfrm>
          <a:prstGeom prst="roundRect">
            <a:avLst>
              <a:gd name="adj" fmla="val 229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8" name="Shape 16"/>
          <p:cNvSpPr/>
          <p:nvPr/>
        </p:nvSpPr>
        <p:spPr>
          <a:xfrm>
            <a:off x="6437376" y="2505456"/>
            <a:ext cx="329184" cy="329184"/>
          </a:xfrm>
          <a:prstGeom prst="ellipse">
            <a:avLst/>
          </a:prstGeom>
          <a:solidFill>
            <a:srgbClr val="C9A227"/>
          </a:solidFill>
          <a:ln w="12700">
            <a:solidFill>
              <a:srgbClr val="C9A227"/>
            </a:solidFill>
            <a:prstDash val="solid"/>
          </a:ln>
        </p:spPr>
      </p:sp>
      <p:sp>
        <p:nvSpPr>
          <p:cNvPr id="19" name="Text 17"/>
          <p:cNvSpPr txBox="1"/>
          <p:nvPr/>
        </p:nvSpPr>
        <p:spPr>
          <a:xfrm>
            <a:off x="6437376" y="2505456"/>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6437376" y="2926080"/>
            <a:ext cx="2093976" cy="548640"/>
          </a:xfrm>
          <a:prstGeom prst="rect">
            <a:avLst/>
          </a:prstGeom>
          <a:noFill/>
          <a:ln/>
        </p:spPr>
        <p:txBody>
          <a:bodyPr wrap="square" lIns="0" tIns="0" rIns="0" bIns="0" rtlCol="0" anchor="ctr"/>
          <a:lstStyle/>
          <a:p>
            <a:pPr marL="0" indent="0">
              <a:lnSpc>
                <a:spcPts val="1900"/>
              </a:lnSpc>
              <a:buNone/>
            </a:pPr>
            <a:r>
              <a:rPr lang="en-US" sz="1350" b="1" dirty="0">
                <a:solidFill>
                  <a:srgbClr val="E8CE78"/>
                </a:solidFill>
                <a:latin typeface="Meiryo" pitchFamily="34" charset="0"/>
                <a:ea typeface="Meiryo" pitchFamily="34" charset="-122"/>
                <a:cs typeface="Meiryo" pitchFamily="34" charset="-120"/>
              </a:rPr>
              <a:t>だから、先に渡すことにした</a:t>
            </a:r>
            <a:endParaRPr lang="en-US" sz="1350" dirty="0"/>
          </a:p>
        </p:txBody>
      </p:sp>
      <p:sp>
        <p:nvSpPr>
          <p:cNvPr id="21" name="Text 19"/>
          <p:cNvSpPr txBox="1"/>
          <p:nvPr/>
        </p:nvSpPr>
        <p:spPr>
          <a:xfrm>
            <a:off x="6437376" y="3547872"/>
            <a:ext cx="2093976" cy="1060704"/>
          </a:xfrm>
          <a:prstGeom prst="rect">
            <a:avLst/>
          </a:prstGeom>
          <a:noFill/>
          <a:ln/>
        </p:spPr>
        <p:txBody>
          <a:bodyPr wrap="square" lIns="0" tIns="0" rIns="0" bIns="0" rtlCol="0" anchor="ctr"/>
          <a:lstStyle/>
          <a:p>
            <a:pPr marL="0" indent="0">
              <a:lnSpc>
                <a:spcPts val="1600"/>
              </a:lnSpc>
              <a:buNone/>
            </a:pPr>
            <a:r>
              <a:rPr lang="en-US" sz="1050" dirty="0">
                <a:solidFill>
                  <a:srgbClr val="A2908C"/>
                </a:solidFill>
                <a:latin typeface="Meiryo" pitchFamily="34" charset="0"/>
                <a:ea typeface="Meiryo" pitchFamily="34" charset="-122"/>
                <a:cs typeface="Meiryo" pitchFamily="34" charset="-120"/>
              </a:rPr>
              <a:t>価値は、体験しないと分かりません。だから一定数ご購入いただいた方に、まずマイルをお渡しします。使って、集まって、また誰かを連れてきてもらう。</a:t>
            </a:r>
            <a:endParaRPr lang="en-US" sz="1050" dirty="0"/>
          </a:p>
        </p:txBody>
      </p:sp>
      <p:sp>
        <p:nvSpPr>
          <p:cNvPr id="22" name="Shape 20"/>
          <p:cNvSpPr/>
          <p:nvPr/>
        </p:nvSpPr>
        <p:spPr>
          <a:xfrm>
            <a:off x="8988552" y="2286000"/>
            <a:ext cx="2606040" cy="2395728"/>
          </a:xfrm>
          <a:prstGeom prst="roundRect">
            <a:avLst>
              <a:gd name="adj" fmla="val 2290"/>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23" name="Shape 21"/>
          <p:cNvSpPr/>
          <p:nvPr/>
        </p:nvSpPr>
        <p:spPr>
          <a:xfrm>
            <a:off x="9244584" y="2505456"/>
            <a:ext cx="329184" cy="329184"/>
          </a:xfrm>
          <a:prstGeom prst="ellipse">
            <a:avLst/>
          </a:prstGeom>
          <a:solidFill>
            <a:srgbClr val="C9A227"/>
          </a:solidFill>
          <a:ln w="12700">
            <a:solidFill>
              <a:srgbClr val="C9A227"/>
            </a:solidFill>
            <a:prstDash val="solid"/>
          </a:ln>
        </p:spPr>
      </p:sp>
      <p:sp>
        <p:nvSpPr>
          <p:cNvPr id="24" name="Text 22"/>
          <p:cNvSpPr txBox="1"/>
          <p:nvPr/>
        </p:nvSpPr>
        <p:spPr>
          <a:xfrm>
            <a:off x="9244584" y="2505456"/>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244584" y="2926080"/>
            <a:ext cx="2093976" cy="548640"/>
          </a:xfrm>
          <a:prstGeom prst="rect">
            <a:avLst/>
          </a:prstGeom>
          <a:noFill/>
          <a:ln/>
        </p:spPr>
        <p:txBody>
          <a:bodyPr wrap="square" lIns="0" tIns="0" rIns="0" bIns="0" rtlCol="0" anchor="ctr"/>
          <a:lstStyle/>
          <a:p>
            <a:pPr marL="0" indent="0">
              <a:lnSpc>
                <a:spcPts val="1900"/>
              </a:lnSpc>
              <a:buNone/>
            </a:pPr>
            <a:r>
              <a:rPr lang="en-US" sz="1350" b="1" dirty="0">
                <a:solidFill>
                  <a:srgbClr val="E8CE78"/>
                </a:solidFill>
                <a:latin typeface="Meiryo" pitchFamily="34" charset="0"/>
                <a:ea typeface="Meiryo" pitchFamily="34" charset="-122"/>
                <a:cs typeface="Meiryo" pitchFamily="34" charset="-120"/>
              </a:rPr>
              <a:t>原資は、ワインの未来です</a:t>
            </a:r>
            <a:endParaRPr lang="en-US" sz="1350" dirty="0"/>
          </a:p>
        </p:txBody>
      </p:sp>
      <p:sp>
        <p:nvSpPr>
          <p:cNvPr id="26" name="Text 24"/>
          <p:cNvSpPr txBox="1"/>
          <p:nvPr/>
        </p:nvSpPr>
        <p:spPr>
          <a:xfrm>
            <a:off x="9244584" y="3547872"/>
            <a:ext cx="2093976" cy="1060704"/>
          </a:xfrm>
          <a:prstGeom prst="rect">
            <a:avLst/>
          </a:prstGeom>
          <a:noFill/>
          <a:ln/>
        </p:spPr>
        <p:txBody>
          <a:bodyPr wrap="square" lIns="0" tIns="0" rIns="0" bIns="0" rtlCol="0" anchor="ctr"/>
          <a:lstStyle/>
          <a:p>
            <a:pPr marL="0" indent="0">
              <a:lnSpc>
                <a:spcPts val="1600"/>
              </a:lnSpc>
              <a:buNone/>
            </a:pPr>
            <a:r>
              <a:rPr lang="en-US" sz="1050" dirty="0">
                <a:solidFill>
                  <a:srgbClr val="A2908C"/>
                </a:solidFill>
                <a:latin typeface="Meiryo" pitchFamily="34" charset="0"/>
                <a:ea typeface="Meiryo" pitchFamily="34" charset="-122"/>
                <a:cs typeface="Meiryo" pitchFamily="34" charset="-120"/>
              </a:rPr>
              <a:t>ワインは値上がりする。私たちはそう信じています。その未来を先読みして、私たちもお客様と一緒にリスクを取り、先にお渡しする。</a:t>
            </a:r>
            <a:endParaRPr lang="en-US" sz="1050" dirty="0"/>
          </a:p>
        </p:txBody>
      </p:sp>
      <p:sp>
        <p:nvSpPr>
          <p:cNvPr id="27" name="Shape 25"/>
          <p:cNvSpPr/>
          <p:nvPr/>
        </p:nvSpPr>
        <p:spPr>
          <a:xfrm>
            <a:off x="566928" y="4882896"/>
            <a:ext cx="11027664" cy="1170432"/>
          </a:xfrm>
          <a:prstGeom prst="roundRect">
            <a:avLst>
              <a:gd name="adj" fmla="val 4688"/>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8" name="Text 26"/>
          <p:cNvSpPr txBox="1"/>
          <p:nvPr/>
        </p:nvSpPr>
        <p:spPr>
          <a:xfrm>
            <a:off x="978408" y="5084064"/>
            <a:ext cx="10204704" cy="402336"/>
          </a:xfrm>
          <a:prstGeom prst="rect">
            <a:avLst/>
          </a:prstGeom>
          <a:noFill/>
          <a:ln/>
        </p:spPr>
        <p:txBody>
          <a:bodyPr wrap="square" lIns="0" tIns="0" rIns="0" bIns="0" rtlCol="0" anchor="ctr"/>
          <a:lstStyle/>
          <a:p>
            <a:pPr marL="0" indent="0">
              <a:buNone/>
            </a:pPr>
            <a:r>
              <a:rPr lang="en-US" sz="2100" b="1" dirty="0">
                <a:solidFill>
                  <a:srgbClr val="E8CE78"/>
                </a:solidFill>
                <a:latin typeface="Meiryo" pitchFamily="34" charset="0"/>
                <a:ea typeface="Meiryo" pitchFamily="34" charset="-122"/>
                <a:cs typeface="Meiryo" pitchFamily="34" charset="-120"/>
              </a:rPr>
              <a:t>損をしているのではありません。先に出して、一緒に賭けているだけです。</a:t>
            </a:r>
            <a:endParaRPr lang="en-US" sz="2100" dirty="0"/>
          </a:p>
        </p:txBody>
      </p:sp>
      <p:sp>
        <p:nvSpPr>
          <p:cNvPr id="29" name="Text 27"/>
          <p:cNvSpPr txBox="1"/>
          <p:nvPr/>
        </p:nvSpPr>
        <p:spPr>
          <a:xfrm>
            <a:off x="978408" y="5541264"/>
            <a:ext cx="10204704" cy="384048"/>
          </a:xfrm>
          <a:prstGeom prst="rect">
            <a:avLst/>
          </a:prstGeom>
          <a:noFill/>
          <a:ln/>
        </p:spPr>
        <p:txBody>
          <a:bodyPr wrap="square" lIns="0" tIns="0" rIns="0" bIns="0" rtlCol="0" anchor="ctr"/>
          <a:lstStyle/>
          <a:p>
            <a:pPr marL="0" indent="0">
              <a:buNone/>
            </a:pPr>
            <a:r>
              <a:rPr lang="en-US" sz="1300" dirty="0">
                <a:solidFill>
                  <a:srgbClr val="F2EDE6"/>
                </a:solidFill>
                <a:latin typeface="Meiryo" pitchFamily="34" charset="0"/>
                <a:ea typeface="Meiryo" pitchFamily="34" charset="-122"/>
                <a:cs typeface="Meiryo" pitchFamily="34" charset="-120"/>
              </a:rPr>
              <a:t>だから管理費の一部と、将来の利益の一部を——お客様の取り分を優先したうえで——分けていただく。増えたら、分け合う。それだけのことです。</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BUSINESS CASE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数字で見ると：同じキャッシュで、ワインは2.5倍</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WineBank単体ベース。ワイン1億円／値上がり6%（単利）・金利3%・保管料210円/本・粗利30%</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499616"/>
            <a:ext cx="11027664" cy="256032"/>
          </a:xfrm>
          <a:prstGeom prst="rect">
            <a:avLst/>
          </a:prstGeom>
          <a:noFill/>
          <a:ln/>
        </p:spPr>
        <p:txBody>
          <a:bodyPr wrap="square" lIns="0" tIns="0" rIns="0" bIns="0" rtlCol="0" anchor="ctr"/>
          <a:lstStyle/>
          <a:p>
            <a:pPr marL="0" indent="0">
              <a:buNone/>
            </a:pPr>
            <a:r>
              <a:rPr lang="en-US" sz="1050" dirty="0">
                <a:solidFill>
                  <a:srgbClr val="C9A227"/>
                </a:solidFill>
                <a:latin typeface="Meiryo" pitchFamily="34" charset="0"/>
                <a:ea typeface="Meiryo" pitchFamily="34" charset="-122"/>
                <a:cs typeface="Meiryo" pitchFamily="34" charset="-120"/>
              </a:rPr>
              <a:t>販売ミックス：100万×55名 ＋ 500万×5名 ＋ 1,000万×2名 ＝ 1億円　／　管理料 2.75%（全ランク）　還元率 4/5/6%　マイル発行 465万円（原価率51.1%）　※単位：万円</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27664" cy="2724912"/>
        </p:xfrm>
        <a:graphic>
          <a:graphicData uri="http://schemas.openxmlformats.org/drawingml/2006/table">
            <a:tbl>
              <a:tblPr/>
              <a:tblGrid>
                <a:gridCol w="30175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340864">
                  <a:extLst>
                    <a:ext uri="{9D8B030D-6E8A-4147-A177-3AD203B41FA5}">
                      <a16:colId xmlns:a16="http://schemas.microsoft.com/office/drawing/2014/main" val="20003"/>
                    </a:ext>
                  </a:extLst>
                </a:gridCol>
              </a:tblGrid>
              <a:tr h="384048">
                <a:tc>
                  <a:txBody>
                    <a:bodyPr/>
                    <a:lstStyle/>
                    <a:p>
                      <a:pPr marL="0" indent="0" algn="ctr">
                        <a:buNone/>
                      </a:pP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① 1億を保有し続ける</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② 1億を販売＋1.2億を新規買付</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差</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PL（営業損益）</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D96A6A"/>
                          </a:solidFill>
                          <a:latin typeface="Meiryo" pitchFamily="34" charset="0"/>
                          <a:ea typeface="Meiryo" pitchFamily="34" charset="-122"/>
                          <a:cs typeface="Meiryo" pitchFamily="34" charset="-120"/>
                        </a:rPr>
                        <a:t>▲405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+2,464</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+2,869</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新規買付前のCF</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D96A6A"/>
                          </a:solidFill>
                          <a:latin typeface="Meiryo" pitchFamily="34" charset="0"/>
                          <a:ea typeface="Meiryo" pitchFamily="34" charset="-122"/>
                          <a:cs typeface="Meiryo" pitchFamily="34" charset="-120"/>
                        </a:rPr>
                        <a:t>▲405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+9,464</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+9,869</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2"/>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純CF</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▲405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▲536</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E0A458"/>
                          </a:solidFill>
                          <a:latin typeface="Meiryo" pitchFamily="34" charset="0"/>
                          <a:ea typeface="Meiryo" pitchFamily="34" charset="-122"/>
                          <a:cs typeface="Meiryo" pitchFamily="34" charset="-120"/>
                        </a:rPr>
                        <a:t>▲131</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ワイン在庫（簿価）</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15,000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+5,000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預かり資産（会員所有）</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5"/>
                  </a:ext>
                </a:extLst>
              </a:tr>
              <a:tr h="420624">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支配下のワイン総額</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E8CE78"/>
                          </a:solidFill>
                          <a:latin typeface="Meiryo" pitchFamily="34" charset="0"/>
                          <a:ea typeface="Meiryo" pitchFamily="34" charset="-122"/>
                          <a:cs typeface="Meiryo" pitchFamily="34" charset="-120"/>
                        </a:rPr>
                        <a:t>25,000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E8CE78"/>
                          </a:solidFill>
                          <a:latin typeface="Meiryo" pitchFamily="34" charset="0"/>
                          <a:ea typeface="Meiryo" pitchFamily="34" charset="-122"/>
                          <a:cs typeface="Meiryo" pitchFamily="34" charset="-120"/>
                        </a:rPr>
                        <a:t>2.50倍</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6"/>
                  </a:ext>
                </a:extLst>
              </a:tr>
            </a:tbl>
          </a:graphicData>
        </a:graphic>
      </p:graphicFrame>
      <p:sp>
        <p:nvSpPr>
          <p:cNvPr id="8" name="Shape 5"/>
          <p:cNvSpPr/>
          <p:nvPr/>
        </p:nvSpPr>
        <p:spPr>
          <a:xfrm>
            <a:off x="566928" y="4700016"/>
            <a:ext cx="5394960" cy="1353312"/>
          </a:xfrm>
          <a:prstGeom prst="roundRect">
            <a:avLst>
              <a:gd name="adj" fmla="val 4054"/>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9" name="Text 6"/>
          <p:cNvSpPr txBox="1"/>
          <p:nvPr/>
        </p:nvSpPr>
        <p:spPr>
          <a:xfrm>
            <a:off x="932688" y="4846320"/>
            <a:ext cx="4663440" cy="292608"/>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純CFはほぼ同じ。なのに、ワインは2.5倍。</a:t>
            </a:r>
            <a:endParaRPr lang="en-US" sz="1500" dirty="0"/>
          </a:p>
        </p:txBody>
      </p:sp>
      <p:sp>
        <p:nvSpPr>
          <p:cNvPr id="10" name="Text 7"/>
          <p:cNvSpPr txBox="1"/>
          <p:nvPr/>
        </p:nvSpPr>
        <p:spPr>
          <a:xfrm>
            <a:off x="932688" y="5175504"/>
            <a:ext cx="4663440" cy="786384"/>
          </a:xfrm>
          <a:prstGeom prst="rect">
            <a:avLst/>
          </a:prstGeom>
          <a:noFill/>
          <a:ln/>
        </p:spPr>
        <p:txBody>
          <a:bodyPr wrap="square" lIns="0" tIns="0" rIns="0" bIns="0" rtlCol="0" anchor="ctr"/>
          <a:lstStyle/>
          <a:p>
            <a:pPr marL="0" indent="0">
              <a:lnSpc>
                <a:spcPts val="1500"/>
              </a:lnSpc>
              <a:buNone/>
            </a:pPr>
            <a:r>
              <a:rPr lang="en-US" sz="1050" dirty="0">
                <a:solidFill>
                  <a:srgbClr val="F2EDE6"/>
                </a:solidFill>
                <a:latin typeface="Meiryo" pitchFamily="34" charset="0"/>
                <a:ea typeface="Meiryo" pitchFamily="34" charset="-122"/>
                <a:cs typeface="Meiryo" pitchFamily="34" charset="-120"/>
              </a:rPr>
              <a:t>▲405万と▲536万。差は131万円です。同じだけ現金を使って、セラーのワインは1億から2億5,000万へ。しかもうち1億は、会員のお金で買われたワインです。</a:t>
            </a:r>
            <a:endParaRPr lang="en-US" sz="1050" dirty="0"/>
          </a:p>
        </p:txBody>
      </p:sp>
      <p:sp>
        <p:nvSpPr>
          <p:cNvPr id="11" name="Shape 8"/>
          <p:cNvSpPr/>
          <p:nvPr/>
        </p:nvSpPr>
        <p:spPr>
          <a:xfrm>
            <a:off x="6199632" y="4700016"/>
            <a:ext cx="5394960" cy="1353312"/>
          </a:xfrm>
          <a:prstGeom prst="roundRect">
            <a:avLst>
              <a:gd name="adj" fmla="val 4054"/>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2" name="Text 9"/>
          <p:cNvSpPr txBox="1"/>
          <p:nvPr/>
        </p:nvSpPr>
        <p:spPr>
          <a:xfrm>
            <a:off x="6565392" y="4846320"/>
            <a:ext cx="4663440" cy="292608"/>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同じ1億が、コストから収益に変わる。</a:t>
            </a:r>
            <a:endParaRPr lang="en-US" sz="1500" dirty="0"/>
          </a:p>
        </p:txBody>
      </p:sp>
      <p:sp>
        <p:nvSpPr>
          <p:cNvPr id="13" name="Text 10"/>
          <p:cNvSpPr txBox="1"/>
          <p:nvPr/>
        </p:nvSpPr>
        <p:spPr>
          <a:xfrm>
            <a:off x="6565392" y="5175504"/>
            <a:ext cx="4663440" cy="786384"/>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自社で持つと 年▲405万（金利300＋保管105）。会員に持たせて預かると 年▲18万（手数料275−保管105−マイル238＋オークション50）。成功報酬180万を含めれば +162万。同じワインで年567万ひっくり返ります。</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ACCUMULATION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「手出しは、増え続けないか」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単発の試算で黒字でも、マイルの支払いが年々膨らんで食い潰すのではないか——ご指摘への回答です。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499616"/>
            <a:ext cx="11027664" cy="256032"/>
          </a:xfrm>
          <a:prstGeom prst="rect">
            <a:avLst/>
          </a:prstGeom>
          <a:noFill/>
          <a:ln/>
        </p:spPr>
        <p:txBody>
          <a:bodyPr wrap="square" lIns="0" tIns="0" rIns="0" bIns="0" rtlCol="0" anchor="ctr"/>
          <a:lstStyle/>
          <a:p>
            <a:pPr marL="0" indent="0">
              <a:buNone/>
            </a:pPr>
            <a:r>
              <a:rPr lang="en-US" sz="1050" dirty="0">
                <a:solidFill>
                  <a:srgbClr val="C9A227"/>
                </a:solidFill>
                <a:latin typeface="Meiryo" pitchFamily="34" charset="0"/>
                <a:ea typeface="Meiryo" pitchFamily="34" charset="-122"/>
                <a:cs typeface="Meiryo" pitchFamily="34" charset="-120"/>
              </a:rPr>
              <a:t>毎年1億円ずつ販売を続けた場合。単体ベース、還元率4/5/6%、マイル原価率51.1%。　※単位：万円</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27664" cy="2103120"/>
        </p:xfrm>
        <a:graphic>
          <a:graphicData uri="http://schemas.openxmlformats.org/drawingml/2006/table">
            <a:tbl>
              <a:tblPr/>
              <a:tblGrid>
                <a:gridCol w="8229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gridCol w="1609344">
                  <a:extLst>
                    <a:ext uri="{9D8B030D-6E8A-4147-A177-3AD203B41FA5}">
                      <a16:colId xmlns:a16="http://schemas.microsoft.com/office/drawing/2014/main" val="20007"/>
                    </a:ext>
                  </a:extLst>
                </a:gridCol>
              </a:tblGrid>
              <a:tr h="457200">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預かり資産</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粗利</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手数料−保管</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マイル費用</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オーク</a:t>
                      </a:r>
                      <a:endParaRPr lang="en-US" sz="1100" dirty="0">
                        <a:latin typeface="Meiryo" charset="0"/>
                        <a:ea typeface="Meiryo" charset="0"/>
                        <a:cs typeface="Meiryo" charset="0"/>
                      </a:endParaRPr>
                    </a:p>
                    <a:p>
                      <a:pPr marL="0" indent="0" algn="ctr">
                        <a:buNone/>
                      </a:pPr>
                      <a:r>
                        <a:rPr lang="en-US" sz="1100" b="1" dirty="0">
                          <a:solidFill>
                            <a:srgbClr val="F2EDE6"/>
                          </a:solidFill>
                          <a:latin typeface="Meiryo" pitchFamily="34" charset="0"/>
                          <a:ea typeface="Meiryo" pitchFamily="34" charset="-122"/>
                          <a:cs typeface="Meiryo" pitchFamily="34" charset="-120"/>
                        </a:rPr>
                        <a:t>ション</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成功報酬</a:t>
                      </a:r>
                      <a:endParaRPr lang="en-US" sz="1100" dirty="0">
                        <a:latin typeface="Meiryo" charset="0"/>
                        <a:ea typeface="Meiryo" charset="0"/>
                        <a:cs typeface="Meiryo" charset="0"/>
                      </a:endParaRPr>
                    </a:p>
                    <a:p>
                      <a:pPr marL="0" indent="0" algn="ctr">
                        <a:buNone/>
                      </a:pPr>
                      <a:r>
                        <a:rPr lang="en-US" sz="1100" b="1" dirty="0">
                          <a:solidFill>
                            <a:srgbClr val="F2EDE6"/>
                          </a:solidFill>
                          <a:latin typeface="Meiryo" pitchFamily="34" charset="0"/>
                          <a:ea typeface="Meiryo" pitchFamily="34" charset="-122"/>
                          <a:cs typeface="Meiryo" pitchFamily="34" charset="-120"/>
                        </a:rPr>
                        <a:t>（発生）</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年間計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402336">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1年</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+170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▲238</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C9A227"/>
                          </a:solidFill>
                          <a:latin typeface="Meiryo" pitchFamily="34" charset="0"/>
                          <a:ea typeface="Meiryo" pitchFamily="34" charset="-122"/>
                          <a:cs typeface="Meiryo" pitchFamily="34" charset="-120"/>
                        </a:rPr>
                        <a:t>+180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+3,162</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402336">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3年</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+510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▲713</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+150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C9A227"/>
                          </a:solidFill>
                          <a:latin typeface="Meiryo" pitchFamily="34" charset="0"/>
                          <a:ea typeface="Meiryo" pitchFamily="34" charset="-122"/>
                          <a:cs typeface="Meiryo" pitchFamily="34" charset="-120"/>
                        </a:rPr>
                        <a:t>+540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+3,487</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2"/>
                  </a:ext>
                </a:extLst>
              </a:tr>
              <a:tr h="402336">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5年</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50,000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+850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▲1,189</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+250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C9A227"/>
                          </a:solidFill>
                          <a:latin typeface="Meiryo" pitchFamily="34" charset="0"/>
                          <a:ea typeface="Meiryo" pitchFamily="34" charset="-122"/>
                          <a:cs typeface="Meiryo" pitchFamily="34" charset="-120"/>
                        </a:rPr>
                        <a:t>+900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+3,811</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r h="438912">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10年</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+1,700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▲2,378</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+500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dirty="0">
                          <a:solidFill>
                            <a:srgbClr val="E8CE78"/>
                          </a:solidFill>
                          <a:latin typeface="Meiryo" pitchFamily="34" charset="0"/>
                          <a:ea typeface="Meiryo" pitchFamily="34" charset="-122"/>
                          <a:cs typeface="Meiryo" pitchFamily="34" charset="-120"/>
                        </a:rPr>
                        <a:t>+1,800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+4,622</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4"/>
                  </a:ext>
                </a:extLst>
              </a:tr>
            </a:tbl>
          </a:graphicData>
        </a:graphic>
      </p:graphicFrame>
      <p:sp>
        <p:nvSpPr>
          <p:cNvPr id="8" name="Shape 5"/>
          <p:cNvSpPr/>
          <p:nvPr/>
        </p:nvSpPr>
        <p:spPr>
          <a:xfrm>
            <a:off x="566928" y="4133088"/>
            <a:ext cx="5394960" cy="1115568"/>
          </a:xfrm>
          <a:prstGeom prst="roundRect">
            <a:avLst>
              <a:gd name="adj" fmla="val 4918"/>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9" name="Text 6"/>
          <p:cNvSpPr txBox="1"/>
          <p:nvPr/>
        </p:nvSpPr>
        <p:spPr>
          <a:xfrm>
            <a:off x="932688" y="4261104"/>
            <a:ext cx="4663440" cy="292608"/>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手数料だけでは足りない。だから3つで支えます。</a:t>
            </a:r>
            <a:endParaRPr lang="en-US" sz="1500" dirty="0"/>
          </a:p>
        </p:txBody>
      </p:sp>
      <p:sp>
        <p:nvSpPr>
          <p:cNvPr id="10" name="Text 7"/>
          <p:cNvSpPr txBox="1"/>
          <p:nvPr/>
        </p:nvSpPr>
        <p:spPr>
          <a:xfrm>
            <a:off x="932688" y="4572000"/>
            <a:ext cx="4663440" cy="640080"/>
          </a:xfrm>
          <a:prstGeom prst="rect">
            <a:avLst/>
          </a:prstGeom>
          <a:noFill/>
          <a:ln/>
        </p:spPr>
        <p:txBody>
          <a:bodyPr wrap="square" lIns="0" tIns="0" rIns="0" bIns="0" rtlCol="0" anchor="ctr"/>
          <a:lstStyle/>
          <a:p>
            <a:pPr marL="0" indent="0">
              <a:lnSpc>
                <a:spcPts val="1500"/>
              </a:lnSpc>
              <a:buNone/>
            </a:pPr>
            <a:r>
              <a:rPr lang="en-US" sz="1050" dirty="0">
                <a:solidFill>
                  <a:srgbClr val="F2EDE6"/>
                </a:solidFill>
                <a:latin typeface="Meiryo" pitchFamily="34" charset="0"/>
                <a:ea typeface="Meiryo" pitchFamily="34" charset="-122"/>
                <a:cs typeface="Meiryo" pitchFamily="34" charset="-120"/>
              </a:rPr>
              <a:t>手数料2.75%から保管1.05%（鈴与実額210円/本）を引くと残りは1.70%。マイル2.38%はこれを超えます。差を埋めるのがオークション手数料0.5%と、値上がり益30%（年1.8%相当）です。</a:t>
            </a:r>
            <a:endParaRPr lang="en-US" sz="1050" dirty="0"/>
          </a:p>
        </p:txBody>
      </p:sp>
      <p:sp>
        <p:nvSpPr>
          <p:cNvPr id="11" name="Shape 8"/>
          <p:cNvSpPr/>
          <p:nvPr/>
        </p:nvSpPr>
        <p:spPr>
          <a:xfrm>
            <a:off x="6199632" y="4133088"/>
            <a:ext cx="5394960" cy="1115568"/>
          </a:xfrm>
          <a:prstGeom prst="roundRect">
            <a:avLst>
              <a:gd name="adj" fmla="val 4918"/>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2" name="Text 9"/>
          <p:cNvSpPr txBox="1"/>
          <p:nvPr/>
        </p:nvSpPr>
        <p:spPr>
          <a:xfrm>
            <a:off x="6565392" y="4261104"/>
            <a:ext cx="4663440" cy="292608"/>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すべて預かり資産に比例するので、比は変わりません。</a:t>
            </a:r>
            <a:endParaRPr lang="en-US" sz="1500" dirty="0"/>
          </a:p>
        </p:txBody>
      </p:sp>
      <p:sp>
        <p:nvSpPr>
          <p:cNvPr id="13" name="Text 10"/>
          <p:cNvSpPr txBox="1"/>
          <p:nvPr/>
        </p:nvSpPr>
        <p:spPr>
          <a:xfrm>
            <a:off x="6565392" y="4572000"/>
            <a:ext cx="4663440" cy="640080"/>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手数料2.75%・保管1.05%・マイル2.38%・オークション0.5%・成功報酬1.8%。全部が定率なので、規模が何倍になっても差引1.62%は動きません。手出しが収入を追い越す構造ではありません。</a:t>
            </a:r>
            <a:endParaRPr lang="en-US" sz="1050" dirty="0"/>
          </a:p>
        </p:txBody>
      </p:sp>
      <p:sp>
        <p:nvSpPr>
          <p:cNvPr id="14" name="Shape 11"/>
          <p:cNvSpPr/>
          <p:nvPr/>
        </p:nvSpPr>
        <p:spPr>
          <a:xfrm>
            <a:off x="566928" y="5394960"/>
            <a:ext cx="11027664" cy="658368"/>
          </a:xfrm>
          <a:prstGeom prst="roundRect">
            <a:avLst>
              <a:gd name="adj" fmla="val 8333"/>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5" name="Text 12"/>
          <p:cNvSpPr txBox="1"/>
          <p:nvPr/>
        </p:nvSpPr>
        <p:spPr>
          <a:xfrm>
            <a:off x="978408" y="5559552"/>
            <a:ext cx="10204704" cy="365760"/>
          </a:xfrm>
          <a:prstGeom prst="rect">
            <a:avLst/>
          </a:prstGeom>
          <a:noFill/>
          <a:ln/>
        </p:spPr>
        <p:txBody>
          <a:bodyPr wrap="square" lIns="0" tIns="0" rIns="0" bIns="0" rtlCol="0" anchor="ctr"/>
          <a:lstStyle/>
          <a:p>
            <a:pPr marL="0" indent="0">
              <a:buNone/>
            </a:pPr>
            <a:r>
              <a:rPr lang="en-US" sz="1350" b="1" dirty="0">
                <a:solidFill>
                  <a:srgbClr val="E0A458"/>
                </a:solidFill>
                <a:latin typeface="Meiryo" pitchFamily="34" charset="0"/>
                <a:ea typeface="Meiryo" pitchFamily="34" charset="-122"/>
                <a:cs typeface="Meiryo" pitchFamily="34" charset="-120"/>
              </a:rPr>
              <a:t>現金ベースは年▲18万。成功報酬180万を含めて+162万。ただし成功報酬は出口までキャッシュになりません。</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INSIGHT</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ワイン＝コンテンツ。ワインマイル＝コミュニケーション。</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SNSの本質は、本来別々だった二つを一体化させたこと。ワインでも同じことが起きます。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3017520" cy="3017520"/>
          </a:xfrm>
          <a:prstGeom prst="roundRect">
            <a:avLst>
              <a:gd name="adj" fmla="val 1818"/>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7" name="Text 5"/>
          <p:cNvSpPr txBox="1"/>
          <p:nvPr/>
        </p:nvSpPr>
        <p:spPr>
          <a:xfrm>
            <a:off x="859536" y="1828800"/>
            <a:ext cx="2432304" cy="402336"/>
          </a:xfrm>
          <a:prstGeom prst="rect">
            <a:avLst/>
          </a:prstGeom>
          <a:noFill/>
          <a:ln/>
        </p:spPr>
        <p:txBody>
          <a:bodyPr wrap="square" lIns="0" tIns="0" rIns="0" bIns="0" rtlCol="0" anchor="ctr"/>
          <a:lstStyle/>
          <a:p>
            <a:pPr marL="0" indent="0">
              <a:buNone/>
            </a:pPr>
            <a:r>
              <a:rPr lang="en-US" sz="2400" b="1" dirty="0">
                <a:solidFill>
                  <a:srgbClr val="E8CE78"/>
                </a:solidFill>
                <a:latin typeface="Meiryo" pitchFamily="34" charset="0"/>
                <a:ea typeface="Meiryo" pitchFamily="34" charset="-122"/>
                <a:cs typeface="Meiryo" pitchFamily="34" charset="-120"/>
              </a:rPr>
              <a:t>ワイン</a:t>
            </a:r>
            <a:endParaRPr lang="en-US" sz="2400" dirty="0"/>
          </a:p>
        </p:txBody>
      </p:sp>
      <p:sp>
        <p:nvSpPr>
          <p:cNvPr id="8" name="Text 6"/>
          <p:cNvSpPr txBox="1"/>
          <p:nvPr/>
        </p:nvSpPr>
        <p:spPr>
          <a:xfrm>
            <a:off x="859536" y="2267712"/>
            <a:ext cx="2432304" cy="274320"/>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 コンテンツ</a:t>
            </a:r>
            <a:endParaRPr lang="en-US" sz="1300" dirty="0"/>
          </a:p>
        </p:txBody>
      </p:sp>
      <p:sp>
        <p:nvSpPr>
          <p:cNvPr id="9" name="Text 7"/>
          <p:cNvSpPr txBox="1"/>
          <p:nvPr/>
        </p:nvSpPr>
        <p:spPr>
          <a:xfrm>
            <a:off x="859536" y="2670048"/>
            <a:ext cx="2432304" cy="1005840"/>
          </a:xfrm>
          <a:prstGeom prst="rect">
            <a:avLst/>
          </a:prstGeom>
          <a:noFill/>
          <a:ln/>
        </p:spPr>
        <p:txBody>
          <a:bodyPr wrap="square" lIns="0" tIns="0" rIns="0" bIns="0" rtlCol="0" anchor="ctr"/>
          <a:lstStyle/>
          <a:p>
            <a:pPr marL="0" indent="0">
              <a:lnSpc>
                <a:spcPts val="1800"/>
              </a:lnSpc>
              <a:buNone/>
            </a:pPr>
            <a:r>
              <a:rPr lang="en-US" sz="1150" dirty="0">
                <a:solidFill>
                  <a:srgbClr val="A2908C"/>
                </a:solidFill>
                <a:latin typeface="Meiryo" pitchFamily="34" charset="0"/>
                <a:ea typeface="Meiryo" pitchFamily="34" charset="-122"/>
                <a:cs typeface="Meiryo" pitchFamily="34" charset="-120"/>
              </a:rPr>
              <a:t>現物資産。時価が動き、飲み頃が来て、いつか開けられる。ここまでは2.1で作れました。</a:t>
            </a:r>
            <a:endParaRPr lang="en-US" sz="1150" dirty="0"/>
          </a:p>
        </p:txBody>
      </p:sp>
      <p:sp>
        <p:nvSpPr>
          <p:cNvPr id="10" name="Text 8"/>
          <p:cNvSpPr txBox="1"/>
          <p:nvPr/>
        </p:nvSpPr>
        <p:spPr>
          <a:xfrm>
            <a:off x="3675888" y="2834640"/>
            <a:ext cx="365760" cy="365760"/>
          </a:xfrm>
          <a:prstGeom prst="rect">
            <a:avLst/>
          </a:prstGeom>
          <a:noFill/>
          <a:ln/>
        </p:spPr>
        <p:txBody>
          <a:bodyPr wrap="square" lIns="0" tIns="0" rIns="0" bIns="0" rtlCol="0" anchor="ctr"/>
          <a:lstStyle/>
          <a:p>
            <a:pPr marL="0" indent="0" algn="ctr">
              <a:buNone/>
            </a:pPr>
            <a:r>
              <a:rPr lang="en-US" sz="2200" b="1" dirty="0">
                <a:solidFill>
                  <a:srgbClr val="C9A227"/>
                </a:solidFill>
                <a:latin typeface="Meiryo" pitchFamily="34" charset="0"/>
                <a:ea typeface="Meiryo" pitchFamily="34" charset="-122"/>
                <a:cs typeface="Meiryo" pitchFamily="34" charset="-120"/>
              </a:rPr>
              <a:t>＋</a:t>
            </a:r>
            <a:endParaRPr lang="en-US" sz="2200" dirty="0"/>
          </a:p>
        </p:txBody>
      </p:sp>
      <p:sp>
        <p:nvSpPr>
          <p:cNvPr id="11" name="Shape 9"/>
          <p:cNvSpPr/>
          <p:nvPr/>
        </p:nvSpPr>
        <p:spPr>
          <a:xfrm>
            <a:off x="4133088" y="1627632"/>
            <a:ext cx="7461504" cy="3017520"/>
          </a:xfrm>
          <a:prstGeom prst="roundRect">
            <a:avLst>
              <a:gd name="adj" fmla="val 1818"/>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2" name="Text 10"/>
          <p:cNvSpPr txBox="1"/>
          <p:nvPr/>
        </p:nvSpPr>
        <p:spPr>
          <a:xfrm>
            <a:off x="4425696" y="1828800"/>
            <a:ext cx="6858000" cy="402336"/>
          </a:xfrm>
          <a:prstGeom prst="rect">
            <a:avLst/>
          </a:prstGeom>
          <a:noFill/>
          <a:ln/>
        </p:spPr>
        <p:txBody>
          <a:bodyPr wrap="square" lIns="0" tIns="0" rIns="0" bIns="0" rtlCol="0" anchor="ctr"/>
          <a:lstStyle/>
          <a:p>
            <a:pPr marL="0" indent="0">
              <a:buNone/>
            </a:pPr>
            <a:r>
              <a:rPr lang="en-US" sz="2400" b="1" dirty="0">
                <a:solidFill>
                  <a:srgbClr val="C9A227"/>
                </a:solidFill>
                <a:latin typeface="Meiryo" pitchFamily="34" charset="0"/>
                <a:ea typeface="Meiryo" pitchFamily="34" charset="-122"/>
                <a:cs typeface="Meiryo" pitchFamily="34" charset="-120"/>
              </a:rPr>
              <a:t>ワインマイル</a:t>
            </a:r>
            <a:endParaRPr lang="en-US" sz="2400" dirty="0"/>
          </a:p>
        </p:txBody>
      </p:sp>
      <p:sp>
        <p:nvSpPr>
          <p:cNvPr id="13" name="Text 11"/>
          <p:cNvSpPr txBox="1"/>
          <p:nvPr/>
        </p:nvSpPr>
        <p:spPr>
          <a:xfrm>
            <a:off x="4425696" y="2267712"/>
            <a:ext cx="6858000" cy="274320"/>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 コミュニケーション　　交換先はすべて「人と会う」「人に贈る」に繋がる</a:t>
            </a:r>
            <a:endParaRPr lang="en-US" sz="1300" dirty="0"/>
          </a:p>
        </p:txBody>
      </p:sp>
      <p:sp>
        <p:nvSpPr>
          <p:cNvPr id="14" name="Shape 12"/>
          <p:cNvSpPr/>
          <p:nvPr/>
        </p:nvSpPr>
        <p:spPr>
          <a:xfrm>
            <a:off x="4425696" y="2688336"/>
            <a:ext cx="1609344" cy="402336"/>
          </a:xfrm>
          <a:prstGeom prst="roundRect">
            <a:avLst>
              <a:gd name="adj" fmla="val 1363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5" name="Text 13"/>
          <p:cNvSpPr txBox="1"/>
          <p:nvPr/>
        </p:nvSpPr>
        <p:spPr>
          <a:xfrm>
            <a:off x="4480560" y="2688336"/>
            <a:ext cx="1499616" cy="402336"/>
          </a:xfrm>
          <a:prstGeom prst="rect">
            <a:avLst/>
          </a:prstGeom>
          <a:noFill/>
          <a:ln/>
        </p:spPr>
        <p:txBody>
          <a:bodyPr wrap="square" lIns="0" tIns="0" rIns="0" bIns="0" rtlCol="0" anchor="ctr"/>
          <a:lstStyle/>
          <a:p>
            <a:pPr marL="0" indent="0" algn="ctr">
              <a:buNone/>
            </a:pPr>
            <a:r>
              <a:rPr lang="en-US" sz="950" dirty="0">
                <a:solidFill>
                  <a:srgbClr val="F2EDE6"/>
                </a:solidFill>
                <a:latin typeface="Meiryo" pitchFamily="34" charset="0"/>
                <a:ea typeface="Meiryo" pitchFamily="34" charset="-122"/>
                <a:cs typeface="Meiryo" pitchFamily="34" charset="-120"/>
              </a:rPr>
              <a:t>WineBank会員イベント</a:t>
            </a:r>
            <a:endParaRPr lang="en-US" sz="950" dirty="0"/>
          </a:p>
        </p:txBody>
      </p:sp>
      <p:sp>
        <p:nvSpPr>
          <p:cNvPr id="16" name="Shape 14"/>
          <p:cNvSpPr/>
          <p:nvPr/>
        </p:nvSpPr>
        <p:spPr>
          <a:xfrm>
            <a:off x="6163056" y="2688336"/>
            <a:ext cx="1609344" cy="402336"/>
          </a:xfrm>
          <a:prstGeom prst="roundRect">
            <a:avLst>
              <a:gd name="adj" fmla="val 1363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7" name="Text 15"/>
          <p:cNvSpPr txBox="1"/>
          <p:nvPr/>
        </p:nvSpPr>
        <p:spPr>
          <a:xfrm>
            <a:off x="6217920" y="2688336"/>
            <a:ext cx="1499616" cy="402336"/>
          </a:xfrm>
          <a:prstGeom prst="rect">
            <a:avLst/>
          </a:prstGeom>
          <a:noFill/>
          <a:ln/>
        </p:spPr>
        <p:txBody>
          <a:bodyPr wrap="square" lIns="0" tIns="0" rIns="0" bIns="0" rtlCol="0" anchor="ctr"/>
          <a:lstStyle/>
          <a:p>
            <a:pPr marL="0" indent="0" algn="ctr">
              <a:buNone/>
            </a:pPr>
            <a:r>
              <a:rPr lang="en-US" sz="950" dirty="0">
                <a:solidFill>
                  <a:srgbClr val="F2EDE6"/>
                </a:solidFill>
                <a:latin typeface="Meiryo" pitchFamily="34" charset="0"/>
                <a:ea typeface="Meiryo" pitchFamily="34" charset="-122"/>
                <a:cs typeface="Meiryo" pitchFamily="34" charset="-120"/>
              </a:rPr>
              <a:t>WineBank CLUB</a:t>
            </a:r>
            <a:endParaRPr lang="en-US" sz="950" dirty="0"/>
          </a:p>
        </p:txBody>
      </p:sp>
      <p:sp>
        <p:nvSpPr>
          <p:cNvPr id="18" name="Shape 16"/>
          <p:cNvSpPr/>
          <p:nvPr/>
        </p:nvSpPr>
        <p:spPr>
          <a:xfrm>
            <a:off x="7900416" y="2688336"/>
            <a:ext cx="1609344" cy="402336"/>
          </a:xfrm>
          <a:prstGeom prst="roundRect">
            <a:avLst>
              <a:gd name="adj" fmla="val 1363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9" name="Text 17"/>
          <p:cNvSpPr txBox="1"/>
          <p:nvPr/>
        </p:nvSpPr>
        <p:spPr>
          <a:xfrm>
            <a:off x="7955280" y="2688336"/>
            <a:ext cx="1499616" cy="402336"/>
          </a:xfrm>
          <a:prstGeom prst="rect">
            <a:avLst/>
          </a:prstGeom>
          <a:noFill/>
          <a:ln/>
        </p:spPr>
        <p:txBody>
          <a:bodyPr wrap="square" lIns="0" tIns="0" rIns="0" bIns="0" rtlCol="0" anchor="ctr"/>
          <a:lstStyle/>
          <a:p>
            <a:pPr marL="0" indent="0" algn="ctr">
              <a:buNone/>
            </a:pPr>
            <a:r>
              <a:rPr lang="en-US" sz="950" dirty="0">
                <a:solidFill>
                  <a:srgbClr val="F2EDE6"/>
                </a:solidFill>
                <a:latin typeface="Meiryo" pitchFamily="34" charset="0"/>
                <a:ea typeface="Meiryo" pitchFamily="34" charset="-122"/>
                <a:cs typeface="Meiryo" pitchFamily="34" charset="-120"/>
              </a:rPr>
              <a:t>系列店での会食</a:t>
            </a:r>
            <a:endParaRPr lang="en-US" sz="950" dirty="0"/>
          </a:p>
        </p:txBody>
      </p:sp>
      <p:sp>
        <p:nvSpPr>
          <p:cNvPr id="20" name="Shape 18"/>
          <p:cNvSpPr/>
          <p:nvPr/>
        </p:nvSpPr>
        <p:spPr>
          <a:xfrm>
            <a:off x="9637776" y="2688336"/>
            <a:ext cx="1609344" cy="402336"/>
          </a:xfrm>
          <a:prstGeom prst="roundRect">
            <a:avLst>
              <a:gd name="adj" fmla="val 1363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21" name="Text 19"/>
          <p:cNvSpPr txBox="1"/>
          <p:nvPr/>
        </p:nvSpPr>
        <p:spPr>
          <a:xfrm>
            <a:off x="9692640" y="2688336"/>
            <a:ext cx="1499616" cy="402336"/>
          </a:xfrm>
          <a:prstGeom prst="rect">
            <a:avLst/>
          </a:prstGeom>
          <a:noFill/>
          <a:ln/>
        </p:spPr>
        <p:txBody>
          <a:bodyPr wrap="square" lIns="0" tIns="0" rIns="0" bIns="0" rtlCol="0" anchor="ctr"/>
          <a:lstStyle/>
          <a:p>
            <a:pPr marL="0" indent="0" algn="ctr">
              <a:buNone/>
            </a:pPr>
            <a:r>
              <a:rPr lang="en-US" sz="950" dirty="0">
                <a:solidFill>
                  <a:srgbClr val="F2EDE6"/>
                </a:solidFill>
                <a:latin typeface="Meiryo" pitchFamily="34" charset="0"/>
                <a:ea typeface="Meiryo" pitchFamily="34" charset="-122"/>
                <a:cs typeface="Meiryo" pitchFamily="34" charset="-120"/>
              </a:rPr>
              <a:t>ワインの贈答</a:t>
            </a:r>
            <a:endParaRPr lang="en-US" sz="950" dirty="0"/>
          </a:p>
        </p:txBody>
      </p:sp>
      <p:sp>
        <p:nvSpPr>
          <p:cNvPr id="22" name="Shape 20"/>
          <p:cNvSpPr/>
          <p:nvPr/>
        </p:nvSpPr>
        <p:spPr>
          <a:xfrm>
            <a:off x="4425696" y="3200400"/>
            <a:ext cx="1609344" cy="402336"/>
          </a:xfrm>
          <a:prstGeom prst="roundRect">
            <a:avLst>
              <a:gd name="adj" fmla="val 1363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23" name="Text 21"/>
          <p:cNvSpPr txBox="1"/>
          <p:nvPr/>
        </p:nvSpPr>
        <p:spPr>
          <a:xfrm>
            <a:off x="4480560" y="3200400"/>
            <a:ext cx="1499616" cy="402336"/>
          </a:xfrm>
          <a:prstGeom prst="rect">
            <a:avLst/>
          </a:prstGeom>
          <a:noFill/>
          <a:ln/>
        </p:spPr>
        <p:txBody>
          <a:bodyPr wrap="square" lIns="0" tIns="0" rIns="0" bIns="0" rtlCol="0" anchor="ctr"/>
          <a:lstStyle/>
          <a:p>
            <a:pPr marL="0" indent="0" algn="ctr">
              <a:buNone/>
            </a:pPr>
            <a:r>
              <a:rPr lang="en-US" sz="950" dirty="0">
                <a:solidFill>
                  <a:srgbClr val="F2EDE6"/>
                </a:solidFill>
                <a:latin typeface="Meiryo" pitchFamily="34" charset="0"/>
                <a:ea typeface="Meiryo" pitchFamily="34" charset="-122"/>
                <a:cs typeface="Meiryo" pitchFamily="34" charset="-120"/>
              </a:rPr>
              <a:t>マーケットプレイス／オークション</a:t>
            </a:r>
            <a:endParaRPr lang="en-US" sz="950" dirty="0"/>
          </a:p>
        </p:txBody>
      </p:sp>
      <p:sp>
        <p:nvSpPr>
          <p:cNvPr id="24" name="Shape 22"/>
          <p:cNvSpPr/>
          <p:nvPr/>
        </p:nvSpPr>
        <p:spPr>
          <a:xfrm>
            <a:off x="6163056" y="3200400"/>
            <a:ext cx="1609344" cy="402336"/>
          </a:xfrm>
          <a:prstGeom prst="roundRect">
            <a:avLst>
              <a:gd name="adj" fmla="val 1363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25" name="Text 23"/>
          <p:cNvSpPr txBox="1"/>
          <p:nvPr/>
        </p:nvSpPr>
        <p:spPr>
          <a:xfrm>
            <a:off x="6217920" y="3200400"/>
            <a:ext cx="1499616" cy="402336"/>
          </a:xfrm>
          <a:prstGeom prst="rect">
            <a:avLst/>
          </a:prstGeom>
          <a:noFill/>
          <a:ln/>
        </p:spPr>
        <p:txBody>
          <a:bodyPr wrap="square" lIns="0" tIns="0" rIns="0" bIns="0" rtlCol="0" anchor="ctr"/>
          <a:lstStyle/>
          <a:p>
            <a:pPr marL="0" indent="0" algn="ctr">
              <a:buNone/>
            </a:pPr>
            <a:r>
              <a:rPr lang="en-US" sz="950" dirty="0">
                <a:solidFill>
                  <a:srgbClr val="F2EDE6"/>
                </a:solidFill>
                <a:latin typeface="Meiryo" pitchFamily="34" charset="0"/>
                <a:ea typeface="Meiryo" pitchFamily="34" charset="-122"/>
                <a:cs typeface="Meiryo" pitchFamily="34" charset="-120"/>
              </a:rPr>
              <a:t>BYO（持ち込み）</a:t>
            </a:r>
            <a:endParaRPr lang="en-US" sz="950" dirty="0"/>
          </a:p>
        </p:txBody>
      </p:sp>
      <p:sp>
        <p:nvSpPr>
          <p:cNvPr id="26" name="Shape 24"/>
          <p:cNvSpPr/>
          <p:nvPr/>
        </p:nvSpPr>
        <p:spPr>
          <a:xfrm>
            <a:off x="7900416" y="3200400"/>
            <a:ext cx="1609344" cy="402336"/>
          </a:xfrm>
          <a:prstGeom prst="roundRect">
            <a:avLst>
              <a:gd name="adj" fmla="val 1363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27" name="Text 25"/>
          <p:cNvSpPr txBox="1"/>
          <p:nvPr/>
        </p:nvSpPr>
        <p:spPr>
          <a:xfrm>
            <a:off x="7955280" y="3200400"/>
            <a:ext cx="1499616" cy="402336"/>
          </a:xfrm>
          <a:prstGeom prst="rect">
            <a:avLst/>
          </a:prstGeom>
          <a:noFill/>
          <a:ln/>
        </p:spPr>
        <p:txBody>
          <a:bodyPr wrap="square" lIns="0" tIns="0" rIns="0" bIns="0" rtlCol="0" anchor="ctr"/>
          <a:lstStyle/>
          <a:p>
            <a:pPr marL="0" indent="0" algn="ctr">
              <a:buNone/>
            </a:pPr>
            <a:r>
              <a:rPr lang="en-US" sz="950" dirty="0">
                <a:solidFill>
                  <a:srgbClr val="F2EDE6"/>
                </a:solidFill>
                <a:latin typeface="Meiryo" pitchFamily="34" charset="0"/>
                <a:ea typeface="Meiryo" pitchFamily="34" charset="-122"/>
                <a:cs typeface="Meiryo" pitchFamily="34" charset="-120"/>
              </a:rPr>
              <a:t>配送</a:t>
            </a:r>
            <a:endParaRPr lang="en-US" sz="950" dirty="0"/>
          </a:p>
        </p:txBody>
      </p:sp>
      <p:sp>
        <p:nvSpPr>
          <p:cNvPr id="28" name="Shape 26"/>
          <p:cNvSpPr/>
          <p:nvPr/>
        </p:nvSpPr>
        <p:spPr>
          <a:xfrm>
            <a:off x="9637776" y="3200400"/>
            <a:ext cx="1609344" cy="402336"/>
          </a:xfrm>
          <a:prstGeom prst="roundRect">
            <a:avLst>
              <a:gd name="adj" fmla="val 1363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29" name="Text 27"/>
          <p:cNvSpPr txBox="1"/>
          <p:nvPr/>
        </p:nvSpPr>
        <p:spPr>
          <a:xfrm>
            <a:off x="9692640" y="3200400"/>
            <a:ext cx="1499616" cy="402336"/>
          </a:xfrm>
          <a:prstGeom prst="rect">
            <a:avLst/>
          </a:prstGeom>
          <a:noFill/>
          <a:ln/>
        </p:spPr>
        <p:txBody>
          <a:bodyPr wrap="square" lIns="0" tIns="0" rIns="0" bIns="0" rtlCol="0" anchor="ctr"/>
          <a:lstStyle/>
          <a:p>
            <a:pPr marL="0" indent="0" algn="ctr">
              <a:buNone/>
            </a:pPr>
            <a:r>
              <a:rPr lang="en-US" sz="950" dirty="0">
                <a:solidFill>
                  <a:srgbClr val="F2EDE6"/>
                </a:solidFill>
                <a:latin typeface="Meiryo" pitchFamily="34" charset="0"/>
                <a:ea typeface="Meiryo" pitchFamily="34" charset="-122"/>
                <a:cs typeface="Meiryo" pitchFamily="34" charset="-120"/>
              </a:rPr>
              <a:t>ワイナート年間購読</a:t>
            </a:r>
            <a:endParaRPr lang="en-US" sz="950" dirty="0"/>
          </a:p>
        </p:txBody>
      </p:sp>
      <p:sp>
        <p:nvSpPr>
          <p:cNvPr id="30" name="Text 28"/>
          <p:cNvSpPr txBox="1"/>
          <p:nvPr/>
        </p:nvSpPr>
        <p:spPr>
          <a:xfrm>
            <a:off x="4425696" y="3803904"/>
            <a:ext cx="6858000" cy="274320"/>
          </a:xfrm>
          <a:prstGeom prst="rect">
            <a:avLst/>
          </a:prstGeom>
          <a:noFill/>
          <a:ln/>
        </p:spPr>
        <p:txBody>
          <a:bodyPr wrap="square" lIns="0" tIns="0" rIns="0" bIns="0" rtlCol="0" anchor="ctr"/>
          <a:lstStyle/>
          <a:p>
            <a:pPr marL="0" indent="0">
              <a:buNone/>
            </a:pPr>
            <a:r>
              <a:rPr lang="en-US" sz="1050" dirty="0">
                <a:solidFill>
                  <a:srgbClr val="A2908C"/>
                </a:solidFill>
                <a:latin typeface="Meiryo" pitchFamily="34" charset="0"/>
                <a:ea typeface="Meiryo" pitchFamily="34" charset="-122"/>
                <a:cs typeface="Meiryo" pitchFamily="34" charset="-120"/>
              </a:rPr>
              <a:t>※今後、WineBankが提供するサービス（ワイナリー・オーベルジュ等）へ順次拡大</a:t>
            </a:r>
            <a:endParaRPr lang="en-US" sz="1050" dirty="0"/>
          </a:p>
        </p:txBody>
      </p:sp>
      <p:sp>
        <p:nvSpPr>
          <p:cNvPr id="31" name="Shape 29"/>
          <p:cNvSpPr/>
          <p:nvPr/>
        </p:nvSpPr>
        <p:spPr>
          <a:xfrm>
            <a:off x="566928" y="4846320"/>
            <a:ext cx="11027664" cy="1188720"/>
          </a:xfrm>
          <a:prstGeom prst="roundRect">
            <a:avLst>
              <a:gd name="adj" fmla="val 4615"/>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32" name="Text 30"/>
          <p:cNvSpPr txBox="1"/>
          <p:nvPr/>
        </p:nvSpPr>
        <p:spPr>
          <a:xfrm>
            <a:off x="978408" y="5047488"/>
            <a:ext cx="10204704" cy="384048"/>
          </a:xfrm>
          <a:prstGeom prst="rect">
            <a:avLst/>
          </a:prstGeom>
          <a:noFill/>
          <a:ln/>
        </p:spPr>
        <p:txBody>
          <a:bodyPr wrap="square" lIns="0" tIns="0" rIns="0" bIns="0" rtlCol="0" anchor="ctr"/>
          <a:lstStyle/>
          <a:p>
            <a:pPr marL="0" indent="0">
              <a:buNone/>
            </a:pPr>
            <a:r>
              <a:rPr lang="en-US" sz="1900" b="1" dirty="0">
                <a:solidFill>
                  <a:srgbClr val="E8CE78"/>
                </a:solidFill>
                <a:latin typeface="Meiryo" pitchFamily="34" charset="0"/>
                <a:ea typeface="Meiryo" pitchFamily="34" charset="-122"/>
                <a:cs typeface="Meiryo" pitchFamily="34" charset="-120"/>
              </a:rPr>
              <a:t>ワインは、一人では飲みません。だからマイルは、必ず誰かと過ごす時間に変わります。</a:t>
            </a:r>
            <a:endParaRPr lang="en-US" sz="1900" dirty="0"/>
          </a:p>
        </p:txBody>
      </p:sp>
      <p:sp>
        <p:nvSpPr>
          <p:cNvPr id="33" name="Text 31"/>
          <p:cNvSpPr txBox="1"/>
          <p:nvPr/>
        </p:nvSpPr>
        <p:spPr>
          <a:xfrm>
            <a:off x="978408" y="5504688"/>
            <a:ext cx="10204704" cy="365760"/>
          </a:xfrm>
          <a:prstGeom prst="rect">
            <a:avLst/>
          </a:prstGeom>
          <a:noFill/>
          <a:ln/>
        </p:spPr>
        <p:txBody>
          <a:bodyPr wrap="square" lIns="0" tIns="0" rIns="0" bIns="0" rtlCol="0" anchor="ctr"/>
          <a:lstStyle/>
          <a:p>
            <a:pPr marL="0" indent="0">
              <a:buNone/>
            </a:pPr>
            <a:r>
              <a:rPr lang="en-US" sz="1250" dirty="0">
                <a:solidFill>
                  <a:srgbClr val="F2EDE6"/>
                </a:solidFill>
                <a:latin typeface="Meiryo" pitchFamily="34" charset="0"/>
                <a:ea typeface="Meiryo" pitchFamily="34" charset="-122"/>
                <a:cs typeface="Meiryo" pitchFamily="34" charset="-120"/>
              </a:rPr>
              <a:t>現金の還元は口座で終わります。マイルの還元は、食卓か、贈り先か、次の一本に必ず着地します。</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WHY IT NEVER ENDS</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「マイルも使い切ったら終わり」——終わるのは残高だけです</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終わらないのは、マイルが貯まる理由のほうです。イベント案内やメルマガのことではありません。</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91640"/>
            <a:ext cx="3529584" cy="2606040"/>
          </a:xfrm>
          <a:prstGeom prst="roundRect">
            <a:avLst>
              <a:gd name="adj" fmla="val 2105"/>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Shape 5"/>
          <p:cNvSpPr/>
          <p:nvPr/>
        </p:nvSpPr>
        <p:spPr>
          <a:xfrm>
            <a:off x="841248" y="1901952"/>
            <a:ext cx="329184" cy="329184"/>
          </a:xfrm>
          <a:prstGeom prst="ellipse">
            <a:avLst/>
          </a:prstGeom>
          <a:solidFill>
            <a:srgbClr val="C9A227"/>
          </a:solidFill>
          <a:ln w="12700">
            <a:solidFill>
              <a:srgbClr val="C9A227"/>
            </a:solidFill>
            <a:prstDash val="solid"/>
          </a:ln>
        </p:spPr>
      </p:sp>
      <p:sp>
        <p:nvSpPr>
          <p:cNvPr id="8" name="Text 6"/>
          <p:cNvSpPr txBox="1"/>
          <p:nvPr/>
        </p:nvSpPr>
        <p:spPr>
          <a:xfrm>
            <a:off x="841248" y="1901952"/>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80160" y="1920240"/>
            <a:ext cx="2578608" cy="310896"/>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行動に対して、毎回貯まる</a:t>
            </a:r>
            <a:endParaRPr lang="en-US" sz="1400" dirty="0"/>
          </a:p>
        </p:txBody>
      </p:sp>
      <p:sp>
        <p:nvSpPr>
          <p:cNvPr id="10" name="Text 8"/>
          <p:cNvSpPr txBox="1"/>
          <p:nvPr/>
        </p:nvSpPr>
        <p:spPr>
          <a:xfrm>
            <a:off x="841248" y="2432304"/>
            <a:ext cx="2999232" cy="1691640"/>
          </a:xfrm>
          <a:prstGeom prst="rect">
            <a:avLst/>
          </a:prstGeom>
          <a:noFill/>
          <a:ln/>
        </p:spPr>
        <p:txBody>
          <a:bodyPr wrap="square" lIns="0" tIns="0" rIns="0" bIns="0" rtlCol="0" anchor="ctr"/>
          <a:lstStyle/>
          <a:p>
            <a:pPr marL="0" indent="0">
              <a:lnSpc>
                <a:spcPts val="1900"/>
              </a:lnSpc>
              <a:buNone/>
            </a:pPr>
            <a:r>
              <a:rPr lang="en-US" sz="1150" dirty="0">
                <a:solidFill>
                  <a:srgbClr val="A2908C"/>
                </a:solidFill>
                <a:latin typeface="Meiryo" pitchFamily="34" charset="0"/>
                <a:ea typeface="Meiryo" pitchFamily="34" charset="-122"/>
                <a:cs typeface="Meiryo" pitchFamily="34" charset="-120"/>
              </a:rPr>
              <a:t>落札した。出品した。会食した。贈った。イベントに出た。そのたびに限定マイルが入ります。残高は減っても、翌週にはまた増えている。保有への年次付与だけなら終わりますが、行動への都度付与は終わりません。</a:t>
            </a:r>
            <a:endParaRPr lang="en-US" sz="1150" dirty="0"/>
          </a:p>
        </p:txBody>
      </p:sp>
      <p:sp>
        <p:nvSpPr>
          <p:cNvPr id="11" name="Shape 9"/>
          <p:cNvSpPr/>
          <p:nvPr/>
        </p:nvSpPr>
        <p:spPr>
          <a:xfrm>
            <a:off x="4352544" y="1691640"/>
            <a:ext cx="3529584" cy="2606040"/>
          </a:xfrm>
          <a:prstGeom prst="roundRect">
            <a:avLst>
              <a:gd name="adj" fmla="val 2105"/>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2" name="Shape 10"/>
          <p:cNvSpPr/>
          <p:nvPr/>
        </p:nvSpPr>
        <p:spPr>
          <a:xfrm>
            <a:off x="4626864" y="1901952"/>
            <a:ext cx="329184" cy="329184"/>
          </a:xfrm>
          <a:prstGeom prst="ellipse">
            <a:avLst/>
          </a:prstGeom>
          <a:solidFill>
            <a:srgbClr val="C9A227"/>
          </a:solidFill>
          <a:ln w="12700">
            <a:solidFill>
              <a:srgbClr val="C9A227"/>
            </a:solidFill>
            <a:prstDash val="solid"/>
          </a:ln>
        </p:spPr>
      </p:sp>
      <p:sp>
        <p:nvSpPr>
          <p:cNvPr id="13" name="Text 11"/>
          <p:cNvSpPr txBox="1"/>
          <p:nvPr/>
        </p:nvSpPr>
        <p:spPr>
          <a:xfrm>
            <a:off x="4626864" y="1901952"/>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5065776" y="1920240"/>
            <a:ext cx="2578608" cy="310896"/>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他の会員の一本が、見える</a:t>
            </a:r>
            <a:endParaRPr lang="en-US" sz="1400" dirty="0"/>
          </a:p>
        </p:txBody>
      </p:sp>
      <p:sp>
        <p:nvSpPr>
          <p:cNvPr id="15" name="Text 13"/>
          <p:cNvSpPr txBox="1"/>
          <p:nvPr/>
        </p:nvSpPr>
        <p:spPr>
          <a:xfrm>
            <a:off x="4626864" y="2432304"/>
            <a:ext cx="2999232" cy="1691640"/>
          </a:xfrm>
          <a:prstGeom prst="rect">
            <a:avLst/>
          </a:prstGeom>
          <a:noFill/>
          <a:ln/>
        </p:spPr>
        <p:txBody>
          <a:bodyPr wrap="square" lIns="0" tIns="0" rIns="0" bIns="0" rtlCol="0" anchor="ctr"/>
          <a:lstStyle/>
          <a:p>
            <a:pPr marL="0" indent="0">
              <a:lnSpc>
                <a:spcPts val="1900"/>
              </a:lnSpc>
              <a:buNone/>
            </a:pPr>
            <a:r>
              <a:rPr lang="en-US" sz="1150" dirty="0">
                <a:solidFill>
                  <a:srgbClr val="A2908C"/>
                </a:solidFill>
                <a:latin typeface="Meiryo" pitchFamily="34" charset="0"/>
                <a:ea typeface="Meiryo" pitchFamily="34" charset="-122"/>
                <a:cs typeface="Meiryo" pitchFamily="34" charset="-120"/>
              </a:rPr>
              <a:t>誰がどのヴィンテージを開けたか。何がいくらで落札されたか。相場がどう動いたか。ニコニコ動画が発明したのは「一人で見ているのに、一人じゃない」体験でした。日本の文化は、共有して初めて完成します。</a:t>
            </a:r>
            <a:endParaRPr lang="en-US" sz="1150" dirty="0"/>
          </a:p>
        </p:txBody>
      </p:sp>
      <p:sp>
        <p:nvSpPr>
          <p:cNvPr id="16" name="Shape 14"/>
          <p:cNvSpPr/>
          <p:nvPr/>
        </p:nvSpPr>
        <p:spPr>
          <a:xfrm>
            <a:off x="8138160" y="1691640"/>
            <a:ext cx="3529584" cy="2606040"/>
          </a:xfrm>
          <a:prstGeom prst="roundRect">
            <a:avLst>
              <a:gd name="adj" fmla="val 2105"/>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7" name="Shape 15"/>
          <p:cNvSpPr/>
          <p:nvPr/>
        </p:nvSpPr>
        <p:spPr>
          <a:xfrm>
            <a:off x="8412480" y="1901952"/>
            <a:ext cx="329184" cy="329184"/>
          </a:xfrm>
          <a:prstGeom prst="ellipse">
            <a:avLst/>
          </a:prstGeom>
          <a:solidFill>
            <a:srgbClr val="C9A227"/>
          </a:solidFill>
          <a:ln w="12700">
            <a:solidFill>
              <a:srgbClr val="C9A227"/>
            </a:solidFill>
            <a:prstDash val="solid"/>
          </a:ln>
        </p:spPr>
      </p:sp>
      <p:sp>
        <p:nvSpPr>
          <p:cNvPr id="18" name="Text 16"/>
          <p:cNvSpPr txBox="1"/>
          <p:nvPr/>
        </p:nvSpPr>
        <p:spPr>
          <a:xfrm>
            <a:off x="8412480" y="1901952"/>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8851392" y="1920240"/>
            <a:ext cx="2578608" cy="310896"/>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自分のセラーが、動いている</a:t>
            </a:r>
            <a:endParaRPr lang="en-US" sz="1400" dirty="0"/>
          </a:p>
        </p:txBody>
      </p:sp>
      <p:sp>
        <p:nvSpPr>
          <p:cNvPr id="20" name="Text 18"/>
          <p:cNvSpPr txBox="1"/>
          <p:nvPr/>
        </p:nvSpPr>
        <p:spPr>
          <a:xfrm>
            <a:off x="8412480" y="2432304"/>
            <a:ext cx="2999232" cy="1691640"/>
          </a:xfrm>
          <a:prstGeom prst="rect">
            <a:avLst/>
          </a:prstGeom>
          <a:noFill/>
          <a:ln/>
        </p:spPr>
        <p:txBody>
          <a:bodyPr wrap="square" lIns="0" tIns="0" rIns="0" bIns="0" rtlCol="0" anchor="ctr"/>
          <a:lstStyle/>
          <a:p>
            <a:pPr marL="0" indent="0">
              <a:lnSpc>
                <a:spcPts val="1900"/>
              </a:lnSpc>
              <a:buNone/>
            </a:pPr>
            <a:r>
              <a:rPr lang="en-US" sz="1150" dirty="0">
                <a:solidFill>
                  <a:srgbClr val="A2908C"/>
                </a:solidFill>
                <a:latin typeface="Meiryo" pitchFamily="34" charset="0"/>
                <a:ea typeface="Meiryo" pitchFamily="34" charset="-122"/>
                <a:cs typeface="Meiryo" pitchFamily="34" charset="-120"/>
              </a:rPr>
              <a:t>時価が動く。マイルが貯まる。飲み頃が近づく。落札通知が来る。毎日ひらく理由があること自体が、他のどんな会員権にもない性質です。</a:t>
            </a:r>
            <a:endParaRPr lang="en-US" sz="1150" dirty="0"/>
          </a:p>
        </p:txBody>
      </p:sp>
      <p:sp>
        <p:nvSpPr>
          <p:cNvPr id="21" name="Shape 19"/>
          <p:cNvSpPr/>
          <p:nvPr/>
        </p:nvSpPr>
        <p:spPr>
          <a:xfrm>
            <a:off x="566928" y="4553712"/>
            <a:ext cx="11027664" cy="1481328"/>
          </a:xfrm>
          <a:prstGeom prst="roundRect">
            <a:avLst>
              <a:gd name="adj" fmla="val 3704"/>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2" name="Text 20"/>
          <p:cNvSpPr txBox="1"/>
          <p:nvPr/>
        </p:nvSpPr>
        <p:spPr>
          <a:xfrm>
            <a:off x="978408" y="4754880"/>
            <a:ext cx="10204704" cy="384048"/>
          </a:xfrm>
          <a:prstGeom prst="rect">
            <a:avLst/>
          </a:prstGeom>
          <a:noFill/>
          <a:ln/>
        </p:spPr>
        <p:txBody>
          <a:bodyPr wrap="square" lIns="0" tIns="0" rIns="0" bIns="0" rtlCol="0" anchor="ctr"/>
          <a:lstStyle/>
          <a:p>
            <a:pPr marL="0" indent="0">
              <a:buNone/>
            </a:pPr>
            <a:r>
              <a:rPr lang="en-US" sz="1900" b="1" dirty="0">
                <a:solidFill>
                  <a:srgbClr val="E8CE78"/>
                </a:solidFill>
                <a:latin typeface="Meiryo" pitchFamily="34" charset="0"/>
                <a:ea typeface="Meiryo" pitchFamily="34" charset="-122"/>
                <a:cs typeface="Meiryo" pitchFamily="34" charset="-120"/>
              </a:rPr>
              <a:t>ロイヤリティの高さは、機能ではなく「つながりの濃さ」で決まります。</a:t>
            </a:r>
            <a:endParaRPr lang="en-US" sz="1900" dirty="0"/>
          </a:p>
        </p:txBody>
      </p:sp>
      <p:sp>
        <p:nvSpPr>
          <p:cNvPr id="23" name="Text 21"/>
          <p:cNvSpPr txBox="1"/>
          <p:nvPr/>
        </p:nvSpPr>
        <p:spPr>
          <a:xfrm>
            <a:off x="978408" y="5230368"/>
            <a:ext cx="10204704" cy="640080"/>
          </a:xfrm>
          <a:prstGeom prst="rect">
            <a:avLst/>
          </a:prstGeom>
          <a:noFill/>
          <a:ln/>
        </p:spPr>
        <p:txBody>
          <a:bodyPr wrap="square" lIns="0" tIns="0" rIns="0" bIns="0" rtlCol="0" anchor="ctr"/>
          <a:lstStyle/>
          <a:p>
            <a:pPr marL="0" indent="0">
              <a:lnSpc>
                <a:spcPts val="1900"/>
              </a:lnSpc>
              <a:buNone/>
            </a:pPr>
            <a:r>
              <a:rPr lang="en-US" sz="1250" dirty="0">
                <a:solidFill>
                  <a:srgbClr val="F2EDE6"/>
                </a:solidFill>
                <a:latin typeface="Meiryo" pitchFamily="34" charset="0"/>
                <a:ea typeface="Meiryo" pitchFamily="34" charset="-122"/>
                <a:cs typeface="Meiryo" pitchFamily="34" charset="-120"/>
              </a:rPr>
              <a:t>ワインは、日本人にとって最もエモい商材のひとつです。誰と、いつ、何を開けたかを人は覚えている。そこにマイルという共通言語を通せば、会員は「取引先」ではなく「同じ村の住人」になります。</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COMMUNITY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コミュニティは、通貨だけでは育たない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8/31 MTGでの決定事項。マイルに「集まる理由」と「貯める楽しさ」を足します。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5394960" cy="1481328"/>
          </a:xfrm>
          <a:prstGeom prst="roundRect">
            <a:avLst>
              <a:gd name="adj" fmla="val 3704"/>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Shape 5"/>
          <p:cNvSpPr/>
          <p:nvPr/>
        </p:nvSpPr>
        <p:spPr>
          <a:xfrm>
            <a:off x="859536" y="188366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8366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01952"/>
            <a:ext cx="4389120" cy="292608"/>
          </a:xfrm>
          <a:prstGeom prst="rect">
            <a:avLst/>
          </a:prstGeom>
          <a:noFill/>
          <a:ln/>
        </p:spPr>
        <p:txBody>
          <a:bodyPr wrap="square" lIns="0" tIns="0" rIns="0" bIns="0" rtlCol="0" anchor="ctr"/>
          <a:lstStyle/>
          <a:p>
            <a:pPr marL="0" indent="0">
              <a:buNone/>
            </a:pPr>
            <a:r>
              <a:rPr lang="en-US" sz="1450" b="1" dirty="0">
                <a:solidFill>
                  <a:srgbClr val="E8CE78"/>
                </a:solidFill>
                <a:latin typeface="Meiryo" pitchFamily="34" charset="0"/>
                <a:ea typeface="Meiryo" pitchFamily="34" charset="-122"/>
                <a:cs typeface="Meiryo" pitchFamily="34" charset="-120"/>
              </a:rPr>
              <a:t>交流イベントを標準装備</a:t>
            </a:r>
            <a:endParaRPr lang="en-US" sz="1450" dirty="0"/>
          </a:p>
        </p:txBody>
      </p:sp>
      <p:sp>
        <p:nvSpPr>
          <p:cNvPr id="10" name="Text 8"/>
          <p:cNvSpPr txBox="1"/>
          <p:nvPr/>
        </p:nvSpPr>
        <p:spPr>
          <a:xfrm>
            <a:off x="859536" y="2322576"/>
            <a:ext cx="4809744" cy="731520"/>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オークション開催に合わせて交流会を開く。クレジットカードの特典と同じ発想です。ワイン関連企業を巻き込めば低コストで回り、会員同士の横のつながりが継続率を押し上げます。</a:t>
            </a:r>
            <a:endParaRPr lang="en-US" sz="1100" dirty="0"/>
          </a:p>
        </p:txBody>
      </p:sp>
      <p:sp>
        <p:nvSpPr>
          <p:cNvPr id="11" name="Shape 9"/>
          <p:cNvSpPr/>
          <p:nvPr/>
        </p:nvSpPr>
        <p:spPr>
          <a:xfrm>
            <a:off x="6199632" y="1664208"/>
            <a:ext cx="5394960" cy="1481328"/>
          </a:xfrm>
          <a:prstGeom prst="roundRect">
            <a:avLst>
              <a:gd name="adj" fmla="val 3704"/>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2" name="Shape 10"/>
          <p:cNvSpPr/>
          <p:nvPr/>
        </p:nvSpPr>
        <p:spPr>
          <a:xfrm>
            <a:off x="6492240" y="1883664"/>
            <a:ext cx="329184" cy="329184"/>
          </a:xfrm>
          <a:prstGeom prst="ellipse">
            <a:avLst/>
          </a:prstGeom>
          <a:solidFill>
            <a:srgbClr val="C9A227"/>
          </a:solidFill>
          <a:ln w="12700">
            <a:solidFill>
              <a:srgbClr val="C9A227"/>
            </a:solidFill>
            <a:prstDash val="solid"/>
          </a:ln>
        </p:spPr>
      </p:sp>
      <p:sp>
        <p:nvSpPr>
          <p:cNvPr id="13" name="Text 11"/>
          <p:cNvSpPr txBox="1"/>
          <p:nvPr/>
        </p:nvSpPr>
        <p:spPr>
          <a:xfrm>
            <a:off x="6492240" y="188366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6931152" y="1901952"/>
            <a:ext cx="4389120" cy="292608"/>
          </a:xfrm>
          <a:prstGeom prst="rect">
            <a:avLst/>
          </a:prstGeom>
          <a:noFill/>
          <a:ln/>
        </p:spPr>
        <p:txBody>
          <a:bodyPr wrap="square" lIns="0" tIns="0" rIns="0" bIns="0" rtlCol="0" anchor="ctr"/>
          <a:lstStyle/>
          <a:p>
            <a:pPr marL="0" indent="0">
              <a:buNone/>
            </a:pPr>
            <a:r>
              <a:rPr lang="en-US" sz="1450" b="1" dirty="0">
                <a:solidFill>
                  <a:srgbClr val="E8CE78"/>
                </a:solidFill>
                <a:latin typeface="Meiryo" pitchFamily="34" charset="0"/>
                <a:ea typeface="Meiryo" pitchFamily="34" charset="-122"/>
                <a:cs typeface="Meiryo" pitchFamily="34" charset="-120"/>
              </a:rPr>
              <a:t>ワインスクールにも使える</a:t>
            </a:r>
            <a:endParaRPr lang="en-US" sz="1450" dirty="0"/>
          </a:p>
        </p:txBody>
      </p:sp>
      <p:sp>
        <p:nvSpPr>
          <p:cNvPr id="15" name="Text 13"/>
          <p:cNvSpPr txBox="1"/>
          <p:nvPr/>
        </p:nvSpPr>
        <p:spPr>
          <a:xfrm>
            <a:off x="6492240" y="2322576"/>
            <a:ext cx="4809744" cy="731520"/>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買う・飲むだけでなく、学ぶにも使える。使い道が増えるほど経済圏に留まる理由が増え、入会のハードルは下がります。</a:t>
            </a:r>
            <a:endParaRPr lang="en-US" sz="1100" dirty="0"/>
          </a:p>
        </p:txBody>
      </p:sp>
      <p:sp>
        <p:nvSpPr>
          <p:cNvPr id="16" name="Shape 14"/>
          <p:cNvSpPr/>
          <p:nvPr/>
        </p:nvSpPr>
        <p:spPr>
          <a:xfrm>
            <a:off x="566928" y="3346704"/>
            <a:ext cx="5394960" cy="1481328"/>
          </a:xfrm>
          <a:prstGeom prst="roundRect">
            <a:avLst>
              <a:gd name="adj" fmla="val 3704"/>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7" name="Shape 15"/>
          <p:cNvSpPr/>
          <p:nvPr/>
        </p:nvSpPr>
        <p:spPr>
          <a:xfrm>
            <a:off x="859536" y="3566160"/>
            <a:ext cx="329184" cy="329184"/>
          </a:xfrm>
          <a:prstGeom prst="ellipse">
            <a:avLst/>
          </a:prstGeom>
          <a:solidFill>
            <a:srgbClr val="C9A227"/>
          </a:solidFill>
          <a:ln w="12700">
            <a:solidFill>
              <a:srgbClr val="C9A227"/>
            </a:solidFill>
            <a:prstDash val="solid"/>
          </a:ln>
        </p:spPr>
      </p:sp>
      <p:sp>
        <p:nvSpPr>
          <p:cNvPr id="18" name="Text 16"/>
          <p:cNvSpPr txBox="1"/>
          <p:nvPr/>
        </p:nvSpPr>
        <p:spPr>
          <a:xfrm>
            <a:off x="859536" y="3566160"/>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298448" y="3584448"/>
            <a:ext cx="4389120" cy="292608"/>
          </a:xfrm>
          <a:prstGeom prst="rect">
            <a:avLst/>
          </a:prstGeom>
          <a:noFill/>
          <a:ln/>
        </p:spPr>
        <p:txBody>
          <a:bodyPr wrap="square" lIns="0" tIns="0" rIns="0" bIns="0" rtlCol="0" anchor="ctr"/>
          <a:lstStyle/>
          <a:p>
            <a:pPr marL="0" indent="0">
              <a:buNone/>
            </a:pPr>
            <a:r>
              <a:rPr lang="en-US" sz="1450" b="1" dirty="0">
                <a:solidFill>
                  <a:srgbClr val="E8CE78"/>
                </a:solidFill>
                <a:latin typeface="Meiryo" pitchFamily="34" charset="0"/>
                <a:ea typeface="Meiryo" pitchFamily="34" charset="-122"/>
                <a:cs typeface="Meiryo" pitchFamily="34" charset="-120"/>
              </a:rPr>
              <a:t>貯めるプロセス自体を楽しませる</a:t>
            </a:r>
            <a:endParaRPr lang="en-US" sz="1450" dirty="0"/>
          </a:p>
        </p:txBody>
      </p:sp>
      <p:sp>
        <p:nvSpPr>
          <p:cNvPr id="20" name="Text 18"/>
          <p:cNvSpPr txBox="1"/>
          <p:nvPr/>
        </p:nvSpPr>
        <p:spPr>
          <a:xfrm>
            <a:off x="859536" y="4005072"/>
            <a:ext cx="4809744" cy="731520"/>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使うたびに貯まり、ランクが上がる。「上位にいることが賢い選択だ」と会員自身が感じる設計にします。修行のように貯める行為そのものが体験になります。</a:t>
            </a:r>
            <a:endParaRPr lang="en-US" sz="1100" dirty="0"/>
          </a:p>
        </p:txBody>
      </p:sp>
      <p:sp>
        <p:nvSpPr>
          <p:cNvPr id="21" name="Shape 19"/>
          <p:cNvSpPr/>
          <p:nvPr/>
        </p:nvSpPr>
        <p:spPr>
          <a:xfrm>
            <a:off x="6199632" y="3346704"/>
            <a:ext cx="5394960" cy="1481328"/>
          </a:xfrm>
          <a:prstGeom prst="roundRect">
            <a:avLst>
              <a:gd name="adj" fmla="val 3704"/>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22" name="Shape 20"/>
          <p:cNvSpPr/>
          <p:nvPr/>
        </p:nvSpPr>
        <p:spPr>
          <a:xfrm>
            <a:off x="6492240" y="3566160"/>
            <a:ext cx="329184" cy="329184"/>
          </a:xfrm>
          <a:prstGeom prst="ellipse">
            <a:avLst/>
          </a:prstGeom>
          <a:solidFill>
            <a:srgbClr val="C9A227"/>
          </a:solidFill>
          <a:ln w="12700">
            <a:solidFill>
              <a:srgbClr val="C9A227"/>
            </a:solidFill>
            <a:prstDash val="solid"/>
          </a:ln>
        </p:spPr>
      </p:sp>
      <p:sp>
        <p:nvSpPr>
          <p:cNvPr id="23" name="Text 21"/>
          <p:cNvSpPr txBox="1"/>
          <p:nvPr/>
        </p:nvSpPr>
        <p:spPr>
          <a:xfrm>
            <a:off x="6492240" y="3566160"/>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6931152" y="3584448"/>
            <a:ext cx="4389120" cy="292608"/>
          </a:xfrm>
          <a:prstGeom prst="rect">
            <a:avLst/>
          </a:prstGeom>
          <a:noFill/>
          <a:ln/>
        </p:spPr>
        <p:txBody>
          <a:bodyPr wrap="square" lIns="0" tIns="0" rIns="0" bIns="0" rtlCol="0" anchor="ctr"/>
          <a:lstStyle/>
          <a:p>
            <a:pPr marL="0" indent="0">
              <a:buNone/>
            </a:pPr>
            <a:r>
              <a:rPr lang="en-US" sz="1450" b="1" dirty="0">
                <a:solidFill>
                  <a:srgbClr val="E8CE78"/>
                </a:solidFill>
                <a:latin typeface="Meiryo" pitchFamily="34" charset="0"/>
                <a:ea typeface="Meiryo" pitchFamily="34" charset="-122"/>
                <a:cs typeface="Meiryo" pitchFamily="34" charset="-120"/>
              </a:rPr>
              <a:t>期限が、次の行動を呼ぶ</a:t>
            </a:r>
            <a:endParaRPr lang="en-US" sz="1450" dirty="0"/>
          </a:p>
        </p:txBody>
      </p:sp>
      <p:sp>
        <p:nvSpPr>
          <p:cNvPr id="25" name="Text 23"/>
          <p:cNvSpPr txBox="1"/>
          <p:nvPr/>
        </p:nvSpPr>
        <p:spPr>
          <a:xfrm>
            <a:off x="6492240" y="4005072"/>
            <a:ext cx="4809744" cy="731520"/>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限定マイルは3〜6ヶ月。消費とオークション参加を継続的に促します。残高が減っても、行動すればまた増える。</a:t>
            </a:r>
            <a:endParaRPr lang="en-US" sz="1100" dirty="0"/>
          </a:p>
        </p:txBody>
      </p:sp>
      <p:sp>
        <p:nvSpPr>
          <p:cNvPr id="26" name="Shape 24"/>
          <p:cNvSpPr/>
          <p:nvPr/>
        </p:nvSpPr>
        <p:spPr>
          <a:xfrm>
            <a:off x="566928" y="5084064"/>
            <a:ext cx="11027664" cy="969264"/>
          </a:xfrm>
          <a:prstGeom prst="roundRect">
            <a:avLst>
              <a:gd name="adj" fmla="val 5660"/>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7" name="Text 25"/>
          <p:cNvSpPr txBox="1"/>
          <p:nvPr/>
        </p:nvSpPr>
        <p:spPr>
          <a:xfrm>
            <a:off x="978408" y="5266944"/>
            <a:ext cx="10204704" cy="365760"/>
          </a:xfrm>
          <a:prstGeom prst="rect">
            <a:avLst/>
          </a:prstGeom>
          <a:noFill/>
          <a:ln/>
        </p:spPr>
        <p:txBody>
          <a:bodyPr wrap="square" lIns="0" tIns="0" rIns="0" bIns="0" rtlCol="0" anchor="ctr"/>
          <a:lstStyle/>
          <a:p>
            <a:pPr marL="0" indent="0">
              <a:buNone/>
            </a:pPr>
            <a:r>
              <a:rPr lang="en-US" sz="1900" b="1" dirty="0">
                <a:solidFill>
                  <a:srgbClr val="E8CE78"/>
                </a:solidFill>
                <a:latin typeface="Meiryo" pitchFamily="34" charset="0"/>
                <a:ea typeface="Meiryo" pitchFamily="34" charset="-122"/>
                <a:cs typeface="Meiryo" pitchFamily="34" charset="-120"/>
              </a:rPr>
              <a:t>投資の話をやめて、ワインのある暮らしの話をする。</a:t>
            </a:r>
            <a:endParaRPr lang="en-US" sz="1900" dirty="0"/>
          </a:p>
        </p:txBody>
      </p:sp>
      <p:sp>
        <p:nvSpPr>
          <p:cNvPr id="28" name="Text 26"/>
          <p:cNvSpPr txBox="1"/>
          <p:nvPr/>
        </p:nvSpPr>
        <p:spPr>
          <a:xfrm>
            <a:off x="978408" y="5669280"/>
            <a:ext cx="10204704" cy="310896"/>
          </a:xfrm>
          <a:prstGeom prst="rect">
            <a:avLst/>
          </a:prstGeom>
          <a:noFill/>
          <a:ln/>
        </p:spPr>
        <p:txBody>
          <a:bodyPr wrap="square" lIns="0" tIns="0" rIns="0" bIns="0" rtlCol="0" anchor="ctr"/>
          <a:lstStyle/>
          <a:p>
            <a:pPr marL="0" indent="0">
              <a:buNone/>
            </a:pPr>
            <a:r>
              <a:rPr lang="en-US" sz="1250" dirty="0">
                <a:solidFill>
                  <a:srgbClr val="F2EDE6"/>
                </a:solidFill>
                <a:latin typeface="Meiryo" pitchFamily="34" charset="0"/>
                <a:ea typeface="Meiryo" pitchFamily="34" charset="-122"/>
                <a:cs typeface="Meiryo" pitchFamily="34" charset="-120"/>
              </a:rPr>
              <a:t>「夢のある見せ方」が、入会のハードルを下げ、長期の関係をつくります。マイルはその共通言語にすぎません。</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STRUCTURE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契約は2本立て：売買・管理 ＋ 成功報酬</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賃貸借は使いません。所有権は会員のまま、当社は管理を担い、値上がりの一部を成功報酬で受け取ります。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5394960" cy="2487168"/>
          </a:xfrm>
          <a:prstGeom prst="roundRect">
            <a:avLst>
              <a:gd name="adj" fmla="val 2206"/>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Text 5"/>
          <p:cNvSpPr txBox="1"/>
          <p:nvPr/>
        </p:nvSpPr>
        <p:spPr>
          <a:xfrm>
            <a:off x="932688" y="1810512"/>
            <a:ext cx="4663440" cy="310896"/>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① 売買 ＋ 管理（利用規約）</a:t>
            </a:r>
            <a:endParaRPr lang="en-US" sz="1500" dirty="0"/>
          </a:p>
        </p:txBody>
      </p:sp>
      <p:sp>
        <p:nvSpPr>
          <p:cNvPr id="8" name="Text 6"/>
          <p:cNvSpPr txBox="1"/>
          <p:nvPr/>
        </p:nvSpPr>
        <p:spPr>
          <a:xfrm>
            <a:off x="932688" y="2194560"/>
            <a:ext cx="4663440" cy="365760"/>
          </a:xfrm>
          <a:prstGeom prst="rect">
            <a:avLst/>
          </a:prstGeom>
          <a:noFill/>
          <a:ln/>
        </p:spPr>
        <p:txBody>
          <a:bodyPr wrap="square" lIns="0" tIns="0" rIns="0" bIns="0" rtlCol="0" anchor="ctr"/>
          <a:lstStyle/>
          <a:p>
            <a:pPr marL="0" indent="0">
              <a:buNone/>
            </a:pPr>
            <a:r>
              <a:rPr lang="en-US" sz="2000" b="1" dirty="0">
                <a:solidFill>
                  <a:srgbClr val="F2EDE6"/>
                </a:solidFill>
                <a:latin typeface="Meiryo" pitchFamily="34" charset="0"/>
                <a:ea typeface="Meiryo" pitchFamily="34" charset="-122"/>
                <a:cs typeface="Meiryo" pitchFamily="34" charset="-120"/>
              </a:rPr>
              <a:t>管理手数料：2.75%（全ランク）</a:t>
            </a:r>
            <a:endParaRPr lang="en-US" sz="2000" dirty="0"/>
          </a:p>
        </p:txBody>
      </p:sp>
      <p:sp>
        <p:nvSpPr>
          <p:cNvPr id="9" name="Text 7"/>
          <p:cNvSpPr txBox="1"/>
          <p:nvPr/>
        </p:nvSpPr>
        <p:spPr>
          <a:xfrm>
            <a:off x="932688" y="2688336"/>
            <a:ext cx="4663440" cy="1280160"/>
          </a:xfrm>
          <a:prstGeom prst="rect">
            <a:avLst/>
          </a:prstGeom>
          <a:noFill/>
          <a:ln/>
        </p:spPr>
        <p:txBody>
          <a:bodyPr wrap="square" lIns="0" tIns="0" rIns="0" bIns="0" rtlCol="0" anchor="t"/>
          <a:lstStyle/>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利用規約への同意で売買契約が成立する</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デジタルでの資産価値提供・倉庫アレンジ・保険付保の対価</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マイルはこの管理料に対するおまけ（無償）</a:t>
            </a:r>
            <a:endParaRPr lang="en-US" sz="1150" dirty="0"/>
          </a:p>
        </p:txBody>
      </p:sp>
      <p:sp>
        <p:nvSpPr>
          <p:cNvPr id="10" name="Shape 8"/>
          <p:cNvSpPr/>
          <p:nvPr/>
        </p:nvSpPr>
        <p:spPr>
          <a:xfrm>
            <a:off x="6199632" y="1627632"/>
            <a:ext cx="5394960" cy="2487168"/>
          </a:xfrm>
          <a:prstGeom prst="roundRect">
            <a:avLst>
              <a:gd name="adj" fmla="val 220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1" name="Text 9"/>
          <p:cNvSpPr txBox="1"/>
          <p:nvPr/>
        </p:nvSpPr>
        <p:spPr>
          <a:xfrm>
            <a:off x="6565392" y="1810512"/>
            <a:ext cx="4663440" cy="310896"/>
          </a:xfrm>
          <a:prstGeom prst="rect">
            <a:avLst/>
          </a:prstGeom>
          <a:noFill/>
          <a:ln/>
        </p:spPr>
        <p:txBody>
          <a:bodyPr wrap="square" lIns="0" tIns="0" rIns="0" bIns="0" rtlCol="0" anchor="ctr"/>
          <a:lstStyle/>
          <a:p>
            <a:pPr marL="0" indent="0">
              <a:buNone/>
            </a:pPr>
            <a:r>
              <a:rPr lang="en-US" sz="1500" b="1" dirty="0">
                <a:solidFill>
                  <a:srgbClr val="C9A227"/>
                </a:solidFill>
                <a:latin typeface="Meiryo" pitchFamily="34" charset="0"/>
                <a:ea typeface="Meiryo" pitchFamily="34" charset="-122"/>
                <a:cs typeface="Meiryo" pitchFamily="34" charset="-120"/>
              </a:rPr>
              <a:t>② アセットマネジメント（役務提供）</a:t>
            </a:r>
            <a:endParaRPr lang="en-US" sz="1500" dirty="0"/>
          </a:p>
        </p:txBody>
      </p:sp>
      <p:sp>
        <p:nvSpPr>
          <p:cNvPr id="12" name="Text 10"/>
          <p:cNvSpPr txBox="1"/>
          <p:nvPr/>
        </p:nvSpPr>
        <p:spPr>
          <a:xfrm>
            <a:off x="6565392" y="2194560"/>
            <a:ext cx="4663440" cy="365760"/>
          </a:xfrm>
          <a:prstGeom prst="rect">
            <a:avLst/>
          </a:prstGeom>
          <a:noFill/>
          <a:ln/>
        </p:spPr>
        <p:txBody>
          <a:bodyPr wrap="square" lIns="0" tIns="0" rIns="0" bIns="0" rtlCol="0" anchor="ctr"/>
          <a:lstStyle/>
          <a:p>
            <a:pPr marL="0" indent="0">
              <a:buNone/>
            </a:pPr>
            <a:r>
              <a:rPr lang="en-US" sz="2000" b="1" dirty="0">
                <a:solidFill>
                  <a:srgbClr val="F2EDE6"/>
                </a:solidFill>
                <a:latin typeface="Meiryo" pitchFamily="34" charset="0"/>
                <a:ea typeface="Meiryo" pitchFamily="34" charset="-122"/>
                <a:cs typeface="Meiryo" pitchFamily="34" charset="-120"/>
              </a:rPr>
              <a:t>成功報酬：値上がり分の30%</a:t>
            </a:r>
            <a:endParaRPr lang="en-US" sz="2000" dirty="0"/>
          </a:p>
        </p:txBody>
      </p:sp>
      <p:sp>
        <p:nvSpPr>
          <p:cNvPr id="13" name="Text 11"/>
          <p:cNvSpPr txBox="1"/>
          <p:nvPr/>
        </p:nvSpPr>
        <p:spPr>
          <a:xfrm>
            <a:off x="6565392" y="2688336"/>
            <a:ext cx="4663440" cy="1280160"/>
          </a:xfrm>
          <a:prstGeom prst="rect">
            <a:avLst/>
          </a:prstGeom>
          <a:noFill/>
          <a:ln/>
        </p:spPr>
        <p:txBody>
          <a:bodyPr wrap="square" lIns="0" tIns="0" rIns="0" bIns="0" rtlCol="0" anchor="t"/>
          <a:lstStyle/>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保管・真正性管理・市場形成の対価</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契約終了時に評価額の差分で精算</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仲介手数料はWineBank経由で売れた場合のみ</a:t>
            </a:r>
            <a:endParaRPr lang="en-US" sz="1150" dirty="0"/>
          </a:p>
        </p:txBody>
      </p:sp>
      <p:sp>
        <p:nvSpPr>
          <p:cNvPr id="14" name="Shape 12"/>
          <p:cNvSpPr/>
          <p:nvPr/>
        </p:nvSpPr>
        <p:spPr>
          <a:xfrm>
            <a:off x="566928" y="4261104"/>
            <a:ext cx="11027664" cy="896112"/>
          </a:xfrm>
          <a:prstGeom prst="roundRect">
            <a:avLst>
              <a:gd name="adj" fmla="val 6122"/>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5" name="Text 13"/>
          <p:cNvSpPr txBox="1"/>
          <p:nvPr/>
        </p:nvSpPr>
        <p:spPr>
          <a:xfrm>
            <a:off x="978408" y="4443984"/>
            <a:ext cx="10204704" cy="329184"/>
          </a:xfrm>
          <a:prstGeom prst="rect">
            <a:avLst/>
          </a:prstGeom>
          <a:noFill/>
          <a:ln/>
        </p:spPr>
        <p:txBody>
          <a:bodyPr wrap="square" lIns="0" tIns="0" rIns="0" bIns="0" rtlCol="0" anchor="ctr"/>
          <a:lstStyle/>
          <a:p>
            <a:pPr marL="0" indent="0">
              <a:buNone/>
            </a:pPr>
            <a:r>
              <a:rPr lang="en-US" sz="1350" b="1" dirty="0">
                <a:solidFill>
                  <a:srgbClr val="F2EDE6"/>
                </a:solidFill>
                <a:latin typeface="Meiryo" pitchFamily="34" charset="0"/>
                <a:ea typeface="Meiryo" pitchFamily="34" charset="-122"/>
                <a:cs typeface="Meiryo" pitchFamily="34" charset="-120"/>
              </a:rPr>
              <a:t>賃貸借契約は締結しません。所有権は会員のまま、当社は保管・保険・真正性管理と、売却時の成功報酬を担います。</a:t>
            </a:r>
            <a:endParaRPr lang="en-US" sz="1350" dirty="0"/>
          </a:p>
        </p:txBody>
      </p:sp>
      <p:sp>
        <p:nvSpPr>
          <p:cNvPr id="16" name="Text 14"/>
          <p:cNvSpPr txBox="1"/>
          <p:nvPr/>
        </p:nvSpPr>
        <p:spPr>
          <a:xfrm>
            <a:off x="978408" y="4791456"/>
            <a:ext cx="10204704" cy="292608"/>
          </a:xfrm>
          <a:prstGeom prst="rect">
            <a:avLst/>
          </a:prstGeom>
          <a:noFill/>
          <a:ln/>
        </p:spPr>
        <p:txBody>
          <a:bodyPr wrap="square" lIns="0" tIns="0" rIns="0" bIns="0" rtlCol="0" anchor="ctr"/>
          <a:lstStyle/>
          <a:p>
            <a:pPr marL="0" indent="0">
              <a:buNone/>
            </a:pPr>
            <a:r>
              <a:rPr lang="en-US" sz="1150" dirty="0">
                <a:solidFill>
                  <a:srgbClr val="A2908C"/>
                </a:solidFill>
                <a:latin typeface="Meiryo" pitchFamily="34" charset="0"/>
                <a:ea typeface="Meiryo" pitchFamily="34" charset="-122"/>
                <a:cs typeface="Meiryo" pitchFamily="34" charset="-120"/>
              </a:rPr>
              <a:t>買戻し保証を付けると経済価値が移転せず、100万円を売上計上できません。成功報酬型ならこの論点は生じません。</a:t>
            </a:r>
            <a:endParaRPr lang="en-US" sz="1150" dirty="0"/>
          </a:p>
        </p:txBody>
      </p:sp>
      <p:sp>
        <p:nvSpPr>
          <p:cNvPr id="17" name="Shape 15"/>
          <p:cNvSpPr/>
          <p:nvPr/>
        </p:nvSpPr>
        <p:spPr>
          <a:xfrm>
            <a:off x="566928" y="5285232"/>
            <a:ext cx="11027664" cy="768096"/>
          </a:xfrm>
          <a:prstGeom prst="roundRect">
            <a:avLst>
              <a:gd name="adj" fmla="val 7143"/>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18" name="Text 16"/>
          <p:cNvSpPr txBox="1"/>
          <p:nvPr/>
        </p:nvSpPr>
        <p:spPr>
          <a:xfrm>
            <a:off x="978408" y="5468112"/>
            <a:ext cx="10204704" cy="384048"/>
          </a:xfrm>
          <a:prstGeom prst="rect">
            <a:avLst/>
          </a:prstGeom>
          <a:noFill/>
          <a:ln/>
        </p:spPr>
        <p:txBody>
          <a:bodyPr wrap="square" lIns="0" tIns="0" rIns="0" bIns="0" rtlCol="0" anchor="ctr"/>
          <a:lstStyle/>
          <a:p>
            <a:pPr marL="0" indent="0">
              <a:buNone/>
            </a:pPr>
            <a:r>
              <a:rPr lang="en-US" sz="1700" b="1" dirty="0">
                <a:solidFill>
                  <a:srgbClr val="E8CE78"/>
                </a:solidFill>
                <a:latin typeface="Meiryo" pitchFamily="34" charset="0"/>
                <a:ea typeface="Meiryo" pitchFamily="34" charset="-122"/>
                <a:cs typeface="Meiryo" pitchFamily="34" charset="-120"/>
              </a:rPr>
              <a:t>マイルは管理料に対するおまけです。値上がりの70%は会員のもの。</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SOLUTION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設計：ワイン貯金の3ステップ</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所有権は会員に。管理手数料を払う代わりに、その倍のマイルを受け取る。</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737360"/>
            <a:ext cx="3566160" cy="2194560"/>
          </a:xfrm>
          <a:prstGeom prst="roundRect">
            <a:avLst>
              <a:gd name="adj" fmla="val 250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Shape 5"/>
          <p:cNvSpPr/>
          <p:nvPr/>
        </p:nvSpPr>
        <p:spPr>
          <a:xfrm>
            <a:off x="859536" y="197510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97510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93392"/>
            <a:ext cx="2578608" cy="292608"/>
          </a:xfrm>
          <a:prstGeom prst="rect">
            <a:avLst/>
          </a:prstGeom>
          <a:noFill/>
          <a:ln/>
        </p:spPr>
        <p:txBody>
          <a:bodyPr wrap="square" lIns="0" tIns="0" rIns="0" bIns="0" rtlCol="0" anchor="ctr"/>
          <a:lstStyle/>
          <a:p>
            <a:pPr marL="0" indent="0">
              <a:buNone/>
            </a:pPr>
            <a:r>
              <a:rPr lang="en-US" sz="1350" b="1" dirty="0">
                <a:solidFill>
                  <a:srgbClr val="F2EDE6"/>
                </a:solidFill>
                <a:latin typeface="Meiryo" pitchFamily="34" charset="0"/>
                <a:ea typeface="Meiryo" pitchFamily="34" charset="-122"/>
                <a:cs typeface="Meiryo" pitchFamily="34" charset="-120"/>
              </a:rPr>
              <a:t>ワインを購入し、預ける</a:t>
            </a:r>
            <a:endParaRPr lang="en-US" sz="1350" dirty="0"/>
          </a:p>
        </p:txBody>
      </p:sp>
      <p:sp>
        <p:nvSpPr>
          <p:cNvPr id="10" name="Text 8"/>
          <p:cNvSpPr txBox="1"/>
          <p:nvPr/>
        </p:nvSpPr>
        <p:spPr>
          <a:xfrm>
            <a:off x="859536" y="2487168"/>
            <a:ext cx="2980944" cy="530352"/>
          </a:xfrm>
          <a:prstGeom prst="rect">
            <a:avLst/>
          </a:prstGeom>
          <a:noFill/>
          <a:ln/>
        </p:spPr>
        <p:txBody>
          <a:bodyPr wrap="square" lIns="0" tIns="0" rIns="0" bIns="0" rtlCol="0" anchor="ctr"/>
          <a:lstStyle/>
          <a:p>
            <a:pPr marL="0" indent="0">
              <a:buNone/>
            </a:pPr>
            <a:r>
              <a:rPr lang="en-US" sz="2800" b="1" dirty="0">
                <a:solidFill>
                  <a:srgbClr val="C9A227"/>
                </a:solidFill>
                <a:latin typeface="Meiryo" pitchFamily="34" charset="0"/>
                <a:ea typeface="Meiryo" pitchFamily="34" charset="-122"/>
                <a:cs typeface="Meiryo" pitchFamily="34" charset="-120"/>
              </a:rPr>
              <a:t>100万円</a:t>
            </a:r>
            <a:endParaRPr lang="en-US" sz="2800" dirty="0"/>
          </a:p>
        </p:txBody>
      </p:sp>
      <p:sp>
        <p:nvSpPr>
          <p:cNvPr id="11" name="Text 9"/>
          <p:cNvSpPr txBox="1"/>
          <p:nvPr/>
        </p:nvSpPr>
        <p:spPr>
          <a:xfrm>
            <a:off x="859536" y="3108960"/>
            <a:ext cx="2980944" cy="731520"/>
          </a:xfrm>
          <a:prstGeom prst="rect">
            <a:avLst/>
          </a:prstGeom>
          <a:noFill/>
          <a:ln/>
        </p:spPr>
        <p:txBody>
          <a:bodyPr wrap="square" lIns="0" tIns="0" rIns="0" bIns="0" rtlCol="0" anchor="ctr"/>
          <a:lstStyle/>
          <a:p>
            <a:pPr marL="0" indent="0">
              <a:lnSpc>
                <a:spcPts val="1700"/>
              </a:lnSpc>
              <a:buNone/>
            </a:pPr>
            <a:r>
              <a:rPr lang="en-US" sz="1100" dirty="0">
                <a:solidFill>
                  <a:srgbClr val="A2908C"/>
                </a:solidFill>
                <a:latin typeface="Meiryo" pitchFamily="34" charset="0"/>
                <a:ea typeface="Meiryo" pitchFamily="34" charset="-122"/>
                <a:cs typeface="Meiryo" pitchFamily="34" charset="-120"/>
              </a:rPr>
              <a:t>所有権は会員。定温セラーで保管・動産保険付帯。WineBankに賃貸する</a:t>
            </a:r>
            <a:endParaRPr lang="en-US" sz="1100" dirty="0"/>
          </a:p>
        </p:txBody>
      </p:sp>
      <p:sp>
        <p:nvSpPr>
          <p:cNvPr id="12" name="Text 10"/>
          <p:cNvSpPr txBox="1"/>
          <p:nvPr/>
        </p:nvSpPr>
        <p:spPr>
          <a:xfrm>
            <a:off x="4169664" y="2633472"/>
            <a:ext cx="329184" cy="365760"/>
          </a:xfrm>
          <a:prstGeom prst="rect">
            <a:avLst/>
          </a:prstGeom>
          <a:noFill/>
          <a:ln/>
        </p:spPr>
        <p:txBody>
          <a:bodyPr wrap="square" lIns="0" tIns="0" rIns="0" bIns="0" rtlCol="0" anchor="ctr"/>
          <a:lstStyle/>
          <a:p>
            <a:pPr marL="0" indent="0" algn="ctr">
              <a:buNone/>
            </a:pPr>
            <a:r>
              <a:rPr lang="en-US" sz="1700" dirty="0">
                <a:solidFill>
                  <a:srgbClr val="C9A227"/>
                </a:solidFill>
                <a:latin typeface="Meiryo" pitchFamily="34" charset="0"/>
                <a:ea typeface="Meiryo" pitchFamily="34" charset="-122"/>
                <a:cs typeface="Meiryo" pitchFamily="34" charset="-120"/>
              </a:rPr>
              <a:t>▶</a:t>
            </a:r>
            <a:endParaRPr lang="en-US" sz="1700" dirty="0"/>
          </a:p>
        </p:txBody>
      </p:sp>
      <p:sp>
        <p:nvSpPr>
          <p:cNvPr id="13" name="Shape 11"/>
          <p:cNvSpPr/>
          <p:nvPr/>
        </p:nvSpPr>
        <p:spPr>
          <a:xfrm>
            <a:off x="4517136" y="1737360"/>
            <a:ext cx="3566160" cy="2194560"/>
          </a:xfrm>
          <a:prstGeom prst="roundRect">
            <a:avLst>
              <a:gd name="adj" fmla="val 250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4" name="Shape 12"/>
          <p:cNvSpPr/>
          <p:nvPr/>
        </p:nvSpPr>
        <p:spPr>
          <a:xfrm>
            <a:off x="4809744" y="1975104"/>
            <a:ext cx="329184" cy="329184"/>
          </a:xfrm>
          <a:prstGeom prst="ellipse">
            <a:avLst/>
          </a:prstGeom>
          <a:solidFill>
            <a:srgbClr val="C9A227"/>
          </a:solidFill>
          <a:ln w="12700">
            <a:solidFill>
              <a:srgbClr val="C9A227"/>
            </a:solidFill>
            <a:prstDash val="solid"/>
          </a:ln>
        </p:spPr>
      </p:sp>
      <p:sp>
        <p:nvSpPr>
          <p:cNvPr id="15" name="Text 13"/>
          <p:cNvSpPr txBox="1"/>
          <p:nvPr/>
        </p:nvSpPr>
        <p:spPr>
          <a:xfrm>
            <a:off x="4809744" y="197510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6" name="Text 14"/>
          <p:cNvSpPr txBox="1"/>
          <p:nvPr/>
        </p:nvSpPr>
        <p:spPr>
          <a:xfrm>
            <a:off x="5248656" y="1993392"/>
            <a:ext cx="2578608" cy="292608"/>
          </a:xfrm>
          <a:prstGeom prst="rect">
            <a:avLst/>
          </a:prstGeom>
          <a:noFill/>
          <a:ln/>
        </p:spPr>
        <p:txBody>
          <a:bodyPr wrap="square" lIns="0" tIns="0" rIns="0" bIns="0" rtlCol="0" anchor="ctr"/>
          <a:lstStyle/>
          <a:p>
            <a:pPr marL="0" indent="0">
              <a:buNone/>
            </a:pPr>
            <a:r>
              <a:rPr lang="en-US" sz="1350" b="1" dirty="0">
                <a:solidFill>
                  <a:srgbClr val="F2EDE6"/>
                </a:solidFill>
                <a:latin typeface="Meiryo" pitchFamily="34" charset="0"/>
                <a:ea typeface="Meiryo" pitchFamily="34" charset="-122"/>
                <a:cs typeface="Meiryo" pitchFamily="34" charset="-120"/>
              </a:rPr>
              <a:t>管理手数料を払う</a:t>
            </a:r>
            <a:endParaRPr lang="en-US" sz="1350" dirty="0"/>
          </a:p>
        </p:txBody>
      </p:sp>
      <p:sp>
        <p:nvSpPr>
          <p:cNvPr id="17" name="Text 15"/>
          <p:cNvSpPr txBox="1"/>
          <p:nvPr/>
        </p:nvSpPr>
        <p:spPr>
          <a:xfrm>
            <a:off x="4809744" y="2487168"/>
            <a:ext cx="2980944" cy="530352"/>
          </a:xfrm>
          <a:prstGeom prst="rect">
            <a:avLst/>
          </a:prstGeom>
          <a:noFill/>
          <a:ln/>
        </p:spPr>
        <p:txBody>
          <a:bodyPr wrap="square" lIns="0" tIns="0" rIns="0" bIns="0" rtlCol="0" anchor="ctr"/>
          <a:lstStyle/>
          <a:p>
            <a:pPr marL="0" indent="0">
              <a:buNone/>
            </a:pPr>
            <a:r>
              <a:rPr lang="en-US" sz="2800" b="1" dirty="0">
                <a:solidFill>
                  <a:srgbClr val="E0A458"/>
                </a:solidFill>
                <a:latin typeface="Meiryo" pitchFamily="34" charset="0"/>
                <a:ea typeface="Meiryo" pitchFamily="34" charset="-122"/>
                <a:cs typeface="Meiryo" pitchFamily="34" charset="-120"/>
              </a:rPr>
              <a:t>▲27,500円</a:t>
            </a:r>
            <a:endParaRPr lang="en-US" sz="2800" dirty="0"/>
          </a:p>
        </p:txBody>
      </p:sp>
      <p:sp>
        <p:nvSpPr>
          <p:cNvPr id="18" name="Text 16"/>
          <p:cNvSpPr txBox="1"/>
          <p:nvPr/>
        </p:nvSpPr>
        <p:spPr>
          <a:xfrm>
            <a:off x="4809744" y="3108960"/>
            <a:ext cx="2980944" cy="731520"/>
          </a:xfrm>
          <a:prstGeom prst="rect">
            <a:avLst/>
          </a:prstGeom>
          <a:noFill/>
          <a:ln/>
        </p:spPr>
        <p:txBody>
          <a:bodyPr wrap="square" lIns="0" tIns="0" rIns="0" bIns="0" rtlCol="0" anchor="ctr"/>
          <a:lstStyle/>
          <a:p>
            <a:pPr marL="0" indent="0">
              <a:lnSpc>
                <a:spcPts val="1700"/>
              </a:lnSpc>
              <a:buNone/>
            </a:pPr>
            <a:r>
              <a:rPr lang="en-US" sz="1100" dirty="0">
                <a:solidFill>
                  <a:srgbClr val="A2908C"/>
                </a:solidFill>
                <a:latin typeface="Meiryo" pitchFamily="34" charset="0"/>
                <a:ea typeface="Meiryo" pitchFamily="34" charset="-122"/>
                <a:cs typeface="Meiryo" pitchFamily="34" charset="-120"/>
              </a:rPr>
              <a:t>年率2.75%。保管料・保険料を含む</a:t>
            </a:r>
            <a:endParaRPr lang="en-US" sz="1100" dirty="0"/>
          </a:p>
        </p:txBody>
      </p:sp>
      <p:sp>
        <p:nvSpPr>
          <p:cNvPr id="19" name="Text 17"/>
          <p:cNvSpPr txBox="1"/>
          <p:nvPr/>
        </p:nvSpPr>
        <p:spPr>
          <a:xfrm>
            <a:off x="8119872" y="2633472"/>
            <a:ext cx="329184" cy="365760"/>
          </a:xfrm>
          <a:prstGeom prst="rect">
            <a:avLst/>
          </a:prstGeom>
          <a:noFill/>
          <a:ln/>
        </p:spPr>
        <p:txBody>
          <a:bodyPr wrap="square" lIns="0" tIns="0" rIns="0" bIns="0" rtlCol="0" anchor="ctr"/>
          <a:lstStyle/>
          <a:p>
            <a:pPr marL="0" indent="0" algn="ctr">
              <a:buNone/>
            </a:pPr>
            <a:r>
              <a:rPr lang="en-US" sz="1700" dirty="0">
                <a:solidFill>
                  <a:srgbClr val="C9A227"/>
                </a:solidFill>
                <a:latin typeface="Meiryo" pitchFamily="34" charset="0"/>
                <a:ea typeface="Meiryo" pitchFamily="34" charset="-122"/>
                <a:cs typeface="Meiryo" pitchFamily="34" charset="-120"/>
              </a:rPr>
              <a:t>▶</a:t>
            </a:r>
            <a:endParaRPr lang="en-US" sz="1700" dirty="0"/>
          </a:p>
        </p:txBody>
      </p:sp>
      <p:sp>
        <p:nvSpPr>
          <p:cNvPr id="20" name="Shape 18"/>
          <p:cNvSpPr/>
          <p:nvPr/>
        </p:nvSpPr>
        <p:spPr>
          <a:xfrm>
            <a:off x="8467344" y="1737360"/>
            <a:ext cx="3566160" cy="2194560"/>
          </a:xfrm>
          <a:prstGeom prst="roundRect">
            <a:avLst>
              <a:gd name="adj" fmla="val 250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21" name="Shape 19"/>
          <p:cNvSpPr/>
          <p:nvPr/>
        </p:nvSpPr>
        <p:spPr>
          <a:xfrm>
            <a:off x="8759952" y="1975104"/>
            <a:ext cx="329184" cy="329184"/>
          </a:xfrm>
          <a:prstGeom prst="ellipse">
            <a:avLst/>
          </a:prstGeom>
          <a:solidFill>
            <a:srgbClr val="C9A227"/>
          </a:solidFill>
          <a:ln w="12700">
            <a:solidFill>
              <a:srgbClr val="C9A227"/>
            </a:solidFill>
            <a:prstDash val="solid"/>
          </a:ln>
        </p:spPr>
      </p:sp>
      <p:sp>
        <p:nvSpPr>
          <p:cNvPr id="22" name="Text 20"/>
          <p:cNvSpPr txBox="1"/>
          <p:nvPr/>
        </p:nvSpPr>
        <p:spPr>
          <a:xfrm>
            <a:off x="8759952" y="197510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3" name="Text 21"/>
          <p:cNvSpPr txBox="1"/>
          <p:nvPr/>
        </p:nvSpPr>
        <p:spPr>
          <a:xfrm>
            <a:off x="9198864" y="1993392"/>
            <a:ext cx="2578608" cy="292608"/>
          </a:xfrm>
          <a:prstGeom prst="rect">
            <a:avLst/>
          </a:prstGeom>
          <a:noFill/>
          <a:ln/>
        </p:spPr>
        <p:txBody>
          <a:bodyPr wrap="square" lIns="0" tIns="0" rIns="0" bIns="0" rtlCol="0" anchor="ctr"/>
          <a:lstStyle/>
          <a:p>
            <a:pPr marL="0" indent="0">
              <a:buNone/>
            </a:pPr>
            <a:r>
              <a:rPr lang="en-US" sz="1350" b="1" dirty="0">
                <a:solidFill>
                  <a:srgbClr val="F2EDE6"/>
                </a:solidFill>
                <a:latin typeface="Meiryo" pitchFamily="34" charset="0"/>
                <a:ea typeface="Meiryo" pitchFamily="34" charset="-122"/>
                <a:cs typeface="Meiryo" pitchFamily="34" charset="-120"/>
              </a:rPr>
              <a:t>ワインマイルを得る</a:t>
            </a:r>
            <a:endParaRPr lang="en-US" sz="1350" dirty="0"/>
          </a:p>
        </p:txBody>
      </p:sp>
      <p:sp>
        <p:nvSpPr>
          <p:cNvPr id="24" name="Text 22"/>
          <p:cNvSpPr txBox="1"/>
          <p:nvPr/>
        </p:nvSpPr>
        <p:spPr>
          <a:xfrm>
            <a:off x="8759952" y="2487168"/>
            <a:ext cx="2980944" cy="530352"/>
          </a:xfrm>
          <a:prstGeom prst="rect">
            <a:avLst/>
          </a:prstGeom>
          <a:noFill/>
          <a:ln/>
        </p:spPr>
        <p:txBody>
          <a:bodyPr wrap="square" lIns="0" tIns="0" rIns="0" bIns="0" rtlCol="0" anchor="ctr"/>
          <a:lstStyle/>
          <a:p>
            <a:pPr marL="0" indent="0">
              <a:buNone/>
            </a:pPr>
            <a:r>
              <a:rPr lang="en-US" sz="2800" b="1" dirty="0">
                <a:solidFill>
                  <a:srgbClr val="C9A227"/>
                </a:solidFill>
                <a:latin typeface="Meiryo" pitchFamily="34" charset="0"/>
                <a:ea typeface="Meiryo" pitchFamily="34" charset="-122"/>
                <a:cs typeface="Meiryo" pitchFamily="34" charset="-120"/>
              </a:rPr>
              <a:t>40,000マイル</a:t>
            </a:r>
            <a:endParaRPr lang="en-US" sz="2800" dirty="0"/>
          </a:p>
        </p:txBody>
      </p:sp>
      <p:sp>
        <p:nvSpPr>
          <p:cNvPr id="25" name="Text 23"/>
          <p:cNvSpPr txBox="1"/>
          <p:nvPr/>
        </p:nvSpPr>
        <p:spPr>
          <a:xfrm>
            <a:off x="8759952" y="3108960"/>
            <a:ext cx="2980944" cy="731520"/>
          </a:xfrm>
          <a:prstGeom prst="rect">
            <a:avLst/>
          </a:prstGeom>
          <a:noFill/>
          <a:ln/>
        </p:spPr>
        <p:txBody>
          <a:bodyPr wrap="square" lIns="0" tIns="0" rIns="0" bIns="0" rtlCol="0" anchor="ctr"/>
          <a:lstStyle/>
          <a:p>
            <a:pPr marL="0" indent="0">
              <a:lnSpc>
                <a:spcPts val="1700"/>
              </a:lnSpc>
              <a:buNone/>
            </a:pPr>
            <a:r>
              <a:rPr lang="en-US" sz="1100" dirty="0">
                <a:solidFill>
                  <a:srgbClr val="A2908C"/>
                </a:solidFill>
                <a:latin typeface="Meiryo" pitchFamily="34" charset="0"/>
                <a:ea typeface="Meiryo" pitchFamily="34" charset="-122"/>
                <a:cs typeface="Meiryo" pitchFamily="34" charset="-120"/>
              </a:rPr>
              <a:t>年率4%（PRESTIGE）。会食・贈答・イベント・オークション・スクールに使える</a:t>
            </a:r>
            <a:endParaRPr lang="en-US" sz="1100" dirty="0"/>
          </a:p>
        </p:txBody>
      </p:sp>
      <p:sp>
        <p:nvSpPr>
          <p:cNvPr id="26" name="Shape 24"/>
          <p:cNvSpPr/>
          <p:nvPr/>
        </p:nvSpPr>
        <p:spPr>
          <a:xfrm>
            <a:off x="566928" y="4206240"/>
            <a:ext cx="11027664" cy="914400"/>
          </a:xfrm>
          <a:prstGeom prst="roundRect">
            <a:avLst>
              <a:gd name="adj" fmla="val 6000"/>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27" name="Text 25"/>
          <p:cNvSpPr txBox="1"/>
          <p:nvPr/>
        </p:nvSpPr>
        <p:spPr>
          <a:xfrm>
            <a:off x="978408" y="4407408"/>
            <a:ext cx="10325468" cy="384048"/>
          </a:xfrm>
          <a:prstGeom prst="rect">
            <a:avLst/>
          </a:prstGeom>
          <a:noFill/>
          <a:ln/>
        </p:spPr>
        <p:txBody>
          <a:bodyPr wrap="square" lIns="0" tIns="0" rIns="0" bIns="0" rtlCol="0" anchor="ctr"/>
          <a:lstStyle/>
          <a:p>
            <a:pPr marL="0" indent="0">
              <a:buNone/>
            </a:pPr>
            <a:r>
              <a:rPr lang="en-US" sz="1900" b="1" dirty="0">
                <a:solidFill>
                  <a:srgbClr val="E8CE78"/>
                </a:solidFill>
                <a:latin typeface="Meiryo" pitchFamily="34" charset="0"/>
                <a:ea typeface="Meiryo" pitchFamily="34" charset="-122"/>
                <a:cs typeface="Meiryo" pitchFamily="34" charset="-120"/>
              </a:rPr>
              <a:t>会員は2.75万円払って、4万円分を受け取る。差額の1.25万円を「貯金」していると考える。</a:t>
            </a:r>
            <a:endParaRPr lang="en-US" sz="1900" dirty="0"/>
          </a:p>
        </p:txBody>
      </p:sp>
      <p:sp>
        <p:nvSpPr>
          <p:cNvPr id="28" name="Text 26"/>
          <p:cNvSpPr txBox="1"/>
          <p:nvPr/>
        </p:nvSpPr>
        <p:spPr>
          <a:xfrm>
            <a:off x="978408" y="4809744"/>
            <a:ext cx="10204704" cy="274320"/>
          </a:xfrm>
          <a:prstGeom prst="rect">
            <a:avLst/>
          </a:prstGeom>
          <a:noFill/>
          <a:ln/>
        </p:spPr>
        <p:txBody>
          <a:bodyPr wrap="square" lIns="0" tIns="0" rIns="0" bIns="0" rtlCol="0" anchor="ctr"/>
          <a:lstStyle/>
          <a:p>
            <a:pPr marL="0" indent="0">
              <a:buNone/>
            </a:pPr>
            <a:r>
              <a:rPr lang="en-US" sz="1250" dirty="0">
                <a:solidFill>
                  <a:srgbClr val="F2EDE6"/>
                </a:solidFill>
                <a:latin typeface="Meiryo" pitchFamily="34" charset="0"/>
                <a:ea typeface="Meiryo" pitchFamily="34" charset="-122"/>
                <a:cs typeface="Meiryo" pitchFamily="34" charset="-120"/>
              </a:rPr>
              <a:t>上位ランクは5%・6%。さらに値上がり分の70%も会員のものとして残ります。</a:t>
            </a:r>
            <a:endParaRPr lang="en-US" sz="1250" dirty="0"/>
          </a:p>
        </p:txBody>
      </p:sp>
      <p:sp>
        <p:nvSpPr>
          <p:cNvPr id="29" name="Shape 27"/>
          <p:cNvSpPr/>
          <p:nvPr/>
        </p:nvSpPr>
        <p:spPr>
          <a:xfrm>
            <a:off x="566928" y="5266944"/>
            <a:ext cx="11027664" cy="786384"/>
          </a:xfrm>
          <a:prstGeom prst="roundRect">
            <a:avLst>
              <a:gd name="adj" fmla="val 6977"/>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30" name="Text 28"/>
          <p:cNvSpPr txBox="1"/>
          <p:nvPr/>
        </p:nvSpPr>
        <p:spPr>
          <a:xfrm>
            <a:off x="978408" y="5468112"/>
            <a:ext cx="10204704" cy="365760"/>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加えて、落札・出品・会食・贈答・イベント参加のたびに限定マイルが貯まります。</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NARRATIVE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「相殺してよ」と言われたら</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差額をください——ごもっともです。ただ、相殺した世界には、次の1年で何も起きません。</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572768"/>
            <a:ext cx="3200400" cy="2487168"/>
          </a:xfrm>
          <a:prstGeom prst="roundRect">
            <a:avLst>
              <a:gd name="adj" fmla="val 2206"/>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Text 5"/>
          <p:cNvSpPr txBox="1"/>
          <p:nvPr/>
        </p:nvSpPr>
        <p:spPr>
          <a:xfrm>
            <a:off x="859536" y="1737360"/>
            <a:ext cx="2615184" cy="274320"/>
          </a:xfrm>
          <a:prstGeom prst="rect">
            <a:avLst/>
          </a:prstGeom>
          <a:noFill/>
          <a:ln/>
        </p:spPr>
        <p:txBody>
          <a:bodyPr wrap="square" lIns="0" tIns="0" rIns="0" bIns="0" rtlCol="0" anchor="ctr"/>
          <a:lstStyle/>
          <a:p>
            <a:pPr marL="0" indent="0">
              <a:buNone/>
            </a:pPr>
            <a:r>
              <a:rPr lang="en-US" sz="1300" b="1" dirty="0">
                <a:solidFill>
                  <a:srgbClr val="A2908C"/>
                </a:solidFill>
                <a:latin typeface="Meiryo" pitchFamily="34" charset="0"/>
                <a:ea typeface="Meiryo" pitchFamily="34" charset="-122"/>
                <a:cs typeface="Meiryo" pitchFamily="34" charset="-120"/>
              </a:rPr>
              <a:t>相殺した世界</a:t>
            </a:r>
            <a:endParaRPr lang="en-US" sz="1300" dirty="0"/>
          </a:p>
        </p:txBody>
      </p:sp>
      <p:sp>
        <p:nvSpPr>
          <p:cNvPr id="8" name="Text 6"/>
          <p:cNvSpPr txBox="1"/>
          <p:nvPr/>
        </p:nvSpPr>
        <p:spPr>
          <a:xfrm>
            <a:off x="859536" y="2048256"/>
            <a:ext cx="2615184" cy="329184"/>
          </a:xfrm>
          <a:prstGeom prst="rect">
            <a:avLst/>
          </a:prstGeom>
          <a:noFill/>
          <a:ln/>
        </p:spPr>
        <p:txBody>
          <a:bodyPr wrap="square" lIns="0" tIns="0" rIns="0" bIns="0" rtlCol="0" anchor="ctr"/>
          <a:lstStyle/>
          <a:p>
            <a:pPr marL="0" indent="0">
              <a:buNone/>
            </a:pPr>
            <a:r>
              <a:rPr lang="en-US" sz="1500" b="1" dirty="0">
                <a:solidFill>
                  <a:srgbClr val="F2EDE6"/>
                </a:solidFill>
                <a:latin typeface="Meiryo" pitchFamily="34" charset="0"/>
                <a:ea typeface="Meiryo" pitchFamily="34" charset="-122"/>
                <a:cs typeface="Meiryo" pitchFamily="34" charset="-120"/>
              </a:rPr>
              <a:t>3月。口座に27,500円。</a:t>
            </a:r>
            <a:endParaRPr lang="en-US" sz="1500" dirty="0"/>
          </a:p>
        </p:txBody>
      </p:sp>
      <p:sp>
        <p:nvSpPr>
          <p:cNvPr id="9" name="Text 7"/>
          <p:cNvSpPr txBox="1"/>
          <p:nvPr/>
        </p:nvSpPr>
        <p:spPr>
          <a:xfrm>
            <a:off x="859536" y="2487168"/>
            <a:ext cx="2615184" cy="1188720"/>
          </a:xfrm>
          <a:prstGeom prst="rect">
            <a:avLst/>
          </a:prstGeom>
          <a:noFill/>
          <a:ln/>
        </p:spPr>
        <p:txBody>
          <a:bodyPr wrap="square" lIns="0" tIns="0" rIns="0" bIns="0" rtlCol="0" anchor="ctr"/>
          <a:lstStyle/>
          <a:p>
            <a:pPr marL="0" indent="0">
              <a:lnSpc>
                <a:spcPts val="2000"/>
              </a:lnSpc>
              <a:buNone/>
            </a:pPr>
            <a:r>
              <a:rPr lang="en-US" sz="1150" dirty="0">
                <a:solidFill>
                  <a:srgbClr val="A2908C"/>
                </a:solidFill>
                <a:latin typeface="Meiryo" pitchFamily="34" charset="0"/>
                <a:ea typeface="Meiryo" pitchFamily="34" charset="-122"/>
                <a:cs typeface="Meiryo" pitchFamily="34" charset="-120"/>
              </a:rPr>
              <a:t>明細に一行増える。それだけ。</a:t>
            </a:r>
            <a:endParaRPr lang="en-US" sz="1150" dirty="0"/>
          </a:p>
          <a:p>
            <a:pPr marL="0" indent="0">
              <a:lnSpc>
                <a:spcPts val="2000"/>
              </a:lnSpc>
              <a:buNone/>
            </a:pPr>
            <a:r>
              <a:rPr lang="en-US" sz="1150" dirty="0">
                <a:solidFill>
                  <a:srgbClr val="A2908C"/>
                </a:solidFill>
                <a:latin typeface="Meiryo" pitchFamily="34" charset="0"/>
                <a:ea typeface="Meiryo" pitchFamily="34" charset="-122"/>
                <a:cs typeface="Meiryo" pitchFamily="34" charset="-120"/>
              </a:rPr>
              <a:t>誰にも会わず、何も残らない。</a:t>
            </a:r>
            <a:endParaRPr lang="en-US" sz="1150" dirty="0"/>
          </a:p>
          <a:p>
            <a:pPr marL="0" indent="0">
              <a:lnSpc>
                <a:spcPts val="2000"/>
              </a:lnSpc>
              <a:buNone/>
            </a:pPr>
            <a:r>
              <a:rPr lang="en-US" sz="1150" dirty="0">
                <a:solidFill>
                  <a:srgbClr val="A2908C"/>
                </a:solidFill>
                <a:latin typeface="Meiryo" pitchFamily="34" charset="0"/>
                <a:ea typeface="Meiryo" pitchFamily="34" charset="-122"/>
                <a:cs typeface="Meiryo" pitchFamily="34" charset="-120"/>
              </a:rPr>
              <a:t>来年また、同じ一行が増える。</a:t>
            </a:r>
            <a:endParaRPr lang="en-US" sz="1150" dirty="0"/>
          </a:p>
        </p:txBody>
      </p:sp>
      <p:sp>
        <p:nvSpPr>
          <p:cNvPr id="10" name="Shape 8"/>
          <p:cNvSpPr/>
          <p:nvPr/>
        </p:nvSpPr>
        <p:spPr>
          <a:xfrm>
            <a:off x="3913632" y="1572768"/>
            <a:ext cx="7680960" cy="2487168"/>
          </a:xfrm>
          <a:prstGeom prst="roundRect">
            <a:avLst>
              <a:gd name="adj" fmla="val 220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1" name="Text 9"/>
          <p:cNvSpPr txBox="1"/>
          <p:nvPr/>
        </p:nvSpPr>
        <p:spPr>
          <a:xfrm>
            <a:off x="4206240" y="1737360"/>
            <a:ext cx="7095744" cy="274320"/>
          </a:xfrm>
          <a:prstGeom prst="rect">
            <a:avLst/>
          </a:prstGeom>
          <a:noFill/>
          <a:ln/>
        </p:spPr>
        <p:txBody>
          <a:bodyPr wrap="square" lIns="0" tIns="0" rIns="0" bIns="0" rtlCol="0" anchor="ctr"/>
          <a:lstStyle/>
          <a:p>
            <a:pPr marL="0" indent="0">
              <a:buNone/>
            </a:pPr>
            <a:r>
              <a:rPr lang="en-US" sz="1300" b="1" dirty="0">
                <a:solidFill>
                  <a:srgbClr val="C9A227"/>
                </a:solidFill>
                <a:latin typeface="Meiryo" pitchFamily="34" charset="0"/>
                <a:ea typeface="Meiryo" pitchFamily="34" charset="-122"/>
                <a:cs typeface="Meiryo" pitchFamily="34" charset="-120"/>
              </a:rPr>
              <a:t>相殺しない世界</a:t>
            </a:r>
            <a:endParaRPr lang="en-US" sz="1300" dirty="0"/>
          </a:p>
        </p:txBody>
      </p:sp>
      <p:sp>
        <p:nvSpPr>
          <p:cNvPr id="12" name="Text 10"/>
          <p:cNvSpPr txBox="1"/>
          <p:nvPr/>
        </p:nvSpPr>
        <p:spPr>
          <a:xfrm>
            <a:off x="4206240" y="2066544"/>
            <a:ext cx="566928" cy="256032"/>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5月</a:t>
            </a:r>
            <a:endParaRPr lang="en-US" sz="1100" dirty="0"/>
          </a:p>
        </p:txBody>
      </p:sp>
      <p:sp>
        <p:nvSpPr>
          <p:cNvPr id="13" name="Text 11"/>
          <p:cNvSpPr txBox="1"/>
          <p:nvPr/>
        </p:nvSpPr>
        <p:spPr>
          <a:xfrm>
            <a:off x="4828032" y="2066544"/>
            <a:ext cx="2834640" cy="256032"/>
          </a:xfrm>
          <a:prstGeom prst="rect">
            <a:avLst/>
          </a:prstGeom>
          <a:noFill/>
          <a:ln/>
        </p:spPr>
        <p:txBody>
          <a:bodyPr wrap="square" lIns="0" tIns="0" rIns="0" bIns="0" rtlCol="0" anchor="ctr"/>
          <a:lstStyle/>
          <a:p>
            <a:pPr marL="0" indent="0">
              <a:buNone/>
            </a:pPr>
            <a:r>
              <a:rPr lang="en-US" sz="1150" dirty="0">
                <a:solidFill>
                  <a:srgbClr val="F2EDE6"/>
                </a:solidFill>
                <a:latin typeface="Meiryo" pitchFamily="34" charset="0"/>
                <a:ea typeface="Meiryo" pitchFamily="34" charset="-122"/>
                <a:cs typeface="Meiryo" pitchFamily="34" charset="-120"/>
              </a:rPr>
              <a:t>取引先と、グランメゾンで。</a:t>
            </a:r>
            <a:endParaRPr lang="en-US" sz="1150" dirty="0"/>
          </a:p>
        </p:txBody>
      </p:sp>
      <p:sp>
        <p:nvSpPr>
          <p:cNvPr id="14" name="Text 12"/>
          <p:cNvSpPr txBox="1"/>
          <p:nvPr/>
        </p:nvSpPr>
        <p:spPr>
          <a:xfrm>
            <a:off x="7772400" y="2066544"/>
            <a:ext cx="566928" cy="256032"/>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8月</a:t>
            </a:r>
            <a:endParaRPr lang="en-US" sz="1100" dirty="0"/>
          </a:p>
        </p:txBody>
      </p:sp>
      <p:sp>
        <p:nvSpPr>
          <p:cNvPr id="15" name="Text 13"/>
          <p:cNvSpPr txBox="1"/>
          <p:nvPr/>
        </p:nvSpPr>
        <p:spPr>
          <a:xfrm>
            <a:off x="8394192" y="2066544"/>
            <a:ext cx="2834640" cy="256032"/>
          </a:xfrm>
          <a:prstGeom prst="rect">
            <a:avLst/>
          </a:prstGeom>
          <a:noFill/>
          <a:ln/>
        </p:spPr>
        <p:txBody>
          <a:bodyPr wrap="square" lIns="0" tIns="0" rIns="0" bIns="0" rtlCol="0" anchor="ctr"/>
          <a:lstStyle/>
          <a:p>
            <a:pPr marL="0" indent="0">
              <a:buNone/>
            </a:pPr>
            <a:r>
              <a:rPr lang="en-US" sz="1150" dirty="0">
                <a:solidFill>
                  <a:srgbClr val="F2EDE6"/>
                </a:solidFill>
                <a:latin typeface="Meiryo" pitchFamily="34" charset="0"/>
                <a:ea typeface="Meiryo" pitchFamily="34" charset="-122"/>
                <a:cs typeface="Meiryo" pitchFamily="34" charset="-120"/>
              </a:rPr>
              <a:t>義父の誕生日に、生まれ年を一本。</a:t>
            </a:r>
            <a:endParaRPr lang="en-US" sz="1150" dirty="0"/>
          </a:p>
        </p:txBody>
      </p:sp>
      <p:sp>
        <p:nvSpPr>
          <p:cNvPr id="16" name="Text 14"/>
          <p:cNvSpPr txBox="1"/>
          <p:nvPr/>
        </p:nvSpPr>
        <p:spPr>
          <a:xfrm>
            <a:off x="4206240" y="2615184"/>
            <a:ext cx="566928" cy="256032"/>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11月</a:t>
            </a:r>
            <a:endParaRPr lang="en-US" sz="1100" dirty="0"/>
          </a:p>
        </p:txBody>
      </p:sp>
      <p:sp>
        <p:nvSpPr>
          <p:cNvPr id="17" name="Text 15"/>
          <p:cNvSpPr txBox="1"/>
          <p:nvPr/>
        </p:nvSpPr>
        <p:spPr>
          <a:xfrm>
            <a:off x="4828032" y="2615184"/>
            <a:ext cx="2834640" cy="256032"/>
          </a:xfrm>
          <a:prstGeom prst="rect">
            <a:avLst/>
          </a:prstGeom>
          <a:noFill/>
          <a:ln/>
        </p:spPr>
        <p:txBody>
          <a:bodyPr wrap="square" lIns="0" tIns="0" rIns="0" bIns="0" rtlCol="0" anchor="ctr"/>
          <a:lstStyle/>
          <a:p>
            <a:pPr marL="0" indent="0">
              <a:buNone/>
            </a:pPr>
            <a:r>
              <a:rPr lang="en-US" sz="1150" dirty="0">
                <a:solidFill>
                  <a:srgbClr val="F2EDE6"/>
                </a:solidFill>
                <a:latin typeface="Meiryo" pitchFamily="34" charset="0"/>
                <a:ea typeface="Meiryo" pitchFamily="34" charset="-122"/>
                <a:cs typeface="Meiryo" pitchFamily="34" charset="-120"/>
              </a:rPr>
              <a:t>ブルゴーニュワイン樽を共同落札。</a:t>
            </a:r>
            <a:endParaRPr lang="en-US" sz="1150" dirty="0"/>
          </a:p>
        </p:txBody>
      </p:sp>
      <p:sp>
        <p:nvSpPr>
          <p:cNvPr id="18" name="Text 16"/>
          <p:cNvSpPr txBox="1"/>
          <p:nvPr/>
        </p:nvSpPr>
        <p:spPr>
          <a:xfrm>
            <a:off x="7772400" y="2615184"/>
            <a:ext cx="566928" cy="256032"/>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1月</a:t>
            </a:r>
            <a:endParaRPr lang="en-US" sz="1100" dirty="0"/>
          </a:p>
        </p:txBody>
      </p:sp>
      <p:sp>
        <p:nvSpPr>
          <p:cNvPr id="19" name="Text 17"/>
          <p:cNvSpPr txBox="1"/>
          <p:nvPr/>
        </p:nvSpPr>
        <p:spPr>
          <a:xfrm>
            <a:off x="8394192" y="2615184"/>
            <a:ext cx="2834640" cy="256032"/>
          </a:xfrm>
          <a:prstGeom prst="rect">
            <a:avLst/>
          </a:prstGeom>
          <a:noFill/>
          <a:ln/>
        </p:spPr>
        <p:txBody>
          <a:bodyPr wrap="square" lIns="0" tIns="0" rIns="0" bIns="0" rtlCol="0" anchor="ctr"/>
          <a:lstStyle/>
          <a:p>
            <a:pPr marL="0" indent="0">
              <a:buNone/>
            </a:pPr>
            <a:r>
              <a:rPr lang="en-US" sz="1150" dirty="0">
                <a:solidFill>
                  <a:srgbClr val="F2EDE6"/>
                </a:solidFill>
                <a:latin typeface="Meiryo" pitchFamily="34" charset="0"/>
                <a:ea typeface="Meiryo" pitchFamily="34" charset="-122"/>
                <a:cs typeface="Meiryo" pitchFamily="34" charset="-120"/>
              </a:rPr>
              <a:t>会員限定の生産者イベントへ。</a:t>
            </a:r>
            <a:endParaRPr lang="en-US" sz="1150" dirty="0"/>
          </a:p>
        </p:txBody>
      </p:sp>
      <p:sp>
        <p:nvSpPr>
          <p:cNvPr id="20" name="Text 18"/>
          <p:cNvSpPr txBox="1"/>
          <p:nvPr/>
        </p:nvSpPr>
        <p:spPr>
          <a:xfrm>
            <a:off x="4206240" y="3163824"/>
            <a:ext cx="566928" cy="256032"/>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3月</a:t>
            </a:r>
            <a:endParaRPr lang="en-US" sz="1100" dirty="0"/>
          </a:p>
        </p:txBody>
      </p:sp>
      <p:sp>
        <p:nvSpPr>
          <p:cNvPr id="21" name="Text 19"/>
          <p:cNvSpPr txBox="1"/>
          <p:nvPr/>
        </p:nvSpPr>
        <p:spPr>
          <a:xfrm>
            <a:off x="4828032" y="3163824"/>
            <a:ext cx="2834640" cy="256032"/>
          </a:xfrm>
          <a:prstGeom prst="rect">
            <a:avLst/>
          </a:prstGeom>
          <a:noFill/>
          <a:ln/>
        </p:spPr>
        <p:txBody>
          <a:bodyPr wrap="square" lIns="0" tIns="0" rIns="0" bIns="0" rtlCol="0" anchor="ctr"/>
          <a:lstStyle/>
          <a:p>
            <a:pPr marL="0" indent="0">
              <a:buNone/>
            </a:pPr>
            <a:r>
              <a:rPr lang="en-US" sz="1150" dirty="0">
                <a:solidFill>
                  <a:srgbClr val="F2EDE6"/>
                </a:solidFill>
                <a:latin typeface="Meiryo" pitchFamily="34" charset="0"/>
                <a:ea typeface="Meiryo" pitchFamily="34" charset="-122"/>
                <a:cs typeface="Meiryo" pitchFamily="34" charset="-120"/>
              </a:rPr>
              <a:t>オークションで落札。マイルがまた入る。</a:t>
            </a:r>
            <a:endParaRPr lang="en-US" sz="1150" dirty="0"/>
          </a:p>
        </p:txBody>
      </p:sp>
      <p:sp>
        <p:nvSpPr>
          <p:cNvPr id="22" name="Text 20"/>
          <p:cNvSpPr txBox="1"/>
          <p:nvPr/>
        </p:nvSpPr>
        <p:spPr>
          <a:xfrm>
            <a:off x="7772400" y="3163824"/>
            <a:ext cx="566928" cy="256032"/>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通年</a:t>
            </a:r>
            <a:endParaRPr lang="en-US" sz="1100" dirty="0"/>
          </a:p>
        </p:txBody>
      </p:sp>
      <p:sp>
        <p:nvSpPr>
          <p:cNvPr id="23" name="Text 21"/>
          <p:cNvSpPr txBox="1"/>
          <p:nvPr/>
        </p:nvSpPr>
        <p:spPr>
          <a:xfrm>
            <a:off x="8394192" y="3163824"/>
            <a:ext cx="2834640" cy="256032"/>
          </a:xfrm>
          <a:prstGeom prst="rect">
            <a:avLst/>
          </a:prstGeom>
          <a:noFill/>
          <a:ln/>
        </p:spPr>
        <p:txBody>
          <a:bodyPr wrap="square" lIns="0" tIns="0" rIns="0" bIns="0" rtlCol="0" anchor="ctr"/>
          <a:lstStyle/>
          <a:p>
            <a:pPr marL="0" indent="0">
              <a:buNone/>
            </a:pPr>
            <a:r>
              <a:rPr lang="en-US" sz="1150" dirty="0">
                <a:solidFill>
                  <a:srgbClr val="F2EDE6"/>
                </a:solidFill>
                <a:latin typeface="Meiryo" pitchFamily="34" charset="0"/>
                <a:ea typeface="Meiryo" pitchFamily="34" charset="-122"/>
                <a:cs typeface="Meiryo" pitchFamily="34" charset="-120"/>
              </a:rPr>
              <a:t>ワイナートが毎号届く。</a:t>
            </a:r>
            <a:endParaRPr lang="en-US" sz="1150" dirty="0"/>
          </a:p>
        </p:txBody>
      </p:sp>
      <p:sp>
        <p:nvSpPr>
          <p:cNvPr id="24" name="Text 22"/>
          <p:cNvSpPr txBox="1"/>
          <p:nvPr/>
        </p:nvSpPr>
        <p:spPr>
          <a:xfrm>
            <a:off x="4206240" y="3456432"/>
            <a:ext cx="7095744" cy="365760"/>
          </a:xfrm>
          <a:prstGeom prst="rect">
            <a:avLst/>
          </a:prstGeom>
          <a:noFill/>
          <a:ln/>
        </p:spPr>
        <p:txBody>
          <a:bodyPr wrap="square" lIns="0" tIns="0" rIns="0" bIns="0" rtlCol="0" anchor="ctr"/>
          <a:lstStyle/>
          <a:p>
            <a:pPr marL="0" indent="0">
              <a:lnSpc>
                <a:spcPts val="1400"/>
              </a:lnSpc>
              <a:buNone/>
            </a:pPr>
            <a:r>
              <a:rPr lang="en-US" sz="1000" dirty="0">
                <a:solidFill>
                  <a:srgbClr val="C9A227"/>
                </a:solidFill>
                <a:latin typeface="Meiryo" pitchFamily="34" charset="0"/>
                <a:ea typeface="Meiryo" pitchFamily="34" charset="-122"/>
                <a:cs typeface="Meiryo" pitchFamily="34" charset="-120"/>
              </a:rPr>
              <a:t>※ その他、ボルドーマラソン・5大シャトー訪問企画、国内ワイナリーツアー等の年間ワインイベント盛りだくさん</a:t>
            </a:r>
            <a:endParaRPr lang="en-US" sz="1000" dirty="0"/>
          </a:p>
        </p:txBody>
      </p:sp>
      <p:sp>
        <p:nvSpPr>
          <p:cNvPr id="25" name="Shape 23"/>
          <p:cNvSpPr/>
          <p:nvPr/>
        </p:nvSpPr>
        <p:spPr>
          <a:xfrm>
            <a:off x="566928" y="4187952"/>
            <a:ext cx="11027664" cy="731520"/>
          </a:xfrm>
          <a:prstGeom prst="roundRect">
            <a:avLst>
              <a:gd name="adj" fmla="val 7500"/>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6" name="Text 24"/>
          <p:cNvSpPr txBox="1"/>
          <p:nvPr/>
        </p:nvSpPr>
        <p:spPr>
          <a:xfrm>
            <a:off x="978408" y="4343400"/>
            <a:ext cx="10204704" cy="384048"/>
          </a:xfrm>
          <a:prstGeom prst="rect">
            <a:avLst/>
          </a:prstGeom>
          <a:noFill/>
          <a:ln/>
        </p:spPr>
        <p:txBody>
          <a:bodyPr wrap="square" lIns="0" tIns="0" rIns="0" bIns="0" rtlCol="0" anchor="ctr"/>
          <a:lstStyle/>
          <a:p>
            <a:pPr marL="0" indent="0" algn="ctr">
              <a:buNone/>
            </a:pPr>
            <a:r>
              <a:rPr lang="en-US" sz="1800" b="1" dirty="0">
                <a:solidFill>
                  <a:srgbClr val="E8CE78"/>
                </a:solidFill>
                <a:latin typeface="Meiryo" pitchFamily="34" charset="0"/>
                <a:ea typeface="Meiryo" pitchFamily="34" charset="-122"/>
                <a:cs typeface="Meiryo" pitchFamily="34" charset="-120"/>
              </a:rPr>
              <a:t>27,500円は貯金になりません。40,000マイルは、ワインのある一年になります。</a:t>
            </a:r>
            <a:endParaRPr lang="en-US" sz="1800" dirty="0"/>
          </a:p>
        </p:txBody>
      </p:sp>
      <p:sp>
        <p:nvSpPr>
          <p:cNvPr id="27" name="Shape 25"/>
          <p:cNvSpPr/>
          <p:nvPr/>
        </p:nvSpPr>
        <p:spPr>
          <a:xfrm>
            <a:off x="566928" y="5029200"/>
            <a:ext cx="3529584" cy="1060704"/>
          </a:xfrm>
          <a:prstGeom prst="roundRect">
            <a:avLst>
              <a:gd name="adj" fmla="val 5172"/>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28" name="Text 26"/>
          <p:cNvSpPr txBox="1"/>
          <p:nvPr/>
        </p:nvSpPr>
        <p:spPr>
          <a:xfrm>
            <a:off x="841248" y="5157216"/>
            <a:ext cx="2980944" cy="274320"/>
          </a:xfrm>
          <a:prstGeom prst="rect">
            <a:avLst/>
          </a:prstGeom>
          <a:noFill/>
          <a:ln/>
        </p:spPr>
        <p:txBody>
          <a:bodyPr wrap="square" lIns="0" tIns="0" rIns="0" bIns="0" rtlCol="0" anchor="ctr"/>
          <a:lstStyle/>
          <a:p>
            <a:pPr marL="0" indent="0">
              <a:buNone/>
            </a:pPr>
            <a:r>
              <a:rPr lang="en-US" sz="1250" b="1" dirty="0">
                <a:solidFill>
                  <a:srgbClr val="E8CE78"/>
                </a:solidFill>
                <a:latin typeface="Meiryo" pitchFamily="34" charset="0"/>
                <a:ea typeface="Meiryo" pitchFamily="34" charset="-122"/>
                <a:cs typeface="Meiryo" pitchFamily="34" charset="-120"/>
              </a:rPr>
              <a:t>税務はカードのマイルと同じ</a:t>
            </a:r>
            <a:endParaRPr lang="en-US" sz="1250" dirty="0"/>
          </a:p>
        </p:txBody>
      </p:sp>
      <p:sp>
        <p:nvSpPr>
          <p:cNvPr id="29" name="Text 27"/>
          <p:cNvSpPr txBox="1"/>
          <p:nvPr/>
        </p:nvSpPr>
        <p:spPr>
          <a:xfrm>
            <a:off x="841248" y="5449824"/>
            <a:ext cx="2980944" cy="56692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AMEX等のマイレージ還元は法人・個人とも課税されません。ワインマイルも同じ「利用に応じた還元」として設計します。※顧問税理士の確認を前提</a:t>
            </a:r>
            <a:endParaRPr lang="en-US" sz="950" dirty="0"/>
          </a:p>
        </p:txBody>
      </p:sp>
      <p:sp>
        <p:nvSpPr>
          <p:cNvPr id="30" name="Shape 28"/>
          <p:cNvSpPr/>
          <p:nvPr/>
        </p:nvSpPr>
        <p:spPr>
          <a:xfrm>
            <a:off x="4352544" y="5029200"/>
            <a:ext cx="3529584" cy="1060704"/>
          </a:xfrm>
          <a:prstGeom prst="roundRect">
            <a:avLst>
              <a:gd name="adj" fmla="val 5172"/>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31" name="Text 29"/>
          <p:cNvSpPr txBox="1"/>
          <p:nvPr/>
        </p:nvSpPr>
        <p:spPr>
          <a:xfrm>
            <a:off x="4626864" y="5157216"/>
            <a:ext cx="2980944" cy="274320"/>
          </a:xfrm>
          <a:prstGeom prst="rect">
            <a:avLst/>
          </a:prstGeom>
          <a:noFill/>
          <a:ln/>
        </p:spPr>
        <p:txBody>
          <a:bodyPr wrap="square" lIns="0" tIns="0" rIns="0" bIns="0" rtlCol="0" anchor="ctr"/>
          <a:lstStyle/>
          <a:p>
            <a:pPr marL="0" indent="0">
              <a:buNone/>
            </a:pPr>
            <a:r>
              <a:rPr lang="en-US" sz="1250" b="1" dirty="0">
                <a:solidFill>
                  <a:srgbClr val="E8CE78"/>
                </a:solidFill>
                <a:latin typeface="Meiryo" pitchFamily="34" charset="0"/>
                <a:ea typeface="Meiryo" pitchFamily="34" charset="-122"/>
                <a:cs typeface="Meiryo" pitchFamily="34" charset="-120"/>
              </a:rPr>
              <a:t>一般サービスへの交換は 0.5</a:t>
            </a:r>
            <a:endParaRPr lang="en-US" sz="1250" dirty="0"/>
          </a:p>
        </p:txBody>
      </p:sp>
      <p:sp>
        <p:nvSpPr>
          <p:cNvPr id="32" name="Text 30"/>
          <p:cNvSpPr txBox="1"/>
          <p:nvPr/>
        </p:nvSpPr>
        <p:spPr>
          <a:xfrm>
            <a:off x="4626864" y="5449824"/>
            <a:ext cx="2980944" cy="56692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ワイン関連の一般サービスへは0.5で交換可能。比べたうえで「ワインならWineBank経済圏が一番得だ」と分かる設計にします。</a:t>
            </a:r>
            <a:endParaRPr lang="en-US" sz="950" dirty="0"/>
          </a:p>
        </p:txBody>
      </p:sp>
      <p:sp>
        <p:nvSpPr>
          <p:cNvPr id="33" name="Shape 31"/>
          <p:cNvSpPr/>
          <p:nvPr/>
        </p:nvSpPr>
        <p:spPr>
          <a:xfrm>
            <a:off x="8138160" y="5029200"/>
            <a:ext cx="3529584" cy="1060704"/>
          </a:xfrm>
          <a:prstGeom prst="roundRect">
            <a:avLst>
              <a:gd name="adj" fmla="val 5172"/>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34" name="Text 32"/>
          <p:cNvSpPr txBox="1"/>
          <p:nvPr/>
        </p:nvSpPr>
        <p:spPr>
          <a:xfrm>
            <a:off x="8412480" y="5157216"/>
            <a:ext cx="2980944" cy="274320"/>
          </a:xfrm>
          <a:prstGeom prst="rect">
            <a:avLst/>
          </a:prstGeom>
          <a:noFill/>
          <a:ln/>
        </p:spPr>
        <p:txBody>
          <a:bodyPr wrap="square" lIns="0" tIns="0" rIns="0" bIns="0" rtlCol="0" anchor="ctr"/>
          <a:lstStyle/>
          <a:p>
            <a:pPr marL="0" indent="0">
              <a:buNone/>
            </a:pPr>
            <a:r>
              <a:rPr lang="en-US" sz="1250" b="1" dirty="0">
                <a:solidFill>
                  <a:srgbClr val="E8CE78"/>
                </a:solidFill>
                <a:latin typeface="Meiryo" pitchFamily="34" charset="0"/>
                <a:ea typeface="Meiryo" pitchFamily="34" charset="-122"/>
                <a:cs typeface="Meiryo" pitchFamily="34" charset="-120"/>
              </a:rPr>
              <a:t>手間は、ゼロ</a:t>
            </a:r>
            <a:endParaRPr lang="en-US" sz="1250" dirty="0"/>
          </a:p>
        </p:txBody>
      </p:sp>
      <p:sp>
        <p:nvSpPr>
          <p:cNvPr id="35" name="Text 33"/>
          <p:cNvSpPr txBox="1"/>
          <p:nvPr/>
        </p:nvSpPr>
        <p:spPr>
          <a:xfrm>
            <a:off x="8412480" y="5449824"/>
            <a:ext cx="2980944" cy="56692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手数料は年1回の自動引落。マイルは自動付与。使うときは、お店で名前を言うだけです。</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UNIT ECONOMICS</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マイル原価は「どこで使われるか」で決まる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WineBank単体ベース。直営店へはマイル額面×レート×90%を保証。額面100に対する当社コストで示します。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11027664" cy="2852928"/>
        </p:xfrm>
        <a:graphic>
          <a:graphicData uri="http://schemas.openxmlformats.org/drawingml/2006/table">
            <a:tbl>
              <a:tblPr/>
              <a:tblGrid>
                <a:gridCol w="3383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1609344">
                  <a:extLst>
                    <a:ext uri="{9D8B030D-6E8A-4147-A177-3AD203B41FA5}">
                      <a16:colId xmlns:a16="http://schemas.microsoft.com/office/drawing/2014/main" val="20004"/>
                    </a:ext>
                  </a:extLst>
                </a:gridCol>
              </a:tblGrid>
              <a:tr h="365760">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交換先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レート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単体コスト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連結コスト（参考）</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方針</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310896">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グループ直営飲食</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D96A6A"/>
                          </a:solidFill>
                          <a:latin typeface="Meiryo" pitchFamily="34" charset="0"/>
                          <a:ea typeface="Meiryo" pitchFamily="34" charset="-122"/>
                          <a:cs typeface="Meiryo" pitchFamily="34" charset="-120"/>
                        </a:rPr>
                        <a:t>90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要誘導</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310896">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グランメゾン</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45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extLst>
                  <a:ext uri="{0D108BD9-81ED-4DB2-BD59-A6C34878D82A}">
                    <a16:rowId xmlns:a16="http://schemas.microsoft.com/office/drawing/2014/main" val="10002"/>
                  </a:ext>
                </a:extLst>
              </a:tr>
              <a:tr h="310896">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WineBank CLUB 会費充当</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 最優先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r h="310896">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オークション参加</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 優先誘導</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4"/>
                  </a:ext>
                </a:extLst>
              </a:tr>
              <a:tr h="310896">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ワインスクール受講料</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D96A6A"/>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上限管理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5"/>
                  </a:ext>
                </a:extLst>
              </a:tr>
              <a:tr h="310896">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会員交流イベント参加費</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6"/>
                  </a:ext>
                </a:extLst>
              </a:tr>
              <a:tr h="310896">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ワイナート年間購読</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7"/>
                  </a:ext>
                </a:extLst>
              </a:tr>
              <a:tr h="310896">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ワイン追加購入</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D96A6A"/>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上限20%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8"/>
                  </a:ext>
                </a:extLst>
              </a:tr>
            </a:tbl>
          </a:graphicData>
        </a:graphic>
      </p:graphicFrame>
      <p:sp>
        <p:nvSpPr>
          <p:cNvPr id="7" name="Text 4"/>
          <p:cNvSpPr txBox="1"/>
          <p:nvPr/>
        </p:nvSpPr>
        <p:spPr>
          <a:xfrm>
            <a:off x="566928" y="4645152"/>
            <a:ext cx="11027664" cy="219456"/>
          </a:xfrm>
          <a:prstGeom prst="rect">
            <a:avLst/>
          </a:prstGeom>
          <a:noFill/>
          <a:ln/>
        </p:spPr>
        <p:txBody>
          <a:bodyPr wrap="square" lIns="0" tIns="0" rIns="0" bIns="0" rtlCol="0" anchor="ctr"/>
          <a:lstStyle/>
          <a:p>
            <a:pPr marL="0" indent="0">
              <a:buNone/>
            </a:pPr>
            <a:r>
              <a:rPr lang="en-US" sz="950" dirty="0">
                <a:solidFill>
                  <a:srgbClr val="C9A227"/>
                </a:solidFill>
                <a:latin typeface="Meiryo" pitchFamily="34" charset="0"/>
                <a:ea typeface="Meiryo" pitchFamily="34" charset="-122"/>
                <a:cs typeface="Meiryo" pitchFamily="34" charset="-120"/>
              </a:rPr>
              <a:t>想定ミックス（利用マイル内・%）：直営27.8／グランメゾン20.0／CLUB13.3／オークション13.3／スクール10.0／イベント7.0／ワイナート3.0／追加購入5.6　→　発行ベース51.1%</a:t>
            </a:r>
            <a:endParaRPr lang="en-US" sz="950" dirty="0"/>
          </a:p>
        </p:txBody>
      </p:sp>
      <p:sp>
        <p:nvSpPr>
          <p:cNvPr id="8" name="Shape 5"/>
          <p:cNvSpPr/>
          <p:nvPr/>
        </p:nvSpPr>
        <p:spPr>
          <a:xfrm>
            <a:off x="566928" y="4956048"/>
            <a:ext cx="5394960" cy="1097280"/>
          </a:xfrm>
          <a:prstGeom prst="roundRect">
            <a:avLst>
              <a:gd name="adj" fmla="val 5000"/>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9" name="Text 6"/>
          <p:cNvSpPr txBox="1"/>
          <p:nvPr/>
        </p:nvSpPr>
        <p:spPr>
          <a:xfrm>
            <a:off x="932688" y="5065776"/>
            <a:ext cx="4663440" cy="292608"/>
          </a:xfrm>
          <a:prstGeom prst="rect">
            <a:avLst/>
          </a:prstGeom>
          <a:noFill/>
          <a:ln/>
        </p:spPr>
        <p:txBody>
          <a:bodyPr wrap="square" lIns="0" tIns="0" rIns="0" bIns="0" rtlCol="0" anchor="ctr"/>
          <a:lstStyle/>
          <a:p>
            <a:pPr marL="0" indent="0">
              <a:buNone/>
            </a:pPr>
            <a:r>
              <a:rPr lang="en-US" sz="1600" b="1" dirty="0">
                <a:solidFill>
                  <a:srgbClr val="E0A458"/>
                </a:solidFill>
                <a:latin typeface="Meiryo" pitchFamily="34" charset="0"/>
                <a:ea typeface="Meiryo" pitchFamily="34" charset="-122"/>
                <a:cs typeface="Meiryo" pitchFamily="34" charset="-120"/>
              </a:rPr>
              <a:t>損益分岐は 47.3%。想定は 51.1%。</a:t>
            </a:r>
            <a:endParaRPr lang="en-US" sz="1600" dirty="0"/>
          </a:p>
        </p:txBody>
      </p:sp>
      <p:sp>
        <p:nvSpPr>
          <p:cNvPr id="10" name="Text 7"/>
          <p:cNvSpPr txBox="1"/>
          <p:nvPr/>
        </p:nvSpPr>
        <p:spPr>
          <a:xfrm>
            <a:off x="932688" y="5358384"/>
            <a:ext cx="4663440" cy="603504"/>
          </a:xfrm>
          <a:prstGeom prst="rect">
            <a:avLst/>
          </a:prstGeom>
          <a:noFill/>
          <a:ln/>
        </p:spPr>
        <p:txBody>
          <a:bodyPr wrap="square" lIns="0" tIns="0" rIns="0" bIns="0" rtlCol="0" anchor="ctr"/>
          <a:lstStyle/>
          <a:p>
            <a:pPr marL="0" indent="0">
              <a:lnSpc>
                <a:spcPts val="1400"/>
              </a:lnSpc>
              <a:buNone/>
            </a:pPr>
            <a:r>
              <a:rPr lang="en-US" sz="1000" dirty="0">
                <a:solidFill>
                  <a:srgbClr val="F2EDE6"/>
                </a:solidFill>
                <a:latin typeface="Meiryo" pitchFamily="34" charset="0"/>
                <a:ea typeface="Meiryo" pitchFamily="34" charset="-122"/>
                <a:cs typeface="Meiryo" pitchFamily="34" charset="-120"/>
              </a:rPr>
              <a:t>（手数料2.75% − 保管1.05% ＋ オークション0.5%）÷ 発行4.65% ＝ 47.3%。想定は3.8ポイント超えており、ストック現金は年▲0.18%。成功報酬1.8%を含めて+1.62%が実力です。</a:t>
            </a:r>
            <a:endParaRPr lang="en-US" sz="1000" dirty="0"/>
          </a:p>
        </p:txBody>
      </p:sp>
      <p:sp>
        <p:nvSpPr>
          <p:cNvPr id="11" name="Shape 8"/>
          <p:cNvSpPr/>
          <p:nvPr/>
        </p:nvSpPr>
        <p:spPr>
          <a:xfrm>
            <a:off x="6199632" y="4956048"/>
            <a:ext cx="5394960" cy="1097280"/>
          </a:xfrm>
          <a:prstGeom prst="roundRect">
            <a:avLst>
              <a:gd name="adj" fmla="val 500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2" name="Text 9"/>
          <p:cNvSpPr txBox="1"/>
          <p:nvPr/>
        </p:nvSpPr>
        <p:spPr>
          <a:xfrm>
            <a:off x="6565392" y="5065776"/>
            <a:ext cx="4663440" cy="292608"/>
          </a:xfrm>
          <a:prstGeom prst="rect">
            <a:avLst/>
          </a:prstGeom>
          <a:noFill/>
          <a:ln/>
        </p:spPr>
        <p:txBody>
          <a:bodyPr wrap="square" lIns="0" tIns="0" rIns="0" bIns="0" rtlCol="0" anchor="ctr"/>
          <a:lstStyle/>
          <a:p>
            <a:pPr marL="0" indent="0">
              <a:buNone/>
            </a:pPr>
            <a:r>
              <a:rPr lang="en-US" sz="1500" b="1" dirty="0">
                <a:solidFill>
                  <a:srgbClr val="E0A458"/>
                </a:solidFill>
                <a:latin typeface="Meiryo" pitchFamily="34" charset="0"/>
                <a:ea typeface="Meiryo" pitchFamily="34" charset="-122"/>
                <a:cs typeface="Meiryo" pitchFamily="34" charset="-120"/>
              </a:rPr>
              <a:t>余裕は薄い。だから誘導の設計で決まる。</a:t>
            </a:r>
            <a:endParaRPr lang="en-US" sz="1500" dirty="0"/>
          </a:p>
        </p:txBody>
      </p:sp>
      <p:sp>
        <p:nvSpPr>
          <p:cNvPr id="6" name="Text 10"/>
          <p:cNvSpPr txBox="1"/>
          <p:nvPr/>
        </p:nvSpPr>
        <p:spPr>
          <a:xfrm>
            <a:off x="6565392" y="5358384"/>
            <a:ext cx="4663440" cy="603504"/>
          </a:xfrm>
          <a:prstGeom prst="rect">
            <a:avLst/>
          </a:prstGeom>
          <a:noFill/>
          <a:ln/>
        </p:spPr>
        <p:txBody>
          <a:bodyPr wrap="square" lIns="0" tIns="0" rIns="0" bIns="0" rtlCol="0" anchor="ctr"/>
          <a:lstStyle/>
          <a:p>
            <a:pPr marL="0" indent="0">
              <a:lnSpc>
                <a:spcPts val="1400"/>
              </a:lnSpc>
              <a:buNone/>
            </a:pPr>
            <a:r>
              <a:rPr lang="en-US" sz="1000" dirty="0">
                <a:solidFill>
                  <a:srgbClr val="A2908C"/>
                </a:solidFill>
                <a:latin typeface="Meiryo" pitchFamily="34" charset="0"/>
                <a:ea typeface="Meiryo" pitchFamily="34" charset="-122"/>
                <a:cs typeface="Meiryo" pitchFamily="34" charset="-120"/>
              </a:rPr>
              <a:t>直営飲食1.0円に偏るほど90%へ近づきます。原価10%のCLUB会費充当と30%のオークション参加へ誘導するほど収支は改善し、47.3%に届けばストック単体で黒字化します。</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RETURN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3年・5年・10年で、双方いくらになるか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ワイン100万円・年6%成長（単利）・成功報酬30%・仲介手数料なし。単体ベース。</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1883664"/>
        </p:xfrm>
        <a:graphic>
          <a:graphicData uri="http://schemas.openxmlformats.org/drawingml/2006/table">
            <a:tbl>
              <a:tblPr/>
              <a:tblGrid>
                <a:gridCol w="777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gridCol w="1371600">
                  <a:extLst>
                    <a:ext uri="{9D8B030D-6E8A-4147-A177-3AD203B41FA5}">
                      <a16:colId xmlns:a16="http://schemas.microsoft.com/office/drawing/2014/main" val="20007"/>
                    </a:ext>
                  </a:extLst>
                </a:gridCol>
                <a:gridCol w="1152144">
                  <a:extLst>
                    <a:ext uri="{9D8B030D-6E8A-4147-A177-3AD203B41FA5}">
                      <a16:colId xmlns:a16="http://schemas.microsoft.com/office/drawing/2014/main" val="20008"/>
                    </a:ext>
                  </a:extLst>
                </a:gridCol>
              </a:tblGrid>
              <a:tr h="512064">
                <a:tc>
                  <a:txBody>
                    <a:bodyPr/>
                    <a:lstStyle/>
                    <a:p>
                      <a:pPr marL="0" indent="0" algn="ctr">
                        <a:buNone/>
                      </a:pP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ワイン時価</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値上がり益</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成功報酬30%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会員の累計利益</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会員 単純年率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会員 CAGR</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当社の累計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当社 年率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457200">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3年</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1,180,000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180,000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54,000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163,500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5.45%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5.18%</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58,634</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1.95%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457200">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5年</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1,300,000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90,000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272,500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5.45%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4.94%</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97,724</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1.95%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2"/>
                  </a:ext>
                </a:extLst>
              </a:tr>
              <a:tr h="457200">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10年</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1,600,000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600,000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180,000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545,000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5.45%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4.45%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195,448</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1.95%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bl>
          </a:graphicData>
        </a:graphic>
      </p:graphicFrame>
      <p:sp>
        <p:nvSpPr>
          <p:cNvPr id="7" name="Text 4"/>
          <p:cNvSpPr txBox="1"/>
          <p:nvPr/>
        </p:nvSpPr>
        <p:spPr>
          <a:xfrm>
            <a:off x="566928" y="3621024"/>
            <a:ext cx="11027664" cy="219456"/>
          </a:xfrm>
          <a:prstGeom prst="rect">
            <a:avLst/>
          </a:prstGeom>
          <a:noFill/>
          <a:ln/>
        </p:spPr>
        <p:txBody>
          <a:bodyPr wrap="square" lIns="0" tIns="0" rIns="0" bIns="0" rtlCol="0" anchor="ctr"/>
          <a:lstStyle/>
          <a:p>
            <a:pPr marL="0" indent="0">
              <a:buNone/>
            </a:pPr>
            <a:r>
              <a:rPr lang="en-US" sz="950" dirty="0">
                <a:solidFill>
                  <a:srgbClr val="A2908C"/>
                </a:solidFill>
                <a:latin typeface="Meiryo" pitchFamily="34" charset="0"/>
                <a:ea typeface="Meiryo" pitchFamily="34" charset="-122"/>
                <a:cs typeface="Meiryo" pitchFamily="34" charset="-120"/>
              </a:rPr>
              <a:t>※PRESTIGE（100万）の数値。会員＝（マイル額面−手数料）×年数＋（値上がり益−成功報酬）。当社＝（2.75%−1.05%＋0.5%−2.05%）×年数＋成功報酬</a:t>
            </a:r>
            <a:endParaRPr lang="en-US" sz="950" dirty="0"/>
          </a:p>
        </p:txBody>
      </p:sp>
      <p:sp>
        <p:nvSpPr>
          <p:cNvPr id="8" name="Shape 5"/>
          <p:cNvSpPr/>
          <p:nvPr/>
        </p:nvSpPr>
        <p:spPr>
          <a:xfrm>
            <a:off x="566928" y="3950208"/>
            <a:ext cx="3529584" cy="1371600"/>
          </a:xfrm>
          <a:prstGeom prst="roundRect">
            <a:avLst>
              <a:gd name="adj" fmla="val 400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9" name="Shape 6"/>
          <p:cNvSpPr/>
          <p:nvPr/>
        </p:nvSpPr>
        <p:spPr>
          <a:xfrm>
            <a:off x="841248" y="4114800"/>
            <a:ext cx="329184" cy="329184"/>
          </a:xfrm>
          <a:prstGeom prst="ellipse">
            <a:avLst/>
          </a:prstGeom>
          <a:solidFill>
            <a:srgbClr val="C9A227"/>
          </a:solidFill>
          <a:ln w="12700">
            <a:solidFill>
              <a:srgbClr val="C9A227"/>
            </a:solidFill>
            <a:prstDash val="solid"/>
          </a:ln>
        </p:spPr>
      </p:sp>
      <p:sp>
        <p:nvSpPr>
          <p:cNvPr id="10" name="Text 7"/>
          <p:cNvSpPr txBox="1"/>
          <p:nvPr/>
        </p:nvSpPr>
        <p:spPr>
          <a:xfrm>
            <a:off x="841248" y="4114800"/>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1" name="Text 8"/>
          <p:cNvSpPr txBox="1"/>
          <p:nvPr/>
        </p:nvSpPr>
        <p:spPr>
          <a:xfrm>
            <a:off x="1261872" y="4133088"/>
            <a:ext cx="2596896" cy="274320"/>
          </a:xfrm>
          <a:prstGeom prst="rect">
            <a:avLst/>
          </a:prstGeom>
          <a:noFill/>
          <a:ln/>
        </p:spPr>
        <p:txBody>
          <a:bodyPr wrap="square" lIns="0" tIns="0" rIns="0" bIns="0" rtlCol="0" anchor="ctr"/>
          <a:lstStyle/>
          <a:p>
            <a:pPr marL="0" indent="0">
              <a:buNone/>
            </a:pPr>
            <a:r>
              <a:rPr lang="en-US" sz="1250" b="1" dirty="0">
                <a:solidFill>
                  <a:srgbClr val="E8CE78"/>
                </a:solidFill>
                <a:latin typeface="Meiryo" pitchFamily="34" charset="0"/>
                <a:ea typeface="Meiryo" pitchFamily="34" charset="-122"/>
                <a:cs typeface="Meiryo" pitchFamily="34" charset="-120"/>
              </a:rPr>
              <a:t>成長率が上がるほど、当社も伸びる</a:t>
            </a:r>
            <a:endParaRPr lang="en-US" sz="1250" dirty="0"/>
          </a:p>
        </p:txBody>
      </p:sp>
      <p:sp>
        <p:nvSpPr>
          <p:cNvPr id="12" name="Text 9"/>
          <p:cNvSpPr txBox="1"/>
          <p:nvPr/>
        </p:nvSpPr>
        <p:spPr>
          <a:xfrm>
            <a:off x="841248" y="4553712"/>
            <a:ext cx="2980944" cy="694944"/>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年5%なら当社1.65%／年6%で1.95%／年10%で3.15%。会員と当社が完全に同じ方向を向きます。</a:t>
            </a:r>
            <a:endParaRPr lang="en-US" sz="1050" dirty="0"/>
          </a:p>
        </p:txBody>
      </p:sp>
      <p:sp>
        <p:nvSpPr>
          <p:cNvPr id="13" name="Shape 10"/>
          <p:cNvSpPr/>
          <p:nvPr/>
        </p:nvSpPr>
        <p:spPr>
          <a:xfrm>
            <a:off x="4352544" y="3950208"/>
            <a:ext cx="3529584" cy="1371600"/>
          </a:xfrm>
          <a:prstGeom prst="roundRect">
            <a:avLst>
              <a:gd name="adj" fmla="val 400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6" name="Shape 11"/>
          <p:cNvSpPr/>
          <p:nvPr/>
        </p:nvSpPr>
        <p:spPr>
          <a:xfrm>
            <a:off x="4626864" y="4114800"/>
            <a:ext cx="329184" cy="329184"/>
          </a:xfrm>
          <a:prstGeom prst="ellipse">
            <a:avLst/>
          </a:prstGeom>
          <a:solidFill>
            <a:srgbClr val="C9A227"/>
          </a:solidFill>
          <a:ln w="12700">
            <a:solidFill>
              <a:srgbClr val="C9A227"/>
            </a:solidFill>
            <a:prstDash val="solid"/>
          </a:ln>
        </p:spPr>
      </p:sp>
      <p:sp>
        <p:nvSpPr>
          <p:cNvPr id="15" name="Text 12"/>
          <p:cNvSpPr txBox="1"/>
          <p:nvPr/>
        </p:nvSpPr>
        <p:spPr>
          <a:xfrm>
            <a:off x="4626864" y="4114800"/>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5047488" y="4133088"/>
            <a:ext cx="2596896" cy="274320"/>
          </a:xfrm>
          <a:prstGeom prst="rect">
            <a:avLst/>
          </a:prstGeom>
          <a:noFill/>
          <a:ln/>
        </p:spPr>
        <p:txBody>
          <a:bodyPr wrap="square" lIns="0" tIns="0" rIns="0" bIns="0" rtlCol="0" anchor="ctr"/>
          <a:lstStyle/>
          <a:p>
            <a:pPr marL="0" indent="0">
              <a:buNone/>
            </a:pPr>
            <a:r>
              <a:rPr lang="en-US" sz="1250" b="1" dirty="0">
                <a:solidFill>
                  <a:srgbClr val="E8CE78"/>
                </a:solidFill>
                <a:latin typeface="Meiryo" pitchFamily="34" charset="0"/>
                <a:ea typeface="Meiryo" pitchFamily="34" charset="-122"/>
                <a:cs typeface="Meiryo" pitchFamily="34" charset="-120"/>
              </a:rPr>
              <a:t>長く持つほど、当社が有利になる</a:t>
            </a:r>
            <a:endParaRPr lang="en-US" sz="1250" dirty="0"/>
          </a:p>
        </p:txBody>
      </p:sp>
      <p:sp>
        <p:nvSpPr>
          <p:cNvPr id="17" name="Text 14"/>
          <p:cNvSpPr txBox="1"/>
          <p:nvPr/>
        </p:nvSpPr>
        <p:spPr>
          <a:xfrm>
            <a:off x="4626864" y="4553712"/>
            <a:ext cx="2980944" cy="694944"/>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成功報酬30%と媒介10%の損益分岐は8.3年（6%成長時）。10%成長なら5.0年。長期保有を促す動機が当社側に働きます。</a:t>
            </a:r>
            <a:endParaRPr lang="en-US" sz="1050" dirty="0"/>
          </a:p>
        </p:txBody>
      </p:sp>
      <p:sp>
        <p:nvSpPr>
          <p:cNvPr id="18" name="Shape 15"/>
          <p:cNvSpPr/>
          <p:nvPr/>
        </p:nvSpPr>
        <p:spPr>
          <a:xfrm>
            <a:off x="8138160" y="3950208"/>
            <a:ext cx="3529584" cy="1371600"/>
          </a:xfrm>
          <a:prstGeom prst="roundRect">
            <a:avLst>
              <a:gd name="adj" fmla="val 4000"/>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9" name="Shape 16"/>
          <p:cNvSpPr/>
          <p:nvPr/>
        </p:nvSpPr>
        <p:spPr>
          <a:xfrm>
            <a:off x="8412480" y="4114800"/>
            <a:ext cx="329184" cy="329184"/>
          </a:xfrm>
          <a:prstGeom prst="ellipse">
            <a:avLst/>
          </a:prstGeom>
          <a:solidFill>
            <a:srgbClr val="C9A227"/>
          </a:solidFill>
          <a:ln w="12700">
            <a:solidFill>
              <a:srgbClr val="C9A227"/>
            </a:solidFill>
            <a:prstDash val="solid"/>
          </a:ln>
        </p:spPr>
      </p:sp>
      <p:sp>
        <p:nvSpPr>
          <p:cNvPr id="20" name="Text 17"/>
          <p:cNvSpPr txBox="1"/>
          <p:nvPr/>
        </p:nvSpPr>
        <p:spPr>
          <a:xfrm>
            <a:off x="8412480" y="4114800"/>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1" name="Text 18"/>
          <p:cNvSpPr txBox="1"/>
          <p:nvPr/>
        </p:nvSpPr>
        <p:spPr>
          <a:xfrm>
            <a:off x="8833104" y="4133088"/>
            <a:ext cx="2596896" cy="274320"/>
          </a:xfrm>
          <a:prstGeom prst="rect">
            <a:avLst/>
          </a:prstGeom>
          <a:noFill/>
          <a:ln/>
        </p:spPr>
        <p:txBody>
          <a:bodyPr wrap="square" lIns="0" tIns="0" rIns="0" bIns="0" rtlCol="0" anchor="ctr"/>
          <a:lstStyle/>
          <a:p>
            <a:pPr marL="0" indent="0">
              <a:buNone/>
            </a:pPr>
            <a:r>
              <a:rPr lang="en-US" sz="1250" b="1" dirty="0">
                <a:solidFill>
                  <a:srgbClr val="E8CE78"/>
                </a:solidFill>
                <a:latin typeface="Meiryo" pitchFamily="34" charset="0"/>
                <a:ea typeface="Meiryo" pitchFamily="34" charset="-122"/>
                <a:cs typeface="Meiryo" pitchFamily="34" charset="-120"/>
              </a:rPr>
              <a:t>だからセラーが増える方向に働く</a:t>
            </a:r>
            <a:endParaRPr lang="en-US" sz="1250" dirty="0"/>
          </a:p>
        </p:txBody>
      </p:sp>
      <p:sp>
        <p:nvSpPr>
          <p:cNvPr id="22" name="Text 19"/>
          <p:cNvSpPr txBox="1"/>
          <p:nvPr/>
        </p:nvSpPr>
        <p:spPr>
          <a:xfrm>
            <a:off x="8412480" y="4553712"/>
            <a:ext cx="2980944" cy="694944"/>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媒介モデルは回転させたくなり、セラーが減ります。成功報酬は寝かせたくなる。Cloud Cave構想と同じ向きです。</a:t>
            </a:r>
            <a:endParaRPr lang="en-US" sz="1050" dirty="0"/>
          </a:p>
        </p:txBody>
      </p:sp>
      <p:sp>
        <p:nvSpPr>
          <p:cNvPr id="23" name="Shape 20"/>
          <p:cNvSpPr/>
          <p:nvPr/>
        </p:nvSpPr>
        <p:spPr>
          <a:xfrm>
            <a:off x="566928" y="5468112"/>
            <a:ext cx="11027664" cy="585216"/>
          </a:xfrm>
          <a:prstGeom prst="roundRect">
            <a:avLst>
              <a:gd name="adj" fmla="val 9375"/>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4" name="Text 21"/>
          <p:cNvSpPr txBox="1"/>
          <p:nvPr/>
        </p:nvSpPr>
        <p:spPr>
          <a:xfrm>
            <a:off x="978408" y="5614416"/>
            <a:ext cx="10204704" cy="329184"/>
          </a:xfrm>
          <a:prstGeom prst="rect">
            <a:avLst/>
          </a:prstGeom>
          <a:noFill/>
          <a:ln/>
        </p:spPr>
        <p:txBody>
          <a:bodyPr wrap="square" lIns="0" tIns="0" rIns="0" bIns="0" rtlCol="0" anchor="ctr"/>
          <a:lstStyle/>
          <a:p>
            <a:pPr marL="0" indent="0" algn="ctr">
              <a:buNone/>
            </a:pPr>
            <a:r>
              <a:rPr lang="en-US" sz="1500" b="1" dirty="0">
                <a:solidFill>
                  <a:srgbClr val="E8CE78"/>
                </a:solidFill>
                <a:latin typeface="Meiryo" pitchFamily="34" charset="0"/>
                <a:ea typeface="Meiryo" pitchFamily="34" charset="-122"/>
                <a:cs typeface="Meiryo" pitchFamily="34" charset="-120"/>
              </a:rPr>
              <a:t>会員は年5.45%、当社は年1.95%。値上がりの70%を会員に残しても、事業は成立します。</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STRUCTURE CHOICE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構造の選択：なぜ買戻しではなく成功報酬か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検討した3案を、法務・会計・利益相反の3面で評価しました。</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3090672"/>
        </p:xfrm>
        <a:graphic>
          <a:graphicData uri="http://schemas.openxmlformats.org/drawingml/2006/table">
            <a:tbl>
              <a:tblPr/>
              <a:tblGrid>
                <a:gridCol w="2432304">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02336">
                <a:tc>
                  <a:txBody>
                    <a:bodyPr/>
                    <a:lstStyle/>
                    <a:p>
                      <a:pPr marL="0" indent="0" algn="ctr">
                        <a:buNone/>
                      </a:pP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① 買戻し保証</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② 成功報酬30%（採用）</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③ 専属専任媒介 10%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出資法（預り金）</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D96A6A"/>
                          </a:solidFill>
                          <a:latin typeface="Meiryo" pitchFamily="34" charset="0"/>
                          <a:ea typeface="Meiryo" pitchFamily="34" charset="-122"/>
                          <a:cs typeface="Meiryo" pitchFamily="34" charset="-120"/>
                        </a:rPr>
                        <a:t>✗ 元本保証と読まれる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該当しない</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該当しない</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金商法（集団投資）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E0A45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会員が払う手数料。分配ではない</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媒介手数料</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2"/>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売上計上（収益認識）</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D96A6A"/>
                          </a:solidFill>
                          <a:latin typeface="Meiryo" pitchFamily="34" charset="0"/>
                          <a:ea typeface="Meiryo" pitchFamily="34" charset="-122"/>
                          <a:cs typeface="Meiryo" pitchFamily="34" charset="-120"/>
                        </a:rPr>
                        <a:t>✗ 借入金になる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完全な売却</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完全な売却</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B/Sリスク</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D96A6A"/>
                          </a:solidFill>
                          <a:latin typeface="Meiryo" pitchFamily="34" charset="0"/>
                          <a:ea typeface="Meiryo" pitchFamily="34" charset="-122"/>
                          <a:cs typeface="Meiryo" pitchFamily="34" charset="-120"/>
                        </a:rPr>
                        <a:t>✗ 規模に比例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なし</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なし</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利益相反</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D96A6A"/>
                          </a:solidFill>
                          <a:latin typeface="Meiryo" pitchFamily="34" charset="0"/>
                          <a:ea typeface="Meiryo" pitchFamily="34" charset="-122"/>
                          <a:cs typeface="Meiryo" pitchFamily="34" charset="-120"/>
                        </a:rPr>
                        <a:t>✗ 当社が買主</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値上がりだけを共に願う</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E0A458"/>
                          </a:solidFill>
                          <a:latin typeface="Meiryo" pitchFamily="34" charset="0"/>
                          <a:ea typeface="Meiryo" pitchFamily="34" charset="-122"/>
                          <a:cs typeface="Meiryo" pitchFamily="34" charset="-120"/>
                        </a:rPr>
                        <a:t>△ 当社は早く売りたい</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5"/>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顧客の自由度</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E0A45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縛らない</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D96A6A"/>
                          </a:solidFill>
                          <a:latin typeface="Meiryo" pitchFamily="34" charset="0"/>
                          <a:ea typeface="Meiryo" pitchFamily="34" charset="-122"/>
                          <a:cs typeface="Meiryo" pitchFamily="34" charset="-120"/>
                        </a:rPr>
                        <a:t>✗ 専属専任で縛る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6"/>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当社の年率（5年）</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約7.0%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約1.95%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約3.7%</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7"/>
                  </a:ext>
                </a:extLst>
              </a:tr>
            </a:tbl>
          </a:graphicData>
        </a:graphic>
      </p:graphicFrame>
      <p:sp>
        <p:nvSpPr>
          <p:cNvPr id="7" name="Shape 4"/>
          <p:cNvSpPr/>
          <p:nvPr/>
        </p:nvSpPr>
        <p:spPr>
          <a:xfrm>
            <a:off x="566928" y="4864608"/>
            <a:ext cx="5394960" cy="1188720"/>
          </a:xfrm>
          <a:prstGeom prst="roundRect">
            <a:avLst>
              <a:gd name="adj" fmla="val 4615"/>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8" name="Text 5"/>
          <p:cNvSpPr txBox="1"/>
          <p:nvPr/>
        </p:nvSpPr>
        <p:spPr>
          <a:xfrm>
            <a:off x="932688" y="4992624"/>
            <a:ext cx="4663440" cy="274320"/>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30%でも「手数料」であって「分配」ではない</a:t>
            </a:r>
            <a:endParaRPr lang="en-US" sz="1400" dirty="0"/>
          </a:p>
        </p:txBody>
      </p:sp>
      <p:sp>
        <p:nvSpPr>
          <p:cNvPr id="9" name="Text 6"/>
          <p:cNvSpPr txBox="1"/>
          <p:nvPr/>
        </p:nvSpPr>
        <p:spPr>
          <a:xfrm>
            <a:off x="932688" y="5285232"/>
            <a:ext cx="4663440" cy="676656"/>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会員が当社に払う役務の成功報酬であり、会員への利益分配ではありません。P1ファンドの成功報酬25%に対し5ポイント高い水準ですが、当社が保管・保険・真正性管理まで担うことで説明できます。</a:t>
            </a:r>
            <a:endParaRPr lang="en-US" sz="1050" dirty="0"/>
          </a:p>
        </p:txBody>
      </p:sp>
      <p:sp>
        <p:nvSpPr>
          <p:cNvPr id="10" name="Shape 7"/>
          <p:cNvSpPr/>
          <p:nvPr/>
        </p:nvSpPr>
        <p:spPr>
          <a:xfrm>
            <a:off x="6199632" y="4864608"/>
            <a:ext cx="5394960" cy="1188720"/>
          </a:xfrm>
          <a:prstGeom prst="roundRect">
            <a:avLst>
              <a:gd name="adj" fmla="val 4615"/>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11" name="Text 8"/>
          <p:cNvSpPr txBox="1"/>
          <p:nvPr/>
        </p:nvSpPr>
        <p:spPr>
          <a:xfrm>
            <a:off x="6565392" y="4992624"/>
            <a:ext cx="4663440" cy="274320"/>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縛らないために、精算は「契約終了時」に</a:t>
            </a:r>
            <a:endParaRPr lang="en-US" sz="1400" dirty="0"/>
          </a:p>
        </p:txBody>
      </p:sp>
      <p:sp>
        <p:nvSpPr>
          <p:cNvPr id="12" name="Text 9"/>
          <p:cNvSpPr txBox="1"/>
          <p:nvPr/>
        </p:nvSpPr>
        <p:spPr>
          <a:xfrm>
            <a:off x="6565392" y="5285232"/>
            <a:ext cx="4663440" cy="676656"/>
          </a:xfrm>
          <a:prstGeom prst="rect">
            <a:avLst/>
          </a:prstGeom>
          <a:noFill/>
          <a:ln/>
        </p:spPr>
        <p:txBody>
          <a:bodyPr wrap="square" lIns="0" tIns="0" rIns="0" bIns="0" rtlCol="0" anchor="ctr"/>
          <a:lstStyle/>
          <a:p>
            <a:pPr marL="0" indent="0">
              <a:lnSpc>
                <a:spcPts val="1500"/>
              </a:lnSpc>
              <a:buNone/>
            </a:pPr>
            <a:r>
              <a:rPr lang="en-US" sz="1050" dirty="0">
                <a:solidFill>
                  <a:srgbClr val="F2EDE6"/>
                </a:solidFill>
                <a:latin typeface="Meiryo" pitchFamily="34" charset="0"/>
                <a:ea typeface="Meiryo" pitchFamily="34" charset="-122"/>
                <a:cs typeface="Meiryo" pitchFamily="34" charset="-120"/>
              </a:rPr>
              <a:t>売却時精算だと、拘束がない限り会員は当社を通さず売ります。契約終了時にLiv-ex連動評価額の差分で精算すれば、どこで売っても飲んでも同じ。専属専任も媒介手数料も不要です。</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TWO TRACKS</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運用型を基本に。ただし「飲みたい」も、無理なく受け止める。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飲むつもりの人に成果報酬は不要です。そして運用型の人も、途中で飲みたくなります。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5394960" cy="1975104"/>
          </a:xfrm>
          <a:prstGeom prst="roundRect">
            <a:avLst>
              <a:gd name="adj" fmla="val 2778"/>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7" name="Text 5"/>
          <p:cNvSpPr txBox="1"/>
          <p:nvPr/>
        </p:nvSpPr>
        <p:spPr>
          <a:xfrm>
            <a:off x="932688" y="1792224"/>
            <a:ext cx="4663440" cy="329184"/>
          </a:xfrm>
          <a:prstGeom prst="rect">
            <a:avLst/>
          </a:prstGeom>
          <a:noFill/>
          <a:ln/>
        </p:spPr>
        <p:txBody>
          <a:bodyPr wrap="square" lIns="0" tIns="0" rIns="0" bIns="0" rtlCol="0" anchor="ctr"/>
          <a:lstStyle/>
          <a:p>
            <a:pPr marL="0" indent="0">
              <a:buNone/>
            </a:pPr>
            <a:r>
              <a:rPr lang="en-US" sz="1800" b="1" dirty="0">
                <a:solidFill>
                  <a:srgbClr val="C9A227"/>
                </a:solidFill>
                <a:latin typeface="Meiryo" pitchFamily="34" charset="0"/>
                <a:ea typeface="Meiryo" pitchFamily="34" charset="-122"/>
                <a:cs typeface="Meiryo" pitchFamily="34" charset="-120"/>
              </a:rPr>
              <a:t>運用型（推奨・基本）</a:t>
            </a:r>
            <a:endParaRPr lang="en-US" sz="1800" dirty="0"/>
          </a:p>
        </p:txBody>
      </p:sp>
      <p:sp>
        <p:nvSpPr>
          <p:cNvPr id="8" name="Text 6"/>
          <p:cNvSpPr txBox="1"/>
          <p:nvPr/>
        </p:nvSpPr>
        <p:spPr>
          <a:xfrm>
            <a:off x="932688" y="2157984"/>
            <a:ext cx="4663440" cy="274320"/>
          </a:xfrm>
          <a:prstGeom prst="rect">
            <a:avLst/>
          </a:prstGeom>
          <a:noFill/>
          <a:ln/>
        </p:spPr>
        <p:txBody>
          <a:bodyPr wrap="square" lIns="0" tIns="0" rIns="0" bIns="0" rtlCol="0" anchor="ctr"/>
          <a:lstStyle/>
          <a:p>
            <a:pPr marL="0" indent="0">
              <a:buNone/>
            </a:pPr>
            <a:r>
              <a:rPr lang="en-US" sz="1200" dirty="0">
                <a:solidFill>
                  <a:srgbClr val="A2908C"/>
                </a:solidFill>
                <a:latin typeface="Meiryo" pitchFamily="34" charset="0"/>
                <a:ea typeface="Meiryo" pitchFamily="34" charset="-122"/>
                <a:cs typeface="Meiryo" pitchFamily="34" charset="-120"/>
              </a:rPr>
              <a:t>売買・管理 ＋ 成果報酬</a:t>
            </a:r>
            <a:endParaRPr lang="en-US" sz="1200" dirty="0"/>
          </a:p>
        </p:txBody>
      </p:sp>
      <p:sp>
        <p:nvSpPr>
          <p:cNvPr id="9" name="Text 7"/>
          <p:cNvSpPr txBox="1"/>
          <p:nvPr/>
        </p:nvSpPr>
        <p:spPr>
          <a:xfrm>
            <a:off x="932688" y="2523744"/>
            <a:ext cx="4663440" cy="1005840"/>
          </a:xfrm>
          <a:prstGeom prst="rect">
            <a:avLst/>
          </a:prstGeom>
          <a:noFill/>
          <a:ln/>
        </p:spPr>
        <p:txBody>
          <a:bodyPr wrap="square" lIns="0" tIns="0" rIns="0" bIns="0" rtlCol="0" anchor="t"/>
          <a:lstStyle/>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所有権は会員のまま。当社が保管・保険・管理</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マイルは管理料に対するおまけ（無償）</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値上がりの70〜75%は会員のもの。出口は自由</a:t>
            </a:r>
            <a:endParaRPr lang="en-US" sz="1150" dirty="0"/>
          </a:p>
        </p:txBody>
      </p:sp>
      <p:sp>
        <p:nvSpPr>
          <p:cNvPr id="10" name="Shape 8"/>
          <p:cNvSpPr/>
          <p:nvPr/>
        </p:nvSpPr>
        <p:spPr>
          <a:xfrm>
            <a:off x="6199632" y="1627632"/>
            <a:ext cx="5394960" cy="1975104"/>
          </a:xfrm>
          <a:prstGeom prst="roundRect">
            <a:avLst>
              <a:gd name="adj" fmla="val 2778"/>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1" name="Text 9"/>
          <p:cNvSpPr txBox="1"/>
          <p:nvPr/>
        </p:nvSpPr>
        <p:spPr>
          <a:xfrm>
            <a:off x="6565392" y="1792224"/>
            <a:ext cx="4663440" cy="329184"/>
          </a:xfrm>
          <a:prstGeom prst="rect">
            <a:avLst/>
          </a:prstGeom>
          <a:noFill/>
          <a:ln/>
        </p:spPr>
        <p:txBody>
          <a:bodyPr wrap="square" lIns="0" tIns="0" rIns="0" bIns="0" rtlCol="0" anchor="ctr"/>
          <a:lstStyle/>
          <a:p>
            <a:pPr marL="0" indent="0">
              <a:buNone/>
            </a:pPr>
            <a:r>
              <a:rPr lang="en-US" sz="1800" b="1" dirty="0">
                <a:solidFill>
                  <a:srgbClr val="7FD1AE"/>
                </a:solidFill>
                <a:latin typeface="Meiryo" pitchFamily="34" charset="0"/>
                <a:ea typeface="Meiryo" pitchFamily="34" charset="-122"/>
                <a:cs typeface="Meiryo" pitchFamily="34" charset="-120"/>
              </a:rPr>
              <a:t>消費型（自己利用・贈答）</a:t>
            </a:r>
            <a:endParaRPr lang="en-US" sz="1800" dirty="0"/>
          </a:p>
        </p:txBody>
      </p:sp>
      <p:sp>
        <p:nvSpPr>
          <p:cNvPr id="12" name="Text 10"/>
          <p:cNvSpPr txBox="1"/>
          <p:nvPr/>
        </p:nvSpPr>
        <p:spPr>
          <a:xfrm>
            <a:off x="6565392" y="2157984"/>
            <a:ext cx="4663440" cy="274320"/>
          </a:xfrm>
          <a:prstGeom prst="rect">
            <a:avLst/>
          </a:prstGeom>
          <a:noFill/>
          <a:ln/>
        </p:spPr>
        <p:txBody>
          <a:bodyPr wrap="square" lIns="0" tIns="0" rIns="0" bIns="0" rtlCol="0" anchor="ctr"/>
          <a:lstStyle/>
          <a:p>
            <a:pPr marL="0" indent="0">
              <a:buNone/>
            </a:pPr>
            <a:r>
              <a:rPr lang="en-US" sz="1200" dirty="0">
                <a:solidFill>
                  <a:srgbClr val="A2908C"/>
                </a:solidFill>
                <a:latin typeface="Meiryo" pitchFamily="34" charset="0"/>
                <a:ea typeface="Meiryo" pitchFamily="34" charset="-122"/>
                <a:cs typeface="Meiryo" pitchFamily="34" charset="-120"/>
              </a:rPr>
              <a:t>売買 ＋ 寄託のみ</a:t>
            </a:r>
            <a:endParaRPr lang="en-US" sz="1200" dirty="0"/>
          </a:p>
        </p:txBody>
      </p:sp>
      <p:sp>
        <p:nvSpPr>
          <p:cNvPr id="13" name="Text 11"/>
          <p:cNvSpPr txBox="1"/>
          <p:nvPr/>
        </p:nvSpPr>
        <p:spPr>
          <a:xfrm>
            <a:off x="6565392" y="2523744"/>
            <a:ext cx="4663440" cy="1005840"/>
          </a:xfrm>
          <a:prstGeom prst="rect">
            <a:avLst/>
          </a:prstGeom>
          <a:noFill/>
          <a:ln/>
        </p:spPr>
        <p:txBody>
          <a:bodyPr wrap="square" lIns="0" tIns="0" rIns="0" bIns="0" rtlCol="0" anchor="t"/>
          <a:lstStyle/>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成果報酬はかからない</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マイルは購入時の還元として付与</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規制の表面積はほぼゼロ</a:t>
            </a:r>
            <a:endParaRPr lang="en-US" sz="1150" dirty="0"/>
          </a:p>
        </p:txBody>
      </p:sp>
      <p:sp>
        <p:nvSpPr>
          <p:cNvPr id="14" name="Shape 12"/>
          <p:cNvSpPr/>
          <p:nvPr/>
        </p:nvSpPr>
        <p:spPr>
          <a:xfrm>
            <a:off x="566928" y="3749040"/>
            <a:ext cx="11027664" cy="1371600"/>
          </a:xfrm>
          <a:prstGeom prst="roundRect">
            <a:avLst>
              <a:gd name="adj" fmla="val 4000"/>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5" name="Text 13"/>
          <p:cNvSpPr txBox="1"/>
          <p:nvPr/>
        </p:nvSpPr>
        <p:spPr>
          <a:xfrm>
            <a:off x="978408" y="3931920"/>
            <a:ext cx="10204704" cy="310896"/>
          </a:xfrm>
          <a:prstGeom prst="rect">
            <a:avLst/>
          </a:prstGeom>
          <a:noFill/>
          <a:ln/>
        </p:spPr>
        <p:txBody>
          <a:bodyPr wrap="square" lIns="0" tIns="0" rIns="0" bIns="0" rtlCol="0" anchor="ctr"/>
          <a:lstStyle/>
          <a:p>
            <a:pPr marL="0" indent="0">
              <a:buNone/>
            </a:pPr>
            <a:r>
              <a:rPr lang="en-US" sz="1600" b="1" dirty="0">
                <a:solidFill>
                  <a:srgbClr val="E8CE78"/>
                </a:solidFill>
                <a:latin typeface="Meiryo" pitchFamily="34" charset="0"/>
                <a:ea typeface="Meiryo" pitchFamily="34" charset="-122"/>
                <a:cs typeface="Meiryo" pitchFamily="34" charset="-120"/>
              </a:rPr>
              <a:t>途中で飲みたくなったら —— 年に1度、まとめて精算します（年次リバランス）</a:t>
            </a:r>
            <a:endParaRPr lang="en-US" sz="1600" dirty="0"/>
          </a:p>
        </p:txBody>
      </p:sp>
      <p:sp>
        <p:nvSpPr>
          <p:cNvPr id="16" name="Text 14"/>
          <p:cNvSpPr txBox="1"/>
          <p:nvPr/>
        </p:nvSpPr>
        <p:spPr>
          <a:xfrm>
            <a:off x="978408" y="4352544"/>
            <a:ext cx="237744" cy="256032"/>
          </a:xfrm>
          <a:prstGeom prst="rect">
            <a:avLst/>
          </a:prstGeom>
          <a:noFill/>
          <a:ln/>
        </p:spPr>
        <p:txBody>
          <a:bodyPr wrap="square" lIns="0" tIns="0" rIns="0" bIns="0" rtlCol="0" anchor="ctr"/>
          <a:lstStyle/>
          <a:p>
            <a:pPr marL="0" indent="0">
              <a:buNone/>
            </a:pPr>
            <a:r>
              <a:rPr lang="en-US" sz="1200" b="1" dirty="0">
                <a:solidFill>
                  <a:srgbClr val="C9A227"/>
                </a:solidFill>
                <a:latin typeface="Meiryo" pitchFamily="34" charset="0"/>
                <a:ea typeface="Meiryo" pitchFamily="34" charset="-122"/>
                <a:cs typeface="Meiryo" pitchFamily="34" charset="-120"/>
              </a:rPr>
              <a:t>1.</a:t>
            </a:r>
            <a:endParaRPr lang="en-US" sz="1200" dirty="0"/>
          </a:p>
        </p:txBody>
      </p:sp>
      <p:sp>
        <p:nvSpPr>
          <p:cNvPr id="17" name="Text 15"/>
          <p:cNvSpPr txBox="1"/>
          <p:nvPr/>
        </p:nvSpPr>
        <p:spPr>
          <a:xfrm>
            <a:off x="1252728" y="4352544"/>
            <a:ext cx="3017520" cy="658368"/>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引き出して飲んだ分は、引出時の評価額で運用資産から控除</a:t>
            </a:r>
            <a:endParaRPr lang="en-US" sz="1100" dirty="0"/>
          </a:p>
        </p:txBody>
      </p:sp>
      <p:sp>
        <p:nvSpPr>
          <p:cNvPr id="18" name="Text 16"/>
          <p:cNvSpPr txBox="1"/>
          <p:nvPr/>
        </p:nvSpPr>
        <p:spPr>
          <a:xfrm>
            <a:off x="4498848" y="4352544"/>
            <a:ext cx="237744" cy="256032"/>
          </a:xfrm>
          <a:prstGeom prst="rect">
            <a:avLst/>
          </a:prstGeom>
          <a:noFill/>
          <a:ln/>
        </p:spPr>
        <p:txBody>
          <a:bodyPr wrap="square" lIns="0" tIns="0" rIns="0" bIns="0" rtlCol="0" anchor="ctr"/>
          <a:lstStyle/>
          <a:p>
            <a:pPr marL="0" indent="0">
              <a:buNone/>
            </a:pPr>
            <a:r>
              <a:rPr lang="en-US" sz="1200" b="1" dirty="0">
                <a:solidFill>
                  <a:srgbClr val="C9A227"/>
                </a:solidFill>
                <a:latin typeface="Meiryo" pitchFamily="34" charset="0"/>
                <a:ea typeface="Meiryo" pitchFamily="34" charset="-122"/>
                <a:cs typeface="Meiryo" pitchFamily="34" charset="-120"/>
              </a:rPr>
              <a:t>2.</a:t>
            </a:r>
            <a:endParaRPr lang="en-US" sz="1200" dirty="0"/>
          </a:p>
        </p:txBody>
      </p:sp>
      <p:sp>
        <p:nvSpPr>
          <p:cNvPr id="19" name="Text 17"/>
          <p:cNvSpPr txBox="1"/>
          <p:nvPr/>
        </p:nvSpPr>
        <p:spPr>
          <a:xfrm>
            <a:off x="4773168" y="4352544"/>
            <a:ext cx="3017520" cy="658368"/>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翌年の管理手数料とマイル付与は、控除後の残高で計算</a:t>
            </a:r>
            <a:endParaRPr lang="en-US" sz="1100" dirty="0"/>
          </a:p>
        </p:txBody>
      </p:sp>
      <p:sp>
        <p:nvSpPr>
          <p:cNvPr id="20" name="Text 18"/>
          <p:cNvSpPr txBox="1"/>
          <p:nvPr/>
        </p:nvSpPr>
        <p:spPr>
          <a:xfrm>
            <a:off x="8019288" y="4352544"/>
            <a:ext cx="237744" cy="256032"/>
          </a:xfrm>
          <a:prstGeom prst="rect">
            <a:avLst/>
          </a:prstGeom>
          <a:noFill/>
          <a:ln/>
        </p:spPr>
        <p:txBody>
          <a:bodyPr wrap="square" lIns="0" tIns="0" rIns="0" bIns="0" rtlCol="0" anchor="ctr"/>
          <a:lstStyle/>
          <a:p>
            <a:pPr marL="0" indent="0">
              <a:buNone/>
            </a:pPr>
            <a:r>
              <a:rPr lang="en-US" sz="1200" b="1" dirty="0">
                <a:solidFill>
                  <a:srgbClr val="C9A227"/>
                </a:solidFill>
                <a:latin typeface="Meiryo" pitchFamily="34" charset="0"/>
                <a:ea typeface="Meiryo" pitchFamily="34" charset="-122"/>
                <a:cs typeface="Meiryo" pitchFamily="34" charset="-120"/>
              </a:rPr>
              <a:t>3.</a:t>
            </a:r>
            <a:endParaRPr lang="en-US" sz="1200" dirty="0"/>
          </a:p>
        </p:txBody>
      </p:sp>
      <p:sp>
        <p:nvSpPr>
          <p:cNvPr id="21" name="Text 19"/>
          <p:cNvSpPr txBox="1"/>
          <p:nvPr/>
        </p:nvSpPr>
        <p:spPr>
          <a:xfrm>
            <a:off x="8293608" y="4352544"/>
            <a:ext cx="3017520" cy="658368"/>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都度精算はしない。手数料の請求とマイルの付与を、同じ日に一度だけ行う</a:t>
            </a:r>
            <a:endParaRPr lang="en-US" sz="1100" dirty="0"/>
          </a:p>
        </p:txBody>
      </p:sp>
      <p:sp>
        <p:nvSpPr>
          <p:cNvPr id="22" name="Shape 20"/>
          <p:cNvSpPr/>
          <p:nvPr/>
        </p:nvSpPr>
        <p:spPr>
          <a:xfrm>
            <a:off x="566928" y="5266944"/>
            <a:ext cx="11027664" cy="786384"/>
          </a:xfrm>
          <a:prstGeom prst="roundRect">
            <a:avLst>
              <a:gd name="adj" fmla="val 6977"/>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3" name="Text 21"/>
          <p:cNvSpPr txBox="1"/>
          <p:nvPr/>
        </p:nvSpPr>
        <p:spPr>
          <a:xfrm>
            <a:off x="978408" y="5468112"/>
            <a:ext cx="10204704" cy="365760"/>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会員は手続きを意識しません。年1回、手数料が引き落とされ、同じ日に翌年分のマイルが入るだけです。</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MILE DESIGN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マイルは2階建て。貯まり方も2通り。</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保有に対する年次付与と、行動に対する都度付与。後者が「終わらない」の正体です。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5394960" cy="3346704"/>
          </a:xfrm>
          <a:prstGeom prst="roundRect">
            <a:avLst>
              <a:gd name="adj" fmla="val 1639"/>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Text 5"/>
          <p:cNvSpPr txBox="1"/>
          <p:nvPr/>
        </p:nvSpPr>
        <p:spPr>
          <a:xfrm>
            <a:off x="932688" y="1792224"/>
            <a:ext cx="4663440" cy="347472"/>
          </a:xfrm>
          <a:prstGeom prst="rect">
            <a:avLst/>
          </a:prstGeom>
          <a:noFill/>
          <a:ln/>
        </p:spPr>
        <p:txBody>
          <a:bodyPr wrap="square" lIns="0" tIns="0" rIns="0" bIns="0" rtlCol="0" anchor="ctr"/>
          <a:lstStyle/>
          <a:p>
            <a:pPr marL="0" indent="0">
              <a:buNone/>
            </a:pPr>
            <a:r>
              <a:rPr lang="en-US" sz="1900" b="1" dirty="0">
                <a:solidFill>
                  <a:srgbClr val="E8CE78"/>
                </a:solidFill>
                <a:latin typeface="Meiryo" pitchFamily="34" charset="0"/>
                <a:ea typeface="Meiryo" pitchFamily="34" charset="-122"/>
                <a:cs typeface="Meiryo" pitchFamily="34" charset="-120"/>
              </a:rPr>
              <a:t>通常マイル</a:t>
            </a:r>
            <a:endParaRPr lang="en-US" sz="1900" dirty="0"/>
          </a:p>
        </p:txBody>
      </p:sp>
      <p:sp>
        <p:nvSpPr>
          <p:cNvPr id="8" name="Text 6"/>
          <p:cNvSpPr txBox="1"/>
          <p:nvPr/>
        </p:nvSpPr>
        <p:spPr>
          <a:xfrm>
            <a:off x="932688" y="2176272"/>
            <a:ext cx="4663440" cy="274320"/>
          </a:xfrm>
          <a:prstGeom prst="rect">
            <a:avLst/>
          </a:prstGeom>
          <a:noFill/>
          <a:ln/>
        </p:spPr>
        <p:txBody>
          <a:bodyPr wrap="square" lIns="0" tIns="0" rIns="0" bIns="0" rtlCol="0" anchor="ctr"/>
          <a:lstStyle/>
          <a:p>
            <a:pPr marL="0" indent="0">
              <a:buNone/>
            </a:pPr>
            <a:r>
              <a:rPr lang="en-US" sz="1250" b="1" dirty="0">
                <a:solidFill>
                  <a:srgbClr val="A2908C"/>
                </a:solidFill>
                <a:latin typeface="Meiryo" pitchFamily="34" charset="0"/>
                <a:ea typeface="Meiryo" pitchFamily="34" charset="-122"/>
                <a:cs typeface="Meiryo" pitchFamily="34" charset="-120"/>
              </a:rPr>
              <a:t>有効期限 1年</a:t>
            </a:r>
            <a:endParaRPr lang="en-US" sz="1250" dirty="0"/>
          </a:p>
        </p:txBody>
      </p:sp>
      <p:sp>
        <p:nvSpPr>
          <p:cNvPr id="9" name="Text 7"/>
          <p:cNvSpPr txBox="1"/>
          <p:nvPr/>
        </p:nvSpPr>
        <p:spPr>
          <a:xfrm>
            <a:off x="932688" y="2523744"/>
            <a:ext cx="4663440" cy="777240"/>
          </a:xfrm>
          <a:prstGeom prst="rect">
            <a:avLst/>
          </a:prstGeom>
          <a:noFill/>
          <a:ln/>
        </p:spPr>
        <p:txBody>
          <a:bodyPr wrap="square" lIns="0" tIns="0" rIns="0" bIns="0" rtlCol="0" anchor="t"/>
          <a:lstStyle/>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管理手数料に対する無償付与（簿価×4〜6%）</a:t>
            </a:r>
            <a:endParaRPr lang="en-US" sz="1100" dirty="0"/>
          </a:p>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年会費の考え方と同じく、1年サイクル</a:t>
            </a:r>
            <a:endParaRPr lang="en-US" sz="1100" dirty="0"/>
          </a:p>
        </p:txBody>
      </p:sp>
      <p:sp>
        <p:nvSpPr>
          <p:cNvPr id="10" name="Text 8"/>
          <p:cNvSpPr txBox="1"/>
          <p:nvPr/>
        </p:nvSpPr>
        <p:spPr>
          <a:xfrm>
            <a:off x="932688" y="3346704"/>
            <a:ext cx="4663440" cy="237744"/>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使える先</a:t>
            </a:r>
            <a:endParaRPr lang="en-US" sz="1100" dirty="0"/>
          </a:p>
        </p:txBody>
      </p:sp>
      <p:sp>
        <p:nvSpPr>
          <p:cNvPr id="11" name="Text 9"/>
          <p:cNvSpPr txBox="1"/>
          <p:nvPr/>
        </p:nvSpPr>
        <p:spPr>
          <a:xfrm>
            <a:off x="932688" y="3639312"/>
            <a:ext cx="4663440" cy="1280160"/>
          </a:xfrm>
          <a:prstGeom prst="rect">
            <a:avLst/>
          </a:prstGeom>
          <a:noFill/>
          <a:ln/>
        </p:spPr>
        <p:txBody>
          <a:bodyPr wrap="square" lIns="0" tIns="0" rIns="0" bIns="0" rtlCol="0" anchor="t"/>
          <a:lstStyle/>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会食・贈答</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WineBank CLUB充当</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ワイナート年間購読</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ワイン追加購入（上限あり）</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オークション成約手数料</a:t>
            </a:r>
            <a:endParaRPr lang="en-US" sz="1100" dirty="0"/>
          </a:p>
        </p:txBody>
      </p:sp>
      <p:sp>
        <p:nvSpPr>
          <p:cNvPr id="12" name="Shape 10"/>
          <p:cNvSpPr/>
          <p:nvPr/>
        </p:nvSpPr>
        <p:spPr>
          <a:xfrm>
            <a:off x="6199632" y="1627632"/>
            <a:ext cx="5394960" cy="3346704"/>
          </a:xfrm>
          <a:prstGeom prst="roundRect">
            <a:avLst>
              <a:gd name="adj" fmla="val 1639"/>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3" name="Text 11"/>
          <p:cNvSpPr txBox="1"/>
          <p:nvPr/>
        </p:nvSpPr>
        <p:spPr>
          <a:xfrm>
            <a:off x="6565392" y="1792224"/>
            <a:ext cx="4663440" cy="347472"/>
          </a:xfrm>
          <a:prstGeom prst="rect">
            <a:avLst/>
          </a:prstGeom>
          <a:noFill/>
          <a:ln/>
        </p:spPr>
        <p:txBody>
          <a:bodyPr wrap="square" lIns="0" tIns="0" rIns="0" bIns="0" rtlCol="0" anchor="ctr"/>
          <a:lstStyle/>
          <a:p>
            <a:pPr marL="0" indent="0">
              <a:buNone/>
            </a:pPr>
            <a:r>
              <a:rPr lang="en-US" sz="1900" b="1" dirty="0">
                <a:solidFill>
                  <a:srgbClr val="C9A227"/>
                </a:solidFill>
                <a:latin typeface="Meiryo" pitchFamily="34" charset="0"/>
                <a:ea typeface="Meiryo" pitchFamily="34" charset="-122"/>
                <a:cs typeface="Meiryo" pitchFamily="34" charset="-120"/>
              </a:rPr>
              <a:t>限定マイル</a:t>
            </a:r>
            <a:endParaRPr lang="en-US" sz="1900" dirty="0"/>
          </a:p>
        </p:txBody>
      </p:sp>
      <p:sp>
        <p:nvSpPr>
          <p:cNvPr id="14" name="Text 12"/>
          <p:cNvSpPr txBox="1"/>
          <p:nvPr/>
        </p:nvSpPr>
        <p:spPr>
          <a:xfrm>
            <a:off x="6565392" y="2176272"/>
            <a:ext cx="4663440" cy="274320"/>
          </a:xfrm>
          <a:prstGeom prst="rect">
            <a:avLst/>
          </a:prstGeom>
          <a:noFill/>
          <a:ln/>
        </p:spPr>
        <p:txBody>
          <a:bodyPr wrap="square" lIns="0" tIns="0" rIns="0" bIns="0" rtlCol="0" anchor="ctr"/>
          <a:lstStyle/>
          <a:p>
            <a:pPr marL="0" indent="0">
              <a:buNone/>
            </a:pPr>
            <a:r>
              <a:rPr lang="en-US" sz="1250" b="1" dirty="0">
                <a:solidFill>
                  <a:srgbClr val="A2908C"/>
                </a:solidFill>
                <a:latin typeface="Meiryo" pitchFamily="34" charset="0"/>
                <a:ea typeface="Meiryo" pitchFamily="34" charset="-122"/>
                <a:cs typeface="Meiryo" pitchFamily="34" charset="-120"/>
              </a:rPr>
              <a:t>有効期限 3〜6ヶ月</a:t>
            </a:r>
            <a:endParaRPr lang="en-US" sz="1250" dirty="0"/>
          </a:p>
        </p:txBody>
      </p:sp>
      <p:sp>
        <p:nvSpPr>
          <p:cNvPr id="15" name="Text 13"/>
          <p:cNvSpPr txBox="1"/>
          <p:nvPr/>
        </p:nvSpPr>
        <p:spPr>
          <a:xfrm>
            <a:off x="6565392" y="2523744"/>
            <a:ext cx="4663440" cy="777240"/>
          </a:xfrm>
          <a:prstGeom prst="rect">
            <a:avLst/>
          </a:prstGeom>
          <a:noFill/>
          <a:ln/>
        </p:spPr>
        <p:txBody>
          <a:bodyPr wrap="square" lIns="0" tIns="0" rIns="0" bIns="0" rtlCol="0" anchor="t"/>
          <a:lstStyle/>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行動に対する都度付与（落札・出品・会食・イベント・スクール受講）</a:t>
            </a:r>
            <a:endParaRPr lang="en-US" sz="1100" dirty="0"/>
          </a:p>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短い期限が、次の行動を呼ぶ</a:t>
            </a:r>
            <a:endParaRPr lang="en-US" sz="1100" dirty="0"/>
          </a:p>
        </p:txBody>
      </p:sp>
      <p:sp>
        <p:nvSpPr>
          <p:cNvPr id="16" name="Text 14"/>
          <p:cNvSpPr txBox="1"/>
          <p:nvPr/>
        </p:nvSpPr>
        <p:spPr>
          <a:xfrm>
            <a:off x="6565392" y="3346704"/>
            <a:ext cx="4663440" cy="237744"/>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使える先</a:t>
            </a:r>
            <a:endParaRPr lang="en-US" sz="1100" dirty="0"/>
          </a:p>
        </p:txBody>
      </p:sp>
      <p:sp>
        <p:nvSpPr>
          <p:cNvPr id="17" name="Text 15"/>
          <p:cNvSpPr txBox="1"/>
          <p:nvPr/>
        </p:nvSpPr>
        <p:spPr>
          <a:xfrm>
            <a:off x="6565392" y="3639312"/>
            <a:ext cx="4663440" cy="1280160"/>
          </a:xfrm>
          <a:prstGeom prst="rect">
            <a:avLst/>
          </a:prstGeom>
          <a:noFill/>
          <a:ln/>
        </p:spPr>
        <p:txBody>
          <a:bodyPr wrap="square" lIns="0" tIns="0" rIns="0" bIns="0" rtlCol="0" anchor="t"/>
          <a:lstStyle/>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オークション・マーケットプレイス</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ワインスクール受講料</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ワイン関連の購入</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※飲食は会計を追えないため対象外</a:t>
            </a:r>
            <a:endParaRPr lang="en-US" sz="1100" dirty="0"/>
          </a:p>
        </p:txBody>
      </p:sp>
      <p:sp>
        <p:nvSpPr>
          <p:cNvPr id="18" name="Shape 16"/>
          <p:cNvSpPr/>
          <p:nvPr/>
        </p:nvSpPr>
        <p:spPr>
          <a:xfrm>
            <a:off x="566928" y="5120640"/>
            <a:ext cx="11027664" cy="932688"/>
          </a:xfrm>
          <a:prstGeom prst="roundRect">
            <a:avLst>
              <a:gd name="adj" fmla="val 5882"/>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19" name="Text 17"/>
          <p:cNvSpPr txBox="1"/>
          <p:nvPr/>
        </p:nvSpPr>
        <p:spPr>
          <a:xfrm>
            <a:off x="978408" y="5303520"/>
            <a:ext cx="10204704" cy="365760"/>
          </a:xfrm>
          <a:prstGeom prst="rect">
            <a:avLst/>
          </a:prstGeom>
          <a:noFill/>
          <a:ln/>
        </p:spPr>
        <p:txBody>
          <a:bodyPr wrap="square" lIns="0" tIns="0" rIns="0" bIns="0" rtlCol="0" anchor="ctr"/>
          <a:lstStyle/>
          <a:p>
            <a:pPr marL="0" indent="0">
              <a:buNone/>
            </a:pPr>
            <a:r>
              <a:rPr lang="en-US" sz="1700" b="1" dirty="0">
                <a:solidFill>
                  <a:srgbClr val="E8CE78"/>
                </a:solidFill>
                <a:latin typeface="Meiryo" pitchFamily="34" charset="0"/>
                <a:ea typeface="Meiryo" pitchFamily="34" charset="-122"/>
                <a:cs typeface="Meiryo" pitchFamily="34" charset="-120"/>
              </a:rPr>
              <a:t>落札しても、出品しても、会食しても、イベントに出ても、マイルが入る。</a:t>
            </a:r>
            <a:endParaRPr lang="en-US" sz="1700" dirty="0"/>
          </a:p>
        </p:txBody>
      </p:sp>
      <p:sp>
        <p:nvSpPr>
          <p:cNvPr id="20" name="Text 18"/>
          <p:cNvSpPr txBox="1"/>
          <p:nvPr/>
        </p:nvSpPr>
        <p:spPr>
          <a:xfrm>
            <a:off x="978408" y="5687568"/>
            <a:ext cx="10204704" cy="310896"/>
          </a:xfrm>
          <a:prstGeom prst="rect">
            <a:avLst/>
          </a:prstGeom>
          <a:noFill/>
          <a:ln/>
        </p:spPr>
        <p:txBody>
          <a:bodyPr wrap="square" lIns="0" tIns="0" rIns="0" bIns="0" rtlCol="0" anchor="ctr"/>
          <a:lstStyle/>
          <a:p>
            <a:pPr marL="0" indent="0">
              <a:buNone/>
            </a:pPr>
            <a:r>
              <a:rPr lang="en-US" sz="1250" dirty="0">
                <a:solidFill>
                  <a:srgbClr val="F2EDE6"/>
                </a:solidFill>
                <a:latin typeface="Meiryo" pitchFamily="34" charset="0"/>
                <a:ea typeface="Meiryo" pitchFamily="34" charset="-122"/>
                <a:cs typeface="Meiryo" pitchFamily="34" charset="-120"/>
              </a:rPr>
              <a:t>だから残高を使い切っても、翌週にはまた増えている。これが「終わらない」の仕組みです。</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REDEMPTION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交換先マップ：村を1つにしない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楽天の凄さは、ポイントを楽天市場という1つの村に閉じ込めなかったことでした。</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27664" cy="3255264"/>
        </p:xfrm>
        <a:graphic>
          <a:graphicData uri="http://schemas.openxmlformats.org/drawingml/2006/table">
            <a:tbl>
              <a:tblPr/>
              <a:tblGrid>
                <a:gridCol w="4114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426464">
                  <a:extLst>
                    <a:ext uri="{9D8B030D-6E8A-4147-A177-3AD203B41FA5}">
                      <a16:colId xmlns:a16="http://schemas.microsoft.com/office/drawing/2014/main" val="20004"/>
                    </a:ext>
                  </a:extLst>
                </a:gridCol>
              </a:tblGrid>
              <a:tr h="329184">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交換先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レート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上限</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当社の連結コスト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判定</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292608">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系列レストランでの会食</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実原価 30%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292608">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グランメゾン（全ランク共通）</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実原価 30%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extLst>
                  <a:ext uri="{0D108BD9-81ED-4DB2-BD59-A6C34878D82A}">
                    <a16:rowId xmlns:a16="http://schemas.microsoft.com/office/drawing/2014/main" val="10002"/>
                  </a:ext>
                </a:extLst>
              </a:tr>
              <a:tr h="292608">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WineBank CLUB 会費充当</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下記※</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ほぼゼロ</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r h="292608">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ワイナート 年間購読</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購読実費</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4"/>
                  </a:ext>
                </a:extLst>
              </a:tr>
              <a:tr h="292608">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ワインスクール受講料</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講師・会場費</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5"/>
                  </a:ext>
                </a:extLst>
              </a:tr>
              <a:tr h="292608">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会員交流イベント参加費</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ほぼゼロ</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6"/>
                  </a:ext>
                </a:extLst>
              </a:tr>
              <a:tr h="292608">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マーケットプレイス／オークション</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ゼロ</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7"/>
                  </a:ext>
                </a:extLst>
              </a:tr>
              <a:tr h="292608">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ワインの追加購入・贈答</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年間付与の20%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原価 75〜85%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上限必須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8"/>
                  </a:ext>
                </a:extLst>
              </a:tr>
              <a:tr h="292608">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配送料</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要設定</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実費</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上限必須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9"/>
                  </a:ext>
                </a:extLst>
              </a:tr>
              <a:tr h="292608">
                <a:tc>
                  <a:txBody>
                    <a:bodyPr/>
                    <a:lstStyle/>
                    <a:p>
                      <a:pPr marL="0" indent="0" algn="l">
                        <a:buNone/>
                      </a:pPr>
                      <a:r>
                        <a:rPr lang="en-US" sz="1100" dirty="0">
                          <a:solidFill>
                            <a:srgbClr val="F2EDE6"/>
                          </a:solidFill>
                          <a:latin typeface="Meiryo" pitchFamily="34" charset="0"/>
                          <a:ea typeface="Meiryo" pitchFamily="34" charset="-122"/>
                          <a:cs typeface="Meiryo" pitchFamily="34" charset="-120"/>
                        </a:rPr>
                        <a:t>ワイン関連の一般サービス</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要設定</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真水（現金）</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E0A458"/>
                          </a:solidFill>
                          <a:latin typeface="Meiryo" pitchFamily="34" charset="0"/>
                          <a:ea typeface="Meiryo" pitchFamily="34" charset="-122"/>
                          <a:cs typeface="Meiryo" pitchFamily="34" charset="-120"/>
                        </a:rPr>
                        <a:t>要検討</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10"/>
                  </a:ext>
                </a:extLst>
              </a:tr>
            </a:tbl>
          </a:graphicData>
        </a:graphic>
      </p:graphicFrame>
      <p:sp>
        <p:nvSpPr>
          <p:cNvPr id="7" name="Shape 4"/>
          <p:cNvSpPr/>
          <p:nvPr/>
        </p:nvSpPr>
        <p:spPr>
          <a:xfrm>
            <a:off x="566928" y="4992624"/>
            <a:ext cx="5394960" cy="1060704"/>
          </a:xfrm>
          <a:prstGeom prst="roundRect">
            <a:avLst>
              <a:gd name="adj" fmla="val 5172"/>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8" name="Text 5"/>
          <p:cNvSpPr txBox="1"/>
          <p:nvPr/>
        </p:nvSpPr>
        <p:spPr>
          <a:xfrm>
            <a:off x="932688" y="5102352"/>
            <a:ext cx="4663440" cy="256032"/>
          </a:xfrm>
          <a:prstGeom prst="rect">
            <a:avLst/>
          </a:prstGeom>
          <a:noFill/>
          <a:ln/>
        </p:spPr>
        <p:txBody>
          <a:bodyPr wrap="square" lIns="0" tIns="0" rIns="0" bIns="0" rtlCol="0" anchor="ctr"/>
          <a:lstStyle/>
          <a:p>
            <a:pPr marL="0" indent="0">
              <a:buNone/>
            </a:pPr>
            <a:r>
              <a:rPr lang="en-US" sz="1300" b="1" dirty="0">
                <a:solidFill>
                  <a:srgbClr val="E8CE78"/>
                </a:solidFill>
                <a:latin typeface="Meiryo" pitchFamily="34" charset="0"/>
                <a:ea typeface="Meiryo" pitchFamily="34" charset="-122"/>
                <a:cs typeface="Meiryo" pitchFamily="34" charset="-120"/>
              </a:rPr>
              <a:t>WineBank CLUB への充当ルール</a:t>
            </a:r>
            <a:endParaRPr lang="en-US" sz="1300" dirty="0"/>
          </a:p>
        </p:txBody>
      </p:sp>
      <p:sp>
        <p:nvSpPr>
          <p:cNvPr id="9" name="Text 6"/>
          <p:cNvSpPr txBox="1"/>
          <p:nvPr/>
        </p:nvSpPr>
        <p:spPr>
          <a:xfrm>
            <a:off x="932688" y="5376672"/>
            <a:ext cx="4663440" cy="585216"/>
          </a:xfrm>
          <a:prstGeom prst="rect">
            <a:avLst/>
          </a:prstGeom>
          <a:noFill/>
          <a:ln/>
        </p:spPr>
        <p:txBody>
          <a:bodyPr wrap="square" lIns="0" tIns="0" rIns="0" bIns="0" rtlCol="0" anchor="ctr"/>
          <a:lstStyle/>
          <a:p>
            <a:pPr marL="0" indent="0">
              <a:lnSpc>
                <a:spcPts val="1400"/>
              </a:lnSpc>
              <a:buNone/>
            </a:pPr>
            <a:r>
              <a:rPr lang="en-US" sz="1000" dirty="0">
                <a:solidFill>
                  <a:srgbClr val="A2908C"/>
                </a:solidFill>
                <a:latin typeface="Meiryo" pitchFamily="34" charset="0"/>
                <a:ea typeface="Meiryo" pitchFamily="34" charset="-122"/>
                <a:cs typeface="Meiryo" pitchFamily="34" charset="-120"/>
              </a:rPr>
              <a:t>100万・500万会員はマイル充当による単月利用のみ可。未利用時の特典をワイン購入代金へ振り替えることはできません。</a:t>
            </a:r>
            <a:endParaRPr lang="en-US" sz="1000" dirty="0"/>
          </a:p>
        </p:txBody>
      </p:sp>
      <p:sp>
        <p:nvSpPr>
          <p:cNvPr id="10" name="Shape 7"/>
          <p:cNvSpPr/>
          <p:nvPr/>
        </p:nvSpPr>
        <p:spPr>
          <a:xfrm>
            <a:off x="6199632" y="4992624"/>
            <a:ext cx="5394960" cy="1060704"/>
          </a:xfrm>
          <a:prstGeom prst="roundRect">
            <a:avLst>
              <a:gd name="adj" fmla="val 5172"/>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11" name="Text 8"/>
          <p:cNvSpPr txBox="1"/>
          <p:nvPr/>
        </p:nvSpPr>
        <p:spPr>
          <a:xfrm>
            <a:off x="6565392" y="5102352"/>
            <a:ext cx="4663440" cy="256032"/>
          </a:xfrm>
          <a:prstGeom prst="rect">
            <a:avLst/>
          </a:prstGeom>
          <a:noFill/>
          <a:ln/>
        </p:spPr>
        <p:txBody>
          <a:bodyPr wrap="square" lIns="0" tIns="0" rIns="0" bIns="0" rtlCol="0" anchor="ctr"/>
          <a:lstStyle/>
          <a:p>
            <a:pPr marL="0" indent="0">
              <a:buNone/>
            </a:pPr>
            <a:r>
              <a:rPr lang="en-US" sz="1300" b="1" dirty="0">
                <a:solidFill>
                  <a:srgbClr val="E8CE78"/>
                </a:solidFill>
                <a:latin typeface="Meiryo" pitchFamily="34" charset="0"/>
                <a:ea typeface="Meiryo" pitchFamily="34" charset="-122"/>
                <a:cs typeface="Meiryo" pitchFamily="34" charset="-120"/>
              </a:rPr>
              <a:t>一般サービス 0.5円は、比較させるための設計です</a:t>
            </a:r>
            <a:endParaRPr lang="en-US" sz="1300" dirty="0"/>
          </a:p>
        </p:txBody>
      </p:sp>
      <p:sp>
        <p:nvSpPr>
          <p:cNvPr id="12" name="Text 9"/>
          <p:cNvSpPr txBox="1"/>
          <p:nvPr/>
        </p:nvSpPr>
        <p:spPr>
          <a:xfrm>
            <a:off x="6565392" y="5376672"/>
            <a:ext cx="4663440" cy="585216"/>
          </a:xfrm>
          <a:prstGeom prst="rect">
            <a:avLst/>
          </a:prstGeom>
          <a:noFill/>
          <a:ln/>
        </p:spPr>
        <p:txBody>
          <a:bodyPr wrap="square" lIns="0" tIns="0" rIns="0" bIns="0" rtlCol="0" anchor="ctr"/>
          <a:lstStyle/>
          <a:p>
            <a:pPr marL="0" indent="0">
              <a:lnSpc>
                <a:spcPts val="1400"/>
              </a:lnSpc>
              <a:buNone/>
            </a:pPr>
            <a:r>
              <a:rPr lang="en-US" sz="1000" dirty="0">
                <a:solidFill>
                  <a:srgbClr val="F2EDE6"/>
                </a:solidFill>
                <a:latin typeface="Meiryo" pitchFamily="34" charset="0"/>
                <a:ea typeface="Meiryo" pitchFamily="34" charset="-122"/>
                <a:cs typeface="Meiryo" pitchFamily="34" charset="-120"/>
              </a:rPr>
              <a:t>外に出せば必ず不利になる。会員は一度比べたうえで「ワインのことなら、WineBankの中が一番得だ」と自分で気づきます。</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RATE POLICY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レート設計：シンプルに、そして繁忙期は守る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グランメゾンは全ランク共通の0.5円。ランクで差をつけるのは、レートではなく情報です。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5394960" cy="1499616"/>
          </a:xfrm>
          <a:prstGeom prst="roundRect">
            <a:avLst>
              <a:gd name="adj" fmla="val 3659"/>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Shape 5"/>
          <p:cNvSpPr/>
          <p:nvPr/>
        </p:nvSpPr>
        <p:spPr>
          <a:xfrm>
            <a:off x="859536" y="188366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8366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01952"/>
            <a:ext cx="4389120" cy="292608"/>
          </a:xfrm>
          <a:prstGeom prst="rect">
            <a:avLst/>
          </a:prstGeom>
          <a:noFill/>
          <a:ln/>
        </p:spPr>
        <p:txBody>
          <a:bodyPr wrap="square" lIns="0" tIns="0" rIns="0" bIns="0" rtlCol="0" anchor="ctr"/>
          <a:lstStyle/>
          <a:p>
            <a:pPr marL="0" indent="0">
              <a:buNone/>
            </a:pPr>
            <a:r>
              <a:rPr lang="en-US" sz="1450" b="1" dirty="0">
                <a:solidFill>
                  <a:srgbClr val="E8CE78"/>
                </a:solidFill>
                <a:latin typeface="Meiryo" pitchFamily="34" charset="0"/>
                <a:ea typeface="Meiryo" pitchFamily="34" charset="-122"/>
                <a:cs typeface="Meiryo" pitchFamily="34" charset="-120"/>
              </a:rPr>
              <a:t>グランメゾンは 0.5円で固定</a:t>
            </a:r>
            <a:endParaRPr lang="en-US" sz="1450" dirty="0"/>
          </a:p>
        </p:txBody>
      </p:sp>
      <p:sp>
        <p:nvSpPr>
          <p:cNvPr id="10" name="Text 8"/>
          <p:cNvSpPr txBox="1"/>
          <p:nvPr/>
        </p:nvSpPr>
        <p:spPr>
          <a:xfrm>
            <a:off x="859536" y="2322576"/>
            <a:ext cx="4809744" cy="749808"/>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ランクによる差はつけません。席の機会費用が高く、定価で埋まる枠を1:1で割り引くとイールドが壊れるためです。「憧れの席に交換できる」こと自体が商品であり、マイルと同じ構造です。</a:t>
            </a:r>
            <a:endParaRPr lang="en-US" sz="1100" dirty="0"/>
          </a:p>
        </p:txBody>
      </p:sp>
      <p:sp>
        <p:nvSpPr>
          <p:cNvPr id="11" name="Shape 9"/>
          <p:cNvSpPr/>
          <p:nvPr/>
        </p:nvSpPr>
        <p:spPr>
          <a:xfrm>
            <a:off x="6199632" y="1664208"/>
            <a:ext cx="5394960" cy="1499616"/>
          </a:xfrm>
          <a:prstGeom prst="roundRect">
            <a:avLst>
              <a:gd name="adj" fmla="val 3659"/>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2" name="Shape 10"/>
          <p:cNvSpPr/>
          <p:nvPr/>
        </p:nvSpPr>
        <p:spPr>
          <a:xfrm>
            <a:off x="6492240" y="1883664"/>
            <a:ext cx="329184" cy="329184"/>
          </a:xfrm>
          <a:prstGeom prst="ellipse">
            <a:avLst/>
          </a:prstGeom>
          <a:solidFill>
            <a:srgbClr val="C9A227"/>
          </a:solidFill>
          <a:ln w="12700">
            <a:solidFill>
              <a:srgbClr val="C9A227"/>
            </a:solidFill>
            <a:prstDash val="solid"/>
          </a:ln>
        </p:spPr>
      </p:sp>
      <p:sp>
        <p:nvSpPr>
          <p:cNvPr id="13" name="Text 11"/>
          <p:cNvSpPr txBox="1"/>
          <p:nvPr/>
        </p:nvSpPr>
        <p:spPr>
          <a:xfrm>
            <a:off x="6492240" y="188366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6931152" y="1901952"/>
            <a:ext cx="4389120" cy="292608"/>
          </a:xfrm>
          <a:prstGeom prst="rect">
            <a:avLst/>
          </a:prstGeom>
          <a:noFill/>
          <a:ln/>
        </p:spPr>
        <p:txBody>
          <a:bodyPr wrap="square" lIns="0" tIns="0" rIns="0" bIns="0" rtlCol="0" anchor="ctr"/>
          <a:lstStyle/>
          <a:p>
            <a:pPr marL="0" indent="0">
              <a:buNone/>
            </a:pPr>
            <a:r>
              <a:rPr lang="en-US" sz="1450" b="1" dirty="0">
                <a:solidFill>
                  <a:srgbClr val="E8CE78"/>
                </a:solidFill>
                <a:latin typeface="Meiryo" pitchFamily="34" charset="0"/>
                <a:ea typeface="Meiryo" pitchFamily="34" charset="-122"/>
                <a:cs typeface="Meiryo" pitchFamily="34" charset="-120"/>
              </a:rPr>
              <a:t>ランチとディナーは同一レート</a:t>
            </a:r>
            <a:endParaRPr lang="en-US" sz="1450" dirty="0"/>
          </a:p>
        </p:txBody>
      </p:sp>
      <p:sp>
        <p:nvSpPr>
          <p:cNvPr id="15" name="Text 13"/>
          <p:cNvSpPr txBox="1"/>
          <p:nvPr/>
        </p:nvSpPr>
        <p:spPr>
          <a:xfrm>
            <a:off x="6492240" y="2322576"/>
            <a:ext cx="4809744" cy="749808"/>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時間帯で刻む運用は現場が混乱します。オペレーションを優先し、同一に揃えます。</a:t>
            </a:r>
            <a:endParaRPr lang="en-US" sz="1100" dirty="0"/>
          </a:p>
        </p:txBody>
      </p:sp>
      <p:sp>
        <p:nvSpPr>
          <p:cNvPr id="16" name="Shape 14"/>
          <p:cNvSpPr/>
          <p:nvPr/>
        </p:nvSpPr>
        <p:spPr>
          <a:xfrm>
            <a:off x="566928" y="3364992"/>
            <a:ext cx="5394960" cy="1499616"/>
          </a:xfrm>
          <a:prstGeom prst="roundRect">
            <a:avLst>
              <a:gd name="adj" fmla="val 3659"/>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7" name="Shape 15"/>
          <p:cNvSpPr/>
          <p:nvPr/>
        </p:nvSpPr>
        <p:spPr>
          <a:xfrm>
            <a:off x="859536" y="3584448"/>
            <a:ext cx="329184" cy="329184"/>
          </a:xfrm>
          <a:prstGeom prst="ellipse">
            <a:avLst/>
          </a:prstGeom>
          <a:solidFill>
            <a:srgbClr val="C9A227"/>
          </a:solidFill>
          <a:ln w="12700">
            <a:solidFill>
              <a:srgbClr val="C9A227"/>
            </a:solidFill>
            <a:prstDash val="solid"/>
          </a:ln>
        </p:spPr>
      </p:sp>
      <p:sp>
        <p:nvSpPr>
          <p:cNvPr id="18" name="Text 16"/>
          <p:cNvSpPr txBox="1"/>
          <p:nvPr/>
        </p:nvSpPr>
        <p:spPr>
          <a:xfrm>
            <a:off x="859536" y="358444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298448" y="3602736"/>
            <a:ext cx="4389120" cy="292608"/>
          </a:xfrm>
          <a:prstGeom prst="rect">
            <a:avLst/>
          </a:prstGeom>
          <a:noFill/>
          <a:ln/>
        </p:spPr>
        <p:txBody>
          <a:bodyPr wrap="square" lIns="0" tIns="0" rIns="0" bIns="0" rtlCol="0" anchor="ctr"/>
          <a:lstStyle/>
          <a:p>
            <a:pPr marL="0" indent="0">
              <a:buNone/>
            </a:pPr>
            <a:r>
              <a:rPr lang="en-US" sz="1450" b="1" dirty="0">
                <a:solidFill>
                  <a:srgbClr val="E8CE78"/>
                </a:solidFill>
                <a:latin typeface="Meiryo" pitchFamily="34" charset="0"/>
                <a:ea typeface="Meiryo" pitchFamily="34" charset="-122"/>
                <a:cs typeface="Meiryo" pitchFamily="34" charset="-120"/>
              </a:rPr>
              <a:t>イベント時期は利用不可</a:t>
            </a:r>
            <a:endParaRPr lang="en-US" sz="1450" dirty="0"/>
          </a:p>
        </p:txBody>
      </p:sp>
      <p:sp>
        <p:nvSpPr>
          <p:cNvPr id="20" name="Text 18"/>
          <p:cNvSpPr txBox="1"/>
          <p:nvPr/>
        </p:nvSpPr>
        <p:spPr>
          <a:xfrm>
            <a:off x="859536" y="4023360"/>
            <a:ext cx="4809744" cy="749808"/>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クリスマス、バレンタイン、およびそれに準ずる週末。満席が確実に見込める日にマイル利用枠を空けておく必要はありません。</a:t>
            </a:r>
            <a:endParaRPr lang="en-US" sz="1100" dirty="0"/>
          </a:p>
        </p:txBody>
      </p:sp>
      <p:sp>
        <p:nvSpPr>
          <p:cNvPr id="21" name="Shape 19"/>
          <p:cNvSpPr/>
          <p:nvPr/>
        </p:nvSpPr>
        <p:spPr>
          <a:xfrm>
            <a:off x="6199632" y="3364992"/>
            <a:ext cx="5394960" cy="1499616"/>
          </a:xfrm>
          <a:prstGeom prst="roundRect">
            <a:avLst>
              <a:gd name="adj" fmla="val 3659"/>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22" name="Shape 20"/>
          <p:cNvSpPr/>
          <p:nvPr/>
        </p:nvSpPr>
        <p:spPr>
          <a:xfrm>
            <a:off x="6492240" y="3584448"/>
            <a:ext cx="329184" cy="329184"/>
          </a:xfrm>
          <a:prstGeom prst="ellipse">
            <a:avLst/>
          </a:prstGeom>
          <a:solidFill>
            <a:srgbClr val="C9A227"/>
          </a:solidFill>
          <a:ln w="12700">
            <a:solidFill>
              <a:srgbClr val="C9A227"/>
            </a:solidFill>
            <a:prstDash val="solid"/>
          </a:ln>
        </p:spPr>
      </p:sp>
      <p:sp>
        <p:nvSpPr>
          <p:cNvPr id="23" name="Text 21"/>
          <p:cNvSpPr txBox="1"/>
          <p:nvPr/>
        </p:nvSpPr>
        <p:spPr>
          <a:xfrm>
            <a:off x="6492240" y="358444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6931152" y="3602736"/>
            <a:ext cx="4389120" cy="292608"/>
          </a:xfrm>
          <a:prstGeom prst="rect">
            <a:avLst/>
          </a:prstGeom>
          <a:noFill/>
          <a:ln/>
        </p:spPr>
        <p:txBody>
          <a:bodyPr wrap="square" lIns="0" tIns="0" rIns="0" bIns="0" rtlCol="0" anchor="ctr"/>
          <a:lstStyle/>
          <a:p>
            <a:pPr marL="0" indent="0">
              <a:buNone/>
            </a:pPr>
            <a:r>
              <a:rPr lang="en-US" sz="1450" b="1" dirty="0">
                <a:solidFill>
                  <a:srgbClr val="E8CE78"/>
                </a:solidFill>
                <a:latin typeface="Meiryo" pitchFamily="34" charset="0"/>
                <a:ea typeface="Meiryo" pitchFamily="34" charset="-122"/>
                <a:cs typeface="Meiryo" pitchFamily="34" charset="-120"/>
              </a:rPr>
              <a:t>系列店外は 0.75円（要検討）</a:t>
            </a:r>
            <a:endParaRPr lang="en-US" sz="1450" dirty="0"/>
          </a:p>
        </p:txBody>
      </p:sp>
      <p:sp>
        <p:nvSpPr>
          <p:cNvPr id="25" name="Text 23"/>
          <p:cNvSpPr txBox="1"/>
          <p:nvPr/>
        </p:nvSpPr>
        <p:spPr>
          <a:xfrm>
            <a:off x="6492240" y="4023360"/>
            <a:ext cx="4809744" cy="749808"/>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真水の現金流出になるため、レートを割り引いたうえで年間上限を設けます。楽天やマイレージの外部提携レートを参照して確定します。</a:t>
            </a:r>
            <a:endParaRPr lang="en-US" sz="1100" dirty="0"/>
          </a:p>
        </p:txBody>
      </p:sp>
      <p:sp>
        <p:nvSpPr>
          <p:cNvPr id="26" name="Shape 24"/>
          <p:cNvSpPr/>
          <p:nvPr/>
        </p:nvSpPr>
        <p:spPr>
          <a:xfrm>
            <a:off x="566928" y="5120640"/>
            <a:ext cx="11027664" cy="932688"/>
          </a:xfrm>
          <a:prstGeom prst="roundRect">
            <a:avLst>
              <a:gd name="adj" fmla="val 5882"/>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7" name="Text 25"/>
          <p:cNvSpPr txBox="1"/>
          <p:nvPr/>
        </p:nvSpPr>
        <p:spPr>
          <a:xfrm>
            <a:off x="978408" y="5303520"/>
            <a:ext cx="10204704" cy="347472"/>
          </a:xfrm>
          <a:prstGeom prst="rect">
            <a:avLst/>
          </a:prstGeom>
          <a:noFill/>
          <a:ln/>
        </p:spPr>
        <p:txBody>
          <a:bodyPr wrap="square" lIns="0" tIns="0" rIns="0" bIns="0" rtlCol="0" anchor="ctr"/>
          <a:lstStyle/>
          <a:p>
            <a:pPr marL="0" indent="0">
              <a:buNone/>
            </a:pPr>
            <a:r>
              <a:rPr lang="en-US" sz="1700" b="1" dirty="0">
                <a:solidFill>
                  <a:srgbClr val="E8CE78"/>
                </a:solidFill>
                <a:latin typeface="Meiryo" pitchFamily="34" charset="0"/>
                <a:ea typeface="Meiryo" pitchFamily="34" charset="-122"/>
                <a:cs typeface="Meiryo" pitchFamily="34" charset="-120"/>
              </a:rPr>
              <a:t>ランクで差をつけるのは、レートではなく「未公開ワインの情報」です。</a:t>
            </a:r>
            <a:endParaRPr lang="en-US" sz="1700" dirty="0"/>
          </a:p>
        </p:txBody>
      </p:sp>
      <p:sp>
        <p:nvSpPr>
          <p:cNvPr id="28" name="Text 26"/>
          <p:cNvSpPr txBox="1"/>
          <p:nvPr/>
        </p:nvSpPr>
        <p:spPr>
          <a:xfrm>
            <a:off x="978408" y="5687568"/>
            <a:ext cx="10204704" cy="292608"/>
          </a:xfrm>
          <a:prstGeom prst="rect">
            <a:avLst/>
          </a:prstGeom>
          <a:noFill/>
          <a:ln/>
        </p:spPr>
        <p:txBody>
          <a:bodyPr wrap="square" lIns="0" tIns="0" rIns="0" bIns="0" rtlCol="0" anchor="ctr"/>
          <a:lstStyle/>
          <a:p>
            <a:pPr marL="0" indent="0">
              <a:buNone/>
            </a:pPr>
            <a:r>
              <a:rPr lang="en-US" sz="1200" dirty="0">
                <a:solidFill>
                  <a:srgbClr val="F2EDE6"/>
                </a:solidFill>
                <a:latin typeface="Meiryo" pitchFamily="34" charset="0"/>
                <a:ea typeface="Meiryo" pitchFamily="34" charset="-122"/>
                <a:cs typeface="Meiryo" pitchFamily="34" charset="-120"/>
              </a:rPr>
              <a:t>上位会員には、市場に出る前の割当情報を先に届ける。原価はかからず、しかも交換レートを刻むより遥かに効きます。</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MEMBERSHIP</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新・会員制度（差し替え案）</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手数料は2.75%で統一。ランク差は還元率と、届く情報に寄せます。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410804031"/>
              </p:ext>
            </p:extLst>
          </p:nvPr>
        </p:nvGraphicFramePr>
        <p:xfrm>
          <a:off x="566928" y="1645920"/>
          <a:ext cx="11027664" cy="3090672"/>
        </p:xfrm>
        <a:graphic>
          <a:graphicData uri="http://schemas.openxmlformats.org/drawingml/2006/table">
            <a:tbl>
              <a:tblPr/>
              <a:tblGrid>
                <a:gridCol w="3017520">
                  <a:extLst>
                    <a:ext uri="{9D8B030D-6E8A-4147-A177-3AD203B41FA5}">
                      <a16:colId xmlns:a16="http://schemas.microsoft.com/office/drawing/2014/main" val="20000"/>
                    </a:ext>
                  </a:extLst>
                </a:gridCol>
                <a:gridCol w="2670048">
                  <a:extLst>
                    <a:ext uri="{9D8B030D-6E8A-4147-A177-3AD203B41FA5}">
                      <a16:colId xmlns:a16="http://schemas.microsoft.com/office/drawing/2014/main" val="20001"/>
                    </a:ext>
                  </a:extLst>
                </a:gridCol>
                <a:gridCol w="2670048">
                  <a:extLst>
                    <a:ext uri="{9D8B030D-6E8A-4147-A177-3AD203B41FA5}">
                      <a16:colId xmlns:a16="http://schemas.microsoft.com/office/drawing/2014/main" val="20002"/>
                    </a:ext>
                  </a:extLst>
                </a:gridCol>
                <a:gridCol w="2670048">
                  <a:extLst>
                    <a:ext uri="{9D8B030D-6E8A-4147-A177-3AD203B41FA5}">
                      <a16:colId xmlns:a16="http://schemas.microsoft.com/office/drawing/2014/main" val="20003"/>
                    </a:ext>
                  </a:extLst>
                </a:gridCol>
              </a:tblGrid>
              <a:tr h="402336">
                <a:tc>
                  <a:txBody>
                    <a:bodyPr/>
                    <a:lstStyle/>
                    <a:p>
                      <a:pPr marL="0" indent="0" algn="ctr">
                        <a:buNone/>
                      </a:pP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PRESTIGE  100万〜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GOLD  500万〜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SIGNATURE  1,000万〜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管理手数料（年）</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2.75%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2.75%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2.75%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ワインマイル還元率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2"/>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実質（額面差引）</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+1.25%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+2.25%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+3.25%</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成功報酬（値上がり分）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グランメゾン交換レート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5"/>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未公開ワインの情報</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先行案内</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C9A227"/>
                          </a:solidFill>
                          <a:latin typeface="Meiryo" pitchFamily="34" charset="0"/>
                          <a:ea typeface="Meiryo" pitchFamily="34" charset="-122"/>
                          <a:cs typeface="Meiryo" pitchFamily="34" charset="-120"/>
                        </a:rPr>
                        <a:t>優先割当</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6"/>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WineBank CLUB</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マイル充当・単月のみ</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マイル充当・単月のみ</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altLang="ja-JP" sz="1100" dirty="0" err="1">
                          <a:solidFill>
                            <a:srgbClr val="F2EDE6"/>
                          </a:solidFill>
                          <a:latin typeface="Meiryo" pitchFamily="34" charset="0"/>
                          <a:ea typeface="Meiryo" pitchFamily="34" charset="-122"/>
                          <a:cs typeface="Meiryo" pitchFamily="34" charset="-120"/>
                        </a:rPr>
                        <a:t>マイル充当・単月のみ</a:t>
                      </a:r>
                      <a:endParaRPr lang="en-US" altLang="ja-JP"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7"/>
                  </a:ext>
                </a:extLst>
              </a:tr>
            </a:tbl>
          </a:graphicData>
        </a:graphic>
      </p:graphicFrame>
      <p:sp>
        <p:nvSpPr>
          <p:cNvPr id="7" name="Shape 4"/>
          <p:cNvSpPr/>
          <p:nvPr/>
        </p:nvSpPr>
        <p:spPr>
          <a:xfrm>
            <a:off x="566928" y="4864608"/>
            <a:ext cx="5394960" cy="1188720"/>
          </a:xfrm>
          <a:prstGeom prst="roundRect">
            <a:avLst>
              <a:gd name="adj" fmla="val 4615"/>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8" name="Text 5"/>
          <p:cNvSpPr txBox="1"/>
          <p:nvPr/>
        </p:nvSpPr>
        <p:spPr>
          <a:xfrm>
            <a:off x="932688" y="4992624"/>
            <a:ext cx="4663440" cy="274320"/>
          </a:xfrm>
          <a:prstGeom prst="rect">
            <a:avLst/>
          </a:prstGeom>
          <a:noFill/>
          <a:ln/>
        </p:spPr>
        <p:txBody>
          <a:bodyPr wrap="square" lIns="0" tIns="0" rIns="0" bIns="0" rtlCol="0" anchor="ctr"/>
          <a:lstStyle/>
          <a:p>
            <a:pPr marL="0" indent="0">
              <a:buNone/>
            </a:pPr>
            <a:r>
              <a:rPr lang="en-US" sz="1400" b="1" dirty="0">
                <a:solidFill>
                  <a:srgbClr val="E0A458"/>
                </a:solidFill>
                <a:latin typeface="Meiryo" pitchFamily="34" charset="0"/>
                <a:ea typeface="Meiryo" pitchFamily="34" charset="-122"/>
                <a:cs typeface="Meiryo" pitchFamily="34" charset="-120"/>
              </a:rPr>
              <a:t>廃止するもの</a:t>
            </a:r>
            <a:endParaRPr lang="en-US" sz="1400" dirty="0"/>
          </a:p>
        </p:txBody>
      </p:sp>
      <p:sp>
        <p:nvSpPr>
          <p:cNvPr id="9" name="Text 6"/>
          <p:cNvSpPr txBox="1"/>
          <p:nvPr/>
        </p:nvSpPr>
        <p:spPr>
          <a:xfrm>
            <a:off x="932688" y="5285232"/>
            <a:ext cx="4663440" cy="676656"/>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9行×5ランクの特典マトリクス。営業が覚えられず、顧客も比較できません。差は「還元率・情報」の2つに集約し、手数料2.75%と成功報酬30%は全ランクで揃えます。</a:t>
            </a:r>
            <a:endParaRPr lang="en-US" sz="1050" dirty="0"/>
          </a:p>
        </p:txBody>
      </p:sp>
      <p:sp>
        <p:nvSpPr>
          <p:cNvPr id="10" name="Shape 7"/>
          <p:cNvSpPr/>
          <p:nvPr/>
        </p:nvSpPr>
        <p:spPr>
          <a:xfrm>
            <a:off x="6199632" y="4864608"/>
            <a:ext cx="5394960" cy="1188720"/>
          </a:xfrm>
          <a:prstGeom prst="roundRect">
            <a:avLst>
              <a:gd name="adj" fmla="val 4615"/>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11" name="Text 8"/>
          <p:cNvSpPr txBox="1"/>
          <p:nvPr/>
        </p:nvSpPr>
        <p:spPr>
          <a:xfrm>
            <a:off x="6565392" y="4992624"/>
            <a:ext cx="4663440" cy="274320"/>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刻むなら、還元率と情報を刻む</a:t>
            </a:r>
            <a:endParaRPr lang="en-US" sz="1400" dirty="0"/>
          </a:p>
        </p:txBody>
      </p:sp>
      <p:sp>
        <p:nvSpPr>
          <p:cNvPr id="12" name="Text 9"/>
          <p:cNvSpPr txBox="1"/>
          <p:nvPr/>
        </p:nvSpPr>
        <p:spPr>
          <a:xfrm>
            <a:off x="6565392" y="5285232"/>
            <a:ext cx="4663440" cy="676656"/>
          </a:xfrm>
          <a:prstGeom prst="rect">
            <a:avLst/>
          </a:prstGeom>
          <a:noFill/>
          <a:ln/>
        </p:spPr>
        <p:txBody>
          <a:bodyPr wrap="square" lIns="0" tIns="0" rIns="0" bIns="0" rtlCol="0" anchor="ctr"/>
          <a:lstStyle/>
          <a:p>
            <a:pPr marL="0" indent="0">
              <a:lnSpc>
                <a:spcPts val="1500"/>
              </a:lnSpc>
              <a:buNone/>
            </a:pPr>
            <a:r>
              <a:rPr lang="en-US" sz="1050" dirty="0">
                <a:solidFill>
                  <a:srgbClr val="F2EDE6"/>
                </a:solidFill>
                <a:latin typeface="Meiryo" pitchFamily="34" charset="0"/>
                <a:ea typeface="Meiryo" pitchFamily="34" charset="-122"/>
                <a:cs typeface="Meiryo" pitchFamily="34" charset="-120"/>
              </a:rPr>
              <a:t>100万でも実質+1.25%を確保。額面を0.5pp上げても当社の実費用は0.26ppしか増えません。還元率を上げるほうが費用対効果の高い設計です。</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WINEBANK CLUB</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WineBank CLUB とは</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会員制度とは別の、飲むための会員制度。レストラン販売価格の半額（原価相当）でワインが楽しめます。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3529584" cy="3035808"/>
          </a:xfrm>
          <a:prstGeom prst="roundRect">
            <a:avLst>
              <a:gd name="adj" fmla="val 1807"/>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Text 5"/>
          <p:cNvSpPr txBox="1"/>
          <p:nvPr/>
        </p:nvSpPr>
        <p:spPr>
          <a:xfrm>
            <a:off x="859536" y="1847088"/>
            <a:ext cx="2962656" cy="365760"/>
          </a:xfrm>
          <a:prstGeom prst="rect">
            <a:avLst/>
          </a:prstGeom>
          <a:noFill/>
          <a:ln/>
        </p:spPr>
        <p:txBody>
          <a:bodyPr wrap="square" lIns="0" tIns="0" rIns="0" bIns="0" rtlCol="0" anchor="ctr"/>
          <a:lstStyle/>
          <a:p>
            <a:pPr marL="0" indent="0">
              <a:buNone/>
            </a:pPr>
            <a:r>
              <a:rPr lang="en-US" sz="2000" b="1" dirty="0">
                <a:solidFill>
                  <a:srgbClr val="F2EDE6"/>
                </a:solidFill>
                <a:latin typeface="Meiryo" pitchFamily="34" charset="0"/>
                <a:ea typeface="Meiryo" pitchFamily="34" charset="-122"/>
                <a:cs typeface="Meiryo" pitchFamily="34" charset="-120"/>
              </a:rPr>
              <a:t>STANDARD</a:t>
            </a:r>
            <a:endParaRPr lang="en-US" sz="2000" dirty="0"/>
          </a:p>
        </p:txBody>
      </p:sp>
      <p:sp>
        <p:nvSpPr>
          <p:cNvPr id="8" name="Text 6"/>
          <p:cNvSpPr txBox="1"/>
          <p:nvPr/>
        </p:nvSpPr>
        <p:spPr>
          <a:xfrm>
            <a:off x="859536" y="2249424"/>
            <a:ext cx="2962656" cy="384048"/>
          </a:xfrm>
          <a:prstGeom prst="rect">
            <a:avLst/>
          </a:prstGeom>
          <a:noFill/>
          <a:ln/>
        </p:spPr>
        <p:txBody>
          <a:bodyPr wrap="square" lIns="0" tIns="0" rIns="0" bIns="0" rtlCol="0" anchor="ctr"/>
          <a:lstStyle/>
          <a:p>
            <a:pPr marL="0" indent="0">
              <a:lnSpc>
                <a:spcPts val="1400"/>
              </a:lnSpc>
              <a:buNone/>
            </a:pPr>
            <a:r>
              <a:rPr lang="en-US" sz="1050" dirty="0">
                <a:solidFill>
                  <a:srgbClr val="A2908C"/>
                </a:solidFill>
                <a:latin typeface="Meiryo" pitchFamily="34" charset="0"/>
                <a:ea typeface="Meiryo" pitchFamily="34" charset="-122"/>
                <a:cs typeface="Meiryo" pitchFamily="34" charset="-120"/>
              </a:rPr>
              <a:t>月 8,800円〜　マイル充当・単月利用可</a:t>
            </a:r>
            <a:endParaRPr lang="en-US" sz="1050" dirty="0"/>
          </a:p>
        </p:txBody>
      </p:sp>
      <p:sp>
        <p:nvSpPr>
          <p:cNvPr id="9" name="Text 7"/>
          <p:cNvSpPr txBox="1"/>
          <p:nvPr/>
        </p:nvSpPr>
        <p:spPr>
          <a:xfrm>
            <a:off x="859536" y="2706624"/>
            <a:ext cx="2962656" cy="1901952"/>
          </a:xfrm>
          <a:prstGeom prst="rect">
            <a:avLst/>
          </a:prstGeom>
          <a:noFill/>
          <a:ln/>
        </p:spPr>
        <p:txBody>
          <a:bodyPr wrap="square" lIns="0" tIns="0" rIns="0" bIns="0" rtlCol="0" anchor="t"/>
          <a:lstStyle/>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提携店でのコルケージ無料</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グループ飲食店の優待</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会員向けワイン価格（半額）</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提携店向けワイン配送料無料</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4名未満・ワイン価格 上限5万円</a:t>
            </a:r>
            <a:endParaRPr lang="en-US" sz="1100" dirty="0"/>
          </a:p>
        </p:txBody>
      </p:sp>
      <p:sp>
        <p:nvSpPr>
          <p:cNvPr id="10" name="Shape 8"/>
          <p:cNvSpPr/>
          <p:nvPr/>
        </p:nvSpPr>
        <p:spPr>
          <a:xfrm>
            <a:off x="4352544" y="1664208"/>
            <a:ext cx="3529584" cy="3035808"/>
          </a:xfrm>
          <a:prstGeom prst="roundRect">
            <a:avLst>
              <a:gd name="adj" fmla="val 1807"/>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1" name="Text 9"/>
          <p:cNvSpPr txBox="1"/>
          <p:nvPr/>
        </p:nvSpPr>
        <p:spPr>
          <a:xfrm>
            <a:off x="4645152" y="1847088"/>
            <a:ext cx="2962656" cy="365760"/>
          </a:xfrm>
          <a:prstGeom prst="rect">
            <a:avLst/>
          </a:prstGeom>
          <a:noFill/>
          <a:ln/>
        </p:spPr>
        <p:txBody>
          <a:bodyPr wrap="square" lIns="0" tIns="0" rIns="0" bIns="0" rtlCol="0" anchor="ctr"/>
          <a:lstStyle/>
          <a:p>
            <a:pPr marL="0" indent="0">
              <a:buNone/>
            </a:pPr>
            <a:r>
              <a:rPr lang="en-US" sz="2000" b="1" dirty="0">
                <a:solidFill>
                  <a:srgbClr val="E8CE78"/>
                </a:solidFill>
                <a:latin typeface="Meiryo" pitchFamily="34" charset="0"/>
                <a:ea typeface="Meiryo" pitchFamily="34" charset="-122"/>
                <a:cs typeface="Meiryo" pitchFamily="34" charset="-120"/>
              </a:rPr>
              <a:t>GOLD</a:t>
            </a:r>
            <a:endParaRPr lang="en-US" sz="2000" dirty="0"/>
          </a:p>
        </p:txBody>
      </p:sp>
      <p:sp>
        <p:nvSpPr>
          <p:cNvPr id="12" name="Text 10"/>
          <p:cNvSpPr txBox="1"/>
          <p:nvPr/>
        </p:nvSpPr>
        <p:spPr>
          <a:xfrm>
            <a:off x="4645152" y="2249424"/>
            <a:ext cx="2962656" cy="384048"/>
          </a:xfrm>
          <a:prstGeom prst="rect">
            <a:avLst/>
          </a:prstGeom>
          <a:noFill/>
          <a:ln/>
        </p:spPr>
        <p:txBody>
          <a:bodyPr wrap="square" lIns="0" tIns="0" rIns="0" bIns="0" rtlCol="0" anchor="ctr"/>
          <a:lstStyle/>
          <a:p>
            <a:pPr marL="0" indent="0">
              <a:lnSpc>
                <a:spcPts val="1400"/>
              </a:lnSpc>
              <a:buNone/>
            </a:pPr>
            <a:r>
              <a:rPr lang="en-US" sz="1050" dirty="0">
                <a:solidFill>
                  <a:srgbClr val="A2908C"/>
                </a:solidFill>
                <a:latin typeface="Meiryo" pitchFamily="34" charset="0"/>
                <a:ea typeface="Meiryo" pitchFamily="34" charset="-122"/>
                <a:cs typeface="Meiryo" pitchFamily="34" charset="-120"/>
              </a:rPr>
              <a:t>月 22,000円〜</a:t>
            </a:r>
            <a:endParaRPr lang="en-US" sz="1050" dirty="0"/>
          </a:p>
        </p:txBody>
      </p:sp>
      <p:sp>
        <p:nvSpPr>
          <p:cNvPr id="13" name="Text 11"/>
          <p:cNvSpPr txBox="1"/>
          <p:nvPr/>
        </p:nvSpPr>
        <p:spPr>
          <a:xfrm>
            <a:off x="4645152" y="2706624"/>
            <a:ext cx="2962656" cy="1901952"/>
          </a:xfrm>
          <a:prstGeom prst="rect">
            <a:avLst/>
          </a:prstGeom>
          <a:noFill/>
          <a:ln/>
        </p:spPr>
        <p:txBody>
          <a:bodyPr wrap="square" lIns="0" tIns="0" rIns="0" bIns="0" rtlCol="0" anchor="t"/>
          <a:lstStyle/>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上記に加え、生産者イベント招待</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ザルト高級グラス使用</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個室優先利用・予約4名以上</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ワイン価格の上限なし</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コンシェルジュによる選定</a:t>
            </a:r>
            <a:endParaRPr lang="en-US" sz="1100" dirty="0"/>
          </a:p>
        </p:txBody>
      </p:sp>
      <p:sp>
        <p:nvSpPr>
          <p:cNvPr id="14" name="Shape 12"/>
          <p:cNvSpPr/>
          <p:nvPr/>
        </p:nvSpPr>
        <p:spPr>
          <a:xfrm>
            <a:off x="8138160" y="1664208"/>
            <a:ext cx="3529584" cy="3035808"/>
          </a:xfrm>
          <a:prstGeom prst="roundRect">
            <a:avLst>
              <a:gd name="adj" fmla="val 1807"/>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5" name="Text 13"/>
          <p:cNvSpPr txBox="1"/>
          <p:nvPr/>
        </p:nvSpPr>
        <p:spPr>
          <a:xfrm>
            <a:off x="8430768" y="1847088"/>
            <a:ext cx="2962656" cy="365760"/>
          </a:xfrm>
          <a:prstGeom prst="rect">
            <a:avLst/>
          </a:prstGeom>
          <a:noFill/>
          <a:ln/>
        </p:spPr>
        <p:txBody>
          <a:bodyPr wrap="square" lIns="0" tIns="0" rIns="0" bIns="0" rtlCol="0" anchor="ctr"/>
          <a:lstStyle/>
          <a:p>
            <a:pPr marL="0" indent="0">
              <a:buNone/>
            </a:pPr>
            <a:r>
              <a:rPr lang="en-US" sz="2000" b="1" dirty="0">
                <a:solidFill>
                  <a:srgbClr val="C9A227"/>
                </a:solidFill>
                <a:latin typeface="Meiryo" pitchFamily="34" charset="0"/>
                <a:ea typeface="Meiryo" pitchFamily="34" charset="-122"/>
                <a:cs typeface="Meiryo" pitchFamily="34" charset="-120"/>
              </a:rPr>
              <a:t>BLACK</a:t>
            </a:r>
            <a:endParaRPr lang="en-US" sz="2000" dirty="0"/>
          </a:p>
        </p:txBody>
      </p:sp>
      <p:sp>
        <p:nvSpPr>
          <p:cNvPr id="16" name="Text 14"/>
          <p:cNvSpPr txBox="1"/>
          <p:nvPr/>
        </p:nvSpPr>
        <p:spPr>
          <a:xfrm>
            <a:off x="8430768" y="2249424"/>
            <a:ext cx="2962656" cy="384048"/>
          </a:xfrm>
          <a:prstGeom prst="rect">
            <a:avLst/>
          </a:prstGeom>
          <a:noFill/>
          <a:ln/>
        </p:spPr>
        <p:txBody>
          <a:bodyPr wrap="square" lIns="0" tIns="0" rIns="0" bIns="0" rtlCol="0" anchor="ctr"/>
          <a:lstStyle/>
          <a:p>
            <a:pPr marL="0" indent="0">
              <a:lnSpc>
                <a:spcPts val="1400"/>
              </a:lnSpc>
              <a:buNone/>
            </a:pPr>
            <a:r>
              <a:rPr lang="en-US" sz="1050" dirty="0">
                <a:solidFill>
                  <a:srgbClr val="A2908C"/>
                </a:solidFill>
                <a:latin typeface="Meiryo" pitchFamily="34" charset="0"/>
                <a:ea typeface="Meiryo" pitchFamily="34" charset="-122"/>
                <a:cs typeface="Meiryo" pitchFamily="34" charset="-120"/>
              </a:rPr>
              <a:t>年間5,000万以上、もしくは年会費60万円</a:t>
            </a:r>
            <a:endParaRPr lang="en-US" sz="1050" dirty="0"/>
          </a:p>
        </p:txBody>
      </p:sp>
      <p:sp>
        <p:nvSpPr>
          <p:cNvPr id="17" name="Text 15"/>
          <p:cNvSpPr txBox="1"/>
          <p:nvPr/>
        </p:nvSpPr>
        <p:spPr>
          <a:xfrm>
            <a:off x="8430768" y="2706624"/>
            <a:ext cx="2962656" cy="1901952"/>
          </a:xfrm>
          <a:prstGeom prst="rect">
            <a:avLst/>
          </a:prstGeom>
          <a:noFill/>
          <a:ln/>
        </p:spPr>
        <p:txBody>
          <a:bodyPr wrap="square" lIns="0" tIns="0" rIns="0" bIns="0" rtlCol="0" anchor="t"/>
          <a:lstStyle/>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未公開ワインの優先割当</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ワイン樽買いの権利</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ソムリエへの直接相談</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会員限定のクローズドな会</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国内外ワイナリーツアー</a:t>
            </a:r>
            <a:endParaRPr lang="en-US" sz="1100" dirty="0"/>
          </a:p>
        </p:txBody>
      </p:sp>
      <p:sp>
        <p:nvSpPr>
          <p:cNvPr id="18" name="Shape 16"/>
          <p:cNvSpPr/>
          <p:nvPr/>
        </p:nvSpPr>
        <p:spPr>
          <a:xfrm>
            <a:off x="566928" y="4864608"/>
            <a:ext cx="5394960" cy="1188720"/>
          </a:xfrm>
          <a:prstGeom prst="roundRect">
            <a:avLst>
              <a:gd name="adj" fmla="val 4615"/>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19" name="Text 17"/>
          <p:cNvSpPr txBox="1"/>
          <p:nvPr/>
        </p:nvSpPr>
        <p:spPr>
          <a:xfrm>
            <a:off x="932688" y="4992624"/>
            <a:ext cx="4663440" cy="274320"/>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「半額」が、すべてを説明します</a:t>
            </a:r>
            <a:endParaRPr lang="en-US" sz="1400" dirty="0"/>
          </a:p>
        </p:txBody>
      </p:sp>
      <p:sp>
        <p:nvSpPr>
          <p:cNvPr id="20" name="Text 18"/>
          <p:cNvSpPr txBox="1"/>
          <p:nvPr/>
        </p:nvSpPr>
        <p:spPr>
          <a:xfrm>
            <a:off x="932688" y="5285232"/>
            <a:ext cx="4663440" cy="676656"/>
          </a:xfrm>
          <a:prstGeom prst="rect">
            <a:avLst/>
          </a:prstGeom>
          <a:noFill/>
          <a:ln/>
        </p:spPr>
        <p:txBody>
          <a:bodyPr wrap="square" lIns="0" tIns="0" rIns="0" bIns="0" rtlCol="0" anchor="ctr"/>
          <a:lstStyle/>
          <a:p>
            <a:pPr marL="0" indent="0">
              <a:lnSpc>
                <a:spcPts val="1500"/>
              </a:lnSpc>
              <a:buNone/>
            </a:pPr>
            <a:r>
              <a:rPr lang="en-US" sz="1050" dirty="0">
                <a:solidFill>
                  <a:srgbClr val="F2EDE6"/>
                </a:solidFill>
                <a:latin typeface="Meiryo" pitchFamily="34" charset="0"/>
                <a:ea typeface="Meiryo" pitchFamily="34" charset="-122"/>
                <a:cs typeface="Meiryo" pitchFamily="34" charset="-120"/>
              </a:rPr>
              <a:t>レストランで3倍の値がつくワインが、原価相当で飲める。これ以上わかりやすい入会理由はありません。ワイン好きにとっては、これ自体がキラーコンテンツです。</a:t>
            </a:r>
            <a:endParaRPr lang="en-US" sz="1050" dirty="0"/>
          </a:p>
        </p:txBody>
      </p:sp>
      <p:sp>
        <p:nvSpPr>
          <p:cNvPr id="21" name="Shape 19"/>
          <p:cNvSpPr/>
          <p:nvPr/>
        </p:nvSpPr>
        <p:spPr>
          <a:xfrm>
            <a:off x="6199632" y="4864608"/>
            <a:ext cx="5394960" cy="1188720"/>
          </a:xfrm>
          <a:prstGeom prst="roundRect">
            <a:avLst>
              <a:gd name="adj" fmla="val 4615"/>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22" name="Text 20"/>
          <p:cNvSpPr txBox="1"/>
          <p:nvPr/>
        </p:nvSpPr>
        <p:spPr>
          <a:xfrm>
            <a:off x="6565392" y="4992624"/>
            <a:ext cx="4663440" cy="274320"/>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引き上げの動線は「人数」と「上限」</a:t>
            </a:r>
            <a:endParaRPr lang="en-US" sz="1400" dirty="0"/>
          </a:p>
        </p:txBody>
      </p:sp>
      <p:sp>
        <p:nvSpPr>
          <p:cNvPr id="23" name="Text 21"/>
          <p:cNvSpPr txBox="1"/>
          <p:nvPr/>
        </p:nvSpPr>
        <p:spPr>
          <a:xfrm>
            <a:off x="6565392" y="5285232"/>
            <a:ext cx="4663440" cy="676656"/>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STANDARDは4名未満・ワイン5万円まで。GOLDでその両方が外れます。SIGNATUREにはSTANDARDを無料付与し、まず半額を体験させてから上げる設計です。</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COMMUNICATION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「円」で表示しない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レートを公表せず、必要マイル数で見せる。航空会社のマイルと同じ方式です。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719072"/>
            <a:ext cx="5394960" cy="1371600"/>
          </a:xfrm>
          <a:prstGeom prst="roundRect">
            <a:avLst>
              <a:gd name="adj" fmla="val 400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Text 5"/>
          <p:cNvSpPr txBox="1"/>
          <p:nvPr/>
        </p:nvSpPr>
        <p:spPr>
          <a:xfrm>
            <a:off x="932688" y="1901952"/>
            <a:ext cx="4663440" cy="274320"/>
          </a:xfrm>
          <a:prstGeom prst="rect">
            <a:avLst/>
          </a:prstGeom>
          <a:noFill/>
          <a:ln/>
        </p:spPr>
        <p:txBody>
          <a:bodyPr wrap="square" lIns="0" tIns="0" rIns="0" bIns="0" rtlCol="0" anchor="ctr"/>
          <a:lstStyle/>
          <a:p>
            <a:pPr marL="0" indent="0">
              <a:buNone/>
            </a:pPr>
            <a:r>
              <a:rPr lang="en-US" sz="1200" b="1" dirty="0">
                <a:solidFill>
                  <a:srgbClr val="E0A458"/>
                </a:solidFill>
                <a:latin typeface="Meiryo" pitchFamily="34" charset="0"/>
                <a:ea typeface="Meiryo" pitchFamily="34" charset="-122"/>
                <a:cs typeface="Meiryo" pitchFamily="34" charset="-120"/>
              </a:rPr>
              <a:t>✕  レート表記</a:t>
            </a:r>
            <a:endParaRPr lang="en-US" sz="1200" dirty="0"/>
          </a:p>
        </p:txBody>
      </p:sp>
      <p:sp>
        <p:nvSpPr>
          <p:cNvPr id="8" name="Text 6"/>
          <p:cNvSpPr txBox="1"/>
          <p:nvPr/>
        </p:nvSpPr>
        <p:spPr>
          <a:xfrm>
            <a:off x="932688" y="2249424"/>
            <a:ext cx="4663440" cy="640080"/>
          </a:xfrm>
          <a:prstGeom prst="rect">
            <a:avLst/>
          </a:prstGeom>
          <a:noFill/>
          <a:ln/>
        </p:spPr>
        <p:txBody>
          <a:bodyPr wrap="square" lIns="0" tIns="0" rIns="0" bIns="0" rtlCol="0" anchor="ctr"/>
          <a:lstStyle/>
          <a:p>
            <a:pPr marL="0" indent="0">
              <a:buNone/>
            </a:pPr>
            <a:r>
              <a:rPr lang="en-US" sz="1600" b="1" dirty="0">
                <a:solidFill>
                  <a:srgbClr val="F2EDE6"/>
                </a:solidFill>
                <a:latin typeface="Meiryo" pitchFamily="34" charset="0"/>
                <a:ea typeface="Meiryo" pitchFamily="34" charset="-122"/>
                <a:cs typeface="Meiryo" pitchFamily="34" charset="-120"/>
              </a:rPr>
              <a:t>「グランメゾンは 1マイル＝0.5円」</a:t>
            </a:r>
            <a:endParaRPr lang="en-US" sz="1600" dirty="0"/>
          </a:p>
        </p:txBody>
      </p:sp>
      <p:sp>
        <p:nvSpPr>
          <p:cNvPr id="9" name="Shape 7"/>
          <p:cNvSpPr/>
          <p:nvPr/>
        </p:nvSpPr>
        <p:spPr>
          <a:xfrm>
            <a:off x="6199632" y="1719072"/>
            <a:ext cx="5394960" cy="1371600"/>
          </a:xfrm>
          <a:prstGeom prst="roundRect">
            <a:avLst>
              <a:gd name="adj" fmla="val 4000"/>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0" name="Text 8"/>
          <p:cNvSpPr txBox="1"/>
          <p:nvPr/>
        </p:nvSpPr>
        <p:spPr>
          <a:xfrm>
            <a:off x="6565392" y="1901952"/>
            <a:ext cx="4663440" cy="274320"/>
          </a:xfrm>
          <a:prstGeom prst="rect">
            <a:avLst/>
          </a:prstGeom>
          <a:noFill/>
          <a:ln/>
        </p:spPr>
        <p:txBody>
          <a:bodyPr wrap="square" lIns="0" tIns="0" rIns="0" bIns="0" rtlCol="0" anchor="ctr"/>
          <a:lstStyle/>
          <a:p>
            <a:pPr marL="0" indent="0">
              <a:buNone/>
            </a:pPr>
            <a:r>
              <a:rPr lang="en-US" sz="1200" b="1" dirty="0">
                <a:solidFill>
                  <a:srgbClr val="7FD1AE"/>
                </a:solidFill>
                <a:latin typeface="Meiryo" pitchFamily="34" charset="0"/>
                <a:ea typeface="Meiryo" pitchFamily="34" charset="-122"/>
                <a:cs typeface="Meiryo" pitchFamily="34" charset="-120"/>
              </a:rPr>
              <a:t>◯  必要マイル表記</a:t>
            </a:r>
            <a:endParaRPr lang="en-US" sz="1200" dirty="0"/>
          </a:p>
        </p:txBody>
      </p:sp>
      <p:sp>
        <p:nvSpPr>
          <p:cNvPr id="11" name="Text 9"/>
          <p:cNvSpPr txBox="1"/>
          <p:nvPr/>
        </p:nvSpPr>
        <p:spPr>
          <a:xfrm>
            <a:off x="6565392" y="2249424"/>
            <a:ext cx="4663440" cy="640080"/>
          </a:xfrm>
          <a:prstGeom prst="rect">
            <a:avLst/>
          </a:prstGeom>
          <a:noFill/>
          <a:ln/>
        </p:spPr>
        <p:txBody>
          <a:bodyPr wrap="square" lIns="0" tIns="0" rIns="0" bIns="0" rtlCol="0" anchor="ctr"/>
          <a:lstStyle/>
          <a:p>
            <a:pPr marL="0" indent="0">
              <a:buNone/>
            </a:pPr>
            <a:r>
              <a:rPr lang="en-US" sz="1600" b="1" dirty="0">
                <a:solidFill>
                  <a:srgbClr val="F2EDE6"/>
                </a:solidFill>
                <a:latin typeface="Meiryo" pitchFamily="34" charset="0"/>
                <a:ea typeface="Meiryo" pitchFamily="34" charset="-122"/>
                <a:cs typeface="Meiryo" pitchFamily="34" charset="-120"/>
              </a:rPr>
              <a:t>「グランメゾン ディナー（1名）</a:t>
            </a:r>
            <a:endParaRPr lang="en-US" sz="1600" dirty="0"/>
          </a:p>
          <a:p>
            <a:pPr marL="0" indent="0">
              <a:buNone/>
            </a:pPr>
            <a:r>
              <a:rPr lang="en-US" sz="1600" b="1" dirty="0">
                <a:solidFill>
                  <a:srgbClr val="F2EDE6"/>
                </a:solidFill>
                <a:latin typeface="Meiryo" pitchFamily="34" charset="0"/>
                <a:ea typeface="Meiryo" pitchFamily="34" charset="-122"/>
                <a:cs typeface="Meiryo" pitchFamily="34" charset="-120"/>
              </a:rPr>
              <a:t>＝ 30,000マイル」</a:t>
            </a:r>
            <a:endParaRPr lang="en-US" sz="1600" dirty="0"/>
          </a:p>
        </p:txBody>
      </p:sp>
      <p:sp>
        <p:nvSpPr>
          <p:cNvPr id="12" name="Shape 10"/>
          <p:cNvSpPr/>
          <p:nvPr/>
        </p:nvSpPr>
        <p:spPr>
          <a:xfrm>
            <a:off x="566928" y="3328416"/>
            <a:ext cx="3529584" cy="1920240"/>
          </a:xfrm>
          <a:prstGeom prst="roundRect">
            <a:avLst>
              <a:gd name="adj" fmla="val 2857"/>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3" name="Shape 11"/>
          <p:cNvSpPr/>
          <p:nvPr/>
        </p:nvSpPr>
        <p:spPr>
          <a:xfrm>
            <a:off x="841248" y="3547872"/>
            <a:ext cx="329184" cy="329184"/>
          </a:xfrm>
          <a:prstGeom prst="ellipse">
            <a:avLst/>
          </a:prstGeom>
          <a:solidFill>
            <a:srgbClr val="C9A227"/>
          </a:solidFill>
          <a:ln w="12700">
            <a:solidFill>
              <a:srgbClr val="C9A227"/>
            </a:solidFill>
            <a:prstDash val="solid"/>
          </a:ln>
        </p:spPr>
      </p:sp>
      <p:sp>
        <p:nvSpPr>
          <p:cNvPr id="14" name="Text 12"/>
          <p:cNvSpPr txBox="1"/>
          <p:nvPr/>
        </p:nvSpPr>
        <p:spPr>
          <a:xfrm>
            <a:off x="841248" y="3547872"/>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5" name="Text 13"/>
          <p:cNvSpPr txBox="1"/>
          <p:nvPr/>
        </p:nvSpPr>
        <p:spPr>
          <a:xfrm>
            <a:off x="1261872" y="3566160"/>
            <a:ext cx="2615184" cy="292608"/>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レートの議論が消える</a:t>
            </a:r>
            <a:endParaRPr lang="en-US" sz="1350" dirty="0"/>
          </a:p>
        </p:txBody>
      </p:sp>
      <p:sp>
        <p:nvSpPr>
          <p:cNvPr id="16" name="Text 14"/>
          <p:cNvSpPr txBox="1"/>
          <p:nvPr/>
        </p:nvSpPr>
        <p:spPr>
          <a:xfrm>
            <a:off x="841248" y="4023360"/>
            <a:ext cx="2980944" cy="1097280"/>
          </a:xfrm>
          <a:prstGeom prst="rect">
            <a:avLst/>
          </a:prstGeom>
          <a:noFill/>
          <a:ln/>
        </p:spPr>
        <p:txBody>
          <a:bodyPr wrap="square" lIns="0" tIns="0" rIns="0" bIns="0" rtlCol="0" anchor="ctr"/>
          <a:lstStyle/>
          <a:p>
            <a:pPr marL="0" indent="0">
              <a:lnSpc>
                <a:spcPts val="1800"/>
              </a:lnSpc>
              <a:buNone/>
            </a:pPr>
            <a:r>
              <a:rPr lang="en-US" sz="1150" dirty="0">
                <a:solidFill>
                  <a:srgbClr val="A2908C"/>
                </a:solidFill>
                <a:latin typeface="Meiryo" pitchFamily="34" charset="0"/>
                <a:ea typeface="Meiryo" pitchFamily="34" charset="-122"/>
                <a:cs typeface="Meiryo" pitchFamily="34" charset="-120"/>
              </a:rPr>
              <a:t>会員は「0.5円は損だ」ではなく「3万マイルで行ける」と考えます。マイルもディズニーもこの方式です。</a:t>
            </a:r>
            <a:endParaRPr lang="en-US" sz="1150" dirty="0"/>
          </a:p>
        </p:txBody>
      </p:sp>
      <p:sp>
        <p:nvSpPr>
          <p:cNvPr id="17" name="Shape 15"/>
          <p:cNvSpPr/>
          <p:nvPr/>
        </p:nvSpPr>
        <p:spPr>
          <a:xfrm>
            <a:off x="4352544" y="3328416"/>
            <a:ext cx="3529584" cy="1920240"/>
          </a:xfrm>
          <a:prstGeom prst="roundRect">
            <a:avLst>
              <a:gd name="adj" fmla="val 2857"/>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8" name="Shape 16"/>
          <p:cNvSpPr/>
          <p:nvPr/>
        </p:nvSpPr>
        <p:spPr>
          <a:xfrm>
            <a:off x="4626864" y="3547872"/>
            <a:ext cx="329184" cy="329184"/>
          </a:xfrm>
          <a:prstGeom prst="ellipse">
            <a:avLst/>
          </a:prstGeom>
          <a:solidFill>
            <a:srgbClr val="C9A227"/>
          </a:solidFill>
          <a:ln w="12700">
            <a:solidFill>
              <a:srgbClr val="C9A227"/>
            </a:solidFill>
            <a:prstDash val="solid"/>
          </a:ln>
        </p:spPr>
      </p:sp>
      <p:sp>
        <p:nvSpPr>
          <p:cNvPr id="19" name="Text 17"/>
          <p:cNvSpPr txBox="1"/>
          <p:nvPr/>
        </p:nvSpPr>
        <p:spPr>
          <a:xfrm>
            <a:off x="4626864" y="3547872"/>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20" name="Text 18"/>
          <p:cNvSpPr txBox="1"/>
          <p:nvPr/>
        </p:nvSpPr>
        <p:spPr>
          <a:xfrm>
            <a:off x="5047488" y="3566160"/>
            <a:ext cx="2615184" cy="292608"/>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有利誤認リスクが消える</a:t>
            </a:r>
            <a:endParaRPr lang="en-US" sz="1350" dirty="0"/>
          </a:p>
        </p:txBody>
      </p:sp>
      <p:sp>
        <p:nvSpPr>
          <p:cNvPr id="21" name="Text 19"/>
          <p:cNvSpPr txBox="1"/>
          <p:nvPr/>
        </p:nvSpPr>
        <p:spPr>
          <a:xfrm>
            <a:off x="4626864" y="4023360"/>
            <a:ext cx="2980944" cy="1097280"/>
          </a:xfrm>
          <a:prstGeom prst="rect">
            <a:avLst/>
          </a:prstGeom>
          <a:noFill/>
          <a:ln/>
        </p:spPr>
        <p:txBody>
          <a:bodyPr wrap="square" lIns="0" tIns="0" rIns="0" bIns="0" rtlCol="0" anchor="ctr"/>
          <a:lstStyle/>
          <a:p>
            <a:pPr marL="0" indent="0">
              <a:lnSpc>
                <a:spcPts val="1800"/>
              </a:lnSpc>
              <a:buNone/>
            </a:pPr>
            <a:r>
              <a:rPr lang="en-US" sz="1150" dirty="0">
                <a:solidFill>
                  <a:srgbClr val="A2908C"/>
                </a:solidFill>
                <a:latin typeface="Meiryo" pitchFamily="34" charset="0"/>
                <a:ea typeface="Meiryo" pitchFamily="34" charset="-122"/>
                <a:cs typeface="Meiryo" pitchFamily="34" charset="-120"/>
              </a:rPr>
              <a:t>「1マイル＝1円」と大書して特定店だけ0.5円という運用は景表法上グレーです。円換算を出さなければ争点になりません。</a:t>
            </a:r>
            <a:endParaRPr lang="en-US" sz="1150" dirty="0"/>
          </a:p>
        </p:txBody>
      </p:sp>
      <p:sp>
        <p:nvSpPr>
          <p:cNvPr id="22" name="Shape 20"/>
          <p:cNvSpPr/>
          <p:nvPr/>
        </p:nvSpPr>
        <p:spPr>
          <a:xfrm>
            <a:off x="8138160" y="3328416"/>
            <a:ext cx="3529584" cy="1920240"/>
          </a:xfrm>
          <a:prstGeom prst="roundRect">
            <a:avLst>
              <a:gd name="adj" fmla="val 2857"/>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23" name="Shape 21"/>
          <p:cNvSpPr/>
          <p:nvPr/>
        </p:nvSpPr>
        <p:spPr>
          <a:xfrm>
            <a:off x="8412480" y="3547872"/>
            <a:ext cx="329184" cy="329184"/>
          </a:xfrm>
          <a:prstGeom prst="ellipse">
            <a:avLst/>
          </a:prstGeom>
          <a:solidFill>
            <a:srgbClr val="C9A227"/>
          </a:solidFill>
          <a:ln w="12700">
            <a:solidFill>
              <a:srgbClr val="C9A227"/>
            </a:solidFill>
            <a:prstDash val="solid"/>
          </a:ln>
        </p:spPr>
      </p:sp>
      <p:sp>
        <p:nvSpPr>
          <p:cNvPr id="24" name="Text 22"/>
          <p:cNvSpPr txBox="1"/>
          <p:nvPr/>
        </p:nvSpPr>
        <p:spPr>
          <a:xfrm>
            <a:off x="8412480" y="3547872"/>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5" name="Text 23"/>
          <p:cNvSpPr txBox="1"/>
          <p:nvPr/>
        </p:nvSpPr>
        <p:spPr>
          <a:xfrm>
            <a:off x="8833104" y="3566160"/>
            <a:ext cx="2615184" cy="292608"/>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税務の説明が軽くなる</a:t>
            </a:r>
            <a:endParaRPr lang="en-US" sz="1350" dirty="0"/>
          </a:p>
        </p:txBody>
      </p:sp>
      <p:sp>
        <p:nvSpPr>
          <p:cNvPr id="26" name="Text 24"/>
          <p:cNvSpPr txBox="1"/>
          <p:nvPr/>
        </p:nvSpPr>
        <p:spPr>
          <a:xfrm>
            <a:off x="8412480" y="4023360"/>
            <a:ext cx="2980944" cy="1097280"/>
          </a:xfrm>
          <a:prstGeom prst="rect">
            <a:avLst/>
          </a:prstGeom>
          <a:noFill/>
          <a:ln/>
        </p:spPr>
        <p:txBody>
          <a:bodyPr wrap="square" lIns="0" tIns="0" rIns="0" bIns="0" rtlCol="0" anchor="ctr"/>
          <a:lstStyle/>
          <a:p>
            <a:pPr marL="0" indent="0">
              <a:lnSpc>
                <a:spcPts val="1800"/>
              </a:lnSpc>
              <a:buNone/>
            </a:pPr>
            <a:r>
              <a:rPr lang="en-US" sz="1150" dirty="0">
                <a:solidFill>
                  <a:srgbClr val="A2908C"/>
                </a:solidFill>
                <a:latin typeface="Meiryo" pitchFamily="34" charset="0"/>
                <a:ea typeface="Meiryo" pitchFamily="34" charset="-122"/>
                <a:cs typeface="Meiryo" pitchFamily="34" charset="-120"/>
              </a:rPr>
              <a:t>円建ての金銭的価値を明示しないほうが、クレジットカードのマイレージ還元と同じ扱いで説明しやすくなります。</a:t>
            </a:r>
            <a:endParaRPr lang="en-US" sz="1150" dirty="0"/>
          </a:p>
        </p:txBody>
      </p:sp>
      <p:sp>
        <p:nvSpPr>
          <p:cNvPr id="27" name="Shape 25"/>
          <p:cNvSpPr/>
          <p:nvPr/>
        </p:nvSpPr>
        <p:spPr>
          <a:xfrm>
            <a:off x="566928" y="5449824"/>
            <a:ext cx="11027664" cy="603504"/>
          </a:xfrm>
          <a:prstGeom prst="roundRect">
            <a:avLst>
              <a:gd name="adj" fmla="val 9091"/>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8" name="Text 26"/>
          <p:cNvSpPr txBox="1"/>
          <p:nvPr/>
        </p:nvSpPr>
        <p:spPr>
          <a:xfrm>
            <a:off x="978408" y="5596128"/>
            <a:ext cx="10204704" cy="329184"/>
          </a:xfrm>
          <a:prstGeom prst="rect">
            <a:avLst/>
          </a:prstGeom>
          <a:noFill/>
          <a:ln/>
        </p:spPr>
        <p:txBody>
          <a:bodyPr wrap="square" lIns="0" tIns="0" rIns="0" bIns="0" rtlCol="0" anchor="ctr"/>
          <a:lstStyle/>
          <a:p>
            <a:pPr marL="0" indent="0" algn="ctr">
              <a:buNone/>
            </a:pPr>
            <a:r>
              <a:rPr lang="en-US" sz="1450" b="1" dirty="0">
                <a:solidFill>
                  <a:srgbClr val="E8CE78"/>
                </a:solidFill>
                <a:latin typeface="Meiryo" pitchFamily="34" charset="0"/>
                <a:ea typeface="Meiryo" pitchFamily="34" charset="-122"/>
                <a:cs typeface="Meiryo" pitchFamily="34" charset="-120"/>
              </a:rPr>
              <a:t>会員には「5%還元」とだけ伝え、交換表は「◯◯マイルで何ができるか」で見せる。</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EXIT</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出口設計：縛らない。それでも取りこぼさない。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専属専任で縛るのをやめ、成功報酬を契約終了時の精算に一本化します。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45920"/>
            <a:ext cx="5394960" cy="2194560"/>
          </a:xfrm>
          <a:prstGeom prst="roundRect">
            <a:avLst>
              <a:gd name="adj" fmla="val 2500"/>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7" name="Text 5"/>
          <p:cNvSpPr txBox="1"/>
          <p:nvPr/>
        </p:nvSpPr>
        <p:spPr>
          <a:xfrm>
            <a:off x="932688" y="1828800"/>
            <a:ext cx="4663440" cy="292608"/>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精算のルール</a:t>
            </a:r>
            <a:endParaRPr lang="en-US" sz="1500" dirty="0"/>
          </a:p>
        </p:txBody>
      </p:sp>
      <p:sp>
        <p:nvSpPr>
          <p:cNvPr id="8" name="Text 6"/>
          <p:cNvSpPr txBox="1"/>
          <p:nvPr/>
        </p:nvSpPr>
        <p:spPr>
          <a:xfrm>
            <a:off x="932688" y="2231136"/>
            <a:ext cx="1051560"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基準</a:t>
            </a:r>
            <a:endParaRPr lang="en-US" sz="1100" dirty="0"/>
          </a:p>
        </p:txBody>
      </p:sp>
      <p:sp>
        <p:nvSpPr>
          <p:cNvPr id="9" name="Text 7"/>
          <p:cNvSpPr txBox="1"/>
          <p:nvPr/>
        </p:nvSpPr>
        <p:spPr>
          <a:xfrm>
            <a:off x="2029968" y="2231136"/>
            <a:ext cx="3566160" cy="274320"/>
          </a:xfrm>
          <a:prstGeom prst="rect">
            <a:avLst/>
          </a:prstGeom>
          <a:noFill/>
          <a:ln/>
        </p:spPr>
        <p:txBody>
          <a:bodyPr wrap="square" lIns="0" tIns="0" rIns="0" bIns="0" rtlCol="0" anchor="ctr"/>
          <a:lstStyle/>
          <a:p>
            <a:pPr marL="0" indent="0">
              <a:buNone/>
            </a:pPr>
            <a:r>
              <a:rPr lang="en-US" sz="1100" dirty="0">
                <a:solidFill>
                  <a:srgbClr val="A2908C"/>
                </a:solidFill>
                <a:latin typeface="Meiryo" pitchFamily="34" charset="0"/>
                <a:ea typeface="Meiryo" pitchFamily="34" charset="-122"/>
                <a:cs typeface="Meiryo" pitchFamily="34" charset="-120"/>
              </a:rPr>
              <a:t>売却価格ではなく、当社のLiv-ex連動評価額</a:t>
            </a:r>
            <a:endParaRPr lang="en-US" sz="1100" dirty="0"/>
          </a:p>
        </p:txBody>
      </p:sp>
      <p:sp>
        <p:nvSpPr>
          <p:cNvPr id="10" name="Text 8"/>
          <p:cNvSpPr txBox="1"/>
          <p:nvPr/>
        </p:nvSpPr>
        <p:spPr>
          <a:xfrm>
            <a:off x="932688" y="2615184"/>
            <a:ext cx="1051560"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時点</a:t>
            </a:r>
            <a:endParaRPr lang="en-US" sz="1100" dirty="0"/>
          </a:p>
        </p:txBody>
      </p:sp>
      <p:sp>
        <p:nvSpPr>
          <p:cNvPr id="11" name="Text 9"/>
          <p:cNvSpPr txBox="1"/>
          <p:nvPr/>
        </p:nvSpPr>
        <p:spPr>
          <a:xfrm>
            <a:off x="2029968" y="2615184"/>
            <a:ext cx="3566160" cy="274320"/>
          </a:xfrm>
          <a:prstGeom prst="rect">
            <a:avLst/>
          </a:prstGeom>
          <a:noFill/>
          <a:ln/>
        </p:spPr>
        <p:txBody>
          <a:bodyPr wrap="square" lIns="0" tIns="0" rIns="0" bIns="0" rtlCol="0" anchor="ctr"/>
          <a:lstStyle/>
          <a:p>
            <a:pPr marL="0" indent="0">
              <a:buNone/>
            </a:pPr>
            <a:r>
              <a:rPr lang="en-US" sz="1100" dirty="0">
                <a:solidFill>
                  <a:srgbClr val="A2908C"/>
                </a:solidFill>
                <a:latin typeface="Meiryo" pitchFamily="34" charset="0"/>
                <a:ea typeface="Meiryo" pitchFamily="34" charset="-122"/>
                <a:cs typeface="Meiryo" pitchFamily="34" charset="-120"/>
              </a:rPr>
              <a:t>管理契約の終了時（売却・引取・転換のいずれでも）</a:t>
            </a:r>
            <a:endParaRPr lang="en-US" sz="1100" dirty="0"/>
          </a:p>
        </p:txBody>
      </p:sp>
      <p:sp>
        <p:nvSpPr>
          <p:cNvPr id="12" name="Text 10"/>
          <p:cNvSpPr txBox="1"/>
          <p:nvPr/>
        </p:nvSpPr>
        <p:spPr>
          <a:xfrm>
            <a:off x="932688" y="2999232"/>
            <a:ext cx="1051560"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料率</a:t>
            </a:r>
            <a:endParaRPr lang="en-US" sz="1100" dirty="0"/>
          </a:p>
        </p:txBody>
      </p:sp>
      <p:sp>
        <p:nvSpPr>
          <p:cNvPr id="13" name="Text 11"/>
          <p:cNvSpPr txBox="1"/>
          <p:nvPr/>
        </p:nvSpPr>
        <p:spPr>
          <a:xfrm>
            <a:off x="2029968" y="2999232"/>
            <a:ext cx="3566160" cy="274320"/>
          </a:xfrm>
          <a:prstGeom prst="rect">
            <a:avLst/>
          </a:prstGeom>
          <a:noFill/>
          <a:ln/>
        </p:spPr>
        <p:txBody>
          <a:bodyPr wrap="square" lIns="0" tIns="0" rIns="0" bIns="0" rtlCol="0" anchor="ctr"/>
          <a:lstStyle/>
          <a:p>
            <a:pPr marL="0" indent="0">
              <a:buNone/>
            </a:pPr>
            <a:r>
              <a:rPr lang="en-US" sz="1100" dirty="0">
                <a:solidFill>
                  <a:srgbClr val="A2908C"/>
                </a:solidFill>
                <a:latin typeface="Meiryo" pitchFamily="34" charset="0"/>
                <a:ea typeface="Meiryo" pitchFamily="34" charset="-122"/>
                <a:cs typeface="Meiryo" pitchFamily="34" charset="-120"/>
              </a:rPr>
              <a:t>契約開始時と終了時の評価額の差分 × 30%</a:t>
            </a:r>
            <a:endParaRPr lang="en-US" sz="1100" dirty="0"/>
          </a:p>
        </p:txBody>
      </p:sp>
      <p:sp>
        <p:nvSpPr>
          <p:cNvPr id="14" name="Text 12"/>
          <p:cNvSpPr txBox="1"/>
          <p:nvPr/>
        </p:nvSpPr>
        <p:spPr>
          <a:xfrm>
            <a:off x="932688" y="3383280"/>
            <a:ext cx="1051560"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仲介手数料</a:t>
            </a:r>
            <a:endParaRPr lang="en-US" sz="1100" dirty="0"/>
          </a:p>
        </p:txBody>
      </p:sp>
      <p:sp>
        <p:nvSpPr>
          <p:cNvPr id="15" name="Text 13"/>
          <p:cNvSpPr txBox="1"/>
          <p:nvPr/>
        </p:nvSpPr>
        <p:spPr>
          <a:xfrm>
            <a:off x="2029968" y="3383280"/>
            <a:ext cx="3566160" cy="274320"/>
          </a:xfrm>
          <a:prstGeom prst="rect">
            <a:avLst/>
          </a:prstGeom>
          <a:noFill/>
          <a:ln/>
        </p:spPr>
        <p:txBody>
          <a:bodyPr wrap="square" lIns="0" tIns="0" rIns="0" bIns="0" rtlCol="0" anchor="ctr"/>
          <a:lstStyle/>
          <a:p>
            <a:pPr marL="0" indent="0">
              <a:buNone/>
            </a:pPr>
            <a:r>
              <a:rPr lang="en-US" sz="1100" dirty="0">
                <a:solidFill>
                  <a:srgbClr val="A2908C"/>
                </a:solidFill>
                <a:latin typeface="Meiryo" pitchFamily="34" charset="0"/>
                <a:ea typeface="Meiryo" pitchFamily="34" charset="-122"/>
                <a:cs typeface="Meiryo" pitchFamily="34" charset="-120"/>
              </a:rPr>
              <a:t>WineBank経由で成約した場合のみ収受。強制しない</a:t>
            </a:r>
            <a:endParaRPr lang="en-US" sz="1100" dirty="0"/>
          </a:p>
        </p:txBody>
      </p:sp>
      <p:sp>
        <p:nvSpPr>
          <p:cNvPr id="16" name="Shape 14"/>
          <p:cNvSpPr/>
          <p:nvPr/>
        </p:nvSpPr>
        <p:spPr>
          <a:xfrm>
            <a:off x="6199632" y="1645920"/>
            <a:ext cx="5394960" cy="2194560"/>
          </a:xfrm>
          <a:prstGeom prst="roundRect">
            <a:avLst>
              <a:gd name="adj" fmla="val 250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7" name="Text 15"/>
          <p:cNvSpPr txBox="1"/>
          <p:nvPr/>
        </p:nvSpPr>
        <p:spPr>
          <a:xfrm>
            <a:off x="6565392" y="1828800"/>
            <a:ext cx="4663440" cy="292608"/>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会員が得られる自由</a:t>
            </a:r>
            <a:endParaRPr lang="en-US" sz="1500" dirty="0"/>
          </a:p>
        </p:txBody>
      </p:sp>
      <p:sp>
        <p:nvSpPr>
          <p:cNvPr id="18" name="Text 16"/>
          <p:cNvSpPr txBox="1"/>
          <p:nvPr/>
        </p:nvSpPr>
        <p:spPr>
          <a:xfrm>
            <a:off x="6565392" y="2231136"/>
            <a:ext cx="1691640"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どこで売ってもいい</a:t>
            </a:r>
            <a:endParaRPr lang="en-US" sz="1100" dirty="0"/>
          </a:p>
        </p:txBody>
      </p:sp>
      <p:sp>
        <p:nvSpPr>
          <p:cNvPr id="19" name="Text 17"/>
          <p:cNvSpPr txBox="1"/>
          <p:nvPr/>
        </p:nvSpPr>
        <p:spPr>
          <a:xfrm>
            <a:off x="8302752" y="2231136"/>
            <a:ext cx="3017520" cy="274320"/>
          </a:xfrm>
          <a:prstGeom prst="rect">
            <a:avLst/>
          </a:prstGeom>
          <a:noFill/>
          <a:ln/>
        </p:spPr>
        <p:txBody>
          <a:bodyPr wrap="square" lIns="0" tIns="0" rIns="0" bIns="0" rtlCol="0" anchor="ctr"/>
          <a:lstStyle/>
          <a:p>
            <a:pPr marL="0" indent="0">
              <a:buNone/>
            </a:pPr>
            <a:r>
              <a:rPr lang="en-US" sz="1050" dirty="0">
                <a:solidFill>
                  <a:srgbClr val="A2908C"/>
                </a:solidFill>
                <a:latin typeface="Meiryo" pitchFamily="34" charset="0"/>
                <a:ea typeface="Meiryo" pitchFamily="34" charset="-122"/>
                <a:cs typeface="Meiryo" pitchFamily="34" charset="-120"/>
              </a:rPr>
              <a:t>他社でもヤフオクでも構いません。精算は変わりません</a:t>
            </a:r>
            <a:endParaRPr lang="en-US" sz="1050" dirty="0"/>
          </a:p>
        </p:txBody>
      </p:sp>
      <p:sp>
        <p:nvSpPr>
          <p:cNvPr id="20" name="Text 18"/>
          <p:cNvSpPr txBox="1"/>
          <p:nvPr/>
        </p:nvSpPr>
        <p:spPr>
          <a:xfrm>
            <a:off x="6565392" y="2615184"/>
            <a:ext cx="1691640"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市場より高く売れたら</a:t>
            </a:r>
            <a:endParaRPr lang="en-US" sz="1100" dirty="0"/>
          </a:p>
        </p:txBody>
      </p:sp>
      <p:sp>
        <p:nvSpPr>
          <p:cNvPr id="21" name="Text 19"/>
          <p:cNvSpPr txBox="1"/>
          <p:nvPr/>
        </p:nvSpPr>
        <p:spPr>
          <a:xfrm>
            <a:off x="8302752" y="2615184"/>
            <a:ext cx="3017520" cy="274320"/>
          </a:xfrm>
          <a:prstGeom prst="rect">
            <a:avLst/>
          </a:prstGeom>
          <a:noFill/>
          <a:ln/>
        </p:spPr>
        <p:txBody>
          <a:bodyPr wrap="square" lIns="0" tIns="0" rIns="0" bIns="0" rtlCol="0" anchor="ctr"/>
          <a:lstStyle/>
          <a:p>
            <a:pPr marL="0" indent="0">
              <a:buNone/>
            </a:pPr>
            <a:r>
              <a:rPr lang="en-US" sz="1050" dirty="0">
                <a:solidFill>
                  <a:srgbClr val="A2908C"/>
                </a:solidFill>
                <a:latin typeface="Meiryo" pitchFamily="34" charset="0"/>
                <a:ea typeface="Meiryo" pitchFamily="34" charset="-122"/>
                <a:cs typeface="Meiryo" pitchFamily="34" charset="-120"/>
              </a:rPr>
              <a:t>超過分はすべて会員のものです</a:t>
            </a:r>
            <a:endParaRPr lang="en-US" sz="1050" dirty="0"/>
          </a:p>
        </p:txBody>
      </p:sp>
      <p:sp>
        <p:nvSpPr>
          <p:cNvPr id="22" name="Text 20"/>
          <p:cNvSpPr txBox="1"/>
          <p:nvPr/>
        </p:nvSpPr>
        <p:spPr>
          <a:xfrm>
            <a:off x="6565392" y="2999232"/>
            <a:ext cx="1691640"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飲んでもいい</a:t>
            </a:r>
            <a:endParaRPr lang="en-US" sz="1100" dirty="0"/>
          </a:p>
        </p:txBody>
      </p:sp>
      <p:sp>
        <p:nvSpPr>
          <p:cNvPr id="23" name="Text 21"/>
          <p:cNvSpPr txBox="1"/>
          <p:nvPr/>
        </p:nvSpPr>
        <p:spPr>
          <a:xfrm>
            <a:off x="8302752" y="2999232"/>
            <a:ext cx="3017520" cy="274320"/>
          </a:xfrm>
          <a:prstGeom prst="rect">
            <a:avLst/>
          </a:prstGeom>
          <a:noFill/>
          <a:ln/>
        </p:spPr>
        <p:txBody>
          <a:bodyPr wrap="square" lIns="0" tIns="0" rIns="0" bIns="0" rtlCol="0" anchor="ctr"/>
          <a:lstStyle/>
          <a:p>
            <a:pPr marL="0" indent="0">
              <a:buNone/>
            </a:pPr>
            <a:r>
              <a:rPr lang="en-US" sz="1050" dirty="0">
                <a:solidFill>
                  <a:srgbClr val="A2908C"/>
                </a:solidFill>
                <a:latin typeface="Meiryo" pitchFamily="34" charset="0"/>
                <a:ea typeface="Meiryo" pitchFamily="34" charset="-122"/>
                <a:cs typeface="Meiryo" pitchFamily="34" charset="-120"/>
              </a:rPr>
              <a:t>年次リバランスで運用資産から控除するだけです</a:t>
            </a:r>
            <a:endParaRPr lang="en-US" sz="1050" dirty="0"/>
          </a:p>
        </p:txBody>
      </p:sp>
      <p:sp>
        <p:nvSpPr>
          <p:cNvPr id="24" name="Text 22"/>
          <p:cNvSpPr txBox="1"/>
          <p:nvPr/>
        </p:nvSpPr>
        <p:spPr>
          <a:xfrm>
            <a:off x="6565392" y="3383280"/>
            <a:ext cx="1691640"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現物で引き取ってもいい</a:t>
            </a:r>
            <a:endParaRPr lang="en-US" sz="1100" dirty="0"/>
          </a:p>
        </p:txBody>
      </p:sp>
      <p:sp>
        <p:nvSpPr>
          <p:cNvPr id="25" name="Text 23"/>
          <p:cNvSpPr txBox="1"/>
          <p:nvPr/>
        </p:nvSpPr>
        <p:spPr>
          <a:xfrm>
            <a:off x="8302752" y="3383280"/>
            <a:ext cx="3017520" cy="274320"/>
          </a:xfrm>
          <a:prstGeom prst="rect">
            <a:avLst/>
          </a:prstGeom>
          <a:noFill/>
          <a:ln/>
        </p:spPr>
        <p:txBody>
          <a:bodyPr wrap="square" lIns="0" tIns="0" rIns="0" bIns="0" rtlCol="0" anchor="ctr"/>
          <a:lstStyle/>
          <a:p>
            <a:pPr marL="0" indent="0">
              <a:buNone/>
            </a:pPr>
            <a:r>
              <a:rPr lang="en-US" sz="1050" dirty="0">
                <a:solidFill>
                  <a:srgbClr val="A2908C"/>
                </a:solidFill>
                <a:latin typeface="Meiryo" pitchFamily="34" charset="0"/>
                <a:ea typeface="Meiryo" pitchFamily="34" charset="-122"/>
                <a:cs typeface="Meiryo" pitchFamily="34" charset="-120"/>
              </a:rPr>
              <a:t>売れなければ現物をお届けします。当社の負担はゼロ</a:t>
            </a:r>
            <a:endParaRPr lang="en-US" sz="1050" dirty="0"/>
          </a:p>
        </p:txBody>
      </p:sp>
      <p:sp>
        <p:nvSpPr>
          <p:cNvPr id="26" name="Shape 24"/>
          <p:cNvSpPr/>
          <p:nvPr/>
        </p:nvSpPr>
        <p:spPr>
          <a:xfrm>
            <a:off x="566928" y="4023360"/>
            <a:ext cx="11027664" cy="1005840"/>
          </a:xfrm>
          <a:prstGeom prst="roundRect">
            <a:avLst>
              <a:gd name="adj" fmla="val 5455"/>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7" name="Text 25"/>
          <p:cNvSpPr txBox="1"/>
          <p:nvPr/>
        </p:nvSpPr>
        <p:spPr>
          <a:xfrm>
            <a:off x="978408" y="4206240"/>
            <a:ext cx="10204704" cy="365760"/>
          </a:xfrm>
          <a:prstGeom prst="rect">
            <a:avLst/>
          </a:prstGeom>
          <a:noFill/>
          <a:ln/>
        </p:spPr>
        <p:txBody>
          <a:bodyPr wrap="square" lIns="0" tIns="0" rIns="0" bIns="0" rtlCol="0" anchor="ctr"/>
          <a:lstStyle/>
          <a:p>
            <a:pPr marL="0" indent="0">
              <a:buNone/>
            </a:pPr>
            <a:r>
              <a:rPr lang="en-US" sz="1800" b="1" dirty="0">
                <a:solidFill>
                  <a:srgbClr val="E8CE78"/>
                </a:solidFill>
                <a:latin typeface="Meiryo" pitchFamily="34" charset="0"/>
                <a:ea typeface="Meiryo" pitchFamily="34" charset="-122"/>
                <a:cs typeface="Meiryo" pitchFamily="34" charset="-120"/>
              </a:rPr>
              <a:t>当社は会員の取引相手ではなく、値上がりを一緒に願う側にいます。</a:t>
            </a:r>
            <a:endParaRPr lang="en-US" sz="1800" dirty="0"/>
          </a:p>
        </p:txBody>
      </p:sp>
      <p:sp>
        <p:nvSpPr>
          <p:cNvPr id="28" name="Text 26"/>
          <p:cNvSpPr txBox="1"/>
          <p:nvPr/>
        </p:nvSpPr>
        <p:spPr>
          <a:xfrm>
            <a:off x="978408" y="4608576"/>
            <a:ext cx="10204704" cy="310896"/>
          </a:xfrm>
          <a:prstGeom prst="rect">
            <a:avLst/>
          </a:prstGeom>
          <a:noFill/>
          <a:ln/>
        </p:spPr>
        <p:txBody>
          <a:bodyPr wrap="square" lIns="0" tIns="0" rIns="0" bIns="0" rtlCol="0" anchor="ctr"/>
          <a:lstStyle/>
          <a:p>
            <a:pPr marL="0" indent="0">
              <a:buNone/>
            </a:pPr>
            <a:r>
              <a:rPr lang="en-US" sz="1200" dirty="0">
                <a:solidFill>
                  <a:srgbClr val="F2EDE6"/>
                </a:solidFill>
                <a:latin typeface="Meiryo" pitchFamily="34" charset="0"/>
                <a:ea typeface="Meiryo" pitchFamily="34" charset="-122"/>
                <a:cs typeface="Meiryo" pitchFamily="34" charset="-120"/>
              </a:rPr>
              <a:t>買戻しでは、会員は高く売りたく当社は安く買いたい。媒介では、当社は早く売りたい。成功報酬なら、当社が願うのは「値上がり」だけです。</a:t>
            </a:r>
            <a:endParaRPr lang="en-US" sz="1200" dirty="0"/>
          </a:p>
        </p:txBody>
      </p:sp>
      <p:sp>
        <p:nvSpPr>
          <p:cNvPr id="29" name="Shape 27"/>
          <p:cNvSpPr/>
          <p:nvPr/>
        </p:nvSpPr>
        <p:spPr>
          <a:xfrm>
            <a:off x="566928" y="5175504"/>
            <a:ext cx="11027664" cy="877824"/>
          </a:xfrm>
          <a:prstGeom prst="roundRect">
            <a:avLst>
              <a:gd name="adj" fmla="val 625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30" name="Text 28"/>
          <p:cNvSpPr txBox="1"/>
          <p:nvPr/>
        </p:nvSpPr>
        <p:spPr>
          <a:xfrm>
            <a:off x="978408" y="5340096"/>
            <a:ext cx="10204704" cy="292608"/>
          </a:xfrm>
          <a:prstGeom prst="rect">
            <a:avLst/>
          </a:prstGeom>
          <a:noFill/>
          <a:ln/>
        </p:spPr>
        <p:txBody>
          <a:bodyPr wrap="square" lIns="0" tIns="0" rIns="0" bIns="0" rtlCol="0" anchor="ctr"/>
          <a:lstStyle/>
          <a:p>
            <a:pPr marL="0" indent="0">
              <a:buNone/>
            </a:pPr>
            <a:r>
              <a:rPr lang="en-US" sz="1400" b="1" dirty="0">
                <a:solidFill>
                  <a:srgbClr val="E8CE78"/>
                </a:solidFill>
                <a:latin typeface="Meiryo" pitchFamily="34" charset="0"/>
                <a:ea typeface="Meiryo" pitchFamily="34" charset="-122"/>
                <a:cs typeface="Meiryo" pitchFamily="34" charset="-120"/>
              </a:rPr>
              <a:t>縛らないほうが、結果として当社を通ります。</a:t>
            </a:r>
            <a:endParaRPr lang="en-US" sz="1400" dirty="0"/>
          </a:p>
        </p:txBody>
      </p:sp>
      <p:sp>
        <p:nvSpPr>
          <p:cNvPr id="31" name="Text 29"/>
          <p:cNvSpPr txBox="1"/>
          <p:nvPr/>
        </p:nvSpPr>
        <p:spPr>
          <a:xfrm>
            <a:off x="978408" y="5669280"/>
            <a:ext cx="10204704" cy="292608"/>
          </a:xfrm>
          <a:prstGeom prst="rect">
            <a:avLst/>
          </a:prstGeom>
          <a:noFill/>
          <a:ln/>
        </p:spPr>
        <p:txBody>
          <a:bodyPr wrap="square" lIns="0" tIns="0" rIns="0" bIns="0" rtlCol="0" anchor="ctr"/>
          <a:lstStyle/>
          <a:p>
            <a:pPr marL="0" indent="0">
              <a:buNone/>
            </a:pPr>
            <a:r>
              <a:rPr lang="en-US" sz="1150" dirty="0">
                <a:solidFill>
                  <a:srgbClr val="A2908C"/>
                </a:solidFill>
                <a:latin typeface="Meiryo" pitchFamily="34" charset="0"/>
                <a:ea typeface="Meiryo" pitchFamily="34" charset="-122"/>
                <a:cs typeface="Meiryo" pitchFamily="34" charset="-120"/>
              </a:rPr>
              <a:t>精算が済んでいれば、会員が自社の板を使わない理由は「手間」だけになります。マーケットプレイスの使い勝手で勝てばよく、契約で縛る必要はありません。</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LEGAL</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法務確認済み：実施できます</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岩田合同法律事務所より2026年9月20日にクリーンオピニオンを取得。「対価性の要件を充足する事情は不見当」との結論です。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5394960" cy="1975104"/>
          </a:xfrm>
          <a:prstGeom prst="roundRect">
            <a:avLst>
              <a:gd name="adj" fmla="val 2778"/>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Shape 5"/>
          <p:cNvSpPr/>
          <p:nvPr/>
        </p:nvSpPr>
        <p:spPr>
          <a:xfrm>
            <a:off x="859536" y="188366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8366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01952"/>
            <a:ext cx="2651760" cy="292608"/>
          </a:xfrm>
          <a:prstGeom prst="rect">
            <a:avLst/>
          </a:prstGeom>
          <a:noFill/>
          <a:ln/>
        </p:spPr>
        <p:txBody>
          <a:bodyPr wrap="square" lIns="0" tIns="0" rIns="0" bIns="0" rtlCol="0" anchor="ctr"/>
          <a:lstStyle/>
          <a:p>
            <a:pPr marL="0" indent="0">
              <a:buNone/>
            </a:pPr>
            <a:r>
              <a:rPr lang="en-US" sz="1400" b="1" dirty="0">
                <a:solidFill>
                  <a:srgbClr val="F2EDE6"/>
                </a:solidFill>
                <a:latin typeface="Meiryo" pitchFamily="34" charset="0"/>
                <a:ea typeface="Meiryo" pitchFamily="34" charset="-122"/>
                <a:cs typeface="Meiryo" pitchFamily="34" charset="-120"/>
              </a:rPr>
              <a:t>資金決済法</a:t>
            </a:r>
            <a:endParaRPr lang="en-US" sz="1400" dirty="0"/>
          </a:p>
        </p:txBody>
      </p:sp>
      <p:sp>
        <p:nvSpPr>
          <p:cNvPr id="10" name="Text 8"/>
          <p:cNvSpPr txBox="1"/>
          <p:nvPr/>
        </p:nvSpPr>
        <p:spPr>
          <a:xfrm>
            <a:off x="859536" y="2322576"/>
            <a:ext cx="4809744" cy="292608"/>
          </a:xfrm>
          <a:prstGeom prst="rect">
            <a:avLst/>
          </a:prstGeom>
          <a:noFill/>
          <a:ln/>
        </p:spPr>
        <p:txBody>
          <a:bodyPr wrap="square" lIns="0" tIns="0" rIns="0" bIns="0" rtlCol="0" anchor="ctr"/>
          <a:lstStyle/>
          <a:p>
            <a:pPr marL="0" indent="0">
              <a:buNone/>
            </a:pPr>
            <a:r>
              <a:rPr lang="en-US" sz="1300" b="1" dirty="0">
                <a:solidFill>
                  <a:srgbClr val="E0A458"/>
                </a:solidFill>
                <a:latin typeface="Meiryo" pitchFamily="34" charset="0"/>
                <a:ea typeface="Meiryo" pitchFamily="34" charset="-122"/>
                <a:cs typeface="Meiryo" pitchFamily="34" charset="-120"/>
              </a:rPr>
              <a:t>二重の安全弁がかかっています</a:t>
            </a:r>
            <a:endParaRPr lang="en-US" sz="1300" dirty="0"/>
          </a:p>
        </p:txBody>
      </p:sp>
      <p:sp>
        <p:nvSpPr>
          <p:cNvPr id="11" name="Text 9"/>
          <p:cNvSpPr txBox="1"/>
          <p:nvPr/>
        </p:nvSpPr>
        <p:spPr>
          <a:xfrm>
            <a:off x="859536" y="2670048"/>
            <a:ext cx="4809744" cy="877824"/>
          </a:xfrm>
          <a:prstGeom prst="rect">
            <a:avLst/>
          </a:prstGeom>
          <a:noFill/>
          <a:ln/>
        </p:spPr>
        <p:txBody>
          <a:bodyPr wrap="square" lIns="0" tIns="0" rIns="0" bIns="0" rtlCol="0" anchor="ctr"/>
          <a:lstStyle/>
          <a:p>
            <a:pPr marL="0" indent="0">
              <a:lnSpc>
                <a:spcPts val="1600"/>
              </a:lnSpc>
              <a:buNone/>
            </a:pPr>
            <a:r>
              <a:rPr lang="en-US" sz="1050" dirty="0">
                <a:solidFill>
                  <a:srgbClr val="A2908C"/>
                </a:solidFill>
                <a:latin typeface="Meiryo" pitchFamily="34" charset="0"/>
                <a:ea typeface="Meiryo" pitchFamily="34" charset="-122"/>
                <a:cs typeface="Meiryo" pitchFamily="34" charset="-120"/>
              </a:rPr>
              <a:t>① 管理料に対するおまけ（無償発行）のため、前払式支払手段の対価性要件を満たしません。② 仮に該当しても、有効期限が発行から6ヶ月以内なら届出・供託・帳簿・報告の義務が生じません（法4条2号）。期間限定マイルは②も満たします。</a:t>
            </a:r>
            <a:endParaRPr lang="en-US" sz="1050" dirty="0"/>
          </a:p>
        </p:txBody>
      </p:sp>
      <p:sp>
        <p:nvSpPr>
          <p:cNvPr id="12" name="Shape 10"/>
          <p:cNvSpPr/>
          <p:nvPr/>
        </p:nvSpPr>
        <p:spPr>
          <a:xfrm>
            <a:off x="6199632" y="1664208"/>
            <a:ext cx="5394960" cy="1975104"/>
          </a:xfrm>
          <a:prstGeom prst="roundRect">
            <a:avLst>
              <a:gd name="adj" fmla="val 2778"/>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3" name="Shape 11"/>
          <p:cNvSpPr/>
          <p:nvPr/>
        </p:nvSpPr>
        <p:spPr>
          <a:xfrm>
            <a:off x="6492240" y="1883664"/>
            <a:ext cx="329184" cy="329184"/>
          </a:xfrm>
          <a:prstGeom prst="ellipse">
            <a:avLst/>
          </a:prstGeom>
          <a:solidFill>
            <a:srgbClr val="C9A227"/>
          </a:solidFill>
          <a:ln w="12700">
            <a:solidFill>
              <a:srgbClr val="C9A227"/>
            </a:solidFill>
            <a:prstDash val="solid"/>
          </a:ln>
        </p:spPr>
      </p:sp>
      <p:sp>
        <p:nvSpPr>
          <p:cNvPr id="14" name="Text 12"/>
          <p:cNvSpPr txBox="1"/>
          <p:nvPr/>
        </p:nvSpPr>
        <p:spPr>
          <a:xfrm>
            <a:off x="6492240" y="188366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6931152" y="1901952"/>
            <a:ext cx="2651760" cy="292608"/>
          </a:xfrm>
          <a:prstGeom prst="rect">
            <a:avLst/>
          </a:prstGeom>
          <a:noFill/>
          <a:ln/>
        </p:spPr>
        <p:txBody>
          <a:bodyPr wrap="square" lIns="0" tIns="0" rIns="0" bIns="0" rtlCol="0" anchor="ctr"/>
          <a:lstStyle/>
          <a:p>
            <a:pPr marL="0" indent="0">
              <a:buNone/>
            </a:pPr>
            <a:r>
              <a:rPr lang="en-US" sz="1400" b="1" dirty="0">
                <a:solidFill>
                  <a:srgbClr val="F2EDE6"/>
                </a:solidFill>
                <a:latin typeface="Meiryo" pitchFamily="34" charset="0"/>
                <a:ea typeface="Meiryo" pitchFamily="34" charset="-122"/>
                <a:cs typeface="Meiryo" pitchFamily="34" charset="-120"/>
              </a:rPr>
              <a:t>出資法・銀行法</a:t>
            </a:r>
            <a:endParaRPr lang="en-US" sz="1400" dirty="0"/>
          </a:p>
        </p:txBody>
      </p:sp>
      <p:sp>
        <p:nvSpPr>
          <p:cNvPr id="16" name="Text 14"/>
          <p:cNvSpPr txBox="1"/>
          <p:nvPr/>
        </p:nvSpPr>
        <p:spPr>
          <a:xfrm>
            <a:off x="6492240" y="2322576"/>
            <a:ext cx="4809744" cy="292608"/>
          </a:xfrm>
          <a:prstGeom prst="rect">
            <a:avLst/>
          </a:prstGeom>
          <a:noFill/>
          <a:ln/>
        </p:spPr>
        <p:txBody>
          <a:bodyPr wrap="square" lIns="0" tIns="0" rIns="0" bIns="0" rtlCol="0" anchor="ctr"/>
          <a:lstStyle/>
          <a:p>
            <a:pPr marL="0" indent="0">
              <a:buNone/>
            </a:pPr>
            <a:r>
              <a:rPr lang="en-US" sz="1300" b="1" dirty="0">
                <a:solidFill>
                  <a:srgbClr val="E0A458"/>
                </a:solidFill>
                <a:latin typeface="Meiryo" pitchFamily="34" charset="0"/>
                <a:ea typeface="Meiryo" pitchFamily="34" charset="-122"/>
                <a:cs typeface="Meiryo" pitchFamily="34" charset="-120"/>
              </a:rPr>
              <a:t>そもそも該当しない</a:t>
            </a:r>
            <a:endParaRPr lang="en-US" sz="1300" dirty="0"/>
          </a:p>
        </p:txBody>
      </p:sp>
      <p:sp>
        <p:nvSpPr>
          <p:cNvPr id="17" name="Text 15"/>
          <p:cNvSpPr txBox="1"/>
          <p:nvPr/>
        </p:nvSpPr>
        <p:spPr>
          <a:xfrm>
            <a:off x="6492240" y="2670048"/>
            <a:ext cx="4809744" cy="877824"/>
          </a:xfrm>
          <a:prstGeom prst="rect">
            <a:avLst/>
          </a:prstGeom>
          <a:noFill/>
          <a:ln/>
        </p:spPr>
        <p:txBody>
          <a:bodyPr wrap="square" lIns="0" tIns="0" rIns="0" bIns="0" rtlCol="0" anchor="ctr"/>
          <a:lstStyle/>
          <a:p>
            <a:pPr marL="0" indent="0">
              <a:lnSpc>
                <a:spcPts val="1600"/>
              </a:lnSpc>
              <a:buNone/>
            </a:pPr>
            <a:r>
              <a:rPr lang="en-US" sz="1050" dirty="0">
                <a:solidFill>
                  <a:srgbClr val="A2908C"/>
                </a:solidFill>
                <a:latin typeface="Meiryo" pitchFamily="34" charset="0"/>
                <a:ea typeface="Meiryo" pitchFamily="34" charset="-122"/>
                <a:cs typeface="Meiryo" pitchFamily="34" charset="-120"/>
              </a:rPr>
              <a:t>預かるのはワインであり金銭ではないため、『預金』『預り金』の4要件を満たしません。賃貸借契約を置かないため、賃料としての対価性が生じる余地もありません。</a:t>
            </a:r>
            <a:endParaRPr lang="en-US" sz="1050" dirty="0"/>
          </a:p>
        </p:txBody>
      </p:sp>
      <p:sp>
        <p:nvSpPr>
          <p:cNvPr id="18" name="Shape 16"/>
          <p:cNvSpPr/>
          <p:nvPr/>
        </p:nvSpPr>
        <p:spPr>
          <a:xfrm>
            <a:off x="566928" y="3858768"/>
            <a:ext cx="5394960" cy="1975104"/>
          </a:xfrm>
          <a:prstGeom prst="roundRect">
            <a:avLst>
              <a:gd name="adj" fmla="val 2778"/>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9" name="Shape 17"/>
          <p:cNvSpPr/>
          <p:nvPr/>
        </p:nvSpPr>
        <p:spPr>
          <a:xfrm>
            <a:off x="859536" y="4078224"/>
            <a:ext cx="329184" cy="329184"/>
          </a:xfrm>
          <a:prstGeom prst="ellipse">
            <a:avLst/>
          </a:prstGeom>
          <a:solidFill>
            <a:srgbClr val="C9A227"/>
          </a:solidFill>
          <a:ln w="12700">
            <a:solidFill>
              <a:srgbClr val="C9A227"/>
            </a:solidFill>
            <a:prstDash val="solid"/>
          </a:ln>
        </p:spPr>
      </p:sp>
      <p:sp>
        <p:nvSpPr>
          <p:cNvPr id="20" name="Text 18"/>
          <p:cNvSpPr txBox="1"/>
          <p:nvPr/>
        </p:nvSpPr>
        <p:spPr>
          <a:xfrm>
            <a:off x="859536" y="407822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1" name="Text 19"/>
          <p:cNvSpPr txBox="1"/>
          <p:nvPr/>
        </p:nvSpPr>
        <p:spPr>
          <a:xfrm>
            <a:off x="1298448" y="4096512"/>
            <a:ext cx="2651760" cy="292608"/>
          </a:xfrm>
          <a:prstGeom prst="rect">
            <a:avLst/>
          </a:prstGeom>
          <a:noFill/>
          <a:ln/>
        </p:spPr>
        <p:txBody>
          <a:bodyPr wrap="square" lIns="0" tIns="0" rIns="0" bIns="0" rtlCol="0" anchor="ctr"/>
          <a:lstStyle/>
          <a:p>
            <a:pPr marL="0" indent="0">
              <a:buNone/>
            </a:pPr>
            <a:r>
              <a:rPr lang="en-US" sz="1400" b="1" dirty="0">
                <a:solidFill>
                  <a:srgbClr val="F2EDE6"/>
                </a:solidFill>
                <a:latin typeface="Meiryo" pitchFamily="34" charset="0"/>
                <a:ea typeface="Meiryo" pitchFamily="34" charset="-122"/>
                <a:cs typeface="Meiryo" pitchFamily="34" charset="-120"/>
              </a:rPr>
              <a:t>景品表示法</a:t>
            </a:r>
            <a:endParaRPr lang="en-US" sz="1400" dirty="0"/>
          </a:p>
        </p:txBody>
      </p:sp>
      <p:sp>
        <p:nvSpPr>
          <p:cNvPr id="22" name="Text 20"/>
          <p:cNvSpPr txBox="1"/>
          <p:nvPr/>
        </p:nvSpPr>
        <p:spPr>
          <a:xfrm>
            <a:off x="859536" y="4517136"/>
            <a:ext cx="4809744" cy="292608"/>
          </a:xfrm>
          <a:prstGeom prst="rect">
            <a:avLst/>
          </a:prstGeom>
          <a:noFill/>
          <a:ln/>
        </p:spPr>
        <p:txBody>
          <a:bodyPr wrap="square" lIns="0" tIns="0" rIns="0" bIns="0" rtlCol="0" anchor="ctr"/>
          <a:lstStyle/>
          <a:p>
            <a:pPr marL="0" indent="0">
              <a:buNone/>
            </a:pPr>
            <a:r>
              <a:rPr lang="en-US" sz="1300" b="1" dirty="0">
                <a:solidFill>
                  <a:srgbClr val="E0A458"/>
                </a:solidFill>
                <a:latin typeface="Meiryo" pitchFamily="34" charset="0"/>
                <a:ea typeface="Meiryo" pitchFamily="34" charset="-122"/>
                <a:cs typeface="Meiryo" pitchFamily="34" charset="-120"/>
              </a:rPr>
              <a:t>値引と整理され、還元率に上限はない</a:t>
            </a:r>
            <a:endParaRPr lang="en-US" sz="1300" dirty="0"/>
          </a:p>
        </p:txBody>
      </p:sp>
      <p:sp>
        <p:nvSpPr>
          <p:cNvPr id="23" name="Text 21"/>
          <p:cNvSpPr txBox="1"/>
          <p:nvPr/>
        </p:nvSpPr>
        <p:spPr>
          <a:xfrm>
            <a:off x="859536" y="4864608"/>
            <a:ext cx="4809744" cy="877824"/>
          </a:xfrm>
          <a:prstGeom prst="rect">
            <a:avLst/>
          </a:prstGeom>
          <a:noFill/>
          <a:ln/>
        </p:spPr>
        <p:txBody>
          <a:bodyPr wrap="square" lIns="0" tIns="0" rIns="0" bIns="0" rtlCol="0" anchor="ctr"/>
          <a:lstStyle/>
          <a:p>
            <a:pPr marL="0" indent="0">
              <a:lnSpc>
                <a:spcPts val="1600"/>
              </a:lnSpc>
              <a:buNone/>
            </a:pPr>
            <a:r>
              <a:rPr lang="en-US" sz="1050" dirty="0">
                <a:solidFill>
                  <a:srgbClr val="A2908C"/>
                </a:solidFill>
                <a:latin typeface="Meiryo" pitchFamily="34" charset="0"/>
                <a:ea typeface="Meiryo" pitchFamily="34" charset="-122"/>
                <a:cs typeface="Meiryo" pitchFamily="34" charset="-120"/>
              </a:rPr>
              <a:t>自社でのみ使えるマイルは『正常な商慣習に照らして値引』にあたり景品類に該当しません。実質50%値引を許容する消費者庁Q&amp;Aもあり、4〜6%は論点になりません。ただし表示は正確に。</a:t>
            </a:r>
            <a:endParaRPr lang="en-US" sz="1050" dirty="0"/>
          </a:p>
        </p:txBody>
      </p:sp>
      <p:sp>
        <p:nvSpPr>
          <p:cNvPr id="24" name="Shape 22"/>
          <p:cNvSpPr/>
          <p:nvPr/>
        </p:nvSpPr>
        <p:spPr>
          <a:xfrm>
            <a:off x="6199632" y="3858768"/>
            <a:ext cx="5394960" cy="1975104"/>
          </a:xfrm>
          <a:prstGeom prst="roundRect">
            <a:avLst>
              <a:gd name="adj" fmla="val 2778"/>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25" name="Shape 23"/>
          <p:cNvSpPr/>
          <p:nvPr/>
        </p:nvSpPr>
        <p:spPr>
          <a:xfrm>
            <a:off x="6492240" y="4078224"/>
            <a:ext cx="329184" cy="329184"/>
          </a:xfrm>
          <a:prstGeom prst="ellipse">
            <a:avLst/>
          </a:prstGeom>
          <a:solidFill>
            <a:srgbClr val="E0A458"/>
          </a:solidFill>
          <a:ln w="12700">
            <a:solidFill>
              <a:srgbClr val="E0A458"/>
            </a:solidFill>
            <a:prstDash val="solid"/>
          </a:ln>
        </p:spPr>
      </p:sp>
      <p:sp>
        <p:nvSpPr>
          <p:cNvPr id="26" name="Text 24"/>
          <p:cNvSpPr txBox="1"/>
          <p:nvPr/>
        </p:nvSpPr>
        <p:spPr>
          <a:xfrm>
            <a:off x="6492240" y="4078224"/>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7" name="Text 25"/>
          <p:cNvSpPr txBox="1"/>
          <p:nvPr/>
        </p:nvSpPr>
        <p:spPr>
          <a:xfrm>
            <a:off x="6931152" y="4096512"/>
            <a:ext cx="2651760" cy="292608"/>
          </a:xfrm>
          <a:prstGeom prst="rect">
            <a:avLst/>
          </a:prstGeom>
          <a:noFill/>
          <a:ln/>
        </p:spPr>
        <p:txBody>
          <a:bodyPr wrap="square" lIns="0" tIns="0" rIns="0" bIns="0" rtlCol="0" anchor="ctr"/>
          <a:lstStyle/>
          <a:p>
            <a:pPr marL="0" indent="0">
              <a:buNone/>
            </a:pPr>
            <a:r>
              <a:rPr lang="en-US" sz="1400" b="1" dirty="0">
                <a:solidFill>
                  <a:srgbClr val="F2EDE6"/>
                </a:solidFill>
                <a:latin typeface="Meiryo" pitchFamily="34" charset="0"/>
                <a:ea typeface="Meiryo" pitchFamily="34" charset="-122"/>
                <a:cs typeface="Meiryo" pitchFamily="34" charset="-120"/>
              </a:rPr>
              <a:t>消費者契約法</a:t>
            </a:r>
            <a:endParaRPr lang="en-US" sz="1400" dirty="0"/>
          </a:p>
        </p:txBody>
      </p:sp>
      <p:sp>
        <p:nvSpPr>
          <p:cNvPr id="28" name="Text 26"/>
          <p:cNvSpPr txBox="1"/>
          <p:nvPr/>
        </p:nvSpPr>
        <p:spPr>
          <a:xfrm>
            <a:off x="6492240" y="4517136"/>
            <a:ext cx="4809744" cy="292608"/>
          </a:xfrm>
          <a:prstGeom prst="rect">
            <a:avLst/>
          </a:prstGeom>
          <a:noFill/>
          <a:ln/>
        </p:spPr>
        <p:txBody>
          <a:bodyPr wrap="square" lIns="0" tIns="0" rIns="0" bIns="0" rtlCol="0" anchor="ctr"/>
          <a:lstStyle/>
          <a:p>
            <a:pPr marL="0" indent="0">
              <a:buNone/>
            </a:pPr>
            <a:r>
              <a:rPr lang="en-US" sz="1300" b="1" dirty="0">
                <a:solidFill>
                  <a:srgbClr val="E0A458"/>
                </a:solidFill>
                <a:latin typeface="Meiryo" pitchFamily="34" charset="0"/>
                <a:ea typeface="Meiryo" pitchFamily="34" charset="-122"/>
                <a:cs typeface="Meiryo" pitchFamily="34" charset="-120"/>
              </a:rPr>
              <a:t>事前告知なき失効は無効になり得る</a:t>
            </a:r>
            <a:endParaRPr lang="en-US" sz="1300" dirty="0"/>
          </a:p>
        </p:txBody>
      </p:sp>
      <p:sp>
        <p:nvSpPr>
          <p:cNvPr id="29" name="Text 27"/>
          <p:cNvSpPr txBox="1"/>
          <p:nvPr/>
        </p:nvSpPr>
        <p:spPr>
          <a:xfrm>
            <a:off x="6492240" y="4864608"/>
            <a:ext cx="4809744" cy="877824"/>
          </a:xfrm>
          <a:prstGeom prst="rect">
            <a:avLst/>
          </a:prstGeom>
          <a:noFill/>
          <a:ln/>
        </p:spPr>
        <p:txBody>
          <a:bodyPr wrap="square" lIns="0" tIns="0" rIns="0" bIns="0" rtlCol="0" anchor="ctr"/>
          <a:lstStyle/>
          <a:p>
            <a:pPr marL="0" indent="0">
              <a:lnSpc>
                <a:spcPts val="1600"/>
              </a:lnSpc>
              <a:buNone/>
            </a:pPr>
            <a:r>
              <a:rPr lang="en-US" sz="1050" dirty="0">
                <a:solidFill>
                  <a:srgbClr val="A2908C"/>
                </a:solidFill>
                <a:latin typeface="Meiryo" pitchFamily="34" charset="0"/>
                <a:ea typeface="Meiryo" pitchFamily="34" charset="-122"/>
                <a:cs typeface="Meiryo" pitchFamily="34" charset="-120"/>
              </a:rPr>
              <a:t>大量に貯まったマイルを予告なく失効させる条項は法10条で無効となり得ます。付与・利用・変更手続・トラブル対応・譲渡可否・終了時対応の6点を規約に明記し公表します（経産省ガイドライン）。</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DRINK RISK</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「全部飲まれる」の正体は付与タイミング</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買ったワインを飲まれても、販売粗利30%があるので赤字にはなりません。問題は「管理料は月払い・マイルは年一括」です。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5394960" cy="1798320"/>
        </p:xfrm>
        <a:graphic>
          <a:graphicData uri="http://schemas.openxmlformats.org/drawingml/2006/table">
            <a:tbl>
              <a:tblPr/>
              <a:tblGrid>
                <a:gridCol w="10058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20624">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ティア</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月の管理料</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年一括のマイル</a:t>
                      </a:r>
                      <a:endParaRPr lang="en-US" sz="1100" dirty="0">
                        <a:latin typeface="Meiryo" charset="0"/>
                        <a:ea typeface="Meiryo" charset="0"/>
                        <a:cs typeface="Meiryo" charset="0"/>
                      </a:endParaRPr>
                    </a:p>
                    <a:p>
                      <a:pPr marL="0" indent="0" algn="ctr">
                        <a:buNone/>
                      </a:pPr>
                      <a:r>
                        <a:rPr lang="en-US" sz="1100" b="1" dirty="0">
                          <a:solidFill>
                            <a:srgbClr val="F2EDE6"/>
                          </a:solidFill>
                          <a:latin typeface="Meiryo" pitchFamily="34" charset="0"/>
                          <a:ea typeface="Meiryo" pitchFamily="34" charset="-122"/>
                          <a:cs typeface="Meiryo" pitchFamily="34" charset="-120"/>
                        </a:rPr>
                        <a:t>（当社原価）</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翌月に</a:t>
                      </a:r>
                      <a:endParaRPr lang="en-US" sz="1100" dirty="0">
                        <a:latin typeface="Meiryo" charset="0"/>
                        <a:ea typeface="Meiryo" charset="0"/>
                        <a:cs typeface="Meiryo" charset="0"/>
                      </a:endParaRPr>
                    </a:p>
                    <a:p>
                      <a:pPr marL="0" indent="0" algn="ctr">
                        <a:buNone/>
                      </a:pPr>
                      <a:r>
                        <a:rPr lang="en-US" sz="1100" b="1" dirty="0">
                          <a:solidFill>
                            <a:srgbClr val="F2EDE6"/>
                          </a:solidFill>
                          <a:latin typeface="Meiryo" pitchFamily="34" charset="0"/>
                          <a:ea typeface="Meiryo" pitchFamily="34" charset="-122"/>
                          <a:cs typeface="Meiryo" pitchFamily="34" charset="-120"/>
                        </a:rPr>
                        <a:t>引き出されると</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457200">
                <a:tc>
                  <a:txBody>
                    <a:bodyPr/>
                    <a:lstStyle/>
                    <a:p>
                      <a:pPr marL="0" indent="0" algn="ctr">
                        <a:buNone/>
                      </a:pPr>
                      <a:r>
                        <a:rPr lang="en-US" sz="1100" b="1" dirty="0">
                          <a:solidFill>
                            <a:srgbClr val="E8CE78"/>
                          </a:solidFill>
                          <a:latin typeface="Meiryo" pitchFamily="34" charset="0"/>
                          <a:ea typeface="Meiryo" pitchFamily="34" charset="-122"/>
                          <a:cs typeface="Meiryo" pitchFamily="34" charset="-120"/>
                        </a:rPr>
                        <a:t>100万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2,292円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40,000</a:t>
                      </a:r>
                      <a:endParaRPr lang="en-US" sz="1100" dirty="0">
                        <a:latin typeface="Meiryo" charset="0"/>
                        <a:ea typeface="Meiryo" charset="0"/>
                        <a:cs typeface="Meiryo" charset="0"/>
                      </a:endParaRPr>
                    </a:p>
                    <a:p>
                      <a:pPr marL="0" indent="0" algn="ctr">
                        <a:buNone/>
                      </a:pPr>
                      <a:r>
                        <a:rPr lang="en-US" sz="1100" dirty="0">
                          <a:solidFill>
                            <a:srgbClr val="F2EDE6"/>
                          </a:solidFill>
                          <a:latin typeface="Meiryo" pitchFamily="34" charset="0"/>
                          <a:ea typeface="Meiryo" pitchFamily="34" charset="-122"/>
                          <a:cs typeface="Meiryo" pitchFamily="34" charset="-120"/>
                        </a:rPr>
                        <a:t>（20,455円）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D96A6A"/>
                          </a:solidFill>
                          <a:latin typeface="Meiryo" pitchFamily="34" charset="0"/>
                          <a:ea typeface="Meiryo" pitchFamily="34" charset="-122"/>
                          <a:cs typeface="Meiryo" pitchFamily="34" charset="-120"/>
                        </a:rPr>
                        <a:t>▲18,164円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457200">
                <a:tc>
                  <a:txBody>
                    <a:bodyPr/>
                    <a:lstStyle/>
                    <a:p>
                      <a:pPr marL="0" indent="0" algn="ctr">
                        <a:buNone/>
                      </a:pPr>
                      <a:r>
                        <a:rPr lang="en-US" sz="1100" b="1" dirty="0">
                          <a:solidFill>
                            <a:srgbClr val="E8CE78"/>
                          </a:solidFill>
                          <a:latin typeface="Meiryo" pitchFamily="34" charset="0"/>
                          <a:ea typeface="Meiryo" pitchFamily="34" charset="-122"/>
                          <a:cs typeface="Meiryo" pitchFamily="34" charset="-120"/>
                        </a:rPr>
                        <a:t>500万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11,458円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250,000</a:t>
                      </a:r>
                      <a:endParaRPr lang="en-US" sz="1100" dirty="0">
                        <a:latin typeface="Meiryo" charset="0"/>
                        <a:ea typeface="Meiryo" charset="0"/>
                        <a:cs typeface="Meiryo" charset="0"/>
                      </a:endParaRPr>
                    </a:p>
                    <a:p>
                      <a:pPr marL="0" indent="0" algn="ctr">
                        <a:buNone/>
                      </a:pPr>
                      <a:r>
                        <a:rPr lang="en-US" sz="1100" dirty="0">
                          <a:solidFill>
                            <a:srgbClr val="F2EDE6"/>
                          </a:solidFill>
                          <a:latin typeface="Meiryo" pitchFamily="34" charset="0"/>
                          <a:ea typeface="Meiryo" pitchFamily="34" charset="-122"/>
                          <a:cs typeface="Meiryo" pitchFamily="34" charset="-120"/>
                        </a:rPr>
                        <a:t>（127,845円）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D96A6A"/>
                          </a:solidFill>
                          <a:latin typeface="Meiryo" pitchFamily="34" charset="0"/>
                          <a:ea typeface="Meiryo" pitchFamily="34" charset="-122"/>
                          <a:cs typeface="Meiryo" pitchFamily="34" charset="-120"/>
                        </a:rPr>
                        <a:t>▲116,387円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2"/>
                  </a:ext>
                </a:extLst>
              </a:tr>
              <a:tr h="457200">
                <a:tc>
                  <a:txBody>
                    <a:bodyPr/>
                    <a:lstStyle/>
                    <a:p>
                      <a:pPr marL="0" indent="0" algn="ctr">
                        <a:buNone/>
                      </a:pPr>
                      <a:r>
                        <a:rPr lang="en-US" sz="1100" b="1" dirty="0">
                          <a:solidFill>
                            <a:srgbClr val="E8CE78"/>
                          </a:solidFill>
                          <a:latin typeface="Meiryo" pitchFamily="34" charset="0"/>
                          <a:ea typeface="Meiryo" pitchFamily="34" charset="-122"/>
                          <a:cs typeface="Meiryo" pitchFamily="34" charset="-120"/>
                        </a:rPr>
                        <a:t>1000万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22,917円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600,000</a:t>
                      </a:r>
                      <a:endParaRPr lang="en-US" sz="1100" dirty="0">
                        <a:latin typeface="Meiryo" charset="0"/>
                        <a:ea typeface="Meiryo" charset="0"/>
                        <a:cs typeface="Meiryo" charset="0"/>
                      </a:endParaRPr>
                    </a:p>
                    <a:p>
                      <a:pPr marL="0" indent="0" algn="ctr">
                        <a:buNone/>
                      </a:pPr>
                      <a:r>
                        <a:rPr lang="en-US" sz="1100" dirty="0">
                          <a:solidFill>
                            <a:srgbClr val="F2EDE6"/>
                          </a:solidFill>
                          <a:latin typeface="Meiryo" pitchFamily="34" charset="0"/>
                          <a:ea typeface="Meiryo" pitchFamily="34" charset="-122"/>
                          <a:cs typeface="Meiryo" pitchFamily="34" charset="-120"/>
                        </a:rPr>
                        <a:t>（306,828円）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D96A6A"/>
                          </a:solidFill>
                          <a:latin typeface="Meiryo" pitchFamily="34" charset="0"/>
                          <a:ea typeface="Meiryo" pitchFamily="34" charset="-122"/>
                          <a:cs typeface="Meiryo" pitchFamily="34" charset="-120"/>
                        </a:rPr>
                        <a:t>▲283,911円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bl>
          </a:graphicData>
        </a:graphic>
      </p:graphicFrame>
      <p:sp>
        <p:nvSpPr>
          <p:cNvPr id="7" name="Shape 4"/>
          <p:cNvSpPr/>
          <p:nvPr/>
        </p:nvSpPr>
        <p:spPr>
          <a:xfrm>
            <a:off x="566928" y="3566160"/>
            <a:ext cx="5394960" cy="1517904"/>
          </a:xfrm>
          <a:prstGeom prst="roundRect">
            <a:avLst>
              <a:gd name="adj" fmla="val 3614"/>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8" name="Text 5"/>
          <p:cNvSpPr txBox="1"/>
          <p:nvPr/>
        </p:nvSpPr>
        <p:spPr>
          <a:xfrm>
            <a:off x="932688" y="3749040"/>
            <a:ext cx="4663440" cy="274320"/>
          </a:xfrm>
          <a:prstGeom prst="rect">
            <a:avLst/>
          </a:prstGeom>
          <a:noFill/>
          <a:ln/>
        </p:spPr>
        <p:txBody>
          <a:bodyPr wrap="square" lIns="0" tIns="0" rIns="0" bIns="0" rtlCol="0" anchor="ctr"/>
          <a:lstStyle/>
          <a:p>
            <a:pPr marL="0" indent="0">
              <a:buNone/>
            </a:pPr>
            <a:r>
              <a:rPr lang="en-US" sz="1400" b="1" dirty="0">
                <a:solidFill>
                  <a:srgbClr val="7FD1AE"/>
                </a:solidFill>
                <a:latin typeface="Meiryo" pitchFamily="34" charset="0"/>
                <a:ea typeface="Meiryo" pitchFamily="34" charset="-122"/>
                <a:cs typeface="Meiryo" pitchFamily="34" charset="-120"/>
              </a:rPr>
              <a:t>購入ワインなら、粗利で吸収できる</a:t>
            </a:r>
            <a:endParaRPr lang="en-US" sz="1400" dirty="0"/>
          </a:p>
        </p:txBody>
      </p:sp>
      <p:sp>
        <p:nvSpPr>
          <p:cNvPr id="9" name="Text 6"/>
          <p:cNvSpPr txBox="1"/>
          <p:nvPr/>
        </p:nvSpPr>
        <p:spPr>
          <a:xfrm>
            <a:off x="932688" y="4114800"/>
            <a:ext cx="4663440" cy="859536"/>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100万円の販売で粗利は30万円。▲1.8万円のストック損は吸収され、当社は+28万円です。失うのは、その後の管理料と成功報酬だけです。</a:t>
            </a:r>
            <a:endParaRPr lang="en-US" sz="1100" dirty="0"/>
          </a:p>
        </p:txBody>
      </p:sp>
      <p:sp>
        <p:nvSpPr>
          <p:cNvPr id="10" name="Shape 7"/>
          <p:cNvSpPr/>
          <p:nvPr/>
        </p:nvSpPr>
        <p:spPr>
          <a:xfrm>
            <a:off x="6199632" y="1645920"/>
            <a:ext cx="5394960" cy="3438144"/>
          </a:xfrm>
          <a:prstGeom prst="roundRect">
            <a:avLst>
              <a:gd name="adj" fmla="val 1596"/>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1" name="Text 8"/>
          <p:cNvSpPr txBox="1"/>
          <p:nvPr/>
        </p:nvSpPr>
        <p:spPr>
          <a:xfrm>
            <a:off x="6565392" y="1828800"/>
            <a:ext cx="4663440" cy="310896"/>
          </a:xfrm>
          <a:prstGeom prst="rect">
            <a:avLst/>
          </a:prstGeom>
          <a:noFill/>
          <a:ln/>
        </p:spPr>
        <p:txBody>
          <a:bodyPr wrap="square" lIns="0" tIns="0" rIns="0" bIns="0" rtlCol="0" anchor="ctr"/>
          <a:lstStyle/>
          <a:p>
            <a:pPr marL="0" indent="0">
              <a:buNone/>
            </a:pPr>
            <a:r>
              <a:rPr lang="en-US" sz="1600" b="1" dirty="0">
                <a:solidFill>
                  <a:srgbClr val="E0A458"/>
                </a:solidFill>
                <a:latin typeface="Meiryo" pitchFamily="34" charset="0"/>
                <a:ea typeface="Meiryo" pitchFamily="34" charset="-122"/>
                <a:cs typeface="Meiryo" pitchFamily="34" charset="-120"/>
              </a:rPr>
              <a:t>本当に危ないのは、持込ワイン</a:t>
            </a:r>
            <a:endParaRPr lang="en-US" sz="1600" dirty="0"/>
          </a:p>
        </p:txBody>
      </p:sp>
      <p:sp>
        <p:nvSpPr>
          <p:cNvPr id="12" name="Text 9"/>
          <p:cNvSpPr txBox="1"/>
          <p:nvPr/>
        </p:nvSpPr>
        <p:spPr>
          <a:xfrm>
            <a:off x="6565392" y="2212848"/>
            <a:ext cx="4663440" cy="548640"/>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当社で販売していないワインには粗利がありません。次の4手を繰り返されると、毎回そのまま純損になります。</a:t>
            </a:r>
            <a:endParaRPr lang="en-US" sz="1100" dirty="0"/>
          </a:p>
        </p:txBody>
      </p:sp>
      <p:sp>
        <p:nvSpPr>
          <p:cNvPr id="13" name="Shape 10"/>
          <p:cNvSpPr/>
          <p:nvPr/>
        </p:nvSpPr>
        <p:spPr>
          <a:xfrm>
            <a:off x="6565392" y="2871216"/>
            <a:ext cx="329184" cy="329184"/>
          </a:xfrm>
          <a:prstGeom prst="ellipse">
            <a:avLst/>
          </a:prstGeom>
          <a:solidFill>
            <a:srgbClr val="C9A227"/>
          </a:solidFill>
          <a:ln w="12700">
            <a:solidFill>
              <a:srgbClr val="C9A227"/>
            </a:solidFill>
            <a:prstDash val="solid"/>
          </a:ln>
        </p:spPr>
      </p:sp>
      <p:sp>
        <p:nvSpPr>
          <p:cNvPr id="14" name="Text 11"/>
          <p:cNvSpPr txBox="1"/>
          <p:nvPr/>
        </p:nvSpPr>
        <p:spPr>
          <a:xfrm>
            <a:off x="6565392" y="2871216"/>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5" name="Text 12"/>
          <p:cNvSpPr txBox="1"/>
          <p:nvPr/>
        </p:nvSpPr>
        <p:spPr>
          <a:xfrm>
            <a:off x="7022592" y="2852928"/>
            <a:ext cx="4206240" cy="256032"/>
          </a:xfrm>
          <a:prstGeom prst="rect">
            <a:avLst/>
          </a:prstGeom>
          <a:noFill/>
          <a:ln/>
        </p:spPr>
        <p:txBody>
          <a:bodyPr wrap="square" lIns="0" tIns="0" rIns="0" bIns="0" rtlCol="0" anchor="ctr"/>
          <a:lstStyle/>
          <a:p>
            <a:pPr marL="0" indent="0">
              <a:buNone/>
            </a:pPr>
            <a:r>
              <a:rPr lang="en-US" sz="1250" b="1" dirty="0">
                <a:solidFill>
                  <a:srgbClr val="F2EDE6"/>
                </a:solidFill>
                <a:latin typeface="Meiryo" pitchFamily="34" charset="0"/>
                <a:ea typeface="Meiryo" pitchFamily="34" charset="-122"/>
                <a:cs typeface="Meiryo" pitchFamily="34" charset="-120"/>
              </a:rPr>
              <a:t>手元のワインを預ける</a:t>
            </a:r>
            <a:endParaRPr lang="en-US" sz="1250" dirty="0"/>
          </a:p>
        </p:txBody>
      </p:sp>
      <p:sp>
        <p:nvSpPr>
          <p:cNvPr id="16" name="Text 13"/>
          <p:cNvSpPr txBox="1"/>
          <p:nvPr/>
        </p:nvSpPr>
        <p:spPr>
          <a:xfrm>
            <a:off x="7022592" y="3108960"/>
            <a:ext cx="4206240" cy="219456"/>
          </a:xfrm>
          <a:prstGeom prst="rect">
            <a:avLst/>
          </a:prstGeom>
          <a:noFill/>
          <a:ln/>
        </p:spPr>
        <p:txBody>
          <a:bodyPr wrap="square" lIns="0" tIns="0" rIns="0" bIns="0" rtlCol="0" anchor="ctr"/>
          <a:lstStyle/>
          <a:p>
            <a:pPr marL="0" indent="0">
              <a:buNone/>
            </a:pPr>
            <a:r>
              <a:rPr lang="en-US" sz="1000" dirty="0">
                <a:solidFill>
                  <a:srgbClr val="A2908C"/>
                </a:solidFill>
                <a:latin typeface="Meiryo" pitchFamily="34" charset="0"/>
                <a:ea typeface="Meiryo" pitchFamily="34" charset="-122"/>
                <a:cs typeface="Meiryo" pitchFamily="34" charset="-120"/>
              </a:rPr>
              <a:t>持込・移管。当社の販売を経ない</a:t>
            </a:r>
            <a:endParaRPr lang="en-US" sz="1000" dirty="0"/>
          </a:p>
        </p:txBody>
      </p:sp>
      <p:sp>
        <p:nvSpPr>
          <p:cNvPr id="17" name="Shape 14"/>
          <p:cNvSpPr/>
          <p:nvPr/>
        </p:nvSpPr>
        <p:spPr>
          <a:xfrm>
            <a:off x="6565392" y="3401568"/>
            <a:ext cx="329184" cy="329184"/>
          </a:xfrm>
          <a:prstGeom prst="ellipse">
            <a:avLst/>
          </a:prstGeom>
          <a:solidFill>
            <a:srgbClr val="C9A227"/>
          </a:solidFill>
          <a:ln w="12700">
            <a:solidFill>
              <a:srgbClr val="C9A227"/>
            </a:solidFill>
            <a:prstDash val="solid"/>
          </a:ln>
        </p:spPr>
      </p:sp>
      <p:sp>
        <p:nvSpPr>
          <p:cNvPr id="18" name="Text 15"/>
          <p:cNvSpPr txBox="1"/>
          <p:nvPr/>
        </p:nvSpPr>
        <p:spPr>
          <a:xfrm>
            <a:off x="6565392" y="34015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9" name="Text 16"/>
          <p:cNvSpPr txBox="1"/>
          <p:nvPr/>
        </p:nvSpPr>
        <p:spPr>
          <a:xfrm>
            <a:off x="7022592" y="3383280"/>
            <a:ext cx="4206240" cy="256032"/>
          </a:xfrm>
          <a:prstGeom prst="rect">
            <a:avLst/>
          </a:prstGeom>
          <a:noFill/>
          <a:ln/>
        </p:spPr>
        <p:txBody>
          <a:bodyPr wrap="square" lIns="0" tIns="0" rIns="0" bIns="0" rtlCol="0" anchor="ctr"/>
          <a:lstStyle/>
          <a:p>
            <a:pPr marL="0" indent="0">
              <a:buNone/>
            </a:pPr>
            <a:r>
              <a:rPr lang="en-US" sz="1250" b="1" dirty="0">
                <a:solidFill>
                  <a:srgbClr val="F2EDE6"/>
                </a:solidFill>
                <a:latin typeface="Meiryo" pitchFamily="34" charset="0"/>
                <a:ea typeface="Meiryo" pitchFamily="34" charset="-122"/>
                <a:cs typeface="Meiryo" pitchFamily="34" charset="-120"/>
              </a:rPr>
              <a:t>年分のマイルを受け取る</a:t>
            </a:r>
            <a:endParaRPr lang="en-US" sz="1250" dirty="0"/>
          </a:p>
        </p:txBody>
      </p:sp>
      <p:sp>
        <p:nvSpPr>
          <p:cNvPr id="20" name="Text 17"/>
          <p:cNvSpPr txBox="1"/>
          <p:nvPr/>
        </p:nvSpPr>
        <p:spPr>
          <a:xfrm>
            <a:off x="7022592" y="3639312"/>
            <a:ext cx="4206240" cy="219456"/>
          </a:xfrm>
          <a:prstGeom prst="rect">
            <a:avLst/>
          </a:prstGeom>
          <a:noFill/>
          <a:ln/>
        </p:spPr>
        <p:txBody>
          <a:bodyPr wrap="square" lIns="0" tIns="0" rIns="0" bIns="0" rtlCol="0" anchor="ctr"/>
          <a:lstStyle/>
          <a:p>
            <a:pPr marL="0" indent="0">
              <a:buNone/>
            </a:pPr>
            <a:r>
              <a:rPr lang="en-US" sz="1000" dirty="0">
                <a:solidFill>
                  <a:srgbClr val="A2908C"/>
                </a:solidFill>
                <a:latin typeface="Meiryo" pitchFamily="34" charset="0"/>
                <a:ea typeface="Meiryo" pitchFamily="34" charset="-122"/>
                <a:cs typeface="Meiryo" pitchFamily="34" charset="-120"/>
              </a:rPr>
              <a:t>年一括付与なら初月に全額</a:t>
            </a:r>
            <a:endParaRPr lang="en-US" sz="1000" dirty="0"/>
          </a:p>
        </p:txBody>
      </p:sp>
      <p:sp>
        <p:nvSpPr>
          <p:cNvPr id="21" name="Shape 18"/>
          <p:cNvSpPr/>
          <p:nvPr/>
        </p:nvSpPr>
        <p:spPr>
          <a:xfrm>
            <a:off x="6565392" y="3931920"/>
            <a:ext cx="329184" cy="329184"/>
          </a:xfrm>
          <a:prstGeom prst="ellipse">
            <a:avLst/>
          </a:prstGeom>
          <a:solidFill>
            <a:srgbClr val="C9A227"/>
          </a:solidFill>
          <a:ln w="12700">
            <a:solidFill>
              <a:srgbClr val="C9A227"/>
            </a:solidFill>
            <a:prstDash val="solid"/>
          </a:ln>
        </p:spPr>
      </p:sp>
      <p:sp>
        <p:nvSpPr>
          <p:cNvPr id="22" name="Text 19"/>
          <p:cNvSpPr txBox="1"/>
          <p:nvPr/>
        </p:nvSpPr>
        <p:spPr>
          <a:xfrm>
            <a:off x="6565392" y="3931920"/>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3" name="Text 20"/>
          <p:cNvSpPr txBox="1"/>
          <p:nvPr/>
        </p:nvSpPr>
        <p:spPr>
          <a:xfrm>
            <a:off x="7022592" y="3913632"/>
            <a:ext cx="4206240" cy="256032"/>
          </a:xfrm>
          <a:prstGeom prst="rect">
            <a:avLst/>
          </a:prstGeom>
          <a:noFill/>
          <a:ln/>
        </p:spPr>
        <p:txBody>
          <a:bodyPr wrap="square" lIns="0" tIns="0" rIns="0" bIns="0" rtlCol="0" anchor="ctr"/>
          <a:lstStyle/>
          <a:p>
            <a:pPr marL="0" indent="0">
              <a:buNone/>
            </a:pPr>
            <a:r>
              <a:rPr lang="en-US" sz="1250" b="1" dirty="0">
                <a:solidFill>
                  <a:srgbClr val="F2EDE6"/>
                </a:solidFill>
                <a:latin typeface="Meiryo" pitchFamily="34" charset="0"/>
                <a:ea typeface="Meiryo" pitchFamily="34" charset="-122"/>
                <a:cs typeface="Meiryo" pitchFamily="34" charset="-120"/>
              </a:rPr>
              <a:t>翌月に引き出して飲む</a:t>
            </a:r>
            <a:endParaRPr lang="en-US" sz="1250" dirty="0"/>
          </a:p>
        </p:txBody>
      </p:sp>
      <p:sp>
        <p:nvSpPr>
          <p:cNvPr id="24" name="Text 21"/>
          <p:cNvSpPr txBox="1"/>
          <p:nvPr/>
        </p:nvSpPr>
        <p:spPr>
          <a:xfrm>
            <a:off x="7022592" y="4169664"/>
            <a:ext cx="4206240" cy="219456"/>
          </a:xfrm>
          <a:prstGeom prst="rect">
            <a:avLst/>
          </a:prstGeom>
          <a:noFill/>
          <a:ln/>
        </p:spPr>
        <p:txBody>
          <a:bodyPr wrap="square" lIns="0" tIns="0" rIns="0" bIns="0" rtlCol="0" anchor="ctr"/>
          <a:lstStyle/>
          <a:p>
            <a:pPr marL="0" indent="0">
              <a:buNone/>
            </a:pPr>
            <a:r>
              <a:rPr lang="en-US" sz="1000" dirty="0">
                <a:solidFill>
                  <a:srgbClr val="A2908C"/>
                </a:solidFill>
                <a:latin typeface="Meiryo" pitchFamily="34" charset="0"/>
                <a:ea typeface="Meiryo" pitchFamily="34" charset="-122"/>
                <a:cs typeface="Meiryo" pitchFamily="34" charset="-120"/>
              </a:rPr>
              <a:t>管理料は1か月分しか入らない</a:t>
            </a:r>
            <a:endParaRPr lang="en-US" sz="1000" dirty="0"/>
          </a:p>
        </p:txBody>
      </p:sp>
      <p:sp>
        <p:nvSpPr>
          <p:cNvPr id="6" name="Shape 22"/>
          <p:cNvSpPr/>
          <p:nvPr/>
        </p:nvSpPr>
        <p:spPr>
          <a:xfrm>
            <a:off x="6565392" y="4462272"/>
            <a:ext cx="329184" cy="329184"/>
          </a:xfrm>
          <a:prstGeom prst="ellipse">
            <a:avLst/>
          </a:prstGeom>
          <a:solidFill>
            <a:srgbClr val="E0A458"/>
          </a:solidFill>
          <a:ln w="12700">
            <a:solidFill>
              <a:srgbClr val="E0A458"/>
            </a:solidFill>
            <a:prstDash val="solid"/>
          </a:ln>
        </p:spPr>
      </p:sp>
      <p:sp>
        <p:nvSpPr>
          <p:cNvPr id="26" name="Text 23"/>
          <p:cNvSpPr txBox="1"/>
          <p:nvPr/>
        </p:nvSpPr>
        <p:spPr>
          <a:xfrm>
            <a:off x="6565392" y="4462272"/>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7" name="Text 24"/>
          <p:cNvSpPr txBox="1"/>
          <p:nvPr/>
        </p:nvSpPr>
        <p:spPr>
          <a:xfrm>
            <a:off x="7022592" y="4443984"/>
            <a:ext cx="4206240" cy="256032"/>
          </a:xfrm>
          <a:prstGeom prst="rect">
            <a:avLst/>
          </a:prstGeom>
          <a:noFill/>
          <a:ln/>
        </p:spPr>
        <p:txBody>
          <a:bodyPr wrap="square" lIns="0" tIns="0" rIns="0" bIns="0" rtlCol="0" anchor="ctr"/>
          <a:lstStyle/>
          <a:p>
            <a:pPr marL="0" indent="0">
              <a:buNone/>
            </a:pPr>
            <a:r>
              <a:rPr lang="en-US" sz="1250" b="1" dirty="0">
                <a:solidFill>
                  <a:srgbClr val="F2EDE6"/>
                </a:solidFill>
                <a:latin typeface="Meiryo" pitchFamily="34" charset="0"/>
                <a:ea typeface="Meiryo" pitchFamily="34" charset="-122"/>
                <a:cs typeface="Meiryo" pitchFamily="34" charset="-120"/>
              </a:rPr>
              <a:t>また預け直す</a:t>
            </a:r>
            <a:endParaRPr lang="en-US" sz="1250" dirty="0"/>
          </a:p>
        </p:txBody>
      </p:sp>
      <p:sp>
        <p:nvSpPr>
          <p:cNvPr id="28" name="Text 25"/>
          <p:cNvSpPr txBox="1"/>
          <p:nvPr/>
        </p:nvSpPr>
        <p:spPr>
          <a:xfrm>
            <a:off x="7022592" y="4700016"/>
            <a:ext cx="4206240" cy="219456"/>
          </a:xfrm>
          <a:prstGeom prst="rect">
            <a:avLst/>
          </a:prstGeom>
          <a:noFill/>
          <a:ln/>
        </p:spPr>
        <p:txBody>
          <a:bodyPr wrap="square" lIns="0" tIns="0" rIns="0" bIns="0" rtlCol="0" anchor="ctr"/>
          <a:lstStyle/>
          <a:p>
            <a:pPr marL="0" indent="0">
              <a:buNone/>
            </a:pPr>
            <a:r>
              <a:rPr lang="en-US" sz="1000" dirty="0">
                <a:solidFill>
                  <a:srgbClr val="A2908C"/>
                </a:solidFill>
                <a:latin typeface="Meiryo" pitchFamily="34" charset="0"/>
                <a:ea typeface="Meiryo" pitchFamily="34" charset="-122"/>
                <a:cs typeface="Meiryo" pitchFamily="34" charset="-120"/>
              </a:rPr>
              <a:t>翌年分のマイルがまた出る</a:t>
            </a:r>
            <a:endParaRPr lang="en-US" sz="1000" dirty="0"/>
          </a:p>
        </p:txBody>
      </p:sp>
      <p:sp>
        <p:nvSpPr>
          <p:cNvPr id="29" name="Shape 26"/>
          <p:cNvSpPr/>
          <p:nvPr/>
        </p:nvSpPr>
        <p:spPr>
          <a:xfrm>
            <a:off x="566928" y="5230368"/>
            <a:ext cx="11027664" cy="822960"/>
          </a:xfrm>
          <a:prstGeom prst="roundRect">
            <a:avLst>
              <a:gd name="adj" fmla="val 6667"/>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30" name="Text 27"/>
          <p:cNvSpPr txBox="1"/>
          <p:nvPr/>
        </p:nvSpPr>
        <p:spPr>
          <a:xfrm>
            <a:off x="978408" y="5376672"/>
            <a:ext cx="10204704" cy="329184"/>
          </a:xfrm>
          <a:prstGeom prst="rect">
            <a:avLst/>
          </a:prstGeom>
          <a:noFill/>
          <a:ln/>
        </p:spPr>
        <p:txBody>
          <a:bodyPr wrap="square" lIns="0" tIns="0" rIns="0" bIns="0" rtlCol="0" anchor="ctr"/>
          <a:lstStyle/>
          <a:p>
            <a:pPr marL="0" indent="0">
              <a:buNone/>
            </a:pPr>
            <a:r>
              <a:rPr lang="en-US" sz="1700" b="1" dirty="0">
                <a:solidFill>
                  <a:srgbClr val="E8CE78"/>
                </a:solidFill>
                <a:latin typeface="Meiryo" pitchFamily="34" charset="0"/>
                <a:ea typeface="Meiryo" pitchFamily="34" charset="-122"/>
                <a:cs typeface="Meiryo" pitchFamily="34" charset="-120"/>
              </a:rPr>
              <a:t>塞ぐべきは「飲むこと」ではなく「年一括の付与」です。</a:t>
            </a:r>
            <a:endParaRPr lang="en-US" sz="1700" dirty="0"/>
          </a:p>
        </p:txBody>
      </p:sp>
      <p:sp>
        <p:nvSpPr>
          <p:cNvPr id="31" name="Text 28"/>
          <p:cNvSpPr txBox="1"/>
          <p:nvPr/>
        </p:nvSpPr>
        <p:spPr>
          <a:xfrm>
            <a:off x="978408" y="5742432"/>
            <a:ext cx="10204704" cy="256032"/>
          </a:xfrm>
          <a:prstGeom prst="rect">
            <a:avLst/>
          </a:prstGeom>
          <a:noFill/>
          <a:ln/>
        </p:spPr>
        <p:txBody>
          <a:bodyPr wrap="square" lIns="0" tIns="0" rIns="0" bIns="0" rtlCol="0" anchor="ctr"/>
          <a:lstStyle/>
          <a:p>
            <a:pPr marL="0" indent="0">
              <a:buNone/>
            </a:pPr>
            <a:r>
              <a:rPr lang="en-US" sz="1150" dirty="0">
                <a:solidFill>
                  <a:srgbClr val="F2EDE6"/>
                </a:solidFill>
                <a:latin typeface="Meiryo" pitchFamily="34" charset="0"/>
                <a:ea typeface="Meiryo" pitchFamily="34" charset="-122"/>
                <a:cs typeface="Meiryo" pitchFamily="34" charset="-120"/>
              </a:rPr>
              <a:t>飲むことは愛好家にとって最大の価値です。9/28に愛好家層をメインターゲットにした以上、持込ニーズは確実に増えます。</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COUNTERMEASURE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ロックより、マイルの月割後付与</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お支払いいただいた管理料に応じて、毎月あとからマイルを付与する。これだけで、何か月目に引き出されても赤字になりません。</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2322576"/>
        </p:xfrm>
        <a:graphic>
          <a:graphicData uri="http://schemas.openxmlformats.org/drawingml/2006/table">
            <a:tbl>
              <a:tblPr/>
              <a:tblGrid>
                <a:gridCol w="2432304">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402336">
                <a:tc>
                  <a:txBody>
                    <a:bodyPr/>
                    <a:lstStyle/>
                    <a:p>
                      <a:pPr marL="0" indent="0" algn="ctr">
                        <a:buNone/>
                      </a:pP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① 1年ロック</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② 飲用上限 年2割</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③ 月割の後付与（推奨）</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持込ワインの裁定</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防げる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E0A458"/>
                          </a:solidFill>
                          <a:latin typeface="Meiryo" pitchFamily="34" charset="0"/>
                          <a:ea typeface="Meiryo" pitchFamily="34" charset="-122"/>
                          <a:cs typeface="Meiryo" pitchFamily="34" charset="-120"/>
                        </a:rPr>
                        <a:t>△ 2割までは取られる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構造的に消える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ルールの単純さ</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F2EDE6"/>
                          </a:solidFill>
                          <a:latin typeface="Meiryo" pitchFamily="34" charset="0"/>
                          <a:ea typeface="Meiryo" pitchFamily="34" charset="-122"/>
                          <a:cs typeface="Meiryo" pitchFamily="34" charset="-120"/>
                        </a:rPr>
                        <a:t>○ 明快だが例外対応が要る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D96A6A"/>
                          </a:solidFill>
                          <a:latin typeface="Meiryo" pitchFamily="34" charset="0"/>
                          <a:ea typeface="Meiryo" pitchFamily="34" charset="-122"/>
                          <a:cs typeface="Meiryo" pitchFamily="34" charset="-120"/>
                        </a:rPr>
                        <a:t>✗ 毎年の計算が要る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預けた月の分だけ</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2"/>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愛好家の「飲みたい」</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D96A6A"/>
                          </a:solidFill>
                          <a:latin typeface="Meiryo" pitchFamily="34" charset="0"/>
                          <a:ea typeface="Meiryo" pitchFamily="34" charset="-122"/>
                          <a:cs typeface="Meiryo" pitchFamily="34" charset="-120"/>
                        </a:rPr>
                        <a:t>✗ 1年は飲めない</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E0A458"/>
                          </a:solidFill>
                          <a:latin typeface="Meiryo" pitchFamily="34" charset="0"/>
                          <a:ea typeface="Meiryo" pitchFamily="34" charset="-122"/>
                          <a:cs typeface="Meiryo" pitchFamily="34" charset="-120"/>
                        </a:rPr>
                        <a:t>△ 2割までなら</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 いつでも飲める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弁護士意見書との整合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F2EDE6"/>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F2EDE6"/>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◎「管理料に応じたおまけ」そのもの</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F2EDE6"/>
                          </a:solidFill>
                          <a:latin typeface="Meiryo" pitchFamily="34" charset="0"/>
                          <a:ea typeface="Meiryo" pitchFamily="34" charset="-122"/>
                          <a:cs typeface="Meiryo" pitchFamily="34" charset="-120"/>
                        </a:rPr>
                        <a:t>顧客デメリットの重さ</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50" b="1" dirty="0">
                          <a:solidFill>
                            <a:srgbClr val="D96A6A"/>
                          </a:solidFill>
                          <a:latin typeface="Meiryo" pitchFamily="34" charset="0"/>
                          <a:ea typeface="Meiryo" pitchFamily="34" charset="-122"/>
                          <a:cs typeface="Meiryo" pitchFamily="34" charset="-120"/>
                        </a:rPr>
                        <a:t>重い</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E0A458"/>
                          </a:solidFill>
                          <a:latin typeface="Meiryo" pitchFamily="34" charset="0"/>
                          <a:ea typeface="Meiryo" pitchFamily="34" charset="-122"/>
                          <a:cs typeface="Meiryo" pitchFamily="34" charset="-120"/>
                        </a:rPr>
                        <a:t>中</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50" b="1" dirty="0">
                          <a:solidFill>
                            <a:srgbClr val="7FD1AE"/>
                          </a:solidFill>
                          <a:latin typeface="Meiryo" pitchFamily="34" charset="0"/>
                          <a:ea typeface="Meiryo" pitchFamily="34" charset="-122"/>
                          <a:cs typeface="Meiryo" pitchFamily="34" charset="-120"/>
                        </a:rPr>
                        <a:t>軽い（1行で済む）</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5"/>
                  </a:ext>
                </a:extLst>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566928" y="4114800"/>
          <a:ext cx="5394960" cy="1335024"/>
        </p:xfrm>
        <a:graphic>
          <a:graphicData uri="http://schemas.openxmlformats.org/drawingml/2006/table">
            <a:tbl>
              <a:tblPr/>
              <a:tblGrid>
                <a:gridCol w="1188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47472">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ティア</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現金</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＋成功報酬</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＝1か月ごと</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329184">
                <a:tc>
                  <a:txBody>
                    <a:bodyPr/>
                    <a:lstStyle/>
                    <a:p>
                      <a:pPr marL="0" indent="0" algn="ctr">
                        <a:buNone/>
                      </a:pPr>
                      <a:r>
                        <a:rPr lang="en-US" sz="1100" b="1" dirty="0">
                          <a:solidFill>
                            <a:srgbClr val="E8CE78"/>
                          </a:solidFill>
                          <a:latin typeface="Meiryo" pitchFamily="34" charset="0"/>
                          <a:ea typeface="Meiryo" pitchFamily="34" charset="-122"/>
                          <a:cs typeface="Meiryo" pitchFamily="34" charset="-120"/>
                        </a:rPr>
                        <a:t>100万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7FD1AE"/>
                          </a:solidFill>
                          <a:latin typeface="Meiryo" pitchFamily="34" charset="0"/>
                          <a:ea typeface="Meiryo" pitchFamily="34" charset="-122"/>
                          <a:cs typeface="Meiryo" pitchFamily="34" charset="-120"/>
                        </a:rPr>
                        <a:t>+129円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+1,500円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+1,629円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329184">
                <a:tc>
                  <a:txBody>
                    <a:bodyPr/>
                    <a:lstStyle/>
                    <a:p>
                      <a:pPr marL="0" indent="0" algn="ctr">
                        <a:buNone/>
                      </a:pPr>
                      <a:r>
                        <a:rPr lang="en-US" sz="1100" b="1" dirty="0">
                          <a:solidFill>
                            <a:srgbClr val="E8CE78"/>
                          </a:solidFill>
                          <a:latin typeface="Meiryo" pitchFamily="34" charset="0"/>
                          <a:ea typeface="Meiryo" pitchFamily="34" charset="-122"/>
                          <a:cs typeface="Meiryo" pitchFamily="34" charset="-120"/>
                        </a:rPr>
                        <a:t>500万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D96A6A"/>
                          </a:solidFill>
                          <a:latin typeface="Meiryo" pitchFamily="34" charset="0"/>
                          <a:ea typeface="Meiryo" pitchFamily="34" charset="-122"/>
                          <a:cs typeface="Meiryo" pitchFamily="34" charset="-120"/>
                        </a:rPr>
                        <a:t>▲1,487円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+7,500円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+6,013円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2"/>
                  </a:ext>
                </a:extLst>
              </a:tr>
              <a:tr h="329184">
                <a:tc>
                  <a:txBody>
                    <a:bodyPr/>
                    <a:lstStyle/>
                    <a:p>
                      <a:pPr marL="0" indent="0" algn="ctr">
                        <a:buNone/>
                      </a:pPr>
                      <a:r>
                        <a:rPr lang="en-US" sz="1100" b="1" dirty="0">
                          <a:solidFill>
                            <a:srgbClr val="E8CE78"/>
                          </a:solidFill>
                          <a:latin typeface="Meiryo" pitchFamily="34" charset="0"/>
                          <a:ea typeface="Meiryo" pitchFamily="34" charset="-122"/>
                          <a:cs typeface="Meiryo" pitchFamily="34" charset="-120"/>
                        </a:rPr>
                        <a:t>1000万</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D96A6A"/>
                          </a:solidFill>
                          <a:latin typeface="Meiryo" pitchFamily="34" charset="0"/>
                          <a:ea typeface="Meiryo" pitchFamily="34" charset="-122"/>
                          <a:cs typeface="Meiryo" pitchFamily="34" charset="-120"/>
                        </a:rPr>
                        <a:t>▲7,236円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dirty="0">
                          <a:solidFill>
                            <a:srgbClr val="F2EDE6"/>
                          </a:solidFill>
                          <a:latin typeface="Meiryo" pitchFamily="34" charset="0"/>
                          <a:ea typeface="Meiryo" pitchFamily="34" charset="-122"/>
                          <a:cs typeface="Meiryo" pitchFamily="34" charset="-120"/>
                        </a:rPr>
                        <a:t>+15,000円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100" b="1" dirty="0">
                          <a:solidFill>
                            <a:srgbClr val="7FD1AE"/>
                          </a:solidFill>
                          <a:latin typeface="Meiryo" pitchFamily="34" charset="0"/>
                          <a:ea typeface="Meiryo" pitchFamily="34" charset="-122"/>
                          <a:cs typeface="Meiryo" pitchFamily="34" charset="-120"/>
                        </a:rPr>
                        <a:t>+7,764円</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bl>
          </a:graphicData>
        </a:graphic>
      </p:graphicFrame>
      <p:sp>
        <p:nvSpPr>
          <p:cNvPr id="8" name="Text 4"/>
          <p:cNvSpPr txBox="1"/>
          <p:nvPr/>
        </p:nvSpPr>
        <p:spPr>
          <a:xfrm>
            <a:off x="566928" y="5486400"/>
            <a:ext cx="5394960" cy="219456"/>
          </a:xfrm>
          <a:prstGeom prst="rect">
            <a:avLst/>
          </a:prstGeom>
          <a:noFill/>
          <a:ln/>
        </p:spPr>
        <p:txBody>
          <a:bodyPr wrap="square" lIns="0" tIns="0" rIns="0" bIns="0" rtlCol="0" anchor="ctr"/>
          <a:lstStyle/>
          <a:p>
            <a:pPr marL="0" indent="0">
              <a:buNone/>
            </a:pPr>
            <a:r>
              <a:rPr lang="en-US" sz="950" dirty="0">
                <a:solidFill>
                  <a:srgbClr val="A2908C"/>
                </a:solidFill>
                <a:latin typeface="Meiryo" pitchFamily="34" charset="0"/>
                <a:ea typeface="Meiryo" pitchFamily="34" charset="-122"/>
                <a:cs typeface="Meiryo" pitchFamily="34" charset="-120"/>
              </a:rPr>
              <a:t>③を採った場合の、1か月保有ごとの当社収支（6%上昇時）</a:t>
            </a:r>
            <a:endParaRPr lang="en-US" sz="950" dirty="0"/>
          </a:p>
        </p:txBody>
      </p:sp>
      <p:sp>
        <p:nvSpPr>
          <p:cNvPr id="9" name="Shape 5"/>
          <p:cNvSpPr/>
          <p:nvPr/>
        </p:nvSpPr>
        <p:spPr>
          <a:xfrm>
            <a:off x="6199632" y="4114800"/>
            <a:ext cx="5394960" cy="1591056"/>
          </a:xfrm>
          <a:prstGeom prst="roundRect">
            <a:avLst>
              <a:gd name="adj" fmla="val 3448"/>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0" name="Text 6"/>
          <p:cNvSpPr txBox="1"/>
          <p:nvPr/>
        </p:nvSpPr>
        <p:spPr>
          <a:xfrm>
            <a:off x="6565392" y="4279392"/>
            <a:ext cx="4663440" cy="274320"/>
          </a:xfrm>
          <a:prstGeom prst="rect">
            <a:avLst/>
          </a:prstGeom>
          <a:noFill/>
          <a:ln/>
        </p:spPr>
        <p:txBody>
          <a:bodyPr wrap="square" lIns="0" tIns="0" rIns="0" bIns="0" rtlCol="0" anchor="ctr"/>
          <a:lstStyle/>
          <a:p>
            <a:pPr marL="0" indent="0">
              <a:buNone/>
            </a:pPr>
            <a:r>
              <a:rPr lang="en-US" sz="1350" b="1" dirty="0">
                <a:solidFill>
                  <a:srgbClr val="E0A458"/>
                </a:solidFill>
                <a:latin typeface="Meiryo" pitchFamily="34" charset="0"/>
                <a:ea typeface="Meiryo" pitchFamily="34" charset="-122"/>
                <a:cs typeface="Meiryo" pitchFamily="34" charset="-120"/>
              </a:rPr>
              <a:t>ロックでも防げないリスクが1つあります</a:t>
            </a:r>
            <a:endParaRPr lang="en-US" sz="1350" dirty="0"/>
          </a:p>
        </p:txBody>
      </p:sp>
      <p:sp>
        <p:nvSpPr>
          <p:cNvPr id="11" name="Text 7"/>
          <p:cNvSpPr txBox="1"/>
          <p:nvPr/>
        </p:nvSpPr>
        <p:spPr>
          <a:xfrm>
            <a:off x="6565392" y="4626864"/>
            <a:ext cx="4663440" cy="1005840"/>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値下がり局面では成功報酬がゼロになり、500万・1000万は現金赤字だけが残ります。これは飲まれるかどうかではなく市場リスクで、交換先の誘導（原価率の引き下げ）でしか効きません。</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DISCLOSURE 1/2</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正直にお伝えすべきこと：資産と費用</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デメリットを書かない広告は、かえって怪しく見えます。「投」＝投資目的、「愛」＝飲む目的の方に重い項目。</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3529584"/>
        </p:xfrm>
        <a:graphic>
          <a:graphicData uri="http://schemas.openxmlformats.org/drawingml/2006/table">
            <a:tbl>
              <a:tblPr/>
              <a:tblGrid>
                <a:gridCol w="5486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5266944">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65760">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デメリット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数字・補足</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対象</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475488">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A1</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元本保証はない。値下がりはすべて会員の負担（成功報酬は値上がり時のみ）</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1年で10%下落すると100万で▲87,500円。マイナスにならないのは年▲1.25%の下落まで（実利用ベースでは▲0.49%）</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475488">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A2</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l">
                        <a:buNone/>
                      </a:pPr>
                      <a:r>
                        <a:rPr lang="en-US" sz="1050" b="1" dirty="0">
                          <a:solidFill>
                            <a:srgbClr val="F2EDE6"/>
                          </a:solidFill>
                          <a:latin typeface="Meiryo" pitchFamily="34" charset="0"/>
                          <a:ea typeface="Meiryo" pitchFamily="34" charset="-122"/>
                          <a:cs typeface="Meiryo" pitchFamily="34" charset="-120"/>
                        </a:rPr>
                        <a:t>買ってすぐ売ると約1割目減りする（買い手手数料10%ぶん、落札価格は買値の約91%）</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100万で約9.1万円。取り戻すまで、6%上昇で約1.7〜1.9年</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extLst>
                  <a:ext uri="{0D108BD9-81ED-4DB2-BD59-A6C34878D82A}">
                    <a16:rowId xmlns:a16="http://schemas.microsoft.com/office/drawing/2014/main" val="10002"/>
                  </a:ext>
                </a:extLst>
              </a:tr>
              <a:tr h="420624">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A3</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評価額と実際の売却額がずれる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Liv-ex連動評価は参考値。落札額は銘柄・時期・需給で変わる</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3"/>
                  </a:ext>
                </a:extLst>
              </a:tr>
              <a:tr h="420624">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A4</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即日には現金化できない</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オークション出品から成約まで数週間かかる</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4"/>
                  </a:ext>
                </a:extLst>
              </a:tr>
              <a:tr h="420624">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B5</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管理手数料が毎年かかる。値上がりがなくても発生する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全ランク年2.75%。100万で27,500円</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5"/>
                  </a:ext>
                </a:extLst>
              </a:tr>
              <a:tr h="475488">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B6</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値上がり益の30%は、成功報酬として当社が受け取る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6%上昇なら年1.8%相当。値上がりしなければゼロ</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6"/>
                  </a:ext>
                </a:extLst>
              </a:tr>
              <a:tr h="475488">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B7</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l">
                        <a:buNone/>
                      </a:pPr>
                      <a:r>
                        <a:rPr lang="en-US" sz="1050" b="1" dirty="0">
                          <a:solidFill>
                            <a:srgbClr val="F2EDE6"/>
                          </a:solidFill>
                          <a:latin typeface="Meiryo" pitchFamily="34" charset="0"/>
                          <a:ea typeface="Meiryo" pitchFamily="34" charset="-122"/>
                          <a:cs typeface="Meiryo" pitchFamily="34" charset="-120"/>
                        </a:rPr>
                        <a:t>引き取って飲むときも、それまでの値上がり分の30%を精算する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100万を1年後に引き取る場合、6%上昇で18,000円</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extLst>
                  <a:ext uri="{0D108BD9-81ED-4DB2-BD59-A6C34878D82A}">
                    <a16:rowId xmlns:a16="http://schemas.microsoft.com/office/drawing/2014/main" val="10007"/>
                  </a:ext>
                </a:extLst>
              </a:tr>
            </a:tbl>
          </a:graphicData>
        </a:graphic>
      </p:graphicFrame>
      <p:sp>
        <p:nvSpPr>
          <p:cNvPr id="7" name="Shape 4"/>
          <p:cNvSpPr/>
          <p:nvPr/>
        </p:nvSpPr>
        <p:spPr>
          <a:xfrm>
            <a:off x="566928" y="5303520"/>
            <a:ext cx="5394960" cy="749808"/>
          </a:xfrm>
          <a:prstGeom prst="roundRect">
            <a:avLst>
              <a:gd name="adj" fmla="val 7317"/>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8" name="Text 5"/>
          <p:cNvSpPr txBox="1"/>
          <p:nvPr/>
        </p:nvSpPr>
        <p:spPr>
          <a:xfrm>
            <a:off x="886968" y="5431536"/>
            <a:ext cx="4754880" cy="256032"/>
          </a:xfrm>
          <a:prstGeom prst="rect">
            <a:avLst/>
          </a:prstGeom>
          <a:noFill/>
          <a:ln/>
        </p:spPr>
        <p:txBody>
          <a:bodyPr wrap="square" lIns="0" tIns="0" rIns="0" bIns="0" rtlCol="0" anchor="ctr"/>
          <a:lstStyle/>
          <a:p>
            <a:pPr marL="0" indent="0">
              <a:buNone/>
            </a:pPr>
            <a:r>
              <a:rPr lang="en-US" sz="1250" b="1" dirty="0">
                <a:solidFill>
                  <a:srgbClr val="E8CE78"/>
                </a:solidFill>
                <a:latin typeface="Meiryo" pitchFamily="34" charset="0"/>
                <a:ea typeface="Meiryo" pitchFamily="34" charset="-122"/>
                <a:cs typeface="Meiryo" pitchFamily="34" charset="-120"/>
              </a:rPr>
              <a:t>A2は「1年以上の保有を推奨」の根拠になる</a:t>
            </a:r>
            <a:endParaRPr lang="en-US" sz="1250" dirty="0"/>
          </a:p>
        </p:txBody>
      </p:sp>
      <p:sp>
        <p:nvSpPr>
          <p:cNvPr id="9" name="Text 6"/>
          <p:cNvSpPr txBox="1"/>
          <p:nvPr/>
        </p:nvSpPr>
        <p:spPr>
          <a:xfrm>
            <a:off x="886968" y="5724144"/>
            <a:ext cx="4754880" cy="237744"/>
          </a:xfrm>
          <a:prstGeom prst="rect">
            <a:avLst/>
          </a:prstGeom>
          <a:noFill/>
          <a:ln/>
        </p:spPr>
        <p:txBody>
          <a:bodyPr wrap="square" lIns="0" tIns="0" rIns="0" bIns="0" rtlCol="0" anchor="ctr"/>
          <a:lstStyle/>
          <a:p>
            <a:pPr marL="0" indent="0">
              <a:buNone/>
            </a:pPr>
            <a:r>
              <a:rPr lang="en-US" sz="1050" dirty="0">
                <a:solidFill>
                  <a:srgbClr val="F2EDE6"/>
                </a:solidFill>
                <a:latin typeface="Meiryo" pitchFamily="34" charset="0"/>
                <a:ea typeface="Meiryo" pitchFamily="34" charset="-122"/>
                <a:cs typeface="Meiryo" pitchFamily="34" charset="-120"/>
              </a:rPr>
              <a:t>禁止（ロック）ではなく、理由つきの推奨で同じ効果が出ます。</a:t>
            </a:r>
            <a:endParaRPr lang="en-US" sz="1050" dirty="0"/>
          </a:p>
        </p:txBody>
      </p:sp>
      <p:sp>
        <p:nvSpPr>
          <p:cNvPr id="10" name="Shape 7"/>
          <p:cNvSpPr/>
          <p:nvPr/>
        </p:nvSpPr>
        <p:spPr>
          <a:xfrm>
            <a:off x="6199632" y="5303520"/>
            <a:ext cx="5394960" cy="749808"/>
          </a:xfrm>
          <a:prstGeom prst="roundRect">
            <a:avLst>
              <a:gd name="adj" fmla="val 7317"/>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1" name="Text 8"/>
          <p:cNvSpPr txBox="1"/>
          <p:nvPr/>
        </p:nvSpPr>
        <p:spPr>
          <a:xfrm>
            <a:off x="6519672" y="5431536"/>
            <a:ext cx="4754880" cy="256032"/>
          </a:xfrm>
          <a:prstGeom prst="rect">
            <a:avLst/>
          </a:prstGeom>
          <a:noFill/>
          <a:ln/>
        </p:spPr>
        <p:txBody>
          <a:bodyPr wrap="square" lIns="0" tIns="0" rIns="0" bIns="0" rtlCol="0" anchor="ctr"/>
          <a:lstStyle/>
          <a:p>
            <a:pPr marL="0" indent="0">
              <a:buNone/>
            </a:pPr>
            <a:r>
              <a:rPr lang="en-US" sz="1250" b="1" dirty="0">
                <a:solidFill>
                  <a:srgbClr val="E0A458"/>
                </a:solidFill>
                <a:latin typeface="Meiryo" pitchFamily="34" charset="0"/>
                <a:ea typeface="Meiryo" pitchFamily="34" charset="-122"/>
                <a:cs typeface="Meiryo" pitchFamily="34" charset="-120"/>
              </a:rPr>
              <a:t>B7は愛好家向けに必ず書く</a:t>
            </a:r>
            <a:endParaRPr lang="en-US" sz="1250" dirty="0"/>
          </a:p>
        </p:txBody>
      </p:sp>
      <p:sp>
        <p:nvSpPr>
          <p:cNvPr id="12" name="Text 9"/>
          <p:cNvSpPr txBox="1"/>
          <p:nvPr/>
        </p:nvSpPr>
        <p:spPr>
          <a:xfrm>
            <a:off x="6519672" y="5724144"/>
            <a:ext cx="4754880" cy="237744"/>
          </a:xfrm>
          <a:prstGeom prst="rect">
            <a:avLst/>
          </a:prstGeom>
          <a:noFill/>
          <a:ln/>
        </p:spPr>
        <p:txBody>
          <a:bodyPr wrap="square" lIns="0" tIns="0" rIns="0" bIns="0" rtlCol="0" anchor="ctr"/>
          <a:lstStyle/>
          <a:p>
            <a:pPr marL="0" indent="0">
              <a:buNone/>
            </a:pPr>
            <a:r>
              <a:rPr lang="en-US" sz="1050" dirty="0">
                <a:solidFill>
                  <a:srgbClr val="F2EDE6"/>
                </a:solidFill>
                <a:latin typeface="Meiryo" pitchFamily="34" charset="0"/>
                <a:ea typeface="Meiryo" pitchFamily="34" charset="-122"/>
                <a:cs typeface="Meiryo" pitchFamily="34" charset="-120"/>
              </a:rPr>
              <a:t>「飲むのに、なぜ払うの？」は後から必ずクレームになります。</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DISCLOSURE 2/2</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正直にお伝えすべきこと：マイルと保管</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マイルは「現金ではない」ことを明確に。交換先によってレートが違うことの明示は、有利誤認を避けるうえで最も重要です。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4297680"/>
        </p:xfrm>
        <a:graphic>
          <a:graphicData uri="http://schemas.openxmlformats.org/drawingml/2006/table">
            <a:tbl>
              <a:tblPr/>
              <a:tblGrid>
                <a:gridCol w="5486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5266944">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65760">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デメリット</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数字・補足</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marL="0" indent="0" algn="ctr">
                        <a:buNone/>
                      </a:pPr>
                      <a:r>
                        <a:rPr lang="en-US" sz="1100" b="1" dirty="0">
                          <a:solidFill>
                            <a:srgbClr val="F2EDE6"/>
                          </a:solidFill>
                          <a:latin typeface="Meiryo" pitchFamily="34" charset="0"/>
                          <a:ea typeface="Meiryo" pitchFamily="34" charset="-122"/>
                          <a:cs typeface="Meiryo" pitchFamily="34" charset="-120"/>
                        </a:rPr>
                        <a:t>対象</a:t>
                      </a:r>
                      <a:endParaRPr lang="en-US" sz="11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extLst>
                  <a:ext uri="{0D108BD9-81ED-4DB2-BD59-A6C34878D82A}">
                    <a16:rowId xmlns:a16="http://schemas.microsoft.com/office/drawing/2014/main" val="10000"/>
                  </a:ext>
                </a:extLst>
              </a:tr>
              <a:tr h="393192">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C8</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現金化できない。WineBankの経済圏でのみ使える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他社ポイントとの交換も不可</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1"/>
                  </a:ext>
                </a:extLst>
              </a:tr>
              <a:tr h="393192">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C9</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有効期限がある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通常1年・期間限定6か月以内。失効の30日前にメールで通知</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2"/>
                  </a:ext>
                </a:extLst>
              </a:tr>
              <a:tr h="393192">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C10</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l">
                        <a:buNone/>
                      </a:pPr>
                      <a:r>
                        <a:rPr lang="en-US" sz="1050" b="1" dirty="0">
                          <a:solidFill>
                            <a:srgbClr val="F2EDE6"/>
                          </a:solidFill>
                          <a:latin typeface="Meiryo" pitchFamily="34" charset="0"/>
                          <a:ea typeface="Meiryo" pitchFamily="34" charset="-122"/>
                          <a:cs typeface="Meiryo" pitchFamily="34" charset="-120"/>
                        </a:rPr>
                        <a:t>交換先で1マイルの価値が違う</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直営飲食1.0円・グランメゾン0.5円。平均で額面の約8割（0.81円）</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38202C"/>
                    </a:solidFill>
                  </a:tcPr>
                </a:tc>
                <a:extLst>
                  <a:ext uri="{0D108BD9-81ED-4DB2-BD59-A6C34878D82A}">
                    <a16:rowId xmlns:a16="http://schemas.microsoft.com/office/drawing/2014/main" val="10003"/>
                  </a:ext>
                </a:extLst>
              </a:tr>
              <a:tr h="393192">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C11</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付与率・交換レートは変わることがある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30日前に予告</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4"/>
                  </a:ext>
                </a:extLst>
              </a:tr>
              <a:tr h="393192">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C12</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預けていた月の分だけ付与される（月割付与の場合）</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引き出した月以降は付与されない</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5"/>
                  </a:ext>
                </a:extLst>
              </a:tr>
              <a:tr h="393192">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D13</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自宅に届けるには、出庫手続きと配送料がかかる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配送代行の導入で緩和予定</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6"/>
                  </a:ext>
                </a:extLst>
              </a:tr>
              <a:tr h="393192">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D14</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引き取ると管理契約が終了し、成功報酬の精算が発生する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B7と同じ論点</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7"/>
                  </a:ext>
                </a:extLst>
              </a:tr>
              <a:tr h="393192">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E15</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WineBankの経営リスク</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ワインは会員所有、保管は鈴与、保険付保。万一の際は返還に時間がかかりうる</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8"/>
                  </a:ext>
                </a:extLst>
              </a:tr>
              <a:tr h="393192">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E16</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保管中の事故</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保険は評価額ベース。同じヴィンテージが再入手できないことがある</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09"/>
                  </a:ext>
                </a:extLst>
              </a:tr>
              <a:tr h="393192">
                <a:tc>
                  <a:txBody>
                    <a:bodyPr/>
                    <a:lstStyle/>
                    <a:p>
                      <a:pPr marL="0" indent="0" algn="ctr">
                        <a:buNone/>
                      </a:pPr>
                      <a:r>
                        <a:rPr lang="en-US" sz="1050" b="1" dirty="0">
                          <a:solidFill>
                            <a:srgbClr val="C9A227"/>
                          </a:solidFill>
                          <a:latin typeface="Meiryo" pitchFamily="34" charset="0"/>
                          <a:ea typeface="Meiryo" pitchFamily="34" charset="-122"/>
                          <a:cs typeface="Meiryo" pitchFamily="34" charset="-120"/>
                        </a:rPr>
                        <a:t>E17</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50" dirty="0">
                          <a:solidFill>
                            <a:srgbClr val="F2EDE6"/>
                          </a:solidFill>
                          <a:latin typeface="Meiryo" pitchFamily="34" charset="0"/>
                          <a:ea typeface="Meiryo" pitchFamily="34" charset="-122"/>
                          <a:cs typeface="Meiryo" pitchFamily="34" charset="-120"/>
                        </a:rPr>
                        <a:t>高額ワインの売却益は、課税対象となる可能性がある</a:t>
                      </a:r>
                      <a:endParaRPr lang="en-US" sz="105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l">
                        <a:buNone/>
                      </a:pPr>
                      <a:r>
                        <a:rPr lang="en-US" sz="1000" dirty="0">
                          <a:solidFill>
                            <a:srgbClr val="A2908C"/>
                          </a:solidFill>
                          <a:latin typeface="Meiryo" pitchFamily="34" charset="0"/>
                          <a:ea typeface="Meiryo" pitchFamily="34" charset="-122"/>
                          <a:cs typeface="Meiryo" pitchFamily="34" charset="-120"/>
                        </a:rPr>
                        <a:t>税理士確認中。断定しないこと</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tc>
                  <a:txBody>
                    <a:bodyPr/>
                    <a:lstStyle/>
                    <a:p>
                      <a:pPr marL="0" indent="0" algn="ctr">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A1620"/>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AD COPY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広告では、この4つを先に書く</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17項目は規約・重要事項説明書で網羅し、広告には4つだけを「正直にお伝えします」枠で太字にして出します。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45920"/>
            <a:ext cx="5394960" cy="1463040"/>
          </a:xfrm>
          <a:prstGeom prst="roundRect">
            <a:avLst>
              <a:gd name="adj" fmla="val 375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Shape 5"/>
          <p:cNvSpPr/>
          <p:nvPr/>
        </p:nvSpPr>
        <p:spPr>
          <a:xfrm>
            <a:off x="859536" y="1865376"/>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65376"/>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335024" y="1865376"/>
            <a:ext cx="4389120" cy="310896"/>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元本保証はありません。</a:t>
            </a:r>
            <a:endParaRPr lang="en-US" sz="1500" dirty="0"/>
          </a:p>
        </p:txBody>
      </p:sp>
      <p:sp>
        <p:nvSpPr>
          <p:cNvPr id="10" name="Text 8"/>
          <p:cNvSpPr txBox="1"/>
          <p:nvPr/>
        </p:nvSpPr>
        <p:spPr>
          <a:xfrm>
            <a:off x="1335024" y="2231136"/>
            <a:ext cx="4389120" cy="274320"/>
          </a:xfrm>
          <a:prstGeom prst="rect">
            <a:avLst/>
          </a:prstGeom>
          <a:noFill/>
          <a:ln/>
        </p:spPr>
        <p:txBody>
          <a:bodyPr wrap="square" lIns="0" tIns="0" rIns="0" bIns="0" rtlCol="0" anchor="ctr"/>
          <a:lstStyle/>
          <a:p>
            <a:pPr marL="0" indent="0">
              <a:buNone/>
            </a:pPr>
            <a:r>
              <a:rPr lang="en-US" sz="1200" dirty="0">
                <a:solidFill>
                  <a:srgbClr val="F2EDE6"/>
                </a:solidFill>
                <a:latin typeface="Meiryo" pitchFamily="34" charset="0"/>
                <a:ea typeface="Meiryo" pitchFamily="34" charset="-122"/>
                <a:cs typeface="Meiryo" pitchFamily="34" charset="-120"/>
              </a:rPr>
              <a:t>値下がりした場合、その損失はお客様のものです。</a:t>
            </a:r>
            <a:endParaRPr lang="en-US" sz="1200" dirty="0"/>
          </a:p>
        </p:txBody>
      </p:sp>
      <p:sp>
        <p:nvSpPr>
          <p:cNvPr id="11" name="Text 9"/>
          <p:cNvSpPr txBox="1"/>
          <p:nvPr/>
        </p:nvSpPr>
        <p:spPr>
          <a:xfrm>
            <a:off x="1335024" y="2615184"/>
            <a:ext cx="4389120" cy="365760"/>
          </a:xfrm>
          <a:prstGeom prst="rect">
            <a:avLst/>
          </a:prstGeom>
          <a:noFill/>
          <a:ln/>
        </p:spPr>
        <p:txBody>
          <a:bodyPr wrap="square" lIns="0" tIns="0" rIns="0" bIns="0" rtlCol="0" anchor="ctr"/>
          <a:lstStyle/>
          <a:p>
            <a:pPr marL="0" indent="0">
              <a:buNone/>
            </a:pPr>
            <a:r>
              <a:rPr lang="en-US" sz="1000" dirty="0">
                <a:solidFill>
                  <a:srgbClr val="A2908C"/>
                </a:solidFill>
                <a:latin typeface="Meiryo" pitchFamily="34" charset="0"/>
                <a:ea typeface="Meiryo" pitchFamily="34" charset="-122"/>
                <a:cs typeface="Meiryo" pitchFamily="34" charset="-120"/>
              </a:rPr>
              <a:t>なぜ：「元本保証」と誤認されることを先に防ぎます</a:t>
            </a:r>
            <a:endParaRPr lang="en-US" sz="1000" dirty="0"/>
          </a:p>
        </p:txBody>
      </p:sp>
      <p:sp>
        <p:nvSpPr>
          <p:cNvPr id="12" name="Shape 10"/>
          <p:cNvSpPr/>
          <p:nvPr/>
        </p:nvSpPr>
        <p:spPr>
          <a:xfrm>
            <a:off x="6199632" y="1645920"/>
            <a:ext cx="5394960" cy="1463040"/>
          </a:xfrm>
          <a:prstGeom prst="roundRect">
            <a:avLst>
              <a:gd name="adj" fmla="val 375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3" name="Shape 11"/>
          <p:cNvSpPr/>
          <p:nvPr/>
        </p:nvSpPr>
        <p:spPr>
          <a:xfrm>
            <a:off x="6492240" y="1865376"/>
            <a:ext cx="329184" cy="329184"/>
          </a:xfrm>
          <a:prstGeom prst="ellipse">
            <a:avLst/>
          </a:prstGeom>
          <a:solidFill>
            <a:srgbClr val="C9A227"/>
          </a:solidFill>
          <a:ln w="12700">
            <a:solidFill>
              <a:srgbClr val="C9A227"/>
            </a:solidFill>
            <a:prstDash val="solid"/>
          </a:ln>
        </p:spPr>
      </p:sp>
      <p:sp>
        <p:nvSpPr>
          <p:cNvPr id="14" name="Text 12"/>
          <p:cNvSpPr txBox="1"/>
          <p:nvPr/>
        </p:nvSpPr>
        <p:spPr>
          <a:xfrm>
            <a:off x="6492240" y="1865376"/>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6967728" y="1865376"/>
            <a:ext cx="4389120" cy="310896"/>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買ってすぐ売ると、約1割目減りします。</a:t>
            </a:r>
            <a:endParaRPr lang="en-US" sz="1500" dirty="0"/>
          </a:p>
        </p:txBody>
      </p:sp>
      <p:sp>
        <p:nvSpPr>
          <p:cNvPr id="16" name="Text 14"/>
          <p:cNvSpPr txBox="1"/>
          <p:nvPr/>
        </p:nvSpPr>
        <p:spPr>
          <a:xfrm>
            <a:off x="6967728" y="2231136"/>
            <a:ext cx="4389120" cy="274320"/>
          </a:xfrm>
          <a:prstGeom prst="rect">
            <a:avLst/>
          </a:prstGeom>
          <a:noFill/>
          <a:ln/>
        </p:spPr>
        <p:txBody>
          <a:bodyPr wrap="square" lIns="0" tIns="0" rIns="0" bIns="0" rtlCol="0" anchor="ctr"/>
          <a:lstStyle/>
          <a:p>
            <a:pPr marL="0" indent="0">
              <a:buNone/>
            </a:pPr>
            <a:r>
              <a:rPr lang="en-US" sz="1200" dirty="0">
                <a:solidFill>
                  <a:srgbClr val="F2EDE6"/>
                </a:solidFill>
                <a:latin typeface="Meiryo" pitchFamily="34" charset="0"/>
                <a:ea typeface="Meiryo" pitchFamily="34" charset="-122"/>
                <a:cs typeface="Meiryo" pitchFamily="34" charset="-120"/>
              </a:rPr>
              <a:t>1年以上の保有をおすすめする理由です。</a:t>
            </a:r>
            <a:endParaRPr lang="en-US" sz="1200" dirty="0"/>
          </a:p>
        </p:txBody>
      </p:sp>
      <p:sp>
        <p:nvSpPr>
          <p:cNvPr id="17" name="Text 15"/>
          <p:cNvSpPr txBox="1"/>
          <p:nvPr/>
        </p:nvSpPr>
        <p:spPr>
          <a:xfrm>
            <a:off x="6967728" y="2615184"/>
            <a:ext cx="4389120" cy="365760"/>
          </a:xfrm>
          <a:prstGeom prst="rect">
            <a:avLst/>
          </a:prstGeom>
          <a:noFill/>
          <a:ln/>
        </p:spPr>
        <p:txBody>
          <a:bodyPr wrap="square" lIns="0" tIns="0" rIns="0" bIns="0" rtlCol="0" anchor="ctr"/>
          <a:lstStyle/>
          <a:p>
            <a:pPr marL="0" indent="0">
              <a:buNone/>
            </a:pPr>
            <a:r>
              <a:rPr lang="en-US" sz="1000" dirty="0">
                <a:solidFill>
                  <a:srgbClr val="A2908C"/>
                </a:solidFill>
                <a:latin typeface="Meiryo" pitchFamily="34" charset="0"/>
                <a:ea typeface="Meiryo" pitchFamily="34" charset="-122"/>
                <a:cs typeface="Meiryo" pitchFamily="34" charset="-120"/>
              </a:rPr>
              <a:t>なぜ：禁止ではなく理由つきの推奨にすれば、ロックは要りません</a:t>
            </a:r>
            <a:endParaRPr lang="en-US" sz="1000" dirty="0"/>
          </a:p>
        </p:txBody>
      </p:sp>
      <p:sp>
        <p:nvSpPr>
          <p:cNvPr id="18" name="Shape 16"/>
          <p:cNvSpPr/>
          <p:nvPr/>
        </p:nvSpPr>
        <p:spPr>
          <a:xfrm>
            <a:off x="566928" y="3236976"/>
            <a:ext cx="5394960" cy="1463040"/>
          </a:xfrm>
          <a:prstGeom prst="roundRect">
            <a:avLst>
              <a:gd name="adj" fmla="val 3750"/>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9" name="Shape 17"/>
          <p:cNvSpPr/>
          <p:nvPr/>
        </p:nvSpPr>
        <p:spPr>
          <a:xfrm>
            <a:off x="859536" y="3456432"/>
            <a:ext cx="329184" cy="329184"/>
          </a:xfrm>
          <a:prstGeom prst="ellipse">
            <a:avLst/>
          </a:prstGeom>
          <a:solidFill>
            <a:srgbClr val="C9A227"/>
          </a:solidFill>
          <a:ln w="12700">
            <a:solidFill>
              <a:srgbClr val="C9A227"/>
            </a:solidFill>
            <a:prstDash val="solid"/>
          </a:ln>
        </p:spPr>
      </p:sp>
      <p:sp>
        <p:nvSpPr>
          <p:cNvPr id="20" name="Text 18"/>
          <p:cNvSpPr txBox="1"/>
          <p:nvPr/>
        </p:nvSpPr>
        <p:spPr>
          <a:xfrm>
            <a:off x="859536" y="3456432"/>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1" name="Text 19"/>
          <p:cNvSpPr txBox="1"/>
          <p:nvPr/>
        </p:nvSpPr>
        <p:spPr>
          <a:xfrm>
            <a:off x="1335024" y="3456432"/>
            <a:ext cx="4389120" cy="310896"/>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値上がり益の30%をいただきます。</a:t>
            </a:r>
            <a:endParaRPr lang="en-US" sz="1500" dirty="0"/>
          </a:p>
        </p:txBody>
      </p:sp>
      <p:sp>
        <p:nvSpPr>
          <p:cNvPr id="22" name="Text 20"/>
          <p:cNvSpPr txBox="1"/>
          <p:nvPr/>
        </p:nvSpPr>
        <p:spPr>
          <a:xfrm>
            <a:off x="1335024" y="3822192"/>
            <a:ext cx="4389120" cy="274320"/>
          </a:xfrm>
          <a:prstGeom prst="rect">
            <a:avLst/>
          </a:prstGeom>
          <a:noFill/>
          <a:ln/>
        </p:spPr>
        <p:txBody>
          <a:bodyPr wrap="square" lIns="0" tIns="0" rIns="0" bIns="0" rtlCol="0" anchor="ctr"/>
          <a:lstStyle/>
          <a:p>
            <a:pPr marL="0" indent="0">
              <a:buNone/>
            </a:pPr>
            <a:r>
              <a:rPr lang="en-US" sz="1200" dirty="0">
                <a:solidFill>
                  <a:srgbClr val="F2EDE6"/>
                </a:solidFill>
                <a:latin typeface="Meiryo" pitchFamily="34" charset="0"/>
                <a:ea typeface="Meiryo" pitchFamily="34" charset="-122"/>
                <a:cs typeface="Meiryo" pitchFamily="34" charset="-120"/>
              </a:rPr>
              <a:t>値上がりしなければ、いただくものはありません。</a:t>
            </a:r>
            <a:endParaRPr lang="en-US" sz="1200" dirty="0"/>
          </a:p>
        </p:txBody>
      </p:sp>
      <p:sp>
        <p:nvSpPr>
          <p:cNvPr id="23" name="Text 21"/>
          <p:cNvSpPr txBox="1"/>
          <p:nvPr/>
        </p:nvSpPr>
        <p:spPr>
          <a:xfrm>
            <a:off x="1335024" y="4206240"/>
            <a:ext cx="4389120" cy="365760"/>
          </a:xfrm>
          <a:prstGeom prst="rect">
            <a:avLst/>
          </a:prstGeom>
          <a:noFill/>
          <a:ln/>
        </p:spPr>
        <p:txBody>
          <a:bodyPr wrap="square" lIns="0" tIns="0" rIns="0" bIns="0" rtlCol="0" anchor="ctr"/>
          <a:lstStyle/>
          <a:p>
            <a:pPr marL="0" indent="0">
              <a:buNone/>
            </a:pPr>
            <a:r>
              <a:rPr lang="en-US" sz="1000" dirty="0">
                <a:solidFill>
                  <a:srgbClr val="A2908C"/>
                </a:solidFill>
                <a:latin typeface="Meiryo" pitchFamily="34" charset="0"/>
                <a:ea typeface="Meiryo" pitchFamily="34" charset="-122"/>
                <a:cs typeface="Meiryo" pitchFamily="34" charset="-120"/>
              </a:rPr>
              <a:t>なぜ：デメリットがそのまま「損をしたら払わない」メリットになります</a:t>
            </a:r>
            <a:endParaRPr lang="en-US" sz="1000" dirty="0"/>
          </a:p>
        </p:txBody>
      </p:sp>
      <p:sp>
        <p:nvSpPr>
          <p:cNvPr id="24" name="Shape 22"/>
          <p:cNvSpPr/>
          <p:nvPr/>
        </p:nvSpPr>
        <p:spPr>
          <a:xfrm>
            <a:off x="6199632" y="3236976"/>
            <a:ext cx="5394960" cy="1463040"/>
          </a:xfrm>
          <a:prstGeom prst="roundRect">
            <a:avLst>
              <a:gd name="adj" fmla="val 3750"/>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25" name="Shape 23"/>
          <p:cNvSpPr/>
          <p:nvPr/>
        </p:nvSpPr>
        <p:spPr>
          <a:xfrm>
            <a:off x="6492240" y="3456432"/>
            <a:ext cx="329184" cy="329184"/>
          </a:xfrm>
          <a:prstGeom prst="ellipse">
            <a:avLst/>
          </a:prstGeom>
          <a:solidFill>
            <a:srgbClr val="C9A227"/>
          </a:solidFill>
          <a:ln w="12700">
            <a:solidFill>
              <a:srgbClr val="C9A227"/>
            </a:solidFill>
            <a:prstDash val="solid"/>
          </a:ln>
        </p:spPr>
      </p:sp>
      <p:sp>
        <p:nvSpPr>
          <p:cNvPr id="26" name="Text 24"/>
          <p:cNvSpPr txBox="1"/>
          <p:nvPr/>
        </p:nvSpPr>
        <p:spPr>
          <a:xfrm>
            <a:off x="6492240" y="3456432"/>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7" name="Text 25"/>
          <p:cNvSpPr txBox="1"/>
          <p:nvPr/>
        </p:nvSpPr>
        <p:spPr>
          <a:xfrm>
            <a:off x="6967728" y="3456432"/>
            <a:ext cx="4389120" cy="310896"/>
          </a:xfrm>
          <a:prstGeom prst="rect">
            <a:avLst/>
          </a:prstGeom>
          <a:noFill/>
          <a:ln/>
        </p:spPr>
        <p:txBody>
          <a:bodyPr wrap="square" lIns="0" tIns="0" rIns="0" bIns="0" rtlCol="0" anchor="ctr"/>
          <a:lstStyle/>
          <a:p>
            <a:pPr marL="0" indent="0">
              <a:buNone/>
            </a:pPr>
            <a:r>
              <a:rPr lang="en-US" sz="1500" b="1" dirty="0">
                <a:solidFill>
                  <a:srgbClr val="E8CE78"/>
                </a:solidFill>
                <a:latin typeface="Meiryo" pitchFamily="34" charset="0"/>
                <a:ea typeface="Meiryo" pitchFamily="34" charset="-122"/>
                <a:cs typeface="Meiryo" pitchFamily="34" charset="-120"/>
              </a:rPr>
              <a:t>マイルは現金になりません。</a:t>
            </a:r>
            <a:endParaRPr lang="en-US" sz="1500" dirty="0"/>
          </a:p>
        </p:txBody>
      </p:sp>
      <p:sp>
        <p:nvSpPr>
          <p:cNvPr id="28" name="Text 26"/>
          <p:cNvSpPr txBox="1"/>
          <p:nvPr/>
        </p:nvSpPr>
        <p:spPr>
          <a:xfrm>
            <a:off x="6967728" y="3822192"/>
            <a:ext cx="4389120" cy="274320"/>
          </a:xfrm>
          <a:prstGeom prst="rect">
            <a:avLst/>
          </a:prstGeom>
          <a:noFill/>
          <a:ln/>
        </p:spPr>
        <p:txBody>
          <a:bodyPr wrap="square" lIns="0" tIns="0" rIns="0" bIns="0" rtlCol="0" anchor="ctr"/>
          <a:lstStyle/>
          <a:p>
            <a:pPr marL="0" indent="0">
              <a:buNone/>
            </a:pPr>
            <a:r>
              <a:rPr lang="en-US" sz="1200" dirty="0">
                <a:solidFill>
                  <a:srgbClr val="F2EDE6"/>
                </a:solidFill>
                <a:latin typeface="Meiryo" pitchFamily="34" charset="0"/>
                <a:ea typeface="Meiryo" pitchFamily="34" charset="-122"/>
                <a:cs typeface="Meiryo" pitchFamily="34" charset="-120"/>
              </a:rPr>
              <a:t>使える先と交換レートはこちら。</a:t>
            </a:r>
            <a:endParaRPr lang="en-US" sz="1200" dirty="0"/>
          </a:p>
        </p:txBody>
      </p:sp>
      <p:sp>
        <p:nvSpPr>
          <p:cNvPr id="29" name="Text 27"/>
          <p:cNvSpPr txBox="1"/>
          <p:nvPr/>
        </p:nvSpPr>
        <p:spPr>
          <a:xfrm>
            <a:off x="6967728" y="4206240"/>
            <a:ext cx="4389120" cy="365760"/>
          </a:xfrm>
          <a:prstGeom prst="rect">
            <a:avLst/>
          </a:prstGeom>
          <a:noFill/>
          <a:ln/>
        </p:spPr>
        <p:txBody>
          <a:bodyPr wrap="square" lIns="0" tIns="0" rIns="0" bIns="0" rtlCol="0" anchor="ctr"/>
          <a:lstStyle/>
          <a:p>
            <a:pPr marL="0" indent="0">
              <a:buNone/>
            </a:pPr>
            <a:r>
              <a:rPr lang="en-US" sz="1000" dirty="0">
                <a:solidFill>
                  <a:srgbClr val="A2908C"/>
                </a:solidFill>
                <a:latin typeface="Meiryo" pitchFamily="34" charset="0"/>
                <a:ea typeface="Meiryo" pitchFamily="34" charset="-122"/>
                <a:cs typeface="Meiryo" pitchFamily="34" charset="-120"/>
              </a:rPr>
              <a:t>なぜ：レートが0.5〜1.0円と違うことの明示は、有利誤認対策の要です</a:t>
            </a:r>
            <a:endParaRPr lang="en-US" sz="1000" dirty="0"/>
          </a:p>
        </p:txBody>
      </p:sp>
      <p:sp>
        <p:nvSpPr>
          <p:cNvPr id="30" name="Shape 28"/>
          <p:cNvSpPr/>
          <p:nvPr/>
        </p:nvSpPr>
        <p:spPr>
          <a:xfrm>
            <a:off x="566928" y="4882896"/>
            <a:ext cx="11027664" cy="1170432"/>
          </a:xfrm>
          <a:prstGeom prst="roundRect">
            <a:avLst>
              <a:gd name="adj" fmla="val 4688"/>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31" name="Text 29"/>
          <p:cNvSpPr txBox="1"/>
          <p:nvPr/>
        </p:nvSpPr>
        <p:spPr>
          <a:xfrm>
            <a:off x="978408" y="5029200"/>
            <a:ext cx="10204704" cy="329184"/>
          </a:xfrm>
          <a:prstGeom prst="rect">
            <a:avLst/>
          </a:prstGeom>
          <a:noFill/>
          <a:ln/>
        </p:spPr>
        <p:txBody>
          <a:bodyPr wrap="square" lIns="0" tIns="0" rIns="0" bIns="0" rtlCol="0" anchor="ctr"/>
          <a:lstStyle/>
          <a:p>
            <a:pPr marL="0" indent="0">
              <a:buNone/>
            </a:pPr>
            <a:r>
              <a:rPr lang="en-US" sz="1700" b="1" dirty="0">
                <a:solidFill>
                  <a:srgbClr val="E8CE78"/>
                </a:solidFill>
                <a:latin typeface="Meiryo" pitchFamily="34" charset="0"/>
                <a:ea typeface="Meiryo" pitchFamily="34" charset="-122"/>
                <a:cs typeface="Meiryo" pitchFamily="34" charset="-120"/>
              </a:rPr>
              <a:t>3番は、書いた瞬間にメリットへ裏返ります。</a:t>
            </a:r>
            <a:endParaRPr lang="en-US" sz="1700" dirty="0"/>
          </a:p>
        </p:txBody>
      </p:sp>
      <p:sp>
        <p:nvSpPr>
          <p:cNvPr id="32" name="Text 30"/>
          <p:cNvSpPr txBox="1"/>
          <p:nvPr/>
        </p:nvSpPr>
        <p:spPr>
          <a:xfrm>
            <a:off x="978408" y="5413248"/>
            <a:ext cx="10204704" cy="548640"/>
          </a:xfrm>
          <a:prstGeom prst="rect">
            <a:avLst/>
          </a:prstGeom>
          <a:noFill/>
          <a:ln/>
        </p:spPr>
        <p:txBody>
          <a:bodyPr wrap="square" lIns="0" tIns="0" rIns="0" bIns="0" rtlCol="0" anchor="ctr"/>
          <a:lstStyle/>
          <a:p>
            <a:pPr marL="0" indent="0">
              <a:lnSpc>
                <a:spcPts val="1700"/>
              </a:lnSpc>
              <a:buNone/>
            </a:pPr>
            <a:r>
              <a:rPr lang="en-US" sz="1150" dirty="0">
                <a:solidFill>
                  <a:srgbClr val="F2EDE6"/>
                </a:solidFill>
                <a:latin typeface="Meiryo" pitchFamily="34" charset="0"/>
                <a:ea typeface="Meiryo" pitchFamily="34" charset="-122"/>
                <a:cs typeface="Meiryo" pitchFamily="34" charset="-120"/>
              </a:rPr>
              <a:t>「値上がりが起きても、起きなくても」の話を、デメリット欄から始められます。弁護士意見書も「制限の内容等を正確に記載」を求めており、この枠はコンプライアンス上も必要なものです。</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MIGRATION &amp; ACQUISITION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既存顧客と、まだ顧客でない人</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遡及付与はしません。代わりに「格」で報い、まったく別の入口を1つ開けます。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45920"/>
            <a:ext cx="5394960" cy="3200400"/>
          </a:xfrm>
          <a:prstGeom prst="roundRect">
            <a:avLst>
              <a:gd name="adj" fmla="val 1714"/>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7" name="Text 5"/>
          <p:cNvSpPr txBox="1"/>
          <p:nvPr/>
        </p:nvSpPr>
        <p:spPr>
          <a:xfrm>
            <a:off x="932688" y="1828800"/>
            <a:ext cx="4663440" cy="310896"/>
          </a:xfrm>
          <a:prstGeom prst="rect">
            <a:avLst/>
          </a:prstGeom>
          <a:noFill/>
          <a:ln/>
        </p:spPr>
        <p:txBody>
          <a:bodyPr wrap="square" lIns="0" tIns="0" rIns="0" bIns="0" rtlCol="0" anchor="ctr"/>
          <a:lstStyle/>
          <a:p>
            <a:pPr marL="0" indent="0">
              <a:buNone/>
            </a:pPr>
            <a:r>
              <a:rPr lang="en-US" sz="1600" b="1" dirty="0">
                <a:solidFill>
                  <a:srgbClr val="E8CE78"/>
                </a:solidFill>
                <a:latin typeface="Meiryo" pitchFamily="34" charset="0"/>
                <a:ea typeface="Meiryo" pitchFamily="34" charset="-122"/>
                <a:cs typeface="Meiryo" pitchFamily="34" charset="-120"/>
              </a:rPr>
              <a:t>既存顧客への移行</a:t>
            </a:r>
            <a:endParaRPr lang="en-US" sz="1600" dirty="0"/>
          </a:p>
        </p:txBody>
      </p:sp>
      <p:sp>
        <p:nvSpPr>
          <p:cNvPr id="8" name="Text 6"/>
          <p:cNvSpPr txBox="1"/>
          <p:nvPr/>
        </p:nvSpPr>
        <p:spPr>
          <a:xfrm>
            <a:off x="932688" y="2212848"/>
            <a:ext cx="4663440" cy="658368"/>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マイレージ制度の導入時に過去搭乗分へ遡及した航空会社はありません。楽天もカード各社も同じで、開始日から全員同じ条件が業界の標準です。数百万円の遡及コストを負う必要はありません。</a:t>
            </a:r>
            <a:endParaRPr lang="en-US" sz="1100" dirty="0"/>
          </a:p>
        </p:txBody>
      </p:sp>
      <p:sp>
        <p:nvSpPr>
          <p:cNvPr id="9" name="Shape 7"/>
          <p:cNvSpPr/>
          <p:nvPr/>
        </p:nvSpPr>
        <p:spPr>
          <a:xfrm>
            <a:off x="932688" y="2944368"/>
            <a:ext cx="329184" cy="329184"/>
          </a:xfrm>
          <a:prstGeom prst="ellipse">
            <a:avLst/>
          </a:prstGeom>
          <a:solidFill>
            <a:srgbClr val="C9A227"/>
          </a:solidFill>
          <a:ln w="12700">
            <a:solidFill>
              <a:srgbClr val="C9A227"/>
            </a:solidFill>
            <a:prstDash val="solid"/>
          </a:ln>
        </p:spPr>
      </p:sp>
      <p:sp>
        <p:nvSpPr>
          <p:cNvPr id="10" name="Text 8"/>
          <p:cNvSpPr txBox="1"/>
          <p:nvPr/>
        </p:nvSpPr>
        <p:spPr>
          <a:xfrm>
            <a:off x="932688" y="29443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1" name="Text 9"/>
          <p:cNvSpPr txBox="1"/>
          <p:nvPr/>
        </p:nvSpPr>
        <p:spPr>
          <a:xfrm>
            <a:off x="1353312" y="2971800"/>
            <a:ext cx="1481328"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全員、同じ条件から</a:t>
            </a:r>
            <a:endParaRPr lang="en-US" sz="1100" dirty="0"/>
          </a:p>
        </p:txBody>
      </p:sp>
      <p:sp>
        <p:nvSpPr>
          <p:cNvPr id="12" name="Text 10"/>
          <p:cNvSpPr txBox="1"/>
          <p:nvPr/>
        </p:nvSpPr>
        <p:spPr>
          <a:xfrm>
            <a:off x="2907792" y="2944368"/>
            <a:ext cx="2688336" cy="38404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遡及付与はしない。説明が簡単で、完全に公平</a:t>
            </a:r>
            <a:endParaRPr lang="en-US" sz="950" dirty="0"/>
          </a:p>
        </p:txBody>
      </p:sp>
      <p:sp>
        <p:nvSpPr>
          <p:cNvPr id="13" name="Shape 11"/>
          <p:cNvSpPr/>
          <p:nvPr/>
        </p:nvSpPr>
        <p:spPr>
          <a:xfrm>
            <a:off x="932688" y="3401568"/>
            <a:ext cx="329184" cy="329184"/>
          </a:xfrm>
          <a:prstGeom prst="ellipse">
            <a:avLst/>
          </a:prstGeom>
          <a:solidFill>
            <a:srgbClr val="C9A227"/>
          </a:solidFill>
          <a:ln w="12700">
            <a:solidFill>
              <a:srgbClr val="C9A227"/>
            </a:solidFill>
            <a:prstDash val="solid"/>
          </a:ln>
        </p:spPr>
      </p:sp>
      <p:sp>
        <p:nvSpPr>
          <p:cNvPr id="14" name="Text 12"/>
          <p:cNvSpPr txBox="1"/>
          <p:nvPr/>
        </p:nvSpPr>
        <p:spPr>
          <a:xfrm>
            <a:off x="932688" y="34015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1353312" y="3429000"/>
            <a:ext cx="1481328"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創業会員ボーナス</a:t>
            </a:r>
            <a:endParaRPr lang="en-US" sz="1100" dirty="0"/>
          </a:p>
        </p:txBody>
      </p:sp>
      <p:sp>
        <p:nvSpPr>
          <p:cNvPr id="16" name="Text 14"/>
          <p:cNvSpPr txBox="1"/>
          <p:nvPr/>
        </p:nvSpPr>
        <p:spPr>
          <a:xfrm>
            <a:off x="2907792" y="3401568"/>
            <a:ext cx="2688336" cy="38404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保有年数×一定マイル（例：1年5,000・上限3万）。連結原価30%なら呑める</a:t>
            </a:r>
            <a:endParaRPr lang="en-US" sz="950" dirty="0"/>
          </a:p>
        </p:txBody>
      </p:sp>
      <p:sp>
        <p:nvSpPr>
          <p:cNvPr id="17" name="Shape 15"/>
          <p:cNvSpPr/>
          <p:nvPr/>
        </p:nvSpPr>
        <p:spPr>
          <a:xfrm>
            <a:off x="932688" y="3858768"/>
            <a:ext cx="329184" cy="329184"/>
          </a:xfrm>
          <a:prstGeom prst="ellipse">
            <a:avLst/>
          </a:prstGeom>
          <a:solidFill>
            <a:srgbClr val="C9A227"/>
          </a:solidFill>
          <a:ln w="12700">
            <a:solidFill>
              <a:srgbClr val="C9A227"/>
            </a:solidFill>
            <a:prstDash val="solid"/>
          </a:ln>
        </p:spPr>
      </p:sp>
      <p:sp>
        <p:nvSpPr>
          <p:cNvPr id="18" name="Text 16"/>
          <p:cNvSpPr txBox="1"/>
          <p:nvPr/>
        </p:nvSpPr>
        <p:spPr>
          <a:xfrm>
            <a:off x="932688" y="38587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353312" y="3886200"/>
            <a:ext cx="1481328"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恒久ステータス</a:t>
            </a:r>
            <a:endParaRPr lang="en-US" sz="1100" dirty="0"/>
          </a:p>
        </p:txBody>
      </p:sp>
      <p:sp>
        <p:nvSpPr>
          <p:cNvPr id="20" name="Text 18"/>
          <p:cNvSpPr txBox="1"/>
          <p:nvPr/>
        </p:nvSpPr>
        <p:spPr>
          <a:xfrm>
            <a:off x="2907792" y="3858768"/>
            <a:ext cx="2688336" cy="38404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未公開ワインの優先案内、イベント優先招待。原価はゼロ</a:t>
            </a:r>
            <a:endParaRPr lang="en-US" sz="950" dirty="0"/>
          </a:p>
        </p:txBody>
      </p:sp>
      <p:sp>
        <p:nvSpPr>
          <p:cNvPr id="21" name="Shape 19"/>
          <p:cNvSpPr/>
          <p:nvPr/>
        </p:nvSpPr>
        <p:spPr>
          <a:xfrm>
            <a:off x="932688" y="4315968"/>
            <a:ext cx="329184" cy="329184"/>
          </a:xfrm>
          <a:prstGeom prst="ellipse">
            <a:avLst/>
          </a:prstGeom>
          <a:solidFill>
            <a:srgbClr val="C9A227"/>
          </a:solidFill>
          <a:ln w="12700">
            <a:solidFill>
              <a:srgbClr val="C9A227"/>
            </a:solidFill>
            <a:prstDash val="solid"/>
          </a:ln>
        </p:spPr>
      </p:sp>
      <p:sp>
        <p:nvSpPr>
          <p:cNvPr id="22" name="Text 20"/>
          <p:cNvSpPr txBox="1"/>
          <p:nvPr/>
        </p:nvSpPr>
        <p:spPr>
          <a:xfrm>
            <a:off x="932688" y="43159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1353312" y="4343400"/>
            <a:ext cx="1481328"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条件は、つけない</a:t>
            </a:r>
            <a:endParaRPr lang="en-US" sz="1100" dirty="0"/>
          </a:p>
        </p:txBody>
      </p:sp>
      <p:sp>
        <p:nvSpPr>
          <p:cNvPr id="24" name="Text 22"/>
          <p:cNvSpPr txBox="1"/>
          <p:nvPr/>
        </p:nvSpPr>
        <p:spPr>
          <a:xfrm>
            <a:off x="2907792" y="4315968"/>
            <a:ext cx="2688336" cy="38404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見返りを求めると必ず伝わる。無条件のほうが結果的にアップセルされる</a:t>
            </a:r>
            <a:endParaRPr lang="en-US" sz="950" dirty="0"/>
          </a:p>
        </p:txBody>
      </p:sp>
      <p:sp>
        <p:nvSpPr>
          <p:cNvPr id="25" name="Shape 23"/>
          <p:cNvSpPr/>
          <p:nvPr/>
        </p:nvSpPr>
        <p:spPr>
          <a:xfrm>
            <a:off x="6199632" y="1645920"/>
            <a:ext cx="5394960" cy="3200400"/>
          </a:xfrm>
          <a:prstGeom prst="roundRect">
            <a:avLst>
              <a:gd name="adj" fmla="val 1714"/>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26" name="Text 24"/>
          <p:cNvSpPr txBox="1"/>
          <p:nvPr/>
        </p:nvSpPr>
        <p:spPr>
          <a:xfrm>
            <a:off x="6565392" y="1828800"/>
            <a:ext cx="4663440" cy="310896"/>
          </a:xfrm>
          <a:prstGeom prst="rect">
            <a:avLst/>
          </a:prstGeom>
          <a:noFill/>
          <a:ln/>
        </p:spPr>
        <p:txBody>
          <a:bodyPr wrap="square" lIns="0" tIns="0" rIns="0" bIns="0" rtlCol="0" anchor="ctr"/>
          <a:lstStyle/>
          <a:p>
            <a:pPr marL="0" indent="0">
              <a:buNone/>
            </a:pPr>
            <a:r>
              <a:rPr lang="en-US" sz="1600" b="1" dirty="0">
                <a:solidFill>
                  <a:srgbClr val="E8CE78"/>
                </a:solidFill>
                <a:latin typeface="Meiryo" pitchFamily="34" charset="0"/>
                <a:ea typeface="Meiryo" pitchFamily="34" charset="-122"/>
                <a:cs typeface="Meiryo" pitchFamily="34" charset="-120"/>
              </a:rPr>
              <a:t>新規獲得：VVIP限定 100本お預かりプラン</a:t>
            </a:r>
            <a:endParaRPr lang="en-US" sz="1600" dirty="0"/>
          </a:p>
        </p:txBody>
      </p:sp>
      <p:sp>
        <p:nvSpPr>
          <p:cNvPr id="27" name="Text 25"/>
          <p:cNvSpPr txBox="1"/>
          <p:nvPr/>
        </p:nvSpPr>
        <p:spPr>
          <a:xfrm>
            <a:off x="6565392" y="2212848"/>
            <a:ext cx="4663440" cy="658368"/>
          </a:xfrm>
          <a:prstGeom prst="rect">
            <a:avLst/>
          </a:prstGeom>
          <a:noFill/>
          <a:ln/>
        </p:spPr>
        <p:txBody>
          <a:bodyPr wrap="square" lIns="0" tIns="0" rIns="0" bIns="0" rtlCol="0" anchor="ctr"/>
          <a:lstStyle/>
          <a:p>
            <a:pPr marL="0" indent="0">
              <a:lnSpc>
                <a:spcPts val="1600"/>
              </a:lnSpc>
              <a:buNone/>
            </a:pPr>
            <a:r>
              <a:rPr lang="en-US" sz="1100" dirty="0">
                <a:solidFill>
                  <a:srgbClr val="A2908C"/>
                </a:solidFill>
                <a:latin typeface="Meiryo" pitchFamily="34" charset="0"/>
                <a:ea typeface="Meiryo" pitchFamily="34" charset="-122"/>
                <a:cs typeface="Meiryo" pitchFamily="34" charset="-120"/>
              </a:rPr>
              <a:t>買わなくていい。いま自宅にある100本を預けるだけ。購入資金ゼロで在庫が増え、これまでWineBankの顧客層でなかった愛好家層に入口が開きます。</a:t>
            </a:r>
            <a:endParaRPr lang="en-US" sz="1100" dirty="0"/>
          </a:p>
        </p:txBody>
      </p:sp>
      <p:sp>
        <p:nvSpPr>
          <p:cNvPr id="28" name="Shape 26"/>
          <p:cNvSpPr/>
          <p:nvPr/>
        </p:nvSpPr>
        <p:spPr>
          <a:xfrm>
            <a:off x="6565392" y="2944368"/>
            <a:ext cx="329184" cy="329184"/>
          </a:xfrm>
          <a:prstGeom prst="ellipse">
            <a:avLst/>
          </a:prstGeom>
          <a:solidFill>
            <a:srgbClr val="C9A227"/>
          </a:solidFill>
          <a:ln w="12700">
            <a:solidFill>
              <a:srgbClr val="C9A227"/>
            </a:solidFill>
            <a:prstDash val="solid"/>
          </a:ln>
        </p:spPr>
      </p:sp>
      <p:sp>
        <p:nvSpPr>
          <p:cNvPr id="29" name="Text 27"/>
          <p:cNvSpPr txBox="1"/>
          <p:nvPr/>
        </p:nvSpPr>
        <p:spPr>
          <a:xfrm>
            <a:off x="6565392" y="29443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30" name="Text 28"/>
          <p:cNvSpPr txBox="1"/>
          <p:nvPr/>
        </p:nvSpPr>
        <p:spPr>
          <a:xfrm>
            <a:off x="6986016" y="2971800"/>
            <a:ext cx="1517904"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摩擦が、ゼロ</a:t>
            </a:r>
            <a:endParaRPr lang="en-US" sz="1100" dirty="0"/>
          </a:p>
        </p:txBody>
      </p:sp>
      <p:sp>
        <p:nvSpPr>
          <p:cNvPr id="31" name="Text 29"/>
          <p:cNvSpPr txBox="1"/>
          <p:nvPr/>
        </p:nvSpPr>
        <p:spPr>
          <a:xfrm>
            <a:off x="8577072" y="2944368"/>
            <a:ext cx="2651760" cy="38404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購入も入会金も不要。「セラーが満杯」という最大のペインを直撃する</a:t>
            </a:r>
            <a:endParaRPr lang="en-US" sz="950" dirty="0"/>
          </a:p>
        </p:txBody>
      </p:sp>
      <p:sp>
        <p:nvSpPr>
          <p:cNvPr id="32" name="Shape 30"/>
          <p:cNvSpPr/>
          <p:nvPr/>
        </p:nvSpPr>
        <p:spPr>
          <a:xfrm>
            <a:off x="6565392" y="3401568"/>
            <a:ext cx="329184" cy="329184"/>
          </a:xfrm>
          <a:prstGeom prst="ellipse">
            <a:avLst/>
          </a:prstGeom>
          <a:solidFill>
            <a:srgbClr val="C9A227"/>
          </a:solidFill>
          <a:ln w="12700">
            <a:solidFill>
              <a:srgbClr val="C9A227"/>
            </a:solidFill>
            <a:prstDash val="solid"/>
          </a:ln>
        </p:spPr>
      </p:sp>
      <p:sp>
        <p:nvSpPr>
          <p:cNvPr id="33" name="Text 31"/>
          <p:cNvSpPr txBox="1"/>
          <p:nvPr/>
        </p:nvSpPr>
        <p:spPr>
          <a:xfrm>
            <a:off x="6565392" y="34015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34" name="Text 32"/>
          <p:cNvSpPr txBox="1"/>
          <p:nvPr/>
        </p:nvSpPr>
        <p:spPr>
          <a:xfrm>
            <a:off x="6986016" y="3429000"/>
            <a:ext cx="1517904"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即、経済圏に入る</a:t>
            </a:r>
            <a:endParaRPr lang="en-US" sz="1100" dirty="0"/>
          </a:p>
        </p:txBody>
      </p:sp>
      <p:sp>
        <p:nvSpPr>
          <p:cNvPr id="35" name="Text 33"/>
          <p:cNvSpPr txBox="1"/>
          <p:nvPr/>
        </p:nvSpPr>
        <p:spPr>
          <a:xfrm>
            <a:off x="8577072" y="3401568"/>
            <a:ext cx="2651760" cy="38404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時価評価→管理手数料→マイル付与。運用型にもそのまま乗せられる</a:t>
            </a:r>
            <a:endParaRPr lang="en-US" sz="950" dirty="0"/>
          </a:p>
        </p:txBody>
      </p:sp>
      <p:sp>
        <p:nvSpPr>
          <p:cNvPr id="36" name="Shape 34"/>
          <p:cNvSpPr/>
          <p:nvPr/>
        </p:nvSpPr>
        <p:spPr>
          <a:xfrm>
            <a:off x="6565392" y="3858768"/>
            <a:ext cx="329184" cy="329184"/>
          </a:xfrm>
          <a:prstGeom prst="ellipse">
            <a:avLst/>
          </a:prstGeom>
          <a:solidFill>
            <a:srgbClr val="C9A227"/>
          </a:solidFill>
          <a:ln w="12700">
            <a:solidFill>
              <a:srgbClr val="C9A227"/>
            </a:solidFill>
            <a:prstDash val="solid"/>
          </a:ln>
        </p:spPr>
      </p:sp>
      <p:sp>
        <p:nvSpPr>
          <p:cNvPr id="37" name="Text 35"/>
          <p:cNvSpPr txBox="1"/>
          <p:nvPr/>
        </p:nvSpPr>
        <p:spPr>
          <a:xfrm>
            <a:off x="6565392" y="38587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38" name="Text 36"/>
          <p:cNvSpPr txBox="1"/>
          <p:nvPr/>
        </p:nvSpPr>
        <p:spPr>
          <a:xfrm>
            <a:off x="6986016" y="3886200"/>
            <a:ext cx="1517904" cy="274320"/>
          </a:xfrm>
          <a:prstGeom prst="rect">
            <a:avLst/>
          </a:prstGeom>
          <a:noFill/>
          <a:ln/>
        </p:spPr>
        <p:txBody>
          <a:bodyPr wrap="square" lIns="0" tIns="0" rIns="0" bIns="0" rtlCol="0" anchor="ctr"/>
          <a:lstStyle/>
          <a:p>
            <a:pPr marL="0" indent="0">
              <a:buNone/>
            </a:pPr>
            <a:r>
              <a:rPr lang="en-US" sz="1100" b="1" dirty="0">
                <a:solidFill>
                  <a:srgbClr val="C9A227"/>
                </a:solidFill>
                <a:latin typeface="Meiryo" pitchFamily="34" charset="0"/>
                <a:ea typeface="Meiryo" pitchFamily="34" charset="-122"/>
                <a:cs typeface="Meiryo" pitchFamily="34" charset="-120"/>
              </a:rPr>
              <a:t>アップセルは自然に</a:t>
            </a:r>
            <a:endParaRPr lang="en-US" sz="1100" dirty="0"/>
          </a:p>
        </p:txBody>
      </p:sp>
      <p:sp>
        <p:nvSpPr>
          <p:cNvPr id="39" name="Text 37"/>
          <p:cNvSpPr txBox="1"/>
          <p:nvPr/>
        </p:nvSpPr>
        <p:spPr>
          <a:xfrm>
            <a:off x="8577072" y="3858768"/>
            <a:ext cx="2651760" cy="38404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マイルが貯まり、板を見て、会食に出る。売り込まなくても次を買う</a:t>
            </a:r>
            <a:endParaRPr lang="en-US" sz="950" dirty="0"/>
          </a:p>
        </p:txBody>
      </p:sp>
      <p:sp>
        <p:nvSpPr>
          <p:cNvPr id="40" name="Shape 38"/>
          <p:cNvSpPr/>
          <p:nvPr/>
        </p:nvSpPr>
        <p:spPr>
          <a:xfrm>
            <a:off x="6565392" y="4315968"/>
            <a:ext cx="329184" cy="329184"/>
          </a:xfrm>
          <a:prstGeom prst="ellipse">
            <a:avLst/>
          </a:prstGeom>
          <a:solidFill>
            <a:srgbClr val="E0A458"/>
          </a:solidFill>
          <a:ln w="12700">
            <a:solidFill>
              <a:srgbClr val="E0A458"/>
            </a:solidFill>
            <a:prstDash val="solid"/>
          </a:ln>
        </p:spPr>
      </p:sp>
      <p:sp>
        <p:nvSpPr>
          <p:cNvPr id="41" name="Text 39"/>
          <p:cNvSpPr txBox="1"/>
          <p:nvPr/>
        </p:nvSpPr>
        <p:spPr>
          <a:xfrm>
            <a:off x="6565392" y="43159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42" name="Text 40"/>
          <p:cNvSpPr txBox="1"/>
          <p:nvPr/>
        </p:nvSpPr>
        <p:spPr>
          <a:xfrm>
            <a:off x="6986016" y="4343400"/>
            <a:ext cx="1517904" cy="274320"/>
          </a:xfrm>
          <a:prstGeom prst="rect">
            <a:avLst/>
          </a:prstGeom>
          <a:noFill/>
          <a:ln/>
        </p:spPr>
        <p:txBody>
          <a:bodyPr wrap="square" lIns="0" tIns="0" rIns="0" bIns="0" rtlCol="0" anchor="ctr"/>
          <a:lstStyle/>
          <a:p>
            <a:pPr marL="0" indent="0">
              <a:buNone/>
            </a:pPr>
            <a:r>
              <a:rPr lang="en-US" sz="1100" b="1" dirty="0">
                <a:solidFill>
                  <a:srgbClr val="E0A458"/>
                </a:solidFill>
                <a:latin typeface="Meiryo" pitchFamily="34" charset="0"/>
                <a:ea typeface="Meiryo" pitchFamily="34" charset="-122"/>
                <a:cs typeface="Meiryo" pitchFamily="34" charset="-120"/>
              </a:rPr>
              <a:t>検品基準は必須</a:t>
            </a:r>
            <a:endParaRPr lang="en-US" sz="1100" dirty="0"/>
          </a:p>
        </p:txBody>
      </p:sp>
      <p:sp>
        <p:nvSpPr>
          <p:cNvPr id="43" name="Text 41"/>
          <p:cNvSpPr txBox="1"/>
          <p:nvPr/>
        </p:nvSpPr>
        <p:spPr>
          <a:xfrm>
            <a:off x="8577072" y="4315968"/>
            <a:ext cx="2651760" cy="384048"/>
          </a:xfrm>
          <a:prstGeom prst="rect">
            <a:avLst/>
          </a:prstGeom>
          <a:noFill/>
          <a:ln/>
        </p:spPr>
        <p:txBody>
          <a:bodyPr wrap="square" lIns="0" tIns="0" rIns="0" bIns="0" rtlCol="0" anchor="ctr"/>
          <a:lstStyle/>
          <a:p>
            <a:pPr marL="0" indent="0">
              <a:lnSpc>
                <a:spcPts val="1300"/>
              </a:lnSpc>
              <a:buNone/>
            </a:pPr>
            <a:r>
              <a:rPr lang="en-US" sz="950" dirty="0">
                <a:solidFill>
                  <a:srgbClr val="A2908C"/>
                </a:solidFill>
                <a:latin typeface="Meiryo" pitchFamily="34" charset="0"/>
                <a:ea typeface="Meiryo" pitchFamily="34" charset="-122"/>
                <a:cs typeface="Meiryo" pitchFamily="34" charset="-120"/>
              </a:rPr>
              <a:t>持込はプロヴナンス不明。液面・ラベル・コルク・保管履歴で受入可否を判断</a:t>
            </a:r>
            <a:endParaRPr lang="en-US" sz="950" dirty="0"/>
          </a:p>
        </p:txBody>
      </p:sp>
      <p:sp>
        <p:nvSpPr>
          <p:cNvPr id="44" name="Shape 42"/>
          <p:cNvSpPr/>
          <p:nvPr/>
        </p:nvSpPr>
        <p:spPr>
          <a:xfrm>
            <a:off x="566928" y="5029200"/>
            <a:ext cx="11027664" cy="1024128"/>
          </a:xfrm>
          <a:prstGeom prst="roundRect">
            <a:avLst>
              <a:gd name="adj" fmla="val 5357"/>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45" name="Text 43"/>
          <p:cNvSpPr txBox="1"/>
          <p:nvPr/>
        </p:nvSpPr>
        <p:spPr>
          <a:xfrm>
            <a:off x="978408" y="5230368"/>
            <a:ext cx="10204704" cy="365760"/>
          </a:xfrm>
          <a:prstGeom prst="rect">
            <a:avLst/>
          </a:prstGeom>
          <a:noFill/>
          <a:ln/>
        </p:spPr>
        <p:txBody>
          <a:bodyPr wrap="square" lIns="0" tIns="0" rIns="0" bIns="0" rtlCol="0" anchor="ctr"/>
          <a:lstStyle/>
          <a:p>
            <a:pPr marL="0" indent="0">
              <a:buNone/>
            </a:pPr>
            <a:r>
              <a:rPr lang="en-US" sz="1800" b="1" dirty="0">
                <a:solidFill>
                  <a:srgbClr val="E8CE78"/>
                </a:solidFill>
                <a:latin typeface="Meiryo" pitchFamily="34" charset="0"/>
                <a:ea typeface="Meiryo" pitchFamily="34" charset="-122"/>
                <a:cs typeface="Meiryo" pitchFamily="34" charset="-120"/>
              </a:rPr>
              <a:t>既存顧客には恩を売らず、格を配る。新規には、買わせずにまず預けさせる。</a:t>
            </a:r>
            <a:endParaRPr lang="en-US" sz="1800" dirty="0"/>
          </a:p>
        </p:txBody>
      </p:sp>
      <p:sp>
        <p:nvSpPr>
          <p:cNvPr id="46" name="Text 44"/>
          <p:cNvSpPr txBox="1"/>
          <p:nvPr/>
        </p:nvSpPr>
        <p:spPr>
          <a:xfrm>
            <a:off x="978408" y="5632704"/>
            <a:ext cx="10204704" cy="310896"/>
          </a:xfrm>
          <a:prstGeom prst="rect">
            <a:avLst/>
          </a:prstGeom>
          <a:noFill/>
          <a:ln/>
        </p:spPr>
        <p:txBody>
          <a:bodyPr wrap="square" lIns="0" tIns="0" rIns="0" bIns="0" rtlCol="0" anchor="ctr"/>
          <a:lstStyle/>
          <a:p>
            <a:pPr marL="0" indent="0">
              <a:buNone/>
            </a:pPr>
            <a:r>
              <a:rPr lang="en-US" sz="1200" dirty="0">
                <a:solidFill>
                  <a:srgbClr val="F2EDE6"/>
                </a:solidFill>
                <a:latin typeface="Meiryo" pitchFamily="34" charset="0"/>
                <a:ea typeface="Meiryo" pitchFamily="34" charset="-122"/>
                <a:cs typeface="Meiryo" pitchFamily="34" charset="-120"/>
              </a:rPr>
              <a:t>どちらも「先にこちらが与える」設計です。ポイント経済圏は、入ってもらわないと何も始まりません。</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ROADMAP</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ロードマップ</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契約設計と法務確認を終えてから、マイルを走らせます。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91640"/>
            <a:ext cx="2624328" cy="3611880"/>
          </a:xfrm>
          <a:prstGeom prst="roundRect">
            <a:avLst>
              <a:gd name="adj" fmla="val 2091"/>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7" name="Text 5"/>
          <p:cNvSpPr txBox="1"/>
          <p:nvPr/>
        </p:nvSpPr>
        <p:spPr>
          <a:xfrm>
            <a:off x="822960" y="1901952"/>
            <a:ext cx="2112264" cy="256032"/>
          </a:xfrm>
          <a:prstGeom prst="rect">
            <a:avLst/>
          </a:prstGeom>
          <a:noFill/>
          <a:ln/>
        </p:spPr>
        <p:txBody>
          <a:bodyPr wrap="square" lIns="0" tIns="0" rIns="0" bIns="0" rtlCol="0" anchor="ctr"/>
          <a:lstStyle/>
          <a:p>
            <a:pPr marL="0" indent="0">
              <a:buNone/>
            </a:pPr>
            <a:r>
              <a:rPr lang="en-US" sz="1050" b="1" kern="0" spc="200" dirty="0">
                <a:solidFill>
                  <a:srgbClr val="C9A227"/>
                </a:solidFill>
                <a:latin typeface="Arial" pitchFamily="34" charset="0"/>
                <a:ea typeface="Arial" pitchFamily="34" charset="-122"/>
                <a:cs typeface="Arial" pitchFamily="34" charset="-120"/>
              </a:rPr>
              <a:t>PHASE 0</a:t>
            </a:r>
            <a:endParaRPr lang="en-US" sz="1050" dirty="0"/>
          </a:p>
        </p:txBody>
      </p:sp>
      <p:sp>
        <p:nvSpPr>
          <p:cNvPr id="8" name="Text 6"/>
          <p:cNvSpPr txBox="1"/>
          <p:nvPr/>
        </p:nvSpPr>
        <p:spPr>
          <a:xfrm>
            <a:off x="822960" y="2194560"/>
            <a:ext cx="2112264" cy="365760"/>
          </a:xfrm>
          <a:prstGeom prst="rect">
            <a:avLst/>
          </a:prstGeom>
          <a:noFill/>
          <a:ln/>
        </p:spPr>
        <p:txBody>
          <a:bodyPr wrap="square" lIns="0" tIns="0" rIns="0" bIns="0" rtlCol="0" anchor="ctr"/>
          <a:lstStyle/>
          <a:p>
            <a:pPr marL="0" indent="0">
              <a:buNone/>
            </a:pPr>
            <a:r>
              <a:rPr lang="en-US" sz="2000" b="1" dirty="0">
                <a:solidFill>
                  <a:srgbClr val="F2EDE6"/>
                </a:solidFill>
                <a:latin typeface="Meiryo" pitchFamily="34" charset="0"/>
                <a:ea typeface="Meiryo" pitchFamily="34" charset="-122"/>
                <a:cs typeface="Meiryo" pitchFamily="34" charset="-120"/>
              </a:rPr>
              <a:t>〜2ヶ月</a:t>
            </a:r>
            <a:endParaRPr lang="en-US" sz="2000" dirty="0"/>
          </a:p>
        </p:txBody>
      </p:sp>
      <p:sp>
        <p:nvSpPr>
          <p:cNvPr id="9" name="Text 7"/>
          <p:cNvSpPr txBox="1"/>
          <p:nvPr/>
        </p:nvSpPr>
        <p:spPr>
          <a:xfrm>
            <a:off x="822960" y="2633472"/>
            <a:ext cx="2112264" cy="310896"/>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土台を固める</a:t>
            </a:r>
            <a:endParaRPr lang="en-US" sz="1350" dirty="0"/>
          </a:p>
        </p:txBody>
      </p:sp>
      <p:sp>
        <p:nvSpPr>
          <p:cNvPr id="10" name="Text 8"/>
          <p:cNvSpPr txBox="1"/>
          <p:nvPr/>
        </p:nvSpPr>
        <p:spPr>
          <a:xfrm>
            <a:off x="822960"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店舗原価率と90%精算の合意</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弁護士意見書（取得済）</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売買・管理規約と成果報酬契約の整備</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交流イベントの年間計画</a:t>
            </a:r>
            <a:endParaRPr lang="en-US" sz="1200" dirty="0"/>
          </a:p>
        </p:txBody>
      </p:sp>
      <p:sp>
        <p:nvSpPr>
          <p:cNvPr id="11" name="Shape 9"/>
          <p:cNvSpPr/>
          <p:nvPr/>
        </p:nvSpPr>
        <p:spPr>
          <a:xfrm>
            <a:off x="3410712" y="1691640"/>
            <a:ext cx="2624328" cy="3611880"/>
          </a:xfrm>
          <a:prstGeom prst="roundRect">
            <a:avLst>
              <a:gd name="adj" fmla="val 2091"/>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2" name="Text 10"/>
          <p:cNvSpPr txBox="1"/>
          <p:nvPr/>
        </p:nvSpPr>
        <p:spPr>
          <a:xfrm>
            <a:off x="3666744" y="1901952"/>
            <a:ext cx="2112264" cy="256032"/>
          </a:xfrm>
          <a:prstGeom prst="rect">
            <a:avLst/>
          </a:prstGeom>
          <a:noFill/>
          <a:ln/>
        </p:spPr>
        <p:txBody>
          <a:bodyPr wrap="square" lIns="0" tIns="0" rIns="0" bIns="0" rtlCol="0" anchor="ctr"/>
          <a:lstStyle/>
          <a:p>
            <a:pPr marL="0" indent="0">
              <a:buNone/>
            </a:pPr>
            <a:r>
              <a:rPr lang="en-US" sz="1050" b="1" kern="0" spc="200" dirty="0">
                <a:solidFill>
                  <a:srgbClr val="C9A227"/>
                </a:solidFill>
                <a:latin typeface="Arial" pitchFamily="34" charset="0"/>
                <a:ea typeface="Arial" pitchFamily="34" charset="-122"/>
                <a:cs typeface="Arial" pitchFamily="34" charset="-120"/>
              </a:rPr>
              <a:t>PHASE 1</a:t>
            </a:r>
            <a:endParaRPr lang="en-US" sz="1050" dirty="0"/>
          </a:p>
        </p:txBody>
      </p:sp>
      <p:sp>
        <p:nvSpPr>
          <p:cNvPr id="13" name="Text 11"/>
          <p:cNvSpPr txBox="1"/>
          <p:nvPr/>
        </p:nvSpPr>
        <p:spPr>
          <a:xfrm>
            <a:off x="3666744" y="2194560"/>
            <a:ext cx="2112264" cy="365760"/>
          </a:xfrm>
          <a:prstGeom prst="rect">
            <a:avLst/>
          </a:prstGeom>
          <a:noFill/>
          <a:ln/>
        </p:spPr>
        <p:txBody>
          <a:bodyPr wrap="square" lIns="0" tIns="0" rIns="0" bIns="0" rtlCol="0" anchor="ctr"/>
          <a:lstStyle/>
          <a:p>
            <a:pPr marL="0" indent="0">
              <a:buNone/>
            </a:pPr>
            <a:r>
              <a:rPr lang="en-US" sz="2000" b="1" dirty="0">
                <a:solidFill>
                  <a:srgbClr val="F2EDE6"/>
                </a:solidFill>
                <a:latin typeface="Meiryo" pitchFamily="34" charset="0"/>
                <a:ea typeface="Meiryo" pitchFamily="34" charset="-122"/>
                <a:cs typeface="Meiryo" pitchFamily="34" charset="-120"/>
              </a:rPr>
              <a:t>3〜6ヶ月</a:t>
            </a:r>
            <a:endParaRPr lang="en-US" sz="2000" dirty="0"/>
          </a:p>
        </p:txBody>
      </p:sp>
      <p:sp>
        <p:nvSpPr>
          <p:cNvPr id="14" name="Text 12"/>
          <p:cNvSpPr txBox="1"/>
          <p:nvPr/>
        </p:nvSpPr>
        <p:spPr>
          <a:xfrm>
            <a:off x="3666744" y="2633472"/>
            <a:ext cx="2112264" cy="310896"/>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100万プランで開始</a:t>
            </a:r>
            <a:endParaRPr lang="en-US" sz="1350" dirty="0"/>
          </a:p>
        </p:txBody>
      </p:sp>
      <p:sp>
        <p:nvSpPr>
          <p:cNvPr id="15" name="Text 13"/>
          <p:cNvSpPr txBox="1"/>
          <p:nvPr/>
        </p:nvSpPr>
        <p:spPr>
          <a:xfrm>
            <a:off x="3666744"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マイル台帳をマイページに実装</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AI活用の内製で開発費を圧縮</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年次リバランスの運用設計</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既存顧客への移行案内</a:t>
            </a:r>
            <a:endParaRPr lang="en-US" sz="1200" dirty="0"/>
          </a:p>
        </p:txBody>
      </p:sp>
      <p:sp>
        <p:nvSpPr>
          <p:cNvPr id="16" name="Shape 14"/>
          <p:cNvSpPr/>
          <p:nvPr/>
        </p:nvSpPr>
        <p:spPr>
          <a:xfrm>
            <a:off x="6254496" y="1691640"/>
            <a:ext cx="2624328" cy="3611880"/>
          </a:xfrm>
          <a:prstGeom prst="roundRect">
            <a:avLst>
              <a:gd name="adj" fmla="val 2091"/>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17" name="Text 15"/>
          <p:cNvSpPr txBox="1"/>
          <p:nvPr/>
        </p:nvSpPr>
        <p:spPr>
          <a:xfrm>
            <a:off x="6510528" y="1901952"/>
            <a:ext cx="2112264" cy="256032"/>
          </a:xfrm>
          <a:prstGeom prst="rect">
            <a:avLst/>
          </a:prstGeom>
          <a:noFill/>
          <a:ln/>
        </p:spPr>
        <p:txBody>
          <a:bodyPr wrap="square" lIns="0" tIns="0" rIns="0" bIns="0" rtlCol="0" anchor="ctr"/>
          <a:lstStyle/>
          <a:p>
            <a:pPr marL="0" indent="0">
              <a:buNone/>
            </a:pPr>
            <a:r>
              <a:rPr lang="en-US" sz="1050" b="1" kern="0" spc="200" dirty="0">
                <a:solidFill>
                  <a:srgbClr val="C9A227"/>
                </a:solidFill>
                <a:latin typeface="Arial" pitchFamily="34" charset="0"/>
                <a:ea typeface="Arial" pitchFamily="34" charset="-122"/>
                <a:cs typeface="Arial" pitchFamily="34" charset="-120"/>
              </a:rPr>
              <a:t>PHASE 2</a:t>
            </a:r>
            <a:endParaRPr lang="en-US" sz="1050" dirty="0"/>
          </a:p>
        </p:txBody>
      </p:sp>
      <p:sp>
        <p:nvSpPr>
          <p:cNvPr id="18" name="Text 16"/>
          <p:cNvSpPr txBox="1"/>
          <p:nvPr/>
        </p:nvSpPr>
        <p:spPr>
          <a:xfrm>
            <a:off x="6510528" y="2194560"/>
            <a:ext cx="2112264" cy="365760"/>
          </a:xfrm>
          <a:prstGeom prst="rect">
            <a:avLst/>
          </a:prstGeom>
          <a:noFill/>
          <a:ln/>
        </p:spPr>
        <p:txBody>
          <a:bodyPr wrap="square" lIns="0" tIns="0" rIns="0" bIns="0" rtlCol="0" anchor="ctr"/>
          <a:lstStyle/>
          <a:p>
            <a:pPr marL="0" indent="0">
              <a:buNone/>
            </a:pPr>
            <a:r>
              <a:rPr lang="en-US" sz="2000" b="1" dirty="0">
                <a:solidFill>
                  <a:srgbClr val="F2EDE6"/>
                </a:solidFill>
                <a:latin typeface="Meiryo" pitchFamily="34" charset="0"/>
                <a:ea typeface="Meiryo" pitchFamily="34" charset="-122"/>
                <a:cs typeface="Meiryo" pitchFamily="34" charset="-120"/>
              </a:rPr>
              <a:t>6〜12ヶ月</a:t>
            </a:r>
            <a:endParaRPr lang="en-US" sz="2000" dirty="0"/>
          </a:p>
        </p:txBody>
      </p:sp>
      <p:sp>
        <p:nvSpPr>
          <p:cNvPr id="19" name="Text 17"/>
          <p:cNvSpPr txBox="1"/>
          <p:nvPr/>
        </p:nvSpPr>
        <p:spPr>
          <a:xfrm>
            <a:off x="6510528" y="2633472"/>
            <a:ext cx="2112264" cy="310896"/>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経済圏に広げる</a:t>
            </a:r>
            <a:endParaRPr lang="en-US" sz="1350" dirty="0"/>
          </a:p>
        </p:txBody>
      </p:sp>
      <p:sp>
        <p:nvSpPr>
          <p:cNvPr id="20" name="Text 18"/>
          <p:cNvSpPr txBox="1"/>
          <p:nvPr/>
        </p:nvSpPr>
        <p:spPr>
          <a:xfrm>
            <a:off x="6510528"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SIGNATURE（1,000万）展開</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オークションでの限定マイル付与</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100本お預かりプラン開始</a:t>
            </a:r>
            <a:endParaRPr lang="en-US" sz="1200" dirty="0"/>
          </a:p>
        </p:txBody>
      </p:sp>
      <p:sp>
        <p:nvSpPr>
          <p:cNvPr id="21" name="Shape 19"/>
          <p:cNvSpPr/>
          <p:nvPr/>
        </p:nvSpPr>
        <p:spPr>
          <a:xfrm>
            <a:off x="9098280" y="1691640"/>
            <a:ext cx="2624328" cy="3611880"/>
          </a:xfrm>
          <a:prstGeom prst="roundRect">
            <a:avLst>
              <a:gd name="adj" fmla="val 2091"/>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22" name="Text 20"/>
          <p:cNvSpPr txBox="1"/>
          <p:nvPr/>
        </p:nvSpPr>
        <p:spPr>
          <a:xfrm>
            <a:off x="9354312" y="1901952"/>
            <a:ext cx="2112264" cy="256032"/>
          </a:xfrm>
          <a:prstGeom prst="rect">
            <a:avLst/>
          </a:prstGeom>
          <a:noFill/>
          <a:ln/>
        </p:spPr>
        <p:txBody>
          <a:bodyPr wrap="square" lIns="0" tIns="0" rIns="0" bIns="0" rtlCol="0" anchor="ctr"/>
          <a:lstStyle/>
          <a:p>
            <a:pPr marL="0" indent="0">
              <a:buNone/>
            </a:pPr>
            <a:r>
              <a:rPr lang="en-US" sz="1050" b="1" kern="0" spc="200" dirty="0">
                <a:solidFill>
                  <a:srgbClr val="C9A227"/>
                </a:solidFill>
                <a:latin typeface="Arial" pitchFamily="34" charset="0"/>
                <a:ea typeface="Arial" pitchFamily="34" charset="-122"/>
                <a:cs typeface="Arial" pitchFamily="34" charset="-120"/>
              </a:rPr>
              <a:t>PHASE 3</a:t>
            </a:r>
            <a:endParaRPr lang="en-US" sz="1050" dirty="0"/>
          </a:p>
        </p:txBody>
      </p:sp>
      <p:sp>
        <p:nvSpPr>
          <p:cNvPr id="23" name="Text 21"/>
          <p:cNvSpPr txBox="1"/>
          <p:nvPr/>
        </p:nvSpPr>
        <p:spPr>
          <a:xfrm>
            <a:off x="9354312" y="2194560"/>
            <a:ext cx="2112264" cy="365760"/>
          </a:xfrm>
          <a:prstGeom prst="rect">
            <a:avLst/>
          </a:prstGeom>
          <a:noFill/>
          <a:ln/>
        </p:spPr>
        <p:txBody>
          <a:bodyPr wrap="square" lIns="0" tIns="0" rIns="0" bIns="0" rtlCol="0" anchor="ctr"/>
          <a:lstStyle/>
          <a:p>
            <a:pPr marL="0" indent="0">
              <a:buNone/>
            </a:pPr>
            <a:r>
              <a:rPr lang="en-US" sz="2000" b="1" dirty="0">
                <a:solidFill>
                  <a:srgbClr val="F2EDE6"/>
                </a:solidFill>
                <a:latin typeface="Meiryo" pitchFamily="34" charset="0"/>
                <a:ea typeface="Meiryo" pitchFamily="34" charset="-122"/>
                <a:cs typeface="Meiryo" pitchFamily="34" charset="-120"/>
              </a:rPr>
              <a:t>Year 2〜</a:t>
            </a:r>
            <a:endParaRPr lang="en-US" sz="2000" dirty="0"/>
          </a:p>
        </p:txBody>
      </p:sp>
      <p:sp>
        <p:nvSpPr>
          <p:cNvPr id="24" name="Text 22"/>
          <p:cNvSpPr txBox="1"/>
          <p:nvPr/>
        </p:nvSpPr>
        <p:spPr>
          <a:xfrm>
            <a:off x="9354312" y="2633472"/>
            <a:ext cx="2112264" cy="310896"/>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ST公募へ</a:t>
            </a:r>
            <a:endParaRPr lang="en-US" sz="1350" dirty="0"/>
          </a:p>
        </p:txBody>
      </p:sp>
      <p:sp>
        <p:nvSpPr>
          <p:cNvPr id="25" name="Text 23"/>
          <p:cNvSpPr txBox="1"/>
          <p:nvPr/>
        </p:nvSpPr>
        <p:spPr>
          <a:xfrm>
            <a:off x="9354312"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会員数と在庫回転率を実績に</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SBI証券へ再提案</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100億円のCloud Cave構想へ</a:t>
            </a:r>
            <a:endParaRPr lang="en-US" sz="1200" dirty="0"/>
          </a:p>
        </p:txBody>
      </p:sp>
      <p:sp>
        <p:nvSpPr>
          <p:cNvPr id="26" name="Shape 24"/>
          <p:cNvSpPr/>
          <p:nvPr/>
        </p:nvSpPr>
        <p:spPr>
          <a:xfrm>
            <a:off x="566928" y="5468112"/>
            <a:ext cx="11027664" cy="585216"/>
          </a:xfrm>
          <a:prstGeom prst="roundRect">
            <a:avLst>
              <a:gd name="adj" fmla="val 9375"/>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27" name="Text 25"/>
          <p:cNvSpPr txBox="1"/>
          <p:nvPr/>
        </p:nvSpPr>
        <p:spPr>
          <a:xfrm>
            <a:off x="978408" y="5605272"/>
            <a:ext cx="10204704" cy="310896"/>
          </a:xfrm>
          <a:prstGeom prst="rect">
            <a:avLst/>
          </a:prstGeom>
          <a:noFill/>
          <a:ln/>
        </p:spPr>
        <p:txBody>
          <a:bodyPr wrap="square" lIns="0" tIns="0" rIns="0" bIns="0" rtlCol="0" anchor="ctr"/>
          <a:lstStyle/>
          <a:p>
            <a:pPr marL="0" indent="0">
              <a:buNone/>
            </a:pPr>
            <a:r>
              <a:rPr lang="en-US" sz="1250" b="1" dirty="0">
                <a:solidFill>
                  <a:srgbClr val="E8CE78"/>
                </a:solidFill>
                <a:latin typeface="Meiryo" pitchFamily="34" charset="0"/>
                <a:ea typeface="Meiryo" pitchFamily="34" charset="-122"/>
                <a:cs typeface="Meiryo" pitchFamily="34" charset="-120"/>
              </a:rPr>
              <a:t>先に決めるべきは、系列店との90%精算の合意です。ここが動くと、還元率もレートも全部動きます。</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0E14"/>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marL="0" indent="0">
              <a:buNone/>
            </a:pPr>
            <a:r>
              <a:rPr lang="en-US" sz="1050" b="1" kern="0" spc="300" dirty="0">
                <a:solidFill>
                  <a:srgbClr val="C9A227"/>
                </a:solidFill>
                <a:latin typeface="Arial" pitchFamily="34" charset="0"/>
                <a:ea typeface="Arial" pitchFamily="34" charset="-122"/>
                <a:cs typeface="Arial" pitchFamily="34" charset="-120"/>
              </a:rPr>
              <a:t>NEXT ACTION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marL="0" indent="0">
              <a:buNone/>
            </a:pPr>
            <a:r>
              <a:rPr lang="en-US" sz="2900" b="1" dirty="0">
                <a:solidFill>
                  <a:srgbClr val="F2EDE6"/>
                </a:solidFill>
                <a:latin typeface="Meiryo" pitchFamily="34" charset="0"/>
                <a:ea typeface="Meiryo" pitchFamily="34" charset="-122"/>
                <a:cs typeface="Meiryo" pitchFamily="34" charset="-120"/>
              </a:rPr>
              <a:t>次に決めるべきこと</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marL="0" indent="0">
              <a:buNone/>
            </a:pPr>
            <a:r>
              <a:rPr lang="en-US" sz="1300" dirty="0">
                <a:solidFill>
                  <a:srgbClr val="A2908C"/>
                </a:solidFill>
                <a:latin typeface="Meiryo" pitchFamily="34" charset="0"/>
                <a:ea typeface="Meiryo" pitchFamily="34" charset="-122"/>
                <a:cs typeface="Meiryo" pitchFamily="34" charset="-120"/>
              </a:rPr>
              <a:t>この6つが決まれば、マイル制度を確定してローンチの準備に入れます。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marL="0" indent="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645920"/>
            <a:ext cx="5394960" cy="292608"/>
          </a:xfrm>
          <a:prstGeom prst="rect">
            <a:avLst/>
          </a:prstGeom>
          <a:noFill/>
          <a:ln/>
        </p:spPr>
        <p:txBody>
          <a:bodyPr wrap="square" lIns="0" tIns="0" rIns="0" bIns="0" rtlCol="0" anchor="ctr"/>
          <a:lstStyle/>
          <a:p>
            <a:pPr marL="0" indent="0">
              <a:buNone/>
            </a:pPr>
            <a:r>
              <a:rPr lang="en-US" sz="1500" b="1" dirty="0">
                <a:solidFill>
                  <a:srgbClr val="C9A227"/>
                </a:solidFill>
                <a:latin typeface="Meiryo" pitchFamily="34" charset="0"/>
                <a:ea typeface="Meiryo" pitchFamily="34" charset="-122"/>
                <a:cs typeface="Meiryo" pitchFamily="34" charset="-120"/>
              </a:rPr>
              <a:t>経営判断が必要な3点</a:t>
            </a:r>
            <a:endParaRPr lang="en-US" sz="1500" dirty="0"/>
          </a:p>
        </p:txBody>
      </p:sp>
      <p:sp>
        <p:nvSpPr>
          <p:cNvPr id="7" name="Shape 5"/>
          <p:cNvSpPr/>
          <p:nvPr/>
        </p:nvSpPr>
        <p:spPr>
          <a:xfrm>
            <a:off x="566928" y="2029968"/>
            <a:ext cx="5394960" cy="1060704"/>
          </a:xfrm>
          <a:prstGeom prst="roundRect">
            <a:avLst>
              <a:gd name="adj" fmla="val 5172"/>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8" name="Shape 6"/>
          <p:cNvSpPr/>
          <p:nvPr/>
        </p:nvSpPr>
        <p:spPr>
          <a:xfrm>
            <a:off x="841248" y="2212848"/>
            <a:ext cx="329184" cy="329184"/>
          </a:xfrm>
          <a:prstGeom prst="ellipse">
            <a:avLst/>
          </a:prstGeom>
          <a:solidFill>
            <a:srgbClr val="C9A227"/>
          </a:solidFill>
          <a:ln w="12700">
            <a:solidFill>
              <a:srgbClr val="C9A227"/>
            </a:solidFill>
            <a:prstDash val="solid"/>
          </a:ln>
        </p:spPr>
      </p:sp>
      <p:sp>
        <p:nvSpPr>
          <p:cNvPr id="9" name="Text 7"/>
          <p:cNvSpPr txBox="1"/>
          <p:nvPr/>
        </p:nvSpPr>
        <p:spPr>
          <a:xfrm>
            <a:off x="841248" y="221284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1298448" y="2231136"/>
            <a:ext cx="4480560" cy="274320"/>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マイルの付与タイミング</a:t>
            </a:r>
            <a:endParaRPr lang="en-US" sz="1350" dirty="0"/>
          </a:p>
        </p:txBody>
      </p:sp>
      <p:sp>
        <p:nvSpPr>
          <p:cNvPr id="11" name="Text 9"/>
          <p:cNvSpPr txBox="1"/>
          <p:nvPr/>
        </p:nvSpPr>
        <p:spPr>
          <a:xfrm>
            <a:off x="841248" y="2578608"/>
            <a:ext cx="4846320" cy="438912"/>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月割の後付与を採るか。年一括のままなら、持込ワインの裁定を塞ぐ別のルール（ロック・飲用上限）が要ります。</a:t>
            </a:r>
            <a:endParaRPr lang="en-US" sz="1050" dirty="0"/>
          </a:p>
        </p:txBody>
      </p:sp>
      <p:sp>
        <p:nvSpPr>
          <p:cNvPr id="12" name="Shape 10"/>
          <p:cNvSpPr/>
          <p:nvPr/>
        </p:nvSpPr>
        <p:spPr>
          <a:xfrm>
            <a:off x="566928" y="3218688"/>
            <a:ext cx="5394960" cy="1060704"/>
          </a:xfrm>
          <a:prstGeom prst="roundRect">
            <a:avLst>
              <a:gd name="adj" fmla="val 5172"/>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3" name="Shape 11"/>
          <p:cNvSpPr/>
          <p:nvPr/>
        </p:nvSpPr>
        <p:spPr>
          <a:xfrm>
            <a:off x="841248" y="3401568"/>
            <a:ext cx="329184" cy="329184"/>
          </a:xfrm>
          <a:prstGeom prst="ellipse">
            <a:avLst/>
          </a:prstGeom>
          <a:solidFill>
            <a:srgbClr val="C9A227"/>
          </a:solidFill>
          <a:ln w="12700">
            <a:solidFill>
              <a:srgbClr val="C9A227"/>
            </a:solidFill>
            <a:prstDash val="solid"/>
          </a:ln>
        </p:spPr>
      </p:sp>
      <p:sp>
        <p:nvSpPr>
          <p:cNvPr id="14" name="Text 12"/>
          <p:cNvSpPr txBox="1"/>
          <p:nvPr/>
        </p:nvSpPr>
        <p:spPr>
          <a:xfrm>
            <a:off x="841248" y="34015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1298448" y="3419856"/>
            <a:ext cx="4480560" cy="274320"/>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SIGNATUREの還元率</a:t>
            </a:r>
            <a:endParaRPr lang="en-US" sz="1350" dirty="0"/>
          </a:p>
        </p:txBody>
      </p:sp>
      <p:sp>
        <p:nvSpPr>
          <p:cNvPr id="16" name="Text 14"/>
          <p:cNvSpPr txBox="1"/>
          <p:nvPr/>
        </p:nvSpPr>
        <p:spPr>
          <a:xfrm>
            <a:off x="841248" y="3767328"/>
            <a:ext cx="4846320" cy="438912"/>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6%維持か5%か。5%なら当社の現金は年▲8.7万→▲3.6万に改善しますが、GOLDと同率になります。</a:t>
            </a:r>
            <a:endParaRPr lang="en-US" sz="1050" dirty="0"/>
          </a:p>
        </p:txBody>
      </p:sp>
      <p:sp>
        <p:nvSpPr>
          <p:cNvPr id="17" name="Shape 15"/>
          <p:cNvSpPr/>
          <p:nvPr/>
        </p:nvSpPr>
        <p:spPr>
          <a:xfrm>
            <a:off x="566928" y="4407408"/>
            <a:ext cx="5394960" cy="1060704"/>
          </a:xfrm>
          <a:prstGeom prst="roundRect">
            <a:avLst>
              <a:gd name="adj" fmla="val 5172"/>
            </a:avLst>
          </a:prstGeom>
          <a:solidFill>
            <a:srgbClr val="38202C"/>
          </a:solidFill>
          <a:ln w="12700">
            <a:solidFill>
              <a:srgbClr val="38202C"/>
            </a:solidFill>
            <a:prstDash val="solid"/>
          </a:ln>
          <a:effectLst>
            <a:outerShdw blurRad="127000" dist="25400" dir="5400000" algn="bl" rotWithShape="0">
              <a:srgbClr val="000000">
                <a:alpha val="35000"/>
              </a:srgbClr>
            </a:outerShdw>
          </a:effectLst>
        </p:spPr>
      </p:sp>
      <p:sp>
        <p:nvSpPr>
          <p:cNvPr id="18" name="Shape 16"/>
          <p:cNvSpPr/>
          <p:nvPr/>
        </p:nvSpPr>
        <p:spPr>
          <a:xfrm>
            <a:off x="841248" y="4590288"/>
            <a:ext cx="329184" cy="329184"/>
          </a:xfrm>
          <a:prstGeom prst="ellipse">
            <a:avLst/>
          </a:prstGeom>
          <a:solidFill>
            <a:srgbClr val="C9A227"/>
          </a:solidFill>
          <a:ln w="12700">
            <a:solidFill>
              <a:srgbClr val="C9A227"/>
            </a:solidFill>
            <a:prstDash val="solid"/>
          </a:ln>
        </p:spPr>
      </p:sp>
      <p:sp>
        <p:nvSpPr>
          <p:cNvPr id="19" name="Text 17"/>
          <p:cNvSpPr txBox="1"/>
          <p:nvPr/>
        </p:nvSpPr>
        <p:spPr>
          <a:xfrm>
            <a:off x="841248" y="459028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1298448" y="4608576"/>
            <a:ext cx="4480560" cy="274320"/>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直営店との90%精算の合意</a:t>
            </a:r>
            <a:endParaRPr lang="en-US" sz="1350" dirty="0"/>
          </a:p>
        </p:txBody>
      </p:sp>
      <p:sp>
        <p:nvSpPr>
          <p:cNvPr id="21" name="Text 19"/>
          <p:cNvSpPr txBox="1"/>
          <p:nvPr/>
        </p:nvSpPr>
        <p:spPr>
          <a:xfrm>
            <a:off x="841248" y="4956048"/>
            <a:ext cx="4846320" cy="438912"/>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単体では直営飲食1.0円の経路が最も重い。連結で見る前提を経営として固める必要があります。</a:t>
            </a:r>
            <a:endParaRPr lang="en-US" sz="1050" dirty="0"/>
          </a:p>
        </p:txBody>
      </p:sp>
      <p:sp>
        <p:nvSpPr>
          <p:cNvPr id="22" name="Text 20"/>
          <p:cNvSpPr txBox="1"/>
          <p:nvPr/>
        </p:nvSpPr>
        <p:spPr>
          <a:xfrm>
            <a:off x="6199632" y="1645920"/>
            <a:ext cx="5394960" cy="292608"/>
          </a:xfrm>
          <a:prstGeom prst="rect">
            <a:avLst/>
          </a:prstGeom>
          <a:noFill/>
          <a:ln/>
        </p:spPr>
        <p:txBody>
          <a:bodyPr wrap="square" lIns="0" tIns="0" rIns="0" bIns="0" rtlCol="0" anchor="ctr"/>
          <a:lstStyle/>
          <a:p>
            <a:pPr marL="0" indent="0">
              <a:buNone/>
            </a:pPr>
            <a:r>
              <a:rPr lang="en-US" sz="1500" b="1" dirty="0">
                <a:solidFill>
                  <a:srgbClr val="C9A227"/>
                </a:solidFill>
                <a:latin typeface="Meiryo" pitchFamily="34" charset="0"/>
                <a:ea typeface="Meiryo" pitchFamily="34" charset="-122"/>
                <a:cs typeface="Meiryo" pitchFamily="34" charset="-120"/>
              </a:rPr>
              <a:t>確認・提供いただきたい3点</a:t>
            </a:r>
            <a:endParaRPr lang="en-US" sz="1500" dirty="0"/>
          </a:p>
        </p:txBody>
      </p:sp>
      <p:sp>
        <p:nvSpPr>
          <p:cNvPr id="23" name="Shape 21"/>
          <p:cNvSpPr/>
          <p:nvPr/>
        </p:nvSpPr>
        <p:spPr>
          <a:xfrm>
            <a:off x="6199632" y="2029968"/>
            <a:ext cx="5394960" cy="1060704"/>
          </a:xfrm>
          <a:prstGeom prst="roundRect">
            <a:avLst>
              <a:gd name="adj" fmla="val 5172"/>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24" name="Shape 22"/>
          <p:cNvSpPr/>
          <p:nvPr/>
        </p:nvSpPr>
        <p:spPr>
          <a:xfrm>
            <a:off x="6473952" y="2212848"/>
            <a:ext cx="329184" cy="329184"/>
          </a:xfrm>
          <a:prstGeom prst="ellipse">
            <a:avLst/>
          </a:prstGeom>
          <a:solidFill>
            <a:srgbClr val="C9A227"/>
          </a:solidFill>
          <a:ln w="12700">
            <a:solidFill>
              <a:srgbClr val="C9A227"/>
            </a:solidFill>
            <a:prstDash val="solid"/>
          </a:ln>
        </p:spPr>
      </p:sp>
      <p:sp>
        <p:nvSpPr>
          <p:cNvPr id="25" name="Text 23"/>
          <p:cNvSpPr txBox="1"/>
          <p:nvPr/>
        </p:nvSpPr>
        <p:spPr>
          <a:xfrm>
            <a:off x="6473952" y="221284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26" name="Text 24"/>
          <p:cNvSpPr txBox="1"/>
          <p:nvPr/>
        </p:nvSpPr>
        <p:spPr>
          <a:xfrm>
            <a:off x="6931152" y="2231136"/>
            <a:ext cx="4480560" cy="274320"/>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WineBank CLUBの実数</a:t>
            </a:r>
            <a:endParaRPr lang="en-US" sz="1350" dirty="0"/>
          </a:p>
        </p:txBody>
      </p:sp>
      <p:sp>
        <p:nvSpPr>
          <p:cNvPr id="27" name="Text 25"/>
          <p:cNvSpPr txBox="1"/>
          <p:nvPr/>
        </p:nvSpPr>
        <p:spPr>
          <a:xfrm>
            <a:off x="6473952" y="2578608"/>
            <a:ext cx="4846320" cy="438912"/>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ランク別の年会費・特典・提携店数。BLACKの特典内容がSIGNATUREの購買動機を決めます。</a:t>
            </a:r>
            <a:endParaRPr lang="en-US" sz="1050" dirty="0"/>
          </a:p>
        </p:txBody>
      </p:sp>
      <p:sp>
        <p:nvSpPr>
          <p:cNvPr id="28" name="Shape 26"/>
          <p:cNvSpPr/>
          <p:nvPr/>
        </p:nvSpPr>
        <p:spPr>
          <a:xfrm>
            <a:off x="6199632" y="3218688"/>
            <a:ext cx="5394960" cy="1060704"/>
          </a:xfrm>
          <a:prstGeom prst="roundRect">
            <a:avLst>
              <a:gd name="adj" fmla="val 5172"/>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29" name="Shape 27"/>
          <p:cNvSpPr/>
          <p:nvPr/>
        </p:nvSpPr>
        <p:spPr>
          <a:xfrm>
            <a:off x="6473952" y="3401568"/>
            <a:ext cx="329184" cy="329184"/>
          </a:xfrm>
          <a:prstGeom prst="ellipse">
            <a:avLst/>
          </a:prstGeom>
          <a:solidFill>
            <a:srgbClr val="C9A227"/>
          </a:solidFill>
          <a:ln w="12700">
            <a:solidFill>
              <a:srgbClr val="C9A227"/>
            </a:solidFill>
            <a:prstDash val="solid"/>
          </a:ln>
        </p:spPr>
      </p:sp>
      <p:sp>
        <p:nvSpPr>
          <p:cNvPr id="30" name="Text 28"/>
          <p:cNvSpPr txBox="1"/>
          <p:nvPr/>
        </p:nvSpPr>
        <p:spPr>
          <a:xfrm>
            <a:off x="6473952" y="340156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31" name="Text 29"/>
          <p:cNvSpPr txBox="1"/>
          <p:nvPr/>
        </p:nvSpPr>
        <p:spPr>
          <a:xfrm>
            <a:off x="6931152" y="3419856"/>
            <a:ext cx="4480560" cy="274320"/>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ワイナート年間購読の実額</a:t>
            </a:r>
            <a:endParaRPr lang="en-US" sz="1350" dirty="0"/>
          </a:p>
        </p:txBody>
      </p:sp>
      <p:sp>
        <p:nvSpPr>
          <p:cNvPr id="32" name="Text 30"/>
          <p:cNvSpPr txBox="1"/>
          <p:nvPr/>
        </p:nvSpPr>
        <p:spPr>
          <a:xfrm>
            <a:off x="6473952" y="3767328"/>
            <a:ext cx="4846320" cy="438912"/>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交換先の原価計算に必要です。</a:t>
            </a:r>
            <a:endParaRPr lang="en-US" sz="1050" dirty="0"/>
          </a:p>
        </p:txBody>
      </p:sp>
      <p:sp>
        <p:nvSpPr>
          <p:cNvPr id="33" name="Shape 31"/>
          <p:cNvSpPr/>
          <p:nvPr/>
        </p:nvSpPr>
        <p:spPr>
          <a:xfrm>
            <a:off x="6199632" y="4407408"/>
            <a:ext cx="5394960" cy="1060704"/>
          </a:xfrm>
          <a:prstGeom prst="roundRect">
            <a:avLst>
              <a:gd name="adj" fmla="val 5172"/>
            </a:avLst>
          </a:prstGeom>
          <a:solidFill>
            <a:srgbClr val="2A1620"/>
          </a:solidFill>
          <a:ln w="12700">
            <a:solidFill>
              <a:srgbClr val="2A1620"/>
            </a:solidFill>
            <a:prstDash val="solid"/>
          </a:ln>
          <a:effectLst>
            <a:outerShdw blurRad="127000" dist="25400" dir="5400000" algn="bl" rotWithShape="0">
              <a:srgbClr val="000000">
                <a:alpha val="35000"/>
              </a:srgbClr>
            </a:outerShdw>
          </a:effectLst>
        </p:spPr>
      </p:sp>
      <p:sp>
        <p:nvSpPr>
          <p:cNvPr id="34" name="Shape 32"/>
          <p:cNvSpPr/>
          <p:nvPr/>
        </p:nvSpPr>
        <p:spPr>
          <a:xfrm>
            <a:off x="6473952" y="4590288"/>
            <a:ext cx="329184" cy="329184"/>
          </a:xfrm>
          <a:prstGeom prst="ellipse">
            <a:avLst/>
          </a:prstGeom>
          <a:solidFill>
            <a:srgbClr val="C9A227"/>
          </a:solidFill>
          <a:ln w="12700">
            <a:solidFill>
              <a:srgbClr val="C9A227"/>
            </a:solidFill>
            <a:prstDash val="solid"/>
          </a:ln>
        </p:spPr>
      </p:sp>
      <p:sp>
        <p:nvSpPr>
          <p:cNvPr id="35" name="Text 33"/>
          <p:cNvSpPr txBox="1"/>
          <p:nvPr/>
        </p:nvSpPr>
        <p:spPr>
          <a:xfrm>
            <a:off x="6473952" y="4590288"/>
            <a:ext cx="329184" cy="329184"/>
          </a:xfrm>
          <a:prstGeom prst="rect">
            <a:avLst/>
          </a:prstGeom>
          <a:noFill/>
          <a:ln/>
        </p:spPr>
        <p:txBody>
          <a:bodyPr wrap="square" lIns="0" tIns="0" rIns="0" bIns="0" rtlCol="0" anchor="ctr"/>
          <a:lstStyle/>
          <a:p>
            <a:pPr marL="0" indent="0" algn="ctr">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36" name="Text 34"/>
          <p:cNvSpPr txBox="1"/>
          <p:nvPr/>
        </p:nvSpPr>
        <p:spPr>
          <a:xfrm>
            <a:off x="6931152" y="4608576"/>
            <a:ext cx="4480560" cy="274320"/>
          </a:xfrm>
          <a:prstGeom prst="rect">
            <a:avLst/>
          </a:prstGeom>
          <a:noFill/>
          <a:ln/>
        </p:spPr>
        <p:txBody>
          <a:bodyPr wrap="square" lIns="0" tIns="0" rIns="0" bIns="0" rtlCol="0" anchor="ctr"/>
          <a:lstStyle/>
          <a:p>
            <a:pPr marL="0" indent="0">
              <a:buNone/>
            </a:pPr>
            <a:r>
              <a:rPr lang="en-US" sz="1350" b="1" dirty="0">
                <a:solidFill>
                  <a:srgbClr val="E8CE78"/>
                </a:solidFill>
                <a:latin typeface="Meiryo" pitchFamily="34" charset="0"/>
                <a:ea typeface="Meiryo" pitchFamily="34" charset="-122"/>
                <a:cs typeface="Meiryo" pitchFamily="34" charset="-120"/>
              </a:rPr>
              <a:t>残る法務・税務の宿題</a:t>
            </a:r>
            <a:endParaRPr lang="en-US" sz="1350" dirty="0"/>
          </a:p>
        </p:txBody>
      </p:sp>
      <p:sp>
        <p:nvSpPr>
          <p:cNvPr id="37" name="Text 35"/>
          <p:cNvSpPr txBox="1"/>
          <p:nvPr/>
        </p:nvSpPr>
        <p:spPr>
          <a:xfrm>
            <a:off x="6473952" y="4956048"/>
            <a:ext cx="4846320" cy="438912"/>
          </a:xfrm>
          <a:prstGeom prst="rect">
            <a:avLst/>
          </a:prstGeom>
          <a:noFill/>
          <a:ln/>
        </p:spPr>
        <p:txBody>
          <a:bodyPr wrap="square" lIns="0" tIns="0" rIns="0" bIns="0" rtlCol="0" anchor="ctr"/>
          <a:lstStyle/>
          <a:p>
            <a:pPr marL="0" indent="0">
              <a:lnSpc>
                <a:spcPts val="1500"/>
              </a:lnSpc>
              <a:buNone/>
            </a:pPr>
            <a:r>
              <a:rPr lang="en-US" sz="1050" dirty="0">
                <a:solidFill>
                  <a:srgbClr val="A2908C"/>
                </a:solidFill>
                <a:latin typeface="Meiryo" pitchFamily="34" charset="0"/>
                <a:ea typeface="Meiryo" pitchFamily="34" charset="-122"/>
                <a:cs typeface="Meiryo" pitchFamily="34" charset="-120"/>
              </a:rPr>
              <a:t>①マイル利用規約の整備（経産省ガイドラインの6項目）②成果報酬契約の文言 ③無償付与マイルの課税整理（税理士）④古物競りあっせん業者の届出要否</a:t>
            </a:r>
            <a:endParaRPr lang="en-US" sz="1050" dirty="0"/>
          </a:p>
        </p:txBody>
      </p:sp>
      <p:sp>
        <p:nvSpPr>
          <p:cNvPr id="38" name="Shape 36"/>
          <p:cNvSpPr/>
          <p:nvPr/>
        </p:nvSpPr>
        <p:spPr>
          <a:xfrm>
            <a:off x="566928" y="5614416"/>
            <a:ext cx="11027664" cy="566928"/>
          </a:xfrm>
          <a:prstGeom prst="roundRect">
            <a:avLst>
              <a:gd name="adj" fmla="val 9677"/>
            </a:avLst>
          </a:prstGeom>
          <a:solidFill>
            <a:srgbClr val="7B1E3A"/>
          </a:solidFill>
          <a:ln w="12700">
            <a:solidFill>
              <a:srgbClr val="7B1E3A"/>
            </a:solidFill>
            <a:prstDash val="solid"/>
          </a:ln>
          <a:effectLst>
            <a:outerShdw blurRad="127000" dist="25400" dir="5400000" algn="bl" rotWithShape="0">
              <a:srgbClr val="000000">
                <a:alpha val="35000"/>
              </a:srgbClr>
            </a:outerShdw>
          </a:effectLst>
        </p:spPr>
      </p:sp>
      <p:sp>
        <p:nvSpPr>
          <p:cNvPr id="39" name="Text 37"/>
          <p:cNvSpPr txBox="1"/>
          <p:nvPr/>
        </p:nvSpPr>
        <p:spPr>
          <a:xfrm>
            <a:off x="978408" y="5742432"/>
            <a:ext cx="10204704" cy="329184"/>
          </a:xfrm>
          <a:prstGeom prst="rect">
            <a:avLst/>
          </a:prstGeom>
          <a:noFill/>
          <a:ln/>
        </p:spPr>
        <p:txBody>
          <a:bodyPr wrap="square" lIns="0" tIns="0" rIns="0" bIns="0" rtlCol="0" anchor="ctr"/>
          <a:lstStyle/>
          <a:p>
            <a:pPr marL="0" indent="0" algn="ctr">
              <a:buNone/>
            </a:pPr>
            <a:r>
              <a:rPr lang="en-US" sz="1500" b="1" dirty="0">
                <a:solidFill>
                  <a:srgbClr val="E8CE78"/>
                </a:solidFill>
                <a:latin typeface="Meiryo" pitchFamily="34" charset="0"/>
                <a:ea typeface="Meiryo" pitchFamily="34" charset="-122"/>
                <a:cs typeface="Meiryo" pitchFamily="34" charset="-120"/>
              </a:rPr>
              <a:t>ワインで、ライフスタイルを豊かにする。マイルは、その手段です。</a:t>
            </a:r>
            <a:endParaRPr lang="en-US" sz="15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0E14"/>
        </a:solidFill>
      </p:bgPr>
    </p:bg>
    <p:spTree>
      <p:nvGrpSpPr>
        <p:cNvPr id="1" name=""/>
        <p:cNvGrpSpPr/>
        <p:nvPr/>
      </p:nvGrpSpPr>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PERSONA</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ワインのある1か月を、ひとつの口座で</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100本・200万円を預けた会員の1か月。買う・届ける・贈る・育てる・貯まる・食べるが、一本の線でつながります。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2926080" cy="3840480"/>
          </a:xfrm>
          <a:prstGeom prst="roundRect">
            <a:avLst>
              <a:gd name="adj" fmla="val 1875"/>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41248" y="1883664"/>
            <a:ext cx="2377440" cy="457200"/>
          </a:xfrm>
          <a:prstGeom prst="rect">
            <a:avLst/>
          </a:prstGeom>
          <a:noFill/>
          <a:ln/>
        </p:spPr>
        <p:txBody>
          <a:bodyPr wrap="square" lIns="0" tIns="0" rIns="0" bIns="0" rtlCol="0" anchor="ctr"/>
          <a:lstStyle/>
          <a:p>
            <a:pPr indent="0" marL="0">
              <a:buNone/>
            </a:pPr>
            <a:r>
              <a:rPr lang="en-US" sz="2600" b="1" dirty="0">
                <a:solidFill>
                  <a:srgbClr val="E8CE78"/>
                </a:solidFill>
                <a:latin typeface="Meiryo" pitchFamily="34" charset="0"/>
                <a:ea typeface="Meiryo" pitchFamily="34" charset="-122"/>
                <a:cs typeface="Meiryo" pitchFamily="34" charset="-120"/>
              </a:rPr>
              <a:t>K様</a:t>
            </a:r>
            <a:endParaRPr lang="en-US" sz="2600" dirty="0"/>
          </a:p>
        </p:txBody>
      </p:sp>
      <p:sp>
        <p:nvSpPr>
          <p:cNvPr id="8" name="Text 6"/>
          <p:cNvSpPr txBox="1"/>
          <p:nvPr/>
        </p:nvSpPr>
        <p:spPr>
          <a:xfrm>
            <a:off x="841248" y="2395728"/>
            <a:ext cx="2377440" cy="256032"/>
          </a:xfrm>
          <a:prstGeom prst="rect">
            <a:avLst/>
          </a:prstGeom>
          <a:noFill/>
          <a:ln/>
        </p:spPr>
        <p:txBody>
          <a:bodyPr wrap="square" lIns="0" tIns="0" rIns="0" bIns="0" rtlCol="0" anchor="ctr"/>
          <a:lstStyle/>
          <a:p>
            <a:pPr indent="0" marL="0">
              <a:buNone/>
            </a:pPr>
            <a:r>
              <a:rPr lang="en-US" sz="1150" dirty="0">
                <a:solidFill>
                  <a:srgbClr val="A2908C"/>
                </a:solidFill>
                <a:latin typeface="Meiryo" pitchFamily="34" charset="0"/>
                <a:ea typeface="Meiryo" pitchFamily="34" charset="-122"/>
                <a:cs typeface="Meiryo" pitchFamily="34" charset="-120"/>
              </a:rPr>
              <a:t>48歳・IT企業経営者／東京都</a:t>
            </a:r>
            <a:endParaRPr lang="en-US" sz="1150" dirty="0"/>
          </a:p>
        </p:txBody>
      </p:sp>
      <p:sp>
        <p:nvSpPr>
          <p:cNvPr id="9" name="Text 7"/>
          <p:cNvSpPr txBox="1"/>
          <p:nvPr/>
        </p:nvSpPr>
        <p:spPr>
          <a:xfrm>
            <a:off x="841248" y="2724912"/>
            <a:ext cx="2377440" cy="822960"/>
          </a:xfrm>
          <a:prstGeom prst="rect">
            <a:avLst/>
          </a:prstGeom>
          <a:noFill/>
          <a:ln/>
        </p:spPr>
        <p:txBody>
          <a:bodyPr wrap="square" lIns="0" tIns="0" rIns="0" bIns="0" rtlCol="0" anchor="ctr"/>
          <a:lstStyle/>
          <a:p>
            <a:pPr indent="0" marL="0">
              <a:lnSpc>
                <a:spcPts val="1600"/>
              </a:lnSpc>
              <a:buNone/>
            </a:pPr>
            <a:r>
              <a:rPr lang="en-US" sz="1100" dirty="0">
                <a:solidFill>
                  <a:srgbClr val="F2EDE6"/>
                </a:solidFill>
                <a:latin typeface="Meiryo" pitchFamily="34" charset="0"/>
                <a:ea typeface="Meiryo" pitchFamily="34" charset="-122"/>
                <a:cs typeface="Meiryo" pitchFamily="34" charset="-120"/>
              </a:rPr>
              <a:t>月に数回は会食。ワインは好きだが、自宅のセラーはもう満杯。良い一本を良い場面で開けたい。</a:t>
            </a:r>
            <a:endParaRPr lang="en-US" sz="1100" dirty="0"/>
          </a:p>
        </p:txBody>
      </p:sp>
      <p:sp>
        <p:nvSpPr>
          <p:cNvPr id="10" name="Text 8"/>
          <p:cNvSpPr txBox="1"/>
          <p:nvPr/>
        </p:nvSpPr>
        <p:spPr>
          <a:xfrm>
            <a:off x="841248" y="3675888"/>
            <a:ext cx="86868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保有</a:t>
            </a:r>
            <a:endParaRPr lang="en-US" sz="1050" dirty="0"/>
          </a:p>
        </p:txBody>
      </p:sp>
      <p:sp>
        <p:nvSpPr>
          <p:cNvPr id="11" name="Text 9"/>
          <p:cNvSpPr txBox="1"/>
          <p:nvPr/>
        </p:nvSpPr>
        <p:spPr>
          <a:xfrm>
            <a:off x="1709928" y="3675888"/>
            <a:ext cx="1508760" cy="274320"/>
          </a:xfrm>
          <a:prstGeom prst="rect">
            <a:avLst/>
          </a:prstGeom>
          <a:noFill/>
          <a:ln/>
        </p:spPr>
        <p:txBody>
          <a:bodyPr wrap="square" lIns="0" tIns="0" rIns="0" bIns="0" rtlCol="0" anchor="ctr"/>
          <a:lstStyle/>
          <a:p>
            <a:pPr indent="0" marL="0">
              <a:buNone/>
            </a:pPr>
            <a:r>
              <a:rPr lang="en-US" sz="1150" b="1" dirty="0">
                <a:solidFill>
                  <a:srgbClr val="F2EDE6"/>
                </a:solidFill>
                <a:latin typeface="Meiryo" pitchFamily="34" charset="0"/>
                <a:ea typeface="Meiryo" pitchFamily="34" charset="-122"/>
                <a:cs typeface="Meiryo" pitchFamily="34" charset="-120"/>
              </a:rPr>
              <a:t>100本・200万円</a:t>
            </a:r>
            <a:endParaRPr lang="en-US" sz="1150" dirty="0"/>
          </a:p>
        </p:txBody>
      </p:sp>
      <p:sp>
        <p:nvSpPr>
          <p:cNvPr id="12" name="Text 10"/>
          <p:cNvSpPr txBox="1"/>
          <p:nvPr/>
        </p:nvSpPr>
        <p:spPr>
          <a:xfrm>
            <a:off x="841248" y="4014216"/>
            <a:ext cx="86868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コース</a:t>
            </a:r>
            <a:endParaRPr lang="en-US" sz="1050" dirty="0"/>
          </a:p>
        </p:txBody>
      </p:sp>
      <p:sp>
        <p:nvSpPr>
          <p:cNvPr id="13" name="Text 11"/>
          <p:cNvSpPr txBox="1"/>
          <p:nvPr/>
        </p:nvSpPr>
        <p:spPr>
          <a:xfrm>
            <a:off x="1709928" y="4014216"/>
            <a:ext cx="1508760" cy="274320"/>
          </a:xfrm>
          <a:prstGeom prst="rect">
            <a:avLst/>
          </a:prstGeom>
          <a:noFill/>
          <a:ln/>
        </p:spPr>
        <p:txBody>
          <a:bodyPr wrap="square" lIns="0" tIns="0" rIns="0" bIns="0" rtlCol="0" anchor="ctr"/>
          <a:lstStyle/>
          <a:p>
            <a:pPr indent="0" marL="0">
              <a:buNone/>
            </a:pPr>
            <a:r>
              <a:rPr lang="en-US" sz="1150" b="1" dirty="0">
                <a:solidFill>
                  <a:srgbClr val="F2EDE6"/>
                </a:solidFill>
                <a:latin typeface="Meiryo" pitchFamily="34" charset="0"/>
                <a:ea typeface="Meiryo" pitchFamily="34" charset="-122"/>
                <a:cs typeface="Meiryo" pitchFamily="34" charset="-120"/>
              </a:rPr>
              <a:t>100万円コース</a:t>
            </a:r>
            <a:endParaRPr lang="en-US" sz="1150" dirty="0"/>
          </a:p>
        </p:txBody>
      </p:sp>
      <p:sp>
        <p:nvSpPr>
          <p:cNvPr id="14" name="Text 12"/>
          <p:cNvSpPr txBox="1"/>
          <p:nvPr/>
        </p:nvSpPr>
        <p:spPr>
          <a:xfrm>
            <a:off x="841248" y="4352544"/>
            <a:ext cx="86868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管理料</a:t>
            </a:r>
            <a:endParaRPr lang="en-US" sz="1050" dirty="0"/>
          </a:p>
        </p:txBody>
      </p:sp>
      <p:sp>
        <p:nvSpPr>
          <p:cNvPr id="15" name="Text 13"/>
          <p:cNvSpPr txBox="1"/>
          <p:nvPr/>
        </p:nvSpPr>
        <p:spPr>
          <a:xfrm>
            <a:off x="1709928" y="4352544"/>
            <a:ext cx="1508760" cy="274320"/>
          </a:xfrm>
          <a:prstGeom prst="rect">
            <a:avLst/>
          </a:prstGeom>
          <a:noFill/>
          <a:ln/>
        </p:spPr>
        <p:txBody>
          <a:bodyPr wrap="square" lIns="0" tIns="0" rIns="0" bIns="0" rtlCol="0" anchor="ctr"/>
          <a:lstStyle/>
          <a:p>
            <a:pPr indent="0" marL="0">
              <a:buNone/>
            </a:pPr>
            <a:r>
              <a:rPr lang="en-US" sz="1150" b="1" dirty="0">
                <a:solidFill>
                  <a:srgbClr val="F2EDE6"/>
                </a:solidFill>
                <a:latin typeface="Meiryo" pitchFamily="34" charset="0"/>
                <a:ea typeface="Meiryo" pitchFamily="34" charset="-122"/>
                <a:cs typeface="Meiryo" pitchFamily="34" charset="-120"/>
              </a:rPr>
              <a:t>年2.75%（月割）</a:t>
            </a:r>
            <a:endParaRPr lang="en-US" sz="1150" dirty="0"/>
          </a:p>
        </p:txBody>
      </p:sp>
      <p:sp>
        <p:nvSpPr>
          <p:cNvPr id="16" name="Text 14"/>
          <p:cNvSpPr txBox="1"/>
          <p:nvPr/>
        </p:nvSpPr>
        <p:spPr>
          <a:xfrm>
            <a:off x="841248" y="4690872"/>
            <a:ext cx="86868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マイル</a:t>
            </a:r>
            <a:endParaRPr lang="en-US" sz="1050" dirty="0"/>
          </a:p>
        </p:txBody>
      </p:sp>
      <p:sp>
        <p:nvSpPr>
          <p:cNvPr id="17" name="Text 15"/>
          <p:cNvSpPr txBox="1"/>
          <p:nvPr/>
        </p:nvSpPr>
        <p:spPr>
          <a:xfrm>
            <a:off x="1709928" y="4690872"/>
            <a:ext cx="1508760" cy="274320"/>
          </a:xfrm>
          <a:prstGeom prst="rect">
            <a:avLst/>
          </a:prstGeom>
          <a:noFill/>
          <a:ln/>
        </p:spPr>
        <p:txBody>
          <a:bodyPr wrap="square" lIns="0" tIns="0" rIns="0" bIns="0" rtlCol="0" anchor="ctr"/>
          <a:lstStyle/>
          <a:p>
            <a:pPr indent="0" marL="0">
              <a:buNone/>
            </a:pPr>
            <a:r>
              <a:rPr lang="en-US" sz="1150" b="1" dirty="0">
                <a:solidFill>
                  <a:srgbClr val="F2EDE6"/>
                </a:solidFill>
                <a:latin typeface="Meiryo" pitchFamily="34" charset="0"/>
                <a:ea typeface="Meiryo" pitchFamily="34" charset="-122"/>
                <a:cs typeface="Meiryo" pitchFamily="34" charset="-120"/>
              </a:rPr>
              <a:t>年4%（月末付与）</a:t>
            </a:r>
            <a:endParaRPr lang="en-US" sz="1150" dirty="0"/>
          </a:p>
        </p:txBody>
      </p:sp>
      <p:sp>
        <p:nvSpPr>
          <p:cNvPr id="18" name="Text 16"/>
          <p:cNvSpPr txBox="1"/>
          <p:nvPr/>
        </p:nvSpPr>
        <p:spPr>
          <a:xfrm>
            <a:off x="841248" y="5029200"/>
            <a:ext cx="86868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成功報酬</a:t>
            </a:r>
            <a:endParaRPr lang="en-US" sz="1050" dirty="0"/>
          </a:p>
        </p:txBody>
      </p:sp>
      <p:sp>
        <p:nvSpPr>
          <p:cNvPr id="19" name="Text 17"/>
          <p:cNvSpPr txBox="1"/>
          <p:nvPr/>
        </p:nvSpPr>
        <p:spPr>
          <a:xfrm>
            <a:off x="1709928" y="5029200"/>
            <a:ext cx="1508760" cy="274320"/>
          </a:xfrm>
          <a:prstGeom prst="rect">
            <a:avLst/>
          </a:prstGeom>
          <a:noFill/>
          <a:ln/>
        </p:spPr>
        <p:txBody>
          <a:bodyPr wrap="square" lIns="0" tIns="0" rIns="0" bIns="0" rtlCol="0" anchor="ctr"/>
          <a:lstStyle/>
          <a:p>
            <a:pPr indent="0" marL="0">
              <a:buNone/>
            </a:pPr>
            <a:r>
              <a:rPr lang="en-US" sz="1150" b="1" dirty="0">
                <a:solidFill>
                  <a:srgbClr val="F2EDE6"/>
                </a:solidFill>
                <a:latin typeface="Meiryo" pitchFamily="34" charset="0"/>
                <a:ea typeface="Meiryo" pitchFamily="34" charset="-122"/>
                <a:cs typeface="Meiryo" pitchFamily="34" charset="-120"/>
              </a:rPr>
              <a:t>値上がり益の30%</a:t>
            </a:r>
            <a:endParaRPr lang="en-US" sz="1150" dirty="0"/>
          </a:p>
        </p:txBody>
      </p:sp>
      <p:sp>
        <p:nvSpPr>
          <p:cNvPr id="20" name="Shape 18"/>
          <p:cNvSpPr/>
          <p:nvPr/>
        </p:nvSpPr>
        <p:spPr>
          <a:xfrm>
            <a:off x="3675888" y="1664208"/>
            <a:ext cx="2542032" cy="1828800"/>
          </a:xfrm>
          <a:prstGeom prst="roundRect">
            <a:avLst>
              <a:gd name="adj" fmla="val 30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1" name="Shape 19"/>
          <p:cNvSpPr/>
          <p:nvPr/>
        </p:nvSpPr>
        <p:spPr>
          <a:xfrm>
            <a:off x="3895344" y="1865376"/>
            <a:ext cx="329184" cy="329184"/>
          </a:xfrm>
          <a:prstGeom prst="ellipse">
            <a:avLst/>
          </a:prstGeom>
          <a:solidFill>
            <a:srgbClr val="C9A227"/>
          </a:solidFill>
          <a:ln w="12700">
            <a:solidFill>
              <a:srgbClr val="C9A227"/>
            </a:solidFill>
            <a:prstDash val="solid"/>
          </a:ln>
        </p:spPr>
      </p:sp>
      <p:sp>
        <p:nvSpPr>
          <p:cNvPr id="22" name="Text 20"/>
          <p:cNvSpPr txBox="1"/>
          <p:nvPr/>
        </p:nvSpPr>
        <p:spPr>
          <a:xfrm>
            <a:off x="3895344" y="186537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1</a:t>
            </a:r>
            <a:endParaRPr lang="en-US" sz="1300" dirty="0"/>
          </a:p>
        </p:txBody>
      </p:sp>
      <p:sp>
        <p:nvSpPr>
          <p:cNvPr id="23" name="Text 21"/>
          <p:cNvSpPr txBox="1"/>
          <p:nvPr/>
        </p:nvSpPr>
        <p:spPr>
          <a:xfrm>
            <a:off x="4315968" y="1883664"/>
            <a:ext cx="1719072" cy="274320"/>
          </a:xfrm>
          <a:prstGeom prst="rect">
            <a:avLst/>
          </a:prstGeom>
          <a:noFill/>
          <a:ln/>
        </p:spPr>
        <p:txBody>
          <a:bodyPr wrap="square" lIns="0" tIns="0" rIns="0" bIns="0" rtlCol="0" anchor="ctr"/>
          <a:lstStyle/>
          <a:p>
            <a:pPr indent="0" marL="0">
              <a:buNone/>
            </a:pPr>
            <a:r>
              <a:rPr lang="en-US" sz="1200" b="1" dirty="0">
                <a:solidFill>
                  <a:srgbClr val="C9A227"/>
                </a:solidFill>
                <a:latin typeface="Arial" pitchFamily="34" charset="0"/>
                <a:ea typeface="Arial" pitchFamily="34" charset="-122"/>
                <a:cs typeface="Arial" pitchFamily="34" charset="-120"/>
              </a:rPr>
              <a:t>9/1</a:t>
            </a:r>
            <a:endParaRPr lang="en-US" sz="1200" dirty="0"/>
          </a:p>
        </p:txBody>
      </p:sp>
      <p:sp>
        <p:nvSpPr>
          <p:cNvPr id="24" name="Text 22"/>
          <p:cNvSpPr txBox="1"/>
          <p:nvPr/>
        </p:nvSpPr>
        <p:spPr>
          <a:xfrm>
            <a:off x="3895344" y="2304288"/>
            <a:ext cx="2139696"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100本を購入して預ける</a:t>
            </a:r>
            <a:endParaRPr lang="en-US" sz="1350" dirty="0"/>
          </a:p>
        </p:txBody>
      </p:sp>
      <p:sp>
        <p:nvSpPr>
          <p:cNvPr id="25" name="Text 23"/>
          <p:cNvSpPr txBox="1"/>
          <p:nvPr/>
        </p:nvSpPr>
        <p:spPr>
          <a:xfrm>
            <a:off x="3895344" y="2670048"/>
            <a:ext cx="2139696" cy="731520"/>
          </a:xfrm>
          <a:prstGeom prst="rect">
            <a:avLst/>
          </a:prstGeom>
          <a:noFill/>
          <a:ln/>
        </p:spPr>
        <p:txBody>
          <a:bodyPr wrap="square" lIns="0" tIns="0" rIns="0" bIns="0" rtlCol="0" anchor="t"/>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平均2万円×100本。定温倉庫で保管し、1本ずつ時価で管理する。</a:t>
            </a:r>
            <a:endParaRPr lang="en-US" sz="1050" dirty="0"/>
          </a:p>
        </p:txBody>
      </p:sp>
      <p:sp>
        <p:nvSpPr>
          <p:cNvPr id="26" name="Text 24"/>
          <p:cNvSpPr txBox="1"/>
          <p:nvPr/>
        </p:nvSpPr>
        <p:spPr>
          <a:xfrm>
            <a:off x="6217920" y="2395728"/>
            <a:ext cx="146304" cy="36576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a:t>
            </a:r>
            <a:endParaRPr lang="en-US" sz="1600" dirty="0"/>
          </a:p>
        </p:txBody>
      </p:sp>
      <p:sp>
        <p:nvSpPr>
          <p:cNvPr id="27" name="Shape 25"/>
          <p:cNvSpPr/>
          <p:nvPr/>
        </p:nvSpPr>
        <p:spPr>
          <a:xfrm>
            <a:off x="6364224" y="1664208"/>
            <a:ext cx="2542032" cy="1828800"/>
          </a:xfrm>
          <a:prstGeom prst="roundRect">
            <a:avLst>
              <a:gd name="adj" fmla="val 30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28" name="Shape 26"/>
          <p:cNvSpPr/>
          <p:nvPr/>
        </p:nvSpPr>
        <p:spPr>
          <a:xfrm>
            <a:off x="6583680" y="1865376"/>
            <a:ext cx="329184" cy="329184"/>
          </a:xfrm>
          <a:prstGeom prst="ellipse">
            <a:avLst/>
          </a:prstGeom>
          <a:solidFill>
            <a:srgbClr val="C9A227"/>
          </a:solidFill>
          <a:ln w="12700">
            <a:solidFill>
              <a:srgbClr val="C9A227"/>
            </a:solidFill>
            <a:prstDash val="solid"/>
          </a:ln>
        </p:spPr>
      </p:sp>
      <p:sp>
        <p:nvSpPr>
          <p:cNvPr id="29" name="Text 27"/>
          <p:cNvSpPr txBox="1"/>
          <p:nvPr/>
        </p:nvSpPr>
        <p:spPr>
          <a:xfrm>
            <a:off x="6583680" y="186537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2</a:t>
            </a:r>
            <a:endParaRPr lang="en-US" sz="1300" dirty="0"/>
          </a:p>
        </p:txBody>
      </p:sp>
      <p:sp>
        <p:nvSpPr>
          <p:cNvPr id="30" name="Text 28"/>
          <p:cNvSpPr txBox="1"/>
          <p:nvPr/>
        </p:nvSpPr>
        <p:spPr>
          <a:xfrm>
            <a:off x="7004304" y="1883664"/>
            <a:ext cx="1719072" cy="274320"/>
          </a:xfrm>
          <a:prstGeom prst="rect">
            <a:avLst/>
          </a:prstGeom>
          <a:noFill/>
          <a:ln/>
        </p:spPr>
        <p:txBody>
          <a:bodyPr wrap="square" lIns="0" tIns="0" rIns="0" bIns="0" rtlCol="0" anchor="ctr"/>
          <a:lstStyle/>
          <a:p>
            <a:pPr indent="0" marL="0">
              <a:buNone/>
            </a:pPr>
            <a:r>
              <a:rPr lang="en-US" sz="1200" b="1" dirty="0">
                <a:solidFill>
                  <a:srgbClr val="C9A227"/>
                </a:solidFill>
                <a:latin typeface="Arial" pitchFamily="34" charset="0"/>
                <a:ea typeface="Arial" pitchFamily="34" charset="-122"/>
                <a:cs typeface="Arial" pitchFamily="34" charset="-120"/>
              </a:rPr>
              <a:t>9/6</a:t>
            </a:r>
            <a:endParaRPr lang="en-US" sz="1200" dirty="0"/>
          </a:p>
        </p:txBody>
      </p:sp>
      <p:sp>
        <p:nvSpPr>
          <p:cNvPr id="31" name="Text 29"/>
          <p:cNvSpPr txBox="1"/>
          <p:nvPr/>
        </p:nvSpPr>
        <p:spPr>
          <a:xfrm>
            <a:off x="6583680" y="2304288"/>
            <a:ext cx="2139696"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会食先へBYOで無料配送</a:t>
            </a:r>
            <a:endParaRPr lang="en-US" sz="1350" dirty="0"/>
          </a:p>
        </p:txBody>
      </p:sp>
      <p:sp>
        <p:nvSpPr>
          <p:cNvPr id="32" name="Text 30"/>
          <p:cNvSpPr txBox="1"/>
          <p:nvPr/>
        </p:nvSpPr>
        <p:spPr>
          <a:xfrm>
            <a:off x="6583680" y="2670048"/>
            <a:ext cx="2139696" cy="731520"/>
          </a:xfrm>
          <a:prstGeom prst="rect">
            <a:avLst/>
          </a:prstGeom>
          <a:noFill/>
          <a:ln/>
        </p:spPr>
        <p:txBody>
          <a:bodyPr wrap="square" lIns="0" tIns="0" rIns="0" bIns="0" rtlCol="0" anchor="t"/>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取引先との会食に2本。当日、お店へ直接届く。配送料は0円。</a:t>
            </a:r>
            <a:endParaRPr lang="en-US" sz="1050" dirty="0"/>
          </a:p>
        </p:txBody>
      </p:sp>
      <p:sp>
        <p:nvSpPr>
          <p:cNvPr id="33" name="Text 31"/>
          <p:cNvSpPr txBox="1"/>
          <p:nvPr/>
        </p:nvSpPr>
        <p:spPr>
          <a:xfrm>
            <a:off x="8906256" y="2395728"/>
            <a:ext cx="146304" cy="36576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a:t>
            </a:r>
            <a:endParaRPr lang="en-US" sz="1600" dirty="0"/>
          </a:p>
        </p:txBody>
      </p:sp>
      <p:sp>
        <p:nvSpPr>
          <p:cNvPr id="34" name="Shape 32"/>
          <p:cNvSpPr/>
          <p:nvPr/>
        </p:nvSpPr>
        <p:spPr>
          <a:xfrm>
            <a:off x="9052560" y="1664208"/>
            <a:ext cx="2542032" cy="1828800"/>
          </a:xfrm>
          <a:prstGeom prst="roundRect">
            <a:avLst>
              <a:gd name="adj" fmla="val 30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35" name="Shape 33"/>
          <p:cNvSpPr/>
          <p:nvPr/>
        </p:nvSpPr>
        <p:spPr>
          <a:xfrm>
            <a:off x="9272016" y="1865376"/>
            <a:ext cx="329184" cy="329184"/>
          </a:xfrm>
          <a:prstGeom prst="ellipse">
            <a:avLst/>
          </a:prstGeom>
          <a:solidFill>
            <a:srgbClr val="C9A227"/>
          </a:solidFill>
          <a:ln w="12700">
            <a:solidFill>
              <a:srgbClr val="C9A227"/>
            </a:solidFill>
            <a:prstDash val="solid"/>
          </a:ln>
        </p:spPr>
      </p:sp>
      <p:sp>
        <p:nvSpPr>
          <p:cNvPr id="36" name="Text 34"/>
          <p:cNvSpPr txBox="1"/>
          <p:nvPr/>
        </p:nvSpPr>
        <p:spPr>
          <a:xfrm>
            <a:off x="9272016" y="186537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3</a:t>
            </a:r>
            <a:endParaRPr lang="en-US" sz="1300" dirty="0"/>
          </a:p>
        </p:txBody>
      </p:sp>
      <p:sp>
        <p:nvSpPr>
          <p:cNvPr id="37" name="Text 35"/>
          <p:cNvSpPr txBox="1"/>
          <p:nvPr/>
        </p:nvSpPr>
        <p:spPr>
          <a:xfrm>
            <a:off x="9692640" y="1883664"/>
            <a:ext cx="1719072" cy="274320"/>
          </a:xfrm>
          <a:prstGeom prst="rect">
            <a:avLst/>
          </a:prstGeom>
          <a:noFill/>
          <a:ln/>
        </p:spPr>
        <p:txBody>
          <a:bodyPr wrap="square" lIns="0" tIns="0" rIns="0" bIns="0" rtlCol="0" anchor="ctr"/>
          <a:lstStyle/>
          <a:p>
            <a:pPr indent="0" marL="0">
              <a:buNone/>
            </a:pPr>
            <a:r>
              <a:rPr lang="en-US" sz="1200" b="1" dirty="0">
                <a:solidFill>
                  <a:srgbClr val="C9A227"/>
                </a:solidFill>
                <a:latin typeface="Arial" pitchFamily="34" charset="0"/>
                <a:ea typeface="Arial" pitchFamily="34" charset="-122"/>
                <a:cs typeface="Arial" pitchFamily="34" charset="-120"/>
              </a:rPr>
              <a:t>9/14</a:t>
            </a:r>
            <a:endParaRPr lang="en-US" sz="1200" dirty="0"/>
          </a:p>
        </p:txBody>
      </p:sp>
      <p:sp>
        <p:nvSpPr>
          <p:cNvPr id="38" name="Text 36"/>
          <p:cNvSpPr txBox="1"/>
          <p:nvPr/>
        </p:nvSpPr>
        <p:spPr>
          <a:xfrm>
            <a:off x="9272016" y="2304288"/>
            <a:ext cx="2139696"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友人の誕生日に贈る</a:t>
            </a:r>
            <a:endParaRPr lang="en-US" sz="1350" dirty="0"/>
          </a:p>
        </p:txBody>
      </p:sp>
      <p:sp>
        <p:nvSpPr>
          <p:cNvPr id="39" name="Text 37"/>
          <p:cNvSpPr txBox="1"/>
          <p:nvPr/>
        </p:nvSpPr>
        <p:spPr>
          <a:xfrm>
            <a:off x="9272016" y="2670048"/>
            <a:ext cx="2139696" cy="731520"/>
          </a:xfrm>
          <a:prstGeom prst="rect">
            <a:avLst/>
          </a:prstGeom>
          <a:noFill/>
          <a:ln/>
        </p:spPr>
        <p:txBody>
          <a:bodyPr wrap="square" lIns="0" tIns="0" rIns="0" bIns="0" rtlCol="0" anchor="t"/>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生まれ年の1本を、メッセージカードを添えて友人宅へ配送する。</a:t>
            </a:r>
            <a:endParaRPr lang="en-US" sz="1050" dirty="0"/>
          </a:p>
        </p:txBody>
      </p:sp>
      <p:sp>
        <p:nvSpPr>
          <p:cNvPr id="40" name="Shape 38"/>
          <p:cNvSpPr/>
          <p:nvPr/>
        </p:nvSpPr>
        <p:spPr>
          <a:xfrm>
            <a:off x="3675888" y="3675888"/>
            <a:ext cx="2542032" cy="1828800"/>
          </a:xfrm>
          <a:prstGeom prst="roundRect">
            <a:avLst>
              <a:gd name="adj" fmla="val 30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41" name="Shape 39"/>
          <p:cNvSpPr/>
          <p:nvPr/>
        </p:nvSpPr>
        <p:spPr>
          <a:xfrm>
            <a:off x="3895344" y="3877056"/>
            <a:ext cx="329184" cy="329184"/>
          </a:xfrm>
          <a:prstGeom prst="ellipse">
            <a:avLst/>
          </a:prstGeom>
          <a:solidFill>
            <a:srgbClr val="C9A227"/>
          </a:solidFill>
          <a:ln w="12700">
            <a:solidFill>
              <a:srgbClr val="C9A227"/>
            </a:solidFill>
            <a:prstDash val="solid"/>
          </a:ln>
        </p:spPr>
      </p:sp>
      <p:sp>
        <p:nvSpPr>
          <p:cNvPr id="42" name="Text 40"/>
          <p:cNvSpPr txBox="1"/>
          <p:nvPr/>
        </p:nvSpPr>
        <p:spPr>
          <a:xfrm>
            <a:off x="3895344" y="387705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4</a:t>
            </a:r>
            <a:endParaRPr lang="en-US" sz="1300" dirty="0"/>
          </a:p>
        </p:txBody>
      </p:sp>
      <p:sp>
        <p:nvSpPr>
          <p:cNvPr id="43" name="Text 41"/>
          <p:cNvSpPr txBox="1"/>
          <p:nvPr/>
        </p:nvSpPr>
        <p:spPr>
          <a:xfrm>
            <a:off x="4315968" y="3895344"/>
            <a:ext cx="1719072" cy="274320"/>
          </a:xfrm>
          <a:prstGeom prst="rect">
            <a:avLst/>
          </a:prstGeom>
          <a:noFill/>
          <a:ln/>
        </p:spPr>
        <p:txBody>
          <a:bodyPr wrap="square" lIns="0" tIns="0" rIns="0" bIns="0" rtlCol="0" anchor="ctr"/>
          <a:lstStyle/>
          <a:p>
            <a:pPr indent="0" marL="0">
              <a:buNone/>
            </a:pPr>
            <a:r>
              <a:rPr lang="en-US" sz="1200" b="1" dirty="0">
                <a:solidFill>
                  <a:srgbClr val="C9A227"/>
                </a:solidFill>
                <a:latin typeface="Arial" pitchFamily="34" charset="0"/>
                <a:ea typeface="Arial" pitchFamily="34" charset="-122"/>
                <a:cs typeface="Arial" pitchFamily="34" charset="-120"/>
              </a:rPr>
              <a:t>9/20</a:t>
            </a:r>
            <a:endParaRPr lang="en-US" sz="1200" dirty="0"/>
          </a:p>
        </p:txBody>
      </p:sp>
      <p:sp>
        <p:nvSpPr>
          <p:cNvPr id="44" name="Text 42"/>
          <p:cNvSpPr txBox="1"/>
          <p:nvPr/>
        </p:nvSpPr>
        <p:spPr>
          <a:xfrm>
            <a:off x="3895344" y="4315968"/>
            <a:ext cx="2139696"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マイページで資産を確認</a:t>
            </a:r>
            <a:endParaRPr lang="en-US" sz="1350" dirty="0"/>
          </a:p>
        </p:txBody>
      </p:sp>
      <p:sp>
        <p:nvSpPr>
          <p:cNvPr id="45" name="Text 43"/>
          <p:cNvSpPr txBox="1"/>
          <p:nvPr/>
        </p:nvSpPr>
        <p:spPr>
          <a:xfrm>
            <a:off x="3895344" y="4681728"/>
            <a:ext cx="2139696" cy="731520"/>
          </a:xfrm>
          <a:prstGeom prst="rect">
            <a:avLst/>
          </a:prstGeom>
          <a:noFill/>
          <a:ln/>
        </p:spPr>
        <p:txBody>
          <a:bodyPr wrap="square" lIns="0" tIns="0" rIns="0" bIns="0" rtlCol="0" anchor="t"/>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残り97本の時価と飲み頃を確認。年6%の値上がりなら年+11.6万円。</a:t>
            </a:r>
            <a:endParaRPr lang="en-US" sz="1050" dirty="0"/>
          </a:p>
        </p:txBody>
      </p:sp>
      <p:sp>
        <p:nvSpPr>
          <p:cNvPr id="46" name="Text 44"/>
          <p:cNvSpPr txBox="1"/>
          <p:nvPr/>
        </p:nvSpPr>
        <p:spPr>
          <a:xfrm>
            <a:off x="6217920" y="4407408"/>
            <a:ext cx="146304" cy="36576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a:t>
            </a:r>
            <a:endParaRPr lang="en-US" sz="1600" dirty="0"/>
          </a:p>
        </p:txBody>
      </p:sp>
      <p:sp>
        <p:nvSpPr>
          <p:cNvPr id="47" name="Shape 45"/>
          <p:cNvSpPr/>
          <p:nvPr/>
        </p:nvSpPr>
        <p:spPr>
          <a:xfrm>
            <a:off x="6364224" y="3675888"/>
            <a:ext cx="2542032" cy="1828800"/>
          </a:xfrm>
          <a:prstGeom prst="roundRect">
            <a:avLst>
              <a:gd name="adj" fmla="val 3000"/>
            </a:avLst>
          </a:prstGeom>
          <a:solidFill>
            <a:srgbClr val="38202C"/>
          </a:solidFill>
          <a:ln w="12700">
            <a:solidFill>
              <a:srgbClr val="38202C"/>
            </a:solidFill>
            <a:prstDash val="solid"/>
          </a:ln>
          <a:effectLst>
            <a:outerShdw sx="100000" sy="100000" kx="0" ky="0" algn="bl" rotWithShape="0" blurRad="127000" dist="25400" dir="5400000">
              <a:srgbClr val="000000">
                <a:alpha val="35000"/>
              </a:srgbClr>
            </a:outerShdw>
          </a:effectLst>
        </p:spPr>
      </p:sp>
      <p:sp>
        <p:nvSpPr>
          <p:cNvPr id="48" name="Shape 46"/>
          <p:cNvSpPr/>
          <p:nvPr/>
        </p:nvSpPr>
        <p:spPr>
          <a:xfrm>
            <a:off x="6583680" y="3877056"/>
            <a:ext cx="329184" cy="329184"/>
          </a:xfrm>
          <a:prstGeom prst="ellipse">
            <a:avLst/>
          </a:prstGeom>
          <a:solidFill>
            <a:srgbClr val="7FD1AE"/>
          </a:solidFill>
          <a:ln w="12700">
            <a:solidFill>
              <a:srgbClr val="7FD1AE"/>
            </a:solidFill>
            <a:prstDash val="solid"/>
          </a:ln>
        </p:spPr>
      </p:sp>
      <p:sp>
        <p:nvSpPr>
          <p:cNvPr id="49" name="Text 47"/>
          <p:cNvSpPr txBox="1"/>
          <p:nvPr/>
        </p:nvSpPr>
        <p:spPr>
          <a:xfrm>
            <a:off x="6583680" y="387705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5</a:t>
            </a:r>
            <a:endParaRPr lang="en-US" sz="1300" dirty="0"/>
          </a:p>
        </p:txBody>
      </p:sp>
      <p:sp>
        <p:nvSpPr>
          <p:cNvPr id="50" name="Text 48"/>
          <p:cNvSpPr txBox="1"/>
          <p:nvPr/>
        </p:nvSpPr>
        <p:spPr>
          <a:xfrm>
            <a:off x="7004304" y="3895344"/>
            <a:ext cx="1719072" cy="274320"/>
          </a:xfrm>
          <a:prstGeom prst="rect">
            <a:avLst/>
          </a:prstGeom>
          <a:noFill/>
          <a:ln/>
        </p:spPr>
        <p:txBody>
          <a:bodyPr wrap="square" lIns="0" tIns="0" rIns="0" bIns="0" rtlCol="0" anchor="ctr"/>
          <a:lstStyle/>
          <a:p>
            <a:pPr indent="0" marL="0">
              <a:buNone/>
            </a:pPr>
            <a:r>
              <a:rPr lang="en-US" sz="1200" b="1" dirty="0">
                <a:solidFill>
                  <a:srgbClr val="C9A227"/>
                </a:solidFill>
                <a:latin typeface="Arial" pitchFamily="34" charset="0"/>
                <a:ea typeface="Arial" pitchFamily="34" charset="-122"/>
                <a:cs typeface="Arial" pitchFamily="34" charset="-120"/>
              </a:rPr>
              <a:t>9/30</a:t>
            </a:r>
            <a:endParaRPr lang="en-US" sz="1200" dirty="0"/>
          </a:p>
        </p:txBody>
      </p:sp>
      <p:sp>
        <p:nvSpPr>
          <p:cNvPr id="51" name="Text 49"/>
          <p:cNvSpPr txBox="1"/>
          <p:nvPr/>
        </p:nvSpPr>
        <p:spPr>
          <a:xfrm>
            <a:off x="6583680" y="4315968"/>
            <a:ext cx="2139696"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月末残高でマイル付与</a:t>
            </a:r>
            <a:endParaRPr lang="en-US" sz="1350" dirty="0"/>
          </a:p>
        </p:txBody>
      </p:sp>
      <p:sp>
        <p:nvSpPr>
          <p:cNvPr id="52" name="Text 50"/>
          <p:cNvSpPr txBox="1"/>
          <p:nvPr/>
        </p:nvSpPr>
        <p:spPr>
          <a:xfrm>
            <a:off x="6583680" y="4681728"/>
            <a:ext cx="2139696" cy="731520"/>
          </a:xfrm>
          <a:prstGeom prst="rect">
            <a:avLst/>
          </a:prstGeom>
          <a:noFill/>
          <a:ln/>
        </p:spPr>
        <p:txBody>
          <a:bodyPr wrap="square" lIns="0" tIns="0" rIns="0" bIns="0" rtlCol="0" anchor="t"/>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194万円×4%÷12で6,467マイル。管理料も月割で4,446円。</a:t>
            </a:r>
            <a:endParaRPr lang="en-US" sz="1050" dirty="0"/>
          </a:p>
        </p:txBody>
      </p:sp>
      <p:sp>
        <p:nvSpPr>
          <p:cNvPr id="53" name="Text 51"/>
          <p:cNvSpPr txBox="1"/>
          <p:nvPr/>
        </p:nvSpPr>
        <p:spPr>
          <a:xfrm>
            <a:off x="8906256" y="4407408"/>
            <a:ext cx="146304" cy="365760"/>
          </a:xfrm>
          <a:prstGeom prst="rect">
            <a:avLst/>
          </a:prstGeom>
          <a:noFill/>
          <a:ln/>
        </p:spPr>
        <p:txBody>
          <a:bodyPr wrap="square" lIns="0" tIns="0" rIns="0" bIns="0" rtlCol="0" anchor="ctr"/>
          <a:lstStyle/>
          <a:p>
            <a:pPr algn="ctr" indent="0" marL="0">
              <a:buNone/>
            </a:pPr>
            <a:r>
              <a:rPr lang="en-US" sz="1600" b="1" dirty="0">
                <a:solidFill>
                  <a:srgbClr val="C9A227"/>
                </a:solidFill>
                <a:latin typeface="Arial" pitchFamily="34" charset="0"/>
                <a:ea typeface="Arial" pitchFamily="34" charset="-122"/>
                <a:cs typeface="Arial" pitchFamily="34" charset="-120"/>
              </a:rPr>
              <a:t>›</a:t>
            </a:r>
            <a:endParaRPr lang="en-US" sz="1600" dirty="0"/>
          </a:p>
        </p:txBody>
      </p:sp>
      <p:sp>
        <p:nvSpPr>
          <p:cNvPr id="54" name="Shape 52"/>
          <p:cNvSpPr/>
          <p:nvPr/>
        </p:nvSpPr>
        <p:spPr>
          <a:xfrm>
            <a:off x="9052560" y="3675888"/>
            <a:ext cx="2542032" cy="1828800"/>
          </a:xfrm>
          <a:prstGeom prst="roundRect">
            <a:avLst>
              <a:gd name="adj" fmla="val 3000"/>
            </a:avLst>
          </a:prstGeom>
          <a:solidFill>
            <a:srgbClr val="2A1620"/>
          </a:solidFill>
          <a:ln w="12700">
            <a:solidFill>
              <a:srgbClr val="2A1620"/>
            </a:solidFill>
            <a:prstDash val="solid"/>
          </a:ln>
          <a:effectLst>
            <a:outerShdw sx="100000" sy="100000" kx="0" ky="0" algn="bl" rotWithShape="0" blurRad="127000" dist="25400" dir="5400000">
              <a:srgbClr val="000000">
                <a:alpha val="35000"/>
              </a:srgbClr>
            </a:outerShdw>
          </a:effectLst>
        </p:spPr>
      </p:sp>
      <p:sp>
        <p:nvSpPr>
          <p:cNvPr id="55" name="Shape 53"/>
          <p:cNvSpPr/>
          <p:nvPr/>
        </p:nvSpPr>
        <p:spPr>
          <a:xfrm>
            <a:off x="9272016" y="3877056"/>
            <a:ext cx="329184" cy="329184"/>
          </a:xfrm>
          <a:prstGeom prst="ellipse">
            <a:avLst/>
          </a:prstGeom>
          <a:solidFill>
            <a:srgbClr val="C9A227"/>
          </a:solidFill>
          <a:ln w="12700">
            <a:solidFill>
              <a:srgbClr val="C9A227"/>
            </a:solidFill>
            <a:prstDash val="solid"/>
          </a:ln>
        </p:spPr>
      </p:sp>
      <p:sp>
        <p:nvSpPr>
          <p:cNvPr id="56" name="Text 54"/>
          <p:cNvSpPr txBox="1"/>
          <p:nvPr/>
        </p:nvSpPr>
        <p:spPr>
          <a:xfrm>
            <a:off x="9272016" y="3877056"/>
            <a:ext cx="329184" cy="329184"/>
          </a:xfrm>
          <a:prstGeom prst="rect">
            <a:avLst/>
          </a:prstGeom>
          <a:noFill/>
          <a:ln/>
        </p:spPr>
        <p:txBody>
          <a:bodyPr wrap="square" lIns="0" tIns="0" rIns="0" bIns="0" rtlCol="0" anchor="ctr"/>
          <a:lstStyle/>
          <a:p>
            <a:pPr algn="ctr" indent="0" marL="0">
              <a:buNone/>
            </a:pPr>
            <a:r>
              <a:rPr lang="en-US" sz="1300" b="1" dirty="0">
                <a:solidFill>
                  <a:srgbClr val="1A0E14"/>
                </a:solidFill>
                <a:latin typeface="Arial" pitchFamily="34" charset="0"/>
                <a:ea typeface="Arial" pitchFamily="34" charset="-122"/>
                <a:cs typeface="Arial" pitchFamily="34" charset="-120"/>
              </a:rPr>
              <a:t>6</a:t>
            </a:r>
            <a:endParaRPr lang="en-US" sz="1300" dirty="0"/>
          </a:p>
        </p:txBody>
      </p:sp>
      <p:sp>
        <p:nvSpPr>
          <p:cNvPr id="57" name="Text 55"/>
          <p:cNvSpPr txBox="1"/>
          <p:nvPr/>
        </p:nvSpPr>
        <p:spPr>
          <a:xfrm>
            <a:off x="9692640" y="3895344"/>
            <a:ext cx="1719072" cy="274320"/>
          </a:xfrm>
          <a:prstGeom prst="rect">
            <a:avLst/>
          </a:prstGeom>
          <a:noFill/>
          <a:ln/>
        </p:spPr>
        <p:txBody>
          <a:bodyPr wrap="square" lIns="0" tIns="0" rIns="0" bIns="0" rtlCol="0" anchor="ctr"/>
          <a:lstStyle/>
          <a:p>
            <a:pPr indent="0" marL="0">
              <a:buNone/>
            </a:pPr>
            <a:r>
              <a:rPr lang="en-US" sz="1200" b="1" dirty="0">
                <a:solidFill>
                  <a:srgbClr val="C9A227"/>
                </a:solidFill>
                <a:latin typeface="Arial" pitchFamily="34" charset="0"/>
                <a:ea typeface="Arial" pitchFamily="34" charset="-122"/>
                <a:cs typeface="Arial" pitchFamily="34" charset="-120"/>
              </a:rPr>
              <a:t>12月</a:t>
            </a:r>
            <a:endParaRPr lang="en-US" sz="1200" dirty="0"/>
          </a:p>
        </p:txBody>
      </p:sp>
      <p:sp>
        <p:nvSpPr>
          <p:cNvPr id="58" name="Text 56"/>
          <p:cNvSpPr txBox="1"/>
          <p:nvPr/>
        </p:nvSpPr>
        <p:spPr>
          <a:xfrm>
            <a:off x="9272016" y="4315968"/>
            <a:ext cx="2139696"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系列レストランで食事</a:t>
            </a:r>
            <a:endParaRPr lang="en-US" sz="1350" dirty="0"/>
          </a:p>
        </p:txBody>
      </p:sp>
      <p:sp>
        <p:nvSpPr>
          <p:cNvPr id="59" name="Text 57"/>
          <p:cNvSpPr txBox="1"/>
          <p:nvPr/>
        </p:nvSpPr>
        <p:spPr>
          <a:xfrm>
            <a:off x="9272016" y="4681728"/>
            <a:ext cx="2139696" cy="731520"/>
          </a:xfrm>
          <a:prstGeom prst="rect">
            <a:avLst/>
          </a:prstGeom>
          <a:noFill/>
          <a:ln/>
        </p:spPr>
        <p:txBody>
          <a:bodyPr wrap="square" lIns="0" tIns="0" rIns="0" bIns="0" rtlCol="0" anchor="t"/>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3か月で約1.9万マイル。直営店で2名のディナーに使う。</a:t>
            </a:r>
            <a:endParaRPr lang="en-US" sz="1050" dirty="0"/>
          </a:p>
        </p:txBody>
      </p:sp>
      <p:sp>
        <p:nvSpPr>
          <p:cNvPr id="60" name="Shape 58"/>
          <p:cNvSpPr/>
          <p:nvPr/>
        </p:nvSpPr>
        <p:spPr>
          <a:xfrm>
            <a:off x="566928" y="5614416"/>
            <a:ext cx="11027664" cy="438912"/>
          </a:xfrm>
          <a:prstGeom prst="roundRect">
            <a:avLst>
              <a:gd name="adj" fmla="val 12500"/>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61" name="Text 59"/>
          <p:cNvSpPr txBox="1"/>
          <p:nvPr/>
        </p:nvSpPr>
        <p:spPr>
          <a:xfrm>
            <a:off x="841248" y="5614416"/>
            <a:ext cx="10479024" cy="438912"/>
          </a:xfrm>
          <a:prstGeom prst="rect">
            <a:avLst/>
          </a:prstGeom>
          <a:noFill/>
          <a:ln/>
        </p:spPr>
        <p:txBody>
          <a:bodyPr wrap="square" lIns="0" tIns="0" rIns="0" bIns="0" rtlCol="0" anchor="ctr"/>
          <a:lstStyle/>
          <a:p>
            <a:pPr indent="0" marL="0">
              <a:buNone/>
            </a:pPr>
            <a:r>
              <a:rPr lang="en-US" sz="1300" b="1" dirty="0">
                <a:solidFill>
                  <a:srgbClr val="E8CE78"/>
                </a:solidFill>
                <a:latin typeface="Meiryo" pitchFamily="34" charset="0"/>
                <a:ea typeface="Meiryo" pitchFamily="34" charset="-122"/>
                <a:cs typeface="Meiryo" pitchFamily="34" charset="-120"/>
              </a:rPr>
              <a:t>飲んでも贈っても、残った本数の分だけ毎月マイルが貯まる。今月は管理料4,446円に対して6,467マイル。</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4223</Words>
  <Application>Microsoft Office PowerPoint</Application>
  <PresentationFormat>ワイド画面</PresentationFormat>
  <Paragraphs>1011</Paragraphs>
  <Slides>31</Slides>
  <Notes>31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31</vt:i4>
      </vt:variant>
    </vt:vector>
  </HeadingPairs>
  <TitlesOfParts>
    <vt:vector size="34" baseType="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ワインマイル経済圏構想</dc:title>
  <dc:subject>PptxGenJS Presentation</dc:subject>
  <dc:creator>WineBank</dc:creator>
  <cp:lastModifiedBy>Kunihito Nakano</cp:lastModifiedBy>
  <cp:revision>2</cp:revision>
  <dcterms:created xsi:type="dcterms:W3CDTF">2026-09-29T06:14:14Z</dcterms:created>
  <dcterms:modified xsi:type="dcterms:W3CDTF">2026-09-29T06:32:40Z</dcterms:modified>
</cp:coreProperties>
</file>