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満年度でEBITDA 51.6百万円（12.2%）、営業利益 30.8百万円（7.3%）。3年目以降はEBITDA率15.0%・営業利益率10.1%。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FY2031で売上34.2億円、連結EBITDA 4.3億円（12.6%）、営業利益 2.6億円（7.7%）。5年累計の売上は90億円。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1号店は開業4年目に累計FCFが黒字転換、回収約3.8年。9店舗展開では5年で最大5.43億円の資金需要があり、既存2億＋今回1.5億の3.5億に対し1.93億円の不足。追加調達またはデットでの手当てが必要。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計画前提は中央のセル。下振れしても黒字を確保し、上振れ余地も大きいことを示す。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六本木ミッドタウン店 単体事業収支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2026年10月 事業収支統合モデル準拠 ｜ 183.59㎡(55.5坪)・114席・年間363日営業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074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  <a:gridCol w="1143000"/>
              </a:tblGrid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満年度ベース 損益計算（百万円）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対売上比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売上原価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業務委託費・消耗品他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部門利益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広告宣伝費・販売促進費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その他経費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水道光熱費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GOP（店舗営業総利益）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ロイヤリティ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保険・租税公課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地代家賃（固定）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歩合家賃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修繕維持費（FFE）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98448"/>
          <a:ext cx="5760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年次推移（百万円）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3年目以降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売上立上り率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97880" y="3401568"/>
            <a:ext cx="5760720" cy="2651760"/>
          </a:xfrm>
          <a:prstGeom prst="roundRect">
            <a:avLst>
              <a:gd name="adj" fmla="val 206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44768" y="35295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主要前提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44768" y="3840480"/>
            <a:ext cx="5285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席数114席（カウンター14・ダイニング23・個室25・テラス52）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店内75%・テラス50%／延べ席回転率 1.50回/日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 ランチ4,000円・カフェ2,500円・ディナー15,000円（テラス10,000円）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日商 約117万円／月商 約3,530万円／年商 4.23億円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売上原価30.0%（料理・飲料とも30.0%）・人件費34.5%／人員26名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ロイヤリティ4.0%・歩合家賃7%（閾値超過分）・地代家賃 月222万円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2年目以降は人件費33.5%→32.5%等へ段階改善（本部集中・多能工化）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稼働率・回転率は保守的に設定。新店初年度は売上90%で計画。金利・税金は含まない。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5か年事業計画 事業収支（連結）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2027年4月 六本木開業 → 2028年 札幌・大阪 → 2029年 首都圏・政令指定都市 → 2030年以降 リゾート含め年2店舗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2753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207008"/>
                <a:gridCol w="1207008"/>
                <a:gridCol w="1207008"/>
                <a:gridCol w="1207008"/>
                <a:gridCol w="1207008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連結損益計画（百万円）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期末店舗数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1,729.4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3,422.8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売上原価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579.9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業務委託費・消耗品他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部門利益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販促費・水道光熱費等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GOP（店舗営業総利益）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ロイヤリティ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地代家賃・歩合家賃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保険・租税公課・修繕費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店舗EBITDA 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本部費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EBITDA率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営業利益率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1298448"/>
            <a:ext cx="2633472" cy="2212848"/>
          </a:xfrm>
          <a:prstGeom prst="roundRect">
            <a:avLst>
              <a:gd name="adj" fmla="val 247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53728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計画のポイント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253728" y="1719072"/>
            <a:ext cx="22494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FY2029に連結EBITDA率10%超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FY2029に営業利益率5%超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FY2031はEBITDA率12.6%・営業利益率7.7%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成熟単店はEBITDA率15.0%・営業利益率10.1%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052560" y="3639312"/>
            <a:ext cx="2633472" cy="2414016"/>
          </a:xfrm>
          <a:prstGeom prst="roundRect">
            <a:avLst>
              <a:gd name="adj" fmla="val 2273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53728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5年累計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253728" y="41148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売上高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253728" y="4297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9,000.6 百万円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253728" y="4773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連結EBITDA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253728" y="49560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1,055.7 百万円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253728" y="543153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253728" y="56144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602.4 百万円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FY＝4月〜3月。新店初年度は売上90%・開業7.5か月で保守的に計上。ロイヤリティ4%・歩合家賃7%・地代家賃は契約条件どおり全店適用。金利・税金は含まない。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投資回収と資金計画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分割払いスキーム活用により、1号店の開業時現金支出を2.97億円 → 1.58億円に圧縮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8064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00584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初期投資（1店あたり・百万円）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1号店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2〜3号店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4号店〜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契約金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事業費（設計・内装施工・OSE/FF&amp;E）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開業準備金（広告・採用等）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保証金（非償却・返還対象）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ワイン・美術品在庫（非償却）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初期投資 合計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分割対象額（内装100＋保証金38.9）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 現金支出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858768"/>
          <a:ext cx="5806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08660"/>
                <a:gridCol w="708660"/>
                <a:gridCol w="708660"/>
                <a:gridCol w="708660"/>
                <a:gridCol w="708660"/>
                <a:gridCol w="708660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1号店CF（百万円）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 現金支出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分割弁済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単店FCF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累計FCF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▲127.9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▲87.2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▲39.3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5486400"/>
            <a:ext cx="5806440" cy="457200"/>
          </a:xfrm>
          <a:prstGeom prst="roundRect">
            <a:avLst>
              <a:gd name="adj" fmla="val 12000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13232" y="555955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開業4年目に累計FCFが黒字転換</a:t>
            </a:r>
            <a:pPr indent="0" marL="0">
              <a:buNone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／　投資回収 約3.8年　／　定常期FCF 47.8百万円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98448"/>
          <a:ext cx="505663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731520"/>
                <a:gridCol w="73152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連結CF（百万円）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投資キャッシュアウト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▲174.0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▲271.8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▲293.0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▲324.2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▲355.4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法人税等（推計）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▲79.0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簡易フリーCF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▲145.9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▲197.6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▲66.8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累計フリーCF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▲145.9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▲343.5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▲474.6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▲541.5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▲543.4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629400" y="3127248"/>
            <a:ext cx="5056632" cy="2889504"/>
          </a:xfrm>
          <a:prstGeom prst="roundRect">
            <a:avLst>
              <a:gd name="adj" fmla="val 189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0" y="3255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必要資金と調達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858000" y="3621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最大資金需要（税引後・5年）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0058400" y="36210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543.4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858000" y="4023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既存調達額（エクイティ＋デット）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40233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200.0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0" y="4425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第三者割当①（2026年10月）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0058400" y="44256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150.0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4828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調達額 計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0058400" y="4828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350.0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0" y="5230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過不足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0058400" y="5230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4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▲193.4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563270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p11記載の調達1.8億円で確定する場合、不足は▲163.4百万円。デット元本返済・分割払い金利は未考慮。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簡易FCF＝連結EBITDA－法人税等－投資キャッシュアウト。運転資本増減・借入返済は含まない。保証金（9店で3.5億円）は退去時返還対象。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前提の振れ幅に対する感応度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1号店・満年度ベース ｜ 店内席効率 × ディナー店内回転率（網掛け＝計画前提）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"/>
                <a:gridCol w="804672"/>
                <a:gridCol w="804672"/>
                <a:gridCol w="804672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年間売上高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"/>
                <a:gridCol w="804672"/>
                <a:gridCol w="804672"/>
                <a:gridCol w="804672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1188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＼ ディナー回転率（単位：百万円）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291072" y="1188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＼ ディナー回転率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02920" y="3803904"/>
            <a:ext cx="11183112" cy="2103120"/>
          </a:xfrm>
          <a:prstGeom prst="roundRect">
            <a:avLst>
              <a:gd name="adj" fmla="val 260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97864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下振れ耐性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最も保守的な前提（席効率65%・回転0.70）でも年商3.36億円・営業利益率5.8%を確保し、黒字を維持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89704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8970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910328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上振れ余地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489704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席効率85%・回転1.10では年商5.24億円・営業利益率8.4%。テラスの通年稼働が進めばさらに上振れ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02168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02168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622792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固定費の効き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202168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地代家賃と減価償却は売上に連動しないため、売上が伸びるほど利益率は加速的に改善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計画前提は店内席効率75%・ディナー店内回転率0.90（網掛けセル）。ランチ・カフェ・テラスの前提は固定。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sserie Thierry Marx">
  <a:themeElements>
    <a:clrScheme name="Brasserie Thierry Marx">
      <a:dk1>
        <a:srgbClr val="1A1416"/>
      </a:dk1>
      <a:lt1>
        <a:srgbClr val="FFFFFF"/>
      </a:lt1>
      <a:dk2>
        <a:srgbClr val="4A3A40"/>
      </a:dk2>
      <a:lt2>
        <a:srgbClr val="F4F1F2"/>
      </a:lt2>
      <a:accent1>
        <a:srgbClr val="6D2E46"/>
      </a:accent1>
      <a:accent2>
        <a:srgbClr val="A78450"/>
      </a:accent2>
      <a:accent3>
        <a:srgbClr val="8C6B7A"/>
      </a:accent3>
      <a:accent4>
        <a:srgbClr val="2E5E4E"/>
      </a:accent4>
      <a:accent5>
        <a:srgbClr val="B4495F"/>
      </a:accent5>
      <a:accent6>
        <a:srgbClr val="6E6166"/>
      </a:accent6>
      <a:hlink>
        <a:srgbClr val="6D2E46"/>
      </a:hlink>
      <a:folHlink>
        <a:srgbClr val="8C6B7A"/>
      </a:folHlink>
    </a:clrScheme>
    <a:fontScheme name="Brasserie Thierry Mar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BRASSERIE Thierry Marx 事業収支</dc:title>
  <dc:subject>PptxGenJS Presentation</dc:subject>
  <dc:creator>株式会社WineBank</dc:creator>
  <cp:lastModifiedBy>株式会社WineBank</cp:lastModifiedBy>
  <cp:revision>1</cp:revision>
  <dcterms:created xsi:type="dcterms:W3CDTF">2026-10-16T01:23:22Z</dcterms:created>
  <dcterms:modified xsi:type="dcterms:W3CDTF">2026-10-16T01:23:22Z</dcterms:modified>
</cp:coreProperties>
</file>