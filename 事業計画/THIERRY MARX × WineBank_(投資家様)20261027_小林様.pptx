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2" r:id="rId8"/>
    <p:sldId id="263" r:id="rId9"/>
    <p:sldId id="264" r:id="rId10"/>
    <p:sldId id="265" r:id="rId11"/>
    <p:sldId id="281" r:id="rId39"/>
    <p:sldId id="282" r:id="rId40"/>
    <p:sldId id="266" r:id="rId12"/>
    <p:sldId id="267" r:id="rId13"/>
    <p:sldId id="268" r:id="rId14"/>
    <p:sldId id="279" r:id="rId37"/>
    <p:sldId id="283" r:id="rId41"/>
    <p:sldId id="278" r:id="rId24"/>
  </p:sldIdLst>
  <p:sldSz cx="9144000" cy="5143500" type="screen16x9"/>
  <p:notesSz cx="6858000" cy="9144000"/>
  <p:embeddedFontLst>
    <p:embeddedFont>
      <p:font typeface="Zen Kaku Gothic New" panose="020B0600070205080204" charset="-128"/>
      <p:regular r:id="rId26"/>
      <p:bold r:id="rId27"/>
    </p:embeddedFont>
    <p:embeddedFont>
      <p:font typeface="Meiryo" panose="020B0604030504040204" pitchFamily="50" charset="-128"/>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01">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ePqXLRba8gyYJtiraZ6BPnqwG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F751054-E549-48A9-9E5F-C827F7E28947}">
  <a:tblStyle styleId="{2F751054-E549-48A9-9E5F-C827F7E2894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76CC8E9-4DEB-487B-9015-B81E7DF3C228}"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3FF2375-F9B8-41A6-9E25-2D63B5D407DD}" styleName="Table_2">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80" y="136"/>
      </p:cViewPr>
      <p:guideLst>
        <p:guide orient="horz" pos="1701"/>
        <p:guide pos="2880"/>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26" Type="http://schemas.openxmlformats.org/officeDocument/2006/relationships/font" Target="fonts/font1.fntdata"/><Relationship Id="rId3" Type="http://schemas.openxmlformats.org/officeDocument/2006/relationships/slide" Target="slides/slide2.xml"/><Relationship Id="rId34" Type="http://schemas.openxmlformats.org/officeDocument/2006/relationships/viewProps" Target="viewProps.xml"/><Relationship Id="rId12" Type="http://schemas.openxmlformats.org/officeDocument/2006/relationships/slide" Target="slides/slide11.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  <Relationship Id="rId37" Type="http://schemas.openxmlformats.org/officeDocument/2006/relationships/slide" Target="slides/slide24.xml"/>
  
  <Relationship Id="rId39" Type="http://schemas.openxmlformats.org/officeDocument/2006/relationships/slide" Target="slides/slide26.xml"/>
  <Relationship Id="rId40" Type="http://schemas.openxmlformats.org/officeDocument/2006/relationships/slide" Target="slides/slide27.xml"/>
  <Relationship Id="rId41" Type="http://schemas.openxmlformats.org/officeDocument/2006/relationships/slide" Target="slides/slide2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4d15c52dd9_0_109:notes"/>
          <p:cNvSpPr txBox="1">
            <a:spLocks noGrp="1"/>
          </p:cNvSpPr>
          <p:nvPr>
            <p:ph type="body" idx="1"/>
          </p:nvPr>
        </p:nvSpPr>
        <p:spPr>
          <a:xfrm>
            <a:off x="697589" y="4074457"/>
            <a:ext cx="5580600" cy="3333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g34d15c52dd9_0_109:notes"/>
          <p:cNvSpPr>
            <a:spLocks noGrp="1" noRot="1" noChangeAspect="1"/>
          </p:cNvSpPr>
          <p:nvPr>
            <p:ph type="sldImg" idx="2"/>
          </p:nvPr>
        </p:nvSpPr>
        <p:spPr>
          <a:xfrm>
            <a:off x="697589" y="1058301"/>
            <a:ext cx="5580600" cy="2857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5ec7a65b4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35ec7a65b47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5ec7a65b47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5ec7a65b47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5ec7a65b4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5ec7a65b4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ec7a65b4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5ec7a65b47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ec7a65b4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5ec7a65b47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5ec7a65b47_0_38:notes"/>
          <p:cNvSpPr>
            <a:spLocks noGrp="1" noRot="1" noChangeAspect="1"/>
          </p:cNvSpPr>
          <p:nvPr>
            <p:ph type="sldImg" idx="2"/>
          </p:nvPr>
        </p:nvSpPr>
        <p:spPr>
          <a:xfrm>
            <a:off x="387550" y="634980"/>
            <a:ext cx="6200700" cy="3174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9" name="Google Shape;279;g35ec7a65b47_0_38:notes"/>
          <p:cNvSpPr txBox="1">
            <a:spLocks noGrp="1"/>
          </p:cNvSpPr>
          <p:nvPr>
            <p:ph type="body" idx="1"/>
          </p:nvPr>
        </p:nvSpPr>
        <p:spPr>
          <a:xfrm>
            <a:off x="697589" y="4021542"/>
            <a:ext cx="5580600" cy="381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72ef0ef644_0_39:notes"/>
          <p:cNvSpPr>
            <a:spLocks noGrp="1" noRot="1" noChangeAspect="1"/>
          </p:cNvSpPr>
          <p:nvPr>
            <p:ph type="sldImg" idx="2"/>
          </p:nvPr>
        </p:nvSpPr>
        <p:spPr>
          <a:xfrm>
            <a:off x="409575" y="1235075"/>
            <a:ext cx="5922900" cy="3332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g372ef0ef644_0_39:notes"/>
          <p:cNvSpPr txBox="1">
            <a:spLocks noGrp="1"/>
          </p:cNvSpPr>
          <p:nvPr>
            <p:ph type="body" idx="1"/>
          </p:nvPr>
        </p:nvSpPr>
        <p:spPr>
          <a:xfrm>
            <a:off x="674212" y="4752747"/>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t>（原文）</a:t>
            </a:r>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５年以内に直接間接問わず100億相当（1本2万 50万本）のワインリストをクラウド化し、</a:t>
            </a:r>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「CloudCave」アプリを通じ、個人会員と飲食会員向けに提供し、ワイン流通に変革をもたらします</a:t>
            </a:r>
            <a:r>
              <a:rPr lang="ja-JP" sz="1100" b="1">
                <a:solidFill>
                  <a:schemeClr val="lt1"/>
                </a:solidFill>
                <a:latin typeface="Meiryo"/>
                <a:ea typeface="Meiryo"/>
                <a:cs typeface="Meiryo"/>
                <a:sym typeface="Meiryo"/>
              </a:rPr>
              <a:t>。</a:t>
            </a:r>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時価（インターネット最安値）でワインを仕入れることが可能になり、大手ECやオークションなどの中間マージンを省き、ワインに最適なリーファー付きで自社配送を行い、流通をアップデートします。</a:t>
            </a:r>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飲食店会員は高額なワインを店内に在庫しなくてもワインリストが華やぎ、CF上のメリットも大きいです</a:t>
            </a:r>
            <a:r>
              <a:rPr lang="ja-JP" sz="1100" b="1">
                <a:solidFill>
                  <a:schemeClr val="lt1"/>
                </a:solidFill>
                <a:latin typeface="Meiryo"/>
                <a:ea typeface="Meiryo"/>
                <a:cs typeface="Meiryo"/>
                <a:sym typeface="Meiryo"/>
              </a:rPr>
              <a:t>。</a:t>
            </a:r>
            <a:endParaRPr sz="1600"/>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個人会員も自己利用や贈答含めて50万本の在庫に時価でアクセスし、手に入るメリットがあります</a:t>
            </a:r>
            <a:r>
              <a:rPr lang="ja-JP" sz="1100" b="1">
                <a:solidFill>
                  <a:schemeClr val="lt1"/>
                </a:solidFill>
                <a:latin typeface="Meiryo"/>
                <a:ea typeface="Meiryo"/>
                <a:cs typeface="Meiryo"/>
                <a:sym typeface="Meiryo"/>
              </a:rPr>
              <a:t>。</a:t>
            </a:r>
            <a:endParaRPr sz="11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7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JP" sz="1100" b="1" i="0" u="none" strike="noStrike" cap="none">
                <a:solidFill>
                  <a:schemeClr val="lt1"/>
                </a:solidFill>
                <a:latin typeface="Meiryo"/>
                <a:ea typeface="Meiryo"/>
                <a:cs typeface="Meiryo"/>
                <a:sym typeface="Meiryo"/>
              </a:rPr>
              <a:t>今日もお望みの1本を「Cloud Cave」アプリを通じ、ご自身のセラー代わりに利用しファインワインを楽しんでください</a:t>
            </a:r>
            <a:r>
              <a:rPr lang="ja-JP" sz="1100" b="1">
                <a:solidFill>
                  <a:schemeClr val="lt1"/>
                </a:solidFill>
                <a:latin typeface="Meiryo"/>
                <a:ea typeface="Meiryo"/>
                <a:cs typeface="Meiryo"/>
                <a:sym typeface="Meiryo"/>
              </a:rPr>
              <a:t>。</a:t>
            </a:r>
            <a:endParaRPr sz="1600"/>
          </a:p>
          <a:p>
            <a:pPr marL="0" marR="0" lvl="0" indent="0" algn="l" rtl="0">
              <a:lnSpc>
                <a:spcPct val="200000"/>
              </a:lnSpc>
              <a:spcBef>
                <a:spcPts val="0"/>
              </a:spcBef>
              <a:spcAft>
                <a:spcPts val="0"/>
              </a:spcAft>
              <a:buClr>
                <a:schemeClr val="lt1"/>
              </a:buClr>
              <a:buSzPts val="1800"/>
              <a:buFont typeface="Meiryo"/>
              <a:buNone/>
            </a:pPr>
            <a:endParaRPr sz="1100" b="1" i="0" u="none" strike="noStrike" cap="none">
              <a:solidFill>
                <a:schemeClr val="lt1"/>
              </a:solidFill>
              <a:latin typeface="Meiryo"/>
              <a:ea typeface="Meiryo"/>
              <a:cs typeface="Meiryo"/>
              <a:sym typeface="Meiryo"/>
            </a:endParaRPr>
          </a:p>
          <a:p>
            <a:pPr marL="0" lvl="0" indent="0" algn="l" rtl="0">
              <a:lnSpc>
                <a:spcPct val="100000"/>
              </a:lnSpc>
              <a:spcBef>
                <a:spcPts val="0"/>
              </a:spcBef>
              <a:spcAft>
                <a:spcPts val="0"/>
              </a:spcAft>
              <a:buSzPts val="1400"/>
              <a:buNone/>
            </a:pPr>
            <a:endParaRPr/>
          </a:p>
        </p:txBody>
      </p:sp>
      <p:sp>
        <p:nvSpPr>
          <p:cNvPr id="288" name="Google Shape;288;g372ef0ef644_0_39:notes"/>
          <p:cNvSpPr txBox="1">
            <a:spLocks noGrp="1"/>
          </p:cNvSpPr>
          <p:nvPr>
            <p:ph type="sldNum" idx="12"/>
          </p:nvPr>
        </p:nvSpPr>
        <p:spPr>
          <a:xfrm>
            <a:off x="3818971" y="9380332"/>
            <a:ext cx="29217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JP"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75a5397052_0_95: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302" name="Google Shape;302;g375a5397052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72ef0ef644_0_10: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317" name="Google Shape;317;g372ef0ef644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9" name="Google Shape;329;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4" name="Google Shape;344;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4d15c52dd9_0_30:notes"/>
          <p:cNvSpPr>
            <a:spLocks noGrp="1" noRot="1" noChangeAspect="1"/>
          </p:cNvSpPr>
          <p:nvPr>
            <p:ph type="sldImg" idx="2"/>
          </p:nvPr>
        </p:nvSpPr>
        <p:spPr>
          <a:xfrm>
            <a:off x="387550" y="634980"/>
            <a:ext cx="6200700" cy="3174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7" name="Google Shape;517;g34d15c52dd9_0_30:notes"/>
          <p:cNvSpPr txBox="1">
            <a:spLocks noGrp="1"/>
          </p:cNvSpPr>
          <p:nvPr>
            <p:ph type="body" idx="1"/>
          </p:nvPr>
        </p:nvSpPr>
        <p:spPr>
          <a:xfrm>
            <a:off x="697589" y="4021542"/>
            <a:ext cx="5580600" cy="381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Google Shape;14;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7"/>
        <p:cNvGrpSpPr/>
        <p:nvPr/>
      </p:nvGrpSpPr>
      <p:grpSpPr>
        <a:xfrm>
          <a:off x="0" y="0"/>
          <a:ext cx="0" cy="0"/>
          <a:chOff x="0" y="0"/>
          <a:chExt cx="0" cy="0"/>
        </a:xfrm>
      </p:grpSpPr>
      <p:sp>
        <p:nvSpPr>
          <p:cNvPr id="18" name="Google Shape;18;p1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 name="Google Shape;19;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bg>
      <p:bgPr>
        <a:solidFill>
          <a:srgbClr val="36394B"/>
        </a:solidFill>
        <a:effectLst/>
      </p:bgPr>
    </p:bg>
    <p:spTree>
      <p:nvGrpSpPr>
        <p:cNvPr id="1" name="Shape 21"/>
        <p:cNvGrpSpPr/>
        <p:nvPr/>
      </p:nvGrpSpPr>
      <p:grpSpPr>
        <a:xfrm>
          <a:off x="0" y="0"/>
          <a:ext cx="0" cy="0"/>
          <a:chOff x="0" y="0"/>
          <a:chExt cx="0" cy="0"/>
        </a:xfrm>
      </p:grpSpPr>
      <p:pic>
        <p:nvPicPr>
          <p:cNvPr id="22" name="Google Shape;22;g34d15c52dd9_0_107" descr="株式会社WineBank (@WineBank_O) / X"/>
          <p:cNvPicPr preferRelativeResize="0"/>
          <p:nvPr/>
        </p:nvPicPr>
        <p:blipFill rotWithShape="1">
          <a:blip r:embed="rId2">
            <a:alphaModFix amt="10000"/>
          </a:blip>
          <a:srcRect/>
          <a:stretch/>
        </p:blipFill>
        <p:spPr>
          <a:xfrm>
            <a:off x="-451045" y="-101772"/>
            <a:ext cx="5302422" cy="530242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Google Shape;26;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p19"/>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p19"/>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Google Shape;33;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8" name="Google Shape;38;p20"/>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Google Shape;39;p20"/>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20"/>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Google Shape;41;p20"/>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Google Shape;42;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4" name="Google Shape;44;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 name="Google Shape;48;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 name="Google Shape;49;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0"/>
        <p:cNvGrpSpPr/>
        <p:nvPr/>
      </p:nvGrpSpPr>
      <p:grpSpPr>
        <a:xfrm>
          <a:off x="0" y="0"/>
          <a:ext cx="0" cy="0"/>
          <a:chOff x="0" y="0"/>
          <a:chExt cx="0" cy="0"/>
        </a:xfrm>
      </p:grpSpPr>
      <p:sp>
        <p:nvSpPr>
          <p:cNvPr id="51" name="Google Shape;51;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2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3" name="Google Shape;53;p2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4" name="Google Shape;54;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 name="Google Shape;55;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23"/>
          <p:cNvSpPr>
            <a:spLocks noGrp="1"/>
          </p:cNvSpPr>
          <p:nvPr>
            <p:ph type="pic" idx="2"/>
          </p:nvPr>
        </p:nvSpPr>
        <p:spPr>
          <a:xfrm>
            <a:off x="3887391" y="740569"/>
            <a:ext cx="4629150" cy="3655219"/>
          </a:xfrm>
          <a:prstGeom prst="rect">
            <a:avLst/>
          </a:prstGeom>
          <a:noFill/>
          <a:ln>
            <a:noFill/>
          </a:ln>
        </p:spPr>
      </p:sp>
      <p:sp>
        <p:nvSpPr>
          <p:cNvPr id="60" name="Google Shape;60;p2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1" name="Google Shape;61;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2" name="Google Shape;62;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24"/>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9" name="Google Shape;69;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0"/>
        <p:cNvGrpSpPr/>
        <p:nvPr/>
      </p:nvGrpSpPr>
      <p:grpSpPr>
        <a:xfrm>
          <a:off x="0" y="0"/>
          <a:ext cx="0" cy="0"/>
          <a:chOff x="0" y="0"/>
          <a:chExt cx="0" cy="0"/>
        </a:xfrm>
      </p:grpSpPr>
      <p:sp>
        <p:nvSpPr>
          <p:cNvPr id="71" name="Google Shape;71;p2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2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 name="Google Shape;9;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0" name="Google Shape;10;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Img1" Type="http://schemas.openxmlformats.org/officeDocument/2006/relationships/image" Target="../media/tm_logo.png"/><Relationship Id="rIdImg2" Type="http://schemas.openxmlformats.org/officeDocument/2006/relationships/image" Target="../media/tm_plan.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Img3" Type="http://schemas.openxmlformats.org/officeDocument/2006/relationships/image" Target="../media/tm_sk_terrace.jpg"/><Relationship Id="rIdImg4" Type="http://schemas.openxmlformats.org/officeDocument/2006/relationships/image" Target="../media/tm_sk_counter.jpg"/><Relationship Id="rIdImg5" Type="http://schemas.openxmlformats.org/officeDocument/2006/relationships/image" Target="../media/tm_sketch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g34d15c52dd9_0_109"/>
          <p:cNvSpPr txBox="1"/>
          <p:nvPr/>
        </p:nvSpPr>
        <p:spPr>
          <a:xfrm>
            <a:off x="961650" y="1810650"/>
            <a:ext cx="7076700" cy="604200"/>
          </a:xfrm>
          <a:prstGeom prst="rect">
            <a:avLst/>
          </a:prstGeom>
          <a:noFill/>
          <a:ln>
            <a:noFill/>
          </a:ln>
        </p:spPr>
        <p:txBody>
          <a:bodyPr spcFirstLastPara="1" wrap="square" lIns="68575" tIns="34275" rIns="68575" bIns="34275" anchor="ctr" anchorCtr="0">
            <a:noAutofit/>
          </a:bodyPr>
          <a:lstStyle/>
          <a:p>
            <a:pPr marL="0" marR="0" lvl="0" indent="0" algn="ctr" rtl="0">
              <a:lnSpc>
                <a:spcPct val="150000"/>
              </a:lnSpc>
              <a:spcBef>
                <a:spcPts val="0"/>
              </a:spcBef>
              <a:spcAft>
                <a:spcPts val="0"/>
              </a:spcAft>
              <a:buClr>
                <a:schemeClr val="dk1"/>
              </a:buClr>
              <a:buSzPts val="1500"/>
              <a:buFont typeface="Meiryo"/>
              <a:buNone/>
            </a:pPr>
            <a:r>
              <a:rPr lang="ja-JP" sz="2500" b="1" i="0" u="none" strike="noStrike" cap="none">
                <a:solidFill>
                  <a:srgbClr val="1F1F1F"/>
                </a:solidFill>
                <a:highlight>
                  <a:srgbClr val="FFFFFF"/>
                </a:highlight>
                <a:latin typeface="Meiryo"/>
                <a:ea typeface="Meiryo"/>
                <a:cs typeface="Meiryo"/>
                <a:sym typeface="Meiryo"/>
              </a:rPr>
              <a:t>THIERRY MARX × </a:t>
            </a:r>
            <a:r>
              <a:rPr lang="ja-JP" sz="2500" b="1" i="0" u="none" strike="noStrike" cap="none">
                <a:solidFill>
                  <a:schemeClr val="dk1"/>
                </a:solidFill>
                <a:latin typeface="Meiryo"/>
                <a:ea typeface="Meiryo"/>
                <a:cs typeface="Meiryo"/>
                <a:sym typeface="Meiryo"/>
              </a:rPr>
              <a:t>WineBank Group</a:t>
            </a:r>
            <a:endParaRPr sz="2500" b="1" i="0" u="none" strike="noStrike" cap="none">
              <a:solidFill>
                <a:schemeClr val="dk1"/>
              </a:solidFill>
              <a:latin typeface="Meiryo"/>
              <a:ea typeface="Meiryo"/>
              <a:cs typeface="Meiryo"/>
              <a:sym typeface="Meiryo"/>
            </a:endParaRPr>
          </a:p>
        </p:txBody>
      </p:sp>
      <p:sp>
        <p:nvSpPr>
          <p:cNvPr id="81" name="Google Shape;81;g34d15c52dd9_0_109"/>
          <p:cNvSpPr txBox="1"/>
          <p:nvPr/>
        </p:nvSpPr>
        <p:spPr>
          <a:xfrm>
            <a:off x="3534459" y="2443280"/>
            <a:ext cx="1931100" cy="509400"/>
          </a:xfrm>
          <a:prstGeom prst="rect">
            <a:avLst/>
          </a:prstGeom>
          <a:noFill/>
          <a:ln>
            <a:noFill/>
          </a:ln>
        </p:spPr>
        <p:txBody>
          <a:bodyPr spcFirstLastPara="1" wrap="square" lIns="68575" tIns="34275" rIns="68575" bIns="34275" anchor="t" anchorCtr="0">
            <a:spAutoFit/>
          </a:bodyPr>
          <a:lstStyle/>
          <a:p>
            <a:pPr marL="0" marR="0" lvl="0" indent="0" algn="ctr" rtl="0">
              <a:lnSpc>
                <a:spcPct val="120000"/>
              </a:lnSpc>
              <a:spcBef>
                <a:spcPts val="0"/>
              </a:spcBef>
              <a:spcAft>
                <a:spcPts val="0"/>
              </a:spcAft>
              <a:buClr>
                <a:srgbClr val="000000"/>
              </a:buClr>
              <a:buSzPts val="1400"/>
              <a:buFont typeface="Arial"/>
              <a:buNone/>
            </a:pPr>
            <a:r>
              <a:rPr lang="ja-JP" sz="1300" b="0" i="0" u="none" strike="noStrike" cap="none">
                <a:solidFill>
                  <a:srgbClr val="000000"/>
                </a:solidFill>
                <a:latin typeface="Meiryo"/>
                <a:ea typeface="Meiryo"/>
                <a:cs typeface="Meiryo"/>
                <a:sym typeface="Meiryo"/>
              </a:rPr>
              <a:t>2026年</a:t>
            </a:r>
            <a:r>
              <a:rPr lang="ja-JP" sz="1300">
                <a:latin typeface="Meiryo"/>
                <a:ea typeface="Meiryo"/>
                <a:cs typeface="Meiryo"/>
                <a:sym typeface="Meiryo"/>
              </a:rPr>
              <a:t>10</a:t>
            </a:r>
            <a:r>
              <a:rPr lang="ja-JP" sz="1300" b="0" i="0" u="none" strike="noStrike" cap="none">
                <a:solidFill>
                  <a:srgbClr val="000000"/>
                </a:solidFill>
                <a:latin typeface="Meiryo"/>
                <a:ea typeface="Meiryo"/>
                <a:cs typeface="Meiryo"/>
                <a:sym typeface="Meiryo"/>
              </a:rPr>
              <a:t>月</a:t>
            </a:r>
            <a:endParaRPr sz="13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JP" sz="1300" b="0" i="0" u="none" strike="noStrike" cap="none">
                <a:solidFill>
                  <a:srgbClr val="000000"/>
                </a:solidFill>
                <a:latin typeface="Meiryo"/>
                <a:ea typeface="Meiryo"/>
                <a:cs typeface="Meiryo"/>
                <a:sym typeface="Meiryo"/>
              </a:rPr>
              <a:t>株式会社WineBank</a:t>
            </a:r>
            <a:endParaRPr sz="1300" b="0" i="0" u="none" strike="noStrike" cap="none">
              <a:solidFill>
                <a:srgbClr val="000000"/>
              </a:solidFill>
              <a:latin typeface="Meiryo"/>
              <a:ea typeface="Meiryo"/>
              <a:cs typeface="Meiryo"/>
              <a:sym typeface="Meiryo"/>
            </a:endParaRPr>
          </a:p>
        </p:txBody>
      </p:sp>
      <p:pic>
        <p:nvPicPr>
          <p:cNvPr id="82" name="Google Shape;82;g34d15c52dd9_0_109"/>
          <p:cNvPicPr preferRelativeResize="0"/>
          <p:nvPr/>
        </p:nvPicPr>
        <p:blipFill rotWithShape="1">
          <a:blip r:embed="rId3">
            <a:alphaModFix amt="18000"/>
          </a:blip>
          <a:srcRect r="21532" b="6821"/>
          <a:stretch/>
        </p:blipFill>
        <p:spPr>
          <a:xfrm>
            <a:off x="5819425" y="521425"/>
            <a:ext cx="3344351" cy="4480175"/>
          </a:xfrm>
          <a:prstGeom prst="rect">
            <a:avLst/>
          </a:prstGeom>
          <a:noFill/>
          <a:ln>
            <a:noFill/>
          </a:ln>
        </p:spPr>
      </p:pic>
      <p:sp>
        <p:nvSpPr>
          <p:cNvPr id="83" name="Google Shape;83;g34d15c52dd9_0_109"/>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84" name="Google Shape;84;g34d15c52dd9_0_109"/>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a:t>
            </a:fld>
            <a:endParaRPr sz="700"/>
          </a:p>
        </p:txBody>
      </p:sp>
      <p:sp>
        <p:nvSpPr>
          <p:cNvPr id="85" name="Google Shape;85;g34d15c52dd9_0_10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86" name="Google Shape;86;g34d15c52dd9_0_109"/>
          <p:cNvPicPr preferRelativeResize="0"/>
          <p:nvPr/>
        </p:nvPicPr>
        <p:blipFill rotWithShape="1">
          <a:blip r:embed="rId4">
            <a:alphaModFix/>
          </a:blip>
          <a:srcRect/>
          <a:stretch/>
        </p:blipFill>
        <p:spPr>
          <a:xfrm>
            <a:off x="2543849" y="2987823"/>
            <a:ext cx="971201" cy="969875"/>
          </a:xfrm>
          <a:prstGeom prst="rect">
            <a:avLst/>
          </a:prstGeom>
          <a:noFill/>
          <a:ln>
            <a:noFill/>
          </a:ln>
        </p:spPr>
      </p:pic>
      <p:pic>
        <p:nvPicPr>
          <p:cNvPr id="87" name="Google Shape;87;g34d15c52dd9_0_109"/>
          <p:cNvPicPr preferRelativeResize="0"/>
          <p:nvPr/>
        </p:nvPicPr>
        <p:blipFill rotWithShape="1">
          <a:blip r:embed="rId5">
            <a:alphaModFix/>
          </a:blip>
          <a:srcRect/>
          <a:stretch/>
        </p:blipFill>
        <p:spPr>
          <a:xfrm>
            <a:off x="5648650" y="2979500"/>
            <a:ext cx="971201" cy="971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35ec7a65b47_0_5"/>
          <p:cNvSpPr txBox="1"/>
          <p:nvPr/>
        </p:nvSpPr>
        <p:spPr>
          <a:xfrm>
            <a:off x="239772" y="211050"/>
            <a:ext cx="2301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93" name="Google Shape;93;g35ec7a65b47_0_5"/>
          <p:cNvPicPr preferRelativeResize="0"/>
          <p:nvPr/>
        </p:nvPicPr>
        <p:blipFill rotWithShape="1">
          <a:blip r:embed="rId3">
            <a:alphaModFix/>
          </a:blip>
          <a:srcRect l="59666" t="5993" b="20207"/>
          <a:stretch/>
        </p:blipFill>
        <p:spPr>
          <a:xfrm>
            <a:off x="664825" y="802900"/>
            <a:ext cx="2401500" cy="2250300"/>
          </a:xfrm>
          <a:prstGeom prst="ellipse">
            <a:avLst/>
          </a:prstGeom>
          <a:noFill/>
          <a:ln>
            <a:noFill/>
          </a:ln>
        </p:spPr>
      </p:pic>
      <p:sp>
        <p:nvSpPr>
          <p:cNvPr id="94" name="Google Shape;94;g35ec7a65b47_0_5"/>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95" name="Google Shape;95;g35ec7a65b47_0_5"/>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2</a:t>
            </a:fld>
            <a:endParaRPr sz="700"/>
          </a:p>
        </p:txBody>
      </p:sp>
      <p:sp>
        <p:nvSpPr>
          <p:cNvPr id="96" name="Google Shape;96;g35ec7a65b47_0_5"/>
          <p:cNvSpPr txBox="1"/>
          <p:nvPr/>
        </p:nvSpPr>
        <p:spPr>
          <a:xfrm>
            <a:off x="3507867" y="729336"/>
            <a:ext cx="4916400" cy="22503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a:t>
            </a:r>
            <a:r>
              <a:rPr lang="ja-JP" sz="8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1959年　　パリ20区に生まれる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a:t>
            </a:r>
            <a:r>
              <a:rPr lang="ja-JP" sz="8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1977年　　軍隊に所属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1978年　　パティシエの資格を取得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1988年　　トゥール 「ロック・アン・ヴァル」でミシュラン1つ星を獲得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1991年　　ニーム「シュヴァル・ブラン」でミシュラン1つ星を獲得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1999年　　メドックの ルレ・エ・シャトー「コーディヤン・バージュ」 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2006年　　ゴー・エ・ミヨ シェフ・オブ・ザ・イヤー受賞 </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2010年　　マンダリン オリエンタル パリ</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chemeClr val="dk1"/>
                </a:solidFill>
                <a:latin typeface="Meiryo"/>
                <a:ea typeface="Meiryo"/>
                <a:cs typeface="Meiryo"/>
                <a:sym typeface="Meiryo"/>
              </a:rPr>
              <a:t>　　　　　　　　「シュール・ムジュール パール ティエリー・マルクス」でミシュラン2つ星を獲得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2013年　　フランス レジオン・ドヌール勲章を受賞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2022年　　ミシュランガイドの年間ベストメンターに選ばれる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r>
              <a:rPr lang="ja-JP" sz="800" b="0" i="0" u="none" strike="noStrike" cap="none">
                <a:solidFill>
                  <a:schemeClr val="dk1"/>
                </a:solidFill>
                <a:latin typeface="Meiryo"/>
                <a:ea typeface="Meiryo"/>
                <a:cs typeface="Meiryo"/>
                <a:sym typeface="Meiryo"/>
              </a:rPr>
              <a:t>2023年　　パリ8区サントノーレに「オノール」オープン</a:t>
            </a:r>
            <a:endParaRPr sz="800" b="0" i="0" u="none" strike="noStrike" cap="none">
              <a:solidFill>
                <a:schemeClr val="dk1"/>
              </a:solidFill>
              <a:latin typeface="Meiryo"/>
              <a:ea typeface="Meiryo"/>
              <a:cs typeface="Meiryo"/>
              <a:sym typeface="Meiryo"/>
            </a:endParaRPr>
          </a:p>
        </p:txBody>
      </p:sp>
      <p:sp>
        <p:nvSpPr>
          <p:cNvPr id="97" name="Google Shape;97;g35ec7a65b47_0_5"/>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98" name="Google Shape;98;g35ec7a65b47_0_5"/>
          <p:cNvSpPr txBox="1"/>
          <p:nvPr/>
        </p:nvSpPr>
        <p:spPr>
          <a:xfrm>
            <a:off x="3368943" y="2912050"/>
            <a:ext cx="5412000" cy="5157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日本再進出、パリでミシュラン累計7つ星・ミシュラン星請負人の呼名も</a:t>
            </a:r>
            <a:endParaRPr sz="10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同世代のシェフの中でも、著名でかつ尊敬を集めるシェフの一人として最も注目されている</a:t>
            </a:r>
            <a:endParaRPr sz="1000" b="0" i="0" u="none" strike="noStrike" cap="none">
              <a:solidFill>
                <a:srgbClr val="C68A65"/>
              </a:solidFill>
              <a:latin typeface="Meiryo"/>
              <a:ea typeface="Meiryo"/>
              <a:cs typeface="Meiryo"/>
              <a:sym typeface="Meiryo"/>
            </a:endParaRPr>
          </a:p>
        </p:txBody>
      </p:sp>
      <p:cxnSp>
        <p:nvCxnSpPr>
          <p:cNvPr id="99" name="Google Shape;99;g35ec7a65b47_0_5"/>
          <p:cNvCxnSpPr/>
          <p:nvPr/>
        </p:nvCxnSpPr>
        <p:spPr>
          <a:xfrm flipH="1">
            <a:off x="3655172" y="802898"/>
            <a:ext cx="6000" cy="2082600"/>
          </a:xfrm>
          <a:prstGeom prst="straightConnector1">
            <a:avLst/>
          </a:prstGeom>
          <a:noFill/>
          <a:ln w="9525" cap="flat" cmpd="sng">
            <a:solidFill>
              <a:srgbClr val="C68A65"/>
            </a:solidFill>
            <a:prstDash val="solid"/>
            <a:round/>
            <a:headEnd type="none" w="sm" len="sm"/>
            <a:tailEnd type="none" w="sm" len="sm"/>
          </a:ln>
        </p:spPr>
      </p:cxnSp>
      <p:sp>
        <p:nvSpPr>
          <p:cNvPr id="100" name="Google Shape;100;g35ec7a65b47_0_5"/>
          <p:cNvSpPr/>
          <p:nvPr/>
        </p:nvSpPr>
        <p:spPr>
          <a:xfrm>
            <a:off x="3507868" y="509436"/>
            <a:ext cx="810300" cy="2199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History</a:t>
            </a:r>
            <a:endParaRPr sz="800" b="0" i="0" u="none" strike="noStrike" cap="none">
              <a:solidFill>
                <a:schemeClr val="lt1"/>
              </a:solidFill>
              <a:latin typeface="Meiryo"/>
              <a:ea typeface="Meiryo"/>
              <a:cs typeface="Meiryo"/>
              <a:sym typeface="Meiryo"/>
            </a:endParaRPr>
          </a:p>
        </p:txBody>
      </p:sp>
      <p:sp>
        <p:nvSpPr>
          <p:cNvPr id="101" name="Google Shape;101;g35ec7a65b47_0_5"/>
          <p:cNvSpPr txBox="1"/>
          <p:nvPr/>
        </p:nvSpPr>
        <p:spPr>
          <a:xfrm>
            <a:off x="271525" y="3674825"/>
            <a:ext cx="6713400" cy="794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C68A65"/>
                </a:solidFill>
                <a:latin typeface="Meiryo"/>
                <a:ea typeface="Meiryo"/>
                <a:cs typeface="Meiryo"/>
                <a:sym typeface="Meiryo"/>
              </a:rPr>
              <a:t>“幸せな瞬間や自分へのご褒美、誰かと共有することで生まれる温かい気持ちは、</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C68A65"/>
                </a:solidFill>
                <a:latin typeface="Meiryo"/>
                <a:ea typeface="Meiryo"/>
                <a:cs typeface="Meiryo"/>
                <a:sym typeface="Meiryo"/>
              </a:rPr>
              <a:t>私にとってすべてです。活気と刺激に満ちた雰囲気の中で、友人や家族との</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JP" sz="1200" b="1" i="0" u="none" strike="noStrike" cap="none">
                <a:solidFill>
                  <a:srgbClr val="C68A65"/>
                </a:solidFill>
                <a:latin typeface="Meiryo"/>
                <a:ea typeface="Meiryo"/>
                <a:cs typeface="Meiryo"/>
                <a:sym typeface="Meiryo"/>
              </a:rPr>
              <a:t>時間を最大限に楽しむことができる、それがレストランなのです“</a:t>
            </a:r>
            <a:endParaRPr sz="1200" b="1" i="0" u="none" strike="noStrike" cap="none">
              <a:solidFill>
                <a:srgbClr val="C68A65"/>
              </a:solidFill>
              <a:latin typeface="Meiryo"/>
              <a:ea typeface="Meiryo"/>
              <a:cs typeface="Meiryo"/>
              <a:sym typeface="Meiryo"/>
            </a:endParaRPr>
          </a:p>
        </p:txBody>
      </p:sp>
      <p:pic>
        <p:nvPicPr>
          <p:cNvPr id="102" name="Google Shape;102;g35ec7a65b47_0_5" title="スクリーンショット 2025-08-06 082605.png"/>
          <p:cNvPicPr preferRelativeResize="0"/>
          <p:nvPr/>
        </p:nvPicPr>
        <p:blipFill rotWithShape="1">
          <a:blip r:embed="rId4">
            <a:alphaModFix/>
          </a:blip>
          <a:srcRect l="9523" t="7237" r="16364" b="15364"/>
          <a:stretch/>
        </p:blipFill>
        <p:spPr>
          <a:xfrm>
            <a:off x="6856024" y="3674825"/>
            <a:ext cx="1466687" cy="794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5ec7a65b47_0_16"/>
          <p:cNvSpPr txBox="1"/>
          <p:nvPr/>
        </p:nvSpPr>
        <p:spPr>
          <a:xfrm>
            <a:off x="239772" y="211050"/>
            <a:ext cx="21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108" name="Google Shape;108;g35ec7a65b47_0_16"/>
          <p:cNvPicPr preferRelativeResize="0"/>
          <p:nvPr/>
        </p:nvPicPr>
        <p:blipFill rotWithShape="1">
          <a:blip r:embed="rId3">
            <a:alphaModFix/>
          </a:blip>
          <a:srcRect/>
          <a:stretch/>
        </p:blipFill>
        <p:spPr>
          <a:xfrm>
            <a:off x="5585282" y="3517448"/>
            <a:ext cx="1680941" cy="1423435"/>
          </a:xfrm>
          <a:prstGeom prst="rect">
            <a:avLst/>
          </a:prstGeom>
          <a:noFill/>
          <a:ln>
            <a:noFill/>
          </a:ln>
        </p:spPr>
      </p:pic>
      <p:pic>
        <p:nvPicPr>
          <p:cNvPr id="109" name="Google Shape;109;g35ec7a65b47_0_16"/>
          <p:cNvPicPr preferRelativeResize="0"/>
          <p:nvPr/>
        </p:nvPicPr>
        <p:blipFill rotWithShape="1">
          <a:blip r:embed="rId4">
            <a:alphaModFix/>
          </a:blip>
          <a:srcRect/>
          <a:stretch/>
        </p:blipFill>
        <p:spPr>
          <a:xfrm>
            <a:off x="3889275" y="3517457"/>
            <a:ext cx="1696007" cy="1423448"/>
          </a:xfrm>
          <a:prstGeom prst="rect">
            <a:avLst/>
          </a:prstGeom>
          <a:noFill/>
          <a:ln>
            <a:noFill/>
          </a:ln>
        </p:spPr>
      </p:pic>
      <p:pic>
        <p:nvPicPr>
          <p:cNvPr id="110" name="Google Shape;110;g35ec7a65b47_0_16"/>
          <p:cNvPicPr preferRelativeResize="0"/>
          <p:nvPr/>
        </p:nvPicPr>
        <p:blipFill rotWithShape="1">
          <a:blip r:embed="rId5">
            <a:alphaModFix/>
          </a:blip>
          <a:srcRect b="2086"/>
          <a:stretch/>
        </p:blipFill>
        <p:spPr>
          <a:xfrm>
            <a:off x="7266215" y="3517449"/>
            <a:ext cx="1680948" cy="1423448"/>
          </a:xfrm>
          <a:prstGeom prst="rect">
            <a:avLst/>
          </a:prstGeom>
          <a:noFill/>
          <a:ln>
            <a:noFill/>
          </a:ln>
        </p:spPr>
      </p:pic>
      <p:sp>
        <p:nvSpPr>
          <p:cNvPr id="111" name="Google Shape;111;g35ec7a65b47_0_16"/>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112" name="Google Shape;112;g35ec7a65b47_0_16"/>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3</a:t>
            </a:fld>
            <a:endParaRPr sz="700"/>
          </a:p>
        </p:txBody>
      </p:sp>
      <p:sp>
        <p:nvSpPr>
          <p:cNvPr id="113" name="Google Shape;113;g35ec7a65b47_0_16"/>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14" name="Google Shape;114;g35ec7a65b47_0_16"/>
          <p:cNvSpPr/>
          <p:nvPr/>
        </p:nvSpPr>
        <p:spPr>
          <a:xfrm>
            <a:off x="295026" y="59028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事業内容</a:t>
            </a:r>
            <a:endParaRPr sz="700" b="0" i="0" u="none" strike="noStrike" cap="none">
              <a:solidFill>
                <a:schemeClr val="lt1"/>
              </a:solidFill>
              <a:latin typeface="Meiryo"/>
              <a:ea typeface="Meiryo"/>
              <a:cs typeface="Meiryo"/>
              <a:sym typeface="Meiryo"/>
            </a:endParaRPr>
          </a:p>
        </p:txBody>
      </p:sp>
      <p:sp>
        <p:nvSpPr>
          <p:cNvPr id="115" name="Google Shape;115;g35ec7a65b47_0_16"/>
          <p:cNvSpPr/>
          <p:nvPr/>
        </p:nvSpPr>
        <p:spPr>
          <a:xfrm>
            <a:off x="3918375" y="3278124"/>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過去の店舗展開</a:t>
            </a:r>
            <a:endParaRPr sz="700" b="0" i="0" u="none" strike="noStrike" cap="none">
              <a:solidFill>
                <a:schemeClr val="lt1"/>
              </a:solidFill>
              <a:latin typeface="Meiryo"/>
              <a:ea typeface="Meiryo"/>
              <a:cs typeface="Meiryo"/>
              <a:sym typeface="Meiryo"/>
            </a:endParaRPr>
          </a:p>
        </p:txBody>
      </p:sp>
      <p:sp>
        <p:nvSpPr>
          <p:cNvPr id="116" name="Google Shape;116;g35ec7a65b47_0_16"/>
          <p:cNvSpPr txBox="1"/>
          <p:nvPr/>
        </p:nvSpPr>
        <p:spPr>
          <a:xfrm>
            <a:off x="295026" y="884904"/>
            <a:ext cx="3836400" cy="2148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C68A65"/>
                </a:solidFill>
                <a:latin typeface="Meiryo"/>
                <a:ea typeface="Meiryo"/>
                <a:cs typeface="Meiryo"/>
                <a:sym typeface="Meiryo"/>
              </a:rPr>
              <a:t>レストラン</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・「シュール・ムジュール パール ティエリー・マルク ス」</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ホテル「マンダリン オリエンタル パリ」内　ミシュラン2つ星</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・「カメリア」</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ホテル「マンダリン オリエンタル パリ」内　オールデイ ダイニング</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・「マダム・ブラッスリー」エッフェル塔1階（地上58メートル）</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朝食からディナーまで楽しめるブラッスリー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・現在パリ8区に新レストランの着工準備中 </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C68A65"/>
                </a:solidFill>
                <a:latin typeface="Meiryo"/>
                <a:ea typeface="Meiryo"/>
                <a:cs typeface="Meiryo"/>
                <a:sym typeface="Meiryo"/>
              </a:rPr>
              <a:t>ブーランジェリー</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・「ティエリーマルクス　ベーカリー」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・ファストカジュアルのコンセプトで料理とパンの世界を融合</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現在、パリ市内に5店舗</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JP" sz="800" b="0" i="0" u="none" strike="noStrike" cap="none">
                <a:solidFill>
                  <a:srgbClr val="000000"/>
                </a:solidFill>
                <a:latin typeface="Meiryo"/>
                <a:ea typeface="Meiryo"/>
                <a:cs typeface="Meiryo"/>
                <a:sym typeface="Meiryo"/>
              </a:rPr>
              <a:t>　　東京渋谷に「ティエリーマルクス ラ ブーランジェリー」を構える</a:t>
            </a:r>
            <a:endParaRPr sz="800" b="0" i="0" u="none" strike="noStrike" cap="none">
              <a:solidFill>
                <a:srgbClr val="000000"/>
              </a:solidFill>
              <a:latin typeface="Meiryo"/>
              <a:ea typeface="Meiryo"/>
              <a:cs typeface="Meiryo"/>
              <a:sym typeface="Meiryo"/>
            </a:endParaRPr>
          </a:p>
        </p:txBody>
      </p:sp>
      <p:sp>
        <p:nvSpPr>
          <p:cNvPr id="117" name="Google Shape;117;g35ec7a65b47_0_16"/>
          <p:cNvSpPr txBox="1"/>
          <p:nvPr/>
        </p:nvSpPr>
        <p:spPr>
          <a:xfrm>
            <a:off x="295025" y="3566700"/>
            <a:ext cx="3303300" cy="1423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・新しい形の料理雑誌「BON」創立（出版）</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・「トップシェフ」「マスターシェフ」の審査員（TV番組）</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・フードビジョン・パリ2024</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・食のセレクトショップ「Omie et Cie」 </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アドバイザーとして、商品やレシピの提案を行う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・「フランス料理研究センター」 設立</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物理化学者のラファエル・ハウモンと共に調理を科学的な分析/提議を行う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・国際宇宙ステーションでのガストロノミー・メニューを制作 </a:t>
            </a:r>
            <a:endParaRPr sz="700" b="0" i="0" u="none" strike="noStrike" cap="none">
              <a:solidFill>
                <a:srgbClr val="000000"/>
              </a:solidFill>
              <a:latin typeface="Meiryo"/>
              <a:ea typeface="Meiryo"/>
              <a:cs typeface="Meiryo"/>
              <a:sym typeface="Meiryo"/>
            </a:endParaRPr>
          </a:p>
        </p:txBody>
      </p:sp>
      <p:pic>
        <p:nvPicPr>
          <p:cNvPr id="118" name="Google Shape;118;g35ec7a65b47_0_16"/>
          <p:cNvPicPr preferRelativeResize="0"/>
          <p:nvPr/>
        </p:nvPicPr>
        <p:blipFill rotWithShape="1">
          <a:blip r:embed="rId6">
            <a:alphaModFix/>
          </a:blip>
          <a:srcRect l="3663" t="4616" r="54382" b="51210"/>
          <a:stretch/>
        </p:blipFill>
        <p:spPr>
          <a:xfrm>
            <a:off x="2878620" y="3566688"/>
            <a:ext cx="628957" cy="755400"/>
          </a:xfrm>
          <a:prstGeom prst="rect">
            <a:avLst/>
          </a:prstGeom>
          <a:noFill/>
          <a:ln>
            <a:noFill/>
          </a:ln>
        </p:spPr>
      </p:pic>
      <p:sp>
        <p:nvSpPr>
          <p:cNvPr id="119" name="Google Shape;119;g35ec7a65b47_0_16"/>
          <p:cNvSpPr/>
          <p:nvPr/>
        </p:nvSpPr>
        <p:spPr>
          <a:xfrm>
            <a:off x="365326" y="3268499"/>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その他の活動</a:t>
            </a:r>
            <a:endParaRPr sz="700" b="0" i="0" u="none" strike="noStrike" cap="none">
              <a:solidFill>
                <a:schemeClr val="lt1"/>
              </a:solidFill>
              <a:latin typeface="Meiryo"/>
              <a:ea typeface="Meiryo"/>
              <a:cs typeface="Meiryo"/>
              <a:sym typeface="Meiryo"/>
            </a:endParaRPr>
          </a:p>
        </p:txBody>
      </p:sp>
      <p:sp>
        <p:nvSpPr>
          <p:cNvPr id="120" name="Google Shape;120;g35ec7a65b47_0_16"/>
          <p:cNvSpPr/>
          <p:nvPr/>
        </p:nvSpPr>
        <p:spPr>
          <a:xfrm>
            <a:off x="5683475" y="64303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事業内容</a:t>
            </a:r>
            <a:endParaRPr sz="700" b="0" i="0" u="none" strike="noStrike" cap="none">
              <a:solidFill>
                <a:schemeClr val="lt1"/>
              </a:solidFill>
              <a:latin typeface="Meiryo"/>
              <a:ea typeface="Meiryo"/>
              <a:cs typeface="Meiryo"/>
              <a:sym typeface="Meiryo"/>
            </a:endParaRPr>
          </a:p>
        </p:txBody>
      </p:sp>
      <p:sp>
        <p:nvSpPr>
          <p:cNvPr id="121" name="Google Shape;121;g35ec7a65b47_0_16"/>
          <p:cNvSpPr txBox="1"/>
          <p:nvPr/>
        </p:nvSpPr>
        <p:spPr>
          <a:xfrm>
            <a:off x="5614423" y="906250"/>
            <a:ext cx="3599400" cy="1779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C68A65"/>
                </a:solidFill>
                <a:latin typeface="Meiryo"/>
                <a:ea typeface="Meiryo"/>
                <a:cs typeface="Meiryo"/>
                <a:sym typeface="Meiryo"/>
              </a:rPr>
              <a:t>環境への配慮</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・100％認証食品を使用</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・プラスチック製品の使用削減</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・食品を100％リサイクル活用（アンチ廃棄物）</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・ゼロ・ウェイスト宣言（食品の2次利用等、無駄を無くす努力） </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C68A65"/>
                </a:solidFill>
                <a:latin typeface="Meiryo"/>
                <a:ea typeface="Meiryo"/>
                <a:cs typeface="Meiryo"/>
                <a:sym typeface="Meiryo"/>
              </a:rPr>
              <a:t>社会貢献および教育</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・社会生活から隔離された人々の社会復帰、自立できる経済モデルを構築</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・フランスでの職業復帰率は10％を占める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・パリ市と共に、社会的・職業的自立を主な目的とした</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「Cuisine mode d‘emploi（調理における職業訓練所）」 を設立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・拘置所にて受刑者に料理教室を開催、 職業復帰プロジェクトを支援</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・「College Culinaire （コレージュ・キュリネール）」の創立メンバー</a:t>
            </a:r>
            <a:endParaRPr sz="700" b="0" i="0" u="none" strike="noStrike" cap="none">
              <a:solidFill>
                <a:srgbClr val="000000"/>
              </a:solidFill>
              <a:latin typeface="Meiryo"/>
              <a:ea typeface="Meiryo"/>
              <a:cs typeface="Meiryo"/>
              <a:sym typeface="Meiryo"/>
            </a:endParaRPr>
          </a:p>
        </p:txBody>
      </p:sp>
      <p:pic>
        <p:nvPicPr>
          <p:cNvPr id="122" name="Google Shape;122;g35ec7a65b47_0_16"/>
          <p:cNvPicPr preferRelativeResize="0"/>
          <p:nvPr/>
        </p:nvPicPr>
        <p:blipFill rotWithShape="1">
          <a:blip r:embed="rId7">
            <a:alphaModFix/>
          </a:blip>
          <a:srcRect l="7895" t="4934" r="20915" b="40487"/>
          <a:stretch/>
        </p:blipFill>
        <p:spPr>
          <a:xfrm>
            <a:off x="3889275" y="1335093"/>
            <a:ext cx="1069561" cy="806628"/>
          </a:xfrm>
          <a:prstGeom prst="rect">
            <a:avLst/>
          </a:prstGeom>
          <a:noFill/>
          <a:ln>
            <a:noFill/>
          </a:ln>
        </p:spPr>
      </p:pic>
      <p:pic>
        <p:nvPicPr>
          <p:cNvPr id="123" name="Google Shape;123;g35ec7a65b47_0_16"/>
          <p:cNvPicPr preferRelativeResize="0"/>
          <p:nvPr/>
        </p:nvPicPr>
        <p:blipFill rotWithShape="1">
          <a:blip r:embed="rId8">
            <a:alphaModFix/>
          </a:blip>
          <a:srcRect l="15861" t="55781" r="23367" b="5314"/>
          <a:stretch/>
        </p:blipFill>
        <p:spPr>
          <a:xfrm>
            <a:off x="3889275" y="579434"/>
            <a:ext cx="1069550" cy="719049"/>
          </a:xfrm>
          <a:prstGeom prst="rect">
            <a:avLst/>
          </a:prstGeom>
          <a:noFill/>
          <a:ln>
            <a:noFill/>
          </a:ln>
        </p:spPr>
      </p:pic>
      <p:pic>
        <p:nvPicPr>
          <p:cNvPr id="124" name="Google Shape;124;g35ec7a65b47_0_16"/>
          <p:cNvPicPr preferRelativeResize="0"/>
          <p:nvPr/>
        </p:nvPicPr>
        <p:blipFill rotWithShape="1">
          <a:blip r:embed="rId9">
            <a:alphaModFix/>
          </a:blip>
          <a:srcRect l="12024" t="10454" r="7925" b="4134"/>
          <a:stretch/>
        </p:blipFill>
        <p:spPr>
          <a:xfrm>
            <a:off x="3889276" y="2178352"/>
            <a:ext cx="1069555" cy="738026"/>
          </a:xfrm>
          <a:prstGeom prst="rect">
            <a:avLst/>
          </a:prstGeom>
          <a:noFill/>
          <a:ln>
            <a:noFill/>
          </a:ln>
        </p:spPr>
      </p:pic>
      <p:pic>
        <p:nvPicPr>
          <p:cNvPr id="125" name="Google Shape;125;g35ec7a65b47_0_16"/>
          <p:cNvPicPr preferRelativeResize="0"/>
          <p:nvPr/>
        </p:nvPicPr>
        <p:blipFill rotWithShape="1">
          <a:blip r:embed="rId6">
            <a:alphaModFix/>
          </a:blip>
          <a:srcRect l="21634" t="56365" r="4707" b="4024"/>
          <a:stretch/>
        </p:blipFill>
        <p:spPr>
          <a:xfrm>
            <a:off x="7058400" y="2685558"/>
            <a:ext cx="1149679" cy="705225"/>
          </a:xfrm>
          <a:prstGeom prst="rect">
            <a:avLst/>
          </a:prstGeom>
          <a:noFill/>
          <a:ln>
            <a:noFill/>
          </a:ln>
        </p:spPr>
      </p:pic>
      <p:pic>
        <p:nvPicPr>
          <p:cNvPr id="126" name="Google Shape;126;g35ec7a65b47_0_16"/>
          <p:cNvPicPr preferRelativeResize="0"/>
          <p:nvPr/>
        </p:nvPicPr>
        <p:blipFill rotWithShape="1">
          <a:blip r:embed="rId10">
            <a:alphaModFix/>
          </a:blip>
          <a:srcRect l="19568" t="56411" r="5514" b="5758"/>
          <a:stretch/>
        </p:blipFill>
        <p:spPr>
          <a:xfrm>
            <a:off x="5755391" y="2685558"/>
            <a:ext cx="1245297" cy="705225"/>
          </a:xfrm>
          <a:prstGeom prst="rect">
            <a:avLst/>
          </a:prstGeom>
          <a:noFill/>
          <a:ln>
            <a:noFill/>
          </a:ln>
        </p:spPr>
      </p:pic>
      <p:pic>
        <p:nvPicPr>
          <p:cNvPr id="127" name="Google Shape;127;g35ec7a65b47_0_16"/>
          <p:cNvPicPr preferRelativeResize="0"/>
          <p:nvPr/>
        </p:nvPicPr>
        <p:blipFill rotWithShape="1">
          <a:blip r:embed="rId10">
            <a:alphaModFix/>
          </a:blip>
          <a:srcRect l="7602" t="5005" r="53231" b="46257"/>
          <a:stretch/>
        </p:blipFill>
        <p:spPr>
          <a:xfrm>
            <a:off x="8265763" y="2685558"/>
            <a:ext cx="505342" cy="705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cxnSp>
        <p:nvCxnSpPr>
          <p:cNvPr id="132" name="Google Shape;132;g35ec7a65b47_0_0"/>
          <p:cNvCxnSpPr>
            <a:stCxn id="133" idx="2"/>
          </p:cNvCxnSpPr>
          <p:nvPr/>
        </p:nvCxnSpPr>
        <p:spPr>
          <a:xfrm rot="-5400000" flipH="1">
            <a:off x="7533225" y="3553628"/>
            <a:ext cx="1339800" cy="600"/>
          </a:xfrm>
          <a:prstGeom prst="bentConnector3">
            <a:avLst>
              <a:gd name="adj1" fmla="val 50000"/>
            </a:avLst>
          </a:prstGeom>
          <a:noFill/>
          <a:ln>
            <a:noFill/>
          </a:ln>
        </p:spPr>
      </p:cxnSp>
      <p:cxnSp>
        <p:nvCxnSpPr>
          <p:cNvPr id="134" name="Google Shape;134;g35ec7a65b47_0_0"/>
          <p:cNvCxnSpPr>
            <a:stCxn id="135" idx="2"/>
          </p:cNvCxnSpPr>
          <p:nvPr/>
        </p:nvCxnSpPr>
        <p:spPr>
          <a:xfrm rot="-5400000" flipH="1">
            <a:off x="4767624" y="3553628"/>
            <a:ext cx="1339800" cy="600"/>
          </a:xfrm>
          <a:prstGeom prst="bentConnector3">
            <a:avLst>
              <a:gd name="adj1" fmla="val 50000"/>
            </a:avLst>
          </a:prstGeom>
          <a:noFill/>
          <a:ln w="9525" cap="flat" cmpd="sng">
            <a:solidFill>
              <a:srgbClr val="CCCCCC"/>
            </a:solidFill>
            <a:prstDash val="solid"/>
            <a:round/>
            <a:headEnd type="none" w="sm" len="sm"/>
            <a:tailEnd type="none" w="sm" len="sm"/>
          </a:ln>
        </p:spPr>
      </p:cxnSp>
      <p:cxnSp>
        <p:nvCxnSpPr>
          <p:cNvPr id="136" name="Google Shape;136;g35ec7a65b47_0_0"/>
          <p:cNvCxnSpPr>
            <a:stCxn id="137" idx="2"/>
          </p:cNvCxnSpPr>
          <p:nvPr/>
        </p:nvCxnSpPr>
        <p:spPr>
          <a:xfrm rot="-5400000" flipH="1">
            <a:off x="6150418" y="3553628"/>
            <a:ext cx="1339800" cy="600"/>
          </a:xfrm>
          <a:prstGeom prst="bentConnector3">
            <a:avLst>
              <a:gd name="adj1" fmla="val 50000"/>
            </a:avLst>
          </a:prstGeom>
          <a:noFill/>
          <a:ln>
            <a:noFill/>
          </a:ln>
        </p:spPr>
      </p:cxnSp>
      <p:cxnSp>
        <p:nvCxnSpPr>
          <p:cNvPr id="138" name="Google Shape;138;g35ec7a65b47_0_0"/>
          <p:cNvCxnSpPr>
            <a:stCxn id="139" idx="2"/>
            <a:endCxn id="140" idx="0"/>
          </p:cNvCxnSpPr>
          <p:nvPr/>
        </p:nvCxnSpPr>
        <p:spPr>
          <a:xfrm rot="-5400000" flipH="1">
            <a:off x="3492143" y="3973793"/>
            <a:ext cx="77700" cy="600"/>
          </a:xfrm>
          <a:prstGeom prst="bentConnector3">
            <a:avLst>
              <a:gd name="adj1" fmla="val 49948"/>
            </a:avLst>
          </a:prstGeom>
          <a:noFill/>
          <a:ln w="9525" cap="flat" cmpd="sng">
            <a:solidFill>
              <a:srgbClr val="CCCCCC"/>
            </a:solidFill>
            <a:prstDash val="solid"/>
            <a:round/>
            <a:headEnd type="none" w="sm" len="sm"/>
            <a:tailEnd type="none" w="sm" len="sm"/>
          </a:ln>
        </p:spPr>
      </p:cxnSp>
      <p:cxnSp>
        <p:nvCxnSpPr>
          <p:cNvPr id="141" name="Google Shape;141;g35ec7a65b47_0_0"/>
          <p:cNvCxnSpPr>
            <a:stCxn id="142" idx="2"/>
          </p:cNvCxnSpPr>
          <p:nvPr/>
        </p:nvCxnSpPr>
        <p:spPr>
          <a:xfrm rot="-5400000" flipH="1">
            <a:off x="1406916" y="4003643"/>
            <a:ext cx="137400" cy="600"/>
          </a:xfrm>
          <a:prstGeom prst="bentConnector3">
            <a:avLst>
              <a:gd name="adj1" fmla="val 50005"/>
            </a:avLst>
          </a:prstGeom>
          <a:noFill/>
          <a:ln w="9525" cap="flat" cmpd="sng">
            <a:solidFill>
              <a:srgbClr val="CCCCCC"/>
            </a:solidFill>
            <a:prstDash val="solid"/>
            <a:round/>
            <a:headEnd type="none" w="sm" len="sm"/>
            <a:tailEnd type="none" w="sm" len="sm"/>
          </a:ln>
        </p:spPr>
      </p:cxnSp>
      <p:sp>
        <p:nvSpPr>
          <p:cNvPr id="143" name="Google Shape;143;g35ec7a65b47_0_0"/>
          <p:cNvSpPr txBox="1"/>
          <p:nvPr/>
        </p:nvSpPr>
        <p:spPr>
          <a:xfrm>
            <a:off x="239772" y="211050"/>
            <a:ext cx="2559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契約形態</a:t>
            </a:r>
            <a:endParaRPr sz="1400" b="1" i="0" u="none" strike="noStrike" cap="none">
              <a:solidFill>
                <a:schemeClr val="dk1"/>
              </a:solidFill>
              <a:latin typeface="Meiryo"/>
              <a:ea typeface="Meiryo"/>
              <a:cs typeface="Meiryo"/>
              <a:sym typeface="Meiryo"/>
            </a:endParaRPr>
          </a:p>
        </p:txBody>
      </p:sp>
      <p:sp>
        <p:nvSpPr>
          <p:cNvPr id="144" name="Google Shape;144;g35ec7a65b47_0_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145" name="Google Shape;145;g35ec7a65b47_0_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4</a:t>
            </a:fld>
            <a:endParaRPr sz="700"/>
          </a:p>
        </p:txBody>
      </p:sp>
      <p:sp>
        <p:nvSpPr>
          <p:cNvPr id="146" name="Google Shape;146;g35ec7a65b47_0_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47" name="Google Shape;147;g35ec7a65b47_0_0"/>
          <p:cNvSpPr/>
          <p:nvPr/>
        </p:nvSpPr>
        <p:spPr>
          <a:xfrm>
            <a:off x="5479680" y="648318"/>
            <a:ext cx="1179900" cy="463800"/>
          </a:xfrm>
          <a:prstGeom prst="roundRect">
            <a:avLst>
              <a:gd name="adj" fmla="val 0"/>
            </a:avLst>
          </a:prstGeom>
          <a:solidFill>
            <a:srgbClr val="36394B"/>
          </a:soli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TBS</a:t>
            </a:r>
            <a:endParaRPr sz="800" b="0" i="0" u="none" strike="noStrike" cap="none">
              <a:solidFill>
                <a:schemeClr val="lt1"/>
              </a:solidFill>
              <a:latin typeface="Meiryo"/>
              <a:ea typeface="Meiryo"/>
              <a:cs typeface="Meiryo"/>
              <a:sym typeface="Meiryo"/>
            </a:endParaRPr>
          </a:p>
        </p:txBody>
      </p:sp>
      <p:sp>
        <p:nvSpPr>
          <p:cNvPr id="148" name="Google Shape;148;g35ec7a65b47_0_0"/>
          <p:cNvSpPr/>
          <p:nvPr/>
        </p:nvSpPr>
        <p:spPr>
          <a:xfrm>
            <a:off x="1712450" y="648325"/>
            <a:ext cx="2195100" cy="1027800"/>
          </a:xfrm>
          <a:prstGeom prst="roundRect">
            <a:avLst>
              <a:gd name="adj" fmla="val 0"/>
            </a:avLst>
          </a:prstGeom>
          <a:gradFill>
            <a:gsLst>
              <a:gs pos="0">
                <a:srgbClr val="C68A65"/>
              </a:gs>
              <a:gs pos="100000">
                <a:srgbClr val="EAD5C7"/>
              </a:gs>
            </a:gsLst>
            <a:lin ang="2698631" scaled="0"/>
          </a:gradFill>
          <a:ln>
            <a:noFill/>
          </a:ln>
        </p:spPr>
        <p:txBody>
          <a:bodyPr spcFirstLastPara="1" wrap="square" lIns="82950" tIns="82950" rIns="82950" bIns="82950" anchor="ctr" anchorCtr="0">
            <a:noAutofit/>
          </a:bodyPr>
          <a:lstStyle/>
          <a:p>
            <a:pPr marL="0" marR="0" lvl="0" indent="0" algn="ctr" rtl="0">
              <a:lnSpc>
                <a:spcPct val="115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　　　　　　　　THIERRY MARX</a:t>
            </a:r>
            <a:endParaRPr sz="800" b="0" i="0" u="none" strike="noStrike" cap="none">
              <a:solidFill>
                <a:schemeClr val="lt1"/>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　　　　　　　　・レストラン</a:t>
            </a:r>
            <a:endParaRPr sz="800" b="0" i="0" u="none" strike="noStrike" cap="none">
              <a:solidFill>
                <a:schemeClr val="lt1"/>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　　　　　　　　・ベーカリー</a:t>
            </a:r>
            <a:endParaRPr sz="800" b="0" i="0" u="none" strike="noStrike" cap="none">
              <a:solidFill>
                <a:schemeClr val="lt1"/>
              </a:solidFill>
              <a:latin typeface="Meiryo"/>
              <a:ea typeface="Meiryo"/>
              <a:cs typeface="Meiryo"/>
              <a:sym typeface="Meiryo"/>
            </a:endParaRPr>
          </a:p>
        </p:txBody>
      </p:sp>
      <p:sp>
        <p:nvSpPr>
          <p:cNvPr id="149" name="Google Shape;149;g35ec7a65b47_0_0"/>
          <p:cNvSpPr/>
          <p:nvPr/>
        </p:nvSpPr>
        <p:spPr>
          <a:xfrm>
            <a:off x="5480966" y="1513554"/>
            <a:ext cx="1179900" cy="284700"/>
          </a:xfrm>
          <a:prstGeom prst="roundRect">
            <a:avLst>
              <a:gd name="adj" fmla="val 0"/>
            </a:avLst>
          </a:prstGeom>
          <a:solidFill>
            <a:srgbClr val="666666"/>
          </a:soli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サブライセンス会社</a:t>
            </a:r>
            <a:endParaRPr sz="800" b="0" i="0" u="none" strike="noStrike" cap="none">
              <a:solidFill>
                <a:schemeClr val="lt1"/>
              </a:solidFill>
              <a:latin typeface="Meiryo"/>
              <a:ea typeface="Meiryo"/>
              <a:cs typeface="Meiryo"/>
              <a:sym typeface="Meiryo"/>
            </a:endParaRPr>
          </a:p>
        </p:txBody>
      </p:sp>
      <p:sp>
        <p:nvSpPr>
          <p:cNvPr id="150" name="Google Shape;150;g35ec7a65b47_0_0"/>
          <p:cNvSpPr/>
          <p:nvPr/>
        </p:nvSpPr>
        <p:spPr>
          <a:xfrm>
            <a:off x="298040" y="2305350"/>
            <a:ext cx="1701000" cy="5787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RESTAURANT</a:t>
            </a:r>
            <a:endParaRPr sz="800" b="0" i="0" u="none" strike="noStrike" cap="none">
              <a:solidFill>
                <a:schemeClr val="lt1"/>
              </a:solidFill>
              <a:latin typeface="Meiryo"/>
              <a:ea typeface="Meiryo"/>
              <a:cs typeface="Meiryo"/>
              <a:sym typeface="Meiryo"/>
            </a:endParaRPr>
          </a:p>
        </p:txBody>
      </p:sp>
      <p:sp>
        <p:nvSpPr>
          <p:cNvPr id="151" name="Google Shape;151;g35ec7a65b47_0_0"/>
          <p:cNvSpPr/>
          <p:nvPr/>
        </p:nvSpPr>
        <p:spPr>
          <a:xfrm>
            <a:off x="2353426" y="2305350"/>
            <a:ext cx="1701000" cy="5787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BOULANGERIE</a:t>
            </a:r>
            <a:endParaRPr sz="800" b="0" i="0" u="none" strike="noStrike" cap="none">
              <a:solidFill>
                <a:schemeClr val="lt1"/>
              </a:solidFill>
              <a:latin typeface="Meiryo"/>
              <a:ea typeface="Meiryo"/>
              <a:cs typeface="Meiryo"/>
              <a:sym typeface="Meiryo"/>
            </a:endParaRPr>
          </a:p>
        </p:txBody>
      </p:sp>
      <p:sp>
        <p:nvSpPr>
          <p:cNvPr id="135" name="Google Shape;135;g35ec7a65b47_0_0"/>
          <p:cNvSpPr/>
          <p:nvPr/>
        </p:nvSpPr>
        <p:spPr>
          <a:xfrm>
            <a:off x="4819224" y="2305328"/>
            <a:ext cx="1236000" cy="5787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ACADEMY</a:t>
            </a:r>
            <a:endParaRPr sz="800" b="0" i="0" u="none" strike="noStrike" cap="none">
              <a:solidFill>
                <a:schemeClr val="lt1"/>
              </a:solidFill>
              <a:latin typeface="Meiryo"/>
              <a:ea typeface="Meiryo"/>
              <a:cs typeface="Meiryo"/>
              <a:sym typeface="Meiryo"/>
            </a:endParaRPr>
          </a:p>
        </p:txBody>
      </p:sp>
      <p:sp>
        <p:nvSpPr>
          <p:cNvPr id="137" name="Google Shape;137;g35ec7a65b47_0_0"/>
          <p:cNvSpPr/>
          <p:nvPr/>
        </p:nvSpPr>
        <p:spPr>
          <a:xfrm>
            <a:off x="6202018" y="2305328"/>
            <a:ext cx="1236000" cy="5787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LICENSE BUSINESS</a:t>
            </a:r>
            <a:endParaRPr sz="800" b="0" i="0" u="none" strike="noStrike" cap="none">
              <a:solidFill>
                <a:schemeClr val="lt1"/>
              </a:solidFill>
              <a:latin typeface="Meiryo"/>
              <a:ea typeface="Meiryo"/>
              <a:cs typeface="Meiryo"/>
              <a:sym typeface="Meiryo"/>
            </a:endParaRPr>
          </a:p>
        </p:txBody>
      </p:sp>
      <p:sp>
        <p:nvSpPr>
          <p:cNvPr id="133" name="Google Shape;133;g35ec7a65b47_0_0"/>
          <p:cNvSpPr/>
          <p:nvPr/>
        </p:nvSpPr>
        <p:spPr>
          <a:xfrm>
            <a:off x="7584825" y="2305328"/>
            <a:ext cx="1236000" cy="5787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PUBLISHING/MEDIA</a:t>
            </a:r>
            <a:endParaRPr sz="800" b="0" i="0" u="none" strike="noStrike" cap="none">
              <a:solidFill>
                <a:schemeClr val="lt1"/>
              </a:solidFill>
              <a:latin typeface="Meiryo"/>
              <a:ea typeface="Meiryo"/>
              <a:cs typeface="Meiryo"/>
              <a:sym typeface="Meiryo"/>
            </a:endParaRPr>
          </a:p>
        </p:txBody>
      </p:sp>
      <p:sp>
        <p:nvSpPr>
          <p:cNvPr id="152" name="Google Shape;152;g35ec7a65b47_0_0"/>
          <p:cNvSpPr/>
          <p:nvPr/>
        </p:nvSpPr>
        <p:spPr>
          <a:xfrm>
            <a:off x="5972655" y="5403957"/>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ACADEMIE</a:t>
            </a:r>
            <a:endParaRPr sz="800" b="0" i="0" u="none" strike="noStrike" cap="none">
              <a:solidFill>
                <a:schemeClr val="lt1"/>
              </a:solidFill>
              <a:latin typeface="Meiryo"/>
              <a:ea typeface="Meiryo"/>
              <a:cs typeface="Meiryo"/>
              <a:sym typeface="Meiryo"/>
            </a:endParaRPr>
          </a:p>
        </p:txBody>
      </p:sp>
      <p:cxnSp>
        <p:nvCxnSpPr>
          <p:cNvPr id="153" name="Google Shape;153;g35ec7a65b47_0_0"/>
          <p:cNvCxnSpPr>
            <a:stCxn id="147" idx="2"/>
            <a:endCxn id="149" idx="0"/>
          </p:cNvCxnSpPr>
          <p:nvPr/>
        </p:nvCxnSpPr>
        <p:spPr>
          <a:xfrm>
            <a:off x="6069630" y="1112118"/>
            <a:ext cx="1200" cy="401400"/>
          </a:xfrm>
          <a:prstGeom prst="straightConnector1">
            <a:avLst/>
          </a:prstGeom>
          <a:noFill/>
          <a:ln w="9525" cap="flat" cmpd="sng">
            <a:solidFill>
              <a:srgbClr val="CCCCCC"/>
            </a:solidFill>
            <a:prstDash val="solid"/>
            <a:round/>
            <a:headEnd type="none" w="sm" len="sm"/>
            <a:tailEnd type="none" w="sm" len="sm"/>
          </a:ln>
        </p:spPr>
      </p:cxnSp>
      <p:cxnSp>
        <p:nvCxnSpPr>
          <p:cNvPr id="154" name="Google Shape;154;g35ec7a65b47_0_0"/>
          <p:cNvCxnSpPr>
            <a:stCxn id="149" idx="2"/>
            <a:endCxn id="150" idx="0"/>
          </p:cNvCxnSpPr>
          <p:nvPr/>
        </p:nvCxnSpPr>
        <p:spPr>
          <a:xfrm rot="5400000">
            <a:off x="3356216" y="-409446"/>
            <a:ext cx="507000" cy="4922400"/>
          </a:xfrm>
          <a:prstGeom prst="bentConnector3">
            <a:avLst>
              <a:gd name="adj1" fmla="val 50009"/>
            </a:avLst>
          </a:prstGeom>
          <a:noFill/>
          <a:ln w="9525" cap="flat" cmpd="sng">
            <a:solidFill>
              <a:srgbClr val="CCCCCC"/>
            </a:solidFill>
            <a:prstDash val="solid"/>
            <a:round/>
            <a:headEnd type="none" w="sm" len="sm"/>
            <a:tailEnd type="none" w="sm" len="sm"/>
          </a:ln>
        </p:spPr>
      </p:cxnSp>
      <p:cxnSp>
        <p:nvCxnSpPr>
          <p:cNvPr id="155" name="Google Shape;155;g35ec7a65b47_0_0"/>
          <p:cNvCxnSpPr>
            <a:stCxn id="149" idx="2"/>
            <a:endCxn id="151" idx="0"/>
          </p:cNvCxnSpPr>
          <p:nvPr/>
        </p:nvCxnSpPr>
        <p:spPr>
          <a:xfrm rot="5400000">
            <a:off x="4383866" y="618204"/>
            <a:ext cx="507000" cy="2867100"/>
          </a:xfrm>
          <a:prstGeom prst="bentConnector3">
            <a:avLst>
              <a:gd name="adj1" fmla="val 50009"/>
            </a:avLst>
          </a:prstGeom>
          <a:noFill/>
          <a:ln w="9525" cap="flat" cmpd="sng">
            <a:solidFill>
              <a:srgbClr val="CCCCCC"/>
            </a:solidFill>
            <a:prstDash val="solid"/>
            <a:round/>
            <a:headEnd type="none" w="sm" len="sm"/>
            <a:tailEnd type="none" w="sm" len="sm"/>
          </a:ln>
        </p:spPr>
      </p:cxnSp>
      <p:cxnSp>
        <p:nvCxnSpPr>
          <p:cNvPr id="156" name="Google Shape;156;g35ec7a65b47_0_0"/>
          <p:cNvCxnSpPr>
            <a:stCxn id="149" idx="2"/>
            <a:endCxn id="133" idx="0"/>
          </p:cNvCxnSpPr>
          <p:nvPr/>
        </p:nvCxnSpPr>
        <p:spPr>
          <a:xfrm rot="-5400000" flipH="1">
            <a:off x="6883316" y="985854"/>
            <a:ext cx="507000" cy="2131800"/>
          </a:xfrm>
          <a:prstGeom prst="bentConnector3">
            <a:avLst>
              <a:gd name="adj1" fmla="val 50007"/>
            </a:avLst>
          </a:prstGeom>
          <a:noFill/>
          <a:ln w="9525" cap="flat" cmpd="sng">
            <a:solidFill>
              <a:srgbClr val="CCCCCC"/>
            </a:solidFill>
            <a:prstDash val="solid"/>
            <a:round/>
            <a:headEnd type="none" w="sm" len="sm"/>
            <a:tailEnd type="none" w="sm" len="sm"/>
          </a:ln>
        </p:spPr>
      </p:cxnSp>
      <p:cxnSp>
        <p:nvCxnSpPr>
          <p:cNvPr id="157" name="Google Shape;157;g35ec7a65b47_0_0"/>
          <p:cNvCxnSpPr>
            <a:stCxn id="149" idx="2"/>
            <a:endCxn id="137" idx="0"/>
          </p:cNvCxnSpPr>
          <p:nvPr/>
        </p:nvCxnSpPr>
        <p:spPr>
          <a:xfrm rot="-5400000" flipH="1">
            <a:off x="6191966" y="1677204"/>
            <a:ext cx="507000" cy="749100"/>
          </a:xfrm>
          <a:prstGeom prst="bentConnector3">
            <a:avLst>
              <a:gd name="adj1" fmla="val 50007"/>
            </a:avLst>
          </a:prstGeom>
          <a:noFill/>
          <a:ln w="9525" cap="flat" cmpd="sng">
            <a:solidFill>
              <a:srgbClr val="CCCCCC"/>
            </a:solidFill>
            <a:prstDash val="solid"/>
            <a:round/>
            <a:headEnd type="none" w="sm" len="sm"/>
            <a:tailEnd type="none" w="sm" len="sm"/>
          </a:ln>
        </p:spPr>
      </p:cxnSp>
      <p:cxnSp>
        <p:nvCxnSpPr>
          <p:cNvPr id="158" name="Google Shape;158;g35ec7a65b47_0_0"/>
          <p:cNvCxnSpPr>
            <a:stCxn id="149" idx="2"/>
            <a:endCxn id="135" idx="0"/>
          </p:cNvCxnSpPr>
          <p:nvPr/>
        </p:nvCxnSpPr>
        <p:spPr>
          <a:xfrm rot="5400000">
            <a:off x="5500616" y="1734954"/>
            <a:ext cx="507000" cy="633600"/>
          </a:xfrm>
          <a:prstGeom prst="bentConnector3">
            <a:avLst>
              <a:gd name="adj1" fmla="val 50007"/>
            </a:avLst>
          </a:prstGeom>
          <a:noFill/>
          <a:ln w="9525" cap="flat" cmpd="sng">
            <a:solidFill>
              <a:srgbClr val="CCCCCC"/>
            </a:solidFill>
            <a:prstDash val="solid"/>
            <a:round/>
            <a:headEnd type="none" w="sm" len="sm"/>
            <a:tailEnd type="none" w="sm" len="sm"/>
          </a:ln>
        </p:spPr>
      </p:cxnSp>
      <p:sp>
        <p:nvSpPr>
          <p:cNvPr id="159" name="Google Shape;159;g35ec7a65b47_0_0"/>
          <p:cNvSpPr/>
          <p:nvPr/>
        </p:nvSpPr>
        <p:spPr>
          <a:xfrm>
            <a:off x="624816" y="3042831"/>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総支配人</a:t>
            </a:r>
            <a:endParaRPr sz="800" b="0" i="0" u="none" strike="noStrike" cap="none">
              <a:solidFill>
                <a:schemeClr val="lt1"/>
              </a:solidFill>
              <a:latin typeface="Meiryo"/>
              <a:ea typeface="Meiryo"/>
              <a:cs typeface="Meiryo"/>
              <a:sym typeface="Meiryo"/>
            </a:endParaRPr>
          </a:p>
        </p:txBody>
      </p:sp>
      <p:sp>
        <p:nvSpPr>
          <p:cNvPr id="142" name="Google Shape;142;g35ec7a65b47_0_0"/>
          <p:cNvSpPr/>
          <p:nvPr/>
        </p:nvSpPr>
        <p:spPr>
          <a:xfrm>
            <a:off x="624816" y="352784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シェフベーカリー&amp;パティシエ</a:t>
            </a:r>
            <a:endParaRPr sz="800" b="0" i="0" u="none" strike="noStrike" cap="none">
              <a:solidFill>
                <a:schemeClr val="lt1"/>
              </a:solidFill>
              <a:latin typeface="Meiryo"/>
              <a:ea typeface="Meiryo"/>
              <a:cs typeface="Meiryo"/>
              <a:sym typeface="Meiryo"/>
            </a:endParaRPr>
          </a:p>
        </p:txBody>
      </p:sp>
      <p:sp>
        <p:nvSpPr>
          <p:cNvPr id="160" name="Google Shape;160;g35ec7a65b47_0_0"/>
          <p:cNvSpPr/>
          <p:nvPr/>
        </p:nvSpPr>
        <p:spPr>
          <a:xfrm>
            <a:off x="624816" y="401286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1" name="Google Shape;161;g35ec7a65b47_0_0"/>
          <p:cNvSpPr/>
          <p:nvPr/>
        </p:nvSpPr>
        <p:spPr>
          <a:xfrm>
            <a:off x="2680193" y="3042831"/>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総支配人</a:t>
            </a:r>
            <a:endParaRPr sz="800" b="0" i="0" u="none" strike="noStrike" cap="none">
              <a:solidFill>
                <a:schemeClr val="lt1"/>
              </a:solidFill>
              <a:latin typeface="Meiryo"/>
              <a:ea typeface="Meiryo"/>
              <a:cs typeface="Meiryo"/>
              <a:sym typeface="Meiryo"/>
            </a:endParaRPr>
          </a:p>
        </p:txBody>
      </p:sp>
      <p:sp>
        <p:nvSpPr>
          <p:cNvPr id="139" name="Google Shape;139;g35ec7a65b47_0_0"/>
          <p:cNvSpPr/>
          <p:nvPr/>
        </p:nvSpPr>
        <p:spPr>
          <a:xfrm>
            <a:off x="2680193" y="352784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シェフベーカリー&amp;パティシエ</a:t>
            </a:r>
            <a:endParaRPr sz="800" b="0" i="0" u="none" strike="noStrike" cap="none">
              <a:solidFill>
                <a:schemeClr val="lt1"/>
              </a:solidFill>
              <a:latin typeface="Meiryo"/>
              <a:ea typeface="Meiryo"/>
              <a:cs typeface="Meiryo"/>
              <a:sym typeface="Meiryo"/>
            </a:endParaRPr>
          </a:p>
        </p:txBody>
      </p:sp>
      <p:sp>
        <p:nvSpPr>
          <p:cNvPr id="140" name="Google Shape;140;g35ec7a65b47_0_0"/>
          <p:cNvSpPr/>
          <p:nvPr/>
        </p:nvSpPr>
        <p:spPr>
          <a:xfrm>
            <a:off x="2680193" y="4012863"/>
            <a:ext cx="1701000" cy="407400"/>
          </a:xfrm>
          <a:prstGeom prst="roundRect">
            <a:avLst>
              <a:gd name="adj" fmla="val 0"/>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2" name="Google Shape;162;g35ec7a65b47_0_0"/>
          <p:cNvSpPr/>
          <p:nvPr/>
        </p:nvSpPr>
        <p:spPr>
          <a:xfrm>
            <a:off x="4819199" y="3253762"/>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施設マネージャー</a:t>
            </a:r>
            <a:endParaRPr sz="800" b="0" i="0" u="none" strike="noStrike" cap="none">
              <a:solidFill>
                <a:schemeClr val="lt1"/>
              </a:solidFill>
              <a:latin typeface="Meiryo"/>
              <a:ea typeface="Meiryo"/>
              <a:cs typeface="Meiryo"/>
              <a:sym typeface="Meiryo"/>
            </a:endParaRPr>
          </a:p>
        </p:txBody>
      </p:sp>
      <p:sp>
        <p:nvSpPr>
          <p:cNvPr id="163" name="Google Shape;163;g35ec7a65b47_0_0"/>
          <p:cNvSpPr/>
          <p:nvPr/>
        </p:nvSpPr>
        <p:spPr>
          <a:xfrm>
            <a:off x="4819199" y="4012839"/>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4" name="Google Shape;164;g35ec7a65b47_0_0"/>
          <p:cNvSpPr/>
          <p:nvPr/>
        </p:nvSpPr>
        <p:spPr>
          <a:xfrm>
            <a:off x="6202024" y="3253762"/>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製品マネージャー</a:t>
            </a:r>
            <a:endParaRPr sz="800" b="0" i="0" u="none" strike="noStrike" cap="none">
              <a:solidFill>
                <a:schemeClr val="lt1"/>
              </a:solidFill>
              <a:latin typeface="Meiryo"/>
              <a:ea typeface="Meiryo"/>
              <a:cs typeface="Meiryo"/>
              <a:sym typeface="Meiryo"/>
            </a:endParaRPr>
          </a:p>
        </p:txBody>
      </p:sp>
      <p:sp>
        <p:nvSpPr>
          <p:cNvPr id="165" name="Google Shape;165;g35ec7a65b47_0_0"/>
          <p:cNvSpPr/>
          <p:nvPr/>
        </p:nvSpPr>
        <p:spPr>
          <a:xfrm>
            <a:off x="6202024" y="4012839"/>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sp>
        <p:nvSpPr>
          <p:cNvPr id="166" name="Google Shape;166;g35ec7a65b47_0_0"/>
          <p:cNvSpPr/>
          <p:nvPr/>
        </p:nvSpPr>
        <p:spPr>
          <a:xfrm>
            <a:off x="7584849" y="3253762"/>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メディアマネージャー</a:t>
            </a:r>
            <a:endParaRPr sz="800" b="0" i="0" u="none" strike="noStrike" cap="none">
              <a:solidFill>
                <a:schemeClr val="lt1"/>
              </a:solidFill>
              <a:latin typeface="Meiryo"/>
              <a:ea typeface="Meiryo"/>
              <a:cs typeface="Meiryo"/>
              <a:sym typeface="Meiryo"/>
            </a:endParaRPr>
          </a:p>
        </p:txBody>
      </p:sp>
      <p:sp>
        <p:nvSpPr>
          <p:cNvPr id="167" name="Google Shape;167;g35ec7a65b47_0_0"/>
          <p:cNvSpPr/>
          <p:nvPr/>
        </p:nvSpPr>
        <p:spPr>
          <a:xfrm>
            <a:off x="7584849" y="4012839"/>
            <a:ext cx="1236000" cy="407400"/>
          </a:xfrm>
          <a:prstGeom prst="roundRect">
            <a:avLst>
              <a:gd name="adj" fmla="val 0"/>
            </a:avLst>
          </a:prstGeom>
          <a:gradFill>
            <a:gsLst>
              <a:gs pos="0">
                <a:srgbClr val="DDDDDD"/>
              </a:gs>
              <a:gs pos="24000">
                <a:srgbClr val="B7B7B7"/>
              </a:gs>
              <a:gs pos="100000">
                <a:srgbClr val="919191"/>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スタッフ</a:t>
            </a:r>
            <a:endParaRPr sz="800" b="0" i="0" u="none" strike="noStrike" cap="none">
              <a:solidFill>
                <a:schemeClr val="lt1"/>
              </a:solidFill>
              <a:latin typeface="Meiryo"/>
              <a:ea typeface="Meiryo"/>
              <a:cs typeface="Meiryo"/>
              <a:sym typeface="Meiryo"/>
            </a:endParaRPr>
          </a:p>
        </p:txBody>
      </p:sp>
      <p:cxnSp>
        <p:nvCxnSpPr>
          <p:cNvPr id="168" name="Google Shape;168;g35ec7a65b47_0_0"/>
          <p:cNvCxnSpPr>
            <a:stCxn id="147" idx="1"/>
          </p:cNvCxnSpPr>
          <p:nvPr/>
        </p:nvCxnSpPr>
        <p:spPr>
          <a:xfrm flipH="1">
            <a:off x="3897480" y="880218"/>
            <a:ext cx="1582200" cy="3600"/>
          </a:xfrm>
          <a:prstGeom prst="straightConnector1">
            <a:avLst/>
          </a:prstGeom>
          <a:noFill/>
          <a:ln w="9525" cap="flat" cmpd="sng">
            <a:solidFill>
              <a:srgbClr val="CCCCCC"/>
            </a:solidFill>
            <a:prstDash val="solid"/>
            <a:round/>
            <a:headEnd type="none" w="sm" len="sm"/>
            <a:tailEnd type="none" w="sm" len="sm"/>
          </a:ln>
        </p:spPr>
      </p:cxnSp>
      <p:sp>
        <p:nvSpPr>
          <p:cNvPr id="169" name="Google Shape;169;g35ec7a65b47_0_0"/>
          <p:cNvSpPr txBox="1"/>
          <p:nvPr/>
        </p:nvSpPr>
        <p:spPr>
          <a:xfrm>
            <a:off x="4382992" y="790218"/>
            <a:ext cx="6213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highlight>
                  <a:schemeClr val="lt1"/>
                </a:highlight>
                <a:latin typeface="Meiryo"/>
                <a:ea typeface="Meiryo"/>
                <a:cs typeface="Meiryo"/>
                <a:sym typeface="Meiryo"/>
              </a:rPr>
              <a:t>直接契約</a:t>
            </a:r>
            <a:endParaRPr sz="800" b="0" i="0" u="none" strike="noStrike" cap="none">
              <a:solidFill>
                <a:srgbClr val="C68A65"/>
              </a:solidFill>
              <a:highlight>
                <a:schemeClr val="lt1"/>
              </a:highlight>
              <a:latin typeface="Meiryo"/>
              <a:ea typeface="Meiryo"/>
              <a:cs typeface="Meiryo"/>
              <a:sym typeface="Meiryo"/>
            </a:endParaRPr>
          </a:p>
        </p:txBody>
      </p:sp>
      <p:sp>
        <p:nvSpPr>
          <p:cNvPr id="170" name="Google Shape;170;g35ec7a65b47_0_0"/>
          <p:cNvSpPr txBox="1"/>
          <p:nvPr/>
        </p:nvSpPr>
        <p:spPr>
          <a:xfrm>
            <a:off x="5760242" y="1227178"/>
            <a:ext cx="6213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888888"/>
                </a:solidFill>
                <a:highlight>
                  <a:schemeClr val="lt1"/>
                </a:highlight>
                <a:latin typeface="Meiryo"/>
                <a:ea typeface="Meiryo"/>
                <a:cs typeface="Meiryo"/>
                <a:sym typeface="Meiryo"/>
              </a:rPr>
              <a:t>利用許諾</a:t>
            </a:r>
            <a:endParaRPr sz="800" b="0" i="0" u="none" strike="noStrike" cap="none">
              <a:solidFill>
                <a:srgbClr val="888888"/>
              </a:solidFill>
              <a:highlight>
                <a:schemeClr val="lt1"/>
              </a:highlight>
              <a:latin typeface="Meiryo"/>
              <a:ea typeface="Meiryo"/>
              <a:cs typeface="Meiryo"/>
              <a:sym typeface="Meiryo"/>
            </a:endParaRPr>
          </a:p>
        </p:txBody>
      </p:sp>
      <p:cxnSp>
        <p:nvCxnSpPr>
          <p:cNvPr id="171" name="Google Shape;171;g35ec7a65b47_0_0"/>
          <p:cNvCxnSpPr/>
          <p:nvPr/>
        </p:nvCxnSpPr>
        <p:spPr>
          <a:xfrm>
            <a:off x="374400" y="4670890"/>
            <a:ext cx="3873000" cy="0"/>
          </a:xfrm>
          <a:prstGeom prst="straightConnector1">
            <a:avLst/>
          </a:prstGeom>
          <a:noFill/>
          <a:ln w="9525" cap="flat" cmpd="sng">
            <a:solidFill>
              <a:srgbClr val="C68A65"/>
            </a:solidFill>
            <a:prstDash val="solid"/>
            <a:round/>
            <a:headEnd type="triangle" w="med" len="med"/>
            <a:tailEnd type="triangle" w="med" len="med"/>
          </a:ln>
        </p:spPr>
      </p:cxnSp>
      <p:cxnSp>
        <p:nvCxnSpPr>
          <p:cNvPr id="172" name="Google Shape;172;g35ec7a65b47_0_0"/>
          <p:cNvCxnSpPr/>
          <p:nvPr/>
        </p:nvCxnSpPr>
        <p:spPr>
          <a:xfrm rot="10800000" flipH="1">
            <a:off x="4836600" y="4670865"/>
            <a:ext cx="3928200" cy="12300"/>
          </a:xfrm>
          <a:prstGeom prst="straightConnector1">
            <a:avLst/>
          </a:prstGeom>
          <a:noFill/>
          <a:ln w="9525" cap="flat" cmpd="sng">
            <a:solidFill>
              <a:srgbClr val="888888"/>
            </a:solidFill>
            <a:prstDash val="solid"/>
            <a:round/>
            <a:headEnd type="triangle" w="med" len="med"/>
            <a:tailEnd type="triangle" w="med" len="med"/>
          </a:ln>
        </p:spPr>
      </p:cxnSp>
      <p:sp>
        <p:nvSpPr>
          <p:cNvPr id="173" name="Google Shape;173;g35ec7a65b47_0_0"/>
          <p:cNvSpPr txBox="1"/>
          <p:nvPr/>
        </p:nvSpPr>
        <p:spPr>
          <a:xfrm>
            <a:off x="6223710" y="4585114"/>
            <a:ext cx="11154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888888"/>
                </a:solidFill>
                <a:highlight>
                  <a:schemeClr val="lt1"/>
                </a:highlight>
                <a:latin typeface="Meiryo"/>
                <a:ea typeface="Meiryo"/>
                <a:cs typeface="Meiryo"/>
                <a:sym typeface="Meiryo"/>
              </a:rPr>
              <a:t>TBSの直接運営</a:t>
            </a:r>
            <a:endParaRPr sz="800" b="0" i="0" u="none" strike="noStrike" cap="none">
              <a:solidFill>
                <a:srgbClr val="888888"/>
              </a:solidFill>
              <a:highlight>
                <a:schemeClr val="lt1"/>
              </a:highlight>
              <a:latin typeface="Meiryo"/>
              <a:ea typeface="Meiryo"/>
              <a:cs typeface="Meiryo"/>
              <a:sym typeface="Meiryo"/>
            </a:endParaRPr>
          </a:p>
        </p:txBody>
      </p:sp>
      <p:sp>
        <p:nvSpPr>
          <p:cNvPr id="174" name="Google Shape;174;g35ec7a65b47_0_0"/>
          <p:cNvSpPr txBox="1"/>
          <p:nvPr/>
        </p:nvSpPr>
        <p:spPr>
          <a:xfrm>
            <a:off x="1683385" y="4579039"/>
            <a:ext cx="1115400" cy="1836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highlight>
                  <a:schemeClr val="lt1"/>
                </a:highlight>
                <a:latin typeface="Meiryo"/>
                <a:ea typeface="Meiryo"/>
                <a:cs typeface="Meiryo"/>
                <a:sym typeface="Meiryo"/>
              </a:rPr>
              <a:t>当社の事業領域</a:t>
            </a:r>
            <a:endParaRPr sz="800" b="0" i="0" u="none" strike="noStrike" cap="none">
              <a:solidFill>
                <a:srgbClr val="C68A65"/>
              </a:solidFill>
              <a:highlight>
                <a:schemeClr val="lt1"/>
              </a:highlight>
              <a:latin typeface="Meiryo"/>
              <a:ea typeface="Meiryo"/>
              <a:cs typeface="Meiryo"/>
              <a:sym typeface="Meiryo"/>
            </a:endParaRPr>
          </a:p>
        </p:txBody>
      </p:sp>
      <p:pic>
        <p:nvPicPr>
          <p:cNvPr id="175" name="Google Shape;175;g35ec7a65b47_0_0"/>
          <p:cNvPicPr preferRelativeResize="0"/>
          <p:nvPr/>
        </p:nvPicPr>
        <p:blipFill rotWithShape="1">
          <a:blip r:embed="rId3">
            <a:alphaModFix/>
          </a:blip>
          <a:srcRect l="59666" t="5993" b="20207"/>
          <a:stretch/>
        </p:blipFill>
        <p:spPr>
          <a:xfrm>
            <a:off x="1849030" y="790228"/>
            <a:ext cx="825300" cy="773400"/>
          </a:xfrm>
          <a:prstGeom prst="ellipse">
            <a:avLst/>
          </a:prstGeom>
          <a:noFill/>
          <a:ln>
            <a:noFill/>
          </a:ln>
        </p:spPr>
      </p:pic>
      <p:cxnSp>
        <p:nvCxnSpPr>
          <p:cNvPr id="176" name="Google Shape;176;g35ec7a65b47_0_0"/>
          <p:cNvCxnSpPr>
            <a:stCxn id="159" idx="1"/>
          </p:cNvCxnSpPr>
          <p:nvPr/>
        </p:nvCxnSpPr>
        <p:spPr>
          <a:xfrm rot="10800000">
            <a:off x="447816" y="2888331"/>
            <a:ext cx="177000" cy="358200"/>
          </a:xfrm>
          <a:prstGeom prst="bentConnector2">
            <a:avLst/>
          </a:prstGeom>
          <a:noFill/>
          <a:ln w="9525" cap="flat" cmpd="sng">
            <a:solidFill>
              <a:srgbClr val="CCCCCC"/>
            </a:solidFill>
            <a:prstDash val="solid"/>
            <a:round/>
            <a:headEnd type="none" w="sm" len="sm"/>
            <a:tailEnd type="none" w="sm" len="sm"/>
          </a:ln>
        </p:spPr>
      </p:cxnSp>
      <p:cxnSp>
        <p:nvCxnSpPr>
          <p:cNvPr id="177" name="Google Shape;177;g35ec7a65b47_0_0"/>
          <p:cNvCxnSpPr>
            <a:stCxn id="142" idx="1"/>
          </p:cNvCxnSpPr>
          <p:nvPr/>
        </p:nvCxnSpPr>
        <p:spPr>
          <a:xfrm rot="10800000">
            <a:off x="447816" y="2896043"/>
            <a:ext cx="177000" cy="835500"/>
          </a:xfrm>
          <a:prstGeom prst="bentConnector2">
            <a:avLst/>
          </a:prstGeom>
          <a:noFill/>
          <a:ln w="9525" cap="flat" cmpd="sng">
            <a:solidFill>
              <a:srgbClr val="CCCCCC"/>
            </a:solidFill>
            <a:prstDash val="solid"/>
            <a:round/>
            <a:headEnd type="none" w="sm" len="sm"/>
            <a:tailEnd type="none" w="sm" len="sm"/>
          </a:ln>
        </p:spPr>
      </p:cxnSp>
      <p:cxnSp>
        <p:nvCxnSpPr>
          <p:cNvPr id="178" name="Google Shape;178;g35ec7a65b47_0_0"/>
          <p:cNvCxnSpPr/>
          <p:nvPr/>
        </p:nvCxnSpPr>
        <p:spPr>
          <a:xfrm rot="5400000" flipH="1">
            <a:off x="2409890" y="2977388"/>
            <a:ext cx="358200" cy="177000"/>
          </a:xfrm>
          <a:prstGeom prst="bentConnector2">
            <a:avLst/>
          </a:prstGeom>
          <a:noFill/>
          <a:ln w="9525" cap="flat" cmpd="sng">
            <a:solidFill>
              <a:srgbClr val="CCCCCC"/>
            </a:solidFill>
            <a:prstDash val="solid"/>
            <a:round/>
            <a:headEnd type="none" w="sm" len="sm"/>
            <a:tailEnd type="none" w="sm" len="sm"/>
          </a:ln>
        </p:spPr>
      </p:cxnSp>
      <p:cxnSp>
        <p:nvCxnSpPr>
          <p:cNvPr id="179" name="Google Shape;179;g35ec7a65b47_0_0"/>
          <p:cNvCxnSpPr/>
          <p:nvPr/>
        </p:nvCxnSpPr>
        <p:spPr>
          <a:xfrm rot="5400000" flipH="1">
            <a:off x="2171240" y="3223750"/>
            <a:ext cx="835500" cy="177000"/>
          </a:xfrm>
          <a:prstGeom prst="bentConnector2">
            <a:avLst/>
          </a:prstGeom>
          <a:noFill/>
          <a:ln w="9525" cap="flat" cmpd="sng">
            <a:solidFill>
              <a:srgbClr val="CCCCC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5ec7a65b47_0_10"/>
          <p:cNvSpPr/>
          <p:nvPr/>
        </p:nvSpPr>
        <p:spPr>
          <a:xfrm>
            <a:off x="4715000" y="780850"/>
            <a:ext cx="3939600" cy="3277800"/>
          </a:xfrm>
          <a:prstGeom prst="roundRect">
            <a:avLst>
              <a:gd name="adj" fmla="val 1463"/>
            </a:avLst>
          </a:prstGeom>
          <a:gradFill>
            <a:gsLst>
              <a:gs pos="0">
                <a:srgbClr val="D5AA8F"/>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50000"/>
              </a:lnSpc>
              <a:spcBef>
                <a:spcPts val="0"/>
              </a:spcBef>
              <a:spcAft>
                <a:spcPts val="0"/>
              </a:spcAft>
              <a:buClr>
                <a:srgbClr val="000000"/>
              </a:buClr>
              <a:buSzPts val="1000"/>
              <a:buFont typeface="Arial"/>
              <a:buNone/>
            </a:pPr>
            <a:endParaRPr sz="1000" b="0" i="0" u="none" strike="noStrike" cap="none">
              <a:solidFill>
                <a:srgbClr val="C68A65"/>
              </a:solidFill>
              <a:latin typeface="Meiryo"/>
              <a:ea typeface="Meiryo"/>
              <a:cs typeface="Meiryo"/>
              <a:sym typeface="Meiryo"/>
            </a:endParaRPr>
          </a:p>
        </p:txBody>
      </p:sp>
      <p:sp>
        <p:nvSpPr>
          <p:cNvPr id="185" name="Google Shape;185;g35ec7a65b47_0_10"/>
          <p:cNvSpPr/>
          <p:nvPr/>
        </p:nvSpPr>
        <p:spPr>
          <a:xfrm>
            <a:off x="491825" y="2478495"/>
            <a:ext cx="3939600" cy="1580100"/>
          </a:xfrm>
          <a:prstGeom prst="roundRect">
            <a:avLst>
              <a:gd name="adj" fmla="val 4223"/>
            </a:avLst>
          </a:prstGeom>
          <a:gradFill>
            <a:gsLst>
              <a:gs pos="0">
                <a:srgbClr val="D5AA8F"/>
              </a:gs>
              <a:gs pos="66000">
                <a:srgbClr val="EAD5C7"/>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フラッグシップショップオープン</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地方都市での多店舗展開</a:t>
            </a:r>
            <a:endParaRPr sz="1000" b="0" i="0" u="none" strike="noStrike" cap="none">
              <a:solidFill>
                <a:srgbClr val="C68A65"/>
              </a:solidFill>
              <a:latin typeface="Meiryo"/>
              <a:ea typeface="Meiryo"/>
              <a:cs typeface="Meiryo"/>
              <a:sym typeface="Meiryo"/>
            </a:endParaRPr>
          </a:p>
        </p:txBody>
      </p:sp>
      <p:sp>
        <p:nvSpPr>
          <p:cNvPr id="186" name="Google Shape;186;g35ec7a65b47_0_10"/>
          <p:cNvSpPr/>
          <p:nvPr/>
        </p:nvSpPr>
        <p:spPr>
          <a:xfrm>
            <a:off x="491825" y="780850"/>
            <a:ext cx="3939600" cy="1580100"/>
          </a:xfrm>
          <a:prstGeom prst="roundRect">
            <a:avLst>
              <a:gd name="adj" fmla="val 3834"/>
            </a:avLst>
          </a:prstGeom>
          <a:gradFill>
            <a:gsLst>
              <a:gs pos="0">
                <a:srgbClr val="D5AA8F"/>
              </a:gs>
              <a:gs pos="66000">
                <a:srgbClr val="EAD5C7"/>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フラッグシップショップオープン</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5年間に10店舗オープン</a:t>
            </a:r>
            <a:endParaRPr sz="1000" b="0" i="0" u="none" strike="noStrike" cap="none">
              <a:solidFill>
                <a:srgbClr val="C68A65"/>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1000"/>
              <a:buFont typeface="Arial"/>
              <a:buNone/>
            </a:pPr>
            <a:r>
              <a:rPr lang="ja-JP" sz="1000" b="0" i="0" u="none" strike="noStrike" cap="none">
                <a:solidFill>
                  <a:srgbClr val="C68A65"/>
                </a:solidFill>
                <a:latin typeface="Meiryo"/>
                <a:ea typeface="Meiryo"/>
                <a:cs typeface="Meiryo"/>
                <a:sym typeface="Meiryo"/>
              </a:rPr>
              <a:t>　　冷凍パンの卸売</a:t>
            </a:r>
            <a:endParaRPr sz="1000" b="0" i="0" u="none" strike="noStrike" cap="none">
              <a:solidFill>
                <a:srgbClr val="C68A65"/>
              </a:solidFill>
              <a:latin typeface="Meiryo"/>
              <a:ea typeface="Meiryo"/>
              <a:cs typeface="Meiryo"/>
              <a:sym typeface="Meiryo"/>
            </a:endParaRPr>
          </a:p>
        </p:txBody>
      </p:sp>
      <p:sp>
        <p:nvSpPr>
          <p:cNvPr id="187" name="Google Shape;187;g35ec7a65b47_0_10"/>
          <p:cNvSpPr txBox="1"/>
          <p:nvPr/>
        </p:nvSpPr>
        <p:spPr>
          <a:xfrm>
            <a:off x="239777" y="211050"/>
            <a:ext cx="31359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ビジネス展開</a:t>
            </a:r>
            <a:endParaRPr sz="1400" b="1" i="0" u="none" strike="noStrike" cap="none">
              <a:solidFill>
                <a:schemeClr val="dk1"/>
              </a:solidFill>
              <a:latin typeface="Meiryo"/>
              <a:ea typeface="Meiryo"/>
              <a:cs typeface="Meiryo"/>
              <a:sym typeface="Meiryo"/>
            </a:endParaRPr>
          </a:p>
        </p:txBody>
      </p:sp>
      <p:pic>
        <p:nvPicPr>
          <p:cNvPr id="188" name="Google Shape;188;g35ec7a65b47_0_10"/>
          <p:cNvPicPr preferRelativeResize="0"/>
          <p:nvPr/>
        </p:nvPicPr>
        <p:blipFill rotWithShape="1">
          <a:blip r:embed="rId3">
            <a:alphaModFix/>
          </a:blip>
          <a:srcRect l="24737" t="62945" r="54669"/>
          <a:stretch/>
        </p:blipFill>
        <p:spPr>
          <a:xfrm>
            <a:off x="5083880" y="1956102"/>
            <a:ext cx="906600" cy="913800"/>
          </a:xfrm>
          <a:prstGeom prst="ellipse">
            <a:avLst/>
          </a:prstGeom>
          <a:noFill/>
          <a:ln>
            <a:noFill/>
          </a:ln>
        </p:spPr>
      </p:pic>
      <p:sp>
        <p:nvSpPr>
          <p:cNvPr id="189" name="Google Shape;189;g35ec7a65b47_0_1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190" name="Google Shape;190;g35ec7a65b47_0_1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5</a:t>
            </a:fld>
            <a:endParaRPr sz="700"/>
          </a:p>
        </p:txBody>
      </p:sp>
      <p:sp>
        <p:nvSpPr>
          <p:cNvPr id="191" name="Google Shape;191;g35ec7a65b47_0_1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192" name="Google Shape;192;g35ec7a65b47_0_10"/>
          <p:cNvSpPr txBox="1"/>
          <p:nvPr/>
        </p:nvSpPr>
        <p:spPr>
          <a:xfrm>
            <a:off x="6101554" y="2466339"/>
            <a:ext cx="1896000" cy="315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新しい料理雑誌の提案</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料理テレビ番組出演</a:t>
            </a:r>
            <a:endParaRPr sz="800" b="0" i="0" u="none" strike="noStrike" cap="none">
              <a:solidFill>
                <a:srgbClr val="C68A65"/>
              </a:solidFill>
              <a:latin typeface="Meiryo"/>
              <a:ea typeface="Meiryo"/>
              <a:cs typeface="Meiryo"/>
              <a:sym typeface="Meiryo"/>
            </a:endParaRPr>
          </a:p>
        </p:txBody>
      </p:sp>
      <p:sp>
        <p:nvSpPr>
          <p:cNvPr id="193" name="Google Shape;193;g35ec7a65b47_0_10"/>
          <p:cNvSpPr txBox="1"/>
          <p:nvPr/>
        </p:nvSpPr>
        <p:spPr>
          <a:xfrm>
            <a:off x="6101555" y="3558839"/>
            <a:ext cx="1896000" cy="315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幅広い世代がアクセスできる料理学校</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プロへの調理指導</a:t>
            </a:r>
            <a:endParaRPr sz="800" b="0" i="0" u="none" strike="noStrike" cap="none">
              <a:solidFill>
                <a:srgbClr val="C68A65"/>
              </a:solidFill>
              <a:latin typeface="Meiryo"/>
              <a:ea typeface="Meiryo"/>
              <a:cs typeface="Meiryo"/>
              <a:sym typeface="Meiryo"/>
            </a:endParaRPr>
          </a:p>
        </p:txBody>
      </p:sp>
      <p:sp>
        <p:nvSpPr>
          <p:cNvPr id="194" name="Google Shape;194;g35ec7a65b47_0_10"/>
          <p:cNvSpPr txBox="1"/>
          <p:nvPr/>
        </p:nvSpPr>
        <p:spPr>
          <a:xfrm>
            <a:off x="6101554" y="1389239"/>
            <a:ext cx="1865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キャラクターを使用した物販</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商品の考案/プロモーション</a:t>
            </a:r>
            <a:endParaRPr sz="800" b="0" i="0" u="none" strike="noStrike" cap="none">
              <a:solidFill>
                <a:srgbClr val="C68A65"/>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企業とのキャンペーン/CM出演</a:t>
            </a:r>
            <a:endParaRPr sz="800" b="0" i="0" u="none" strike="noStrike" cap="none">
              <a:solidFill>
                <a:srgbClr val="C68A65"/>
              </a:solidFill>
              <a:latin typeface="Meiryo"/>
              <a:ea typeface="Meiryo"/>
              <a:cs typeface="Meiryo"/>
              <a:sym typeface="Meiryo"/>
            </a:endParaRPr>
          </a:p>
        </p:txBody>
      </p:sp>
      <p:sp>
        <p:nvSpPr>
          <p:cNvPr id="195" name="Google Shape;195;g35ec7a65b47_0_10"/>
          <p:cNvSpPr txBox="1"/>
          <p:nvPr/>
        </p:nvSpPr>
        <p:spPr>
          <a:xfrm>
            <a:off x="1685399" y="4488825"/>
            <a:ext cx="5773200" cy="455700"/>
          </a:xfrm>
          <a:prstGeom prst="rect">
            <a:avLst/>
          </a:prstGeom>
          <a:noFill/>
          <a:ln>
            <a:noFill/>
          </a:ln>
        </p:spPr>
        <p:txBody>
          <a:bodyPr spcFirstLastPara="1" wrap="square" lIns="68575" tIns="34275" rIns="68575" bIns="3427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ja-JP" sz="1400" b="1" i="0" u="none" strike="noStrike" cap="none">
                <a:solidFill>
                  <a:srgbClr val="C68A65"/>
                </a:solidFill>
                <a:latin typeface="Meiryo"/>
                <a:ea typeface="Meiryo"/>
                <a:cs typeface="Meiryo"/>
                <a:sym typeface="Meiryo"/>
              </a:rPr>
              <a:t>CSR/Sustainability</a:t>
            </a:r>
            <a:endParaRPr sz="14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JP" sz="900" b="0" i="0" u="none" strike="noStrike" cap="none">
                <a:solidFill>
                  <a:srgbClr val="888888"/>
                </a:solidFill>
                <a:latin typeface="Meiryo"/>
                <a:ea typeface="Meiryo"/>
                <a:cs typeface="Meiryo"/>
                <a:sym typeface="Meiryo"/>
              </a:rPr>
              <a:t>高品質環境基準　　脱炭素に向けた取組み　　社会復帰活動への支援</a:t>
            </a:r>
            <a:endParaRPr sz="900" b="0" i="0" u="none" strike="noStrike" cap="none">
              <a:solidFill>
                <a:srgbClr val="888888"/>
              </a:solidFill>
              <a:latin typeface="Meiryo"/>
              <a:ea typeface="Meiryo"/>
              <a:cs typeface="Meiryo"/>
              <a:sym typeface="Meiryo"/>
            </a:endParaRPr>
          </a:p>
        </p:txBody>
      </p:sp>
      <p:pic>
        <p:nvPicPr>
          <p:cNvPr id="196" name="Google Shape;196;g35ec7a65b47_0_10"/>
          <p:cNvPicPr preferRelativeResize="0"/>
          <p:nvPr/>
        </p:nvPicPr>
        <p:blipFill rotWithShape="1">
          <a:blip r:embed="rId3">
            <a:alphaModFix/>
          </a:blip>
          <a:srcRect l="40220" r="38400" b="63426"/>
          <a:stretch/>
        </p:blipFill>
        <p:spPr>
          <a:xfrm>
            <a:off x="659852" y="960100"/>
            <a:ext cx="1274700" cy="1221600"/>
          </a:xfrm>
          <a:prstGeom prst="ellipse">
            <a:avLst/>
          </a:prstGeom>
          <a:noFill/>
          <a:ln>
            <a:noFill/>
          </a:ln>
        </p:spPr>
      </p:pic>
      <p:pic>
        <p:nvPicPr>
          <p:cNvPr id="197" name="Google Shape;197;g35ec7a65b47_0_10"/>
          <p:cNvPicPr preferRelativeResize="0"/>
          <p:nvPr/>
        </p:nvPicPr>
        <p:blipFill rotWithShape="1">
          <a:blip r:embed="rId3">
            <a:alphaModFix/>
          </a:blip>
          <a:srcRect l="65853" t="21173" r="13556" b="41772"/>
          <a:stretch/>
        </p:blipFill>
        <p:spPr>
          <a:xfrm>
            <a:off x="5083880" y="3040902"/>
            <a:ext cx="906600" cy="913800"/>
          </a:xfrm>
          <a:prstGeom prst="ellipse">
            <a:avLst/>
          </a:prstGeom>
          <a:noFill/>
          <a:ln>
            <a:noFill/>
          </a:ln>
        </p:spPr>
      </p:pic>
      <p:pic>
        <p:nvPicPr>
          <p:cNvPr id="198" name="Google Shape;198;g35ec7a65b47_0_10"/>
          <p:cNvPicPr preferRelativeResize="0"/>
          <p:nvPr/>
        </p:nvPicPr>
        <p:blipFill rotWithShape="1">
          <a:blip r:embed="rId3">
            <a:alphaModFix/>
          </a:blip>
          <a:srcRect l="55966" t="62945" r="23440"/>
          <a:stretch/>
        </p:blipFill>
        <p:spPr>
          <a:xfrm>
            <a:off x="5083880" y="871302"/>
            <a:ext cx="906600" cy="913800"/>
          </a:xfrm>
          <a:prstGeom prst="ellipse">
            <a:avLst/>
          </a:prstGeom>
          <a:noFill/>
          <a:ln>
            <a:noFill/>
          </a:ln>
        </p:spPr>
      </p:pic>
      <p:pic>
        <p:nvPicPr>
          <p:cNvPr id="199" name="Google Shape;199;g35ec7a65b47_0_10"/>
          <p:cNvPicPr preferRelativeResize="0"/>
          <p:nvPr/>
        </p:nvPicPr>
        <p:blipFill rotWithShape="1">
          <a:blip r:embed="rId3">
            <a:alphaModFix/>
          </a:blip>
          <a:srcRect l="17209" t="18868" r="61412" b="44558"/>
          <a:stretch/>
        </p:blipFill>
        <p:spPr>
          <a:xfrm>
            <a:off x="659850" y="2657745"/>
            <a:ext cx="1274700" cy="1221600"/>
          </a:xfrm>
          <a:prstGeom prst="ellipse">
            <a:avLst/>
          </a:prstGeom>
          <a:noFill/>
          <a:ln>
            <a:noFill/>
          </a:ln>
        </p:spPr>
      </p:pic>
      <p:sp>
        <p:nvSpPr>
          <p:cNvPr id="200" name="Google Shape;200;g35ec7a65b47_0_10"/>
          <p:cNvSpPr/>
          <p:nvPr/>
        </p:nvSpPr>
        <p:spPr>
          <a:xfrm>
            <a:off x="2078602" y="950148"/>
            <a:ext cx="1362900" cy="363300"/>
          </a:xfrm>
          <a:prstGeom prst="roundRect">
            <a:avLst>
              <a:gd name="adj" fmla="val 16667"/>
            </a:avLst>
          </a:prstGeom>
          <a:gradFill>
            <a:gsLst>
              <a:gs pos="0">
                <a:srgbClr val="C68A65"/>
              </a:gs>
              <a:gs pos="48000">
                <a:srgbClr val="C68A65"/>
              </a:gs>
              <a:gs pos="66000">
                <a:srgbClr val="D5A88C"/>
              </a:gs>
              <a:gs pos="84000">
                <a:srgbClr val="E3C5B2"/>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JP" sz="1000" b="0" i="0" u="none" strike="noStrike" cap="none">
                <a:solidFill>
                  <a:schemeClr val="lt1"/>
                </a:solidFill>
                <a:latin typeface="Meiryo"/>
                <a:ea typeface="Meiryo"/>
                <a:cs typeface="Meiryo"/>
                <a:sym typeface="Meiryo"/>
              </a:rPr>
              <a:t>BOULANGERIE</a:t>
            </a:r>
            <a:endParaRPr sz="1000" b="0" i="0" u="none" strike="noStrike" cap="none">
              <a:solidFill>
                <a:schemeClr val="lt1"/>
              </a:solidFill>
              <a:latin typeface="Meiryo"/>
              <a:ea typeface="Meiryo"/>
              <a:cs typeface="Meiryo"/>
              <a:sym typeface="Meiryo"/>
            </a:endParaRPr>
          </a:p>
        </p:txBody>
      </p:sp>
      <p:sp>
        <p:nvSpPr>
          <p:cNvPr id="201" name="Google Shape;201;g35ec7a65b47_0_10"/>
          <p:cNvSpPr/>
          <p:nvPr/>
        </p:nvSpPr>
        <p:spPr>
          <a:xfrm>
            <a:off x="2078602" y="2646048"/>
            <a:ext cx="1362900" cy="363300"/>
          </a:xfrm>
          <a:prstGeom prst="roundRect">
            <a:avLst>
              <a:gd name="adj" fmla="val 16667"/>
            </a:avLst>
          </a:prstGeom>
          <a:gradFill>
            <a:gsLst>
              <a:gs pos="0">
                <a:srgbClr val="C68A65"/>
              </a:gs>
              <a:gs pos="48000">
                <a:srgbClr val="C68A65"/>
              </a:gs>
              <a:gs pos="66000">
                <a:srgbClr val="D5A88C"/>
              </a:gs>
              <a:gs pos="84000">
                <a:srgbClr val="E3C5B2"/>
              </a:gs>
              <a:gs pos="100000">
                <a:schemeClr val="lt1"/>
              </a:gs>
            </a:gsLst>
            <a:lin ang="2698631"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JP" sz="1000" b="0" i="0" u="none" strike="noStrike" cap="none">
                <a:solidFill>
                  <a:schemeClr val="lt1"/>
                </a:solidFill>
                <a:latin typeface="Meiryo"/>
                <a:ea typeface="Meiryo"/>
                <a:cs typeface="Meiryo"/>
                <a:sym typeface="Meiryo"/>
              </a:rPr>
              <a:t>RESTAURANT</a:t>
            </a:r>
            <a:endParaRPr sz="1000" b="0" i="0" u="none" strike="noStrike" cap="none">
              <a:solidFill>
                <a:schemeClr val="lt1"/>
              </a:solidFill>
              <a:latin typeface="Meiryo"/>
              <a:ea typeface="Meiryo"/>
              <a:cs typeface="Meiryo"/>
              <a:sym typeface="Meiryo"/>
            </a:endParaRPr>
          </a:p>
        </p:txBody>
      </p:sp>
      <p:sp>
        <p:nvSpPr>
          <p:cNvPr id="202" name="Google Shape;202;g35ec7a65b47_0_10"/>
          <p:cNvSpPr/>
          <p:nvPr/>
        </p:nvSpPr>
        <p:spPr>
          <a:xfrm rot="10800000">
            <a:off x="4214400" y="4255750"/>
            <a:ext cx="715200" cy="189300"/>
          </a:xfrm>
          <a:prstGeom prst="triangle">
            <a:avLst>
              <a:gd name="adj" fmla="val 50000"/>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Meiryo"/>
              <a:ea typeface="Meiryo"/>
              <a:cs typeface="Meiryo"/>
              <a:sym typeface="Meiryo"/>
            </a:endParaRPr>
          </a:p>
        </p:txBody>
      </p:sp>
      <p:sp>
        <p:nvSpPr>
          <p:cNvPr id="203" name="Google Shape;203;g35ec7a65b47_0_10"/>
          <p:cNvSpPr/>
          <p:nvPr/>
        </p:nvSpPr>
        <p:spPr>
          <a:xfrm>
            <a:off x="6101555" y="981782"/>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LICENSE BUSINESS</a:t>
            </a:r>
            <a:endParaRPr sz="800" b="0" i="0" u="none" strike="noStrike" cap="none">
              <a:solidFill>
                <a:schemeClr val="lt1"/>
              </a:solidFill>
              <a:latin typeface="Meiryo"/>
              <a:ea typeface="Meiryo"/>
              <a:cs typeface="Meiryo"/>
              <a:sym typeface="Meiryo"/>
            </a:endParaRPr>
          </a:p>
        </p:txBody>
      </p:sp>
      <p:sp>
        <p:nvSpPr>
          <p:cNvPr id="204" name="Google Shape;204;g35ec7a65b47_0_10"/>
          <p:cNvSpPr/>
          <p:nvPr/>
        </p:nvSpPr>
        <p:spPr>
          <a:xfrm>
            <a:off x="6101555" y="2066582"/>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PUBLISHING/MEDIA</a:t>
            </a:r>
            <a:endParaRPr sz="800" b="0" i="0" u="none" strike="noStrike" cap="none">
              <a:solidFill>
                <a:schemeClr val="lt1"/>
              </a:solidFill>
              <a:latin typeface="Meiryo"/>
              <a:ea typeface="Meiryo"/>
              <a:cs typeface="Meiryo"/>
              <a:sym typeface="Meiryo"/>
            </a:endParaRPr>
          </a:p>
        </p:txBody>
      </p:sp>
      <p:sp>
        <p:nvSpPr>
          <p:cNvPr id="205" name="Google Shape;205;g35ec7a65b47_0_10"/>
          <p:cNvSpPr/>
          <p:nvPr/>
        </p:nvSpPr>
        <p:spPr>
          <a:xfrm>
            <a:off x="6101555" y="3151382"/>
            <a:ext cx="1362900" cy="2847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ACADEMY</a:t>
            </a:r>
            <a:endParaRPr sz="800" b="0" i="0" u="none" strike="noStrike" cap="none">
              <a:solidFill>
                <a:schemeClr val="lt1"/>
              </a:solidFill>
              <a:latin typeface="Meiryo"/>
              <a:ea typeface="Meiryo"/>
              <a:cs typeface="Meiryo"/>
              <a:sym typeface="Meiry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5ec7a65b47_0_24"/>
          <p:cNvSpPr/>
          <p:nvPr/>
        </p:nvSpPr>
        <p:spPr>
          <a:xfrm>
            <a:off x="672150" y="1153917"/>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4" name="Google Shape;234;g35ec7a65b47_0_24"/>
          <p:cNvSpPr/>
          <p:nvPr/>
        </p:nvSpPr>
        <p:spPr>
          <a:xfrm>
            <a:off x="672150" y="1776442"/>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5" name="Google Shape;235;g35ec7a65b47_0_24"/>
          <p:cNvSpPr/>
          <p:nvPr/>
        </p:nvSpPr>
        <p:spPr>
          <a:xfrm>
            <a:off x="672150" y="2391591"/>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6" name="Google Shape;236;g35ec7a65b47_0_24"/>
          <p:cNvSpPr/>
          <p:nvPr/>
        </p:nvSpPr>
        <p:spPr>
          <a:xfrm>
            <a:off x="672150" y="3001692"/>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7" name="Google Shape;237;g35ec7a65b47_0_24"/>
          <p:cNvSpPr/>
          <p:nvPr/>
        </p:nvSpPr>
        <p:spPr>
          <a:xfrm>
            <a:off x="672150" y="3623391"/>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8" name="Google Shape;238;g35ec7a65b47_0_24"/>
          <p:cNvSpPr/>
          <p:nvPr/>
        </p:nvSpPr>
        <p:spPr>
          <a:xfrm>
            <a:off x="672150" y="4233492"/>
            <a:ext cx="3900000" cy="617100"/>
          </a:xfrm>
          <a:prstGeom prst="trapezoid">
            <a:avLst>
              <a:gd name="adj" fmla="val 0"/>
            </a:avLst>
          </a:prstGeom>
          <a:gradFill>
            <a:gsLst>
              <a:gs pos="0">
                <a:srgbClr val="D5AA8F"/>
              </a:gs>
              <a:gs pos="66000">
                <a:srgbClr val="EAD5C7"/>
              </a:gs>
              <a:gs pos="100000">
                <a:schemeClr val="lt1"/>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39" name="Google Shape;239;g35ec7a65b47_0_24"/>
          <p:cNvSpPr/>
          <p:nvPr/>
        </p:nvSpPr>
        <p:spPr>
          <a:xfrm rot="10800000">
            <a:off x="4571875" y="1160157"/>
            <a:ext cx="3900000" cy="617100"/>
          </a:xfrm>
          <a:prstGeom prst="trapezoid">
            <a:avLst>
              <a:gd name="adj" fmla="val 0"/>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40" name="Google Shape;240;g35ec7a65b47_0_24"/>
          <p:cNvSpPr/>
          <p:nvPr/>
        </p:nvSpPr>
        <p:spPr>
          <a:xfrm rot="10800000">
            <a:off x="4571875" y="1771084"/>
            <a:ext cx="3900000" cy="1847100"/>
          </a:xfrm>
          <a:prstGeom prst="trapezoid">
            <a:avLst>
              <a:gd name="adj" fmla="val 0"/>
            </a:avLst>
          </a:prstGeom>
          <a:gradFill>
            <a:gsLst>
              <a:gs pos="0">
                <a:srgbClr val="C68A65"/>
              </a:gs>
              <a:gs pos="48000">
                <a:srgbClr val="C68A65"/>
              </a:gs>
              <a:gs pos="66000">
                <a:srgbClr val="D5A88C"/>
              </a:gs>
              <a:gs pos="100000">
                <a:srgbClr val="E3C5B2"/>
              </a:gs>
            </a:gsLst>
            <a:lin ang="2698631" scaled="0"/>
          </a:gradFill>
          <a:ln w="13025" cap="flat" cmpd="sng">
            <a:solidFill>
              <a:srgbClr val="0000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sp>
        <p:nvSpPr>
          <p:cNvPr id="241" name="Google Shape;241;g35ec7a65b47_0_24"/>
          <p:cNvSpPr txBox="1"/>
          <p:nvPr/>
        </p:nvSpPr>
        <p:spPr>
          <a:xfrm>
            <a:off x="239775" y="211050"/>
            <a:ext cx="35841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多様なスタイルの体現</a:t>
            </a:r>
            <a:endParaRPr sz="1400" b="1" i="0" u="none" strike="noStrike" cap="none">
              <a:solidFill>
                <a:schemeClr val="dk1"/>
              </a:solidFill>
              <a:latin typeface="Meiryo"/>
              <a:ea typeface="Meiryo"/>
              <a:cs typeface="Meiryo"/>
              <a:sym typeface="Meiryo"/>
            </a:endParaRPr>
          </a:p>
        </p:txBody>
      </p:sp>
      <p:sp>
        <p:nvSpPr>
          <p:cNvPr id="242" name="Google Shape;242;g35ec7a65b47_0_24"/>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243" name="Google Shape;243;g35ec7a65b47_0_24"/>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7</a:t>
            </a:fld>
            <a:endParaRPr sz="700"/>
          </a:p>
        </p:txBody>
      </p:sp>
      <p:sp>
        <p:nvSpPr>
          <p:cNvPr id="244" name="Google Shape;244;g35ec7a65b47_0_24"/>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grpSp>
        <p:nvGrpSpPr>
          <p:cNvPr id="245" name="Google Shape;245;g35ec7a65b47_0_24"/>
          <p:cNvGrpSpPr/>
          <p:nvPr/>
        </p:nvGrpSpPr>
        <p:grpSpPr>
          <a:xfrm>
            <a:off x="2931448" y="1154069"/>
            <a:ext cx="3281345" cy="3703040"/>
            <a:chOff x="0" y="0"/>
            <a:chExt cx="4801500" cy="5418555"/>
          </a:xfrm>
        </p:grpSpPr>
        <p:sp>
          <p:nvSpPr>
            <p:cNvPr id="246" name="Google Shape;246;g35ec7a65b47_0_24"/>
            <p:cNvSpPr/>
            <p:nvPr/>
          </p:nvSpPr>
          <p:spPr>
            <a:xfrm>
              <a:off x="2000591" y="0"/>
              <a:ext cx="800100" cy="903000"/>
            </a:xfrm>
            <a:prstGeom prst="trapezoid">
              <a:avLst>
                <a:gd name="adj" fmla="val 50000"/>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g35ec7a65b47_0_24"/>
            <p:cNvSpPr/>
            <p:nvPr/>
          </p:nvSpPr>
          <p:spPr>
            <a:xfrm>
              <a:off x="1600473" y="903111"/>
              <a:ext cx="16005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793"/>
                <a:buFont typeface="Arial"/>
                <a:buNone/>
              </a:pPr>
              <a:endParaRPr sz="1793" b="0" i="0" u="none" strike="noStrike" cap="none">
                <a:solidFill>
                  <a:srgbClr val="000000"/>
                </a:solidFill>
                <a:latin typeface="Arial"/>
                <a:ea typeface="Arial"/>
                <a:cs typeface="Arial"/>
                <a:sym typeface="Arial"/>
              </a:endParaRPr>
            </a:p>
          </p:txBody>
        </p:sp>
        <p:sp>
          <p:nvSpPr>
            <p:cNvPr id="248" name="Google Shape;248;g35ec7a65b47_0_24"/>
            <p:cNvSpPr/>
            <p:nvPr/>
          </p:nvSpPr>
          <p:spPr>
            <a:xfrm>
              <a:off x="1200354" y="1806222"/>
              <a:ext cx="24006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g35ec7a65b47_0_24"/>
            <p:cNvSpPr/>
            <p:nvPr/>
          </p:nvSpPr>
          <p:spPr>
            <a:xfrm>
              <a:off x="800236" y="2709333"/>
              <a:ext cx="32010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g35ec7a65b47_0_24"/>
            <p:cNvSpPr/>
            <p:nvPr/>
          </p:nvSpPr>
          <p:spPr>
            <a:xfrm>
              <a:off x="400118" y="3612444"/>
              <a:ext cx="40011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g35ec7a65b47_0_24"/>
            <p:cNvSpPr/>
            <p:nvPr/>
          </p:nvSpPr>
          <p:spPr>
            <a:xfrm>
              <a:off x="0" y="4515555"/>
              <a:ext cx="4801500" cy="903000"/>
            </a:xfrm>
            <a:prstGeom prst="trapezoid">
              <a:avLst>
                <a:gd name="adj" fmla="val 44304"/>
              </a:avLst>
            </a:prstGeom>
            <a:gradFill>
              <a:gsLst>
                <a:gs pos="0">
                  <a:srgbClr val="C68A65"/>
                </a:gs>
                <a:gs pos="48000">
                  <a:srgbClr val="C68A65"/>
                </a:gs>
                <a:gs pos="66000">
                  <a:srgbClr val="D5A88C"/>
                </a:gs>
                <a:gs pos="100000">
                  <a:srgbClr val="E3C5B2"/>
                </a:gs>
              </a:gsLst>
              <a:lin ang="2698631" scaled="0"/>
            </a:gradFill>
            <a:ln w="13025" cap="flat" cmpd="sng">
              <a:solidFill>
                <a:srgbClr val="FFFFFF"/>
              </a:solidFill>
              <a:prstDash val="solid"/>
              <a:miter lim="0"/>
              <a:headEnd type="none" w="sm" len="sm"/>
              <a:tailEnd type="none" w="sm" len="sm"/>
            </a:ln>
          </p:spPr>
          <p:txBody>
            <a:bodyPr spcFirstLastPara="1" wrap="square" lIns="62475" tIns="62475" rIns="62475" bIns="62475" anchor="ctr" anchorCtr="0">
              <a:noAutofit/>
            </a:bodyPr>
            <a:lstStyle/>
            <a:p>
              <a:pPr marL="0" marR="0" lvl="0" indent="0" algn="l" rtl="0">
                <a:lnSpc>
                  <a:spcPct val="100000"/>
                </a:lnSpc>
                <a:spcBef>
                  <a:spcPts val="0"/>
                </a:spcBef>
                <a:spcAft>
                  <a:spcPts val="0"/>
                </a:spcAft>
                <a:buClr>
                  <a:srgbClr val="000000"/>
                </a:buClr>
                <a:buSzPts val="1326"/>
                <a:buFont typeface="Arial"/>
                <a:buNone/>
              </a:pPr>
              <a:endParaRPr sz="1326" b="0" i="0" u="none" strike="noStrike" cap="none">
                <a:solidFill>
                  <a:srgbClr val="000000"/>
                </a:solidFill>
                <a:latin typeface="Arial"/>
                <a:ea typeface="Arial"/>
                <a:cs typeface="Arial"/>
                <a:sym typeface="Arial"/>
              </a:endParaRPr>
            </a:p>
          </p:txBody>
        </p:sp>
      </p:grpSp>
      <p:sp>
        <p:nvSpPr>
          <p:cNvPr id="252" name="Google Shape;252;g35ec7a65b47_0_24"/>
          <p:cNvSpPr/>
          <p:nvPr/>
        </p:nvSpPr>
        <p:spPr>
          <a:xfrm>
            <a:off x="3963465" y="1462610"/>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ガストロ</a:t>
            </a:r>
            <a:endParaRPr sz="568"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ノミー</a:t>
            </a:r>
            <a:endParaRPr sz="568" b="0" i="0" u="none" strike="noStrike" cap="none">
              <a:solidFill>
                <a:schemeClr val="lt1"/>
              </a:solidFill>
              <a:latin typeface="Meiryo"/>
              <a:ea typeface="Meiryo"/>
              <a:cs typeface="Meiryo"/>
              <a:sym typeface="Meiryo"/>
            </a:endParaRPr>
          </a:p>
        </p:txBody>
      </p:sp>
      <p:sp>
        <p:nvSpPr>
          <p:cNvPr id="253" name="Google Shape;253;g35ec7a65b47_0_24"/>
          <p:cNvSpPr/>
          <p:nvPr/>
        </p:nvSpPr>
        <p:spPr>
          <a:xfrm>
            <a:off x="3963461" y="4395239"/>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Blue Blanc Coeur</a:t>
            </a:r>
            <a:endParaRPr sz="568" b="0" i="0" u="none" strike="noStrike" cap="none">
              <a:solidFill>
                <a:schemeClr val="lt1"/>
              </a:solidFill>
              <a:latin typeface="Meiryo"/>
              <a:ea typeface="Meiryo"/>
              <a:cs typeface="Meiryo"/>
              <a:sym typeface="Meiryo"/>
            </a:endParaRPr>
          </a:p>
        </p:txBody>
      </p:sp>
      <p:sp>
        <p:nvSpPr>
          <p:cNvPr id="254" name="Google Shape;254;g35ec7a65b47_0_24"/>
          <p:cNvSpPr/>
          <p:nvPr/>
        </p:nvSpPr>
        <p:spPr>
          <a:xfrm>
            <a:off x="3963461" y="3773592"/>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リテール・EC</a:t>
            </a:r>
            <a:endParaRPr sz="568" b="0" i="0" u="none" strike="noStrike" cap="none">
              <a:solidFill>
                <a:schemeClr val="lt1"/>
              </a:solidFill>
              <a:latin typeface="Meiryo"/>
              <a:ea typeface="Meiryo"/>
              <a:cs typeface="Meiryo"/>
              <a:sym typeface="Meiryo"/>
            </a:endParaRPr>
          </a:p>
        </p:txBody>
      </p:sp>
      <p:sp>
        <p:nvSpPr>
          <p:cNvPr id="255" name="Google Shape;255;g35ec7a65b47_0_24"/>
          <p:cNvSpPr/>
          <p:nvPr/>
        </p:nvSpPr>
        <p:spPr>
          <a:xfrm>
            <a:off x="3963461" y="3151957"/>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ブーランジェリー</a:t>
            </a:r>
            <a:endParaRPr sz="568" b="0" i="0" u="none" strike="noStrike" cap="none">
              <a:solidFill>
                <a:schemeClr val="lt1"/>
              </a:solidFill>
              <a:latin typeface="Meiryo"/>
              <a:ea typeface="Meiryo"/>
              <a:cs typeface="Meiryo"/>
              <a:sym typeface="Meiryo"/>
            </a:endParaRPr>
          </a:p>
        </p:txBody>
      </p:sp>
      <p:sp>
        <p:nvSpPr>
          <p:cNvPr id="256" name="Google Shape;256;g35ec7a65b47_0_24"/>
          <p:cNvSpPr/>
          <p:nvPr/>
        </p:nvSpPr>
        <p:spPr>
          <a:xfrm>
            <a:off x="3985208" y="2530298"/>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ビストロ</a:t>
            </a:r>
            <a:endParaRPr sz="568" b="0" i="0" u="none" strike="noStrike" cap="none">
              <a:solidFill>
                <a:schemeClr val="lt1"/>
              </a:solidFill>
              <a:latin typeface="Meiryo"/>
              <a:ea typeface="Meiryo"/>
              <a:cs typeface="Meiryo"/>
              <a:sym typeface="Meiryo"/>
            </a:endParaRPr>
          </a:p>
        </p:txBody>
      </p:sp>
      <p:sp>
        <p:nvSpPr>
          <p:cNvPr id="257" name="Google Shape;257;g35ec7a65b47_0_24"/>
          <p:cNvSpPr/>
          <p:nvPr/>
        </p:nvSpPr>
        <p:spPr>
          <a:xfrm>
            <a:off x="4020097" y="1908651"/>
            <a:ext cx="1195500" cy="303600"/>
          </a:xfrm>
          <a:prstGeom prst="roundRect">
            <a:avLst>
              <a:gd name="adj" fmla="val 16667"/>
            </a:avLst>
          </a:prstGeom>
          <a:noFill/>
          <a:ln>
            <a:noFill/>
          </a:ln>
        </p:spPr>
        <p:txBody>
          <a:bodyPr spcFirstLastPara="1" wrap="square" lIns="78600" tIns="78600" rIns="78600" bIns="78600" anchor="ctr" anchorCtr="0">
            <a:noAutofit/>
          </a:bodyPr>
          <a:lstStyle/>
          <a:p>
            <a:pPr marL="0" marR="0" lvl="0" indent="0" algn="ctr" rtl="0">
              <a:lnSpc>
                <a:spcPct val="100000"/>
              </a:lnSpc>
              <a:spcBef>
                <a:spcPts val="0"/>
              </a:spcBef>
              <a:spcAft>
                <a:spcPts val="0"/>
              </a:spcAft>
              <a:buClr>
                <a:srgbClr val="000000"/>
              </a:buClr>
              <a:buSzPts val="568"/>
              <a:buFont typeface="Arial"/>
              <a:buNone/>
            </a:pPr>
            <a:r>
              <a:rPr lang="ja-JP" sz="568" b="0" i="0" u="none" strike="noStrike" cap="none">
                <a:solidFill>
                  <a:schemeClr val="lt1"/>
                </a:solidFill>
                <a:latin typeface="Meiryo"/>
                <a:ea typeface="Meiryo"/>
                <a:cs typeface="Meiryo"/>
                <a:sym typeface="Meiryo"/>
              </a:rPr>
              <a:t>ブラッスリー</a:t>
            </a:r>
            <a:endParaRPr sz="568" b="0" i="0" u="none" strike="noStrike" cap="none">
              <a:solidFill>
                <a:schemeClr val="lt1"/>
              </a:solidFill>
              <a:latin typeface="Meiryo"/>
              <a:ea typeface="Meiryo"/>
              <a:cs typeface="Meiryo"/>
              <a:sym typeface="Meiryo"/>
            </a:endParaRPr>
          </a:p>
        </p:txBody>
      </p:sp>
      <p:cxnSp>
        <p:nvCxnSpPr>
          <p:cNvPr id="258" name="Google Shape;258;g35ec7a65b47_0_24"/>
          <p:cNvCxnSpPr/>
          <p:nvPr/>
        </p:nvCxnSpPr>
        <p:spPr>
          <a:xfrm>
            <a:off x="1162375" y="871565"/>
            <a:ext cx="3330000" cy="0"/>
          </a:xfrm>
          <a:prstGeom prst="straightConnector1">
            <a:avLst/>
          </a:prstGeom>
          <a:noFill/>
          <a:ln w="9525" cap="flat" cmpd="sng">
            <a:solidFill>
              <a:srgbClr val="C68A65"/>
            </a:solidFill>
            <a:prstDash val="solid"/>
            <a:round/>
            <a:headEnd type="none" w="sm" len="sm"/>
            <a:tailEnd type="none" w="sm" len="sm"/>
          </a:ln>
        </p:spPr>
      </p:cxnSp>
      <p:sp>
        <p:nvSpPr>
          <p:cNvPr id="259" name="Google Shape;259;g35ec7a65b47_0_24"/>
          <p:cNvSpPr txBox="1"/>
          <p:nvPr/>
        </p:nvSpPr>
        <p:spPr>
          <a:xfrm>
            <a:off x="1582050" y="785375"/>
            <a:ext cx="1349400" cy="192300"/>
          </a:xfrm>
          <a:prstGeom prst="rect">
            <a:avLst/>
          </a:prstGeom>
          <a:solidFill>
            <a:schemeClr val="lt1"/>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1F1F1F"/>
                </a:solidFill>
                <a:highlight>
                  <a:schemeClr val="lt1"/>
                </a:highlight>
                <a:latin typeface="Meiryo"/>
                <a:ea typeface="Meiryo"/>
                <a:cs typeface="Meiryo"/>
                <a:sym typeface="Meiryo"/>
              </a:rPr>
              <a:t>THIERRY MARX 運営店舗</a:t>
            </a:r>
            <a:endParaRPr sz="800" b="0" i="0" u="none" strike="noStrike" cap="none">
              <a:solidFill>
                <a:schemeClr val="dk1"/>
              </a:solidFill>
              <a:highlight>
                <a:schemeClr val="lt1"/>
              </a:highlight>
              <a:latin typeface="Meiryo"/>
              <a:ea typeface="Meiryo"/>
              <a:cs typeface="Meiryo"/>
              <a:sym typeface="Meiryo"/>
            </a:endParaRPr>
          </a:p>
        </p:txBody>
      </p:sp>
      <p:cxnSp>
        <p:nvCxnSpPr>
          <p:cNvPr id="260" name="Google Shape;260;g35ec7a65b47_0_24"/>
          <p:cNvCxnSpPr/>
          <p:nvPr/>
        </p:nvCxnSpPr>
        <p:spPr>
          <a:xfrm>
            <a:off x="4643870" y="871790"/>
            <a:ext cx="3330000" cy="0"/>
          </a:xfrm>
          <a:prstGeom prst="straightConnector1">
            <a:avLst/>
          </a:prstGeom>
          <a:noFill/>
          <a:ln w="9525" cap="flat" cmpd="sng">
            <a:solidFill>
              <a:srgbClr val="C68A65"/>
            </a:solidFill>
            <a:prstDash val="solid"/>
            <a:round/>
            <a:headEnd type="none" w="sm" len="sm"/>
            <a:tailEnd type="none" w="sm" len="sm"/>
          </a:ln>
        </p:spPr>
      </p:cxnSp>
      <p:sp>
        <p:nvSpPr>
          <p:cNvPr id="261" name="Google Shape;261;g35ec7a65b47_0_24"/>
          <p:cNvSpPr txBox="1"/>
          <p:nvPr/>
        </p:nvSpPr>
        <p:spPr>
          <a:xfrm>
            <a:off x="6182250" y="785599"/>
            <a:ext cx="1349400" cy="192300"/>
          </a:xfrm>
          <a:prstGeom prst="rect">
            <a:avLst/>
          </a:prstGeom>
          <a:solidFill>
            <a:schemeClr val="lt1"/>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1F1F1F"/>
                </a:solidFill>
                <a:highlight>
                  <a:schemeClr val="lt1"/>
                </a:highlight>
                <a:latin typeface="Meiryo"/>
                <a:ea typeface="Meiryo"/>
                <a:cs typeface="Meiryo"/>
                <a:sym typeface="Meiryo"/>
              </a:rPr>
              <a:t>WineBank 運営店舗</a:t>
            </a:r>
            <a:endParaRPr sz="800" b="0" i="0" u="none" strike="noStrike" cap="none">
              <a:solidFill>
                <a:schemeClr val="dk1"/>
              </a:solidFill>
              <a:highlight>
                <a:schemeClr val="lt1"/>
              </a:highlight>
              <a:latin typeface="Meiryo"/>
              <a:ea typeface="Meiryo"/>
              <a:cs typeface="Meiryo"/>
              <a:sym typeface="Meiryo"/>
            </a:endParaRPr>
          </a:p>
        </p:txBody>
      </p:sp>
      <p:pic>
        <p:nvPicPr>
          <p:cNvPr id="262" name="Google Shape;262;g35ec7a65b47_0_24"/>
          <p:cNvPicPr preferRelativeResize="0"/>
          <p:nvPr/>
        </p:nvPicPr>
        <p:blipFill rotWithShape="1">
          <a:blip r:embed="rId3">
            <a:alphaModFix/>
          </a:blip>
          <a:srcRect/>
          <a:stretch/>
        </p:blipFill>
        <p:spPr>
          <a:xfrm>
            <a:off x="672140" y="651574"/>
            <a:ext cx="444285" cy="443691"/>
          </a:xfrm>
          <a:prstGeom prst="rect">
            <a:avLst/>
          </a:prstGeom>
          <a:noFill/>
          <a:ln>
            <a:noFill/>
          </a:ln>
        </p:spPr>
      </p:pic>
      <p:pic>
        <p:nvPicPr>
          <p:cNvPr id="263" name="Google Shape;263;g35ec7a65b47_0_24"/>
          <p:cNvPicPr preferRelativeResize="0"/>
          <p:nvPr/>
        </p:nvPicPr>
        <p:blipFill rotWithShape="1">
          <a:blip r:embed="rId4">
            <a:alphaModFix/>
          </a:blip>
          <a:srcRect/>
          <a:stretch/>
        </p:blipFill>
        <p:spPr>
          <a:xfrm>
            <a:off x="8027819" y="651274"/>
            <a:ext cx="444282" cy="444296"/>
          </a:xfrm>
          <a:prstGeom prst="rect">
            <a:avLst/>
          </a:prstGeom>
          <a:noFill/>
          <a:ln>
            <a:noFill/>
          </a:ln>
        </p:spPr>
      </p:pic>
      <p:pic>
        <p:nvPicPr>
          <p:cNvPr id="264" name="Google Shape;264;g35ec7a65b47_0_24"/>
          <p:cNvPicPr preferRelativeResize="0"/>
          <p:nvPr/>
        </p:nvPicPr>
        <p:blipFill rotWithShape="1">
          <a:blip r:embed="rId5">
            <a:alphaModFix/>
          </a:blip>
          <a:srcRect/>
          <a:stretch/>
        </p:blipFill>
        <p:spPr>
          <a:xfrm>
            <a:off x="5286000" y="1353364"/>
            <a:ext cx="978900" cy="218225"/>
          </a:xfrm>
          <a:prstGeom prst="rect">
            <a:avLst/>
          </a:prstGeom>
          <a:noFill/>
          <a:ln>
            <a:noFill/>
          </a:ln>
        </p:spPr>
      </p:pic>
      <p:sp>
        <p:nvSpPr>
          <p:cNvPr id="265" name="Google Shape;265;g35ec7a65b47_0_24"/>
          <p:cNvSpPr txBox="1"/>
          <p:nvPr/>
        </p:nvSpPr>
        <p:spPr>
          <a:xfrm>
            <a:off x="5884600" y="1959490"/>
            <a:ext cx="2354400" cy="708000"/>
          </a:xfrm>
          <a:prstGeom prst="rect">
            <a:avLst/>
          </a:prstGeom>
          <a:noFill/>
          <a:ln>
            <a:noFill/>
          </a:ln>
        </p:spPr>
        <p:txBody>
          <a:bodyPr spcFirstLastPara="1" wrap="square" lIns="91425" tIns="91425" rIns="91425" bIns="91425" anchor="t" anchorCtr="0">
            <a:spAutoFit/>
          </a:bodyPr>
          <a:lstStyle/>
          <a:p>
            <a:pPr marL="0" marR="0" lvl="0" indent="0" algn="ctr" rtl="0">
              <a:lnSpc>
                <a:spcPct val="2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Thierry Marx Bistro or brasserie</a:t>
            </a:r>
            <a:endParaRPr sz="800" b="0"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600"/>
              <a:buFont typeface="Arial"/>
              <a:buNone/>
            </a:pPr>
            <a:r>
              <a:rPr lang="ja-JP" sz="600" b="0" i="0" u="none" strike="noStrike" cap="none">
                <a:solidFill>
                  <a:schemeClr val="lt1"/>
                </a:solidFill>
                <a:latin typeface="Meiryo"/>
                <a:ea typeface="Meiryo"/>
                <a:cs typeface="Meiryo"/>
                <a:sym typeface="Meiryo"/>
              </a:rPr>
              <a:t>新店舗（仮称）</a:t>
            </a:r>
            <a:endParaRPr sz="600" b="0"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600"/>
              <a:buFont typeface="Arial"/>
              <a:buNone/>
            </a:pPr>
            <a:r>
              <a:rPr lang="ja-JP" sz="600" b="0" i="0" u="none" strike="noStrike" cap="none">
                <a:solidFill>
                  <a:schemeClr val="lt1"/>
                </a:solidFill>
                <a:latin typeface="Meiryo"/>
                <a:ea typeface="Meiryo"/>
                <a:cs typeface="Meiryo"/>
                <a:sym typeface="Meiryo"/>
              </a:rPr>
              <a:t>※ブーランジェリー併設</a:t>
            </a:r>
            <a:endParaRPr sz="600" b="0" i="0" u="none" strike="noStrike" cap="none">
              <a:solidFill>
                <a:schemeClr val="lt1"/>
              </a:solidFill>
              <a:latin typeface="Meiryo"/>
              <a:ea typeface="Meiryo"/>
              <a:cs typeface="Meiryo"/>
              <a:sym typeface="Meiryo"/>
            </a:endParaRPr>
          </a:p>
        </p:txBody>
      </p:sp>
      <p:sp>
        <p:nvSpPr>
          <p:cNvPr id="266" name="Google Shape;266;g35ec7a65b47_0_24"/>
          <p:cNvSpPr txBox="1"/>
          <p:nvPr/>
        </p:nvSpPr>
        <p:spPr>
          <a:xfrm>
            <a:off x="1018174" y="1216675"/>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「オノール」</a:t>
            </a:r>
            <a:r>
              <a:rPr lang="ja-JP" sz="500" b="0" i="0" u="none" strike="noStrike" cap="none">
                <a:solidFill>
                  <a:schemeClr val="lt1"/>
                </a:solidFill>
                <a:latin typeface="Meiryo"/>
                <a:ea typeface="Meiryo"/>
                <a:cs typeface="Meiryo"/>
                <a:sym typeface="Meiryo"/>
              </a:rPr>
              <a:t>※理想を形にした自身の集大成となる店舗</a:t>
            </a:r>
            <a:endParaRPr sz="5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「シュール・ムジュール」</a:t>
            </a:r>
            <a:r>
              <a:rPr lang="ja-JP" sz="500" b="0" i="0" u="none" strike="noStrike" cap="none">
                <a:solidFill>
                  <a:schemeClr val="lt1"/>
                </a:solidFill>
                <a:latin typeface="Meiryo"/>
                <a:ea typeface="Meiryo"/>
                <a:cs typeface="Meiryo"/>
                <a:sym typeface="Meiryo"/>
              </a:rPr>
              <a:t>※ミシュラン星2つ</a:t>
            </a:r>
            <a:endParaRPr sz="500" b="0" i="0" u="none" strike="noStrike" cap="none">
              <a:solidFill>
                <a:schemeClr val="lt1"/>
              </a:solidFill>
              <a:latin typeface="Meiryo"/>
              <a:ea typeface="Meiryo"/>
              <a:cs typeface="Meiryo"/>
              <a:sym typeface="Meiryo"/>
            </a:endParaRPr>
          </a:p>
        </p:txBody>
      </p:sp>
      <p:sp>
        <p:nvSpPr>
          <p:cNvPr id="267" name="Google Shape;267;g35ec7a65b47_0_24"/>
          <p:cNvSpPr txBox="1"/>
          <p:nvPr/>
        </p:nvSpPr>
        <p:spPr>
          <a:xfrm>
            <a:off x="1018174" y="1834989"/>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「マダム・ブラッスリー」</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　</a:t>
            </a:r>
            <a:r>
              <a:rPr lang="ja-JP" sz="500" b="0" i="0" u="none" strike="noStrike" cap="none">
                <a:solidFill>
                  <a:schemeClr val="lt1"/>
                </a:solidFill>
                <a:latin typeface="Meiryo"/>
                <a:ea typeface="Meiryo"/>
                <a:cs typeface="Meiryo"/>
                <a:sym typeface="Meiryo"/>
              </a:rPr>
              <a:t>※エッフェル塔内にある70席の大型店舗</a:t>
            </a:r>
            <a:endParaRPr sz="500" b="0" i="0" u="none" strike="noStrike" cap="none">
              <a:solidFill>
                <a:schemeClr val="lt1"/>
              </a:solidFill>
              <a:latin typeface="Meiryo"/>
              <a:ea typeface="Meiryo"/>
              <a:cs typeface="Meiryo"/>
              <a:sym typeface="Meiryo"/>
            </a:endParaRPr>
          </a:p>
        </p:txBody>
      </p:sp>
      <p:sp>
        <p:nvSpPr>
          <p:cNvPr id="268" name="Google Shape;268;g35ec7a65b47_0_24"/>
          <p:cNvSpPr txBox="1"/>
          <p:nvPr/>
        </p:nvSpPr>
        <p:spPr>
          <a:xfrm>
            <a:off x="1018174" y="2451316"/>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「ブイヨン・ド・コック」</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　</a:t>
            </a:r>
            <a:r>
              <a:rPr lang="ja-JP" sz="500" b="0" i="0" u="none" strike="noStrike" cap="none">
                <a:solidFill>
                  <a:schemeClr val="lt1"/>
                </a:solidFill>
                <a:latin typeface="Meiryo"/>
                <a:ea typeface="Meiryo"/>
                <a:cs typeface="Meiryo"/>
                <a:sym typeface="Meiryo"/>
              </a:rPr>
              <a:t>※今後展開予定の大衆食堂</a:t>
            </a:r>
            <a:endParaRPr sz="500" b="0" i="0" u="none" strike="noStrike" cap="none">
              <a:solidFill>
                <a:schemeClr val="lt1"/>
              </a:solidFill>
              <a:latin typeface="Meiryo"/>
              <a:ea typeface="Meiryo"/>
              <a:cs typeface="Meiryo"/>
              <a:sym typeface="Meiryo"/>
            </a:endParaRPr>
          </a:p>
        </p:txBody>
      </p:sp>
      <p:sp>
        <p:nvSpPr>
          <p:cNvPr id="269" name="Google Shape;269;g35ec7a65b47_0_24"/>
          <p:cNvSpPr txBox="1"/>
          <p:nvPr/>
        </p:nvSpPr>
        <p:spPr>
          <a:xfrm>
            <a:off x="1018174" y="3069743"/>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「ティエリーマルクス ベーカリー」</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　</a:t>
            </a:r>
            <a:r>
              <a:rPr lang="ja-JP" sz="500" b="0" i="0" u="none" strike="noStrike" cap="none">
                <a:solidFill>
                  <a:schemeClr val="lt1"/>
                </a:solidFill>
                <a:latin typeface="Meiryo"/>
                <a:ea typeface="Meiryo"/>
                <a:cs typeface="Meiryo"/>
                <a:sym typeface="Meiryo"/>
              </a:rPr>
              <a:t>※日々の暮らしに寄り添う本格的なカジュアル商品</a:t>
            </a:r>
            <a:endParaRPr sz="500" b="0" i="0" u="none" strike="noStrike" cap="none">
              <a:solidFill>
                <a:schemeClr val="lt1"/>
              </a:solidFill>
              <a:latin typeface="Meiryo"/>
              <a:ea typeface="Meiryo"/>
              <a:cs typeface="Meiryo"/>
              <a:sym typeface="Meiryo"/>
            </a:endParaRPr>
          </a:p>
        </p:txBody>
      </p:sp>
      <p:sp>
        <p:nvSpPr>
          <p:cNvPr id="270" name="Google Shape;270;g35ec7a65b47_0_24"/>
          <p:cNvSpPr txBox="1"/>
          <p:nvPr/>
        </p:nvSpPr>
        <p:spPr>
          <a:xfrm>
            <a:off x="1018174" y="3679845"/>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「Bab’in」「Le Panier du Bon」</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「OMIE et CIE」「NEO GOURMET」</a:t>
            </a:r>
            <a:endParaRPr sz="700" b="0" i="0" u="none" strike="noStrike" cap="none">
              <a:solidFill>
                <a:schemeClr val="lt1"/>
              </a:solidFill>
              <a:latin typeface="Meiryo"/>
              <a:ea typeface="Meiryo"/>
              <a:cs typeface="Meiryo"/>
              <a:sym typeface="Meiryo"/>
            </a:endParaRPr>
          </a:p>
        </p:txBody>
      </p:sp>
      <p:sp>
        <p:nvSpPr>
          <p:cNvPr id="271" name="Google Shape;271;g35ec7a65b47_0_24"/>
          <p:cNvSpPr txBox="1"/>
          <p:nvPr/>
        </p:nvSpPr>
        <p:spPr>
          <a:xfrm>
            <a:off x="1018174" y="4293824"/>
            <a:ext cx="2904000" cy="453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人、家畜、地球の健康＝ﾍﾙｼｰﾌｧｰﾐﾝｸﾞ が</a:t>
            </a:r>
            <a:endParaRPr sz="700" b="0" i="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chemeClr val="lt1"/>
                </a:solidFill>
                <a:latin typeface="Meiryo"/>
                <a:ea typeface="Meiryo"/>
                <a:cs typeface="Meiryo"/>
                <a:sym typeface="Meiryo"/>
              </a:rPr>
              <a:t>Conceptのフランス食品産業クラスター</a:t>
            </a:r>
            <a:endParaRPr sz="700" b="0" i="0" u="none" strike="noStrike" cap="none">
              <a:solidFill>
                <a:schemeClr val="lt1"/>
              </a:solidFill>
              <a:latin typeface="Meiryo"/>
              <a:ea typeface="Meiryo"/>
              <a:cs typeface="Meiryo"/>
              <a:sym typeface="Meiryo"/>
            </a:endParaRPr>
          </a:p>
        </p:txBody>
      </p:sp>
      <p:sp>
        <p:nvSpPr>
          <p:cNvPr id="272" name="Google Shape;272;g35ec7a65b47_0_24"/>
          <p:cNvSpPr txBox="1"/>
          <p:nvPr/>
        </p:nvSpPr>
        <p:spPr>
          <a:xfrm>
            <a:off x="6318275" y="1314800"/>
            <a:ext cx="2049600" cy="307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日本のフランス料理界を牽引（日比谷）</a:t>
            </a:r>
            <a:endParaRPr sz="800" b="0" i="0" u="none" strike="noStrike" cap="none">
              <a:solidFill>
                <a:schemeClr val="lt1"/>
              </a:solidFill>
              <a:latin typeface="Meiryo"/>
              <a:ea typeface="Meiryo"/>
              <a:cs typeface="Meiryo"/>
              <a:sym typeface="Meiryo"/>
            </a:endParaRPr>
          </a:p>
        </p:txBody>
      </p:sp>
      <p:pic>
        <p:nvPicPr>
          <p:cNvPr id="273" name="Google Shape;273;g35ec7a65b47_0_24"/>
          <p:cNvPicPr preferRelativeResize="0"/>
          <p:nvPr/>
        </p:nvPicPr>
        <p:blipFill rotWithShape="1">
          <a:blip r:embed="rId6">
            <a:alphaModFix/>
          </a:blip>
          <a:srcRect l="2162" t="3553" r="3034" b="5571"/>
          <a:stretch/>
        </p:blipFill>
        <p:spPr>
          <a:xfrm>
            <a:off x="7096238" y="2737487"/>
            <a:ext cx="1271636" cy="774213"/>
          </a:xfrm>
          <a:prstGeom prst="rect">
            <a:avLst/>
          </a:prstGeom>
          <a:noFill/>
          <a:ln>
            <a:noFill/>
          </a:ln>
        </p:spPr>
      </p:pic>
      <p:pic>
        <p:nvPicPr>
          <p:cNvPr id="274" name="Google Shape;274;g35ec7a65b47_0_24"/>
          <p:cNvPicPr preferRelativeResize="0"/>
          <p:nvPr/>
        </p:nvPicPr>
        <p:blipFill rotWithShape="1">
          <a:blip r:embed="rId7">
            <a:alphaModFix/>
          </a:blip>
          <a:srcRect l="2430" t="3339" r="2287" b="3404"/>
          <a:stretch/>
        </p:blipFill>
        <p:spPr>
          <a:xfrm>
            <a:off x="5767975" y="2737475"/>
            <a:ext cx="1271639" cy="774213"/>
          </a:xfrm>
          <a:prstGeom prst="rect">
            <a:avLst/>
          </a:prstGeom>
          <a:noFill/>
          <a:ln>
            <a:noFill/>
          </a:ln>
        </p:spPr>
      </p:pic>
      <p:sp>
        <p:nvSpPr>
          <p:cNvPr id="275" name="Google Shape;275;g35ec7a65b47_0_24"/>
          <p:cNvSpPr txBox="1"/>
          <p:nvPr/>
        </p:nvSpPr>
        <p:spPr>
          <a:xfrm>
            <a:off x="6639450" y="3681199"/>
            <a:ext cx="1349400" cy="377100"/>
          </a:xfrm>
          <a:prstGeom prst="rect">
            <a:avLst/>
          </a:prstGeom>
          <a:solidFill>
            <a:schemeClr val="lt1"/>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1000" b="1" i="0" u="none" strike="noStrike" cap="none">
                <a:solidFill>
                  <a:srgbClr val="FF0000"/>
                </a:solidFill>
                <a:highlight>
                  <a:schemeClr val="lt1"/>
                </a:highlight>
                <a:latin typeface="Meiryo"/>
                <a:ea typeface="Meiryo"/>
                <a:cs typeface="Meiryo"/>
                <a:sym typeface="Meiryo"/>
              </a:rPr>
              <a:t>本事業対象店舗</a:t>
            </a:r>
            <a:endParaRPr sz="1000" b="1" i="0" u="none" strike="noStrike" cap="none">
              <a:solidFill>
                <a:srgbClr val="FF0000"/>
              </a:solidFill>
              <a:highlight>
                <a:schemeClr val="lt1"/>
              </a:highlight>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endParaRPr sz="1000" b="1" i="0" u="none" strike="noStrike" cap="none">
              <a:solidFill>
                <a:srgbClr val="FF0000"/>
              </a:solidFill>
              <a:highlight>
                <a:schemeClr val="lt1"/>
              </a:highlight>
              <a:latin typeface="Meiryo"/>
              <a:ea typeface="Meiryo"/>
              <a:cs typeface="Meiryo"/>
              <a:sym typeface="Meiryo"/>
            </a:endParaRPr>
          </a:p>
        </p:txBody>
      </p:sp>
      <p:cxnSp>
        <p:nvCxnSpPr>
          <p:cNvPr id="276" name="Google Shape;276;g35ec7a65b47_0_24"/>
          <p:cNvCxnSpPr/>
          <p:nvPr/>
        </p:nvCxnSpPr>
        <p:spPr>
          <a:xfrm>
            <a:off x="4835750" y="1763025"/>
            <a:ext cx="821700" cy="1885200"/>
          </a:xfrm>
          <a:prstGeom prst="straightConnector1">
            <a:avLst/>
          </a:prstGeom>
          <a:noFill/>
          <a:ln w="9525" cap="flat" cmpd="sng">
            <a:solidFill>
              <a:srgbClr val="0000FF"/>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5ec7a65b47_0_38"/>
          <p:cNvSpPr txBox="1"/>
          <p:nvPr/>
        </p:nvSpPr>
        <p:spPr>
          <a:xfrm>
            <a:off x="1952170" y="2119949"/>
            <a:ext cx="5231100" cy="5100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JP" sz="2800" b="1" i="0" u="none" strike="noStrike" cap="none">
                <a:solidFill>
                  <a:schemeClr val="lt1"/>
                </a:solidFill>
                <a:latin typeface="Meiryo"/>
                <a:ea typeface="Meiryo"/>
                <a:cs typeface="Meiryo"/>
                <a:sym typeface="Meiryo"/>
              </a:rPr>
              <a:t>今後の日本展開</a:t>
            </a:r>
            <a:endParaRPr sz="1400" b="0" i="0" u="none" strike="noStrike" cap="none">
              <a:solidFill>
                <a:srgbClr val="000000"/>
              </a:solidFill>
              <a:latin typeface="Arial"/>
              <a:ea typeface="Arial"/>
              <a:cs typeface="Arial"/>
              <a:sym typeface="Arial"/>
            </a:endParaRPr>
          </a:p>
        </p:txBody>
      </p:sp>
      <p:sp>
        <p:nvSpPr>
          <p:cNvPr id="282" name="Google Shape;282;g35ec7a65b47_0_38"/>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283" name="Google Shape;283;g35ec7a65b47_0_38"/>
          <p:cNvSpPr txBox="1">
            <a:spLocks noGrp="1"/>
          </p:cNvSpPr>
          <p:nvPr>
            <p:ph type="sldNum" idx="4294967295"/>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8</a:t>
            </a:fld>
            <a:endParaRPr sz="700"/>
          </a:p>
        </p:txBody>
      </p:sp>
      <p:sp>
        <p:nvSpPr>
          <p:cNvPr id="284" name="Google Shape;284;g35ec7a65b47_0_38"/>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g372ef0ef644_0_39"/>
          <p:cNvPicPr preferRelativeResize="0"/>
          <p:nvPr/>
        </p:nvPicPr>
        <p:blipFill rotWithShape="1">
          <a:blip r:embed="rId3">
            <a:alphaModFix/>
          </a:blip>
          <a:srcRect/>
          <a:stretch/>
        </p:blipFill>
        <p:spPr>
          <a:xfrm>
            <a:off x="92" y="0"/>
            <a:ext cx="7831433" cy="5069336"/>
          </a:xfrm>
          <a:prstGeom prst="rect">
            <a:avLst/>
          </a:prstGeom>
          <a:noFill/>
          <a:ln>
            <a:noFill/>
          </a:ln>
        </p:spPr>
      </p:pic>
      <p:pic>
        <p:nvPicPr>
          <p:cNvPr id="291" name="Google Shape;291;g372ef0ef644_0_39"/>
          <p:cNvPicPr preferRelativeResize="0"/>
          <p:nvPr/>
        </p:nvPicPr>
        <p:blipFill rotWithShape="1">
          <a:blip r:embed="rId4">
            <a:alphaModFix/>
          </a:blip>
          <a:srcRect l="2162" t="3550" r="3034" b="18074"/>
          <a:stretch/>
        </p:blipFill>
        <p:spPr>
          <a:xfrm>
            <a:off x="4270925" y="0"/>
            <a:ext cx="4863149" cy="2563975"/>
          </a:xfrm>
          <a:prstGeom prst="rect">
            <a:avLst/>
          </a:prstGeom>
          <a:noFill/>
          <a:ln>
            <a:noFill/>
          </a:ln>
        </p:spPr>
      </p:pic>
      <p:pic>
        <p:nvPicPr>
          <p:cNvPr id="292" name="Google Shape;292;g372ef0ef644_0_39"/>
          <p:cNvPicPr preferRelativeResize="0"/>
          <p:nvPr/>
        </p:nvPicPr>
        <p:blipFill rotWithShape="1">
          <a:blip r:embed="rId5">
            <a:alphaModFix/>
          </a:blip>
          <a:srcRect l="2430" t="16167" r="2287" b="3402"/>
          <a:stretch/>
        </p:blipFill>
        <p:spPr>
          <a:xfrm>
            <a:off x="4280850" y="2448900"/>
            <a:ext cx="4863151" cy="2563975"/>
          </a:xfrm>
          <a:prstGeom prst="rect">
            <a:avLst/>
          </a:prstGeom>
          <a:noFill/>
          <a:ln>
            <a:noFill/>
          </a:ln>
        </p:spPr>
      </p:pic>
      <p:sp>
        <p:nvSpPr>
          <p:cNvPr id="293" name="Google Shape;293;g372ef0ef644_0_39"/>
          <p:cNvSpPr/>
          <p:nvPr/>
        </p:nvSpPr>
        <p:spPr>
          <a:xfrm>
            <a:off x="0" y="0"/>
            <a:ext cx="9144000" cy="5143500"/>
          </a:xfrm>
          <a:prstGeom prst="rect">
            <a:avLst/>
          </a:prstGeom>
          <a:solidFill>
            <a:srgbClr val="000000">
              <a:alpha val="74902"/>
            </a:srgb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JP" sz="1800" b="1" i="0" u="none" strike="noStrike" cap="none">
                <a:solidFill>
                  <a:schemeClr val="lt1"/>
                </a:solidFill>
                <a:latin typeface="Meiryo"/>
                <a:ea typeface="Meiryo"/>
                <a:cs typeface="Meiryo"/>
                <a:sym typeface="Meiryo"/>
              </a:rPr>
              <a:t>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4" name="Google Shape;294;g372ef0ef644_0_39"/>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9</a:t>
            </a:fld>
            <a:endParaRPr sz="700"/>
          </a:p>
        </p:txBody>
      </p:sp>
      <p:sp>
        <p:nvSpPr>
          <p:cNvPr id="295" name="Google Shape;295;g372ef0ef644_0_39"/>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296" name="Google Shape;296;g372ef0ef644_0_39"/>
          <p:cNvSpPr txBox="1"/>
          <p:nvPr/>
        </p:nvSpPr>
        <p:spPr>
          <a:xfrm>
            <a:off x="239773" y="211050"/>
            <a:ext cx="31668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lt1"/>
                </a:solidFill>
                <a:latin typeface="Meiryo"/>
                <a:ea typeface="Meiryo"/>
                <a:cs typeface="Meiryo"/>
                <a:sym typeface="Meiryo"/>
              </a:rPr>
              <a:t>THIERRY MARX × WineBank</a:t>
            </a:r>
            <a:endParaRPr sz="1400" b="1" i="0" u="none" strike="noStrike" cap="none">
              <a:solidFill>
                <a:schemeClr val="lt1"/>
              </a:solidFill>
              <a:latin typeface="Meiryo"/>
              <a:ea typeface="Meiryo"/>
              <a:cs typeface="Meiryo"/>
              <a:sym typeface="Meiryo"/>
            </a:endParaRPr>
          </a:p>
        </p:txBody>
      </p:sp>
      <p:graphicFrame>
        <p:nvGraphicFramePr>
          <p:cNvPr id="297" name="Google Shape;297;g372ef0ef644_0_39"/>
          <p:cNvGraphicFramePr/>
          <p:nvPr/>
        </p:nvGraphicFramePr>
        <p:xfrm>
          <a:off x="447350" y="1077350"/>
          <a:ext cx="3000000" cy="3000000"/>
        </p:xfrm>
        <a:graphic>
          <a:graphicData uri="http://schemas.openxmlformats.org/drawingml/2006/table">
            <a:tbl>
              <a:tblPr>
                <a:noFill/>
                <a:tableStyleId>{2F751054-E549-48A9-9E5F-C827F7E28947}</a:tableStyleId>
              </a:tblPr>
              <a:tblGrid>
                <a:gridCol w="1449350">
                  <a:extLst>
                    <a:ext uri="{9D8B030D-6E8A-4147-A177-3AD203B41FA5}">
                      <a16:colId xmlns:a16="http://schemas.microsoft.com/office/drawing/2014/main" val="20000"/>
                    </a:ext>
                  </a:extLst>
                </a:gridCol>
                <a:gridCol w="7002175">
                  <a:extLst>
                    <a:ext uri="{9D8B030D-6E8A-4147-A177-3AD203B41FA5}">
                      <a16:colId xmlns:a16="http://schemas.microsoft.com/office/drawing/2014/main" val="20001"/>
                    </a:ext>
                  </a:extLst>
                </a:gridCol>
              </a:tblGrid>
              <a:tr h="919350">
                <a:tc>
                  <a:txBody>
                    <a:bodyPr/>
                    <a:lstStyle/>
                    <a:p>
                      <a:pPr marL="0" marR="0" lvl="0" indent="0" algn="ctr" rtl="0">
                        <a:lnSpc>
                          <a:spcPct val="100000"/>
                        </a:lnSpc>
                        <a:spcBef>
                          <a:spcPts val="0"/>
                        </a:spcBef>
                        <a:spcAft>
                          <a:spcPts val="0"/>
                        </a:spcAft>
                        <a:buClr>
                          <a:srgbClr val="000000"/>
                        </a:buClr>
                        <a:buSzPts val="1600"/>
                        <a:buFont typeface="Arial"/>
                        <a:buNone/>
                      </a:pPr>
                      <a:r>
                        <a:rPr lang="ja-JP" sz="1600" b="1" u="none" strike="noStrike" cap="none">
                          <a:solidFill>
                            <a:srgbClr val="D5AA8F"/>
                          </a:solidFill>
                          <a:latin typeface="Meiryo"/>
                          <a:ea typeface="Meiryo"/>
                          <a:cs typeface="Meiryo"/>
                          <a:sym typeface="Meiryo"/>
                        </a:rPr>
                        <a:t>Concept</a:t>
                      </a:r>
                      <a:endParaRPr sz="1600" b="1" u="none" strike="noStrike" cap="none">
                        <a:solidFill>
                          <a:srgbClr val="D5AA8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600"/>
                        <a:buFont typeface="Arial"/>
                        <a:buNone/>
                      </a:pPr>
                      <a:endParaRPr sz="1600" b="1" u="none" strike="noStrike" cap="none">
                        <a:solidFill>
                          <a:srgbClr val="D5AA8F"/>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500"/>
                        <a:buFont typeface="Arial"/>
                        <a:buNone/>
                      </a:pPr>
                      <a:r>
                        <a:rPr lang="ja-JP" sz="1600" b="1" u="none" strike="noStrike" cap="none">
                          <a:solidFill>
                            <a:schemeClr val="lt1"/>
                          </a:solidFill>
                          <a:latin typeface="Meiryo"/>
                          <a:ea typeface="Meiryo"/>
                          <a:cs typeface="Meiryo"/>
                          <a:sym typeface="Meiryo"/>
                        </a:rPr>
                        <a:t>現代フレンチの第一人者 × 日本の食文化との融合 × Fine Wine</a:t>
                      </a:r>
                      <a:endParaRPr sz="1600" b="1" u="none" strike="noStrike" cap="none">
                        <a:solidFill>
                          <a:schemeClr val="lt1"/>
                        </a:solidFill>
                        <a:latin typeface="Meiryo"/>
                        <a:ea typeface="Meiryo"/>
                        <a:cs typeface="Meiryo"/>
                        <a:sym typeface="Meiryo"/>
                      </a:endParaRPr>
                    </a:p>
                    <a:p>
                      <a:pPr marL="0" marR="0" lvl="0" indent="0" algn="l" rtl="0">
                        <a:lnSpc>
                          <a:spcPct val="115000"/>
                        </a:lnSpc>
                        <a:spcBef>
                          <a:spcPts val="0"/>
                        </a:spcBef>
                        <a:spcAft>
                          <a:spcPts val="0"/>
                        </a:spcAft>
                        <a:buClr>
                          <a:schemeClr val="dk1"/>
                        </a:buClr>
                        <a:buSzPts val="1500"/>
                        <a:buFont typeface="Arial"/>
                        <a:buNone/>
                      </a:pPr>
                      <a:r>
                        <a:rPr lang="ja-JP" sz="1600" b="1" u="none" strike="noStrike" cap="none">
                          <a:solidFill>
                            <a:schemeClr val="lt1"/>
                          </a:solidFill>
                          <a:latin typeface="Meiryo"/>
                          <a:ea typeface="Meiryo"/>
                          <a:cs typeface="Meiryo"/>
                          <a:sym typeface="Meiryo"/>
                        </a:rPr>
                        <a:t>19世紀のフランス伝統 × 革新</a:t>
                      </a:r>
                      <a:endParaRPr sz="1600" b="1" u="none" strike="noStrike" cap="none">
                        <a:solidFill>
                          <a:schemeClr val="lt1"/>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884050">
                <a:tc>
                  <a:txBody>
                    <a:bodyPr/>
                    <a:lstStyle/>
                    <a:p>
                      <a:pPr marL="0" marR="0" lvl="0" indent="0" algn="ctr" rtl="0">
                        <a:lnSpc>
                          <a:spcPct val="100000"/>
                        </a:lnSpc>
                        <a:spcBef>
                          <a:spcPts val="0"/>
                        </a:spcBef>
                        <a:spcAft>
                          <a:spcPts val="0"/>
                        </a:spcAft>
                        <a:buClr>
                          <a:srgbClr val="000000"/>
                        </a:buClr>
                        <a:buSzPts val="1300"/>
                        <a:buFont typeface="Arial"/>
                        <a:buNone/>
                      </a:pPr>
                      <a:r>
                        <a:rPr lang="ja-JP" sz="1300" b="1" u="none" strike="noStrike" cap="none">
                          <a:solidFill>
                            <a:srgbClr val="D5AA8F"/>
                          </a:solidFill>
                          <a:latin typeface="Meiryo"/>
                          <a:ea typeface="Meiryo"/>
                          <a:cs typeface="Meiryo"/>
                          <a:sym typeface="Meiryo"/>
                        </a:rPr>
                        <a:t>Subtitle</a:t>
                      </a:r>
                      <a:endParaRPr sz="1300" b="1" u="none" strike="noStrike" cap="none">
                        <a:solidFill>
                          <a:srgbClr val="D5AA8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300"/>
                        <a:buFont typeface="Arial"/>
                        <a:buNone/>
                      </a:pPr>
                      <a:endParaRPr sz="1300" b="1" u="none" strike="noStrike" cap="none">
                        <a:solidFill>
                          <a:srgbClr val="D5AA8F"/>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500"/>
                        <a:buFont typeface="Arial"/>
                        <a:buNone/>
                      </a:pPr>
                      <a:r>
                        <a:rPr lang="ja-JP" sz="1300" b="1" u="none" strike="noStrike" cap="none">
                          <a:solidFill>
                            <a:schemeClr val="lt1"/>
                          </a:solidFill>
                          <a:latin typeface="Meiryo"/>
                          <a:ea typeface="Meiryo"/>
                          <a:cs typeface="Meiryo"/>
                          <a:sym typeface="Meiryo"/>
                        </a:rPr>
                        <a:t>サステイナブル × SDGS×エレガンス</a:t>
                      </a:r>
                      <a:endParaRPr sz="1300" b="1" u="none" strike="noStrike" cap="none">
                        <a:solidFill>
                          <a:schemeClr val="lt1"/>
                        </a:solidFill>
                        <a:latin typeface="Meiryo"/>
                        <a:ea typeface="Meiryo"/>
                        <a:cs typeface="Meiryo"/>
                        <a:sym typeface="Meiryo"/>
                      </a:endParaRPr>
                    </a:p>
                    <a:p>
                      <a:pPr marL="0" marR="0" lvl="0" indent="0" algn="l" rtl="0">
                        <a:lnSpc>
                          <a:spcPct val="115000"/>
                        </a:lnSpc>
                        <a:spcBef>
                          <a:spcPts val="0"/>
                        </a:spcBef>
                        <a:spcAft>
                          <a:spcPts val="0"/>
                        </a:spcAft>
                        <a:buClr>
                          <a:schemeClr val="dk1"/>
                        </a:buClr>
                        <a:buSzPts val="1500"/>
                        <a:buFont typeface="Arial"/>
                        <a:buNone/>
                      </a:pPr>
                      <a:r>
                        <a:rPr lang="ja-JP" sz="1300" b="1" u="none" strike="noStrike" cap="none">
                          <a:solidFill>
                            <a:schemeClr val="lt1"/>
                          </a:solidFill>
                          <a:latin typeface="Meiryo"/>
                          <a:ea typeface="Meiryo"/>
                          <a:cs typeface="Meiryo"/>
                          <a:sym typeface="Meiryo"/>
                        </a:rPr>
                        <a:t>日本とフランスの農家・生産者の架け橋になる</a:t>
                      </a:r>
                      <a:endParaRPr sz="1300" b="1" u="none" strike="noStrike" cap="none">
                        <a:solidFill>
                          <a:schemeClr val="lt1"/>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98" name="Google Shape;298;g372ef0ef644_0_39"/>
          <p:cNvGraphicFramePr/>
          <p:nvPr/>
        </p:nvGraphicFramePr>
        <p:xfrm>
          <a:off x="1512813" y="3108300"/>
          <a:ext cx="3000000" cy="3000000"/>
        </p:xfrm>
        <a:graphic>
          <a:graphicData uri="http://schemas.openxmlformats.org/drawingml/2006/table">
            <a:tbl>
              <a:tblPr>
                <a:noFill/>
                <a:tableStyleId>{2F751054-E549-48A9-9E5F-C827F7E28947}</a:tableStyleId>
              </a:tblPr>
              <a:tblGrid>
                <a:gridCol w="6744400">
                  <a:extLst>
                    <a:ext uri="{9D8B030D-6E8A-4147-A177-3AD203B41FA5}">
                      <a16:colId xmlns:a16="http://schemas.microsoft.com/office/drawing/2014/main" val="20000"/>
                    </a:ext>
                  </a:extLst>
                </a:gridCol>
              </a:tblGrid>
              <a:tr h="1144975">
                <a:tc>
                  <a:txBody>
                    <a:bodyPr/>
                    <a:lstStyle/>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実現したい未来 -</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東京から日本全国へ、その後アジアへの展開</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「マルクス哲学 × 和の美意識」の象徴として、将来的には以下展開も視野に</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・大阪・札幌(or余市）・福岡・名古屋・横浜等の政令指定都市への展開（地域の食材を再定義）</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・アピシウスシェフとのコラボイベント</a:t>
                      </a:r>
                      <a:endParaRPr sz="1000" u="none" strike="noStrike" cap="none">
                        <a:solidFill>
                          <a:schemeClr val="lt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000"/>
                        <a:buFont typeface="Arial"/>
                        <a:buNone/>
                      </a:pPr>
                      <a:r>
                        <a:rPr lang="ja-JP" sz="1000" u="none" strike="noStrike" cap="none">
                          <a:solidFill>
                            <a:schemeClr val="lt1"/>
                          </a:solidFill>
                          <a:latin typeface="Meiryo"/>
                          <a:ea typeface="Meiryo"/>
                          <a:cs typeface="Meiryo"/>
                          <a:sym typeface="Meiryo"/>
                        </a:rPr>
                        <a:t>　　　・ベーカリー・チーズ・ワイン・ビストロとフランス食文化の全てをローカライズして日本人へ</a:t>
                      </a:r>
                      <a:endParaRPr sz="1000" u="none" strike="noStrike" cap="none">
                        <a:solidFill>
                          <a:schemeClr val="lt1"/>
                        </a:solidFill>
                        <a:latin typeface="Meiryo"/>
                        <a:ea typeface="Meiryo"/>
                        <a:cs typeface="Meiryo"/>
                        <a:sym typeface="Meiryo"/>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9" name="Google Shape;299;g372ef0ef644_0_3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g375a5397052_0_95"/>
          <p:cNvPicPr preferRelativeResize="0"/>
          <p:nvPr/>
        </p:nvPicPr>
        <p:blipFill rotWithShape="1">
          <a:blip r:embed="rId3">
            <a:alphaModFix/>
          </a:blip>
          <a:srcRect l="2162" t="3550" r="3034" b="18074"/>
          <a:stretch/>
        </p:blipFill>
        <p:spPr>
          <a:xfrm>
            <a:off x="4457100" y="548534"/>
            <a:ext cx="4130576" cy="2168863"/>
          </a:xfrm>
          <a:prstGeom prst="rect">
            <a:avLst/>
          </a:prstGeom>
          <a:noFill/>
          <a:ln>
            <a:noFill/>
          </a:ln>
        </p:spPr>
      </p:pic>
      <p:sp>
        <p:nvSpPr>
          <p:cNvPr id="305" name="Google Shape;305;g375a5397052_0_95"/>
          <p:cNvSpPr txBox="1"/>
          <p:nvPr/>
        </p:nvSpPr>
        <p:spPr>
          <a:xfrm>
            <a:off x="239774" y="211050"/>
            <a:ext cx="4443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 </a:t>
            </a:r>
            <a:r>
              <a:rPr lang="ja-JP" sz="1400" b="1" i="0" u="none" strike="noStrike" cap="none">
                <a:solidFill>
                  <a:schemeClr val="dk1"/>
                </a:solidFill>
                <a:latin typeface="Meiryo"/>
                <a:ea typeface="Meiryo"/>
                <a:cs typeface="Meiryo"/>
                <a:sym typeface="Meiryo"/>
              </a:rPr>
              <a:t>WineBank パースコンセプト</a:t>
            </a:r>
            <a:endParaRPr sz="1400" b="1" i="0" u="none" strike="noStrike" cap="none">
              <a:solidFill>
                <a:schemeClr val="dk1"/>
              </a:solidFill>
              <a:latin typeface="Meiryo"/>
              <a:ea typeface="Meiryo"/>
              <a:cs typeface="Meiryo"/>
              <a:sym typeface="Meiryo"/>
            </a:endParaRPr>
          </a:p>
        </p:txBody>
      </p:sp>
      <p:sp>
        <p:nvSpPr>
          <p:cNvPr id="306" name="Google Shape;306;g375a5397052_0_95"/>
          <p:cNvSpPr/>
          <p:nvPr/>
        </p:nvSpPr>
        <p:spPr>
          <a:xfrm>
            <a:off x="0" y="5021036"/>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307" name="Google Shape;307;g375a5397052_0_95"/>
          <p:cNvPicPr preferRelativeResize="0"/>
          <p:nvPr/>
        </p:nvPicPr>
        <p:blipFill rotWithShape="1">
          <a:blip r:embed="rId4">
            <a:alphaModFix/>
          </a:blip>
          <a:srcRect/>
          <a:stretch/>
        </p:blipFill>
        <p:spPr>
          <a:xfrm>
            <a:off x="401625" y="2723538"/>
            <a:ext cx="3350653" cy="2168874"/>
          </a:xfrm>
          <a:prstGeom prst="rect">
            <a:avLst/>
          </a:prstGeom>
          <a:noFill/>
          <a:ln>
            <a:noFill/>
          </a:ln>
        </p:spPr>
      </p:pic>
      <p:sp>
        <p:nvSpPr>
          <p:cNvPr id="308" name="Google Shape;308;g375a5397052_0_95"/>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10</a:t>
            </a:fld>
            <a:endParaRPr sz="700"/>
          </a:p>
        </p:txBody>
      </p:sp>
      <p:sp>
        <p:nvSpPr>
          <p:cNvPr id="309" name="Google Shape;309;g375a5397052_0_95"/>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310" name="Google Shape;310;g375a5397052_0_95"/>
          <p:cNvSpPr txBox="1"/>
          <p:nvPr/>
        </p:nvSpPr>
        <p:spPr>
          <a:xfrm>
            <a:off x="4538625" y="610525"/>
            <a:ext cx="997800" cy="192300"/>
          </a:xfrm>
          <a:prstGeom prst="rect">
            <a:avLst/>
          </a:prstGeom>
          <a:solidFill>
            <a:srgbClr val="F6F6F6"/>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ブーランジェリー</a:t>
            </a:r>
            <a:endParaRPr sz="800" b="0" i="0" u="none" strike="noStrike" cap="none">
              <a:solidFill>
                <a:srgbClr val="C68A65"/>
              </a:solidFill>
              <a:latin typeface="Meiryo"/>
              <a:ea typeface="Meiryo"/>
              <a:cs typeface="Meiryo"/>
              <a:sym typeface="Meiryo"/>
            </a:endParaRPr>
          </a:p>
        </p:txBody>
      </p:sp>
      <p:pic>
        <p:nvPicPr>
          <p:cNvPr id="311" name="Google Shape;311;g375a5397052_0_95"/>
          <p:cNvPicPr preferRelativeResize="0"/>
          <p:nvPr/>
        </p:nvPicPr>
        <p:blipFill rotWithShape="1">
          <a:blip r:embed="rId5">
            <a:alphaModFix/>
          </a:blip>
          <a:srcRect l="2430" t="16167" r="2287" b="3402"/>
          <a:stretch/>
        </p:blipFill>
        <p:spPr>
          <a:xfrm>
            <a:off x="4457100" y="2790725"/>
            <a:ext cx="4130571" cy="2168862"/>
          </a:xfrm>
          <a:prstGeom prst="rect">
            <a:avLst/>
          </a:prstGeom>
          <a:noFill/>
          <a:ln>
            <a:noFill/>
          </a:ln>
        </p:spPr>
      </p:pic>
      <p:pic>
        <p:nvPicPr>
          <p:cNvPr id="312" name="Google Shape;312;g375a5397052_0_95"/>
          <p:cNvPicPr preferRelativeResize="0"/>
          <p:nvPr/>
        </p:nvPicPr>
        <p:blipFill rotWithShape="1">
          <a:blip r:embed="rId6">
            <a:alphaModFix/>
          </a:blip>
          <a:srcRect l="9916" t="2323" r="8405" b="48365"/>
          <a:stretch/>
        </p:blipFill>
        <p:spPr>
          <a:xfrm>
            <a:off x="533763" y="517839"/>
            <a:ext cx="3086376" cy="1156972"/>
          </a:xfrm>
          <a:prstGeom prst="rect">
            <a:avLst/>
          </a:prstGeom>
          <a:noFill/>
          <a:ln>
            <a:noFill/>
          </a:ln>
        </p:spPr>
      </p:pic>
      <p:sp>
        <p:nvSpPr>
          <p:cNvPr id="313" name="Google Shape;313;g375a5397052_0_95"/>
          <p:cNvSpPr txBox="1"/>
          <p:nvPr/>
        </p:nvSpPr>
        <p:spPr>
          <a:xfrm>
            <a:off x="4500000" y="2815775"/>
            <a:ext cx="1536300" cy="192300"/>
          </a:xfrm>
          <a:prstGeom prst="rect">
            <a:avLst/>
          </a:prstGeom>
          <a:solidFill>
            <a:srgbClr val="F6F6F6"/>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800" b="0" i="0" u="none" strike="noStrike" cap="none">
                <a:solidFill>
                  <a:srgbClr val="C68A65"/>
                </a:solidFill>
                <a:latin typeface="Meiryo"/>
                <a:ea typeface="Meiryo"/>
                <a:cs typeface="Meiryo"/>
                <a:sym typeface="Meiryo"/>
              </a:rPr>
              <a:t>レストラン＆ワインショップ</a:t>
            </a:r>
            <a:endParaRPr sz="800" b="0" i="0" u="none" strike="noStrike" cap="none">
              <a:solidFill>
                <a:srgbClr val="C68A65"/>
              </a:solidFill>
              <a:latin typeface="Meiryo"/>
              <a:ea typeface="Meiryo"/>
              <a:cs typeface="Meiryo"/>
              <a:sym typeface="Meiryo"/>
            </a:endParaRPr>
          </a:p>
        </p:txBody>
      </p:sp>
      <p:pic>
        <p:nvPicPr>
          <p:cNvPr id="314" name="Google Shape;314;g375a5397052_0_95"/>
          <p:cNvPicPr preferRelativeResize="0"/>
          <p:nvPr/>
        </p:nvPicPr>
        <p:blipFill rotWithShape="1">
          <a:blip r:embed="rId6">
            <a:alphaModFix/>
          </a:blip>
          <a:srcRect l="9918" t="55602" r="13495" b="1654"/>
          <a:stretch/>
        </p:blipFill>
        <p:spPr>
          <a:xfrm>
            <a:off x="772226" y="1674801"/>
            <a:ext cx="3029150" cy="1049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g372ef0ef644_0_10"/>
          <p:cNvSpPr/>
          <p:nvPr/>
        </p:nvSpPr>
        <p:spPr>
          <a:xfrm>
            <a:off x="0" y="5021036"/>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20" name="Google Shape;320;g372ef0ef644_0_1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JP"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321" name="Google Shape;321;g372ef0ef644_0_1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11</a:t>
            </a:fld>
            <a:endParaRPr sz="700"/>
          </a:p>
        </p:txBody>
      </p:sp>
      <p:graphicFrame>
        <p:nvGraphicFramePr>
          <p:cNvPr id="322" name="Google Shape;322;g372ef0ef644_0_10"/>
          <p:cNvGraphicFramePr/>
          <p:nvPr/>
        </p:nvGraphicFramePr>
        <p:xfrm>
          <a:off x="440019" y="790255"/>
          <a:ext cx="3000000" cy="3000000"/>
        </p:xfrm>
        <a:graphic>
          <a:graphicData uri="http://schemas.openxmlformats.org/drawingml/2006/table">
            <a:tbl>
              <a:tblPr>
                <a:noFill/>
                <a:tableStyleId>{676CC8E9-4DEB-487B-9015-B81E7DF3C228}</a:tableStyleId>
              </a:tblPr>
              <a:tblGrid>
                <a:gridCol w="998100">
                  <a:extLst>
                    <a:ext uri="{9D8B030D-6E8A-4147-A177-3AD203B41FA5}">
                      <a16:colId xmlns:a16="http://schemas.microsoft.com/office/drawing/2014/main" val="20000"/>
                    </a:ext>
                  </a:extLst>
                </a:gridCol>
                <a:gridCol w="2882400">
                  <a:extLst>
                    <a:ext uri="{9D8B030D-6E8A-4147-A177-3AD203B41FA5}">
                      <a16:colId xmlns:a16="http://schemas.microsoft.com/office/drawing/2014/main" val="20001"/>
                    </a:ext>
                  </a:extLst>
                </a:gridCol>
              </a:tblGrid>
              <a:tr h="316850">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店舗名</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15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BRASSERIE Thierry Marx （仮称）</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543900">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客単価</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Dinner：10,000円前後 -</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料理7,000-13,000円＋飲料3,000-10,000円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合計10,000-23,000円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endParaRPr sz="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Lunch：5,000円前後 -</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料理2,500-6,000円＋飲料1,000-5,000円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合計3,000-10,000円</a:t>
                      </a:r>
                      <a:endParaRPr sz="8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endParaRPr sz="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latin typeface="Meiryo"/>
                          <a:ea typeface="Meiryo"/>
                          <a:cs typeface="Meiryo"/>
                          <a:sym typeface="Meiryo"/>
                        </a:rPr>
                        <a:t>- アフタヌーンティー：3,000円前後 -</a:t>
                      </a:r>
                      <a:endParaRPr sz="800" u="none" strike="noStrike" cap="none">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00825">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開業資金</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50000"/>
                        </a:lnSpc>
                        <a:spcBef>
                          <a:spcPts val="0"/>
                        </a:spcBef>
                        <a:spcAft>
                          <a:spcPts val="0"/>
                        </a:spcAft>
                        <a:buClr>
                          <a:srgbClr val="000000"/>
                        </a:buClr>
                        <a:buSzPts val="800"/>
                        <a:buFont typeface="Arial"/>
                        <a:buNone/>
                      </a:pPr>
                      <a:r>
                        <a:rPr lang="ja-JP" sz="800" b="1" u="none" strike="noStrike" cap="none">
                          <a:solidFill>
                            <a:schemeClr val="dk1"/>
                          </a:solidFill>
                          <a:latin typeface="Meiryo"/>
                          <a:ea typeface="Meiryo"/>
                          <a:cs typeface="Meiryo"/>
                          <a:sym typeface="Meiryo"/>
                        </a:rPr>
                        <a:t>総額3.0-3.5億円</a:t>
                      </a:r>
                      <a:endParaRPr sz="800" b="1"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内装/設計/設備　   ：坪350万×55坪＝約20,000万</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物件保証金　　　   ：約4,000万</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備品/開業費ﾗｲｾﾝｽ等：約3,000万</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ワイン/絵画在庫　  ：約5,000万</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395300">
                <a:tc>
                  <a:txBody>
                    <a:bodyPr/>
                    <a:lstStyle/>
                    <a:p>
                      <a:pPr marL="0" marR="0" lvl="0" indent="0" algn="ctr" rtl="0">
                        <a:lnSpc>
                          <a:spcPct val="115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ストラクチャー</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株　　主：WineBank/アピシウス/中野66.7%</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               外部投資家33.3%（想定）</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運営主体：株式会社Brasserie Thierry Marx</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調達金額</a:t>
                      </a:r>
                      <a:r>
                        <a:rPr lang="ja-JP" sz="800">
                          <a:solidFill>
                            <a:schemeClr val="dk1"/>
                          </a:solidFill>
                          <a:latin typeface="Meiryo"/>
                          <a:ea typeface="Meiryo"/>
                          <a:cs typeface="Meiryo"/>
                          <a:sym typeface="Meiryo"/>
                        </a:rPr>
                        <a:t>：1.5</a:t>
                      </a:r>
                      <a:r>
                        <a:rPr lang="ja-JP" sz="800" u="none" strike="noStrike" cap="none">
                          <a:solidFill>
                            <a:schemeClr val="dk1"/>
                          </a:solidFill>
                          <a:latin typeface="Meiryo"/>
                          <a:ea typeface="Meiryo"/>
                          <a:cs typeface="Meiryo"/>
                          <a:sym typeface="Meiryo"/>
                        </a:rPr>
                        <a:t>億円（外部投資家ポスト4.5億）</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株主特典：本ブランドFC１店舗出店権利</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　　　　　オーナー専用(優先)個室確保、フランス視察</a:t>
                      </a:r>
                      <a:endParaRPr sz="80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　　　　　店内飲食50％オフ（ワインボトル除く）</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graphicFrame>
        <p:nvGraphicFramePr>
          <p:cNvPr id="323" name="Google Shape;323;g372ef0ef644_0_10"/>
          <p:cNvGraphicFramePr/>
          <p:nvPr/>
        </p:nvGraphicFramePr>
        <p:xfrm>
          <a:off x="4822494" y="790243"/>
          <a:ext cx="3000000" cy="3000000"/>
        </p:xfrm>
        <a:graphic>
          <a:graphicData uri="http://schemas.openxmlformats.org/drawingml/2006/table">
            <a:tbl>
              <a:tblPr>
                <a:noFill/>
                <a:tableStyleId>{676CC8E9-4DEB-487B-9015-B81E7DF3C228}</a:tableStyleId>
              </a:tblPr>
              <a:tblGrid>
                <a:gridCol w="998100">
                  <a:extLst>
                    <a:ext uri="{9D8B030D-6E8A-4147-A177-3AD203B41FA5}">
                      <a16:colId xmlns:a16="http://schemas.microsoft.com/office/drawing/2014/main" val="20000"/>
                    </a:ext>
                  </a:extLst>
                </a:gridCol>
                <a:gridCol w="2882400">
                  <a:extLst>
                    <a:ext uri="{9D8B030D-6E8A-4147-A177-3AD203B41FA5}">
                      <a16:colId xmlns:a16="http://schemas.microsoft.com/office/drawing/2014/main" val="20001"/>
                    </a:ext>
                  </a:extLst>
                </a:gridCol>
              </a:tblGrid>
              <a:tr h="54755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契約金</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3店舗　　　：3,000万円（東京・大阪・札幌）</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800"/>
                        <a:buFont typeface="Arial"/>
                        <a:buNone/>
                      </a:pPr>
                      <a:r>
                        <a:rPr lang="ja-JP" sz="800" u="none" strike="noStrike" cap="none">
                          <a:solidFill>
                            <a:schemeClr val="dk1"/>
                          </a:solidFill>
                          <a:latin typeface="Meiryo"/>
                          <a:ea typeface="Meiryo"/>
                          <a:cs typeface="Meiryo"/>
                          <a:sym typeface="Meiryo"/>
                        </a:rPr>
                        <a:t>以下7店舗　：3,500万円 ※10店舗超の出店予定</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9282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契約期間</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5年自動更新（10年以上想定）</a:t>
                      </a:r>
                      <a:endParaRPr sz="800" u="none" strike="noStrike" cap="none">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8697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ロイヤリティ</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売上に対し、ブーランジェリー4.0％</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　　　　　　ブラッスリー（ビストロ）4.0％支払</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ＦＣ加盟店は、上記に1.0%をアドオン</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5427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出店エリア</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1店舗目　　：六本木ミッドタウン</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2店舗目以降：東京1店舗＋政令指定都市9か所</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600"/>
                        <a:buFont typeface="Arial"/>
                        <a:buNone/>
                      </a:pPr>
                      <a:r>
                        <a:rPr lang="ja-JP" sz="600" u="none" strike="noStrike" cap="none">
                          <a:solidFill>
                            <a:srgbClr val="888888"/>
                          </a:solidFill>
                          <a:latin typeface="Meiryo"/>
                          <a:ea typeface="Meiryo"/>
                          <a:cs typeface="Meiryo"/>
                          <a:sym typeface="Meiryo"/>
                        </a:rPr>
                        <a:t>　札幌・仙台・横浜・大宮・千葉・名古屋・京都・大阪・博多等の想定</a:t>
                      </a:r>
                      <a:endParaRPr sz="600" u="none" strike="noStrike" cap="none">
                        <a:solidFill>
                          <a:srgbClr val="888888"/>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6010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店舗規模</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55-80坪前後（六本木：店内55.5坪・108席） ※B・C工事負担相談</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chemeClr val="dk1"/>
                        </a:buClr>
                        <a:buSzPts val="1500"/>
                        <a:buFont typeface="Arial"/>
                        <a:buNone/>
                      </a:pPr>
                      <a:r>
                        <a:rPr lang="ja-JP" sz="600" u="none" strike="noStrike" cap="none">
                          <a:solidFill>
                            <a:srgbClr val="888888"/>
                          </a:solidFill>
                          <a:latin typeface="Meiryo"/>
                          <a:ea typeface="Meiryo"/>
                          <a:cs typeface="Meiryo"/>
                          <a:sym typeface="Meiryo"/>
                        </a:rPr>
                        <a:t>ブーランジェリー20坪、ワインショップ5-10坪、レストラン45-50坪</a:t>
                      </a:r>
                      <a:endParaRPr sz="600" u="none" strike="noStrike" cap="none">
                        <a:solidFill>
                          <a:srgbClr val="888888"/>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614825">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出店時期</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0-1店舗　 　 ：　2027年春</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2-5店舗　 　 ：　2030年3月末迄</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6–10店舗　   ：　2033年3月末迄</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69040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人材（東京）</a:t>
                      </a:r>
                      <a:endParaRPr sz="8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・シェフ及びシェフアシスタント最低2名は</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　ティエリーマルクス氏より紹介、支配人は共同任命</a:t>
                      </a:r>
                      <a:endParaRPr sz="80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JP" sz="800" u="none" strike="noStrike" cap="none">
                          <a:solidFill>
                            <a:schemeClr val="dk1"/>
                          </a:solidFill>
                          <a:latin typeface="Meiryo"/>
                          <a:ea typeface="Meiryo"/>
                          <a:cs typeface="Meiryo"/>
                          <a:sym typeface="Meiryo"/>
                        </a:rPr>
                        <a:t>・2～3番手シェフやホールスタッフも紹介予定</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rgbClr val="D5AA8F"/>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9000">
                <a:tc>
                  <a:txBody>
                    <a:bodyPr/>
                    <a:lstStyle/>
                    <a:p>
                      <a:pPr marL="0" marR="0" lvl="0" indent="0" algn="ctr" rtl="0">
                        <a:lnSpc>
                          <a:spcPct val="100000"/>
                        </a:lnSpc>
                        <a:spcBef>
                          <a:spcPts val="0"/>
                        </a:spcBef>
                        <a:spcAft>
                          <a:spcPts val="0"/>
                        </a:spcAft>
                        <a:buClr>
                          <a:srgbClr val="000000"/>
                        </a:buClr>
                        <a:buSzPts val="800"/>
                        <a:buFont typeface="Arial"/>
                        <a:buNone/>
                      </a:pPr>
                      <a:r>
                        <a:rPr lang="ja-JP" sz="800" u="none" strike="noStrike" cap="none">
                          <a:solidFill>
                            <a:schemeClr val="lt1"/>
                          </a:solidFill>
                          <a:latin typeface="Meiryo"/>
                          <a:ea typeface="Meiryo"/>
                          <a:cs typeface="Meiryo"/>
                          <a:sym typeface="Meiryo"/>
                        </a:rPr>
                        <a:t>将来展望</a:t>
                      </a:r>
                      <a:endParaRPr sz="1100" u="none" strike="noStrike" cap="none">
                        <a:solidFill>
                          <a:schemeClr val="lt1"/>
                        </a:solidFill>
                        <a:latin typeface="Meiryo"/>
                        <a:ea typeface="Meiryo"/>
                        <a:cs typeface="Meiryo"/>
                        <a:sym typeface="Meiryo"/>
                      </a:endParaRPr>
                    </a:p>
                  </a:txBody>
                  <a:tcPr marL="134975" marR="68575" marT="34275" marB="34275" anchor="ctr">
                    <a:lnL w="2857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28575" cap="flat" cmpd="sng">
                      <a:solidFill>
                        <a:schemeClr val="lt1"/>
                      </a:solidFill>
                      <a:prstDash val="solid"/>
                      <a:round/>
                      <a:headEnd type="none" w="sm" len="sm"/>
                      <a:tailEnd type="none" w="sm" len="sm"/>
                    </a:lnT>
                    <a:lnB w="28575" cap="flat" cmpd="sng">
                      <a:solidFill>
                        <a:schemeClr val="lt1"/>
                      </a:solidFill>
                      <a:prstDash val="solid"/>
                      <a:round/>
                      <a:headEnd type="none" w="sm" len="sm"/>
                      <a:tailEnd type="none" w="sm" len="sm"/>
                    </a:lnB>
                    <a:gradFill>
                      <a:gsLst>
                        <a:gs pos="0">
                          <a:srgbClr val="C68A65"/>
                        </a:gs>
                        <a:gs pos="48000">
                          <a:srgbClr val="C68A65"/>
                        </a:gs>
                        <a:gs pos="66000">
                          <a:srgbClr val="D5A88C"/>
                        </a:gs>
                        <a:gs pos="100000">
                          <a:srgbClr val="E3C5B2"/>
                        </a:gs>
                      </a:gsLst>
                      <a:lin ang="2698631" scaled="0"/>
                    </a:gradFill>
                  </a:tcPr>
                </a:tc>
                <a:tc>
                  <a:txBody>
                    <a:bodyPr/>
                    <a:lstStyle/>
                    <a:p>
                      <a:pPr marL="0" marR="0" lvl="0" indent="0" algn="l" rtl="0">
                        <a:lnSpc>
                          <a:spcPct val="100000"/>
                        </a:lnSpc>
                        <a:spcBef>
                          <a:spcPts val="0"/>
                        </a:spcBef>
                        <a:spcAft>
                          <a:spcPts val="0"/>
                        </a:spcAft>
                        <a:buClr>
                          <a:schemeClr val="dk1"/>
                        </a:buClr>
                        <a:buSzPts val="1500"/>
                        <a:buFont typeface="Arial"/>
                        <a:buNone/>
                      </a:pPr>
                      <a:r>
                        <a:rPr lang="ja-JP" sz="800" u="none" strike="noStrike" cap="none">
                          <a:solidFill>
                            <a:schemeClr val="dk1"/>
                          </a:solidFill>
                          <a:latin typeface="Meiryo"/>
                          <a:ea typeface="Meiryo"/>
                          <a:cs typeface="Meiryo"/>
                          <a:sym typeface="Meiryo"/>
                        </a:rPr>
                        <a:t>［温泉付×オーベルジュ］の開業も2030年以降は視野へ</a:t>
                      </a:r>
                      <a:endParaRPr sz="800" u="none" strike="noStrike" cap="none">
                        <a:solidFill>
                          <a:schemeClr val="dk1"/>
                        </a:solidFill>
                        <a:latin typeface="Meiryo"/>
                        <a:ea typeface="Meiryo"/>
                        <a:cs typeface="Meiryo"/>
                        <a:sym typeface="Meiryo"/>
                      </a:endParaRPr>
                    </a:p>
                  </a:txBody>
                  <a:tcPr marL="134975" marR="68575" marT="34275" marB="34275"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D5AA8F"/>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324" name="Google Shape;324;g372ef0ef644_0_10"/>
          <p:cNvSpPr/>
          <p:nvPr/>
        </p:nvSpPr>
        <p:spPr>
          <a:xfrm>
            <a:off x="4840908" y="556874"/>
            <a:ext cx="3880500" cy="221100"/>
          </a:xfrm>
          <a:prstGeom prst="rect">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経済条件</a:t>
            </a:r>
            <a:endParaRPr sz="800" b="0" i="0" u="none" strike="noStrike" cap="none">
              <a:solidFill>
                <a:schemeClr val="lt1"/>
              </a:solidFill>
              <a:latin typeface="Meiryo"/>
              <a:ea typeface="Meiryo"/>
              <a:cs typeface="Meiryo"/>
              <a:sym typeface="Meiryo"/>
            </a:endParaRPr>
          </a:p>
        </p:txBody>
      </p:sp>
      <p:sp>
        <p:nvSpPr>
          <p:cNvPr id="325" name="Google Shape;325;g372ef0ef644_0_10"/>
          <p:cNvSpPr/>
          <p:nvPr/>
        </p:nvSpPr>
        <p:spPr>
          <a:xfrm>
            <a:off x="457454" y="556874"/>
            <a:ext cx="3880500" cy="221100"/>
          </a:xfrm>
          <a:prstGeom prst="rect">
            <a:avLst/>
          </a:prstGeom>
          <a:gradFill>
            <a:gsLst>
              <a:gs pos="0">
                <a:srgbClr val="C68A65"/>
              </a:gs>
              <a:gs pos="48000">
                <a:srgbClr val="C68A65"/>
              </a:gs>
              <a:gs pos="66000">
                <a:srgbClr val="D5A88C"/>
              </a:gs>
              <a:gs pos="100000">
                <a:srgbClr val="E3C5B2"/>
              </a:gs>
            </a:gsLst>
            <a:lin ang="26986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0" i="0" u="none" strike="noStrike" cap="none">
                <a:solidFill>
                  <a:schemeClr val="lt1"/>
                </a:solidFill>
                <a:latin typeface="Meiryo"/>
                <a:ea typeface="Meiryo"/>
                <a:cs typeface="Meiryo"/>
                <a:sym typeface="Meiryo"/>
              </a:rPr>
              <a:t>店舗概要</a:t>
            </a:r>
            <a:endParaRPr sz="800" b="0" i="0" u="none" strike="noStrike" cap="none">
              <a:solidFill>
                <a:schemeClr val="lt1"/>
              </a:solidFill>
              <a:latin typeface="Meiryo"/>
              <a:ea typeface="Meiryo"/>
              <a:cs typeface="Meiryo"/>
              <a:sym typeface="Meiryo"/>
            </a:endParaRPr>
          </a:p>
        </p:txBody>
      </p:sp>
      <p:sp>
        <p:nvSpPr>
          <p:cNvPr id="326" name="Google Shape;326;g372ef0ef644_0_10"/>
          <p:cNvSpPr txBox="1"/>
          <p:nvPr/>
        </p:nvSpPr>
        <p:spPr>
          <a:xfrm>
            <a:off x="239775" y="211050"/>
            <a:ext cx="2933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rgbClr val="1F1F1F"/>
                </a:solidFill>
                <a:highlight>
                  <a:srgbClr val="FFFFFF"/>
                </a:highlight>
                <a:latin typeface="Meiryo"/>
                <a:ea typeface="Meiryo"/>
                <a:cs typeface="Meiryo"/>
                <a:sym typeface="Meiryo"/>
              </a:rPr>
              <a:t>THIERRY MARX × </a:t>
            </a:r>
            <a:r>
              <a:rPr lang="ja-JP" sz="1400" b="1" i="0" u="none" strike="noStrike" cap="none">
                <a:solidFill>
                  <a:schemeClr val="dk1"/>
                </a:solidFill>
                <a:latin typeface="Meiryo"/>
                <a:ea typeface="Meiryo"/>
                <a:cs typeface="Meiryo"/>
                <a:sym typeface="Meiryo"/>
              </a:rPr>
              <a:t>WineBank </a:t>
            </a:r>
            <a:endParaRPr sz="1400" b="1" i="0" u="none" strike="noStrike" cap="none">
              <a:solidFill>
                <a:schemeClr val="dk1"/>
              </a:solidFill>
              <a:latin typeface="Meiryo"/>
              <a:ea typeface="Meiryo"/>
              <a:cs typeface="Meiryo"/>
              <a:sym typeface="Meiry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5001" name="TextBox 5001"/>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六本木ミッドタウン店　単体事業収支</a:t>
            </a:r>
            <a:endParaRPr sz="1400" b="0" i="0" u="none" strike="noStrike" cap="none">
              <a:solidFill>
                <a:srgbClr val="000000"/>
              </a:solidFill>
              <a:latin typeface="Arial"/>
              <a:ea typeface="Arial"/>
              <a:cs typeface="Arial"/>
              <a:sym typeface="Arial"/>
            </a:endParaRPr>
          </a:p>
        </p:txBody>
      </p:sp>
      <p:sp>
        <p:nvSpPr>
          <p:cNvPr id="5002" name="TextBox 5002"/>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2026年10月 事業収支統合モデル準拠（最新平面図反映）　｜　183.59㎡(55.5坪)・108席・年間363日営業</a:t>
            </a:r>
            <a:endParaRPr sz="1400" b="0" i="0" u="none" strike="noStrike" cap="none">
              <a:solidFill>
                <a:srgbClr val="000000"/>
              </a:solidFill>
              <a:latin typeface="Arial"/>
              <a:ea typeface="Arial"/>
              <a:cs typeface="Arial"/>
              <a:sym typeface="Arial"/>
            </a:endParaRPr>
          </a:p>
        </p:txBody>
      </p:sp>
      <p:sp>
        <p:nvSpPr>
          <p:cNvPr id="5003" name="Header 5003"/>
          <p:cNvSpPr/>
          <p:nvPr/>
        </p:nvSpPr>
        <p:spPr>
          <a:xfrm>
            <a:off x="438912" y="786384"/>
            <a:ext cx="397764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満年度ベース 損益計算（百万円）</a:t>
            </a:r>
            <a:endParaRPr sz="1400" b="0" i="0" u="none" strike="noStrike" cap="none">
              <a:solidFill>
                <a:srgbClr val="000000"/>
              </a:solidFill>
              <a:latin typeface="Arial"/>
              <a:ea typeface="Arial"/>
              <a:cs typeface="Arial"/>
              <a:sym typeface="Arial"/>
            </a:endParaRPr>
          </a:p>
        </p:txBody>
      </p:sp>
      <p:graphicFrame>
        <p:nvGraphicFramePr>
          <p:cNvPr id="5004" name="Table 5004"/>
          <p:cNvGraphicFramePr/>
          <p:nvPr/>
        </p:nvGraphicFramePr>
        <p:xfrm>
          <a:off x="438912" y="1060704"/>
          <a:ext cx="3977640" cy="3505810"/>
        </p:xfrm>
        <a:graphic>
          <a:graphicData uri="http://schemas.openxmlformats.org/drawingml/2006/table">
            <a:tbl>
              <a:tblPr>
                <a:noFill/>
                <a:tableStyleId>{23FF2375-F9B8-41A6-9E25-2D63B5D407DD}</a:tableStyleId>
              </a:tblPr>
              <a:tblGrid>
                <a:gridCol w="1965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金額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対売上比</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売上高</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416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1"/>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売上原価</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125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人件費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34.5%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業務委託費・消耗品他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部門利益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138</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33.1%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広告宣伝費・販売促進費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6"/>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その他経費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0.5%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7"/>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水道光熱費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8"/>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GOP（店舗営業総利益）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113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27.2%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9"/>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ロイヤリティ</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0"/>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保険・租税公課</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0.7%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1"/>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地代家賃（固定）</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2"/>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歩合家賃</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3"/>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修繕維持費（FFE）</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4"/>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5"/>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減価償却費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6"/>
                  </a:ext>
                </a:extLst>
              </a:tr>
              <a:tr h="194767">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7"/>
                  </a:ext>
                </a:extLst>
              </a:tr>
            </a:tbl>
          </a:graphicData>
        </a:graphic>
      </p:graphicFrame>
      <p:sp>
        <p:nvSpPr>
          <p:cNvPr id="5005" name="Header 5005"/>
          <p:cNvSpPr/>
          <p:nvPr/>
        </p:nvSpPr>
        <p:spPr>
          <a:xfrm>
            <a:off x="4818888" y="786384"/>
            <a:ext cx="388620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立上りを織り込んだ年次推移（百万円）</a:t>
            </a:r>
            <a:endParaRPr sz="1400" b="0" i="0" u="none" strike="noStrike" cap="none">
              <a:solidFill>
                <a:srgbClr val="000000"/>
              </a:solidFill>
              <a:latin typeface="Arial"/>
              <a:ea typeface="Arial"/>
              <a:cs typeface="Arial"/>
              <a:sym typeface="Arial"/>
            </a:endParaRPr>
          </a:p>
        </p:txBody>
      </p:sp>
      <p:graphicFrame>
        <p:nvGraphicFramePr>
          <p:cNvPr id="5006" name="Table 5006"/>
          <p:cNvGraphicFramePr/>
          <p:nvPr/>
        </p:nvGraphicFramePr>
        <p:xfrm>
          <a:off x="4818888" y="1060704"/>
          <a:ext cx="3886200" cy="1536192"/>
        </p:xfrm>
        <a:graphic>
          <a:graphicData uri="http://schemas.openxmlformats.org/drawingml/2006/table">
            <a:tbl>
              <a:tblPr>
                <a:noFill/>
                <a:tableStyleId>{23FF2375-F9B8-41A6-9E25-2D63B5D407DD}</a:tableStyleId>
              </a:tblPr>
              <a:tblGrid>
                <a:gridCol w="1325880">
                  <a:extLst>
                    <a:ext uri="{9D8B030D-6E8A-4147-A177-3AD203B41FA5}">
                      <a16:colId xmlns:a16="http://schemas.microsoft.com/office/drawing/2014/main" val="20000"/>
                    </a:ext>
                  </a:extLst>
                </a:gridCol>
                <a:gridCol w="850392">
                  <a:extLst>
                    <a:ext uri="{9D8B030D-6E8A-4147-A177-3AD203B41FA5}">
                      <a16:colId xmlns:a16="http://schemas.microsoft.com/office/drawing/2014/main" val="20001"/>
                    </a:ext>
                  </a:extLst>
                </a:gridCol>
                <a:gridCol w="850392">
                  <a:extLst>
                    <a:ext uri="{9D8B030D-6E8A-4147-A177-3AD203B41FA5}">
                      <a16:colId xmlns:a16="http://schemas.microsoft.com/office/drawing/2014/main" val="20002"/>
                    </a:ext>
                  </a:extLst>
                </a:gridCol>
                <a:gridCol w="859536">
                  <a:extLst>
                    <a:ext uri="{9D8B030D-6E8A-4147-A177-3AD203B41FA5}">
                      <a16:colId xmlns:a16="http://schemas.microsoft.com/office/drawing/2014/main" val="20003"/>
                    </a:ext>
                  </a:extLst>
                </a:gridCol>
              </a:tblGrid>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1年目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2年目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3年目以降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売上立上り率</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売上高</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374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407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416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62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3"/>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13.6%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15.0%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4"/>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r h="219456">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6.5%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6"/>
                  </a:ext>
                </a:extLst>
              </a:tr>
            </a:tbl>
          </a:graphicData>
        </a:graphic>
      </p:graphicFrame>
      <p:sp>
        <p:nvSpPr>
          <p:cNvPr id="5007" name="Header 5007"/>
          <p:cNvSpPr/>
          <p:nvPr/>
        </p:nvSpPr>
        <p:spPr>
          <a:xfrm>
            <a:off x="4818888" y="2743200"/>
            <a:ext cx="388620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主要前提</a:t>
            </a:r>
            <a:endParaRPr sz="1400" b="0" i="0" u="none" strike="noStrike" cap="none">
              <a:solidFill>
                <a:srgbClr val="000000"/>
              </a:solidFill>
              <a:latin typeface="Arial"/>
              <a:ea typeface="Arial"/>
              <a:cs typeface="Arial"/>
              <a:sym typeface="Arial"/>
            </a:endParaRPr>
          </a:p>
        </p:txBody>
      </p:sp>
      <p:sp>
        <p:nvSpPr>
          <p:cNvPr id="5008" name="TextBox 5008"/>
          <p:cNvSpPr txBox="1"/>
          <p:nvPr/>
        </p:nvSpPr>
        <p:spPr>
          <a:xfrm>
            <a:off x="4892040" y="3035808"/>
            <a:ext cx="3794760" cy="1554480"/>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席数108席（店内63：カウンター9・ダイニング32・個室22／テラス45）</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客単価　ランチ 4,000円／カフェ 2,500円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ディナー15,000円（料理9,000＋飲料6,000）・テラス10,000円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席効率 店内75%・テラス50%／延べ席回転率 1.53回/日</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日商 約114万円／月商 約3,463万円／年商 4.16億円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人員26名。売上原価30.0%・人件費34.5%</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ロイヤリティ4.0%・歩合家賃7%（閾値超過分）・地代家賃 月222万円</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人件費は2年目33.5%→3年目32.5%へ段階改善（本部集中・多能工化）</a:t>
            </a:r>
            <a:endParaRPr sz="1400" b="0" i="0" u="none" strike="noStrike" cap="none">
              <a:solidFill>
                <a:srgbClr val="000000"/>
              </a:solidFill>
              <a:latin typeface="Arial"/>
              <a:ea typeface="Arial"/>
              <a:cs typeface="Arial"/>
              <a:sym typeface="Arial"/>
            </a:endParaRPr>
          </a:p>
          <a:p>
            <a:pPr marL="0" marR="0" lvl="0" indent="0" algn="l" rtl="0">
              <a:lnSpc>
                <a:spcPct val="135000"/>
              </a:lnSpc>
              <a:spcBef>
                <a:spcPts val="0"/>
              </a:spcBef>
              <a:spcAft>
                <a:spcPts val="0"/>
              </a:spcAft>
              <a:buClr>
                <a:srgbClr val="000000"/>
              </a:buClr>
              <a:buSzPts val="700"/>
              <a:buFont typeface="Arial"/>
              <a:buNone/>
            </a:pPr>
            <a:r>
              <a:rPr lang="ja-JP" sz="700" b="0" i="0" u="none" strike="noStrike" cap="none">
                <a:solidFill>
                  <a:srgbClr val="C00000"/>
                </a:solidFill>
                <a:latin typeface="Meiryo"/>
                <a:ea typeface="Meiryo"/>
                <a:cs typeface="Meiryo"/>
                <a:sym typeface="Meiryo"/>
              </a:rPr>
              <a:t>● 内装1億円は家主立替・10年分割返済（資産計上・減価償却は自社）</a:t>
            </a:r>
            <a:endParaRPr sz="1400" b="0" i="0" u="none" strike="noStrike" cap="none">
              <a:solidFill>
                <a:srgbClr val="000000"/>
              </a:solidFill>
              <a:latin typeface="Arial"/>
              <a:ea typeface="Arial"/>
              <a:cs typeface="Arial"/>
              <a:sym typeface="Arial"/>
            </a:endParaRPr>
          </a:p>
        </p:txBody>
      </p:sp>
      <p:sp>
        <p:nvSpPr>
          <p:cNvPr id="5009" name="TextBox 5009"/>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満年度ベースは店内席効率75%・ディナー店内回転率0.90回の標準値。新店初年度は保守的に売上90%で計画。金利・税金は含まない。</a:t>
            </a:r>
            <a:endParaRPr sz="1400" b="0" i="0" u="none" strike="noStrike" cap="none">
              <a:solidFill>
                <a:srgbClr val="000000"/>
              </a:solidFill>
              <a:latin typeface="Arial"/>
              <a:ea typeface="Arial"/>
              <a:cs typeface="Arial"/>
              <a:sym typeface="Arial"/>
            </a:endParaRPr>
          </a:p>
        </p:txBody>
      </p:sp>
      <p:sp>
        <p:nvSpPr>
          <p:cNvPr id="5010" name="TextBox 5010"/>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11" name="Slide Number 5011"/>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12" name="TextBox 5012"/>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5か年事業計画　事業収支（連結）</a:t>
            </a:r>
            <a:endParaRPr sz="1400" b="0" i="0" u="none" strike="noStrike" cap="none">
              <a:solidFill>
                <a:srgbClr val="000000"/>
              </a:solidFill>
              <a:latin typeface="Arial"/>
              <a:ea typeface="Arial"/>
              <a:cs typeface="Arial"/>
              <a:sym typeface="Arial"/>
            </a:endParaRPr>
          </a:p>
        </p:txBody>
      </p:sp>
      <p:sp>
        <p:nvSpPr>
          <p:cNvPr id="5013" name="TextBox 5013"/>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2027年4月 六本木開業 → 2028年 札幌・大阪 → 2029年 首都圏・政令指定都市 → 2030年以降 リゾート含め年2店舗</a:t>
            </a:r>
            <a:endParaRPr sz="1400" b="0" i="0" u="none" strike="noStrike" cap="none">
              <a:solidFill>
                <a:srgbClr val="000000"/>
              </a:solidFill>
              <a:latin typeface="Arial"/>
              <a:ea typeface="Arial"/>
              <a:cs typeface="Arial"/>
              <a:sym typeface="Arial"/>
            </a:endParaRPr>
          </a:p>
        </p:txBody>
      </p:sp>
      <p:sp>
        <p:nvSpPr>
          <p:cNvPr id="5014" name="Header 5014"/>
          <p:cNvSpPr/>
          <p:nvPr/>
        </p:nvSpPr>
        <p:spPr>
          <a:xfrm>
            <a:off x="438912" y="822960"/>
            <a:ext cx="56235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連結損益計画（百万円）</a:t>
            </a:r>
            <a:endParaRPr sz="1400" b="0" i="0" u="none" strike="noStrike" cap="none">
              <a:solidFill>
                <a:srgbClr val="000000"/>
              </a:solidFill>
              <a:latin typeface="Arial"/>
              <a:ea typeface="Arial"/>
              <a:cs typeface="Arial"/>
              <a:sym typeface="Arial"/>
            </a:endParaRPr>
          </a:p>
        </p:txBody>
      </p:sp>
      <p:graphicFrame>
        <p:nvGraphicFramePr>
          <p:cNvPr id="5015" name="Table 5015"/>
          <p:cNvGraphicFramePr/>
          <p:nvPr/>
        </p:nvGraphicFramePr>
        <p:xfrm>
          <a:off x="438912" y="1097280"/>
          <a:ext cx="5623560" cy="3439973"/>
        </p:xfrm>
        <a:graphic>
          <a:graphicData uri="http://schemas.openxmlformats.org/drawingml/2006/table">
            <a:tbl>
              <a:tblPr>
                <a:noFill/>
                <a:tableStyleId>{23FF2375-F9B8-41A6-9E25-2D63B5D407DD}</a:tableStyleId>
              </a:tblPr>
              <a:tblGrid>
                <a:gridCol w="1783080">
                  <a:extLst>
                    <a:ext uri="{9D8B030D-6E8A-4147-A177-3AD203B41FA5}">
                      <a16:colId xmlns:a16="http://schemas.microsoft.com/office/drawing/2014/main" val="20000"/>
                    </a:ext>
                  </a:extLst>
                </a:gridCol>
                <a:gridCol w="768096">
                  <a:extLst>
                    <a:ext uri="{9D8B030D-6E8A-4147-A177-3AD203B41FA5}">
                      <a16:colId xmlns:a16="http://schemas.microsoft.com/office/drawing/2014/main" val="20001"/>
                    </a:ext>
                  </a:extLst>
                </a:gridCol>
                <a:gridCol w="768096">
                  <a:extLst>
                    <a:ext uri="{9D8B030D-6E8A-4147-A177-3AD203B41FA5}">
                      <a16:colId xmlns:a16="http://schemas.microsoft.com/office/drawing/2014/main" val="20002"/>
                    </a:ext>
                  </a:extLst>
                </a:gridCol>
                <a:gridCol w="768096">
                  <a:extLst>
                    <a:ext uri="{9D8B030D-6E8A-4147-A177-3AD203B41FA5}">
                      <a16:colId xmlns:a16="http://schemas.microsoft.com/office/drawing/2014/main" val="20003"/>
                    </a:ext>
                  </a:extLst>
                </a:gridCol>
                <a:gridCol w="768096">
                  <a:extLst>
                    <a:ext uri="{9D8B030D-6E8A-4147-A177-3AD203B41FA5}">
                      <a16:colId xmlns:a16="http://schemas.microsoft.com/office/drawing/2014/main" val="20004"/>
                    </a:ext>
                  </a:extLst>
                </a:gridCol>
                <a:gridCol w="768096">
                  <a:extLst>
                    <a:ext uri="{9D8B030D-6E8A-4147-A177-3AD203B41FA5}">
                      <a16:colId xmlns:a16="http://schemas.microsoft.com/office/drawing/2014/main" val="20005"/>
                    </a:ext>
                  </a:extLst>
                </a:gridCol>
              </a:tblGrid>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FY2027</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FY2028</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FY2029</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FY2030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700"/>
                        <a:buFont typeface="Arial"/>
                        <a:buNone/>
                      </a:pPr>
                      <a:r>
                        <a:rPr lang="ja-JP" sz="700" b="1" i="0" u="none" strike="noStrike" cap="none">
                          <a:solidFill>
                            <a:srgbClr val="FFFFFF"/>
                          </a:solidFill>
                          <a:latin typeface="Meiryo"/>
                          <a:ea typeface="Meiryo"/>
                          <a:cs typeface="Meiryo"/>
                          <a:sym typeface="Meiryo"/>
                        </a:rPr>
                        <a:t>FY2031</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期末店舗数</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1"/>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売上高</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374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875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1,698</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2,529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3,360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2"/>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売上原価</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262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509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759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1,008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人件費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129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298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569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839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業務委託費・消耗品他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71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部門利益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294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582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877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1,172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6"/>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販促費・水道光熱費等</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97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188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7"/>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GOP（店舗営業総利益）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244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485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734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984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8"/>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ロイヤリティ</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134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9"/>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地代家賃・歩合家賃</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69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133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199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264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0"/>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保険・租税公課・修繕費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81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108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1"/>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店舗EBITDA計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112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229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354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478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2"/>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本部費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55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3"/>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連結EBITDA</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189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306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423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4"/>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EBITDA率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8.1%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9.6%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11.1%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12.6%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5"/>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0" i="0" u="none" strike="noStrike" cap="none">
                          <a:solidFill>
                            <a:srgbClr val="FFFFFF"/>
                          </a:solidFill>
                          <a:latin typeface="Meiryo"/>
                          <a:ea typeface="Meiryo"/>
                          <a:cs typeface="Meiryo"/>
                          <a:sym typeface="Meiryo"/>
                        </a:rPr>
                        <a:t>減価償却費</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21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47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88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129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169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16"/>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37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101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177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254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7"/>
                  </a:ext>
                </a:extLst>
              </a:tr>
              <a:tr h="181051">
                <a:tc>
                  <a:txBody>
                    <a:bodyPr/>
                    <a:lstStyle/>
                    <a:p>
                      <a:pPr marL="0" marR="0" lvl="0" indent="0" algn="l"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営業利益率</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2.5%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4.2%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6.0%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7.6%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8"/>
                  </a:ext>
                </a:extLst>
              </a:tr>
            </a:tbl>
          </a:graphicData>
        </a:graphic>
      </p:graphicFrame>
      <p:sp>
        <p:nvSpPr>
          <p:cNvPr id="5016" name="Header 5016"/>
          <p:cNvSpPr/>
          <p:nvPr/>
        </p:nvSpPr>
        <p:spPr>
          <a:xfrm>
            <a:off x="6309360" y="822960"/>
            <a:ext cx="2395728"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計画のポイント</a:t>
            </a:r>
            <a:endParaRPr sz="1400" b="0" i="0" u="none" strike="noStrike" cap="none">
              <a:solidFill>
                <a:srgbClr val="000000"/>
              </a:solidFill>
              <a:latin typeface="Arial"/>
              <a:ea typeface="Arial"/>
              <a:cs typeface="Arial"/>
              <a:sym typeface="Arial"/>
            </a:endParaRPr>
          </a:p>
        </p:txBody>
      </p:sp>
      <p:sp>
        <p:nvSpPr>
          <p:cNvPr id="5017" name="TextBox 5017"/>
          <p:cNvSpPr txBox="1"/>
          <p:nvPr/>
        </p:nvSpPr>
        <p:spPr>
          <a:xfrm>
            <a:off x="6382512" y="1115568"/>
            <a:ext cx="2286000" cy="21945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1号店はFY2027（開業初年度）から</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売上立上り90%で保守的に計上</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FY2029に連結EBITDA率10%超（11.1%）</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FY2029に営業利益率5%超（6.0%）</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FY2031はEBITDA率12.6%</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営業利益率7.6%</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成熟単店はEBITDA率15.0%</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営業利益率10.0%</a:t>
            </a:r>
            <a:endParaRPr sz="1400" b="0" i="0" u="none" strike="noStrike" cap="none">
              <a:solidFill>
                <a:srgbClr val="000000"/>
              </a:solidFill>
              <a:latin typeface="Arial"/>
              <a:ea typeface="Arial"/>
              <a:cs typeface="Arial"/>
              <a:sym typeface="Arial"/>
            </a:endParaRPr>
          </a:p>
        </p:txBody>
      </p:sp>
      <p:sp>
        <p:nvSpPr>
          <p:cNvPr id="5018" name="Header 5018"/>
          <p:cNvSpPr/>
          <p:nvPr/>
        </p:nvSpPr>
        <p:spPr>
          <a:xfrm>
            <a:off x="6309360" y="3429000"/>
            <a:ext cx="2395728"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経費改善レバー</a:t>
            </a:r>
            <a:endParaRPr sz="1400" b="0" i="0" u="none" strike="noStrike" cap="none">
              <a:solidFill>
                <a:srgbClr val="000000"/>
              </a:solidFill>
              <a:latin typeface="Arial"/>
              <a:ea typeface="Arial"/>
              <a:cs typeface="Arial"/>
              <a:sym typeface="Arial"/>
            </a:endParaRPr>
          </a:p>
        </p:txBody>
      </p:sp>
      <p:sp>
        <p:nvSpPr>
          <p:cNvPr id="5019" name="TextBox 5019"/>
          <p:cNvSpPr txBox="1"/>
          <p:nvPr/>
        </p:nvSpPr>
        <p:spPr>
          <a:xfrm>
            <a:off x="6382512" y="3721608"/>
            <a:ext cx="2286000"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人件費 34.5% → 32.5%</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本部集中化・多能工化</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水道光熱 4.0% → 3.6%</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設備運用の標準化</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業務委託・消耗品 2.4% → 2.0%</a:t>
            </a:r>
            <a:endParaRPr sz="1400" b="0" i="0" u="none" strike="noStrike" cap="none">
              <a:solidFill>
                <a:srgbClr val="000000"/>
              </a:solidFill>
              <a:latin typeface="Arial"/>
              <a:ea typeface="Arial"/>
              <a:cs typeface="Arial"/>
              <a:sym typeface="Arial"/>
            </a:endParaRPr>
          </a:p>
        </p:txBody>
      </p:sp>
      <p:sp>
        <p:nvSpPr>
          <p:cNvPr id="5020" name="TextBox 5020"/>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FY＝4月〜3月。新店初年度は売上90%・開業7.5か月で保守的に計上。ロイヤリティ4%・歩合家賃7%・地代家賃は契約条件どおり全店適用。金利・税金は含まない。</a:t>
            </a:r>
            <a:endParaRPr sz="1400" b="0" i="0" u="none" strike="noStrike" cap="none">
              <a:solidFill>
                <a:srgbClr val="000000"/>
              </a:solidFill>
              <a:latin typeface="Arial"/>
              <a:ea typeface="Arial"/>
              <a:cs typeface="Arial"/>
              <a:sym typeface="Arial"/>
            </a:endParaRPr>
          </a:p>
        </p:txBody>
      </p:sp>
      <p:sp>
        <p:nvSpPr>
          <p:cNvPr id="5021" name="TextBox 5021"/>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22" name="Slide Number 5022"/>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g34d15c52dd9_0_30"/>
          <p:cNvSpPr txBox="1"/>
          <p:nvPr/>
        </p:nvSpPr>
        <p:spPr>
          <a:xfrm>
            <a:off x="1952170" y="2119949"/>
            <a:ext cx="5231100" cy="5100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JP" sz="2800" b="1" i="0" u="none" strike="noStrike" cap="none">
                <a:solidFill>
                  <a:schemeClr val="lt1"/>
                </a:solidFill>
                <a:latin typeface="Meiryo"/>
                <a:ea typeface="Meiryo"/>
                <a:cs typeface="Meiryo"/>
                <a:sym typeface="Meiryo"/>
              </a:rPr>
              <a:t>すべての人にFineWineを！</a:t>
            </a:r>
            <a:endParaRPr sz="2800" b="1" i="0" u="none" strike="noStrike" cap="none">
              <a:solidFill>
                <a:schemeClr val="lt1"/>
              </a:solidFill>
              <a:latin typeface="Meiryo"/>
              <a:ea typeface="Meiryo"/>
              <a:cs typeface="Meiryo"/>
              <a:sym typeface="Meiryo"/>
            </a:endParaRPr>
          </a:p>
        </p:txBody>
      </p:sp>
      <p:sp>
        <p:nvSpPr>
          <p:cNvPr id="520" name="Google Shape;520;g34d15c52dd9_0_30"/>
          <p:cNvSpPr txBox="1">
            <a:spLocks noGrp="1"/>
          </p:cNvSpPr>
          <p:nvPr>
            <p:ph type="sldNum" idx="4294967295"/>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23</a:t>
            </a:fld>
            <a:endParaRPr sz="7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46" name="TextBox 5046"/>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投資回収と資金計画</a:t>
            </a:r>
            <a:endParaRPr sz="1400" b="0" i="0" u="none" strike="noStrike" cap="none">
              <a:solidFill>
                <a:srgbClr val="000000"/>
              </a:solidFill>
              <a:latin typeface="Arial"/>
              <a:ea typeface="Arial"/>
              <a:cs typeface="Arial"/>
              <a:sym typeface="Arial"/>
            </a:endParaRPr>
          </a:p>
        </p:txBody>
      </p:sp>
      <p:sp>
        <p:nvSpPr>
          <p:cNvPr id="5047" name="TextBox 5047"/>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開業時に必要な現金15,835万円に対し、甲側7,000万円＋外部投資家1.5億円（ポスト4.5億円）の計22,000万円で調達</a:t>
            </a:r>
            <a:endParaRPr sz="1400" b="0" i="0" u="none" strike="noStrike" cap="none">
              <a:solidFill>
                <a:srgbClr val="000000"/>
              </a:solidFill>
              <a:latin typeface="Arial"/>
              <a:ea typeface="Arial"/>
              <a:cs typeface="Arial"/>
              <a:sym typeface="Arial"/>
            </a:endParaRPr>
          </a:p>
        </p:txBody>
      </p:sp>
      <p:sp>
        <p:nvSpPr>
          <p:cNvPr id="5048" name="Header 5048"/>
          <p:cNvSpPr/>
          <p:nvPr/>
        </p:nvSpPr>
        <p:spPr>
          <a:xfrm>
            <a:off x="438912" y="786384"/>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初期投資（1店あたり・百万円）</a:t>
            </a:r>
            <a:endParaRPr sz="1400" b="0" i="0" u="none" strike="noStrike" cap="none">
              <a:solidFill>
                <a:srgbClr val="000000"/>
              </a:solidFill>
              <a:latin typeface="Arial"/>
              <a:ea typeface="Arial"/>
              <a:cs typeface="Arial"/>
              <a:sym typeface="Arial"/>
            </a:endParaRPr>
          </a:p>
        </p:txBody>
      </p:sp>
      <p:graphicFrame>
        <p:nvGraphicFramePr>
          <p:cNvPr id="5049" name="Table 5049"/>
          <p:cNvGraphicFramePr/>
          <p:nvPr/>
        </p:nvGraphicFramePr>
        <p:xfrm>
          <a:off x="438912" y="1060704"/>
          <a:ext cx="4023360" cy="1737360"/>
        </p:xfrm>
        <a:graphic>
          <a:graphicData uri="http://schemas.openxmlformats.org/drawingml/2006/table">
            <a:tbl>
              <a:tblPr>
                <a:noFill/>
                <a:tableStyleId>{23FF2375-F9B8-41A6-9E25-2D63B5D407DD}</a:tableStyleId>
              </a:tblPr>
              <a:tblGrid>
                <a:gridCol w="1874520">
                  <a:extLst>
                    <a:ext uri="{9D8B030D-6E8A-4147-A177-3AD203B41FA5}">
                      <a16:colId xmlns:a16="http://schemas.microsoft.com/office/drawing/2014/main" val="20000"/>
                    </a:ext>
                  </a:extLst>
                </a:gridCol>
                <a:gridCol w="713232">
                  <a:extLst>
                    <a:ext uri="{9D8B030D-6E8A-4147-A177-3AD203B41FA5}">
                      <a16:colId xmlns:a16="http://schemas.microsoft.com/office/drawing/2014/main" val="20001"/>
                    </a:ext>
                  </a:extLst>
                </a:gridCol>
                <a:gridCol w="713232">
                  <a:extLst>
                    <a:ext uri="{9D8B030D-6E8A-4147-A177-3AD203B41FA5}">
                      <a16:colId xmlns:a16="http://schemas.microsoft.com/office/drawing/2014/main" val="20002"/>
                    </a:ext>
                  </a:extLst>
                </a:gridCol>
                <a:gridCol w="722376">
                  <a:extLst>
                    <a:ext uri="{9D8B030D-6E8A-4147-A177-3AD203B41FA5}">
                      <a16:colId xmlns:a16="http://schemas.microsoft.com/office/drawing/2014/main" val="20003"/>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1号店</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2〜3号店</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4号店〜</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契約金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事業費（設計・内装施工・OSE/FF&amp;E）</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194.3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　うち 内装 家主立替（10年分割返済）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開業準備金（広告・採用等）</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保証金（非償却・返還対象）</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39.0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ワイン・美術品在庫（非償却）</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6"/>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初期投資 合計</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297.3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257.3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252.3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7"/>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分割対象額（内装100＋保証金38.9）</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138.9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138.9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138.9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8"/>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開業時 現金支出</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118.4</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113.4</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9"/>
                  </a:ext>
                </a:extLst>
              </a:tr>
            </a:tbl>
          </a:graphicData>
        </a:graphic>
      </p:graphicFrame>
      <p:sp>
        <p:nvSpPr>
          <p:cNvPr id="5050" name="Header 5050"/>
          <p:cNvSpPr/>
          <p:nvPr/>
        </p:nvSpPr>
        <p:spPr>
          <a:xfrm>
            <a:off x="438912" y="2926080"/>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1号店 キャッシュフロー（百万円）</a:t>
            </a:r>
            <a:endParaRPr sz="1400" b="0" i="0" u="none" strike="noStrike" cap="none">
              <a:solidFill>
                <a:srgbClr val="000000"/>
              </a:solidFill>
              <a:latin typeface="Arial"/>
              <a:ea typeface="Arial"/>
              <a:cs typeface="Arial"/>
              <a:sym typeface="Arial"/>
            </a:endParaRPr>
          </a:p>
        </p:txBody>
      </p:sp>
      <p:graphicFrame>
        <p:nvGraphicFramePr>
          <p:cNvPr id="5051" name="Table 5051"/>
          <p:cNvGraphicFramePr/>
          <p:nvPr/>
        </p:nvGraphicFramePr>
        <p:xfrm>
          <a:off x="438912" y="3200400"/>
          <a:ext cx="4023360" cy="1042416"/>
        </p:xfrm>
        <a:graphic>
          <a:graphicData uri="http://schemas.openxmlformats.org/drawingml/2006/table">
            <a:tbl>
              <a:tblPr>
                <a:noFill/>
                <a:tableStyleId>{23FF2375-F9B8-41A6-9E25-2D63B5D407DD}</a:tableStyleId>
              </a:tblPr>
              <a:tblGrid>
                <a:gridCol w="1243584">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66344">
                  <a:extLst>
                    <a:ext uri="{9D8B030D-6E8A-4147-A177-3AD203B41FA5}">
                      <a16:colId xmlns:a16="http://schemas.microsoft.com/office/drawing/2014/main" val="20003"/>
                    </a:ext>
                  </a:extLst>
                </a:gridCol>
                <a:gridCol w="466344">
                  <a:extLst>
                    <a:ext uri="{9D8B030D-6E8A-4147-A177-3AD203B41FA5}">
                      <a16:colId xmlns:a16="http://schemas.microsoft.com/office/drawing/2014/main" val="20004"/>
                    </a:ext>
                  </a:extLst>
                </a:gridCol>
                <a:gridCol w="466344">
                  <a:extLst>
                    <a:ext uri="{9D8B030D-6E8A-4147-A177-3AD203B41FA5}">
                      <a16:colId xmlns:a16="http://schemas.microsoft.com/office/drawing/2014/main" val="20005"/>
                    </a:ext>
                  </a:extLst>
                </a:gridCol>
                <a:gridCol w="466344">
                  <a:extLst>
                    <a:ext uri="{9D8B030D-6E8A-4147-A177-3AD203B41FA5}">
                      <a16:colId xmlns:a16="http://schemas.microsoft.com/office/drawing/2014/main" val="20006"/>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開業時</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2年目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3年目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4年目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5年目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EBITDA</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45.2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55.2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62.2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62.2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62.2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開業時 現金支出</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分割弁済（内装＋保証金）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単店FCF</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29.6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39.7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46.7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46.7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46.7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累計FCF</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▲158.4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▲128.7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▲89.1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▲42.4</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50.9</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bl>
          </a:graphicData>
        </a:graphic>
      </p:graphicFrame>
      <p:sp>
        <p:nvSpPr>
          <p:cNvPr id="5052" name="TextBox 5052"/>
          <p:cNvSpPr txBox="1"/>
          <p:nvPr/>
        </p:nvSpPr>
        <p:spPr>
          <a:xfrm>
            <a:off x="438912" y="4297680"/>
            <a:ext cx="4023360" cy="18288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00"/>
              <a:buFont typeface="Arial"/>
              <a:buNone/>
            </a:pPr>
            <a:r>
              <a:rPr lang="ja-JP" sz="700" b="1" i="0" u="none" strike="noStrike" cap="none">
                <a:solidFill>
                  <a:srgbClr val="000000"/>
                </a:solidFill>
                <a:latin typeface="Meiryo"/>
                <a:ea typeface="Meiryo"/>
                <a:cs typeface="Meiryo"/>
                <a:sym typeface="Meiryo"/>
              </a:rPr>
              <a:t>● 開業4年目に累計FCFが黒字転換　／　投資回収 約3.9年　／　定常期FCF 46.7百万円</a:t>
            </a:r>
            <a:endParaRPr sz="1400" b="0" i="0" u="none" strike="noStrike" cap="none">
              <a:solidFill>
                <a:srgbClr val="000000"/>
              </a:solidFill>
              <a:latin typeface="Arial"/>
              <a:ea typeface="Arial"/>
              <a:cs typeface="Arial"/>
              <a:sym typeface="Arial"/>
            </a:endParaRPr>
          </a:p>
        </p:txBody>
      </p:sp>
      <p:sp>
        <p:nvSpPr>
          <p:cNvPr id="5053" name="Header 5053"/>
          <p:cNvSpPr/>
          <p:nvPr/>
        </p:nvSpPr>
        <p:spPr>
          <a:xfrm>
            <a:off x="4681728" y="786384"/>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連結キャッシュフロー（百万円）</a:t>
            </a:r>
            <a:endParaRPr sz="1400" b="0" i="0" u="none" strike="noStrike" cap="none">
              <a:solidFill>
                <a:srgbClr val="000000"/>
              </a:solidFill>
              <a:latin typeface="Arial"/>
              <a:ea typeface="Arial"/>
              <a:cs typeface="Arial"/>
              <a:sym typeface="Arial"/>
            </a:endParaRPr>
          </a:p>
        </p:txBody>
      </p:sp>
      <p:graphicFrame>
        <p:nvGraphicFramePr>
          <p:cNvPr id="5054" name="Table 5054"/>
          <p:cNvGraphicFramePr/>
          <p:nvPr/>
        </p:nvGraphicFramePr>
        <p:xfrm>
          <a:off x="4681728" y="1060704"/>
          <a:ext cx="4023360" cy="1042416"/>
        </p:xfrm>
        <a:graphic>
          <a:graphicData uri="http://schemas.openxmlformats.org/drawingml/2006/table">
            <a:tbl>
              <a:tblPr>
                <a:noFill/>
                <a:tableStyleId>{23FF2375-F9B8-41A6-9E25-2D63B5D407DD}</a:tableStyleId>
              </a:tblPr>
              <a:tblGrid>
                <a:gridCol w="128016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FY2027</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FY2028</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FY2029</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FY2030</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FY2031</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投資キャッシュアウト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▲173.9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▲271.7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▲292.8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▲323.9</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▲355.0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連結EBITDA</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30.2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83.7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189.1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305.6</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423.0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法人税等（推計）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▲2.8</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▲30.4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▲53.1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▲76.1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簡易フリーCF</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▲146.5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▲199.1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▲134.1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▲71.5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▲8.2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累計フリーCF</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▲146.5</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▲345.6</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▲479.7</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▲551.1</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▲559.3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bl>
          </a:graphicData>
        </a:graphic>
      </p:graphicFrame>
      <p:sp>
        <p:nvSpPr>
          <p:cNvPr id="5055" name="Header 5055"/>
          <p:cNvSpPr/>
          <p:nvPr/>
        </p:nvSpPr>
        <p:spPr>
          <a:xfrm>
            <a:off x="4681728" y="2240280"/>
            <a:ext cx="402336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必要資金と調達</a:t>
            </a:r>
            <a:endParaRPr sz="1400" b="0" i="0" u="none" strike="noStrike" cap="none">
              <a:solidFill>
                <a:srgbClr val="000000"/>
              </a:solidFill>
              <a:latin typeface="Arial"/>
              <a:ea typeface="Arial"/>
              <a:cs typeface="Arial"/>
              <a:sym typeface="Arial"/>
            </a:endParaRPr>
          </a:p>
        </p:txBody>
      </p:sp>
      <p:graphicFrame>
        <p:nvGraphicFramePr>
          <p:cNvPr id="5056" name="Table 5056"/>
          <p:cNvGraphicFramePr/>
          <p:nvPr/>
        </p:nvGraphicFramePr>
        <p:xfrm>
          <a:off x="4681728" y="2514600"/>
          <a:ext cx="4023360" cy="1911096"/>
        </p:xfrm>
        <a:graphic>
          <a:graphicData uri="http://schemas.openxmlformats.org/drawingml/2006/table">
            <a:tbl>
              <a:tblPr>
                <a:noFill/>
                <a:tableStyleId>{23FF2375-F9B8-41A6-9E25-2D63B5D407DD}</a:tableStyleId>
              </a:tblPr>
              <a:tblGrid>
                <a:gridCol w="29718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tblGrid>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金額（万円）</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① 1号店 開業時に必要な現金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15,835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② FY2027末までに必要な資金</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14,653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③ 5年・9店舗の最大資金需要</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55,933</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甲側出資（WineBank P3）</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7,000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外部投資家（1,000株・ポスト4.5億円）</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15,000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調達額 計</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22,000</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6"/>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　うち確定分（甲側7,000＋外部2,010）</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9,010</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7"/>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過不足　①開業時</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＋6,165</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8"/>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過不足　②FY2027末</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＋7,347</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9"/>
                  </a:ext>
                </a:extLst>
              </a:tr>
              <a:tr h="17373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過不足　③5年・9店舗（追加調達で対応）</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C00000"/>
                          </a:solidFill>
                          <a:latin typeface="Meiryo"/>
                          <a:ea typeface="Meiryo"/>
                          <a:cs typeface="Meiryo"/>
                          <a:sym typeface="Meiryo"/>
                        </a:rPr>
                        <a:t>▲33,933</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10"/>
                  </a:ext>
                </a:extLst>
              </a:tr>
            </a:tbl>
          </a:graphicData>
        </a:graphic>
      </p:graphicFrame>
      <p:sp>
        <p:nvSpPr>
          <p:cNvPr id="5057" name="TextBox 5057"/>
          <p:cNvSpPr txBox="1"/>
          <p:nvPr/>
        </p:nvSpPr>
        <p:spPr>
          <a:xfrm>
            <a:off x="438912" y="4553712"/>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内装100百万円は家主立替（月833千円×120回）、保証金のうち38.9百万円は月463千円×84回の分割（賃貸借契約）。資産計上・減価償却は自社で継続。甲側出資は10月末5,500万円（立替経費のDESを含む）＋2月末までに1,500万円。運転資金は含まない。</a:t>
            </a:r>
            <a:endParaRPr sz="1400" b="0" i="0" u="none" strike="noStrike" cap="none">
              <a:solidFill>
                <a:srgbClr val="000000"/>
              </a:solidFill>
              <a:latin typeface="Arial"/>
              <a:ea typeface="Arial"/>
              <a:cs typeface="Arial"/>
              <a:sym typeface="Arial"/>
            </a:endParaRPr>
          </a:p>
        </p:txBody>
      </p:sp>
      <p:sp>
        <p:nvSpPr>
          <p:cNvPr id="5058" name="TextBox 5058"/>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59" name="Slide Number 5059"/>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23" name="TextBox 5023"/>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店舗デザイン｜ブランドロゴ・フロアプラン</a:t>
            </a:r>
            <a:endParaRPr sz="1400" b="0" i="0" u="none" strike="noStrike" cap="none">
              <a:solidFill>
                <a:srgbClr val="000000"/>
              </a:solidFill>
              <a:latin typeface="Arial"/>
              <a:ea typeface="Arial"/>
              <a:cs typeface="Arial"/>
              <a:sym typeface="Arial"/>
            </a:endParaRPr>
          </a:p>
        </p:txBody>
      </p:sp>
      <p:sp>
        <p:nvSpPr>
          <p:cNvPr id="5024" name="TextBox 5024"/>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Notes Design Office 最新プラン（2026年10月22日）　｜　店内63席＋テラス45席＝108席</a:t>
            </a:r>
            <a:endParaRPr sz="1400" b="0" i="0" u="none" strike="noStrike" cap="none">
              <a:solidFill>
                <a:srgbClr val="000000"/>
              </a:solidFill>
              <a:latin typeface="Arial"/>
              <a:ea typeface="Arial"/>
              <a:cs typeface="Arial"/>
              <a:sym typeface="Arial"/>
            </a:endParaRPr>
          </a:p>
        </p:txBody>
      </p:sp>
      <p:sp>
        <p:nvSpPr>
          <p:cNvPr id="5025" name="Header 5025"/>
          <p:cNvSpPr/>
          <p:nvPr/>
        </p:nvSpPr>
        <p:spPr>
          <a:xfrm>
            <a:off x="438912" y="786384"/>
            <a:ext cx="224028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ブランドロゴ</a:t>
            </a:r>
            <a:endParaRPr sz="1400" b="0" i="0" u="none" strike="noStrike" cap="none">
              <a:solidFill>
                <a:srgbClr val="000000"/>
              </a:solidFill>
              <a:latin typeface="Arial"/>
              <a:ea typeface="Arial"/>
              <a:cs typeface="Arial"/>
              <a:sym typeface="Arial"/>
            </a:endParaRPr>
          </a:p>
        </p:txBody>
      </p:sp>
      <p:pic>
        <p:nvPicPr>
          <p:cNvPr id="5026" name="Brand logo 5026" descr="Brand logo"/>
          <p:cNvPicPr>
            <a:picLocks noChangeAspect="1"/>
          </p:cNvPicPr>
          <p:nvPr/>
        </p:nvPicPr>
        <p:blipFill>
          <a:blip r:embed="rIdImg1"/>
          <a:stretch>
            <a:fillRect/>
          </a:stretch>
        </p:blipFill>
        <p:spPr>
          <a:xfrm>
            <a:off x="839085" y="1097280"/>
            <a:ext cx="1439934" cy="1325880"/>
          </a:xfrm>
          <a:prstGeom prst="rect">
            <a:avLst/>
          </a:prstGeom>
          <a:ln w="6350">
            <a:solidFill>
              <a:srgbClr val="E3C5B2"/>
            </a:solidFill>
          </a:ln>
        </p:spPr>
      </p:pic>
      <p:sp>
        <p:nvSpPr>
          <p:cNvPr id="5027" name="Header 5027"/>
          <p:cNvSpPr/>
          <p:nvPr/>
        </p:nvSpPr>
        <p:spPr>
          <a:xfrm>
            <a:off x="438912" y="2606040"/>
            <a:ext cx="224028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席数構成（平面図より）</a:t>
            </a:r>
            <a:endParaRPr sz="1400" b="0" i="0" u="none" strike="noStrike" cap="none">
              <a:solidFill>
                <a:srgbClr val="000000"/>
              </a:solidFill>
              <a:latin typeface="Arial"/>
              <a:ea typeface="Arial"/>
              <a:cs typeface="Arial"/>
              <a:sym typeface="Arial"/>
            </a:endParaRPr>
          </a:p>
        </p:txBody>
      </p:sp>
      <p:graphicFrame>
        <p:nvGraphicFramePr>
          <p:cNvPr id="5028" name="Table 5028"/>
          <p:cNvGraphicFramePr/>
          <p:nvPr/>
        </p:nvGraphicFramePr>
        <p:xfrm>
          <a:off x="438912" y="2880360"/>
          <a:ext cx="2240280" cy="1376172"/>
        </p:xfrm>
        <a:graphic>
          <a:graphicData uri="http://schemas.openxmlformats.org/drawingml/2006/table">
            <a:tbl>
              <a:tblPr>
                <a:noFill/>
                <a:tableStyleId>{23FF2375-F9B8-41A6-9E25-2D63B5D407DD}</a:tableStyleId>
              </a:tblPr>
              <a:tblGrid>
                <a:gridCol w="16459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tblGrid>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エリア</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席数</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カウンター（6）・ワインバー（3）</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9席</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ダイニング</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32席</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個室・半個室（12＋6＋4）</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22席</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店内 計</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63席</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4"/>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テラス</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45席</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5"/>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合計</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108席</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6"/>
                  </a:ext>
                </a:extLst>
              </a:tr>
            </a:tbl>
          </a:graphicData>
        </a:graphic>
      </p:graphicFrame>
      <p:pic>
        <p:nvPicPr>
          <p:cNvPr id="5029" name="Floor plan 5029" descr="Floor plan"/>
          <p:cNvPicPr>
            <a:picLocks noChangeAspect="1"/>
          </p:cNvPicPr>
          <p:nvPr/>
        </p:nvPicPr>
        <p:blipFill>
          <a:blip r:embed="rIdImg2"/>
          <a:stretch>
            <a:fillRect/>
          </a:stretch>
        </p:blipFill>
        <p:spPr>
          <a:xfrm>
            <a:off x="2907099" y="786384"/>
            <a:ext cx="5797989" cy="3767328"/>
          </a:xfrm>
          <a:prstGeom prst="rect">
            <a:avLst/>
          </a:prstGeom>
          <a:ln w="6350">
            <a:solidFill>
              <a:srgbClr val="E3C5B2"/>
            </a:solidFill>
          </a:ln>
        </p:spPr>
      </p:pic>
      <p:sp>
        <p:nvSpPr>
          <p:cNvPr id="5030" name="TextBox 5030"/>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個室はオープン使用時6卓まで拡張可。平面図は実施設計前の計画図であり、変更となる可能性があります。事業収支は本平面図の席数で試算。</a:t>
            </a:r>
            <a:endParaRPr sz="1400" b="0" i="0" u="none" strike="noStrike" cap="none">
              <a:solidFill>
                <a:srgbClr val="000000"/>
              </a:solidFill>
              <a:latin typeface="Arial"/>
              <a:ea typeface="Arial"/>
              <a:cs typeface="Arial"/>
              <a:sym typeface="Arial"/>
            </a:endParaRPr>
          </a:p>
        </p:txBody>
      </p:sp>
      <p:sp>
        <p:nvSpPr>
          <p:cNvPr id="5031" name="TextBox 5031"/>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32" name="Slide Number 5032"/>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33" name="TextBox 5033"/>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店舗イメージ（パース）</a:t>
            </a:r>
            <a:endParaRPr sz="1400" b="0" i="0" u="none" strike="noStrike" cap="none">
              <a:solidFill>
                <a:srgbClr val="000000"/>
              </a:solidFill>
              <a:latin typeface="Arial"/>
              <a:ea typeface="Arial"/>
              <a:cs typeface="Arial"/>
              <a:sym typeface="Arial"/>
            </a:endParaRPr>
          </a:p>
        </p:txBody>
      </p:sp>
      <p:sp>
        <p:nvSpPr>
          <p:cNvPr id="5034" name="TextBox 5034"/>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「伝統と革新の共存」— パリのエスプリと日本の伝統が調和した cozy modern な空間</a:t>
            </a:r>
            <a:endParaRPr sz="1400" b="0" i="0" u="none" strike="noStrike" cap="none">
              <a:solidFill>
                <a:srgbClr val="000000"/>
              </a:solidFill>
              <a:latin typeface="Arial"/>
              <a:ea typeface="Arial"/>
              <a:cs typeface="Arial"/>
              <a:sym typeface="Arial"/>
            </a:endParaRPr>
          </a:p>
        </p:txBody>
      </p:sp>
      <p:pic>
        <p:nvPicPr>
          <p:cNvPr id="5035" name="テラス 5035" descr="テラス"/>
          <p:cNvPicPr>
            <a:picLocks noChangeAspect="1"/>
          </p:cNvPicPr>
          <p:nvPr/>
        </p:nvPicPr>
        <p:blipFill>
          <a:blip r:embed="rIdImg3"/>
          <a:stretch>
            <a:fillRect/>
          </a:stretch>
        </p:blipFill>
        <p:spPr>
          <a:xfrm>
            <a:off x="438912" y="868680"/>
            <a:ext cx="3250573" cy="2049810"/>
          </a:xfrm>
          <a:prstGeom prst="rect">
            <a:avLst/>
          </a:prstGeom>
          <a:ln w="6350">
            <a:solidFill>
              <a:srgbClr val="E3C5B2"/>
            </a:solidFill>
          </a:ln>
        </p:spPr>
      </p:pic>
      <p:sp>
        <p:nvSpPr>
          <p:cNvPr id="5036" name="TextBox 5036"/>
          <p:cNvSpPr txBox="1"/>
          <p:nvPr/>
        </p:nvSpPr>
        <p:spPr>
          <a:xfrm>
            <a:off x="438912" y="2964210"/>
            <a:ext cx="3250573" cy="16459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700"/>
              <a:buFont typeface="Arial"/>
              <a:buNone/>
            </a:pPr>
            <a:r>
              <a:rPr lang="ja-JP" sz="700" b="0" i="0" u="none" strike="noStrike" cap="none">
                <a:solidFill>
                  <a:srgbClr val="888888"/>
                </a:solidFill>
                <a:latin typeface="Meiryo"/>
                <a:ea typeface="Meiryo"/>
                <a:cs typeface="Meiryo"/>
                <a:sym typeface="Meiryo"/>
              </a:rPr>
              <a:t>テラス</a:t>
            </a:r>
            <a:endParaRPr sz="1400" b="0" i="0" u="none" strike="noStrike" cap="none">
              <a:solidFill>
                <a:srgbClr val="000000"/>
              </a:solidFill>
              <a:latin typeface="Arial"/>
              <a:ea typeface="Arial"/>
              <a:cs typeface="Arial"/>
              <a:sym typeface="Arial"/>
            </a:endParaRPr>
          </a:p>
        </p:txBody>
      </p:sp>
      <p:pic>
        <p:nvPicPr>
          <p:cNvPr id="5037" name="オープンキッチン・カウンター 5037" descr="オープンキッチン・カウンター"/>
          <p:cNvPicPr>
            <a:picLocks noChangeAspect="1"/>
          </p:cNvPicPr>
          <p:nvPr/>
        </p:nvPicPr>
        <p:blipFill>
          <a:blip r:embed="rIdImg4"/>
          <a:stretch>
            <a:fillRect/>
          </a:stretch>
        </p:blipFill>
        <p:spPr>
          <a:xfrm>
            <a:off x="3826645" y="868680"/>
            <a:ext cx="2516307" cy="2049810"/>
          </a:xfrm>
          <a:prstGeom prst="rect">
            <a:avLst/>
          </a:prstGeom>
          <a:ln w="6350">
            <a:solidFill>
              <a:srgbClr val="E3C5B2"/>
            </a:solidFill>
          </a:ln>
        </p:spPr>
      </p:pic>
      <p:sp>
        <p:nvSpPr>
          <p:cNvPr id="5038" name="TextBox 5038"/>
          <p:cNvSpPr txBox="1"/>
          <p:nvPr/>
        </p:nvSpPr>
        <p:spPr>
          <a:xfrm>
            <a:off x="3826645" y="2964210"/>
            <a:ext cx="2516307" cy="16459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700"/>
              <a:buFont typeface="Arial"/>
              <a:buNone/>
            </a:pPr>
            <a:r>
              <a:rPr lang="ja-JP" sz="700" b="0" i="0" u="none" strike="noStrike" cap="none">
                <a:solidFill>
                  <a:srgbClr val="888888"/>
                </a:solidFill>
                <a:latin typeface="Meiryo"/>
                <a:ea typeface="Meiryo"/>
                <a:cs typeface="Meiryo"/>
                <a:sym typeface="Meiryo"/>
              </a:rPr>
              <a:t>オープンキッチン・カウンター</a:t>
            </a:r>
            <a:endParaRPr sz="1400" b="0" i="0" u="none" strike="noStrike" cap="none">
              <a:solidFill>
                <a:srgbClr val="000000"/>
              </a:solidFill>
              <a:latin typeface="Arial"/>
              <a:ea typeface="Arial"/>
              <a:cs typeface="Arial"/>
              <a:sym typeface="Arial"/>
            </a:endParaRPr>
          </a:p>
        </p:txBody>
      </p:sp>
      <p:pic>
        <p:nvPicPr>
          <p:cNvPr id="5039" name="ワインセラー・ダイニング 5039" descr="ワインセラー・ダイニング"/>
          <p:cNvPicPr>
            <a:picLocks noChangeAspect="1"/>
          </p:cNvPicPr>
          <p:nvPr/>
        </p:nvPicPr>
        <p:blipFill>
          <a:blip r:embed="rIdImg5"/>
          <a:stretch>
            <a:fillRect/>
          </a:stretch>
        </p:blipFill>
        <p:spPr>
          <a:xfrm>
            <a:off x="6480112" y="868680"/>
            <a:ext cx="2224976" cy="2049810"/>
          </a:xfrm>
          <a:prstGeom prst="rect">
            <a:avLst/>
          </a:prstGeom>
          <a:ln w="6350">
            <a:solidFill>
              <a:srgbClr val="E3C5B2"/>
            </a:solidFill>
          </a:ln>
        </p:spPr>
      </p:pic>
      <p:sp>
        <p:nvSpPr>
          <p:cNvPr id="5040" name="TextBox 5040"/>
          <p:cNvSpPr txBox="1"/>
          <p:nvPr/>
        </p:nvSpPr>
        <p:spPr>
          <a:xfrm>
            <a:off x="6480112" y="2964210"/>
            <a:ext cx="2224976" cy="164592"/>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700"/>
              <a:buFont typeface="Arial"/>
              <a:buNone/>
            </a:pPr>
            <a:r>
              <a:rPr lang="ja-JP" sz="700" b="0" i="0" u="none" strike="noStrike" cap="none">
                <a:solidFill>
                  <a:srgbClr val="888888"/>
                </a:solidFill>
                <a:latin typeface="Meiryo"/>
                <a:ea typeface="Meiryo"/>
                <a:cs typeface="Meiryo"/>
                <a:sym typeface="Meiryo"/>
              </a:rPr>
              <a:t>ワインセラー・ダイニング</a:t>
            </a:r>
            <a:endParaRPr sz="1400" b="0" i="0" u="none" strike="noStrike" cap="none">
              <a:solidFill>
                <a:srgbClr val="000000"/>
              </a:solidFill>
              <a:latin typeface="Arial"/>
              <a:ea typeface="Arial"/>
              <a:cs typeface="Arial"/>
              <a:sym typeface="Arial"/>
            </a:endParaRPr>
          </a:p>
        </p:txBody>
      </p:sp>
      <p:sp>
        <p:nvSpPr>
          <p:cNvPr id="5041" name="Header 5041"/>
          <p:cNvSpPr/>
          <p:nvPr/>
        </p:nvSpPr>
        <p:spPr>
          <a:xfrm>
            <a:off x="438912" y="3456432"/>
            <a:ext cx="8266176"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デザインコンセプト｜cozy modern</a:t>
            </a:r>
            <a:endParaRPr sz="1400" b="0" i="0" u="none" strike="noStrike" cap="none">
              <a:solidFill>
                <a:srgbClr val="000000"/>
              </a:solidFill>
              <a:latin typeface="Arial"/>
              <a:ea typeface="Arial"/>
              <a:cs typeface="Arial"/>
              <a:sym typeface="Arial"/>
            </a:endParaRPr>
          </a:p>
        </p:txBody>
      </p:sp>
      <p:sp>
        <p:nvSpPr>
          <p:cNvPr id="5042" name="TextBox 5042"/>
          <p:cNvSpPr txBox="1"/>
          <p:nvPr/>
        </p:nvSpPr>
        <p:spPr>
          <a:xfrm>
            <a:off x="512064" y="3749040"/>
            <a:ext cx="8138160" cy="82296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カラー：ニュートラル（ホワイト・グレー・ベージュ）に、真鍮・タイル・アートワークをアクセント</a:t>
            </a:r>
            <a:endParaRPr sz="14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素材：木・石・ラタン・真鍮など、職人の技術を感じる自然素材で温かみと上質さを両立</a:t>
            </a:r>
            <a:endParaRPr sz="14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750"/>
              <a:buFont typeface="Arial"/>
              <a:buNone/>
            </a:pPr>
            <a:r>
              <a:rPr lang="ja-JP" sz="750" b="0" i="0" u="none" strike="noStrike" cap="none">
                <a:solidFill>
                  <a:srgbClr val="000000"/>
                </a:solidFill>
                <a:latin typeface="Meiryo"/>
                <a:ea typeface="Meiryo"/>
                <a:cs typeface="Meiryo"/>
                <a:sym typeface="Meiryo"/>
              </a:rPr>
              <a:t>● 家具：シンプル＆モダン　／　エレメント：アーチとグリーン（テラスのシンボルツリー）</a:t>
            </a:r>
            <a:endParaRPr sz="1400" b="0" i="0" u="none" strike="noStrike" cap="none">
              <a:solidFill>
                <a:srgbClr val="000000"/>
              </a:solidFill>
              <a:latin typeface="Arial"/>
              <a:ea typeface="Arial"/>
              <a:cs typeface="Arial"/>
              <a:sym typeface="Arial"/>
            </a:endParaRPr>
          </a:p>
        </p:txBody>
      </p:sp>
      <p:sp>
        <p:nvSpPr>
          <p:cNvPr id="5043" name="TextBox 5043"/>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Notes Design Office によるイメージスケッチ。実際の内装とは異なる場合があります。</a:t>
            </a:r>
            <a:endParaRPr sz="1400" b="0" i="0" u="none" strike="noStrike" cap="none">
              <a:solidFill>
                <a:srgbClr val="000000"/>
              </a:solidFill>
              <a:latin typeface="Arial"/>
              <a:ea typeface="Arial"/>
              <a:cs typeface="Arial"/>
              <a:sym typeface="Arial"/>
            </a:endParaRPr>
          </a:p>
        </p:txBody>
      </p:sp>
      <p:sp>
        <p:nvSpPr>
          <p:cNvPr id="5044" name="TextBox 5044"/>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45" name="Slide Number 5045"/>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5060" name="TextBox 5060"/>
          <p:cNvSpPr txBox="1"/>
          <p:nvPr/>
        </p:nvSpPr>
        <p:spPr>
          <a:xfrm>
            <a:off x="237744" y="210312"/>
            <a:ext cx="7315200" cy="28346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ja-JP" sz="1400" b="1" i="0" u="none" strike="noStrike" cap="none">
                <a:solidFill>
                  <a:srgbClr val="000000"/>
                </a:solidFill>
                <a:latin typeface="Meiryo"/>
                <a:ea typeface="Meiryo"/>
                <a:cs typeface="Meiryo"/>
                <a:sym typeface="Meiryo"/>
              </a:rPr>
              <a:t>出資リターン試算（1,000万円ご出資の場合）</a:t>
            </a:r>
            <a:endParaRPr sz="1400" b="0" i="0" u="none" strike="noStrike" cap="none">
              <a:solidFill>
                <a:srgbClr val="000000"/>
              </a:solidFill>
              <a:latin typeface="Arial"/>
              <a:ea typeface="Arial"/>
              <a:cs typeface="Arial"/>
              <a:sym typeface="Arial"/>
            </a:endParaRPr>
          </a:p>
        </p:txBody>
      </p:sp>
      <p:sp>
        <p:nvSpPr>
          <p:cNvPr id="5061" name="TextBox 5061"/>
          <p:cNvSpPr txBox="1"/>
          <p:nvPr/>
        </p:nvSpPr>
        <p:spPr>
          <a:xfrm>
            <a:off x="256032" y="512064"/>
            <a:ext cx="8412480" cy="164592"/>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750"/>
              <a:buFont typeface="Arial"/>
              <a:buNone/>
            </a:pPr>
            <a:r>
              <a:rPr lang="ja-JP" sz="750" b="0" i="0" u="none" strike="noStrike" cap="none">
                <a:solidFill>
                  <a:srgbClr val="888888"/>
                </a:solidFill>
                <a:latin typeface="Meiryo"/>
                <a:ea typeface="Meiryo"/>
                <a:cs typeface="Meiryo"/>
                <a:sym typeface="Meiryo"/>
              </a:rPr>
              <a:t>1株150,000円・ポスト4.5億円（発行済3,000株）　｜　ご持分 約2.2%　｜　事業計画に基づく2031年売却時の試算</a:t>
            </a:r>
            <a:endParaRPr sz="1400" b="0" i="0" u="none" strike="noStrike" cap="none">
              <a:solidFill>
                <a:srgbClr val="000000"/>
              </a:solidFill>
              <a:latin typeface="Arial"/>
              <a:ea typeface="Arial"/>
              <a:cs typeface="Arial"/>
              <a:sym typeface="Arial"/>
            </a:endParaRPr>
          </a:p>
        </p:txBody>
      </p:sp>
      <p:sp>
        <p:nvSpPr>
          <p:cNvPr id="5062" name="Header 5062"/>
          <p:cNvSpPr/>
          <p:nvPr/>
        </p:nvSpPr>
        <p:spPr>
          <a:xfrm>
            <a:off x="438912" y="786384"/>
            <a:ext cx="338328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株式価値の算出（方法①・基準ケース）</a:t>
            </a:r>
            <a:endParaRPr sz="1400" b="0" i="0" u="none" strike="noStrike" cap="none">
              <a:solidFill>
                <a:srgbClr val="000000"/>
              </a:solidFill>
              <a:latin typeface="Arial"/>
              <a:ea typeface="Arial"/>
              <a:cs typeface="Arial"/>
              <a:sym typeface="Arial"/>
            </a:endParaRPr>
          </a:p>
        </p:txBody>
      </p:sp>
      <p:graphicFrame>
        <p:nvGraphicFramePr>
          <p:cNvPr id="5063" name="Table 5063"/>
          <p:cNvGraphicFramePr/>
          <p:nvPr/>
        </p:nvGraphicFramePr>
        <p:xfrm>
          <a:off x="438912" y="1060704"/>
          <a:ext cx="3383280" cy="1376172"/>
        </p:xfrm>
        <a:graphic>
          <a:graphicData uri="http://schemas.openxmlformats.org/drawingml/2006/table">
            <a:tbl>
              <a:tblPr>
                <a:noFill/>
                <a:tableStyleId>{23FF2375-F9B8-41A6-9E25-2D63B5D407DD}</a:tableStyleId>
              </a:tblPr>
              <a:tblGrid>
                <a:gridCol w="25146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項目（2031年・EBITDA 5倍）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金額（億円）</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事業価値（EBITDA 4.23億円 × 5倍）</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21.2</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差引　家主への分割払い残高</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▲9.1</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差引　追加調達（借入で調達した場合）</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▲3.4</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3"/>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加算　差入保証金（退去時に返還）</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＋3.5</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4"/>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株式価値</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000000"/>
                          </a:solidFill>
                          <a:latin typeface="Meiryo"/>
                          <a:ea typeface="Meiryo"/>
                          <a:cs typeface="Meiryo"/>
                          <a:sym typeface="Meiryo"/>
                        </a:rPr>
                        <a:t>12.2</a:t>
                      </a:r>
                      <a:endParaRPr sz="1400" b="0" i="0" u="none" strike="noStrike" cap="none">
                        <a:solidFill>
                          <a:srgbClr val="000000"/>
                        </a:solidFill>
                        <a:latin typeface="Arial"/>
                        <a:ea typeface="Arial"/>
                        <a:cs typeface="Arial"/>
                        <a:sym typeface="Arial"/>
                      </a:endParaRPr>
                    </a:p>
                  </a:txBody>
                  <a:tcPr marL="45725" marR="45725" marT="0" marB="0" anchor="ctr">
                    <a:solidFill>
                      <a:srgbClr val="E3C5B2"/>
                    </a:solidFill>
                  </a:tcPr>
                </a:tc>
                <a:extLst>
                  <a:ext uri="{0D108BD9-81ED-4DB2-BD59-A6C34878D82A}">
                    <a16:rowId xmlns:a16="http://schemas.microsoft.com/office/drawing/2014/main" val="10005"/>
                  </a:ext>
                </a:extLst>
              </a:tr>
              <a:tr h="196596">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ご持分 2.22% の売却金額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2,709万円</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6"/>
                  </a:ext>
                </a:extLst>
              </a:tr>
            </a:tbl>
          </a:graphicData>
        </a:graphic>
      </p:graphicFrame>
      <p:sp>
        <p:nvSpPr>
          <p:cNvPr id="5064" name="Header 5064"/>
          <p:cNvSpPr/>
          <p:nvPr/>
        </p:nvSpPr>
        <p:spPr>
          <a:xfrm>
            <a:off x="4041648" y="786384"/>
            <a:ext cx="4663440"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売却金額の試算（万円・括弧内は出資額に対する倍率）</a:t>
            </a:r>
            <a:endParaRPr sz="1400" b="0" i="0" u="none" strike="noStrike" cap="none">
              <a:solidFill>
                <a:srgbClr val="000000"/>
              </a:solidFill>
              <a:latin typeface="Arial"/>
              <a:ea typeface="Arial"/>
              <a:cs typeface="Arial"/>
              <a:sym typeface="Arial"/>
            </a:endParaRPr>
          </a:p>
        </p:txBody>
      </p:sp>
      <p:graphicFrame>
        <p:nvGraphicFramePr>
          <p:cNvPr id="5065" name="Table 5065"/>
          <p:cNvGraphicFramePr/>
          <p:nvPr/>
        </p:nvGraphicFramePr>
        <p:xfrm>
          <a:off x="4041648" y="1060704"/>
          <a:ext cx="4663440" cy="644652"/>
        </p:xfrm>
        <a:graphic>
          <a:graphicData uri="http://schemas.openxmlformats.org/drawingml/2006/table">
            <a:tbl>
              <a:tblPr>
                <a:noFill/>
                <a:tableStyleId>{23FF2375-F9B8-41A6-9E25-2D63B5D407DD}</a:tableStyleId>
              </a:tblPr>
              <a:tblGrid>
                <a:gridCol w="1645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14884">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① EBITDA倍率法</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4倍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5倍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6倍</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214884">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2031年EBITDA基準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1,769（1.8倍）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2,709（2.7倍）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3,649（3.6倍）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214884">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ランレート基準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2,497（2.5倍）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3,620（3.6倍）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4,742（4.7倍）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bl>
          </a:graphicData>
        </a:graphic>
      </p:graphicFrame>
      <p:graphicFrame>
        <p:nvGraphicFramePr>
          <p:cNvPr id="5066" name="Table 5066"/>
          <p:cNvGraphicFramePr/>
          <p:nvPr/>
        </p:nvGraphicFramePr>
        <p:xfrm>
          <a:off x="4041648" y="1810512"/>
          <a:ext cx="4663440" cy="644652"/>
        </p:xfrm>
        <a:graphic>
          <a:graphicData uri="http://schemas.openxmlformats.org/drawingml/2006/table">
            <a:tbl>
              <a:tblPr>
                <a:noFill/>
                <a:tableStyleId>{23FF2375-F9B8-41A6-9E25-2D63B5D407DD}</a:tableStyleId>
              </a:tblPr>
              <a:tblGrid>
                <a:gridCol w="1645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14884">
                <a:tc>
                  <a:txBody>
                    <a:bodyPr/>
                    <a:lstStyle/>
                    <a:p>
                      <a:pPr marL="0" marR="0" lvl="0" indent="0" algn="l"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② 年買法（純資産＋営業権）</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3年分</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4年分</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tc>
                  <a:txBody>
                    <a:bodyPr/>
                    <a:lstStyle/>
                    <a:p>
                      <a:pPr marL="0" marR="0" lvl="0" indent="0" algn="ctr" rtl="0">
                        <a:lnSpc>
                          <a:spcPct val="100000"/>
                        </a:lnSpc>
                        <a:spcBef>
                          <a:spcPts val="0"/>
                        </a:spcBef>
                        <a:spcAft>
                          <a:spcPts val="0"/>
                        </a:spcAft>
                        <a:buClr>
                          <a:srgbClr val="000000"/>
                        </a:buClr>
                        <a:buSzPts val="650"/>
                        <a:buFont typeface="Arial"/>
                        <a:buNone/>
                      </a:pPr>
                      <a:r>
                        <a:rPr lang="ja-JP" sz="650" b="1" i="0" u="none" strike="noStrike" cap="none">
                          <a:solidFill>
                            <a:srgbClr val="FFFFFF"/>
                          </a:solidFill>
                          <a:latin typeface="Meiryo"/>
                          <a:ea typeface="Meiryo"/>
                          <a:cs typeface="Meiryo"/>
                          <a:sym typeface="Meiryo"/>
                        </a:rPr>
                        <a:t>5年分</a:t>
                      </a:r>
                      <a:endParaRPr sz="1400" b="0" i="0" u="none" strike="noStrike" cap="none">
                        <a:solidFill>
                          <a:srgbClr val="000000"/>
                        </a:solidFill>
                        <a:latin typeface="Arial"/>
                        <a:ea typeface="Arial"/>
                        <a:cs typeface="Arial"/>
                        <a:sym typeface="Arial"/>
                      </a:endParaRPr>
                    </a:p>
                  </a:txBody>
                  <a:tcPr marL="45725" marR="45725" marT="0" marB="0" anchor="ctr">
                    <a:solidFill>
                      <a:srgbClr val="C68A65"/>
                    </a:solidFill>
                  </a:tcPr>
                </a:tc>
                <a:extLst>
                  <a:ext uri="{0D108BD9-81ED-4DB2-BD59-A6C34878D82A}">
                    <a16:rowId xmlns:a16="http://schemas.microsoft.com/office/drawing/2014/main" val="10000"/>
                  </a:ext>
                </a:extLst>
              </a:tr>
              <a:tr h="214884">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2031年営業利益基準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3,081（3.1倍）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3,645（3.6倍）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4,209（4.2倍）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1"/>
                  </a:ext>
                </a:extLst>
              </a:tr>
              <a:tr h="214884">
                <a:tc>
                  <a:txBody>
                    <a:bodyPr/>
                    <a:lstStyle/>
                    <a:p>
                      <a:pPr marL="0" marR="0" lvl="0" indent="0" algn="l" rtl="0">
                        <a:lnSpc>
                          <a:spcPct val="100000"/>
                        </a:lnSpc>
                        <a:spcBef>
                          <a:spcPts val="0"/>
                        </a:spcBef>
                        <a:spcAft>
                          <a:spcPts val="0"/>
                        </a:spcAft>
                        <a:buClr>
                          <a:srgbClr val="000000"/>
                        </a:buClr>
                        <a:buSzPts val="650"/>
                        <a:buFont typeface="Arial"/>
                        <a:buNone/>
                      </a:pPr>
                      <a:r>
                        <a:rPr lang="ja-JP" sz="650" b="0" i="0" u="none" strike="noStrike" cap="none">
                          <a:solidFill>
                            <a:srgbClr val="FFFFFF"/>
                          </a:solidFill>
                          <a:latin typeface="Meiryo"/>
                          <a:ea typeface="Meiryo"/>
                          <a:cs typeface="Meiryo"/>
                          <a:sym typeface="Meiryo"/>
                        </a:rPr>
                        <a:t>ランレート基準</a:t>
                      </a:r>
                      <a:endParaRPr sz="1400" b="0" i="0" u="none" strike="noStrike" cap="none">
                        <a:solidFill>
                          <a:srgbClr val="000000"/>
                        </a:solidFill>
                        <a:latin typeface="Arial"/>
                        <a:ea typeface="Arial"/>
                        <a:cs typeface="Arial"/>
                        <a:sym typeface="Arial"/>
                      </a:endParaRPr>
                    </a:p>
                  </a:txBody>
                  <a:tcPr marL="45725" marR="45725" marT="0" marB="0" anchor="ctr">
                    <a:solidFill>
                      <a:srgbClr val="D5AA8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3,506（3.5倍）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4,211（4.2倍）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tc>
                  <a:txBody>
                    <a:bodyPr/>
                    <a:lstStyle/>
                    <a:p>
                      <a:pPr marL="0" marR="0" lvl="0" indent="0" algn="r" rtl="0">
                        <a:lnSpc>
                          <a:spcPct val="100000"/>
                        </a:lnSpc>
                        <a:spcBef>
                          <a:spcPts val="0"/>
                        </a:spcBef>
                        <a:spcAft>
                          <a:spcPts val="0"/>
                        </a:spcAft>
                        <a:buClr>
                          <a:srgbClr val="000000"/>
                        </a:buClr>
                        <a:buSzPts val="650"/>
                        <a:buFont typeface="Arial"/>
                        <a:buNone/>
                      </a:pPr>
                      <a:r>
                        <a:rPr lang="ja-JP" sz="650" b="0" i="0" u="none" strike="noStrike" cap="none">
                          <a:solidFill>
                            <a:srgbClr val="000000"/>
                          </a:solidFill>
                          <a:latin typeface="Meiryo"/>
                          <a:ea typeface="Meiryo"/>
                          <a:cs typeface="Meiryo"/>
                          <a:sym typeface="Meiryo"/>
                        </a:rPr>
                        <a:t>4,917（4.9倍）</a:t>
                      </a:r>
                      <a:endParaRPr sz="1400" b="0" i="0" u="none" strike="noStrike" cap="none">
                        <a:solidFill>
                          <a:srgbClr val="000000"/>
                        </a:solidFill>
                        <a:latin typeface="Arial"/>
                        <a:ea typeface="Arial"/>
                        <a:cs typeface="Arial"/>
                        <a:sym typeface="Arial"/>
                      </a:endParaRPr>
                    </a:p>
                  </a:txBody>
                  <a:tcPr marL="45725" marR="45725" marT="0" marB="0" anchor="ctr">
                    <a:solidFill>
                      <a:srgbClr val="FFFFFF"/>
                    </a:solidFill>
                  </a:tcPr>
                </a:tc>
                <a:extLst>
                  <a:ext uri="{0D108BD9-81ED-4DB2-BD59-A6C34878D82A}">
                    <a16:rowId xmlns:a16="http://schemas.microsoft.com/office/drawing/2014/main" val="10002"/>
                  </a:ext>
                </a:extLst>
              </a:tr>
            </a:tbl>
          </a:graphicData>
        </a:graphic>
      </p:graphicFrame>
      <p:sp>
        <p:nvSpPr>
          <p:cNvPr id="5067" name="TextBox 5067"/>
          <p:cNvSpPr txBox="1"/>
          <p:nvPr/>
        </p:nvSpPr>
        <p:spPr>
          <a:xfrm>
            <a:off x="4078224" y="2542032"/>
            <a:ext cx="4617720" cy="3657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ランレート：9店舗が出揃い全店が成熟した平常時の利益水準（Run Rate）。年買法：2031年度末の純資産（簿価）に営業利益の数年分を加算。</a:t>
            </a:r>
            <a:endParaRPr sz="1400" b="0" i="0" u="none" strike="noStrike" cap="none">
              <a:solidFill>
                <a:srgbClr val="000000"/>
              </a:solidFill>
              <a:latin typeface="Arial"/>
              <a:ea typeface="Arial"/>
              <a:cs typeface="Arial"/>
              <a:sym typeface="Arial"/>
            </a:endParaRPr>
          </a:p>
        </p:txBody>
      </p:sp>
      <p:sp>
        <p:nvSpPr>
          <p:cNvPr id="5068" name="Header 5068"/>
          <p:cNvSpPr/>
          <p:nvPr/>
        </p:nvSpPr>
        <p:spPr>
          <a:xfrm>
            <a:off x="438912" y="3017520"/>
            <a:ext cx="8266176" cy="219456"/>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JP" sz="800" b="1" i="0" u="none" strike="noStrike" cap="none">
                <a:solidFill>
                  <a:srgbClr val="FFFFFF"/>
                </a:solidFill>
                <a:latin typeface="Meiryo"/>
                <a:ea typeface="Meiryo"/>
                <a:cs typeface="Meiryo"/>
                <a:sym typeface="Meiryo"/>
              </a:rPr>
              <a:t>プレシード・シード特例（優遇措置B）を活用した場合</a:t>
            </a:r>
            <a:endParaRPr sz="1400" b="0" i="0" u="none" strike="noStrike" cap="none">
              <a:solidFill>
                <a:srgbClr val="000000"/>
              </a:solidFill>
              <a:latin typeface="Arial"/>
              <a:ea typeface="Arial"/>
              <a:cs typeface="Arial"/>
              <a:sym typeface="Arial"/>
            </a:endParaRPr>
          </a:p>
        </p:txBody>
      </p:sp>
      <p:sp>
        <p:nvSpPr>
          <p:cNvPr id="5069" name="TextBox 5069"/>
          <p:cNvSpPr txBox="1"/>
          <p:nvPr/>
        </p:nvSpPr>
        <p:spPr>
          <a:xfrm>
            <a:off x="512064" y="3310128"/>
            <a:ext cx="8138160" cy="118872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プレシード・シード特例（優遇措置B）：出資額をその年の他の株式等の売却益から控除（税率約20%）。実質投資額は約850万円（出資額の85%で試算）</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控除分は株式の取得価額から差し引かれず、実質非課税。売却益（売却額−出資額）には通常どおり約20%課税</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700"/>
              <a:buFont typeface="Arial"/>
              <a:buNone/>
            </a:pPr>
            <a:r>
              <a:rPr lang="ja-JP" sz="700" b="0" i="0" u="none" strike="noStrike" cap="none">
                <a:solidFill>
                  <a:srgbClr val="000000"/>
                </a:solidFill>
                <a:latin typeface="Meiryo"/>
                <a:ea typeface="Meiryo"/>
                <a:cs typeface="Meiryo"/>
                <a:sym typeface="Meiryo"/>
              </a:rPr>
              <a:t>● 上振れ余地：ランレート基準・6倍では約4,742万円、年買法・ランレート5年分では約4,917万円</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700"/>
              <a:buFont typeface="Arial"/>
              <a:buNone/>
            </a:pPr>
            <a:r>
              <a:rPr lang="ja-JP" sz="700" b="1" i="0" u="none" strike="noStrike" cap="none">
                <a:solidFill>
                  <a:srgbClr val="6D3B1F"/>
                </a:solidFill>
                <a:latin typeface="Meiryo"/>
                <a:ea typeface="Meiryo"/>
                <a:cs typeface="Meiryo"/>
                <a:sym typeface="Meiryo"/>
              </a:rPr>
              <a:t>● 5倍・2031年基準：売却金額 約2,709万円 → 実質投資額に対し約3.2倍、税引後手取り 約2,362万円（年率 約23%）</a:t>
            </a:r>
            <a:endParaRPr sz="1400" b="0" i="0" u="none" strike="noStrike" cap="none">
              <a:solidFill>
                <a:srgbClr val="000000"/>
              </a:solidFill>
              <a:latin typeface="Arial"/>
              <a:ea typeface="Arial"/>
              <a:cs typeface="Arial"/>
              <a:sym typeface="Arial"/>
            </a:endParaRPr>
          </a:p>
        </p:txBody>
      </p:sp>
      <p:sp>
        <p:nvSpPr>
          <p:cNvPr id="5070" name="TextBox 5070"/>
          <p:cNvSpPr txBox="1"/>
          <p:nvPr/>
        </p:nvSpPr>
        <p:spPr>
          <a:xfrm>
            <a:off x="438912" y="4663440"/>
            <a:ext cx="8229600" cy="14630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 計画値に基づく試算であり、将来のリターンを保証するものではありません。追加調達を増資で行う場合は持分が希薄化します。税制の適用可否・金額は税理士にご確認ください。</a:t>
            </a:r>
            <a:endParaRPr sz="1400" b="0" i="0" u="none" strike="noStrike" cap="none">
              <a:solidFill>
                <a:srgbClr val="000000"/>
              </a:solidFill>
              <a:latin typeface="Arial"/>
              <a:ea typeface="Arial"/>
              <a:cs typeface="Arial"/>
              <a:sym typeface="Arial"/>
            </a:endParaRPr>
          </a:p>
        </p:txBody>
      </p:sp>
      <p:sp>
        <p:nvSpPr>
          <p:cNvPr id="5071" name="TextBox 5071"/>
          <p:cNvSpPr txBox="1"/>
          <p:nvPr/>
        </p:nvSpPr>
        <p:spPr>
          <a:xfrm>
            <a:off x="54864" y="4873752"/>
            <a:ext cx="822960" cy="128016"/>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JP" sz="600" b="0" i="0" u="none" strike="noStrike" cap="none">
                <a:solidFill>
                  <a:srgbClr val="888888"/>
                </a:solidFill>
                <a:latin typeface="Meiryo"/>
                <a:ea typeface="Meiryo"/>
                <a:cs typeface="Meiryo"/>
                <a:sym typeface="Meiryo"/>
              </a:rPr>
              <a:t>CONFIDENTIAL</a:t>
            </a:r>
            <a:endParaRPr sz="1400" b="0" i="0" u="none" strike="noStrike" cap="none">
              <a:solidFill>
                <a:srgbClr val="000000"/>
              </a:solidFill>
              <a:latin typeface="Arial"/>
              <a:ea typeface="Arial"/>
              <a:cs typeface="Arial"/>
              <a:sym typeface="Arial"/>
            </a:endParaRPr>
          </a:p>
        </p:txBody>
      </p:sp>
      <p:sp>
        <p:nvSpPr>
          <p:cNvPr id="5072" name="Slide Number 5072"/>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JP" sz="700"/>
              <a:t>‹#›</a:t>
            </a:fld>
            <a:endParaRPr sz="700"/>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3248</Words>
  <Application>Microsoft Office PowerPoint</Application>
  <PresentationFormat>画面に合わせる (16:9)</PresentationFormat>
  <Paragraphs>656</Paragraphs>
  <Slides>23</Slides>
  <Notes>23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Arial</vt:lpstr>
      <vt:lpstr>Zen Kaku Gothic New</vt:lpstr>
      <vt:lpstr>Meiryo</vt:lpstr>
      <vt:lpstr>Times New Roman</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Nakano</dc:creator>
  <cp:lastModifiedBy>Kunihito Nakano</cp:lastModifiedBy>
  <cp:revision>1</cp:revision>
  <dcterms:modified xsi:type="dcterms:W3CDTF">2026-10-16T07:05:06Z</dcterms:modified>
</cp:coreProperties>
</file>