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slides/slide24.xml" ContentType="application/vnd.openxmlformats-officedocument.presentationml.slide+xml"/>
  <Override PartName="/ppt/slides/slide25.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9" r:id="rId37"/>
    <p:sldId id="280" r:id="rId38"/>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embeddedFontLst>
    <p:embeddedFont>
      <p:font typeface="Zen Kaku Gothic New" panose="020B0600070205080204" charset="-128"/>
      <p:regular r:id="rId26"/>
      <p:bold r:id="rId27"/>
    </p:embeddedFont>
    <p:embeddedFont>
      <p:font typeface="Meiryo" panose="020B0604030504040204" pitchFamily="50" charset="-128"/>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701">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iePqXLRba8gyYJtiraZ6BPnqwGK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F751054-E549-48A9-9E5F-C827F7E28947}">
  <a:tblStyle styleId="{2F751054-E549-48A9-9E5F-C827F7E28947}"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676CC8E9-4DEB-487B-9015-B81E7DF3C228}"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23FF2375-F9B8-41A6-9E25-2D63B5D407DD}" styleName="Table_2">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80" y="136"/>
      </p:cViewPr>
      <p:guideLst>
        <p:guide orient="horz" pos="1701"/>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7.xml"/>  <Relationship Id="rId37" Type="http://schemas.openxmlformats.org/officeDocument/2006/relationships/slide" Target="slides/slide24.xml"/>
  <Relationship Id="rId38" Type="http://schemas.openxmlformats.org/officeDocument/2006/relationships/slide" Target="slides/slide2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4d15c52dd9_0_109:notes"/>
          <p:cNvSpPr txBox="1">
            <a:spLocks noGrp="1"/>
          </p:cNvSpPr>
          <p:nvPr>
            <p:ph type="body" idx="1"/>
          </p:nvPr>
        </p:nvSpPr>
        <p:spPr>
          <a:xfrm>
            <a:off x="697589" y="4074457"/>
            <a:ext cx="5580600" cy="3333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 name="Google Shape;78;g34d15c52dd9_0_109:notes"/>
          <p:cNvSpPr>
            <a:spLocks noGrp="1" noRot="1" noChangeAspect="1"/>
          </p:cNvSpPr>
          <p:nvPr>
            <p:ph type="sldImg" idx="2"/>
          </p:nvPr>
        </p:nvSpPr>
        <p:spPr>
          <a:xfrm>
            <a:off x="697589" y="1058301"/>
            <a:ext cx="5580600" cy="2857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5ec7a65b47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g35ec7a65b47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5ec7a65b47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5ec7a65b47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5ec7a65b4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g35ec7a65b4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ec7a65b47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g35ec7a65b47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a7ae55b3ca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t>スキーム図を追加</a:t>
            </a:r>
            <a:endParaRPr/>
          </a:p>
        </p:txBody>
      </p:sp>
      <p:sp>
        <p:nvSpPr>
          <p:cNvPr id="208" name="Google Shape;208;g3a7ae55b3ca_0_0:notes"/>
          <p:cNvSpPr>
            <a:spLocks noGrp="1" noRot="1" noChangeAspect="1"/>
          </p:cNvSpPr>
          <p:nvPr>
            <p:ph type="sldImg" idx="2"/>
          </p:nvPr>
        </p:nvSpPr>
        <p:spPr>
          <a:xfrm>
            <a:off x="416616" y="1143553"/>
            <a:ext cx="6024600" cy="30852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5ec7a65b47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g35ec7a65b47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5ec7a65b47_0_38:notes"/>
          <p:cNvSpPr>
            <a:spLocks noGrp="1" noRot="1" noChangeAspect="1"/>
          </p:cNvSpPr>
          <p:nvPr>
            <p:ph type="sldImg" idx="2"/>
          </p:nvPr>
        </p:nvSpPr>
        <p:spPr>
          <a:xfrm>
            <a:off x="387550" y="634980"/>
            <a:ext cx="6200700" cy="31749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9" name="Google Shape;279;g35ec7a65b47_0_38:notes"/>
          <p:cNvSpPr txBox="1">
            <a:spLocks noGrp="1"/>
          </p:cNvSpPr>
          <p:nvPr>
            <p:ph type="body" idx="1"/>
          </p:nvPr>
        </p:nvSpPr>
        <p:spPr>
          <a:xfrm>
            <a:off x="697589" y="4021542"/>
            <a:ext cx="5580600" cy="381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72ef0ef644_0_39:notes"/>
          <p:cNvSpPr>
            <a:spLocks noGrp="1" noRot="1" noChangeAspect="1"/>
          </p:cNvSpPr>
          <p:nvPr>
            <p:ph type="sldImg" idx="2"/>
          </p:nvPr>
        </p:nvSpPr>
        <p:spPr>
          <a:xfrm>
            <a:off x="409575" y="1235075"/>
            <a:ext cx="5922900" cy="3332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g372ef0ef644_0_39:notes"/>
          <p:cNvSpPr txBox="1">
            <a:spLocks noGrp="1"/>
          </p:cNvSpPr>
          <p:nvPr>
            <p:ph type="body" idx="1"/>
          </p:nvPr>
        </p:nvSpPr>
        <p:spPr>
          <a:xfrm>
            <a:off x="674212" y="4752747"/>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t>（原文）</a:t>
            </a:r>
            <a:endParaRPr/>
          </a:p>
          <a:p>
            <a:pPr marL="0" marR="0" lvl="0" indent="0" algn="l" rtl="0">
              <a:lnSpc>
                <a:spcPct val="200000"/>
              </a:lnSpc>
              <a:spcBef>
                <a:spcPts val="0"/>
              </a:spcBef>
              <a:spcAft>
                <a:spcPts val="0"/>
              </a:spcAft>
              <a:buClr>
                <a:schemeClr val="lt1"/>
              </a:buClr>
              <a:buSzPts val="1800"/>
              <a:buFont typeface="Meiryo"/>
              <a:buNone/>
            </a:pPr>
            <a:r>
              <a:rPr lang="ja-JP" sz="1100" b="1" i="0" u="none" strike="noStrike" cap="none">
                <a:solidFill>
                  <a:schemeClr val="lt1"/>
                </a:solidFill>
                <a:latin typeface="Meiryo"/>
                <a:ea typeface="Meiryo"/>
                <a:cs typeface="Meiryo"/>
                <a:sym typeface="Meiryo"/>
              </a:rPr>
              <a:t>５年以内に直接間接問わず100億相当（1本2万 50万本）のワインリストをクラウド化し、</a:t>
            </a:r>
            <a:endParaRPr/>
          </a:p>
          <a:p>
            <a:pPr marL="0" marR="0" lvl="0" indent="0" algn="l" rtl="0">
              <a:lnSpc>
                <a:spcPct val="200000"/>
              </a:lnSpc>
              <a:spcBef>
                <a:spcPts val="0"/>
              </a:spcBef>
              <a:spcAft>
                <a:spcPts val="0"/>
              </a:spcAft>
              <a:buClr>
                <a:schemeClr val="lt1"/>
              </a:buClr>
              <a:buSzPts val="1800"/>
              <a:buFont typeface="Meiryo"/>
              <a:buNone/>
            </a:pPr>
            <a:r>
              <a:rPr lang="ja-JP" sz="1100" b="1" i="0" u="none" strike="noStrike" cap="none">
                <a:solidFill>
                  <a:schemeClr val="lt1"/>
                </a:solidFill>
                <a:latin typeface="Meiryo"/>
                <a:ea typeface="Meiryo"/>
                <a:cs typeface="Meiryo"/>
                <a:sym typeface="Meiryo"/>
              </a:rPr>
              <a:t>「CloudCave」アプリを通じ、個人会員と飲食会員向けに提供し、ワイン流通に変革をもたらします</a:t>
            </a:r>
            <a:r>
              <a:rPr lang="ja-JP" sz="1100" b="1">
                <a:solidFill>
                  <a:schemeClr val="lt1"/>
                </a:solidFill>
                <a:latin typeface="Meiryo"/>
                <a:ea typeface="Meiryo"/>
                <a:cs typeface="Meiryo"/>
                <a:sym typeface="Meiryo"/>
              </a:rPr>
              <a:t>。</a:t>
            </a:r>
            <a:endParaRPr/>
          </a:p>
          <a:p>
            <a:pPr marL="0" marR="0" lvl="0" indent="0" algn="l" rtl="0">
              <a:lnSpc>
                <a:spcPct val="200000"/>
              </a:lnSpc>
              <a:spcBef>
                <a:spcPts val="0"/>
              </a:spcBef>
              <a:spcAft>
                <a:spcPts val="0"/>
              </a:spcAft>
              <a:buClr>
                <a:schemeClr val="lt1"/>
              </a:buClr>
              <a:buSzPts val="1800"/>
              <a:buFont typeface="Meiryo"/>
              <a:buNone/>
            </a:pPr>
            <a:endParaRPr sz="7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JP" sz="1100" b="1" i="0" u="none" strike="noStrike" cap="none">
                <a:solidFill>
                  <a:schemeClr val="lt1"/>
                </a:solidFill>
                <a:latin typeface="Meiryo"/>
                <a:ea typeface="Meiryo"/>
                <a:cs typeface="Meiryo"/>
                <a:sym typeface="Meiryo"/>
              </a:rPr>
              <a:t>時価（インターネット最安値）でワインを仕入れることが可能になり、大手ECやオークションなどの中間マージンを省き、ワインに最適なリーファー付きで自社配送を行い、流通をアップデートします。</a:t>
            </a:r>
            <a:endParaRPr/>
          </a:p>
          <a:p>
            <a:pPr marL="0" marR="0" lvl="0" indent="0" algn="l" rtl="0">
              <a:lnSpc>
                <a:spcPct val="200000"/>
              </a:lnSpc>
              <a:spcBef>
                <a:spcPts val="0"/>
              </a:spcBef>
              <a:spcAft>
                <a:spcPts val="0"/>
              </a:spcAft>
              <a:buClr>
                <a:schemeClr val="lt1"/>
              </a:buClr>
              <a:buSzPts val="1800"/>
              <a:buFont typeface="Meiryo"/>
              <a:buNone/>
            </a:pPr>
            <a:endParaRPr sz="7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JP" sz="1100" b="1" i="0" u="none" strike="noStrike" cap="none">
                <a:solidFill>
                  <a:schemeClr val="lt1"/>
                </a:solidFill>
                <a:latin typeface="Meiryo"/>
                <a:ea typeface="Meiryo"/>
                <a:cs typeface="Meiryo"/>
                <a:sym typeface="Meiryo"/>
              </a:rPr>
              <a:t>飲食店会員は高額なワインを店内に在庫しなくてもワインリストが華やぎ、CF上のメリットも大きいです</a:t>
            </a:r>
            <a:r>
              <a:rPr lang="ja-JP" sz="1100" b="1">
                <a:solidFill>
                  <a:schemeClr val="lt1"/>
                </a:solidFill>
                <a:latin typeface="Meiryo"/>
                <a:ea typeface="Meiryo"/>
                <a:cs typeface="Meiryo"/>
                <a:sym typeface="Meiryo"/>
              </a:rPr>
              <a:t>。</a:t>
            </a:r>
            <a:endParaRPr sz="1600"/>
          </a:p>
          <a:p>
            <a:pPr marL="0" marR="0" lvl="0" indent="0" algn="l" rtl="0">
              <a:lnSpc>
                <a:spcPct val="200000"/>
              </a:lnSpc>
              <a:spcBef>
                <a:spcPts val="0"/>
              </a:spcBef>
              <a:spcAft>
                <a:spcPts val="0"/>
              </a:spcAft>
              <a:buClr>
                <a:schemeClr val="lt1"/>
              </a:buClr>
              <a:buSzPts val="1800"/>
              <a:buFont typeface="Meiryo"/>
              <a:buNone/>
            </a:pPr>
            <a:r>
              <a:rPr lang="ja-JP" sz="1100" b="1" i="0" u="none" strike="noStrike" cap="none">
                <a:solidFill>
                  <a:schemeClr val="lt1"/>
                </a:solidFill>
                <a:latin typeface="Meiryo"/>
                <a:ea typeface="Meiryo"/>
                <a:cs typeface="Meiryo"/>
                <a:sym typeface="Meiryo"/>
              </a:rPr>
              <a:t>個人会員も自己利用や贈答含めて50万本の在庫に時価でアクセスし、手に入るメリットがあります</a:t>
            </a:r>
            <a:r>
              <a:rPr lang="ja-JP" sz="1100" b="1">
                <a:solidFill>
                  <a:schemeClr val="lt1"/>
                </a:solidFill>
                <a:latin typeface="Meiryo"/>
                <a:ea typeface="Meiryo"/>
                <a:cs typeface="Meiryo"/>
                <a:sym typeface="Meiryo"/>
              </a:rPr>
              <a:t>。</a:t>
            </a:r>
            <a:endParaRPr sz="11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endParaRPr sz="7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JP" sz="1100" b="1" i="0" u="none" strike="noStrike" cap="none">
                <a:solidFill>
                  <a:schemeClr val="lt1"/>
                </a:solidFill>
                <a:latin typeface="Meiryo"/>
                <a:ea typeface="Meiryo"/>
                <a:cs typeface="Meiryo"/>
                <a:sym typeface="Meiryo"/>
              </a:rPr>
              <a:t>今日もお望みの1本を「Cloud Cave」アプリを通じ、ご自身のセラー代わりに利用しファインワインを楽しんでください</a:t>
            </a:r>
            <a:r>
              <a:rPr lang="ja-JP" sz="1100" b="1">
                <a:solidFill>
                  <a:schemeClr val="lt1"/>
                </a:solidFill>
                <a:latin typeface="Meiryo"/>
                <a:ea typeface="Meiryo"/>
                <a:cs typeface="Meiryo"/>
                <a:sym typeface="Meiryo"/>
              </a:rPr>
              <a:t>。</a:t>
            </a:r>
            <a:endParaRPr sz="1600"/>
          </a:p>
          <a:p>
            <a:pPr marL="0" marR="0" lvl="0" indent="0" algn="l" rtl="0">
              <a:lnSpc>
                <a:spcPct val="200000"/>
              </a:lnSpc>
              <a:spcBef>
                <a:spcPts val="0"/>
              </a:spcBef>
              <a:spcAft>
                <a:spcPts val="0"/>
              </a:spcAft>
              <a:buClr>
                <a:schemeClr val="lt1"/>
              </a:buClr>
              <a:buSzPts val="1800"/>
              <a:buFont typeface="Meiryo"/>
              <a:buNone/>
            </a:pPr>
            <a:endParaRPr sz="1100" b="1" i="0" u="none" strike="noStrike" cap="none">
              <a:solidFill>
                <a:schemeClr val="lt1"/>
              </a:solidFill>
              <a:latin typeface="Meiryo"/>
              <a:ea typeface="Meiryo"/>
              <a:cs typeface="Meiryo"/>
              <a:sym typeface="Meiryo"/>
            </a:endParaRPr>
          </a:p>
          <a:p>
            <a:pPr marL="0" lvl="0" indent="0" algn="l" rtl="0">
              <a:lnSpc>
                <a:spcPct val="100000"/>
              </a:lnSpc>
              <a:spcBef>
                <a:spcPts val="0"/>
              </a:spcBef>
              <a:spcAft>
                <a:spcPts val="0"/>
              </a:spcAft>
              <a:buSzPts val="1400"/>
              <a:buNone/>
            </a:pPr>
            <a:endParaRPr/>
          </a:p>
        </p:txBody>
      </p:sp>
      <p:sp>
        <p:nvSpPr>
          <p:cNvPr id="288" name="Google Shape;288;g372ef0ef644_0_39:notes"/>
          <p:cNvSpPr txBox="1">
            <a:spLocks noGrp="1"/>
          </p:cNvSpPr>
          <p:nvPr>
            <p:ph type="sldNum" idx="12"/>
          </p:nvPr>
        </p:nvSpPr>
        <p:spPr>
          <a:xfrm>
            <a:off x="3818971" y="9380332"/>
            <a:ext cx="2921700" cy="4953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ja-JP"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75a5397052_0_95:notes"/>
          <p:cNvSpPr txBox="1">
            <a:spLocks noGrp="1"/>
          </p:cNvSpPr>
          <p:nvPr>
            <p:ph type="body" idx="1"/>
          </p:nvPr>
        </p:nvSpPr>
        <p:spPr>
          <a:xfrm>
            <a:off x="685800" y="4400556"/>
            <a:ext cx="5486400" cy="3600300"/>
          </a:xfrm>
          <a:prstGeom prst="rect">
            <a:avLst/>
          </a:prstGeom>
          <a:no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a:p>
        </p:txBody>
      </p:sp>
      <p:sp>
        <p:nvSpPr>
          <p:cNvPr id="302" name="Google Shape;302;g375a5397052_0_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72ef0ef644_0_10:notes"/>
          <p:cNvSpPr txBox="1">
            <a:spLocks noGrp="1"/>
          </p:cNvSpPr>
          <p:nvPr>
            <p:ph type="body" idx="1"/>
          </p:nvPr>
        </p:nvSpPr>
        <p:spPr>
          <a:xfrm>
            <a:off x="685800" y="4400556"/>
            <a:ext cx="5486400" cy="3600300"/>
          </a:xfrm>
          <a:prstGeom prst="rect">
            <a:avLst/>
          </a:prstGeom>
          <a:no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a:p>
        </p:txBody>
      </p:sp>
      <p:sp>
        <p:nvSpPr>
          <p:cNvPr id="317" name="Google Shape;317;g372ef0ef644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9" name="Google Shape;329;p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4" name="Google Shape;344;p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5c92f92476_0_2:notes"/>
          <p:cNvSpPr>
            <a:spLocks noGrp="1" noRot="1" noChangeAspect="1"/>
          </p:cNvSpPr>
          <p:nvPr>
            <p:ph type="sldImg" idx="2"/>
          </p:nvPr>
        </p:nvSpPr>
        <p:spPr>
          <a:xfrm>
            <a:off x="387550" y="634980"/>
            <a:ext cx="6200700" cy="31749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9" name="Google Shape;359;g35c92f92476_0_2:notes"/>
          <p:cNvSpPr txBox="1">
            <a:spLocks noGrp="1"/>
          </p:cNvSpPr>
          <p:nvPr>
            <p:ph type="body" idx="1"/>
          </p:nvPr>
        </p:nvSpPr>
        <p:spPr>
          <a:xfrm>
            <a:off x="697589" y="4021542"/>
            <a:ext cx="5580600" cy="381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34d15c52dd9_0_116:notes"/>
          <p:cNvSpPr txBox="1">
            <a:spLocks noGrp="1"/>
          </p:cNvSpPr>
          <p:nvPr>
            <p:ph type="body" idx="1"/>
          </p:nvPr>
        </p:nvSpPr>
        <p:spPr>
          <a:xfrm>
            <a:off x="697589" y="4074463"/>
            <a:ext cx="5580600" cy="3333600"/>
          </a:xfrm>
          <a:prstGeom prst="rect">
            <a:avLst/>
          </a:prstGeom>
          <a:noFill/>
          <a:ln>
            <a:noFill/>
          </a:ln>
        </p:spPr>
        <p:txBody>
          <a:bodyPr spcFirstLastPara="1" wrap="square" lIns="91400" tIns="45675" rIns="91400" bIns="45675" anchor="t" anchorCtr="0">
            <a:noAutofit/>
          </a:bodyPr>
          <a:lstStyle/>
          <a:p>
            <a:pPr marL="0" lvl="0" indent="0" algn="l" rtl="0">
              <a:lnSpc>
                <a:spcPct val="100000"/>
              </a:lnSpc>
              <a:spcBef>
                <a:spcPts val="0"/>
              </a:spcBef>
              <a:spcAft>
                <a:spcPts val="0"/>
              </a:spcAft>
              <a:buSzPts val="1400"/>
              <a:buNone/>
            </a:pPr>
            <a:endParaRPr/>
          </a:p>
        </p:txBody>
      </p:sp>
      <p:sp>
        <p:nvSpPr>
          <p:cNvPr id="366" name="Google Shape;366;g34d15c52dd9_0_116:notes"/>
          <p:cNvSpPr>
            <a:spLocks noGrp="1" noRot="1" noChangeAspect="1"/>
          </p:cNvSpPr>
          <p:nvPr>
            <p:ph type="sldImg" idx="2"/>
          </p:nvPr>
        </p:nvSpPr>
        <p:spPr>
          <a:xfrm>
            <a:off x="697589" y="1058301"/>
            <a:ext cx="5580600" cy="2857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4d15c52dd9_0_1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5" name="Google Shape;375;g34d15c52dd9_0_1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376" name="Google Shape;376;g34d15c52dd9_0_1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ja-JP"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34d15c52dd9_0_208:notes"/>
          <p:cNvSpPr>
            <a:spLocks noGrp="1" noRot="1" noChangeAspect="1"/>
          </p:cNvSpPr>
          <p:nvPr>
            <p:ph type="sldImg" idx="2"/>
          </p:nvPr>
        </p:nvSpPr>
        <p:spPr>
          <a:xfrm>
            <a:off x="409575" y="1235075"/>
            <a:ext cx="5922900" cy="3332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7" name="Google Shape;387;g34d15c52dd9_0_208:notes"/>
          <p:cNvSpPr txBox="1">
            <a:spLocks noGrp="1"/>
          </p:cNvSpPr>
          <p:nvPr>
            <p:ph type="body" idx="1"/>
          </p:nvPr>
        </p:nvSpPr>
        <p:spPr>
          <a:xfrm>
            <a:off x="674212" y="4752747"/>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t>（原文）</a:t>
            </a:r>
            <a:endParaRPr/>
          </a:p>
          <a:p>
            <a:pPr marL="0" marR="0" lvl="0" indent="0" algn="l" rtl="0">
              <a:lnSpc>
                <a:spcPct val="200000"/>
              </a:lnSpc>
              <a:spcBef>
                <a:spcPts val="0"/>
              </a:spcBef>
              <a:spcAft>
                <a:spcPts val="0"/>
              </a:spcAft>
              <a:buClr>
                <a:schemeClr val="lt1"/>
              </a:buClr>
              <a:buSzPts val="1800"/>
              <a:buFont typeface="Meiryo"/>
              <a:buNone/>
            </a:pPr>
            <a:r>
              <a:rPr lang="ja-JP" sz="1100" b="1" i="0" u="none" strike="noStrike" cap="none">
                <a:solidFill>
                  <a:schemeClr val="lt1"/>
                </a:solidFill>
                <a:latin typeface="Meiryo"/>
                <a:ea typeface="Meiryo"/>
                <a:cs typeface="Meiryo"/>
                <a:sym typeface="Meiryo"/>
              </a:rPr>
              <a:t>５年以内に直接間接問わず100億相当（1本2万 50万本）のワインリストをクラウド化し、</a:t>
            </a:r>
            <a:endParaRPr/>
          </a:p>
          <a:p>
            <a:pPr marL="0" marR="0" lvl="0" indent="0" algn="l" rtl="0">
              <a:lnSpc>
                <a:spcPct val="200000"/>
              </a:lnSpc>
              <a:spcBef>
                <a:spcPts val="0"/>
              </a:spcBef>
              <a:spcAft>
                <a:spcPts val="0"/>
              </a:spcAft>
              <a:buClr>
                <a:schemeClr val="lt1"/>
              </a:buClr>
              <a:buSzPts val="1800"/>
              <a:buFont typeface="Meiryo"/>
              <a:buNone/>
            </a:pPr>
            <a:r>
              <a:rPr lang="ja-JP" sz="1100" b="1" i="0" u="none" strike="noStrike" cap="none">
                <a:solidFill>
                  <a:schemeClr val="lt1"/>
                </a:solidFill>
                <a:latin typeface="Meiryo"/>
                <a:ea typeface="Meiryo"/>
                <a:cs typeface="Meiryo"/>
                <a:sym typeface="Meiryo"/>
              </a:rPr>
              <a:t>「CloudCave」アプリを通じ、個人会員と飲食会員向けに提供し、ワイン流通に変革をもたらします</a:t>
            </a:r>
            <a:r>
              <a:rPr lang="ja-JP" sz="1100" b="1">
                <a:solidFill>
                  <a:schemeClr val="lt1"/>
                </a:solidFill>
                <a:latin typeface="Meiryo"/>
                <a:ea typeface="Meiryo"/>
                <a:cs typeface="Meiryo"/>
                <a:sym typeface="Meiryo"/>
              </a:rPr>
              <a:t>。</a:t>
            </a:r>
            <a:endParaRPr/>
          </a:p>
          <a:p>
            <a:pPr marL="0" marR="0" lvl="0" indent="0" algn="l" rtl="0">
              <a:lnSpc>
                <a:spcPct val="200000"/>
              </a:lnSpc>
              <a:spcBef>
                <a:spcPts val="0"/>
              </a:spcBef>
              <a:spcAft>
                <a:spcPts val="0"/>
              </a:spcAft>
              <a:buClr>
                <a:schemeClr val="lt1"/>
              </a:buClr>
              <a:buSzPts val="1800"/>
              <a:buFont typeface="Meiryo"/>
              <a:buNone/>
            </a:pPr>
            <a:endParaRPr sz="7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JP" sz="1100" b="1" i="0" u="none" strike="noStrike" cap="none">
                <a:solidFill>
                  <a:schemeClr val="lt1"/>
                </a:solidFill>
                <a:latin typeface="Meiryo"/>
                <a:ea typeface="Meiryo"/>
                <a:cs typeface="Meiryo"/>
                <a:sym typeface="Meiryo"/>
              </a:rPr>
              <a:t>時価（インターネット最安値）でワインを仕入れることが可能になり、大手ECやオークションなどの中間マージンを省き、ワインに最適なリーファー付きで自社配送を行い、流通をアップデートします。</a:t>
            </a:r>
            <a:endParaRPr/>
          </a:p>
          <a:p>
            <a:pPr marL="0" marR="0" lvl="0" indent="0" algn="l" rtl="0">
              <a:lnSpc>
                <a:spcPct val="200000"/>
              </a:lnSpc>
              <a:spcBef>
                <a:spcPts val="0"/>
              </a:spcBef>
              <a:spcAft>
                <a:spcPts val="0"/>
              </a:spcAft>
              <a:buClr>
                <a:schemeClr val="lt1"/>
              </a:buClr>
              <a:buSzPts val="1800"/>
              <a:buFont typeface="Meiryo"/>
              <a:buNone/>
            </a:pPr>
            <a:endParaRPr sz="7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JP" sz="1100" b="1" i="0" u="none" strike="noStrike" cap="none">
                <a:solidFill>
                  <a:schemeClr val="lt1"/>
                </a:solidFill>
                <a:latin typeface="Meiryo"/>
                <a:ea typeface="Meiryo"/>
                <a:cs typeface="Meiryo"/>
                <a:sym typeface="Meiryo"/>
              </a:rPr>
              <a:t>飲食店会員は高額なワインを店内に在庫しなくてもワインリストが華やぎ、CF上のメリットも大きいです</a:t>
            </a:r>
            <a:r>
              <a:rPr lang="ja-JP" sz="1100" b="1">
                <a:solidFill>
                  <a:schemeClr val="lt1"/>
                </a:solidFill>
                <a:latin typeface="Meiryo"/>
                <a:ea typeface="Meiryo"/>
                <a:cs typeface="Meiryo"/>
                <a:sym typeface="Meiryo"/>
              </a:rPr>
              <a:t>。</a:t>
            </a:r>
            <a:endParaRPr sz="1600"/>
          </a:p>
          <a:p>
            <a:pPr marL="0" marR="0" lvl="0" indent="0" algn="l" rtl="0">
              <a:lnSpc>
                <a:spcPct val="200000"/>
              </a:lnSpc>
              <a:spcBef>
                <a:spcPts val="0"/>
              </a:spcBef>
              <a:spcAft>
                <a:spcPts val="0"/>
              </a:spcAft>
              <a:buClr>
                <a:schemeClr val="lt1"/>
              </a:buClr>
              <a:buSzPts val="1800"/>
              <a:buFont typeface="Meiryo"/>
              <a:buNone/>
            </a:pPr>
            <a:r>
              <a:rPr lang="ja-JP" sz="1100" b="1" i="0" u="none" strike="noStrike" cap="none">
                <a:solidFill>
                  <a:schemeClr val="lt1"/>
                </a:solidFill>
                <a:latin typeface="Meiryo"/>
                <a:ea typeface="Meiryo"/>
                <a:cs typeface="Meiryo"/>
                <a:sym typeface="Meiryo"/>
              </a:rPr>
              <a:t>個人会員も自己利用や贈答含めて50万本の在庫に時価でアクセスし、手に入るメリットがあります</a:t>
            </a:r>
            <a:r>
              <a:rPr lang="ja-JP" sz="1100" b="1">
                <a:solidFill>
                  <a:schemeClr val="lt1"/>
                </a:solidFill>
                <a:latin typeface="Meiryo"/>
                <a:ea typeface="Meiryo"/>
                <a:cs typeface="Meiryo"/>
                <a:sym typeface="Meiryo"/>
              </a:rPr>
              <a:t>。</a:t>
            </a:r>
            <a:endParaRPr sz="11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endParaRPr sz="7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JP" sz="1100" b="1" i="0" u="none" strike="noStrike" cap="none">
                <a:solidFill>
                  <a:schemeClr val="lt1"/>
                </a:solidFill>
                <a:latin typeface="Meiryo"/>
                <a:ea typeface="Meiryo"/>
                <a:cs typeface="Meiryo"/>
                <a:sym typeface="Meiryo"/>
              </a:rPr>
              <a:t>今日もお望みの1本を「Cloud Cave」アプリを通じ、ご自身のセラー代わりに利用しファインワインを楽しんでください</a:t>
            </a:r>
            <a:r>
              <a:rPr lang="ja-JP" sz="1100" b="1">
                <a:solidFill>
                  <a:schemeClr val="lt1"/>
                </a:solidFill>
                <a:latin typeface="Meiryo"/>
                <a:ea typeface="Meiryo"/>
                <a:cs typeface="Meiryo"/>
                <a:sym typeface="Meiryo"/>
              </a:rPr>
              <a:t>。</a:t>
            </a:r>
            <a:endParaRPr sz="1600"/>
          </a:p>
          <a:p>
            <a:pPr marL="0" marR="0" lvl="0" indent="0" algn="l" rtl="0">
              <a:lnSpc>
                <a:spcPct val="200000"/>
              </a:lnSpc>
              <a:spcBef>
                <a:spcPts val="0"/>
              </a:spcBef>
              <a:spcAft>
                <a:spcPts val="0"/>
              </a:spcAft>
              <a:buClr>
                <a:schemeClr val="lt1"/>
              </a:buClr>
              <a:buSzPts val="1800"/>
              <a:buFont typeface="Meiryo"/>
              <a:buNone/>
            </a:pPr>
            <a:endParaRPr sz="1100" b="1" i="0" u="none" strike="noStrike" cap="none">
              <a:solidFill>
                <a:schemeClr val="lt1"/>
              </a:solidFill>
              <a:latin typeface="Meiryo"/>
              <a:ea typeface="Meiryo"/>
              <a:cs typeface="Meiryo"/>
              <a:sym typeface="Meiryo"/>
            </a:endParaRPr>
          </a:p>
          <a:p>
            <a:pPr marL="0" lvl="0" indent="0" algn="l" rtl="0">
              <a:lnSpc>
                <a:spcPct val="100000"/>
              </a:lnSpc>
              <a:spcBef>
                <a:spcPts val="0"/>
              </a:spcBef>
              <a:spcAft>
                <a:spcPts val="0"/>
              </a:spcAft>
              <a:buSzPts val="1400"/>
              <a:buNone/>
            </a:pPr>
            <a:endParaRPr/>
          </a:p>
        </p:txBody>
      </p:sp>
      <p:sp>
        <p:nvSpPr>
          <p:cNvPr id="388" name="Google Shape;388;g34d15c52dd9_0_208:notes"/>
          <p:cNvSpPr txBox="1">
            <a:spLocks noGrp="1"/>
          </p:cNvSpPr>
          <p:nvPr>
            <p:ph type="sldNum" idx="12"/>
          </p:nvPr>
        </p:nvSpPr>
        <p:spPr>
          <a:xfrm>
            <a:off x="3818971" y="9380332"/>
            <a:ext cx="2921700" cy="4953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ja-JP"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4d15c52dd9_0_475:notes"/>
          <p:cNvSpPr txBox="1">
            <a:spLocks noGrp="1"/>
          </p:cNvSpPr>
          <p:nvPr>
            <p:ph type="body" idx="1"/>
          </p:nvPr>
        </p:nvSpPr>
        <p:spPr>
          <a:xfrm>
            <a:off x="692422" y="4428845"/>
            <a:ext cx="5539500" cy="3623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9" name="Google Shape;399;g34d15c52dd9_0_475:notes"/>
          <p:cNvSpPr>
            <a:spLocks noGrp="1" noRot="1" noChangeAspect="1"/>
          </p:cNvSpPr>
          <p:nvPr>
            <p:ph type="sldImg" idx="2"/>
          </p:nvPr>
        </p:nvSpPr>
        <p:spPr>
          <a:xfrm>
            <a:off x="429534" y="1150902"/>
            <a:ext cx="6065400" cy="3105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34d15c52dd9_0_2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4" name="Google Shape;434;g34d15c52dd9_0_2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3a7ae55b3ca_0_111:notes"/>
          <p:cNvSpPr txBox="1">
            <a:spLocks noGrp="1"/>
          </p:cNvSpPr>
          <p:nvPr>
            <p:ph type="body" idx="1"/>
          </p:nvPr>
        </p:nvSpPr>
        <p:spPr>
          <a:xfrm>
            <a:off x="697589" y="4074463"/>
            <a:ext cx="5580600" cy="3333600"/>
          </a:xfrm>
          <a:prstGeom prst="rect">
            <a:avLst/>
          </a:prstGeom>
          <a:noFill/>
          <a:ln>
            <a:noFill/>
          </a:ln>
        </p:spPr>
        <p:txBody>
          <a:bodyPr spcFirstLastPara="1" wrap="square" lIns="91400" tIns="45675" rIns="91400" bIns="45675" anchor="t" anchorCtr="0">
            <a:noAutofit/>
          </a:bodyPr>
          <a:lstStyle/>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
        <p:nvSpPr>
          <p:cNvPr id="447" name="Google Shape;447;g3a7ae55b3ca_0_111:notes"/>
          <p:cNvSpPr>
            <a:spLocks noGrp="1" noRot="1" noChangeAspect="1"/>
          </p:cNvSpPr>
          <p:nvPr>
            <p:ph type="sldImg" idx="2"/>
          </p:nvPr>
        </p:nvSpPr>
        <p:spPr>
          <a:xfrm>
            <a:off x="697589" y="1058301"/>
            <a:ext cx="5580600" cy="2857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34d15c52dd9_0_5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0" name="Google Shape;490;g34d15c52dd9_0_583:notes"/>
          <p:cNvSpPr>
            <a:spLocks noGrp="1" noRot="1" noChangeAspect="1"/>
          </p:cNvSpPr>
          <p:nvPr>
            <p:ph type="sldImg" idx="2"/>
          </p:nvPr>
        </p:nvSpPr>
        <p:spPr>
          <a:xfrm>
            <a:off x="82355" y="686426"/>
            <a:ext cx="6693300" cy="3427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3f9fd91c555_1_0:notes"/>
          <p:cNvSpPr txBox="1">
            <a:spLocks noGrp="1"/>
          </p:cNvSpPr>
          <p:nvPr>
            <p:ph type="body" idx="1"/>
          </p:nvPr>
        </p:nvSpPr>
        <p:spPr>
          <a:xfrm>
            <a:off x="685802" y="4786369"/>
            <a:ext cx="5486400" cy="3915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800"/>
              <a:buFont typeface="Arial"/>
              <a:buNone/>
            </a:pPr>
            <a:endParaRPr/>
          </a:p>
        </p:txBody>
      </p:sp>
      <p:sp>
        <p:nvSpPr>
          <p:cNvPr id="502" name="Google Shape;502;g3f9fd91c555_1_0:notes"/>
          <p:cNvSpPr>
            <a:spLocks noGrp="1" noRot="1" noChangeAspect="1"/>
          </p:cNvSpPr>
          <p:nvPr>
            <p:ph type="sldImg" idx="2"/>
          </p:nvPr>
        </p:nvSpPr>
        <p:spPr>
          <a:xfrm>
            <a:off x="153406" y="1243503"/>
            <a:ext cx="6551100" cy="3355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34d15c52dd9_0_30:notes"/>
          <p:cNvSpPr>
            <a:spLocks noGrp="1" noRot="1" noChangeAspect="1"/>
          </p:cNvSpPr>
          <p:nvPr>
            <p:ph type="sldImg" idx="2"/>
          </p:nvPr>
        </p:nvSpPr>
        <p:spPr>
          <a:xfrm>
            <a:off x="387550" y="634980"/>
            <a:ext cx="6200700" cy="31749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7" name="Google Shape;517;g34d15c52dd9_0_30:notes"/>
          <p:cNvSpPr txBox="1">
            <a:spLocks noGrp="1"/>
          </p:cNvSpPr>
          <p:nvPr>
            <p:ph type="body" idx="1"/>
          </p:nvPr>
        </p:nvSpPr>
        <p:spPr>
          <a:xfrm>
            <a:off x="697589" y="4021542"/>
            <a:ext cx="5580600" cy="381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1"/>
        <p:cNvGrpSpPr/>
        <p:nvPr/>
      </p:nvGrpSpPr>
      <p:grpSpPr>
        <a:xfrm>
          <a:off x="0" y="0"/>
          <a:ext cx="0" cy="0"/>
          <a:chOff x="0" y="0"/>
          <a:chExt cx="0" cy="0"/>
        </a:xfrm>
      </p:grpSpPr>
      <p:sp>
        <p:nvSpPr>
          <p:cNvPr id="12" name="Google Shape;12;p14"/>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 name="Google Shape;13;p14"/>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Google Shape;14;p1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 name="Google Shape;15;p1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 name="Google Shape;16;p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17"/>
        <p:cNvGrpSpPr/>
        <p:nvPr/>
      </p:nvGrpSpPr>
      <p:grpSpPr>
        <a:xfrm>
          <a:off x="0" y="0"/>
          <a:ext cx="0" cy="0"/>
          <a:chOff x="0" y="0"/>
          <a:chExt cx="0" cy="0"/>
        </a:xfrm>
      </p:grpSpPr>
      <p:sp>
        <p:nvSpPr>
          <p:cNvPr id="18" name="Google Shape;18;p1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 name="Google Shape;19;p1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 name="Google Shape;20;p1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ユーザー設定レイアウト">
  <p:cSld name="ユーザー設定レイアウト">
    <p:bg>
      <p:bgPr>
        <a:solidFill>
          <a:srgbClr val="36394B"/>
        </a:solidFill>
        <a:effectLst/>
      </p:bgPr>
    </p:bg>
    <p:spTree>
      <p:nvGrpSpPr>
        <p:cNvPr id="1" name="Shape 21"/>
        <p:cNvGrpSpPr/>
        <p:nvPr/>
      </p:nvGrpSpPr>
      <p:grpSpPr>
        <a:xfrm>
          <a:off x="0" y="0"/>
          <a:ext cx="0" cy="0"/>
          <a:chOff x="0" y="0"/>
          <a:chExt cx="0" cy="0"/>
        </a:xfrm>
      </p:grpSpPr>
      <p:pic>
        <p:nvPicPr>
          <p:cNvPr id="22" name="Google Shape;22;g34d15c52dd9_0_107" descr="株式会社WineBank (@WineBank_O) / X"/>
          <p:cNvPicPr preferRelativeResize="0"/>
          <p:nvPr/>
        </p:nvPicPr>
        <p:blipFill rotWithShape="1">
          <a:blip r:embed="rId2">
            <a:alphaModFix amt="10000"/>
          </a:blip>
          <a:srcRect/>
          <a:stretch/>
        </p:blipFill>
        <p:spPr>
          <a:xfrm>
            <a:off x="-451045" y="-101772"/>
            <a:ext cx="5302422" cy="530242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3"/>
        <p:cNvGrpSpPr/>
        <p:nvPr/>
      </p:nvGrpSpPr>
      <p:grpSpPr>
        <a:xfrm>
          <a:off x="0" y="0"/>
          <a:ext cx="0" cy="0"/>
          <a:chOff x="0" y="0"/>
          <a:chExt cx="0" cy="0"/>
        </a:xfrm>
      </p:grpSpPr>
      <p:sp>
        <p:nvSpPr>
          <p:cNvPr id="24" name="Google Shape;24;p18"/>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5" name="Google Shape;25;p18"/>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Google Shape;26;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7" name="Google Shape;27;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8" name="Google Shape;28;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29"/>
        <p:cNvGrpSpPr/>
        <p:nvPr/>
      </p:nvGrpSpPr>
      <p:grpSpPr>
        <a:xfrm>
          <a:off x="0" y="0"/>
          <a:ext cx="0" cy="0"/>
          <a:chOff x="0" y="0"/>
          <a:chExt cx="0" cy="0"/>
        </a:xfrm>
      </p:grpSpPr>
      <p:sp>
        <p:nvSpPr>
          <p:cNvPr id="30" name="Google Shape;30;p1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1" name="Google Shape;31;p19"/>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Google Shape;32;p19"/>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Google Shape;33;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4" name="Google Shape;34;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5" name="Google Shape;35;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36"/>
        <p:cNvGrpSpPr/>
        <p:nvPr/>
      </p:nvGrpSpPr>
      <p:grpSpPr>
        <a:xfrm>
          <a:off x="0" y="0"/>
          <a:ext cx="0" cy="0"/>
          <a:chOff x="0" y="0"/>
          <a:chExt cx="0" cy="0"/>
        </a:xfrm>
      </p:grpSpPr>
      <p:sp>
        <p:nvSpPr>
          <p:cNvPr id="37" name="Google Shape;37;p20"/>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8" name="Google Shape;38;p20"/>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Google Shape;39;p20"/>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Google Shape;40;p20"/>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Google Shape;41;p20"/>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Google Shape;42;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3" name="Google Shape;43;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4" name="Google Shape;44;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5"/>
        <p:cNvGrpSpPr/>
        <p:nvPr/>
      </p:nvGrpSpPr>
      <p:grpSpPr>
        <a:xfrm>
          <a:off x="0" y="0"/>
          <a:ext cx="0" cy="0"/>
          <a:chOff x="0" y="0"/>
          <a:chExt cx="0" cy="0"/>
        </a:xfrm>
      </p:grpSpPr>
      <p:sp>
        <p:nvSpPr>
          <p:cNvPr id="46" name="Google Shape;46;p2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7" name="Google Shape;47;p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8" name="Google Shape;48;p2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9" name="Google Shape;49;p2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50"/>
        <p:cNvGrpSpPr/>
        <p:nvPr/>
      </p:nvGrpSpPr>
      <p:grpSpPr>
        <a:xfrm>
          <a:off x="0" y="0"/>
          <a:ext cx="0" cy="0"/>
          <a:chOff x="0" y="0"/>
          <a:chExt cx="0" cy="0"/>
        </a:xfrm>
      </p:grpSpPr>
      <p:sp>
        <p:nvSpPr>
          <p:cNvPr id="51" name="Google Shape;51;p22"/>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2" name="Google Shape;52;p22"/>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3" name="Google Shape;53;p22"/>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4" name="Google Shape;54;p2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5" name="Google Shape;55;p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6" name="Google Shape;56;p2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9" name="Google Shape;59;p23"/>
          <p:cNvSpPr>
            <a:spLocks noGrp="1"/>
          </p:cNvSpPr>
          <p:nvPr>
            <p:ph type="pic" idx="2"/>
          </p:nvPr>
        </p:nvSpPr>
        <p:spPr>
          <a:xfrm>
            <a:off x="3887391" y="740569"/>
            <a:ext cx="4629150" cy="3655219"/>
          </a:xfrm>
          <a:prstGeom prst="rect">
            <a:avLst/>
          </a:prstGeom>
          <a:noFill/>
          <a:ln>
            <a:noFill/>
          </a:ln>
        </p:spPr>
      </p:sp>
      <p:sp>
        <p:nvSpPr>
          <p:cNvPr id="60" name="Google Shape;60;p23"/>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1" name="Google Shape;61;p2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2" name="Google Shape;62;p2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3" name="Google Shape;63;p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6" name="Google Shape;66;p24"/>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7" name="Google Shape;67;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8" name="Google Shape;68;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9" name="Google Shape;69;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0"/>
        <p:cNvGrpSpPr/>
        <p:nvPr/>
      </p:nvGrpSpPr>
      <p:grpSpPr>
        <a:xfrm>
          <a:off x="0" y="0"/>
          <a:ext cx="0" cy="0"/>
          <a:chOff x="0" y="0"/>
          <a:chExt cx="0" cy="0"/>
        </a:xfrm>
      </p:grpSpPr>
      <p:sp>
        <p:nvSpPr>
          <p:cNvPr id="71" name="Google Shape;71;p2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2" name="Google Shape;72;p25"/>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3" name="Google Shape;73;p2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4" name="Google Shape;74;p2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5" name="Google Shape;75;p2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Google Shape;8;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9" name="Google Shape;9;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0" name="Google Shape;10;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9.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gif"/></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g34d15c52dd9_0_109"/>
          <p:cNvSpPr txBox="1"/>
          <p:nvPr/>
        </p:nvSpPr>
        <p:spPr>
          <a:xfrm>
            <a:off x="961650" y="1810650"/>
            <a:ext cx="7076700" cy="604200"/>
          </a:xfrm>
          <a:prstGeom prst="rect">
            <a:avLst/>
          </a:prstGeom>
          <a:noFill/>
          <a:ln>
            <a:noFill/>
          </a:ln>
        </p:spPr>
        <p:txBody>
          <a:bodyPr spcFirstLastPara="1" wrap="square" lIns="68575" tIns="34275" rIns="68575" bIns="34275" anchor="ctr" anchorCtr="0">
            <a:noAutofit/>
          </a:bodyPr>
          <a:lstStyle/>
          <a:p>
            <a:pPr marL="0" marR="0" lvl="0" indent="0" algn="ctr" rtl="0">
              <a:lnSpc>
                <a:spcPct val="150000"/>
              </a:lnSpc>
              <a:spcBef>
                <a:spcPts val="0"/>
              </a:spcBef>
              <a:spcAft>
                <a:spcPts val="0"/>
              </a:spcAft>
              <a:buClr>
                <a:schemeClr val="dk1"/>
              </a:buClr>
              <a:buSzPts val="1500"/>
              <a:buFont typeface="Meiryo"/>
              <a:buNone/>
            </a:pPr>
            <a:r>
              <a:rPr lang="ja-JP" sz="2500" b="1" i="0" u="none" strike="noStrike" cap="none">
                <a:solidFill>
                  <a:srgbClr val="1F1F1F"/>
                </a:solidFill>
                <a:highlight>
                  <a:srgbClr val="FFFFFF"/>
                </a:highlight>
                <a:latin typeface="Meiryo"/>
                <a:ea typeface="Meiryo"/>
                <a:cs typeface="Meiryo"/>
                <a:sym typeface="Meiryo"/>
              </a:rPr>
              <a:t>THIERRY MARX × </a:t>
            </a:r>
            <a:r>
              <a:rPr lang="ja-JP" sz="2500" b="1" i="0" u="none" strike="noStrike" cap="none">
                <a:solidFill>
                  <a:schemeClr val="dk1"/>
                </a:solidFill>
                <a:latin typeface="Meiryo"/>
                <a:ea typeface="Meiryo"/>
                <a:cs typeface="Meiryo"/>
                <a:sym typeface="Meiryo"/>
              </a:rPr>
              <a:t>WineBank Group</a:t>
            </a:r>
            <a:endParaRPr sz="2500" b="1" i="0" u="none" strike="noStrike" cap="none">
              <a:solidFill>
                <a:schemeClr val="dk1"/>
              </a:solidFill>
              <a:latin typeface="Meiryo"/>
              <a:ea typeface="Meiryo"/>
              <a:cs typeface="Meiryo"/>
              <a:sym typeface="Meiryo"/>
            </a:endParaRPr>
          </a:p>
        </p:txBody>
      </p:sp>
      <p:sp>
        <p:nvSpPr>
          <p:cNvPr id="81" name="Google Shape;81;g34d15c52dd9_0_109"/>
          <p:cNvSpPr txBox="1"/>
          <p:nvPr/>
        </p:nvSpPr>
        <p:spPr>
          <a:xfrm>
            <a:off x="3534459" y="2443280"/>
            <a:ext cx="1931100" cy="509400"/>
          </a:xfrm>
          <a:prstGeom prst="rect">
            <a:avLst/>
          </a:prstGeom>
          <a:noFill/>
          <a:ln>
            <a:noFill/>
          </a:ln>
        </p:spPr>
        <p:txBody>
          <a:bodyPr spcFirstLastPara="1" wrap="square" lIns="68575" tIns="34275" rIns="68575" bIns="34275" anchor="t" anchorCtr="0">
            <a:spAutoFit/>
          </a:bodyPr>
          <a:lstStyle/>
          <a:p>
            <a:pPr marL="0" marR="0" lvl="0" indent="0" algn="ctr" rtl="0">
              <a:lnSpc>
                <a:spcPct val="120000"/>
              </a:lnSpc>
              <a:spcBef>
                <a:spcPts val="0"/>
              </a:spcBef>
              <a:spcAft>
                <a:spcPts val="0"/>
              </a:spcAft>
              <a:buClr>
                <a:srgbClr val="000000"/>
              </a:buClr>
              <a:buSzPts val="1400"/>
              <a:buFont typeface="Arial"/>
              <a:buNone/>
            </a:pPr>
            <a:r>
              <a:rPr lang="ja-JP" sz="1300" b="0" i="0" u="none" strike="noStrike" cap="none">
                <a:solidFill>
                  <a:srgbClr val="000000"/>
                </a:solidFill>
                <a:latin typeface="Meiryo"/>
                <a:ea typeface="Meiryo"/>
                <a:cs typeface="Meiryo"/>
                <a:sym typeface="Meiryo"/>
              </a:rPr>
              <a:t>2026年</a:t>
            </a:r>
            <a:r>
              <a:rPr lang="ja-JP" sz="1300">
                <a:latin typeface="Meiryo"/>
                <a:ea typeface="Meiryo"/>
                <a:cs typeface="Meiryo"/>
                <a:sym typeface="Meiryo"/>
              </a:rPr>
              <a:t>10</a:t>
            </a:r>
            <a:r>
              <a:rPr lang="ja-JP" sz="1300" b="0" i="0" u="none" strike="noStrike" cap="none">
                <a:solidFill>
                  <a:srgbClr val="000000"/>
                </a:solidFill>
                <a:latin typeface="Meiryo"/>
                <a:ea typeface="Meiryo"/>
                <a:cs typeface="Meiryo"/>
                <a:sym typeface="Meiryo"/>
              </a:rPr>
              <a:t>月</a:t>
            </a:r>
            <a:endParaRPr sz="13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JP" sz="1300" b="0" i="0" u="none" strike="noStrike" cap="none">
                <a:solidFill>
                  <a:srgbClr val="000000"/>
                </a:solidFill>
                <a:latin typeface="Meiryo"/>
                <a:ea typeface="Meiryo"/>
                <a:cs typeface="Meiryo"/>
                <a:sym typeface="Meiryo"/>
              </a:rPr>
              <a:t>株式会社WineBank</a:t>
            </a:r>
            <a:endParaRPr sz="1300" b="0" i="0" u="none" strike="noStrike" cap="none">
              <a:solidFill>
                <a:srgbClr val="000000"/>
              </a:solidFill>
              <a:latin typeface="Meiryo"/>
              <a:ea typeface="Meiryo"/>
              <a:cs typeface="Meiryo"/>
              <a:sym typeface="Meiryo"/>
            </a:endParaRPr>
          </a:p>
        </p:txBody>
      </p:sp>
      <p:pic>
        <p:nvPicPr>
          <p:cNvPr id="82" name="Google Shape;82;g34d15c52dd9_0_109"/>
          <p:cNvPicPr preferRelativeResize="0"/>
          <p:nvPr/>
        </p:nvPicPr>
        <p:blipFill rotWithShape="1">
          <a:blip r:embed="rId3">
            <a:alphaModFix amt="18000"/>
          </a:blip>
          <a:srcRect r="21532" b="6821"/>
          <a:stretch/>
        </p:blipFill>
        <p:spPr>
          <a:xfrm>
            <a:off x="5819425" y="521425"/>
            <a:ext cx="3344351" cy="4480175"/>
          </a:xfrm>
          <a:prstGeom prst="rect">
            <a:avLst/>
          </a:prstGeom>
          <a:noFill/>
          <a:ln>
            <a:noFill/>
          </a:ln>
        </p:spPr>
      </p:pic>
      <p:sp>
        <p:nvSpPr>
          <p:cNvPr id="83" name="Google Shape;83;g34d15c52dd9_0_109"/>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84" name="Google Shape;84;g34d15c52dd9_0_109"/>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1</a:t>
            </a:fld>
            <a:endParaRPr sz="700"/>
          </a:p>
        </p:txBody>
      </p:sp>
      <p:sp>
        <p:nvSpPr>
          <p:cNvPr id="85" name="Google Shape;85;g34d15c52dd9_0_109"/>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pic>
        <p:nvPicPr>
          <p:cNvPr id="86" name="Google Shape;86;g34d15c52dd9_0_109"/>
          <p:cNvPicPr preferRelativeResize="0"/>
          <p:nvPr/>
        </p:nvPicPr>
        <p:blipFill rotWithShape="1">
          <a:blip r:embed="rId4">
            <a:alphaModFix/>
          </a:blip>
          <a:srcRect/>
          <a:stretch/>
        </p:blipFill>
        <p:spPr>
          <a:xfrm>
            <a:off x="2543849" y="2987823"/>
            <a:ext cx="971201" cy="969875"/>
          </a:xfrm>
          <a:prstGeom prst="rect">
            <a:avLst/>
          </a:prstGeom>
          <a:noFill/>
          <a:ln>
            <a:noFill/>
          </a:ln>
        </p:spPr>
      </p:pic>
      <p:pic>
        <p:nvPicPr>
          <p:cNvPr id="87" name="Google Shape;87;g34d15c52dd9_0_109"/>
          <p:cNvPicPr preferRelativeResize="0"/>
          <p:nvPr/>
        </p:nvPicPr>
        <p:blipFill rotWithShape="1">
          <a:blip r:embed="rId5">
            <a:alphaModFix/>
          </a:blip>
          <a:srcRect/>
          <a:stretch/>
        </p:blipFill>
        <p:spPr>
          <a:xfrm>
            <a:off x="5648650" y="2979500"/>
            <a:ext cx="971201" cy="971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g35ec7a65b47_0_5"/>
          <p:cNvSpPr txBox="1"/>
          <p:nvPr/>
        </p:nvSpPr>
        <p:spPr>
          <a:xfrm>
            <a:off x="239772" y="211050"/>
            <a:ext cx="23013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rgbClr val="1F1F1F"/>
                </a:solidFill>
                <a:highlight>
                  <a:srgbClr val="FFFFFF"/>
                </a:highlight>
                <a:latin typeface="Meiryo"/>
                <a:ea typeface="Meiryo"/>
                <a:cs typeface="Meiryo"/>
                <a:sym typeface="Meiryo"/>
              </a:rPr>
              <a:t>THIERRY MARXとは</a:t>
            </a:r>
            <a:endParaRPr sz="1400" b="1" i="0" u="none" strike="noStrike" cap="none">
              <a:solidFill>
                <a:schemeClr val="dk1"/>
              </a:solidFill>
              <a:latin typeface="Meiryo"/>
              <a:ea typeface="Meiryo"/>
              <a:cs typeface="Meiryo"/>
              <a:sym typeface="Meiryo"/>
            </a:endParaRPr>
          </a:p>
        </p:txBody>
      </p:sp>
      <p:pic>
        <p:nvPicPr>
          <p:cNvPr id="93" name="Google Shape;93;g35ec7a65b47_0_5"/>
          <p:cNvPicPr preferRelativeResize="0"/>
          <p:nvPr/>
        </p:nvPicPr>
        <p:blipFill rotWithShape="1">
          <a:blip r:embed="rId3">
            <a:alphaModFix/>
          </a:blip>
          <a:srcRect l="59666" t="5993" b="20207"/>
          <a:stretch/>
        </p:blipFill>
        <p:spPr>
          <a:xfrm>
            <a:off x="664825" y="802900"/>
            <a:ext cx="2401500" cy="2250300"/>
          </a:xfrm>
          <a:prstGeom prst="ellipse">
            <a:avLst/>
          </a:prstGeom>
          <a:noFill/>
          <a:ln>
            <a:noFill/>
          </a:ln>
        </p:spPr>
      </p:pic>
      <p:sp>
        <p:nvSpPr>
          <p:cNvPr id="94" name="Google Shape;94;g35ec7a65b47_0_5"/>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95" name="Google Shape;95;g35ec7a65b47_0_5"/>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2</a:t>
            </a:fld>
            <a:endParaRPr sz="700"/>
          </a:p>
        </p:txBody>
      </p:sp>
      <p:sp>
        <p:nvSpPr>
          <p:cNvPr id="96" name="Google Shape;96;g35ec7a65b47_0_5"/>
          <p:cNvSpPr txBox="1"/>
          <p:nvPr/>
        </p:nvSpPr>
        <p:spPr>
          <a:xfrm>
            <a:off x="3507867" y="729336"/>
            <a:ext cx="4916400" cy="2250300"/>
          </a:xfrm>
          <a:prstGeom prst="rect">
            <a:avLst/>
          </a:prstGeom>
          <a:solidFill>
            <a:schemeClr val="lt1"/>
          </a:solid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a:t>
            </a:r>
            <a:r>
              <a:rPr lang="ja-JP" sz="8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1959年　　パリ20区に生まれる</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a:t>
            </a:r>
            <a:r>
              <a:rPr lang="ja-JP" sz="8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1977年　　軍隊に所属</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1978年　　パティシエの資格を取得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1988年　　トゥール 「ロック・アン・ヴァル」でミシュラン1つ星を獲得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1991年　　ニーム「シュヴァル・ブラン」でミシュラン1つ星を獲得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1999年　　メドックの ルレ・エ・シャトー「コーディヤン・バージュ」 ミシュラン2つ星を獲得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2006年　　ゴー・エ・ミヨ シェフ・オブ・ザ・イヤー受賞 </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2010年　　マンダリン オリエンタル パリ</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chemeClr val="dk1"/>
                </a:solidFill>
                <a:latin typeface="Meiryo"/>
                <a:ea typeface="Meiryo"/>
                <a:cs typeface="Meiryo"/>
                <a:sym typeface="Meiryo"/>
              </a:rPr>
              <a:t>　　　　　　　　「シュール・ムジュール パール ティエリー・マルクス」でミシュラン2つ星を獲得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2013年　　フランス レジオン・ドヌール勲章を受賞</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2022年　　ミシュランガイドの年間ベストメンターに選ばれる</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2023年　　パリ8区サントノーレに「オノール」オープン</a:t>
            </a:r>
            <a:endParaRPr sz="800" b="0" i="0" u="none" strike="noStrike" cap="none">
              <a:solidFill>
                <a:schemeClr val="dk1"/>
              </a:solidFill>
              <a:latin typeface="Meiryo"/>
              <a:ea typeface="Meiryo"/>
              <a:cs typeface="Meiryo"/>
              <a:sym typeface="Meiryo"/>
            </a:endParaRPr>
          </a:p>
        </p:txBody>
      </p:sp>
      <p:sp>
        <p:nvSpPr>
          <p:cNvPr id="97" name="Google Shape;97;g35ec7a65b47_0_5"/>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98" name="Google Shape;98;g35ec7a65b47_0_5"/>
          <p:cNvSpPr txBox="1"/>
          <p:nvPr/>
        </p:nvSpPr>
        <p:spPr>
          <a:xfrm>
            <a:off x="3368943" y="2912050"/>
            <a:ext cx="5412000" cy="515700"/>
          </a:xfrm>
          <a:prstGeom prst="rect">
            <a:avLst/>
          </a:prstGeom>
          <a:solidFill>
            <a:schemeClr val="lt1"/>
          </a:solid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日本再進出、パリでミシュラン累計7つ星・ミシュラン星請負人の呼名も</a:t>
            </a:r>
            <a:endParaRPr sz="10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同世代のシェフの中でも、著名でかつ尊敬を集めるシェフの一人として最も注目されている</a:t>
            </a:r>
            <a:endParaRPr sz="1000" b="0" i="0" u="none" strike="noStrike" cap="none">
              <a:solidFill>
                <a:srgbClr val="C68A65"/>
              </a:solidFill>
              <a:latin typeface="Meiryo"/>
              <a:ea typeface="Meiryo"/>
              <a:cs typeface="Meiryo"/>
              <a:sym typeface="Meiryo"/>
            </a:endParaRPr>
          </a:p>
        </p:txBody>
      </p:sp>
      <p:cxnSp>
        <p:nvCxnSpPr>
          <p:cNvPr id="99" name="Google Shape;99;g35ec7a65b47_0_5"/>
          <p:cNvCxnSpPr/>
          <p:nvPr/>
        </p:nvCxnSpPr>
        <p:spPr>
          <a:xfrm flipH="1">
            <a:off x="3655172" y="802898"/>
            <a:ext cx="6000" cy="2082600"/>
          </a:xfrm>
          <a:prstGeom prst="straightConnector1">
            <a:avLst/>
          </a:prstGeom>
          <a:noFill/>
          <a:ln w="9525" cap="flat" cmpd="sng">
            <a:solidFill>
              <a:srgbClr val="C68A65"/>
            </a:solidFill>
            <a:prstDash val="solid"/>
            <a:round/>
            <a:headEnd type="none" w="sm" len="sm"/>
            <a:tailEnd type="none" w="sm" len="sm"/>
          </a:ln>
        </p:spPr>
      </p:cxnSp>
      <p:sp>
        <p:nvSpPr>
          <p:cNvPr id="100" name="Google Shape;100;g35ec7a65b47_0_5"/>
          <p:cNvSpPr/>
          <p:nvPr/>
        </p:nvSpPr>
        <p:spPr>
          <a:xfrm>
            <a:off x="3507868" y="509436"/>
            <a:ext cx="810300" cy="2199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History</a:t>
            </a:r>
            <a:endParaRPr sz="800" b="0" i="0" u="none" strike="noStrike" cap="none">
              <a:solidFill>
                <a:schemeClr val="lt1"/>
              </a:solidFill>
              <a:latin typeface="Meiryo"/>
              <a:ea typeface="Meiryo"/>
              <a:cs typeface="Meiryo"/>
              <a:sym typeface="Meiryo"/>
            </a:endParaRPr>
          </a:p>
        </p:txBody>
      </p:sp>
      <p:sp>
        <p:nvSpPr>
          <p:cNvPr id="101" name="Google Shape;101;g35ec7a65b47_0_5"/>
          <p:cNvSpPr txBox="1"/>
          <p:nvPr/>
        </p:nvSpPr>
        <p:spPr>
          <a:xfrm>
            <a:off x="271525" y="3674825"/>
            <a:ext cx="6713400" cy="7941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1200"/>
              <a:buFont typeface="Arial"/>
              <a:buNone/>
            </a:pPr>
            <a:r>
              <a:rPr lang="ja-JP" sz="1200" b="1" i="0" u="none" strike="noStrike" cap="none">
                <a:solidFill>
                  <a:srgbClr val="C68A65"/>
                </a:solidFill>
                <a:latin typeface="Meiryo"/>
                <a:ea typeface="Meiryo"/>
                <a:cs typeface="Meiryo"/>
                <a:sym typeface="Meiryo"/>
              </a:rPr>
              <a:t>“幸せな瞬間や自分へのご褒美、誰かと共有することで生まれる温かい気持ちは、</a:t>
            </a:r>
            <a:endParaRPr sz="1200" b="1" i="0" u="none" strike="noStrike" cap="none">
              <a:solidFill>
                <a:srgbClr val="C68A65"/>
              </a:solidFill>
              <a:latin typeface="Meiryo"/>
              <a:ea typeface="Meiryo"/>
              <a:cs typeface="Meiryo"/>
              <a:sym typeface="Meiryo"/>
            </a:endParaRPr>
          </a:p>
          <a:p>
            <a:pPr marL="0" marR="0" lvl="0" indent="0" algn="ctr" rtl="0">
              <a:lnSpc>
                <a:spcPct val="115000"/>
              </a:lnSpc>
              <a:spcBef>
                <a:spcPts val="0"/>
              </a:spcBef>
              <a:spcAft>
                <a:spcPts val="0"/>
              </a:spcAft>
              <a:buClr>
                <a:srgbClr val="000000"/>
              </a:buClr>
              <a:buSzPts val="1200"/>
              <a:buFont typeface="Arial"/>
              <a:buNone/>
            </a:pPr>
            <a:r>
              <a:rPr lang="ja-JP" sz="1200" b="1" i="0" u="none" strike="noStrike" cap="none">
                <a:solidFill>
                  <a:srgbClr val="C68A65"/>
                </a:solidFill>
                <a:latin typeface="Meiryo"/>
                <a:ea typeface="Meiryo"/>
                <a:cs typeface="Meiryo"/>
                <a:sym typeface="Meiryo"/>
              </a:rPr>
              <a:t>私にとってすべてです。活気と刺激に満ちた雰囲気の中で、友人や家族との</a:t>
            </a:r>
            <a:endParaRPr sz="1200" b="1" i="0" u="none" strike="noStrike" cap="none">
              <a:solidFill>
                <a:srgbClr val="C68A65"/>
              </a:solidFill>
              <a:latin typeface="Meiryo"/>
              <a:ea typeface="Meiryo"/>
              <a:cs typeface="Meiryo"/>
              <a:sym typeface="Meiryo"/>
            </a:endParaRPr>
          </a:p>
          <a:p>
            <a:pPr marL="0" marR="0" lvl="0" indent="0" algn="ctr" rtl="0">
              <a:lnSpc>
                <a:spcPct val="115000"/>
              </a:lnSpc>
              <a:spcBef>
                <a:spcPts val="0"/>
              </a:spcBef>
              <a:spcAft>
                <a:spcPts val="0"/>
              </a:spcAft>
              <a:buClr>
                <a:srgbClr val="000000"/>
              </a:buClr>
              <a:buSzPts val="1200"/>
              <a:buFont typeface="Arial"/>
              <a:buNone/>
            </a:pPr>
            <a:r>
              <a:rPr lang="ja-JP" sz="1200" b="1" i="0" u="none" strike="noStrike" cap="none">
                <a:solidFill>
                  <a:srgbClr val="C68A65"/>
                </a:solidFill>
                <a:latin typeface="Meiryo"/>
                <a:ea typeface="Meiryo"/>
                <a:cs typeface="Meiryo"/>
                <a:sym typeface="Meiryo"/>
              </a:rPr>
              <a:t>時間を最大限に楽しむことができる、それがレストランなのです“</a:t>
            </a:r>
            <a:endParaRPr sz="1200" b="1" i="0" u="none" strike="noStrike" cap="none">
              <a:solidFill>
                <a:srgbClr val="C68A65"/>
              </a:solidFill>
              <a:latin typeface="Meiryo"/>
              <a:ea typeface="Meiryo"/>
              <a:cs typeface="Meiryo"/>
              <a:sym typeface="Meiryo"/>
            </a:endParaRPr>
          </a:p>
        </p:txBody>
      </p:sp>
      <p:pic>
        <p:nvPicPr>
          <p:cNvPr id="102" name="Google Shape;102;g35ec7a65b47_0_5" title="スクリーンショット 2025-08-06 082605.png"/>
          <p:cNvPicPr preferRelativeResize="0"/>
          <p:nvPr/>
        </p:nvPicPr>
        <p:blipFill rotWithShape="1">
          <a:blip r:embed="rId4">
            <a:alphaModFix/>
          </a:blip>
          <a:srcRect l="9523" t="7237" r="16364" b="15364"/>
          <a:stretch/>
        </p:blipFill>
        <p:spPr>
          <a:xfrm>
            <a:off x="6856024" y="3674825"/>
            <a:ext cx="1466687" cy="794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35ec7a65b47_0_16"/>
          <p:cNvSpPr txBox="1"/>
          <p:nvPr/>
        </p:nvSpPr>
        <p:spPr>
          <a:xfrm>
            <a:off x="239772" y="211050"/>
            <a:ext cx="21600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rgbClr val="1F1F1F"/>
                </a:solidFill>
                <a:highlight>
                  <a:srgbClr val="FFFFFF"/>
                </a:highlight>
                <a:latin typeface="Meiryo"/>
                <a:ea typeface="Meiryo"/>
                <a:cs typeface="Meiryo"/>
                <a:sym typeface="Meiryo"/>
              </a:rPr>
              <a:t>THIERRY MARXとは</a:t>
            </a:r>
            <a:endParaRPr sz="1400" b="1" i="0" u="none" strike="noStrike" cap="none">
              <a:solidFill>
                <a:schemeClr val="dk1"/>
              </a:solidFill>
              <a:latin typeface="Meiryo"/>
              <a:ea typeface="Meiryo"/>
              <a:cs typeface="Meiryo"/>
              <a:sym typeface="Meiryo"/>
            </a:endParaRPr>
          </a:p>
        </p:txBody>
      </p:sp>
      <p:pic>
        <p:nvPicPr>
          <p:cNvPr id="108" name="Google Shape;108;g35ec7a65b47_0_16"/>
          <p:cNvPicPr preferRelativeResize="0"/>
          <p:nvPr/>
        </p:nvPicPr>
        <p:blipFill rotWithShape="1">
          <a:blip r:embed="rId3">
            <a:alphaModFix/>
          </a:blip>
          <a:srcRect/>
          <a:stretch/>
        </p:blipFill>
        <p:spPr>
          <a:xfrm>
            <a:off x="5585282" y="3517448"/>
            <a:ext cx="1680941" cy="1423435"/>
          </a:xfrm>
          <a:prstGeom prst="rect">
            <a:avLst/>
          </a:prstGeom>
          <a:noFill/>
          <a:ln>
            <a:noFill/>
          </a:ln>
        </p:spPr>
      </p:pic>
      <p:pic>
        <p:nvPicPr>
          <p:cNvPr id="109" name="Google Shape;109;g35ec7a65b47_0_16"/>
          <p:cNvPicPr preferRelativeResize="0"/>
          <p:nvPr/>
        </p:nvPicPr>
        <p:blipFill rotWithShape="1">
          <a:blip r:embed="rId4">
            <a:alphaModFix/>
          </a:blip>
          <a:srcRect/>
          <a:stretch/>
        </p:blipFill>
        <p:spPr>
          <a:xfrm>
            <a:off x="3889275" y="3517457"/>
            <a:ext cx="1696007" cy="1423448"/>
          </a:xfrm>
          <a:prstGeom prst="rect">
            <a:avLst/>
          </a:prstGeom>
          <a:noFill/>
          <a:ln>
            <a:noFill/>
          </a:ln>
        </p:spPr>
      </p:pic>
      <p:pic>
        <p:nvPicPr>
          <p:cNvPr id="110" name="Google Shape;110;g35ec7a65b47_0_16"/>
          <p:cNvPicPr preferRelativeResize="0"/>
          <p:nvPr/>
        </p:nvPicPr>
        <p:blipFill rotWithShape="1">
          <a:blip r:embed="rId5">
            <a:alphaModFix/>
          </a:blip>
          <a:srcRect b="2086"/>
          <a:stretch/>
        </p:blipFill>
        <p:spPr>
          <a:xfrm>
            <a:off x="7266215" y="3517449"/>
            <a:ext cx="1680948" cy="1423448"/>
          </a:xfrm>
          <a:prstGeom prst="rect">
            <a:avLst/>
          </a:prstGeom>
          <a:noFill/>
          <a:ln>
            <a:noFill/>
          </a:ln>
        </p:spPr>
      </p:pic>
      <p:sp>
        <p:nvSpPr>
          <p:cNvPr id="111" name="Google Shape;111;g35ec7a65b47_0_16"/>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112" name="Google Shape;112;g35ec7a65b47_0_16"/>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3</a:t>
            </a:fld>
            <a:endParaRPr sz="700"/>
          </a:p>
        </p:txBody>
      </p:sp>
      <p:sp>
        <p:nvSpPr>
          <p:cNvPr id="113" name="Google Shape;113;g35ec7a65b47_0_16"/>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114" name="Google Shape;114;g35ec7a65b47_0_16"/>
          <p:cNvSpPr/>
          <p:nvPr/>
        </p:nvSpPr>
        <p:spPr>
          <a:xfrm>
            <a:off x="295026" y="590282"/>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事業内容</a:t>
            </a:r>
            <a:endParaRPr sz="700" b="0" i="0" u="none" strike="noStrike" cap="none">
              <a:solidFill>
                <a:schemeClr val="lt1"/>
              </a:solidFill>
              <a:latin typeface="Meiryo"/>
              <a:ea typeface="Meiryo"/>
              <a:cs typeface="Meiryo"/>
              <a:sym typeface="Meiryo"/>
            </a:endParaRPr>
          </a:p>
        </p:txBody>
      </p:sp>
      <p:sp>
        <p:nvSpPr>
          <p:cNvPr id="115" name="Google Shape;115;g35ec7a65b47_0_16"/>
          <p:cNvSpPr/>
          <p:nvPr/>
        </p:nvSpPr>
        <p:spPr>
          <a:xfrm>
            <a:off x="3918375" y="3278124"/>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過去の店舗展開</a:t>
            </a:r>
            <a:endParaRPr sz="700" b="0" i="0" u="none" strike="noStrike" cap="none">
              <a:solidFill>
                <a:schemeClr val="lt1"/>
              </a:solidFill>
              <a:latin typeface="Meiryo"/>
              <a:ea typeface="Meiryo"/>
              <a:cs typeface="Meiryo"/>
              <a:sym typeface="Meiryo"/>
            </a:endParaRPr>
          </a:p>
        </p:txBody>
      </p:sp>
      <p:sp>
        <p:nvSpPr>
          <p:cNvPr id="116" name="Google Shape;116;g35ec7a65b47_0_16"/>
          <p:cNvSpPr txBox="1"/>
          <p:nvPr/>
        </p:nvSpPr>
        <p:spPr>
          <a:xfrm>
            <a:off x="295026" y="884904"/>
            <a:ext cx="3836400" cy="2148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C68A65"/>
                </a:solidFill>
                <a:latin typeface="Meiryo"/>
                <a:ea typeface="Meiryo"/>
                <a:cs typeface="Meiryo"/>
                <a:sym typeface="Meiryo"/>
              </a:rPr>
              <a:t>レストラン</a:t>
            </a:r>
            <a:endParaRPr sz="8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・「シュール・ムジュール パール ティエリー・マルク ス」</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ホテル「マンダリン オリエンタル パリ」内　ミシュラン2つ星</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・「カメリア」</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ホテル「マンダリン オリエンタル パリ」内　オールデイ ダイニング</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・「マダム・ブラッスリー」エッフェル塔1階（地上58メートル）</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朝食からディナーまで楽しめるブラッスリー</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・現在パリ8区に新レストランの着工準備中 </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C68A65"/>
                </a:solidFill>
                <a:latin typeface="Meiryo"/>
                <a:ea typeface="Meiryo"/>
                <a:cs typeface="Meiryo"/>
                <a:sym typeface="Meiryo"/>
              </a:rPr>
              <a:t>ブーランジェリー</a:t>
            </a:r>
            <a:endParaRPr sz="8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・「ティエリーマルクス　ベーカリー」</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・ファストカジュアルのコンセプトで料理とパンの世界を融合</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現在、パリ市内に5店舗</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東京渋谷に「ティエリーマルクス ラ ブーランジェリー」を構える</a:t>
            </a:r>
            <a:endParaRPr sz="800" b="0" i="0" u="none" strike="noStrike" cap="none">
              <a:solidFill>
                <a:srgbClr val="000000"/>
              </a:solidFill>
              <a:latin typeface="Meiryo"/>
              <a:ea typeface="Meiryo"/>
              <a:cs typeface="Meiryo"/>
              <a:sym typeface="Meiryo"/>
            </a:endParaRPr>
          </a:p>
        </p:txBody>
      </p:sp>
      <p:sp>
        <p:nvSpPr>
          <p:cNvPr id="117" name="Google Shape;117;g35ec7a65b47_0_16"/>
          <p:cNvSpPr txBox="1"/>
          <p:nvPr/>
        </p:nvSpPr>
        <p:spPr>
          <a:xfrm>
            <a:off x="295025" y="3566700"/>
            <a:ext cx="3303300" cy="14238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・新しい形の料理雑誌「BON」創立（出版）</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・「トップシェフ」「マスターシェフ」の審査員（TV番組）</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・フードビジョン・パリ2024</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・食のセレクトショップ「Omie et Cie」 </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アドバイザーとして、商品やレシピの提案を行う</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・「フランス料理研究センター」 設立</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物理化学者のラファエル・ハウモンと共に調理を科学的な分析/提議を行う</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・国際宇宙ステーションでのガストロノミー・メニューを制作 </a:t>
            </a:r>
            <a:endParaRPr sz="700" b="0" i="0" u="none" strike="noStrike" cap="none">
              <a:solidFill>
                <a:srgbClr val="000000"/>
              </a:solidFill>
              <a:latin typeface="Meiryo"/>
              <a:ea typeface="Meiryo"/>
              <a:cs typeface="Meiryo"/>
              <a:sym typeface="Meiryo"/>
            </a:endParaRPr>
          </a:p>
        </p:txBody>
      </p:sp>
      <p:pic>
        <p:nvPicPr>
          <p:cNvPr id="118" name="Google Shape;118;g35ec7a65b47_0_16"/>
          <p:cNvPicPr preferRelativeResize="0"/>
          <p:nvPr/>
        </p:nvPicPr>
        <p:blipFill rotWithShape="1">
          <a:blip r:embed="rId6">
            <a:alphaModFix/>
          </a:blip>
          <a:srcRect l="3663" t="4616" r="54382" b="51210"/>
          <a:stretch/>
        </p:blipFill>
        <p:spPr>
          <a:xfrm>
            <a:off x="2878620" y="3566688"/>
            <a:ext cx="628957" cy="755400"/>
          </a:xfrm>
          <a:prstGeom prst="rect">
            <a:avLst/>
          </a:prstGeom>
          <a:noFill/>
          <a:ln>
            <a:noFill/>
          </a:ln>
        </p:spPr>
      </p:pic>
      <p:sp>
        <p:nvSpPr>
          <p:cNvPr id="119" name="Google Shape;119;g35ec7a65b47_0_16"/>
          <p:cNvSpPr/>
          <p:nvPr/>
        </p:nvSpPr>
        <p:spPr>
          <a:xfrm>
            <a:off x="365326" y="3268499"/>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その他の活動</a:t>
            </a:r>
            <a:endParaRPr sz="700" b="0" i="0" u="none" strike="noStrike" cap="none">
              <a:solidFill>
                <a:schemeClr val="lt1"/>
              </a:solidFill>
              <a:latin typeface="Meiryo"/>
              <a:ea typeface="Meiryo"/>
              <a:cs typeface="Meiryo"/>
              <a:sym typeface="Meiryo"/>
            </a:endParaRPr>
          </a:p>
        </p:txBody>
      </p:sp>
      <p:sp>
        <p:nvSpPr>
          <p:cNvPr id="120" name="Google Shape;120;g35ec7a65b47_0_16"/>
          <p:cNvSpPr/>
          <p:nvPr/>
        </p:nvSpPr>
        <p:spPr>
          <a:xfrm>
            <a:off x="5683475" y="643032"/>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事業内容</a:t>
            </a:r>
            <a:endParaRPr sz="700" b="0" i="0" u="none" strike="noStrike" cap="none">
              <a:solidFill>
                <a:schemeClr val="lt1"/>
              </a:solidFill>
              <a:latin typeface="Meiryo"/>
              <a:ea typeface="Meiryo"/>
              <a:cs typeface="Meiryo"/>
              <a:sym typeface="Meiryo"/>
            </a:endParaRPr>
          </a:p>
        </p:txBody>
      </p:sp>
      <p:sp>
        <p:nvSpPr>
          <p:cNvPr id="121" name="Google Shape;121;g35ec7a65b47_0_16"/>
          <p:cNvSpPr txBox="1"/>
          <p:nvPr/>
        </p:nvSpPr>
        <p:spPr>
          <a:xfrm>
            <a:off x="5614423" y="906250"/>
            <a:ext cx="3599400" cy="1779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C68A65"/>
                </a:solidFill>
                <a:latin typeface="Meiryo"/>
                <a:ea typeface="Meiryo"/>
                <a:cs typeface="Meiryo"/>
                <a:sym typeface="Meiryo"/>
              </a:rPr>
              <a:t>環境への配慮</a:t>
            </a:r>
            <a:endParaRPr sz="7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・100％認証食品を使用</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・プラスチック製品の使用削減</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・食品を100％リサイクル活用（アンチ廃棄物）</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・ゼロ・ウェイスト宣言（食品の2次利用等、無駄を無くす努力） </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C68A65"/>
                </a:solidFill>
                <a:latin typeface="Meiryo"/>
                <a:ea typeface="Meiryo"/>
                <a:cs typeface="Meiryo"/>
                <a:sym typeface="Meiryo"/>
              </a:rPr>
              <a:t>社会貢献および教育</a:t>
            </a:r>
            <a:endParaRPr sz="7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・社会生活から隔離された人々の社会復帰、自立できる経済モデルを構築</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・フランスでの職業復帰率は10％を占める</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・パリ市と共に、社会的・職業的自立を主な目的とした</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「Cuisine mode d‘emploi（調理における職業訓練所）」 を設立</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・拘置所にて受刑者に料理教室を開催、 職業復帰プロジェクトを支援</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・「College Culinaire （コレージュ・キュリネール）」の創立メンバー</a:t>
            </a:r>
            <a:endParaRPr sz="700" b="0" i="0" u="none" strike="noStrike" cap="none">
              <a:solidFill>
                <a:srgbClr val="000000"/>
              </a:solidFill>
              <a:latin typeface="Meiryo"/>
              <a:ea typeface="Meiryo"/>
              <a:cs typeface="Meiryo"/>
              <a:sym typeface="Meiryo"/>
            </a:endParaRPr>
          </a:p>
        </p:txBody>
      </p:sp>
      <p:pic>
        <p:nvPicPr>
          <p:cNvPr id="122" name="Google Shape;122;g35ec7a65b47_0_16"/>
          <p:cNvPicPr preferRelativeResize="0"/>
          <p:nvPr/>
        </p:nvPicPr>
        <p:blipFill rotWithShape="1">
          <a:blip r:embed="rId7">
            <a:alphaModFix/>
          </a:blip>
          <a:srcRect l="7895" t="4934" r="20915" b="40487"/>
          <a:stretch/>
        </p:blipFill>
        <p:spPr>
          <a:xfrm>
            <a:off x="3889275" y="1335093"/>
            <a:ext cx="1069561" cy="806628"/>
          </a:xfrm>
          <a:prstGeom prst="rect">
            <a:avLst/>
          </a:prstGeom>
          <a:noFill/>
          <a:ln>
            <a:noFill/>
          </a:ln>
        </p:spPr>
      </p:pic>
      <p:pic>
        <p:nvPicPr>
          <p:cNvPr id="123" name="Google Shape;123;g35ec7a65b47_0_16"/>
          <p:cNvPicPr preferRelativeResize="0"/>
          <p:nvPr/>
        </p:nvPicPr>
        <p:blipFill rotWithShape="1">
          <a:blip r:embed="rId8">
            <a:alphaModFix/>
          </a:blip>
          <a:srcRect l="15861" t="55781" r="23367" b="5314"/>
          <a:stretch/>
        </p:blipFill>
        <p:spPr>
          <a:xfrm>
            <a:off x="3889275" y="579434"/>
            <a:ext cx="1069550" cy="719049"/>
          </a:xfrm>
          <a:prstGeom prst="rect">
            <a:avLst/>
          </a:prstGeom>
          <a:noFill/>
          <a:ln>
            <a:noFill/>
          </a:ln>
        </p:spPr>
      </p:pic>
      <p:pic>
        <p:nvPicPr>
          <p:cNvPr id="124" name="Google Shape;124;g35ec7a65b47_0_16"/>
          <p:cNvPicPr preferRelativeResize="0"/>
          <p:nvPr/>
        </p:nvPicPr>
        <p:blipFill rotWithShape="1">
          <a:blip r:embed="rId9">
            <a:alphaModFix/>
          </a:blip>
          <a:srcRect l="12024" t="10454" r="7925" b="4134"/>
          <a:stretch/>
        </p:blipFill>
        <p:spPr>
          <a:xfrm>
            <a:off x="3889276" y="2178352"/>
            <a:ext cx="1069555" cy="738026"/>
          </a:xfrm>
          <a:prstGeom prst="rect">
            <a:avLst/>
          </a:prstGeom>
          <a:noFill/>
          <a:ln>
            <a:noFill/>
          </a:ln>
        </p:spPr>
      </p:pic>
      <p:pic>
        <p:nvPicPr>
          <p:cNvPr id="125" name="Google Shape;125;g35ec7a65b47_0_16"/>
          <p:cNvPicPr preferRelativeResize="0"/>
          <p:nvPr/>
        </p:nvPicPr>
        <p:blipFill rotWithShape="1">
          <a:blip r:embed="rId6">
            <a:alphaModFix/>
          </a:blip>
          <a:srcRect l="21634" t="56365" r="4707" b="4024"/>
          <a:stretch/>
        </p:blipFill>
        <p:spPr>
          <a:xfrm>
            <a:off x="7058400" y="2685558"/>
            <a:ext cx="1149679" cy="705225"/>
          </a:xfrm>
          <a:prstGeom prst="rect">
            <a:avLst/>
          </a:prstGeom>
          <a:noFill/>
          <a:ln>
            <a:noFill/>
          </a:ln>
        </p:spPr>
      </p:pic>
      <p:pic>
        <p:nvPicPr>
          <p:cNvPr id="126" name="Google Shape;126;g35ec7a65b47_0_16"/>
          <p:cNvPicPr preferRelativeResize="0"/>
          <p:nvPr/>
        </p:nvPicPr>
        <p:blipFill rotWithShape="1">
          <a:blip r:embed="rId10">
            <a:alphaModFix/>
          </a:blip>
          <a:srcRect l="19568" t="56411" r="5514" b="5758"/>
          <a:stretch/>
        </p:blipFill>
        <p:spPr>
          <a:xfrm>
            <a:off x="5755391" y="2685558"/>
            <a:ext cx="1245297" cy="705225"/>
          </a:xfrm>
          <a:prstGeom prst="rect">
            <a:avLst/>
          </a:prstGeom>
          <a:noFill/>
          <a:ln>
            <a:noFill/>
          </a:ln>
        </p:spPr>
      </p:pic>
      <p:pic>
        <p:nvPicPr>
          <p:cNvPr id="127" name="Google Shape;127;g35ec7a65b47_0_16"/>
          <p:cNvPicPr preferRelativeResize="0"/>
          <p:nvPr/>
        </p:nvPicPr>
        <p:blipFill rotWithShape="1">
          <a:blip r:embed="rId10">
            <a:alphaModFix/>
          </a:blip>
          <a:srcRect l="7602" t="5005" r="53231" b="46257"/>
          <a:stretch/>
        </p:blipFill>
        <p:spPr>
          <a:xfrm>
            <a:off x="8265763" y="2685558"/>
            <a:ext cx="505342" cy="705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cxnSp>
        <p:nvCxnSpPr>
          <p:cNvPr id="132" name="Google Shape;132;g35ec7a65b47_0_0"/>
          <p:cNvCxnSpPr>
            <a:stCxn id="133" idx="2"/>
          </p:cNvCxnSpPr>
          <p:nvPr/>
        </p:nvCxnSpPr>
        <p:spPr>
          <a:xfrm rot="-5400000" flipH="1">
            <a:off x="7533225" y="3553628"/>
            <a:ext cx="1339800" cy="600"/>
          </a:xfrm>
          <a:prstGeom prst="bentConnector3">
            <a:avLst>
              <a:gd name="adj1" fmla="val 50000"/>
            </a:avLst>
          </a:prstGeom>
          <a:noFill/>
          <a:ln>
            <a:noFill/>
          </a:ln>
        </p:spPr>
      </p:cxnSp>
      <p:cxnSp>
        <p:nvCxnSpPr>
          <p:cNvPr id="134" name="Google Shape;134;g35ec7a65b47_0_0"/>
          <p:cNvCxnSpPr>
            <a:stCxn id="135" idx="2"/>
          </p:cNvCxnSpPr>
          <p:nvPr/>
        </p:nvCxnSpPr>
        <p:spPr>
          <a:xfrm rot="-5400000" flipH="1">
            <a:off x="4767624" y="3553628"/>
            <a:ext cx="1339800" cy="600"/>
          </a:xfrm>
          <a:prstGeom prst="bentConnector3">
            <a:avLst>
              <a:gd name="adj1" fmla="val 50000"/>
            </a:avLst>
          </a:prstGeom>
          <a:noFill/>
          <a:ln w="9525" cap="flat" cmpd="sng">
            <a:solidFill>
              <a:srgbClr val="CCCCCC"/>
            </a:solidFill>
            <a:prstDash val="solid"/>
            <a:round/>
            <a:headEnd type="none" w="sm" len="sm"/>
            <a:tailEnd type="none" w="sm" len="sm"/>
          </a:ln>
        </p:spPr>
      </p:cxnSp>
      <p:cxnSp>
        <p:nvCxnSpPr>
          <p:cNvPr id="136" name="Google Shape;136;g35ec7a65b47_0_0"/>
          <p:cNvCxnSpPr>
            <a:stCxn id="137" idx="2"/>
          </p:cNvCxnSpPr>
          <p:nvPr/>
        </p:nvCxnSpPr>
        <p:spPr>
          <a:xfrm rot="-5400000" flipH="1">
            <a:off x="6150418" y="3553628"/>
            <a:ext cx="1339800" cy="600"/>
          </a:xfrm>
          <a:prstGeom prst="bentConnector3">
            <a:avLst>
              <a:gd name="adj1" fmla="val 50000"/>
            </a:avLst>
          </a:prstGeom>
          <a:noFill/>
          <a:ln>
            <a:noFill/>
          </a:ln>
        </p:spPr>
      </p:cxnSp>
      <p:cxnSp>
        <p:nvCxnSpPr>
          <p:cNvPr id="138" name="Google Shape;138;g35ec7a65b47_0_0"/>
          <p:cNvCxnSpPr>
            <a:stCxn id="139" idx="2"/>
            <a:endCxn id="140" idx="0"/>
          </p:cNvCxnSpPr>
          <p:nvPr/>
        </p:nvCxnSpPr>
        <p:spPr>
          <a:xfrm rot="-5400000" flipH="1">
            <a:off x="3492143" y="3973793"/>
            <a:ext cx="77700" cy="600"/>
          </a:xfrm>
          <a:prstGeom prst="bentConnector3">
            <a:avLst>
              <a:gd name="adj1" fmla="val 49948"/>
            </a:avLst>
          </a:prstGeom>
          <a:noFill/>
          <a:ln w="9525" cap="flat" cmpd="sng">
            <a:solidFill>
              <a:srgbClr val="CCCCCC"/>
            </a:solidFill>
            <a:prstDash val="solid"/>
            <a:round/>
            <a:headEnd type="none" w="sm" len="sm"/>
            <a:tailEnd type="none" w="sm" len="sm"/>
          </a:ln>
        </p:spPr>
      </p:cxnSp>
      <p:cxnSp>
        <p:nvCxnSpPr>
          <p:cNvPr id="141" name="Google Shape;141;g35ec7a65b47_0_0"/>
          <p:cNvCxnSpPr>
            <a:stCxn id="142" idx="2"/>
          </p:cNvCxnSpPr>
          <p:nvPr/>
        </p:nvCxnSpPr>
        <p:spPr>
          <a:xfrm rot="-5400000" flipH="1">
            <a:off x="1406916" y="4003643"/>
            <a:ext cx="137400" cy="600"/>
          </a:xfrm>
          <a:prstGeom prst="bentConnector3">
            <a:avLst>
              <a:gd name="adj1" fmla="val 50005"/>
            </a:avLst>
          </a:prstGeom>
          <a:noFill/>
          <a:ln w="9525" cap="flat" cmpd="sng">
            <a:solidFill>
              <a:srgbClr val="CCCCCC"/>
            </a:solidFill>
            <a:prstDash val="solid"/>
            <a:round/>
            <a:headEnd type="none" w="sm" len="sm"/>
            <a:tailEnd type="none" w="sm" len="sm"/>
          </a:ln>
        </p:spPr>
      </p:cxnSp>
      <p:sp>
        <p:nvSpPr>
          <p:cNvPr id="143" name="Google Shape;143;g35ec7a65b47_0_0"/>
          <p:cNvSpPr txBox="1"/>
          <p:nvPr/>
        </p:nvSpPr>
        <p:spPr>
          <a:xfrm>
            <a:off x="239772" y="211050"/>
            <a:ext cx="25590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rgbClr val="1F1F1F"/>
                </a:solidFill>
                <a:highlight>
                  <a:srgbClr val="FFFFFF"/>
                </a:highlight>
                <a:latin typeface="Meiryo"/>
                <a:ea typeface="Meiryo"/>
                <a:cs typeface="Meiryo"/>
                <a:sym typeface="Meiryo"/>
              </a:rPr>
              <a:t>THIERRY MARX 契約形態</a:t>
            </a:r>
            <a:endParaRPr sz="1400" b="1" i="0" u="none" strike="noStrike" cap="none">
              <a:solidFill>
                <a:schemeClr val="dk1"/>
              </a:solidFill>
              <a:latin typeface="Meiryo"/>
              <a:ea typeface="Meiryo"/>
              <a:cs typeface="Meiryo"/>
              <a:sym typeface="Meiryo"/>
            </a:endParaRPr>
          </a:p>
        </p:txBody>
      </p:sp>
      <p:sp>
        <p:nvSpPr>
          <p:cNvPr id="144" name="Google Shape;144;g35ec7a65b47_0_0"/>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145" name="Google Shape;145;g35ec7a65b47_0_0"/>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4</a:t>
            </a:fld>
            <a:endParaRPr sz="700"/>
          </a:p>
        </p:txBody>
      </p:sp>
      <p:sp>
        <p:nvSpPr>
          <p:cNvPr id="146" name="Google Shape;146;g35ec7a65b47_0_0"/>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147" name="Google Shape;147;g35ec7a65b47_0_0"/>
          <p:cNvSpPr/>
          <p:nvPr/>
        </p:nvSpPr>
        <p:spPr>
          <a:xfrm>
            <a:off x="5479680" y="648318"/>
            <a:ext cx="1179900" cy="463800"/>
          </a:xfrm>
          <a:prstGeom prst="roundRect">
            <a:avLst>
              <a:gd name="adj" fmla="val 0"/>
            </a:avLst>
          </a:prstGeom>
          <a:solidFill>
            <a:srgbClr val="36394B"/>
          </a:soli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TBS</a:t>
            </a:r>
            <a:endParaRPr sz="800" b="0" i="0" u="none" strike="noStrike" cap="none">
              <a:solidFill>
                <a:schemeClr val="lt1"/>
              </a:solidFill>
              <a:latin typeface="Meiryo"/>
              <a:ea typeface="Meiryo"/>
              <a:cs typeface="Meiryo"/>
              <a:sym typeface="Meiryo"/>
            </a:endParaRPr>
          </a:p>
        </p:txBody>
      </p:sp>
      <p:sp>
        <p:nvSpPr>
          <p:cNvPr id="148" name="Google Shape;148;g35ec7a65b47_0_0"/>
          <p:cNvSpPr/>
          <p:nvPr/>
        </p:nvSpPr>
        <p:spPr>
          <a:xfrm>
            <a:off x="1712450" y="648325"/>
            <a:ext cx="2195100" cy="1027800"/>
          </a:xfrm>
          <a:prstGeom prst="roundRect">
            <a:avLst>
              <a:gd name="adj" fmla="val 0"/>
            </a:avLst>
          </a:prstGeom>
          <a:gradFill>
            <a:gsLst>
              <a:gs pos="0">
                <a:srgbClr val="C68A65"/>
              </a:gs>
              <a:gs pos="100000">
                <a:srgbClr val="EAD5C7"/>
              </a:gs>
            </a:gsLst>
            <a:lin ang="2698631" scaled="0"/>
          </a:gradFill>
          <a:ln>
            <a:noFill/>
          </a:ln>
        </p:spPr>
        <p:txBody>
          <a:bodyPr spcFirstLastPara="1" wrap="square" lIns="82950" tIns="82950" rIns="82950" bIns="82950" anchor="ctr" anchorCtr="0">
            <a:noAutofit/>
          </a:bodyPr>
          <a:lstStyle/>
          <a:p>
            <a:pPr marL="0" marR="0" lvl="0" indent="0" algn="ctr" rtl="0">
              <a:lnSpc>
                <a:spcPct val="115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　　　　　　　　THIERRY MARX</a:t>
            </a:r>
            <a:endParaRPr sz="800" b="0" i="0" u="none" strike="noStrike" cap="none">
              <a:solidFill>
                <a:schemeClr val="lt1"/>
              </a:solidFill>
              <a:latin typeface="Meiryo"/>
              <a:ea typeface="Meiryo"/>
              <a:cs typeface="Meiryo"/>
              <a:sym typeface="Meiryo"/>
            </a:endParaRPr>
          </a:p>
          <a:p>
            <a:pPr marL="0" marR="0" lvl="0" indent="0" algn="ctr" rtl="0">
              <a:lnSpc>
                <a:spcPct val="115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　　　　　　　　・レストラン</a:t>
            </a:r>
            <a:endParaRPr sz="800" b="0" i="0" u="none" strike="noStrike" cap="none">
              <a:solidFill>
                <a:schemeClr val="lt1"/>
              </a:solidFill>
              <a:latin typeface="Meiryo"/>
              <a:ea typeface="Meiryo"/>
              <a:cs typeface="Meiryo"/>
              <a:sym typeface="Meiryo"/>
            </a:endParaRPr>
          </a:p>
          <a:p>
            <a:pPr marL="0" marR="0" lvl="0" indent="0" algn="ctr" rtl="0">
              <a:lnSpc>
                <a:spcPct val="115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　　　　　　　　・ベーカリー</a:t>
            </a:r>
            <a:endParaRPr sz="800" b="0" i="0" u="none" strike="noStrike" cap="none">
              <a:solidFill>
                <a:schemeClr val="lt1"/>
              </a:solidFill>
              <a:latin typeface="Meiryo"/>
              <a:ea typeface="Meiryo"/>
              <a:cs typeface="Meiryo"/>
              <a:sym typeface="Meiryo"/>
            </a:endParaRPr>
          </a:p>
        </p:txBody>
      </p:sp>
      <p:sp>
        <p:nvSpPr>
          <p:cNvPr id="149" name="Google Shape;149;g35ec7a65b47_0_0"/>
          <p:cNvSpPr/>
          <p:nvPr/>
        </p:nvSpPr>
        <p:spPr>
          <a:xfrm>
            <a:off x="5480966" y="1513554"/>
            <a:ext cx="1179900" cy="284700"/>
          </a:xfrm>
          <a:prstGeom prst="roundRect">
            <a:avLst>
              <a:gd name="adj" fmla="val 0"/>
            </a:avLst>
          </a:prstGeom>
          <a:solidFill>
            <a:srgbClr val="666666"/>
          </a:soli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サブライセンス会社</a:t>
            </a:r>
            <a:endParaRPr sz="800" b="0" i="0" u="none" strike="noStrike" cap="none">
              <a:solidFill>
                <a:schemeClr val="lt1"/>
              </a:solidFill>
              <a:latin typeface="Meiryo"/>
              <a:ea typeface="Meiryo"/>
              <a:cs typeface="Meiryo"/>
              <a:sym typeface="Meiryo"/>
            </a:endParaRPr>
          </a:p>
        </p:txBody>
      </p:sp>
      <p:sp>
        <p:nvSpPr>
          <p:cNvPr id="150" name="Google Shape;150;g35ec7a65b47_0_0"/>
          <p:cNvSpPr/>
          <p:nvPr/>
        </p:nvSpPr>
        <p:spPr>
          <a:xfrm>
            <a:off x="298040" y="2305350"/>
            <a:ext cx="1701000" cy="578700"/>
          </a:xfrm>
          <a:prstGeom prst="roundRect">
            <a:avLst>
              <a:gd name="adj" fmla="val 0"/>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RESTAURANT</a:t>
            </a:r>
            <a:endParaRPr sz="800" b="0" i="0" u="none" strike="noStrike" cap="none">
              <a:solidFill>
                <a:schemeClr val="lt1"/>
              </a:solidFill>
              <a:latin typeface="Meiryo"/>
              <a:ea typeface="Meiryo"/>
              <a:cs typeface="Meiryo"/>
              <a:sym typeface="Meiryo"/>
            </a:endParaRPr>
          </a:p>
        </p:txBody>
      </p:sp>
      <p:sp>
        <p:nvSpPr>
          <p:cNvPr id="151" name="Google Shape;151;g35ec7a65b47_0_0"/>
          <p:cNvSpPr/>
          <p:nvPr/>
        </p:nvSpPr>
        <p:spPr>
          <a:xfrm>
            <a:off x="2353426" y="2305350"/>
            <a:ext cx="1701000" cy="578700"/>
          </a:xfrm>
          <a:prstGeom prst="roundRect">
            <a:avLst>
              <a:gd name="adj" fmla="val 0"/>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BOULANGERIE</a:t>
            </a:r>
            <a:endParaRPr sz="800" b="0" i="0" u="none" strike="noStrike" cap="none">
              <a:solidFill>
                <a:schemeClr val="lt1"/>
              </a:solidFill>
              <a:latin typeface="Meiryo"/>
              <a:ea typeface="Meiryo"/>
              <a:cs typeface="Meiryo"/>
              <a:sym typeface="Meiryo"/>
            </a:endParaRPr>
          </a:p>
        </p:txBody>
      </p:sp>
      <p:sp>
        <p:nvSpPr>
          <p:cNvPr id="135" name="Google Shape;135;g35ec7a65b47_0_0"/>
          <p:cNvSpPr/>
          <p:nvPr/>
        </p:nvSpPr>
        <p:spPr>
          <a:xfrm>
            <a:off x="4819224" y="2305328"/>
            <a:ext cx="1236000" cy="578700"/>
          </a:xfrm>
          <a:prstGeom prst="roundRect">
            <a:avLst>
              <a:gd name="adj" fmla="val 0"/>
            </a:avLst>
          </a:prstGeom>
          <a:gradFill>
            <a:gsLst>
              <a:gs pos="0">
                <a:srgbClr val="DDDDDD"/>
              </a:gs>
              <a:gs pos="24000">
                <a:srgbClr val="B7B7B7"/>
              </a:gs>
              <a:gs pos="100000">
                <a:srgbClr val="919191"/>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ACADEMY</a:t>
            </a:r>
            <a:endParaRPr sz="800" b="0" i="0" u="none" strike="noStrike" cap="none">
              <a:solidFill>
                <a:schemeClr val="lt1"/>
              </a:solidFill>
              <a:latin typeface="Meiryo"/>
              <a:ea typeface="Meiryo"/>
              <a:cs typeface="Meiryo"/>
              <a:sym typeface="Meiryo"/>
            </a:endParaRPr>
          </a:p>
        </p:txBody>
      </p:sp>
      <p:sp>
        <p:nvSpPr>
          <p:cNvPr id="137" name="Google Shape;137;g35ec7a65b47_0_0"/>
          <p:cNvSpPr/>
          <p:nvPr/>
        </p:nvSpPr>
        <p:spPr>
          <a:xfrm>
            <a:off x="6202018" y="2305328"/>
            <a:ext cx="1236000" cy="578700"/>
          </a:xfrm>
          <a:prstGeom prst="roundRect">
            <a:avLst>
              <a:gd name="adj" fmla="val 0"/>
            </a:avLst>
          </a:prstGeom>
          <a:gradFill>
            <a:gsLst>
              <a:gs pos="0">
                <a:srgbClr val="DDDDDD"/>
              </a:gs>
              <a:gs pos="24000">
                <a:srgbClr val="B7B7B7"/>
              </a:gs>
              <a:gs pos="100000">
                <a:srgbClr val="919191"/>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LICENSE BUSINESS</a:t>
            </a:r>
            <a:endParaRPr sz="800" b="0" i="0" u="none" strike="noStrike" cap="none">
              <a:solidFill>
                <a:schemeClr val="lt1"/>
              </a:solidFill>
              <a:latin typeface="Meiryo"/>
              <a:ea typeface="Meiryo"/>
              <a:cs typeface="Meiryo"/>
              <a:sym typeface="Meiryo"/>
            </a:endParaRPr>
          </a:p>
        </p:txBody>
      </p:sp>
      <p:sp>
        <p:nvSpPr>
          <p:cNvPr id="133" name="Google Shape;133;g35ec7a65b47_0_0"/>
          <p:cNvSpPr/>
          <p:nvPr/>
        </p:nvSpPr>
        <p:spPr>
          <a:xfrm>
            <a:off x="7584825" y="2305328"/>
            <a:ext cx="1236000" cy="578700"/>
          </a:xfrm>
          <a:prstGeom prst="roundRect">
            <a:avLst>
              <a:gd name="adj" fmla="val 0"/>
            </a:avLst>
          </a:prstGeom>
          <a:gradFill>
            <a:gsLst>
              <a:gs pos="0">
                <a:srgbClr val="DDDDDD"/>
              </a:gs>
              <a:gs pos="24000">
                <a:srgbClr val="B7B7B7"/>
              </a:gs>
              <a:gs pos="100000">
                <a:srgbClr val="919191"/>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PUBLISHING/MEDIA</a:t>
            </a:r>
            <a:endParaRPr sz="800" b="0" i="0" u="none" strike="noStrike" cap="none">
              <a:solidFill>
                <a:schemeClr val="lt1"/>
              </a:solidFill>
              <a:latin typeface="Meiryo"/>
              <a:ea typeface="Meiryo"/>
              <a:cs typeface="Meiryo"/>
              <a:sym typeface="Meiryo"/>
            </a:endParaRPr>
          </a:p>
        </p:txBody>
      </p:sp>
      <p:sp>
        <p:nvSpPr>
          <p:cNvPr id="152" name="Google Shape;152;g35ec7a65b47_0_0"/>
          <p:cNvSpPr/>
          <p:nvPr/>
        </p:nvSpPr>
        <p:spPr>
          <a:xfrm>
            <a:off x="5972655" y="5403957"/>
            <a:ext cx="1362900" cy="2847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ACADEMIE</a:t>
            </a:r>
            <a:endParaRPr sz="800" b="0" i="0" u="none" strike="noStrike" cap="none">
              <a:solidFill>
                <a:schemeClr val="lt1"/>
              </a:solidFill>
              <a:latin typeface="Meiryo"/>
              <a:ea typeface="Meiryo"/>
              <a:cs typeface="Meiryo"/>
              <a:sym typeface="Meiryo"/>
            </a:endParaRPr>
          </a:p>
        </p:txBody>
      </p:sp>
      <p:cxnSp>
        <p:nvCxnSpPr>
          <p:cNvPr id="153" name="Google Shape;153;g35ec7a65b47_0_0"/>
          <p:cNvCxnSpPr>
            <a:stCxn id="147" idx="2"/>
            <a:endCxn id="149" idx="0"/>
          </p:cNvCxnSpPr>
          <p:nvPr/>
        </p:nvCxnSpPr>
        <p:spPr>
          <a:xfrm>
            <a:off x="6069630" y="1112118"/>
            <a:ext cx="1200" cy="401400"/>
          </a:xfrm>
          <a:prstGeom prst="straightConnector1">
            <a:avLst/>
          </a:prstGeom>
          <a:noFill/>
          <a:ln w="9525" cap="flat" cmpd="sng">
            <a:solidFill>
              <a:srgbClr val="CCCCCC"/>
            </a:solidFill>
            <a:prstDash val="solid"/>
            <a:round/>
            <a:headEnd type="none" w="sm" len="sm"/>
            <a:tailEnd type="none" w="sm" len="sm"/>
          </a:ln>
        </p:spPr>
      </p:cxnSp>
      <p:cxnSp>
        <p:nvCxnSpPr>
          <p:cNvPr id="154" name="Google Shape;154;g35ec7a65b47_0_0"/>
          <p:cNvCxnSpPr>
            <a:stCxn id="149" idx="2"/>
            <a:endCxn id="150" idx="0"/>
          </p:cNvCxnSpPr>
          <p:nvPr/>
        </p:nvCxnSpPr>
        <p:spPr>
          <a:xfrm rot="5400000">
            <a:off x="3356216" y="-409446"/>
            <a:ext cx="507000" cy="4922400"/>
          </a:xfrm>
          <a:prstGeom prst="bentConnector3">
            <a:avLst>
              <a:gd name="adj1" fmla="val 50009"/>
            </a:avLst>
          </a:prstGeom>
          <a:noFill/>
          <a:ln w="9525" cap="flat" cmpd="sng">
            <a:solidFill>
              <a:srgbClr val="CCCCCC"/>
            </a:solidFill>
            <a:prstDash val="solid"/>
            <a:round/>
            <a:headEnd type="none" w="sm" len="sm"/>
            <a:tailEnd type="none" w="sm" len="sm"/>
          </a:ln>
        </p:spPr>
      </p:cxnSp>
      <p:cxnSp>
        <p:nvCxnSpPr>
          <p:cNvPr id="155" name="Google Shape;155;g35ec7a65b47_0_0"/>
          <p:cNvCxnSpPr>
            <a:stCxn id="149" idx="2"/>
            <a:endCxn id="151" idx="0"/>
          </p:cNvCxnSpPr>
          <p:nvPr/>
        </p:nvCxnSpPr>
        <p:spPr>
          <a:xfrm rot="5400000">
            <a:off x="4383866" y="618204"/>
            <a:ext cx="507000" cy="2867100"/>
          </a:xfrm>
          <a:prstGeom prst="bentConnector3">
            <a:avLst>
              <a:gd name="adj1" fmla="val 50009"/>
            </a:avLst>
          </a:prstGeom>
          <a:noFill/>
          <a:ln w="9525" cap="flat" cmpd="sng">
            <a:solidFill>
              <a:srgbClr val="CCCCCC"/>
            </a:solidFill>
            <a:prstDash val="solid"/>
            <a:round/>
            <a:headEnd type="none" w="sm" len="sm"/>
            <a:tailEnd type="none" w="sm" len="sm"/>
          </a:ln>
        </p:spPr>
      </p:cxnSp>
      <p:cxnSp>
        <p:nvCxnSpPr>
          <p:cNvPr id="156" name="Google Shape;156;g35ec7a65b47_0_0"/>
          <p:cNvCxnSpPr>
            <a:stCxn id="149" idx="2"/>
            <a:endCxn id="133" idx="0"/>
          </p:cNvCxnSpPr>
          <p:nvPr/>
        </p:nvCxnSpPr>
        <p:spPr>
          <a:xfrm rot="-5400000" flipH="1">
            <a:off x="6883316" y="985854"/>
            <a:ext cx="507000" cy="2131800"/>
          </a:xfrm>
          <a:prstGeom prst="bentConnector3">
            <a:avLst>
              <a:gd name="adj1" fmla="val 50007"/>
            </a:avLst>
          </a:prstGeom>
          <a:noFill/>
          <a:ln w="9525" cap="flat" cmpd="sng">
            <a:solidFill>
              <a:srgbClr val="CCCCCC"/>
            </a:solidFill>
            <a:prstDash val="solid"/>
            <a:round/>
            <a:headEnd type="none" w="sm" len="sm"/>
            <a:tailEnd type="none" w="sm" len="sm"/>
          </a:ln>
        </p:spPr>
      </p:cxnSp>
      <p:cxnSp>
        <p:nvCxnSpPr>
          <p:cNvPr id="157" name="Google Shape;157;g35ec7a65b47_0_0"/>
          <p:cNvCxnSpPr>
            <a:stCxn id="149" idx="2"/>
            <a:endCxn id="137" idx="0"/>
          </p:cNvCxnSpPr>
          <p:nvPr/>
        </p:nvCxnSpPr>
        <p:spPr>
          <a:xfrm rot="-5400000" flipH="1">
            <a:off x="6191966" y="1677204"/>
            <a:ext cx="507000" cy="749100"/>
          </a:xfrm>
          <a:prstGeom prst="bentConnector3">
            <a:avLst>
              <a:gd name="adj1" fmla="val 50007"/>
            </a:avLst>
          </a:prstGeom>
          <a:noFill/>
          <a:ln w="9525" cap="flat" cmpd="sng">
            <a:solidFill>
              <a:srgbClr val="CCCCCC"/>
            </a:solidFill>
            <a:prstDash val="solid"/>
            <a:round/>
            <a:headEnd type="none" w="sm" len="sm"/>
            <a:tailEnd type="none" w="sm" len="sm"/>
          </a:ln>
        </p:spPr>
      </p:cxnSp>
      <p:cxnSp>
        <p:nvCxnSpPr>
          <p:cNvPr id="158" name="Google Shape;158;g35ec7a65b47_0_0"/>
          <p:cNvCxnSpPr>
            <a:stCxn id="149" idx="2"/>
            <a:endCxn id="135" idx="0"/>
          </p:cNvCxnSpPr>
          <p:nvPr/>
        </p:nvCxnSpPr>
        <p:spPr>
          <a:xfrm rot="5400000">
            <a:off x="5500616" y="1734954"/>
            <a:ext cx="507000" cy="633600"/>
          </a:xfrm>
          <a:prstGeom prst="bentConnector3">
            <a:avLst>
              <a:gd name="adj1" fmla="val 50007"/>
            </a:avLst>
          </a:prstGeom>
          <a:noFill/>
          <a:ln w="9525" cap="flat" cmpd="sng">
            <a:solidFill>
              <a:srgbClr val="CCCCCC"/>
            </a:solidFill>
            <a:prstDash val="solid"/>
            <a:round/>
            <a:headEnd type="none" w="sm" len="sm"/>
            <a:tailEnd type="none" w="sm" len="sm"/>
          </a:ln>
        </p:spPr>
      </p:cxnSp>
      <p:sp>
        <p:nvSpPr>
          <p:cNvPr id="159" name="Google Shape;159;g35ec7a65b47_0_0"/>
          <p:cNvSpPr/>
          <p:nvPr/>
        </p:nvSpPr>
        <p:spPr>
          <a:xfrm>
            <a:off x="624816" y="3042831"/>
            <a:ext cx="1701000" cy="407400"/>
          </a:xfrm>
          <a:prstGeom prst="roundRect">
            <a:avLst>
              <a:gd name="adj" fmla="val 0"/>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総支配人</a:t>
            </a:r>
            <a:endParaRPr sz="800" b="0" i="0" u="none" strike="noStrike" cap="none">
              <a:solidFill>
                <a:schemeClr val="lt1"/>
              </a:solidFill>
              <a:latin typeface="Meiryo"/>
              <a:ea typeface="Meiryo"/>
              <a:cs typeface="Meiryo"/>
              <a:sym typeface="Meiryo"/>
            </a:endParaRPr>
          </a:p>
        </p:txBody>
      </p:sp>
      <p:sp>
        <p:nvSpPr>
          <p:cNvPr id="142" name="Google Shape;142;g35ec7a65b47_0_0"/>
          <p:cNvSpPr/>
          <p:nvPr/>
        </p:nvSpPr>
        <p:spPr>
          <a:xfrm>
            <a:off x="624816" y="3527843"/>
            <a:ext cx="1701000" cy="407400"/>
          </a:xfrm>
          <a:prstGeom prst="roundRect">
            <a:avLst>
              <a:gd name="adj" fmla="val 0"/>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シェフベーカリー&amp;パティシエ</a:t>
            </a:r>
            <a:endParaRPr sz="800" b="0" i="0" u="none" strike="noStrike" cap="none">
              <a:solidFill>
                <a:schemeClr val="lt1"/>
              </a:solidFill>
              <a:latin typeface="Meiryo"/>
              <a:ea typeface="Meiryo"/>
              <a:cs typeface="Meiryo"/>
              <a:sym typeface="Meiryo"/>
            </a:endParaRPr>
          </a:p>
        </p:txBody>
      </p:sp>
      <p:sp>
        <p:nvSpPr>
          <p:cNvPr id="160" name="Google Shape;160;g35ec7a65b47_0_0"/>
          <p:cNvSpPr/>
          <p:nvPr/>
        </p:nvSpPr>
        <p:spPr>
          <a:xfrm>
            <a:off x="624816" y="4012863"/>
            <a:ext cx="1701000" cy="407400"/>
          </a:xfrm>
          <a:prstGeom prst="roundRect">
            <a:avLst>
              <a:gd name="adj" fmla="val 0"/>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スタッフ</a:t>
            </a:r>
            <a:endParaRPr sz="800" b="0" i="0" u="none" strike="noStrike" cap="none">
              <a:solidFill>
                <a:schemeClr val="lt1"/>
              </a:solidFill>
              <a:latin typeface="Meiryo"/>
              <a:ea typeface="Meiryo"/>
              <a:cs typeface="Meiryo"/>
              <a:sym typeface="Meiryo"/>
            </a:endParaRPr>
          </a:p>
        </p:txBody>
      </p:sp>
      <p:sp>
        <p:nvSpPr>
          <p:cNvPr id="161" name="Google Shape;161;g35ec7a65b47_0_0"/>
          <p:cNvSpPr/>
          <p:nvPr/>
        </p:nvSpPr>
        <p:spPr>
          <a:xfrm>
            <a:off x="2680193" y="3042831"/>
            <a:ext cx="1701000" cy="407400"/>
          </a:xfrm>
          <a:prstGeom prst="roundRect">
            <a:avLst>
              <a:gd name="adj" fmla="val 0"/>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総支配人</a:t>
            </a:r>
            <a:endParaRPr sz="800" b="0" i="0" u="none" strike="noStrike" cap="none">
              <a:solidFill>
                <a:schemeClr val="lt1"/>
              </a:solidFill>
              <a:latin typeface="Meiryo"/>
              <a:ea typeface="Meiryo"/>
              <a:cs typeface="Meiryo"/>
              <a:sym typeface="Meiryo"/>
            </a:endParaRPr>
          </a:p>
        </p:txBody>
      </p:sp>
      <p:sp>
        <p:nvSpPr>
          <p:cNvPr id="139" name="Google Shape;139;g35ec7a65b47_0_0"/>
          <p:cNvSpPr/>
          <p:nvPr/>
        </p:nvSpPr>
        <p:spPr>
          <a:xfrm>
            <a:off x="2680193" y="3527843"/>
            <a:ext cx="1701000" cy="407400"/>
          </a:xfrm>
          <a:prstGeom prst="roundRect">
            <a:avLst>
              <a:gd name="adj" fmla="val 0"/>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シェフベーカリー&amp;パティシエ</a:t>
            </a:r>
            <a:endParaRPr sz="800" b="0" i="0" u="none" strike="noStrike" cap="none">
              <a:solidFill>
                <a:schemeClr val="lt1"/>
              </a:solidFill>
              <a:latin typeface="Meiryo"/>
              <a:ea typeface="Meiryo"/>
              <a:cs typeface="Meiryo"/>
              <a:sym typeface="Meiryo"/>
            </a:endParaRPr>
          </a:p>
        </p:txBody>
      </p:sp>
      <p:sp>
        <p:nvSpPr>
          <p:cNvPr id="140" name="Google Shape;140;g35ec7a65b47_0_0"/>
          <p:cNvSpPr/>
          <p:nvPr/>
        </p:nvSpPr>
        <p:spPr>
          <a:xfrm>
            <a:off x="2680193" y="4012863"/>
            <a:ext cx="1701000" cy="407400"/>
          </a:xfrm>
          <a:prstGeom prst="roundRect">
            <a:avLst>
              <a:gd name="adj" fmla="val 0"/>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スタッフ</a:t>
            </a:r>
            <a:endParaRPr sz="800" b="0" i="0" u="none" strike="noStrike" cap="none">
              <a:solidFill>
                <a:schemeClr val="lt1"/>
              </a:solidFill>
              <a:latin typeface="Meiryo"/>
              <a:ea typeface="Meiryo"/>
              <a:cs typeface="Meiryo"/>
              <a:sym typeface="Meiryo"/>
            </a:endParaRPr>
          </a:p>
        </p:txBody>
      </p:sp>
      <p:sp>
        <p:nvSpPr>
          <p:cNvPr id="162" name="Google Shape;162;g35ec7a65b47_0_0"/>
          <p:cNvSpPr/>
          <p:nvPr/>
        </p:nvSpPr>
        <p:spPr>
          <a:xfrm>
            <a:off x="4819199" y="3253762"/>
            <a:ext cx="1236000" cy="407400"/>
          </a:xfrm>
          <a:prstGeom prst="roundRect">
            <a:avLst>
              <a:gd name="adj" fmla="val 0"/>
            </a:avLst>
          </a:prstGeom>
          <a:gradFill>
            <a:gsLst>
              <a:gs pos="0">
                <a:srgbClr val="DDDDDD"/>
              </a:gs>
              <a:gs pos="24000">
                <a:srgbClr val="B7B7B7"/>
              </a:gs>
              <a:gs pos="100000">
                <a:srgbClr val="919191"/>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施設マネージャー</a:t>
            </a:r>
            <a:endParaRPr sz="800" b="0" i="0" u="none" strike="noStrike" cap="none">
              <a:solidFill>
                <a:schemeClr val="lt1"/>
              </a:solidFill>
              <a:latin typeface="Meiryo"/>
              <a:ea typeface="Meiryo"/>
              <a:cs typeface="Meiryo"/>
              <a:sym typeface="Meiryo"/>
            </a:endParaRPr>
          </a:p>
        </p:txBody>
      </p:sp>
      <p:sp>
        <p:nvSpPr>
          <p:cNvPr id="163" name="Google Shape;163;g35ec7a65b47_0_0"/>
          <p:cNvSpPr/>
          <p:nvPr/>
        </p:nvSpPr>
        <p:spPr>
          <a:xfrm>
            <a:off x="4819199" y="4012839"/>
            <a:ext cx="1236000" cy="407400"/>
          </a:xfrm>
          <a:prstGeom prst="roundRect">
            <a:avLst>
              <a:gd name="adj" fmla="val 0"/>
            </a:avLst>
          </a:prstGeom>
          <a:gradFill>
            <a:gsLst>
              <a:gs pos="0">
                <a:srgbClr val="DDDDDD"/>
              </a:gs>
              <a:gs pos="24000">
                <a:srgbClr val="B7B7B7"/>
              </a:gs>
              <a:gs pos="100000">
                <a:srgbClr val="919191"/>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スタッフ</a:t>
            </a:r>
            <a:endParaRPr sz="800" b="0" i="0" u="none" strike="noStrike" cap="none">
              <a:solidFill>
                <a:schemeClr val="lt1"/>
              </a:solidFill>
              <a:latin typeface="Meiryo"/>
              <a:ea typeface="Meiryo"/>
              <a:cs typeface="Meiryo"/>
              <a:sym typeface="Meiryo"/>
            </a:endParaRPr>
          </a:p>
        </p:txBody>
      </p:sp>
      <p:sp>
        <p:nvSpPr>
          <p:cNvPr id="164" name="Google Shape;164;g35ec7a65b47_0_0"/>
          <p:cNvSpPr/>
          <p:nvPr/>
        </p:nvSpPr>
        <p:spPr>
          <a:xfrm>
            <a:off x="6202024" y="3253762"/>
            <a:ext cx="1236000" cy="407400"/>
          </a:xfrm>
          <a:prstGeom prst="roundRect">
            <a:avLst>
              <a:gd name="adj" fmla="val 0"/>
            </a:avLst>
          </a:prstGeom>
          <a:gradFill>
            <a:gsLst>
              <a:gs pos="0">
                <a:srgbClr val="DDDDDD"/>
              </a:gs>
              <a:gs pos="24000">
                <a:srgbClr val="B7B7B7"/>
              </a:gs>
              <a:gs pos="100000">
                <a:srgbClr val="919191"/>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製品マネージャー</a:t>
            </a:r>
            <a:endParaRPr sz="800" b="0" i="0" u="none" strike="noStrike" cap="none">
              <a:solidFill>
                <a:schemeClr val="lt1"/>
              </a:solidFill>
              <a:latin typeface="Meiryo"/>
              <a:ea typeface="Meiryo"/>
              <a:cs typeface="Meiryo"/>
              <a:sym typeface="Meiryo"/>
            </a:endParaRPr>
          </a:p>
        </p:txBody>
      </p:sp>
      <p:sp>
        <p:nvSpPr>
          <p:cNvPr id="165" name="Google Shape;165;g35ec7a65b47_0_0"/>
          <p:cNvSpPr/>
          <p:nvPr/>
        </p:nvSpPr>
        <p:spPr>
          <a:xfrm>
            <a:off x="6202024" y="4012839"/>
            <a:ext cx="1236000" cy="407400"/>
          </a:xfrm>
          <a:prstGeom prst="roundRect">
            <a:avLst>
              <a:gd name="adj" fmla="val 0"/>
            </a:avLst>
          </a:prstGeom>
          <a:gradFill>
            <a:gsLst>
              <a:gs pos="0">
                <a:srgbClr val="DDDDDD"/>
              </a:gs>
              <a:gs pos="24000">
                <a:srgbClr val="B7B7B7"/>
              </a:gs>
              <a:gs pos="100000">
                <a:srgbClr val="919191"/>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スタッフ</a:t>
            </a:r>
            <a:endParaRPr sz="800" b="0" i="0" u="none" strike="noStrike" cap="none">
              <a:solidFill>
                <a:schemeClr val="lt1"/>
              </a:solidFill>
              <a:latin typeface="Meiryo"/>
              <a:ea typeface="Meiryo"/>
              <a:cs typeface="Meiryo"/>
              <a:sym typeface="Meiryo"/>
            </a:endParaRPr>
          </a:p>
        </p:txBody>
      </p:sp>
      <p:sp>
        <p:nvSpPr>
          <p:cNvPr id="166" name="Google Shape;166;g35ec7a65b47_0_0"/>
          <p:cNvSpPr/>
          <p:nvPr/>
        </p:nvSpPr>
        <p:spPr>
          <a:xfrm>
            <a:off x="7584849" y="3253762"/>
            <a:ext cx="1236000" cy="407400"/>
          </a:xfrm>
          <a:prstGeom prst="roundRect">
            <a:avLst>
              <a:gd name="adj" fmla="val 0"/>
            </a:avLst>
          </a:prstGeom>
          <a:gradFill>
            <a:gsLst>
              <a:gs pos="0">
                <a:srgbClr val="DDDDDD"/>
              </a:gs>
              <a:gs pos="24000">
                <a:srgbClr val="B7B7B7"/>
              </a:gs>
              <a:gs pos="100000">
                <a:srgbClr val="919191"/>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メディアマネージャー</a:t>
            </a:r>
            <a:endParaRPr sz="800" b="0" i="0" u="none" strike="noStrike" cap="none">
              <a:solidFill>
                <a:schemeClr val="lt1"/>
              </a:solidFill>
              <a:latin typeface="Meiryo"/>
              <a:ea typeface="Meiryo"/>
              <a:cs typeface="Meiryo"/>
              <a:sym typeface="Meiryo"/>
            </a:endParaRPr>
          </a:p>
        </p:txBody>
      </p:sp>
      <p:sp>
        <p:nvSpPr>
          <p:cNvPr id="167" name="Google Shape;167;g35ec7a65b47_0_0"/>
          <p:cNvSpPr/>
          <p:nvPr/>
        </p:nvSpPr>
        <p:spPr>
          <a:xfrm>
            <a:off x="7584849" y="4012839"/>
            <a:ext cx="1236000" cy="407400"/>
          </a:xfrm>
          <a:prstGeom prst="roundRect">
            <a:avLst>
              <a:gd name="adj" fmla="val 0"/>
            </a:avLst>
          </a:prstGeom>
          <a:gradFill>
            <a:gsLst>
              <a:gs pos="0">
                <a:srgbClr val="DDDDDD"/>
              </a:gs>
              <a:gs pos="24000">
                <a:srgbClr val="B7B7B7"/>
              </a:gs>
              <a:gs pos="100000">
                <a:srgbClr val="919191"/>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スタッフ</a:t>
            </a:r>
            <a:endParaRPr sz="800" b="0" i="0" u="none" strike="noStrike" cap="none">
              <a:solidFill>
                <a:schemeClr val="lt1"/>
              </a:solidFill>
              <a:latin typeface="Meiryo"/>
              <a:ea typeface="Meiryo"/>
              <a:cs typeface="Meiryo"/>
              <a:sym typeface="Meiryo"/>
            </a:endParaRPr>
          </a:p>
        </p:txBody>
      </p:sp>
      <p:cxnSp>
        <p:nvCxnSpPr>
          <p:cNvPr id="168" name="Google Shape;168;g35ec7a65b47_0_0"/>
          <p:cNvCxnSpPr>
            <a:stCxn id="147" idx="1"/>
          </p:cNvCxnSpPr>
          <p:nvPr/>
        </p:nvCxnSpPr>
        <p:spPr>
          <a:xfrm flipH="1">
            <a:off x="3897480" y="880218"/>
            <a:ext cx="1582200" cy="3600"/>
          </a:xfrm>
          <a:prstGeom prst="straightConnector1">
            <a:avLst/>
          </a:prstGeom>
          <a:noFill/>
          <a:ln w="9525" cap="flat" cmpd="sng">
            <a:solidFill>
              <a:srgbClr val="CCCCCC"/>
            </a:solidFill>
            <a:prstDash val="solid"/>
            <a:round/>
            <a:headEnd type="none" w="sm" len="sm"/>
            <a:tailEnd type="none" w="sm" len="sm"/>
          </a:ln>
        </p:spPr>
      </p:cxnSp>
      <p:sp>
        <p:nvSpPr>
          <p:cNvPr id="169" name="Google Shape;169;g35ec7a65b47_0_0"/>
          <p:cNvSpPr txBox="1"/>
          <p:nvPr/>
        </p:nvSpPr>
        <p:spPr>
          <a:xfrm>
            <a:off x="4382992" y="790218"/>
            <a:ext cx="621300" cy="1836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highlight>
                  <a:schemeClr val="lt1"/>
                </a:highlight>
                <a:latin typeface="Meiryo"/>
                <a:ea typeface="Meiryo"/>
                <a:cs typeface="Meiryo"/>
                <a:sym typeface="Meiryo"/>
              </a:rPr>
              <a:t>直接契約</a:t>
            </a:r>
            <a:endParaRPr sz="800" b="0" i="0" u="none" strike="noStrike" cap="none">
              <a:solidFill>
                <a:srgbClr val="C68A65"/>
              </a:solidFill>
              <a:highlight>
                <a:schemeClr val="lt1"/>
              </a:highlight>
              <a:latin typeface="Meiryo"/>
              <a:ea typeface="Meiryo"/>
              <a:cs typeface="Meiryo"/>
              <a:sym typeface="Meiryo"/>
            </a:endParaRPr>
          </a:p>
        </p:txBody>
      </p:sp>
      <p:sp>
        <p:nvSpPr>
          <p:cNvPr id="170" name="Google Shape;170;g35ec7a65b47_0_0"/>
          <p:cNvSpPr txBox="1"/>
          <p:nvPr/>
        </p:nvSpPr>
        <p:spPr>
          <a:xfrm>
            <a:off x="5760242" y="1227178"/>
            <a:ext cx="621300" cy="1836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JP" sz="800" b="0" i="0" u="none" strike="noStrike" cap="none">
                <a:solidFill>
                  <a:srgbClr val="888888"/>
                </a:solidFill>
                <a:highlight>
                  <a:schemeClr val="lt1"/>
                </a:highlight>
                <a:latin typeface="Meiryo"/>
                <a:ea typeface="Meiryo"/>
                <a:cs typeface="Meiryo"/>
                <a:sym typeface="Meiryo"/>
              </a:rPr>
              <a:t>利用許諾</a:t>
            </a:r>
            <a:endParaRPr sz="800" b="0" i="0" u="none" strike="noStrike" cap="none">
              <a:solidFill>
                <a:srgbClr val="888888"/>
              </a:solidFill>
              <a:highlight>
                <a:schemeClr val="lt1"/>
              </a:highlight>
              <a:latin typeface="Meiryo"/>
              <a:ea typeface="Meiryo"/>
              <a:cs typeface="Meiryo"/>
              <a:sym typeface="Meiryo"/>
            </a:endParaRPr>
          </a:p>
        </p:txBody>
      </p:sp>
      <p:cxnSp>
        <p:nvCxnSpPr>
          <p:cNvPr id="171" name="Google Shape;171;g35ec7a65b47_0_0"/>
          <p:cNvCxnSpPr/>
          <p:nvPr/>
        </p:nvCxnSpPr>
        <p:spPr>
          <a:xfrm>
            <a:off x="374400" y="4670890"/>
            <a:ext cx="3873000" cy="0"/>
          </a:xfrm>
          <a:prstGeom prst="straightConnector1">
            <a:avLst/>
          </a:prstGeom>
          <a:noFill/>
          <a:ln w="9525" cap="flat" cmpd="sng">
            <a:solidFill>
              <a:srgbClr val="C68A65"/>
            </a:solidFill>
            <a:prstDash val="solid"/>
            <a:round/>
            <a:headEnd type="triangle" w="med" len="med"/>
            <a:tailEnd type="triangle" w="med" len="med"/>
          </a:ln>
        </p:spPr>
      </p:cxnSp>
      <p:cxnSp>
        <p:nvCxnSpPr>
          <p:cNvPr id="172" name="Google Shape;172;g35ec7a65b47_0_0"/>
          <p:cNvCxnSpPr/>
          <p:nvPr/>
        </p:nvCxnSpPr>
        <p:spPr>
          <a:xfrm rot="10800000" flipH="1">
            <a:off x="4836600" y="4670865"/>
            <a:ext cx="3928200" cy="12300"/>
          </a:xfrm>
          <a:prstGeom prst="straightConnector1">
            <a:avLst/>
          </a:prstGeom>
          <a:noFill/>
          <a:ln w="9525" cap="flat" cmpd="sng">
            <a:solidFill>
              <a:srgbClr val="888888"/>
            </a:solidFill>
            <a:prstDash val="solid"/>
            <a:round/>
            <a:headEnd type="triangle" w="med" len="med"/>
            <a:tailEnd type="triangle" w="med" len="med"/>
          </a:ln>
        </p:spPr>
      </p:cxnSp>
      <p:sp>
        <p:nvSpPr>
          <p:cNvPr id="173" name="Google Shape;173;g35ec7a65b47_0_0"/>
          <p:cNvSpPr txBox="1"/>
          <p:nvPr/>
        </p:nvSpPr>
        <p:spPr>
          <a:xfrm>
            <a:off x="6223710" y="4585114"/>
            <a:ext cx="1115400" cy="1836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JP" sz="800" b="0" i="0" u="none" strike="noStrike" cap="none">
                <a:solidFill>
                  <a:srgbClr val="888888"/>
                </a:solidFill>
                <a:highlight>
                  <a:schemeClr val="lt1"/>
                </a:highlight>
                <a:latin typeface="Meiryo"/>
                <a:ea typeface="Meiryo"/>
                <a:cs typeface="Meiryo"/>
                <a:sym typeface="Meiryo"/>
              </a:rPr>
              <a:t>TBSの直接運営</a:t>
            </a:r>
            <a:endParaRPr sz="800" b="0" i="0" u="none" strike="noStrike" cap="none">
              <a:solidFill>
                <a:srgbClr val="888888"/>
              </a:solidFill>
              <a:highlight>
                <a:schemeClr val="lt1"/>
              </a:highlight>
              <a:latin typeface="Meiryo"/>
              <a:ea typeface="Meiryo"/>
              <a:cs typeface="Meiryo"/>
              <a:sym typeface="Meiryo"/>
            </a:endParaRPr>
          </a:p>
        </p:txBody>
      </p:sp>
      <p:sp>
        <p:nvSpPr>
          <p:cNvPr id="174" name="Google Shape;174;g35ec7a65b47_0_0"/>
          <p:cNvSpPr txBox="1"/>
          <p:nvPr/>
        </p:nvSpPr>
        <p:spPr>
          <a:xfrm>
            <a:off x="1683385" y="4579039"/>
            <a:ext cx="1115400" cy="1836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highlight>
                  <a:schemeClr val="lt1"/>
                </a:highlight>
                <a:latin typeface="Meiryo"/>
                <a:ea typeface="Meiryo"/>
                <a:cs typeface="Meiryo"/>
                <a:sym typeface="Meiryo"/>
              </a:rPr>
              <a:t>当社の事業領域</a:t>
            </a:r>
            <a:endParaRPr sz="800" b="0" i="0" u="none" strike="noStrike" cap="none">
              <a:solidFill>
                <a:srgbClr val="C68A65"/>
              </a:solidFill>
              <a:highlight>
                <a:schemeClr val="lt1"/>
              </a:highlight>
              <a:latin typeface="Meiryo"/>
              <a:ea typeface="Meiryo"/>
              <a:cs typeface="Meiryo"/>
              <a:sym typeface="Meiryo"/>
            </a:endParaRPr>
          </a:p>
        </p:txBody>
      </p:sp>
      <p:pic>
        <p:nvPicPr>
          <p:cNvPr id="175" name="Google Shape;175;g35ec7a65b47_0_0"/>
          <p:cNvPicPr preferRelativeResize="0"/>
          <p:nvPr/>
        </p:nvPicPr>
        <p:blipFill rotWithShape="1">
          <a:blip r:embed="rId3">
            <a:alphaModFix/>
          </a:blip>
          <a:srcRect l="59666" t="5993" b="20207"/>
          <a:stretch/>
        </p:blipFill>
        <p:spPr>
          <a:xfrm>
            <a:off x="1849030" y="790228"/>
            <a:ext cx="825300" cy="773400"/>
          </a:xfrm>
          <a:prstGeom prst="ellipse">
            <a:avLst/>
          </a:prstGeom>
          <a:noFill/>
          <a:ln>
            <a:noFill/>
          </a:ln>
        </p:spPr>
      </p:pic>
      <p:cxnSp>
        <p:nvCxnSpPr>
          <p:cNvPr id="176" name="Google Shape;176;g35ec7a65b47_0_0"/>
          <p:cNvCxnSpPr>
            <a:stCxn id="159" idx="1"/>
          </p:cNvCxnSpPr>
          <p:nvPr/>
        </p:nvCxnSpPr>
        <p:spPr>
          <a:xfrm rot="10800000">
            <a:off x="447816" y="2888331"/>
            <a:ext cx="177000" cy="358200"/>
          </a:xfrm>
          <a:prstGeom prst="bentConnector2">
            <a:avLst/>
          </a:prstGeom>
          <a:noFill/>
          <a:ln w="9525" cap="flat" cmpd="sng">
            <a:solidFill>
              <a:srgbClr val="CCCCCC"/>
            </a:solidFill>
            <a:prstDash val="solid"/>
            <a:round/>
            <a:headEnd type="none" w="sm" len="sm"/>
            <a:tailEnd type="none" w="sm" len="sm"/>
          </a:ln>
        </p:spPr>
      </p:cxnSp>
      <p:cxnSp>
        <p:nvCxnSpPr>
          <p:cNvPr id="177" name="Google Shape;177;g35ec7a65b47_0_0"/>
          <p:cNvCxnSpPr>
            <a:stCxn id="142" idx="1"/>
          </p:cNvCxnSpPr>
          <p:nvPr/>
        </p:nvCxnSpPr>
        <p:spPr>
          <a:xfrm rot="10800000">
            <a:off x="447816" y="2896043"/>
            <a:ext cx="177000" cy="835500"/>
          </a:xfrm>
          <a:prstGeom prst="bentConnector2">
            <a:avLst/>
          </a:prstGeom>
          <a:noFill/>
          <a:ln w="9525" cap="flat" cmpd="sng">
            <a:solidFill>
              <a:srgbClr val="CCCCCC"/>
            </a:solidFill>
            <a:prstDash val="solid"/>
            <a:round/>
            <a:headEnd type="none" w="sm" len="sm"/>
            <a:tailEnd type="none" w="sm" len="sm"/>
          </a:ln>
        </p:spPr>
      </p:cxnSp>
      <p:cxnSp>
        <p:nvCxnSpPr>
          <p:cNvPr id="178" name="Google Shape;178;g35ec7a65b47_0_0"/>
          <p:cNvCxnSpPr/>
          <p:nvPr/>
        </p:nvCxnSpPr>
        <p:spPr>
          <a:xfrm rot="5400000" flipH="1">
            <a:off x="2409890" y="2977388"/>
            <a:ext cx="358200" cy="177000"/>
          </a:xfrm>
          <a:prstGeom prst="bentConnector2">
            <a:avLst/>
          </a:prstGeom>
          <a:noFill/>
          <a:ln w="9525" cap="flat" cmpd="sng">
            <a:solidFill>
              <a:srgbClr val="CCCCCC"/>
            </a:solidFill>
            <a:prstDash val="solid"/>
            <a:round/>
            <a:headEnd type="none" w="sm" len="sm"/>
            <a:tailEnd type="none" w="sm" len="sm"/>
          </a:ln>
        </p:spPr>
      </p:cxnSp>
      <p:cxnSp>
        <p:nvCxnSpPr>
          <p:cNvPr id="179" name="Google Shape;179;g35ec7a65b47_0_0"/>
          <p:cNvCxnSpPr/>
          <p:nvPr/>
        </p:nvCxnSpPr>
        <p:spPr>
          <a:xfrm rot="5400000" flipH="1">
            <a:off x="2171240" y="3223750"/>
            <a:ext cx="835500" cy="177000"/>
          </a:xfrm>
          <a:prstGeom prst="bentConnector2">
            <a:avLst/>
          </a:prstGeom>
          <a:noFill/>
          <a:ln w="9525" cap="flat" cmpd="sng">
            <a:solidFill>
              <a:srgbClr val="CCCCCC"/>
            </a:solidFill>
            <a:prstDash val="solid"/>
            <a:round/>
            <a:headEnd type="none" w="sm" len="sm"/>
            <a:tailEnd type="non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35ec7a65b47_0_10"/>
          <p:cNvSpPr/>
          <p:nvPr/>
        </p:nvSpPr>
        <p:spPr>
          <a:xfrm>
            <a:off x="4715000" y="780850"/>
            <a:ext cx="3939600" cy="3277800"/>
          </a:xfrm>
          <a:prstGeom prst="roundRect">
            <a:avLst>
              <a:gd name="adj" fmla="val 1463"/>
            </a:avLst>
          </a:prstGeom>
          <a:gradFill>
            <a:gsLst>
              <a:gs pos="0">
                <a:srgbClr val="D5AA8F"/>
              </a:gs>
              <a:gs pos="100000">
                <a:schemeClr val="lt1"/>
              </a:gs>
            </a:gsLst>
            <a:lin ang="2698631" scaled="0"/>
          </a:gradFill>
          <a:ln>
            <a:noFill/>
          </a:ln>
        </p:spPr>
        <p:txBody>
          <a:bodyPr spcFirstLastPara="1" wrap="square" lIns="82950" tIns="82950" rIns="82950" bIns="82950" anchor="ctr" anchorCtr="0">
            <a:noAutofit/>
          </a:bodyPr>
          <a:lstStyle/>
          <a:p>
            <a:pPr marL="0" marR="0" lvl="0" indent="0" algn="ctr" rtl="0">
              <a:lnSpc>
                <a:spcPct val="150000"/>
              </a:lnSpc>
              <a:spcBef>
                <a:spcPts val="0"/>
              </a:spcBef>
              <a:spcAft>
                <a:spcPts val="0"/>
              </a:spcAft>
              <a:buClr>
                <a:srgbClr val="000000"/>
              </a:buClr>
              <a:buSzPts val="1000"/>
              <a:buFont typeface="Arial"/>
              <a:buNone/>
            </a:pPr>
            <a:endParaRPr sz="1000" b="0" i="0" u="none" strike="noStrike" cap="none">
              <a:solidFill>
                <a:srgbClr val="C68A65"/>
              </a:solidFill>
              <a:latin typeface="Meiryo"/>
              <a:ea typeface="Meiryo"/>
              <a:cs typeface="Meiryo"/>
              <a:sym typeface="Meiryo"/>
            </a:endParaRPr>
          </a:p>
        </p:txBody>
      </p:sp>
      <p:sp>
        <p:nvSpPr>
          <p:cNvPr id="185" name="Google Shape;185;g35ec7a65b47_0_10"/>
          <p:cNvSpPr/>
          <p:nvPr/>
        </p:nvSpPr>
        <p:spPr>
          <a:xfrm>
            <a:off x="491825" y="2478495"/>
            <a:ext cx="3939600" cy="1580100"/>
          </a:xfrm>
          <a:prstGeom prst="roundRect">
            <a:avLst>
              <a:gd name="adj" fmla="val 4223"/>
            </a:avLst>
          </a:prstGeom>
          <a:gradFill>
            <a:gsLst>
              <a:gs pos="0">
                <a:srgbClr val="D5AA8F"/>
              </a:gs>
              <a:gs pos="66000">
                <a:srgbClr val="EAD5C7"/>
              </a:gs>
              <a:gs pos="100000">
                <a:schemeClr val="lt1"/>
              </a:gs>
            </a:gsLst>
            <a:lin ang="2698631" scaled="0"/>
          </a:gradFill>
          <a:ln>
            <a:noFill/>
          </a:ln>
        </p:spPr>
        <p:txBody>
          <a:bodyPr spcFirstLastPara="1" wrap="square" lIns="82950" tIns="82950" rIns="82950" bIns="82950" anchor="ctr" anchorCtr="0">
            <a:noAutofit/>
          </a:bodyPr>
          <a:lstStyle/>
          <a:p>
            <a:pPr marL="0" marR="0" lvl="0" indent="0" algn="ctr" rtl="0">
              <a:lnSpc>
                <a:spcPct val="150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endParaRPr sz="1000" b="0" i="0" u="none" strike="noStrike" cap="none">
              <a:solidFill>
                <a:srgbClr val="C68A65"/>
              </a:solidFill>
              <a:latin typeface="Meiryo"/>
              <a:ea typeface="Meiryo"/>
              <a:cs typeface="Meiryo"/>
              <a:sym typeface="Meiryo"/>
            </a:endParaRPr>
          </a:p>
          <a:p>
            <a:pPr marL="0" marR="0" lvl="0" indent="0" algn="ctr" rtl="0">
              <a:lnSpc>
                <a:spcPct val="150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フラッグシップショップオープン</a:t>
            </a:r>
            <a:endParaRPr sz="1000" b="0" i="0" u="none" strike="noStrike" cap="none">
              <a:solidFill>
                <a:srgbClr val="C68A65"/>
              </a:solidFill>
              <a:latin typeface="Meiryo"/>
              <a:ea typeface="Meiryo"/>
              <a:cs typeface="Meiryo"/>
              <a:sym typeface="Meiryo"/>
            </a:endParaRPr>
          </a:p>
          <a:p>
            <a:pPr marL="0" marR="0" lvl="0" indent="0" algn="ctr" rtl="0">
              <a:lnSpc>
                <a:spcPct val="150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地方都市での多店舗展開</a:t>
            </a:r>
            <a:endParaRPr sz="1000" b="0" i="0" u="none" strike="noStrike" cap="none">
              <a:solidFill>
                <a:srgbClr val="C68A65"/>
              </a:solidFill>
              <a:latin typeface="Meiryo"/>
              <a:ea typeface="Meiryo"/>
              <a:cs typeface="Meiryo"/>
              <a:sym typeface="Meiryo"/>
            </a:endParaRPr>
          </a:p>
        </p:txBody>
      </p:sp>
      <p:sp>
        <p:nvSpPr>
          <p:cNvPr id="186" name="Google Shape;186;g35ec7a65b47_0_10"/>
          <p:cNvSpPr/>
          <p:nvPr/>
        </p:nvSpPr>
        <p:spPr>
          <a:xfrm>
            <a:off x="491825" y="780850"/>
            <a:ext cx="3939600" cy="1580100"/>
          </a:xfrm>
          <a:prstGeom prst="roundRect">
            <a:avLst>
              <a:gd name="adj" fmla="val 3834"/>
            </a:avLst>
          </a:prstGeom>
          <a:gradFill>
            <a:gsLst>
              <a:gs pos="0">
                <a:srgbClr val="D5AA8F"/>
              </a:gs>
              <a:gs pos="66000">
                <a:srgbClr val="EAD5C7"/>
              </a:gs>
              <a:gs pos="100000">
                <a:schemeClr val="lt1"/>
              </a:gs>
            </a:gsLst>
            <a:lin ang="2698631" scaled="0"/>
          </a:gradFill>
          <a:ln>
            <a:noFill/>
          </a:ln>
        </p:spPr>
        <p:txBody>
          <a:bodyPr spcFirstLastPara="1" wrap="square" lIns="82950" tIns="82950" rIns="82950" bIns="82950" anchor="ctr" anchorCtr="0">
            <a:noAutofit/>
          </a:bodyPr>
          <a:lstStyle/>
          <a:p>
            <a:pPr marL="0" marR="0" lvl="0" indent="0" algn="ctr" rtl="0">
              <a:lnSpc>
                <a:spcPct val="150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endParaRPr sz="1000" b="0" i="0" u="none" strike="noStrike" cap="none">
              <a:solidFill>
                <a:srgbClr val="C68A65"/>
              </a:solidFill>
              <a:latin typeface="Meiryo"/>
              <a:ea typeface="Meiryo"/>
              <a:cs typeface="Meiryo"/>
              <a:sym typeface="Meiryo"/>
            </a:endParaRPr>
          </a:p>
          <a:p>
            <a:pPr marL="0" marR="0" lvl="0" indent="0" algn="ctr" rtl="0">
              <a:lnSpc>
                <a:spcPct val="150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endParaRPr sz="1000" b="0" i="0" u="none" strike="noStrike" cap="none">
              <a:solidFill>
                <a:srgbClr val="C68A65"/>
              </a:solidFill>
              <a:latin typeface="Meiryo"/>
              <a:ea typeface="Meiryo"/>
              <a:cs typeface="Meiryo"/>
              <a:sym typeface="Meiryo"/>
            </a:endParaRPr>
          </a:p>
          <a:p>
            <a:pPr marL="0" marR="0" lvl="0" indent="0" algn="ctr" rtl="0">
              <a:lnSpc>
                <a:spcPct val="150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フラッグシップショップオープン</a:t>
            </a:r>
            <a:endParaRPr sz="1000" b="0" i="0" u="none" strike="noStrike" cap="none">
              <a:solidFill>
                <a:srgbClr val="C68A65"/>
              </a:solidFill>
              <a:latin typeface="Meiryo"/>
              <a:ea typeface="Meiryo"/>
              <a:cs typeface="Meiryo"/>
              <a:sym typeface="Meiryo"/>
            </a:endParaRPr>
          </a:p>
          <a:p>
            <a:pPr marL="0" marR="0" lvl="0" indent="0" algn="ctr" rtl="0">
              <a:lnSpc>
                <a:spcPct val="150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5年間に10店舗オープン</a:t>
            </a:r>
            <a:endParaRPr sz="1000" b="0" i="0" u="none" strike="noStrike" cap="none">
              <a:solidFill>
                <a:srgbClr val="C68A65"/>
              </a:solidFill>
              <a:latin typeface="Meiryo"/>
              <a:ea typeface="Meiryo"/>
              <a:cs typeface="Meiryo"/>
              <a:sym typeface="Meiryo"/>
            </a:endParaRPr>
          </a:p>
          <a:p>
            <a:pPr marL="0" marR="0" lvl="0" indent="0" algn="ctr" rtl="0">
              <a:lnSpc>
                <a:spcPct val="150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冷凍パンの卸売</a:t>
            </a:r>
            <a:endParaRPr sz="1000" b="0" i="0" u="none" strike="noStrike" cap="none">
              <a:solidFill>
                <a:srgbClr val="C68A65"/>
              </a:solidFill>
              <a:latin typeface="Meiryo"/>
              <a:ea typeface="Meiryo"/>
              <a:cs typeface="Meiryo"/>
              <a:sym typeface="Meiryo"/>
            </a:endParaRPr>
          </a:p>
        </p:txBody>
      </p:sp>
      <p:sp>
        <p:nvSpPr>
          <p:cNvPr id="187" name="Google Shape;187;g35ec7a65b47_0_10"/>
          <p:cNvSpPr txBox="1"/>
          <p:nvPr/>
        </p:nvSpPr>
        <p:spPr>
          <a:xfrm>
            <a:off x="239777" y="211050"/>
            <a:ext cx="31359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rgbClr val="1F1F1F"/>
                </a:solidFill>
                <a:highlight>
                  <a:srgbClr val="FFFFFF"/>
                </a:highlight>
                <a:latin typeface="Meiryo"/>
                <a:ea typeface="Meiryo"/>
                <a:cs typeface="Meiryo"/>
                <a:sym typeface="Meiryo"/>
              </a:rPr>
              <a:t>THIERRY MARX ビジネス展開</a:t>
            </a:r>
            <a:endParaRPr sz="1400" b="1" i="0" u="none" strike="noStrike" cap="none">
              <a:solidFill>
                <a:schemeClr val="dk1"/>
              </a:solidFill>
              <a:latin typeface="Meiryo"/>
              <a:ea typeface="Meiryo"/>
              <a:cs typeface="Meiryo"/>
              <a:sym typeface="Meiryo"/>
            </a:endParaRPr>
          </a:p>
        </p:txBody>
      </p:sp>
      <p:pic>
        <p:nvPicPr>
          <p:cNvPr id="188" name="Google Shape;188;g35ec7a65b47_0_10"/>
          <p:cNvPicPr preferRelativeResize="0"/>
          <p:nvPr/>
        </p:nvPicPr>
        <p:blipFill rotWithShape="1">
          <a:blip r:embed="rId3">
            <a:alphaModFix/>
          </a:blip>
          <a:srcRect l="24737" t="62945" r="54669"/>
          <a:stretch/>
        </p:blipFill>
        <p:spPr>
          <a:xfrm>
            <a:off x="5083880" y="1956102"/>
            <a:ext cx="906600" cy="913800"/>
          </a:xfrm>
          <a:prstGeom prst="ellipse">
            <a:avLst/>
          </a:prstGeom>
          <a:noFill/>
          <a:ln>
            <a:noFill/>
          </a:ln>
        </p:spPr>
      </p:pic>
      <p:sp>
        <p:nvSpPr>
          <p:cNvPr id="189" name="Google Shape;189;g35ec7a65b47_0_10"/>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190" name="Google Shape;190;g35ec7a65b47_0_10"/>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5</a:t>
            </a:fld>
            <a:endParaRPr sz="700"/>
          </a:p>
        </p:txBody>
      </p:sp>
      <p:sp>
        <p:nvSpPr>
          <p:cNvPr id="191" name="Google Shape;191;g35ec7a65b47_0_10"/>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192" name="Google Shape;192;g35ec7a65b47_0_10"/>
          <p:cNvSpPr txBox="1"/>
          <p:nvPr/>
        </p:nvSpPr>
        <p:spPr>
          <a:xfrm>
            <a:off x="6101554" y="2466339"/>
            <a:ext cx="1896000" cy="315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latin typeface="Meiryo"/>
                <a:ea typeface="Meiryo"/>
                <a:cs typeface="Meiryo"/>
                <a:sym typeface="Meiryo"/>
              </a:rPr>
              <a:t>新しい料理雑誌の提案</a:t>
            </a:r>
            <a:endParaRPr sz="800" b="0" i="0" u="none" strike="noStrike" cap="none">
              <a:solidFill>
                <a:srgbClr val="C68A65"/>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latin typeface="Meiryo"/>
                <a:ea typeface="Meiryo"/>
                <a:cs typeface="Meiryo"/>
                <a:sym typeface="Meiryo"/>
              </a:rPr>
              <a:t>料理テレビ番組出演</a:t>
            </a:r>
            <a:endParaRPr sz="800" b="0" i="0" u="none" strike="noStrike" cap="none">
              <a:solidFill>
                <a:srgbClr val="C68A65"/>
              </a:solidFill>
              <a:latin typeface="Meiryo"/>
              <a:ea typeface="Meiryo"/>
              <a:cs typeface="Meiryo"/>
              <a:sym typeface="Meiryo"/>
            </a:endParaRPr>
          </a:p>
        </p:txBody>
      </p:sp>
      <p:sp>
        <p:nvSpPr>
          <p:cNvPr id="193" name="Google Shape;193;g35ec7a65b47_0_10"/>
          <p:cNvSpPr txBox="1"/>
          <p:nvPr/>
        </p:nvSpPr>
        <p:spPr>
          <a:xfrm>
            <a:off x="6101555" y="3558839"/>
            <a:ext cx="1896000" cy="315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latin typeface="Meiryo"/>
                <a:ea typeface="Meiryo"/>
                <a:cs typeface="Meiryo"/>
                <a:sym typeface="Meiryo"/>
              </a:rPr>
              <a:t>幅広い世代がアクセスできる料理学校</a:t>
            </a:r>
            <a:endParaRPr sz="800" b="0" i="0" u="none" strike="noStrike" cap="none">
              <a:solidFill>
                <a:srgbClr val="C68A65"/>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latin typeface="Meiryo"/>
                <a:ea typeface="Meiryo"/>
                <a:cs typeface="Meiryo"/>
                <a:sym typeface="Meiryo"/>
              </a:rPr>
              <a:t>プロへの調理指導</a:t>
            </a:r>
            <a:endParaRPr sz="800" b="0" i="0" u="none" strike="noStrike" cap="none">
              <a:solidFill>
                <a:srgbClr val="C68A65"/>
              </a:solidFill>
              <a:latin typeface="Meiryo"/>
              <a:ea typeface="Meiryo"/>
              <a:cs typeface="Meiryo"/>
              <a:sym typeface="Meiryo"/>
            </a:endParaRPr>
          </a:p>
        </p:txBody>
      </p:sp>
      <p:sp>
        <p:nvSpPr>
          <p:cNvPr id="194" name="Google Shape;194;g35ec7a65b47_0_10"/>
          <p:cNvSpPr txBox="1"/>
          <p:nvPr/>
        </p:nvSpPr>
        <p:spPr>
          <a:xfrm>
            <a:off x="6101554" y="1389239"/>
            <a:ext cx="18654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latin typeface="Meiryo"/>
                <a:ea typeface="Meiryo"/>
                <a:cs typeface="Meiryo"/>
                <a:sym typeface="Meiryo"/>
              </a:rPr>
              <a:t>キャラクターを使用した物販</a:t>
            </a:r>
            <a:endParaRPr sz="800" b="0" i="0" u="none" strike="noStrike" cap="none">
              <a:solidFill>
                <a:srgbClr val="C68A65"/>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latin typeface="Meiryo"/>
                <a:ea typeface="Meiryo"/>
                <a:cs typeface="Meiryo"/>
                <a:sym typeface="Meiryo"/>
              </a:rPr>
              <a:t>商品の考案/プロモーション</a:t>
            </a:r>
            <a:endParaRPr sz="800" b="0" i="0" u="none" strike="noStrike" cap="none">
              <a:solidFill>
                <a:srgbClr val="C68A65"/>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latin typeface="Meiryo"/>
                <a:ea typeface="Meiryo"/>
                <a:cs typeface="Meiryo"/>
                <a:sym typeface="Meiryo"/>
              </a:rPr>
              <a:t>企業とのキャンペーン/CM出演</a:t>
            </a:r>
            <a:endParaRPr sz="800" b="0" i="0" u="none" strike="noStrike" cap="none">
              <a:solidFill>
                <a:srgbClr val="C68A65"/>
              </a:solidFill>
              <a:latin typeface="Meiryo"/>
              <a:ea typeface="Meiryo"/>
              <a:cs typeface="Meiryo"/>
              <a:sym typeface="Meiryo"/>
            </a:endParaRPr>
          </a:p>
        </p:txBody>
      </p:sp>
      <p:sp>
        <p:nvSpPr>
          <p:cNvPr id="195" name="Google Shape;195;g35ec7a65b47_0_10"/>
          <p:cNvSpPr txBox="1"/>
          <p:nvPr/>
        </p:nvSpPr>
        <p:spPr>
          <a:xfrm>
            <a:off x="1685399" y="4488825"/>
            <a:ext cx="5773200" cy="455700"/>
          </a:xfrm>
          <a:prstGeom prst="rect">
            <a:avLst/>
          </a:prstGeom>
          <a:noFill/>
          <a:ln>
            <a:noFill/>
          </a:ln>
        </p:spPr>
        <p:txBody>
          <a:bodyPr spcFirstLastPara="1" wrap="square" lIns="68575" tIns="34275" rIns="68575" bIns="34275" anchor="t" anchorCtr="0">
            <a:spAutoFit/>
          </a:bodyPr>
          <a:lstStyle/>
          <a:p>
            <a:pPr marL="0" marR="0" lvl="0" indent="0" algn="ctr" rtl="0">
              <a:lnSpc>
                <a:spcPct val="115000"/>
              </a:lnSpc>
              <a:spcBef>
                <a:spcPts val="0"/>
              </a:spcBef>
              <a:spcAft>
                <a:spcPts val="0"/>
              </a:spcAft>
              <a:buClr>
                <a:srgbClr val="000000"/>
              </a:buClr>
              <a:buSzPts val="1200"/>
              <a:buFont typeface="Arial"/>
              <a:buNone/>
            </a:pPr>
            <a:r>
              <a:rPr lang="ja-JP" sz="1400" b="1" i="0" u="none" strike="noStrike" cap="none">
                <a:solidFill>
                  <a:srgbClr val="C68A65"/>
                </a:solidFill>
                <a:latin typeface="Meiryo"/>
                <a:ea typeface="Meiryo"/>
                <a:cs typeface="Meiryo"/>
                <a:sym typeface="Meiryo"/>
              </a:rPr>
              <a:t>CSR/Sustainability</a:t>
            </a:r>
            <a:endParaRPr sz="1400" b="1" i="0" u="none" strike="noStrike" cap="none">
              <a:solidFill>
                <a:srgbClr val="C68A65"/>
              </a:solidFill>
              <a:latin typeface="Meiryo"/>
              <a:ea typeface="Meiryo"/>
              <a:cs typeface="Meiryo"/>
              <a:sym typeface="Meiryo"/>
            </a:endParaRPr>
          </a:p>
          <a:p>
            <a:pPr marL="0" marR="0" lvl="0" indent="0" algn="ctr" rtl="0">
              <a:lnSpc>
                <a:spcPct val="115000"/>
              </a:lnSpc>
              <a:spcBef>
                <a:spcPts val="0"/>
              </a:spcBef>
              <a:spcAft>
                <a:spcPts val="0"/>
              </a:spcAft>
              <a:buClr>
                <a:srgbClr val="000000"/>
              </a:buClr>
              <a:buSzPts val="1200"/>
              <a:buFont typeface="Arial"/>
              <a:buNone/>
            </a:pPr>
            <a:r>
              <a:rPr lang="ja-JP" sz="900" b="0" i="0" u="none" strike="noStrike" cap="none">
                <a:solidFill>
                  <a:srgbClr val="888888"/>
                </a:solidFill>
                <a:latin typeface="Meiryo"/>
                <a:ea typeface="Meiryo"/>
                <a:cs typeface="Meiryo"/>
                <a:sym typeface="Meiryo"/>
              </a:rPr>
              <a:t>高品質環境基準　　脱炭素に向けた取組み　　社会復帰活動への支援</a:t>
            </a:r>
            <a:endParaRPr sz="900" b="0" i="0" u="none" strike="noStrike" cap="none">
              <a:solidFill>
                <a:srgbClr val="888888"/>
              </a:solidFill>
              <a:latin typeface="Meiryo"/>
              <a:ea typeface="Meiryo"/>
              <a:cs typeface="Meiryo"/>
              <a:sym typeface="Meiryo"/>
            </a:endParaRPr>
          </a:p>
        </p:txBody>
      </p:sp>
      <p:pic>
        <p:nvPicPr>
          <p:cNvPr id="196" name="Google Shape;196;g35ec7a65b47_0_10"/>
          <p:cNvPicPr preferRelativeResize="0"/>
          <p:nvPr/>
        </p:nvPicPr>
        <p:blipFill rotWithShape="1">
          <a:blip r:embed="rId3">
            <a:alphaModFix/>
          </a:blip>
          <a:srcRect l="40220" r="38400" b="63426"/>
          <a:stretch/>
        </p:blipFill>
        <p:spPr>
          <a:xfrm>
            <a:off x="659852" y="960100"/>
            <a:ext cx="1274700" cy="1221600"/>
          </a:xfrm>
          <a:prstGeom prst="ellipse">
            <a:avLst/>
          </a:prstGeom>
          <a:noFill/>
          <a:ln>
            <a:noFill/>
          </a:ln>
        </p:spPr>
      </p:pic>
      <p:pic>
        <p:nvPicPr>
          <p:cNvPr id="197" name="Google Shape;197;g35ec7a65b47_0_10"/>
          <p:cNvPicPr preferRelativeResize="0"/>
          <p:nvPr/>
        </p:nvPicPr>
        <p:blipFill rotWithShape="1">
          <a:blip r:embed="rId3">
            <a:alphaModFix/>
          </a:blip>
          <a:srcRect l="65853" t="21173" r="13556" b="41772"/>
          <a:stretch/>
        </p:blipFill>
        <p:spPr>
          <a:xfrm>
            <a:off x="5083880" y="3040902"/>
            <a:ext cx="906600" cy="913800"/>
          </a:xfrm>
          <a:prstGeom prst="ellipse">
            <a:avLst/>
          </a:prstGeom>
          <a:noFill/>
          <a:ln>
            <a:noFill/>
          </a:ln>
        </p:spPr>
      </p:pic>
      <p:pic>
        <p:nvPicPr>
          <p:cNvPr id="198" name="Google Shape;198;g35ec7a65b47_0_10"/>
          <p:cNvPicPr preferRelativeResize="0"/>
          <p:nvPr/>
        </p:nvPicPr>
        <p:blipFill rotWithShape="1">
          <a:blip r:embed="rId3">
            <a:alphaModFix/>
          </a:blip>
          <a:srcRect l="55966" t="62945" r="23440"/>
          <a:stretch/>
        </p:blipFill>
        <p:spPr>
          <a:xfrm>
            <a:off x="5083880" y="871302"/>
            <a:ext cx="906600" cy="913800"/>
          </a:xfrm>
          <a:prstGeom prst="ellipse">
            <a:avLst/>
          </a:prstGeom>
          <a:noFill/>
          <a:ln>
            <a:noFill/>
          </a:ln>
        </p:spPr>
      </p:pic>
      <p:pic>
        <p:nvPicPr>
          <p:cNvPr id="199" name="Google Shape;199;g35ec7a65b47_0_10"/>
          <p:cNvPicPr preferRelativeResize="0"/>
          <p:nvPr/>
        </p:nvPicPr>
        <p:blipFill rotWithShape="1">
          <a:blip r:embed="rId3">
            <a:alphaModFix/>
          </a:blip>
          <a:srcRect l="17209" t="18868" r="61412" b="44558"/>
          <a:stretch/>
        </p:blipFill>
        <p:spPr>
          <a:xfrm>
            <a:off x="659850" y="2657745"/>
            <a:ext cx="1274700" cy="1221600"/>
          </a:xfrm>
          <a:prstGeom prst="ellipse">
            <a:avLst/>
          </a:prstGeom>
          <a:noFill/>
          <a:ln>
            <a:noFill/>
          </a:ln>
        </p:spPr>
      </p:pic>
      <p:sp>
        <p:nvSpPr>
          <p:cNvPr id="200" name="Google Shape;200;g35ec7a65b47_0_10"/>
          <p:cNvSpPr/>
          <p:nvPr/>
        </p:nvSpPr>
        <p:spPr>
          <a:xfrm>
            <a:off x="2078602" y="950148"/>
            <a:ext cx="1362900" cy="363300"/>
          </a:xfrm>
          <a:prstGeom prst="roundRect">
            <a:avLst>
              <a:gd name="adj" fmla="val 16667"/>
            </a:avLst>
          </a:prstGeom>
          <a:gradFill>
            <a:gsLst>
              <a:gs pos="0">
                <a:srgbClr val="C68A65"/>
              </a:gs>
              <a:gs pos="48000">
                <a:srgbClr val="C68A65"/>
              </a:gs>
              <a:gs pos="66000">
                <a:srgbClr val="D5A88C"/>
              </a:gs>
              <a:gs pos="84000">
                <a:srgbClr val="E3C5B2"/>
              </a:gs>
              <a:gs pos="100000">
                <a:schemeClr val="lt1"/>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JP" sz="1000" b="0" i="0" u="none" strike="noStrike" cap="none">
                <a:solidFill>
                  <a:schemeClr val="lt1"/>
                </a:solidFill>
                <a:latin typeface="Meiryo"/>
                <a:ea typeface="Meiryo"/>
                <a:cs typeface="Meiryo"/>
                <a:sym typeface="Meiryo"/>
              </a:rPr>
              <a:t>BOULANGERIE</a:t>
            </a:r>
            <a:endParaRPr sz="1000" b="0" i="0" u="none" strike="noStrike" cap="none">
              <a:solidFill>
                <a:schemeClr val="lt1"/>
              </a:solidFill>
              <a:latin typeface="Meiryo"/>
              <a:ea typeface="Meiryo"/>
              <a:cs typeface="Meiryo"/>
              <a:sym typeface="Meiryo"/>
            </a:endParaRPr>
          </a:p>
        </p:txBody>
      </p:sp>
      <p:sp>
        <p:nvSpPr>
          <p:cNvPr id="201" name="Google Shape;201;g35ec7a65b47_0_10"/>
          <p:cNvSpPr/>
          <p:nvPr/>
        </p:nvSpPr>
        <p:spPr>
          <a:xfrm>
            <a:off x="2078602" y="2646048"/>
            <a:ext cx="1362900" cy="363300"/>
          </a:xfrm>
          <a:prstGeom prst="roundRect">
            <a:avLst>
              <a:gd name="adj" fmla="val 16667"/>
            </a:avLst>
          </a:prstGeom>
          <a:gradFill>
            <a:gsLst>
              <a:gs pos="0">
                <a:srgbClr val="C68A65"/>
              </a:gs>
              <a:gs pos="48000">
                <a:srgbClr val="C68A65"/>
              </a:gs>
              <a:gs pos="66000">
                <a:srgbClr val="D5A88C"/>
              </a:gs>
              <a:gs pos="84000">
                <a:srgbClr val="E3C5B2"/>
              </a:gs>
              <a:gs pos="100000">
                <a:schemeClr val="lt1"/>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JP" sz="1000" b="0" i="0" u="none" strike="noStrike" cap="none">
                <a:solidFill>
                  <a:schemeClr val="lt1"/>
                </a:solidFill>
                <a:latin typeface="Meiryo"/>
                <a:ea typeface="Meiryo"/>
                <a:cs typeface="Meiryo"/>
                <a:sym typeface="Meiryo"/>
              </a:rPr>
              <a:t>RESTAURANT</a:t>
            </a:r>
            <a:endParaRPr sz="1000" b="0" i="0" u="none" strike="noStrike" cap="none">
              <a:solidFill>
                <a:schemeClr val="lt1"/>
              </a:solidFill>
              <a:latin typeface="Meiryo"/>
              <a:ea typeface="Meiryo"/>
              <a:cs typeface="Meiryo"/>
              <a:sym typeface="Meiryo"/>
            </a:endParaRPr>
          </a:p>
        </p:txBody>
      </p:sp>
      <p:sp>
        <p:nvSpPr>
          <p:cNvPr id="202" name="Google Shape;202;g35ec7a65b47_0_10"/>
          <p:cNvSpPr/>
          <p:nvPr/>
        </p:nvSpPr>
        <p:spPr>
          <a:xfrm rot="10800000">
            <a:off x="4214400" y="4255750"/>
            <a:ext cx="715200" cy="189300"/>
          </a:xfrm>
          <a:prstGeom prst="triangle">
            <a:avLst>
              <a:gd name="adj" fmla="val 50000"/>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Meiryo"/>
              <a:ea typeface="Meiryo"/>
              <a:cs typeface="Meiryo"/>
              <a:sym typeface="Meiryo"/>
            </a:endParaRPr>
          </a:p>
        </p:txBody>
      </p:sp>
      <p:sp>
        <p:nvSpPr>
          <p:cNvPr id="203" name="Google Shape;203;g35ec7a65b47_0_10"/>
          <p:cNvSpPr/>
          <p:nvPr/>
        </p:nvSpPr>
        <p:spPr>
          <a:xfrm>
            <a:off x="6101555" y="981782"/>
            <a:ext cx="1362900" cy="2847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LICENSE BUSINESS</a:t>
            </a:r>
            <a:endParaRPr sz="800" b="0" i="0" u="none" strike="noStrike" cap="none">
              <a:solidFill>
                <a:schemeClr val="lt1"/>
              </a:solidFill>
              <a:latin typeface="Meiryo"/>
              <a:ea typeface="Meiryo"/>
              <a:cs typeface="Meiryo"/>
              <a:sym typeface="Meiryo"/>
            </a:endParaRPr>
          </a:p>
        </p:txBody>
      </p:sp>
      <p:sp>
        <p:nvSpPr>
          <p:cNvPr id="204" name="Google Shape;204;g35ec7a65b47_0_10"/>
          <p:cNvSpPr/>
          <p:nvPr/>
        </p:nvSpPr>
        <p:spPr>
          <a:xfrm>
            <a:off x="6101555" y="2066582"/>
            <a:ext cx="1362900" cy="2847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PUBLISHING/MEDIA</a:t>
            </a:r>
            <a:endParaRPr sz="800" b="0" i="0" u="none" strike="noStrike" cap="none">
              <a:solidFill>
                <a:schemeClr val="lt1"/>
              </a:solidFill>
              <a:latin typeface="Meiryo"/>
              <a:ea typeface="Meiryo"/>
              <a:cs typeface="Meiryo"/>
              <a:sym typeface="Meiryo"/>
            </a:endParaRPr>
          </a:p>
        </p:txBody>
      </p:sp>
      <p:sp>
        <p:nvSpPr>
          <p:cNvPr id="205" name="Google Shape;205;g35ec7a65b47_0_10"/>
          <p:cNvSpPr/>
          <p:nvPr/>
        </p:nvSpPr>
        <p:spPr>
          <a:xfrm>
            <a:off x="6101555" y="3151382"/>
            <a:ext cx="1362900" cy="2847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ACADEMY</a:t>
            </a:r>
            <a:endParaRPr sz="800" b="0" i="0" u="none" strike="noStrike" cap="none">
              <a:solidFill>
                <a:schemeClr val="lt1"/>
              </a:solidFill>
              <a:latin typeface="Meiryo"/>
              <a:ea typeface="Meiryo"/>
              <a:cs typeface="Meiryo"/>
              <a:sym typeface="Meiry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3a7ae55b3ca_0_0"/>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Meiryo"/>
              <a:ea typeface="Meiryo"/>
              <a:cs typeface="Meiryo"/>
              <a:sym typeface="Meiryo"/>
            </a:endParaRPr>
          </a:p>
        </p:txBody>
      </p:sp>
      <p:sp>
        <p:nvSpPr>
          <p:cNvPr id="211" name="Google Shape;211;g3a7ae55b3ca_0_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a:t>6</a:t>
            </a:fld>
            <a:endParaRPr/>
          </a:p>
        </p:txBody>
      </p:sp>
      <p:sp>
        <p:nvSpPr>
          <p:cNvPr id="212" name="Google Shape;212;g3a7ae55b3ca_0_0"/>
          <p:cNvSpPr/>
          <p:nvPr/>
        </p:nvSpPr>
        <p:spPr>
          <a:xfrm>
            <a:off x="4291247" y="4848004"/>
            <a:ext cx="586200" cy="125400"/>
          </a:xfrm>
          <a:prstGeom prst="roundRect">
            <a:avLst>
              <a:gd name="adj" fmla="val 3217"/>
            </a:avLst>
          </a:prstGeom>
          <a:noFill/>
          <a:ln w="9525" cap="flat" cmpd="sng">
            <a:solidFill>
              <a:srgbClr val="FF0000"/>
            </a:solidFill>
            <a:prstDash val="solid"/>
            <a:miter lim="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Meiryo"/>
              <a:ea typeface="Meiryo"/>
              <a:cs typeface="Meiryo"/>
              <a:sym typeface="Meiryo"/>
            </a:endParaRPr>
          </a:p>
        </p:txBody>
      </p:sp>
      <p:sp>
        <p:nvSpPr>
          <p:cNvPr id="213" name="Google Shape;213;g3a7ae55b3ca_0_0"/>
          <p:cNvSpPr txBox="1"/>
          <p:nvPr/>
        </p:nvSpPr>
        <p:spPr>
          <a:xfrm>
            <a:off x="239774" y="287250"/>
            <a:ext cx="6107100" cy="284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rgbClr val="000000"/>
                </a:solidFill>
                <a:latin typeface="Meiryo"/>
                <a:ea typeface="Meiryo"/>
                <a:cs typeface="Meiryo"/>
                <a:sym typeface="Meiryo"/>
              </a:rPr>
              <a:t>ティエリーマルクス×TBSとのスキーム</a:t>
            </a:r>
            <a:endParaRPr sz="1400" b="1" i="0" u="none" strike="noStrike" cap="none">
              <a:solidFill>
                <a:srgbClr val="000000"/>
              </a:solidFill>
              <a:latin typeface="Meiryo"/>
              <a:ea typeface="Meiryo"/>
              <a:cs typeface="Meiryo"/>
              <a:sym typeface="Meiryo"/>
            </a:endParaRPr>
          </a:p>
        </p:txBody>
      </p:sp>
      <p:sp>
        <p:nvSpPr>
          <p:cNvPr id="214" name="Google Shape;214;g3a7ae55b3ca_0_0"/>
          <p:cNvSpPr/>
          <p:nvPr/>
        </p:nvSpPr>
        <p:spPr>
          <a:xfrm>
            <a:off x="4923379" y="916142"/>
            <a:ext cx="1869000" cy="6951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Meiryo"/>
                <a:ea typeface="Meiryo"/>
                <a:cs typeface="Meiryo"/>
                <a:sym typeface="Meiryo"/>
              </a:rPr>
              <a:t>TBS</a:t>
            </a:r>
            <a:endParaRPr sz="1400" b="0" i="0" u="none" strike="noStrike" cap="none">
              <a:solidFill>
                <a:srgbClr val="000000"/>
              </a:solidFill>
              <a:latin typeface="Meiryo"/>
              <a:ea typeface="Meiryo"/>
              <a:cs typeface="Meiryo"/>
              <a:sym typeface="Meiryo"/>
            </a:endParaRPr>
          </a:p>
        </p:txBody>
      </p:sp>
      <p:sp>
        <p:nvSpPr>
          <p:cNvPr id="215" name="Google Shape;215;g3a7ae55b3ca_0_0"/>
          <p:cNvSpPr/>
          <p:nvPr/>
        </p:nvSpPr>
        <p:spPr>
          <a:xfrm>
            <a:off x="1882475" y="916142"/>
            <a:ext cx="1869000" cy="695100"/>
          </a:xfrm>
          <a:prstGeom prst="rect">
            <a:avLst/>
          </a:prstGeom>
          <a:solidFill>
            <a:srgbClr val="FCE5C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Meiryo"/>
                <a:ea typeface="Meiryo"/>
                <a:cs typeface="Meiryo"/>
                <a:sym typeface="Meiryo"/>
              </a:rPr>
              <a:t>ティエリーマルクス</a:t>
            </a:r>
            <a:endParaRPr sz="1400" b="0" i="0" u="none" strike="noStrike" cap="none">
              <a:solidFill>
                <a:srgbClr val="000000"/>
              </a:solidFill>
              <a:latin typeface="Meiryo"/>
              <a:ea typeface="Meiryo"/>
              <a:cs typeface="Meiryo"/>
              <a:sym typeface="Meiryo"/>
            </a:endParaRPr>
          </a:p>
        </p:txBody>
      </p:sp>
      <p:sp>
        <p:nvSpPr>
          <p:cNvPr id="216" name="Google Shape;216;g3a7ae55b3ca_0_0"/>
          <p:cNvSpPr/>
          <p:nvPr/>
        </p:nvSpPr>
        <p:spPr>
          <a:xfrm>
            <a:off x="3983675" y="944174"/>
            <a:ext cx="754800" cy="335100"/>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Clr>
                <a:srgbClr val="000000"/>
              </a:buClr>
              <a:buSzPts val="1100"/>
              <a:buFont typeface="Arial"/>
              <a:buNone/>
            </a:pPr>
            <a:r>
              <a:rPr lang="ja-JP" sz="1050" b="0" i="0" u="none" strike="noStrike" cap="none">
                <a:solidFill>
                  <a:srgbClr val="30373F"/>
                </a:solidFill>
                <a:latin typeface="Meiryo"/>
                <a:ea typeface="Meiryo"/>
                <a:cs typeface="Meiryo"/>
                <a:sym typeface="Meiryo"/>
              </a:rPr>
              <a:t>直接契約</a:t>
            </a:r>
            <a:endParaRPr sz="1050" b="0" i="0" u="none" strike="noStrike" cap="none">
              <a:solidFill>
                <a:srgbClr val="30373F"/>
              </a:solidFill>
              <a:latin typeface="Meiryo"/>
              <a:ea typeface="Meiryo"/>
              <a:cs typeface="Meiryo"/>
              <a:sym typeface="Meiryo"/>
            </a:endParaRPr>
          </a:p>
        </p:txBody>
      </p:sp>
      <p:pic>
        <p:nvPicPr>
          <p:cNvPr id="217" name="Google Shape;217;g3a7ae55b3ca_0_0" title="スクリーンショット 2025-06-16 061622.png"/>
          <p:cNvPicPr preferRelativeResize="0"/>
          <p:nvPr/>
        </p:nvPicPr>
        <p:blipFill rotWithShape="1">
          <a:blip r:embed="rId3">
            <a:alphaModFix/>
          </a:blip>
          <a:srcRect/>
          <a:stretch/>
        </p:blipFill>
        <p:spPr>
          <a:xfrm>
            <a:off x="3557011" y="2316675"/>
            <a:ext cx="2057401" cy="546600"/>
          </a:xfrm>
          <a:prstGeom prst="rect">
            <a:avLst/>
          </a:prstGeom>
          <a:noFill/>
          <a:ln>
            <a:noFill/>
          </a:ln>
        </p:spPr>
      </p:pic>
      <p:sp>
        <p:nvSpPr>
          <p:cNvPr id="218" name="Google Shape;218;g3a7ae55b3ca_0_0"/>
          <p:cNvSpPr/>
          <p:nvPr/>
        </p:nvSpPr>
        <p:spPr>
          <a:xfrm>
            <a:off x="5378475" y="1987000"/>
            <a:ext cx="1413900" cy="335100"/>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Clr>
                <a:srgbClr val="000000"/>
              </a:buClr>
              <a:buSzPts val="1100"/>
              <a:buFont typeface="Arial"/>
              <a:buNone/>
            </a:pPr>
            <a:r>
              <a:rPr lang="ja-JP" sz="1050" b="0" i="0" u="none" strike="noStrike" cap="none">
                <a:solidFill>
                  <a:srgbClr val="30373F"/>
                </a:solidFill>
                <a:latin typeface="Meiryo"/>
                <a:ea typeface="Meiryo"/>
                <a:cs typeface="Meiryo"/>
                <a:sym typeface="Meiryo"/>
              </a:rPr>
              <a:t>サブライセンス付与</a:t>
            </a:r>
            <a:endParaRPr sz="1050" b="0" i="0" u="none" strike="noStrike" cap="none">
              <a:solidFill>
                <a:srgbClr val="30373F"/>
              </a:solidFill>
              <a:latin typeface="Meiryo"/>
              <a:ea typeface="Meiryo"/>
              <a:cs typeface="Meiryo"/>
              <a:sym typeface="Meiryo"/>
            </a:endParaRPr>
          </a:p>
        </p:txBody>
      </p:sp>
      <p:sp>
        <p:nvSpPr>
          <p:cNvPr id="219" name="Google Shape;219;g3a7ae55b3ca_0_0"/>
          <p:cNvSpPr/>
          <p:nvPr/>
        </p:nvSpPr>
        <p:spPr>
          <a:xfrm>
            <a:off x="3637500" y="3810452"/>
            <a:ext cx="1869000" cy="788400"/>
          </a:xfrm>
          <a:prstGeom prst="rect">
            <a:avLst/>
          </a:prstGeom>
          <a:solidFill>
            <a:srgbClr val="FCE5C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Meiryo"/>
                <a:ea typeface="Meiryo"/>
                <a:cs typeface="Meiryo"/>
                <a:sym typeface="Meiryo"/>
              </a:rPr>
              <a:t>（店舗運営会社）</a:t>
            </a:r>
            <a:br>
              <a:rPr lang="ja-JP" sz="1400" b="0" i="0" u="none" strike="noStrike" cap="none">
                <a:solidFill>
                  <a:srgbClr val="000000"/>
                </a:solidFill>
                <a:latin typeface="Meiryo"/>
                <a:ea typeface="Meiryo"/>
                <a:cs typeface="Meiryo"/>
                <a:sym typeface="Meiryo"/>
              </a:rPr>
            </a:br>
            <a:r>
              <a:rPr lang="ja-JP" sz="1400" b="0" i="0" u="none" strike="noStrike" cap="none">
                <a:solidFill>
                  <a:srgbClr val="000000"/>
                </a:solidFill>
                <a:latin typeface="Meiryo"/>
                <a:ea typeface="Meiryo"/>
                <a:cs typeface="Meiryo"/>
                <a:sym typeface="Meiryo"/>
              </a:rPr>
              <a:t>株式会社Brasserie Thierry Marx</a:t>
            </a:r>
            <a:endParaRPr sz="1400" b="0" i="0" u="none" strike="noStrike" cap="none">
              <a:solidFill>
                <a:srgbClr val="000000"/>
              </a:solidFill>
              <a:latin typeface="Meiryo"/>
              <a:ea typeface="Meiryo"/>
              <a:cs typeface="Meiryo"/>
              <a:sym typeface="Meiryo"/>
            </a:endParaRPr>
          </a:p>
        </p:txBody>
      </p:sp>
      <p:cxnSp>
        <p:nvCxnSpPr>
          <p:cNvPr id="220" name="Google Shape;220;g3a7ae55b3ca_0_0"/>
          <p:cNvCxnSpPr>
            <a:stCxn id="214" idx="2"/>
            <a:endCxn id="217" idx="0"/>
          </p:cNvCxnSpPr>
          <p:nvPr/>
        </p:nvCxnSpPr>
        <p:spPr>
          <a:xfrm rot="5400000">
            <a:off x="4869079" y="1327742"/>
            <a:ext cx="705300" cy="1272300"/>
          </a:xfrm>
          <a:prstGeom prst="bentConnector3">
            <a:avLst>
              <a:gd name="adj1" fmla="val 50009"/>
            </a:avLst>
          </a:prstGeom>
          <a:noFill/>
          <a:ln w="28575" cap="flat" cmpd="sng">
            <a:solidFill>
              <a:schemeClr val="dk2"/>
            </a:solidFill>
            <a:prstDash val="solid"/>
            <a:round/>
            <a:headEnd type="none" w="sm" len="sm"/>
            <a:tailEnd type="triangle" w="med" len="med"/>
          </a:ln>
        </p:spPr>
      </p:cxnSp>
      <p:sp>
        <p:nvSpPr>
          <p:cNvPr id="221" name="Google Shape;221;g3a7ae55b3ca_0_0"/>
          <p:cNvSpPr/>
          <p:nvPr/>
        </p:nvSpPr>
        <p:spPr>
          <a:xfrm>
            <a:off x="5005571" y="3088310"/>
            <a:ext cx="900000" cy="207900"/>
          </a:xfrm>
          <a:prstGeom prst="rect">
            <a:avLst/>
          </a:prstGeom>
          <a:noFill/>
          <a:ln>
            <a:noFill/>
          </a:ln>
        </p:spPr>
        <p:txBody>
          <a:bodyPr spcFirstLastPara="1" wrap="square" lIns="68575" tIns="34275" rIns="68575" bIns="34275" anchor="t" anchorCtr="0">
            <a:noAutofit/>
          </a:bodyPr>
          <a:lstStyle/>
          <a:p>
            <a:pPr marL="0" marR="0" lvl="0" indent="0" algn="ctr" rtl="0">
              <a:lnSpc>
                <a:spcPct val="120000"/>
              </a:lnSpc>
              <a:spcBef>
                <a:spcPts val="0"/>
              </a:spcBef>
              <a:spcAft>
                <a:spcPts val="0"/>
              </a:spcAft>
              <a:buClr>
                <a:srgbClr val="000000"/>
              </a:buClr>
              <a:buSzPts val="1100"/>
              <a:buFont typeface="Arial"/>
              <a:buNone/>
            </a:pPr>
            <a:r>
              <a:rPr lang="ja-JP" sz="1050" b="0" i="0" u="none" strike="noStrike" cap="none">
                <a:solidFill>
                  <a:srgbClr val="30373F"/>
                </a:solidFill>
                <a:latin typeface="Meiryo"/>
                <a:ea typeface="Meiryo"/>
                <a:cs typeface="Meiryo"/>
                <a:sym typeface="Meiryo"/>
              </a:rPr>
              <a:t>ワイン卸</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JP" sz="1050" b="0" i="0" u="none" strike="noStrike" cap="none">
                <a:solidFill>
                  <a:srgbClr val="30373F"/>
                </a:solidFill>
                <a:latin typeface="Meiryo"/>
                <a:ea typeface="Meiryo"/>
                <a:cs typeface="Meiryo"/>
                <a:sym typeface="Meiryo"/>
              </a:rPr>
              <a:t>×</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JP" sz="1050" b="0" i="0" u="none" strike="noStrike" cap="none">
                <a:solidFill>
                  <a:srgbClr val="30373F"/>
                </a:solidFill>
                <a:latin typeface="Meiryo"/>
                <a:ea typeface="Meiryo"/>
                <a:cs typeface="Meiryo"/>
                <a:sym typeface="Meiryo"/>
              </a:rPr>
              <a:t>経営指導</a:t>
            </a:r>
            <a:endParaRPr sz="1050" b="0" i="0" u="none" strike="noStrike" cap="none">
              <a:solidFill>
                <a:srgbClr val="30373F"/>
              </a:solidFill>
              <a:latin typeface="Meiryo"/>
              <a:ea typeface="Meiryo"/>
              <a:cs typeface="Meiryo"/>
              <a:sym typeface="Meiryo"/>
            </a:endParaRPr>
          </a:p>
        </p:txBody>
      </p:sp>
      <p:sp>
        <p:nvSpPr>
          <p:cNvPr id="222" name="Google Shape;222;g3a7ae55b3ca_0_0"/>
          <p:cNvSpPr/>
          <p:nvPr/>
        </p:nvSpPr>
        <p:spPr>
          <a:xfrm>
            <a:off x="3050724" y="3063000"/>
            <a:ext cx="1272300" cy="397800"/>
          </a:xfrm>
          <a:prstGeom prst="rect">
            <a:avLst/>
          </a:prstGeom>
          <a:noFill/>
          <a:ln>
            <a:noFill/>
          </a:ln>
        </p:spPr>
        <p:txBody>
          <a:bodyPr spcFirstLastPara="1" wrap="square" lIns="68575" tIns="34275" rIns="68575" bIns="34275" anchor="t" anchorCtr="0">
            <a:noAutofit/>
          </a:bodyPr>
          <a:lstStyle/>
          <a:p>
            <a:pPr marL="0" marR="0" lvl="0" indent="0" algn="ctr" rtl="0">
              <a:lnSpc>
                <a:spcPct val="120000"/>
              </a:lnSpc>
              <a:spcBef>
                <a:spcPts val="0"/>
              </a:spcBef>
              <a:spcAft>
                <a:spcPts val="0"/>
              </a:spcAft>
              <a:buClr>
                <a:srgbClr val="000000"/>
              </a:buClr>
              <a:buSzPts val="1100"/>
              <a:buFont typeface="Arial"/>
              <a:buNone/>
            </a:pPr>
            <a:r>
              <a:rPr lang="ja-JP" sz="1050" b="0" i="0" u="none" strike="noStrike" cap="none">
                <a:solidFill>
                  <a:srgbClr val="30373F"/>
                </a:solidFill>
                <a:latin typeface="Meiryo"/>
                <a:ea typeface="Meiryo"/>
                <a:cs typeface="Meiryo"/>
                <a:sym typeface="Meiryo"/>
              </a:rPr>
              <a:t>経営指導料</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JP" sz="1050" b="0" i="0" u="none" strike="noStrike" cap="none">
                <a:solidFill>
                  <a:srgbClr val="30373F"/>
                </a:solidFill>
                <a:latin typeface="Meiryo"/>
                <a:ea typeface="Meiryo"/>
                <a:cs typeface="Meiryo"/>
                <a:sym typeface="Meiryo"/>
              </a:rPr>
              <a:t>＋</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JP" sz="1050" b="0" i="0" u="none" strike="noStrike" cap="none">
                <a:solidFill>
                  <a:srgbClr val="30373F"/>
                </a:solidFill>
                <a:latin typeface="Meiryo"/>
                <a:ea typeface="Meiryo"/>
                <a:cs typeface="Meiryo"/>
                <a:sym typeface="Meiryo"/>
              </a:rPr>
              <a:t>ワイン代金</a:t>
            </a:r>
            <a:endParaRPr sz="1050" b="0" i="0" u="none" strike="noStrike" cap="none">
              <a:solidFill>
                <a:srgbClr val="30373F"/>
              </a:solidFill>
              <a:latin typeface="Meiryo"/>
              <a:ea typeface="Meiryo"/>
              <a:cs typeface="Meiryo"/>
              <a:sym typeface="Meiryo"/>
            </a:endParaRPr>
          </a:p>
        </p:txBody>
      </p:sp>
      <p:sp>
        <p:nvSpPr>
          <p:cNvPr id="223" name="Google Shape;223;g3a7ae55b3ca_0_0"/>
          <p:cNvSpPr/>
          <p:nvPr/>
        </p:nvSpPr>
        <p:spPr>
          <a:xfrm rot="5400000" flipH="1">
            <a:off x="4432925" y="1736499"/>
            <a:ext cx="360000" cy="360000"/>
          </a:xfrm>
          <a:prstGeom prst="bentUpArrow">
            <a:avLst>
              <a:gd name="adj1" fmla="val 17539"/>
              <a:gd name="adj2" fmla="val 25000"/>
              <a:gd name="adj3" fmla="val 24585"/>
            </a:avLst>
          </a:prstGeom>
          <a:solidFill>
            <a:srgbClr val="D9D2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 name="Google Shape;224;g3a7ae55b3ca_0_0"/>
          <p:cNvSpPr/>
          <p:nvPr/>
        </p:nvSpPr>
        <p:spPr>
          <a:xfrm>
            <a:off x="3231925" y="1813900"/>
            <a:ext cx="1340100" cy="207900"/>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Clr>
                <a:srgbClr val="000000"/>
              </a:buClr>
              <a:buSzPts val="1100"/>
              <a:buFont typeface="Arial"/>
              <a:buNone/>
            </a:pPr>
            <a:r>
              <a:rPr lang="ja-JP" sz="1050" b="0" i="0" u="none" strike="noStrike" cap="none">
                <a:solidFill>
                  <a:srgbClr val="30373F"/>
                </a:solidFill>
                <a:latin typeface="Meiryo"/>
                <a:ea typeface="Meiryo"/>
                <a:cs typeface="Meiryo"/>
                <a:sym typeface="Meiryo"/>
              </a:rPr>
              <a:t>ライセンスフィー</a:t>
            </a:r>
            <a:endParaRPr sz="1050" b="0" i="0" u="none" strike="noStrike" cap="none">
              <a:solidFill>
                <a:srgbClr val="30373F"/>
              </a:solidFill>
              <a:latin typeface="Meiryo"/>
              <a:ea typeface="Meiryo"/>
              <a:cs typeface="Meiryo"/>
              <a:sym typeface="Meiryo"/>
            </a:endParaRPr>
          </a:p>
        </p:txBody>
      </p:sp>
      <p:cxnSp>
        <p:nvCxnSpPr>
          <p:cNvPr id="225" name="Google Shape;225;g3a7ae55b3ca_0_0"/>
          <p:cNvCxnSpPr>
            <a:stCxn id="215" idx="3"/>
            <a:endCxn id="214" idx="1"/>
          </p:cNvCxnSpPr>
          <p:nvPr/>
        </p:nvCxnSpPr>
        <p:spPr>
          <a:xfrm>
            <a:off x="3751475" y="1263692"/>
            <a:ext cx="1171800" cy="0"/>
          </a:xfrm>
          <a:prstGeom prst="straightConnector1">
            <a:avLst/>
          </a:prstGeom>
          <a:noFill/>
          <a:ln w="28575" cap="flat" cmpd="sng">
            <a:solidFill>
              <a:schemeClr val="dk2"/>
            </a:solidFill>
            <a:prstDash val="solid"/>
            <a:round/>
            <a:headEnd type="triangle" w="med" len="med"/>
            <a:tailEnd type="triangle" w="med" len="med"/>
          </a:ln>
        </p:spPr>
      </p:cxnSp>
      <p:cxnSp>
        <p:nvCxnSpPr>
          <p:cNvPr id="226" name="Google Shape;226;g3a7ae55b3ca_0_0"/>
          <p:cNvCxnSpPr>
            <a:endCxn id="219" idx="0"/>
          </p:cNvCxnSpPr>
          <p:nvPr/>
        </p:nvCxnSpPr>
        <p:spPr>
          <a:xfrm>
            <a:off x="4572000" y="2863352"/>
            <a:ext cx="0" cy="947100"/>
          </a:xfrm>
          <a:prstGeom prst="straightConnector1">
            <a:avLst/>
          </a:prstGeom>
          <a:noFill/>
          <a:ln w="28575" cap="flat" cmpd="sng">
            <a:solidFill>
              <a:schemeClr val="dk2"/>
            </a:solidFill>
            <a:prstDash val="solid"/>
            <a:round/>
            <a:headEnd type="none" w="sm" len="sm"/>
            <a:tailEnd type="triangle" w="med" len="med"/>
          </a:ln>
        </p:spPr>
      </p:cxnSp>
      <p:sp>
        <p:nvSpPr>
          <p:cNvPr id="227" name="Google Shape;227;g3a7ae55b3ca_0_0"/>
          <p:cNvSpPr/>
          <p:nvPr/>
        </p:nvSpPr>
        <p:spPr>
          <a:xfrm>
            <a:off x="4742715" y="3172079"/>
            <a:ext cx="194700" cy="397800"/>
          </a:xfrm>
          <a:prstGeom prst="downArrow">
            <a:avLst>
              <a:gd name="adj1" fmla="val 39086"/>
              <a:gd name="adj2" fmla="val 50000"/>
            </a:avLst>
          </a:prstGeom>
          <a:solidFill>
            <a:srgbClr val="D9EAD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g3a7ae55b3ca_0_0"/>
          <p:cNvSpPr/>
          <p:nvPr/>
        </p:nvSpPr>
        <p:spPr>
          <a:xfrm rot="10800000">
            <a:off x="4203390" y="3172079"/>
            <a:ext cx="194700" cy="397800"/>
          </a:xfrm>
          <a:prstGeom prst="downArrow">
            <a:avLst>
              <a:gd name="adj1" fmla="val 39086"/>
              <a:gd name="adj2" fmla="val 50000"/>
            </a:avLst>
          </a:prstGeom>
          <a:solidFill>
            <a:srgbClr val="F4CCC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g35ec7a65b47_0_24"/>
          <p:cNvSpPr/>
          <p:nvPr/>
        </p:nvSpPr>
        <p:spPr>
          <a:xfrm>
            <a:off x="672150" y="1153917"/>
            <a:ext cx="3900000" cy="617100"/>
          </a:xfrm>
          <a:prstGeom prst="trapezoid">
            <a:avLst>
              <a:gd name="adj" fmla="val 0"/>
            </a:avLst>
          </a:prstGeom>
          <a:gradFill>
            <a:gsLst>
              <a:gs pos="0">
                <a:srgbClr val="D5AA8F"/>
              </a:gs>
              <a:gs pos="66000">
                <a:srgbClr val="EAD5C7"/>
              </a:gs>
              <a:gs pos="100000">
                <a:schemeClr val="lt1"/>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326"/>
              <a:buFont typeface="Arial"/>
              <a:buNone/>
            </a:pPr>
            <a:endParaRPr sz="1326" b="0" i="0" u="none" strike="noStrike" cap="none">
              <a:solidFill>
                <a:srgbClr val="000000"/>
              </a:solidFill>
              <a:latin typeface="Arial"/>
              <a:ea typeface="Arial"/>
              <a:cs typeface="Arial"/>
              <a:sym typeface="Arial"/>
            </a:endParaRPr>
          </a:p>
        </p:txBody>
      </p:sp>
      <p:sp>
        <p:nvSpPr>
          <p:cNvPr id="234" name="Google Shape;234;g35ec7a65b47_0_24"/>
          <p:cNvSpPr/>
          <p:nvPr/>
        </p:nvSpPr>
        <p:spPr>
          <a:xfrm>
            <a:off x="672150" y="1776442"/>
            <a:ext cx="3900000" cy="617100"/>
          </a:xfrm>
          <a:prstGeom prst="trapezoid">
            <a:avLst>
              <a:gd name="adj" fmla="val 0"/>
            </a:avLst>
          </a:prstGeom>
          <a:gradFill>
            <a:gsLst>
              <a:gs pos="0">
                <a:srgbClr val="D5AA8F"/>
              </a:gs>
              <a:gs pos="66000">
                <a:srgbClr val="EAD5C7"/>
              </a:gs>
              <a:gs pos="100000">
                <a:schemeClr val="lt1"/>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326"/>
              <a:buFont typeface="Arial"/>
              <a:buNone/>
            </a:pPr>
            <a:endParaRPr sz="1326" b="0" i="0" u="none" strike="noStrike" cap="none">
              <a:solidFill>
                <a:srgbClr val="000000"/>
              </a:solidFill>
              <a:latin typeface="Arial"/>
              <a:ea typeface="Arial"/>
              <a:cs typeface="Arial"/>
              <a:sym typeface="Arial"/>
            </a:endParaRPr>
          </a:p>
        </p:txBody>
      </p:sp>
      <p:sp>
        <p:nvSpPr>
          <p:cNvPr id="235" name="Google Shape;235;g35ec7a65b47_0_24"/>
          <p:cNvSpPr/>
          <p:nvPr/>
        </p:nvSpPr>
        <p:spPr>
          <a:xfrm>
            <a:off x="672150" y="2391591"/>
            <a:ext cx="3900000" cy="617100"/>
          </a:xfrm>
          <a:prstGeom prst="trapezoid">
            <a:avLst>
              <a:gd name="adj" fmla="val 0"/>
            </a:avLst>
          </a:prstGeom>
          <a:gradFill>
            <a:gsLst>
              <a:gs pos="0">
                <a:srgbClr val="D5AA8F"/>
              </a:gs>
              <a:gs pos="66000">
                <a:srgbClr val="EAD5C7"/>
              </a:gs>
              <a:gs pos="100000">
                <a:schemeClr val="lt1"/>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326"/>
              <a:buFont typeface="Arial"/>
              <a:buNone/>
            </a:pPr>
            <a:endParaRPr sz="1326" b="0" i="0" u="none" strike="noStrike" cap="none">
              <a:solidFill>
                <a:srgbClr val="000000"/>
              </a:solidFill>
              <a:latin typeface="Arial"/>
              <a:ea typeface="Arial"/>
              <a:cs typeface="Arial"/>
              <a:sym typeface="Arial"/>
            </a:endParaRPr>
          </a:p>
        </p:txBody>
      </p:sp>
      <p:sp>
        <p:nvSpPr>
          <p:cNvPr id="236" name="Google Shape;236;g35ec7a65b47_0_24"/>
          <p:cNvSpPr/>
          <p:nvPr/>
        </p:nvSpPr>
        <p:spPr>
          <a:xfrm>
            <a:off x="672150" y="3001692"/>
            <a:ext cx="3900000" cy="617100"/>
          </a:xfrm>
          <a:prstGeom prst="trapezoid">
            <a:avLst>
              <a:gd name="adj" fmla="val 0"/>
            </a:avLst>
          </a:prstGeom>
          <a:gradFill>
            <a:gsLst>
              <a:gs pos="0">
                <a:srgbClr val="D5AA8F"/>
              </a:gs>
              <a:gs pos="66000">
                <a:srgbClr val="EAD5C7"/>
              </a:gs>
              <a:gs pos="100000">
                <a:schemeClr val="lt1"/>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326"/>
              <a:buFont typeface="Arial"/>
              <a:buNone/>
            </a:pPr>
            <a:endParaRPr sz="1326" b="0" i="0" u="none" strike="noStrike" cap="none">
              <a:solidFill>
                <a:srgbClr val="000000"/>
              </a:solidFill>
              <a:latin typeface="Arial"/>
              <a:ea typeface="Arial"/>
              <a:cs typeface="Arial"/>
              <a:sym typeface="Arial"/>
            </a:endParaRPr>
          </a:p>
        </p:txBody>
      </p:sp>
      <p:sp>
        <p:nvSpPr>
          <p:cNvPr id="237" name="Google Shape;237;g35ec7a65b47_0_24"/>
          <p:cNvSpPr/>
          <p:nvPr/>
        </p:nvSpPr>
        <p:spPr>
          <a:xfrm>
            <a:off x="672150" y="3623391"/>
            <a:ext cx="3900000" cy="617100"/>
          </a:xfrm>
          <a:prstGeom prst="trapezoid">
            <a:avLst>
              <a:gd name="adj" fmla="val 0"/>
            </a:avLst>
          </a:prstGeom>
          <a:gradFill>
            <a:gsLst>
              <a:gs pos="0">
                <a:srgbClr val="D5AA8F"/>
              </a:gs>
              <a:gs pos="66000">
                <a:srgbClr val="EAD5C7"/>
              </a:gs>
              <a:gs pos="100000">
                <a:schemeClr val="lt1"/>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326"/>
              <a:buFont typeface="Arial"/>
              <a:buNone/>
            </a:pPr>
            <a:endParaRPr sz="1326" b="0" i="0" u="none" strike="noStrike" cap="none">
              <a:solidFill>
                <a:srgbClr val="000000"/>
              </a:solidFill>
              <a:latin typeface="Arial"/>
              <a:ea typeface="Arial"/>
              <a:cs typeface="Arial"/>
              <a:sym typeface="Arial"/>
            </a:endParaRPr>
          </a:p>
        </p:txBody>
      </p:sp>
      <p:sp>
        <p:nvSpPr>
          <p:cNvPr id="238" name="Google Shape;238;g35ec7a65b47_0_24"/>
          <p:cNvSpPr/>
          <p:nvPr/>
        </p:nvSpPr>
        <p:spPr>
          <a:xfrm>
            <a:off x="672150" y="4233492"/>
            <a:ext cx="3900000" cy="617100"/>
          </a:xfrm>
          <a:prstGeom prst="trapezoid">
            <a:avLst>
              <a:gd name="adj" fmla="val 0"/>
            </a:avLst>
          </a:prstGeom>
          <a:gradFill>
            <a:gsLst>
              <a:gs pos="0">
                <a:srgbClr val="D5AA8F"/>
              </a:gs>
              <a:gs pos="66000">
                <a:srgbClr val="EAD5C7"/>
              </a:gs>
              <a:gs pos="100000">
                <a:schemeClr val="lt1"/>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326"/>
              <a:buFont typeface="Arial"/>
              <a:buNone/>
            </a:pPr>
            <a:endParaRPr sz="1326" b="0" i="0" u="none" strike="noStrike" cap="none">
              <a:solidFill>
                <a:srgbClr val="000000"/>
              </a:solidFill>
              <a:latin typeface="Arial"/>
              <a:ea typeface="Arial"/>
              <a:cs typeface="Arial"/>
              <a:sym typeface="Arial"/>
            </a:endParaRPr>
          </a:p>
        </p:txBody>
      </p:sp>
      <p:sp>
        <p:nvSpPr>
          <p:cNvPr id="239" name="Google Shape;239;g35ec7a65b47_0_24"/>
          <p:cNvSpPr/>
          <p:nvPr/>
        </p:nvSpPr>
        <p:spPr>
          <a:xfrm rot="10800000">
            <a:off x="4571875" y="1160157"/>
            <a:ext cx="3900000" cy="617100"/>
          </a:xfrm>
          <a:prstGeom prst="trapezoid">
            <a:avLst>
              <a:gd name="adj" fmla="val 0"/>
            </a:avLst>
          </a:prstGeom>
          <a:gradFill>
            <a:gsLst>
              <a:gs pos="0">
                <a:srgbClr val="C68A65"/>
              </a:gs>
              <a:gs pos="48000">
                <a:srgbClr val="C68A65"/>
              </a:gs>
              <a:gs pos="66000">
                <a:srgbClr val="D5A88C"/>
              </a:gs>
              <a:gs pos="100000">
                <a:srgbClr val="E3C5B2"/>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326"/>
              <a:buFont typeface="Arial"/>
              <a:buNone/>
            </a:pPr>
            <a:endParaRPr sz="1326" b="0" i="0" u="none" strike="noStrike" cap="none">
              <a:solidFill>
                <a:srgbClr val="000000"/>
              </a:solidFill>
              <a:latin typeface="Arial"/>
              <a:ea typeface="Arial"/>
              <a:cs typeface="Arial"/>
              <a:sym typeface="Arial"/>
            </a:endParaRPr>
          </a:p>
        </p:txBody>
      </p:sp>
      <p:sp>
        <p:nvSpPr>
          <p:cNvPr id="240" name="Google Shape;240;g35ec7a65b47_0_24"/>
          <p:cNvSpPr/>
          <p:nvPr/>
        </p:nvSpPr>
        <p:spPr>
          <a:xfrm rot="10800000">
            <a:off x="4571875" y="1771084"/>
            <a:ext cx="3900000" cy="1847100"/>
          </a:xfrm>
          <a:prstGeom prst="trapezoid">
            <a:avLst>
              <a:gd name="adj" fmla="val 0"/>
            </a:avLst>
          </a:prstGeom>
          <a:gradFill>
            <a:gsLst>
              <a:gs pos="0">
                <a:srgbClr val="C68A65"/>
              </a:gs>
              <a:gs pos="48000">
                <a:srgbClr val="C68A65"/>
              </a:gs>
              <a:gs pos="66000">
                <a:srgbClr val="D5A88C"/>
              </a:gs>
              <a:gs pos="100000">
                <a:srgbClr val="E3C5B2"/>
              </a:gs>
            </a:gsLst>
            <a:lin ang="2698631" scaled="0"/>
          </a:gradFill>
          <a:ln w="13025" cap="flat" cmpd="sng">
            <a:solidFill>
              <a:srgbClr val="0000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326"/>
              <a:buFont typeface="Arial"/>
              <a:buNone/>
            </a:pPr>
            <a:endParaRPr sz="1326" b="0" i="0" u="none" strike="noStrike" cap="none">
              <a:solidFill>
                <a:srgbClr val="000000"/>
              </a:solidFill>
              <a:latin typeface="Arial"/>
              <a:ea typeface="Arial"/>
              <a:cs typeface="Arial"/>
              <a:sym typeface="Arial"/>
            </a:endParaRPr>
          </a:p>
        </p:txBody>
      </p:sp>
      <p:sp>
        <p:nvSpPr>
          <p:cNvPr id="241" name="Google Shape;241;g35ec7a65b47_0_24"/>
          <p:cNvSpPr txBox="1"/>
          <p:nvPr/>
        </p:nvSpPr>
        <p:spPr>
          <a:xfrm>
            <a:off x="239775" y="211050"/>
            <a:ext cx="35841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rgbClr val="1F1F1F"/>
                </a:solidFill>
                <a:highlight>
                  <a:srgbClr val="FFFFFF"/>
                </a:highlight>
                <a:latin typeface="Meiryo"/>
                <a:ea typeface="Meiryo"/>
                <a:cs typeface="Meiryo"/>
                <a:sym typeface="Meiryo"/>
              </a:rPr>
              <a:t>THIERRY MARX 多様なスタイルの体現</a:t>
            </a:r>
            <a:endParaRPr sz="1400" b="1" i="0" u="none" strike="noStrike" cap="none">
              <a:solidFill>
                <a:schemeClr val="dk1"/>
              </a:solidFill>
              <a:latin typeface="Meiryo"/>
              <a:ea typeface="Meiryo"/>
              <a:cs typeface="Meiryo"/>
              <a:sym typeface="Meiryo"/>
            </a:endParaRPr>
          </a:p>
        </p:txBody>
      </p:sp>
      <p:sp>
        <p:nvSpPr>
          <p:cNvPr id="242" name="Google Shape;242;g35ec7a65b47_0_24"/>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243" name="Google Shape;243;g35ec7a65b47_0_24"/>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7</a:t>
            </a:fld>
            <a:endParaRPr sz="700"/>
          </a:p>
        </p:txBody>
      </p:sp>
      <p:sp>
        <p:nvSpPr>
          <p:cNvPr id="244" name="Google Shape;244;g35ec7a65b47_0_24"/>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grpSp>
        <p:nvGrpSpPr>
          <p:cNvPr id="245" name="Google Shape;245;g35ec7a65b47_0_24"/>
          <p:cNvGrpSpPr/>
          <p:nvPr/>
        </p:nvGrpSpPr>
        <p:grpSpPr>
          <a:xfrm>
            <a:off x="2931448" y="1154069"/>
            <a:ext cx="3281345" cy="3703040"/>
            <a:chOff x="0" y="0"/>
            <a:chExt cx="4801500" cy="5418555"/>
          </a:xfrm>
        </p:grpSpPr>
        <p:sp>
          <p:nvSpPr>
            <p:cNvPr id="246" name="Google Shape;246;g35ec7a65b47_0_24"/>
            <p:cNvSpPr/>
            <p:nvPr/>
          </p:nvSpPr>
          <p:spPr>
            <a:xfrm>
              <a:off x="2000591" y="0"/>
              <a:ext cx="800100" cy="903000"/>
            </a:xfrm>
            <a:prstGeom prst="trapezoid">
              <a:avLst>
                <a:gd name="adj" fmla="val 50000"/>
              </a:avLst>
            </a:prstGeom>
            <a:gradFill>
              <a:gsLst>
                <a:gs pos="0">
                  <a:srgbClr val="C68A65"/>
                </a:gs>
                <a:gs pos="48000">
                  <a:srgbClr val="C68A65"/>
                </a:gs>
                <a:gs pos="66000">
                  <a:srgbClr val="D5A88C"/>
                </a:gs>
                <a:gs pos="100000">
                  <a:srgbClr val="E3C5B2"/>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g35ec7a65b47_0_24"/>
            <p:cNvSpPr/>
            <p:nvPr/>
          </p:nvSpPr>
          <p:spPr>
            <a:xfrm>
              <a:off x="1600473" y="903111"/>
              <a:ext cx="1600500" cy="903000"/>
            </a:xfrm>
            <a:prstGeom prst="trapezoid">
              <a:avLst>
                <a:gd name="adj" fmla="val 44304"/>
              </a:avLst>
            </a:prstGeom>
            <a:gradFill>
              <a:gsLst>
                <a:gs pos="0">
                  <a:srgbClr val="C68A65"/>
                </a:gs>
                <a:gs pos="48000">
                  <a:srgbClr val="C68A65"/>
                </a:gs>
                <a:gs pos="66000">
                  <a:srgbClr val="D5A88C"/>
                </a:gs>
                <a:gs pos="100000">
                  <a:srgbClr val="E3C5B2"/>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793"/>
                <a:buFont typeface="Arial"/>
                <a:buNone/>
              </a:pPr>
              <a:endParaRPr sz="1793" b="0" i="0" u="none" strike="noStrike" cap="none">
                <a:solidFill>
                  <a:srgbClr val="000000"/>
                </a:solidFill>
                <a:latin typeface="Arial"/>
                <a:ea typeface="Arial"/>
                <a:cs typeface="Arial"/>
                <a:sym typeface="Arial"/>
              </a:endParaRPr>
            </a:p>
          </p:txBody>
        </p:sp>
        <p:sp>
          <p:nvSpPr>
            <p:cNvPr id="248" name="Google Shape;248;g35ec7a65b47_0_24"/>
            <p:cNvSpPr/>
            <p:nvPr/>
          </p:nvSpPr>
          <p:spPr>
            <a:xfrm>
              <a:off x="1200354" y="1806222"/>
              <a:ext cx="2400600" cy="903000"/>
            </a:xfrm>
            <a:prstGeom prst="trapezoid">
              <a:avLst>
                <a:gd name="adj" fmla="val 44304"/>
              </a:avLst>
            </a:prstGeom>
            <a:gradFill>
              <a:gsLst>
                <a:gs pos="0">
                  <a:srgbClr val="C68A65"/>
                </a:gs>
                <a:gs pos="48000">
                  <a:srgbClr val="C68A65"/>
                </a:gs>
                <a:gs pos="66000">
                  <a:srgbClr val="D5A88C"/>
                </a:gs>
                <a:gs pos="100000">
                  <a:srgbClr val="E3C5B2"/>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g35ec7a65b47_0_24"/>
            <p:cNvSpPr/>
            <p:nvPr/>
          </p:nvSpPr>
          <p:spPr>
            <a:xfrm>
              <a:off x="800236" y="2709333"/>
              <a:ext cx="3201000" cy="903000"/>
            </a:xfrm>
            <a:prstGeom prst="trapezoid">
              <a:avLst>
                <a:gd name="adj" fmla="val 44304"/>
              </a:avLst>
            </a:prstGeom>
            <a:gradFill>
              <a:gsLst>
                <a:gs pos="0">
                  <a:srgbClr val="C68A65"/>
                </a:gs>
                <a:gs pos="48000">
                  <a:srgbClr val="C68A65"/>
                </a:gs>
                <a:gs pos="66000">
                  <a:srgbClr val="D5A88C"/>
                </a:gs>
                <a:gs pos="100000">
                  <a:srgbClr val="E3C5B2"/>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g35ec7a65b47_0_24"/>
            <p:cNvSpPr/>
            <p:nvPr/>
          </p:nvSpPr>
          <p:spPr>
            <a:xfrm>
              <a:off x="400118" y="3612444"/>
              <a:ext cx="4001100" cy="903000"/>
            </a:xfrm>
            <a:prstGeom prst="trapezoid">
              <a:avLst>
                <a:gd name="adj" fmla="val 44304"/>
              </a:avLst>
            </a:prstGeom>
            <a:gradFill>
              <a:gsLst>
                <a:gs pos="0">
                  <a:srgbClr val="C68A65"/>
                </a:gs>
                <a:gs pos="48000">
                  <a:srgbClr val="C68A65"/>
                </a:gs>
                <a:gs pos="66000">
                  <a:srgbClr val="D5A88C"/>
                </a:gs>
                <a:gs pos="100000">
                  <a:srgbClr val="E3C5B2"/>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g35ec7a65b47_0_24"/>
            <p:cNvSpPr/>
            <p:nvPr/>
          </p:nvSpPr>
          <p:spPr>
            <a:xfrm>
              <a:off x="0" y="4515555"/>
              <a:ext cx="4801500" cy="903000"/>
            </a:xfrm>
            <a:prstGeom prst="trapezoid">
              <a:avLst>
                <a:gd name="adj" fmla="val 44304"/>
              </a:avLst>
            </a:prstGeom>
            <a:gradFill>
              <a:gsLst>
                <a:gs pos="0">
                  <a:srgbClr val="C68A65"/>
                </a:gs>
                <a:gs pos="48000">
                  <a:srgbClr val="C68A65"/>
                </a:gs>
                <a:gs pos="66000">
                  <a:srgbClr val="D5A88C"/>
                </a:gs>
                <a:gs pos="100000">
                  <a:srgbClr val="E3C5B2"/>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326"/>
                <a:buFont typeface="Arial"/>
                <a:buNone/>
              </a:pPr>
              <a:endParaRPr sz="1326" b="0" i="0" u="none" strike="noStrike" cap="none">
                <a:solidFill>
                  <a:srgbClr val="000000"/>
                </a:solidFill>
                <a:latin typeface="Arial"/>
                <a:ea typeface="Arial"/>
                <a:cs typeface="Arial"/>
                <a:sym typeface="Arial"/>
              </a:endParaRPr>
            </a:p>
          </p:txBody>
        </p:sp>
      </p:grpSp>
      <p:sp>
        <p:nvSpPr>
          <p:cNvPr id="252" name="Google Shape;252;g35ec7a65b47_0_24"/>
          <p:cNvSpPr/>
          <p:nvPr/>
        </p:nvSpPr>
        <p:spPr>
          <a:xfrm>
            <a:off x="3963465" y="1462610"/>
            <a:ext cx="1195500" cy="303600"/>
          </a:xfrm>
          <a:prstGeom prst="roundRect">
            <a:avLst>
              <a:gd name="adj" fmla="val 16667"/>
            </a:avLst>
          </a:prstGeom>
          <a:noFill/>
          <a:ln>
            <a:noFill/>
          </a:ln>
        </p:spPr>
        <p:txBody>
          <a:bodyPr spcFirstLastPara="1" wrap="square" lIns="78600" tIns="78600" rIns="78600" bIns="78600" anchor="ctr" anchorCtr="0">
            <a:noAutofit/>
          </a:bodyPr>
          <a:lstStyle/>
          <a:p>
            <a:pPr marL="0" marR="0" lvl="0" indent="0" algn="ctr" rtl="0">
              <a:lnSpc>
                <a:spcPct val="100000"/>
              </a:lnSpc>
              <a:spcBef>
                <a:spcPts val="0"/>
              </a:spcBef>
              <a:spcAft>
                <a:spcPts val="0"/>
              </a:spcAft>
              <a:buClr>
                <a:srgbClr val="000000"/>
              </a:buClr>
              <a:buSzPts val="568"/>
              <a:buFont typeface="Arial"/>
              <a:buNone/>
            </a:pPr>
            <a:r>
              <a:rPr lang="ja-JP" sz="568" b="0" i="0" u="none" strike="noStrike" cap="none">
                <a:solidFill>
                  <a:schemeClr val="lt1"/>
                </a:solidFill>
                <a:latin typeface="Meiryo"/>
                <a:ea typeface="Meiryo"/>
                <a:cs typeface="Meiryo"/>
                <a:sym typeface="Meiryo"/>
              </a:rPr>
              <a:t>ガストロ</a:t>
            </a:r>
            <a:endParaRPr sz="568"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568"/>
              <a:buFont typeface="Arial"/>
              <a:buNone/>
            </a:pPr>
            <a:r>
              <a:rPr lang="ja-JP" sz="568" b="0" i="0" u="none" strike="noStrike" cap="none">
                <a:solidFill>
                  <a:schemeClr val="lt1"/>
                </a:solidFill>
                <a:latin typeface="Meiryo"/>
                <a:ea typeface="Meiryo"/>
                <a:cs typeface="Meiryo"/>
                <a:sym typeface="Meiryo"/>
              </a:rPr>
              <a:t>ノミー</a:t>
            </a:r>
            <a:endParaRPr sz="568" b="0" i="0" u="none" strike="noStrike" cap="none">
              <a:solidFill>
                <a:schemeClr val="lt1"/>
              </a:solidFill>
              <a:latin typeface="Meiryo"/>
              <a:ea typeface="Meiryo"/>
              <a:cs typeface="Meiryo"/>
              <a:sym typeface="Meiryo"/>
            </a:endParaRPr>
          </a:p>
        </p:txBody>
      </p:sp>
      <p:sp>
        <p:nvSpPr>
          <p:cNvPr id="253" name="Google Shape;253;g35ec7a65b47_0_24"/>
          <p:cNvSpPr/>
          <p:nvPr/>
        </p:nvSpPr>
        <p:spPr>
          <a:xfrm>
            <a:off x="3963461" y="4395239"/>
            <a:ext cx="1195500" cy="303600"/>
          </a:xfrm>
          <a:prstGeom prst="roundRect">
            <a:avLst>
              <a:gd name="adj" fmla="val 16667"/>
            </a:avLst>
          </a:prstGeom>
          <a:noFill/>
          <a:ln>
            <a:noFill/>
          </a:ln>
        </p:spPr>
        <p:txBody>
          <a:bodyPr spcFirstLastPara="1" wrap="square" lIns="78600" tIns="78600" rIns="78600" bIns="78600" anchor="ctr" anchorCtr="0">
            <a:noAutofit/>
          </a:bodyPr>
          <a:lstStyle/>
          <a:p>
            <a:pPr marL="0" marR="0" lvl="0" indent="0" algn="ctr" rtl="0">
              <a:lnSpc>
                <a:spcPct val="100000"/>
              </a:lnSpc>
              <a:spcBef>
                <a:spcPts val="0"/>
              </a:spcBef>
              <a:spcAft>
                <a:spcPts val="0"/>
              </a:spcAft>
              <a:buClr>
                <a:srgbClr val="000000"/>
              </a:buClr>
              <a:buSzPts val="568"/>
              <a:buFont typeface="Arial"/>
              <a:buNone/>
            </a:pPr>
            <a:r>
              <a:rPr lang="ja-JP" sz="568" b="0" i="0" u="none" strike="noStrike" cap="none">
                <a:solidFill>
                  <a:schemeClr val="lt1"/>
                </a:solidFill>
                <a:latin typeface="Meiryo"/>
                <a:ea typeface="Meiryo"/>
                <a:cs typeface="Meiryo"/>
                <a:sym typeface="Meiryo"/>
              </a:rPr>
              <a:t>Blue Blanc Coeur</a:t>
            </a:r>
            <a:endParaRPr sz="568" b="0" i="0" u="none" strike="noStrike" cap="none">
              <a:solidFill>
                <a:schemeClr val="lt1"/>
              </a:solidFill>
              <a:latin typeface="Meiryo"/>
              <a:ea typeface="Meiryo"/>
              <a:cs typeface="Meiryo"/>
              <a:sym typeface="Meiryo"/>
            </a:endParaRPr>
          </a:p>
        </p:txBody>
      </p:sp>
      <p:sp>
        <p:nvSpPr>
          <p:cNvPr id="254" name="Google Shape;254;g35ec7a65b47_0_24"/>
          <p:cNvSpPr/>
          <p:nvPr/>
        </p:nvSpPr>
        <p:spPr>
          <a:xfrm>
            <a:off x="3963461" y="3773592"/>
            <a:ext cx="1195500" cy="303600"/>
          </a:xfrm>
          <a:prstGeom prst="roundRect">
            <a:avLst>
              <a:gd name="adj" fmla="val 16667"/>
            </a:avLst>
          </a:prstGeom>
          <a:noFill/>
          <a:ln>
            <a:noFill/>
          </a:ln>
        </p:spPr>
        <p:txBody>
          <a:bodyPr spcFirstLastPara="1" wrap="square" lIns="78600" tIns="78600" rIns="78600" bIns="78600" anchor="ctr" anchorCtr="0">
            <a:noAutofit/>
          </a:bodyPr>
          <a:lstStyle/>
          <a:p>
            <a:pPr marL="0" marR="0" lvl="0" indent="0" algn="ctr" rtl="0">
              <a:lnSpc>
                <a:spcPct val="100000"/>
              </a:lnSpc>
              <a:spcBef>
                <a:spcPts val="0"/>
              </a:spcBef>
              <a:spcAft>
                <a:spcPts val="0"/>
              </a:spcAft>
              <a:buClr>
                <a:srgbClr val="000000"/>
              </a:buClr>
              <a:buSzPts val="568"/>
              <a:buFont typeface="Arial"/>
              <a:buNone/>
            </a:pPr>
            <a:r>
              <a:rPr lang="ja-JP" sz="568" b="0" i="0" u="none" strike="noStrike" cap="none">
                <a:solidFill>
                  <a:schemeClr val="lt1"/>
                </a:solidFill>
                <a:latin typeface="Meiryo"/>
                <a:ea typeface="Meiryo"/>
                <a:cs typeface="Meiryo"/>
                <a:sym typeface="Meiryo"/>
              </a:rPr>
              <a:t>リテール・EC</a:t>
            </a:r>
            <a:endParaRPr sz="568" b="0" i="0" u="none" strike="noStrike" cap="none">
              <a:solidFill>
                <a:schemeClr val="lt1"/>
              </a:solidFill>
              <a:latin typeface="Meiryo"/>
              <a:ea typeface="Meiryo"/>
              <a:cs typeface="Meiryo"/>
              <a:sym typeface="Meiryo"/>
            </a:endParaRPr>
          </a:p>
        </p:txBody>
      </p:sp>
      <p:sp>
        <p:nvSpPr>
          <p:cNvPr id="255" name="Google Shape;255;g35ec7a65b47_0_24"/>
          <p:cNvSpPr/>
          <p:nvPr/>
        </p:nvSpPr>
        <p:spPr>
          <a:xfrm>
            <a:off x="3963461" y="3151957"/>
            <a:ext cx="1195500" cy="303600"/>
          </a:xfrm>
          <a:prstGeom prst="roundRect">
            <a:avLst>
              <a:gd name="adj" fmla="val 16667"/>
            </a:avLst>
          </a:prstGeom>
          <a:noFill/>
          <a:ln>
            <a:noFill/>
          </a:ln>
        </p:spPr>
        <p:txBody>
          <a:bodyPr spcFirstLastPara="1" wrap="square" lIns="78600" tIns="78600" rIns="78600" bIns="78600" anchor="ctr" anchorCtr="0">
            <a:noAutofit/>
          </a:bodyPr>
          <a:lstStyle/>
          <a:p>
            <a:pPr marL="0" marR="0" lvl="0" indent="0" algn="ctr" rtl="0">
              <a:lnSpc>
                <a:spcPct val="100000"/>
              </a:lnSpc>
              <a:spcBef>
                <a:spcPts val="0"/>
              </a:spcBef>
              <a:spcAft>
                <a:spcPts val="0"/>
              </a:spcAft>
              <a:buClr>
                <a:srgbClr val="000000"/>
              </a:buClr>
              <a:buSzPts val="568"/>
              <a:buFont typeface="Arial"/>
              <a:buNone/>
            </a:pPr>
            <a:r>
              <a:rPr lang="ja-JP" sz="568" b="0" i="0" u="none" strike="noStrike" cap="none">
                <a:solidFill>
                  <a:schemeClr val="lt1"/>
                </a:solidFill>
                <a:latin typeface="Meiryo"/>
                <a:ea typeface="Meiryo"/>
                <a:cs typeface="Meiryo"/>
                <a:sym typeface="Meiryo"/>
              </a:rPr>
              <a:t>ブーランジェリー</a:t>
            </a:r>
            <a:endParaRPr sz="568" b="0" i="0" u="none" strike="noStrike" cap="none">
              <a:solidFill>
                <a:schemeClr val="lt1"/>
              </a:solidFill>
              <a:latin typeface="Meiryo"/>
              <a:ea typeface="Meiryo"/>
              <a:cs typeface="Meiryo"/>
              <a:sym typeface="Meiryo"/>
            </a:endParaRPr>
          </a:p>
        </p:txBody>
      </p:sp>
      <p:sp>
        <p:nvSpPr>
          <p:cNvPr id="256" name="Google Shape;256;g35ec7a65b47_0_24"/>
          <p:cNvSpPr/>
          <p:nvPr/>
        </p:nvSpPr>
        <p:spPr>
          <a:xfrm>
            <a:off x="3985208" y="2530298"/>
            <a:ext cx="1195500" cy="303600"/>
          </a:xfrm>
          <a:prstGeom prst="roundRect">
            <a:avLst>
              <a:gd name="adj" fmla="val 16667"/>
            </a:avLst>
          </a:prstGeom>
          <a:noFill/>
          <a:ln>
            <a:noFill/>
          </a:ln>
        </p:spPr>
        <p:txBody>
          <a:bodyPr spcFirstLastPara="1" wrap="square" lIns="78600" tIns="78600" rIns="78600" bIns="78600" anchor="ctr" anchorCtr="0">
            <a:noAutofit/>
          </a:bodyPr>
          <a:lstStyle/>
          <a:p>
            <a:pPr marL="0" marR="0" lvl="0" indent="0" algn="ctr" rtl="0">
              <a:lnSpc>
                <a:spcPct val="100000"/>
              </a:lnSpc>
              <a:spcBef>
                <a:spcPts val="0"/>
              </a:spcBef>
              <a:spcAft>
                <a:spcPts val="0"/>
              </a:spcAft>
              <a:buClr>
                <a:srgbClr val="000000"/>
              </a:buClr>
              <a:buSzPts val="568"/>
              <a:buFont typeface="Arial"/>
              <a:buNone/>
            </a:pPr>
            <a:r>
              <a:rPr lang="ja-JP" sz="568" b="0" i="0" u="none" strike="noStrike" cap="none">
                <a:solidFill>
                  <a:schemeClr val="lt1"/>
                </a:solidFill>
                <a:latin typeface="Meiryo"/>
                <a:ea typeface="Meiryo"/>
                <a:cs typeface="Meiryo"/>
                <a:sym typeface="Meiryo"/>
              </a:rPr>
              <a:t>ビストロ</a:t>
            </a:r>
            <a:endParaRPr sz="568" b="0" i="0" u="none" strike="noStrike" cap="none">
              <a:solidFill>
                <a:schemeClr val="lt1"/>
              </a:solidFill>
              <a:latin typeface="Meiryo"/>
              <a:ea typeface="Meiryo"/>
              <a:cs typeface="Meiryo"/>
              <a:sym typeface="Meiryo"/>
            </a:endParaRPr>
          </a:p>
        </p:txBody>
      </p:sp>
      <p:sp>
        <p:nvSpPr>
          <p:cNvPr id="257" name="Google Shape;257;g35ec7a65b47_0_24"/>
          <p:cNvSpPr/>
          <p:nvPr/>
        </p:nvSpPr>
        <p:spPr>
          <a:xfrm>
            <a:off x="4020097" y="1908651"/>
            <a:ext cx="1195500" cy="303600"/>
          </a:xfrm>
          <a:prstGeom prst="roundRect">
            <a:avLst>
              <a:gd name="adj" fmla="val 16667"/>
            </a:avLst>
          </a:prstGeom>
          <a:noFill/>
          <a:ln>
            <a:noFill/>
          </a:ln>
        </p:spPr>
        <p:txBody>
          <a:bodyPr spcFirstLastPara="1" wrap="square" lIns="78600" tIns="78600" rIns="78600" bIns="78600" anchor="ctr" anchorCtr="0">
            <a:noAutofit/>
          </a:bodyPr>
          <a:lstStyle/>
          <a:p>
            <a:pPr marL="0" marR="0" lvl="0" indent="0" algn="ctr" rtl="0">
              <a:lnSpc>
                <a:spcPct val="100000"/>
              </a:lnSpc>
              <a:spcBef>
                <a:spcPts val="0"/>
              </a:spcBef>
              <a:spcAft>
                <a:spcPts val="0"/>
              </a:spcAft>
              <a:buClr>
                <a:srgbClr val="000000"/>
              </a:buClr>
              <a:buSzPts val="568"/>
              <a:buFont typeface="Arial"/>
              <a:buNone/>
            </a:pPr>
            <a:r>
              <a:rPr lang="ja-JP" sz="568" b="0" i="0" u="none" strike="noStrike" cap="none">
                <a:solidFill>
                  <a:schemeClr val="lt1"/>
                </a:solidFill>
                <a:latin typeface="Meiryo"/>
                <a:ea typeface="Meiryo"/>
                <a:cs typeface="Meiryo"/>
                <a:sym typeface="Meiryo"/>
              </a:rPr>
              <a:t>ブラッスリー</a:t>
            </a:r>
            <a:endParaRPr sz="568" b="0" i="0" u="none" strike="noStrike" cap="none">
              <a:solidFill>
                <a:schemeClr val="lt1"/>
              </a:solidFill>
              <a:latin typeface="Meiryo"/>
              <a:ea typeface="Meiryo"/>
              <a:cs typeface="Meiryo"/>
              <a:sym typeface="Meiryo"/>
            </a:endParaRPr>
          </a:p>
        </p:txBody>
      </p:sp>
      <p:cxnSp>
        <p:nvCxnSpPr>
          <p:cNvPr id="258" name="Google Shape;258;g35ec7a65b47_0_24"/>
          <p:cNvCxnSpPr/>
          <p:nvPr/>
        </p:nvCxnSpPr>
        <p:spPr>
          <a:xfrm>
            <a:off x="1162375" y="871565"/>
            <a:ext cx="3330000" cy="0"/>
          </a:xfrm>
          <a:prstGeom prst="straightConnector1">
            <a:avLst/>
          </a:prstGeom>
          <a:noFill/>
          <a:ln w="9525" cap="flat" cmpd="sng">
            <a:solidFill>
              <a:srgbClr val="C68A65"/>
            </a:solidFill>
            <a:prstDash val="solid"/>
            <a:round/>
            <a:headEnd type="none" w="sm" len="sm"/>
            <a:tailEnd type="none" w="sm" len="sm"/>
          </a:ln>
        </p:spPr>
      </p:cxnSp>
      <p:sp>
        <p:nvSpPr>
          <p:cNvPr id="259" name="Google Shape;259;g35ec7a65b47_0_24"/>
          <p:cNvSpPr txBox="1"/>
          <p:nvPr/>
        </p:nvSpPr>
        <p:spPr>
          <a:xfrm>
            <a:off x="1582050" y="785375"/>
            <a:ext cx="1349400" cy="192300"/>
          </a:xfrm>
          <a:prstGeom prst="rect">
            <a:avLst/>
          </a:prstGeom>
          <a:solidFill>
            <a:schemeClr val="lt1"/>
          </a:solid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JP" sz="800" b="0" i="0" u="none" strike="noStrike" cap="none">
                <a:solidFill>
                  <a:srgbClr val="1F1F1F"/>
                </a:solidFill>
                <a:highlight>
                  <a:schemeClr val="lt1"/>
                </a:highlight>
                <a:latin typeface="Meiryo"/>
                <a:ea typeface="Meiryo"/>
                <a:cs typeface="Meiryo"/>
                <a:sym typeface="Meiryo"/>
              </a:rPr>
              <a:t>THIERRY MARX 運営店舗</a:t>
            </a:r>
            <a:endParaRPr sz="800" b="0" i="0" u="none" strike="noStrike" cap="none">
              <a:solidFill>
                <a:schemeClr val="dk1"/>
              </a:solidFill>
              <a:highlight>
                <a:schemeClr val="lt1"/>
              </a:highlight>
              <a:latin typeface="Meiryo"/>
              <a:ea typeface="Meiryo"/>
              <a:cs typeface="Meiryo"/>
              <a:sym typeface="Meiryo"/>
            </a:endParaRPr>
          </a:p>
        </p:txBody>
      </p:sp>
      <p:cxnSp>
        <p:nvCxnSpPr>
          <p:cNvPr id="260" name="Google Shape;260;g35ec7a65b47_0_24"/>
          <p:cNvCxnSpPr/>
          <p:nvPr/>
        </p:nvCxnSpPr>
        <p:spPr>
          <a:xfrm>
            <a:off x="4643870" y="871790"/>
            <a:ext cx="3330000" cy="0"/>
          </a:xfrm>
          <a:prstGeom prst="straightConnector1">
            <a:avLst/>
          </a:prstGeom>
          <a:noFill/>
          <a:ln w="9525" cap="flat" cmpd="sng">
            <a:solidFill>
              <a:srgbClr val="C68A65"/>
            </a:solidFill>
            <a:prstDash val="solid"/>
            <a:round/>
            <a:headEnd type="none" w="sm" len="sm"/>
            <a:tailEnd type="none" w="sm" len="sm"/>
          </a:ln>
        </p:spPr>
      </p:cxnSp>
      <p:sp>
        <p:nvSpPr>
          <p:cNvPr id="261" name="Google Shape;261;g35ec7a65b47_0_24"/>
          <p:cNvSpPr txBox="1"/>
          <p:nvPr/>
        </p:nvSpPr>
        <p:spPr>
          <a:xfrm>
            <a:off x="6182250" y="785599"/>
            <a:ext cx="1349400" cy="192300"/>
          </a:xfrm>
          <a:prstGeom prst="rect">
            <a:avLst/>
          </a:prstGeom>
          <a:solidFill>
            <a:schemeClr val="lt1"/>
          </a:solid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JP" sz="800" b="0" i="0" u="none" strike="noStrike" cap="none">
                <a:solidFill>
                  <a:srgbClr val="1F1F1F"/>
                </a:solidFill>
                <a:highlight>
                  <a:schemeClr val="lt1"/>
                </a:highlight>
                <a:latin typeface="Meiryo"/>
                <a:ea typeface="Meiryo"/>
                <a:cs typeface="Meiryo"/>
                <a:sym typeface="Meiryo"/>
              </a:rPr>
              <a:t>WineBank 運営店舗</a:t>
            </a:r>
            <a:endParaRPr sz="800" b="0" i="0" u="none" strike="noStrike" cap="none">
              <a:solidFill>
                <a:schemeClr val="dk1"/>
              </a:solidFill>
              <a:highlight>
                <a:schemeClr val="lt1"/>
              </a:highlight>
              <a:latin typeface="Meiryo"/>
              <a:ea typeface="Meiryo"/>
              <a:cs typeface="Meiryo"/>
              <a:sym typeface="Meiryo"/>
            </a:endParaRPr>
          </a:p>
        </p:txBody>
      </p:sp>
      <p:pic>
        <p:nvPicPr>
          <p:cNvPr id="262" name="Google Shape;262;g35ec7a65b47_0_24"/>
          <p:cNvPicPr preferRelativeResize="0"/>
          <p:nvPr/>
        </p:nvPicPr>
        <p:blipFill rotWithShape="1">
          <a:blip r:embed="rId3">
            <a:alphaModFix/>
          </a:blip>
          <a:srcRect/>
          <a:stretch/>
        </p:blipFill>
        <p:spPr>
          <a:xfrm>
            <a:off x="672140" y="651574"/>
            <a:ext cx="444285" cy="443691"/>
          </a:xfrm>
          <a:prstGeom prst="rect">
            <a:avLst/>
          </a:prstGeom>
          <a:noFill/>
          <a:ln>
            <a:noFill/>
          </a:ln>
        </p:spPr>
      </p:pic>
      <p:pic>
        <p:nvPicPr>
          <p:cNvPr id="263" name="Google Shape;263;g35ec7a65b47_0_24"/>
          <p:cNvPicPr preferRelativeResize="0"/>
          <p:nvPr/>
        </p:nvPicPr>
        <p:blipFill rotWithShape="1">
          <a:blip r:embed="rId4">
            <a:alphaModFix/>
          </a:blip>
          <a:srcRect/>
          <a:stretch/>
        </p:blipFill>
        <p:spPr>
          <a:xfrm>
            <a:off x="8027819" y="651274"/>
            <a:ext cx="444282" cy="444296"/>
          </a:xfrm>
          <a:prstGeom prst="rect">
            <a:avLst/>
          </a:prstGeom>
          <a:noFill/>
          <a:ln>
            <a:noFill/>
          </a:ln>
        </p:spPr>
      </p:pic>
      <p:pic>
        <p:nvPicPr>
          <p:cNvPr id="264" name="Google Shape;264;g35ec7a65b47_0_24"/>
          <p:cNvPicPr preferRelativeResize="0"/>
          <p:nvPr/>
        </p:nvPicPr>
        <p:blipFill rotWithShape="1">
          <a:blip r:embed="rId5">
            <a:alphaModFix/>
          </a:blip>
          <a:srcRect/>
          <a:stretch/>
        </p:blipFill>
        <p:spPr>
          <a:xfrm>
            <a:off x="5286000" y="1353364"/>
            <a:ext cx="978900" cy="218225"/>
          </a:xfrm>
          <a:prstGeom prst="rect">
            <a:avLst/>
          </a:prstGeom>
          <a:noFill/>
          <a:ln>
            <a:noFill/>
          </a:ln>
        </p:spPr>
      </p:pic>
      <p:sp>
        <p:nvSpPr>
          <p:cNvPr id="265" name="Google Shape;265;g35ec7a65b47_0_24"/>
          <p:cNvSpPr txBox="1"/>
          <p:nvPr/>
        </p:nvSpPr>
        <p:spPr>
          <a:xfrm>
            <a:off x="5884600" y="1959490"/>
            <a:ext cx="2354400" cy="708000"/>
          </a:xfrm>
          <a:prstGeom prst="rect">
            <a:avLst/>
          </a:prstGeom>
          <a:noFill/>
          <a:ln>
            <a:noFill/>
          </a:ln>
        </p:spPr>
        <p:txBody>
          <a:bodyPr spcFirstLastPara="1" wrap="square" lIns="91425" tIns="91425" rIns="91425" bIns="91425" anchor="t" anchorCtr="0">
            <a:spAutoFit/>
          </a:bodyPr>
          <a:lstStyle/>
          <a:p>
            <a:pPr marL="0" marR="0" lvl="0" indent="0" algn="ctr" rtl="0">
              <a:lnSpc>
                <a:spcPct val="2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Thierry Marx Bistro or brasserie</a:t>
            </a:r>
            <a:endParaRPr sz="800" b="0" i="0" u="none" strike="noStrike" cap="none">
              <a:solidFill>
                <a:schemeClr val="lt1"/>
              </a:solidFill>
              <a:latin typeface="Meiryo"/>
              <a:ea typeface="Meiryo"/>
              <a:cs typeface="Meiryo"/>
              <a:sym typeface="Meiryo"/>
            </a:endParaRPr>
          </a:p>
          <a:p>
            <a:pPr marL="0" marR="0" lvl="0" indent="0" algn="ctr" rtl="0">
              <a:lnSpc>
                <a:spcPct val="200000"/>
              </a:lnSpc>
              <a:spcBef>
                <a:spcPts val="0"/>
              </a:spcBef>
              <a:spcAft>
                <a:spcPts val="0"/>
              </a:spcAft>
              <a:buClr>
                <a:srgbClr val="000000"/>
              </a:buClr>
              <a:buSzPts val="600"/>
              <a:buFont typeface="Arial"/>
              <a:buNone/>
            </a:pPr>
            <a:r>
              <a:rPr lang="ja-JP" sz="600" b="0" i="0" u="none" strike="noStrike" cap="none">
                <a:solidFill>
                  <a:schemeClr val="lt1"/>
                </a:solidFill>
                <a:latin typeface="Meiryo"/>
                <a:ea typeface="Meiryo"/>
                <a:cs typeface="Meiryo"/>
                <a:sym typeface="Meiryo"/>
              </a:rPr>
              <a:t>新店舗（仮称）</a:t>
            </a:r>
            <a:endParaRPr sz="600" b="0" i="0" u="none" strike="noStrike" cap="none">
              <a:solidFill>
                <a:schemeClr val="lt1"/>
              </a:solidFill>
              <a:latin typeface="Meiryo"/>
              <a:ea typeface="Meiryo"/>
              <a:cs typeface="Meiryo"/>
              <a:sym typeface="Meiryo"/>
            </a:endParaRPr>
          </a:p>
          <a:p>
            <a:pPr marL="0" marR="0" lvl="0" indent="0" algn="ctr" rtl="0">
              <a:lnSpc>
                <a:spcPct val="200000"/>
              </a:lnSpc>
              <a:spcBef>
                <a:spcPts val="0"/>
              </a:spcBef>
              <a:spcAft>
                <a:spcPts val="0"/>
              </a:spcAft>
              <a:buClr>
                <a:srgbClr val="000000"/>
              </a:buClr>
              <a:buSzPts val="600"/>
              <a:buFont typeface="Arial"/>
              <a:buNone/>
            </a:pPr>
            <a:r>
              <a:rPr lang="ja-JP" sz="600" b="0" i="0" u="none" strike="noStrike" cap="none">
                <a:solidFill>
                  <a:schemeClr val="lt1"/>
                </a:solidFill>
                <a:latin typeface="Meiryo"/>
                <a:ea typeface="Meiryo"/>
                <a:cs typeface="Meiryo"/>
                <a:sym typeface="Meiryo"/>
              </a:rPr>
              <a:t>※ブーランジェリー併設</a:t>
            </a:r>
            <a:endParaRPr sz="600" b="0" i="0" u="none" strike="noStrike" cap="none">
              <a:solidFill>
                <a:schemeClr val="lt1"/>
              </a:solidFill>
              <a:latin typeface="Meiryo"/>
              <a:ea typeface="Meiryo"/>
              <a:cs typeface="Meiryo"/>
              <a:sym typeface="Meiryo"/>
            </a:endParaRPr>
          </a:p>
        </p:txBody>
      </p:sp>
      <p:sp>
        <p:nvSpPr>
          <p:cNvPr id="266" name="Google Shape;266;g35ec7a65b47_0_24"/>
          <p:cNvSpPr txBox="1"/>
          <p:nvPr/>
        </p:nvSpPr>
        <p:spPr>
          <a:xfrm>
            <a:off x="1018174" y="1216675"/>
            <a:ext cx="2904000" cy="453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「オノール」</a:t>
            </a:r>
            <a:r>
              <a:rPr lang="ja-JP" sz="500" b="0" i="0" u="none" strike="noStrike" cap="none">
                <a:solidFill>
                  <a:schemeClr val="lt1"/>
                </a:solidFill>
                <a:latin typeface="Meiryo"/>
                <a:ea typeface="Meiryo"/>
                <a:cs typeface="Meiryo"/>
                <a:sym typeface="Meiryo"/>
              </a:rPr>
              <a:t>※理想を形にした自身の集大成となる店舗</a:t>
            </a:r>
            <a:endParaRPr sz="500" b="0" i="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「シュール・ムジュール」</a:t>
            </a:r>
            <a:r>
              <a:rPr lang="ja-JP" sz="500" b="0" i="0" u="none" strike="noStrike" cap="none">
                <a:solidFill>
                  <a:schemeClr val="lt1"/>
                </a:solidFill>
                <a:latin typeface="Meiryo"/>
                <a:ea typeface="Meiryo"/>
                <a:cs typeface="Meiryo"/>
                <a:sym typeface="Meiryo"/>
              </a:rPr>
              <a:t>※ミシュラン星2つ</a:t>
            </a:r>
            <a:endParaRPr sz="500" b="0" i="0" u="none" strike="noStrike" cap="none">
              <a:solidFill>
                <a:schemeClr val="lt1"/>
              </a:solidFill>
              <a:latin typeface="Meiryo"/>
              <a:ea typeface="Meiryo"/>
              <a:cs typeface="Meiryo"/>
              <a:sym typeface="Meiryo"/>
            </a:endParaRPr>
          </a:p>
        </p:txBody>
      </p:sp>
      <p:sp>
        <p:nvSpPr>
          <p:cNvPr id="267" name="Google Shape;267;g35ec7a65b47_0_24"/>
          <p:cNvSpPr txBox="1"/>
          <p:nvPr/>
        </p:nvSpPr>
        <p:spPr>
          <a:xfrm>
            <a:off x="1018174" y="1834989"/>
            <a:ext cx="2904000" cy="453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「マダム・ブラッスリー」</a:t>
            </a:r>
            <a:endParaRPr sz="700" b="0" i="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　</a:t>
            </a:r>
            <a:r>
              <a:rPr lang="ja-JP" sz="500" b="0" i="0" u="none" strike="noStrike" cap="none">
                <a:solidFill>
                  <a:schemeClr val="lt1"/>
                </a:solidFill>
                <a:latin typeface="Meiryo"/>
                <a:ea typeface="Meiryo"/>
                <a:cs typeface="Meiryo"/>
                <a:sym typeface="Meiryo"/>
              </a:rPr>
              <a:t>※エッフェル塔内にある70席の大型店舗</a:t>
            </a:r>
            <a:endParaRPr sz="500" b="0" i="0" u="none" strike="noStrike" cap="none">
              <a:solidFill>
                <a:schemeClr val="lt1"/>
              </a:solidFill>
              <a:latin typeface="Meiryo"/>
              <a:ea typeface="Meiryo"/>
              <a:cs typeface="Meiryo"/>
              <a:sym typeface="Meiryo"/>
            </a:endParaRPr>
          </a:p>
        </p:txBody>
      </p:sp>
      <p:sp>
        <p:nvSpPr>
          <p:cNvPr id="268" name="Google Shape;268;g35ec7a65b47_0_24"/>
          <p:cNvSpPr txBox="1"/>
          <p:nvPr/>
        </p:nvSpPr>
        <p:spPr>
          <a:xfrm>
            <a:off x="1018174" y="2451316"/>
            <a:ext cx="2904000" cy="453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「ブイヨン・ド・コック」</a:t>
            </a:r>
            <a:endParaRPr sz="700" b="0" i="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　</a:t>
            </a:r>
            <a:r>
              <a:rPr lang="ja-JP" sz="500" b="0" i="0" u="none" strike="noStrike" cap="none">
                <a:solidFill>
                  <a:schemeClr val="lt1"/>
                </a:solidFill>
                <a:latin typeface="Meiryo"/>
                <a:ea typeface="Meiryo"/>
                <a:cs typeface="Meiryo"/>
                <a:sym typeface="Meiryo"/>
              </a:rPr>
              <a:t>※今後展開予定の大衆食堂</a:t>
            </a:r>
            <a:endParaRPr sz="500" b="0" i="0" u="none" strike="noStrike" cap="none">
              <a:solidFill>
                <a:schemeClr val="lt1"/>
              </a:solidFill>
              <a:latin typeface="Meiryo"/>
              <a:ea typeface="Meiryo"/>
              <a:cs typeface="Meiryo"/>
              <a:sym typeface="Meiryo"/>
            </a:endParaRPr>
          </a:p>
        </p:txBody>
      </p:sp>
      <p:sp>
        <p:nvSpPr>
          <p:cNvPr id="269" name="Google Shape;269;g35ec7a65b47_0_24"/>
          <p:cNvSpPr txBox="1"/>
          <p:nvPr/>
        </p:nvSpPr>
        <p:spPr>
          <a:xfrm>
            <a:off x="1018174" y="3069743"/>
            <a:ext cx="2904000" cy="453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「ティエリーマルクス ベーカリー」</a:t>
            </a:r>
            <a:endParaRPr sz="700" b="0" i="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　</a:t>
            </a:r>
            <a:r>
              <a:rPr lang="ja-JP" sz="500" b="0" i="0" u="none" strike="noStrike" cap="none">
                <a:solidFill>
                  <a:schemeClr val="lt1"/>
                </a:solidFill>
                <a:latin typeface="Meiryo"/>
                <a:ea typeface="Meiryo"/>
                <a:cs typeface="Meiryo"/>
                <a:sym typeface="Meiryo"/>
              </a:rPr>
              <a:t>※日々の暮らしに寄り添う本格的なカジュアル商品</a:t>
            </a:r>
            <a:endParaRPr sz="500" b="0" i="0" u="none" strike="noStrike" cap="none">
              <a:solidFill>
                <a:schemeClr val="lt1"/>
              </a:solidFill>
              <a:latin typeface="Meiryo"/>
              <a:ea typeface="Meiryo"/>
              <a:cs typeface="Meiryo"/>
              <a:sym typeface="Meiryo"/>
            </a:endParaRPr>
          </a:p>
        </p:txBody>
      </p:sp>
      <p:sp>
        <p:nvSpPr>
          <p:cNvPr id="270" name="Google Shape;270;g35ec7a65b47_0_24"/>
          <p:cNvSpPr txBox="1"/>
          <p:nvPr/>
        </p:nvSpPr>
        <p:spPr>
          <a:xfrm>
            <a:off x="1018174" y="3679845"/>
            <a:ext cx="2904000" cy="453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「Bab’in」「Le Panier du Bon」</a:t>
            </a:r>
            <a:endParaRPr sz="700" b="0" i="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「OMIE et CIE」「NEO GOURMET」</a:t>
            </a:r>
            <a:endParaRPr sz="700" b="0" i="0" u="none" strike="noStrike" cap="none">
              <a:solidFill>
                <a:schemeClr val="lt1"/>
              </a:solidFill>
              <a:latin typeface="Meiryo"/>
              <a:ea typeface="Meiryo"/>
              <a:cs typeface="Meiryo"/>
              <a:sym typeface="Meiryo"/>
            </a:endParaRPr>
          </a:p>
        </p:txBody>
      </p:sp>
      <p:sp>
        <p:nvSpPr>
          <p:cNvPr id="271" name="Google Shape;271;g35ec7a65b47_0_24"/>
          <p:cNvSpPr txBox="1"/>
          <p:nvPr/>
        </p:nvSpPr>
        <p:spPr>
          <a:xfrm>
            <a:off x="1018174" y="4293824"/>
            <a:ext cx="2904000" cy="453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人、家畜、地球の健康＝ﾍﾙｼｰﾌｧｰﾐﾝｸﾞ が</a:t>
            </a:r>
            <a:endParaRPr sz="700" b="0" i="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Conceptのフランス食品産業クラスター</a:t>
            </a:r>
            <a:endParaRPr sz="700" b="0" i="0" u="none" strike="noStrike" cap="none">
              <a:solidFill>
                <a:schemeClr val="lt1"/>
              </a:solidFill>
              <a:latin typeface="Meiryo"/>
              <a:ea typeface="Meiryo"/>
              <a:cs typeface="Meiryo"/>
              <a:sym typeface="Meiryo"/>
            </a:endParaRPr>
          </a:p>
        </p:txBody>
      </p:sp>
      <p:sp>
        <p:nvSpPr>
          <p:cNvPr id="272" name="Google Shape;272;g35ec7a65b47_0_24"/>
          <p:cNvSpPr txBox="1"/>
          <p:nvPr/>
        </p:nvSpPr>
        <p:spPr>
          <a:xfrm>
            <a:off x="6318275" y="1314800"/>
            <a:ext cx="20496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日本のフランス料理界を牽引（日比谷）</a:t>
            </a:r>
            <a:endParaRPr sz="800" b="0" i="0" u="none" strike="noStrike" cap="none">
              <a:solidFill>
                <a:schemeClr val="lt1"/>
              </a:solidFill>
              <a:latin typeface="Meiryo"/>
              <a:ea typeface="Meiryo"/>
              <a:cs typeface="Meiryo"/>
              <a:sym typeface="Meiryo"/>
            </a:endParaRPr>
          </a:p>
        </p:txBody>
      </p:sp>
      <p:pic>
        <p:nvPicPr>
          <p:cNvPr id="273" name="Google Shape;273;g35ec7a65b47_0_24"/>
          <p:cNvPicPr preferRelativeResize="0"/>
          <p:nvPr/>
        </p:nvPicPr>
        <p:blipFill rotWithShape="1">
          <a:blip r:embed="rId6">
            <a:alphaModFix/>
          </a:blip>
          <a:srcRect l="2162" t="3553" r="3034" b="5571"/>
          <a:stretch/>
        </p:blipFill>
        <p:spPr>
          <a:xfrm>
            <a:off x="7096238" y="2737487"/>
            <a:ext cx="1271636" cy="774213"/>
          </a:xfrm>
          <a:prstGeom prst="rect">
            <a:avLst/>
          </a:prstGeom>
          <a:noFill/>
          <a:ln>
            <a:noFill/>
          </a:ln>
        </p:spPr>
      </p:pic>
      <p:pic>
        <p:nvPicPr>
          <p:cNvPr id="274" name="Google Shape;274;g35ec7a65b47_0_24"/>
          <p:cNvPicPr preferRelativeResize="0"/>
          <p:nvPr/>
        </p:nvPicPr>
        <p:blipFill rotWithShape="1">
          <a:blip r:embed="rId7">
            <a:alphaModFix/>
          </a:blip>
          <a:srcRect l="2430" t="3339" r="2287" b="3404"/>
          <a:stretch/>
        </p:blipFill>
        <p:spPr>
          <a:xfrm>
            <a:off x="5767975" y="2737475"/>
            <a:ext cx="1271639" cy="774213"/>
          </a:xfrm>
          <a:prstGeom prst="rect">
            <a:avLst/>
          </a:prstGeom>
          <a:noFill/>
          <a:ln>
            <a:noFill/>
          </a:ln>
        </p:spPr>
      </p:pic>
      <p:sp>
        <p:nvSpPr>
          <p:cNvPr id="275" name="Google Shape;275;g35ec7a65b47_0_24"/>
          <p:cNvSpPr txBox="1"/>
          <p:nvPr/>
        </p:nvSpPr>
        <p:spPr>
          <a:xfrm>
            <a:off x="6639450" y="3681199"/>
            <a:ext cx="1349400" cy="377100"/>
          </a:xfrm>
          <a:prstGeom prst="rect">
            <a:avLst/>
          </a:prstGeom>
          <a:solidFill>
            <a:schemeClr val="lt1"/>
          </a:solid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JP" sz="1000" b="1" i="0" u="none" strike="noStrike" cap="none">
                <a:solidFill>
                  <a:srgbClr val="FF0000"/>
                </a:solidFill>
                <a:highlight>
                  <a:schemeClr val="lt1"/>
                </a:highlight>
                <a:latin typeface="Meiryo"/>
                <a:ea typeface="Meiryo"/>
                <a:cs typeface="Meiryo"/>
                <a:sym typeface="Meiryo"/>
              </a:rPr>
              <a:t>本事業対象店舗</a:t>
            </a:r>
            <a:endParaRPr sz="1000" b="1" i="0" u="none" strike="noStrike" cap="none">
              <a:solidFill>
                <a:srgbClr val="FF0000"/>
              </a:solidFill>
              <a:highlight>
                <a:schemeClr val="lt1"/>
              </a:highlight>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endParaRPr sz="1000" b="1" i="0" u="none" strike="noStrike" cap="none">
              <a:solidFill>
                <a:srgbClr val="FF0000"/>
              </a:solidFill>
              <a:highlight>
                <a:schemeClr val="lt1"/>
              </a:highlight>
              <a:latin typeface="Meiryo"/>
              <a:ea typeface="Meiryo"/>
              <a:cs typeface="Meiryo"/>
              <a:sym typeface="Meiryo"/>
            </a:endParaRPr>
          </a:p>
        </p:txBody>
      </p:sp>
      <p:cxnSp>
        <p:nvCxnSpPr>
          <p:cNvPr id="276" name="Google Shape;276;g35ec7a65b47_0_24"/>
          <p:cNvCxnSpPr/>
          <p:nvPr/>
        </p:nvCxnSpPr>
        <p:spPr>
          <a:xfrm>
            <a:off x="4835750" y="1763025"/>
            <a:ext cx="821700" cy="1885200"/>
          </a:xfrm>
          <a:prstGeom prst="straightConnector1">
            <a:avLst/>
          </a:prstGeom>
          <a:noFill/>
          <a:ln w="9525" cap="flat" cmpd="sng">
            <a:solidFill>
              <a:srgbClr val="0000FF"/>
            </a:solidFill>
            <a:prstDash val="solid"/>
            <a:round/>
            <a:headEnd type="none" w="sm" len="sm"/>
            <a:tailEnd type="non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g35ec7a65b47_0_38"/>
          <p:cNvSpPr txBox="1"/>
          <p:nvPr/>
        </p:nvSpPr>
        <p:spPr>
          <a:xfrm>
            <a:off x="1952170" y="2119949"/>
            <a:ext cx="5231100" cy="510000"/>
          </a:xfrm>
          <a:prstGeom prst="rect">
            <a:avLst/>
          </a:prstGeom>
          <a:noFill/>
          <a:ln>
            <a:noFill/>
          </a:ln>
        </p:spPr>
        <p:txBody>
          <a:bodyPr spcFirstLastPara="1" wrap="square" lIns="78225" tIns="39125" rIns="78225" bIns="39125" anchor="t" anchorCtr="0">
            <a:spAutoFit/>
          </a:bodyPr>
          <a:lstStyle/>
          <a:p>
            <a:pPr marL="0" marR="0" lvl="0" indent="0" algn="ctr" rtl="0">
              <a:lnSpc>
                <a:spcPct val="200000"/>
              </a:lnSpc>
              <a:spcBef>
                <a:spcPts val="0"/>
              </a:spcBef>
              <a:spcAft>
                <a:spcPts val="0"/>
              </a:spcAft>
              <a:buClr>
                <a:srgbClr val="000000"/>
              </a:buClr>
              <a:buSzPts val="1800"/>
              <a:buFont typeface="Arial"/>
              <a:buNone/>
            </a:pPr>
            <a:r>
              <a:rPr lang="ja-JP" sz="2800" b="1" i="0" u="none" strike="noStrike" cap="none">
                <a:solidFill>
                  <a:schemeClr val="lt1"/>
                </a:solidFill>
                <a:latin typeface="Meiryo"/>
                <a:ea typeface="Meiryo"/>
                <a:cs typeface="Meiryo"/>
                <a:sym typeface="Meiryo"/>
              </a:rPr>
              <a:t>今後の日本展開</a:t>
            </a:r>
            <a:endParaRPr sz="1400" b="0" i="0" u="none" strike="noStrike" cap="none">
              <a:solidFill>
                <a:srgbClr val="000000"/>
              </a:solidFill>
              <a:latin typeface="Arial"/>
              <a:ea typeface="Arial"/>
              <a:cs typeface="Arial"/>
              <a:sym typeface="Arial"/>
            </a:endParaRPr>
          </a:p>
        </p:txBody>
      </p:sp>
      <p:sp>
        <p:nvSpPr>
          <p:cNvPr id="282" name="Google Shape;282;g35ec7a65b47_0_38"/>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283" name="Google Shape;283;g35ec7a65b47_0_38"/>
          <p:cNvSpPr txBox="1">
            <a:spLocks noGrp="1"/>
          </p:cNvSpPr>
          <p:nvPr>
            <p:ph type="sldNum" idx="4294967295"/>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8</a:t>
            </a:fld>
            <a:endParaRPr sz="700"/>
          </a:p>
        </p:txBody>
      </p:sp>
      <p:sp>
        <p:nvSpPr>
          <p:cNvPr id="284" name="Google Shape;284;g35ec7a65b47_0_38"/>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290" name="Google Shape;290;g372ef0ef644_0_39"/>
          <p:cNvPicPr preferRelativeResize="0"/>
          <p:nvPr/>
        </p:nvPicPr>
        <p:blipFill rotWithShape="1">
          <a:blip r:embed="rId3">
            <a:alphaModFix/>
          </a:blip>
          <a:srcRect/>
          <a:stretch/>
        </p:blipFill>
        <p:spPr>
          <a:xfrm>
            <a:off x="92" y="0"/>
            <a:ext cx="7831433" cy="5069336"/>
          </a:xfrm>
          <a:prstGeom prst="rect">
            <a:avLst/>
          </a:prstGeom>
          <a:noFill/>
          <a:ln>
            <a:noFill/>
          </a:ln>
        </p:spPr>
      </p:pic>
      <p:pic>
        <p:nvPicPr>
          <p:cNvPr id="291" name="Google Shape;291;g372ef0ef644_0_39"/>
          <p:cNvPicPr preferRelativeResize="0"/>
          <p:nvPr/>
        </p:nvPicPr>
        <p:blipFill rotWithShape="1">
          <a:blip r:embed="rId4">
            <a:alphaModFix/>
          </a:blip>
          <a:srcRect l="2162" t="3550" r="3034" b="18074"/>
          <a:stretch/>
        </p:blipFill>
        <p:spPr>
          <a:xfrm>
            <a:off x="4270925" y="0"/>
            <a:ext cx="4863149" cy="2563975"/>
          </a:xfrm>
          <a:prstGeom prst="rect">
            <a:avLst/>
          </a:prstGeom>
          <a:noFill/>
          <a:ln>
            <a:noFill/>
          </a:ln>
        </p:spPr>
      </p:pic>
      <p:pic>
        <p:nvPicPr>
          <p:cNvPr id="292" name="Google Shape;292;g372ef0ef644_0_39"/>
          <p:cNvPicPr preferRelativeResize="0"/>
          <p:nvPr/>
        </p:nvPicPr>
        <p:blipFill rotWithShape="1">
          <a:blip r:embed="rId5">
            <a:alphaModFix/>
          </a:blip>
          <a:srcRect l="2430" t="16167" r="2287" b="3402"/>
          <a:stretch/>
        </p:blipFill>
        <p:spPr>
          <a:xfrm>
            <a:off x="4280850" y="2448900"/>
            <a:ext cx="4863151" cy="2563975"/>
          </a:xfrm>
          <a:prstGeom prst="rect">
            <a:avLst/>
          </a:prstGeom>
          <a:noFill/>
          <a:ln>
            <a:noFill/>
          </a:ln>
        </p:spPr>
      </p:pic>
      <p:sp>
        <p:nvSpPr>
          <p:cNvPr id="293" name="Google Shape;293;g372ef0ef644_0_39"/>
          <p:cNvSpPr/>
          <p:nvPr/>
        </p:nvSpPr>
        <p:spPr>
          <a:xfrm>
            <a:off x="0" y="0"/>
            <a:ext cx="9144000" cy="5143500"/>
          </a:xfrm>
          <a:prstGeom prst="rect">
            <a:avLst/>
          </a:prstGeom>
          <a:solidFill>
            <a:srgbClr val="000000">
              <a:alpha val="74902"/>
            </a:srgb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chemeClr val="lt1"/>
              </a:buClr>
              <a:buSzPts val="1800"/>
              <a:buFont typeface="Meiryo"/>
              <a:buNone/>
            </a:pPr>
            <a:r>
              <a:rPr lang="ja-JP" sz="1800" b="1" i="0" u="none" strike="noStrike" cap="none">
                <a:solidFill>
                  <a:schemeClr val="lt1"/>
                </a:solidFill>
                <a:latin typeface="Meiryo"/>
                <a:ea typeface="Meiryo"/>
                <a:cs typeface="Meiryo"/>
                <a:sym typeface="Meiryo"/>
              </a:rPr>
              <a:t>　</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94" name="Google Shape;294;g372ef0ef644_0_39"/>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9</a:t>
            </a:fld>
            <a:endParaRPr sz="700"/>
          </a:p>
        </p:txBody>
      </p:sp>
      <p:sp>
        <p:nvSpPr>
          <p:cNvPr id="295" name="Google Shape;295;g372ef0ef644_0_39"/>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296" name="Google Shape;296;g372ef0ef644_0_39"/>
          <p:cNvSpPr txBox="1"/>
          <p:nvPr/>
        </p:nvSpPr>
        <p:spPr>
          <a:xfrm>
            <a:off x="239773" y="211050"/>
            <a:ext cx="31668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chemeClr val="lt1"/>
                </a:solidFill>
                <a:latin typeface="Meiryo"/>
                <a:ea typeface="Meiryo"/>
                <a:cs typeface="Meiryo"/>
                <a:sym typeface="Meiryo"/>
              </a:rPr>
              <a:t>THIERRY MARX × WineBank</a:t>
            </a:r>
            <a:endParaRPr sz="1400" b="1" i="0" u="none" strike="noStrike" cap="none">
              <a:solidFill>
                <a:schemeClr val="lt1"/>
              </a:solidFill>
              <a:latin typeface="Meiryo"/>
              <a:ea typeface="Meiryo"/>
              <a:cs typeface="Meiryo"/>
              <a:sym typeface="Meiryo"/>
            </a:endParaRPr>
          </a:p>
        </p:txBody>
      </p:sp>
      <p:graphicFrame>
        <p:nvGraphicFramePr>
          <p:cNvPr id="297" name="Google Shape;297;g372ef0ef644_0_39"/>
          <p:cNvGraphicFramePr/>
          <p:nvPr/>
        </p:nvGraphicFramePr>
        <p:xfrm>
          <a:off x="447350" y="1077350"/>
          <a:ext cx="3000000" cy="3000000"/>
        </p:xfrm>
        <a:graphic>
          <a:graphicData uri="http://schemas.openxmlformats.org/drawingml/2006/table">
            <a:tbl>
              <a:tblPr>
                <a:noFill/>
                <a:tableStyleId>{2F751054-E549-48A9-9E5F-C827F7E28947}</a:tableStyleId>
              </a:tblPr>
              <a:tblGrid>
                <a:gridCol w="1449350">
                  <a:extLst>
                    <a:ext uri="{9D8B030D-6E8A-4147-A177-3AD203B41FA5}">
                      <a16:colId xmlns:a16="http://schemas.microsoft.com/office/drawing/2014/main" val="20000"/>
                    </a:ext>
                  </a:extLst>
                </a:gridCol>
                <a:gridCol w="7002175">
                  <a:extLst>
                    <a:ext uri="{9D8B030D-6E8A-4147-A177-3AD203B41FA5}">
                      <a16:colId xmlns:a16="http://schemas.microsoft.com/office/drawing/2014/main" val="20001"/>
                    </a:ext>
                  </a:extLst>
                </a:gridCol>
              </a:tblGrid>
              <a:tr h="919350">
                <a:tc>
                  <a:txBody>
                    <a:bodyPr/>
                    <a:lstStyle/>
                    <a:p>
                      <a:pPr marL="0" marR="0" lvl="0" indent="0" algn="ctr" rtl="0">
                        <a:lnSpc>
                          <a:spcPct val="100000"/>
                        </a:lnSpc>
                        <a:spcBef>
                          <a:spcPts val="0"/>
                        </a:spcBef>
                        <a:spcAft>
                          <a:spcPts val="0"/>
                        </a:spcAft>
                        <a:buClr>
                          <a:srgbClr val="000000"/>
                        </a:buClr>
                        <a:buSzPts val="1600"/>
                        <a:buFont typeface="Arial"/>
                        <a:buNone/>
                      </a:pPr>
                      <a:r>
                        <a:rPr lang="ja-JP" sz="1600" b="1" u="none" strike="noStrike" cap="none">
                          <a:solidFill>
                            <a:srgbClr val="D5AA8F"/>
                          </a:solidFill>
                          <a:latin typeface="Meiryo"/>
                          <a:ea typeface="Meiryo"/>
                          <a:cs typeface="Meiryo"/>
                          <a:sym typeface="Meiryo"/>
                        </a:rPr>
                        <a:t>Concept</a:t>
                      </a:r>
                      <a:endParaRPr sz="1600" b="1" u="none" strike="noStrike" cap="none">
                        <a:solidFill>
                          <a:srgbClr val="D5AA8F"/>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600"/>
                        <a:buFont typeface="Arial"/>
                        <a:buNone/>
                      </a:pPr>
                      <a:endParaRPr sz="1600" b="1" u="none" strike="noStrike" cap="none">
                        <a:solidFill>
                          <a:srgbClr val="D5AA8F"/>
                        </a:solidFill>
                        <a:latin typeface="Meiryo"/>
                        <a:ea typeface="Meiryo"/>
                        <a:cs typeface="Meiryo"/>
                        <a:sym typeface="Meiry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500"/>
                        <a:buFont typeface="Arial"/>
                        <a:buNone/>
                      </a:pPr>
                      <a:r>
                        <a:rPr lang="ja-JP" sz="1600" b="1" u="none" strike="noStrike" cap="none">
                          <a:solidFill>
                            <a:schemeClr val="lt1"/>
                          </a:solidFill>
                          <a:latin typeface="Meiryo"/>
                          <a:ea typeface="Meiryo"/>
                          <a:cs typeface="Meiryo"/>
                          <a:sym typeface="Meiryo"/>
                        </a:rPr>
                        <a:t>現代フレンチの第一人者 × 日本の食文化との融合 × Fine Wine</a:t>
                      </a:r>
                      <a:endParaRPr sz="1600" b="1" u="none" strike="noStrike" cap="none">
                        <a:solidFill>
                          <a:schemeClr val="lt1"/>
                        </a:solidFill>
                        <a:latin typeface="Meiryo"/>
                        <a:ea typeface="Meiryo"/>
                        <a:cs typeface="Meiryo"/>
                        <a:sym typeface="Meiryo"/>
                      </a:endParaRPr>
                    </a:p>
                    <a:p>
                      <a:pPr marL="0" marR="0" lvl="0" indent="0" algn="l" rtl="0">
                        <a:lnSpc>
                          <a:spcPct val="115000"/>
                        </a:lnSpc>
                        <a:spcBef>
                          <a:spcPts val="0"/>
                        </a:spcBef>
                        <a:spcAft>
                          <a:spcPts val="0"/>
                        </a:spcAft>
                        <a:buClr>
                          <a:schemeClr val="dk1"/>
                        </a:buClr>
                        <a:buSzPts val="1500"/>
                        <a:buFont typeface="Arial"/>
                        <a:buNone/>
                      </a:pPr>
                      <a:r>
                        <a:rPr lang="ja-JP" sz="1600" b="1" u="none" strike="noStrike" cap="none">
                          <a:solidFill>
                            <a:schemeClr val="lt1"/>
                          </a:solidFill>
                          <a:latin typeface="Meiryo"/>
                          <a:ea typeface="Meiryo"/>
                          <a:cs typeface="Meiryo"/>
                          <a:sym typeface="Meiryo"/>
                        </a:rPr>
                        <a:t>19世紀のフランス伝統 × 革新</a:t>
                      </a:r>
                      <a:endParaRPr sz="1600" b="1" u="none" strike="noStrike" cap="none">
                        <a:solidFill>
                          <a:schemeClr val="lt1"/>
                        </a:solidFill>
                        <a:latin typeface="Meiryo"/>
                        <a:ea typeface="Meiryo"/>
                        <a:cs typeface="Meiryo"/>
                        <a:sym typeface="Meiry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884050">
                <a:tc>
                  <a:txBody>
                    <a:bodyPr/>
                    <a:lstStyle/>
                    <a:p>
                      <a:pPr marL="0" marR="0" lvl="0" indent="0" algn="ctr" rtl="0">
                        <a:lnSpc>
                          <a:spcPct val="100000"/>
                        </a:lnSpc>
                        <a:spcBef>
                          <a:spcPts val="0"/>
                        </a:spcBef>
                        <a:spcAft>
                          <a:spcPts val="0"/>
                        </a:spcAft>
                        <a:buClr>
                          <a:srgbClr val="000000"/>
                        </a:buClr>
                        <a:buSzPts val="1300"/>
                        <a:buFont typeface="Arial"/>
                        <a:buNone/>
                      </a:pPr>
                      <a:r>
                        <a:rPr lang="ja-JP" sz="1300" b="1" u="none" strike="noStrike" cap="none">
                          <a:solidFill>
                            <a:srgbClr val="D5AA8F"/>
                          </a:solidFill>
                          <a:latin typeface="Meiryo"/>
                          <a:ea typeface="Meiryo"/>
                          <a:cs typeface="Meiryo"/>
                          <a:sym typeface="Meiryo"/>
                        </a:rPr>
                        <a:t>Subtitle</a:t>
                      </a:r>
                      <a:endParaRPr sz="1300" b="1" u="none" strike="noStrike" cap="none">
                        <a:solidFill>
                          <a:srgbClr val="D5AA8F"/>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300"/>
                        <a:buFont typeface="Arial"/>
                        <a:buNone/>
                      </a:pPr>
                      <a:endParaRPr sz="1300" b="1" u="none" strike="noStrike" cap="none">
                        <a:solidFill>
                          <a:srgbClr val="D5AA8F"/>
                        </a:solidFill>
                        <a:latin typeface="Meiryo"/>
                        <a:ea typeface="Meiryo"/>
                        <a:cs typeface="Meiryo"/>
                        <a:sym typeface="Meiry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500"/>
                        <a:buFont typeface="Arial"/>
                        <a:buNone/>
                      </a:pPr>
                      <a:r>
                        <a:rPr lang="ja-JP" sz="1300" b="1" u="none" strike="noStrike" cap="none">
                          <a:solidFill>
                            <a:schemeClr val="lt1"/>
                          </a:solidFill>
                          <a:latin typeface="Meiryo"/>
                          <a:ea typeface="Meiryo"/>
                          <a:cs typeface="Meiryo"/>
                          <a:sym typeface="Meiryo"/>
                        </a:rPr>
                        <a:t>サステイナブル × SDGS×エレガンス</a:t>
                      </a:r>
                      <a:endParaRPr sz="1300" b="1" u="none" strike="noStrike" cap="none">
                        <a:solidFill>
                          <a:schemeClr val="lt1"/>
                        </a:solidFill>
                        <a:latin typeface="Meiryo"/>
                        <a:ea typeface="Meiryo"/>
                        <a:cs typeface="Meiryo"/>
                        <a:sym typeface="Meiryo"/>
                      </a:endParaRPr>
                    </a:p>
                    <a:p>
                      <a:pPr marL="0" marR="0" lvl="0" indent="0" algn="l" rtl="0">
                        <a:lnSpc>
                          <a:spcPct val="115000"/>
                        </a:lnSpc>
                        <a:spcBef>
                          <a:spcPts val="0"/>
                        </a:spcBef>
                        <a:spcAft>
                          <a:spcPts val="0"/>
                        </a:spcAft>
                        <a:buClr>
                          <a:schemeClr val="dk1"/>
                        </a:buClr>
                        <a:buSzPts val="1500"/>
                        <a:buFont typeface="Arial"/>
                        <a:buNone/>
                      </a:pPr>
                      <a:r>
                        <a:rPr lang="ja-JP" sz="1300" b="1" u="none" strike="noStrike" cap="none">
                          <a:solidFill>
                            <a:schemeClr val="lt1"/>
                          </a:solidFill>
                          <a:latin typeface="Meiryo"/>
                          <a:ea typeface="Meiryo"/>
                          <a:cs typeface="Meiryo"/>
                          <a:sym typeface="Meiryo"/>
                        </a:rPr>
                        <a:t>日本とフランスの農家・生産者の架け橋になる</a:t>
                      </a:r>
                      <a:endParaRPr sz="1300" b="1" u="none" strike="noStrike" cap="none">
                        <a:solidFill>
                          <a:schemeClr val="lt1"/>
                        </a:solidFill>
                        <a:latin typeface="Meiryo"/>
                        <a:ea typeface="Meiryo"/>
                        <a:cs typeface="Meiryo"/>
                        <a:sym typeface="Meiry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98" name="Google Shape;298;g372ef0ef644_0_39"/>
          <p:cNvGraphicFramePr/>
          <p:nvPr/>
        </p:nvGraphicFramePr>
        <p:xfrm>
          <a:off x="1512813" y="3108300"/>
          <a:ext cx="3000000" cy="3000000"/>
        </p:xfrm>
        <a:graphic>
          <a:graphicData uri="http://schemas.openxmlformats.org/drawingml/2006/table">
            <a:tbl>
              <a:tblPr>
                <a:noFill/>
                <a:tableStyleId>{2F751054-E549-48A9-9E5F-C827F7E28947}</a:tableStyleId>
              </a:tblPr>
              <a:tblGrid>
                <a:gridCol w="6744400">
                  <a:extLst>
                    <a:ext uri="{9D8B030D-6E8A-4147-A177-3AD203B41FA5}">
                      <a16:colId xmlns:a16="http://schemas.microsoft.com/office/drawing/2014/main" val="20000"/>
                    </a:ext>
                  </a:extLst>
                </a:gridCol>
              </a:tblGrid>
              <a:tr h="1144975">
                <a:tc>
                  <a:txBody>
                    <a:bodyPr/>
                    <a:lstStyle/>
                    <a:p>
                      <a:pPr marL="0" marR="0" lvl="0" indent="0" algn="l" rtl="0">
                        <a:lnSpc>
                          <a:spcPct val="150000"/>
                        </a:lnSpc>
                        <a:spcBef>
                          <a:spcPts val="0"/>
                        </a:spcBef>
                        <a:spcAft>
                          <a:spcPts val="0"/>
                        </a:spcAft>
                        <a:buClr>
                          <a:srgbClr val="000000"/>
                        </a:buClr>
                        <a:buSzPts val="1000"/>
                        <a:buFont typeface="Arial"/>
                        <a:buNone/>
                      </a:pPr>
                      <a:r>
                        <a:rPr lang="ja-JP" sz="1000" u="none" strike="noStrike" cap="none">
                          <a:solidFill>
                            <a:schemeClr val="lt1"/>
                          </a:solidFill>
                          <a:latin typeface="Meiryo"/>
                          <a:ea typeface="Meiryo"/>
                          <a:cs typeface="Meiryo"/>
                          <a:sym typeface="Meiryo"/>
                        </a:rPr>
                        <a:t>- 実現したい未来 -</a:t>
                      </a:r>
                      <a:endParaRPr sz="100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1000"/>
                        <a:buFont typeface="Arial"/>
                        <a:buNone/>
                      </a:pPr>
                      <a:r>
                        <a:rPr lang="ja-JP" sz="1000" u="none" strike="noStrike" cap="none">
                          <a:solidFill>
                            <a:schemeClr val="lt1"/>
                          </a:solidFill>
                          <a:latin typeface="Meiryo"/>
                          <a:ea typeface="Meiryo"/>
                          <a:cs typeface="Meiryo"/>
                          <a:sym typeface="Meiryo"/>
                        </a:rPr>
                        <a:t>　　東京から日本全国へ、その後アジアへの展開</a:t>
                      </a:r>
                      <a:endParaRPr sz="100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1000"/>
                        <a:buFont typeface="Arial"/>
                        <a:buNone/>
                      </a:pPr>
                      <a:r>
                        <a:rPr lang="ja-JP" sz="1000" u="none" strike="noStrike" cap="none">
                          <a:solidFill>
                            <a:schemeClr val="lt1"/>
                          </a:solidFill>
                          <a:latin typeface="Meiryo"/>
                          <a:ea typeface="Meiryo"/>
                          <a:cs typeface="Meiryo"/>
                          <a:sym typeface="Meiryo"/>
                        </a:rPr>
                        <a:t>　　「マルクス哲学 × 和の美意識」の象徴として、将来的には以下展開も視野に</a:t>
                      </a:r>
                      <a:endParaRPr sz="100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1000"/>
                        <a:buFont typeface="Arial"/>
                        <a:buNone/>
                      </a:pPr>
                      <a:r>
                        <a:rPr lang="ja-JP" sz="1000" u="none" strike="noStrike" cap="none">
                          <a:solidFill>
                            <a:schemeClr val="lt1"/>
                          </a:solidFill>
                          <a:latin typeface="Meiryo"/>
                          <a:ea typeface="Meiryo"/>
                          <a:cs typeface="Meiryo"/>
                          <a:sym typeface="Meiryo"/>
                        </a:rPr>
                        <a:t>　　　・大阪・札幌(or余市）・福岡・名古屋・横浜等の政令指定都市への展開（地域の食材を再定義）</a:t>
                      </a:r>
                      <a:endParaRPr sz="100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1000"/>
                        <a:buFont typeface="Arial"/>
                        <a:buNone/>
                      </a:pPr>
                      <a:r>
                        <a:rPr lang="ja-JP" sz="1000" u="none" strike="noStrike" cap="none">
                          <a:solidFill>
                            <a:schemeClr val="lt1"/>
                          </a:solidFill>
                          <a:latin typeface="Meiryo"/>
                          <a:ea typeface="Meiryo"/>
                          <a:cs typeface="Meiryo"/>
                          <a:sym typeface="Meiryo"/>
                        </a:rPr>
                        <a:t>　　　・アピシウスシェフとのコラボイベント</a:t>
                      </a:r>
                      <a:endParaRPr sz="100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1000"/>
                        <a:buFont typeface="Arial"/>
                        <a:buNone/>
                      </a:pPr>
                      <a:r>
                        <a:rPr lang="ja-JP" sz="1000" u="none" strike="noStrike" cap="none">
                          <a:solidFill>
                            <a:schemeClr val="lt1"/>
                          </a:solidFill>
                          <a:latin typeface="Meiryo"/>
                          <a:ea typeface="Meiryo"/>
                          <a:cs typeface="Meiryo"/>
                          <a:sym typeface="Meiryo"/>
                        </a:rPr>
                        <a:t>　　　・ベーカリー・チーズ・ワイン・ビストロとフランス食文化の全てをローカライズして日本人へ</a:t>
                      </a:r>
                      <a:endParaRPr sz="1000" u="none" strike="noStrike" cap="none">
                        <a:solidFill>
                          <a:schemeClr val="lt1"/>
                        </a:solidFill>
                        <a:latin typeface="Meiryo"/>
                        <a:ea typeface="Meiryo"/>
                        <a:cs typeface="Meiryo"/>
                        <a:sym typeface="Meiry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9" name="Google Shape;299;g372ef0ef644_0_39"/>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pic>
        <p:nvPicPr>
          <p:cNvPr id="304" name="Google Shape;304;g375a5397052_0_95"/>
          <p:cNvPicPr preferRelativeResize="0"/>
          <p:nvPr/>
        </p:nvPicPr>
        <p:blipFill rotWithShape="1">
          <a:blip r:embed="rId3">
            <a:alphaModFix/>
          </a:blip>
          <a:srcRect l="2162" t="3550" r="3034" b="18074"/>
          <a:stretch/>
        </p:blipFill>
        <p:spPr>
          <a:xfrm>
            <a:off x="4457100" y="548534"/>
            <a:ext cx="4130576" cy="2168863"/>
          </a:xfrm>
          <a:prstGeom prst="rect">
            <a:avLst/>
          </a:prstGeom>
          <a:noFill/>
          <a:ln>
            <a:noFill/>
          </a:ln>
        </p:spPr>
      </p:pic>
      <p:sp>
        <p:nvSpPr>
          <p:cNvPr id="305" name="Google Shape;305;g375a5397052_0_95"/>
          <p:cNvSpPr txBox="1"/>
          <p:nvPr/>
        </p:nvSpPr>
        <p:spPr>
          <a:xfrm>
            <a:off x="239774" y="211050"/>
            <a:ext cx="44433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rgbClr val="1F1F1F"/>
                </a:solidFill>
                <a:highlight>
                  <a:srgbClr val="FFFFFF"/>
                </a:highlight>
                <a:latin typeface="Meiryo"/>
                <a:ea typeface="Meiryo"/>
                <a:cs typeface="Meiryo"/>
                <a:sym typeface="Meiryo"/>
              </a:rPr>
              <a:t>THIERRY MARX × </a:t>
            </a:r>
            <a:r>
              <a:rPr lang="ja-JP" sz="1400" b="1" i="0" u="none" strike="noStrike" cap="none">
                <a:solidFill>
                  <a:schemeClr val="dk1"/>
                </a:solidFill>
                <a:latin typeface="Meiryo"/>
                <a:ea typeface="Meiryo"/>
                <a:cs typeface="Meiryo"/>
                <a:sym typeface="Meiryo"/>
              </a:rPr>
              <a:t>WineBank パースコンセプト</a:t>
            </a:r>
            <a:endParaRPr sz="1400" b="1" i="0" u="none" strike="noStrike" cap="none">
              <a:solidFill>
                <a:schemeClr val="dk1"/>
              </a:solidFill>
              <a:latin typeface="Meiryo"/>
              <a:ea typeface="Meiryo"/>
              <a:cs typeface="Meiryo"/>
              <a:sym typeface="Meiryo"/>
            </a:endParaRPr>
          </a:p>
        </p:txBody>
      </p:sp>
      <p:sp>
        <p:nvSpPr>
          <p:cNvPr id="306" name="Google Shape;306;g375a5397052_0_95"/>
          <p:cNvSpPr/>
          <p:nvPr/>
        </p:nvSpPr>
        <p:spPr>
          <a:xfrm>
            <a:off x="0" y="5021036"/>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pic>
        <p:nvPicPr>
          <p:cNvPr id="307" name="Google Shape;307;g375a5397052_0_95"/>
          <p:cNvPicPr preferRelativeResize="0"/>
          <p:nvPr/>
        </p:nvPicPr>
        <p:blipFill rotWithShape="1">
          <a:blip r:embed="rId4">
            <a:alphaModFix/>
          </a:blip>
          <a:srcRect/>
          <a:stretch/>
        </p:blipFill>
        <p:spPr>
          <a:xfrm>
            <a:off x="401625" y="2723538"/>
            <a:ext cx="3350653" cy="2168874"/>
          </a:xfrm>
          <a:prstGeom prst="rect">
            <a:avLst/>
          </a:prstGeom>
          <a:noFill/>
          <a:ln>
            <a:noFill/>
          </a:ln>
        </p:spPr>
      </p:pic>
      <p:sp>
        <p:nvSpPr>
          <p:cNvPr id="308" name="Google Shape;308;g375a5397052_0_95"/>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10</a:t>
            </a:fld>
            <a:endParaRPr sz="700"/>
          </a:p>
        </p:txBody>
      </p:sp>
      <p:sp>
        <p:nvSpPr>
          <p:cNvPr id="309" name="Google Shape;309;g375a5397052_0_95"/>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310" name="Google Shape;310;g375a5397052_0_95"/>
          <p:cNvSpPr txBox="1"/>
          <p:nvPr/>
        </p:nvSpPr>
        <p:spPr>
          <a:xfrm>
            <a:off x="4538625" y="610525"/>
            <a:ext cx="997800" cy="192300"/>
          </a:xfrm>
          <a:prstGeom prst="rect">
            <a:avLst/>
          </a:prstGeom>
          <a:solidFill>
            <a:srgbClr val="F6F6F6"/>
          </a:solid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latin typeface="Meiryo"/>
                <a:ea typeface="Meiryo"/>
                <a:cs typeface="Meiryo"/>
                <a:sym typeface="Meiryo"/>
              </a:rPr>
              <a:t>ブーランジェリー</a:t>
            </a:r>
            <a:endParaRPr sz="800" b="0" i="0" u="none" strike="noStrike" cap="none">
              <a:solidFill>
                <a:srgbClr val="C68A65"/>
              </a:solidFill>
              <a:latin typeface="Meiryo"/>
              <a:ea typeface="Meiryo"/>
              <a:cs typeface="Meiryo"/>
              <a:sym typeface="Meiryo"/>
            </a:endParaRPr>
          </a:p>
        </p:txBody>
      </p:sp>
      <p:pic>
        <p:nvPicPr>
          <p:cNvPr id="311" name="Google Shape;311;g375a5397052_0_95"/>
          <p:cNvPicPr preferRelativeResize="0"/>
          <p:nvPr/>
        </p:nvPicPr>
        <p:blipFill rotWithShape="1">
          <a:blip r:embed="rId5">
            <a:alphaModFix/>
          </a:blip>
          <a:srcRect l="2430" t="16167" r="2287" b="3402"/>
          <a:stretch/>
        </p:blipFill>
        <p:spPr>
          <a:xfrm>
            <a:off x="4457100" y="2790725"/>
            <a:ext cx="4130571" cy="2168862"/>
          </a:xfrm>
          <a:prstGeom prst="rect">
            <a:avLst/>
          </a:prstGeom>
          <a:noFill/>
          <a:ln>
            <a:noFill/>
          </a:ln>
        </p:spPr>
      </p:pic>
      <p:pic>
        <p:nvPicPr>
          <p:cNvPr id="312" name="Google Shape;312;g375a5397052_0_95"/>
          <p:cNvPicPr preferRelativeResize="0"/>
          <p:nvPr/>
        </p:nvPicPr>
        <p:blipFill rotWithShape="1">
          <a:blip r:embed="rId6">
            <a:alphaModFix/>
          </a:blip>
          <a:srcRect l="9916" t="2323" r="8405" b="48365"/>
          <a:stretch/>
        </p:blipFill>
        <p:spPr>
          <a:xfrm>
            <a:off x="533763" y="517839"/>
            <a:ext cx="3086376" cy="1156972"/>
          </a:xfrm>
          <a:prstGeom prst="rect">
            <a:avLst/>
          </a:prstGeom>
          <a:noFill/>
          <a:ln>
            <a:noFill/>
          </a:ln>
        </p:spPr>
      </p:pic>
      <p:sp>
        <p:nvSpPr>
          <p:cNvPr id="313" name="Google Shape;313;g375a5397052_0_95"/>
          <p:cNvSpPr txBox="1"/>
          <p:nvPr/>
        </p:nvSpPr>
        <p:spPr>
          <a:xfrm>
            <a:off x="4500000" y="2815775"/>
            <a:ext cx="1536300" cy="192300"/>
          </a:xfrm>
          <a:prstGeom prst="rect">
            <a:avLst/>
          </a:prstGeom>
          <a:solidFill>
            <a:srgbClr val="F6F6F6"/>
          </a:solid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latin typeface="Meiryo"/>
                <a:ea typeface="Meiryo"/>
                <a:cs typeface="Meiryo"/>
                <a:sym typeface="Meiryo"/>
              </a:rPr>
              <a:t>レストラン＆ワインショップ</a:t>
            </a:r>
            <a:endParaRPr sz="800" b="0" i="0" u="none" strike="noStrike" cap="none">
              <a:solidFill>
                <a:srgbClr val="C68A65"/>
              </a:solidFill>
              <a:latin typeface="Meiryo"/>
              <a:ea typeface="Meiryo"/>
              <a:cs typeface="Meiryo"/>
              <a:sym typeface="Meiryo"/>
            </a:endParaRPr>
          </a:p>
        </p:txBody>
      </p:sp>
      <p:pic>
        <p:nvPicPr>
          <p:cNvPr id="314" name="Google Shape;314;g375a5397052_0_95"/>
          <p:cNvPicPr preferRelativeResize="0"/>
          <p:nvPr/>
        </p:nvPicPr>
        <p:blipFill rotWithShape="1">
          <a:blip r:embed="rId6">
            <a:alphaModFix/>
          </a:blip>
          <a:srcRect l="9918" t="55602" r="13495" b="1654"/>
          <a:stretch/>
        </p:blipFill>
        <p:spPr>
          <a:xfrm>
            <a:off x="772226" y="1674801"/>
            <a:ext cx="3029150" cy="1049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g372ef0ef644_0_10"/>
          <p:cNvSpPr/>
          <p:nvPr/>
        </p:nvSpPr>
        <p:spPr>
          <a:xfrm>
            <a:off x="0" y="5021036"/>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320" name="Google Shape;320;g372ef0ef644_0_10"/>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321" name="Google Shape;321;g372ef0ef644_0_10"/>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11</a:t>
            </a:fld>
            <a:endParaRPr sz="700"/>
          </a:p>
        </p:txBody>
      </p:sp>
      <p:graphicFrame>
        <p:nvGraphicFramePr>
          <p:cNvPr id="322" name="Google Shape;322;g372ef0ef644_0_10"/>
          <p:cNvGraphicFramePr/>
          <p:nvPr/>
        </p:nvGraphicFramePr>
        <p:xfrm>
          <a:off x="440019" y="790255"/>
          <a:ext cx="3000000" cy="3000000"/>
        </p:xfrm>
        <a:graphic>
          <a:graphicData uri="http://schemas.openxmlformats.org/drawingml/2006/table">
            <a:tbl>
              <a:tblPr>
                <a:noFill/>
                <a:tableStyleId>{676CC8E9-4DEB-487B-9015-B81E7DF3C228}</a:tableStyleId>
              </a:tblPr>
              <a:tblGrid>
                <a:gridCol w="998100">
                  <a:extLst>
                    <a:ext uri="{9D8B030D-6E8A-4147-A177-3AD203B41FA5}">
                      <a16:colId xmlns:a16="http://schemas.microsoft.com/office/drawing/2014/main" val="20000"/>
                    </a:ext>
                  </a:extLst>
                </a:gridCol>
                <a:gridCol w="2882400">
                  <a:extLst>
                    <a:ext uri="{9D8B030D-6E8A-4147-A177-3AD203B41FA5}">
                      <a16:colId xmlns:a16="http://schemas.microsoft.com/office/drawing/2014/main" val="20001"/>
                    </a:ext>
                  </a:extLst>
                </a:gridCol>
              </a:tblGrid>
              <a:tr h="316850">
                <a:tc>
                  <a:txBody>
                    <a:bodyPr/>
                    <a:lstStyle/>
                    <a:p>
                      <a:pPr marL="0" marR="0" lvl="0" indent="0" algn="ctr" rtl="0">
                        <a:lnSpc>
                          <a:spcPct val="115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店舗名</a:t>
                      </a:r>
                      <a:endParaRPr sz="11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15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BRASSERIE Thierry Marx （仮称）</a:t>
                      </a: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543900">
                <a:tc>
                  <a:txBody>
                    <a:bodyPr/>
                    <a:lstStyle/>
                    <a:p>
                      <a:pPr marL="0" marR="0" lvl="0" indent="0" algn="ctr" rtl="0">
                        <a:lnSpc>
                          <a:spcPct val="115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客単価</a:t>
                      </a:r>
                      <a:endParaRPr sz="11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50000"/>
                        </a:lnSpc>
                        <a:spcBef>
                          <a:spcPts val="0"/>
                        </a:spcBef>
                        <a:spcAft>
                          <a:spcPts val="0"/>
                        </a:spcAft>
                        <a:buClr>
                          <a:srgbClr val="000000"/>
                        </a:buClr>
                        <a:buSzPts val="800"/>
                        <a:buFont typeface="Arial"/>
                        <a:buNone/>
                      </a:pPr>
                      <a:r>
                        <a:rPr lang="ja-JP" sz="800" u="none" strike="noStrike" cap="none">
                          <a:latin typeface="Meiryo"/>
                          <a:ea typeface="Meiryo"/>
                          <a:cs typeface="Meiryo"/>
                          <a:sym typeface="Meiryo"/>
                        </a:rPr>
                        <a:t>- Dinner：10,000円前後 -</a:t>
                      </a:r>
                      <a:endParaRPr sz="8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latin typeface="Meiryo"/>
                          <a:ea typeface="Meiryo"/>
                          <a:cs typeface="Meiryo"/>
                          <a:sym typeface="Meiryo"/>
                        </a:rPr>
                        <a:t>　　料理7,000-13,000円＋飲料3,000-10,000円</a:t>
                      </a:r>
                      <a:endParaRPr sz="8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latin typeface="Meiryo"/>
                          <a:ea typeface="Meiryo"/>
                          <a:cs typeface="Meiryo"/>
                          <a:sym typeface="Meiryo"/>
                        </a:rPr>
                        <a:t>　　合計10,000-23,000円</a:t>
                      </a:r>
                      <a:endParaRPr sz="8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endParaRPr sz="3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latin typeface="Meiryo"/>
                          <a:ea typeface="Meiryo"/>
                          <a:cs typeface="Meiryo"/>
                          <a:sym typeface="Meiryo"/>
                        </a:rPr>
                        <a:t>- Lunch：5,000円前後 -</a:t>
                      </a:r>
                      <a:endParaRPr sz="8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latin typeface="Meiryo"/>
                          <a:ea typeface="Meiryo"/>
                          <a:cs typeface="Meiryo"/>
                          <a:sym typeface="Meiryo"/>
                        </a:rPr>
                        <a:t>　　料理2,500-6,000円＋飲料1,000-5,000円</a:t>
                      </a:r>
                      <a:endParaRPr sz="8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latin typeface="Meiryo"/>
                          <a:ea typeface="Meiryo"/>
                          <a:cs typeface="Meiryo"/>
                          <a:sym typeface="Meiryo"/>
                        </a:rPr>
                        <a:t>　　合計3,000-10,000円</a:t>
                      </a:r>
                      <a:endParaRPr sz="8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endParaRPr sz="3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latin typeface="Meiryo"/>
                          <a:ea typeface="Meiryo"/>
                          <a:cs typeface="Meiryo"/>
                          <a:sym typeface="Meiryo"/>
                        </a:rPr>
                        <a:t>- ブーランジェリー：1,000-2,000円 -</a:t>
                      </a:r>
                      <a:endParaRPr sz="800" u="none" strike="noStrike" cap="none">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00825">
                <a:tc>
                  <a:txBody>
                    <a:bodyPr/>
                    <a:lstStyle/>
                    <a:p>
                      <a:pPr marL="0" marR="0" lvl="0" indent="0" algn="ctr" rtl="0">
                        <a:lnSpc>
                          <a:spcPct val="115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開業資金</a:t>
                      </a:r>
                      <a:endParaRPr sz="11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50000"/>
                        </a:lnSpc>
                        <a:spcBef>
                          <a:spcPts val="0"/>
                        </a:spcBef>
                        <a:spcAft>
                          <a:spcPts val="0"/>
                        </a:spcAft>
                        <a:buClr>
                          <a:srgbClr val="000000"/>
                        </a:buClr>
                        <a:buSzPts val="800"/>
                        <a:buFont typeface="Arial"/>
                        <a:buNone/>
                      </a:pPr>
                      <a:r>
                        <a:rPr lang="ja-JP" sz="800" b="1" u="none" strike="noStrike" cap="none">
                          <a:solidFill>
                            <a:schemeClr val="dk1"/>
                          </a:solidFill>
                          <a:latin typeface="Meiryo"/>
                          <a:ea typeface="Meiryo"/>
                          <a:cs typeface="Meiryo"/>
                          <a:sym typeface="Meiryo"/>
                        </a:rPr>
                        <a:t>総額3.5-4.0億円（2億調達済み）</a:t>
                      </a:r>
                      <a:endParaRPr sz="800" b="1"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 内装/設計/設備　   ：坪300万×80坪＝24,000万</a:t>
                      </a:r>
                      <a:endParaRPr sz="80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 物件保証金　　　   ：坪4万×80坪×12か月＝約4,000万</a:t>
                      </a:r>
                      <a:endParaRPr sz="80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 備品/開業費ﾗｲｾﾝｽ等：約7,000万</a:t>
                      </a:r>
                      <a:endParaRPr sz="80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 ワイン/絵画在庫　  ：約5,000万</a:t>
                      </a: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1395300">
                <a:tc>
                  <a:txBody>
                    <a:bodyPr/>
                    <a:lstStyle/>
                    <a:p>
                      <a:pPr marL="0" marR="0" lvl="0" indent="0" algn="ctr" rtl="0">
                        <a:lnSpc>
                          <a:spcPct val="115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ストラクチャー</a:t>
                      </a:r>
                      <a:endParaRPr sz="11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50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株　　主：WineBank/アピシウス/中野66.7%</a:t>
                      </a:r>
                      <a:endParaRPr sz="80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               外部投資家33.3%（想定）</a:t>
                      </a:r>
                      <a:endParaRPr sz="80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運営主体：株式会社Brasserie Thierry Marx</a:t>
                      </a:r>
                      <a:endParaRPr sz="80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調達金額</a:t>
                      </a:r>
                      <a:r>
                        <a:rPr lang="ja-JP" sz="800">
                          <a:solidFill>
                            <a:schemeClr val="dk1"/>
                          </a:solidFill>
                          <a:latin typeface="Meiryo"/>
                          <a:ea typeface="Meiryo"/>
                          <a:cs typeface="Meiryo"/>
                          <a:sym typeface="Meiryo"/>
                        </a:rPr>
                        <a:t>：1.8</a:t>
                      </a:r>
                      <a:r>
                        <a:rPr lang="ja-JP" sz="800" u="none" strike="noStrike" cap="none">
                          <a:solidFill>
                            <a:schemeClr val="dk1"/>
                          </a:solidFill>
                          <a:latin typeface="Meiryo"/>
                          <a:ea typeface="Meiryo"/>
                          <a:cs typeface="Meiryo"/>
                          <a:sym typeface="Meiryo"/>
                        </a:rPr>
                        <a:t>億円（外部投資家ポスト4.8億)</a:t>
                      </a:r>
                      <a:endParaRPr sz="80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株主特典：本ブランドFC１店舗出店権利</a:t>
                      </a:r>
                      <a:endParaRPr sz="80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　　　　　オーナー専用(優先)個室確保、フランス視察</a:t>
                      </a:r>
                      <a:endParaRPr sz="80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　　　　　店内飲食50％オフ（ワインボトル除く）</a:t>
                      </a: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graphicFrame>
        <p:nvGraphicFramePr>
          <p:cNvPr id="323" name="Google Shape;323;g372ef0ef644_0_10"/>
          <p:cNvGraphicFramePr/>
          <p:nvPr/>
        </p:nvGraphicFramePr>
        <p:xfrm>
          <a:off x="4822494" y="790243"/>
          <a:ext cx="3000000" cy="3000000"/>
        </p:xfrm>
        <a:graphic>
          <a:graphicData uri="http://schemas.openxmlformats.org/drawingml/2006/table">
            <a:tbl>
              <a:tblPr>
                <a:noFill/>
                <a:tableStyleId>{676CC8E9-4DEB-487B-9015-B81E7DF3C228}</a:tableStyleId>
              </a:tblPr>
              <a:tblGrid>
                <a:gridCol w="998100">
                  <a:extLst>
                    <a:ext uri="{9D8B030D-6E8A-4147-A177-3AD203B41FA5}">
                      <a16:colId xmlns:a16="http://schemas.microsoft.com/office/drawing/2014/main" val="20000"/>
                    </a:ext>
                  </a:extLst>
                </a:gridCol>
                <a:gridCol w="2882400">
                  <a:extLst>
                    <a:ext uri="{9D8B030D-6E8A-4147-A177-3AD203B41FA5}">
                      <a16:colId xmlns:a16="http://schemas.microsoft.com/office/drawing/2014/main" val="20001"/>
                    </a:ext>
                  </a:extLst>
                </a:gridCol>
              </a:tblGrid>
              <a:tr h="547550">
                <a:tc>
                  <a:txBody>
                    <a:bodyPr/>
                    <a:lstStyle/>
                    <a:p>
                      <a:pPr marL="0" marR="0" lvl="0" indent="0" algn="ctr" rtl="0">
                        <a:lnSpc>
                          <a:spcPct val="100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契約金</a:t>
                      </a:r>
                      <a:endParaRPr sz="11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00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3店舗　　　：3,000万円（東京・大阪・札幌）</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以下7店舗　：3,500万円 ※10店舗超の出店予定</a:t>
                      </a: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92825">
                <a:tc>
                  <a:txBody>
                    <a:bodyPr/>
                    <a:lstStyle/>
                    <a:p>
                      <a:pPr marL="0" marR="0" lvl="0" indent="0" algn="ctr" rtl="0">
                        <a:lnSpc>
                          <a:spcPct val="100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契約期間</a:t>
                      </a:r>
                      <a:endParaRPr sz="11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00000"/>
                        </a:lnSpc>
                        <a:spcBef>
                          <a:spcPts val="0"/>
                        </a:spcBef>
                        <a:spcAft>
                          <a:spcPts val="0"/>
                        </a:spcAft>
                        <a:buClr>
                          <a:schemeClr val="dk1"/>
                        </a:buClr>
                        <a:buSzPts val="1500"/>
                        <a:buFont typeface="Arial"/>
                        <a:buNone/>
                      </a:pPr>
                      <a:r>
                        <a:rPr lang="ja-JP" sz="800" u="none" strike="noStrike" cap="none">
                          <a:solidFill>
                            <a:schemeClr val="dk1"/>
                          </a:solidFill>
                          <a:latin typeface="Meiryo"/>
                          <a:ea typeface="Meiryo"/>
                          <a:cs typeface="Meiryo"/>
                          <a:sym typeface="Meiryo"/>
                        </a:rPr>
                        <a:t>5年自動更新（10年以上想定）</a:t>
                      </a:r>
                      <a:endParaRPr sz="800" u="none" strike="noStrike" cap="none">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86975">
                <a:tc>
                  <a:txBody>
                    <a:bodyPr/>
                    <a:lstStyle/>
                    <a:p>
                      <a:pPr marL="0" marR="0" lvl="0" indent="0" algn="ctr" rtl="0">
                        <a:lnSpc>
                          <a:spcPct val="100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ロイヤリティ</a:t>
                      </a:r>
                      <a:endParaRPr sz="8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売上に対し、ブーランジェリー4.0％</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chemeClr val="dk1"/>
                        </a:buClr>
                        <a:buSzPts val="1500"/>
                        <a:buFont typeface="Arial"/>
                        <a:buNone/>
                      </a:pPr>
                      <a:r>
                        <a:rPr lang="ja-JP" sz="800" u="none" strike="noStrike" cap="none">
                          <a:solidFill>
                            <a:schemeClr val="dk1"/>
                          </a:solidFill>
                          <a:latin typeface="Meiryo"/>
                          <a:ea typeface="Meiryo"/>
                          <a:cs typeface="Meiryo"/>
                          <a:sym typeface="Meiryo"/>
                        </a:rPr>
                        <a:t>　　　　　　ブラッスリー（ビストロ）4.0％支払</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chemeClr val="dk1"/>
                        </a:buClr>
                        <a:buSzPts val="1500"/>
                        <a:buFont typeface="Arial"/>
                        <a:buNone/>
                      </a:pPr>
                      <a:r>
                        <a:rPr lang="ja-JP" sz="800" u="none" strike="noStrike" cap="none">
                          <a:solidFill>
                            <a:schemeClr val="dk1"/>
                          </a:solidFill>
                          <a:latin typeface="Meiryo"/>
                          <a:ea typeface="Meiryo"/>
                          <a:cs typeface="Meiryo"/>
                          <a:sym typeface="Meiryo"/>
                        </a:rPr>
                        <a:t>ＦＣ加盟店は、上記に1.0%をアドオン</a:t>
                      </a: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554275">
                <a:tc>
                  <a:txBody>
                    <a:bodyPr/>
                    <a:lstStyle/>
                    <a:p>
                      <a:pPr marL="0" marR="0" lvl="0" indent="0" algn="ctr" rtl="0">
                        <a:lnSpc>
                          <a:spcPct val="100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出店エリア</a:t>
                      </a:r>
                      <a:endParaRPr sz="8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1店舗目　　：六本木ミッドタウン</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2店舗目以降：東京1店舗＋政令指定都市9か所</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600"/>
                        <a:buFont typeface="Arial"/>
                        <a:buNone/>
                      </a:pPr>
                      <a:r>
                        <a:rPr lang="ja-JP" sz="600" u="none" strike="noStrike" cap="none">
                          <a:solidFill>
                            <a:srgbClr val="888888"/>
                          </a:solidFill>
                          <a:latin typeface="Meiryo"/>
                          <a:ea typeface="Meiryo"/>
                          <a:cs typeface="Meiryo"/>
                          <a:sym typeface="Meiryo"/>
                        </a:rPr>
                        <a:t>　札幌・仙台・横浜・大宮・千葉・名古屋・京都・大阪・博多等の想定</a:t>
                      </a:r>
                      <a:endParaRPr sz="600" u="none" strike="noStrike" cap="none">
                        <a:solidFill>
                          <a:srgbClr val="888888"/>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460100">
                <a:tc>
                  <a:txBody>
                    <a:bodyPr/>
                    <a:lstStyle/>
                    <a:p>
                      <a:pPr marL="0" marR="0" lvl="0" indent="0" algn="ctr" rtl="0">
                        <a:lnSpc>
                          <a:spcPct val="100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店舗規模</a:t>
                      </a:r>
                      <a:endParaRPr sz="8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80坪前後・賃料320万円/月以下 ※B・C工事負担相談</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chemeClr val="dk1"/>
                        </a:buClr>
                        <a:buSzPts val="1500"/>
                        <a:buFont typeface="Arial"/>
                        <a:buNone/>
                      </a:pPr>
                      <a:r>
                        <a:rPr lang="ja-JP" sz="600" u="none" strike="noStrike" cap="none">
                          <a:solidFill>
                            <a:srgbClr val="888888"/>
                          </a:solidFill>
                          <a:latin typeface="Meiryo"/>
                          <a:ea typeface="Meiryo"/>
                          <a:cs typeface="Meiryo"/>
                          <a:sym typeface="Meiryo"/>
                        </a:rPr>
                        <a:t>ブーランジェリー20坪、ワインショップ5-10坪、レストラン45-50坪</a:t>
                      </a:r>
                      <a:endParaRPr sz="600" u="none" strike="noStrike" cap="none">
                        <a:solidFill>
                          <a:srgbClr val="888888"/>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614825">
                <a:tc>
                  <a:txBody>
                    <a:bodyPr/>
                    <a:lstStyle/>
                    <a:p>
                      <a:pPr marL="0" marR="0" lvl="0" indent="0" algn="ctr" rtl="0">
                        <a:lnSpc>
                          <a:spcPct val="100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出店時期</a:t>
                      </a:r>
                      <a:endParaRPr sz="11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0-1店舗　 　 ：　2027年春</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2-5店舗　 　 ：　2030年3月末迄</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6–10店舗　   ：　2033年3月末迄</a:t>
                      </a: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690400">
                <a:tc>
                  <a:txBody>
                    <a:bodyPr/>
                    <a:lstStyle/>
                    <a:p>
                      <a:pPr marL="0" marR="0" lvl="0" indent="0" algn="ctr" rtl="0">
                        <a:lnSpc>
                          <a:spcPct val="100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人材（東京）</a:t>
                      </a:r>
                      <a:endParaRPr sz="8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・シェフ及びシェフアシスタント最低2名は</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　ティエリーマルクス氏より紹介、支配人は共同任命</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・2～3番手シェフやホールスタッフも紹介予定</a:t>
                      </a: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39000">
                <a:tc>
                  <a:txBody>
                    <a:bodyPr/>
                    <a:lstStyle/>
                    <a:p>
                      <a:pPr marL="0" marR="0" lvl="0" indent="0" algn="ctr" rtl="0">
                        <a:lnSpc>
                          <a:spcPct val="100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将来展望</a:t>
                      </a:r>
                      <a:endParaRPr sz="11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00000"/>
                        </a:lnSpc>
                        <a:spcBef>
                          <a:spcPts val="0"/>
                        </a:spcBef>
                        <a:spcAft>
                          <a:spcPts val="0"/>
                        </a:spcAft>
                        <a:buClr>
                          <a:schemeClr val="dk1"/>
                        </a:buClr>
                        <a:buSzPts val="1500"/>
                        <a:buFont typeface="Arial"/>
                        <a:buNone/>
                      </a:pPr>
                      <a:r>
                        <a:rPr lang="ja-JP" sz="800" u="none" strike="noStrike" cap="none">
                          <a:solidFill>
                            <a:schemeClr val="dk1"/>
                          </a:solidFill>
                          <a:latin typeface="Meiryo"/>
                          <a:ea typeface="Meiryo"/>
                          <a:cs typeface="Meiryo"/>
                          <a:sym typeface="Meiryo"/>
                        </a:rPr>
                        <a:t>［温泉付×オーベルジュ］の開業も2030年以降は視野へ</a:t>
                      </a: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bl>
          </a:graphicData>
        </a:graphic>
      </p:graphicFrame>
      <p:sp>
        <p:nvSpPr>
          <p:cNvPr id="324" name="Google Shape;324;g372ef0ef644_0_10"/>
          <p:cNvSpPr/>
          <p:nvPr/>
        </p:nvSpPr>
        <p:spPr>
          <a:xfrm>
            <a:off x="4840908" y="556874"/>
            <a:ext cx="3880500" cy="221100"/>
          </a:xfrm>
          <a:prstGeom prst="rect">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経済条件</a:t>
            </a:r>
            <a:endParaRPr sz="800" b="0" i="0" u="none" strike="noStrike" cap="none">
              <a:solidFill>
                <a:schemeClr val="lt1"/>
              </a:solidFill>
              <a:latin typeface="Meiryo"/>
              <a:ea typeface="Meiryo"/>
              <a:cs typeface="Meiryo"/>
              <a:sym typeface="Meiryo"/>
            </a:endParaRPr>
          </a:p>
        </p:txBody>
      </p:sp>
      <p:sp>
        <p:nvSpPr>
          <p:cNvPr id="325" name="Google Shape;325;g372ef0ef644_0_10"/>
          <p:cNvSpPr/>
          <p:nvPr/>
        </p:nvSpPr>
        <p:spPr>
          <a:xfrm>
            <a:off x="457454" y="556874"/>
            <a:ext cx="3880500" cy="221100"/>
          </a:xfrm>
          <a:prstGeom prst="rect">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店舗概要</a:t>
            </a:r>
            <a:endParaRPr sz="800" b="0" i="0" u="none" strike="noStrike" cap="none">
              <a:solidFill>
                <a:schemeClr val="lt1"/>
              </a:solidFill>
              <a:latin typeface="Meiryo"/>
              <a:ea typeface="Meiryo"/>
              <a:cs typeface="Meiryo"/>
              <a:sym typeface="Meiryo"/>
            </a:endParaRPr>
          </a:p>
        </p:txBody>
      </p:sp>
      <p:sp>
        <p:nvSpPr>
          <p:cNvPr id="326" name="Google Shape;326;g372ef0ef644_0_10"/>
          <p:cNvSpPr txBox="1"/>
          <p:nvPr/>
        </p:nvSpPr>
        <p:spPr>
          <a:xfrm>
            <a:off x="239775" y="211050"/>
            <a:ext cx="29334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rgbClr val="1F1F1F"/>
                </a:solidFill>
                <a:highlight>
                  <a:srgbClr val="FFFFFF"/>
                </a:highlight>
                <a:latin typeface="Meiryo"/>
                <a:ea typeface="Meiryo"/>
                <a:cs typeface="Meiryo"/>
                <a:sym typeface="Meiryo"/>
              </a:rPr>
              <a:t>THIERRY MARX × </a:t>
            </a:r>
            <a:r>
              <a:rPr lang="ja-JP" sz="1400" b="1" i="0" u="none" strike="noStrike" cap="none">
                <a:solidFill>
                  <a:schemeClr val="dk1"/>
                </a:solidFill>
                <a:latin typeface="Meiryo"/>
                <a:ea typeface="Meiryo"/>
                <a:cs typeface="Meiryo"/>
                <a:sym typeface="Meiryo"/>
              </a:rPr>
              <a:t>WineBank </a:t>
            </a:r>
            <a:endParaRPr sz="1400" b="1" i="0" u="none" strike="noStrike" cap="none">
              <a:solidFill>
                <a:schemeClr val="dk1"/>
              </a:solidFill>
              <a:latin typeface="Meiryo"/>
              <a:ea typeface="Meiryo"/>
              <a:cs typeface="Meiryo"/>
              <a:sym typeface="Meiry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5001" name="TextBox 5001"/>
          <p:cNvSpPr txBox="1"/>
          <p:nvPr/>
        </p:nvSpPr>
        <p:spPr>
          <a:xfrm>
            <a:off x="237744" y="210312"/>
            <a:ext cx="7315200" cy="28346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ja-JP" sz="1400" b="1" i="0" u="none" strike="noStrike" cap="none">
                <a:solidFill>
                  <a:srgbClr val="000000"/>
                </a:solidFill>
                <a:latin typeface="Meiryo"/>
                <a:ea typeface="Meiryo"/>
                <a:cs typeface="Meiryo"/>
                <a:sym typeface="Meiryo"/>
              </a:rPr>
              <a:t>六本木ミッドタウン店　単体事業収支</a:t>
            </a:r>
            <a:endParaRPr sz="1400" b="0" i="0" u="none" strike="noStrike" cap="none">
              <a:solidFill>
                <a:srgbClr val="000000"/>
              </a:solidFill>
              <a:latin typeface="Arial"/>
              <a:ea typeface="Arial"/>
              <a:cs typeface="Arial"/>
              <a:sym typeface="Arial"/>
            </a:endParaRPr>
          </a:p>
        </p:txBody>
      </p:sp>
      <p:sp>
        <p:nvSpPr>
          <p:cNvPr id="5002" name="TextBox 5002"/>
          <p:cNvSpPr txBox="1"/>
          <p:nvPr/>
        </p:nvSpPr>
        <p:spPr>
          <a:xfrm>
            <a:off x="256032" y="512064"/>
            <a:ext cx="8412480" cy="164592"/>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750"/>
              <a:buFont typeface="Arial"/>
              <a:buNone/>
            </a:pPr>
            <a:r>
              <a:rPr lang="ja-JP" sz="750" b="0" i="0" u="none" strike="noStrike" cap="none">
                <a:solidFill>
                  <a:srgbClr val="888888"/>
                </a:solidFill>
                <a:latin typeface="Meiryo"/>
                <a:ea typeface="Meiryo"/>
                <a:cs typeface="Meiryo"/>
                <a:sym typeface="Meiryo"/>
              </a:rPr>
              <a:t>2026年10月 事業収支統合モデル準拠　｜　183.59㎡(55.5坪)・114席・年間363日営業</a:t>
            </a:r>
            <a:endParaRPr sz="1400" b="0" i="0" u="none" strike="noStrike" cap="none">
              <a:solidFill>
                <a:srgbClr val="000000"/>
              </a:solidFill>
              <a:latin typeface="Arial"/>
              <a:ea typeface="Arial"/>
              <a:cs typeface="Arial"/>
              <a:sym typeface="Arial"/>
            </a:endParaRPr>
          </a:p>
        </p:txBody>
      </p:sp>
      <p:sp>
        <p:nvSpPr>
          <p:cNvPr id="5003" name="Header 5003"/>
          <p:cNvSpPr/>
          <p:nvPr/>
        </p:nvSpPr>
        <p:spPr>
          <a:xfrm>
            <a:off x="438912" y="786384"/>
            <a:ext cx="397764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満年度ベース 損益計算（百万円）</a:t>
            </a:r>
            <a:endParaRPr sz="1400" b="0" i="0" u="none" strike="noStrike" cap="none">
              <a:solidFill>
                <a:srgbClr val="000000"/>
              </a:solidFill>
              <a:latin typeface="Arial"/>
              <a:ea typeface="Arial"/>
              <a:cs typeface="Arial"/>
              <a:sym typeface="Arial"/>
            </a:endParaRPr>
          </a:p>
        </p:txBody>
      </p:sp>
      <p:graphicFrame>
        <p:nvGraphicFramePr>
          <p:cNvPr id="5004" name="Table 5004"/>
          <p:cNvGraphicFramePr/>
          <p:nvPr/>
        </p:nvGraphicFramePr>
        <p:xfrm>
          <a:off x="438912" y="1060704"/>
          <a:ext cx="3977640" cy="3505810"/>
        </p:xfrm>
        <a:graphic>
          <a:graphicData uri="http://schemas.openxmlformats.org/drawingml/2006/table">
            <a:tbl>
              <a:tblPr>
                <a:noFill/>
                <a:tableStyleId>{23FF2375-F9B8-41A6-9E25-2D63B5D407DD}</a:tableStyleId>
              </a:tblPr>
              <a:tblGrid>
                <a:gridCol w="19659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項目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金額</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対売上比</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売上高</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423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100.0%</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1"/>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売上原価</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127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30.0%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2"/>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人件費</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146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34.5%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3"/>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業務委託費・消耗品他</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4"/>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部門利益</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140</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33.1%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5"/>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広告宣伝費・販売促進費</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6"/>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その他経費</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0.5%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7"/>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水道光熱費</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4.0%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8"/>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GOP（店舗営業総利益）</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115</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27.2%</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9"/>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ロイヤリティ</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4.0%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0"/>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保険・租税公課</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0.7%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1"/>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地代家賃（固定）</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6.3%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2"/>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歩合家賃</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3"/>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修繕維持費（FFE）</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4"/>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EBITDA</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52</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12.2%</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15"/>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減価償却費</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4.9%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6"/>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営業利益</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31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7.3%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17"/>
                  </a:ext>
                </a:extLst>
              </a:tr>
            </a:tbl>
          </a:graphicData>
        </a:graphic>
      </p:graphicFrame>
      <p:sp>
        <p:nvSpPr>
          <p:cNvPr id="5005" name="Header 5005"/>
          <p:cNvSpPr/>
          <p:nvPr/>
        </p:nvSpPr>
        <p:spPr>
          <a:xfrm>
            <a:off x="4818888" y="786384"/>
            <a:ext cx="388620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立上りを織り込んだ年次推移（百万円）</a:t>
            </a:r>
            <a:endParaRPr sz="1400" b="0" i="0" u="none" strike="noStrike" cap="none">
              <a:solidFill>
                <a:srgbClr val="000000"/>
              </a:solidFill>
              <a:latin typeface="Arial"/>
              <a:ea typeface="Arial"/>
              <a:cs typeface="Arial"/>
              <a:sym typeface="Arial"/>
            </a:endParaRPr>
          </a:p>
        </p:txBody>
      </p:sp>
      <p:graphicFrame>
        <p:nvGraphicFramePr>
          <p:cNvPr id="5006" name="Table 5006"/>
          <p:cNvGraphicFramePr/>
          <p:nvPr/>
        </p:nvGraphicFramePr>
        <p:xfrm>
          <a:off x="4818888" y="1060704"/>
          <a:ext cx="3886200" cy="1536192"/>
        </p:xfrm>
        <a:graphic>
          <a:graphicData uri="http://schemas.openxmlformats.org/drawingml/2006/table">
            <a:tbl>
              <a:tblPr>
                <a:noFill/>
                <a:tableStyleId>{23FF2375-F9B8-41A6-9E25-2D63B5D407DD}</a:tableStyleId>
              </a:tblPr>
              <a:tblGrid>
                <a:gridCol w="1325880">
                  <a:extLst>
                    <a:ext uri="{9D8B030D-6E8A-4147-A177-3AD203B41FA5}">
                      <a16:colId xmlns:a16="http://schemas.microsoft.com/office/drawing/2014/main" val="20000"/>
                    </a:ext>
                  </a:extLst>
                </a:gridCol>
                <a:gridCol w="850392">
                  <a:extLst>
                    <a:ext uri="{9D8B030D-6E8A-4147-A177-3AD203B41FA5}">
                      <a16:colId xmlns:a16="http://schemas.microsoft.com/office/drawing/2014/main" val="20001"/>
                    </a:ext>
                  </a:extLst>
                </a:gridCol>
                <a:gridCol w="850392">
                  <a:extLst>
                    <a:ext uri="{9D8B030D-6E8A-4147-A177-3AD203B41FA5}">
                      <a16:colId xmlns:a16="http://schemas.microsoft.com/office/drawing/2014/main" val="20002"/>
                    </a:ext>
                  </a:extLst>
                </a:gridCol>
                <a:gridCol w="859536">
                  <a:extLst>
                    <a:ext uri="{9D8B030D-6E8A-4147-A177-3AD203B41FA5}">
                      <a16:colId xmlns:a16="http://schemas.microsoft.com/office/drawing/2014/main" val="20003"/>
                    </a:ext>
                  </a:extLst>
                </a:gridCol>
              </a:tblGrid>
              <a:tr h="219456">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項目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1年目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2年目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3年目以降</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219456">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売上立上り率</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90%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98%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1"/>
                  </a:ext>
                </a:extLst>
              </a:tr>
              <a:tr h="219456">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売上高</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381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415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423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2"/>
                  </a:ext>
                </a:extLst>
              </a:tr>
              <a:tr h="219456">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EBITDA</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46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56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63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3"/>
                  </a:ext>
                </a:extLst>
              </a:tr>
              <a:tr h="219456">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EBITDA率</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12.1%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13.6%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15.0%</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4"/>
                  </a:ext>
                </a:extLst>
              </a:tr>
              <a:tr h="219456">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営業利益</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25</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35</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43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5"/>
                  </a:ext>
                </a:extLst>
              </a:tr>
              <a:tr h="219456">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営業利益率</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6.6%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8.6%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10.1%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6"/>
                  </a:ext>
                </a:extLst>
              </a:tr>
            </a:tbl>
          </a:graphicData>
        </a:graphic>
      </p:graphicFrame>
      <p:sp>
        <p:nvSpPr>
          <p:cNvPr id="5007" name="Header 5007"/>
          <p:cNvSpPr/>
          <p:nvPr/>
        </p:nvSpPr>
        <p:spPr>
          <a:xfrm>
            <a:off x="4818888" y="2743200"/>
            <a:ext cx="388620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主要前提</a:t>
            </a:r>
            <a:endParaRPr sz="1400" b="0" i="0" u="none" strike="noStrike" cap="none">
              <a:solidFill>
                <a:srgbClr val="000000"/>
              </a:solidFill>
              <a:latin typeface="Arial"/>
              <a:ea typeface="Arial"/>
              <a:cs typeface="Arial"/>
              <a:sym typeface="Arial"/>
            </a:endParaRPr>
          </a:p>
        </p:txBody>
      </p:sp>
      <p:sp>
        <p:nvSpPr>
          <p:cNvPr id="5008" name="TextBox 5008"/>
          <p:cNvSpPr txBox="1"/>
          <p:nvPr/>
        </p:nvSpPr>
        <p:spPr>
          <a:xfrm>
            <a:off x="4892040" y="3035808"/>
            <a:ext cx="3794760" cy="1554480"/>
          </a:xfrm>
          <a:prstGeom prst="rect">
            <a:avLst/>
          </a:prstGeom>
          <a:noFill/>
          <a:ln>
            <a:noFill/>
          </a:ln>
        </p:spPr>
        <p:txBody>
          <a:bodyPr spcFirstLastPara="1" wrap="square" lIns="0" tIns="0" rIns="0" bIns="0" anchor="t" anchorCtr="0">
            <a:spAutoFit/>
          </a:bodyPr>
          <a:lstStyle/>
          <a:p>
            <a:pPr marL="0" marR="0" lvl="0" indent="0" algn="l" rtl="0">
              <a:lnSpc>
                <a:spcPct val="13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席数114席（カウンター14・ダイニング23・個室25・テラス52）</a:t>
            </a:r>
            <a:endParaRPr sz="1400" b="0" i="0" u="none" strike="noStrike" cap="none">
              <a:solidFill>
                <a:srgbClr val="000000"/>
              </a:solidFill>
              <a:latin typeface="Arial"/>
              <a:ea typeface="Arial"/>
              <a:cs typeface="Arial"/>
              <a:sym typeface="Arial"/>
            </a:endParaRPr>
          </a:p>
          <a:p>
            <a:pPr marL="0" marR="0" lvl="0" indent="0" algn="l" rtl="0">
              <a:lnSpc>
                <a:spcPct val="13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客単価　ランチ 4,000円／カフェ 2,500円</a:t>
            </a:r>
            <a:endParaRPr sz="1400" b="0" i="0" u="none" strike="noStrike" cap="none">
              <a:solidFill>
                <a:srgbClr val="000000"/>
              </a:solidFill>
              <a:latin typeface="Arial"/>
              <a:ea typeface="Arial"/>
              <a:cs typeface="Arial"/>
              <a:sym typeface="Arial"/>
            </a:endParaRPr>
          </a:p>
          <a:p>
            <a:pPr marL="0" marR="0" lvl="0" indent="0" algn="l" rtl="0">
              <a:lnSpc>
                <a:spcPct val="13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ディナー15,000円（料理9,000＋飲料6,000）・テラス10,000円</a:t>
            </a:r>
            <a:endParaRPr sz="1400" b="0" i="0" u="none" strike="noStrike" cap="none">
              <a:solidFill>
                <a:srgbClr val="000000"/>
              </a:solidFill>
              <a:latin typeface="Arial"/>
              <a:ea typeface="Arial"/>
              <a:cs typeface="Arial"/>
              <a:sym typeface="Arial"/>
            </a:endParaRPr>
          </a:p>
          <a:p>
            <a:pPr marL="0" marR="0" lvl="0" indent="0" algn="l" rtl="0">
              <a:lnSpc>
                <a:spcPct val="13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席効率 店内75%・テラス50%／延べ席回転率 1.50回/日</a:t>
            </a:r>
            <a:endParaRPr sz="1400" b="0" i="0" u="none" strike="noStrike" cap="none">
              <a:solidFill>
                <a:srgbClr val="000000"/>
              </a:solidFill>
              <a:latin typeface="Arial"/>
              <a:ea typeface="Arial"/>
              <a:cs typeface="Arial"/>
              <a:sym typeface="Arial"/>
            </a:endParaRPr>
          </a:p>
          <a:p>
            <a:pPr marL="0" marR="0" lvl="0" indent="0" algn="l" rtl="0">
              <a:lnSpc>
                <a:spcPct val="13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日商 約117万円／月商 約3,528万円／年商 4.23億円</a:t>
            </a:r>
            <a:endParaRPr sz="1400" b="0" i="0" u="none" strike="noStrike" cap="none">
              <a:solidFill>
                <a:srgbClr val="000000"/>
              </a:solidFill>
              <a:latin typeface="Arial"/>
              <a:ea typeface="Arial"/>
              <a:cs typeface="Arial"/>
              <a:sym typeface="Arial"/>
            </a:endParaRPr>
          </a:p>
          <a:p>
            <a:pPr marL="0" marR="0" lvl="0" indent="0" algn="l" rtl="0">
              <a:lnSpc>
                <a:spcPct val="13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人員26名。売上原価30.0%・人件費34.5%</a:t>
            </a:r>
            <a:endParaRPr sz="1400" b="0" i="0" u="none" strike="noStrike" cap="none">
              <a:solidFill>
                <a:srgbClr val="000000"/>
              </a:solidFill>
              <a:latin typeface="Arial"/>
              <a:ea typeface="Arial"/>
              <a:cs typeface="Arial"/>
              <a:sym typeface="Arial"/>
            </a:endParaRPr>
          </a:p>
          <a:p>
            <a:pPr marL="0" marR="0" lvl="0" indent="0" algn="l" rtl="0">
              <a:lnSpc>
                <a:spcPct val="13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ロイヤリティ4.0%・歩合家賃7%（閾値超過分）・地代家賃 月222万円</a:t>
            </a:r>
            <a:endParaRPr sz="1400" b="0" i="0" u="none" strike="noStrike" cap="none">
              <a:solidFill>
                <a:srgbClr val="000000"/>
              </a:solidFill>
              <a:latin typeface="Arial"/>
              <a:ea typeface="Arial"/>
              <a:cs typeface="Arial"/>
              <a:sym typeface="Arial"/>
            </a:endParaRPr>
          </a:p>
          <a:p>
            <a:pPr marL="0" marR="0" lvl="0" indent="0" algn="l" rtl="0">
              <a:lnSpc>
                <a:spcPct val="13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人件費は2年目33.5%→3年目32.5%へ段階改善（本部集中・多能工化）</a:t>
            </a:r>
            <a:endParaRPr sz="1400" b="0" i="0" u="none" strike="noStrike" cap="none">
              <a:solidFill>
                <a:srgbClr val="000000"/>
              </a:solidFill>
              <a:latin typeface="Arial"/>
              <a:ea typeface="Arial"/>
              <a:cs typeface="Arial"/>
              <a:sym typeface="Arial"/>
            </a:endParaRPr>
          </a:p>
          <a:p>
            <a:pPr marL="0" marR="0" lvl="0" indent="0" algn="l" rtl="0">
              <a:lnSpc>
                <a:spcPct val="135000"/>
              </a:lnSpc>
              <a:spcBef>
                <a:spcPts val="0"/>
              </a:spcBef>
              <a:spcAft>
                <a:spcPts val="0"/>
              </a:spcAft>
              <a:buClr>
                <a:srgbClr val="000000"/>
              </a:buClr>
              <a:buSzPts val="700"/>
              <a:buFont typeface="Arial"/>
              <a:buNone/>
            </a:pPr>
            <a:r>
              <a:rPr lang="ja-JP" sz="700" b="0" i="0" u="none" strike="noStrike" cap="none">
                <a:solidFill>
                  <a:srgbClr val="C00000"/>
                </a:solidFill>
                <a:latin typeface="Meiryo"/>
                <a:ea typeface="Meiryo"/>
                <a:cs typeface="Meiryo"/>
                <a:sym typeface="Meiryo"/>
              </a:rPr>
              <a:t>● 内装1億円は家主立替・10年分割返済（資産計上・減価償却は自社）</a:t>
            </a:r>
            <a:endParaRPr sz="1400" b="0" i="0" u="none" strike="noStrike" cap="none">
              <a:solidFill>
                <a:srgbClr val="000000"/>
              </a:solidFill>
              <a:latin typeface="Arial"/>
              <a:ea typeface="Arial"/>
              <a:cs typeface="Arial"/>
              <a:sym typeface="Arial"/>
            </a:endParaRPr>
          </a:p>
        </p:txBody>
      </p:sp>
      <p:sp>
        <p:nvSpPr>
          <p:cNvPr id="5009" name="TextBox 5009"/>
          <p:cNvSpPr txBox="1"/>
          <p:nvPr/>
        </p:nvSpPr>
        <p:spPr>
          <a:xfrm>
            <a:off x="438912" y="4663440"/>
            <a:ext cx="8229600" cy="14630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 満年度ベースは店内席効率75%・ディナー店内回転率0.90回の標準値。新店初年度は保守的に売上90%で計画。金利・税金は含まない。</a:t>
            </a:r>
            <a:endParaRPr sz="1400" b="0" i="0" u="none" strike="noStrike" cap="none">
              <a:solidFill>
                <a:srgbClr val="000000"/>
              </a:solidFill>
              <a:latin typeface="Arial"/>
              <a:ea typeface="Arial"/>
              <a:cs typeface="Arial"/>
              <a:sym typeface="Arial"/>
            </a:endParaRPr>
          </a:p>
        </p:txBody>
      </p:sp>
      <p:sp>
        <p:nvSpPr>
          <p:cNvPr id="5010" name="TextBox 5010"/>
          <p:cNvSpPr txBox="1"/>
          <p:nvPr/>
        </p:nvSpPr>
        <p:spPr>
          <a:xfrm>
            <a:off x="54864" y="4873752"/>
            <a:ext cx="822960" cy="128016"/>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CONFIDENTIAL</a:t>
            </a:r>
            <a:endParaRPr sz="1400" b="0" i="0" u="none" strike="noStrike" cap="none">
              <a:solidFill>
                <a:srgbClr val="000000"/>
              </a:solidFill>
              <a:latin typeface="Arial"/>
              <a:ea typeface="Arial"/>
              <a:cs typeface="Arial"/>
              <a:sym typeface="Arial"/>
            </a:endParaRPr>
          </a:p>
        </p:txBody>
      </p:sp>
      <p:sp>
        <p:nvSpPr>
          <p:cNvPr id="5011" name="Slide Number 5011"/>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a:t>
            </a:fld>
            <a:endParaRPr sz="7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5012" name="TextBox 5012"/>
          <p:cNvSpPr txBox="1"/>
          <p:nvPr/>
        </p:nvSpPr>
        <p:spPr>
          <a:xfrm>
            <a:off x="237744" y="210312"/>
            <a:ext cx="7315200" cy="28346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ja-JP" sz="1400" b="1" i="0" u="none" strike="noStrike" cap="none">
                <a:solidFill>
                  <a:srgbClr val="000000"/>
                </a:solidFill>
                <a:latin typeface="Meiryo"/>
                <a:ea typeface="Meiryo"/>
                <a:cs typeface="Meiryo"/>
                <a:sym typeface="Meiryo"/>
              </a:rPr>
              <a:t>5か年事業計画　事業収支（連結）</a:t>
            </a:r>
            <a:endParaRPr sz="1400" b="0" i="0" u="none" strike="noStrike" cap="none">
              <a:solidFill>
                <a:srgbClr val="000000"/>
              </a:solidFill>
              <a:latin typeface="Arial"/>
              <a:ea typeface="Arial"/>
              <a:cs typeface="Arial"/>
              <a:sym typeface="Arial"/>
            </a:endParaRPr>
          </a:p>
        </p:txBody>
      </p:sp>
      <p:sp>
        <p:nvSpPr>
          <p:cNvPr id="5013" name="TextBox 5013"/>
          <p:cNvSpPr txBox="1"/>
          <p:nvPr/>
        </p:nvSpPr>
        <p:spPr>
          <a:xfrm>
            <a:off x="256032" y="512064"/>
            <a:ext cx="8412480" cy="164592"/>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750"/>
              <a:buFont typeface="Arial"/>
              <a:buNone/>
            </a:pPr>
            <a:r>
              <a:rPr lang="ja-JP" sz="750" b="0" i="0" u="none" strike="noStrike" cap="none">
                <a:solidFill>
                  <a:srgbClr val="888888"/>
                </a:solidFill>
                <a:latin typeface="Meiryo"/>
                <a:ea typeface="Meiryo"/>
                <a:cs typeface="Meiryo"/>
                <a:sym typeface="Meiryo"/>
              </a:rPr>
              <a:t>2027年4月 六本木開業 → 2028年 札幌・大阪 → 2029年 首都圏・政令指定都市 → 2030年以降 リゾート含め年2店舗</a:t>
            </a:r>
            <a:endParaRPr sz="1400" b="0" i="0" u="none" strike="noStrike" cap="none">
              <a:solidFill>
                <a:srgbClr val="000000"/>
              </a:solidFill>
              <a:latin typeface="Arial"/>
              <a:ea typeface="Arial"/>
              <a:cs typeface="Arial"/>
              <a:sym typeface="Arial"/>
            </a:endParaRPr>
          </a:p>
        </p:txBody>
      </p:sp>
      <p:sp>
        <p:nvSpPr>
          <p:cNvPr id="5014" name="Header 5014"/>
          <p:cNvSpPr/>
          <p:nvPr/>
        </p:nvSpPr>
        <p:spPr>
          <a:xfrm>
            <a:off x="438912" y="822960"/>
            <a:ext cx="562356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連結損益計画（百万円）</a:t>
            </a:r>
            <a:endParaRPr sz="1400" b="0" i="0" u="none" strike="noStrike" cap="none">
              <a:solidFill>
                <a:srgbClr val="000000"/>
              </a:solidFill>
              <a:latin typeface="Arial"/>
              <a:ea typeface="Arial"/>
              <a:cs typeface="Arial"/>
              <a:sym typeface="Arial"/>
            </a:endParaRPr>
          </a:p>
        </p:txBody>
      </p:sp>
      <p:graphicFrame>
        <p:nvGraphicFramePr>
          <p:cNvPr id="5015" name="Table 5015"/>
          <p:cNvGraphicFramePr/>
          <p:nvPr/>
        </p:nvGraphicFramePr>
        <p:xfrm>
          <a:off x="438912" y="1097280"/>
          <a:ext cx="5623560" cy="3439973"/>
        </p:xfrm>
        <a:graphic>
          <a:graphicData uri="http://schemas.openxmlformats.org/drawingml/2006/table">
            <a:tbl>
              <a:tblPr>
                <a:noFill/>
                <a:tableStyleId>{23FF2375-F9B8-41A6-9E25-2D63B5D407DD}</a:tableStyleId>
              </a:tblPr>
              <a:tblGrid>
                <a:gridCol w="1783080">
                  <a:extLst>
                    <a:ext uri="{9D8B030D-6E8A-4147-A177-3AD203B41FA5}">
                      <a16:colId xmlns:a16="http://schemas.microsoft.com/office/drawing/2014/main" val="20000"/>
                    </a:ext>
                  </a:extLst>
                </a:gridCol>
                <a:gridCol w="768096">
                  <a:extLst>
                    <a:ext uri="{9D8B030D-6E8A-4147-A177-3AD203B41FA5}">
                      <a16:colId xmlns:a16="http://schemas.microsoft.com/office/drawing/2014/main" val="20001"/>
                    </a:ext>
                  </a:extLst>
                </a:gridCol>
                <a:gridCol w="768096">
                  <a:extLst>
                    <a:ext uri="{9D8B030D-6E8A-4147-A177-3AD203B41FA5}">
                      <a16:colId xmlns:a16="http://schemas.microsoft.com/office/drawing/2014/main" val="20002"/>
                    </a:ext>
                  </a:extLst>
                </a:gridCol>
                <a:gridCol w="768096">
                  <a:extLst>
                    <a:ext uri="{9D8B030D-6E8A-4147-A177-3AD203B41FA5}">
                      <a16:colId xmlns:a16="http://schemas.microsoft.com/office/drawing/2014/main" val="20003"/>
                    </a:ext>
                  </a:extLst>
                </a:gridCol>
                <a:gridCol w="768096">
                  <a:extLst>
                    <a:ext uri="{9D8B030D-6E8A-4147-A177-3AD203B41FA5}">
                      <a16:colId xmlns:a16="http://schemas.microsoft.com/office/drawing/2014/main" val="20004"/>
                    </a:ext>
                  </a:extLst>
                </a:gridCol>
                <a:gridCol w="768096">
                  <a:extLst>
                    <a:ext uri="{9D8B030D-6E8A-4147-A177-3AD203B41FA5}">
                      <a16:colId xmlns:a16="http://schemas.microsoft.com/office/drawing/2014/main" val="20005"/>
                    </a:ext>
                  </a:extLst>
                </a:gridCol>
              </a:tblGrid>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項目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FY2027</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FY2028</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FY2029</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FY2030</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FY2031</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期末店舗数</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5</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7</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9</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1"/>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売上高</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381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891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1,729</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2,576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3,423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2"/>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売上原価</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114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267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519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773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1,027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3"/>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人件費</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131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303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580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855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1,130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4"/>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業務委託費・消耗品他</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38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55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72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5"/>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部門利益</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126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300</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593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893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1,194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6"/>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販促費・水道光熱費等</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52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99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145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192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7"/>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GOP（店舗営業総利益）</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104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248</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494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748</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1,002</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8"/>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ロイヤリティ</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36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69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103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137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9"/>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地代家賃・歩合家賃</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30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70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136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202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268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0"/>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保険・租税公課・修繕費</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55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82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110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1"/>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店舗EBITDA計</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46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114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234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361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487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2"/>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本部費</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40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48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55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3"/>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連結EBITDA</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31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86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194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313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432</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14"/>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EBITDA率</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8.2%</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9.6%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11.2%</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12.1%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12.6%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15"/>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減価償却費</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47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88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129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169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6"/>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営業利益</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10</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39</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106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184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263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17"/>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営業利益率</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2.7%</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4.4%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6.1%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7.1%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7.7%</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18"/>
                  </a:ext>
                </a:extLst>
              </a:tr>
            </a:tbl>
          </a:graphicData>
        </a:graphic>
      </p:graphicFrame>
      <p:sp>
        <p:nvSpPr>
          <p:cNvPr id="5016" name="Header 5016"/>
          <p:cNvSpPr/>
          <p:nvPr/>
        </p:nvSpPr>
        <p:spPr>
          <a:xfrm>
            <a:off x="6309360" y="822960"/>
            <a:ext cx="2395728"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計画のポイント</a:t>
            </a:r>
            <a:endParaRPr sz="1400" b="0" i="0" u="none" strike="noStrike" cap="none">
              <a:solidFill>
                <a:srgbClr val="000000"/>
              </a:solidFill>
              <a:latin typeface="Arial"/>
              <a:ea typeface="Arial"/>
              <a:cs typeface="Arial"/>
              <a:sym typeface="Arial"/>
            </a:endParaRPr>
          </a:p>
        </p:txBody>
      </p:sp>
      <p:sp>
        <p:nvSpPr>
          <p:cNvPr id="5017" name="TextBox 5017"/>
          <p:cNvSpPr txBox="1"/>
          <p:nvPr/>
        </p:nvSpPr>
        <p:spPr>
          <a:xfrm>
            <a:off x="6382512" y="1115568"/>
            <a:ext cx="2286000" cy="219456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1号店はFY2027（開業初年度）から</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売上立上り90%で保守的に計上</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FY2029に連結EBITDA率10%超（11.2%）</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FY2029に営業利益率5%超（6.1%）</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FY2031はEBITDA率12.6%</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営業利益率7.7%</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成熟単店はEBITDA率15.0%</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営業利益率10.1%</a:t>
            </a:r>
            <a:endParaRPr sz="1400" b="0" i="0" u="none" strike="noStrike" cap="none">
              <a:solidFill>
                <a:srgbClr val="000000"/>
              </a:solidFill>
              <a:latin typeface="Arial"/>
              <a:ea typeface="Arial"/>
              <a:cs typeface="Arial"/>
              <a:sym typeface="Arial"/>
            </a:endParaRPr>
          </a:p>
        </p:txBody>
      </p:sp>
      <p:sp>
        <p:nvSpPr>
          <p:cNvPr id="5018" name="Header 5018"/>
          <p:cNvSpPr/>
          <p:nvPr/>
        </p:nvSpPr>
        <p:spPr>
          <a:xfrm>
            <a:off x="6309360" y="3429000"/>
            <a:ext cx="2395728"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経費改善レバー</a:t>
            </a:r>
            <a:endParaRPr sz="1400" b="0" i="0" u="none" strike="noStrike" cap="none">
              <a:solidFill>
                <a:srgbClr val="000000"/>
              </a:solidFill>
              <a:latin typeface="Arial"/>
              <a:ea typeface="Arial"/>
              <a:cs typeface="Arial"/>
              <a:sym typeface="Arial"/>
            </a:endParaRPr>
          </a:p>
        </p:txBody>
      </p:sp>
      <p:sp>
        <p:nvSpPr>
          <p:cNvPr id="5019" name="TextBox 5019"/>
          <p:cNvSpPr txBox="1"/>
          <p:nvPr/>
        </p:nvSpPr>
        <p:spPr>
          <a:xfrm>
            <a:off x="6382512" y="3721608"/>
            <a:ext cx="2286000" cy="914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人件費 34.5% → 32.5%</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本部集中化・多能工化</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水道光熱 4.0% → 3.6%</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設備運用の標準化</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業務委託・消耗品 2.4% → 2.0%</a:t>
            </a:r>
            <a:endParaRPr sz="1400" b="0" i="0" u="none" strike="noStrike" cap="none">
              <a:solidFill>
                <a:srgbClr val="000000"/>
              </a:solidFill>
              <a:latin typeface="Arial"/>
              <a:ea typeface="Arial"/>
              <a:cs typeface="Arial"/>
              <a:sym typeface="Arial"/>
            </a:endParaRPr>
          </a:p>
        </p:txBody>
      </p:sp>
      <p:sp>
        <p:nvSpPr>
          <p:cNvPr id="5020" name="TextBox 5020"/>
          <p:cNvSpPr txBox="1"/>
          <p:nvPr/>
        </p:nvSpPr>
        <p:spPr>
          <a:xfrm>
            <a:off x="438912" y="4663440"/>
            <a:ext cx="8229600" cy="14630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 FY＝4月〜3月。新店初年度は売上90%・開業7.5か月で保守的に計上。ロイヤリティ4%・歩合家賃7%・地代家賃は契約条件どおり全店適用。金利・税金は含まない。</a:t>
            </a:r>
            <a:endParaRPr sz="1400" b="0" i="0" u="none" strike="noStrike" cap="none">
              <a:solidFill>
                <a:srgbClr val="000000"/>
              </a:solidFill>
              <a:latin typeface="Arial"/>
              <a:ea typeface="Arial"/>
              <a:cs typeface="Arial"/>
              <a:sym typeface="Arial"/>
            </a:endParaRPr>
          </a:p>
        </p:txBody>
      </p:sp>
      <p:sp>
        <p:nvSpPr>
          <p:cNvPr id="5021" name="TextBox 5021"/>
          <p:cNvSpPr txBox="1"/>
          <p:nvPr/>
        </p:nvSpPr>
        <p:spPr>
          <a:xfrm>
            <a:off x="54864" y="4873752"/>
            <a:ext cx="822960" cy="128016"/>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CONFIDENTIAL</a:t>
            </a:r>
            <a:endParaRPr sz="1400" b="0" i="0" u="none" strike="noStrike" cap="none">
              <a:solidFill>
                <a:srgbClr val="000000"/>
              </a:solidFill>
              <a:latin typeface="Arial"/>
              <a:ea typeface="Arial"/>
              <a:cs typeface="Arial"/>
              <a:sym typeface="Arial"/>
            </a:endParaRPr>
          </a:p>
        </p:txBody>
      </p:sp>
      <p:sp>
        <p:nvSpPr>
          <p:cNvPr id="5022" name="Slide Number 5022"/>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a:t>
            </a:fld>
            <a:endParaRPr sz="7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g35c92f92476_0_2"/>
          <p:cNvSpPr txBox="1"/>
          <p:nvPr/>
        </p:nvSpPr>
        <p:spPr>
          <a:xfrm>
            <a:off x="1952170" y="2119949"/>
            <a:ext cx="5231100" cy="510000"/>
          </a:xfrm>
          <a:prstGeom prst="rect">
            <a:avLst/>
          </a:prstGeom>
          <a:noFill/>
          <a:ln>
            <a:noFill/>
          </a:ln>
        </p:spPr>
        <p:txBody>
          <a:bodyPr spcFirstLastPara="1" wrap="square" lIns="78225" tIns="39125" rIns="78225" bIns="39125" anchor="t" anchorCtr="0">
            <a:spAutoFit/>
          </a:bodyPr>
          <a:lstStyle/>
          <a:p>
            <a:pPr marL="0" marR="0" lvl="0" indent="0" algn="ctr" rtl="0">
              <a:lnSpc>
                <a:spcPct val="200000"/>
              </a:lnSpc>
              <a:spcBef>
                <a:spcPts val="0"/>
              </a:spcBef>
              <a:spcAft>
                <a:spcPts val="0"/>
              </a:spcAft>
              <a:buClr>
                <a:srgbClr val="000000"/>
              </a:buClr>
              <a:buSzPts val="1800"/>
              <a:buFont typeface="Arial"/>
              <a:buNone/>
            </a:pPr>
            <a:r>
              <a:rPr lang="ja-JP" sz="2800" b="1" i="0" u="none" strike="noStrike" cap="none">
                <a:solidFill>
                  <a:schemeClr val="lt1"/>
                </a:solidFill>
                <a:latin typeface="Meiryo"/>
                <a:ea typeface="Meiryo"/>
                <a:cs typeface="Meiryo"/>
                <a:sym typeface="Meiryo"/>
              </a:rPr>
              <a:t>Appendix</a:t>
            </a:r>
            <a:endParaRPr sz="1400" b="0" i="0" u="none" strike="noStrike" cap="none">
              <a:solidFill>
                <a:srgbClr val="000000"/>
              </a:solidFill>
              <a:latin typeface="Arial"/>
              <a:ea typeface="Arial"/>
              <a:cs typeface="Arial"/>
              <a:sym typeface="Arial"/>
            </a:endParaRPr>
          </a:p>
        </p:txBody>
      </p:sp>
      <p:sp>
        <p:nvSpPr>
          <p:cNvPr id="362" name="Google Shape;362;g35c92f92476_0_2"/>
          <p:cNvSpPr txBox="1">
            <a:spLocks noGrp="1"/>
          </p:cNvSpPr>
          <p:nvPr>
            <p:ph type="sldNum" idx="4294967295"/>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14</a:t>
            </a:fld>
            <a:endParaRPr sz="700"/>
          </a:p>
        </p:txBody>
      </p:sp>
      <p:sp>
        <p:nvSpPr>
          <p:cNvPr id="363" name="Google Shape;363;g35c92f92476_0_2"/>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g34d15c52dd9_0_116"/>
          <p:cNvSpPr txBox="1"/>
          <p:nvPr/>
        </p:nvSpPr>
        <p:spPr>
          <a:xfrm>
            <a:off x="302549" y="287249"/>
            <a:ext cx="20136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chemeClr val="dk1"/>
                </a:solidFill>
                <a:latin typeface="Meiryo"/>
                <a:ea typeface="Meiryo"/>
                <a:cs typeface="Meiryo"/>
                <a:sym typeface="Meiryo"/>
              </a:rPr>
              <a:t>会社概要</a:t>
            </a:r>
            <a:endParaRPr sz="1400" b="1" i="0" u="none" strike="noStrike" cap="none">
              <a:solidFill>
                <a:schemeClr val="dk1"/>
              </a:solidFill>
              <a:latin typeface="Meiryo"/>
              <a:ea typeface="Meiryo"/>
              <a:cs typeface="Meiryo"/>
              <a:sym typeface="Meiryo"/>
            </a:endParaRPr>
          </a:p>
        </p:txBody>
      </p:sp>
      <p:graphicFrame>
        <p:nvGraphicFramePr>
          <p:cNvPr id="369" name="Google Shape;369;g34d15c52dd9_0_116"/>
          <p:cNvGraphicFramePr/>
          <p:nvPr/>
        </p:nvGraphicFramePr>
        <p:xfrm>
          <a:off x="225196" y="763066"/>
          <a:ext cx="3000000" cy="3000000"/>
        </p:xfrm>
        <a:graphic>
          <a:graphicData uri="http://schemas.openxmlformats.org/drawingml/2006/table">
            <a:tbl>
              <a:tblPr>
                <a:noFill/>
                <a:tableStyleId>{676CC8E9-4DEB-487B-9015-B81E7DF3C228}</a:tableStyleId>
              </a:tblPr>
              <a:tblGrid>
                <a:gridCol w="1127025">
                  <a:extLst>
                    <a:ext uri="{9D8B030D-6E8A-4147-A177-3AD203B41FA5}">
                      <a16:colId xmlns:a16="http://schemas.microsoft.com/office/drawing/2014/main" val="20000"/>
                    </a:ext>
                  </a:extLst>
                </a:gridCol>
                <a:gridCol w="403550">
                  <a:extLst>
                    <a:ext uri="{9D8B030D-6E8A-4147-A177-3AD203B41FA5}">
                      <a16:colId xmlns:a16="http://schemas.microsoft.com/office/drawing/2014/main" val="20001"/>
                    </a:ext>
                  </a:extLst>
                </a:gridCol>
                <a:gridCol w="2925325">
                  <a:extLst>
                    <a:ext uri="{9D8B030D-6E8A-4147-A177-3AD203B41FA5}">
                      <a16:colId xmlns:a16="http://schemas.microsoft.com/office/drawing/2014/main" val="20002"/>
                    </a:ext>
                  </a:extLst>
                </a:gridCol>
              </a:tblGrid>
              <a:tr h="316000">
                <a:tc>
                  <a:txBody>
                    <a:bodyPr/>
                    <a:lstStyle/>
                    <a:p>
                      <a:pPr marL="0" marR="0" lvl="0" indent="0" algn="ctr" rtl="0">
                        <a:lnSpc>
                          <a:spcPct val="100000"/>
                        </a:lnSpc>
                        <a:spcBef>
                          <a:spcPts val="0"/>
                        </a:spcBef>
                        <a:spcAft>
                          <a:spcPts val="0"/>
                        </a:spcAft>
                        <a:buClr>
                          <a:srgbClr val="000000"/>
                        </a:buClr>
                        <a:buSzPts val="800"/>
                        <a:buFont typeface="Arial"/>
                        <a:buNone/>
                      </a:pPr>
                      <a:r>
                        <a:rPr lang="ja-JP" sz="900" b="1" u="none" strike="noStrike" cap="none">
                          <a:solidFill>
                            <a:srgbClr val="C68A65"/>
                          </a:solidFill>
                          <a:latin typeface="Meiryo"/>
                          <a:ea typeface="Meiryo"/>
                          <a:cs typeface="Meiryo"/>
                          <a:sym typeface="Meiryo"/>
                        </a:rPr>
                        <a:t>会社名</a:t>
                      </a:r>
                      <a:endParaRPr sz="12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800"/>
                        <a:buFont typeface="Arial"/>
                        <a:buNone/>
                      </a:pPr>
                      <a:r>
                        <a:rPr lang="ja-JP" sz="900" b="0" u="none" strike="noStrike" cap="none">
                          <a:solidFill>
                            <a:schemeClr val="dk1"/>
                          </a:solidFill>
                          <a:latin typeface="Meiryo"/>
                          <a:ea typeface="Meiryo"/>
                          <a:cs typeface="Meiryo"/>
                          <a:sym typeface="Meiryo"/>
                        </a:rPr>
                        <a:t>株式会社WineBank（旧社名：有限会社中村）</a:t>
                      </a:r>
                      <a:endParaRPr sz="900" b="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7350">
                <a:tc>
                  <a:txBody>
                    <a:bodyPr/>
                    <a:lstStyle/>
                    <a:p>
                      <a:pPr marL="0" marR="0" lvl="0" indent="0" algn="ctr" rtl="0">
                        <a:lnSpc>
                          <a:spcPct val="100000"/>
                        </a:lnSpc>
                        <a:spcBef>
                          <a:spcPts val="0"/>
                        </a:spcBef>
                        <a:spcAft>
                          <a:spcPts val="0"/>
                        </a:spcAft>
                        <a:buClr>
                          <a:srgbClr val="000000"/>
                        </a:buClr>
                        <a:buSzPts val="800"/>
                        <a:buFont typeface="Arial"/>
                        <a:buNone/>
                      </a:pPr>
                      <a:r>
                        <a:rPr lang="ja-JP" sz="900" b="1" u="none" strike="noStrike" cap="none">
                          <a:solidFill>
                            <a:srgbClr val="C68A65"/>
                          </a:solidFill>
                          <a:latin typeface="Meiryo"/>
                          <a:ea typeface="Meiryo"/>
                          <a:cs typeface="Meiryo"/>
                          <a:sym typeface="Meiryo"/>
                        </a:rPr>
                        <a:t>代表取締役</a:t>
                      </a:r>
                      <a:endParaRPr sz="12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JP" sz="900" u="none" strike="noStrike" cap="none">
                          <a:latin typeface="Meiryo"/>
                          <a:ea typeface="Meiryo"/>
                          <a:cs typeface="Meiryo"/>
                          <a:sym typeface="Meiryo"/>
                        </a:rPr>
                        <a:t>中野 邦人（Nakano Kunihito）</a:t>
                      </a:r>
                      <a:endParaRPr sz="9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93575">
                <a:tc>
                  <a:txBody>
                    <a:bodyPr/>
                    <a:lstStyle/>
                    <a:p>
                      <a:pPr marL="0" marR="0" lvl="0" indent="0" algn="ctr" rtl="0">
                        <a:lnSpc>
                          <a:spcPct val="100000"/>
                        </a:lnSpc>
                        <a:spcBef>
                          <a:spcPts val="0"/>
                        </a:spcBef>
                        <a:spcAft>
                          <a:spcPts val="0"/>
                        </a:spcAft>
                        <a:buClr>
                          <a:srgbClr val="000000"/>
                        </a:buClr>
                        <a:buSzPts val="800"/>
                        <a:buFont typeface="Arial"/>
                        <a:buNone/>
                      </a:pPr>
                      <a:r>
                        <a:rPr lang="ja-JP" sz="900" b="1" u="none" strike="noStrike" cap="none">
                          <a:solidFill>
                            <a:srgbClr val="C68A65"/>
                          </a:solidFill>
                          <a:latin typeface="Meiryo"/>
                          <a:ea typeface="Meiryo"/>
                          <a:cs typeface="Meiryo"/>
                          <a:sym typeface="Meiryo"/>
                        </a:rPr>
                        <a:t>資本金</a:t>
                      </a:r>
                      <a:endParaRPr sz="12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JP" sz="900" u="none" strike="noStrike" cap="none">
                          <a:latin typeface="Meiryo"/>
                          <a:ea typeface="Meiryo"/>
                          <a:cs typeface="Meiryo"/>
                          <a:sym typeface="Meiryo"/>
                        </a:rPr>
                        <a:t>276,519千円（資本準備金含む）</a:t>
                      </a:r>
                      <a:endParaRPr sz="9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0625">
                <a:tc>
                  <a:txBody>
                    <a:bodyPr/>
                    <a:lstStyle/>
                    <a:p>
                      <a:pPr marL="0" marR="0" lvl="0" indent="0" algn="ctr" rtl="0">
                        <a:lnSpc>
                          <a:spcPct val="100000"/>
                        </a:lnSpc>
                        <a:spcBef>
                          <a:spcPts val="0"/>
                        </a:spcBef>
                        <a:spcAft>
                          <a:spcPts val="0"/>
                        </a:spcAft>
                        <a:buClr>
                          <a:srgbClr val="000000"/>
                        </a:buClr>
                        <a:buSzPts val="800"/>
                        <a:buFont typeface="Arial"/>
                        <a:buNone/>
                      </a:pPr>
                      <a:r>
                        <a:rPr lang="ja-JP" sz="900" b="1" u="none" strike="noStrike" cap="none">
                          <a:solidFill>
                            <a:srgbClr val="C68A65"/>
                          </a:solidFill>
                          <a:latin typeface="Meiryo"/>
                          <a:ea typeface="Meiryo"/>
                          <a:cs typeface="Meiryo"/>
                          <a:sym typeface="Meiryo"/>
                        </a:rPr>
                        <a:t>本社</a:t>
                      </a:r>
                      <a:endParaRPr sz="12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JP" sz="900" u="none" strike="noStrike" cap="none">
                          <a:latin typeface="Meiryo"/>
                          <a:ea typeface="Meiryo"/>
                          <a:cs typeface="Meiryo"/>
                          <a:sym typeface="Meiryo"/>
                        </a:rPr>
                        <a:t>東京都港区六本木4-12-8 第6DMJビル 2階</a:t>
                      </a:r>
                      <a:endParaRPr sz="9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30625">
                <a:tc>
                  <a:txBody>
                    <a:bodyPr/>
                    <a:lstStyle/>
                    <a:p>
                      <a:pPr marL="0" marR="0" lvl="0" indent="0" algn="ctr" rtl="0">
                        <a:lnSpc>
                          <a:spcPct val="100000"/>
                        </a:lnSpc>
                        <a:spcBef>
                          <a:spcPts val="0"/>
                        </a:spcBef>
                        <a:spcAft>
                          <a:spcPts val="0"/>
                        </a:spcAft>
                        <a:buClr>
                          <a:srgbClr val="000000"/>
                        </a:buClr>
                        <a:buSzPts val="800"/>
                        <a:buFont typeface="Arial"/>
                        <a:buNone/>
                      </a:pPr>
                      <a:r>
                        <a:rPr lang="ja-JP" sz="900" b="1" u="none" strike="noStrike" cap="none">
                          <a:solidFill>
                            <a:srgbClr val="C68A65"/>
                          </a:solidFill>
                          <a:latin typeface="Meiryo"/>
                          <a:ea typeface="Meiryo"/>
                          <a:cs typeface="Meiryo"/>
                          <a:sym typeface="Meiryo"/>
                        </a:rPr>
                        <a:t>創業</a:t>
                      </a:r>
                      <a:endParaRPr sz="12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JP" sz="900" u="none" strike="noStrike" cap="none">
                          <a:latin typeface="Meiryo"/>
                          <a:ea typeface="Meiryo"/>
                          <a:cs typeface="Meiryo"/>
                          <a:sym typeface="Meiryo"/>
                        </a:rPr>
                        <a:t>1970年10月</a:t>
                      </a:r>
                      <a:endParaRPr sz="9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1050025">
                <a:tc>
                  <a:txBody>
                    <a:bodyPr/>
                    <a:lstStyle/>
                    <a:p>
                      <a:pPr marL="0" marR="0" lvl="0" indent="0" algn="ctr" rtl="0">
                        <a:lnSpc>
                          <a:spcPct val="100000"/>
                        </a:lnSpc>
                        <a:spcBef>
                          <a:spcPts val="0"/>
                        </a:spcBef>
                        <a:spcAft>
                          <a:spcPts val="0"/>
                        </a:spcAft>
                        <a:buClr>
                          <a:srgbClr val="000000"/>
                        </a:buClr>
                        <a:buSzPts val="800"/>
                        <a:buFont typeface="Arial"/>
                        <a:buNone/>
                      </a:pPr>
                      <a:r>
                        <a:rPr lang="ja-JP" sz="900" b="1" u="none" strike="noStrike" cap="none">
                          <a:solidFill>
                            <a:srgbClr val="C68A65"/>
                          </a:solidFill>
                          <a:latin typeface="Meiryo"/>
                          <a:ea typeface="Meiryo"/>
                          <a:cs typeface="Meiryo"/>
                          <a:sym typeface="Meiryo"/>
                        </a:rPr>
                        <a:t>事業概要</a:t>
                      </a:r>
                      <a:endParaRPr sz="12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50000"/>
                        </a:lnSpc>
                        <a:spcBef>
                          <a:spcPts val="0"/>
                        </a:spcBef>
                        <a:spcAft>
                          <a:spcPts val="0"/>
                        </a:spcAft>
                        <a:buClr>
                          <a:srgbClr val="000000"/>
                        </a:buClr>
                        <a:buSzPts val="800"/>
                        <a:buFont typeface="Arial"/>
                        <a:buNone/>
                      </a:pPr>
                      <a:r>
                        <a:rPr lang="ja-JP" sz="900" u="none" strike="noStrike" cap="none">
                          <a:latin typeface="Meiryo"/>
                          <a:ea typeface="Meiryo"/>
                          <a:cs typeface="Meiryo"/>
                          <a:sym typeface="Meiryo"/>
                        </a:rPr>
                        <a:t>■ワインを中心とした酒類販売</a:t>
                      </a:r>
                      <a:endParaRPr sz="12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900" u="none" strike="noStrike" cap="none">
                          <a:latin typeface="Meiryo"/>
                          <a:ea typeface="Meiryo"/>
                          <a:cs typeface="Meiryo"/>
                          <a:sym typeface="Meiryo"/>
                        </a:rPr>
                        <a:t>■レストラン事業</a:t>
                      </a:r>
                      <a:endParaRPr sz="12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900" u="none" strike="noStrike" cap="none">
                          <a:latin typeface="Meiryo"/>
                          <a:ea typeface="Meiryo"/>
                          <a:cs typeface="Meiryo"/>
                          <a:sym typeface="Meiryo"/>
                        </a:rPr>
                        <a:t>■Wine × Technology事業（WineTech事業）</a:t>
                      </a:r>
                      <a:endParaRPr sz="12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900" u="none" strike="noStrike" cap="none">
                          <a:latin typeface="Meiryo"/>
                          <a:ea typeface="Meiryo"/>
                          <a:cs typeface="Meiryo"/>
                          <a:sym typeface="Meiryo"/>
                        </a:rPr>
                        <a:t>■その他上記に付随する事業</a:t>
                      </a:r>
                      <a:endParaRPr sz="9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1013800">
                <a:tc>
                  <a:txBody>
                    <a:bodyPr/>
                    <a:lstStyle/>
                    <a:p>
                      <a:pPr marL="0" marR="0" lvl="0" indent="0" algn="ctr" rtl="0">
                        <a:lnSpc>
                          <a:spcPct val="100000"/>
                        </a:lnSpc>
                        <a:spcBef>
                          <a:spcPts val="0"/>
                        </a:spcBef>
                        <a:spcAft>
                          <a:spcPts val="0"/>
                        </a:spcAft>
                        <a:buClr>
                          <a:srgbClr val="000000"/>
                        </a:buClr>
                        <a:buSzPts val="800"/>
                        <a:buFont typeface="Arial"/>
                        <a:buNone/>
                      </a:pPr>
                      <a:r>
                        <a:rPr lang="ja-JP" sz="900" b="1" u="none" strike="noStrike" cap="none">
                          <a:solidFill>
                            <a:srgbClr val="C68A65"/>
                          </a:solidFill>
                          <a:latin typeface="Meiryo"/>
                          <a:ea typeface="Meiryo"/>
                          <a:cs typeface="Meiryo"/>
                          <a:sym typeface="Meiryo"/>
                        </a:rPr>
                        <a:t>主要株主</a:t>
                      </a:r>
                      <a:endParaRPr sz="12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50000"/>
                        </a:lnSpc>
                        <a:spcBef>
                          <a:spcPts val="0"/>
                        </a:spcBef>
                        <a:spcAft>
                          <a:spcPts val="0"/>
                        </a:spcAft>
                        <a:buClr>
                          <a:srgbClr val="000000"/>
                        </a:buClr>
                        <a:buSzPts val="800"/>
                        <a:buFont typeface="Arial"/>
                        <a:buNone/>
                      </a:pPr>
                      <a:r>
                        <a:rPr lang="ja-JP" sz="900" u="none" strike="noStrike" cap="none">
                          <a:latin typeface="Meiryo"/>
                          <a:ea typeface="Meiryo"/>
                          <a:cs typeface="Meiryo"/>
                          <a:sym typeface="Meiryo"/>
                        </a:rPr>
                        <a:t>ﾏﾈｰﾌｫﾜｰﾄﾞﾍﾞﾝﾁｬｰﾊﾟｰﾄﾅｰｽﾞ株式会社</a:t>
                      </a:r>
                      <a:endParaRPr sz="9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900" u="none" strike="noStrike" cap="none">
                          <a:latin typeface="Meiryo"/>
                          <a:ea typeface="Meiryo"/>
                          <a:cs typeface="Meiryo"/>
                          <a:sym typeface="Meiryo"/>
                        </a:rPr>
                        <a:t>株式会社ベクトル</a:t>
                      </a:r>
                      <a:endParaRPr sz="9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900" u="none" strike="noStrike" cap="none">
                          <a:latin typeface="Meiryo"/>
                          <a:ea typeface="Meiryo"/>
                          <a:cs typeface="Meiryo"/>
                          <a:sym typeface="Meiryo"/>
                        </a:rPr>
                        <a:t>寺田倉庫株式会社</a:t>
                      </a:r>
                      <a:endParaRPr sz="9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900" u="none" strike="noStrike" cap="none">
                          <a:latin typeface="Meiryo"/>
                          <a:ea typeface="Meiryo"/>
                          <a:cs typeface="Meiryo"/>
                          <a:sym typeface="Meiryo"/>
                        </a:rPr>
                        <a:t>株式会社PrivateBANK</a:t>
                      </a:r>
                      <a:endParaRPr sz="9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pic>
        <p:nvPicPr>
          <p:cNvPr id="370" name="Google Shape;370;g34d15c52dd9_0_116" title="AAA07221-1.atari.jpg"/>
          <p:cNvPicPr preferRelativeResize="0"/>
          <p:nvPr/>
        </p:nvPicPr>
        <p:blipFill rotWithShape="1">
          <a:blip r:embed="rId3">
            <a:alphaModFix/>
          </a:blip>
          <a:srcRect l="14585" r="10111"/>
          <a:stretch/>
        </p:blipFill>
        <p:spPr>
          <a:xfrm>
            <a:off x="4805537" y="860708"/>
            <a:ext cx="4113267" cy="3641818"/>
          </a:xfrm>
          <a:prstGeom prst="rect">
            <a:avLst/>
          </a:prstGeom>
          <a:noFill/>
          <a:ln>
            <a:noFill/>
          </a:ln>
        </p:spPr>
      </p:pic>
      <p:sp>
        <p:nvSpPr>
          <p:cNvPr id="371" name="Google Shape;371;g34d15c52dd9_0_116"/>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372" name="Google Shape;372;g34d15c52dd9_0_116"/>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15</a:t>
            </a:fld>
            <a:endParaRPr sz="7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g34d15c52dd9_0_124"/>
          <p:cNvSpPr txBox="1"/>
          <p:nvPr/>
        </p:nvSpPr>
        <p:spPr>
          <a:xfrm>
            <a:off x="239554" y="287179"/>
            <a:ext cx="1474800" cy="284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rgbClr val="000000"/>
                </a:solidFill>
                <a:latin typeface="Meiryo"/>
                <a:ea typeface="Meiryo"/>
                <a:cs typeface="Meiryo"/>
                <a:sym typeface="Meiryo"/>
              </a:rPr>
              <a:t>経営陣紹介</a:t>
            </a:r>
            <a:endParaRPr sz="1200" b="0" i="0" u="none" strike="noStrike" cap="none">
              <a:solidFill>
                <a:srgbClr val="000000"/>
              </a:solidFill>
              <a:latin typeface="Meiryo"/>
              <a:ea typeface="Meiryo"/>
              <a:cs typeface="Meiryo"/>
              <a:sym typeface="Meiryo"/>
            </a:endParaRPr>
          </a:p>
        </p:txBody>
      </p:sp>
      <p:sp>
        <p:nvSpPr>
          <p:cNvPr id="379" name="Google Shape;379;g34d15c52dd9_0_124"/>
          <p:cNvSpPr txBox="1"/>
          <p:nvPr/>
        </p:nvSpPr>
        <p:spPr>
          <a:xfrm>
            <a:off x="3559200" y="466475"/>
            <a:ext cx="5274900" cy="43110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JP" sz="800" b="1" i="0" u="none" strike="noStrike" cap="none">
                <a:solidFill>
                  <a:srgbClr val="000000"/>
                </a:solidFill>
                <a:latin typeface="Meiryo"/>
                <a:ea typeface="Meiryo"/>
                <a:cs typeface="Meiryo"/>
                <a:sym typeface="Meiryo"/>
              </a:rPr>
              <a:t>生年月日　</a:t>
            </a:r>
            <a:r>
              <a:rPr lang="ja-JP" sz="800" b="0" i="0" u="none" strike="noStrike" cap="none">
                <a:solidFill>
                  <a:srgbClr val="000000"/>
                </a:solidFill>
                <a:latin typeface="Meiryo"/>
                <a:ea typeface="Meiryo"/>
                <a:cs typeface="Meiryo"/>
                <a:sym typeface="Meiryo"/>
              </a:rPr>
              <a:t>　1979年03月13日</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endParaRPr sz="800" b="1"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JP" sz="800" b="1" i="0" u="none" strike="noStrike" cap="none">
                <a:solidFill>
                  <a:srgbClr val="000000"/>
                </a:solidFill>
                <a:latin typeface="Meiryo"/>
                <a:ea typeface="Meiryo"/>
                <a:cs typeface="Meiryo"/>
                <a:sym typeface="Meiryo"/>
              </a:rPr>
              <a:t>最終学歴</a:t>
            </a:r>
            <a:r>
              <a:rPr lang="ja-JP" sz="800" b="0" i="0" u="none" strike="noStrike" cap="none">
                <a:solidFill>
                  <a:srgbClr val="000000"/>
                </a:solidFill>
                <a:latin typeface="Meiryo"/>
                <a:ea typeface="Meiryo"/>
                <a:cs typeface="Meiryo"/>
                <a:sym typeface="Meiryo"/>
              </a:rPr>
              <a:t>　　東洋大学 工学部卒業</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JP" sz="800" b="1" i="0" u="none" strike="noStrike" cap="none">
                <a:solidFill>
                  <a:srgbClr val="000000"/>
                </a:solidFill>
                <a:latin typeface="Meiryo"/>
                <a:ea typeface="Meiryo"/>
                <a:cs typeface="Meiryo"/>
                <a:sym typeface="Meiryo"/>
              </a:rPr>
              <a:t>職歴</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2001年04月　　株式会社モリモト入社</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（不動産投資事業部にて不動産購入・売却及び不動産証券化に携わる）</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endParaRPr sz="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2003年09月　　株式会社モリモト退社</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endParaRPr sz="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2003年10月　　株式会社LEXINGTON入社</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（富裕層向け資産コンサルティング）</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endParaRPr sz="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2006年06月　　株式会社LEXINGTON退社（株式会社Seven Signatures転籍）</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endParaRPr sz="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2006年07月　　株式会社Seven Signatures取締役就任</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JP" sz="1100" b="0" i="0" u="none" strike="noStrike" cap="none">
                <a:solidFill>
                  <a:srgbClr val="000000"/>
                </a:solidFill>
                <a:latin typeface="Meiryo"/>
                <a:ea typeface="Meiryo"/>
                <a:cs typeface="Meiryo"/>
                <a:sym typeface="Meiryo"/>
              </a:rPr>
              <a:t>　　　　　</a:t>
            </a:r>
            <a:r>
              <a:rPr lang="ja-JP" sz="800" b="0" i="0" u="none" strike="noStrike" cap="none">
                <a:solidFill>
                  <a:srgbClr val="000000"/>
                </a:solidFill>
                <a:latin typeface="Meiryo"/>
                <a:ea typeface="Meiryo"/>
                <a:cs typeface="Meiryo"/>
                <a:sym typeface="Meiryo"/>
              </a:rPr>
              <a:t>（Hotel-Condo事業開発・投資スキーム構築・国内不動産開発に携わる）</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endParaRPr sz="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2008年07月　　株式会社あどばる設立　代表取締役社長就任</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endParaRPr sz="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2020年07月　　株式会社WineBankをM&amp;Aにて100％取得し、代表取締役就任</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endParaRPr sz="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2020年10月　　株式会社AbHeriを設立しAbHeri事業譲受、代表取締役就任</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endParaRPr sz="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2021年12月　　株式会社あどばる、東証プライム上場株式会社ビジョングループ入り(50.1％)</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endParaRPr sz="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2022年12月　　株式会社AbHeri、東証グロース上場株式会社ハピネス・アンド・ディグループ入り(100%)</a:t>
            </a:r>
            <a:endParaRPr sz="1400" b="0" i="0" u="none" strike="noStrike" cap="none">
              <a:solidFill>
                <a:srgbClr val="000000"/>
              </a:solidFill>
              <a:latin typeface="Meiryo"/>
              <a:ea typeface="Meiryo"/>
              <a:cs typeface="Meiryo"/>
              <a:sym typeface="Meiryo"/>
            </a:endParaRPr>
          </a:p>
        </p:txBody>
      </p:sp>
      <p:sp>
        <p:nvSpPr>
          <p:cNvPr id="380" name="Google Shape;380;g34d15c52dd9_0_124"/>
          <p:cNvSpPr txBox="1"/>
          <p:nvPr/>
        </p:nvSpPr>
        <p:spPr>
          <a:xfrm>
            <a:off x="336420" y="2344609"/>
            <a:ext cx="2088000" cy="585000"/>
          </a:xfrm>
          <a:prstGeom prst="rect">
            <a:avLst/>
          </a:prstGeom>
          <a:noFill/>
          <a:ln>
            <a:noFill/>
          </a:ln>
        </p:spPr>
        <p:txBody>
          <a:bodyPr spcFirstLastPara="1" wrap="square" lIns="68550" tIns="34275" rIns="68550" bIns="34275" anchor="t" anchorCtr="0">
            <a:spAutoFit/>
          </a:bodyPr>
          <a:lstStyle/>
          <a:p>
            <a:pPr marL="0" marR="0" lvl="0" indent="0" algn="l" rtl="0">
              <a:lnSpc>
                <a:spcPct val="150000"/>
              </a:lnSpc>
              <a:spcBef>
                <a:spcPts val="0"/>
              </a:spcBef>
              <a:spcAft>
                <a:spcPts val="0"/>
              </a:spcAft>
              <a:buClr>
                <a:srgbClr val="000000"/>
              </a:buClr>
              <a:buSzPts val="1500"/>
              <a:buFont typeface="Arial"/>
              <a:buNone/>
            </a:pPr>
            <a:r>
              <a:rPr lang="ja-JP" sz="1500" b="1" i="0" u="none" strike="noStrike" cap="none">
                <a:solidFill>
                  <a:srgbClr val="000000"/>
                </a:solidFill>
                <a:latin typeface="Meiryo"/>
                <a:ea typeface="Meiryo"/>
                <a:cs typeface="Meiryo"/>
                <a:sym typeface="Meiryo"/>
              </a:rPr>
              <a:t>中野 邦人</a:t>
            </a:r>
            <a:endParaRPr sz="15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JP" sz="1100" b="1" i="0" u="none" strike="noStrike" cap="none">
                <a:solidFill>
                  <a:srgbClr val="D5AA8F"/>
                </a:solidFill>
                <a:latin typeface="Meiryo"/>
                <a:ea typeface="Meiryo"/>
                <a:cs typeface="Meiryo"/>
                <a:sym typeface="Meiryo"/>
              </a:rPr>
              <a:t>Kunihito　Nakano</a:t>
            </a:r>
            <a:endParaRPr sz="1100" b="1" i="0" u="none" strike="noStrike" cap="none">
              <a:solidFill>
                <a:srgbClr val="D5AA8F"/>
              </a:solidFill>
              <a:latin typeface="Meiryo"/>
              <a:ea typeface="Meiryo"/>
              <a:cs typeface="Meiryo"/>
              <a:sym typeface="Meiryo"/>
            </a:endParaRPr>
          </a:p>
        </p:txBody>
      </p:sp>
      <p:sp>
        <p:nvSpPr>
          <p:cNvPr id="381" name="Google Shape;381;g34d15c52dd9_0_124"/>
          <p:cNvSpPr/>
          <p:nvPr/>
        </p:nvSpPr>
        <p:spPr>
          <a:xfrm>
            <a:off x="369825" y="2991425"/>
            <a:ext cx="2688600" cy="18090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株式会社Seven Signaturesにて、Donald Trump氏と</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ハワイでTrump tower Waikiki プロジェクトに関わり</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1日あたりの売上高のギネス記録樹立</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40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担当役員として学んだ不動産業のスペースシェアリング事業にて、飲食・宿泊・会議などの時間貸しコンテンツを(株)あどばるで事業展開</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400"/>
              </a:spcBef>
              <a:spcAft>
                <a:spcPts val="0"/>
              </a:spcAft>
              <a:buClr>
                <a:srgbClr val="000000"/>
              </a:buClr>
              <a:buSzPts val="800"/>
              <a:buFont typeface="Arial"/>
              <a:buNone/>
            </a:pP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40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(株)あどばる、(株)AbHeriと２社上場企業グループ入りを決断し、現在シリアルアントレプレナーとして株式会社WineBank事業を拡大中</a:t>
            </a:r>
            <a:endParaRPr sz="800" b="0" i="0" u="none" strike="noStrike" cap="none">
              <a:solidFill>
                <a:srgbClr val="000000"/>
              </a:solidFill>
              <a:latin typeface="Meiryo"/>
              <a:ea typeface="Meiryo"/>
              <a:cs typeface="Meiryo"/>
              <a:sym typeface="Meiryo"/>
            </a:endParaRPr>
          </a:p>
        </p:txBody>
      </p:sp>
      <p:sp>
        <p:nvSpPr>
          <p:cNvPr id="382" name="Google Shape;382;g34d15c52dd9_0_124"/>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pic>
        <p:nvPicPr>
          <p:cNvPr id="383" name="Google Shape;383;g34d15c52dd9_0_124"/>
          <p:cNvPicPr preferRelativeResize="0"/>
          <p:nvPr/>
        </p:nvPicPr>
        <p:blipFill rotWithShape="1">
          <a:blip r:embed="rId3">
            <a:alphaModFix/>
          </a:blip>
          <a:srcRect/>
          <a:stretch/>
        </p:blipFill>
        <p:spPr>
          <a:xfrm>
            <a:off x="369819" y="734983"/>
            <a:ext cx="2206682" cy="1547542"/>
          </a:xfrm>
          <a:prstGeom prst="rect">
            <a:avLst/>
          </a:prstGeom>
          <a:noFill/>
          <a:ln>
            <a:noFill/>
          </a:ln>
        </p:spPr>
      </p:pic>
      <p:sp>
        <p:nvSpPr>
          <p:cNvPr id="384" name="Google Shape;384;g34d15c52dd9_0_124"/>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16</a:t>
            </a:fld>
            <a:endParaRPr sz="7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pic>
        <p:nvPicPr>
          <p:cNvPr id="390" name="Google Shape;390;g34d15c52dd9_0_208"/>
          <p:cNvPicPr preferRelativeResize="0"/>
          <p:nvPr/>
        </p:nvPicPr>
        <p:blipFill rotWithShape="1">
          <a:blip r:embed="rId3">
            <a:alphaModFix/>
          </a:blip>
          <a:srcRect t="7983" b="7805"/>
          <a:stretch/>
        </p:blipFill>
        <p:spPr>
          <a:xfrm>
            <a:off x="0" y="0"/>
            <a:ext cx="9161919" cy="5143500"/>
          </a:xfrm>
          <a:prstGeom prst="rect">
            <a:avLst/>
          </a:prstGeom>
          <a:noFill/>
          <a:ln>
            <a:noFill/>
          </a:ln>
        </p:spPr>
      </p:pic>
      <p:sp>
        <p:nvSpPr>
          <p:cNvPr id="391" name="Google Shape;391;g34d15c52dd9_0_208"/>
          <p:cNvSpPr/>
          <p:nvPr/>
        </p:nvSpPr>
        <p:spPr>
          <a:xfrm>
            <a:off x="0" y="0"/>
            <a:ext cx="9162000" cy="5143500"/>
          </a:xfrm>
          <a:prstGeom prst="rect">
            <a:avLst/>
          </a:prstGeom>
          <a:solidFill>
            <a:schemeClr val="dk1">
              <a:alpha val="62745"/>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chemeClr val="lt1"/>
              </a:buClr>
              <a:buSzPts val="1800"/>
              <a:buFont typeface="Meiryo"/>
              <a:buNone/>
            </a:pPr>
            <a:r>
              <a:rPr lang="ja-JP" sz="1800" b="1" i="0" u="none" strike="noStrike" cap="none">
                <a:solidFill>
                  <a:schemeClr val="lt1"/>
                </a:solidFill>
                <a:latin typeface="Meiryo"/>
                <a:ea typeface="Meiryo"/>
                <a:cs typeface="Meiryo"/>
                <a:sym typeface="Meiryo"/>
              </a:rPr>
              <a:t>　</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92" name="Google Shape;392;g34d15c52dd9_0_208"/>
          <p:cNvSpPr txBox="1"/>
          <p:nvPr/>
        </p:nvSpPr>
        <p:spPr>
          <a:xfrm>
            <a:off x="1487900" y="495300"/>
            <a:ext cx="5849100" cy="768300"/>
          </a:xfrm>
          <a:prstGeom prst="rect">
            <a:avLst/>
          </a:prstGeom>
          <a:noFill/>
          <a:ln>
            <a:noFill/>
          </a:ln>
        </p:spPr>
        <p:txBody>
          <a:bodyPr spcFirstLastPara="1" wrap="square" lIns="68575" tIns="34275" rIns="68575" bIns="34275" anchor="ctr" anchorCtr="0">
            <a:noAutofit/>
          </a:bodyPr>
          <a:lstStyle/>
          <a:p>
            <a:pPr marL="0" marR="0" lvl="0" indent="0" algn="ctr" rtl="0">
              <a:lnSpc>
                <a:spcPct val="200000"/>
              </a:lnSpc>
              <a:spcBef>
                <a:spcPts val="0"/>
              </a:spcBef>
              <a:spcAft>
                <a:spcPts val="0"/>
              </a:spcAft>
              <a:buClr>
                <a:schemeClr val="lt1"/>
              </a:buClr>
              <a:buSzPts val="1800"/>
              <a:buFont typeface="Meiryo"/>
              <a:buNone/>
            </a:pPr>
            <a:r>
              <a:rPr lang="ja-JP" sz="2000" b="1" i="0" u="none" strike="noStrike" cap="none">
                <a:solidFill>
                  <a:schemeClr val="lt1"/>
                </a:solidFill>
                <a:latin typeface="Meiryo"/>
                <a:ea typeface="Meiryo"/>
                <a:cs typeface="Meiryo"/>
                <a:sym typeface="Meiryo"/>
              </a:rPr>
              <a:t>Mission｜既存のワイン流通をアップデートする</a:t>
            </a:r>
            <a:endParaRPr sz="1200" b="0" i="0" u="none" strike="noStrike" cap="none">
              <a:solidFill>
                <a:srgbClr val="000000"/>
              </a:solidFill>
              <a:latin typeface="Arial"/>
              <a:ea typeface="Arial"/>
              <a:cs typeface="Arial"/>
              <a:sym typeface="Arial"/>
            </a:endParaRPr>
          </a:p>
        </p:txBody>
      </p:sp>
      <p:sp>
        <p:nvSpPr>
          <p:cNvPr id="393" name="Google Shape;393;g34d15c52dd9_0_208"/>
          <p:cNvSpPr txBox="1"/>
          <p:nvPr/>
        </p:nvSpPr>
        <p:spPr>
          <a:xfrm>
            <a:off x="1495692" y="1136255"/>
            <a:ext cx="6646200" cy="851400"/>
          </a:xfrm>
          <a:prstGeom prst="rect">
            <a:avLst/>
          </a:prstGeom>
          <a:no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chemeClr val="lt1"/>
              </a:buClr>
              <a:buSzPts val="1800"/>
              <a:buFont typeface="Meiryo"/>
              <a:buNone/>
            </a:pPr>
            <a:r>
              <a:rPr lang="ja-JP" sz="2000" b="1" i="0" u="none" strike="noStrike" cap="none">
                <a:solidFill>
                  <a:schemeClr val="lt1"/>
                </a:solidFill>
                <a:latin typeface="Meiryo"/>
                <a:ea typeface="Meiryo"/>
                <a:cs typeface="Meiryo"/>
                <a:sym typeface="Meiryo"/>
              </a:rPr>
              <a:t>　Vision｜全ての人にファインワインを</a:t>
            </a:r>
            <a:endParaRPr sz="1200" b="0" i="0" u="none" strike="noStrike" cap="none">
              <a:solidFill>
                <a:srgbClr val="000000"/>
              </a:solidFill>
              <a:latin typeface="Arial"/>
              <a:ea typeface="Arial"/>
              <a:cs typeface="Arial"/>
              <a:sym typeface="Arial"/>
            </a:endParaRPr>
          </a:p>
        </p:txBody>
      </p:sp>
      <p:sp>
        <p:nvSpPr>
          <p:cNvPr id="394" name="Google Shape;394;g34d15c52dd9_0_208"/>
          <p:cNvSpPr txBox="1"/>
          <p:nvPr/>
        </p:nvSpPr>
        <p:spPr>
          <a:xfrm>
            <a:off x="1418500" y="2199894"/>
            <a:ext cx="6541500" cy="2437500"/>
          </a:xfrm>
          <a:prstGeom prst="rect">
            <a:avLst/>
          </a:prstGeom>
          <a:no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chemeClr val="lt1"/>
              </a:buClr>
              <a:buSzPts val="1800"/>
              <a:buFont typeface="Meiryo"/>
              <a:buNone/>
            </a:pPr>
            <a:r>
              <a:rPr lang="ja-JP" sz="1000" b="1" i="0" u="none" strike="noStrike" cap="none">
                <a:solidFill>
                  <a:schemeClr val="lt1"/>
                </a:solidFill>
                <a:latin typeface="Meiryo"/>
                <a:ea typeface="Meiryo"/>
                <a:cs typeface="Meiryo"/>
                <a:sym typeface="Meiryo"/>
              </a:rPr>
              <a:t>５年以内に100億相当のワインをクラウドワインリストへ。</a:t>
            </a:r>
            <a:endParaRPr sz="10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JP" sz="1000" b="1" i="0" u="none" strike="noStrike" cap="none">
                <a:solidFill>
                  <a:schemeClr val="lt1"/>
                </a:solidFill>
                <a:latin typeface="Meiryo"/>
                <a:ea typeface="Meiryo"/>
                <a:cs typeface="Meiryo"/>
                <a:sym typeface="Meiryo"/>
              </a:rPr>
              <a:t>「Cloud Cave」を個人会員と飲食店会員向けに提供し、ワイン流通に変革をもたらします。</a:t>
            </a:r>
            <a:endParaRPr sz="10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endParaRPr sz="9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JP" sz="900" b="1" i="0" u="none" strike="noStrike" cap="none">
                <a:solidFill>
                  <a:schemeClr val="lt1"/>
                </a:solidFill>
                <a:latin typeface="Meiryo"/>
                <a:ea typeface="Meiryo"/>
                <a:cs typeface="Meiryo"/>
                <a:sym typeface="Meiryo"/>
              </a:rPr>
              <a:t>・　個人も飲食店も、時価（インターネット最安値）でワインを仕入れることが可能になり、大手ECやオークションなどの</a:t>
            </a:r>
            <a:endParaRPr sz="9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JP" sz="900" b="1" i="0" u="none" strike="noStrike" cap="none">
                <a:solidFill>
                  <a:schemeClr val="lt1"/>
                </a:solidFill>
                <a:latin typeface="Meiryo"/>
                <a:ea typeface="Meiryo"/>
                <a:cs typeface="Meiryo"/>
                <a:sym typeface="Meiryo"/>
              </a:rPr>
              <a:t>　　中間マージンの負担がなくなります。</a:t>
            </a:r>
            <a:endParaRPr sz="4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JP" sz="900" b="1" i="0" u="none" strike="noStrike" cap="none">
                <a:solidFill>
                  <a:schemeClr val="lt1"/>
                </a:solidFill>
                <a:latin typeface="Meiryo"/>
                <a:ea typeface="Meiryo"/>
                <a:cs typeface="Meiryo"/>
                <a:sym typeface="Meiryo"/>
              </a:rPr>
              <a:t>・　飲食店会員は高額なワインを店内に在庫しなくてもワインリストが華やぎ、CF上のメリットも。</a:t>
            </a:r>
            <a:endParaRPr sz="1100" b="0" i="0" u="none" strike="noStrike" cap="none">
              <a:solidFill>
                <a:srgbClr val="000000"/>
              </a:solidFill>
              <a:latin typeface="Arial"/>
              <a:ea typeface="Arial"/>
              <a:cs typeface="Arial"/>
              <a:sym typeface="Arial"/>
            </a:endParaRPr>
          </a:p>
          <a:p>
            <a:pPr marL="0" marR="0" lvl="0" indent="0" algn="l" rtl="0">
              <a:lnSpc>
                <a:spcPct val="200000"/>
              </a:lnSpc>
              <a:spcBef>
                <a:spcPts val="0"/>
              </a:spcBef>
              <a:spcAft>
                <a:spcPts val="0"/>
              </a:spcAft>
              <a:buClr>
                <a:schemeClr val="lt1"/>
              </a:buClr>
              <a:buSzPts val="1800"/>
              <a:buFont typeface="Meiryo"/>
              <a:buNone/>
            </a:pPr>
            <a:r>
              <a:rPr lang="ja-JP" sz="900" b="1" i="0" u="none" strike="noStrike" cap="none">
                <a:solidFill>
                  <a:schemeClr val="lt1"/>
                </a:solidFill>
                <a:latin typeface="Meiryo"/>
                <a:ea typeface="Meiryo"/>
                <a:cs typeface="Meiryo"/>
                <a:sym typeface="Meiryo"/>
              </a:rPr>
              <a:t>・　自己利用や贈答含めて50万本の在庫にアクセスでき、時価で入手できるメリットがあります。</a:t>
            </a:r>
            <a:endParaRPr sz="9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endParaRPr sz="9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rgbClr val="000000"/>
              </a:buClr>
              <a:buSzPts val="900"/>
              <a:buFont typeface="Arial"/>
              <a:buNone/>
            </a:pPr>
            <a:r>
              <a:rPr lang="ja-JP" sz="900" b="1" i="0" u="none" strike="noStrike" cap="none">
                <a:solidFill>
                  <a:schemeClr val="lt1"/>
                </a:solidFill>
                <a:latin typeface="Meiryo"/>
                <a:ea typeface="Meiryo"/>
                <a:cs typeface="Meiryo"/>
                <a:sym typeface="Meiryo"/>
              </a:rPr>
              <a:t>「Cloud Cave」をご自身のセラー代わりに利用し、いつでもどこでも安心・安全なファインワインを楽しめる世の中に。</a:t>
            </a:r>
            <a:endParaRPr sz="1100" b="0" i="0" u="none" strike="noStrike" cap="none">
              <a:solidFill>
                <a:srgbClr val="000000"/>
              </a:solidFill>
              <a:latin typeface="Arial"/>
              <a:ea typeface="Arial"/>
              <a:cs typeface="Arial"/>
              <a:sym typeface="Arial"/>
            </a:endParaRPr>
          </a:p>
        </p:txBody>
      </p:sp>
      <p:sp>
        <p:nvSpPr>
          <p:cNvPr id="395" name="Google Shape;395;g34d15c52dd9_0_208"/>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17</a:t>
            </a:fld>
            <a:endParaRPr sz="700"/>
          </a:p>
        </p:txBody>
      </p:sp>
      <p:sp>
        <p:nvSpPr>
          <p:cNvPr id="396" name="Google Shape;396;g34d15c52dd9_0_208"/>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g34d15c52dd9_0_475"/>
          <p:cNvSpPr/>
          <p:nvPr/>
        </p:nvSpPr>
        <p:spPr>
          <a:xfrm>
            <a:off x="3123526" y="3178394"/>
            <a:ext cx="5656200" cy="1602600"/>
          </a:xfrm>
          <a:prstGeom prst="roundRect">
            <a:avLst>
              <a:gd name="adj" fmla="val 16667"/>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402" name="Google Shape;402;g34d15c52dd9_0_475"/>
          <p:cNvSpPr/>
          <p:nvPr/>
        </p:nvSpPr>
        <p:spPr>
          <a:xfrm>
            <a:off x="3123526" y="1127274"/>
            <a:ext cx="5656200" cy="1969500"/>
          </a:xfrm>
          <a:prstGeom prst="roundRect">
            <a:avLst>
              <a:gd name="adj" fmla="val 16667"/>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403" name="Google Shape;403;g34d15c52dd9_0_475"/>
          <p:cNvSpPr txBox="1"/>
          <p:nvPr/>
        </p:nvSpPr>
        <p:spPr>
          <a:xfrm>
            <a:off x="239549" y="270849"/>
            <a:ext cx="3496800" cy="284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rgbClr val="000000"/>
                </a:solidFill>
                <a:latin typeface="Meiryo"/>
                <a:ea typeface="Meiryo"/>
                <a:cs typeface="Meiryo"/>
                <a:sym typeface="Meiryo"/>
              </a:rPr>
              <a:t>株主及び主要提携先</a:t>
            </a:r>
            <a:endParaRPr sz="1400" b="1" i="0" u="none" strike="noStrike" cap="none">
              <a:solidFill>
                <a:srgbClr val="000000"/>
              </a:solidFill>
              <a:latin typeface="Meiryo"/>
              <a:ea typeface="Meiryo"/>
              <a:cs typeface="Meiryo"/>
              <a:sym typeface="Meiryo"/>
            </a:endParaRPr>
          </a:p>
        </p:txBody>
      </p:sp>
      <p:sp>
        <p:nvSpPr>
          <p:cNvPr id="404" name="Google Shape;404;g34d15c52dd9_0_475"/>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Zen Kaku Gothic New"/>
              <a:ea typeface="Zen Kaku Gothic New"/>
              <a:cs typeface="Zen Kaku Gothic New"/>
              <a:sym typeface="Zen Kaku Gothic New"/>
            </a:endParaRPr>
          </a:p>
        </p:txBody>
      </p:sp>
      <p:grpSp>
        <p:nvGrpSpPr>
          <p:cNvPr id="405" name="Google Shape;405;g34d15c52dd9_0_475"/>
          <p:cNvGrpSpPr/>
          <p:nvPr/>
        </p:nvGrpSpPr>
        <p:grpSpPr>
          <a:xfrm>
            <a:off x="4206892" y="3555422"/>
            <a:ext cx="4249478" cy="1039314"/>
            <a:chOff x="3862853" y="3583862"/>
            <a:chExt cx="4729525" cy="1156721"/>
          </a:xfrm>
        </p:grpSpPr>
        <p:pic>
          <p:nvPicPr>
            <p:cNvPr id="406" name="Google Shape;406;g34d15c52dd9_0_475"/>
            <p:cNvPicPr preferRelativeResize="0"/>
            <p:nvPr/>
          </p:nvPicPr>
          <p:blipFill rotWithShape="1">
            <a:blip r:embed="rId3">
              <a:alphaModFix/>
            </a:blip>
            <a:srcRect/>
            <a:stretch/>
          </p:blipFill>
          <p:spPr>
            <a:xfrm>
              <a:off x="3862853" y="3583862"/>
              <a:ext cx="1244967" cy="362342"/>
            </a:xfrm>
            <a:prstGeom prst="rect">
              <a:avLst/>
            </a:prstGeom>
            <a:noFill/>
            <a:ln>
              <a:noFill/>
            </a:ln>
          </p:spPr>
        </p:pic>
        <p:pic>
          <p:nvPicPr>
            <p:cNvPr id="407" name="Google Shape;407;g34d15c52dd9_0_475"/>
            <p:cNvPicPr preferRelativeResize="0"/>
            <p:nvPr/>
          </p:nvPicPr>
          <p:blipFill rotWithShape="1">
            <a:blip r:embed="rId4">
              <a:alphaModFix/>
            </a:blip>
            <a:srcRect/>
            <a:stretch/>
          </p:blipFill>
          <p:spPr>
            <a:xfrm>
              <a:off x="5446153" y="4192421"/>
              <a:ext cx="1635491" cy="278777"/>
            </a:xfrm>
            <a:prstGeom prst="rect">
              <a:avLst/>
            </a:prstGeom>
            <a:noFill/>
            <a:ln>
              <a:noFill/>
            </a:ln>
          </p:spPr>
        </p:pic>
        <p:pic>
          <p:nvPicPr>
            <p:cNvPr id="408" name="Google Shape;408;g34d15c52dd9_0_475"/>
            <p:cNvPicPr preferRelativeResize="0"/>
            <p:nvPr/>
          </p:nvPicPr>
          <p:blipFill rotWithShape="1">
            <a:blip r:embed="rId5">
              <a:alphaModFix/>
            </a:blip>
            <a:srcRect/>
            <a:stretch/>
          </p:blipFill>
          <p:spPr>
            <a:xfrm>
              <a:off x="5474526" y="3600303"/>
              <a:ext cx="1578741" cy="329476"/>
            </a:xfrm>
            <a:prstGeom prst="rect">
              <a:avLst/>
            </a:prstGeom>
            <a:noFill/>
            <a:ln>
              <a:noFill/>
            </a:ln>
          </p:spPr>
        </p:pic>
        <p:pic>
          <p:nvPicPr>
            <p:cNvPr id="409" name="Google Shape;409;g34d15c52dd9_0_475"/>
            <p:cNvPicPr preferRelativeResize="0"/>
            <p:nvPr/>
          </p:nvPicPr>
          <p:blipFill rotWithShape="1">
            <a:blip r:embed="rId6">
              <a:alphaModFix/>
            </a:blip>
            <a:srcRect/>
            <a:stretch/>
          </p:blipFill>
          <p:spPr>
            <a:xfrm>
              <a:off x="7343769" y="4116899"/>
              <a:ext cx="1248609" cy="481962"/>
            </a:xfrm>
            <a:prstGeom prst="rect">
              <a:avLst/>
            </a:prstGeom>
            <a:noFill/>
            <a:ln>
              <a:noFill/>
            </a:ln>
          </p:spPr>
        </p:pic>
        <p:pic>
          <p:nvPicPr>
            <p:cNvPr id="410" name="Google Shape;410;g34d15c52dd9_0_475"/>
            <p:cNvPicPr preferRelativeResize="0"/>
            <p:nvPr/>
          </p:nvPicPr>
          <p:blipFill rotWithShape="1">
            <a:blip r:embed="rId7">
              <a:alphaModFix/>
            </a:blip>
            <a:srcRect/>
            <a:stretch/>
          </p:blipFill>
          <p:spPr>
            <a:xfrm>
              <a:off x="4023643" y="4115613"/>
              <a:ext cx="957812" cy="624970"/>
            </a:xfrm>
            <a:prstGeom prst="rect">
              <a:avLst/>
            </a:prstGeom>
            <a:noFill/>
            <a:ln>
              <a:noFill/>
            </a:ln>
          </p:spPr>
        </p:pic>
        <p:pic>
          <p:nvPicPr>
            <p:cNvPr id="411" name="Google Shape;411;g34d15c52dd9_0_475"/>
            <p:cNvPicPr preferRelativeResize="0"/>
            <p:nvPr/>
          </p:nvPicPr>
          <p:blipFill rotWithShape="1">
            <a:blip r:embed="rId8">
              <a:alphaModFix/>
            </a:blip>
            <a:srcRect/>
            <a:stretch/>
          </p:blipFill>
          <p:spPr>
            <a:xfrm>
              <a:off x="7343769" y="3587991"/>
              <a:ext cx="1248608" cy="331999"/>
            </a:xfrm>
            <a:prstGeom prst="rect">
              <a:avLst/>
            </a:prstGeom>
            <a:noFill/>
            <a:ln>
              <a:noFill/>
            </a:ln>
          </p:spPr>
        </p:pic>
      </p:grpSp>
      <p:sp>
        <p:nvSpPr>
          <p:cNvPr id="412" name="Google Shape;412;g34d15c52dd9_0_475"/>
          <p:cNvSpPr txBox="1"/>
          <p:nvPr/>
        </p:nvSpPr>
        <p:spPr>
          <a:xfrm>
            <a:off x="3316378" y="3867708"/>
            <a:ext cx="834600" cy="4695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JP" sz="1300" b="1" i="0" u="none" strike="noStrike" cap="none">
                <a:solidFill>
                  <a:schemeClr val="dk1"/>
                </a:solidFill>
                <a:latin typeface="Meiryo"/>
                <a:ea typeface="Meiryo"/>
                <a:cs typeface="Meiryo"/>
                <a:sym typeface="Meiryo"/>
              </a:rPr>
              <a:t>主要</a:t>
            </a:r>
            <a:endParaRPr sz="1300" b="1" i="0" u="none" strike="noStrike" cap="none">
              <a:solidFill>
                <a:schemeClr val="dk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r>
              <a:rPr lang="ja-JP" sz="1300" b="1" i="0" u="none" strike="noStrike" cap="none">
                <a:solidFill>
                  <a:schemeClr val="dk1"/>
                </a:solidFill>
                <a:latin typeface="Meiryo"/>
                <a:ea typeface="Meiryo"/>
                <a:cs typeface="Meiryo"/>
                <a:sym typeface="Meiryo"/>
              </a:rPr>
              <a:t>提携先</a:t>
            </a:r>
            <a:endParaRPr sz="1200" b="0" i="0" u="none" strike="noStrike" cap="none">
              <a:solidFill>
                <a:srgbClr val="000000"/>
              </a:solidFill>
              <a:latin typeface="Meiryo"/>
              <a:ea typeface="Meiryo"/>
              <a:cs typeface="Meiryo"/>
              <a:sym typeface="Meiryo"/>
            </a:endParaRPr>
          </a:p>
        </p:txBody>
      </p:sp>
      <p:cxnSp>
        <p:nvCxnSpPr>
          <p:cNvPr id="413" name="Google Shape;413;g34d15c52dd9_0_475"/>
          <p:cNvCxnSpPr/>
          <p:nvPr/>
        </p:nvCxnSpPr>
        <p:spPr>
          <a:xfrm rot="10800000" flipH="1">
            <a:off x="2768645" y="5869526"/>
            <a:ext cx="5686800" cy="10200"/>
          </a:xfrm>
          <a:prstGeom prst="straightConnector1">
            <a:avLst/>
          </a:prstGeom>
          <a:noFill/>
          <a:ln w="9525" cap="flat" cmpd="sng">
            <a:solidFill>
              <a:srgbClr val="A5A5A5"/>
            </a:solidFill>
            <a:prstDash val="solid"/>
            <a:round/>
            <a:headEnd type="none" w="sm" len="sm"/>
            <a:tailEnd type="none" w="sm" len="sm"/>
          </a:ln>
        </p:spPr>
      </p:cxnSp>
      <p:sp>
        <p:nvSpPr>
          <p:cNvPr id="414" name="Google Shape;414;g34d15c52dd9_0_475"/>
          <p:cNvSpPr txBox="1"/>
          <p:nvPr/>
        </p:nvSpPr>
        <p:spPr>
          <a:xfrm>
            <a:off x="0" y="629836"/>
            <a:ext cx="9144000" cy="332100"/>
          </a:xfrm>
          <a:prstGeom prst="rect">
            <a:avLst/>
          </a:prstGeom>
          <a:solidFill>
            <a:srgbClr val="36394B"/>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r>
              <a:rPr lang="ja-JP" sz="1400" b="1" i="0" u="none" strike="noStrike" cap="none">
                <a:solidFill>
                  <a:schemeClr val="lt1"/>
                </a:solidFill>
                <a:latin typeface="Meiryo"/>
                <a:ea typeface="Meiryo"/>
                <a:cs typeface="Meiryo"/>
                <a:sym typeface="Meiryo"/>
              </a:rPr>
              <a:t>大手事業会社や投資家の皆様にサポート頂いております</a:t>
            </a:r>
            <a:endParaRPr sz="1400" b="1" i="0" u="none" strike="noStrike" cap="none">
              <a:solidFill>
                <a:schemeClr val="lt1"/>
              </a:solidFill>
              <a:latin typeface="Meiryo"/>
              <a:ea typeface="Meiryo"/>
              <a:cs typeface="Meiryo"/>
              <a:sym typeface="Meiryo"/>
            </a:endParaRPr>
          </a:p>
        </p:txBody>
      </p:sp>
      <p:sp>
        <p:nvSpPr>
          <p:cNvPr id="415" name="Google Shape;415;g34d15c52dd9_0_475"/>
          <p:cNvSpPr txBox="1"/>
          <p:nvPr/>
        </p:nvSpPr>
        <p:spPr>
          <a:xfrm>
            <a:off x="387419" y="3366295"/>
            <a:ext cx="1848900" cy="11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0"/>
              <a:buFont typeface="Arial"/>
              <a:buNone/>
            </a:pPr>
            <a:r>
              <a:rPr lang="ja-JP" sz="8000" b="1" i="0" u="none" strike="noStrike" cap="none">
                <a:solidFill>
                  <a:srgbClr val="C68A65"/>
                </a:solidFill>
                <a:latin typeface="Meiryo"/>
                <a:ea typeface="Meiryo"/>
                <a:cs typeface="Meiryo"/>
                <a:sym typeface="Meiryo"/>
              </a:rPr>
              <a:t>27</a:t>
            </a:r>
            <a:endParaRPr sz="8000" b="1" i="0" u="none" strike="noStrike" cap="none">
              <a:solidFill>
                <a:srgbClr val="C68A65"/>
              </a:solidFill>
              <a:latin typeface="Meiryo"/>
              <a:ea typeface="Meiryo"/>
              <a:cs typeface="Meiryo"/>
              <a:sym typeface="Meiryo"/>
            </a:endParaRPr>
          </a:p>
        </p:txBody>
      </p:sp>
      <p:sp>
        <p:nvSpPr>
          <p:cNvPr id="416" name="Google Shape;416;g34d15c52dd9_0_475"/>
          <p:cNvSpPr txBox="1"/>
          <p:nvPr/>
        </p:nvSpPr>
        <p:spPr>
          <a:xfrm>
            <a:off x="331011" y="3037653"/>
            <a:ext cx="2049300" cy="362400"/>
          </a:xfrm>
          <a:prstGeom prst="rect">
            <a:avLst/>
          </a:prstGeom>
          <a:solidFill>
            <a:srgbClr val="C68A6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ja-JP" sz="1600" b="1" i="0" u="none" strike="noStrike" cap="none">
                <a:solidFill>
                  <a:schemeClr val="lt1"/>
                </a:solidFill>
                <a:latin typeface="Meiryo"/>
                <a:ea typeface="Meiryo"/>
                <a:cs typeface="Meiryo"/>
                <a:sym typeface="Meiryo"/>
              </a:rPr>
              <a:t>ワイン在庫</a:t>
            </a:r>
            <a:r>
              <a:rPr lang="ja-JP" sz="1200" b="1" i="0" u="none" strike="noStrike" cap="none">
                <a:solidFill>
                  <a:schemeClr val="lt1"/>
                </a:solidFill>
                <a:latin typeface="Meiryo"/>
                <a:ea typeface="Meiryo"/>
                <a:cs typeface="Meiryo"/>
                <a:sym typeface="Meiryo"/>
              </a:rPr>
              <a:t>(管理含む）</a:t>
            </a:r>
            <a:endParaRPr sz="1600" b="1" i="0" u="none" strike="noStrike" cap="none">
              <a:solidFill>
                <a:schemeClr val="lt1"/>
              </a:solidFill>
              <a:latin typeface="Meiryo"/>
              <a:ea typeface="Meiryo"/>
              <a:cs typeface="Meiryo"/>
              <a:sym typeface="Meiryo"/>
            </a:endParaRPr>
          </a:p>
        </p:txBody>
      </p:sp>
      <p:pic>
        <p:nvPicPr>
          <p:cNvPr id="417" name="Google Shape;417;g34d15c52dd9_0_475"/>
          <p:cNvPicPr preferRelativeResize="0"/>
          <p:nvPr/>
        </p:nvPicPr>
        <p:blipFill rotWithShape="1">
          <a:blip r:embed="rId9">
            <a:alphaModFix/>
          </a:blip>
          <a:srcRect/>
          <a:stretch/>
        </p:blipFill>
        <p:spPr>
          <a:xfrm>
            <a:off x="6587130" y="2511880"/>
            <a:ext cx="1690157" cy="283972"/>
          </a:xfrm>
          <a:prstGeom prst="rect">
            <a:avLst/>
          </a:prstGeom>
          <a:noFill/>
          <a:ln>
            <a:noFill/>
          </a:ln>
        </p:spPr>
      </p:pic>
      <p:sp>
        <p:nvSpPr>
          <p:cNvPr id="418" name="Google Shape;418;g34d15c52dd9_0_475"/>
          <p:cNvSpPr txBox="1"/>
          <p:nvPr/>
        </p:nvSpPr>
        <p:spPr>
          <a:xfrm>
            <a:off x="3518908" y="2012272"/>
            <a:ext cx="656700" cy="2694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300" b="1" i="0" u="none" strike="noStrike" cap="none">
                <a:solidFill>
                  <a:schemeClr val="dk1"/>
                </a:solidFill>
                <a:latin typeface="Meiryo"/>
                <a:ea typeface="Meiryo"/>
                <a:cs typeface="Meiryo"/>
                <a:sym typeface="Meiryo"/>
              </a:rPr>
              <a:t>株主</a:t>
            </a:r>
            <a:endParaRPr sz="1200" b="0" i="0" u="none" strike="noStrike" cap="none">
              <a:solidFill>
                <a:srgbClr val="000000"/>
              </a:solidFill>
              <a:latin typeface="Meiryo"/>
              <a:ea typeface="Meiryo"/>
              <a:cs typeface="Meiryo"/>
              <a:sym typeface="Meiryo"/>
            </a:endParaRPr>
          </a:p>
        </p:txBody>
      </p:sp>
      <p:sp>
        <p:nvSpPr>
          <p:cNvPr id="419" name="Google Shape;419;g34d15c52dd9_0_475"/>
          <p:cNvSpPr/>
          <p:nvPr/>
        </p:nvSpPr>
        <p:spPr>
          <a:xfrm>
            <a:off x="4272514" y="1319453"/>
            <a:ext cx="1596000" cy="307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東証プライム上場</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マネーフォワードグループ</a:t>
            </a:r>
            <a:endParaRPr sz="800" b="0" i="0" u="none" strike="noStrike" cap="none">
              <a:solidFill>
                <a:srgbClr val="000000"/>
              </a:solidFill>
              <a:latin typeface="Meiryo"/>
              <a:ea typeface="Meiryo"/>
              <a:cs typeface="Meiryo"/>
              <a:sym typeface="Meiryo"/>
            </a:endParaRPr>
          </a:p>
        </p:txBody>
      </p:sp>
      <p:sp>
        <p:nvSpPr>
          <p:cNvPr id="420" name="Google Shape;420;g34d15c52dd9_0_475"/>
          <p:cNvSpPr/>
          <p:nvPr/>
        </p:nvSpPr>
        <p:spPr>
          <a:xfrm>
            <a:off x="6664473" y="1319475"/>
            <a:ext cx="1321500" cy="307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東証プライム上場</a:t>
            </a:r>
            <a:endParaRPr sz="800" b="0" i="0" u="none" strike="noStrike" cap="none">
              <a:solidFill>
                <a:srgbClr val="000000"/>
              </a:solidFill>
              <a:latin typeface="Meiryo"/>
              <a:ea typeface="Meiryo"/>
              <a:cs typeface="Meiryo"/>
              <a:sym typeface="Meiryo"/>
            </a:endParaRPr>
          </a:p>
        </p:txBody>
      </p:sp>
      <p:sp>
        <p:nvSpPr>
          <p:cNvPr id="421" name="Google Shape;421;g34d15c52dd9_0_475"/>
          <p:cNvSpPr/>
          <p:nvPr/>
        </p:nvSpPr>
        <p:spPr>
          <a:xfrm>
            <a:off x="6451501" y="2178918"/>
            <a:ext cx="1746000" cy="307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超富裕層向けファミリーオフィス</a:t>
            </a:r>
            <a:endParaRPr sz="800" b="0" i="0" u="none" strike="noStrike" cap="none">
              <a:solidFill>
                <a:srgbClr val="000000"/>
              </a:solidFill>
              <a:latin typeface="Meiryo"/>
              <a:ea typeface="Meiryo"/>
              <a:cs typeface="Meiryo"/>
              <a:sym typeface="Meiryo"/>
            </a:endParaRPr>
          </a:p>
        </p:txBody>
      </p:sp>
      <p:sp>
        <p:nvSpPr>
          <p:cNvPr id="422" name="Google Shape;422;g34d15c52dd9_0_475"/>
          <p:cNvSpPr/>
          <p:nvPr/>
        </p:nvSpPr>
        <p:spPr>
          <a:xfrm>
            <a:off x="4314797" y="2152820"/>
            <a:ext cx="1371300" cy="307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独立系最大の倉庫会社</a:t>
            </a:r>
            <a:endParaRPr sz="800" b="0" i="0" u="none" strike="noStrike" cap="none">
              <a:solidFill>
                <a:srgbClr val="000000"/>
              </a:solidFill>
              <a:latin typeface="Meiryo"/>
              <a:ea typeface="Meiryo"/>
              <a:cs typeface="Meiryo"/>
              <a:sym typeface="Meiryo"/>
            </a:endParaRPr>
          </a:p>
        </p:txBody>
      </p:sp>
      <p:grpSp>
        <p:nvGrpSpPr>
          <p:cNvPr id="423" name="Google Shape;423;g34d15c52dd9_0_475"/>
          <p:cNvGrpSpPr/>
          <p:nvPr/>
        </p:nvGrpSpPr>
        <p:grpSpPr>
          <a:xfrm>
            <a:off x="239571" y="1194161"/>
            <a:ext cx="2823458" cy="1445831"/>
            <a:chOff x="611507" y="1537109"/>
            <a:chExt cx="2425860" cy="1445831"/>
          </a:xfrm>
        </p:grpSpPr>
        <p:sp>
          <p:nvSpPr>
            <p:cNvPr id="424" name="Google Shape;424;g34d15c52dd9_0_475"/>
            <p:cNvSpPr txBox="1"/>
            <p:nvPr/>
          </p:nvSpPr>
          <p:spPr>
            <a:xfrm>
              <a:off x="611507" y="1811440"/>
              <a:ext cx="1715700" cy="11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0"/>
                <a:buFont typeface="Arial"/>
                <a:buNone/>
              </a:pPr>
              <a:r>
                <a:rPr lang="ja-JP" sz="8000" b="1" i="0" u="none" strike="noStrike" cap="none">
                  <a:solidFill>
                    <a:srgbClr val="C68A65"/>
                  </a:solidFill>
                  <a:latin typeface="Meiryo"/>
                  <a:ea typeface="Meiryo"/>
                  <a:cs typeface="Meiryo"/>
                  <a:sym typeface="Meiryo"/>
                </a:rPr>
                <a:t>4.1</a:t>
              </a:r>
              <a:endParaRPr sz="2600" b="0" i="0" u="none" strike="noStrike" cap="none">
                <a:solidFill>
                  <a:srgbClr val="C68A65"/>
                </a:solidFill>
                <a:latin typeface="Meiryo"/>
                <a:ea typeface="Meiryo"/>
                <a:cs typeface="Meiryo"/>
                <a:sym typeface="Meiryo"/>
              </a:endParaRPr>
            </a:p>
          </p:txBody>
        </p:sp>
        <p:sp>
          <p:nvSpPr>
            <p:cNvPr id="425" name="Google Shape;425;g34d15c52dd9_0_475"/>
            <p:cNvSpPr txBox="1"/>
            <p:nvPr/>
          </p:nvSpPr>
          <p:spPr>
            <a:xfrm>
              <a:off x="686064" y="1537109"/>
              <a:ext cx="1329900" cy="362400"/>
            </a:xfrm>
            <a:prstGeom prst="rect">
              <a:avLst/>
            </a:prstGeom>
            <a:solidFill>
              <a:srgbClr val="C68A6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ja-JP" sz="1600" b="1" i="0" u="none" strike="noStrike" cap="none">
                  <a:solidFill>
                    <a:schemeClr val="lt1"/>
                  </a:solidFill>
                  <a:latin typeface="Meiryo"/>
                  <a:ea typeface="Meiryo"/>
                  <a:cs typeface="Meiryo"/>
                  <a:sym typeface="Meiryo"/>
                </a:rPr>
                <a:t>累計調達額</a:t>
              </a:r>
              <a:endParaRPr sz="1600" b="1" i="0" u="none" strike="noStrike" cap="none">
                <a:solidFill>
                  <a:schemeClr val="lt1"/>
                </a:solidFill>
                <a:latin typeface="Meiryo"/>
                <a:ea typeface="Meiryo"/>
                <a:cs typeface="Meiryo"/>
                <a:sym typeface="Meiryo"/>
              </a:endParaRPr>
            </a:p>
          </p:txBody>
        </p:sp>
        <p:sp>
          <p:nvSpPr>
            <p:cNvPr id="426" name="Google Shape;426;g34d15c52dd9_0_475"/>
            <p:cNvSpPr txBox="1"/>
            <p:nvPr/>
          </p:nvSpPr>
          <p:spPr>
            <a:xfrm>
              <a:off x="2157467" y="2454993"/>
              <a:ext cx="8799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a:solidFill>
                    <a:srgbClr val="C68A65"/>
                  </a:solidFill>
                  <a:latin typeface="Meiryo"/>
                  <a:ea typeface="Meiryo"/>
                  <a:cs typeface="Meiryo"/>
                  <a:sym typeface="Meiryo"/>
                </a:rPr>
                <a:t>億円</a:t>
              </a:r>
              <a:endParaRPr sz="2400" b="1" i="0" u="none" strike="noStrike" cap="none">
                <a:solidFill>
                  <a:srgbClr val="C68A65"/>
                </a:solidFill>
                <a:latin typeface="Meiryo"/>
                <a:ea typeface="Meiryo"/>
                <a:cs typeface="Meiryo"/>
                <a:sym typeface="Meiryo"/>
              </a:endParaRPr>
            </a:p>
          </p:txBody>
        </p:sp>
      </p:grpSp>
      <p:sp>
        <p:nvSpPr>
          <p:cNvPr id="427" name="Google Shape;427;g34d15c52dd9_0_475"/>
          <p:cNvSpPr txBox="1"/>
          <p:nvPr/>
        </p:nvSpPr>
        <p:spPr>
          <a:xfrm>
            <a:off x="1897433" y="3975632"/>
            <a:ext cx="8799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a:solidFill>
                  <a:srgbClr val="C68A65"/>
                </a:solidFill>
                <a:latin typeface="Meiryo"/>
                <a:ea typeface="Meiryo"/>
                <a:cs typeface="Meiryo"/>
                <a:sym typeface="Meiryo"/>
              </a:rPr>
              <a:t>億円</a:t>
            </a:r>
            <a:endParaRPr sz="2400" b="1" i="0" u="none" strike="noStrike" cap="none">
              <a:solidFill>
                <a:srgbClr val="C68A65"/>
              </a:solidFill>
              <a:latin typeface="Meiryo"/>
              <a:ea typeface="Meiryo"/>
              <a:cs typeface="Meiryo"/>
              <a:sym typeface="Meiryo"/>
            </a:endParaRPr>
          </a:p>
        </p:txBody>
      </p:sp>
      <p:pic>
        <p:nvPicPr>
          <p:cNvPr id="428" name="Google Shape;428;g34d15c52dd9_0_475" title="2019_Terrada_logo_透過.png"/>
          <p:cNvPicPr preferRelativeResize="0"/>
          <p:nvPr/>
        </p:nvPicPr>
        <p:blipFill rotWithShape="1">
          <a:blip r:embed="rId10">
            <a:alphaModFix/>
          </a:blip>
          <a:srcRect/>
          <a:stretch/>
        </p:blipFill>
        <p:spPr>
          <a:xfrm>
            <a:off x="4445017" y="2445874"/>
            <a:ext cx="1387483" cy="362400"/>
          </a:xfrm>
          <a:prstGeom prst="rect">
            <a:avLst/>
          </a:prstGeom>
          <a:noFill/>
          <a:ln>
            <a:noFill/>
          </a:ln>
        </p:spPr>
      </p:pic>
      <p:pic>
        <p:nvPicPr>
          <p:cNvPr id="429" name="Google Shape;429;g34d15c52dd9_0_475" title="logo_vector.png"/>
          <p:cNvPicPr preferRelativeResize="0"/>
          <p:nvPr/>
        </p:nvPicPr>
        <p:blipFill rotWithShape="1">
          <a:blip r:embed="rId11">
            <a:alphaModFix/>
          </a:blip>
          <a:srcRect/>
          <a:stretch/>
        </p:blipFill>
        <p:spPr>
          <a:xfrm>
            <a:off x="6451700" y="1552575"/>
            <a:ext cx="1644550" cy="545991"/>
          </a:xfrm>
          <a:prstGeom prst="rect">
            <a:avLst/>
          </a:prstGeom>
          <a:noFill/>
          <a:ln>
            <a:noFill/>
          </a:ln>
        </p:spPr>
      </p:pic>
      <p:pic>
        <p:nvPicPr>
          <p:cNvPr id="430" name="Google Shape;430;g34d15c52dd9_0_475" title="MFVPロゴ.png"/>
          <p:cNvPicPr preferRelativeResize="0"/>
          <p:nvPr/>
        </p:nvPicPr>
        <p:blipFill rotWithShape="1">
          <a:blip r:embed="rId12">
            <a:alphaModFix/>
          </a:blip>
          <a:srcRect/>
          <a:stretch/>
        </p:blipFill>
        <p:spPr>
          <a:xfrm>
            <a:off x="4259297" y="1631074"/>
            <a:ext cx="2293902" cy="395500"/>
          </a:xfrm>
          <a:prstGeom prst="rect">
            <a:avLst/>
          </a:prstGeom>
          <a:noFill/>
          <a:ln>
            <a:noFill/>
          </a:ln>
        </p:spPr>
      </p:pic>
      <p:sp>
        <p:nvSpPr>
          <p:cNvPr id="431" name="Google Shape;431;g34d15c52dd9_0_475"/>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18</a:t>
            </a:fld>
            <a:endParaRPr sz="7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pic>
        <p:nvPicPr>
          <p:cNvPr id="436" name="Google Shape;436;g34d15c52dd9_0_291"/>
          <p:cNvPicPr preferRelativeResize="0"/>
          <p:nvPr/>
        </p:nvPicPr>
        <p:blipFill rotWithShape="1">
          <a:blip r:embed="rId3">
            <a:alphaModFix/>
          </a:blip>
          <a:srcRect t="7983" b="7805"/>
          <a:stretch/>
        </p:blipFill>
        <p:spPr>
          <a:xfrm>
            <a:off x="0" y="0"/>
            <a:ext cx="9161919" cy="5143500"/>
          </a:xfrm>
          <a:prstGeom prst="rect">
            <a:avLst/>
          </a:prstGeom>
          <a:noFill/>
          <a:ln>
            <a:noFill/>
          </a:ln>
        </p:spPr>
      </p:pic>
      <p:sp>
        <p:nvSpPr>
          <p:cNvPr id="437" name="Google Shape;437;g34d15c52dd9_0_291"/>
          <p:cNvSpPr/>
          <p:nvPr/>
        </p:nvSpPr>
        <p:spPr>
          <a:xfrm>
            <a:off x="-1" y="0"/>
            <a:ext cx="9144000" cy="5143500"/>
          </a:xfrm>
          <a:prstGeom prst="rect">
            <a:avLst/>
          </a:prstGeom>
          <a:solidFill>
            <a:schemeClr val="dk1">
              <a:alpha val="63529"/>
            </a:schemeClr>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200"/>
              <a:buFont typeface="Arial"/>
              <a:buNone/>
            </a:pPr>
            <a:r>
              <a:rPr lang="ja-JP" sz="1200" b="0" i="0" u="none" strike="noStrike" cap="none">
                <a:solidFill>
                  <a:schemeClr val="lt1"/>
                </a:solidFill>
                <a:latin typeface="Meiryo"/>
                <a:ea typeface="Meiryo"/>
                <a:cs typeface="Meiryo"/>
                <a:sym typeface="Meiryo"/>
              </a:rPr>
              <a:t>　　　　　　　　　　　　　　　　　　　</a:t>
            </a:r>
            <a:endParaRPr sz="1200" b="1" i="0" u="none" strike="noStrike" cap="none">
              <a:solidFill>
                <a:schemeClr val="lt1"/>
              </a:solidFill>
              <a:latin typeface="Meiryo"/>
              <a:ea typeface="Meiryo"/>
              <a:cs typeface="Meiryo"/>
              <a:sym typeface="Meiryo"/>
            </a:endParaRPr>
          </a:p>
        </p:txBody>
      </p:sp>
      <p:sp>
        <p:nvSpPr>
          <p:cNvPr id="438" name="Google Shape;438;g34d15c52dd9_0_291"/>
          <p:cNvSpPr txBox="1"/>
          <p:nvPr/>
        </p:nvSpPr>
        <p:spPr>
          <a:xfrm>
            <a:off x="239766" y="287249"/>
            <a:ext cx="2216400" cy="253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200" b="1" i="0" u="none" strike="noStrike" cap="none">
                <a:solidFill>
                  <a:schemeClr val="lt1"/>
                </a:solidFill>
                <a:latin typeface="Meiryo"/>
                <a:ea typeface="Meiryo"/>
                <a:cs typeface="Meiryo"/>
                <a:sym typeface="Meiryo"/>
              </a:rPr>
              <a:t>事業の強み</a:t>
            </a:r>
            <a:endParaRPr sz="1200" b="1" i="0" u="none" strike="noStrike" cap="none">
              <a:solidFill>
                <a:schemeClr val="lt1"/>
              </a:solidFill>
              <a:latin typeface="Meiryo"/>
              <a:ea typeface="Meiryo"/>
              <a:cs typeface="Meiryo"/>
              <a:sym typeface="Meiryo"/>
            </a:endParaRPr>
          </a:p>
        </p:txBody>
      </p:sp>
      <p:sp>
        <p:nvSpPr>
          <p:cNvPr id="439" name="Google Shape;439;g34d15c52dd9_0_291"/>
          <p:cNvSpPr/>
          <p:nvPr/>
        </p:nvSpPr>
        <p:spPr>
          <a:xfrm>
            <a:off x="790414" y="953146"/>
            <a:ext cx="7566900" cy="546300"/>
          </a:xfrm>
          <a:prstGeom prst="rect">
            <a:avLst/>
          </a:prstGeom>
          <a:solidFill>
            <a:schemeClr val="lt1">
              <a:alpha val="40000"/>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rgbClr val="000000"/>
              </a:buClr>
              <a:buSzPts val="1100"/>
              <a:buFont typeface="Arial"/>
              <a:buNone/>
            </a:pPr>
            <a:r>
              <a:rPr lang="ja-JP" sz="1400" b="0" i="0" u="none" strike="noStrike" cap="none">
                <a:solidFill>
                  <a:schemeClr val="lt1"/>
                </a:solidFill>
                <a:latin typeface="Meiryo"/>
                <a:ea typeface="Meiryo"/>
                <a:cs typeface="Meiryo"/>
                <a:sym typeface="Meiryo"/>
              </a:rPr>
              <a:t>１．創業55年の酒販業実績（昭和の酒販店）</a:t>
            </a:r>
            <a:endParaRPr sz="1400" b="0" i="0" u="none" strike="noStrike" cap="none">
              <a:solidFill>
                <a:schemeClr val="lt1"/>
              </a:solidFill>
              <a:latin typeface="Meiryo"/>
              <a:ea typeface="Meiryo"/>
              <a:cs typeface="Meiryo"/>
              <a:sym typeface="Meiryo"/>
            </a:endParaRPr>
          </a:p>
        </p:txBody>
      </p:sp>
      <p:sp>
        <p:nvSpPr>
          <p:cNvPr id="440" name="Google Shape;440;g34d15c52dd9_0_291"/>
          <p:cNvSpPr/>
          <p:nvPr/>
        </p:nvSpPr>
        <p:spPr>
          <a:xfrm>
            <a:off x="790414" y="1850178"/>
            <a:ext cx="7566900" cy="546300"/>
          </a:xfrm>
          <a:prstGeom prst="rect">
            <a:avLst/>
          </a:prstGeom>
          <a:solidFill>
            <a:schemeClr val="lt1">
              <a:alpha val="40000"/>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rgbClr val="000000"/>
              </a:buClr>
              <a:buSzPts val="1100"/>
              <a:buFont typeface="Arial"/>
              <a:buNone/>
            </a:pPr>
            <a:r>
              <a:rPr lang="ja-JP" sz="1400" b="0" i="0" u="none" strike="noStrike" cap="none">
                <a:solidFill>
                  <a:schemeClr val="lt1"/>
                </a:solidFill>
                <a:latin typeface="Meiryo"/>
                <a:ea typeface="Meiryo"/>
                <a:cs typeface="Meiryo"/>
                <a:sym typeface="Meiryo"/>
              </a:rPr>
              <a:t>２．国内大手有名インポーターからの直接取引による特価・正規品仕入</a:t>
            </a:r>
            <a:endParaRPr sz="1400" b="0" i="0" u="none" strike="noStrike" cap="none">
              <a:solidFill>
                <a:schemeClr val="lt1"/>
              </a:solidFill>
              <a:latin typeface="Arial"/>
              <a:ea typeface="Arial"/>
              <a:cs typeface="Arial"/>
              <a:sym typeface="Arial"/>
            </a:endParaRPr>
          </a:p>
        </p:txBody>
      </p:sp>
      <p:sp>
        <p:nvSpPr>
          <p:cNvPr id="441" name="Google Shape;441;g34d15c52dd9_0_291"/>
          <p:cNvSpPr/>
          <p:nvPr/>
        </p:nvSpPr>
        <p:spPr>
          <a:xfrm>
            <a:off x="790414" y="2747210"/>
            <a:ext cx="7566900" cy="546300"/>
          </a:xfrm>
          <a:prstGeom prst="rect">
            <a:avLst/>
          </a:prstGeom>
          <a:solidFill>
            <a:schemeClr val="lt1">
              <a:alpha val="40000"/>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rgbClr val="000000"/>
              </a:buClr>
              <a:buSzPts val="1100"/>
              <a:buFont typeface="Arial"/>
              <a:buNone/>
            </a:pPr>
            <a:r>
              <a:rPr lang="ja-JP" sz="1400" b="0" i="0" u="none" strike="noStrike" cap="none">
                <a:solidFill>
                  <a:schemeClr val="lt1"/>
                </a:solidFill>
                <a:latin typeface="Meiryo"/>
                <a:ea typeface="Meiryo"/>
                <a:cs typeface="Meiryo"/>
                <a:sym typeface="Meiryo"/>
              </a:rPr>
              <a:t>３．海外輸出入ライセンスを活かしたネットワーク・情報収集・仕入力</a:t>
            </a:r>
            <a:endParaRPr sz="1100" b="0" i="0" u="none" strike="noStrike" cap="none">
              <a:solidFill>
                <a:srgbClr val="000000"/>
              </a:solidFill>
              <a:latin typeface="Arial"/>
              <a:ea typeface="Arial"/>
              <a:cs typeface="Arial"/>
              <a:sym typeface="Arial"/>
            </a:endParaRPr>
          </a:p>
        </p:txBody>
      </p:sp>
      <p:sp>
        <p:nvSpPr>
          <p:cNvPr id="442" name="Google Shape;442;g34d15c52dd9_0_291"/>
          <p:cNvSpPr/>
          <p:nvPr/>
        </p:nvSpPr>
        <p:spPr>
          <a:xfrm>
            <a:off x="790414" y="3644243"/>
            <a:ext cx="7566900" cy="546300"/>
          </a:xfrm>
          <a:prstGeom prst="rect">
            <a:avLst/>
          </a:prstGeom>
          <a:solidFill>
            <a:schemeClr val="lt1">
              <a:alpha val="40000"/>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rgbClr val="000000"/>
              </a:buClr>
              <a:buSzPts val="1400"/>
              <a:buFont typeface="Arial"/>
              <a:buNone/>
            </a:pPr>
            <a:r>
              <a:rPr lang="ja-JP" sz="1400" b="0" i="0" u="none" strike="noStrike" cap="none">
                <a:solidFill>
                  <a:schemeClr val="lt1"/>
                </a:solidFill>
                <a:latin typeface="Meiryo"/>
                <a:ea typeface="Meiryo"/>
                <a:cs typeface="Meiryo"/>
                <a:sym typeface="Meiryo"/>
              </a:rPr>
              <a:t>４．ワイン通販・仕入れノウハウ</a:t>
            </a:r>
            <a:endParaRPr sz="1100" b="0" i="0" u="none" strike="noStrike" cap="none">
              <a:solidFill>
                <a:srgbClr val="000000"/>
              </a:solidFill>
              <a:latin typeface="Arial"/>
              <a:ea typeface="Arial"/>
              <a:cs typeface="Arial"/>
              <a:sym typeface="Arial"/>
            </a:endParaRPr>
          </a:p>
        </p:txBody>
      </p:sp>
      <p:sp>
        <p:nvSpPr>
          <p:cNvPr id="443" name="Google Shape;443;g34d15c52dd9_0_291"/>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19</a:t>
            </a:fld>
            <a:endParaRPr sz="700"/>
          </a:p>
        </p:txBody>
      </p:sp>
      <p:sp>
        <p:nvSpPr>
          <p:cNvPr id="444" name="Google Shape;444;g34d15c52dd9_0_291"/>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g3a7ae55b3ca_0_111"/>
          <p:cNvSpPr/>
          <p:nvPr/>
        </p:nvSpPr>
        <p:spPr>
          <a:xfrm>
            <a:off x="4524759" y="3164600"/>
            <a:ext cx="4301700" cy="1418700"/>
          </a:xfrm>
          <a:prstGeom prst="roundRect">
            <a:avLst>
              <a:gd name="adj" fmla="val 6401"/>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450" name="Google Shape;450;g3a7ae55b3ca_0_111"/>
          <p:cNvSpPr/>
          <p:nvPr/>
        </p:nvSpPr>
        <p:spPr>
          <a:xfrm>
            <a:off x="317662" y="3167533"/>
            <a:ext cx="4064400" cy="1415700"/>
          </a:xfrm>
          <a:prstGeom prst="roundRect">
            <a:avLst>
              <a:gd name="adj" fmla="val 3399"/>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451" name="Google Shape;451;g3a7ae55b3ca_0_111"/>
          <p:cNvSpPr/>
          <p:nvPr/>
        </p:nvSpPr>
        <p:spPr>
          <a:xfrm>
            <a:off x="317662" y="1364227"/>
            <a:ext cx="4064400" cy="1415700"/>
          </a:xfrm>
          <a:prstGeom prst="roundRect">
            <a:avLst>
              <a:gd name="adj" fmla="val 3399"/>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452" name="Google Shape;452;g3a7ae55b3ca_0_111"/>
          <p:cNvSpPr/>
          <p:nvPr/>
        </p:nvSpPr>
        <p:spPr>
          <a:xfrm>
            <a:off x="4524759" y="1364227"/>
            <a:ext cx="4301700" cy="1418700"/>
          </a:xfrm>
          <a:prstGeom prst="roundRect">
            <a:avLst>
              <a:gd name="adj" fmla="val 6401"/>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453" name="Google Shape;453;g3a7ae55b3ca_0_111"/>
          <p:cNvSpPr txBox="1"/>
          <p:nvPr/>
        </p:nvSpPr>
        <p:spPr>
          <a:xfrm>
            <a:off x="239767" y="287249"/>
            <a:ext cx="2013600" cy="284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rgbClr val="000000"/>
                </a:solidFill>
                <a:latin typeface="Meiryo"/>
                <a:ea typeface="Meiryo"/>
                <a:cs typeface="Meiryo"/>
                <a:sym typeface="Meiryo"/>
              </a:rPr>
              <a:t>事業概要</a:t>
            </a:r>
            <a:endParaRPr sz="1400" b="1" i="0" u="none" strike="noStrike" cap="none">
              <a:solidFill>
                <a:srgbClr val="000000"/>
              </a:solidFill>
              <a:latin typeface="Meiryo"/>
              <a:ea typeface="Meiryo"/>
              <a:cs typeface="Meiryo"/>
              <a:sym typeface="Meiryo"/>
            </a:endParaRPr>
          </a:p>
        </p:txBody>
      </p:sp>
      <p:sp>
        <p:nvSpPr>
          <p:cNvPr id="454" name="Google Shape;454;g3a7ae55b3ca_0_111"/>
          <p:cNvSpPr txBox="1"/>
          <p:nvPr/>
        </p:nvSpPr>
        <p:spPr>
          <a:xfrm>
            <a:off x="0" y="673748"/>
            <a:ext cx="9144000" cy="327900"/>
          </a:xfrm>
          <a:prstGeom prst="rect">
            <a:avLst/>
          </a:prstGeom>
          <a:solidFill>
            <a:srgbClr val="36394B"/>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r>
              <a:rPr lang="ja-JP" sz="1400" b="1" i="0" u="none" strike="noStrike" cap="none">
                <a:solidFill>
                  <a:schemeClr val="lt1"/>
                </a:solidFill>
                <a:latin typeface="Meiryo"/>
                <a:ea typeface="Meiryo"/>
                <a:cs typeface="Meiryo"/>
                <a:sym typeface="Meiryo"/>
              </a:rPr>
              <a:t>ワインの仕入れを強みに、オンライン×オフラインでの事業展開</a:t>
            </a:r>
            <a:endParaRPr sz="1400" b="1" i="0" u="none" strike="noStrike" cap="none">
              <a:solidFill>
                <a:schemeClr val="lt1"/>
              </a:solidFill>
              <a:latin typeface="Meiryo"/>
              <a:ea typeface="Meiryo"/>
              <a:cs typeface="Meiryo"/>
              <a:sym typeface="Meiryo"/>
            </a:endParaRPr>
          </a:p>
        </p:txBody>
      </p:sp>
      <p:sp>
        <p:nvSpPr>
          <p:cNvPr id="455" name="Google Shape;455;g3a7ae55b3ca_0_111"/>
          <p:cNvSpPr/>
          <p:nvPr/>
        </p:nvSpPr>
        <p:spPr>
          <a:xfrm>
            <a:off x="0" y="5021036"/>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456" name="Google Shape;456;g3a7ae55b3ca_0_111"/>
          <p:cNvSpPr/>
          <p:nvPr/>
        </p:nvSpPr>
        <p:spPr>
          <a:xfrm>
            <a:off x="6731651" y="3381323"/>
            <a:ext cx="1862100" cy="2739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JP" sz="1200" b="1" i="0" u="none" strike="noStrike" cap="none">
                <a:solidFill>
                  <a:srgbClr val="30373F"/>
                </a:solidFill>
                <a:latin typeface="Meiryo"/>
                <a:ea typeface="Meiryo"/>
                <a:cs typeface="Meiryo"/>
                <a:sym typeface="Meiryo"/>
              </a:rPr>
              <a:t>会員制ワインサロン事業</a:t>
            </a:r>
            <a:endParaRPr sz="1100" b="0" i="0" u="none" strike="noStrike" cap="none">
              <a:solidFill>
                <a:srgbClr val="000000"/>
              </a:solidFill>
              <a:latin typeface="Meiryo"/>
              <a:ea typeface="Meiryo"/>
              <a:cs typeface="Meiryo"/>
              <a:sym typeface="Meiryo"/>
            </a:endParaRPr>
          </a:p>
        </p:txBody>
      </p:sp>
      <p:sp>
        <p:nvSpPr>
          <p:cNvPr id="457" name="Google Shape;457;g3a7ae55b3ca_0_111"/>
          <p:cNvSpPr/>
          <p:nvPr/>
        </p:nvSpPr>
        <p:spPr>
          <a:xfrm>
            <a:off x="4835450" y="3569786"/>
            <a:ext cx="1648800" cy="6972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JP" sz="2100" b="1" i="0" u="none" strike="noStrike" cap="none">
                <a:solidFill>
                  <a:srgbClr val="30373F"/>
                </a:solidFill>
                <a:latin typeface="Times New Roman"/>
                <a:ea typeface="Times New Roman"/>
                <a:cs typeface="Times New Roman"/>
                <a:sym typeface="Times New Roman"/>
              </a:rPr>
              <a:t>WineBank</a:t>
            </a:r>
            <a:endParaRPr sz="2100" b="1" i="0" u="none" strike="noStrike" cap="none">
              <a:solidFill>
                <a:srgbClr val="30373F"/>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ja-JP" sz="2100" b="1" i="0" u="none" strike="noStrike" cap="none">
                <a:solidFill>
                  <a:srgbClr val="30373F"/>
                </a:solidFill>
                <a:latin typeface="Times New Roman"/>
                <a:ea typeface="Times New Roman"/>
                <a:cs typeface="Times New Roman"/>
                <a:sym typeface="Times New Roman"/>
              </a:rPr>
              <a:t>CLUB</a:t>
            </a:r>
            <a:endParaRPr sz="1900" b="1" i="0" u="none" strike="noStrike" cap="none">
              <a:solidFill>
                <a:srgbClr val="000000"/>
              </a:solidFill>
              <a:latin typeface="Times New Roman"/>
              <a:ea typeface="Times New Roman"/>
              <a:cs typeface="Times New Roman"/>
              <a:sym typeface="Times New Roman"/>
            </a:endParaRPr>
          </a:p>
        </p:txBody>
      </p:sp>
      <p:sp>
        <p:nvSpPr>
          <p:cNvPr id="458" name="Google Shape;458;g3a7ae55b3ca_0_111"/>
          <p:cNvSpPr txBox="1">
            <a:spLocks noGrp="1"/>
          </p:cNvSpPr>
          <p:nvPr>
            <p:ph type="sldNum" idx="12"/>
          </p:nvPr>
        </p:nvSpPr>
        <p:spPr>
          <a:xfrm>
            <a:off x="6965303" y="4530560"/>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a:t>20</a:t>
            </a:fld>
            <a:endParaRPr/>
          </a:p>
        </p:txBody>
      </p:sp>
      <p:grpSp>
        <p:nvGrpSpPr>
          <p:cNvPr id="459" name="Google Shape;459;g3a7ae55b3ca_0_111"/>
          <p:cNvGrpSpPr/>
          <p:nvPr/>
        </p:nvGrpSpPr>
        <p:grpSpPr>
          <a:xfrm>
            <a:off x="2344911" y="1574677"/>
            <a:ext cx="1966939" cy="1113529"/>
            <a:chOff x="651207" y="3637134"/>
            <a:chExt cx="2938800" cy="1113529"/>
          </a:xfrm>
        </p:grpSpPr>
        <p:sp>
          <p:nvSpPr>
            <p:cNvPr id="460" name="Google Shape;460;g3a7ae55b3ca_0_111"/>
            <p:cNvSpPr/>
            <p:nvPr/>
          </p:nvSpPr>
          <p:spPr>
            <a:xfrm>
              <a:off x="651207" y="3876463"/>
              <a:ext cx="2938800" cy="874200"/>
            </a:xfrm>
            <a:prstGeom prst="rect">
              <a:avLst/>
            </a:prstGeom>
            <a:noFill/>
            <a:ln>
              <a:noFill/>
            </a:ln>
          </p:spPr>
          <p:txBody>
            <a:bodyPr spcFirstLastPara="1" wrap="square" lIns="68575" tIns="34275" rIns="68575" bIns="34275" anchor="ctr" anchorCtr="0">
              <a:noAutofit/>
            </a:bodyPr>
            <a:lstStyle/>
            <a:p>
              <a:pPr marL="0" marR="0" lvl="0" indent="0" algn="ctr" rtl="0">
                <a:lnSpc>
                  <a:spcPct val="120000"/>
                </a:lnSpc>
                <a:spcBef>
                  <a:spcPts val="0"/>
                </a:spcBef>
                <a:spcAft>
                  <a:spcPts val="0"/>
                </a:spcAft>
                <a:buClr>
                  <a:srgbClr val="000000"/>
                </a:buClr>
                <a:buSzPts val="1100"/>
                <a:buFont typeface="Arial"/>
                <a:buNone/>
              </a:pPr>
              <a:r>
                <a:rPr lang="ja-JP" sz="1050" b="0" i="0" u="none" strike="noStrike" cap="none">
                  <a:solidFill>
                    <a:srgbClr val="30373F"/>
                  </a:solidFill>
                  <a:latin typeface="Meiryo"/>
                  <a:ea typeface="Meiryo"/>
                  <a:cs typeface="Meiryo"/>
                  <a:sym typeface="Meiryo"/>
                </a:rPr>
                <a:t>楽天・Yahoo・寺田ワイン</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JP" sz="1050" b="0" i="0" u="none" strike="noStrike" cap="none">
                  <a:solidFill>
                    <a:srgbClr val="30373F"/>
                  </a:solidFill>
                  <a:latin typeface="Meiryo"/>
                  <a:ea typeface="Meiryo"/>
                  <a:cs typeface="Meiryo"/>
                  <a:sym typeface="Meiryo"/>
                </a:rPr>
                <a:t>マーケットでのEC事業</a:t>
              </a:r>
              <a:endParaRPr sz="1050" b="0" i="0" u="none" strike="noStrike" cap="none">
                <a:solidFill>
                  <a:srgbClr val="30373F"/>
                </a:solidFill>
                <a:latin typeface="Meiryo"/>
                <a:ea typeface="Meiryo"/>
                <a:cs typeface="Meiryo"/>
                <a:sym typeface="Meiryo"/>
              </a:endParaRPr>
            </a:p>
          </p:txBody>
        </p:sp>
        <p:sp>
          <p:nvSpPr>
            <p:cNvPr id="461" name="Google Shape;461;g3a7ae55b3ca_0_111"/>
            <p:cNvSpPr txBox="1"/>
            <p:nvPr/>
          </p:nvSpPr>
          <p:spPr>
            <a:xfrm>
              <a:off x="902656" y="3637134"/>
              <a:ext cx="2436000" cy="430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JP" sz="1200" b="1" i="0" u="none" strike="noStrike" cap="none">
                  <a:solidFill>
                    <a:srgbClr val="30373F"/>
                  </a:solidFill>
                  <a:latin typeface="Meiryo"/>
                  <a:ea typeface="Meiryo"/>
                  <a:cs typeface="Meiryo"/>
                  <a:sym typeface="Meiryo"/>
                </a:rPr>
                <a:t>自社EC事業</a:t>
              </a:r>
              <a:endParaRPr sz="1200" b="1" i="0" u="none" strike="noStrike" cap="none">
                <a:solidFill>
                  <a:srgbClr val="30373F"/>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r>
                <a:rPr lang="ja-JP" sz="1000" b="1" i="0" u="none" strike="noStrike" cap="none">
                  <a:solidFill>
                    <a:srgbClr val="30373F"/>
                  </a:solidFill>
                  <a:latin typeface="Meiryo"/>
                  <a:ea typeface="Meiryo"/>
                  <a:cs typeface="Meiryo"/>
                  <a:sym typeface="Meiryo"/>
                </a:rPr>
                <a:t>（オンライン）</a:t>
              </a:r>
              <a:endParaRPr sz="1400" b="0" i="0" u="none" strike="noStrike" cap="none">
                <a:solidFill>
                  <a:srgbClr val="000000"/>
                </a:solidFill>
                <a:latin typeface="Arial"/>
                <a:ea typeface="Arial"/>
                <a:cs typeface="Arial"/>
                <a:sym typeface="Arial"/>
              </a:endParaRPr>
            </a:p>
          </p:txBody>
        </p:sp>
      </p:grpSp>
      <p:pic>
        <p:nvPicPr>
          <p:cNvPr id="462" name="Google Shape;462;g3a7ae55b3ca_0_111" title="logo.png"/>
          <p:cNvPicPr preferRelativeResize="0"/>
          <p:nvPr/>
        </p:nvPicPr>
        <p:blipFill rotWithShape="1">
          <a:blip r:embed="rId3">
            <a:alphaModFix/>
          </a:blip>
          <a:srcRect t="29597"/>
          <a:stretch/>
        </p:blipFill>
        <p:spPr>
          <a:xfrm>
            <a:off x="4835451" y="1942430"/>
            <a:ext cx="1626130" cy="316392"/>
          </a:xfrm>
          <a:prstGeom prst="rect">
            <a:avLst/>
          </a:prstGeom>
          <a:noFill/>
          <a:ln>
            <a:noFill/>
          </a:ln>
        </p:spPr>
      </p:pic>
      <p:pic>
        <p:nvPicPr>
          <p:cNvPr id="463" name="Google Shape;463;g3a7ae55b3ca_0_111" title="青山ワインマーケット-ロゴ.gif"/>
          <p:cNvPicPr preferRelativeResize="0"/>
          <p:nvPr/>
        </p:nvPicPr>
        <p:blipFill rotWithShape="1">
          <a:blip r:embed="rId4">
            <a:alphaModFix/>
          </a:blip>
          <a:srcRect/>
          <a:stretch/>
        </p:blipFill>
        <p:spPr>
          <a:xfrm>
            <a:off x="484168" y="1775214"/>
            <a:ext cx="1696161" cy="483607"/>
          </a:xfrm>
          <a:prstGeom prst="rect">
            <a:avLst/>
          </a:prstGeom>
          <a:noFill/>
          <a:ln>
            <a:noFill/>
          </a:ln>
        </p:spPr>
      </p:pic>
      <p:grpSp>
        <p:nvGrpSpPr>
          <p:cNvPr id="464" name="Google Shape;464;g3a7ae55b3ca_0_111"/>
          <p:cNvGrpSpPr/>
          <p:nvPr/>
        </p:nvGrpSpPr>
        <p:grpSpPr>
          <a:xfrm>
            <a:off x="6841350" y="1615049"/>
            <a:ext cx="1984800" cy="1053858"/>
            <a:chOff x="2856354" y="1532988"/>
            <a:chExt cx="3969600" cy="1053858"/>
          </a:xfrm>
        </p:grpSpPr>
        <p:sp>
          <p:nvSpPr>
            <p:cNvPr id="465" name="Google Shape;465;g3a7ae55b3ca_0_111"/>
            <p:cNvSpPr/>
            <p:nvPr/>
          </p:nvSpPr>
          <p:spPr>
            <a:xfrm>
              <a:off x="2856354" y="1889646"/>
              <a:ext cx="3969600" cy="697200"/>
            </a:xfrm>
            <a:prstGeom prst="rect">
              <a:avLst/>
            </a:prstGeom>
            <a:noFill/>
            <a:ln>
              <a:noFill/>
            </a:ln>
          </p:spPr>
          <p:txBody>
            <a:bodyPr spcFirstLastPara="1" wrap="square" lIns="68575" tIns="34275" rIns="68575" bIns="34275" anchor="ctr" anchorCtr="0">
              <a:noAutofit/>
            </a:bodyPr>
            <a:lstStyle/>
            <a:p>
              <a:pPr marL="0" marR="0" lvl="0" indent="0" algn="l" rtl="0">
                <a:lnSpc>
                  <a:spcPct val="120000"/>
                </a:lnSpc>
                <a:spcBef>
                  <a:spcPts val="0"/>
                </a:spcBef>
                <a:spcAft>
                  <a:spcPts val="0"/>
                </a:spcAft>
                <a:buClr>
                  <a:srgbClr val="000000"/>
                </a:buClr>
                <a:buSzPts val="1100"/>
                <a:buFont typeface="Arial"/>
                <a:buNone/>
              </a:pPr>
              <a:r>
                <a:rPr lang="ja-JP" sz="1050" b="0" i="0" u="none" strike="noStrike" cap="none">
                  <a:solidFill>
                    <a:srgbClr val="30373F"/>
                  </a:solidFill>
                  <a:latin typeface="Meiryo"/>
                  <a:ea typeface="Meiryo"/>
                  <a:cs typeface="Meiryo"/>
                  <a:sym typeface="Meiryo"/>
                </a:rPr>
                <a:t>所有ワインのクラウド管理、マーケットプレイスの運営、</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JP" sz="1050" b="0" i="0" u="none" strike="noStrike" cap="none">
                  <a:solidFill>
                    <a:srgbClr val="30373F"/>
                  </a:solidFill>
                  <a:latin typeface="Meiryo"/>
                  <a:ea typeface="Meiryo"/>
                  <a:cs typeface="Meiryo"/>
                  <a:sym typeface="Meiryo"/>
                </a:rPr>
                <a:t>ワインファンド事業</a:t>
              </a:r>
              <a:endParaRPr sz="1050" b="0" i="0" u="none" strike="noStrike" cap="none">
                <a:solidFill>
                  <a:srgbClr val="30373F"/>
                </a:solidFill>
                <a:latin typeface="Meiryo"/>
                <a:ea typeface="Meiryo"/>
                <a:cs typeface="Meiryo"/>
                <a:sym typeface="Meiryo"/>
              </a:endParaRPr>
            </a:p>
          </p:txBody>
        </p:sp>
        <p:sp>
          <p:nvSpPr>
            <p:cNvPr id="466" name="Google Shape;466;g3a7ae55b3ca_0_111"/>
            <p:cNvSpPr txBox="1"/>
            <p:nvPr/>
          </p:nvSpPr>
          <p:spPr>
            <a:xfrm>
              <a:off x="3104086" y="1532988"/>
              <a:ext cx="3554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rgbClr val="30373F"/>
                  </a:solidFill>
                  <a:latin typeface="Meiryo"/>
                  <a:ea typeface="Meiryo"/>
                  <a:cs typeface="Meiryo"/>
                  <a:sym typeface="Meiryo"/>
                </a:rPr>
                <a:t>WineTech 事業</a:t>
              </a:r>
              <a:endParaRPr sz="1400" b="1" i="0" u="none" strike="noStrike" cap="none">
                <a:solidFill>
                  <a:srgbClr val="30373F"/>
                </a:solidFill>
                <a:latin typeface="Meiryo"/>
                <a:ea typeface="Meiryo"/>
                <a:cs typeface="Meiryo"/>
                <a:sym typeface="Meiryo"/>
              </a:endParaRPr>
            </a:p>
          </p:txBody>
        </p:sp>
      </p:grpSp>
      <p:grpSp>
        <p:nvGrpSpPr>
          <p:cNvPr id="467" name="Google Shape;467;g3a7ae55b3ca_0_111"/>
          <p:cNvGrpSpPr/>
          <p:nvPr/>
        </p:nvGrpSpPr>
        <p:grpSpPr>
          <a:xfrm>
            <a:off x="2251510" y="3402689"/>
            <a:ext cx="2214015" cy="1127137"/>
            <a:chOff x="3954688" y="3634373"/>
            <a:chExt cx="2643600" cy="1127137"/>
          </a:xfrm>
        </p:grpSpPr>
        <p:sp>
          <p:nvSpPr>
            <p:cNvPr id="468" name="Google Shape;468;g3a7ae55b3ca_0_111"/>
            <p:cNvSpPr/>
            <p:nvPr/>
          </p:nvSpPr>
          <p:spPr>
            <a:xfrm>
              <a:off x="4123703" y="3887310"/>
              <a:ext cx="2305800" cy="874200"/>
            </a:xfrm>
            <a:prstGeom prst="rect">
              <a:avLst/>
            </a:prstGeom>
            <a:noFill/>
            <a:ln>
              <a:noFill/>
            </a:ln>
          </p:spPr>
          <p:txBody>
            <a:bodyPr spcFirstLastPara="1" wrap="square" lIns="68575" tIns="34275" rIns="68575" bIns="34275" anchor="ctr" anchorCtr="0">
              <a:noAutofit/>
            </a:bodyPr>
            <a:lstStyle/>
            <a:p>
              <a:pPr marL="0" marR="0" lvl="0" indent="0" algn="ctr" rtl="0">
                <a:lnSpc>
                  <a:spcPct val="120000"/>
                </a:lnSpc>
                <a:spcBef>
                  <a:spcPts val="0"/>
                </a:spcBef>
                <a:spcAft>
                  <a:spcPts val="0"/>
                </a:spcAft>
                <a:buClr>
                  <a:srgbClr val="000000"/>
                </a:buClr>
                <a:buSzPts val="1100"/>
                <a:buFont typeface="Arial"/>
                <a:buNone/>
              </a:pPr>
              <a:r>
                <a:rPr lang="ja-JP" sz="1050" b="0" i="0" u="none" strike="noStrike" cap="none">
                  <a:solidFill>
                    <a:srgbClr val="30373F"/>
                  </a:solidFill>
                  <a:latin typeface="Meiryo"/>
                  <a:ea typeface="Meiryo"/>
                  <a:cs typeface="Meiryo"/>
                  <a:sym typeface="Meiryo"/>
                </a:rPr>
                <a:t>グランメゾン含むワインを</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JP" sz="1050" b="0" i="0" u="none" strike="noStrike" cap="none">
                  <a:solidFill>
                    <a:srgbClr val="30373F"/>
                  </a:solidFill>
                  <a:latin typeface="Meiryo"/>
                  <a:ea typeface="Meiryo"/>
                  <a:cs typeface="Meiryo"/>
                  <a:sym typeface="Meiryo"/>
                </a:rPr>
                <a:t>中心としたレストラン事業</a:t>
              </a:r>
              <a:endParaRPr sz="1050" b="0" i="0" u="none" strike="noStrike" cap="none">
                <a:solidFill>
                  <a:srgbClr val="000000"/>
                </a:solidFill>
                <a:latin typeface="Meiryo"/>
                <a:ea typeface="Meiryo"/>
                <a:cs typeface="Meiryo"/>
                <a:sym typeface="Meiryo"/>
              </a:endParaRPr>
            </a:p>
          </p:txBody>
        </p:sp>
        <p:sp>
          <p:nvSpPr>
            <p:cNvPr id="469" name="Google Shape;469;g3a7ae55b3ca_0_111"/>
            <p:cNvSpPr txBox="1"/>
            <p:nvPr/>
          </p:nvSpPr>
          <p:spPr>
            <a:xfrm>
              <a:off x="3954688" y="3634373"/>
              <a:ext cx="2643600" cy="438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JP" sz="1200" b="1" i="0" u="none" strike="noStrike" cap="none">
                  <a:solidFill>
                    <a:srgbClr val="30373F"/>
                  </a:solidFill>
                  <a:latin typeface="Meiryo"/>
                  <a:ea typeface="Meiryo"/>
                  <a:cs typeface="Meiryo"/>
                  <a:sym typeface="Meiryo"/>
                </a:rPr>
                <a:t>レストラン/ワイン卸事業</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ja-JP" sz="1050" b="1" i="0" u="none" strike="noStrike" cap="none">
                  <a:solidFill>
                    <a:srgbClr val="30373F"/>
                  </a:solidFill>
                  <a:latin typeface="Meiryo"/>
                  <a:ea typeface="Meiryo"/>
                  <a:cs typeface="Meiryo"/>
                  <a:sym typeface="Meiryo"/>
                </a:rPr>
                <a:t>（オフライン）</a:t>
              </a:r>
              <a:endParaRPr sz="1000" b="0" i="0" u="none" strike="noStrike" cap="none">
                <a:solidFill>
                  <a:srgbClr val="000000"/>
                </a:solidFill>
                <a:latin typeface="Meiryo"/>
                <a:ea typeface="Meiryo"/>
                <a:cs typeface="Meiryo"/>
                <a:sym typeface="Meiryo"/>
              </a:endParaRPr>
            </a:p>
          </p:txBody>
        </p:sp>
      </p:grpSp>
      <p:pic>
        <p:nvPicPr>
          <p:cNvPr id="470" name="Google Shape;470;g3a7ae55b3ca_0_111"/>
          <p:cNvPicPr preferRelativeResize="0"/>
          <p:nvPr/>
        </p:nvPicPr>
        <p:blipFill rotWithShape="1">
          <a:blip r:embed="rId5">
            <a:alphaModFix/>
          </a:blip>
          <a:srcRect t="33346" b="34774"/>
          <a:stretch/>
        </p:blipFill>
        <p:spPr>
          <a:xfrm>
            <a:off x="692515" y="3635279"/>
            <a:ext cx="1421031" cy="453029"/>
          </a:xfrm>
          <a:prstGeom prst="rect">
            <a:avLst/>
          </a:prstGeom>
          <a:noFill/>
          <a:ln>
            <a:noFill/>
          </a:ln>
        </p:spPr>
      </p:pic>
      <p:sp>
        <p:nvSpPr>
          <p:cNvPr id="471" name="Google Shape;471;g3a7ae55b3ca_0_111"/>
          <p:cNvSpPr/>
          <p:nvPr/>
        </p:nvSpPr>
        <p:spPr>
          <a:xfrm>
            <a:off x="6476307" y="3629180"/>
            <a:ext cx="2305800" cy="874200"/>
          </a:xfrm>
          <a:prstGeom prst="rect">
            <a:avLst/>
          </a:prstGeom>
          <a:noFill/>
          <a:ln>
            <a:noFill/>
          </a:ln>
        </p:spPr>
        <p:txBody>
          <a:bodyPr spcFirstLastPara="1" wrap="square" lIns="68575" tIns="34275" rIns="68575" bIns="34275" anchor="ctr" anchorCtr="0">
            <a:noAutofit/>
          </a:bodyPr>
          <a:lstStyle/>
          <a:p>
            <a:pPr marL="0" marR="0" lvl="0" indent="0" algn="ctr" rtl="0">
              <a:lnSpc>
                <a:spcPct val="120000"/>
              </a:lnSpc>
              <a:spcBef>
                <a:spcPts val="0"/>
              </a:spcBef>
              <a:spcAft>
                <a:spcPts val="0"/>
              </a:spcAft>
              <a:buClr>
                <a:srgbClr val="000000"/>
              </a:buClr>
              <a:buSzPts val="1100"/>
              <a:buFont typeface="Arial"/>
              <a:buNone/>
            </a:pPr>
            <a:r>
              <a:rPr lang="ja-JP" sz="1050" b="0" i="0" u="none" strike="noStrike" cap="none">
                <a:solidFill>
                  <a:srgbClr val="30373F"/>
                </a:solidFill>
                <a:latin typeface="Meiryo"/>
                <a:ea typeface="Meiryo"/>
                <a:cs typeface="Meiryo"/>
                <a:sym typeface="Meiryo"/>
              </a:rPr>
              <a:t>月額会費制でワインの購入や</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JP" sz="1050" b="0" i="0" u="none" strike="noStrike" cap="none">
                <a:solidFill>
                  <a:srgbClr val="30373F"/>
                </a:solidFill>
                <a:latin typeface="Meiryo"/>
                <a:ea typeface="Meiryo"/>
                <a:cs typeface="Meiryo"/>
                <a:sym typeface="Meiryo"/>
              </a:rPr>
              <a:t>レストランをお得にご利用</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JP" sz="1050" b="0" i="0" u="none" strike="noStrike" cap="none">
                <a:solidFill>
                  <a:srgbClr val="30373F"/>
                </a:solidFill>
                <a:latin typeface="Meiryo"/>
                <a:ea typeface="Meiryo"/>
                <a:cs typeface="Meiryo"/>
                <a:sym typeface="Meiryo"/>
              </a:rPr>
              <a:t>いただけるサービス</a:t>
            </a:r>
            <a:endParaRPr sz="1050" b="0" i="0" u="none" strike="noStrike" cap="none">
              <a:solidFill>
                <a:srgbClr val="000000"/>
              </a:solidFill>
              <a:latin typeface="Meiryo"/>
              <a:ea typeface="Meiryo"/>
              <a:cs typeface="Meiryo"/>
              <a:sym typeface="Meiryo"/>
            </a:endParaRPr>
          </a:p>
        </p:txBody>
      </p:sp>
      <p:sp>
        <p:nvSpPr>
          <p:cNvPr id="472" name="Google Shape;472;g3a7ae55b3ca_0_111"/>
          <p:cNvSpPr txBox="1"/>
          <p:nvPr/>
        </p:nvSpPr>
        <p:spPr>
          <a:xfrm>
            <a:off x="5035768" y="1170250"/>
            <a:ext cx="24747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700" b="1" i="0" u="none" strike="noStrike" cap="none">
                <a:solidFill>
                  <a:srgbClr val="C68A65"/>
                </a:solidFill>
                <a:latin typeface="Meiryo"/>
                <a:ea typeface="Meiryo"/>
                <a:cs typeface="Meiryo"/>
                <a:sym typeface="Meiryo"/>
              </a:rPr>
              <a:t>SBI提携/世界初ワインSTにより安定収益を確保</a:t>
            </a:r>
            <a:endParaRPr sz="700" b="1" i="0" u="none" strike="noStrike" cap="none">
              <a:solidFill>
                <a:srgbClr val="C68A65"/>
              </a:solidFill>
              <a:latin typeface="Arial"/>
              <a:ea typeface="Arial"/>
              <a:cs typeface="Arial"/>
              <a:sym typeface="Arial"/>
            </a:endParaRPr>
          </a:p>
        </p:txBody>
      </p:sp>
      <p:sp>
        <p:nvSpPr>
          <p:cNvPr id="473" name="Google Shape;473;g3a7ae55b3ca_0_111"/>
          <p:cNvSpPr txBox="1"/>
          <p:nvPr/>
        </p:nvSpPr>
        <p:spPr>
          <a:xfrm>
            <a:off x="828772" y="2984050"/>
            <a:ext cx="28266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700" b="1" i="0" u="none" strike="noStrike" cap="none">
                <a:solidFill>
                  <a:srgbClr val="C68A65"/>
                </a:solidFill>
                <a:latin typeface="Meiryo"/>
                <a:ea typeface="Meiryo"/>
                <a:cs typeface="Meiryo"/>
                <a:sym typeface="Meiryo"/>
              </a:rPr>
              <a:t>ティエリーマルクスの過去国内出店実績より安定収益の見込み</a:t>
            </a:r>
            <a:endParaRPr sz="700" b="1" i="0" u="none" strike="noStrike" cap="none">
              <a:solidFill>
                <a:srgbClr val="C68A65"/>
              </a:solidFill>
              <a:latin typeface="Arial"/>
              <a:ea typeface="Arial"/>
              <a:cs typeface="Arial"/>
              <a:sym typeface="Arial"/>
            </a:endParaRPr>
          </a:p>
        </p:txBody>
      </p:sp>
      <p:sp>
        <p:nvSpPr>
          <p:cNvPr id="474" name="Google Shape;474;g3a7ae55b3ca_0_111"/>
          <p:cNvSpPr txBox="1"/>
          <p:nvPr/>
        </p:nvSpPr>
        <p:spPr>
          <a:xfrm>
            <a:off x="5035777" y="2966775"/>
            <a:ext cx="26418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700" b="1" i="0" u="none" strike="noStrike" cap="none">
                <a:solidFill>
                  <a:srgbClr val="C68A65"/>
                </a:solidFill>
                <a:latin typeface="Meiryo"/>
                <a:ea typeface="Meiryo"/>
                <a:cs typeface="Meiryo"/>
                <a:sym typeface="Meiryo"/>
              </a:rPr>
              <a:t>ティエリーマルクスによる認知拡大で会員数拡大を後押し</a:t>
            </a:r>
            <a:endParaRPr sz="700" b="1" i="0" u="none" strike="noStrike" cap="none">
              <a:solidFill>
                <a:srgbClr val="C68A65"/>
              </a:solidFill>
              <a:latin typeface="Arial"/>
              <a:ea typeface="Arial"/>
              <a:cs typeface="Arial"/>
              <a:sym typeface="Arial"/>
            </a:endParaRPr>
          </a:p>
        </p:txBody>
      </p:sp>
      <p:grpSp>
        <p:nvGrpSpPr>
          <p:cNvPr id="475" name="Google Shape;475;g3a7ae55b3ca_0_111"/>
          <p:cNvGrpSpPr/>
          <p:nvPr/>
        </p:nvGrpSpPr>
        <p:grpSpPr>
          <a:xfrm>
            <a:off x="179987" y="1102524"/>
            <a:ext cx="798300" cy="623100"/>
            <a:chOff x="179987" y="1102524"/>
            <a:chExt cx="798300" cy="623100"/>
          </a:xfrm>
        </p:grpSpPr>
        <p:sp>
          <p:nvSpPr>
            <p:cNvPr id="476" name="Google Shape;476;g3a7ae55b3ca_0_111"/>
            <p:cNvSpPr/>
            <p:nvPr/>
          </p:nvSpPr>
          <p:spPr>
            <a:xfrm>
              <a:off x="267550" y="1102524"/>
              <a:ext cx="623100" cy="623100"/>
            </a:xfrm>
            <a:prstGeom prst="ellipse">
              <a:avLst/>
            </a:prstGeom>
            <a:solidFill>
              <a:srgbClr val="C68A65"/>
            </a:solidFill>
            <a:ln>
              <a:noFill/>
            </a:ln>
          </p:spPr>
          <p:txBody>
            <a:bodyPr spcFirstLastPara="1" wrap="square" lIns="84325" tIns="84325" rIns="84325" bIns="84325" anchor="ctr" anchorCtr="0">
              <a:noAutofit/>
            </a:bodyPr>
            <a:lstStyle/>
            <a:p>
              <a:pPr marL="0" marR="0" lvl="0" indent="0" algn="ctr" rtl="0">
                <a:lnSpc>
                  <a:spcPct val="100000"/>
                </a:lnSpc>
                <a:spcBef>
                  <a:spcPts val="0"/>
                </a:spcBef>
                <a:spcAft>
                  <a:spcPts val="0"/>
                </a:spcAft>
                <a:buClr>
                  <a:srgbClr val="000000"/>
                </a:buClr>
                <a:buSzPts val="1291"/>
                <a:buFont typeface="Arial"/>
                <a:buNone/>
              </a:pPr>
              <a:endParaRPr sz="1291" b="0" i="0" u="none" strike="noStrike" cap="none">
                <a:solidFill>
                  <a:srgbClr val="000000"/>
                </a:solidFill>
                <a:latin typeface="Arial"/>
                <a:ea typeface="Arial"/>
                <a:cs typeface="Arial"/>
                <a:sym typeface="Arial"/>
              </a:endParaRPr>
            </a:p>
          </p:txBody>
        </p:sp>
        <p:sp>
          <p:nvSpPr>
            <p:cNvPr id="477" name="Google Shape;477;g3a7ae55b3ca_0_111"/>
            <p:cNvSpPr txBox="1"/>
            <p:nvPr/>
          </p:nvSpPr>
          <p:spPr>
            <a:xfrm>
              <a:off x="179987" y="1162224"/>
              <a:ext cx="798300" cy="503700"/>
            </a:xfrm>
            <a:prstGeom prst="rect">
              <a:avLst/>
            </a:prstGeom>
            <a:noFill/>
            <a:ln>
              <a:noFill/>
            </a:ln>
          </p:spPr>
          <p:txBody>
            <a:bodyPr spcFirstLastPara="1" wrap="square" lIns="84325" tIns="42150" rIns="84325" bIns="42150" anchor="t" anchorCtr="0">
              <a:spAutoFit/>
            </a:bodyPr>
            <a:lstStyle/>
            <a:p>
              <a:pPr marL="0" marR="0" lvl="0" indent="0" algn="ctr" rtl="0">
                <a:lnSpc>
                  <a:spcPct val="100000"/>
                </a:lnSpc>
                <a:spcBef>
                  <a:spcPts val="0"/>
                </a:spcBef>
                <a:spcAft>
                  <a:spcPts val="0"/>
                </a:spcAft>
                <a:buClr>
                  <a:srgbClr val="000000"/>
                </a:buClr>
                <a:buSzPts val="1107"/>
                <a:buFont typeface="Arial"/>
                <a:buNone/>
              </a:pPr>
              <a:r>
                <a:rPr lang="ja-JP" sz="622" b="0" i="0" u="none" strike="noStrike" cap="none">
                  <a:solidFill>
                    <a:schemeClr val="lt1"/>
                  </a:solidFill>
                  <a:latin typeface="Meiryo"/>
                  <a:ea typeface="Meiryo"/>
                  <a:cs typeface="Meiryo"/>
                  <a:sym typeface="Meiryo"/>
                </a:rPr>
                <a:t>来期売上</a:t>
              </a:r>
              <a:endParaRPr sz="622"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JP" sz="1475" b="1" i="0" u="none" strike="noStrike" cap="none">
                  <a:solidFill>
                    <a:schemeClr val="lt1"/>
                  </a:solidFill>
                  <a:latin typeface="Meiryo"/>
                  <a:ea typeface="Meiryo"/>
                  <a:cs typeface="Meiryo"/>
                  <a:sym typeface="Meiryo"/>
                </a:rPr>
                <a:t>100</a:t>
              </a:r>
              <a:r>
                <a:rPr lang="ja-JP" sz="922" b="1" i="0" u="none" strike="noStrike" cap="none">
                  <a:solidFill>
                    <a:schemeClr val="lt1"/>
                  </a:solidFill>
                  <a:latin typeface="Meiryo"/>
                  <a:ea typeface="Meiryo"/>
                  <a:cs typeface="Meiryo"/>
                  <a:sym typeface="Meiryo"/>
                </a:rPr>
                <a:t>%</a:t>
              </a:r>
              <a:endParaRPr sz="922" b="1"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JP" sz="622" b="0" i="0" u="none" strike="noStrike" cap="none">
                  <a:solidFill>
                    <a:schemeClr val="lt1"/>
                  </a:solidFill>
                  <a:latin typeface="Meiryo"/>
                  <a:ea typeface="Meiryo"/>
                  <a:cs typeface="Meiryo"/>
                  <a:sym typeface="Meiryo"/>
                </a:rPr>
                <a:t>を維持</a:t>
              </a:r>
              <a:endParaRPr sz="622" b="0" i="0" u="none" strike="noStrike" cap="none">
                <a:solidFill>
                  <a:schemeClr val="lt1"/>
                </a:solidFill>
                <a:latin typeface="Meiryo"/>
                <a:ea typeface="Meiryo"/>
                <a:cs typeface="Meiryo"/>
                <a:sym typeface="Meiryo"/>
              </a:endParaRPr>
            </a:p>
          </p:txBody>
        </p:sp>
      </p:grpSp>
      <p:grpSp>
        <p:nvGrpSpPr>
          <p:cNvPr id="478" name="Google Shape;478;g3a7ae55b3ca_0_111"/>
          <p:cNvGrpSpPr/>
          <p:nvPr/>
        </p:nvGrpSpPr>
        <p:grpSpPr>
          <a:xfrm>
            <a:off x="4391618" y="1102524"/>
            <a:ext cx="798300" cy="623100"/>
            <a:chOff x="179987" y="1102524"/>
            <a:chExt cx="798300" cy="623100"/>
          </a:xfrm>
        </p:grpSpPr>
        <p:sp>
          <p:nvSpPr>
            <p:cNvPr id="479" name="Google Shape;479;g3a7ae55b3ca_0_111"/>
            <p:cNvSpPr/>
            <p:nvPr/>
          </p:nvSpPr>
          <p:spPr>
            <a:xfrm>
              <a:off x="267550" y="1102524"/>
              <a:ext cx="623100" cy="623100"/>
            </a:xfrm>
            <a:prstGeom prst="ellipse">
              <a:avLst/>
            </a:prstGeom>
            <a:solidFill>
              <a:srgbClr val="C68A65"/>
            </a:solidFill>
            <a:ln>
              <a:noFill/>
            </a:ln>
          </p:spPr>
          <p:txBody>
            <a:bodyPr spcFirstLastPara="1" wrap="square" lIns="84325" tIns="84325" rIns="84325" bIns="84325" anchor="ctr" anchorCtr="0">
              <a:noAutofit/>
            </a:bodyPr>
            <a:lstStyle/>
            <a:p>
              <a:pPr marL="0" marR="0" lvl="0" indent="0" algn="ctr" rtl="0">
                <a:lnSpc>
                  <a:spcPct val="100000"/>
                </a:lnSpc>
                <a:spcBef>
                  <a:spcPts val="0"/>
                </a:spcBef>
                <a:spcAft>
                  <a:spcPts val="0"/>
                </a:spcAft>
                <a:buClr>
                  <a:srgbClr val="000000"/>
                </a:buClr>
                <a:buSzPts val="1291"/>
                <a:buFont typeface="Arial"/>
                <a:buNone/>
              </a:pPr>
              <a:endParaRPr sz="1291" b="0" i="0" u="none" strike="noStrike" cap="none">
                <a:solidFill>
                  <a:srgbClr val="000000"/>
                </a:solidFill>
                <a:latin typeface="Arial"/>
                <a:ea typeface="Arial"/>
                <a:cs typeface="Arial"/>
                <a:sym typeface="Arial"/>
              </a:endParaRPr>
            </a:p>
          </p:txBody>
        </p:sp>
        <p:sp>
          <p:nvSpPr>
            <p:cNvPr id="480" name="Google Shape;480;g3a7ae55b3ca_0_111"/>
            <p:cNvSpPr txBox="1"/>
            <p:nvPr/>
          </p:nvSpPr>
          <p:spPr>
            <a:xfrm>
              <a:off x="179987" y="1162224"/>
              <a:ext cx="798300" cy="503700"/>
            </a:xfrm>
            <a:prstGeom prst="rect">
              <a:avLst/>
            </a:prstGeom>
            <a:noFill/>
            <a:ln>
              <a:noFill/>
            </a:ln>
          </p:spPr>
          <p:txBody>
            <a:bodyPr spcFirstLastPara="1" wrap="square" lIns="84325" tIns="42150" rIns="84325" bIns="42150" anchor="t" anchorCtr="0">
              <a:spAutoFit/>
            </a:bodyPr>
            <a:lstStyle/>
            <a:p>
              <a:pPr marL="0" marR="0" lvl="0" indent="0" algn="ctr" rtl="0">
                <a:lnSpc>
                  <a:spcPct val="100000"/>
                </a:lnSpc>
                <a:spcBef>
                  <a:spcPts val="0"/>
                </a:spcBef>
                <a:spcAft>
                  <a:spcPts val="0"/>
                </a:spcAft>
                <a:buClr>
                  <a:srgbClr val="000000"/>
                </a:buClr>
                <a:buSzPts val="1107"/>
                <a:buFont typeface="Arial"/>
                <a:buNone/>
              </a:pPr>
              <a:r>
                <a:rPr lang="ja-JP" sz="622" b="0" i="0" u="none" strike="noStrike" cap="none">
                  <a:solidFill>
                    <a:schemeClr val="lt1"/>
                  </a:solidFill>
                  <a:latin typeface="Meiryo"/>
                  <a:ea typeface="Meiryo"/>
                  <a:cs typeface="Meiryo"/>
                  <a:sym typeface="Meiryo"/>
                </a:rPr>
                <a:t>来期売上</a:t>
              </a:r>
              <a:endParaRPr sz="622"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JP" sz="1475" b="1" i="0" u="none" strike="noStrike" cap="none">
                  <a:solidFill>
                    <a:schemeClr val="lt1"/>
                  </a:solidFill>
                  <a:latin typeface="Meiryo"/>
                  <a:ea typeface="Meiryo"/>
                  <a:cs typeface="Meiryo"/>
                  <a:sym typeface="Meiryo"/>
                </a:rPr>
                <a:t>200</a:t>
              </a:r>
              <a:r>
                <a:rPr lang="ja-JP" sz="922" b="1" i="0" u="none" strike="noStrike" cap="none">
                  <a:solidFill>
                    <a:schemeClr val="lt1"/>
                  </a:solidFill>
                  <a:latin typeface="Meiryo"/>
                  <a:ea typeface="Meiryo"/>
                  <a:cs typeface="Meiryo"/>
                  <a:sym typeface="Meiryo"/>
                </a:rPr>
                <a:t>%</a:t>
              </a:r>
              <a:endParaRPr sz="922" b="1"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JP" sz="622" b="0" i="0" u="none" strike="noStrike" cap="none">
                  <a:solidFill>
                    <a:schemeClr val="lt1"/>
                  </a:solidFill>
                  <a:latin typeface="Meiryo"/>
                  <a:ea typeface="Meiryo"/>
                  <a:cs typeface="Meiryo"/>
                  <a:sym typeface="Meiryo"/>
                </a:rPr>
                <a:t>に拡大</a:t>
              </a:r>
              <a:endParaRPr sz="622" b="0" i="0" u="none" strike="noStrike" cap="none">
                <a:solidFill>
                  <a:schemeClr val="lt1"/>
                </a:solidFill>
                <a:latin typeface="Meiryo"/>
                <a:ea typeface="Meiryo"/>
                <a:cs typeface="Meiryo"/>
                <a:sym typeface="Meiryo"/>
              </a:endParaRPr>
            </a:p>
          </p:txBody>
        </p:sp>
      </p:grpSp>
      <p:grpSp>
        <p:nvGrpSpPr>
          <p:cNvPr id="481" name="Google Shape;481;g3a7ae55b3ca_0_111"/>
          <p:cNvGrpSpPr/>
          <p:nvPr/>
        </p:nvGrpSpPr>
        <p:grpSpPr>
          <a:xfrm>
            <a:off x="179973" y="2920689"/>
            <a:ext cx="798300" cy="623100"/>
            <a:chOff x="179987" y="1102524"/>
            <a:chExt cx="798300" cy="623100"/>
          </a:xfrm>
        </p:grpSpPr>
        <p:sp>
          <p:nvSpPr>
            <p:cNvPr id="482" name="Google Shape;482;g3a7ae55b3ca_0_111"/>
            <p:cNvSpPr/>
            <p:nvPr/>
          </p:nvSpPr>
          <p:spPr>
            <a:xfrm>
              <a:off x="267550" y="1102524"/>
              <a:ext cx="623100" cy="623100"/>
            </a:xfrm>
            <a:prstGeom prst="ellipse">
              <a:avLst/>
            </a:prstGeom>
            <a:solidFill>
              <a:srgbClr val="C68A65"/>
            </a:solidFill>
            <a:ln>
              <a:noFill/>
            </a:ln>
          </p:spPr>
          <p:txBody>
            <a:bodyPr spcFirstLastPara="1" wrap="square" lIns="84325" tIns="84325" rIns="84325" bIns="84325" anchor="ctr" anchorCtr="0">
              <a:noAutofit/>
            </a:bodyPr>
            <a:lstStyle/>
            <a:p>
              <a:pPr marL="0" marR="0" lvl="0" indent="0" algn="ctr" rtl="0">
                <a:lnSpc>
                  <a:spcPct val="100000"/>
                </a:lnSpc>
                <a:spcBef>
                  <a:spcPts val="0"/>
                </a:spcBef>
                <a:spcAft>
                  <a:spcPts val="0"/>
                </a:spcAft>
                <a:buClr>
                  <a:srgbClr val="000000"/>
                </a:buClr>
                <a:buSzPts val="1291"/>
                <a:buFont typeface="Arial"/>
                <a:buNone/>
              </a:pPr>
              <a:endParaRPr sz="1291" b="0" i="0" u="none" strike="noStrike" cap="none">
                <a:solidFill>
                  <a:srgbClr val="000000"/>
                </a:solidFill>
                <a:latin typeface="Arial"/>
                <a:ea typeface="Arial"/>
                <a:cs typeface="Arial"/>
                <a:sym typeface="Arial"/>
              </a:endParaRPr>
            </a:p>
          </p:txBody>
        </p:sp>
        <p:sp>
          <p:nvSpPr>
            <p:cNvPr id="483" name="Google Shape;483;g3a7ae55b3ca_0_111"/>
            <p:cNvSpPr txBox="1"/>
            <p:nvPr/>
          </p:nvSpPr>
          <p:spPr>
            <a:xfrm>
              <a:off x="179987" y="1162224"/>
              <a:ext cx="798300" cy="503700"/>
            </a:xfrm>
            <a:prstGeom prst="rect">
              <a:avLst/>
            </a:prstGeom>
            <a:noFill/>
            <a:ln>
              <a:noFill/>
            </a:ln>
          </p:spPr>
          <p:txBody>
            <a:bodyPr spcFirstLastPara="1" wrap="square" lIns="84325" tIns="42150" rIns="84325" bIns="42150" anchor="t" anchorCtr="0">
              <a:spAutoFit/>
            </a:bodyPr>
            <a:lstStyle/>
            <a:p>
              <a:pPr marL="0" marR="0" lvl="0" indent="0" algn="ctr" rtl="0">
                <a:lnSpc>
                  <a:spcPct val="100000"/>
                </a:lnSpc>
                <a:spcBef>
                  <a:spcPts val="0"/>
                </a:spcBef>
                <a:spcAft>
                  <a:spcPts val="0"/>
                </a:spcAft>
                <a:buClr>
                  <a:srgbClr val="000000"/>
                </a:buClr>
                <a:buSzPts val="1107"/>
                <a:buFont typeface="Arial"/>
                <a:buNone/>
              </a:pPr>
              <a:r>
                <a:rPr lang="ja-JP" sz="622" b="0" i="0" u="none" strike="noStrike" cap="none">
                  <a:solidFill>
                    <a:schemeClr val="lt1"/>
                  </a:solidFill>
                  <a:latin typeface="Meiryo"/>
                  <a:ea typeface="Meiryo"/>
                  <a:cs typeface="Meiryo"/>
                  <a:sym typeface="Meiryo"/>
                </a:rPr>
                <a:t>来期売上</a:t>
              </a:r>
              <a:endParaRPr sz="622"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JP" sz="1475" b="1" i="0" u="none" strike="noStrike" cap="none">
                  <a:solidFill>
                    <a:schemeClr val="lt1"/>
                  </a:solidFill>
                  <a:latin typeface="Meiryo"/>
                  <a:ea typeface="Meiryo"/>
                  <a:cs typeface="Meiryo"/>
                  <a:sym typeface="Meiryo"/>
                </a:rPr>
                <a:t>200</a:t>
              </a:r>
              <a:r>
                <a:rPr lang="ja-JP" sz="922" b="1" i="0" u="none" strike="noStrike" cap="none">
                  <a:solidFill>
                    <a:schemeClr val="lt1"/>
                  </a:solidFill>
                  <a:latin typeface="Meiryo"/>
                  <a:ea typeface="Meiryo"/>
                  <a:cs typeface="Meiryo"/>
                  <a:sym typeface="Meiryo"/>
                </a:rPr>
                <a:t>%</a:t>
              </a:r>
              <a:endParaRPr sz="922" b="1"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JP" sz="622" b="0" i="0" u="none" strike="noStrike" cap="none">
                  <a:solidFill>
                    <a:schemeClr val="lt1"/>
                  </a:solidFill>
                  <a:latin typeface="Meiryo"/>
                  <a:ea typeface="Meiryo"/>
                  <a:cs typeface="Meiryo"/>
                  <a:sym typeface="Meiryo"/>
                </a:rPr>
                <a:t>に拡大</a:t>
              </a:r>
              <a:endParaRPr sz="622" b="0" i="0" u="none" strike="noStrike" cap="none">
                <a:solidFill>
                  <a:schemeClr val="lt1"/>
                </a:solidFill>
                <a:latin typeface="Meiryo"/>
                <a:ea typeface="Meiryo"/>
                <a:cs typeface="Meiryo"/>
                <a:sym typeface="Meiryo"/>
              </a:endParaRPr>
            </a:p>
          </p:txBody>
        </p:sp>
      </p:grpSp>
      <p:grpSp>
        <p:nvGrpSpPr>
          <p:cNvPr id="484" name="Google Shape;484;g3a7ae55b3ca_0_111"/>
          <p:cNvGrpSpPr/>
          <p:nvPr/>
        </p:nvGrpSpPr>
        <p:grpSpPr>
          <a:xfrm>
            <a:off x="4391740" y="2920689"/>
            <a:ext cx="798300" cy="623100"/>
            <a:chOff x="179987" y="1102524"/>
            <a:chExt cx="798300" cy="623100"/>
          </a:xfrm>
        </p:grpSpPr>
        <p:sp>
          <p:nvSpPr>
            <p:cNvPr id="485" name="Google Shape;485;g3a7ae55b3ca_0_111"/>
            <p:cNvSpPr/>
            <p:nvPr/>
          </p:nvSpPr>
          <p:spPr>
            <a:xfrm>
              <a:off x="267550" y="1102524"/>
              <a:ext cx="623100" cy="623100"/>
            </a:xfrm>
            <a:prstGeom prst="ellipse">
              <a:avLst/>
            </a:prstGeom>
            <a:solidFill>
              <a:srgbClr val="C68A65"/>
            </a:solidFill>
            <a:ln>
              <a:noFill/>
            </a:ln>
          </p:spPr>
          <p:txBody>
            <a:bodyPr spcFirstLastPara="1" wrap="square" lIns="84325" tIns="84325" rIns="84325" bIns="84325" anchor="ctr" anchorCtr="0">
              <a:noAutofit/>
            </a:bodyPr>
            <a:lstStyle/>
            <a:p>
              <a:pPr marL="0" marR="0" lvl="0" indent="0" algn="ctr" rtl="0">
                <a:lnSpc>
                  <a:spcPct val="100000"/>
                </a:lnSpc>
                <a:spcBef>
                  <a:spcPts val="0"/>
                </a:spcBef>
                <a:spcAft>
                  <a:spcPts val="0"/>
                </a:spcAft>
                <a:buClr>
                  <a:srgbClr val="000000"/>
                </a:buClr>
                <a:buSzPts val="1291"/>
                <a:buFont typeface="Arial"/>
                <a:buNone/>
              </a:pPr>
              <a:endParaRPr sz="1291" b="0" i="0" u="none" strike="noStrike" cap="none">
                <a:solidFill>
                  <a:srgbClr val="000000"/>
                </a:solidFill>
                <a:latin typeface="Arial"/>
                <a:ea typeface="Arial"/>
                <a:cs typeface="Arial"/>
                <a:sym typeface="Arial"/>
              </a:endParaRPr>
            </a:p>
          </p:txBody>
        </p:sp>
        <p:sp>
          <p:nvSpPr>
            <p:cNvPr id="486" name="Google Shape;486;g3a7ae55b3ca_0_111"/>
            <p:cNvSpPr txBox="1"/>
            <p:nvPr/>
          </p:nvSpPr>
          <p:spPr>
            <a:xfrm>
              <a:off x="179987" y="1162224"/>
              <a:ext cx="798300" cy="503700"/>
            </a:xfrm>
            <a:prstGeom prst="rect">
              <a:avLst/>
            </a:prstGeom>
            <a:noFill/>
            <a:ln>
              <a:noFill/>
            </a:ln>
          </p:spPr>
          <p:txBody>
            <a:bodyPr spcFirstLastPara="1" wrap="square" lIns="84325" tIns="42150" rIns="84325" bIns="42150" anchor="t" anchorCtr="0">
              <a:spAutoFit/>
            </a:bodyPr>
            <a:lstStyle/>
            <a:p>
              <a:pPr marL="0" marR="0" lvl="0" indent="0" algn="ctr" rtl="0">
                <a:lnSpc>
                  <a:spcPct val="100000"/>
                </a:lnSpc>
                <a:spcBef>
                  <a:spcPts val="0"/>
                </a:spcBef>
                <a:spcAft>
                  <a:spcPts val="0"/>
                </a:spcAft>
                <a:buClr>
                  <a:srgbClr val="000000"/>
                </a:buClr>
                <a:buSzPts val="1107"/>
                <a:buFont typeface="Arial"/>
                <a:buNone/>
              </a:pPr>
              <a:r>
                <a:rPr lang="ja-JP" sz="622" b="0" i="0" u="none" strike="noStrike" cap="none">
                  <a:solidFill>
                    <a:schemeClr val="lt1"/>
                  </a:solidFill>
                  <a:latin typeface="Meiryo"/>
                  <a:ea typeface="Meiryo"/>
                  <a:cs typeface="Meiryo"/>
                  <a:sym typeface="Meiryo"/>
                </a:rPr>
                <a:t>来期売上</a:t>
              </a:r>
              <a:endParaRPr sz="622"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JP" sz="1475" b="1" i="0" u="none" strike="noStrike" cap="none">
                  <a:solidFill>
                    <a:schemeClr val="lt1"/>
                  </a:solidFill>
                  <a:latin typeface="Meiryo"/>
                  <a:ea typeface="Meiryo"/>
                  <a:cs typeface="Meiryo"/>
                  <a:sym typeface="Meiryo"/>
                </a:rPr>
                <a:t>拡大</a:t>
              </a:r>
              <a:endParaRPr sz="922" b="1"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JP" sz="622" b="0" i="0" u="none" strike="noStrike" cap="none">
                  <a:solidFill>
                    <a:schemeClr val="lt1"/>
                  </a:solidFill>
                  <a:latin typeface="Meiryo"/>
                  <a:ea typeface="Meiryo"/>
                  <a:cs typeface="Meiryo"/>
                  <a:sym typeface="Meiryo"/>
                </a:rPr>
                <a:t>見込み</a:t>
              </a:r>
              <a:endParaRPr sz="622" b="0" i="0" u="none" strike="noStrike" cap="none">
                <a:solidFill>
                  <a:schemeClr val="lt1"/>
                </a:solidFill>
                <a:latin typeface="Meiryo"/>
                <a:ea typeface="Meiryo"/>
                <a:cs typeface="Meiryo"/>
                <a:sym typeface="Meiryo"/>
              </a:endParaRPr>
            </a:p>
          </p:txBody>
        </p:sp>
      </p:grpSp>
      <p:sp>
        <p:nvSpPr>
          <p:cNvPr id="487" name="Google Shape;487;g3a7ae55b3ca_0_111"/>
          <p:cNvSpPr txBox="1"/>
          <p:nvPr/>
        </p:nvSpPr>
        <p:spPr>
          <a:xfrm>
            <a:off x="828768" y="1188038"/>
            <a:ext cx="24747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700" b="1" i="0" u="none" strike="noStrike" cap="none">
                <a:solidFill>
                  <a:srgbClr val="C68A65"/>
                </a:solidFill>
                <a:latin typeface="Meiryo"/>
                <a:ea typeface="Meiryo"/>
                <a:cs typeface="Meiryo"/>
                <a:sym typeface="Meiryo"/>
              </a:rPr>
              <a:t>長年の販売実績をもとに売上維持</a:t>
            </a:r>
            <a:endParaRPr sz="700" b="1" i="0" u="none" strike="noStrike" cap="none">
              <a:solidFill>
                <a:srgbClr val="C68A65"/>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g34d15c52dd9_0_583"/>
          <p:cNvSpPr txBox="1"/>
          <p:nvPr/>
        </p:nvSpPr>
        <p:spPr>
          <a:xfrm>
            <a:off x="239765" y="287249"/>
            <a:ext cx="8610000" cy="253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200" b="1" i="0" u="none" strike="noStrike" cap="none">
                <a:solidFill>
                  <a:schemeClr val="dk1"/>
                </a:solidFill>
                <a:latin typeface="Meiryo"/>
                <a:ea typeface="Meiryo"/>
                <a:cs typeface="Meiryo"/>
                <a:sym typeface="Meiryo"/>
              </a:rPr>
              <a:t>WineBank × アピシウス</a:t>
            </a:r>
            <a:endParaRPr sz="1400" b="0" i="0" u="none" strike="noStrike" cap="none">
              <a:solidFill>
                <a:srgbClr val="000000"/>
              </a:solidFill>
              <a:latin typeface="Arial"/>
              <a:ea typeface="Arial"/>
              <a:cs typeface="Arial"/>
              <a:sym typeface="Arial"/>
            </a:endParaRPr>
          </a:p>
        </p:txBody>
      </p:sp>
      <p:sp>
        <p:nvSpPr>
          <p:cNvPr id="493" name="Google Shape;493;g34d15c52dd9_0_583"/>
          <p:cNvSpPr txBox="1"/>
          <p:nvPr/>
        </p:nvSpPr>
        <p:spPr>
          <a:xfrm>
            <a:off x="368525" y="750450"/>
            <a:ext cx="8671800" cy="706500"/>
          </a:xfrm>
          <a:prstGeom prst="rect">
            <a:avLst/>
          </a:prstGeom>
          <a:no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chemeClr val="dk1"/>
              </a:buClr>
              <a:buSzPts val="1700"/>
              <a:buFont typeface="Meiryo"/>
              <a:buNone/>
            </a:pPr>
            <a:r>
              <a:rPr lang="ja-JP" sz="1600" b="1" i="0" u="none" strike="noStrike" cap="none">
                <a:solidFill>
                  <a:schemeClr val="dk1"/>
                </a:solidFill>
                <a:latin typeface="Meiryo"/>
                <a:ea typeface="Meiryo"/>
                <a:cs typeface="Meiryo"/>
                <a:sym typeface="Meiryo"/>
              </a:rPr>
              <a:t>創業41年グランメゾンであるアピシウスを2025年6月WineBankGroupで100％株式取得</a:t>
            </a:r>
            <a:endParaRPr sz="1600" b="1" i="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chemeClr val="dk1"/>
              </a:buClr>
              <a:buSzPts val="1700"/>
              <a:buFont typeface="Meiryo"/>
              <a:buNone/>
            </a:pPr>
            <a:r>
              <a:rPr lang="ja-JP" sz="1600" b="1" i="0" u="none" strike="noStrike" cap="none">
                <a:solidFill>
                  <a:schemeClr val="dk1"/>
                </a:solidFill>
                <a:latin typeface="Meiryo"/>
                <a:ea typeface="Meiryo"/>
                <a:cs typeface="Meiryo"/>
                <a:sym typeface="Meiryo"/>
              </a:rPr>
              <a:t>ミシュラン掲載・World of FineWine 3つ星5年連続、食べログ4.29 </a:t>
            </a:r>
            <a:r>
              <a:rPr lang="ja-JP" sz="800" b="1" i="0" u="none" strike="noStrike" cap="none">
                <a:solidFill>
                  <a:schemeClr val="dk1"/>
                </a:solidFill>
                <a:latin typeface="Meiryo"/>
                <a:ea typeface="Meiryo"/>
                <a:cs typeface="Meiryo"/>
                <a:sym typeface="Meiryo"/>
              </a:rPr>
              <a:t>※2025/03/1時点</a:t>
            </a:r>
            <a:endParaRPr sz="800" b="0" i="0" u="none" strike="noStrike" cap="none">
              <a:solidFill>
                <a:srgbClr val="000000"/>
              </a:solidFill>
              <a:latin typeface="Arial"/>
              <a:ea typeface="Arial"/>
              <a:cs typeface="Arial"/>
              <a:sym typeface="Arial"/>
            </a:endParaRPr>
          </a:p>
        </p:txBody>
      </p:sp>
      <p:cxnSp>
        <p:nvCxnSpPr>
          <p:cNvPr id="494" name="Google Shape;494;g34d15c52dd9_0_583"/>
          <p:cNvCxnSpPr/>
          <p:nvPr/>
        </p:nvCxnSpPr>
        <p:spPr>
          <a:xfrm>
            <a:off x="484800" y="1565075"/>
            <a:ext cx="7775700" cy="17400"/>
          </a:xfrm>
          <a:prstGeom prst="straightConnector1">
            <a:avLst/>
          </a:prstGeom>
          <a:noFill/>
          <a:ln w="28575" cap="flat" cmpd="sng">
            <a:solidFill>
              <a:schemeClr val="accent4">
                <a:alpha val="48235"/>
              </a:schemeClr>
            </a:solidFill>
            <a:prstDash val="solid"/>
            <a:round/>
            <a:headEnd type="none" w="sm" len="sm"/>
            <a:tailEnd type="none" w="sm" len="sm"/>
          </a:ln>
        </p:spPr>
      </p:cxnSp>
      <p:pic>
        <p:nvPicPr>
          <p:cNvPr id="495" name="Google Shape;495;g34d15c52dd9_0_583"/>
          <p:cNvPicPr preferRelativeResize="0"/>
          <p:nvPr/>
        </p:nvPicPr>
        <p:blipFill rotWithShape="1">
          <a:blip r:embed="rId3">
            <a:alphaModFix/>
          </a:blip>
          <a:srcRect/>
          <a:stretch/>
        </p:blipFill>
        <p:spPr>
          <a:xfrm>
            <a:off x="786943" y="1717600"/>
            <a:ext cx="4046732" cy="3085238"/>
          </a:xfrm>
          <a:prstGeom prst="rect">
            <a:avLst/>
          </a:prstGeom>
          <a:noFill/>
          <a:ln>
            <a:noFill/>
          </a:ln>
        </p:spPr>
      </p:pic>
      <p:pic>
        <p:nvPicPr>
          <p:cNvPr id="496" name="Google Shape;496;g34d15c52dd9_0_583"/>
          <p:cNvPicPr preferRelativeResize="0"/>
          <p:nvPr/>
        </p:nvPicPr>
        <p:blipFill rotWithShape="1">
          <a:blip r:embed="rId4">
            <a:alphaModFix/>
          </a:blip>
          <a:srcRect/>
          <a:stretch/>
        </p:blipFill>
        <p:spPr>
          <a:xfrm>
            <a:off x="5646575" y="3353275"/>
            <a:ext cx="2718500" cy="1485775"/>
          </a:xfrm>
          <a:prstGeom prst="rect">
            <a:avLst/>
          </a:prstGeom>
          <a:noFill/>
          <a:ln>
            <a:noFill/>
          </a:ln>
        </p:spPr>
      </p:pic>
      <p:pic>
        <p:nvPicPr>
          <p:cNvPr id="497" name="Google Shape;497;g34d15c52dd9_0_583"/>
          <p:cNvPicPr preferRelativeResize="0"/>
          <p:nvPr/>
        </p:nvPicPr>
        <p:blipFill rotWithShape="1">
          <a:blip r:embed="rId5">
            <a:alphaModFix/>
          </a:blip>
          <a:srcRect/>
          <a:stretch/>
        </p:blipFill>
        <p:spPr>
          <a:xfrm>
            <a:off x="6256488" y="1752887"/>
            <a:ext cx="1498677" cy="1536779"/>
          </a:xfrm>
          <a:prstGeom prst="rect">
            <a:avLst/>
          </a:prstGeom>
          <a:noFill/>
          <a:ln>
            <a:noFill/>
          </a:ln>
        </p:spPr>
      </p:pic>
      <p:sp>
        <p:nvSpPr>
          <p:cNvPr id="498" name="Google Shape;498;g34d15c52dd9_0_583"/>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499" name="Google Shape;499;g34d15c52dd9_0_583"/>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21</a:t>
            </a:fld>
            <a:endParaRPr sz="7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g3f9fd91c555_1_0"/>
          <p:cNvSpPr txBox="1"/>
          <p:nvPr/>
        </p:nvSpPr>
        <p:spPr>
          <a:xfrm>
            <a:off x="239550" y="270850"/>
            <a:ext cx="64995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400" b="1" i="0" u="none" strike="noStrike" cap="none">
                <a:solidFill>
                  <a:schemeClr val="dk1"/>
                </a:solidFill>
                <a:latin typeface="Meiryo"/>
                <a:ea typeface="Meiryo"/>
                <a:cs typeface="Meiryo"/>
                <a:sym typeface="Meiryo"/>
              </a:rPr>
              <a:t>提携飲食店（全26店舗、ワイン関連レストラン多数）※2025年末時点</a:t>
            </a:r>
            <a:endParaRPr sz="1200" b="0" i="0" u="none" strike="noStrike" cap="none">
              <a:solidFill>
                <a:srgbClr val="000000"/>
              </a:solidFill>
              <a:latin typeface="Meiryo"/>
              <a:ea typeface="Meiryo"/>
              <a:cs typeface="Meiryo"/>
              <a:sym typeface="Meiryo"/>
            </a:endParaRPr>
          </a:p>
        </p:txBody>
      </p:sp>
      <p:sp>
        <p:nvSpPr>
          <p:cNvPr id="505" name="Google Shape;505;g3f9fd91c555_1_0"/>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506" name="Google Shape;506;g3f9fd91c555_1_0"/>
          <p:cNvSpPr txBox="1"/>
          <p:nvPr/>
        </p:nvSpPr>
        <p:spPr>
          <a:xfrm>
            <a:off x="6520060" y="589780"/>
            <a:ext cx="2458800" cy="1923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800" b="0" i="0" u="none" strike="noStrike" cap="none">
                <a:solidFill>
                  <a:schemeClr val="dk1"/>
                </a:solidFill>
                <a:highlight>
                  <a:schemeClr val="lt1"/>
                </a:highlight>
                <a:latin typeface="Meiryo"/>
                <a:ea typeface="Meiryo"/>
                <a:cs typeface="Meiryo"/>
                <a:sym typeface="Meiryo"/>
              </a:rPr>
              <a:t>※ほか東京６店舗/神奈川８店舗/催事店舗多数</a:t>
            </a:r>
            <a:endParaRPr sz="800" b="0" i="0" u="none" strike="noStrike" cap="none">
              <a:solidFill>
                <a:schemeClr val="dk1"/>
              </a:solidFill>
              <a:highlight>
                <a:schemeClr val="lt1"/>
              </a:highlight>
              <a:latin typeface="Meiryo"/>
              <a:ea typeface="Meiryo"/>
              <a:cs typeface="Meiryo"/>
              <a:sym typeface="Meiryo"/>
            </a:endParaRPr>
          </a:p>
        </p:txBody>
      </p:sp>
      <p:grpSp>
        <p:nvGrpSpPr>
          <p:cNvPr id="507" name="Google Shape;507;g3f9fd91c555_1_0"/>
          <p:cNvGrpSpPr/>
          <p:nvPr/>
        </p:nvGrpSpPr>
        <p:grpSpPr>
          <a:xfrm>
            <a:off x="421138" y="770497"/>
            <a:ext cx="8302066" cy="4167652"/>
            <a:chOff x="238076" y="770467"/>
            <a:chExt cx="7893199" cy="3962400"/>
          </a:xfrm>
        </p:grpSpPr>
        <p:pic>
          <p:nvPicPr>
            <p:cNvPr id="508" name="Google Shape;508;g3f9fd91c555_1_0"/>
            <p:cNvPicPr preferRelativeResize="0"/>
            <p:nvPr/>
          </p:nvPicPr>
          <p:blipFill rotWithShape="1">
            <a:blip r:embed="rId3">
              <a:alphaModFix/>
            </a:blip>
            <a:srcRect/>
            <a:stretch/>
          </p:blipFill>
          <p:spPr>
            <a:xfrm>
              <a:off x="238076" y="770467"/>
              <a:ext cx="5892214" cy="3962400"/>
            </a:xfrm>
            <a:prstGeom prst="rect">
              <a:avLst/>
            </a:prstGeom>
            <a:noFill/>
            <a:ln>
              <a:noFill/>
            </a:ln>
          </p:spPr>
        </p:pic>
        <p:pic>
          <p:nvPicPr>
            <p:cNvPr id="509" name="Google Shape;509;g3f9fd91c555_1_0"/>
            <p:cNvPicPr preferRelativeResize="0"/>
            <p:nvPr/>
          </p:nvPicPr>
          <p:blipFill rotWithShape="1">
            <a:blip r:embed="rId4">
              <a:alphaModFix/>
            </a:blip>
            <a:srcRect l="33198" t="75099" r="32481" b="225"/>
            <a:stretch/>
          </p:blipFill>
          <p:spPr>
            <a:xfrm>
              <a:off x="6124718" y="770467"/>
              <a:ext cx="2006557" cy="1203883"/>
            </a:xfrm>
            <a:prstGeom prst="rect">
              <a:avLst/>
            </a:prstGeom>
            <a:noFill/>
            <a:ln>
              <a:noFill/>
            </a:ln>
          </p:spPr>
        </p:pic>
        <p:sp>
          <p:nvSpPr>
            <p:cNvPr id="510" name="Google Shape;510;g3f9fd91c555_1_0"/>
            <p:cNvSpPr/>
            <p:nvPr/>
          </p:nvSpPr>
          <p:spPr>
            <a:xfrm>
              <a:off x="6089159" y="1925087"/>
              <a:ext cx="2042100" cy="2807700"/>
            </a:xfrm>
            <a:prstGeom prst="rect">
              <a:avLst/>
            </a:prstGeom>
            <a:solidFill>
              <a:srgbClr val="F9F3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11" name="Google Shape;511;g3f9fd91c555_1_0"/>
            <p:cNvSpPr txBox="1"/>
            <p:nvPr/>
          </p:nvSpPr>
          <p:spPr>
            <a:xfrm>
              <a:off x="6160236" y="2952875"/>
              <a:ext cx="1445400" cy="300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JP" sz="600" b="1" i="0" u="none" strike="noStrike" cap="none">
                  <a:solidFill>
                    <a:srgbClr val="000000"/>
                  </a:solidFill>
                  <a:latin typeface="Arial"/>
                  <a:ea typeface="Arial"/>
                  <a:cs typeface="Arial"/>
                  <a:sym typeface="Arial"/>
                </a:rPr>
                <a:t>KINKA sushi bar izakaya 渋谷</a:t>
              </a:r>
              <a:endParaRPr sz="600" b="1" i="0" u="none" strike="noStrike" cap="none">
                <a:solidFill>
                  <a:srgbClr val="000000"/>
                </a:solidFill>
                <a:latin typeface="Arial"/>
                <a:ea typeface="Arial"/>
                <a:cs typeface="Arial"/>
                <a:sym typeface="Arial"/>
              </a:endParaRPr>
            </a:p>
            <a:p>
              <a:pPr marL="0" marR="0" lvl="0" indent="0" algn="l" rtl="0">
                <a:lnSpc>
                  <a:spcPct val="100000"/>
                </a:lnSpc>
                <a:spcBef>
                  <a:spcPts val="300"/>
                </a:spcBef>
                <a:spcAft>
                  <a:spcPts val="0"/>
                </a:spcAft>
                <a:buClr>
                  <a:srgbClr val="000000"/>
                </a:buClr>
                <a:buSzPts val="600"/>
                <a:buFont typeface="Arial"/>
                <a:buNone/>
              </a:pPr>
              <a:r>
                <a:rPr lang="ja-JP" sz="600" b="1" i="0" u="none" strike="noStrike" cap="none">
                  <a:solidFill>
                    <a:srgbClr val="000000"/>
                  </a:solidFill>
                  <a:latin typeface="Arial"/>
                  <a:ea typeface="Arial"/>
                  <a:cs typeface="Arial"/>
                  <a:sym typeface="Arial"/>
                </a:rPr>
                <a:t>(寿司バー／渋谷）</a:t>
              </a:r>
              <a:endParaRPr sz="1400" b="0" i="0" u="none" strike="noStrike" cap="none">
                <a:solidFill>
                  <a:srgbClr val="000000"/>
                </a:solidFill>
                <a:latin typeface="Arial"/>
                <a:ea typeface="Arial"/>
                <a:cs typeface="Arial"/>
                <a:sym typeface="Arial"/>
              </a:endParaRPr>
            </a:p>
          </p:txBody>
        </p:sp>
        <p:sp>
          <p:nvSpPr>
            <p:cNvPr id="512" name="Google Shape;512;g3f9fd91c555_1_0"/>
            <p:cNvSpPr txBox="1"/>
            <p:nvPr/>
          </p:nvSpPr>
          <p:spPr>
            <a:xfrm>
              <a:off x="6160236" y="4259542"/>
              <a:ext cx="1596600" cy="300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JP" sz="600" b="1" i="0" u="none" strike="noStrike" cap="none">
                  <a:solidFill>
                    <a:srgbClr val="000000"/>
                  </a:solidFill>
                  <a:latin typeface="Arial"/>
                  <a:ea typeface="Arial"/>
                  <a:cs typeface="Arial"/>
                  <a:sym typeface="Arial"/>
                </a:rPr>
                <a:t>KINKA sushi bar izakaya 六本木</a:t>
              </a:r>
              <a:endParaRPr sz="600" b="1" i="0" u="none" strike="noStrike" cap="none">
                <a:solidFill>
                  <a:srgbClr val="000000"/>
                </a:solidFill>
                <a:latin typeface="Arial"/>
                <a:ea typeface="Arial"/>
                <a:cs typeface="Arial"/>
                <a:sym typeface="Arial"/>
              </a:endParaRPr>
            </a:p>
            <a:p>
              <a:pPr marL="0" marR="0" lvl="0" indent="0" algn="l" rtl="0">
                <a:lnSpc>
                  <a:spcPct val="100000"/>
                </a:lnSpc>
                <a:spcBef>
                  <a:spcPts val="300"/>
                </a:spcBef>
                <a:spcAft>
                  <a:spcPts val="0"/>
                </a:spcAft>
                <a:buClr>
                  <a:srgbClr val="000000"/>
                </a:buClr>
                <a:buSzPts val="600"/>
                <a:buFont typeface="Arial"/>
                <a:buNone/>
              </a:pPr>
              <a:r>
                <a:rPr lang="ja-JP" sz="600" b="1" i="0" u="none" strike="noStrike" cap="none">
                  <a:solidFill>
                    <a:srgbClr val="000000"/>
                  </a:solidFill>
                  <a:latin typeface="Arial"/>
                  <a:ea typeface="Arial"/>
                  <a:cs typeface="Arial"/>
                  <a:sym typeface="Arial"/>
                </a:rPr>
                <a:t>(寿司バー／六本木）</a:t>
              </a:r>
              <a:endParaRPr sz="1400" b="0" i="0" u="none" strike="noStrike" cap="none">
                <a:solidFill>
                  <a:srgbClr val="000000"/>
                </a:solidFill>
                <a:latin typeface="Arial"/>
                <a:ea typeface="Arial"/>
                <a:cs typeface="Arial"/>
                <a:sym typeface="Arial"/>
              </a:endParaRPr>
            </a:p>
          </p:txBody>
        </p:sp>
        <p:pic>
          <p:nvPicPr>
            <p:cNvPr id="513" name="Google Shape;513;g3f9fd91c555_1_0"/>
            <p:cNvPicPr preferRelativeResize="0"/>
            <p:nvPr/>
          </p:nvPicPr>
          <p:blipFill rotWithShape="1">
            <a:blip r:embed="rId5">
              <a:alphaModFix/>
            </a:blip>
            <a:srcRect t="11193" b="9980"/>
            <a:stretch/>
          </p:blipFill>
          <p:spPr>
            <a:xfrm>
              <a:off x="6251027" y="3348708"/>
              <a:ext cx="1753147" cy="908782"/>
            </a:xfrm>
            <a:prstGeom prst="rect">
              <a:avLst/>
            </a:prstGeom>
            <a:noFill/>
            <a:ln>
              <a:noFill/>
            </a:ln>
          </p:spPr>
        </p:pic>
        <p:pic>
          <p:nvPicPr>
            <p:cNvPr id="514" name="Google Shape;514;g3f9fd91c555_1_0"/>
            <p:cNvPicPr preferRelativeResize="0"/>
            <p:nvPr/>
          </p:nvPicPr>
          <p:blipFill rotWithShape="1">
            <a:blip r:embed="rId6">
              <a:alphaModFix/>
            </a:blip>
            <a:srcRect t="21305" b="10324"/>
            <a:stretch/>
          </p:blipFill>
          <p:spPr>
            <a:xfrm>
              <a:off x="6250432" y="2144088"/>
              <a:ext cx="1753742" cy="790513"/>
            </a:xfrm>
            <a:prstGeom prst="rect">
              <a:avLst/>
            </a:prstGeom>
            <a:noFill/>
            <a:ln>
              <a:noFill/>
            </a:ln>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g34d15c52dd9_0_30"/>
          <p:cNvSpPr txBox="1"/>
          <p:nvPr/>
        </p:nvSpPr>
        <p:spPr>
          <a:xfrm>
            <a:off x="1952170" y="2119949"/>
            <a:ext cx="5231100" cy="510000"/>
          </a:xfrm>
          <a:prstGeom prst="rect">
            <a:avLst/>
          </a:prstGeom>
          <a:noFill/>
          <a:ln>
            <a:noFill/>
          </a:ln>
        </p:spPr>
        <p:txBody>
          <a:bodyPr spcFirstLastPara="1" wrap="square" lIns="78225" tIns="39125" rIns="78225" bIns="39125" anchor="t" anchorCtr="0">
            <a:spAutoFit/>
          </a:bodyPr>
          <a:lstStyle/>
          <a:p>
            <a:pPr marL="0" marR="0" lvl="0" indent="0" algn="ctr" rtl="0">
              <a:lnSpc>
                <a:spcPct val="200000"/>
              </a:lnSpc>
              <a:spcBef>
                <a:spcPts val="0"/>
              </a:spcBef>
              <a:spcAft>
                <a:spcPts val="0"/>
              </a:spcAft>
              <a:buClr>
                <a:srgbClr val="000000"/>
              </a:buClr>
              <a:buSzPts val="1800"/>
              <a:buFont typeface="Arial"/>
              <a:buNone/>
            </a:pPr>
            <a:r>
              <a:rPr lang="ja-JP" sz="2800" b="1" i="0" u="none" strike="noStrike" cap="none">
                <a:solidFill>
                  <a:schemeClr val="lt1"/>
                </a:solidFill>
                <a:latin typeface="Meiryo"/>
                <a:ea typeface="Meiryo"/>
                <a:cs typeface="Meiryo"/>
                <a:sym typeface="Meiryo"/>
              </a:rPr>
              <a:t>すべての人にFineWineを！</a:t>
            </a:r>
            <a:endParaRPr sz="2800" b="1" i="0" u="none" strike="noStrike" cap="none">
              <a:solidFill>
                <a:schemeClr val="lt1"/>
              </a:solidFill>
              <a:latin typeface="Meiryo"/>
              <a:ea typeface="Meiryo"/>
              <a:cs typeface="Meiryo"/>
              <a:sym typeface="Meiryo"/>
            </a:endParaRPr>
          </a:p>
        </p:txBody>
      </p:sp>
      <p:sp>
        <p:nvSpPr>
          <p:cNvPr id="520" name="Google Shape;520;g34d15c52dd9_0_30"/>
          <p:cNvSpPr txBox="1">
            <a:spLocks noGrp="1"/>
          </p:cNvSpPr>
          <p:nvPr>
            <p:ph type="sldNum" idx="4294967295"/>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23</a:t>
            </a:fld>
            <a:endParaRPr sz="7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5023" name="TextBox 5023"/>
          <p:cNvSpPr txBox="1"/>
          <p:nvPr/>
        </p:nvSpPr>
        <p:spPr>
          <a:xfrm>
            <a:off x="237744" y="210312"/>
            <a:ext cx="7315200" cy="28346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ja-JP" sz="1400" b="1" i="0" u="none" strike="noStrike" cap="none">
                <a:solidFill>
                  <a:srgbClr val="000000"/>
                </a:solidFill>
                <a:latin typeface="Meiryo"/>
                <a:ea typeface="Meiryo"/>
                <a:cs typeface="Meiryo"/>
                <a:sym typeface="Meiryo"/>
              </a:rPr>
              <a:t>投資回収と資金計画</a:t>
            </a:r>
            <a:endParaRPr sz="1400" b="0" i="0" u="none" strike="noStrike" cap="none">
              <a:solidFill>
                <a:srgbClr val="000000"/>
              </a:solidFill>
              <a:latin typeface="Arial"/>
              <a:ea typeface="Arial"/>
              <a:cs typeface="Arial"/>
              <a:sym typeface="Arial"/>
            </a:endParaRPr>
          </a:p>
        </p:txBody>
      </p:sp>
      <p:sp>
        <p:nvSpPr>
          <p:cNvPr id="5024" name="TextBox 5024"/>
          <p:cNvSpPr txBox="1"/>
          <p:nvPr/>
        </p:nvSpPr>
        <p:spPr>
          <a:xfrm>
            <a:off x="256032" y="512064"/>
            <a:ext cx="8412480" cy="164592"/>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750"/>
              <a:buFont typeface="Arial"/>
              <a:buNone/>
            </a:pPr>
            <a:r>
              <a:rPr lang="ja-JP" sz="750" b="0" i="0" u="none" strike="noStrike" cap="none">
                <a:solidFill>
                  <a:srgbClr val="888888"/>
                </a:solidFill>
                <a:latin typeface="Meiryo"/>
                <a:ea typeface="Meiryo"/>
                <a:cs typeface="Meiryo"/>
                <a:sym typeface="Meiryo"/>
              </a:rPr>
              <a:t>開業時に必要な現金15,835万円に対し調達済9,000万円 ― 不足6,835万円は募集中の9,000万円で充当</a:t>
            </a:r>
            <a:endParaRPr sz="1400" b="0" i="0" u="none" strike="noStrike" cap="none">
              <a:solidFill>
                <a:srgbClr val="000000"/>
              </a:solidFill>
              <a:latin typeface="Arial"/>
              <a:ea typeface="Arial"/>
              <a:cs typeface="Arial"/>
              <a:sym typeface="Arial"/>
            </a:endParaRPr>
          </a:p>
        </p:txBody>
      </p:sp>
      <p:sp>
        <p:nvSpPr>
          <p:cNvPr id="5025" name="Header 5025"/>
          <p:cNvSpPr/>
          <p:nvPr/>
        </p:nvSpPr>
        <p:spPr>
          <a:xfrm>
            <a:off x="438912" y="786384"/>
            <a:ext cx="402336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初期投資（1店あたり・百万円）</a:t>
            </a:r>
            <a:endParaRPr sz="1400" b="0" i="0" u="none" strike="noStrike" cap="none">
              <a:solidFill>
                <a:srgbClr val="000000"/>
              </a:solidFill>
              <a:latin typeface="Arial"/>
              <a:ea typeface="Arial"/>
              <a:cs typeface="Arial"/>
              <a:sym typeface="Arial"/>
            </a:endParaRPr>
          </a:p>
        </p:txBody>
      </p:sp>
      <p:graphicFrame>
        <p:nvGraphicFramePr>
          <p:cNvPr id="5026" name="Table 5026"/>
          <p:cNvGraphicFramePr/>
          <p:nvPr/>
        </p:nvGraphicFramePr>
        <p:xfrm>
          <a:off x="438912" y="1060704"/>
          <a:ext cx="4023360" cy="1737360"/>
        </p:xfrm>
        <a:graphic>
          <a:graphicData uri="http://schemas.openxmlformats.org/drawingml/2006/table">
            <a:tbl>
              <a:tblPr>
                <a:noFill/>
                <a:tableStyleId>{23FF2375-F9B8-41A6-9E25-2D63B5D407DD}</a:tableStyleId>
              </a:tblPr>
              <a:tblGrid>
                <a:gridCol w="1874520">
                  <a:extLst>
                    <a:ext uri="{9D8B030D-6E8A-4147-A177-3AD203B41FA5}">
                      <a16:colId xmlns:a16="http://schemas.microsoft.com/office/drawing/2014/main" val="20000"/>
                    </a:ext>
                  </a:extLst>
                </a:gridCol>
                <a:gridCol w="713232">
                  <a:extLst>
                    <a:ext uri="{9D8B030D-6E8A-4147-A177-3AD203B41FA5}">
                      <a16:colId xmlns:a16="http://schemas.microsoft.com/office/drawing/2014/main" val="20001"/>
                    </a:ext>
                  </a:extLst>
                </a:gridCol>
                <a:gridCol w="713232">
                  <a:extLst>
                    <a:ext uri="{9D8B030D-6E8A-4147-A177-3AD203B41FA5}">
                      <a16:colId xmlns:a16="http://schemas.microsoft.com/office/drawing/2014/main" val="20002"/>
                    </a:ext>
                  </a:extLst>
                </a:gridCol>
                <a:gridCol w="722376">
                  <a:extLst>
                    <a:ext uri="{9D8B030D-6E8A-4147-A177-3AD203B41FA5}">
                      <a16:colId xmlns:a16="http://schemas.microsoft.com/office/drawing/2014/main" val="20003"/>
                    </a:ext>
                  </a:extLst>
                </a:gridCol>
              </a:tblGrid>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項目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1号店</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2〜3号店</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4号店〜</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契約金</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5.0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1"/>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事業費（設計・内装施工・OSE/FF&amp;E）</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194.3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194.3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194.3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2"/>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　うち 内装 家主立替（10年分割返済）</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▲100.0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▲100.0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▲100.0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3"/>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開業準備金（広告・採用等）</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4.0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4.0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4.0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4"/>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保証金（非償却・返還対象）</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39.0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39.0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39.0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5"/>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ワイン・美術品在庫（非償却）</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50.0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6"/>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初期投資 合計</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297.3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257.3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252.3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7"/>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分割対象額（内装100＋保証金38.9）</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138.9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138.9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138.9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8"/>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開業時 現金支出</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158.4</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118.4</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113.4</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9"/>
                  </a:ext>
                </a:extLst>
              </a:tr>
            </a:tbl>
          </a:graphicData>
        </a:graphic>
      </p:graphicFrame>
      <p:sp>
        <p:nvSpPr>
          <p:cNvPr id="5027" name="Header 5027"/>
          <p:cNvSpPr/>
          <p:nvPr/>
        </p:nvSpPr>
        <p:spPr>
          <a:xfrm>
            <a:off x="438912" y="2926080"/>
            <a:ext cx="402336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1号店 キャッシュフロー（百万円）</a:t>
            </a:r>
            <a:endParaRPr sz="1400" b="0" i="0" u="none" strike="noStrike" cap="none">
              <a:solidFill>
                <a:srgbClr val="000000"/>
              </a:solidFill>
              <a:latin typeface="Arial"/>
              <a:ea typeface="Arial"/>
              <a:cs typeface="Arial"/>
              <a:sym typeface="Arial"/>
            </a:endParaRPr>
          </a:p>
        </p:txBody>
      </p:sp>
      <p:graphicFrame>
        <p:nvGraphicFramePr>
          <p:cNvPr id="5028" name="Table 5028"/>
          <p:cNvGraphicFramePr/>
          <p:nvPr/>
        </p:nvGraphicFramePr>
        <p:xfrm>
          <a:off x="438912" y="3200400"/>
          <a:ext cx="4023360" cy="1042416"/>
        </p:xfrm>
        <a:graphic>
          <a:graphicData uri="http://schemas.openxmlformats.org/drawingml/2006/table">
            <a:tbl>
              <a:tblPr>
                <a:noFill/>
                <a:tableStyleId>{23FF2375-F9B8-41A6-9E25-2D63B5D407DD}</a:tableStyleId>
              </a:tblPr>
              <a:tblGrid>
                <a:gridCol w="1243584">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66344">
                  <a:extLst>
                    <a:ext uri="{9D8B030D-6E8A-4147-A177-3AD203B41FA5}">
                      <a16:colId xmlns:a16="http://schemas.microsoft.com/office/drawing/2014/main" val="20003"/>
                    </a:ext>
                  </a:extLst>
                </a:gridCol>
                <a:gridCol w="466344">
                  <a:extLst>
                    <a:ext uri="{9D8B030D-6E8A-4147-A177-3AD203B41FA5}">
                      <a16:colId xmlns:a16="http://schemas.microsoft.com/office/drawing/2014/main" val="20004"/>
                    </a:ext>
                  </a:extLst>
                </a:gridCol>
                <a:gridCol w="466344">
                  <a:extLst>
                    <a:ext uri="{9D8B030D-6E8A-4147-A177-3AD203B41FA5}">
                      <a16:colId xmlns:a16="http://schemas.microsoft.com/office/drawing/2014/main" val="20005"/>
                    </a:ext>
                  </a:extLst>
                </a:gridCol>
                <a:gridCol w="466344">
                  <a:extLst>
                    <a:ext uri="{9D8B030D-6E8A-4147-A177-3AD203B41FA5}">
                      <a16:colId xmlns:a16="http://schemas.microsoft.com/office/drawing/2014/main" val="20006"/>
                    </a:ext>
                  </a:extLst>
                </a:gridCol>
              </a:tblGrid>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項目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開業時</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1年目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2年目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3年目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4年目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5年目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EBITDA</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46.1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56.3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63.4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63.4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63.4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1"/>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開業時 現金支出</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▲158.4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2"/>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分割弁済（内装＋保証金）</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▲15.6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▲15.6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▲15.6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▲15.6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▲15.6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3"/>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単店FCF</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▲158.4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30.5</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40.7</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47.9</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47.9</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47.9</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4"/>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累計FCF</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▲158.4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▲127.8</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▲87.1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▲39.2</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8.7</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56.6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5"/>
                  </a:ext>
                </a:extLst>
              </a:tr>
            </a:tbl>
          </a:graphicData>
        </a:graphic>
      </p:graphicFrame>
      <p:sp>
        <p:nvSpPr>
          <p:cNvPr id="5029" name="TextBox 5029"/>
          <p:cNvSpPr txBox="1"/>
          <p:nvPr/>
        </p:nvSpPr>
        <p:spPr>
          <a:xfrm>
            <a:off x="438912" y="4297680"/>
            <a:ext cx="4023360" cy="18288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 開業4年目に累計FCFが黒字転換　／　投資回収 約3.8年　／　定常期FCF 47.9百万円</a:t>
            </a:r>
            <a:endParaRPr sz="1400" b="0" i="0" u="none" strike="noStrike" cap="none">
              <a:solidFill>
                <a:srgbClr val="000000"/>
              </a:solidFill>
              <a:latin typeface="Arial"/>
              <a:ea typeface="Arial"/>
              <a:cs typeface="Arial"/>
              <a:sym typeface="Arial"/>
            </a:endParaRPr>
          </a:p>
        </p:txBody>
      </p:sp>
      <p:sp>
        <p:nvSpPr>
          <p:cNvPr id="5030" name="Header 5030"/>
          <p:cNvSpPr/>
          <p:nvPr/>
        </p:nvSpPr>
        <p:spPr>
          <a:xfrm>
            <a:off x="4681728" y="786384"/>
            <a:ext cx="402336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連結キャッシュフロー（百万円）</a:t>
            </a:r>
            <a:endParaRPr sz="1400" b="0" i="0" u="none" strike="noStrike" cap="none">
              <a:solidFill>
                <a:srgbClr val="000000"/>
              </a:solidFill>
              <a:latin typeface="Arial"/>
              <a:ea typeface="Arial"/>
              <a:cs typeface="Arial"/>
              <a:sym typeface="Arial"/>
            </a:endParaRPr>
          </a:p>
        </p:txBody>
      </p:sp>
      <p:graphicFrame>
        <p:nvGraphicFramePr>
          <p:cNvPr id="5031" name="Table 5031"/>
          <p:cNvGraphicFramePr/>
          <p:nvPr/>
        </p:nvGraphicFramePr>
        <p:xfrm>
          <a:off x="4681728" y="1060704"/>
          <a:ext cx="4023360" cy="1042416"/>
        </p:xfrm>
        <a:graphic>
          <a:graphicData uri="http://schemas.openxmlformats.org/drawingml/2006/table">
            <a:tbl>
              <a:tblPr>
                <a:noFill/>
                <a:tableStyleId>{23FF2375-F9B8-41A6-9E25-2D63B5D407DD}</a:tableStyleId>
              </a:tblPr>
              <a:tblGrid>
                <a:gridCol w="128016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548640">
                  <a:extLst>
                    <a:ext uri="{9D8B030D-6E8A-4147-A177-3AD203B41FA5}">
                      <a16:colId xmlns:a16="http://schemas.microsoft.com/office/drawing/2014/main" val="20005"/>
                    </a:ext>
                  </a:extLst>
                </a:gridCol>
              </a:tblGrid>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項目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FY2027</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FY2028</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FY2029</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FY2030</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FY2031</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投資キャッシュアウト</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▲173.9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▲271.7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▲292.8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▲323.9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▲355.0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1"/>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連結EBITDA</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31.1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85.9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193.7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312.6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432.5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2"/>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法人税等（推計）</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▲11.7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▲31.7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▲55.2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▲79.0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3"/>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簡易フリーCF</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▲145.9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▲197.5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▲130.9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▲66.6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4"/>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累計フリーCF</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▲145.9</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▲343.4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▲474.3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▲540.9</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▲542.4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5"/>
                  </a:ext>
                </a:extLst>
              </a:tr>
            </a:tbl>
          </a:graphicData>
        </a:graphic>
      </p:graphicFrame>
      <p:sp>
        <p:nvSpPr>
          <p:cNvPr id="5032" name="Header 5032"/>
          <p:cNvSpPr/>
          <p:nvPr/>
        </p:nvSpPr>
        <p:spPr>
          <a:xfrm>
            <a:off x="4681728" y="2240280"/>
            <a:ext cx="402336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必要資金と調達</a:t>
            </a:r>
            <a:endParaRPr sz="1400" b="0" i="0" u="none" strike="noStrike" cap="none">
              <a:solidFill>
                <a:srgbClr val="000000"/>
              </a:solidFill>
              <a:latin typeface="Arial"/>
              <a:ea typeface="Arial"/>
              <a:cs typeface="Arial"/>
              <a:sym typeface="Arial"/>
            </a:endParaRPr>
          </a:p>
        </p:txBody>
      </p:sp>
      <p:graphicFrame>
        <p:nvGraphicFramePr>
          <p:cNvPr id="5033" name="Table 5033"/>
          <p:cNvGraphicFramePr/>
          <p:nvPr/>
        </p:nvGraphicFramePr>
        <p:xfrm>
          <a:off x="4681728" y="2514600"/>
          <a:ext cx="4023360" cy="1911096"/>
        </p:xfrm>
        <a:graphic>
          <a:graphicData uri="http://schemas.openxmlformats.org/drawingml/2006/table">
            <a:tbl>
              <a:tblPr>
                <a:noFill/>
                <a:tableStyleId>{23FF2375-F9B8-41A6-9E25-2D63B5D407DD}</a:tableStyleId>
              </a:tblPr>
              <a:tblGrid>
                <a:gridCol w="297180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tblGrid>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項目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金額（万円）</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① 1号店 開業時に必要な現金</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15,835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1"/>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② FY2027末までに必要な資金</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14,590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2"/>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③ 5年・9店舗の最大資金需要</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54,244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3"/>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調達済（アピシウス投資家7,000＋エニーカラー創業者2,000）</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9,000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4"/>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募集中（今回ラウンド残額）</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9,000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5"/>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調達額 計（ラウンド1.8億円 完了時）</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18,000</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6"/>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現時点の不足（① － 調達済）</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▲6,835</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7"/>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ラウンド完了後　①開業時</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＋2,165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8"/>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ラウンド完了後　②FY2027末</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＋3,410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9"/>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ラウンド完了後　③5年・9店舗</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C00000"/>
                          </a:solidFill>
                          <a:latin typeface="Meiryo"/>
                          <a:ea typeface="Meiryo"/>
                          <a:cs typeface="Meiryo"/>
                          <a:sym typeface="Meiryo"/>
                        </a:rPr>
                        <a:t>▲36,244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10"/>
                  </a:ext>
                </a:extLst>
              </a:tr>
            </a:tbl>
          </a:graphicData>
        </a:graphic>
      </p:graphicFrame>
      <p:sp>
        <p:nvSpPr>
          <p:cNvPr id="5034" name="TextBox 5034"/>
          <p:cNvSpPr txBox="1"/>
          <p:nvPr/>
        </p:nvSpPr>
        <p:spPr>
          <a:xfrm>
            <a:off x="438912" y="4553712"/>
            <a:ext cx="8229600" cy="14630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 内装100百万円は家主立替（月833千円×120回）、保証金のうち38.9百万円は月463千円×84回の分割（賃貸借契約）。資産計上・減価償却は自社で継続。既存2億円は調達済9,000万円と家主分割分で構成されるため調達額に含めない。運転資金は含まない。</a:t>
            </a:r>
            <a:endParaRPr sz="1400" b="0" i="0" u="none" strike="noStrike" cap="none">
              <a:solidFill>
                <a:srgbClr val="000000"/>
              </a:solidFill>
              <a:latin typeface="Arial"/>
              <a:ea typeface="Arial"/>
              <a:cs typeface="Arial"/>
              <a:sym typeface="Arial"/>
            </a:endParaRPr>
          </a:p>
        </p:txBody>
      </p:sp>
      <p:sp>
        <p:nvSpPr>
          <p:cNvPr id="5035" name="TextBox 5035"/>
          <p:cNvSpPr txBox="1"/>
          <p:nvPr/>
        </p:nvSpPr>
        <p:spPr>
          <a:xfrm>
            <a:off x="54864" y="4873752"/>
            <a:ext cx="822960" cy="128016"/>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CONFIDENTIAL</a:t>
            </a:r>
            <a:endParaRPr sz="1400" b="0" i="0" u="none" strike="noStrike" cap="none">
              <a:solidFill>
                <a:srgbClr val="000000"/>
              </a:solidFill>
              <a:latin typeface="Arial"/>
              <a:ea typeface="Arial"/>
              <a:cs typeface="Arial"/>
              <a:sym typeface="Arial"/>
            </a:endParaRPr>
          </a:p>
        </p:txBody>
      </p:sp>
      <p:sp>
        <p:nvSpPr>
          <p:cNvPr id="5036" name="Slide Number 5036"/>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a:t>
            </a:fld>
            <a:endParaRPr sz="7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5037" name="TextBox 5037"/>
          <p:cNvSpPr txBox="1"/>
          <p:nvPr/>
        </p:nvSpPr>
        <p:spPr>
          <a:xfrm>
            <a:off x="237744" y="210312"/>
            <a:ext cx="7315200" cy="28346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ja-JP" sz="1400" b="1" i="0" u="none" strike="noStrike" cap="none">
                <a:solidFill>
                  <a:srgbClr val="000000"/>
                </a:solidFill>
                <a:latin typeface="Meiryo"/>
                <a:ea typeface="Meiryo"/>
                <a:cs typeface="Meiryo"/>
                <a:sym typeface="Meiryo"/>
              </a:rPr>
              <a:t>前提の振れ幅に対する感応度</a:t>
            </a:r>
            <a:endParaRPr sz="1400" b="0" i="0" u="none" strike="noStrike" cap="none">
              <a:solidFill>
                <a:srgbClr val="000000"/>
              </a:solidFill>
              <a:latin typeface="Arial"/>
              <a:ea typeface="Arial"/>
              <a:cs typeface="Arial"/>
              <a:sym typeface="Arial"/>
            </a:endParaRPr>
          </a:p>
        </p:txBody>
      </p:sp>
      <p:sp>
        <p:nvSpPr>
          <p:cNvPr id="5038" name="TextBox 5038"/>
          <p:cNvSpPr txBox="1"/>
          <p:nvPr/>
        </p:nvSpPr>
        <p:spPr>
          <a:xfrm>
            <a:off x="256032" y="512064"/>
            <a:ext cx="8412480" cy="164592"/>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750"/>
              <a:buFont typeface="Arial"/>
              <a:buNone/>
            </a:pPr>
            <a:r>
              <a:rPr lang="ja-JP" sz="750" b="0" i="0" u="none" strike="noStrike" cap="none">
                <a:solidFill>
                  <a:srgbClr val="888888"/>
                </a:solidFill>
                <a:latin typeface="Meiryo"/>
                <a:ea typeface="Meiryo"/>
                <a:cs typeface="Meiryo"/>
                <a:sym typeface="Meiryo"/>
              </a:rPr>
              <a:t>1号店・満年度ベース　｜　店内席効率 × ディナー店内回転率（銅色＝計画前提）</a:t>
            </a:r>
            <a:endParaRPr sz="1400" b="0" i="0" u="none" strike="noStrike" cap="none">
              <a:solidFill>
                <a:srgbClr val="000000"/>
              </a:solidFill>
              <a:latin typeface="Arial"/>
              <a:ea typeface="Arial"/>
              <a:cs typeface="Arial"/>
              <a:sym typeface="Arial"/>
            </a:endParaRPr>
          </a:p>
        </p:txBody>
      </p:sp>
      <p:sp>
        <p:nvSpPr>
          <p:cNvPr id="5039" name="Header 5039"/>
          <p:cNvSpPr/>
          <p:nvPr/>
        </p:nvSpPr>
        <p:spPr>
          <a:xfrm>
            <a:off x="438912" y="786384"/>
            <a:ext cx="397764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年間売上高（百万円）</a:t>
            </a:r>
            <a:endParaRPr sz="1400" b="0" i="0" u="none" strike="noStrike" cap="none">
              <a:solidFill>
                <a:srgbClr val="000000"/>
              </a:solidFill>
              <a:latin typeface="Arial"/>
              <a:ea typeface="Arial"/>
              <a:cs typeface="Arial"/>
              <a:sym typeface="Arial"/>
            </a:endParaRPr>
          </a:p>
        </p:txBody>
      </p:sp>
      <p:graphicFrame>
        <p:nvGraphicFramePr>
          <p:cNvPr id="5040" name="Table 5040"/>
          <p:cNvGraphicFramePr/>
          <p:nvPr/>
        </p:nvGraphicFramePr>
        <p:xfrm>
          <a:off x="438912" y="1060704"/>
          <a:ext cx="3977640" cy="1645920"/>
        </p:xfrm>
        <a:graphic>
          <a:graphicData uri="http://schemas.openxmlformats.org/drawingml/2006/table">
            <a:tbl>
              <a:tblPr>
                <a:noFill/>
                <a:tableStyleId>{23FF2375-F9B8-41A6-9E25-2D63B5D407DD}</a:tableStyleId>
              </a:tblPr>
              <a:tblGrid>
                <a:gridCol w="100584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tblGrid>
              <a:tr h="274320">
                <a:tc>
                  <a:txBody>
                    <a:bodyPr/>
                    <a:lstStyle/>
                    <a:p>
                      <a:pPr marL="0" marR="0" lvl="0" indent="0" algn="ctr" rtl="0">
                        <a:lnSpc>
                          <a:spcPct val="100000"/>
                        </a:lnSpc>
                        <a:spcBef>
                          <a:spcPts val="0"/>
                        </a:spcBef>
                        <a:spcAft>
                          <a:spcPts val="0"/>
                        </a:spcAft>
                        <a:buClr>
                          <a:srgbClr val="000000"/>
                        </a:buClr>
                        <a:buSzPts val="750"/>
                        <a:buFont typeface="Arial"/>
                        <a:buNone/>
                      </a:pPr>
                      <a:r>
                        <a:rPr lang="ja-JP" sz="750" b="1" i="0" u="none" strike="noStrike" cap="none">
                          <a:solidFill>
                            <a:srgbClr val="FFFFFF"/>
                          </a:solidFill>
                          <a:latin typeface="Meiryo"/>
                          <a:ea typeface="Meiryo"/>
                          <a:cs typeface="Meiryo"/>
                          <a:sym typeface="Meiryo"/>
                        </a:rPr>
                        <a:t>席効率 ＼ 回転率</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ja-JP" sz="750" b="1" i="0" u="none" strike="noStrike" cap="none">
                          <a:solidFill>
                            <a:srgbClr val="FFFFFF"/>
                          </a:solidFill>
                          <a:latin typeface="Meiryo"/>
                          <a:ea typeface="Meiryo"/>
                          <a:cs typeface="Meiryo"/>
                          <a:sym typeface="Meiryo"/>
                        </a:rPr>
                        <a:t>0.70</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ja-JP" sz="750" b="1" i="0" u="none" strike="noStrike" cap="none">
                          <a:solidFill>
                            <a:srgbClr val="FFFFFF"/>
                          </a:solidFill>
                          <a:latin typeface="Meiryo"/>
                          <a:ea typeface="Meiryo"/>
                          <a:cs typeface="Meiryo"/>
                          <a:sym typeface="Meiryo"/>
                        </a:rPr>
                        <a:t>0.80</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ja-JP" sz="750" b="1" i="0" u="none" strike="noStrike" cap="none">
                          <a:solidFill>
                            <a:srgbClr val="FFFFFF"/>
                          </a:solidFill>
                          <a:latin typeface="Meiryo"/>
                          <a:ea typeface="Meiryo"/>
                          <a:cs typeface="Meiryo"/>
                          <a:sym typeface="Meiryo"/>
                        </a:rPr>
                        <a:t>0.90</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ja-JP" sz="750" b="1" i="0" u="none" strike="noStrike" cap="none">
                          <a:solidFill>
                            <a:srgbClr val="FFFFFF"/>
                          </a:solidFill>
                          <a:latin typeface="Meiryo"/>
                          <a:ea typeface="Meiryo"/>
                          <a:cs typeface="Meiryo"/>
                          <a:sym typeface="Meiryo"/>
                        </a:rPr>
                        <a:t>1.00</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ja-JP" sz="750" b="1" i="0" u="none" strike="noStrike" cap="none">
                          <a:solidFill>
                            <a:srgbClr val="FFFFFF"/>
                          </a:solidFill>
                          <a:latin typeface="Meiryo"/>
                          <a:ea typeface="Meiryo"/>
                          <a:cs typeface="Meiryo"/>
                          <a:sym typeface="Meiryo"/>
                        </a:rPr>
                        <a:t>1.10</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274320">
                <a:tc>
                  <a:txBody>
                    <a:bodyPr/>
                    <a:lstStyle/>
                    <a:p>
                      <a:pPr marL="0" marR="0" lvl="0" indent="0" algn="ctr" rtl="0">
                        <a:lnSpc>
                          <a:spcPct val="100000"/>
                        </a:lnSpc>
                        <a:spcBef>
                          <a:spcPts val="0"/>
                        </a:spcBef>
                        <a:spcAft>
                          <a:spcPts val="0"/>
                        </a:spcAft>
                        <a:buClr>
                          <a:srgbClr val="000000"/>
                        </a:buClr>
                        <a:buSzPts val="750"/>
                        <a:buFont typeface="Arial"/>
                        <a:buNone/>
                      </a:pPr>
                      <a:r>
                        <a:rPr lang="ja-JP" sz="750" b="0" i="0" u="none" strike="noStrike" cap="none">
                          <a:solidFill>
                            <a:srgbClr val="FFFFFF"/>
                          </a:solidFill>
                          <a:latin typeface="Meiryo"/>
                          <a:ea typeface="Meiryo"/>
                          <a:cs typeface="Meiryo"/>
                          <a:sym typeface="Meiryo"/>
                        </a:rPr>
                        <a:t>65%</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335.9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357.9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379.8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401.8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423.7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1"/>
                  </a:ext>
                </a:extLst>
              </a:tr>
              <a:tr h="274320">
                <a:tc>
                  <a:txBody>
                    <a:bodyPr/>
                    <a:lstStyle/>
                    <a:p>
                      <a:pPr marL="0" marR="0" lvl="0" indent="0" algn="ctr" rtl="0">
                        <a:lnSpc>
                          <a:spcPct val="100000"/>
                        </a:lnSpc>
                        <a:spcBef>
                          <a:spcPts val="0"/>
                        </a:spcBef>
                        <a:spcAft>
                          <a:spcPts val="0"/>
                        </a:spcAft>
                        <a:buClr>
                          <a:srgbClr val="000000"/>
                        </a:buClr>
                        <a:buSzPts val="750"/>
                        <a:buFont typeface="Arial"/>
                        <a:buNone/>
                      </a:pPr>
                      <a:r>
                        <a:rPr lang="ja-JP" sz="750" b="0" i="0" u="none" strike="noStrike" cap="none">
                          <a:solidFill>
                            <a:srgbClr val="FFFFFF"/>
                          </a:solidFill>
                          <a:latin typeface="Meiryo"/>
                          <a:ea typeface="Meiryo"/>
                          <a:cs typeface="Meiryo"/>
                          <a:sym typeface="Meiryo"/>
                        </a:rPr>
                        <a:t>70%</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354.3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378.0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401.6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425.2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448.8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2"/>
                  </a:ext>
                </a:extLst>
              </a:tr>
              <a:tr h="274320">
                <a:tc>
                  <a:txBody>
                    <a:bodyPr/>
                    <a:lstStyle/>
                    <a:p>
                      <a:pPr marL="0" marR="0" lvl="0" indent="0" algn="ctr" rtl="0">
                        <a:lnSpc>
                          <a:spcPct val="100000"/>
                        </a:lnSpc>
                        <a:spcBef>
                          <a:spcPts val="0"/>
                        </a:spcBef>
                        <a:spcAft>
                          <a:spcPts val="0"/>
                        </a:spcAft>
                        <a:buClr>
                          <a:srgbClr val="000000"/>
                        </a:buClr>
                        <a:buSzPts val="750"/>
                        <a:buFont typeface="Arial"/>
                        <a:buNone/>
                      </a:pPr>
                      <a:r>
                        <a:rPr lang="ja-JP" sz="750" b="0" i="0" u="none" strike="noStrike" cap="none">
                          <a:solidFill>
                            <a:srgbClr val="FFFFFF"/>
                          </a:solidFill>
                          <a:latin typeface="Meiryo"/>
                          <a:ea typeface="Meiryo"/>
                          <a:cs typeface="Meiryo"/>
                          <a:sym typeface="Meiryo"/>
                        </a:rPr>
                        <a:t>75%</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372.7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398.0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1" i="0" u="none" strike="noStrike" cap="none">
                          <a:solidFill>
                            <a:srgbClr val="FFFFFF"/>
                          </a:solidFill>
                          <a:latin typeface="Meiryo"/>
                          <a:ea typeface="Meiryo"/>
                          <a:cs typeface="Meiryo"/>
                          <a:sym typeface="Meiryo"/>
                        </a:rPr>
                        <a:t>423.4</a:t>
                      </a:r>
                      <a:endParaRPr sz="1400" b="1" i="0" u="none" strike="noStrike" cap="none">
                        <a:solidFill>
                          <a:srgbClr val="FFFFFF"/>
                        </a:solidFill>
                        <a:latin typeface="Arial"/>
                        <a:ea typeface="Arial"/>
                        <a:cs typeface="Arial"/>
                        <a:sym typeface="Arial"/>
                      </a:endParaRPr>
                    </a:p>
                  </a:txBody>
                  <a:tcPr marL="45725" marR="45725" marT="0" marB="0" anchor="ctr">
                    <a:solidFill>
                      <a:srgbClr val="C68A65"/>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448.7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474.0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3"/>
                  </a:ext>
                </a:extLst>
              </a:tr>
              <a:tr h="274320">
                <a:tc>
                  <a:txBody>
                    <a:bodyPr/>
                    <a:lstStyle/>
                    <a:p>
                      <a:pPr marL="0" marR="0" lvl="0" indent="0" algn="ctr" rtl="0">
                        <a:lnSpc>
                          <a:spcPct val="100000"/>
                        </a:lnSpc>
                        <a:spcBef>
                          <a:spcPts val="0"/>
                        </a:spcBef>
                        <a:spcAft>
                          <a:spcPts val="0"/>
                        </a:spcAft>
                        <a:buClr>
                          <a:srgbClr val="000000"/>
                        </a:buClr>
                        <a:buSzPts val="750"/>
                        <a:buFont typeface="Arial"/>
                        <a:buNone/>
                      </a:pPr>
                      <a:r>
                        <a:rPr lang="ja-JP" sz="750" b="0" i="0" u="none" strike="noStrike" cap="none">
                          <a:solidFill>
                            <a:srgbClr val="FFFFFF"/>
                          </a:solidFill>
                          <a:latin typeface="Meiryo"/>
                          <a:ea typeface="Meiryo"/>
                          <a:cs typeface="Meiryo"/>
                          <a:sym typeface="Meiryo"/>
                        </a:rPr>
                        <a:t>80%</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391.1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418.1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445.1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472.1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499.1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4"/>
                  </a:ext>
                </a:extLst>
              </a:tr>
              <a:tr h="274320">
                <a:tc>
                  <a:txBody>
                    <a:bodyPr/>
                    <a:lstStyle/>
                    <a:p>
                      <a:pPr marL="0" marR="0" lvl="0" indent="0" algn="ctr" rtl="0">
                        <a:lnSpc>
                          <a:spcPct val="100000"/>
                        </a:lnSpc>
                        <a:spcBef>
                          <a:spcPts val="0"/>
                        </a:spcBef>
                        <a:spcAft>
                          <a:spcPts val="0"/>
                        </a:spcAft>
                        <a:buClr>
                          <a:srgbClr val="000000"/>
                        </a:buClr>
                        <a:buSzPts val="750"/>
                        <a:buFont typeface="Arial"/>
                        <a:buNone/>
                      </a:pPr>
                      <a:r>
                        <a:rPr lang="ja-JP" sz="750" b="0" i="0" u="none" strike="noStrike" cap="none">
                          <a:solidFill>
                            <a:srgbClr val="FFFFFF"/>
                          </a:solidFill>
                          <a:latin typeface="Meiryo"/>
                          <a:ea typeface="Meiryo"/>
                          <a:cs typeface="Meiryo"/>
                          <a:sym typeface="Meiryo"/>
                        </a:rPr>
                        <a:t>85%</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409.5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438.2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466.9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495.6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524.3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5"/>
                  </a:ext>
                </a:extLst>
              </a:tr>
            </a:tbl>
          </a:graphicData>
        </a:graphic>
      </p:graphicFrame>
      <p:sp>
        <p:nvSpPr>
          <p:cNvPr id="5041" name="Header 5041"/>
          <p:cNvSpPr/>
          <p:nvPr/>
        </p:nvSpPr>
        <p:spPr>
          <a:xfrm>
            <a:off x="4727448" y="786384"/>
            <a:ext cx="397764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営業利益率</a:t>
            </a:r>
            <a:endParaRPr sz="1400" b="0" i="0" u="none" strike="noStrike" cap="none">
              <a:solidFill>
                <a:srgbClr val="000000"/>
              </a:solidFill>
              <a:latin typeface="Arial"/>
              <a:ea typeface="Arial"/>
              <a:cs typeface="Arial"/>
              <a:sym typeface="Arial"/>
            </a:endParaRPr>
          </a:p>
        </p:txBody>
      </p:sp>
      <p:graphicFrame>
        <p:nvGraphicFramePr>
          <p:cNvPr id="5042" name="Table 5042"/>
          <p:cNvGraphicFramePr/>
          <p:nvPr/>
        </p:nvGraphicFramePr>
        <p:xfrm>
          <a:off x="4727448" y="1060704"/>
          <a:ext cx="3977640" cy="1645920"/>
        </p:xfrm>
        <a:graphic>
          <a:graphicData uri="http://schemas.openxmlformats.org/drawingml/2006/table">
            <a:tbl>
              <a:tblPr>
                <a:noFill/>
                <a:tableStyleId>{23FF2375-F9B8-41A6-9E25-2D63B5D407DD}</a:tableStyleId>
              </a:tblPr>
              <a:tblGrid>
                <a:gridCol w="100584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tblGrid>
              <a:tr h="274320">
                <a:tc>
                  <a:txBody>
                    <a:bodyPr/>
                    <a:lstStyle/>
                    <a:p>
                      <a:pPr marL="0" marR="0" lvl="0" indent="0" algn="ctr" rtl="0">
                        <a:lnSpc>
                          <a:spcPct val="100000"/>
                        </a:lnSpc>
                        <a:spcBef>
                          <a:spcPts val="0"/>
                        </a:spcBef>
                        <a:spcAft>
                          <a:spcPts val="0"/>
                        </a:spcAft>
                        <a:buClr>
                          <a:srgbClr val="000000"/>
                        </a:buClr>
                        <a:buSzPts val="750"/>
                        <a:buFont typeface="Arial"/>
                        <a:buNone/>
                      </a:pPr>
                      <a:r>
                        <a:rPr lang="ja-JP" sz="750" b="1" i="0" u="none" strike="noStrike" cap="none">
                          <a:solidFill>
                            <a:srgbClr val="FFFFFF"/>
                          </a:solidFill>
                          <a:latin typeface="Meiryo"/>
                          <a:ea typeface="Meiryo"/>
                          <a:cs typeface="Meiryo"/>
                          <a:sym typeface="Meiryo"/>
                        </a:rPr>
                        <a:t>席効率 ＼ 回転率</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ja-JP" sz="750" b="1" i="0" u="none" strike="noStrike" cap="none">
                          <a:solidFill>
                            <a:srgbClr val="FFFFFF"/>
                          </a:solidFill>
                          <a:latin typeface="Meiryo"/>
                          <a:ea typeface="Meiryo"/>
                          <a:cs typeface="Meiryo"/>
                          <a:sym typeface="Meiryo"/>
                        </a:rPr>
                        <a:t>0.70</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ja-JP" sz="750" b="1" i="0" u="none" strike="noStrike" cap="none">
                          <a:solidFill>
                            <a:srgbClr val="FFFFFF"/>
                          </a:solidFill>
                          <a:latin typeface="Meiryo"/>
                          <a:ea typeface="Meiryo"/>
                          <a:cs typeface="Meiryo"/>
                          <a:sym typeface="Meiryo"/>
                        </a:rPr>
                        <a:t>0.80</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ja-JP" sz="750" b="1" i="0" u="none" strike="noStrike" cap="none">
                          <a:solidFill>
                            <a:srgbClr val="FFFFFF"/>
                          </a:solidFill>
                          <a:latin typeface="Meiryo"/>
                          <a:ea typeface="Meiryo"/>
                          <a:cs typeface="Meiryo"/>
                          <a:sym typeface="Meiryo"/>
                        </a:rPr>
                        <a:t>0.90</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ja-JP" sz="750" b="1" i="0" u="none" strike="noStrike" cap="none">
                          <a:solidFill>
                            <a:srgbClr val="FFFFFF"/>
                          </a:solidFill>
                          <a:latin typeface="Meiryo"/>
                          <a:ea typeface="Meiryo"/>
                          <a:cs typeface="Meiryo"/>
                          <a:sym typeface="Meiryo"/>
                        </a:rPr>
                        <a:t>1.00</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ja-JP" sz="750" b="1" i="0" u="none" strike="noStrike" cap="none">
                          <a:solidFill>
                            <a:srgbClr val="FFFFFF"/>
                          </a:solidFill>
                          <a:latin typeface="Meiryo"/>
                          <a:ea typeface="Meiryo"/>
                          <a:cs typeface="Meiryo"/>
                          <a:sym typeface="Meiryo"/>
                        </a:rPr>
                        <a:t>1.10</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274320">
                <a:tc>
                  <a:txBody>
                    <a:bodyPr/>
                    <a:lstStyle/>
                    <a:p>
                      <a:pPr marL="0" marR="0" lvl="0" indent="0" algn="ctr" rtl="0">
                        <a:lnSpc>
                          <a:spcPct val="100000"/>
                        </a:lnSpc>
                        <a:spcBef>
                          <a:spcPts val="0"/>
                        </a:spcBef>
                        <a:spcAft>
                          <a:spcPts val="0"/>
                        </a:spcAft>
                        <a:buClr>
                          <a:srgbClr val="000000"/>
                        </a:buClr>
                        <a:buSzPts val="750"/>
                        <a:buFont typeface="Arial"/>
                        <a:buNone/>
                      </a:pPr>
                      <a:r>
                        <a:rPr lang="ja-JP" sz="750" b="0" i="0" u="none" strike="noStrike" cap="none">
                          <a:solidFill>
                            <a:srgbClr val="FFFFFF"/>
                          </a:solidFill>
                          <a:latin typeface="Meiryo"/>
                          <a:ea typeface="Meiryo"/>
                          <a:cs typeface="Meiryo"/>
                          <a:sym typeface="Meiryo"/>
                        </a:rPr>
                        <a:t>65%</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5.8%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6.2%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6.6%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7.0%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7.3%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1"/>
                  </a:ext>
                </a:extLst>
              </a:tr>
              <a:tr h="274320">
                <a:tc>
                  <a:txBody>
                    <a:bodyPr/>
                    <a:lstStyle/>
                    <a:p>
                      <a:pPr marL="0" marR="0" lvl="0" indent="0" algn="ctr" rtl="0">
                        <a:lnSpc>
                          <a:spcPct val="100000"/>
                        </a:lnSpc>
                        <a:spcBef>
                          <a:spcPts val="0"/>
                        </a:spcBef>
                        <a:spcAft>
                          <a:spcPts val="0"/>
                        </a:spcAft>
                        <a:buClr>
                          <a:srgbClr val="000000"/>
                        </a:buClr>
                        <a:buSzPts val="750"/>
                        <a:buFont typeface="Arial"/>
                        <a:buNone/>
                      </a:pPr>
                      <a:r>
                        <a:rPr lang="ja-JP" sz="750" b="0" i="0" u="none" strike="noStrike" cap="none">
                          <a:solidFill>
                            <a:srgbClr val="FFFFFF"/>
                          </a:solidFill>
                          <a:latin typeface="Meiryo"/>
                          <a:ea typeface="Meiryo"/>
                          <a:cs typeface="Meiryo"/>
                          <a:sym typeface="Meiryo"/>
                        </a:rPr>
                        <a:t>70%</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6.2%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6.6%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7.0%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7.3%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7.6%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2"/>
                  </a:ext>
                </a:extLst>
              </a:tr>
              <a:tr h="274320">
                <a:tc>
                  <a:txBody>
                    <a:bodyPr/>
                    <a:lstStyle/>
                    <a:p>
                      <a:pPr marL="0" marR="0" lvl="0" indent="0" algn="ctr" rtl="0">
                        <a:lnSpc>
                          <a:spcPct val="100000"/>
                        </a:lnSpc>
                        <a:spcBef>
                          <a:spcPts val="0"/>
                        </a:spcBef>
                        <a:spcAft>
                          <a:spcPts val="0"/>
                        </a:spcAft>
                        <a:buClr>
                          <a:srgbClr val="000000"/>
                        </a:buClr>
                        <a:buSzPts val="750"/>
                        <a:buFont typeface="Arial"/>
                        <a:buNone/>
                      </a:pPr>
                      <a:r>
                        <a:rPr lang="ja-JP" sz="750" b="0" i="0" u="none" strike="noStrike" cap="none">
                          <a:solidFill>
                            <a:srgbClr val="FFFFFF"/>
                          </a:solidFill>
                          <a:latin typeface="Meiryo"/>
                          <a:ea typeface="Meiryo"/>
                          <a:cs typeface="Meiryo"/>
                          <a:sym typeface="Meiryo"/>
                        </a:rPr>
                        <a:t>75%</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6.5%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6.9%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1" i="0" u="none" strike="noStrike" cap="none">
                          <a:solidFill>
                            <a:srgbClr val="FFFFFF"/>
                          </a:solidFill>
                          <a:latin typeface="Meiryo"/>
                          <a:ea typeface="Meiryo"/>
                          <a:cs typeface="Meiryo"/>
                          <a:sym typeface="Meiryo"/>
                        </a:rPr>
                        <a:t>7.3%</a:t>
                      </a:r>
                      <a:endParaRPr sz="1400" b="1" i="0" u="none" strike="noStrike" cap="none">
                        <a:solidFill>
                          <a:srgbClr val="FFFFFF"/>
                        </a:solidFill>
                        <a:latin typeface="Arial"/>
                        <a:ea typeface="Arial"/>
                        <a:cs typeface="Arial"/>
                        <a:sym typeface="Arial"/>
                      </a:endParaRPr>
                    </a:p>
                  </a:txBody>
                  <a:tcPr marL="45725" marR="45725" marT="0" marB="0" anchor="ctr">
                    <a:solidFill>
                      <a:srgbClr val="C68A65"/>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7.6%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7.9%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3"/>
                  </a:ext>
                </a:extLst>
              </a:tr>
              <a:tr h="274320">
                <a:tc>
                  <a:txBody>
                    <a:bodyPr/>
                    <a:lstStyle/>
                    <a:p>
                      <a:pPr marL="0" marR="0" lvl="0" indent="0" algn="ctr" rtl="0">
                        <a:lnSpc>
                          <a:spcPct val="100000"/>
                        </a:lnSpc>
                        <a:spcBef>
                          <a:spcPts val="0"/>
                        </a:spcBef>
                        <a:spcAft>
                          <a:spcPts val="0"/>
                        </a:spcAft>
                        <a:buClr>
                          <a:srgbClr val="000000"/>
                        </a:buClr>
                        <a:buSzPts val="750"/>
                        <a:buFont typeface="Arial"/>
                        <a:buNone/>
                      </a:pPr>
                      <a:r>
                        <a:rPr lang="ja-JP" sz="750" b="0" i="0" u="none" strike="noStrike" cap="none">
                          <a:solidFill>
                            <a:srgbClr val="FFFFFF"/>
                          </a:solidFill>
                          <a:latin typeface="Meiryo"/>
                          <a:ea typeface="Meiryo"/>
                          <a:cs typeface="Meiryo"/>
                          <a:sym typeface="Meiryo"/>
                        </a:rPr>
                        <a:t>80%</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6.8%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7.2%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7.5%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7.9%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8.1%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4"/>
                  </a:ext>
                </a:extLst>
              </a:tr>
              <a:tr h="274320">
                <a:tc>
                  <a:txBody>
                    <a:bodyPr/>
                    <a:lstStyle/>
                    <a:p>
                      <a:pPr marL="0" marR="0" lvl="0" indent="0" algn="ctr" rtl="0">
                        <a:lnSpc>
                          <a:spcPct val="100000"/>
                        </a:lnSpc>
                        <a:spcBef>
                          <a:spcPts val="0"/>
                        </a:spcBef>
                        <a:spcAft>
                          <a:spcPts val="0"/>
                        </a:spcAft>
                        <a:buClr>
                          <a:srgbClr val="000000"/>
                        </a:buClr>
                        <a:buSzPts val="750"/>
                        <a:buFont typeface="Arial"/>
                        <a:buNone/>
                      </a:pPr>
                      <a:r>
                        <a:rPr lang="ja-JP" sz="750" b="0" i="0" u="none" strike="noStrike" cap="none">
                          <a:solidFill>
                            <a:srgbClr val="FFFFFF"/>
                          </a:solidFill>
                          <a:latin typeface="Meiryo"/>
                          <a:ea typeface="Meiryo"/>
                          <a:cs typeface="Meiryo"/>
                          <a:sym typeface="Meiryo"/>
                        </a:rPr>
                        <a:t>85%</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7.1%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7.5%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7.8%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8.1%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8.4%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5"/>
                  </a:ext>
                </a:extLst>
              </a:tr>
            </a:tbl>
          </a:graphicData>
        </a:graphic>
      </p:graphicFrame>
      <p:sp>
        <p:nvSpPr>
          <p:cNvPr id="5043" name="Header 5043"/>
          <p:cNvSpPr/>
          <p:nvPr/>
        </p:nvSpPr>
        <p:spPr>
          <a:xfrm>
            <a:off x="438912" y="2971800"/>
            <a:ext cx="8266176"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読み取りポイント</a:t>
            </a:r>
            <a:endParaRPr sz="1400" b="0" i="0" u="none" strike="noStrike" cap="none">
              <a:solidFill>
                <a:srgbClr val="000000"/>
              </a:solidFill>
              <a:latin typeface="Arial"/>
              <a:ea typeface="Arial"/>
              <a:cs typeface="Arial"/>
              <a:sym typeface="Arial"/>
            </a:endParaRPr>
          </a:p>
        </p:txBody>
      </p:sp>
      <p:sp>
        <p:nvSpPr>
          <p:cNvPr id="5044" name="TextBox 5044"/>
          <p:cNvSpPr txBox="1"/>
          <p:nvPr/>
        </p:nvSpPr>
        <p:spPr>
          <a:xfrm>
            <a:off x="512064" y="3291840"/>
            <a:ext cx="8138160" cy="128016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800"/>
              <a:buFont typeface="Arial"/>
              <a:buNone/>
            </a:pPr>
            <a:r>
              <a:rPr lang="ja-JP" sz="800" b="1" i="0" u="none" strike="noStrike" cap="none">
                <a:solidFill>
                  <a:srgbClr val="C68A65"/>
                </a:solidFill>
                <a:latin typeface="Meiryo"/>
                <a:ea typeface="Meiryo"/>
                <a:cs typeface="Meiryo"/>
                <a:sym typeface="Meiryo"/>
              </a:rPr>
              <a:t>● 下振れ耐性</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最も保守的な前提（席効率65%・回転0.70）でも年商3.36億円・営業利益率5.8%で黒字を維持</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800"/>
              <a:buFont typeface="Arial"/>
              <a:buNone/>
            </a:pPr>
            <a:r>
              <a:rPr lang="ja-JP" sz="800" b="1" i="0" u="none" strike="noStrike" cap="none">
                <a:solidFill>
                  <a:srgbClr val="C68A65"/>
                </a:solidFill>
                <a:latin typeface="Meiryo"/>
                <a:ea typeface="Meiryo"/>
                <a:cs typeface="Meiryo"/>
                <a:sym typeface="Meiryo"/>
              </a:rPr>
              <a:t>● 上振れ余地</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席効率85%・回転1.10では年商5.24億円・営業利益率8.4%。テラスの通年稼働が進めばさらに上振れ</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800"/>
              <a:buFont typeface="Arial"/>
              <a:buNone/>
            </a:pPr>
            <a:r>
              <a:rPr lang="ja-JP" sz="800" b="1" i="0" u="none" strike="noStrike" cap="none">
                <a:solidFill>
                  <a:srgbClr val="C68A65"/>
                </a:solidFill>
                <a:latin typeface="Meiryo"/>
                <a:ea typeface="Meiryo"/>
                <a:cs typeface="Meiryo"/>
                <a:sym typeface="Meiryo"/>
              </a:rPr>
              <a:t>● 固定費の効き</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地代家賃と減価償却は売上に連動しないため、売上が伸びるほど利益率は加速的に改善</a:t>
            </a:r>
            <a:endParaRPr sz="1400" b="0" i="0" u="none" strike="noStrike" cap="none">
              <a:solidFill>
                <a:srgbClr val="000000"/>
              </a:solidFill>
              <a:latin typeface="Arial"/>
              <a:ea typeface="Arial"/>
              <a:cs typeface="Arial"/>
              <a:sym typeface="Arial"/>
            </a:endParaRPr>
          </a:p>
        </p:txBody>
      </p:sp>
      <p:sp>
        <p:nvSpPr>
          <p:cNvPr id="5045" name="TextBox 5045"/>
          <p:cNvSpPr txBox="1"/>
          <p:nvPr/>
        </p:nvSpPr>
        <p:spPr>
          <a:xfrm>
            <a:off x="438912" y="4663440"/>
            <a:ext cx="8229600" cy="14630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 計画前提は店内席効率75%・ディナー店内回転率0.90（銅色セル）。ランチ・カフェ・テラスの前提は固定。</a:t>
            </a:r>
            <a:endParaRPr sz="1400" b="0" i="0" u="none" strike="noStrike" cap="none">
              <a:solidFill>
                <a:srgbClr val="000000"/>
              </a:solidFill>
              <a:latin typeface="Arial"/>
              <a:ea typeface="Arial"/>
              <a:cs typeface="Arial"/>
              <a:sym typeface="Arial"/>
            </a:endParaRPr>
          </a:p>
        </p:txBody>
      </p:sp>
      <p:sp>
        <p:nvSpPr>
          <p:cNvPr id="5046" name="TextBox 5046"/>
          <p:cNvSpPr txBox="1"/>
          <p:nvPr/>
        </p:nvSpPr>
        <p:spPr>
          <a:xfrm>
            <a:off x="54864" y="4873752"/>
            <a:ext cx="822960" cy="128016"/>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CONFIDENTIAL</a:t>
            </a:r>
            <a:endParaRPr sz="1400" b="0" i="0" u="none" strike="noStrike" cap="none">
              <a:solidFill>
                <a:srgbClr val="000000"/>
              </a:solidFill>
              <a:latin typeface="Arial"/>
              <a:ea typeface="Arial"/>
              <a:cs typeface="Arial"/>
              <a:sym typeface="Arial"/>
            </a:endParaRPr>
          </a:p>
        </p:txBody>
      </p:sp>
      <p:sp>
        <p:nvSpPr>
          <p:cNvPr id="5047" name="Slide Number 5047"/>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a:t>
            </a:fld>
            <a:endParaRPr sz="700"/>
          </a:p>
        </p:txBody>
      </p:sp>
    </p:spTree>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3248</Words>
  <Application>Microsoft Office PowerPoint</Application>
  <PresentationFormat>画面に合わせる (16:9)</PresentationFormat>
  <Paragraphs>656</Paragraphs>
  <Slides>23</Slides>
  <Notes>23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23</vt:i4>
      </vt:variant>
    </vt:vector>
  </HeadingPairs>
  <TitlesOfParts>
    <vt:vector size="28" baseType="lpstr">
      <vt:lpstr>Arial</vt:lpstr>
      <vt:lpstr>Zen Kaku Gothic New</vt:lpstr>
      <vt:lpstr>Meiryo</vt:lpstr>
      <vt:lpstr>Times New Roman</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Nakano</dc:creator>
  <cp:lastModifiedBy>Kunihito Nakano</cp:lastModifiedBy>
  <cp:revision>1</cp:revision>
  <dcterms:modified xsi:type="dcterms:W3CDTF">2026-10-16T07:05:06Z</dcterms:modified>
</cp:coreProperties>
</file>