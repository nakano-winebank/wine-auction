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満年度でEBITDA 51.6百万円（12.2%）、営業利益 30.8百万円（7.3%）。3年目以降はEBITDA率15.0%・営業利益率10.1%。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FY2031で売上34.2億円、連結EBITDA 4.3億円（12.6%）、営業利益 2.6億円（7.7%）。5年累計の売上は90億円。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六本木は内装1億円を家主負担。自社負担の初期投資は1.97億円に圧縮され、1号店は開業4年目に黒字転換、回収約3.2年。9店舗展開の最大資金需要5.12億円に対し調達3.8億で、1.32億円の不足。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計画前提は中央のセル。下振れしても黒字を確保し、上振れ余地も大きいことを示す。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64190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02920" y="347472"/>
            <a:ext cx="11155680" cy="47548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A1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1A1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endParaRPr lang="en-US" sz="2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02920" y="850392"/>
            <a:ext cx="1115568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5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5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1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1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02920" y="347472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六本木ミッドタウン店 単体事業収支</a:t>
            </a:r>
            <a:endParaRPr lang="en-US" sz="2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02920" y="850392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2026年10月 事業収支統合モデル準拠 ｜ 183.59㎡(55.5坪)・114席・年間363日営業</a:t>
            </a:r>
            <a:endParaRPr lang="en-US" sz="11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98448"/>
          <a:ext cx="5074920" cy="914400"/>
        </p:xfrm>
        <a:graphic>
          <a:graphicData uri="http://schemas.openxmlformats.org/drawingml/2006/table">
            <a:tbl>
              <a:tblPr/>
              <a:tblGrid>
                <a:gridCol w="2788920"/>
                <a:gridCol w="1143000"/>
                <a:gridCol w="1143000"/>
              </a:tblGrid>
              <a:tr h="226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満年度ベース 損益計算（百万円）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金額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対売上比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226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売上高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423.4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226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売上原価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127.0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人件費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146.1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業務委託費・消耗品他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部門利益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140.1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</a:tr>
              <a:tr h="226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広告宣伝費・販売促進費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その他経費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水道光熱費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GOP（店舗営業総利益）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115.2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</a:tr>
              <a:tr h="226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ロイヤリティ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保険・租税公課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地代家賃（固定）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歩合家賃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修繕維持費（FFE）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226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減価償却費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77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営業利益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97880" y="1298448"/>
          <a:ext cx="576072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143000"/>
                <a:gridCol w="1143000"/>
                <a:gridCol w="114300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年次推移（百万円）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1年目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2年目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3年目以降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売上立上り率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売上高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381.0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414.9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423.4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営業利益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営業利益率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897880" y="3401568"/>
            <a:ext cx="5760720" cy="2651760"/>
          </a:xfrm>
          <a:prstGeom prst="roundRect">
            <a:avLst>
              <a:gd name="adj" fmla="val 2069"/>
            </a:avLst>
          </a:prstGeom>
          <a:solidFill>
            <a:srgbClr val="F4F1F2"/>
          </a:solidFill>
          <a:ln w="12700">
            <a:solidFill>
              <a:srgbClr val="F4F1F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144768" y="352958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主要前提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6144768" y="3840480"/>
            <a:ext cx="528523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席数114席（カウンター14・ダイニング23・個室25・テラス52）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席効率 店内75%・テラス50%／延べ席回転率 1.50回/日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客単価 ランチ4,000円・カフェ2,500円・ディナー15,000円（テラス10,000円）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日商 約117万円／月商 約3,530万円／年商 4.23億円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売上原価30.0%（料理・飲料とも30.0%）・人件費34.5%／人員26名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ロイヤリティ4.0%・歩合家賃7%（閾値超過分）・地代家賃 月222万円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2年目以降は人件費33.5%→32.5%等へ段階改善（本部集中・多能工化）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内装1億円は家主負担（B工事）。自社負担の初期投資は1.97億円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502920" y="6144768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稼働率・回転率は保守的に設定。新店初年度は売上90%で計画。金利・税金は含まない。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1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02920" y="347472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5か年事業計画 事業収支（連結）</a:t>
            </a:r>
            <a:endParaRPr lang="en-US" sz="2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02920" y="850392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2027年4月 六本木開業 → 2028年 札幌・大阪 → 2029年 首都圏・政令指定都市 → 2030年以降 リゾート含め年2店舗</a:t>
            </a:r>
            <a:endParaRPr lang="en-US" sz="11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98448"/>
          <a:ext cx="8275320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1207008"/>
                <a:gridCol w="1207008"/>
                <a:gridCol w="1207008"/>
                <a:gridCol w="1207008"/>
                <a:gridCol w="1207008"/>
              </a:tblGrid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連結損益計画（百万円）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FY2031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期末店舗数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売上高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381.0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891.2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1,729.4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2,576.1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3,422.8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売上原価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267.4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518.8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772.8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1,026.9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人件費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131.5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303.3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579.9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855.1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1,130.2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業務委託費・消耗品他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部門利益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126.1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592.6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893.1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1,193.7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販促費・水道光熱費等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145.3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191.8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GOP（店舗営業総利益）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248.2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493.9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747.9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1,001.9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ロイヤリティ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136.9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地代家賃・歩合家賃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135.7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268.0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保険・租税公課・修繕費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109.6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店舗EBITDA 計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113.9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233.7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360.6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487.5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本部費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連結EBITDA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193.7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312.6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432.5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　EBITDA率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減価償却費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118.5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159.2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営業利益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194.0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273.3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　営業利益率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052560" y="1298448"/>
            <a:ext cx="2633472" cy="2212848"/>
          </a:xfrm>
          <a:prstGeom prst="roundRect">
            <a:avLst>
              <a:gd name="adj" fmla="val 2479"/>
            </a:avLst>
          </a:prstGeom>
          <a:solidFill>
            <a:srgbClr val="F4F1F2"/>
          </a:solidFill>
          <a:ln w="12700">
            <a:solidFill>
              <a:srgbClr val="F4F1F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253728" y="14264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計画のポイント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9253728" y="1719072"/>
            <a:ext cx="2249424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初年度FY2027から営業利益率5%超</a:t>
            </a:r>
            <a:endParaRPr lang="en-US" sz="9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FY2029に連結EBITDA率10%超</a:t>
            </a:r>
            <a:endParaRPr lang="en-US" sz="9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FY2031はEBITDA率12.6%・営業利益率8.0%</a:t>
            </a:r>
            <a:endParaRPr lang="en-US" sz="9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成熟単店はEBITDA率15.0%・営業利益率12.4%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9052560" y="3639312"/>
            <a:ext cx="2633472" cy="2414016"/>
          </a:xfrm>
          <a:prstGeom prst="roundRect">
            <a:avLst>
              <a:gd name="adj" fmla="val 2273"/>
            </a:avLst>
          </a:prstGeom>
          <a:solidFill>
            <a:srgbClr val="F4F1F2"/>
          </a:solidFill>
          <a:ln w="12700">
            <a:solidFill>
              <a:srgbClr val="F4F1F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253728" y="37673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5年累計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9253728" y="4114800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売上高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9253728" y="429768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9,000.6 百万円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9253728" y="4773168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連結EBITDA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9253728" y="4956048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1,055.7 百万円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9253728" y="5431536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営業利益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9253728" y="5614416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652.4 百万円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502920" y="6144768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FY＝4月〜3月。新店初年度は売上90%・開業7.5か月で保守的に計上。ロイヤリティ4%・歩合家賃7%・地代家賃は契約条件どおり全店適用。金利・税金は含まない。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1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02920" y="347472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投資回収と資金計画</a:t>
            </a:r>
            <a:endParaRPr lang="en-US" sz="2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02920" y="850392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内装1億円の家主負担と、内装・保証金の分割払い（賃貸借契約記載）により、1号店の開業時現金支出は1.58億円</a:t>
            </a:r>
            <a:endParaRPr lang="en-US" sz="11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98448"/>
          <a:ext cx="5806440" cy="914400"/>
        </p:xfrm>
        <a:graphic>
          <a:graphicData uri="http://schemas.openxmlformats.org/drawingml/2006/table">
            <a:tbl>
              <a:tblPr/>
              <a:tblGrid>
                <a:gridCol w="2788920"/>
                <a:gridCol w="1005840"/>
                <a:gridCol w="1005840"/>
                <a:gridCol w="1005840"/>
              </a:tblGrid>
              <a:tr h="2633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初期投資（1店あたり・百万円）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1号店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2〜3号店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4号店〜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契約金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事業費（設計・内装施工・OSE/FF&amp;E）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194.3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194.3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194.3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　うち 内装 家主負担（B工事）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▲100.0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開業準備金（広告・採用等）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保証金（非償却・返還対象）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ワイン・美術品在庫（非償却）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初期投資 合計（自社負担）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197.3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257.3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252.3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分割対象額（内装＋保証金）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139.0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139.0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開業時 現金支出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158.3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118.3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113.3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059936"/>
          <a:ext cx="58064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708660"/>
                <a:gridCol w="708660"/>
                <a:gridCol w="708660"/>
                <a:gridCol w="708660"/>
                <a:gridCol w="708660"/>
                <a:gridCol w="708660"/>
              </a:tblGrid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1号店CF（百万円）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開業時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1年目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2年目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3年目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4年目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5年目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開業時 現金支出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▲158.3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分割弁済（保証金）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▲5.6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▲5.6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▲5.6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▲5.6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▲5.6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単店FCF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▲158.3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累計FCF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▲158.3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▲117.7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▲67.0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▲9.1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02920" y="5486400"/>
            <a:ext cx="5806440" cy="457200"/>
          </a:xfrm>
          <a:prstGeom prst="roundRect">
            <a:avLst>
              <a:gd name="adj" fmla="val 12000"/>
            </a:avLst>
          </a:prstGeom>
          <a:solidFill>
            <a:srgbClr val="F4F1F2"/>
          </a:solidFill>
          <a:ln w="12700">
            <a:solidFill>
              <a:srgbClr val="F4F1F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13232" y="5559552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5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開業4年目に累計FCFが黒字転換</a:t>
            </a:r>
            <a:pPr indent="0" marL="0">
              <a:buNone/>
            </a:pPr>
            <a:r>
              <a:rPr lang="en-US" sz="1000" dirty="0">
                <a:solidFill>
                  <a:srgbClr val="1A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／　投資回収 約3.2年　／　定常期FCF 57.9百万円</a:t>
            </a:r>
            <a:endParaRPr lang="en-US" sz="1000" dirty="0"/>
          </a:p>
        </p:txBody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9400" y="1298448"/>
          <a:ext cx="5056632" cy="914400"/>
        </p:xfrm>
        <a:graphic>
          <a:graphicData uri="http://schemas.openxmlformats.org/drawingml/2006/table">
            <a:tbl>
              <a:tblPr/>
              <a:tblGrid>
                <a:gridCol w="1399032"/>
                <a:gridCol w="731520"/>
                <a:gridCol w="731520"/>
                <a:gridCol w="731520"/>
                <a:gridCol w="731520"/>
                <a:gridCol w="73152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連結CF（百万円）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FY2030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FY2031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投資キャッシュアウト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▲163.8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▲261.5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▲282.7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▲313.8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▲345.0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連結EBITDA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193.7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312.6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432.5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法人税等（推計）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▲6.1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▲14.7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▲34.7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▲58.2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▲82.0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簡易フリーCF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▲138.8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▲190.3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▲123.7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▲59.5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累計フリーCF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▲138.8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▲329.1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▲452.9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▲512.4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▲506.9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6629400" y="3090672"/>
            <a:ext cx="5056632" cy="2962656"/>
          </a:xfrm>
          <a:prstGeom prst="roundRect">
            <a:avLst>
              <a:gd name="adj" fmla="val 1852"/>
            </a:avLst>
          </a:prstGeom>
          <a:solidFill>
            <a:srgbClr val="F4F1F2"/>
          </a:solidFill>
          <a:ln w="12700">
            <a:solidFill>
              <a:srgbClr val="F4F1F2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6858000" y="3255264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必要資金と調達</a:t>
            </a:r>
            <a:endParaRPr lang="en-US" sz="1200" dirty="0"/>
          </a:p>
        </p:txBody>
      </p:sp>
      <p:sp>
        <p:nvSpPr>
          <p:cNvPr id="11" name="Text 6"/>
          <p:cNvSpPr txBox="1"/>
          <p:nvPr/>
        </p:nvSpPr>
        <p:spPr>
          <a:xfrm>
            <a:off x="6858000" y="35112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最大資金需要（税引後・5年）</a:t>
            </a:r>
            <a:endParaRPr lang="en-US" sz="1000" dirty="0"/>
          </a:p>
        </p:txBody>
      </p:sp>
      <p:sp>
        <p:nvSpPr>
          <p:cNvPr id="12" name="Text 7"/>
          <p:cNvSpPr txBox="1"/>
          <p:nvPr/>
        </p:nvSpPr>
        <p:spPr>
          <a:xfrm>
            <a:off x="10058400" y="351129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A1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512.4</a:t>
            </a:r>
            <a:endParaRPr lang="en-US" sz="1150" dirty="0"/>
          </a:p>
        </p:txBody>
      </p:sp>
      <p:sp>
        <p:nvSpPr>
          <p:cNvPr id="13" name="Text 8"/>
          <p:cNvSpPr txBox="1"/>
          <p:nvPr/>
        </p:nvSpPr>
        <p:spPr>
          <a:xfrm>
            <a:off x="6858000" y="38176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既存調達額（従前）</a:t>
            </a:r>
            <a:endParaRPr lang="en-US" sz="1000" dirty="0"/>
          </a:p>
        </p:txBody>
      </p:sp>
      <p:sp>
        <p:nvSpPr>
          <p:cNvPr id="14" name="Text 9"/>
          <p:cNvSpPr txBox="1"/>
          <p:nvPr/>
        </p:nvSpPr>
        <p:spPr>
          <a:xfrm>
            <a:off x="10058400" y="38176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A1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200.0</a:t>
            </a:r>
            <a:endParaRPr lang="en-US" sz="1150" dirty="0"/>
          </a:p>
        </p:txBody>
      </p:sp>
      <p:sp>
        <p:nvSpPr>
          <p:cNvPr id="15" name="Text 10"/>
          <p:cNvSpPr txBox="1"/>
          <p:nvPr/>
        </p:nvSpPr>
        <p:spPr>
          <a:xfrm>
            <a:off x="7004304" y="4123944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E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今回ラウンド アピシウス投資家（調達済）</a:t>
            </a:r>
            <a:endParaRPr lang="en-US" sz="880" dirty="0"/>
          </a:p>
        </p:txBody>
      </p:sp>
      <p:sp>
        <p:nvSpPr>
          <p:cNvPr id="16" name="Text 11"/>
          <p:cNvSpPr txBox="1"/>
          <p:nvPr/>
        </p:nvSpPr>
        <p:spPr>
          <a:xfrm>
            <a:off x="10058400" y="412394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5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70.0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7004304" y="4430268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E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今回ラウンド エニーカラー創業者（調達済）</a:t>
            </a:r>
            <a:endParaRPr lang="en-US" sz="880" dirty="0"/>
          </a:p>
        </p:txBody>
      </p:sp>
      <p:sp>
        <p:nvSpPr>
          <p:cNvPr id="18" name="Text 13"/>
          <p:cNvSpPr txBox="1"/>
          <p:nvPr/>
        </p:nvSpPr>
        <p:spPr>
          <a:xfrm>
            <a:off x="10058400" y="44302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5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20.0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7004304" y="4736592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E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今回ラウンド 募集中</a:t>
            </a:r>
            <a:endParaRPr lang="en-US" sz="880" dirty="0"/>
          </a:p>
        </p:txBody>
      </p:sp>
      <p:sp>
        <p:nvSpPr>
          <p:cNvPr id="20" name="Text 15"/>
          <p:cNvSpPr txBox="1"/>
          <p:nvPr/>
        </p:nvSpPr>
        <p:spPr>
          <a:xfrm>
            <a:off x="10058400" y="473659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1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90.0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6858000" y="50429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調達額 計</a:t>
            </a:r>
            <a:endParaRPr lang="en-US" sz="1000" dirty="0"/>
          </a:p>
        </p:txBody>
      </p:sp>
      <p:sp>
        <p:nvSpPr>
          <p:cNvPr id="22" name="Text 17"/>
          <p:cNvSpPr txBox="1"/>
          <p:nvPr/>
        </p:nvSpPr>
        <p:spPr>
          <a:xfrm>
            <a:off x="10058400" y="504291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A1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380.0</a:t>
            </a:r>
            <a:endParaRPr lang="en-US" sz="1150" dirty="0"/>
          </a:p>
        </p:txBody>
      </p:sp>
      <p:sp>
        <p:nvSpPr>
          <p:cNvPr id="23" name="Text 18"/>
          <p:cNvSpPr txBox="1"/>
          <p:nvPr/>
        </p:nvSpPr>
        <p:spPr>
          <a:xfrm>
            <a:off x="6858000" y="5349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過不足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10058400" y="53492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449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▲132.4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6858000" y="5687568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今回ラウンドは総額1.8億円。うち9,000万円はクローズ済。デット元本返済・分割払い金利は未考慮。</a:t>
            </a:r>
            <a:endParaRPr lang="en-US" sz="850" dirty="0"/>
          </a:p>
        </p:txBody>
      </p:sp>
      <p:sp>
        <p:nvSpPr>
          <p:cNvPr id="26" name="Text 21"/>
          <p:cNvSpPr txBox="1"/>
          <p:nvPr/>
        </p:nvSpPr>
        <p:spPr>
          <a:xfrm>
            <a:off x="502920" y="6144768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内装（2号店以降100百万円・120回）と保証金（39百万円・84回）はいずれも賃貸借契約どおり分割払いでCFに反映。保証金は退去時返還対象。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1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02920" y="347472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前提の振れ幅に対する感応度</a:t>
            </a:r>
            <a:endParaRPr lang="en-US" sz="2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02920" y="850392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1号店・満年度ベース ｜ 店内席効率 × ディナー店内回転率（網掛け＝計画前提）</a:t>
            </a:r>
            <a:endParaRPr lang="en-US" sz="11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5394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04672"/>
                <a:gridCol w="804672"/>
                <a:gridCol w="804672"/>
                <a:gridCol w="804672"/>
                <a:gridCol w="804672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年間売上高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335.9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357.9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379.8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401.8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423.7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354.3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378.0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401.6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425.2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448.8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372.7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398.0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423.4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84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448.7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474.0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391.1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418.1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445.1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472.1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499.1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409.5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438.2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466.9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495.6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524.3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91072" y="1463040"/>
          <a:ext cx="5394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04672"/>
                <a:gridCol w="804672"/>
                <a:gridCol w="804672"/>
                <a:gridCol w="804672"/>
                <a:gridCol w="804672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営業利益率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84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4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02920" y="1188720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席効率 ＼ ディナー回転率（単位：百万円）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6291072" y="1188720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席効率 ＼ ディナー回転率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02920" y="3803904"/>
            <a:ext cx="11183112" cy="2103120"/>
          </a:xfrm>
          <a:prstGeom prst="roundRect">
            <a:avLst>
              <a:gd name="adj" fmla="val 2609"/>
            </a:avLst>
          </a:prstGeom>
          <a:solidFill>
            <a:srgbClr val="F4F1F2"/>
          </a:solidFill>
          <a:ln w="12700">
            <a:solidFill>
              <a:srgbClr val="F4F1F2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77240" y="3968496"/>
            <a:ext cx="310896" cy="310896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77240" y="3968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1197864" y="39867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下振れ耐性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77240" y="4389120"/>
            <a:ext cx="34015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最も保守的な前提（席効率65%・回転0.70）でも年商3.36億円・営業利益率8.8%を確保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489704" y="3968496"/>
            <a:ext cx="310896" cy="310896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489704" y="3968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4910328" y="39867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上振れ余地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4489704" y="4389120"/>
            <a:ext cx="34015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席効率85%・回転1.10では年商5.24億円・営業利益率10.3%。テラスの通年稼働が進めばさらに上振れ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8202168" y="3968496"/>
            <a:ext cx="310896" cy="310896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8202168" y="3968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8622792" y="39867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固定費の効き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8202168" y="4389120"/>
            <a:ext cx="34015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内装の家主負担で減価償却が年20.8→10.8百万円に半減。固定費が軽く、下振れ耐性が高い</a:t>
            </a:r>
            <a:endParaRPr lang="en-US" sz="1050" dirty="0"/>
          </a:p>
        </p:txBody>
      </p:sp>
      <p:sp>
        <p:nvSpPr>
          <p:cNvPr id="21" name="Text 17"/>
          <p:cNvSpPr txBox="1"/>
          <p:nvPr/>
        </p:nvSpPr>
        <p:spPr>
          <a:xfrm>
            <a:off x="502920" y="6144768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計画前提は店内席効率75%・ディナー店内回転率0.90（網掛けセル）。ランチ・カフェ・テラスの前提は固定。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16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rasserie Thierry Marx">
  <a:themeElements>
    <a:clrScheme name="Brasserie Thierry Marx">
      <a:dk1>
        <a:srgbClr val="1A1416"/>
      </a:dk1>
      <a:lt1>
        <a:srgbClr val="FFFFFF"/>
      </a:lt1>
      <a:dk2>
        <a:srgbClr val="4A3A40"/>
      </a:dk2>
      <a:lt2>
        <a:srgbClr val="F4F1F2"/>
      </a:lt2>
      <a:accent1>
        <a:srgbClr val="6D2E46"/>
      </a:accent1>
      <a:accent2>
        <a:srgbClr val="A78450"/>
      </a:accent2>
      <a:accent3>
        <a:srgbClr val="8C6B7A"/>
      </a:accent3>
      <a:accent4>
        <a:srgbClr val="2E5E4E"/>
      </a:accent4>
      <a:accent5>
        <a:srgbClr val="B4495F"/>
      </a:accent5>
      <a:accent6>
        <a:srgbClr val="6E6166"/>
      </a:accent6>
      <a:hlink>
        <a:srgbClr val="6D2E46"/>
      </a:hlink>
      <a:folHlink>
        <a:srgbClr val="8C6B7A"/>
      </a:folHlink>
    </a:clrScheme>
    <a:fontScheme name="Brasserie Thierry Marx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BRASSERIE Thierry Marx 事業収支</dc:title>
  <dc:subject>PptxGenJS Presentation</dc:subject>
  <dc:creator>株式会社WineBank</dc:creator>
  <cp:lastModifiedBy>株式会社WineBank</cp:lastModifiedBy>
  <cp:revision>1</cp:revision>
  <dcterms:created xsi:type="dcterms:W3CDTF">2026-10-16T04:22:03Z</dcterms:created>
  <dcterms:modified xsi:type="dcterms:W3CDTF">2026-10-16T04:22:03Z</dcterms:modified>
</cp:coreProperties>
</file>