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満年度でEBITDA 51.6百万円（12.2%）、営業利益 30.8百万円（7.3%）。3年目以降はEBITDA率15.0%・営業利益率10.1%。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FY2031で売上34.2億円、連結EBITDA 4.3億円（12.6%）、営業利益 2.6億円（7.7%）。5年累計の売上は90億円。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内装1億円は家主立替で開業時の現金支出を圧縮するが、資産計上・減価償却は自社で継続。1号店の開業は調達3.8億で十分に賄える（開業時+2.22億、FY2027末+2.34億の余剰）。不足が出るのは9店舗展開ベースで1.62億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計画前提は中央のセル。下振れしても黒字を確保し、上振れ余地も大きいことを示す。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6419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347472"/>
            <a:ext cx="11155680" cy="47548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2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02920" y="850392"/>
            <a:ext cx="1115568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5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5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1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1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34747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六本木ミッドタウン店 単体事業収支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02920" y="85039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2026年10月 事業収支統合モデル準拠 ｜ 183.59㎡(55.5坪)・114席・年間363日営業</a:t>
            </a:r>
            <a:endParaRPr lang="en-US" sz="11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507492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1143000"/>
                <a:gridCol w="1143000"/>
              </a:tblGrid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満年度ベース 損益計算（百万円）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金額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対売上比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売上高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423.4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売上原価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人件費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146.1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業務委託費・消耗品他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部門利益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広告宣伝費・販売促進費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その他経費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水道光熱費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GOP（店舗営業総利益）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ロイヤリティ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保険・租税公課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地代家賃（固定）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歩合家賃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修繕維持費（FFE）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減価償却費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営業利益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1298448"/>
          <a:ext cx="576072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143000"/>
                <a:gridCol w="1143000"/>
                <a:gridCol w="11430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年次推移（百万円）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1年目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2年目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3年目以降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売上立上り率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売上高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414.9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423.4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営業利益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営業利益率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897880" y="3401568"/>
            <a:ext cx="5760720" cy="2651760"/>
          </a:xfrm>
          <a:prstGeom prst="roundRect">
            <a:avLst>
              <a:gd name="adj" fmla="val 2069"/>
            </a:avLst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144768" y="352958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主要前提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144768" y="3840480"/>
            <a:ext cx="528523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席数114席（カウンター14・ダイニング23・個室25・テラス52）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席効率 店内75%・テラス50%／延べ席回転率 1.50回/日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客単価 ランチ4,000円・カフェ2,500円・ディナー15,000円（テラス10,000円）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日商 約117万円／月商 約3,530万円／年商 4.23億円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売上原価30.0%（料理・飲料とも30.0%）・人件費34.5%／人員26名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ロイヤリティ4.0%・歩合家賃7%（閾値超過分）・地代家賃 月222万円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2年目以降は人件費33.5%→32.5%等へ段階改善（本部集中・多能工化）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内装1億円は家主が立替え、10年分割で返済（資産計上・減価償却は自社）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614476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稼働率・回転率は保守的に設定。新店初年度は売上90%で計画。金利・税金は含まない。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1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34747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5か年事業計画 事業収支（連結）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02920" y="85039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2027年4月 六本木開業 → 2028年 札幌・大阪 → 2029年 首都圏・政令指定都市 → 2030年以降 リゾート含め年2店舗</a:t>
            </a:r>
            <a:endParaRPr lang="en-US" sz="11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827532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1207008"/>
                <a:gridCol w="1207008"/>
                <a:gridCol w="1207008"/>
                <a:gridCol w="1207008"/>
                <a:gridCol w="1207008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連結損益計画（百万円）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FY2031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期末店舗数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売上高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381.0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891.2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1,729.4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2,576.1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3,422.8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売上原価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518.8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772.8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1,026.9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人件費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303.3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579.9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855.1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1,130.2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業務委託費・消耗品他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部門利益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592.6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893.1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1,193.7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販促費・水道光熱費等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GOP（店舗営業総利益）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248.2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493.9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747.9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1,001.9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ロイヤリティ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地代家賃・歩合家賃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268.0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保険・租税公課・修繕費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店舗EBITDA 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233.7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487.5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本部費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連結EBITDA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432.5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　EBITDA率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減価償却費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169.2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営業利益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263.3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　営業利益率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052560" y="1298448"/>
            <a:ext cx="2633472" cy="2212848"/>
          </a:xfrm>
          <a:prstGeom prst="roundRect">
            <a:avLst>
              <a:gd name="adj" fmla="val 2479"/>
            </a:avLst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253728" y="14264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計画のポイント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9253728" y="1719072"/>
            <a:ext cx="224942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FY2029に連結EBITDA率10%超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FY2029に営業利益率5%超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FY2031はEBITDA率12.6%・営業利益率7.7%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成熟単店はEBITDA率15.0%・営業利益率10.1%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9052560" y="3639312"/>
            <a:ext cx="2633472" cy="2414016"/>
          </a:xfrm>
          <a:prstGeom prst="roundRect">
            <a:avLst>
              <a:gd name="adj" fmla="val 2273"/>
            </a:avLst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253728" y="37673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5年累計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9253728" y="411480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売上高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9253728" y="42976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9,000.6 百万円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9253728" y="477316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連結EBITDA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253728" y="495604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1,055.7 百万円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9253728" y="5431536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営業利益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9253728" y="5614416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602.4 百万円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502920" y="614476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FY＝4月〜3月。新店初年度は売上90%・開業7.5か月で保守的に計上。ロイヤリティ4%・歩合家賃7%・地代家賃は契約条件どおり全店適用。金利・税金は含まない。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1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34747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投資回収と資金計画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02920" y="85039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内装1億円は家主立替（10年分割）、保証金3,900万円は7年分割。開業時に必要な現金は1.58億円</a:t>
            </a:r>
            <a:endParaRPr lang="en-US" sz="11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580644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1005840"/>
                <a:gridCol w="1005840"/>
                <a:gridCol w="1005840"/>
              </a:tblGrid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初期投資（1店あたり・百万円）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1号店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2〜3号店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4号店〜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契約金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事業費（設計・内装施工・OSE/FF&amp;E）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　うち 内装 家主立替（10年分割返済）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▲100.0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▲100.0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▲100.0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開業準備金（広告・採用等）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保証金（非償却・返還対象）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ワイン・美術品在庫（非償却）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初期投資 合計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297.3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257.3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分割対象額（内装100＋保証金39）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開業時 現金支出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158.3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059936"/>
          <a:ext cx="58064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708660"/>
                <a:gridCol w="708660"/>
                <a:gridCol w="708660"/>
                <a:gridCol w="708660"/>
                <a:gridCol w="708660"/>
                <a:gridCol w="708660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1号店CF（百万円）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開業時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1年目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2年目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3年目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4年目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5年目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開業時 現金支出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▲158.3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分割弁済（内装＋保証金）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▲15.6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▲15.6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▲15.6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▲15.6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▲15.6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単店FCF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▲158.3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累計FCF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▲158.3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▲127.7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▲87.0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▲39.1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02920" y="5486400"/>
            <a:ext cx="5806440" cy="457200"/>
          </a:xfrm>
          <a:prstGeom prst="roundRect">
            <a:avLst>
              <a:gd name="adj" fmla="val 12000"/>
            </a:avLst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13232" y="5559552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開業4年目に累計FCFが黒字転換</a:t>
            </a:r>
            <a:pPr indent="0" marL="0">
              <a:buNone/>
            </a:pPr>
            <a:r>
              <a:rPr lang="en-US" sz="100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／　投資回収 約3.8年　／　定常期FCF 47.9百万円</a:t>
            </a:r>
            <a:endParaRPr lang="en-US" sz="10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298448"/>
          <a:ext cx="5056632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731520"/>
                <a:gridCol w="731520"/>
                <a:gridCol w="731520"/>
                <a:gridCol w="731520"/>
                <a:gridCol w="7315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連結CF（百万円）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FY2031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投資キャッシュアウト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▲173.8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▲271.5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▲292.7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▲323.8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▲355.0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連結EBITDA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432.5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法人税等（推計）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▲3.1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▲11.7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▲31.7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▲55.2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▲79.0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簡易フリーCF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▲145.8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▲197.3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▲130.7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▲66.5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累計フリーCF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▲145.8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▲343.1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▲473.9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▲540.4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▲541.9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6629400" y="3090672"/>
            <a:ext cx="5056632" cy="2962656"/>
          </a:xfrm>
          <a:prstGeom prst="roundRect">
            <a:avLst>
              <a:gd name="adj" fmla="val 1852"/>
            </a:avLst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6858000" y="325526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必要資金と調達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6858000" y="3456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1号店 開業時に必要な現金</a:t>
            </a:r>
            <a:endParaRPr lang="en-US" sz="1000" dirty="0"/>
          </a:p>
        </p:txBody>
      </p:sp>
      <p:sp>
        <p:nvSpPr>
          <p:cNvPr id="12" name="Text 7"/>
          <p:cNvSpPr txBox="1"/>
          <p:nvPr/>
        </p:nvSpPr>
        <p:spPr>
          <a:xfrm>
            <a:off x="10058400" y="34564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158.3</a:t>
            </a:r>
            <a:endParaRPr lang="en-US" sz="1150" dirty="0"/>
          </a:p>
        </p:txBody>
      </p:sp>
      <p:sp>
        <p:nvSpPr>
          <p:cNvPr id="13" name="Text 8"/>
          <p:cNvSpPr txBox="1"/>
          <p:nvPr/>
        </p:nvSpPr>
        <p:spPr>
          <a:xfrm>
            <a:off x="6858000" y="3730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FY2027末までに必要な資金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10058400" y="37307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145.8</a:t>
            </a:r>
            <a:endParaRPr lang="en-US" sz="1150" dirty="0"/>
          </a:p>
        </p:txBody>
      </p:sp>
      <p:sp>
        <p:nvSpPr>
          <p:cNvPr id="15" name="Text 10"/>
          <p:cNvSpPr txBox="1"/>
          <p:nvPr/>
        </p:nvSpPr>
        <p:spPr>
          <a:xfrm>
            <a:off x="6858000" y="4005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5年・9店舗の最大資金需要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10058400" y="40050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541.9</a:t>
            </a:r>
            <a:endParaRPr lang="en-US" sz="1150" dirty="0"/>
          </a:p>
        </p:txBody>
      </p:sp>
      <p:sp>
        <p:nvSpPr>
          <p:cNvPr id="17" name="Text 12"/>
          <p:cNvSpPr txBox="1"/>
          <p:nvPr/>
        </p:nvSpPr>
        <p:spPr>
          <a:xfrm>
            <a:off x="7004304" y="427939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調達 既存（従前）</a:t>
            </a:r>
            <a:endParaRPr lang="en-US" sz="880" dirty="0"/>
          </a:p>
        </p:txBody>
      </p:sp>
      <p:sp>
        <p:nvSpPr>
          <p:cNvPr id="18" name="Text 13"/>
          <p:cNvSpPr txBox="1"/>
          <p:nvPr/>
        </p:nvSpPr>
        <p:spPr>
          <a:xfrm>
            <a:off x="10058400" y="42793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200.0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7004304" y="455371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調達 今回ラウンド（うち90.0調達済）</a:t>
            </a:r>
            <a:endParaRPr lang="en-US" sz="880" dirty="0"/>
          </a:p>
        </p:txBody>
      </p:sp>
      <p:sp>
        <p:nvSpPr>
          <p:cNvPr id="20" name="Text 15"/>
          <p:cNvSpPr txBox="1"/>
          <p:nvPr/>
        </p:nvSpPr>
        <p:spPr>
          <a:xfrm>
            <a:off x="10058400" y="45537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5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180.0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6858000" y="4828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調達額 計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10058400" y="48280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380.0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6858000" y="51023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過不足　①開業時 ＋221.8／②FY2027末 ＋234.2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6858000" y="5376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過不足　③5年・9店舗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10058400" y="53766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44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▲161.9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6858000" y="571500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今回ラウンド1.8億円のうち9,000万円（アピシウス投資家7,000万・エニーカラー創業者2,000万）はクローズ済。</a:t>
            </a:r>
            <a:endParaRPr lang="en-US" sz="850" dirty="0"/>
          </a:p>
        </p:txBody>
      </p:sp>
      <p:sp>
        <p:nvSpPr>
          <p:cNvPr id="27" name="Text 22"/>
          <p:cNvSpPr txBox="1"/>
          <p:nvPr/>
        </p:nvSpPr>
        <p:spPr>
          <a:xfrm>
            <a:off x="502920" y="614476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内装100百万円は家主が立替え月833千円×120回で返済、保証金39百万円は月464千円×84回。いずれも賃貸借契約どおりCFに反映。減価償却は自社で継続。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1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34747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前提の振れ幅に対する感応度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02920" y="85039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1号店・満年度ベース ｜ 店内席効率 × ディナー店内回転率（網掛け＝計画前提）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5394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04672"/>
                <a:gridCol w="804672"/>
                <a:gridCol w="804672"/>
                <a:gridCol w="804672"/>
                <a:gridCol w="80467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年間売上高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335.9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357.9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379.8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423.7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354.3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378.0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425.2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448.8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372.7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398.0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423.4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84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448.7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474.0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391.1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418.1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445.1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472.1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499.1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438.2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466.9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495.6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524.3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1072" y="1463040"/>
          <a:ext cx="5394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04672"/>
                <a:gridCol w="804672"/>
                <a:gridCol w="804672"/>
                <a:gridCol w="804672"/>
                <a:gridCol w="80467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営業利益率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84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02920" y="118872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席効率 ＼ ディナー回転率（単位：百万円）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6291072" y="118872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席効率 ＼ ディナー回転率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02920" y="3803904"/>
            <a:ext cx="11183112" cy="2103120"/>
          </a:xfrm>
          <a:prstGeom prst="roundRect">
            <a:avLst>
              <a:gd name="adj" fmla="val 2609"/>
            </a:avLst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77240" y="3968496"/>
            <a:ext cx="310896" cy="310896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1197864" y="39867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下振れ耐性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4389120"/>
            <a:ext cx="34015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最も保守的な前提（席効率65%・回転0.70）でも年商3.36億円・営業利益率5.8%を確保し、黒字を維持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489704" y="3968496"/>
            <a:ext cx="310896" cy="310896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489704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4910328" y="39867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上振れ余地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4489704" y="4389120"/>
            <a:ext cx="34015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席効率85%・回転1.10では年商5.24億円・営業利益率8.4%。テラスの通年稼働が進めばさらに上振れ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202168" y="3968496"/>
            <a:ext cx="310896" cy="310896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202168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8622792" y="39867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固定費の効き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8202168" y="4389120"/>
            <a:ext cx="34015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地代家賃と減価償却は売上に連動しないため、売上が伸びるほど利益率は加速的に改善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502920" y="614476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計画前提は店内席効率75%・ディナー店内回転率0.90（網掛けセル）。ランチ・カフェ・テラスの前提は固定。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1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asserie Thierry Marx">
  <a:themeElements>
    <a:clrScheme name="Brasserie Thierry Marx">
      <a:dk1>
        <a:srgbClr val="1A1416"/>
      </a:dk1>
      <a:lt1>
        <a:srgbClr val="FFFFFF"/>
      </a:lt1>
      <a:dk2>
        <a:srgbClr val="4A3A40"/>
      </a:dk2>
      <a:lt2>
        <a:srgbClr val="F4F1F2"/>
      </a:lt2>
      <a:accent1>
        <a:srgbClr val="6D2E46"/>
      </a:accent1>
      <a:accent2>
        <a:srgbClr val="A78450"/>
      </a:accent2>
      <a:accent3>
        <a:srgbClr val="8C6B7A"/>
      </a:accent3>
      <a:accent4>
        <a:srgbClr val="2E5E4E"/>
      </a:accent4>
      <a:accent5>
        <a:srgbClr val="B4495F"/>
      </a:accent5>
      <a:accent6>
        <a:srgbClr val="6E6166"/>
      </a:accent6>
      <a:hlink>
        <a:srgbClr val="6D2E46"/>
      </a:hlink>
      <a:folHlink>
        <a:srgbClr val="8C6B7A"/>
      </a:folHlink>
    </a:clrScheme>
    <a:fontScheme name="Brasserie Thierry Marx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BRASSERIE Thierry Marx 事業収支</dc:title>
  <dc:subject>PptxGenJS Presentation</dc:subject>
  <dc:creator>株式会社WineBank</dc:creator>
  <cp:lastModifiedBy>株式会社WineBank</cp:lastModifiedBy>
  <cp:revision>1</cp:revision>
  <dcterms:created xsi:type="dcterms:W3CDTF">2026-10-16T04:33:45Z</dcterms:created>
  <dcterms:modified xsi:type="dcterms:W3CDTF">2026-10-16T04:33:45Z</dcterms:modified>
</cp:coreProperties>
</file>