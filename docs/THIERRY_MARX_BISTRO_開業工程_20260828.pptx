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設計会社（ノーツデザインオフィス）の新装工事工程表を、契約書ベースの開業工程にマージした版。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2740"/>
        </a:solidFill>
      </p:bgPr>
    </p:bg>
    <p:spTree>
      <p:nvGrpSpPr>
        <p:cNvPr id="1" name=""/>
        <p:cNvGrpSpPr/>
        <p:nvPr/>
      </p:nvGrpSpPr>
      <p:grpSpPr>
        <a:xfrm>
          <a:off x="0" y="0"/>
          <a:ext cx="0" cy="0"/>
          <a:chOff x="0" y="0"/>
          <a:chExt cx="0" cy="0"/>
        </a:xfrm>
      </p:grpSpPr>
      <p:sp>
        <p:nvSpPr>
          <p:cNvPr id="2" name="Text 0"/>
          <p:cNvSpPr/>
          <p:nvPr/>
        </p:nvSpPr>
        <p:spPr>
          <a:xfrm>
            <a:off x="822960" y="685800"/>
            <a:ext cx="5486400" cy="274320"/>
          </a:xfrm>
          <a:prstGeom prst="rect">
            <a:avLst/>
          </a:prstGeom>
          <a:noFill/>
          <a:ln/>
        </p:spPr>
        <p:txBody>
          <a:bodyPr wrap="square" lIns="0" tIns="0" rIns="0" bIns="0" rtlCol="0" anchor="ctr"/>
          <a:lstStyle/>
          <a:p>
            <a:pPr indent="0" marL="0">
              <a:buNone/>
            </a:pPr>
            <a:r>
              <a:rPr lang="en-US" sz="1100" spc="500" kern="0" dirty="0">
                <a:solidFill>
                  <a:srgbClr val="FFFFFF"/>
                </a:solidFill>
                <a:latin typeface="Yu Gothic" pitchFamily="34" charset="0"/>
                <a:ea typeface="Yu Gothic" pitchFamily="34" charset="-122"/>
                <a:cs typeface="Yu Gothic" pitchFamily="34" charset="-120"/>
              </a:rPr>
              <a:t>WINE BANK</a:t>
            </a:r>
            <a:endParaRPr lang="en-US" sz="1100" dirty="0"/>
          </a:p>
        </p:txBody>
      </p:sp>
      <p:sp>
        <p:nvSpPr>
          <p:cNvPr id="3" name="Text 1"/>
          <p:cNvSpPr/>
          <p:nvPr/>
        </p:nvSpPr>
        <p:spPr>
          <a:xfrm>
            <a:off x="822960" y="2194560"/>
            <a:ext cx="10515600" cy="685800"/>
          </a:xfrm>
          <a:prstGeom prst="rect">
            <a:avLst/>
          </a:prstGeom>
          <a:noFill/>
          <a:ln/>
        </p:spPr>
        <p:txBody>
          <a:bodyPr wrap="square" lIns="0" tIns="0" rIns="0" bIns="0" rtlCol="0" anchor="ctr"/>
          <a:lstStyle/>
          <a:p>
            <a:pPr indent="0" marL="0">
              <a:buNone/>
            </a:pPr>
            <a:r>
              <a:rPr lang="en-US" sz="3800" dirty="0">
                <a:solidFill>
                  <a:srgbClr val="FFFFFF"/>
                </a:solidFill>
                <a:latin typeface="Yu Mincho" pitchFamily="34" charset="0"/>
                <a:ea typeface="Yu Mincho" pitchFamily="34" charset="-122"/>
                <a:cs typeface="Yu Mincho" pitchFamily="34" charset="-120"/>
              </a:rPr>
              <a:t>（仮称）THIERRY MARX BISTRO</a:t>
            </a:r>
            <a:endParaRPr lang="en-US" sz="3800" dirty="0"/>
          </a:p>
        </p:txBody>
      </p:sp>
      <p:sp>
        <p:nvSpPr>
          <p:cNvPr id="4" name="Text 2"/>
          <p:cNvSpPr/>
          <p:nvPr/>
        </p:nvSpPr>
        <p:spPr>
          <a:xfrm>
            <a:off x="822960" y="2926080"/>
            <a:ext cx="10515600" cy="566928"/>
          </a:xfrm>
          <a:prstGeom prst="rect">
            <a:avLst/>
          </a:prstGeom>
          <a:noFill/>
          <a:ln/>
        </p:spPr>
        <p:txBody>
          <a:bodyPr wrap="square" lIns="0" tIns="0" rIns="0" bIns="0" rtlCol="0" anchor="ctr"/>
          <a:lstStyle/>
          <a:p>
            <a:pPr indent="0" marL="0">
              <a:buNone/>
            </a:pPr>
            <a:r>
              <a:rPr lang="en-US" sz="3000" dirty="0">
                <a:solidFill>
                  <a:srgbClr val="FFFFFF"/>
                </a:solidFill>
                <a:latin typeface="Yu Mincho" pitchFamily="34" charset="0"/>
                <a:ea typeface="Yu Mincho" pitchFamily="34" charset="-122"/>
                <a:cs typeface="Yu Mincho" pitchFamily="34" charset="-120"/>
              </a:rPr>
              <a:t>竣工・開業までの工程</a:t>
            </a:r>
            <a:endParaRPr lang="en-US" sz="3000" dirty="0"/>
          </a:p>
        </p:txBody>
      </p:sp>
      <p:sp>
        <p:nvSpPr>
          <p:cNvPr id="5" name="Text 3"/>
          <p:cNvSpPr/>
          <p:nvPr/>
        </p:nvSpPr>
        <p:spPr>
          <a:xfrm>
            <a:off x="841248" y="3794760"/>
            <a:ext cx="10515600" cy="274320"/>
          </a:xfrm>
          <a:prstGeom prst="rect">
            <a:avLst/>
          </a:prstGeom>
          <a:noFill/>
          <a:ln/>
        </p:spPr>
        <p:txBody>
          <a:bodyPr wrap="square" lIns="0" tIns="0" rIns="0" bIns="0" rtlCol="0" anchor="ctr"/>
          <a:lstStyle/>
          <a:p>
            <a:pPr indent="0" marL="0">
              <a:buNone/>
            </a:pPr>
            <a:r>
              <a:rPr lang="en-US" sz="1300" dirty="0">
                <a:solidFill>
                  <a:srgbClr val="E8D5DA"/>
                </a:solidFill>
                <a:latin typeface="Yu Gothic" pitchFamily="34" charset="0"/>
                <a:ea typeface="Yu Gothic" pitchFamily="34" charset="-122"/>
                <a:cs typeface="Yu Gothic" pitchFamily="34" charset="-120"/>
              </a:rPr>
              <a:t>東京ミッドタウン　B0105号室・B0106号室　／　183.59㎡（55.53坪）</a:t>
            </a:r>
            <a:endParaRPr lang="en-US" sz="1300" dirty="0"/>
          </a:p>
        </p:txBody>
      </p:sp>
      <p:sp>
        <p:nvSpPr>
          <p:cNvPr id="6" name="Text 4"/>
          <p:cNvSpPr/>
          <p:nvPr/>
        </p:nvSpPr>
        <p:spPr>
          <a:xfrm>
            <a:off x="841248" y="4133088"/>
            <a:ext cx="10515600" cy="274320"/>
          </a:xfrm>
          <a:prstGeom prst="rect">
            <a:avLst/>
          </a:prstGeom>
          <a:noFill/>
          <a:ln/>
        </p:spPr>
        <p:txBody>
          <a:bodyPr wrap="square" lIns="0" tIns="0" rIns="0" bIns="0" rtlCol="0" anchor="ctr"/>
          <a:lstStyle/>
          <a:p>
            <a:pPr indent="0" marL="0">
              <a:buNone/>
            </a:pPr>
            <a:r>
              <a:rPr lang="en-US" sz="1300" dirty="0">
                <a:solidFill>
                  <a:srgbClr val="E8D5DA"/>
                </a:solidFill>
                <a:latin typeface="Arial" pitchFamily="34" charset="0"/>
                <a:ea typeface="Arial" pitchFamily="34" charset="-122"/>
                <a:cs typeface="Arial" pitchFamily="34" charset="-120"/>
              </a:rPr>
              <a:t>着工 2027年2月10日 ▸ 竣工 2027年4月15日 ▸ 開業 2027年4月30日</a:t>
            </a:r>
            <a:endParaRPr lang="en-US" sz="1300" dirty="0"/>
          </a:p>
        </p:txBody>
      </p:sp>
      <p:sp>
        <p:nvSpPr>
          <p:cNvPr id="7" name="Text 5"/>
          <p:cNvSpPr/>
          <p:nvPr/>
        </p:nvSpPr>
        <p:spPr>
          <a:xfrm>
            <a:off x="841248" y="4526280"/>
            <a:ext cx="10515600" cy="274320"/>
          </a:xfrm>
          <a:prstGeom prst="rect">
            <a:avLst/>
          </a:prstGeom>
          <a:noFill/>
          <a:ln/>
        </p:spPr>
        <p:txBody>
          <a:bodyPr wrap="square" lIns="0" tIns="0" rIns="0" bIns="0" rtlCol="0" anchor="ctr"/>
          <a:lstStyle/>
          <a:p>
            <a:pPr indent="0" marL="0">
              <a:buNone/>
            </a:pPr>
            <a:r>
              <a:rPr lang="en-US" sz="1100" dirty="0">
                <a:solidFill>
                  <a:srgbClr val="D7AEBA"/>
                </a:solidFill>
                <a:latin typeface="Yu Gothic" pitchFamily="34" charset="0"/>
                <a:ea typeface="Yu Gothic" pitchFamily="34" charset="-122"/>
                <a:cs typeface="Yu Gothic" pitchFamily="34" charset="-120"/>
              </a:rPr>
              <a:t>ノーツデザインオフィス工程表（2026年8月28日修正）反映版</a:t>
            </a:r>
            <a:endParaRPr lang="en-US" sz="1100" dirty="0"/>
          </a:p>
        </p:txBody>
      </p:sp>
      <p:sp>
        <p:nvSpPr>
          <p:cNvPr id="8" name="Text 6"/>
          <p:cNvSpPr/>
          <p:nvPr/>
        </p:nvSpPr>
        <p:spPr>
          <a:xfrm>
            <a:off x="6766560" y="5989320"/>
            <a:ext cx="4572000" cy="274320"/>
          </a:xfrm>
          <a:prstGeom prst="rect">
            <a:avLst/>
          </a:prstGeom>
          <a:noFill/>
          <a:ln/>
        </p:spPr>
        <p:txBody>
          <a:bodyPr wrap="square" lIns="0" tIns="0" rIns="0" bIns="0" rtlCol="0" anchor="ctr"/>
          <a:lstStyle/>
          <a:p>
            <a:pPr algn="r" indent="0" marL="0">
              <a:buNone/>
            </a:pPr>
            <a:r>
              <a:rPr lang="en-US" sz="1000" dirty="0">
                <a:solidFill>
                  <a:srgbClr val="E8D5DA"/>
                </a:solidFill>
                <a:latin typeface="Yu Gothic" pitchFamily="34" charset="0"/>
                <a:ea typeface="Yu Gothic" pitchFamily="34" charset="-122"/>
                <a:cs typeface="Yu Gothic" pitchFamily="34" charset="-120"/>
              </a:rPr>
              <a:t>2026年8月28日　株式会社WineBank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サマリー</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設計は約3ヶ月前倒し。ただしB工事とC工事は並走ではなく直列</a:t>
            </a:r>
            <a:endParaRPr lang="en-US" sz="2500" dirty="0"/>
          </a:p>
        </p:txBody>
      </p:sp>
      <p:sp>
        <p:nvSpPr>
          <p:cNvPr id="4" name="Text 2"/>
          <p:cNvSpPr/>
          <p:nvPr/>
        </p:nvSpPr>
        <p:spPr>
          <a:xfrm>
            <a:off x="502920" y="1188720"/>
            <a:ext cx="11155680" cy="1188720"/>
          </a:xfrm>
          <a:prstGeom prst="rect">
            <a:avLst/>
          </a:prstGeom>
          <a:noFill/>
          <a:ln/>
        </p:spPr>
        <p:txBody>
          <a:bodyPr wrap="square" lIns="0" tIns="0" rIns="0" bIns="0" rtlCol="0" anchor="ctr"/>
          <a:lstStyle/>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設計会社工程では基本設計は8/20完了済み、実施設計10/19完了、B工事金額合意10/31。前回想定より約3ヶ月早い。</a:t>
            </a:r>
            <a:endParaRPr lang="en-US" sz="1200" dirty="0"/>
          </a:p>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一方でB工事（2/1〜2/17）とC工事（2/18〜4/18）は直列。B工事の遅延はそのままC工事と竣工に波及する。</a:t>
            </a:r>
            <a:endParaRPr lang="en-US" sz="1200" dirty="0"/>
          </a:p>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工程表の着工日2/10が、契約上の引渡日2/15より5日早い。着工の前提を設計会社・TMMに確認する必要がある。</a:t>
            </a:r>
            <a:endParaRPr lang="en-US" sz="1200" dirty="0"/>
          </a:p>
        </p:txBody>
      </p:sp>
      <p:sp>
        <p:nvSpPr>
          <p:cNvPr id="5" name="Shape 3"/>
          <p:cNvSpPr/>
          <p:nvPr/>
        </p:nvSpPr>
        <p:spPr>
          <a:xfrm>
            <a:off x="457200" y="2743200"/>
            <a:ext cx="1741932" cy="1298448"/>
          </a:xfrm>
          <a:prstGeom prst="rect">
            <a:avLst/>
          </a:prstGeom>
          <a:solidFill>
            <a:srgbClr val="F5F3F1"/>
          </a:solidFill>
          <a:ln w="9525">
            <a:solidFill>
              <a:srgbClr val="DCD7D2"/>
            </a:solidFill>
            <a:prstDash val="solid"/>
          </a:ln>
        </p:spPr>
      </p:sp>
      <p:sp>
        <p:nvSpPr>
          <p:cNvPr id="6" name="Text 4"/>
          <p:cNvSpPr/>
          <p:nvPr/>
        </p:nvSpPr>
        <p:spPr>
          <a:xfrm>
            <a:off x="585216"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実施設計 完了</a:t>
            </a:r>
            <a:endParaRPr lang="en-US" sz="850" dirty="0"/>
          </a:p>
        </p:txBody>
      </p:sp>
      <p:sp>
        <p:nvSpPr>
          <p:cNvPr id="7" name="Text 5"/>
          <p:cNvSpPr/>
          <p:nvPr/>
        </p:nvSpPr>
        <p:spPr>
          <a:xfrm>
            <a:off x="585216"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2026.10.19</a:t>
            </a:r>
            <a:endParaRPr lang="en-US" sz="1600" dirty="0"/>
          </a:p>
        </p:txBody>
      </p:sp>
      <p:sp>
        <p:nvSpPr>
          <p:cNvPr id="8" name="Text 6"/>
          <p:cNvSpPr/>
          <p:nvPr/>
        </p:nvSpPr>
        <p:spPr>
          <a:xfrm>
            <a:off x="585216"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ノーツデザインオフィス</a:t>
            </a:r>
            <a:endParaRPr lang="en-US" sz="850" dirty="0"/>
          </a:p>
        </p:txBody>
      </p:sp>
      <p:sp>
        <p:nvSpPr>
          <p:cNvPr id="9" name="Shape 7"/>
          <p:cNvSpPr/>
          <p:nvPr/>
        </p:nvSpPr>
        <p:spPr>
          <a:xfrm>
            <a:off x="2363724" y="2743200"/>
            <a:ext cx="1741932" cy="1298448"/>
          </a:xfrm>
          <a:prstGeom prst="rect">
            <a:avLst/>
          </a:prstGeom>
          <a:solidFill>
            <a:srgbClr val="F5F3F1"/>
          </a:solidFill>
          <a:ln w="9525">
            <a:solidFill>
              <a:srgbClr val="DCD7D2"/>
            </a:solidFill>
            <a:prstDash val="solid"/>
          </a:ln>
        </p:spPr>
      </p:sp>
      <p:sp>
        <p:nvSpPr>
          <p:cNvPr id="10" name="Text 8"/>
          <p:cNvSpPr/>
          <p:nvPr/>
        </p:nvSpPr>
        <p:spPr>
          <a:xfrm>
            <a:off x="2491740"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B工事 金額合意</a:t>
            </a:r>
            <a:endParaRPr lang="en-US" sz="850" dirty="0"/>
          </a:p>
        </p:txBody>
      </p:sp>
      <p:sp>
        <p:nvSpPr>
          <p:cNvPr id="11" name="Text 9"/>
          <p:cNvSpPr/>
          <p:nvPr/>
        </p:nvSpPr>
        <p:spPr>
          <a:xfrm>
            <a:off x="2491740"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2026.10.31</a:t>
            </a:r>
            <a:endParaRPr lang="en-US" sz="1600" dirty="0"/>
          </a:p>
        </p:txBody>
      </p:sp>
      <p:sp>
        <p:nvSpPr>
          <p:cNvPr id="12" name="Text 10"/>
          <p:cNvSpPr/>
          <p:nvPr/>
        </p:nvSpPr>
        <p:spPr>
          <a:xfrm>
            <a:off x="2491740"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TMM（ビル側）と合意</a:t>
            </a:r>
            <a:endParaRPr lang="en-US" sz="850" dirty="0"/>
          </a:p>
        </p:txBody>
      </p:sp>
      <p:sp>
        <p:nvSpPr>
          <p:cNvPr id="13" name="Shape 11"/>
          <p:cNvSpPr/>
          <p:nvPr/>
        </p:nvSpPr>
        <p:spPr>
          <a:xfrm>
            <a:off x="4270248" y="2743200"/>
            <a:ext cx="1741932" cy="1298448"/>
          </a:xfrm>
          <a:prstGeom prst="rect">
            <a:avLst/>
          </a:prstGeom>
          <a:solidFill>
            <a:srgbClr val="F5F3F1"/>
          </a:solidFill>
          <a:ln w="9525">
            <a:solidFill>
              <a:srgbClr val="DCD7D2"/>
            </a:solidFill>
            <a:prstDash val="solid"/>
          </a:ln>
        </p:spPr>
      </p:sp>
      <p:sp>
        <p:nvSpPr>
          <p:cNvPr id="14" name="Text 12"/>
          <p:cNvSpPr/>
          <p:nvPr/>
        </p:nvSpPr>
        <p:spPr>
          <a:xfrm>
            <a:off x="4398264"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着工</a:t>
            </a:r>
            <a:endParaRPr lang="en-US" sz="850" dirty="0"/>
          </a:p>
        </p:txBody>
      </p:sp>
      <p:sp>
        <p:nvSpPr>
          <p:cNvPr id="15" name="Text 13"/>
          <p:cNvSpPr/>
          <p:nvPr/>
        </p:nvSpPr>
        <p:spPr>
          <a:xfrm>
            <a:off x="4398264"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2027.02.10</a:t>
            </a:r>
            <a:endParaRPr lang="en-US" sz="1600" dirty="0"/>
          </a:p>
        </p:txBody>
      </p:sp>
      <p:sp>
        <p:nvSpPr>
          <p:cNvPr id="16" name="Text 14"/>
          <p:cNvSpPr/>
          <p:nvPr/>
        </p:nvSpPr>
        <p:spPr>
          <a:xfrm>
            <a:off x="4398264"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工程表ヘッダー記載</a:t>
            </a:r>
            <a:endParaRPr lang="en-US" sz="850" dirty="0"/>
          </a:p>
        </p:txBody>
      </p:sp>
      <p:sp>
        <p:nvSpPr>
          <p:cNvPr id="17" name="Shape 15"/>
          <p:cNvSpPr/>
          <p:nvPr/>
        </p:nvSpPr>
        <p:spPr>
          <a:xfrm>
            <a:off x="6176772" y="2743200"/>
            <a:ext cx="1741932" cy="1298448"/>
          </a:xfrm>
          <a:prstGeom prst="rect">
            <a:avLst/>
          </a:prstGeom>
          <a:solidFill>
            <a:srgbClr val="F5F3F1"/>
          </a:solidFill>
          <a:ln w="9525">
            <a:solidFill>
              <a:srgbClr val="DCD7D2"/>
            </a:solidFill>
            <a:prstDash val="solid"/>
          </a:ln>
        </p:spPr>
      </p:sp>
      <p:sp>
        <p:nvSpPr>
          <p:cNvPr id="18" name="Text 16"/>
          <p:cNvSpPr/>
          <p:nvPr/>
        </p:nvSpPr>
        <p:spPr>
          <a:xfrm>
            <a:off x="6304788"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物件 引渡</a:t>
            </a:r>
            <a:endParaRPr lang="en-US" sz="850" dirty="0"/>
          </a:p>
        </p:txBody>
      </p:sp>
      <p:sp>
        <p:nvSpPr>
          <p:cNvPr id="19" name="Text 17"/>
          <p:cNvSpPr/>
          <p:nvPr/>
        </p:nvSpPr>
        <p:spPr>
          <a:xfrm>
            <a:off x="6304788"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2027.02.15</a:t>
            </a:r>
            <a:endParaRPr lang="en-US" sz="1600" dirty="0"/>
          </a:p>
        </p:txBody>
      </p:sp>
      <p:sp>
        <p:nvSpPr>
          <p:cNvPr id="20" name="Text 18"/>
          <p:cNvSpPr/>
          <p:nvPr/>
        </p:nvSpPr>
        <p:spPr>
          <a:xfrm>
            <a:off x="6304788"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契約書（予定）</a:t>
            </a:r>
            <a:endParaRPr lang="en-US" sz="850" dirty="0"/>
          </a:p>
        </p:txBody>
      </p:sp>
      <p:sp>
        <p:nvSpPr>
          <p:cNvPr id="21" name="Shape 19"/>
          <p:cNvSpPr/>
          <p:nvPr/>
        </p:nvSpPr>
        <p:spPr>
          <a:xfrm>
            <a:off x="8083296" y="2743200"/>
            <a:ext cx="1741932" cy="1298448"/>
          </a:xfrm>
          <a:prstGeom prst="rect">
            <a:avLst/>
          </a:prstGeom>
          <a:solidFill>
            <a:srgbClr val="F5F3F1"/>
          </a:solidFill>
          <a:ln w="9525">
            <a:solidFill>
              <a:srgbClr val="DCD7D2"/>
            </a:solidFill>
            <a:prstDash val="solid"/>
          </a:ln>
        </p:spPr>
      </p:sp>
      <p:sp>
        <p:nvSpPr>
          <p:cNvPr id="22" name="Text 20"/>
          <p:cNvSpPr/>
          <p:nvPr/>
        </p:nvSpPr>
        <p:spPr>
          <a:xfrm>
            <a:off x="8211312"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竣工</a:t>
            </a:r>
            <a:endParaRPr lang="en-US" sz="850" dirty="0"/>
          </a:p>
        </p:txBody>
      </p:sp>
      <p:sp>
        <p:nvSpPr>
          <p:cNvPr id="23" name="Text 21"/>
          <p:cNvSpPr/>
          <p:nvPr/>
        </p:nvSpPr>
        <p:spPr>
          <a:xfrm>
            <a:off x="8211312"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2027.04.15</a:t>
            </a:r>
            <a:endParaRPr lang="en-US" sz="1600" dirty="0"/>
          </a:p>
        </p:txBody>
      </p:sp>
      <p:sp>
        <p:nvSpPr>
          <p:cNvPr id="24" name="Text 22"/>
          <p:cNvSpPr/>
          <p:nvPr/>
        </p:nvSpPr>
        <p:spPr>
          <a:xfrm>
            <a:off x="8211312"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工程表ヘッダー記載</a:t>
            </a:r>
            <a:endParaRPr lang="en-US" sz="850" dirty="0"/>
          </a:p>
        </p:txBody>
      </p:sp>
      <p:sp>
        <p:nvSpPr>
          <p:cNvPr id="25" name="Shape 23"/>
          <p:cNvSpPr/>
          <p:nvPr/>
        </p:nvSpPr>
        <p:spPr>
          <a:xfrm>
            <a:off x="9989820" y="2743200"/>
            <a:ext cx="1741932" cy="1298448"/>
          </a:xfrm>
          <a:prstGeom prst="rect">
            <a:avLst/>
          </a:prstGeom>
          <a:solidFill>
            <a:srgbClr val="F5F3F1"/>
          </a:solidFill>
          <a:ln w="9525">
            <a:solidFill>
              <a:srgbClr val="DCD7D2"/>
            </a:solidFill>
            <a:prstDash val="solid"/>
          </a:ln>
        </p:spPr>
      </p:sp>
      <p:sp>
        <p:nvSpPr>
          <p:cNvPr id="26" name="Text 24"/>
          <p:cNvSpPr/>
          <p:nvPr/>
        </p:nvSpPr>
        <p:spPr>
          <a:xfrm>
            <a:off x="10117836"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営業開始日</a:t>
            </a:r>
            <a:endParaRPr lang="en-US" sz="850" dirty="0"/>
          </a:p>
        </p:txBody>
      </p:sp>
      <p:sp>
        <p:nvSpPr>
          <p:cNvPr id="27" name="Text 25"/>
          <p:cNvSpPr/>
          <p:nvPr/>
        </p:nvSpPr>
        <p:spPr>
          <a:xfrm>
            <a:off x="10117836"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2027.04.30</a:t>
            </a:r>
            <a:endParaRPr lang="en-US" sz="1600" dirty="0"/>
          </a:p>
        </p:txBody>
      </p:sp>
      <p:sp>
        <p:nvSpPr>
          <p:cNvPr id="28" name="Text 26"/>
          <p:cNvSpPr/>
          <p:nvPr/>
        </p:nvSpPr>
        <p:spPr>
          <a:xfrm>
            <a:off x="10117836"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契約書（予定）</a:t>
            </a:r>
            <a:endParaRPr lang="en-US" sz="850" dirty="0"/>
          </a:p>
        </p:txBody>
      </p:sp>
      <p:sp>
        <p:nvSpPr>
          <p:cNvPr id="29" name="Text 27"/>
          <p:cNvSpPr/>
          <p:nvPr/>
        </p:nvSpPr>
        <p:spPr>
          <a:xfrm>
            <a:off x="457200" y="4315968"/>
            <a:ext cx="11274552"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いま確認・決定すべき3点</a:t>
            </a:r>
            <a:endParaRPr lang="en-US" sz="1300" dirty="0"/>
          </a:p>
        </p:txBody>
      </p:sp>
      <p:sp>
        <p:nvSpPr>
          <p:cNvPr id="30" name="Shape 28"/>
          <p:cNvSpPr/>
          <p:nvPr/>
        </p:nvSpPr>
        <p:spPr>
          <a:xfrm>
            <a:off x="457200" y="4681728"/>
            <a:ext cx="3611880" cy="1371600"/>
          </a:xfrm>
          <a:prstGeom prst="rect">
            <a:avLst/>
          </a:prstGeom>
          <a:solidFill>
            <a:srgbClr val="FFFFFF"/>
          </a:solidFill>
          <a:ln w="9525">
            <a:solidFill>
              <a:srgbClr val="DCD7D2"/>
            </a:solidFill>
            <a:prstDash val="solid"/>
          </a:ln>
        </p:spPr>
      </p:sp>
      <p:sp>
        <p:nvSpPr>
          <p:cNvPr id="31" name="Text 29"/>
          <p:cNvSpPr/>
          <p:nvPr/>
        </p:nvSpPr>
        <p:spPr>
          <a:xfrm>
            <a:off x="603504"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1</a:t>
            </a:r>
            <a:endParaRPr lang="en-US" sz="1200" dirty="0"/>
          </a:p>
        </p:txBody>
      </p:sp>
      <p:sp>
        <p:nvSpPr>
          <p:cNvPr id="32" name="Text 30"/>
          <p:cNvSpPr/>
          <p:nvPr/>
        </p:nvSpPr>
        <p:spPr>
          <a:xfrm>
            <a:off x="914400"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着工日2/10の前提を確認</a:t>
            </a:r>
            <a:endParaRPr lang="en-US" sz="1150" dirty="0"/>
          </a:p>
        </p:txBody>
      </p:sp>
      <p:sp>
        <p:nvSpPr>
          <p:cNvPr id="33" name="Text 31"/>
          <p:cNvSpPr/>
          <p:nvPr/>
        </p:nvSpPr>
        <p:spPr>
          <a:xfrm>
            <a:off x="603504"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契約上の引渡は2/15。引渡前のB工事着手が可能か、三井不動産・TMM・ディコンの3者で確認する。</a:t>
            </a:r>
            <a:endParaRPr lang="en-US" sz="950" dirty="0"/>
          </a:p>
        </p:txBody>
      </p:sp>
      <p:sp>
        <p:nvSpPr>
          <p:cNvPr id="34" name="Shape 32"/>
          <p:cNvSpPr/>
          <p:nvPr/>
        </p:nvSpPr>
        <p:spPr>
          <a:xfrm>
            <a:off x="4288536" y="4681728"/>
            <a:ext cx="3611880" cy="1371600"/>
          </a:xfrm>
          <a:prstGeom prst="rect">
            <a:avLst/>
          </a:prstGeom>
          <a:solidFill>
            <a:srgbClr val="FFFFFF"/>
          </a:solidFill>
          <a:ln w="9525">
            <a:solidFill>
              <a:srgbClr val="DCD7D2"/>
            </a:solidFill>
            <a:prstDash val="solid"/>
          </a:ln>
        </p:spPr>
      </p:sp>
      <p:sp>
        <p:nvSpPr>
          <p:cNvPr id="35" name="Text 33"/>
          <p:cNvSpPr/>
          <p:nvPr/>
        </p:nvSpPr>
        <p:spPr>
          <a:xfrm>
            <a:off x="4434840"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2</a:t>
            </a:r>
            <a:endParaRPr lang="en-US" sz="1200" dirty="0"/>
          </a:p>
        </p:txBody>
      </p:sp>
      <p:sp>
        <p:nvSpPr>
          <p:cNvPr id="36" name="Text 34"/>
          <p:cNvSpPr/>
          <p:nvPr/>
        </p:nvSpPr>
        <p:spPr>
          <a:xfrm>
            <a:off x="4745736"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B工事金額合意を10/31で固める</a:t>
            </a:r>
            <a:endParaRPr lang="en-US" sz="1150" dirty="0"/>
          </a:p>
        </p:txBody>
      </p:sp>
      <p:sp>
        <p:nvSpPr>
          <p:cNvPr id="37" name="Text 35"/>
          <p:cNvSpPr/>
          <p:nvPr/>
        </p:nvSpPr>
        <p:spPr>
          <a:xfrm>
            <a:off x="4434840"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賃貸人負担1億円の覚書を前倒しで締結でき、自社負担額を年内に確定できる。</a:t>
            </a:r>
            <a:endParaRPr lang="en-US" sz="950" dirty="0"/>
          </a:p>
        </p:txBody>
      </p:sp>
      <p:sp>
        <p:nvSpPr>
          <p:cNvPr id="38" name="Shape 36"/>
          <p:cNvSpPr/>
          <p:nvPr/>
        </p:nvSpPr>
        <p:spPr>
          <a:xfrm>
            <a:off x="8119872" y="4681728"/>
            <a:ext cx="3611880" cy="1371600"/>
          </a:xfrm>
          <a:prstGeom prst="rect">
            <a:avLst/>
          </a:prstGeom>
          <a:solidFill>
            <a:srgbClr val="FFFFFF"/>
          </a:solidFill>
          <a:ln w="9525">
            <a:solidFill>
              <a:srgbClr val="DCD7D2"/>
            </a:solidFill>
            <a:prstDash val="solid"/>
          </a:ln>
        </p:spPr>
      </p:sp>
      <p:sp>
        <p:nvSpPr>
          <p:cNvPr id="39" name="Text 37"/>
          <p:cNvSpPr/>
          <p:nvPr/>
        </p:nvSpPr>
        <p:spPr>
          <a:xfrm>
            <a:off x="8266176"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3</a:t>
            </a:r>
            <a:endParaRPr lang="en-US" sz="1200" dirty="0"/>
          </a:p>
        </p:txBody>
      </p:sp>
      <p:sp>
        <p:nvSpPr>
          <p:cNvPr id="40" name="Text 38"/>
          <p:cNvSpPr/>
          <p:nvPr/>
        </p:nvSpPr>
        <p:spPr>
          <a:xfrm>
            <a:off x="8577072"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長納期品のリードタイム管理</a:t>
            </a:r>
            <a:endParaRPr lang="en-US" sz="1150" dirty="0"/>
          </a:p>
        </p:txBody>
      </p:sp>
      <p:sp>
        <p:nvSpPr>
          <p:cNvPr id="41" name="Text 39"/>
          <p:cNvSpPr/>
          <p:nvPr/>
        </p:nvSpPr>
        <p:spPr>
          <a:xfrm>
            <a:off x="8266176"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分電盤は10/20発注・2/8設置。厨房機器も同様に実施設計完了（10/19）直後に発注を確定させる。</a:t>
            </a:r>
            <a:endParaRPr lang="en-US" sz="950" dirty="0"/>
          </a:p>
        </p:txBody>
      </p:sp>
      <p:sp>
        <p:nvSpPr>
          <p:cNvPr id="42" name="Text 40"/>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出典①：営業と出店に関する契約書（定期建物賃貸借契約書）（案）契約番号 90238-2047-000／賃貸人 三井不動産株式会社・賃借人 株式会社WineBank　　出典②：ノーツデザインオフィス「[B-0105・0106] THIERRY MARX 新装工事 工程表」2026年8月28日修正</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関係会社と担当</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プロジェクト体制</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現場名：[B-0105・0106] THIERRY MARX 新装工事　／　建設地：東京都港区赤坂9-7-1　東京ミッドタウン1F</a:t>
            </a:r>
            <a:endParaRPr lang="en-US" sz="1050" dirty="0"/>
          </a:p>
        </p:txBody>
      </p:sp>
      <p:sp>
        <p:nvSpPr>
          <p:cNvPr id="5" name="Shape 3"/>
          <p:cNvSpPr/>
          <p:nvPr/>
        </p:nvSpPr>
        <p:spPr>
          <a:xfrm>
            <a:off x="457200" y="1481328"/>
            <a:ext cx="6858000" cy="603504"/>
          </a:xfrm>
          <a:prstGeom prst="rect">
            <a:avLst/>
          </a:prstGeom>
          <a:solidFill>
            <a:srgbClr val="F7EBEE"/>
          </a:solidFill>
          <a:ln w="9525">
            <a:solidFill>
              <a:srgbClr val="DCD7D2"/>
            </a:solidFill>
            <a:prstDash val="solid"/>
          </a:ln>
        </p:spPr>
      </p:sp>
      <p:sp>
        <p:nvSpPr>
          <p:cNvPr id="6" name="Text 4"/>
          <p:cNvSpPr/>
          <p:nvPr/>
        </p:nvSpPr>
        <p:spPr>
          <a:xfrm>
            <a:off x="621792" y="1554480"/>
            <a:ext cx="1371600" cy="256032"/>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発注者</a:t>
            </a:r>
            <a:endParaRPr lang="en-US" sz="900" dirty="0"/>
          </a:p>
        </p:txBody>
      </p:sp>
      <p:sp>
        <p:nvSpPr>
          <p:cNvPr id="7" name="Text 5"/>
          <p:cNvSpPr/>
          <p:nvPr/>
        </p:nvSpPr>
        <p:spPr>
          <a:xfrm>
            <a:off x="621792" y="1764792"/>
            <a:ext cx="6309360" cy="274320"/>
          </a:xfrm>
          <a:prstGeom prst="rect">
            <a:avLst/>
          </a:prstGeom>
          <a:noFill/>
          <a:ln/>
        </p:spPr>
        <p:txBody>
          <a:bodyPr wrap="square" lIns="0" tIns="0" rIns="0" bIns="0" rtlCol="0" anchor="ctr"/>
          <a:lstStyle/>
          <a:p>
            <a:pPr indent="0" marL="0">
              <a:buNone/>
            </a:pPr>
            <a:r>
              <a:rPr lang="en-US" sz="1400" b="1" dirty="0">
                <a:solidFill>
                  <a:srgbClr val="8C2740"/>
                </a:solidFill>
                <a:latin typeface="Yu Gothic" pitchFamily="34" charset="0"/>
                <a:ea typeface="Yu Gothic" pitchFamily="34" charset="-122"/>
                <a:cs typeface="Yu Gothic" pitchFamily="34" charset="-120"/>
              </a:rPr>
              <a:t>株式会社WineBank</a:t>
            </a:r>
            <a:endParaRPr lang="en-US" sz="1400" dirty="0"/>
          </a:p>
        </p:txBody>
      </p:sp>
      <p:sp>
        <p:nvSpPr>
          <p:cNvPr id="8" name="Text 6"/>
          <p:cNvSpPr/>
          <p:nvPr/>
        </p:nvSpPr>
        <p:spPr>
          <a:xfrm>
            <a:off x="7498080" y="1536192"/>
            <a:ext cx="4233672" cy="512064"/>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賃借人。契約締結後、代表者が代表を務める新会社へ地位承継予定（特記事項 第11条）。</a:t>
            </a:r>
            <a:endParaRPr lang="en-US" sz="900" dirty="0"/>
          </a:p>
        </p:txBody>
      </p:sp>
      <p:sp>
        <p:nvSpPr>
          <p:cNvPr id="9" name="Shape 7"/>
          <p:cNvSpPr/>
          <p:nvPr/>
        </p:nvSpPr>
        <p:spPr>
          <a:xfrm>
            <a:off x="457200" y="2194560"/>
            <a:ext cx="6858000" cy="603504"/>
          </a:xfrm>
          <a:prstGeom prst="rect">
            <a:avLst/>
          </a:prstGeom>
          <a:solidFill>
            <a:srgbClr val="FFFFFF"/>
          </a:solidFill>
          <a:ln w="9525">
            <a:solidFill>
              <a:srgbClr val="DCD7D2"/>
            </a:solidFill>
            <a:prstDash val="solid"/>
          </a:ln>
        </p:spPr>
      </p:sp>
      <p:sp>
        <p:nvSpPr>
          <p:cNvPr id="10" name="Text 8"/>
          <p:cNvSpPr/>
          <p:nvPr/>
        </p:nvSpPr>
        <p:spPr>
          <a:xfrm>
            <a:off x="621792" y="2267712"/>
            <a:ext cx="1371600" cy="256032"/>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賃貸人</a:t>
            </a:r>
            <a:endParaRPr lang="en-US" sz="900" dirty="0"/>
          </a:p>
        </p:txBody>
      </p:sp>
      <p:sp>
        <p:nvSpPr>
          <p:cNvPr id="11" name="Text 9"/>
          <p:cNvSpPr/>
          <p:nvPr/>
        </p:nvSpPr>
        <p:spPr>
          <a:xfrm>
            <a:off x="621792" y="2478024"/>
            <a:ext cx="6309360" cy="274320"/>
          </a:xfrm>
          <a:prstGeom prst="rect">
            <a:avLst/>
          </a:prstGeom>
          <a:noFill/>
          <a:ln/>
        </p:spPr>
        <p:txBody>
          <a:bodyPr wrap="square" lIns="0" tIns="0" rIns="0" bIns="0" rtlCol="0" anchor="ctr"/>
          <a:lstStyle/>
          <a:p>
            <a:pPr indent="0" marL="0">
              <a:buNone/>
            </a:pPr>
            <a:r>
              <a:rPr lang="en-US" sz="1400" b="1" dirty="0">
                <a:solidFill>
                  <a:srgbClr val="1B1A19"/>
                </a:solidFill>
                <a:latin typeface="Yu Gothic" pitchFamily="34" charset="0"/>
                <a:ea typeface="Yu Gothic" pitchFamily="34" charset="-122"/>
                <a:cs typeface="Yu Gothic" pitchFamily="34" charset="-120"/>
              </a:rPr>
              <a:t>三井不動産株式会社</a:t>
            </a:r>
            <a:endParaRPr lang="en-US" sz="1400" dirty="0"/>
          </a:p>
        </p:txBody>
      </p:sp>
      <p:sp>
        <p:nvSpPr>
          <p:cNvPr id="12" name="Text 10"/>
          <p:cNvSpPr/>
          <p:nvPr/>
        </p:nvSpPr>
        <p:spPr>
          <a:xfrm>
            <a:off x="7498080" y="2249424"/>
            <a:ext cx="4233672" cy="512064"/>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定期建物賃貸借契約の相手方。デザインクライテリアおよび工事等承認の承認権者。</a:t>
            </a:r>
            <a:endParaRPr lang="en-US" sz="900" dirty="0"/>
          </a:p>
        </p:txBody>
      </p:sp>
      <p:sp>
        <p:nvSpPr>
          <p:cNvPr id="13" name="Shape 11"/>
          <p:cNvSpPr/>
          <p:nvPr/>
        </p:nvSpPr>
        <p:spPr>
          <a:xfrm>
            <a:off x="457200" y="2907792"/>
            <a:ext cx="6858000" cy="603504"/>
          </a:xfrm>
          <a:prstGeom prst="rect">
            <a:avLst/>
          </a:prstGeom>
          <a:solidFill>
            <a:srgbClr val="FFFFFF"/>
          </a:solidFill>
          <a:ln w="9525">
            <a:solidFill>
              <a:srgbClr val="DCD7D2"/>
            </a:solidFill>
            <a:prstDash val="solid"/>
          </a:ln>
        </p:spPr>
      </p:sp>
      <p:sp>
        <p:nvSpPr>
          <p:cNvPr id="14" name="Text 12"/>
          <p:cNvSpPr/>
          <p:nvPr/>
        </p:nvSpPr>
        <p:spPr>
          <a:xfrm>
            <a:off x="621792" y="2980944"/>
            <a:ext cx="1371600" cy="256032"/>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施設管理</a:t>
            </a:r>
            <a:endParaRPr lang="en-US" sz="900" dirty="0"/>
          </a:p>
        </p:txBody>
      </p:sp>
      <p:sp>
        <p:nvSpPr>
          <p:cNvPr id="15" name="Text 13"/>
          <p:cNvSpPr/>
          <p:nvPr/>
        </p:nvSpPr>
        <p:spPr>
          <a:xfrm>
            <a:off x="621792" y="3191256"/>
            <a:ext cx="6309360" cy="274320"/>
          </a:xfrm>
          <a:prstGeom prst="rect">
            <a:avLst/>
          </a:prstGeom>
          <a:noFill/>
          <a:ln/>
        </p:spPr>
        <p:txBody>
          <a:bodyPr wrap="square" lIns="0" tIns="0" rIns="0" bIns="0" rtlCol="0" anchor="ctr"/>
          <a:lstStyle/>
          <a:p>
            <a:pPr indent="0" marL="0">
              <a:buNone/>
            </a:pPr>
            <a:r>
              <a:rPr lang="en-US" sz="1400" b="1" dirty="0">
                <a:solidFill>
                  <a:srgbClr val="1B1A19"/>
                </a:solidFill>
                <a:latin typeface="Yu Gothic" pitchFamily="34" charset="0"/>
                <a:ea typeface="Yu Gothic" pitchFamily="34" charset="-122"/>
                <a:cs typeface="Yu Gothic" pitchFamily="34" charset="-120"/>
              </a:rPr>
              <a:t>東京ミッドタウンマネジメント株式会社</a:t>
            </a:r>
            <a:endParaRPr lang="en-US" sz="1400" dirty="0"/>
          </a:p>
        </p:txBody>
      </p:sp>
      <p:sp>
        <p:nvSpPr>
          <p:cNvPr id="16" name="Text 14"/>
          <p:cNvSpPr/>
          <p:nvPr/>
        </p:nvSpPr>
        <p:spPr>
          <a:xfrm>
            <a:off x="7498080" y="2962656"/>
            <a:ext cx="4233672" cy="512064"/>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ビル側窓口。基本設計の内容確認、B工事の見積作成・金額合意、TMM書類の受付。</a:t>
            </a:r>
            <a:endParaRPr lang="en-US" sz="900" dirty="0"/>
          </a:p>
        </p:txBody>
      </p:sp>
      <p:sp>
        <p:nvSpPr>
          <p:cNvPr id="17" name="Shape 15"/>
          <p:cNvSpPr/>
          <p:nvPr/>
        </p:nvSpPr>
        <p:spPr>
          <a:xfrm>
            <a:off x="457200" y="3621024"/>
            <a:ext cx="6858000" cy="603504"/>
          </a:xfrm>
          <a:prstGeom prst="rect">
            <a:avLst/>
          </a:prstGeom>
          <a:solidFill>
            <a:srgbClr val="FFFFFF"/>
          </a:solidFill>
          <a:ln w="9525">
            <a:solidFill>
              <a:srgbClr val="DCD7D2"/>
            </a:solidFill>
            <a:prstDash val="solid"/>
          </a:ln>
        </p:spPr>
      </p:sp>
      <p:sp>
        <p:nvSpPr>
          <p:cNvPr id="18" name="Text 16"/>
          <p:cNvSpPr/>
          <p:nvPr/>
        </p:nvSpPr>
        <p:spPr>
          <a:xfrm>
            <a:off x="621792" y="3694176"/>
            <a:ext cx="1371600" cy="256032"/>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設計管理</a:t>
            </a:r>
            <a:endParaRPr lang="en-US" sz="900" dirty="0"/>
          </a:p>
        </p:txBody>
      </p:sp>
      <p:sp>
        <p:nvSpPr>
          <p:cNvPr id="19" name="Text 17"/>
          <p:cNvSpPr/>
          <p:nvPr/>
        </p:nvSpPr>
        <p:spPr>
          <a:xfrm>
            <a:off x="621792" y="3904488"/>
            <a:ext cx="6309360" cy="274320"/>
          </a:xfrm>
          <a:prstGeom prst="rect">
            <a:avLst/>
          </a:prstGeom>
          <a:noFill/>
          <a:ln/>
        </p:spPr>
        <p:txBody>
          <a:bodyPr wrap="square" lIns="0" tIns="0" rIns="0" bIns="0" rtlCol="0" anchor="ctr"/>
          <a:lstStyle/>
          <a:p>
            <a:pPr indent="0" marL="0">
              <a:buNone/>
            </a:pPr>
            <a:r>
              <a:rPr lang="en-US" sz="1400" b="1" dirty="0">
                <a:solidFill>
                  <a:srgbClr val="1B1A19"/>
                </a:solidFill>
                <a:latin typeface="Yu Gothic" pitchFamily="34" charset="0"/>
                <a:ea typeface="Yu Gothic" pitchFamily="34" charset="-122"/>
                <a:cs typeface="Yu Gothic" pitchFamily="34" charset="-120"/>
              </a:rPr>
              <a:t>ノーツデザインオフィス</a:t>
            </a:r>
            <a:endParaRPr lang="en-US" sz="1400" dirty="0"/>
          </a:p>
        </p:txBody>
      </p:sp>
      <p:sp>
        <p:nvSpPr>
          <p:cNvPr id="20" name="Text 18"/>
          <p:cNvSpPr/>
          <p:nvPr/>
        </p:nvSpPr>
        <p:spPr>
          <a:xfrm>
            <a:off x="7498080" y="3675888"/>
            <a:ext cx="4233672" cy="512064"/>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基本設計・実施設計・官公庁申請・竣工図提出を担当。総合監修は藤原氏。</a:t>
            </a:r>
            <a:endParaRPr lang="en-US" sz="900" dirty="0"/>
          </a:p>
        </p:txBody>
      </p:sp>
      <p:sp>
        <p:nvSpPr>
          <p:cNvPr id="21" name="Shape 19"/>
          <p:cNvSpPr/>
          <p:nvPr/>
        </p:nvSpPr>
        <p:spPr>
          <a:xfrm>
            <a:off x="457200" y="4334256"/>
            <a:ext cx="6858000" cy="603504"/>
          </a:xfrm>
          <a:prstGeom prst="rect">
            <a:avLst/>
          </a:prstGeom>
          <a:solidFill>
            <a:srgbClr val="FFFFFF"/>
          </a:solidFill>
          <a:ln w="9525">
            <a:solidFill>
              <a:srgbClr val="DCD7D2"/>
            </a:solidFill>
            <a:prstDash val="solid"/>
          </a:ln>
        </p:spPr>
      </p:sp>
      <p:sp>
        <p:nvSpPr>
          <p:cNvPr id="22" name="Text 20"/>
          <p:cNvSpPr/>
          <p:nvPr/>
        </p:nvSpPr>
        <p:spPr>
          <a:xfrm>
            <a:off x="621792" y="4407408"/>
            <a:ext cx="1371600" cy="256032"/>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工事請負施工</a:t>
            </a:r>
            <a:endParaRPr lang="en-US" sz="900" dirty="0"/>
          </a:p>
        </p:txBody>
      </p:sp>
      <p:sp>
        <p:nvSpPr>
          <p:cNvPr id="23" name="Text 21"/>
          <p:cNvSpPr/>
          <p:nvPr/>
        </p:nvSpPr>
        <p:spPr>
          <a:xfrm>
            <a:off x="621792" y="4617720"/>
            <a:ext cx="6309360" cy="274320"/>
          </a:xfrm>
          <a:prstGeom prst="rect">
            <a:avLst/>
          </a:prstGeom>
          <a:noFill/>
          <a:ln/>
        </p:spPr>
        <p:txBody>
          <a:bodyPr wrap="square" lIns="0" tIns="0" rIns="0" bIns="0" rtlCol="0" anchor="ctr"/>
          <a:lstStyle/>
          <a:p>
            <a:pPr indent="0" marL="0">
              <a:buNone/>
            </a:pPr>
            <a:r>
              <a:rPr lang="en-US" sz="1400" b="1" dirty="0">
                <a:solidFill>
                  <a:srgbClr val="1B1A19"/>
                </a:solidFill>
                <a:latin typeface="Yu Gothic" pitchFamily="34" charset="0"/>
                <a:ea typeface="Yu Gothic" pitchFamily="34" charset="-122"/>
                <a:cs typeface="Yu Gothic" pitchFamily="34" charset="-120"/>
              </a:rPr>
              <a:t>株式会社ディコン</a:t>
            </a:r>
            <a:endParaRPr lang="en-US" sz="1400" dirty="0"/>
          </a:p>
        </p:txBody>
      </p:sp>
      <p:sp>
        <p:nvSpPr>
          <p:cNvPr id="24" name="Text 22"/>
          <p:cNvSpPr/>
          <p:nvPr/>
        </p:nvSpPr>
        <p:spPr>
          <a:xfrm>
            <a:off x="7498080" y="4389120"/>
            <a:ext cx="4233672" cy="512064"/>
          </a:xfrm>
          <a:prstGeom prst="rect">
            <a:avLst/>
          </a:prstGeom>
          <a:noFill/>
          <a:ln/>
        </p:spPr>
        <p:txBody>
          <a:bodyPr wrap="square" lIns="0" tIns="0" rIns="0" bIns="0" rtlCol="0" anchor="ctr"/>
          <a:lstStyle/>
          <a:p>
            <a:pPr indent="0" marL="0">
              <a:buNone/>
            </a:pPr>
            <a:r>
              <a:rPr lang="en-US" sz="900" dirty="0">
                <a:solidFill>
                  <a:srgbClr val="6E6866"/>
                </a:solidFill>
                <a:latin typeface="Yu Gothic" pitchFamily="34" charset="0"/>
                <a:ea typeface="Yu Gothic" pitchFamily="34" charset="-122"/>
                <a:cs typeface="Yu Gothic" pitchFamily="34" charset="-120"/>
              </a:rPr>
              <a:t>C工事の施工。B工事は賃貸人指定業者が施工（契約第22条）。</a:t>
            </a:r>
            <a:endParaRPr lang="en-US" sz="900" dirty="0"/>
          </a:p>
        </p:txBody>
      </p:sp>
      <p:sp>
        <p:nvSpPr>
          <p:cNvPr id="25" name="Text 23"/>
          <p:cNvSpPr/>
          <p:nvPr/>
        </p:nvSpPr>
        <p:spPr>
          <a:xfrm>
            <a:off x="457200" y="5212080"/>
            <a:ext cx="11274552" cy="256032"/>
          </a:xfrm>
          <a:prstGeom prst="rect">
            <a:avLst/>
          </a:prstGeom>
          <a:noFill/>
          <a:ln/>
        </p:spPr>
        <p:txBody>
          <a:bodyPr wrap="square" lIns="0" tIns="0" rIns="0" bIns="0" rtlCol="0" anchor="ctr"/>
          <a:lstStyle/>
          <a:p>
            <a:pPr indent="0" marL="0">
              <a:buNone/>
            </a:pPr>
            <a:r>
              <a:rPr lang="en-US" sz="1100" b="1" dirty="0">
                <a:solidFill>
                  <a:srgbClr val="1B1A19"/>
                </a:solidFill>
                <a:latin typeface="Yu Gothic" pitchFamily="34" charset="0"/>
                <a:ea typeface="Yu Gothic" pitchFamily="34" charset="-122"/>
                <a:cs typeface="Yu Gothic" pitchFamily="34" charset="-120"/>
              </a:rPr>
              <a:t>工程表に記載の担当</a:t>
            </a:r>
            <a:endParaRPr lang="en-US" sz="1100" dirty="0"/>
          </a:p>
        </p:txBody>
      </p:sp>
      <p:sp>
        <p:nvSpPr>
          <p:cNvPr id="26" name="Shape 24"/>
          <p:cNvSpPr/>
          <p:nvPr/>
        </p:nvSpPr>
        <p:spPr>
          <a:xfrm>
            <a:off x="457200" y="5522976"/>
            <a:ext cx="2011680" cy="603504"/>
          </a:xfrm>
          <a:prstGeom prst="rect">
            <a:avLst/>
          </a:prstGeom>
          <a:solidFill>
            <a:srgbClr val="F5F3F1"/>
          </a:solidFill>
          <a:ln w="9525">
            <a:solidFill>
              <a:srgbClr val="DCD7D2"/>
            </a:solidFill>
            <a:prstDash val="solid"/>
          </a:ln>
        </p:spPr>
      </p:sp>
      <p:sp>
        <p:nvSpPr>
          <p:cNvPr id="27" name="Text 25"/>
          <p:cNvSpPr/>
          <p:nvPr/>
        </p:nvSpPr>
        <p:spPr>
          <a:xfrm>
            <a:off x="585216" y="5577840"/>
            <a:ext cx="1755648" cy="182880"/>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総合監修</a:t>
            </a:r>
            <a:endParaRPr lang="en-US" sz="850" dirty="0"/>
          </a:p>
        </p:txBody>
      </p:sp>
      <p:sp>
        <p:nvSpPr>
          <p:cNvPr id="28" name="Text 26"/>
          <p:cNvSpPr/>
          <p:nvPr/>
        </p:nvSpPr>
        <p:spPr>
          <a:xfrm>
            <a:off x="585216" y="5779008"/>
            <a:ext cx="1755648"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NDO 藤原</a:t>
            </a:r>
            <a:endParaRPr lang="en-US" sz="1300" dirty="0"/>
          </a:p>
        </p:txBody>
      </p:sp>
      <p:sp>
        <p:nvSpPr>
          <p:cNvPr id="29" name="Shape 27"/>
          <p:cNvSpPr/>
          <p:nvPr/>
        </p:nvSpPr>
        <p:spPr>
          <a:xfrm>
            <a:off x="2651760" y="5522976"/>
            <a:ext cx="2011680" cy="603504"/>
          </a:xfrm>
          <a:prstGeom prst="rect">
            <a:avLst/>
          </a:prstGeom>
          <a:solidFill>
            <a:srgbClr val="F5F3F1"/>
          </a:solidFill>
          <a:ln w="9525">
            <a:solidFill>
              <a:srgbClr val="DCD7D2"/>
            </a:solidFill>
            <a:prstDash val="solid"/>
          </a:ln>
        </p:spPr>
      </p:sp>
      <p:sp>
        <p:nvSpPr>
          <p:cNvPr id="30" name="Text 28"/>
          <p:cNvSpPr/>
          <p:nvPr/>
        </p:nvSpPr>
        <p:spPr>
          <a:xfrm>
            <a:off x="2779776" y="5577840"/>
            <a:ext cx="1755648" cy="182880"/>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実施設計</a:t>
            </a:r>
            <a:endParaRPr lang="en-US" sz="850" dirty="0"/>
          </a:p>
        </p:txBody>
      </p:sp>
      <p:sp>
        <p:nvSpPr>
          <p:cNvPr id="31" name="Text 29"/>
          <p:cNvSpPr/>
          <p:nvPr/>
        </p:nvSpPr>
        <p:spPr>
          <a:xfrm>
            <a:off x="2779776" y="5779008"/>
            <a:ext cx="1755648"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坂本</a:t>
            </a:r>
            <a:endParaRPr lang="en-US" sz="1300" dirty="0"/>
          </a:p>
        </p:txBody>
      </p:sp>
      <p:sp>
        <p:nvSpPr>
          <p:cNvPr id="32" name="Shape 30"/>
          <p:cNvSpPr/>
          <p:nvPr/>
        </p:nvSpPr>
        <p:spPr>
          <a:xfrm>
            <a:off x="4846320" y="5522976"/>
            <a:ext cx="2011680" cy="603504"/>
          </a:xfrm>
          <a:prstGeom prst="rect">
            <a:avLst/>
          </a:prstGeom>
          <a:solidFill>
            <a:srgbClr val="F5F3F1"/>
          </a:solidFill>
          <a:ln w="9525">
            <a:solidFill>
              <a:srgbClr val="DCD7D2"/>
            </a:solidFill>
            <a:prstDash val="solid"/>
          </a:ln>
        </p:spPr>
      </p:sp>
      <p:sp>
        <p:nvSpPr>
          <p:cNvPr id="33" name="Text 31"/>
          <p:cNvSpPr/>
          <p:nvPr/>
        </p:nvSpPr>
        <p:spPr>
          <a:xfrm>
            <a:off x="4974336" y="5577840"/>
            <a:ext cx="1755648" cy="182880"/>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管理</a:t>
            </a:r>
            <a:endParaRPr lang="en-US" sz="850" dirty="0"/>
          </a:p>
        </p:txBody>
      </p:sp>
      <p:sp>
        <p:nvSpPr>
          <p:cNvPr id="34" name="Text 32"/>
          <p:cNvSpPr/>
          <p:nvPr/>
        </p:nvSpPr>
        <p:spPr>
          <a:xfrm>
            <a:off x="4974336" y="5779008"/>
            <a:ext cx="1755648"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瀬崎</a:t>
            </a:r>
            <a:endParaRPr lang="en-US" sz="1300" dirty="0"/>
          </a:p>
        </p:txBody>
      </p:sp>
      <p:sp>
        <p:nvSpPr>
          <p:cNvPr id="35" name="Shape 33"/>
          <p:cNvSpPr/>
          <p:nvPr/>
        </p:nvSpPr>
        <p:spPr>
          <a:xfrm>
            <a:off x="7040880" y="5522976"/>
            <a:ext cx="2011680" cy="603504"/>
          </a:xfrm>
          <a:prstGeom prst="rect">
            <a:avLst/>
          </a:prstGeom>
          <a:solidFill>
            <a:srgbClr val="F5F3F1"/>
          </a:solidFill>
          <a:ln w="9525">
            <a:solidFill>
              <a:srgbClr val="DCD7D2"/>
            </a:solidFill>
            <a:prstDash val="solid"/>
          </a:ln>
        </p:spPr>
      </p:sp>
      <p:sp>
        <p:nvSpPr>
          <p:cNvPr id="36" name="Text 34"/>
          <p:cNvSpPr/>
          <p:nvPr/>
        </p:nvSpPr>
        <p:spPr>
          <a:xfrm>
            <a:off x="7168896" y="5577840"/>
            <a:ext cx="1755648" cy="182880"/>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調整</a:t>
            </a:r>
            <a:endParaRPr lang="en-US" sz="850" dirty="0"/>
          </a:p>
        </p:txBody>
      </p:sp>
      <p:sp>
        <p:nvSpPr>
          <p:cNvPr id="37" name="Text 35"/>
          <p:cNvSpPr/>
          <p:nvPr/>
        </p:nvSpPr>
        <p:spPr>
          <a:xfrm>
            <a:off x="7168896" y="5779008"/>
            <a:ext cx="1755648"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野上</a:t>
            </a:r>
            <a:endParaRPr lang="en-US" sz="1300" dirty="0"/>
          </a:p>
        </p:txBody>
      </p:sp>
      <p:sp>
        <p:nvSpPr>
          <p:cNvPr id="38" name="Text 36"/>
          <p:cNvSpPr/>
          <p:nvPr/>
        </p:nvSpPr>
        <p:spPr>
          <a:xfrm>
            <a:off x="9235440" y="5614416"/>
            <a:ext cx="2496312" cy="548640"/>
          </a:xfrm>
          <a:prstGeom prst="rect">
            <a:avLst/>
          </a:prstGeom>
          <a:noFill/>
          <a:ln/>
        </p:spPr>
        <p:txBody>
          <a:bodyPr wrap="square" lIns="0" tIns="0" rIns="0" bIns="0" rtlCol="0" anchor="ctr"/>
          <a:lstStyle/>
          <a:p>
            <a:pPr indent="0" marL="0">
              <a:buNone/>
            </a:pPr>
            <a:r>
              <a:rPr lang="en-US" sz="850" dirty="0">
                <a:solidFill>
                  <a:srgbClr val="8C2740"/>
                </a:solidFill>
                <a:latin typeface="Yu Gothic" pitchFamily="34" charset="0"/>
                <a:ea typeface="Yu Gothic" pitchFamily="34" charset="-122"/>
                <a:cs typeface="Yu Gothic" pitchFamily="34" charset="-120"/>
              </a:rPr>
              <a:t>所属が明記されているのは藤原氏（NDO）のみ。坂本・瀬崎・野上の各氏は工程表上に所属の記載がなく、要確認。</a:t>
            </a:r>
            <a:endParaRPr lang="en-US" sz="850" dirty="0"/>
          </a:p>
        </p:txBody>
      </p:sp>
      <p:sp>
        <p:nvSpPr>
          <p:cNvPr id="39" name="Text 37"/>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出典②：ノーツデザインオフィス「[B-0105・0106] THIERRY MARX 新装工事 工程表」2026年8月28日修正　　建設地の表記は工程表の住居表示。契約書上の地番は「東京都港区赤坂九丁目142番1他」。</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2026年7月 – 2027年5月</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全体工程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設計会社工程（設計・申請・B工事・C工事）に、契約・採用・開業準備を重ねた全体像。ひし形は期日が動かせない項目。</a:t>
            </a:r>
            <a:endParaRPr lang="en-US" sz="1050" dirty="0"/>
          </a:p>
        </p:txBody>
      </p:sp>
      <p:sp>
        <p:nvSpPr>
          <p:cNvPr id="5" name="Shape 3"/>
          <p:cNvSpPr/>
          <p:nvPr/>
        </p:nvSpPr>
        <p:spPr>
          <a:xfrm>
            <a:off x="2971800" y="1417320"/>
            <a:ext cx="0" cy="4206240"/>
          </a:xfrm>
          <a:prstGeom prst="line">
            <a:avLst/>
          </a:prstGeom>
          <a:noFill/>
          <a:ln w="9525">
            <a:solidFill>
              <a:srgbClr val="DCD7D2"/>
            </a:solidFill>
            <a:prstDash val="solid"/>
          </a:ln>
        </p:spPr>
      </p:sp>
      <p:sp>
        <p:nvSpPr>
          <p:cNvPr id="6" name="Text 4"/>
          <p:cNvSpPr/>
          <p:nvPr/>
        </p:nvSpPr>
        <p:spPr>
          <a:xfrm>
            <a:off x="3008376"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7月</a:t>
            </a:r>
            <a:endParaRPr lang="en-US" sz="900" dirty="0"/>
          </a:p>
        </p:txBody>
      </p:sp>
      <p:sp>
        <p:nvSpPr>
          <p:cNvPr id="7" name="Text 5"/>
          <p:cNvSpPr/>
          <p:nvPr/>
        </p:nvSpPr>
        <p:spPr>
          <a:xfrm>
            <a:off x="3008376" y="1581912"/>
            <a:ext cx="785874"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3812538" y="1417320"/>
            <a:ext cx="0" cy="4206240"/>
          </a:xfrm>
          <a:prstGeom prst="line">
            <a:avLst/>
          </a:prstGeom>
          <a:noFill/>
          <a:ln w="9525">
            <a:solidFill>
              <a:srgbClr val="DCD7D2"/>
            </a:solidFill>
            <a:prstDash val="solid"/>
          </a:ln>
        </p:spPr>
      </p:sp>
      <p:sp>
        <p:nvSpPr>
          <p:cNvPr id="9" name="Text 7"/>
          <p:cNvSpPr/>
          <p:nvPr/>
        </p:nvSpPr>
        <p:spPr>
          <a:xfrm>
            <a:off x="3849114"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10" name="Shape 8"/>
          <p:cNvSpPr/>
          <p:nvPr/>
        </p:nvSpPr>
        <p:spPr>
          <a:xfrm>
            <a:off x="4653277" y="1417320"/>
            <a:ext cx="0" cy="4206240"/>
          </a:xfrm>
          <a:prstGeom prst="line">
            <a:avLst/>
          </a:prstGeom>
          <a:noFill/>
          <a:ln w="9525">
            <a:solidFill>
              <a:srgbClr val="DCD7D2"/>
            </a:solidFill>
            <a:prstDash val="solid"/>
          </a:ln>
        </p:spPr>
      </p:sp>
      <p:sp>
        <p:nvSpPr>
          <p:cNvPr id="11" name="Text 9"/>
          <p:cNvSpPr/>
          <p:nvPr/>
        </p:nvSpPr>
        <p:spPr>
          <a:xfrm>
            <a:off x="4689853" y="1435608"/>
            <a:ext cx="75875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2" name="Shape 10"/>
          <p:cNvSpPr/>
          <p:nvPr/>
        </p:nvSpPr>
        <p:spPr>
          <a:xfrm>
            <a:off x="5466895" y="1417320"/>
            <a:ext cx="0" cy="4206240"/>
          </a:xfrm>
          <a:prstGeom prst="line">
            <a:avLst/>
          </a:prstGeom>
          <a:noFill/>
          <a:ln w="9525">
            <a:solidFill>
              <a:srgbClr val="DCD7D2"/>
            </a:solidFill>
            <a:prstDash val="solid"/>
          </a:ln>
        </p:spPr>
      </p:sp>
      <p:sp>
        <p:nvSpPr>
          <p:cNvPr id="13" name="Text 11"/>
          <p:cNvSpPr/>
          <p:nvPr/>
        </p:nvSpPr>
        <p:spPr>
          <a:xfrm>
            <a:off x="5503471"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4" name="Shape 12"/>
          <p:cNvSpPr/>
          <p:nvPr/>
        </p:nvSpPr>
        <p:spPr>
          <a:xfrm>
            <a:off x="6307633" y="1417320"/>
            <a:ext cx="0" cy="4206240"/>
          </a:xfrm>
          <a:prstGeom prst="line">
            <a:avLst/>
          </a:prstGeom>
          <a:noFill/>
          <a:ln w="9525">
            <a:solidFill>
              <a:srgbClr val="DCD7D2"/>
            </a:solidFill>
            <a:prstDash val="solid"/>
          </a:ln>
        </p:spPr>
      </p:sp>
      <p:sp>
        <p:nvSpPr>
          <p:cNvPr id="15" name="Text 13"/>
          <p:cNvSpPr/>
          <p:nvPr/>
        </p:nvSpPr>
        <p:spPr>
          <a:xfrm>
            <a:off x="6344209" y="1435608"/>
            <a:ext cx="75875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6" name="Shape 14"/>
          <p:cNvSpPr/>
          <p:nvPr/>
        </p:nvSpPr>
        <p:spPr>
          <a:xfrm>
            <a:off x="7121251" y="1417320"/>
            <a:ext cx="0" cy="4206240"/>
          </a:xfrm>
          <a:prstGeom prst="line">
            <a:avLst/>
          </a:prstGeom>
          <a:noFill/>
          <a:ln w="9525">
            <a:solidFill>
              <a:srgbClr val="DCD7D2"/>
            </a:solidFill>
            <a:prstDash val="solid"/>
          </a:ln>
        </p:spPr>
      </p:sp>
      <p:sp>
        <p:nvSpPr>
          <p:cNvPr id="17" name="Text 15"/>
          <p:cNvSpPr/>
          <p:nvPr/>
        </p:nvSpPr>
        <p:spPr>
          <a:xfrm>
            <a:off x="7157827"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8" name="Shape 16"/>
          <p:cNvSpPr/>
          <p:nvPr/>
        </p:nvSpPr>
        <p:spPr>
          <a:xfrm>
            <a:off x="7961989" y="1417320"/>
            <a:ext cx="0" cy="4206240"/>
          </a:xfrm>
          <a:prstGeom prst="line">
            <a:avLst/>
          </a:prstGeom>
          <a:noFill/>
          <a:ln w="12700">
            <a:solidFill>
              <a:srgbClr val="6E6866"/>
            </a:solidFill>
            <a:prstDash val="solid"/>
          </a:ln>
        </p:spPr>
      </p:sp>
      <p:sp>
        <p:nvSpPr>
          <p:cNvPr id="19" name="Text 17"/>
          <p:cNvSpPr/>
          <p:nvPr/>
        </p:nvSpPr>
        <p:spPr>
          <a:xfrm>
            <a:off x="7998565"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20" name="Text 18"/>
          <p:cNvSpPr/>
          <p:nvPr/>
        </p:nvSpPr>
        <p:spPr>
          <a:xfrm>
            <a:off x="7998565" y="1581912"/>
            <a:ext cx="785874"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21" name="Shape 19"/>
          <p:cNvSpPr/>
          <p:nvPr/>
        </p:nvSpPr>
        <p:spPr>
          <a:xfrm>
            <a:off x="8802728" y="1417320"/>
            <a:ext cx="0" cy="4206240"/>
          </a:xfrm>
          <a:prstGeom prst="line">
            <a:avLst/>
          </a:prstGeom>
          <a:noFill/>
          <a:ln w="9525">
            <a:solidFill>
              <a:srgbClr val="DCD7D2"/>
            </a:solidFill>
            <a:prstDash val="solid"/>
          </a:ln>
        </p:spPr>
      </p:sp>
      <p:sp>
        <p:nvSpPr>
          <p:cNvPr id="22" name="Text 20"/>
          <p:cNvSpPr/>
          <p:nvPr/>
        </p:nvSpPr>
        <p:spPr>
          <a:xfrm>
            <a:off x="8839304" y="1435608"/>
            <a:ext cx="704513"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3" name="Shape 21"/>
          <p:cNvSpPr/>
          <p:nvPr/>
        </p:nvSpPr>
        <p:spPr>
          <a:xfrm>
            <a:off x="9562104" y="1417320"/>
            <a:ext cx="0" cy="4206240"/>
          </a:xfrm>
          <a:prstGeom prst="line">
            <a:avLst/>
          </a:prstGeom>
          <a:noFill/>
          <a:ln w="9525">
            <a:solidFill>
              <a:srgbClr val="DCD7D2"/>
            </a:solidFill>
            <a:prstDash val="solid"/>
          </a:ln>
        </p:spPr>
      </p:sp>
      <p:sp>
        <p:nvSpPr>
          <p:cNvPr id="24" name="Text 22"/>
          <p:cNvSpPr/>
          <p:nvPr/>
        </p:nvSpPr>
        <p:spPr>
          <a:xfrm>
            <a:off x="9598680" y="1435608"/>
            <a:ext cx="7858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5" name="Shape 23"/>
          <p:cNvSpPr/>
          <p:nvPr/>
        </p:nvSpPr>
        <p:spPr>
          <a:xfrm>
            <a:off x="10402843" y="1417320"/>
            <a:ext cx="0" cy="4206240"/>
          </a:xfrm>
          <a:prstGeom prst="line">
            <a:avLst/>
          </a:prstGeom>
          <a:noFill/>
          <a:ln w="9525">
            <a:solidFill>
              <a:srgbClr val="DCD7D2"/>
            </a:solidFill>
            <a:prstDash val="solid"/>
          </a:ln>
        </p:spPr>
      </p:sp>
      <p:sp>
        <p:nvSpPr>
          <p:cNvPr id="26" name="Text 24"/>
          <p:cNvSpPr/>
          <p:nvPr/>
        </p:nvSpPr>
        <p:spPr>
          <a:xfrm>
            <a:off x="10439419" y="1435608"/>
            <a:ext cx="75875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27" name="Shape 25"/>
          <p:cNvSpPr/>
          <p:nvPr/>
        </p:nvSpPr>
        <p:spPr>
          <a:xfrm>
            <a:off x="11216461" y="1417320"/>
            <a:ext cx="0" cy="4206240"/>
          </a:xfrm>
          <a:prstGeom prst="line">
            <a:avLst/>
          </a:prstGeom>
          <a:noFill/>
          <a:ln w="9525">
            <a:solidFill>
              <a:srgbClr val="DCD7D2"/>
            </a:solidFill>
            <a:prstDash val="solid"/>
          </a:ln>
        </p:spPr>
      </p:sp>
      <p:sp>
        <p:nvSpPr>
          <p:cNvPr id="28" name="Text 26"/>
          <p:cNvSpPr/>
          <p:nvPr/>
        </p:nvSpPr>
        <p:spPr>
          <a:xfrm>
            <a:off x="11253037" y="1435608"/>
            <a:ext cx="46042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29" name="Shape 27"/>
          <p:cNvSpPr/>
          <p:nvPr/>
        </p:nvSpPr>
        <p:spPr>
          <a:xfrm>
            <a:off x="457200" y="1728216"/>
            <a:ext cx="11274552" cy="0"/>
          </a:xfrm>
          <a:prstGeom prst="line">
            <a:avLst/>
          </a:prstGeom>
          <a:noFill/>
          <a:ln w="9525">
            <a:solidFill>
              <a:srgbClr val="6E6866"/>
            </a:solidFill>
            <a:prstDash val="solid"/>
          </a:ln>
        </p:spPr>
      </p:sp>
      <p:sp>
        <p:nvSpPr>
          <p:cNvPr id="30" name="Shape 28"/>
          <p:cNvSpPr/>
          <p:nvPr/>
        </p:nvSpPr>
        <p:spPr>
          <a:xfrm>
            <a:off x="2971800" y="1417320"/>
            <a:ext cx="0" cy="4206240"/>
          </a:xfrm>
          <a:prstGeom prst="line">
            <a:avLst/>
          </a:prstGeom>
          <a:noFill/>
          <a:ln w="9525">
            <a:solidFill>
              <a:srgbClr val="6E6866"/>
            </a:solidFill>
            <a:prstDash val="solid"/>
          </a:ln>
        </p:spPr>
      </p:sp>
      <p:sp>
        <p:nvSpPr>
          <p:cNvPr id="31" name="Shape 29"/>
          <p:cNvSpPr/>
          <p:nvPr/>
        </p:nvSpPr>
        <p:spPr>
          <a:xfrm>
            <a:off x="11731752" y="1417320"/>
            <a:ext cx="0" cy="4206240"/>
          </a:xfrm>
          <a:prstGeom prst="line">
            <a:avLst/>
          </a:prstGeom>
          <a:noFill/>
          <a:ln w="9525">
            <a:solidFill>
              <a:srgbClr val="6E6866"/>
            </a:solidFill>
            <a:prstDash val="solid"/>
          </a:ln>
        </p:spPr>
      </p:sp>
      <p:sp>
        <p:nvSpPr>
          <p:cNvPr id="32" name="Shape 30"/>
          <p:cNvSpPr/>
          <p:nvPr/>
        </p:nvSpPr>
        <p:spPr>
          <a:xfrm>
            <a:off x="457200" y="1728216"/>
            <a:ext cx="11274552" cy="243459"/>
          </a:xfrm>
          <a:prstGeom prst="rect">
            <a:avLst/>
          </a:prstGeom>
          <a:solidFill>
            <a:srgbClr val="F5F3F1"/>
          </a:solidFill>
          <a:ln w="12700">
            <a:solidFill>
              <a:srgbClr val="F5F3F1"/>
            </a:solidFill>
            <a:prstDash val="solid"/>
          </a:ln>
        </p:spPr>
      </p:sp>
      <p:sp>
        <p:nvSpPr>
          <p:cNvPr id="33" name="Shape 31"/>
          <p:cNvSpPr/>
          <p:nvPr/>
        </p:nvSpPr>
        <p:spPr>
          <a:xfrm>
            <a:off x="530352" y="1808798"/>
            <a:ext cx="82296" cy="82296"/>
          </a:xfrm>
          <a:prstGeom prst="rect">
            <a:avLst/>
          </a:prstGeom>
          <a:solidFill>
            <a:srgbClr val="1B1A19"/>
          </a:solidFill>
          <a:ln w="12700">
            <a:solidFill>
              <a:srgbClr val="1B1A19"/>
            </a:solidFill>
            <a:prstDash val="solid"/>
          </a:ln>
        </p:spPr>
      </p:sp>
      <p:sp>
        <p:nvSpPr>
          <p:cNvPr id="34" name="Text 32"/>
          <p:cNvSpPr/>
          <p:nvPr/>
        </p:nvSpPr>
        <p:spPr>
          <a:xfrm>
            <a:off x="676656" y="1728216"/>
            <a:ext cx="2240280" cy="243459"/>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領域</a:t>
            </a:r>
            <a:endParaRPr lang="en-US" sz="1000" dirty="0"/>
          </a:p>
        </p:txBody>
      </p:sp>
      <p:sp>
        <p:nvSpPr>
          <p:cNvPr id="35" name="Text 33"/>
          <p:cNvSpPr/>
          <p:nvPr/>
        </p:nvSpPr>
        <p:spPr>
          <a:xfrm>
            <a:off x="548640" y="1971675"/>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設計（ノーツデザインオフィス）</a:t>
            </a:r>
            <a:endParaRPr lang="en-US" sz="950" dirty="0"/>
          </a:p>
        </p:txBody>
      </p:sp>
      <p:sp>
        <p:nvSpPr>
          <p:cNvPr id="36" name="Shape 34"/>
          <p:cNvSpPr/>
          <p:nvPr/>
        </p:nvSpPr>
        <p:spPr>
          <a:xfrm>
            <a:off x="3026041" y="2030105"/>
            <a:ext cx="2929024" cy="126599"/>
          </a:xfrm>
          <a:prstGeom prst="roundRect">
            <a:avLst>
              <a:gd name="adj" fmla="val 14446"/>
            </a:avLst>
          </a:prstGeom>
          <a:solidFill>
            <a:srgbClr val="9C6E28"/>
          </a:solidFill>
          <a:ln w="12700">
            <a:solidFill>
              <a:srgbClr val="9C6E28"/>
            </a:solidFill>
            <a:prstDash val="solid"/>
          </a:ln>
        </p:spPr>
      </p:sp>
      <p:sp>
        <p:nvSpPr>
          <p:cNvPr id="37" name="Shape 35"/>
          <p:cNvSpPr/>
          <p:nvPr/>
        </p:nvSpPr>
        <p:spPr>
          <a:xfrm>
            <a:off x="2994037" y="1998101"/>
            <a:ext cx="2993032" cy="190607"/>
          </a:xfrm>
          <a:prstGeom prst="roundRect">
            <a:avLst>
              <a:gd name="adj" fmla="val 9595"/>
            </a:avLst>
          </a:prstGeom>
          <a:solidFill>
            <a:srgbClr val="FFFFFF">
              <a:alpha val="0"/>
            </a:srgbClr>
          </a:solidFill>
          <a:ln w="12700">
            <a:solidFill>
              <a:srgbClr val="9C6E28"/>
            </a:solidFill>
            <a:prstDash val="solid"/>
          </a:ln>
        </p:spPr>
      </p:sp>
      <p:sp>
        <p:nvSpPr>
          <p:cNvPr id="38" name="Text 36"/>
          <p:cNvSpPr/>
          <p:nvPr/>
        </p:nvSpPr>
        <p:spPr>
          <a:xfrm>
            <a:off x="3080905" y="1971675"/>
            <a:ext cx="2819296"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7/3 – 10/19</a:t>
            </a:r>
            <a:endParaRPr lang="en-US" sz="800" dirty="0"/>
          </a:p>
        </p:txBody>
      </p:sp>
      <p:sp>
        <p:nvSpPr>
          <p:cNvPr id="39" name="Text 37"/>
          <p:cNvSpPr/>
          <p:nvPr/>
        </p:nvSpPr>
        <p:spPr>
          <a:xfrm>
            <a:off x="548640" y="2215134"/>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ビル側確認・B工事見積（TMM）</a:t>
            </a:r>
            <a:endParaRPr lang="en-US" sz="950" dirty="0"/>
          </a:p>
        </p:txBody>
      </p:sp>
      <p:sp>
        <p:nvSpPr>
          <p:cNvPr id="40" name="Shape 38"/>
          <p:cNvSpPr/>
          <p:nvPr/>
        </p:nvSpPr>
        <p:spPr>
          <a:xfrm>
            <a:off x="4327830" y="2273564"/>
            <a:ext cx="1952683" cy="126599"/>
          </a:xfrm>
          <a:prstGeom prst="roundRect">
            <a:avLst>
              <a:gd name="adj" fmla="val 14446"/>
            </a:avLst>
          </a:prstGeom>
          <a:solidFill>
            <a:srgbClr val="2C4A6E"/>
          </a:solidFill>
          <a:ln w="12700">
            <a:solidFill>
              <a:srgbClr val="2C4A6E"/>
            </a:solidFill>
            <a:prstDash val="solid"/>
          </a:ln>
        </p:spPr>
      </p:sp>
      <p:sp>
        <p:nvSpPr>
          <p:cNvPr id="41" name="Shape 39"/>
          <p:cNvSpPr/>
          <p:nvPr/>
        </p:nvSpPr>
        <p:spPr>
          <a:xfrm>
            <a:off x="4295826" y="2241560"/>
            <a:ext cx="2016691" cy="190607"/>
          </a:xfrm>
          <a:prstGeom prst="roundRect">
            <a:avLst>
              <a:gd name="adj" fmla="val 9595"/>
            </a:avLst>
          </a:prstGeom>
          <a:solidFill>
            <a:srgbClr val="FFFFFF">
              <a:alpha val="0"/>
            </a:srgbClr>
          </a:solidFill>
          <a:ln w="12700">
            <a:solidFill>
              <a:srgbClr val="2C4A6E"/>
            </a:solidFill>
            <a:prstDash val="solid"/>
          </a:ln>
        </p:spPr>
      </p:sp>
      <p:sp>
        <p:nvSpPr>
          <p:cNvPr id="42" name="Text 40"/>
          <p:cNvSpPr/>
          <p:nvPr/>
        </p:nvSpPr>
        <p:spPr>
          <a:xfrm>
            <a:off x="4382694" y="2215134"/>
            <a:ext cx="1842955"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8/20 – 10/31</a:t>
            </a:r>
            <a:endParaRPr lang="en-US" sz="800" dirty="0"/>
          </a:p>
        </p:txBody>
      </p:sp>
      <p:sp>
        <p:nvSpPr>
          <p:cNvPr id="43" name="Text 41"/>
          <p:cNvSpPr/>
          <p:nvPr/>
        </p:nvSpPr>
        <p:spPr>
          <a:xfrm>
            <a:off x="548640" y="2458593"/>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申請・届出</a:t>
            </a:r>
            <a:endParaRPr lang="en-US" sz="950" dirty="0"/>
          </a:p>
        </p:txBody>
      </p:sp>
      <p:sp>
        <p:nvSpPr>
          <p:cNvPr id="44" name="Shape 42"/>
          <p:cNvSpPr/>
          <p:nvPr/>
        </p:nvSpPr>
        <p:spPr>
          <a:xfrm>
            <a:off x="6388995" y="2517023"/>
            <a:ext cx="1735718" cy="126599"/>
          </a:xfrm>
          <a:prstGeom prst="roundRect">
            <a:avLst>
              <a:gd name="adj" fmla="val 14446"/>
            </a:avLst>
          </a:prstGeom>
          <a:solidFill>
            <a:srgbClr val="9C6E28"/>
          </a:solidFill>
          <a:ln w="12700">
            <a:solidFill>
              <a:srgbClr val="9C6E28"/>
            </a:solidFill>
            <a:prstDash val="solid"/>
          </a:ln>
        </p:spPr>
      </p:sp>
      <p:sp>
        <p:nvSpPr>
          <p:cNvPr id="45" name="Text 43"/>
          <p:cNvSpPr/>
          <p:nvPr/>
        </p:nvSpPr>
        <p:spPr>
          <a:xfrm>
            <a:off x="6443859" y="2458593"/>
            <a:ext cx="1625990"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11/4 – 1/7</a:t>
            </a:r>
            <a:endParaRPr lang="en-US" sz="800" dirty="0"/>
          </a:p>
        </p:txBody>
      </p:sp>
      <p:sp>
        <p:nvSpPr>
          <p:cNvPr id="46" name="Text 44"/>
          <p:cNvSpPr/>
          <p:nvPr/>
        </p:nvSpPr>
        <p:spPr>
          <a:xfrm>
            <a:off x="548640" y="2702052"/>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分電盤（長納期品）</a:t>
            </a:r>
            <a:endParaRPr lang="en-US" sz="950" dirty="0"/>
          </a:p>
        </p:txBody>
      </p:sp>
      <p:sp>
        <p:nvSpPr>
          <p:cNvPr id="47" name="Shape 45"/>
          <p:cNvSpPr/>
          <p:nvPr/>
        </p:nvSpPr>
        <p:spPr>
          <a:xfrm>
            <a:off x="5141448" y="2760482"/>
            <a:ext cx="3851124" cy="126599"/>
          </a:xfrm>
          <a:prstGeom prst="roundRect">
            <a:avLst>
              <a:gd name="adj" fmla="val 14446"/>
            </a:avLst>
          </a:prstGeom>
          <a:solidFill>
            <a:srgbClr val="8C2740"/>
          </a:solidFill>
          <a:ln w="12700">
            <a:solidFill>
              <a:srgbClr val="8C2740"/>
            </a:solidFill>
            <a:prstDash val="solid"/>
          </a:ln>
        </p:spPr>
      </p:sp>
      <p:sp>
        <p:nvSpPr>
          <p:cNvPr id="48" name="Text 46"/>
          <p:cNvSpPr/>
          <p:nvPr/>
        </p:nvSpPr>
        <p:spPr>
          <a:xfrm>
            <a:off x="5196312" y="2702052"/>
            <a:ext cx="3741396"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9/19 – 2/8</a:t>
            </a:r>
            <a:endParaRPr lang="en-US" sz="800" dirty="0"/>
          </a:p>
        </p:txBody>
      </p:sp>
      <p:sp>
        <p:nvSpPr>
          <p:cNvPr id="49" name="Text 47"/>
          <p:cNvSpPr/>
          <p:nvPr/>
        </p:nvSpPr>
        <p:spPr>
          <a:xfrm>
            <a:off x="548640" y="2945511"/>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B工事（準備〜施工）</a:t>
            </a:r>
            <a:endParaRPr lang="en-US" sz="950" dirty="0"/>
          </a:p>
        </p:txBody>
      </p:sp>
      <p:sp>
        <p:nvSpPr>
          <p:cNvPr id="50" name="Shape 48"/>
          <p:cNvSpPr/>
          <p:nvPr/>
        </p:nvSpPr>
        <p:spPr>
          <a:xfrm>
            <a:off x="7609422" y="3003941"/>
            <a:ext cx="1627236" cy="126599"/>
          </a:xfrm>
          <a:prstGeom prst="roundRect">
            <a:avLst>
              <a:gd name="adj" fmla="val 14446"/>
            </a:avLst>
          </a:prstGeom>
          <a:solidFill>
            <a:srgbClr val="8C2740"/>
          </a:solidFill>
          <a:ln w="12700">
            <a:solidFill>
              <a:srgbClr val="8C2740"/>
            </a:solidFill>
            <a:prstDash val="solid"/>
          </a:ln>
        </p:spPr>
      </p:sp>
      <p:sp>
        <p:nvSpPr>
          <p:cNvPr id="51" name="Text 49"/>
          <p:cNvSpPr/>
          <p:nvPr/>
        </p:nvSpPr>
        <p:spPr>
          <a:xfrm>
            <a:off x="7664286" y="2945511"/>
            <a:ext cx="1517508"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12/19 – 2/17</a:t>
            </a:r>
            <a:endParaRPr lang="en-US" sz="800" dirty="0"/>
          </a:p>
        </p:txBody>
      </p:sp>
      <p:sp>
        <p:nvSpPr>
          <p:cNvPr id="52" name="Text 50"/>
          <p:cNvSpPr/>
          <p:nvPr/>
        </p:nvSpPr>
        <p:spPr>
          <a:xfrm>
            <a:off x="548640" y="3188970"/>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C工事（株式会社ディコン）</a:t>
            </a:r>
            <a:endParaRPr lang="en-US" sz="950" dirty="0"/>
          </a:p>
        </p:txBody>
      </p:sp>
      <p:sp>
        <p:nvSpPr>
          <p:cNvPr id="53" name="Shape 51"/>
          <p:cNvSpPr/>
          <p:nvPr/>
        </p:nvSpPr>
        <p:spPr>
          <a:xfrm>
            <a:off x="9263778" y="3247400"/>
            <a:ext cx="1600115" cy="126599"/>
          </a:xfrm>
          <a:prstGeom prst="roundRect">
            <a:avLst>
              <a:gd name="adj" fmla="val 14446"/>
            </a:avLst>
          </a:prstGeom>
          <a:solidFill>
            <a:srgbClr val="8C2740"/>
          </a:solidFill>
          <a:ln w="12700">
            <a:solidFill>
              <a:srgbClr val="8C2740"/>
            </a:solidFill>
            <a:prstDash val="solid"/>
          </a:ln>
        </p:spPr>
      </p:sp>
      <p:sp>
        <p:nvSpPr>
          <p:cNvPr id="54" name="Text 52"/>
          <p:cNvSpPr/>
          <p:nvPr/>
        </p:nvSpPr>
        <p:spPr>
          <a:xfrm>
            <a:off x="9318642" y="3188970"/>
            <a:ext cx="1490387"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2/18 – 4/18</a:t>
            </a:r>
            <a:endParaRPr lang="en-US" sz="800" dirty="0"/>
          </a:p>
        </p:txBody>
      </p:sp>
      <p:sp>
        <p:nvSpPr>
          <p:cNvPr id="55" name="Text 53"/>
          <p:cNvSpPr/>
          <p:nvPr/>
        </p:nvSpPr>
        <p:spPr>
          <a:xfrm>
            <a:off x="548640" y="3432429"/>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採用・組織</a:t>
            </a:r>
            <a:endParaRPr lang="en-US" sz="950" dirty="0"/>
          </a:p>
        </p:txBody>
      </p:sp>
      <p:sp>
        <p:nvSpPr>
          <p:cNvPr id="56" name="Shape 54"/>
          <p:cNvSpPr/>
          <p:nvPr/>
        </p:nvSpPr>
        <p:spPr>
          <a:xfrm>
            <a:off x="3812538" y="3490859"/>
            <a:ext cx="6563184" cy="126599"/>
          </a:xfrm>
          <a:prstGeom prst="roundRect">
            <a:avLst>
              <a:gd name="adj" fmla="val 14446"/>
            </a:avLst>
          </a:prstGeom>
          <a:solidFill>
            <a:srgbClr val="4E6B54"/>
          </a:solidFill>
          <a:ln w="12700">
            <a:solidFill>
              <a:srgbClr val="4E6B54"/>
            </a:solidFill>
            <a:prstDash val="solid"/>
          </a:ln>
        </p:spPr>
      </p:sp>
      <p:sp>
        <p:nvSpPr>
          <p:cNvPr id="57" name="Shape 55"/>
          <p:cNvSpPr/>
          <p:nvPr/>
        </p:nvSpPr>
        <p:spPr>
          <a:xfrm>
            <a:off x="3780534" y="3458855"/>
            <a:ext cx="6627192" cy="190607"/>
          </a:xfrm>
          <a:prstGeom prst="roundRect">
            <a:avLst>
              <a:gd name="adj" fmla="val 9595"/>
            </a:avLst>
          </a:prstGeom>
          <a:solidFill>
            <a:srgbClr val="FFFFFF">
              <a:alpha val="0"/>
            </a:srgbClr>
          </a:solidFill>
          <a:ln w="12700">
            <a:solidFill>
              <a:srgbClr val="4E6B54"/>
            </a:solidFill>
            <a:prstDash val="solid"/>
          </a:ln>
        </p:spPr>
      </p:sp>
      <p:sp>
        <p:nvSpPr>
          <p:cNvPr id="58" name="Text 56"/>
          <p:cNvSpPr/>
          <p:nvPr/>
        </p:nvSpPr>
        <p:spPr>
          <a:xfrm>
            <a:off x="3867402" y="3432429"/>
            <a:ext cx="6453456"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3/31</a:t>
            </a:r>
            <a:endParaRPr lang="en-US" sz="800" dirty="0"/>
          </a:p>
        </p:txBody>
      </p:sp>
      <p:sp>
        <p:nvSpPr>
          <p:cNvPr id="59" name="Text 57"/>
          <p:cNvSpPr/>
          <p:nvPr/>
        </p:nvSpPr>
        <p:spPr>
          <a:xfrm>
            <a:off x="548640" y="3675888"/>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開業準備</a:t>
            </a:r>
            <a:endParaRPr lang="en-US" sz="950" dirty="0"/>
          </a:p>
        </p:txBody>
      </p:sp>
      <p:sp>
        <p:nvSpPr>
          <p:cNvPr id="60" name="Shape 58"/>
          <p:cNvSpPr/>
          <p:nvPr/>
        </p:nvSpPr>
        <p:spPr>
          <a:xfrm>
            <a:off x="6307633" y="3734318"/>
            <a:ext cx="4881707" cy="126599"/>
          </a:xfrm>
          <a:prstGeom prst="roundRect">
            <a:avLst>
              <a:gd name="adj" fmla="val 14446"/>
            </a:avLst>
          </a:prstGeom>
          <a:solidFill>
            <a:srgbClr val="6B4A72"/>
          </a:solidFill>
          <a:ln w="12700">
            <a:solidFill>
              <a:srgbClr val="6B4A72"/>
            </a:solidFill>
            <a:prstDash val="solid"/>
          </a:ln>
        </p:spPr>
      </p:sp>
      <p:sp>
        <p:nvSpPr>
          <p:cNvPr id="61" name="Text 59"/>
          <p:cNvSpPr/>
          <p:nvPr/>
        </p:nvSpPr>
        <p:spPr>
          <a:xfrm>
            <a:off x="6362497" y="3675888"/>
            <a:ext cx="4771979" cy="2434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4/30</a:t>
            </a:r>
            <a:endParaRPr lang="en-US" sz="800" dirty="0"/>
          </a:p>
        </p:txBody>
      </p:sp>
      <p:sp>
        <p:nvSpPr>
          <p:cNvPr id="62" name="Shape 60"/>
          <p:cNvSpPr/>
          <p:nvPr/>
        </p:nvSpPr>
        <p:spPr>
          <a:xfrm>
            <a:off x="457200" y="3919347"/>
            <a:ext cx="11274552" cy="243459"/>
          </a:xfrm>
          <a:prstGeom prst="rect">
            <a:avLst/>
          </a:prstGeom>
          <a:solidFill>
            <a:srgbClr val="F5F3F1"/>
          </a:solidFill>
          <a:ln w="12700">
            <a:solidFill>
              <a:srgbClr val="F5F3F1"/>
            </a:solidFill>
            <a:prstDash val="solid"/>
          </a:ln>
        </p:spPr>
      </p:sp>
      <p:sp>
        <p:nvSpPr>
          <p:cNvPr id="63" name="Shape 61"/>
          <p:cNvSpPr/>
          <p:nvPr/>
        </p:nvSpPr>
        <p:spPr>
          <a:xfrm>
            <a:off x="530352" y="3999928"/>
            <a:ext cx="82296" cy="82296"/>
          </a:xfrm>
          <a:prstGeom prst="rect">
            <a:avLst/>
          </a:prstGeom>
          <a:solidFill>
            <a:srgbClr val="8C2740"/>
          </a:solidFill>
          <a:ln w="12700">
            <a:solidFill>
              <a:srgbClr val="8C2740"/>
            </a:solidFill>
            <a:prstDash val="solid"/>
          </a:ln>
        </p:spPr>
      </p:sp>
      <p:sp>
        <p:nvSpPr>
          <p:cNvPr id="64" name="Text 62"/>
          <p:cNvSpPr/>
          <p:nvPr/>
        </p:nvSpPr>
        <p:spPr>
          <a:xfrm>
            <a:off x="676656" y="3919347"/>
            <a:ext cx="2240280" cy="243459"/>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マイルストーン</a:t>
            </a:r>
            <a:endParaRPr lang="en-US" sz="1000" dirty="0"/>
          </a:p>
        </p:txBody>
      </p:sp>
      <p:sp>
        <p:nvSpPr>
          <p:cNvPr id="65" name="Text 63"/>
          <p:cNvSpPr/>
          <p:nvPr/>
        </p:nvSpPr>
        <p:spPr>
          <a:xfrm>
            <a:off x="548640" y="4162806"/>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定期建物賃貸借契約 締結</a:t>
            </a:r>
            <a:endParaRPr lang="en-US" sz="950" dirty="0"/>
          </a:p>
        </p:txBody>
      </p:sp>
      <p:sp>
        <p:nvSpPr>
          <p:cNvPr id="66" name="Shape 64"/>
          <p:cNvSpPr/>
          <p:nvPr/>
        </p:nvSpPr>
        <p:spPr>
          <a:xfrm>
            <a:off x="4593841" y="4225100"/>
            <a:ext cx="118872" cy="118872"/>
          </a:xfrm>
          <a:prstGeom prst="diamond">
            <a:avLst/>
          </a:prstGeom>
          <a:solidFill>
            <a:srgbClr val="2C4A6E"/>
          </a:solidFill>
          <a:ln w="12700">
            <a:solidFill>
              <a:srgbClr val="2C4A6E"/>
            </a:solidFill>
            <a:prstDash val="solid"/>
          </a:ln>
        </p:spPr>
      </p:sp>
      <p:sp>
        <p:nvSpPr>
          <p:cNvPr id="67" name="Text 65"/>
          <p:cNvSpPr/>
          <p:nvPr/>
        </p:nvSpPr>
        <p:spPr>
          <a:xfrm>
            <a:off x="4758433" y="4162806"/>
            <a:ext cx="786384" cy="243459"/>
          </a:xfrm>
          <a:prstGeom prst="rect">
            <a:avLst/>
          </a:prstGeom>
          <a:noFill/>
          <a:ln/>
        </p:spPr>
        <p:txBody>
          <a:bodyPr wrap="square" lIns="0" tIns="0" rIns="0" bIns="0" rtlCol="0" anchor="ctr"/>
          <a:lstStyle/>
          <a:p>
            <a:pPr algn="l" indent="0" marL="0">
              <a:buNone/>
            </a:pPr>
            <a:r>
              <a:rPr lang="en-US" sz="900" b="1" dirty="0">
                <a:solidFill>
                  <a:srgbClr val="2C4A6E"/>
                </a:solidFill>
                <a:latin typeface="Arial" pitchFamily="34" charset="0"/>
                <a:ea typeface="Arial" pitchFamily="34" charset="-122"/>
                <a:cs typeface="Arial" pitchFamily="34" charset="-120"/>
              </a:rPr>
              <a:t>9/1</a:t>
            </a:r>
            <a:endParaRPr lang="en-US" sz="900" dirty="0"/>
          </a:p>
        </p:txBody>
      </p:sp>
      <p:sp>
        <p:nvSpPr>
          <p:cNvPr id="68" name="Text 66"/>
          <p:cNvSpPr/>
          <p:nvPr/>
        </p:nvSpPr>
        <p:spPr>
          <a:xfrm>
            <a:off x="548640" y="4406265"/>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B工事 見積・金額合意</a:t>
            </a:r>
            <a:endParaRPr lang="en-US" sz="950" dirty="0"/>
          </a:p>
        </p:txBody>
      </p:sp>
      <p:sp>
        <p:nvSpPr>
          <p:cNvPr id="69" name="Shape 67"/>
          <p:cNvSpPr/>
          <p:nvPr/>
        </p:nvSpPr>
        <p:spPr>
          <a:xfrm>
            <a:off x="6221077" y="4468558"/>
            <a:ext cx="118872" cy="118872"/>
          </a:xfrm>
          <a:prstGeom prst="diamond">
            <a:avLst/>
          </a:prstGeom>
          <a:solidFill>
            <a:srgbClr val="2C4A6E"/>
          </a:solidFill>
          <a:ln w="12700">
            <a:solidFill>
              <a:srgbClr val="2C4A6E"/>
            </a:solidFill>
            <a:prstDash val="solid"/>
          </a:ln>
        </p:spPr>
      </p:sp>
      <p:sp>
        <p:nvSpPr>
          <p:cNvPr id="70" name="Text 68"/>
          <p:cNvSpPr/>
          <p:nvPr/>
        </p:nvSpPr>
        <p:spPr>
          <a:xfrm>
            <a:off x="6385669" y="4406265"/>
            <a:ext cx="786384" cy="243459"/>
          </a:xfrm>
          <a:prstGeom prst="rect">
            <a:avLst/>
          </a:prstGeom>
          <a:noFill/>
          <a:ln/>
        </p:spPr>
        <p:txBody>
          <a:bodyPr wrap="square" lIns="0" tIns="0" rIns="0" bIns="0" rtlCol="0" anchor="ctr"/>
          <a:lstStyle/>
          <a:p>
            <a:pPr algn="l" indent="0" marL="0">
              <a:buNone/>
            </a:pPr>
            <a:r>
              <a:rPr lang="en-US" sz="900" b="1" dirty="0">
                <a:solidFill>
                  <a:srgbClr val="2C4A6E"/>
                </a:solidFill>
                <a:latin typeface="Arial" pitchFamily="34" charset="0"/>
                <a:ea typeface="Arial" pitchFamily="34" charset="-122"/>
                <a:cs typeface="Arial" pitchFamily="34" charset="-120"/>
              </a:rPr>
              <a:t>10/31</a:t>
            </a:r>
            <a:endParaRPr lang="en-US" sz="900" dirty="0"/>
          </a:p>
        </p:txBody>
      </p:sp>
      <p:sp>
        <p:nvSpPr>
          <p:cNvPr id="71" name="Text 69"/>
          <p:cNvSpPr/>
          <p:nvPr/>
        </p:nvSpPr>
        <p:spPr>
          <a:xfrm>
            <a:off x="548640" y="4649724"/>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着工（工程表ヘッダー）</a:t>
            </a:r>
            <a:endParaRPr lang="en-US" sz="950" dirty="0"/>
          </a:p>
        </p:txBody>
      </p:sp>
      <p:sp>
        <p:nvSpPr>
          <p:cNvPr id="72" name="Shape 70"/>
          <p:cNvSpPr/>
          <p:nvPr/>
        </p:nvSpPr>
        <p:spPr>
          <a:xfrm>
            <a:off x="8987377" y="4712017"/>
            <a:ext cx="118872" cy="118872"/>
          </a:xfrm>
          <a:prstGeom prst="diamond">
            <a:avLst/>
          </a:prstGeom>
          <a:solidFill>
            <a:srgbClr val="8C2740"/>
          </a:solidFill>
          <a:ln w="12700">
            <a:solidFill>
              <a:srgbClr val="8C2740"/>
            </a:solidFill>
            <a:prstDash val="solid"/>
          </a:ln>
        </p:spPr>
      </p:sp>
      <p:sp>
        <p:nvSpPr>
          <p:cNvPr id="73" name="Text 71"/>
          <p:cNvSpPr/>
          <p:nvPr/>
        </p:nvSpPr>
        <p:spPr>
          <a:xfrm>
            <a:off x="9151969" y="4649724"/>
            <a:ext cx="786384" cy="243459"/>
          </a:xfrm>
          <a:prstGeom prst="rect">
            <a:avLst/>
          </a:prstGeom>
          <a:noFill/>
          <a:ln/>
        </p:spPr>
        <p:txBody>
          <a:bodyPr wrap="square" lIns="0" tIns="0" rIns="0" bIns="0" rtlCol="0" anchor="ctr"/>
          <a:lstStyle/>
          <a:p>
            <a:pPr algn="l" indent="0" marL="0">
              <a:buNone/>
            </a:pPr>
            <a:r>
              <a:rPr lang="en-US" sz="900" b="1" dirty="0">
                <a:solidFill>
                  <a:srgbClr val="8C2740"/>
                </a:solidFill>
                <a:latin typeface="Arial" pitchFamily="34" charset="0"/>
                <a:ea typeface="Arial" pitchFamily="34" charset="-122"/>
                <a:cs typeface="Arial" pitchFamily="34" charset="-120"/>
              </a:rPr>
              <a:t>2/10</a:t>
            </a:r>
            <a:endParaRPr lang="en-US" sz="900" dirty="0"/>
          </a:p>
        </p:txBody>
      </p:sp>
      <p:sp>
        <p:nvSpPr>
          <p:cNvPr id="74" name="Text 72"/>
          <p:cNvSpPr/>
          <p:nvPr/>
        </p:nvSpPr>
        <p:spPr>
          <a:xfrm>
            <a:off x="548640" y="4893183"/>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物件 引渡（契約書）</a:t>
            </a:r>
            <a:endParaRPr lang="en-US" sz="950" dirty="0"/>
          </a:p>
        </p:txBody>
      </p:sp>
      <p:sp>
        <p:nvSpPr>
          <p:cNvPr id="75" name="Shape 73"/>
          <p:cNvSpPr/>
          <p:nvPr/>
        </p:nvSpPr>
        <p:spPr>
          <a:xfrm>
            <a:off x="9122980" y="4955477"/>
            <a:ext cx="118872" cy="118872"/>
          </a:xfrm>
          <a:prstGeom prst="diamond">
            <a:avLst/>
          </a:prstGeom>
          <a:solidFill>
            <a:srgbClr val="8C2740"/>
          </a:solidFill>
          <a:ln w="12700">
            <a:solidFill>
              <a:srgbClr val="8C2740"/>
            </a:solidFill>
            <a:prstDash val="solid"/>
          </a:ln>
        </p:spPr>
      </p:sp>
      <p:sp>
        <p:nvSpPr>
          <p:cNvPr id="76" name="Text 74"/>
          <p:cNvSpPr/>
          <p:nvPr/>
        </p:nvSpPr>
        <p:spPr>
          <a:xfrm>
            <a:off x="9287572" y="4893183"/>
            <a:ext cx="786384" cy="243459"/>
          </a:xfrm>
          <a:prstGeom prst="rect">
            <a:avLst/>
          </a:prstGeom>
          <a:noFill/>
          <a:ln/>
        </p:spPr>
        <p:txBody>
          <a:bodyPr wrap="square" lIns="0" tIns="0" rIns="0" bIns="0" rtlCol="0" anchor="ctr"/>
          <a:lstStyle/>
          <a:p>
            <a:pPr algn="l" indent="0" marL="0">
              <a:buNone/>
            </a:pPr>
            <a:r>
              <a:rPr lang="en-US" sz="900" b="1" dirty="0">
                <a:solidFill>
                  <a:srgbClr val="8C2740"/>
                </a:solidFill>
                <a:latin typeface="Arial" pitchFamily="34" charset="0"/>
                <a:ea typeface="Arial" pitchFamily="34" charset="-122"/>
                <a:cs typeface="Arial" pitchFamily="34" charset="-120"/>
              </a:rPr>
              <a:t>2/15</a:t>
            </a:r>
            <a:endParaRPr lang="en-US" sz="900" dirty="0"/>
          </a:p>
        </p:txBody>
      </p:sp>
      <p:sp>
        <p:nvSpPr>
          <p:cNvPr id="77" name="Text 75"/>
          <p:cNvSpPr/>
          <p:nvPr/>
        </p:nvSpPr>
        <p:spPr>
          <a:xfrm>
            <a:off x="548640" y="5136642"/>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竣工</a:t>
            </a:r>
            <a:endParaRPr lang="en-US" sz="950" dirty="0"/>
          </a:p>
        </p:txBody>
      </p:sp>
      <p:sp>
        <p:nvSpPr>
          <p:cNvPr id="78" name="Shape 76"/>
          <p:cNvSpPr/>
          <p:nvPr/>
        </p:nvSpPr>
        <p:spPr>
          <a:xfrm>
            <a:off x="10723095" y="5198935"/>
            <a:ext cx="118872" cy="118872"/>
          </a:xfrm>
          <a:prstGeom prst="diamond">
            <a:avLst/>
          </a:prstGeom>
          <a:solidFill>
            <a:srgbClr val="8C2740"/>
          </a:solidFill>
          <a:ln w="12700">
            <a:solidFill>
              <a:srgbClr val="8C2740"/>
            </a:solidFill>
            <a:prstDash val="solid"/>
          </a:ln>
        </p:spPr>
      </p:sp>
      <p:sp>
        <p:nvSpPr>
          <p:cNvPr id="79" name="Text 77"/>
          <p:cNvSpPr/>
          <p:nvPr/>
        </p:nvSpPr>
        <p:spPr>
          <a:xfrm>
            <a:off x="9868131" y="5136642"/>
            <a:ext cx="786384" cy="243459"/>
          </a:xfrm>
          <a:prstGeom prst="rect">
            <a:avLst/>
          </a:prstGeom>
          <a:noFill/>
          <a:ln/>
        </p:spPr>
        <p:txBody>
          <a:bodyPr wrap="square" lIns="0" tIns="0" rIns="0" bIns="0" rtlCol="0" anchor="ctr"/>
          <a:lstStyle/>
          <a:p>
            <a:pPr algn="r" indent="0" marL="0">
              <a:buNone/>
            </a:pPr>
            <a:r>
              <a:rPr lang="en-US" sz="900" b="1" dirty="0">
                <a:solidFill>
                  <a:srgbClr val="8C2740"/>
                </a:solidFill>
                <a:latin typeface="Arial" pitchFamily="34" charset="0"/>
                <a:ea typeface="Arial" pitchFamily="34" charset="-122"/>
                <a:cs typeface="Arial" pitchFamily="34" charset="-120"/>
              </a:rPr>
              <a:t>4/15</a:t>
            </a:r>
            <a:endParaRPr lang="en-US" sz="900" dirty="0"/>
          </a:p>
        </p:txBody>
      </p:sp>
      <p:sp>
        <p:nvSpPr>
          <p:cNvPr id="80" name="Text 78"/>
          <p:cNvSpPr/>
          <p:nvPr/>
        </p:nvSpPr>
        <p:spPr>
          <a:xfrm>
            <a:off x="548640" y="5380101"/>
            <a:ext cx="2350008" cy="2434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グランドオープン</a:t>
            </a:r>
            <a:endParaRPr lang="en-US" sz="950" dirty="0"/>
          </a:p>
        </p:txBody>
      </p:sp>
      <p:sp>
        <p:nvSpPr>
          <p:cNvPr id="81" name="Shape 79"/>
          <p:cNvSpPr/>
          <p:nvPr/>
        </p:nvSpPr>
        <p:spPr>
          <a:xfrm>
            <a:off x="11129904" y="5442394"/>
            <a:ext cx="118872" cy="118872"/>
          </a:xfrm>
          <a:prstGeom prst="diamond">
            <a:avLst/>
          </a:prstGeom>
          <a:solidFill>
            <a:srgbClr val="6B4A72"/>
          </a:solidFill>
          <a:ln w="12700">
            <a:solidFill>
              <a:srgbClr val="6B4A72"/>
            </a:solidFill>
            <a:prstDash val="solid"/>
          </a:ln>
        </p:spPr>
      </p:sp>
      <p:sp>
        <p:nvSpPr>
          <p:cNvPr id="82" name="Text 80"/>
          <p:cNvSpPr/>
          <p:nvPr/>
        </p:nvSpPr>
        <p:spPr>
          <a:xfrm>
            <a:off x="10274940" y="5380101"/>
            <a:ext cx="786384" cy="243459"/>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4/30</a:t>
            </a:r>
            <a:endParaRPr lang="en-US" sz="900" dirty="0"/>
          </a:p>
        </p:txBody>
      </p:sp>
      <p:sp>
        <p:nvSpPr>
          <p:cNvPr id="83" name="Shape 81"/>
          <p:cNvSpPr/>
          <p:nvPr/>
        </p:nvSpPr>
        <p:spPr>
          <a:xfrm>
            <a:off x="4544794" y="1417320"/>
            <a:ext cx="0" cy="4206240"/>
          </a:xfrm>
          <a:prstGeom prst="line">
            <a:avLst/>
          </a:prstGeom>
          <a:noFill/>
          <a:ln w="12700">
            <a:solidFill>
              <a:srgbClr val="1B1A19"/>
            </a:solidFill>
            <a:prstDash val="dash"/>
          </a:ln>
        </p:spPr>
      </p:sp>
      <p:sp>
        <p:nvSpPr>
          <p:cNvPr id="84" name="Text 82"/>
          <p:cNvSpPr/>
          <p:nvPr/>
        </p:nvSpPr>
        <p:spPr>
          <a:xfrm>
            <a:off x="4590514"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85" name="Shape 83"/>
          <p:cNvSpPr/>
          <p:nvPr/>
        </p:nvSpPr>
        <p:spPr>
          <a:xfrm>
            <a:off x="457200" y="5829300"/>
            <a:ext cx="146304" cy="68580"/>
          </a:xfrm>
          <a:prstGeom prst="rect">
            <a:avLst/>
          </a:prstGeom>
          <a:solidFill>
            <a:srgbClr val="9C6E28"/>
          </a:solidFill>
          <a:ln w="12700">
            <a:solidFill>
              <a:srgbClr val="9C6E28"/>
            </a:solidFill>
            <a:prstDash val="solid"/>
          </a:ln>
        </p:spPr>
      </p:sp>
      <p:sp>
        <p:nvSpPr>
          <p:cNvPr id="86" name="Text 84"/>
          <p:cNvSpPr/>
          <p:nvPr/>
        </p:nvSpPr>
        <p:spPr>
          <a:xfrm>
            <a:off x="65836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設計・申請</a:t>
            </a:r>
            <a:endParaRPr lang="en-US" sz="850" dirty="0"/>
          </a:p>
        </p:txBody>
      </p:sp>
      <p:sp>
        <p:nvSpPr>
          <p:cNvPr id="87" name="Shape 85"/>
          <p:cNvSpPr/>
          <p:nvPr/>
        </p:nvSpPr>
        <p:spPr>
          <a:xfrm>
            <a:off x="1920240" y="5829300"/>
            <a:ext cx="146304" cy="68580"/>
          </a:xfrm>
          <a:prstGeom prst="rect">
            <a:avLst/>
          </a:prstGeom>
          <a:solidFill>
            <a:srgbClr val="2C4A6E"/>
          </a:solidFill>
          <a:ln w="12700">
            <a:solidFill>
              <a:srgbClr val="2C4A6E"/>
            </a:solidFill>
            <a:prstDash val="solid"/>
          </a:ln>
        </p:spPr>
      </p:sp>
      <p:sp>
        <p:nvSpPr>
          <p:cNvPr id="88" name="Text 86"/>
          <p:cNvSpPr/>
          <p:nvPr/>
        </p:nvSpPr>
        <p:spPr>
          <a:xfrm>
            <a:off x="212140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ビル側協議</a:t>
            </a:r>
            <a:endParaRPr lang="en-US" sz="850" dirty="0"/>
          </a:p>
        </p:txBody>
      </p:sp>
      <p:sp>
        <p:nvSpPr>
          <p:cNvPr id="89" name="Shape 87"/>
          <p:cNvSpPr/>
          <p:nvPr/>
        </p:nvSpPr>
        <p:spPr>
          <a:xfrm>
            <a:off x="3383280" y="5829300"/>
            <a:ext cx="146304" cy="68580"/>
          </a:xfrm>
          <a:prstGeom prst="rect">
            <a:avLst/>
          </a:prstGeom>
          <a:solidFill>
            <a:srgbClr val="8C2740"/>
          </a:solidFill>
          <a:ln w="12700">
            <a:solidFill>
              <a:srgbClr val="8C2740"/>
            </a:solidFill>
            <a:prstDash val="solid"/>
          </a:ln>
        </p:spPr>
      </p:sp>
      <p:sp>
        <p:nvSpPr>
          <p:cNvPr id="90" name="Text 88"/>
          <p:cNvSpPr/>
          <p:nvPr/>
        </p:nvSpPr>
        <p:spPr>
          <a:xfrm>
            <a:off x="358444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工事</a:t>
            </a:r>
            <a:endParaRPr lang="en-US" sz="850" dirty="0"/>
          </a:p>
        </p:txBody>
      </p:sp>
      <p:sp>
        <p:nvSpPr>
          <p:cNvPr id="91" name="Shape 89"/>
          <p:cNvSpPr/>
          <p:nvPr/>
        </p:nvSpPr>
        <p:spPr>
          <a:xfrm>
            <a:off x="4846320" y="5829300"/>
            <a:ext cx="146304" cy="68580"/>
          </a:xfrm>
          <a:prstGeom prst="rect">
            <a:avLst/>
          </a:prstGeom>
          <a:solidFill>
            <a:srgbClr val="4E6B54"/>
          </a:solidFill>
          <a:ln w="12700">
            <a:solidFill>
              <a:srgbClr val="4E6B54"/>
            </a:solidFill>
            <a:prstDash val="solid"/>
          </a:ln>
        </p:spPr>
      </p:sp>
      <p:sp>
        <p:nvSpPr>
          <p:cNvPr id="92" name="Text 90"/>
          <p:cNvSpPr/>
          <p:nvPr/>
        </p:nvSpPr>
        <p:spPr>
          <a:xfrm>
            <a:off x="504748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採用・組織</a:t>
            </a:r>
            <a:endParaRPr lang="en-US" sz="850" dirty="0"/>
          </a:p>
        </p:txBody>
      </p:sp>
      <p:sp>
        <p:nvSpPr>
          <p:cNvPr id="93" name="Shape 91"/>
          <p:cNvSpPr/>
          <p:nvPr/>
        </p:nvSpPr>
        <p:spPr>
          <a:xfrm>
            <a:off x="6309360" y="5829300"/>
            <a:ext cx="146304" cy="68580"/>
          </a:xfrm>
          <a:prstGeom prst="rect">
            <a:avLst/>
          </a:prstGeom>
          <a:solidFill>
            <a:srgbClr val="6B4A72"/>
          </a:solidFill>
          <a:ln w="12700">
            <a:solidFill>
              <a:srgbClr val="6B4A72"/>
            </a:solidFill>
            <a:prstDash val="solid"/>
          </a:ln>
        </p:spPr>
      </p:sp>
      <p:sp>
        <p:nvSpPr>
          <p:cNvPr id="94" name="Text 92"/>
          <p:cNvSpPr/>
          <p:nvPr/>
        </p:nvSpPr>
        <p:spPr>
          <a:xfrm>
            <a:off x="651052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開業準備</a:t>
            </a:r>
            <a:endParaRPr lang="en-US" sz="850" dirty="0"/>
          </a:p>
        </p:txBody>
      </p:sp>
      <p:sp>
        <p:nvSpPr>
          <p:cNvPr id="95" name="Shape 93"/>
          <p:cNvSpPr/>
          <p:nvPr/>
        </p:nvSpPr>
        <p:spPr>
          <a:xfrm>
            <a:off x="7772400" y="5811012"/>
            <a:ext cx="91440" cy="91440"/>
          </a:xfrm>
          <a:prstGeom prst="diamond">
            <a:avLst/>
          </a:prstGeom>
          <a:solidFill>
            <a:srgbClr val="1B1A19"/>
          </a:solidFill>
          <a:ln w="12700">
            <a:solidFill>
              <a:srgbClr val="1B1A19"/>
            </a:solidFill>
            <a:prstDash val="solid"/>
          </a:ln>
        </p:spPr>
      </p:sp>
      <p:sp>
        <p:nvSpPr>
          <p:cNvPr id="96" name="Text 94"/>
          <p:cNvSpPr/>
          <p:nvPr/>
        </p:nvSpPr>
        <p:spPr>
          <a:xfrm>
            <a:off x="7973568" y="5779008"/>
            <a:ext cx="120700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確定期日</a:t>
            </a:r>
            <a:endParaRPr lang="en-US" sz="850" dirty="0"/>
          </a:p>
        </p:txBody>
      </p:sp>
      <p:sp>
        <p:nvSpPr>
          <p:cNvPr id="97" name="Text 95"/>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出典①：営業と出店に関する契約書（定期建物賃貸借契約書）（案）契約番号 90238-2047-000／賃貸人 三井不動産株式会社・賃借人 株式会社WineBank　　出典②：ノーツデザインオフィス「[B-0105・0106] THIERRY MARX 新装工事 工程表」2026年8月28日修正</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2026年7月 – 2027年2月</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フェーズ① 設計・申請・契約 ─ 年内にB工事の金額と負担区分を確定させる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上2ブロックは設計会社工程からの転記。B工事の金額合意が10/31に前倒しされたことで、賃貸人負担額の覚書も年内に締結できる。</a:t>
            </a:r>
            <a:endParaRPr lang="en-US" sz="1050" dirty="0"/>
          </a:p>
        </p:txBody>
      </p:sp>
      <p:sp>
        <p:nvSpPr>
          <p:cNvPr id="5" name="Shape 3"/>
          <p:cNvSpPr/>
          <p:nvPr/>
        </p:nvSpPr>
        <p:spPr>
          <a:xfrm>
            <a:off x="3520440" y="1417320"/>
            <a:ext cx="0" cy="4663440"/>
          </a:xfrm>
          <a:prstGeom prst="line">
            <a:avLst/>
          </a:prstGeom>
          <a:noFill/>
          <a:ln w="9525">
            <a:solidFill>
              <a:srgbClr val="DCD7D2"/>
            </a:solidFill>
            <a:prstDash val="solid"/>
          </a:ln>
        </p:spPr>
      </p:sp>
      <p:sp>
        <p:nvSpPr>
          <p:cNvPr id="6" name="Text 4"/>
          <p:cNvSpPr/>
          <p:nvPr/>
        </p:nvSpPr>
        <p:spPr>
          <a:xfrm>
            <a:off x="3557016" y="1435608"/>
            <a:ext cx="9969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7月</a:t>
            </a:r>
            <a:endParaRPr lang="en-US" sz="900" dirty="0"/>
          </a:p>
        </p:txBody>
      </p:sp>
      <p:sp>
        <p:nvSpPr>
          <p:cNvPr id="7" name="Text 5"/>
          <p:cNvSpPr/>
          <p:nvPr/>
        </p:nvSpPr>
        <p:spPr>
          <a:xfrm>
            <a:off x="3557016" y="1581912"/>
            <a:ext cx="99699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572302" y="1417320"/>
            <a:ext cx="0" cy="4663440"/>
          </a:xfrm>
          <a:prstGeom prst="line">
            <a:avLst/>
          </a:prstGeom>
          <a:noFill/>
          <a:ln w="9525">
            <a:solidFill>
              <a:srgbClr val="DCD7D2"/>
            </a:solidFill>
            <a:prstDash val="solid"/>
          </a:ln>
        </p:spPr>
      </p:sp>
      <p:sp>
        <p:nvSpPr>
          <p:cNvPr id="9" name="Text 7"/>
          <p:cNvSpPr/>
          <p:nvPr/>
        </p:nvSpPr>
        <p:spPr>
          <a:xfrm>
            <a:off x="4608878" y="1435608"/>
            <a:ext cx="9969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10" name="Shape 8"/>
          <p:cNvSpPr/>
          <p:nvPr/>
        </p:nvSpPr>
        <p:spPr>
          <a:xfrm>
            <a:off x="5624165" y="1417320"/>
            <a:ext cx="0" cy="4663440"/>
          </a:xfrm>
          <a:prstGeom prst="line">
            <a:avLst/>
          </a:prstGeom>
          <a:noFill/>
          <a:ln w="9525">
            <a:solidFill>
              <a:srgbClr val="DCD7D2"/>
            </a:solidFill>
            <a:prstDash val="solid"/>
          </a:ln>
        </p:spPr>
      </p:sp>
      <p:sp>
        <p:nvSpPr>
          <p:cNvPr id="11" name="Text 9"/>
          <p:cNvSpPr/>
          <p:nvPr/>
        </p:nvSpPr>
        <p:spPr>
          <a:xfrm>
            <a:off x="5660741" y="1435608"/>
            <a:ext cx="96306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2" name="Shape 10"/>
          <p:cNvSpPr/>
          <p:nvPr/>
        </p:nvSpPr>
        <p:spPr>
          <a:xfrm>
            <a:off x="6642096" y="1417320"/>
            <a:ext cx="0" cy="4663440"/>
          </a:xfrm>
          <a:prstGeom prst="line">
            <a:avLst/>
          </a:prstGeom>
          <a:noFill/>
          <a:ln w="9525">
            <a:solidFill>
              <a:srgbClr val="DCD7D2"/>
            </a:solidFill>
            <a:prstDash val="solid"/>
          </a:ln>
        </p:spPr>
      </p:sp>
      <p:sp>
        <p:nvSpPr>
          <p:cNvPr id="13" name="Text 11"/>
          <p:cNvSpPr/>
          <p:nvPr/>
        </p:nvSpPr>
        <p:spPr>
          <a:xfrm>
            <a:off x="6678672" y="1435608"/>
            <a:ext cx="9969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4" name="Shape 12"/>
          <p:cNvSpPr/>
          <p:nvPr/>
        </p:nvSpPr>
        <p:spPr>
          <a:xfrm>
            <a:off x="7693958" y="1417320"/>
            <a:ext cx="0" cy="4663440"/>
          </a:xfrm>
          <a:prstGeom prst="line">
            <a:avLst/>
          </a:prstGeom>
          <a:noFill/>
          <a:ln w="9525">
            <a:solidFill>
              <a:srgbClr val="DCD7D2"/>
            </a:solidFill>
            <a:prstDash val="solid"/>
          </a:ln>
        </p:spPr>
      </p:sp>
      <p:sp>
        <p:nvSpPr>
          <p:cNvPr id="15" name="Text 13"/>
          <p:cNvSpPr/>
          <p:nvPr/>
        </p:nvSpPr>
        <p:spPr>
          <a:xfrm>
            <a:off x="7730534" y="1435608"/>
            <a:ext cx="96306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6" name="Shape 14"/>
          <p:cNvSpPr/>
          <p:nvPr/>
        </p:nvSpPr>
        <p:spPr>
          <a:xfrm>
            <a:off x="8711889" y="1417320"/>
            <a:ext cx="0" cy="4663440"/>
          </a:xfrm>
          <a:prstGeom prst="line">
            <a:avLst/>
          </a:prstGeom>
          <a:noFill/>
          <a:ln w="9525">
            <a:solidFill>
              <a:srgbClr val="DCD7D2"/>
            </a:solidFill>
            <a:prstDash val="solid"/>
          </a:ln>
        </p:spPr>
      </p:sp>
      <p:sp>
        <p:nvSpPr>
          <p:cNvPr id="17" name="Text 15"/>
          <p:cNvSpPr/>
          <p:nvPr/>
        </p:nvSpPr>
        <p:spPr>
          <a:xfrm>
            <a:off x="8748465" y="1435608"/>
            <a:ext cx="9969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8" name="Shape 16"/>
          <p:cNvSpPr/>
          <p:nvPr/>
        </p:nvSpPr>
        <p:spPr>
          <a:xfrm>
            <a:off x="9763752" y="1417320"/>
            <a:ext cx="0" cy="4663440"/>
          </a:xfrm>
          <a:prstGeom prst="line">
            <a:avLst/>
          </a:prstGeom>
          <a:noFill/>
          <a:ln w="12700">
            <a:solidFill>
              <a:srgbClr val="6E6866"/>
            </a:solidFill>
            <a:prstDash val="solid"/>
          </a:ln>
        </p:spPr>
      </p:sp>
      <p:sp>
        <p:nvSpPr>
          <p:cNvPr id="19" name="Text 17"/>
          <p:cNvSpPr/>
          <p:nvPr/>
        </p:nvSpPr>
        <p:spPr>
          <a:xfrm>
            <a:off x="9800328" y="1435608"/>
            <a:ext cx="9969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20" name="Text 18"/>
          <p:cNvSpPr/>
          <p:nvPr/>
        </p:nvSpPr>
        <p:spPr>
          <a:xfrm>
            <a:off x="9800328" y="1581912"/>
            <a:ext cx="99699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21" name="Shape 19"/>
          <p:cNvSpPr/>
          <p:nvPr/>
        </p:nvSpPr>
        <p:spPr>
          <a:xfrm>
            <a:off x="10815614" y="1417320"/>
            <a:ext cx="0" cy="4663440"/>
          </a:xfrm>
          <a:prstGeom prst="line">
            <a:avLst/>
          </a:prstGeom>
          <a:noFill/>
          <a:ln w="9525">
            <a:solidFill>
              <a:srgbClr val="DCD7D2"/>
            </a:solidFill>
            <a:prstDash val="solid"/>
          </a:ln>
        </p:spPr>
      </p:sp>
      <p:sp>
        <p:nvSpPr>
          <p:cNvPr id="22" name="Text 20"/>
          <p:cNvSpPr/>
          <p:nvPr/>
        </p:nvSpPr>
        <p:spPr>
          <a:xfrm>
            <a:off x="10852190" y="1435608"/>
            <a:ext cx="86127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3" name="Shape 21"/>
          <p:cNvSpPr/>
          <p:nvPr/>
        </p:nvSpPr>
        <p:spPr>
          <a:xfrm>
            <a:off x="457200" y="1728216"/>
            <a:ext cx="11274552" cy="0"/>
          </a:xfrm>
          <a:prstGeom prst="line">
            <a:avLst/>
          </a:prstGeom>
          <a:noFill/>
          <a:ln w="9525">
            <a:solidFill>
              <a:srgbClr val="6E6866"/>
            </a:solidFill>
            <a:prstDash val="solid"/>
          </a:ln>
        </p:spPr>
      </p:sp>
      <p:sp>
        <p:nvSpPr>
          <p:cNvPr id="24" name="Shape 22"/>
          <p:cNvSpPr/>
          <p:nvPr/>
        </p:nvSpPr>
        <p:spPr>
          <a:xfrm>
            <a:off x="3520440" y="1417320"/>
            <a:ext cx="0" cy="4663440"/>
          </a:xfrm>
          <a:prstGeom prst="line">
            <a:avLst/>
          </a:prstGeom>
          <a:noFill/>
          <a:ln w="9525">
            <a:solidFill>
              <a:srgbClr val="6E6866"/>
            </a:solidFill>
            <a:prstDash val="solid"/>
          </a:ln>
        </p:spPr>
      </p:sp>
      <p:sp>
        <p:nvSpPr>
          <p:cNvPr id="25" name="Shape 23"/>
          <p:cNvSpPr/>
          <p:nvPr/>
        </p:nvSpPr>
        <p:spPr>
          <a:xfrm>
            <a:off x="11731752" y="1417320"/>
            <a:ext cx="0" cy="4663440"/>
          </a:xfrm>
          <a:prstGeom prst="line">
            <a:avLst/>
          </a:prstGeom>
          <a:noFill/>
          <a:ln w="9525">
            <a:solidFill>
              <a:srgbClr val="6E6866"/>
            </a:solidFill>
            <a:prstDash val="solid"/>
          </a:ln>
        </p:spPr>
      </p:sp>
      <p:sp>
        <p:nvSpPr>
          <p:cNvPr id="26" name="Shape 24"/>
          <p:cNvSpPr/>
          <p:nvPr/>
        </p:nvSpPr>
        <p:spPr>
          <a:xfrm>
            <a:off x="457200" y="1728216"/>
            <a:ext cx="11274552" cy="272034"/>
          </a:xfrm>
          <a:prstGeom prst="rect">
            <a:avLst/>
          </a:prstGeom>
          <a:solidFill>
            <a:srgbClr val="F5F3F1"/>
          </a:solidFill>
          <a:ln w="12700">
            <a:solidFill>
              <a:srgbClr val="F5F3F1"/>
            </a:solidFill>
            <a:prstDash val="solid"/>
          </a:ln>
        </p:spPr>
      </p:sp>
      <p:sp>
        <p:nvSpPr>
          <p:cNvPr id="27" name="Shape 25"/>
          <p:cNvSpPr/>
          <p:nvPr/>
        </p:nvSpPr>
        <p:spPr>
          <a:xfrm>
            <a:off x="530352" y="1823085"/>
            <a:ext cx="82296" cy="82296"/>
          </a:xfrm>
          <a:prstGeom prst="rect">
            <a:avLst/>
          </a:prstGeom>
          <a:solidFill>
            <a:srgbClr val="9C6E28"/>
          </a:solidFill>
          <a:ln w="12700">
            <a:solidFill>
              <a:srgbClr val="9C6E28"/>
            </a:solidFill>
            <a:prstDash val="solid"/>
          </a:ln>
        </p:spPr>
      </p:sp>
      <p:sp>
        <p:nvSpPr>
          <p:cNvPr id="28" name="Text 26"/>
          <p:cNvSpPr/>
          <p:nvPr/>
        </p:nvSpPr>
        <p:spPr>
          <a:xfrm>
            <a:off x="676656" y="1728216"/>
            <a:ext cx="27889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設計（ノーツデザインオフィス）</a:t>
            </a:r>
            <a:endParaRPr lang="en-US" sz="1000" dirty="0"/>
          </a:p>
        </p:txBody>
      </p:sp>
      <p:sp>
        <p:nvSpPr>
          <p:cNvPr id="29" name="Text 27"/>
          <p:cNvSpPr/>
          <p:nvPr/>
        </p:nvSpPr>
        <p:spPr>
          <a:xfrm>
            <a:off x="548640" y="2000250"/>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基本設計</a:t>
            </a:r>
            <a:endParaRPr lang="en-US" sz="950" dirty="0"/>
          </a:p>
        </p:txBody>
      </p:sp>
      <p:sp>
        <p:nvSpPr>
          <p:cNvPr id="30" name="Shape 28"/>
          <p:cNvSpPr/>
          <p:nvPr/>
        </p:nvSpPr>
        <p:spPr>
          <a:xfrm>
            <a:off x="3588302" y="2067687"/>
            <a:ext cx="1628690" cy="137160"/>
          </a:xfrm>
          <a:prstGeom prst="roundRect">
            <a:avLst>
              <a:gd name="adj" fmla="val 13333"/>
            </a:avLst>
          </a:prstGeom>
          <a:solidFill>
            <a:srgbClr val="9C6E28"/>
          </a:solidFill>
          <a:ln w="12700">
            <a:solidFill>
              <a:srgbClr val="9C6E28"/>
            </a:solidFill>
            <a:prstDash val="solid"/>
          </a:ln>
        </p:spPr>
      </p:sp>
      <p:sp>
        <p:nvSpPr>
          <p:cNvPr id="31" name="Text 29"/>
          <p:cNvSpPr/>
          <p:nvPr/>
        </p:nvSpPr>
        <p:spPr>
          <a:xfrm>
            <a:off x="3643166" y="2000250"/>
            <a:ext cx="1518962"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7/3 – 8/20</a:t>
            </a:r>
            <a:endParaRPr lang="en-US" sz="800" dirty="0"/>
          </a:p>
        </p:txBody>
      </p:sp>
      <p:sp>
        <p:nvSpPr>
          <p:cNvPr id="32" name="Text 30"/>
          <p:cNvSpPr/>
          <p:nvPr/>
        </p:nvSpPr>
        <p:spPr>
          <a:xfrm>
            <a:off x="548640" y="227228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実施設計</a:t>
            </a:r>
            <a:endParaRPr lang="en-US" sz="950" dirty="0"/>
          </a:p>
        </p:txBody>
      </p:sp>
      <p:sp>
        <p:nvSpPr>
          <p:cNvPr id="33" name="Shape 31"/>
          <p:cNvSpPr/>
          <p:nvPr/>
        </p:nvSpPr>
        <p:spPr>
          <a:xfrm>
            <a:off x="6234923" y="2339721"/>
            <a:ext cx="1017931" cy="137160"/>
          </a:xfrm>
          <a:prstGeom prst="roundRect">
            <a:avLst>
              <a:gd name="adj" fmla="val 13333"/>
            </a:avLst>
          </a:prstGeom>
          <a:solidFill>
            <a:srgbClr val="9C6E28"/>
          </a:solidFill>
          <a:ln w="12700">
            <a:solidFill>
              <a:srgbClr val="9C6E28"/>
            </a:solidFill>
            <a:prstDash val="solid"/>
          </a:ln>
        </p:spPr>
      </p:sp>
      <p:sp>
        <p:nvSpPr>
          <p:cNvPr id="34" name="Text 32"/>
          <p:cNvSpPr/>
          <p:nvPr/>
        </p:nvSpPr>
        <p:spPr>
          <a:xfrm>
            <a:off x="6289787" y="2272284"/>
            <a:ext cx="908203"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9/19 – 10/19</a:t>
            </a:r>
            <a:endParaRPr lang="en-US" sz="800" dirty="0"/>
          </a:p>
        </p:txBody>
      </p:sp>
      <p:sp>
        <p:nvSpPr>
          <p:cNvPr id="35" name="Text 33"/>
          <p:cNvSpPr/>
          <p:nvPr/>
        </p:nvSpPr>
        <p:spPr>
          <a:xfrm>
            <a:off x="548640" y="254431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防火防災管理者の選任</a:t>
            </a:r>
            <a:endParaRPr lang="en-US" sz="950" dirty="0"/>
          </a:p>
        </p:txBody>
      </p:sp>
      <p:sp>
        <p:nvSpPr>
          <p:cNvPr id="36" name="Shape 34"/>
          <p:cNvSpPr/>
          <p:nvPr/>
        </p:nvSpPr>
        <p:spPr>
          <a:xfrm>
            <a:off x="7795751" y="2611755"/>
            <a:ext cx="1017931" cy="137160"/>
          </a:xfrm>
          <a:prstGeom prst="roundRect">
            <a:avLst>
              <a:gd name="adj" fmla="val 13333"/>
            </a:avLst>
          </a:prstGeom>
          <a:solidFill>
            <a:srgbClr val="9C6E28"/>
          </a:solidFill>
          <a:ln w="12700">
            <a:solidFill>
              <a:srgbClr val="9C6E28"/>
            </a:solidFill>
            <a:prstDash val="solid"/>
          </a:ln>
        </p:spPr>
      </p:sp>
      <p:sp>
        <p:nvSpPr>
          <p:cNvPr id="37" name="Text 35"/>
          <p:cNvSpPr/>
          <p:nvPr/>
        </p:nvSpPr>
        <p:spPr>
          <a:xfrm>
            <a:off x="7850615" y="2544318"/>
            <a:ext cx="908203"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11/4 – 12/4</a:t>
            </a:r>
            <a:endParaRPr lang="en-US" sz="800" dirty="0"/>
          </a:p>
        </p:txBody>
      </p:sp>
      <p:sp>
        <p:nvSpPr>
          <p:cNvPr id="38" name="Text 36"/>
          <p:cNvSpPr/>
          <p:nvPr/>
        </p:nvSpPr>
        <p:spPr>
          <a:xfrm>
            <a:off x="548640" y="2816352"/>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TMM書類提出</a:t>
            </a:r>
            <a:endParaRPr lang="en-US" sz="950" dirty="0"/>
          </a:p>
        </p:txBody>
      </p:sp>
      <p:sp>
        <p:nvSpPr>
          <p:cNvPr id="39" name="Shape 37"/>
          <p:cNvSpPr/>
          <p:nvPr/>
        </p:nvSpPr>
        <p:spPr>
          <a:xfrm>
            <a:off x="8745820" y="2883789"/>
            <a:ext cx="542897" cy="137160"/>
          </a:xfrm>
          <a:prstGeom prst="roundRect">
            <a:avLst>
              <a:gd name="adj" fmla="val 13333"/>
            </a:avLst>
          </a:prstGeom>
          <a:solidFill>
            <a:srgbClr val="9C6E28"/>
          </a:solidFill>
          <a:ln w="12700">
            <a:solidFill>
              <a:srgbClr val="9C6E28"/>
            </a:solidFill>
            <a:prstDash val="solid"/>
          </a:ln>
        </p:spPr>
      </p:sp>
      <p:sp>
        <p:nvSpPr>
          <p:cNvPr id="40" name="Text 38"/>
          <p:cNvSpPr/>
          <p:nvPr/>
        </p:nvSpPr>
        <p:spPr>
          <a:xfrm>
            <a:off x="9334437" y="2816352"/>
            <a:ext cx="896112" cy="272034"/>
          </a:xfrm>
          <a:prstGeom prst="rect">
            <a:avLst/>
          </a:prstGeom>
          <a:noFill/>
          <a:ln/>
        </p:spPr>
        <p:txBody>
          <a:bodyPr wrap="square" lIns="0" tIns="0" rIns="0" bIns="0" rtlCol="0" anchor="ctr"/>
          <a:lstStyle/>
          <a:p>
            <a:pPr algn="l" indent="0" marL="0">
              <a:buNone/>
            </a:pPr>
            <a:r>
              <a:rPr lang="en-US" sz="800" dirty="0">
                <a:solidFill>
                  <a:srgbClr val="6E6866"/>
                </a:solidFill>
                <a:latin typeface="Arial" pitchFamily="34" charset="0"/>
                <a:ea typeface="Arial" pitchFamily="34" charset="-122"/>
                <a:cs typeface="Arial" pitchFamily="34" charset="-120"/>
              </a:rPr>
              <a:t>12/2 – 12/18</a:t>
            </a:r>
            <a:endParaRPr lang="en-US" sz="800" dirty="0"/>
          </a:p>
        </p:txBody>
      </p:sp>
      <p:sp>
        <p:nvSpPr>
          <p:cNvPr id="41" name="Text 39"/>
          <p:cNvSpPr/>
          <p:nvPr/>
        </p:nvSpPr>
        <p:spPr>
          <a:xfrm>
            <a:off x="548640" y="308838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官公庁書類提出</a:t>
            </a:r>
            <a:endParaRPr lang="en-US" sz="950" dirty="0"/>
          </a:p>
        </p:txBody>
      </p:sp>
      <p:sp>
        <p:nvSpPr>
          <p:cNvPr id="42" name="Shape 40"/>
          <p:cNvSpPr/>
          <p:nvPr/>
        </p:nvSpPr>
        <p:spPr>
          <a:xfrm>
            <a:off x="9424441" y="3155823"/>
            <a:ext cx="542897" cy="137160"/>
          </a:xfrm>
          <a:prstGeom prst="roundRect">
            <a:avLst>
              <a:gd name="adj" fmla="val 13333"/>
            </a:avLst>
          </a:prstGeom>
          <a:solidFill>
            <a:srgbClr val="9C6E28"/>
          </a:solidFill>
          <a:ln w="12700">
            <a:solidFill>
              <a:srgbClr val="9C6E28"/>
            </a:solidFill>
            <a:prstDash val="solid"/>
          </a:ln>
        </p:spPr>
      </p:sp>
      <p:sp>
        <p:nvSpPr>
          <p:cNvPr id="43" name="Text 41"/>
          <p:cNvSpPr/>
          <p:nvPr/>
        </p:nvSpPr>
        <p:spPr>
          <a:xfrm>
            <a:off x="10013058" y="3088386"/>
            <a:ext cx="896112" cy="272034"/>
          </a:xfrm>
          <a:prstGeom prst="rect">
            <a:avLst/>
          </a:prstGeom>
          <a:noFill/>
          <a:ln/>
        </p:spPr>
        <p:txBody>
          <a:bodyPr wrap="square" lIns="0" tIns="0" rIns="0" bIns="0" rtlCol="0" anchor="ctr"/>
          <a:lstStyle/>
          <a:p>
            <a:pPr algn="l" indent="0" marL="0">
              <a:buNone/>
            </a:pPr>
            <a:r>
              <a:rPr lang="en-US" sz="800" dirty="0">
                <a:solidFill>
                  <a:srgbClr val="6E6866"/>
                </a:solidFill>
                <a:latin typeface="Arial" pitchFamily="34" charset="0"/>
                <a:ea typeface="Arial" pitchFamily="34" charset="-122"/>
                <a:cs typeface="Arial" pitchFamily="34" charset="-120"/>
              </a:rPr>
              <a:t>12/22 – 1/7</a:t>
            </a:r>
            <a:endParaRPr lang="en-US" sz="800" dirty="0"/>
          </a:p>
        </p:txBody>
      </p:sp>
      <p:sp>
        <p:nvSpPr>
          <p:cNvPr id="44" name="Shape 42"/>
          <p:cNvSpPr/>
          <p:nvPr/>
        </p:nvSpPr>
        <p:spPr>
          <a:xfrm>
            <a:off x="457200" y="3360420"/>
            <a:ext cx="11274552" cy="272034"/>
          </a:xfrm>
          <a:prstGeom prst="rect">
            <a:avLst/>
          </a:prstGeom>
          <a:solidFill>
            <a:srgbClr val="F5F3F1"/>
          </a:solidFill>
          <a:ln w="12700">
            <a:solidFill>
              <a:srgbClr val="F5F3F1"/>
            </a:solidFill>
            <a:prstDash val="solid"/>
          </a:ln>
        </p:spPr>
      </p:sp>
      <p:sp>
        <p:nvSpPr>
          <p:cNvPr id="45" name="Shape 43"/>
          <p:cNvSpPr/>
          <p:nvPr/>
        </p:nvSpPr>
        <p:spPr>
          <a:xfrm>
            <a:off x="530352" y="3455289"/>
            <a:ext cx="82296" cy="82296"/>
          </a:xfrm>
          <a:prstGeom prst="rect">
            <a:avLst/>
          </a:prstGeom>
          <a:solidFill>
            <a:srgbClr val="2C4A6E"/>
          </a:solidFill>
          <a:ln w="12700">
            <a:solidFill>
              <a:srgbClr val="2C4A6E"/>
            </a:solidFill>
            <a:prstDash val="solid"/>
          </a:ln>
        </p:spPr>
      </p:sp>
      <p:sp>
        <p:nvSpPr>
          <p:cNvPr id="46" name="Text 44"/>
          <p:cNvSpPr/>
          <p:nvPr/>
        </p:nvSpPr>
        <p:spPr>
          <a:xfrm>
            <a:off x="676656" y="3360420"/>
            <a:ext cx="27889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東京ミッドタウンマネジメント</a:t>
            </a:r>
            <a:endParaRPr lang="en-US" sz="1000" dirty="0"/>
          </a:p>
        </p:txBody>
      </p:sp>
      <p:sp>
        <p:nvSpPr>
          <p:cNvPr id="47" name="Text 45"/>
          <p:cNvSpPr/>
          <p:nvPr/>
        </p:nvSpPr>
        <p:spPr>
          <a:xfrm>
            <a:off x="548640" y="363245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基本設計 ビル側内容確認</a:t>
            </a:r>
            <a:endParaRPr lang="en-US" sz="950" dirty="0"/>
          </a:p>
        </p:txBody>
      </p:sp>
      <p:sp>
        <p:nvSpPr>
          <p:cNvPr id="48" name="Shape 46"/>
          <p:cNvSpPr/>
          <p:nvPr/>
        </p:nvSpPr>
        <p:spPr>
          <a:xfrm>
            <a:off x="5216992" y="3699891"/>
            <a:ext cx="984000" cy="137160"/>
          </a:xfrm>
          <a:prstGeom prst="roundRect">
            <a:avLst>
              <a:gd name="adj" fmla="val 13333"/>
            </a:avLst>
          </a:prstGeom>
          <a:solidFill>
            <a:srgbClr val="2C4A6E"/>
          </a:solidFill>
          <a:ln w="12700">
            <a:solidFill>
              <a:srgbClr val="2C4A6E"/>
            </a:solidFill>
            <a:prstDash val="solid"/>
          </a:ln>
        </p:spPr>
      </p:sp>
      <p:sp>
        <p:nvSpPr>
          <p:cNvPr id="49" name="Shape 47"/>
          <p:cNvSpPr/>
          <p:nvPr/>
        </p:nvSpPr>
        <p:spPr>
          <a:xfrm>
            <a:off x="5184988" y="3667887"/>
            <a:ext cx="1048008" cy="201168"/>
          </a:xfrm>
          <a:prstGeom prst="roundRect">
            <a:avLst>
              <a:gd name="adj" fmla="val 9091"/>
            </a:avLst>
          </a:prstGeom>
          <a:solidFill>
            <a:srgbClr val="FFFFFF">
              <a:alpha val="0"/>
            </a:srgbClr>
          </a:solidFill>
          <a:ln w="12700">
            <a:solidFill>
              <a:srgbClr val="2C4A6E"/>
            </a:solidFill>
            <a:prstDash val="solid"/>
          </a:ln>
        </p:spPr>
      </p:sp>
      <p:sp>
        <p:nvSpPr>
          <p:cNvPr id="50" name="Text 48"/>
          <p:cNvSpPr/>
          <p:nvPr/>
        </p:nvSpPr>
        <p:spPr>
          <a:xfrm>
            <a:off x="5271856" y="3632454"/>
            <a:ext cx="874272"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8/20 – 9/18</a:t>
            </a:r>
            <a:endParaRPr lang="en-US" sz="800" dirty="0"/>
          </a:p>
        </p:txBody>
      </p:sp>
      <p:sp>
        <p:nvSpPr>
          <p:cNvPr id="51" name="Text 49"/>
          <p:cNvSpPr/>
          <p:nvPr/>
        </p:nvSpPr>
        <p:spPr>
          <a:xfrm>
            <a:off x="548640" y="390448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B工事 見積作成・金額合意</a:t>
            </a:r>
            <a:endParaRPr lang="en-US" sz="950" dirty="0"/>
          </a:p>
        </p:txBody>
      </p:sp>
      <p:sp>
        <p:nvSpPr>
          <p:cNvPr id="52" name="Shape 50"/>
          <p:cNvSpPr/>
          <p:nvPr/>
        </p:nvSpPr>
        <p:spPr>
          <a:xfrm>
            <a:off x="6234923" y="3971925"/>
            <a:ext cx="1425104" cy="137160"/>
          </a:xfrm>
          <a:prstGeom prst="roundRect">
            <a:avLst>
              <a:gd name="adj" fmla="val 13333"/>
            </a:avLst>
          </a:prstGeom>
          <a:solidFill>
            <a:srgbClr val="2C4A6E"/>
          </a:solidFill>
          <a:ln w="12700">
            <a:solidFill>
              <a:srgbClr val="2C4A6E"/>
            </a:solidFill>
            <a:prstDash val="solid"/>
          </a:ln>
        </p:spPr>
      </p:sp>
      <p:sp>
        <p:nvSpPr>
          <p:cNvPr id="53" name="Text 51"/>
          <p:cNvSpPr/>
          <p:nvPr/>
        </p:nvSpPr>
        <p:spPr>
          <a:xfrm>
            <a:off x="6289787" y="3904488"/>
            <a:ext cx="1315376"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9/19 – 10/31</a:t>
            </a:r>
            <a:endParaRPr lang="en-US" sz="800" dirty="0"/>
          </a:p>
        </p:txBody>
      </p:sp>
      <p:sp>
        <p:nvSpPr>
          <p:cNvPr id="54" name="Shape 52"/>
          <p:cNvSpPr/>
          <p:nvPr/>
        </p:nvSpPr>
        <p:spPr>
          <a:xfrm>
            <a:off x="457200" y="4176522"/>
            <a:ext cx="11274552" cy="272034"/>
          </a:xfrm>
          <a:prstGeom prst="rect">
            <a:avLst/>
          </a:prstGeom>
          <a:solidFill>
            <a:srgbClr val="F5F3F1"/>
          </a:solidFill>
          <a:ln w="12700">
            <a:solidFill>
              <a:srgbClr val="F5F3F1"/>
            </a:solidFill>
            <a:prstDash val="solid"/>
          </a:ln>
        </p:spPr>
      </p:sp>
      <p:sp>
        <p:nvSpPr>
          <p:cNvPr id="55" name="Shape 53"/>
          <p:cNvSpPr/>
          <p:nvPr/>
        </p:nvSpPr>
        <p:spPr>
          <a:xfrm>
            <a:off x="530352" y="4271391"/>
            <a:ext cx="82296" cy="82296"/>
          </a:xfrm>
          <a:prstGeom prst="rect">
            <a:avLst/>
          </a:prstGeom>
          <a:solidFill>
            <a:srgbClr val="4E6B54"/>
          </a:solidFill>
          <a:ln w="12700">
            <a:solidFill>
              <a:srgbClr val="4E6B54"/>
            </a:solidFill>
            <a:prstDash val="solid"/>
          </a:ln>
        </p:spPr>
      </p:sp>
      <p:sp>
        <p:nvSpPr>
          <p:cNvPr id="56" name="Text 54"/>
          <p:cNvSpPr/>
          <p:nvPr/>
        </p:nvSpPr>
        <p:spPr>
          <a:xfrm>
            <a:off x="676656" y="4176522"/>
            <a:ext cx="27889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契約・法務（WineBank）</a:t>
            </a:r>
            <a:endParaRPr lang="en-US" sz="1000" dirty="0"/>
          </a:p>
        </p:txBody>
      </p:sp>
      <p:sp>
        <p:nvSpPr>
          <p:cNvPr id="57" name="Text 55"/>
          <p:cNvSpPr/>
          <p:nvPr/>
        </p:nvSpPr>
        <p:spPr>
          <a:xfrm>
            <a:off x="548640" y="444855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契約条件精査・社内決裁</a:t>
            </a:r>
            <a:endParaRPr lang="en-US" sz="950" dirty="0"/>
          </a:p>
        </p:txBody>
      </p:sp>
      <p:sp>
        <p:nvSpPr>
          <p:cNvPr id="58" name="Shape 56"/>
          <p:cNvSpPr/>
          <p:nvPr/>
        </p:nvSpPr>
        <p:spPr>
          <a:xfrm>
            <a:off x="4572302" y="4515993"/>
            <a:ext cx="1017931" cy="137160"/>
          </a:xfrm>
          <a:prstGeom prst="roundRect">
            <a:avLst>
              <a:gd name="adj" fmla="val 13333"/>
            </a:avLst>
          </a:prstGeom>
          <a:solidFill>
            <a:srgbClr val="4E6B54"/>
          </a:solidFill>
          <a:ln w="12700">
            <a:solidFill>
              <a:srgbClr val="4E6B54"/>
            </a:solidFill>
            <a:prstDash val="solid"/>
          </a:ln>
        </p:spPr>
      </p:sp>
      <p:sp>
        <p:nvSpPr>
          <p:cNvPr id="59" name="Shape 57"/>
          <p:cNvSpPr/>
          <p:nvPr/>
        </p:nvSpPr>
        <p:spPr>
          <a:xfrm>
            <a:off x="4540298" y="4483989"/>
            <a:ext cx="1081939" cy="201168"/>
          </a:xfrm>
          <a:prstGeom prst="roundRect">
            <a:avLst>
              <a:gd name="adj" fmla="val 9091"/>
            </a:avLst>
          </a:prstGeom>
          <a:solidFill>
            <a:srgbClr val="FFFFFF">
              <a:alpha val="0"/>
            </a:srgbClr>
          </a:solidFill>
          <a:ln w="12700">
            <a:solidFill>
              <a:srgbClr val="4E6B54"/>
            </a:solidFill>
            <a:prstDash val="solid"/>
          </a:ln>
        </p:spPr>
      </p:sp>
      <p:sp>
        <p:nvSpPr>
          <p:cNvPr id="60" name="Text 58"/>
          <p:cNvSpPr/>
          <p:nvPr/>
        </p:nvSpPr>
        <p:spPr>
          <a:xfrm>
            <a:off x="4627166" y="4448556"/>
            <a:ext cx="908203"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8/31</a:t>
            </a:r>
            <a:endParaRPr lang="en-US" sz="800" dirty="0"/>
          </a:p>
        </p:txBody>
      </p:sp>
      <p:sp>
        <p:nvSpPr>
          <p:cNvPr id="61" name="Text 59"/>
          <p:cNvSpPr/>
          <p:nvPr/>
        </p:nvSpPr>
        <p:spPr>
          <a:xfrm>
            <a:off x="548640" y="4720590"/>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定期建物賃貸借契約 締結／第1回敷金</a:t>
            </a:r>
            <a:endParaRPr lang="en-US" sz="950" dirty="0"/>
          </a:p>
        </p:txBody>
      </p:sp>
      <p:sp>
        <p:nvSpPr>
          <p:cNvPr id="62" name="Shape 60"/>
          <p:cNvSpPr/>
          <p:nvPr/>
        </p:nvSpPr>
        <p:spPr>
          <a:xfrm>
            <a:off x="5564729" y="4797171"/>
            <a:ext cx="118872" cy="118872"/>
          </a:xfrm>
          <a:prstGeom prst="diamond">
            <a:avLst/>
          </a:prstGeom>
          <a:solidFill>
            <a:srgbClr val="4E6B54"/>
          </a:solidFill>
          <a:ln w="12700">
            <a:solidFill>
              <a:srgbClr val="4E6B54"/>
            </a:solidFill>
            <a:prstDash val="solid"/>
          </a:ln>
        </p:spPr>
      </p:sp>
      <p:sp>
        <p:nvSpPr>
          <p:cNvPr id="63" name="Text 61"/>
          <p:cNvSpPr/>
          <p:nvPr/>
        </p:nvSpPr>
        <p:spPr>
          <a:xfrm>
            <a:off x="5729321" y="4720590"/>
            <a:ext cx="786384" cy="272034"/>
          </a:xfrm>
          <a:prstGeom prst="rect">
            <a:avLst/>
          </a:prstGeom>
          <a:noFill/>
          <a:ln/>
        </p:spPr>
        <p:txBody>
          <a:bodyPr wrap="square" lIns="0" tIns="0" rIns="0" bIns="0" rtlCol="0" anchor="ctr"/>
          <a:lstStyle/>
          <a:p>
            <a:pPr algn="l" indent="0" marL="0">
              <a:buNone/>
            </a:pPr>
            <a:r>
              <a:rPr lang="en-US" sz="900" b="1" dirty="0">
                <a:solidFill>
                  <a:srgbClr val="4E6B54"/>
                </a:solidFill>
                <a:latin typeface="Arial" pitchFamily="34" charset="0"/>
                <a:ea typeface="Arial" pitchFamily="34" charset="-122"/>
                <a:cs typeface="Arial" pitchFamily="34" charset="-120"/>
              </a:rPr>
              <a:t>9/1</a:t>
            </a:r>
            <a:endParaRPr lang="en-US" sz="900" dirty="0"/>
          </a:p>
        </p:txBody>
      </p:sp>
      <p:sp>
        <p:nvSpPr>
          <p:cNvPr id="64" name="Text 62"/>
          <p:cNvSpPr/>
          <p:nvPr/>
        </p:nvSpPr>
        <p:spPr>
          <a:xfrm>
            <a:off x="548640" y="499262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新会社 設立</a:t>
            </a:r>
            <a:endParaRPr lang="en-US" sz="950" dirty="0"/>
          </a:p>
        </p:txBody>
      </p:sp>
      <p:sp>
        <p:nvSpPr>
          <p:cNvPr id="65" name="Shape 63"/>
          <p:cNvSpPr/>
          <p:nvPr/>
        </p:nvSpPr>
        <p:spPr>
          <a:xfrm>
            <a:off x="6099199" y="5060061"/>
            <a:ext cx="2578759" cy="137160"/>
          </a:xfrm>
          <a:prstGeom prst="roundRect">
            <a:avLst>
              <a:gd name="adj" fmla="val 13333"/>
            </a:avLst>
          </a:prstGeom>
          <a:solidFill>
            <a:srgbClr val="4E6B54"/>
          </a:solidFill>
          <a:ln w="12700">
            <a:solidFill>
              <a:srgbClr val="4E6B54"/>
            </a:solidFill>
            <a:prstDash val="solid"/>
          </a:ln>
        </p:spPr>
      </p:sp>
      <p:sp>
        <p:nvSpPr>
          <p:cNvPr id="66" name="Text 64"/>
          <p:cNvSpPr/>
          <p:nvPr/>
        </p:nvSpPr>
        <p:spPr>
          <a:xfrm>
            <a:off x="6154063" y="4992624"/>
            <a:ext cx="2469031"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9/15 – 11/30</a:t>
            </a:r>
            <a:endParaRPr lang="en-US" sz="800" dirty="0"/>
          </a:p>
        </p:txBody>
      </p:sp>
      <p:sp>
        <p:nvSpPr>
          <p:cNvPr id="67" name="Text 65"/>
          <p:cNvSpPr/>
          <p:nvPr/>
        </p:nvSpPr>
        <p:spPr>
          <a:xfrm>
            <a:off x="548640" y="526465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B・C工事 賃貸人負担額 覚書</a:t>
            </a:r>
            <a:endParaRPr lang="en-US" sz="950" dirty="0"/>
          </a:p>
        </p:txBody>
      </p:sp>
      <p:sp>
        <p:nvSpPr>
          <p:cNvPr id="68" name="Shape 66"/>
          <p:cNvSpPr/>
          <p:nvPr/>
        </p:nvSpPr>
        <p:spPr>
          <a:xfrm>
            <a:off x="7693958" y="5332095"/>
            <a:ext cx="1832276" cy="137160"/>
          </a:xfrm>
          <a:prstGeom prst="roundRect">
            <a:avLst>
              <a:gd name="adj" fmla="val 13333"/>
            </a:avLst>
          </a:prstGeom>
          <a:solidFill>
            <a:srgbClr val="4E6B54"/>
          </a:solidFill>
          <a:ln w="12700">
            <a:solidFill>
              <a:srgbClr val="4E6B54"/>
            </a:solidFill>
            <a:prstDash val="solid"/>
          </a:ln>
        </p:spPr>
      </p:sp>
      <p:sp>
        <p:nvSpPr>
          <p:cNvPr id="69" name="Text 67"/>
          <p:cNvSpPr/>
          <p:nvPr/>
        </p:nvSpPr>
        <p:spPr>
          <a:xfrm>
            <a:off x="7748822" y="5264658"/>
            <a:ext cx="1722548"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12/25</a:t>
            </a:r>
            <a:endParaRPr lang="en-US" sz="800" dirty="0"/>
          </a:p>
        </p:txBody>
      </p:sp>
      <p:sp>
        <p:nvSpPr>
          <p:cNvPr id="70" name="Text 68"/>
          <p:cNvSpPr/>
          <p:nvPr/>
        </p:nvSpPr>
        <p:spPr>
          <a:xfrm>
            <a:off x="548640" y="5536692"/>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地位承継 覚書（3者）締結</a:t>
            </a:r>
            <a:endParaRPr lang="en-US" sz="950" dirty="0"/>
          </a:p>
        </p:txBody>
      </p:sp>
      <p:sp>
        <p:nvSpPr>
          <p:cNvPr id="71" name="Shape 69"/>
          <p:cNvSpPr/>
          <p:nvPr/>
        </p:nvSpPr>
        <p:spPr>
          <a:xfrm>
            <a:off x="8711889" y="5604129"/>
            <a:ext cx="814345" cy="137160"/>
          </a:xfrm>
          <a:prstGeom prst="roundRect">
            <a:avLst>
              <a:gd name="adj" fmla="val 13333"/>
            </a:avLst>
          </a:prstGeom>
          <a:solidFill>
            <a:srgbClr val="4E6B54"/>
          </a:solidFill>
          <a:ln w="12700">
            <a:solidFill>
              <a:srgbClr val="4E6B54"/>
            </a:solidFill>
            <a:prstDash val="solid"/>
          </a:ln>
        </p:spPr>
      </p:sp>
      <p:sp>
        <p:nvSpPr>
          <p:cNvPr id="72" name="Text 70"/>
          <p:cNvSpPr/>
          <p:nvPr/>
        </p:nvSpPr>
        <p:spPr>
          <a:xfrm>
            <a:off x="9571954" y="5536692"/>
            <a:ext cx="896112" cy="272034"/>
          </a:xfrm>
          <a:prstGeom prst="rect">
            <a:avLst/>
          </a:prstGeom>
          <a:noFill/>
          <a:ln/>
        </p:spPr>
        <p:txBody>
          <a:bodyPr wrap="square" lIns="0" tIns="0" rIns="0" bIns="0" rtlCol="0" anchor="ctr"/>
          <a:lstStyle/>
          <a:p>
            <a:pPr algn="l" indent="0" marL="0">
              <a:buNone/>
            </a:pPr>
            <a:r>
              <a:rPr lang="en-US" sz="800" dirty="0">
                <a:solidFill>
                  <a:srgbClr val="6E6866"/>
                </a:solidFill>
                <a:latin typeface="Arial" pitchFamily="34" charset="0"/>
                <a:ea typeface="Arial" pitchFamily="34" charset="-122"/>
                <a:cs typeface="Arial" pitchFamily="34" charset="-120"/>
              </a:rPr>
              <a:t>12/1 – 12/25</a:t>
            </a:r>
            <a:endParaRPr lang="en-US" sz="800" dirty="0"/>
          </a:p>
        </p:txBody>
      </p:sp>
      <p:sp>
        <p:nvSpPr>
          <p:cNvPr id="73" name="Text 71"/>
          <p:cNvSpPr/>
          <p:nvPr/>
        </p:nvSpPr>
        <p:spPr>
          <a:xfrm>
            <a:off x="548640" y="580872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第2回敷金・開店前準備期間負担金ほか</a:t>
            </a:r>
            <a:endParaRPr lang="en-US" sz="950" dirty="0"/>
          </a:p>
        </p:txBody>
      </p:sp>
      <p:sp>
        <p:nvSpPr>
          <p:cNvPr id="74" name="Shape 72"/>
          <p:cNvSpPr/>
          <p:nvPr/>
        </p:nvSpPr>
        <p:spPr>
          <a:xfrm>
            <a:off x="11197281" y="5885307"/>
            <a:ext cx="118872" cy="118872"/>
          </a:xfrm>
          <a:prstGeom prst="diamond">
            <a:avLst/>
          </a:prstGeom>
          <a:solidFill>
            <a:srgbClr val="4E6B54"/>
          </a:solidFill>
          <a:ln w="12700">
            <a:solidFill>
              <a:srgbClr val="4E6B54"/>
            </a:solidFill>
            <a:prstDash val="solid"/>
          </a:ln>
        </p:spPr>
      </p:sp>
      <p:sp>
        <p:nvSpPr>
          <p:cNvPr id="75" name="Text 73"/>
          <p:cNvSpPr/>
          <p:nvPr/>
        </p:nvSpPr>
        <p:spPr>
          <a:xfrm>
            <a:off x="10342317" y="5808726"/>
            <a:ext cx="786384" cy="272034"/>
          </a:xfrm>
          <a:prstGeom prst="rect">
            <a:avLst/>
          </a:prstGeom>
          <a:noFill/>
          <a:ln/>
        </p:spPr>
        <p:txBody>
          <a:bodyPr wrap="square" lIns="0" tIns="0" rIns="0" bIns="0" rtlCol="0" anchor="ctr"/>
          <a:lstStyle/>
          <a:p>
            <a:pPr algn="r" indent="0" marL="0">
              <a:buNone/>
            </a:pPr>
            <a:r>
              <a:rPr lang="en-US" sz="900" b="1" dirty="0">
                <a:solidFill>
                  <a:srgbClr val="4E6B54"/>
                </a:solidFill>
                <a:latin typeface="Arial" pitchFamily="34" charset="0"/>
                <a:ea typeface="Arial" pitchFamily="34" charset="-122"/>
                <a:cs typeface="Arial" pitchFamily="34" charset="-120"/>
              </a:rPr>
              <a:t>2/14</a:t>
            </a:r>
            <a:endParaRPr lang="en-US" sz="900" dirty="0"/>
          </a:p>
        </p:txBody>
      </p:sp>
      <p:sp>
        <p:nvSpPr>
          <p:cNvPr id="76" name="Shape 74"/>
          <p:cNvSpPr/>
          <p:nvPr/>
        </p:nvSpPr>
        <p:spPr>
          <a:xfrm>
            <a:off x="5488440" y="1417320"/>
            <a:ext cx="0" cy="4663440"/>
          </a:xfrm>
          <a:prstGeom prst="line">
            <a:avLst/>
          </a:prstGeom>
          <a:noFill/>
          <a:ln w="12700">
            <a:solidFill>
              <a:srgbClr val="1B1A19"/>
            </a:solidFill>
            <a:prstDash val="dash"/>
          </a:ln>
        </p:spPr>
      </p:sp>
      <p:sp>
        <p:nvSpPr>
          <p:cNvPr id="77" name="Text 75"/>
          <p:cNvSpPr/>
          <p:nvPr/>
        </p:nvSpPr>
        <p:spPr>
          <a:xfrm>
            <a:off x="5534160"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78" name="Text 76"/>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設計会社工程では実施設計が10/19完了。前回版（12/1〜1/31）から約3ヶ月前倒しとなり、承認・見積・発注の各工程に余裕が生まれる。</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2026年9月 – 2027年4月30日</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フェーズ② 工事・竣工 ─ B工事完了を待ってC工事に入る直列工程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B工事は2/1〜2/17の約2.5週間、C工事は2/18〜4/18の2ヶ月。並走しないため、B工事の遅延はそのまま竣工日に跳ね返る。</a:t>
            </a:r>
            <a:endParaRPr lang="en-US" sz="1050" dirty="0"/>
          </a:p>
        </p:txBody>
      </p:sp>
      <p:sp>
        <p:nvSpPr>
          <p:cNvPr id="5" name="Shape 3"/>
          <p:cNvSpPr/>
          <p:nvPr/>
        </p:nvSpPr>
        <p:spPr>
          <a:xfrm>
            <a:off x="3520440" y="1417320"/>
            <a:ext cx="0" cy="3246120"/>
          </a:xfrm>
          <a:prstGeom prst="line">
            <a:avLst/>
          </a:prstGeom>
          <a:noFill/>
          <a:ln w="9525">
            <a:solidFill>
              <a:srgbClr val="DCD7D2"/>
            </a:solidFill>
            <a:prstDash val="solid"/>
          </a:ln>
        </p:spPr>
      </p:sp>
      <p:sp>
        <p:nvSpPr>
          <p:cNvPr id="6" name="Text 4"/>
          <p:cNvSpPr/>
          <p:nvPr/>
        </p:nvSpPr>
        <p:spPr>
          <a:xfrm>
            <a:off x="3557016" y="1435608"/>
            <a:ext cx="946516"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7" name="Text 5"/>
          <p:cNvSpPr/>
          <p:nvPr/>
        </p:nvSpPr>
        <p:spPr>
          <a:xfrm>
            <a:off x="3557016" y="1581912"/>
            <a:ext cx="946516"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521820" y="1417320"/>
            <a:ext cx="0" cy="3246120"/>
          </a:xfrm>
          <a:prstGeom prst="line">
            <a:avLst/>
          </a:prstGeom>
          <a:noFill/>
          <a:ln w="9525">
            <a:solidFill>
              <a:srgbClr val="DCD7D2"/>
            </a:solidFill>
            <a:prstDash val="solid"/>
          </a:ln>
        </p:spPr>
      </p:sp>
      <p:sp>
        <p:nvSpPr>
          <p:cNvPr id="9" name="Text 7"/>
          <p:cNvSpPr/>
          <p:nvPr/>
        </p:nvSpPr>
        <p:spPr>
          <a:xfrm>
            <a:off x="4558396" y="1435608"/>
            <a:ext cx="97989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0" name="Shape 8"/>
          <p:cNvSpPr/>
          <p:nvPr/>
        </p:nvSpPr>
        <p:spPr>
          <a:xfrm>
            <a:off x="5556578" y="1417320"/>
            <a:ext cx="0" cy="3246120"/>
          </a:xfrm>
          <a:prstGeom prst="line">
            <a:avLst/>
          </a:prstGeom>
          <a:noFill/>
          <a:ln w="9525">
            <a:solidFill>
              <a:srgbClr val="DCD7D2"/>
            </a:solidFill>
            <a:prstDash val="solid"/>
          </a:ln>
        </p:spPr>
      </p:sp>
      <p:sp>
        <p:nvSpPr>
          <p:cNvPr id="11" name="Text 9"/>
          <p:cNvSpPr/>
          <p:nvPr/>
        </p:nvSpPr>
        <p:spPr>
          <a:xfrm>
            <a:off x="5593154" y="1435608"/>
            <a:ext cx="946516"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2" name="Shape 10"/>
          <p:cNvSpPr/>
          <p:nvPr/>
        </p:nvSpPr>
        <p:spPr>
          <a:xfrm>
            <a:off x="6557958" y="1417320"/>
            <a:ext cx="0" cy="3246120"/>
          </a:xfrm>
          <a:prstGeom prst="line">
            <a:avLst/>
          </a:prstGeom>
          <a:noFill/>
          <a:ln w="9525">
            <a:solidFill>
              <a:srgbClr val="DCD7D2"/>
            </a:solidFill>
            <a:prstDash val="solid"/>
          </a:ln>
        </p:spPr>
      </p:sp>
      <p:sp>
        <p:nvSpPr>
          <p:cNvPr id="13" name="Text 11"/>
          <p:cNvSpPr/>
          <p:nvPr/>
        </p:nvSpPr>
        <p:spPr>
          <a:xfrm>
            <a:off x="6594534" y="1435608"/>
            <a:ext cx="97989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4" name="Shape 12"/>
          <p:cNvSpPr/>
          <p:nvPr/>
        </p:nvSpPr>
        <p:spPr>
          <a:xfrm>
            <a:off x="7592717" y="1417320"/>
            <a:ext cx="0" cy="3246120"/>
          </a:xfrm>
          <a:prstGeom prst="line">
            <a:avLst/>
          </a:prstGeom>
          <a:noFill/>
          <a:ln w="12700">
            <a:solidFill>
              <a:srgbClr val="6E6866"/>
            </a:solidFill>
            <a:prstDash val="solid"/>
          </a:ln>
        </p:spPr>
      </p:sp>
      <p:sp>
        <p:nvSpPr>
          <p:cNvPr id="15" name="Text 13"/>
          <p:cNvSpPr/>
          <p:nvPr/>
        </p:nvSpPr>
        <p:spPr>
          <a:xfrm>
            <a:off x="7629293" y="1435608"/>
            <a:ext cx="97989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6" name="Text 14"/>
          <p:cNvSpPr/>
          <p:nvPr/>
        </p:nvSpPr>
        <p:spPr>
          <a:xfrm>
            <a:off x="7629293" y="1581912"/>
            <a:ext cx="979895"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7" name="Shape 15"/>
          <p:cNvSpPr/>
          <p:nvPr/>
        </p:nvSpPr>
        <p:spPr>
          <a:xfrm>
            <a:off x="8627476" y="1417320"/>
            <a:ext cx="0" cy="3246120"/>
          </a:xfrm>
          <a:prstGeom prst="line">
            <a:avLst/>
          </a:prstGeom>
          <a:noFill/>
          <a:ln w="9525">
            <a:solidFill>
              <a:srgbClr val="DCD7D2"/>
            </a:solidFill>
            <a:prstDash val="solid"/>
          </a:ln>
        </p:spPr>
      </p:sp>
      <p:sp>
        <p:nvSpPr>
          <p:cNvPr id="18" name="Text 16"/>
          <p:cNvSpPr/>
          <p:nvPr/>
        </p:nvSpPr>
        <p:spPr>
          <a:xfrm>
            <a:off x="8664052" y="1435608"/>
            <a:ext cx="879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19" name="Shape 17"/>
          <p:cNvSpPr/>
          <p:nvPr/>
        </p:nvSpPr>
        <p:spPr>
          <a:xfrm>
            <a:off x="9562096" y="1417320"/>
            <a:ext cx="0" cy="3246120"/>
          </a:xfrm>
          <a:prstGeom prst="line">
            <a:avLst/>
          </a:prstGeom>
          <a:noFill/>
          <a:ln w="9525">
            <a:solidFill>
              <a:srgbClr val="DCD7D2"/>
            </a:solidFill>
            <a:prstDash val="solid"/>
          </a:ln>
        </p:spPr>
      </p:sp>
      <p:sp>
        <p:nvSpPr>
          <p:cNvPr id="20" name="Text 18"/>
          <p:cNvSpPr/>
          <p:nvPr/>
        </p:nvSpPr>
        <p:spPr>
          <a:xfrm>
            <a:off x="9598672" y="1435608"/>
            <a:ext cx="97989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1" name="Shape 19"/>
          <p:cNvSpPr/>
          <p:nvPr/>
        </p:nvSpPr>
        <p:spPr>
          <a:xfrm>
            <a:off x="10596855" y="1417320"/>
            <a:ext cx="0" cy="3246120"/>
          </a:xfrm>
          <a:prstGeom prst="line">
            <a:avLst/>
          </a:prstGeom>
          <a:noFill/>
          <a:ln w="9525">
            <a:solidFill>
              <a:srgbClr val="DCD7D2"/>
            </a:solidFill>
            <a:prstDash val="solid"/>
          </a:ln>
        </p:spPr>
      </p:sp>
      <p:sp>
        <p:nvSpPr>
          <p:cNvPr id="22" name="Text 20"/>
          <p:cNvSpPr/>
          <p:nvPr/>
        </p:nvSpPr>
        <p:spPr>
          <a:xfrm>
            <a:off x="10633431" y="1435608"/>
            <a:ext cx="946516"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23" name="Shape 21"/>
          <p:cNvSpPr/>
          <p:nvPr/>
        </p:nvSpPr>
        <p:spPr>
          <a:xfrm>
            <a:off x="11598235" y="1417320"/>
            <a:ext cx="0" cy="3246120"/>
          </a:xfrm>
          <a:prstGeom prst="line">
            <a:avLst/>
          </a:prstGeom>
          <a:noFill/>
          <a:ln w="9525">
            <a:solidFill>
              <a:srgbClr val="DCD7D2"/>
            </a:solidFill>
            <a:prstDash val="solid"/>
          </a:ln>
        </p:spPr>
      </p:sp>
      <p:sp>
        <p:nvSpPr>
          <p:cNvPr id="24" name="Text 22"/>
          <p:cNvSpPr/>
          <p:nvPr/>
        </p:nvSpPr>
        <p:spPr>
          <a:xfrm>
            <a:off x="11634811" y="1435608"/>
            <a:ext cx="27432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25" name="Shape 23"/>
          <p:cNvSpPr/>
          <p:nvPr/>
        </p:nvSpPr>
        <p:spPr>
          <a:xfrm>
            <a:off x="457200" y="1728216"/>
            <a:ext cx="11274552" cy="0"/>
          </a:xfrm>
          <a:prstGeom prst="line">
            <a:avLst/>
          </a:prstGeom>
          <a:noFill/>
          <a:ln w="9525">
            <a:solidFill>
              <a:srgbClr val="6E6866"/>
            </a:solidFill>
            <a:prstDash val="solid"/>
          </a:ln>
        </p:spPr>
      </p:sp>
      <p:sp>
        <p:nvSpPr>
          <p:cNvPr id="26" name="Shape 24"/>
          <p:cNvSpPr/>
          <p:nvPr/>
        </p:nvSpPr>
        <p:spPr>
          <a:xfrm>
            <a:off x="3520440" y="1417320"/>
            <a:ext cx="0" cy="3246120"/>
          </a:xfrm>
          <a:prstGeom prst="line">
            <a:avLst/>
          </a:prstGeom>
          <a:noFill/>
          <a:ln w="9525">
            <a:solidFill>
              <a:srgbClr val="6E6866"/>
            </a:solidFill>
            <a:prstDash val="solid"/>
          </a:ln>
        </p:spPr>
      </p:sp>
      <p:sp>
        <p:nvSpPr>
          <p:cNvPr id="27" name="Shape 25"/>
          <p:cNvSpPr/>
          <p:nvPr/>
        </p:nvSpPr>
        <p:spPr>
          <a:xfrm>
            <a:off x="11731752" y="1417320"/>
            <a:ext cx="0" cy="3246120"/>
          </a:xfrm>
          <a:prstGeom prst="line">
            <a:avLst/>
          </a:prstGeom>
          <a:noFill/>
          <a:ln w="9525">
            <a:solidFill>
              <a:srgbClr val="6E6866"/>
            </a:solidFill>
            <a:prstDash val="solid"/>
          </a:ln>
        </p:spPr>
      </p:sp>
      <p:sp>
        <p:nvSpPr>
          <p:cNvPr id="28" name="Shape 26"/>
          <p:cNvSpPr/>
          <p:nvPr/>
        </p:nvSpPr>
        <p:spPr>
          <a:xfrm>
            <a:off x="457200" y="1728216"/>
            <a:ext cx="11274552" cy="209659"/>
          </a:xfrm>
          <a:prstGeom prst="rect">
            <a:avLst/>
          </a:prstGeom>
          <a:solidFill>
            <a:srgbClr val="F5F3F1"/>
          </a:solidFill>
          <a:ln w="12700">
            <a:solidFill>
              <a:srgbClr val="F5F3F1"/>
            </a:solidFill>
            <a:prstDash val="solid"/>
          </a:ln>
        </p:spPr>
      </p:sp>
      <p:sp>
        <p:nvSpPr>
          <p:cNvPr id="29" name="Shape 27"/>
          <p:cNvSpPr/>
          <p:nvPr/>
        </p:nvSpPr>
        <p:spPr>
          <a:xfrm>
            <a:off x="530352" y="1791897"/>
            <a:ext cx="82296" cy="82296"/>
          </a:xfrm>
          <a:prstGeom prst="rect">
            <a:avLst/>
          </a:prstGeom>
          <a:solidFill>
            <a:srgbClr val="9C6E28"/>
          </a:solidFill>
          <a:ln w="12700">
            <a:solidFill>
              <a:srgbClr val="9C6E28"/>
            </a:solidFill>
            <a:prstDash val="solid"/>
          </a:ln>
        </p:spPr>
      </p:sp>
      <p:sp>
        <p:nvSpPr>
          <p:cNvPr id="30" name="Text 28"/>
          <p:cNvSpPr/>
          <p:nvPr/>
        </p:nvSpPr>
        <p:spPr>
          <a:xfrm>
            <a:off x="676656" y="1728216"/>
            <a:ext cx="2788920" cy="209659"/>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長納期品（工程表 特記）</a:t>
            </a:r>
            <a:endParaRPr lang="en-US" sz="1000" dirty="0"/>
          </a:p>
        </p:txBody>
      </p:sp>
      <p:sp>
        <p:nvSpPr>
          <p:cNvPr id="31" name="Text 29"/>
          <p:cNvSpPr/>
          <p:nvPr/>
        </p:nvSpPr>
        <p:spPr>
          <a:xfrm>
            <a:off x="548640" y="1937875"/>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分電盤 発注準備</a:t>
            </a:r>
            <a:endParaRPr lang="en-US" sz="950" dirty="0"/>
          </a:p>
        </p:txBody>
      </p:sp>
      <p:sp>
        <p:nvSpPr>
          <p:cNvPr id="32" name="Shape 30"/>
          <p:cNvSpPr/>
          <p:nvPr/>
        </p:nvSpPr>
        <p:spPr>
          <a:xfrm>
            <a:off x="4121268" y="1988193"/>
            <a:ext cx="968000" cy="109023"/>
          </a:xfrm>
          <a:prstGeom prst="roundRect">
            <a:avLst>
              <a:gd name="adj" fmla="val 16774"/>
            </a:avLst>
          </a:prstGeom>
          <a:solidFill>
            <a:srgbClr val="9C6E28"/>
          </a:solidFill>
          <a:ln w="12700">
            <a:solidFill>
              <a:srgbClr val="9C6E28"/>
            </a:solidFill>
            <a:prstDash val="solid"/>
          </a:ln>
        </p:spPr>
      </p:sp>
      <p:sp>
        <p:nvSpPr>
          <p:cNvPr id="33" name="Text 31"/>
          <p:cNvSpPr/>
          <p:nvPr/>
        </p:nvSpPr>
        <p:spPr>
          <a:xfrm>
            <a:off x="4176132" y="1937875"/>
            <a:ext cx="858272" cy="2096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9/19 – 10/18</a:t>
            </a:r>
            <a:endParaRPr lang="en-US" sz="800" dirty="0"/>
          </a:p>
        </p:txBody>
      </p:sp>
      <p:sp>
        <p:nvSpPr>
          <p:cNvPr id="34" name="Text 32"/>
          <p:cNvSpPr/>
          <p:nvPr/>
        </p:nvSpPr>
        <p:spPr>
          <a:xfrm>
            <a:off x="548640" y="2147534"/>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分電盤 発注〜設置</a:t>
            </a:r>
            <a:endParaRPr lang="en-US" sz="950" dirty="0"/>
          </a:p>
        </p:txBody>
      </p:sp>
      <p:sp>
        <p:nvSpPr>
          <p:cNvPr id="35" name="Shape 33"/>
          <p:cNvSpPr/>
          <p:nvPr/>
        </p:nvSpPr>
        <p:spPr>
          <a:xfrm>
            <a:off x="5156027" y="2197852"/>
            <a:ext cx="3705104" cy="109023"/>
          </a:xfrm>
          <a:prstGeom prst="roundRect">
            <a:avLst>
              <a:gd name="adj" fmla="val 16774"/>
            </a:avLst>
          </a:prstGeom>
          <a:solidFill>
            <a:srgbClr val="9C6E28"/>
          </a:solidFill>
          <a:ln w="12700">
            <a:solidFill>
              <a:srgbClr val="9C6E28"/>
            </a:solidFill>
            <a:prstDash val="solid"/>
          </a:ln>
        </p:spPr>
      </p:sp>
      <p:sp>
        <p:nvSpPr>
          <p:cNvPr id="36" name="Text 34"/>
          <p:cNvSpPr/>
          <p:nvPr/>
        </p:nvSpPr>
        <p:spPr>
          <a:xfrm>
            <a:off x="5210891" y="2147534"/>
            <a:ext cx="3595376" cy="2096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10/20 – 2/8</a:t>
            </a:r>
            <a:endParaRPr lang="en-US" sz="800" dirty="0"/>
          </a:p>
        </p:txBody>
      </p:sp>
      <p:sp>
        <p:nvSpPr>
          <p:cNvPr id="37" name="Shape 35"/>
          <p:cNvSpPr/>
          <p:nvPr/>
        </p:nvSpPr>
        <p:spPr>
          <a:xfrm>
            <a:off x="457200" y="2357193"/>
            <a:ext cx="11274552" cy="209659"/>
          </a:xfrm>
          <a:prstGeom prst="rect">
            <a:avLst/>
          </a:prstGeom>
          <a:solidFill>
            <a:srgbClr val="F5F3F1"/>
          </a:solidFill>
          <a:ln w="12700">
            <a:solidFill>
              <a:srgbClr val="F5F3F1"/>
            </a:solidFill>
            <a:prstDash val="solid"/>
          </a:ln>
        </p:spPr>
      </p:sp>
      <p:sp>
        <p:nvSpPr>
          <p:cNvPr id="38" name="Shape 36"/>
          <p:cNvSpPr/>
          <p:nvPr/>
        </p:nvSpPr>
        <p:spPr>
          <a:xfrm>
            <a:off x="530352" y="2420874"/>
            <a:ext cx="82296" cy="82296"/>
          </a:xfrm>
          <a:prstGeom prst="rect">
            <a:avLst/>
          </a:prstGeom>
          <a:solidFill>
            <a:srgbClr val="8C2740"/>
          </a:solidFill>
          <a:ln w="12700">
            <a:solidFill>
              <a:srgbClr val="8C2740"/>
            </a:solidFill>
            <a:prstDash val="solid"/>
          </a:ln>
        </p:spPr>
      </p:sp>
      <p:sp>
        <p:nvSpPr>
          <p:cNvPr id="39" name="Text 37"/>
          <p:cNvSpPr/>
          <p:nvPr/>
        </p:nvSpPr>
        <p:spPr>
          <a:xfrm>
            <a:off x="676656" y="2357193"/>
            <a:ext cx="2788920" cy="209659"/>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B工事（賃貸人指定業者）</a:t>
            </a:r>
            <a:endParaRPr lang="en-US" sz="1000" dirty="0"/>
          </a:p>
        </p:txBody>
      </p:sp>
      <p:sp>
        <p:nvSpPr>
          <p:cNvPr id="40" name="Text 38"/>
          <p:cNvSpPr/>
          <p:nvPr/>
        </p:nvSpPr>
        <p:spPr>
          <a:xfrm>
            <a:off x="548640" y="2566851"/>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B工事準備</a:t>
            </a:r>
            <a:endParaRPr lang="en-US" sz="950" dirty="0"/>
          </a:p>
        </p:txBody>
      </p:sp>
      <p:sp>
        <p:nvSpPr>
          <p:cNvPr id="41" name="Shape 39"/>
          <p:cNvSpPr/>
          <p:nvPr/>
        </p:nvSpPr>
        <p:spPr>
          <a:xfrm>
            <a:off x="7158786" y="2617170"/>
            <a:ext cx="1435311" cy="109023"/>
          </a:xfrm>
          <a:prstGeom prst="roundRect">
            <a:avLst>
              <a:gd name="adj" fmla="val 16774"/>
            </a:avLst>
          </a:prstGeom>
          <a:solidFill>
            <a:srgbClr val="8C2740"/>
          </a:solidFill>
          <a:ln w="12700">
            <a:solidFill>
              <a:srgbClr val="8C2740"/>
            </a:solidFill>
            <a:prstDash val="solid"/>
          </a:ln>
        </p:spPr>
      </p:sp>
      <p:sp>
        <p:nvSpPr>
          <p:cNvPr id="42" name="Text 40"/>
          <p:cNvSpPr/>
          <p:nvPr/>
        </p:nvSpPr>
        <p:spPr>
          <a:xfrm>
            <a:off x="7213650" y="2566851"/>
            <a:ext cx="1325583" cy="2096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12/19 – 1/31</a:t>
            </a:r>
            <a:endParaRPr lang="en-US" sz="800" dirty="0"/>
          </a:p>
        </p:txBody>
      </p:sp>
      <p:sp>
        <p:nvSpPr>
          <p:cNvPr id="43" name="Text 41"/>
          <p:cNvSpPr/>
          <p:nvPr/>
        </p:nvSpPr>
        <p:spPr>
          <a:xfrm>
            <a:off x="548640" y="2776510"/>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着工（工程表ヘッダー 2/10）</a:t>
            </a:r>
            <a:endParaRPr lang="en-US" sz="950" dirty="0"/>
          </a:p>
        </p:txBody>
      </p:sp>
      <p:sp>
        <p:nvSpPr>
          <p:cNvPr id="44" name="Shape 42"/>
          <p:cNvSpPr/>
          <p:nvPr/>
        </p:nvSpPr>
        <p:spPr>
          <a:xfrm>
            <a:off x="8870233" y="2823684"/>
            <a:ext cx="115312" cy="115312"/>
          </a:xfrm>
          <a:prstGeom prst="diamond">
            <a:avLst/>
          </a:prstGeom>
          <a:solidFill>
            <a:srgbClr val="8C2740"/>
          </a:solidFill>
          <a:ln w="12700">
            <a:solidFill>
              <a:srgbClr val="8C2740"/>
            </a:solidFill>
            <a:prstDash val="solid"/>
          </a:ln>
        </p:spPr>
      </p:sp>
      <p:sp>
        <p:nvSpPr>
          <p:cNvPr id="45" name="Text 43"/>
          <p:cNvSpPr/>
          <p:nvPr/>
        </p:nvSpPr>
        <p:spPr>
          <a:xfrm>
            <a:off x="9031266" y="2776510"/>
            <a:ext cx="786384" cy="209659"/>
          </a:xfrm>
          <a:prstGeom prst="rect">
            <a:avLst/>
          </a:prstGeom>
          <a:noFill/>
          <a:ln/>
        </p:spPr>
        <p:txBody>
          <a:bodyPr wrap="square" lIns="0" tIns="0" rIns="0" bIns="0" rtlCol="0" anchor="ctr"/>
          <a:lstStyle/>
          <a:p>
            <a:pPr algn="l" indent="0" marL="0">
              <a:buNone/>
            </a:pPr>
            <a:r>
              <a:rPr lang="en-US" sz="900" b="1" dirty="0">
                <a:solidFill>
                  <a:srgbClr val="8C2740"/>
                </a:solidFill>
                <a:latin typeface="Arial" pitchFamily="34" charset="0"/>
                <a:ea typeface="Arial" pitchFamily="34" charset="-122"/>
                <a:cs typeface="Arial" pitchFamily="34" charset="-120"/>
              </a:rPr>
              <a:t>2/10</a:t>
            </a:r>
            <a:endParaRPr lang="en-US" sz="900" dirty="0"/>
          </a:p>
        </p:txBody>
      </p:sp>
      <p:sp>
        <p:nvSpPr>
          <p:cNvPr id="46" name="Text 44"/>
          <p:cNvSpPr/>
          <p:nvPr/>
        </p:nvSpPr>
        <p:spPr>
          <a:xfrm>
            <a:off x="548640" y="2986169"/>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B工事 施工</a:t>
            </a:r>
            <a:endParaRPr lang="en-US" sz="950" dirty="0"/>
          </a:p>
        </p:txBody>
      </p:sp>
      <p:sp>
        <p:nvSpPr>
          <p:cNvPr id="47" name="Shape 45"/>
          <p:cNvSpPr/>
          <p:nvPr/>
        </p:nvSpPr>
        <p:spPr>
          <a:xfrm>
            <a:off x="8627476" y="3036487"/>
            <a:ext cx="534069" cy="109023"/>
          </a:xfrm>
          <a:prstGeom prst="roundRect">
            <a:avLst>
              <a:gd name="adj" fmla="val 16774"/>
            </a:avLst>
          </a:prstGeom>
          <a:solidFill>
            <a:srgbClr val="8C2740"/>
          </a:solidFill>
          <a:ln w="12700">
            <a:solidFill>
              <a:srgbClr val="8C2740"/>
            </a:solidFill>
            <a:prstDash val="solid"/>
          </a:ln>
        </p:spPr>
      </p:sp>
      <p:sp>
        <p:nvSpPr>
          <p:cNvPr id="48" name="Text 46"/>
          <p:cNvSpPr/>
          <p:nvPr/>
        </p:nvSpPr>
        <p:spPr>
          <a:xfrm>
            <a:off x="9207265" y="2986169"/>
            <a:ext cx="896112" cy="209659"/>
          </a:xfrm>
          <a:prstGeom prst="rect">
            <a:avLst/>
          </a:prstGeom>
          <a:noFill/>
          <a:ln/>
        </p:spPr>
        <p:txBody>
          <a:bodyPr wrap="square" lIns="0" tIns="0" rIns="0" bIns="0" rtlCol="0" anchor="ctr"/>
          <a:lstStyle/>
          <a:p>
            <a:pPr algn="l" indent="0" marL="0">
              <a:buNone/>
            </a:pPr>
            <a:r>
              <a:rPr lang="en-US" sz="800" dirty="0">
                <a:solidFill>
                  <a:srgbClr val="6E6866"/>
                </a:solidFill>
                <a:latin typeface="Arial" pitchFamily="34" charset="0"/>
                <a:ea typeface="Arial" pitchFamily="34" charset="-122"/>
                <a:cs typeface="Arial" pitchFamily="34" charset="-120"/>
              </a:rPr>
              <a:t>2/1 – 2/17</a:t>
            </a:r>
            <a:endParaRPr lang="en-US" sz="800" dirty="0"/>
          </a:p>
        </p:txBody>
      </p:sp>
      <p:sp>
        <p:nvSpPr>
          <p:cNvPr id="49" name="Shape 47"/>
          <p:cNvSpPr/>
          <p:nvPr/>
        </p:nvSpPr>
        <p:spPr>
          <a:xfrm>
            <a:off x="457200" y="3195828"/>
            <a:ext cx="11274552" cy="209659"/>
          </a:xfrm>
          <a:prstGeom prst="rect">
            <a:avLst/>
          </a:prstGeom>
          <a:solidFill>
            <a:srgbClr val="F5F3F1"/>
          </a:solidFill>
          <a:ln w="12700">
            <a:solidFill>
              <a:srgbClr val="F5F3F1"/>
            </a:solidFill>
            <a:prstDash val="solid"/>
          </a:ln>
        </p:spPr>
      </p:sp>
      <p:sp>
        <p:nvSpPr>
          <p:cNvPr id="50" name="Shape 48"/>
          <p:cNvSpPr/>
          <p:nvPr/>
        </p:nvSpPr>
        <p:spPr>
          <a:xfrm>
            <a:off x="530352" y="3259509"/>
            <a:ext cx="82296" cy="82296"/>
          </a:xfrm>
          <a:prstGeom prst="rect">
            <a:avLst/>
          </a:prstGeom>
          <a:solidFill>
            <a:srgbClr val="8C2740"/>
          </a:solidFill>
          <a:ln w="12700">
            <a:solidFill>
              <a:srgbClr val="8C2740"/>
            </a:solidFill>
            <a:prstDash val="solid"/>
          </a:ln>
        </p:spPr>
      </p:sp>
      <p:sp>
        <p:nvSpPr>
          <p:cNvPr id="51" name="Text 49"/>
          <p:cNvSpPr/>
          <p:nvPr/>
        </p:nvSpPr>
        <p:spPr>
          <a:xfrm>
            <a:off x="676656" y="3195828"/>
            <a:ext cx="2788920" cy="209659"/>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C工事・竣工（株式会社ディコン）</a:t>
            </a:r>
            <a:endParaRPr lang="en-US" sz="1000" dirty="0"/>
          </a:p>
        </p:txBody>
      </p:sp>
      <p:sp>
        <p:nvSpPr>
          <p:cNvPr id="52" name="Text 50"/>
          <p:cNvSpPr/>
          <p:nvPr/>
        </p:nvSpPr>
        <p:spPr>
          <a:xfrm>
            <a:off x="548640" y="3405487"/>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物件 引渡（契約書 2/15）</a:t>
            </a:r>
            <a:endParaRPr lang="en-US" sz="950" dirty="0"/>
          </a:p>
        </p:txBody>
      </p:sp>
      <p:sp>
        <p:nvSpPr>
          <p:cNvPr id="53" name="Shape 51"/>
          <p:cNvSpPr/>
          <p:nvPr/>
        </p:nvSpPr>
        <p:spPr>
          <a:xfrm>
            <a:off x="9037130" y="3452660"/>
            <a:ext cx="115312" cy="115312"/>
          </a:xfrm>
          <a:prstGeom prst="diamond">
            <a:avLst/>
          </a:prstGeom>
          <a:solidFill>
            <a:srgbClr val="2C4A6E"/>
          </a:solidFill>
          <a:ln w="12700">
            <a:solidFill>
              <a:srgbClr val="2C4A6E"/>
            </a:solidFill>
            <a:prstDash val="solid"/>
          </a:ln>
        </p:spPr>
      </p:sp>
      <p:sp>
        <p:nvSpPr>
          <p:cNvPr id="54" name="Text 52"/>
          <p:cNvSpPr/>
          <p:nvPr/>
        </p:nvSpPr>
        <p:spPr>
          <a:xfrm>
            <a:off x="9198162" y="3405487"/>
            <a:ext cx="786384" cy="209659"/>
          </a:xfrm>
          <a:prstGeom prst="rect">
            <a:avLst/>
          </a:prstGeom>
          <a:noFill/>
          <a:ln/>
        </p:spPr>
        <p:txBody>
          <a:bodyPr wrap="square" lIns="0" tIns="0" rIns="0" bIns="0" rtlCol="0" anchor="ctr"/>
          <a:lstStyle/>
          <a:p>
            <a:pPr algn="l" indent="0" marL="0">
              <a:buNone/>
            </a:pPr>
            <a:r>
              <a:rPr lang="en-US" sz="900" b="1" dirty="0">
                <a:solidFill>
                  <a:srgbClr val="2C4A6E"/>
                </a:solidFill>
                <a:latin typeface="Arial" pitchFamily="34" charset="0"/>
                <a:ea typeface="Arial" pitchFamily="34" charset="-122"/>
                <a:cs typeface="Arial" pitchFamily="34" charset="-120"/>
              </a:rPr>
              <a:t>2/15</a:t>
            </a:r>
            <a:endParaRPr lang="en-US" sz="900" dirty="0"/>
          </a:p>
        </p:txBody>
      </p:sp>
      <p:sp>
        <p:nvSpPr>
          <p:cNvPr id="55" name="Text 53"/>
          <p:cNvSpPr/>
          <p:nvPr/>
        </p:nvSpPr>
        <p:spPr>
          <a:xfrm>
            <a:off x="548640" y="3615146"/>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C工事 施工</a:t>
            </a:r>
            <a:endParaRPr lang="en-US" sz="950" dirty="0"/>
          </a:p>
        </p:txBody>
      </p:sp>
      <p:sp>
        <p:nvSpPr>
          <p:cNvPr id="56" name="Shape 54"/>
          <p:cNvSpPr/>
          <p:nvPr/>
        </p:nvSpPr>
        <p:spPr>
          <a:xfrm>
            <a:off x="9194924" y="3665464"/>
            <a:ext cx="1969380" cy="109023"/>
          </a:xfrm>
          <a:prstGeom prst="roundRect">
            <a:avLst>
              <a:gd name="adj" fmla="val 16774"/>
            </a:avLst>
          </a:prstGeom>
          <a:solidFill>
            <a:srgbClr val="8C2740"/>
          </a:solidFill>
          <a:ln w="12700">
            <a:solidFill>
              <a:srgbClr val="8C2740"/>
            </a:solidFill>
            <a:prstDash val="solid"/>
          </a:ln>
        </p:spPr>
      </p:sp>
      <p:sp>
        <p:nvSpPr>
          <p:cNvPr id="57" name="Text 55"/>
          <p:cNvSpPr/>
          <p:nvPr/>
        </p:nvSpPr>
        <p:spPr>
          <a:xfrm>
            <a:off x="9249788" y="3615146"/>
            <a:ext cx="1859652" cy="209659"/>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2/18 – 4/18</a:t>
            </a:r>
            <a:endParaRPr lang="en-US" sz="800" dirty="0"/>
          </a:p>
        </p:txBody>
      </p:sp>
      <p:sp>
        <p:nvSpPr>
          <p:cNvPr id="58" name="Text 56"/>
          <p:cNvSpPr/>
          <p:nvPr/>
        </p:nvSpPr>
        <p:spPr>
          <a:xfrm>
            <a:off x="548640" y="3824805"/>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官公庁検査</a:t>
            </a:r>
            <a:endParaRPr lang="en-US" sz="950" dirty="0"/>
          </a:p>
        </p:txBody>
      </p:sp>
      <p:sp>
        <p:nvSpPr>
          <p:cNvPr id="59" name="Shape 57"/>
          <p:cNvSpPr/>
          <p:nvPr/>
        </p:nvSpPr>
        <p:spPr>
          <a:xfrm>
            <a:off x="10863890" y="3875123"/>
            <a:ext cx="267035" cy="109023"/>
          </a:xfrm>
          <a:prstGeom prst="roundRect">
            <a:avLst>
              <a:gd name="adj" fmla="val 16774"/>
            </a:avLst>
          </a:prstGeom>
          <a:solidFill>
            <a:srgbClr val="2C4A6E"/>
          </a:solidFill>
          <a:ln w="12700">
            <a:solidFill>
              <a:srgbClr val="2C4A6E"/>
            </a:solidFill>
            <a:prstDash val="solid"/>
          </a:ln>
        </p:spPr>
      </p:sp>
      <p:sp>
        <p:nvSpPr>
          <p:cNvPr id="60" name="Text 58"/>
          <p:cNvSpPr/>
          <p:nvPr/>
        </p:nvSpPr>
        <p:spPr>
          <a:xfrm>
            <a:off x="9931202" y="3824805"/>
            <a:ext cx="896112" cy="209659"/>
          </a:xfrm>
          <a:prstGeom prst="rect">
            <a:avLst/>
          </a:prstGeom>
          <a:noFill/>
          <a:ln/>
        </p:spPr>
        <p:txBody>
          <a:bodyPr wrap="square" lIns="0" tIns="0" rIns="0" bIns="0" rtlCol="0" anchor="ctr"/>
          <a:lstStyle/>
          <a:p>
            <a:pPr algn="r" indent="0" marL="0">
              <a:buNone/>
            </a:pPr>
            <a:r>
              <a:rPr lang="en-US" sz="800" dirty="0">
                <a:solidFill>
                  <a:srgbClr val="6E6866"/>
                </a:solidFill>
                <a:latin typeface="Arial" pitchFamily="34" charset="0"/>
                <a:ea typeface="Arial" pitchFamily="34" charset="-122"/>
                <a:cs typeface="Arial" pitchFamily="34" charset="-120"/>
              </a:rPr>
              <a:t>4/9 – 4/17</a:t>
            </a:r>
            <a:endParaRPr lang="en-US" sz="800" dirty="0"/>
          </a:p>
        </p:txBody>
      </p:sp>
      <p:sp>
        <p:nvSpPr>
          <p:cNvPr id="61" name="Text 59"/>
          <p:cNvSpPr/>
          <p:nvPr/>
        </p:nvSpPr>
        <p:spPr>
          <a:xfrm>
            <a:off x="548640" y="4034463"/>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竣工</a:t>
            </a:r>
            <a:endParaRPr lang="en-US" sz="950" dirty="0"/>
          </a:p>
        </p:txBody>
      </p:sp>
      <p:sp>
        <p:nvSpPr>
          <p:cNvPr id="62" name="Shape 60"/>
          <p:cNvSpPr/>
          <p:nvPr/>
        </p:nvSpPr>
        <p:spPr>
          <a:xfrm>
            <a:off x="11006509" y="4081637"/>
            <a:ext cx="115312" cy="115312"/>
          </a:xfrm>
          <a:prstGeom prst="diamond">
            <a:avLst/>
          </a:prstGeom>
          <a:solidFill>
            <a:srgbClr val="8C2740"/>
          </a:solidFill>
          <a:ln w="12700">
            <a:solidFill>
              <a:srgbClr val="8C2740"/>
            </a:solidFill>
            <a:prstDash val="solid"/>
          </a:ln>
        </p:spPr>
      </p:sp>
      <p:sp>
        <p:nvSpPr>
          <p:cNvPr id="63" name="Text 61"/>
          <p:cNvSpPr/>
          <p:nvPr/>
        </p:nvSpPr>
        <p:spPr>
          <a:xfrm>
            <a:off x="10149766" y="4034463"/>
            <a:ext cx="786384" cy="209659"/>
          </a:xfrm>
          <a:prstGeom prst="rect">
            <a:avLst/>
          </a:prstGeom>
          <a:noFill/>
          <a:ln/>
        </p:spPr>
        <p:txBody>
          <a:bodyPr wrap="square" lIns="0" tIns="0" rIns="0" bIns="0" rtlCol="0" anchor="ctr"/>
          <a:lstStyle/>
          <a:p>
            <a:pPr algn="r" indent="0" marL="0">
              <a:buNone/>
            </a:pPr>
            <a:r>
              <a:rPr lang="en-US" sz="900" b="1" dirty="0">
                <a:solidFill>
                  <a:srgbClr val="8C2740"/>
                </a:solidFill>
                <a:latin typeface="Arial" pitchFamily="34" charset="0"/>
                <a:ea typeface="Arial" pitchFamily="34" charset="-122"/>
                <a:cs typeface="Arial" pitchFamily="34" charset="-120"/>
              </a:rPr>
              <a:t>4/15</a:t>
            </a:r>
            <a:endParaRPr lang="en-US" sz="900" dirty="0"/>
          </a:p>
        </p:txBody>
      </p:sp>
      <p:sp>
        <p:nvSpPr>
          <p:cNvPr id="64" name="Text 62"/>
          <p:cNvSpPr/>
          <p:nvPr/>
        </p:nvSpPr>
        <p:spPr>
          <a:xfrm>
            <a:off x="548640" y="4244122"/>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開店準備</a:t>
            </a:r>
            <a:endParaRPr lang="en-US" sz="950" dirty="0"/>
          </a:p>
        </p:txBody>
      </p:sp>
      <p:sp>
        <p:nvSpPr>
          <p:cNvPr id="65" name="Shape 63"/>
          <p:cNvSpPr/>
          <p:nvPr/>
        </p:nvSpPr>
        <p:spPr>
          <a:xfrm>
            <a:off x="11130924" y="4294440"/>
            <a:ext cx="267035" cy="109023"/>
          </a:xfrm>
          <a:prstGeom prst="roundRect">
            <a:avLst>
              <a:gd name="adj" fmla="val 16774"/>
            </a:avLst>
          </a:prstGeom>
          <a:solidFill>
            <a:srgbClr val="6B4A72"/>
          </a:solidFill>
          <a:ln w="12700">
            <a:solidFill>
              <a:srgbClr val="6B4A72"/>
            </a:solidFill>
            <a:prstDash val="solid"/>
          </a:ln>
        </p:spPr>
      </p:sp>
      <p:sp>
        <p:nvSpPr>
          <p:cNvPr id="66" name="Text 64"/>
          <p:cNvSpPr/>
          <p:nvPr/>
        </p:nvSpPr>
        <p:spPr>
          <a:xfrm>
            <a:off x="10198236" y="4244122"/>
            <a:ext cx="896112" cy="209659"/>
          </a:xfrm>
          <a:prstGeom prst="rect">
            <a:avLst/>
          </a:prstGeom>
          <a:noFill/>
          <a:ln/>
        </p:spPr>
        <p:txBody>
          <a:bodyPr wrap="square" lIns="0" tIns="0" rIns="0" bIns="0" rtlCol="0" anchor="ctr"/>
          <a:lstStyle/>
          <a:p>
            <a:pPr algn="r" indent="0" marL="0">
              <a:buNone/>
            </a:pPr>
            <a:r>
              <a:rPr lang="en-US" sz="800" dirty="0">
                <a:solidFill>
                  <a:srgbClr val="6E6866"/>
                </a:solidFill>
                <a:latin typeface="Arial" pitchFamily="34" charset="0"/>
                <a:ea typeface="Arial" pitchFamily="34" charset="-122"/>
                <a:cs typeface="Arial" pitchFamily="34" charset="-120"/>
              </a:rPr>
              <a:t>4/17 – 4/25</a:t>
            </a:r>
            <a:endParaRPr lang="en-US" sz="800" dirty="0"/>
          </a:p>
        </p:txBody>
      </p:sp>
      <p:sp>
        <p:nvSpPr>
          <p:cNvPr id="67" name="Text 65"/>
          <p:cNvSpPr/>
          <p:nvPr/>
        </p:nvSpPr>
        <p:spPr>
          <a:xfrm>
            <a:off x="548640" y="4453781"/>
            <a:ext cx="2898648" cy="209659"/>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グランドオープン</a:t>
            </a:r>
            <a:endParaRPr lang="en-US" sz="950" dirty="0"/>
          </a:p>
        </p:txBody>
      </p:sp>
      <p:sp>
        <p:nvSpPr>
          <p:cNvPr id="68" name="Shape 66"/>
          <p:cNvSpPr/>
          <p:nvPr/>
        </p:nvSpPr>
        <p:spPr>
          <a:xfrm>
            <a:off x="11507199" y="4500954"/>
            <a:ext cx="115312" cy="115312"/>
          </a:xfrm>
          <a:prstGeom prst="diamond">
            <a:avLst/>
          </a:prstGeom>
          <a:solidFill>
            <a:srgbClr val="6B4A72"/>
          </a:solidFill>
          <a:ln w="12700">
            <a:solidFill>
              <a:srgbClr val="6B4A72"/>
            </a:solidFill>
            <a:prstDash val="solid"/>
          </a:ln>
        </p:spPr>
      </p:sp>
      <p:sp>
        <p:nvSpPr>
          <p:cNvPr id="69" name="Text 67"/>
          <p:cNvSpPr/>
          <p:nvPr/>
        </p:nvSpPr>
        <p:spPr>
          <a:xfrm>
            <a:off x="10650455" y="4453781"/>
            <a:ext cx="786384" cy="209659"/>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4/30</a:t>
            </a:r>
            <a:endParaRPr lang="en-US" sz="900" dirty="0"/>
          </a:p>
        </p:txBody>
      </p:sp>
      <p:sp>
        <p:nvSpPr>
          <p:cNvPr id="70" name="Shape 68"/>
          <p:cNvSpPr/>
          <p:nvPr/>
        </p:nvSpPr>
        <p:spPr>
          <a:xfrm>
            <a:off x="457200" y="4864608"/>
            <a:ext cx="3611880" cy="1207008"/>
          </a:xfrm>
          <a:prstGeom prst="rect">
            <a:avLst/>
          </a:prstGeom>
          <a:solidFill>
            <a:srgbClr val="F5F3F1"/>
          </a:solidFill>
          <a:ln w="9525">
            <a:solidFill>
              <a:srgbClr val="DCD7D2"/>
            </a:solidFill>
            <a:prstDash val="solid"/>
          </a:ln>
        </p:spPr>
      </p:sp>
      <p:sp>
        <p:nvSpPr>
          <p:cNvPr id="71" name="Text 69"/>
          <p:cNvSpPr/>
          <p:nvPr/>
        </p:nvSpPr>
        <p:spPr>
          <a:xfrm>
            <a:off x="603504" y="4974336"/>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着工日と引渡日が逆転</a:t>
            </a:r>
            <a:endParaRPr lang="en-US" sz="1100" dirty="0"/>
          </a:p>
        </p:txBody>
      </p:sp>
      <p:sp>
        <p:nvSpPr>
          <p:cNvPr id="72" name="Text 70"/>
          <p:cNvSpPr/>
          <p:nvPr/>
        </p:nvSpPr>
        <p:spPr>
          <a:xfrm>
            <a:off x="603504" y="5248656"/>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工程表の着工は2/10、契約上の引渡は2/15。引渡前のB工事着手が可能か、三井不動産・TMM・ディコンに確認が必要。</a:t>
            </a:r>
            <a:endParaRPr lang="en-US" sz="950" dirty="0"/>
          </a:p>
        </p:txBody>
      </p:sp>
      <p:sp>
        <p:nvSpPr>
          <p:cNvPr id="73" name="Shape 71"/>
          <p:cNvSpPr/>
          <p:nvPr/>
        </p:nvSpPr>
        <p:spPr>
          <a:xfrm>
            <a:off x="4288536" y="4864608"/>
            <a:ext cx="3611880" cy="1207008"/>
          </a:xfrm>
          <a:prstGeom prst="rect">
            <a:avLst/>
          </a:prstGeom>
          <a:solidFill>
            <a:srgbClr val="F5F3F1"/>
          </a:solidFill>
          <a:ln w="9525">
            <a:solidFill>
              <a:srgbClr val="DCD7D2"/>
            </a:solidFill>
            <a:prstDash val="solid"/>
          </a:ln>
        </p:spPr>
      </p:sp>
      <p:sp>
        <p:nvSpPr>
          <p:cNvPr id="74" name="Text 72"/>
          <p:cNvSpPr/>
          <p:nvPr/>
        </p:nvSpPr>
        <p:spPr>
          <a:xfrm>
            <a:off x="4434840" y="4974336"/>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B工事とC工事は直列</a:t>
            </a:r>
            <a:endParaRPr lang="en-US" sz="1100" dirty="0"/>
          </a:p>
        </p:txBody>
      </p:sp>
      <p:sp>
        <p:nvSpPr>
          <p:cNvPr id="75" name="Text 73"/>
          <p:cNvSpPr/>
          <p:nvPr/>
        </p:nvSpPr>
        <p:spPr>
          <a:xfrm>
            <a:off x="4434840" y="5248656"/>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前回想定の並走ではなくB工事完了後にC工事着手。B工事2/17完了が守れないと竣工4/15が崩れる。</a:t>
            </a:r>
            <a:endParaRPr lang="en-US" sz="950" dirty="0"/>
          </a:p>
        </p:txBody>
      </p:sp>
      <p:sp>
        <p:nvSpPr>
          <p:cNvPr id="76" name="Shape 74"/>
          <p:cNvSpPr/>
          <p:nvPr/>
        </p:nvSpPr>
        <p:spPr>
          <a:xfrm>
            <a:off x="8119872" y="4864608"/>
            <a:ext cx="3611880" cy="1207008"/>
          </a:xfrm>
          <a:prstGeom prst="rect">
            <a:avLst/>
          </a:prstGeom>
          <a:solidFill>
            <a:srgbClr val="F5F3F1"/>
          </a:solidFill>
          <a:ln w="9525">
            <a:solidFill>
              <a:srgbClr val="DCD7D2"/>
            </a:solidFill>
            <a:prstDash val="solid"/>
          </a:ln>
        </p:spPr>
      </p:sp>
      <p:sp>
        <p:nvSpPr>
          <p:cNvPr id="77" name="Text 75"/>
          <p:cNvSpPr/>
          <p:nvPr/>
        </p:nvSpPr>
        <p:spPr>
          <a:xfrm>
            <a:off x="8266176" y="4974336"/>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竣工図提出は開業後</a:t>
            </a:r>
            <a:endParaRPr lang="en-US" sz="1100" dirty="0"/>
          </a:p>
        </p:txBody>
      </p:sp>
      <p:sp>
        <p:nvSpPr>
          <p:cNvPr id="78" name="Text 76"/>
          <p:cNvSpPr/>
          <p:nvPr/>
        </p:nvSpPr>
        <p:spPr>
          <a:xfrm>
            <a:off x="8266176" y="5248656"/>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ノーツデザインオフィスによる竣工図提出は4月末〜5月。開業とは切り離して管理する。</a:t>
            </a:r>
            <a:endParaRPr lang="en-US" sz="950" dirty="0"/>
          </a:p>
        </p:txBody>
      </p:sp>
      <p:sp>
        <p:nvSpPr>
          <p:cNvPr id="79" name="Text 77"/>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出典②：ノーツデザインオフィス「[B-0105・0106] THIERRY MARX 新装工事 工程表」2026年8月28日修正　　バーの日付は工程表の作図位置から読み取った値で±2〜3日の誤差を含む。着工2/10・竣工4/15はヘッダー記載の確定値。</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2026年8月 – 2027年4月30日</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フェーズ③ 採用・開業準備 ─ 工事と独立して先行できる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設計会社工程には含まれないWineBank側の準備。竣工4/15から開業4/30までの実働は約2週間で、ここがトレーニング枠になる。</a:t>
            </a:r>
            <a:endParaRPr lang="en-US" sz="1050" dirty="0"/>
          </a:p>
        </p:txBody>
      </p:sp>
      <p:sp>
        <p:nvSpPr>
          <p:cNvPr id="5" name="Shape 3"/>
          <p:cNvSpPr/>
          <p:nvPr/>
        </p:nvSpPr>
        <p:spPr>
          <a:xfrm>
            <a:off x="3520440" y="1417320"/>
            <a:ext cx="0" cy="4663440"/>
          </a:xfrm>
          <a:prstGeom prst="line">
            <a:avLst/>
          </a:prstGeom>
          <a:noFill/>
          <a:ln w="9525">
            <a:solidFill>
              <a:srgbClr val="DCD7D2"/>
            </a:solidFill>
            <a:prstDash val="solid"/>
          </a:ln>
        </p:spPr>
      </p:sp>
      <p:sp>
        <p:nvSpPr>
          <p:cNvPr id="6" name="Text 4"/>
          <p:cNvSpPr/>
          <p:nvPr/>
        </p:nvSpPr>
        <p:spPr>
          <a:xfrm>
            <a:off x="3557016" y="1435608"/>
            <a:ext cx="8477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7" name="Text 5"/>
          <p:cNvSpPr/>
          <p:nvPr/>
        </p:nvSpPr>
        <p:spPr>
          <a:xfrm>
            <a:off x="3557016" y="1581912"/>
            <a:ext cx="84779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423102" y="1417320"/>
            <a:ext cx="0" cy="4663440"/>
          </a:xfrm>
          <a:prstGeom prst="line">
            <a:avLst/>
          </a:prstGeom>
          <a:noFill/>
          <a:ln w="9525">
            <a:solidFill>
              <a:srgbClr val="DCD7D2"/>
            </a:solidFill>
            <a:prstDash val="solid"/>
          </a:ln>
        </p:spPr>
      </p:sp>
      <p:sp>
        <p:nvSpPr>
          <p:cNvPr id="9" name="Text 7"/>
          <p:cNvSpPr/>
          <p:nvPr/>
        </p:nvSpPr>
        <p:spPr>
          <a:xfrm>
            <a:off x="4459678" y="1435608"/>
            <a:ext cx="81868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0" name="Shape 8"/>
          <p:cNvSpPr/>
          <p:nvPr/>
        </p:nvSpPr>
        <p:spPr>
          <a:xfrm>
            <a:off x="5296646" y="1417320"/>
            <a:ext cx="0" cy="4663440"/>
          </a:xfrm>
          <a:prstGeom prst="line">
            <a:avLst/>
          </a:prstGeom>
          <a:noFill/>
          <a:ln w="9525">
            <a:solidFill>
              <a:srgbClr val="DCD7D2"/>
            </a:solidFill>
            <a:prstDash val="solid"/>
          </a:ln>
        </p:spPr>
      </p:sp>
      <p:sp>
        <p:nvSpPr>
          <p:cNvPr id="11" name="Text 9"/>
          <p:cNvSpPr/>
          <p:nvPr/>
        </p:nvSpPr>
        <p:spPr>
          <a:xfrm>
            <a:off x="5333222" y="1435608"/>
            <a:ext cx="8477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2" name="Shape 10"/>
          <p:cNvSpPr/>
          <p:nvPr/>
        </p:nvSpPr>
        <p:spPr>
          <a:xfrm>
            <a:off x="6199308" y="1417320"/>
            <a:ext cx="0" cy="4663440"/>
          </a:xfrm>
          <a:prstGeom prst="line">
            <a:avLst/>
          </a:prstGeom>
          <a:noFill/>
          <a:ln w="9525">
            <a:solidFill>
              <a:srgbClr val="DCD7D2"/>
            </a:solidFill>
            <a:prstDash val="solid"/>
          </a:ln>
        </p:spPr>
      </p:sp>
      <p:sp>
        <p:nvSpPr>
          <p:cNvPr id="13" name="Text 11"/>
          <p:cNvSpPr/>
          <p:nvPr/>
        </p:nvSpPr>
        <p:spPr>
          <a:xfrm>
            <a:off x="6235884" y="1435608"/>
            <a:ext cx="81868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4" name="Shape 12"/>
          <p:cNvSpPr/>
          <p:nvPr/>
        </p:nvSpPr>
        <p:spPr>
          <a:xfrm>
            <a:off x="7072852" y="1417320"/>
            <a:ext cx="0" cy="4663440"/>
          </a:xfrm>
          <a:prstGeom prst="line">
            <a:avLst/>
          </a:prstGeom>
          <a:noFill/>
          <a:ln w="9525">
            <a:solidFill>
              <a:srgbClr val="DCD7D2"/>
            </a:solidFill>
            <a:prstDash val="solid"/>
          </a:ln>
        </p:spPr>
      </p:sp>
      <p:sp>
        <p:nvSpPr>
          <p:cNvPr id="15" name="Text 13"/>
          <p:cNvSpPr/>
          <p:nvPr/>
        </p:nvSpPr>
        <p:spPr>
          <a:xfrm>
            <a:off x="7109428" y="1435608"/>
            <a:ext cx="8477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6" name="Shape 14"/>
          <p:cNvSpPr/>
          <p:nvPr/>
        </p:nvSpPr>
        <p:spPr>
          <a:xfrm>
            <a:off x="7975514" y="1417320"/>
            <a:ext cx="0" cy="4663440"/>
          </a:xfrm>
          <a:prstGeom prst="line">
            <a:avLst/>
          </a:prstGeom>
          <a:noFill/>
          <a:ln w="12700">
            <a:solidFill>
              <a:srgbClr val="6E6866"/>
            </a:solidFill>
            <a:prstDash val="solid"/>
          </a:ln>
        </p:spPr>
      </p:sp>
      <p:sp>
        <p:nvSpPr>
          <p:cNvPr id="17" name="Text 15"/>
          <p:cNvSpPr/>
          <p:nvPr/>
        </p:nvSpPr>
        <p:spPr>
          <a:xfrm>
            <a:off x="8012090" y="1435608"/>
            <a:ext cx="8477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8" name="Text 16"/>
          <p:cNvSpPr/>
          <p:nvPr/>
        </p:nvSpPr>
        <p:spPr>
          <a:xfrm>
            <a:off x="8012090" y="1581912"/>
            <a:ext cx="84779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9" name="Shape 17"/>
          <p:cNvSpPr/>
          <p:nvPr/>
        </p:nvSpPr>
        <p:spPr>
          <a:xfrm>
            <a:off x="8878175" y="1417320"/>
            <a:ext cx="0" cy="4663440"/>
          </a:xfrm>
          <a:prstGeom prst="line">
            <a:avLst/>
          </a:prstGeom>
          <a:noFill/>
          <a:ln w="9525">
            <a:solidFill>
              <a:srgbClr val="DCD7D2"/>
            </a:solidFill>
            <a:prstDash val="solid"/>
          </a:ln>
        </p:spPr>
      </p:sp>
      <p:sp>
        <p:nvSpPr>
          <p:cNvPr id="20" name="Text 18"/>
          <p:cNvSpPr/>
          <p:nvPr/>
        </p:nvSpPr>
        <p:spPr>
          <a:xfrm>
            <a:off x="8914751" y="1435608"/>
            <a:ext cx="760444"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1" name="Shape 19"/>
          <p:cNvSpPr/>
          <p:nvPr/>
        </p:nvSpPr>
        <p:spPr>
          <a:xfrm>
            <a:off x="9693483" y="1417320"/>
            <a:ext cx="0" cy="4663440"/>
          </a:xfrm>
          <a:prstGeom prst="line">
            <a:avLst/>
          </a:prstGeom>
          <a:noFill/>
          <a:ln w="9525">
            <a:solidFill>
              <a:srgbClr val="DCD7D2"/>
            </a:solidFill>
            <a:prstDash val="solid"/>
          </a:ln>
        </p:spPr>
      </p:sp>
      <p:sp>
        <p:nvSpPr>
          <p:cNvPr id="22" name="Text 20"/>
          <p:cNvSpPr/>
          <p:nvPr/>
        </p:nvSpPr>
        <p:spPr>
          <a:xfrm>
            <a:off x="9730059" y="1435608"/>
            <a:ext cx="84779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3" name="Shape 21"/>
          <p:cNvSpPr/>
          <p:nvPr/>
        </p:nvSpPr>
        <p:spPr>
          <a:xfrm>
            <a:off x="10596145" y="1417320"/>
            <a:ext cx="0" cy="4663440"/>
          </a:xfrm>
          <a:prstGeom prst="line">
            <a:avLst/>
          </a:prstGeom>
          <a:noFill/>
          <a:ln w="9525">
            <a:solidFill>
              <a:srgbClr val="DCD7D2"/>
            </a:solidFill>
            <a:prstDash val="solid"/>
          </a:ln>
        </p:spPr>
      </p:sp>
      <p:sp>
        <p:nvSpPr>
          <p:cNvPr id="24" name="Text 22"/>
          <p:cNvSpPr/>
          <p:nvPr/>
        </p:nvSpPr>
        <p:spPr>
          <a:xfrm>
            <a:off x="10632721" y="1435608"/>
            <a:ext cx="81868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25" name="Shape 23"/>
          <p:cNvSpPr/>
          <p:nvPr/>
        </p:nvSpPr>
        <p:spPr>
          <a:xfrm>
            <a:off x="11469689" y="1417320"/>
            <a:ext cx="0" cy="4663440"/>
          </a:xfrm>
          <a:prstGeom prst="line">
            <a:avLst/>
          </a:prstGeom>
          <a:noFill/>
          <a:ln w="9525">
            <a:solidFill>
              <a:srgbClr val="DCD7D2"/>
            </a:solidFill>
            <a:prstDash val="solid"/>
          </a:ln>
        </p:spPr>
      </p:sp>
      <p:sp>
        <p:nvSpPr>
          <p:cNvPr id="26" name="Text 24"/>
          <p:cNvSpPr/>
          <p:nvPr/>
        </p:nvSpPr>
        <p:spPr>
          <a:xfrm>
            <a:off x="11506265" y="1435608"/>
            <a:ext cx="27432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27" name="Shape 25"/>
          <p:cNvSpPr/>
          <p:nvPr/>
        </p:nvSpPr>
        <p:spPr>
          <a:xfrm>
            <a:off x="457200" y="1728216"/>
            <a:ext cx="11274552" cy="0"/>
          </a:xfrm>
          <a:prstGeom prst="line">
            <a:avLst/>
          </a:prstGeom>
          <a:noFill/>
          <a:ln w="9525">
            <a:solidFill>
              <a:srgbClr val="6E6866"/>
            </a:solidFill>
            <a:prstDash val="solid"/>
          </a:ln>
        </p:spPr>
      </p:sp>
      <p:sp>
        <p:nvSpPr>
          <p:cNvPr id="28" name="Shape 26"/>
          <p:cNvSpPr/>
          <p:nvPr/>
        </p:nvSpPr>
        <p:spPr>
          <a:xfrm>
            <a:off x="3520440" y="1417320"/>
            <a:ext cx="0" cy="4663440"/>
          </a:xfrm>
          <a:prstGeom prst="line">
            <a:avLst/>
          </a:prstGeom>
          <a:noFill/>
          <a:ln w="9525">
            <a:solidFill>
              <a:srgbClr val="6E6866"/>
            </a:solidFill>
            <a:prstDash val="solid"/>
          </a:ln>
        </p:spPr>
      </p:sp>
      <p:sp>
        <p:nvSpPr>
          <p:cNvPr id="29" name="Shape 27"/>
          <p:cNvSpPr/>
          <p:nvPr/>
        </p:nvSpPr>
        <p:spPr>
          <a:xfrm>
            <a:off x="11731752" y="1417320"/>
            <a:ext cx="0" cy="4663440"/>
          </a:xfrm>
          <a:prstGeom prst="line">
            <a:avLst/>
          </a:prstGeom>
          <a:noFill/>
          <a:ln w="9525">
            <a:solidFill>
              <a:srgbClr val="6E6866"/>
            </a:solidFill>
            <a:prstDash val="solid"/>
          </a:ln>
        </p:spPr>
      </p:sp>
      <p:sp>
        <p:nvSpPr>
          <p:cNvPr id="30" name="Shape 28"/>
          <p:cNvSpPr/>
          <p:nvPr/>
        </p:nvSpPr>
        <p:spPr>
          <a:xfrm>
            <a:off x="457200" y="1728216"/>
            <a:ext cx="11274552" cy="272034"/>
          </a:xfrm>
          <a:prstGeom prst="rect">
            <a:avLst/>
          </a:prstGeom>
          <a:solidFill>
            <a:srgbClr val="F5F3F1"/>
          </a:solidFill>
          <a:ln w="12700">
            <a:solidFill>
              <a:srgbClr val="F5F3F1"/>
            </a:solidFill>
            <a:prstDash val="solid"/>
          </a:ln>
        </p:spPr>
      </p:sp>
      <p:sp>
        <p:nvSpPr>
          <p:cNvPr id="31" name="Shape 29"/>
          <p:cNvSpPr/>
          <p:nvPr/>
        </p:nvSpPr>
        <p:spPr>
          <a:xfrm>
            <a:off x="530352" y="1823085"/>
            <a:ext cx="82296" cy="82296"/>
          </a:xfrm>
          <a:prstGeom prst="rect">
            <a:avLst/>
          </a:prstGeom>
          <a:solidFill>
            <a:srgbClr val="4E6B54"/>
          </a:solidFill>
          <a:ln w="12700">
            <a:solidFill>
              <a:srgbClr val="4E6B54"/>
            </a:solidFill>
            <a:prstDash val="solid"/>
          </a:ln>
        </p:spPr>
      </p:sp>
      <p:sp>
        <p:nvSpPr>
          <p:cNvPr id="32" name="Text 30"/>
          <p:cNvSpPr/>
          <p:nvPr/>
        </p:nvSpPr>
        <p:spPr>
          <a:xfrm>
            <a:off x="676656" y="1728216"/>
            <a:ext cx="27889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採用・組織</a:t>
            </a:r>
            <a:endParaRPr lang="en-US" sz="1000" dirty="0"/>
          </a:p>
        </p:txBody>
      </p:sp>
      <p:sp>
        <p:nvSpPr>
          <p:cNvPr id="33" name="Text 31"/>
          <p:cNvSpPr/>
          <p:nvPr/>
        </p:nvSpPr>
        <p:spPr>
          <a:xfrm>
            <a:off x="548640" y="2000250"/>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幹部採用（総支配人・シェフ）</a:t>
            </a:r>
            <a:endParaRPr lang="en-US" sz="950" dirty="0"/>
          </a:p>
        </p:txBody>
      </p:sp>
      <p:sp>
        <p:nvSpPr>
          <p:cNvPr id="34" name="Shape 32"/>
          <p:cNvSpPr/>
          <p:nvPr/>
        </p:nvSpPr>
        <p:spPr>
          <a:xfrm>
            <a:off x="3520440" y="2067687"/>
            <a:ext cx="2649750" cy="137160"/>
          </a:xfrm>
          <a:prstGeom prst="roundRect">
            <a:avLst>
              <a:gd name="adj" fmla="val 13333"/>
            </a:avLst>
          </a:prstGeom>
          <a:solidFill>
            <a:srgbClr val="4E6B54"/>
          </a:solidFill>
          <a:ln w="12700">
            <a:solidFill>
              <a:srgbClr val="4E6B54"/>
            </a:solidFill>
            <a:prstDash val="solid"/>
          </a:ln>
        </p:spPr>
      </p:sp>
      <p:sp>
        <p:nvSpPr>
          <p:cNvPr id="35" name="Shape 33"/>
          <p:cNvSpPr/>
          <p:nvPr/>
        </p:nvSpPr>
        <p:spPr>
          <a:xfrm>
            <a:off x="3488436" y="2035683"/>
            <a:ext cx="2713758" cy="201168"/>
          </a:xfrm>
          <a:prstGeom prst="roundRect">
            <a:avLst>
              <a:gd name="adj" fmla="val 9091"/>
            </a:avLst>
          </a:prstGeom>
          <a:solidFill>
            <a:srgbClr val="FFFFFF">
              <a:alpha val="0"/>
            </a:srgbClr>
          </a:solidFill>
          <a:ln w="12700">
            <a:solidFill>
              <a:srgbClr val="4E6B54"/>
            </a:solidFill>
            <a:prstDash val="solid"/>
          </a:ln>
        </p:spPr>
      </p:sp>
      <p:sp>
        <p:nvSpPr>
          <p:cNvPr id="36" name="Text 34"/>
          <p:cNvSpPr/>
          <p:nvPr/>
        </p:nvSpPr>
        <p:spPr>
          <a:xfrm>
            <a:off x="3575304" y="2000250"/>
            <a:ext cx="2540022"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10/31</a:t>
            </a:r>
            <a:endParaRPr lang="en-US" sz="800" dirty="0"/>
          </a:p>
        </p:txBody>
      </p:sp>
      <p:sp>
        <p:nvSpPr>
          <p:cNvPr id="37" name="Text 35"/>
          <p:cNvSpPr/>
          <p:nvPr/>
        </p:nvSpPr>
        <p:spPr>
          <a:xfrm>
            <a:off x="548640" y="227228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主要ポジション採用（ソムリエ等）</a:t>
            </a:r>
            <a:endParaRPr lang="en-US" sz="950" dirty="0"/>
          </a:p>
        </p:txBody>
      </p:sp>
      <p:sp>
        <p:nvSpPr>
          <p:cNvPr id="38" name="Shape 36"/>
          <p:cNvSpPr/>
          <p:nvPr/>
        </p:nvSpPr>
        <p:spPr>
          <a:xfrm>
            <a:off x="5296646" y="2339721"/>
            <a:ext cx="2649750" cy="137160"/>
          </a:xfrm>
          <a:prstGeom prst="roundRect">
            <a:avLst>
              <a:gd name="adj" fmla="val 13333"/>
            </a:avLst>
          </a:prstGeom>
          <a:solidFill>
            <a:srgbClr val="4E6B54"/>
          </a:solidFill>
          <a:ln w="12700">
            <a:solidFill>
              <a:srgbClr val="4E6B54"/>
            </a:solidFill>
            <a:prstDash val="solid"/>
          </a:ln>
        </p:spPr>
      </p:sp>
      <p:sp>
        <p:nvSpPr>
          <p:cNvPr id="39" name="Text 37"/>
          <p:cNvSpPr/>
          <p:nvPr/>
        </p:nvSpPr>
        <p:spPr>
          <a:xfrm>
            <a:off x="5351510" y="2272284"/>
            <a:ext cx="2540022"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10/1 – 12/31</a:t>
            </a:r>
            <a:endParaRPr lang="en-US" sz="800" dirty="0"/>
          </a:p>
        </p:txBody>
      </p:sp>
      <p:sp>
        <p:nvSpPr>
          <p:cNvPr id="40" name="Text 38"/>
          <p:cNvSpPr/>
          <p:nvPr/>
        </p:nvSpPr>
        <p:spPr>
          <a:xfrm>
            <a:off x="548640" y="254431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社員採用（キッチン・ホール）</a:t>
            </a:r>
            <a:endParaRPr lang="en-US" sz="950" dirty="0"/>
          </a:p>
        </p:txBody>
      </p:sp>
      <p:sp>
        <p:nvSpPr>
          <p:cNvPr id="41" name="Shape 39"/>
          <p:cNvSpPr/>
          <p:nvPr/>
        </p:nvSpPr>
        <p:spPr>
          <a:xfrm>
            <a:off x="6199308" y="2611755"/>
            <a:ext cx="3465057" cy="137160"/>
          </a:xfrm>
          <a:prstGeom prst="roundRect">
            <a:avLst>
              <a:gd name="adj" fmla="val 13333"/>
            </a:avLst>
          </a:prstGeom>
          <a:solidFill>
            <a:srgbClr val="4E6B54"/>
          </a:solidFill>
          <a:ln w="12700">
            <a:solidFill>
              <a:srgbClr val="4E6B54"/>
            </a:solidFill>
            <a:prstDash val="solid"/>
          </a:ln>
        </p:spPr>
      </p:sp>
      <p:sp>
        <p:nvSpPr>
          <p:cNvPr id="42" name="Text 40"/>
          <p:cNvSpPr/>
          <p:nvPr/>
        </p:nvSpPr>
        <p:spPr>
          <a:xfrm>
            <a:off x="6254172" y="2544318"/>
            <a:ext cx="3355329"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2/28</a:t>
            </a:r>
            <a:endParaRPr lang="en-US" sz="800" dirty="0"/>
          </a:p>
        </p:txBody>
      </p:sp>
      <p:sp>
        <p:nvSpPr>
          <p:cNvPr id="43" name="Text 41"/>
          <p:cNvSpPr/>
          <p:nvPr/>
        </p:nvSpPr>
        <p:spPr>
          <a:xfrm>
            <a:off x="548640" y="2816352"/>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労務体制・就業規則 整備</a:t>
            </a:r>
            <a:endParaRPr lang="en-US" sz="950" dirty="0"/>
          </a:p>
        </p:txBody>
      </p:sp>
      <p:sp>
        <p:nvSpPr>
          <p:cNvPr id="44" name="Shape 42"/>
          <p:cNvSpPr/>
          <p:nvPr/>
        </p:nvSpPr>
        <p:spPr>
          <a:xfrm>
            <a:off x="6199308" y="2883789"/>
            <a:ext cx="2649750" cy="137160"/>
          </a:xfrm>
          <a:prstGeom prst="roundRect">
            <a:avLst>
              <a:gd name="adj" fmla="val 13333"/>
            </a:avLst>
          </a:prstGeom>
          <a:solidFill>
            <a:srgbClr val="4E6B54"/>
          </a:solidFill>
          <a:ln w="12700">
            <a:solidFill>
              <a:srgbClr val="4E6B54"/>
            </a:solidFill>
            <a:prstDash val="solid"/>
          </a:ln>
        </p:spPr>
      </p:sp>
      <p:sp>
        <p:nvSpPr>
          <p:cNvPr id="45" name="Text 43"/>
          <p:cNvSpPr/>
          <p:nvPr/>
        </p:nvSpPr>
        <p:spPr>
          <a:xfrm>
            <a:off x="6254172" y="2816352"/>
            <a:ext cx="2540022"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1/31</a:t>
            </a:r>
            <a:endParaRPr lang="en-US" sz="800" dirty="0"/>
          </a:p>
        </p:txBody>
      </p:sp>
      <p:sp>
        <p:nvSpPr>
          <p:cNvPr id="46" name="Text 44"/>
          <p:cNvSpPr/>
          <p:nvPr/>
        </p:nvSpPr>
        <p:spPr>
          <a:xfrm>
            <a:off x="548640" y="308838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アルバイト採用</a:t>
            </a:r>
            <a:endParaRPr lang="en-US" sz="950" dirty="0"/>
          </a:p>
        </p:txBody>
      </p:sp>
      <p:sp>
        <p:nvSpPr>
          <p:cNvPr id="47" name="Shape 45"/>
          <p:cNvSpPr/>
          <p:nvPr/>
        </p:nvSpPr>
        <p:spPr>
          <a:xfrm>
            <a:off x="8091986" y="3155823"/>
            <a:ext cx="2475041" cy="137160"/>
          </a:xfrm>
          <a:prstGeom prst="roundRect">
            <a:avLst>
              <a:gd name="adj" fmla="val 13333"/>
            </a:avLst>
          </a:prstGeom>
          <a:solidFill>
            <a:srgbClr val="4E6B54"/>
          </a:solidFill>
          <a:ln w="12700">
            <a:solidFill>
              <a:srgbClr val="4E6B54"/>
            </a:solidFill>
            <a:prstDash val="solid"/>
          </a:ln>
        </p:spPr>
      </p:sp>
      <p:sp>
        <p:nvSpPr>
          <p:cNvPr id="48" name="Text 46"/>
          <p:cNvSpPr/>
          <p:nvPr/>
        </p:nvSpPr>
        <p:spPr>
          <a:xfrm>
            <a:off x="8146850" y="3088386"/>
            <a:ext cx="2365313"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3/31</a:t>
            </a:r>
            <a:endParaRPr lang="en-US" sz="800" dirty="0"/>
          </a:p>
        </p:txBody>
      </p:sp>
      <p:sp>
        <p:nvSpPr>
          <p:cNvPr id="49" name="Shape 47"/>
          <p:cNvSpPr/>
          <p:nvPr/>
        </p:nvSpPr>
        <p:spPr>
          <a:xfrm>
            <a:off x="457200" y="3360420"/>
            <a:ext cx="11274552" cy="272034"/>
          </a:xfrm>
          <a:prstGeom prst="rect">
            <a:avLst/>
          </a:prstGeom>
          <a:solidFill>
            <a:srgbClr val="F5F3F1"/>
          </a:solidFill>
          <a:ln w="12700">
            <a:solidFill>
              <a:srgbClr val="F5F3F1"/>
            </a:solidFill>
            <a:prstDash val="solid"/>
          </a:ln>
        </p:spPr>
      </p:sp>
      <p:sp>
        <p:nvSpPr>
          <p:cNvPr id="50" name="Shape 48"/>
          <p:cNvSpPr/>
          <p:nvPr/>
        </p:nvSpPr>
        <p:spPr>
          <a:xfrm>
            <a:off x="530352" y="3455289"/>
            <a:ext cx="82296" cy="82296"/>
          </a:xfrm>
          <a:prstGeom prst="rect">
            <a:avLst/>
          </a:prstGeom>
          <a:solidFill>
            <a:srgbClr val="6B4A72"/>
          </a:solidFill>
          <a:ln w="12700">
            <a:solidFill>
              <a:srgbClr val="6B4A72"/>
            </a:solidFill>
            <a:prstDash val="solid"/>
          </a:ln>
        </p:spPr>
      </p:sp>
      <p:sp>
        <p:nvSpPr>
          <p:cNvPr id="51" name="Text 49"/>
          <p:cNvSpPr/>
          <p:nvPr/>
        </p:nvSpPr>
        <p:spPr>
          <a:xfrm>
            <a:off x="676656" y="3360420"/>
            <a:ext cx="27889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開業準備</a:t>
            </a:r>
            <a:endParaRPr lang="en-US" sz="1000" dirty="0"/>
          </a:p>
        </p:txBody>
      </p:sp>
      <p:sp>
        <p:nvSpPr>
          <p:cNvPr id="52" name="Text 50"/>
          <p:cNvSpPr/>
          <p:nvPr/>
        </p:nvSpPr>
        <p:spPr>
          <a:xfrm>
            <a:off x="548640" y="363245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メニュー開発・監修</a:t>
            </a:r>
            <a:endParaRPr lang="en-US" sz="950" dirty="0"/>
          </a:p>
        </p:txBody>
      </p:sp>
      <p:sp>
        <p:nvSpPr>
          <p:cNvPr id="53" name="Shape 51"/>
          <p:cNvSpPr/>
          <p:nvPr/>
        </p:nvSpPr>
        <p:spPr>
          <a:xfrm>
            <a:off x="6199308" y="3699891"/>
            <a:ext cx="3465057" cy="137160"/>
          </a:xfrm>
          <a:prstGeom prst="roundRect">
            <a:avLst>
              <a:gd name="adj" fmla="val 13333"/>
            </a:avLst>
          </a:prstGeom>
          <a:solidFill>
            <a:srgbClr val="6B4A72"/>
          </a:solidFill>
          <a:ln w="12700">
            <a:solidFill>
              <a:srgbClr val="6B4A72"/>
            </a:solidFill>
            <a:prstDash val="solid"/>
          </a:ln>
        </p:spPr>
      </p:sp>
      <p:sp>
        <p:nvSpPr>
          <p:cNvPr id="54" name="Text 52"/>
          <p:cNvSpPr/>
          <p:nvPr/>
        </p:nvSpPr>
        <p:spPr>
          <a:xfrm>
            <a:off x="6254172" y="3632454"/>
            <a:ext cx="3355329"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2/28</a:t>
            </a:r>
            <a:endParaRPr lang="en-US" sz="800" dirty="0"/>
          </a:p>
        </p:txBody>
      </p:sp>
      <p:sp>
        <p:nvSpPr>
          <p:cNvPr id="55" name="Text 53"/>
          <p:cNvSpPr/>
          <p:nvPr/>
        </p:nvSpPr>
        <p:spPr>
          <a:xfrm>
            <a:off x="548640" y="390448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厨房機器 発注〜搬入設置</a:t>
            </a:r>
            <a:endParaRPr lang="en-US" sz="950" dirty="0"/>
          </a:p>
        </p:txBody>
      </p:sp>
      <p:sp>
        <p:nvSpPr>
          <p:cNvPr id="56" name="Shape 54"/>
          <p:cNvSpPr/>
          <p:nvPr/>
        </p:nvSpPr>
        <p:spPr>
          <a:xfrm>
            <a:off x="5849890" y="3971925"/>
            <a:ext cx="5008318" cy="137160"/>
          </a:xfrm>
          <a:prstGeom prst="roundRect">
            <a:avLst>
              <a:gd name="adj" fmla="val 13333"/>
            </a:avLst>
          </a:prstGeom>
          <a:solidFill>
            <a:srgbClr val="6B4A72"/>
          </a:solidFill>
          <a:ln w="12700">
            <a:solidFill>
              <a:srgbClr val="6B4A72"/>
            </a:solidFill>
            <a:prstDash val="solid"/>
          </a:ln>
        </p:spPr>
      </p:sp>
      <p:sp>
        <p:nvSpPr>
          <p:cNvPr id="57" name="Text 55"/>
          <p:cNvSpPr/>
          <p:nvPr/>
        </p:nvSpPr>
        <p:spPr>
          <a:xfrm>
            <a:off x="5904754" y="3904488"/>
            <a:ext cx="4898590"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10/20 – 4/10</a:t>
            </a:r>
            <a:endParaRPr lang="en-US" sz="800" dirty="0"/>
          </a:p>
        </p:txBody>
      </p:sp>
      <p:sp>
        <p:nvSpPr>
          <p:cNvPr id="58" name="Text 56"/>
          <p:cNvSpPr/>
          <p:nvPr/>
        </p:nvSpPr>
        <p:spPr>
          <a:xfrm>
            <a:off x="548640" y="4176522"/>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ワイン・食材 仕入先契約</a:t>
            </a:r>
            <a:endParaRPr lang="en-US" sz="950" dirty="0"/>
          </a:p>
        </p:txBody>
      </p:sp>
      <p:sp>
        <p:nvSpPr>
          <p:cNvPr id="59" name="Shape 57"/>
          <p:cNvSpPr/>
          <p:nvPr/>
        </p:nvSpPr>
        <p:spPr>
          <a:xfrm>
            <a:off x="7072852" y="4243959"/>
            <a:ext cx="3028285" cy="137160"/>
          </a:xfrm>
          <a:prstGeom prst="roundRect">
            <a:avLst>
              <a:gd name="adj" fmla="val 13333"/>
            </a:avLst>
          </a:prstGeom>
          <a:solidFill>
            <a:srgbClr val="6B4A72"/>
          </a:solidFill>
          <a:ln w="12700">
            <a:solidFill>
              <a:srgbClr val="6B4A72"/>
            </a:solidFill>
            <a:prstDash val="solid"/>
          </a:ln>
        </p:spPr>
      </p:sp>
      <p:sp>
        <p:nvSpPr>
          <p:cNvPr id="60" name="Text 58"/>
          <p:cNvSpPr/>
          <p:nvPr/>
        </p:nvSpPr>
        <p:spPr>
          <a:xfrm>
            <a:off x="7127716" y="4176522"/>
            <a:ext cx="2918557"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12/1 – 3/15</a:t>
            </a:r>
            <a:endParaRPr lang="en-US" sz="800" dirty="0"/>
          </a:p>
        </p:txBody>
      </p:sp>
      <p:sp>
        <p:nvSpPr>
          <p:cNvPr id="61" name="Text 59"/>
          <p:cNvSpPr/>
          <p:nvPr/>
        </p:nvSpPr>
        <p:spPr>
          <a:xfrm>
            <a:off x="548640" y="444855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原価設計・事業計画確定</a:t>
            </a:r>
            <a:endParaRPr lang="en-US" sz="950" dirty="0"/>
          </a:p>
        </p:txBody>
      </p:sp>
      <p:sp>
        <p:nvSpPr>
          <p:cNvPr id="62" name="Shape 60"/>
          <p:cNvSpPr/>
          <p:nvPr/>
        </p:nvSpPr>
        <p:spPr>
          <a:xfrm>
            <a:off x="8091986" y="4515993"/>
            <a:ext cx="1572379" cy="137160"/>
          </a:xfrm>
          <a:prstGeom prst="roundRect">
            <a:avLst>
              <a:gd name="adj" fmla="val 13333"/>
            </a:avLst>
          </a:prstGeom>
          <a:solidFill>
            <a:srgbClr val="6B4A72"/>
          </a:solidFill>
          <a:ln w="12700">
            <a:solidFill>
              <a:srgbClr val="6B4A72"/>
            </a:solidFill>
            <a:prstDash val="solid"/>
          </a:ln>
        </p:spPr>
      </p:sp>
      <p:sp>
        <p:nvSpPr>
          <p:cNvPr id="63" name="Text 61"/>
          <p:cNvSpPr/>
          <p:nvPr/>
        </p:nvSpPr>
        <p:spPr>
          <a:xfrm>
            <a:off x="8146850" y="4448556"/>
            <a:ext cx="1462651"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2/28</a:t>
            </a:r>
            <a:endParaRPr lang="en-US" sz="800" dirty="0"/>
          </a:p>
        </p:txBody>
      </p:sp>
      <p:sp>
        <p:nvSpPr>
          <p:cNvPr id="64" name="Text 62"/>
          <p:cNvSpPr/>
          <p:nvPr/>
        </p:nvSpPr>
        <p:spPr>
          <a:xfrm>
            <a:off x="548640" y="4720590"/>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POS・予約システム導入</a:t>
            </a:r>
            <a:endParaRPr lang="en-US" sz="950" dirty="0"/>
          </a:p>
        </p:txBody>
      </p:sp>
      <p:sp>
        <p:nvSpPr>
          <p:cNvPr id="65" name="Shape 63"/>
          <p:cNvSpPr/>
          <p:nvPr/>
        </p:nvSpPr>
        <p:spPr>
          <a:xfrm>
            <a:off x="8091986" y="4788027"/>
            <a:ext cx="2475041" cy="137160"/>
          </a:xfrm>
          <a:prstGeom prst="roundRect">
            <a:avLst>
              <a:gd name="adj" fmla="val 13333"/>
            </a:avLst>
          </a:prstGeom>
          <a:solidFill>
            <a:srgbClr val="6B4A72"/>
          </a:solidFill>
          <a:ln w="12700">
            <a:solidFill>
              <a:srgbClr val="6B4A72"/>
            </a:solidFill>
            <a:prstDash val="solid"/>
          </a:ln>
        </p:spPr>
      </p:sp>
      <p:sp>
        <p:nvSpPr>
          <p:cNvPr id="66" name="Text 64"/>
          <p:cNvSpPr/>
          <p:nvPr/>
        </p:nvSpPr>
        <p:spPr>
          <a:xfrm>
            <a:off x="8146850" y="4720590"/>
            <a:ext cx="2365313"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3/31</a:t>
            </a:r>
            <a:endParaRPr lang="en-US" sz="800" dirty="0"/>
          </a:p>
        </p:txBody>
      </p:sp>
      <p:sp>
        <p:nvSpPr>
          <p:cNvPr id="67" name="Text 65"/>
          <p:cNvSpPr/>
          <p:nvPr/>
        </p:nvSpPr>
        <p:spPr>
          <a:xfrm>
            <a:off x="548640" y="4992624"/>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販促・PR／メディア対応</a:t>
            </a:r>
            <a:endParaRPr lang="en-US" sz="950" dirty="0"/>
          </a:p>
        </p:txBody>
      </p:sp>
      <p:sp>
        <p:nvSpPr>
          <p:cNvPr id="68" name="Shape 66"/>
          <p:cNvSpPr/>
          <p:nvPr/>
        </p:nvSpPr>
        <p:spPr>
          <a:xfrm>
            <a:off x="8383167" y="5060061"/>
            <a:ext cx="3028285" cy="137160"/>
          </a:xfrm>
          <a:prstGeom prst="roundRect">
            <a:avLst>
              <a:gd name="adj" fmla="val 13333"/>
            </a:avLst>
          </a:prstGeom>
          <a:solidFill>
            <a:srgbClr val="6B4A72"/>
          </a:solidFill>
          <a:ln w="12700">
            <a:solidFill>
              <a:srgbClr val="6B4A72"/>
            </a:solidFill>
            <a:prstDash val="solid"/>
          </a:ln>
        </p:spPr>
      </p:sp>
      <p:sp>
        <p:nvSpPr>
          <p:cNvPr id="69" name="Text 67"/>
          <p:cNvSpPr/>
          <p:nvPr/>
        </p:nvSpPr>
        <p:spPr>
          <a:xfrm>
            <a:off x="8438031" y="4992624"/>
            <a:ext cx="2918557"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1/15 – 4/29</a:t>
            </a:r>
            <a:endParaRPr lang="en-US" sz="800" dirty="0"/>
          </a:p>
        </p:txBody>
      </p:sp>
      <p:sp>
        <p:nvSpPr>
          <p:cNvPr id="70" name="Text 68"/>
          <p:cNvSpPr/>
          <p:nvPr/>
        </p:nvSpPr>
        <p:spPr>
          <a:xfrm>
            <a:off x="548640" y="5264658"/>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予約受付 開始</a:t>
            </a:r>
            <a:endParaRPr lang="en-US" sz="950" dirty="0"/>
          </a:p>
        </p:txBody>
      </p:sp>
      <p:sp>
        <p:nvSpPr>
          <p:cNvPr id="71" name="Shape 69"/>
          <p:cNvSpPr/>
          <p:nvPr/>
        </p:nvSpPr>
        <p:spPr>
          <a:xfrm>
            <a:off x="10070819" y="5341239"/>
            <a:ext cx="118872" cy="118872"/>
          </a:xfrm>
          <a:prstGeom prst="diamond">
            <a:avLst/>
          </a:prstGeom>
          <a:solidFill>
            <a:srgbClr val="6B4A72"/>
          </a:solidFill>
          <a:ln w="12700">
            <a:solidFill>
              <a:srgbClr val="6B4A72"/>
            </a:solidFill>
            <a:prstDash val="solid"/>
          </a:ln>
        </p:spPr>
      </p:sp>
      <p:sp>
        <p:nvSpPr>
          <p:cNvPr id="72" name="Text 70"/>
          <p:cNvSpPr/>
          <p:nvPr/>
        </p:nvSpPr>
        <p:spPr>
          <a:xfrm>
            <a:off x="9215855" y="5264658"/>
            <a:ext cx="786384" cy="272034"/>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3/16</a:t>
            </a:r>
            <a:endParaRPr lang="en-US" sz="900" dirty="0"/>
          </a:p>
        </p:txBody>
      </p:sp>
      <p:sp>
        <p:nvSpPr>
          <p:cNvPr id="73" name="Text 71"/>
          <p:cNvSpPr/>
          <p:nvPr/>
        </p:nvSpPr>
        <p:spPr>
          <a:xfrm>
            <a:off x="548640" y="5536692"/>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スタッフトレーニング（約2週間）</a:t>
            </a:r>
            <a:endParaRPr lang="en-US" sz="950" dirty="0"/>
          </a:p>
        </p:txBody>
      </p:sp>
      <p:sp>
        <p:nvSpPr>
          <p:cNvPr id="74" name="Shape 72"/>
          <p:cNvSpPr/>
          <p:nvPr/>
        </p:nvSpPr>
        <p:spPr>
          <a:xfrm>
            <a:off x="11032917" y="5604129"/>
            <a:ext cx="349418" cy="137160"/>
          </a:xfrm>
          <a:prstGeom prst="roundRect">
            <a:avLst>
              <a:gd name="adj" fmla="val 13333"/>
            </a:avLst>
          </a:prstGeom>
          <a:solidFill>
            <a:srgbClr val="6B4A72"/>
          </a:solidFill>
          <a:ln w="12700">
            <a:solidFill>
              <a:srgbClr val="6B4A72"/>
            </a:solidFill>
            <a:prstDash val="solid"/>
          </a:ln>
        </p:spPr>
      </p:sp>
      <p:sp>
        <p:nvSpPr>
          <p:cNvPr id="75" name="Text 73"/>
          <p:cNvSpPr/>
          <p:nvPr/>
        </p:nvSpPr>
        <p:spPr>
          <a:xfrm>
            <a:off x="10100229" y="5536692"/>
            <a:ext cx="896112" cy="272034"/>
          </a:xfrm>
          <a:prstGeom prst="rect">
            <a:avLst/>
          </a:prstGeom>
          <a:noFill/>
          <a:ln/>
        </p:spPr>
        <p:txBody>
          <a:bodyPr wrap="square" lIns="0" tIns="0" rIns="0" bIns="0" rtlCol="0" anchor="ctr"/>
          <a:lstStyle/>
          <a:p>
            <a:pPr algn="r" indent="0" marL="0">
              <a:buNone/>
            </a:pPr>
            <a:r>
              <a:rPr lang="en-US" sz="800" dirty="0">
                <a:solidFill>
                  <a:srgbClr val="6E6866"/>
                </a:solidFill>
                <a:latin typeface="Arial" pitchFamily="34" charset="0"/>
                <a:ea typeface="Arial" pitchFamily="34" charset="-122"/>
                <a:cs typeface="Arial" pitchFamily="34" charset="-120"/>
              </a:rPr>
              <a:t>4/16 – 4/28</a:t>
            </a:r>
            <a:endParaRPr lang="en-US" sz="800" dirty="0"/>
          </a:p>
        </p:txBody>
      </p:sp>
      <p:sp>
        <p:nvSpPr>
          <p:cNvPr id="76" name="Text 74"/>
          <p:cNvSpPr/>
          <p:nvPr/>
        </p:nvSpPr>
        <p:spPr>
          <a:xfrm>
            <a:off x="548640" y="5808726"/>
            <a:ext cx="28986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グランドオープン</a:t>
            </a:r>
            <a:endParaRPr lang="en-US" sz="950" dirty="0"/>
          </a:p>
        </p:txBody>
      </p:sp>
      <p:sp>
        <p:nvSpPr>
          <p:cNvPr id="77" name="Shape 75"/>
          <p:cNvSpPr/>
          <p:nvPr/>
        </p:nvSpPr>
        <p:spPr>
          <a:xfrm>
            <a:off x="11381135" y="5885307"/>
            <a:ext cx="118872" cy="118872"/>
          </a:xfrm>
          <a:prstGeom prst="diamond">
            <a:avLst/>
          </a:prstGeom>
          <a:solidFill>
            <a:srgbClr val="6B4A72"/>
          </a:solidFill>
          <a:ln w="12700">
            <a:solidFill>
              <a:srgbClr val="6B4A72"/>
            </a:solidFill>
            <a:prstDash val="solid"/>
          </a:ln>
        </p:spPr>
      </p:sp>
      <p:sp>
        <p:nvSpPr>
          <p:cNvPr id="78" name="Text 76"/>
          <p:cNvSpPr/>
          <p:nvPr/>
        </p:nvSpPr>
        <p:spPr>
          <a:xfrm>
            <a:off x="10526171" y="5808726"/>
            <a:ext cx="786384" cy="272034"/>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4/30</a:t>
            </a:r>
            <a:endParaRPr lang="en-US" sz="900" dirty="0"/>
          </a:p>
        </p:txBody>
      </p:sp>
      <p:sp>
        <p:nvSpPr>
          <p:cNvPr id="79" name="Shape 77"/>
          <p:cNvSpPr/>
          <p:nvPr/>
        </p:nvSpPr>
        <p:spPr>
          <a:xfrm>
            <a:off x="4306629" y="1417320"/>
            <a:ext cx="0" cy="4663440"/>
          </a:xfrm>
          <a:prstGeom prst="line">
            <a:avLst/>
          </a:prstGeom>
          <a:noFill/>
          <a:ln w="12700">
            <a:solidFill>
              <a:srgbClr val="1B1A19"/>
            </a:solidFill>
            <a:prstDash val="dash"/>
          </a:ln>
        </p:spPr>
      </p:sp>
      <p:sp>
        <p:nvSpPr>
          <p:cNvPr id="80" name="Text 78"/>
          <p:cNvSpPr/>
          <p:nvPr/>
        </p:nvSpPr>
        <p:spPr>
          <a:xfrm>
            <a:off x="4352349"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81" name="Text 79"/>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厨房機器は分電盤と同じ長納期品として、実施設計完了（10/19）直後に発注を確定させる前提で置いている。営業時間は11:00〜23:00、終日全席禁煙。</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設計会社工程の反映による差分</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前回工程からの変更点</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前回（8月18日版）は契約書の確定日程からの逆算のみ。今回は設計会社工程を典拠として置き換えた。</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2240280"/>
                <a:gridCol w="2697480"/>
                <a:gridCol w="2880360"/>
                <a:gridCol w="3456432"/>
              </a:tblGrid>
              <a:tr h="402336">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項目</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前回（8/18版）</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今回（設計会社工程反映）</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影響</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基本設計</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2026.10.01 – 11.30</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2026.07.03 – 08.20（完了）</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4E6B54"/>
                          </a:solidFill>
                          <a:latin typeface="Yu Gothic" pitchFamily="34" charset="0"/>
                          <a:ea typeface="Yu Gothic" pitchFamily="34" charset="-122"/>
                          <a:cs typeface="Yu Gothic" pitchFamily="34" charset="-120"/>
                        </a:rPr>
                        <a:t>約3ヶ月前倒し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実施設計</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2026.12.01 – 2027.01.31</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2026.09.19 – 10.19</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4E6B54"/>
                          </a:solidFill>
                          <a:latin typeface="Yu Gothic" pitchFamily="34" charset="0"/>
                          <a:ea typeface="Yu Gothic" pitchFamily="34" charset="-122"/>
                          <a:cs typeface="Yu Gothic" pitchFamily="34" charset="-120"/>
                        </a:rPr>
                        <a:t>約3ヶ月前倒し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B工事 見積・金額合意</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2027.01.31</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2026.10.31</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4E6B54"/>
                          </a:solidFill>
                          <a:latin typeface="Yu Gothic" pitchFamily="34" charset="0"/>
                          <a:ea typeface="Yu Gothic" pitchFamily="34" charset="-122"/>
                          <a:cs typeface="Yu Gothic" pitchFamily="34" charset="-120"/>
                        </a:rPr>
                        <a:t>3ヶ月前倒し。負担額覚書も年内に締結可能</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申請・届出</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2027.01 – 02（保健所・消防）</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2026.11.04 – 2027.01.07</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4E6B54"/>
                          </a:solidFill>
                          <a:latin typeface="Yu Gothic" pitchFamily="34" charset="0"/>
                          <a:ea typeface="Yu Gothic" pitchFamily="34" charset="-122"/>
                          <a:cs typeface="Yu Gothic" pitchFamily="34" charset="-120"/>
                        </a:rPr>
                        <a:t>防火防災管理者選任・TMM書類・官公庁書類に細分化</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B工事・C工事の関係</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2/15〜4/12 を並走</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B工事 2/1–2/17 → C工事 2/18–4/18 の直列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並走前提が崩れる。工程リスクは増加</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着工日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2027.02.15（引渡日と同日）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2027.02.10</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引渡日より5日早い。前提の確認が必要</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竣工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2027.04.15</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2027.04.15</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一致</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分電盤（長納期品）</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計上なし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2026.10.20 発注 – 2027.02.08 設置</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新規計上。厨房機器も同様の管理が必要</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402336">
                <a:tc>
                  <a:txBody>
                    <a:bodyPr/>
                    <a:lstStyle/>
                    <a:p>
                      <a:pPr indent="0" marL="0">
                        <a:buNone/>
                      </a:pPr>
                      <a:r>
                        <a:rPr lang="en-US" sz="950" b="1" dirty="0">
                          <a:solidFill>
                            <a:srgbClr val="1B1A19"/>
                          </a:solidFill>
                          <a:latin typeface="Yu Gothic" pitchFamily="34" charset="0"/>
                          <a:ea typeface="Yu Gothic" pitchFamily="34" charset="-122"/>
                          <a:cs typeface="Yu Gothic" pitchFamily="34" charset="-120"/>
                        </a:rPr>
                        <a:t>竣工図提出</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計上なし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2027.04月末 – 05月</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新規計上。開業後の設計会社業務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網掛けは対応が必要な変更。　　出典②：ノーツデザインオフィス「[B-0105・0106] THIERRY MARX 新装工事 工程表」2026年8月28日修正</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確定事項と社内目標値</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マイルストーン一覧</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網掛けは契約書または設計会社工程表に日付が明記されている事項。それ以外は逆算による社内目標値。</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1234440"/>
                <a:gridCol w="3200400"/>
                <a:gridCol w="5559552"/>
                <a:gridCol w="1280160"/>
              </a:tblGrid>
              <a:tr h="292608">
                <a:tc>
                  <a:txBody>
                    <a:bodyPr/>
                    <a:lstStyle/>
                    <a:p>
                      <a:pPr indent="0" marL="0">
                        <a:buNone/>
                      </a:pPr>
                      <a:r>
                        <a:rPr lang="en-US" sz="850" dirty="0">
                          <a:solidFill>
                            <a:srgbClr val="6E6866"/>
                          </a:solidFill>
                          <a:latin typeface="Yu Gothic" pitchFamily="34" charset="0"/>
                          <a:ea typeface="Yu Gothic" pitchFamily="34" charset="-122"/>
                          <a:cs typeface="Yu Gothic" pitchFamily="34" charset="-120"/>
                        </a:rPr>
                        <a:t>期日</a:t>
                      </a:r>
                      <a:endParaRPr lang="en-US" sz="85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850" dirty="0">
                          <a:solidFill>
                            <a:srgbClr val="6E6866"/>
                          </a:solidFill>
                          <a:latin typeface="Yu Gothic" pitchFamily="34" charset="0"/>
                          <a:ea typeface="Yu Gothic" pitchFamily="34" charset="-122"/>
                          <a:cs typeface="Yu Gothic" pitchFamily="34" charset="-120"/>
                        </a:rPr>
                        <a:t>マイルストーン</a:t>
                      </a:r>
                      <a:endParaRPr lang="en-US" sz="85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850" dirty="0">
                          <a:solidFill>
                            <a:srgbClr val="6E6866"/>
                          </a:solidFill>
                          <a:latin typeface="Yu Gothic" pitchFamily="34" charset="0"/>
                          <a:ea typeface="Yu Gothic" pitchFamily="34" charset="-122"/>
                          <a:cs typeface="Yu Gothic" pitchFamily="34" charset="-120"/>
                        </a:rPr>
                        <a:t>内容</a:t>
                      </a:r>
                      <a:endParaRPr lang="en-US" sz="85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850" dirty="0">
                          <a:solidFill>
                            <a:srgbClr val="6E6866"/>
                          </a:solidFill>
                          <a:latin typeface="Yu Gothic" pitchFamily="34" charset="0"/>
                          <a:ea typeface="Yu Gothic" pitchFamily="34" charset="-122"/>
                          <a:cs typeface="Yu Gothic" pitchFamily="34" charset="-120"/>
                        </a:rPr>
                        <a:t>典拠</a:t>
                      </a:r>
                      <a:endParaRPr lang="en-US" sz="85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2026.08.20</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基本設計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ノーツデザインオフィス</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2026.09.01</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定期建物賃貸借契約 締結</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第1回敷金 ¥11,105,988／内装管理費 ¥1,285,130</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契約書</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2026.09.18</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基本設計 ビル側内容確認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東京ミッドタウンマネジメント</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2026.10.19</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実施設計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ノーツデザインオフィス。厨房機器の発注確定はこの直後</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2026.10.31</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B工事 見積作成・金額合意</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賃貸人負担1億円の内訳を確定し、覚書の締結につなげる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2026.12.04</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防火防災管理者の選任</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新会社への地位承継と名義を整合させる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2027.01.07</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官公庁書類提出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TMM書類提出は12/18まで</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2027.02.08</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分電盤 設置完了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10/20発注の長納期品</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8C2740"/>
                          </a:solidFill>
                          <a:latin typeface="Arial" pitchFamily="34" charset="0"/>
                          <a:ea typeface="Arial" pitchFamily="34" charset="-122"/>
                          <a:cs typeface="Arial" pitchFamily="34" charset="-120"/>
                        </a:rPr>
                        <a:t>2027.02.10</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b="1" dirty="0">
                          <a:solidFill>
                            <a:srgbClr val="8C2740"/>
                          </a:solidFill>
                          <a:latin typeface="Yu Gothic" pitchFamily="34" charset="0"/>
                          <a:ea typeface="Yu Gothic" pitchFamily="34" charset="-122"/>
                          <a:cs typeface="Yu Gothic" pitchFamily="34" charset="-120"/>
                        </a:rPr>
                        <a:t>着工</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工程表ヘッダー記載。契約上の引渡日より5日早い</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2027.02.14</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第2回敷金ほか 支払</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敷金 ¥462,780／開店前準備期間負担金 ¥550,770／契約時販促負担金 ¥1,000,000</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契約書</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2027.02.15</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物件 引渡</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出店期間の起算日</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契約書</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b="1" dirty="0">
                          <a:solidFill>
                            <a:srgbClr val="8C2740"/>
                          </a:solidFill>
                          <a:latin typeface="Arial" pitchFamily="34" charset="0"/>
                          <a:ea typeface="Arial" pitchFamily="34" charset="-122"/>
                          <a:cs typeface="Arial" pitchFamily="34" charset="-120"/>
                        </a:rPr>
                        <a:t>2027.02.17</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b="1" dirty="0">
                          <a:solidFill>
                            <a:srgbClr val="8C2740"/>
                          </a:solidFill>
                          <a:latin typeface="Yu Gothic" pitchFamily="34" charset="0"/>
                          <a:ea typeface="Yu Gothic" pitchFamily="34" charset="-122"/>
                          <a:cs typeface="Yu Gothic" pitchFamily="34" charset="-120"/>
                        </a:rPr>
                        <a:t>B工事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この日を落とすとC工事と竣工がそのまま後ろ倒しになる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2027.04.15</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竣工</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官公庁検査は4月中旬に並走</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設計会社工程</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r h="292608">
                <a:tc>
                  <a:txBody>
                    <a:bodyPr/>
                    <a:lstStyle/>
                    <a:p>
                      <a:pPr indent="0" marL="0">
                        <a:buNone/>
                      </a:pPr>
                      <a:r>
                        <a:rPr lang="en-US" sz="880" dirty="0">
                          <a:solidFill>
                            <a:srgbClr val="1B1A19"/>
                          </a:solidFill>
                          <a:latin typeface="Arial" pitchFamily="34" charset="0"/>
                          <a:ea typeface="Arial" pitchFamily="34" charset="-122"/>
                          <a:cs typeface="Arial" pitchFamily="34" charset="-120"/>
                        </a:rPr>
                        <a:t>2027.04.28</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880" dirty="0">
                          <a:solidFill>
                            <a:srgbClr val="1B1A19"/>
                          </a:solidFill>
                          <a:latin typeface="Yu Gothic" pitchFamily="34" charset="0"/>
                          <a:ea typeface="Yu Gothic" pitchFamily="34" charset="-122"/>
                          <a:cs typeface="Yu Gothic" pitchFamily="34" charset="-120"/>
                        </a:rPr>
                        <a:t>スタッフトレーニング 完了</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竣工から開業までの約2週間</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社内目標</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292608">
                <a:tc>
                  <a:txBody>
                    <a:bodyPr/>
                    <a:lstStyle/>
                    <a:p>
                      <a:pPr indent="0" marL="0">
                        <a:buNone/>
                      </a:pPr>
                      <a:r>
                        <a:rPr lang="en-US" sz="880" b="1" dirty="0">
                          <a:solidFill>
                            <a:srgbClr val="1B1A19"/>
                          </a:solidFill>
                          <a:latin typeface="Arial" pitchFamily="34" charset="0"/>
                          <a:ea typeface="Arial" pitchFamily="34" charset="-122"/>
                          <a:cs typeface="Arial" pitchFamily="34" charset="-120"/>
                        </a:rPr>
                        <a:t>2027.04.30</a:t>
                      </a:r>
                      <a:endParaRPr lang="en-US" sz="880" dirty="0">
                        <a:latin typeface="Arial" charset="0"/>
                        <a:ea typeface="Arial" charset="0"/>
                        <a:cs typeface="Arial"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b="1" dirty="0">
                          <a:solidFill>
                            <a:srgbClr val="1B1A19"/>
                          </a:solidFill>
                          <a:latin typeface="Yu Gothic" pitchFamily="34" charset="0"/>
                          <a:ea typeface="Yu Gothic" pitchFamily="34" charset="-122"/>
                          <a:cs typeface="Yu Gothic" pitchFamily="34" charset="-120"/>
                        </a:rPr>
                        <a:t>グランドオープン（営業開始日）</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同日から出店料・共益費・販促費の起算</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c>
                  <a:txBody>
                    <a:bodyPr/>
                    <a:lstStyle/>
                    <a:p>
                      <a:pPr indent="0" marL="0">
                        <a:buNone/>
                      </a:pPr>
                      <a:r>
                        <a:rPr lang="en-US" sz="880" dirty="0">
                          <a:solidFill>
                            <a:srgbClr val="6E6866"/>
                          </a:solidFill>
                          <a:latin typeface="Yu Gothic" pitchFamily="34" charset="0"/>
                          <a:ea typeface="Yu Gothic" pitchFamily="34" charset="-122"/>
                          <a:cs typeface="Yu Gothic" pitchFamily="34" charset="-120"/>
                        </a:rPr>
                        <a:t>契約書</a:t>
                      </a:r>
                      <a:endParaRPr lang="en-US" sz="880" dirty="0">
                        <a:latin typeface="Yu Gothic" charset="0"/>
                        <a:ea typeface="Yu Gothic" charset="0"/>
                        <a:cs typeface="Yu Gothic"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AF7F8"/>
                    </a:solidFill>
                  </a:tcPr>
                </a:tc>
              </a:tr>
            </a:tbl>
          </a:graphicData>
        </a:graphic>
      </p:graphicFrame>
      <p:sp>
        <p:nvSpPr>
          <p:cNvPr id="6" name="Text 3"/>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出典①：営業と出店に関する契約書（定期建物賃貸借契約書）（案）契約番号 90238-2047-000／賃貸人 三井不動産株式会社・賃借人 株式会社WineBank　　出典②：ノーツデザインオフィス「[B-0105・0106] THIERRY MARX 新装工事 工程表」2026年8月28日修正</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契約要目表および特記事項 第2条・第3条</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資金・支払スケジュール</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出店料・負担金はいずれも消費税別途。網掛けは営業開始日（2027年4月30日）から発生する継続費用。</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1417320"/>
                <a:gridCol w="2651760"/>
                <a:gridCol w="2011680"/>
                <a:gridCol w="5193792"/>
              </a:tblGrid>
              <a:tr h="347472">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期日</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費目</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金額</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備考</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2026.09.01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第1回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¥11,105,988</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本契約締結時</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2026.09.01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内装管理費</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¥1,285,130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第1回敷金預託日に一括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第2回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¥462,780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引渡日の前日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開店前準備期間負担金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¥550,770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第2回敷金預託日に一括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契約時販促負担金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¥1,000,000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第2回敷金預託日に一括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固定出店料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¥2,221,439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@¥12,100/㎡。起算日＝営業開始日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第2出店料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約¥854,700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総額¥100,000,000／117ヶ月。営業開始日変更時は覚書で再設定</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経常販売促進費</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¥277,588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@¥1,512/㎡</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第3〜61回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¥462,749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59回分割。月前半売上預り金から控除</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売上連動</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変動出店料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超過額の 7.0%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月間売上高 ¥27,767,987 を超過した額に対して</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売上連動</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ポイントカード費用</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利用実績の 1.0%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ほか駐車場負担金（弊社計算による割引相当額）</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敷金総額 ¥38,870,959（@¥211,727/㎡）。B工事・C工事費は賃貸人負担1億円が上限で、金額合意（10/31）後に覚書で確定。　　出典①：営業と出店に関する契約書（定期建物賃貸借契約書）（案）契約番号 90238-2047-000／賃貸人 三井不動産株式会社・賃借人 株式会社WineBank</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リスクと対策</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クリティカルパスと留意点</a:t>
            </a:r>
            <a:endParaRPr lang="en-US" sz="2500" dirty="0"/>
          </a:p>
        </p:txBody>
      </p:sp>
      <p:sp>
        <p:nvSpPr>
          <p:cNvPr id="4" name="Shape 2"/>
          <p:cNvSpPr/>
          <p:nvPr/>
        </p:nvSpPr>
        <p:spPr>
          <a:xfrm>
            <a:off x="457200" y="1143000"/>
            <a:ext cx="5500116" cy="1481328"/>
          </a:xfrm>
          <a:prstGeom prst="rect">
            <a:avLst/>
          </a:prstGeom>
          <a:solidFill>
            <a:srgbClr val="FFFFFF"/>
          </a:solidFill>
          <a:ln w="9525">
            <a:solidFill>
              <a:srgbClr val="DCD7D2"/>
            </a:solidFill>
            <a:prstDash val="solid"/>
          </a:ln>
        </p:spPr>
      </p:sp>
      <p:sp>
        <p:nvSpPr>
          <p:cNvPr id="5" name="Text 3"/>
          <p:cNvSpPr/>
          <p:nvPr/>
        </p:nvSpPr>
        <p:spPr>
          <a:xfrm>
            <a:off x="621792" y="1243584"/>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工程の前提</a:t>
            </a:r>
            <a:endParaRPr lang="en-US" sz="850" dirty="0"/>
          </a:p>
        </p:txBody>
      </p:sp>
      <p:sp>
        <p:nvSpPr>
          <p:cNvPr id="6" name="Text 4"/>
          <p:cNvSpPr/>
          <p:nvPr/>
        </p:nvSpPr>
        <p:spPr>
          <a:xfrm>
            <a:off x="621792" y="1444752"/>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着工2/10が契約上の引渡2/15より早い</a:t>
            </a:r>
            <a:endParaRPr lang="en-US" sz="1200" dirty="0"/>
          </a:p>
        </p:txBody>
      </p:sp>
      <p:sp>
        <p:nvSpPr>
          <p:cNvPr id="7" name="Text 5"/>
          <p:cNvSpPr/>
          <p:nvPr/>
        </p:nvSpPr>
        <p:spPr>
          <a:xfrm>
            <a:off x="621792" y="1728216"/>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工程表ヘッダーは着工2027年2月10日。契約書の引渡日は2月15日で、5日の逆転がある。B工事の施工バーも2/1起点で描かれている。</a:t>
            </a:r>
            <a:endParaRPr lang="en-US" sz="900" dirty="0"/>
          </a:p>
        </p:txBody>
      </p:sp>
      <p:sp>
        <p:nvSpPr>
          <p:cNvPr id="8" name="Text 6"/>
          <p:cNvSpPr/>
          <p:nvPr/>
        </p:nvSpPr>
        <p:spPr>
          <a:xfrm>
            <a:off x="621792" y="2185416"/>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引渡前のB工事着手が可能かを三井不動産・TMM・ディコンに確認する。不可なら工程全体を5日後ろ倒しし、竣工日の再設定を求める。</a:t>
            </a:r>
            <a:endParaRPr lang="en-US" sz="900" dirty="0"/>
          </a:p>
        </p:txBody>
      </p:sp>
      <p:sp>
        <p:nvSpPr>
          <p:cNvPr id="9" name="Shape 7"/>
          <p:cNvSpPr/>
          <p:nvPr/>
        </p:nvSpPr>
        <p:spPr>
          <a:xfrm>
            <a:off x="6231636" y="1143000"/>
            <a:ext cx="5500116" cy="1481328"/>
          </a:xfrm>
          <a:prstGeom prst="rect">
            <a:avLst/>
          </a:prstGeom>
          <a:solidFill>
            <a:srgbClr val="FFFFFF"/>
          </a:solidFill>
          <a:ln w="9525">
            <a:solidFill>
              <a:srgbClr val="DCD7D2"/>
            </a:solidFill>
            <a:prstDash val="solid"/>
          </a:ln>
        </p:spPr>
      </p:sp>
      <p:sp>
        <p:nvSpPr>
          <p:cNvPr id="10" name="Text 8"/>
          <p:cNvSpPr/>
          <p:nvPr/>
        </p:nvSpPr>
        <p:spPr>
          <a:xfrm>
            <a:off x="6396228" y="1243584"/>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工期</a:t>
            </a:r>
            <a:endParaRPr lang="en-US" sz="850" dirty="0"/>
          </a:p>
        </p:txBody>
      </p:sp>
      <p:sp>
        <p:nvSpPr>
          <p:cNvPr id="11" name="Text 9"/>
          <p:cNvSpPr/>
          <p:nvPr/>
        </p:nvSpPr>
        <p:spPr>
          <a:xfrm>
            <a:off x="6396228" y="1444752"/>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B工事とC工事が直列。緩衝がない</a:t>
            </a:r>
            <a:endParaRPr lang="en-US" sz="1200" dirty="0"/>
          </a:p>
        </p:txBody>
      </p:sp>
      <p:sp>
        <p:nvSpPr>
          <p:cNvPr id="12" name="Text 10"/>
          <p:cNvSpPr/>
          <p:nvPr/>
        </p:nvSpPr>
        <p:spPr>
          <a:xfrm>
            <a:off x="6396228" y="1728216"/>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B工事2/1〜2/17、C工事2/18〜4/18。前回想定の並走ではないため、B工事の遅延はそのまま竣工4/15に跳ね返る。</a:t>
            </a:r>
            <a:endParaRPr lang="en-US" sz="900" dirty="0"/>
          </a:p>
        </p:txBody>
      </p:sp>
      <p:sp>
        <p:nvSpPr>
          <p:cNvPr id="13" name="Text 11"/>
          <p:cNvSpPr/>
          <p:nvPr/>
        </p:nvSpPr>
        <p:spPr>
          <a:xfrm>
            <a:off x="6396228" y="2185416"/>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B工事の完了判定基準を事前に文書化し、2/17時点でC工事が着手できる引渡条件をディコンと合意しておく。</a:t>
            </a:r>
            <a:endParaRPr lang="en-US" sz="900" dirty="0"/>
          </a:p>
        </p:txBody>
      </p:sp>
      <p:sp>
        <p:nvSpPr>
          <p:cNvPr id="14" name="Shape 12"/>
          <p:cNvSpPr/>
          <p:nvPr/>
        </p:nvSpPr>
        <p:spPr>
          <a:xfrm>
            <a:off x="457200" y="2825496"/>
            <a:ext cx="5500116" cy="1481328"/>
          </a:xfrm>
          <a:prstGeom prst="rect">
            <a:avLst/>
          </a:prstGeom>
          <a:solidFill>
            <a:srgbClr val="FFFFFF"/>
          </a:solidFill>
          <a:ln w="9525">
            <a:solidFill>
              <a:srgbClr val="DCD7D2"/>
            </a:solidFill>
            <a:prstDash val="solid"/>
          </a:ln>
        </p:spPr>
      </p:sp>
      <p:sp>
        <p:nvSpPr>
          <p:cNvPr id="15" name="Text 13"/>
          <p:cNvSpPr/>
          <p:nvPr/>
        </p:nvSpPr>
        <p:spPr>
          <a:xfrm>
            <a:off x="621792" y="2926080"/>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長納期品</a:t>
            </a:r>
            <a:endParaRPr lang="en-US" sz="850" dirty="0"/>
          </a:p>
        </p:txBody>
      </p:sp>
      <p:sp>
        <p:nvSpPr>
          <p:cNvPr id="16" name="Text 14"/>
          <p:cNvSpPr/>
          <p:nvPr/>
        </p:nvSpPr>
        <p:spPr>
          <a:xfrm>
            <a:off x="621792" y="3127248"/>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分電盤は10月発注・2月設置</a:t>
            </a:r>
            <a:endParaRPr lang="en-US" sz="1200" dirty="0"/>
          </a:p>
        </p:txBody>
      </p:sp>
      <p:sp>
        <p:nvSpPr>
          <p:cNvPr id="17" name="Text 15"/>
          <p:cNvSpPr/>
          <p:nvPr/>
        </p:nvSpPr>
        <p:spPr>
          <a:xfrm>
            <a:off x="621792" y="3410712"/>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設計会社が特記事項として挙げているとおり、発注から設置まで約3.5ヶ月を要する。厨房機器も同等以上のリードタイムが見込まれる。</a:t>
            </a:r>
            <a:endParaRPr lang="en-US" sz="900" dirty="0"/>
          </a:p>
        </p:txBody>
      </p:sp>
      <p:sp>
        <p:nvSpPr>
          <p:cNvPr id="18" name="Text 16"/>
          <p:cNvSpPr/>
          <p:nvPr/>
        </p:nvSpPr>
        <p:spPr>
          <a:xfrm>
            <a:off x="621792" y="3867912"/>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実施設計完了（10/19）を厨房機器の発注確定日として運用する。輸入機器がある場合は9月中に納期回答を取り付ける。</a:t>
            </a:r>
            <a:endParaRPr lang="en-US" sz="900" dirty="0"/>
          </a:p>
        </p:txBody>
      </p:sp>
      <p:sp>
        <p:nvSpPr>
          <p:cNvPr id="19" name="Shape 17"/>
          <p:cNvSpPr/>
          <p:nvPr/>
        </p:nvSpPr>
        <p:spPr>
          <a:xfrm>
            <a:off x="6231636" y="2825496"/>
            <a:ext cx="5500116" cy="1481328"/>
          </a:xfrm>
          <a:prstGeom prst="rect">
            <a:avLst/>
          </a:prstGeom>
          <a:solidFill>
            <a:srgbClr val="FFFFFF"/>
          </a:solidFill>
          <a:ln w="9525">
            <a:solidFill>
              <a:srgbClr val="DCD7D2"/>
            </a:solidFill>
            <a:prstDash val="solid"/>
          </a:ln>
        </p:spPr>
      </p:sp>
      <p:sp>
        <p:nvSpPr>
          <p:cNvPr id="20" name="Text 18"/>
          <p:cNvSpPr/>
          <p:nvPr/>
        </p:nvSpPr>
        <p:spPr>
          <a:xfrm>
            <a:off x="6396228" y="2926080"/>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費用区分</a:t>
            </a:r>
            <a:endParaRPr lang="en-US" sz="850" dirty="0"/>
          </a:p>
        </p:txBody>
      </p:sp>
      <p:sp>
        <p:nvSpPr>
          <p:cNvPr id="21" name="Text 19"/>
          <p:cNvSpPr/>
          <p:nvPr/>
        </p:nvSpPr>
        <p:spPr>
          <a:xfrm>
            <a:off x="6396228" y="3127248"/>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賃貸人負担1億円の覚書を年内に</a:t>
            </a:r>
            <a:endParaRPr lang="en-US" sz="1200" dirty="0"/>
          </a:p>
        </p:txBody>
      </p:sp>
      <p:sp>
        <p:nvSpPr>
          <p:cNvPr id="22" name="Text 20"/>
          <p:cNvSpPr/>
          <p:nvPr/>
        </p:nvSpPr>
        <p:spPr>
          <a:xfrm>
            <a:off x="6396228" y="3410712"/>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B工事の金額合意が10/31に前倒しされたことで、賃貸人負担額を確定する条件が整う。厨房機器・什器・備品は賃貸人負担の対象外。</a:t>
            </a:r>
            <a:endParaRPr lang="en-US" sz="900" dirty="0"/>
          </a:p>
        </p:txBody>
      </p:sp>
      <p:sp>
        <p:nvSpPr>
          <p:cNvPr id="23" name="Text 21"/>
          <p:cNvSpPr/>
          <p:nvPr/>
        </p:nvSpPr>
        <p:spPr>
          <a:xfrm>
            <a:off x="6396228" y="3867912"/>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10/31の金額合意と同時に覚書ドラフトを回付し、12月中に締結。自社負担額を年内に確定して資金計画に反映する。</a:t>
            </a:r>
            <a:endParaRPr lang="en-US" sz="900" dirty="0"/>
          </a:p>
        </p:txBody>
      </p:sp>
      <p:sp>
        <p:nvSpPr>
          <p:cNvPr id="24" name="Shape 22"/>
          <p:cNvSpPr/>
          <p:nvPr/>
        </p:nvSpPr>
        <p:spPr>
          <a:xfrm>
            <a:off x="457200" y="4507992"/>
            <a:ext cx="5500116" cy="1481328"/>
          </a:xfrm>
          <a:prstGeom prst="rect">
            <a:avLst/>
          </a:prstGeom>
          <a:solidFill>
            <a:srgbClr val="FFFFFF"/>
          </a:solidFill>
          <a:ln w="9525">
            <a:solidFill>
              <a:srgbClr val="DCD7D2"/>
            </a:solidFill>
            <a:prstDash val="solid"/>
          </a:ln>
        </p:spPr>
      </p:sp>
      <p:sp>
        <p:nvSpPr>
          <p:cNvPr id="25" name="Text 23"/>
          <p:cNvSpPr/>
          <p:nvPr/>
        </p:nvSpPr>
        <p:spPr>
          <a:xfrm>
            <a:off x="621792" y="4608576"/>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工事条件</a:t>
            </a:r>
            <a:endParaRPr lang="en-US" sz="850" dirty="0"/>
          </a:p>
        </p:txBody>
      </p:sp>
      <p:sp>
        <p:nvSpPr>
          <p:cNvPr id="26" name="Text 24"/>
          <p:cNvSpPr/>
          <p:nvPr/>
        </p:nvSpPr>
        <p:spPr>
          <a:xfrm>
            <a:off x="621792" y="4809744"/>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騒音・振動・臭気を伴う工事は時間制限</a:t>
            </a:r>
            <a:endParaRPr lang="en-US" sz="1200" dirty="0"/>
          </a:p>
        </p:txBody>
      </p:sp>
      <p:sp>
        <p:nvSpPr>
          <p:cNvPr id="27" name="Text 25"/>
          <p:cNvSpPr/>
          <p:nvPr/>
        </p:nvSpPr>
        <p:spPr>
          <a:xfrm>
            <a:off x="621792" y="5093208"/>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事務所・住宅・美術館に近接するため工事実施時間の制限を承諾する条項がある。C工事の2ヶ月はこの制約下での実働となる。</a:t>
            </a:r>
            <a:endParaRPr lang="en-US" sz="900" dirty="0"/>
          </a:p>
        </p:txBody>
      </p:sp>
      <p:sp>
        <p:nvSpPr>
          <p:cNvPr id="28" name="Text 26"/>
          <p:cNvSpPr/>
          <p:nvPr/>
        </p:nvSpPr>
        <p:spPr>
          <a:xfrm>
            <a:off x="621792" y="5550408"/>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作業可能時間帯を書面で確認し、C工事の見積・工程に反映させる。深夜・早朝の割増を当初予算に織り込む。</a:t>
            </a:r>
            <a:endParaRPr lang="en-US" sz="900" dirty="0"/>
          </a:p>
        </p:txBody>
      </p:sp>
      <p:sp>
        <p:nvSpPr>
          <p:cNvPr id="29" name="Shape 27"/>
          <p:cNvSpPr/>
          <p:nvPr/>
        </p:nvSpPr>
        <p:spPr>
          <a:xfrm>
            <a:off x="6231636" y="4507992"/>
            <a:ext cx="5500116" cy="1481328"/>
          </a:xfrm>
          <a:prstGeom prst="rect">
            <a:avLst/>
          </a:prstGeom>
          <a:solidFill>
            <a:srgbClr val="FFFFFF"/>
          </a:solidFill>
          <a:ln w="9525">
            <a:solidFill>
              <a:srgbClr val="DCD7D2"/>
            </a:solidFill>
            <a:prstDash val="solid"/>
          </a:ln>
        </p:spPr>
      </p:sp>
      <p:sp>
        <p:nvSpPr>
          <p:cNvPr id="30" name="Text 28"/>
          <p:cNvSpPr/>
          <p:nvPr/>
        </p:nvSpPr>
        <p:spPr>
          <a:xfrm>
            <a:off x="6396228" y="4608576"/>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契約リスク</a:t>
            </a:r>
            <a:endParaRPr lang="en-US" sz="850" dirty="0"/>
          </a:p>
        </p:txBody>
      </p:sp>
      <p:sp>
        <p:nvSpPr>
          <p:cNvPr id="31" name="Text 29"/>
          <p:cNvSpPr/>
          <p:nvPr/>
        </p:nvSpPr>
        <p:spPr>
          <a:xfrm>
            <a:off x="6396228" y="4809744"/>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竣工から開業まで実働2週間</a:t>
            </a:r>
            <a:endParaRPr lang="en-US" sz="1200" dirty="0"/>
          </a:p>
        </p:txBody>
      </p:sp>
      <p:sp>
        <p:nvSpPr>
          <p:cNvPr id="32" name="Text 30"/>
          <p:cNvSpPr/>
          <p:nvPr/>
        </p:nvSpPr>
        <p:spPr>
          <a:xfrm>
            <a:off x="6396228" y="5093208"/>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竣工4/15、営業開始日4/30。営業開始日に営業を開始しないことは契約解除事由で、開業前解約は出店料等16ヶ月相当額＋賃貸人負担額。</a:t>
            </a:r>
            <a:endParaRPr lang="en-US" sz="900" dirty="0"/>
          </a:p>
        </p:txBody>
      </p:sp>
      <p:sp>
        <p:nvSpPr>
          <p:cNvPr id="33" name="Text 31"/>
          <p:cNvSpPr/>
          <p:nvPr/>
        </p:nvSpPr>
        <p:spPr>
          <a:xfrm>
            <a:off x="6396228" y="5550408"/>
            <a:ext cx="5170932" cy="365760"/>
          </a:xfrm>
          <a:prstGeom prst="rect">
            <a:avLst/>
          </a:prstGeom>
          <a:noFill/>
          <a:ln/>
        </p:spPr>
        <p:txBody>
          <a:bodyPr wrap="square" lIns="0" tIns="0" rIns="0" bIns="0" rtlCol="0" anchor="t"/>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トレーニング期間をバッファ扱いしない。官公庁検査（4月中旬）と是正を竣工前に織り込み、4/15を実質的な最終期限として管理する。</a:t>
            </a:r>
            <a:endParaRPr lang="en-US" sz="900" dirty="0"/>
          </a:p>
        </p:txBody>
      </p:sp>
      <p:sp>
        <p:nvSpPr>
          <p:cNvPr id="34" name="Text 32"/>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出典①：営業と出店に関する契約書（定期建物賃貸借契約書）（案）契約番号 90238-2047-000／賃貸人 三井不動産株式会社・賃借人 株式会社WineBank　　出典②：ノーツデザインオフィス「[B-0105・0106] THIERRY MARX 新装工事 工程表」2026年8月28日修正</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C2740"/>
        </a:solidFill>
      </p:bgPr>
    </p:bg>
    <p:spTree>
      <p:nvGrpSpPr>
        <p:cNvPr id="1" name=""/>
        <p:cNvGrpSpPr/>
        <p:nvPr/>
      </p:nvGrpSpPr>
      <p:grpSpPr>
        <a:xfrm>
          <a:off x="0" y="0"/>
          <a:ext cx="0" cy="0"/>
          <a:chOff x="0" y="0"/>
          <a:chExt cx="0" cy="0"/>
        </a:xfrm>
      </p:grpSpPr>
      <p:sp>
        <p:nvSpPr>
          <p:cNvPr id="2" name="Text 0"/>
          <p:cNvSpPr/>
          <p:nvPr/>
        </p:nvSpPr>
        <p:spPr>
          <a:xfrm>
            <a:off x="822960" y="777240"/>
            <a:ext cx="10515600" cy="548640"/>
          </a:xfrm>
          <a:prstGeom prst="rect">
            <a:avLst/>
          </a:prstGeom>
          <a:noFill/>
          <a:ln/>
        </p:spPr>
        <p:txBody>
          <a:bodyPr wrap="square" lIns="0" tIns="0" rIns="0" bIns="0" rtlCol="0" anchor="ctr"/>
          <a:lstStyle/>
          <a:p>
            <a:pPr indent="0" marL="0">
              <a:buNone/>
            </a:pPr>
            <a:r>
              <a:rPr lang="en-US" sz="3000" dirty="0">
                <a:solidFill>
                  <a:srgbClr val="FFFFFF"/>
                </a:solidFill>
                <a:latin typeface="Yu Mincho" pitchFamily="34" charset="0"/>
                <a:ea typeface="Yu Mincho" pitchFamily="34" charset="-122"/>
                <a:cs typeface="Yu Mincho" pitchFamily="34" charset="-120"/>
              </a:rPr>
              <a:t>次のアクション</a:t>
            </a:r>
            <a:endParaRPr lang="en-US" sz="3000" dirty="0"/>
          </a:p>
        </p:txBody>
      </p:sp>
      <p:sp>
        <p:nvSpPr>
          <p:cNvPr id="3" name="Text 1"/>
          <p:cNvSpPr/>
          <p:nvPr/>
        </p:nvSpPr>
        <p:spPr>
          <a:xfrm>
            <a:off x="822960" y="1828800"/>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1</a:t>
            </a:r>
            <a:endParaRPr lang="en-US" sz="2600" dirty="0"/>
          </a:p>
        </p:txBody>
      </p:sp>
      <p:sp>
        <p:nvSpPr>
          <p:cNvPr id="4" name="Text 2"/>
          <p:cNvSpPr/>
          <p:nvPr/>
        </p:nvSpPr>
        <p:spPr>
          <a:xfrm>
            <a:off x="1417320" y="1847088"/>
            <a:ext cx="210312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2026年8月中</a:t>
            </a:r>
            <a:endParaRPr lang="en-US" sz="1100" dirty="0"/>
          </a:p>
        </p:txBody>
      </p:sp>
      <p:sp>
        <p:nvSpPr>
          <p:cNvPr id="5" name="Text 3"/>
          <p:cNvSpPr/>
          <p:nvPr/>
        </p:nvSpPr>
        <p:spPr>
          <a:xfrm>
            <a:off x="3566160" y="1810512"/>
            <a:ext cx="768096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着工日2/10の前提確認と契約締結の準備</a:t>
            </a:r>
            <a:endParaRPr lang="en-US" sz="1700" dirty="0"/>
          </a:p>
        </p:txBody>
      </p:sp>
      <p:sp>
        <p:nvSpPr>
          <p:cNvPr id="6" name="Text 4"/>
          <p:cNvSpPr/>
          <p:nvPr/>
        </p:nvSpPr>
        <p:spPr>
          <a:xfrm>
            <a:off x="3566160" y="2194560"/>
            <a:ext cx="7680960" cy="685800"/>
          </a:xfrm>
          <a:prstGeom prst="rect">
            <a:avLst/>
          </a:prstGeom>
          <a:noFill/>
          <a:ln/>
        </p:spPr>
        <p:txBody>
          <a:bodyPr wrap="square" lIns="0" tIns="0" rIns="0" bIns="0" rtlCol="0" anchor="t"/>
          <a:lstStyle/>
          <a:p>
            <a:pPr indent="0" marL="0">
              <a:buNone/>
            </a:pPr>
            <a:r>
              <a:rPr lang="en-US" sz="1050" dirty="0">
                <a:solidFill>
                  <a:srgbClr val="E8D5DA"/>
                </a:solidFill>
                <a:latin typeface="Yu Gothic" pitchFamily="34" charset="0"/>
                <a:ea typeface="Yu Gothic" pitchFamily="34" charset="-122"/>
                <a:cs typeface="Yu Gothic" pitchFamily="34" charset="-120"/>
              </a:rPr>
              <a:t>引渡2/15との逆転についてノーツデザインオフィス・TMM・ディコンに照会。9/1の契約締結と第1回敷金 ¥11,105,988・内装管理費 ¥1,285,130 の資金手当てを確定。</a:t>
            </a:r>
            <a:endParaRPr lang="en-US" sz="1050" dirty="0"/>
          </a:p>
        </p:txBody>
      </p:sp>
      <p:sp>
        <p:nvSpPr>
          <p:cNvPr id="7" name="Text 5"/>
          <p:cNvSpPr/>
          <p:nvPr/>
        </p:nvSpPr>
        <p:spPr>
          <a:xfrm>
            <a:off x="822960" y="3200400"/>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2</a:t>
            </a:r>
            <a:endParaRPr lang="en-US" sz="2600" dirty="0"/>
          </a:p>
        </p:txBody>
      </p:sp>
      <p:sp>
        <p:nvSpPr>
          <p:cNvPr id="8" name="Text 6"/>
          <p:cNvSpPr/>
          <p:nvPr/>
        </p:nvSpPr>
        <p:spPr>
          <a:xfrm>
            <a:off x="1417320" y="3218688"/>
            <a:ext cx="210312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2026年9月中旬</a:t>
            </a:r>
            <a:endParaRPr lang="en-US" sz="1100" dirty="0"/>
          </a:p>
        </p:txBody>
      </p:sp>
      <p:sp>
        <p:nvSpPr>
          <p:cNvPr id="9" name="Text 7"/>
          <p:cNvSpPr/>
          <p:nvPr/>
        </p:nvSpPr>
        <p:spPr>
          <a:xfrm>
            <a:off x="3566160" y="3182112"/>
            <a:ext cx="768096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基本設計のビル側内容確認を完了させる</a:t>
            </a:r>
            <a:endParaRPr lang="en-US" sz="1700" dirty="0"/>
          </a:p>
        </p:txBody>
      </p:sp>
      <p:sp>
        <p:nvSpPr>
          <p:cNvPr id="10" name="Text 8"/>
          <p:cNvSpPr/>
          <p:nvPr/>
        </p:nvSpPr>
        <p:spPr>
          <a:xfrm>
            <a:off x="3566160" y="3566160"/>
            <a:ext cx="7680960" cy="685800"/>
          </a:xfrm>
          <a:prstGeom prst="rect">
            <a:avLst/>
          </a:prstGeom>
          <a:noFill/>
          <a:ln/>
        </p:spPr>
        <p:txBody>
          <a:bodyPr wrap="square" lIns="0" tIns="0" rIns="0" bIns="0" rtlCol="0" anchor="t"/>
          <a:lstStyle/>
          <a:p>
            <a:pPr indent="0" marL="0">
              <a:buNone/>
            </a:pPr>
            <a:r>
              <a:rPr lang="en-US" sz="1050" dirty="0">
                <a:solidFill>
                  <a:srgbClr val="E8D5DA"/>
                </a:solidFill>
                <a:latin typeface="Yu Gothic" pitchFamily="34" charset="0"/>
                <a:ea typeface="Yu Gothic" pitchFamily="34" charset="-122"/>
                <a:cs typeface="Yu Gothic" pitchFamily="34" charset="-120"/>
              </a:rPr>
              <a:t>TMMの確認完了（9/18）を受けて実施設計に入る。並行して幹部採用を10月末までに確定させる。</a:t>
            </a:r>
            <a:endParaRPr lang="en-US" sz="1050" dirty="0"/>
          </a:p>
        </p:txBody>
      </p:sp>
      <p:sp>
        <p:nvSpPr>
          <p:cNvPr id="11" name="Text 9"/>
          <p:cNvSpPr/>
          <p:nvPr/>
        </p:nvSpPr>
        <p:spPr>
          <a:xfrm>
            <a:off x="822960" y="4572000"/>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3</a:t>
            </a:r>
            <a:endParaRPr lang="en-US" sz="2600" dirty="0"/>
          </a:p>
        </p:txBody>
      </p:sp>
      <p:sp>
        <p:nvSpPr>
          <p:cNvPr id="12" name="Text 10"/>
          <p:cNvSpPr/>
          <p:nvPr/>
        </p:nvSpPr>
        <p:spPr>
          <a:xfrm>
            <a:off x="1417320" y="4590288"/>
            <a:ext cx="210312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2026年10月末</a:t>
            </a:r>
            <a:endParaRPr lang="en-US" sz="1100" dirty="0"/>
          </a:p>
        </p:txBody>
      </p:sp>
      <p:sp>
        <p:nvSpPr>
          <p:cNvPr id="13" name="Text 11"/>
          <p:cNvSpPr/>
          <p:nvPr/>
        </p:nvSpPr>
        <p:spPr>
          <a:xfrm>
            <a:off x="3566160" y="4553712"/>
            <a:ext cx="768096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実施設計完了とB工事金額合意</a:t>
            </a:r>
            <a:endParaRPr lang="en-US" sz="1700" dirty="0"/>
          </a:p>
        </p:txBody>
      </p:sp>
      <p:sp>
        <p:nvSpPr>
          <p:cNvPr id="14" name="Text 12"/>
          <p:cNvSpPr/>
          <p:nvPr/>
        </p:nvSpPr>
        <p:spPr>
          <a:xfrm>
            <a:off x="3566160" y="4937760"/>
            <a:ext cx="7680960" cy="685800"/>
          </a:xfrm>
          <a:prstGeom prst="rect">
            <a:avLst/>
          </a:prstGeom>
          <a:noFill/>
          <a:ln/>
        </p:spPr>
        <p:txBody>
          <a:bodyPr wrap="square" lIns="0" tIns="0" rIns="0" bIns="0" rtlCol="0" anchor="t"/>
          <a:lstStyle/>
          <a:p>
            <a:pPr indent="0" marL="0">
              <a:buNone/>
            </a:pPr>
            <a:r>
              <a:rPr lang="en-US" sz="1050" dirty="0">
                <a:solidFill>
                  <a:srgbClr val="E8D5DA"/>
                </a:solidFill>
                <a:latin typeface="Yu Gothic" pitchFamily="34" charset="0"/>
                <a:ea typeface="Yu Gothic" pitchFamily="34" charset="-122"/>
                <a:cs typeface="Yu Gothic" pitchFamily="34" charset="-120"/>
              </a:rPr>
              <a:t>実施設計10/19完了を受けて厨房機器の発注を確定。10/31のB工事金額合意と同時に、賃貸人負担額の覚書ドラフトを回付する。</a:t>
            </a:r>
            <a:endParaRPr lang="en-US" sz="1050" dirty="0"/>
          </a:p>
        </p:txBody>
      </p:sp>
      <p:sp>
        <p:nvSpPr>
          <p:cNvPr id="15" name="Text 13"/>
          <p:cNvSpPr/>
          <p:nvPr/>
        </p:nvSpPr>
        <p:spPr>
          <a:xfrm>
            <a:off x="6766560" y="6172200"/>
            <a:ext cx="4572000" cy="274320"/>
          </a:xfrm>
          <a:prstGeom prst="rect">
            <a:avLst/>
          </a:prstGeom>
          <a:noFill/>
          <a:ln/>
        </p:spPr>
        <p:txBody>
          <a:bodyPr wrap="square" lIns="0" tIns="0" rIns="0" bIns="0" rtlCol="0" anchor="ctr"/>
          <a:lstStyle/>
          <a:p>
            <a:pPr algn="r" indent="0" marL="0">
              <a:buNone/>
            </a:pPr>
            <a:r>
              <a:rPr lang="en-US" sz="1000" dirty="0">
                <a:solidFill>
                  <a:srgbClr val="E8D5DA"/>
                </a:solidFill>
                <a:latin typeface="Yu Gothic" pitchFamily="34" charset="0"/>
                <a:ea typeface="Yu Gothic" pitchFamily="34" charset="-122"/>
                <a:cs typeface="Yu Gothic" pitchFamily="34" charset="-120"/>
              </a:rPr>
              <a:t>株式会社WineBank　2026年8月28日</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（仮称）THIERRY MARX BISTRO 開業工程</dc:title>
  <dc:subject>PptxGenJS Presentation</dc:subject>
  <dc:creator>株式会社WineBank</dc:creator>
  <cp:lastModifiedBy>株式会社WineBank</cp:lastModifiedBy>
  <cp:revision>1</cp:revision>
  <dcterms:created xsi:type="dcterms:W3CDTF">2026-08-28T03:01:09Z</dcterms:created>
  <dcterms:modified xsi:type="dcterms:W3CDTF">2026-08-28T03:01:09Z</dcterms:modified>
</cp:coreProperties>
</file>