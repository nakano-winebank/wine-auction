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036b8850-0ffb-0c9c-7c79-2c1f5ad75643}">
          <p14:sldIdLst>
            <p14:sldId id="256"/>
            <p14:sldId id="257"/>
            <p14:sldId id="258"/>
          </p14:sldIdLst>
        </p14:section>
        <p14:section name="ダメ出し" id="{5fb1d789-ec85-dd40-bb0a-f287749c5b1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ブラッシュアップ" id="{ee979bd4-e905-1211-bfda-617929b679b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指導型モデル" id="{e84dfc23-ee2a-abf0-a4cd-296d2e894d30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まとめ" id="{00b89384-40d7-6d1c-4292-aa57d0054673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A4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02A43"/>
                </a:solidFill>
                <a:latin typeface="+mn-lt"/>
              </a:rPr>
              <a:t>売上高（億円）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</c:v>
                </c:pt>
                <c:pt idx="1">
                  <c:v>1.5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102A4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0.24</c:v>
                </c:pt>
                <c:pt idx="1">
                  <c:v>1.2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成功報酬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</c:v>
                </c:pt>
                <c:pt idx="1">
                  <c:v>1.8</c:v>
                </c:pt>
                <c:pt idx="2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仲介・FA向け</c:v>
                </c:pt>
              </c:strCache>
            </c:strRef>
          </c:tx>
          <c:spPr>
            <a:solidFill>
              <a:srgbClr val="5B708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</c:v>
                </c:pt>
                <c:pt idx="1">
                  <c:v>0.4</c:v>
                </c:pt>
                <c:pt idx="2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ダメ②への答え。成約データは持てないが、IMは集められる。関東×4業種に絞って相場をつくり、支援中に受け取ったIMも自社の数字と掛け合わせて分析し、匿名化して還元する。使うほど相場の精度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Confidential｜検討用ドラフト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AI×M&amp;A 新規事業構想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「M&amp;A版REINS」構想のレビュー（ダメ出し）とブラッシュアップ提案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2026年10月｜Confidential｜検討用ドラフト</a:t>
            </a:r>
            <a:endParaRPr lang="en-US" sz="1200" dirty="0"/>
          </a:p>
        </p:txBody>
      </p:sp>
      <p:pic>
        <p:nvPicPr>
          <p:cNvPr id="5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640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エグゼクティブサマリー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方向性は正しい。ただし課金ポイントを「情報」から「買収の成功」へ移さないと、原典MANDAと同じ壁に当たる</a:t>
            </a:r>
            <a:endParaRPr lang="en-US" sz="15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169164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結論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AIで買い手を支援する方向性は筋が良い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ただし「案件情報の集約」は既に飽和し、無料が相場。ここでは課金できない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課金対象を「意思決定と実行（買収の成功）」に置き直す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4297680" y="169164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ダメ出しの要点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974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REINS型は法的な登録義務も成約データもなく成立しない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ノンネーム情報ではAI分析が浅い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定額×代理交渉は採算と法規制に難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④⑤⑥は利益相反で自己矛盾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8046720" y="169164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39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ブラッシュアップ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974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対象を「継続的に買う会社」に絞る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「中小企業のAI M&amp;A部門」として探す→見極める→資金→統合まで伴走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月額＋買い手側だけの成功報酬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成約データと認証バイヤーを独自資産に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元案の整理：3層構造のビジネスモデル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土台（情報集約）の上に、AI・資金・交渉をサブスクで載せ、さらに仲介業へ広げる構想</a:t>
            </a:r>
            <a:endParaRPr lang="en-US" sz="1500" dirty="0"/>
          </a:p>
        </p:txBody>
      </p:sp>
      <p:sp>
        <p:nvSpPr>
          <p:cNvPr id="4" name="tier label 土台"/>
          <p:cNvSpPr/>
          <p:nvPr/>
        </p:nvSpPr>
        <p:spPr>
          <a:xfrm>
            <a:off x="548640" y="4892040"/>
            <a:ext cx="219456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8920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土台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MANDA型</a:t>
            </a:r>
            <a:endParaRPr lang="en-US" sz="1400" dirty="0"/>
          </a:p>
        </p:txBody>
      </p:sp>
      <p:sp>
        <p:nvSpPr>
          <p:cNvPr id="6" name="tier body 土台"/>
          <p:cNvSpPr/>
          <p:nvPr/>
        </p:nvSpPr>
        <p:spPr>
          <a:xfrm>
            <a:off x="2926080" y="4892040"/>
            <a:ext cx="86868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5029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M&amp;A版REINS：仲介各社が抱える案件情報を一括閲覧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メルマガで新着案件を配信</a:t>
            </a:r>
            <a:endParaRPr lang="en-US" sz="1500" dirty="0"/>
          </a:p>
        </p:txBody>
      </p:sp>
      <p:sp>
        <p:nvSpPr>
          <p:cNvPr id="8" name="tier label サブスク"/>
          <p:cNvSpPr/>
          <p:nvPr/>
        </p:nvSpPr>
        <p:spPr>
          <a:xfrm>
            <a:off x="548640" y="320040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サブスク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月額〇万円</a:t>
            </a:r>
            <a:endParaRPr lang="en-US" sz="1400" dirty="0"/>
          </a:p>
        </p:txBody>
      </p:sp>
      <p:sp>
        <p:nvSpPr>
          <p:cNvPr id="10" name="tier body サブスク"/>
          <p:cNvSpPr/>
          <p:nvPr/>
        </p:nvSpPr>
        <p:spPr>
          <a:xfrm>
            <a:off x="2926080" y="3200400"/>
            <a:ext cx="8686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① 自社BS/PLをAIに読ませ、案件分析〜シナジー創出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② 買収資金の調達方法の提案（投資家紹介）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③ 仲介エージェントとの代理交渉</a:t>
            </a:r>
            <a:endParaRPr lang="en-US" sz="1500" dirty="0"/>
          </a:p>
        </p:txBody>
      </p:sp>
      <p:sp>
        <p:nvSpPr>
          <p:cNvPr id="12" name="tier label ＋α"/>
          <p:cNvSpPr/>
          <p:nvPr/>
        </p:nvSpPr>
        <p:spPr>
          <a:xfrm>
            <a:off x="548640" y="1645920"/>
            <a:ext cx="2194560" cy="1417320"/>
          </a:xfrm>
          <a:prstGeom prst="roundRect">
            <a:avLst>
              <a:gd name="adj" fmla="val 516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6459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＋α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拡張</a:t>
            </a:r>
            <a:endParaRPr lang="en-US" sz="1400" dirty="0"/>
          </a:p>
        </p:txBody>
      </p:sp>
      <p:sp>
        <p:nvSpPr>
          <p:cNvPr id="14" name="tier body ＋α"/>
          <p:cNvSpPr/>
          <p:nvPr/>
        </p:nvSpPr>
        <p:spPr>
          <a:xfrm>
            <a:off x="2926080" y="1645920"/>
            <a:ext cx="86868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17830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④ 自社で買い手側仲介に入る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⑤ ユーザー増で売主を直接押さえる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⑥ ユーザー増で仲介会社へセールス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ダメ出し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遠慮なく、6つの論点で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総評：機能の足し算で「誰の何を解くか」がぼやけている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要素ごとの評価（◎〜×）。筋が良いのは①と④。土台・③・⑤は再設計が必要</a:t>
            </a:r>
            <a:endParaRPr lang="en-US" sz="1500" dirty="0"/>
          </a:p>
        </p:txBody>
      </p:sp>
      <p:graphicFrame>
        <p:nvGraphicFramePr>
          <p:cNvPr id="6" name="scoreca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822960"/>
                <a:gridCol w="6217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要素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評価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ひとことコメント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土台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案件の一括閲覧・メルマガ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△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MANDA・バトンズ・TRANBI等が既に提供。無料が相場で差別化にならない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①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AIでBS/PL×案件分析・シナジー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○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最も筋が良い。ただしノンネーム情報だけでは分析が浅い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資金調達提案・投資家紹介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△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ニーズは大きい。金商法・貸金業法上の登録要否の整理が必須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③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仲介との代理交渉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×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定額では工数が青天井。非弁の論点と、仲介側に拒否されるリスク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自社で買い手側仲介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○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収益の柱になり得る。③と統合し「買い手FA（片手）」に再設計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⑤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売主を直接押さえる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×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両手化＝原典が批判した利益相反の再来。中立性を失う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⑥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仲介会社へのセールス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△</a:t>
                      </a:r>
                      <a:endParaRPr lang="en-US" sz="2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何を売るか未定義。⑤とは両立しない（仲介は競合に情報を出さない）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ダメ① 「M&amp;A版REINS」は名前負け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REINSを成り立たせている「登録義務」と「成約データ」が、M&amp;Aには存在しない</a:t>
            </a:r>
            <a:endParaRPr lang="en-US" sz="1500" dirty="0"/>
          </a:p>
        </p:txBody>
      </p:sp>
      <p:graphicFrame>
        <p:nvGraphicFramePr>
          <p:cNvPr id="7" name="reins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不動産REINS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M&amp;A案件情報（現状）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登録の根拠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宅建業法で専任・専属専任媒介は登録が義務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義務なし。各社にとって囲い込みが合理的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情報の粒度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所在地・価格・面積など、取引判断に足る情報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ノンネーム（業種・地域・売上レンジ程度）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成約データ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成約価格が蓄積され、相場の物差しになる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小規模M&amp;Aの成約価格はほぼ非公開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参加者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宅建業者だけの閉じた業者間ネットワーク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仲介・FA・プラットフォーム・金融機関がバラバラ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ins takeaway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スクレイピングによる集約は、MANDAが2018年から実施済み。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掲載元の利用規約違反やブロックのリスクも抱えるため、「土台」にはなっても「売り物」にはならない。REINSの本当の価値は成約データにある（→ 提案で回収）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ダメ② ノンネーム情報では、AIは「それっぽい」分析しかできない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自社のBS/PLが精緻でも、相手側の情報が粗ければシナジー試算は空中戦になる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取得できる情報量（イメージ）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ノンネーム（公開）</a:t>
            </a:r>
            <a:endParaRPr lang="en-US" sz="1400" dirty="0"/>
          </a:p>
        </p:txBody>
      </p:sp>
      <p:sp>
        <p:nvSpPr>
          <p:cNvPr id="6" name="depth bar 1"/>
          <p:cNvSpPr/>
          <p:nvPr/>
        </p:nvSpPr>
        <p:spPr>
          <a:xfrm>
            <a:off x="3017520" y="2194560"/>
            <a:ext cx="146304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219456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業種・地域・売上レンジ・譲渡理由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企業概要書（NDA後）</a:t>
            </a:r>
            <a:endParaRPr lang="en-US" sz="1400" dirty="0"/>
          </a:p>
        </p:txBody>
      </p:sp>
      <p:sp>
        <p:nvSpPr>
          <p:cNvPr id="9" name="depth bar 2"/>
          <p:cNvSpPr/>
          <p:nvPr/>
        </p:nvSpPr>
        <p:spPr>
          <a:xfrm>
            <a:off x="3017520" y="3291840"/>
            <a:ext cx="365760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32918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決算書3期・取引先・人員構成・設備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DD（基本合意後）</a:t>
            </a:r>
            <a:endParaRPr lang="en-US" sz="1400" dirty="0"/>
          </a:p>
        </p:txBody>
      </p:sp>
      <p:sp>
        <p:nvSpPr>
          <p:cNvPr id="12" name="depth bar 3"/>
          <p:cNvSpPr/>
          <p:nvPr/>
        </p:nvSpPr>
        <p:spPr>
          <a:xfrm>
            <a:off x="3017520" y="4389120"/>
            <a:ext cx="640080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4389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契約・労務・税務・簿外債務・許認可</a:t>
            </a:r>
            <a:endParaRPr lang="en-US" sz="1300" dirty="0"/>
          </a:p>
        </p:txBody>
      </p:sp>
      <p:sp>
        <p:nvSpPr>
          <p:cNvPr id="14" name="depth takeaway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示唆：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AIの価値が最大になるのはNDA後〜DD・PMI。ノンネームは足切りに限定し、深い分析はIMを読み込んで行う。そのためにIMデータベースを自社で持つ（→ 次頁）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解決策：関東圏×4業種のIMデータベースで「適正価格」を語る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成約データまでは持てなくても、IM（企業概要書）なら集められる。地域と業種を絞って、REINS型の土台をつくる</a:t>
            </a:r>
            <a:endParaRPr lang="en-US" sz="1500" dirty="0"/>
          </a:p>
        </p:txBody>
      </p:sp>
      <p:sp>
        <p:nvSpPr>
          <p:cNvPr id="4" name="band label 1"/>
          <p:cNvSpPr/>
          <p:nvPr/>
        </p:nvSpPr>
        <p:spPr>
          <a:xfrm>
            <a:off x="548640" y="1600200"/>
            <a:ext cx="868680" cy="187452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868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支援前</a:t>
            </a:r>
            <a:endParaRPr lang="en-US" sz="1400" dirty="0"/>
          </a:p>
        </p:txBody>
      </p:sp>
      <p:sp>
        <p:nvSpPr>
          <p:cNvPr id="6" name="step1 集める"/>
          <p:cNvSpPr/>
          <p:nvPr/>
        </p:nvSpPr>
        <p:spPr>
          <a:xfrm>
            <a:off x="1554480" y="1600200"/>
            <a:ext cx="21945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集める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214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提携FA・仲介から受領したIM、顧問先・士業経由、自社49戦の案件、公開案件</a:t>
            </a:r>
            <a:endParaRPr lang="en-US" sz="1150" dirty="0"/>
          </a:p>
        </p:txBody>
      </p:sp>
      <p:sp>
        <p:nvSpPr>
          <p:cNvPr id="9" name="flow arrow"/>
          <p:cNvSpPr/>
          <p:nvPr/>
        </p:nvSpPr>
        <p:spPr>
          <a:xfrm>
            <a:off x="3776472" y="2377440"/>
            <a:ext cx="292608" cy="310896"/>
          </a:xfrm>
          <a:prstGeom prst="rightArrow">
            <a:avLst/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10" name="step1 AIで構造化"/>
          <p:cNvSpPr/>
          <p:nvPr/>
        </p:nvSpPr>
        <p:spPr>
          <a:xfrm>
            <a:off x="4096512" y="1600200"/>
            <a:ext cx="21945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33672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AIで構造化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" y="21214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業種・地域・売上・営業利益・EBITDA・純資産・希望価格・人員・設備を自動で抽出</a:t>
            </a:r>
            <a:endParaRPr lang="en-US" sz="1150" dirty="0"/>
          </a:p>
        </p:txBody>
      </p:sp>
      <p:sp>
        <p:nvSpPr>
          <p:cNvPr id="13" name="flow arrow"/>
          <p:cNvSpPr/>
          <p:nvPr/>
        </p:nvSpPr>
        <p:spPr>
          <a:xfrm>
            <a:off x="6318504" y="2377440"/>
            <a:ext cx="292608" cy="310896"/>
          </a:xfrm>
          <a:prstGeom prst="rightArrow">
            <a:avLst/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14" name="step1 IMデータベース"/>
          <p:cNvSpPr/>
          <p:nvPr/>
        </p:nvSpPr>
        <p:spPr>
          <a:xfrm>
            <a:off x="6638544" y="1600200"/>
            <a:ext cx="219456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75704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IMデータベース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75704" y="21214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関東圏（一都三県）×生産・卸・飲食・不動産にまず特化</a:t>
            </a:r>
            <a:endParaRPr lang="en-US" sz="1150" dirty="0"/>
          </a:p>
        </p:txBody>
      </p:sp>
      <p:sp>
        <p:nvSpPr>
          <p:cNvPr id="17" name="industry 生産"/>
          <p:cNvSpPr/>
          <p:nvPr/>
        </p:nvSpPr>
        <p:spPr>
          <a:xfrm>
            <a:off x="6775704" y="3017520"/>
            <a:ext cx="457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7570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生産</a:t>
            </a:r>
            <a:endParaRPr lang="en-US" sz="900" dirty="0"/>
          </a:p>
        </p:txBody>
      </p:sp>
      <p:sp>
        <p:nvSpPr>
          <p:cNvPr id="19" name="industry 卸"/>
          <p:cNvSpPr/>
          <p:nvPr/>
        </p:nvSpPr>
        <p:spPr>
          <a:xfrm>
            <a:off x="7278624" y="3017520"/>
            <a:ext cx="457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卸</a:t>
            </a:r>
            <a:endParaRPr lang="en-US" sz="900" dirty="0"/>
          </a:p>
        </p:txBody>
      </p:sp>
      <p:sp>
        <p:nvSpPr>
          <p:cNvPr id="21" name="industry 飲食"/>
          <p:cNvSpPr/>
          <p:nvPr/>
        </p:nvSpPr>
        <p:spPr>
          <a:xfrm>
            <a:off x="7781544" y="3017520"/>
            <a:ext cx="457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8154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飲食</a:t>
            </a:r>
            <a:endParaRPr lang="en-US" sz="900" dirty="0"/>
          </a:p>
        </p:txBody>
      </p:sp>
      <p:sp>
        <p:nvSpPr>
          <p:cNvPr id="23" name="industry 不動産"/>
          <p:cNvSpPr/>
          <p:nvPr/>
        </p:nvSpPr>
        <p:spPr>
          <a:xfrm>
            <a:off x="8284464" y="3017520"/>
            <a:ext cx="457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446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不動産</a:t>
            </a:r>
            <a:endParaRPr lang="en-US" sz="900" dirty="0"/>
          </a:p>
        </p:txBody>
      </p:sp>
      <p:sp>
        <p:nvSpPr>
          <p:cNvPr id="25" name="flow arrow"/>
          <p:cNvSpPr/>
          <p:nvPr/>
        </p:nvSpPr>
        <p:spPr>
          <a:xfrm>
            <a:off x="8860536" y="2377440"/>
            <a:ext cx="292608" cy="310896"/>
          </a:xfrm>
          <a:prstGeom prst="rightArrow">
            <a:avLst/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26" name="step1 適正価格レンジ"/>
          <p:cNvSpPr/>
          <p:nvPr/>
        </p:nvSpPr>
        <p:spPr>
          <a:xfrm>
            <a:off x="9180576" y="1600200"/>
            <a:ext cx="21945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17736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適正価格レンジ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317736" y="21214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業種×規模ごとのEBITDA倍率・純資産倍率で「高い／妥当／安い」を判定</a:t>
            </a:r>
            <a:endParaRPr lang="en-US" sz="1150" dirty="0"/>
          </a:p>
        </p:txBody>
      </p:sp>
      <p:sp>
        <p:nvSpPr>
          <p:cNvPr id="29" name="band label 2"/>
          <p:cNvSpPr/>
          <p:nvPr/>
        </p:nvSpPr>
        <p:spPr>
          <a:xfrm>
            <a:off x="548640" y="3657600"/>
            <a:ext cx="868680" cy="187452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657600"/>
            <a:ext cx="868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支援中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・後</a:t>
            </a:r>
            <a:endParaRPr lang="en-US" sz="1400" dirty="0"/>
          </a:p>
        </p:txBody>
      </p:sp>
      <p:sp>
        <p:nvSpPr>
          <p:cNvPr id="31" name="input im"/>
          <p:cNvSpPr/>
          <p:nvPr/>
        </p:nvSpPr>
        <p:spPr>
          <a:xfrm>
            <a:off x="1554480" y="36576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91640" y="36576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検討した全IM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NDA後に受け取った案件資料をすべて取り込む</a:t>
            </a:r>
            <a:endParaRPr lang="en-US" sz="1300" dirty="0"/>
          </a:p>
        </p:txBody>
      </p:sp>
      <p:sp>
        <p:nvSpPr>
          <p:cNvPr id="33" name="input own"/>
          <p:cNvSpPr/>
          <p:nvPr/>
        </p:nvSpPr>
        <p:spPr>
          <a:xfrm>
            <a:off x="1554480" y="466344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91640" y="4663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自社のBS/PL・強み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顧客基盤・拠点・人材・仕入・技術</a:t>
            </a:r>
            <a:endParaRPr lang="en-US" sz="1300" dirty="0"/>
          </a:p>
        </p:txBody>
      </p:sp>
      <p:sp>
        <p:nvSpPr>
          <p:cNvPr id="35" name="flow arrow"/>
          <p:cNvSpPr/>
          <p:nvPr/>
        </p:nvSpPr>
        <p:spPr>
          <a:xfrm>
            <a:off x="3730752" y="4434840"/>
            <a:ext cx="292608" cy="310896"/>
          </a:xfrm>
          <a:prstGeom prst="rightArrow">
            <a:avLst/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36" name="cross analysis"/>
          <p:cNvSpPr/>
          <p:nvPr/>
        </p:nvSpPr>
        <p:spPr>
          <a:xfrm>
            <a:off x="4096512" y="3657600"/>
            <a:ext cx="2514600" cy="1874520"/>
          </a:xfrm>
          <a:prstGeom prst="roundRect">
            <a:avLst>
              <a:gd name="adj" fmla="val 390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33672" y="37490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AIで掛け合わせ分析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相手のIM×自社の数字と強みを突き合わせ、IMデータベースの相場と比べる</a:t>
            </a:r>
            <a:endParaRPr lang="en-US" sz="1400" dirty="0"/>
          </a:p>
        </p:txBody>
      </p:sp>
      <p:sp>
        <p:nvSpPr>
          <p:cNvPr id="38" name="flow arrow"/>
          <p:cNvSpPr/>
          <p:nvPr/>
        </p:nvSpPr>
        <p:spPr>
          <a:xfrm>
            <a:off x="6684264" y="4434840"/>
            <a:ext cx="292608" cy="310896"/>
          </a:xfrm>
          <a:prstGeom prst="rightArrow">
            <a:avLst/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39" name="outputs"/>
          <p:cNvSpPr/>
          <p:nvPr/>
        </p:nvSpPr>
        <p:spPr>
          <a:xfrm>
            <a:off x="7040880" y="3657600"/>
            <a:ext cx="45720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2376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アウトプット</a:t>
            </a:r>
            <a:endParaRPr lang="en-US" sz="1200" dirty="0"/>
          </a:p>
        </p:txBody>
      </p:sp>
      <p:sp>
        <p:nvSpPr>
          <p:cNvPr id="41" name="out 1"/>
          <p:cNvSpPr/>
          <p:nvPr/>
        </p:nvSpPr>
        <p:spPr>
          <a:xfrm>
            <a:off x="7223760" y="4114800"/>
            <a:ext cx="2057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9FD3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適正価格と交渉の上限</a:t>
            </a:r>
            <a:endParaRPr lang="en-US" sz="1100" dirty="0"/>
          </a:p>
        </p:txBody>
      </p:sp>
      <p:sp>
        <p:nvSpPr>
          <p:cNvPr id="43" name="out 2"/>
          <p:cNvSpPr/>
          <p:nvPr/>
        </p:nvSpPr>
        <p:spPr>
          <a:xfrm>
            <a:off x="9418320" y="4114800"/>
            <a:ext cx="2057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9FD3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0976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シナジー試算（売上・コスト）</a:t>
            </a:r>
            <a:endParaRPr lang="en-US" sz="1100" dirty="0"/>
          </a:p>
        </p:txBody>
      </p:sp>
      <p:sp>
        <p:nvSpPr>
          <p:cNvPr id="45" name="out 3"/>
          <p:cNvSpPr/>
          <p:nvPr/>
        </p:nvSpPr>
        <p:spPr>
          <a:xfrm>
            <a:off x="7223760" y="4773168"/>
            <a:ext cx="2057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9FD3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0" y="47731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借入余力と資金計画</a:t>
            </a:r>
            <a:endParaRPr lang="en-US" sz="1100" dirty="0"/>
          </a:p>
        </p:txBody>
      </p:sp>
      <p:sp>
        <p:nvSpPr>
          <p:cNvPr id="47" name="out 4"/>
          <p:cNvSpPr/>
          <p:nvPr/>
        </p:nvSpPr>
        <p:spPr>
          <a:xfrm>
            <a:off x="9418320" y="4773168"/>
            <a:ext cx="2057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9FD3C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509760" y="47731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レッドフラグとPMIの論点</a:t>
            </a:r>
            <a:endParaRPr lang="en-US" sz="1100" dirty="0"/>
          </a:p>
        </p:txBody>
      </p:sp>
      <p:sp>
        <p:nvSpPr>
          <p:cNvPr id="49" name="loop label"/>
          <p:cNvSpPr/>
          <p:nvPr/>
        </p:nvSpPr>
        <p:spPr>
          <a:xfrm>
            <a:off x="9235440" y="3511296"/>
            <a:ext cx="2331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35440" y="3511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↑ 匿名化してDBへ還元</a:t>
            </a:r>
            <a:endParaRPr lang="en-US" sz="1000" dirty="0"/>
          </a:p>
        </p:txBody>
      </p:sp>
      <p:sp>
        <p:nvSpPr>
          <p:cNvPr id="51" name="nda note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守秘義務：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IMはNDAの範囲内でのみ利用。データベース化は開示元の同意を得た項目に限り、社名が分からない形に加工する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ダメ③ 月額定額×代理交渉は、使われるほど赤字になる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買収は「イベント」であって「習慣」ではない。サブスクとの相性がそもそも悪い</a:t>
            </a:r>
            <a:endParaRPr lang="en-US" sz="1500" dirty="0"/>
          </a:p>
        </p:txBody>
      </p:sp>
      <p:sp>
        <p:nvSpPr>
          <p:cNvPr id="4" name="stat 1"/>
          <p:cNvSpPr/>
          <p:nvPr/>
        </p:nvSpPr>
        <p:spPr>
          <a:xfrm>
            <a:off x="548640" y="169164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数年に1件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一般的な中小企業の買収頻度（想定）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548640" y="320040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101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6〜12ヶ月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検討開始から成約までの期間（想定）</a:t>
            </a:r>
            <a:endParaRPr lang="en-US" sz="1200" dirty="0"/>
          </a:p>
        </p:txBody>
      </p:sp>
      <p:sp>
        <p:nvSpPr>
          <p:cNvPr id="10" name="stat 3"/>
          <p:cNvSpPr/>
          <p:nvPr/>
        </p:nvSpPr>
        <p:spPr>
          <a:xfrm>
            <a:off x="548640" y="470916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818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数十〜100h超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13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1件の交渉・条件調整にかかる工数（想定）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73736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案件が決まれば解約、見つからなければ「効果なし」で解約。どちらに転んでもチャーンする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交渉は人が張り付く業務。定額で無制限にすると、熱心なユーザーほど赤字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売り手側仲介は買い手からも手数料を取る前提。代理人を立てても、買い手の総コストは下がらない可能性がある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「月額〇万円」の〇が決まらないのは、価値の単位（何に対して払うか）が定義されていないサイン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ダメ④ このままでは法規制の地雷を踏む可能性がある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いずれも事業化前に弁護士の意見書で整理すべき論点（以下は論点提示であり法的判断ではない）</a:t>
            </a:r>
            <a:endParaRPr lang="en-US" sz="1500" dirty="0"/>
          </a:p>
        </p:txBody>
      </p:sp>
      <p:sp>
        <p:nvSpPr>
          <p:cNvPr id="4" name="reg card 1"/>
          <p:cNvSpPr/>
          <p:nvPr/>
        </p:nvSpPr>
        <p:spPr>
          <a:xfrm>
            <a:off x="54864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投資家紹介（出資）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金融商品取引法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株式等の募集・私募の取扱い（媒介）を業として行うと、金融商品取引業の登録が必要になり得る</a:t>
            </a:r>
            <a:endParaRPr lang="en-US" sz="1200" dirty="0"/>
          </a:p>
        </p:txBody>
      </p:sp>
      <p:sp>
        <p:nvSpPr>
          <p:cNvPr id="8" name="reg card 2"/>
          <p:cNvSpPr/>
          <p:nvPr/>
        </p:nvSpPr>
        <p:spPr>
          <a:xfrm>
            <a:off x="429768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融資の紹介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21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貸金業法・銀行法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60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金銭貸借の「媒介」も貸金業に当たり得る。報酬を受ける紹介は特に注意。銀行代理業の論点も</a:t>
            </a:r>
            <a:endParaRPr lang="en-US" sz="1200" dirty="0"/>
          </a:p>
        </p:txBody>
      </p:sp>
      <p:sp>
        <p:nvSpPr>
          <p:cNvPr id="12" name="reg card 3"/>
          <p:cNvSpPr/>
          <p:nvPr/>
        </p:nvSpPr>
        <p:spPr>
          <a:xfrm>
            <a:off x="804672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代理交渉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21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弁護士法72条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560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報酬目的で法律事務を代理すると非弁行為の論点。交渉範囲と契約書作成の線引きが必要</a:t>
            </a:r>
            <a:endParaRPr lang="en-US" sz="1200" dirty="0"/>
          </a:p>
        </p:txBody>
      </p:sp>
      <p:sp>
        <p:nvSpPr>
          <p:cNvPr id="16" name="reg card 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42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案件情報の収集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利用規約・著作権等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掲載元の規約違反、データベースの著作物性、不正競争防止法。ブロック・削除要請のリスク</a:t>
            </a:r>
            <a:endParaRPr lang="en-US" sz="1200" dirty="0"/>
          </a:p>
        </p:txBody>
      </p:sp>
      <p:sp>
        <p:nvSpPr>
          <p:cNvPr id="20" name="reg card 5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142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業界ルール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中小M&amp;Aガイドライン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改訂で手数料・利益相反・両手の説明が強化。M&amp;A支援機関登録制度への登録と遵守が前提</a:t>
            </a:r>
            <a:endParaRPr lang="en-US" sz="1200" dirty="0"/>
          </a:p>
        </p:txBody>
      </p:sp>
      <p:sp>
        <p:nvSpPr>
          <p:cNvPr id="24" name="reg card 6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4142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顧客の財務データ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情報管理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BS/PL・企業概要書は最高機密。AI学習への不使用、テナント分離、ISMS等を設計段階から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ダメ⑤ ④⑤⑥は同時に成立しない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全部やろうとすると、自分たちが批判した「両手仲介」に戻ってしまう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H="1">
            <a:off x="1828800" y="2697480"/>
            <a:ext cx="1645920" cy="1874520"/>
          </a:xfrm>
          <a:prstGeom prst="line">
            <a:avLst/>
          </a:prstGeom>
          <a:noFill/>
          <a:ln w="31750">
            <a:solidFill>
              <a:srgbClr val="D9480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572000" y="2697480"/>
            <a:ext cx="1463040" cy="1874520"/>
          </a:xfrm>
          <a:prstGeom prst="line">
            <a:avLst/>
          </a:prstGeom>
          <a:noFill/>
          <a:ln w="31750">
            <a:solidFill>
              <a:srgbClr val="D9480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017520" y="5166360"/>
            <a:ext cx="1828800" cy="0"/>
          </a:xfrm>
          <a:prstGeom prst="line">
            <a:avLst/>
          </a:prstGeom>
          <a:noFill/>
          <a:ln w="31750">
            <a:solidFill>
              <a:srgbClr val="D9480F"/>
            </a:solidFill>
            <a:prstDash val="dash"/>
          </a:ln>
        </p:spPr>
      </p:sp>
      <p:sp>
        <p:nvSpPr>
          <p:cNvPr id="7" name="node ④ 買い手FA"/>
          <p:cNvSpPr/>
          <p:nvPr/>
        </p:nvSpPr>
        <p:spPr>
          <a:xfrm>
            <a:off x="2743200" y="1691640"/>
            <a:ext cx="23774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買い手FA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買い手の味方</a:t>
            </a:r>
            <a:endParaRPr lang="en-US" sz="1400" dirty="0"/>
          </a:p>
        </p:txBody>
      </p:sp>
      <p:sp>
        <p:nvSpPr>
          <p:cNvPr id="9" name="node ⑤ 売主を直接獲得"/>
          <p:cNvSpPr/>
          <p:nvPr/>
        </p:nvSpPr>
        <p:spPr>
          <a:xfrm>
            <a:off x="640080" y="4572000"/>
            <a:ext cx="23774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⑤ 売主を直接獲得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売り手の窓口</a:t>
            </a:r>
            <a:endParaRPr lang="en-US" sz="1400" dirty="0"/>
          </a:p>
        </p:txBody>
      </p:sp>
      <p:sp>
        <p:nvSpPr>
          <p:cNvPr id="11" name="node ⑥ 仲介へ販売"/>
          <p:cNvSpPr/>
          <p:nvPr/>
        </p:nvSpPr>
        <p:spPr>
          <a:xfrm>
            <a:off x="4846320" y="4572000"/>
            <a:ext cx="23774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⑥ 仲介へ販売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仲介がお客様</a:t>
            </a:r>
            <a:endParaRPr lang="en-US" sz="1400" dirty="0"/>
          </a:p>
        </p:txBody>
      </p:sp>
      <p:sp>
        <p:nvSpPr>
          <p:cNvPr id="13" name="conflict 同一案件で両"/>
          <p:cNvSpPr/>
          <p:nvPr/>
        </p:nvSpPr>
        <p:spPr>
          <a:xfrm>
            <a:off x="182880" y="301752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同一案件で両手＝利益相反</a:t>
            </a:r>
            <a:endParaRPr lang="en-US" sz="1100" dirty="0"/>
          </a:p>
        </p:txBody>
      </p:sp>
      <p:sp>
        <p:nvSpPr>
          <p:cNvPr id="15" name="conflict 仲介の顧客（"/>
          <p:cNvSpPr/>
          <p:nvPr/>
        </p:nvSpPr>
        <p:spPr>
          <a:xfrm>
            <a:off x="4937760" y="30175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仲介の顧客（売主）と対峙</a:t>
            </a:r>
            <a:endParaRPr lang="en-US" sz="1100" dirty="0"/>
          </a:p>
        </p:txBody>
      </p:sp>
      <p:sp>
        <p:nvSpPr>
          <p:cNvPr id="17" name="conflict 仲介から見れ"/>
          <p:cNvSpPr/>
          <p:nvPr/>
        </p:nvSpPr>
        <p:spPr>
          <a:xfrm>
            <a:off x="2377440" y="585216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5852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仲介から見れば売主を奪う競合</a:t>
            </a:r>
            <a:endParaRPr lang="en-US" sz="1100" dirty="0"/>
          </a:p>
        </p:txBody>
      </p:sp>
      <p:sp>
        <p:nvSpPr>
          <p:cNvPr id="19" name="conflict takeaway"/>
          <p:cNvSpPr/>
          <p:nvPr/>
        </p:nvSpPr>
        <p:spPr>
          <a:xfrm>
            <a:off x="7680960" y="169164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192024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選ぶべきは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「買い手側に立ち切る」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原典MANDAの最大の主張は「両手仲介の利益相反をなくす」こと。⑤で売主を押さえて④で買い手につけば、同じ構造を自ら作ることになる。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中立性と信頼こそ、この事業の最大の資産。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ダメ⑥ 原典MANDAの教訓：情報集約だけでは儲からない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人は集まっても収益化できなかった。同じ「情報の民主化」で入れば、同じ壁に当たる</a:t>
            </a:r>
            <a:endParaRPr lang="en-US" sz="1500" dirty="0"/>
          </a:p>
        </p:txBody>
      </p:sp>
      <p:sp>
        <p:nvSpPr>
          <p:cNvPr id="4" name="manda stat 1"/>
          <p:cNvSpPr/>
          <p:nvPr/>
        </p:nvSpPr>
        <p:spPr>
          <a:xfrm>
            <a:off x="548640" y="1691640"/>
            <a:ext cx="26060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1.3万</a:t>
            </a:r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人/月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月間ユニークユーザー（2023年）</a:t>
            </a:r>
            <a:endParaRPr lang="en-US" sz="1300" dirty="0"/>
          </a:p>
        </p:txBody>
      </p:sp>
      <p:sp>
        <p:nvSpPr>
          <p:cNvPr id="7" name="manda stat 2"/>
          <p:cNvSpPr/>
          <p:nvPr/>
        </p:nvSpPr>
        <p:spPr>
          <a:xfrm>
            <a:off x="3346704" y="1691640"/>
            <a:ext cx="26060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51%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30632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買い手のうち個人の割合（支払い能力が低い層）</a:t>
            </a:r>
            <a:endParaRPr lang="en-US" sz="1300" dirty="0"/>
          </a:p>
        </p:txBody>
      </p:sp>
      <p:sp>
        <p:nvSpPr>
          <p:cNvPr id="10" name="manda stat 3"/>
          <p:cNvSpPr/>
          <p:nvPr/>
        </p:nvSpPr>
        <p:spPr>
          <a:xfrm>
            <a:off x="6144768" y="1691640"/>
            <a:ext cx="26060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33万</a:t>
            </a:r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円/月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30632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主な収益源はTOPページのバナー広告</a:t>
            </a:r>
            <a:endParaRPr lang="en-US" sz="1300" dirty="0"/>
          </a:p>
        </p:txBody>
      </p:sp>
      <p:sp>
        <p:nvSpPr>
          <p:cNvPr id="13" name="manda stat 4"/>
          <p:cNvSpPr/>
          <p:nvPr/>
        </p:nvSpPr>
        <p:spPr>
          <a:xfrm>
            <a:off x="8942832" y="1691640"/>
            <a:ext cx="26060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25712" y="1874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0円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30632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売り手・買い手・専門家とも無料が前提</a:t>
            </a:r>
            <a:endParaRPr lang="en-US" sz="1300" dirty="0"/>
          </a:p>
        </p:txBody>
      </p:sp>
      <p:sp>
        <p:nvSpPr>
          <p:cNvPr id="16" name="manda takeaway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720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 課金の対象を「情報へのアクセス」から「意思決定と成果（買収の成功）」へ移す必要がある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出典：MANDA株式会社 会社紹介資料（2023年8〜9月実績、2024年版）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ブラッシュアップ提案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サブスクユーザーが本当にお金を払う価値は何か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まず「誰が毎月払うか」を絞る：M&amp;A担当を育てたい会社を狙う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個人買い手（MANDA利用者の約半数）は単価が低いため、無料層として集客に使う</a:t>
            </a:r>
            <a:endParaRPr lang="en-US" sz="1500" dirty="0"/>
          </a:p>
        </p:txBody>
      </p:sp>
      <p:sp>
        <p:nvSpPr>
          <p:cNvPr id="4" name="persona 1"/>
          <p:cNvSpPr/>
          <p:nvPr/>
        </p:nvSpPr>
        <p:spPr>
          <a:xfrm>
            <a:off x="548640" y="164592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74904" cy="374904"/>
          </a:xfrm>
          <a:prstGeom prst="rect">
            <a:avLst/>
          </a:prstGeom>
        </p:spPr>
      </p:pic>
      <p:sp>
        <p:nvSpPr>
          <p:cNvPr id="7" name="priority 1"/>
          <p:cNvSpPr/>
          <p:nvPr/>
        </p:nvSpPr>
        <p:spPr>
          <a:xfrm>
            <a:off x="2514600" y="1993392"/>
            <a:ext cx="13258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14600" y="19933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最優先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M&amp;A担当がいない・育てたい中堅中小企業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年商10〜100億／M&amp;Aで成長したい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8620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悩み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M&amp;A担当がいない。仲介の言い値で買う。案件の良し悪しを判断できない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払う理由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担当者を育てながら、社内にM&amp;A部門をつくる代わりとして</a:t>
            </a:r>
            <a:endParaRPr lang="en-US" sz="1300" dirty="0"/>
          </a:p>
        </p:txBody>
      </p:sp>
      <p:sp>
        <p:nvSpPr>
          <p:cNvPr id="12" name="persona 2"/>
          <p:cNvSpPr/>
          <p:nvPr/>
        </p:nvSpPr>
        <p:spPr>
          <a:xfrm>
            <a:off x="4297680" y="164592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29968"/>
            <a:ext cx="374904" cy="374904"/>
          </a:xfrm>
          <a:prstGeom prst="rect">
            <a:avLst/>
          </a:prstGeom>
        </p:spPr>
      </p:pic>
      <p:sp>
        <p:nvSpPr>
          <p:cNvPr id="15" name="priority 2"/>
          <p:cNvSpPr/>
          <p:nvPr/>
        </p:nvSpPr>
        <p:spPr>
          <a:xfrm>
            <a:off x="6263640" y="1993392"/>
            <a:ext cx="13258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63640" y="19933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高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PE・サーチファンド・承継ファンド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年に複数件を検討・投資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388620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悩み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ソーシングの効率が悪い。スクリーニングにアナリスト工数がかかる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払う理由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アナリスト工数の代替として</a:t>
            </a:r>
            <a:endParaRPr lang="en-US" sz="1300" dirty="0"/>
          </a:p>
        </p:txBody>
      </p:sp>
      <p:sp>
        <p:nvSpPr>
          <p:cNvPr id="20" name="persona 3"/>
          <p:cNvSpPr/>
          <p:nvPr/>
        </p:nvSpPr>
        <p:spPr>
          <a:xfrm>
            <a:off x="8046720" y="164592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18745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29968"/>
            <a:ext cx="374904" cy="374904"/>
          </a:xfrm>
          <a:prstGeom prst="rect">
            <a:avLst/>
          </a:prstGeom>
        </p:spPr>
      </p:pic>
      <p:sp>
        <p:nvSpPr>
          <p:cNvPr id="23" name="priority 3"/>
          <p:cNvSpPr/>
          <p:nvPr/>
        </p:nvSpPr>
        <p:spPr>
          <a:xfrm>
            <a:off x="10012680" y="1993392"/>
            <a:ext cx="132588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012680" y="19933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中（チャネル）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士業・地銀・信金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顧問先・取引先の買い手を支援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388620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悩み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顧問先からの買収相談に応える道具とネットワークがない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払う理由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顧問サービスの付加価値として（送客チャネル）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買い手の仕事は「探す」で終わらない：成果が出るまでの4段階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元案は①〜③で「探す〜買う」をカバー。抜けている「統合する」こそ継続課金の理由になる</a:t>
            </a:r>
            <a:endParaRPr lang="en-US" sz="1500" dirty="0"/>
          </a:p>
        </p:txBody>
      </p:sp>
      <p:sp>
        <p:nvSpPr>
          <p:cNvPr id="4" name="job step 1"/>
          <p:cNvSpPr/>
          <p:nvPr/>
        </p:nvSpPr>
        <p:spPr>
          <a:xfrm>
            <a:off x="548640" y="1645920"/>
            <a:ext cx="269748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1．探す</a:t>
            </a:r>
            <a:endParaRPr lang="en-US" sz="1800" dirty="0"/>
          </a:p>
        </p:txBody>
      </p:sp>
      <p:sp>
        <p:nvSpPr>
          <p:cNvPr id="6" name="pain 1"/>
          <p:cNvSpPr/>
          <p:nvPr/>
        </p:nvSpPr>
        <p:spPr>
          <a:xfrm>
            <a:off x="548640" y="25603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今の痛み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案件が各社に散在。売りに出ていない優良企業には出会えない</a:t>
            </a:r>
            <a:endParaRPr lang="en-US" sz="1200" dirty="0"/>
          </a:p>
        </p:txBody>
      </p:sp>
      <p:sp>
        <p:nvSpPr>
          <p:cNvPr id="8" name="value 1"/>
          <p:cNvSpPr/>
          <p:nvPr/>
        </p:nvSpPr>
        <p:spPr>
          <a:xfrm>
            <a:off x="548640" y="42976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389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AIで提供する価値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横断検索に加え、買収方針から逆算した候補企業リスト（非公開企業を含む）</a:t>
            </a:r>
            <a:endParaRPr lang="en-US" sz="1200" dirty="0"/>
          </a:p>
        </p:txBody>
      </p:sp>
      <p:sp>
        <p:nvSpPr>
          <p:cNvPr id="10" name="job step 2"/>
          <p:cNvSpPr/>
          <p:nvPr/>
        </p:nvSpPr>
        <p:spPr>
          <a:xfrm>
            <a:off x="3346704" y="1645920"/>
            <a:ext cx="269748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2．見極める</a:t>
            </a:r>
            <a:endParaRPr lang="en-US" sz="1800" dirty="0"/>
          </a:p>
        </p:txBody>
      </p:sp>
      <p:sp>
        <p:nvSpPr>
          <p:cNvPr id="12" name="pain 2"/>
          <p:cNvSpPr/>
          <p:nvPr/>
        </p:nvSpPr>
        <p:spPr>
          <a:xfrm>
            <a:off x="3346704" y="25603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9584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今の痛み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企業概要書を読み解けない。高値づかみ・悪質案件が不安</a:t>
            </a:r>
            <a:endParaRPr lang="en-US" sz="1200" dirty="0"/>
          </a:p>
        </p:txBody>
      </p:sp>
      <p:sp>
        <p:nvSpPr>
          <p:cNvPr id="14" name="value 2"/>
          <p:cNvSpPr/>
          <p:nvPr/>
        </p:nvSpPr>
        <p:spPr>
          <a:xfrm>
            <a:off x="3346704" y="42976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9584" y="4389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AIで提供する価値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企業概要書・決算書のAI読解、レッドフラグ検出、簡易バリュエーション、シナジー試算</a:t>
            </a:r>
            <a:endParaRPr lang="en-US" sz="1200" dirty="0"/>
          </a:p>
        </p:txBody>
      </p:sp>
      <p:sp>
        <p:nvSpPr>
          <p:cNvPr id="16" name="job step 3"/>
          <p:cNvSpPr/>
          <p:nvPr/>
        </p:nvSpPr>
        <p:spPr>
          <a:xfrm>
            <a:off x="6144768" y="1645920"/>
            <a:ext cx="269748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3．買う</a:t>
            </a:r>
            <a:endParaRPr lang="en-US" sz="1800" dirty="0"/>
          </a:p>
        </p:txBody>
      </p:sp>
      <p:sp>
        <p:nvSpPr>
          <p:cNvPr id="18" name="pain 3"/>
          <p:cNvSpPr/>
          <p:nvPr/>
        </p:nvSpPr>
        <p:spPr>
          <a:xfrm>
            <a:off x="6144768" y="25603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今の痛み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いくらまで出せるか分からない。資金の出し手がない。交渉が仲介の言いなり</a:t>
            </a:r>
            <a:endParaRPr lang="en-US" sz="1200" dirty="0"/>
          </a:p>
        </p:txBody>
      </p:sp>
      <p:sp>
        <p:nvSpPr>
          <p:cNvPr id="20" name="value 3"/>
          <p:cNvSpPr/>
          <p:nvPr/>
        </p:nvSpPr>
        <p:spPr>
          <a:xfrm>
            <a:off x="6144768" y="42976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4389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AIで提供する価値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借入余力シミュレーション、提携金融機関への取次、買い手FAによる条件交渉</a:t>
            </a:r>
            <a:endParaRPr lang="en-US" sz="1200" dirty="0"/>
          </a:p>
        </p:txBody>
      </p:sp>
      <p:sp>
        <p:nvSpPr>
          <p:cNvPr id="22" name="job step 4"/>
          <p:cNvSpPr/>
          <p:nvPr/>
        </p:nvSpPr>
        <p:spPr>
          <a:xfrm>
            <a:off x="8942832" y="1645920"/>
            <a:ext cx="269748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7152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4．統合する</a:t>
            </a:r>
            <a:endParaRPr lang="en-US" sz="1800" dirty="0"/>
          </a:p>
        </p:txBody>
      </p:sp>
      <p:sp>
        <p:nvSpPr>
          <p:cNvPr id="24" name="pain 4"/>
          <p:cNvSpPr/>
          <p:nvPr/>
        </p:nvSpPr>
        <p:spPr>
          <a:xfrm>
            <a:off x="8942832" y="25603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25712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今の痛み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買った後に人が辞める。数字が崩れる。PMIのノウハウがない</a:t>
            </a:r>
            <a:endParaRPr lang="en-US" sz="1200" dirty="0"/>
          </a:p>
        </p:txBody>
      </p:sp>
      <p:sp>
        <p:nvSpPr>
          <p:cNvPr id="26" name="value 4"/>
          <p:cNvSpPr/>
          <p:nvPr/>
        </p:nvSpPr>
        <p:spPr>
          <a:xfrm>
            <a:off x="8942832" y="42976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25712" y="4389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AIで提供する価値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100日プランの自動生成、KPIモニタリング、PMI伴走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中小企業に、AIの「M&amp;A部門」を。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情報を売るのではなく、「良い会社を、適正価格で買い、成果を出す」までを月額で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92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情報の集約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意思決定の支援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4892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案件を見せる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買収を成功させる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92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中立な掲示板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買い手の味方（片手専任）</a:t>
            </a:r>
            <a:endParaRPr lang="en-US" sz="18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差別化の源泉は独自データ：REINSの本当の価値は成約データ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集めた情報ではなく、サービスを使うほど溜まるデータで勝つ</a:t>
            </a:r>
            <a:endParaRPr lang="en-US" sz="1500" dirty="0"/>
          </a:p>
        </p:txBody>
      </p:sp>
      <p:sp>
        <p:nvSpPr>
          <p:cNvPr id="4" name="flywheel hub"/>
          <p:cNvSpPr/>
          <p:nvPr/>
        </p:nvSpPr>
        <p:spPr>
          <a:xfrm>
            <a:off x="2834640" y="3200400"/>
            <a:ext cx="16002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34640" y="32004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データの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好循環</a:t>
            </a:r>
            <a:endParaRPr lang="en-US" sz="1400" dirty="0"/>
          </a:p>
        </p:txBody>
      </p:sp>
      <p:sp>
        <p:nvSpPr>
          <p:cNvPr id="6" name="flywheel node"/>
          <p:cNvSpPr/>
          <p:nvPr/>
        </p:nvSpPr>
        <p:spPr>
          <a:xfrm>
            <a:off x="2606040" y="169164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691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AI分析を求めて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買い手が集まる</a:t>
            </a:r>
            <a:endParaRPr lang="en-US" sz="1200" dirty="0"/>
          </a:p>
        </p:txBody>
      </p:sp>
      <p:sp>
        <p:nvSpPr>
          <p:cNvPr id="8" name="flywheel node"/>
          <p:cNvSpPr/>
          <p:nvPr/>
        </p:nvSpPr>
        <p:spPr>
          <a:xfrm>
            <a:off x="4663440" y="324612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買収ニーズ・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検討データが溜まる</a:t>
            </a:r>
            <a:endParaRPr lang="en-US" sz="1200" dirty="0"/>
          </a:p>
        </p:txBody>
      </p:sp>
      <p:sp>
        <p:nvSpPr>
          <p:cNvPr id="10" name="flywheel node"/>
          <p:cNvSpPr/>
          <p:nvPr/>
        </p:nvSpPr>
        <p:spPr>
          <a:xfrm>
            <a:off x="2606040" y="48006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48006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認証バイヤーに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仲介が案件を持込む</a:t>
            </a:r>
            <a:endParaRPr lang="en-US" sz="1200" dirty="0"/>
          </a:p>
        </p:txBody>
      </p:sp>
      <p:sp>
        <p:nvSpPr>
          <p:cNvPr id="12" name="flywheel node"/>
          <p:cNvSpPr/>
          <p:nvPr/>
        </p:nvSpPr>
        <p:spPr>
          <a:xfrm>
            <a:off x="548640" y="324612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成約データで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AI査定の精度向上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822960" cy="100584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4663440" y="4297680"/>
            <a:ext cx="822960" cy="45720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1645920" y="4297680"/>
            <a:ext cx="914400" cy="45720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1645920" y="2194560"/>
            <a:ext cx="914400" cy="100584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8" name="asset 1"/>
          <p:cNvSpPr/>
          <p:nvPr/>
        </p:nvSpPr>
        <p:spPr>
          <a:xfrm>
            <a:off x="7086600" y="1691640"/>
            <a:ext cx="45262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0574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2212848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09244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成約価格データベース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16712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小規模M&amp;Aの成約価格・倍率を蓄積。公開されていないからこそ価値がある。AI査定の根拠になる</a:t>
            </a:r>
            <a:endParaRPr lang="en-US" sz="1100" dirty="0"/>
          </a:p>
        </p:txBody>
      </p:sp>
      <p:sp>
        <p:nvSpPr>
          <p:cNvPr id="23" name="asset 2"/>
          <p:cNvSpPr/>
          <p:nvPr/>
        </p:nvSpPr>
        <p:spPr>
          <a:xfrm>
            <a:off x="7086600" y="3200400"/>
            <a:ext cx="45262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9480" y="35661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372160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092440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認証バイヤーDB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092440" y="367588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反社・財務・買収実績を確認済みの買い手。悪質な買い手問題への答えで、仲介・売り手が安心して打診できる</a:t>
            </a:r>
            <a:endParaRPr lang="en-US" sz="1100" dirty="0"/>
          </a:p>
        </p:txBody>
      </p:sp>
      <p:sp>
        <p:nvSpPr>
          <p:cNvPr id="28" name="asset 3"/>
          <p:cNvSpPr/>
          <p:nvPr/>
        </p:nvSpPr>
        <p:spPr>
          <a:xfrm>
            <a:off x="7086600" y="4709160"/>
            <a:ext cx="45262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269480" y="5074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5230368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092440" y="4818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買収ニーズデータ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8092440" y="518464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誰が・何を・いくらで買いたいか（本人同意のもと）。仲介・FA向けの商品になる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AIエージェント×専門家のハイブリッドで提供する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AIが工数の8割を担い、判断・交渉・責任は人が持つ。1人あたりの担当件数を増やすのが採算の鍵</a:t>
            </a:r>
            <a:endParaRPr lang="en-US" sz="1500" dirty="0"/>
          </a:p>
        </p:txBody>
      </p:sp>
      <p:sp>
        <p:nvSpPr>
          <p:cNvPr id="4" name="layer customer"/>
          <p:cNvSpPr/>
          <p:nvPr/>
        </p:nvSpPr>
        <p:spPr>
          <a:xfrm>
            <a:off x="548640" y="164592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顧客の入力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自社BS/PL・試算表・買収方針（業種・エリア・予算）・NDA後の企業概要書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AIエージェント層</a:t>
            </a:r>
            <a:endParaRPr lang="en-US" sz="1200" dirty="0"/>
          </a:p>
        </p:txBody>
      </p:sp>
      <p:sp>
        <p:nvSpPr>
          <p:cNvPr id="7" name="module 戦略策定"/>
          <p:cNvSpPr/>
          <p:nvPr/>
        </p:nvSpPr>
        <p:spPr>
          <a:xfrm>
            <a:off x="548640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971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戦略策定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何を買うべきか</a:t>
            </a:r>
            <a:endParaRPr lang="en-US" sz="1100" dirty="0"/>
          </a:p>
        </p:txBody>
      </p:sp>
      <p:sp>
        <p:nvSpPr>
          <p:cNvPr id="11" name="module ソーシング"/>
          <p:cNvSpPr/>
          <p:nvPr/>
        </p:nvSpPr>
        <p:spPr>
          <a:xfrm>
            <a:off x="2414016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971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14016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ソーシング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414016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候補を探す・打診</a:t>
            </a:r>
            <a:endParaRPr lang="en-US" sz="1100" dirty="0"/>
          </a:p>
        </p:txBody>
      </p:sp>
      <p:sp>
        <p:nvSpPr>
          <p:cNvPr id="15" name="module スクリーニング"/>
          <p:cNvSpPr/>
          <p:nvPr/>
        </p:nvSpPr>
        <p:spPr>
          <a:xfrm>
            <a:off x="4279392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971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79392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スクリーニング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279392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足切り・優先度</a:t>
            </a:r>
            <a:endParaRPr lang="en-US" sz="1100" dirty="0"/>
          </a:p>
        </p:txBody>
      </p:sp>
      <p:sp>
        <p:nvSpPr>
          <p:cNvPr id="19" name="module バリュエーション"/>
          <p:cNvSpPr/>
          <p:nvPr/>
        </p:nvSpPr>
        <p:spPr>
          <a:xfrm>
            <a:off x="6144768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9718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44768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バリュエーション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144768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適正価格の算定</a:t>
            </a:r>
            <a:endParaRPr lang="en-US" sz="1100" dirty="0"/>
          </a:p>
        </p:txBody>
      </p:sp>
      <p:sp>
        <p:nvSpPr>
          <p:cNvPr id="23" name="module 資金設計"/>
          <p:cNvSpPr/>
          <p:nvPr/>
        </p:nvSpPr>
        <p:spPr>
          <a:xfrm>
            <a:off x="8010144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97180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資金設計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010144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借入余力・調達</a:t>
            </a:r>
            <a:endParaRPr lang="en-US" sz="1100" dirty="0"/>
          </a:p>
        </p:txBody>
      </p:sp>
      <p:sp>
        <p:nvSpPr>
          <p:cNvPr id="27" name="module DD・PMI"/>
          <p:cNvSpPr/>
          <p:nvPr/>
        </p:nvSpPr>
        <p:spPr>
          <a:xfrm>
            <a:off x="9875520" y="283464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8" y="297180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87552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DD・PMI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987552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リスク確認・統合</a:t>
            </a:r>
            <a:endParaRPr lang="en-US" sz="1100" dirty="0"/>
          </a:p>
        </p:txBody>
      </p:sp>
      <p:sp>
        <p:nvSpPr>
          <p:cNvPr id="31" name="layer human"/>
          <p:cNvSpPr/>
          <p:nvPr/>
        </p:nvSpPr>
        <p:spPr>
          <a:xfrm>
            <a:off x="548640" y="45720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専門家層　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買い手FA・公認会計士・弁護士・提携金融機関（判断・交渉・最終責任）</a:t>
            </a:r>
            <a:endParaRPr lang="en-US" sz="1400" dirty="0"/>
          </a:p>
        </p:txBody>
      </p:sp>
      <p:sp>
        <p:nvSpPr>
          <p:cNvPr id="33" name="layer data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データ基盤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公開案件（提携・API優先）／企業DB／成約DB／顧客データ（テナント分離・AI学習に使わない）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修正版ビジネスモデル：4つの収益源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原則は「買い手側に立ち切る（片手主義）」。売り手は扱わず、提携する売り手FAへつなぐ</a:t>
            </a:r>
            <a:endParaRPr lang="en-US" sz="1500" dirty="0"/>
          </a:p>
        </p:txBody>
      </p:sp>
      <p:sp>
        <p:nvSpPr>
          <p:cNvPr id="4" name="revenue 1"/>
          <p:cNvSpPr/>
          <p:nvPr/>
        </p:nvSpPr>
        <p:spPr>
          <a:xfrm>
            <a:off x="548640" y="164592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47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サブスク（主軸）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385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元案 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Pro／Businessの月額。AI分析・ソーシング・アナリストの伴走</a:t>
            </a:r>
            <a:endParaRPr lang="en-US" sz="1200" dirty="0"/>
          </a:p>
        </p:txBody>
      </p:sp>
      <p:sp>
        <p:nvSpPr>
          <p:cNvPr id="10" name="revenue 2"/>
          <p:cNvSpPr/>
          <p:nvPr/>
        </p:nvSpPr>
        <p:spPr>
          <a:xfrm>
            <a:off x="6172200" y="164592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847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成功報酬（買い手FAのみ）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0" y="19385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元案 ③＋④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条件交渉・クロージングを買い手FAとして受任。月額の一部を成功報酬に充当し、二重取り感を消す</a:t>
            </a:r>
            <a:endParaRPr lang="en-US" sz="1200" dirty="0"/>
          </a:p>
        </p:txBody>
      </p:sp>
      <p:sp>
        <p:nvSpPr>
          <p:cNvPr id="16" name="revenue 3"/>
          <p:cNvSpPr/>
          <p:nvPr/>
        </p:nvSpPr>
        <p:spPr>
          <a:xfrm>
            <a:off x="548640" y="36118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813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仲介・FA向け「認証バイヤー」アクセス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9044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元案 ⑥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480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売り手を抱える仲介・FAが、本人同意済みの買いニーズへ案件を打診できる（掲載・打診課金）</a:t>
            </a:r>
            <a:endParaRPr lang="en-US" sz="1200" dirty="0"/>
          </a:p>
        </p:txBody>
      </p:sp>
      <p:sp>
        <p:nvSpPr>
          <p:cNvPr id="22" name="revenue 4"/>
          <p:cNvSpPr/>
          <p:nvPr/>
        </p:nvSpPr>
        <p:spPr>
          <a:xfrm>
            <a:off x="6172200" y="36118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8404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13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提携紹介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287000" y="39044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元案 ②・⑤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480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登録済みの金融機関・専門家、売り手FAへの取次。報酬スキームは法令確認の上で設計</a:t>
            </a:r>
            <a:endParaRPr lang="en-US" sz="1200" dirty="0"/>
          </a:p>
        </p:txBody>
      </p:sp>
      <p:sp>
        <p:nvSpPr>
          <p:cNvPr id="28" name="revenue principle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やらないこと：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売り手からの手数料受領／同一案件での両手／情報の囲い込み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料金プラン案：「月額〇万円」の〇を価値の単位で決める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価格はすべて仮置き。顧客インタビューと有償PoCで支払意思額を検証する</a:t>
            </a:r>
            <a:endParaRPr lang="en-US" sz="1500" dirty="0"/>
          </a:p>
        </p:txBody>
      </p:sp>
      <p:graphicFrame>
        <p:nvGraphicFramePr>
          <p:cNvPr id="21" name="pric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65176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プラン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月額（税別・仮）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主な対象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主な機能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Free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0円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個人・情報収集層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横断検索、新着通知、簡易査定（集客装置）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5万円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初めて買収を検討する企業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AI案件スコアリング、BS/PL連携のシナジー試算、企業概要書のAI読解（月5件）、借入余力シミュレーション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Business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25万円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（年契約）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連続買収企業・ファンド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Pro全機能＋専任アナリスト、能動ソーシング（候補リスト作成・打診）、DD・PMIパッケージ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成功報酬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譲渡価格×3%目安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（最低300万円）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Pro／Business契約者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買い手FAとして条件交渉〜クロージング。支払済み月額の一部を充当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参考：大手仲介の1件あたり平均手数料は6,700万〜1.3億円（MANDA資料より）。月額＋片手の成功報酬でも、買い手の総コストを大きく下げられる余地がある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収益シミュレーション（仮説）：3年目に売上10億円超を狙う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成功報酬と月額の組み合わせで、イベント型の収益とストック型の収益を両立する</a:t>
            </a:r>
            <a:endParaRPr lang="en-US" sz="1500" dirty="0"/>
          </a:p>
        </p:txBody>
      </p:sp>
      <p:graphicFrame>
        <p:nvGraphicFramePr>
          <p:cNvPr id="4" name="revenue chart" descr=""/>
          <p:cNvGraphicFramePr/>
          <p:nvPr/>
        </p:nvGraphicFramePr>
        <p:xfrm>
          <a:off x="548640" y="160020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im assumptions"/>
          <p:cNvSpPr/>
          <p:nvPr/>
        </p:nvSpPr>
        <p:spPr>
          <a:xfrm>
            <a:off x="7406640" y="1691640"/>
            <a:ext cx="4206240" cy="45262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874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合計  1.1億 → 4.9億 → 12.8億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主な前提（各年の平均）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9260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Pro契約：60 → 250 → 600社（月5万円）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Business契約：8 → 40 → 100社（月25万円）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成約：5 → 20 → 50件（平均800万〜1,000万円）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仲介・FA向け：0.05 → 0.4 → 1.2億円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3年目の成約50件は、MANDA資料の目標（3年後成約3,000件）より桁違いに保守的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元案①〜⑥のビフォー／アフター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捨てるものは捨て、筋の良い要素に資源を集中する</a:t>
            </a:r>
            <a:endParaRPr lang="en-US" sz="1500" dirty="0"/>
          </a:p>
        </p:txBody>
      </p:sp>
      <p:graphicFrame>
        <p:nvGraphicFramePr>
          <p:cNvPr id="23" name="before af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  <a:gridCol w="1005840"/>
                <a:gridCol w="6492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元案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判断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修正案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土台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案件の一括閲覧・メルマガ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縮小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無料層の集客装置に格下げ。提携・API・掲載許諾ベースに切り替え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①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AI分析・シナジー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主力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主力機能。ノンネームは足切り、NDA後の企業概要書読解で深く分析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資金調達・投資家紹介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修正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借入余力シミュレーション＋登録済み金融機関への取次（適法スキーム）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③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代理交渉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統合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④と統合して「買い手FA」とし成功報酬で提供。定額には含めない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買い手側仲介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主力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片手専任の買い手FA。支払済み月額の一部を充当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⑤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売主を直接押さえる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撤回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売り手は扱わない。提携売り手FAへ送客（紹介料）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⑥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仲介へのセールス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修正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「認証バイヤーへの打診権」として仲介・FAに販売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ロードマップ：小さく有償で始め、データで勝つ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Phaseごとに「次へ進む条件」を決め、条件を満たしてから投資を増やす</a:t>
            </a:r>
            <a:endParaRPr lang="en-US" sz="1500" dirty="0"/>
          </a:p>
        </p:txBody>
      </p:sp>
      <p:sp>
        <p:nvSpPr>
          <p:cNvPr id="4" name="phase 1"/>
          <p:cNvSpPr/>
          <p:nvPr/>
        </p:nvSpPr>
        <p:spPr>
          <a:xfrm>
            <a:off x="548640" y="1645920"/>
            <a:ext cx="3611880" cy="77724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 1｜0〜6ヶ月</a:t>
            </a:r>
            <a:endParaRPr lang="en-US" sz="1500" dirty="0"/>
          </a:p>
        </p:txBody>
      </p:sp>
      <p:sp>
        <p:nvSpPr>
          <p:cNvPr id="6" name="phase body 1"/>
          <p:cNvSpPr/>
          <p:nvPr/>
        </p:nvSpPr>
        <p:spPr>
          <a:xfrm>
            <a:off x="548640" y="2606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AIバイヤーアシスタント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提携ベースの横断検索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BS/PL連携スコアリング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企業概要書のAI読解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法務スキーム確定</a:t>
            </a:r>
            <a:endParaRPr lang="en-US" sz="1300" dirty="0"/>
          </a:p>
        </p:txBody>
      </p:sp>
      <p:sp>
        <p:nvSpPr>
          <p:cNvPr id="9" name="phase kpi 1"/>
          <p:cNvSpPr/>
          <p:nvPr/>
        </p:nvSpPr>
        <p:spPr>
          <a:xfrm>
            <a:off x="548640" y="548640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486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有償β 20社／継続率70%</a:t>
            </a:r>
            <a:endParaRPr lang="en-US" sz="1300" dirty="0"/>
          </a:p>
        </p:txBody>
      </p:sp>
      <p:sp>
        <p:nvSpPr>
          <p:cNvPr id="11" name="phase 2"/>
          <p:cNvSpPr/>
          <p:nvPr/>
        </p:nvSpPr>
        <p:spPr>
          <a:xfrm>
            <a:off x="4297680" y="1645920"/>
            <a:ext cx="3611880" cy="77724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 2｜6〜18ヶ月</a:t>
            </a:r>
            <a:endParaRPr lang="en-US" sz="1500" dirty="0"/>
          </a:p>
        </p:txBody>
      </p:sp>
      <p:sp>
        <p:nvSpPr>
          <p:cNvPr id="13" name="phase body 2"/>
          <p:cNvSpPr/>
          <p:nvPr/>
        </p:nvSpPr>
        <p:spPr>
          <a:xfrm>
            <a:off x="4297680" y="2606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買い手FA＋資金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2461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買い手FAサービス開始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提携金融機関3〜5行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認証バイヤー制度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Businessプラン開始</a:t>
            </a:r>
            <a:endParaRPr lang="en-US" sz="1300" dirty="0"/>
          </a:p>
        </p:txBody>
      </p:sp>
      <p:sp>
        <p:nvSpPr>
          <p:cNvPr id="16" name="phase kpi 2"/>
          <p:cNvSpPr/>
          <p:nvPr/>
        </p:nvSpPr>
        <p:spPr>
          <a:xfrm>
            <a:off x="4297680" y="548640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5486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契約150社／成約20件</a:t>
            </a:r>
            <a:endParaRPr lang="en-US" sz="1300" dirty="0"/>
          </a:p>
        </p:txBody>
      </p:sp>
      <p:sp>
        <p:nvSpPr>
          <p:cNvPr id="18" name="phase 3"/>
          <p:cNvSpPr/>
          <p:nvPr/>
        </p:nvSpPr>
        <p:spPr>
          <a:xfrm>
            <a:off x="8046720" y="1645920"/>
            <a:ext cx="361188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 3｜18〜36ヶ月</a:t>
            </a:r>
            <a:endParaRPr lang="en-US" sz="1500" dirty="0"/>
          </a:p>
        </p:txBody>
      </p:sp>
      <p:sp>
        <p:nvSpPr>
          <p:cNvPr id="20" name="phase body 3"/>
          <p:cNvSpPr/>
          <p:nvPr/>
        </p:nvSpPr>
        <p:spPr>
          <a:xfrm>
            <a:off x="8046720" y="2606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データで勝つ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461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成約DBを使ったAI査定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仲介・FA向け打診SaaS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PMIモジュール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ファンド向けEnterprise</a:t>
            </a:r>
            <a:endParaRPr lang="en-US" sz="1300" dirty="0"/>
          </a:p>
        </p:txBody>
      </p:sp>
      <p:sp>
        <p:nvSpPr>
          <p:cNvPr id="23" name="phase kpi 3"/>
          <p:cNvSpPr/>
          <p:nvPr/>
        </p:nvSpPr>
        <p:spPr>
          <a:xfrm>
            <a:off x="8046720" y="548640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5486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契約700社／成約50件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主要リスクと対策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影響の大きい4つは、立ち上げ前に対策の目処を立てておく</a:t>
            </a:r>
            <a:endParaRPr lang="en-US" sz="1500" dirty="0"/>
          </a:p>
        </p:txBody>
      </p:sp>
      <p:graphicFrame>
        <p:nvGraphicFramePr>
          <p:cNvPr id="25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62179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リスク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影響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対策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掲載元からのデータ遮断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高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提携・API・掲載許諾へ移行し、独自ソーシングの比率を高める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AIの誤分析（査定・DD）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高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根拠の明示、専門家レビューの必須化、免責と責任範囲の明確化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顧客財務データの漏えい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高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テナント分離、AI学習に使わない契約、ISMS／SOC2の取得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規制（金商法・貸金業法・弁護士法・ガイドライン）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高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立ち上げ前に法律意見書を取得。必要に応じて登録または登録業者と提携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買い手FA人材の確保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中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提携FA・会計事務所のネットワーク化。AIで1人あたりの担当件数を拡大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解約率の高さ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中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年契約、PMIまでの伴走、成功報酬への充当で継続する動機をつくる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次の一手：90日で「お金を払うか」を検証する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作る前に売る。開発投資は有償PoCの結果を見てから判断する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27048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27048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1"/>
          <p:cNvSpPr/>
          <p:nvPr/>
        </p:nvSpPr>
        <p:spPr>
          <a:xfrm>
            <a:off x="548640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0〜30日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顧客検証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連続買収企業・ファンド20社にインタビュー。月5万／25万円の支払意思をテスト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25112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tep 2"/>
          <p:cNvSpPr/>
          <p:nvPr/>
        </p:nvSpPr>
        <p:spPr>
          <a:xfrm>
            <a:off x="3346704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958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0〜45日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法務整理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5204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弁護士の意見書（金商法・貸金業法・非弁・データ収集）。M&amp;A支援機関登録の準備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23176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tep 3"/>
          <p:cNvSpPr/>
          <p:nvPr/>
        </p:nvSpPr>
        <p:spPr>
          <a:xfrm>
            <a:off x="6144768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30〜60日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データ提携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5204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掲載サイト・FA 3社とMOU。成約データ共有の条件を交渉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2124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12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tep 4"/>
          <p:cNvSpPr/>
          <p:nvPr/>
        </p:nvSpPr>
        <p:spPr>
          <a:xfrm>
            <a:off x="8942832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25712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60〜90日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有償PoC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35204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5社に「AI買収戦略レポート」を有償提供（例：30万円／社）。継続意向と成約見込みを測る</a:t>
            </a:r>
            <a:endParaRPr lang="en-US" sz="1300" dirty="0"/>
          </a:p>
        </p:txBody>
      </p:sp>
      <p:sp>
        <p:nvSpPr>
          <p:cNvPr id="28" name="go criteria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判断基準：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PoC 5社中3社以上が継続を希望し、うち1社以上で買い手FAの受任見込みが立てば Phase 1 の開発へ進む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＋α：指導型M&amp;A部門サービス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ナカノが実際に49戦で身につけた手順を、お客様の担当者に移植する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創業の理由：M&amp;Aで不幸になる人を、これ以上増やさない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49戦して分かったのは、M&amp;Aは才能ではなく手順で勝てるということ</a:t>
            </a:r>
            <a:endParaRPr lang="en-US" sz="1500" dirty="0"/>
          </a:p>
        </p:txBody>
      </p:sp>
      <p:sp>
        <p:nvSpPr>
          <p:cNvPr id="4" name="story label 1"/>
          <p:cNvSpPr/>
          <p:nvPr/>
        </p:nvSpPr>
        <p:spPr>
          <a:xfrm>
            <a:off x="548640" y="1645920"/>
            <a:ext cx="1463040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原体験</a:t>
            </a:r>
            <a:endParaRPr lang="en-US" sz="1700" dirty="0"/>
          </a:p>
        </p:txBody>
      </p:sp>
      <p:sp>
        <p:nvSpPr>
          <p:cNvPr id="6" name="story body 1"/>
          <p:cNvSpPr/>
          <p:nvPr/>
        </p:nvSpPr>
        <p:spPr>
          <a:xfrm>
            <a:off x="2148840" y="1645920"/>
            <a:ext cx="51206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645920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自分も負けた。とんかつ11店舗で−1.40億円、ポータル事業で−1.70億円。幸福度の谷は、いつもM&amp;Aの負けと同じ年にあった</a:t>
            </a:r>
            <a:endParaRPr lang="en-US" sz="1300" dirty="0"/>
          </a:p>
        </p:txBody>
      </p:sp>
      <p:sp>
        <p:nvSpPr>
          <p:cNvPr id="8" name="story label 2"/>
          <p:cNvSpPr/>
          <p:nvPr/>
        </p:nvSpPr>
        <p:spPr>
          <a:xfrm>
            <a:off x="548640" y="2807208"/>
            <a:ext cx="1463040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07208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気づき</a:t>
            </a:r>
            <a:endParaRPr lang="en-US" sz="1700" dirty="0"/>
          </a:p>
        </p:txBody>
      </p:sp>
      <p:sp>
        <p:nvSpPr>
          <p:cNvPr id="10" name="story body 2"/>
          <p:cNvSpPr/>
          <p:nvPr/>
        </p:nvSpPr>
        <p:spPr>
          <a:xfrm>
            <a:off x="2148840" y="2807208"/>
            <a:ext cx="51206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2807208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負けた理由は才能ではなく、手順を飛ばしたこと。値づけ・PMI責任者・売る時期を、買う前に決めていなかった</a:t>
            </a:r>
            <a:endParaRPr lang="en-US" sz="1300" dirty="0"/>
          </a:p>
        </p:txBody>
      </p:sp>
      <p:sp>
        <p:nvSpPr>
          <p:cNvPr id="12" name="story label 3"/>
          <p:cNvSpPr/>
          <p:nvPr/>
        </p:nvSpPr>
        <p:spPr>
          <a:xfrm>
            <a:off x="548640" y="3968496"/>
            <a:ext cx="1463040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68496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問題</a:t>
            </a:r>
            <a:endParaRPr lang="en-US" sz="1700" dirty="0"/>
          </a:p>
        </p:txBody>
      </p:sp>
      <p:sp>
        <p:nvSpPr>
          <p:cNvPr id="14" name="story body 3"/>
          <p:cNvSpPr/>
          <p:nvPr/>
        </p:nvSpPr>
        <p:spPr>
          <a:xfrm>
            <a:off x="2148840" y="3968496"/>
            <a:ext cx="51206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77440" y="3968496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仲介の仕事は成約まで。買った後に不幸になる買い手を、誰も止めてくれない</a:t>
            </a:r>
            <a:endParaRPr lang="en-US" sz="1300" dirty="0"/>
          </a:p>
        </p:txBody>
      </p:sp>
      <p:sp>
        <p:nvSpPr>
          <p:cNvPr id="16" name="story label 4"/>
          <p:cNvSpPr/>
          <p:nvPr/>
        </p:nvSpPr>
        <p:spPr>
          <a:xfrm>
            <a:off x="548640" y="5129784"/>
            <a:ext cx="1463040" cy="1024128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9784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だから</a:t>
            </a:r>
            <a:endParaRPr lang="en-US" sz="1700" dirty="0"/>
          </a:p>
        </p:txBody>
      </p:sp>
      <p:sp>
        <p:nvSpPr>
          <p:cNvPr id="18" name="story body 4"/>
          <p:cNvSpPr/>
          <p:nvPr/>
        </p:nvSpPr>
        <p:spPr>
          <a:xfrm>
            <a:off x="2148840" y="5129784"/>
            <a:ext cx="51206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77440" y="512978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やり方を教え、買い手の側に立つ。担当者が自分で勝てるようになるまで伴走する</a:t>
            </a:r>
            <a:endParaRPr lang="en-US" sz="1300" dirty="0"/>
          </a:p>
        </p:txBody>
      </p:sp>
      <p:sp>
        <p:nvSpPr>
          <p:cNvPr id="20" name="founder quote"/>
          <p:cNvSpPr/>
          <p:nvPr/>
        </p:nvSpPr>
        <p:spPr>
          <a:xfrm>
            <a:off x="7589520" y="1645920"/>
            <a:ext cx="4023360" cy="4507992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187452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やり方さえ知っていれば、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M&amp;Aは成功できる。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失敗して不幸になる人を増やしたくない。成功してほしい。その手順を、自分の49戦の勝ちと負けから全部渡します。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中野 邦人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株式会社WineBank 代表取締役／株式会社あどばる 代表取締役会長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信用の裏付け：49戦の実績（勝ちも負けも、すべて自社の実案件）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2011年3月〜現在。仲介ではなく、自分のお金で買い、売り、立て直してきた</a:t>
            </a:r>
            <a:endParaRPr lang="en-US" sz="1500" dirty="0"/>
          </a:p>
        </p:txBody>
      </p:sp>
      <p:sp>
        <p:nvSpPr>
          <p:cNvPr id="4" name="record 1"/>
          <p:cNvSpPr/>
          <p:nvPr/>
        </p:nvSpPr>
        <p:spPr>
          <a:xfrm>
            <a:off x="548640" y="1645920"/>
            <a:ext cx="26060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約50</a:t>
            </a:r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案件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買収28／売却21／出資2</a:t>
            </a:r>
            <a:endParaRPr lang="en-US" sz="1200" dirty="0"/>
          </a:p>
        </p:txBody>
      </p:sp>
      <p:sp>
        <p:nvSpPr>
          <p:cNvPr id="7" name="record 2"/>
          <p:cNvSpPr/>
          <p:nvPr/>
        </p:nvSpPr>
        <p:spPr>
          <a:xfrm>
            <a:off x="3346704" y="1645920"/>
            <a:ext cx="26060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25.2</a:t>
            </a:r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億円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支払った買収総額（回収 16.7億円）</a:t>
            </a:r>
            <a:endParaRPr lang="en-US" sz="1200" dirty="0"/>
          </a:p>
        </p:txBody>
      </p:sp>
      <p:sp>
        <p:nvSpPr>
          <p:cNvPr id="10" name="record 3"/>
          <p:cNvSpPr/>
          <p:nvPr/>
        </p:nvSpPr>
        <p:spPr>
          <a:xfrm>
            <a:off x="6144768" y="1645920"/>
            <a:ext cx="26060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0.34</a:t>
            </a:r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倍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売上高倍率。売上74億円分の事業を25.2億円で取得</a:t>
            </a:r>
            <a:endParaRPr lang="en-US" sz="1200" dirty="0"/>
          </a:p>
        </p:txBody>
      </p:sp>
      <p:sp>
        <p:nvSpPr>
          <p:cNvPr id="13" name="record 4"/>
          <p:cNvSpPr/>
          <p:nvPr/>
        </p:nvSpPr>
        <p:spPr>
          <a:xfrm>
            <a:off x="8942832" y="1645920"/>
            <a:ext cx="26060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25712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2.9</a:t>
            </a:r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倍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グループ売上 23億円（2019）→ 66億円（2026予想）</a:t>
            </a:r>
            <a:endParaRPr lang="en-US" sz="1200" dirty="0"/>
          </a:p>
        </p:txBody>
      </p:sp>
      <p:sp>
        <p:nvSpPr>
          <p:cNvPr id="16" name="phase record 1"/>
          <p:cNvSpPr/>
          <p:nvPr/>
        </p:nvSpPr>
        <p:spPr>
          <a:xfrm>
            <a:off x="548640" y="393192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第1期 2011–2019：授業料を払った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10.8億円を投じて、回収5.3億＋事業利益4.1億＝9.4億円。規模を「数」で獲りにいき、前半は赤字</a:t>
            </a:r>
            <a:endParaRPr lang="en-US" sz="1300" dirty="0"/>
          </a:p>
        </p:txBody>
      </p:sp>
      <p:sp>
        <p:nvSpPr>
          <p:cNvPr id="19" name="phase record 2"/>
          <p:cNvSpPr/>
          <p:nvPr/>
        </p:nvSpPr>
        <p:spPr>
          <a:xfrm>
            <a:off x="6172200" y="393192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第2期 2020–：買った瞬間に勝つ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14.4億円の投資で、純資産15.9億円を取得。「純資産＞買収額」に絞っただけで損益構造が反転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出典：中野邦人 M&amp;A勝敗一覧表、グループ売上管理表（自社実データ）／NIB第56回月例会 講演資料（2026年10月）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勝ち筋5原則を、そのままサービスの判断基準にする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他社が真似できないのは、AIではなく「49戦の負けから作ったルール」</a:t>
            </a:r>
            <a:endParaRPr lang="en-US" sz="1500" dirty="0"/>
          </a:p>
        </p:txBody>
      </p:sp>
      <p:graphicFrame>
        <p:nvGraphicFramePr>
          <p:cNvPr id="30" name="playboo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200400"/>
                <a:gridCol w="39319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原則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49戦での実例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サービスでの実装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01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純資産を下回る価格でしか買わない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アピシウス：8.2億円で純資産13.0億円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AIがBS/PLと企業概要書から純資産・適正価格を算出し、入口で足切り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02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自分で見つける。仲介から始めない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約50案件の発掘はほぼ自分。仲介経由は3割以下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買収方針から候補企業を逆算し、直接打診のやり方を指導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03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PMI責任者が決まらない案件は買わない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同じポータル事業で5.0億円の差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基本合意の前に「PMI責任者の指名」を必須チェックに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04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本業の外は、買わずに自分で作る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買った本業外は全敗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買収戦略の段階で、本業外の案件を候補から外す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05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売る時期を、買う前に決めておく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6年保有で−1.70億円、2ヶ月で30%売却して回収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撤退ライン（損切り基準）を買収前に文書化して合意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指導型サービスの設計：12ヶ月で「自社で買える会社」にする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コンサルタントが案件を進めながら、担当者に手順を移植する。成果は「成約」と「人が育つこと」の両方</a:t>
            </a:r>
            <a:endParaRPr lang="en-US" sz="1500" dirty="0"/>
          </a:p>
        </p:txBody>
      </p:sp>
      <p:sp>
        <p:nvSpPr>
          <p:cNvPr id="4" name="timeline 1"/>
          <p:cNvSpPr/>
          <p:nvPr/>
        </p:nvSpPr>
        <p:spPr>
          <a:xfrm>
            <a:off x="548640" y="1645920"/>
            <a:ext cx="269748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1〜2ヶ月</a:t>
            </a:r>
            <a:endParaRPr lang="en-US" sz="1500" dirty="0"/>
          </a:p>
        </p:txBody>
      </p:sp>
      <p:sp>
        <p:nvSpPr>
          <p:cNvPr id="6" name="timeline body 1"/>
          <p:cNvSpPr/>
          <p:nvPr/>
        </p:nvSpPr>
        <p:spPr>
          <a:xfrm>
            <a:off x="548640" y="2468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786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戦略と値づけ基準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自社BS/PLをAIで分析し、買う領域・予算・借入余力を決める</a:t>
            </a:r>
            <a:endParaRPr lang="en-US" sz="1200" dirty="0"/>
          </a:p>
        </p:txBody>
      </p:sp>
      <p:sp>
        <p:nvSpPr>
          <p:cNvPr id="9" name="timeline goal 1"/>
          <p:cNvSpPr/>
          <p:nvPr/>
        </p:nvSpPr>
        <p:spPr>
          <a:xfrm>
            <a:off x="548640" y="4572000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担当者が：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自社の買収基準を言える</a:t>
            </a:r>
            <a:endParaRPr lang="en-US" sz="1200" dirty="0"/>
          </a:p>
        </p:txBody>
      </p:sp>
      <p:sp>
        <p:nvSpPr>
          <p:cNvPr id="11" name="timeline 2"/>
          <p:cNvSpPr/>
          <p:nvPr/>
        </p:nvSpPr>
        <p:spPr>
          <a:xfrm>
            <a:off x="3346704" y="1645920"/>
            <a:ext cx="269748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3〜5ヶ月</a:t>
            </a:r>
            <a:endParaRPr lang="en-US" sz="1500" dirty="0"/>
          </a:p>
        </p:txBody>
      </p:sp>
      <p:sp>
        <p:nvSpPr>
          <p:cNvPr id="13" name="timeline body 2"/>
          <p:cNvSpPr/>
          <p:nvPr/>
        </p:nvSpPr>
        <p:spPr>
          <a:xfrm>
            <a:off x="3346704" y="2468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9584" y="25786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ソーシングとIM読解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候補リストを作り打診。IMをAIで読み、足切りと優先順位をつける</a:t>
            </a:r>
            <a:endParaRPr lang="en-US" sz="1200" dirty="0"/>
          </a:p>
        </p:txBody>
      </p:sp>
      <p:sp>
        <p:nvSpPr>
          <p:cNvPr id="16" name="timeline goal 2"/>
          <p:cNvSpPr/>
          <p:nvPr/>
        </p:nvSpPr>
        <p:spPr>
          <a:xfrm>
            <a:off x="3346704" y="4572000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9584" y="4572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担当者が：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IMを読み、足切りできる</a:t>
            </a:r>
            <a:endParaRPr lang="en-US" sz="1200" dirty="0"/>
          </a:p>
        </p:txBody>
      </p:sp>
      <p:sp>
        <p:nvSpPr>
          <p:cNvPr id="18" name="timeline 3"/>
          <p:cNvSpPr/>
          <p:nvPr/>
        </p:nvSpPr>
        <p:spPr>
          <a:xfrm>
            <a:off x="6144768" y="1645920"/>
            <a:ext cx="2697480" cy="68580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9088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6〜8ヶ月</a:t>
            </a:r>
            <a:endParaRPr lang="en-US" sz="1500" dirty="0"/>
          </a:p>
        </p:txBody>
      </p:sp>
      <p:sp>
        <p:nvSpPr>
          <p:cNvPr id="20" name="timeline body 3"/>
          <p:cNvSpPr/>
          <p:nvPr/>
        </p:nvSpPr>
        <p:spPr>
          <a:xfrm>
            <a:off x="6144768" y="2468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25786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交渉・DD・資金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交渉に同席して指導。DDの論点整理と資金調達の設計</a:t>
            </a:r>
            <a:endParaRPr lang="en-US" sz="1200" dirty="0"/>
          </a:p>
        </p:txBody>
      </p:sp>
      <p:sp>
        <p:nvSpPr>
          <p:cNvPr id="23" name="timeline goal 3"/>
          <p:cNvSpPr/>
          <p:nvPr/>
        </p:nvSpPr>
        <p:spPr>
          <a:xfrm>
            <a:off x="6144768" y="4572000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4572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担当者が：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仲介と対等に交渉できる</a:t>
            </a:r>
            <a:endParaRPr lang="en-US" sz="1200" dirty="0"/>
          </a:p>
        </p:txBody>
      </p:sp>
      <p:sp>
        <p:nvSpPr>
          <p:cNvPr id="25" name="timeline 4"/>
          <p:cNvSpPr/>
          <p:nvPr/>
        </p:nvSpPr>
        <p:spPr>
          <a:xfrm>
            <a:off x="8942832" y="1645920"/>
            <a:ext cx="269748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17152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9〜12ヶ月</a:t>
            </a:r>
            <a:endParaRPr lang="en-US" sz="1500" dirty="0"/>
          </a:p>
        </p:txBody>
      </p:sp>
      <p:sp>
        <p:nvSpPr>
          <p:cNvPr id="27" name="timeline body 4"/>
          <p:cNvSpPr/>
          <p:nvPr/>
        </p:nvSpPr>
        <p:spPr>
          <a:xfrm>
            <a:off x="8942832" y="2468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25712" y="25786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クロージングとPMI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25712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PMI責任者と100日プラン、撤退ラインの設定</a:t>
            </a:r>
            <a:endParaRPr lang="en-US" sz="1200" dirty="0"/>
          </a:p>
        </p:txBody>
      </p:sp>
      <p:sp>
        <p:nvSpPr>
          <p:cNvPr id="30" name="timeline goal 4"/>
          <p:cNvSpPr/>
          <p:nvPr/>
        </p:nvSpPr>
        <p:spPr>
          <a:xfrm>
            <a:off x="8942832" y="4572000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25712" y="4572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担当者が：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買った後を自走できる</a:t>
            </a:r>
            <a:endParaRPr lang="en-US" sz="1200" dirty="0"/>
          </a:p>
        </p:txBody>
      </p:sp>
      <p:sp>
        <p:nvSpPr>
          <p:cNvPr id="32" name="capacity rule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体制：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コンサルタント1人で10社まで（交渉段階は同時に3社まで）。顧客同士の競合を避けるため、同業は1社まで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料金プラン（改訂版）：④中野との壁打ちを上位プランの看板に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月額で「育成と伴走」、成功報酬で「成約」に払ってもらう二本立て</a:t>
            </a:r>
            <a:endParaRPr lang="en-US" sz="1500" dirty="0"/>
          </a:p>
        </p:txBody>
      </p:sp>
      <p:graphicFrame>
        <p:nvGraphicFramePr>
          <p:cNvPr id="32" name="pricing v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6583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プラン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価格（税別・仮）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含まれるもの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スタンダード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月50万円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12ヶ月（6ヶ月から可）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①AI分析・シナジー試算、担当者の育成カリキュラム、ソーシング、IM受領と読解、②資金調達の設計、③交渉への同席と指導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プレミアム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月80万円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スタンダードの全内容＋④中野との月1時間の壁打ち（49戦の判断基準でのフィードバック）＋③交渉の代行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成功報酬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譲渡価格×2〜3%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（最低500万円）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成約時のみ。買い手FAとしてクロージングまで。支払済み月額の50%を充当し、二重取りにしない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pricing anchor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価格の物差し：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M&amp;A担当を1人採用すると年収800〜1,500万円＋採用費。スタンダード12ヶ月（600万円）はそれより安く、しかも社内に人が育つ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採算：コンサルタント1人あたり年8,000万円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前提：10社を担当（うち2社がプレミアム）、年3件成約。いずれも仮説</a:t>
            </a:r>
            <a:endParaRPr lang="en-US" sz="1500" dirty="0"/>
          </a:p>
        </p:txBody>
      </p:sp>
      <p:sp>
        <p:nvSpPr>
          <p:cNvPr id="4" name="unit econ 1"/>
          <p:cNvSpPr/>
          <p:nvPr/>
        </p:nvSpPr>
        <p:spPr>
          <a:xfrm>
            <a:off x="548640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560</a:t>
            </a:r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万円/月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月額収入（50万×8社＋80万×2社）</a:t>
            </a:r>
            <a:endParaRPr lang="en-US" sz="1200" dirty="0"/>
          </a:p>
        </p:txBody>
      </p:sp>
      <p:sp>
        <p:nvSpPr>
          <p:cNvPr id="7" name="unit econ 2"/>
          <p:cNvSpPr/>
          <p:nvPr/>
        </p:nvSpPr>
        <p:spPr>
          <a:xfrm>
            <a:off x="3346704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6,720</a:t>
            </a:r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万円/年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月額収入の年間合計</a:t>
            </a:r>
            <a:endParaRPr lang="en-US" sz="1200" dirty="0"/>
          </a:p>
        </p:txBody>
      </p:sp>
      <p:sp>
        <p:nvSpPr>
          <p:cNvPr id="10" name="unit econ 3"/>
          <p:cNvSpPr/>
          <p:nvPr/>
        </p:nvSpPr>
        <p:spPr>
          <a:xfrm>
            <a:off x="6144768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1,800</a:t>
            </a:r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万円/年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成功報酬（3件×600万円、充当前）</a:t>
            </a:r>
            <a:endParaRPr lang="en-US" sz="1200" dirty="0"/>
          </a:p>
        </p:txBody>
      </p:sp>
      <p:sp>
        <p:nvSpPr>
          <p:cNvPr id="13" name="unit econ 4"/>
          <p:cNvSpPr/>
          <p:nvPr/>
        </p:nvSpPr>
        <p:spPr>
          <a:xfrm>
            <a:off x="8942832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9992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約8,000</a:t>
            </a:r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万円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コンサルタント1人あたり年間売上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人件費1,500万円前後のコンサルタントでも、粗利率は十分に取れる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コンサルタント5人体制で年4億円規模。AIで1人あたりの担当社数を増やすほど利益が伸びる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ボトルネックは④中野本人の時間。プレミアムは枠を絞り、価格を上げる余地がある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要確認：②投資家紹介（金融商品取引法・貸金業法）、③交渉代行（弁護士法72条）、M&amp;A支援機関登録と補助金（事業承継・引継ぎ補助金の専門家活用枠）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情報を売るな、成果を売れ。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買い手の味方として、良い会社を適正価格で買い、成果を出すところまで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Confidential｜検討用ドラフト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M&amp;A">
  <a:themeElements>
    <a:clrScheme name="AI M&amp;A">
      <a:dk1>
        <a:srgbClr val="1B2328"/>
      </a:dk1>
      <a:lt1>
        <a:srgbClr val="FFFFFF"/>
      </a:lt1>
      <a:dk2>
        <a:srgbClr val="102A43"/>
      </a:dk2>
      <a:lt2>
        <a:srgbClr val="F1F4F3"/>
      </a:lt2>
      <a:accent1>
        <a:srgbClr val="0E7C66"/>
      </a:accent1>
      <a:accent2>
        <a:srgbClr val="D9480F"/>
      </a:accent2>
      <a:accent3>
        <a:srgbClr val="E9A23B"/>
      </a:accent3>
      <a:accent4>
        <a:srgbClr val="5B7083"/>
      </a:accent4>
      <a:accent5>
        <a:srgbClr val="9FD3C4"/>
      </a:accent5>
      <a:accent6>
        <a:srgbClr val="FBE3D6"/>
      </a:accent6>
      <a:hlink>
        <a:srgbClr val="0E7C66"/>
      </a:hlink>
      <a:folHlink>
        <a:srgbClr val="5B7083"/>
      </a:folHlink>
    </a:clrScheme>
    <a:fontScheme name="AI M&amp;A">
      <a:majorFont>
        <a:latin typeface="Yu Gothic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AI×M&amp;A 新規事業構想 レビューとブラッシュアップ提案</dc:title>
  <dc:subject>PptxGenJS Presentation</dc:subject>
  <dc:creator>PptxGenJS</dc:creator>
  <cp:lastModifiedBy>PptxGenJS</cp:lastModifiedBy>
  <cp:revision>1</cp:revision>
  <dcterms:created xsi:type="dcterms:W3CDTF">2026-10-25T13:56:20Z</dcterms:created>
  <dcterms:modified xsi:type="dcterms:W3CDTF">2026-10-25T13:56:20Z</dcterms:modified>
</cp:coreProperties>
</file>