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導入" id="{3f3a4b90-81af-285f-a3dd-03b807f3115b}">
          <p14:sldIdLst>
            <p14:sldId id="256"/>
            <p14:sldId id="257"/>
          </p14:sldIdLst>
        </p14:section>
        <p14:section name="課題と原点" id="{0b447736-bd96-ee34-1532-11b5550e8f43}">
          <p14:sldIdLst>
            <p14:sldId id="258"/>
            <p14:sldId id="259"/>
            <p14:sldId id="260"/>
          </p14:sldIdLst>
        </p14:section>
        <p14:section name="サービス" id="{f879b4df-0eac-4dff-2894-57f8817d3cae}">
          <p14:sldIdLst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事業性" id="{f9d1ef28-7d8a-b66e-cf71-a88ca7b79927}">
          <p14:sldIdLst>
            <p14:sldId id="267"/>
            <p14:sldId id="268"/>
            <p14:sldId id="269"/>
          </p14:sldIdLst>
        </p14:section>
        <p14:section name="まとめ" id="{22e2bbd0-9ad2-0d98-1b59-71cd8f6cda05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投じた額</c:v>
                </c:pt>
              </c:strCache>
            </c:strRef>
          </c:tx>
          <c:spPr>
            <a:solidFill>
              <a:srgbClr val="E6DCCB"/>
            </a:solidFill>
            <a:effectLst/>
          </c:spPr>
          <c:invertIfNegative val="0"/>
          <c:dLbls>
            <c:numFmt formatCode="0.0&quot;億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B262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第1期 2011–19</c:v>
                  </c:pt>
                  <c:pt idx="1">
                    <c:v>第2期 2020–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10.8</c:v>
                </c:pt>
                <c:pt idx="1">
                  <c:v>14.4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回収＋事業利益／取得純資産</c:v>
                </c:pt>
              </c:strCache>
            </c:strRef>
          </c:tx>
          <c:spPr>
            <a:solidFill>
              <a:srgbClr val="A78450"/>
            </a:solidFill>
            <a:effectLst/>
          </c:spPr>
          <c:invertIfNegative val="0"/>
          <c:dLbls>
            <c:numFmt formatCode="0.0&quot;億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B262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第1期 2011–19</c:v>
                  </c:pt>
                  <c:pt idx="1">
                    <c:v>第2期 2020–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9.4</c:v>
                </c:pt>
                <c:pt idx="1">
                  <c:v>15.9</c:v>
                </c:pt>
              </c:numCache>
            </c:numRef>
          </c:val>
        </c:ser>
        <c:dLbls>
          <c:numFmt formatCode="0.0&quot;億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2B262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B262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F665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B2622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2B2622"/>
                </a:solidFill>
                <a:latin typeface="+mn-lt"/>
              </a:rPr>
              <a:t>売上高（億円）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月額報酬</c:v>
                </c:pt>
              </c:strCache>
            </c:strRef>
          </c:tx>
          <c:spPr>
            <a:solidFill>
              <a:srgbClr val="2B2622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0.62</c:v>
                </c:pt>
                <c:pt idx="1">
                  <c:v>2.59</c:v>
                </c:pt>
                <c:pt idx="2">
                  <c:v>6.72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成功報酬</c:v>
                </c:pt>
              </c:strCache>
            </c:strRef>
          </c:tx>
          <c:spPr>
            <a:solidFill>
              <a:srgbClr val="A7845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0.12</c:v>
                </c:pt>
                <c:pt idx="1">
                  <c:v>0.48</c:v>
                </c:pt>
                <c:pt idx="2">
                  <c:v>1.5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B262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DE6DA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A8F84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6F665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M&amp;A担当がいない会社に、AIと49戦の経験で『社内M&amp;A部門』を月額で提供する事業です。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誰に・何を・なぜ勝てるか。この3つだけ覚えて帰ってもらうページです。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市場はある。でも買い手側には、判断できる人も、味方も、買った後の支援もない。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ここが一番伝えたいところ。自分も負けた。だから、同じ負け方をする人を減らしたい。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負けた前半も隠さない。値づけのルールを変えたら、後半は買った瞬間に勝てるようになった。このルールがサービスの中身です。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原則の左側は私の実例、右側はそれをサービスでどう再現するか。案件名は伏せています。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AIは道具。差は、49戦のルールでAIの出した答えを判定するところにある。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左のマップで立ち位置、右の表で違い。費用は仲介の1/10以下で、買った後と人材育成まで入っている。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一番のお客様は、M&amp;Aで成長したいのに担当者がいない会社。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成果は成約だけではない。12ヶ月後に担当者が自分で回せるようになることを約束する。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プレミアムの価値は中野本人との壁打ち。私の時間には限りがあるので枠数を絞る。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最初は人とノウハウで勝つ。続けるほどデータが溜まり、後から来た競合が追いつけなくなる。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数字は仮説。1人で10社、月50〜80万円、年3件成約が前提。AIで担当社数を増やせれば上振れする。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最初の半年は、中野と2名で10社。ここで継続意向が取れたら拡大する。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講演の締めと同じメッセージで終える。手順は再現できる、だから教えられる。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K_COVER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914400" y="1371600"/>
            <a:ext cx="9144000" cy="34747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00" kern="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828800"/>
            <a:ext cx="868680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3657600"/>
            <a:ext cx="86868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5" name="Shape 0"/>
          <p:cNvSpPr/>
          <p:nvPr/>
        </p:nvSpPr>
        <p:spPr>
          <a:xfrm>
            <a:off x="685800" y="4526280"/>
            <a:ext cx="2194560" cy="1828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685800" y="4754880"/>
            <a:ext cx="82296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7" name="Text 1"/>
          <p:cNvSpPr/>
          <p:nvPr>
            <p:ph idx="105" type="body" hasCustomPrompt="1"/>
          </p:nvPr>
        </p:nvSpPr>
        <p:spPr>
          <a:xfrm>
            <a:off x="685800" y="516636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K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923544" y="365760"/>
            <a:ext cx="960120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4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749808"/>
            <a:ext cx="1082009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81328"/>
            <a:ext cx="10820095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5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350" dirty="0"/>
          </a:p>
        </p:txBody>
      </p:sp>
      <p:sp>
        <p:nvSpPr>
          <p:cNvPr id="5" name="Text 0"/>
          <p:cNvSpPr/>
          <p:nvPr/>
        </p:nvSpPr>
        <p:spPr>
          <a:xfrm>
            <a:off x="685800" y="6446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Confidential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K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923544" y="1097280"/>
            <a:ext cx="9144000" cy="34747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400" kern="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554480"/>
            <a:ext cx="8961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Shape 0"/>
          <p:cNvSpPr/>
          <p:nvPr/>
        </p:nvSpPr>
        <p:spPr>
          <a:xfrm>
            <a:off x="685800" y="3337560"/>
            <a:ext cx="1828800" cy="1828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685800" y="3566160"/>
            <a:ext cx="960120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685800" y="5715000"/>
            <a:ext cx="91440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tif circle"/>
          <p:cNvSpPr/>
          <p:nvPr/>
        </p:nvSpPr>
        <p:spPr>
          <a:xfrm>
            <a:off x="8503920" y="-2011680"/>
            <a:ext cx="5120640" cy="51206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" name="kicker dot"/>
          <p:cNvSpPr/>
          <p:nvPr/>
        </p:nvSpPr>
        <p:spPr>
          <a:xfrm>
            <a:off x="685800" y="1490472"/>
            <a:ext cx="109728" cy="1097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0"/>
          <p:cNvSpPr/>
          <p:nvPr>
            <p:ph idx="100" type="body" hasCustomPrompt="1"/>
          </p:nvPr>
        </p:nvSpPr>
        <p:spPr>
          <a:xfrm>
            <a:off x="914400" y="1371600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4"/>
                </a:solidFill>
              </a:rPr>
              <a:t>BUSINESS OVERVIEW ／ 事業概要</a:t>
            </a:r>
            <a:endParaRPr lang="en-US" sz="12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685800" y="1828800"/>
            <a:ext cx="8686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中小企業に、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AIの「M&amp;A部門」を。</a:t>
            </a:r>
            <a:endParaRPr lang="en-US" sz="40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685800" y="365760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〜 49戦の手順×AIで、M&amp;Aで不幸になる人をなくす 〜</a:t>
            </a:r>
            <a:endParaRPr lang="en-US" sz="1500" dirty="0"/>
          </a:p>
        </p:txBody>
      </p:sp>
      <p:sp>
        <p:nvSpPr>
          <p:cNvPr id="7" name="Text 1"/>
          <p:cNvSpPr/>
          <p:nvPr>
            <p:ph idx="104" type="body" hasCustomPrompt="1"/>
          </p:nvPr>
        </p:nvSpPr>
        <p:spPr>
          <a:xfrm>
            <a:off x="685800" y="47548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中野 邦人</a:t>
            </a:r>
            <a:endParaRPr lang="en-US" sz="1800" dirty="0"/>
          </a:p>
        </p:txBody>
      </p:sp>
      <p:sp>
        <p:nvSpPr>
          <p:cNvPr id="8" name="Text 1"/>
          <p:cNvSpPr/>
          <p:nvPr>
            <p:ph idx="105" type="body" hasCustomPrompt="1"/>
          </p:nvPr>
        </p:nvSpPr>
        <p:spPr>
          <a:xfrm>
            <a:off x="685800" y="5166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株式会社WineBank 代表取締役 ／ 株式会社あどばる 代表取締役会長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dot"/>
          <p:cNvSpPr/>
          <p:nvPr/>
        </p:nvSpPr>
        <p:spPr>
          <a:xfrm>
            <a:off x="685800" y="484632"/>
            <a:ext cx="109728" cy="1097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923544" y="365760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chemeClr val="accent1"/>
                </a:solidFill>
              </a:rPr>
              <a:t>ONE PAGE</a:t>
            </a:r>
            <a:endParaRPr lang="en-US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685800" y="749808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この事業を、ひと言でいうと</a:t>
            </a:r>
            <a:endParaRPr lang="en-US" sz="30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685800" y="1481328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2"/>
                </a:solidFill>
              </a:rPr>
              <a:t>M&amp;A担当がいない会社に入り込み、買収を成功させながら担当者を育てる</a:t>
            </a:r>
            <a:endParaRPr lang="en-US" sz="1350" dirty="0"/>
          </a:p>
        </p:txBody>
      </p:sp>
      <p:sp>
        <p:nvSpPr>
          <p:cNvPr id="6" name="one page 01"/>
          <p:cNvSpPr/>
          <p:nvPr/>
        </p:nvSpPr>
        <p:spPr>
          <a:xfrm>
            <a:off x="685800" y="2103120"/>
            <a:ext cx="3447288" cy="2697480"/>
          </a:xfrm>
          <a:prstGeom prst="roundRect">
            <a:avLst>
              <a:gd name="adj" fmla="val 2034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6F665F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3154680" y="22402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01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60120" y="2331720"/>
            <a:ext cx="11887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23317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bg1"/>
                </a:solidFill>
              </a:rPr>
              <a:t>誰に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2880360"/>
            <a:ext cx="29260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M&amp;Aで成長したいが、社内にM&amp;A担当がいない・育てたい年商10〜100億円の企業</a:t>
            </a:r>
            <a:endParaRPr lang="en-US" sz="1400" dirty="0"/>
          </a:p>
        </p:txBody>
      </p:sp>
      <p:sp>
        <p:nvSpPr>
          <p:cNvPr id="11" name="one page 02"/>
          <p:cNvSpPr/>
          <p:nvPr/>
        </p:nvSpPr>
        <p:spPr>
          <a:xfrm>
            <a:off x="4370832" y="2103120"/>
            <a:ext cx="3447288" cy="2697480"/>
          </a:xfrm>
          <a:prstGeom prst="roundRect">
            <a:avLst>
              <a:gd name="adj" fmla="val 2034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6F665F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839712" y="22402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02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4645152" y="2331720"/>
            <a:ext cx="11887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45152" y="23317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bg1"/>
                </a:solidFill>
              </a:rPr>
              <a:t>何を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645152" y="2880360"/>
            <a:ext cx="29260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AIによる案件分析と、コンサルタントの伴走で「探す→見極める→買う→統合する」を月額で支援</a:t>
            </a:r>
            <a:endParaRPr lang="en-US" sz="1400" dirty="0"/>
          </a:p>
        </p:txBody>
      </p:sp>
      <p:sp>
        <p:nvSpPr>
          <p:cNvPr id="16" name="one page 03"/>
          <p:cNvSpPr/>
          <p:nvPr/>
        </p:nvSpPr>
        <p:spPr>
          <a:xfrm>
            <a:off x="8055864" y="2103120"/>
            <a:ext cx="3447288" cy="2697480"/>
          </a:xfrm>
          <a:prstGeom prst="roundRect">
            <a:avLst>
              <a:gd name="adj" fmla="val 2034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6F665F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10524744" y="22402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03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8330184" y="2331720"/>
            <a:ext cx="11887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30184" y="23317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bg1"/>
                </a:solidFill>
              </a:rPr>
              <a:t>なぜ勝てる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8330184" y="2880360"/>
            <a:ext cx="29260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49戦の勝ちと負けから作った判断ルールをAIに組み込み、買い手の側だけに立つ</a:t>
            </a:r>
            <a:endParaRPr lang="en-US" sz="1400" dirty="0"/>
          </a:p>
        </p:txBody>
      </p:sp>
      <p:sp>
        <p:nvSpPr>
          <p:cNvPr id="21" name="conclusion bar"/>
          <p:cNvSpPr/>
          <p:nvPr/>
        </p:nvSpPr>
        <p:spPr>
          <a:xfrm>
            <a:off x="685800" y="5074920"/>
            <a:ext cx="10820095" cy="868680"/>
          </a:xfrm>
          <a:prstGeom prst="roundRect">
            <a:avLst>
              <a:gd name="adj" fmla="val 421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05840" y="5074920"/>
            <a:ext cx="101800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月額50万円〜で「社内M&amp;A部門」を持てる。成約したときだけ成功報酬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仲介の高額手数料でも、マッチングサイトの丸投げでもない第三の選択肢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dot"/>
          <p:cNvSpPr/>
          <p:nvPr/>
        </p:nvSpPr>
        <p:spPr>
          <a:xfrm>
            <a:off x="685800" y="484632"/>
            <a:ext cx="109728" cy="1097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923544" y="365760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chemeClr val="accent1"/>
                </a:solidFill>
              </a:rPr>
              <a:t>PROBLEM</a:t>
            </a:r>
            <a:endParaRPr lang="en-US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685800" y="749808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買い手の味方で、買った後まで責任を持つ人がいない</a:t>
            </a:r>
            <a:endParaRPr lang="en-US" sz="30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685800" y="1481328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2"/>
                </a:solidFill>
              </a:rPr>
              <a:t>M&amp;Aの需要は増え続けているのに、中小企業の買い手は一人で戦っている</a:t>
            </a:r>
            <a:endParaRPr lang="en-US" sz="1350" dirty="0"/>
          </a:p>
        </p:txBody>
      </p:sp>
      <p:sp>
        <p:nvSpPr>
          <p:cNvPr id="6" name="stat 後継者のいない70歳以上の経営者（2025年時点）"/>
          <p:cNvSpPr/>
          <p:nvPr/>
        </p:nvSpPr>
        <p:spPr>
          <a:xfrm>
            <a:off x="685800" y="2057400"/>
            <a:ext cx="3447288" cy="1965960"/>
          </a:xfrm>
          <a:prstGeom prst="roundRect">
            <a:avLst>
              <a:gd name="adj" fmla="val 2791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6F665F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41832" y="2331720"/>
            <a:ext cx="365760" cy="457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2496312"/>
            <a:ext cx="2990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127万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923544" y="3273552"/>
            <a:ext cx="2990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人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23544" y="3547872"/>
            <a:ext cx="2990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2"/>
                </a:solidFill>
              </a:rPr>
              <a:t>後継者のいない70歳以上の経営者（2025年時点）</a:t>
            </a:r>
            <a:endParaRPr lang="en-US" sz="1050" dirty="0"/>
          </a:p>
        </p:txBody>
      </p:sp>
      <p:sp>
        <p:nvSpPr>
          <p:cNvPr id="11" name="stat 国内のM&amp;A件数（2024年）。後継者不在に比べ桁違いに少ない"/>
          <p:cNvSpPr/>
          <p:nvPr/>
        </p:nvSpPr>
        <p:spPr>
          <a:xfrm>
            <a:off x="4370832" y="2057400"/>
            <a:ext cx="3447288" cy="1965960"/>
          </a:xfrm>
          <a:prstGeom prst="roundRect">
            <a:avLst>
              <a:gd name="adj" fmla="val 2791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6F665F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26864" y="2331720"/>
            <a:ext cx="365760" cy="457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08576" y="2496312"/>
            <a:ext cx="2990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約4,700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4608576" y="3273552"/>
            <a:ext cx="2990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件／年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608576" y="3547872"/>
            <a:ext cx="2990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2"/>
                </a:solidFill>
              </a:rPr>
              <a:t>国内のM&amp;A件数（2024年）。後継者不在に比べ桁違いに少ない</a:t>
            </a:r>
            <a:endParaRPr lang="en-US" sz="1050" dirty="0"/>
          </a:p>
        </p:txBody>
      </p:sp>
      <p:sp>
        <p:nvSpPr>
          <p:cNvPr id="16" name="stat 大手仲介の1件あたり平均手数料"/>
          <p:cNvSpPr/>
          <p:nvPr/>
        </p:nvSpPr>
        <p:spPr>
          <a:xfrm>
            <a:off x="8055864" y="2057400"/>
            <a:ext cx="3447288" cy="1965960"/>
          </a:xfrm>
          <a:prstGeom prst="roundRect">
            <a:avLst>
              <a:gd name="adj" fmla="val 2791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6F665F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11896" y="2331720"/>
            <a:ext cx="365760" cy="457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93608" y="2496312"/>
            <a:ext cx="2990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6,700万〜</a:t>
            </a:r>
            <a:endParaRPr lang="en-US" sz="4000" dirty="0"/>
          </a:p>
        </p:txBody>
      </p:sp>
      <p:sp>
        <p:nvSpPr>
          <p:cNvPr id="19" name="Text 17"/>
          <p:cNvSpPr txBox="1"/>
          <p:nvPr/>
        </p:nvSpPr>
        <p:spPr>
          <a:xfrm>
            <a:off x="8293608" y="3273552"/>
            <a:ext cx="2990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1.3億円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293608" y="3547872"/>
            <a:ext cx="2990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2"/>
                </a:solidFill>
              </a:rPr>
              <a:t>大手仲介の1件あたり平均手数料</a:t>
            </a:r>
            <a:endParaRPr lang="en-US" sz="1050" dirty="0"/>
          </a:p>
        </p:txBody>
      </p:sp>
      <p:sp>
        <p:nvSpPr>
          <p:cNvPr id="21" name="pain 1"/>
          <p:cNvSpPr/>
          <p:nvPr/>
        </p:nvSpPr>
        <p:spPr>
          <a:xfrm>
            <a:off x="685800" y="4160520"/>
            <a:ext cx="3447288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6F665F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14400" y="4343400"/>
            <a:ext cx="384048" cy="38404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4343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×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417320" y="43434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担当者がいない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960120" y="484632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2"/>
                </a:solidFill>
              </a:rPr>
              <a:t>案件の良し悪しを判断できる人が社内にいない。仲介の言い値で買う</a:t>
            </a:r>
            <a:endParaRPr lang="en-US" sz="1150" dirty="0"/>
          </a:p>
        </p:txBody>
      </p:sp>
      <p:sp>
        <p:nvSpPr>
          <p:cNvPr id="26" name="pain 2"/>
          <p:cNvSpPr/>
          <p:nvPr/>
        </p:nvSpPr>
        <p:spPr>
          <a:xfrm>
            <a:off x="4370832" y="4160520"/>
            <a:ext cx="3447288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6F665F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99432" y="4343400"/>
            <a:ext cx="384048" cy="38404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599432" y="4343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×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102352" y="43434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仲介は利益相反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4645152" y="484632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2"/>
                </a:solidFill>
              </a:rPr>
              <a:t>日本の中小M&amp;Aは約8割が両手仲介。買い手のためだけに動く人がいない</a:t>
            </a:r>
            <a:endParaRPr lang="en-US" sz="1150" dirty="0"/>
          </a:p>
        </p:txBody>
      </p:sp>
      <p:sp>
        <p:nvSpPr>
          <p:cNvPr id="31" name="pain 3"/>
          <p:cNvSpPr/>
          <p:nvPr/>
        </p:nvSpPr>
        <p:spPr>
          <a:xfrm>
            <a:off x="8055864" y="4160520"/>
            <a:ext cx="3447288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6F665F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284464" y="4343400"/>
            <a:ext cx="384048" cy="38404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84464" y="4343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×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8787384" y="43434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買った後に失敗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8330184" y="484632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2"/>
                </a:solidFill>
              </a:rPr>
              <a:t>仲介の仕事は成約まで。統合で人が辞め、数字が崩れても誰も止めない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685800" y="6144768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出典：経済産業省（2018年4月発表データ）、レコフ「MARR Online」、経済産業省 M&amp;A支援機関登録制度 実績報告（2023年）、各社有価証券報告書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dot"/>
          <p:cNvSpPr/>
          <p:nvPr/>
        </p:nvSpPr>
        <p:spPr>
          <a:xfrm>
            <a:off x="685800" y="484632"/>
            <a:ext cx="109728" cy="1097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923544" y="365760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chemeClr val="accent1"/>
                </a:solidFill>
              </a:rPr>
              <a:t>WHY WE DO THIS</a:t>
            </a:r>
            <a:endParaRPr lang="en-US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685800" y="749808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M&amp;Aで不幸になる人を、これ以上増やさない</a:t>
            </a:r>
            <a:endParaRPr lang="en-US" sz="30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685800" y="1481328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2"/>
                </a:solidFill>
              </a:rPr>
              <a:t>49戦して分かったのは、M&amp;Aは才能ではなく手順で勝てるということ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237744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23774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story 1"/>
          <p:cNvSpPr/>
          <p:nvPr/>
        </p:nvSpPr>
        <p:spPr>
          <a:xfrm>
            <a:off x="1463040" y="2103120"/>
            <a:ext cx="5852160" cy="1161288"/>
          </a:xfrm>
          <a:prstGeom prst="roundRect">
            <a:avLst>
              <a:gd name="adj" fmla="val 4724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6F665F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1691640" y="2212848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原体験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691640" y="2532888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自分も負けた。多店舗飲食（11店舗）で−1.40億円、ポータル事業で−1.70億円。幸福度の谷は、いつもM&amp;Aの負けと同じ年にあった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5800" y="37033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703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story 2"/>
          <p:cNvSpPr/>
          <p:nvPr/>
        </p:nvSpPr>
        <p:spPr>
          <a:xfrm>
            <a:off x="1463040" y="3429000"/>
            <a:ext cx="5852160" cy="1161288"/>
          </a:xfrm>
          <a:prstGeom prst="roundRect">
            <a:avLst>
              <a:gd name="adj" fmla="val 4724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6F665F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1691640" y="3538728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気づき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691640" y="3858768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負けた理由は才能ではなく、手順を飛ばしたこと。値づけ・PMI責任者・売る時期を、買う前に決めていなかった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5800" y="502920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5029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story 3"/>
          <p:cNvSpPr/>
          <p:nvPr/>
        </p:nvSpPr>
        <p:spPr>
          <a:xfrm>
            <a:off x="1463040" y="4754880"/>
            <a:ext cx="5852160" cy="1161288"/>
          </a:xfrm>
          <a:prstGeom prst="roundRect">
            <a:avLst>
              <a:gd name="adj" fmla="val 4724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6F665F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1691640" y="4864608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決意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691640" y="5184648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やり方さえ知っていれば、M&amp;Aは成功できる。その手順を、買い手の側に立って渡す</a:t>
            </a:r>
            <a:endParaRPr lang="en-US" sz="1200" dirty="0"/>
          </a:p>
        </p:txBody>
      </p:sp>
      <p:sp>
        <p:nvSpPr>
          <p:cNvPr id="21" name="founder quote"/>
          <p:cNvSpPr/>
          <p:nvPr/>
        </p:nvSpPr>
        <p:spPr>
          <a:xfrm>
            <a:off x="7589520" y="2103120"/>
            <a:ext cx="3913632" cy="3813048"/>
          </a:xfrm>
          <a:prstGeom prst="roundRect">
            <a:avLst>
              <a:gd name="adj" fmla="val 143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909560" y="2194560"/>
            <a:ext cx="329184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“</a:t>
            </a:r>
            <a:endParaRPr lang="en-US" sz="13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失敗して不幸になる人を、増やしたくない。成功してほしい。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自分の49戦の勝ちと負けから、その手順を全部渡します。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中野 邦人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dot"/>
          <p:cNvSpPr/>
          <p:nvPr/>
        </p:nvSpPr>
        <p:spPr>
          <a:xfrm>
            <a:off x="685800" y="484632"/>
            <a:ext cx="109728" cy="1097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923544" y="365760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chemeClr val="accent1"/>
                </a:solidFill>
              </a:rPr>
              <a:t>TRACK RECORD</a:t>
            </a:r>
            <a:endParaRPr lang="en-US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685800" y="749808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49戦の実績：勝ちも負けも、すべて自社の実案件</a:t>
            </a:r>
            <a:endParaRPr lang="en-US" sz="30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685800" y="1481328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2"/>
                </a:solidFill>
              </a:rPr>
              <a:t>2011年3月〜現在。仲介ではなく、自分のお金で買い、売り、立て直してきた</a:t>
            </a:r>
            <a:endParaRPr lang="en-US" sz="1350" dirty="0"/>
          </a:p>
        </p:txBody>
      </p:sp>
      <p:sp>
        <p:nvSpPr>
          <p:cNvPr id="6" name="stat 買収28／売却21／出資2"/>
          <p:cNvSpPr/>
          <p:nvPr/>
        </p:nvSpPr>
        <p:spPr>
          <a:xfrm>
            <a:off x="685800" y="2011680"/>
            <a:ext cx="2560320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6F665F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41832" y="2286000"/>
            <a:ext cx="365760" cy="457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2450592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約50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923544" y="32278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案件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23544" y="3502152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2"/>
                </a:solidFill>
              </a:rPr>
              <a:t>買収28／売却21／出資2</a:t>
            </a:r>
            <a:endParaRPr lang="en-US" sz="1050" dirty="0"/>
          </a:p>
        </p:txBody>
      </p:sp>
      <p:sp>
        <p:nvSpPr>
          <p:cNvPr id="11" name="stat 支払った買収総額（回収16.7億円）"/>
          <p:cNvSpPr/>
          <p:nvPr/>
        </p:nvSpPr>
        <p:spPr>
          <a:xfrm>
            <a:off x="3456432" y="2011680"/>
            <a:ext cx="2560320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6F665F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712464" y="2286000"/>
            <a:ext cx="365760" cy="457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94176" y="2450592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25.2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3694176" y="32278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億円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694176" y="3502152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2"/>
                </a:solidFill>
              </a:rPr>
              <a:t>支払った買収総額（回収16.7億円）</a:t>
            </a:r>
            <a:endParaRPr lang="en-US" sz="1050" dirty="0"/>
          </a:p>
        </p:txBody>
      </p:sp>
      <p:sp>
        <p:nvSpPr>
          <p:cNvPr id="16" name="stat 売上74億円分の事業を25.2億円で取得"/>
          <p:cNvSpPr/>
          <p:nvPr/>
        </p:nvSpPr>
        <p:spPr>
          <a:xfrm>
            <a:off x="6227064" y="2011680"/>
            <a:ext cx="2560320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6F665F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83096" y="2286000"/>
            <a:ext cx="365760" cy="457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64808" y="2450592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0.34</a:t>
            </a:r>
            <a:endParaRPr lang="en-US" sz="3600" dirty="0"/>
          </a:p>
        </p:txBody>
      </p:sp>
      <p:sp>
        <p:nvSpPr>
          <p:cNvPr id="19" name="Text 17"/>
          <p:cNvSpPr txBox="1"/>
          <p:nvPr/>
        </p:nvSpPr>
        <p:spPr>
          <a:xfrm>
            <a:off x="6464808" y="32278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倍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464808" y="3502152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2"/>
                </a:solidFill>
              </a:rPr>
              <a:t>売上74億円分の事業を25.2億円で取得</a:t>
            </a:r>
            <a:endParaRPr lang="en-US" sz="1050" dirty="0"/>
          </a:p>
        </p:txBody>
      </p:sp>
      <p:sp>
        <p:nvSpPr>
          <p:cNvPr id="21" name="stat グループ売上 23億円→66億円（2019→2026予想）"/>
          <p:cNvSpPr/>
          <p:nvPr/>
        </p:nvSpPr>
        <p:spPr>
          <a:xfrm>
            <a:off x="8997696" y="2011680"/>
            <a:ext cx="2560320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6F665F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253728" y="2286000"/>
            <a:ext cx="365760" cy="457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235440" y="2450592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2.9</a:t>
            </a:r>
            <a:endParaRPr lang="en-US" sz="3600" dirty="0"/>
          </a:p>
        </p:txBody>
      </p:sp>
      <p:sp>
        <p:nvSpPr>
          <p:cNvPr id="24" name="Text 22"/>
          <p:cNvSpPr txBox="1"/>
          <p:nvPr/>
        </p:nvSpPr>
        <p:spPr>
          <a:xfrm>
            <a:off x="9235440" y="32278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倍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235440" y="3502152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2"/>
                </a:solidFill>
              </a:rPr>
              <a:t>グループ売上 23億円→66億円（2019→2026予想）</a:t>
            </a:r>
            <a:endParaRPr lang="en-US" sz="1050" dirty="0"/>
          </a:p>
        </p:txBody>
      </p:sp>
      <p:graphicFrame>
        <p:nvGraphicFramePr>
          <p:cNvPr id="26" name="two phase chart" descr=""/>
          <p:cNvGraphicFramePr/>
          <p:nvPr/>
        </p:nvGraphicFramePr>
        <p:xfrm>
          <a:off x="685800" y="4160520"/>
          <a:ext cx="603504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7" name="phase1 note"/>
          <p:cNvSpPr/>
          <p:nvPr/>
        </p:nvSpPr>
        <p:spPr>
          <a:xfrm>
            <a:off x="6949440" y="4114800"/>
            <a:ext cx="4553712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95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6F665F">
                <a:alpha val="12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7178040" y="4114800"/>
            <a:ext cx="41148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第1期：授業料を払った　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10.8億円を投じ、回収と利益で9.4億円。前半は赤字</a:t>
            </a:r>
            <a:endParaRPr lang="en-US" sz="1200" dirty="0"/>
          </a:p>
        </p:txBody>
      </p:sp>
      <p:sp>
        <p:nvSpPr>
          <p:cNvPr id="29" name="phase2 note"/>
          <p:cNvSpPr/>
          <p:nvPr/>
        </p:nvSpPr>
        <p:spPr>
          <a:xfrm>
            <a:off x="6949440" y="5138928"/>
            <a:ext cx="4553712" cy="896112"/>
          </a:xfrm>
          <a:prstGeom prst="roundRect">
            <a:avLst>
              <a:gd name="adj" fmla="val 6122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6F665F">
                <a:alpha val="12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7178040" y="5138928"/>
            <a:ext cx="41148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第2期：買った瞬間に勝つ　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14.4億円で純資産15.9億円を取得。値づけを変えただけで反転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685800" y="6144768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出典：中野邦人 M&amp;A勝敗一覧表、グループ売上管理表（自社実データ）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dot"/>
          <p:cNvSpPr/>
          <p:nvPr/>
        </p:nvSpPr>
        <p:spPr>
          <a:xfrm>
            <a:off x="685800" y="484632"/>
            <a:ext cx="109728" cy="1097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923544" y="365760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chemeClr val="accent1"/>
                </a:solidFill>
              </a:rPr>
              <a:t>PLAYBOOK</a:t>
            </a:r>
            <a:endParaRPr lang="en-US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685800" y="749808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49戦で残った5原則を、そのままサービスの判断基準に</a:t>
            </a:r>
            <a:endParaRPr lang="en-US" sz="30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685800" y="1481328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2"/>
                </a:solidFill>
              </a:rPr>
              <a:t>他社が真似できないのは、AIではなく「負けから作ったルール」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965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原則 と 49戦での実例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452360" y="1965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サービスでの実装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85800" y="240487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2404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01</a:t>
            </a:r>
            <a:endParaRPr lang="en-US" sz="1200" dirty="0"/>
          </a:p>
        </p:txBody>
      </p:sp>
      <p:sp>
        <p:nvSpPr>
          <p:cNvPr id="10" name="rule 1"/>
          <p:cNvSpPr/>
          <p:nvPr/>
        </p:nvSpPr>
        <p:spPr>
          <a:xfrm>
            <a:off x="1325880" y="2286000"/>
            <a:ext cx="580644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508760" y="2286000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純資産を下回る価格でしか買わない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2"/>
                </a:solidFill>
              </a:rPr>
              <a:t>飲食A社：8.2億円で純資産13.0億円を取得</a:t>
            </a:r>
            <a:endParaRPr lang="en-US" sz="1300" dirty="0"/>
          </a:p>
        </p:txBody>
      </p:sp>
      <p:sp>
        <p:nvSpPr>
          <p:cNvPr id="12" name="arrow 1"/>
          <p:cNvSpPr/>
          <p:nvPr/>
        </p:nvSpPr>
        <p:spPr>
          <a:xfrm>
            <a:off x="7013448" y="2468880"/>
            <a:ext cx="237744" cy="292608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impl 1"/>
          <p:cNvSpPr/>
          <p:nvPr/>
        </p:nvSpPr>
        <p:spPr>
          <a:xfrm>
            <a:off x="7406640" y="2286000"/>
            <a:ext cx="4096512" cy="658368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6F665F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589520" y="2286000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AIが決算書とIMから適正価格を算出し、入口で足切り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85800" y="3163824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31638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02</a:t>
            </a:r>
            <a:endParaRPr lang="en-US" sz="1200" dirty="0"/>
          </a:p>
        </p:txBody>
      </p:sp>
      <p:sp>
        <p:nvSpPr>
          <p:cNvPr id="17" name="rule 2"/>
          <p:cNvSpPr/>
          <p:nvPr/>
        </p:nvSpPr>
        <p:spPr>
          <a:xfrm>
            <a:off x="1325880" y="3044952"/>
            <a:ext cx="580644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508760" y="3044952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自分で見つける。仲介から始めない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2"/>
                </a:solidFill>
              </a:rPr>
              <a:t>約50案件の発掘はほぼ自分。仲介経由は3割以下</a:t>
            </a:r>
            <a:endParaRPr lang="en-US" sz="1300" dirty="0"/>
          </a:p>
        </p:txBody>
      </p:sp>
      <p:sp>
        <p:nvSpPr>
          <p:cNvPr id="19" name="arrow 2"/>
          <p:cNvSpPr/>
          <p:nvPr/>
        </p:nvSpPr>
        <p:spPr>
          <a:xfrm>
            <a:off x="7013448" y="3227832"/>
            <a:ext cx="237744" cy="292608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impl 2"/>
          <p:cNvSpPr/>
          <p:nvPr/>
        </p:nvSpPr>
        <p:spPr>
          <a:xfrm>
            <a:off x="7406640" y="3044952"/>
            <a:ext cx="4096512" cy="658368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6F665F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589520" y="3044952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買収方針から候補企業を逆算し、直接打診を指導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85800" y="3922776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5800" y="3922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03</a:t>
            </a:r>
            <a:endParaRPr lang="en-US" sz="1200" dirty="0"/>
          </a:p>
        </p:txBody>
      </p:sp>
      <p:sp>
        <p:nvSpPr>
          <p:cNvPr id="24" name="rule 3"/>
          <p:cNvSpPr/>
          <p:nvPr/>
        </p:nvSpPr>
        <p:spPr>
          <a:xfrm>
            <a:off x="1325880" y="3803904"/>
            <a:ext cx="580644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508760" y="3803904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PMI責任者が決まらない案件は買わない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2"/>
                </a:solidFill>
              </a:rPr>
              <a:t>同じポータル事業で、置いた人により5.0億円の差</a:t>
            </a:r>
            <a:endParaRPr lang="en-US" sz="1300" dirty="0"/>
          </a:p>
        </p:txBody>
      </p:sp>
      <p:sp>
        <p:nvSpPr>
          <p:cNvPr id="26" name="arrow 3"/>
          <p:cNvSpPr/>
          <p:nvPr/>
        </p:nvSpPr>
        <p:spPr>
          <a:xfrm>
            <a:off x="7013448" y="3986784"/>
            <a:ext cx="237744" cy="292608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7" name="impl 3"/>
          <p:cNvSpPr/>
          <p:nvPr/>
        </p:nvSpPr>
        <p:spPr>
          <a:xfrm>
            <a:off x="7406640" y="3803904"/>
            <a:ext cx="4096512" cy="658368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6F665F">
                <a:alpha val="1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589520" y="3803904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基本合意の前に「PMI責任者の指名」を必須に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85800" y="468172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4681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04</a:t>
            </a:r>
            <a:endParaRPr lang="en-US" sz="1200" dirty="0"/>
          </a:p>
        </p:txBody>
      </p:sp>
      <p:sp>
        <p:nvSpPr>
          <p:cNvPr id="31" name="rule 4"/>
          <p:cNvSpPr/>
          <p:nvPr/>
        </p:nvSpPr>
        <p:spPr>
          <a:xfrm>
            <a:off x="1325880" y="4562856"/>
            <a:ext cx="580644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508760" y="4562856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本業の外は、買わずに自分で作る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2"/>
                </a:solidFill>
              </a:rPr>
              <a:t>買った本業外は全敗。自社で作った本業外は勝ち</a:t>
            </a:r>
            <a:endParaRPr lang="en-US" sz="1300" dirty="0"/>
          </a:p>
        </p:txBody>
      </p:sp>
      <p:sp>
        <p:nvSpPr>
          <p:cNvPr id="33" name="arrow 4"/>
          <p:cNvSpPr/>
          <p:nvPr/>
        </p:nvSpPr>
        <p:spPr>
          <a:xfrm>
            <a:off x="7013448" y="4745736"/>
            <a:ext cx="237744" cy="292608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4" name="impl 4"/>
          <p:cNvSpPr/>
          <p:nvPr/>
        </p:nvSpPr>
        <p:spPr>
          <a:xfrm>
            <a:off x="7406640" y="4562856"/>
            <a:ext cx="4096512" cy="658368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6F665F">
                <a:alpha val="12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7589520" y="4562856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買収戦略の段階で本業外の案件を外す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85800" y="54406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85800" y="5440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05</a:t>
            </a:r>
            <a:endParaRPr lang="en-US" sz="1200" dirty="0"/>
          </a:p>
        </p:txBody>
      </p:sp>
      <p:sp>
        <p:nvSpPr>
          <p:cNvPr id="38" name="rule 5"/>
          <p:cNvSpPr/>
          <p:nvPr/>
        </p:nvSpPr>
        <p:spPr>
          <a:xfrm>
            <a:off x="1325880" y="5321808"/>
            <a:ext cx="580644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508760" y="5321808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売る時期を、買う前に決めておく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2"/>
                </a:solidFill>
              </a:rPr>
              <a:t>6年保有で−1.70億円／2ヶ月で30%売却し回収</a:t>
            </a:r>
            <a:endParaRPr lang="en-US" sz="1300" dirty="0"/>
          </a:p>
        </p:txBody>
      </p:sp>
      <p:sp>
        <p:nvSpPr>
          <p:cNvPr id="40" name="arrow 5"/>
          <p:cNvSpPr/>
          <p:nvPr/>
        </p:nvSpPr>
        <p:spPr>
          <a:xfrm>
            <a:off x="7013448" y="5504688"/>
            <a:ext cx="237744" cy="292608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1" name="impl 5"/>
          <p:cNvSpPr/>
          <p:nvPr/>
        </p:nvSpPr>
        <p:spPr>
          <a:xfrm>
            <a:off x="7406640" y="5321808"/>
            <a:ext cx="4096512" cy="658368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6F665F">
                <a:alpha val="12000"/>
              </a:srgbClr>
            </a:outerShdw>
          </a:effectLst>
        </p:spPr>
      </p:sp>
      <p:sp>
        <p:nvSpPr>
          <p:cNvPr id="42" name="Text 40"/>
          <p:cNvSpPr txBox="1"/>
          <p:nvPr/>
        </p:nvSpPr>
        <p:spPr>
          <a:xfrm>
            <a:off x="7589520" y="5321808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撤退ラインを買収前に文書化して合意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685800" y="612648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i="1" dirty="0">
                <a:solidFill>
                  <a:schemeClr val="accent1"/>
                </a:solidFill>
              </a:rPr>
              <a:t>値づけを決める。PMIの人を決める。売る時期を決める。この3つを買う前に紙に書けば、負けても致命傷にはならない。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dot"/>
          <p:cNvSpPr/>
          <p:nvPr/>
        </p:nvSpPr>
        <p:spPr>
          <a:xfrm>
            <a:off x="685800" y="484632"/>
            <a:ext cx="109728" cy="1097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923544" y="365760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chemeClr val="accent1"/>
                </a:solidFill>
              </a:rPr>
              <a:t>AI × EXPERIENCE</a:t>
            </a:r>
            <a:endParaRPr lang="en-US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685800" y="749808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AIは誰でも使える。差がつくのは、何を判断させるか</a:t>
            </a:r>
            <a:endParaRPr lang="en-US" sz="30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685800" y="1481328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2"/>
                </a:solidFill>
              </a:rPr>
              <a:t>AIが作業の大半を担い、49戦のルールで判定し、最後は人が責任を持つ</a:t>
            </a:r>
            <a:endParaRPr lang="en-US" sz="1350" dirty="0"/>
          </a:p>
        </p:txBody>
      </p:sp>
      <p:sp>
        <p:nvSpPr>
          <p:cNvPr id="6" name="input"/>
          <p:cNvSpPr/>
          <p:nvPr/>
        </p:nvSpPr>
        <p:spPr>
          <a:xfrm>
            <a:off x="685800" y="2103120"/>
            <a:ext cx="2331720" cy="324612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6F665F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14400" y="2240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入力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651760"/>
            <a:ext cx="19659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自社のBS/PL・試算表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買収方針（業種・エリア・予算）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案件情報・IM・決算書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市場・企業データ</a:t>
            </a:r>
            <a:endParaRPr lang="en-US" sz="1150" dirty="0"/>
          </a:p>
        </p:txBody>
      </p:sp>
      <p:sp>
        <p:nvSpPr>
          <p:cNvPr id="9" name="ai engine"/>
          <p:cNvSpPr/>
          <p:nvPr/>
        </p:nvSpPr>
        <p:spPr>
          <a:xfrm>
            <a:off x="3246120" y="2103120"/>
            <a:ext cx="4572000" cy="3246120"/>
          </a:xfrm>
          <a:prstGeom prst="roundRect">
            <a:avLst>
              <a:gd name="adj" fmla="val 169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74720" y="22128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AIエージェント</a:t>
            </a:r>
            <a:endParaRPr lang="en-US" sz="1300" dirty="0"/>
          </a:p>
        </p:txBody>
      </p:sp>
      <p:sp>
        <p:nvSpPr>
          <p:cNvPr id="11" name="module 買収戦略"/>
          <p:cNvSpPr/>
          <p:nvPr/>
        </p:nvSpPr>
        <p:spPr>
          <a:xfrm>
            <a:off x="3474720" y="2651760"/>
            <a:ext cx="1298448" cy="1170432"/>
          </a:xfrm>
          <a:prstGeom prst="roundRect">
            <a:avLst>
              <a:gd name="adj" fmla="val 4688"/>
            </a:avLst>
          </a:prstGeom>
          <a:solidFill>
            <a:srgbClr val="3A322C"/>
          </a:solidFill>
          <a:ln w="9525">
            <a:solidFill>
              <a:srgbClr val="4E443C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59352" y="2779776"/>
            <a:ext cx="329184" cy="32918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3474720" y="3154680"/>
            <a:ext cx="1298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買収戦略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3474720" y="3456432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何を買うべきか</a:t>
            </a:r>
            <a:endParaRPr lang="en-US" sz="900" dirty="0"/>
          </a:p>
        </p:txBody>
      </p:sp>
      <p:sp>
        <p:nvSpPr>
          <p:cNvPr id="15" name="module ソーシング"/>
          <p:cNvSpPr/>
          <p:nvPr/>
        </p:nvSpPr>
        <p:spPr>
          <a:xfrm>
            <a:off x="4892040" y="2651760"/>
            <a:ext cx="1298448" cy="1170432"/>
          </a:xfrm>
          <a:prstGeom prst="roundRect">
            <a:avLst>
              <a:gd name="adj" fmla="val 4688"/>
            </a:avLst>
          </a:prstGeom>
          <a:solidFill>
            <a:srgbClr val="3A322C"/>
          </a:solidFill>
          <a:ln w="9525">
            <a:solidFill>
              <a:srgbClr val="4E443C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2" y="2779776"/>
            <a:ext cx="329184" cy="329184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892040" y="3154680"/>
            <a:ext cx="1298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ソーシング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4892040" y="3456432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候補を探す</a:t>
            </a:r>
            <a:endParaRPr lang="en-US" sz="900" dirty="0"/>
          </a:p>
        </p:txBody>
      </p:sp>
      <p:sp>
        <p:nvSpPr>
          <p:cNvPr id="19" name="module スクリーニング"/>
          <p:cNvSpPr/>
          <p:nvPr/>
        </p:nvSpPr>
        <p:spPr>
          <a:xfrm>
            <a:off x="6309360" y="2651760"/>
            <a:ext cx="1298448" cy="1170432"/>
          </a:xfrm>
          <a:prstGeom prst="roundRect">
            <a:avLst>
              <a:gd name="adj" fmla="val 4688"/>
            </a:avLst>
          </a:prstGeom>
          <a:solidFill>
            <a:srgbClr val="3A322C"/>
          </a:solidFill>
          <a:ln w="9525">
            <a:solidFill>
              <a:srgbClr val="4E443C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3992" y="2779776"/>
            <a:ext cx="329184" cy="32918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309360" y="3154680"/>
            <a:ext cx="1298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スクリーニング</a:t>
            </a:r>
            <a:endParaRPr lang="en-US" sz="1150" dirty="0"/>
          </a:p>
        </p:txBody>
      </p:sp>
      <p:sp>
        <p:nvSpPr>
          <p:cNvPr id="22" name="Text 17"/>
          <p:cNvSpPr txBox="1"/>
          <p:nvPr/>
        </p:nvSpPr>
        <p:spPr>
          <a:xfrm>
            <a:off x="6309360" y="3456432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足切り・優先度</a:t>
            </a:r>
            <a:endParaRPr lang="en-US" sz="900" dirty="0"/>
          </a:p>
        </p:txBody>
      </p:sp>
      <p:sp>
        <p:nvSpPr>
          <p:cNvPr id="23" name="module 価格算定"/>
          <p:cNvSpPr/>
          <p:nvPr/>
        </p:nvSpPr>
        <p:spPr>
          <a:xfrm>
            <a:off x="3474720" y="3950208"/>
            <a:ext cx="1298448" cy="1170432"/>
          </a:xfrm>
          <a:prstGeom prst="roundRect">
            <a:avLst>
              <a:gd name="adj" fmla="val 4688"/>
            </a:avLst>
          </a:prstGeom>
          <a:solidFill>
            <a:srgbClr val="3A322C"/>
          </a:solidFill>
          <a:ln w="9525">
            <a:solidFill>
              <a:srgbClr val="4E443C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9352" y="4078224"/>
            <a:ext cx="329184" cy="329184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3474720" y="4453128"/>
            <a:ext cx="1298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価格算定</a:t>
            </a:r>
            <a:endParaRPr lang="en-US" sz="1150" dirty="0"/>
          </a:p>
        </p:txBody>
      </p:sp>
      <p:sp>
        <p:nvSpPr>
          <p:cNvPr id="26" name="Text 20"/>
          <p:cNvSpPr txBox="1"/>
          <p:nvPr/>
        </p:nvSpPr>
        <p:spPr>
          <a:xfrm>
            <a:off x="3474720" y="4754880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純資産・適正価格</a:t>
            </a:r>
            <a:endParaRPr lang="en-US" sz="900" dirty="0"/>
          </a:p>
        </p:txBody>
      </p:sp>
      <p:sp>
        <p:nvSpPr>
          <p:cNvPr id="27" name="module 資金設計"/>
          <p:cNvSpPr/>
          <p:nvPr/>
        </p:nvSpPr>
        <p:spPr>
          <a:xfrm>
            <a:off x="4892040" y="3950208"/>
            <a:ext cx="1298448" cy="1170432"/>
          </a:xfrm>
          <a:prstGeom prst="roundRect">
            <a:avLst>
              <a:gd name="adj" fmla="val 4688"/>
            </a:avLst>
          </a:prstGeom>
          <a:solidFill>
            <a:srgbClr val="3A322C"/>
          </a:solidFill>
          <a:ln w="9525">
            <a:solidFill>
              <a:srgbClr val="4E443C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6672" y="4078224"/>
            <a:ext cx="329184" cy="32918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4892040" y="4453128"/>
            <a:ext cx="1298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資金設計</a:t>
            </a:r>
            <a:endParaRPr lang="en-US" sz="1150" dirty="0"/>
          </a:p>
        </p:txBody>
      </p:sp>
      <p:sp>
        <p:nvSpPr>
          <p:cNvPr id="30" name="Text 23"/>
          <p:cNvSpPr txBox="1"/>
          <p:nvPr/>
        </p:nvSpPr>
        <p:spPr>
          <a:xfrm>
            <a:off x="4892040" y="4754880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借入余力・調達</a:t>
            </a:r>
            <a:endParaRPr lang="en-US" sz="900" dirty="0"/>
          </a:p>
        </p:txBody>
      </p:sp>
      <p:sp>
        <p:nvSpPr>
          <p:cNvPr id="31" name="module PMI計画"/>
          <p:cNvSpPr/>
          <p:nvPr/>
        </p:nvSpPr>
        <p:spPr>
          <a:xfrm>
            <a:off x="6309360" y="3950208"/>
            <a:ext cx="1298448" cy="1170432"/>
          </a:xfrm>
          <a:prstGeom prst="roundRect">
            <a:avLst>
              <a:gd name="adj" fmla="val 4688"/>
            </a:avLst>
          </a:prstGeom>
          <a:solidFill>
            <a:srgbClr val="3A322C"/>
          </a:solidFill>
          <a:ln w="9525">
            <a:solidFill>
              <a:srgbClr val="4E443C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3992" y="4078224"/>
            <a:ext cx="329184" cy="329184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6309360" y="4453128"/>
            <a:ext cx="1298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PMI計画</a:t>
            </a:r>
            <a:endParaRPr lang="en-US" sz="1150" dirty="0"/>
          </a:p>
        </p:txBody>
      </p:sp>
      <p:sp>
        <p:nvSpPr>
          <p:cNvPr id="34" name="Text 26"/>
          <p:cNvSpPr txBox="1"/>
          <p:nvPr/>
        </p:nvSpPr>
        <p:spPr>
          <a:xfrm>
            <a:off x="6309360" y="4754880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責任者・100日</a:t>
            </a:r>
            <a:endParaRPr lang="en-US" sz="900" dirty="0"/>
          </a:p>
        </p:txBody>
      </p:sp>
      <p:sp>
        <p:nvSpPr>
          <p:cNvPr id="35" name="rule gate"/>
          <p:cNvSpPr/>
          <p:nvPr/>
        </p:nvSpPr>
        <p:spPr>
          <a:xfrm>
            <a:off x="8001000" y="2103120"/>
            <a:ext cx="1051560" cy="3246120"/>
          </a:xfrm>
          <a:prstGeom prst="roundRect">
            <a:avLst>
              <a:gd name="adj" fmla="val 521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6" name="Text 28"/>
          <p:cNvSpPr txBox="1"/>
          <p:nvPr/>
        </p:nvSpPr>
        <p:spPr>
          <a:xfrm>
            <a:off x="8001000" y="2103120"/>
            <a:ext cx="10515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49戦の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5原則で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判定</a:t>
            </a:r>
            <a:endParaRPr lang="en-US" sz="1300" dirty="0"/>
          </a:p>
        </p:txBody>
      </p:sp>
      <p:sp>
        <p:nvSpPr>
          <p:cNvPr id="37" name="output"/>
          <p:cNvSpPr/>
          <p:nvPr/>
        </p:nvSpPr>
        <p:spPr>
          <a:xfrm>
            <a:off x="9235440" y="2103120"/>
            <a:ext cx="2267712" cy="3246120"/>
          </a:xfrm>
          <a:prstGeom prst="roundRect">
            <a:avLst>
              <a:gd name="adj" fmla="val 2419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6F665F">
                <a:alpha val="12000"/>
              </a:srgbClr>
            </a:outerShdw>
          </a:effectLst>
        </p:spPr>
      </p:sp>
      <p:sp>
        <p:nvSpPr>
          <p:cNvPr id="38" name="Text 30"/>
          <p:cNvSpPr txBox="1"/>
          <p:nvPr/>
        </p:nvSpPr>
        <p:spPr>
          <a:xfrm>
            <a:off x="9464040" y="2240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出力</a:t>
            </a:r>
            <a:endParaRPr lang="en-US" sz="1300" dirty="0"/>
          </a:p>
        </p:txBody>
      </p:sp>
      <p:sp>
        <p:nvSpPr>
          <p:cNvPr id="39" name="Text 31"/>
          <p:cNvSpPr txBox="1"/>
          <p:nvPr/>
        </p:nvSpPr>
        <p:spPr>
          <a:xfrm>
            <a:off x="9464040" y="2651760"/>
            <a:ext cx="190195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買う／見送るの判断と理由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適正価格と交渉の上限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資金調達の組み立て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PMI責任者と撤退ライン</a:t>
            </a:r>
            <a:endParaRPr lang="en-US" sz="1150" dirty="0"/>
          </a:p>
        </p:txBody>
      </p:sp>
      <p:sp>
        <p:nvSpPr>
          <p:cNvPr id="40" name="conclusion bar"/>
          <p:cNvSpPr/>
          <p:nvPr/>
        </p:nvSpPr>
        <p:spPr>
          <a:xfrm>
            <a:off x="685800" y="5532120"/>
            <a:ext cx="10820095" cy="777240"/>
          </a:xfrm>
          <a:prstGeom prst="roundRect">
            <a:avLst>
              <a:gd name="adj" fmla="val 470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1" name="Text 33"/>
          <p:cNvSpPr txBox="1"/>
          <p:nvPr/>
        </p:nvSpPr>
        <p:spPr>
          <a:xfrm>
            <a:off x="1005840" y="5532120"/>
            <a:ext cx="101800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最終判断・交渉・責任は人（コンサルタントと中野）が持つ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AIで1人あたりの担当社数を増やし、価格を抑えながら品質を保つ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dot"/>
          <p:cNvSpPr/>
          <p:nvPr/>
        </p:nvSpPr>
        <p:spPr>
          <a:xfrm>
            <a:off x="685800" y="484632"/>
            <a:ext cx="109728" cy="1097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923544" y="365760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chemeClr val="accent1"/>
                </a:solidFill>
              </a:rPr>
              <a:t>POSITIONING</a:t>
            </a:r>
            <a:endParaRPr lang="en-US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685800" y="749808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仲介でもマッチングサイトでもない、第三の選択肢</a:t>
            </a:r>
            <a:endParaRPr lang="en-US" sz="30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685800" y="1481328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2"/>
                </a:solidFill>
              </a:rPr>
              <a:t>「買い手の味方」として「成功まで伴走する」のは、ここだけ</a:t>
            </a:r>
            <a:endParaRPr lang="en-US" sz="1350" dirty="0"/>
          </a:p>
        </p:txBody>
      </p:sp>
      <p:sp>
        <p:nvSpPr>
          <p:cNvPr id="6" name="map bg"/>
          <p:cNvSpPr/>
          <p:nvPr/>
        </p:nvSpPr>
        <p:spPr>
          <a:xfrm>
            <a:off x="685800" y="2103120"/>
            <a:ext cx="5394960" cy="342900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3817620"/>
            <a:ext cx="5394960" cy="0"/>
          </a:xfrm>
          <a:prstGeom prst="line">
            <a:avLst/>
          </a:prstGeom>
          <a:noFill/>
          <a:ln w="9525">
            <a:solidFill>
              <a:srgbClr val="9A8F84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3383280" y="2103120"/>
            <a:ext cx="0" cy="3429000"/>
          </a:xfrm>
          <a:prstGeom prst="line">
            <a:avLst/>
          </a:prstGeom>
          <a:noFill/>
          <a:ln w="9525">
            <a:solidFill>
              <a:srgbClr val="9A8F84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777240" y="21762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買い手の味方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5184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中立・両手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8633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2"/>
                </a:solidFill>
              </a:rPr>
              <a:t>情報を渡すだけ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160520" y="38633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chemeClr val="accent2"/>
                </a:solidFill>
              </a:rPr>
              <a:t>成功まで伴走</a:t>
            </a:r>
            <a:endParaRPr lang="en-US" sz="950" dirty="0"/>
          </a:p>
        </p:txBody>
      </p:sp>
      <p:sp>
        <p:nvSpPr>
          <p:cNvPr id="13" name="pos マッチング サイト"/>
          <p:cNvSpPr/>
          <p:nvPr/>
        </p:nvSpPr>
        <p:spPr>
          <a:xfrm>
            <a:off x="1188720" y="4160520"/>
            <a:ext cx="1097280" cy="1097280"/>
          </a:xfrm>
          <a:prstGeom prst="ellipse">
            <a:avLst/>
          </a:prstGeom>
          <a:solidFill>
            <a:srgbClr val="E6DCCB"/>
          </a:solidFill>
          <a:ln w="12700">
            <a:solidFill>
              <a:srgbClr val="E6DCC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88720" y="41605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マッチング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サイト</a:t>
            </a:r>
            <a:endParaRPr lang="en-US" sz="1050" dirty="0"/>
          </a:p>
        </p:txBody>
      </p:sp>
      <p:sp>
        <p:nvSpPr>
          <p:cNvPr id="15" name="pos 大手仲介"/>
          <p:cNvSpPr/>
          <p:nvPr/>
        </p:nvSpPr>
        <p:spPr>
          <a:xfrm>
            <a:off x="3611880" y="4069080"/>
            <a:ext cx="1188720" cy="1188720"/>
          </a:xfrm>
          <a:prstGeom prst="ellipse">
            <a:avLst/>
          </a:prstGeom>
          <a:solidFill>
            <a:srgbClr val="9A8F84"/>
          </a:solidFill>
          <a:ln w="12700">
            <a:solidFill>
              <a:srgbClr val="9A8F8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611880" y="40690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大手仲介</a:t>
            </a:r>
            <a:endParaRPr lang="en-US" sz="1050" dirty="0"/>
          </a:p>
        </p:txBody>
      </p:sp>
      <p:sp>
        <p:nvSpPr>
          <p:cNvPr id="17" name="pos 買い手 FA"/>
          <p:cNvSpPr/>
          <p:nvPr/>
        </p:nvSpPr>
        <p:spPr>
          <a:xfrm>
            <a:off x="3383280" y="2606040"/>
            <a:ext cx="914400" cy="914400"/>
          </a:xfrm>
          <a:prstGeom prst="ellipse">
            <a:avLst/>
          </a:prstGeom>
          <a:solidFill>
            <a:srgbClr val="E6DCCB"/>
          </a:solidFill>
          <a:ln w="12700">
            <a:solidFill>
              <a:srgbClr val="E6DCC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383280" y="26060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買い手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FA</a:t>
            </a:r>
            <a:endParaRPr lang="en-US" sz="1050" dirty="0"/>
          </a:p>
        </p:txBody>
      </p:sp>
      <p:sp>
        <p:nvSpPr>
          <p:cNvPr id="19" name="pos 当社"/>
          <p:cNvSpPr/>
          <p:nvPr/>
        </p:nvSpPr>
        <p:spPr>
          <a:xfrm>
            <a:off x="4526280" y="2377440"/>
            <a:ext cx="1325880" cy="1325880"/>
          </a:xfrm>
          <a:prstGeom prst="ellipse">
            <a:avLst/>
          </a:prstGeom>
          <a:solidFill>
            <a:srgbClr val="A78450"/>
          </a:solidFill>
          <a:ln w="12700">
            <a:solidFill>
              <a:srgbClr val="A7845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26280" y="2377440"/>
            <a:ext cx="1325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当社</a:t>
            </a:r>
            <a:endParaRPr lang="en-US" sz="1050" dirty="0"/>
          </a:p>
        </p:txBody>
      </p:sp>
      <p:graphicFrame>
        <p:nvGraphicFramePr>
          <p:cNvPr id="9" name="compariso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2103120"/>
          <a:ext cx="5148072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234440"/>
                <a:gridCol w="1234440"/>
                <a:gridCol w="14447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大手仲介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マッチング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当社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立場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accent2"/>
                          </a:solidFill>
                        </a:rPr>
                        <a:t>両手が中心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accent2"/>
                          </a:solidFill>
                        </a:rPr>
                        <a:t>中立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買い手専任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費用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accent2"/>
                          </a:solidFill>
                        </a:rPr>
                        <a:t>数千万〜億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accent2"/>
                          </a:solidFill>
                        </a:rPr>
                        <a:t>無料〜数%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月50万＋成功報酬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判断の支援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accent2"/>
                          </a:solidFill>
                        </a:rPr>
                        <a:t>△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accent2"/>
                          </a:solidFill>
                        </a:rPr>
                        <a:t>×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AI＋5原則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買った後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accent2"/>
                          </a:solidFill>
                        </a:rPr>
                        <a:t>×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accent2"/>
                          </a:solidFill>
                        </a:rPr>
                        <a:t>×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PMIまで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人が育つ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accent2"/>
                          </a:solidFill>
                        </a:rPr>
                        <a:t>×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accent2"/>
                          </a:solidFill>
                        </a:rPr>
                        <a:t>×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担当者を育成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685800" y="576072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i="1" dirty="0">
                <a:solidFill>
                  <a:schemeClr val="accent1"/>
                </a:solidFill>
              </a:rPr>
              <a:t>→ 担当者が育つので、2件目以降は自社で買えるようになる。それでも続けたいと思われる伴走をする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dot"/>
          <p:cNvSpPr/>
          <p:nvPr/>
        </p:nvSpPr>
        <p:spPr>
          <a:xfrm>
            <a:off x="685800" y="484632"/>
            <a:ext cx="109728" cy="1097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923544" y="365760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chemeClr val="accent1"/>
                </a:solidFill>
              </a:rPr>
              <a:t>TARGET</a:t>
            </a:r>
            <a:endParaRPr lang="en-US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685800" y="749808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お客様：M&amp;A担当を育てたい会社</a:t>
            </a:r>
            <a:endParaRPr lang="en-US" sz="30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685800" y="1481328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2"/>
                </a:solidFill>
              </a:rPr>
              <a:t>単価の低い個人の買い手は狙わず、継続して買う法人に絞る</a:t>
            </a:r>
            <a:endParaRPr lang="en-US" sz="1350" dirty="0"/>
          </a:p>
        </p:txBody>
      </p:sp>
      <p:sp>
        <p:nvSpPr>
          <p:cNvPr id="6" name="persona 1"/>
          <p:cNvSpPr/>
          <p:nvPr/>
        </p:nvSpPr>
        <p:spPr>
          <a:xfrm>
            <a:off x="685800" y="2103120"/>
            <a:ext cx="3447288" cy="3931920"/>
          </a:xfrm>
          <a:prstGeom prst="roundRect">
            <a:avLst>
              <a:gd name="adj" fmla="val 1592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6F665F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60120" y="2331720"/>
            <a:ext cx="658368" cy="65836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60120" y="23317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" y="2496312"/>
            <a:ext cx="329184" cy="329184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2926080" y="2514600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926080" y="251460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bg1"/>
                </a:solidFill>
              </a:rPr>
              <a:t>最優先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960120" y="31546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M&amp;A担当がいない・育てたい中堅中小企業</a:t>
            </a:r>
            <a:endParaRPr lang="en-US" sz="1450" dirty="0"/>
          </a:p>
        </p:txBody>
      </p:sp>
      <p:sp>
        <p:nvSpPr>
          <p:cNvPr id="13" name="Text 10"/>
          <p:cNvSpPr txBox="1"/>
          <p:nvPr/>
        </p:nvSpPr>
        <p:spPr>
          <a:xfrm>
            <a:off x="960120" y="37947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2"/>
                </a:solidFill>
              </a:rPr>
              <a:t>年商10〜100億円／M&amp;Aで成長したい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42062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悩み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案件の良し悪しを判断できない。仲介の言い値で買う</a:t>
            </a:r>
            <a:endParaRPr lang="en-US" sz="12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払う理由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社内にM&amp;A部門をつくる代わりに</a:t>
            </a:r>
            <a:endParaRPr lang="en-US" sz="1200" dirty="0"/>
          </a:p>
        </p:txBody>
      </p:sp>
      <p:sp>
        <p:nvSpPr>
          <p:cNvPr id="15" name="persona 2"/>
          <p:cNvSpPr/>
          <p:nvPr/>
        </p:nvSpPr>
        <p:spPr>
          <a:xfrm>
            <a:off x="4370832" y="2103120"/>
            <a:ext cx="3447288" cy="3931920"/>
          </a:xfrm>
          <a:prstGeom prst="roundRect">
            <a:avLst>
              <a:gd name="adj" fmla="val 1592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6F665F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645152" y="2331720"/>
            <a:ext cx="658368" cy="65836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645152" y="23317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30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9744" y="2496312"/>
            <a:ext cx="329184" cy="329184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6611112" y="2514600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611112" y="251460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1"/>
                </a:solidFill>
              </a:rPr>
              <a:t>高</a:t>
            </a:r>
            <a:endParaRPr lang="en-US" sz="950" dirty="0"/>
          </a:p>
        </p:txBody>
      </p:sp>
      <p:sp>
        <p:nvSpPr>
          <p:cNvPr id="21" name="Text 17"/>
          <p:cNvSpPr txBox="1"/>
          <p:nvPr/>
        </p:nvSpPr>
        <p:spPr>
          <a:xfrm>
            <a:off x="4645152" y="31546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PE・サーチファンド・承継ファンド</a:t>
            </a:r>
            <a:endParaRPr lang="en-US" sz="1450" dirty="0"/>
          </a:p>
        </p:txBody>
      </p:sp>
      <p:sp>
        <p:nvSpPr>
          <p:cNvPr id="22" name="Text 18"/>
          <p:cNvSpPr txBox="1"/>
          <p:nvPr/>
        </p:nvSpPr>
        <p:spPr>
          <a:xfrm>
            <a:off x="4645152" y="37947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2"/>
                </a:solidFill>
              </a:rPr>
              <a:t>年に複数件を検討・投資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4645152" y="42062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悩み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ソーシングの効率が悪い。スクリーニングに手間がかかる</a:t>
            </a:r>
            <a:endParaRPr lang="en-US" sz="12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払う理由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アナリストの手間の代わりに</a:t>
            </a:r>
            <a:endParaRPr lang="en-US" sz="1200" dirty="0"/>
          </a:p>
        </p:txBody>
      </p:sp>
      <p:sp>
        <p:nvSpPr>
          <p:cNvPr id="24" name="persona 3"/>
          <p:cNvSpPr/>
          <p:nvPr/>
        </p:nvSpPr>
        <p:spPr>
          <a:xfrm>
            <a:off x="8055864" y="2103120"/>
            <a:ext cx="3447288" cy="3931920"/>
          </a:xfrm>
          <a:prstGeom prst="roundRect">
            <a:avLst>
              <a:gd name="adj" fmla="val 1592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6F665F">
                <a:alpha val="12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8330184" y="2331720"/>
            <a:ext cx="658368" cy="65836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330184" y="23317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300" dirty="0"/>
          </a:p>
        </p:txBody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4776" y="2496312"/>
            <a:ext cx="329184" cy="329184"/>
          </a:xfrm>
          <a:prstGeom prst="rect">
            <a:avLst/>
          </a:prstGeom>
        </p:spPr>
      </p:pic>
      <p:sp>
        <p:nvSpPr>
          <p:cNvPr id="28" name="Shape 23"/>
          <p:cNvSpPr/>
          <p:nvPr/>
        </p:nvSpPr>
        <p:spPr>
          <a:xfrm>
            <a:off x="10296144" y="2514600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10296144" y="251460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1"/>
                </a:solidFill>
              </a:rPr>
              <a:t>紹介元</a:t>
            </a:r>
            <a:endParaRPr lang="en-US" sz="950" dirty="0"/>
          </a:p>
        </p:txBody>
      </p:sp>
      <p:sp>
        <p:nvSpPr>
          <p:cNvPr id="30" name="Text 25"/>
          <p:cNvSpPr txBox="1"/>
          <p:nvPr/>
        </p:nvSpPr>
        <p:spPr>
          <a:xfrm>
            <a:off x="8330184" y="31546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士業・地方銀行・信用金庫</a:t>
            </a:r>
            <a:endParaRPr lang="en-US" sz="1450" dirty="0"/>
          </a:p>
        </p:txBody>
      </p:sp>
      <p:sp>
        <p:nvSpPr>
          <p:cNvPr id="31" name="Text 26"/>
          <p:cNvSpPr txBox="1"/>
          <p:nvPr/>
        </p:nvSpPr>
        <p:spPr>
          <a:xfrm>
            <a:off x="8330184" y="37947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2"/>
                </a:solidFill>
              </a:rPr>
              <a:t>顧問先・取引先の買い手を支援</a:t>
            </a:r>
            <a:endParaRPr lang="en-US" sz="1050" dirty="0"/>
          </a:p>
        </p:txBody>
      </p:sp>
      <p:sp>
        <p:nvSpPr>
          <p:cNvPr id="32" name="Text 27"/>
          <p:cNvSpPr txBox="1"/>
          <p:nvPr/>
        </p:nvSpPr>
        <p:spPr>
          <a:xfrm>
            <a:off x="8330184" y="42062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悩み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顧問先の買収相談に応える道具とネットワークがない</a:t>
            </a:r>
            <a:endParaRPr lang="en-US" sz="12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払う理由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顧問サービスの付加価値に（紹介チャネル）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dot"/>
          <p:cNvSpPr/>
          <p:nvPr/>
        </p:nvSpPr>
        <p:spPr>
          <a:xfrm>
            <a:off x="685800" y="484632"/>
            <a:ext cx="109728" cy="1097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923544" y="365760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chemeClr val="accent1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685800" y="749808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12ヶ月で「自社で買える会社」にする</a:t>
            </a:r>
            <a:endParaRPr lang="en-US" sz="30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685800" y="1481328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2"/>
                </a:solidFill>
              </a:rPr>
              <a:t>コンサルタントが案件を進めながら、担当者に手順を移植する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1005840" y="2423160"/>
            <a:ext cx="10180015" cy="0"/>
          </a:xfrm>
          <a:prstGeom prst="line">
            <a:avLst/>
          </a:prstGeom>
          <a:noFill/>
          <a:ln w="25400">
            <a:solidFill>
              <a:srgbClr val="E6DCC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5528" y="221284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95528" y="22128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22128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1〜2ヶ月</a:t>
            </a:r>
            <a:endParaRPr lang="en-US" sz="1300" dirty="0"/>
          </a:p>
        </p:txBody>
      </p:sp>
      <p:sp>
        <p:nvSpPr>
          <p:cNvPr id="10" name="step 1"/>
          <p:cNvSpPr/>
          <p:nvPr/>
        </p:nvSpPr>
        <p:spPr>
          <a:xfrm>
            <a:off x="685800" y="2834640"/>
            <a:ext cx="2560320" cy="1965960"/>
          </a:xfrm>
          <a:prstGeom prst="roundRect">
            <a:avLst>
              <a:gd name="adj" fmla="val 2791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6F665F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914400" y="2971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戦略と値づけ基準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3383280"/>
            <a:ext cx="2148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2"/>
                </a:solidFill>
              </a:rPr>
              <a:t>自社BS/PLをAIで分析し、買う領域・予算・借入余力を決める</a:t>
            </a:r>
            <a:endParaRPr lang="en-US" sz="1150" dirty="0"/>
          </a:p>
        </p:txBody>
      </p:sp>
      <p:sp>
        <p:nvSpPr>
          <p:cNvPr id="13" name="goal 1"/>
          <p:cNvSpPr/>
          <p:nvPr/>
        </p:nvSpPr>
        <p:spPr>
          <a:xfrm>
            <a:off x="685800" y="4919472"/>
            <a:ext cx="25603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" y="491947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担当者が </a:t>
            </a:r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自社の買収基準を言える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566160" y="221284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566160" y="22128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096512" y="22128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3〜5ヶ月</a:t>
            </a:r>
            <a:endParaRPr lang="en-US" sz="1300" dirty="0"/>
          </a:p>
        </p:txBody>
      </p:sp>
      <p:sp>
        <p:nvSpPr>
          <p:cNvPr id="18" name="step 2"/>
          <p:cNvSpPr/>
          <p:nvPr/>
        </p:nvSpPr>
        <p:spPr>
          <a:xfrm>
            <a:off x="3456432" y="2834640"/>
            <a:ext cx="2560320" cy="1965960"/>
          </a:xfrm>
          <a:prstGeom prst="roundRect">
            <a:avLst>
              <a:gd name="adj" fmla="val 2791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6F665F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685032" y="2971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ソーシングとIM読解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3685032" y="3383280"/>
            <a:ext cx="2148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2"/>
                </a:solidFill>
              </a:rPr>
              <a:t>候補リストを作って打診。IMをAIで読み、足切りと優先順位をつける</a:t>
            </a:r>
            <a:endParaRPr lang="en-US" sz="1150" dirty="0"/>
          </a:p>
        </p:txBody>
      </p:sp>
      <p:sp>
        <p:nvSpPr>
          <p:cNvPr id="21" name="goal 2"/>
          <p:cNvSpPr/>
          <p:nvPr/>
        </p:nvSpPr>
        <p:spPr>
          <a:xfrm>
            <a:off x="3456432" y="4919472"/>
            <a:ext cx="25603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639312" y="491947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担当者が </a:t>
            </a:r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IMを読み、足切りできる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336792" y="221284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36792" y="22128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867144" y="22128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6〜8ヶ月</a:t>
            </a:r>
            <a:endParaRPr lang="en-US" sz="1300" dirty="0"/>
          </a:p>
        </p:txBody>
      </p:sp>
      <p:sp>
        <p:nvSpPr>
          <p:cNvPr id="26" name="step 3"/>
          <p:cNvSpPr/>
          <p:nvPr/>
        </p:nvSpPr>
        <p:spPr>
          <a:xfrm>
            <a:off x="6227064" y="2834640"/>
            <a:ext cx="2560320" cy="1965960"/>
          </a:xfrm>
          <a:prstGeom prst="roundRect">
            <a:avLst>
              <a:gd name="adj" fmla="val 2791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6F665F">
                <a:alpha val="12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6455664" y="2971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交渉・DD・資金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455664" y="3383280"/>
            <a:ext cx="2148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2"/>
                </a:solidFill>
              </a:rPr>
              <a:t>交渉に同席して指導。DDの論点整理と資金調達の設計</a:t>
            </a:r>
            <a:endParaRPr lang="en-US" sz="1150" dirty="0"/>
          </a:p>
        </p:txBody>
      </p:sp>
      <p:sp>
        <p:nvSpPr>
          <p:cNvPr id="29" name="goal 3"/>
          <p:cNvSpPr/>
          <p:nvPr/>
        </p:nvSpPr>
        <p:spPr>
          <a:xfrm>
            <a:off x="6227064" y="4919472"/>
            <a:ext cx="25603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09944" y="491947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担当者が </a:t>
            </a:r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仲介と対等に交渉できる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9107424" y="2212848"/>
            <a:ext cx="420624" cy="420624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107424" y="22128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637776" y="22128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9〜12ヶ月</a:t>
            </a:r>
            <a:endParaRPr lang="en-US" sz="1300" dirty="0"/>
          </a:p>
        </p:txBody>
      </p:sp>
      <p:sp>
        <p:nvSpPr>
          <p:cNvPr id="34" name="step 4"/>
          <p:cNvSpPr/>
          <p:nvPr/>
        </p:nvSpPr>
        <p:spPr>
          <a:xfrm>
            <a:off x="8997696" y="2834640"/>
            <a:ext cx="2560320" cy="1965960"/>
          </a:xfrm>
          <a:prstGeom prst="roundRect">
            <a:avLst>
              <a:gd name="adj" fmla="val 2791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6F665F">
                <a:alpha val="12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9226296" y="2971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クロージングとPMI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9226296" y="3383280"/>
            <a:ext cx="2148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2"/>
                </a:solidFill>
              </a:rPr>
              <a:t>PMI責任者と100日プラン、撤退ラインを決める</a:t>
            </a:r>
            <a:endParaRPr lang="en-US" sz="1150" dirty="0"/>
          </a:p>
        </p:txBody>
      </p:sp>
      <p:sp>
        <p:nvSpPr>
          <p:cNvPr id="37" name="goal 4"/>
          <p:cNvSpPr/>
          <p:nvPr/>
        </p:nvSpPr>
        <p:spPr>
          <a:xfrm>
            <a:off x="8997696" y="4919472"/>
            <a:ext cx="25603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180576" y="491947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担当者が </a:t>
            </a:r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買った後を自走できる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685800" y="576072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i="1" dirty="0">
                <a:solidFill>
                  <a:schemeClr val="accent1"/>
                </a:solidFill>
              </a:rPr>
              <a:t>体制：コンサルタント1人で10社まで（交渉段階は同時3社まで）。顧客同士がぶつからないよう、同業は1社まで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dot"/>
          <p:cNvSpPr/>
          <p:nvPr/>
        </p:nvSpPr>
        <p:spPr>
          <a:xfrm>
            <a:off x="685800" y="484632"/>
            <a:ext cx="109728" cy="1097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923544" y="365760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chemeClr val="accent1"/>
                </a:solidFill>
              </a:rPr>
              <a:t>PRICING</a:t>
            </a:r>
            <a:endParaRPr lang="en-US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685800" y="749808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月額で「育成と伴走」、成約したら成功報酬</a:t>
            </a:r>
            <a:endParaRPr lang="en-US" sz="30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685800" y="1481328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2"/>
                </a:solidFill>
              </a:rPr>
              <a:t>M&amp;A担当を1人採用する（年収800〜1,500万円＋採用費）より安く、社内に人が育つ</a:t>
            </a:r>
            <a:endParaRPr lang="en-US" sz="1350" dirty="0"/>
          </a:p>
        </p:txBody>
      </p:sp>
      <p:sp>
        <p:nvSpPr>
          <p:cNvPr id="6" name="plan スタンダード"/>
          <p:cNvSpPr/>
          <p:nvPr/>
        </p:nvSpPr>
        <p:spPr>
          <a:xfrm>
            <a:off x="685800" y="2103120"/>
            <a:ext cx="3447288" cy="3977640"/>
          </a:xfrm>
          <a:prstGeom prst="roundRect">
            <a:avLst>
              <a:gd name="adj" fmla="val 1592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6F665F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286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スタンダード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69748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50</a:t>
            </a:r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 万円／月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3474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2"/>
                </a:solidFill>
              </a:rPr>
              <a:t>12ヶ月（6ヶ月から可）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960120" y="3858768"/>
            <a:ext cx="2898648" cy="0"/>
          </a:xfrm>
          <a:prstGeom prst="line">
            <a:avLst/>
          </a:prstGeom>
          <a:noFill/>
          <a:ln w="9525">
            <a:solidFill>
              <a:srgbClr val="E6DCC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397764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AIによる案件分析・シナジー試算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担当者の育成カリキュラム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ソーシング・IMの受領と読解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資金調達の設計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交渉への同席と指導</a:t>
            </a:r>
            <a:endParaRPr lang="en-US" sz="1150" dirty="0"/>
          </a:p>
        </p:txBody>
      </p:sp>
      <p:sp>
        <p:nvSpPr>
          <p:cNvPr id="12" name="plan premium"/>
          <p:cNvSpPr/>
          <p:nvPr/>
        </p:nvSpPr>
        <p:spPr>
          <a:xfrm>
            <a:off x="4370832" y="2103120"/>
            <a:ext cx="3447288" cy="3977640"/>
          </a:xfrm>
          <a:prstGeom prst="roundRect">
            <a:avLst>
              <a:gd name="adj" fmla="val 159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73952" y="2286000"/>
            <a:ext cx="114300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73952" y="22860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bg1"/>
                </a:solidFill>
              </a:rPr>
              <a:t>おすすめ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645152" y="2286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プレミアム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645152" y="269748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80</a:t>
            </a:r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 万円／月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645152" y="3474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枠数限定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645152" y="3858768"/>
            <a:ext cx="2898648" cy="0"/>
          </a:xfrm>
          <a:prstGeom prst="line">
            <a:avLst/>
          </a:prstGeom>
          <a:noFill/>
          <a:ln w="9525">
            <a:solidFill>
              <a:srgbClr val="4E443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45152" y="397764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スタンダードの全内容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中野との月1時間の壁打ち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49戦の判断基準でのフィードバック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交渉の代行</a:t>
            </a:r>
            <a:endParaRPr lang="en-US" sz="1150" dirty="0"/>
          </a:p>
        </p:txBody>
      </p:sp>
      <p:sp>
        <p:nvSpPr>
          <p:cNvPr id="20" name="plan 成功報酬"/>
          <p:cNvSpPr/>
          <p:nvPr/>
        </p:nvSpPr>
        <p:spPr>
          <a:xfrm>
            <a:off x="8055864" y="2103120"/>
            <a:ext cx="3447288" cy="3977640"/>
          </a:xfrm>
          <a:prstGeom prst="roundRect">
            <a:avLst>
              <a:gd name="adj" fmla="val 1592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6F665F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330184" y="2286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成功報酬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330184" y="269748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2〜3</a:t>
            </a:r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 ％（最低500万円）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8330184" y="3474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2"/>
                </a:solidFill>
              </a:rPr>
              <a:t>成約したときだけ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330184" y="3858768"/>
            <a:ext cx="2898648" cy="0"/>
          </a:xfrm>
          <a:prstGeom prst="line">
            <a:avLst/>
          </a:prstGeom>
          <a:noFill/>
          <a:ln w="9525">
            <a:solidFill>
              <a:srgbClr val="E6DCC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330184" y="397764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買い手FAとしてクロージングまで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支払済み月額の50%を充当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二重取りにしない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85800" y="6144768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価格はすべて税別・仮置き。顧客インタビューで支払意思額を検証して確定する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dot"/>
          <p:cNvSpPr/>
          <p:nvPr/>
        </p:nvSpPr>
        <p:spPr>
          <a:xfrm>
            <a:off x="685800" y="484632"/>
            <a:ext cx="109728" cy="1097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923544" y="365760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chemeClr val="accent1"/>
                </a:solidFill>
              </a:rPr>
              <a:t>MOAT</a:t>
            </a:r>
            <a:endParaRPr lang="en-US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685800" y="749808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使うほど溜まるデータが、真似されない強みになる</a:t>
            </a:r>
            <a:endParaRPr lang="en-US" sz="30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685800" y="1481328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2"/>
                </a:solidFill>
              </a:rPr>
              <a:t>不動産のREINSの本当の価値は成約データ。M&amp;Aでも同じ資産をつくる</a:t>
            </a:r>
            <a:endParaRPr lang="en-US" sz="1350" dirty="0"/>
          </a:p>
        </p:txBody>
      </p:sp>
      <p:sp>
        <p:nvSpPr>
          <p:cNvPr id="6" name="flywheel hub"/>
          <p:cNvSpPr/>
          <p:nvPr/>
        </p:nvSpPr>
        <p:spPr>
          <a:xfrm>
            <a:off x="2852928" y="3291840"/>
            <a:ext cx="1554480" cy="114300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852928" y="3291840"/>
            <a:ext cx="1554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データの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好循環</a:t>
            </a:r>
            <a:endParaRPr lang="en-US" sz="1300" dirty="0"/>
          </a:p>
        </p:txBody>
      </p:sp>
      <p:sp>
        <p:nvSpPr>
          <p:cNvPr id="8" name="fw node"/>
          <p:cNvSpPr/>
          <p:nvPr/>
        </p:nvSpPr>
        <p:spPr>
          <a:xfrm>
            <a:off x="2606040" y="2103120"/>
            <a:ext cx="2011680" cy="96012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6F665F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606040" y="210312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伴走する顧客が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増える</a:t>
            </a:r>
            <a:endParaRPr lang="en-US" sz="1150" dirty="0"/>
          </a:p>
        </p:txBody>
      </p:sp>
      <p:sp>
        <p:nvSpPr>
          <p:cNvPr id="10" name="fw node"/>
          <p:cNvSpPr/>
          <p:nvPr/>
        </p:nvSpPr>
        <p:spPr>
          <a:xfrm>
            <a:off x="4663440" y="3337560"/>
            <a:ext cx="2011680" cy="96012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6F665F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663440" y="333756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買収ニーズと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検討データが溜まる</a:t>
            </a:r>
            <a:endParaRPr lang="en-US" sz="1150" dirty="0"/>
          </a:p>
        </p:txBody>
      </p:sp>
      <p:sp>
        <p:nvSpPr>
          <p:cNvPr id="12" name="fw node"/>
          <p:cNvSpPr/>
          <p:nvPr/>
        </p:nvSpPr>
        <p:spPr>
          <a:xfrm>
            <a:off x="2606040" y="4572000"/>
            <a:ext cx="2011680" cy="96012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6F665F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2606040" y="457200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成約データ（価格・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倍率）が溜まる</a:t>
            </a:r>
            <a:endParaRPr lang="en-US" sz="1150" dirty="0"/>
          </a:p>
        </p:txBody>
      </p:sp>
      <p:sp>
        <p:nvSpPr>
          <p:cNvPr id="14" name="fw node"/>
          <p:cNvSpPr/>
          <p:nvPr/>
        </p:nvSpPr>
        <p:spPr>
          <a:xfrm>
            <a:off x="685800" y="3337560"/>
            <a:ext cx="2011680" cy="96012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6F665F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85800" y="333756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AIの価格算定と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判断の精度が上がる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663440" y="2606040"/>
            <a:ext cx="822960" cy="685800"/>
          </a:xfrm>
          <a:prstGeom prst="line">
            <a:avLst/>
          </a:prstGeom>
          <a:noFill/>
          <a:ln w="25400">
            <a:solidFill>
              <a:srgbClr val="A7845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 flipH="1">
            <a:off x="4663440" y="4343400"/>
            <a:ext cx="822960" cy="457200"/>
          </a:xfrm>
          <a:prstGeom prst="line">
            <a:avLst/>
          </a:prstGeom>
          <a:noFill/>
          <a:ln w="25400">
            <a:solidFill>
              <a:srgbClr val="A7845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H="1" flipV="1">
            <a:off x="1691640" y="4343400"/>
            <a:ext cx="868680" cy="457200"/>
          </a:xfrm>
          <a:prstGeom prst="line">
            <a:avLst/>
          </a:prstGeom>
          <a:noFill/>
          <a:ln w="25400">
            <a:solidFill>
              <a:srgbClr val="A7845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 flipV="1">
            <a:off x="1691640" y="2606040"/>
            <a:ext cx="868680" cy="685800"/>
          </a:xfrm>
          <a:prstGeom prst="line">
            <a:avLst/>
          </a:prstGeom>
          <a:noFill/>
          <a:ln w="25400">
            <a:solidFill>
              <a:srgbClr val="A78450"/>
            </a:solidFill>
            <a:prstDash val="solid"/>
            <a:tailEnd type="triangle"/>
          </a:ln>
        </p:spPr>
      </p:sp>
      <p:sp>
        <p:nvSpPr>
          <p:cNvPr id="20" name="asset 1"/>
          <p:cNvSpPr/>
          <p:nvPr/>
        </p:nvSpPr>
        <p:spPr>
          <a:xfrm>
            <a:off x="7040880" y="2103120"/>
            <a:ext cx="4462272" cy="118872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6F665F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223760" y="2395728"/>
            <a:ext cx="603504" cy="603504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23760" y="23957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3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70064" y="2542032"/>
            <a:ext cx="310896" cy="310896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8001000" y="2221992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成約価格データベース</a:t>
            </a:r>
            <a:endParaRPr lang="en-US" sz="1350" dirty="0"/>
          </a:p>
        </p:txBody>
      </p:sp>
      <p:sp>
        <p:nvSpPr>
          <p:cNvPr id="25" name="Text 22"/>
          <p:cNvSpPr txBox="1"/>
          <p:nvPr/>
        </p:nvSpPr>
        <p:spPr>
          <a:xfrm>
            <a:off x="8001000" y="2578608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2"/>
                </a:solidFill>
              </a:rPr>
              <a:t>公開されない中小M&amp;Aの成約価格・倍率。AIの価格算定の根拠になる</a:t>
            </a:r>
            <a:endParaRPr lang="en-US" sz="1050" dirty="0"/>
          </a:p>
        </p:txBody>
      </p:sp>
      <p:sp>
        <p:nvSpPr>
          <p:cNvPr id="26" name="asset 2"/>
          <p:cNvSpPr/>
          <p:nvPr/>
        </p:nvSpPr>
        <p:spPr>
          <a:xfrm>
            <a:off x="7040880" y="3429000"/>
            <a:ext cx="4462272" cy="118872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6F665F">
                <a:alpha val="12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7223760" y="3721608"/>
            <a:ext cx="603504" cy="603504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223760" y="372160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300" dirty="0"/>
          </a:p>
        </p:txBody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0064" y="3867912"/>
            <a:ext cx="310896" cy="310896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8001000" y="3547872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認証バイヤーの一覧</a:t>
            </a:r>
            <a:endParaRPr lang="en-US" sz="1350" dirty="0"/>
          </a:p>
        </p:txBody>
      </p:sp>
      <p:sp>
        <p:nvSpPr>
          <p:cNvPr id="31" name="Text 27"/>
          <p:cNvSpPr txBox="1"/>
          <p:nvPr/>
        </p:nvSpPr>
        <p:spPr>
          <a:xfrm>
            <a:off x="8001000" y="3904488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2"/>
                </a:solidFill>
              </a:rPr>
              <a:t>財務・実績・反社を確認した買い手。悪質な買い手問題への答えになる</a:t>
            </a:r>
            <a:endParaRPr lang="en-US" sz="1050" dirty="0"/>
          </a:p>
        </p:txBody>
      </p:sp>
      <p:sp>
        <p:nvSpPr>
          <p:cNvPr id="32" name="asset 3"/>
          <p:cNvSpPr/>
          <p:nvPr/>
        </p:nvSpPr>
        <p:spPr>
          <a:xfrm>
            <a:off x="7040880" y="4754880"/>
            <a:ext cx="4462272" cy="118872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6F665F">
                <a:alpha val="12000"/>
              </a:srgbClr>
            </a:outerShdw>
          </a:effectLst>
        </p:spPr>
      </p:sp>
      <p:sp>
        <p:nvSpPr>
          <p:cNvPr id="33" name="Shape 29"/>
          <p:cNvSpPr/>
          <p:nvPr/>
        </p:nvSpPr>
        <p:spPr>
          <a:xfrm>
            <a:off x="7223760" y="5047488"/>
            <a:ext cx="603504" cy="603504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7223760" y="504748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300" dirty="0"/>
          </a:p>
        </p:txBody>
      </p:sp>
      <p:pic>
        <p:nvPicPr>
          <p:cNvPr id="3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0064" y="5193792"/>
            <a:ext cx="310896" cy="310896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8001000" y="4873752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買収ニーズのデータ</a:t>
            </a:r>
            <a:endParaRPr lang="en-US" sz="1350" dirty="0"/>
          </a:p>
        </p:txBody>
      </p:sp>
      <p:sp>
        <p:nvSpPr>
          <p:cNvPr id="37" name="Text 32"/>
          <p:cNvSpPr txBox="1"/>
          <p:nvPr/>
        </p:nvSpPr>
        <p:spPr>
          <a:xfrm>
            <a:off x="8001000" y="5230368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2"/>
                </a:solidFill>
              </a:rPr>
              <a:t>誰が何をいくらで買いたいか（本人同意のもと）。仲介・FA向けの商品になる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dot"/>
          <p:cNvSpPr/>
          <p:nvPr/>
        </p:nvSpPr>
        <p:spPr>
          <a:xfrm>
            <a:off x="685800" y="484632"/>
            <a:ext cx="109728" cy="1097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923544" y="365760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chemeClr val="accent1"/>
                </a:solidFill>
              </a:rPr>
              <a:t>BUSINESS PLAN</a:t>
            </a:r>
            <a:endParaRPr lang="en-US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685800" y="749808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3年目に売上8億円、コンサルタント10名体制</a:t>
            </a:r>
            <a:endParaRPr lang="en-US" sz="30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685800" y="1481328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2"/>
                </a:solidFill>
              </a:rPr>
              <a:t>月額のストック収益に、成約時の成功報酬が上乗せされる（仮説）</a:t>
            </a:r>
            <a:endParaRPr lang="en-US" sz="1350" dirty="0"/>
          </a:p>
        </p:txBody>
      </p:sp>
      <p:graphicFrame>
        <p:nvGraphicFramePr>
          <p:cNvPr id="6" name="plan chart" descr=""/>
          <p:cNvGraphicFramePr/>
          <p:nvPr/>
        </p:nvGraphicFramePr>
        <p:xfrm>
          <a:off x="685800" y="2011680"/>
          <a:ext cx="603504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kpi 1"/>
          <p:cNvSpPr/>
          <p:nvPr/>
        </p:nvSpPr>
        <p:spPr>
          <a:xfrm>
            <a:off x="7040880" y="2103120"/>
            <a:ext cx="4462272" cy="896112"/>
          </a:xfrm>
          <a:prstGeom prst="roundRect">
            <a:avLst>
              <a:gd name="adj" fmla="val 6122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6F665F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269480" y="2103120"/>
            <a:ext cx="1417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0.7億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2103120"/>
            <a:ext cx="2651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1年目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2"/>
                </a:solidFill>
              </a:rPr>
              <a:t>コンサル2名・顧客10社・成約2件</a:t>
            </a:r>
            <a:endParaRPr lang="en-US" sz="1250" dirty="0"/>
          </a:p>
        </p:txBody>
      </p:sp>
      <p:sp>
        <p:nvSpPr>
          <p:cNvPr id="10" name="kpi 2"/>
          <p:cNvSpPr/>
          <p:nvPr/>
        </p:nvSpPr>
        <p:spPr>
          <a:xfrm>
            <a:off x="7040880" y="3127248"/>
            <a:ext cx="4462272" cy="896112"/>
          </a:xfrm>
          <a:prstGeom prst="roundRect">
            <a:avLst>
              <a:gd name="adj" fmla="val 6122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6F665F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269480" y="3127248"/>
            <a:ext cx="1417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3.1億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8732520" y="3127248"/>
            <a:ext cx="2651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2年目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2"/>
                </a:solidFill>
              </a:rPr>
              <a:t>コンサル5名・顧客40社・成約8件</a:t>
            </a:r>
            <a:endParaRPr lang="en-US" sz="1250" dirty="0"/>
          </a:p>
        </p:txBody>
      </p:sp>
      <p:sp>
        <p:nvSpPr>
          <p:cNvPr id="13" name="kpi 3"/>
          <p:cNvSpPr/>
          <p:nvPr/>
        </p:nvSpPr>
        <p:spPr>
          <a:xfrm>
            <a:off x="7040880" y="4151376"/>
            <a:ext cx="4462272" cy="896112"/>
          </a:xfrm>
          <a:prstGeom prst="roundRect">
            <a:avLst>
              <a:gd name="adj" fmla="val 6122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6F665F">
                <a:alpha val="12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269480" y="4151376"/>
            <a:ext cx="1417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8.2億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8732520" y="4151376"/>
            <a:ext cx="2651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3年目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2"/>
                </a:solidFill>
              </a:rPr>
              <a:t>コンサル10名・顧客100社・成約25件</a:t>
            </a:r>
            <a:endParaRPr lang="en-US" sz="1250" dirty="0"/>
          </a:p>
        </p:txBody>
      </p:sp>
      <p:sp>
        <p:nvSpPr>
          <p:cNvPr id="16" name="conclusion bar"/>
          <p:cNvSpPr/>
          <p:nvPr/>
        </p:nvSpPr>
        <p:spPr>
          <a:xfrm>
            <a:off x="7040880" y="5230368"/>
            <a:ext cx="4462272" cy="868680"/>
          </a:xfrm>
          <a:prstGeom prst="roundRect">
            <a:avLst>
              <a:gd name="adj" fmla="val 421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60920" y="5230368"/>
            <a:ext cx="38221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コンサルタント1人あたり 年約8,000万円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10社×月50〜80万円＋年3件の成功報酬。人件費に対して粗利率は十分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dot"/>
          <p:cNvSpPr/>
          <p:nvPr/>
        </p:nvSpPr>
        <p:spPr>
          <a:xfrm>
            <a:off x="685800" y="484632"/>
            <a:ext cx="109728" cy="1097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923544" y="365760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chemeClr val="accent1"/>
                </a:solidFill>
              </a:rPr>
              <a:t>ROADMAP</a:t>
            </a:r>
            <a:endParaRPr lang="en-US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685800" y="749808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小さく有償で始め、データで勝つ</a:t>
            </a:r>
            <a:endParaRPr lang="en-US" sz="30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685800" y="1481328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2"/>
                </a:solidFill>
              </a:rPr>
              <a:t>段階ごとに「次へ進む条件」を決め、満たしてから投資を増やす</a:t>
            </a:r>
            <a:endParaRPr lang="en-US" sz="1350" dirty="0"/>
          </a:p>
        </p:txBody>
      </p:sp>
      <p:sp>
        <p:nvSpPr>
          <p:cNvPr id="6" name="phase 1"/>
          <p:cNvSpPr/>
          <p:nvPr/>
        </p:nvSpPr>
        <p:spPr>
          <a:xfrm>
            <a:off x="685800" y="2103120"/>
            <a:ext cx="3447288" cy="3931920"/>
          </a:xfrm>
          <a:prstGeom prst="roundRect">
            <a:avLst>
              <a:gd name="adj" fmla="val 1592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6F665F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60120" y="2331720"/>
            <a:ext cx="105156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60120" y="233172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bg1"/>
                </a:solidFill>
              </a:rPr>
              <a:t>PHASE 1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2148840" y="23317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0〜6ヶ月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立ち上げ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3337560"/>
            <a:ext cx="29260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中野＋コンサルタント2名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有償の顧客10社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AI分析ツールの初版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M&amp;A支援機関登録・法務整理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60120" y="5212080"/>
            <a:ext cx="2898648" cy="0"/>
          </a:xfrm>
          <a:prstGeom prst="line">
            <a:avLst/>
          </a:prstGeom>
          <a:noFill/>
          <a:ln w="9525">
            <a:solidFill>
              <a:srgbClr val="E6DCC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53035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次へ進む条件　</a:t>
            </a:r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継続意向 70%以上</a:t>
            </a:r>
            <a:endParaRPr lang="en-US" sz="1150" dirty="0"/>
          </a:p>
        </p:txBody>
      </p:sp>
      <p:sp>
        <p:nvSpPr>
          <p:cNvPr id="14" name="phase 2"/>
          <p:cNvSpPr/>
          <p:nvPr/>
        </p:nvSpPr>
        <p:spPr>
          <a:xfrm>
            <a:off x="4370832" y="2103120"/>
            <a:ext cx="3447288" cy="3931920"/>
          </a:xfrm>
          <a:prstGeom prst="roundRect">
            <a:avLst>
              <a:gd name="adj" fmla="val 1592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6F665F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45152" y="2331720"/>
            <a:ext cx="105156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645152" y="233172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bg1"/>
                </a:solidFill>
              </a:rPr>
              <a:t>PHASE 2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833872" y="23317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6〜18ヶ月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645152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拡大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4645152" y="3337560"/>
            <a:ext cx="29260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コンサルタント5名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顧客40社・成約8件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提携金融機関3〜5行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認証バイヤー制度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45152" y="5212080"/>
            <a:ext cx="2898648" cy="0"/>
          </a:xfrm>
          <a:prstGeom prst="line">
            <a:avLst/>
          </a:prstGeom>
          <a:noFill/>
          <a:ln w="9525">
            <a:solidFill>
              <a:srgbClr val="E6DCC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45152" y="53035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次へ進む条件　</a:t>
            </a:r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成約8件</a:t>
            </a:r>
            <a:endParaRPr lang="en-US" sz="1150" dirty="0"/>
          </a:p>
        </p:txBody>
      </p:sp>
      <p:sp>
        <p:nvSpPr>
          <p:cNvPr id="22" name="phase 3"/>
          <p:cNvSpPr/>
          <p:nvPr/>
        </p:nvSpPr>
        <p:spPr>
          <a:xfrm>
            <a:off x="8055864" y="2103120"/>
            <a:ext cx="3447288" cy="3931920"/>
          </a:xfrm>
          <a:prstGeom prst="roundRect">
            <a:avLst>
              <a:gd name="adj" fmla="val 159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330184" y="2331720"/>
            <a:ext cx="105156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30184" y="233172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bg1"/>
                </a:solidFill>
              </a:rPr>
              <a:t>PHASE 3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9518904" y="23317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18〜36ヶ月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8330184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データで勝つ</a:t>
            </a:r>
            <a:endParaRPr lang="en-US" sz="1900" dirty="0"/>
          </a:p>
        </p:txBody>
      </p:sp>
      <p:sp>
        <p:nvSpPr>
          <p:cNvPr id="27" name="Text 25"/>
          <p:cNvSpPr txBox="1"/>
          <p:nvPr/>
        </p:nvSpPr>
        <p:spPr>
          <a:xfrm>
            <a:off x="8330184" y="3337560"/>
            <a:ext cx="29260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コンサルタント10名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成約データでAI価格算定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AIツール単体のSaaS提供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仲介・FA向けの打診サービス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330184" y="5212080"/>
            <a:ext cx="2898648" cy="0"/>
          </a:xfrm>
          <a:prstGeom prst="line">
            <a:avLst/>
          </a:prstGeom>
          <a:noFill/>
          <a:ln w="9525">
            <a:solidFill>
              <a:srgbClr val="4E443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330184" y="53035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次へ進む条件　</a:t>
            </a:r>
            <a:pPr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顧客100社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tif circle"/>
          <p:cNvSpPr/>
          <p:nvPr/>
        </p:nvSpPr>
        <p:spPr>
          <a:xfrm>
            <a:off x="8503920" y="-2011680"/>
            <a:ext cx="5120640" cy="51206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" name="kicker dot"/>
          <p:cNvSpPr/>
          <p:nvPr/>
        </p:nvSpPr>
        <p:spPr>
          <a:xfrm>
            <a:off x="685800" y="1216152"/>
            <a:ext cx="109728" cy="1097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0"/>
          <p:cNvSpPr/>
          <p:nvPr>
            <p:ph idx="100" type="body" hasCustomPrompt="1"/>
          </p:nvPr>
        </p:nvSpPr>
        <p:spPr>
          <a:xfrm>
            <a:off x="923544" y="1097280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accent4"/>
                </a:solidFill>
              </a:rPr>
              <a:t>C L O S I N G</a:t>
            </a:r>
            <a:endParaRPr lang="en-US" sz="12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685800" y="1554480"/>
            <a:ext cx="8961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M&amp;Aは、才能ではなく</a:t>
            </a:r>
            <a:endParaRPr lang="en-US" sz="3600" dirty="0"/>
          </a:p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手順で勝てる。</a:t>
            </a:r>
            <a:endParaRPr lang="en-US" sz="3600" dirty="0"/>
          </a:p>
        </p:txBody>
      </p:sp>
      <p:sp>
        <p:nvSpPr>
          <p:cNvPr id="6" name="Text 1"/>
          <p:cNvSpPr/>
          <p:nvPr>
            <p:ph idx="103" type="body" hasCustomPrompt="1"/>
          </p:nvPr>
        </p:nvSpPr>
        <p:spPr>
          <a:xfrm>
            <a:off x="685800" y="3566160"/>
            <a:ext cx="9601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その手順を、49戦の勝ちと負けから。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AIと一緒に、御社の担当者へ渡します。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値づけを決める。PMIの人を決める。売る時期を決める。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この3つを買う前に紙に書けば、負けても致命傷にはなりません。</a:t>
            </a:r>
            <a:endParaRPr lang="en-US" sz="1500" dirty="0"/>
          </a:p>
        </p:txBody>
      </p:sp>
      <p:sp>
        <p:nvSpPr>
          <p:cNvPr id="7" name="Text 1"/>
          <p:cNvSpPr/>
          <p:nvPr>
            <p:ph idx="104" type="body" hasCustomPrompt="1"/>
          </p:nvPr>
        </p:nvSpPr>
        <p:spPr>
          <a:xfrm>
            <a:off x="685800" y="57150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中野 邦人 ／ 株式会社WineBank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akano Espresso">
  <a:themeElements>
    <a:clrScheme name="Nakano Espresso">
      <a:dk1>
        <a:srgbClr val="2B2622"/>
      </a:dk1>
      <a:lt1>
        <a:srgbClr val="FFFFFF"/>
      </a:lt1>
      <a:dk2>
        <a:srgbClr val="1C1714"/>
      </a:dk2>
      <a:lt2>
        <a:srgbClr val="F5EFE4"/>
      </a:lt2>
      <a:accent1>
        <a:srgbClr val="A78450"/>
      </a:accent1>
      <a:accent2>
        <a:srgbClr val="6F665F"/>
      </a:accent2>
      <a:accent3>
        <a:srgbClr val="E6DCCB"/>
      </a:accent3>
      <a:accent4>
        <a:srgbClr val="C9AE7E"/>
      </a:accent4>
      <a:accent5>
        <a:srgbClr val="9A8F84"/>
      </a:accent5>
      <a:accent6>
        <a:srgbClr val="F3E9D6"/>
      </a:accent6>
      <a:hlink>
        <a:srgbClr val="A78450"/>
      </a:hlink>
      <a:folHlink>
        <a:srgbClr val="6F665F"/>
      </a:folHlink>
    </a:clrScheme>
    <a:fontScheme name="Nakano Espresso">
      <a:majorFont>
        <a:latin typeface="Meiryo"/>
        <a:ea typeface="Meiryo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Meiryo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中小企業のAI M&amp;A部門 事業概要</dc:title>
  <dc:subject>PptxGenJS Presentation</dc:subject>
  <dc:creator>PptxGenJS</dc:creator>
  <cp:lastModifiedBy>PptxGenJS</cp:lastModifiedBy>
  <cp:revision>1</cp:revision>
  <dcterms:created xsi:type="dcterms:W3CDTF">2026-10-25T13:43:58Z</dcterms:created>
  <dcterms:modified xsi:type="dcterms:W3CDTF">2026-10-25T13:43:58Z</dcterms:modified>
</cp:coreProperties>
</file>