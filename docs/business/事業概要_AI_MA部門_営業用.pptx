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導入" id="{b1943de3-4e16-6666-eb17-9b2351e09031}">
          <p14:sldIdLst>
            <p14:sldId id="256"/>
            <p14:sldId id="257"/>
          </p14:sldIdLst>
        </p14:section>
        <p14:section name="課題と原点" id="{e5211d3a-7db3-0749-eb19-88a8815b34ff}">
          <p14:sldIdLst>
            <p14:sldId id="258"/>
            <p14:sldId id="259"/>
            <p14:sldId id="260"/>
          </p14:sldIdLst>
        </p14:section>
        <p14:section name="サービス" id="{852f87aa-3964-295e-d6c5-983c04506938}">
          <p14:sldIdLst>
            <p14:sldId id="261"/>
            <p14:sldId id="262"/>
            <p14:sldId id="263"/>
            <p14:sldId id="264"/>
            <p14:sldId id="265"/>
            <p14:sldId id="266"/>
            <p14:sldId id="267"/>
            <p14:sldId id="268"/>
            <p14:sldId id="269"/>
          </p14:sldIdLst>
        </p14:section>
        <p14:section name="事業性" id="{a0ba1df1-101c-b290-a4d5-aa4fdd403e24}">
          <p14:sldIdLst>
            <p14:sldId id="270"/>
            <p14:sldId id="271"/>
            <p14:sldId id="272"/>
          </p14:sldIdLst>
        </p14:section>
        <p14:section name="まとめ" id="{2cc0af29-a7e4-c0b3-0a18-bb9f561fa124}">
          <p14:sldIdLst>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B2622"/>
                </a:solidFill>
                <a:latin typeface="+mn-lt"/>
              </a:defRPr>
            </a:pPr>
            <a:r>
              <a:rPr sz="1200" b="0" i="0" u="none" strike="noStrike">
                <a:solidFill>
                  <a:srgbClr val="2B2622"/>
                </a:solidFill>
                <a:latin typeface="+mn-lt"/>
              </a:rPr>
              <a:t>売上高（億円）</a:t>
            </a:r>
          </a:p>
        </c:rich>
      </c:tx>
      <c:layout/>
      <c:overlay val="0"/>
    </c:title>
    <c:autoTitleDeleted val="0"/>
    <c:plotArea>
      <c:layout/>
      <c:barChart>
        <c:barDir val="col"/>
        <c:grouping val="stacked"/>
        <c:varyColors val="0"/>
        <c:ser>
          <c:idx val="0"/>
          <c:order val="0"/>
          <c:tx>
            <c:strRef>
              <c:f>Sheet1!$B$1</c:f>
              <c:strCache>
                <c:ptCount val="1"/>
                <c:pt idx="0">
                  <c:v>ツール月額</c:v>
                </c:pt>
              </c:strCache>
            </c:strRef>
          </c:tx>
          <c:spPr>
            <a:solidFill>
              <a:srgbClr val="C9AE7E"/>
            </a:solidFill>
            <a:effectLst/>
          </c:spPr>
          <c:invertIfNegative val="0"/>
          <c:dLbls>
            <c:numFmt formatCode="0.0" sourceLinked="0"/>
            <c:txPr>
              <a:bodyPr/>
              <a:lstStyle/>
              <a:p>
                <a:pPr>
                  <a:defRPr b="0" i="0" strike="noStrike" sz="1000" u="none">
                    <a:solidFill>
                      <a:srgbClr val="FFFFFF"/>
                    </a:solidFill>
                    <a:latin typeface="+mn-lt"/>
                  </a:defRPr>
                </a:pPr>
              </a:p>
            </c:txPr>
            <c:dLblPos val="ctr"/>
            <c:showLegendKey val="0"/>
            <c:showVal val="0"/>
            <c:showCatName val="0"/>
            <c:showSerName val="0"/>
            <c:showPercent val="0"/>
            <c:showBubbleSize val="0"/>
            <c:showLeaderLines val="0"/>
          </c:dLbls>
          <c:cat>
            <c:multiLvlStrRef>
              <c:f>Sheet1!$A$2:$A$4</c:f>
              <c:multiLvlStrCache>
                <c:ptCount val="3"/>
                <c:lvl>
                  <c:pt idx="0">
                    <c:v>1年目</c:v>
                  </c:pt>
                  <c:pt idx="1">
                    <c:v>2年目</c:v>
                  </c:pt>
                  <c:pt idx="2">
                    <c:v>3年目</c:v>
                  </c:pt>
                </c:lvl>
              </c:multiLvlStrCache>
            </c:multiLvlStrRef>
          </c:cat>
          <c:val>
            <c:numRef>
              <c:f>Sheet1!$B$2:$B$4</c:f>
              <c:numCache>
                <c:formatCode>General</c:formatCode>
                <c:ptCount val="3"/>
                <c:pt idx="0">
                  <c:v>0.12</c:v>
                </c:pt>
                <c:pt idx="1">
                  <c:v>0.6</c:v>
                </c:pt>
                <c:pt idx="2">
                  <c:v>2.4</c:v>
                </c:pt>
              </c:numCache>
            </c:numRef>
          </c:val>
        </c:ser>
        <c:ser>
          <c:idx val="1"/>
          <c:order val="1"/>
          <c:tx>
            <c:strRef>
              <c:f>Sheet1!$C$1</c:f>
              <c:strCache>
                <c:ptCount val="1"/>
                <c:pt idx="0">
                  <c:v>派遣・伴走の月額</c:v>
                </c:pt>
              </c:strCache>
            </c:strRef>
          </c:tx>
          <c:spPr>
            <a:solidFill>
              <a:srgbClr val="2B2622"/>
            </a:solidFill>
            <a:effectLst/>
          </c:spPr>
          <c:invertIfNegative val="0"/>
          <c:dLbls>
            <c:numFmt formatCode="0.0" sourceLinked="0"/>
            <c:txPr>
              <a:bodyPr/>
              <a:lstStyle/>
              <a:p>
                <a:pPr>
                  <a:defRPr b="0" i="0" strike="noStrike" sz="1000" u="none">
                    <a:solidFill>
                      <a:srgbClr val="FFFFFF"/>
                    </a:solidFill>
                    <a:latin typeface="+mn-lt"/>
                  </a:defRPr>
                </a:pPr>
              </a:p>
            </c:txPr>
            <c:dLblPos val="ctr"/>
            <c:showLegendKey val="0"/>
            <c:showVal val="0"/>
            <c:showCatName val="0"/>
            <c:showSerName val="0"/>
            <c:showPercent val="0"/>
            <c:showBubbleSize val="0"/>
            <c:showLeaderLines val="0"/>
          </c:dLbls>
          <c:cat>
            <c:multiLvlStrRef>
              <c:f>Sheet1!$A$2:$A$4</c:f>
              <c:multiLvlStrCache>
                <c:ptCount val="3"/>
                <c:lvl>
                  <c:pt idx="0">
                    <c:v>1年目</c:v>
                  </c:pt>
                  <c:pt idx="1">
                    <c:v>2年目</c:v>
                  </c:pt>
                  <c:pt idx="2">
                    <c:v>3年目</c:v>
                  </c:pt>
                </c:lvl>
              </c:multiLvlStrCache>
            </c:multiLvlStrRef>
          </c:cat>
          <c:val>
            <c:numRef>
              <c:f>Sheet1!$C$2:$C$4</c:f>
              <c:numCache>
                <c:formatCode>General</c:formatCode>
                <c:ptCount val="3"/>
                <c:pt idx="0">
                  <c:v>0.62</c:v>
                </c:pt>
                <c:pt idx="1">
                  <c:v>2.59</c:v>
                </c:pt>
                <c:pt idx="2">
                  <c:v>6.72</c:v>
                </c:pt>
              </c:numCache>
            </c:numRef>
          </c:val>
        </c:ser>
        <c:ser>
          <c:idx val="2"/>
          <c:order val="2"/>
          <c:tx>
            <c:strRef>
              <c:f>Sheet1!$D$1</c:f>
              <c:strCache>
                <c:ptCount val="1"/>
                <c:pt idx="0">
                  <c:v>成功報酬</c:v>
                </c:pt>
              </c:strCache>
            </c:strRef>
          </c:tx>
          <c:spPr>
            <a:solidFill>
              <a:srgbClr val="A78450"/>
            </a:solidFill>
            <a:effectLst/>
          </c:spPr>
          <c:invertIfNegative val="0"/>
          <c:dLbls>
            <c:numFmt formatCode="0.0" sourceLinked="0"/>
            <c:txPr>
              <a:bodyPr/>
              <a:lstStyle/>
              <a:p>
                <a:pPr>
                  <a:defRPr b="0" i="0" strike="noStrike" sz="1000" u="none">
                    <a:solidFill>
                      <a:srgbClr val="FFFFFF"/>
                    </a:solidFill>
                    <a:latin typeface="+mn-lt"/>
                  </a:defRPr>
                </a:pPr>
              </a:p>
            </c:txPr>
            <c:dLblPos val="ctr"/>
            <c:showLegendKey val="0"/>
            <c:showVal val="0"/>
            <c:showCatName val="0"/>
            <c:showSerName val="0"/>
            <c:showPercent val="0"/>
            <c:showBubbleSize val="0"/>
            <c:showLeaderLines val="0"/>
          </c:dLbls>
          <c:cat>
            <c:multiLvlStrRef>
              <c:f>Sheet1!$A$2:$A$4</c:f>
              <c:multiLvlStrCache>
                <c:ptCount val="3"/>
                <c:lvl>
                  <c:pt idx="0">
                    <c:v>1年目</c:v>
                  </c:pt>
                  <c:pt idx="1">
                    <c:v>2年目</c:v>
                  </c:pt>
                  <c:pt idx="2">
                    <c:v>3年目</c:v>
                  </c:pt>
                </c:lvl>
              </c:multiLvlStrCache>
            </c:multiLvlStrRef>
          </c:cat>
          <c:val>
            <c:numRef>
              <c:f>Sheet1!$D$2:$D$4</c:f>
              <c:numCache>
                <c:formatCode>General</c:formatCode>
                <c:ptCount val="3"/>
                <c:pt idx="0">
                  <c:v>0.12</c:v>
                </c:pt>
                <c:pt idx="1">
                  <c:v>0.48</c:v>
                </c:pt>
                <c:pt idx="2">
                  <c:v>1.5</c:v>
                </c:pt>
              </c:numCache>
            </c:numRef>
          </c:val>
        </c:ser>
        <c:dLbls>
          <c:numFmt formatCode="0.0" sourceLinked="0"/>
          <c:txPr>
            <a:bodyPr/>
            <a:lstStyle/>
            <a:p>
              <a:pPr>
                <a:defRPr b="0" i="0" strike="noStrike" sz="1000" u="none">
                  <a:solidFill>
                    <a:srgbClr val="FFFFFF"/>
                  </a:solidFill>
                  <a:latin typeface="+mn-lt"/>
                </a:defRPr>
              </a:pPr>
            </a:p>
          </c:txPr>
          <c:dLblPos val="ctr"/>
          <c:showLegendKey val="0"/>
          <c:showVal val="0"/>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B2622"/>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DE6DA"/>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9A8F84"/>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6F665F"/>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M&amp;A担当がいない会社に、AIと49戦の経験で『社内M&amp;A部門』を月額で提供する事業です。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誰に・何を・なぜ勝てるか。この3つだけ覚えて帰ってもらうページです。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市場はある。でも買い手側には、判断できる人も、味方も、買った後の支援もない。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ここが一番伝えたいところ。自分も負けた。だから、同じ負け方をする人を減らしたい。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見るのは2つ。買った値段に対して資産がいくら残ったか、営業利益がいくらに育ったか。第1期は資産では0.7倍、ただ保有中に7.6億の営業利益を出した。第2期は純資産より安く買っているので、資産は買値の1.3倍。そのうえ単年度で2.4億の営業利益に育っている。飲食A社は8.2億で買って純資産13億、今期の営業利益1.3億。飲食B事業は1,400万で買って純資産7,000万、今期8,000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原則の左側は私の実例、右側はそれをサービスでどう再現するか。案件名は伏せています。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人だけ出せばSES、情報を集めるだけならMANDAと同じ。ツールで入って、そのうえに人を乗せる二段構え。担当が抜けてもツールとデータが残るので、解約されにくい。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M&amp;A版のREINS。オープンになっている案件は全部ここに集まる状態をつくる。MANDAと違うのは、集めた先にAIと人がいること。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AIは道具。差は、49戦のルールでAIの出した答えを判定するところにある。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成約データは持てないが、IMなら集められる。関東の生産・卸・飲食・不動産に絞って相場をつくり、適正価格をアドバイスする。支援が始まったら、受け取ったIMをすべて取り込み、お客様のBS/PLと強みに掛け合わせて分析する。分析したIMは匿名化してデータベースに戻すので、使うほど精度が上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左のマップで立ち位置、右の表で違い。費用は仲介の1/10以下で、買った後と人材育成まで入っている。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一番のお客様は、M&amp;Aで成長したいのに担当者がいない会社。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成果は成約だけではない。12ヶ月後に担当者が自分で回せるようになることを約束する。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入口はツールの月10万円。有望案件が見えたら担当を派遣するスタンダードへ。プレミアムの価値は中野本人との壁打ちで、枠数を絞る。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最初は人とノウハウで勝つ。続けるほどデータが溜まり、後から来た競合が追いつけなくなる。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数字は仮説。ツール月10万円、派遣は1人10社で月50〜80万円、年3件成約が前提。ツールの社数には派遣先は含めていない。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最初の半年は、中野と2名で10社。ここで継続意向が取れたら拡大する。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講演の締めと同じメッセージで終える。手順は再現できる、だから教えられる。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K_COV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914400" y="1371600"/>
            <a:ext cx="9144000" cy="347472"/>
          </a:xfrm>
          <a:prstGeom prst="rect">
            <a:avLst/>
          </a:prstGeom>
          <a:noFill/>
          <a:ln/>
        </p:spPr>
        <p:txBody>
          <a:bodyPr wrap="square" rtlCol="0"/>
          <a:lstStyle>
            <a:lvl1pPr indent="0" marL="0">
              <a:buNone/>
              <a:defRPr lang="en-US" sz="1200" b="1" spc="100" kern="0" dirty="0">
                <a:solidFill>
                  <a:schemeClr val="accent4"/>
                </a:solidFill>
              </a:defRPr>
            </a:lvl1pPr>
          </a:lstStyle>
          <a:p>
            <a:pPr indent="0" marL="0">
              <a:buNone/>
            </a:pPr>
            <a:endParaRPr lang="en-US" sz="1200" dirty="0"/>
          </a:p>
        </p:txBody>
      </p:sp>
      <p:sp>
        <p:nvSpPr>
          <p:cNvPr id="3" name="Text 0"/>
          <p:cNvSpPr/>
          <p:nvPr>
            <p:ph idx="101" type="title" hasCustomPrompt="1"/>
          </p:nvPr>
        </p:nvSpPr>
        <p:spPr>
          <a:xfrm>
            <a:off x="685800" y="1828800"/>
            <a:ext cx="868680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685800" y="3657600"/>
            <a:ext cx="8686800" cy="548640"/>
          </a:xfrm>
          <a:prstGeom prst="rect">
            <a:avLst/>
          </a:prstGeom>
          <a:noFill/>
          <a:ln/>
        </p:spPr>
        <p:txBody>
          <a:bodyPr wrap="square" rtlCol="0"/>
          <a:lstStyle>
            <a:lvl1pPr indent="0" marL="0">
              <a:buNone/>
              <a:defRPr lang="en-US" sz="1500" dirty="0">
                <a:solidFill>
                  <a:schemeClr val="accent3"/>
                </a:solidFill>
              </a:defRPr>
            </a:lvl1pPr>
          </a:lstStyle>
          <a:p>
            <a:pPr indent="0" marL="0">
              <a:buNone/>
            </a:pPr>
            <a:endParaRPr lang="en-US" sz="1500" dirty="0"/>
          </a:p>
        </p:txBody>
      </p:sp>
      <p:sp>
        <p:nvSpPr>
          <p:cNvPr id="5" name="Shape 0"/>
          <p:cNvSpPr/>
          <p:nvPr/>
        </p:nvSpPr>
        <p:spPr>
          <a:xfrm>
            <a:off x="685800" y="4526280"/>
            <a:ext cx="2194560" cy="18288"/>
          </a:xfrm>
          <a:prstGeom prst="rect">
            <a:avLst/>
          </a:prstGeom>
          <a:solidFill>
            <a:schemeClr val="accent1"/>
          </a:solidFill>
          <a:ln w="12700">
            <a:solidFill>
              <a:schemeClr val="accent1"/>
            </a:solidFill>
            <a:prstDash val="solid"/>
          </a:ln>
        </p:spPr>
      </p:sp>
      <p:sp>
        <p:nvSpPr>
          <p:cNvPr id="6" name="Text 1"/>
          <p:cNvSpPr/>
          <p:nvPr>
            <p:ph idx="104" type="body" hasCustomPrompt="1"/>
          </p:nvPr>
        </p:nvSpPr>
        <p:spPr>
          <a:xfrm>
            <a:off x="685800" y="4754880"/>
            <a:ext cx="8229600" cy="411480"/>
          </a:xfrm>
          <a:prstGeom prst="rect">
            <a:avLst/>
          </a:prstGeom>
          <a:noFill/>
          <a:ln/>
        </p:spPr>
        <p:txBody>
          <a:bodyPr wrap="square" rtlCol="0"/>
          <a:lstStyle>
            <a:lvl1pPr indent="0" marL="0">
              <a:buNone/>
              <a:defRPr lang="en-US" sz="1800" b="1" dirty="0">
                <a:solidFill>
                  <a:schemeClr val="bg1"/>
                </a:solidFill>
              </a:defRPr>
            </a:lvl1pPr>
          </a:lstStyle>
          <a:p>
            <a:pPr indent="0" marL="0">
              <a:buNone/>
            </a:pPr>
            <a:endParaRPr lang="en-US" sz="1800" dirty="0"/>
          </a:p>
        </p:txBody>
      </p:sp>
      <p:sp>
        <p:nvSpPr>
          <p:cNvPr id="7" name="Text 1"/>
          <p:cNvSpPr/>
          <p:nvPr>
            <p:ph idx="105" type="body" hasCustomPrompt="1"/>
          </p:nvPr>
        </p:nvSpPr>
        <p:spPr>
          <a:xfrm>
            <a:off x="685800" y="5166360"/>
            <a:ext cx="8229600" cy="320040"/>
          </a:xfrm>
          <a:prstGeom prst="rect">
            <a:avLst/>
          </a:prstGeom>
          <a:noFill/>
          <a:ln/>
        </p:spPr>
        <p:txBody>
          <a:bodyPr wrap="square" rtlCol="0"/>
          <a:lstStyle>
            <a:lvl1pPr indent="0" marL="0">
              <a:buNone/>
              <a:defRPr lang="en-US" sz="1100" dirty="0">
                <a:solidFill>
                  <a:schemeClr val="accent5"/>
                </a:solidFill>
              </a:defRPr>
            </a:lvl1pPr>
          </a:lstStyle>
          <a:p>
            <a:pPr indent="0" marL="0">
              <a:buNone/>
            </a:pPr>
            <a:endParaRPr lang="en-US" sz="11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K_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923544" y="365760"/>
            <a:ext cx="9601200" cy="329184"/>
          </a:xfrm>
          <a:prstGeom prst="rect">
            <a:avLst/>
          </a:prstGeom>
          <a:noFill/>
          <a:ln/>
        </p:spPr>
        <p:txBody>
          <a:bodyPr wrap="square" rtlCol="0"/>
          <a:lstStyle>
            <a:lvl1pPr indent="0" marL="0">
              <a:buNone/>
              <a:defRPr lang="en-US" sz="1200" b="1" spc="24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685800" y="749808"/>
            <a:ext cx="10820095" cy="73152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4" name="Text 0"/>
          <p:cNvSpPr/>
          <p:nvPr>
            <p:ph idx="102" type="body" hasCustomPrompt="1"/>
          </p:nvPr>
        </p:nvSpPr>
        <p:spPr>
          <a:xfrm>
            <a:off x="685800" y="1481328"/>
            <a:ext cx="10820095" cy="365760"/>
          </a:xfrm>
          <a:prstGeom prst="rect">
            <a:avLst/>
          </a:prstGeom>
          <a:noFill/>
          <a:ln/>
        </p:spPr>
        <p:txBody>
          <a:bodyPr wrap="square" rtlCol="0"/>
          <a:lstStyle>
            <a:lvl1pPr indent="0" marL="0">
              <a:buNone/>
              <a:defRPr lang="en-US" sz="1350" dirty="0">
                <a:solidFill>
                  <a:schemeClr val="accent2"/>
                </a:solidFill>
              </a:defRPr>
            </a:lvl1pPr>
          </a:lstStyle>
          <a:p>
            <a:pPr indent="0" marL="0">
              <a:buNone/>
            </a:pPr>
            <a:endParaRPr lang="en-US" sz="1350" dirty="0"/>
          </a:p>
        </p:txBody>
      </p:sp>
      <p:sp>
        <p:nvSpPr>
          <p:cNvPr id="5" name="Text 0"/>
          <p:cNvSpPr/>
          <p:nvPr/>
        </p:nvSpPr>
        <p:spPr>
          <a:xfrm>
            <a:off x="685800" y="6446520"/>
            <a:ext cx="5486400" cy="256032"/>
          </a:xfrm>
          <a:prstGeom prst="rect">
            <a:avLst/>
          </a:prstGeom>
          <a:noFill/>
          <a:ln/>
        </p:spPr>
        <p:txBody>
          <a:bodyPr wrap="square" lIns="0" tIns="0" rIns="0" bIns="0" rtlCol="0" anchor="ctr"/>
          <a:lstStyle/>
          <a:p>
            <a:pPr indent="0" marL="0">
              <a:buNone/>
            </a:pPr>
            <a:r>
              <a:rPr lang="en-US" sz="900" dirty="0">
                <a:solidFill>
                  <a:schemeClr val="accent5"/>
                </a:solidFill>
              </a:rPr>
              <a:t>Confidential</a:t>
            </a:r>
            <a:endParaRPr lang="en-US" sz="900" dirty="0"/>
          </a:p>
        </p:txBody>
      </p:sp>
      <p:sp>
        <p:nvSpPr>
          <p:cNvPr id="25" name="Slide Number Placeholder 0"/>
          <p:cNvSpPr>
            <a:spLocks noGrp="1"/>
          </p:cNvSpPr>
          <p:nvPr>
            <p:ph type="sldNum" sz="quarter" idx="4294967295"/>
          </p:nvPr>
        </p:nvSpPr>
        <p:spPr>
          <a:xfrm>
            <a:off x="10957255"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NK_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923544" y="1097280"/>
            <a:ext cx="9144000" cy="347472"/>
          </a:xfrm>
          <a:prstGeom prst="rect">
            <a:avLst/>
          </a:prstGeom>
          <a:noFill/>
          <a:ln/>
        </p:spPr>
        <p:txBody>
          <a:bodyPr wrap="square" rtlCol="0"/>
          <a:lstStyle>
            <a:lvl1pPr indent="0" marL="0">
              <a:buNone/>
              <a:defRPr lang="en-US" sz="1200" b="1" spc="400" kern="0" dirty="0">
                <a:solidFill>
                  <a:schemeClr val="accent4"/>
                </a:solidFill>
              </a:defRPr>
            </a:lvl1pPr>
          </a:lstStyle>
          <a:p>
            <a:pPr indent="0" marL="0">
              <a:buNone/>
            </a:pPr>
            <a:endParaRPr lang="en-US" sz="1200" dirty="0"/>
          </a:p>
        </p:txBody>
      </p:sp>
      <p:sp>
        <p:nvSpPr>
          <p:cNvPr id="3" name="Text 0"/>
          <p:cNvSpPr/>
          <p:nvPr>
            <p:ph idx="101" type="title" hasCustomPrompt="1"/>
          </p:nvPr>
        </p:nvSpPr>
        <p:spPr>
          <a:xfrm>
            <a:off x="685800" y="1554480"/>
            <a:ext cx="8961120" cy="164592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Shape 0"/>
          <p:cNvSpPr/>
          <p:nvPr/>
        </p:nvSpPr>
        <p:spPr>
          <a:xfrm>
            <a:off x="685800" y="3337560"/>
            <a:ext cx="1828800" cy="18288"/>
          </a:xfrm>
          <a:prstGeom prst="rect">
            <a:avLst/>
          </a:prstGeom>
          <a:solidFill>
            <a:schemeClr val="accent1"/>
          </a:solidFill>
          <a:ln w="12700">
            <a:solidFill>
              <a:schemeClr val="accent1"/>
            </a:solidFill>
            <a:prstDash val="solid"/>
          </a:ln>
        </p:spPr>
      </p:sp>
      <p:sp>
        <p:nvSpPr>
          <p:cNvPr id="5" name="Text 1"/>
          <p:cNvSpPr/>
          <p:nvPr>
            <p:ph idx="103" type="body" hasCustomPrompt="1"/>
          </p:nvPr>
        </p:nvSpPr>
        <p:spPr>
          <a:xfrm>
            <a:off x="685800" y="3566160"/>
            <a:ext cx="9601200" cy="1920240"/>
          </a:xfrm>
          <a:prstGeom prst="rect">
            <a:avLst/>
          </a:prstGeom>
          <a:noFill/>
          <a:ln/>
        </p:spPr>
        <p:txBody>
          <a:bodyPr wrap="square" rtlCol="0"/>
          <a:lstStyle>
            <a:lvl1pPr indent="0" marL="0">
              <a:buNone/>
              <a:defRPr lang="en-US" sz="1500" dirty="0">
                <a:solidFill>
                  <a:schemeClr val="accent3"/>
                </a:solidFill>
              </a:defRPr>
            </a:lvl1pPr>
          </a:lstStyle>
          <a:p>
            <a:pPr indent="0" marL="0">
              <a:buNone/>
            </a:pPr>
            <a:endParaRPr lang="en-US" sz="1500" dirty="0"/>
          </a:p>
        </p:txBody>
      </p:sp>
      <p:sp>
        <p:nvSpPr>
          <p:cNvPr id="6" name="Text 1"/>
          <p:cNvSpPr/>
          <p:nvPr>
            <p:ph idx="104" type="body" hasCustomPrompt="1"/>
          </p:nvPr>
        </p:nvSpPr>
        <p:spPr>
          <a:xfrm>
            <a:off x="685800" y="5715000"/>
            <a:ext cx="9144000" cy="365760"/>
          </a:xfrm>
          <a:prstGeom prst="rect">
            <a:avLst/>
          </a:prstGeom>
          <a:noFill/>
          <a:ln/>
        </p:spPr>
        <p:txBody>
          <a:bodyPr wrap="square" rtlCol="0"/>
          <a:lstStyle>
            <a:lvl1pPr indent="0" marL="0">
              <a:buNone/>
              <a:defRPr lang="en-US" sz="1300" b="1" dirty="0">
                <a:solidFill>
                  <a:schemeClr val="bg1"/>
                </a:solidFill>
              </a:defRPr>
            </a:lvl1pPr>
          </a:lstStyle>
          <a:p>
            <a:pPr indent="0" marL="0">
              <a:buNone/>
            </a:pP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57255"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motif circle"/>
          <p:cNvSpPr/>
          <p:nvPr/>
        </p:nvSpPr>
        <p:spPr>
          <a:xfrm>
            <a:off x="8503920" y="-2011680"/>
            <a:ext cx="5120640" cy="5120640"/>
          </a:xfrm>
          <a:prstGeom prst="ellipse">
            <a:avLst/>
          </a:prstGeom>
          <a:solidFill>
            <a:schemeClr val="tx2"/>
          </a:solidFill>
          <a:ln w="12700">
            <a:solidFill>
              <a:schemeClr val="tx2"/>
            </a:solidFill>
            <a:prstDash val="solid"/>
          </a:ln>
        </p:spPr>
      </p:sp>
      <p:sp>
        <p:nvSpPr>
          <p:cNvPr id="3" name="kicker dot"/>
          <p:cNvSpPr/>
          <p:nvPr/>
        </p:nvSpPr>
        <p:spPr>
          <a:xfrm>
            <a:off x="685800" y="1490472"/>
            <a:ext cx="109728" cy="109728"/>
          </a:xfrm>
          <a:prstGeom prst="ellipse">
            <a:avLst/>
          </a:prstGeom>
          <a:solidFill>
            <a:schemeClr val="accent1"/>
          </a:solidFill>
          <a:ln w="12700">
            <a:solidFill>
              <a:schemeClr val="accent1"/>
            </a:solidFill>
            <a:prstDash val="solid"/>
          </a:ln>
        </p:spPr>
      </p:sp>
      <p:sp>
        <p:nvSpPr>
          <p:cNvPr id="4" name="Text 0"/>
          <p:cNvSpPr/>
          <p:nvPr>
            <p:ph idx="100" type="body" hasCustomPrompt="1"/>
          </p:nvPr>
        </p:nvSpPr>
        <p:spPr>
          <a:xfrm>
            <a:off x="914400" y="1371600"/>
            <a:ext cx="9144000" cy="347472"/>
          </a:xfrm>
          <a:prstGeom prst="rect">
            <a:avLst/>
          </a:prstGeom>
          <a:noFill/>
          <a:ln/>
        </p:spPr>
        <p:txBody>
          <a:bodyPr wrap="square" lIns="0" tIns="0" rIns="0" bIns="0" rtlCol="0"/>
          <a:lstStyle/>
          <a:p>
            <a:pPr indent="0" marL="0">
              <a:buNone/>
            </a:pPr>
            <a:r>
              <a:rPr lang="en-US" sz="1200" b="1" spc="100" kern="0" dirty="0">
                <a:solidFill>
                  <a:schemeClr val="accent4"/>
                </a:solidFill>
              </a:rPr>
              <a:t>BUSINESS OVERVIEW ／ 事業概要</a:t>
            </a:r>
            <a:endParaRPr lang="en-US" sz="1200" dirty="0"/>
          </a:p>
        </p:txBody>
      </p:sp>
      <p:sp>
        <p:nvSpPr>
          <p:cNvPr id="5" name="Text 0"/>
          <p:cNvSpPr/>
          <p:nvPr>
            <p:ph idx="101" type="title" hasCustomPrompt="1"/>
          </p:nvPr>
        </p:nvSpPr>
        <p:spPr>
          <a:xfrm>
            <a:off x="685800" y="1828800"/>
            <a:ext cx="8686800" cy="1737360"/>
          </a:xfrm>
          <a:prstGeom prst="rect">
            <a:avLst/>
          </a:prstGeom>
          <a:noFill/>
          <a:ln/>
        </p:spPr>
        <p:txBody>
          <a:bodyPr wrap="square" lIns="0" tIns="0" rIns="0" bIns="0" rtlCol="0" anchor="t"/>
          <a:lstStyle/>
          <a:p>
            <a:pPr algn="l" indent="0" marL="0">
              <a:buNone/>
            </a:pPr>
            <a:r>
              <a:rPr lang="en-US" sz="4000" b="1" dirty="0">
                <a:solidFill>
                  <a:schemeClr val="bg1"/>
                </a:solidFill>
              </a:rPr>
              <a:t>中小企業に、</a:t>
            </a:r>
            <a:endParaRPr lang="en-US" sz="4000" dirty="0"/>
          </a:p>
          <a:p>
            <a:pPr algn="l" indent="0" marL="0">
              <a:buNone/>
            </a:pPr>
            <a:r>
              <a:rPr lang="en-US" sz="4000" b="1" dirty="0">
                <a:solidFill>
                  <a:schemeClr val="bg1"/>
                </a:solidFill>
              </a:rPr>
              <a:t>AIの「M&amp;A部門」を。</a:t>
            </a:r>
            <a:endParaRPr lang="en-US" sz="4000" dirty="0"/>
          </a:p>
        </p:txBody>
      </p:sp>
      <p:sp>
        <p:nvSpPr>
          <p:cNvPr id="6" name="Text 0"/>
          <p:cNvSpPr/>
          <p:nvPr>
            <p:ph idx="102" type="body" hasCustomPrompt="1"/>
          </p:nvPr>
        </p:nvSpPr>
        <p:spPr>
          <a:xfrm>
            <a:off x="685800" y="3657600"/>
            <a:ext cx="8686800" cy="548640"/>
          </a:xfrm>
          <a:prstGeom prst="rect">
            <a:avLst/>
          </a:prstGeom>
          <a:noFill/>
          <a:ln/>
        </p:spPr>
        <p:txBody>
          <a:bodyPr wrap="square" lIns="0" tIns="0" rIns="0" bIns="0" rtlCol="0"/>
          <a:lstStyle/>
          <a:p>
            <a:pPr indent="0" marL="0">
              <a:buNone/>
            </a:pPr>
            <a:r>
              <a:rPr lang="en-US" sz="1500" dirty="0">
                <a:solidFill>
                  <a:schemeClr val="accent3"/>
                </a:solidFill>
              </a:rPr>
              <a:t>〜 49戦の手順×AIで、M&amp;Aで不幸になる人をなくす 〜</a:t>
            </a:r>
            <a:endParaRPr lang="en-US" sz="1500" dirty="0"/>
          </a:p>
        </p:txBody>
      </p:sp>
      <p:sp>
        <p:nvSpPr>
          <p:cNvPr id="7" name="Text 1"/>
          <p:cNvSpPr/>
          <p:nvPr>
            <p:ph idx="104" type="body" hasCustomPrompt="1"/>
          </p:nvPr>
        </p:nvSpPr>
        <p:spPr>
          <a:xfrm>
            <a:off x="685800" y="4754880"/>
            <a:ext cx="8229600" cy="411480"/>
          </a:xfrm>
          <a:prstGeom prst="rect">
            <a:avLst/>
          </a:prstGeom>
          <a:noFill/>
          <a:ln/>
        </p:spPr>
        <p:txBody>
          <a:bodyPr wrap="square" lIns="0" tIns="0" rIns="0" bIns="0" rtlCol="0"/>
          <a:lstStyle/>
          <a:p>
            <a:pPr indent="0" marL="0">
              <a:buNone/>
            </a:pPr>
            <a:r>
              <a:rPr lang="en-US" sz="1800" b="1" dirty="0">
                <a:solidFill>
                  <a:schemeClr val="bg1"/>
                </a:solidFill>
              </a:rPr>
              <a:t>中野 邦人</a:t>
            </a:r>
            <a:endParaRPr lang="en-US" sz="1800" dirty="0"/>
          </a:p>
        </p:txBody>
      </p:sp>
      <p:sp>
        <p:nvSpPr>
          <p:cNvPr id="8" name="Text 1"/>
          <p:cNvSpPr/>
          <p:nvPr>
            <p:ph idx="105" type="body" hasCustomPrompt="1"/>
          </p:nvPr>
        </p:nvSpPr>
        <p:spPr>
          <a:xfrm>
            <a:off x="685800" y="5166360"/>
            <a:ext cx="8229600" cy="320040"/>
          </a:xfrm>
          <a:prstGeom prst="rect">
            <a:avLst/>
          </a:prstGeom>
          <a:noFill/>
          <a:ln/>
        </p:spPr>
        <p:txBody>
          <a:bodyPr wrap="square" lIns="0" tIns="0" rIns="0" bIns="0" rtlCol="0"/>
          <a:lstStyle/>
          <a:p>
            <a:pPr indent="0" marL="0">
              <a:buNone/>
            </a:pPr>
            <a:r>
              <a:rPr lang="en-US" sz="1100" dirty="0">
                <a:solidFill>
                  <a:schemeClr val="accent5"/>
                </a:solidFill>
              </a:rPr>
              <a:t>株式会社WineBank 代表取締役 ／ 株式会社あどばる 代表取締役会長</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dot"/>
          <p:cNvSpPr/>
          <p:nvPr/>
        </p:nvSpPr>
        <p:spPr>
          <a:xfrm>
            <a:off x="685800" y="484632"/>
            <a:ext cx="109728" cy="109728"/>
          </a:xfrm>
          <a:prstGeom prst="ellipse">
            <a:avLst/>
          </a:prstGeom>
          <a:solidFill>
            <a:schemeClr val="accent1"/>
          </a:solidFill>
          <a:ln w="12700">
            <a:solidFill>
              <a:schemeClr val="accent1"/>
            </a:solidFill>
            <a:prstDash val="solid"/>
          </a:ln>
        </p:spPr>
      </p:sp>
      <p:sp>
        <p:nvSpPr>
          <p:cNvPr id="3" name="Text 0"/>
          <p:cNvSpPr/>
          <p:nvPr>
            <p:ph idx="100" type="body" hasCustomPrompt="1"/>
          </p:nvPr>
        </p:nvSpPr>
        <p:spPr>
          <a:xfrm>
            <a:off x="923544" y="365760"/>
            <a:ext cx="9601200" cy="329184"/>
          </a:xfrm>
          <a:prstGeom prst="rect">
            <a:avLst/>
          </a:prstGeom>
          <a:noFill/>
          <a:ln/>
        </p:spPr>
        <p:txBody>
          <a:bodyPr wrap="square" lIns="0" tIns="0" rIns="0" bIns="0" rtlCol="0" anchor="ctr"/>
          <a:lstStyle/>
          <a:p>
            <a:pPr indent="0" marL="0">
              <a:buNone/>
            </a:pPr>
            <a:r>
              <a:rPr lang="en-US" sz="1200" b="1" spc="240" kern="0" dirty="0">
                <a:solidFill>
                  <a:schemeClr val="accent1"/>
                </a:solidFill>
              </a:rPr>
              <a:t>ONE PAGE</a:t>
            </a:r>
            <a:endParaRPr lang="en-US" sz="1200" dirty="0"/>
          </a:p>
        </p:txBody>
      </p:sp>
      <p:sp>
        <p:nvSpPr>
          <p:cNvPr id="4" name="Text 0"/>
          <p:cNvSpPr/>
          <p:nvPr>
            <p:ph idx="101" type="title" hasCustomPrompt="1"/>
          </p:nvPr>
        </p:nvSpPr>
        <p:spPr>
          <a:xfrm>
            <a:off x="685800" y="749808"/>
            <a:ext cx="10820095" cy="731520"/>
          </a:xfrm>
          <a:prstGeom prst="rect">
            <a:avLst/>
          </a:prstGeom>
          <a:noFill/>
          <a:ln/>
        </p:spPr>
        <p:txBody>
          <a:bodyPr wrap="square" lIns="0" tIns="0" rIns="0" bIns="0" rtlCol="0" anchor="ctr"/>
          <a:lstStyle/>
          <a:p>
            <a:pPr algn="l" indent="0" marL="0">
              <a:buNone/>
            </a:pPr>
            <a:r>
              <a:rPr lang="en-US" sz="3000" b="1" dirty="0">
                <a:solidFill>
                  <a:schemeClr val="tx1"/>
                </a:solidFill>
              </a:rPr>
              <a:t>この事業を、ひと言でいうと</a:t>
            </a:r>
            <a:endParaRPr lang="en-US" sz="3000" dirty="0"/>
          </a:p>
        </p:txBody>
      </p:sp>
      <p:sp>
        <p:nvSpPr>
          <p:cNvPr id="5" name="Text 0"/>
          <p:cNvSpPr/>
          <p:nvPr>
            <p:ph idx="102" type="body" hasCustomPrompt="1"/>
          </p:nvPr>
        </p:nvSpPr>
        <p:spPr>
          <a:xfrm>
            <a:off x="685800" y="1481328"/>
            <a:ext cx="10820095" cy="365760"/>
          </a:xfrm>
          <a:prstGeom prst="rect">
            <a:avLst/>
          </a:prstGeom>
          <a:noFill/>
          <a:ln/>
        </p:spPr>
        <p:txBody>
          <a:bodyPr wrap="square" lIns="0" tIns="0" rIns="0" bIns="0" rtlCol="0" anchor="t"/>
          <a:lstStyle/>
          <a:p>
            <a:pPr indent="0" marL="0">
              <a:buNone/>
            </a:pPr>
            <a:r>
              <a:rPr lang="en-US" sz="1350" dirty="0">
                <a:solidFill>
                  <a:schemeClr val="accent2"/>
                </a:solidFill>
              </a:rPr>
              <a:t>M&amp;A担当がいない会社に入り込み、買収を成功させながら担当者を育てる</a:t>
            </a:r>
            <a:endParaRPr lang="en-US" sz="1350" dirty="0"/>
          </a:p>
        </p:txBody>
      </p:sp>
      <p:sp>
        <p:nvSpPr>
          <p:cNvPr id="6" name="one page 01"/>
          <p:cNvSpPr/>
          <p:nvPr/>
        </p:nvSpPr>
        <p:spPr>
          <a:xfrm>
            <a:off x="685800" y="2103120"/>
            <a:ext cx="3447288" cy="2697480"/>
          </a:xfrm>
          <a:prstGeom prst="roundRect">
            <a:avLst>
              <a:gd name="adj" fmla="val 2034"/>
            </a:avLst>
          </a:prstGeom>
          <a:solidFill>
            <a:schemeClr val="bg2"/>
          </a:solidFill>
          <a:ln w="9525">
            <a:solidFill>
              <a:schemeClr val="accent3"/>
            </a:solidFill>
            <a:prstDash val="solid"/>
          </a:ln>
          <a:effectLst>
            <a:outerShdw sx="100000" sy="100000" kx="0" ky="0" algn="bl" rotWithShape="0" blurRad="76200" dist="25400" dir="5400000">
              <a:srgbClr val="6F665F">
                <a:alpha val="12000"/>
              </a:srgbClr>
            </a:outerShdw>
          </a:effectLst>
        </p:spPr>
      </p:sp>
      <p:sp>
        <p:nvSpPr>
          <p:cNvPr id="7" name="Text 5"/>
          <p:cNvSpPr txBox="1"/>
          <p:nvPr/>
        </p:nvSpPr>
        <p:spPr>
          <a:xfrm>
            <a:off x="3154680" y="2240280"/>
            <a:ext cx="777240" cy="457200"/>
          </a:xfrm>
          <a:prstGeom prst="rect">
            <a:avLst/>
          </a:prstGeom>
          <a:noFill/>
          <a:ln/>
        </p:spPr>
        <p:txBody>
          <a:bodyPr wrap="square" lIns="0" tIns="0" rIns="0" bIns="0" rtlCol="0" anchor="t"/>
          <a:lstStyle/>
          <a:p>
            <a:pPr algn="r" indent="0" marL="0">
              <a:buNone/>
            </a:pPr>
            <a:r>
              <a:rPr lang="en-US" sz="2400" b="1" dirty="0">
                <a:solidFill>
                  <a:schemeClr val="accent3"/>
                </a:solidFill>
              </a:rPr>
              <a:t>01</a:t>
            </a:r>
            <a:endParaRPr lang="en-US" sz="2400" dirty="0"/>
          </a:p>
        </p:txBody>
      </p:sp>
      <p:sp>
        <p:nvSpPr>
          <p:cNvPr id="8" name="Shape 6"/>
          <p:cNvSpPr/>
          <p:nvPr/>
        </p:nvSpPr>
        <p:spPr>
          <a:xfrm>
            <a:off x="960120" y="2331720"/>
            <a:ext cx="1188720" cy="274320"/>
          </a:xfrm>
          <a:prstGeom prst="roundRect">
            <a:avLst>
              <a:gd name="adj" fmla="val 50000"/>
            </a:avLst>
          </a:prstGeom>
          <a:solidFill>
            <a:schemeClr val="accent1"/>
          </a:solidFill>
          <a:ln w="12700">
            <a:solidFill>
              <a:schemeClr val="accent1"/>
            </a:solidFill>
            <a:prstDash val="solid"/>
          </a:ln>
        </p:spPr>
      </p:sp>
      <p:sp>
        <p:nvSpPr>
          <p:cNvPr id="9" name="Text 7"/>
          <p:cNvSpPr txBox="1"/>
          <p:nvPr/>
        </p:nvSpPr>
        <p:spPr>
          <a:xfrm>
            <a:off x="960120" y="2331720"/>
            <a:ext cx="1188720" cy="274320"/>
          </a:xfrm>
          <a:prstGeom prst="rect">
            <a:avLst/>
          </a:prstGeom>
          <a:noFill/>
          <a:ln/>
        </p:spPr>
        <p:txBody>
          <a:bodyPr wrap="square" lIns="0" tIns="0" rIns="0" bIns="0" rtlCol="0" anchor="ctr"/>
          <a:lstStyle/>
          <a:p>
            <a:pPr algn="ctr" indent="0" marL="0">
              <a:buNone/>
            </a:pPr>
            <a:r>
              <a:rPr lang="en-US" sz="950" b="1" dirty="0">
                <a:solidFill>
                  <a:schemeClr val="bg1"/>
                </a:solidFill>
              </a:rPr>
              <a:t>誰に</a:t>
            </a:r>
            <a:endParaRPr lang="en-US" sz="950" dirty="0"/>
          </a:p>
        </p:txBody>
      </p:sp>
      <p:sp>
        <p:nvSpPr>
          <p:cNvPr id="10" name="Text 8"/>
          <p:cNvSpPr txBox="1"/>
          <p:nvPr/>
        </p:nvSpPr>
        <p:spPr>
          <a:xfrm>
            <a:off x="960120" y="2880360"/>
            <a:ext cx="2926080" cy="1783080"/>
          </a:xfrm>
          <a:prstGeom prst="rect">
            <a:avLst/>
          </a:prstGeom>
          <a:noFill/>
          <a:ln/>
        </p:spPr>
        <p:txBody>
          <a:bodyPr wrap="square" lIns="0" tIns="0" rIns="0" bIns="0" rtlCol="0" anchor="t"/>
          <a:lstStyle/>
          <a:p>
            <a:pPr indent="0" marL="0">
              <a:buNone/>
            </a:pPr>
            <a:r>
              <a:rPr lang="en-US" sz="1400" dirty="0">
                <a:solidFill>
                  <a:schemeClr val="tx1"/>
                </a:solidFill>
              </a:rPr>
              <a:t>M&amp;Aで成長したいが、社内にM&amp;A担当がいない・育てたい年商10〜100億円の企業</a:t>
            </a:r>
            <a:endParaRPr lang="en-US" sz="1400" dirty="0"/>
          </a:p>
        </p:txBody>
      </p:sp>
      <p:sp>
        <p:nvSpPr>
          <p:cNvPr id="11" name="one page 02"/>
          <p:cNvSpPr/>
          <p:nvPr/>
        </p:nvSpPr>
        <p:spPr>
          <a:xfrm>
            <a:off x="4370832" y="2103120"/>
            <a:ext cx="3447288" cy="2697480"/>
          </a:xfrm>
          <a:prstGeom prst="roundRect">
            <a:avLst>
              <a:gd name="adj" fmla="val 2034"/>
            </a:avLst>
          </a:prstGeom>
          <a:solidFill>
            <a:schemeClr val="bg2"/>
          </a:solidFill>
          <a:ln w="9525">
            <a:solidFill>
              <a:schemeClr val="accent3"/>
            </a:solidFill>
            <a:prstDash val="solid"/>
          </a:ln>
          <a:effectLst>
            <a:outerShdw sx="100000" sy="100000" kx="0" ky="0" algn="bl" rotWithShape="0" blurRad="76200" dist="25400" dir="5400000">
              <a:srgbClr val="6F665F">
                <a:alpha val="12000"/>
              </a:srgbClr>
            </a:outerShdw>
          </a:effectLst>
        </p:spPr>
      </p:sp>
      <p:sp>
        <p:nvSpPr>
          <p:cNvPr id="12" name="Text 10"/>
          <p:cNvSpPr txBox="1"/>
          <p:nvPr/>
        </p:nvSpPr>
        <p:spPr>
          <a:xfrm>
            <a:off x="6839712" y="2240280"/>
            <a:ext cx="777240" cy="457200"/>
          </a:xfrm>
          <a:prstGeom prst="rect">
            <a:avLst/>
          </a:prstGeom>
          <a:noFill/>
          <a:ln/>
        </p:spPr>
        <p:txBody>
          <a:bodyPr wrap="square" lIns="0" tIns="0" rIns="0" bIns="0" rtlCol="0" anchor="t"/>
          <a:lstStyle/>
          <a:p>
            <a:pPr algn="r" indent="0" marL="0">
              <a:buNone/>
            </a:pPr>
            <a:r>
              <a:rPr lang="en-US" sz="2400" b="1" dirty="0">
                <a:solidFill>
                  <a:schemeClr val="accent3"/>
                </a:solidFill>
              </a:rPr>
              <a:t>02</a:t>
            </a:r>
            <a:endParaRPr lang="en-US" sz="2400" dirty="0"/>
          </a:p>
        </p:txBody>
      </p:sp>
      <p:sp>
        <p:nvSpPr>
          <p:cNvPr id="13" name="Shape 11"/>
          <p:cNvSpPr/>
          <p:nvPr/>
        </p:nvSpPr>
        <p:spPr>
          <a:xfrm>
            <a:off x="4645152" y="2331720"/>
            <a:ext cx="1188720" cy="274320"/>
          </a:xfrm>
          <a:prstGeom prst="roundRect">
            <a:avLst>
              <a:gd name="adj" fmla="val 50000"/>
            </a:avLst>
          </a:prstGeom>
          <a:solidFill>
            <a:schemeClr val="accent1"/>
          </a:solidFill>
          <a:ln w="12700">
            <a:solidFill>
              <a:schemeClr val="accent1"/>
            </a:solidFill>
            <a:prstDash val="solid"/>
          </a:ln>
        </p:spPr>
      </p:sp>
      <p:sp>
        <p:nvSpPr>
          <p:cNvPr id="14" name="Text 12"/>
          <p:cNvSpPr txBox="1"/>
          <p:nvPr/>
        </p:nvSpPr>
        <p:spPr>
          <a:xfrm>
            <a:off x="4645152" y="2331720"/>
            <a:ext cx="1188720" cy="274320"/>
          </a:xfrm>
          <a:prstGeom prst="rect">
            <a:avLst/>
          </a:prstGeom>
          <a:noFill/>
          <a:ln/>
        </p:spPr>
        <p:txBody>
          <a:bodyPr wrap="square" lIns="0" tIns="0" rIns="0" bIns="0" rtlCol="0" anchor="ctr"/>
          <a:lstStyle/>
          <a:p>
            <a:pPr algn="ctr" indent="0" marL="0">
              <a:buNone/>
            </a:pPr>
            <a:r>
              <a:rPr lang="en-US" sz="950" b="1" dirty="0">
                <a:solidFill>
                  <a:schemeClr val="bg1"/>
                </a:solidFill>
              </a:rPr>
              <a:t>何を</a:t>
            </a:r>
            <a:endParaRPr lang="en-US" sz="950" dirty="0"/>
          </a:p>
        </p:txBody>
      </p:sp>
      <p:sp>
        <p:nvSpPr>
          <p:cNvPr id="15" name="Text 13"/>
          <p:cNvSpPr txBox="1"/>
          <p:nvPr/>
        </p:nvSpPr>
        <p:spPr>
          <a:xfrm>
            <a:off x="4645152" y="2880360"/>
            <a:ext cx="2926080" cy="1783080"/>
          </a:xfrm>
          <a:prstGeom prst="rect">
            <a:avLst/>
          </a:prstGeom>
          <a:noFill/>
          <a:ln/>
        </p:spPr>
        <p:txBody>
          <a:bodyPr wrap="square" lIns="0" tIns="0" rIns="0" bIns="0" rtlCol="0" anchor="t"/>
          <a:lstStyle/>
          <a:p>
            <a:pPr indent="0" marL="0">
              <a:buNone/>
            </a:pPr>
            <a:r>
              <a:rPr lang="en-US" sz="1400" dirty="0">
                <a:solidFill>
                  <a:schemeClr val="tx1"/>
                </a:solidFill>
              </a:rPr>
              <a:t>①M&amp;A担当の派遣 ②自社データを学習するAI ③全案件が集まるM&amp;A情報REINS。この3点セットを月額で</a:t>
            </a:r>
            <a:endParaRPr lang="en-US" sz="1400" dirty="0"/>
          </a:p>
        </p:txBody>
      </p:sp>
      <p:sp>
        <p:nvSpPr>
          <p:cNvPr id="16" name="one page 03"/>
          <p:cNvSpPr/>
          <p:nvPr/>
        </p:nvSpPr>
        <p:spPr>
          <a:xfrm>
            <a:off x="8055864" y="2103120"/>
            <a:ext cx="3447288" cy="2697480"/>
          </a:xfrm>
          <a:prstGeom prst="roundRect">
            <a:avLst>
              <a:gd name="adj" fmla="val 2034"/>
            </a:avLst>
          </a:prstGeom>
          <a:solidFill>
            <a:schemeClr val="bg2"/>
          </a:solidFill>
          <a:ln w="9525">
            <a:solidFill>
              <a:schemeClr val="accent3"/>
            </a:solidFill>
            <a:prstDash val="solid"/>
          </a:ln>
          <a:effectLst>
            <a:outerShdw sx="100000" sy="100000" kx="0" ky="0" algn="bl" rotWithShape="0" blurRad="76200" dist="25400" dir="5400000">
              <a:srgbClr val="6F665F">
                <a:alpha val="12000"/>
              </a:srgbClr>
            </a:outerShdw>
          </a:effectLst>
        </p:spPr>
      </p:sp>
      <p:sp>
        <p:nvSpPr>
          <p:cNvPr id="17" name="Text 15"/>
          <p:cNvSpPr txBox="1"/>
          <p:nvPr/>
        </p:nvSpPr>
        <p:spPr>
          <a:xfrm>
            <a:off x="10524744" y="2240280"/>
            <a:ext cx="777240" cy="457200"/>
          </a:xfrm>
          <a:prstGeom prst="rect">
            <a:avLst/>
          </a:prstGeom>
          <a:noFill/>
          <a:ln/>
        </p:spPr>
        <p:txBody>
          <a:bodyPr wrap="square" lIns="0" tIns="0" rIns="0" bIns="0" rtlCol="0" anchor="t"/>
          <a:lstStyle/>
          <a:p>
            <a:pPr algn="r" indent="0" marL="0">
              <a:buNone/>
            </a:pPr>
            <a:r>
              <a:rPr lang="en-US" sz="2400" b="1" dirty="0">
                <a:solidFill>
                  <a:schemeClr val="accent3"/>
                </a:solidFill>
              </a:rPr>
              <a:t>03</a:t>
            </a:r>
            <a:endParaRPr lang="en-US" sz="2400" dirty="0"/>
          </a:p>
        </p:txBody>
      </p:sp>
      <p:sp>
        <p:nvSpPr>
          <p:cNvPr id="18" name="Shape 16"/>
          <p:cNvSpPr/>
          <p:nvPr/>
        </p:nvSpPr>
        <p:spPr>
          <a:xfrm>
            <a:off x="8330184" y="2331720"/>
            <a:ext cx="1188720" cy="274320"/>
          </a:xfrm>
          <a:prstGeom prst="roundRect">
            <a:avLst>
              <a:gd name="adj" fmla="val 50000"/>
            </a:avLst>
          </a:prstGeom>
          <a:solidFill>
            <a:schemeClr val="accent1"/>
          </a:solidFill>
          <a:ln w="12700">
            <a:solidFill>
              <a:schemeClr val="accent1"/>
            </a:solidFill>
            <a:prstDash val="solid"/>
          </a:ln>
        </p:spPr>
      </p:sp>
      <p:sp>
        <p:nvSpPr>
          <p:cNvPr id="19" name="Text 17"/>
          <p:cNvSpPr txBox="1"/>
          <p:nvPr/>
        </p:nvSpPr>
        <p:spPr>
          <a:xfrm>
            <a:off x="8330184" y="2331720"/>
            <a:ext cx="1188720" cy="274320"/>
          </a:xfrm>
          <a:prstGeom prst="rect">
            <a:avLst/>
          </a:prstGeom>
          <a:noFill/>
          <a:ln/>
        </p:spPr>
        <p:txBody>
          <a:bodyPr wrap="square" lIns="0" tIns="0" rIns="0" bIns="0" rtlCol="0" anchor="ctr"/>
          <a:lstStyle/>
          <a:p>
            <a:pPr algn="ctr" indent="0" marL="0">
              <a:buNone/>
            </a:pPr>
            <a:r>
              <a:rPr lang="en-US" sz="950" b="1" dirty="0">
                <a:solidFill>
                  <a:schemeClr val="bg1"/>
                </a:solidFill>
              </a:rPr>
              <a:t>なぜ勝てる</a:t>
            </a:r>
            <a:endParaRPr lang="en-US" sz="950" dirty="0"/>
          </a:p>
        </p:txBody>
      </p:sp>
      <p:sp>
        <p:nvSpPr>
          <p:cNvPr id="20" name="Text 18"/>
          <p:cNvSpPr txBox="1"/>
          <p:nvPr/>
        </p:nvSpPr>
        <p:spPr>
          <a:xfrm>
            <a:off x="8330184" y="2880360"/>
            <a:ext cx="2926080" cy="1783080"/>
          </a:xfrm>
          <a:prstGeom prst="rect">
            <a:avLst/>
          </a:prstGeom>
          <a:noFill/>
          <a:ln/>
        </p:spPr>
        <p:txBody>
          <a:bodyPr wrap="square" lIns="0" tIns="0" rIns="0" bIns="0" rtlCol="0" anchor="t"/>
          <a:lstStyle/>
          <a:p>
            <a:pPr indent="0" marL="0">
              <a:buNone/>
            </a:pPr>
            <a:r>
              <a:rPr lang="en-US" sz="1400" dirty="0">
                <a:solidFill>
                  <a:schemeClr val="tx1"/>
                </a:solidFill>
              </a:rPr>
              <a:t>49戦の勝ちと負けから作った判断ルールをAIに組み込み、買い手の側だけに立つ</a:t>
            </a:r>
            <a:endParaRPr lang="en-US" sz="1400" dirty="0"/>
          </a:p>
        </p:txBody>
      </p:sp>
      <p:sp>
        <p:nvSpPr>
          <p:cNvPr id="21" name="conclusion bar"/>
          <p:cNvSpPr/>
          <p:nvPr/>
        </p:nvSpPr>
        <p:spPr>
          <a:xfrm>
            <a:off x="685800" y="5074920"/>
            <a:ext cx="10820095" cy="868680"/>
          </a:xfrm>
          <a:prstGeom prst="roundRect">
            <a:avLst>
              <a:gd name="adj" fmla="val 4211"/>
            </a:avLst>
          </a:prstGeom>
          <a:solidFill>
            <a:schemeClr val="tx1"/>
          </a:solidFill>
          <a:ln w="12700">
            <a:solidFill>
              <a:schemeClr val="tx1"/>
            </a:solidFill>
            <a:prstDash val="solid"/>
          </a:ln>
        </p:spPr>
      </p:sp>
      <p:sp>
        <p:nvSpPr>
          <p:cNvPr id="22" name="Text 20"/>
          <p:cNvSpPr txBox="1"/>
          <p:nvPr/>
        </p:nvSpPr>
        <p:spPr>
          <a:xfrm>
            <a:off x="1005840" y="5074920"/>
            <a:ext cx="10180015" cy="868680"/>
          </a:xfrm>
          <a:prstGeom prst="rect">
            <a:avLst/>
          </a:prstGeom>
          <a:noFill/>
          <a:ln/>
        </p:spPr>
        <p:txBody>
          <a:bodyPr wrap="square" lIns="0" tIns="0" rIns="0" bIns="0" rtlCol="0" anchor="ctr"/>
          <a:lstStyle/>
          <a:p>
            <a:pPr indent="0" marL="0">
              <a:buNone/>
            </a:pPr>
            <a:r>
              <a:rPr lang="en-US" sz="1600" b="1" dirty="0">
                <a:solidFill>
                  <a:schemeClr val="bg1"/>
                </a:solidFill>
              </a:rPr>
              <a:t>月額50万円〜で「社内M&amp;A部門」を持てる。成約したときだけ成功報酬</a:t>
            </a:r>
            <a:endParaRPr lang="en-US" sz="1300" dirty="0"/>
          </a:p>
          <a:p>
            <a:pPr indent="0" marL="0">
              <a:buNone/>
            </a:pPr>
            <a:r>
              <a:rPr lang="en-US" sz="1100" dirty="0">
                <a:solidFill>
                  <a:schemeClr val="accent3"/>
                </a:solidFill>
              </a:rPr>
              <a:t>仲介の高額手数料でも、マッチングサイトの丸投げでもない第三の選択肢</a:t>
            </a:r>
            <a:endParaRPr lang="en-US" sz="1300" dirty="0"/>
          </a:p>
        </p:txBody>
      </p:sp>
      <p:sp>
        <p:nvSpPr>
          <p:cNvPr id="25" name="Slide Number Placeholder 0"/>
          <p:cNvSpPr>
            <a:spLocks noGrp="1"/>
          </p:cNvSpPr>
          <p:nvPr>
            <p:ph type="sldNum" sz="quarter" idx="4294967295"/>
          </p:nvPr>
        </p:nvSpPr>
        <p:spPr>
          <a:xfrm>
            <a:off x="10957255"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dot"/>
          <p:cNvSpPr/>
          <p:nvPr/>
        </p:nvSpPr>
        <p:spPr>
          <a:xfrm>
            <a:off x="685800" y="484632"/>
            <a:ext cx="109728" cy="109728"/>
          </a:xfrm>
          <a:prstGeom prst="ellipse">
            <a:avLst/>
          </a:prstGeom>
          <a:solidFill>
            <a:schemeClr val="accent1"/>
          </a:solidFill>
          <a:ln w="12700">
            <a:solidFill>
              <a:schemeClr val="accent1"/>
            </a:solidFill>
            <a:prstDash val="solid"/>
          </a:ln>
        </p:spPr>
      </p:sp>
      <p:sp>
        <p:nvSpPr>
          <p:cNvPr id="3" name="Text 0"/>
          <p:cNvSpPr/>
          <p:nvPr>
            <p:ph idx="100" type="body" hasCustomPrompt="1"/>
          </p:nvPr>
        </p:nvSpPr>
        <p:spPr>
          <a:xfrm>
            <a:off x="923544" y="365760"/>
            <a:ext cx="9601200" cy="329184"/>
          </a:xfrm>
          <a:prstGeom prst="rect">
            <a:avLst/>
          </a:prstGeom>
          <a:noFill/>
          <a:ln/>
        </p:spPr>
        <p:txBody>
          <a:bodyPr wrap="square" lIns="0" tIns="0" rIns="0" bIns="0" rtlCol="0" anchor="ctr"/>
          <a:lstStyle/>
          <a:p>
            <a:pPr indent="0" marL="0">
              <a:buNone/>
            </a:pPr>
            <a:r>
              <a:rPr lang="en-US" sz="1200" b="1" spc="240" kern="0" dirty="0">
                <a:solidFill>
                  <a:schemeClr val="accent1"/>
                </a:solidFill>
              </a:rPr>
              <a:t>PROBLEM</a:t>
            </a:r>
            <a:endParaRPr lang="en-US" sz="1200" dirty="0"/>
          </a:p>
        </p:txBody>
      </p:sp>
      <p:sp>
        <p:nvSpPr>
          <p:cNvPr id="4" name="Text 0"/>
          <p:cNvSpPr/>
          <p:nvPr>
            <p:ph idx="101" type="title" hasCustomPrompt="1"/>
          </p:nvPr>
        </p:nvSpPr>
        <p:spPr>
          <a:xfrm>
            <a:off x="685800" y="749808"/>
            <a:ext cx="10820095" cy="731520"/>
          </a:xfrm>
          <a:prstGeom prst="rect">
            <a:avLst/>
          </a:prstGeom>
          <a:noFill/>
          <a:ln/>
        </p:spPr>
        <p:txBody>
          <a:bodyPr wrap="square" lIns="0" tIns="0" rIns="0" bIns="0" rtlCol="0" anchor="ctr"/>
          <a:lstStyle/>
          <a:p>
            <a:pPr algn="l" indent="0" marL="0">
              <a:buNone/>
            </a:pPr>
            <a:r>
              <a:rPr lang="en-US" sz="3000" b="1" dirty="0">
                <a:solidFill>
                  <a:schemeClr val="tx1"/>
                </a:solidFill>
              </a:rPr>
              <a:t>買い手の味方で、買った後まで責任を持つ人がいない</a:t>
            </a:r>
            <a:endParaRPr lang="en-US" sz="3000" dirty="0"/>
          </a:p>
        </p:txBody>
      </p:sp>
      <p:sp>
        <p:nvSpPr>
          <p:cNvPr id="5" name="Text 0"/>
          <p:cNvSpPr/>
          <p:nvPr>
            <p:ph idx="102" type="body" hasCustomPrompt="1"/>
          </p:nvPr>
        </p:nvSpPr>
        <p:spPr>
          <a:xfrm>
            <a:off x="685800" y="1481328"/>
            <a:ext cx="10820095" cy="365760"/>
          </a:xfrm>
          <a:prstGeom prst="rect">
            <a:avLst/>
          </a:prstGeom>
          <a:noFill/>
          <a:ln/>
        </p:spPr>
        <p:txBody>
          <a:bodyPr wrap="square" lIns="0" tIns="0" rIns="0" bIns="0" rtlCol="0" anchor="t"/>
          <a:lstStyle/>
          <a:p>
            <a:pPr indent="0" marL="0">
              <a:buNone/>
            </a:pPr>
            <a:r>
              <a:rPr lang="en-US" sz="1350" dirty="0">
                <a:solidFill>
                  <a:schemeClr val="accent2"/>
                </a:solidFill>
              </a:rPr>
              <a:t>M&amp;Aの需要は増え続けているのに、中小企業の買い手は一人で戦っている</a:t>
            </a:r>
            <a:endParaRPr lang="en-US" sz="1350" dirty="0"/>
          </a:p>
        </p:txBody>
      </p:sp>
      <p:sp>
        <p:nvSpPr>
          <p:cNvPr id="6" name="stat 後継者のいない70歳以上の経営者（2025年時点）"/>
          <p:cNvSpPr/>
          <p:nvPr/>
        </p:nvSpPr>
        <p:spPr>
          <a:xfrm>
            <a:off x="685800" y="2057400"/>
            <a:ext cx="3447288" cy="1965960"/>
          </a:xfrm>
          <a:prstGeom prst="roundRect">
            <a:avLst>
              <a:gd name="adj" fmla="val 2791"/>
            </a:avLst>
          </a:prstGeom>
          <a:solidFill>
            <a:schemeClr val="bg2"/>
          </a:solidFill>
          <a:ln w="9525">
            <a:solidFill>
              <a:schemeClr val="accent3"/>
            </a:solidFill>
            <a:prstDash val="solid"/>
          </a:ln>
          <a:effectLst>
            <a:outerShdw sx="100000" sy="100000" kx="0" ky="0" algn="bl" rotWithShape="0" blurRad="76200" dist="25400" dir="5400000">
              <a:srgbClr val="6F665F">
                <a:alpha val="12000"/>
              </a:srgbClr>
            </a:outerShdw>
          </a:effectLst>
        </p:spPr>
      </p:sp>
      <p:sp>
        <p:nvSpPr>
          <p:cNvPr id="7" name="Shape 5"/>
          <p:cNvSpPr/>
          <p:nvPr/>
        </p:nvSpPr>
        <p:spPr>
          <a:xfrm>
            <a:off x="941832" y="2331720"/>
            <a:ext cx="365760" cy="45720"/>
          </a:xfrm>
          <a:prstGeom prst="rect">
            <a:avLst/>
          </a:prstGeom>
          <a:solidFill>
            <a:schemeClr val="accent1"/>
          </a:solidFill>
          <a:ln w="12700">
            <a:solidFill>
              <a:schemeClr val="accent1"/>
            </a:solidFill>
            <a:prstDash val="solid"/>
          </a:ln>
        </p:spPr>
      </p:sp>
      <p:sp>
        <p:nvSpPr>
          <p:cNvPr id="8" name="Text 6"/>
          <p:cNvSpPr txBox="1"/>
          <p:nvPr/>
        </p:nvSpPr>
        <p:spPr>
          <a:xfrm>
            <a:off x="923544" y="2496312"/>
            <a:ext cx="2990088" cy="777240"/>
          </a:xfrm>
          <a:prstGeom prst="rect">
            <a:avLst/>
          </a:prstGeom>
          <a:noFill/>
          <a:ln/>
        </p:spPr>
        <p:txBody>
          <a:bodyPr wrap="square" lIns="0" tIns="0" rIns="0" bIns="0" rtlCol="0" anchor="ctr"/>
          <a:lstStyle/>
          <a:p>
            <a:pPr indent="0" marL="0">
              <a:buNone/>
            </a:pPr>
            <a:r>
              <a:rPr lang="en-US" sz="4000" b="1" dirty="0">
                <a:solidFill>
                  <a:schemeClr val="accent1"/>
                </a:solidFill>
              </a:rPr>
              <a:t>127万</a:t>
            </a:r>
            <a:endParaRPr lang="en-US" sz="4000" dirty="0"/>
          </a:p>
        </p:txBody>
      </p:sp>
      <p:sp>
        <p:nvSpPr>
          <p:cNvPr id="9" name="Text 7"/>
          <p:cNvSpPr txBox="1"/>
          <p:nvPr/>
        </p:nvSpPr>
        <p:spPr>
          <a:xfrm>
            <a:off x="923544" y="3273552"/>
            <a:ext cx="2990088" cy="274320"/>
          </a:xfrm>
          <a:prstGeom prst="rect">
            <a:avLst/>
          </a:prstGeom>
          <a:noFill/>
          <a:ln/>
        </p:spPr>
        <p:txBody>
          <a:bodyPr wrap="square" lIns="0" tIns="0" rIns="0" bIns="0" rtlCol="0" anchor="t"/>
          <a:lstStyle/>
          <a:p>
            <a:pPr indent="0" marL="0">
              <a:buNone/>
            </a:pPr>
            <a:r>
              <a:rPr lang="en-US" sz="1300" b="1" dirty="0">
                <a:solidFill>
                  <a:schemeClr val="tx1"/>
                </a:solidFill>
              </a:rPr>
              <a:t>人</a:t>
            </a:r>
            <a:endParaRPr lang="en-US" sz="1300" dirty="0"/>
          </a:p>
        </p:txBody>
      </p:sp>
      <p:sp>
        <p:nvSpPr>
          <p:cNvPr id="10" name="Text 8"/>
          <p:cNvSpPr txBox="1"/>
          <p:nvPr/>
        </p:nvSpPr>
        <p:spPr>
          <a:xfrm>
            <a:off x="923544" y="3547872"/>
            <a:ext cx="2990088" cy="365760"/>
          </a:xfrm>
          <a:prstGeom prst="rect">
            <a:avLst/>
          </a:prstGeom>
          <a:noFill/>
          <a:ln/>
        </p:spPr>
        <p:txBody>
          <a:bodyPr wrap="square" lIns="0" tIns="0" rIns="0" bIns="0" rtlCol="0" anchor="t"/>
          <a:lstStyle/>
          <a:p>
            <a:pPr indent="0" marL="0">
              <a:buNone/>
            </a:pPr>
            <a:r>
              <a:rPr lang="en-US" sz="1050" dirty="0">
                <a:solidFill>
                  <a:schemeClr val="accent2"/>
                </a:solidFill>
              </a:rPr>
              <a:t>後継者のいない70歳以上の経営者（2025年時点）</a:t>
            </a:r>
            <a:endParaRPr lang="en-US" sz="1050" dirty="0"/>
          </a:p>
        </p:txBody>
      </p:sp>
      <p:sp>
        <p:nvSpPr>
          <p:cNvPr id="11" name="stat 国内のM&amp;A件数（2024年）。後継者不在に比べ桁違いに少ない"/>
          <p:cNvSpPr/>
          <p:nvPr/>
        </p:nvSpPr>
        <p:spPr>
          <a:xfrm>
            <a:off x="4370832" y="2057400"/>
            <a:ext cx="3447288" cy="1965960"/>
          </a:xfrm>
          <a:prstGeom prst="roundRect">
            <a:avLst>
              <a:gd name="adj" fmla="val 2791"/>
            </a:avLst>
          </a:prstGeom>
          <a:solidFill>
            <a:schemeClr val="bg2"/>
          </a:solidFill>
          <a:ln w="9525">
            <a:solidFill>
              <a:schemeClr val="accent3"/>
            </a:solidFill>
            <a:prstDash val="solid"/>
          </a:ln>
          <a:effectLst>
            <a:outerShdw sx="100000" sy="100000" kx="0" ky="0" algn="bl" rotWithShape="0" blurRad="76200" dist="25400" dir="5400000">
              <a:srgbClr val="6F665F">
                <a:alpha val="12000"/>
              </a:srgbClr>
            </a:outerShdw>
          </a:effectLst>
        </p:spPr>
      </p:sp>
      <p:sp>
        <p:nvSpPr>
          <p:cNvPr id="12" name="Shape 10"/>
          <p:cNvSpPr/>
          <p:nvPr/>
        </p:nvSpPr>
        <p:spPr>
          <a:xfrm>
            <a:off x="4626864" y="2331720"/>
            <a:ext cx="365760" cy="45720"/>
          </a:xfrm>
          <a:prstGeom prst="rect">
            <a:avLst/>
          </a:prstGeom>
          <a:solidFill>
            <a:schemeClr val="accent1"/>
          </a:solidFill>
          <a:ln w="12700">
            <a:solidFill>
              <a:schemeClr val="accent1"/>
            </a:solidFill>
            <a:prstDash val="solid"/>
          </a:ln>
        </p:spPr>
      </p:sp>
      <p:sp>
        <p:nvSpPr>
          <p:cNvPr id="13" name="Text 11"/>
          <p:cNvSpPr txBox="1"/>
          <p:nvPr/>
        </p:nvSpPr>
        <p:spPr>
          <a:xfrm>
            <a:off x="4608576" y="2496312"/>
            <a:ext cx="2990088" cy="777240"/>
          </a:xfrm>
          <a:prstGeom prst="rect">
            <a:avLst/>
          </a:prstGeom>
          <a:noFill/>
          <a:ln/>
        </p:spPr>
        <p:txBody>
          <a:bodyPr wrap="square" lIns="0" tIns="0" rIns="0" bIns="0" rtlCol="0" anchor="ctr"/>
          <a:lstStyle/>
          <a:p>
            <a:pPr indent="0" marL="0">
              <a:buNone/>
            </a:pPr>
            <a:r>
              <a:rPr lang="en-US" sz="4000" b="1" dirty="0">
                <a:solidFill>
                  <a:schemeClr val="accent1"/>
                </a:solidFill>
              </a:rPr>
              <a:t>約4,700</a:t>
            </a:r>
            <a:endParaRPr lang="en-US" sz="4000" dirty="0"/>
          </a:p>
        </p:txBody>
      </p:sp>
      <p:sp>
        <p:nvSpPr>
          <p:cNvPr id="14" name="Text 12"/>
          <p:cNvSpPr txBox="1"/>
          <p:nvPr/>
        </p:nvSpPr>
        <p:spPr>
          <a:xfrm>
            <a:off x="4608576" y="3273552"/>
            <a:ext cx="2990088" cy="274320"/>
          </a:xfrm>
          <a:prstGeom prst="rect">
            <a:avLst/>
          </a:prstGeom>
          <a:noFill/>
          <a:ln/>
        </p:spPr>
        <p:txBody>
          <a:bodyPr wrap="square" lIns="0" tIns="0" rIns="0" bIns="0" rtlCol="0" anchor="t"/>
          <a:lstStyle/>
          <a:p>
            <a:pPr indent="0" marL="0">
              <a:buNone/>
            </a:pPr>
            <a:r>
              <a:rPr lang="en-US" sz="1300" b="1" dirty="0">
                <a:solidFill>
                  <a:schemeClr val="tx1"/>
                </a:solidFill>
              </a:rPr>
              <a:t>件／年</a:t>
            </a:r>
            <a:endParaRPr lang="en-US" sz="1300" dirty="0"/>
          </a:p>
        </p:txBody>
      </p:sp>
      <p:sp>
        <p:nvSpPr>
          <p:cNvPr id="15" name="Text 13"/>
          <p:cNvSpPr txBox="1"/>
          <p:nvPr/>
        </p:nvSpPr>
        <p:spPr>
          <a:xfrm>
            <a:off x="4608576" y="3547872"/>
            <a:ext cx="2990088" cy="365760"/>
          </a:xfrm>
          <a:prstGeom prst="rect">
            <a:avLst/>
          </a:prstGeom>
          <a:noFill/>
          <a:ln/>
        </p:spPr>
        <p:txBody>
          <a:bodyPr wrap="square" lIns="0" tIns="0" rIns="0" bIns="0" rtlCol="0" anchor="t"/>
          <a:lstStyle/>
          <a:p>
            <a:pPr indent="0" marL="0">
              <a:buNone/>
            </a:pPr>
            <a:r>
              <a:rPr lang="en-US" sz="1050" dirty="0">
                <a:solidFill>
                  <a:schemeClr val="accent2"/>
                </a:solidFill>
              </a:rPr>
              <a:t>国内のM&amp;A件数（2024年）。後継者不在に比べ桁違いに少ない</a:t>
            </a:r>
            <a:endParaRPr lang="en-US" sz="1050" dirty="0"/>
          </a:p>
        </p:txBody>
      </p:sp>
      <p:sp>
        <p:nvSpPr>
          <p:cNvPr id="16" name="stat 大手仲介の1件あたり平均手数料"/>
          <p:cNvSpPr/>
          <p:nvPr/>
        </p:nvSpPr>
        <p:spPr>
          <a:xfrm>
            <a:off x="8055864" y="2057400"/>
            <a:ext cx="3447288" cy="1965960"/>
          </a:xfrm>
          <a:prstGeom prst="roundRect">
            <a:avLst>
              <a:gd name="adj" fmla="val 2791"/>
            </a:avLst>
          </a:prstGeom>
          <a:solidFill>
            <a:schemeClr val="bg2"/>
          </a:solidFill>
          <a:ln w="9525">
            <a:solidFill>
              <a:schemeClr val="accent3"/>
            </a:solidFill>
            <a:prstDash val="solid"/>
          </a:ln>
          <a:effectLst>
            <a:outerShdw sx="100000" sy="100000" kx="0" ky="0" algn="bl" rotWithShape="0" blurRad="76200" dist="25400" dir="5400000">
              <a:srgbClr val="6F665F">
                <a:alpha val="12000"/>
              </a:srgbClr>
            </a:outerShdw>
          </a:effectLst>
        </p:spPr>
      </p:sp>
      <p:sp>
        <p:nvSpPr>
          <p:cNvPr id="17" name="Shape 15"/>
          <p:cNvSpPr/>
          <p:nvPr/>
        </p:nvSpPr>
        <p:spPr>
          <a:xfrm>
            <a:off x="8311896" y="2331720"/>
            <a:ext cx="365760" cy="45720"/>
          </a:xfrm>
          <a:prstGeom prst="rect">
            <a:avLst/>
          </a:prstGeom>
          <a:solidFill>
            <a:schemeClr val="accent1"/>
          </a:solidFill>
          <a:ln w="12700">
            <a:solidFill>
              <a:schemeClr val="accent1"/>
            </a:solidFill>
            <a:prstDash val="solid"/>
          </a:ln>
        </p:spPr>
      </p:sp>
      <p:sp>
        <p:nvSpPr>
          <p:cNvPr id="18" name="Text 16"/>
          <p:cNvSpPr txBox="1"/>
          <p:nvPr/>
        </p:nvSpPr>
        <p:spPr>
          <a:xfrm>
            <a:off x="8293608" y="2496312"/>
            <a:ext cx="2990088" cy="777240"/>
          </a:xfrm>
          <a:prstGeom prst="rect">
            <a:avLst/>
          </a:prstGeom>
          <a:noFill/>
          <a:ln/>
        </p:spPr>
        <p:txBody>
          <a:bodyPr wrap="square" lIns="0" tIns="0" rIns="0" bIns="0" rtlCol="0" anchor="ctr"/>
          <a:lstStyle/>
          <a:p>
            <a:pPr indent="0" marL="0">
              <a:buNone/>
            </a:pPr>
            <a:r>
              <a:rPr lang="en-US" sz="4000" b="1" dirty="0">
                <a:solidFill>
                  <a:schemeClr val="accent1"/>
                </a:solidFill>
              </a:rPr>
              <a:t>6,700万〜</a:t>
            </a:r>
            <a:endParaRPr lang="en-US" sz="4000" dirty="0"/>
          </a:p>
        </p:txBody>
      </p:sp>
      <p:sp>
        <p:nvSpPr>
          <p:cNvPr id="19" name="Text 17"/>
          <p:cNvSpPr txBox="1"/>
          <p:nvPr/>
        </p:nvSpPr>
        <p:spPr>
          <a:xfrm>
            <a:off x="8293608" y="3273552"/>
            <a:ext cx="2990088" cy="274320"/>
          </a:xfrm>
          <a:prstGeom prst="rect">
            <a:avLst/>
          </a:prstGeom>
          <a:noFill/>
          <a:ln/>
        </p:spPr>
        <p:txBody>
          <a:bodyPr wrap="square" lIns="0" tIns="0" rIns="0" bIns="0" rtlCol="0" anchor="t"/>
          <a:lstStyle/>
          <a:p>
            <a:pPr indent="0" marL="0">
              <a:buNone/>
            </a:pPr>
            <a:r>
              <a:rPr lang="en-US" sz="1300" b="1" dirty="0">
                <a:solidFill>
                  <a:schemeClr val="tx1"/>
                </a:solidFill>
              </a:rPr>
              <a:t>1.3億円</a:t>
            </a:r>
            <a:endParaRPr lang="en-US" sz="1300" dirty="0"/>
          </a:p>
        </p:txBody>
      </p:sp>
      <p:sp>
        <p:nvSpPr>
          <p:cNvPr id="20" name="Text 18"/>
          <p:cNvSpPr txBox="1"/>
          <p:nvPr/>
        </p:nvSpPr>
        <p:spPr>
          <a:xfrm>
            <a:off x="8293608" y="3547872"/>
            <a:ext cx="2990088" cy="365760"/>
          </a:xfrm>
          <a:prstGeom prst="rect">
            <a:avLst/>
          </a:prstGeom>
          <a:noFill/>
          <a:ln/>
        </p:spPr>
        <p:txBody>
          <a:bodyPr wrap="square" lIns="0" tIns="0" rIns="0" bIns="0" rtlCol="0" anchor="t"/>
          <a:lstStyle/>
          <a:p>
            <a:pPr indent="0" marL="0">
              <a:buNone/>
            </a:pPr>
            <a:r>
              <a:rPr lang="en-US" sz="1050" dirty="0">
                <a:solidFill>
                  <a:schemeClr val="accent2"/>
                </a:solidFill>
              </a:rPr>
              <a:t>大手仲介の1件あたり平均手数料</a:t>
            </a:r>
            <a:endParaRPr lang="en-US" sz="1050" dirty="0"/>
          </a:p>
        </p:txBody>
      </p:sp>
      <p:sp>
        <p:nvSpPr>
          <p:cNvPr id="21" name="pain 1"/>
          <p:cNvSpPr/>
          <p:nvPr/>
        </p:nvSpPr>
        <p:spPr>
          <a:xfrm>
            <a:off x="685800" y="4160520"/>
            <a:ext cx="3447288" cy="1508760"/>
          </a:xfrm>
          <a:prstGeom prst="roundRect">
            <a:avLst>
              <a:gd name="adj" fmla="val 3636"/>
            </a:avLst>
          </a:prstGeom>
          <a:solidFill>
            <a:srgbClr val="FFFFFF"/>
          </a:solidFill>
          <a:ln w="9525">
            <a:solidFill>
              <a:schemeClr val="accent3"/>
            </a:solidFill>
            <a:prstDash val="solid"/>
          </a:ln>
          <a:effectLst>
            <a:outerShdw sx="100000" sy="100000" kx="0" ky="0" algn="bl" rotWithShape="0" blurRad="76200" dist="25400" dir="5400000">
              <a:srgbClr val="6F665F">
                <a:alpha val="12000"/>
              </a:srgbClr>
            </a:outerShdw>
          </a:effectLst>
        </p:spPr>
      </p:sp>
      <p:sp>
        <p:nvSpPr>
          <p:cNvPr id="22" name="Shape 20"/>
          <p:cNvSpPr/>
          <p:nvPr/>
        </p:nvSpPr>
        <p:spPr>
          <a:xfrm>
            <a:off x="914400" y="4343400"/>
            <a:ext cx="384048" cy="384048"/>
          </a:xfrm>
          <a:prstGeom prst="ellipse">
            <a:avLst/>
          </a:prstGeom>
          <a:solidFill>
            <a:schemeClr val="tx1"/>
          </a:solidFill>
          <a:ln w="12700">
            <a:solidFill>
              <a:schemeClr val="tx1"/>
            </a:solidFill>
            <a:prstDash val="solid"/>
          </a:ln>
        </p:spPr>
      </p:sp>
      <p:sp>
        <p:nvSpPr>
          <p:cNvPr id="23" name="Text 21"/>
          <p:cNvSpPr txBox="1"/>
          <p:nvPr/>
        </p:nvSpPr>
        <p:spPr>
          <a:xfrm>
            <a:off x="914400" y="43434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24" name="Text 22"/>
          <p:cNvSpPr txBox="1"/>
          <p:nvPr/>
        </p:nvSpPr>
        <p:spPr>
          <a:xfrm>
            <a:off x="1417320" y="4343400"/>
            <a:ext cx="2560320" cy="384048"/>
          </a:xfrm>
          <a:prstGeom prst="rect">
            <a:avLst/>
          </a:prstGeom>
          <a:noFill/>
          <a:ln/>
        </p:spPr>
        <p:txBody>
          <a:bodyPr wrap="square" lIns="0" tIns="0" rIns="0" bIns="0" rtlCol="0" anchor="ctr"/>
          <a:lstStyle/>
          <a:p>
            <a:pPr indent="0" marL="0">
              <a:buNone/>
            </a:pPr>
            <a:r>
              <a:rPr lang="en-US" sz="1500" b="1" dirty="0">
                <a:solidFill>
                  <a:schemeClr val="tx1"/>
                </a:solidFill>
              </a:rPr>
              <a:t>担当者がいない</a:t>
            </a:r>
            <a:endParaRPr lang="en-US" sz="1500" dirty="0"/>
          </a:p>
        </p:txBody>
      </p:sp>
      <p:sp>
        <p:nvSpPr>
          <p:cNvPr id="25" name="Text 23"/>
          <p:cNvSpPr txBox="1"/>
          <p:nvPr/>
        </p:nvSpPr>
        <p:spPr>
          <a:xfrm>
            <a:off x="960120" y="4846320"/>
            <a:ext cx="2971800" cy="777240"/>
          </a:xfrm>
          <a:prstGeom prst="rect">
            <a:avLst/>
          </a:prstGeom>
          <a:noFill/>
          <a:ln/>
        </p:spPr>
        <p:txBody>
          <a:bodyPr wrap="square" lIns="0" tIns="0" rIns="0" bIns="0" rtlCol="0" anchor="t"/>
          <a:lstStyle/>
          <a:p>
            <a:pPr indent="0" marL="0">
              <a:buNone/>
            </a:pPr>
            <a:r>
              <a:rPr lang="en-US" sz="1150" dirty="0">
                <a:solidFill>
                  <a:schemeClr val="accent2"/>
                </a:solidFill>
              </a:rPr>
              <a:t>案件の良し悪しを判断できる人が社内にいない。仲介の言い値で買う</a:t>
            </a:r>
            <a:endParaRPr lang="en-US" sz="1150" dirty="0"/>
          </a:p>
        </p:txBody>
      </p:sp>
      <p:sp>
        <p:nvSpPr>
          <p:cNvPr id="26" name="pain 2"/>
          <p:cNvSpPr/>
          <p:nvPr/>
        </p:nvSpPr>
        <p:spPr>
          <a:xfrm>
            <a:off x="4370832" y="4160520"/>
            <a:ext cx="3447288" cy="1508760"/>
          </a:xfrm>
          <a:prstGeom prst="roundRect">
            <a:avLst>
              <a:gd name="adj" fmla="val 3636"/>
            </a:avLst>
          </a:prstGeom>
          <a:solidFill>
            <a:srgbClr val="FFFFFF"/>
          </a:solidFill>
          <a:ln w="9525">
            <a:solidFill>
              <a:schemeClr val="accent3"/>
            </a:solidFill>
            <a:prstDash val="solid"/>
          </a:ln>
          <a:effectLst>
            <a:outerShdw sx="100000" sy="100000" kx="0" ky="0" algn="bl" rotWithShape="0" blurRad="76200" dist="25400" dir="5400000">
              <a:srgbClr val="6F665F">
                <a:alpha val="12000"/>
              </a:srgbClr>
            </a:outerShdw>
          </a:effectLst>
        </p:spPr>
      </p:sp>
      <p:sp>
        <p:nvSpPr>
          <p:cNvPr id="27" name="Shape 25"/>
          <p:cNvSpPr/>
          <p:nvPr/>
        </p:nvSpPr>
        <p:spPr>
          <a:xfrm>
            <a:off x="4599432" y="4343400"/>
            <a:ext cx="384048" cy="384048"/>
          </a:xfrm>
          <a:prstGeom prst="ellipse">
            <a:avLst/>
          </a:prstGeom>
          <a:solidFill>
            <a:schemeClr val="tx1"/>
          </a:solidFill>
          <a:ln w="12700">
            <a:solidFill>
              <a:schemeClr val="tx1"/>
            </a:solidFill>
            <a:prstDash val="solid"/>
          </a:ln>
        </p:spPr>
      </p:sp>
      <p:sp>
        <p:nvSpPr>
          <p:cNvPr id="28" name="Text 26"/>
          <p:cNvSpPr txBox="1"/>
          <p:nvPr/>
        </p:nvSpPr>
        <p:spPr>
          <a:xfrm>
            <a:off x="4599432" y="43434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29" name="Text 27"/>
          <p:cNvSpPr txBox="1"/>
          <p:nvPr/>
        </p:nvSpPr>
        <p:spPr>
          <a:xfrm>
            <a:off x="5102352" y="4343400"/>
            <a:ext cx="2560320" cy="384048"/>
          </a:xfrm>
          <a:prstGeom prst="rect">
            <a:avLst/>
          </a:prstGeom>
          <a:noFill/>
          <a:ln/>
        </p:spPr>
        <p:txBody>
          <a:bodyPr wrap="square" lIns="0" tIns="0" rIns="0" bIns="0" rtlCol="0" anchor="ctr"/>
          <a:lstStyle/>
          <a:p>
            <a:pPr indent="0" marL="0">
              <a:buNone/>
            </a:pPr>
            <a:r>
              <a:rPr lang="en-US" sz="1500" b="1" dirty="0">
                <a:solidFill>
                  <a:schemeClr val="tx1"/>
                </a:solidFill>
              </a:rPr>
              <a:t>仲介は利益相反</a:t>
            </a:r>
            <a:endParaRPr lang="en-US" sz="1500" dirty="0"/>
          </a:p>
        </p:txBody>
      </p:sp>
      <p:sp>
        <p:nvSpPr>
          <p:cNvPr id="30" name="Text 28"/>
          <p:cNvSpPr txBox="1"/>
          <p:nvPr/>
        </p:nvSpPr>
        <p:spPr>
          <a:xfrm>
            <a:off x="4645152" y="4846320"/>
            <a:ext cx="2971800" cy="777240"/>
          </a:xfrm>
          <a:prstGeom prst="rect">
            <a:avLst/>
          </a:prstGeom>
          <a:noFill/>
          <a:ln/>
        </p:spPr>
        <p:txBody>
          <a:bodyPr wrap="square" lIns="0" tIns="0" rIns="0" bIns="0" rtlCol="0" anchor="t"/>
          <a:lstStyle/>
          <a:p>
            <a:pPr indent="0" marL="0">
              <a:buNone/>
            </a:pPr>
            <a:r>
              <a:rPr lang="en-US" sz="1150" dirty="0">
                <a:solidFill>
                  <a:schemeClr val="accent2"/>
                </a:solidFill>
              </a:rPr>
              <a:t>日本の中小M&amp;Aは約8割が両手仲介。買い手のためだけに動く人がいない</a:t>
            </a:r>
            <a:endParaRPr lang="en-US" sz="1150" dirty="0"/>
          </a:p>
        </p:txBody>
      </p:sp>
      <p:sp>
        <p:nvSpPr>
          <p:cNvPr id="31" name="pain 3"/>
          <p:cNvSpPr/>
          <p:nvPr/>
        </p:nvSpPr>
        <p:spPr>
          <a:xfrm>
            <a:off x="8055864" y="4160520"/>
            <a:ext cx="3447288" cy="1508760"/>
          </a:xfrm>
          <a:prstGeom prst="roundRect">
            <a:avLst>
              <a:gd name="adj" fmla="val 3636"/>
            </a:avLst>
          </a:prstGeom>
          <a:solidFill>
            <a:srgbClr val="FFFFFF"/>
          </a:solidFill>
          <a:ln w="9525">
            <a:solidFill>
              <a:schemeClr val="accent3"/>
            </a:solidFill>
            <a:prstDash val="solid"/>
          </a:ln>
          <a:effectLst>
            <a:outerShdw sx="100000" sy="100000" kx="0" ky="0" algn="bl" rotWithShape="0" blurRad="76200" dist="25400" dir="5400000">
              <a:srgbClr val="6F665F">
                <a:alpha val="12000"/>
              </a:srgbClr>
            </a:outerShdw>
          </a:effectLst>
        </p:spPr>
      </p:sp>
      <p:sp>
        <p:nvSpPr>
          <p:cNvPr id="32" name="Shape 30"/>
          <p:cNvSpPr/>
          <p:nvPr/>
        </p:nvSpPr>
        <p:spPr>
          <a:xfrm>
            <a:off x="8284464" y="4343400"/>
            <a:ext cx="384048" cy="384048"/>
          </a:xfrm>
          <a:prstGeom prst="ellipse">
            <a:avLst/>
          </a:prstGeom>
          <a:solidFill>
            <a:schemeClr val="tx1"/>
          </a:solidFill>
          <a:ln w="12700">
            <a:solidFill>
              <a:schemeClr val="tx1"/>
            </a:solidFill>
            <a:prstDash val="solid"/>
          </a:ln>
        </p:spPr>
      </p:sp>
      <p:sp>
        <p:nvSpPr>
          <p:cNvPr id="33" name="Text 31"/>
          <p:cNvSpPr txBox="1"/>
          <p:nvPr/>
        </p:nvSpPr>
        <p:spPr>
          <a:xfrm>
            <a:off x="8284464" y="43434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34" name="Text 32"/>
          <p:cNvSpPr txBox="1"/>
          <p:nvPr/>
        </p:nvSpPr>
        <p:spPr>
          <a:xfrm>
            <a:off x="8787384" y="4343400"/>
            <a:ext cx="2560320" cy="384048"/>
          </a:xfrm>
          <a:prstGeom prst="rect">
            <a:avLst/>
          </a:prstGeom>
          <a:noFill/>
          <a:ln/>
        </p:spPr>
        <p:txBody>
          <a:bodyPr wrap="square" lIns="0" tIns="0" rIns="0" bIns="0" rtlCol="0" anchor="ctr"/>
          <a:lstStyle/>
          <a:p>
            <a:pPr indent="0" marL="0">
              <a:buNone/>
            </a:pPr>
            <a:r>
              <a:rPr lang="en-US" sz="1500" b="1" dirty="0">
                <a:solidFill>
                  <a:schemeClr val="tx1"/>
                </a:solidFill>
              </a:rPr>
              <a:t>買った後に失敗</a:t>
            </a:r>
            <a:endParaRPr lang="en-US" sz="1500" dirty="0"/>
          </a:p>
        </p:txBody>
      </p:sp>
      <p:sp>
        <p:nvSpPr>
          <p:cNvPr id="35" name="Text 33"/>
          <p:cNvSpPr txBox="1"/>
          <p:nvPr/>
        </p:nvSpPr>
        <p:spPr>
          <a:xfrm>
            <a:off x="8330184" y="4846320"/>
            <a:ext cx="2971800" cy="777240"/>
          </a:xfrm>
          <a:prstGeom prst="rect">
            <a:avLst/>
          </a:prstGeom>
          <a:noFill/>
          <a:ln/>
        </p:spPr>
        <p:txBody>
          <a:bodyPr wrap="square" lIns="0" tIns="0" rIns="0" bIns="0" rtlCol="0" anchor="t"/>
          <a:lstStyle/>
          <a:p>
            <a:pPr indent="0" marL="0">
              <a:buNone/>
            </a:pPr>
            <a:r>
              <a:rPr lang="en-US" sz="1150" dirty="0">
                <a:solidFill>
                  <a:schemeClr val="accent2"/>
                </a:solidFill>
              </a:rPr>
              <a:t>仲介の仕事は成約まで。統合で人が辞め、数字が崩れても誰も止めない</a:t>
            </a:r>
            <a:endParaRPr lang="en-US" sz="1150" dirty="0"/>
          </a:p>
        </p:txBody>
      </p:sp>
      <p:sp>
        <p:nvSpPr>
          <p:cNvPr id="36" name="Text 34"/>
          <p:cNvSpPr txBox="1"/>
          <p:nvPr/>
        </p:nvSpPr>
        <p:spPr>
          <a:xfrm>
            <a:off x="685800" y="6144768"/>
            <a:ext cx="10820095" cy="256032"/>
          </a:xfrm>
          <a:prstGeom prst="rect">
            <a:avLst/>
          </a:prstGeom>
          <a:noFill/>
          <a:ln/>
        </p:spPr>
        <p:txBody>
          <a:bodyPr wrap="square" lIns="0" tIns="0" rIns="0" bIns="0" rtlCol="0" anchor="t"/>
          <a:lstStyle/>
          <a:p>
            <a:pPr indent="0" marL="0">
              <a:buNone/>
            </a:pPr>
            <a:r>
              <a:rPr lang="en-US" sz="900" dirty="0">
                <a:solidFill>
                  <a:schemeClr val="accent5"/>
                </a:solidFill>
              </a:rPr>
              <a:t>出典：経済産業省（2018年4月発表データ）、レコフ「MARR Online」、経済産業省 M&amp;A支援機関登録制度 実績報告（2023年）、各社有価証券報告書</a:t>
            </a:r>
            <a:endParaRPr lang="en-US" sz="900" dirty="0"/>
          </a:p>
        </p:txBody>
      </p:sp>
      <p:sp>
        <p:nvSpPr>
          <p:cNvPr id="25" name="Slide Number Placeholder 0"/>
          <p:cNvSpPr>
            <a:spLocks noGrp="1"/>
          </p:cNvSpPr>
          <p:nvPr>
            <p:ph type="sldNum" sz="quarter" idx="4294967295"/>
          </p:nvPr>
        </p:nvSpPr>
        <p:spPr>
          <a:xfrm>
            <a:off x="10957255"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dot"/>
          <p:cNvSpPr/>
          <p:nvPr/>
        </p:nvSpPr>
        <p:spPr>
          <a:xfrm>
            <a:off x="685800" y="484632"/>
            <a:ext cx="109728" cy="109728"/>
          </a:xfrm>
          <a:prstGeom prst="ellipse">
            <a:avLst/>
          </a:prstGeom>
          <a:solidFill>
            <a:schemeClr val="accent1"/>
          </a:solidFill>
          <a:ln w="12700">
            <a:solidFill>
              <a:schemeClr val="accent1"/>
            </a:solidFill>
            <a:prstDash val="solid"/>
          </a:ln>
        </p:spPr>
      </p:sp>
      <p:sp>
        <p:nvSpPr>
          <p:cNvPr id="3" name="Text 0"/>
          <p:cNvSpPr/>
          <p:nvPr>
            <p:ph idx="100" type="body" hasCustomPrompt="1"/>
          </p:nvPr>
        </p:nvSpPr>
        <p:spPr>
          <a:xfrm>
            <a:off x="923544" y="365760"/>
            <a:ext cx="9601200" cy="329184"/>
          </a:xfrm>
          <a:prstGeom prst="rect">
            <a:avLst/>
          </a:prstGeom>
          <a:noFill/>
          <a:ln/>
        </p:spPr>
        <p:txBody>
          <a:bodyPr wrap="square" lIns="0" tIns="0" rIns="0" bIns="0" rtlCol="0" anchor="ctr"/>
          <a:lstStyle/>
          <a:p>
            <a:pPr indent="0" marL="0">
              <a:buNone/>
            </a:pPr>
            <a:r>
              <a:rPr lang="en-US" sz="1200" b="1" spc="240" kern="0" dirty="0">
                <a:solidFill>
                  <a:schemeClr val="accent1"/>
                </a:solidFill>
              </a:rPr>
              <a:t>WHY WE DO THIS</a:t>
            </a:r>
            <a:endParaRPr lang="en-US" sz="1200" dirty="0"/>
          </a:p>
        </p:txBody>
      </p:sp>
      <p:sp>
        <p:nvSpPr>
          <p:cNvPr id="4" name="Text 0"/>
          <p:cNvSpPr/>
          <p:nvPr>
            <p:ph idx="101" type="title" hasCustomPrompt="1"/>
          </p:nvPr>
        </p:nvSpPr>
        <p:spPr>
          <a:xfrm>
            <a:off x="685800" y="749808"/>
            <a:ext cx="10820095" cy="731520"/>
          </a:xfrm>
          <a:prstGeom prst="rect">
            <a:avLst/>
          </a:prstGeom>
          <a:noFill/>
          <a:ln/>
        </p:spPr>
        <p:txBody>
          <a:bodyPr wrap="square" lIns="0" tIns="0" rIns="0" bIns="0" rtlCol="0" anchor="ctr"/>
          <a:lstStyle/>
          <a:p>
            <a:pPr algn="l" indent="0" marL="0">
              <a:buNone/>
            </a:pPr>
            <a:r>
              <a:rPr lang="en-US" sz="3000" b="1" dirty="0">
                <a:solidFill>
                  <a:schemeClr val="tx1"/>
                </a:solidFill>
              </a:rPr>
              <a:t>M&amp;Aで不幸になる人を、これ以上増やさない</a:t>
            </a:r>
            <a:endParaRPr lang="en-US" sz="3000" dirty="0"/>
          </a:p>
        </p:txBody>
      </p:sp>
      <p:sp>
        <p:nvSpPr>
          <p:cNvPr id="5" name="Text 0"/>
          <p:cNvSpPr/>
          <p:nvPr>
            <p:ph idx="102" type="body" hasCustomPrompt="1"/>
          </p:nvPr>
        </p:nvSpPr>
        <p:spPr>
          <a:xfrm>
            <a:off x="685800" y="1481328"/>
            <a:ext cx="10820095" cy="365760"/>
          </a:xfrm>
          <a:prstGeom prst="rect">
            <a:avLst/>
          </a:prstGeom>
          <a:noFill/>
          <a:ln/>
        </p:spPr>
        <p:txBody>
          <a:bodyPr wrap="square" lIns="0" tIns="0" rIns="0" bIns="0" rtlCol="0" anchor="t"/>
          <a:lstStyle/>
          <a:p>
            <a:pPr indent="0" marL="0">
              <a:buNone/>
            </a:pPr>
            <a:r>
              <a:rPr lang="en-US" sz="1350" dirty="0">
                <a:solidFill>
                  <a:schemeClr val="accent2"/>
                </a:solidFill>
              </a:rPr>
              <a:t>49戦して分かったのは、M&amp;Aは才能ではなく手順で勝てるということ</a:t>
            </a:r>
            <a:endParaRPr lang="en-US" sz="1350" dirty="0"/>
          </a:p>
        </p:txBody>
      </p:sp>
      <p:sp>
        <p:nvSpPr>
          <p:cNvPr id="6" name="Shape 4"/>
          <p:cNvSpPr/>
          <p:nvPr/>
        </p:nvSpPr>
        <p:spPr>
          <a:xfrm>
            <a:off x="685800" y="2377440"/>
            <a:ext cx="566928" cy="566928"/>
          </a:xfrm>
          <a:prstGeom prst="ellipse">
            <a:avLst/>
          </a:prstGeom>
          <a:solidFill>
            <a:schemeClr val="accent1"/>
          </a:solidFill>
          <a:ln w="12700">
            <a:solidFill>
              <a:schemeClr val="accent1"/>
            </a:solidFill>
            <a:prstDash val="solid"/>
          </a:ln>
        </p:spPr>
      </p:sp>
      <p:sp>
        <p:nvSpPr>
          <p:cNvPr id="7" name="Text 5"/>
          <p:cNvSpPr txBox="1"/>
          <p:nvPr/>
        </p:nvSpPr>
        <p:spPr>
          <a:xfrm>
            <a:off x="685800" y="237744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story 1"/>
          <p:cNvSpPr/>
          <p:nvPr/>
        </p:nvSpPr>
        <p:spPr>
          <a:xfrm>
            <a:off x="1463040" y="2103120"/>
            <a:ext cx="5852160" cy="1161288"/>
          </a:xfrm>
          <a:prstGeom prst="roundRect">
            <a:avLst>
              <a:gd name="adj" fmla="val 4724"/>
            </a:avLst>
          </a:prstGeom>
          <a:solidFill>
            <a:schemeClr val="bg2"/>
          </a:solidFill>
          <a:ln w="9525">
            <a:solidFill>
              <a:schemeClr val="accent3"/>
            </a:solidFill>
            <a:prstDash val="solid"/>
          </a:ln>
          <a:effectLst>
            <a:outerShdw sx="100000" sy="100000" kx="0" ky="0" algn="bl" rotWithShape="0" blurRad="76200" dist="25400" dir="5400000">
              <a:srgbClr val="6F665F">
                <a:alpha val="12000"/>
              </a:srgbClr>
            </a:outerShdw>
          </a:effectLst>
        </p:spPr>
      </p:sp>
      <p:sp>
        <p:nvSpPr>
          <p:cNvPr id="9" name="Text 7"/>
          <p:cNvSpPr txBox="1"/>
          <p:nvPr/>
        </p:nvSpPr>
        <p:spPr>
          <a:xfrm>
            <a:off x="1691640" y="2212848"/>
            <a:ext cx="5394960" cy="320040"/>
          </a:xfrm>
          <a:prstGeom prst="rect">
            <a:avLst/>
          </a:prstGeom>
          <a:noFill/>
          <a:ln/>
        </p:spPr>
        <p:txBody>
          <a:bodyPr wrap="square" lIns="0" tIns="0" rIns="0" bIns="0" rtlCol="0" anchor="t"/>
          <a:lstStyle/>
          <a:p>
            <a:pPr indent="0" marL="0">
              <a:buNone/>
            </a:pPr>
            <a:r>
              <a:rPr lang="en-US" sz="1400" b="1" dirty="0">
                <a:solidFill>
                  <a:schemeClr val="accent1"/>
                </a:solidFill>
              </a:rPr>
              <a:t>原体験</a:t>
            </a:r>
            <a:endParaRPr lang="en-US" sz="1400" dirty="0"/>
          </a:p>
        </p:txBody>
      </p:sp>
      <p:sp>
        <p:nvSpPr>
          <p:cNvPr id="10" name="Text 8"/>
          <p:cNvSpPr txBox="1"/>
          <p:nvPr/>
        </p:nvSpPr>
        <p:spPr>
          <a:xfrm>
            <a:off x="1691640" y="2532888"/>
            <a:ext cx="5394960" cy="685800"/>
          </a:xfrm>
          <a:prstGeom prst="rect">
            <a:avLst/>
          </a:prstGeom>
          <a:noFill/>
          <a:ln/>
        </p:spPr>
        <p:txBody>
          <a:bodyPr wrap="square" lIns="0" tIns="0" rIns="0" bIns="0" rtlCol="0" anchor="t"/>
          <a:lstStyle/>
          <a:p>
            <a:pPr indent="0" marL="0">
              <a:buNone/>
            </a:pPr>
            <a:r>
              <a:rPr lang="en-US" sz="1200" dirty="0">
                <a:solidFill>
                  <a:schemeClr val="tx1"/>
                </a:solidFill>
              </a:rPr>
              <a:t>自分も負けた。多店舗飲食（11店舗）で−1.40億円、ポータル事業で−1.70億円。幸福度の谷は、いつもM&amp;Aの負けと同じ年にあった</a:t>
            </a:r>
            <a:endParaRPr lang="en-US" sz="1200" dirty="0"/>
          </a:p>
        </p:txBody>
      </p:sp>
      <p:sp>
        <p:nvSpPr>
          <p:cNvPr id="11" name="Shape 9"/>
          <p:cNvSpPr/>
          <p:nvPr/>
        </p:nvSpPr>
        <p:spPr>
          <a:xfrm>
            <a:off x="685800" y="3703320"/>
            <a:ext cx="566928" cy="566928"/>
          </a:xfrm>
          <a:prstGeom prst="ellipse">
            <a:avLst/>
          </a:prstGeom>
          <a:solidFill>
            <a:schemeClr val="accent1"/>
          </a:solidFill>
          <a:ln w="12700">
            <a:solidFill>
              <a:schemeClr val="accent1"/>
            </a:solidFill>
            <a:prstDash val="solid"/>
          </a:ln>
        </p:spPr>
      </p:sp>
      <p:sp>
        <p:nvSpPr>
          <p:cNvPr id="12" name="Text 10"/>
          <p:cNvSpPr txBox="1"/>
          <p:nvPr/>
        </p:nvSpPr>
        <p:spPr>
          <a:xfrm>
            <a:off x="685800" y="370332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story 2"/>
          <p:cNvSpPr/>
          <p:nvPr/>
        </p:nvSpPr>
        <p:spPr>
          <a:xfrm>
            <a:off x="1463040" y="3429000"/>
            <a:ext cx="5852160" cy="1161288"/>
          </a:xfrm>
          <a:prstGeom prst="roundRect">
            <a:avLst>
              <a:gd name="adj" fmla="val 4724"/>
            </a:avLst>
          </a:prstGeom>
          <a:solidFill>
            <a:schemeClr val="bg2"/>
          </a:solidFill>
          <a:ln w="9525">
            <a:solidFill>
              <a:schemeClr val="accent3"/>
            </a:solidFill>
            <a:prstDash val="solid"/>
          </a:ln>
          <a:effectLst>
            <a:outerShdw sx="100000" sy="100000" kx="0" ky="0" algn="bl" rotWithShape="0" blurRad="76200" dist="25400" dir="5400000">
              <a:srgbClr val="6F665F">
                <a:alpha val="12000"/>
              </a:srgbClr>
            </a:outerShdw>
          </a:effectLst>
        </p:spPr>
      </p:sp>
      <p:sp>
        <p:nvSpPr>
          <p:cNvPr id="14" name="Text 12"/>
          <p:cNvSpPr txBox="1"/>
          <p:nvPr/>
        </p:nvSpPr>
        <p:spPr>
          <a:xfrm>
            <a:off x="1691640" y="3538728"/>
            <a:ext cx="5394960" cy="320040"/>
          </a:xfrm>
          <a:prstGeom prst="rect">
            <a:avLst/>
          </a:prstGeom>
          <a:noFill/>
          <a:ln/>
        </p:spPr>
        <p:txBody>
          <a:bodyPr wrap="square" lIns="0" tIns="0" rIns="0" bIns="0" rtlCol="0" anchor="t"/>
          <a:lstStyle/>
          <a:p>
            <a:pPr indent="0" marL="0">
              <a:buNone/>
            </a:pPr>
            <a:r>
              <a:rPr lang="en-US" sz="1400" b="1" dirty="0">
                <a:solidFill>
                  <a:schemeClr val="accent1"/>
                </a:solidFill>
              </a:rPr>
              <a:t>気づき</a:t>
            </a:r>
            <a:endParaRPr lang="en-US" sz="1400" dirty="0"/>
          </a:p>
        </p:txBody>
      </p:sp>
      <p:sp>
        <p:nvSpPr>
          <p:cNvPr id="15" name="Text 13"/>
          <p:cNvSpPr txBox="1"/>
          <p:nvPr/>
        </p:nvSpPr>
        <p:spPr>
          <a:xfrm>
            <a:off x="1691640" y="3858768"/>
            <a:ext cx="5394960" cy="685800"/>
          </a:xfrm>
          <a:prstGeom prst="rect">
            <a:avLst/>
          </a:prstGeom>
          <a:noFill/>
          <a:ln/>
        </p:spPr>
        <p:txBody>
          <a:bodyPr wrap="square" lIns="0" tIns="0" rIns="0" bIns="0" rtlCol="0" anchor="t"/>
          <a:lstStyle/>
          <a:p>
            <a:pPr indent="0" marL="0">
              <a:buNone/>
            </a:pPr>
            <a:r>
              <a:rPr lang="en-US" sz="1200" dirty="0">
                <a:solidFill>
                  <a:schemeClr val="tx1"/>
                </a:solidFill>
              </a:rPr>
              <a:t>負けた理由は才能ではなく、手順を飛ばしたこと。値づけ・PMI責任者・売る時期を、買う前に決めていなかった</a:t>
            </a:r>
            <a:endParaRPr lang="en-US" sz="1200" dirty="0"/>
          </a:p>
        </p:txBody>
      </p:sp>
      <p:sp>
        <p:nvSpPr>
          <p:cNvPr id="16" name="Shape 14"/>
          <p:cNvSpPr/>
          <p:nvPr/>
        </p:nvSpPr>
        <p:spPr>
          <a:xfrm>
            <a:off x="685800" y="5029200"/>
            <a:ext cx="566928" cy="566928"/>
          </a:xfrm>
          <a:prstGeom prst="ellipse">
            <a:avLst/>
          </a:prstGeom>
          <a:solidFill>
            <a:schemeClr val="accent1"/>
          </a:solidFill>
          <a:ln w="12700">
            <a:solidFill>
              <a:schemeClr val="accent1"/>
            </a:solidFill>
            <a:prstDash val="solid"/>
          </a:ln>
        </p:spPr>
      </p:sp>
      <p:sp>
        <p:nvSpPr>
          <p:cNvPr id="17" name="Text 15"/>
          <p:cNvSpPr txBox="1"/>
          <p:nvPr/>
        </p:nvSpPr>
        <p:spPr>
          <a:xfrm>
            <a:off x="685800" y="502920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story 3"/>
          <p:cNvSpPr/>
          <p:nvPr/>
        </p:nvSpPr>
        <p:spPr>
          <a:xfrm>
            <a:off x="1463040" y="4754880"/>
            <a:ext cx="5852160" cy="1161288"/>
          </a:xfrm>
          <a:prstGeom prst="roundRect">
            <a:avLst>
              <a:gd name="adj" fmla="val 4724"/>
            </a:avLst>
          </a:prstGeom>
          <a:solidFill>
            <a:schemeClr val="bg2"/>
          </a:solidFill>
          <a:ln w="9525">
            <a:solidFill>
              <a:schemeClr val="accent3"/>
            </a:solidFill>
            <a:prstDash val="solid"/>
          </a:ln>
          <a:effectLst>
            <a:outerShdw sx="100000" sy="100000" kx="0" ky="0" algn="bl" rotWithShape="0" blurRad="76200" dist="25400" dir="5400000">
              <a:srgbClr val="6F665F">
                <a:alpha val="12000"/>
              </a:srgbClr>
            </a:outerShdw>
          </a:effectLst>
        </p:spPr>
      </p:sp>
      <p:sp>
        <p:nvSpPr>
          <p:cNvPr id="19" name="Text 17"/>
          <p:cNvSpPr txBox="1"/>
          <p:nvPr/>
        </p:nvSpPr>
        <p:spPr>
          <a:xfrm>
            <a:off x="1691640" y="4864608"/>
            <a:ext cx="5394960" cy="320040"/>
          </a:xfrm>
          <a:prstGeom prst="rect">
            <a:avLst/>
          </a:prstGeom>
          <a:noFill/>
          <a:ln/>
        </p:spPr>
        <p:txBody>
          <a:bodyPr wrap="square" lIns="0" tIns="0" rIns="0" bIns="0" rtlCol="0" anchor="t"/>
          <a:lstStyle/>
          <a:p>
            <a:pPr indent="0" marL="0">
              <a:buNone/>
            </a:pPr>
            <a:r>
              <a:rPr lang="en-US" sz="1400" b="1" dirty="0">
                <a:solidFill>
                  <a:schemeClr val="accent1"/>
                </a:solidFill>
              </a:rPr>
              <a:t>決意</a:t>
            </a:r>
            <a:endParaRPr lang="en-US" sz="1400" dirty="0"/>
          </a:p>
        </p:txBody>
      </p:sp>
      <p:sp>
        <p:nvSpPr>
          <p:cNvPr id="20" name="Text 18"/>
          <p:cNvSpPr txBox="1"/>
          <p:nvPr/>
        </p:nvSpPr>
        <p:spPr>
          <a:xfrm>
            <a:off x="1691640" y="5184648"/>
            <a:ext cx="5394960" cy="685800"/>
          </a:xfrm>
          <a:prstGeom prst="rect">
            <a:avLst/>
          </a:prstGeom>
          <a:noFill/>
          <a:ln/>
        </p:spPr>
        <p:txBody>
          <a:bodyPr wrap="square" lIns="0" tIns="0" rIns="0" bIns="0" rtlCol="0" anchor="t"/>
          <a:lstStyle/>
          <a:p>
            <a:pPr indent="0" marL="0">
              <a:buNone/>
            </a:pPr>
            <a:r>
              <a:rPr lang="en-US" sz="1200" dirty="0">
                <a:solidFill>
                  <a:schemeClr val="tx1"/>
                </a:solidFill>
              </a:rPr>
              <a:t>やり方さえ知っていれば、M&amp;Aは成功できる。その手順を、買い手の側に立って渡す</a:t>
            </a:r>
            <a:endParaRPr lang="en-US" sz="1200" dirty="0"/>
          </a:p>
        </p:txBody>
      </p:sp>
      <p:sp>
        <p:nvSpPr>
          <p:cNvPr id="21" name="founder quote"/>
          <p:cNvSpPr/>
          <p:nvPr/>
        </p:nvSpPr>
        <p:spPr>
          <a:xfrm>
            <a:off x="7589520" y="2103120"/>
            <a:ext cx="3913632" cy="3813048"/>
          </a:xfrm>
          <a:prstGeom prst="roundRect">
            <a:avLst>
              <a:gd name="adj" fmla="val 1439"/>
            </a:avLst>
          </a:prstGeom>
          <a:solidFill>
            <a:schemeClr val="tx1"/>
          </a:solidFill>
          <a:ln w="12700">
            <a:solidFill>
              <a:schemeClr val="tx1"/>
            </a:solidFill>
            <a:prstDash val="solid"/>
          </a:ln>
        </p:spPr>
      </p:sp>
      <p:sp>
        <p:nvSpPr>
          <p:cNvPr id="22" name="Text 20"/>
          <p:cNvSpPr txBox="1"/>
          <p:nvPr/>
        </p:nvSpPr>
        <p:spPr>
          <a:xfrm>
            <a:off x="7909560" y="2194560"/>
            <a:ext cx="3291840" cy="3611880"/>
          </a:xfrm>
          <a:prstGeom prst="rect">
            <a:avLst/>
          </a:prstGeom>
          <a:noFill/>
          <a:ln/>
        </p:spPr>
        <p:txBody>
          <a:bodyPr wrap="square" lIns="0" tIns="0" rIns="0" bIns="0" rtlCol="0" anchor="t"/>
          <a:lstStyle/>
          <a:p>
            <a:pPr indent="0" marL="0">
              <a:buNone/>
            </a:pPr>
            <a:r>
              <a:rPr lang="en-US" sz="4000" b="1" dirty="0">
                <a:solidFill>
                  <a:schemeClr val="accent1"/>
                </a:solidFill>
              </a:rPr>
              <a:t>“</a:t>
            </a:r>
            <a:endParaRPr lang="en-US" sz="1300" dirty="0"/>
          </a:p>
          <a:p>
            <a:pPr indent="0" marL="0">
              <a:buNone/>
            </a:pPr>
            <a:r>
              <a:rPr lang="en-US" sz="1800" b="1" dirty="0">
                <a:solidFill>
                  <a:schemeClr val="bg1"/>
                </a:solidFill>
              </a:rPr>
              <a:t>失敗して不幸になる人を、増やしたくない。成功してほしい。</a:t>
            </a:r>
            <a:endParaRPr lang="en-US" sz="1300" dirty="0"/>
          </a:p>
          <a:p>
            <a:pPr indent="0" marL="0">
              <a:buNone/>
            </a:pPr>
            <a:r>
              <a:rPr lang="en-US" sz="800" dirty="0">
                <a:solidFill>
                  <a:schemeClr val="tx1"/>
                </a:solidFill>
              </a:rPr>
              <a:t> </a:t>
            </a:r>
            <a:endParaRPr lang="en-US" sz="1300" dirty="0"/>
          </a:p>
          <a:p>
            <a:pPr indent="0" marL="0">
              <a:buNone/>
            </a:pPr>
            <a:r>
              <a:rPr lang="en-US" sz="1300" dirty="0">
                <a:solidFill>
                  <a:schemeClr val="accent3"/>
                </a:solidFill>
              </a:rPr>
              <a:t>自分の49戦の勝ちと負けから、その手順を全部渡します。</a:t>
            </a:r>
            <a:endParaRPr lang="en-US" sz="1300" dirty="0"/>
          </a:p>
          <a:p>
            <a:pPr indent="0" marL="0">
              <a:buNone/>
            </a:pPr>
            <a:r>
              <a:rPr lang="en-US" sz="1000" dirty="0">
                <a:solidFill>
                  <a:schemeClr val="tx1"/>
                </a:solidFill>
              </a:rPr>
              <a:t> </a:t>
            </a:r>
            <a:endParaRPr lang="en-US" sz="1300" dirty="0"/>
          </a:p>
          <a:p>
            <a:pPr indent="0" marL="0">
              <a:buNone/>
            </a:pPr>
            <a:r>
              <a:rPr lang="en-US" sz="1400" b="1" dirty="0">
                <a:solidFill>
                  <a:schemeClr val="accent4"/>
                </a:solidFill>
              </a:rPr>
              <a:t>中野 邦人</a:t>
            </a:r>
            <a:endParaRPr lang="en-US" sz="1300" dirty="0"/>
          </a:p>
        </p:txBody>
      </p:sp>
      <p:sp>
        <p:nvSpPr>
          <p:cNvPr id="25" name="Slide Number Placeholder 0"/>
          <p:cNvSpPr>
            <a:spLocks noGrp="1"/>
          </p:cNvSpPr>
          <p:nvPr>
            <p:ph type="sldNum" sz="quarter" idx="4294967295"/>
          </p:nvPr>
        </p:nvSpPr>
        <p:spPr>
          <a:xfrm>
            <a:off x="10957255"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dot"/>
          <p:cNvSpPr/>
          <p:nvPr/>
        </p:nvSpPr>
        <p:spPr>
          <a:xfrm>
            <a:off x="685800" y="484632"/>
            <a:ext cx="109728" cy="109728"/>
          </a:xfrm>
          <a:prstGeom prst="ellipse">
            <a:avLst/>
          </a:prstGeom>
          <a:solidFill>
            <a:schemeClr val="accent1"/>
          </a:solidFill>
          <a:ln w="12700">
            <a:solidFill>
              <a:schemeClr val="accent1"/>
            </a:solidFill>
            <a:prstDash val="solid"/>
          </a:ln>
        </p:spPr>
      </p:sp>
      <p:sp>
        <p:nvSpPr>
          <p:cNvPr id="3" name="Text 0"/>
          <p:cNvSpPr/>
          <p:nvPr>
            <p:ph idx="100" type="body" hasCustomPrompt="1"/>
          </p:nvPr>
        </p:nvSpPr>
        <p:spPr>
          <a:xfrm>
            <a:off x="923544" y="365760"/>
            <a:ext cx="9601200" cy="329184"/>
          </a:xfrm>
          <a:prstGeom prst="rect">
            <a:avLst/>
          </a:prstGeom>
          <a:noFill/>
          <a:ln/>
        </p:spPr>
        <p:txBody>
          <a:bodyPr wrap="square" lIns="0" tIns="0" rIns="0" bIns="0" rtlCol="0" anchor="ctr"/>
          <a:lstStyle/>
          <a:p>
            <a:pPr indent="0" marL="0">
              <a:buNone/>
            </a:pPr>
            <a:r>
              <a:rPr lang="en-US" sz="1200" b="1" spc="240" kern="0" dirty="0">
                <a:solidFill>
                  <a:schemeClr val="accent1"/>
                </a:solidFill>
              </a:rPr>
              <a:t>TRACK RECORD</a:t>
            </a:r>
            <a:endParaRPr lang="en-US" sz="1200" dirty="0"/>
          </a:p>
        </p:txBody>
      </p:sp>
      <p:sp>
        <p:nvSpPr>
          <p:cNvPr id="4" name="Text 0"/>
          <p:cNvSpPr/>
          <p:nvPr>
            <p:ph idx="101" type="title" hasCustomPrompt="1"/>
          </p:nvPr>
        </p:nvSpPr>
        <p:spPr>
          <a:xfrm>
            <a:off x="685800" y="749808"/>
            <a:ext cx="10820095" cy="731520"/>
          </a:xfrm>
          <a:prstGeom prst="rect">
            <a:avLst/>
          </a:prstGeom>
          <a:noFill/>
          <a:ln/>
        </p:spPr>
        <p:txBody>
          <a:bodyPr wrap="square" lIns="0" tIns="0" rIns="0" bIns="0" rtlCol="0" anchor="ctr"/>
          <a:lstStyle/>
          <a:p>
            <a:pPr algn="l" indent="0" marL="0">
              <a:buNone/>
            </a:pPr>
            <a:r>
              <a:rPr lang="en-US" sz="3000" b="1" dirty="0">
                <a:solidFill>
                  <a:schemeClr val="tx1"/>
                </a:solidFill>
              </a:rPr>
              <a:t>49戦の実績：純資産より安く買い、営業利益を積み上げる</a:t>
            </a:r>
            <a:endParaRPr lang="en-US" sz="3000" dirty="0"/>
          </a:p>
        </p:txBody>
      </p:sp>
      <p:sp>
        <p:nvSpPr>
          <p:cNvPr id="5" name="Text 0"/>
          <p:cNvSpPr/>
          <p:nvPr>
            <p:ph idx="102" type="body" hasCustomPrompt="1"/>
          </p:nvPr>
        </p:nvSpPr>
        <p:spPr>
          <a:xfrm>
            <a:off x="685800" y="1481328"/>
            <a:ext cx="10820095" cy="365760"/>
          </a:xfrm>
          <a:prstGeom prst="rect">
            <a:avLst/>
          </a:prstGeom>
          <a:noFill/>
          <a:ln/>
        </p:spPr>
        <p:txBody>
          <a:bodyPr wrap="square" lIns="0" tIns="0" rIns="0" bIns="0" rtlCol="0" anchor="t"/>
          <a:lstStyle/>
          <a:p>
            <a:pPr indent="0" marL="0">
              <a:buNone/>
            </a:pPr>
            <a:r>
              <a:rPr lang="en-US" sz="1350" dirty="0">
                <a:solidFill>
                  <a:schemeClr val="accent2"/>
                </a:solidFill>
              </a:rPr>
              <a:t>買った値段に対して「手元に残った資産（売却額を含む）」と「育った営業利益」で測る。すべて自社の実案件</a:t>
            </a:r>
            <a:endParaRPr lang="en-US" sz="1350" dirty="0"/>
          </a:p>
        </p:txBody>
      </p:sp>
      <p:sp>
        <p:nvSpPr>
          <p:cNvPr id="6" name="panel 第1期 2011–19"/>
          <p:cNvSpPr/>
          <p:nvPr/>
        </p:nvSpPr>
        <p:spPr>
          <a:xfrm>
            <a:off x="685800" y="2011680"/>
            <a:ext cx="5349240" cy="4041648"/>
          </a:xfrm>
          <a:prstGeom prst="roundRect">
            <a:avLst>
              <a:gd name="adj" fmla="val 1357"/>
            </a:avLst>
          </a:prstGeom>
          <a:solidFill>
            <a:schemeClr val="bg2"/>
          </a:solidFill>
          <a:ln w="9525">
            <a:solidFill>
              <a:schemeClr val="accent3"/>
            </a:solidFill>
            <a:prstDash val="solid"/>
          </a:ln>
          <a:effectLst>
            <a:outerShdw sx="100000" sy="100000" kx="0" ky="0" algn="bl" rotWithShape="0" blurRad="76200" dist="25400" dir="5400000">
              <a:srgbClr val="6F665F">
                <a:alpha val="12000"/>
              </a:srgbClr>
            </a:outerShdw>
          </a:effectLst>
        </p:spPr>
      </p:sp>
      <p:sp>
        <p:nvSpPr>
          <p:cNvPr id="7" name="Shape 5"/>
          <p:cNvSpPr/>
          <p:nvPr/>
        </p:nvSpPr>
        <p:spPr>
          <a:xfrm>
            <a:off x="960120" y="2212848"/>
            <a:ext cx="1417320" cy="274320"/>
          </a:xfrm>
          <a:prstGeom prst="roundRect">
            <a:avLst>
              <a:gd name="adj" fmla="val 50000"/>
            </a:avLst>
          </a:prstGeom>
          <a:solidFill>
            <a:schemeClr val="accent1"/>
          </a:solidFill>
          <a:ln w="12700">
            <a:solidFill>
              <a:schemeClr val="accent1"/>
            </a:solidFill>
            <a:prstDash val="solid"/>
          </a:ln>
        </p:spPr>
      </p:sp>
      <p:sp>
        <p:nvSpPr>
          <p:cNvPr id="8" name="Text 6"/>
          <p:cNvSpPr txBox="1"/>
          <p:nvPr/>
        </p:nvSpPr>
        <p:spPr>
          <a:xfrm>
            <a:off x="960120" y="2212848"/>
            <a:ext cx="1417320" cy="274320"/>
          </a:xfrm>
          <a:prstGeom prst="rect">
            <a:avLst/>
          </a:prstGeom>
          <a:noFill/>
          <a:ln/>
        </p:spPr>
        <p:txBody>
          <a:bodyPr wrap="square" lIns="0" tIns="0" rIns="0" bIns="0" rtlCol="0" anchor="ctr"/>
          <a:lstStyle/>
          <a:p>
            <a:pPr algn="ctr" indent="0" marL="0">
              <a:buNone/>
            </a:pPr>
            <a:r>
              <a:rPr lang="en-US" sz="950" b="1" dirty="0">
                <a:solidFill>
                  <a:schemeClr val="bg1"/>
                </a:solidFill>
              </a:rPr>
              <a:t>第1期 2011–19</a:t>
            </a:r>
            <a:endParaRPr lang="en-US" sz="950" dirty="0"/>
          </a:p>
        </p:txBody>
      </p:sp>
      <p:sp>
        <p:nvSpPr>
          <p:cNvPr id="9" name="Text 7"/>
          <p:cNvSpPr txBox="1"/>
          <p:nvPr/>
        </p:nvSpPr>
        <p:spPr>
          <a:xfrm>
            <a:off x="2514600" y="2176272"/>
            <a:ext cx="3291840" cy="347472"/>
          </a:xfrm>
          <a:prstGeom prst="rect">
            <a:avLst/>
          </a:prstGeom>
          <a:noFill/>
          <a:ln/>
        </p:spPr>
        <p:txBody>
          <a:bodyPr wrap="square" lIns="0" tIns="0" rIns="0" bIns="0" rtlCol="0" anchor="ctr"/>
          <a:lstStyle/>
          <a:p>
            <a:pPr indent="0" marL="0">
              <a:buNone/>
            </a:pPr>
            <a:r>
              <a:rPr lang="en-US" sz="1400" b="1" dirty="0">
                <a:solidFill>
                  <a:schemeClr val="tx1"/>
                </a:solidFill>
              </a:rPr>
              <a:t>数で獲りにいき、授業料も払った</a:t>
            </a:r>
            <a:endParaRPr lang="en-US" sz="1400" dirty="0"/>
          </a:p>
        </p:txBody>
      </p:sp>
      <p:sp>
        <p:nvSpPr>
          <p:cNvPr id="10" name="Text 8"/>
          <p:cNvSpPr txBox="1"/>
          <p:nvPr/>
        </p:nvSpPr>
        <p:spPr>
          <a:xfrm>
            <a:off x="960120" y="2743200"/>
            <a:ext cx="1051560" cy="384048"/>
          </a:xfrm>
          <a:prstGeom prst="rect">
            <a:avLst/>
          </a:prstGeom>
          <a:noFill/>
          <a:ln/>
        </p:spPr>
        <p:txBody>
          <a:bodyPr wrap="square" lIns="0" tIns="0" rIns="0" bIns="0" rtlCol="0" anchor="ctr"/>
          <a:lstStyle/>
          <a:p>
            <a:pPr indent="0" marL="0">
              <a:buNone/>
            </a:pPr>
            <a:r>
              <a:rPr lang="en-US" sz="1100" b="1" dirty="0">
                <a:solidFill>
                  <a:schemeClr val="accent2"/>
                </a:solidFill>
              </a:rPr>
              <a:t>購入額</a:t>
            </a:r>
            <a:endParaRPr lang="en-US" sz="1100" dirty="0"/>
          </a:p>
        </p:txBody>
      </p:sp>
      <p:sp>
        <p:nvSpPr>
          <p:cNvPr id="11" name="第1期 2011–19 bar 購入額"/>
          <p:cNvSpPr/>
          <p:nvPr/>
        </p:nvSpPr>
        <p:spPr>
          <a:xfrm>
            <a:off x="2011680" y="2779776"/>
            <a:ext cx="1085222" cy="310896"/>
          </a:xfrm>
          <a:prstGeom prst="rect">
            <a:avLst/>
          </a:prstGeom>
          <a:solidFill>
            <a:srgbClr val="9A8F84"/>
          </a:solidFill>
          <a:ln w="12700">
            <a:solidFill>
              <a:srgbClr val="9A8F84"/>
            </a:solidFill>
            <a:prstDash val="solid"/>
          </a:ln>
        </p:spPr>
      </p:sp>
      <p:sp>
        <p:nvSpPr>
          <p:cNvPr id="12" name="Text 10"/>
          <p:cNvSpPr txBox="1"/>
          <p:nvPr/>
        </p:nvSpPr>
        <p:spPr>
          <a:xfrm>
            <a:off x="3170054" y="2743200"/>
            <a:ext cx="822960" cy="384048"/>
          </a:xfrm>
          <a:prstGeom prst="rect">
            <a:avLst/>
          </a:prstGeom>
          <a:noFill/>
          <a:ln/>
        </p:spPr>
        <p:txBody>
          <a:bodyPr wrap="square" lIns="0" tIns="0" rIns="0" bIns="0" rtlCol="0" anchor="ctr"/>
          <a:lstStyle/>
          <a:p>
            <a:pPr indent="0" marL="0">
              <a:buNone/>
            </a:pPr>
            <a:r>
              <a:rPr lang="en-US" sz="1200" b="1" dirty="0">
                <a:solidFill>
                  <a:schemeClr val="tx1"/>
                </a:solidFill>
              </a:rPr>
              <a:t>10.8億</a:t>
            </a:r>
            <a:endParaRPr lang="en-US" sz="1200" dirty="0"/>
          </a:p>
        </p:txBody>
      </p:sp>
      <p:sp>
        <p:nvSpPr>
          <p:cNvPr id="13" name="Text 11"/>
          <p:cNvSpPr txBox="1"/>
          <p:nvPr/>
        </p:nvSpPr>
        <p:spPr>
          <a:xfrm>
            <a:off x="960120" y="3246120"/>
            <a:ext cx="1051560" cy="384048"/>
          </a:xfrm>
          <a:prstGeom prst="rect">
            <a:avLst/>
          </a:prstGeom>
          <a:noFill/>
          <a:ln/>
        </p:spPr>
        <p:txBody>
          <a:bodyPr wrap="square" lIns="0" tIns="0" rIns="0" bIns="0" rtlCol="0" anchor="ctr"/>
          <a:lstStyle/>
          <a:p>
            <a:pPr indent="0" marL="0">
              <a:buNone/>
            </a:pPr>
            <a:r>
              <a:rPr lang="en-US" sz="1100" b="1" dirty="0">
                <a:solidFill>
                  <a:schemeClr val="accent2"/>
                </a:solidFill>
              </a:rPr>
              <a:t>純資産＋売却</a:t>
            </a:r>
            <a:endParaRPr lang="en-US" sz="1100" dirty="0"/>
          </a:p>
        </p:txBody>
      </p:sp>
      <p:sp>
        <p:nvSpPr>
          <p:cNvPr id="14" name="第1期 2011–19 bar 純資産＋売却"/>
          <p:cNvSpPr/>
          <p:nvPr/>
        </p:nvSpPr>
        <p:spPr>
          <a:xfrm>
            <a:off x="2011680" y="3282696"/>
            <a:ext cx="733530" cy="310896"/>
          </a:xfrm>
          <a:prstGeom prst="rect">
            <a:avLst/>
          </a:prstGeom>
          <a:solidFill>
            <a:srgbClr val="A78450"/>
          </a:solidFill>
          <a:ln w="12700">
            <a:solidFill>
              <a:srgbClr val="A78450"/>
            </a:solidFill>
            <a:prstDash val="solid"/>
          </a:ln>
        </p:spPr>
      </p:sp>
      <p:sp>
        <p:nvSpPr>
          <p:cNvPr id="15" name="Text 13"/>
          <p:cNvSpPr txBox="1"/>
          <p:nvPr/>
        </p:nvSpPr>
        <p:spPr>
          <a:xfrm>
            <a:off x="2818362" y="3246120"/>
            <a:ext cx="822960" cy="384048"/>
          </a:xfrm>
          <a:prstGeom prst="rect">
            <a:avLst/>
          </a:prstGeom>
          <a:noFill/>
          <a:ln/>
        </p:spPr>
        <p:txBody>
          <a:bodyPr wrap="square" lIns="0" tIns="0" rIns="0" bIns="0" rtlCol="0" anchor="ctr"/>
          <a:lstStyle/>
          <a:p>
            <a:pPr indent="0" marL="0">
              <a:buNone/>
            </a:pPr>
            <a:r>
              <a:rPr lang="en-US" sz="1200" b="1" dirty="0">
                <a:solidFill>
                  <a:schemeClr val="tx1"/>
                </a:solidFill>
              </a:rPr>
              <a:t>7.3億</a:t>
            </a:r>
            <a:endParaRPr lang="en-US" sz="1200" dirty="0"/>
          </a:p>
        </p:txBody>
      </p:sp>
      <p:sp>
        <p:nvSpPr>
          <p:cNvPr id="16" name="Text 14"/>
          <p:cNvSpPr txBox="1"/>
          <p:nvPr/>
        </p:nvSpPr>
        <p:spPr>
          <a:xfrm>
            <a:off x="4617720" y="2651760"/>
            <a:ext cx="1234440" cy="1051560"/>
          </a:xfrm>
          <a:prstGeom prst="rect">
            <a:avLst/>
          </a:prstGeom>
          <a:noFill/>
          <a:ln/>
        </p:spPr>
        <p:txBody>
          <a:bodyPr wrap="square" lIns="0" tIns="0" rIns="0" bIns="0" rtlCol="0" anchor="ctr"/>
          <a:lstStyle/>
          <a:p>
            <a:pPr algn="r" indent="0" marL="0">
              <a:buNone/>
            </a:pPr>
            <a:r>
              <a:rPr lang="en-US" sz="2800" b="1" dirty="0">
                <a:solidFill>
                  <a:schemeClr val="accent1"/>
                </a:solidFill>
              </a:rPr>
              <a:t>0.7倍</a:t>
            </a:r>
            <a:endParaRPr lang="en-US" sz="1300" dirty="0"/>
          </a:p>
          <a:p>
            <a:pPr algn="r" indent="0" marL="0">
              <a:buNone/>
            </a:pPr>
            <a:r>
              <a:rPr lang="en-US" sz="900" dirty="0">
                <a:solidFill>
                  <a:schemeClr val="accent2"/>
                </a:solidFill>
              </a:rPr>
              <a:t>購入額に対する資産</a:t>
            </a:r>
            <a:endParaRPr lang="en-US" sz="1300" dirty="0"/>
          </a:p>
        </p:txBody>
      </p:sp>
      <p:sp>
        <p:nvSpPr>
          <p:cNvPr id="17" name="Shape 15"/>
          <p:cNvSpPr/>
          <p:nvPr/>
        </p:nvSpPr>
        <p:spPr>
          <a:xfrm>
            <a:off x="960120" y="3840480"/>
            <a:ext cx="4800600" cy="0"/>
          </a:xfrm>
          <a:prstGeom prst="line">
            <a:avLst/>
          </a:prstGeom>
          <a:noFill/>
          <a:ln w="9525">
            <a:solidFill>
              <a:srgbClr val="E6DCCB"/>
            </a:solidFill>
            <a:prstDash val="solid"/>
          </a:ln>
        </p:spPr>
      </p:sp>
      <p:sp>
        <p:nvSpPr>
          <p:cNvPr id="18" name="Text 16"/>
          <p:cNvSpPr txBox="1"/>
          <p:nvPr/>
        </p:nvSpPr>
        <p:spPr>
          <a:xfrm>
            <a:off x="960120" y="3931920"/>
            <a:ext cx="2377440" cy="274320"/>
          </a:xfrm>
          <a:prstGeom prst="rect">
            <a:avLst/>
          </a:prstGeom>
          <a:noFill/>
          <a:ln/>
        </p:spPr>
        <p:txBody>
          <a:bodyPr wrap="square" lIns="0" tIns="0" rIns="0" bIns="0" rtlCol="0" anchor="t"/>
          <a:lstStyle/>
          <a:p>
            <a:pPr indent="0" marL="0">
              <a:buNone/>
            </a:pPr>
            <a:r>
              <a:rPr lang="en-US" sz="1100" b="1" dirty="0">
                <a:solidFill>
                  <a:schemeClr val="accent2"/>
                </a:solidFill>
              </a:rPr>
              <a:t>保有期間中の営業利益</a:t>
            </a:r>
            <a:endParaRPr lang="en-US" sz="1100" dirty="0"/>
          </a:p>
        </p:txBody>
      </p:sp>
      <p:sp>
        <p:nvSpPr>
          <p:cNvPr id="19" name="Text 17"/>
          <p:cNvSpPr txBox="1"/>
          <p:nvPr/>
        </p:nvSpPr>
        <p:spPr>
          <a:xfrm>
            <a:off x="960120" y="4206240"/>
            <a:ext cx="2468880" cy="640080"/>
          </a:xfrm>
          <a:prstGeom prst="rect">
            <a:avLst/>
          </a:prstGeom>
          <a:noFill/>
          <a:ln/>
        </p:spPr>
        <p:txBody>
          <a:bodyPr wrap="square" lIns="0" tIns="0" rIns="0" bIns="0" rtlCol="0" anchor="ctr"/>
          <a:lstStyle/>
          <a:p>
            <a:pPr indent="0" marL="0">
              <a:buNone/>
            </a:pPr>
            <a:r>
              <a:rPr lang="en-US" sz="3000" b="1" dirty="0">
                <a:solidFill>
                  <a:schemeClr val="tx1"/>
                </a:solidFill>
              </a:rPr>
              <a:t>累計7.6</a:t>
            </a:r>
            <a:pPr indent="0" marL="0">
              <a:buNone/>
            </a:pPr>
            <a:r>
              <a:rPr lang="en-US" sz="1200" b="1" dirty="0">
                <a:solidFill>
                  <a:schemeClr val="accent2"/>
                </a:solidFill>
              </a:rPr>
              <a:t> 億円</a:t>
            </a:r>
            <a:endParaRPr lang="en-US" sz="1300" dirty="0"/>
          </a:p>
        </p:txBody>
      </p:sp>
      <p:sp>
        <p:nvSpPr>
          <p:cNvPr id="20" name="Text 18"/>
          <p:cNvSpPr txBox="1"/>
          <p:nvPr/>
        </p:nvSpPr>
        <p:spPr>
          <a:xfrm>
            <a:off x="960120" y="4846320"/>
            <a:ext cx="2377440" cy="457200"/>
          </a:xfrm>
          <a:prstGeom prst="rect">
            <a:avLst/>
          </a:prstGeom>
          <a:noFill/>
          <a:ln/>
        </p:spPr>
        <p:txBody>
          <a:bodyPr wrap="square" lIns="0" tIns="0" rIns="0" bIns="0" rtlCol="0" anchor="t"/>
          <a:lstStyle/>
          <a:p>
            <a:pPr indent="0" marL="0">
              <a:buNone/>
            </a:pPr>
            <a:r>
              <a:rPr lang="en-US" sz="950" dirty="0">
                <a:solidFill>
                  <a:schemeClr val="accent2"/>
                </a:solidFill>
              </a:rPr>
              <a:t>資産と合わせると14.9億円が戻った</a:t>
            </a:r>
            <a:endParaRPr lang="en-US" sz="950" dirty="0"/>
          </a:p>
        </p:txBody>
      </p:sp>
      <p:sp>
        <p:nvSpPr>
          <p:cNvPr id="21" name="第1期 2011–19 deal 1"/>
          <p:cNvSpPr/>
          <p:nvPr/>
        </p:nvSpPr>
        <p:spPr>
          <a:xfrm>
            <a:off x="3474720" y="3977640"/>
            <a:ext cx="2286000" cy="594360"/>
          </a:xfrm>
          <a:prstGeom prst="roundRect">
            <a:avLst>
              <a:gd name="adj" fmla="val 7692"/>
            </a:avLst>
          </a:prstGeom>
          <a:solidFill>
            <a:schemeClr val="bg1"/>
          </a:solidFill>
          <a:ln w="12700">
            <a:solidFill>
              <a:srgbClr val="E6DCCB"/>
            </a:solidFill>
            <a:prstDash val="solid"/>
          </a:ln>
        </p:spPr>
      </p:sp>
      <p:sp>
        <p:nvSpPr>
          <p:cNvPr id="22" name="Text 20"/>
          <p:cNvSpPr txBox="1"/>
          <p:nvPr/>
        </p:nvSpPr>
        <p:spPr>
          <a:xfrm>
            <a:off x="3566160" y="3977640"/>
            <a:ext cx="2148840" cy="594360"/>
          </a:xfrm>
          <a:prstGeom prst="rect">
            <a:avLst/>
          </a:prstGeom>
          <a:noFill/>
          <a:ln/>
        </p:spPr>
        <p:txBody>
          <a:bodyPr wrap="square" lIns="0" tIns="0" rIns="0" bIns="0" rtlCol="0" anchor="ctr"/>
          <a:lstStyle/>
          <a:p>
            <a:pPr indent="0" marL="0">
              <a:buNone/>
            </a:pPr>
            <a:r>
              <a:rPr lang="en-US" sz="1050" b="1" dirty="0">
                <a:solidFill>
                  <a:schemeClr val="tx1"/>
                </a:solidFill>
              </a:rPr>
              <a:t>多店舗飲食C社（25店舗）</a:t>
            </a:r>
            <a:endParaRPr lang="en-US" sz="1300" dirty="0"/>
          </a:p>
          <a:p>
            <a:pPr indent="0" marL="0">
              <a:buNone/>
            </a:pPr>
            <a:r>
              <a:rPr lang="en-US" sz="900" dirty="0">
                <a:solidFill>
                  <a:schemeClr val="accent2"/>
                </a:solidFill>
              </a:rPr>
              <a:t>3.3億円で取得 → 累計営業利益3.9億円</a:t>
            </a:r>
            <a:endParaRPr lang="en-US" sz="1300" dirty="0"/>
          </a:p>
        </p:txBody>
      </p:sp>
      <p:sp>
        <p:nvSpPr>
          <p:cNvPr id="23" name="第1期 2011–19 deal 2"/>
          <p:cNvSpPr/>
          <p:nvPr/>
        </p:nvSpPr>
        <p:spPr>
          <a:xfrm>
            <a:off x="3474720" y="4663440"/>
            <a:ext cx="2286000" cy="594360"/>
          </a:xfrm>
          <a:prstGeom prst="roundRect">
            <a:avLst>
              <a:gd name="adj" fmla="val 7692"/>
            </a:avLst>
          </a:prstGeom>
          <a:solidFill>
            <a:schemeClr val="bg1"/>
          </a:solidFill>
          <a:ln w="12700">
            <a:solidFill>
              <a:srgbClr val="E6DCCB"/>
            </a:solidFill>
            <a:prstDash val="solid"/>
          </a:ln>
        </p:spPr>
      </p:sp>
      <p:sp>
        <p:nvSpPr>
          <p:cNvPr id="24" name="Text 22"/>
          <p:cNvSpPr txBox="1"/>
          <p:nvPr/>
        </p:nvSpPr>
        <p:spPr>
          <a:xfrm>
            <a:off x="3566160" y="4663440"/>
            <a:ext cx="2148840" cy="594360"/>
          </a:xfrm>
          <a:prstGeom prst="rect">
            <a:avLst/>
          </a:prstGeom>
          <a:noFill/>
          <a:ln/>
        </p:spPr>
        <p:txBody>
          <a:bodyPr wrap="square" lIns="0" tIns="0" rIns="0" bIns="0" rtlCol="0" anchor="ctr"/>
          <a:lstStyle/>
          <a:p>
            <a:pPr indent="0" marL="0">
              <a:buNone/>
            </a:pPr>
            <a:r>
              <a:rPr lang="en-US" sz="1050" b="1" dirty="0">
                <a:solidFill>
                  <a:schemeClr val="tx1"/>
                </a:solidFill>
              </a:rPr>
              <a:t>ポータル事業D</a:t>
            </a:r>
            <a:endParaRPr lang="en-US" sz="1300" dirty="0"/>
          </a:p>
          <a:p>
            <a:pPr indent="0" marL="0">
              <a:buNone/>
            </a:pPr>
            <a:r>
              <a:rPr lang="en-US" sz="900" dirty="0">
                <a:solidFill>
                  <a:schemeClr val="accent2"/>
                </a:solidFill>
              </a:rPr>
              <a:t>1,100万円で取得 → 累計1.7億円</a:t>
            </a:r>
            <a:endParaRPr lang="en-US" sz="1300" dirty="0"/>
          </a:p>
        </p:txBody>
      </p:sp>
      <p:sp>
        <p:nvSpPr>
          <p:cNvPr id="25" name="Text 23"/>
          <p:cNvSpPr txBox="1"/>
          <p:nvPr/>
        </p:nvSpPr>
        <p:spPr>
          <a:xfrm>
            <a:off x="960120" y="5440680"/>
            <a:ext cx="4800600" cy="502920"/>
          </a:xfrm>
          <a:prstGeom prst="rect">
            <a:avLst/>
          </a:prstGeom>
          <a:noFill/>
          <a:ln/>
        </p:spPr>
        <p:txBody>
          <a:bodyPr wrap="square" lIns="0" tIns="0" rIns="0" bIns="0" rtlCol="0" anchor="ctr"/>
          <a:lstStyle/>
          <a:p>
            <a:pPr indent="0" marL="0">
              <a:buNone/>
            </a:pPr>
            <a:r>
              <a:rPr lang="en-US" sz="1150" b="1" dirty="0">
                <a:solidFill>
                  <a:schemeClr val="accent1"/>
                </a:solidFill>
              </a:rPr>
              <a:t>負けも含めて、この9年がいまの判断ルールになった</a:t>
            </a:r>
            <a:endParaRPr lang="en-US" sz="1150" dirty="0"/>
          </a:p>
        </p:txBody>
      </p:sp>
      <p:sp>
        <p:nvSpPr>
          <p:cNvPr id="26" name="panel 第2期 2020–"/>
          <p:cNvSpPr/>
          <p:nvPr/>
        </p:nvSpPr>
        <p:spPr>
          <a:xfrm>
            <a:off x="6172200" y="2011680"/>
            <a:ext cx="5349240" cy="4041648"/>
          </a:xfrm>
          <a:prstGeom prst="roundRect">
            <a:avLst>
              <a:gd name="adj" fmla="val 1357"/>
            </a:avLst>
          </a:prstGeom>
          <a:solidFill>
            <a:schemeClr val="tx1"/>
          </a:solidFill>
          <a:ln w="12700">
            <a:solidFill>
              <a:schemeClr val="tx1"/>
            </a:solidFill>
            <a:prstDash val="solid"/>
          </a:ln>
        </p:spPr>
      </p:sp>
      <p:sp>
        <p:nvSpPr>
          <p:cNvPr id="27" name="Shape 25"/>
          <p:cNvSpPr/>
          <p:nvPr/>
        </p:nvSpPr>
        <p:spPr>
          <a:xfrm>
            <a:off x="6446520" y="2212848"/>
            <a:ext cx="1417320" cy="274320"/>
          </a:xfrm>
          <a:prstGeom prst="roundRect">
            <a:avLst>
              <a:gd name="adj" fmla="val 50000"/>
            </a:avLst>
          </a:prstGeom>
          <a:solidFill>
            <a:schemeClr val="accent1"/>
          </a:solidFill>
          <a:ln w="12700">
            <a:solidFill>
              <a:schemeClr val="accent1"/>
            </a:solidFill>
            <a:prstDash val="solid"/>
          </a:ln>
        </p:spPr>
      </p:sp>
      <p:sp>
        <p:nvSpPr>
          <p:cNvPr id="28" name="Text 26"/>
          <p:cNvSpPr txBox="1"/>
          <p:nvPr/>
        </p:nvSpPr>
        <p:spPr>
          <a:xfrm>
            <a:off x="6446520" y="2212848"/>
            <a:ext cx="1417320" cy="274320"/>
          </a:xfrm>
          <a:prstGeom prst="rect">
            <a:avLst/>
          </a:prstGeom>
          <a:noFill/>
          <a:ln/>
        </p:spPr>
        <p:txBody>
          <a:bodyPr wrap="square" lIns="0" tIns="0" rIns="0" bIns="0" rtlCol="0" anchor="ctr"/>
          <a:lstStyle/>
          <a:p>
            <a:pPr algn="ctr" indent="0" marL="0">
              <a:buNone/>
            </a:pPr>
            <a:r>
              <a:rPr lang="en-US" sz="950" b="1" dirty="0">
                <a:solidFill>
                  <a:schemeClr val="bg1"/>
                </a:solidFill>
              </a:rPr>
              <a:t>第2期 2020–</a:t>
            </a:r>
            <a:endParaRPr lang="en-US" sz="950" dirty="0"/>
          </a:p>
        </p:txBody>
      </p:sp>
      <p:sp>
        <p:nvSpPr>
          <p:cNvPr id="29" name="Text 27"/>
          <p:cNvSpPr txBox="1"/>
          <p:nvPr/>
        </p:nvSpPr>
        <p:spPr>
          <a:xfrm>
            <a:off x="8001000" y="2176272"/>
            <a:ext cx="3291840" cy="347472"/>
          </a:xfrm>
          <a:prstGeom prst="rect">
            <a:avLst/>
          </a:prstGeom>
          <a:noFill/>
          <a:ln/>
        </p:spPr>
        <p:txBody>
          <a:bodyPr wrap="square" lIns="0" tIns="0" rIns="0" bIns="0" rtlCol="0" anchor="ctr"/>
          <a:lstStyle/>
          <a:p>
            <a:pPr indent="0" marL="0">
              <a:buNone/>
            </a:pPr>
            <a:r>
              <a:rPr lang="en-US" sz="1400" b="1" dirty="0">
                <a:solidFill>
                  <a:schemeClr val="accent4"/>
                </a:solidFill>
              </a:rPr>
              <a:t>純資産より安く買う</a:t>
            </a:r>
            <a:endParaRPr lang="en-US" sz="1400" dirty="0"/>
          </a:p>
        </p:txBody>
      </p:sp>
      <p:sp>
        <p:nvSpPr>
          <p:cNvPr id="30" name="Text 28"/>
          <p:cNvSpPr txBox="1"/>
          <p:nvPr/>
        </p:nvSpPr>
        <p:spPr>
          <a:xfrm>
            <a:off x="6446520" y="2743200"/>
            <a:ext cx="1051560" cy="384048"/>
          </a:xfrm>
          <a:prstGeom prst="rect">
            <a:avLst/>
          </a:prstGeom>
          <a:noFill/>
          <a:ln/>
        </p:spPr>
        <p:txBody>
          <a:bodyPr wrap="square" lIns="0" tIns="0" rIns="0" bIns="0" rtlCol="0" anchor="ctr"/>
          <a:lstStyle/>
          <a:p>
            <a:pPr indent="0" marL="0">
              <a:buNone/>
            </a:pPr>
            <a:r>
              <a:rPr lang="en-US" sz="1100" b="1" dirty="0">
                <a:solidFill>
                  <a:schemeClr val="accent3"/>
                </a:solidFill>
              </a:rPr>
              <a:t>購入額</a:t>
            </a:r>
            <a:endParaRPr lang="en-US" sz="1100" dirty="0"/>
          </a:p>
        </p:txBody>
      </p:sp>
      <p:sp>
        <p:nvSpPr>
          <p:cNvPr id="31" name="第2期 2020– bar 購入額"/>
          <p:cNvSpPr/>
          <p:nvPr/>
        </p:nvSpPr>
        <p:spPr>
          <a:xfrm>
            <a:off x="7498080" y="2779776"/>
            <a:ext cx="1446963" cy="310896"/>
          </a:xfrm>
          <a:prstGeom prst="rect">
            <a:avLst/>
          </a:prstGeom>
          <a:solidFill>
            <a:srgbClr val="9A8F84"/>
          </a:solidFill>
          <a:ln w="12700">
            <a:solidFill>
              <a:srgbClr val="9A8F84"/>
            </a:solidFill>
            <a:prstDash val="solid"/>
          </a:ln>
        </p:spPr>
      </p:sp>
      <p:sp>
        <p:nvSpPr>
          <p:cNvPr id="32" name="Text 30"/>
          <p:cNvSpPr txBox="1"/>
          <p:nvPr/>
        </p:nvSpPr>
        <p:spPr>
          <a:xfrm>
            <a:off x="9018195" y="2743200"/>
            <a:ext cx="822960" cy="384048"/>
          </a:xfrm>
          <a:prstGeom prst="rect">
            <a:avLst/>
          </a:prstGeom>
          <a:noFill/>
          <a:ln/>
        </p:spPr>
        <p:txBody>
          <a:bodyPr wrap="square" lIns="0" tIns="0" rIns="0" bIns="0" rtlCol="0" anchor="ctr"/>
          <a:lstStyle/>
          <a:p>
            <a:pPr indent="0" marL="0">
              <a:buNone/>
            </a:pPr>
            <a:r>
              <a:rPr lang="en-US" sz="1200" b="1" dirty="0">
                <a:solidFill>
                  <a:schemeClr val="bg1"/>
                </a:solidFill>
              </a:rPr>
              <a:t>14.4億</a:t>
            </a:r>
            <a:endParaRPr lang="en-US" sz="1200" dirty="0"/>
          </a:p>
        </p:txBody>
      </p:sp>
      <p:sp>
        <p:nvSpPr>
          <p:cNvPr id="33" name="Text 31"/>
          <p:cNvSpPr txBox="1"/>
          <p:nvPr/>
        </p:nvSpPr>
        <p:spPr>
          <a:xfrm>
            <a:off x="6446520" y="3246120"/>
            <a:ext cx="1051560" cy="384048"/>
          </a:xfrm>
          <a:prstGeom prst="rect">
            <a:avLst/>
          </a:prstGeom>
          <a:noFill/>
          <a:ln/>
        </p:spPr>
        <p:txBody>
          <a:bodyPr wrap="square" lIns="0" tIns="0" rIns="0" bIns="0" rtlCol="0" anchor="ctr"/>
          <a:lstStyle/>
          <a:p>
            <a:pPr indent="0" marL="0">
              <a:buNone/>
            </a:pPr>
            <a:r>
              <a:rPr lang="en-US" sz="1100" b="1" dirty="0">
                <a:solidFill>
                  <a:schemeClr val="accent3"/>
                </a:solidFill>
              </a:rPr>
              <a:t>純資産＋売却</a:t>
            </a:r>
            <a:endParaRPr lang="en-US" sz="1100" dirty="0"/>
          </a:p>
        </p:txBody>
      </p:sp>
      <p:sp>
        <p:nvSpPr>
          <p:cNvPr id="34" name="第2期 2020– bar 純資産＋売却"/>
          <p:cNvSpPr/>
          <p:nvPr/>
        </p:nvSpPr>
        <p:spPr>
          <a:xfrm>
            <a:off x="7498080" y="3282696"/>
            <a:ext cx="1828800" cy="310896"/>
          </a:xfrm>
          <a:prstGeom prst="rect">
            <a:avLst/>
          </a:prstGeom>
          <a:solidFill>
            <a:srgbClr val="A78450"/>
          </a:solidFill>
          <a:ln w="12700">
            <a:solidFill>
              <a:srgbClr val="A78450"/>
            </a:solidFill>
            <a:prstDash val="solid"/>
          </a:ln>
        </p:spPr>
      </p:sp>
      <p:sp>
        <p:nvSpPr>
          <p:cNvPr id="35" name="Text 33"/>
          <p:cNvSpPr txBox="1"/>
          <p:nvPr/>
        </p:nvSpPr>
        <p:spPr>
          <a:xfrm>
            <a:off x="9400032" y="3246120"/>
            <a:ext cx="822960" cy="384048"/>
          </a:xfrm>
          <a:prstGeom prst="rect">
            <a:avLst/>
          </a:prstGeom>
          <a:noFill/>
          <a:ln/>
        </p:spPr>
        <p:txBody>
          <a:bodyPr wrap="square" lIns="0" tIns="0" rIns="0" bIns="0" rtlCol="0" anchor="ctr"/>
          <a:lstStyle/>
          <a:p>
            <a:pPr indent="0" marL="0">
              <a:buNone/>
            </a:pPr>
            <a:r>
              <a:rPr lang="en-US" sz="1200" b="1" dirty="0">
                <a:solidFill>
                  <a:schemeClr val="bg1"/>
                </a:solidFill>
              </a:rPr>
              <a:t>18.2億</a:t>
            </a:r>
            <a:endParaRPr lang="en-US" sz="1200" dirty="0"/>
          </a:p>
        </p:txBody>
      </p:sp>
      <p:sp>
        <p:nvSpPr>
          <p:cNvPr id="36" name="Text 34"/>
          <p:cNvSpPr txBox="1"/>
          <p:nvPr/>
        </p:nvSpPr>
        <p:spPr>
          <a:xfrm>
            <a:off x="10104120" y="2651760"/>
            <a:ext cx="1234440" cy="1051560"/>
          </a:xfrm>
          <a:prstGeom prst="rect">
            <a:avLst/>
          </a:prstGeom>
          <a:noFill/>
          <a:ln/>
        </p:spPr>
        <p:txBody>
          <a:bodyPr wrap="square" lIns="0" tIns="0" rIns="0" bIns="0" rtlCol="0" anchor="ctr"/>
          <a:lstStyle/>
          <a:p>
            <a:pPr algn="r" indent="0" marL="0">
              <a:buNone/>
            </a:pPr>
            <a:r>
              <a:rPr lang="en-US" sz="2800" b="1" dirty="0">
                <a:solidFill>
                  <a:schemeClr val="accent1"/>
                </a:solidFill>
              </a:rPr>
              <a:t>1.3倍</a:t>
            </a:r>
            <a:endParaRPr lang="en-US" sz="1300" dirty="0"/>
          </a:p>
          <a:p>
            <a:pPr algn="r" indent="0" marL="0">
              <a:buNone/>
            </a:pPr>
            <a:r>
              <a:rPr lang="en-US" sz="900" dirty="0">
                <a:solidFill>
                  <a:schemeClr val="accent3"/>
                </a:solidFill>
              </a:rPr>
              <a:t>購入額に対する資産</a:t>
            </a:r>
            <a:endParaRPr lang="en-US" sz="1300" dirty="0"/>
          </a:p>
        </p:txBody>
      </p:sp>
      <p:sp>
        <p:nvSpPr>
          <p:cNvPr id="37" name="Shape 35"/>
          <p:cNvSpPr/>
          <p:nvPr/>
        </p:nvSpPr>
        <p:spPr>
          <a:xfrm>
            <a:off x="6446520" y="3840480"/>
            <a:ext cx="4800600" cy="0"/>
          </a:xfrm>
          <a:prstGeom prst="line">
            <a:avLst/>
          </a:prstGeom>
          <a:noFill/>
          <a:ln w="9525">
            <a:solidFill>
              <a:srgbClr val="4E443C"/>
            </a:solidFill>
            <a:prstDash val="solid"/>
          </a:ln>
        </p:spPr>
      </p:sp>
      <p:sp>
        <p:nvSpPr>
          <p:cNvPr id="38" name="Text 36"/>
          <p:cNvSpPr txBox="1"/>
          <p:nvPr/>
        </p:nvSpPr>
        <p:spPr>
          <a:xfrm>
            <a:off x="6446520" y="3931920"/>
            <a:ext cx="2377440" cy="274320"/>
          </a:xfrm>
          <a:prstGeom prst="rect">
            <a:avLst/>
          </a:prstGeom>
          <a:noFill/>
          <a:ln/>
        </p:spPr>
        <p:txBody>
          <a:bodyPr wrap="square" lIns="0" tIns="0" rIns="0" bIns="0" rtlCol="0" anchor="t"/>
          <a:lstStyle/>
          <a:p>
            <a:pPr indent="0" marL="0">
              <a:buNone/>
            </a:pPr>
            <a:r>
              <a:rPr lang="en-US" sz="1100" b="1" dirty="0">
                <a:solidFill>
                  <a:schemeClr val="accent3"/>
                </a:solidFill>
              </a:rPr>
              <a:t>単年度の営業利益（2026年予想）</a:t>
            </a:r>
            <a:endParaRPr lang="en-US" sz="1100" dirty="0"/>
          </a:p>
        </p:txBody>
      </p:sp>
      <p:sp>
        <p:nvSpPr>
          <p:cNvPr id="39" name="Text 37"/>
          <p:cNvSpPr txBox="1"/>
          <p:nvPr/>
        </p:nvSpPr>
        <p:spPr>
          <a:xfrm>
            <a:off x="6446520" y="4206240"/>
            <a:ext cx="2468880" cy="640080"/>
          </a:xfrm>
          <a:prstGeom prst="rect">
            <a:avLst/>
          </a:prstGeom>
          <a:noFill/>
          <a:ln/>
        </p:spPr>
        <p:txBody>
          <a:bodyPr wrap="square" lIns="0" tIns="0" rIns="0" bIns="0" rtlCol="0" anchor="ctr"/>
          <a:lstStyle/>
          <a:p>
            <a:pPr indent="0" marL="0">
              <a:buNone/>
            </a:pPr>
            <a:r>
              <a:rPr lang="en-US" sz="3000" b="1" dirty="0">
                <a:solidFill>
                  <a:schemeClr val="accent4"/>
                </a:solidFill>
              </a:rPr>
              <a:t>2.4</a:t>
            </a:r>
            <a:pPr indent="0" marL="0">
              <a:buNone/>
            </a:pPr>
            <a:r>
              <a:rPr lang="en-US" sz="1200" b="1" dirty="0">
                <a:solidFill>
                  <a:schemeClr val="accent3"/>
                </a:solidFill>
              </a:rPr>
              <a:t> 億円／年</a:t>
            </a:r>
            <a:endParaRPr lang="en-US" sz="1300" dirty="0"/>
          </a:p>
        </p:txBody>
      </p:sp>
      <p:sp>
        <p:nvSpPr>
          <p:cNvPr id="40" name="Text 38"/>
          <p:cNvSpPr txBox="1"/>
          <p:nvPr/>
        </p:nvSpPr>
        <p:spPr>
          <a:xfrm>
            <a:off x="6446520" y="4846320"/>
            <a:ext cx="2377440" cy="457200"/>
          </a:xfrm>
          <a:prstGeom prst="rect">
            <a:avLst/>
          </a:prstGeom>
          <a:noFill/>
          <a:ln/>
        </p:spPr>
        <p:txBody>
          <a:bodyPr wrap="square" lIns="0" tIns="0" rIns="0" bIns="0" rtlCol="0" anchor="t"/>
          <a:lstStyle/>
          <a:p>
            <a:pPr indent="0" marL="0">
              <a:buNone/>
            </a:pPr>
            <a:r>
              <a:rPr lang="en-US" sz="950" dirty="0">
                <a:solidFill>
                  <a:schemeClr val="accent3"/>
                </a:solidFill>
              </a:rPr>
              <a:t>M&amp;Aで取得したグループ会社の合計</a:t>
            </a:r>
            <a:endParaRPr lang="en-US" sz="950" dirty="0"/>
          </a:p>
        </p:txBody>
      </p:sp>
      <p:sp>
        <p:nvSpPr>
          <p:cNvPr id="41" name="第2期 2020– deal 1"/>
          <p:cNvSpPr/>
          <p:nvPr/>
        </p:nvSpPr>
        <p:spPr>
          <a:xfrm>
            <a:off x="8961120" y="3977640"/>
            <a:ext cx="2286000" cy="594360"/>
          </a:xfrm>
          <a:prstGeom prst="roundRect">
            <a:avLst>
              <a:gd name="adj" fmla="val 7692"/>
            </a:avLst>
          </a:prstGeom>
          <a:solidFill>
            <a:srgbClr val="3A322C"/>
          </a:solidFill>
          <a:ln w="12700">
            <a:solidFill>
              <a:srgbClr val="4E443C"/>
            </a:solidFill>
            <a:prstDash val="solid"/>
          </a:ln>
        </p:spPr>
      </p:sp>
      <p:sp>
        <p:nvSpPr>
          <p:cNvPr id="42" name="Text 40"/>
          <p:cNvSpPr txBox="1"/>
          <p:nvPr/>
        </p:nvSpPr>
        <p:spPr>
          <a:xfrm>
            <a:off x="9052560" y="3977640"/>
            <a:ext cx="2148840" cy="594360"/>
          </a:xfrm>
          <a:prstGeom prst="rect">
            <a:avLst/>
          </a:prstGeom>
          <a:noFill/>
          <a:ln/>
        </p:spPr>
        <p:txBody>
          <a:bodyPr wrap="square" lIns="0" tIns="0" rIns="0" bIns="0" rtlCol="0" anchor="ctr"/>
          <a:lstStyle/>
          <a:p>
            <a:pPr indent="0" marL="0">
              <a:buNone/>
            </a:pPr>
            <a:r>
              <a:rPr lang="en-US" sz="1050" b="1" dirty="0">
                <a:solidFill>
                  <a:schemeClr val="bg1"/>
                </a:solidFill>
              </a:rPr>
              <a:t>飲食A社</a:t>
            </a:r>
            <a:endParaRPr lang="en-US" sz="1300" dirty="0"/>
          </a:p>
          <a:p>
            <a:pPr indent="0" marL="0">
              <a:buNone/>
            </a:pPr>
            <a:r>
              <a:rPr lang="en-US" sz="900" dirty="0">
                <a:solidFill>
                  <a:schemeClr val="accent3"/>
                </a:solidFill>
              </a:rPr>
              <a:t>8.2億円 → 純資産13.0億＋営業利益1.3億／年</a:t>
            </a:r>
            <a:endParaRPr lang="en-US" sz="1300" dirty="0"/>
          </a:p>
        </p:txBody>
      </p:sp>
      <p:sp>
        <p:nvSpPr>
          <p:cNvPr id="43" name="第2期 2020– deal 2"/>
          <p:cNvSpPr/>
          <p:nvPr/>
        </p:nvSpPr>
        <p:spPr>
          <a:xfrm>
            <a:off x="8961120" y="4663440"/>
            <a:ext cx="2286000" cy="594360"/>
          </a:xfrm>
          <a:prstGeom prst="roundRect">
            <a:avLst>
              <a:gd name="adj" fmla="val 7692"/>
            </a:avLst>
          </a:prstGeom>
          <a:solidFill>
            <a:srgbClr val="3A322C"/>
          </a:solidFill>
          <a:ln w="12700">
            <a:solidFill>
              <a:srgbClr val="4E443C"/>
            </a:solidFill>
            <a:prstDash val="solid"/>
          </a:ln>
        </p:spPr>
      </p:sp>
      <p:sp>
        <p:nvSpPr>
          <p:cNvPr id="44" name="Text 42"/>
          <p:cNvSpPr txBox="1"/>
          <p:nvPr/>
        </p:nvSpPr>
        <p:spPr>
          <a:xfrm>
            <a:off x="9052560" y="4663440"/>
            <a:ext cx="2148840" cy="594360"/>
          </a:xfrm>
          <a:prstGeom prst="rect">
            <a:avLst/>
          </a:prstGeom>
          <a:noFill/>
          <a:ln/>
        </p:spPr>
        <p:txBody>
          <a:bodyPr wrap="square" lIns="0" tIns="0" rIns="0" bIns="0" rtlCol="0" anchor="ctr"/>
          <a:lstStyle/>
          <a:p>
            <a:pPr indent="0" marL="0">
              <a:buNone/>
            </a:pPr>
            <a:r>
              <a:rPr lang="en-US" sz="1050" b="1" dirty="0">
                <a:solidFill>
                  <a:schemeClr val="bg1"/>
                </a:solidFill>
              </a:rPr>
              <a:t>飲食B事業</a:t>
            </a:r>
            <a:endParaRPr lang="en-US" sz="1300" dirty="0"/>
          </a:p>
          <a:p>
            <a:pPr indent="0" marL="0">
              <a:buNone/>
            </a:pPr>
            <a:r>
              <a:rPr lang="en-US" sz="900" dirty="0">
                <a:solidFill>
                  <a:schemeClr val="accent3"/>
                </a:solidFill>
              </a:rPr>
              <a:t>1,400万円 → 純資産7,000万＋営業利益8,000万／年</a:t>
            </a:r>
            <a:endParaRPr lang="en-US" sz="1300" dirty="0"/>
          </a:p>
        </p:txBody>
      </p:sp>
      <p:sp>
        <p:nvSpPr>
          <p:cNvPr id="45" name="Text 43"/>
          <p:cNvSpPr txBox="1"/>
          <p:nvPr/>
        </p:nvSpPr>
        <p:spPr>
          <a:xfrm>
            <a:off x="6446520" y="5440680"/>
            <a:ext cx="4800600" cy="502920"/>
          </a:xfrm>
          <a:prstGeom prst="rect">
            <a:avLst/>
          </a:prstGeom>
          <a:noFill/>
          <a:ln/>
        </p:spPr>
        <p:txBody>
          <a:bodyPr wrap="square" lIns="0" tIns="0" rIns="0" bIns="0" rtlCol="0" anchor="ctr"/>
          <a:lstStyle/>
          <a:p>
            <a:pPr indent="0" marL="0">
              <a:buNone/>
            </a:pPr>
            <a:r>
              <a:rPr lang="en-US" sz="1150" b="1" dirty="0">
                <a:solidFill>
                  <a:schemeClr val="accent4"/>
                </a:solidFill>
              </a:rPr>
              <a:t>買った時点で資産が買値を上回り、利益は毎年積み上がる</a:t>
            </a:r>
            <a:endParaRPr lang="en-US" sz="1150" dirty="0"/>
          </a:p>
        </p:txBody>
      </p:sp>
      <p:sp>
        <p:nvSpPr>
          <p:cNvPr id="46" name="Text 44"/>
          <p:cNvSpPr txBox="1"/>
          <p:nvPr/>
        </p:nvSpPr>
        <p:spPr>
          <a:xfrm>
            <a:off x="685800" y="6144768"/>
            <a:ext cx="10820095" cy="256032"/>
          </a:xfrm>
          <a:prstGeom prst="rect">
            <a:avLst/>
          </a:prstGeom>
          <a:noFill/>
          <a:ln/>
        </p:spPr>
        <p:txBody>
          <a:bodyPr wrap="square" lIns="0" tIns="0" rIns="0" bIns="0" rtlCol="0" anchor="t"/>
          <a:lstStyle/>
          <a:p>
            <a:pPr indent="0" marL="0">
              <a:buNone/>
            </a:pPr>
            <a:r>
              <a:rPr lang="en-US" sz="900" dirty="0">
                <a:solidFill>
                  <a:schemeClr val="accent5"/>
                </a:solidFill>
              </a:rPr>
              <a:t>第2期の純資産＋売却は、売却済み案件を売却額に置き換えて算出（あどばる株式の売却は含めない）。出典：中野邦人 M&amp;A勝敗一覧表</a:t>
            </a:r>
            <a:endParaRPr lang="en-US" sz="900" dirty="0"/>
          </a:p>
        </p:txBody>
      </p:sp>
      <p:sp>
        <p:nvSpPr>
          <p:cNvPr id="25" name="Slide Number Placeholder 0"/>
          <p:cNvSpPr>
            <a:spLocks noGrp="1"/>
          </p:cNvSpPr>
          <p:nvPr>
            <p:ph type="sldNum" sz="quarter" idx="4294967295"/>
          </p:nvPr>
        </p:nvSpPr>
        <p:spPr>
          <a:xfrm>
            <a:off x="10957255"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dot"/>
          <p:cNvSpPr/>
          <p:nvPr/>
        </p:nvSpPr>
        <p:spPr>
          <a:xfrm>
            <a:off x="685800" y="484632"/>
            <a:ext cx="109728" cy="109728"/>
          </a:xfrm>
          <a:prstGeom prst="ellipse">
            <a:avLst/>
          </a:prstGeom>
          <a:solidFill>
            <a:schemeClr val="accent1"/>
          </a:solidFill>
          <a:ln w="12700">
            <a:solidFill>
              <a:schemeClr val="accent1"/>
            </a:solidFill>
            <a:prstDash val="solid"/>
          </a:ln>
        </p:spPr>
      </p:sp>
      <p:sp>
        <p:nvSpPr>
          <p:cNvPr id="3" name="Text 0"/>
          <p:cNvSpPr/>
          <p:nvPr>
            <p:ph idx="100" type="body" hasCustomPrompt="1"/>
          </p:nvPr>
        </p:nvSpPr>
        <p:spPr>
          <a:xfrm>
            <a:off x="923544" y="365760"/>
            <a:ext cx="9601200" cy="329184"/>
          </a:xfrm>
          <a:prstGeom prst="rect">
            <a:avLst/>
          </a:prstGeom>
          <a:noFill/>
          <a:ln/>
        </p:spPr>
        <p:txBody>
          <a:bodyPr wrap="square" lIns="0" tIns="0" rIns="0" bIns="0" rtlCol="0" anchor="ctr"/>
          <a:lstStyle/>
          <a:p>
            <a:pPr indent="0" marL="0">
              <a:buNone/>
            </a:pPr>
            <a:r>
              <a:rPr lang="en-US" sz="1200" b="1" spc="240" kern="0" dirty="0">
                <a:solidFill>
                  <a:schemeClr val="accent1"/>
                </a:solidFill>
              </a:rPr>
              <a:t>PLAYBOOK</a:t>
            </a:r>
            <a:endParaRPr lang="en-US" sz="1200" dirty="0"/>
          </a:p>
        </p:txBody>
      </p:sp>
      <p:sp>
        <p:nvSpPr>
          <p:cNvPr id="4" name="Text 0"/>
          <p:cNvSpPr/>
          <p:nvPr>
            <p:ph idx="101" type="title" hasCustomPrompt="1"/>
          </p:nvPr>
        </p:nvSpPr>
        <p:spPr>
          <a:xfrm>
            <a:off x="685800" y="749808"/>
            <a:ext cx="10820095" cy="731520"/>
          </a:xfrm>
          <a:prstGeom prst="rect">
            <a:avLst/>
          </a:prstGeom>
          <a:noFill/>
          <a:ln/>
        </p:spPr>
        <p:txBody>
          <a:bodyPr wrap="square" lIns="0" tIns="0" rIns="0" bIns="0" rtlCol="0" anchor="ctr"/>
          <a:lstStyle/>
          <a:p>
            <a:pPr algn="l" indent="0" marL="0">
              <a:buNone/>
            </a:pPr>
            <a:r>
              <a:rPr lang="en-US" sz="3000" b="1" dirty="0">
                <a:solidFill>
                  <a:schemeClr val="tx1"/>
                </a:solidFill>
              </a:rPr>
              <a:t>49戦で残った5原則を、そのままサービスの判断基準に</a:t>
            </a:r>
            <a:endParaRPr lang="en-US" sz="3000" dirty="0"/>
          </a:p>
        </p:txBody>
      </p:sp>
      <p:sp>
        <p:nvSpPr>
          <p:cNvPr id="5" name="Text 0"/>
          <p:cNvSpPr/>
          <p:nvPr>
            <p:ph idx="102" type="body" hasCustomPrompt="1"/>
          </p:nvPr>
        </p:nvSpPr>
        <p:spPr>
          <a:xfrm>
            <a:off x="685800" y="1481328"/>
            <a:ext cx="10820095" cy="365760"/>
          </a:xfrm>
          <a:prstGeom prst="rect">
            <a:avLst/>
          </a:prstGeom>
          <a:noFill/>
          <a:ln/>
        </p:spPr>
        <p:txBody>
          <a:bodyPr wrap="square" lIns="0" tIns="0" rIns="0" bIns="0" rtlCol="0" anchor="t"/>
          <a:lstStyle/>
          <a:p>
            <a:pPr indent="0" marL="0">
              <a:buNone/>
            </a:pPr>
            <a:r>
              <a:rPr lang="en-US" sz="1350" dirty="0">
                <a:solidFill>
                  <a:schemeClr val="accent2"/>
                </a:solidFill>
              </a:rPr>
              <a:t>他社が真似できないのは、AIではなく「負けから作ったルール」</a:t>
            </a:r>
            <a:endParaRPr lang="en-US" sz="1350" dirty="0"/>
          </a:p>
        </p:txBody>
      </p:sp>
      <p:sp>
        <p:nvSpPr>
          <p:cNvPr id="6" name="Text 4"/>
          <p:cNvSpPr txBox="1"/>
          <p:nvPr/>
        </p:nvSpPr>
        <p:spPr>
          <a:xfrm>
            <a:off x="1371600" y="1965960"/>
            <a:ext cx="5486400" cy="274320"/>
          </a:xfrm>
          <a:prstGeom prst="rect">
            <a:avLst/>
          </a:prstGeom>
          <a:noFill/>
          <a:ln/>
        </p:spPr>
        <p:txBody>
          <a:bodyPr wrap="square" lIns="0" tIns="0" rIns="0" bIns="0" rtlCol="0" anchor="t"/>
          <a:lstStyle/>
          <a:p>
            <a:pPr indent="0" marL="0">
              <a:buNone/>
            </a:pPr>
            <a:r>
              <a:rPr lang="en-US" sz="1000" b="1" dirty="0">
                <a:solidFill>
                  <a:schemeClr val="accent2"/>
                </a:solidFill>
              </a:rPr>
              <a:t>原則 と 49戦での実例</a:t>
            </a:r>
            <a:endParaRPr lang="en-US" sz="1000" dirty="0"/>
          </a:p>
        </p:txBody>
      </p:sp>
      <p:sp>
        <p:nvSpPr>
          <p:cNvPr id="7" name="Text 5"/>
          <p:cNvSpPr txBox="1"/>
          <p:nvPr/>
        </p:nvSpPr>
        <p:spPr>
          <a:xfrm>
            <a:off x="7452360" y="1965960"/>
            <a:ext cx="4023360" cy="274320"/>
          </a:xfrm>
          <a:prstGeom prst="rect">
            <a:avLst/>
          </a:prstGeom>
          <a:noFill/>
          <a:ln/>
        </p:spPr>
        <p:txBody>
          <a:bodyPr wrap="square" lIns="0" tIns="0" rIns="0" bIns="0" rtlCol="0" anchor="t"/>
          <a:lstStyle/>
          <a:p>
            <a:pPr indent="0" marL="0">
              <a:buNone/>
            </a:pPr>
            <a:r>
              <a:rPr lang="en-US" sz="1000" b="1" dirty="0">
                <a:solidFill>
                  <a:schemeClr val="accent1"/>
                </a:solidFill>
              </a:rPr>
              <a:t>サービスでの実装</a:t>
            </a:r>
            <a:endParaRPr lang="en-US" sz="1000" dirty="0"/>
          </a:p>
        </p:txBody>
      </p:sp>
      <p:sp>
        <p:nvSpPr>
          <p:cNvPr id="8" name="Shape 6"/>
          <p:cNvSpPr/>
          <p:nvPr/>
        </p:nvSpPr>
        <p:spPr>
          <a:xfrm>
            <a:off x="685800" y="2404872"/>
            <a:ext cx="457200" cy="457200"/>
          </a:xfrm>
          <a:prstGeom prst="ellipse">
            <a:avLst/>
          </a:prstGeom>
          <a:solidFill>
            <a:schemeClr val="accent1"/>
          </a:solidFill>
          <a:ln w="12700">
            <a:solidFill>
              <a:schemeClr val="accent1"/>
            </a:solidFill>
            <a:prstDash val="solid"/>
          </a:ln>
        </p:spPr>
      </p:sp>
      <p:sp>
        <p:nvSpPr>
          <p:cNvPr id="9" name="Text 7"/>
          <p:cNvSpPr txBox="1"/>
          <p:nvPr/>
        </p:nvSpPr>
        <p:spPr>
          <a:xfrm>
            <a:off x="685800" y="2404872"/>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01</a:t>
            </a:r>
            <a:endParaRPr lang="en-US" sz="1200" dirty="0"/>
          </a:p>
        </p:txBody>
      </p:sp>
      <p:sp>
        <p:nvSpPr>
          <p:cNvPr id="10" name="rule 1"/>
          <p:cNvSpPr/>
          <p:nvPr/>
        </p:nvSpPr>
        <p:spPr>
          <a:xfrm>
            <a:off x="1325880" y="2286000"/>
            <a:ext cx="5806440" cy="658368"/>
          </a:xfrm>
          <a:prstGeom prst="roundRect">
            <a:avLst>
              <a:gd name="adj" fmla="val 8333"/>
            </a:avLst>
          </a:prstGeom>
          <a:solidFill>
            <a:srgbClr val="FFFFFF"/>
          </a:solidFill>
          <a:ln w="9525">
            <a:solidFill>
              <a:schemeClr val="accent3"/>
            </a:solidFill>
            <a:prstDash val="solid"/>
          </a:ln>
        </p:spPr>
      </p:sp>
      <p:sp>
        <p:nvSpPr>
          <p:cNvPr id="11" name="Text 9"/>
          <p:cNvSpPr txBox="1"/>
          <p:nvPr/>
        </p:nvSpPr>
        <p:spPr>
          <a:xfrm>
            <a:off x="1508760" y="2286000"/>
            <a:ext cx="5486400" cy="658368"/>
          </a:xfrm>
          <a:prstGeom prst="rect">
            <a:avLst/>
          </a:prstGeom>
          <a:noFill/>
          <a:ln/>
        </p:spPr>
        <p:txBody>
          <a:bodyPr wrap="square" lIns="0" tIns="0" rIns="0" bIns="0" rtlCol="0" anchor="ctr"/>
          <a:lstStyle/>
          <a:p>
            <a:pPr indent="0" marL="0">
              <a:buNone/>
            </a:pPr>
            <a:r>
              <a:rPr lang="en-US" sz="1250" b="1" dirty="0">
                <a:solidFill>
                  <a:schemeClr val="tx1"/>
                </a:solidFill>
              </a:rPr>
              <a:t>純資産を下回る価格でしか買わない</a:t>
            </a:r>
            <a:endParaRPr lang="en-US" sz="1300" dirty="0"/>
          </a:p>
          <a:p>
            <a:pPr indent="0" marL="0">
              <a:buNone/>
            </a:pPr>
            <a:r>
              <a:rPr lang="en-US" sz="1050" dirty="0">
                <a:solidFill>
                  <a:schemeClr val="accent2"/>
                </a:solidFill>
              </a:rPr>
              <a:t>飲食A社：8.2億円で純資産13.0億円を取得</a:t>
            </a:r>
            <a:endParaRPr lang="en-US" sz="1300" dirty="0"/>
          </a:p>
        </p:txBody>
      </p:sp>
      <p:sp>
        <p:nvSpPr>
          <p:cNvPr id="12" name="arrow 1"/>
          <p:cNvSpPr/>
          <p:nvPr/>
        </p:nvSpPr>
        <p:spPr>
          <a:xfrm>
            <a:off x="7013448" y="2468880"/>
            <a:ext cx="237744" cy="292608"/>
          </a:xfrm>
          <a:prstGeom prst="chevron">
            <a:avLst/>
          </a:prstGeom>
          <a:solidFill>
            <a:schemeClr val="accent1"/>
          </a:solidFill>
          <a:ln w="12700">
            <a:solidFill>
              <a:schemeClr val="accent1"/>
            </a:solidFill>
            <a:prstDash val="solid"/>
          </a:ln>
        </p:spPr>
      </p:sp>
      <p:sp>
        <p:nvSpPr>
          <p:cNvPr id="13" name="impl 1"/>
          <p:cNvSpPr/>
          <p:nvPr/>
        </p:nvSpPr>
        <p:spPr>
          <a:xfrm>
            <a:off x="7406640" y="2286000"/>
            <a:ext cx="4096512" cy="658368"/>
          </a:xfrm>
          <a:prstGeom prst="roundRect">
            <a:avLst>
              <a:gd name="adj" fmla="val 8333"/>
            </a:avLst>
          </a:prstGeom>
          <a:solidFill>
            <a:schemeClr val="bg2"/>
          </a:solidFill>
          <a:ln w="9525">
            <a:solidFill>
              <a:schemeClr val="accent3"/>
            </a:solidFill>
            <a:prstDash val="solid"/>
          </a:ln>
          <a:effectLst>
            <a:outerShdw sx="100000" sy="100000" kx="0" ky="0" algn="bl" rotWithShape="0" blurRad="76200" dist="25400" dir="5400000">
              <a:srgbClr val="6F665F">
                <a:alpha val="12000"/>
              </a:srgbClr>
            </a:outerShdw>
          </a:effectLst>
        </p:spPr>
      </p:sp>
      <p:sp>
        <p:nvSpPr>
          <p:cNvPr id="14" name="Text 12"/>
          <p:cNvSpPr txBox="1"/>
          <p:nvPr/>
        </p:nvSpPr>
        <p:spPr>
          <a:xfrm>
            <a:off x="7589520" y="2286000"/>
            <a:ext cx="3749040" cy="658368"/>
          </a:xfrm>
          <a:prstGeom prst="rect">
            <a:avLst/>
          </a:prstGeom>
          <a:noFill/>
          <a:ln/>
        </p:spPr>
        <p:txBody>
          <a:bodyPr wrap="square" lIns="0" tIns="0" rIns="0" bIns="0" rtlCol="0" anchor="ctr"/>
          <a:lstStyle/>
          <a:p>
            <a:pPr indent="0" marL="0">
              <a:buNone/>
            </a:pPr>
            <a:r>
              <a:rPr lang="en-US" sz="1150" dirty="0">
                <a:solidFill>
                  <a:schemeClr val="tx1"/>
                </a:solidFill>
              </a:rPr>
              <a:t>AIが決算書とIMから適正価格を算出し、入口で足切り</a:t>
            </a:r>
            <a:endParaRPr lang="en-US" sz="1150" dirty="0"/>
          </a:p>
        </p:txBody>
      </p:sp>
      <p:sp>
        <p:nvSpPr>
          <p:cNvPr id="15" name="Shape 13"/>
          <p:cNvSpPr/>
          <p:nvPr/>
        </p:nvSpPr>
        <p:spPr>
          <a:xfrm>
            <a:off x="685800" y="3163824"/>
            <a:ext cx="457200" cy="457200"/>
          </a:xfrm>
          <a:prstGeom prst="ellipse">
            <a:avLst/>
          </a:prstGeom>
          <a:solidFill>
            <a:schemeClr val="accent1"/>
          </a:solidFill>
          <a:ln w="12700">
            <a:solidFill>
              <a:schemeClr val="accent1"/>
            </a:solidFill>
            <a:prstDash val="solid"/>
          </a:ln>
        </p:spPr>
      </p:sp>
      <p:sp>
        <p:nvSpPr>
          <p:cNvPr id="16" name="Text 14"/>
          <p:cNvSpPr txBox="1"/>
          <p:nvPr/>
        </p:nvSpPr>
        <p:spPr>
          <a:xfrm>
            <a:off x="685800" y="3163824"/>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02</a:t>
            </a:r>
            <a:endParaRPr lang="en-US" sz="1200" dirty="0"/>
          </a:p>
        </p:txBody>
      </p:sp>
      <p:sp>
        <p:nvSpPr>
          <p:cNvPr id="17" name="rule 2"/>
          <p:cNvSpPr/>
          <p:nvPr/>
        </p:nvSpPr>
        <p:spPr>
          <a:xfrm>
            <a:off x="1325880" y="3044952"/>
            <a:ext cx="5806440" cy="658368"/>
          </a:xfrm>
          <a:prstGeom prst="roundRect">
            <a:avLst>
              <a:gd name="adj" fmla="val 8333"/>
            </a:avLst>
          </a:prstGeom>
          <a:solidFill>
            <a:srgbClr val="FFFFFF"/>
          </a:solidFill>
          <a:ln w="9525">
            <a:solidFill>
              <a:schemeClr val="accent3"/>
            </a:solidFill>
            <a:prstDash val="solid"/>
          </a:ln>
        </p:spPr>
      </p:sp>
      <p:sp>
        <p:nvSpPr>
          <p:cNvPr id="18" name="Text 16"/>
          <p:cNvSpPr txBox="1"/>
          <p:nvPr/>
        </p:nvSpPr>
        <p:spPr>
          <a:xfrm>
            <a:off x="1508760" y="3044952"/>
            <a:ext cx="5486400" cy="658368"/>
          </a:xfrm>
          <a:prstGeom prst="rect">
            <a:avLst/>
          </a:prstGeom>
          <a:noFill/>
          <a:ln/>
        </p:spPr>
        <p:txBody>
          <a:bodyPr wrap="square" lIns="0" tIns="0" rIns="0" bIns="0" rtlCol="0" anchor="ctr"/>
          <a:lstStyle/>
          <a:p>
            <a:pPr indent="0" marL="0">
              <a:buNone/>
            </a:pPr>
            <a:r>
              <a:rPr lang="en-US" sz="1250" b="1" dirty="0">
                <a:solidFill>
                  <a:schemeClr val="tx1"/>
                </a:solidFill>
              </a:rPr>
              <a:t>自分で見つける。仲介から始めない</a:t>
            </a:r>
            <a:endParaRPr lang="en-US" sz="1300" dirty="0"/>
          </a:p>
          <a:p>
            <a:pPr indent="0" marL="0">
              <a:buNone/>
            </a:pPr>
            <a:r>
              <a:rPr lang="en-US" sz="1050" dirty="0">
                <a:solidFill>
                  <a:schemeClr val="accent2"/>
                </a:solidFill>
              </a:rPr>
              <a:t>約50案件の発掘はほぼ自分。仲介経由は3割以下</a:t>
            </a:r>
            <a:endParaRPr lang="en-US" sz="1300" dirty="0"/>
          </a:p>
        </p:txBody>
      </p:sp>
      <p:sp>
        <p:nvSpPr>
          <p:cNvPr id="19" name="arrow 2"/>
          <p:cNvSpPr/>
          <p:nvPr/>
        </p:nvSpPr>
        <p:spPr>
          <a:xfrm>
            <a:off x="7013448" y="3227832"/>
            <a:ext cx="237744" cy="292608"/>
          </a:xfrm>
          <a:prstGeom prst="chevron">
            <a:avLst/>
          </a:prstGeom>
          <a:solidFill>
            <a:schemeClr val="accent1"/>
          </a:solidFill>
          <a:ln w="12700">
            <a:solidFill>
              <a:schemeClr val="accent1"/>
            </a:solidFill>
            <a:prstDash val="solid"/>
          </a:ln>
        </p:spPr>
      </p:sp>
      <p:sp>
        <p:nvSpPr>
          <p:cNvPr id="20" name="impl 2"/>
          <p:cNvSpPr/>
          <p:nvPr/>
        </p:nvSpPr>
        <p:spPr>
          <a:xfrm>
            <a:off x="7406640" y="3044952"/>
            <a:ext cx="4096512" cy="658368"/>
          </a:xfrm>
          <a:prstGeom prst="roundRect">
            <a:avLst>
              <a:gd name="adj" fmla="val 8333"/>
            </a:avLst>
          </a:prstGeom>
          <a:solidFill>
            <a:schemeClr val="bg2"/>
          </a:solidFill>
          <a:ln w="9525">
            <a:solidFill>
              <a:schemeClr val="accent3"/>
            </a:solidFill>
            <a:prstDash val="solid"/>
          </a:ln>
          <a:effectLst>
            <a:outerShdw sx="100000" sy="100000" kx="0" ky="0" algn="bl" rotWithShape="0" blurRad="76200" dist="25400" dir="5400000">
              <a:srgbClr val="6F665F">
                <a:alpha val="12000"/>
              </a:srgbClr>
            </a:outerShdw>
          </a:effectLst>
        </p:spPr>
      </p:sp>
      <p:sp>
        <p:nvSpPr>
          <p:cNvPr id="21" name="Text 19"/>
          <p:cNvSpPr txBox="1"/>
          <p:nvPr/>
        </p:nvSpPr>
        <p:spPr>
          <a:xfrm>
            <a:off x="7589520" y="3044952"/>
            <a:ext cx="3749040" cy="658368"/>
          </a:xfrm>
          <a:prstGeom prst="rect">
            <a:avLst/>
          </a:prstGeom>
          <a:noFill/>
          <a:ln/>
        </p:spPr>
        <p:txBody>
          <a:bodyPr wrap="square" lIns="0" tIns="0" rIns="0" bIns="0" rtlCol="0" anchor="ctr"/>
          <a:lstStyle/>
          <a:p>
            <a:pPr indent="0" marL="0">
              <a:buNone/>
            </a:pPr>
            <a:r>
              <a:rPr lang="en-US" sz="1150" dirty="0">
                <a:solidFill>
                  <a:schemeClr val="tx1"/>
                </a:solidFill>
              </a:rPr>
              <a:t>買収方針から候補企業を逆算し、直接打診を指導</a:t>
            </a:r>
            <a:endParaRPr lang="en-US" sz="1150" dirty="0"/>
          </a:p>
        </p:txBody>
      </p:sp>
      <p:sp>
        <p:nvSpPr>
          <p:cNvPr id="22" name="Shape 20"/>
          <p:cNvSpPr/>
          <p:nvPr/>
        </p:nvSpPr>
        <p:spPr>
          <a:xfrm>
            <a:off x="685800" y="3922776"/>
            <a:ext cx="457200" cy="457200"/>
          </a:xfrm>
          <a:prstGeom prst="ellipse">
            <a:avLst/>
          </a:prstGeom>
          <a:solidFill>
            <a:schemeClr val="accent1"/>
          </a:solidFill>
          <a:ln w="12700">
            <a:solidFill>
              <a:schemeClr val="accent1"/>
            </a:solidFill>
            <a:prstDash val="solid"/>
          </a:ln>
        </p:spPr>
      </p:sp>
      <p:sp>
        <p:nvSpPr>
          <p:cNvPr id="23" name="Text 21"/>
          <p:cNvSpPr txBox="1"/>
          <p:nvPr/>
        </p:nvSpPr>
        <p:spPr>
          <a:xfrm>
            <a:off x="685800" y="3922776"/>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03</a:t>
            </a:r>
            <a:endParaRPr lang="en-US" sz="1200" dirty="0"/>
          </a:p>
        </p:txBody>
      </p:sp>
      <p:sp>
        <p:nvSpPr>
          <p:cNvPr id="24" name="rule 3"/>
          <p:cNvSpPr/>
          <p:nvPr/>
        </p:nvSpPr>
        <p:spPr>
          <a:xfrm>
            <a:off x="1325880" y="3803904"/>
            <a:ext cx="5806440" cy="658368"/>
          </a:xfrm>
          <a:prstGeom prst="roundRect">
            <a:avLst>
              <a:gd name="adj" fmla="val 8333"/>
            </a:avLst>
          </a:prstGeom>
          <a:solidFill>
            <a:srgbClr val="FFFFFF"/>
          </a:solidFill>
          <a:ln w="9525">
            <a:solidFill>
              <a:schemeClr val="accent3"/>
            </a:solidFill>
            <a:prstDash val="solid"/>
          </a:ln>
        </p:spPr>
      </p:sp>
      <p:sp>
        <p:nvSpPr>
          <p:cNvPr id="25" name="Text 23"/>
          <p:cNvSpPr txBox="1"/>
          <p:nvPr/>
        </p:nvSpPr>
        <p:spPr>
          <a:xfrm>
            <a:off x="1508760" y="3803904"/>
            <a:ext cx="5486400" cy="658368"/>
          </a:xfrm>
          <a:prstGeom prst="rect">
            <a:avLst/>
          </a:prstGeom>
          <a:noFill/>
          <a:ln/>
        </p:spPr>
        <p:txBody>
          <a:bodyPr wrap="square" lIns="0" tIns="0" rIns="0" bIns="0" rtlCol="0" anchor="ctr"/>
          <a:lstStyle/>
          <a:p>
            <a:pPr indent="0" marL="0">
              <a:buNone/>
            </a:pPr>
            <a:r>
              <a:rPr lang="en-US" sz="1250" b="1" dirty="0">
                <a:solidFill>
                  <a:schemeClr val="tx1"/>
                </a:solidFill>
              </a:rPr>
              <a:t>PMI責任者が決まらない案件は買わない</a:t>
            </a:r>
            <a:endParaRPr lang="en-US" sz="1300" dirty="0"/>
          </a:p>
          <a:p>
            <a:pPr indent="0" marL="0">
              <a:buNone/>
            </a:pPr>
            <a:r>
              <a:rPr lang="en-US" sz="1050" dirty="0">
                <a:solidFill>
                  <a:schemeClr val="accent2"/>
                </a:solidFill>
              </a:rPr>
              <a:t>同じポータル事業で、置いた人により5.0億円の差</a:t>
            </a:r>
            <a:endParaRPr lang="en-US" sz="1300" dirty="0"/>
          </a:p>
        </p:txBody>
      </p:sp>
      <p:sp>
        <p:nvSpPr>
          <p:cNvPr id="26" name="arrow 3"/>
          <p:cNvSpPr/>
          <p:nvPr/>
        </p:nvSpPr>
        <p:spPr>
          <a:xfrm>
            <a:off x="7013448" y="3986784"/>
            <a:ext cx="237744" cy="292608"/>
          </a:xfrm>
          <a:prstGeom prst="chevron">
            <a:avLst/>
          </a:prstGeom>
          <a:solidFill>
            <a:schemeClr val="accent1"/>
          </a:solidFill>
          <a:ln w="12700">
            <a:solidFill>
              <a:schemeClr val="accent1"/>
            </a:solidFill>
            <a:prstDash val="solid"/>
          </a:ln>
        </p:spPr>
      </p:sp>
      <p:sp>
        <p:nvSpPr>
          <p:cNvPr id="27" name="impl 3"/>
          <p:cNvSpPr/>
          <p:nvPr/>
        </p:nvSpPr>
        <p:spPr>
          <a:xfrm>
            <a:off x="7406640" y="3803904"/>
            <a:ext cx="4096512" cy="658368"/>
          </a:xfrm>
          <a:prstGeom prst="roundRect">
            <a:avLst>
              <a:gd name="adj" fmla="val 8333"/>
            </a:avLst>
          </a:prstGeom>
          <a:solidFill>
            <a:schemeClr val="bg2"/>
          </a:solidFill>
          <a:ln w="9525">
            <a:solidFill>
              <a:schemeClr val="accent3"/>
            </a:solidFill>
            <a:prstDash val="solid"/>
          </a:ln>
          <a:effectLst>
            <a:outerShdw sx="100000" sy="100000" kx="0" ky="0" algn="bl" rotWithShape="0" blurRad="76200" dist="25400" dir="5400000">
              <a:srgbClr val="6F665F">
                <a:alpha val="12000"/>
              </a:srgbClr>
            </a:outerShdw>
          </a:effectLst>
        </p:spPr>
      </p:sp>
      <p:sp>
        <p:nvSpPr>
          <p:cNvPr id="28" name="Text 26"/>
          <p:cNvSpPr txBox="1"/>
          <p:nvPr/>
        </p:nvSpPr>
        <p:spPr>
          <a:xfrm>
            <a:off x="7589520" y="3803904"/>
            <a:ext cx="3749040" cy="658368"/>
          </a:xfrm>
          <a:prstGeom prst="rect">
            <a:avLst/>
          </a:prstGeom>
          <a:noFill/>
          <a:ln/>
        </p:spPr>
        <p:txBody>
          <a:bodyPr wrap="square" lIns="0" tIns="0" rIns="0" bIns="0" rtlCol="0" anchor="ctr"/>
          <a:lstStyle/>
          <a:p>
            <a:pPr indent="0" marL="0">
              <a:buNone/>
            </a:pPr>
            <a:r>
              <a:rPr lang="en-US" sz="1150" dirty="0">
                <a:solidFill>
                  <a:schemeClr val="tx1"/>
                </a:solidFill>
              </a:rPr>
              <a:t>基本合意の前に「PMI責任者の指名」を必須に</a:t>
            </a:r>
            <a:endParaRPr lang="en-US" sz="1150" dirty="0"/>
          </a:p>
        </p:txBody>
      </p:sp>
      <p:sp>
        <p:nvSpPr>
          <p:cNvPr id="29" name="Shape 27"/>
          <p:cNvSpPr/>
          <p:nvPr/>
        </p:nvSpPr>
        <p:spPr>
          <a:xfrm>
            <a:off x="685800" y="4681728"/>
            <a:ext cx="457200" cy="457200"/>
          </a:xfrm>
          <a:prstGeom prst="ellipse">
            <a:avLst/>
          </a:prstGeom>
          <a:solidFill>
            <a:schemeClr val="accent1"/>
          </a:solidFill>
          <a:ln w="12700">
            <a:solidFill>
              <a:schemeClr val="accent1"/>
            </a:solidFill>
            <a:prstDash val="solid"/>
          </a:ln>
        </p:spPr>
      </p:sp>
      <p:sp>
        <p:nvSpPr>
          <p:cNvPr id="30" name="Text 28"/>
          <p:cNvSpPr txBox="1"/>
          <p:nvPr/>
        </p:nvSpPr>
        <p:spPr>
          <a:xfrm>
            <a:off x="685800" y="4681728"/>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04</a:t>
            </a:r>
            <a:endParaRPr lang="en-US" sz="1200" dirty="0"/>
          </a:p>
        </p:txBody>
      </p:sp>
      <p:sp>
        <p:nvSpPr>
          <p:cNvPr id="31" name="rule 4"/>
          <p:cNvSpPr/>
          <p:nvPr/>
        </p:nvSpPr>
        <p:spPr>
          <a:xfrm>
            <a:off x="1325880" y="4562856"/>
            <a:ext cx="5806440" cy="658368"/>
          </a:xfrm>
          <a:prstGeom prst="roundRect">
            <a:avLst>
              <a:gd name="adj" fmla="val 8333"/>
            </a:avLst>
          </a:prstGeom>
          <a:solidFill>
            <a:srgbClr val="FFFFFF"/>
          </a:solidFill>
          <a:ln w="9525">
            <a:solidFill>
              <a:schemeClr val="accent3"/>
            </a:solidFill>
            <a:prstDash val="solid"/>
          </a:ln>
        </p:spPr>
      </p:sp>
      <p:sp>
        <p:nvSpPr>
          <p:cNvPr id="32" name="Text 30"/>
          <p:cNvSpPr txBox="1"/>
          <p:nvPr/>
        </p:nvSpPr>
        <p:spPr>
          <a:xfrm>
            <a:off x="1508760" y="4562856"/>
            <a:ext cx="5486400" cy="658368"/>
          </a:xfrm>
          <a:prstGeom prst="rect">
            <a:avLst/>
          </a:prstGeom>
          <a:noFill/>
          <a:ln/>
        </p:spPr>
        <p:txBody>
          <a:bodyPr wrap="square" lIns="0" tIns="0" rIns="0" bIns="0" rtlCol="0" anchor="ctr"/>
          <a:lstStyle/>
          <a:p>
            <a:pPr indent="0" marL="0">
              <a:buNone/>
            </a:pPr>
            <a:r>
              <a:rPr lang="en-US" sz="1250" b="1" dirty="0">
                <a:solidFill>
                  <a:schemeClr val="tx1"/>
                </a:solidFill>
              </a:rPr>
              <a:t>本業の外は、買わずに自分で作る</a:t>
            </a:r>
            <a:endParaRPr lang="en-US" sz="1300" dirty="0"/>
          </a:p>
          <a:p>
            <a:pPr indent="0" marL="0">
              <a:buNone/>
            </a:pPr>
            <a:r>
              <a:rPr lang="en-US" sz="1050" dirty="0">
                <a:solidFill>
                  <a:schemeClr val="accent2"/>
                </a:solidFill>
              </a:rPr>
              <a:t>買った本業外は全敗。自社で作った本業外は勝ち</a:t>
            </a:r>
            <a:endParaRPr lang="en-US" sz="1300" dirty="0"/>
          </a:p>
        </p:txBody>
      </p:sp>
      <p:sp>
        <p:nvSpPr>
          <p:cNvPr id="33" name="arrow 4"/>
          <p:cNvSpPr/>
          <p:nvPr/>
        </p:nvSpPr>
        <p:spPr>
          <a:xfrm>
            <a:off x="7013448" y="4745736"/>
            <a:ext cx="237744" cy="292608"/>
          </a:xfrm>
          <a:prstGeom prst="chevron">
            <a:avLst/>
          </a:prstGeom>
          <a:solidFill>
            <a:schemeClr val="accent1"/>
          </a:solidFill>
          <a:ln w="12700">
            <a:solidFill>
              <a:schemeClr val="accent1"/>
            </a:solidFill>
            <a:prstDash val="solid"/>
          </a:ln>
        </p:spPr>
      </p:sp>
      <p:sp>
        <p:nvSpPr>
          <p:cNvPr id="34" name="impl 4"/>
          <p:cNvSpPr/>
          <p:nvPr/>
        </p:nvSpPr>
        <p:spPr>
          <a:xfrm>
            <a:off x="7406640" y="4562856"/>
            <a:ext cx="4096512" cy="658368"/>
          </a:xfrm>
          <a:prstGeom prst="roundRect">
            <a:avLst>
              <a:gd name="adj" fmla="val 8333"/>
            </a:avLst>
          </a:prstGeom>
          <a:solidFill>
            <a:schemeClr val="bg2"/>
          </a:solidFill>
          <a:ln w="9525">
            <a:solidFill>
              <a:schemeClr val="accent3"/>
            </a:solidFill>
            <a:prstDash val="solid"/>
          </a:ln>
          <a:effectLst>
            <a:outerShdw sx="100000" sy="100000" kx="0" ky="0" algn="bl" rotWithShape="0" blurRad="76200" dist="25400" dir="5400000">
              <a:srgbClr val="6F665F">
                <a:alpha val="12000"/>
              </a:srgbClr>
            </a:outerShdw>
          </a:effectLst>
        </p:spPr>
      </p:sp>
      <p:sp>
        <p:nvSpPr>
          <p:cNvPr id="35" name="Text 33"/>
          <p:cNvSpPr txBox="1"/>
          <p:nvPr/>
        </p:nvSpPr>
        <p:spPr>
          <a:xfrm>
            <a:off x="7589520" y="4562856"/>
            <a:ext cx="3749040" cy="658368"/>
          </a:xfrm>
          <a:prstGeom prst="rect">
            <a:avLst/>
          </a:prstGeom>
          <a:noFill/>
          <a:ln/>
        </p:spPr>
        <p:txBody>
          <a:bodyPr wrap="square" lIns="0" tIns="0" rIns="0" bIns="0" rtlCol="0" anchor="ctr"/>
          <a:lstStyle/>
          <a:p>
            <a:pPr indent="0" marL="0">
              <a:buNone/>
            </a:pPr>
            <a:r>
              <a:rPr lang="en-US" sz="1150" dirty="0">
                <a:solidFill>
                  <a:schemeClr val="tx1"/>
                </a:solidFill>
              </a:rPr>
              <a:t>買収戦略の段階で本業外の案件を外す</a:t>
            </a:r>
            <a:endParaRPr lang="en-US" sz="1150" dirty="0"/>
          </a:p>
        </p:txBody>
      </p:sp>
      <p:sp>
        <p:nvSpPr>
          <p:cNvPr id="36" name="Shape 34"/>
          <p:cNvSpPr/>
          <p:nvPr/>
        </p:nvSpPr>
        <p:spPr>
          <a:xfrm>
            <a:off x="685800" y="5440680"/>
            <a:ext cx="457200" cy="457200"/>
          </a:xfrm>
          <a:prstGeom prst="ellipse">
            <a:avLst/>
          </a:prstGeom>
          <a:solidFill>
            <a:schemeClr val="accent1"/>
          </a:solidFill>
          <a:ln w="12700">
            <a:solidFill>
              <a:schemeClr val="accent1"/>
            </a:solidFill>
            <a:prstDash val="solid"/>
          </a:ln>
        </p:spPr>
      </p:sp>
      <p:sp>
        <p:nvSpPr>
          <p:cNvPr id="37" name="Text 35"/>
          <p:cNvSpPr txBox="1"/>
          <p:nvPr/>
        </p:nvSpPr>
        <p:spPr>
          <a:xfrm>
            <a:off x="685800" y="5440680"/>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05</a:t>
            </a:r>
            <a:endParaRPr lang="en-US" sz="1200" dirty="0"/>
          </a:p>
        </p:txBody>
      </p:sp>
      <p:sp>
        <p:nvSpPr>
          <p:cNvPr id="38" name="rule 5"/>
          <p:cNvSpPr/>
          <p:nvPr/>
        </p:nvSpPr>
        <p:spPr>
          <a:xfrm>
            <a:off x="1325880" y="5321808"/>
            <a:ext cx="5806440" cy="658368"/>
          </a:xfrm>
          <a:prstGeom prst="roundRect">
            <a:avLst>
              <a:gd name="adj" fmla="val 8333"/>
            </a:avLst>
          </a:prstGeom>
          <a:solidFill>
            <a:srgbClr val="FFFFFF"/>
          </a:solidFill>
          <a:ln w="9525">
            <a:solidFill>
              <a:schemeClr val="accent3"/>
            </a:solidFill>
            <a:prstDash val="solid"/>
          </a:ln>
        </p:spPr>
      </p:sp>
      <p:sp>
        <p:nvSpPr>
          <p:cNvPr id="39" name="Text 37"/>
          <p:cNvSpPr txBox="1"/>
          <p:nvPr/>
        </p:nvSpPr>
        <p:spPr>
          <a:xfrm>
            <a:off x="1508760" y="5321808"/>
            <a:ext cx="5486400" cy="658368"/>
          </a:xfrm>
          <a:prstGeom prst="rect">
            <a:avLst/>
          </a:prstGeom>
          <a:noFill/>
          <a:ln/>
        </p:spPr>
        <p:txBody>
          <a:bodyPr wrap="square" lIns="0" tIns="0" rIns="0" bIns="0" rtlCol="0" anchor="ctr"/>
          <a:lstStyle/>
          <a:p>
            <a:pPr indent="0" marL="0">
              <a:buNone/>
            </a:pPr>
            <a:r>
              <a:rPr lang="en-US" sz="1250" b="1" dirty="0">
                <a:solidFill>
                  <a:schemeClr val="tx1"/>
                </a:solidFill>
              </a:rPr>
              <a:t>売る時期を、買う前に決めておく</a:t>
            </a:r>
            <a:endParaRPr lang="en-US" sz="1300" dirty="0"/>
          </a:p>
          <a:p>
            <a:pPr indent="0" marL="0">
              <a:buNone/>
            </a:pPr>
            <a:r>
              <a:rPr lang="en-US" sz="1050" dirty="0">
                <a:solidFill>
                  <a:schemeClr val="accent2"/>
                </a:solidFill>
              </a:rPr>
              <a:t>6年保有で−1.70億円／2ヶ月で30%売却し回収</a:t>
            </a:r>
            <a:endParaRPr lang="en-US" sz="1300" dirty="0"/>
          </a:p>
        </p:txBody>
      </p:sp>
      <p:sp>
        <p:nvSpPr>
          <p:cNvPr id="40" name="arrow 5"/>
          <p:cNvSpPr/>
          <p:nvPr/>
        </p:nvSpPr>
        <p:spPr>
          <a:xfrm>
            <a:off x="7013448" y="5504688"/>
            <a:ext cx="237744" cy="292608"/>
          </a:xfrm>
          <a:prstGeom prst="chevron">
            <a:avLst/>
          </a:prstGeom>
          <a:solidFill>
            <a:schemeClr val="accent1"/>
          </a:solidFill>
          <a:ln w="12700">
            <a:solidFill>
              <a:schemeClr val="accent1"/>
            </a:solidFill>
            <a:prstDash val="solid"/>
          </a:ln>
        </p:spPr>
      </p:sp>
      <p:sp>
        <p:nvSpPr>
          <p:cNvPr id="41" name="impl 5"/>
          <p:cNvSpPr/>
          <p:nvPr/>
        </p:nvSpPr>
        <p:spPr>
          <a:xfrm>
            <a:off x="7406640" y="5321808"/>
            <a:ext cx="4096512" cy="658368"/>
          </a:xfrm>
          <a:prstGeom prst="roundRect">
            <a:avLst>
              <a:gd name="adj" fmla="val 8333"/>
            </a:avLst>
          </a:prstGeom>
          <a:solidFill>
            <a:schemeClr val="bg2"/>
          </a:solidFill>
          <a:ln w="9525">
            <a:solidFill>
              <a:schemeClr val="accent3"/>
            </a:solidFill>
            <a:prstDash val="solid"/>
          </a:ln>
          <a:effectLst>
            <a:outerShdw sx="100000" sy="100000" kx="0" ky="0" algn="bl" rotWithShape="0" blurRad="76200" dist="25400" dir="5400000">
              <a:srgbClr val="6F665F">
                <a:alpha val="12000"/>
              </a:srgbClr>
            </a:outerShdw>
          </a:effectLst>
        </p:spPr>
      </p:sp>
      <p:sp>
        <p:nvSpPr>
          <p:cNvPr id="42" name="Text 40"/>
          <p:cNvSpPr txBox="1"/>
          <p:nvPr/>
        </p:nvSpPr>
        <p:spPr>
          <a:xfrm>
            <a:off x="7589520" y="5321808"/>
            <a:ext cx="3749040" cy="658368"/>
          </a:xfrm>
          <a:prstGeom prst="rect">
            <a:avLst/>
          </a:prstGeom>
          <a:noFill/>
          <a:ln/>
        </p:spPr>
        <p:txBody>
          <a:bodyPr wrap="square" lIns="0" tIns="0" rIns="0" bIns="0" rtlCol="0" anchor="ctr"/>
          <a:lstStyle/>
          <a:p>
            <a:pPr indent="0" marL="0">
              <a:buNone/>
            </a:pPr>
            <a:r>
              <a:rPr lang="en-US" sz="1150" dirty="0">
                <a:solidFill>
                  <a:schemeClr val="tx1"/>
                </a:solidFill>
              </a:rPr>
              <a:t>撤退ラインを買収前に文書化して合意</a:t>
            </a:r>
            <a:endParaRPr lang="en-US" sz="1150" dirty="0"/>
          </a:p>
        </p:txBody>
      </p:sp>
      <p:sp>
        <p:nvSpPr>
          <p:cNvPr id="43" name="Text 41"/>
          <p:cNvSpPr txBox="1"/>
          <p:nvPr/>
        </p:nvSpPr>
        <p:spPr>
          <a:xfrm>
            <a:off x="685800" y="6126480"/>
            <a:ext cx="10820095" cy="320040"/>
          </a:xfrm>
          <a:prstGeom prst="rect">
            <a:avLst/>
          </a:prstGeom>
          <a:noFill/>
          <a:ln/>
        </p:spPr>
        <p:txBody>
          <a:bodyPr wrap="square" lIns="0" tIns="0" rIns="0" bIns="0" rtlCol="0" anchor="t"/>
          <a:lstStyle/>
          <a:p>
            <a:pPr indent="0" marL="0">
              <a:buNone/>
            </a:pPr>
            <a:r>
              <a:rPr lang="en-US" sz="1200" b="1" i="1" dirty="0">
                <a:solidFill>
                  <a:schemeClr val="accent1"/>
                </a:solidFill>
              </a:rPr>
              <a:t>値づけを決める。PMIの人を決める。売る時期を決める。この3つを買う前に紙に書けば、負けても致命傷にはならない。</a:t>
            </a:r>
            <a:endParaRPr lang="en-US" sz="1200" dirty="0"/>
          </a:p>
        </p:txBody>
      </p:sp>
      <p:sp>
        <p:nvSpPr>
          <p:cNvPr id="25" name="Slide Number Placeholder 0"/>
          <p:cNvSpPr>
            <a:spLocks noGrp="1"/>
          </p:cNvSpPr>
          <p:nvPr>
            <p:ph type="sldNum" sz="quarter" idx="4294967295"/>
          </p:nvPr>
        </p:nvSpPr>
        <p:spPr>
          <a:xfrm>
            <a:off x="10957255"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dot"/>
          <p:cNvSpPr/>
          <p:nvPr/>
        </p:nvSpPr>
        <p:spPr>
          <a:xfrm>
            <a:off x="685800" y="484632"/>
            <a:ext cx="109728" cy="109728"/>
          </a:xfrm>
          <a:prstGeom prst="ellipse">
            <a:avLst/>
          </a:prstGeom>
          <a:solidFill>
            <a:schemeClr val="accent1"/>
          </a:solidFill>
          <a:ln w="12700">
            <a:solidFill>
              <a:schemeClr val="accent1"/>
            </a:solidFill>
            <a:prstDash val="solid"/>
          </a:ln>
        </p:spPr>
      </p:sp>
      <p:sp>
        <p:nvSpPr>
          <p:cNvPr id="3" name="Text 0"/>
          <p:cNvSpPr/>
          <p:nvPr>
            <p:ph idx="100" type="body" hasCustomPrompt="1"/>
          </p:nvPr>
        </p:nvSpPr>
        <p:spPr>
          <a:xfrm>
            <a:off x="923544" y="365760"/>
            <a:ext cx="9601200" cy="329184"/>
          </a:xfrm>
          <a:prstGeom prst="rect">
            <a:avLst/>
          </a:prstGeom>
          <a:noFill/>
          <a:ln/>
        </p:spPr>
        <p:txBody>
          <a:bodyPr wrap="square" lIns="0" tIns="0" rIns="0" bIns="0" rtlCol="0" anchor="ctr"/>
          <a:lstStyle/>
          <a:p>
            <a:pPr indent="0" marL="0">
              <a:buNone/>
            </a:pPr>
            <a:r>
              <a:rPr lang="en-US" sz="1200" b="1" spc="240" kern="0" dirty="0">
                <a:solidFill>
                  <a:schemeClr val="accent1"/>
                </a:solidFill>
              </a:rPr>
              <a:t>SERVICE STACK</a:t>
            </a:r>
            <a:endParaRPr lang="en-US" sz="1200" dirty="0"/>
          </a:p>
        </p:txBody>
      </p:sp>
      <p:sp>
        <p:nvSpPr>
          <p:cNvPr id="4" name="Text 0"/>
          <p:cNvSpPr/>
          <p:nvPr>
            <p:ph idx="101" type="title" hasCustomPrompt="1"/>
          </p:nvPr>
        </p:nvSpPr>
        <p:spPr>
          <a:xfrm>
            <a:off x="685800" y="749808"/>
            <a:ext cx="10820095" cy="731520"/>
          </a:xfrm>
          <a:prstGeom prst="rect">
            <a:avLst/>
          </a:prstGeom>
          <a:noFill/>
          <a:ln/>
        </p:spPr>
        <p:txBody>
          <a:bodyPr wrap="square" lIns="0" tIns="0" rIns="0" bIns="0" rtlCol="0" anchor="ctr"/>
          <a:lstStyle/>
          <a:p>
            <a:pPr algn="l" indent="0" marL="0">
              <a:buNone/>
            </a:pPr>
            <a:r>
              <a:rPr lang="en-US" sz="3000" b="1" dirty="0">
                <a:solidFill>
                  <a:schemeClr val="tx1"/>
                </a:solidFill>
              </a:rPr>
              <a:t>人だけならSES、ツールだけならまとめサイト</a:t>
            </a:r>
            <a:endParaRPr lang="en-US" sz="3000" dirty="0"/>
          </a:p>
        </p:txBody>
      </p:sp>
      <p:sp>
        <p:nvSpPr>
          <p:cNvPr id="5" name="Text 0"/>
          <p:cNvSpPr/>
          <p:nvPr>
            <p:ph idx="102" type="body" hasCustomPrompt="1"/>
          </p:nvPr>
        </p:nvSpPr>
        <p:spPr>
          <a:xfrm>
            <a:off x="685800" y="1481328"/>
            <a:ext cx="10820095" cy="365760"/>
          </a:xfrm>
          <a:prstGeom prst="rect">
            <a:avLst/>
          </a:prstGeom>
          <a:noFill/>
          <a:ln/>
        </p:spPr>
        <p:txBody>
          <a:bodyPr wrap="square" lIns="0" tIns="0" rIns="0" bIns="0" rtlCol="0" anchor="t"/>
          <a:lstStyle/>
          <a:p>
            <a:pPr indent="0" marL="0">
              <a:buNone/>
            </a:pPr>
            <a:r>
              <a:rPr lang="en-US" sz="1350" dirty="0">
                <a:solidFill>
                  <a:schemeClr val="accent2"/>
                </a:solidFill>
              </a:rPr>
              <a:t>3つ揃えて「社内M&amp;A部門」。まずツールを入れ、そのうえに担当者を派遣する二段構え</a:t>
            </a:r>
            <a:endParaRPr lang="en-US" sz="1350" dirty="0"/>
          </a:p>
        </p:txBody>
      </p:sp>
      <p:sp>
        <p:nvSpPr>
          <p:cNvPr id="6" name="layer ①"/>
          <p:cNvSpPr/>
          <p:nvPr/>
        </p:nvSpPr>
        <p:spPr>
          <a:xfrm>
            <a:off x="1143000" y="2057400"/>
            <a:ext cx="5852160" cy="1170432"/>
          </a:xfrm>
          <a:prstGeom prst="roundRect">
            <a:avLst>
              <a:gd name="adj" fmla="val 4688"/>
            </a:avLst>
          </a:prstGeom>
          <a:solidFill>
            <a:schemeClr val="tx1"/>
          </a:solidFill>
          <a:ln w="12700">
            <a:solidFill>
              <a:schemeClr val="tx1"/>
            </a:solidFill>
            <a:prstDash val="solid"/>
          </a:ln>
        </p:spPr>
      </p:sp>
      <p:sp>
        <p:nvSpPr>
          <p:cNvPr id="7" name="Text 5"/>
          <p:cNvSpPr txBox="1"/>
          <p:nvPr/>
        </p:nvSpPr>
        <p:spPr>
          <a:xfrm>
            <a:off x="1325880" y="2057400"/>
            <a:ext cx="548640" cy="1170432"/>
          </a:xfrm>
          <a:prstGeom prst="rect">
            <a:avLst/>
          </a:prstGeom>
          <a:noFill/>
          <a:ln/>
        </p:spPr>
        <p:txBody>
          <a:bodyPr wrap="square" lIns="0" tIns="0" rIns="0" bIns="0" rtlCol="0" anchor="ctr"/>
          <a:lstStyle/>
          <a:p>
            <a:pPr indent="0" marL="0">
              <a:buNone/>
            </a:pPr>
            <a:r>
              <a:rPr lang="en-US" sz="2600" b="1" dirty="0">
                <a:solidFill>
                  <a:schemeClr val="accent4"/>
                </a:solidFill>
              </a:rPr>
              <a:t>①</a:t>
            </a:r>
            <a:endParaRPr lang="en-US" sz="2600" dirty="0"/>
          </a:p>
        </p:txBody>
      </p:sp>
      <p:sp>
        <p:nvSpPr>
          <p:cNvPr id="8" name="Text 6"/>
          <p:cNvSpPr txBox="1"/>
          <p:nvPr/>
        </p:nvSpPr>
        <p:spPr>
          <a:xfrm>
            <a:off x="1920240" y="2057400"/>
            <a:ext cx="3017520" cy="1170432"/>
          </a:xfrm>
          <a:prstGeom prst="rect">
            <a:avLst/>
          </a:prstGeom>
          <a:noFill/>
          <a:ln/>
        </p:spPr>
        <p:txBody>
          <a:bodyPr wrap="square" lIns="0" tIns="0" rIns="0" bIns="0" rtlCol="0" anchor="ctr"/>
          <a:lstStyle/>
          <a:p>
            <a:pPr indent="0" marL="0">
              <a:buNone/>
            </a:pPr>
            <a:r>
              <a:rPr lang="en-US" sz="1500" b="1" dirty="0">
                <a:solidFill>
                  <a:schemeClr val="bg1"/>
                </a:solidFill>
              </a:rPr>
              <a:t>M&amp;A担当の派遣・伴走</a:t>
            </a:r>
            <a:endParaRPr lang="en-US" sz="1300" dirty="0"/>
          </a:p>
          <a:p>
            <a:pPr indent="0" marL="0">
              <a:buNone/>
            </a:pPr>
            <a:r>
              <a:rPr lang="en-US" sz="1050" dirty="0">
                <a:solidFill>
                  <a:schemeClr val="accent3"/>
                </a:solidFill>
              </a:rPr>
              <a:t>コンサルタントが週次で入り、案件を進めながら担当者を育てる</a:t>
            </a:r>
            <a:endParaRPr lang="en-US" sz="1300" dirty="0"/>
          </a:p>
        </p:txBody>
      </p:sp>
      <p:sp>
        <p:nvSpPr>
          <p:cNvPr id="9" name="Text 7"/>
          <p:cNvSpPr txBox="1"/>
          <p:nvPr/>
        </p:nvSpPr>
        <p:spPr>
          <a:xfrm>
            <a:off x="5029200" y="2057400"/>
            <a:ext cx="1828800" cy="1170432"/>
          </a:xfrm>
          <a:prstGeom prst="rect">
            <a:avLst/>
          </a:prstGeom>
          <a:noFill/>
          <a:ln/>
        </p:spPr>
        <p:txBody>
          <a:bodyPr wrap="square" lIns="0" tIns="0" rIns="0" bIns="0" rtlCol="0" anchor="ctr"/>
          <a:lstStyle/>
          <a:p>
            <a:pPr algn="r" indent="0" marL="0">
              <a:buNone/>
            </a:pPr>
            <a:r>
              <a:rPr lang="en-US" sz="950" i="1" dirty="0">
                <a:solidFill>
                  <a:schemeClr val="accent3"/>
                </a:solidFill>
              </a:rPr>
              <a:t>単体なら：M&amp;A担当のSES</a:t>
            </a:r>
            <a:endParaRPr lang="en-US" sz="950" dirty="0"/>
          </a:p>
        </p:txBody>
      </p:sp>
      <p:sp>
        <p:nvSpPr>
          <p:cNvPr id="10" name="layer ②"/>
          <p:cNvSpPr/>
          <p:nvPr/>
        </p:nvSpPr>
        <p:spPr>
          <a:xfrm>
            <a:off x="914400" y="3355848"/>
            <a:ext cx="6309360" cy="1170432"/>
          </a:xfrm>
          <a:prstGeom prst="roundRect">
            <a:avLst>
              <a:gd name="adj" fmla="val 4688"/>
            </a:avLst>
          </a:prstGeom>
          <a:solidFill>
            <a:schemeClr val="accent1"/>
          </a:solidFill>
          <a:ln w="12700">
            <a:solidFill>
              <a:schemeClr val="accent1"/>
            </a:solidFill>
            <a:prstDash val="solid"/>
          </a:ln>
        </p:spPr>
      </p:sp>
      <p:sp>
        <p:nvSpPr>
          <p:cNvPr id="11" name="Text 9"/>
          <p:cNvSpPr txBox="1"/>
          <p:nvPr/>
        </p:nvSpPr>
        <p:spPr>
          <a:xfrm>
            <a:off x="1097280" y="3355848"/>
            <a:ext cx="548640" cy="1170432"/>
          </a:xfrm>
          <a:prstGeom prst="rect">
            <a:avLst/>
          </a:prstGeom>
          <a:noFill/>
          <a:ln/>
        </p:spPr>
        <p:txBody>
          <a:bodyPr wrap="square" lIns="0" tIns="0" rIns="0" bIns="0" rtlCol="0" anchor="ctr"/>
          <a:lstStyle/>
          <a:p>
            <a:pPr indent="0" marL="0">
              <a:buNone/>
            </a:pPr>
            <a:r>
              <a:rPr lang="en-US" sz="2600" b="1" dirty="0">
                <a:solidFill>
                  <a:schemeClr val="accent4"/>
                </a:solidFill>
              </a:rPr>
              <a:t>②</a:t>
            </a:r>
            <a:endParaRPr lang="en-US" sz="2600" dirty="0"/>
          </a:p>
        </p:txBody>
      </p:sp>
      <p:sp>
        <p:nvSpPr>
          <p:cNvPr id="12" name="Text 10"/>
          <p:cNvSpPr txBox="1"/>
          <p:nvPr/>
        </p:nvSpPr>
        <p:spPr>
          <a:xfrm>
            <a:off x="1691640" y="3355848"/>
            <a:ext cx="3474720" cy="1170432"/>
          </a:xfrm>
          <a:prstGeom prst="rect">
            <a:avLst/>
          </a:prstGeom>
          <a:noFill/>
          <a:ln/>
        </p:spPr>
        <p:txBody>
          <a:bodyPr wrap="square" lIns="0" tIns="0" rIns="0" bIns="0" rtlCol="0" anchor="ctr"/>
          <a:lstStyle/>
          <a:p>
            <a:pPr indent="0" marL="0">
              <a:buNone/>
            </a:pPr>
            <a:r>
              <a:rPr lang="en-US" sz="1500" b="1" dirty="0">
                <a:solidFill>
                  <a:schemeClr val="bg1"/>
                </a:solidFill>
              </a:rPr>
              <a:t>自社データを学習するAI</a:t>
            </a:r>
            <a:endParaRPr lang="en-US" sz="1300" dirty="0"/>
          </a:p>
          <a:p>
            <a:pPr indent="0" marL="0">
              <a:buNone/>
            </a:pPr>
            <a:r>
              <a:rPr lang="en-US" sz="1050" dirty="0">
                <a:solidFill>
                  <a:schemeClr val="bg2"/>
                </a:solidFill>
              </a:rPr>
              <a:t>自社のBS/PL・強み・過去の検討履歴を投入。案件ごとにシナジーと投資回収を自動で試算</a:t>
            </a:r>
            <a:endParaRPr lang="en-US" sz="1300" dirty="0"/>
          </a:p>
        </p:txBody>
      </p:sp>
      <p:sp>
        <p:nvSpPr>
          <p:cNvPr id="13" name="Text 11"/>
          <p:cNvSpPr txBox="1"/>
          <p:nvPr/>
        </p:nvSpPr>
        <p:spPr>
          <a:xfrm>
            <a:off x="5257800" y="3355848"/>
            <a:ext cx="1828800" cy="1170432"/>
          </a:xfrm>
          <a:prstGeom prst="rect">
            <a:avLst/>
          </a:prstGeom>
          <a:noFill/>
          <a:ln/>
        </p:spPr>
        <p:txBody>
          <a:bodyPr wrap="square" lIns="0" tIns="0" rIns="0" bIns="0" rtlCol="0" anchor="ctr"/>
          <a:lstStyle/>
          <a:p>
            <a:pPr algn="r" indent="0" marL="0">
              <a:buNone/>
            </a:pPr>
            <a:r>
              <a:rPr lang="en-US" sz="950" i="1" dirty="0">
                <a:solidFill>
                  <a:schemeClr val="bg2"/>
                </a:solidFill>
              </a:rPr>
              <a:t>単体なら：分析ツール</a:t>
            </a:r>
            <a:endParaRPr lang="en-US" sz="950" dirty="0"/>
          </a:p>
        </p:txBody>
      </p:sp>
      <p:sp>
        <p:nvSpPr>
          <p:cNvPr id="14" name="layer ③"/>
          <p:cNvSpPr/>
          <p:nvPr/>
        </p:nvSpPr>
        <p:spPr>
          <a:xfrm>
            <a:off x="685800" y="4654296"/>
            <a:ext cx="6766560" cy="1170432"/>
          </a:xfrm>
          <a:prstGeom prst="roundRect">
            <a:avLst>
              <a:gd name="adj" fmla="val 4688"/>
            </a:avLst>
          </a:prstGeom>
          <a:solidFill>
            <a:schemeClr val="bg2"/>
          </a:solidFill>
          <a:ln w="12700">
            <a:solidFill>
              <a:srgbClr val="E6DCCB"/>
            </a:solidFill>
            <a:prstDash val="solid"/>
          </a:ln>
        </p:spPr>
      </p:sp>
      <p:sp>
        <p:nvSpPr>
          <p:cNvPr id="15" name="Text 13"/>
          <p:cNvSpPr txBox="1"/>
          <p:nvPr/>
        </p:nvSpPr>
        <p:spPr>
          <a:xfrm>
            <a:off x="868680" y="4654296"/>
            <a:ext cx="548640" cy="1170432"/>
          </a:xfrm>
          <a:prstGeom prst="rect">
            <a:avLst/>
          </a:prstGeom>
          <a:noFill/>
          <a:ln/>
        </p:spPr>
        <p:txBody>
          <a:bodyPr wrap="square" lIns="0" tIns="0" rIns="0" bIns="0" rtlCol="0" anchor="ctr"/>
          <a:lstStyle/>
          <a:p>
            <a:pPr indent="0" marL="0">
              <a:buNone/>
            </a:pPr>
            <a:r>
              <a:rPr lang="en-US" sz="2600" b="1" dirty="0">
                <a:solidFill>
                  <a:schemeClr val="accent1"/>
                </a:solidFill>
              </a:rPr>
              <a:t>③</a:t>
            </a:r>
            <a:endParaRPr lang="en-US" sz="2600" dirty="0"/>
          </a:p>
        </p:txBody>
      </p:sp>
      <p:sp>
        <p:nvSpPr>
          <p:cNvPr id="16" name="Text 14"/>
          <p:cNvSpPr txBox="1"/>
          <p:nvPr/>
        </p:nvSpPr>
        <p:spPr>
          <a:xfrm>
            <a:off x="1463040" y="4654296"/>
            <a:ext cx="3931920" cy="1170432"/>
          </a:xfrm>
          <a:prstGeom prst="rect">
            <a:avLst/>
          </a:prstGeom>
          <a:noFill/>
          <a:ln/>
        </p:spPr>
        <p:txBody>
          <a:bodyPr wrap="square" lIns="0" tIns="0" rIns="0" bIns="0" rtlCol="0" anchor="ctr"/>
          <a:lstStyle/>
          <a:p>
            <a:pPr indent="0" marL="0">
              <a:buNone/>
            </a:pPr>
            <a:r>
              <a:rPr lang="en-US" sz="1500" b="1" dirty="0">
                <a:solidFill>
                  <a:schemeClr val="tx1"/>
                </a:solidFill>
              </a:rPr>
              <a:t>M&amp;A情報REINS</a:t>
            </a:r>
            <a:endParaRPr lang="en-US" sz="1300" dirty="0"/>
          </a:p>
          <a:p>
            <a:pPr indent="0" marL="0">
              <a:buNone/>
            </a:pPr>
            <a:r>
              <a:rPr lang="en-US" sz="1050" dirty="0">
                <a:solidFill>
                  <a:schemeClr val="accent2"/>
                </a:solidFill>
              </a:rPr>
              <a:t>全M&amp;A会社・サイトのオープン情報を横断して毎日収集。買い手の方針に合う案件だけを通知</a:t>
            </a:r>
            <a:endParaRPr lang="en-US" sz="1300" dirty="0"/>
          </a:p>
        </p:txBody>
      </p:sp>
      <p:sp>
        <p:nvSpPr>
          <p:cNvPr id="17" name="Text 15"/>
          <p:cNvSpPr txBox="1"/>
          <p:nvPr/>
        </p:nvSpPr>
        <p:spPr>
          <a:xfrm>
            <a:off x="5486400" y="4654296"/>
            <a:ext cx="1828800" cy="1170432"/>
          </a:xfrm>
          <a:prstGeom prst="rect">
            <a:avLst/>
          </a:prstGeom>
          <a:noFill/>
          <a:ln/>
        </p:spPr>
        <p:txBody>
          <a:bodyPr wrap="square" lIns="0" tIns="0" rIns="0" bIns="0" rtlCol="0" anchor="ctr"/>
          <a:lstStyle/>
          <a:p>
            <a:pPr algn="r" indent="0" marL="0">
              <a:buNone/>
            </a:pPr>
            <a:r>
              <a:rPr lang="en-US" sz="950" i="1" dirty="0">
                <a:solidFill>
                  <a:schemeClr val="accent2"/>
                </a:solidFill>
              </a:rPr>
              <a:t>単体なら：無料のまとめサイト</a:t>
            </a:r>
            <a:endParaRPr lang="en-US" sz="950" dirty="0"/>
          </a:p>
        </p:txBody>
      </p:sp>
      <p:sp>
        <p:nvSpPr>
          <p:cNvPr id="18" name="stage 1"/>
          <p:cNvSpPr/>
          <p:nvPr/>
        </p:nvSpPr>
        <p:spPr>
          <a:xfrm>
            <a:off x="7726680" y="2057400"/>
            <a:ext cx="3776472" cy="1783080"/>
          </a:xfrm>
          <a:prstGeom prst="roundRect">
            <a:avLst>
              <a:gd name="adj" fmla="val 3077"/>
            </a:avLst>
          </a:prstGeom>
          <a:solidFill>
            <a:schemeClr val="bg2"/>
          </a:solidFill>
          <a:ln w="9525">
            <a:solidFill>
              <a:schemeClr val="accent3"/>
            </a:solidFill>
            <a:prstDash val="solid"/>
          </a:ln>
          <a:effectLst>
            <a:outerShdw sx="100000" sy="100000" kx="0" ky="0" algn="bl" rotWithShape="0" blurRad="76200" dist="25400" dir="5400000">
              <a:srgbClr val="6F665F">
                <a:alpha val="12000"/>
              </a:srgbClr>
            </a:outerShdw>
          </a:effectLst>
        </p:spPr>
      </p:sp>
      <p:sp>
        <p:nvSpPr>
          <p:cNvPr id="19" name="Shape 17"/>
          <p:cNvSpPr/>
          <p:nvPr/>
        </p:nvSpPr>
        <p:spPr>
          <a:xfrm>
            <a:off x="7955280" y="2212848"/>
            <a:ext cx="914400" cy="274320"/>
          </a:xfrm>
          <a:prstGeom prst="roundRect">
            <a:avLst>
              <a:gd name="adj" fmla="val 50000"/>
            </a:avLst>
          </a:prstGeom>
          <a:solidFill>
            <a:schemeClr val="accent1"/>
          </a:solidFill>
          <a:ln w="12700">
            <a:solidFill>
              <a:schemeClr val="accent1"/>
            </a:solidFill>
            <a:prstDash val="solid"/>
          </a:ln>
        </p:spPr>
      </p:sp>
      <p:sp>
        <p:nvSpPr>
          <p:cNvPr id="20" name="Text 18"/>
          <p:cNvSpPr txBox="1"/>
          <p:nvPr/>
        </p:nvSpPr>
        <p:spPr>
          <a:xfrm>
            <a:off x="7955280" y="2212848"/>
            <a:ext cx="914400" cy="274320"/>
          </a:xfrm>
          <a:prstGeom prst="rect">
            <a:avLst/>
          </a:prstGeom>
          <a:noFill/>
          <a:ln/>
        </p:spPr>
        <p:txBody>
          <a:bodyPr wrap="square" lIns="0" tIns="0" rIns="0" bIns="0" rtlCol="0" anchor="ctr"/>
          <a:lstStyle/>
          <a:p>
            <a:pPr algn="ctr" indent="0" marL="0">
              <a:buNone/>
            </a:pPr>
            <a:r>
              <a:rPr lang="en-US" sz="950" b="1" dirty="0">
                <a:solidFill>
                  <a:schemeClr val="bg1"/>
                </a:solidFill>
              </a:rPr>
              <a:t>STEP 1</a:t>
            </a:r>
            <a:endParaRPr lang="en-US" sz="950" dirty="0"/>
          </a:p>
        </p:txBody>
      </p:sp>
      <p:sp>
        <p:nvSpPr>
          <p:cNvPr id="21" name="Text 19"/>
          <p:cNvSpPr txBox="1"/>
          <p:nvPr/>
        </p:nvSpPr>
        <p:spPr>
          <a:xfrm>
            <a:off x="9006840" y="2176272"/>
            <a:ext cx="2377440" cy="347472"/>
          </a:xfrm>
          <a:prstGeom prst="rect">
            <a:avLst/>
          </a:prstGeom>
          <a:noFill/>
          <a:ln/>
        </p:spPr>
        <p:txBody>
          <a:bodyPr wrap="square" lIns="0" tIns="0" rIns="0" bIns="0" rtlCol="0" anchor="ctr"/>
          <a:lstStyle/>
          <a:p>
            <a:pPr indent="0" marL="0">
              <a:buNone/>
            </a:pPr>
            <a:r>
              <a:rPr lang="en-US" sz="1300" b="1" dirty="0">
                <a:solidFill>
                  <a:schemeClr val="tx1"/>
                </a:solidFill>
              </a:rPr>
              <a:t>ツールを入れる（③＋②）</a:t>
            </a:r>
            <a:endParaRPr lang="en-US" sz="1300" dirty="0"/>
          </a:p>
        </p:txBody>
      </p:sp>
      <p:sp>
        <p:nvSpPr>
          <p:cNvPr id="22" name="Text 20"/>
          <p:cNvSpPr txBox="1"/>
          <p:nvPr/>
        </p:nvSpPr>
        <p:spPr>
          <a:xfrm>
            <a:off x="7955280" y="2633472"/>
            <a:ext cx="3383280" cy="1097280"/>
          </a:xfrm>
          <a:prstGeom prst="rect">
            <a:avLst/>
          </a:prstGeom>
          <a:noFill/>
          <a:ln/>
        </p:spPr>
        <p:txBody>
          <a:bodyPr wrap="square" lIns="0" tIns="0" rIns="0" bIns="0" rtlCol="0" anchor="t"/>
          <a:lstStyle/>
          <a:p>
            <a:pPr indent="0" marL="0">
              <a:buNone/>
            </a:pPr>
            <a:r>
              <a:rPr lang="en-US" sz="1100" dirty="0">
                <a:solidFill>
                  <a:schemeClr val="accent2"/>
                </a:solidFill>
              </a:rPr>
              <a:t>全案件が自動で集まり、自社に合うかをAIが判定。月額の小さな契約で入口をつくる</a:t>
            </a:r>
            <a:endParaRPr lang="en-US" sz="1100" dirty="0"/>
          </a:p>
        </p:txBody>
      </p:sp>
      <p:sp>
        <p:nvSpPr>
          <p:cNvPr id="23" name="stage arrow"/>
          <p:cNvSpPr/>
          <p:nvPr/>
        </p:nvSpPr>
        <p:spPr>
          <a:xfrm rot="5400000">
            <a:off x="9464040" y="3913632"/>
            <a:ext cx="365760" cy="274320"/>
          </a:xfrm>
          <a:prstGeom prst="chevron">
            <a:avLst/>
          </a:prstGeom>
          <a:solidFill>
            <a:schemeClr val="accent1"/>
          </a:solidFill>
          <a:ln w="12700">
            <a:solidFill>
              <a:schemeClr val="accent1"/>
            </a:solidFill>
            <a:prstDash val="solid"/>
          </a:ln>
        </p:spPr>
      </p:sp>
      <p:sp>
        <p:nvSpPr>
          <p:cNvPr id="24" name="stage 2"/>
          <p:cNvSpPr/>
          <p:nvPr/>
        </p:nvSpPr>
        <p:spPr>
          <a:xfrm>
            <a:off x="7726680" y="4261104"/>
            <a:ext cx="3776472" cy="1783080"/>
          </a:xfrm>
          <a:prstGeom prst="roundRect">
            <a:avLst>
              <a:gd name="adj" fmla="val 3077"/>
            </a:avLst>
          </a:prstGeom>
          <a:solidFill>
            <a:schemeClr val="tx1"/>
          </a:solidFill>
          <a:ln w="12700">
            <a:solidFill>
              <a:schemeClr val="tx1"/>
            </a:solidFill>
            <a:prstDash val="solid"/>
          </a:ln>
        </p:spPr>
      </p:sp>
      <p:sp>
        <p:nvSpPr>
          <p:cNvPr id="25" name="Shape 23"/>
          <p:cNvSpPr/>
          <p:nvPr/>
        </p:nvSpPr>
        <p:spPr>
          <a:xfrm>
            <a:off x="7955280" y="4416552"/>
            <a:ext cx="914400" cy="274320"/>
          </a:xfrm>
          <a:prstGeom prst="roundRect">
            <a:avLst>
              <a:gd name="adj" fmla="val 50000"/>
            </a:avLst>
          </a:prstGeom>
          <a:solidFill>
            <a:schemeClr val="accent1"/>
          </a:solidFill>
          <a:ln w="12700">
            <a:solidFill>
              <a:schemeClr val="accent1"/>
            </a:solidFill>
            <a:prstDash val="solid"/>
          </a:ln>
        </p:spPr>
      </p:sp>
      <p:sp>
        <p:nvSpPr>
          <p:cNvPr id="26" name="Text 24"/>
          <p:cNvSpPr txBox="1"/>
          <p:nvPr/>
        </p:nvSpPr>
        <p:spPr>
          <a:xfrm>
            <a:off x="7955280" y="4416552"/>
            <a:ext cx="914400" cy="274320"/>
          </a:xfrm>
          <a:prstGeom prst="rect">
            <a:avLst/>
          </a:prstGeom>
          <a:noFill/>
          <a:ln/>
        </p:spPr>
        <p:txBody>
          <a:bodyPr wrap="square" lIns="0" tIns="0" rIns="0" bIns="0" rtlCol="0" anchor="ctr"/>
          <a:lstStyle/>
          <a:p>
            <a:pPr algn="ctr" indent="0" marL="0">
              <a:buNone/>
            </a:pPr>
            <a:r>
              <a:rPr lang="en-US" sz="950" b="1" dirty="0">
                <a:solidFill>
                  <a:schemeClr val="bg1"/>
                </a:solidFill>
              </a:rPr>
              <a:t>STEP 2</a:t>
            </a:r>
            <a:endParaRPr lang="en-US" sz="950" dirty="0"/>
          </a:p>
        </p:txBody>
      </p:sp>
      <p:sp>
        <p:nvSpPr>
          <p:cNvPr id="27" name="Text 25"/>
          <p:cNvSpPr txBox="1"/>
          <p:nvPr/>
        </p:nvSpPr>
        <p:spPr>
          <a:xfrm>
            <a:off x="9006840" y="4379976"/>
            <a:ext cx="2377440" cy="347472"/>
          </a:xfrm>
          <a:prstGeom prst="rect">
            <a:avLst/>
          </a:prstGeom>
          <a:noFill/>
          <a:ln/>
        </p:spPr>
        <p:txBody>
          <a:bodyPr wrap="square" lIns="0" tIns="0" rIns="0" bIns="0" rtlCol="0" anchor="ctr"/>
          <a:lstStyle/>
          <a:p>
            <a:pPr indent="0" marL="0">
              <a:buNone/>
            </a:pPr>
            <a:r>
              <a:rPr lang="en-US" sz="1300" b="1" dirty="0">
                <a:solidFill>
                  <a:schemeClr val="accent4"/>
                </a:solidFill>
              </a:rPr>
              <a:t>担当を派遣する（①）</a:t>
            </a:r>
            <a:endParaRPr lang="en-US" sz="1300" dirty="0"/>
          </a:p>
        </p:txBody>
      </p:sp>
      <p:sp>
        <p:nvSpPr>
          <p:cNvPr id="28" name="Text 26"/>
          <p:cNvSpPr txBox="1"/>
          <p:nvPr/>
        </p:nvSpPr>
        <p:spPr>
          <a:xfrm>
            <a:off x="7955280" y="4837176"/>
            <a:ext cx="3383280" cy="1097280"/>
          </a:xfrm>
          <a:prstGeom prst="rect">
            <a:avLst/>
          </a:prstGeom>
          <a:noFill/>
          <a:ln/>
        </p:spPr>
        <p:txBody>
          <a:bodyPr wrap="square" lIns="0" tIns="0" rIns="0" bIns="0" rtlCol="0" anchor="t"/>
          <a:lstStyle/>
          <a:p>
            <a:pPr indent="0" marL="0">
              <a:buNone/>
            </a:pPr>
            <a:r>
              <a:rPr lang="en-US" sz="1100" dirty="0">
                <a:solidFill>
                  <a:schemeClr val="accent3"/>
                </a:solidFill>
              </a:rPr>
              <a:t>ツールで見えた有望案件を、派遣した担当が一緒に進める。人の時間はツールで減らし、1人10社を回す</a:t>
            </a:r>
            <a:endParaRPr lang="en-US" sz="1100" dirty="0"/>
          </a:p>
        </p:txBody>
      </p:sp>
      <p:sp>
        <p:nvSpPr>
          <p:cNvPr id="29" name="Text 27"/>
          <p:cNvSpPr txBox="1"/>
          <p:nvPr/>
        </p:nvSpPr>
        <p:spPr>
          <a:xfrm>
            <a:off x="685800" y="6126480"/>
            <a:ext cx="10820095" cy="320040"/>
          </a:xfrm>
          <a:prstGeom prst="rect">
            <a:avLst/>
          </a:prstGeom>
          <a:noFill/>
          <a:ln/>
        </p:spPr>
        <p:txBody>
          <a:bodyPr wrap="square" lIns="0" tIns="0" rIns="0" bIns="0" rtlCol="0" anchor="t"/>
          <a:lstStyle/>
          <a:p>
            <a:pPr indent="0" marL="0">
              <a:buNone/>
            </a:pPr>
            <a:r>
              <a:rPr lang="en-US" sz="1200" b="1" i="1" dirty="0">
                <a:solidFill>
                  <a:schemeClr val="accent1"/>
                </a:solidFill>
              </a:rPr>
              <a:t>3つが同じデータでつながっているから、SESでもまとめサイトでもない。使うほど自社専用のAIに育つ</a:t>
            </a:r>
            <a:endParaRPr lang="en-US" sz="1200" dirty="0"/>
          </a:p>
        </p:txBody>
      </p:sp>
      <p:sp>
        <p:nvSpPr>
          <p:cNvPr id="25" name="Slide Number Placeholder 0"/>
          <p:cNvSpPr>
            <a:spLocks noGrp="1"/>
          </p:cNvSpPr>
          <p:nvPr>
            <p:ph type="sldNum" sz="quarter" idx="4294967295"/>
          </p:nvPr>
        </p:nvSpPr>
        <p:spPr>
          <a:xfrm>
            <a:off x="10957255"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dot"/>
          <p:cNvSpPr/>
          <p:nvPr/>
        </p:nvSpPr>
        <p:spPr>
          <a:xfrm>
            <a:off x="685800" y="484632"/>
            <a:ext cx="109728" cy="109728"/>
          </a:xfrm>
          <a:prstGeom prst="ellipse">
            <a:avLst/>
          </a:prstGeom>
          <a:solidFill>
            <a:schemeClr val="accent1"/>
          </a:solidFill>
          <a:ln w="12700">
            <a:solidFill>
              <a:schemeClr val="accent1"/>
            </a:solidFill>
            <a:prstDash val="solid"/>
          </a:ln>
        </p:spPr>
      </p:sp>
      <p:sp>
        <p:nvSpPr>
          <p:cNvPr id="3" name="Text 0"/>
          <p:cNvSpPr/>
          <p:nvPr>
            <p:ph idx="100" type="body" hasCustomPrompt="1"/>
          </p:nvPr>
        </p:nvSpPr>
        <p:spPr>
          <a:xfrm>
            <a:off x="923544" y="365760"/>
            <a:ext cx="9601200" cy="329184"/>
          </a:xfrm>
          <a:prstGeom prst="rect">
            <a:avLst/>
          </a:prstGeom>
          <a:noFill/>
          <a:ln/>
        </p:spPr>
        <p:txBody>
          <a:bodyPr wrap="square" lIns="0" tIns="0" rIns="0" bIns="0" rtlCol="0" anchor="ctr"/>
          <a:lstStyle/>
          <a:p>
            <a:pPr indent="0" marL="0">
              <a:buNone/>
            </a:pPr>
            <a:r>
              <a:rPr lang="en-US" sz="1200" b="1" spc="240" kern="0" dirty="0">
                <a:solidFill>
                  <a:schemeClr val="accent1"/>
                </a:solidFill>
              </a:rPr>
              <a:t>M&amp;A INFORMATION REINS</a:t>
            </a:r>
            <a:endParaRPr lang="en-US" sz="1200" dirty="0"/>
          </a:p>
        </p:txBody>
      </p:sp>
      <p:sp>
        <p:nvSpPr>
          <p:cNvPr id="4" name="Text 0"/>
          <p:cNvSpPr/>
          <p:nvPr>
            <p:ph idx="101" type="title" hasCustomPrompt="1"/>
          </p:nvPr>
        </p:nvSpPr>
        <p:spPr>
          <a:xfrm>
            <a:off x="685800" y="749808"/>
            <a:ext cx="10820095" cy="731520"/>
          </a:xfrm>
          <a:prstGeom prst="rect">
            <a:avLst/>
          </a:prstGeom>
          <a:noFill/>
          <a:ln/>
        </p:spPr>
        <p:txBody>
          <a:bodyPr wrap="square" lIns="0" tIns="0" rIns="0" bIns="0" rtlCol="0" anchor="ctr"/>
          <a:lstStyle/>
          <a:p>
            <a:pPr algn="l" indent="0" marL="0">
              <a:buNone/>
            </a:pPr>
            <a:r>
              <a:rPr lang="en-US" sz="3000" b="1" dirty="0">
                <a:solidFill>
                  <a:schemeClr val="tx1"/>
                </a:solidFill>
              </a:rPr>
              <a:t>M&amp;A情報REINS：散らばった公開案件を毎日ひとつに</a:t>
            </a:r>
            <a:endParaRPr lang="en-US" sz="3000" dirty="0"/>
          </a:p>
        </p:txBody>
      </p:sp>
      <p:sp>
        <p:nvSpPr>
          <p:cNvPr id="5" name="Text 0"/>
          <p:cNvSpPr/>
          <p:nvPr>
            <p:ph idx="102" type="body" hasCustomPrompt="1"/>
          </p:nvPr>
        </p:nvSpPr>
        <p:spPr>
          <a:xfrm>
            <a:off x="685800" y="1481328"/>
            <a:ext cx="10820095" cy="365760"/>
          </a:xfrm>
          <a:prstGeom prst="rect">
            <a:avLst/>
          </a:prstGeom>
          <a:noFill/>
          <a:ln/>
        </p:spPr>
        <p:txBody>
          <a:bodyPr wrap="square" lIns="0" tIns="0" rIns="0" bIns="0" rtlCol="0" anchor="t"/>
          <a:lstStyle/>
          <a:p>
            <a:pPr indent="0" marL="0">
              <a:buNone/>
            </a:pPr>
            <a:r>
              <a:rPr lang="en-US" sz="1350" dirty="0">
                <a:solidFill>
                  <a:schemeClr val="accent2"/>
                </a:solidFill>
              </a:rPr>
              <a:t>MANDAが実証した横断収集を土台に、「見るだけ」で終わらせず自社データのAIにつなぐ</a:t>
            </a:r>
            <a:endParaRPr lang="en-US" sz="1350" dirty="0"/>
          </a:p>
        </p:txBody>
      </p:sp>
      <p:sp>
        <p:nvSpPr>
          <p:cNvPr id="6" name="reins 集める"/>
          <p:cNvSpPr/>
          <p:nvPr/>
        </p:nvSpPr>
        <p:spPr>
          <a:xfrm>
            <a:off x="685800" y="2057400"/>
            <a:ext cx="2560320" cy="2103120"/>
          </a:xfrm>
          <a:prstGeom prst="roundRect">
            <a:avLst>
              <a:gd name="adj" fmla="val 2609"/>
            </a:avLst>
          </a:prstGeom>
          <a:solidFill>
            <a:schemeClr val="bg2"/>
          </a:solidFill>
          <a:ln w="9525">
            <a:solidFill>
              <a:schemeClr val="accent3"/>
            </a:solidFill>
            <a:prstDash val="solid"/>
          </a:ln>
          <a:effectLst>
            <a:outerShdw sx="100000" sy="100000" kx="0" ky="0" algn="bl" rotWithShape="0" blurRad="76200" dist="25400" dir="5400000">
              <a:srgbClr val="6F665F">
                <a:alpha val="12000"/>
              </a:srgbClr>
            </a:outerShdw>
          </a:effectLst>
        </p:spPr>
      </p:sp>
      <p:sp>
        <p:nvSpPr>
          <p:cNvPr id="7" name="Shape 5"/>
          <p:cNvSpPr/>
          <p:nvPr/>
        </p:nvSpPr>
        <p:spPr>
          <a:xfrm>
            <a:off x="914400" y="2240280"/>
            <a:ext cx="566928" cy="566928"/>
          </a:xfrm>
          <a:prstGeom prst="ellipse">
            <a:avLst/>
          </a:prstGeom>
          <a:solidFill>
            <a:schemeClr val="tx1"/>
          </a:solidFill>
          <a:ln w="12700">
            <a:solidFill>
              <a:schemeClr val="tx1"/>
            </a:solidFill>
            <a:prstDash val="solid"/>
          </a:ln>
        </p:spPr>
      </p:sp>
      <p:sp>
        <p:nvSpPr>
          <p:cNvPr id="8" name="Text 6"/>
          <p:cNvSpPr txBox="1"/>
          <p:nvPr/>
        </p:nvSpPr>
        <p:spPr>
          <a:xfrm>
            <a:off x="914400" y="2240280"/>
            <a:ext cx="566928" cy="566928"/>
          </a:xfrm>
          <a:prstGeom prst="rect">
            <a:avLst/>
          </a:prstGeom>
          <a:noFill/>
          <a:ln/>
        </p:spPr>
        <p:txBody>
          <a:bodyPr wrap="square" lIns="0" tIns="0" rIns="0" bIns="0" rtlCol="0" anchor="ctr"/>
          <a:lstStyle/>
          <a:p>
            <a:pPr algn="ctr" indent="0" marL="0">
              <a:buNone/>
            </a:pPr>
            <a:endParaRPr lang="en-US" sz="1300" dirty="0"/>
          </a:p>
        </p:txBody>
      </p:sp>
      <p:pic>
        <p:nvPicPr>
          <p:cNvPr id="9" name="Image 0" descr="preencoded.png">    </p:cNvPr>
          <p:cNvPicPr>
            <a:picLocks noChangeAspect="1"/>
          </p:cNvPicPr>
          <p:nvPr/>
        </p:nvPicPr>
        <p:blipFill>
          <a:blip r:embed="rId1"/>
          <a:stretch>
            <a:fillRect/>
          </a:stretch>
        </p:blipFill>
        <p:spPr>
          <a:xfrm>
            <a:off x="1051560" y="2377440"/>
            <a:ext cx="292608" cy="292608"/>
          </a:xfrm>
          <a:prstGeom prst="rect">
            <a:avLst/>
          </a:prstGeom>
        </p:spPr>
      </p:pic>
      <p:sp>
        <p:nvSpPr>
          <p:cNvPr id="10" name="Text 7"/>
          <p:cNvSpPr txBox="1"/>
          <p:nvPr/>
        </p:nvSpPr>
        <p:spPr>
          <a:xfrm>
            <a:off x="1600200" y="2240280"/>
            <a:ext cx="1463040" cy="566928"/>
          </a:xfrm>
          <a:prstGeom prst="rect">
            <a:avLst/>
          </a:prstGeom>
          <a:noFill/>
          <a:ln/>
        </p:spPr>
        <p:txBody>
          <a:bodyPr wrap="square" lIns="0" tIns="0" rIns="0" bIns="0" rtlCol="0" anchor="ctr"/>
          <a:lstStyle/>
          <a:p>
            <a:pPr indent="0" marL="0">
              <a:buNone/>
            </a:pPr>
            <a:r>
              <a:rPr lang="en-US" sz="1700" b="1" dirty="0">
                <a:solidFill>
                  <a:schemeClr val="tx1"/>
                </a:solidFill>
              </a:rPr>
              <a:t>集める</a:t>
            </a:r>
            <a:endParaRPr lang="en-US" sz="1700" dirty="0"/>
          </a:p>
        </p:txBody>
      </p:sp>
      <p:sp>
        <p:nvSpPr>
          <p:cNvPr id="11" name="Text 8"/>
          <p:cNvSpPr txBox="1"/>
          <p:nvPr/>
        </p:nvSpPr>
        <p:spPr>
          <a:xfrm>
            <a:off x="914400" y="2926080"/>
            <a:ext cx="2148840" cy="1371600"/>
          </a:xfrm>
          <a:prstGeom prst="rect">
            <a:avLst/>
          </a:prstGeom>
          <a:noFill/>
          <a:ln/>
        </p:spPr>
        <p:txBody>
          <a:bodyPr wrap="square" lIns="0" tIns="0" rIns="0" bIns="0" rtlCol="0" anchor="t"/>
          <a:lstStyle/>
          <a:p>
            <a:pPr indent="0" marL="0">
              <a:buNone/>
            </a:pPr>
            <a:r>
              <a:rPr lang="en-US" sz="1100" dirty="0">
                <a:solidFill>
                  <a:schemeClr val="accent2"/>
                </a:solidFill>
              </a:rPr>
              <a:t>M&amp;Aマッチングサイト、仲介各社の公開案件、金融機関・公的機関の案件情報を毎日収集</a:t>
            </a:r>
            <a:endParaRPr lang="en-US" sz="1100" dirty="0"/>
          </a:p>
        </p:txBody>
      </p:sp>
      <p:sp>
        <p:nvSpPr>
          <p:cNvPr id="12" name="reins arrow"/>
          <p:cNvSpPr/>
          <p:nvPr/>
        </p:nvSpPr>
        <p:spPr>
          <a:xfrm>
            <a:off x="3282696" y="3090672"/>
            <a:ext cx="146304" cy="256032"/>
          </a:xfrm>
          <a:prstGeom prst="chevron">
            <a:avLst/>
          </a:prstGeom>
          <a:solidFill>
            <a:schemeClr val="accent1"/>
          </a:solidFill>
          <a:ln w="12700">
            <a:solidFill>
              <a:schemeClr val="accent1"/>
            </a:solidFill>
            <a:prstDash val="solid"/>
          </a:ln>
        </p:spPr>
      </p:sp>
      <p:sp>
        <p:nvSpPr>
          <p:cNvPr id="13" name="reins 整える"/>
          <p:cNvSpPr/>
          <p:nvPr/>
        </p:nvSpPr>
        <p:spPr>
          <a:xfrm>
            <a:off x="3456432" y="2057400"/>
            <a:ext cx="2560320" cy="2103120"/>
          </a:xfrm>
          <a:prstGeom prst="roundRect">
            <a:avLst>
              <a:gd name="adj" fmla="val 2609"/>
            </a:avLst>
          </a:prstGeom>
          <a:solidFill>
            <a:schemeClr val="bg2"/>
          </a:solidFill>
          <a:ln w="9525">
            <a:solidFill>
              <a:schemeClr val="accent3"/>
            </a:solidFill>
            <a:prstDash val="solid"/>
          </a:ln>
          <a:effectLst>
            <a:outerShdw sx="100000" sy="100000" kx="0" ky="0" algn="bl" rotWithShape="0" blurRad="76200" dist="25400" dir="5400000">
              <a:srgbClr val="6F665F">
                <a:alpha val="12000"/>
              </a:srgbClr>
            </a:outerShdw>
          </a:effectLst>
        </p:spPr>
      </p:sp>
      <p:sp>
        <p:nvSpPr>
          <p:cNvPr id="14" name="Shape 11"/>
          <p:cNvSpPr/>
          <p:nvPr/>
        </p:nvSpPr>
        <p:spPr>
          <a:xfrm>
            <a:off x="3685032" y="2240280"/>
            <a:ext cx="566928" cy="566928"/>
          </a:xfrm>
          <a:prstGeom prst="ellipse">
            <a:avLst/>
          </a:prstGeom>
          <a:solidFill>
            <a:schemeClr val="tx1"/>
          </a:solidFill>
          <a:ln w="12700">
            <a:solidFill>
              <a:schemeClr val="tx1"/>
            </a:solidFill>
            <a:prstDash val="solid"/>
          </a:ln>
        </p:spPr>
      </p:sp>
      <p:sp>
        <p:nvSpPr>
          <p:cNvPr id="15" name="Text 12"/>
          <p:cNvSpPr txBox="1"/>
          <p:nvPr/>
        </p:nvSpPr>
        <p:spPr>
          <a:xfrm>
            <a:off x="3685032" y="2240280"/>
            <a:ext cx="566928" cy="566928"/>
          </a:xfrm>
          <a:prstGeom prst="rect">
            <a:avLst/>
          </a:prstGeom>
          <a:noFill/>
          <a:ln/>
        </p:spPr>
        <p:txBody>
          <a:bodyPr wrap="square" lIns="0" tIns="0" rIns="0" bIns="0" rtlCol="0" anchor="ctr"/>
          <a:lstStyle/>
          <a:p>
            <a:pPr algn="ctr" indent="0" marL="0">
              <a:buNone/>
            </a:pPr>
            <a:endParaRPr lang="en-US" sz="1300" dirty="0"/>
          </a:p>
        </p:txBody>
      </p:sp>
      <p:pic>
        <p:nvPicPr>
          <p:cNvPr id="16" name="Image 1" descr="preencoded.png">    </p:cNvPr>
          <p:cNvPicPr>
            <a:picLocks noChangeAspect="1"/>
          </p:cNvPicPr>
          <p:nvPr/>
        </p:nvPicPr>
        <p:blipFill>
          <a:blip r:embed="rId2"/>
          <a:stretch>
            <a:fillRect/>
          </a:stretch>
        </p:blipFill>
        <p:spPr>
          <a:xfrm>
            <a:off x="3822192" y="2377440"/>
            <a:ext cx="292608" cy="292608"/>
          </a:xfrm>
          <a:prstGeom prst="rect">
            <a:avLst/>
          </a:prstGeom>
        </p:spPr>
      </p:pic>
      <p:sp>
        <p:nvSpPr>
          <p:cNvPr id="17" name="Text 13"/>
          <p:cNvSpPr txBox="1"/>
          <p:nvPr/>
        </p:nvSpPr>
        <p:spPr>
          <a:xfrm>
            <a:off x="4370832" y="2240280"/>
            <a:ext cx="1463040" cy="566928"/>
          </a:xfrm>
          <a:prstGeom prst="rect">
            <a:avLst/>
          </a:prstGeom>
          <a:noFill/>
          <a:ln/>
        </p:spPr>
        <p:txBody>
          <a:bodyPr wrap="square" lIns="0" tIns="0" rIns="0" bIns="0" rtlCol="0" anchor="ctr"/>
          <a:lstStyle/>
          <a:p>
            <a:pPr indent="0" marL="0">
              <a:buNone/>
            </a:pPr>
            <a:r>
              <a:rPr lang="en-US" sz="1700" b="1" dirty="0">
                <a:solidFill>
                  <a:schemeClr val="tx1"/>
                </a:solidFill>
              </a:rPr>
              <a:t>整える</a:t>
            </a:r>
            <a:endParaRPr lang="en-US" sz="1700" dirty="0"/>
          </a:p>
        </p:txBody>
      </p:sp>
      <p:sp>
        <p:nvSpPr>
          <p:cNvPr id="18" name="Text 14"/>
          <p:cNvSpPr txBox="1"/>
          <p:nvPr/>
        </p:nvSpPr>
        <p:spPr>
          <a:xfrm>
            <a:off x="3685032" y="2926080"/>
            <a:ext cx="2148840" cy="1371600"/>
          </a:xfrm>
          <a:prstGeom prst="rect">
            <a:avLst/>
          </a:prstGeom>
          <a:noFill/>
          <a:ln/>
        </p:spPr>
        <p:txBody>
          <a:bodyPr wrap="square" lIns="0" tIns="0" rIns="0" bIns="0" rtlCol="0" anchor="t"/>
          <a:lstStyle/>
          <a:p>
            <a:pPr indent="0" marL="0">
              <a:buNone/>
            </a:pPr>
            <a:r>
              <a:rPr lang="en-US" sz="1100" dirty="0">
                <a:solidFill>
                  <a:schemeClr val="accent2"/>
                </a:solidFill>
              </a:rPr>
              <a:t>同じ案件の重複をまとめ、成約済み・掲載終了を除外。業種・地域・規模の表記をそろえる</a:t>
            </a:r>
            <a:endParaRPr lang="en-US" sz="1100" dirty="0"/>
          </a:p>
        </p:txBody>
      </p:sp>
      <p:sp>
        <p:nvSpPr>
          <p:cNvPr id="19" name="reins arrow"/>
          <p:cNvSpPr/>
          <p:nvPr/>
        </p:nvSpPr>
        <p:spPr>
          <a:xfrm>
            <a:off x="6053328" y="3090672"/>
            <a:ext cx="146304" cy="256032"/>
          </a:xfrm>
          <a:prstGeom prst="chevron">
            <a:avLst/>
          </a:prstGeom>
          <a:solidFill>
            <a:schemeClr val="accent1"/>
          </a:solidFill>
          <a:ln w="12700">
            <a:solidFill>
              <a:schemeClr val="accent1"/>
            </a:solidFill>
            <a:prstDash val="solid"/>
          </a:ln>
        </p:spPr>
      </p:sp>
      <p:sp>
        <p:nvSpPr>
          <p:cNvPr id="20" name="reins 選ぶ"/>
          <p:cNvSpPr/>
          <p:nvPr/>
        </p:nvSpPr>
        <p:spPr>
          <a:xfrm>
            <a:off x="6227064" y="2057400"/>
            <a:ext cx="2560320" cy="2103120"/>
          </a:xfrm>
          <a:prstGeom prst="roundRect">
            <a:avLst>
              <a:gd name="adj" fmla="val 2609"/>
            </a:avLst>
          </a:prstGeom>
          <a:solidFill>
            <a:schemeClr val="bg2"/>
          </a:solidFill>
          <a:ln w="9525">
            <a:solidFill>
              <a:schemeClr val="accent3"/>
            </a:solidFill>
            <a:prstDash val="solid"/>
          </a:ln>
          <a:effectLst>
            <a:outerShdw sx="100000" sy="100000" kx="0" ky="0" algn="bl" rotWithShape="0" blurRad="76200" dist="25400" dir="5400000">
              <a:srgbClr val="6F665F">
                <a:alpha val="12000"/>
              </a:srgbClr>
            </a:outerShdw>
          </a:effectLst>
        </p:spPr>
      </p:sp>
      <p:sp>
        <p:nvSpPr>
          <p:cNvPr id="21" name="Shape 17"/>
          <p:cNvSpPr/>
          <p:nvPr/>
        </p:nvSpPr>
        <p:spPr>
          <a:xfrm>
            <a:off x="6455664" y="2240280"/>
            <a:ext cx="566928" cy="566928"/>
          </a:xfrm>
          <a:prstGeom prst="ellipse">
            <a:avLst/>
          </a:prstGeom>
          <a:solidFill>
            <a:schemeClr val="tx1"/>
          </a:solidFill>
          <a:ln w="12700">
            <a:solidFill>
              <a:schemeClr val="tx1"/>
            </a:solidFill>
            <a:prstDash val="solid"/>
          </a:ln>
        </p:spPr>
      </p:sp>
      <p:sp>
        <p:nvSpPr>
          <p:cNvPr id="22" name="Text 18"/>
          <p:cNvSpPr txBox="1"/>
          <p:nvPr/>
        </p:nvSpPr>
        <p:spPr>
          <a:xfrm>
            <a:off x="6455664" y="2240280"/>
            <a:ext cx="566928" cy="566928"/>
          </a:xfrm>
          <a:prstGeom prst="rect">
            <a:avLst/>
          </a:prstGeom>
          <a:noFill/>
          <a:ln/>
        </p:spPr>
        <p:txBody>
          <a:bodyPr wrap="square" lIns="0" tIns="0" rIns="0" bIns="0" rtlCol="0" anchor="ctr"/>
          <a:lstStyle/>
          <a:p>
            <a:pPr algn="ctr" indent="0" marL="0">
              <a:buNone/>
            </a:pPr>
            <a:endParaRPr lang="en-US" sz="1300" dirty="0"/>
          </a:p>
        </p:txBody>
      </p:sp>
      <p:pic>
        <p:nvPicPr>
          <p:cNvPr id="23" name="Image 2" descr="preencoded.png">    </p:cNvPr>
          <p:cNvPicPr>
            <a:picLocks noChangeAspect="1"/>
          </p:cNvPicPr>
          <p:nvPr/>
        </p:nvPicPr>
        <p:blipFill>
          <a:blip r:embed="rId3"/>
          <a:stretch>
            <a:fillRect/>
          </a:stretch>
        </p:blipFill>
        <p:spPr>
          <a:xfrm>
            <a:off x="6592824" y="2377440"/>
            <a:ext cx="292608" cy="292608"/>
          </a:xfrm>
          <a:prstGeom prst="rect">
            <a:avLst/>
          </a:prstGeom>
        </p:spPr>
      </p:pic>
      <p:sp>
        <p:nvSpPr>
          <p:cNvPr id="24" name="Text 19"/>
          <p:cNvSpPr txBox="1"/>
          <p:nvPr/>
        </p:nvSpPr>
        <p:spPr>
          <a:xfrm>
            <a:off x="7141464" y="2240280"/>
            <a:ext cx="1463040" cy="566928"/>
          </a:xfrm>
          <a:prstGeom prst="rect">
            <a:avLst/>
          </a:prstGeom>
          <a:noFill/>
          <a:ln/>
        </p:spPr>
        <p:txBody>
          <a:bodyPr wrap="square" lIns="0" tIns="0" rIns="0" bIns="0" rtlCol="0" anchor="ctr"/>
          <a:lstStyle/>
          <a:p>
            <a:pPr indent="0" marL="0">
              <a:buNone/>
            </a:pPr>
            <a:r>
              <a:rPr lang="en-US" sz="1700" b="1" dirty="0">
                <a:solidFill>
                  <a:schemeClr val="tx1"/>
                </a:solidFill>
              </a:rPr>
              <a:t>選ぶ</a:t>
            </a:r>
            <a:endParaRPr lang="en-US" sz="1700" dirty="0"/>
          </a:p>
        </p:txBody>
      </p:sp>
      <p:sp>
        <p:nvSpPr>
          <p:cNvPr id="25" name="Text 20"/>
          <p:cNvSpPr txBox="1"/>
          <p:nvPr/>
        </p:nvSpPr>
        <p:spPr>
          <a:xfrm>
            <a:off x="6455664" y="2926080"/>
            <a:ext cx="2148840" cy="1371600"/>
          </a:xfrm>
          <a:prstGeom prst="rect">
            <a:avLst/>
          </a:prstGeom>
          <a:noFill/>
          <a:ln/>
        </p:spPr>
        <p:txBody>
          <a:bodyPr wrap="square" lIns="0" tIns="0" rIns="0" bIns="0" rtlCol="0" anchor="t"/>
          <a:lstStyle/>
          <a:p>
            <a:pPr indent="0" marL="0">
              <a:buNone/>
            </a:pPr>
            <a:r>
              <a:rPr lang="en-US" sz="1100" dirty="0">
                <a:solidFill>
                  <a:schemeClr val="accent2"/>
                </a:solidFill>
              </a:rPr>
              <a:t>買い手の買収方針と自社データで、合う案件だけをAIが点数づけ</a:t>
            </a:r>
            <a:endParaRPr lang="en-US" sz="1100" dirty="0"/>
          </a:p>
        </p:txBody>
      </p:sp>
      <p:sp>
        <p:nvSpPr>
          <p:cNvPr id="26" name="reins arrow"/>
          <p:cNvSpPr/>
          <p:nvPr/>
        </p:nvSpPr>
        <p:spPr>
          <a:xfrm>
            <a:off x="8823960" y="3090672"/>
            <a:ext cx="146304" cy="256032"/>
          </a:xfrm>
          <a:prstGeom prst="chevron">
            <a:avLst/>
          </a:prstGeom>
          <a:solidFill>
            <a:schemeClr val="accent1"/>
          </a:solidFill>
          <a:ln w="12700">
            <a:solidFill>
              <a:schemeClr val="accent1"/>
            </a:solidFill>
            <a:prstDash val="solid"/>
          </a:ln>
        </p:spPr>
      </p:sp>
      <p:sp>
        <p:nvSpPr>
          <p:cNvPr id="27" name="reins 届ける"/>
          <p:cNvSpPr/>
          <p:nvPr/>
        </p:nvSpPr>
        <p:spPr>
          <a:xfrm>
            <a:off x="8997696" y="2057400"/>
            <a:ext cx="2560320" cy="2103120"/>
          </a:xfrm>
          <a:prstGeom prst="roundRect">
            <a:avLst>
              <a:gd name="adj" fmla="val 2609"/>
            </a:avLst>
          </a:prstGeom>
          <a:solidFill>
            <a:schemeClr val="bg2"/>
          </a:solidFill>
          <a:ln w="9525">
            <a:solidFill>
              <a:schemeClr val="accent3"/>
            </a:solidFill>
            <a:prstDash val="solid"/>
          </a:ln>
          <a:effectLst>
            <a:outerShdw sx="100000" sy="100000" kx="0" ky="0" algn="bl" rotWithShape="0" blurRad="76200" dist="25400" dir="5400000">
              <a:srgbClr val="6F665F">
                <a:alpha val="12000"/>
              </a:srgbClr>
            </a:outerShdw>
          </a:effectLst>
        </p:spPr>
      </p:sp>
      <p:sp>
        <p:nvSpPr>
          <p:cNvPr id="28" name="Shape 23"/>
          <p:cNvSpPr/>
          <p:nvPr/>
        </p:nvSpPr>
        <p:spPr>
          <a:xfrm>
            <a:off x="9226296" y="2240280"/>
            <a:ext cx="566928" cy="566928"/>
          </a:xfrm>
          <a:prstGeom prst="ellipse">
            <a:avLst/>
          </a:prstGeom>
          <a:solidFill>
            <a:schemeClr val="tx1"/>
          </a:solidFill>
          <a:ln w="12700">
            <a:solidFill>
              <a:schemeClr val="tx1"/>
            </a:solidFill>
            <a:prstDash val="solid"/>
          </a:ln>
        </p:spPr>
      </p:sp>
      <p:sp>
        <p:nvSpPr>
          <p:cNvPr id="29" name="Text 24"/>
          <p:cNvSpPr txBox="1"/>
          <p:nvPr/>
        </p:nvSpPr>
        <p:spPr>
          <a:xfrm>
            <a:off x="9226296" y="2240280"/>
            <a:ext cx="566928" cy="566928"/>
          </a:xfrm>
          <a:prstGeom prst="rect">
            <a:avLst/>
          </a:prstGeom>
          <a:noFill/>
          <a:ln/>
        </p:spPr>
        <p:txBody>
          <a:bodyPr wrap="square" lIns="0" tIns="0" rIns="0" bIns="0" rtlCol="0" anchor="ctr"/>
          <a:lstStyle/>
          <a:p>
            <a:pPr algn="ctr" indent="0" marL="0">
              <a:buNone/>
            </a:pPr>
            <a:endParaRPr lang="en-US" sz="1300" dirty="0"/>
          </a:p>
        </p:txBody>
      </p:sp>
      <p:pic>
        <p:nvPicPr>
          <p:cNvPr id="30" name="Image 3" descr="preencoded.png">    </p:cNvPr>
          <p:cNvPicPr>
            <a:picLocks noChangeAspect="1"/>
          </p:cNvPicPr>
          <p:nvPr/>
        </p:nvPicPr>
        <p:blipFill>
          <a:blip r:embed="rId4"/>
          <a:stretch>
            <a:fillRect/>
          </a:stretch>
        </p:blipFill>
        <p:spPr>
          <a:xfrm>
            <a:off x="9363456" y="2377440"/>
            <a:ext cx="292608" cy="292608"/>
          </a:xfrm>
          <a:prstGeom prst="rect">
            <a:avLst/>
          </a:prstGeom>
        </p:spPr>
      </p:pic>
      <p:sp>
        <p:nvSpPr>
          <p:cNvPr id="31" name="Text 25"/>
          <p:cNvSpPr txBox="1"/>
          <p:nvPr/>
        </p:nvSpPr>
        <p:spPr>
          <a:xfrm>
            <a:off x="9912096" y="2240280"/>
            <a:ext cx="1463040" cy="566928"/>
          </a:xfrm>
          <a:prstGeom prst="rect">
            <a:avLst/>
          </a:prstGeom>
          <a:noFill/>
          <a:ln/>
        </p:spPr>
        <p:txBody>
          <a:bodyPr wrap="square" lIns="0" tIns="0" rIns="0" bIns="0" rtlCol="0" anchor="ctr"/>
          <a:lstStyle/>
          <a:p>
            <a:pPr indent="0" marL="0">
              <a:buNone/>
            </a:pPr>
            <a:r>
              <a:rPr lang="en-US" sz="1700" b="1" dirty="0">
                <a:solidFill>
                  <a:schemeClr val="tx1"/>
                </a:solidFill>
              </a:rPr>
              <a:t>届ける</a:t>
            </a:r>
            <a:endParaRPr lang="en-US" sz="1700" dirty="0"/>
          </a:p>
        </p:txBody>
      </p:sp>
      <p:sp>
        <p:nvSpPr>
          <p:cNvPr id="32" name="Text 26"/>
          <p:cNvSpPr txBox="1"/>
          <p:nvPr/>
        </p:nvSpPr>
        <p:spPr>
          <a:xfrm>
            <a:off x="9226296" y="2926080"/>
            <a:ext cx="2148840" cy="1371600"/>
          </a:xfrm>
          <a:prstGeom prst="rect">
            <a:avLst/>
          </a:prstGeom>
          <a:noFill/>
          <a:ln/>
        </p:spPr>
        <p:txBody>
          <a:bodyPr wrap="square" lIns="0" tIns="0" rIns="0" bIns="0" rtlCol="0" anchor="t"/>
          <a:lstStyle/>
          <a:p>
            <a:pPr indent="0" marL="0">
              <a:buNone/>
            </a:pPr>
            <a:r>
              <a:rPr lang="en-US" sz="1100" dirty="0">
                <a:solidFill>
                  <a:schemeClr val="accent2"/>
                </a:solidFill>
              </a:rPr>
              <a:t>新着の有望案件を毎朝通知。気になる案件は担当がすぐ打診</a:t>
            </a:r>
            <a:endParaRPr lang="en-US" sz="1100" dirty="0"/>
          </a:p>
        </p:txBody>
      </p:sp>
      <p:sp>
        <p:nvSpPr>
          <p:cNvPr id="33" name="reins scale"/>
          <p:cNvSpPr/>
          <p:nvPr/>
        </p:nvSpPr>
        <p:spPr>
          <a:xfrm>
            <a:off x="685800" y="4343400"/>
            <a:ext cx="2560320" cy="1600200"/>
          </a:xfrm>
          <a:prstGeom prst="roundRect">
            <a:avLst>
              <a:gd name="adj" fmla="val 3429"/>
            </a:avLst>
          </a:prstGeom>
          <a:solidFill>
            <a:schemeClr val="bg2"/>
          </a:solidFill>
          <a:ln w="9525">
            <a:solidFill>
              <a:schemeClr val="accent3"/>
            </a:solidFill>
            <a:prstDash val="solid"/>
          </a:ln>
          <a:effectLst>
            <a:outerShdw sx="100000" sy="100000" kx="0" ky="0" algn="bl" rotWithShape="0" blurRad="76200" dist="25400" dir="5400000">
              <a:srgbClr val="6F665F">
                <a:alpha val="12000"/>
              </a:srgbClr>
            </a:outerShdw>
          </a:effectLst>
        </p:spPr>
      </p:sp>
      <p:sp>
        <p:nvSpPr>
          <p:cNvPr id="34" name="Text 28"/>
          <p:cNvSpPr txBox="1"/>
          <p:nvPr/>
        </p:nvSpPr>
        <p:spPr>
          <a:xfrm>
            <a:off x="914400" y="4434840"/>
            <a:ext cx="2194560" cy="731520"/>
          </a:xfrm>
          <a:prstGeom prst="rect">
            <a:avLst/>
          </a:prstGeom>
          <a:noFill/>
          <a:ln/>
        </p:spPr>
        <p:txBody>
          <a:bodyPr wrap="square" lIns="0" tIns="0" rIns="0" bIns="0" rtlCol="0" anchor="ctr"/>
          <a:lstStyle/>
          <a:p>
            <a:pPr indent="0" marL="0">
              <a:buNone/>
            </a:pPr>
            <a:r>
              <a:rPr lang="en-US" sz="3200" b="1" dirty="0">
                <a:solidFill>
                  <a:schemeClr val="accent1"/>
                </a:solidFill>
              </a:rPr>
              <a:t>約2万</a:t>
            </a:r>
            <a:pPr indent="0" marL="0">
              <a:buNone/>
            </a:pPr>
            <a:r>
              <a:rPr lang="en-US" sz="1300" b="1" dirty="0">
                <a:solidFill>
                  <a:schemeClr val="tx1"/>
                </a:solidFill>
              </a:rPr>
              <a:t> 件</a:t>
            </a:r>
            <a:endParaRPr lang="en-US" sz="1300" dirty="0"/>
          </a:p>
        </p:txBody>
      </p:sp>
      <p:sp>
        <p:nvSpPr>
          <p:cNvPr id="35" name="Text 29"/>
          <p:cNvSpPr txBox="1"/>
          <p:nvPr/>
        </p:nvSpPr>
        <p:spPr>
          <a:xfrm>
            <a:off x="914400" y="5166360"/>
            <a:ext cx="2148840" cy="685800"/>
          </a:xfrm>
          <a:prstGeom prst="rect">
            <a:avLst/>
          </a:prstGeom>
          <a:noFill/>
          <a:ln/>
        </p:spPr>
        <p:txBody>
          <a:bodyPr wrap="square" lIns="0" tIns="0" rIns="0" bIns="0" rtlCol="0" anchor="t"/>
          <a:lstStyle/>
          <a:p>
            <a:pPr indent="0" marL="0">
              <a:buNone/>
            </a:pPr>
            <a:r>
              <a:rPr lang="en-US" sz="1050" dirty="0">
                <a:solidFill>
                  <a:schemeClr val="accent2"/>
                </a:solidFill>
              </a:rPr>
              <a:t>横断収集で集まる公開案件の規模（MANDAの実績）</a:t>
            </a:r>
            <a:endParaRPr lang="en-US" sz="1050" dirty="0"/>
          </a:p>
        </p:txBody>
      </p:sp>
      <p:sp>
        <p:nvSpPr>
          <p:cNvPr id="36" name="reins vs manda"/>
          <p:cNvSpPr/>
          <p:nvPr/>
        </p:nvSpPr>
        <p:spPr>
          <a:xfrm>
            <a:off x="3456432" y="4343400"/>
            <a:ext cx="8046720" cy="1600200"/>
          </a:xfrm>
          <a:prstGeom prst="roundRect">
            <a:avLst>
              <a:gd name="adj" fmla="val 3429"/>
            </a:avLst>
          </a:prstGeom>
          <a:solidFill>
            <a:srgbClr val="FFFFFF"/>
          </a:solidFill>
          <a:ln w="9525">
            <a:solidFill>
              <a:schemeClr val="accent3"/>
            </a:solidFill>
            <a:prstDash val="solid"/>
          </a:ln>
          <a:effectLst>
            <a:outerShdw sx="100000" sy="100000" kx="0" ky="0" algn="bl" rotWithShape="0" blurRad="76200" dist="25400" dir="5400000">
              <a:srgbClr val="6F665F">
                <a:alpha val="12000"/>
              </a:srgbClr>
            </a:outerShdw>
          </a:effectLst>
        </p:spPr>
      </p:sp>
      <p:sp>
        <p:nvSpPr>
          <p:cNvPr id="37" name="Text 31"/>
          <p:cNvSpPr txBox="1"/>
          <p:nvPr/>
        </p:nvSpPr>
        <p:spPr>
          <a:xfrm>
            <a:off x="3703320" y="4343400"/>
            <a:ext cx="7589520" cy="1600200"/>
          </a:xfrm>
          <a:prstGeom prst="rect">
            <a:avLst/>
          </a:prstGeom>
          <a:noFill/>
          <a:ln/>
        </p:spPr>
        <p:txBody>
          <a:bodyPr wrap="square" lIns="0" tIns="0" rIns="0" bIns="0" rtlCol="0" anchor="ctr"/>
          <a:lstStyle/>
          <a:p>
            <a:pPr indent="0" marL="0">
              <a:buNone/>
            </a:pPr>
            <a:r>
              <a:rPr lang="en-US" sz="1250" b="1" dirty="0">
                <a:solidFill>
                  <a:schemeClr val="accent1"/>
                </a:solidFill>
              </a:rPr>
              <a:t>MANDAとの違い</a:t>
            </a:r>
            <a:endParaRPr lang="en-US" sz="1300" dirty="0"/>
          </a:p>
          <a:p>
            <a:pPr indent="0" marL="0">
              <a:buNone/>
            </a:pPr>
            <a:r>
              <a:rPr lang="en-US" sz="1150" dirty="0">
                <a:solidFill>
                  <a:schemeClr val="tx1"/>
                </a:solidFill>
              </a:rPr>
              <a:t>MANDAは「探しやすくする」ところで止まり、無料のまま収益化できなかった。M&amp;A情報REINSは集めた案件を②自社データのAIに流し込み、①派遣した担当が動く。情報そのものではなく、情報から先の意思決定でお金をいただく</a:t>
            </a:r>
            <a:endParaRPr lang="en-US" sz="1300" dirty="0"/>
          </a:p>
        </p:txBody>
      </p:sp>
      <p:sp>
        <p:nvSpPr>
          <p:cNvPr id="38" name="Text 32"/>
          <p:cNvSpPr txBox="1"/>
          <p:nvPr/>
        </p:nvSpPr>
        <p:spPr>
          <a:xfrm>
            <a:off x="685800" y="6144768"/>
            <a:ext cx="10820095" cy="256032"/>
          </a:xfrm>
          <a:prstGeom prst="rect">
            <a:avLst/>
          </a:prstGeom>
          <a:noFill/>
          <a:ln/>
        </p:spPr>
        <p:txBody>
          <a:bodyPr wrap="square" lIns="0" tIns="0" rIns="0" bIns="0" rtlCol="0" anchor="t"/>
          <a:lstStyle/>
          <a:p>
            <a:pPr indent="0" marL="0">
              <a:buNone/>
            </a:pPr>
            <a:r>
              <a:rPr lang="en-US" sz="900" dirty="0">
                <a:solidFill>
                  <a:schemeClr val="accent5"/>
                </a:solidFill>
              </a:rPr>
              <a:t>収集は掲載元の利用規約に沿い、提携・API・掲載許諾を優先する。件数はMANDA株式会社 会社紹介資料による</a:t>
            </a:r>
            <a:endParaRPr lang="en-US" sz="900" dirty="0"/>
          </a:p>
        </p:txBody>
      </p:sp>
      <p:sp>
        <p:nvSpPr>
          <p:cNvPr id="25" name="Slide Number Placeholder 0"/>
          <p:cNvSpPr>
            <a:spLocks noGrp="1"/>
          </p:cNvSpPr>
          <p:nvPr>
            <p:ph type="sldNum" sz="quarter" idx="4294967295"/>
          </p:nvPr>
        </p:nvSpPr>
        <p:spPr>
          <a:xfrm>
            <a:off x="10957255"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icker dot"/>
          <p:cNvSpPr/>
          <p:nvPr/>
        </p:nvSpPr>
        <p:spPr>
          <a:xfrm>
            <a:off x="685800" y="484632"/>
            <a:ext cx="109728" cy="109728"/>
          </a:xfrm>
          <a:prstGeom prst="ellipse">
            <a:avLst/>
          </a:prstGeom>
          <a:solidFill>
            <a:schemeClr val="accent1"/>
          </a:solidFill>
          <a:ln w="12700">
            <a:solidFill>
              <a:schemeClr val="accent1"/>
            </a:solidFill>
            <a:prstDash val="solid"/>
          </a:ln>
        </p:spPr>
      </p:sp>
      <p:sp>
        <p:nvSpPr>
          <p:cNvPr id="3" name="Text 0"/>
          <p:cNvSpPr/>
          <p:nvPr>
            <p:ph idx="100" type="body" hasCustomPrompt="1"/>
          </p:nvPr>
        </p:nvSpPr>
        <p:spPr>
          <a:xfrm>
            <a:off x="923544" y="365760"/>
            <a:ext cx="9601200" cy="329184"/>
          </a:xfrm>
          <a:prstGeom prst="rect">
            <a:avLst/>
          </a:prstGeom>
          <a:noFill/>
          <a:ln/>
        </p:spPr>
        <p:txBody>
          <a:bodyPr wrap="square" lIns="0" tIns="0" rIns="0" bIns="0" rtlCol="0" anchor="ctr"/>
          <a:lstStyle/>
          <a:p>
            <a:pPr indent="0" marL="0">
              <a:buNone/>
            </a:pPr>
            <a:r>
              <a:rPr lang="en-US" sz="1200" b="1" spc="240" kern="0" dirty="0">
                <a:solidFill>
                  <a:schemeClr val="accent1"/>
                </a:solidFill>
              </a:rPr>
              <a:t>AI × EXPERIENCE</a:t>
            </a:r>
            <a:endParaRPr lang="en-US" sz="1200" dirty="0"/>
          </a:p>
        </p:txBody>
      </p:sp>
      <p:sp>
        <p:nvSpPr>
          <p:cNvPr id="4" name="Text 0"/>
          <p:cNvSpPr/>
          <p:nvPr>
            <p:ph idx="101" type="title" hasCustomPrompt="1"/>
          </p:nvPr>
        </p:nvSpPr>
        <p:spPr>
          <a:xfrm>
            <a:off x="685800" y="749808"/>
            <a:ext cx="10820095" cy="731520"/>
          </a:xfrm>
          <a:prstGeom prst="rect">
            <a:avLst/>
          </a:prstGeom>
          <a:noFill/>
          <a:ln/>
        </p:spPr>
        <p:txBody>
          <a:bodyPr wrap="square" lIns="0" tIns="0" rIns="0" bIns="0" rtlCol="0" anchor="ctr"/>
          <a:lstStyle/>
          <a:p>
            <a:pPr algn="l" indent="0" marL="0">
              <a:buNone/>
            </a:pPr>
            <a:r>
              <a:rPr lang="en-US" sz="3000" b="1" dirty="0">
                <a:solidFill>
                  <a:schemeClr val="tx1"/>
                </a:solidFill>
              </a:rPr>
              <a:t>AIは誰でも使える。差がつくのは、何を判断させるか</a:t>
            </a:r>
            <a:endParaRPr lang="en-US" sz="3000" dirty="0"/>
          </a:p>
        </p:txBody>
      </p:sp>
      <p:sp>
        <p:nvSpPr>
          <p:cNvPr id="5" name="Text 0"/>
          <p:cNvSpPr/>
          <p:nvPr>
            <p:ph idx="102" type="body" hasCustomPrompt="1"/>
          </p:nvPr>
        </p:nvSpPr>
        <p:spPr>
          <a:xfrm>
            <a:off x="685800" y="1481328"/>
            <a:ext cx="10820095" cy="365760"/>
          </a:xfrm>
          <a:prstGeom prst="rect">
            <a:avLst/>
          </a:prstGeom>
          <a:noFill/>
          <a:ln/>
        </p:spPr>
        <p:txBody>
          <a:bodyPr wrap="square" lIns="0" tIns="0" rIns="0" bIns="0" rtlCol="0" anchor="t"/>
          <a:lstStyle/>
          <a:p>
            <a:pPr indent="0" marL="0">
              <a:buNone/>
            </a:pPr>
            <a:r>
              <a:rPr lang="en-US" sz="1350" dirty="0">
                <a:solidFill>
                  <a:schemeClr val="accent2"/>
                </a:solidFill>
              </a:rPr>
              <a:t>AIが作業の大半を担い、49戦のルールで判定し、最後は人が責任を持つ</a:t>
            </a:r>
            <a:endParaRPr lang="en-US" sz="1350" dirty="0"/>
          </a:p>
        </p:txBody>
      </p:sp>
      <p:sp>
        <p:nvSpPr>
          <p:cNvPr id="6" name="input"/>
          <p:cNvSpPr/>
          <p:nvPr/>
        </p:nvSpPr>
        <p:spPr>
          <a:xfrm>
            <a:off x="685800" y="2103120"/>
            <a:ext cx="2331720" cy="3246120"/>
          </a:xfrm>
          <a:prstGeom prst="roundRect">
            <a:avLst>
              <a:gd name="adj" fmla="val 2353"/>
            </a:avLst>
          </a:prstGeom>
          <a:solidFill>
            <a:schemeClr val="bg2"/>
          </a:solidFill>
          <a:ln w="9525">
            <a:solidFill>
              <a:schemeClr val="accent3"/>
            </a:solidFill>
            <a:prstDash val="solid"/>
          </a:ln>
          <a:effectLst>
            <a:outerShdw sx="100000" sy="100000" kx="0" ky="0" algn="bl" rotWithShape="0" blurRad="76200" dist="25400" dir="5400000">
              <a:srgbClr val="6F665F">
                <a:alpha val="12000"/>
              </a:srgbClr>
            </a:outerShdw>
          </a:effectLst>
        </p:spPr>
      </p:sp>
      <p:sp>
        <p:nvSpPr>
          <p:cNvPr id="7" name="Text 5"/>
          <p:cNvSpPr txBox="1"/>
          <p:nvPr/>
        </p:nvSpPr>
        <p:spPr>
          <a:xfrm>
            <a:off x="914400" y="2240280"/>
            <a:ext cx="1828800" cy="320040"/>
          </a:xfrm>
          <a:prstGeom prst="rect">
            <a:avLst/>
          </a:prstGeom>
          <a:noFill/>
          <a:ln/>
        </p:spPr>
        <p:txBody>
          <a:bodyPr wrap="square" lIns="0" tIns="0" rIns="0" bIns="0" rtlCol="0" anchor="t"/>
          <a:lstStyle/>
          <a:p>
            <a:pPr indent="0" marL="0">
              <a:buNone/>
            </a:pPr>
            <a:r>
              <a:rPr lang="en-US" sz="1300" b="1" dirty="0">
                <a:solidFill>
                  <a:schemeClr val="accent1"/>
                </a:solidFill>
              </a:rPr>
              <a:t>入力</a:t>
            </a:r>
            <a:endParaRPr lang="en-US" sz="1300" dirty="0"/>
          </a:p>
        </p:txBody>
      </p:sp>
      <p:sp>
        <p:nvSpPr>
          <p:cNvPr id="8" name="Text 6"/>
          <p:cNvSpPr txBox="1"/>
          <p:nvPr/>
        </p:nvSpPr>
        <p:spPr>
          <a:xfrm>
            <a:off x="914400" y="2651760"/>
            <a:ext cx="1965960" cy="2560320"/>
          </a:xfrm>
          <a:prstGeom prst="rect">
            <a:avLst/>
          </a:prstGeom>
          <a:noFill/>
          <a:ln/>
        </p:spPr>
        <p:txBody>
          <a:bodyPr wrap="square" lIns="0" tIns="0" rIns="0" bIns="0" rtlCol="0" anchor="t"/>
          <a:lstStyle/>
          <a:p>
            <a:pPr marL="152400" indent="-152400">
              <a:spcAft>
                <a:spcPts val="800"/>
              </a:spcAft>
              <a:buSzPct val="100000"/>
              <a:buChar char="•"/>
            </a:pPr>
            <a:r>
              <a:rPr lang="en-US" sz="1150" dirty="0">
                <a:solidFill>
                  <a:schemeClr val="tx1"/>
                </a:solidFill>
              </a:rPr>
              <a:t>自社のBS/PL・試算表</a:t>
            </a:r>
            <a:endParaRPr lang="en-US" sz="1150" dirty="0"/>
          </a:p>
          <a:p>
            <a:pPr marL="152400" indent="-152400">
              <a:spcAft>
                <a:spcPts val="800"/>
              </a:spcAft>
              <a:buSzPct val="100000"/>
              <a:buChar char="•"/>
            </a:pPr>
            <a:r>
              <a:rPr lang="en-US" sz="1150" dirty="0">
                <a:solidFill>
                  <a:schemeClr val="tx1"/>
                </a:solidFill>
              </a:rPr>
              <a:t>買収方針（業種・エリア・予算）</a:t>
            </a:r>
            <a:endParaRPr lang="en-US" sz="1150" dirty="0"/>
          </a:p>
          <a:p>
            <a:pPr marL="152400" indent="-152400">
              <a:spcAft>
                <a:spcPts val="800"/>
              </a:spcAft>
              <a:buSzPct val="100000"/>
              <a:buChar char="•"/>
            </a:pPr>
            <a:r>
              <a:rPr lang="en-US" sz="1150" dirty="0">
                <a:solidFill>
                  <a:schemeClr val="tx1"/>
                </a:solidFill>
              </a:rPr>
              <a:t>M&amp;A情報REINSの全案件・IM</a:t>
            </a:r>
            <a:endParaRPr lang="en-US" sz="1150" dirty="0"/>
          </a:p>
          <a:p>
            <a:pPr marL="152400" indent="-152400">
              <a:spcAft>
                <a:spcPts val="800"/>
              </a:spcAft>
              <a:buSzPct val="100000"/>
              <a:buChar char="•"/>
            </a:pPr>
            <a:r>
              <a:rPr lang="en-US" sz="1150" dirty="0">
                <a:solidFill>
                  <a:schemeClr val="tx1"/>
                </a:solidFill>
              </a:rPr>
              <a:t>市場・企業データ</a:t>
            </a:r>
            <a:endParaRPr lang="en-US" sz="1150" dirty="0"/>
          </a:p>
        </p:txBody>
      </p:sp>
      <p:sp>
        <p:nvSpPr>
          <p:cNvPr id="9" name="ai engine"/>
          <p:cNvSpPr/>
          <p:nvPr/>
        </p:nvSpPr>
        <p:spPr>
          <a:xfrm>
            <a:off x="3246120" y="2103120"/>
            <a:ext cx="4572000" cy="3246120"/>
          </a:xfrm>
          <a:prstGeom prst="roundRect">
            <a:avLst>
              <a:gd name="adj" fmla="val 1690"/>
            </a:avLst>
          </a:prstGeom>
          <a:solidFill>
            <a:schemeClr val="tx1"/>
          </a:solidFill>
          <a:ln w="12700">
            <a:solidFill>
              <a:schemeClr val="tx1"/>
            </a:solidFill>
            <a:prstDash val="solid"/>
          </a:ln>
        </p:spPr>
      </p:sp>
      <p:sp>
        <p:nvSpPr>
          <p:cNvPr id="10" name="Text 8"/>
          <p:cNvSpPr txBox="1"/>
          <p:nvPr/>
        </p:nvSpPr>
        <p:spPr>
          <a:xfrm>
            <a:off x="3474720" y="2212848"/>
            <a:ext cx="2743200" cy="320040"/>
          </a:xfrm>
          <a:prstGeom prst="rect">
            <a:avLst/>
          </a:prstGeom>
          <a:noFill/>
          <a:ln/>
        </p:spPr>
        <p:txBody>
          <a:bodyPr wrap="square" lIns="0" tIns="0" rIns="0" bIns="0" rtlCol="0" anchor="t"/>
          <a:lstStyle/>
          <a:p>
            <a:pPr indent="0" marL="0">
              <a:buNone/>
            </a:pPr>
            <a:r>
              <a:rPr lang="en-US" sz="1300" b="1" dirty="0">
                <a:solidFill>
                  <a:schemeClr val="accent4"/>
                </a:solidFill>
              </a:rPr>
              <a:t>AIエージェント</a:t>
            </a:r>
            <a:endParaRPr lang="en-US" sz="1300" dirty="0"/>
          </a:p>
        </p:txBody>
      </p:sp>
      <p:sp>
        <p:nvSpPr>
          <p:cNvPr id="11" name="module 買収戦略"/>
          <p:cNvSpPr/>
          <p:nvPr/>
        </p:nvSpPr>
        <p:spPr>
          <a:xfrm>
            <a:off x="3474720" y="2651760"/>
            <a:ext cx="1298448" cy="1170432"/>
          </a:xfrm>
          <a:prstGeom prst="roundRect">
            <a:avLst>
              <a:gd name="adj" fmla="val 4688"/>
            </a:avLst>
          </a:prstGeom>
          <a:solidFill>
            <a:srgbClr val="3A322C"/>
          </a:solidFill>
          <a:ln w="9525">
            <a:solidFill>
              <a:srgbClr val="4E443C"/>
            </a:solidFill>
            <a:prstDash val="solid"/>
          </a:ln>
        </p:spPr>
      </p:sp>
      <p:pic>
        <p:nvPicPr>
          <p:cNvPr id="12" name="Image 0" descr="preencoded.png">    </p:cNvPr>
          <p:cNvPicPr>
            <a:picLocks noChangeAspect="1"/>
          </p:cNvPicPr>
          <p:nvPr/>
        </p:nvPicPr>
        <p:blipFill>
          <a:blip r:embed="rId1"/>
          <a:stretch>
            <a:fillRect/>
          </a:stretch>
        </p:blipFill>
        <p:spPr>
          <a:xfrm>
            <a:off x="3959352" y="2779776"/>
            <a:ext cx="329184" cy="329184"/>
          </a:xfrm>
          <a:prstGeom prst="rect">
            <a:avLst/>
          </a:prstGeom>
        </p:spPr>
      </p:pic>
      <p:sp>
        <p:nvSpPr>
          <p:cNvPr id="13" name="Text 10"/>
          <p:cNvSpPr txBox="1"/>
          <p:nvPr/>
        </p:nvSpPr>
        <p:spPr>
          <a:xfrm>
            <a:off x="3474720" y="3154680"/>
            <a:ext cx="1298448" cy="320040"/>
          </a:xfrm>
          <a:prstGeom prst="rect">
            <a:avLst/>
          </a:prstGeom>
          <a:noFill/>
          <a:ln/>
        </p:spPr>
        <p:txBody>
          <a:bodyPr wrap="square" lIns="0" tIns="0" rIns="0" bIns="0" rtlCol="0" anchor="t"/>
          <a:lstStyle/>
          <a:p>
            <a:pPr algn="ctr" indent="0" marL="0">
              <a:buNone/>
            </a:pPr>
            <a:r>
              <a:rPr lang="en-US" sz="1150" b="1" dirty="0">
                <a:solidFill>
                  <a:schemeClr val="bg1"/>
                </a:solidFill>
              </a:rPr>
              <a:t>買収戦略</a:t>
            </a:r>
            <a:endParaRPr lang="en-US" sz="1150" dirty="0"/>
          </a:p>
        </p:txBody>
      </p:sp>
      <p:sp>
        <p:nvSpPr>
          <p:cNvPr id="14" name="Text 11"/>
          <p:cNvSpPr txBox="1"/>
          <p:nvPr/>
        </p:nvSpPr>
        <p:spPr>
          <a:xfrm>
            <a:off x="3474720" y="3456432"/>
            <a:ext cx="1298448" cy="274320"/>
          </a:xfrm>
          <a:prstGeom prst="rect">
            <a:avLst/>
          </a:prstGeom>
          <a:noFill/>
          <a:ln/>
        </p:spPr>
        <p:txBody>
          <a:bodyPr wrap="square" lIns="0" tIns="0" rIns="0" bIns="0" rtlCol="0" anchor="t"/>
          <a:lstStyle/>
          <a:p>
            <a:pPr algn="ctr" indent="0" marL="0">
              <a:buNone/>
            </a:pPr>
            <a:r>
              <a:rPr lang="en-US" sz="900" dirty="0">
                <a:solidFill>
                  <a:schemeClr val="accent5"/>
                </a:solidFill>
              </a:rPr>
              <a:t>何を買うべきか</a:t>
            </a:r>
            <a:endParaRPr lang="en-US" sz="900" dirty="0"/>
          </a:p>
        </p:txBody>
      </p:sp>
      <p:sp>
        <p:nvSpPr>
          <p:cNvPr id="15" name="module ソーシング"/>
          <p:cNvSpPr/>
          <p:nvPr/>
        </p:nvSpPr>
        <p:spPr>
          <a:xfrm>
            <a:off x="4892040" y="2651760"/>
            <a:ext cx="1298448" cy="1170432"/>
          </a:xfrm>
          <a:prstGeom prst="roundRect">
            <a:avLst>
              <a:gd name="adj" fmla="val 4688"/>
            </a:avLst>
          </a:prstGeom>
          <a:solidFill>
            <a:srgbClr val="3A322C"/>
          </a:solidFill>
          <a:ln w="9525">
            <a:solidFill>
              <a:srgbClr val="4E443C"/>
            </a:solidFill>
            <a:prstDash val="solid"/>
          </a:ln>
        </p:spPr>
      </p:sp>
      <p:pic>
        <p:nvPicPr>
          <p:cNvPr id="16" name="Image 1" descr="preencoded.png">    </p:cNvPr>
          <p:cNvPicPr>
            <a:picLocks noChangeAspect="1"/>
          </p:cNvPicPr>
          <p:nvPr/>
        </p:nvPicPr>
        <p:blipFill>
          <a:blip r:embed="rId2"/>
          <a:stretch>
            <a:fillRect/>
          </a:stretch>
        </p:blipFill>
        <p:spPr>
          <a:xfrm>
            <a:off x="5376672" y="2779776"/>
            <a:ext cx="329184" cy="329184"/>
          </a:xfrm>
          <a:prstGeom prst="rect">
            <a:avLst/>
          </a:prstGeom>
        </p:spPr>
      </p:pic>
      <p:sp>
        <p:nvSpPr>
          <p:cNvPr id="17" name="Text 13"/>
          <p:cNvSpPr txBox="1"/>
          <p:nvPr/>
        </p:nvSpPr>
        <p:spPr>
          <a:xfrm>
            <a:off x="4892040" y="3154680"/>
            <a:ext cx="1298448" cy="320040"/>
          </a:xfrm>
          <a:prstGeom prst="rect">
            <a:avLst/>
          </a:prstGeom>
          <a:noFill/>
          <a:ln/>
        </p:spPr>
        <p:txBody>
          <a:bodyPr wrap="square" lIns="0" tIns="0" rIns="0" bIns="0" rtlCol="0" anchor="t"/>
          <a:lstStyle/>
          <a:p>
            <a:pPr algn="ctr" indent="0" marL="0">
              <a:buNone/>
            </a:pPr>
            <a:r>
              <a:rPr lang="en-US" sz="1150" b="1" dirty="0">
                <a:solidFill>
                  <a:schemeClr val="bg1"/>
                </a:solidFill>
              </a:rPr>
              <a:t>ソーシング</a:t>
            </a:r>
            <a:endParaRPr lang="en-US" sz="1150" dirty="0"/>
          </a:p>
        </p:txBody>
      </p:sp>
      <p:sp>
        <p:nvSpPr>
          <p:cNvPr id="18" name="Text 14"/>
          <p:cNvSpPr txBox="1"/>
          <p:nvPr/>
        </p:nvSpPr>
        <p:spPr>
          <a:xfrm>
            <a:off x="4892040" y="3456432"/>
            <a:ext cx="1298448" cy="274320"/>
          </a:xfrm>
          <a:prstGeom prst="rect">
            <a:avLst/>
          </a:prstGeom>
          <a:noFill/>
          <a:ln/>
        </p:spPr>
        <p:txBody>
          <a:bodyPr wrap="square" lIns="0" tIns="0" rIns="0" bIns="0" rtlCol="0" anchor="t"/>
          <a:lstStyle/>
          <a:p>
            <a:pPr algn="ctr" indent="0" marL="0">
              <a:buNone/>
            </a:pPr>
            <a:r>
              <a:rPr lang="en-US" sz="900" dirty="0">
                <a:solidFill>
                  <a:schemeClr val="accent5"/>
                </a:solidFill>
              </a:rPr>
              <a:t>候補を探す</a:t>
            </a:r>
            <a:endParaRPr lang="en-US" sz="900" dirty="0"/>
          </a:p>
        </p:txBody>
      </p:sp>
      <p:sp>
        <p:nvSpPr>
          <p:cNvPr id="19" name="module スクリーニング"/>
          <p:cNvSpPr/>
          <p:nvPr/>
        </p:nvSpPr>
        <p:spPr>
          <a:xfrm>
            <a:off x="6309360" y="2651760"/>
            <a:ext cx="1298448" cy="1170432"/>
          </a:xfrm>
          <a:prstGeom prst="roundRect">
            <a:avLst>
              <a:gd name="adj" fmla="val 4688"/>
            </a:avLst>
          </a:prstGeom>
          <a:solidFill>
            <a:srgbClr val="3A322C"/>
          </a:solidFill>
          <a:ln w="9525">
            <a:solidFill>
              <a:srgbClr val="4E443C"/>
            </a:solidFill>
            <a:prstDash val="solid"/>
          </a:ln>
        </p:spPr>
      </p:sp>
      <p:pic>
        <p:nvPicPr>
          <p:cNvPr id="20" name="Image 2" descr="preencoded.png">    </p:cNvPr>
          <p:cNvPicPr>
            <a:picLocks noChangeAspect="1"/>
          </p:cNvPicPr>
          <p:nvPr/>
        </p:nvPicPr>
        <p:blipFill>
          <a:blip r:embed="rId3"/>
          <a:stretch>
            <a:fillRect/>
          </a:stretch>
        </p:blipFill>
        <p:spPr>
          <a:xfrm>
            <a:off x="6793992" y="2779776"/>
            <a:ext cx="329184" cy="329184"/>
          </a:xfrm>
          <a:prstGeom prst="rect">
            <a:avLst/>
          </a:prstGeom>
        </p:spPr>
      </p:pic>
      <p:sp>
        <p:nvSpPr>
          <p:cNvPr id="21" name="Text 16"/>
          <p:cNvSpPr txBox="1"/>
          <p:nvPr/>
        </p:nvSpPr>
        <p:spPr>
          <a:xfrm>
            <a:off x="6309360" y="3154680"/>
            <a:ext cx="1298448" cy="320040"/>
          </a:xfrm>
          <a:prstGeom prst="rect">
            <a:avLst/>
          </a:prstGeom>
          <a:noFill/>
          <a:ln/>
        </p:spPr>
        <p:txBody>
          <a:bodyPr wrap="square" lIns="0" tIns="0" rIns="0" bIns="0" rtlCol="0" anchor="t"/>
          <a:lstStyle/>
          <a:p>
            <a:pPr algn="ctr" indent="0" marL="0">
              <a:buNone/>
            </a:pPr>
            <a:r>
              <a:rPr lang="en-US" sz="1150" b="1" dirty="0">
                <a:solidFill>
                  <a:schemeClr val="bg1"/>
                </a:solidFill>
              </a:rPr>
              <a:t>スクリーニング</a:t>
            </a:r>
            <a:endParaRPr lang="en-US" sz="1150" dirty="0"/>
          </a:p>
        </p:txBody>
      </p:sp>
      <p:sp>
        <p:nvSpPr>
          <p:cNvPr id="22" name="Text 17"/>
          <p:cNvSpPr txBox="1"/>
          <p:nvPr/>
        </p:nvSpPr>
        <p:spPr>
          <a:xfrm>
            <a:off x="6309360" y="3456432"/>
            <a:ext cx="1298448" cy="274320"/>
          </a:xfrm>
          <a:prstGeom prst="rect">
            <a:avLst/>
          </a:prstGeom>
          <a:noFill/>
          <a:ln/>
        </p:spPr>
        <p:txBody>
          <a:bodyPr wrap="square" lIns="0" tIns="0" rIns="0" bIns="0" rtlCol="0" anchor="t"/>
          <a:lstStyle/>
          <a:p>
            <a:pPr algn="ctr" indent="0" marL="0">
              <a:buNone/>
            </a:pPr>
            <a:r>
              <a:rPr lang="en-US" sz="900" dirty="0">
                <a:solidFill>
                  <a:schemeClr val="accent5"/>
                </a:solidFill>
              </a:rPr>
              <a:t>足切り・優先度</a:t>
            </a:r>
            <a:endParaRPr lang="en-US" sz="900" dirty="0"/>
          </a:p>
        </p:txBody>
      </p:sp>
      <p:sp>
        <p:nvSpPr>
          <p:cNvPr id="23" name="module 価格算定"/>
          <p:cNvSpPr/>
          <p:nvPr/>
        </p:nvSpPr>
        <p:spPr>
          <a:xfrm>
            <a:off x="3474720" y="3950208"/>
            <a:ext cx="1298448" cy="1170432"/>
          </a:xfrm>
          <a:prstGeom prst="roundRect">
            <a:avLst>
              <a:gd name="adj" fmla="val 4688"/>
            </a:avLst>
          </a:prstGeom>
          <a:solidFill>
            <a:srgbClr val="3A322C"/>
          </a:solidFill>
          <a:ln w="9525">
            <a:solidFill>
              <a:srgbClr val="4E443C"/>
            </a:solidFill>
            <a:prstDash val="solid"/>
          </a:ln>
        </p:spPr>
      </p:sp>
      <p:pic>
        <p:nvPicPr>
          <p:cNvPr id="24" name="Image 3" descr="preencoded.png">    </p:cNvPr>
          <p:cNvPicPr>
            <a:picLocks noChangeAspect="1"/>
          </p:cNvPicPr>
          <p:nvPr/>
        </p:nvPicPr>
        <p:blipFill>
          <a:blip r:embed="rId4"/>
          <a:stretch>
            <a:fillRect/>
          </a:stretch>
        </p:blipFill>
        <p:spPr>
          <a:xfrm>
            <a:off x="3959352" y="4078224"/>
            <a:ext cx="329184" cy="329184"/>
          </a:xfrm>
          <a:prstGeom prst="rect">
            <a:avLst/>
          </a:prstGeom>
        </p:spPr>
      </p:pic>
      <p:sp>
        <p:nvSpPr>
          <p:cNvPr id="25" name="Text 19"/>
          <p:cNvSpPr txBox="1"/>
          <p:nvPr/>
        </p:nvSpPr>
        <p:spPr>
          <a:xfrm>
            <a:off x="3474720" y="4453128"/>
            <a:ext cx="1298448" cy="320040"/>
          </a:xfrm>
          <a:prstGeom prst="rect">
            <a:avLst/>
          </a:prstGeom>
          <a:noFill/>
          <a:ln/>
        </p:spPr>
        <p:txBody>
          <a:bodyPr wrap="square" lIns="0" tIns="0" rIns="0" bIns="0" rtlCol="0" anchor="t"/>
          <a:lstStyle/>
          <a:p>
            <a:pPr algn="ctr" indent="0" marL="0">
              <a:buNone/>
            </a:pPr>
            <a:r>
              <a:rPr lang="en-US" sz="1150" b="1" dirty="0">
                <a:solidFill>
                  <a:schemeClr val="bg1"/>
                </a:solidFill>
              </a:rPr>
              <a:t>価格算定</a:t>
            </a:r>
            <a:endParaRPr lang="en-US" sz="1150" dirty="0"/>
          </a:p>
        </p:txBody>
      </p:sp>
      <p:sp>
        <p:nvSpPr>
          <p:cNvPr id="26" name="Text 20"/>
          <p:cNvSpPr txBox="1"/>
          <p:nvPr/>
        </p:nvSpPr>
        <p:spPr>
          <a:xfrm>
            <a:off x="3474720" y="4754880"/>
            <a:ext cx="1298448" cy="274320"/>
          </a:xfrm>
          <a:prstGeom prst="rect">
            <a:avLst/>
          </a:prstGeom>
          <a:noFill/>
          <a:ln/>
        </p:spPr>
        <p:txBody>
          <a:bodyPr wrap="square" lIns="0" tIns="0" rIns="0" bIns="0" rtlCol="0" anchor="t"/>
          <a:lstStyle/>
          <a:p>
            <a:pPr algn="ctr" indent="0" marL="0">
              <a:buNone/>
            </a:pPr>
            <a:r>
              <a:rPr lang="en-US" sz="900" dirty="0">
                <a:solidFill>
                  <a:schemeClr val="accent5"/>
                </a:solidFill>
              </a:rPr>
              <a:t>純資産・適正価格</a:t>
            </a:r>
            <a:endParaRPr lang="en-US" sz="900" dirty="0"/>
          </a:p>
        </p:txBody>
      </p:sp>
      <p:sp>
        <p:nvSpPr>
          <p:cNvPr id="27" name="module 資金設計"/>
          <p:cNvSpPr/>
          <p:nvPr/>
        </p:nvSpPr>
        <p:spPr>
          <a:xfrm>
            <a:off x="4892040" y="3950208"/>
            <a:ext cx="1298448" cy="1170432"/>
          </a:xfrm>
          <a:prstGeom prst="roundRect">
            <a:avLst>
              <a:gd name="adj" fmla="val 4688"/>
            </a:avLst>
          </a:prstGeom>
          <a:solidFill>
            <a:srgbClr val="3A322C"/>
          </a:solidFill>
          <a:ln w="9525">
            <a:solidFill>
              <a:srgbClr val="4E443C"/>
            </a:solidFill>
            <a:prstDash val="solid"/>
          </a:ln>
        </p:spPr>
      </p:sp>
      <p:pic>
        <p:nvPicPr>
          <p:cNvPr id="28" name="Image 4" descr="preencoded.png">    </p:cNvPr>
          <p:cNvPicPr>
            <a:picLocks noChangeAspect="1"/>
          </p:cNvPicPr>
          <p:nvPr/>
        </p:nvPicPr>
        <p:blipFill>
          <a:blip r:embed="rId5"/>
          <a:stretch>
            <a:fillRect/>
          </a:stretch>
        </p:blipFill>
        <p:spPr>
          <a:xfrm>
            <a:off x="5376672" y="4078224"/>
            <a:ext cx="329184" cy="329184"/>
          </a:xfrm>
          <a:prstGeom prst="rect">
            <a:avLst/>
          </a:prstGeom>
        </p:spPr>
      </p:pic>
      <p:sp>
        <p:nvSpPr>
          <p:cNvPr id="29" name="Text 22"/>
          <p:cNvSpPr txBox="1"/>
          <p:nvPr/>
        </p:nvSpPr>
        <p:spPr>
          <a:xfrm>
            <a:off x="4892040" y="4453128"/>
            <a:ext cx="1298448" cy="320040"/>
          </a:xfrm>
          <a:prstGeom prst="rect">
            <a:avLst/>
          </a:prstGeom>
          <a:noFill/>
          <a:ln/>
        </p:spPr>
        <p:txBody>
          <a:bodyPr wrap="square" lIns="0" tIns="0" rIns="0" bIns="0" rtlCol="0" anchor="t"/>
          <a:lstStyle/>
          <a:p>
            <a:pPr algn="ctr" indent="0" marL="0">
              <a:buNone/>
            </a:pPr>
            <a:r>
              <a:rPr lang="en-US" sz="1150" b="1" dirty="0">
                <a:solidFill>
                  <a:schemeClr val="bg1"/>
                </a:solidFill>
              </a:rPr>
              <a:t>資金設計</a:t>
            </a:r>
            <a:endParaRPr lang="en-US" sz="1150" dirty="0"/>
          </a:p>
        </p:txBody>
      </p:sp>
      <p:sp>
        <p:nvSpPr>
          <p:cNvPr id="30" name="Text 23"/>
          <p:cNvSpPr txBox="1"/>
          <p:nvPr/>
        </p:nvSpPr>
        <p:spPr>
          <a:xfrm>
            <a:off x="4892040" y="4754880"/>
            <a:ext cx="1298448" cy="274320"/>
          </a:xfrm>
          <a:prstGeom prst="rect">
            <a:avLst/>
          </a:prstGeom>
          <a:noFill/>
          <a:ln/>
        </p:spPr>
        <p:txBody>
          <a:bodyPr wrap="square" lIns="0" tIns="0" rIns="0" bIns="0" rtlCol="0" anchor="t"/>
          <a:lstStyle/>
          <a:p>
            <a:pPr algn="ctr" indent="0" marL="0">
              <a:buNone/>
            </a:pPr>
            <a:r>
              <a:rPr lang="en-US" sz="900" dirty="0">
                <a:solidFill>
                  <a:schemeClr val="accent5"/>
                </a:solidFill>
              </a:rPr>
              <a:t>借入余力・調達</a:t>
            </a:r>
            <a:endParaRPr lang="en-US" sz="900" dirty="0"/>
          </a:p>
        </p:txBody>
      </p:sp>
      <p:sp>
        <p:nvSpPr>
          <p:cNvPr id="31" name="module PMI計画"/>
          <p:cNvSpPr/>
          <p:nvPr/>
        </p:nvSpPr>
        <p:spPr>
          <a:xfrm>
            <a:off x="6309360" y="3950208"/>
            <a:ext cx="1298448" cy="1170432"/>
          </a:xfrm>
          <a:prstGeom prst="roundRect">
            <a:avLst>
              <a:gd name="adj" fmla="val 4688"/>
            </a:avLst>
          </a:prstGeom>
          <a:solidFill>
            <a:srgbClr val="3A322C"/>
          </a:solidFill>
          <a:ln w="9525">
            <a:solidFill>
              <a:srgbClr val="4E443C"/>
            </a:solidFill>
            <a:prstDash val="solid"/>
          </a:ln>
        </p:spPr>
      </p:sp>
      <p:pic>
        <p:nvPicPr>
          <p:cNvPr id="32" name="Image 5" descr="preencoded.png">    </p:cNvPr>
          <p:cNvPicPr>
            <a:picLocks noChangeAspect="1"/>
          </p:cNvPicPr>
          <p:nvPr/>
        </p:nvPicPr>
        <p:blipFill>
          <a:blip r:embed="rId6"/>
          <a:stretch>
            <a:fillRect/>
          </a:stretch>
        </p:blipFill>
        <p:spPr>
          <a:xfrm>
            <a:off x="6793992" y="4078224"/>
            <a:ext cx="329184" cy="329184"/>
          </a:xfrm>
          <a:prstGeom prst="rect">
            <a:avLst/>
          </a:prstGeom>
        </p:spPr>
      </p:pic>
      <p:sp>
        <p:nvSpPr>
          <p:cNvPr id="33" name="Text 25"/>
          <p:cNvSpPr txBox="1"/>
          <p:nvPr/>
        </p:nvSpPr>
        <p:spPr>
          <a:xfrm>
            <a:off x="6309360" y="4453128"/>
            <a:ext cx="1298448" cy="320040"/>
          </a:xfrm>
          <a:prstGeom prst="rect">
            <a:avLst/>
          </a:prstGeom>
          <a:noFill/>
          <a:ln/>
        </p:spPr>
        <p:txBody>
          <a:bodyPr wrap="square" lIns="0" tIns="0" rIns="0" bIns="0" rtlCol="0" anchor="t"/>
          <a:lstStyle/>
          <a:p>
            <a:pPr algn="ctr" indent="0" marL="0">
              <a:buNone/>
            </a:pPr>
            <a:r>
              <a:rPr lang="en-US" sz="1150" b="1" dirty="0">
                <a:solidFill>
                  <a:schemeClr val="bg1"/>
                </a:solidFill>
              </a:rPr>
              <a:t>PMI計画</a:t>
            </a:r>
            <a:endParaRPr lang="en-US" sz="1150" dirty="0"/>
          </a:p>
        </p:txBody>
      </p:sp>
      <p:sp>
        <p:nvSpPr>
          <p:cNvPr id="34" name="Text 26"/>
          <p:cNvSpPr txBox="1"/>
          <p:nvPr/>
        </p:nvSpPr>
        <p:spPr>
          <a:xfrm>
            <a:off x="6309360" y="4754880"/>
            <a:ext cx="1298448" cy="274320"/>
          </a:xfrm>
          <a:prstGeom prst="rect">
            <a:avLst/>
          </a:prstGeom>
          <a:noFill/>
          <a:ln/>
        </p:spPr>
        <p:txBody>
          <a:bodyPr wrap="square" lIns="0" tIns="0" rIns="0" bIns="0" rtlCol="0" anchor="t"/>
          <a:lstStyle/>
          <a:p>
            <a:pPr algn="ctr" indent="0" marL="0">
              <a:buNone/>
            </a:pPr>
            <a:r>
              <a:rPr lang="en-US" sz="900" dirty="0">
                <a:solidFill>
                  <a:schemeClr val="accent5"/>
                </a:solidFill>
              </a:rPr>
              <a:t>責任者・100日</a:t>
            </a:r>
            <a:endParaRPr lang="en-US" sz="900" dirty="0"/>
          </a:p>
        </p:txBody>
      </p:sp>
      <p:sp>
        <p:nvSpPr>
          <p:cNvPr id="35" name="rule gate"/>
          <p:cNvSpPr/>
          <p:nvPr/>
        </p:nvSpPr>
        <p:spPr>
          <a:xfrm>
            <a:off x="8001000" y="2103120"/>
            <a:ext cx="1051560" cy="3246120"/>
          </a:xfrm>
          <a:prstGeom prst="roundRect">
            <a:avLst>
              <a:gd name="adj" fmla="val 5217"/>
            </a:avLst>
          </a:prstGeom>
          <a:solidFill>
            <a:schemeClr val="accent1"/>
          </a:solidFill>
          <a:ln w="12700">
            <a:solidFill>
              <a:schemeClr val="accent1"/>
            </a:solidFill>
            <a:prstDash val="solid"/>
          </a:ln>
        </p:spPr>
      </p:sp>
      <p:sp>
        <p:nvSpPr>
          <p:cNvPr id="36" name="Text 28"/>
          <p:cNvSpPr txBox="1"/>
          <p:nvPr/>
        </p:nvSpPr>
        <p:spPr>
          <a:xfrm>
            <a:off x="8001000" y="2103120"/>
            <a:ext cx="1051560" cy="3246120"/>
          </a:xfrm>
          <a:prstGeom prst="rect">
            <a:avLst/>
          </a:prstGeom>
          <a:noFill/>
          <a:ln/>
        </p:spPr>
        <p:txBody>
          <a:bodyPr wrap="square" lIns="0" tIns="0" rIns="0" bIns="0" rtlCol="0" anchor="ctr"/>
          <a:lstStyle/>
          <a:p>
            <a:pPr algn="ctr" indent="0" marL="0">
              <a:buNone/>
            </a:pPr>
            <a:r>
              <a:rPr lang="en-US" sz="1300" b="1" dirty="0">
                <a:solidFill>
                  <a:schemeClr val="bg1"/>
                </a:solidFill>
              </a:rPr>
              <a:t>49戦の</a:t>
            </a:r>
            <a:endParaRPr lang="en-US" sz="1300" dirty="0"/>
          </a:p>
          <a:p>
            <a:pPr algn="ctr" indent="0" marL="0">
              <a:buNone/>
            </a:pPr>
            <a:r>
              <a:rPr lang="en-US" sz="1300" b="1" dirty="0">
                <a:solidFill>
                  <a:schemeClr val="bg1"/>
                </a:solidFill>
              </a:rPr>
              <a:t>5原則で</a:t>
            </a:r>
            <a:endParaRPr lang="en-US" sz="1300" dirty="0"/>
          </a:p>
          <a:p>
            <a:pPr algn="ctr" indent="0" marL="0">
              <a:buNone/>
            </a:pPr>
            <a:r>
              <a:rPr lang="en-US" sz="1300" b="1" dirty="0">
                <a:solidFill>
                  <a:schemeClr val="bg1"/>
                </a:solidFill>
              </a:rPr>
              <a:t>判定</a:t>
            </a:r>
            <a:endParaRPr lang="en-US" sz="1300" dirty="0"/>
          </a:p>
        </p:txBody>
      </p:sp>
      <p:sp>
        <p:nvSpPr>
          <p:cNvPr id="37" name="output"/>
          <p:cNvSpPr/>
          <p:nvPr/>
        </p:nvSpPr>
        <p:spPr>
          <a:xfrm>
            <a:off x="9235440" y="2103120"/>
            <a:ext cx="2267712" cy="3246120"/>
          </a:xfrm>
          <a:prstGeom prst="roundRect">
            <a:avLst>
              <a:gd name="adj" fmla="val 2419"/>
            </a:avLst>
          </a:prstGeom>
          <a:solidFill>
            <a:schemeClr val="bg2"/>
          </a:solidFill>
          <a:ln w="9525">
            <a:solidFill>
              <a:schemeClr val="accent3"/>
            </a:solidFill>
            <a:prstDash val="solid"/>
          </a:ln>
          <a:effectLst>
            <a:outerShdw sx="100000" sy="100000" kx="0" ky="0" algn="bl" rotWithShape="0" blurRad="76200" dist="25400" dir="5400000">
              <a:srgbClr val="6F665F">
                <a:alpha val="12000"/>
              </a:srgbClr>
            </a:outerShdw>
          </a:effectLst>
        </p:spPr>
      </p:sp>
      <p:sp>
        <p:nvSpPr>
          <p:cNvPr id="38" name="Text 30"/>
          <p:cNvSpPr txBox="1"/>
          <p:nvPr/>
        </p:nvSpPr>
        <p:spPr>
          <a:xfrm>
            <a:off x="9464040" y="2240280"/>
            <a:ext cx="1828800" cy="320040"/>
          </a:xfrm>
          <a:prstGeom prst="rect">
            <a:avLst/>
          </a:prstGeom>
          <a:noFill/>
          <a:ln/>
        </p:spPr>
        <p:txBody>
          <a:bodyPr wrap="square" lIns="0" tIns="0" rIns="0" bIns="0" rtlCol="0" anchor="t"/>
          <a:lstStyle/>
          <a:p>
            <a:pPr indent="0" marL="0">
              <a:buNone/>
            </a:pPr>
            <a:r>
              <a:rPr lang="en-US" sz="1300" b="1" dirty="0">
                <a:solidFill>
                  <a:schemeClr val="accent1"/>
                </a:solidFill>
              </a:rPr>
              <a:t>出力</a:t>
            </a:r>
            <a:endParaRPr lang="en-US" sz="1300" dirty="0"/>
          </a:p>
        </p:txBody>
      </p:sp>
      <p:sp>
        <p:nvSpPr>
          <p:cNvPr id="39" name="Text 31"/>
          <p:cNvSpPr txBox="1"/>
          <p:nvPr/>
        </p:nvSpPr>
        <p:spPr>
          <a:xfrm>
            <a:off x="9464040" y="2651760"/>
            <a:ext cx="1901952" cy="2560320"/>
          </a:xfrm>
          <a:prstGeom prst="rect">
            <a:avLst/>
          </a:prstGeom>
          <a:noFill/>
          <a:ln/>
        </p:spPr>
        <p:txBody>
          <a:bodyPr wrap="square" lIns="0" tIns="0" rIns="0" bIns="0" rtlCol="0" anchor="t"/>
          <a:lstStyle/>
          <a:p>
            <a:pPr marL="152400" indent="-152400">
              <a:spcAft>
                <a:spcPts val="800"/>
              </a:spcAft>
              <a:buSzPct val="100000"/>
              <a:buChar char="•"/>
            </a:pPr>
            <a:r>
              <a:rPr lang="en-US" sz="1150" dirty="0">
                <a:solidFill>
                  <a:schemeClr val="tx1"/>
                </a:solidFill>
              </a:rPr>
              <a:t>買う／見送るの判断と理由</a:t>
            </a:r>
            <a:endParaRPr lang="en-US" sz="1150" dirty="0"/>
          </a:p>
          <a:p>
            <a:pPr marL="152400" indent="-152400">
              <a:spcAft>
                <a:spcPts val="800"/>
              </a:spcAft>
              <a:buSzPct val="100000"/>
              <a:buChar char="•"/>
            </a:pPr>
            <a:r>
              <a:rPr lang="en-US" sz="1150" dirty="0">
                <a:solidFill>
                  <a:schemeClr val="tx1"/>
                </a:solidFill>
              </a:rPr>
              <a:t>適正価格と交渉の上限</a:t>
            </a:r>
            <a:endParaRPr lang="en-US" sz="1150" dirty="0"/>
          </a:p>
          <a:p>
            <a:pPr marL="152400" indent="-152400">
              <a:spcAft>
                <a:spcPts val="800"/>
              </a:spcAft>
              <a:buSzPct val="100000"/>
              <a:buChar char="•"/>
            </a:pPr>
            <a:r>
              <a:rPr lang="en-US" sz="1150" dirty="0">
                <a:solidFill>
                  <a:schemeClr val="tx1"/>
                </a:solidFill>
              </a:rPr>
              <a:t>資金調達の組み立て</a:t>
            </a:r>
            <a:endParaRPr lang="en-US" sz="1150" dirty="0"/>
          </a:p>
          <a:p>
            <a:pPr marL="152400" indent="-152400">
              <a:spcAft>
                <a:spcPts val="800"/>
              </a:spcAft>
              <a:buSzPct val="100000"/>
              <a:buChar char="•"/>
            </a:pPr>
            <a:r>
              <a:rPr lang="en-US" sz="1150" dirty="0">
                <a:solidFill>
                  <a:schemeClr val="tx1"/>
                </a:solidFill>
              </a:rPr>
              <a:t>PMI責任者と撤退ライン</a:t>
            </a:r>
            <a:endParaRPr lang="en-US" sz="1150" dirty="0"/>
          </a:p>
        </p:txBody>
      </p:sp>
      <p:sp>
        <p:nvSpPr>
          <p:cNvPr id="40" name="conclusion bar"/>
          <p:cNvSpPr/>
          <p:nvPr/>
        </p:nvSpPr>
        <p:spPr>
          <a:xfrm>
            <a:off x="685800" y="5532120"/>
            <a:ext cx="10820095" cy="777240"/>
          </a:xfrm>
          <a:prstGeom prst="roundRect">
            <a:avLst>
              <a:gd name="adj" fmla="val 4706"/>
            </a:avLst>
          </a:prstGeom>
          <a:solidFill>
            <a:schemeClr val="tx1"/>
          </a:solidFill>
          <a:ln w="12700">
            <a:solidFill>
              <a:schemeClr val="tx1"/>
            </a:solidFill>
            <a:prstDash val="solid"/>
          </a:ln>
        </p:spPr>
      </p:sp>
      <p:sp>
        <p:nvSpPr>
          <p:cNvPr id="41" name="Text 33"/>
          <p:cNvSpPr txBox="1"/>
          <p:nvPr/>
        </p:nvSpPr>
        <p:spPr>
          <a:xfrm>
            <a:off x="1005840" y="5532120"/>
            <a:ext cx="10180015" cy="777240"/>
          </a:xfrm>
          <a:prstGeom prst="rect">
            <a:avLst/>
          </a:prstGeom>
          <a:noFill/>
          <a:ln/>
        </p:spPr>
        <p:txBody>
          <a:bodyPr wrap="square" lIns="0" tIns="0" rIns="0" bIns="0" rtlCol="0" anchor="ctr"/>
          <a:lstStyle/>
          <a:p>
            <a:pPr indent="0" marL="0">
              <a:buNone/>
            </a:pPr>
            <a:r>
              <a:rPr lang="en-US" sz="1600" b="1" dirty="0">
                <a:solidFill>
                  <a:schemeClr val="bg1"/>
                </a:solidFill>
              </a:rPr>
              <a:t>最終判断・交渉・責任は人（コンサルタントと中野）が持つ</a:t>
            </a:r>
            <a:endParaRPr lang="en-US" sz="1300" dirty="0"/>
          </a:p>
          <a:p>
            <a:pPr indent="0" marL="0">
              <a:buNone/>
            </a:pPr>
            <a:r>
              <a:rPr lang="en-US" sz="1100" dirty="0">
                <a:solidFill>
                  <a:schemeClr val="accent3"/>
                </a:solidFill>
              </a:rPr>
              <a:t>AIで1人あたりの担当社数を増やし、価格を抑えながら品質を保つ</a:t>
            </a:r>
            <a:endParaRPr lang="en-US" sz="1300" dirty="0"/>
          </a:p>
        </p:txBody>
      </p:sp>
      <p:sp>
        <p:nvSpPr>
          <p:cNvPr id="25" name="Slide Number Placeholder 0"/>
          <p:cNvSpPr>
            <a:spLocks noGrp="1"/>
          </p:cNvSpPr>
          <p:nvPr>
            <p:ph type="sldNum" sz="quarter" idx="4294967295"/>
          </p:nvPr>
        </p:nvSpPr>
        <p:spPr>
          <a:xfrm>
            <a:off x="10957255"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icker dot"/>
          <p:cNvSpPr/>
          <p:nvPr/>
        </p:nvSpPr>
        <p:spPr>
          <a:xfrm>
            <a:off x="685800" y="484632"/>
            <a:ext cx="109728" cy="109728"/>
          </a:xfrm>
          <a:prstGeom prst="ellipse">
            <a:avLst/>
          </a:prstGeom>
          <a:solidFill>
            <a:schemeClr val="accent1"/>
          </a:solidFill>
          <a:ln w="12700">
            <a:solidFill>
              <a:schemeClr val="accent1"/>
            </a:solidFill>
            <a:prstDash val="solid"/>
          </a:ln>
        </p:spPr>
      </p:sp>
      <p:sp>
        <p:nvSpPr>
          <p:cNvPr id="3" name="Text 0"/>
          <p:cNvSpPr/>
          <p:nvPr>
            <p:ph idx="100" type="body" hasCustomPrompt="1"/>
          </p:nvPr>
        </p:nvSpPr>
        <p:spPr>
          <a:xfrm>
            <a:off x="923544" y="365760"/>
            <a:ext cx="9601200" cy="329184"/>
          </a:xfrm>
          <a:prstGeom prst="rect">
            <a:avLst/>
          </a:prstGeom>
          <a:noFill/>
          <a:ln/>
        </p:spPr>
        <p:txBody>
          <a:bodyPr wrap="square" lIns="0" tIns="0" rIns="0" bIns="0" rtlCol="0" anchor="ctr"/>
          <a:lstStyle/>
          <a:p>
            <a:pPr indent="0" marL="0">
              <a:buNone/>
            </a:pPr>
            <a:r>
              <a:rPr lang="en-US" sz="1200" b="1" spc="240" kern="0" dirty="0">
                <a:solidFill>
                  <a:schemeClr val="accent1"/>
                </a:solidFill>
              </a:rPr>
              <a:t>IM DATABASE</a:t>
            </a:r>
            <a:endParaRPr lang="en-US" sz="1200" dirty="0"/>
          </a:p>
        </p:txBody>
      </p:sp>
      <p:sp>
        <p:nvSpPr>
          <p:cNvPr id="4" name="Text 0"/>
          <p:cNvSpPr/>
          <p:nvPr>
            <p:ph idx="101" type="title" hasCustomPrompt="1"/>
          </p:nvPr>
        </p:nvSpPr>
        <p:spPr>
          <a:xfrm>
            <a:off x="685800" y="749808"/>
            <a:ext cx="10820095" cy="731520"/>
          </a:xfrm>
          <a:prstGeom prst="rect">
            <a:avLst/>
          </a:prstGeom>
          <a:noFill/>
          <a:ln/>
        </p:spPr>
        <p:txBody>
          <a:bodyPr wrap="square" lIns="0" tIns="0" rIns="0" bIns="0" rtlCol="0" anchor="ctr"/>
          <a:lstStyle/>
          <a:p>
            <a:pPr algn="l" indent="0" marL="0">
              <a:buNone/>
            </a:pPr>
            <a:r>
              <a:rPr lang="en-US" sz="3000" b="1" dirty="0">
                <a:solidFill>
                  <a:schemeClr val="tx1"/>
                </a:solidFill>
              </a:rPr>
              <a:t>関東圏×4業種のIMデータベースで「適正価格」を語る</a:t>
            </a:r>
            <a:endParaRPr lang="en-US" sz="3000" dirty="0"/>
          </a:p>
        </p:txBody>
      </p:sp>
      <p:sp>
        <p:nvSpPr>
          <p:cNvPr id="5" name="Text 0"/>
          <p:cNvSpPr/>
          <p:nvPr>
            <p:ph idx="102" type="body" hasCustomPrompt="1"/>
          </p:nvPr>
        </p:nvSpPr>
        <p:spPr>
          <a:xfrm>
            <a:off x="685800" y="1481328"/>
            <a:ext cx="10820095" cy="365760"/>
          </a:xfrm>
          <a:prstGeom prst="rect">
            <a:avLst/>
          </a:prstGeom>
          <a:noFill/>
          <a:ln/>
        </p:spPr>
        <p:txBody>
          <a:bodyPr wrap="square" lIns="0" tIns="0" rIns="0" bIns="0" rtlCol="0" anchor="t"/>
          <a:lstStyle/>
          <a:p>
            <a:pPr indent="0" marL="0">
              <a:buNone/>
            </a:pPr>
            <a:r>
              <a:rPr lang="en-US" sz="1350" dirty="0">
                <a:solidFill>
                  <a:schemeClr val="accent2"/>
                </a:solidFill>
              </a:rPr>
              <a:t>成約データまでは持てなくても、IM（企業概要書）なら集められる。地域と業種を絞って、M&amp;A版REINSの土台をつくる</a:t>
            </a:r>
            <a:endParaRPr lang="en-US" sz="1350" dirty="0"/>
          </a:p>
        </p:txBody>
      </p:sp>
      <p:sp>
        <p:nvSpPr>
          <p:cNvPr id="6" name="step label 1"/>
          <p:cNvSpPr/>
          <p:nvPr/>
        </p:nvSpPr>
        <p:spPr>
          <a:xfrm>
            <a:off x="685800" y="2011680"/>
            <a:ext cx="868680" cy="1600200"/>
          </a:xfrm>
          <a:prstGeom prst="roundRect">
            <a:avLst>
              <a:gd name="adj" fmla="val 6316"/>
            </a:avLst>
          </a:prstGeom>
          <a:solidFill>
            <a:schemeClr val="tx1"/>
          </a:solidFill>
          <a:ln w="12700">
            <a:solidFill>
              <a:schemeClr val="tx1"/>
            </a:solidFill>
            <a:prstDash val="solid"/>
          </a:ln>
        </p:spPr>
      </p:sp>
      <p:sp>
        <p:nvSpPr>
          <p:cNvPr id="7" name="Text 5"/>
          <p:cNvSpPr txBox="1"/>
          <p:nvPr/>
        </p:nvSpPr>
        <p:spPr>
          <a:xfrm>
            <a:off x="685800" y="2011680"/>
            <a:ext cx="868680" cy="1600200"/>
          </a:xfrm>
          <a:prstGeom prst="rect">
            <a:avLst/>
          </a:prstGeom>
          <a:noFill/>
          <a:ln/>
        </p:spPr>
        <p:txBody>
          <a:bodyPr wrap="square" lIns="0" tIns="0" rIns="0" bIns="0" rtlCol="0" anchor="ctr"/>
          <a:lstStyle/>
          <a:p>
            <a:pPr algn="ctr" indent="0" marL="0">
              <a:buNone/>
            </a:pPr>
            <a:r>
              <a:rPr lang="en-US" sz="950" b="1" dirty="0">
                <a:solidFill>
                  <a:schemeClr val="bg1"/>
                </a:solidFill>
              </a:rPr>
              <a:t>STEP</a:t>
            </a:r>
            <a:endParaRPr lang="en-US" sz="1300" dirty="0"/>
          </a:p>
          <a:p>
            <a:pPr algn="ctr" indent="0" marL="0">
              <a:buNone/>
            </a:pPr>
            <a:r>
              <a:rPr lang="en-US" sz="2400" b="1" dirty="0">
                <a:solidFill>
                  <a:schemeClr val="bg1"/>
                </a:solidFill>
              </a:rPr>
              <a:t>1</a:t>
            </a:r>
            <a:endParaRPr lang="en-US" sz="1300" dirty="0"/>
          </a:p>
          <a:p>
            <a:pPr algn="ctr" indent="0" marL="0">
              <a:buNone/>
            </a:pPr>
            <a:r>
              <a:rPr lang="en-US" sz="1050" b="1" dirty="0">
                <a:solidFill>
                  <a:schemeClr val="bg1"/>
                </a:solidFill>
              </a:rPr>
              <a:t>支援前</a:t>
            </a:r>
            <a:endParaRPr lang="en-US" sz="1300" dirty="0"/>
          </a:p>
        </p:txBody>
      </p:sp>
      <p:sp>
        <p:nvSpPr>
          <p:cNvPr id="8" name="step1 集める"/>
          <p:cNvSpPr/>
          <p:nvPr/>
        </p:nvSpPr>
        <p:spPr>
          <a:xfrm>
            <a:off x="1737360" y="2011680"/>
            <a:ext cx="2176272" cy="1600200"/>
          </a:xfrm>
          <a:prstGeom prst="roundRect">
            <a:avLst>
              <a:gd name="adj" fmla="val 3429"/>
            </a:avLst>
          </a:prstGeom>
          <a:solidFill>
            <a:schemeClr val="bg2"/>
          </a:solidFill>
          <a:ln w="9525">
            <a:solidFill>
              <a:schemeClr val="accent3"/>
            </a:solidFill>
            <a:prstDash val="solid"/>
          </a:ln>
          <a:effectLst>
            <a:outerShdw sx="100000" sy="100000" kx="0" ky="0" algn="bl" rotWithShape="0" blurRad="76200" dist="25400" dir="5400000">
              <a:srgbClr val="6F665F">
                <a:alpha val="12000"/>
              </a:srgbClr>
            </a:outerShdw>
          </a:effectLst>
        </p:spPr>
      </p:sp>
      <p:sp>
        <p:nvSpPr>
          <p:cNvPr id="9" name="Text 7"/>
          <p:cNvSpPr txBox="1"/>
          <p:nvPr/>
        </p:nvSpPr>
        <p:spPr>
          <a:xfrm>
            <a:off x="1901952" y="2103120"/>
            <a:ext cx="1874520" cy="365760"/>
          </a:xfrm>
          <a:prstGeom prst="rect">
            <a:avLst/>
          </a:prstGeom>
          <a:noFill/>
          <a:ln/>
        </p:spPr>
        <p:txBody>
          <a:bodyPr wrap="square" lIns="0" tIns="0" rIns="0" bIns="0" rtlCol="0" anchor="t"/>
          <a:lstStyle/>
          <a:p>
            <a:pPr indent="0" marL="0">
              <a:buNone/>
            </a:pPr>
            <a:r>
              <a:rPr lang="en-US" sz="1400" b="1" dirty="0">
                <a:solidFill>
                  <a:schemeClr val="tx1"/>
                </a:solidFill>
              </a:rPr>
              <a:t>集める</a:t>
            </a:r>
            <a:endParaRPr lang="en-US" sz="1400" dirty="0"/>
          </a:p>
        </p:txBody>
      </p:sp>
      <p:sp>
        <p:nvSpPr>
          <p:cNvPr id="10" name="Text 8"/>
          <p:cNvSpPr txBox="1"/>
          <p:nvPr/>
        </p:nvSpPr>
        <p:spPr>
          <a:xfrm>
            <a:off x="1901952" y="2487168"/>
            <a:ext cx="1874520" cy="1051560"/>
          </a:xfrm>
          <a:prstGeom prst="rect">
            <a:avLst/>
          </a:prstGeom>
          <a:noFill/>
          <a:ln/>
        </p:spPr>
        <p:txBody>
          <a:bodyPr wrap="square" lIns="0" tIns="0" rIns="0" bIns="0" rtlCol="0" anchor="t"/>
          <a:lstStyle/>
          <a:p>
            <a:pPr indent="0" marL="0">
              <a:buNone/>
            </a:pPr>
            <a:r>
              <a:rPr lang="en-US" sz="1050" dirty="0">
                <a:solidFill>
                  <a:schemeClr val="accent2"/>
                </a:solidFill>
              </a:rPr>
              <a:t>提携FA・仲介から受け取ったIM、顧問先・士業経由、自社49戦の案件、公開案件</a:t>
            </a:r>
            <a:endParaRPr lang="en-US" sz="1050" dirty="0"/>
          </a:p>
        </p:txBody>
      </p:sp>
      <p:sp>
        <p:nvSpPr>
          <p:cNvPr id="11" name="flow arrow"/>
          <p:cNvSpPr/>
          <p:nvPr/>
        </p:nvSpPr>
        <p:spPr>
          <a:xfrm>
            <a:off x="3959352" y="2670048"/>
            <a:ext cx="201168" cy="274320"/>
          </a:xfrm>
          <a:prstGeom prst="chevron">
            <a:avLst/>
          </a:prstGeom>
          <a:solidFill>
            <a:schemeClr val="accent1"/>
          </a:solidFill>
          <a:ln w="12700">
            <a:solidFill>
              <a:schemeClr val="accent1"/>
            </a:solidFill>
            <a:prstDash val="solid"/>
          </a:ln>
        </p:spPr>
      </p:sp>
      <p:sp>
        <p:nvSpPr>
          <p:cNvPr id="12" name="step1 AIで構造化"/>
          <p:cNvSpPr/>
          <p:nvPr/>
        </p:nvSpPr>
        <p:spPr>
          <a:xfrm>
            <a:off x="4206240" y="2011680"/>
            <a:ext cx="2176272" cy="1600200"/>
          </a:xfrm>
          <a:prstGeom prst="roundRect">
            <a:avLst>
              <a:gd name="adj" fmla="val 3429"/>
            </a:avLst>
          </a:prstGeom>
          <a:solidFill>
            <a:schemeClr val="bg2"/>
          </a:solidFill>
          <a:ln w="9525">
            <a:solidFill>
              <a:schemeClr val="accent3"/>
            </a:solidFill>
            <a:prstDash val="solid"/>
          </a:ln>
          <a:effectLst>
            <a:outerShdw sx="100000" sy="100000" kx="0" ky="0" algn="bl" rotWithShape="0" blurRad="76200" dist="25400" dir="5400000">
              <a:srgbClr val="6F665F">
                <a:alpha val="12000"/>
              </a:srgbClr>
            </a:outerShdw>
          </a:effectLst>
        </p:spPr>
      </p:sp>
      <p:sp>
        <p:nvSpPr>
          <p:cNvPr id="13" name="Text 11"/>
          <p:cNvSpPr txBox="1"/>
          <p:nvPr/>
        </p:nvSpPr>
        <p:spPr>
          <a:xfrm>
            <a:off x="4370832" y="2103120"/>
            <a:ext cx="1874520" cy="365760"/>
          </a:xfrm>
          <a:prstGeom prst="rect">
            <a:avLst/>
          </a:prstGeom>
          <a:noFill/>
          <a:ln/>
        </p:spPr>
        <p:txBody>
          <a:bodyPr wrap="square" lIns="0" tIns="0" rIns="0" bIns="0" rtlCol="0" anchor="t"/>
          <a:lstStyle/>
          <a:p>
            <a:pPr indent="0" marL="0">
              <a:buNone/>
            </a:pPr>
            <a:r>
              <a:rPr lang="en-US" sz="1400" b="1" dirty="0">
                <a:solidFill>
                  <a:schemeClr val="tx1"/>
                </a:solidFill>
              </a:rPr>
              <a:t>AIで構造化</a:t>
            </a:r>
            <a:endParaRPr lang="en-US" sz="1400" dirty="0"/>
          </a:p>
        </p:txBody>
      </p:sp>
      <p:sp>
        <p:nvSpPr>
          <p:cNvPr id="14" name="Text 12"/>
          <p:cNvSpPr txBox="1"/>
          <p:nvPr/>
        </p:nvSpPr>
        <p:spPr>
          <a:xfrm>
            <a:off x="4370832" y="2487168"/>
            <a:ext cx="1874520" cy="1051560"/>
          </a:xfrm>
          <a:prstGeom prst="rect">
            <a:avLst/>
          </a:prstGeom>
          <a:noFill/>
          <a:ln/>
        </p:spPr>
        <p:txBody>
          <a:bodyPr wrap="square" lIns="0" tIns="0" rIns="0" bIns="0" rtlCol="0" anchor="t"/>
          <a:lstStyle/>
          <a:p>
            <a:pPr indent="0" marL="0">
              <a:buNone/>
            </a:pPr>
            <a:r>
              <a:rPr lang="en-US" sz="1050" dirty="0">
                <a:solidFill>
                  <a:schemeClr val="accent2"/>
                </a:solidFill>
              </a:rPr>
              <a:t>業種・地域・売上・営業利益・EBITDA・純資産・希望価格・人員・設備を自動で抽出</a:t>
            </a:r>
            <a:endParaRPr lang="en-US" sz="1050" dirty="0"/>
          </a:p>
        </p:txBody>
      </p:sp>
      <p:sp>
        <p:nvSpPr>
          <p:cNvPr id="15" name="flow arrow"/>
          <p:cNvSpPr/>
          <p:nvPr/>
        </p:nvSpPr>
        <p:spPr>
          <a:xfrm>
            <a:off x="6428232" y="2670048"/>
            <a:ext cx="201168" cy="274320"/>
          </a:xfrm>
          <a:prstGeom prst="chevron">
            <a:avLst/>
          </a:prstGeom>
          <a:solidFill>
            <a:schemeClr val="accent1"/>
          </a:solidFill>
          <a:ln w="12700">
            <a:solidFill>
              <a:schemeClr val="accent1"/>
            </a:solidFill>
            <a:prstDash val="solid"/>
          </a:ln>
        </p:spPr>
      </p:sp>
      <p:sp>
        <p:nvSpPr>
          <p:cNvPr id="16" name="im database"/>
          <p:cNvSpPr/>
          <p:nvPr/>
        </p:nvSpPr>
        <p:spPr>
          <a:xfrm>
            <a:off x="6675120" y="2011680"/>
            <a:ext cx="2176272" cy="1600200"/>
          </a:xfrm>
          <a:prstGeom prst="roundRect">
            <a:avLst>
              <a:gd name="adj" fmla="val 3429"/>
            </a:avLst>
          </a:prstGeom>
          <a:solidFill>
            <a:schemeClr val="tx1"/>
          </a:solidFill>
          <a:ln w="12700">
            <a:solidFill>
              <a:schemeClr val="tx1"/>
            </a:solidFill>
            <a:prstDash val="solid"/>
          </a:ln>
        </p:spPr>
      </p:sp>
      <p:sp>
        <p:nvSpPr>
          <p:cNvPr id="17" name="Text 15"/>
          <p:cNvSpPr txBox="1"/>
          <p:nvPr/>
        </p:nvSpPr>
        <p:spPr>
          <a:xfrm>
            <a:off x="6839712" y="2103120"/>
            <a:ext cx="1874520" cy="365760"/>
          </a:xfrm>
          <a:prstGeom prst="rect">
            <a:avLst/>
          </a:prstGeom>
          <a:noFill/>
          <a:ln/>
        </p:spPr>
        <p:txBody>
          <a:bodyPr wrap="square" lIns="0" tIns="0" rIns="0" bIns="0" rtlCol="0" anchor="t"/>
          <a:lstStyle/>
          <a:p>
            <a:pPr indent="0" marL="0">
              <a:buNone/>
            </a:pPr>
            <a:r>
              <a:rPr lang="en-US" sz="1400" b="1" dirty="0">
                <a:solidFill>
                  <a:schemeClr val="accent4"/>
                </a:solidFill>
              </a:rPr>
              <a:t>IMデータベース</a:t>
            </a:r>
            <a:endParaRPr lang="en-US" sz="1400" dirty="0"/>
          </a:p>
        </p:txBody>
      </p:sp>
      <p:sp>
        <p:nvSpPr>
          <p:cNvPr id="18" name="Text 16"/>
          <p:cNvSpPr txBox="1"/>
          <p:nvPr/>
        </p:nvSpPr>
        <p:spPr>
          <a:xfrm>
            <a:off x="6839712" y="2487168"/>
            <a:ext cx="1874520" cy="548640"/>
          </a:xfrm>
          <a:prstGeom prst="rect">
            <a:avLst/>
          </a:prstGeom>
          <a:noFill/>
          <a:ln/>
        </p:spPr>
        <p:txBody>
          <a:bodyPr wrap="square" lIns="0" tIns="0" rIns="0" bIns="0" rtlCol="0" anchor="t"/>
          <a:lstStyle/>
          <a:p>
            <a:pPr indent="0" marL="0">
              <a:buNone/>
            </a:pPr>
            <a:r>
              <a:rPr lang="en-US" sz="1050" dirty="0">
                <a:solidFill>
                  <a:schemeClr val="accent3"/>
                </a:solidFill>
              </a:rPr>
              <a:t>関東圏（一都三県）×4業種にまず特化</a:t>
            </a:r>
            <a:endParaRPr lang="en-US" sz="1050" dirty="0"/>
          </a:p>
        </p:txBody>
      </p:sp>
      <p:sp>
        <p:nvSpPr>
          <p:cNvPr id="19" name="Shape 17"/>
          <p:cNvSpPr/>
          <p:nvPr/>
        </p:nvSpPr>
        <p:spPr>
          <a:xfrm>
            <a:off x="6839712" y="3154680"/>
            <a:ext cx="438912" cy="274320"/>
          </a:xfrm>
          <a:prstGeom prst="roundRect">
            <a:avLst>
              <a:gd name="adj" fmla="val 50000"/>
            </a:avLst>
          </a:prstGeom>
          <a:solidFill>
            <a:schemeClr val="accent1"/>
          </a:solidFill>
          <a:ln w="12700">
            <a:solidFill>
              <a:schemeClr val="accent1"/>
            </a:solidFill>
            <a:prstDash val="solid"/>
          </a:ln>
        </p:spPr>
      </p:sp>
      <p:sp>
        <p:nvSpPr>
          <p:cNvPr id="20" name="Text 18"/>
          <p:cNvSpPr txBox="1"/>
          <p:nvPr/>
        </p:nvSpPr>
        <p:spPr>
          <a:xfrm>
            <a:off x="6839712" y="3154680"/>
            <a:ext cx="438912" cy="274320"/>
          </a:xfrm>
          <a:prstGeom prst="rect">
            <a:avLst/>
          </a:prstGeom>
          <a:noFill/>
          <a:ln/>
        </p:spPr>
        <p:txBody>
          <a:bodyPr wrap="square" lIns="0" tIns="0" rIns="0" bIns="0" rtlCol="0" anchor="ctr"/>
          <a:lstStyle/>
          <a:p>
            <a:pPr algn="ctr" indent="0" marL="0">
              <a:buNone/>
            </a:pPr>
            <a:r>
              <a:rPr lang="en-US" sz="950" b="1" dirty="0">
                <a:solidFill>
                  <a:schemeClr val="bg1"/>
                </a:solidFill>
              </a:rPr>
              <a:t>生産</a:t>
            </a:r>
            <a:endParaRPr lang="en-US" sz="950" dirty="0"/>
          </a:p>
        </p:txBody>
      </p:sp>
      <p:sp>
        <p:nvSpPr>
          <p:cNvPr id="21" name="Shape 19"/>
          <p:cNvSpPr/>
          <p:nvPr/>
        </p:nvSpPr>
        <p:spPr>
          <a:xfrm>
            <a:off x="7315200" y="3154680"/>
            <a:ext cx="438912" cy="274320"/>
          </a:xfrm>
          <a:prstGeom prst="roundRect">
            <a:avLst>
              <a:gd name="adj" fmla="val 50000"/>
            </a:avLst>
          </a:prstGeom>
          <a:solidFill>
            <a:schemeClr val="accent1"/>
          </a:solidFill>
          <a:ln w="12700">
            <a:solidFill>
              <a:schemeClr val="accent1"/>
            </a:solidFill>
            <a:prstDash val="solid"/>
          </a:ln>
        </p:spPr>
      </p:sp>
      <p:sp>
        <p:nvSpPr>
          <p:cNvPr id="22" name="Text 20"/>
          <p:cNvSpPr txBox="1"/>
          <p:nvPr/>
        </p:nvSpPr>
        <p:spPr>
          <a:xfrm>
            <a:off x="7315200" y="3154680"/>
            <a:ext cx="438912" cy="274320"/>
          </a:xfrm>
          <a:prstGeom prst="rect">
            <a:avLst/>
          </a:prstGeom>
          <a:noFill/>
          <a:ln/>
        </p:spPr>
        <p:txBody>
          <a:bodyPr wrap="square" lIns="0" tIns="0" rIns="0" bIns="0" rtlCol="0" anchor="ctr"/>
          <a:lstStyle/>
          <a:p>
            <a:pPr algn="ctr" indent="0" marL="0">
              <a:buNone/>
            </a:pPr>
            <a:r>
              <a:rPr lang="en-US" sz="950" b="1" dirty="0">
                <a:solidFill>
                  <a:schemeClr val="bg1"/>
                </a:solidFill>
              </a:rPr>
              <a:t>卸</a:t>
            </a:r>
            <a:endParaRPr lang="en-US" sz="950" dirty="0"/>
          </a:p>
        </p:txBody>
      </p:sp>
      <p:sp>
        <p:nvSpPr>
          <p:cNvPr id="23" name="Shape 21"/>
          <p:cNvSpPr/>
          <p:nvPr/>
        </p:nvSpPr>
        <p:spPr>
          <a:xfrm>
            <a:off x="7790688" y="3154680"/>
            <a:ext cx="438912" cy="274320"/>
          </a:xfrm>
          <a:prstGeom prst="roundRect">
            <a:avLst>
              <a:gd name="adj" fmla="val 50000"/>
            </a:avLst>
          </a:prstGeom>
          <a:solidFill>
            <a:schemeClr val="accent1"/>
          </a:solidFill>
          <a:ln w="12700">
            <a:solidFill>
              <a:schemeClr val="accent1"/>
            </a:solidFill>
            <a:prstDash val="solid"/>
          </a:ln>
        </p:spPr>
      </p:sp>
      <p:sp>
        <p:nvSpPr>
          <p:cNvPr id="24" name="Text 22"/>
          <p:cNvSpPr txBox="1"/>
          <p:nvPr/>
        </p:nvSpPr>
        <p:spPr>
          <a:xfrm>
            <a:off x="7790688" y="3154680"/>
            <a:ext cx="438912" cy="274320"/>
          </a:xfrm>
          <a:prstGeom prst="rect">
            <a:avLst/>
          </a:prstGeom>
          <a:noFill/>
          <a:ln/>
        </p:spPr>
        <p:txBody>
          <a:bodyPr wrap="square" lIns="0" tIns="0" rIns="0" bIns="0" rtlCol="0" anchor="ctr"/>
          <a:lstStyle/>
          <a:p>
            <a:pPr algn="ctr" indent="0" marL="0">
              <a:buNone/>
            </a:pPr>
            <a:r>
              <a:rPr lang="en-US" sz="950" b="1" dirty="0">
                <a:solidFill>
                  <a:schemeClr val="bg1"/>
                </a:solidFill>
              </a:rPr>
              <a:t>飲食</a:t>
            </a:r>
            <a:endParaRPr lang="en-US" sz="950" dirty="0"/>
          </a:p>
        </p:txBody>
      </p:sp>
      <p:sp>
        <p:nvSpPr>
          <p:cNvPr id="25" name="Shape 23"/>
          <p:cNvSpPr/>
          <p:nvPr/>
        </p:nvSpPr>
        <p:spPr>
          <a:xfrm>
            <a:off x="8266176" y="3154680"/>
            <a:ext cx="438912" cy="274320"/>
          </a:xfrm>
          <a:prstGeom prst="roundRect">
            <a:avLst>
              <a:gd name="adj" fmla="val 50000"/>
            </a:avLst>
          </a:prstGeom>
          <a:solidFill>
            <a:schemeClr val="accent1"/>
          </a:solidFill>
          <a:ln w="12700">
            <a:solidFill>
              <a:schemeClr val="accent1"/>
            </a:solidFill>
            <a:prstDash val="solid"/>
          </a:ln>
        </p:spPr>
      </p:sp>
      <p:sp>
        <p:nvSpPr>
          <p:cNvPr id="26" name="Text 24"/>
          <p:cNvSpPr txBox="1"/>
          <p:nvPr/>
        </p:nvSpPr>
        <p:spPr>
          <a:xfrm>
            <a:off x="8266176" y="3154680"/>
            <a:ext cx="438912" cy="274320"/>
          </a:xfrm>
          <a:prstGeom prst="rect">
            <a:avLst/>
          </a:prstGeom>
          <a:noFill/>
          <a:ln/>
        </p:spPr>
        <p:txBody>
          <a:bodyPr wrap="square" lIns="0" tIns="0" rIns="0" bIns="0" rtlCol="0" anchor="ctr"/>
          <a:lstStyle/>
          <a:p>
            <a:pPr algn="ctr" indent="0" marL="0">
              <a:buNone/>
            </a:pPr>
            <a:r>
              <a:rPr lang="en-US" sz="950" b="1" dirty="0">
                <a:solidFill>
                  <a:schemeClr val="bg1"/>
                </a:solidFill>
              </a:rPr>
              <a:t>不動産</a:t>
            </a:r>
            <a:endParaRPr lang="en-US" sz="950" dirty="0"/>
          </a:p>
        </p:txBody>
      </p:sp>
      <p:sp>
        <p:nvSpPr>
          <p:cNvPr id="27" name="flow arrow"/>
          <p:cNvSpPr/>
          <p:nvPr/>
        </p:nvSpPr>
        <p:spPr>
          <a:xfrm>
            <a:off x="8897112" y="2670048"/>
            <a:ext cx="201168" cy="274320"/>
          </a:xfrm>
          <a:prstGeom prst="chevron">
            <a:avLst/>
          </a:prstGeom>
          <a:solidFill>
            <a:schemeClr val="accent1"/>
          </a:solidFill>
          <a:ln w="12700">
            <a:solidFill>
              <a:schemeClr val="accent1"/>
            </a:solidFill>
            <a:prstDash val="solid"/>
          </a:ln>
        </p:spPr>
      </p:sp>
      <p:sp>
        <p:nvSpPr>
          <p:cNvPr id="28" name="step1 適正価格の幅"/>
          <p:cNvSpPr/>
          <p:nvPr/>
        </p:nvSpPr>
        <p:spPr>
          <a:xfrm>
            <a:off x="9144000" y="2011680"/>
            <a:ext cx="2176272" cy="1600200"/>
          </a:xfrm>
          <a:prstGeom prst="roundRect">
            <a:avLst>
              <a:gd name="adj" fmla="val 3429"/>
            </a:avLst>
          </a:prstGeom>
          <a:solidFill>
            <a:schemeClr val="bg2"/>
          </a:solidFill>
          <a:ln w="9525">
            <a:solidFill>
              <a:schemeClr val="accent3"/>
            </a:solidFill>
            <a:prstDash val="solid"/>
          </a:ln>
          <a:effectLst>
            <a:outerShdw sx="100000" sy="100000" kx="0" ky="0" algn="bl" rotWithShape="0" blurRad="76200" dist="25400" dir="5400000">
              <a:srgbClr val="6F665F">
                <a:alpha val="12000"/>
              </a:srgbClr>
            </a:outerShdw>
          </a:effectLst>
        </p:spPr>
      </p:sp>
      <p:sp>
        <p:nvSpPr>
          <p:cNvPr id="29" name="Text 27"/>
          <p:cNvSpPr txBox="1"/>
          <p:nvPr/>
        </p:nvSpPr>
        <p:spPr>
          <a:xfrm>
            <a:off x="9308592" y="2103120"/>
            <a:ext cx="1874520" cy="365760"/>
          </a:xfrm>
          <a:prstGeom prst="rect">
            <a:avLst/>
          </a:prstGeom>
          <a:noFill/>
          <a:ln/>
        </p:spPr>
        <p:txBody>
          <a:bodyPr wrap="square" lIns="0" tIns="0" rIns="0" bIns="0" rtlCol="0" anchor="t"/>
          <a:lstStyle/>
          <a:p>
            <a:pPr indent="0" marL="0">
              <a:buNone/>
            </a:pPr>
            <a:r>
              <a:rPr lang="en-US" sz="1400" b="1" dirty="0">
                <a:solidFill>
                  <a:schemeClr val="tx1"/>
                </a:solidFill>
              </a:rPr>
              <a:t>適正価格の幅</a:t>
            </a:r>
            <a:endParaRPr lang="en-US" sz="1400" dirty="0"/>
          </a:p>
        </p:txBody>
      </p:sp>
      <p:sp>
        <p:nvSpPr>
          <p:cNvPr id="30" name="Text 28"/>
          <p:cNvSpPr txBox="1"/>
          <p:nvPr/>
        </p:nvSpPr>
        <p:spPr>
          <a:xfrm>
            <a:off x="9308592" y="2487168"/>
            <a:ext cx="1874520" cy="1051560"/>
          </a:xfrm>
          <a:prstGeom prst="rect">
            <a:avLst/>
          </a:prstGeom>
          <a:noFill/>
          <a:ln/>
        </p:spPr>
        <p:txBody>
          <a:bodyPr wrap="square" lIns="0" tIns="0" rIns="0" bIns="0" rtlCol="0" anchor="t"/>
          <a:lstStyle/>
          <a:p>
            <a:pPr indent="0" marL="0">
              <a:buNone/>
            </a:pPr>
            <a:r>
              <a:rPr lang="en-US" sz="1050" dirty="0">
                <a:solidFill>
                  <a:schemeClr val="accent2"/>
                </a:solidFill>
              </a:rPr>
              <a:t>業種×規模ごとのEBITDA倍率・純資産倍率で「高い／妥当／安い」を判定</a:t>
            </a:r>
            <a:endParaRPr lang="en-US" sz="1050" dirty="0"/>
          </a:p>
        </p:txBody>
      </p:sp>
      <p:sp>
        <p:nvSpPr>
          <p:cNvPr id="31" name="step label 2"/>
          <p:cNvSpPr/>
          <p:nvPr/>
        </p:nvSpPr>
        <p:spPr>
          <a:xfrm>
            <a:off x="685800" y="3794760"/>
            <a:ext cx="868680" cy="1600200"/>
          </a:xfrm>
          <a:prstGeom prst="roundRect">
            <a:avLst>
              <a:gd name="adj" fmla="val 6316"/>
            </a:avLst>
          </a:prstGeom>
          <a:solidFill>
            <a:schemeClr val="accent1"/>
          </a:solidFill>
          <a:ln w="12700">
            <a:solidFill>
              <a:schemeClr val="accent1"/>
            </a:solidFill>
            <a:prstDash val="solid"/>
          </a:ln>
        </p:spPr>
      </p:sp>
      <p:sp>
        <p:nvSpPr>
          <p:cNvPr id="32" name="Text 30"/>
          <p:cNvSpPr txBox="1"/>
          <p:nvPr/>
        </p:nvSpPr>
        <p:spPr>
          <a:xfrm>
            <a:off x="685800" y="3794760"/>
            <a:ext cx="868680" cy="1600200"/>
          </a:xfrm>
          <a:prstGeom prst="rect">
            <a:avLst/>
          </a:prstGeom>
          <a:noFill/>
          <a:ln/>
        </p:spPr>
        <p:txBody>
          <a:bodyPr wrap="square" lIns="0" tIns="0" rIns="0" bIns="0" rtlCol="0" anchor="ctr"/>
          <a:lstStyle/>
          <a:p>
            <a:pPr algn="ctr" indent="0" marL="0">
              <a:buNone/>
            </a:pPr>
            <a:r>
              <a:rPr lang="en-US" sz="950" b="1" dirty="0">
                <a:solidFill>
                  <a:schemeClr val="bg1"/>
                </a:solidFill>
              </a:rPr>
              <a:t>STEP</a:t>
            </a:r>
            <a:endParaRPr lang="en-US" sz="1300" dirty="0"/>
          </a:p>
          <a:p>
            <a:pPr algn="ctr" indent="0" marL="0">
              <a:buNone/>
            </a:pPr>
            <a:r>
              <a:rPr lang="en-US" sz="2400" b="1" dirty="0">
                <a:solidFill>
                  <a:schemeClr val="bg1"/>
                </a:solidFill>
              </a:rPr>
              <a:t>2</a:t>
            </a:r>
            <a:endParaRPr lang="en-US" sz="1300" dirty="0"/>
          </a:p>
          <a:p>
            <a:pPr algn="ctr" indent="0" marL="0">
              <a:buNone/>
            </a:pPr>
            <a:r>
              <a:rPr lang="en-US" sz="1050" b="1" dirty="0">
                <a:solidFill>
                  <a:schemeClr val="bg1"/>
                </a:solidFill>
              </a:rPr>
              <a:t>支援中・後</a:t>
            </a:r>
            <a:endParaRPr lang="en-US" sz="1300" dirty="0"/>
          </a:p>
        </p:txBody>
      </p:sp>
      <p:sp>
        <p:nvSpPr>
          <p:cNvPr id="33" name="input im"/>
          <p:cNvSpPr/>
          <p:nvPr/>
        </p:nvSpPr>
        <p:spPr>
          <a:xfrm>
            <a:off x="1737360" y="3794760"/>
            <a:ext cx="2103120" cy="731520"/>
          </a:xfrm>
          <a:prstGeom prst="roundRect">
            <a:avLst>
              <a:gd name="adj" fmla="val 7500"/>
            </a:avLst>
          </a:prstGeom>
          <a:solidFill>
            <a:schemeClr val="bg2"/>
          </a:solidFill>
          <a:ln w="9525">
            <a:solidFill>
              <a:schemeClr val="accent3"/>
            </a:solidFill>
            <a:prstDash val="solid"/>
          </a:ln>
          <a:effectLst>
            <a:outerShdw sx="100000" sy="100000" kx="0" ky="0" algn="bl" rotWithShape="0" blurRad="76200" dist="25400" dir="5400000">
              <a:srgbClr val="6F665F">
                <a:alpha val="12000"/>
              </a:srgbClr>
            </a:outerShdw>
          </a:effectLst>
        </p:spPr>
      </p:sp>
      <p:sp>
        <p:nvSpPr>
          <p:cNvPr id="34" name="Text 32"/>
          <p:cNvSpPr txBox="1"/>
          <p:nvPr/>
        </p:nvSpPr>
        <p:spPr>
          <a:xfrm>
            <a:off x="1901952" y="3794760"/>
            <a:ext cx="1828800" cy="731520"/>
          </a:xfrm>
          <a:prstGeom prst="rect">
            <a:avLst/>
          </a:prstGeom>
          <a:noFill/>
          <a:ln/>
        </p:spPr>
        <p:txBody>
          <a:bodyPr wrap="square" lIns="0" tIns="0" rIns="0" bIns="0" rtlCol="0" anchor="ctr"/>
          <a:lstStyle/>
          <a:p>
            <a:pPr indent="0" marL="0">
              <a:buNone/>
            </a:pPr>
            <a:r>
              <a:rPr lang="en-US" sz="1250" b="1" dirty="0">
                <a:solidFill>
                  <a:schemeClr val="tx1"/>
                </a:solidFill>
              </a:rPr>
              <a:t>検討した全IM</a:t>
            </a:r>
            <a:endParaRPr lang="en-US" sz="1250" dirty="0"/>
          </a:p>
          <a:p>
            <a:pPr indent="0" marL="0">
              <a:buNone/>
            </a:pPr>
            <a:r>
              <a:rPr lang="en-US" sz="1000" dirty="0">
                <a:solidFill>
                  <a:schemeClr val="accent2"/>
                </a:solidFill>
              </a:rPr>
              <a:t>NDA後に受け取った資料をすべて</a:t>
            </a:r>
            <a:endParaRPr lang="en-US" sz="1250" dirty="0"/>
          </a:p>
        </p:txBody>
      </p:sp>
      <p:sp>
        <p:nvSpPr>
          <p:cNvPr id="35" name="input own"/>
          <p:cNvSpPr/>
          <p:nvPr/>
        </p:nvSpPr>
        <p:spPr>
          <a:xfrm>
            <a:off x="1737360" y="4663440"/>
            <a:ext cx="2103120" cy="731520"/>
          </a:xfrm>
          <a:prstGeom prst="roundRect">
            <a:avLst>
              <a:gd name="adj" fmla="val 7500"/>
            </a:avLst>
          </a:prstGeom>
          <a:solidFill>
            <a:schemeClr val="bg2"/>
          </a:solidFill>
          <a:ln w="9525">
            <a:solidFill>
              <a:schemeClr val="accent3"/>
            </a:solidFill>
            <a:prstDash val="solid"/>
          </a:ln>
          <a:effectLst>
            <a:outerShdw sx="100000" sy="100000" kx="0" ky="0" algn="bl" rotWithShape="0" blurRad="76200" dist="25400" dir="5400000">
              <a:srgbClr val="6F665F">
                <a:alpha val="12000"/>
              </a:srgbClr>
            </a:outerShdw>
          </a:effectLst>
        </p:spPr>
      </p:sp>
      <p:sp>
        <p:nvSpPr>
          <p:cNvPr id="36" name="Text 34"/>
          <p:cNvSpPr txBox="1"/>
          <p:nvPr/>
        </p:nvSpPr>
        <p:spPr>
          <a:xfrm>
            <a:off x="1901952" y="4663440"/>
            <a:ext cx="1828800" cy="731520"/>
          </a:xfrm>
          <a:prstGeom prst="rect">
            <a:avLst/>
          </a:prstGeom>
          <a:noFill/>
          <a:ln/>
        </p:spPr>
        <p:txBody>
          <a:bodyPr wrap="square" lIns="0" tIns="0" rIns="0" bIns="0" rtlCol="0" anchor="ctr"/>
          <a:lstStyle/>
          <a:p>
            <a:pPr indent="0" marL="0">
              <a:buNone/>
            </a:pPr>
            <a:r>
              <a:rPr lang="en-US" sz="1250" b="1" dirty="0">
                <a:solidFill>
                  <a:schemeClr val="tx1"/>
                </a:solidFill>
              </a:rPr>
              <a:t>自社のBS/PL・強み</a:t>
            </a:r>
            <a:endParaRPr lang="en-US" sz="1250" dirty="0"/>
          </a:p>
          <a:p>
            <a:pPr indent="0" marL="0">
              <a:buNone/>
            </a:pPr>
            <a:r>
              <a:rPr lang="en-US" sz="1000" dirty="0">
                <a:solidFill>
                  <a:schemeClr val="accent2"/>
                </a:solidFill>
              </a:rPr>
              <a:t>顧客基盤・拠点・人材・仕入・技術</a:t>
            </a:r>
            <a:endParaRPr lang="en-US" sz="1250" dirty="0"/>
          </a:p>
        </p:txBody>
      </p:sp>
      <p:sp>
        <p:nvSpPr>
          <p:cNvPr id="37" name="flow arrow"/>
          <p:cNvSpPr/>
          <p:nvPr/>
        </p:nvSpPr>
        <p:spPr>
          <a:xfrm>
            <a:off x="3931920" y="4462272"/>
            <a:ext cx="201168" cy="274320"/>
          </a:xfrm>
          <a:prstGeom prst="chevron">
            <a:avLst/>
          </a:prstGeom>
          <a:solidFill>
            <a:schemeClr val="accent1"/>
          </a:solidFill>
          <a:ln w="12700">
            <a:solidFill>
              <a:schemeClr val="accent1"/>
            </a:solidFill>
            <a:prstDash val="solid"/>
          </a:ln>
        </p:spPr>
      </p:sp>
      <p:sp>
        <p:nvSpPr>
          <p:cNvPr id="38" name="cross analysis"/>
          <p:cNvSpPr/>
          <p:nvPr/>
        </p:nvSpPr>
        <p:spPr>
          <a:xfrm>
            <a:off x="4224528" y="3794760"/>
            <a:ext cx="2514600" cy="1600200"/>
          </a:xfrm>
          <a:prstGeom prst="roundRect">
            <a:avLst>
              <a:gd name="adj" fmla="val 3429"/>
            </a:avLst>
          </a:prstGeom>
          <a:solidFill>
            <a:schemeClr val="accent1"/>
          </a:solidFill>
          <a:ln w="12700">
            <a:solidFill>
              <a:schemeClr val="accent1"/>
            </a:solidFill>
            <a:prstDash val="solid"/>
          </a:ln>
        </p:spPr>
      </p:sp>
      <p:sp>
        <p:nvSpPr>
          <p:cNvPr id="39" name="Text 37"/>
          <p:cNvSpPr txBox="1"/>
          <p:nvPr/>
        </p:nvSpPr>
        <p:spPr>
          <a:xfrm>
            <a:off x="4389120" y="3794760"/>
            <a:ext cx="2194560" cy="1600200"/>
          </a:xfrm>
          <a:prstGeom prst="rect">
            <a:avLst/>
          </a:prstGeom>
          <a:noFill/>
          <a:ln/>
        </p:spPr>
        <p:txBody>
          <a:bodyPr wrap="square" lIns="0" tIns="0" rIns="0" bIns="0" rtlCol="0" anchor="ctr"/>
          <a:lstStyle/>
          <a:p>
            <a:pPr indent="0" marL="0">
              <a:buNone/>
            </a:pPr>
            <a:r>
              <a:rPr lang="en-US" sz="1400" b="1" dirty="0">
                <a:solidFill>
                  <a:schemeClr val="bg1"/>
                </a:solidFill>
              </a:rPr>
              <a:t>AIで掛け合わせ分析</a:t>
            </a:r>
            <a:endParaRPr lang="en-US" sz="1300" dirty="0"/>
          </a:p>
          <a:p>
            <a:pPr indent="0" marL="0">
              <a:buNone/>
            </a:pPr>
            <a:r>
              <a:rPr lang="en-US" sz="500" dirty="0">
                <a:solidFill>
                  <a:schemeClr val="bg1"/>
                </a:solidFill>
              </a:rPr>
              <a:t> </a:t>
            </a:r>
            <a:endParaRPr lang="en-US" sz="1300" dirty="0"/>
          </a:p>
          <a:p>
            <a:pPr indent="0" marL="0">
              <a:buNone/>
            </a:pPr>
            <a:r>
              <a:rPr lang="en-US" sz="1050" dirty="0">
                <a:solidFill>
                  <a:schemeClr val="bg1"/>
                </a:solidFill>
              </a:rPr>
              <a:t>相手のIM×自社の数字と強みを突き合わせ、データベースの相場と比べる</a:t>
            </a:r>
            <a:endParaRPr lang="en-US" sz="1300" dirty="0"/>
          </a:p>
        </p:txBody>
      </p:sp>
      <p:sp>
        <p:nvSpPr>
          <p:cNvPr id="40" name="flow arrow"/>
          <p:cNvSpPr/>
          <p:nvPr/>
        </p:nvSpPr>
        <p:spPr>
          <a:xfrm>
            <a:off x="6830568" y="4462272"/>
            <a:ext cx="201168" cy="274320"/>
          </a:xfrm>
          <a:prstGeom prst="chevron">
            <a:avLst/>
          </a:prstGeom>
          <a:solidFill>
            <a:schemeClr val="accent1"/>
          </a:solidFill>
          <a:ln w="12700">
            <a:solidFill>
              <a:schemeClr val="accent1"/>
            </a:solidFill>
            <a:prstDash val="solid"/>
          </a:ln>
        </p:spPr>
      </p:sp>
      <p:sp>
        <p:nvSpPr>
          <p:cNvPr id="41" name="outputs"/>
          <p:cNvSpPr/>
          <p:nvPr/>
        </p:nvSpPr>
        <p:spPr>
          <a:xfrm>
            <a:off x="7132320" y="3794760"/>
            <a:ext cx="4370832" cy="1600200"/>
          </a:xfrm>
          <a:prstGeom prst="roundRect">
            <a:avLst>
              <a:gd name="adj" fmla="val 3429"/>
            </a:avLst>
          </a:prstGeom>
          <a:solidFill>
            <a:schemeClr val="bg2"/>
          </a:solidFill>
          <a:ln w="9525">
            <a:solidFill>
              <a:schemeClr val="accent3"/>
            </a:solidFill>
            <a:prstDash val="solid"/>
          </a:ln>
          <a:effectLst>
            <a:outerShdw sx="100000" sy="100000" kx="0" ky="0" algn="bl" rotWithShape="0" blurRad="76200" dist="25400" dir="5400000">
              <a:srgbClr val="6F665F">
                <a:alpha val="12000"/>
              </a:srgbClr>
            </a:outerShdw>
          </a:effectLst>
        </p:spPr>
      </p:sp>
      <p:sp>
        <p:nvSpPr>
          <p:cNvPr id="42" name="Text 40"/>
          <p:cNvSpPr txBox="1"/>
          <p:nvPr/>
        </p:nvSpPr>
        <p:spPr>
          <a:xfrm>
            <a:off x="7315200" y="3858768"/>
            <a:ext cx="1828800" cy="292608"/>
          </a:xfrm>
          <a:prstGeom prst="rect">
            <a:avLst/>
          </a:prstGeom>
          <a:noFill/>
          <a:ln/>
        </p:spPr>
        <p:txBody>
          <a:bodyPr wrap="square" lIns="0" tIns="0" rIns="0" bIns="0" rtlCol="0" anchor="t"/>
          <a:lstStyle/>
          <a:p>
            <a:pPr indent="0" marL="0">
              <a:buNone/>
            </a:pPr>
            <a:r>
              <a:rPr lang="en-US" sz="1100" b="1" dirty="0">
                <a:solidFill>
                  <a:schemeClr val="accent1"/>
                </a:solidFill>
              </a:rPr>
              <a:t>アウトプット</a:t>
            </a:r>
            <a:endParaRPr lang="en-US" sz="1100" dirty="0"/>
          </a:p>
        </p:txBody>
      </p:sp>
      <p:sp>
        <p:nvSpPr>
          <p:cNvPr id="43" name="out 1"/>
          <p:cNvSpPr/>
          <p:nvPr/>
        </p:nvSpPr>
        <p:spPr>
          <a:xfrm>
            <a:off x="7315200" y="4206240"/>
            <a:ext cx="1947672" cy="457200"/>
          </a:xfrm>
          <a:prstGeom prst="roundRect">
            <a:avLst>
              <a:gd name="adj" fmla="val 10000"/>
            </a:avLst>
          </a:prstGeom>
          <a:solidFill>
            <a:schemeClr val="bg1"/>
          </a:solidFill>
          <a:ln w="12700">
            <a:solidFill>
              <a:schemeClr val="accent3"/>
            </a:solidFill>
            <a:prstDash val="solid"/>
          </a:ln>
        </p:spPr>
      </p:sp>
      <p:sp>
        <p:nvSpPr>
          <p:cNvPr id="44" name="Text 42"/>
          <p:cNvSpPr txBox="1"/>
          <p:nvPr/>
        </p:nvSpPr>
        <p:spPr>
          <a:xfrm>
            <a:off x="7315200" y="4206240"/>
            <a:ext cx="1947672" cy="457200"/>
          </a:xfrm>
          <a:prstGeom prst="rect">
            <a:avLst/>
          </a:prstGeom>
          <a:noFill/>
          <a:ln/>
        </p:spPr>
        <p:txBody>
          <a:bodyPr wrap="square" lIns="0" tIns="0" rIns="0" bIns="0" rtlCol="0" anchor="ctr"/>
          <a:lstStyle/>
          <a:p>
            <a:pPr algn="ctr" indent="0" marL="0">
              <a:buNone/>
            </a:pPr>
            <a:r>
              <a:rPr lang="en-US" sz="1000" b="1" dirty="0">
                <a:solidFill>
                  <a:schemeClr val="tx1"/>
                </a:solidFill>
              </a:rPr>
              <a:t>適正価格と交渉の上限</a:t>
            </a:r>
            <a:endParaRPr lang="en-US" sz="1000" dirty="0"/>
          </a:p>
        </p:txBody>
      </p:sp>
      <p:sp>
        <p:nvSpPr>
          <p:cNvPr id="45" name="out 2"/>
          <p:cNvSpPr/>
          <p:nvPr/>
        </p:nvSpPr>
        <p:spPr>
          <a:xfrm>
            <a:off x="9372600" y="4206240"/>
            <a:ext cx="1947672" cy="457200"/>
          </a:xfrm>
          <a:prstGeom prst="roundRect">
            <a:avLst>
              <a:gd name="adj" fmla="val 10000"/>
            </a:avLst>
          </a:prstGeom>
          <a:solidFill>
            <a:schemeClr val="bg1"/>
          </a:solidFill>
          <a:ln w="12700">
            <a:solidFill>
              <a:schemeClr val="accent3"/>
            </a:solidFill>
            <a:prstDash val="solid"/>
          </a:ln>
        </p:spPr>
      </p:sp>
      <p:sp>
        <p:nvSpPr>
          <p:cNvPr id="46" name="Text 44"/>
          <p:cNvSpPr txBox="1"/>
          <p:nvPr/>
        </p:nvSpPr>
        <p:spPr>
          <a:xfrm>
            <a:off x="9372600" y="4206240"/>
            <a:ext cx="1947672" cy="457200"/>
          </a:xfrm>
          <a:prstGeom prst="rect">
            <a:avLst/>
          </a:prstGeom>
          <a:noFill/>
          <a:ln/>
        </p:spPr>
        <p:txBody>
          <a:bodyPr wrap="square" lIns="0" tIns="0" rIns="0" bIns="0" rtlCol="0" anchor="ctr"/>
          <a:lstStyle/>
          <a:p>
            <a:pPr algn="ctr" indent="0" marL="0">
              <a:buNone/>
            </a:pPr>
            <a:r>
              <a:rPr lang="en-US" sz="1000" b="1" dirty="0">
                <a:solidFill>
                  <a:schemeClr val="tx1"/>
                </a:solidFill>
              </a:rPr>
              <a:t>シナジー試算（売上・コスト）</a:t>
            </a:r>
            <a:endParaRPr lang="en-US" sz="1000" dirty="0"/>
          </a:p>
        </p:txBody>
      </p:sp>
      <p:sp>
        <p:nvSpPr>
          <p:cNvPr id="47" name="out 3"/>
          <p:cNvSpPr/>
          <p:nvPr/>
        </p:nvSpPr>
        <p:spPr>
          <a:xfrm>
            <a:off x="7315200" y="4754880"/>
            <a:ext cx="1947672" cy="457200"/>
          </a:xfrm>
          <a:prstGeom prst="roundRect">
            <a:avLst>
              <a:gd name="adj" fmla="val 10000"/>
            </a:avLst>
          </a:prstGeom>
          <a:solidFill>
            <a:schemeClr val="bg1"/>
          </a:solidFill>
          <a:ln w="12700">
            <a:solidFill>
              <a:schemeClr val="accent3"/>
            </a:solidFill>
            <a:prstDash val="solid"/>
          </a:ln>
        </p:spPr>
      </p:sp>
      <p:sp>
        <p:nvSpPr>
          <p:cNvPr id="48" name="Text 46"/>
          <p:cNvSpPr txBox="1"/>
          <p:nvPr/>
        </p:nvSpPr>
        <p:spPr>
          <a:xfrm>
            <a:off x="7315200" y="4754880"/>
            <a:ext cx="1947672" cy="457200"/>
          </a:xfrm>
          <a:prstGeom prst="rect">
            <a:avLst/>
          </a:prstGeom>
          <a:noFill/>
          <a:ln/>
        </p:spPr>
        <p:txBody>
          <a:bodyPr wrap="square" lIns="0" tIns="0" rIns="0" bIns="0" rtlCol="0" anchor="ctr"/>
          <a:lstStyle/>
          <a:p>
            <a:pPr algn="ctr" indent="0" marL="0">
              <a:buNone/>
            </a:pPr>
            <a:r>
              <a:rPr lang="en-US" sz="1000" b="1" dirty="0">
                <a:solidFill>
                  <a:schemeClr val="tx1"/>
                </a:solidFill>
              </a:rPr>
              <a:t>借入余力と資金計画</a:t>
            </a:r>
            <a:endParaRPr lang="en-US" sz="1000" dirty="0"/>
          </a:p>
        </p:txBody>
      </p:sp>
      <p:sp>
        <p:nvSpPr>
          <p:cNvPr id="49" name="out 4"/>
          <p:cNvSpPr/>
          <p:nvPr/>
        </p:nvSpPr>
        <p:spPr>
          <a:xfrm>
            <a:off x="9372600" y="4754880"/>
            <a:ext cx="1947672" cy="457200"/>
          </a:xfrm>
          <a:prstGeom prst="roundRect">
            <a:avLst>
              <a:gd name="adj" fmla="val 10000"/>
            </a:avLst>
          </a:prstGeom>
          <a:solidFill>
            <a:schemeClr val="bg1"/>
          </a:solidFill>
          <a:ln w="12700">
            <a:solidFill>
              <a:schemeClr val="accent3"/>
            </a:solidFill>
            <a:prstDash val="solid"/>
          </a:ln>
        </p:spPr>
      </p:sp>
      <p:sp>
        <p:nvSpPr>
          <p:cNvPr id="50" name="Text 48"/>
          <p:cNvSpPr txBox="1"/>
          <p:nvPr/>
        </p:nvSpPr>
        <p:spPr>
          <a:xfrm>
            <a:off x="9372600" y="4754880"/>
            <a:ext cx="1947672" cy="457200"/>
          </a:xfrm>
          <a:prstGeom prst="rect">
            <a:avLst/>
          </a:prstGeom>
          <a:noFill/>
          <a:ln/>
        </p:spPr>
        <p:txBody>
          <a:bodyPr wrap="square" lIns="0" tIns="0" rIns="0" bIns="0" rtlCol="0" anchor="ctr"/>
          <a:lstStyle/>
          <a:p>
            <a:pPr algn="ctr" indent="0" marL="0">
              <a:buNone/>
            </a:pPr>
            <a:r>
              <a:rPr lang="en-US" sz="1000" b="1" dirty="0">
                <a:solidFill>
                  <a:schemeClr val="tx1"/>
                </a:solidFill>
              </a:rPr>
              <a:t>レッドフラグとPMIの論点</a:t>
            </a:r>
            <a:endParaRPr lang="en-US" sz="1000" dirty="0"/>
          </a:p>
        </p:txBody>
      </p:sp>
      <p:sp>
        <p:nvSpPr>
          <p:cNvPr id="51" name="Shape 49"/>
          <p:cNvSpPr/>
          <p:nvPr/>
        </p:nvSpPr>
        <p:spPr>
          <a:xfrm>
            <a:off x="9326880" y="3657600"/>
            <a:ext cx="2057400" cy="274320"/>
          </a:xfrm>
          <a:prstGeom prst="roundRect">
            <a:avLst>
              <a:gd name="adj" fmla="val 50000"/>
            </a:avLst>
          </a:prstGeom>
          <a:solidFill>
            <a:schemeClr val="accent3"/>
          </a:solidFill>
          <a:ln w="12700">
            <a:solidFill>
              <a:schemeClr val="accent3"/>
            </a:solidFill>
            <a:prstDash val="solid"/>
          </a:ln>
        </p:spPr>
      </p:sp>
      <p:sp>
        <p:nvSpPr>
          <p:cNvPr id="52" name="Text 50"/>
          <p:cNvSpPr txBox="1"/>
          <p:nvPr/>
        </p:nvSpPr>
        <p:spPr>
          <a:xfrm>
            <a:off x="9326880" y="3657600"/>
            <a:ext cx="2057400" cy="274320"/>
          </a:xfrm>
          <a:prstGeom prst="rect">
            <a:avLst/>
          </a:prstGeom>
          <a:noFill/>
          <a:ln/>
        </p:spPr>
        <p:txBody>
          <a:bodyPr wrap="square" lIns="0" tIns="0" rIns="0" bIns="0" rtlCol="0" anchor="ctr"/>
          <a:lstStyle/>
          <a:p>
            <a:pPr algn="ctr" indent="0" marL="0">
              <a:buNone/>
            </a:pPr>
            <a:r>
              <a:rPr lang="en-US" sz="950" b="1" dirty="0">
                <a:solidFill>
                  <a:schemeClr val="tx1"/>
                </a:solidFill>
              </a:rPr>
              <a:t>↑ 匿名化してDBへ還元</a:t>
            </a:r>
            <a:endParaRPr lang="en-US" sz="950" dirty="0"/>
          </a:p>
        </p:txBody>
      </p:sp>
      <p:sp>
        <p:nvSpPr>
          <p:cNvPr id="53" name="Text 51"/>
          <p:cNvSpPr txBox="1"/>
          <p:nvPr/>
        </p:nvSpPr>
        <p:spPr>
          <a:xfrm>
            <a:off x="685800" y="5623560"/>
            <a:ext cx="10820095" cy="320040"/>
          </a:xfrm>
          <a:prstGeom prst="rect">
            <a:avLst/>
          </a:prstGeom>
          <a:noFill/>
          <a:ln/>
        </p:spPr>
        <p:txBody>
          <a:bodyPr wrap="square" lIns="0" tIns="0" rIns="0" bIns="0" rtlCol="0" anchor="t"/>
          <a:lstStyle/>
          <a:p>
            <a:pPr indent="0" marL="0">
              <a:buNone/>
            </a:pPr>
            <a:r>
              <a:rPr lang="en-US" sz="1200" b="1" i="1" dirty="0">
                <a:solidFill>
                  <a:schemeClr val="accent1"/>
                </a:solidFill>
              </a:rPr>
              <a:t>使うほど相場の精度が上がる。守秘義務：IMはNDAの範囲内でのみ利用し、DB化は開示元の同意を得た項目を社名が分からない形に加工して行う</a:t>
            </a:r>
            <a:endParaRPr lang="en-US" sz="1200" dirty="0"/>
          </a:p>
        </p:txBody>
      </p:sp>
      <p:sp>
        <p:nvSpPr>
          <p:cNvPr id="25" name="Slide Number Placeholder 0"/>
          <p:cNvSpPr>
            <a:spLocks noGrp="1"/>
          </p:cNvSpPr>
          <p:nvPr>
            <p:ph type="sldNum" sz="quarter" idx="4294967295"/>
          </p:nvPr>
        </p:nvSpPr>
        <p:spPr>
          <a:xfrm>
            <a:off x="10957255"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kicker dot"/>
          <p:cNvSpPr/>
          <p:nvPr/>
        </p:nvSpPr>
        <p:spPr>
          <a:xfrm>
            <a:off x="685800" y="484632"/>
            <a:ext cx="109728" cy="109728"/>
          </a:xfrm>
          <a:prstGeom prst="ellipse">
            <a:avLst/>
          </a:prstGeom>
          <a:solidFill>
            <a:schemeClr val="accent1"/>
          </a:solidFill>
          <a:ln w="12700">
            <a:solidFill>
              <a:schemeClr val="accent1"/>
            </a:solidFill>
            <a:prstDash val="solid"/>
          </a:ln>
        </p:spPr>
      </p:sp>
      <p:sp>
        <p:nvSpPr>
          <p:cNvPr id="3" name="Text 0"/>
          <p:cNvSpPr/>
          <p:nvPr>
            <p:ph idx="100" type="body" hasCustomPrompt="1"/>
          </p:nvPr>
        </p:nvSpPr>
        <p:spPr>
          <a:xfrm>
            <a:off x="923544" y="365760"/>
            <a:ext cx="9601200" cy="329184"/>
          </a:xfrm>
          <a:prstGeom prst="rect">
            <a:avLst/>
          </a:prstGeom>
          <a:noFill/>
          <a:ln/>
        </p:spPr>
        <p:txBody>
          <a:bodyPr wrap="square" lIns="0" tIns="0" rIns="0" bIns="0" rtlCol="0" anchor="ctr"/>
          <a:lstStyle/>
          <a:p>
            <a:pPr indent="0" marL="0">
              <a:buNone/>
            </a:pPr>
            <a:r>
              <a:rPr lang="en-US" sz="1200" b="1" spc="240" kern="0" dirty="0">
                <a:solidFill>
                  <a:schemeClr val="accent1"/>
                </a:solidFill>
              </a:rPr>
              <a:t>POSITIONING</a:t>
            </a:r>
            <a:endParaRPr lang="en-US" sz="1200" dirty="0"/>
          </a:p>
        </p:txBody>
      </p:sp>
      <p:sp>
        <p:nvSpPr>
          <p:cNvPr id="4" name="Text 0"/>
          <p:cNvSpPr/>
          <p:nvPr>
            <p:ph idx="101" type="title" hasCustomPrompt="1"/>
          </p:nvPr>
        </p:nvSpPr>
        <p:spPr>
          <a:xfrm>
            <a:off x="685800" y="749808"/>
            <a:ext cx="10820095" cy="731520"/>
          </a:xfrm>
          <a:prstGeom prst="rect">
            <a:avLst/>
          </a:prstGeom>
          <a:noFill/>
          <a:ln/>
        </p:spPr>
        <p:txBody>
          <a:bodyPr wrap="square" lIns="0" tIns="0" rIns="0" bIns="0" rtlCol="0" anchor="ctr"/>
          <a:lstStyle/>
          <a:p>
            <a:pPr algn="l" indent="0" marL="0">
              <a:buNone/>
            </a:pPr>
            <a:r>
              <a:rPr lang="en-US" sz="3000" b="1" dirty="0">
                <a:solidFill>
                  <a:schemeClr val="tx1"/>
                </a:solidFill>
              </a:rPr>
              <a:t>仲介でもマッチングサイトでもない、第三の選択肢</a:t>
            </a:r>
            <a:endParaRPr lang="en-US" sz="3000" dirty="0"/>
          </a:p>
        </p:txBody>
      </p:sp>
      <p:sp>
        <p:nvSpPr>
          <p:cNvPr id="5" name="Text 0"/>
          <p:cNvSpPr/>
          <p:nvPr>
            <p:ph idx="102" type="body" hasCustomPrompt="1"/>
          </p:nvPr>
        </p:nvSpPr>
        <p:spPr>
          <a:xfrm>
            <a:off x="685800" y="1481328"/>
            <a:ext cx="10820095" cy="365760"/>
          </a:xfrm>
          <a:prstGeom prst="rect">
            <a:avLst/>
          </a:prstGeom>
          <a:noFill/>
          <a:ln/>
        </p:spPr>
        <p:txBody>
          <a:bodyPr wrap="square" lIns="0" tIns="0" rIns="0" bIns="0" rtlCol="0" anchor="t"/>
          <a:lstStyle/>
          <a:p>
            <a:pPr indent="0" marL="0">
              <a:buNone/>
            </a:pPr>
            <a:r>
              <a:rPr lang="en-US" sz="1350" dirty="0">
                <a:solidFill>
                  <a:schemeClr val="accent2"/>
                </a:solidFill>
              </a:rPr>
              <a:t>「買い手の味方」として「成功まで伴走する」のは、ここだけ</a:t>
            </a:r>
            <a:endParaRPr lang="en-US" sz="1350" dirty="0"/>
          </a:p>
        </p:txBody>
      </p:sp>
      <p:sp>
        <p:nvSpPr>
          <p:cNvPr id="6" name="map bg"/>
          <p:cNvSpPr/>
          <p:nvPr/>
        </p:nvSpPr>
        <p:spPr>
          <a:xfrm>
            <a:off x="685800" y="2103120"/>
            <a:ext cx="5394960" cy="3429000"/>
          </a:xfrm>
          <a:prstGeom prst="rect">
            <a:avLst/>
          </a:prstGeom>
          <a:solidFill>
            <a:schemeClr val="bg2"/>
          </a:solidFill>
          <a:ln w="12700">
            <a:solidFill>
              <a:schemeClr val="accent3"/>
            </a:solidFill>
            <a:prstDash val="solid"/>
          </a:ln>
        </p:spPr>
      </p:sp>
      <p:sp>
        <p:nvSpPr>
          <p:cNvPr id="7" name="Shape 5"/>
          <p:cNvSpPr/>
          <p:nvPr/>
        </p:nvSpPr>
        <p:spPr>
          <a:xfrm>
            <a:off x="685800" y="3817620"/>
            <a:ext cx="5394960" cy="0"/>
          </a:xfrm>
          <a:prstGeom prst="line">
            <a:avLst/>
          </a:prstGeom>
          <a:noFill/>
          <a:ln w="9525">
            <a:solidFill>
              <a:srgbClr val="9A8F84"/>
            </a:solidFill>
            <a:prstDash val="dash"/>
          </a:ln>
        </p:spPr>
      </p:sp>
      <p:sp>
        <p:nvSpPr>
          <p:cNvPr id="8" name="Shape 6"/>
          <p:cNvSpPr/>
          <p:nvPr/>
        </p:nvSpPr>
        <p:spPr>
          <a:xfrm>
            <a:off x="3383280" y="2103120"/>
            <a:ext cx="0" cy="3429000"/>
          </a:xfrm>
          <a:prstGeom prst="line">
            <a:avLst/>
          </a:prstGeom>
          <a:noFill/>
          <a:ln w="9525">
            <a:solidFill>
              <a:srgbClr val="9A8F84"/>
            </a:solidFill>
            <a:prstDash val="dash"/>
          </a:ln>
        </p:spPr>
      </p:sp>
      <p:sp>
        <p:nvSpPr>
          <p:cNvPr id="9" name="Text 7"/>
          <p:cNvSpPr txBox="1"/>
          <p:nvPr/>
        </p:nvSpPr>
        <p:spPr>
          <a:xfrm>
            <a:off x="777240" y="2176272"/>
            <a:ext cx="1828800" cy="274320"/>
          </a:xfrm>
          <a:prstGeom prst="rect">
            <a:avLst/>
          </a:prstGeom>
          <a:noFill/>
          <a:ln/>
        </p:spPr>
        <p:txBody>
          <a:bodyPr wrap="square" lIns="0" tIns="0" rIns="0" bIns="0" rtlCol="0" anchor="t"/>
          <a:lstStyle/>
          <a:p>
            <a:pPr indent="0" marL="0">
              <a:buNone/>
            </a:pPr>
            <a:r>
              <a:rPr lang="en-US" sz="950" b="1" dirty="0">
                <a:solidFill>
                  <a:schemeClr val="accent2"/>
                </a:solidFill>
              </a:rPr>
              <a:t>買い手の味方</a:t>
            </a:r>
            <a:endParaRPr lang="en-US" sz="950" dirty="0"/>
          </a:p>
        </p:txBody>
      </p:sp>
      <p:sp>
        <p:nvSpPr>
          <p:cNvPr id="10" name="Text 8"/>
          <p:cNvSpPr txBox="1"/>
          <p:nvPr/>
        </p:nvSpPr>
        <p:spPr>
          <a:xfrm>
            <a:off x="777240" y="5184648"/>
            <a:ext cx="1828800" cy="274320"/>
          </a:xfrm>
          <a:prstGeom prst="rect">
            <a:avLst/>
          </a:prstGeom>
          <a:noFill/>
          <a:ln/>
        </p:spPr>
        <p:txBody>
          <a:bodyPr wrap="square" lIns="0" tIns="0" rIns="0" bIns="0" rtlCol="0" anchor="t"/>
          <a:lstStyle/>
          <a:p>
            <a:pPr indent="0" marL="0">
              <a:buNone/>
            </a:pPr>
            <a:r>
              <a:rPr lang="en-US" sz="950" b="1" dirty="0">
                <a:solidFill>
                  <a:schemeClr val="accent2"/>
                </a:solidFill>
              </a:rPr>
              <a:t>中立・両手</a:t>
            </a:r>
            <a:endParaRPr lang="en-US" sz="950" dirty="0"/>
          </a:p>
        </p:txBody>
      </p:sp>
      <p:sp>
        <p:nvSpPr>
          <p:cNvPr id="11" name="Text 9"/>
          <p:cNvSpPr txBox="1"/>
          <p:nvPr/>
        </p:nvSpPr>
        <p:spPr>
          <a:xfrm>
            <a:off x="777240" y="3863340"/>
            <a:ext cx="1828800" cy="274320"/>
          </a:xfrm>
          <a:prstGeom prst="rect">
            <a:avLst/>
          </a:prstGeom>
          <a:noFill/>
          <a:ln/>
        </p:spPr>
        <p:txBody>
          <a:bodyPr wrap="square" lIns="0" tIns="0" rIns="0" bIns="0" rtlCol="0" anchor="t"/>
          <a:lstStyle/>
          <a:p>
            <a:pPr indent="0" marL="0">
              <a:buNone/>
            </a:pPr>
            <a:r>
              <a:rPr lang="en-US" sz="950" dirty="0">
                <a:solidFill>
                  <a:schemeClr val="accent2"/>
                </a:solidFill>
              </a:rPr>
              <a:t>情報を渡すだけ</a:t>
            </a:r>
            <a:endParaRPr lang="en-US" sz="950" dirty="0"/>
          </a:p>
        </p:txBody>
      </p:sp>
      <p:sp>
        <p:nvSpPr>
          <p:cNvPr id="12" name="Text 10"/>
          <p:cNvSpPr txBox="1"/>
          <p:nvPr/>
        </p:nvSpPr>
        <p:spPr>
          <a:xfrm>
            <a:off x="4160520" y="3863340"/>
            <a:ext cx="1828800" cy="274320"/>
          </a:xfrm>
          <a:prstGeom prst="rect">
            <a:avLst/>
          </a:prstGeom>
          <a:noFill/>
          <a:ln/>
        </p:spPr>
        <p:txBody>
          <a:bodyPr wrap="square" lIns="0" tIns="0" rIns="0" bIns="0" rtlCol="0" anchor="t"/>
          <a:lstStyle/>
          <a:p>
            <a:pPr algn="r" indent="0" marL="0">
              <a:buNone/>
            </a:pPr>
            <a:r>
              <a:rPr lang="en-US" sz="950" dirty="0">
                <a:solidFill>
                  <a:schemeClr val="accent2"/>
                </a:solidFill>
              </a:rPr>
              <a:t>成功まで伴走</a:t>
            </a:r>
            <a:endParaRPr lang="en-US" sz="950" dirty="0"/>
          </a:p>
        </p:txBody>
      </p:sp>
      <p:sp>
        <p:nvSpPr>
          <p:cNvPr id="13" name="pos マッチング サイト"/>
          <p:cNvSpPr/>
          <p:nvPr/>
        </p:nvSpPr>
        <p:spPr>
          <a:xfrm>
            <a:off x="1188720" y="4160520"/>
            <a:ext cx="1097280" cy="1097280"/>
          </a:xfrm>
          <a:prstGeom prst="ellipse">
            <a:avLst/>
          </a:prstGeom>
          <a:solidFill>
            <a:srgbClr val="E6DCCB"/>
          </a:solidFill>
          <a:ln w="12700">
            <a:solidFill>
              <a:srgbClr val="E6DCCB"/>
            </a:solidFill>
            <a:prstDash val="solid"/>
          </a:ln>
        </p:spPr>
      </p:sp>
      <p:sp>
        <p:nvSpPr>
          <p:cNvPr id="14" name="Text 12"/>
          <p:cNvSpPr txBox="1"/>
          <p:nvPr/>
        </p:nvSpPr>
        <p:spPr>
          <a:xfrm>
            <a:off x="1188720" y="4160520"/>
            <a:ext cx="1097280" cy="1097280"/>
          </a:xfrm>
          <a:prstGeom prst="rect">
            <a:avLst/>
          </a:prstGeom>
          <a:noFill/>
          <a:ln/>
        </p:spPr>
        <p:txBody>
          <a:bodyPr wrap="square" lIns="0" tIns="0" rIns="0" bIns="0" rtlCol="0" anchor="ctr"/>
          <a:lstStyle/>
          <a:p>
            <a:pPr algn="ctr" indent="0" marL="0">
              <a:buNone/>
            </a:pPr>
            <a:r>
              <a:rPr lang="en-US" sz="1050" b="1" dirty="0">
                <a:solidFill>
                  <a:schemeClr val="tx1"/>
                </a:solidFill>
              </a:rPr>
              <a:t>マッチング</a:t>
            </a:r>
            <a:endParaRPr lang="en-US" sz="1050" dirty="0"/>
          </a:p>
          <a:p>
            <a:pPr algn="ctr" indent="0" marL="0">
              <a:buNone/>
            </a:pPr>
            <a:r>
              <a:rPr lang="en-US" sz="1050" b="1" dirty="0">
                <a:solidFill>
                  <a:schemeClr val="tx1"/>
                </a:solidFill>
              </a:rPr>
              <a:t>サイト</a:t>
            </a:r>
            <a:endParaRPr lang="en-US" sz="1050" dirty="0"/>
          </a:p>
        </p:txBody>
      </p:sp>
      <p:sp>
        <p:nvSpPr>
          <p:cNvPr id="15" name="pos 大手仲介"/>
          <p:cNvSpPr/>
          <p:nvPr/>
        </p:nvSpPr>
        <p:spPr>
          <a:xfrm>
            <a:off x="3611880" y="4069080"/>
            <a:ext cx="1188720" cy="1188720"/>
          </a:xfrm>
          <a:prstGeom prst="ellipse">
            <a:avLst/>
          </a:prstGeom>
          <a:solidFill>
            <a:srgbClr val="9A8F84"/>
          </a:solidFill>
          <a:ln w="12700">
            <a:solidFill>
              <a:srgbClr val="9A8F84"/>
            </a:solidFill>
            <a:prstDash val="solid"/>
          </a:ln>
        </p:spPr>
      </p:sp>
      <p:sp>
        <p:nvSpPr>
          <p:cNvPr id="16" name="Text 14"/>
          <p:cNvSpPr txBox="1"/>
          <p:nvPr/>
        </p:nvSpPr>
        <p:spPr>
          <a:xfrm>
            <a:off x="3611880" y="4069080"/>
            <a:ext cx="1188720" cy="1188720"/>
          </a:xfrm>
          <a:prstGeom prst="rect">
            <a:avLst/>
          </a:prstGeom>
          <a:noFill/>
          <a:ln/>
        </p:spPr>
        <p:txBody>
          <a:bodyPr wrap="square" lIns="0" tIns="0" rIns="0" bIns="0" rtlCol="0" anchor="ctr"/>
          <a:lstStyle/>
          <a:p>
            <a:pPr algn="ctr" indent="0" marL="0">
              <a:buNone/>
            </a:pPr>
            <a:r>
              <a:rPr lang="en-US" sz="1050" b="1" dirty="0">
                <a:solidFill>
                  <a:schemeClr val="bg1"/>
                </a:solidFill>
              </a:rPr>
              <a:t>大手仲介</a:t>
            </a:r>
            <a:endParaRPr lang="en-US" sz="1050" dirty="0"/>
          </a:p>
        </p:txBody>
      </p:sp>
      <p:sp>
        <p:nvSpPr>
          <p:cNvPr id="17" name="pos 買い手 FA"/>
          <p:cNvSpPr/>
          <p:nvPr/>
        </p:nvSpPr>
        <p:spPr>
          <a:xfrm>
            <a:off x="3383280" y="2606040"/>
            <a:ext cx="914400" cy="914400"/>
          </a:xfrm>
          <a:prstGeom prst="ellipse">
            <a:avLst/>
          </a:prstGeom>
          <a:solidFill>
            <a:srgbClr val="E6DCCB"/>
          </a:solidFill>
          <a:ln w="12700">
            <a:solidFill>
              <a:srgbClr val="E6DCCB"/>
            </a:solidFill>
            <a:prstDash val="solid"/>
          </a:ln>
        </p:spPr>
      </p:sp>
      <p:sp>
        <p:nvSpPr>
          <p:cNvPr id="18" name="Text 16"/>
          <p:cNvSpPr txBox="1"/>
          <p:nvPr/>
        </p:nvSpPr>
        <p:spPr>
          <a:xfrm>
            <a:off x="3383280" y="2606040"/>
            <a:ext cx="914400" cy="914400"/>
          </a:xfrm>
          <a:prstGeom prst="rect">
            <a:avLst/>
          </a:prstGeom>
          <a:noFill/>
          <a:ln/>
        </p:spPr>
        <p:txBody>
          <a:bodyPr wrap="square" lIns="0" tIns="0" rIns="0" bIns="0" rtlCol="0" anchor="ctr"/>
          <a:lstStyle/>
          <a:p>
            <a:pPr algn="ctr" indent="0" marL="0">
              <a:buNone/>
            </a:pPr>
            <a:r>
              <a:rPr lang="en-US" sz="1050" b="1" dirty="0">
                <a:solidFill>
                  <a:schemeClr val="tx1"/>
                </a:solidFill>
              </a:rPr>
              <a:t>買い手</a:t>
            </a:r>
            <a:endParaRPr lang="en-US" sz="1050" dirty="0"/>
          </a:p>
          <a:p>
            <a:pPr algn="ctr" indent="0" marL="0">
              <a:buNone/>
            </a:pPr>
            <a:r>
              <a:rPr lang="en-US" sz="1050" b="1" dirty="0">
                <a:solidFill>
                  <a:schemeClr val="tx1"/>
                </a:solidFill>
              </a:rPr>
              <a:t>FA</a:t>
            </a:r>
            <a:endParaRPr lang="en-US" sz="1050" dirty="0"/>
          </a:p>
        </p:txBody>
      </p:sp>
      <p:sp>
        <p:nvSpPr>
          <p:cNvPr id="19" name="pos 当社"/>
          <p:cNvSpPr/>
          <p:nvPr/>
        </p:nvSpPr>
        <p:spPr>
          <a:xfrm>
            <a:off x="4526280" y="2377440"/>
            <a:ext cx="1325880" cy="1325880"/>
          </a:xfrm>
          <a:prstGeom prst="ellipse">
            <a:avLst/>
          </a:prstGeom>
          <a:solidFill>
            <a:srgbClr val="A78450"/>
          </a:solidFill>
          <a:ln w="12700">
            <a:solidFill>
              <a:srgbClr val="A78450"/>
            </a:solidFill>
            <a:prstDash val="solid"/>
          </a:ln>
        </p:spPr>
      </p:sp>
      <p:sp>
        <p:nvSpPr>
          <p:cNvPr id="20" name="Text 18"/>
          <p:cNvSpPr txBox="1"/>
          <p:nvPr/>
        </p:nvSpPr>
        <p:spPr>
          <a:xfrm>
            <a:off x="4526280" y="2377440"/>
            <a:ext cx="1325880" cy="1325880"/>
          </a:xfrm>
          <a:prstGeom prst="rect">
            <a:avLst/>
          </a:prstGeom>
          <a:noFill/>
          <a:ln/>
        </p:spPr>
        <p:txBody>
          <a:bodyPr wrap="square" lIns="0" tIns="0" rIns="0" bIns="0" rtlCol="0" anchor="ctr"/>
          <a:lstStyle/>
          <a:p>
            <a:pPr algn="ctr" indent="0" marL="0">
              <a:buNone/>
            </a:pPr>
            <a:r>
              <a:rPr lang="en-US" sz="1050" b="1" dirty="0">
                <a:solidFill>
                  <a:schemeClr val="bg1"/>
                </a:solidFill>
              </a:rPr>
              <a:t>当社</a:t>
            </a:r>
            <a:endParaRPr lang="en-US" sz="1050" dirty="0"/>
          </a:p>
        </p:txBody>
      </p:sp>
      <p:graphicFrame>
        <p:nvGraphicFramePr>
          <p:cNvPr id="12" name="comparison"/>
          <p:cNvGraphicFramePr>
            <a:graphicFrameLocks noGrp="1"/>
          </p:cNvGraphicFramePr>
          <p:nvPr>
            <p:extLst>
              <p:ext uri="{D42A27DB-BD31-4B8C-83A1-F6EECF244321}">
                <p14:modId xmlns:p14="http://schemas.microsoft.com/office/powerpoint/2010/main" val="1579011935"/>
              </p:ext>
            </p:extLst>
          </p:nvPr>
        </p:nvGraphicFramePr>
        <p:xfrm>
          <a:off x="6355080" y="2103120"/>
          <a:ext cx="5148072" cy="914400"/>
        </p:xfrm>
        <a:graphic>
          <a:graphicData uri="http://schemas.openxmlformats.org/drawingml/2006/table">
            <a:tbl>
              <a:tblPr/>
              <a:tblGrid>
                <a:gridCol w="1234440"/>
                <a:gridCol w="1234440"/>
                <a:gridCol w="1234440"/>
                <a:gridCol w="1444752"/>
              </a:tblGrid>
              <a:tr h="566928">
                <a:tc>
                  <a:txBody>
                    <a:bodyPr/>
                    <a:lstStyle/>
                    <a:p>
                      <a:pPr algn="ctr" indent="0" marL="0">
                        <a:buNone/>
                      </a:pPr>
                      <a:endParaRPr lang="en-US" sz="1100" dirty="0"/>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chemeClr val="tx1"/>
                    </a:solidFill>
                  </a:tcPr>
                </a:tc>
                <a:tc>
                  <a:txBody>
                    <a:bodyPr/>
                    <a:lstStyle/>
                    <a:p>
                      <a:pPr algn="ctr" indent="0" marL="0">
                        <a:buNone/>
                      </a:pPr>
                      <a:r>
                        <a:rPr lang="en-US" sz="1100" b="1" dirty="0">
                          <a:solidFill>
                            <a:schemeClr val="bg1"/>
                          </a:solidFill>
                        </a:rPr>
                        <a:t>大手仲介</a:t>
                      </a:r>
                      <a:endParaRPr lang="en-US" sz="1100" dirty="0"/>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chemeClr val="tx1"/>
                    </a:solidFill>
                  </a:tcPr>
                </a:tc>
                <a:tc>
                  <a:txBody>
                    <a:bodyPr/>
                    <a:lstStyle/>
                    <a:p>
                      <a:pPr algn="ctr" indent="0" marL="0">
                        <a:buNone/>
                      </a:pPr>
                      <a:r>
                        <a:rPr lang="en-US" sz="1100" b="1" dirty="0">
                          <a:solidFill>
                            <a:schemeClr val="bg1"/>
                          </a:solidFill>
                        </a:rPr>
                        <a:t>マッチング</a:t>
                      </a:r>
                      <a:endParaRPr lang="en-US" sz="1100" dirty="0"/>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chemeClr val="tx1"/>
                    </a:solidFill>
                  </a:tcPr>
                </a:tc>
                <a:tc>
                  <a:txBody>
                    <a:bodyPr/>
                    <a:lstStyle/>
                    <a:p>
                      <a:pPr algn="ctr" indent="0" marL="0">
                        <a:buNone/>
                      </a:pPr>
                      <a:r>
                        <a:rPr lang="en-US" sz="1100" b="1" dirty="0">
                          <a:solidFill>
                            <a:schemeClr val="bg1"/>
                          </a:solidFill>
                        </a:rPr>
                        <a:t>当社</a:t>
                      </a:r>
                      <a:endParaRPr lang="en-US" sz="1100" dirty="0"/>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chemeClr val="accent1"/>
                    </a:solidFill>
                  </a:tcPr>
                </a:tc>
              </a:tr>
              <a:tr h="566928">
                <a:tc>
                  <a:txBody>
                    <a:bodyPr/>
                    <a:lstStyle/>
                    <a:p>
                      <a:pPr indent="0" marL="0">
                        <a:buNone/>
                      </a:pPr>
                      <a:r>
                        <a:rPr lang="en-US" sz="1100" b="1" dirty="0">
                          <a:solidFill>
                            <a:schemeClr val="tx1"/>
                          </a:solidFill>
                        </a:rPr>
                        <a:t>立場</a:t>
                      </a:r>
                      <a:endParaRPr lang="en-US" sz="1100" dirty="0"/>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accent2"/>
                          </a:solidFill>
                        </a:rPr>
                        <a:t>両手が中心</a:t>
                      </a:r>
                      <a:endParaRPr lang="en-US" sz="1100" dirty="0"/>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accent2"/>
                          </a:solidFill>
                        </a:rPr>
                        <a:t>中立</a:t>
                      </a:r>
                      <a:endParaRPr lang="en-US" sz="1100" dirty="0"/>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accent1"/>
                          </a:solidFill>
                        </a:rPr>
                        <a:t>買い手専任</a:t>
                      </a:r>
                      <a:endParaRPr lang="en-US" sz="1100" dirty="0"/>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FFFFF"/>
                    </a:solidFill>
                  </a:tcPr>
                </a:tc>
              </a:tr>
              <a:tr h="566928">
                <a:tc>
                  <a:txBody>
                    <a:bodyPr/>
                    <a:lstStyle/>
                    <a:p>
                      <a:pPr indent="0" marL="0">
                        <a:buNone/>
                      </a:pPr>
                      <a:r>
                        <a:rPr lang="en-US" sz="1100" b="1" dirty="0">
                          <a:solidFill>
                            <a:schemeClr val="tx1"/>
                          </a:solidFill>
                        </a:rPr>
                        <a:t>費用</a:t>
                      </a:r>
                      <a:endParaRPr lang="en-US" sz="1100" dirty="0"/>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accent2"/>
                          </a:solidFill>
                        </a:rPr>
                        <a:t>数千万〜億</a:t>
                      </a:r>
                      <a:endParaRPr lang="en-US" sz="1100" dirty="0"/>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accent2"/>
                          </a:solidFill>
                        </a:rPr>
                        <a:t>無料〜数%</a:t>
                      </a:r>
                      <a:endParaRPr lang="en-US" sz="1100" dirty="0"/>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accent1"/>
                          </a:solidFill>
                        </a:rPr>
                        <a:t>月50万＋成功報酬</a:t>
                      </a:r>
                      <a:endParaRPr lang="en-US" sz="1100" dirty="0"/>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FFFFF"/>
                    </a:solidFill>
                  </a:tcPr>
                </a:tc>
              </a:tr>
              <a:tr h="566928">
                <a:tc>
                  <a:txBody>
                    <a:bodyPr/>
                    <a:lstStyle/>
                    <a:p>
                      <a:pPr indent="0" marL="0">
                        <a:buNone/>
                      </a:pPr>
                      <a:r>
                        <a:rPr lang="en-US" sz="1100" b="1" dirty="0">
                          <a:solidFill>
                            <a:schemeClr val="tx1"/>
                          </a:solidFill>
                        </a:rPr>
                        <a:t>判断の支援</a:t>
                      </a:r>
                      <a:endParaRPr lang="en-US" sz="1100" dirty="0"/>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accent2"/>
                          </a:solidFill>
                        </a:rPr>
                        <a:t>△</a:t>
                      </a:r>
                      <a:endParaRPr lang="en-US" sz="1100" dirty="0"/>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accent2"/>
                          </a:solidFill>
                        </a:rPr>
                        <a:t>×</a:t>
                      </a:r>
                      <a:endParaRPr lang="en-US" sz="1100" dirty="0"/>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accent1"/>
                          </a:solidFill>
                        </a:rPr>
                        <a:t>AI＋5原則</a:t>
                      </a:r>
                      <a:endParaRPr lang="en-US" sz="1100" dirty="0"/>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FFFFF"/>
                    </a:solidFill>
                  </a:tcPr>
                </a:tc>
              </a:tr>
              <a:tr h="566928">
                <a:tc>
                  <a:txBody>
                    <a:bodyPr/>
                    <a:lstStyle/>
                    <a:p>
                      <a:pPr indent="0" marL="0">
                        <a:buNone/>
                      </a:pPr>
                      <a:r>
                        <a:rPr lang="en-US" sz="1100" b="1" dirty="0">
                          <a:solidFill>
                            <a:schemeClr val="tx1"/>
                          </a:solidFill>
                        </a:rPr>
                        <a:t>買った後</a:t>
                      </a:r>
                      <a:endParaRPr lang="en-US" sz="1100" dirty="0"/>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accent2"/>
                          </a:solidFill>
                        </a:rPr>
                        <a:t>×</a:t>
                      </a:r>
                      <a:endParaRPr lang="en-US" sz="1100" dirty="0"/>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accent2"/>
                          </a:solidFill>
                        </a:rPr>
                        <a:t>×</a:t>
                      </a:r>
                      <a:endParaRPr lang="en-US" sz="1100" dirty="0"/>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accent1"/>
                          </a:solidFill>
                        </a:rPr>
                        <a:t>PMIまで</a:t>
                      </a:r>
                      <a:endParaRPr lang="en-US" sz="1100" dirty="0"/>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FFFFF"/>
                    </a:solidFill>
                  </a:tcPr>
                </a:tc>
              </a:tr>
              <a:tr h="566928">
                <a:tc>
                  <a:txBody>
                    <a:bodyPr/>
                    <a:lstStyle/>
                    <a:p>
                      <a:pPr indent="0" marL="0">
                        <a:buNone/>
                      </a:pPr>
                      <a:r>
                        <a:rPr lang="en-US" sz="1100" b="1" dirty="0">
                          <a:solidFill>
                            <a:schemeClr val="tx1"/>
                          </a:solidFill>
                        </a:rPr>
                        <a:t>人が育つ</a:t>
                      </a:r>
                      <a:endParaRPr lang="en-US" sz="1100" dirty="0"/>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accent2"/>
                          </a:solidFill>
                        </a:rPr>
                        <a:t>×</a:t>
                      </a:r>
                      <a:endParaRPr lang="en-US" sz="1100" dirty="0"/>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accent2"/>
                          </a:solidFill>
                        </a:rPr>
                        <a:t>×</a:t>
                      </a:r>
                      <a:endParaRPr lang="en-US" sz="1100" dirty="0"/>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accent1"/>
                          </a:solidFill>
                        </a:rPr>
                        <a:t>担当者を育成</a:t>
                      </a:r>
                      <a:endParaRPr lang="en-US" sz="1100" dirty="0"/>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FFFFF"/>
                    </a:solidFill>
                  </a:tcPr>
                </a:tc>
              </a:tr>
            </a:tbl>
          </a:graphicData>
        </a:graphic>
      </p:graphicFrame>
      <p:sp>
        <p:nvSpPr>
          <p:cNvPr id="22" name="Text 19"/>
          <p:cNvSpPr txBox="1"/>
          <p:nvPr/>
        </p:nvSpPr>
        <p:spPr>
          <a:xfrm>
            <a:off x="685800" y="5760720"/>
            <a:ext cx="10820095" cy="320040"/>
          </a:xfrm>
          <a:prstGeom prst="rect">
            <a:avLst/>
          </a:prstGeom>
          <a:noFill/>
          <a:ln/>
        </p:spPr>
        <p:txBody>
          <a:bodyPr wrap="square" lIns="0" tIns="0" rIns="0" bIns="0" rtlCol="0" anchor="t"/>
          <a:lstStyle/>
          <a:p>
            <a:pPr indent="0" marL="0">
              <a:buNone/>
            </a:pPr>
            <a:r>
              <a:rPr lang="en-US" sz="1200" b="1" i="1" dirty="0">
                <a:solidFill>
                  <a:schemeClr val="accent1"/>
                </a:solidFill>
              </a:rPr>
              <a:t>→ 担当者が育つので、2件目以降は自社で買えるようになる。それでも続けたいと思われる伴走をする</a:t>
            </a:r>
            <a:endParaRPr lang="en-US" sz="1200" dirty="0"/>
          </a:p>
        </p:txBody>
      </p:sp>
      <p:sp>
        <p:nvSpPr>
          <p:cNvPr id="25" name="Slide Number Placeholder 0"/>
          <p:cNvSpPr>
            <a:spLocks noGrp="1"/>
          </p:cNvSpPr>
          <p:nvPr>
            <p:ph type="sldNum" sz="quarter" idx="4294967295"/>
          </p:nvPr>
        </p:nvSpPr>
        <p:spPr>
          <a:xfrm>
            <a:off x="10957255"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kicker dot"/>
          <p:cNvSpPr/>
          <p:nvPr/>
        </p:nvSpPr>
        <p:spPr>
          <a:xfrm>
            <a:off x="685800" y="484632"/>
            <a:ext cx="109728" cy="109728"/>
          </a:xfrm>
          <a:prstGeom prst="ellipse">
            <a:avLst/>
          </a:prstGeom>
          <a:solidFill>
            <a:schemeClr val="accent1"/>
          </a:solidFill>
          <a:ln w="12700">
            <a:solidFill>
              <a:schemeClr val="accent1"/>
            </a:solidFill>
            <a:prstDash val="solid"/>
          </a:ln>
        </p:spPr>
      </p:sp>
      <p:sp>
        <p:nvSpPr>
          <p:cNvPr id="3" name="Text 0"/>
          <p:cNvSpPr/>
          <p:nvPr>
            <p:ph idx="100" type="body" hasCustomPrompt="1"/>
          </p:nvPr>
        </p:nvSpPr>
        <p:spPr>
          <a:xfrm>
            <a:off x="923544" y="365760"/>
            <a:ext cx="9601200" cy="329184"/>
          </a:xfrm>
          <a:prstGeom prst="rect">
            <a:avLst/>
          </a:prstGeom>
          <a:noFill/>
          <a:ln/>
        </p:spPr>
        <p:txBody>
          <a:bodyPr wrap="square" lIns="0" tIns="0" rIns="0" bIns="0" rtlCol="0" anchor="ctr"/>
          <a:lstStyle/>
          <a:p>
            <a:pPr indent="0" marL="0">
              <a:buNone/>
            </a:pPr>
            <a:r>
              <a:rPr lang="en-US" sz="1200" b="1" spc="240" kern="0" dirty="0">
                <a:solidFill>
                  <a:schemeClr val="accent1"/>
                </a:solidFill>
              </a:rPr>
              <a:t>TARGET</a:t>
            </a:r>
            <a:endParaRPr lang="en-US" sz="1200" dirty="0"/>
          </a:p>
        </p:txBody>
      </p:sp>
      <p:sp>
        <p:nvSpPr>
          <p:cNvPr id="4" name="Text 0"/>
          <p:cNvSpPr/>
          <p:nvPr>
            <p:ph idx="101" type="title" hasCustomPrompt="1"/>
          </p:nvPr>
        </p:nvSpPr>
        <p:spPr>
          <a:xfrm>
            <a:off x="685800" y="749808"/>
            <a:ext cx="10820095" cy="731520"/>
          </a:xfrm>
          <a:prstGeom prst="rect">
            <a:avLst/>
          </a:prstGeom>
          <a:noFill/>
          <a:ln/>
        </p:spPr>
        <p:txBody>
          <a:bodyPr wrap="square" lIns="0" tIns="0" rIns="0" bIns="0" rtlCol="0" anchor="ctr"/>
          <a:lstStyle/>
          <a:p>
            <a:pPr algn="l" indent="0" marL="0">
              <a:buNone/>
            </a:pPr>
            <a:r>
              <a:rPr lang="en-US" sz="3000" b="1" dirty="0">
                <a:solidFill>
                  <a:schemeClr val="tx1"/>
                </a:solidFill>
              </a:rPr>
              <a:t>お客様：M&amp;A担当を育てたい会社</a:t>
            </a:r>
            <a:endParaRPr lang="en-US" sz="3000" dirty="0"/>
          </a:p>
        </p:txBody>
      </p:sp>
      <p:sp>
        <p:nvSpPr>
          <p:cNvPr id="5" name="Text 0"/>
          <p:cNvSpPr/>
          <p:nvPr>
            <p:ph idx="102" type="body" hasCustomPrompt="1"/>
          </p:nvPr>
        </p:nvSpPr>
        <p:spPr>
          <a:xfrm>
            <a:off x="685800" y="1481328"/>
            <a:ext cx="10820095" cy="365760"/>
          </a:xfrm>
          <a:prstGeom prst="rect">
            <a:avLst/>
          </a:prstGeom>
          <a:noFill/>
          <a:ln/>
        </p:spPr>
        <p:txBody>
          <a:bodyPr wrap="square" lIns="0" tIns="0" rIns="0" bIns="0" rtlCol="0" anchor="t"/>
          <a:lstStyle/>
          <a:p>
            <a:pPr indent="0" marL="0">
              <a:buNone/>
            </a:pPr>
            <a:r>
              <a:rPr lang="en-US" sz="1350" dirty="0">
                <a:solidFill>
                  <a:schemeClr val="accent2"/>
                </a:solidFill>
              </a:rPr>
              <a:t>単価の低い個人の買い手は狙わず、継続して買う法人に絞る</a:t>
            </a:r>
            <a:endParaRPr lang="en-US" sz="1350" dirty="0"/>
          </a:p>
        </p:txBody>
      </p:sp>
      <p:sp>
        <p:nvSpPr>
          <p:cNvPr id="6" name="persona 1"/>
          <p:cNvSpPr/>
          <p:nvPr/>
        </p:nvSpPr>
        <p:spPr>
          <a:xfrm>
            <a:off x="685800" y="2103120"/>
            <a:ext cx="3447288" cy="3931920"/>
          </a:xfrm>
          <a:prstGeom prst="roundRect">
            <a:avLst>
              <a:gd name="adj" fmla="val 1592"/>
            </a:avLst>
          </a:prstGeom>
          <a:solidFill>
            <a:schemeClr val="bg2"/>
          </a:solidFill>
          <a:ln w="9525">
            <a:solidFill>
              <a:schemeClr val="accent3"/>
            </a:solidFill>
            <a:prstDash val="solid"/>
          </a:ln>
          <a:effectLst>
            <a:outerShdw sx="100000" sy="100000" kx="0" ky="0" algn="bl" rotWithShape="0" blurRad="76200" dist="25400" dir="5400000">
              <a:srgbClr val="6F665F">
                <a:alpha val="12000"/>
              </a:srgbClr>
            </a:outerShdw>
          </a:effectLst>
        </p:spPr>
      </p:sp>
      <p:sp>
        <p:nvSpPr>
          <p:cNvPr id="7" name="Shape 5"/>
          <p:cNvSpPr/>
          <p:nvPr/>
        </p:nvSpPr>
        <p:spPr>
          <a:xfrm>
            <a:off x="960120" y="2331720"/>
            <a:ext cx="658368" cy="658368"/>
          </a:xfrm>
          <a:prstGeom prst="ellipse">
            <a:avLst/>
          </a:prstGeom>
          <a:solidFill>
            <a:schemeClr val="tx1"/>
          </a:solidFill>
          <a:ln w="12700">
            <a:solidFill>
              <a:schemeClr val="tx1"/>
            </a:solidFill>
            <a:prstDash val="solid"/>
          </a:ln>
        </p:spPr>
      </p:sp>
      <p:sp>
        <p:nvSpPr>
          <p:cNvPr id="8" name="Text 6"/>
          <p:cNvSpPr txBox="1"/>
          <p:nvPr/>
        </p:nvSpPr>
        <p:spPr>
          <a:xfrm>
            <a:off x="960120" y="2331720"/>
            <a:ext cx="658368" cy="658368"/>
          </a:xfrm>
          <a:prstGeom prst="rect">
            <a:avLst/>
          </a:prstGeom>
          <a:noFill/>
          <a:ln/>
        </p:spPr>
        <p:txBody>
          <a:bodyPr wrap="square" lIns="0" tIns="0" rIns="0" bIns="0" rtlCol="0" anchor="ctr"/>
          <a:lstStyle/>
          <a:p>
            <a:pPr algn="ctr" indent="0" marL="0">
              <a:buNone/>
            </a:pPr>
            <a:endParaRPr lang="en-US" sz="1300" dirty="0"/>
          </a:p>
        </p:txBody>
      </p:sp>
      <p:pic>
        <p:nvPicPr>
          <p:cNvPr id="9" name="Image 0" descr="preencoded.png">    </p:cNvPr>
          <p:cNvPicPr>
            <a:picLocks noChangeAspect="1"/>
          </p:cNvPicPr>
          <p:nvPr/>
        </p:nvPicPr>
        <p:blipFill>
          <a:blip r:embed="rId1"/>
          <a:stretch>
            <a:fillRect/>
          </a:stretch>
        </p:blipFill>
        <p:spPr>
          <a:xfrm>
            <a:off x="1124712" y="2496312"/>
            <a:ext cx="329184" cy="329184"/>
          </a:xfrm>
          <a:prstGeom prst="rect">
            <a:avLst/>
          </a:prstGeom>
        </p:spPr>
      </p:pic>
      <p:sp>
        <p:nvSpPr>
          <p:cNvPr id="10" name="Shape 7"/>
          <p:cNvSpPr/>
          <p:nvPr/>
        </p:nvSpPr>
        <p:spPr>
          <a:xfrm>
            <a:off x="2926080" y="2514600"/>
            <a:ext cx="960120" cy="274320"/>
          </a:xfrm>
          <a:prstGeom prst="roundRect">
            <a:avLst>
              <a:gd name="adj" fmla="val 50000"/>
            </a:avLst>
          </a:prstGeom>
          <a:solidFill>
            <a:schemeClr val="accent1"/>
          </a:solidFill>
          <a:ln w="12700">
            <a:solidFill>
              <a:schemeClr val="accent1"/>
            </a:solidFill>
            <a:prstDash val="solid"/>
          </a:ln>
        </p:spPr>
      </p:sp>
      <p:sp>
        <p:nvSpPr>
          <p:cNvPr id="11" name="Text 8"/>
          <p:cNvSpPr txBox="1"/>
          <p:nvPr/>
        </p:nvSpPr>
        <p:spPr>
          <a:xfrm>
            <a:off x="2926080" y="2514600"/>
            <a:ext cx="960120" cy="274320"/>
          </a:xfrm>
          <a:prstGeom prst="rect">
            <a:avLst/>
          </a:prstGeom>
          <a:noFill/>
          <a:ln/>
        </p:spPr>
        <p:txBody>
          <a:bodyPr wrap="square" lIns="0" tIns="0" rIns="0" bIns="0" rtlCol="0" anchor="ctr"/>
          <a:lstStyle/>
          <a:p>
            <a:pPr algn="ctr" indent="0" marL="0">
              <a:buNone/>
            </a:pPr>
            <a:r>
              <a:rPr lang="en-US" sz="950" b="1" dirty="0">
                <a:solidFill>
                  <a:schemeClr val="bg1"/>
                </a:solidFill>
              </a:rPr>
              <a:t>最優先</a:t>
            </a:r>
            <a:endParaRPr lang="en-US" sz="950" dirty="0"/>
          </a:p>
        </p:txBody>
      </p:sp>
      <p:sp>
        <p:nvSpPr>
          <p:cNvPr id="12" name="Text 9"/>
          <p:cNvSpPr txBox="1"/>
          <p:nvPr/>
        </p:nvSpPr>
        <p:spPr>
          <a:xfrm>
            <a:off x="960120" y="3154680"/>
            <a:ext cx="2926080" cy="640080"/>
          </a:xfrm>
          <a:prstGeom prst="rect">
            <a:avLst/>
          </a:prstGeom>
          <a:noFill/>
          <a:ln/>
        </p:spPr>
        <p:txBody>
          <a:bodyPr wrap="square" lIns="0" tIns="0" rIns="0" bIns="0" rtlCol="0" anchor="t"/>
          <a:lstStyle/>
          <a:p>
            <a:pPr indent="0" marL="0">
              <a:buNone/>
            </a:pPr>
            <a:r>
              <a:rPr lang="en-US" sz="1450" b="1" dirty="0">
                <a:solidFill>
                  <a:schemeClr val="tx1"/>
                </a:solidFill>
              </a:rPr>
              <a:t>M&amp;A担当がいない・育てたい中堅中小企業</a:t>
            </a:r>
            <a:endParaRPr lang="en-US" sz="1450" dirty="0"/>
          </a:p>
        </p:txBody>
      </p:sp>
      <p:sp>
        <p:nvSpPr>
          <p:cNvPr id="13" name="Text 10"/>
          <p:cNvSpPr txBox="1"/>
          <p:nvPr/>
        </p:nvSpPr>
        <p:spPr>
          <a:xfrm>
            <a:off x="960120" y="3794760"/>
            <a:ext cx="2926080" cy="320040"/>
          </a:xfrm>
          <a:prstGeom prst="rect">
            <a:avLst/>
          </a:prstGeom>
          <a:noFill/>
          <a:ln/>
        </p:spPr>
        <p:txBody>
          <a:bodyPr wrap="square" lIns="0" tIns="0" rIns="0" bIns="0" rtlCol="0" anchor="t"/>
          <a:lstStyle/>
          <a:p>
            <a:pPr indent="0" marL="0">
              <a:buNone/>
            </a:pPr>
            <a:r>
              <a:rPr lang="en-US" sz="1050" dirty="0">
                <a:solidFill>
                  <a:schemeClr val="accent2"/>
                </a:solidFill>
              </a:rPr>
              <a:t>年商10〜100億円／M&amp;Aで成長したい</a:t>
            </a:r>
            <a:endParaRPr lang="en-US" sz="1050" dirty="0"/>
          </a:p>
        </p:txBody>
      </p:sp>
      <p:sp>
        <p:nvSpPr>
          <p:cNvPr id="14" name="Text 11"/>
          <p:cNvSpPr txBox="1"/>
          <p:nvPr/>
        </p:nvSpPr>
        <p:spPr>
          <a:xfrm>
            <a:off x="960120" y="4206240"/>
            <a:ext cx="2926080" cy="1737360"/>
          </a:xfrm>
          <a:prstGeom prst="rect">
            <a:avLst/>
          </a:prstGeom>
          <a:noFill/>
          <a:ln/>
        </p:spPr>
        <p:txBody>
          <a:bodyPr wrap="square" lIns="0" tIns="0" rIns="0" bIns="0" rtlCol="0" anchor="t"/>
          <a:lstStyle/>
          <a:p>
            <a:pPr indent="0" marL="0">
              <a:buNone/>
            </a:pPr>
            <a:r>
              <a:rPr lang="en-US" sz="1200" b="1" dirty="0">
                <a:solidFill>
                  <a:schemeClr val="accent1"/>
                </a:solidFill>
              </a:rPr>
              <a:t>悩み</a:t>
            </a:r>
            <a:endParaRPr lang="en-US" sz="1200" dirty="0"/>
          </a:p>
          <a:p>
            <a:pPr indent="0" marL="0">
              <a:buNone/>
            </a:pPr>
            <a:r>
              <a:rPr lang="en-US" sz="1200" dirty="0">
                <a:solidFill>
                  <a:schemeClr val="tx1"/>
                </a:solidFill>
              </a:rPr>
              <a:t>案件の良し悪しを判断できない。仲介の言い値で買う</a:t>
            </a:r>
            <a:endParaRPr lang="en-US" sz="1200" dirty="0"/>
          </a:p>
          <a:p>
            <a:pPr indent="0" marL="0">
              <a:buNone/>
            </a:pPr>
            <a:r>
              <a:rPr lang="en-US" sz="600" dirty="0">
                <a:solidFill>
                  <a:schemeClr val="tx1"/>
                </a:solidFill>
              </a:rPr>
              <a:t> </a:t>
            </a:r>
            <a:endParaRPr lang="en-US" sz="1200" dirty="0"/>
          </a:p>
          <a:p>
            <a:pPr indent="0" marL="0">
              <a:buNone/>
            </a:pPr>
            <a:r>
              <a:rPr lang="en-US" sz="1200" b="1" dirty="0">
                <a:solidFill>
                  <a:schemeClr val="accent1"/>
                </a:solidFill>
              </a:rPr>
              <a:t>払う理由</a:t>
            </a:r>
            <a:endParaRPr lang="en-US" sz="1200" dirty="0"/>
          </a:p>
          <a:p>
            <a:pPr indent="0" marL="0">
              <a:buNone/>
            </a:pPr>
            <a:r>
              <a:rPr lang="en-US" sz="1200" dirty="0">
                <a:solidFill>
                  <a:schemeClr val="tx1"/>
                </a:solidFill>
              </a:rPr>
              <a:t>社内にM&amp;A部門をつくる代わりに</a:t>
            </a:r>
            <a:endParaRPr lang="en-US" sz="1200" dirty="0"/>
          </a:p>
        </p:txBody>
      </p:sp>
      <p:sp>
        <p:nvSpPr>
          <p:cNvPr id="15" name="persona 2"/>
          <p:cNvSpPr/>
          <p:nvPr/>
        </p:nvSpPr>
        <p:spPr>
          <a:xfrm>
            <a:off x="4370832" y="2103120"/>
            <a:ext cx="3447288" cy="3931920"/>
          </a:xfrm>
          <a:prstGeom prst="roundRect">
            <a:avLst>
              <a:gd name="adj" fmla="val 1592"/>
            </a:avLst>
          </a:prstGeom>
          <a:solidFill>
            <a:schemeClr val="bg2"/>
          </a:solidFill>
          <a:ln w="9525">
            <a:solidFill>
              <a:schemeClr val="accent3"/>
            </a:solidFill>
            <a:prstDash val="solid"/>
          </a:ln>
          <a:effectLst>
            <a:outerShdw sx="100000" sy="100000" kx="0" ky="0" algn="bl" rotWithShape="0" blurRad="76200" dist="25400" dir="5400000">
              <a:srgbClr val="6F665F">
                <a:alpha val="12000"/>
              </a:srgbClr>
            </a:outerShdw>
          </a:effectLst>
        </p:spPr>
      </p:sp>
      <p:sp>
        <p:nvSpPr>
          <p:cNvPr id="16" name="Shape 13"/>
          <p:cNvSpPr/>
          <p:nvPr/>
        </p:nvSpPr>
        <p:spPr>
          <a:xfrm>
            <a:off x="4645152" y="2331720"/>
            <a:ext cx="658368" cy="658368"/>
          </a:xfrm>
          <a:prstGeom prst="ellipse">
            <a:avLst/>
          </a:prstGeom>
          <a:solidFill>
            <a:schemeClr val="tx1"/>
          </a:solidFill>
          <a:ln w="12700">
            <a:solidFill>
              <a:schemeClr val="tx1"/>
            </a:solidFill>
            <a:prstDash val="solid"/>
          </a:ln>
        </p:spPr>
      </p:sp>
      <p:sp>
        <p:nvSpPr>
          <p:cNvPr id="17" name="Text 14"/>
          <p:cNvSpPr txBox="1"/>
          <p:nvPr/>
        </p:nvSpPr>
        <p:spPr>
          <a:xfrm>
            <a:off x="4645152" y="2331720"/>
            <a:ext cx="658368" cy="658368"/>
          </a:xfrm>
          <a:prstGeom prst="rect">
            <a:avLst/>
          </a:prstGeom>
          <a:noFill/>
          <a:ln/>
        </p:spPr>
        <p:txBody>
          <a:bodyPr wrap="square" lIns="0" tIns="0" rIns="0" bIns="0" rtlCol="0" anchor="ctr"/>
          <a:lstStyle/>
          <a:p>
            <a:pPr algn="ctr" indent="0" marL="0">
              <a:buNone/>
            </a:pPr>
            <a:endParaRPr lang="en-US" sz="1300" dirty="0"/>
          </a:p>
        </p:txBody>
      </p:sp>
      <p:pic>
        <p:nvPicPr>
          <p:cNvPr id="18" name="Image 1" descr="preencoded.png">    </p:cNvPr>
          <p:cNvPicPr>
            <a:picLocks noChangeAspect="1"/>
          </p:cNvPicPr>
          <p:nvPr/>
        </p:nvPicPr>
        <p:blipFill>
          <a:blip r:embed="rId2"/>
          <a:stretch>
            <a:fillRect/>
          </a:stretch>
        </p:blipFill>
        <p:spPr>
          <a:xfrm>
            <a:off x="4809744" y="2496312"/>
            <a:ext cx="329184" cy="329184"/>
          </a:xfrm>
          <a:prstGeom prst="rect">
            <a:avLst/>
          </a:prstGeom>
        </p:spPr>
      </p:pic>
      <p:sp>
        <p:nvSpPr>
          <p:cNvPr id="19" name="Shape 15"/>
          <p:cNvSpPr/>
          <p:nvPr/>
        </p:nvSpPr>
        <p:spPr>
          <a:xfrm>
            <a:off x="6611112" y="2514600"/>
            <a:ext cx="960120" cy="274320"/>
          </a:xfrm>
          <a:prstGeom prst="roundRect">
            <a:avLst>
              <a:gd name="adj" fmla="val 50000"/>
            </a:avLst>
          </a:prstGeom>
          <a:solidFill>
            <a:schemeClr val="bg1"/>
          </a:solidFill>
          <a:ln w="12700">
            <a:solidFill>
              <a:schemeClr val="accent1"/>
            </a:solidFill>
            <a:prstDash val="solid"/>
          </a:ln>
        </p:spPr>
      </p:sp>
      <p:sp>
        <p:nvSpPr>
          <p:cNvPr id="20" name="Text 16"/>
          <p:cNvSpPr txBox="1"/>
          <p:nvPr/>
        </p:nvSpPr>
        <p:spPr>
          <a:xfrm>
            <a:off x="6611112" y="2514600"/>
            <a:ext cx="960120" cy="274320"/>
          </a:xfrm>
          <a:prstGeom prst="rect">
            <a:avLst/>
          </a:prstGeom>
          <a:noFill/>
          <a:ln/>
        </p:spPr>
        <p:txBody>
          <a:bodyPr wrap="square" lIns="0" tIns="0" rIns="0" bIns="0" rtlCol="0" anchor="ctr"/>
          <a:lstStyle/>
          <a:p>
            <a:pPr algn="ctr" indent="0" marL="0">
              <a:buNone/>
            </a:pPr>
            <a:r>
              <a:rPr lang="en-US" sz="950" b="1" dirty="0">
                <a:solidFill>
                  <a:schemeClr val="accent1"/>
                </a:solidFill>
              </a:rPr>
              <a:t>高</a:t>
            </a:r>
            <a:endParaRPr lang="en-US" sz="950" dirty="0"/>
          </a:p>
        </p:txBody>
      </p:sp>
      <p:sp>
        <p:nvSpPr>
          <p:cNvPr id="21" name="Text 17"/>
          <p:cNvSpPr txBox="1"/>
          <p:nvPr/>
        </p:nvSpPr>
        <p:spPr>
          <a:xfrm>
            <a:off x="4645152" y="3154680"/>
            <a:ext cx="2926080" cy="640080"/>
          </a:xfrm>
          <a:prstGeom prst="rect">
            <a:avLst/>
          </a:prstGeom>
          <a:noFill/>
          <a:ln/>
        </p:spPr>
        <p:txBody>
          <a:bodyPr wrap="square" lIns="0" tIns="0" rIns="0" bIns="0" rtlCol="0" anchor="t"/>
          <a:lstStyle/>
          <a:p>
            <a:pPr indent="0" marL="0">
              <a:buNone/>
            </a:pPr>
            <a:r>
              <a:rPr lang="en-US" sz="1450" b="1" dirty="0">
                <a:solidFill>
                  <a:schemeClr val="tx1"/>
                </a:solidFill>
              </a:rPr>
              <a:t>PE・サーチファンド・承継ファンド</a:t>
            </a:r>
            <a:endParaRPr lang="en-US" sz="1450" dirty="0"/>
          </a:p>
        </p:txBody>
      </p:sp>
      <p:sp>
        <p:nvSpPr>
          <p:cNvPr id="22" name="Text 18"/>
          <p:cNvSpPr txBox="1"/>
          <p:nvPr/>
        </p:nvSpPr>
        <p:spPr>
          <a:xfrm>
            <a:off x="4645152" y="3794760"/>
            <a:ext cx="2926080" cy="320040"/>
          </a:xfrm>
          <a:prstGeom prst="rect">
            <a:avLst/>
          </a:prstGeom>
          <a:noFill/>
          <a:ln/>
        </p:spPr>
        <p:txBody>
          <a:bodyPr wrap="square" lIns="0" tIns="0" rIns="0" bIns="0" rtlCol="0" anchor="t"/>
          <a:lstStyle/>
          <a:p>
            <a:pPr indent="0" marL="0">
              <a:buNone/>
            </a:pPr>
            <a:r>
              <a:rPr lang="en-US" sz="1050" dirty="0">
                <a:solidFill>
                  <a:schemeClr val="accent2"/>
                </a:solidFill>
              </a:rPr>
              <a:t>年に複数件を検討・投資</a:t>
            </a:r>
            <a:endParaRPr lang="en-US" sz="1050" dirty="0"/>
          </a:p>
        </p:txBody>
      </p:sp>
      <p:sp>
        <p:nvSpPr>
          <p:cNvPr id="23" name="Text 19"/>
          <p:cNvSpPr txBox="1"/>
          <p:nvPr/>
        </p:nvSpPr>
        <p:spPr>
          <a:xfrm>
            <a:off x="4645152" y="4206240"/>
            <a:ext cx="2926080" cy="1737360"/>
          </a:xfrm>
          <a:prstGeom prst="rect">
            <a:avLst/>
          </a:prstGeom>
          <a:noFill/>
          <a:ln/>
        </p:spPr>
        <p:txBody>
          <a:bodyPr wrap="square" lIns="0" tIns="0" rIns="0" bIns="0" rtlCol="0" anchor="t"/>
          <a:lstStyle/>
          <a:p>
            <a:pPr indent="0" marL="0">
              <a:buNone/>
            </a:pPr>
            <a:r>
              <a:rPr lang="en-US" sz="1200" b="1" dirty="0">
                <a:solidFill>
                  <a:schemeClr val="accent1"/>
                </a:solidFill>
              </a:rPr>
              <a:t>悩み</a:t>
            </a:r>
            <a:endParaRPr lang="en-US" sz="1200" dirty="0"/>
          </a:p>
          <a:p>
            <a:pPr indent="0" marL="0">
              <a:buNone/>
            </a:pPr>
            <a:r>
              <a:rPr lang="en-US" sz="1200" dirty="0">
                <a:solidFill>
                  <a:schemeClr val="tx1"/>
                </a:solidFill>
              </a:rPr>
              <a:t>ソーシングの効率が悪い。スクリーニングに手間がかかる</a:t>
            </a:r>
            <a:endParaRPr lang="en-US" sz="1200" dirty="0"/>
          </a:p>
          <a:p>
            <a:pPr indent="0" marL="0">
              <a:buNone/>
            </a:pPr>
            <a:r>
              <a:rPr lang="en-US" sz="600" dirty="0">
                <a:solidFill>
                  <a:schemeClr val="tx1"/>
                </a:solidFill>
              </a:rPr>
              <a:t> </a:t>
            </a:r>
            <a:endParaRPr lang="en-US" sz="1200" dirty="0"/>
          </a:p>
          <a:p>
            <a:pPr indent="0" marL="0">
              <a:buNone/>
            </a:pPr>
            <a:r>
              <a:rPr lang="en-US" sz="1200" b="1" dirty="0">
                <a:solidFill>
                  <a:schemeClr val="accent1"/>
                </a:solidFill>
              </a:rPr>
              <a:t>払う理由</a:t>
            </a:r>
            <a:endParaRPr lang="en-US" sz="1200" dirty="0"/>
          </a:p>
          <a:p>
            <a:pPr indent="0" marL="0">
              <a:buNone/>
            </a:pPr>
            <a:r>
              <a:rPr lang="en-US" sz="1200" dirty="0">
                <a:solidFill>
                  <a:schemeClr val="tx1"/>
                </a:solidFill>
              </a:rPr>
              <a:t>アナリストの手間の代わりに</a:t>
            </a:r>
            <a:endParaRPr lang="en-US" sz="1200" dirty="0"/>
          </a:p>
        </p:txBody>
      </p:sp>
      <p:sp>
        <p:nvSpPr>
          <p:cNvPr id="24" name="persona 3"/>
          <p:cNvSpPr/>
          <p:nvPr/>
        </p:nvSpPr>
        <p:spPr>
          <a:xfrm>
            <a:off x="8055864" y="2103120"/>
            <a:ext cx="3447288" cy="3931920"/>
          </a:xfrm>
          <a:prstGeom prst="roundRect">
            <a:avLst>
              <a:gd name="adj" fmla="val 1592"/>
            </a:avLst>
          </a:prstGeom>
          <a:solidFill>
            <a:schemeClr val="bg2"/>
          </a:solidFill>
          <a:ln w="9525">
            <a:solidFill>
              <a:schemeClr val="accent3"/>
            </a:solidFill>
            <a:prstDash val="solid"/>
          </a:ln>
          <a:effectLst>
            <a:outerShdw sx="100000" sy="100000" kx="0" ky="0" algn="bl" rotWithShape="0" blurRad="76200" dist="25400" dir="5400000">
              <a:srgbClr val="6F665F">
                <a:alpha val="12000"/>
              </a:srgbClr>
            </a:outerShdw>
          </a:effectLst>
        </p:spPr>
      </p:sp>
      <p:sp>
        <p:nvSpPr>
          <p:cNvPr id="25" name="Shape 21"/>
          <p:cNvSpPr/>
          <p:nvPr/>
        </p:nvSpPr>
        <p:spPr>
          <a:xfrm>
            <a:off x="8330184" y="2331720"/>
            <a:ext cx="658368" cy="658368"/>
          </a:xfrm>
          <a:prstGeom prst="ellipse">
            <a:avLst/>
          </a:prstGeom>
          <a:solidFill>
            <a:schemeClr val="tx1"/>
          </a:solidFill>
          <a:ln w="12700">
            <a:solidFill>
              <a:schemeClr val="tx1"/>
            </a:solidFill>
            <a:prstDash val="solid"/>
          </a:ln>
        </p:spPr>
      </p:sp>
      <p:sp>
        <p:nvSpPr>
          <p:cNvPr id="26" name="Text 22"/>
          <p:cNvSpPr txBox="1"/>
          <p:nvPr/>
        </p:nvSpPr>
        <p:spPr>
          <a:xfrm>
            <a:off x="8330184" y="2331720"/>
            <a:ext cx="658368" cy="658368"/>
          </a:xfrm>
          <a:prstGeom prst="rect">
            <a:avLst/>
          </a:prstGeom>
          <a:noFill/>
          <a:ln/>
        </p:spPr>
        <p:txBody>
          <a:bodyPr wrap="square" lIns="0" tIns="0" rIns="0" bIns="0" rtlCol="0" anchor="ctr"/>
          <a:lstStyle/>
          <a:p>
            <a:pPr algn="ctr" indent="0" marL="0">
              <a:buNone/>
            </a:pPr>
            <a:endParaRPr lang="en-US" sz="1300" dirty="0"/>
          </a:p>
        </p:txBody>
      </p:sp>
      <p:pic>
        <p:nvPicPr>
          <p:cNvPr id="27" name="Image 2" descr="preencoded.png">    </p:cNvPr>
          <p:cNvPicPr>
            <a:picLocks noChangeAspect="1"/>
          </p:cNvPicPr>
          <p:nvPr/>
        </p:nvPicPr>
        <p:blipFill>
          <a:blip r:embed="rId3"/>
          <a:stretch>
            <a:fillRect/>
          </a:stretch>
        </p:blipFill>
        <p:spPr>
          <a:xfrm>
            <a:off x="8494776" y="2496312"/>
            <a:ext cx="329184" cy="329184"/>
          </a:xfrm>
          <a:prstGeom prst="rect">
            <a:avLst/>
          </a:prstGeom>
        </p:spPr>
      </p:pic>
      <p:sp>
        <p:nvSpPr>
          <p:cNvPr id="28" name="Shape 23"/>
          <p:cNvSpPr/>
          <p:nvPr/>
        </p:nvSpPr>
        <p:spPr>
          <a:xfrm>
            <a:off x="10296144" y="2514600"/>
            <a:ext cx="960120" cy="274320"/>
          </a:xfrm>
          <a:prstGeom prst="roundRect">
            <a:avLst>
              <a:gd name="adj" fmla="val 50000"/>
            </a:avLst>
          </a:prstGeom>
          <a:solidFill>
            <a:schemeClr val="bg1"/>
          </a:solidFill>
          <a:ln w="12700">
            <a:solidFill>
              <a:schemeClr val="accent1"/>
            </a:solidFill>
            <a:prstDash val="solid"/>
          </a:ln>
        </p:spPr>
      </p:sp>
      <p:sp>
        <p:nvSpPr>
          <p:cNvPr id="29" name="Text 24"/>
          <p:cNvSpPr txBox="1"/>
          <p:nvPr/>
        </p:nvSpPr>
        <p:spPr>
          <a:xfrm>
            <a:off x="10296144" y="2514600"/>
            <a:ext cx="960120" cy="274320"/>
          </a:xfrm>
          <a:prstGeom prst="rect">
            <a:avLst/>
          </a:prstGeom>
          <a:noFill/>
          <a:ln/>
        </p:spPr>
        <p:txBody>
          <a:bodyPr wrap="square" lIns="0" tIns="0" rIns="0" bIns="0" rtlCol="0" anchor="ctr"/>
          <a:lstStyle/>
          <a:p>
            <a:pPr algn="ctr" indent="0" marL="0">
              <a:buNone/>
            </a:pPr>
            <a:r>
              <a:rPr lang="en-US" sz="950" b="1" dirty="0">
                <a:solidFill>
                  <a:schemeClr val="accent1"/>
                </a:solidFill>
              </a:rPr>
              <a:t>紹介元</a:t>
            </a:r>
            <a:endParaRPr lang="en-US" sz="950" dirty="0"/>
          </a:p>
        </p:txBody>
      </p:sp>
      <p:sp>
        <p:nvSpPr>
          <p:cNvPr id="30" name="Text 25"/>
          <p:cNvSpPr txBox="1"/>
          <p:nvPr/>
        </p:nvSpPr>
        <p:spPr>
          <a:xfrm>
            <a:off x="8330184" y="3154680"/>
            <a:ext cx="2926080" cy="640080"/>
          </a:xfrm>
          <a:prstGeom prst="rect">
            <a:avLst/>
          </a:prstGeom>
          <a:noFill/>
          <a:ln/>
        </p:spPr>
        <p:txBody>
          <a:bodyPr wrap="square" lIns="0" tIns="0" rIns="0" bIns="0" rtlCol="0" anchor="t"/>
          <a:lstStyle/>
          <a:p>
            <a:pPr indent="0" marL="0">
              <a:buNone/>
            </a:pPr>
            <a:r>
              <a:rPr lang="en-US" sz="1450" b="1" dirty="0">
                <a:solidFill>
                  <a:schemeClr val="tx1"/>
                </a:solidFill>
              </a:rPr>
              <a:t>士業・地方銀行・信用金庫</a:t>
            </a:r>
            <a:endParaRPr lang="en-US" sz="1450" dirty="0"/>
          </a:p>
        </p:txBody>
      </p:sp>
      <p:sp>
        <p:nvSpPr>
          <p:cNvPr id="31" name="Text 26"/>
          <p:cNvSpPr txBox="1"/>
          <p:nvPr/>
        </p:nvSpPr>
        <p:spPr>
          <a:xfrm>
            <a:off x="8330184" y="3794760"/>
            <a:ext cx="2926080" cy="320040"/>
          </a:xfrm>
          <a:prstGeom prst="rect">
            <a:avLst/>
          </a:prstGeom>
          <a:noFill/>
          <a:ln/>
        </p:spPr>
        <p:txBody>
          <a:bodyPr wrap="square" lIns="0" tIns="0" rIns="0" bIns="0" rtlCol="0" anchor="t"/>
          <a:lstStyle/>
          <a:p>
            <a:pPr indent="0" marL="0">
              <a:buNone/>
            </a:pPr>
            <a:r>
              <a:rPr lang="en-US" sz="1050" dirty="0">
                <a:solidFill>
                  <a:schemeClr val="accent2"/>
                </a:solidFill>
              </a:rPr>
              <a:t>顧問先・取引先の買い手を支援</a:t>
            </a:r>
            <a:endParaRPr lang="en-US" sz="1050" dirty="0"/>
          </a:p>
        </p:txBody>
      </p:sp>
      <p:sp>
        <p:nvSpPr>
          <p:cNvPr id="32" name="Text 27"/>
          <p:cNvSpPr txBox="1"/>
          <p:nvPr/>
        </p:nvSpPr>
        <p:spPr>
          <a:xfrm>
            <a:off x="8330184" y="4206240"/>
            <a:ext cx="2926080" cy="1737360"/>
          </a:xfrm>
          <a:prstGeom prst="rect">
            <a:avLst/>
          </a:prstGeom>
          <a:noFill/>
          <a:ln/>
        </p:spPr>
        <p:txBody>
          <a:bodyPr wrap="square" lIns="0" tIns="0" rIns="0" bIns="0" rtlCol="0" anchor="t"/>
          <a:lstStyle/>
          <a:p>
            <a:pPr indent="0" marL="0">
              <a:buNone/>
            </a:pPr>
            <a:r>
              <a:rPr lang="en-US" sz="1200" b="1" dirty="0">
                <a:solidFill>
                  <a:schemeClr val="accent1"/>
                </a:solidFill>
              </a:rPr>
              <a:t>悩み</a:t>
            </a:r>
            <a:endParaRPr lang="en-US" sz="1200" dirty="0"/>
          </a:p>
          <a:p>
            <a:pPr indent="0" marL="0">
              <a:buNone/>
            </a:pPr>
            <a:r>
              <a:rPr lang="en-US" sz="1200" dirty="0">
                <a:solidFill>
                  <a:schemeClr val="tx1"/>
                </a:solidFill>
              </a:rPr>
              <a:t>顧問先の買収相談に応える道具とネットワークがない</a:t>
            </a:r>
            <a:endParaRPr lang="en-US" sz="1200" dirty="0"/>
          </a:p>
          <a:p>
            <a:pPr indent="0" marL="0">
              <a:buNone/>
            </a:pPr>
            <a:r>
              <a:rPr lang="en-US" sz="600" dirty="0">
                <a:solidFill>
                  <a:schemeClr val="tx1"/>
                </a:solidFill>
              </a:rPr>
              <a:t> </a:t>
            </a:r>
            <a:endParaRPr lang="en-US" sz="1200" dirty="0"/>
          </a:p>
          <a:p>
            <a:pPr indent="0" marL="0">
              <a:buNone/>
            </a:pPr>
            <a:r>
              <a:rPr lang="en-US" sz="1200" b="1" dirty="0">
                <a:solidFill>
                  <a:schemeClr val="accent1"/>
                </a:solidFill>
              </a:rPr>
              <a:t>払う理由</a:t>
            </a:r>
            <a:endParaRPr lang="en-US" sz="1200" dirty="0"/>
          </a:p>
          <a:p>
            <a:pPr indent="0" marL="0">
              <a:buNone/>
            </a:pPr>
            <a:r>
              <a:rPr lang="en-US" sz="1200" dirty="0">
                <a:solidFill>
                  <a:schemeClr val="tx1"/>
                </a:solidFill>
              </a:rPr>
              <a:t>顧問サービスの付加価値に（紹介チャネル）</a:t>
            </a:r>
            <a:endParaRPr lang="en-US" sz="1200" dirty="0"/>
          </a:p>
        </p:txBody>
      </p:sp>
      <p:sp>
        <p:nvSpPr>
          <p:cNvPr id="25" name="Slide Number Placeholder 0"/>
          <p:cNvSpPr>
            <a:spLocks noGrp="1"/>
          </p:cNvSpPr>
          <p:nvPr>
            <p:ph type="sldNum" sz="quarter" idx="4294967295"/>
          </p:nvPr>
        </p:nvSpPr>
        <p:spPr>
          <a:xfrm>
            <a:off x="10957255"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kicker dot"/>
          <p:cNvSpPr/>
          <p:nvPr/>
        </p:nvSpPr>
        <p:spPr>
          <a:xfrm>
            <a:off x="685800" y="484632"/>
            <a:ext cx="109728" cy="109728"/>
          </a:xfrm>
          <a:prstGeom prst="ellipse">
            <a:avLst/>
          </a:prstGeom>
          <a:solidFill>
            <a:schemeClr val="accent1"/>
          </a:solidFill>
          <a:ln w="12700">
            <a:solidFill>
              <a:schemeClr val="accent1"/>
            </a:solidFill>
            <a:prstDash val="solid"/>
          </a:ln>
        </p:spPr>
      </p:sp>
      <p:sp>
        <p:nvSpPr>
          <p:cNvPr id="3" name="Text 0"/>
          <p:cNvSpPr/>
          <p:nvPr>
            <p:ph idx="100" type="body" hasCustomPrompt="1"/>
          </p:nvPr>
        </p:nvSpPr>
        <p:spPr>
          <a:xfrm>
            <a:off x="923544" y="365760"/>
            <a:ext cx="9601200" cy="329184"/>
          </a:xfrm>
          <a:prstGeom prst="rect">
            <a:avLst/>
          </a:prstGeom>
          <a:noFill/>
          <a:ln/>
        </p:spPr>
        <p:txBody>
          <a:bodyPr wrap="square" lIns="0" tIns="0" rIns="0" bIns="0" rtlCol="0" anchor="ctr"/>
          <a:lstStyle/>
          <a:p>
            <a:pPr indent="0" marL="0">
              <a:buNone/>
            </a:pPr>
            <a:r>
              <a:rPr lang="en-US" sz="1200" b="1" spc="240" kern="0" dirty="0">
                <a:solidFill>
                  <a:schemeClr val="accent1"/>
                </a:solidFill>
              </a:rPr>
              <a:t>HOW IT WORKS</a:t>
            </a:r>
            <a:endParaRPr lang="en-US" sz="1200" dirty="0"/>
          </a:p>
        </p:txBody>
      </p:sp>
      <p:sp>
        <p:nvSpPr>
          <p:cNvPr id="4" name="Text 0"/>
          <p:cNvSpPr/>
          <p:nvPr>
            <p:ph idx="101" type="title" hasCustomPrompt="1"/>
          </p:nvPr>
        </p:nvSpPr>
        <p:spPr>
          <a:xfrm>
            <a:off x="685800" y="749808"/>
            <a:ext cx="10820095" cy="731520"/>
          </a:xfrm>
          <a:prstGeom prst="rect">
            <a:avLst/>
          </a:prstGeom>
          <a:noFill/>
          <a:ln/>
        </p:spPr>
        <p:txBody>
          <a:bodyPr wrap="square" lIns="0" tIns="0" rIns="0" bIns="0" rtlCol="0" anchor="ctr"/>
          <a:lstStyle/>
          <a:p>
            <a:pPr algn="l" indent="0" marL="0">
              <a:buNone/>
            </a:pPr>
            <a:r>
              <a:rPr lang="en-US" sz="3000" b="1" dirty="0">
                <a:solidFill>
                  <a:schemeClr val="tx1"/>
                </a:solidFill>
              </a:rPr>
              <a:t>12ヶ月で「自社で買える会社」にする</a:t>
            </a:r>
            <a:endParaRPr lang="en-US" sz="3000" dirty="0"/>
          </a:p>
        </p:txBody>
      </p:sp>
      <p:sp>
        <p:nvSpPr>
          <p:cNvPr id="5" name="Text 0"/>
          <p:cNvSpPr/>
          <p:nvPr>
            <p:ph idx="102" type="body" hasCustomPrompt="1"/>
          </p:nvPr>
        </p:nvSpPr>
        <p:spPr>
          <a:xfrm>
            <a:off x="685800" y="1481328"/>
            <a:ext cx="10820095" cy="365760"/>
          </a:xfrm>
          <a:prstGeom prst="rect">
            <a:avLst/>
          </a:prstGeom>
          <a:noFill/>
          <a:ln/>
        </p:spPr>
        <p:txBody>
          <a:bodyPr wrap="square" lIns="0" tIns="0" rIns="0" bIns="0" rtlCol="0" anchor="t"/>
          <a:lstStyle/>
          <a:p>
            <a:pPr indent="0" marL="0">
              <a:buNone/>
            </a:pPr>
            <a:r>
              <a:rPr lang="en-US" sz="1350" dirty="0">
                <a:solidFill>
                  <a:schemeClr val="accent2"/>
                </a:solidFill>
              </a:rPr>
              <a:t>コンサルタントが案件を進めながら、担当者に手順を移植する</a:t>
            </a:r>
            <a:endParaRPr lang="en-US" sz="1350" dirty="0"/>
          </a:p>
        </p:txBody>
      </p:sp>
      <p:sp>
        <p:nvSpPr>
          <p:cNvPr id="6" name="Shape 4"/>
          <p:cNvSpPr/>
          <p:nvPr/>
        </p:nvSpPr>
        <p:spPr>
          <a:xfrm>
            <a:off x="1005840" y="2423160"/>
            <a:ext cx="10180015" cy="0"/>
          </a:xfrm>
          <a:prstGeom prst="line">
            <a:avLst/>
          </a:prstGeom>
          <a:noFill/>
          <a:ln w="25400">
            <a:solidFill>
              <a:srgbClr val="E6DCCB"/>
            </a:solidFill>
            <a:prstDash val="solid"/>
          </a:ln>
        </p:spPr>
      </p:sp>
      <p:sp>
        <p:nvSpPr>
          <p:cNvPr id="7" name="Shape 5"/>
          <p:cNvSpPr/>
          <p:nvPr/>
        </p:nvSpPr>
        <p:spPr>
          <a:xfrm>
            <a:off x="795528" y="2212848"/>
            <a:ext cx="420624" cy="420624"/>
          </a:xfrm>
          <a:prstGeom prst="ellipse">
            <a:avLst/>
          </a:prstGeom>
          <a:solidFill>
            <a:schemeClr val="accent1"/>
          </a:solidFill>
          <a:ln w="12700">
            <a:solidFill>
              <a:schemeClr val="accent1"/>
            </a:solidFill>
            <a:prstDash val="solid"/>
          </a:ln>
        </p:spPr>
      </p:sp>
      <p:sp>
        <p:nvSpPr>
          <p:cNvPr id="8" name="Text 6"/>
          <p:cNvSpPr txBox="1"/>
          <p:nvPr/>
        </p:nvSpPr>
        <p:spPr>
          <a:xfrm>
            <a:off x="795528" y="2212848"/>
            <a:ext cx="420624" cy="420624"/>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9" name="Text 7"/>
          <p:cNvSpPr txBox="1"/>
          <p:nvPr/>
        </p:nvSpPr>
        <p:spPr>
          <a:xfrm>
            <a:off x="1325880" y="2212848"/>
            <a:ext cx="1828800" cy="420624"/>
          </a:xfrm>
          <a:prstGeom prst="rect">
            <a:avLst/>
          </a:prstGeom>
          <a:noFill/>
          <a:ln/>
        </p:spPr>
        <p:txBody>
          <a:bodyPr wrap="square" lIns="0" tIns="0" rIns="0" bIns="0" rtlCol="0" anchor="ctr"/>
          <a:lstStyle/>
          <a:p>
            <a:pPr indent="0" marL="0">
              <a:buNone/>
            </a:pPr>
            <a:r>
              <a:rPr lang="en-US" sz="1300" b="1" dirty="0">
                <a:solidFill>
                  <a:schemeClr val="accent1"/>
                </a:solidFill>
              </a:rPr>
              <a:t>1〜2ヶ月</a:t>
            </a:r>
            <a:endParaRPr lang="en-US" sz="1300" dirty="0"/>
          </a:p>
        </p:txBody>
      </p:sp>
      <p:sp>
        <p:nvSpPr>
          <p:cNvPr id="10" name="step 1"/>
          <p:cNvSpPr/>
          <p:nvPr/>
        </p:nvSpPr>
        <p:spPr>
          <a:xfrm>
            <a:off x="685800" y="2834640"/>
            <a:ext cx="2560320" cy="1965960"/>
          </a:xfrm>
          <a:prstGeom prst="roundRect">
            <a:avLst>
              <a:gd name="adj" fmla="val 2791"/>
            </a:avLst>
          </a:prstGeom>
          <a:solidFill>
            <a:schemeClr val="bg2"/>
          </a:solidFill>
          <a:ln w="9525">
            <a:solidFill>
              <a:schemeClr val="accent3"/>
            </a:solidFill>
            <a:prstDash val="solid"/>
          </a:ln>
          <a:effectLst>
            <a:outerShdw sx="100000" sy="100000" kx="0" ky="0" algn="bl" rotWithShape="0" blurRad="76200" dist="25400" dir="5400000">
              <a:srgbClr val="6F665F">
                <a:alpha val="12000"/>
              </a:srgbClr>
            </a:outerShdw>
          </a:effectLst>
        </p:spPr>
      </p:sp>
      <p:sp>
        <p:nvSpPr>
          <p:cNvPr id="11" name="Text 9"/>
          <p:cNvSpPr txBox="1"/>
          <p:nvPr/>
        </p:nvSpPr>
        <p:spPr>
          <a:xfrm>
            <a:off x="914400" y="2971800"/>
            <a:ext cx="2148840" cy="365760"/>
          </a:xfrm>
          <a:prstGeom prst="rect">
            <a:avLst/>
          </a:prstGeom>
          <a:noFill/>
          <a:ln/>
        </p:spPr>
        <p:txBody>
          <a:bodyPr wrap="square" lIns="0" tIns="0" rIns="0" bIns="0" rtlCol="0" anchor="t"/>
          <a:lstStyle/>
          <a:p>
            <a:pPr indent="0" marL="0">
              <a:buNone/>
            </a:pPr>
            <a:r>
              <a:rPr lang="en-US" sz="1400" b="1" dirty="0">
                <a:solidFill>
                  <a:schemeClr val="tx1"/>
                </a:solidFill>
              </a:rPr>
              <a:t>戦略と値づけ基準</a:t>
            </a:r>
            <a:endParaRPr lang="en-US" sz="1400" dirty="0"/>
          </a:p>
        </p:txBody>
      </p:sp>
      <p:sp>
        <p:nvSpPr>
          <p:cNvPr id="12" name="Text 10"/>
          <p:cNvSpPr txBox="1"/>
          <p:nvPr/>
        </p:nvSpPr>
        <p:spPr>
          <a:xfrm>
            <a:off x="914400" y="3383280"/>
            <a:ext cx="2148840" cy="1325880"/>
          </a:xfrm>
          <a:prstGeom prst="rect">
            <a:avLst/>
          </a:prstGeom>
          <a:noFill/>
          <a:ln/>
        </p:spPr>
        <p:txBody>
          <a:bodyPr wrap="square" lIns="0" tIns="0" rIns="0" bIns="0" rtlCol="0" anchor="t"/>
          <a:lstStyle/>
          <a:p>
            <a:pPr indent="0" marL="0">
              <a:buNone/>
            </a:pPr>
            <a:r>
              <a:rPr lang="en-US" sz="1150" dirty="0">
                <a:solidFill>
                  <a:schemeClr val="accent2"/>
                </a:solidFill>
              </a:rPr>
              <a:t>自社BS/PLをAIで分析し、買う領域・予算・借入余力を決める</a:t>
            </a:r>
            <a:endParaRPr lang="en-US" sz="1150" dirty="0"/>
          </a:p>
        </p:txBody>
      </p:sp>
      <p:sp>
        <p:nvSpPr>
          <p:cNvPr id="13" name="goal 1"/>
          <p:cNvSpPr/>
          <p:nvPr/>
        </p:nvSpPr>
        <p:spPr>
          <a:xfrm>
            <a:off x="685800" y="4919472"/>
            <a:ext cx="2560320" cy="658368"/>
          </a:xfrm>
          <a:prstGeom prst="roundRect">
            <a:avLst>
              <a:gd name="adj" fmla="val 8333"/>
            </a:avLst>
          </a:prstGeom>
          <a:solidFill>
            <a:srgbClr val="FFFFFF"/>
          </a:solidFill>
          <a:ln w="9525">
            <a:solidFill>
              <a:schemeClr val="accent3"/>
            </a:solidFill>
            <a:prstDash val="solid"/>
          </a:ln>
        </p:spPr>
      </p:sp>
      <p:sp>
        <p:nvSpPr>
          <p:cNvPr id="14" name="Text 12"/>
          <p:cNvSpPr txBox="1"/>
          <p:nvPr/>
        </p:nvSpPr>
        <p:spPr>
          <a:xfrm>
            <a:off x="868680" y="4919472"/>
            <a:ext cx="2240280" cy="658368"/>
          </a:xfrm>
          <a:prstGeom prst="rect">
            <a:avLst/>
          </a:prstGeom>
          <a:noFill/>
          <a:ln/>
        </p:spPr>
        <p:txBody>
          <a:bodyPr wrap="square" lIns="0" tIns="0" rIns="0" bIns="0" rtlCol="0" anchor="ctr"/>
          <a:lstStyle/>
          <a:p>
            <a:pPr indent="0" marL="0">
              <a:buNone/>
            </a:pPr>
            <a:r>
              <a:rPr lang="en-US" sz="1150" b="1" dirty="0">
                <a:solidFill>
                  <a:schemeClr val="accent1"/>
                </a:solidFill>
              </a:rPr>
              <a:t>担当者が </a:t>
            </a:r>
            <a:pPr indent="0" marL="0">
              <a:buNone/>
            </a:pPr>
            <a:r>
              <a:rPr lang="en-US" sz="1150" b="1" dirty="0">
                <a:solidFill>
                  <a:schemeClr val="tx1"/>
                </a:solidFill>
              </a:rPr>
              <a:t>自社の買収基準を言える</a:t>
            </a:r>
            <a:endParaRPr lang="en-US" sz="1150" dirty="0"/>
          </a:p>
        </p:txBody>
      </p:sp>
      <p:sp>
        <p:nvSpPr>
          <p:cNvPr id="15" name="Shape 13"/>
          <p:cNvSpPr/>
          <p:nvPr/>
        </p:nvSpPr>
        <p:spPr>
          <a:xfrm>
            <a:off x="3566160" y="2212848"/>
            <a:ext cx="420624" cy="420624"/>
          </a:xfrm>
          <a:prstGeom prst="ellipse">
            <a:avLst/>
          </a:prstGeom>
          <a:solidFill>
            <a:schemeClr val="accent1"/>
          </a:solidFill>
          <a:ln w="12700">
            <a:solidFill>
              <a:schemeClr val="accent1"/>
            </a:solidFill>
            <a:prstDash val="solid"/>
          </a:ln>
        </p:spPr>
      </p:sp>
      <p:sp>
        <p:nvSpPr>
          <p:cNvPr id="16" name="Text 14"/>
          <p:cNvSpPr txBox="1"/>
          <p:nvPr/>
        </p:nvSpPr>
        <p:spPr>
          <a:xfrm>
            <a:off x="3566160" y="2212848"/>
            <a:ext cx="420624" cy="420624"/>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7" name="Text 15"/>
          <p:cNvSpPr txBox="1"/>
          <p:nvPr/>
        </p:nvSpPr>
        <p:spPr>
          <a:xfrm>
            <a:off x="4096512" y="2212848"/>
            <a:ext cx="1828800" cy="420624"/>
          </a:xfrm>
          <a:prstGeom prst="rect">
            <a:avLst/>
          </a:prstGeom>
          <a:noFill/>
          <a:ln/>
        </p:spPr>
        <p:txBody>
          <a:bodyPr wrap="square" lIns="0" tIns="0" rIns="0" bIns="0" rtlCol="0" anchor="ctr"/>
          <a:lstStyle/>
          <a:p>
            <a:pPr indent="0" marL="0">
              <a:buNone/>
            </a:pPr>
            <a:r>
              <a:rPr lang="en-US" sz="1300" b="1" dirty="0">
                <a:solidFill>
                  <a:schemeClr val="accent1"/>
                </a:solidFill>
              </a:rPr>
              <a:t>3〜5ヶ月</a:t>
            </a:r>
            <a:endParaRPr lang="en-US" sz="1300" dirty="0"/>
          </a:p>
        </p:txBody>
      </p:sp>
      <p:sp>
        <p:nvSpPr>
          <p:cNvPr id="18" name="step 2"/>
          <p:cNvSpPr/>
          <p:nvPr/>
        </p:nvSpPr>
        <p:spPr>
          <a:xfrm>
            <a:off x="3456432" y="2834640"/>
            <a:ext cx="2560320" cy="1965960"/>
          </a:xfrm>
          <a:prstGeom prst="roundRect">
            <a:avLst>
              <a:gd name="adj" fmla="val 2791"/>
            </a:avLst>
          </a:prstGeom>
          <a:solidFill>
            <a:schemeClr val="bg2"/>
          </a:solidFill>
          <a:ln w="9525">
            <a:solidFill>
              <a:schemeClr val="accent3"/>
            </a:solidFill>
            <a:prstDash val="solid"/>
          </a:ln>
          <a:effectLst>
            <a:outerShdw sx="100000" sy="100000" kx="0" ky="0" algn="bl" rotWithShape="0" blurRad="76200" dist="25400" dir="5400000">
              <a:srgbClr val="6F665F">
                <a:alpha val="12000"/>
              </a:srgbClr>
            </a:outerShdw>
          </a:effectLst>
        </p:spPr>
      </p:sp>
      <p:sp>
        <p:nvSpPr>
          <p:cNvPr id="19" name="Text 17"/>
          <p:cNvSpPr txBox="1"/>
          <p:nvPr/>
        </p:nvSpPr>
        <p:spPr>
          <a:xfrm>
            <a:off x="3685032" y="2971800"/>
            <a:ext cx="2148840" cy="365760"/>
          </a:xfrm>
          <a:prstGeom prst="rect">
            <a:avLst/>
          </a:prstGeom>
          <a:noFill/>
          <a:ln/>
        </p:spPr>
        <p:txBody>
          <a:bodyPr wrap="square" lIns="0" tIns="0" rIns="0" bIns="0" rtlCol="0" anchor="t"/>
          <a:lstStyle/>
          <a:p>
            <a:pPr indent="0" marL="0">
              <a:buNone/>
            </a:pPr>
            <a:r>
              <a:rPr lang="en-US" sz="1400" b="1" dirty="0">
                <a:solidFill>
                  <a:schemeClr val="tx1"/>
                </a:solidFill>
              </a:rPr>
              <a:t>ソーシングとIM読解</a:t>
            </a:r>
            <a:endParaRPr lang="en-US" sz="1400" dirty="0"/>
          </a:p>
        </p:txBody>
      </p:sp>
      <p:sp>
        <p:nvSpPr>
          <p:cNvPr id="20" name="Text 18"/>
          <p:cNvSpPr txBox="1"/>
          <p:nvPr/>
        </p:nvSpPr>
        <p:spPr>
          <a:xfrm>
            <a:off x="3685032" y="3383280"/>
            <a:ext cx="2148840" cy="1325880"/>
          </a:xfrm>
          <a:prstGeom prst="rect">
            <a:avLst/>
          </a:prstGeom>
          <a:noFill/>
          <a:ln/>
        </p:spPr>
        <p:txBody>
          <a:bodyPr wrap="square" lIns="0" tIns="0" rIns="0" bIns="0" rtlCol="0" anchor="t"/>
          <a:lstStyle/>
          <a:p>
            <a:pPr indent="0" marL="0">
              <a:buNone/>
            </a:pPr>
            <a:r>
              <a:rPr lang="en-US" sz="1150" dirty="0">
                <a:solidFill>
                  <a:schemeClr val="accent2"/>
                </a:solidFill>
              </a:rPr>
              <a:t>候補リストを作って打診。IMをAIで読み、足切りと優先順位をつける</a:t>
            </a:r>
            <a:endParaRPr lang="en-US" sz="1150" dirty="0"/>
          </a:p>
        </p:txBody>
      </p:sp>
      <p:sp>
        <p:nvSpPr>
          <p:cNvPr id="21" name="goal 2"/>
          <p:cNvSpPr/>
          <p:nvPr/>
        </p:nvSpPr>
        <p:spPr>
          <a:xfrm>
            <a:off x="3456432" y="4919472"/>
            <a:ext cx="2560320" cy="658368"/>
          </a:xfrm>
          <a:prstGeom prst="roundRect">
            <a:avLst>
              <a:gd name="adj" fmla="val 8333"/>
            </a:avLst>
          </a:prstGeom>
          <a:solidFill>
            <a:srgbClr val="FFFFFF"/>
          </a:solidFill>
          <a:ln w="9525">
            <a:solidFill>
              <a:schemeClr val="accent3"/>
            </a:solidFill>
            <a:prstDash val="solid"/>
          </a:ln>
        </p:spPr>
      </p:sp>
      <p:sp>
        <p:nvSpPr>
          <p:cNvPr id="22" name="Text 20"/>
          <p:cNvSpPr txBox="1"/>
          <p:nvPr/>
        </p:nvSpPr>
        <p:spPr>
          <a:xfrm>
            <a:off x="3639312" y="4919472"/>
            <a:ext cx="2240280" cy="658368"/>
          </a:xfrm>
          <a:prstGeom prst="rect">
            <a:avLst/>
          </a:prstGeom>
          <a:noFill/>
          <a:ln/>
        </p:spPr>
        <p:txBody>
          <a:bodyPr wrap="square" lIns="0" tIns="0" rIns="0" bIns="0" rtlCol="0" anchor="ctr"/>
          <a:lstStyle/>
          <a:p>
            <a:pPr indent="0" marL="0">
              <a:buNone/>
            </a:pPr>
            <a:r>
              <a:rPr lang="en-US" sz="1150" b="1" dirty="0">
                <a:solidFill>
                  <a:schemeClr val="accent1"/>
                </a:solidFill>
              </a:rPr>
              <a:t>担当者が </a:t>
            </a:r>
            <a:pPr indent="0" marL="0">
              <a:buNone/>
            </a:pPr>
            <a:r>
              <a:rPr lang="en-US" sz="1150" b="1" dirty="0">
                <a:solidFill>
                  <a:schemeClr val="tx1"/>
                </a:solidFill>
              </a:rPr>
              <a:t>IMを読み、足切りできる</a:t>
            </a:r>
            <a:endParaRPr lang="en-US" sz="1150" dirty="0"/>
          </a:p>
        </p:txBody>
      </p:sp>
      <p:sp>
        <p:nvSpPr>
          <p:cNvPr id="23" name="Shape 21"/>
          <p:cNvSpPr/>
          <p:nvPr/>
        </p:nvSpPr>
        <p:spPr>
          <a:xfrm>
            <a:off x="6336792" y="2212848"/>
            <a:ext cx="420624" cy="420624"/>
          </a:xfrm>
          <a:prstGeom prst="ellipse">
            <a:avLst/>
          </a:prstGeom>
          <a:solidFill>
            <a:schemeClr val="accent1"/>
          </a:solidFill>
          <a:ln w="12700">
            <a:solidFill>
              <a:schemeClr val="accent1"/>
            </a:solidFill>
            <a:prstDash val="solid"/>
          </a:ln>
        </p:spPr>
      </p:sp>
      <p:sp>
        <p:nvSpPr>
          <p:cNvPr id="24" name="Text 22"/>
          <p:cNvSpPr txBox="1"/>
          <p:nvPr/>
        </p:nvSpPr>
        <p:spPr>
          <a:xfrm>
            <a:off x="6336792" y="2212848"/>
            <a:ext cx="420624" cy="420624"/>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25" name="Text 23"/>
          <p:cNvSpPr txBox="1"/>
          <p:nvPr/>
        </p:nvSpPr>
        <p:spPr>
          <a:xfrm>
            <a:off x="6867144" y="2212848"/>
            <a:ext cx="1828800" cy="420624"/>
          </a:xfrm>
          <a:prstGeom prst="rect">
            <a:avLst/>
          </a:prstGeom>
          <a:noFill/>
          <a:ln/>
        </p:spPr>
        <p:txBody>
          <a:bodyPr wrap="square" lIns="0" tIns="0" rIns="0" bIns="0" rtlCol="0" anchor="ctr"/>
          <a:lstStyle/>
          <a:p>
            <a:pPr indent="0" marL="0">
              <a:buNone/>
            </a:pPr>
            <a:r>
              <a:rPr lang="en-US" sz="1300" b="1" dirty="0">
                <a:solidFill>
                  <a:schemeClr val="accent1"/>
                </a:solidFill>
              </a:rPr>
              <a:t>6〜8ヶ月</a:t>
            </a:r>
            <a:endParaRPr lang="en-US" sz="1300" dirty="0"/>
          </a:p>
        </p:txBody>
      </p:sp>
      <p:sp>
        <p:nvSpPr>
          <p:cNvPr id="26" name="step 3"/>
          <p:cNvSpPr/>
          <p:nvPr/>
        </p:nvSpPr>
        <p:spPr>
          <a:xfrm>
            <a:off x="6227064" y="2834640"/>
            <a:ext cx="2560320" cy="1965960"/>
          </a:xfrm>
          <a:prstGeom prst="roundRect">
            <a:avLst>
              <a:gd name="adj" fmla="val 2791"/>
            </a:avLst>
          </a:prstGeom>
          <a:solidFill>
            <a:schemeClr val="bg2"/>
          </a:solidFill>
          <a:ln w="9525">
            <a:solidFill>
              <a:schemeClr val="accent3"/>
            </a:solidFill>
            <a:prstDash val="solid"/>
          </a:ln>
          <a:effectLst>
            <a:outerShdw sx="100000" sy="100000" kx="0" ky="0" algn="bl" rotWithShape="0" blurRad="76200" dist="25400" dir="5400000">
              <a:srgbClr val="6F665F">
                <a:alpha val="12000"/>
              </a:srgbClr>
            </a:outerShdw>
          </a:effectLst>
        </p:spPr>
      </p:sp>
      <p:sp>
        <p:nvSpPr>
          <p:cNvPr id="27" name="Text 25"/>
          <p:cNvSpPr txBox="1"/>
          <p:nvPr/>
        </p:nvSpPr>
        <p:spPr>
          <a:xfrm>
            <a:off x="6455664" y="2971800"/>
            <a:ext cx="2148840" cy="365760"/>
          </a:xfrm>
          <a:prstGeom prst="rect">
            <a:avLst/>
          </a:prstGeom>
          <a:noFill/>
          <a:ln/>
        </p:spPr>
        <p:txBody>
          <a:bodyPr wrap="square" lIns="0" tIns="0" rIns="0" bIns="0" rtlCol="0" anchor="t"/>
          <a:lstStyle/>
          <a:p>
            <a:pPr indent="0" marL="0">
              <a:buNone/>
            </a:pPr>
            <a:r>
              <a:rPr lang="en-US" sz="1400" b="1" dirty="0">
                <a:solidFill>
                  <a:schemeClr val="tx1"/>
                </a:solidFill>
              </a:rPr>
              <a:t>交渉・DD・資金</a:t>
            </a:r>
            <a:endParaRPr lang="en-US" sz="1400" dirty="0"/>
          </a:p>
        </p:txBody>
      </p:sp>
      <p:sp>
        <p:nvSpPr>
          <p:cNvPr id="28" name="Text 26"/>
          <p:cNvSpPr txBox="1"/>
          <p:nvPr/>
        </p:nvSpPr>
        <p:spPr>
          <a:xfrm>
            <a:off x="6455664" y="3383280"/>
            <a:ext cx="2148840" cy="1325880"/>
          </a:xfrm>
          <a:prstGeom prst="rect">
            <a:avLst/>
          </a:prstGeom>
          <a:noFill/>
          <a:ln/>
        </p:spPr>
        <p:txBody>
          <a:bodyPr wrap="square" lIns="0" tIns="0" rIns="0" bIns="0" rtlCol="0" anchor="t"/>
          <a:lstStyle/>
          <a:p>
            <a:pPr indent="0" marL="0">
              <a:buNone/>
            </a:pPr>
            <a:r>
              <a:rPr lang="en-US" sz="1150" dirty="0">
                <a:solidFill>
                  <a:schemeClr val="accent2"/>
                </a:solidFill>
              </a:rPr>
              <a:t>交渉に同席して指導。DDの論点整理と資金調達の設計</a:t>
            </a:r>
            <a:endParaRPr lang="en-US" sz="1150" dirty="0"/>
          </a:p>
        </p:txBody>
      </p:sp>
      <p:sp>
        <p:nvSpPr>
          <p:cNvPr id="29" name="goal 3"/>
          <p:cNvSpPr/>
          <p:nvPr/>
        </p:nvSpPr>
        <p:spPr>
          <a:xfrm>
            <a:off x="6227064" y="4919472"/>
            <a:ext cx="2560320" cy="658368"/>
          </a:xfrm>
          <a:prstGeom prst="roundRect">
            <a:avLst>
              <a:gd name="adj" fmla="val 8333"/>
            </a:avLst>
          </a:prstGeom>
          <a:solidFill>
            <a:srgbClr val="FFFFFF"/>
          </a:solidFill>
          <a:ln w="9525">
            <a:solidFill>
              <a:schemeClr val="accent3"/>
            </a:solidFill>
            <a:prstDash val="solid"/>
          </a:ln>
        </p:spPr>
      </p:sp>
      <p:sp>
        <p:nvSpPr>
          <p:cNvPr id="30" name="Text 28"/>
          <p:cNvSpPr txBox="1"/>
          <p:nvPr/>
        </p:nvSpPr>
        <p:spPr>
          <a:xfrm>
            <a:off x="6409944" y="4919472"/>
            <a:ext cx="2240280" cy="658368"/>
          </a:xfrm>
          <a:prstGeom prst="rect">
            <a:avLst/>
          </a:prstGeom>
          <a:noFill/>
          <a:ln/>
        </p:spPr>
        <p:txBody>
          <a:bodyPr wrap="square" lIns="0" tIns="0" rIns="0" bIns="0" rtlCol="0" anchor="ctr"/>
          <a:lstStyle/>
          <a:p>
            <a:pPr indent="0" marL="0">
              <a:buNone/>
            </a:pPr>
            <a:r>
              <a:rPr lang="en-US" sz="1150" b="1" dirty="0">
                <a:solidFill>
                  <a:schemeClr val="accent1"/>
                </a:solidFill>
              </a:rPr>
              <a:t>担当者が </a:t>
            </a:r>
            <a:pPr indent="0" marL="0">
              <a:buNone/>
            </a:pPr>
            <a:r>
              <a:rPr lang="en-US" sz="1150" b="1" dirty="0">
                <a:solidFill>
                  <a:schemeClr val="tx1"/>
                </a:solidFill>
              </a:rPr>
              <a:t>仲介と対等に交渉できる</a:t>
            </a:r>
            <a:endParaRPr lang="en-US" sz="1150" dirty="0"/>
          </a:p>
        </p:txBody>
      </p:sp>
      <p:sp>
        <p:nvSpPr>
          <p:cNvPr id="31" name="Shape 29"/>
          <p:cNvSpPr/>
          <p:nvPr/>
        </p:nvSpPr>
        <p:spPr>
          <a:xfrm>
            <a:off x="9107424" y="2212848"/>
            <a:ext cx="420624" cy="420624"/>
          </a:xfrm>
          <a:prstGeom prst="ellipse">
            <a:avLst/>
          </a:prstGeom>
          <a:solidFill>
            <a:schemeClr val="tx1"/>
          </a:solidFill>
          <a:ln w="12700">
            <a:solidFill>
              <a:schemeClr val="tx1"/>
            </a:solidFill>
            <a:prstDash val="solid"/>
          </a:ln>
        </p:spPr>
      </p:sp>
      <p:sp>
        <p:nvSpPr>
          <p:cNvPr id="32" name="Text 30"/>
          <p:cNvSpPr txBox="1"/>
          <p:nvPr/>
        </p:nvSpPr>
        <p:spPr>
          <a:xfrm>
            <a:off x="9107424" y="2212848"/>
            <a:ext cx="420624" cy="420624"/>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33" name="Text 31"/>
          <p:cNvSpPr txBox="1"/>
          <p:nvPr/>
        </p:nvSpPr>
        <p:spPr>
          <a:xfrm>
            <a:off x="9637776" y="2212848"/>
            <a:ext cx="1828800" cy="420624"/>
          </a:xfrm>
          <a:prstGeom prst="rect">
            <a:avLst/>
          </a:prstGeom>
          <a:noFill/>
          <a:ln/>
        </p:spPr>
        <p:txBody>
          <a:bodyPr wrap="square" lIns="0" tIns="0" rIns="0" bIns="0" rtlCol="0" anchor="ctr"/>
          <a:lstStyle/>
          <a:p>
            <a:pPr indent="0" marL="0">
              <a:buNone/>
            </a:pPr>
            <a:r>
              <a:rPr lang="en-US" sz="1300" b="1" dirty="0">
                <a:solidFill>
                  <a:schemeClr val="accent1"/>
                </a:solidFill>
              </a:rPr>
              <a:t>9〜12ヶ月</a:t>
            </a:r>
            <a:endParaRPr lang="en-US" sz="1300" dirty="0"/>
          </a:p>
        </p:txBody>
      </p:sp>
      <p:sp>
        <p:nvSpPr>
          <p:cNvPr id="34" name="step 4"/>
          <p:cNvSpPr/>
          <p:nvPr/>
        </p:nvSpPr>
        <p:spPr>
          <a:xfrm>
            <a:off x="8997696" y="2834640"/>
            <a:ext cx="2560320" cy="1965960"/>
          </a:xfrm>
          <a:prstGeom prst="roundRect">
            <a:avLst>
              <a:gd name="adj" fmla="val 2791"/>
            </a:avLst>
          </a:prstGeom>
          <a:solidFill>
            <a:schemeClr val="bg2"/>
          </a:solidFill>
          <a:ln w="9525">
            <a:solidFill>
              <a:schemeClr val="accent3"/>
            </a:solidFill>
            <a:prstDash val="solid"/>
          </a:ln>
          <a:effectLst>
            <a:outerShdw sx="100000" sy="100000" kx="0" ky="0" algn="bl" rotWithShape="0" blurRad="76200" dist="25400" dir="5400000">
              <a:srgbClr val="6F665F">
                <a:alpha val="12000"/>
              </a:srgbClr>
            </a:outerShdw>
          </a:effectLst>
        </p:spPr>
      </p:sp>
      <p:sp>
        <p:nvSpPr>
          <p:cNvPr id="35" name="Text 33"/>
          <p:cNvSpPr txBox="1"/>
          <p:nvPr/>
        </p:nvSpPr>
        <p:spPr>
          <a:xfrm>
            <a:off x="9226296" y="2971800"/>
            <a:ext cx="2148840" cy="365760"/>
          </a:xfrm>
          <a:prstGeom prst="rect">
            <a:avLst/>
          </a:prstGeom>
          <a:noFill/>
          <a:ln/>
        </p:spPr>
        <p:txBody>
          <a:bodyPr wrap="square" lIns="0" tIns="0" rIns="0" bIns="0" rtlCol="0" anchor="t"/>
          <a:lstStyle/>
          <a:p>
            <a:pPr indent="0" marL="0">
              <a:buNone/>
            </a:pPr>
            <a:r>
              <a:rPr lang="en-US" sz="1400" b="1" dirty="0">
                <a:solidFill>
                  <a:schemeClr val="tx1"/>
                </a:solidFill>
              </a:rPr>
              <a:t>クロージングとPMI</a:t>
            </a:r>
            <a:endParaRPr lang="en-US" sz="1400" dirty="0"/>
          </a:p>
        </p:txBody>
      </p:sp>
      <p:sp>
        <p:nvSpPr>
          <p:cNvPr id="36" name="Text 34"/>
          <p:cNvSpPr txBox="1"/>
          <p:nvPr/>
        </p:nvSpPr>
        <p:spPr>
          <a:xfrm>
            <a:off x="9226296" y="3383280"/>
            <a:ext cx="2148840" cy="1325880"/>
          </a:xfrm>
          <a:prstGeom prst="rect">
            <a:avLst/>
          </a:prstGeom>
          <a:noFill/>
          <a:ln/>
        </p:spPr>
        <p:txBody>
          <a:bodyPr wrap="square" lIns="0" tIns="0" rIns="0" bIns="0" rtlCol="0" anchor="t"/>
          <a:lstStyle/>
          <a:p>
            <a:pPr indent="0" marL="0">
              <a:buNone/>
            </a:pPr>
            <a:r>
              <a:rPr lang="en-US" sz="1150" dirty="0">
                <a:solidFill>
                  <a:schemeClr val="accent2"/>
                </a:solidFill>
              </a:rPr>
              <a:t>PMI責任者と100日プラン、撤退ラインを決める</a:t>
            </a:r>
            <a:endParaRPr lang="en-US" sz="1150" dirty="0"/>
          </a:p>
        </p:txBody>
      </p:sp>
      <p:sp>
        <p:nvSpPr>
          <p:cNvPr id="37" name="goal 4"/>
          <p:cNvSpPr/>
          <p:nvPr/>
        </p:nvSpPr>
        <p:spPr>
          <a:xfrm>
            <a:off x="8997696" y="4919472"/>
            <a:ext cx="2560320" cy="658368"/>
          </a:xfrm>
          <a:prstGeom prst="roundRect">
            <a:avLst>
              <a:gd name="adj" fmla="val 8333"/>
            </a:avLst>
          </a:prstGeom>
          <a:solidFill>
            <a:srgbClr val="FFFFFF"/>
          </a:solidFill>
          <a:ln w="9525">
            <a:solidFill>
              <a:schemeClr val="accent3"/>
            </a:solidFill>
            <a:prstDash val="solid"/>
          </a:ln>
        </p:spPr>
      </p:sp>
      <p:sp>
        <p:nvSpPr>
          <p:cNvPr id="38" name="Text 36"/>
          <p:cNvSpPr txBox="1"/>
          <p:nvPr/>
        </p:nvSpPr>
        <p:spPr>
          <a:xfrm>
            <a:off x="9180576" y="4919472"/>
            <a:ext cx="2240280" cy="658368"/>
          </a:xfrm>
          <a:prstGeom prst="rect">
            <a:avLst/>
          </a:prstGeom>
          <a:noFill/>
          <a:ln/>
        </p:spPr>
        <p:txBody>
          <a:bodyPr wrap="square" lIns="0" tIns="0" rIns="0" bIns="0" rtlCol="0" anchor="ctr"/>
          <a:lstStyle/>
          <a:p>
            <a:pPr indent="0" marL="0">
              <a:buNone/>
            </a:pPr>
            <a:r>
              <a:rPr lang="en-US" sz="1150" b="1" dirty="0">
                <a:solidFill>
                  <a:schemeClr val="accent1"/>
                </a:solidFill>
              </a:rPr>
              <a:t>担当者が </a:t>
            </a:r>
            <a:pPr indent="0" marL="0">
              <a:buNone/>
            </a:pPr>
            <a:r>
              <a:rPr lang="en-US" sz="1150" b="1" dirty="0">
                <a:solidFill>
                  <a:schemeClr val="tx1"/>
                </a:solidFill>
              </a:rPr>
              <a:t>買った後を自走できる</a:t>
            </a:r>
            <a:endParaRPr lang="en-US" sz="1150" dirty="0"/>
          </a:p>
        </p:txBody>
      </p:sp>
      <p:sp>
        <p:nvSpPr>
          <p:cNvPr id="39" name="Text 37"/>
          <p:cNvSpPr txBox="1"/>
          <p:nvPr/>
        </p:nvSpPr>
        <p:spPr>
          <a:xfrm>
            <a:off x="685800" y="5760720"/>
            <a:ext cx="10820095" cy="320040"/>
          </a:xfrm>
          <a:prstGeom prst="rect">
            <a:avLst/>
          </a:prstGeom>
          <a:noFill/>
          <a:ln/>
        </p:spPr>
        <p:txBody>
          <a:bodyPr wrap="square" lIns="0" tIns="0" rIns="0" bIns="0" rtlCol="0" anchor="t"/>
          <a:lstStyle/>
          <a:p>
            <a:pPr indent="0" marL="0">
              <a:buNone/>
            </a:pPr>
            <a:r>
              <a:rPr lang="en-US" sz="1200" b="1" i="1" dirty="0">
                <a:solidFill>
                  <a:schemeClr val="accent1"/>
                </a:solidFill>
              </a:rPr>
              <a:t>体制：コンサルタント1人で10社まで（交渉段階は同時3社まで）。顧客同士がぶつからないよう、同業は1社まで</a:t>
            </a:r>
            <a:endParaRPr lang="en-US" sz="1200" dirty="0"/>
          </a:p>
        </p:txBody>
      </p:sp>
      <p:sp>
        <p:nvSpPr>
          <p:cNvPr id="25" name="Slide Number Placeholder 0"/>
          <p:cNvSpPr>
            <a:spLocks noGrp="1"/>
          </p:cNvSpPr>
          <p:nvPr>
            <p:ph type="sldNum" sz="quarter" idx="4294967295"/>
          </p:nvPr>
        </p:nvSpPr>
        <p:spPr>
          <a:xfrm>
            <a:off x="10957255"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kicker dot"/>
          <p:cNvSpPr/>
          <p:nvPr/>
        </p:nvSpPr>
        <p:spPr>
          <a:xfrm>
            <a:off x="685800" y="484632"/>
            <a:ext cx="109728" cy="109728"/>
          </a:xfrm>
          <a:prstGeom prst="ellipse">
            <a:avLst/>
          </a:prstGeom>
          <a:solidFill>
            <a:schemeClr val="accent1"/>
          </a:solidFill>
          <a:ln w="12700">
            <a:solidFill>
              <a:schemeClr val="accent1"/>
            </a:solidFill>
            <a:prstDash val="solid"/>
          </a:ln>
        </p:spPr>
      </p:sp>
      <p:sp>
        <p:nvSpPr>
          <p:cNvPr id="3" name="Text 0"/>
          <p:cNvSpPr/>
          <p:nvPr>
            <p:ph idx="100" type="body" hasCustomPrompt="1"/>
          </p:nvPr>
        </p:nvSpPr>
        <p:spPr>
          <a:xfrm>
            <a:off x="923544" y="365760"/>
            <a:ext cx="9601200" cy="329184"/>
          </a:xfrm>
          <a:prstGeom prst="rect">
            <a:avLst/>
          </a:prstGeom>
          <a:noFill/>
          <a:ln/>
        </p:spPr>
        <p:txBody>
          <a:bodyPr wrap="square" lIns="0" tIns="0" rIns="0" bIns="0" rtlCol="0" anchor="ctr"/>
          <a:lstStyle/>
          <a:p>
            <a:pPr indent="0" marL="0">
              <a:buNone/>
            </a:pPr>
            <a:r>
              <a:rPr lang="en-US" sz="1200" b="1" spc="240" kern="0" dirty="0">
                <a:solidFill>
                  <a:schemeClr val="accent1"/>
                </a:solidFill>
              </a:rPr>
              <a:t>PRICING</a:t>
            </a:r>
            <a:endParaRPr lang="en-US" sz="1200" dirty="0"/>
          </a:p>
        </p:txBody>
      </p:sp>
      <p:sp>
        <p:nvSpPr>
          <p:cNvPr id="4" name="Text 0"/>
          <p:cNvSpPr/>
          <p:nvPr>
            <p:ph idx="101" type="title" hasCustomPrompt="1"/>
          </p:nvPr>
        </p:nvSpPr>
        <p:spPr>
          <a:xfrm>
            <a:off x="685800" y="749808"/>
            <a:ext cx="10820095" cy="731520"/>
          </a:xfrm>
          <a:prstGeom prst="rect">
            <a:avLst/>
          </a:prstGeom>
          <a:noFill/>
          <a:ln/>
        </p:spPr>
        <p:txBody>
          <a:bodyPr wrap="square" lIns="0" tIns="0" rIns="0" bIns="0" rtlCol="0" anchor="ctr"/>
          <a:lstStyle/>
          <a:p>
            <a:pPr algn="l" indent="0" marL="0">
              <a:buNone/>
            </a:pPr>
            <a:r>
              <a:rPr lang="en-US" sz="3000" b="1" dirty="0">
                <a:solidFill>
                  <a:schemeClr val="tx1"/>
                </a:solidFill>
              </a:rPr>
              <a:t>ツールで入り、人で深め、成約したら成功報酬</a:t>
            </a:r>
            <a:endParaRPr lang="en-US" sz="3000" dirty="0"/>
          </a:p>
        </p:txBody>
      </p:sp>
      <p:sp>
        <p:nvSpPr>
          <p:cNvPr id="5" name="Text 0"/>
          <p:cNvSpPr/>
          <p:nvPr>
            <p:ph idx="102" type="body" hasCustomPrompt="1"/>
          </p:nvPr>
        </p:nvSpPr>
        <p:spPr>
          <a:xfrm>
            <a:off x="685800" y="1481328"/>
            <a:ext cx="10820095" cy="365760"/>
          </a:xfrm>
          <a:prstGeom prst="rect">
            <a:avLst/>
          </a:prstGeom>
          <a:noFill/>
          <a:ln/>
        </p:spPr>
        <p:txBody>
          <a:bodyPr wrap="square" lIns="0" tIns="0" rIns="0" bIns="0" rtlCol="0" anchor="t"/>
          <a:lstStyle/>
          <a:p>
            <a:pPr indent="0" marL="0">
              <a:buNone/>
            </a:pPr>
            <a:r>
              <a:rPr lang="en-US" sz="1350" dirty="0">
                <a:solidFill>
                  <a:schemeClr val="accent2"/>
                </a:solidFill>
              </a:rPr>
              <a:t>M&amp;A担当を1人採用する（年収800〜1,500万円＋採用費）より安く、社内に人とデータが育つ</a:t>
            </a:r>
            <a:endParaRPr lang="en-US" sz="1350" dirty="0"/>
          </a:p>
        </p:txBody>
      </p:sp>
      <p:sp>
        <p:nvSpPr>
          <p:cNvPr id="6" name="plan ツール"/>
          <p:cNvSpPr/>
          <p:nvPr/>
        </p:nvSpPr>
        <p:spPr>
          <a:xfrm>
            <a:off x="685800" y="2103120"/>
            <a:ext cx="2596896" cy="3977640"/>
          </a:xfrm>
          <a:prstGeom prst="roundRect">
            <a:avLst>
              <a:gd name="adj" fmla="val 2113"/>
            </a:avLst>
          </a:prstGeom>
          <a:solidFill>
            <a:schemeClr val="bg2"/>
          </a:solidFill>
          <a:ln w="9525">
            <a:solidFill>
              <a:schemeClr val="accent3"/>
            </a:solidFill>
            <a:prstDash val="solid"/>
          </a:ln>
          <a:effectLst>
            <a:outerShdw sx="100000" sy="100000" kx="0" ky="0" algn="bl" rotWithShape="0" blurRad="76200" dist="25400" dir="5400000">
              <a:srgbClr val="6F665F">
                <a:alpha val="12000"/>
              </a:srgbClr>
            </a:outerShdw>
          </a:effectLst>
        </p:spPr>
      </p:sp>
      <p:sp>
        <p:nvSpPr>
          <p:cNvPr id="7" name="Text 5"/>
          <p:cNvSpPr txBox="1"/>
          <p:nvPr/>
        </p:nvSpPr>
        <p:spPr>
          <a:xfrm>
            <a:off x="914400" y="2286000"/>
            <a:ext cx="1463040" cy="365760"/>
          </a:xfrm>
          <a:prstGeom prst="rect">
            <a:avLst/>
          </a:prstGeom>
          <a:noFill/>
          <a:ln/>
        </p:spPr>
        <p:txBody>
          <a:bodyPr wrap="square" lIns="0" tIns="0" rIns="0" bIns="0" rtlCol="0" anchor="t"/>
          <a:lstStyle/>
          <a:p>
            <a:pPr indent="0" marL="0">
              <a:buNone/>
            </a:pPr>
            <a:r>
              <a:rPr lang="en-US" sz="1400" b="1" dirty="0">
                <a:solidFill>
                  <a:schemeClr val="accent1"/>
                </a:solidFill>
              </a:rPr>
              <a:t>ツール</a:t>
            </a:r>
            <a:endParaRPr lang="en-US" sz="1400" dirty="0"/>
          </a:p>
        </p:txBody>
      </p:sp>
      <p:sp>
        <p:nvSpPr>
          <p:cNvPr id="8" name="Text 6"/>
          <p:cNvSpPr txBox="1"/>
          <p:nvPr/>
        </p:nvSpPr>
        <p:spPr>
          <a:xfrm>
            <a:off x="914400" y="2697480"/>
            <a:ext cx="2240280" cy="777240"/>
          </a:xfrm>
          <a:prstGeom prst="rect">
            <a:avLst/>
          </a:prstGeom>
          <a:noFill/>
          <a:ln/>
        </p:spPr>
        <p:txBody>
          <a:bodyPr wrap="square" lIns="0" tIns="0" rIns="0" bIns="0" rtlCol="0" anchor="ctr"/>
          <a:lstStyle/>
          <a:p>
            <a:pPr indent="0" marL="0">
              <a:buNone/>
            </a:pPr>
            <a:r>
              <a:rPr lang="en-US" sz="3600" b="1" dirty="0">
                <a:solidFill>
                  <a:schemeClr val="tx1"/>
                </a:solidFill>
              </a:rPr>
              <a:t>10</a:t>
            </a:r>
            <a:pPr indent="0" marL="0">
              <a:buNone/>
            </a:pPr>
            <a:r>
              <a:rPr lang="en-US" sz="1100" b="1" dirty="0">
                <a:solidFill>
                  <a:schemeClr val="accent2"/>
                </a:solidFill>
              </a:rPr>
              <a:t> 万円／月</a:t>
            </a:r>
            <a:endParaRPr lang="en-US" sz="1300" dirty="0"/>
          </a:p>
        </p:txBody>
      </p:sp>
      <p:sp>
        <p:nvSpPr>
          <p:cNvPr id="9" name="Text 7"/>
          <p:cNvSpPr txBox="1"/>
          <p:nvPr/>
        </p:nvSpPr>
        <p:spPr>
          <a:xfrm>
            <a:off x="914400" y="3474720"/>
            <a:ext cx="2194560" cy="274320"/>
          </a:xfrm>
          <a:prstGeom prst="rect">
            <a:avLst/>
          </a:prstGeom>
          <a:noFill/>
          <a:ln/>
        </p:spPr>
        <p:txBody>
          <a:bodyPr wrap="square" lIns="0" tIns="0" rIns="0" bIns="0" rtlCol="0" anchor="t"/>
          <a:lstStyle/>
          <a:p>
            <a:pPr indent="0" marL="0">
              <a:buNone/>
            </a:pPr>
            <a:r>
              <a:rPr lang="en-US" sz="1000" dirty="0">
                <a:solidFill>
                  <a:schemeClr val="accent2"/>
                </a:solidFill>
              </a:rPr>
              <a:t>③＋②　入口のプラン</a:t>
            </a:r>
            <a:endParaRPr lang="en-US" sz="1000" dirty="0"/>
          </a:p>
        </p:txBody>
      </p:sp>
      <p:sp>
        <p:nvSpPr>
          <p:cNvPr id="10" name="Shape 8"/>
          <p:cNvSpPr/>
          <p:nvPr/>
        </p:nvSpPr>
        <p:spPr>
          <a:xfrm>
            <a:off x="914400" y="3858768"/>
            <a:ext cx="2139696" cy="0"/>
          </a:xfrm>
          <a:prstGeom prst="line">
            <a:avLst/>
          </a:prstGeom>
          <a:noFill/>
          <a:ln w="9525">
            <a:solidFill>
              <a:srgbClr val="E6DCCB"/>
            </a:solidFill>
            <a:prstDash val="solid"/>
          </a:ln>
        </p:spPr>
      </p:sp>
      <p:sp>
        <p:nvSpPr>
          <p:cNvPr id="11" name="Text 9"/>
          <p:cNvSpPr txBox="1"/>
          <p:nvPr/>
        </p:nvSpPr>
        <p:spPr>
          <a:xfrm>
            <a:off x="914400" y="3977640"/>
            <a:ext cx="2231136" cy="2011680"/>
          </a:xfrm>
          <a:prstGeom prst="rect">
            <a:avLst/>
          </a:prstGeom>
          <a:noFill/>
          <a:ln/>
        </p:spPr>
        <p:txBody>
          <a:bodyPr wrap="square" lIns="0" tIns="0" rIns="0" bIns="0" rtlCol="0" anchor="t"/>
          <a:lstStyle/>
          <a:p>
            <a:pPr marL="139700" indent="-139700">
              <a:spcAft>
                <a:spcPts val="500"/>
              </a:spcAft>
              <a:buSzPct val="100000"/>
              <a:buChar char="•"/>
            </a:pPr>
            <a:r>
              <a:rPr lang="en-US" sz="1050" dirty="0">
                <a:solidFill>
                  <a:schemeClr val="tx1"/>
                </a:solidFill>
              </a:rPr>
              <a:t>M&amp;A情報REINS（全案件の横断収集）</a:t>
            </a:r>
            <a:endParaRPr lang="en-US" sz="1050" dirty="0"/>
          </a:p>
          <a:p>
            <a:pPr marL="139700" indent="-139700">
              <a:spcAft>
                <a:spcPts val="500"/>
              </a:spcAft>
              <a:buSzPct val="100000"/>
              <a:buChar char="•"/>
            </a:pPr>
            <a:r>
              <a:rPr lang="en-US" sz="1050" dirty="0">
                <a:solidFill>
                  <a:schemeClr val="tx1"/>
                </a:solidFill>
              </a:rPr>
              <a:t>自社データを学習するAI</a:t>
            </a:r>
            <a:endParaRPr lang="en-US" sz="1050" dirty="0"/>
          </a:p>
          <a:p>
            <a:pPr marL="139700" indent="-139700">
              <a:spcAft>
                <a:spcPts val="500"/>
              </a:spcAft>
              <a:buSzPct val="100000"/>
              <a:buChar char="•"/>
            </a:pPr>
            <a:r>
              <a:rPr lang="en-US" sz="1050" dirty="0">
                <a:solidFill>
                  <a:schemeClr val="tx1"/>
                </a:solidFill>
              </a:rPr>
              <a:t>シナジー・投資回収の試算</a:t>
            </a:r>
            <a:endParaRPr lang="en-US" sz="1050" dirty="0"/>
          </a:p>
          <a:p>
            <a:pPr marL="139700" indent="-139700">
              <a:spcAft>
                <a:spcPts val="500"/>
              </a:spcAft>
              <a:buSzPct val="100000"/>
              <a:buChar char="•"/>
            </a:pPr>
            <a:r>
              <a:rPr lang="en-US" sz="1050" dirty="0">
                <a:solidFill>
                  <a:schemeClr val="tx1"/>
                </a:solidFill>
              </a:rPr>
              <a:t>有望案件の毎朝通知</a:t>
            </a:r>
            <a:endParaRPr lang="en-US" sz="1050" dirty="0"/>
          </a:p>
        </p:txBody>
      </p:sp>
      <p:sp>
        <p:nvSpPr>
          <p:cNvPr id="12" name="plan スタンダード"/>
          <p:cNvSpPr/>
          <p:nvPr/>
        </p:nvSpPr>
        <p:spPr>
          <a:xfrm>
            <a:off x="3419856" y="2103120"/>
            <a:ext cx="2596896" cy="3977640"/>
          </a:xfrm>
          <a:prstGeom prst="roundRect">
            <a:avLst>
              <a:gd name="adj" fmla="val 2113"/>
            </a:avLst>
          </a:prstGeom>
          <a:solidFill>
            <a:schemeClr val="bg2"/>
          </a:solidFill>
          <a:ln w="9525">
            <a:solidFill>
              <a:schemeClr val="accent3"/>
            </a:solidFill>
            <a:prstDash val="solid"/>
          </a:ln>
          <a:effectLst>
            <a:outerShdw sx="100000" sy="100000" kx="0" ky="0" algn="bl" rotWithShape="0" blurRad="76200" dist="25400" dir="5400000">
              <a:srgbClr val="6F665F">
                <a:alpha val="12000"/>
              </a:srgbClr>
            </a:outerShdw>
          </a:effectLst>
        </p:spPr>
      </p:sp>
      <p:sp>
        <p:nvSpPr>
          <p:cNvPr id="13" name="Text 11"/>
          <p:cNvSpPr txBox="1"/>
          <p:nvPr/>
        </p:nvSpPr>
        <p:spPr>
          <a:xfrm>
            <a:off x="3648456" y="2286000"/>
            <a:ext cx="1463040" cy="365760"/>
          </a:xfrm>
          <a:prstGeom prst="rect">
            <a:avLst/>
          </a:prstGeom>
          <a:noFill/>
          <a:ln/>
        </p:spPr>
        <p:txBody>
          <a:bodyPr wrap="square" lIns="0" tIns="0" rIns="0" bIns="0" rtlCol="0" anchor="t"/>
          <a:lstStyle/>
          <a:p>
            <a:pPr indent="0" marL="0">
              <a:buNone/>
            </a:pPr>
            <a:r>
              <a:rPr lang="en-US" sz="1400" b="1" dirty="0">
                <a:solidFill>
                  <a:schemeClr val="accent1"/>
                </a:solidFill>
              </a:rPr>
              <a:t>スタンダード</a:t>
            </a:r>
            <a:endParaRPr lang="en-US" sz="1400" dirty="0"/>
          </a:p>
        </p:txBody>
      </p:sp>
      <p:sp>
        <p:nvSpPr>
          <p:cNvPr id="14" name="Text 12"/>
          <p:cNvSpPr txBox="1"/>
          <p:nvPr/>
        </p:nvSpPr>
        <p:spPr>
          <a:xfrm>
            <a:off x="3648456" y="2697480"/>
            <a:ext cx="2240280" cy="777240"/>
          </a:xfrm>
          <a:prstGeom prst="rect">
            <a:avLst/>
          </a:prstGeom>
          <a:noFill/>
          <a:ln/>
        </p:spPr>
        <p:txBody>
          <a:bodyPr wrap="square" lIns="0" tIns="0" rIns="0" bIns="0" rtlCol="0" anchor="ctr"/>
          <a:lstStyle/>
          <a:p>
            <a:pPr indent="0" marL="0">
              <a:buNone/>
            </a:pPr>
            <a:r>
              <a:rPr lang="en-US" sz="3600" b="1" dirty="0">
                <a:solidFill>
                  <a:schemeClr val="tx1"/>
                </a:solidFill>
              </a:rPr>
              <a:t>50</a:t>
            </a:r>
            <a:pPr indent="0" marL="0">
              <a:buNone/>
            </a:pPr>
            <a:r>
              <a:rPr lang="en-US" sz="1100" b="1" dirty="0">
                <a:solidFill>
                  <a:schemeClr val="accent2"/>
                </a:solidFill>
              </a:rPr>
              <a:t> 万円／月</a:t>
            </a:r>
            <a:endParaRPr lang="en-US" sz="1300" dirty="0"/>
          </a:p>
        </p:txBody>
      </p:sp>
      <p:sp>
        <p:nvSpPr>
          <p:cNvPr id="15" name="Text 13"/>
          <p:cNvSpPr txBox="1"/>
          <p:nvPr/>
        </p:nvSpPr>
        <p:spPr>
          <a:xfrm>
            <a:off x="3648456" y="3474720"/>
            <a:ext cx="2194560" cy="274320"/>
          </a:xfrm>
          <a:prstGeom prst="rect">
            <a:avLst/>
          </a:prstGeom>
          <a:noFill/>
          <a:ln/>
        </p:spPr>
        <p:txBody>
          <a:bodyPr wrap="square" lIns="0" tIns="0" rIns="0" bIns="0" rtlCol="0" anchor="t"/>
          <a:lstStyle/>
          <a:p>
            <a:pPr indent="0" marL="0">
              <a:buNone/>
            </a:pPr>
            <a:r>
              <a:rPr lang="en-US" sz="1000" dirty="0">
                <a:solidFill>
                  <a:schemeClr val="accent2"/>
                </a:solidFill>
              </a:rPr>
              <a:t>①＋②＋③　12ヶ月</a:t>
            </a:r>
            <a:endParaRPr lang="en-US" sz="1000" dirty="0"/>
          </a:p>
        </p:txBody>
      </p:sp>
      <p:sp>
        <p:nvSpPr>
          <p:cNvPr id="16" name="Shape 14"/>
          <p:cNvSpPr/>
          <p:nvPr/>
        </p:nvSpPr>
        <p:spPr>
          <a:xfrm>
            <a:off x="3648456" y="3858768"/>
            <a:ext cx="2139696" cy="0"/>
          </a:xfrm>
          <a:prstGeom prst="line">
            <a:avLst/>
          </a:prstGeom>
          <a:noFill/>
          <a:ln w="9525">
            <a:solidFill>
              <a:srgbClr val="E6DCCB"/>
            </a:solidFill>
            <a:prstDash val="solid"/>
          </a:ln>
        </p:spPr>
      </p:sp>
      <p:sp>
        <p:nvSpPr>
          <p:cNvPr id="17" name="Text 15"/>
          <p:cNvSpPr txBox="1"/>
          <p:nvPr/>
        </p:nvSpPr>
        <p:spPr>
          <a:xfrm>
            <a:off x="3648456" y="3977640"/>
            <a:ext cx="2231136" cy="2011680"/>
          </a:xfrm>
          <a:prstGeom prst="rect">
            <a:avLst/>
          </a:prstGeom>
          <a:noFill/>
          <a:ln/>
        </p:spPr>
        <p:txBody>
          <a:bodyPr wrap="square" lIns="0" tIns="0" rIns="0" bIns="0" rtlCol="0" anchor="t"/>
          <a:lstStyle/>
          <a:p>
            <a:pPr marL="139700" indent="-139700">
              <a:spcAft>
                <a:spcPts val="500"/>
              </a:spcAft>
              <a:buSzPct val="100000"/>
              <a:buChar char="•"/>
            </a:pPr>
            <a:r>
              <a:rPr lang="en-US" sz="1050" dirty="0">
                <a:solidFill>
                  <a:schemeClr val="tx1"/>
                </a:solidFill>
              </a:rPr>
              <a:t>ツールの全機能</a:t>
            </a:r>
            <a:endParaRPr lang="en-US" sz="1050" dirty="0"/>
          </a:p>
          <a:p>
            <a:pPr marL="139700" indent="-139700">
              <a:spcAft>
                <a:spcPts val="500"/>
              </a:spcAft>
              <a:buSzPct val="100000"/>
              <a:buChar char="•"/>
            </a:pPr>
            <a:r>
              <a:rPr lang="en-US" sz="1050" dirty="0">
                <a:solidFill>
                  <a:schemeClr val="tx1"/>
                </a:solidFill>
              </a:rPr>
              <a:t>M&amp;A担当の派遣・育成</a:t>
            </a:r>
            <a:endParaRPr lang="en-US" sz="1050" dirty="0"/>
          </a:p>
          <a:p>
            <a:pPr marL="139700" indent="-139700">
              <a:spcAft>
                <a:spcPts val="500"/>
              </a:spcAft>
              <a:buSzPct val="100000"/>
              <a:buChar char="•"/>
            </a:pPr>
            <a:r>
              <a:rPr lang="en-US" sz="1050" dirty="0">
                <a:solidFill>
                  <a:schemeClr val="tx1"/>
                </a:solidFill>
              </a:rPr>
              <a:t>ソーシング・IMの読解</a:t>
            </a:r>
            <a:endParaRPr lang="en-US" sz="1050" dirty="0"/>
          </a:p>
          <a:p>
            <a:pPr marL="139700" indent="-139700">
              <a:spcAft>
                <a:spcPts val="500"/>
              </a:spcAft>
              <a:buSzPct val="100000"/>
              <a:buChar char="•"/>
            </a:pPr>
            <a:r>
              <a:rPr lang="en-US" sz="1050" dirty="0">
                <a:solidFill>
                  <a:schemeClr val="tx1"/>
                </a:solidFill>
              </a:rPr>
              <a:t>資金調達の設計</a:t>
            </a:r>
            <a:endParaRPr lang="en-US" sz="1050" dirty="0"/>
          </a:p>
          <a:p>
            <a:pPr marL="139700" indent="-139700">
              <a:spcAft>
                <a:spcPts val="500"/>
              </a:spcAft>
              <a:buSzPct val="100000"/>
              <a:buChar char="•"/>
            </a:pPr>
            <a:r>
              <a:rPr lang="en-US" sz="1050" dirty="0">
                <a:solidFill>
                  <a:schemeClr val="tx1"/>
                </a:solidFill>
              </a:rPr>
              <a:t>交渉への同席と指導</a:t>
            </a:r>
            <a:endParaRPr lang="en-US" sz="1050" dirty="0"/>
          </a:p>
        </p:txBody>
      </p:sp>
      <p:sp>
        <p:nvSpPr>
          <p:cNvPr id="18" name="plan premium"/>
          <p:cNvSpPr/>
          <p:nvPr/>
        </p:nvSpPr>
        <p:spPr>
          <a:xfrm>
            <a:off x="6153912" y="2103120"/>
            <a:ext cx="2596896" cy="3977640"/>
          </a:xfrm>
          <a:prstGeom prst="roundRect">
            <a:avLst>
              <a:gd name="adj" fmla="val 2113"/>
            </a:avLst>
          </a:prstGeom>
          <a:solidFill>
            <a:schemeClr val="tx1"/>
          </a:solidFill>
          <a:ln w="12700">
            <a:solidFill>
              <a:schemeClr val="tx1"/>
            </a:solidFill>
            <a:prstDash val="solid"/>
          </a:ln>
        </p:spPr>
      </p:sp>
      <p:sp>
        <p:nvSpPr>
          <p:cNvPr id="19" name="Shape 17"/>
          <p:cNvSpPr/>
          <p:nvPr/>
        </p:nvSpPr>
        <p:spPr>
          <a:xfrm>
            <a:off x="7662672" y="2304288"/>
            <a:ext cx="914400" cy="274320"/>
          </a:xfrm>
          <a:prstGeom prst="roundRect">
            <a:avLst>
              <a:gd name="adj" fmla="val 50000"/>
            </a:avLst>
          </a:prstGeom>
          <a:solidFill>
            <a:schemeClr val="accent1"/>
          </a:solidFill>
          <a:ln w="12700">
            <a:solidFill>
              <a:schemeClr val="accent1"/>
            </a:solidFill>
            <a:prstDash val="solid"/>
          </a:ln>
        </p:spPr>
      </p:sp>
      <p:sp>
        <p:nvSpPr>
          <p:cNvPr id="20" name="Text 18"/>
          <p:cNvSpPr txBox="1"/>
          <p:nvPr/>
        </p:nvSpPr>
        <p:spPr>
          <a:xfrm>
            <a:off x="7662672" y="2304288"/>
            <a:ext cx="914400" cy="274320"/>
          </a:xfrm>
          <a:prstGeom prst="rect">
            <a:avLst/>
          </a:prstGeom>
          <a:noFill/>
          <a:ln/>
        </p:spPr>
        <p:txBody>
          <a:bodyPr wrap="square" lIns="0" tIns="0" rIns="0" bIns="0" rtlCol="0" anchor="ctr"/>
          <a:lstStyle/>
          <a:p>
            <a:pPr algn="ctr" indent="0" marL="0">
              <a:buNone/>
            </a:pPr>
            <a:r>
              <a:rPr lang="en-US" sz="950" b="1" dirty="0">
                <a:solidFill>
                  <a:schemeClr val="bg1"/>
                </a:solidFill>
              </a:rPr>
              <a:t>おすすめ</a:t>
            </a:r>
            <a:endParaRPr lang="en-US" sz="950" dirty="0"/>
          </a:p>
        </p:txBody>
      </p:sp>
      <p:sp>
        <p:nvSpPr>
          <p:cNvPr id="21" name="Text 19"/>
          <p:cNvSpPr txBox="1"/>
          <p:nvPr/>
        </p:nvSpPr>
        <p:spPr>
          <a:xfrm>
            <a:off x="6382512" y="2286000"/>
            <a:ext cx="1463040" cy="365760"/>
          </a:xfrm>
          <a:prstGeom prst="rect">
            <a:avLst/>
          </a:prstGeom>
          <a:noFill/>
          <a:ln/>
        </p:spPr>
        <p:txBody>
          <a:bodyPr wrap="square" lIns="0" tIns="0" rIns="0" bIns="0" rtlCol="0" anchor="t"/>
          <a:lstStyle/>
          <a:p>
            <a:pPr indent="0" marL="0">
              <a:buNone/>
            </a:pPr>
            <a:r>
              <a:rPr lang="en-US" sz="1400" b="1" dirty="0">
                <a:solidFill>
                  <a:schemeClr val="accent4"/>
                </a:solidFill>
              </a:rPr>
              <a:t>プレミアム</a:t>
            </a:r>
            <a:endParaRPr lang="en-US" sz="1400" dirty="0"/>
          </a:p>
        </p:txBody>
      </p:sp>
      <p:sp>
        <p:nvSpPr>
          <p:cNvPr id="22" name="Text 20"/>
          <p:cNvSpPr txBox="1"/>
          <p:nvPr/>
        </p:nvSpPr>
        <p:spPr>
          <a:xfrm>
            <a:off x="6382512" y="2697480"/>
            <a:ext cx="2240280" cy="777240"/>
          </a:xfrm>
          <a:prstGeom prst="rect">
            <a:avLst/>
          </a:prstGeom>
          <a:noFill/>
          <a:ln/>
        </p:spPr>
        <p:txBody>
          <a:bodyPr wrap="square" lIns="0" tIns="0" rIns="0" bIns="0" rtlCol="0" anchor="ctr"/>
          <a:lstStyle/>
          <a:p>
            <a:pPr indent="0" marL="0">
              <a:buNone/>
            </a:pPr>
            <a:r>
              <a:rPr lang="en-US" sz="3600" b="1" dirty="0">
                <a:solidFill>
                  <a:schemeClr val="bg1"/>
                </a:solidFill>
              </a:rPr>
              <a:t>80</a:t>
            </a:r>
            <a:pPr indent="0" marL="0">
              <a:buNone/>
            </a:pPr>
            <a:r>
              <a:rPr lang="en-US" sz="1100" b="1" dirty="0">
                <a:solidFill>
                  <a:schemeClr val="accent3"/>
                </a:solidFill>
              </a:rPr>
              <a:t> 万円／月</a:t>
            </a:r>
            <a:endParaRPr lang="en-US" sz="1300" dirty="0"/>
          </a:p>
        </p:txBody>
      </p:sp>
      <p:sp>
        <p:nvSpPr>
          <p:cNvPr id="23" name="Text 21"/>
          <p:cNvSpPr txBox="1"/>
          <p:nvPr/>
        </p:nvSpPr>
        <p:spPr>
          <a:xfrm>
            <a:off x="6382512" y="3474720"/>
            <a:ext cx="2194560" cy="274320"/>
          </a:xfrm>
          <a:prstGeom prst="rect">
            <a:avLst/>
          </a:prstGeom>
          <a:noFill/>
          <a:ln/>
        </p:spPr>
        <p:txBody>
          <a:bodyPr wrap="square" lIns="0" tIns="0" rIns="0" bIns="0" rtlCol="0" anchor="t"/>
          <a:lstStyle/>
          <a:p>
            <a:pPr indent="0" marL="0">
              <a:buNone/>
            </a:pPr>
            <a:r>
              <a:rPr lang="en-US" sz="1000" dirty="0">
                <a:solidFill>
                  <a:schemeClr val="accent5"/>
                </a:solidFill>
              </a:rPr>
              <a:t>枠数限定</a:t>
            </a:r>
            <a:endParaRPr lang="en-US" sz="1000" dirty="0"/>
          </a:p>
        </p:txBody>
      </p:sp>
      <p:sp>
        <p:nvSpPr>
          <p:cNvPr id="24" name="Shape 22"/>
          <p:cNvSpPr/>
          <p:nvPr/>
        </p:nvSpPr>
        <p:spPr>
          <a:xfrm>
            <a:off x="6382512" y="3858768"/>
            <a:ext cx="2139696" cy="0"/>
          </a:xfrm>
          <a:prstGeom prst="line">
            <a:avLst/>
          </a:prstGeom>
          <a:noFill/>
          <a:ln w="9525">
            <a:solidFill>
              <a:srgbClr val="4E443C"/>
            </a:solidFill>
            <a:prstDash val="solid"/>
          </a:ln>
        </p:spPr>
      </p:sp>
      <p:sp>
        <p:nvSpPr>
          <p:cNvPr id="25" name="Text 23"/>
          <p:cNvSpPr txBox="1"/>
          <p:nvPr/>
        </p:nvSpPr>
        <p:spPr>
          <a:xfrm>
            <a:off x="6382512" y="3977640"/>
            <a:ext cx="2231136" cy="2011680"/>
          </a:xfrm>
          <a:prstGeom prst="rect">
            <a:avLst/>
          </a:prstGeom>
          <a:noFill/>
          <a:ln/>
        </p:spPr>
        <p:txBody>
          <a:bodyPr wrap="square" lIns="0" tIns="0" rIns="0" bIns="0" rtlCol="0" anchor="t"/>
          <a:lstStyle/>
          <a:p>
            <a:pPr marL="139700" indent="-139700">
              <a:spcAft>
                <a:spcPts val="500"/>
              </a:spcAft>
              <a:buSzPct val="100000"/>
              <a:buChar char="•"/>
            </a:pPr>
            <a:r>
              <a:rPr lang="en-US" sz="1050" dirty="0">
                <a:solidFill>
                  <a:schemeClr val="bg1"/>
                </a:solidFill>
              </a:rPr>
              <a:t>スタンダードの全内容</a:t>
            </a:r>
            <a:endParaRPr lang="en-US" sz="1050" dirty="0"/>
          </a:p>
          <a:p>
            <a:pPr marL="139700" indent="-139700">
              <a:spcAft>
                <a:spcPts val="500"/>
              </a:spcAft>
              <a:buSzPct val="100000"/>
              <a:buChar char="•"/>
            </a:pPr>
            <a:r>
              <a:rPr lang="en-US" sz="1050" dirty="0">
                <a:solidFill>
                  <a:schemeClr val="bg1"/>
                </a:solidFill>
              </a:rPr>
              <a:t>中野との月1時間の壁打ち</a:t>
            </a:r>
            <a:endParaRPr lang="en-US" sz="1050" dirty="0"/>
          </a:p>
          <a:p>
            <a:pPr marL="139700" indent="-139700">
              <a:spcAft>
                <a:spcPts val="500"/>
              </a:spcAft>
              <a:buSzPct val="100000"/>
              <a:buChar char="•"/>
            </a:pPr>
            <a:r>
              <a:rPr lang="en-US" sz="1050" dirty="0">
                <a:solidFill>
                  <a:schemeClr val="bg1"/>
                </a:solidFill>
              </a:rPr>
              <a:t>49戦の基準でのフィードバック</a:t>
            </a:r>
            <a:endParaRPr lang="en-US" sz="1050" dirty="0"/>
          </a:p>
          <a:p>
            <a:pPr marL="139700" indent="-139700">
              <a:spcAft>
                <a:spcPts val="500"/>
              </a:spcAft>
              <a:buSzPct val="100000"/>
              <a:buChar char="•"/>
            </a:pPr>
            <a:r>
              <a:rPr lang="en-US" sz="1050" dirty="0">
                <a:solidFill>
                  <a:schemeClr val="bg1"/>
                </a:solidFill>
              </a:rPr>
              <a:t>交渉の代行</a:t>
            </a:r>
            <a:endParaRPr lang="en-US" sz="1050" dirty="0"/>
          </a:p>
        </p:txBody>
      </p:sp>
      <p:sp>
        <p:nvSpPr>
          <p:cNvPr id="26" name="plan 成功報酬"/>
          <p:cNvSpPr/>
          <p:nvPr/>
        </p:nvSpPr>
        <p:spPr>
          <a:xfrm>
            <a:off x="8887968" y="2103120"/>
            <a:ext cx="2596896" cy="3977640"/>
          </a:xfrm>
          <a:prstGeom prst="roundRect">
            <a:avLst>
              <a:gd name="adj" fmla="val 2113"/>
            </a:avLst>
          </a:prstGeom>
          <a:solidFill>
            <a:schemeClr val="bg2"/>
          </a:solidFill>
          <a:ln w="9525">
            <a:solidFill>
              <a:schemeClr val="accent3"/>
            </a:solidFill>
            <a:prstDash val="solid"/>
          </a:ln>
          <a:effectLst>
            <a:outerShdw sx="100000" sy="100000" kx="0" ky="0" algn="bl" rotWithShape="0" blurRad="76200" dist="25400" dir="5400000">
              <a:srgbClr val="6F665F">
                <a:alpha val="12000"/>
              </a:srgbClr>
            </a:outerShdw>
          </a:effectLst>
        </p:spPr>
      </p:sp>
      <p:sp>
        <p:nvSpPr>
          <p:cNvPr id="27" name="Text 25"/>
          <p:cNvSpPr txBox="1"/>
          <p:nvPr/>
        </p:nvSpPr>
        <p:spPr>
          <a:xfrm>
            <a:off x="9116568" y="2286000"/>
            <a:ext cx="1463040" cy="365760"/>
          </a:xfrm>
          <a:prstGeom prst="rect">
            <a:avLst/>
          </a:prstGeom>
          <a:noFill/>
          <a:ln/>
        </p:spPr>
        <p:txBody>
          <a:bodyPr wrap="square" lIns="0" tIns="0" rIns="0" bIns="0" rtlCol="0" anchor="t"/>
          <a:lstStyle/>
          <a:p>
            <a:pPr indent="0" marL="0">
              <a:buNone/>
            </a:pPr>
            <a:r>
              <a:rPr lang="en-US" sz="1400" b="1" dirty="0">
                <a:solidFill>
                  <a:schemeClr val="accent1"/>
                </a:solidFill>
              </a:rPr>
              <a:t>成功報酬</a:t>
            </a:r>
            <a:endParaRPr lang="en-US" sz="1400" dirty="0"/>
          </a:p>
        </p:txBody>
      </p:sp>
      <p:sp>
        <p:nvSpPr>
          <p:cNvPr id="28" name="Text 26"/>
          <p:cNvSpPr txBox="1"/>
          <p:nvPr/>
        </p:nvSpPr>
        <p:spPr>
          <a:xfrm>
            <a:off x="9116568" y="2697480"/>
            <a:ext cx="2240280" cy="777240"/>
          </a:xfrm>
          <a:prstGeom prst="rect">
            <a:avLst/>
          </a:prstGeom>
          <a:noFill/>
          <a:ln/>
        </p:spPr>
        <p:txBody>
          <a:bodyPr wrap="square" lIns="0" tIns="0" rIns="0" bIns="0" rtlCol="0" anchor="ctr"/>
          <a:lstStyle/>
          <a:p>
            <a:pPr indent="0" marL="0">
              <a:buNone/>
            </a:pPr>
            <a:r>
              <a:rPr lang="en-US" sz="3600" b="1" dirty="0">
                <a:solidFill>
                  <a:schemeClr val="tx1"/>
                </a:solidFill>
              </a:rPr>
              <a:t>2〜3</a:t>
            </a:r>
            <a:pPr indent="0" marL="0">
              <a:buNone/>
            </a:pPr>
            <a:r>
              <a:rPr lang="en-US" sz="1100" b="1" dirty="0">
                <a:solidFill>
                  <a:schemeClr val="accent2"/>
                </a:solidFill>
              </a:rPr>
              <a:t> %</a:t>
            </a:r>
            <a:endParaRPr lang="en-US" sz="1300" dirty="0"/>
          </a:p>
        </p:txBody>
      </p:sp>
      <p:sp>
        <p:nvSpPr>
          <p:cNvPr id="29" name="Text 27"/>
          <p:cNvSpPr txBox="1"/>
          <p:nvPr/>
        </p:nvSpPr>
        <p:spPr>
          <a:xfrm>
            <a:off x="9116568" y="3474720"/>
            <a:ext cx="2194560" cy="274320"/>
          </a:xfrm>
          <a:prstGeom prst="rect">
            <a:avLst/>
          </a:prstGeom>
          <a:noFill/>
          <a:ln/>
        </p:spPr>
        <p:txBody>
          <a:bodyPr wrap="square" lIns="0" tIns="0" rIns="0" bIns="0" rtlCol="0" anchor="t"/>
          <a:lstStyle/>
          <a:p>
            <a:pPr indent="0" marL="0">
              <a:buNone/>
            </a:pPr>
            <a:r>
              <a:rPr lang="en-US" sz="1000" dirty="0">
                <a:solidFill>
                  <a:schemeClr val="accent2"/>
                </a:solidFill>
              </a:rPr>
              <a:t>成約時のみ・最低500万円</a:t>
            </a:r>
            <a:endParaRPr lang="en-US" sz="1000" dirty="0"/>
          </a:p>
        </p:txBody>
      </p:sp>
      <p:sp>
        <p:nvSpPr>
          <p:cNvPr id="30" name="Shape 28"/>
          <p:cNvSpPr/>
          <p:nvPr/>
        </p:nvSpPr>
        <p:spPr>
          <a:xfrm>
            <a:off x="9116568" y="3858768"/>
            <a:ext cx="2139696" cy="0"/>
          </a:xfrm>
          <a:prstGeom prst="line">
            <a:avLst/>
          </a:prstGeom>
          <a:noFill/>
          <a:ln w="9525">
            <a:solidFill>
              <a:srgbClr val="E6DCCB"/>
            </a:solidFill>
            <a:prstDash val="solid"/>
          </a:ln>
        </p:spPr>
      </p:sp>
      <p:sp>
        <p:nvSpPr>
          <p:cNvPr id="31" name="Text 29"/>
          <p:cNvSpPr txBox="1"/>
          <p:nvPr/>
        </p:nvSpPr>
        <p:spPr>
          <a:xfrm>
            <a:off x="9116568" y="3977640"/>
            <a:ext cx="2231136" cy="2011680"/>
          </a:xfrm>
          <a:prstGeom prst="rect">
            <a:avLst/>
          </a:prstGeom>
          <a:noFill/>
          <a:ln/>
        </p:spPr>
        <p:txBody>
          <a:bodyPr wrap="square" lIns="0" tIns="0" rIns="0" bIns="0" rtlCol="0" anchor="t"/>
          <a:lstStyle/>
          <a:p>
            <a:pPr marL="139700" indent="-139700">
              <a:spcAft>
                <a:spcPts val="500"/>
              </a:spcAft>
              <a:buSzPct val="100000"/>
              <a:buChar char="•"/>
            </a:pPr>
            <a:r>
              <a:rPr lang="en-US" sz="1050" dirty="0">
                <a:solidFill>
                  <a:schemeClr val="tx1"/>
                </a:solidFill>
              </a:rPr>
              <a:t>買い手FAとしてクロージングまで</a:t>
            </a:r>
            <a:endParaRPr lang="en-US" sz="1050" dirty="0"/>
          </a:p>
          <a:p>
            <a:pPr marL="139700" indent="-139700">
              <a:spcAft>
                <a:spcPts val="500"/>
              </a:spcAft>
              <a:buSzPct val="100000"/>
              <a:buChar char="•"/>
            </a:pPr>
            <a:r>
              <a:rPr lang="en-US" sz="1050" dirty="0">
                <a:solidFill>
                  <a:schemeClr val="tx1"/>
                </a:solidFill>
              </a:rPr>
              <a:t>支払済み月額の50%を充当</a:t>
            </a:r>
            <a:endParaRPr lang="en-US" sz="1050" dirty="0"/>
          </a:p>
          <a:p>
            <a:pPr marL="139700" indent="-139700">
              <a:spcAft>
                <a:spcPts val="500"/>
              </a:spcAft>
              <a:buSzPct val="100000"/>
              <a:buChar char="•"/>
            </a:pPr>
            <a:r>
              <a:rPr lang="en-US" sz="1050" dirty="0">
                <a:solidFill>
                  <a:schemeClr val="tx1"/>
                </a:solidFill>
              </a:rPr>
              <a:t>二重取りにしない</a:t>
            </a:r>
            <a:endParaRPr lang="en-US" sz="1050" dirty="0"/>
          </a:p>
        </p:txBody>
      </p:sp>
      <p:sp>
        <p:nvSpPr>
          <p:cNvPr id="32" name="Text 30"/>
          <p:cNvSpPr txBox="1"/>
          <p:nvPr/>
        </p:nvSpPr>
        <p:spPr>
          <a:xfrm>
            <a:off x="685800" y="6144768"/>
            <a:ext cx="10820095" cy="256032"/>
          </a:xfrm>
          <a:prstGeom prst="rect">
            <a:avLst/>
          </a:prstGeom>
          <a:noFill/>
          <a:ln/>
        </p:spPr>
        <p:txBody>
          <a:bodyPr wrap="square" lIns="0" tIns="0" rIns="0" bIns="0" rtlCol="0" anchor="t"/>
          <a:lstStyle/>
          <a:p>
            <a:pPr indent="0" marL="0">
              <a:buNone/>
            </a:pPr>
            <a:r>
              <a:rPr lang="en-US" sz="900" dirty="0">
                <a:solidFill>
                  <a:schemeClr val="accent5"/>
                </a:solidFill>
              </a:rPr>
              <a:t>価格はすべて税別・仮置き。顧客インタビューで支払意思額を検証して確定する</a:t>
            </a:r>
            <a:endParaRPr lang="en-US" sz="900" dirty="0"/>
          </a:p>
        </p:txBody>
      </p:sp>
      <p:sp>
        <p:nvSpPr>
          <p:cNvPr id="25" name="Slide Number Placeholder 0"/>
          <p:cNvSpPr>
            <a:spLocks noGrp="1"/>
          </p:cNvSpPr>
          <p:nvPr>
            <p:ph type="sldNum" sz="quarter" idx="4294967295"/>
          </p:nvPr>
        </p:nvSpPr>
        <p:spPr>
          <a:xfrm>
            <a:off x="10957255"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kicker dot"/>
          <p:cNvSpPr/>
          <p:nvPr/>
        </p:nvSpPr>
        <p:spPr>
          <a:xfrm>
            <a:off x="685800" y="484632"/>
            <a:ext cx="109728" cy="109728"/>
          </a:xfrm>
          <a:prstGeom prst="ellipse">
            <a:avLst/>
          </a:prstGeom>
          <a:solidFill>
            <a:schemeClr val="accent1"/>
          </a:solidFill>
          <a:ln w="12700">
            <a:solidFill>
              <a:schemeClr val="accent1"/>
            </a:solidFill>
            <a:prstDash val="solid"/>
          </a:ln>
        </p:spPr>
      </p:sp>
      <p:sp>
        <p:nvSpPr>
          <p:cNvPr id="3" name="Text 0"/>
          <p:cNvSpPr/>
          <p:nvPr>
            <p:ph idx="100" type="body" hasCustomPrompt="1"/>
          </p:nvPr>
        </p:nvSpPr>
        <p:spPr>
          <a:xfrm>
            <a:off x="923544" y="365760"/>
            <a:ext cx="9601200" cy="329184"/>
          </a:xfrm>
          <a:prstGeom prst="rect">
            <a:avLst/>
          </a:prstGeom>
          <a:noFill/>
          <a:ln/>
        </p:spPr>
        <p:txBody>
          <a:bodyPr wrap="square" lIns="0" tIns="0" rIns="0" bIns="0" rtlCol="0" anchor="ctr"/>
          <a:lstStyle/>
          <a:p>
            <a:pPr indent="0" marL="0">
              <a:buNone/>
            </a:pPr>
            <a:r>
              <a:rPr lang="en-US" sz="1200" b="1" spc="240" kern="0" dirty="0">
                <a:solidFill>
                  <a:schemeClr val="accent1"/>
                </a:solidFill>
              </a:rPr>
              <a:t>MOAT</a:t>
            </a:r>
            <a:endParaRPr lang="en-US" sz="1200" dirty="0"/>
          </a:p>
        </p:txBody>
      </p:sp>
      <p:sp>
        <p:nvSpPr>
          <p:cNvPr id="4" name="Text 0"/>
          <p:cNvSpPr/>
          <p:nvPr>
            <p:ph idx="101" type="title" hasCustomPrompt="1"/>
          </p:nvPr>
        </p:nvSpPr>
        <p:spPr>
          <a:xfrm>
            <a:off x="685800" y="749808"/>
            <a:ext cx="10820095" cy="731520"/>
          </a:xfrm>
          <a:prstGeom prst="rect">
            <a:avLst/>
          </a:prstGeom>
          <a:noFill/>
          <a:ln/>
        </p:spPr>
        <p:txBody>
          <a:bodyPr wrap="square" lIns="0" tIns="0" rIns="0" bIns="0" rtlCol="0" anchor="ctr"/>
          <a:lstStyle/>
          <a:p>
            <a:pPr algn="l" indent="0" marL="0">
              <a:buNone/>
            </a:pPr>
            <a:r>
              <a:rPr lang="en-US" sz="3000" b="1" dirty="0">
                <a:solidFill>
                  <a:schemeClr val="tx1"/>
                </a:solidFill>
              </a:rPr>
              <a:t>使うほど溜まるデータが、真似されない強みになる</a:t>
            </a:r>
            <a:endParaRPr lang="en-US" sz="3000" dirty="0"/>
          </a:p>
        </p:txBody>
      </p:sp>
      <p:sp>
        <p:nvSpPr>
          <p:cNvPr id="5" name="Text 0"/>
          <p:cNvSpPr/>
          <p:nvPr>
            <p:ph idx="102" type="body" hasCustomPrompt="1"/>
          </p:nvPr>
        </p:nvSpPr>
        <p:spPr>
          <a:xfrm>
            <a:off x="685800" y="1481328"/>
            <a:ext cx="10820095" cy="365760"/>
          </a:xfrm>
          <a:prstGeom prst="rect">
            <a:avLst/>
          </a:prstGeom>
          <a:noFill/>
          <a:ln/>
        </p:spPr>
        <p:txBody>
          <a:bodyPr wrap="square" lIns="0" tIns="0" rIns="0" bIns="0" rtlCol="0" anchor="t"/>
          <a:lstStyle/>
          <a:p>
            <a:pPr indent="0" marL="0">
              <a:buNone/>
            </a:pPr>
            <a:r>
              <a:rPr lang="en-US" sz="1350" dirty="0">
                <a:solidFill>
                  <a:schemeClr val="accent2"/>
                </a:solidFill>
              </a:rPr>
              <a:t>不動産のREINSの本当の価値は成約データ。M&amp;Aでも同じ資産をつくる</a:t>
            </a:r>
            <a:endParaRPr lang="en-US" sz="1350" dirty="0"/>
          </a:p>
        </p:txBody>
      </p:sp>
      <p:sp>
        <p:nvSpPr>
          <p:cNvPr id="6" name="flywheel hub"/>
          <p:cNvSpPr/>
          <p:nvPr/>
        </p:nvSpPr>
        <p:spPr>
          <a:xfrm>
            <a:off x="2852928" y="3291840"/>
            <a:ext cx="1554480" cy="1143000"/>
          </a:xfrm>
          <a:prstGeom prst="ellipse">
            <a:avLst/>
          </a:prstGeom>
          <a:solidFill>
            <a:schemeClr val="tx1"/>
          </a:solidFill>
          <a:ln w="12700">
            <a:solidFill>
              <a:schemeClr val="tx1"/>
            </a:solidFill>
            <a:prstDash val="solid"/>
          </a:ln>
        </p:spPr>
      </p:sp>
      <p:sp>
        <p:nvSpPr>
          <p:cNvPr id="7" name="Text 5"/>
          <p:cNvSpPr txBox="1"/>
          <p:nvPr/>
        </p:nvSpPr>
        <p:spPr>
          <a:xfrm>
            <a:off x="2852928" y="3291840"/>
            <a:ext cx="1554480" cy="1143000"/>
          </a:xfrm>
          <a:prstGeom prst="rect">
            <a:avLst/>
          </a:prstGeom>
          <a:noFill/>
          <a:ln/>
        </p:spPr>
        <p:txBody>
          <a:bodyPr wrap="square" lIns="0" tIns="0" rIns="0" bIns="0" rtlCol="0" anchor="ctr"/>
          <a:lstStyle/>
          <a:p>
            <a:pPr algn="ctr" indent="0" marL="0">
              <a:buNone/>
            </a:pPr>
            <a:r>
              <a:rPr lang="en-US" sz="1300" b="1" dirty="0">
                <a:solidFill>
                  <a:schemeClr val="bg1"/>
                </a:solidFill>
              </a:rPr>
              <a:t>データの</a:t>
            </a:r>
            <a:endParaRPr lang="en-US" sz="1300" dirty="0"/>
          </a:p>
          <a:p>
            <a:pPr algn="ctr" indent="0" marL="0">
              <a:buNone/>
            </a:pPr>
            <a:r>
              <a:rPr lang="en-US" sz="1300" b="1" dirty="0">
                <a:solidFill>
                  <a:schemeClr val="bg1"/>
                </a:solidFill>
              </a:rPr>
              <a:t>好循環</a:t>
            </a:r>
            <a:endParaRPr lang="en-US" sz="1300" dirty="0"/>
          </a:p>
        </p:txBody>
      </p:sp>
      <p:sp>
        <p:nvSpPr>
          <p:cNvPr id="8" name="fw node"/>
          <p:cNvSpPr/>
          <p:nvPr/>
        </p:nvSpPr>
        <p:spPr>
          <a:xfrm>
            <a:off x="2606040" y="2103120"/>
            <a:ext cx="2011680" cy="960120"/>
          </a:xfrm>
          <a:prstGeom prst="roundRect">
            <a:avLst>
              <a:gd name="adj" fmla="val 5714"/>
            </a:avLst>
          </a:prstGeom>
          <a:solidFill>
            <a:schemeClr val="bg2"/>
          </a:solidFill>
          <a:ln w="9525">
            <a:solidFill>
              <a:schemeClr val="accent3"/>
            </a:solidFill>
            <a:prstDash val="solid"/>
          </a:ln>
          <a:effectLst>
            <a:outerShdw sx="100000" sy="100000" kx="0" ky="0" algn="bl" rotWithShape="0" blurRad="76200" dist="25400" dir="5400000">
              <a:srgbClr val="6F665F">
                <a:alpha val="12000"/>
              </a:srgbClr>
            </a:outerShdw>
          </a:effectLst>
        </p:spPr>
      </p:sp>
      <p:sp>
        <p:nvSpPr>
          <p:cNvPr id="9" name="Text 7"/>
          <p:cNvSpPr txBox="1"/>
          <p:nvPr/>
        </p:nvSpPr>
        <p:spPr>
          <a:xfrm>
            <a:off x="2606040" y="2103120"/>
            <a:ext cx="2011680" cy="960120"/>
          </a:xfrm>
          <a:prstGeom prst="rect">
            <a:avLst/>
          </a:prstGeom>
          <a:noFill/>
          <a:ln/>
        </p:spPr>
        <p:txBody>
          <a:bodyPr wrap="square" lIns="0" tIns="0" rIns="0" bIns="0" rtlCol="0" anchor="ctr"/>
          <a:lstStyle/>
          <a:p>
            <a:pPr algn="ctr" indent="0" marL="0">
              <a:buNone/>
            </a:pPr>
            <a:r>
              <a:rPr lang="en-US" sz="1150" b="1" dirty="0">
                <a:solidFill>
                  <a:schemeClr val="tx1"/>
                </a:solidFill>
              </a:rPr>
              <a:t>伴走する顧客が</a:t>
            </a:r>
            <a:endParaRPr lang="en-US" sz="1150" dirty="0"/>
          </a:p>
          <a:p>
            <a:pPr algn="ctr" indent="0" marL="0">
              <a:buNone/>
            </a:pPr>
            <a:r>
              <a:rPr lang="en-US" sz="1150" b="1" dirty="0">
                <a:solidFill>
                  <a:schemeClr val="tx1"/>
                </a:solidFill>
              </a:rPr>
              <a:t>増える</a:t>
            </a:r>
            <a:endParaRPr lang="en-US" sz="1150" dirty="0"/>
          </a:p>
        </p:txBody>
      </p:sp>
      <p:sp>
        <p:nvSpPr>
          <p:cNvPr id="10" name="fw node"/>
          <p:cNvSpPr/>
          <p:nvPr/>
        </p:nvSpPr>
        <p:spPr>
          <a:xfrm>
            <a:off x="4663440" y="3337560"/>
            <a:ext cx="2011680" cy="960120"/>
          </a:xfrm>
          <a:prstGeom prst="roundRect">
            <a:avLst>
              <a:gd name="adj" fmla="val 5714"/>
            </a:avLst>
          </a:prstGeom>
          <a:solidFill>
            <a:schemeClr val="bg2"/>
          </a:solidFill>
          <a:ln w="9525">
            <a:solidFill>
              <a:schemeClr val="accent3"/>
            </a:solidFill>
            <a:prstDash val="solid"/>
          </a:ln>
          <a:effectLst>
            <a:outerShdw sx="100000" sy="100000" kx="0" ky="0" algn="bl" rotWithShape="0" blurRad="76200" dist="25400" dir="5400000">
              <a:srgbClr val="6F665F">
                <a:alpha val="12000"/>
              </a:srgbClr>
            </a:outerShdw>
          </a:effectLst>
        </p:spPr>
      </p:sp>
      <p:sp>
        <p:nvSpPr>
          <p:cNvPr id="11" name="Text 9"/>
          <p:cNvSpPr txBox="1"/>
          <p:nvPr/>
        </p:nvSpPr>
        <p:spPr>
          <a:xfrm>
            <a:off x="4663440" y="3337560"/>
            <a:ext cx="2011680" cy="960120"/>
          </a:xfrm>
          <a:prstGeom prst="rect">
            <a:avLst/>
          </a:prstGeom>
          <a:noFill/>
          <a:ln/>
        </p:spPr>
        <p:txBody>
          <a:bodyPr wrap="square" lIns="0" tIns="0" rIns="0" bIns="0" rtlCol="0" anchor="ctr"/>
          <a:lstStyle/>
          <a:p>
            <a:pPr algn="ctr" indent="0" marL="0">
              <a:buNone/>
            </a:pPr>
            <a:r>
              <a:rPr lang="en-US" sz="1150" b="1" dirty="0">
                <a:solidFill>
                  <a:schemeClr val="tx1"/>
                </a:solidFill>
              </a:rPr>
              <a:t>買収ニーズと</a:t>
            </a:r>
            <a:endParaRPr lang="en-US" sz="1150" dirty="0"/>
          </a:p>
          <a:p>
            <a:pPr algn="ctr" indent="0" marL="0">
              <a:buNone/>
            </a:pPr>
            <a:r>
              <a:rPr lang="en-US" sz="1150" b="1" dirty="0">
                <a:solidFill>
                  <a:schemeClr val="tx1"/>
                </a:solidFill>
              </a:rPr>
              <a:t>検討データが溜まる</a:t>
            </a:r>
            <a:endParaRPr lang="en-US" sz="1150" dirty="0"/>
          </a:p>
        </p:txBody>
      </p:sp>
      <p:sp>
        <p:nvSpPr>
          <p:cNvPr id="12" name="fw node"/>
          <p:cNvSpPr/>
          <p:nvPr/>
        </p:nvSpPr>
        <p:spPr>
          <a:xfrm>
            <a:off x="2606040" y="4572000"/>
            <a:ext cx="2011680" cy="960120"/>
          </a:xfrm>
          <a:prstGeom prst="roundRect">
            <a:avLst>
              <a:gd name="adj" fmla="val 5714"/>
            </a:avLst>
          </a:prstGeom>
          <a:solidFill>
            <a:schemeClr val="bg2"/>
          </a:solidFill>
          <a:ln w="9525">
            <a:solidFill>
              <a:schemeClr val="accent3"/>
            </a:solidFill>
            <a:prstDash val="solid"/>
          </a:ln>
          <a:effectLst>
            <a:outerShdw sx="100000" sy="100000" kx="0" ky="0" algn="bl" rotWithShape="0" blurRad="76200" dist="25400" dir="5400000">
              <a:srgbClr val="6F665F">
                <a:alpha val="12000"/>
              </a:srgbClr>
            </a:outerShdw>
          </a:effectLst>
        </p:spPr>
      </p:sp>
      <p:sp>
        <p:nvSpPr>
          <p:cNvPr id="13" name="Text 11"/>
          <p:cNvSpPr txBox="1"/>
          <p:nvPr/>
        </p:nvSpPr>
        <p:spPr>
          <a:xfrm>
            <a:off x="2606040" y="4572000"/>
            <a:ext cx="2011680" cy="960120"/>
          </a:xfrm>
          <a:prstGeom prst="rect">
            <a:avLst/>
          </a:prstGeom>
          <a:noFill/>
          <a:ln/>
        </p:spPr>
        <p:txBody>
          <a:bodyPr wrap="square" lIns="0" tIns="0" rIns="0" bIns="0" rtlCol="0" anchor="ctr"/>
          <a:lstStyle/>
          <a:p>
            <a:pPr algn="ctr" indent="0" marL="0">
              <a:buNone/>
            </a:pPr>
            <a:r>
              <a:rPr lang="en-US" sz="1150" b="1" dirty="0">
                <a:solidFill>
                  <a:schemeClr val="tx1"/>
                </a:solidFill>
              </a:rPr>
              <a:t>成約データ（価格・</a:t>
            </a:r>
            <a:endParaRPr lang="en-US" sz="1150" dirty="0"/>
          </a:p>
          <a:p>
            <a:pPr algn="ctr" indent="0" marL="0">
              <a:buNone/>
            </a:pPr>
            <a:r>
              <a:rPr lang="en-US" sz="1150" b="1" dirty="0">
                <a:solidFill>
                  <a:schemeClr val="tx1"/>
                </a:solidFill>
              </a:rPr>
              <a:t>倍率）が溜まる</a:t>
            </a:r>
            <a:endParaRPr lang="en-US" sz="1150" dirty="0"/>
          </a:p>
        </p:txBody>
      </p:sp>
      <p:sp>
        <p:nvSpPr>
          <p:cNvPr id="14" name="fw node"/>
          <p:cNvSpPr/>
          <p:nvPr/>
        </p:nvSpPr>
        <p:spPr>
          <a:xfrm>
            <a:off x="685800" y="3337560"/>
            <a:ext cx="2011680" cy="960120"/>
          </a:xfrm>
          <a:prstGeom prst="roundRect">
            <a:avLst>
              <a:gd name="adj" fmla="val 5714"/>
            </a:avLst>
          </a:prstGeom>
          <a:solidFill>
            <a:schemeClr val="bg2"/>
          </a:solidFill>
          <a:ln w="9525">
            <a:solidFill>
              <a:schemeClr val="accent3"/>
            </a:solidFill>
            <a:prstDash val="solid"/>
          </a:ln>
          <a:effectLst>
            <a:outerShdw sx="100000" sy="100000" kx="0" ky="0" algn="bl" rotWithShape="0" blurRad="76200" dist="25400" dir="5400000">
              <a:srgbClr val="6F665F">
                <a:alpha val="12000"/>
              </a:srgbClr>
            </a:outerShdw>
          </a:effectLst>
        </p:spPr>
      </p:sp>
      <p:sp>
        <p:nvSpPr>
          <p:cNvPr id="15" name="Text 13"/>
          <p:cNvSpPr txBox="1"/>
          <p:nvPr/>
        </p:nvSpPr>
        <p:spPr>
          <a:xfrm>
            <a:off x="685800" y="3337560"/>
            <a:ext cx="2011680" cy="960120"/>
          </a:xfrm>
          <a:prstGeom prst="rect">
            <a:avLst/>
          </a:prstGeom>
          <a:noFill/>
          <a:ln/>
        </p:spPr>
        <p:txBody>
          <a:bodyPr wrap="square" lIns="0" tIns="0" rIns="0" bIns="0" rtlCol="0" anchor="ctr"/>
          <a:lstStyle/>
          <a:p>
            <a:pPr algn="ctr" indent="0" marL="0">
              <a:buNone/>
            </a:pPr>
            <a:r>
              <a:rPr lang="en-US" sz="1150" b="1" dirty="0">
                <a:solidFill>
                  <a:schemeClr val="tx1"/>
                </a:solidFill>
              </a:rPr>
              <a:t>AIの価格算定と</a:t>
            </a:r>
            <a:endParaRPr lang="en-US" sz="1150" dirty="0"/>
          </a:p>
          <a:p>
            <a:pPr algn="ctr" indent="0" marL="0">
              <a:buNone/>
            </a:pPr>
            <a:r>
              <a:rPr lang="en-US" sz="1150" b="1" dirty="0">
                <a:solidFill>
                  <a:schemeClr val="tx1"/>
                </a:solidFill>
              </a:rPr>
              <a:t>判断の精度が上がる</a:t>
            </a:r>
            <a:endParaRPr lang="en-US" sz="1150" dirty="0"/>
          </a:p>
        </p:txBody>
      </p:sp>
      <p:sp>
        <p:nvSpPr>
          <p:cNvPr id="16" name="Shape 14"/>
          <p:cNvSpPr/>
          <p:nvPr/>
        </p:nvSpPr>
        <p:spPr>
          <a:xfrm>
            <a:off x="4663440" y="2606040"/>
            <a:ext cx="822960" cy="685800"/>
          </a:xfrm>
          <a:prstGeom prst="line">
            <a:avLst/>
          </a:prstGeom>
          <a:noFill/>
          <a:ln w="25400">
            <a:solidFill>
              <a:srgbClr val="A78450"/>
            </a:solidFill>
            <a:prstDash val="solid"/>
            <a:tailEnd type="triangle"/>
          </a:ln>
        </p:spPr>
      </p:sp>
      <p:sp>
        <p:nvSpPr>
          <p:cNvPr id="17" name="Shape 15"/>
          <p:cNvSpPr/>
          <p:nvPr/>
        </p:nvSpPr>
        <p:spPr>
          <a:xfrm flipH="1">
            <a:off x="4663440" y="4343400"/>
            <a:ext cx="822960" cy="457200"/>
          </a:xfrm>
          <a:prstGeom prst="line">
            <a:avLst/>
          </a:prstGeom>
          <a:noFill/>
          <a:ln w="25400">
            <a:solidFill>
              <a:srgbClr val="A78450"/>
            </a:solidFill>
            <a:prstDash val="solid"/>
            <a:tailEnd type="triangle"/>
          </a:ln>
        </p:spPr>
      </p:sp>
      <p:sp>
        <p:nvSpPr>
          <p:cNvPr id="18" name="Shape 16"/>
          <p:cNvSpPr/>
          <p:nvPr/>
        </p:nvSpPr>
        <p:spPr>
          <a:xfrm flipH="1" flipV="1">
            <a:off x="1691640" y="4343400"/>
            <a:ext cx="868680" cy="457200"/>
          </a:xfrm>
          <a:prstGeom prst="line">
            <a:avLst/>
          </a:prstGeom>
          <a:noFill/>
          <a:ln w="25400">
            <a:solidFill>
              <a:srgbClr val="A78450"/>
            </a:solidFill>
            <a:prstDash val="solid"/>
            <a:tailEnd type="triangle"/>
          </a:ln>
        </p:spPr>
      </p:sp>
      <p:sp>
        <p:nvSpPr>
          <p:cNvPr id="19" name="Shape 17"/>
          <p:cNvSpPr/>
          <p:nvPr/>
        </p:nvSpPr>
        <p:spPr>
          <a:xfrm flipV="1">
            <a:off x="1691640" y="2606040"/>
            <a:ext cx="868680" cy="685800"/>
          </a:xfrm>
          <a:prstGeom prst="line">
            <a:avLst/>
          </a:prstGeom>
          <a:noFill/>
          <a:ln w="25400">
            <a:solidFill>
              <a:srgbClr val="A78450"/>
            </a:solidFill>
            <a:prstDash val="solid"/>
            <a:tailEnd type="triangle"/>
          </a:ln>
        </p:spPr>
      </p:sp>
      <p:sp>
        <p:nvSpPr>
          <p:cNvPr id="20" name="asset 1"/>
          <p:cNvSpPr/>
          <p:nvPr/>
        </p:nvSpPr>
        <p:spPr>
          <a:xfrm>
            <a:off x="7040880" y="2103120"/>
            <a:ext cx="4462272" cy="1188720"/>
          </a:xfrm>
          <a:prstGeom prst="roundRect">
            <a:avLst>
              <a:gd name="adj" fmla="val 4615"/>
            </a:avLst>
          </a:prstGeom>
          <a:solidFill>
            <a:schemeClr val="bg2"/>
          </a:solidFill>
          <a:ln w="9525">
            <a:solidFill>
              <a:schemeClr val="accent3"/>
            </a:solidFill>
            <a:prstDash val="solid"/>
          </a:ln>
          <a:effectLst>
            <a:outerShdw sx="100000" sy="100000" kx="0" ky="0" algn="bl" rotWithShape="0" blurRad="76200" dist="25400" dir="5400000">
              <a:srgbClr val="6F665F">
                <a:alpha val="12000"/>
              </a:srgbClr>
            </a:outerShdw>
          </a:effectLst>
        </p:spPr>
      </p:sp>
      <p:sp>
        <p:nvSpPr>
          <p:cNvPr id="21" name="Shape 19"/>
          <p:cNvSpPr/>
          <p:nvPr/>
        </p:nvSpPr>
        <p:spPr>
          <a:xfrm>
            <a:off x="7223760" y="2395728"/>
            <a:ext cx="603504" cy="603504"/>
          </a:xfrm>
          <a:prstGeom prst="ellipse">
            <a:avLst/>
          </a:prstGeom>
          <a:solidFill>
            <a:schemeClr val="tx1"/>
          </a:solidFill>
          <a:ln w="12700">
            <a:solidFill>
              <a:schemeClr val="tx1"/>
            </a:solidFill>
            <a:prstDash val="solid"/>
          </a:ln>
        </p:spPr>
      </p:sp>
      <p:sp>
        <p:nvSpPr>
          <p:cNvPr id="22" name="Text 20"/>
          <p:cNvSpPr txBox="1"/>
          <p:nvPr/>
        </p:nvSpPr>
        <p:spPr>
          <a:xfrm>
            <a:off x="7223760" y="2395728"/>
            <a:ext cx="603504" cy="603504"/>
          </a:xfrm>
          <a:prstGeom prst="rect">
            <a:avLst/>
          </a:prstGeom>
          <a:noFill/>
          <a:ln/>
        </p:spPr>
        <p:txBody>
          <a:bodyPr wrap="square" lIns="0" tIns="0" rIns="0" bIns="0" rtlCol="0" anchor="ctr"/>
          <a:lstStyle/>
          <a:p>
            <a:pPr algn="ctr" indent="0" marL="0">
              <a:buNone/>
            </a:pPr>
            <a:endParaRPr lang="en-US" sz="1300" dirty="0"/>
          </a:p>
        </p:txBody>
      </p:sp>
      <p:pic>
        <p:nvPicPr>
          <p:cNvPr id="23" name="Image 0" descr="preencoded.png">    </p:cNvPr>
          <p:cNvPicPr>
            <a:picLocks noChangeAspect="1"/>
          </p:cNvPicPr>
          <p:nvPr/>
        </p:nvPicPr>
        <p:blipFill>
          <a:blip r:embed="rId1"/>
          <a:stretch>
            <a:fillRect/>
          </a:stretch>
        </p:blipFill>
        <p:spPr>
          <a:xfrm>
            <a:off x="7370064" y="2542032"/>
            <a:ext cx="310896" cy="310896"/>
          </a:xfrm>
          <a:prstGeom prst="rect">
            <a:avLst/>
          </a:prstGeom>
        </p:spPr>
      </p:pic>
      <p:sp>
        <p:nvSpPr>
          <p:cNvPr id="24" name="Text 21"/>
          <p:cNvSpPr txBox="1"/>
          <p:nvPr/>
        </p:nvSpPr>
        <p:spPr>
          <a:xfrm>
            <a:off x="8001000" y="2221992"/>
            <a:ext cx="3383280" cy="347472"/>
          </a:xfrm>
          <a:prstGeom prst="rect">
            <a:avLst/>
          </a:prstGeom>
          <a:noFill/>
          <a:ln/>
        </p:spPr>
        <p:txBody>
          <a:bodyPr wrap="square" lIns="0" tIns="0" rIns="0" bIns="0" rtlCol="0" anchor="t"/>
          <a:lstStyle/>
          <a:p>
            <a:pPr indent="0" marL="0">
              <a:buNone/>
            </a:pPr>
            <a:r>
              <a:rPr lang="en-US" sz="1350" b="1" dirty="0">
                <a:solidFill>
                  <a:schemeClr val="tx1"/>
                </a:solidFill>
              </a:rPr>
              <a:t>成約価格データベース</a:t>
            </a:r>
            <a:endParaRPr lang="en-US" sz="1350" dirty="0"/>
          </a:p>
        </p:txBody>
      </p:sp>
      <p:sp>
        <p:nvSpPr>
          <p:cNvPr id="25" name="Text 22"/>
          <p:cNvSpPr txBox="1"/>
          <p:nvPr/>
        </p:nvSpPr>
        <p:spPr>
          <a:xfrm>
            <a:off x="8001000" y="2578608"/>
            <a:ext cx="3383280" cy="658368"/>
          </a:xfrm>
          <a:prstGeom prst="rect">
            <a:avLst/>
          </a:prstGeom>
          <a:noFill/>
          <a:ln/>
        </p:spPr>
        <p:txBody>
          <a:bodyPr wrap="square" lIns="0" tIns="0" rIns="0" bIns="0" rtlCol="0" anchor="t"/>
          <a:lstStyle/>
          <a:p>
            <a:pPr indent="0" marL="0">
              <a:buNone/>
            </a:pPr>
            <a:r>
              <a:rPr lang="en-US" sz="1050" dirty="0">
                <a:solidFill>
                  <a:schemeClr val="accent2"/>
                </a:solidFill>
              </a:rPr>
              <a:t>公開されない中小M&amp;Aの成約価格・倍率。AIの価格算定の根拠になる</a:t>
            </a:r>
            <a:endParaRPr lang="en-US" sz="1050" dirty="0"/>
          </a:p>
        </p:txBody>
      </p:sp>
      <p:sp>
        <p:nvSpPr>
          <p:cNvPr id="26" name="asset 2"/>
          <p:cNvSpPr/>
          <p:nvPr/>
        </p:nvSpPr>
        <p:spPr>
          <a:xfrm>
            <a:off x="7040880" y="3429000"/>
            <a:ext cx="4462272" cy="1188720"/>
          </a:xfrm>
          <a:prstGeom prst="roundRect">
            <a:avLst>
              <a:gd name="adj" fmla="val 4615"/>
            </a:avLst>
          </a:prstGeom>
          <a:solidFill>
            <a:schemeClr val="bg2"/>
          </a:solidFill>
          <a:ln w="9525">
            <a:solidFill>
              <a:schemeClr val="accent3"/>
            </a:solidFill>
            <a:prstDash val="solid"/>
          </a:ln>
          <a:effectLst>
            <a:outerShdw sx="100000" sy="100000" kx="0" ky="0" algn="bl" rotWithShape="0" blurRad="76200" dist="25400" dir="5400000">
              <a:srgbClr val="6F665F">
                <a:alpha val="12000"/>
              </a:srgbClr>
            </a:outerShdw>
          </a:effectLst>
        </p:spPr>
      </p:sp>
      <p:sp>
        <p:nvSpPr>
          <p:cNvPr id="27" name="Shape 24"/>
          <p:cNvSpPr/>
          <p:nvPr/>
        </p:nvSpPr>
        <p:spPr>
          <a:xfrm>
            <a:off x="7223760" y="3721608"/>
            <a:ext cx="603504" cy="603504"/>
          </a:xfrm>
          <a:prstGeom prst="ellipse">
            <a:avLst/>
          </a:prstGeom>
          <a:solidFill>
            <a:schemeClr val="tx1"/>
          </a:solidFill>
          <a:ln w="12700">
            <a:solidFill>
              <a:schemeClr val="tx1"/>
            </a:solidFill>
            <a:prstDash val="solid"/>
          </a:ln>
        </p:spPr>
      </p:sp>
      <p:sp>
        <p:nvSpPr>
          <p:cNvPr id="28" name="Text 25"/>
          <p:cNvSpPr txBox="1"/>
          <p:nvPr/>
        </p:nvSpPr>
        <p:spPr>
          <a:xfrm>
            <a:off x="7223760" y="3721608"/>
            <a:ext cx="603504" cy="603504"/>
          </a:xfrm>
          <a:prstGeom prst="rect">
            <a:avLst/>
          </a:prstGeom>
          <a:noFill/>
          <a:ln/>
        </p:spPr>
        <p:txBody>
          <a:bodyPr wrap="square" lIns="0" tIns="0" rIns="0" bIns="0" rtlCol="0" anchor="ctr"/>
          <a:lstStyle/>
          <a:p>
            <a:pPr algn="ctr" indent="0" marL="0">
              <a:buNone/>
            </a:pPr>
            <a:endParaRPr lang="en-US" sz="1300" dirty="0"/>
          </a:p>
        </p:txBody>
      </p:sp>
      <p:pic>
        <p:nvPicPr>
          <p:cNvPr id="29" name="Image 1" descr="preencoded.png">    </p:cNvPr>
          <p:cNvPicPr>
            <a:picLocks noChangeAspect="1"/>
          </p:cNvPicPr>
          <p:nvPr/>
        </p:nvPicPr>
        <p:blipFill>
          <a:blip r:embed="rId2"/>
          <a:stretch>
            <a:fillRect/>
          </a:stretch>
        </p:blipFill>
        <p:spPr>
          <a:xfrm>
            <a:off x="7370064" y="3867912"/>
            <a:ext cx="310896" cy="310896"/>
          </a:xfrm>
          <a:prstGeom prst="rect">
            <a:avLst/>
          </a:prstGeom>
        </p:spPr>
      </p:pic>
      <p:sp>
        <p:nvSpPr>
          <p:cNvPr id="30" name="Text 26"/>
          <p:cNvSpPr txBox="1"/>
          <p:nvPr/>
        </p:nvSpPr>
        <p:spPr>
          <a:xfrm>
            <a:off x="8001000" y="3547872"/>
            <a:ext cx="3383280" cy="347472"/>
          </a:xfrm>
          <a:prstGeom prst="rect">
            <a:avLst/>
          </a:prstGeom>
          <a:noFill/>
          <a:ln/>
        </p:spPr>
        <p:txBody>
          <a:bodyPr wrap="square" lIns="0" tIns="0" rIns="0" bIns="0" rtlCol="0" anchor="t"/>
          <a:lstStyle/>
          <a:p>
            <a:pPr indent="0" marL="0">
              <a:buNone/>
            </a:pPr>
            <a:r>
              <a:rPr lang="en-US" sz="1350" b="1" dirty="0">
                <a:solidFill>
                  <a:schemeClr val="tx1"/>
                </a:solidFill>
              </a:rPr>
              <a:t>認証バイヤーの一覧</a:t>
            </a:r>
            <a:endParaRPr lang="en-US" sz="1350" dirty="0"/>
          </a:p>
        </p:txBody>
      </p:sp>
      <p:sp>
        <p:nvSpPr>
          <p:cNvPr id="31" name="Text 27"/>
          <p:cNvSpPr txBox="1"/>
          <p:nvPr/>
        </p:nvSpPr>
        <p:spPr>
          <a:xfrm>
            <a:off x="8001000" y="3904488"/>
            <a:ext cx="3383280" cy="658368"/>
          </a:xfrm>
          <a:prstGeom prst="rect">
            <a:avLst/>
          </a:prstGeom>
          <a:noFill/>
          <a:ln/>
        </p:spPr>
        <p:txBody>
          <a:bodyPr wrap="square" lIns="0" tIns="0" rIns="0" bIns="0" rtlCol="0" anchor="t"/>
          <a:lstStyle/>
          <a:p>
            <a:pPr indent="0" marL="0">
              <a:buNone/>
            </a:pPr>
            <a:r>
              <a:rPr lang="en-US" sz="1050" dirty="0">
                <a:solidFill>
                  <a:schemeClr val="accent2"/>
                </a:solidFill>
              </a:rPr>
              <a:t>財務・実績・反社を確認した買い手。悪質な買い手問題への答えになる</a:t>
            </a:r>
            <a:endParaRPr lang="en-US" sz="1050" dirty="0"/>
          </a:p>
        </p:txBody>
      </p:sp>
      <p:sp>
        <p:nvSpPr>
          <p:cNvPr id="32" name="asset 3"/>
          <p:cNvSpPr/>
          <p:nvPr/>
        </p:nvSpPr>
        <p:spPr>
          <a:xfrm>
            <a:off x="7040880" y="4754880"/>
            <a:ext cx="4462272" cy="1188720"/>
          </a:xfrm>
          <a:prstGeom prst="roundRect">
            <a:avLst>
              <a:gd name="adj" fmla="val 4615"/>
            </a:avLst>
          </a:prstGeom>
          <a:solidFill>
            <a:schemeClr val="bg2"/>
          </a:solidFill>
          <a:ln w="9525">
            <a:solidFill>
              <a:schemeClr val="accent3"/>
            </a:solidFill>
            <a:prstDash val="solid"/>
          </a:ln>
          <a:effectLst>
            <a:outerShdw sx="100000" sy="100000" kx="0" ky="0" algn="bl" rotWithShape="0" blurRad="76200" dist="25400" dir="5400000">
              <a:srgbClr val="6F665F">
                <a:alpha val="12000"/>
              </a:srgbClr>
            </a:outerShdw>
          </a:effectLst>
        </p:spPr>
      </p:sp>
      <p:sp>
        <p:nvSpPr>
          <p:cNvPr id="33" name="Shape 29"/>
          <p:cNvSpPr/>
          <p:nvPr/>
        </p:nvSpPr>
        <p:spPr>
          <a:xfrm>
            <a:off x="7223760" y="5047488"/>
            <a:ext cx="603504" cy="603504"/>
          </a:xfrm>
          <a:prstGeom prst="ellipse">
            <a:avLst/>
          </a:prstGeom>
          <a:solidFill>
            <a:schemeClr val="tx1"/>
          </a:solidFill>
          <a:ln w="12700">
            <a:solidFill>
              <a:schemeClr val="tx1"/>
            </a:solidFill>
            <a:prstDash val="solid"/>
          </a:ln>
        </p:spPr>
      </p:sp>
      <p:sp>
        <p:nvSpPr>
          <p:cNvPr id="34" name="Text 30"/>
          <p:cNvSpPr txBox="1"/>
          <p:nvPr/>
        </p:nvSpPr>
        <p:spPr>
          <a:xfrm>
            <a:off x="7223760" y="5047488"/>
            <a:ext cx="603504" cy="603504"/>
          </a:xfrm>
          <a:prstGeom prst="rect">
            <a:avLst/>
          </a:prstGeom>
          <a:noFill/>
          <a:ln/>
        </p:spPr>
        <p:txBody>
          <a:bodyPr wrap="square" lIns="0" tIns="0" rIns="0" bIns="0" rtlCol="0" anchor="ctr"/>
          <a:lstStyle/>
          <a:p>
            <a:pPr algn="ctr" indent="0" marL="0">
              <a:buNone/>
            </a:pPr>
            <a:endParaRPr lang="en-US" sz="1300" dirty="0"/>
          </a:p>
        </p:txBody>
      </p:sp>
      <p:pic>
        <p:nvPicPr>
          <p:cNvPr id="35" name="Image 2" descr="preencoded.png">    </p:cNvPr>
          <p:cNvPicPr>
            <a:picLocks noChangeAspect="1"/>
          </p:cNvPicPr>
          <p:nvPr/>
        </p:nvPicPr>
        <p:blipFill>
          <a:blip r:embed="rId3"/>
          <a:stretch>
            <a:fillRect/>
          </a:stretch>
        </p:blipFill>
        <p:spPr>
          <a:xfrm>
            <a:off x="7370064" y="5193792"/>
            <a:ext cx="310896" cy="310896"/>
          </a:xfrm>
          <a:prstGeom prst="rect">
            <a:avLst/>
          </a:prstGeom>
        </p:spPr>
      </p:pic>
      <p:sp>
        <p:nvSpPr>
          <p:cNvPr id="36" name="Text 31"/>
          <p:cNvSpPr txBox="1"/>
          <p:nvPr/>
        </p:nvSpPr>
        <p:spPr>
          <a:xfrm>
            <a:off x="8001000" y="4873752"/>
            <a:ext cx="3383280" cy="347472"/>
          </a:xfrm>
          <a:prstGeom prst="rect">
            <a:avLst/>
          </a:prstGeom>
          <a:noFill/>
          <a:ln/>
        </p:spPr>
        <p:txBody>
          <a:bodyPr wrap="square" lIns="0" tIns="0" rIns="0" bIns="0" rtlCol="0" anchor="t"/>
          <a:lstStyle/>
          <a:p>
            <a:pPr indent="0" marL="0">
              <a:buNone/>
            </a:pPr>
            <a:r>
              <a:rPr lang="en-US" sz="1350" b="1" dirty="0">
                <a:solidFill>
                  <a:schemeClr val="tx1"/>
                </a:solidFill>
              </a:rPr>
              <a:t>買収ニーズのデータ</a:t>
            </a:r>
            <a:endParaRPr lang="en-US" sz="1350" dirty="0"/>
          </a:p>
        </p:txBody>
      </p:sp>
      <p:sp>
        <p:nvSpPr>
          <p:cNvPr id="37" name="Text 32"/>
          <p:cNvSpPr txBox="1"/>
          <p:nvPr/>
        </p:nvSpPr>
        <p:spPr>
          <a:xfrm>
            <a:off x="8001000" y="5230368"/>
            <a:ext cx="3383280" cy="658368"/>
          </a:xfrm>
          <a:prstGeom prst="rect">
            <a:avLst/>
          </a:prstGeom>
          <a:noFill/>
          <a:ln/>
        </p:spPr>
        <p:txBody>
          <a:bodyPr wrap="square" lIns="0" tIns="0" rIns="0" bIns="0" rtlCol="0" anchor="t"/>
          <a:lstStyle/>
          <a:p>
            <a:pPr indent="0" marL="0">
              <a:buNone/>
            </a:pPr>
            <a:r>
              <a:rPr lang="en-US" sz="1050" dirty="0">
                <a:solidFill>
                  <a:schemeClr val="accent2"/>
                </a:solidFill>
              </a:rPr>
              <a:t>誰が何をいくらで買いたいか（本人同意のもと）。仲介・FA向けの商品になる</a:t>
            </a:r>
            <a:endParaRPr lang="en-US" sz="1050" dirty="0"/>
          </a:p>
        </p:txBody>
      </p:sp>
      <p:sp>
        <p:nvSpPr>
          <p:cNvPr id="25" name="Slide Number Placeholder 0"/>
          <p:cNvSpPr>
            <a:spLocks noGrp="1"/>
          </p:cNvSpPr>
          <p:nvPr>
            <p:ph type="sldNum" sz="quarter" idx="4294967295"/>
          </p:nvPr>
        </p:nvSpPr>
        <p:spPr>
          <a:xfrm>
            <a:off x="10957255"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kicker dot"/>
          <p:cNvSpPr/>
          <p:nvPr/>
        </p:nvSpPr>
        <p:spPr>
          <a:xfrm>
            <a:off x="685800" y="484632"/>
            <a:ext cx="109728" cy="109728"/>
          </a:xfrm>
          <a:prstGeom prst="ellipse">
            <a:avLst/>
          </a:prstGeom>
          <a:solidFill>
            <a:schemeClr val="accent1"/>
          </a:solidFill>
          <a:ln w="12700">
            <a:solidFill>
              <a:schemeClr val="accent1"/>
            </a:solidFill>
            <a:prstDash val="solid"/>
          </a:ln>
        </p:spPr>
      </p:sp>
      <p:sp>
        <p:nvSpPr>
          <p:cNvPr id="3" name="Text 0"/>
          <p:cNvSpPr/>
          <p:nvPr>
            <p:ph idx="100" type="body" hasCustomPrompt="1"/>
          </p:nvPr>
        </p:nvSpPr>
        <p:spPr>
          <a:xfrm>
            <a:off x="923544" y="365760"/>
            <a:ext cx="9601200" cy="329184"/>
          </a:xfrm>
          <a:prstGeom prst="rect">
            <a:avLst/>
          </a:prstGeom>
          <a:noFill/>
          <a:ln/>
        </p:spPr>
        <p:txBody>
          <a:bodyPr wrap="square" lIns="0" tIns="0" rIns="0" bIns="0" rtlCol="0" anchor="ctr"/>
          <a:lstStyle/>
          <a:p>
            <a:pPr indent="0" marL="0">
              <a:buNone/>
            </a:pPr>
            <a:r>
              <a:rPr lang="en-US" sz="1200" b="1" spc="240" kern="0" dirty="0">
                <a:solidFill>
                  <a:schemeClr val="accent1"/>
                </a:solidFill>
              </a:rPr>
              <a:t>BUSINESS PLAN</a:t>
            </a:r>
            <a:endParaRPr lang="en-US" sz="1200" dirty="0"/>
          </a:p>
        </p:txBody>
      </p:sp>
      <p:sp>
        <p:nvSpPr>
          <p:cNvPr id="4" name="Text 0"/>
          <p:cNvSpPr/>
          <p:nvPr>
            <p:ph idx="101" type="title" hasCustomPrompt="1"/>
          </p:nvPr>
        </p:nvSpPr>
        <p:spPr>
          <a:xfrm>
            <a:off x="685800" y="749808"/>
            <a:ext cx="10820095" cy="731520"/>
          </a:xfrm>
          <a:prstGeom prst="rect">
            <a:avLst/>
          </a:prstGeom>
          <a:noFill/>
          <a:ln/>
        </p:spPr>
        <p:txBody>
          <a:bodyPr wrap="square" lIns="0" tIns="0" rIns="0" bIns="0" rtlCol="0" anchor="ctr"/>
          <a:lstStyle/>
          <a:p>
            <a:pPr algn="l" indent="0" marL="0">
              <a:buNone/>
            </a:pPr>
            <a:r>
              <a:rPr lang="en-US" sz="3000" b="1" dirty="0">
                <a:solidFill>
                  <a:schemeClr val="tx1"/>
                </a:solidFill>
              </a:rPr>
              <a:t>3年目に売上10億円：ツール200社×派遣100社</a:t>
            </a:r>
            <a:endParaRPr lang="en-US" sz="3000" dirty="0"/>
          </a:p>
        </p:txBody>
      </p:sp>
      <p:sp>
        <p:nvSpPr>
          <p:cNvPr id="5" name="Text 0"/>
          <p:cNvSpPr/>
          <p:nvPr>
            <p:ph idx="102" type="body" hasCustomPrompt="1"/>
          </p:nvPr>
        </p:nvSpPr>
        <p:spPr>
          <a:xfrm>
            <a:off x="685800" y="1481328"/>
            <a:ext cx="10820095" cy="365760"/>
          </a:xfrm>
          <a:prstGeom prst="rect">
            <a:avLst/>
          </a:prstGeom>
          <a:noFill/>
          <a:ln/>
        </p:spPr>
        <p:txBody>
          <a:bodyPr wrap="square" lIns="0" tIns="0" rIns="0" bIns="0" rtlCol="0" anchor="t"/>
          <a:lstStyle/>
          <a:p>
            <a:pPr indent="0" marL="0">
              <a:buNone/>
            </a:pPr>
            <a:r>
              <a:rPr lang="en-US" sz="1350" dirty="0">
                <a:solidFill>
                  <a:schemeClr val="accent2"/>
                </a:solidFill>
              </a:rPr>
              <a:t>ツールと派遣の月額がストック収益になり、成約時の成功報酬が上乗せされる（仮説）</a:t>
            </a:r>
            <a:endParaRPr lang="en-US" sz="1350" dirty="0"/>
          </a:p>
        </p:txBody>
      </p:sp>
      <p:graphicFrame>
        <p:nvGraphicFramePr>
          <p:cNvPr id="6" name="plan chart" descr=""/>
          <p:cNvGraphicFramePr/>
          <p:nvPr/>
        </p:nvGraphicFramePr>
        <p:xfrm>
          <a:off x="685800" y="2011680"/>
          <a:ext cx="6035040" cy="4069080"/>
        </p:xfrm>
        <a:graphic xmlns:a="http://schemas.openxmlformats.org/drawingml/2006/main">
          <a:graphicData uri="http://schemas.openxmlformats.org/drawingml/2006/chart">
            <c:chart xmlns:c="http://schemas.openxmlformats.org/drawingml/2006/chart" r:id="rId1"/>
          </a:graphicData>
        </a:graphic>
      </p:graphicFrame>
      <p:sp>
        <p:nvSpPr>
          <p:cNvPr id="7" name="kpi 1"/>
          <p:cNvSpPr/>
          <p:nvPr/>
        </p:nvSpPr>
        <p:spPr>
          <a:xfrm>
            <a:off x="7040880" y="2103120"/>
            <a:ext cx="4462272" cy="896112"/>
          </a:xfrm>
          <a:prstGeom prst="roundRect">
            <a:avLst>
              <a:gd name="adj" fmla="val 6122"/>
            </a:avLst>
          </a:prstGeom>
          <a:solidFill>
            <a:schemeClr val="bg2"/>
          </a:solidFill>
          <a:ln w="9525">
            <a:solidFill>
              <a:schemeClr val="accent3"/>
            </a:solidFill>
            <a:prstDash val="solid"/>
          </a:ln>
          <a:effectLst>
            <a:outerShdw sx="100000" sy="100000" kx="0" ky="0" algn="bl" rotWithShape="0" blurRad="76200" dist="25400" dir="5400000">
              <a:srgbClr val="6F665F">
                <a:alpha val="12000"/>
              </a:srgbClr>
            </a:outerShdw>
          </a:effectLst>
        </p:spPr>
      </p:sp>
      <p:sp>
        <p:nvSpPr>
          <p:cNvPr id="8" name="Text 5"/>
          <p:cNvSpPr txBox="1"/>
          <p:nvPr/>
        </p:nvSpPr>
        <p:spPr>
          <a:xfrm>
            <a:off x="7269480" y="2103120"/>
            <a:ext cx="1417320" cy="896112"/>
          </a:xfrm>
          <a:prstGeom prst="rect">
            <a:avLst/>
          </a:prstGeom>
          <a:noFill/>
          <a:ln/>
        </p:spPr>
        <p:txBody>
          <a:bodyPr wrap="square" lIns="0" tIns="0" rIns="0" bIns="0" rtlCol="0" anchor="ctr"/>
          <a:lstStyle/>
          <a:p>
            <a:pPr indent="0" marL="0">
              <a:buNone/>
            </a:pPr>
            <a:r>
              <a:rPr lang="en-US" sz="2400" b="1" dirty="0">
                <a:solidFill>
                  <a:schemeClr val="accent1"/>
                </a:solidFill>
              </a:rPr>
              <a:t>0.9億</a:t>
            </a:r>
            <a:endParaRPr lang="en-US" sz="2400" dirty="0"/>
          </a:p>
        </p:txBody>
      </p:sp>
      <p:sp>
        <p:nvSpPr>
          <p:cNvPr id="9" name="Text 6"/>
          <p:cNvSpPr txBox="1"/>
          <p:nvPr/>
        </p:nvSpPr>
        <p:spPr>
          <a:xfrm>
            <a:off x="8732520" y="2103120"/>
            <a:ext cx="2651760" cy="896112"/>
          </a:xfrm>
          <a:prstGeom prst="rect">
            <a:avLst/>
          </a:prstGeom>
          <a:noFill/>
          <a:ln/>
        </p:spPr>
        <p:txBody>
          <a:bodyPr wrap="square" lIns="0" tIns="0" rIns="0" bIns="0" rtlCol="0" anchor="ctr"/>
          <a:lstStyle/>
          <a:p>
            <a:pPr indent="0" marL="0">
              <a:buNone/>
            </a:pPr>
            <a:r>
              <a:rPr lang="en-US" sz="1250" b="1" dirty="0">
                <a:solidFill>
                  <a:schemeClr val="tx1"/>
                </a:solidFill>
              </a:rPr>
              <a:t>1年目</a:t>
            </a:r>
            <a:endParaRPr lang="en-US" sz="1250" dirty="0"/>
          </a:p>
          <a:p>
            <a:pPr indent="0" marL="0">
              <a:buNone/>
            </a:pPr>
            <a:r>
              <a:rPr lang="en-US" sz="1050" dirty="0">
                <a:solidFill>
                  <a:schemeClr val="accent2"/>
                </a:solidFill>
              </a:rPr>
              <a:t>ツール10社・派遣10社・成約2件</a:t>
            </a:r>
            <a:endParaRPr lang="en-US" sz="1250" dirty="0"/>
          </a:p>
        </p:txBody>
      </p:sp>
      <p:sp>
        <p:nvSpPr>
          <p:cNvPr id="10" name="kpi 2"/>
          <p:cNvSpPr/>
          <p:nvPr/>
        </p:nvSpPr>
        <p:spPr>
          <a:xfrm>
            <a:off x="7040880" y="3127248"/>
            <a:ext cx="4462272" cy="896112"/>
          </a:xfrm>
          <a:prstGeom prst="roundRect">
            <a:avLst>
              <a:gd name="adj" fmla="val 6122"/>
            </a:avLst>
          </a:prstGeom>
          <a:solidFill>
            <a:schemeClr val="bg2"/>
          </a:solidFill>
          <a:ln w="9525">
            <a:solidFill>
              <a:schemeClr val="accent3"/>
            </a:solidFill>
            <a:prstDash val="solid"/>
          </a:ln>
          <a:effectLst>
            <a:outerShdw sx="100000" sy="100000" kx="0" ky="0" algn="bl" rotWithShape="0" blurRad="76200" dist="25400" dir="5400000">
              <a:srgbClr val="6F665F">
                <a:alpha val="12000"/>
              </a:srgbClr>
            </a:outerShdw>
          </a:effectLst>
        </p:spPr>
      </p:sp>
      <p:sp>
        <p:nvSpPr>
          <p:cNvPr id="11" name="Text 8"/>
          <p:cNvSpPr txBox="1"/>
          <p:nvPr/>
        </p:nvSpPr>
        <p:spPr>
          <a:xfrm>
            <a:off x="7269480" y="3127248"/>
            <a:ext cx="1417320" cy="896112"/>
          </a:xfrm>
          <a:prstGeom prst="rect">
            <a:avLst/>
          </a:prstGeom>
          <a:noFill/>
          <a:ln/>
        </p:spPr>
        <p:txBody>
          <a:bodyPr wrap="square" lIns="0" tIns="0" rIns="0" bIns="0" rtlCol="0" anchor="ctr"/>
          <a:lstStyle/>
          <a:p>
            <a:pPr indent="0" marL="0">
              <a:buNone/>
            </a:pPr>
            <a:r>
              <a:rPr lang="en-US" sz="2400" b="1" dirty="0">
                <a:solidFill>
                  <a:schemeClr val="accent1"/>
                </a:solidFill>
              </a:rPr>
              <a:t>3.7億</a:t>
            </a:r>
            <a:endParaRPr lang="en-US" sz="2400" dirty="0"/>
          </a:p>
        </p:txBody>
      </p:sp>
      <p:sp>
        <p:nvSpPr>
          <p:cNvPr id="12" name="Text 9"/>
          <p:cNvSpPr txBox="1"/>
          <p:nvPr/>
        </p:nvSpPr>
        <p:spPr>
          <a:xfrm>
            <a:off x="8732520" y="3127248"/>
            <a:ext cx="2651760" cy="896112"/>
          </a:xfrm>
          <a:prstGeom prst="rect">
            <a:avLst/>
          </a:prstGeom>
          <a:noFill/>
          <a:ln/>
        </p:spPr>
        <p:txBody>
          <a:bodyPr wrap="square" lIns="0" tIns="0" rIns="0" bIns="0" rtlCol="0" anchor="ctr"/>
          <a:lstStyle/>
          <a:p>
            <a:pPr indent="0" marL="0">
              <a:buNone/>
            </a:pPr>
            <a:r>
              <a:rPr lang="en-US" sz="1250" b="1" dirty="0">
                <a:solidFill>
                  <a:schemeClr val="tx1"/>
                </a:solidFill>
              </a:rPr>
              <a:t>2年目</a:t>
            </a:r>
            <a:endParaRPr lang="en-US" sz="1250" dirty="0"/>
          </a:p>
          <a:p>
            <a:pPr indent="0" marL="0">
              <a:buNone/>
            </a:pPr>
            <a:r>
              <a:rPr lang="en-US" sz="1050" dirty="0">
                <a:solidFill>
                  <a:schemeClr val="accent2"/>
                </a:solidFill>
              </a:rPr>
              <a:t>ツール50社・派遣40社・成約8件</a:t>
            </a:r>
            <a:endParaRPr lang="en-US" sz="1250" dirty="0"/>
          </a:p>
        </p:txBody>
      </p:sp>
      <p:sp>
        <p:nvSpPr>
          <p:cNvPr id="13" name="kpi 3"/>
          <p:cNvSpPr/>
          <p:nvPr/>
        </p:nvSpPr>
        <p:spPr>
          <a:xfrm>
            <a:off x="7040880" y="4151376"/>
            <a:ext cx="4462272" cy="896112"/>
          </a:xfrm>
          <a:prstGeom prst="roundRect">
            <a:avLst>
              <a:gd name="adj" fmla="val 6122"/>
            </a:avLst>
          </a:prstGeom>
          <a:solidFill>
            <a:schemeClr val="bg2"/>
          </a:solidFill>
          <a:ln w="9525">
            <a:solidFill>
              <a:schemeClr val="accent3"/>
            </a:solidFill>
            <a:prstDash val="solid"/>
          </a:ln>
          <a:effectLst>
            <a:outerShdw sx="100000" sy="100000" kx="0" ky="0" algn="bl" rotWithShape="0" blurRad="76200" dist="25400" dir="5400000">
              <a:srgbClr val="6F665F">
                <a:alpha val="12000"/>
              </a:srgbClr>
            </a:outerShdw>
          </a:effectLst>
        </p:spPr>
      </p:sp>
      <p:sp>
        <p:nvSpPr>
          <p:cNvPr id="14" name="Text 11"/>
          <p:cNvSpPr txBox="1"/>
          <p:nvPr/>
        </p:nvSpPr>
        <p:spPr>
          <a:xfrm>
            <a:off x="7269480" y="4151376"/>
            <a:ext cx="1417320" cy="896112"/>
          </a:xfrm>
          <a:prstGeom prst="rect">
            <a:avLst/>
          </a:prstGeom>
          <a:noFill/>
          <a:ln/>
        </p:spPr>
        <p:txBody>
          <a:bodyPr wrap="square" lIns="0" tIns="0" rIns="0" bIns="0" rtlCol="0" anchor="ctr"/>
          <a:lstStyle/>
          <a:p>
            <a:pPr indent="0" marL="0">
              <a:buNone/>
            </a:pPr>
            <a:r>
              <a:rPr lang="en-US" sz="2400" b="1" dirty="0">
                <a:solidFill>
                  <a:schemeClr val="accent1"/>
                </a:solidFill>
              </a:rPr>
              <a:t>10.6億</a:t>
            </a:r>
            <a:endParaRPr lang="en-US" sz="2400" dirty="0"/>
          </a:p>
        </p:txBody>
      </p:sp>
      <p:sp>
        <p:nvSpPr>
          <p:cNvPr id="15" name="Text 12"/>
          <p:cNvSpPr txBox="1"/>
          <p:nvPr/>
        </p:nvSpPr>
        <p:spPr>
          <a:xfrm>
            <a:off x="8732520" y="4151376"/>
            <a:ext cx="2651760" cy="896112"/>
          </a:xfrm>
          <a:prstGeom prst="rect">
            <a:avLst/>
          </a:prstGeom>
          <a:noFill/>
          <a:ln/>
        </p:spPr>
        <p:txBody>
          <a:bodyPr wrap="square" lIns="0" tIns="0" rIns="0" bIns="0" rtlCol="0" anchor="ctr"/>
          <a:lstStyle/>
          <a:p>
            <a:pPr indent="0" marL="0">
              <a:buNone/>
            </a:pPr>
            <a:r>
              <a:rPr lang="en-US" sz="1250" b="1" dirty="0">
                <a:solidFill>
                  <a:schemeClr val="tx1"/>
                </a:solidFill>
              </a:rPr>
              <a:t>3年目</a:t>
            </a:r>
            <a:endParaRPr lang="en-US" sz="1250" dirty="0"/>
          </a:p>
          <a:p>
            <a:pPr indent="0" marL="0">
              <a:buNone/>
            </a:pPr>
            <a:r>
              <a:rPr lang="en-US" sz="1050" dirty="0">
                <a:solidFill>
                  <a:schemeClr val="accent2"/>
                </a:solidFill>
              </a:rPr>
              <a:t>ツール200社・派遣100社・成約25件</a:t>
            </a:r>
            <a:endParaRPr lang="en-US" sz="1250" dirty="0"/>
          </a:p>
        </p:txBody>
      </p:sp>
      <p:sp>
        <p:nvSpPr>
          <p:cNvPr id="16" name="conclusion bar"/>
          <p:cNvSpPr/>
          <p:nvPr/>
        </p:nvSpPr>
        <p:spPr>
          <a:xfrm>
            <a:off x="7040880" y="5230368"/>
            <a:ext cx="4462272" cy="868680"/>
          </a:xfrm>
          <a:prstGeom prst="roundRect">
            <a:avLst>
              <a:gd name="adj" fmla="val 4211"/>
            </a:avLst>
          </a:prstGeom>
          <a:solidFill>
            <a:schemeClr val="tx1"/>
          </a:solidFill>
          <a:ln w="12700">
            <a:solidFill>
              <a:schemeClr val="tx1"/>
            </a:solidFill>
            <a:prstDash val="solid"/>
          </a:ln>
        </p:spPr>
      </p:sp>
      <p:sp>
        <p:nvSpPr>
          <p:cNvPr id="17" name="Text 14"/>
          <p:cNvSpPr txBox="1"/>
          <p:nvPr/>
        </p:nvSpPr>
        <p:spPr>
          <a:xfrm>
            <a:off x="7360920" y="5230368"/>
            <a:ext cx="3822192" cy="868680"/>
          </a:xfrm>
          <a:prstGeom prst="rect">
            <a:avLst/>
          </a:prstGeom>
          <a:noFill/>
          <a:ln/>
        </p:spPr>
        <p:txBody>
          <a:bodyPr wrap="square" lIns="0" tIns="0" rIns="0" bIns="0" rtlCol="0" anchor="ctr"/>
          <a:lstStyle/>
          <a:p>
            <a:pPr indent="0" marL="0">
              <a:buNone/>
            </a:pPr>
            <a:r>
              <a:rPr lang="en-US" sz="1400" b="1" dirty="0">
                <a:solidFill>
                  <a:schemeClr val="bg1"/>
                </a:solidFill>
              </a:rPr>
              <a:t>ツールが入口、派遣が収益の柱</a:t>
            </a:r>
            <a:endParaRPr lang="en-US" sz="1300" dirty="0"/>
          </a:p>
          <a:p>
            <a:pPr indent="0" marL="0">
              <a:buNone/>
            </a:pPr>
            <a:r>
              <a:rPr lang="en-US" sz="1100" dirty="0">
                <a:solidFill>
                  <a:schemeClr val="accent3"/>
                </a:solidFill>
              </a:rPr>
              <a:t>ツール契約の一部が派遣に上がる。コンサル1人あたり年約8,000万円</a:t>
            </a:r>
            <a:endParaRPr lang="en-US" sz="1300" dirty="0"/>
          </a:p>
        </p:txBody>
      </p:sp>
      <p:sp>
        <p:nvSpPr>
          <p:cNvPr id="25" name="Slide Number Placeholder 0"/>
          <p:cNvSpPr>
            <a:spLocks noGrp="1"/>
          </p:cNvSpPr>
          <p:nvPr>
            <p:ph type="sldNum" sz="quarter" idx="4294967295"/>
          </p:nvPr>
        </p:nvSpPr>
        <p:spPr>
          <a:xfrm>
            <a:off x="10957255"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kicker dot"/>
          <p:cNvSpPr/>
          <p:nvPr/>
        </p:nvSpPr>
        <p:spPr>
          <a:xfrm>
            <a:off x="685800" y="484632"/>
            <a:ext cx="109728" cy="109728"/>
          </a:xfrm>
          <a:prstGeom prst="ellipse">
            <a:avLst/>
          </a:prstGeom>
          <a:solidFill>
            <a:schemeClr val="accent1"/>
          </a:solidFill>
          <a:ln w="12700">
            <a:solidFill>
              <a:schemeClr val="accent1"/>
            </a:solidFill>
            <a:prstDash val="solid"/>
          </a:ln>
        </p:spPr>
      </p:sp>
      <p:sp>
        <p:nvSpPr>
          <p:cNvPr id="3" name="Text 0"/>
          <p:cNvSpPr/>
          <p:nvPr>
            <p:ph idx="100" type="body" hasCustomPrompt="1"/>
          </p:nvPr>
        </p:nvSpPr>
        <p:spPr>
          <a:xfrm>
            <a:off x="923544" y="365760"/>
            <a:ext cx="9601200" cy="329184"/>
          </a:xfrm>
          <a:prstGeom prst="rect">
            <a:avLst/>
          </a:prstGeom>
          <a:noFill/>
          <a:ln/>
        </p:spPr>
        <p:txBody>
          <a:bodyPr wrap="square" lIns="0" tIns="0" rIns="0" bIns="0" rtlCol="0" anchor="ctr"/>
          <a:lstStyle/>
          <a:p>
            <a:pPr indent="0" marL="0">
              <a:buNone/>
            </a:pPr>
            <a:r>
              <a:rPr lang="en-US" sz="1200" b="1" spc="240" kern="0" dirty="0">
                <a:solidFill>
                  <a:schemeClr val="accent1"/>
                </a:solidFill>
              </a:rPr>
              <a:t>ROADMAP</a:t>
            </a:r>
            <a:endParaRPr lang="en-US" sz="1200" dirty="0"/>
          </a:p>
        </p:txBody>
      </p:sp>
      <p:sp>
        <p:nvSpPr>
          <p:cNvPr id="4" name="Text 0"/>
          <p:cNvSpPr/>
          <p:nvPr>
            <p:ph idx="101" type="title" hasCustomPrompt="1"/>
          </p:nvPr>
        </p:nvSpPr>
        <p:spPr>
          <a:xfrm>
            <a:off x="685800" y="749808"/>
            <a:ext cx="10820095" cy="731520"/>
          </a:xfrm>
          <a:prstGeom prst="rect">
            <a:avLst/>
          </a:prstGeom>
          <a:noFill/>
          <a:ln/>
        </p:spPr>
        <p:txBody>
          <a:bodyPr wrap="square" lIns="0" tIns="0" rIns="0" bIns="0" rtlCol="0" anchor="ctr"/>
          <a:lstStyle/>
          <a:p>
            <a:pPr algn="l" indent="0" marL="0">
              <a:buNone/>
            </a:pPr>
            <a:r>
              <a:rPr lang="en-US" sz="3000" b="1" dirty="0">
                <a:solidFill>
                  <a:schemeClr val="tx1"/>
                </a:solidFill>
              </a:rPr>
              <a:t>小さく有償で始め、データで勝つ</a:t>
            </a:r>
            <a:endParaRPr lang="en-US" sz="3000" dirty="0"/>
          </a:p>
        </p:txBody>
      </p:sp>
      <p:sp>
        <p:nvSpPr>
          <p:cNvPr id="5" name="Text 0"/>
          <p:cNvSpPr/>
          <p:nvPr>
            <p:ph idx="102" type="body" hasCustomPrompt="1"/>
          </p:nvPr>
        </p:nvSpPr>
        <p:spPr>
          <a:xfrm>
            <a:off x="685800" y="1481328"/>
            <a:ext cx="10820095" cy="365760"/>
          </a:xfrm>
          <a:prstGeom prst="rect">
            <a:avLst/>
          </a:prstGeom>
          <a:noFill/>
          <a:ln/>
        </p:spPr>
        <p:txBody>
          <a:bodyPr wrap="square" lIns="0" tIns="0" rIns="0" bIns="0" rtlCol="0" anchor="t"/>
          <a:lstStyle/>
          <a:p>
            <a:pPr indent="0" marL="0">
              <a:buNone/>
            </a:pPr>
            <a:r>
              <a:rPr lang="en-US" sz="1350" dirty="0">
                <a:solidFill>
                  <a:schemeClr val="accent2"/>
                </a:solidFill>
              </a:rPr>
              <a:t>段階ごとに「次へ進む条件」を決め、満たしてから投資を増やす</a:t>
            </a:r>
            <a:endParaRPr lang="en-US" sz="1350" dirty="0"/>
          </a:p>
        </p:txBody>
      </p:sp>
      <p:sp>
        <p:nvSpPr>
          <p:cNvPr id="6" name="phase 1"/>
          <p:cNvSpPr/>
          <p:nvPr/>
        </p:nvSpPr>
        <p:spPr>
          <a:xfrm>
            <a:off x="685800" y="2103120"/>
            <a:ext cx="3447288" cy="3931920"/>
          </a:xfrm>
          <a:prstGeom prst="roundRect">
            <a:avLst>
              <a:gd name="adj" fmla="val 1592"/>
            </a:avLst>
          </a:prstGeom>
          <a:solidFill>
            <a:schemeClr val="bg2"/>
          </a:solidFill>
          <a:ln w="9525">
            <a:solidFill>
              <a:schemeClr val="accent3"/>
            </a:solidFill>
            <a:prstDash val="solid"/>
          </a:ln>
          <a:effectLst>
            <a:outerShdw sx="100000" sy="100000" kx="0" ky="0" algn="bl" rotWithShape="0" blurRad="76200" dist="25400" dir="5400000">
              <a:srgbClr val="6F665F">
                <a:alpha val="12000"/>
              </a:srgbClr>
            </a:outerShdw>
          </a:effectLst>
        </p:spPr>
      </p:sp>
      <p:sp>
        <p:nvSpPr>
          <p:cNvPr id="7" name="Shape 5"/>
          <p:cNvSpPr/>
          <p:nvPr/>
        </p:nvSpPr>
        <p:spPr>
          <a:xfrm>
            <a:off x="960120" y="2331720"/>
            <a:ext cx="1051560" cy="274320"/>
          </a:xfrm>
          <a:prstGeom prst="roundRect">
            <a:avLst>
              <a:gd name="adj" fmla="val 50000"/>
            </a:avLst>
          </a:prstGeom>
          <a:solidFill>
            <a:schemeClr val="accent1"/>
          </a:solidFill>
          <a:ln w="12700">
            <a:solidFill>
              <a:schemeClr val="accent1"/>
            </a:solidFill>
            <a:prstDash val="solid"/>
          </a:ln>
        </p:spPr>
      </p:sp>
      <p:sp>
        <p:nvSpPr>
          <p:cNvPr id="8" name="Text 6"/>
          <p:cNvSpPr txBox="1"/>
          <p:nvPr/>
        </p:nvSpPr>
        <p:spPr>
          <a:xfrm>
            <a:off x="960120" y="2331720"/>
            <a:ext cx="1051560" cy="274320"/>
          </a:xfrm>
          <a:prstGeom prst="rect">
            <a:avLst/>
          </a:prstGeom>
          <a:noFill/>
          <a:ln/>
        </p:spPr>
        <p:txBody>
          <a:bodyPr wrap="square" lIns="0" tIns="0" rIns="0" bIns="0" rtlCol="0" anchor="ctr"/>
          <a:lstStyle/>
          <a:p>
            <a:pPr algn="ctr" indent="0" marL="0">
              <a:buNone/>
            </a:pPr>
            <a:r>
              <a:rPr lang="en-US" sz="950" b="1" dirty="0">
                <a:solidFill>
                  <a:schemeClr val="bg1"/>
                </a:solidFill>
              </a:rPr>
              <a:t>PHASE 1</a:t>
            </a:r>
            <a:endParaRPr lang="en-US" sz="950" dirty="0"/>
          </a:p>
        </p:txBody>
      </p:sp>
      <p:sp>
        <p:nvSpPr>
          <p:cNvPr id="9" name="Text 7"/>
          <p:cNvSpPr txBox="1"/>
          <p:nvPr/>
        </p:nvSpPr>
        <p:spPr>
          <a:xfrm>
            <a:off x="2148840" y="2331720"/>
            <a:ext cx="1737360" cy="274320"/>
          </a:xfrm>
          <a:prstGeom prst="rect">
            <a:avLst/>
          </a:prstGeom>
          <a:noFill/>
          <a:ln/>
        </p:spPr>
        <p:txBody>
          <a:bodyPr wrap="square" lIns="0" tIns="0" rIns="0" bIns="0" rtlCol="0" anchor="ctr"/>
          <a:lstStyle/>
          <a:p>
            <a:pPr indent="0" marL="0">
              <a:buNone/>
            </a:pPr>
            <a:r>
              <a:rPr lang="en-US" sz="1100" b="1" dirty="0">
                <a:solidFill>
                  <a:schemeClr val="accent2"/>
                </a:solidFill>
              </a:rPr>
              <a:t>0〜6ヶ月</a:t>
            </a:r>
            <a:endParaRPr lang="en-US" sz="1100" dirty="0"/>
          </a:p>
        </p:txBody>
      </p:sp>
      <p:sp>
        <p:nvSpPr>
          <p:cNvPr id="10" name="Text 8"/>
          <p:cNvSpPr txBox="1"/>
          <p:nvPr/>
        </p:nvSpPr>
        <p:spPr>
          <a:xfrm>
            <a:off x="960120" y="2788920"/>
            <a:ext cx="2926080" cy="457200"/>
          </a:xfrm>
          <a:prstGeom prst="rect">
            <a:avLst/>
          </a:prstGeom>
          <a:noFill/>
          <a:ln/>
        </p:spPr>
        <p:txBody>
          <a:bodyPr wrap="square" lIns="0" tIns="0" rIns="0" bIns="0" rtlCol="0" anchor="t"/>
          <a:lstStyle/>
          <a:p>
            <a:pPr indent="0" marL="0">
              <a:buNone/>
            </a:pPr>
            <a:r>
              <a:rPr lang="en-US" sz="1900" b="1" dirty="0">
                <a:solidFill>
                  <a:schemeClr val="tx1"/>
                </a:solidFill>
              </a:rPr>
              <a:t>立ち上げ</a:t>
            </a:r>
            <a:endParaRPr lang="en-US" sz="1900" dirty="0"/>
          </a:p>
        </p:txBody>
      </p:sp>
      <p:sp>
        <p:nvSpPr>
          <p:cNvPr id="11" name="Text 9"/>
          <p:cNvSpPr txBox="1"/>
          <p:nvPr/>
        </p:nvSpPr>
        <p:spPr>
          <a:xfrm>
            <a:off x="960120" y="3337560"/>
            <a:ext cx="2926080" cy="1783080"/>
          </a:xfrm>
          <a:prstGeom prst="rect">
            <a:avLst/>
          </a:prstGeom>
          <a:noFill/>
          <a:ln/>
        </p:spPr>
        <p:txBody>
          <a:bodyPr wrap="square" lIns="0" tIns="0" rIns="0" bIns="0" rtlCol="0" anchor="t"/>
          <a:lstStyle/>
          <a:p>
            <a:pPr marL="152400" indent="-152400">
              <a:spcAft>
                <a:spcPts val="600"/>
              </a:spcAft>
              <a:buSzPct val="100000"/>
              <a:buChar char="•"/>
            </a:pPr>
            <a:r>
              <a:rPr lang="en-US" sz="1200" dirty="0">
                <a:solidFill>
                  <a:schemeClr val="tx1"/>
                </a:solidFill>
              </a:rPr>
              <a:t>中野＋コンサルタント2名</a:t>
            </a:r>
            <a:endParaRPr lang="en-US" sz="1200" dirty="0"/>
          </a:p>
          <a:p>
            <a:pPr marL="152400" indent="-152400">
              <a:spcAft>
                <a:spcPts val="600"/>
              </a:spcAft>
              <a:buSzPct val="100000"/>
              <a:buChar char="•"/>
            </a:pPr>
            <a:r>
              <a:rPr lang="en-US" sz="1200" dirty="0">
                <a:solidFill>
                  <a:schemeClr val="tx1"/>
                </a:solidFill>
              </a:rPr>
              <a:t>M&amp;A情報REINS＋AIの初版</a:t>
            </a:r>
            <a:endParaRPr lang="en-US" sz="1200" dirty="0"/>
          </a:p>
          <a:p>
            <a:pPr marL="152400" indent="-152400">
              <a:spcAft>
                <a:spcPts val="600"/>
              </a:spcAft>
              <a:buSzPct val="100000"/>
              <a:buChar char="•"/>
            </a:pPr>
            <a:r>
              <a:rPr lang="en-US" sz="1200" dirty="0">
                <a:solidFill>
                  <a:schemeClr val="tx1"/>
                </a:solidFill>
              </a:rPr>
              <a:t>ツール10社・派遣10社</a:t>
            </a:r>
            <a:endParaRPr lang="en-US" sz="1200" dirty="0"/>
          </a:p>
          <a:p>
            <a:pPr marL="152400" indent="-152400">
              <a:spcAft>
                <a:spcPts val="600"/>
              </a:spcAft>
              <a:buSzPct val="100000"/>
              <a:buChar char="•"/>
            </a:pPr>
            <a:r>
              <a:rPr lang="en-US" sz="1200" dirty="0">
                <a:solidFill>
                  <a:schemeClr val="tx1"/>
                </a:solidFill>
              </a:rPr>
              <a:t>M&amp;A支援機関登録・法務整理</a:t>
            </a:r>
            <a:endParaRPr lang="en-US" sz="1200" dirty="0"/>
          </a:p>
        </p:txBody>
      </p:sp>
      <p:sp>
        <p:nvSpPr>
          <p:cNvPr id="12" name="Shape 10"/>
          <p:cNvSpPr/>
          <p:nvPr/>
        </p:nvSpPr>
        <p:spPr>
          <a:xfrm>
            <a:off x="960120" y="5212080"/>
            <a:ext cx="2898648" cy="0"/>
          </a:xfrm>
          <a:prstGeom prst="line">
            <a:avLst/>
          </a:prstGeom>
          <a:noFill/>
          <a:ln w="9525">
            <a:solidFill>
              <a:srgbClr val="E6DCCB"/>
            </a:solidFill>
            <a:prstDash val="solid"/>
          </a:ln>
        </p:spPr>
      </p:sp>
      <p:sp>
        <p:nvSpPr>
          <p:cNvPr id="13" name="Text 11"/>
          <p:cNvSpPr txBox="1"/>
          <p:nvPr/>
        </p:nvSpPr>
        <p:spPr>
          <a:xfrm>
            <a:off x="960120" y="5303520"/>
            <a:ext cx="2926080" cy="548640"/>
          </a:xfrm>
          <a:prstGeom prst="rect">
            <a:avLst/>
          </a:prstGeom>
          <a:noFill/>
          <a:ln/>
        </p:spPr>
        <p:txBody>
          <a:bodyPr wrap="square" lIns="0" tIns="0" rIns="0" bIns="0" rtlCol="0" anchor="ctr"/>
          <a:lstStyle/>
          <a:p>
            <a:pPr indent="0" marL="0">
              <a:buNone/>
            </a:pPr>
            <a:r>
              <a:rPr lang="en-US" sz="1150" b="1" dirty="0">
                <a:solidFill>
                  <a:schemeClr val="accent1"/>
                </a:solidFill>
              </a:rPr>
              <a:t>次へ進む条件　</a:t>
            </a:r>
            <a:pPr indent="0" marL="0">
              <a:buNone/>
            </a:pPr>
            <a:r>
              <a:rPr lang="en-US" sz="1150" b="1" dirty="0">
                <a:solidFill>
                  <a:schemeClr val="tx1"/>
                </a:solidFill>
              </a:rPr>
              <a:t>継続意向 70%以上</a:t>
            </a:r>
            <a:endParaRPr lang="en-US" sz="1150" dirty="0"/>
          </a:p>
        </p:txBody>
      </p:sp>
      <p:sp>
        <p:nvSpPr>
          <p:cNvPr id="14" name="phase 2"/>
          <p:cNvSpPr/>
          <p:nvPr/>
        </p:nvSpPr>
        <p:spPr>
          <a:xfrm>
            <a:off x="4370832" y="2103120"/>
            <a:ext cx="3447288" cy="3931920"/>
          </a:xfrm>
          <a:prstGeom prst="roundRect">
            <a:avLst>
              <a:gd name="adj" fmla="val 1592"/>
            </a:avLst>
          </a:prstGeom>
          <a:solidFill>
            <a:schemeClr val="bg2"/>
          </a:solidFill>
          <a:ln w="9525">
            <a:solidFill>
              <a:schemeClr val="accent3"/>
            </a:solidFill>
            <a:prstDash val="solid"/>
          </a:ln>
          <a:effectLst>
            <a:outerShdw sx="100000" sy="100000" kx="0" ky="0" algn="bl" rotWithShape="0" blurRad="76200" dist="25400" dir="5400000">
              <a:srgbClr val="6F665F">
                <a:alpha val="12000"/>
              </a:srgbClr>
            </a:outerShdw>
          </a:effectLst>
        </p:spPr>
      </p:sp>
      <p:sp>
        <p:nvSpPr>
          <p:cNvPr id="15" name="Shape 13"/>
          <p:cNvSpPr/>
          <p:nvPr/>
        </p:nvSpPr>
        <p:spPr>
          <a:xfrm>
            <a:off x="4645152" y="2331720"/>
            <a:ext cx="1051560" cy="274320"/>
          </a:xfrm>
          <a:prstGeom prst="roundRect">
            <a:avLst>
              <a:gd name="adj" fmla="val 50000"/>
            </a:avLst>
          </a:prstGeom>
          <a:solidFill>
            <a:schemeClr val="accent1"/>
          </a:solidFill>
          <a:ln w="12700">
            <a:solidFill>
              <a:schemeClr val="accent1"/>
            </a:solidFill>
            <a:prstDash val="solid"/>
          </a:ln>
        </p:spPr>
      </p:sp>
      <p:sp>
        <p:nvSpPr>
          <p:cNvPr id="16" name="Text 14"/>
          <p:cNvSpPr txBox="1"/>
          <p:nvPr/>
        </p:nvSpPr>
        <p:spPr>
          <a:xfrm>
            <a:off x="4645152" y="2331720"/>
            <a:ext cx="1051560" cy="274320"/>
          </a:xfrm>
          <a:prstGeom prst="rect">
            <a:avLst/>
          </a:prstGeom>
          <a:noFill/>
          <a:ln/>
        </p:spPr>
        <p:txBody>
          <a:bodyPr wrap="square" lIns="0" tIns="0" rIns="0" bIns="0" rtlCol="0" anchor="ctr"/>
          <a:lstStyle/>
          <a:p>
            <a:pPr algn="ctr" indent="0" marL="0">
              <a:buNone/>
            </a:pPr>
            <a:r>
              <a:rPr lang="en-US" sz="950" b="1" dirty="0">
                <a:solidFill>
                  <a:schemeClr val="bg1"/>
                </a:solidFill>
              </a:rPr>
              <a:t>PHASE 2</a:t>
            </a:r>
            <a:endParaRPr lang="en-US" sz="950" dirty="0"/>
          </a:p>
        </p:txBody>
      </p:sp>
      <p:sp>
        <p:nvSpPr>
          <p:cNvPr id="17" name="Text 15"/>
          <p:cNvSpPr txBox="1"/>
          <p:nvPr/>
        </p:nvSpPr>
        <p:spPr>
          <a:xfrm>
            <a:off x="5833872" y="2331720"/>
            <a:ext cx="1737360" cy="274320"/>
          </a:xfrm>
          <a:prstGeom prst="rect">
            <a:avLst/>
          </a:prstGeom>
          <a:noFill/>
          <a:ln/>
        </p:spPr>
        <p:txBody>
          <a:bodyPr wrap="square" lIns="0" tIns="0" rIns="0" bIns="0" rtlCol="0" anchor="ctr"/>
          <a:lstStyle/>
          <a:p>
            <a:pPr indent="0" marL="0">
              <a:buNone/>
            </a:pPr>
            <a:r>
              <a:rPr lang="en-US" sz="1100" b="1" dirty="0">
                <a:solidFill>
                  <a:schemeClr val="accent2"/>
                </a:solidFill>
              </a:rPr>
              <a:t>6〜18ヶ月</a:t>
            </a:r>
            <a:endParaRPr lang="en-US" sz="1100" dirty="0"/>
          </a:p>
        </p:txBody>
      </p:sp>
      <p:sp>
        <p:nvSpPr>
          <p:cNvPr id="18" name="Text 16"/>
          <p:cNvSpPr txBox="1"/>
          <p:nvPr/>
        </p:nvSpPr>
        <p:spPr>
          <a:xfrm>
            <a:off x="4645152" y="2788920"/>
            <a:ext cx="2926080" cy="457200"/>
          </a:xfrm>
          <a:prstGeom prst="rect">
            <a:avLst/>
          </a:prstGeom>
          <a:noFill/>
          <a:ln/>
        </p:spPr>
        <p:txBody>
          <a:bodyPr wrap="square" lIns="0" tIns="0" rIns="0" bIns="0" rtlCol="0" anchor="t"/>
          <a:lstStyle/>
          <a:p>
            <a:pPr indent="0" marL="0">
              <a:buNone/>
            </a:pPr>
            <a:r>
              <a:rPr lang="en-US" sz="1900" b="1" dirty="0">
                <a:solidFill>
                  <a:schemeClr val="tx1"/>
                </a:solidFill>
              </a:rPr>
              <a:t>拡大</a:t>
            </a:r>
            <a:endParaRPr lang="en-US" sz="1900" dirty="0"/>
          </a:p>
        </p:txBody>
      </p:sp>
      <p:sp>
        <p:nvSpPr>
          <p:cNvPr id="19" name="Text 17"/>
          <p:cNvSpPr txBox="1"/>
          <p:nvPr/>
        </p:nvSpPr>
        <p:spPr>
          <a:xfrm>
            <a:off x="4645152" y="3337560"/>
            <a:ext cx="2926080" cy="1783080"/>
          </a:xfrm>
          <a:prstGeom prst="rect">
            <a:avLst/>
          </a:prstGeom>
          <a:noFill/>
          <a:ln/>
        </p:spPr>
        <p:txBody>
          <a:bodyPr wrap="square" lIns="0" tIns="0" rIns="0" bIns="0" rtlCol="0" anchor="t"/>
          <a:lstStyle/>
          <a:p>
            <a:pPr marL="152400" indent="-152400">
              <a:spcAft>
                <a:spcPts val="600"/>
              </a:spcAft>
              <a:buSzPct val="100000"/>
              <a:buChar char="•"/>
            </a:pPr>
            <a:r>
              <a:rPr lang="en-US" sz="1200" dirty="0">
                <a:solidFill>
                  <a:schemeClr val="tx1"/>
                </a:solidFill>
              </a:rPr>
              <a:t>コンサルタント5名</a:t>
            </a:r>
            <a:endParaRPr lang="en-US" sz="1200" dirty="0"/>
          </a:p>
          <a:p>
            <a:pPr marL="152400" indent="-152400">
              <a:spcAft>
                <a:spcPts val="600"/>
              </a:spcAft>
              <a:buSzPct val="100000"/>
              <a:buChar char="•"/>
            </a:pPr>
            <a:r>
              <a:rPr lang="en-US" sz="1200" dirty="0">
                <a:solidFill>
                  <a:schemeClr val="tx1"/>
                </a:solidFill>
              </a:rPr>
              <a:t>ツール50社・派遣40社</a:t>
            </a:r>
            <a:endParaRPr lang="en-US" sz="1200" dirty="0"/>
          </a:p>
          <a:p>
            <a:pPr marL="152400" indent="-152400">
              <a:spcAft>
                <a:spcPts val="600"/>
              </a:spcAft>
              <a:buSzPct val="100000"/>
              <a:buChar char="•"/>
            </a:pPr>
            <a:r>
              <a:rPr lang="en-US" sz="1200" dirty="0">
                <a:solidFill>
                  <a:schemeClr val="tx1"/>
                </a:solidFill>
              </a:rPr>
              <a:t>成約8件</a:t>
            </a:r>
            <a:endParaRPr lang="en-US" sz="1200" dirty="0"/>
          </a:p>
          <a:p>
            <a:pPr marL="152400" indent="-152400">
              <a:spcAft>
                <a:spcPts val="600"/>
              </a:spcAft>
              <a:buSzPct val="100000"/>
              <a:buChar char="•"/>
            </a:pPr>
            <a:r>
              <a:rPr lang="en-US" sz="1200" dirty="0">
                <a:solidFill>
                  <a:schemeClr val="tx1"/>
                </a:solidFill>
              </a:rPr>
              <a:t>提携金融機関3〜5行</a:t>
            </a:r>
            <a:endParaRPr lang="en-US" sz="1200" dirty="0"/>
          </a:p>
        </p:txBody>
      </p:sp>
      <p:sp>
        <p:nvSpPr>
          <p:cNvPr id="20" name="Shape 18"/>
          <p:cNvSpPr/>
          <p:nvPr/>
        </p:nvSpPr>
        <p:spPr>
          <a:xfrm>
            <a:off x="4645152" y="5212080"/>
            <a:ext cx="2898648" cy="0"/>
          </a:xfrm>
          <a:prstGeom prst="line">
            <a:avLst/>
          </a:prstGeom>
          <a:noFill/>
          <a:ln w="9525">
            <a:solidFill>
              <a:srgbClr val="E6DCCB"/>
            </a:solidFill>
            <a:prstDash val="solid"/>
          </a:ln>
        </p:spPr>
      </p:sp>
      <p:sp>
        <p:nvSpPr>
          <p:cNvPr id="21" name="Text 19"/>
          <p:cNvSpPr txBox="1"/>
          <p:nvPr/>
        </p:nvSpPr>
        <p:spPr>
          <a:xfrm>
            <a:off x="4645152" y="5303520"/>
            <a:ext cx="2926080" cy="548640"/>
          </a:xfrm>
          <a:prstGeom prst="rect">
            <a:avLst/>
          </a:prstGeom>
          <a:noFill/>
          <a:ln/>
        </p:spPr>
        <p:txBody>
          <a:bodyPr wrap="square" lIns="0" tIns="0" rIns="0" bIns="0" rtlCol="0" anchor="ctr"/>
          <a:lstStyle/>
          <a:p>
            <a:pPr indent="0" marL="0">
              <a:buNone/>
            </a:pPr>
            <a:r>
              <a:rPr lang="en-US" sz="1150" b="1" dirty="0">
                <a:solidFill>
                  <a:schemeClr val="accent1"/>
                </a:solidFill>
              </a:rPr>
              <a:t>次へ進む条件　</a:t>
            </a:r>
            <a:pPr indent="0" marL="0">
              <a:buNone/>
            </a:pPr>
            <a:r>
              <a:rPr lang="en-US" sz="1150" b="1" dirty="0">
                <a:solidFill>
                  <a:schemeClr val="tx1"/>
                </a:solidFill>
              </a:rPr>
              <a:t>成約8件</a:t>
            </a:r>
            <a:endParaRPr lang="en-US" sz="1150" dirty="0"/>
          </a:p>
        </p:txBody>
      </p:sp>
      <p:sp>
        <p:nvSpPr>
          <p:cNvPr id="22" name="phase 3"/>
          <p:cNvSpPr/>
          <p:nvPr/>
        </p:nvSpPr>
        <p:spPr>
          <a:xfrm>
            <a:off x="8055864" y="2103120"/>
            <a:ext cx="3447288" cy="3931920"/>
          </a:xfrm>
          <a:prstGeom prst="roundRect">
            <a:avLst>
              <a:gd name="adj" fmla="val 1592"/>
            </a:avLst>
          </a:prstGeom>
          <a:solidFill>
            <a:schemeClr val="tx1"/>
          </a:solidFill>
          <a:ln w="12700">
            <a:solidFill>
              <a:schemeClr val="tx1"/>
            </a:solidFill>
            <a:prstDash val="solid"/>
          </a:ln>
        </p:spPr>
      </p:sp>
      <p:sp>
        <p:nvSpPr>
          <p:cNvPr id="23" name="Shape 21"/>
          <p:cNvSpPr/>
          <p:nvPr/>
        </p:nvSpPr>
        <p:spPr>
          <a:xfrm>
            <a:off x="8330184" y="2331720"/>
            <a:ext cx="1051560" cy="274320"/>
          </a:xfrm>
          <a:prstGeom prst="roundRect">
            <a:avLst>
              <a:gd name="adj" fmla="val 50000"/>
            </a:avLst>
          </a:prstGeom>
          <a:solidFill>
            <a:schemeClr val="accent1"/>
          </a:solidFill>
          <a:ln w="12700">
            <a:solidFill>
              <a:schemeClr val="accent1"/>
            </a:solidFill>
            <a:prstDash val="solid"/>
          </a:ln>
        </p:spPr>
      </p:sp>
      <p:sp>
        <p:nvSpPr>
          <p:cNvPr id="24" name="Text 22"/>
          <p:cNvSpPr txBox="1"/>
          <p:nvPr/>
        </p:nvSpPr>
        <p:spPr>
          <a:xfrm>
            <a:off x="8330184" y="2331720"/>
            <a:ext cx="1051560" cy="274320"/>
          </a:xfrm>
          <a:prstGeom prst="rect">
            <a:avLst/>
          </a:prstGeom>
          <a:noFill/>
          <a:ln/>
        </p:spPr>
        <p:txBody>
          <a:bodyPr wrap="square" lIns="0" tIns="0" rIns="0" bIns="0" rtlCol="0" anchor="ctr"/>
          <a:lstStyle/>
          <a:p>
            <a:pPr algn="ctr" indent="0" marL="0">
              <a:buNone/>
            </a:pPr>
            <a:r>
              <a:rPr lang="en-US" sz="950" b="1" dirty="0">
                <a:solidFill>
                  <a:schemeClr val="bg1"/>
                </a:solidFill>
              </a:rPr>
              <a:t>PHASE 3</a:t>
            </a:r>
            <a:endParaRPr lang="en-US" sz="950" dirty="0"/>
          </a:p>
        </p:txBody>
      </p:sp>
      <p:sp>
        <p:nvSpPr>
          <p:cNvPr id="25" name="Text 23"/>
          <p:cNvSpPr txBox="1"/>
          <p:nvPr/>
        </p:nvSpPr>
        <p:spPr>
          <a:xfrm>
            <a:off x="9518904" y="2331720"/>
            <a:ext cx="1737360" cy="274320"/>
          </a:xfrm>
          <a:prstGeom prst="rect">
            <a:avLst/>
          </a:prstGeom>
          <a:noFill/>
          <a:ln/>
        </p:spPr>
        <p:txBody>
          <a:bodyPr wrap="square" lIns="0" tIns="0" rIns="0" bIns="0" rtlCol="0" anchor="ctr"/>
          <a:lstStyle/>
          <a:p>
            <a:pPr indent="0" marL="0">
              <a:buNone/>
            </a:pPr>
            <a:r>
              <a:rPr lang="en-US" sz="1100" b="1" dirty="0">
                <a:solidFill>
                  <a:schemeClr val="accent4"/>
                </a:solidFill>
              </a:rPr>
              <a:t>18〜36ヶ月</a:t>
            </a:r>
            <a:endParaRPr lang="en-US" sz="1100" dirty="0"/>
          </a:p>
        </p:txBody>
      </p:sp>
      <p:sp>
        <p:nvSpPr>
          <p:cNvPr id="26" name="Text 24"/>
          <p:cNvSpPr txBox="1"/>
          <p:nvPr/>
        </p:nvSpPr>
        <p:spPr>
          <a:xfrm>
            <a:off x="8330184" y="2788920"/>
            <a:ext cx="2926080" cy="457200"/>
          </a:xfrm>
          <a:prstGeom prst="rect">
            <a:avLst/>
          </a:prstGeom>
          <a:noFill/>
          <a:ln/>
        </p:spPr>
        <p:txBody>
          <a:bodyPr wrap="square" lIns="0" tIns="0" rIns="0" bIns="0" rtlCol="0" anchor="t"/>
          <a:lstStyle/>
          <a:p>
            <a:pPr indent="0" marL="0">
              <a:buNone/>
            </a:pPr>
            <a:r>
              <a:rPr lang="en-US" sz="1900" b="1" dirty="0">
                <a:solidFill>
                  <a:schemeClr val="bg1"/>
                </a:solidFill>
              </a:rPr>
              <a:t>データで勝つ</a:t>
            </a:r>
            <a:endParaRPr lang="en-US" sz="1900" dirty="0"/>
          </a:p>
        </p:txBody>
      </p:sp>
      <p:sp>
        <p:nvSpPr>
          <p:cNvPr id="27" name="Text 25"/>
          <p:cNvSpPr txBox="1"/>
          <p:nvPr/>
        </p:nvSpPr>
        <p:spPr>
          <a:xfrm>
            <a:off x="8330184" y="3337560"/>
            <a:ext cx="2926080" cy="1783080"/>
          </a:xfrm>
          <a:prstGeom prst="rect">
            <a:avLst/>
          </a:prstGeom>
          <a:noFill/>
          <a:ln/>
        </p:spPr>
        <p:txBody>
          <a:bodyPr wrap="square" lIns="0" tIns="0" rIns="0" bIns="0" rtlCol="0" anchor="t"/>
          <a:lstStyle/>
          <a:p>
            <a:pPr marL="152400" indent="-152400">
              <a:spcAft>
                <a:spcPts val="600"/>
              </a:spcAft>
              <a:buSzPct val="100000"/>
              <a:buChar char="•"/>
            </a:pPr>
            <a:r>
              <a:rPr lang="en-US" sz="1200" dirty="0">
                <a:solidFill>
                  <a:schemeClr val="bg1"/>
                </a:solidFill>
              </a:rPr>
              <a:t>コンサルタント10名</a:t>
            </a:r>
            <a:endParaRPr lang="en-US" sz="1200" dirty="0"/>
          </a:p>
          <a:p>
            <a:pPr marL="152400" indent="-152400">
              <a:spcAft>
                <a:spcPts val="600"/>
              </a:spcAft>
              <a:buSzPct val="100000"/>
              <a:buChar char="•"/>
            </a:pPr>
            <a:r>
              <a:rPr lang="en-US" sz="1200" dirty="0">
                <a:solidFill>
                  <a:schemeClr val="bg1"/>
                </a:solidFill>
              </a:rPr>
              <a:t>ツール200社・派遣100社</a:t>
            </a:r>
            <a:endParaRPr lang="en-US" sz="1200" dirty="0"/>
          </a:p>
          <a:p>
            <a:pPr marL="152400" indent="-152400">
              <a:spcAft>
                <a:spcPts val="600"/>
              </a:spcAft>
              <a:buSzPct val="100000"/>
              <a:buChar char="•"/>
            </a:pPr>
            <a:r>
              <a:rPr lang="en-US" sz="1200" dirty="0">
                <a:solidFill>
                  <a:schemeClr val="bg1"/>
                </a:solidFill>
              </a:rPr>
              <a:t>成約データでAI価格算定</a:t>
            </a:r>
            <a:endParaRPr lang="en-US" sz="1200" dirty="0"/>
          </a:p>
          <a:p>
            <a:pPr marL="152400" indent="-152400">
              <a:spcAft>
                <a:spcPts val="600"/>
              </a:spcAft>
              <a:buSzPct val="100000"/>
              <a:buChar char="•"/>
            </a:pPr>
            <a:r>
              <a:rPr lang="en-US" sz="1200" dirty="0">
                <a:solidFill>
                  <a:schemeClr val="bg1"/>
                </a:solidFill>
              </a:rPr>
              <a:t>仲介・FA向けの打診サービス</a:t>
            </a:r>
            <a:endParaRPr lang="en-US" sz="1200" dirty="0"/>
          </a:p>
        </p:txBody>
      </p:sp>
      <p:sp>
        <p:nvSpPr>
          <p:cNvPr id="28" name="Shape 26"/>
          <p:cNvSpPr/>
          <p:nvPr/>
        </p:nvSpPr>
        <p:spPr>
          <a:xfrm>
            <a:off x="8330184" y="5212080"/>
            <a:ext cx="2898648" cy="0"/>
          </a:xfrm>
          <a:prstGeom prst="line">
            <a:avLst/>
          </a:prstGeom>
          <a:noFill/>
          <a:ln w="9525">
            <a:solidFill>
              <a:srgbClr val="4E443C"/>
            </a:solidFill>
            <a:prstDash val="solid"/>
          </a:ln>
        </p:spPr>
      </p:sp>
      <p:sp>
        <p:nvSpPr>
          <p:cNvPr id="29" name="Text 27"/>
          <p:cNvSpPr txBox="1"/>
          <p:nvPr/>
        </p:nvSpPr>
        <p:spPr>
          <a:xfrm>
            <a:off x="8330184" y="5303520"/>
            <a:ext cx="2926080" cy="548640"/>
          </a:xfrm>
          <a:prstGeom prst="rect">
            <a:avLst/>
          </a:prstGeom>
          <a:noFill/>
          <a:ln/>
        </p:spPr>
        <p:txBody>
          <a:bodyPr wrap="square" lIns="0" tIns="0" rIns="0" bIns="0" rtlCol="0" anchor="ctr"/>
          <a:lstStyle/>
          <a:p>
            <a:pPr indent="0" marL="0">
              <a:buNone/>
            </a:pPr>
            <a:r>
              <a:rPr lang="en-US" sz="1150" b="1" dirty="0">
                <a:solidFill>
                  <a:schemeClr val="accent1"/>
                </a:solidFill>
              </a:rPr>
              <a:t>次へ進む条件　</a:t>
            </a:r>
            <a:pPr indent="0" marL="0">
              <a:buNone/>
            </a:pPr>
            <a:r>
              <a:rPr lang="en-US" sz="1150" b="1" dirty="0">
                <a:solidFill>
                  <a:schemeClr val="bg1"/>
                </a:solidFill>
              </a:rPr>
              <a:t>成約25件</a:t>
            </a:r>
            <a:endParaRPr lang="en-US" sz="1150" dirty="0"/>
          </a:p>
        </p:txBody>
      </p:sp>
      <p:sp>
        <p:nvSpPr>
          <p:cNvPr id="25" name="Slide Number Placeholder 0"/>
          <p:cNvSpPr>
            <a:spLocks noGrp="1"/>
          </p:cNvSpPr>
          <p:nvPr>
            <p:ph type="sldNum" sz="quarter" idx="4294967295"/>
          </p:nvPr>
        </p:nvSpPr>
        <p:spPr>
          <a:xfrm>
            <a:off x="10957255"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motif circle"/>
          <p:cNvSpPr/>
          <p:nvPr/>
        </p:nvSpPr>
        <p:spPr>
          <a:xfrm>
            <a:off x="8503920" y="-2011680"/>
            <a:ext cx="5120640" cy="5120640"/>
          </a:xfrm>
          <a:prstGeom prst="ellipse">
            <a:avLst/>
          </a:prstGeom>
          <a:solidFill>
            <a:schemeClr val="tx2"/>
          </a:solidFill>
          <a:ln w="12700">
            <a:solidFill>
              <a:schemeClr val="tx2"/>
            </a:solidFill>
            <a:prstDash val="solid"/>
          </a:ln>
        </p:spPr>
      </p:sp>
      <p:sp>
        <p:nvSpPr>
          <p:cNvPr id="3" name="kicker dot"/>
          <p:cNvSpPr/>
          <p:nvPr/>
        </p:nvSpPr>
        <p:spPr>
          <a:xfrm>
            <a:off x="685800" y="1216152"/>
            <a:ext cx="109728" cy="109728"/>
          </a:xfrm>
          <a:prstGeom prst="ellipse">
            <a:avLst/>
          </a:prstGeom>
          <a:solidFill>
            <a:schemeClr val="accent1"/>
          </a:solidFill>
          <a:ln w="12700">
            <a:solidFill>
              <a:schemeClr val="accent1"/>
            </a:solidFill>
            <a:prstDash val="solid"/>
          </a:ln>
        </p:spPr>
      </p:sp>
      <p:sp>
        <p:nvSpPr>
          <p:cNvPr id="4" name="Text 0"/>
          <p:cNvSpPr/>
          <p:nvPr>
            <p:ph idx="100" type="body" hasCustomPrompt="1"/>
          </p:nvPr>
        </p:nvSpPr>
        <p:spPr>
          <a:xfrm>
            <a:off x="923544" y="1097280"/>
            <a:ext cx="9144000" cy="347472"/>
          </a:xfrm>
          <a:prstGeom prst="rect">
            <a:avLst/>
          </a:prstGeom>
          <a:noFill/>
          <a:ln/>
        </p:spPr>
        <p:txBody>
          <a:bodyPr wrap="square" lIns="0" tIns="0" rIns="0" bIns="0" rtlCol="0"/>
          <a:lstStyle/>
          <a:p>
            <a:pPr indent="0" marL="0">
              <a:buNone/>
            </a:pPr>
            <a:r>
              <a:rPr lang="en-US" sz="1200" b="1" spc="400" kern="0" dirty="0">
                <a:solidFill>
                  <a:schemeClr val="accent4"/>
                </a:solidFill>
              </a:rPr>
              <a:t>C L O S I N G</a:t>
            </a:r>
            <a:endParaRPr lang="en-US" sz="1200" dirty="0"/>
          </a:p>
        </p:txBody>
      </p:sp>
      <p:sp>
        <p:nvSpPr>
          <p:cNvPr id="5" name="Text 0"/>
          <p:cNvSpPr/>
          <p:nvPr>
            <p:ph idx="101" type="title" hasCustomPrompt="1"/>
          </p:nvPr>
        </p:nvSpPr>
        <p:spPr>
          <a:xfrm>
            <a:off x="685800" y="1554480"/>
            <a:ext cx="8961120" cy="1645920"/>
          </a:xfrm>
          <a:prstGeom prst="rect">
            <a:avLst/>
          </a:prstGeom>
          <a:noFill/>
          <a:ln/>
        </p:spPr>
        <p:txBody>
          <a:bodyPr wrap="square" lIns="0" tIns="0" rIns="0" bIns="0" rtlCol="0" anchor="t"/>
          <a:lstStyle/>
          <a:p>
            <a:pPr algn="l" indent="0" marL="0">
              <a:buNone/>
            </a:pPr>
            <a:r>
              <a:rPr lang="en-US" sz="3600" b="1" dirty="0">
                <a:solidFill>
                  <a:schemeClr val="bg1"/>
                </a:solidFill>
              </a:rPr>
              <a:t>M&amp;Aは、才能ではなく</a:t>
            </a:r>
            <a:endParaRPr lang="en-US" sz="3600" dirty="0"/>
          </a:p>
          <a:p>
            <a:pPr algn="l" indent="0" marL="0">
              <a:buNone/>
            </a:pPr>
            <a:r>
              <a:rPr lang="en-US" sz="3600" b="1" dirty="0">
                <a:solidFill>
                  <a:schemeClr val="bg1"/>
                </a:solidFill>
              </a:rPr>
              <a:t>手順で勝てる。</a:t>
            </a:r>
            <a:endParaRPr lang="en-US" sz="3600" dirty="0"/>
          </a:p>
        </p:txBody>
      </p:sp>
      <p:sp>
        <p:nvSpPr>
          <p:cNvPr id="6" name="Text 1"/>
          <p:cNvSpPr/>
          <p:nvPr>
            <p:ph idx="103" type="body" hasCustomPrompt="1"/>
          </p:nvPr>
        </p:nvSpPr>
        <p:spPr>
          <a:xfrm>
            <a:off x="685800" y="3566160"/>
            <a:ext cx="9601200" cy="1920240"/>
          </a:xfrm>
          <a:prstGeom prst="rect">
            <a:avLst/>
          </a:prstGeom>
          <a:noFill/>
          <a:ln/>
        </p:spPr>
        <p:txBody>
          <a:bodyPr wrap="square" lIns="0" tIns="0" rIns="0" bIns="0" rtlCol="0" anchor="t"/>
          <a:lstStyle/>
          <a:p>
            <a:pPr indent="0" marL="0">
              <a:buNone/>
            </a:pPr>
            <a:r>
              <a:rPr lang="en-US" sz="1500" dirty="0">
                <a:solidFill>
                  <a:schemeClr val="accent3"/>
                </a:solidFill>
              </a:rPr>
              <a:t>その手順を、49戦の勝ちと負けから。</a:t>
            </a:r>
            <a:endParaRPr lang="en-US" sz="1500" dirty="0"/>
          </a:p>
          <a:p>
            <a:pPr indent="0" marL="0">
              <a:buNone/>
            </a:pPr>
            <a:r>
              <a:rPr lang="en-US" sz="1500" b="1" dirty="0">
                <a:solidFill>
                  <a:schemeClr val="accent4"/>
                </a:solidFill>
              </a:rPr>
              <a:t>AIと一緒に、御社の担当者へ渡します。</a:t>
            </a:r>
            <a:endParaRPr lang="en-US" sz="1500" dirty="0"/>
          </a:p>
          <a:p>
            <a:pPr indent="0" marL="0">
              <a:buNone/>
            </a:pPr>
            <a:r>
              <a:rPr lang="en-US" sz="1500" dirty="0">
                <a:solidFill>
                  <a:schemeClr val="accent3"/>
                </a:solidFill>
              </a:rPr>
              <a:t> </a:t>
            </a:r>
            <a:endParaRPr lang="en-US" sz="1500" dirty="0"/>
          </a:p>
          <a:p>
            <a:pPr indent="0" marL="0">
              <a:buNone/>
            </a:pPr>
            <a:r>
              <a:rPr lang="en-US" sz="1500" dirty="0">
                <a:solidFill>
                  <a:schemeClr val="accent3"/>
                </a:solidFill>
              </a:rPr>
              <a:t>値づけを決める。PMIの人を決める。売る時期を決める。</a:t>
            </a:r>
            <a:endParaRPr lang="en-US" sz="1500" dirty="0"/>
          </a:p>
          <a:p>
            <a:pPr indent="0" marL="0">
              <a:buNone/>
            </a:pPr>
            <a:r>
              <a:rPr lang="en-US" sz="1500" dirty="0">
                <a:solidFill>
                  <a:schemeClr val="accent3"/>
                </a:solidFill>
              </a:rPr>
              <a:t>この3つを買う前に紙に書けば、負けても致命傷にはなりません。</a:t>
            </a:r>
            <a:endParaRPr lang="en-US" sz="1500" dirty="0"/>
          </a:p>
        </p:txBody>
      </p:sp>
      <p:sp>
        <p:nvSpPr>
          <p:cNvPr id="7" name="Text 1"/>
          <p:cNvSpPr/>
          <p:nvPr>
            <p:ph idx="104" type="body" hasCustomPrompt="1"/>
          </p:nvPr>
        </p:nvSpPr>
        <p:spPr>
          <a:xfrm>
            <a:off x="685800" y="5715000"/>
            <a:ext cx="9144000" cy="365760"/>
          </a:xfrm>
          <a:prstGeom prst="rect">
            <a:avLst/>
          </a:prstGeom>
          <a:noFill/>
          <a:ln/>
        </p:spPr>
        <p:txBody>
          <a:bodyPr wrap="square" lIns="0" tIns="0" rIns="0" bIns="0" rtlCol="0"/>
          <a:lstStyle/>
          <a:p>
            <a:pPr indent="0" marL="0">
              <a:buNone/>
            </a:pPr>
            <a:r>
              <a:rPr lang="en-US" sz="1300" b="1" dirty="0">
                <a:solidFill>
                  <a:schemeClr val="bg1"/>
                </a:solidFill>
              </a:rPr>
              <a:t>中野 邦人 ／ 株式会社WineBank</a:t>
            </a:r>
            <a:endParaRPr lang="en-US" sz="1300" dirty="0"/>
          </a:p>
        </p:txBody>
      </p:sp>
    </p:spTree>
  </p:cSld>
  <p:clrMapOvr>
    <a:masterClrMapping/>
  </p:clrMapOvr>
</p:sld>
</file>

<file path=ppt/theme/theme1.xml><?xml version="1.0" encoding="utf-8"?>
<a:theme xmlns:a="http://schemas.openxmlformats.org/drawingml/2006/main" name="Nakano Espresso">
  <a:themeElements>
    <a:clrScheme name="Nakano Espresso">
      <a:dk1>
        <a:srgbClr val="2B2622"/>
      </a:dk1>
      <a:lt1>
        <a:srgbClr val="FFFFFF"/>
      </a:lt1>
      <a:dk2>
        <a:srgbClr val="1C1714"/>
      </a:dk2>
      <a:lt2>
        <a:srgbClr val="F5EFE4"/>
      </a:lt2>
      <a:accent1>
        <a:srgbClr val="A78450"/>
      </a:accent1>
      <a:accent2>
        <a:srgbClr val="6F665F"/>
      </a:accent2>
      <a:accent3>
        <a:srgbClr val="E6DCCB"/>
      </a:accent3>
      <a:accent4>
        <a:srgbClr val="C9AE7E"/>
      </a:accent4>
      <a:accent5>
        <a:srgbClr val="9A8F84"/>
      </a:accent5>
      <a:accent6>
        <a:srgbClr val="F3E9D6"/>
      </a:accent6>
      <a:hlink>
        <a:srgbClr val="A78450"/>
      </a:hlink>
      <a:folHlink>
        <a:srgbClr val="6F665F"/>
      </a:folHlink>
    </a:clrScheme>
    <a:fontScheme name="Nakano Espresso">
      <a:majorFont>
        <a:latin typeface="Meiryo"/>
        <a:ea typeface="Meiryo"/>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Meiryo"/>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中小企業のAI M&amp;A部門 事業概要</dc:title>
  <dc:subject>PptxGenJS Presentation</dc:subject>
  <dc:creator>PptxGenJS</dc:creator>
  <cp:lastModifiedBy>PptxGenJS</cp:lastModifiedBy>
  <cp:revision>1</cp:revision>
  <dcterms:created xsi:type="dcterms:W3CDTF">2026-10-30T07:03:55Z</dcterms:created>
  <dcterms:modified xsi:type="dcterms:W3CDTF">2026-10-30T07:03:55Z</dcterms:modified>
</cp:coreProperties>
</file>