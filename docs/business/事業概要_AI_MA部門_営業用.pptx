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0c11067a-4e42-2917-400f-b8ee68992000}">
          <p14:sldIdLst>
            <p14:sldId id="256"/>
            <p14:sldId id="257"/>
          </p14:sldIdLst>
        </p14:section>
        <p14:section name="課題と原点" id="{74aebc8c-c3d7-8212-4c3d-dad31ceb801a}">
          <p14:sldIdLst>
            <p14:sldId id="258"/>
            <p14:sldId id="259"/>
            <p14:sldId id="260"/>
          </p14:sldIdLst>
        </p14:section>
        <p14:section name="サービス" id="{3a073087-b382-6431-9d4d-c53a0ec9e8ef}">
          <p14:sldIdLst>
            <p14:sldId id="261"/>
            <p14:sldId id="262"/>
            <p14:sldId id="263"/>
            <p14:sldId id="264"/>
            <p14:sldId id="265"/>
            <p14:sldId id="266"/>
            <p14:sldId id="267"/>
          </p14:sldIdLst>
        </p14:section>
        <p14:section name="事業性" id="{5f2218b9-29a8-c0d1-270a-7e712ec6b54b}">
          <p14:sldIdLst>
            <p14:sldId id="268"/>
            <p14:sldId id="269"/>
            <p14:sldId id="270"/>
          </p14:sldIdLst>
        </p14:section>
        <p14:section name="まとめ" id="{98409290-5d35-5a33-ff71-6cbaa50e39a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投じた額</c:v>
                </c:pt>
              </c:strCache>
            </c:strRef>
          </c:tx>
          <c:spPr>
            <a:solidFill>
              <a:srgbClr val="9A8F84"/>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Sheet1!$B$2:$B$5</c:f>
              <c:numCache>
                <c:formatCode>General</c:formatCode>
                <c:ptCount val="4"/>
                <c:pt idx="0">
                  <c:v>10.8</c:v>
                </c:pt>
                <c:pt idx="1">
                  <c:v>0</c:v>
                </c:pt>
                <c:pt idx="2">
                  <c:v>14.4</c:v>
                </c:pt>
                <c:pt idx="3">
                  <c:v>0</c:v>
                </c:pt>
              </c:numCache>
            </c:numRef>
          </c:val>
        </c:ser>
        <c:ser>
          <c:idx val="1"/>
          <c:order val="1"/>
          <c:tx>
            <c:strRef>
              <c:f>Sheet1!$C$1</c:f>
              <c:strCache>
                <c:ptCount val="1"/>
                <c:pt idx="0">
                  <c:v>営業利益</c:v>
                </c:pt>
              </c:strCache>
            </c:strRef>
          </c:tx>
          <c:spPr>
            <a:solidFill>
              <a:srgbClr val="2B2622"/>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Sheet1!$C$2:$C$5</c:f>
              <c:numCache>
                <c:formatCode>General</c:formatCode>
                <c:ptCount val="4"/>
                <c:pt idx="0">
                  <c:v>0</c:v>
                </c:pt>
                <c:pt idx="1">
                  <c:v>7.6</c:v>
                </c:pt>
                <c:pt idx="2">
                  <c:v>0</c:v>
                </c:pt>
                <c:pt idx="3">
                  <c:v>2.4</c:v>
                </c:pt>
              </c:numCache>
            </c:numRef>
          </c:val>
        </c:ser>
        <c:ser>
          <c:idx val="2"/>
          <c:order val="2"/>
          <c:tx>
            <c:strRef>
              <c:f>Sheet1!$D$1</c:f>
              <c:strCache>
                <c:ptCount val="1"/>
                <c:pt idx="0">
                  <c:v>売却回収</c:v>
                </c:pt>
              </c:strCache>
            </c:strRef>
          </c:tx>
          <c:spPr>
            <a:solidFill>
              <a:srgbClr val="C9AE7E"/>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Sheet1!$D$2:$D$5</c:f>
              <c:numCache>
                <c:formatCode>General</c:formatCode>
                <c:ptCount val="4"/>
                <c:pt idx="0">
                  <c:v>0</c:v>
                </c:pt>
                <c:pt idx="1">
                  <c:v>5.3</c:v>
                </c:pt>
                <c:pt idx="2">
                  <c:v>0</c:v>
                </c:pt>
                <c:pt idx="3">
                  <c:v>0</c:v>
                </c:pt>
              </c:numCache>
            </c:numRef>
          </c:val>
        </c:ser>
        <c:ser>
          <c:idx val="3"/>
          <c:order val="3"/>
          <c:tx>
            <c:strRef>
              <c:f>Sheet1!$E$1</c:f>
              <c:strCache>
                <c:ptCount val="1"/>
                <c:pt idx="0">
                  <c:v>手元の純資産</c:v>
                </c:pt>
              </c:strCache>
            </c:strRef>
          </c:tx>
          <c:spPr>
            <a:solidFill>
              <a:srgbClr val="A78450"/>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Sheet1!$E$2:$E$5</c:f>
              <c:numCache>
                <c:formatCode>General</c:formatCode>
                <c:ptCount val="4"/>
                <c:pt idx="0">
                  <c:v>0</c:v>
                </c:pt>
                <c:pt idx="1">
                  <c:v>2</c:v>
                </c:pt>
                <c:pt idx="2">
                  <c:v>0</c:v>
                </c:pt>
                <c:pt idx="3">
                  <c:v>15.9</c:v>
                </c:pt>
              </c:numCache>
            </c:numRef>
          </c:val>
        </c:ser>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622"/>
                </a:solidFill>
                <a:latin typeface="+mn-lt"/>
              </a:defRPr>
            </a:pPr>
            <a:r>
              <a:rPr sz="1200" b="0" i="0" u="none" strike="noStrike">
                <a:solidFill>
                  <a:srgbClr val="2B2622"/>
                </a:solidFill>
                <a:latin typeface="+mn-lt"/>
              </a:rPr>
              <a:t>売上高（億円）</a:t>
            </a:r>
          </a:p>
        </c:rich>
      </c:tx>
      <c:layout/>
      <c:overlay val="0"/>
    </c:title>
    <c:autoTitleDeleted val="0"/>
    <c:plotArea>
      <c:layout/>
      <c:barChart>
        <c:barDir val="col"/>
        <c:grouping val="stacked"/>
        <c:varyColors val="0"/>
        <c:ser>
          <c:idx val="0"/>
          <c:order val="0"/>
          <c:tx>
            <c:strRef>
              <c:f>Sheet1!$B$1</c:f>
              <c:strCache>
                <c:ptCount val="1"/>
                <c:pt idx="0">
                  <c:v>月額報酬</c:v>
                </c:pt>
              </c:strCache>
            </c:strRef>
          </c:tx>
          <c:spPr>
            <a:solidFill>
              <a:srgbClr val="2B2622"/>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Sheet1!$B$2:$B$4</c:f>
              <c:numCache>
                <c:formatCode>General</c:formatCode>
                <c:ptCount val="3"/>
                <c:pt idx="0">
                  <c:v>0.62</c:v>
                </c:pt>
                <c:pt idx="1">
                  <c:v>2.59</c:v>
                </c:pt>
                <c:pt idx="2">
                  <c:v>6.72</c:v>
                </c:pt>
              </c:numCache>
            </c:numRef>
          </c:val>
        </c:ser>
        <c:ser>
          <c:idx val="1"/>
          <c:order val="1"/>
          <c:tx>
            <c:strRef>
              <c:f>Sheet1!$C$1</c:f>
              <c:strCache>
                <c:ptCount val="1"/>
                <c:pt idx="0">
                  <c:v>成功報酬</c:v>
                </c:pt>
              </c:strCache>
            </c:strRef>
          </c:tx>
          <c:spPr>
            <a:solidFill>
              <a:srgbClr val="A78450"/>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Sheet1!$C$2:$C$4</c:f>
              <c:numCache>
                <c:formatCode>General</c:formatCode>
                <c:ptCount val="3"/>
                <c:pt idx="0">
                  <c:v>0.12</c:v>
                </c:pt>
                <c:pt idx="1">
                  <c:v>0.48</c:v>
                </c:pt>
                <c:pt idx="2">
                  <c:v>1.5</c:v>
                </c:pt>
              </c:numCache>
            </c:numRef>
          </c:val>
        </c:ser>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DE6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8F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M&amp;A担当がいない会社に、AIと49戦の経験で『社内M&amp;A部門』を月額で提供する事業です。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誰に・何を・なぜ勝てるか。この3つだけ覚えて帰ってもらうページです。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市場はある。でも買い手側には、判断できる人も、味方も、買った後の支援もない。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ここが一番伝えたいところ。自分も負けた。だから、同じ負け方をする人を減らしたい。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第1期は投じた10.8億が14.9億で戻った。第2期は純資産より安く買えているので、買った瞬間に資産で元が取れていて、そのうえ毎年2.4億の営業利益が乗る。約6年で買収額を利益だけで回収できる計算。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原則の左側は私の実例、右側はそれをサービスでどう再現するか。案件名は伏せています。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AIは道具。差は、49戦のルールでAIの出した答えを判定するところにある。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約データは持てないが、IMなら集められる。関東の生産・卸・飲食・不動産に絞って相場をつくり、適正価格をアドバイスする。支援が始まったら、受け取ったIMをすべて取り込み、お客様のBS/PLと強みに掛け合わせて分析する。分析したIMは匿名化してデータベースに戻すので、使うほど精度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左のマップで立ち位置、右の表で違い。費用は仲介の1/10以下で、買った後と人材育成まで入っている。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一番のお客様は、M&amp;Aで成長したいのに担当者がいない会社。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成果は成約だけではない。12ヶ月後に担当者が自分で回せるようになることを約束する。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プレミアムの価値は中野本人との壁打ち。私の時間には限りがあるので枠数を絞る。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最初は人とノウハウで勝つ。続けるほどデータが溜まり、後から来た競合が追いつけなくなる。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数字は仮説。1人で10社、月50〜80万円、年3件成約が前提。AIで担当社数を増やせれば上振れする。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最初の半年は、中野と2名で10社。ここで継続意向が取れたら拡大する。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講演の締めと同じメッセージで終える。手順は再現できる、だから教えられる。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K_COV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14400" y="1371600"/>
            <a:ext cx="9144000" cy="347472"/>
          </a:xfrm>
          <a:prstGeom prst="rect">
            <a:avLst/>
          </a:prstGeom>
          <a:noFill/>
          <a:ln/>
        </p:spPr>
        <p:txBody>
          <a:bodyPr wrap="square" rtlCol="0"/>
          <a:lstStyle>
            <a:lvl1pPr indent="0" marL="0">
              <a:buNone/>
              <a:defRPr lang="en-US" sz="1200" b="1" spc="1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828800"/>
            <a:ext cx="86868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85800" y="3657600"/>
            <a:ext cx="8686800" cy="5486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Shape 0"/>
          <p:cNvSpPr/>
          <p:nvPr/>
        </p:nvSpPr>
        <p:spPr>
          <a:xfrm>
            <a:off x="685800" y="4526280"/>
            <a:ext cx="2194560" cy="18288"/>
          </a:xfrm>
          <a:prstGeom prst="rect">
            <a:avLst/>
          </a:prstGeom>
          <a:solidFill>
            <a:schemeClr val="accent1"/>
          </a:solidFill>
          <a:ln w="12700">
            <a:solidFill>
              <a:schemeClr val="accent1"/>
            </a:solidFill>
            <a:prstDash val="solid"/>
          </a:ln>
        </p:spPr>
      </p:sp>
      <p:sp>
        <p:nvSpPr>
          <p:cNvPr id="6" name="Text 1"/>
          <p:cNvSpPr/>
          <p:nvPr>
            <p:ph idx="104" type="body" hasCustomPrompt="1"/>
          </p:nvPr>
        </p:nvSpPr>
        <p:spPr>
          <a:xfrm>
            <a:off x="685800" y="4754880"/>
            <a:ext cx="8229600" cy="411480"/>
          </a:xfrm>
          <a:prstGeom prst="rect">
            <a:avLst/>
          </a:prstGeom>
          <a:noFill/>
          <a:ln/>
        </p:spPr>
        <p:txBody>
          <a:bodyPr wrap="square" rtlCol="0"/>
          <a:lstStyle>
            <a:lvl1pPr indent="0" marL="0">
              <a:buNone/>
              <a:defRPr lang="en-US" sz="1800" b="1" dirty="0">
                <a:solidFill>
                  <a:schemeClr val="bg1"/>
                </a:solidFill>
              </a:defRPr>
            </a:lvl1pPr>
          </a:lstStyle>
          <a:p>
            <a:pPr indent="0" marL="0">
              <a:buNone/>
            </a:pPr>
            <a:endParaRPr lang="en-US" sz="1800" dirty="0"/>
          </a:p>
        </p:txBody>
      </p:sp>
      <p:sp>
        <p:nvSpPr>
          <p:cNvPr id="7" name="Text 1"/>
          <p:cNvSpPr/>
          <p:nvPr>
            <p:ph idx="105" type="body" hasCustomPrompt="1"/>
          </p:nvPr>
        </p:nvSpPr>
        <p:spPr>
          <a:xfrm>
            <a:off x="685800" y="5166360"/>
            <a:ext cx="8229600" cy="320040"/>
          </a:xfrm>
          <a:prstGeom prst="rect">
            <a:avLst/>
          </a:prstGeom>
          <a:noFill/>
          <a:ln/>
        </p:spPr>
        <p:txBody>
          <a:bodyPr wrap="square" rtlCol="0"/>
          <a:lstStyle>
            <a:lvl1pPr indent="0" marL="0">
              <a:buNone/>
              <a:defRPr lang="en-US" sz="1100" dirty="0">
                <a:solidFill>
                  <a:schemeClr val="accent5"/>
                </a:solidFill>
              </a:defRPr>
            </a:lvl1pPr>
          </a:lstStyle>
          <a:p>
            <a:pPr indent="0" marL="0">
              <a:buNone/>
            </a:pP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K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365760"/>
            <a:ext cx="9601200" cy="329184"/>
          </a:xfrm>
          <a:prstGeom prst="rect">
            <a:avLst/>
          </a:prstGeom>
          <a:noFill/>
          <a:ln/>
        </p:spPr>
        <p:txBody>
          <a:bodyPr wrap="square" rtlCol="0"/>
          <a:lstStyle>
            <a:lvl1pPr indent="0" marL="0">
              <a:buNone/>
              <a:defRPr lang="en-US" sz="1200" b="1" spc="24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749808"/>
            <a:ext cx="10820095"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685800" y="1481328"/>
            <a:ext cx="10820095" cy="365760"/>
          </a:xfrm>
          <a:prstGeom prst="rect">
            <a:avLst/>
          </a:prstGeom>
          <a:noFill/>
          <a:ln/>
        </p:spPr>
        <p:txBody>
          <a:bodyPr wrap="square" rtlCol="0"/>
          <a:lstStyle>
            <a:lvl1pPr indent="0" marL="0">
              <a:buNone/>
              <a:defRPr lang="en-US" sz="1350" dirty="0">
                <a:solidFill>
                  <a:schemeClr val="accent2"/>
                </a:solidFill>
              </a:defRPr>
            </a:lvl1pPr>
          </a:lstStyle>
          <a:p>
            <a:pPr indent="0" marL="0">
              <a:buNone/>
            </a:pPr>
            <a:endParaRPr lang="en-US" sz="1350" dirty="0"/>
          </a:p>
        </p:txBody>
      </p:sp>
      <p:sp>
        <p:nvSpPr>
          <p:cNvPr id="5" name="Text 0"/>
          <p:cNvSpPr/>
          <p:nvPr/>
        </p:nvSpPr>
        <p:spPr>
          <a:xfrm>
            <a:off x="685800" y="6446520"/>
            <a:ext cx="5486400" cy="256032"/>
          </a:xfrm>
          <a:prstGeom prst="rect">
            <a:avLst/>
          </a:prstGeom>
          <a:noFill/>
          <a:ln/>
        </p:spPr>
        <p:txBody>
          <a:bodyPr wrap="square" lIns="0" tIns="0" rIns="0" bIns="0" rtlCol="0" anchor="ctr"/>
          <a:lstStyle/>
          <a:p>
            <a:pPr indent="0" marL="0">
              <a:buNone/>
            </a:pPr>
            <a:r>
              <a:rPr lang="en-US" sz="900" dirty="0">
                <a:solidFill>
                  <a:schemeClr val="accent5"/>
                </a:solidFill>
              </a:rPr>
              <a:t>Confidential</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K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1097280"/>
            <a:ext cx="9144000" cy="347472"/>
          </a:xfrm>
          <a:prstGeom prst="rect">
            <a:avLst/>
          </a:prstGeom>
          <a:noFill/>
          <a:ln/>
        </p:spPr>
        <p:txBody>
          <a:bodyPr wrap="square" rtlCol="0"/>
          <a:lstStyle>
            <a:lvl1pPr indent="0" marL="0">
              <a:buNone/>
              <a:defRPr lang="en-US" sz="1200" b="1" spc="4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554480"/>
            <a:ext cx="896112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Shape 0"/>
          <p:cNvSpPr/>
          <p:nvPr/>
        </p:nvSpPr>
        <p:spPr>
          <a:xfrm>
            <a:off x="685800" y="3337560"/>
            <a:ext cx="1828800" cy="18288"/>
          </a:xfrm>
          <a:prstGeom prst="rect">
            <a:avLst/>
          </a:prstGeom>
          <a:solidFill>
            <a:schemeClr val="accent1"/>
          </a:solidFill>
          <a:ln w="12700">
            <a:solidFill>
              <a:schemeClr val="accent1"/>
            </a:solidFill>
            <a:prstDash val="solid"/>
          </a:ln>
        </p:spPr>
      </p:sp>
      <p:sp>
        <p:nvSpPr>
          <p:cNvPr id="5" name="Text 1"/>
          <p:cNvSpPr/>
          <p:nvPr>
            <p:ph idx="103" type="body" hasCustomPrompt="1"/>
          </p:nvPr>
        </p:nvSpPr>
        <p:spPr>
          <a:xfrm>
            <a:off x="685800" y="3566160"/>
            <a:ext cx="9601200" cy="19202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6" name="Text 1"/>
          <p:cNvSpPr/>
          <p:nvPr>
            <p:ph idx="104" type="body" hasCustomPrompt="1"/>
          </p:nvPr>
        </p:nvSpPr>
        <p:spPr>
          <a:xfrm>
            <a:off x="685800" y="5715000"/>
            <a:ext cx="9144000" cy="365760"/>
          </a:xfrm>
          <a:prstGeom prst="rect">
            <a:avLst/>
          </a:prstGeom>
          <a:noFill/>
          <a:ln/>
        </p:spPr>
        <p:txBody>
          <a:bodyPr wrap="square" rtlCol="0"/>
          <a:lstStyle>
            <a:lvl1pPr indent="0" marL="0">
              <a:buNone/>
              <a:defRPr lang="en-US" sz="1300" b="1" dirty="0">
                <a:solidFill>
                  <a:schemeClr val="bg1"/>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49047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14400" y="1371600"/>
            <a:ext cx="9144000" cy="347472"/>
          </a:xfrm>
          <a:prstGeom prst="rect">
            <a:avLst/>
          </a:prstGeom>
          <a:noFill/>
          <a:ln/>
        </p:spPr>
        <p:txBody>
          <a:bodyPr wrap="square" lIns="0" tIns="0" rIns="0" bIns="0" rtlCol="0"/>
          <a:lstStyle/>
          <a:p>
            <a:pPr indent="0" marL="0">
              <a:buNone/>
            </a:pPr>
            <a:r>
              <a:rPr lang="en-US" sz="1200" b="1" spc="100" kern="0" dirty="0">
                <a:solidFill>
                  <a:schemeClr val="accent4"/>
                </a:solidFill>
              </a:rPr>
              <a:t>BUSINESS OVERVIEW ／ 事業概要</a:t>
            </a:r>
            <a:endParaRPr lang="en-US" sz="1200" dirty="0"/>
          </a:p>
        </p:txBody>
      </p:sp>
      <p:sp>
        <p:nvSpPr>
          <p:cNvPr id="5" name="Text 0"/>
          <p:cNvSpPr/>
          <p:nvPr>
            <p:ph idx="101" type="title" hasCustomPrompt="1"/>
          </p:nvPr>
        </p:nvSpPr>
        <p:spPr>
          <a:xfrm>
            <a:off x="685800" y="1828800"/>
            <a:ext cx="8686800" cy="1737360"/>
          </a:xfrm>
          <a:prstGeom prst="rect">
            <a:avLst/>
          </a:prstGeom>
          <a:noFill/>
          <a:ln/>
        </p:spPr>
        <p:txBody>
          <a:bodyPr wrap="square" lIns="0" tIns="0" rIns="0" bIns="0" rtlCol="0" anchor="t"/>
          <a:lstStyle/>
          <a:p>
            <a:pPr algn="l" indent="0" marL="0">
              <a:buNone/>
            </a:pPr>
            <a:r>
              <a:rPr lang="en-US" sz="4000" b="1" dirty="0">
                <a:solidFill>
                  <a:schemeClr val="bg1"/>
                </a:solidFill>
              </a:rPr>
              <a:t>中小企業に、</a:t>
            </a:r>
            <a:endParaRPr lang="en-US" sz="4000" dirty="0"/>
          </a:p>
          <a:p>
            <a:pPr algn="l" indent="0" marL="0">
              <a:buNone/>
            </a:pPr>
            <a:r>
              <a:rPr lang="en-US" sz="4000" b="1" dirty="0">
                <a:solidFill>
                  <a:schemeClr val="bg1"/>
                </a:solidFill>
              </a:rPr>
              <a:t>AIの「M&amp;A部門」を。</a:t>
            </a:r>
            <a:endParaRPr lang="en-US" sz="4000" dirty="0"/>
          </a:p>
        </p:txBody>
      </p:sp>
      <p:sp>
        <p:nvSpPr>
          <p:cNvPr id="6" name="Text 0"/>
          <p:cNvSpPr/>
          <p:nvPr>
            <p:ph idx="102" type="body" hasCustomPrompt="1"/>
          </p:nvPr>
        </p:nvSpPr>
        <p:spPr>
          <a:xfrm>
            <a:off x="685800" y="3657600"/>
            <a:ext cx="8686800" cy="548640"/>
          </a:xfrm>
          <a:prstGeom prst="rect">
            <a:avLst/>
          </a:prstGeom>
          <a:noFill/>
          <a:ln/>
        </p:spPr>
        <p:txBody>
          <a:bodyPr wrap="square" lIns="0" tIns="0" rIns="0" bIns="0" rtlCol="0"/>
          <a:lstStyle/>
          <a:p>
            <a:pPr indent="0" marL="0">
              <a:buNone/>
            </a:pPr>
            <a:r>
              <a:rPr lang="en-US" sz="1500" dirty="0">
                <a:solidFill>
                  <a:schemeClr val="accent3"/>
                </a:solidFill>
              </a:rPr>
              <a:t>〜 49戦の手順×AIで、M&amp;Aで不幸になる人をなくす 〜</a:t>
            </a:r>
            <a:endParaRPr lang="en-US" sz="1500" dirty="0"/>
          </a:p>
        </p:txBody>
      </p:sp>
      <p:sp>
        <p:nvSpPr>
          <p:cNvPr id="7" name="Text 1"/>
          <p:cNvSpPr/>
          <p:nvPr>
            <p:ph idx="104" type="body" hasCustomPrompt="1"/>
          </p:nvPr>
        </p:nvSpPr>
        <p:spPr>
          <a:xfrm>
            <a:off x="685800" y="4754880"/>
            <a:ext cx="8229600" cy="411480"/>
          </a:xfrm>
          <a:prstGeom prst="rect">
            <a:avLst/>
          </a:prstGeom>
          <a:noFill/>
          <a:ln/>
        </p:spPr>
        <p:txBody>
          <a:bodyPr wrap="square" lIns="0" tIns="0" rIns="0" bIns="0" rtlCol="0"/>
          <a:lstStyle/>
          <a:p>
            <a:pPr indent="0" marL="0">
              <a:buNone/>
            </a:pPr>
            <a:r>
              <a:rPr lang="en-US" sz="1800" b="1" dirty="0">
                <a:solidFill>
                  <a:schemeClr val="bg1"/>
                </a:solidFill>
              </a:rPr>
              <a:t>中野 邦人</a:t>
            </a:r>
            <a:endParaRPr lang="en-US" sz="1800" dirty="0"/>
          </a:p>
        </p:txBody>
      </p:sp>
      <p:sp>
        <p:nvSpPr>
          <p:cNvPr id="8" name="Text 1"/>
          <p:cNvSpPr/>
          <p:nvPr>
            <p:ph idx="105" type="body" hasCustomPrompt="1"/>
          </p:nvPr>
        </p:nvSpPr>
        <p:spPr>
          <a:xfrm>
            <a:off x="685800" y="5166360"/>
            <a:ext cx="8229600" cy="320040"/>
          </a:xfrm>
          <a:prstGeom prst="rect">
            <a:avLst/>
          </a:prstGeom>
          <a:noFill/>
          <a:ln/>
        </p:spPr>
        <p:txBody>
          <a:bodyPr wrap="square" lIns="0" tIns="0" rIns="0" bIns="0" rtlCol="0"/>
          <a:lstStyle/>
          <a:p>
            <a:pPr indent="0" marL="0">
              <a:buNone/>
            </a:pPr>
            <a:r>
              <a:rPr lang="en-US" sz="1100" dirty="0">
                <a:solidFill>
                  <a:schemeClr val="accent5"/>
                </a:solidFill>
              </a:rPr>
              <a:t>株式会社WineBank 代表取締役 ／ 株式会社あどばる 代表取締役会長</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ONE PAGE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この事業を、ひと言でいうと</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M&amp;A担当がいない会社に入り込み、買収を成功させながら担当者を育てる</a:t>
            </a:r>
            <a:endParaRPr lang="en-US" sz="1350" dirty="0"/>
          </a:p>
        </p:txBody>
      </p:sp>
      <p:sp>
        <p:nvSpPr>
          <p:cNvPr id="6" name="one page 01"/>
          <p:cNvSpPr/>
          <p:nvPr/>
        </p:nvSpPr>
        <p:spPr>
          <a:xfrm>
            <a:off x="685800"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3154680"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01</a:t>
            </a:r>
            <a:endParaRPr lang="en-US" sz="2400" dirty="0"/>
          </a:p>
        </p:txBody>
      </p:sp>
      <p:sp>
        <p:nvSpPr>
          <p:cNvPr id="8" name="Shape 6"/>
          <p:cNvSpPr/>
          <p:nvPr/>
        </p:nvSpPr>
        <p:spPr>
          <a:xfrm>
            <a:off x="960120" y="2331720"/>
            <a:ext cx="1188720" cy="274320"/>
          </a:xfrm>
          <a:prstGeom prst="roundRect">
            <a:avLst>
              <a:gd name="adj" fmla="val 50000"/>
            </a:avLst>
          </a:prstGeom>
          <a:solidFill>
            <a:schemeClr val="accent1"/>
          </a:solidFill>
          <a:ln w="12700">
            <a:solidFill>
              <a:schemeClr val="accent1"/>
            </a:solidFill>
            <a:prstDash val="solid"/>
          </a:ln>
        </p:spPr>
      </p:sp>
      <p:sp>
        <p:nvSpPr>
          <p:cNvPr id="9" name="Text 7"/>
          <p:cNvSpPr txBox="1"/>
          <p:nvPr/>
        </p:nvSpPr>
        <p:spPr>
          <a:xfrm>
            <a:off x="960120"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誰に</a:t>
            </a:r>
            <a:endParaRPr lang="en-US" sz="950" dirty="0"/>
          </a:p>
        </p:txBody>
      </p:sp>
      <p:sp>
        <p:nvSpPr>
          <p:cNvPr id="10" name="Text 8"/>
          <p:cNvSpPr txBox="1"/>
          <p:nvPr/>
        </p:nvSpPr>
        <p:spPr>
          <a:xfrm>
            <a:off x="960120"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M&amp;Aで成長したいが、社内にM&amp;A担当がいない・育てたい年商10〜100億円の企業</a:t>
            </a:r>
            <a:endParaRPr lang="en-US" sz="1400" dirty="0"/>
          </a:p>
        </p:txBody>
      </p:sp>
      <p:sp>
        <p:nvSpPr>
          <p:cNvPr id="11" name="one page 02"/>
          <p:cNvSpPr/>
          <p:nvPr/>
        </p:nvSpPr>
        <p:spPr>
          <a:xfrm>
            <a:off x="4370832"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Text 10"/>
          <p:cNvSpPr txBox="1"/>
          <p:nvPr/>
        </p:nvSpPr>
        <p:spPr>
          <a:xfrm>
            <a:off x="6839712"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02</a:t>
            </a:r>
            <a:endParaRPr lang="en-US" sz="2400" dirty="0"/>
          </a:p>
        </p:txBody>
      </p:sp>
      <p:sp>
        <p:nvSpPr>
          <p:cNvPr id="13" name="Shape 11"/>
          <p:cNvSpPr/>
          <p:nvPr/>
        </p:nvSpPr>
        <p:spPr>
          <a:xfrm>
            <a:off x="4645152" y="2331720"/>
            <a:ext cx="118872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4645152"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何を</a:t>
            </a:r>
            <a:endParaRPr lang="en-US" sz="950" dirty="0"/>
          </a:p>
        </p:txBody>
      </p:sp>
      <p:sp>
        <p:nvSpPr>
          <p:cNvPr id="15" name="Text 13"/>
          <p:cNvSpPr txBox="1"/>
          <p:nvPr/>
        </p:nvSpPr>
        <p:spPr>
          <a:xfrm>
            <a:off x="4645152"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AIによる案件分析と、コンサルタントの伴走で「探す→見極める→買う→統合する」を月額で支援</a:t>
            </a:r>
            <a:endParaRPr lang="en-US" sz="1400" dirty="0"/>
          </a:p>
        </p:txBody>
      </p:sp>
      <p:sp>
        <p:nvSpPr>
          <p:cNvPr id="16" name="one page 03"/>
          <p:cNvSpPr/>
          <p:nvPr/>
        </p:nvSpPr>
        <p:spPr>
          <a:xfrm>
            <a:off x="8055864"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Text 15"/>
          <p:cNvSpPr txBox="1"/>
          <p:nvPr/>
        </p:nvSpPr>
        <p:spPr>
          <a:xfrm>
            <a:off x="10524744"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03</a:t>
            </a:r>
            <a:endParaRPr lang="en-US" sz="2400" dirty="0"/>
          </a:p>
        </p:txBody>
      </p:sp>
      <p:sp>
        <p:nvSpPr>
          <p:cNvPr id="18" name="Shape 16"/>
          <p:cNvSpPr/>
          <p:nvPr/>
        </p:nvSpPr>
        <p:spPr>
          <a:xfrm>
            <a:off x="8330184" y="2331720"/>
            <a:ext cx="1188720" cy="274320"/>
          </a:xfrm>
          <a:prstGeom prst="roundRect">
            <a:avLst>
              <a:gd name="adj" fmla="val 50000"/>
            </a:avLst>
          </a:prstGeom>
          <a:solidFill>
            <a:schemeClr val="accent1"/>
          </a:solidFill>
          <a:ln w="12700">
            <a:solidFill>
              <a:schemeClr val="accent1"/>
            </a:solidFill>
            <a:prstDash val="solid"/>
          </a:ln>
        </p:spPr>
      </p:sp>
      <p:sp>
        <p:nvSpPr>
          <p:cNvPr id="19" name="Text 17"/>
          <p:cNvSpPr txBox="1"/>
          <p:nvPr/>
        </p:nvSpPr>
        <p:spPr>
          <a:xfrm>
            <a:off x="8330184"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なぜ勝てる</a:t>
            </a:r>
            <a:endParaRPr lang="en-US" sz="950" dirty="0"/>
          </a:p>
        </p:txBody>
      </p:sp>
      <p:sp>
        <p:nvSpPr>
          <p:cNvPr id="20" name="Text 18"/>
          <p:cNvSpPr txBox="1"/>
          <p:nvPr/>
        </p:nvSpPr>
        <p:spPr>
          <a:xfrm>
            <a:off x="8330184"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49戦の勝ちと負けから作った判断ルールをAIに組み込み、買い手の側だけに立つ</a:t>
            </a:r>
            <a:endParaRPr lang="en-US" sz="1400" dirty="0"/>
          </a:p>
        </p:txBody>
      </p:sp>
      <p:sp>
        <p:nvSpPr>
          <p:cNvPr id="21" name="conclusion bar"/>
          <p:cNvSpPr/>
          <p:nvPr/>
        </p:nvSpPr>
        <p:spPr>
          <a:xfrm>
            <a:off x="685800" y="5074920"/>
            <a:ext cx="10820095" cy="868680"/>
          </a:xfrm>
          <a:prstGeom prst="roundRect">
            <a:avLst>
              <a:gd name="adj" fmla="val 4211"/>
            </a:avLst>
          </a:prstGeom>
          <a:solidFill>
            <a:schemeClr val="tx1"/>
          </a:solidFill>
          <a:ln w="12700">
            <a:solidFill>
              <a:schemeClr val="tx1"/>
            </a:solidFill>
            <a:prstDash val="solid"/>
          </a:ln>
        </p:spPr>
      </p:sp>
      <p:sp>
        <p:nvSpPr>
          <p:cNvPr id="22" name="Text 20"/>
          <p:cNvSpPr txBox="1"/>
          <p:nvPr/>
        </p:nvSpPr>
        <p:spPr>
          <a:xfrm>
            <a:off x="1005840" y="507492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月額50万円〜で「社内M&amp;A部門」を持てる。成約したときだけ成功報酬</a:t>
            </a:r>
            <a:endParaRPr lang="en-US" sz="1300" dirty="0"/>
          </a:p>
          <a:p>
            <a:pPr indent="0" marL="0">
              <a:buNone/>
            </a:pPr>
            <a:r>
              <a:rPr lang="en-US" sz="1100" dirty="0">
                <a:solidFill>
                  <a:schemeClr val="accent3"/>
                </a:solidFill>
              </a:rPr>
              <a:t>仲介の高額手数料でも、マッチングサイトの丸投げでもない第三の選択肢</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PROBLEM</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買い手の味方で、買った後まで責任を持つ人がいない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M&amp;Aの需要は増え続けているのに、中小企業の買い手は一人で戦っている</a:t>
            </a:r>
            <a:endParaRPr lang="en-US" sz="1350" dirty="0"/>
          </a:p>
        </p:txBody>
      </p:sp>
      <p:sp>
        <p:nvSpPr>
          <p:cNvPr id="6" name="stat 後継者のいない70歳以上の経営者（2025年時点）"/>
          <p:cNvSpPr/>
          <p:nvPr/>
        </p:nvSpPr>
        <p:spPr>
          <a:xfrm>
            <a:off x="685800"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33172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127万</a:t>
            </a:r>
            <a:endParaRPr lang="en-US" sz="4000" dirty="0"/>
          </a:p>
        </p:txBody>
      </p:sp>
      <p:sp>
        <p:nvSpPr>
          <p:cNvPr id="9" name="Text 7"/>
          <p:cNvSpPr txBox="1"/>
          <p:nvPr/>
        </p:nvSpPr>
        <p:spPr>
          <a:xfrm>
            <a:off x="923544"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人</a:t>
            </a:r>
            <a:endParaRPr lang="en-US" sz="1300" dirty="0"/>
          </a:p>
        </p:txBody>
      </p:sp>
      <p:sp>
        <p:nvSpPr>
          <p:cNvPr id="10" name="Text 8"/>
          <p:cNvSpPr txBox="1"/>
          <p:nvPr/>
        </p:nvSpPr>
        <p:spPr>
          <a:xfrm>
            <a:off x="923544"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後継者のいない70歳以上の経営者（2025年時点）</a:t>
            </a:r>
            <a:endParaRPr lang="en-US" sz="1050" dirty="0"/>
          </a:p>
        </p:txBody>
      </p:sp>
      <p:sp>
        <p:nvSpPr>
          <p:cNvPr id="11" name="stat 国内のM&amp;A件数（2024年）。後継者不在に比べ桁違いに少ない"/>
          <p:cNvSpPr/>
          <p:nvPr/>
        </p:nvSpPr>
        <p:spPr>
          <a:xfrm>
            <a:off x="4370832"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4626864" y="233172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4608576"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約4,700</a:t>
            </a:r>
            <a:endParaRPr lang="en-US" sz="4000" dirty="0"/>
          </a:p>
        </p:txBody>
      </p:sp>
      <p:sp>
        <p:nvSpPr>
          <p:cNvPr id="14" name="Text 12"/>
          <p:cNvSpPr txBox="1"/>
          <p:nvPr/>
        </p:nvSpPr>
        <p:spPr>
          <a:xfrm>
            <a:off x="4608576"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件／年</a:t>
            </a:r>
            <a:endParaRPr lang="en-US" sz="1300" dirty="0"/>
          </a:p>
        </p:txBody>
      </p:sp>
      <p:sp>
        <p:nvSpPr>
          <p:cNvPr id="15" name="Text 13"/>
          <p:cNvSpPr txBox="1"/>
          <p:nvPr/>
        </p:nvSpPr>
        <p:spPr>
          <a:xfrm>
            <a:off x="4608576"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国内のM&amp;A件数（2024年）。後継者不在に比べ桁違いに少ない</a:t>
            </a:r>
            <a:endParaRPr lang="en-US" sz="1050" dirty="0"/>
          </a:p>
        </p:txBody>
      </p:sp>
      <p:sp>
        <p:nvSpPr>
          <p:cNvPr id="16" name="stat 大手仲介の1件あたり平均手数料"/>
          <p:cNvSpPr/>
          <p:nvPr/>
        </p:nvSpPr>
        <p:spPr>
          <a:xfrm>
            <a:off x="8055864"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8311896" y="233172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8293608"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6,700万〜</a:t>
            </a:r>
            <a:endParaRPr lang="en-US" sz="4000" dirty="0"/>
          </a:p>
        </p:txBody>
      </p:sp>
      <p:sp>
        <p:nvSpPr>
          <p:cNvPr id="19" name="Text 17"/>
          <p:cNvSpPr txBox="1"/>
          <p:nvPr/>
        </p:nvSpPr>
        <p:spPr>
          <a:xfrm>
            <a:off x="8293608"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1.3億円</a:t>
            </a:r>
            <a:endParaRPr lang="en-US" sz="1300" dirty="0"/>
          </a:p>
        </p:txBody>
      </p:sp>
      <p:sp>
        <p:nvSpPr>
          <p:cNvPr id="20" name="Text 18"/>
          <p:cNvSpPr txBox="1"/>
          <p:nvPr/>
        </p:nvSpPr>
        <p:spPr>
          <a:xfrm>
            <a:off x="8293608"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大手仲介の1件あたり平均手数料</a:t>
            </a:r>
            <a:endParaRPr lang="en-US" sz="1050" dirty="0"/>
          </a:p>
        </p:txBody>
      </p:sp>
      <p:sp>
        <p:nvSpPr>
          <p:cNvPr id="21" name="pain 1"/>
          <p:cNvSpPr/>
          <p:nvPr/>
        </p:nvSpPr>
        <p:spPr>
          <a:xfrm>
            <a:off x="685800"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14400" y="4343400"/>
            <a:ext cx="384048" cy="384048"/>
          </a:xfrm>
          <a:prstGeom prst="ellipse">
            <a:avLst/>
          </a:prstGeom>
          <a:solidFill>
            <a:schemeClr val="tx1"/>
          </a:solidFill>
          <a:ln w="12700">
            <a:solidFill>
              <a:schemeClr val="tx1"/>
            </a:solidFill>
            <a:prstDash val="solid"/>
          </a:ln>
        </p:spPr>
      </p:sp>
      <p:sp>
        <p:nvSpPr>
          <p:cNvPr id="23" name="Text 21"/>
          <p:cNvSpPr txBox="1"/>
          <p:nvPr/>
        </p:nvSpPr>
        <p:spPr>
          <a:xfrm>
            <a:off x="914400"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4" name="Text 22"/>
          <p:cNvSpPr txBox="1"/>
          <p:nvPr/>
        </p:nvSpPr>
        <p:spPr>
          <a:xfrm>
            <a:off x="1417320"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担当者がいない</a:t>
            </a:r>
            <a:endParaRPr lang="en-US" sz="1500" dirty="0"/>
          </a:p>
        </p:txBody>
      </p:sp>
      <p:sp>
        <p:nvSpPr>
          <p:cNvPr id="25" name="Text 23"/>
          <p:cNvSpPr txBox="1"/>
          <p:nvPr/>
        </p:nvSpPr>
        <p:spPr>
          <a:xfrm>
            <a:off x="960120"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案件の良し悪しを判断できる人が社内にいない。仲介の言い値で買う</a:t>
            </a:r>
            <a:endParaRPr lang="en-US" sz="1150" dirty="0"/>
          </a:p>
        </p:txBody>
      </p:sp>
      <p:sp>
        <p:nvSpPr>
          <p:cNvPr id="26" name="pain 2"/>
          <p:cNvSpPr/>
          <p:nvPr/>
        </p:nvSpPr>
        <p:spPr>
          <a:xfrm>
            <a:off x="4370832"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5"/>
          <p:cNvSpPr/>
          <p:nvPr/>
        </p:nvSpPr>
        <p:spPr>
          <a:xfrm>
            <a:off x="4599432" y="4343400"/>
            <a:ext cx="384048" cy="384048"/>
          </a:xfrm>
          <a:prstGeom prst="ellipse">
            <a:avLst/>
          </a:prstGeom>
          <a:solidFill>
            <a:schemeClr val="tx1"/>
          </a:solidFill>
          <a:ln w="12700">
            <a:solidFill>
              <a:schemeClr val="tx1"/>
            </a:solidFill>
            <a:prstDash val="solid"/>
          </a:ln>
        </p:spPr>
      </p:sp>
      <p:sp>
        <p:nvSpPr>
          <p:cNvPr id="28" name="Text 26"/>
          <p:cNvSpPr txBox="1"/>
          <p:nvPr/>
        </p:nvSpPr>
        <p:spPr>
          <a:xfrm>
            <a:off x="4599432"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9" name="Text 27"/>
          <p:cNvSpPr txBox="1"/>
          <p:nvPr/>
        </p:nvSpPr>
        <p:spPr>
          <a:xfrm>
            <a:off x="5102352"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仲介は利益相反</a:t>
            </a:r>
            <a:endParaRPr lang="en-US" sz="1500" dirty="0"/>
          </a:p>
        </p:txBody>
      </p:sp>
      <p:sp>
        <p:nvSpPr>
          <p:cNvPr id="30" name="Text 28"/>
          <p:cNvSpPr txBox="1"/>
          <p:nvPr/>
        </p:nvSpPr>
        <p:spPr>
          <a:xfrm>
            <a:off x="4645152"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日本の中小M&amp;Aは約8割が両手仲介。買い手のためだけに動く人がいない</a:t>
            </a:r>
            <a:endParaRPr lang="en-US" sz="1150" dirty="0"/>
          </a:p>
        </p:txBody>
      </p:sp>
      <p:sp>
        <p:nvSpPr>
          <p:cNvPr id="31" name="pain 3"/>
          <p:cNvSpPr/>
          <p:nvPr/>
        </p:nvSpPr>
        <p:spPr>
          <a:xfrm>
            <a:off x="8055864"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2" name="Shape 30"/>
          <p:cNvSpPr/>
          <p:nvPr/>
        </p:nvSpPr>
        <p:spPr>
          <a:xfrm>
            <a:off x="8284464" y="4343400"/>
            <a:ext cx="384048" cy="384048"/>
          </a:xfrm>
          <a:prstGeom prst="ellipse">
            <a:avLst/>
          </a:prstGeom>
          <a:solidFill>
            <a:schemeClr val="tx1"/>
          </a:solidFill>
          <a:ln w="12700">
            <a:solidFill>
              <a:schemeClr val="tx1"/>
            </a:solidFill>
            <a:prstDash val="solid"/>
          </a:ln>
        </p:spPr>
      </p:sp>
      <p:sp>
        <p:nvSpPr>
          <p:cNvPr id="33" name="Text 31"/>
          <p:cNvSpPr txBox="1"/>
          <p:nvPr/>
        </p:nvSpPr>
        <p:spPr>
          <a:xfrm>
            <a:off x="8284464"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4" name="Text 32"/>
          <p:cNvSpPr txBox="1"/>
          <p:nvPr/>
        </p:nvSpPr>
        <p:spPr>
          <a:xfrm>
            <a:off x="8787384"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買った後に失敗</a:t>
            </a:r>
            <a:endParaRPr lang="en-US" sz="1500" dirty="0"/>
          </a:p>
        </p:txBody>
      </p:sp>
      <p:sp>
        <p:nvSpPr>
          <p:cNvPr id="35" name="Text 33"/>
          <p:cNvSpPr txBox="1"/>
          <p:nvPr/>
        </p:nvSpPr>
        <p:spPr>
          <a:xfrm>
            <a:off x="8330184"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仲介の仕事は成約まで。統合で人が辞め、数字が崩れても誰も止めない</a:t>
            </a:r>
            <a:endParaRPr lang="en-US" sz="1150" dirty="0"/>
          </a:p>
        </p:txBody>
      </p:sp>
      <p:sp>
        <p:nvSpPr>
          <p:cNvPr id="36" name="Text 3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出典：経済産業省（2018年4月発表データ）、レコフ「MARR Online」、経済産業省 M&amp;A支援機関登録制度 実績報告（2023年）、各社有価証券報告書</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WHY WE DO THIS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M&amp;Aで不幸になる人を、これ以上増やさない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49戦して分かったのは、M&amp;Aは才能ではなく手順で勝てるということ</a:t>
            </a:r>
            <a:endParaRPr lang="en-US" sz="1350" dirty="0"/>
          </a:p>
        </p:txBody>
      </p:sp>
      <p:sp>
        <p:nvSpPr>
          <p:cNvPr id="6" name="Shape 4"/>
          <p:cNvSpPr/>
          <p:nvPr/>
        </p:nvSpPr>
        <p:spPr>
          <a:xfrm>
            <a:off x="685800" y="2377440"/>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685800" y="23774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story 1"/>
          <p:cNvSpPr/>
          <p:nvPr/>
        </p:nvSpPr>
        <p:spPr>
          <a:xfrm>
            <a:off x="1463040" y="210312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691640" y="221284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原体験</a:t>
            </a:r>
            <a:endParaRPr lang="en-US" sz="1400" dirty="0"/>
          </a:p>
        </p:txBody>
      </p:sp>
      <p:sp>
        <p:nvSpPr>
          <p:cNvPr id="10" name="Text 8"/>
          <p:cNvSpPr txBox="1"/>
          <p:nvPr/>
        </p:nvSpPr>
        <p:spPr>
          <a:xfrm>
            <a:off x="1691640" y="2532888"/>
            <a:ext cx="5394960" cy="685800"/>
          </a:xfrm>
          <a:prstGeom prst="rect">
            <a:avLst/>
          </a:prstGeom>
          <a:noFill/>
          <a:ln/>
        </p:spPr>
        <p:txBody>
          <a:bodyPr wrap="square" lIns="0" tIns="0" rIns="0" bIns="0" rtlCol="0" anchor="t"/>
          <a:lstStyle/>
          <a:p>
            <a:pPr indent="0" marL="0">
              <a:buNone/>
            </a:pPr>
            <a:r>
              <a:rPr lang="en-US" sz="1200" dirty="0">
                <a:solidFill>
                  <a:schemeClr val="tx1"/>
                </a:solidFill>
              </a:rPr>
              <a:t>自分も負けた。多店舗飲食（11店舗）で−1.40億円、ポータル事業で−1.70億円。幸福度の谷は、いつもM&amp;Aの負けと同じ年にあった</a:t>
            </a:r>
            <a:endParaRPr lang="en-US" sz="1200" dirty="0"/>
          </a:p>
        </p:txBody>
      </p:sp>
      <p:sp>
        <p:nvSpPr>
          <p:cNvPr id="11" name="Shape 9"/>
          <p:cNvSpPr/>
          <p:nvPr/>
        </p:nvSpPr>
        <p:spPr>
          <a:xfrm>
            <a:off x="685800" y="370332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685800" y="3703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ory 2"/>
          <p:cNvSpPr/>
          <p:nvPr/>
        </p:nvSpPr>
        <p:spPr>
          <a:xfrm>
            <a:off x="1463040" y="342900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1691640" y="35387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気づき</a:t>
            </a:r>
            <a:endParaRPr lang="en-US" sz="1400" dirty="0"/>
          </a:p>
        </p:txBody>
      </p:sp>
      <p:sp>
        <p:nvSpPr>
          <p:cNvPr id="15" name="Text 13"/>
          <p:cNvSpPr txBox="1"/>
          <p:nvPr/>
        </p:nvSpPr>
        <p:spPr>
          <a:xfrm>
            <a:off x="1691640" y="3858768"/>
            <a:ext cx="5394960" cy="685800"/>
          </a:xfrm>
          <a:prstGeom prst="rect">
            <a:avLst/>
          </a:prstGeom>
          <a:noFill/>
          <a:ln/>
        </p:spPr>
        <p:txBody>
          <a:bodyPr wrap="square" lIns="0" tIns="0" rIns="0" bIns="0" rtlCol="0" anchor="t"/>
          <a:lstStyle/>
          <a:p>
            <a:pPr indent="0" marL="0">
              <a:buNone/>
            </a:pPr>
            <a:r>
              <a:rPr lang="en-US" sz="1200" dirty="0">
                <a:solidFill>
                  <a:schemeClr val="tx1"/>
                </a:solidFill>
              </a:rPr>
              <a:t>負けた理由は才能ではなく、手順を飛ばしたこと。値づけ・PMI責任者・売る時期を、買う前に決めていなかった</a:t>
            </a:r>
            <a:endParaRPr lang="en-US" sz="1200" dirty="0"/>
          </a:p>
        </p:txBody>
      </p:sp>
      <p:sp>
        <p:nvSpPr>
          <p:cNvPr id="16" name="Shape 14"/>
          <p:cNvSpPr/>
          <p:nvPr/>
        </p:nvSpPr>
        <p:spPr>
          <a:xfrm>
            <a:off x="685800" y="502920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685800" y="502920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story 3"/>
          <p:cNvSpPr/>
          <p:nvPr/>
        </p:nvSpPr>
        <p:spPr>
          <a:xfrm>
            <a:off x="1463040" y="475488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1691640" y="486460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決意</a:t>
            </a:r>
            <a:endParaRPr lang="en-US" sz="1400" dirty="0"/>
          </a:p>
        </p:txBody>
      </p:sp>
      <p:sp>
        <p:nvSpPr>
          <p:cNvPr id="20" name="Text 18"/>
          <p:cNvSpPr txBox="1"/>
          <p:nvPr/>
        </p:nvSpPr>
        <p:spPr>
          <a:xfrm>
            <a:off x="1691640" y="5184648"/>
            <a:ext cx="5394960" cy="685800"/>
          </a:xfrm>
          <a:prstGeom prst="rect">
            <a:avLst/>
          </a:prstGeom>
          <a:noFill/>
          <a:ln/>
        </p:spPr>
        <p:txBody>
          <a:bodyPr wrap="square" lIns="0" tIns="0" rIns="0" bIns="0" rtlCol="0" anchor="t"/>
          <a:lstStyle/>
          <a:p>
            <a:pPr indent="0" marL="0">
              <a:buNone/>
            </a:pPr>
            <a:r>
              <a:rPr lang="en-US" sz="1200" dirty="0">
                <a:solidFill>
                  <a:schemeClr val="tx1"/>
                </a:solidFill>
              </a:rPr>
              <a:t>やり方さえ知っていれば、M&amp;Aは成功できる。その手順を、買い手の側に立って渡す</a:t>
            </a:r>
            <a:endParaRPr lang="en-US" sz="1200" dirty="0"/>
          </a:p>
        </p:txBody>
      </p:sp>
      <p:sp>
        <p:nvSpPr>
          <p:cNvPr id="21" name="founder quote"/>
          <p:cNvSpPr/>
          <p:nvPr/>
        </p:nvSpPr>
        <p:spPr>
          <a:xfrm>
            <a:off x="7589520" y="2103120"/>
            <a:ext cx="3913632" cy="3813048"/>
          </a:xfrm>
          <a:prstGeom prst="roundRect">
            <a:avLst>
              <a:gd name="adj" fmla="val 1439"/>
            </a:avLst>
          </a:prstGeom>
          <a:solidFill>
            <a:schemeClr val="tx1"/>
          </a:solidFill>
          <a:ln w="12700">
            <a:solidFill>
              <a:schemeClr val="tx1"/>
            </a:solidFill>
            <a:prstDash val="solid"/>
          </a:ln>
        </p:spPr>
      </p:sp>
      <p:sp>
        <p:nvSpPr>
          <p:cNvPr id="22" name="Text 20"/>
          <p:cNvSpPr txBox="1"/>
          <p:nvPr/>
        </p:nvSpPr>
        <p:spPr>
          <a:xfrm>
            <a:off x="7909560" y="2194560"/>
            <a:ext cx="3291840" cy="3611880"/>
          </a:xfrm>
          <a:prstGeom prst="rect">
            <a:avLst/>
          </a:prstGeom>
          <a:noFill/>
          <a:ln/>
        </p:spPr>
        <p:txBody>
          <a:bodyPr wrap="square" lIns="0" tIns="0" rIns="0" bIns="0" rtlCol="0" anchor="t"/>
          <a:lstStyle/>
          <a:p>
            <a:pPr indent="0" marL="0">
              <a:buNone/>
            </a:pPr>
            <a:r>
              <a:rPr lang="en-US" sz="4000" b="1" dirty="0">
                <a:solidFill>
                  <a:schemeClr val="accent1"/>
                </a:solidFill>
              </a:rPr>
              <a:t>“</a:t>
            </a:r>
            <a:endParaRPr lang="en-US" sz="1300" dirty="0"/>
          </a:p>
          <a:p>
            <a:pPr indent="0" marL="0">
              <a:buNone/>
            </a:pPr>
            <a:r>
              <a:rPr lang="en-US" sz="1800" b="1" dirty="0">
                <a:solidFill>
                  <a:schemeClr val="bg1"/>
                </a:solidFill>
              </a:rPr>
              <a:t>失敗して不幸になる人を、増やしたくない。成功してほしい。</a:t>
            </a:r>
            <a:endParaRPr lang="en-US" sz="1300" dirty="0"/>
          </a:p>
          <a:p>
            <a:pPr indent="0" marL="0">
              <a:buNone/>
            </a:pPr>
            <a:r>
              <a:rPr lang="en-US" sz="800" dirty="0">
                <a:solidFill>
                  <a:schemeClr val="tx1"/>
                </a:solidFill>
              </a:rPr>
              <a:t> </a:t>
            </a:r>
            <a:endParaRPr lang="en-US" sz="1300" dirty="0"/>
          </a:p>
          <a:p>
            <a:pPr indent="0" marL="0">
              <a:buNone/>
            </a:pPr>
            <a:r>
              <a:rPr lang="en-US" sz="1300" dirty="0">
                <a:solidFill>
                  <a:schemeClr val="accent3"/>
                </a:solidFill>
              </a:rPr>
              <a:t>自分の49戦の勝ちと負けから、その手順を全部渡します。</a:t>
            </a:r>
            <a:endParaRPr lang="en-US" sz="1300" dirty="0"/>
          </a:p>
          <a:p>
            <a:pPr indent="0" marL="0">
              <a:buNone/>
            </a:pPr>
            <a:r>
              <a:rPr lang="en-US" sz="1000" dirty="0">
                <a:solidFill>
                  <a:schemeClr val="tx1"/>
                </a:solidFill>
              </a:rPr>
              <a:t> </a:t>
            </a:r>
            <a:endParaRPr lang="en-US" sz="1300" dirty="0"/>
          </a:p>
          <a:p>
            <a:pPr indent="0" marL="0">
              <a:buNone/>
            </a:pPr>
            <a:r>
              <a:rPr lang="en-US" sz="1400" b="1" dirty="0">
                <a:solidFill>
                  <a:schemeClr val="accent4"/>
                </a:solidFill>
              </a:rPr>
              <a:t>中野 邦人</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TRACK RECORD</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49戦の実績：安く買い、利益と資産で回収する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買収額を「いくらの利益と資産が手に入ったか」で測る。2011年3月〜現在、すべて自社の実案件</a:t>
            </a:r>
            <a:endParaRPr lang="en-US" sz="1350" dirty="0"/>
          </a:p>
        </p:txBody>
      </p:sp>
      <p:sp>
        <p:nvSpPr>
          <p:cNvPr id="6" name="stat 買収28／売却21／出資2。発掘はほぼ自分"/>
          <p:cNvSpPr/>
          <p:nvPr/>
        </p:nvSpPr>
        <p:spPr>
          <a:xfrm>
            <a:off x="685800"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28600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約50</a:t>
            </a:r>
            <a:endParaRPr lang="en-US" sz="3600" dirty="0"/>
          </a:p>
        </p:txBody>
      </p:sp>
      <p:sp>
        <p:nvSpPr>
          <p:cNvPr id="9" name="Text 7"/>
          <p:cNvSpPr txBox="1"/>
          <p:nvPr/>
        </p:nvSpPr>
        <p:spPr>
          <a:xfrm>
            <a:off x="923544"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案件</a:t>
            </a:r>
            <a:endParaRPr lang="en-US" sz="1300" dirty="0"/>
          </a:p>
        </p:txBody>
      </p:sp>
      <p:sp>
        <p:nvSpPr>
          <p:cNvPr id="10" name="Text 8"/>
          <p:cNvSpPr txBox="1"/>
          <p:nvPr/>
        </p:nvSpPr>
        <p:spPr>
          <a:xfrm>
            <a:off x="923544"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買収28／売却21／出資2。発掘はほぼ自分</a:t>
            </a:r>
            <a:endParaRPr lang="en-US" sz="1050" dirty="0"/>
          </a:p>
        </p:txBody>
      </p:sp>
      <p:sp>
        <p:nvSpPr>
          <p:cNvPr id="11" name="stat 第1期の回収倍率。投じた10.8億円が14.9億円で戻った"/>
          <p:cNvSpPr/>
          <p:nvPr/>
        </p:nvSpPr>
        <p:spPr>
          <a:xfrm>
            <a:off x="3456432"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3712464" y="228600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3694176"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1.4</a:t>
            </a:r>
            <a:endParaRPr lang="en-US" sz="3600" dirty="0"/>
          </a:p>
        </p:txBody>
      </p:sp>
      <p:sp>
        <p:nvSpPr>
          <p:cNvPr id="14" name="Text 12"/>
          <p:cNvSpPr txBox="1"/>
          <p:nvPr/>
        </p:nvSpPr>
        <p:spPr>
          <a:xfrm>
            <a:off x="3694176"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倍</a:t>
            </a:r>
            <a:endParaRPr lang="en-US" sz="1300" dirty="0"/>
          </a:p>
        </p:txBody>
      </p:sp>
      <p:sp>
        <p:nvSpPr>
          <p:cNvPr id="15" name="Text 13"/>
          <p:cNvSpPr txBox="1"/>
          <p:nvPr/>
        </p:nvSpPr>
        <p:spPr>
          <a:xfrm>
            <a:off x="3694176"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第1期の回収倍率。投じた10.8億円が14.9億円で戻った</a:t>
            </a:r>
            <a:endParaRPr lang="en-US" sz="1050" dirty="0"/>
          </a:p>
        </p:txBody>
      </p:sp>
      <p:sp>
        <p:nvSpPr>
          <p:cNvPr id="16" name="stat 第2期の買収先の営業利益（ランレート、2026年予想）"/>
          <p:cNvSpPr/>
          <p:nvPr/>
        </p:nvSpPr>
        <p:spPr>
          <a:xfrm>
            <a:off x="6227064"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6483096" y="228600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6464808"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2.4</a:t>
            </a:r>
            <a:endParaRPr lang="en-US" sz="3600" dirty="0"/>
          </a:p>
        </p:txBody>
      </p:sp>
      <p:sp>
        <p:nvSpPr>
          <p:cNvPr id="19" name="Text 17"/>
          <p:cNvSpPr txBox="1"/>
          <p:nvPr/>
        </p:nvSpPr>
        <p:spPr>
          <a:xfrm>
            <a:off x="6464808"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億円／年</a:t>
            </a:r>
            <a:endParaRPr lang="en-US" sz="1300" dirty="0"/>
          </a:p>
        </p:txBody>
      </p:sp>
      <p:sp>
        <p:nvSpPr>
          <p:cNvPr id="20" name="Text 18"/>
          <p:cNvSpPr txBox="1"/>
          <p:nvPr/>
        </p:nvSpPr>
        <p:spPr>
          <a:xfrm>
            <a:off x="6464808"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第2期の買収先の営業利益（ランレート、2026年予想）</a:t>
            </a:r>
            <a:endParaRPr lang="en-US" sz="1050" dirty="0"/>
          </a:p>
        </p:txBody>
      </p:sp>
      <p:sp>
        <p:nvSpPr>
          <p:cNvPr id="21" name="stat 第2期の回収年数（買収額14.4億円÷年間営業利益）"/>
          <p:cNvSpPr/>
          <p:nvPr/>
        </p:nvSpPr>
        <p:spPr>
          <a:xfrm>
            <a:off x="8997696"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253728" y="2286000"/>
            <a:ext cx="365760" cy="45720"/>
          </a:xfrm>
          <a:prstGeom prst="rect">
            <a:avLst/>
          </a:prstGeom>
          <a:solidFill>
            <a:schemeClr val="accent1"/>
          </a:solidFill>
          <a:ln w="12700">
            <a:solidFill>
              <a:schemeClr val="accent1"/>
            </a:solidFill>
            <a:prstDash val="solid"/>
          </a:ln>
        </p:spPr>
      </p:sp>
      <p:sp>
        <p:nvSpPr>
          <p:cNvPr id="23" name="Text 21"/>
          <p:cNvSpPr txBox="1"/>
          <p:nvPr/>
        </p:nvSpPr>
        <p:spPr>
          <a:xfrm>
            <a:off x="9235440"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約6</a:t>
            </a:r>
            <a:endParaRPr lang="en-US" sz="3600" dirty="0"/>
          </a:p>
        </p:txBody>
      </p:sp>
      <p:sp>
        <p:nvSpPr>
          <p:cNvPr id="24" name="Text 22"/>
          <p:cNvSpPr txBox="1"/>
          <p:nvPr/>
        </p:nvSpPr>
        <p:spPr>
          <a:xfrm>
            <a:off x="9235440"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年</a:t>
            </a:r>
            <a:endParaRPr lang="en-US" sz="1300" dirty="0"/>
          </a:p>
        </p:txBody>
      </p:sp>
      <p:sp>
        <p:nvSpPr>
          <p:cNvPr id="25" name="Text 23"/>
          <p:cNvSpPr txBox="1"/>
          <p:nvPr/>
        </p:nvSpPr>
        <p:spPr>
          <a:xfrm>
            <a:off x="9235440"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第2期の回収年数（買収額14.4億円÷年間営業利益）</a:t>
            </a:r>
            <a:endParaRPr lang="en-US" sz="1050" dirty="0"/>
          </a:p>
        </p:txBody>
      </p:sp>
      <p:graphicFrame>
        <p:nvGraphicFramePr>
          <p:cNvPr id="26" name="invest vs return chart" descr=""/>
          <p:cNvGraphicFramePr/>
          <p:nvPr/>
        </p:nvGraphicFramePr>
        <p:xfrm>
          <a:off x="685800" y="4023360"/>
          <a:ext cx="6400800" cy="2011680"/>
        </p:xfrm>
        <a:graphic xmlns:a="http://schemas.openxmlformats.org/drawingml/2006/main">
          <a:graphicData uri="http://schemas.openxmlformats.org/drawingml/2006/chart">
            <c:chart xmlns:c="http://schemas.openxmlformats.org/drawingml/2006/chart" r:id="rId1"/>
          </a:graphicData>
        </a:graphic>
      </p:graphicFrame>
      <p:sp>
        <p:nvSpPr>
          <p:cNvPr id="27" name="phase1 note"/>
          <p:cNvSpPr/>
          <p:nvPr/>
        </p:nvSpPr>
        <p:spPr>
          <a:xfrm>
            <a:off x="7315200" y="4041648"/>
            <a:ext cx="4187952" cy="932688"/>
          </a:xfrm>
          <a:prstGeom prst="roundRect">
            <a:avLst>
              <a:gd name="adj" fmla="val 5882"/>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5"/>
          <p:cNvSpPr txBox="1"/>
          <p:nvPr/>
        </p:nvSpPr>
        <p:spPr>
          <a:xfrm>
            <a:off x="7498080" y="4041648"/>
            <a:ext cx="3840480" cy="932688"/>
          </a:xfrm>
          <a:prstGeom prst="rect">
            <a:avLst/>
          </a:prstGeom>
          <a:noFill/>
          <a:ln/>
        </p:spPr>
        <p:txBody>
          <a:bodyPr wrap="square" lIns="0" tIns="0" rIns="0" bIns="0" rtlCol="0" anchor="ctr"/>
          <a:lstStyle/>
          <a:p>
            <a:pPr indent="0" marL="0">
              <a:buNone/>
            </a:pPr>
            <a:r>
              <a:rPr lang="en-US" sz="1200" b="1" dirty="0">
                <a:solidFill>
                  <a:schemeClr val="accent2"/>
                </a:solidFill>
              </a:rPr>
              <a:t>第1期 2011–19：数で獲りにいった</a:t>
            </a:r>
            <a:endParaRPr lang="en-US" sz="1200" dirty="0"/>
          </a:p>
          <a:p>
            <a:pPr indent="0" marL="0">
              <a:buNone/>
            </a:pPr>
            <a:r>
              <a:rPr lang="en-US" sz="1050" dirty="0">
                <a:solidFill>
                  <a:schemeClr val="tx1"/>
                </a:solidFill>
              </a:rPr>
              <a:t>売上の0.25倍で買い、保有中の営業利益7.6億＋売却5.3億＋純資産2.0億で回収</a:t>
            </a:r>
            <a:endParaRPr lang="en-US" sz="1200" dirty="0"/>
          </a:p>
        </p:txBody>
      </p:sp>
      <p:sp>
        <p:nvSpPr>
          <p:cNvPr id="29" name="phase2 note"/>
          <p:cNvSpPr/>
          <p:nvPr/>
        </p:nvSpPr>
        <p:spPr>
          <a:xfrm>
            <a:off x="7315200" y="5084064"/>
            <a:ext cx="4187952" cy="932688"/>
          </a:xfrm>
          <a:prstGeom prst="roundRect">
            <a:avLst>
              <a:gd name="adj" fmla="val 588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0" name="Text 27"/>
          <p:cNvSpPr txBox="1"/>
          <p:nvPr/>
        </p:nvSpPr>
        <p:spPr>
          <a:xfrm>
            <a:off x="7498080" y="5084064"/>
            <a:ext cx="3840480" cy="932688"/>
          </a:xfrm>
          <a:prstGeom prst="rect">
            <a:avLst/>
          </a:prstGeom>
          <a:noFill/>
          <a:ln/>
        </p:spPr>
        <p:txBody>
          <a:bodyPr wrap="square" lIns="0" tIns="0" rIns="0" bIns="0" rtlCol="0" anchor="ctr"/>
          <a:lstStyle/>
          <a:p>
            <a:pPr indent="0" marL="0">
              <a:buNone/>
            </a:pPr>
            <a:r>
              <a:rPr lang="en-US" sz="1200" b="1" dirty="0">
                <a:solidFill>
                  <a:schemeClr val="accent1"/>
                </a:solidFill>
              </a:rPr>
              <a:t>第2期 2020–：純資産より安く買う</a:t>
            </a:r>
            <a:endParaRPr lang="en-US" sz="1200" dirty="0"/>
          </a:p>
          <a:p>
            <a:pPr indent="0" marL="0">
              <a:buNone/>
            </a:pPr>
            <a:r>
              <a:rPr lang="en-US" sz="1050" dirty="0">
                <a:solidFill>
                  <a:schemeClr val="tx1"/>
                </a:solidFill>
              </a:rPr>
              <a:t>純資産の9割の価格で取得し、毎年2.4億円の営業利益が上乗せされていく</a:t>
            </a:r>
            <a:endParaRPr lang="en-US" sz="1200" dirty="0"/>
          </a:p>
        </p:txBody>
      </p:sp>
      <p:sp>
        <p:nvSpPr>
          <p:cNvPr id="31" name="Text 28"/>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単位：億円。第1期の営業利益は保有期間中の累計。第2期のランレートはM&amp;Aで取得したグループ会社の2026年予想営業利益。出典：中野邦人 M&amp;A勝敗一覧表、グループ売上管理表</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PLAYBOOK</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49戦で残った5原則を、そのままサービスの判断基準に</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他社が真似できないのは、AIではなく「負けから作ったルール」</a:t>
            </a:r>
            <a:endParaRPr lang="en-US" sz="1350" dirty="0"/>
          </a:p>
        </p:txBody>
      </p:sp>
      <p:sp>
        <p:nvSpPr>
          <p:cNvPr id="6" name="Text 4"/>
          <p:cNvSpPr txBox="1"/>
          <p:nvPr/>
        </p:nvSpPr>
        <p:spPr>
          <a:xfrm>
            <a:off x="1371600" y="1965960"/>
            <a:ext cx="5486400" cy="274320"/>
          </a:xfrm>
          <a:prstGeom prst="rect">
            <a:avLst/>
          </a:prstGeom>
          <a:noFill/>
          <a:ln/>
        </p:spPr>
        <p:txBody>
          <a:bodyPr wrap="square" lIns="0" tIns="0" rIns="0" bIns="0" rtlCol="0" anchor="t"/>
          <a:lstStyle/>
          <a:p>
            <a:pPr indent="0" marL="0">
              <a:buNone/>
            </a:pPr>
            <a:r>
              <a:rPr lang="en-US" sz="1000" b="1" dirty="0">
                <a:solidFill>
                  <a:schemeClr val="accent2"/>
                </a:solidFill>
              </a:rPr>
              <a:t>原則 と 49戦での実例</a:t>
            </a:r>
            <a:endParaRPr lang="en-US" sz="1000" dirty="0"/>
          </a:p>
        </p:txBody>
      </p:sp>
      <p:sp>
        <p:nvSpPr>
          <p:cNvPr id="7" name="Text 5"/>
          <p:cNvSpPr txBox="1"/>
          <p:nvPr/>
        </p:nvSpPr>
        <p:spPr>
          <a:xfrm>
            <a:off x="7452360" y="1965960"/>
            <a:ext cx="4023360" cy="274320"/>
          </a:xfrm>
          <a:prstGeom prst="rect">
            <a:avLst/>
          </a:prstGeom>
          <a:noFill/>
          <a:ln/>
        </p:spPr>
        <p:txBody>
          <a:bodyPr wrap="square" lIns="0" tIns="0" rIns="0" bIns="0" rtlCol="0" anchor="t"/>
          <a:lstStyle/>
          <a:p>
            <a:pPr indent="0" marL="0">
              <a:buNone/>
            </a:pPr>
            <a:r>
              <a:rPr lang="en-US" sz="1000" b="1" dirty="0">
                <a:solidFill>
                  <a:schemeClr val="accent1"/>
                </a:solidFill>
              </a:rPr>
              <a:t>サービスでの実装</a:t>
            </a:r>
            <a:endParaRPr lang="en-US" sz="1000" dirty="0"/>
          </a:p>
        </p:txBody>
      </p:sp>
      <p:sp>
        <p:nvSpPr>
          <p:cNvPr id="8" name="Shape 6"/>
          <p:cNvSpPr/>
          <p:nvPr/>
        </p:nvSpPr>
        <p:spPr>
          <a:xfrm>
            <a:off x="685800" y="2404872"/>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85800" y="2404872"/>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01</a:t>
            </a:r>
            <a:endParaRPr lang="en-US" sz="1200" dirty="0"/>
          </a:p>
        </p:txBody>
      </p:sp>
      <p:sp>
        <p:nvSpPr>
          <p:cNvPr id="10" name="rule 1"/>
          <p:cNvSpPr/>
          <p:nvPr/>
        </p:nvSpPr>
        <p:spPr>
          <a:xfrm>
            <a:off x="1325880" y="2286000"/>
            <a:ext cx="5806440" cy="658368"/>
          </a:xfrm>
          <a:prstGeom prst="roundRect">
            <a:avLst>
              <a:gd name="adj" fmla="val 8333"/>
            </a:avLst>
          </a:prstGeom>
          <a:solidFill>
            <a:srgbClr val="FFFFFF"/>
          </a:solidFill>
          <a:ln w="9525">
            <a:solidFill>
              <a:schemeClr val="accent3"/>
            </a:solidFill>
            <a:prstDash val="solid"/>
          </a:ln>
        </p:spPr>
      </p:sp>
      <p:sp>
        <p:nvSpPr>
          <p:cNvPr id="11" name="Text 9"/>
          <p:cNvSpPr txBox="1"/>
          <p:nvPr/>
        </p:nvSpPr>
        <p:spPr>
          <a:xfrm>
            <a:off x="1508760" y="2286000"/>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純資産を下回る価格でしか買わない</a:t>
            </a:r>
            <a:endParaRPr lang="en-US" sz="1300" dirty="0"/>
          </a:p>
          <a:p>
            <a:pPr indent="0" marL="0">
              <a:buNone/>
            </a:pPr>
            <a:r>
              <a:rPr lang="en-US" sz="1050" dirty="0">
                <a:solidFill>
                  <a:schemeClr val="accent2"/>
                </a:solidFill>
              </a:rPr>
              <a:t>飲食A社：8.2億円で純資産13.0億円を取得</a:t>
            </a:r>
            <a:endParaRPr lang="en-US" sz="1300" dirty="0"/>
          </a:p>
        </p:txBody>
      </p:sp>
      <p:sp>
        <p:nvSpPr>
          <p:cNvPr id="12" name="arrow 1"/>
          <p:cNvSpPr/>
          <p:nvPr/>
        </p:nvSpPr>
        <p:spPr>
          <a:xfrm>
            <a:off x="7013448" y="2468880"/>
            <a:ext cx="237744" cy="292608"/>
          </a:xfrm>
          <a:prstGeom prst="chevron">
            <a:avLst/>
          </a:prstGeom>
          <a:solidFill>
            <a:schemeClr val="accent1"/>
          </a:solidFill>
          <a:ln w="12700">
            <a:solidFill>
              <a:schemeClr val="accent1"/>
            </a:solidFill>
            <a:prstDash val="solid"/>
          </a:ln>
        </p:spPr>
      </p:sp>
      <p:sp>
        <p:nvSpPr>
          <p:cNvPr id="13" name="impl 1"/>
          <p:cNvSpPr/>
          <p:nvPr/>
        </p:nvSpPr>
        <p:spPr>
          <a:xfrm>
            <a:off x="7406640" y="2286000"/>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7589520" y="2286000"/>
            <a:ext cx="3749040" cy="658368"/>
          </a:xfrm>
          <a:prstGeom prst="rect">
            <a:avLst/>
          </a:prstGeom>
          <a:noFill/>
          <a:ln/>
        </p:spPr>
        <p:txBody>
          <a:bodyPr wrap="square" lIns="0" tIns="0" rIns="0" bIns="0" rtlCol="0" anchor="ctr"/>
          <a:lstStyle/>
          <a:p>
            <a:pPr indent="0" marL="0">
              <a:buNone/>
            </a:pPr>
            <a:r>
              <a:rPr lang="en-US" sz="1150" dirty="0">
                <a:solidFill>
                  <a:schemeClr val="tx1"/>
                </a:solidFill>
              </a:rPr>
              <a:t>AIが決算書とIMから適正価格を算出し、入口で足切り</a:t>
            </a:r>
            <a:endParaRPr lang="en-US" sz="1150" dirty="0"/>
          </a:p>
        </p:txBody>
      </p:sp>
      <p:sp>
        <p:nvSpPr>
          <p:cNvPr id="15" name="Shape 13"/>
          <p:cNvSpPr/>
          <p:nvPr/>
        </p:nvSpPr>
        <p:spPr>
          <a:xfrm>
            <a:off x="685800" y="3163824"/>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85800" y="3163824"/>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02</a:t>
            </a:r>
            <a:endParaRPr lang="en-US" sz="1200" dirty="0"/>
          </a:p>
        </p:txBody>
      </p:sp>
      <p:sp>
        <p:nvSpPr>
          <p:cNvPr id="17" name="rule 2"/>
          <p:cNvSpPr/>
          <p:nvPr/>
        </p:nvSpPr>
        <p:spPr>
          <a:xfrm>
            <a:off x="1325880" y="3044952"/>
            <a:ext cx="5806440" cy="658368"/>
          </a:xfrm>
          <a:prstGeom prst="roundRect">
            <a:avLst>
              <a:gd name="adj" fmla="val 8333"/>
            </a:avLst>
          </a:prstGeom>
          <a:solidFill>
            <a:srgbClr val="FFFFFF"/>
          </a:solidFill>
          <a:ln w="9525">
            <a:solidFill>
              <a:schemeClr val="accent3"/>
            </a:solidFill>
            <a:prstDash val="solid"/>
          </a:ln>
        </p:spPr>
      </p:sp>
      <p:sp>
        <p:nvSpPr>
          <p:cNvPr id="18" name="Text 16"/>
          <p:cNvSpPr txBox="1"/>
          <p:nvPr/>
        </p:nvSpPr>
        <p:spPr>
          <a:xfrm>
            <a:off x="1508760" y="3044952"/>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自分で見つける。仲介から始めない</a:t>
            </a:r>
            <a:endParaRPr lang="en-US" sz="1300" dirty="0"/>
          </a:p>
          <a:p>
            <a:pPr indent="0" marL="0">
              <a:buNone/>
            </a:pPr>
            <a:r>
              <a:rPr lang="en-US" sz="1050" dirty="0">
                <a:solidFill>
                  <a:schemeClr val="accent2"/>
                </a:solidFill>
              </a:rPr>
              <a:t>約50案件の発掘はほぼ自分。仲介経由は3割以下</a:t>
            </a:r>
            <a:endParaRPr lang="en-US" sz="1300" dirty="0"/>
          </a:p>
        </p:txBody>
      </p:sp>
      <p:sp>
        <p:nvSpPr>
          <p:cNvPr id="19" name="arrow 2"/>
          <p:cNvSpPr/>
          <p:nvPr/>
        </p:nvSpPr>
        <p:spPr>
          <a:xfrm>
            <a:off x="7013448" y="3227832"/>
            <a:ext cx="237744" cy="292608"/>
          </a:xfrm>
          <a:prstGeom prst="chevron">
            <a:avLst/>
          </a:prstGeom>
          <a:solidFill>
            <a:schemeClr val="accent1"/>
          </a:solidFill>
          <a:ln w="12700">
            <a:solidFill>
              <a:schemeClr val="accent1"/>
            </a:solidFill>
            <a:prstDash val="solid"/>
          </a:ln>
        </p:spPr>
      </p:sp>
      <p:sp>
        <p:nvSpPr>
          <p:cNvPr id="20" name="impl 2"/>
          <p:cNvSpPr/>
          <p:nvPr/>
        </p:nvSpPr>
        <p:spPr>
          <a:xfrm>
            <a:off x="7406640" y="3044952"/>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7589520" y="3044952"/>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買収方針から候補企業を逆算し、直接打診を指導</a:t>
            </a:r>
            <a:endParaRPr lang="en-US" sz="1150" dirty="0"/>
          </a:p>
        </p:txBody>
      </p:sp>
      <p:sp>
        <p:nvSpPr>
          <p:cNvPr id="22" name="Shape 20"/>
          <p:cNvSpPr/>
          <p:nvPr/>
        </p:nvSpPr>
        <p:spPr>
          <a:xfrm>
            <a:off x="685800" y="3922776"/>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685800" y="3922776"/>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24" name="rule 3"/>
          <p:cNvSpPr/>
          <p:nvPr/>
        </p:nvSpPr>
        <p:spPr>
          <a:xfrm>
            <a:off x="1325880" y="3803904"/>
            <a:ext cx="5806440" cy="658368"/>
          </a:xfrm>
          <a:prstGeom prst="roundRect">
            <a:avLst>
              <a:gd name="adj" fmla="val 8333"/>
            </a:avLst>
          </a:prstGeom>
          <a:solidFill>
            <a:srgbClr val="FFFFFF"/>
          </a:solidFill>
          <a:ln w="9525">
            <a:solidFill>
              <a:schemeClr val="accent3"/>
            </a:solidFill>
            <a:prstDash val="solid"/>
          </a:ln>
        </p:spPr>
      </p:sp>
      <p:sp>
        <p:nvSpPr>
          <p:cNvPr id="25" name="Text 23"/>
          <p:cNvSpPr txBox="1"/>
          <p:nvPr/>
        </p:nvSpPr>
        <p:spPr>
          <a:xfrm>
            <a:off x="1508760" y="3803904"/>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PMI責任者が決まらない案件は買わない</a:t>
            </a:r>
            <a:endParaRPr lang="en-US" sz="1300" dirty="0"/>
          </a:p>
          <a:p>
            <a:pPr indent="0" marL="0">
              <a:buNone/>
            </a:pPr>
            <a:r>
              <a:rPr lang="en-US" sz="1050" dirty="0">
                <a:solidFill>
                  <a:schemeClr val="accent2"/>
                </a:solidFill>
              </a:rPr>
              <a:t>同じポータル事業で、置いた人により5.0億円の差</a:t>
            </a:r>
            <a:endParaRPr lang="en-US" sz="1300" dirty="0"/>
          </a:p>
        </p:txBody>
      </p:sp>
      <p:sp>
        <p:nvSpPr>
          <p:cNvPr id="26" name="arrow 3"/>
          <p:cNvSpPr/>
          <p:nvPr/>
        </p:nvSpPr>
        <p:spPr>
          <a:xfrm>
            <a:off x="7013448" y="3986784"/>
            <a:ext cx="237744" cy="292608"/>
          </a:xfrm>
          <a:prstGeom prst="chevron">
            <a:avLst/>
          </a:prstGeom>
          <a:solidFill>
            <a:schemeClr val="accent1"/>
          </a:solidFill>
          <a:ln w="12700">
            <a:solidFill>
              <a:schemeClr val="accent1"/>
            </a:solidFill>
            <a:prstDash val="solid"/>
          </a:ln>
        </p:spPr>
      </p:sp>
      <p:sp>
        <p:nvSpPr>
          <p:cNvPr id="27" name="impl 3"/>
          <p:cNvSpPr/>
          <p:nvPr/>
        </p:nvSpPr>
        <p:spPr>
          <a:xfrm>
            <a:off x="7406640" y="3803904"/>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6"/>
          <p:cNvSpPr txBox="1"/>
          <p:nvPr/>
        </p:nvSpPr>
        <p:spPr>
          <a:xfrm>
            <a:off x="7589520" y="3803904"/>
            <a:ext cx="3749040" cy="658368"/>
          </a:xfrm>
          <a:prstGeom prst="rect">
            <a:avLst/>
          </a:prstGeom>
          <a:noFill/>
          <a:ln/>
        </p:spPr>
        <p:txBody>
          <a:bodyPr wrap="square" lIns="0" tIns="0" rIns="0" bIns="0" rtlCol="0" anchor="ctr"/>
          <a:lstStyle/>
          <a:p>
            <a:pPr indent="0" marL="0">
              <a:buNone/>
            </a:pPr>
            <a:r>
              <a:rPr lang="en-US" sz="1150" dirty="0">
                <a:solidFill>
                  <a:schemeClr val="tx1"/>
                </a:solidFill>
              </a:rPr>
              <a:t>基本合意の前に「PMI責任者の指名」を必須に</a:t>
            </a:r>
            <a:endParaRPr lang="en-US" sz="1150" dirty="0"/>
          </a:p>
        </p:txBody>
      </p:sp>
      <p:sp>
        <p:nvSpPr>
          <p:cNvPr id="29" name="Shape 27"/>
          <p:cNvSpPr/>
          <p:nvPr/>
        </p:nvSpPr>
        <p:spPr>
          <a:xfrm>
            <a:off x="685800" y="4681728"/>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85800" y="4681728"/>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04</a:t>
            </a:r>
            <a:endParaRPr lang="en-US" sz="1200" dirty="0"/>
          </a:p>
        </p:txBody>
      </p:sp>
      <p:sp>
        <p:nvSpPr>
          <p:cNvPr id="31" name="rule 4"/>
          <p:cNvSpPr/>
          <p:nvPr/>
        </p:nvSpPr>
        <p:spPr>
          <a:xfrm>
            <a:off x="1325880" y="4562856"/>
            <a:ext cx="5806440" cy="658368"/>
          </a:xfrm>
          <a:prstGeom prst="roundRect">
            <a:avLst>
              <a:gd name="adj" fmla="val 8333"/>
            </a:avLst>
          </a:prstGeom>
          <a:solidFill>
            <a:srgbClr val="FFFFFF"/>
          </a:solidFill>
          <a:ln w="9525">
            <a:solidFill>
              <a:schemeClr val="accent3"/>
            </a:solidFill>
            <a:prstDash val="solid"/>
          </a:ln>
        </p:spPr>
      </p:sp>
      <p:sp>
        <p:nvSpPr>
          <p:cNvPr id="32" name="Text 30"/>
          <p:cNvSpPr txBox="1"/>
          <p:nvPr/>
        </p:nvSpPr>
        <p:spPr>
          <a:xfrm>
            <a:off x="1508760" y="4562856"/>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本業の外は、買わずに自分で作る</a:t>
            </a:r>
            <a:endParaRPr lang="en-US" sz="1300" dirty="0"/>
          </a:p>
          <a:p>
            <a:pPr indent="0" marL="0">
              <a:buNone/>
            </a:pPr>
            <a:r>
              <a:rPr lang="en-US" sz="1050" dirty="0">
                <a:solidFill>
                  <a:schemeClr val="accent2"/>
                </a:solidFill>
              </a:rPr>
              <a:t>買った本業外は全敗。自社で作った本業外は勝ち</a:t>
            </a:r>
            <a:endParaRPr lang="en-US" sz="1300" dirty="0"/>
          </a:p>
        </p:txBody>
      </p:sp>
      <p:sp>
        <p:nvSpPr>
          <p:cNvPr id="33" name="arrow 4"/>
          <p:cNvSpPr/>
          <p:nvPr/>
        </p:nvSpPr>
        <p:spPr>
          <a:xfrm>
            <a:off x="7013448" y="4745736"/>
            <a:ext cx="237744" cy="292608"/>
          </a:xfrm>
          <a:prstGeom prst="chevron">
            <a:avLst/>
          </a:prstGeom>
          <a:solidFill>
            <a:schemeClr val="accent1"/>
          </a:solidFill>
          <a:ln w="12700">
            <a:solidFill>
              <a:schemeClr val="accent1"/>
            </a:solidFill>
            <a:prstDash val="solid"/>
          </a:ln>
        </p:spPr>
      </p:sp>
      <p:sp>
        <p:nvSpPr>
          <p:cNvPr id="34" name="impl 4"/>
          <p:cNvSpPr/>
          <p:nvPr/>
        </p:nvSpPr>
        <p:spPr>
          <a:xfrm>
            <a:off x="7406640" y="4562856"/>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7589520" y="4562856"/>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買収戦略の段階で本業外の案件を外す</a:t>
            </a:r>
            <a:endParaRPr lang="en-US" sz="1150" dirty="0"/>
          </a:p>
        </p:txBody>
      </p:sp>
      <p:sp>
        <p:nvSpPr>
          <p:cNvPr id="36" name="Shape 34"/>
          <p:cNvSpPr/>
          <p:nvPr/>
        </p:nvSpPr>
        <p:spPr>
          <a:xfrm>
            <a:off x="685800" y="5440680"/>
            <a:ext cx="457200" cy="457200"/>
          </a:xfrm>
          <a:prstGeom prst="ellipse">
            <a:avLst/>
          </a:prstGeom>
          <a:solidFill>
            <a:schemeClr val="accent1"/>
          </a:solidFill>
          <a:ln w="12700">
            <a:solidFill>
              <a:schemeClr val="accent1"/>
            </a:solidFill>
            <a:prstDash val="solid"/>
          </a:ln>
        </p:spPr>
      </p:sp>
      <p:sp>
        <p:nvSpPr>
          <p:cNvPr id="37" name="Text 35"/>
          <p:cNvSpPr txBox="1"/>
          <p:nvPr/>
        </p:nvSpPr>
        <p:spPr>
          <a:xfrm>
            <a:off x="685800" y="544068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38" name="rule 5"/>
          <p:cNvSpPr/>
          <p:nvPr/>
        </p:nvSpPr>
        <p:spPr>
          <a:xfrm>
            <a:off x="1325880" y="5321808"/>
            <a:ext cx="5806440" cy="658368"/>
          </a:xfrm>
          <a:prstGeom prst="roundRect">
            <a:avLst>
              <a:gd name="adj" fmla="val 8333"/>
            </a:avLst>
          </a:prstGeom>
          <a:solidFill>
            <a:srgbClr val="FFFFFF"/>
          </a:solidFill>
          <a:ln w="9525">
            <a:solidFill>
              <a:schemeClr val="accent3"/>
            </a:solidFill>
            <a:prstDash val="solid"/>
          </a:ln>
        </p:spPr>
      </p:sp>
      <p:sp>
        <p:nvSpPr>
          <p:cNvPr id="39" name="Text 37"/>
          <p:cNvSpPr txBox="1"/>
          <p:nvPr/>
        </p:nvSpPr>
        <p:spPr>
          <a:xfrm>
            <a:off x="1508760" y="5321808"/>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売る時期を、買う前に決めておく</a:t>
            </a:r>
            <a:endParaRPr lang="en-US" sz="1300" dirty="0"/>
          </a:p>
          <a:p>
            <a:pPr indent="0" marL="0">
              <a:buNone/>
            </a:pPr>
            <a:r>
              <a:rPr lang="en-US" sz="1050" dirty="0">
                <a:solidFill>
                  <a:schemeClr val="accent2"/>
                </a:solidFill>
              </a:rPr>
              <a:t>6年保有で−1.70億円／2ヶ月で30%売却し回収</a:t>
            </a:r>
            <a:endParaRPr lang="en-US" sz="1300" dirty="0"/>
          </a:p>
        </p:txBody>
      </p:sp>
      <p:sp>
        <p:nvSpPr>
          <p:cNvPr id="40" name="arrow 5"/>
          <p:cNvSpPr/>
          <p:nvPr/>
        </p:nvSpPr>
        <p:spPr>
          <a:xfrm>
            <a:off x="7013448" y="5504688"/>
            <a:ext cx="237744" cy="292608"/>
          </a:xfrm>
          <a:prstGeom prst="chevron">
            <a:avLst/>
          </a:prstGeom>
          <a:solidFill>
            <a:schemeClr val="accent1"/>
          </a:solidFill>
          <a:ln w="12700">
            <a:solidFill>
              <a:schemeClr val="accent1"/>
            </a:solidFill>
            <a:prstDash val="solid"/>
          </a:ln>
        </p:spPr>
      </p:sp>
      <p:sp>
        <p:nvSpPr>
          <p:cNvPr id="41" name="impl 5"/>
          <p:cNvSpPr/>
          <p:nvPr/>
        </p:nvSpPr>
        <p:spPr>
          <a:xfrm>
            <a:off x="7406640" y="5321808"/>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589520" y="5321808"/>
            <a:ext cx="3749040" cy="658368"/>
          </a:xfrm>
          <a:prstGeom prst="rect">
            <a:avLst/>
          </a:prstGeom>
          <a:noFill/>
          <a:ln/>
        </p:spPr>
        <p:txBody>
          <a:bodyPr wrap="square" lIns="0" tIns="0" rIns="0" bIns="0" rtlCol="0" anchor="ctr"/>
          <a:lstStyle/>
          <a:p>
            <a:pPr indent="0" marL="0">
              <a:buNone/>
            </a:pPr>
            <a:r>
              <a:rPr lang="en-US" sz="1150" dirty="0">
                <a:solidFill>
                  <a:schemeClr val="tx1"/>
                </a:solidFill>
              </a:rPr>
              <a:t>撤退ラインを買収前に文書化して合意</a:t>
            </a:r>
            <a:endParaRPr lang="en-US" sz="1150" dirty="0"/>
          </a:p>
        </p:txBody>
      </p:sp>
      <p:sp>
        <p:nvSpPr>
          <p:cNvPr id="43" name="Text 41"/>
          <p:cNvSpPr txBox="1"/>
          <p:nvPr/>
        </p:nvSpPr>
        <p:spPr>
          <a:xfrm>
            <a:off x="685800" y="612648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値づけを決める。PMIの人を決める。売る時期を決める。この3つを買う前に紙に書けば、負けても致命傷にはならない。</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AI × EXPERIENCE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AIは誰でも使える。差がつくのは、何を判断させるか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AIが作業の大半を担い、49戦のルールで判定し、最後は人が責任を持つ</a:t>
            </a:r>
            <a:endParaRPr lang="en-US" sz="1350" dirty="0"/>
          </a:p>
        </p:txBody>
      </p:sp>
      <p:sp>
        <p:nvSpPr>
          <p:cNvPr id="6" name="input"/>
          <p:cNvSpPr/>
          <p:nvPr/>
        </p:nvSpPr>
        <p:spPr>
          <a:xfrm>
            <a:off x="685800" y="2103120"/>
            <a:ext cx="2331720" cy="3246120"/>
          </a:xfrm>
          <a:prstGeom prst="roundRect">
            <a:avLst>
              <a:gd name="adj" fmla="val 235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1440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入力</a:t>
            </a:r>
            <a:endParaRPr lang="en-US" sz="1300" dirty="0"/>
          </a:p>
        </p:txBody>
      </p:sp>
      <p:sp>
        <p:nvSpPr>
          <p:cNvPr id="8" name="Text 6"/>
          <p:cNvSpPr txBox="1"/>
          <p:nvPr/>
        </p:nvSpPr>
        <p:spPr>
          <a:xfrm>
            <a:off x="914400" y="2651760"/>
            <a:ext cx="1965960"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自社のBS/PL・試算表</a:t>
            </a:r>
            <a:endParaRPr lang="en-US" sz="1150" dirty="0"/>
          </a:p>
          <a:p>
            <a:pPr marL="152400" indent="-152400">
              <a:spcAft>
                <a:spcPts val="800"/>
              </a:spcAft>
              <a:buSzPct val="100000"/>
              <a:buChar char="•"/>
            </a:pPr>
            <a:r>
              <a:rPr lang="en-US" sz="1150" dirty="0">
                <a:solidFill>
                  <a:schemeClr val="tx1"/>
                </a:solidFill>
              </a:rPr>
              <a:t>買収方針（業種・エリア・予算）</a:t>
            </a:r>
            <a:endParaRPr lang="en-US" sz="1150" dirty="0"/>
          </a:p>
          <a:p>
            <a:pPr marL="152400" indent="-152400">
              <a:spcAft>
                <a:spcPts val="800"/>
              </a:spcAft>
              <a:buSzPct val="100000"/>
              <a:buChar char="•"/>
            </a:pPr>
            <a:r>
              <a:rPr lang="en-US" sz="1150" dirty="0">
                <a:solidFill>
                  <a:schemeClr val="tx1"/>
                </a:solidFill>
              </a:rPr>
              <a:t>案件情報・IM・決算書</a:t>
            </a:r>
            <a:endParaRPr lang="en-US" sz="1150" dirty="0"/>
          </a:p>
          <a:p>
            <a:pPr marL="152400" indent="-152400">
              <a:spcAft>
                <a:spcPts val="800"/>
              </a:spcAft>
              <a:buSzPct val="100000"/>
              <a:buChar char="•"/>
            </a:pPr>
            <a:r>
              <a:rPr lang="en-US" sz="1150" dirty="0">
                <a:solidFill>
                  <a:schemeClr val="tx1"/>
                </a:solidFill>
              </a:rPr>
              <a:t>市場・企業データ</a:t>
            </a:r>
            <a:endParaRPr lang="en-US" sz="1150" dirty="0"/>
          </a:p>
        </p:txBody>
      </p:sp>
      <p:sp>
        <p:nvSpPr>
          <p:cNvPr id="9" name="ai engine"/>
          <p:cNvSpPr/>
          <p:nvPr/>
        </p:nvSpPr>
        <p:spPr>
          <a:xfrm>
            <a:off x="3246120" y="2103120"/>
            <a:ext cx="4572000" cy="3246120"/>
          </a:xfrm>
          <a:prstGeom prst="roundRect">
            <a:avLst>
              <a:gd name="adj" fmla="val 1690"/>
            </a:avLst>
          </a:prstGeom>
          <a:solidFill>
            <a:schemeClr val="tx1"/>
          </a:solidFill>
          <a:ln w="12700">
            <a:solidFill>
              <a:schemeClr val="tx1"/>
            </a:solidFill>
            <a:prstDash val="solid"/>
          </a:ln>
        </p:spPr>
      </p:sp>
      <p:sp>
        <p:nvSpPr>
          <p:cNvPr id="10" name="Text 8"/>
          <p:cNvSpPr txBox="1"/>
          <p:nvPr/>
        </p:nvSpPr>
        <p:spPr>
          <a:xfrm>
            <a:off x="3474720" y="2212848"/>
            <a:ext cx="2743200" cy="320040"/>
          </a:xfrm>
          <a:prstGeom prst="rect">
            <a:avLst/>
          </a:prstGeom>
          <a:noFill/>
          <a:ln/>
        </p:spPr>
        <p:txBody>
          <a:bodyPr wrap="square" lIns="0" tIns="0" rIns="0" bIns="0" rtlCol="0" anchor="t"/>
          <a:lstStyle/>
          <a:p>
            <a:pPr indent="0" marL="0">
              <a:buNone/>
            </a:pPr>
            <a:r>
              <a:rPr lang="en-US" sz="1300" b="1" dirty="0">
                <a:solidFill>
                  <a:schemeClr val="accent4"/>
                </a:solidFill>
              </a:rPr>
              <a:t>AIエージェント</a:t>
            </a:r>
            <a:endParaRPr lang="en-US" sz="1300" dirty="0"/>
          </a:p>
        </p:txBody>
      </p:sp>
      <p:sp>
        <p:nvSpPr>
          <p:cNvPr id="11" name="module 買収戦略"/>
          <p:cNvSpPr/>
          <p:nvPr/>
        </p:nvSpPr>
        <p:spPr>
          <a:xfrm>
            <a:off x="3474720" y="2651760"/>
            <a:ext cx="1298448" cy="1170432"/>
          </a:xfrm>
          <a:prstGeom prst="roundRect">
            <a:avLst>
              <a:gd name="adj" fmla="val 4688"/>
            </a:avLst>
          </a:prstGeom>
          <a:solidFill>
            <a:srgbClr val="3A322C"/>
          </a:solidFill>
          <a:ln w="9525">
            <a:solidFill>
              <a:srgbClr val="4E443C"/>
            </a:solidFill>
            <a:prstDash val="solid"/>
          </a:ln>
        </p:spPr>
      </p:sp>
      <p:pic>
        <p:nvPicPr>
          <p:cNvPr id="12" name="Image 0" descr="preencoded.png">    </p:cNvPr>
          <p:cNvPicPr>
            <a:picLocks noChangeAspect="1"/>
          </p:cNvPicPr>
          <p:nvPr/>
        </p:nvPicPr>
        <p:blipFill>
          <a:blip r:embed="rId1"/>
          <a:stretch>
            <a:fillRect/>
          </a:stretch>
        </p:blipFill>
        <p:spPr>
          <a:xfrm>
            <a:off x="3959352" y="2779776"/>
            <a:ext cx="329184" cy="329184"/>
          </a:xfrm>
          <a:prstGeom prst="rect">
            <a:avLst/>
          </a:prstGeom>
        </p:spPr>
      </p:pic>
      <p:sp>
        <p:nvSpPr>
          <p:cNvPr id="13" name="Text 10"/>
          <p:cNvSpPr txBox="1"/>
          <p:nvPr/>
        </p:nvSpPr>
        <p:spPr>
          <a:xfrm>
            <a:off x="347472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買収戦略</a:t>
            </a:r>
            <a:endParaRPr lang="en-US" sz="1150" dirty="0"/>
          </a:p>
        </p:txBody>
      </p:sp>
      <p:sp>
        <p:nvSpPr>
          <p:cNvPr id="14" name="Text 11"/>
          <p:cNvSpPr txBox="1"/>
          <p:nvPr/>
        </p:nvSpPr>
        <p:spPr>
          <a:xfrm>
            <a:off x="347472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何を買うべきか</a:t>
            </a:r>
            <a:endParaRPr lang="en-US" sz="900" dirty="0"/>
          </a:p>
        </p:txBody>
      </p:sp>
      <p:sp>
        <p:nvSpPr>
          <p:cNvPr id="15" name="module ソーシング"/>
          <p:cNvSpPr/>
          <p:nvPr/>
        </p:nvSpPr>
        <p:spPr>
          <a:xfrm>
            <a:off x="4892040" y="2651760"/>
            <a:ext cx="1298448" cy="1170432"/>
          </a:xfrm>
          <a:prstGeom prst="roundRect">
            <a:avLst>
              <a:gd name="adj" fmla="val 4688"/>
            </a:avLst>
          </a:prstGeom>
          <a:solidFill>
            <a:srgbClr val="3A322C"/>
          </a:solidFill>
          <a:ln w="9525">
            <a:solidFill>
              <a:srgbClr val="4E443C"/>
            </a:solidFill>
            <a:prstDash val="solid"/>
          </a:ln>
        </p:spPr>
      </p:sp>
      <p:pic>
        <p:nvPicPr>
          <p:cNvPr id="16" name="Image 1" descr="preencoded.png">    </p:cNvPr>
          <p:cNvPicPr>
            <a:picLocks noChangeAspect="1"/>
          </p:cNvPicPr>
          <p:nvPr/>
        </p:nvPicPr>
        <p:blipFill>
          <a:blip r:embed="rId2"/>
          <a:stretch>
            <a:fillRect/>
          </a:stretch>
        </p:blipFill>
        <p:spPr>
          <a:xfrm>
            <a:off x="5376672" y="2779776"/>
            <a:ext cx="329184" cy="329184"/>
          </a:xfrm>
          <a:prstGeom prst="rect">
            <a:avLst/>
          </a:prstGeom>
        </p:spPr>
      </p:pic>
      <p:sp>
        <p:nvSpPr>
          <p:cNvPr id="17" name="Text 13"/>
          <p:cNvSpPr txBox="1"/>
          <p:nvPr/>
        </p:nvSpPr>
        <p:spPr>
          <a:xfrm>
            <a:off x="489204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ソーシング</a:t>
            </a:r>
            <a:endParaRPr lang="en-US" sz="1150" dirty="0"/>
          </a:p>
        </p:txBody>
      </p:sp>
      <p:sp>
        <p:nvSpPr>
          <p:cNvPr id="18" name="Text 14"/>
          <p:cNvSpPr txBox="1"/>
          <p:nvPr/>
        </p:nvSpPr>
        <p:spPr>
          <a:xfrm>
            <a:off x="489204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候補を探す</a:t>
            </a:r>
            <a:endParaRPr lang="en-US" sz="900" dirty="0"/>
          </a:p>
        </p:txBody>
      </p:sp>
      <p:sp>
        <p:nvSpPr>
          <p:cNvPr id="19" name="module スクリーニング"/>
          <p:cNvSpPr/>
          <p:nvPr/>
        </p:nvSpPr>
        <p:spPr>
          <a:xfrm>
            <a:off x="6309360" y="2651760"/>
            <a:ext cx="1298448" cy="1170432"/>
          </a:xfrm>
          <a:prstGeom prst="roundRect">
            <a:avLst>
              <a:gd name="adj" fmla="val 4688"/>
            </a:avLst>
          </a:prstGeom>
          <a:solidFill>
            <a:srgbClr val="3A322C"/>
          </a:solidFill>
          <a:ln w="9525">
            <a:solidFill>
              <a:srgbClr val="4E443C"/>
            </a:solidFill>
            <a:prstDash val="solid"/>
          </a:ln>
        </p:spPr>
      </p:sp>
      <p:pic>
        <p:nvPicPr>
          <p:cNvPr id="20" name="Image 2" descr="preencoded.png">    </p:cNvPr>
          <p:cNvPicPr>
            <a:picLocks noChangeAspect="1"/>
          </p:cNvPicPr>
          <p:nvPr/>
        </p:nvPicPr>
        <p:blipFill>
          <a:blip r:embed="rId3"/>
          <a:stretch>
            <a:fillRect/>
          </a:stretch>
        </p:blipFill>
        <p:spPr>
          <a:xfrm>
            <a:off x="6793992" y="2779776"/>
            <a:ext cx="329184" cy="329184"/>
          </a:xfrm>
          <a:prstGeom prst="rect">
            <a:avLst/>
          </a:prstGeom>
        </p:spPr>
      </p:pic>
      <p:sp>
        <p:nvSpPr>
          <p:cNvPr id="21" name="Text 16"/>
          <p:cNvSpPr txBox="1"/>
          <p:nvPr/>
        </p:nvSpPr>
        <p:spPr>
          <a:xfrm>
            <a:off x="630936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スクリーニング</a:t>
            </a:r>
            <a:endParaRPr lang="en-US" sz="1150" dirty="0"/>
          </a:p>
        </p:txBody>
      </p:sp>
      <p:sp>
        <p:nvSpPr>
          <p:cNvPr id="22" name="Text 17"/>
          <p:cNvSpPr txBox="1"/>
          <p:nvPr/>
        </p:nvSpPr>
        <p:spPr>
          <a:xfrm>
            <a:off x="630936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足切り・優先度</a:t>
            </a:r>
            <a:endParaRPr lang="en-US" sz="900" dirty="0"/>
          </a:p>
        </p:txBody>
      </p:sp>
      <p:sp>
        <p:nvSpPr>
          <p:cNvPr id="23" name="module 価格算定"/>
          <p:cNvSpPr/>
          <p:nvPr/>
        </p:nvSpPr>
        <p:spPr>
          <a:xfrm>
            <a:off x="3474720" y="3950208"/>
            <a:ext cx="1298448" cy="1170432"/>
          </a:xfrm>
          <a:prstGeom prst="roundRect">
            <a:avLst>
              <a:gd name="adj" fmla="val 4688"/>
            </a:avLst>
          </a:prstGeom>
          <a:solidFill>
            <a:srgbClr val="3A322C"/>
          </a:solidFill>
          <a:ln w="9525">
            <a:solidFill>
              <a:srgbClr val="4E443C"/>
            </a:solidFill>
            <a:prstDash val="solid"/>
          </a:ln>
        </p:spPr>
      </p:sp>
      <p:pic>
        <p:nvPicPr>
          <p:cNvPr id="24" name="Image 3" descr="preencoded.png">    </p:cNvPr>
          <p:cNvPicPr>
            <a:picLocks noChangeAspect="1"/>
          </p:cNvPicPr>
          <p:nvPr/>
        </p:nvPicPr>
        <p:blipFill>
          <a:blip r:embed="rId4"/>
          <a:stretch>
            <a:fillRect/>
          </a:stretch>
        </p:blipFill>
        <p:spPr>
          <a:xfrm>
            <a:off x="3959352" y="4078224"/>
            <a:ext cx="329184" cy="329184"/>
          </a:xfrm>
          <a:prstGeom prst="rect">
            <a:avLst/>
          </a:prstGeom>
        </p:spPr>
      </p:pic>
      <p:sp>
        <p:nvSpPr>
          <p:cNvPr id="25" name="Text 19"/>
          <p:cNvSpPr txBox="1"/>
          <p:nvPr/>
        </p:nvSpPr>
        <p:spPr>
          <a:xfrm>
            <a:off x="347472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価格算定</a:t>
            </a:r>
            <a:endParaRPr lang="en-US" sz="1150" dirty="0"/>
          </a:p>
        </p:txBody>
      </p:sp>
      <p:sp>
        <p:nvSpPr>
          <p:cNvPr id="26" name="Text 20"/>
          <p:cNvSpPr txBox="1"/>
          <p:nvPr/>
        </p:nvSpPr>
        <p:spPr>
          <a:xfrm>
            <a:off x="347472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純資産・適正価格</a:t>
            </a:r>
            <a:endParaRPr lang="en-US" sz="900" dirty="0"/>
          </a:p>
        </p:txBody>
      </p:sp>
      <p:sp>
        <p:nvSpPr>
          <p:cNvPr id="27" name="module 資金設計"/>
          <p:cNvSpPr/>
          <p:nvPr/>
        </p:nvSpPr>
        <p:spPr>
          <a:xfrm>
            <a:off x="4892040" y="3950208"/>
            <a:ext cx="1298448" cy="1170432"/>
          </a:xfrm>
          <a:prstGeom prst="roundRect">
            <a:avLst>
              <a:gd name="adj" fmla="val 4688"/>
            </a:avLst>
          </a:prstGeom>
          <a:solidFill>
            <a:srgbClr val="3A322C"/>
          </a:solidFill>
          <a:ln w="9525">
            <a:solidFill>
              <a:srgbClr val="4E443C"/>
            </a:solidFill>
            <a:prstDash val="solid"/>
          </a:ln>
        </p:spPr>
      </p:sp>
      <p:pic>
        <p:nvPicPr>
          <p:cNvPr id="28" name="Image 4" descr="preencoded.png">    </p:cNvPr>
          <p:cNvPicPr>
            <a:picLocks noChangeAspect="1"/>
          </p:cNvPicPr>
          <p:nvPr/>
        </p:nvPicPr>
        <p:blipFill>
          <a:blip r:embed="rId5"/>
          <a:stretch>
            <a:fillRect/>
          </a:stretch>
        </p:blipFill>
        <p:spPr>
          <a:xfrm>
            <a:off x="5376672" y="4078224"/>
            <a:ext cx="329184" cy="329184"/>
          </a:xfrm>
          <a:prstGeom prst="rect">
            <a:avLst/>
          </a:prstGeom>
        </p:spPr>
      </p:pic>
      <p:sp>
        <p:nvSpPr>
          <p:cNvPr id="29" name="Text 22"/>
          <p:cNvSpPr txBox="1"/>
          <p:nvPr/>
        </p:nvSpPr>
        <p:spPr>
          <a:xfrm>
            <a:off x="489204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資金設計</a:t>
            </a:r>
            <a:endParaRPr lang="en-US" sz="1150" dirty="0"/>
          </a:p>
        </p:txBody>
      </p:sp>
      <p:sp>
        <p:nvSpPr>
          <p:cNvPr id="30" name="Text 23"/>
          <p:cNvSpPr txBox="1"/>
          <p:nvPr/>
        </p:nvSpPr>
        <p:spPr>
          <a:xfrm>
            <a:off x="489204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借入余力・調達</a:t>
            </a:r>
            <a:endParaRPr lang="en-US" sz="900" dirty="0"/>
          </a:p>
        </p:txBody>
      </p:sp>
      <p:sp>
        <p:nvSpPr>
          <p:cNvPr id="31" name="module PMI計画"/>
          <p:cNvSpPr/>
          <p:nvPr/>
        </p:nvSpPr>
        <p:spPr>
          <a:xfrm>
            <a:off x="6309360" y="3950208"/>
            <a:ext cx="1298448" cy="1170432"/>
          </a:xfrm>
          <a:prstGeom prst="roundRect">
            <a:avLst>
              <a:gd name="adj" fmla="val 4688"/>
            </a:avLst>
          </a:prstGeom>
          <a:solidFill>
            <a:srgbClr val="3A322C"/>
          </a:solidFill>
          <a:ln w="9525">
            <a:solidFill>
              <a:srgbClr val="4E443C"/>
            </a:solidFill>
            <a:prstDash val="solid"/>
          </a:ln>
        </p:spPr>
      </p:sp>
      <p:pic>
        <p:nvPicPr>
          <p:cNvPr id="32" name="Image 5" descr="preencoded.png">    </p:cNvPr>
          <p:cNvPicPr>
            <a:picLocks noChangeAspect="1"/>
          </p:cNvPicPr>
          <p:nvPr/>
        </p:nvPicPr>
        <p:blipFill>
          <a:blip r:embed="rId6"/>
          <a:stretch>
            <a:fillRect/>
          </a:stretch>
        </p:blipFill>
        <p:spPr>
          <a:xfrm>
            <a:off x="6793992" y="4078224"/>
            <a:ext cx="329184" cy="329184"/>
          </a:xfrm>
          <a:prstGeom prst="rect">
            <a:avLst/>
          </a:prstGeom>
        </p:spPr>
      </p:pic>
      <p:sp>
        <p:nvSpPr>
          <p:cNvPr id="33" name="Text 25"/>
          <p:cNvSpPr txBox="1"/>
          <p:nvPr/>
        </p:nvSpPr>
        <p:spPr>
          <a:xfrm>
            <a:off x="630936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PMI計画</a:t>
            </a:r>
            <a:endParaRPr lang="en-US" sz="1150" dirty="0"/>
          </a:p>
        </p:txBody>
      </p:sp>
      <p:sp>
        <p:nvSpPr>
          <p:cNvPr id="34" name="Text 26"/>
          <p:cNvSpPr txBox="1"/>
          <p:nvPr/>
        </p:nvSpPr>
        <p:spPr>
          <a:xfrm>
            <a:off x="630936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責任者・100日</a:t>
            </a:r>
            <a:endParaRPr lang="en-US" sz="900" dirty="0"/>
          </a:p>
        </p:txBody>
      </p:sp>
      <p:sp>
        <p:nvSpPr>
          <p:cNvPr id="35" name="rule gate"/>
          <p:cNvSpPr/>
          <p:nvPr/>
        </p:nvSpPr>
        <p:spPr>
          <a:xfrm>
            <a:off x="8001000" y="2103120"/>
            <a:ext cx="1051560" cy="3246120"/>
          </a:xfrm>
          <a:prstGeom prst="roundRect">
            <a:avLst>
              <a:gd name="adj" fmla="val 5217"/>
            </a:avLst>
          </a:prstGeom>
          <a:solidFill>
            <a:schemeClr val="accent1"/>
          </a:solidFill>
          <a:ln w="12700">
            <a:solidFill>
              <a:schemeClr val="accent1"/>
            </a:solidFill>
            <a:prstDash val="solid"/>
          </a:ln>
        </p:spPr>
      </p:sp>
      <p:sp>
        <p:nvSpPr>
          <p:cNvPr id="36" name="Text 28"/>
          <p:cNvSpPr txBox="1"/>
          <p:nvPr/>
        </p:nvSpPr>
        <p:spPr>
          <a:xfrm>
            <a:off x="8001000" y="2103120"/>
            <a:ext cx="1051560" cy="3246120"/>
          </a:xfrm>
          <a:prstGeom prst="rect">
            <a:avLst/>
          </a:prstGeom>
          <a:noFill/>
          <a:ln/>
        </p:spPr>
        <p:txBody>
          <a:bodyPr wrap="square" lIns="0" tIns="0" rIns="0" bIns="0" rtlCol="0" anchor="ctr"/>
          <a:lstStyle/>
          <a:p>
            <a:pPr algn="ctr" indent="0" marL="0">
              <a:buNone/>
            </a:pPr>
            <a:r>
              <a:rPr lang="en-US" sz="1300" b="1" dirty="0">
                <a:solidFill>
                  <a:schemeClr val="bg1"/>
                </a:solidFill>
              </a:rPr>
              <a:t>49戦の</a:t>
            </a:r>
            <a:endParaRPr lang="en-US" sz="1300" dirty="0"/>
          </a:p>
          <a:p>
            <a:pPr algn="ctr" indent="0" marL="0">
              <a:buNone/>
            </a:pPr>
            <a:r>
              <a:rPr lang="en-US" sz="1300" b="1" dirty="0">
                <a:solidFill>
                  <a:schemeClr val="bg1"/>
                </a:solidFill>
              </a:rPr>
              <a:t>5原則で</a:t>
            </a:r>
            <a:endParaRPr lang="en-US" sz="1300" dirty="0"/>
          </a:p>
          <a:p>
            <a:pPr algn="ctr" indent="0" marL="0">
              <a:buNone/>
            </a:pPr>
            <a:r>
              <a:rPr lang="en-US" sz="1300" b="1" dirty="0">
                <a:solidFill>
                  <a:schemeClr val="bg1"/>
                </a:solidFill>
              </a:rPr>
              <a:t>判定</a:t>
            </a:r>
            <a:endParaRPr lang="en-US" sz="1300" dirty="0"/>
          </a:p>
        </p:txBody>
      </p:sp>
      <p:sp>
        <p:nvSpPr>
          <p:cNvPr id="37" name="output"/>
          <p:cNvSpPr/>
          <p:nvPr/>
        </p:nvSpPr>
        <p:spPr>
          <a:xfrm>
            <a:off x="9235440" y="2103120"/>
            <a:ext cx="2267712" cy="3246120"/>
          </a:xfrm>
          <a:prstGeom prst="roundRect">
            <a:avLst>
              <a:gd name="adj" fmla="val 241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8" name="Text 30"/>
          <p:cNvSpPr txBox="1"/>
          <p:nvPr/>
        </p:nvSpPr>
        <p:spPr>
          <a:xfrm>
            <a:off x="946404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出力</a:t>
            </a:r>
            <a:endParaRPr lang="en-US" sz="1300" dirty="0"/>
          </a:p>
        </p:txBody>
      </p:sp>
      <p:sp>
        <p:nvSpPr>
          <p:cNvPr id="39" name="Text 31"/>
          <p:cNvSpPr txBox="1"/>
          <p:nvPr/>
        </p:nvSpPr>
        <p:spPr>
          <a:xfrm>
            <a:off x="9464040" y="2651760"/>
            <a:ext cx="1901952"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買う／見送るの判断と理由</a:t>
            </a:r>
            <a:endParaRPr lang="en-US" sz="1150" dirty="0"/>
          </a:p>
          <a:p>
            <a:pPr marL="152400" indent="-152400">
              <a:spcAft>
                <a:spcPts val="800"/>
              </a:spcAft>
              <a:buSzPct val="100000"/>
              <a:buChar char="•"/>
            </a:pPr>
            <a:r>
              <a:rPr lang="en-US" sz="1150" dirty="0">
                <a:solidFill>
                  <a:schemeClr val="tx1"/>
                </a:solidFill>
              </a:rPr>
              <a:t>適正価格と交渉の上限</a:t>
            </a:r>
            <a:endParaRPr lang="en-US" sz="1150" dirty="0"/>
          </a:p>
          <a:p>
            <a:pPr marL="152400" indent="-152400">
              <a:spcAft>
                <a:spcPts val="800"/>
              </a:spcAft>
              <a:buSzPct val="100000"/>
              <a:buChar char="•"/>
            </a:pPr>
            <a:r>
              <a:rPr lang="en-US" sz="1150" dirty="0">
                <a:solidFill>
                  <a:schemeClr val="tx1"/>
                </a:solidFill>
              </a:rPr>
              <a:t>資金調達の組み立て</a:t>
            </a:r>
            <a:endParaRPr lang="en-US" sz="1150" dirty="0"/>
          </a:p>
          <a:p>
            <a:pPr marL="152400" indent="-152400">
              <a:spcAft>
                <a:spcPts val="800"/>
              </a:spcAft>
              <a:buSzPct val="100000"/>
              <a:buChar char="•"/>
            </a:pPr>
            <a:r>
              <a:rPr lang="en-US" sz="1150" dirty="0">
                <a:solidFill>
                  <a:schemeClr val="tx1"/>
                </a:solidFill>
              </a:rPr>
              <a:t>PMI責任者と撤退ライン</a:t>
            </a:r>
            <a:endParaRPr lang="en-US" sz="1150" dirty="0"/>
          </a:p>
        </p:txBody>
      </p:sp>
      <p:sp>
        <p:nvSpPr>
          <p:cNvPr id="40" name="conclusion bar"/>
          <p:cNvSpPr/>
          <p:nvPr/>
        </p:nvSpPr>
        <p:spPr>
          <a:xfrm>
            <a:off x="685800" y="5532120"/>
            <a:ext cx="10820095" cy="777240"/>
          </a:xfrm>
          <a:prstGeom prst="roundRect">
            <a:avLst>
              <a:gd name="adj" fmla="val 4706"/>
            </a:avLst>
          </a:prstGeom>
          <a:solidFill>
            <a:schemeClr val="tx1"/>
          </a:solidFill>
          <a:ln w="12700">
            <a:solidFill>
              <a:schemeClr val="tx1"/>
            </a:solidFill>
            <a:prstDash val="solid"/>
          </a:ln>
        </p:spPr>
      </p:sp>
      <p:sp>
        <p:nvSpPr>
          <p:cNvPr id="41" name="Text 33"/>
          <p:cNvSpPr txBox="1"/>
          <p:nvPr/>
        </p:nvSpPr>
        <p:spPr>
          <a:xfrm>
            <a:off x="1005840" y="5532120"/>
            <a:ext cx="10180015" cy="777240"/>
          </a:xfrm>
          <a:prstGeom prst="rect">
            <a:avLst/>
          </a:prstGeom>
          <a:noFill/>
          <a:ln/>
        </p:spPr>
        <p:txBody>
          <a:bodyPr wrap="square" lIns="0" tIns="0" rIns="0" bIns="0" rtlCol="0" anchor="ctr"/>
          <a:lstStyle/>
          <a:p>
            <a:pPr indent="0" marL="0">
              <a:buNone/>
            </a:pPr>
            <a:r>
              <a:rPr lang="en-US" sz="1600" b="1" dirty="0">
                <a:solidFill>
                  <a:schemeClr val="bg1"/>
                </a:solidFill>
              </a:rPr>
              <a:t>最終判断・交渉・責任は人（コンサルタントと中野）が持つ</a:t>
            </a:r>
            <a:endParaRPr lang="en-US" sz="1300" dirty="0"/>
          </a:p>
          <a:p>
            <a:pPr indent="0" marL="0">
              <a:buNone/>
            </a:pPr>
            <a:r>
              <a:rPr lang="en-US" sz="1100" dirty="0">
                <a:solidFill>
                  <a:schemeClr val="accent3"/>
                </a:solidFill>
              </a:rPr>
              <a:t>AIで1人あたりの担当社数を増やし、価格を抑えながら品質を保つ</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IM DATABASE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関東圏×4業種のIMデータベースで「適正価格」を語る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成約データまでは持てなくても、IM（企業概要書）なら集められる。地域と業種を絞って、M&amp;A版REINSの土台をつくる</a:t>
            </a:r>
            <a:endParaRPr lang="en-US" sz="1350" dirty="0"/>
          </a:p>
        </p:txBody>
      </p:sp>
      <p:sp>
        <p:nvSpPr>
          <p:cNvPr id="6" name="step label 1"/>
          <p:cNvSpPr/>
          <p:nvPr/>
        </p:nvSpPr>
        <p:spPr>
          <a:xfrm>
            <a:off x="685800" y="2011680"/>
            <a:ext cx="868680" cy="1600200"/>
          </a:xfrm>
          <a:prstGeom prst="roundRect">
            <a:avLst>
              <a:gd name="adj" fmla="val 6316"/>
            </a:avLst>
          </a:prstGeom>
          <a:solidFill>
            <a:schemeClr val="tx1"/>
          </a:solidFill>
          <a:ln w="12700">
            <a:solidFill>
              <a:schemeClr val="tx1"/>
            </a:solidFill>
            <a:prstDash val="solid"/>
          </a:ln>
        </p:spPr>
      </p:sp>
      <p:sp>
        <p:nvSpPr>
          <p:cNvPr id="7" name="Text 5"/>
          <p:cNvSpPr txBox="1"/>
          <p:nvPr/>
        </p:nvSpPr>
        <p:spPr>
          <a:xfrm>
            <a:off x="685800" y="201168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1</a:t>
            </a:r>
            <a:endParaRPr lang="en-US" sz="1300" dirty="0"/>
          </a:p>
          <a:p>
            <a:pPr algn="ctr" indent="0" marL="0">
              <a:buNone/>
            </a:pPr>
            <a:r>
              <a:rPr lang="en-US" sz="1050" b="1" dirty="0">
                <a:solidFill>
                  <a:schemeClr val="bg1"/>
                </a:solidFill>
              </a:rPr>
              <a:t>支援前</a:t>
            </a:r>
            <a:endParaRPr lang="en-US" sz="1300" dirty="0"/>
          </a:p>
        </p:txBody>
      </p:sp>
      <p:sp>
        <p:nvSpPr>
          <p:cNvPr id="8" name="step1 集める"/>
          <p:cNvSpPr/>
          <p:nvPr/>
        </p:nvSpPr>
        <p:spPr>
          <a:xfrm>
            <a:off x="173736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90195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集める</a:t>
            </a:r>
            <a:endParaRPr lang="en-US" sz="1400" dirty="0"/>
          </a:p>
        </p:txBody>
      </p:sp>
      <p:sp>
        <p:nvSpPr>
          <p:cNvPr id="10" name="Text 8"/>
          <p:cNvSpPr txBox="1"/>
          <p:nvPr/>
        </p:nvSpPr>
        <p:spPr>
          <a:xfrm>
            <a:off x="190195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提携FA・仲介から受け取ったIM、顧問先・士業経由、自社49戦の案件、公開案件</a:t>
            </a:r>
            <a:endParaRPr lang="en-US" sz="1050" dirty="0"/>
          </a:p>
        </p:txBody>
      </p:sp>
      <p:sp>
        <p:nvSpPr>
          <p:cNvPr id="11" name="flow arrow"/>
          <p:cNvSpPr/>
          <p:nvPr/>
        </p:nvSpPr>
        <p:spPr>
          <a:xfrm>
            <a:off x="3959352" y="2670048"/>
            <a:ext cx="201168" cy="274320"/>
          </a:xfrm>
          <a:prstGeom prst="chevron">
            <a:avLst/>
          </a:prstGeom>
          <a:solidFill>
            <a:schemeClr val="accent1"/>
          </a:solidFill>
          <a:ln w="12700">
            <a:solidFill>
              <a:schemeClr val="accent1"/>
            </a:solidFill>
            <a:prstDash val="solid"/>
          </a:ln>
        </p:spPr>
      </p:sp>
      <p:sp>
        <p:nvSpPr>
          <p:cNvPr id="12" name="step1 AIで構造化"/>
          <p:cNvSpPr/>
          <p:nvPr/>
        </p:nvSpPr>
        <p:spPr>
          <a:xfrm>
            <a:off x="420624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437083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AIで構造化</a:t>
            </a:r>
            <a:endParaRPr lang="en-US" sz="1400" dirty="0"/>
          </a:p>
        </p:txBody>
      </p:sp>
      <p:sp>
        <p:nvSpPr>
          <p:cNvPr id="14" name="Text 12"/>
          <p:cNvSpPr txBox="1"/>
          <p:nvPr/>
        </p:nvSpPr>
        <p:spPr>
          <a:xfrm>
            <a:off x="437083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業種・地域・売上・営業利益・EBITDA・純資産・希望価格・人員・設備を自動で抽出</a:t>
            </a:r>
            <a:endParaRPr lang="en-US" sz="1050" dirty="0"/>
          </a:p>
        </p:txBody>
      </p:sp>
      <p:sp>
        <p:nvSpPr>
          <p:cNvPr id="15" name="flow arrow"/>
          <p:cNvSpPr/>
          <p:nvPr/>
        </p:nvSpPr>
        <p:spPr>
          <a:xfrm>
            <a:off x="6428232" y="2670048"/>
            <a:ext cx="201168" cy="274320"/>
          </a:xfrm>
          <a:prstGeom prst="chevron">
            <a:avLst/>
          </a:prstGeom>
          <a:solidFill>
            <a:schemeClr val="accent1"/>
          </a:solidFill>
          <a:ln w="12700">
            <a:solidFill>
              <a:schemeClr val="accent1"/>
            </a:solidFill>
            <a:prstDash val="solid"/>
          </a:ln>
        </p:spPr>
      </p:sp>
      <p:sp>
        <p:nvSpPr>
          <p:cNvPr id="16" name="im database"/>
          <p:cNvSpPr/>
          <p:nvPr/>
        </p:nvSpPr>
        <p:spPr>
          <a:xfrm>
            <a:off x="6675120" y="2011680"/>
            <a:ext cx="2176272" cy="1600200"/>
          </a:xfrm>
          <a:prstGeom prst="roundRect">
            <a:avLst>
              <a:gd name="adj" fmla="val 3429"/>
            </a:avLst>
          </a:prstGeom>
          <a:solidFill>
            <a:schemeClr val="tx1"/>
          </a:solidFill>
          <a:ln w="12700">
            <a:solidFill>
              <a:schemeClr val="tx1"/>
            </a:solidFill>
            <a:prstDash val="solid"/>
          </a:ln>
        </p:spPr>
      </p:sp>
      <p:sp>
        <p:nvSpPr>
          <p:cNvPr id="17" name="Text 15"/>
          <p:cNvSpPr txBox="1"/>
          <p:nvPr/>
        </p:nvSpPr>
        <p:spPr>
          <a:xfrm>
            <a:off x="6839712" y="2103120"/>
            <a:ext cx="1874520" cy="365760"/>
          </a:xfrm>
          <a:prstGeom prst="rect">
            <a:avLst/>
          </a:prstGeom>
          <a:noFill/>
          <a:ln/>
        </p:spPr>
        <p:txBody>
          <a:bodyPr wrap="square" lIns="0" tIns="0" rIns="0" bIns="0" rtlCol="0" anchor="t"/>
          <a:lstStyle/>
          <a:p>
            <a:pPr indent="0" marL="0">
              <a:buNone/>
            </a:pPr>
            <a:r>
              <a:rPr lang="en-US" sz="1400" b="1" dirty="0">
                <a:solidFill>
                  <a:schemeClr val="accent4"/>
                </a:solidFill>
              </a:rPr>
              <a:t>IMデータベース</a:t>
            </a:r>
            <a:endParaRPr lang="en-US" sz="1400" dirty="0"/>
          </a:p>
        </p:txBody>
      </p:sp>
      <p:sp>
        <p:nvSpPr>
          <p:cNvPr id="18" name="Text 16"/>
          <p:cNvSpPr txBox="1"/>
          <p:nvPr/>
        </p:nvSpPr>
        <p:spPr>
          <a:xfrm>
            <a:off x="6839712" y="2487168"/>
            <a:ext cx="1874520" cy="548640"/>
          </a:xfrm>
          <a:prstGeom prst="rect">
            <a:avLst/>
          </a:prstGeom>
          <a:noFill/>
          <a:ln/>
        </p:spPr>
        <p:txBody>
          <a:bodyPr wrap="square" lIns="0" tIns="0" rIns="0" bIns="0" rtlCol="0" anchor="t"/>
          <a:lstStyle/>
          <a:p>
            <a:pPr indent="0" marL="0">
              <a:buNone/>
            </a:pPr>
            <a:r>
              <a:rPr lang="en-US" sz="1050" dirty="0">
                <a:solidFill>
                  <a:schemeClr val="accent3"/>
                </a:solidFill>
              </a:rPr>
              <a:t>関東圏（一都三県）×4業種にまず特化</a:t>
            </a:r>
            <a:endParaRPr lang="en-US" sz="1050" dirty="0"/>
          </a:p>
        </p:txBody>
      </p:sp>
      <p:sp>
        <p:nvSpPr>
          <p:cNvPr id="19" name="Shape 17"/>
          <p:cNvSpPr/>
          <p:nvPr/>
        </p:nvSpPr>
        <p:spPr>
          <a:xfrm>
            <a:off x="6839712" y="3154680"/>
            <a:ext cx="438912"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839712"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生産</a:t>
            </a:r>
            <a:endParaRPr lang="en-US" sz="950" dirty="0"/>
          </a:p>
        </p:txBody>
      </p:sp>
      <p:sp>
        <p:nvSpPr>
          <p:cNvPr id="21" name="Shape 19"/>
          <p:cNvSpPr/>
          <p:nvPr/>
        </p:nvSpPr>
        <p:spPr>
          <a:xfrm>
            <a:off x="7315200" y="3154680"/>
            <a:ext cx="438912" cy="274320"/>
          </a:xfrm>
          <a:prstGeom prst="roundRect">
            <a:avLst>
              <a:gd name="adj" fmla="val 50000"/>
            </a:avLst>
          </a:prstGeom>
          <a:solidFill>
            <a:schemeClr val="accent1"/>
          </a:solidFill>
          <a:ln w="12700">
            <a:solidFill>
              <a:schemeClr val="accent1"/>
            </a:solidFill>
            <a:prstDash val="solid"/>
          </a:ln>
        </p:spPr>
      </p:sp>
      <p:sp>
        <p:nvSpPr>
          <p:cNvPr id="22" name="Text 20"/>
          <p:cNvSpPr txBox="1"/>
          <p:nvPr/>
        </p:nvSpPr>
        <p:spPr>
          <a:xfrm>
            <a:off x="7315200"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卸</a:t>
            </a:r>
            <a:endParaRPr lang="en-US" sz="950" dirty="0"/>
          </a:p>
        </p:txBody>
      </p:sp>
      <p:sp>
        <p:nvSpPr>
          <p:cNvPr id="23" name="Shape 21"/>
          <p:cNvSpPr/>
          <p:nvPr/>
        </p:nvSpPr>
        <p:spPr>
          <a:xfrm>
            <a:off x="7790688" y="3154680"/>
            <a:ext cx="438912"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7790688"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飲食</a:t>
            </a:r>
            <a:endParaRPr lang="en-US" sz="950" dirty="0"/>
          </a:p>
        </p:txBody>
      </p:sp>
      <p:sp>
        <p:nvSpPr>
          <p:cNvPr id="25" name="Shape 23"/>
          <p:cNvSpPr/>
          <p:nvPr/>
        </p:nvSpPr>
        <p:spPr>
          <a:xfrm>
            <a:off x="8266176" y="3154680"/>
            <a:ext cx="438912" cy="274320"/>
          </a:xfrm>
          <a:prstGeom prst="roundRect">
            <a:avLst>
              <a:gd name="adj" fmla="val 50000"/>
            </a:avLst>
          </a:prstGeom>
          <a:solidFill>
            <a:schemeClr val="accent1"/>
          </a:solidFill>
          <a:ln w="12700">
            <a:solidFill>
              <a:schemeClr val="accent1"/>
            </a:solidFill>
            <a:prstDash val="solid"/>
          </a:ln>
        </p:spPr>
      </p:sp>
      <p:sp>
        <p:nvSpPr>
          <p:cNvPr id="26" name="Text 24"/>
          <p:cNvSpPr txBox="1"/>
          <p:nvPr/>
        </p:nvSpPr>
        <p:spPr>
          <a:xfrm>
            <a:off x="8266176"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不動産</a:t>
            </a:r>
            <a:endParaRPr lang="en-US" sz="950" dirty="0"/>
          </a:p>
        </p:txBody>
      </p:sp>
      <p:sp>
        <p:nvSpPr>
          <p:cNvPr id="27" name="flow arrow"/>
          <p:cNvSpPr/>
          <p:nvPr/>
        </p:nvSpPr>
        <p:spPr>
          <a:xfrm>
            <a:off x="8897112" y="2670048"/>
            <a:ext cx="201168" cy="274320"/>
          </a:xfrm>
          <a:prstGeom prst="chevron">
            <a:avLst/>
          </a:prstGeom>
          <a:solidFill>
            <a:schemeClr val="accent1"/>
          </a:solidFill>
          <a:ln w="12700">
            <a:solidFill>
              <a:schemeClr val="accent1"/>
            </a:solidFill>
            <a:prstDash val="solid"/>
          </a:ln>
        </p:spPr>
      </p:sp>
      <p:sp>
        <p:nvSpPr>
          <p:cNvPr id="28" name="step1 適正価格の幅"/>
          <p:cNvSpPr/>
          <p:nvPr/>
        </p:nvSpPr>
        <p:spPr>
          <a:xfrm>
            <a:off x="914400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9" name="Text 27"/>
          <p:cNvSpPr txBox="1"/>
          <p:nvPr/>
        </p:nvSpPr>
        <p:spPr>
          <a:xfrm>
            <a:off x="930859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適正価格の幅</a:t>
            </a:r>
            <a:endParaRPr lang="en-US" sz="1400" dirty="0"/>
          </a:p>
        </p:txBody>
      </p:sp>
      <p:sp>
        <p:nvSpPr>
          <p:cNvPr id="30" name="Text 28"/>
          <p:cNvSpPr txBox="1"/>
          <p:nvPr/>
        </p:nvSpPr>
        <p:spPr>
          <a:xfrm>
            <a:off x="930859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業種×規模ごとのEBITDA倍率・純資産倍率で「高い／妥当／安い」を判定</a:t>
            </a:r>
            <a:endParaRPr lang="en-US" sz="1050" dirty="0"/>
          </a:p>
        </p:txBody>
      </p:sp>
      <p:sp>
        <p:nvSpPr>
          <p:cNvPr id="31" name="step label 2"/>
          <p:cNvSpPr/>
          <p:nvPr/>
        </p:nvSpPr>
        <p:spPr>
          <a:xfrm>
            <a:off x="685800" y="3794760"/>
            <a:ext cx="868680" cy="1600200"/>
          </a:xfrm>
          <a:prstGeom prst="roundRect">
            <a:avLst>
              <a:gd name="adj" fmla="val 6316"/>
            </a:avLst>
          </a:prstGeom>
          <a:solidFill>
            <a:schemeClr val="accent1"/>
          </a:solidFill>
          <a:ln w="12700">
            <a:solidFill>
              <a:schemeClr val="accent1"/>
            </a:solidFill>
            <a:prstDash val="solid"/>
          </a:ln>
        </p:spPr>
      </p:sp>
      <p:sp>
        <p:nvSpPr>
          <p:cNvPr id="32" name="Text 30"/>
          <p:cNvSpPr txBox="1"/>
          <p:nvPr/>
        </p:nvSpPr>
        <p:spPr>
          <a:xfrm>
            <a:off x="685800" y="379476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2</a:t>
            </a:r>
            <a:endParaRPr lang="en-US" sz="1300" dirty="0"/>
          </a:p>
          <a:p>
            <a:pPr algn="ctr" indent="0" marL="0">
              <a:buNone/>
            </a:pPr>
            <a:r>
              <a:rPr lang="en-US" sz="1050" b="1" dirty="0">
                <a:solidFill>
                  <a:schemeClr val="bg1"/>
                </a:solidFill>
              </a:rPr>
              <a:t>支援中・後</a:t>
            </a:r>
            <a:endParaRPr lang="en-US" sz="1300" dirty="0"/>
          </a:p>
        </p:txBody>
      </p:sp>
      <p:sp>
        <p:nvSpPr>
          <p:cNvPr id="33" name="input im"/>
          <p:cNvSpPr/>
          <p:nvPr/>
        </p:nvSpPr>
        <p:spPr>
          <a:xfrm>
            <a:off x="1737360" y="379476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4" name="Text 32"/>
          <p:cNvSpPr txBox="1"/>
          <p:nvPr/>
        </p:nvSpPr>
        <p:spPr>
          <a:xfrm>
            <a:off x="1901952" y="379476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検討した全IM</a:t>
            </a:r>
            <a:endParaRPr lang="en-US" sz="1250" dirty="0"/>
          </a:p>
          <a:p>
            <a:pPr indent="0" marL="0">
              <a:buNone/>
            </a:pPr>
            <a:r>
              <a:rPr lang="en-US" sz="1000" dirty="0">
                <a:solidFill>
                  <a:schemeClr val="accent2"/>
                </a:solidFill>
              </a:rPr>
              <a:t>NDA後に受け取った資料をすべて</a:t>
            </a:r>
            <a:endParaRPr lang="en-US" sz="1250" dirty="0"/>
          </a:p>
        </p:txBody>
      </p:sp>
      <p:sp>
        <p:nvSpPr>
          <p:cNvPr id="35" name="input own"/>
          <p:cNvSpPr/>
          <p:nvPr/>
        </p:nvSpPr>
        <p:spPr>
          <a:xfrm>
            <a:off x="1737360" y="466344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6" name="Text 34"/>
          <p:cNvSpPr txBox="1"/>
          <p:nvPr/>
        </p:nvSpPr>
        <p:spPr>
          <a:xfrm>
            <a:off x="1901952" y="466344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自社のBS/PL・強み</a:t>
            </a:r>
            <a:endParaRPr lang="en-US" sz="1250" dirty="0"/>
          </a:p>
          <a:p>
            <a:pPr indent="0" marL="0">
              <a:buNone/>
            </a:pPr>
            <a:r>
              <a:rPr lang="en-US" sz="1000" dirty="0">
                <a:solidFill>
                  <a:schemeClr val="accent2"/>
                </a:solidFill>
              </a:rPr>
              <a:t>顧客基盤・拠点・人材・仕入・技術</a:t>
            </a:r>
            <a:endParaRPr lang="en-US" sz="1250" dirty="0"/>
          </a:p>
        </p:txBody>
      </p:sp>
      <p:sp>
        <p:nvSpPr>
          <p:cNvPr id="37" name="flow arrow"/>
          <p:cNvSpPr/>
          <p:nvPr/>
        </p:nvSpPr>
        <p:spPr>
          <a:xfrm>
            <a:off x="3931920" y="4462272"/>
            <a:ext cx="201168" cy="274320"/>
          </a:xfrm>
          <a:prstGeom prst="chevron">
            <a:avLst/>
          </a:prstGeom>
          <a:solidFill>
            <a:schemeClr val="accent1"/>
          </a:solidFill>
          <a:ln w="12700">
            <a:solidFill>
              <a:schemeClr val="accent1"/>
            </a:solidFill>
            <a:prstDash val="solid"/>
          </a:ln>
        </p:spPr>
      </p:sp>
      <p:sp>
        <p:nvSpPr>
          <p:cNvPr id="38" name="cross analysis"/>
          <p:cNvSpPr/>
          <p:nvPr/>
        </p:nvSpPr>
        <p:spPr>
          <a:xfrm>
            <a:off x="4224528" y="3794760"/>
            <a:ext cx="2514600" cy="1600200"/>
          </a:xfrm>
          <a:prstGeom prst="roundRect">
            <a:avLst>
              <a:gd name="adj" fmla="val 3429"/>
            </a:avLst>
          </a:prstGeom>
          <a:solidFill>
            <a:schemeClr val="accent1"/>
          </a:solidFill>
          <a:ln w="12700">
            <a:solidFill>
              <a:schemeClr val="accent1"/>
            </a:solidFill>
            <a:prstDash val="solid"/>
          </a:ln>
        </p:spPr>
      </p:sp>
      <p:sp>
        <p:nvSpPr>
          <p:cNvPr id="39" name="Text 37"/>
          <p:cNvSpPr txBox="1"/>
          <p:nvPr/>
        </p:nvSpPr>
        <p:spPr>
          <a:xfrm>
            <a:off x="4389120" y="3794760"/>
            <a:ext cx="2194560" cy="1600200"/>
          </a:xfrm>
          <a:prstGeom prst="rect">
            <a:avLst/>
          </a:prstGeom>
          <a:noFill/>
          <a:ln/>
        </p:spPr>
        <p:txBody>
          <a:bodyPr wrap="square" lIns="0" tIns="0" rIns="0" bIns="0" rtlCol="0" anchor="ctr"/>
          <a:lstStyle/>
          <a:p>
            <a:pPr indent="0" marL="0">
              <a:buNone/>
            </a:pPr>
            <a:r>
              <a:rPr lang="en-US" sz="1400" b="1" dirty="0">
                <a:solidFill>
                  <a:schemeClr val="bg1"/>
                </a:solidFill>
              </a:rPr>
              <a:t>AIで掛け合わせ分析</a:t>
            </a:r>
            <a:endParaRPr lang="en-US" sz="1300" dirty="0"/>
          </a:p>
          <a:p>
            <a:pPr indent="0" marL="0">
              <a:buNone/>
            </a:pPr>
            <a:r>
              <a:rPr lang="en-US" sz="500" dirty="0">
                <a:solidFill>
                  <a:schemeClr val="bg1"/>
                </a:solidFill>
              </a:rPr>
              <a:t> </a:t>
            </a:r>
            <a:endParaRPr lang="en-US" sz="1300" dirty="0"/>
          </a:p>
          <a:p>
            <a:pPr indent="0" marL="0">
              <a:buNone/>
            </a:pPr>
            <a:r>
              <a:rPr lang="en-US" sz="1050" dirty="0">
                <a:solidFill>
                  <a:schemeClr val="bg1"/>
                </a:solidFill>
              </a:rPr>
              <a:t>相手のIM×自社の数字と強みを突き合わせ、データベースの相場と比べる</a:t>
            </a:r>
            <a:endParaRPr lang="en-US" sz="1300" dirty="0"/>
          </a:p>
        </p:txBody>
      </p:sp>
      <p:sp>
        <p:nvSpPr>
          <p:cNvPr id="40" name="flow arrow"/>
          <p:cNvSpPr/>
          <p:nvPr/>
        </p:nvSpPr>
        <p:spPr>
          <a:xfrm>
            <a:off x="6830568" y="4462272"/>
            <a:ext cx="201168" cy="274320"/>
          </a:xfrm>
          <a:prstGeom prst="chevron">
            <a:avLst/>
          </a:prstGeom>
          <a:solidFill>
            <a:schemeClr val="accent1"/>
          </a:solidFill>
          <a:ln w="12700">
            <a:solidFill>
              <a:schemeClr val="accent1"/>
            </a:solidFill>
            <a:prstDash val="solid"/>
          </a:ln>
        </p:spPr>
      </p:sp>
      <p:sp>
        <p:nvSpPr>
          <p:cNvPr id="41" name="outputs"/>
          <p:cNvSpPr/>
          <p:nvPr/>
        </p:nvSpPr>
        <p:spPr>
          <a:xfrm>
            <a:off x="7132320" y="3794760"/>
            <a:ext cx="437083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315200" y="3858768"/>
            <a:ext cx="1828800" cy="292608"/>
          </a:xfrm>
          <a:prstGeom prst="rect">
            <a:avLst/>
          </a:prstGeom>
          <a:noFill/>
          <a:ln/>
        </p:spPr>
        <p:txBody>
          <a:bodyPr wrap="square" lIns="0" tIns="0" rIns="0" bIns="0" rtlCol="0" anchor="t"/>
          <a:lstStyle/>
          <a:p>
            <a:pPr indent="0" marL="0">
              <a:buNone/>
            </a:pPr>
            <a:r>
              <a:rPr lang="en-US" sz="1100" b="1" dirty="0">
                <a:solidFill>
                  <a:schemeClr val="accent1"/>
                </a:solidFill>
              </a:rPr>
              <a:t>アウトプット</a:t>
            </a:r>
            <a:endParaRPr lang="en-US" sz="1100" dirty="0"/>
          </a:p>
        </p:txBody>
      </p:sp>
      <p:sp>
        <p:nvSpPr>
          <p:cNvPr id="43" name="out 1"/>
          <p:cNvSpPr/>
          <p:nvPr/>
        </p:nvSpPr>
        <p:spPr>
          <a:xfrm>
            <a:off x="7315200" y="4206240"/>
            <a:ext cx="1947672" cy="457200"/>
          </a:xfrm>
          <a:prstGeom prst="roundRect">
            <a:avLst>
              <a:gd name="adj" fmla="val 10000"/>
            </a:avLst>
          </a:prstGeom>
          <a:solidFill>
            <a:schemeClr val="bg1"/>
          </a:solidFill>
          <a:ln w="12700">
            <a:solidFill>
              <a:schemeClr val="accent3"/>
            </a:solidFill>
            <a:prstDash val="solid"/>
          </a:ln>
        </p:spPr>
      </p:sp>
      <p:sp>
        <p:nvSpPr>
          <p:cNvPr id="44" name="Text 42"/>
          <p:cNvSpPr txBox="1"/>
          <p:nvPr/>
        </p:nvSpPr>
        <p:spPr>
          <a:xfrm>
            <a:off x="73152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適正価格と交渉の上限</a:t>
            </a:r>
            <a:endParaRPr lang="en-US" sz="1000" dirty="0"/>
          </a:p>
        </p:txBody>
      </p:sp>
      <p:sp>
        <p:nvSpPr>
          <p:cNvPr id="45" name="out 2"/>
          <p:cNvSpPr/>
          <p:nvPr/>
        </p:nvSpPr>
        <p:spPr>
          <a:xfrm>
            <a:off x="9372600" y="4206240"/>
            <a:ext cx="1947672" cy="457200"/>
          </a:xfrm>
          <a:prstGeom prst="roundRect">
            <a:avLst>
              <a:gd name="adj" fmla="val 10000"/>
            </a:avLst>
          </a:prstGeom>
          <a:solidFill>
            <a:schemeClr val="bg1"/>
          </a:solidFill>
          <a:ln w="12700">
            <a:solidFill>
              <a:schemeClr val="accent3"/>
            </a:solidFill>
            <a:prstDash val="solid"/>
          </a:ln>
        </p:spPr>
      </p:sp>
      <p:sp>
        <p:nvSpPr>
          <p:cNvPr id="46" name="Text 44"/>
          <p:cNvSpPr txBox="1"/>
          <p:nvPr/>
        </p:nvSpPr>
        <p:spPr>
          <a:xfrm>
            <a:off x="93726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シナジー試算（売上・コスト）</a:t>
            </a:r>
            <a:endParaRPr lang="en-US" sz="1000" dirty="0"/>
          </a:p>
        </p:txBody>
      </p:sp>
      <p:sp>
        <p:nvSpPr>
          <p:cNvPr id="47" name="out 3"/>
          <p:cNvSpPr/>
          <p:nvPr/>
        </p:nvSpPr>
        <p:spPr>
          <a:xfrm>
            <a:off x="7315200" y="4754880"/>
            <a:ext cx="1947672" cy="457200"/>
          </a:xfrm>
          <a:prstGeom prst="roundRect">
            <a:avLst>
              <a:gd name="adj" fmla="val 10000"/>
            </a:avLst>
          </a:prstGeom>
          <a:solidFill>
            <a:schemeClr val="bg1"/>
          </a:solidFill>
          <a:ln w="12700">
            <a:solidFill>
              <a:schemeClr val="accent3"/>
            </a:solidFill>
            <a:prstDash val="solid"/>
          </a:ln>
        </p:spPr>
      </p:sp>
      <p:sp>
        <p:nvSpPr>
          <p:cNvPr id="48" name="Text 46"/>
          <p:cNvSpPr txBox="1"/>
          <p:nvPr/>
        </p:nvSpPr>
        <p:spPr>
          <a:xfrm>
            <a:off x="73152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借入余力と資金計画</a:t>
            </a:r>
            <a:endParaRPr lang="en-US" sz="1000" dirty="0"/>
          </a:p>
        </p:txBody>
      </p:sp>
      <p:sp>
        <p:nvSpPr>
          <p:cNvPr id="49" name="out 4"/>
          <p:cNvSpPr/>
          <p:nvPr/>
        </p:nvSpPr>
        <p:spPr>
          <a:xfrm>
            <a:off x="9372600" y="4754880"/>
            <a:ext cx="1947672" cy="457200"/>
          </a:xfrm>
          <a:prstGeom prst="roundRect">
            <a:avLst>
              <a:gd name="adj" fmla="val 10000"/>
            </a:avLst>
          </a:prstGeom>
          <a:solidFill>
            <a:schemeClr val="bg1"/>
          </a:solidFill>
          <a:ln w="12700">
            <a:solidFill>
              <a:schemeClr val="accent3"/>
            </a:solidFill>
            <a:prstDash val="solid"/>
          </a:ln>
        </p:spPr>
      </p:sp>
      <p:sp>
        <p:nvSpPr>
          <p:cNvPr id="50" name="Text 48"/>
          <p:cNvSpPr txBox="1"/>
          <p:nvPr/>
        </p:nvSpPr>
        <p:spPr>
          <a:xfrm>
            <a:off x="93726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レッドフラグとPMIの論点</a:t>
            </a:r>
            <a:endParaRPr lang="en-US" sz="1000" dirty="0"/>
          </a:p>
        </p:txBody>
      </p:sp>
      <p:sp>
        <p:nvSpPr>
          <p:cNvPr id="51" name="Shape 49"/>
          <p:cNvSpPr/>
          <p:nvPr/>
        </p:nvSpPr>
        <p:spPr>
          <a:xfrm>
            <a:off x="9326880" y="3657600"/>
            <a:ext cx="2057400" cy="274320"/>
          </a:xfrm>
          <a:prstGeom prst="roundRect">
            <a:avLst>
              <a:gd name="adj" fmla="val 50000"/>
            </a:avLst>
          </a:prstGeom>
          <a:solidFill>
            <a:schemeClr val="accent3"/>
          </a:solidFill>
          <a:ln w="12700">
            <a:solidFill>
              <a:schemeClr val="accent3"/>
            </a:solidFill>
            <a:prstDash val="solid"/>
          </a:ln>
        </p:spPr>
      </p:sp>
      <p:sp>
        <p:nvSpPr>
          <p:cNvPr id="52" name="Text 50"/>
          <p:cNvSpPr txBox="1"/>
          <p:nvPr/>
        </p:nvSpPr>
        <p:spPr>
          <a:xfrm>
            <a:off x="9326880" y="3657600"/>
            <a:ext cx="2057400" cy="274320"/>
          </a:xfrm>
          <a:prstGeom prst="rect">
            <a:avLst/>
          </a:prstGeom>
          <a:noFill/>
          <a:ln/>
        </p:spPr>
        <p:txBody>
          <a:bodyPr wrap="square" lIns="0" tIns="0" rIns="0" bIns="0" rtlCol="0" anchor="ctr"/>
          <a:lstStyle/>
          <a:p>
            <a:pPr algn="ctr" indent="0" marL="0">
              <a:buNone/>
            </a:pPr>
            <a:r>
              <a:rPr lang="en-US" sz="950" b="1" dirty="0">
                <a:solidFill>
                  <a:schemeClr val="tx1"/>
                </a:solidFill>
              </a:rPr>
              <a:t>↑ 匿名化してDBへ還元</a:t>
            </a:r>
            <a:endParaRPr lang="en-US" sz="950" dirty="0"/>
          </a:p>
        </p:txBody>
      </p:sp>
      <p:sp>
        <p:nvSpPr>
          <p:cNvPr id="53" name="Text 51"/>
          <p:cNvSpPr txBox="1"/>
          <p:nvPr/>
        </p:nvSpPr>
        <p:spPr>
          <a:xfrm>
            <a:off x="685800" y="562356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使うほど相場の精度が上がる。守秘義務：IMはNDAの範囲内でのみ利用し、DB化は開示元の同意を得た項目を社名が分からない形に加工して行う</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POSITIONING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仲介でもマッチングサイトでもない、第三の選択肢</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「買い手の味方」として「成功まで伴走する」のは、ここだけ</a:t>
            </a:r>
            <a:endParaRPr lang="en-US" sz="1350" dirty="0"/>
          </a:p>
        </p:txBody>
      </p:sp>
      <p:sp>
        <p:nvSpPr>
          <p:cNvPr id="6" name="map bg"/>
          <p:cNvSpPr/>
          <p:nvPr/>
        </p:nvSpPr>
        <p:spPr>
          <a:xfrm>
            <a:off x="685800" y="2103120"/>
            <a:ext cx="5394960" cy="3429000"/>
          </a:xfrm>
          <a:prstGeom prst="rect">
            <a:avLst/>
          </a:prstGeom>
          <a:solidFill>
            <a:schemeClr val="bg2"/>
          </a:solidFill>
          <a:ln w="12700">
            <a:solidFill>
              <a:schemeClr val="accent3"/>
            </a:solidFill>
            <a:prstDash val="solid"/>
          </a:ln>
        </p:spPr>
      </p:sp>
      <p:sp>
        <p:nvSpPr>
          <p:cNvPr id="7" name="Shape 5"/>
          <p:cNvSpPr/>
          <p:nvPr/>
        </p:nvSpPr>
        <p:spPr>
          <a:xfrm>
            <a:off x="685800" y="3817620"/>
            <a:ext cx="5394960" cy="0"/>
          </a:xfrm>
          <a:prstGeom prst="line">
            <a:avLst/>
          </a:prstGeom>
          <a:noFill/>
          <a:ln w="9525">
            <a:solidFill>
              <a:srgbClr val="9A8F84"/>
            </a:solidFill>
            <a:prstDash val="dash"/>
          </a:ln>
        </p:spPr>
      </p:sp>
      <p:sp>
        <p:nvSpPr>
          <p:cNvPr id="8" name="Shape 6"/>
          <p:cNvSpPr/>
          <p:nvPr/>
        </p:nvSpPr>
        <p:spPr>
          <a:xfrm>
            <a:off x="3383280" y="2103120"/>
            <a:ext cx="0" cy="3429000"/>
          </a:xfrm>
          <a:prstGeom prst="line">
            <a:avLst/>
          </a:prstGeom>
          <a:noFill/>
          <a:ln w="9525">
            <a:solidFill>
              <a:srgbClr val="9A8F84"/>
            </a:solidFill>
            <a:prstDash val="dash"/>
          </a:ln>
        </p:spPr>
      </p:sp>
      <p:sp>
        <p:nvSpPr>
          <p:cNvPr id="9" name="Text 7"/>
          <p:cNvSpPr txBox="1"/>
          <p:nvPr/>
        </p:nvSpPr>
        <p:spPr>
          <a:xfrm>
            <a:off x="777240" y="2176272"/>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買い手の味方</a:t>
            </a:r>
            <a:endParaRPr lang="en-US" sz="950" dirty="0"/>
          </a:p>
        </p:txBody>
      </p:sp>
      <p:sp>
        <p:nvSpPr>
          <p:cNvPr id="10" name="Text 8"/>
          <p:cNvSpPr txBox="1"/>
          <p:nvPr/>
        </p:nvSpPr>
        <p:spPr>
          <a:xfrm>
            <a:off x="777240" y="5184648"/>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中立・両手</a:t>
            </a:r>
            <a:endParaRPr lang="en-US" sz="950" dirty="0"/>
          </a:p>
        </p:txBody>
      </p:sp>
      <p:sp>
        <p:nvSpPr>
          <p:cNvPr id="11" name="Text 9"/>
          <p:cNvSpPr txBox="1"/>
          <p:nvPr/>
        </p:nvSpPr>
        <p:spPr>
          <a:xfrm>
            <a:off x="777240" y="3863340"/>
            <a:ext cx="1828800" cy="274320"/>
          </a:xfrm>
          <a:prstGeom prst="rect">
            <a:avLst/>
          </a:prstGeom>
          <a:noFill/>
          <a:ln/>
        </p:spPr>
        <p:txBody>
          <a:bodyPr wrap="square" lIns="0" tIns="0" rIns="0" bIns="0" rtlCol="0" anchor="t"/>
          <a:lstStyle/>
          <a:p>
            <a:pPr indent="0" marL="0">
              <a:buNone/>
            </a:pPr>
            <a:r>
              <a:rPr lang="en-US" sz="950" dirty="0">
                <a:solidFill>
                  <a:schemeClr val="accent2"/>
                </a:solidFill>
              </a:rPr>
              <a:t>情報を渡すだけ</a:t>
            </a:r>
            <a:endParaRPr lang="en-US" sz="950" dirty="0"/>
          </a:p>
        </p:txBody>
      </p:sp>
      <p:sp>
        <p:nvSpPr>
          <p:cNvPr id="12" name="Text 10"/>
          <p:cNvSpPr txBox="1"/>
          <p:nvPr/>
        </p:nvSpPr>
        <p:spPr>
          <a:xfrm>
            <a:off x="4160520" y="3863340"/>
            <a:ext cx="1828800" cy="274320"/>
          </a:xfrm>
          <a:prstGeom prst="rect">
            <a:avLst/>
          </a:prstGeom>
          <a:noFill/>
          <a:ln/>
        </p:spPr>
        <p:txBody>
          <a:bodyPr wrap="square" lIns="0" tIns="0" rIns="0" bIns="0" rtlCol="0" anchor="t"/>
          <a:lstStyle/>
          <a:p>
            <a:pPr algn="r" indent="0" marL="0">
              <a:buNone/>
            </a:pPr>
            <a:r>
              <a:rPr lang="en-US" sz="950" dirty="0">
                <a:solidFill>
                  <a:schemeClr val="accent2"/>
                </a:solidFill>
              </a:rPr>
              <a:t>成功まで伴走</a:t>
            </a:r>
            <a:endParaRPr lang="en-US" sz="950" dirty="0"/>
          </a:p>
        </p:txBody>
      </p:sp>
      <p:sp>
        <p:nvSpPr>
          <p:cNvPr id="13" name="pos マッチング サイト"/>
          <p:cNvSpPr/>
          <p:nvPr/>
        </p:nvSpPr>
        <p:spPr>
          <a:xfrm>
            <a:off x="1188720" y="4160520"/>
            <a:ext cx="1097280" cy="1097280"/>
          </a:xfrm>
          <a:prstGeom prst="ellipse">
            <a:avLst/>
          </a:prstGeom>
          <a:solidFill>
            <a:srgbClr val="E6DCCB"/>
          </a:solidFill>
          <a:ln w="12700">
            <a:solidFill>
              <a:srgbClr val="E6DCCB"/>
            </a:solidFill>
            <a:prstDash val="solid"/>
          </a:ln>
        </p:spPr>
      </p:sp>
      <p:sp>
        <p:nvSpPr>
          <p:cNvPr id="14" name="Text 12"/>
          <p:cNvSpPr txBox="1"/>
          <p:nvPr/>
        </p:nvSpPr>
        <p:spPr>
          <a:xfrm>
            <a:off x="1188720" y="4160520"/>
            <a:ext cx="1097280" cy="1097280"/>
          </a:xfrm>
          <a:prstGeom prst="rect">
            <a:avLst/>
          </a:prstGeom>
          <a:noFill/>
          <a:ln/>
        </p:spPr>
        <p:txBody>
          <a:bodyPr wrap="square" lIns="0" tIns="0" rIns="0" bIns="0" rtlCol="0" anchor="ctr"/>
          <a:lstStyle/>
          <a:p>
            <a:pPr algn="ctr" indent="0" marL="0">
              <a:buNone/>
            </a:pPr>
            <a:r>
              <a:rPr lang="en-US" sz="1050" b="1" dirty="0">
                <a:solidFill>
                  <a:schemeClr val="tx1"/>
                </a:solidFill>
              </a:rPr>
              <a:t>マッチング</a:t>
            </a:r>
            <a:endParaRPr lang="en-US" sz="1050" dirty="0"/>
          </a:p>
          <a:p>
            <a:pPr algn="ctr" indent="0" marL="0">
              <a:buNone/>
            </a:pPr>
            <a:r>
              <a:rPr lang="en-US" sz="1050" b="1" dirty="0">
                <a:solidFill>
                  <a:schemeClr val="tx1"/>
                </a:solidFill>
              </a:rPr>
              <a:t>サイト</a:t>
            </a:r>
            <a:endParaRPr lang="en-US" sz="1050" dirty="0"/>
          </a:p>
        </p:txBody>
      </p:sp>
      <p:sp>
        <p:nvSpPr>
          <p:cNvPr id="15" name="pos 大手仲介"/>
          <p:cNvSpPr/>
          <p:nvPr/>
        </p:nvSpPr>
        <p:spPr>
          <a:xfrm>
            <a:off x="3611880" y="4069080"/>
            <a:ext cx="1188720" cy="1188720"/>
          </a:xfrm>
          <a:prstGeom prst="ellipse">
            <a:avLst/>
          </a:prstGeom>
          <a:solidFill>
            <a:srgbClr val="9A8F84"/>
          </a:solidFill>
          <a:ln w="12700">
            <a:solidFill>
              <a:srgbClr val="9A8F84"/>
            </a:solidFill>
            <a:prstDash val="solid"/>
          </a:ln>
        </p:spPr>
      </p:sp>
      <p:sp>
        <p:nvSpPr>
          <p:cNvPr id="16" name="Text 14"/>
          <p:cNvSpPr txBox="1"/>
          <p:nvPr/>
        </p:nvSpPr>
        <p:spPr>
          <a:xfrm>
            <a:off x="3611880" y="4069080"/>
            <a:ext cx="1188720" cy="1188720"/>
          </a:xfrm>
          <a:prstGeom prst="rect">
            <a:avLst/>
          </a:prstGeom>
          <a:noFill/>
          <a:ln/>
        </p:spPr>
        <p:txBody>
          <a:bodyPr wrap="square" lIns="0" tIns="0" rIns="0" bIns="0" rtlCol="0" anchor="ctr"/>
          <a:lstStyle/>
          <a:p>
            <a:pPr algn="ctr" indent="0" marL="0">
              <a:buNone/>
            </a:pPr>
            <a:r>
              <a:rPr lang="en-US" sz="1050" b="1" dirty="0">
                <a:solidFill>
                  <a:schemeClr val="bg1"/>
                </a:solidFill>
              </a:rPr>
              <a:t>大手仲介</a:t>
            </a:r>
            <a:endParaRPr lang="en-US" sz="1050" dirty="0"/>
          </a:p>
        </p:txBody>
      </p:sp>
      <p:sp>
        <p:nvSpPr>
          <p:cNvPr id="17" name="pos 買い手 FA"/>
          <p:cNvSpPr/>
          <p:nvPr/>
        </p:nvSpPr>
        <p:spPr>
          <a:xfrm>
            <a:off x="3383280" y="2606040"/>
            <a:ext cx="914400" cy="914400"/>
          </a:xfrm>
          <a:prstGeom prst="ellipse">
            <a:avLst/>
          </a:prstGeom>
          <a:solidFill>
            <a:srgbClr val="E6DCCB"/>
          </a:solidFill>
          <a:ln w="12700">
            <a:solidFill>
              <a:srgbClr val="E6DCCB"/>
            </a:solidFill>
            <a:prstDash val="solid"/>
          </a:ln>
        </p:spPr>
      </p:sp>
      <p:sp>
        <p:nvSpPr>
          <p:cNvPr id="18" name="Text 16"/>
          <p:cNvSpPr txBox="1"/>
          <p:nvPr/>
        </p:nvSpPr>
        <p:spPr>
          <a:xfrm>
            <a:off x="3383280" y="2606040"/>
            <a:ext cx="914400" cy="914400"/>
          </a:xfrm>
          <a:prstGeom prst="rect">
            <a:avLst/>
          </a:prstGeom>
          <a:noFill/>
          <a:ln/>
        </p:spPr>
        <p:txBody>
          <a:bodyPr wrap="square" lIns="0" tIns="0" rIns="0" bIns="0" rtlCol="0" anchor="ctr"/>
          <a:lstStyle/>
          <a:p>
            <a:pPr algn="ctr" indent="0" marL="0">
              <a:buNone/>
            </a:pPr>
            <a:r>
              <a:rPr lang="en-US" sz="1050" b="1" dirty="0">
                <a:solidFill>
                  <a:schemeClr val="tx1"/>
                </a:solidFill>
              </a:rPr>
              <a:t>買い手</a:t>
            </a:r>
            <a:endParaRPr lang="en-US" sz="1050" dirty="0"/>
          </a:p>
          <a:p>
            <a:pPr algn="ctr" indent="0" marL="0">
              <a:buNone/>
            </a:pPr>
            <a:r>
              <a:rPr lang="en-US" sz="1050" b="1" dirty="0">
                <a:solidFill>
                  <a:schemeClr val="tx1"/>
                </a:solidFill>
              </a:rPr>
              <a:t>FA</a:t>
            </a:r>
            <a:endParaRPr lang="en-US" sz="1050" dirty="0"/>
          </a:p>
        </p:txBody>
      </p:sp>
      <p:sp>
        <p:nvSpPr>
          <p:cNvPr id="19" name="pos 当社"/>
          <p:cNvSpPr/>
          <p:nvPr/>
        </p:nvSpPr>
        <p:spPr>
          <a:xfrm>
            <a:off x="4526280" y="2377440"/>
            <a:ext cx="1325880" cy="1325880"/>
          </a:xfrm>
          <a:prstGeom prst="ellipse">
            <a:avLst/>
          </a:prstGeom>
          <a:solidFill>
            <a:srgbClr val="A78450"/>
          </a:solidFill>
          <a:ln w="12700">
            <a:solidFill>
              <a:srgbClr val="A78450"/>
            </a:solidFill>
            <a:prstDash val="solid"/>
          </a:ln>
        </p:spPr>
      </p:sp>
      <p:sp>
        <p:nvSpPr>
          <p:cNvPr id="20" name="Text 18"/>
          <p:cNvSpPr txBox="1"/>
          <p:nvPr/>
        </p:nvSpPr>
        <p:spPr>
          <a:xfrm>
            <a:off x="4526280" y="2377440"/>
            <a:ext cx="1325880" cy="1325880"/>
          </a:xfrm>
          <a:prstGeom prst="rect">
            <a:avLst/>
          </a:prstGeom>
          <a:noFill/>
          <a:ln/>
        </p:spPr>
        <p:txBody>
          <a:bodyPr wrap="square" lIns="0" tIns="0" rIns="0" bIns="0" rtlCol="0" anchor="ctr"/>
          <a:lstStyle/>
          <a:p>
            <a:pPr algn="ctr" indent="0" marL="0">
              <a:buNone/>
            </a:pPr>
            <a:r>
              <a:rPr lang="en-US" sz="1050" b="1" dirty="0">
                <a:solidFill>
                  <a:schemeClr val="bg1"/>
                </a:solidFill>
              </a:rPr>
              <a:t>当社</a:t>
            </a:r>
            <a:endParaRPr lang="en-US" sz="1050" dirty="0"/>
          </a:p>
        </p:txBody>
      </p:sp>
      <p:graphicFrame>
        <p:nvGraphicFramePr>
          <p:cNvPr id="10" name="comparison"/>
          <p:cNvGraphicFramePr>
            <a:graphicFrameLocks noGrp="1"/>
          </p:cNvGraphicFramePr>
          <p:nvPr>
            <p:extLst>
              <p:ext uri="{D42A27DB-BD31-4B8C-83A1-F6EECF244321}">
                <p14:modId xmlns:p14="http://schemas.microsoft.com/office/powerpoint/2010/main" val="1579011935"/>
              </p:ext>
            </p:extLst>
          </p:nvPr>
        </p:nvGraphicFramePr>
        <p:xfrm>
          <a:off x="6355080" y="2103120"/>
          <a:ext cx="5148072" cy="914400"/>
        </p:xfrm>
        <a:graphic>
          <a:graphicData uri="http://schemas.openxmlformats.org/drawingml/2006/table">
            <a:tbl>
              <a:tblPr/>
              <a:tblGrid>
                <a:gridCol w="1234440"/>
                <a:gridCol w="1234440"/>
                <a:gridCol w="1234440"/>
                <a:gridCol w="1444752"/>
              </a:tblGrid>
              <a:tr h="566928">
                <a:tc>
                  <a:txBody>
                    <a:bodyPr/>
                    <a:lstStyle/>
                    <a:p>
                      <a:pPr algn="ctr" indent="0" marL="0">
                        <a:buNone/>
                      </a:pP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大手仲介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マッチング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当社</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accent1"/>
                    </a:solidFill>
                  </a:tcPr>
                </a:tc>
              </a:tr>
              <a:tr h="566928">
                <a:tc>
                  <a:txBody>
                    <a:bodyPr/>
                    <a:lstStyle/>
                    <a:p>
                      <a:pPr indent="0" marL="0">
                        <a:buNone/>
                      </a:pPr>
                      <a:r>
                        <a:rPr lang="en-US" sz="1100" b="1" dirty="0">
                          <a:solidFill>
                            <a:schemeClr val="tx1"/>
                          </a:solidFill>
                        </a:rPr>
                        <a:t>立場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両手が中心</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中立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買い手専任</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費用</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数千万〜億</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無料〜数%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月50万＋成功報酬</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判断の支援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AI＋5原則</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買った後</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PMIまで</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人が育つ</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担当者を育成</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 担当者が育つので、2件目以降は自社で買えるようになる。それでも続けたいと思われる伴走をする</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TARGET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お客様：M&amp;A担当を育てたい会社</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単価の低い個人の買い手は狙わず、継続して買う法人に絞る</a:t>
            </a:r>
            <a:endParaRPr lang="en-US" sz="1350" dirty="0"/>
          </a:p>
        </p:txBody>
      </p:sp>
      <p:sp>
        <p:nvSpPr>
          <p:cNvPr id="6" name="persona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658368" cy="658368"/>
          </a:xfrm>
          <a:prstGeom prst="ellipse">
            <a:avLst/>
          </a:prstGeom>
          <a:solidFill>
            <a:schemeClr val="tx1"/>
          </a:solidFill>
          <a:ln w="12700">
            <a:solidFill>
              <a:schemeClr val="tx1"/>
            </a:solidFill>
            <a:prstDash val="solid"/>
          </a:ln>
        </p:spPr>
      </p:sp>
      <p:sp>
        <p:nvSpPr>
          <p:cNvPr id="8" name="Text 6"/>
          <p:cNvSpPr txBox="1"/>
          <p:nvPr/>
        </p:nvSpPr>
        <p:spPr>
          <a:xfrm>
            <a:off x="960120"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9" name="Image 0" descr="preencoded.png">    </p:cNvPr>
          <p:cNvPicPr>
            <a:picLocks noChangeAspect="1"/>
          </p:cNvPicPr>
          <p:nvPr/>
        </p:nvPicPr>
        <p:blipFill>
          <a:blip r:embed="rId1"/>
          <a:stretch>
            <a:fillRect/>
          </a:stretch>
        </p:blipFill>
        <p:spPr>
          <a:xfrm>
            <a:off x="1124712" y="2496312"/>
            <a:ext cx="329184" cy="329184"/>
          </a:xfrm>
          <a:prstGeom prst="rect">
            <a:avLst/>
          </a:prstGeom>
        </p:spPr>
      </p:pic>
      <p:sp>
        <p:nvSpPr>
          <p:cNvPr id="10" name="Shape 7"/>
          <p:cNvSpPr/>
          <p:nvPr/>
        </p:nvSpPr>
        <p:spPr>
          <a:xfrm>
            <a:off x="2926080" y="2514600"/>
            <a:ext cx="960120" cy="274320"/>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2926080" y="2514600"/>
            <a:ext cx="960120" cy="274320"/>
          </a:xfrm>
          <a:prstGeom prst="rect">
            <a:avLst/>
          </a:prstGeom>
          <a:noFill/>
          <a:ln/>
        </p:spPr>
        <p:txBody>
          <a:bodyPr wrap="square" lIns="0" tIns="0" rIns="0" bIns="0" rtlCol="0" anchor="ctr"/>
          <a:lstStyle/>
          <a:p>
            <a:pPr algn="ctr" indent="0" marL="0">
              <a:buNone/>
            </a:pPr>
            <a:r>
              <a:rPr lang="en-US" sz="950" b="1" dirty="0">
                <a:solidFill>
                  <a:schemeClr val="bg1"/>
                </a:solidFill>
              </a:rPr>
              <a:t>最優先</a:t>
            </a:r>
            <a:endParaRPr lang="en-US" sz="950" dirty="0"/>
          </a:p>
        </p:txBody>
      </p:sp>
      <p:sp>
        <p:nvSpPr>
          <p:cNvPr id="12" name="Text 9"/>
          <p:cNvSpPr txBox="1"/>
          <p:nvPr/>
        </p:nvSpPr>
        <p:spPr>
          <a:xfrm>
            <a:off x="960120"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M&amp;A担当がいない・育てたい中堅中小企業</a:t>
            </a:r>
            <a:endParaRPr lang="en-US" sz="1450" dirty="0"/>
          </a:p>
        </p:txBody>
      </p:sp>
      <p:sp>
        <p:nvSpPr>
          <p:cNvPr id="13" name="Text 10"/>
          <p:cNvSpPr txBox="1"/>
          <p:nvPr/>
        </p:nvSpPr>
        <p:spPr>
          <a:xfrm>
            <a:off x="960120"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年商10〜100億円／M&amp;Aで成長したい</a:t>
            </a:r>
            <a:endParaRPr lang="en-US" sz="1050" dirty="0"/>
          </a:p>
        </p:txBody>
      </p:sp>
      <p:sp>
        <p:nvSpPr>
          <p:cNvPr id="14" name="Text 11"/>
          <p:cNvSpPr txBox="1"/>
          <p:nvPr/>
        </p:nvSpPr>
        <p:spPr>
          <a:xfrm>
            <a:off x="960120"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案件の良し悪しを判断できない。仲介の言い値で買う</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社内にM&amp;A部門をつくる代わりに</a:t>
            </a:r>
            <a:endParaRPr lang="en-US" sz="1200" dirty="0"/>
          </a:p>
        </p:txBody>
      </p:sp>
      <p:sp>
        <p:nvSpPr>
          <p:cNvPr id="15" name="persona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6" name="Shape 13"/>
          <p:cNvSpPr/>
          <p:nvPr/>
        </p:nvSpPr>
        <p:spPr>
          <a:xfrm>
            <a:off x="4645152" y="2331720"/>
            <a:ext cx="658368" cy="658368"/>
          </a:xfrm>
          <a:prstGeom prst="ellipse">
            <a:avLst/>
          </a:prstGeom>
          <a:solidFill>
            <a:schemeClr val="tx1"/>
          </a:solidFill>
          <a:ln w="12700">
            <a:solidFill>
              <a:schemeClr val="tx1"/>
            </a:solidFill>
            <a:prstDash val="solid"/>
          </a:ln>
        </p:spPr>
      </p:sp>
      <p:sp>
        <p:nvSpPr>
          <p:cNvPr id="17" name="Text 14"/>
          <p:cNvSpPr txBox="1"/>
          <p:nvPr/>
        </p:nvSpPr>
        <p:spPr>
          <a:xfrm>
            <a:off x="4645152"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18" name="Image 1" descr="preencoded.png">    </p:cNvPr>
          <p:cNvPicPr>
            <a:picLocks noChangeAspect="1"/>
          </p:cNvPicPr>
          <p:nvPr/>
        </p:nvPicPr>
        <p:blipFill>
          <a:blip r:embed="rId2"/>
          <a:stretch>
            <a:fillRect/>
          </a:stretch>
        </p:blipFill>
        <p:spPr>
          <a:xfrm>
            <a:off x="4809744" y="2496312"/>
            <a:ext cx="329184" cy="329184"/>
          </a:xfrm>
          <a:prstGeom prst="rect">
            <a:avLst/>
          </a:prstGeom>
        </p:spPr>
      </p:pic>
      <p:sp>
        <p:nvSpPr>
          <p:cNvPr id="19" name="Shape 15"/>
          <p:cNvSpPr/>
          <p:nvPr/>
        </p:nvSpPr>
        <p:spPr>
          <a:xfrm>
            <a:off x="6611112" y="2514600"/>
            <a:ext cx="960120" cy="274320"/>
          </a:xfrm>
          <a:prstGeom prst="roundRect">
            <a:avLst>
              <a:gd name="adj" fmla="val 50000"/>
            </a:avLst>
          </a:prstGeom>
          <a:solidFill>
            <a:schemeClr val="bg1"/>
          </a:solidFill>
          <a:ln w="12700">
            <a:solidFill>
              <a:schemeClr val="accent1"/>
            </a:solidFill>
            <a:prstDash val="solid"/>
          </a:ln>
        </p:spPr>
      </p:sp>
      <p:sp>
        <p:nvSpPr>
          <p:cNvPr id="20" name="Text 16"/>
          <p:cNvSpPr txBox="1"/>
          <p:nvPr/>
        </p:nvSpPr>
        <p:spPr>
          <a:xfrm>
            <a:off x="6611112"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高</a:t>
            </a:r>
            <a:endParaRPr lang="en-US" sz="950" dirty="0"/>
          </a:p>
        </p:txBody>
      </p:sp>
      <p:sp>
        <p:nvSpPr>
          <p:cNvPr id="21" name="Text 17"/>
          <p:cNvSpPr txBox="1"/>
          <p:nvPr/>
        </p:nvSpPr>
        <p:spPr>
          <a:xfrm>
            <a:off x="4645152"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PE・サーチファンド・承継ファンド</a:t>
            </a:r>
            <a:endParaRPr lang="en-US" sz="1450" dirty="0"/>
          </a:p>
        </p:txBody>
      </p:sp>
      <p:sp>
        <p:nvSpPr>
          <p:cNvPr id="22" name="Text 18"/>
          <p:cNvSpPr txBox="1"/>
          <p:nvPr/>
        </p:nvSpPr>
        <p:spPr>
          <a:xfrm>
            <a:off x="4645152"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年に複数件を検討・投資</a:t>
            </a:r>
            <a:endParaRPr lang="en-US" sz="1050" dirty="0"/>
          </a:p>
        </p:txBody>
      </p:sp>
      <p:sp>
        <p:nvSpPr>
          <p:cNvPr id="23" name="Text 19"/>
          <p:cNvSpPr txBox="1"/>
          <p:nvPr/>
        </p:nvSpPr>
        <p:spPr>
          <a:xfrm>
            <a:off x="4645152"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ソーシングの効率が悪い。スクリーニングに手間がかかる</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アナリストの手間の代わりに</a:t>
            </a:r>
            <a:endParaRPr lang="en-US" sz="1200" dirty="0"/>
          </a:p>
        </p:txBody>
      </p:sp>
      <p:sp>
        <p:nvSpPr>
          <p:cNvPr id="24" name="persona 3"/>
          <p:cNvSpPr/>
          <p:nvPr/>
        </p:nvSpPr>
        <p:spPr>
          <a:xfrm>
            <a:off x="8055864"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5" name="Shape 21"/>
          <p:cNvSpPr/>
          <p:nvPr/>
        </p:nvSpPr>
        <p:spPr>
          <a:xfrm>
            <a:off x="8330184" y="2331720"/>
            <a:ext cx="658368" cy="658368"/>
          </a:xfrm>
          <a:prstGeom prst="ellipse">
            <a:avLst/>
          </a:prstGeom>
          <a:solidFill>
            <a:schemeClr val="tx1"/>
          </a:solidFill>
          <a:ln w="12700">
            <a:solidFill>
              <a:schemeClr val="tx1"/>
            </a:solidFill>
            <a:prstDash val="solid"/>
          </a:ln>
        </p:spPr>
      </p:sp>
      <p:sp>
        <p:nvSpPr>
          <p:cNvPr id="26" name="Text 22"/>
          <p:cNvSpPr txBox="1"/>
          <p:nvPr/>
        </p:nvSpPr>
        <p:spPr>
          <a:xfrm>
            <a:off x="8330184"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27" name="Image 2" descr="preencoded.png">    </p:cNvPr>
          <p:cNvPicPr>
            <a:picLocks noChangeAspect="1"/>
          </p:cNvPicPr>
          <p:nvPr/>
        </p:nvPicPr>
        <p:blipFill>
          <a:blip r:embed="rId3"/>
          <a:stretch>
            <a:fillRect/>
          </a:stretch>
        </p:blipFill>
        <p:spPr>
          <a:xfrm>
            <a:off x="8494776" y="2496312"/>
            <a:ext cx="329184" cy="329184"/>
          </a:xfrm>
          <a:prstGeom prst="rect">
            <a:avLst/>
          </a:prstGeom>
        </p:spPr>
      </p:pic>
      <p:sp>
        <p:nvSpPr>
          <p:cNvPr id="28" name="Shape 23"/>
          <p:cNvSpPr/>
          <p:nvPr/>
        </p:nvSpPr>
        <p:spPr>
          <a:xfrm>
            <a:off x="10296144" y="2514600"/>
            <a:ext cx="960120" cy="274320"/>
          </a:xfrm>
          <a:prstGeom prst="roundRect">
            <a:avLst>
              <a:gd name="adj" fmla="val 50000"/>
            </a:avLst>
          </a:prstGeom>
          <a:solidFill>
            <a:schemeClr val="bg1"/>
          </a:solidFill>
          <a:ln w="12700">
            <a:solidFill>
              <a:schemeClr val="accent1"/>
            </a:solidFill>
            <a:prstDash val="solid"/>
          </a:ln>
        </p:spPr>
      </p:sp>
      <p:sp>
        <p:nvSpPr>
          <p:cNvPr id="29" name="Text 24"/>
          <p:cNvSpPr txBox="1"/>
          <p:nvPr/>
        </p:nvSpPr>
        <p:spPr>
          <a:xfrm>
            <a:off x="10296144"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紹介元</a:t>
            </a:r>
            <a:endParaRPr lang="en-US" sz="950" dirty="0"/>
          </a:p>
        </p:txBody>
      </p:sp>
      <p:sp>
        <p:nvSpPr>
          <p:cNvPr id="30" name="Text 25"/>
          <p:cNvSpPr txBox="1"/>
          <p:nvPr/>
        </p:nvSpPr>
        <p:spPr>
          <a:xfrm>
            <a:off x="8330184"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士業・地方銀行・信用金庫</a:t>
            </a:r>
            <a:endParaRPr lang="en-US" sz="1450" dirty="0"/>
          </a:p>
        </p:txBody>
      </p:sp>
      <p:sp>
        <p:nvSpPr>
          <p:cNvPr id="31" name="Text 26"/>
          <p:cNvSpPr txBox="1"/>
          <p:nvPr/>
        </p:nvSpPr>
        <p:spPr>
          <a:xfrm>
            <a:off x="8330184"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顧問先・取引先の買い手を支援</a:t>
            </a:r>
            <a:endParaRPr lang="en-US" sz="1050" dirty="0"/>
          </a:p>
        </p:txBody>
      </p:sp>
      <p:sp>
        <p:nvSpPr>
          <p:cNvPr id="32" name="Text 27"/>
          <p:cNvSpPr txBox="1"/>
          <p:nvPr/>
        </p:nvSpPr>
        <p:spPr>
          <a:xfrm>
            <a:off x="8330184"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顧問先の買収相談に応える道具とネットワークがない</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顧問サービスの付加価値に（紹介チャネル）</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HOW IT WORKS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12ヶ月で「自社で買える会社」にする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コンサルタントが案件を進めながら、担当者に手順を移植する</a:t>
            </a:r>
            <a:endParaRPr lang="en-US" sz="1350" dirty="0"/>
          </a:p>
        </p:txBody>
      </p:sp>
      <p:sp>
        <p:nvSpPr>
          <p:cNvPr id="6" name="Shape 4"/>
          <p:cNvSpPr/>
          <p:nvPr/>
        </p:nvSpPr>
        <p:spPr>
          <a:xfrm>
            <a:off x="1005840" y="2423160"/>
            <a:ext cx="10180015" cy="0"/>
          </a:xfrm>
          <a:prstGeom prst="line">
            <a:avLst/>
          </a:prstGeom>
          <a:noFill/>
          <a:ln w="25400">
            <a:solidFill>
              <a:srgbClr val="E6DCCB"/>
            </a:solidFill>
            <a:prstDash val="solid"/>
          </a:ln>
        </p:spPr>
      </p:sp>
      <p:sp>
        <p:nvSpPr>
          <p:cNvPr id="7" name="Shape 5"/>
          <p:cNvSpPr/>
          <p:nvPr/>
        </p:nvSpPr>
        <p:spPr>
          <a:xfrm>
            <a:off x="795528" y="221284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795528"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7"/>
          <p:cNvSpPr txBox="1"/>
          <p:nvPr/>
        </p:nvSpPr>
        <p:spPr>
          <a:xfrm>
            <a:off x="1325880"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1〜2ヶ月</a:t>
            </a:r>
            <a:endParaRPr lang="en-US" sz="1300" dirty="0"/>
          </a:p>
        </p:txBody>
      </p:sp>
      <p:sp>
        <p:nvSpPr>
          <p:cNvPr id="10" name="step 1"/>
          <p:cNvSpPr/>
          <p:nvPr/>
        </p:nvSpPr>
        <p:spPr>
          <a:xfrm>
            <a:off x="685800"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914400"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戦略と値づけ基準</a:t>
            </a:r>
            <a:endParaRPr lang="en-US" sz="1400" dirty="0"/>
          </a:p>
        </p:txBody>
      </p:sp>
      <p:sp>
        <p:nvSpPr>
          <p:cNvPr id="12" name="Text 10"/>
          <p:cNvSpPr txBox="1"/>
          <p:nvPr/>
        </p:nvSpPr>
        <p:spPr>
          <a:xfrm>
            <a:off x="914400"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自社BS/PLをAIで分析し、買う領域・予算・借入余力を決める</a:t>
            </a:r>
            <a:endParaRPr lang="en-US" sz="1150" dirty="0"/>
          </a:p>
        </p:txBody>
      </p:sp>
      <p:sp>
        <p:nvSpPr>
          <p:cNvPr id="13" name="goal 1"/>
          <p:cNvSpPr/>
          <p:nvPr/>
        </p:nvSpPr>
        <p:spPr>
          <a:xfrm>
            <a:off x="685800" y="4919472"/>
            <a:ext cx="2560320" cy="658368"/>
          </a:xfrm>
          <a:prstGeom prst="roundRect">
            <a:avLst>
              <a:gd name="adj" fmla="val 8333"/>
            </a:avLst>
          </a:prstGeom>
          <a:solidFill>
            <a:srgbClr val="FFFFFF"/>
          </a:solidFill>
          <a:ln w="9525">
            <a:solidFill>
              <a:schemeClr val="accent3"/>
            </a:solidFill>
            <a:prstDash val="solid"/>
          </a:ln>
        </p:spPr>
      </p:sp>
      <p:sp>
        <p:nvSpPr>
          <p:cNvPr id="14" name="Text 12"/>
          <p:cNvSpPr txBox="1"/>
          <p:nvPr/>
        </p:nvSpPr>
        <p:spPr>
          <a:xfrm>
            <a:off x="868680"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自社の買収基準を言える</a:t>
            </a:r>
            <a:endParaRPr lang="en-US" sz="1150" dirty="0"/>
          </a:p>
        </p:txBody>
      </p:sp>
      <p:sp>
        <p:nvSpPr>
          <p:cNvPr id="15" name="Shape 13"/>
          <p:cNvSpPr/>
          <p:nvPr/>
        </p:nvSpPr>
        <p:spPr>
          <a:xfrm>
            <a:off x="3566160" y="221284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3566160"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5"/>
          <p:cNvSpPr txBox="1"/>
          <p:nvPr/>
        </p:nvSpPr>
        <p:spPr>
          <a:xfrm>
            <a:off x="4096512"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3〜5ヶ月</a:t>
            </a:r>
            <a:endParaRPr lang="en-US" sz="1300" dirty="0"/>
          </a:p>
        </p:txBody>
      </p:sp>
      <p:sp>
        <p:nvSpPr>
          <p:cNvPr id="18" name="step 2"/>
          <p:cNvSpPr/>
          <p:nvPr/>
        </p:nvSpPr>
        <p:spPr>
          <a:xfrm>
            <a:off x="3456432"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3685032"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ソーシングとIM読解</a:t>
            </a:r>
            <a:endParaRPr lang="en-US" sz="1400" dirty="0"/>
          </a:p>
        </p:txBody>
      </p:sp>
      <p:sp>
        <p:nvSpPr>
          <p:cNvPr id="20" name="Text 18"/>
          <p:cNvSpPr txBox="1"/>
          <p:nvPr/>
        </p:nvSpPr>
        <p:spPr>
          <a:xfrm>
            <a:off x="3685032"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候補リストを作って打診。IMをAIで読み、足切りと優先順位をつける</a:t>
            </a:r>
            <a:endParaRPr lang="en-US" sz="1150" dirty="0"/>
          </a:p>
        </p:txBody>
      </p:sp>
      <p:sp>
        <p:nvSpPr>
          <p:cNvPr id="21" name="goal 2"/>
          <p:cNvSpPr/>
          <p:nvPr/>
        </p:nvSpPr>
        <p:spPr>
          <a:xfrm>
            <a:off x="3456432" y="4919472"/>
            <a:ext cx="2560320" cy="658368"/>
          </a:xfrm>
          <a:prstGeom prst="roundRect">
            <a:avLst>
              <a:gd name="adj" fmla="val 8333"/>
            </a:avLst>
          </a:prstGeom>
          <a:solidFill>
            <a:srgbClr val="FFFFFF"/>
          </a:solidFill>
          <a:ln w="9525">
            <a:solidFill>
              <a:schemeClr val="accent3"/>
            </a:solidFill>
            <a:prstDash val="solid"/>
          </a:ln>
        </p:spPr>
      </p:sp>
      <p:sp>
        <p:nvSpPr>
          <p:cNvPr id="22" name="Text 20"/>
          <p:cNvSpPr txBox="1"/>
          <p:nvPr/>
        </p:nvSpPr>
        <p:spPr>
          <a:xfrm>
            <a:off x="3639312"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IMを読み、足切りできる</a:t>
            </a:r>
            <a:endParaRPr lang="en-US" sz="1150" dirty="0"/>
          </a:p>
        </p:txBody>
      </p:sp>
      <p:sp>
        <p:nvSpPr>
          <p:cNvPr id="23" name="Shape 21"/>
          <p:cNvSpPr/>
          <p:nvPr/>
        </p:nvSpPr>
        <p:spPr>
          <a:xfrm>
            <a:off x="6336792" y="2212848"/>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336792"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Text 23"/>
          <p:cNvSpPr txBox="1"/>
          <p:nvPr/>
        </p:nvSpPr>
        <p:spPr>
          <a:xfrm>
            <a:off x="6867144"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6〜8ヶ月</a:t>
            </a:r>
            <a:endParaRPr lang="en-US" sz="1300" dirty="0"/>
          </a:p>
        </p:txBody>
      </p:sp>
      <p:sp>
        <p:nvSpPr>
          <p:cNvPr id="26" name="step 3"/>
          <p:cNvSpPr/>
          <p:nvPr/>
        </p:nvSpPr>
        <p:spPr>
          <a:xfrm>
            <a:off x="6227064"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Text 25"/>
          <p:cNvSpPr txBox="1"/>
          <p:nvPr/>
        </p:nvSpPr>
        <p:spPr>
          <a:xfrm>
            <a:off x="6455664"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交渉・DD・資金</a:t>
            </a:r>
            <a:endParaRPr lang="en-US" sz="1400" dirty="0"/>
          </a:p>
        </p:txBody>
      </p:sp>
      <p:sp>
        <p:nvSpPr>
          <p:cNvPr id="28" name="Text 26"/>
          <p:cNvSpPr txBox="1"/>
          <p:nvPr/>
        </p:nvSpPr>
        <p:spPr>
          <a:xfrm>
            <a:off x="6455664"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交渉に同席して指導。DDの論点整理と資金調達の設計</a:t>
            </a:r>
            <a:endParaRPr lang="en-US" sz="1150" dirty="0"/>
          </a:p>
        </p:txBody>
      </p:sp>
      <p:sp>
        <p:nvSpPr>
          <p:cNvPr id="29" name="goal 3"/>
          <p:cNvSpPr/>
          <p:nvPr/>
        </p:nvSpPr>
        <p:spPr>
          <a:xfrm>
            <a:off x="6227064" y="4919472"/>
            <a:ext cx="2560320" cy="658368"/>
          </a:xfrm>
          <a:prstGeom prst="roundRect">
            <a:avLst>
              <a:gd name="adj" fmla="val 8333"/>
            </a:avLst>
          </a:prstGeom>
          <a:solidFill>
            <a:srgbClr val="FFFFFF"/>
          </a:solidFill>
          <a:ln w="9525">
            <a:solidFill>
              <a:schemeClr val="accent3"/>
            </a:solidFill>
            <a:prstDash val="solid"/>
          </a:ln>
        </p:spPr>
      </p:sp>
      <p:sp>
        <p:nvSpPr>
          <p:cNvPr id="30" name="Text 28"/>
          <p:cNvSpPr txBox="1"/>
          <p:nvPr/>
        </p:nvSpPr>
        <p:spPr>
          <a:xfrm>
            <a:off x="6409944"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仲介と対等に交渉できる</a:t>
            </a:r>
            <a:endParaRPr lang="en-US" sz="1150" dirty="0"/>
          </a:p>
        </p:txBody>
      </p:sp>
      <p:sp>
        <p:nvSpPr>
          <p:cNvPr id="31" name="Shape 29"/>
          <p:cNvSpPr/>
          <p:nvPr/>
        </p:nvSpPr>
        <p:spPr>
          <a:xfrm>
            <a:off x="9107424" y="2212848"/>
            <a:ext cx="420624" cy="420624"/>
          </a:xfrm>
          <a:prstGeom prst="ellipse">
            <a:avLst/>
          </a:prstGeom>
          <a:solidFill>
            <a:schemeClr val="tx1"/>
          </a:solidFill>
          <a:ln w="12700">
            <a:solidFill>
              <a:schemeClr val="tx1"/>
            </a:solidFill>
            <a:prstDash val="solid"/>
          </a:ln>
        </p:spPr>
      </p:sp>
      <p:sp>
        <p:nvSpPr>
          <p:cNvPr id="32" name="Text 30"/>
          <p:cNvSpPr txBox="1"/>
          <p:nvPr/>
        </p:nvSpPr>
        <p:spPr>
          <a:xfrm>
            <a:off x="9107424"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1"/>
          <p:cNvSpPr txBox="1"/>
          <p:nvPr/>
        </p:nvSpPr>
        <p:spPr>
          <a:xfrm>
            <a:off x="9637776"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9〜12ヶ月</a:t>
            </a:r>
            <a:endParaRPr lang="en-US" sz="1300" dirty="0"/>
          </a:p>
        </p:txBody>
      </p:sp>
      <p:sp>
        <p:nvSpPr>
          <p:cNvPr id="34" name="step 4"/>
          <p:cNvSpPr/>
          <p:nvPr/>
        </p:nvSpPr>
        <p:spPr>
          <a:xfrm>
            <a:off x="8997696"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9226296"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クロージングとPMI</a:t>
            </a:r>
            <a:endParaRPr lang="en-US" sz="1400" dirty="0"/>
          </a:p>
        </p:txBody>
      </p:sp>
      <p:sp>
        <p:nvSpPr>
          <p:cNvPr id="36" name="Text 34"/>
          <p:cNvSpPr txBox="1"/>
          <p:nvPr/>
        </p:nvSpPr>
        <p:spPr>
          <a:xfrm>
            <a:off x="9226296"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PMI責任者と100日プラン、撤退ラインを決める</a:t>
            </a:r>
            <a:endParaRPr lang="en-US" sz="1150" dirty="0"/>
          </a:p>
        </p:txBody>
      </p:sp>
      <p:sp>
        <p:nvSpPr>
          <p:cNvPr id="37" name="goal 4"/>
          <p:cNvSpPr/>
          <p:nvPr/>
        </p:nvSpPr>
        <p:spPr>
          <a:xfrm>
            <a:off x="8997696" y="4919472"/>
            <a:ext cx="2560320" cy="658368"/>
          </a:xfrm>
          <a:prstGeom prst="roundRect">
            <a:avLst>
              <a:gd name="adj" fmla="val 8333"/>
            </a:avLst>
          </a:prstGeom>
          <a:solidFill>
            <a:srgbClr val="FFFFFF"/>
          </a:solidFill>
          <a:ln w="9525">
            <a:solidFill>
              <a:schemeClr val="accent3"/>
            </a:solidFill>
            <a:prstDash val="solid"/>
          </a:ln>
        </p:spPr>
      </p:sp>
      <p:sp>
        <p:nvSpPr>
          <p:cNvPr id="38" name="Text 36"/>
          <p:cNvSpPr txBox="1"/>
          <p:nvPr/>
        </p:nvSpPr>
        <p:spPr>
          <a:xfrm>
            <a:off x="9180576"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買った後を自走できる</a:t>
            </a:r>
            <a:endParaRPr lang="en-US" sz="1150" dirty="0"/>
          </a:p>
        </p:txBody>
      </p:sp>
      <p:sp>
        <p:nvSpPr>
          <p:cNvPr id="39" name="Text 37"/>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体制：コンサルタント1人で10社まで（交渉段階は同時3社まで）。顧客同士がぶつからないよう、同業は1社まで</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PRICING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月額で「育成と伴走」、成約したら成功報酬</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M&amp;A担当を1人採用する（年収800〜1,500万円＋採用費）より安く、社内に人が育つ</a:t>
            </a:r>
            <a:endParaRPr lang="en-US" sz="1350" dirty="0"/>
          </a:p>
        </p:txBody>
      </p:sp>
      <p:sp>
        <p:nvSpPr>
          <p:cNvPr id="6" name="plan スタンダード"/>
          <p:cNvSpPr/>
          <p:nvPr/>
        </p:nvSpPr>
        <p:spPr>
          <a:xfrm>
            <a:off x="685800"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60120"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スタンダード</a:t>
            </a:r>
            <a:endParaRPr lang="en-US" sz="1500" dirty="0"/>
          </a:p>
        </p:txBody>
      </p:sp>
      <p:sp>
        <p:nvSpPr>
          <p:cNvPr id="8" name="Text 6"/>
          <p:cNvSpPr txBox="1"/>
          <p:nvPr/>
        </p:nvSpPr>
        <p:spPr>
          <a:xfrm>
            <a:off x="960120"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50</a:t>
            </a:r>
            <a:pPr indent="0" marL="0">
              <a:buNone/>
            </a:pPr>
            <a:r>
              <a:rPr lang="en-US" sz="1200" b="1" dirty="0">
                <a:solidFill>
                  <a:schemeClr val="accent2"/>
                </a:solidFill>
              </a:rPr>
              <a:t> 万円／月</a:t>
            </a:r>
            <a:endParaRPr lang="en-US" sz="1300" dirty="0"/>
          </a:p>
        </p:txBody>
      </p:sp>
      <p:sp>
        <p:nvSpPr>
          <p:cNvPr id="9" name="Text 7"/>
          <p:cNvSpPr txBox="1"/>
          <p:nvPr/>
        </p:nvSpPr>
        <p:spPr>
          <a:xfrm>
            <a:off x="960120"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12ヶ月（6ヶ月から可）</a:t>
            </a:r>
            <a:endParaRPr lang="en-US" sz="1050" dirty="0"/>
          </a:p>
        </p:txBody>
      </p:sp>
      <p:sp>
        <p:nvSpPr>
          <p:cNvPr id="10" name="Shape 8"/>
          <p:cNvSpPr/>
          <p:nvPr/>
        </p:nvSpPr>
        <p:spPr>
          <a:xfrm>
            <a:off x="960120" y="3858768"/>
            <a:ext cx="2898648" cy="0"/>
          </a:xfrm>
          <a:prstGeom prst="line">
            <a:avLst/>
          </a:prstGeom>
          <a:noFill/>
          <a:ln w="9525">
            <a:solidFill>
              <a:srgbClr val="E6DCCB"/>
            </a:solidFill>
            <a:prstDash val="solid"/>
          </a:ln>
        </p:spPr>
      </p:sp>
      <p:sp>
        <p:nvSpPr>
          <p:cNvPr id="11" name="Text 9"/>
          <p:cNvSpPr txBox="1"/>
          <p:nvPr/>
        </p:nvSpPr>
        <p:spPr>
          <a:xfrm>
            <a:off x="960120"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AIによる案件分析・シナジー試算</a:t>
            </a:r>
            <a:endParaRPr lang="en-US" sz="1150" dirty="0"/>
          </a:p>
          <a:p>
            <a:pPr marL="152400" indent="-152400">
              <a:spcAft>
                <a:spcPts val="600"/>
              </a:spcAft>
              <a:buSzPct val="100000"/>
              <a:buChar char="•"/>
            </a:pPr>
            <a:r>
              <a:rPr lang="en-US" sz="1150" dirty="0">
                <a:solidFill>
                  <a:schemeClr val="tx1"/>
                </a:solidFill>
              </a:rPr>
              <a:t>担当者の育成カリキュラム</a:t>
            </a:r>
            <a:endParaRPr lang="en-US" sz="1150" dirty="0"/>
          </a:p>
          <a:p>
            <a:pPr marL="152400" indent="-152400">
              <a:spcAft>
                <a:spcPts val="600"/>
              </a:spcAft>
              <a:buSzPct val="100000"/>
              <a:buChar char="•"/>
            </a:pPr>
            <a:r>
              <a:rPr lang="en-US" sz="1150" dirty="0">
                <a:solidFill>
                  <a:schemeClr val="tx1"/>
                </a:solidFill>
              </a:rPr>
              <a:t>ソーシング・IMの受領と読解</a:t>
            </a:r>
            <a:endParaRPr lang="en-US" sz="1150" dirty="0"/>
          </a:p>
          <a:p>
            <a:pPr marL="152400" indent="-152400">
              <a:spcAft>
                <a:spcPts val="600"/>
              </a:spcAft>
              <a:buSzPct val="100000"/>
              <a:buChar char="•"/>
            </a:pPr>
            <a:r>
              <a:rPr lang="en-US" sz="1150" dirty="0">
                <a:solidFill>
                  <a:schemeClr val="tx1"/>
                </a:solidFill>
              </a:rPr>
              <a:t>資金調達の設計</a:t>
            </a:r>
            <a:endParaRPr lang="en-US" sz="1150" dirty="0"/>
          </a:p>
          <a:p>
            <a:pPr marL="152400" indent="-152400">
              <a:spcAft>
                <a:spcPts val="600"/>
              </a:spcAft>
              <a:buSzPct val="100000"/>
              <a:buChar char="•"/>
            </a:pPr>
            <a:r>
              <a:rPr lang="en-US" sz="1150" dirty="0">
                <a:solidFill>
                  <a:schemeClr val="tx1"/>
                </a:solidFill>
              </a:rPr>
              <a:t>交渉への同席と指導</a:t>
            </a:r>
            <a:endParaRPr lang="en-US" sz="1150" dirty="0"/>
          </a:p>
        </p:txBody>
      </p:sp>
      <p:sp>
        <p:nvSpPr>
          <p:cNvPr id="12" name="plan premium"/>
          <p:cNvSpPr/>
          <p:nvPr/>
        </p:nvSpPr>
        <p:spPr>
          <a:xfrm>
            <a:off x="4370832" y="2103120"/>
            <a:ext cx="3447288" cy="3977640"/>
          </a:xfrm>
          <a:prstGeom prst="roundRect">
            <a:avLst>
              <a:gd name="adj" fmla="val 1592"/>
            </a:avLst>
          </a:prstGeom>
          <a:solidFill>
            <a:schemeClr val="tx1"/>
          </a:solidFill>
          <a:ln w="12700">
            <a:solidFill>
              <a:schemeClr val="tx1"/>
            </a:solidFill>
            <a:prstDash val="solid"/>
          </a:ln>
        </p:spPr>
      </p:sp>
      <p:sp>
        <p:nvSpPr>
          <p:cNvPr id="13" name="Shape 11"/>
          <p:cNvSpPr/>
          <p:nvPr/>
        </p:nvSpPr>
        <p:spPr>
          <a:xfrm>
            <a:off x="6473952" y="2286000"/>
            <a:ext cx="114300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6473952" y="2286000"/>
            <a:ext cx="1143000" cy="274320"/>
          </a:xfrm>
          <a:prstGeom prst="rect">
            <a:avLst/>
          </a:prstGeom>
          <a:noFill/>
          <a:ln/>
        </p:spPr>
        <p:txBody>
          <a:bodyPr wrap="square" lIns="0" tIns="0" rIns="0" bIns="0" rtlCol="0" anchor="ctr"/>
          <a:lstStyle/>
          <a:p>
            <a:pPr algn="ctr" indent="0" marL="0">
              <a:buNone/>
            </a:pPr>
            <a:r>
              <a:rPr lang="en-US" sz="950" b="1" dirty="0">
                <a:solidFill>
                  <a:schemeClr val="bg1"/>
                </a:solidFill>
              </a:rPr>
              <a:t>おすすめ</a:t>
            </a:r>
            <a:endParaRPr lang="en-US" sz="950" dirty="0"/>
          </a:p>
        </p:txBody>
      </p:sp>
      <p:sp>
        <p:nvSpPr>
          <p:cNvPr id="15" name="Text 13"/>
          <p:cNvSpPr txBox="1"/>
          <p:nvPr/>
        </p:nvSpPr>
        <p:spPr>
          <a:xfrm>
            <a:off x="4645152" y="2286000"/>
            <a:ext cx="2011680" cy="365760"/>
          </a:xfrm>
          <a:prstGeom prst="rect">
            <a:avLst/>
          </a:prstGeom>
          <a:noFill/>
          <a:ln/>
        </p:spPr>
        <p:txBody>
          <a:bodyPr wrap="square" lIns="0" tIns="0" rIns="0" bIns="0" rtlCol="0" anchor="t"/>
          <a:lstStyle/>
          <a:p>
            <a:pPr indent="0" marL="0">
              <a:buNone/>
            </a:pPr>
            <a:r>
              <a:rPr lang="en-US" sz="1500" b="1" dirty="0">
                <a:solidFill>
                  <a:schemeClr val="accent4"/>
                </a:solidFill>
              </a:rPr>
              <a:t>プレミアム</a:t>
            </a:r>
            <a:endParaRPr lang="en-US" sz="1500" dirty="0"/>
          </a:p>
        </p:txBody>
      </p:sp>
      <p:sp>
        <p:nvSpPr>
          <p:cNvPr id="16" name="Text 14"/>
          <p:cNvSpPr txBox="1"/>
          <p:nvPr/>
        </p:nvSpPr>
        <p:spPr>
          <a:xfrm>
            <a:off x="4645152" y="2697480"/>
            <a:ext cx="3017520" cy="777240"/>
          </a:xfrm>
          <a:prstGeom prst="rect">
            <a:avLst/>
          </a:prstGeom>
          <a:noFill/>
          <a:ln/>
        </p:spPr>
        <p:txBody>
          <a:bodyPr wrap="square" lIns="0" tIns="0" rIns="0" bIns="0" rtlCol="0" anchor="ctr"/>
          <a:lstStyle/>
          <a:p>
            <a:pPr indent="0" marL="0">
              <a:buNone/>
            </a:pPr>
            <a:r>
              <a:rPr lang="en-US" sz="4000" b="1" dirty="0">
                <a:solidFill>
                  <a:schemeClr val="bg1"/>
                </a:solidFill>
              </a:rPr>
              <a:t>80</a:t>
            </a:r>
            <a:pPr indent="0" marL="0">
              <a:buNone/>
            </a:pPr>
            <a:r>
              <a:rPr lang="en-US" sz="1200" b="1" dirty="0">
                <a:solidFill>
                  <a:schemeClr val="accent3"/>
                </a:solidFill>
              </a:rPr>
              <a:t> 万円／月</a:t>
            </a:r>
            <a:endParaRPr lang="en-US" sz="1300" dirty="0"/>
          </a:p>
        </p:txBody>
      </p:sp>
      <p:sp>
        <p:nvSpPr>
          <p:cNvPr id="17" name="Text 15"/>
          <p:cNvSpPr txBox="1"/>
          <p:nvPr/>
        </p:nvSpPr>
        <p:spPr>
          <a:xfrm>
            <a:off x="4645152" y="3474720"/>
            <a:ext cx="2926080" cy="274320"/>
          </a:xfrm>
          <a:prstGeom prst="rect">
            <a:avLst/>
          </a:prstGeom>
          <a:noFill/>
          <a:ln/>
        </p:spPr>
        <p:txBody>
          <a:bodyPr wrap="square" lIns="0" tIns="0" rIns="0" bIns="0" rtlCol="0" anchor="t"/>
          <a:lstStyle/>
          <a:p>
            <a:pPr indent="0" marL="0">
              <a:buNone/>
            </a:pPr>
            <a:r>
              <a:rPr lang="en-US" sz="1050" dirty="0">
                <a:solidFill>
                  <a:schemeClr val="accent5"/>
                </a:solidFill>
              </a:rPr>
              <a:t>枠数限定</a:t>
            </a:r>
            <a:endParaRPr lang="en-US" sz="1050" dirty="0"/>
          </a:p>
        </p:txBody>
      </p:sp>
      <p:sp>
        <p:nvSpPr>
          <p:cNvPr id="18" name="Shape 16"/>
          <p:cNvSpPr/>
          <p:nvPr/>
        </p:nvSpPr>
        <p:spPr>
          <a:xfrm>
            <a:off x="4645152" y="3858768"/>
            <a:ext cx="2898648" cy="0"/>
          </a:xfrm>
          <a:prstGeom prst="line">
            <a:avLst/>
          </a:prstGeom>
          <a:noFill/>
          <a:ln w="9525">
            <a:solidFill>
              <a:srgbClr val="4E443C"/>
            </a:solidFill>
            <a:prstDash val="solid"/>
          </a:ln>
        </p:spPr>
      </p:sp>
      <p:sp>
        <p:nvSpPr>
          <p:cNvPr id="19" name="Text 17"/>
          <p:cNvSpPr txBox="1"/>
          <p:nvPr/>
        </p:nvSpPr>
        <p:spPr>
          <a:xfrm>
            <a:off x="4645152"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bg1"/>
                </a:solidFill>
              </a:rPr>
              <a:t>スタンダードの全内容</a:t>
            </a:r>
            <a:endParaRPr lang="en-US" sz="1150" dirty="0"/>
          </a:p>
          <a:p>
            <a:pPr marL="152400" indent="-152400">
              <a:spcAft>
                <a:spcPts val="600"/>
              </a:spcAft>
              <a:buSzPct val="100000"/>
              <a:buChar char="•"/>
            </a:pPr>
            <a:r>
              <a:rPr lang="en-US" sz="1150" dirty="0">
                <a:solidFill>
                  <a:schemeClr val="bg1"/>
                </a:solidFill>
              </a:rPr>
              <a:t>中野との月1時間の壁打ち</a:t>
            </a:r>
            <a:endParaRPr lang="en-US" sz="1150" dirty="0"/>
          </a:p>
          <a:p>
            <a:pPr marL="152400" indent="-152400">
              <a:spcAft>
                <a:spcPts val="600"/>
              </a:spcAft>
              <a:buSzPct val="100000"/>
              <a:buChar char="•"/>
            </a:pPr>
            <a:r>
              <a:rPr lang="en-US" sz="1150" dirty="0">
                <a:solidFill>
                  <a:schemeClr val="bg1"/>
                </a:solidFill>
              </a:rPr>
              <a:t>49戦の判断基準でのフィードバック</a:t>
            </a:r>
            <a:endParaRPr lang="en-US" sz="1150" dirty="0"/>
          </a:p>
          <a:p>
            <a:pPr marL="152400" indent="-152400">
              <a:spcAft>
                <a:spcPts val="600"/>
              </a:spcAft>
              <a:buSzPct val="100000"/>
              <a:buChar char="•"/>
            </a:pPr>
            <a:r>
              <a:rPr lang="en-US" sz="1150" dirty="0">
                <a:solidFill>
                  <a:schemeClr val="bg1"/>
                </a:solidFill>
              </a:rPr>
              <a:t>交渉の代行</a:t>
            </a:r>
            <a:endParaRPr lang="en-US" sz="1150" dirty="0"/>
          </a:p>
        </p:txBody>
      </p:sp>
      <p:sp>
        <p:nvSpPr>
          <p:cNvPr id="20" name="plan 成功報酬"/>
          <p:cNvSpPr/>
          <p:nvPr/>
        </p:nvSpPr>
        <p:spPr>
          <a:xfrm>
            <a:off x="8055864"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8330184"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成功報酬</a:t>
            </a:r>
            <a:endParaRPr lang="en-US" sz="1500" dirty="0"/>
          </a:p>
        </p:txBody>
      </p:sp>
      <p:sp>
        <p:nvSpPr>
          <p:cNvPr id="22" name="Text 20"/>
          <p:cNvSpPr txBox="1"/>
          <p:nvPr/>
        </p:nvSpPr>
        <p:spPr>
          <a:xfrm>
            <a:off x="8330184"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2〜3</a:t>
            </a:r>
            <a:pPr indent="0" marL="0">
              <a:buNone/>
            </a:pPr>
            <a:r>
              <a:rPr lang="en-US" sz="1200" b="1" dirty="0">
                <a:solidFill>
                  <a:schemeClr val="accent2"/>
                </a:solidFill>
              </a:rPr>
              <a:t> ％（最低500万円）</a:t>
            </a:r>
            <a:endParaRPr lang="en-US" sz="1300" dirty="0"/>
          </a:p>
        </p:txBody>
      </p:sp>
      <p:sp>
        <p:nvSpPr>
          <p:cNvPr id="23" name="Text 21"/>
          <p:cNvSpPr txBox="1"/>
          <p:nvPr/>
        </p:nvSpPr>
        <p:spPr>
          <a:xfrm>
            <a:off x="8330184"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成約したときだけ</a:t>
            </a:r>
            <a:endParaRPr lang="en-US" sz="1050" dirty="0"/>
          </a:p>
        </p:txBody>
      </p:sp>
      <p:sp>
        <p:nvSpPr>
          <p:cNvPr id="24" name="Shape 22"/>
          <p:cNvSpPr/>
          <p:nvPr/>
        </p:nvSpPr>
        <p:spPr>
          <a:xfrm>
            <a:off x="8330184" y="3858768"/>
            <a:ext cx="2898648" cy="0"/>
          </a:xfrm>
          <a:prstGeom prst="line">
            <a:avLst/>
          </a:prstGeom>
          <a:noFill/>
          <a:ln w="9525">
            <a:solidFill>
              <a:srgbClr val="E6DCCB"/>
            </a:solidFill>
            <a:prstDash val="solid"/>
          </a:ln>
        </p:spPr>
      </p:sp>
      <p:sp>
        <p:nvSpPr>
          <p:cNvPr id="25" name="Text 23"/>
          <p:cNvSpPr txBox="1"/>
          <p:nvPr/>
        </p:nvSpPr>
        <p:spPr>
          <a:xfrm>
            <a:off x="8330184"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買い手FAとしてクロージングまで</a:t>
            </a:r>
            <a:endParaRPr lang="en-US" sz="1150" dirty="0"/>
          </a:p>
          <a:p>
            <a:pPr marL="152400" indent="-152400">
              <a:spcAft>
                <a:spcPts val="600"/>
              </a:spcAft>
              <a:buSzPct val="100000"/>
              <a:buChar char="•"/>
            </a:pPr>
            <a:r>
              <a:rPr lang="en-US" sz="1150" dirty="0">
                <a:solidFill>
                  <a:schemeClr val="tx1"/>
                </a:solidFill>
              </a:rPr>
              <a:t>支払済み月額の50%を充当</a:t>
            </a:r>
            <a:endParaRPr lang="en-US" sz="1150" dirty="0"/>
          </a:p>
          <a:p>
            <a:pPr marL="152400" indent="-152400">
              <a:spcAft>
                <a:spcPts val="600"/>
              </a:spcAft>
              <a:buSzPct val="100000"/>
              <a:buChar char="•"/>
            </a:pPr>
            <a:r>
              <a:rPr lang="en-US" sz="1150" dirty="0">
                <a:solidFill>
                  <a:schemeClr val="tx1"/>
                </a:solidFill>
              </a:rPr>
              <a:t>二重取りにしない</a:t>
            </a:r>
            <a:endParaRPr lang="en-US" sz="1150" dirty="0"/>
          </a:p>
        </p:txBody>
      </p:sp>
      <p:sp>
        <p:nvSpPr>
          <p:cNvPr id="26" name="Text 2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価格はすべて税別・仮置き。顧客インタビューで支払意思額を検証して確定する</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MOAT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使うほど溜まるデータが、真似されない強みになる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不動産のREINSの本当の価値は成約データ。M&amp;Aでも同じ資産をつくる</a:t>
            </a:r>
            <a:endParaRPr lang="en-US" sz="1350" dirty="0"/>
          </a:p>
        </p:txBody>
      </p:sp>
      <p:sp>
        <p:nvSpPr>
          <p:cNvPr id="6" name="flywheel hub"/>
          <p:cNvSpPr/>
          <p:nvPr/>
        </p:nvSpPr>
        <p:spPr>
          <a:xfrm>
            <a:off x="2852928" y="3291840"/>
            <a:ext cx="1554480" cy="1143000"/>
          </a:xfrm>
          <a:prstGeom prst="ellipse">
            <a:avLst/>
          </a:prstGeom>
          <a:solidFill>
            <a:schemeClr val="tx1"/>
          </a:solidFill>
          <a:ln w="12700">
            <a:solidFill>
              <a:schemeClr val="tx1"/>
            </a:solidFill>
            <a:prstDash val="solid"/>
          </a:ln>
        </p:spPr>
      </p:sp>
      <p:sp>
        <p:nvSpPr>
          <p:cNvPr id="7" name="Text 5"/>
          <p:cNvSpPr txBox="1"/>
          <p:nvPr/>
        </p:nvSpPr>
        <p:spPr>
          <a:xfrm>
            <a:off x="2852928" y="3291840"/>
            <a:ext cx="1554480" cy="1143000"/>
          </a:xfrm>
          <a:prstGeom prst="rect">
            <a:avLst/>
          </a:prstGeom>
          <a:noFill/>
          <a:ln/>
        </p:spPr>
        <p:txBody>
          <a:bodyPr wrap="square" lIns="0" tIns="0" rIns="0" bIns="0" rtlCol="0" anchor="ctr"/>
          <a:lstStyle/>
          <a:p>
            <a:pPr algn="ctr" indent="0" marL="0">
              <a:buNone/>
            </a:pPr>
            <a:r>
              <a:rPr lang="en-US" sz="1300" b="1" dirty="0">
                <a:solidFill>
                  <a:schemeClr val="bg1"/>
                </a:solidFill>
              </a:rPr>
              <a:t>データの</a:t>
            </a:r>
            <a:endParaRPr lang="en-US" sz="1300" dirty="0"/>
          </a:p>
          <a:p>
            <a:pPr algn="ctr" indent="0" marL="0">
              <a:buNone/>
            </a:pPr>
            <a:r>
              <a:rPr lang="en-US" sz="1300" b="1" dirty="0">
                <a:solidFill>
                  <a:schemeClr val="bg1"/>
                </a:solidFill>
              </a:rPr>
              <a:t>好循環</a:t>
            </a:r>
            <a:endParaRPr lang="en-US" sz="1300" dirty="0"/>
          </a:p>
        </p:txBody>
      </p:sp>
      <p:sp>
        <p:nvSpPr>
          <p:cNvPr id="8" name="fw node"/>
          <p:cNvSpPr/>
          <p:nvPr/>
        </p:nvSpPr>
        <p:spPr>
          <a:xfrm>
            <a:off x="2606040" y="210312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2606040" y="210312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伴走する顧客が</a:t>
            </a:r>
            <a:endParaRPr lang="en-US" sz="1150" dirty="0"/>
          </a:p>
          <a:p>
            <a:pPr algn="ctr" indent="0" marL="0">
              <a:buNone/>
            </a:pPr>
            <a:r>
              <a:rPr lang="en-US" sz="1150" b="1" dirty="0">
                <a:solidFill>
                  <a:schemeClr val="tx1"/>
                </a:solidFill>
              </a:rPr>
              <a:t>増える</a:t>
            </a:r>
            <a:endParaRPr lang="en-US" sz="1150" dirty="0"/>
          </a:p>
        </p:txBody>
      </p:sp>
      <p:sp>
        <p:nvSpPr>
          <p:cNvPr id="10" name="fw node"/>
          <p:cNvSpPr/>
          <p:nvPr/>
        </p:nvSpPr>
        <p:spPr>
          <a:xfrm>
            <a:off x="466344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466344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買収ニーズと</a:t>
            </a:r>
            <a:endParaRPr lang="en-US" sz="1150" dirty="0"/>
          </a:p>
          <a:p>
            <a:pPr algn="ctr" indent="0" marL="0">
              <a:buNone/>
            </a:pPr>
            <a:r>
              <a:rPr lang="en-US" sz="1150" b="1" dirty="0">
                <a:solidFill>
                  <a:schemeClr val="tx1"/>
                </a:solidFill>
              </a:rPr>
              <a:t>検討データが溜まる</a:t>
            </a:r>
            <a:endParaRPr lang="en-US" sz="1150" dirty="0"/>
          </a:p>
        </p:txBody>
      </p:sp>
      <p:sp>
        <p:nvSpPr>
          <p:cNvPr id="12" name="fw node"/>
          <p:cNvSpPr/>
          <p:nvPr/>
        </p:nvSpPr>
        <p:spPr>
          <a:xfrm>
            <a:off x="2606040" y="457200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2606040" y="457200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成約データ（価格・</a:t>
            </a:r>
            <a:endParaRPr lang="en-US" sz="1150" dirty="0"/>
          </a:p>
          <a:p>
            <a:pPr algn="ctr" indent="0" marL="0">
              <a:buNone/>
            </a:pPr>
            <a:r>
              <a:rPr lang="en-US" sz="1150" b="1" dirty="0">
                <a:solidFill>
                  <a:schemeClr val="tx1"/>
                </a:solidFill>
              </a:rPr>
              <a:t>倍率）が溜まる</a:t>
            </a:r>
            <a:endParaRPr lang="en-US" sz="1150" dirty="0"/>
          </a:p>
        </p:txBody>
      </p:sp>
      <p:sp>
        <p:nvSpPr>
          <p:cNvPr id="14" name="fw node"/>
          <p:cNvSpPr/>
          <p:nvPr/>
        </p:nvSpPr>
        <p:spPr>
          <a:xfrm>
            <a:off x="68580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Text 13"/>
          <p:cNvSpPr txBox="1"/>
          <p:nvPr/>
        </p:nvSpPr>
        <p:spPr>
          <a:xfrm>
            <a:off x="68580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AIの価格算定と</a:t>
            </a:r>
            <a:endParaRPr lang="en-US" sz="1150" dirty="0"/>
          </a:p>
          <a:p>
            <a:pPr algn="ctr" indent="0" marL="0">
              <a:buNone/>
            </a:pPr>
            <a:r>
              <a:rPr lang="en-US" sz="1150" b="1" dirty="0">
                <a:solidFill>
                  <a:schemeClr val="tx1"/>
                </a:solidFill>
              </a:rPr>
              <a:t>判断の精度が上がる</a:t>
            </a:r>
            <a:endParaRPr lang="en-US" sz="1150" dirty="0"/>
          </a:p>
        </p:txBody>
      </p:sp>
      <p:sp>
        <p:nvSpPr>
          <p:cNvPr id="16" name="Shape 14"/>
          <p:cNvSpPr/>
          <p:nvPr/>
        </p:nvSpPr>
        <p:spPr>
          <a:xfrm>
            <a:off x="4663440" y="2606040"/>
            <a:ext cx="822960" cy="685800"/>
          </a:xfrm>
          <a:prstGeom prst="line">
            <a:avLst/>
          </a:prstGeom>
          <a:noFill/>
          <a:ln w="25400">
            <a:solidFill>
              <a:srgbClr val="A78450"/>
            </a:solidFill>
            <a:prstDash val="solid"/>
            <a:tailEnd type="triangle"/>
          </a:ln>
        </p:spPr>
      </p:sp>
      <p:sp>
        <p:nvSpPr>
          <p:cNvPr id="17" name="Shape 15"/>
          <p:cNvSpPr/>
          <p:nvPr/>
        </p:nvSpPr>
        <p:spPr>
          <a:xfrm flipH="1">
            <a:off x="4663440" y="4343400"/>
            <a:ext cx="822960" cy="457200"/>
          </a:xfrm>
          <a:prstGeom prst="line">
            <a:avLst/>
          </a:prstGeom>
          <a:noFill/>
          <a:ln w="25400">
            <a:solidFill>
              <a:srgbClr val="A78450"/>
            </a:solidFill>
            <a:prstDash val="solid"/>
            <a:tailEnd type="triangle"/>
          </a:ln>
        </p:spPr>
      </p:sp>
      <p:sp>
        <p:nvSpPr>
          <p:cNvPr id="18" name="Shape 16"/>
          <p:cNvSpPr/>
          <p:nvPr/>
        </p:nvSpPr>
        <p:spPr>
          <a:xfrm flipH="1" flipV="1">
            <a:off x="1691640" y="4343400"/>
            <a:ext cx="868680" cy="457200"/>
          </a:xfrm>
          <a:prstGeom prst="line">
            <a:avLst/>
          </a:prstGeom>
          <a:noFill/>
          <a:ln w="25400">
            <a:solidFill>
              <a:srgbClr val="A78450"/>
            </a:solidFill>
            <a:prstDash val="solid"/>
            <a:tailEnd type="triangle"/>
          </a:ln>
        </p:spPr>
      </p:sp>
      <p:sp>
        <p:nvSpPr>
          <p:cNvPr id="19" name="Shape 17"/>
          <p:cNvSpPr/>
          <p:nvPr/>
        </p:nvSpPr>
        <p:spPr>
          <a:xfrm flipV="1">
            <a:off x="1691640" y="2606040"/>
            <a:ext cx="868680" cy="685800"/>
          </a:xfrm>
          <a:prstGeom prst="line">
            <a:avLst/>
          </a:prstGeom>
          <a:noFill/>
          <a:ln w="25400">
            <a:solidFill>
              <a:srgbClr val="A78450"/>
            </a:solidFill>
            <a:prstDash val="solid"/>
            <a:tailEnd type="triangle"/>
          </a:ln>
        </p:spPr>
      </p:sp>
      <p:sp>
        <p:nvSpPr>
          <p:cNvPr id="20" name="asset 1"/>
          <p:cNvSpPr/>
          <p:nvPr/>
        </p:nvSpPr>
        <p:spPr>
          <a:xfrm>
            <a:off x="7040880" y="210312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Shape 19"/>
          <p:cNvSpPr/>
          <p:nvPr/>
        </p:nvSpPr>
        <p:spPr>
          <a:xfrm>
            <a:off x="7223760" y="2395728"/>
            <a:ext cx="603504" cy="603504"/>
          </a:xfrm>
          <a:prstGeom prst="ellipse">
            <a:avLst/>
          </a:prstGeom>
          <a:solidFill>
            <a:schemeClr val="tx1"/>
          </a:solidFill>
          <a:ln w="12700">
            <a:solidFill>
              <a:schemeClr val="tx1"/>
            </a:solidFill>
            <a:prstDash val="solid"/>
          </a:ln>
        </p:spPr>
      </p:sp>
      <p:sp>
        <p:nvSpPr>
          <p:cNvPr id="22" name="Text 20"/>
          <p:cNvSpPr txBox="1"/>
          <p:nvPr/>
        </p:nvSpPr>
        <p:spPr>
          <a:xfrm>
            <a:off x="7223760" y="239572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3" name="Image 0" descr="preencoded.png">    </p:cNvPr>
          <p:cNvPicPr>
            <a:picLocks noChangeAspect="1"/>
          </p:cNvPicPr>
          <p:nvPr/>
        </p:nvPicPr>
        <p:blipFill>
          <a:blip r:embed="rId1"/>
          <a:stretch>
            <a:fillRect/>
          </a:stretch>
        </p:blipFill>
        <p:spPr>
          <a:xfrm>
            <a:off x="7370064" y="2542032"/>
            <a:ext cx="310896" cy="310896"/>
          </a:xfrm>
          <a:prstGeom prst="rect">
            <a:avLst/>
          </a:prstGeom>
        </p:spPr>
      </p:pic>
      <p:sp>
        <p:nvSpPr>
          <p:cNvPr id="24" name="Text 21"/>
          <p:cNvSpPr txBox="1"/>
          <p:nvPr/>
        </p:nvSpPr>
        <p:spPr>
          <a:xfrm>
            <a:off x="8001000" y="2221992"/>
            <a:ext cx="3383280" cy="347472"/>
          </a:xfrm>
          <a:prstGeom prst="rect">
            <a:avLst/>
          </a:prstGeom>
          <a:noFill/>
          <a:ln/>
        </p:spPr>
        <p:txBody>
          <a:bodyPr wrap="square" lIns="0" tIns="0" rIns="0" bIns="0" rtlCol="0" anchor="t"/>
          <a:lstStyle/>
          <a:p>
            <a:pPr indent="0" marL="0">
              <a:buNone/>
            </a:pPr>
            <a:r>
              <a:rPr lang="en-US" sz="1350" b="1" dirty="0">
                <a:solidFill>
                  <a:schemeClr val="tx1"/>
                </a:solidFill>
              </a:rPr>
              <a:t>成約価格データベース</a:t>
            </a:r>
            <a:endParaRPr lang="en-US" sz="1350" dirty="0"/>
          </a:p>
        </p:txBody>
      </p:sp>
      <p:sp>
        <p:nvSpPr>
          <p:cNvPr id="25" name="Text 22"/>
          <p:cNvSpPr txBox="1"/>
          <p:nvPr/>
        </p:nvSpPr>
        <p:spPr>
          <a:xfrm>
            <a:off x="8001000" y="257860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公開されない中小M&amp;Aの成約価格・倍率。AIの価格算定の根拠になる</a:t>
            </a:r>
            <a:endParaRPr lang="en-US" sz="1050" dirty="0"/>
          </a:p>
        </p:txBody>
      </p:sp>
      <p:sp>
        <p:nvSpPr>
          <p:cNvPr id="26" name="asset 2"/>
          <p:cNvSpPr/>
          <p:nvPr/>
        </p:nvSpPr>
        <p:spPr>
          <a:xfrm>
            <a:off x="7040880" y="342900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4"/>
          <p:cNvSpPr/>
          <p:nvPr/>
        </p:nvSpPr>
        <p:spPr>
          <a:xfrm>
            <a:off x="7223760" y="3721608"/>
            <a:ext cx="603504" cy="603504"/>
          </a:xfrm>
          <a:prstGeom prst="ellipse">
            <a:avLst/>
          </a:prstGeom>
          <a:solidFill>
            <a:schemeClr val="tx1"/>
          </a:solidFill>
          <a:ln w="12700">
            <a:solidFill>
              <a:schemeClr val="tx1"/>
            </a:solidFill>
            <a:prstDash val="solid"/>
          </a:ln>
        </p:spPr>
      </p:sp>
      <p:sp>
        <p:nvSpPr>
          <p:cNvPr id="28" name="Text 25"/>
          <p:cNvSpPr txBox="1"/>
          <p:nvPr/>
        </p:nvSpPr>
        <p:spPr>
          <a:xfrm>
            <a:off x="7223760" y="372160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9" name="Image 1" descr="preencoded.png">    </p:cNvPr>
          <p:cNvPicPr>
            <a:picLocks noChangeAspect="1"/>
          </p:cNvPicPr>
          <p:nvPr/>
        </p:nvPicPr>
        <p:blipFill>
          <a:blip r:embed="rId2"/>
          <a:stretch>
            <a:fillRect/>
          </a:stretch>
        </p:blipFill>
        <p:spPr>
          <a:xfrm>
            <a:off x="7370064" y="3867912"/>
            <a:ext cx="310896" cy="310896"/>
          </a:xfrm>
          <a:prstGeom prst="rect">
            <a:avLst/>
          </a:prstGeom>
        </p:spPr>
      </p:pic>
      <p:sp>
        <p:nvSpPr>
          <p:cNvPr id="30" name="Text 26"/>
          <p:cNvSpPr txBox="1"/>
          <p:nvPr/>
        </p:nvSpPr>
        <p:spPr>
          <a:xfrm>
            <a:off x="8001000" y="354787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認証バイヤーの一覧</a:t>
            </a:r>
            <a:endParaRPr lang="en-US" sz="1350" dirty="0"/>
          </a:p>
        </p:txBody>
      </p:sp>
      <p:sp>
        <p:nvSpPr>
          <p:cNvPr id="31" name="Text 27"/>
          <p:cNvSpPr txBox="1"/>
          <p:nvPr/>
        </p:nvSpPr>
        <p:spPr>
          <a:xfrm>
            <a:off x="8001000" y="390448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財務・実績・反社を確認した買い手。悪質な買い手問題への答えになる</a:t>
            </a:r>
            <a:endParaRPr lang="en-US" sz="1050" dirty="0"/>
          </a:p>
        </p:txBody>
      </p:sp>
      <p:sp>
        <p:nvSpPr>
          <p:cNvPr id="32" name="asset 3"/>
          <p:cNvSpPr/>
          <p:nvPr/>
        </p:nvSpPr>
        <p:spPr>
          <a:xfrm>
            <a:off x="7040880" y="475488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3" name="Shape 29"/>
          <p:cNvSpPr/>
          <p:nvPr/>
        </p:nvSpPr>
        <p:spPr>
          <a:xfrm>
            <a:off x="7223760" y="5047488"/>
            <a:ext cx="603504" cy="603504"/>
          </a:xfrm>
          <a:prstGeom prst="ellipse">
            <a:avLst/>
          </a:prstGeom>
          <a:solidFill>
            <a:schemeClr val="tx1"/>
          </a:solidFill>
          <a:ln w="12700">
            <a:solidFill>
              <a:schemeClr val="tx1"/>
            </a:solidFill>
            <a:prstDash val="solid"/>
          </a:ln>
        </p:spPr>
      </p:sp>
      <p:sp>
        <p:nvSpPr>
          <p:cNvPr id="34" name="Text 30"/>
          <p:cNvSpPr txBox="1"/>
          <p:nvPr/>
        </p:nvSpPr>
        <p:spPr>
          <a:xfrm>
            <a:off x="7223760" y="504748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35" name="Image 2" descr="preencoded.png">    </p:cNvPr>
          <p:cNvPicPr>
            <a:picLocks noChangeAspect="1"/>
          </p:cNvPicPr>
          <p:nvPr/>
        </p:nvPicPr>
        <p:blipFill>
          <a:blip r:embed="rId3"/>
          <a:stretch>
            <a:fillRect/>
          </a:stretch>
        </p:blipFill>
        <p:spPr>
          <a:xfrm>
            <a:off x="7370064" y="5193792"/>
            <a:ext cx="310896" cy="310896"/>
          </a:xfrm>
          <a:prstGeom prst="rect">
            <a:avLst/>
          </a:prstGeom>
        </p:spPr>
      </p:pic>
      <p:sp>
        <p:nvSpPr>
          <p:cNvPr id="36" name="Text 31"/>
          <p:cNvSpPr txBox="1"/>
          <p:nvPr/>
        </p:nvSpPr>
        <p:spPr>
          <a:xfrm>
            <a:off x="8001000" y="487375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買収ニーズのデータ</a:t>
            </a:r>
            <a:endParaRPr lang="en-US" sz="1350" dirty="0"/>
          </a:p>
        </p:txBody>
      </p:sp>
      <p:sp>
        <p:nvSpPr>
          <p:cNvPr id="37" name="Text 32"/>
          <p:cNvSpPr txBox="1"/>
          <p:nvPr/>
        </p:nvSpPr>
        <p:spPr>
          <a:xfrm>
            <a:off x="8001000" y="523036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誰が何をいくらで買いたいか（本人同意のもと）。仲介・FA向けの商品になる</a:t>
            </a:r>
            <a:endParaRPr lang="en-US" sz="10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BUSINESS PLAN</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3年目に売上8億円、コンサルタント10名体制</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月額のストック収益に、成約時の成功報酬が上乗せされる（仮説）</a:t>
            </a:r>
            <a:endParaRPr lang="en-US" sz="1350" dirty="0"/>
          </a:p>
        </p:txBody>
      </p:sp>
      <p:graphicFrame>
        <p:nvGraphicFramePr>
          <p:cNvPr id="6" name="plan chart" descr=""/>
          <p:cNvGraphicFramePr/>
          <p:nvPr/>
        </p:nvGraphicFramePr>
        <p:xfrm>
          <a:off x="685800" y="2011680"/>
          <a:ext cx="6035040" cy="4069080"/>
        </p:xfrm>
        <a:graphic xmlns:a="http://schemas.openxmlformats.org/drawingml/2006/main">
          <a:graphicData uri="http://schemas.openxmlformats.org/drawingml/2006/chart">
            <c:chart xmlns:c="http://schemas.openxmlformats.org/drawingml/2006/chart" r:id="rId1"/>
          </a:graphicData>
        </a:graphic>
      </p:graphicFrame>
      <p:sp>
        <p:nvSpPr>
          <p:cNvPr id="7" name="kpi 1"/>
          <p:cNvSpPr/>
          <p:nvPr/>
        </p:nvSpPr>
        <p:spPr>
          <a:xfrm>
            <a:off x="7040880" y="2103120"/>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8" name="Text 5"/>
          <p:cNvSpPr txBox="1"/>
          <p:nvPr/>
        </p:nvSpPr>
        <p:spPr>
          <a:xfrm>
            <a:off x="7269480" y="2103120"/>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0.7億</a:t>
            </a:r>
            <a:endParaRPr lang="en-US" sz="2400" dirty="0"/>
          </a:p>
        </p:txBody>
      </p:sp>
      <p:sp>
        <p:nvSpPr>
          <p:cNvPr id="9" name="Text 6"/>
          <p:cNvSpPr txBox="1"/>
          <p:nvPr/>
        </p:nvSpPr>
        <p:spPr>
          <a:xfrm>
            <a:off x="8732520" y="2103120"/>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1年目</a:t>
            </a:r>
            <a:endParaRPr lang="en-US" sz="1250" dirty="0"/>
          </a:p>
          <a:p>
            <a:pPr indent="0" marL="0">
              <a:buNone/>
            </a:pPr>
            <a:r>
              <a:rPr lang="en-US" sz="1050" dirty="0">
                <a:solidFill>
                  <a:schemeClr val="accent2"/>
                </a:solidFill>
              </a:rPr>
              <a:t>コンサル2名・顧客10社・成約2件</a:t>
            </a:r>
            <a:endParaRPr lang="en-US" sz="1250" dirty="0"/>
          </a:p>
        </p:txBody>
      </p:sp>
      <p:sp>
        <p:nvSpPr>
          <p:cNvPr id="10" name="kpi 2"/>
          <p:cNvSpPr/>
          <p:nvPr/>
        </p:nvSpPr>
        <p:spPr>
          <a:xfrm>
            <a:off x="7040880" y="3127248"/>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8"/>
          <p:cNvSpPr txBox="1"/>
          <p:nvPr/>
        </p:nvSpPr>
        <p:spPr>
          <a:xfrm>
            <a:off x="7269480" y="3127248"/>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3.1億</a:t>
            </a:r>
            <a:endParaRPr lang="en-US" sz="2400" dirty="0"/>
          </a:p>
        </p:txBody>
      </p:sp>
      <p:sp>
        <p:nvSpPr>
          <p:cNvPr id="12" name="Text 9"/>
          <p:cNvSpPr txBox="1"/>
          <p:nvPr/>
        </p:nvSpPr>
        <p:spPr>
          <a:xfrm>
            <a:off x="8732520" y="3127248"/>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2年目</a:t>
            </a:r>
            <a:endParaRPr lang="en-US" sz="1250" dirty="0"/>
          </a:p>
          <a:p>
            <a:pPr indent="0" marL="0">
              <a:buNone/>
            </a:pPr>
            <a:r>
              <a:rPr lang="en-US" sz="1050" dirty="0">
                <a:solidFill>
                  <a:schemeClr val="accent2"/>
                </a:solidFill>
              </a:rPr>
              <a:t>コンサル5名・顧客40社・成約8件</a:t>
            </a:r>
            <a:endParaRPr lang="en-US" sz="1250" dirty="0"/>
          </a:p>
        </p:txBody>
      </p:sp>
      <p:sp>
        <p:nvSpPr>
          <p:cNvPr id="13" name="kpi 3"/>
          <p:cNvSpPr/>
          <p:nvPr/>
        </p:nvSpPr>
        <p:spPr>
          <a:xfrm>
            <a:off x="7040880" y="4151376"/>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1"/>
          <p:cNvSpPr txBox="1"/>
          <p:nvPr/>
        </p:nvSpPr>
        <p:spPr>
          <a:xfrm>
            <a:off x="7269480" y="4151376"/>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8.2億</a:t>
            </a:r>
            <a:endParaRPr lang="en-US" sz="2400" dirty="0"/>
          </a:p>
        </p:txBody>
      </p:sp>
      <p:sp>
        <p:nvSpPr>
          <p:cNvPr id="15" name="Text 12"/>
          <p:cNvSpPr txBox="1"/>
          <p:nvPr/>
        </p:nvSpPr>
        <p:spPr>
          <a:xfrm>
            <a:off x="8732520" y="4151376"/>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3年目</a:t>
            </a:r>
            <a:endParaRPr lang="en-US" sz="1250" dirty="0"/>
          </a:p>
          <a:p>
            <a:pPr indent="0" marL="0">
              <a:buNone/>
            </a:pPr>
            <a:r>
              <a:rPr lang="en-US" sz="1050" dirty="0">
                <a:solidFill>
                  <a:schemeClr val="accent2"/>
                </a:solidFill>
              </a:rPr>
              <a:t>コンサル10名・顧客100社・成約25件</a:t>
            </a:r>
            <a:endParaRPr lang="en-US" sz="1250" dirty="0"/>
          </a:p>
        </p:txBody>
      </p:sp>
      <p:sp>
        <p:nvSpPr>
          <p:cNvPr id="16" name="conclusion bar"/>
          <p:cNvSpPr/>
          <p:nvPr/>
        </p:nvSpPr>
        <p:spPr>
          <a:xfrm>
            <a:off x="7040880" y="5230368"/>
            <a:ext cx="4462272" cy="868680"/>
          </a:xfrm>
          <a:prstGeom prst="roundRect">
            <a:avLst>
              <a:gd name="adj" fmla="val 4211"/>
            </a:avLst>
          </a:prstGeom>
          <a:solidFill>
            <a:schemeClr val="tx1"/>
          </a:solidFill>
          <a:ln w="12700">
            <a:solidFill>
              <a:schemeClr val="tx1"/>
            </a:solidFill>
            <a:prstDash val="solid"/>
          </a:ln>
        </p:spPr>
      </p:sp>
      <p:sp>
        <p:nvSpPr>
          <p:cNvPr id="17" name="Text 14"/>
          <p:cNvSpPr txBox="1"/>
          <p:nvPr/>
        </p:nvSpPr>
        <p:spPr>
          <a:xfrm>
            <a:off x="7360920" y="5230368"/>
            <a:ext cx="3822192" cy="868680"/>
          </a:xfrm>
          <a:prstGeom prst="rect">
            <a:avLst/>
          </a:prstGeom>
          <a:noFill/>
          <a:ln/>
        </p:spPr>
        <p:txBody>
          <a:bodyPr wrap="square" lIns="0" tIns="0" rIns="0" bIns="0" rtlCol="0" anchor="ctr"/>
          <a:lstStyle/>
          <a:p>
            <a:pPr indent="0" marL="0">
              <a:buNone/>
            </a:pPr>
            <a:r>
              <a:rPr lang="en-US" sz="1400" b="1" dirty="0">
                <a:solidFill>
                  <a:schemeClr val="bg1"/>
                </a:solidFill>
              </a:rPr>
              <a:t>コンサルタント1人あたり 年約8,000万円</a:t>
            </a:r>
            <a:endParaRPr lang="en-US" sz="1300" dirty="0"/>
          </a:p>
          <a:p>
            <a:pPr indent="0" marL="0">
              <a:buNone/>
            </a:pPr>
            <a:r>
              <a:rPr lang="en-US" sz="1100" dirty="0">
                <a:solidFill>
                  <a:schemeClr val="accent3"/>
                </a:solidFill>
              </a:rPr>
              <a:t>10社×月50〜80万円＋年3件の成功報酬。人件費に対して粗利率は十分</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ROADMAP</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小さく有償で始め、データで勝つ</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段階ごとに「次へ進む条件」を決め、満たしてから投資を増やす</a:t>
            </a:r>
            <a:endParaRPr lang="en-US" sz="1350" dirty="0"/>
          </a:p>
        </p:txBody>
      </p:sp>
      <p:sp>
        <p:nvSpPr>
          <p:cNvPr id="6" name="phase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105156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1</a:t>
            </a:r>
            <a:endParaRPr lang="en-US" sz="950" dirty="0"/>
          </a:p>
        </p:txBody>
      </p:sp>
      <p:sp>
        <p:nvSpPr>
          <p:cNvPr id="9" name="Text 7"/>
          <p:cNvSpPr txBox="1"/>
          <p:nvPr/>
        </p:nvSpPr>
        <p:spPr>
          <a:xfrm>
            <a:off x="2148840"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0〜6ヶ月</a:t>
            </a:r>
            <a:endParaRPr lang="en-US" sz="1100" dirty="0"/>
          </a:p>
        </p:txBody>
      </p:sp>
      <p:sp>
        <p:nvSpPr>
          <p:cNvPr id="10" name="Text 8"/>
          <p:cNvSpPr txBox="1"/>
          <p:nvPr/>
        </p:nvSpPr>
        <p:spPr>
          <a:xfrm>
            <a:off x="960120"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立ち上げ</a:t>
            </a:r>
            <a:endParaRPr lang="en-US" sz="1900" dirty="0"/>
          </a:p>
        </p:txBody>
      </p:sp>
      <p:sp>
        <p:nvSpPr>
          <p:cNvPr id="11" name="Text 9"/>
          <p:cNvSpPr txBox="1"/>
          <p:nvPr/>
        </p:nvSpPr>
        <p:spPr>
          <a:xfrm>
            <a:off x="960120"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中野＋コンサルタント2名</a:t>
            </a:r>
            <a:endParaRPr lang="en-US" sz="1200" dirty="0"/>
          </a:p>
          <a:p>
            <a:pPr marL="152400" indent="-152400">
              <a:spcAft>
                <a:spcPts val="600"/>
              </a:spcAft>
              <a:buSzPct val="100000"/>
              <a:buChar char="•"/>
            </a:pPr>
            <a:r>
              <a:rPr lang="en-US" sz="1200" dirty="0">
                <a:solidFill>
                  <a:schemeClr val="tx1"/>
                </a:solidFill>
              </a:rPr>
              <a:t>有償の顧客10社</a:t>
            </a:r>
            <a:endParaRPr lang="en-US" sz="1200" dirty="0"/>
          </a:p>
          <a:p>
            <a:pPr marL="152400" indent="-152400">
              <a:spcAft>
                <a:spcPts val="600"/>
              </a:spcAft>
              <a:buSzPct val="100000"/>
              <a:buChar char="•"/>
            </a:pPr>
            <a:r>
              <a:rPr lang="en-US" sz="1200" dirty="0">
                <a:solidFill>
                  <a:schemeClr val="tx1"/>
                </a:solidFill>
              </a:rPr>
              <a:t>AI分析ツールの初版</a:t>
            </a:r>
            <a:endParaRPr lang="en-US" sz="1200" dirty="0"/>
          </a:p>
          <a:p>
            <a:pPr marL="152400" indent="-152400">
              <a:spcAft>
                <a:spcPts val="600"/>
              </a:spcAft>
              <a:buSzPct val="100000"/>
              <a:buChar char="•"/>
            </a:pPr>
            <a:r>
              <a:rPr lang="en-US" sz="1200" dirty="0">
                <a:solidFill>
                  <a:schemeClr val="tx1"/>
                </a:solidFill>
              </a:rPr>
              <a:t>M&amp;A支援機関登録・法務整理</a:t>
            </a:r>
            <a:endParaRPr lang="en-US" sz="1200" dirty="0"/>
          </a:p>
        </p:txBody>
      </p:sp>
      <p:sp>
        <p:nvSpPr>
          <p:cNvPr id="12" name="Shape 10"/>
          <p:cNvSpPr/>
          <p:nvPr/>
        </p:nvSpPr>
        <p:spPr>
          <a:xfrm>
            <a:off x="960120" y="5212080"/>
            <a:ext cx="2898648" cy="0"/>
          </a:xfrm>
          <a:prstGeom prst="line">
            <a:avLst/>
          </a:prstGeom>
          <a:noFill/>
          <a:ln w="9525">
            <a:solidFill>
              <a:srgbClr val="E6DCCB"/>
            </a:solidFill>
            <a:prstDash val="solid"/>
          </a:ln>
        </p:spPr>
      </p:sp>
      <p:sp>
        <p:nvSpPr>
          <p:cNvPr id="13" name="Text 11"/>
          <p:cNvSpPr txBox="1"/>
          <p:nvPr/>
        </p:nvSpPr>
        <p:spPr>
          <a:xfrm>
            <a:off x="960120"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継続意向 70%以上</a:t>
            </a:r>
            <a:endParaRPr lang="en-US" sz="1150" dirty="0"/>
          </a:p>
        </p:txBody>
      </p:sp>
      <p:sp>
        <p:nvSpPr>
          <p:cNvPr id="14" name="phase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Shape 13"/>
          <p:cNvSpPr/>
          <p:nvPr/>
        </p:nvSpPr>
        <p:spPr>
          <a:xfrm>
            <a:off x="4645152" y="2331720"/>
            <a:ext cx="1051560" cy="274320"/>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4645152"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2</a:t>
            </a:r>
            <a:endParaRPr lang="en-US" sz="950" dirty="0"/>
          </a:p>
        </p:txBody>
      </p:sp>
      <p:sp>
        <p:nvSpPr>
          <p:cNvPr id="17" name="Text 15"/>
          <p:cNvSpPr txBox="1"/>
          <p:nvPr/>
        </p:nvSpPr>
        <p:spPr>
          <a:xfrm>
            <a:off x="5833872"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6〜18ヶ月</a:t>
            </a:r>
            <a:endParaRPr lang="en-US" sz="1100" dirty="0"/>
          </a:p>
        </p:txBody>
      </p:sp>
      <p:sp>
        <p:nvSpPr>
          <p:cNvPr id="18" name="Text 16"/>
          <p:cNvSpPr txBox="1"/>
          <p:nvPr/>
        </p:nvSpPr>
        <p:spPr>
          <a:xfrm>
            <a:off x="4645152"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拡大</a:t>
            </a:r>
            <a:endParaRPr lang="en-US" sz="1900" dirty="0"/>
          </a:p>
        </p:txBody>
      </p:sp>
      <p:sp>
        <p:nvSpPr>
          <p:cNvPr id="19" name="Text 17"/>
          <p:cNvSpPr txBox="1"/>
          <p:nvPr/>
        </p:nvSpPr>
        <p:spPr>
          <a:xfrm>
            <a:off x="4645152"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コンサルタント5名</a:t>
            </a:r>
            <a:endParaRPr lang="en-US" sz="1200" dirty="0"/>
          </a:p>
          <a:p>
            <a:pPr marL="152400" indent="-152400">
              <a:spcAft>
                <a:spcPts val="600"/>
              </a:spcAft>
              <a:buSzPct val="100000"/>
              <a:buChar char="•"/>
            </a:pPr>
            <a:r>
              <a:rPr lang="en-US" sz="1200" dirty="0">
                <a:solidFill>
                  <a:schemeClr val="tx1"/>
                </a:solidFill>
              </a:rPr>
              <a:t>顧客40社・成約8件</a:t>
            </a:r>
            <a:endParaRPr lang="en-US" sz="1200" dirty="0"/>
          </a:p>
          <a:p>
            <a:pPr marL="152400" indent="-152400">
              <a:spcAft>
                <a:spcPts val="600"/>
              </a:spcAft>
              <a:buSzPct val="100000"/>
              <a:buChar char="•"/>
            </a:pPr>
            <a:r>
              <a:rPr lang="en-US" sz="1200" dirty="0">
                <a:solidFill>
                  <a:schemeClr val="tx1"/>
                </a:solidFill>
              </a:rPr>
              <a:t>提携金融機関3〜5行</a:t>
            </a:r>
            <a:endParaRPr lang="en-US" sz="1200" dirty="0"/>
          </a:p>
          <a:p>
            <a:pPr marL="152400" indent="-152400">
              <a:spcAft>
                <a:spcPts val="600"/>
              </a:spcAft>
              <a:buSzPct val="100000"/>
              <a:buChar char="•"/>
            </a:pPr>
            <a:r>
              <a:rPr lang="en-US" sz="1200" dirty="0">
                <a:solidFill>
                  <a:schemeClr val="tx1"/>
                </a:solidFill>
              </a:rPr>
              <a:t>認証バイヤー制度</a:t>
            </a:r>
            <a:endParaRPr lang="en-US" sz="1200" dirty="0"/>
          </a:p>
        </p:txBody>
      </p:sp>
      <p:sp>
        <p:nvSpPr>
          <p:cNvPr id="20" name="Shape 18"/>
          <p:cNvSpPr/>
          <p:nvPr/>
        </p:nvSpPr>
        <p:spPr>
          <a:xfrm>
            <a:off x="4645152" y="5212080"/>
            <a:ext cx="2898648" cy="0"/>
          </a:xfrm>
          <a:prstGeom prst="line">
            <a:avLst/>
          </a:prstGeom>
          <a:noFill/>
          <a:ln w="9525">
            <a:solidFill>
              <a:srgbClr val="E6DCCB"/>
            </a:solidFill>
            <a:prstDash val="solid"/>
          </a:ln>
        </p:spPr>
      </p:sp>
      <p:sp>
        <p:nvSpPr>
          <p:cNvPr id="21" name="Text 19"/>
          <p:cNvSpPr txBox="1"/>
          <p:nvPr/>
        </p:nvSpPr>
        <p:spPr>
          <a:xfrm>
            <a:off x="4645152"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成約8件</a:t>
            </a:r>
            <a:endParaRPr lang="en-US" sz="1150" dirty="0"/>
          </a:p>
        </p:txBody>
      </p:sp>
      <p:sp>
        <p:nvSpPr>
          <p:cNvPr id="22" name="phase 3"/>
          <p:cNvSpPr/>
          <p:nvPr/>
        </p:nvSpPr>
        <p:spPr>
          <a:xfrm>
            <a:off x="8055864" y="2103120"/>
            <a:ext cx="3447288" cy="3931920"/>
          </a:xfrm>
          <a:prstGeom prst="roundRect">
            <a:avLst>
              <a:gd name="adj" fmla="val 1592"/>
            </a:avLst>
          </a:prstGeom>
          <a:solidFill>
            <a:schemeClr val="tx1"/>
          </a:solidFill>
          <a:ln w="12700">
            <a:solidFill>
              <a:schemeClr val="tx1"/>
            </a:solidFill>
            <a:prstDash val="solid"/>
          </a:ln>
        </p:spPr>
      </p:sp>
      <p:sp>
        <p:nvSpPr>
          <p:cNvPr id="23" name="Shape 21"/>
          <p:cNvSpPr/>
          <p:nvPr/>
        </p:nvSpPr>
        <p:spPr>
          <a:xfrm>
            <a:off x="8330184" y="2331720"/>
            <a:ext cx="1051560"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8330184"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3</a:t>
            </a:r>
            <a:endParaRPr lang="en-US" sz="950" dirty="0"/>
          </a:p>
        </p:txBody>
      </p:sp>
      <p:sp>
        <p:nvSpPr>
          <p:cNvPr id="25" name="Text 23"/>
          <p:cNvSpPr txBox="1"/>
          <p:nvPr/>
        </p:nvSpPr>
        <p:spPr>
          <a:xfrm>
            <a:off x="9518904" y="2331720"/>
            <a:ext cx="1737360" cy="274320"/>
          </a:xfrm>
          <a:prstGeom prst="rect">
            <a:avLst/>
          </a:prstGeom>
          <a:noFill/>
          <a:ln/>
        </p:spPr>
        <p:txBody>
          <a:bodyPr wrap="square" lIns="0" tIns="0" rIns="0" bIns="0" rtlCol="0" anchor="ctr"/>
          <a:lstStyle/>
          <a:p>
            <a:pPr indent="0" marL="0">
              <a:buNone/>
            </a:pPr>
            <a:r>
              <a:rPr lang="en-US" sz="1100" b="1" dirty="0">
                <a:solidFill>
                  <a:schemeClr val="accent4"/>
                </a:solidFill>
              </a:rPr>
              <a:t>18〜36ヶ月</a:t>
            </a:r>
            <a:endParaRPr lang="en-US" sz="1100" dirty="0"/>
          </a:p>
        </p:txBody>
      </p:sp>
      <p:sp>
        <p:nvSpPr>
          <p:cNvPr id="26" name="Text 24"/>
          <p:cNvSpPr txBox="1"/>
          <p:nvPr/>
        </p:nvSpPr>
        <p:spPr>
          <a:xfrm>
            <a:off x="8330184" y="2788920"/>
            <a:ext cx="2926080" cy="457200"/>
          </a:xfrm>
          <a:prstGeom prst="rect">
            <a:avLst/>
          </a:prstGeom>
          <a:noFill/>
          <a:ln/>
        </p:spPr>
        <p:txBody>
          <a:bodyPr wrap="square" lIns="0" tIns="0" rIns="0" bIns="0" rtlCol="0" anchor="t"/>
          <a:lstStyle/>
          <a:p>
            <a:pPr indent="0" marL="0">
              <a:buNone/>
            </a:pPr>
            <a:r>
              <a:rPr lang="en-US" sz="1900" b="1" dirty="0">
                <a:solidFill>
                  <a:schemeClr val="bg1"/>
                </a:solidFill>
              </a:rPr>
              <a:t>データで勝つ</a:t>
            </a:r>
            <a:endParaRPr lang="en-US" sz="1900" dirty="0"/>
          </a:p>
        </p:txBody>
      </p:sp>
      <p:sp>
        <p:nvSpPr>
          <p:cNvPr id="27" name="Text 25"/>
          <p:cNvSpPr txBox="1"/>
          <p:nvPr/>
        </p:nvSpPr>
        <p:spPr>
          <a:xfrm>
            <a:off x="8330184"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bg1"/>
                </a:solidFill>
              </a:rPr>
              <a:t>コンサルタント10名</a:t>
            </a:r>
            <a:endParaRPr lang="en-US" sz="1200" dirty="0"/>
          </a:p>
          <a:p>
            <a:pPr marL="152400" indent="-152400">
              <a:spcAft>
                <a:spcPts val="600"/>
              </a:spcAft>
              <a:buSzPct val="100000"/>
              <a:buChar char="•"/>
            </a:pPr>
            <a:r>
              <a:rPr lang="en-US" sz="1200" dirty="0">
                <a:solidFill>
                  <a:schemeClr val="bg1"/>
                </a:solidFill>
              </a:rPr>
              <a:t>成約データでAI価格算定</a:t>
            </a:r>
            <a:endParaRPr lang="en-US" sz="1200" dirty="0"/>
          </a:p>
          <a:p>
            <a:pPr marL="152400" indent="-152400">
              <a:spcAft>
                <a:spcPts val="600"/>
              </a:spcAft>
              <a:buSzPct val="100000"/>
              <a:buChar char="•"/>
            </a:pPr>
            <a:r>
              <a:rPr lang="en-US" sz="1200" dirty="0">
                <a:solidFill>
                  <a:schemeClr val="bg1"/>
                </a:solidFill>
              </a:rPr>
              <a:t>AIツール単体のSaaS提供</a:t>
            </a:r>
            <a:endParaRPr lang="en-US" sz="1200" dirty="0"/>
          </a:p>
          <a:p>
            <a:pPr marL="152400" indent="-152400">
              <a:spcAft>
                <a:spcPts val="600"/>
              </a:spcAft>
              <a:buSzPct val="100000"/>
              <a:buChar char="•"/>
            </a:pPr>
            <a:r>
              <a:rPr lang="en-US" sz="1200" dirty="0">
                <a:solidFill>
                  <a:schemeClr val="bg1"/>
                </a:solidFill>
              </a:rPr>
              <a:t>仲介・FA向けの打診サービス</a:t>
            </a:r>
            <a:endParaRPr lang="en-US" sz="1200" dirty="0"/>
          </a:p>
        </p:txBody>
      </p:sp>
      <p:sp>
        <p:nvSpPr>
          <p:cNvPr id="28" name="Shape 26"/>
          <p:cNvSpPr/>
          <p:nvPr/>
        </p:nvSpPr>
        <p:spPr>
          <a:xfrm>
            <a:off x="8330184" y="5212080"/>
            <a:ext cx="2898648" cy="0"/>
          </a:xfrm>
          <a:prstGeom prst="line">
            <a:avLst/>
          </a:prstGeom>
          <a:noFill/>
          <a:ln w="9525">
            <a:solidFill>
              <a:srgbClr val="4E443C"/>
            </a:solidFill>
            <a:prstDash val="solid"/>
          </a:ln>
        </p:spPr>
      </p:sp>
      <p:sp>
        <p:nvSpPr>
          <p:cNvPr id="29" name="Text 27"/>
          <p:cNvSpPr txBox="1"/>
          <p:nvPr/>
        </p:nvSpPr>
        <p:spPr>
          <a:xfrm>
            <a:off x="8330184"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bg1"/>
                </a:solidFill>
              </a:rPr>
              <a:t>顧客100社</a:t>
            </a:r>
            <a:endParaRPr lang="en-US" sz="11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21615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23544" y="1097280"/>
            <a:ext cx="9144000" cy="347472"/>
          </a:xfrm>
          <a:prstGeom prst="rect">
            <a:avLst/>
          </a:prstGeom>
          <a:noFill/>
          <a:ln/>
        </p:spPr>
        <p:txBody>
          <a:bodyPr wrap="square" lIns="0" tIns="0" rIns="0" bIns="0" rtlCol="0"/>
          <a:lstStyle/>
          <a:p>
            <a:pPr indent="0" marL="0">
              <a:buNone/>
            </a:pPr>
            <a:r>
              <a:rPr lang="en-US" sz="1200" b="1" spc="400" kern="0" dirty="0">
                <a:solidFill>
                  <a:schemeClr val="accent4"/>
                </a:solidFill>
              </a:rPr>
              <a:t>C L O S I N G</a:t>
            </a:r>
            <a:endParaRPr lang="en-US" sz="1200" dirty="0"/>
          </a:p>
        </p:txBody>
      </p:sp>
      <p:sp>
        <p:nvSpPr>
          <p:cNvPr id="5" name="Text 0"/>
          <p:cNvSpPr/>
          <p:nvPr>
            <p:ph idx="101" type="title" hasCustomPrompt="1"/>
          </p:nvPr>
        </p:nvSpPr>
        <p:spPr>
          <a:xfrm>
            <a:off x="685800" y="1554480"/>
            <a:ext cx="8961120" cy="1645920"/>
          </a:xfrm>
          <a:prstGeom prst="rect">
            <a:avLst/>
          </a:prstGeom>
          <a:noFill/>
          <a:ln/>
        </p:spPr>
        <p:txBody>
          <a:bodyPr wrap="square" lIns="0" tIns="0" rIns="0" bIns="0" rtlCol="0" anchor="t"/>
          <a:lstStyle/>
          <a:p>
            <a:pPr algn="l" indent="0" marL="0">
              <a:buNone/>
            </a:pPr>
            <a:r>
              <a:rPr lang="en-US" sz="3600" b="1" dirty="0">
                <a:solidFill>
                  <a:schemeClr val="bg1"/>
                </a:solidFill>
              </a:rPr>
              <a:t>M&amp;Aは、才能ではなく</a:t>
            </a:r>
            <a:endParaRPr lang="en-US" sz="3600" dirty="0"/>
          </a:p>
          <a:p>
            <a:pPr algn="l" indent="0" marL="0">
              <a:buNone/>
            </a:pPr>
            <a:r>
              <a:rPr lang="en-US" sz="3600" b="1" dirty="0">
                <a:solidFill>
                  <a:schemeClr val="bg1"/>
                </a:solidFill>
              </a:rPr>
              <a:t>手順で勝てる。</a:t>
            </a:r>
            <a:endParaRPr lang="en-US" sz="3600" dirty="0"/>
          </a:p>
        </p:txBody>
      </p:sp>
      <p:sp>
        <p:nvSpPr>
          <p:cNvPr id="6" name="Text 1"/>
          <p:cNvSpPr/>
          <p:nvPr>
            <p:ph idx="103" type="body" hasCustomPrompt="1"/>
          </p:nvPr>
        </p:nvSpPr>
        <p:spPr>
          <a:xfrm>
            <a:off x="685800" y="3566160"/>
            <a:ext cx="9601200" cy="1920240"/>
          </a:xfrm>
          <a:prstGeom prst="rect">
            <a:avLst/>
          </a:prstGeom>
          <a:noFill/>
          <a:ln/>
        </p:spPr>
        <p:txBody>
          <a:bodyPr wrap="square" lIns="0" tIns="0" rIns="0" bIns="0" rtlCol="0" anchor="t"/>
          <a:lstStyle/>
          <a:p>
            <a:pPr indent="0" marL="0">
              <a:buNone/>
            </a:pPr>
            <a:r>
              <a:rPr lang="en-US" sz="1500" dirty="0">
                <a:solidFill>
                  <a:schemeClr val="accent3"/>
                </a:solidFill>
              </a:rPr>
              <a:t>その手順を、49戦の勝ちと負けから。</a:t>
            </a:r>
            <a:endParaRPr lang="en-US" sz="1500" dirty="0"/>
          </a:p>
          <a:p>
            <a:pPr indent="0" marL="0">
              <a:buNone/>
            </a:pPr>
            <a:r>
              <a:rPr lang="en-US" sz="1500" b="1" dirty="0">
                <a:solidFill>
                  <a:schemeClr val="accent4"/>
                </a:solidFill>
              </a:rPr>
              <a:t>AIと一緒に、御社の担当者へ渡します。</a:t>
            </a:r>
            <a:endParaRPr lang="en-US" sz="1500" dirty="0"/>
          </a:p>
          <a:p>
            <a:pPr indent="0" marL="0">
              <a:buNone/>
            </a:pPr>
            <a:r>
              <a:rPr lang="en-US" sz="1500" dirty="0">
                <a:solidFill>
                  <a:schemeClr val="accent3"/>
                </a:solidFill>
              </a:rPr>
              <a:t> </a:t>
            </a:r>
            <a:endParaRPr lang="en-US" sz="1500" dirty="0"/>
          </a:p>
          <a:p>
            <a:pPr indent="0" marL="0">
              <a:buNone/>
            </a:pPr>
            <a:r>
              <a:rPr lang="en-US" sz="1500" dirty="0">
                <a:solidFill>
                  <a:schemeClr val="accent3"/>
                </a:solidFill>
              </a:rPr>
              <a:t>値づけを決める。PMIの人を決める。売る時期を決める。</a:t>
            </a:r>
            <a:endParaRPr lang="en-US" sz="1500" dirty="0"/>
          </a:p>
          <a:p>
            <a:pPr indent="0" marL="0">
              <a:buNone/>
            </a:pPr>
            <a:r>
              <a:rPr lang="en-US" sz="1500" dirty="0">
                <a:solidFill>
                  <a:schemeClr val="accent3"/>
                </a:solidFill>
              </a:rPr>
              <a:t>この3つを買う前に紙に書けば、負けても致命傷にはなりません。</a:t>
            </a:r>
            <a:endParaRPr lang="en-US" sz="1500" dirty="0"/>
          </a:p>
        </p:txBody>
      </p:sp>
      <p:sp>
        <p:nvSpPr>
          <p:cNvPr id="7" name="Text 1"/>
          <p:cNvSpPr/>
          <p:nvPr>
            <p:ph idx="104" type="body" hasCustomPrompt="1"/>
          </p:nvPr>
        </p:nvSpPr>
        <p:spPr>
          <a:xfrm>
            <a:off x="685800" y="5715000"/>
            <a:ext cx="9144000" cy="365760"/>
          </a:xfrm>
          <a:prstGeom prst="rect">
            <a:avLst/>
          </a:prstGeom>
          <a:noFill/>
          <a:ln/>
        </p:spPr>
        <p:txBody>
          <a:bodyPr wrap="square" lIns="0" tIns="0" rIns="0" bIns="0" rtlCol="0"/>
          <a:lstStyle/>
          <a:p>
            <a:pPr indent="0" marL="0">
              <a:buNone/>
            </a:pPr>
            <a:r>
              <a:rPr lang="en-US" sz="1300" b="1" dirty="0">
                <a:solidFill>
                  <a:schemeClr val="bg1"/>
                </a:solidFill>
              </a:rPr>
              <a:t>中野 邦人 ／ 株式会社WineBank</a:t>
            </a:r>
            <a:endParaRPr lang="en-US" sz="1300" dirty="0"/>
          </a:p>
        </p:txBody>
      </p:sp>
    </p:spTree>
  </p:cSld>
  <p:clrMapOvr>
    <a:masterClrMapping/>
  </p:clrMapOvr>
</p:sld>
</file>

<file path=ppt/theme/theme1.xml><?xml version="1.0" encoding="utf-8"?>
<a:theme xmlns:a="http://schemas.openxmlformats.org/drawingml/2006/main" name="Nakano Espresso">
  <a:themeElements>
    <a:clrScheme name="Nakano Espresso">
      <a:dk1>
        <a:srgbClr val="2B2622"/>
      </a:dk1>
      <a:lt1>
        <a:srgbClr val="FFFFFF"/>
      </a:lt1>
      <a:dk2>
        <a:srgbClr val="1C1714"/>
      </a:dk2>
      <a:lt2>
        <a:srgbClr val="F5EFE4"/>
      </a:lt2>
      <a:accent1>
        <a:srgbClr val="A78450"/>
      </a:accent1>
      <a:accent2>
        <a:srgbClr val="6F665F"/>
      </a:accent2>
      <a:accent3>
        <a:srgbClr val="E6DCCB"/>
      </a:accent3>
      <a:accent4>
        <a:srgbClr val="C9AE7E"/>
      </a:accent4>
      <a:accent5>
        <a:srgbClr val="9A8F84"/>
      </a:accent5>
      <a:accent6>
        <a:srgbClr val="F3E9D6"/>
      </a:accent6>
      <a:hlink>
        <a:srgbClr val="A78450"/>
      </a:hlink>
      <a:folHlink>
        <a:srgbClr val="6F665F"/>
      </a:folHlink>
    </a:clrScheme>
    <a:fontScheme name="Nakano Espresso">
      <a:majorFont>
        <a:latin typeface="Meiryo"/>
        <a:ea typeface="Meiry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Meiry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中小企業のAI M&amp;A部門 事業概要</dc:title>
  <dc:subject>PptxGenJS Presentation</dc:subject>
  <dc:creator>PptxGenJS</dc:creator>
  <cp:lastModifiedBy>PptxGenJS</cp:lastModifiedBy>
  <cp:revision>1</cp:revision>
  <dcterms:created xsi:type="dcterms:W3CDTF">2026-10-25T14:11:37Z</dcterms:created>
  <dcterms:modified xsi:type="dcterms:W3CDTF">2026-10-25T14:11:37Z</dcterms:modified>
</cp:coreProperties>
</file>