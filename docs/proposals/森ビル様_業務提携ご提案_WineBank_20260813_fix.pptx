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i0k0z7J9oSJHleMeTIMDaNShIC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095D70-C01B-41C2-B289-87E81EBF8A4A}">
  <a:tblStyle styleId="{6F095D70-C01B-41C2-B289-87E81EBF8A4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4"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9" Type="http://schemas.openxmlformats.org/officeDocument/2006/relationships/notesMaster" Target="notesMasters/notesMaster1.xml"/><Relationship Id="rId43" Type="http://customschemas.google.com/relationships/presentationmetadata" Target="meta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導入店舗数</c:v>
                </c:pt>
              </c:strCache>
            </c:strRef>
          </c:tx>
          <c:spPr>
            <a:solidFill>
              <a:srgbClr val="C68A65"/>
            </a:solidFill>
            <a:effectLst/>
          </c:spPr>
          <c:invertIfNegative val="0"/>
          <c:dLbls>
            <c:numFmt formatCode="#,##0" sourceLinked="0"/>
            <c:spPr>
              <a:noFill/>
              <a:ln>
                <a:noFill/>
              </a:ln>
              <a:effectLst/>
            </c:spPr>
            <c:txPr>
              <a:bodyPr/>
              <a:lstStyle/>
              <a:p>
                <a:pPr>
                  <a:defRPr sz="1000" b="0" i="0" u="none" strike="noStrike">
                    <a:solidFill>
                      <a:srgbClr val="1A1A1A"/>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8</c:v>
                </c:pt>
                <c:pt idx="1">
                  <c:v>20</c:v>
                </c:pt>
                <c:pt idx="2">
                  <c:v>35</c:v>
                </c:pt>
              </c:numCache>
            </c:numRef>
          </c:val>
          <c:extLst>
            <c:ext xmlns:c16="http://schemas.microsoft.com/office/drawing/2014/chart" uri="{C3380CC4-5D6E-409C-BE32-E72D297353CC}">
              <c16:uniqueId val="{00000000-0E02-490C-932A-67EBF431AF4E}"/>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378"/>
                </a:solidFill>
                <a:latin typeface="Yu Gothic"/>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12700" cap="flat">
              <a:solidFill>
                <a:srgbClr val="ED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6ABAF"/>
                </a:solidFill>
                <a:latin typeface="Yu Gothic"/>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stacked"/>
        <c:varyColors val="0"/>
        <c:ser>
          <c:idx val="0"/>
          <c:order val="0"/>
          <c:tx>
            <c:strRef>
              <c:f>Sheet1!$B$1</c:f>
              <c:strCache>
                <c:ptCount val="1"/>
                <c:pt idx="0">
                  <c:v>Cloud Wine Cave・WineGO・CLUB</c:v>
                </c:pt>
              </c:strCache>
            </c:strRef>
          </c:tx>
          <c:spPr>
            <a:solidFill>
              <a:srgbClr val="C68A65"/>
            </a:solidFill>
            <a:effectLst/>
          </c:spPr>
          <c:invertIfNegative val="0"/>
          <c:dLbls>
            <c:numFmt formatCode="#,##0" sourceLinked="0"/>
            <c:spPr>
              <a:noFill/>
              <a:ln>
                <a:noFill/>
              </a:ln>
              <a:effectLst/>
            </c:spPr>
            <c:txPr>
              <a:bodyPr/>
              <a:lstStyle/>
              <a:p>
                <a:pPr>
                  <a:defRPr sz="900" b="0" i="0" u="none" strike="noStrike">
                    <a:solidFill>
                      <a:srgbClr val="FFFFFF"/>
                    </a:solidFill>
                    <a:latin typeface="Yu Gothic"/>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Sheet1!$B$2:$B$4</c:f>
              <c:numCache>
                <c:formatCode>General</c:formatCode>
                <c:ptCount val="3"/>
                <c:pt idx="0">
                  <c:v>90</c:v>
                </c:pt>
                <c:pt idx="1">
                  <c:v>240</c:v>
                </c:pt>
                <c:pt idx="2">
                  <c:v>430</c:v>
                </c:pt>
              </c:numCache>
            </c:numRef>
          </c:val>
          <c:extLst>
            <c:ext xmlns:c16="http://schemas.microsoft.com/office/drawing/2014/chart" uri="{C3380CC4-5D6E-409C-BE32-E72D297353CC}">
              <c16:uniqueId val="{00000000-1792-4A08-B8A3-D481A7436370}"/>
            </c:ext>
          </c:extLst>
        </c:ser>
        <c:ser>
          <c:idx val="1"/>
          <c:order val="1"/>
          <c:tx>
            <c:strRef>
              <c:f>Sheet1!$C$1</c:f>
              <c:strCache>
                <c:ptCount val="1"/>
                <c:pt idx="0">
                  <c:v>クラウドワインセラー</c:v>
                </c:pt>
              </c:strCache>
            </c:strRef>
          </c:tx>
          <c:spPr>
            <a:solidFill>
              <a:srgbClr val="2F3941"/>
            </a:solidFill>
            <a:effectLst/>
          </c:spPr>
          <c:invertIfNegative val="0"/>
          <c:dLbls>
            <c:numFmt formatCode="#,##0" sourceLinked="0"/>
            <c:spPr>
              <a:noFill/>
              <a:ln>
                <a:noFill/>
              </a:ln>
              <a:effectLst/>
            </c:spPr>
            <c:txPr>
              <a:bodyPr/>
              <a:lstStyle/>
              <a:p>
                <a:pPr>
                  <a:defRPr sz="900" b="0" i="0" u="none" strike="noStrike">
                    <a:solidFill>
                      <a:srgbClr val="FFFFFF"/>
                    </a:solidFill>
                    <a:latin typeface="Yu Gothic"/>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Sheet1!$C$2:$C$4</c:f>
              <c:numCache>
                <c:formatCode>General</c:formatCode>
                <c:ptCount val="3"/>
                <c:pt idx="1">
                  <c:v>400</c:v>
                </c:pt>
                <c:pt idx="2">
                  <c:v>450</c:v>
                </c:pt>
              </c:numCache>
            </c:numRef>
          </c:val>
          <c:extLst>
            <c:ext xmlns:c16="http://schemas.microsoft.com/office/drawing/2014/chart" uri="{C3380CC4-5D6E-409C-BE32-E72D297353CC}">
              <c16:uniqueId val="{00000001-1792-4A08-B8A3-D481A7436370}"/>
            </c:ext>
          </c:extLst>
        </c:ser>
        <c:ser>
          <c:idx val="2"/>
          <c:order val="2"/>
          <c:tx>
            <c:strRef>
              <c:f>Sheet1!$D$1</c:f>
              <c:strCache>
                <c:ptCount val="1"/>
                <c:pt idx="0">
                  <c:v>レストラン業態</c:v>
                </c:pt>
              </c:strCache>
            </c:strRef>
          </c:tx>
          <c:spPr>
            <a:solidFill>
              <a:srgbClr val="9AA1A6"/>
            </a:solidFill>
            <a:effectLst/>
          </c:spPr>
          <c:invertIfNegative val="0"/>
          <c:dLbls>
            <c:numFmt formatCode="#,##0" sourceLinked="0"/>
            <c:spPr>
              <a:noFill/>
              <a:ln>
                <a:noFill/>
              </a:ln>
              <a:effectLst/>
            </c:spPr>
            <c:txPr>
              <a:bodyPr/>
              <a:lstStyle/>
              <a:p>
                <a:pPr>
                  <a:defRPr sz="900" b="0" i="0" u="none" strike="noStrike">
                    <a:solidFill>
                      <a:srgbClr val="FFFFFF"/>
                    </a:solidFill>
                    <a:latin typeface="Yu Gothic"/>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Year 1</c:v>
                </c:pt>
                <c:pt idx="1">
                  <c:v>Year 2</c:v>
                </c:pt>
                <c:pt idx="2">
                  <c:v>Year 3</c:v>
                </c:pt>
              </c:strCache>
            </c:strRef>
          </c:cat>
          <c:val>
            <c:numRef>
              <c:f>Sheet1!$D$2:$D$4</c:f>
              <c:numCache>
                <c:formatCode>General</c:formatCode>
                <c:ptCount val="3"/>
                <c:pt idx="2">
                  <c:v>600</c:v>
                </c:pt>
              </c:numCache>
            </c:numRef>
          </c:val>
          <c:extLst>
            <c:ext xmlns:c16="http://schemas.microsoft.com/office/drawing/2014/chart" uri="{C3380CC4-5D6E-409C-BE32-E72D297353CC}">
              <c16:uniqueId val="{00000002-1792-4A08-B8A3-D481A7436370}"/>
            </c:ext>
          </c:extLst>
        </c:ser>
        <c:dLbls>
          <c:dLblPos val="ctr"/>
          <c:showLegendKey val="0"/>
          <c:showVal val="1"/>
          <c:showCatName val="0"/>
          <c:showSerName val="0"/>
          <c:showPercent val="0"/>
          <c:showBubbleSize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378"/>
                </a:solidFill>
                <a:latin typeface="Yu Gothic"/>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DEE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6ABAF"/>
                </a:solidFill>
                <a:latin typeface="Yu Gothic"/>
              </a:defRPr>
            </a:pPr>
            <a:endParaRPr lang="en-US"/>
          </a:p>
        </c:txPr>
        <c:crossAx val="2094734554"/>
        <c:crosses val="autoZero"/>
        <c:crossBetween val="between"/>
      </c:valAx>
      <c:spPr>
        <a:noFill/>
        <a:ln>
          <a:noFill/>
        </a:ln>
        <a:effectLst/>
      </c:spPr>
    </c:plotArea>
    <c:legend>
      <c:legendPos val="b"/>
      <c:overlay val="0"/>
      <c:txPr>
        <a:bodyPr/>
        <a:lstStyle/>
        <a:p>
          <a:pPr>
            <a:defRPr sz="850">
              <a:solidFill>
                <a:srgbClr val="6E7378"/>
              </a:solidFill>
              <a:latin typeface="Yu Gothic"/>
              <a:cs typeface="Yu Gothic"/>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森ビル様向け業務提携提案。Cloud Wine Cave（クラウド型共有セラー）を核に、ヒルズのテナント飲食店・ワーカー・レジデンス居住者を一つのワイン在庫で結ぶ。投資商品の訴求は行わない。</a:t>
            </a:r>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b="0" i="0" u="none" strike="noStrike" cap="none">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 name="Google Shape;2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2" name="Google Shape;22;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 name="Google Shape;60;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1" name="Google Shape;61;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5" name="Google Shape;9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8" name="Google Shape;14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49" name="Google Shape;149;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1" name="Google Shape;20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8" name="Google Shape;228;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29" name="Google Shape;229;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7</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7" name="Google Shape;267;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68" name="Google Shape;268;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5" name="Google Shape;285;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86" name="Google Shape;286;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25" name="Google Shape;325;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5" name="Google Shape;35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56" name="Google Shape;356;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7" name="Google Shape;397;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98" name="Google Shape;398;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f99e209501_0_5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5" name="Google Shape;425;g3f99e209501_0_5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26" name="Google Shape;426;g3f99e209501_0_5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65" name="Google Shape;465;p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p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75" name="Google Shape;475;p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0" name="Google Shape;480;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1" name="Google Shape;481;p2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3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6" name="Google Shape;486;p3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7" name="Google Shape;487;p3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3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2" name="Google Shape;492;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93" name="Google Shape;493;p3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8" name="Google Shape;498;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99" name="Google Shape;499;p3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4" name="Google Shape;504;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05" name="Google Shape;505;p3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20</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6" name="Google Shape;546;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47" name="Google Shape;547;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21</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3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9" name="Google Shape;569;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70" name="Google Shape;570;p3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22</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f6e472ef3d_0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1" name="Google Shape;601;g3f6e472ef3d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02" name="Google Shape;602;g3f6e472ef3d_0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23</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1" name="Google Shape;651;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52" name="Google Shape;652;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24</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9" name="Google Shape;689;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90" name="Google Shape;690;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25</a:t>
            </a:fld>
            <a:endParaRPr sz="1800">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4" name="Google Shape;734;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35" name="Google Shape;735;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26</a:t>
            </a:fld>
            <a:endParaRPr sz="1800">
              <a:solidFill>
                <a:schemeClr val="dk1"/>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6" name="Google Shape;776;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77" name="Google Shape;77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27</a:t>
            </a:fld>
            <a:endParaRPr sz="1800">
              <a:solidFill>
                <a:schemeClr val="dk1"/>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1" name="Google Shape;821;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22" name="Google Shape;822;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28</a:t>
            </a:fld>
            <a:endParaRPr sz="1800">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1" name="Google Shape;861;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862" name="Google Shape;862;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29</a:t>
            </a:fld>
            <a:endParaRPr sz="1800">
              <a:solidFill>
                <a:schemeClr val="dk1"/>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7" name="Google Shape;917;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18" name="Google Shape;918;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30</a:t>
            </a:fld>
            <a:endParaRPr sz="1800">
              <a:solidFill>
                <a:schemeClr val="dk1"/>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9" name="Google Shape;939;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40" name="Google Shape;940;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31</a:t>
            </a:fld>
            <a:endParaRPr sz="1800">
              <a:solidFill>
                <a:schemeClr val="dk1"/>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0" name="Google Shape;960;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61" name="Google Shape;961;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32</a:t>
            </a:fld>
            <a:endParaRPr sz="1800">
              <a:solidFill>
                <a:schemeClr val="dk1"/>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89" name="Google Shape;989;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90" name="Google Shape;990;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33</a:t>
            </a:fld>
            <a:endParaRPr sz="1800">
              <a:solidFill>
                <a:schemeClr val="dk1"/>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2" name="Google Shape;1022;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23" name="Google Shape;1023;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34</a:t>
            </a:fld>
            <a:endParaRPr sz="1800">
              <a:solidFill>
                <a:schemeClr val="dk1"/>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6" name="Google Shape;1066;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67" name="Google Shape;1067;p2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35</a:t>
            </a:fld>
            <a:endParaRPr sz="1800">
              <a:solidFill>
                <a:schemeClr val="dk1"/>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3" name="Google Shape;1103;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104" name="Google Shape;1104;p2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36</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chart" Target="../charts/char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
        <p:cNvGrpSpPr/>
        <p:nvPr/>
      </p:nvGrpSpPr>
      <p:grpSpPr>
        <a:xfrm>
          <a:off x="0" y="0"/>
          <a:ext cx="0" cy="0"/>
          <a:chOff x="0" y="0"/>
          <a:chExt cx="0" cy="0"/>
        </a:xfrm>
      </p:grpSpPr>
      <p:pic>
        <p:nvPicPr>
          <p:cNvPr id="12" name="Google Shape;12;p1" descr="preencoded.png"/>
          <p:cNvPicPr preferRelativeResize="0"/>
          <p:nvPr/>
        </p:nvPicPr>
        <p:blipFill rotWithShape="1">
          <a:blip r:embed="rId3">
            <a:alphaModFix/>
          </a:blip>
          <a:srcRect/>
          <a:stretch/>
        </p:blipFill>
        <p:spPr>
          <a:xfrm>
            <a:off x="9923983" y="402336"/>
            <a:ext cx="1700784" cy="339242"/>
          </a:xfrm>
          <a:prstGeom prst="rect">
            <a:avLst/>
          </a:prstGeom>
          <a:noFill/>
          <a:ln>
            <a:noFill/>
          </a:ln>
        </p:spPr>
      </p:pic>
      <p:sp>
        <p:nvSpPr>
          <p:cNvPr id="13" name="Google Shape;13;p1"/>
          <p:cNvSpPr/>
          <p:nvPr/>
        </p:nvSpPr>
        <p:spPr>
          <a:xfrm>
            <a:off x="566928" y="2045958"/>
            <a:ext cx="822960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600"/>
              <a:buFont typeface="Arial"/>
              <a:buNone/>
            </a:pPr>
            <a:r>
              <a:rPr lang="en-US" sz="1600" b="0" i="0" u="none" strike="noStrike" cap="none">
                <a:solidFill>
                  <a:srgbClr val="6E7378"/>
                </a:solidFill>
                <a:latin typeface="Arial"/>
                <a:ea typeface="Arial"/>
                <a:cs typeface="Arial"/>
                <a:sym typeface="Arial"/>
              </a:rPr>
              <a:t>すべての人にファインワインを</a:t>
            </a:r>
            <a:endParaRPr sz="1600" b="0" i="0" u="none" strike="noStrike" cap="none">
              <a:solidFill>
                <a:schemeClr val="dk1"/>
              </a:solidFill>
              <a:latin typeface="Calibri"/>
              <a:ea typeface="Calibri"/>
              <a:cs typeface="Calibri"/>
              <a:sym typeface="Calibri"/>
            </a:endParaRPr>
          </a:p>
        </p:txBody>
      </p:sp>
      <p:sp>
        <p:nvSpPr>
          <p:cNvPr id="14" name="Google Shape;14;p1"/>
          <p:cNvSpPr/>
          <p:nvPr/>
        </p:nvSpPr>
        <p:spPr>
          <a:xfrm>
            <a:off x="566928" y="2617088"/>
            <a:ext cx="10058400" cy="6949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4400"/>
              <a:buFont typeface="Arial"/>
              <a:buNone/>
            </a:pPr>
            <a:r>
              <a:rPr lang="en-US" sz="4400" b="1" i="0" u="none" strike="noStrike" cap="none">
                <a:solidFill>
                  <a:srgbClr val="1A1A1A"/>
                </a:solidFill>
                <a:latin typeface="Arial"/>
                <a:ea typeface="Arial"/>
                <a:cs typeface="Arial"/>
                <a:sym typeface="Arial"/>
              </a:rPr>
              <a:t>ヒルズ経済圏 × ファインワイン</a:t>
            </a:r>
            <a:endParaRPr sz="4400" b="0" i="0" u="none" strike="noStrike" cap="none">
              <a:solidFill>
                <a:schemeClr val="dk1"/>
              </a:solidFill>
              <a:latin typeface="Calibri"/>
              <a:ea typeface="Calibri"/>
              <a:cs typeface="Calibri"/>
              <a:sym typeface="Calibri"/>
            </a:endParaRPr>
          </a:p>
        </p:txBody>
      </p:sp>
      <p:sp>
        <p:nvSpPr>
          <p:cNvPr id="15" name="Google Shape;15;p1"/>
          <p:cNvSpPr/>
          <p:nvPr/>
        </p:nvSpPr>
        <p:spPr>
          <a:xfrm>
            <a:off x="566928" y="3529584"/>
            <a:ext cx="1188720" cy="41148"/>
          </a:xfrm>
          <a:prstGeom prst="rect">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566928" y="3749040"/>
            <a:ext cx="8595360" cy="694944"/>
          </a:xfrm>
          <a:prstGeom prst="rect">
            <a:avLst/>
          </a:prstGeom>
          <a:noFill/>
          <a:ln>
            <a:noFill/>
          </a:ln>
        </p:spPr>
        <p:txBody>
          <a:bodyPr spcFirstLastPara="1" wrap="square" lIns="0" tIns="0" rIns="0" bIns="0" anchor="ctr" anchorCtr="0">
            <a:noAutofit/>
          </a:bodyPr>
          <a:lstStyle/>
          <a:p>
            <a:pPr marL="0" marR="0" lvl="0" indent="0" algn="l" rtl="0">
              <a:lnSpc>
                <a:spcPct val="122222"/>
              </a:lnSpc>
              <a:spcBef>
                <a:spcPts val="0"/>
              </a:spcBef>
              <a:spcAft>
                <a:spcPts val="0"/>
              </a:spcAft>
              <a:buClr>
                <a:srgbClr val="44494D"/>
              </a:buClr>
              <a:buSzPts val="1800"/>
              <a:buFont typeface="Arial"/>
              <a:buNone/>
            </a:pPr>
            <a:r>
              <a:rPr lang="en-US" sz="1800" b="0" i="0" u="none" strike="noStrike" cap="none">
                <a:solidFill>
                  <a:srgbClr val="44494D"/>
                </a:solidFill>
                <a:latin typeface="Arial"/>
                <a:ea typeface="Arial"/>
                <a:cs typeface="Arial"/>
                <a:sym typeface="Arial"/>
              </a:rPr>
              <a:t>Cloud Wine Cave を核とした、ワーカー・レジデンス・テナント飲食店向け</a:t>
            </a:r>
            <a:endParaRPr sz="1800" b="0" i="0" u="none" strike="noStrike" cap="none">
              <a:solidFill>
                <a:schemeClr val="dk1"/>
              </a:solidFill>
              <a:latin typeface="Calibri"/>
              <a:ea typeface="Calibri"/>
              <a:cs typeface="Calibri"/>
              <a:sym typeface="Calibri"/>
            </a:endParaRPr>
          </a:p>
          <a:p>
            <a:pPr marL="0" marR="0" lvl="0" indent="0" algn="l" rtl="0">
              <a:lnSpc>
                <a:spcPct val="122222"/>
              </a:lnSpc>
              <a:spcBef>
                <a:spcPts val="0"/>
              </a:spcBef>
              <a:spcAft>
                <a:spcPts val="0"/>
              </a:spcAft>
              <a:buClr>
                <a:srgbClr val="44494D"/>
              </a:buClr>
              <a:buSzPts val="1800"/>
              <a:buFont typeface="Arial"/>
              <a:buNone/>
            </a:pPr>
            <a:r>
              <a:rPr lang="en-US" sz="1800" b="0" i="0" u="none" strike="noStrike" cap="none">
                <a:solidFill>
                  <a:srgbClr val="44494D"/>
                </a:solidFill>
                <a:latin typeface="Arial"/>
                <a:ea typeface="Arial"/>
                <a:cs typeface="Arial"/>
                <a:sym typeface="Arial"/>
              </a:rPr>
              <a:t>ワインインフラの共同構築に関するご提案</a:t>
            </a:r>
            <a:endParaRPr sz="1800" b="0" i="0" u="none" strike="noStrike" cap="none">
              <a:solidFill>
                <a:schemeClr val="dk1"/>
              </a:solidFill>
              <a:latin typeface="Calibri"/>
              <a:ea typeface="Calibri"/>
              <a:cs typeface="Calibri"/>
              <a:sym typeface="Calibri"/>
            </a:endParaRPr>
          </a:p>
        </p:txBody>
      </p:sp>
      <p:sp>
        <p:nvSpPr>
          <p:cNvPr id="17" name="Google Shape;17;p1"/>
          <p:cNvSpPr/>
          <p:nvPr/>
        </p:nvSpPr>
        <p:spPr>
          <a:xfrm>
            <a:off x="8881567" y="5998464"/>
            <a:ext cx="274320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A6ABAF"/>
              </a:buClr>
              <a:buSzPts val="900"/>
              <a:buFont typeface="Calibri"/>
              <a:buNone/>
            </a:pPr>
            <a:r>
              <a:rPr lang="en-US" sz="900" b="0" i="0" u="none" strike="noStrike" cap="none">
                <a:solidFill>
                  <a:srgbClr val="A6ABAF"/>
                </a:solidFill>
                <a:latin typeface="Calibri"/>
                <a:ea typeface="Calibri"/>
                <a:cs typeface="Calibri"/>
                <a:sym typeface="Calibri"/>
              </a:rPr>
              <a:t>CONFIDENTIAL</a:t>
            </a:r>
            <a:endParaRPr sz="900" b="0" i="0" u="none" strike="noStrike" cap="none">
              <a:solidFill>
                <a:schemeClr val="dk1"/>
              </a:solidFill>
              <a:latin typeface="Calibri"/>
              <a:ea typeface="Calibri"/>
              <a:cs typeface="Calibri"/>
              <a:sym typeface="Calibri"/>
            </a:endParaRPr>
          </a:p>
        </p:txBody>
      </p:sp>
      <p:sp>
        <p:nvSpPr>
          <p:cNvPr id="18" name="Google Shape;18;p1"/>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
        <p:cNvGrpSpPr/>
        <p:nvPr/>
      </p:nvGrpSpPr>
      <p:grpSpPr>
        <a:xfrm>
          <a:off x="0" y="0"/>
          <a:ext cx="0" cy="0"/>
          <a:chOff x="0" y="0"/>
          <a:chExt cx="0" cy="0"/>
        </a:xfrm>
      </p:grpSpPr>
      <p:cxnSp>
        <p:nvCxnSpPr>
          <p:cNvPr id="24" name="Google Shape;24;p2"/>
          <p:cNvCxnSpPr/>
          <p:nvPr/>
        </p:nvCxnSpPr>
        <p:spPr>
          <a:xfrm>
            <a:off x="3304730" y="3403329"/>
            <a:ext cx="561300" cy="0"/>
          </a:xfrm>
          <a:prstGeom prst="straightConnector1">
            <a:avLst/>
          </a:prstGeom>
          <a:noFill/>
          <a:ln w="38100" cap="flat" cmpd="sng">
            <a:solidFill>
              <a:srgbClr val="B97245"/>
            </a:solidFill>
            <a:prstDash val="solid"/>
            <a:round/>
            <a:headEnd type="diamond" w="sm" len="sm"/>
            <a:tailEnd type="none" w="sm" len="sm"/>
          </a:ln>
        </p:spPr>
      </p:cxnSp>
      <p:grpSp>
        <p:nvGrpSpPr>
          <p:cNvPr id="25" name="Google Shape;25;p2"/>
          <p:cNvGrpSpPr/>
          <p:nvPr/>
        </p:nvGrpSpPr>
        <p:grpSpPr>
          <a:xfrm>
            <a:off x="469412" y="1509156"/>
            <a:ext cx="11253176" cy="3839688"/>
            <a:chOff x="503272" y="1538801"/>
            <a:chExt cx="11253176" cy="3839688"/>
          </a:xfrm>
        </p:grpSpPr>
        <p:sp>
          <p:nvSpPr>
            <p:cNvPr id="26" name="Google Shape;26;p2"/>
            <p:cNvSpPr/>
            <p:nvPr/>
          </p:nvSpPr>
          <p:spPr>
            <a:xfrm rot="10800000">
              <a:off x="8156448" y="3938489"/>
              <a:ext cx="3600000" cy="1440000"/>
            </a:xfrm>
            <a:prstGeom prst="snip2DiagRect">
              <a:avLst>
                <a:gd name="adj1" fmla="val 0"/>
                <a:gd name="adj2" fmla="val 16667"/>
              </a:avLst>
            </a:prstGeom>
            <a:solidFill>
              <a:srgbClr val="E3E6E8"/>
            </a:solidFill>
            <a:ln w="1905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 name="Google Shape;27;p2"/>
            <p:cNvSpPr/>
            <p:nvPr/>
          </p:nvSpPr>
          <p:spPr>
            <a:xfrm flipH="1">
              <a:off x="8156448" y="1538801"/>
              <a:ext cx="3600000" cy="1440000"/>
            </a:xfrm>
            <a:prstGeom prst="snip2DiagRect">
              <a:avLst>
                <a:gd name="adj1" fmla="val 0"/>
                <a:gd name="adj2" fmla="val 16667"/>
              </a:avLst>
            </a:prstGeom>
            <a:solidFill>
              <a:srgbClr val="E3E6E8"/>
            </a:solidFill>
            <a:ln w="1905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 name="Google Shape;28;p2"/>
            <p:cNvSpPr/>
            <p:nvPr/>
          </p:nvSpPr>
          <p:spPr>
            <a:xfrm rot="10800000" flipH="1">
              <a:off x="503272" y="3938489"/>
              <a:ext cx="3600000" cy="1440000"/>
            </a:xfrm>
            <a:prstGeom prst="snip2DiagRect">
              <a:avLst>
                <a:gd name="adj1" fmla="val 0"/>
                <a:gd name="adj2" fmla="val 16667"/>
              </a:avLst>
            </a:prstGeom>
            <a:solidFill>
              <a:srgbClr val="F5EFEB"/>
            </a:solidFill>
            <a:ln w="19050" cap="flat" cmpd="sng">
              <a:solidFill>
                <a:srgbClr val="B9724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 name="Google Shape;29;p2"/>
            <p:cNvSpPr/>
            <p:nvPr/>
          </p:nvSpPr>
          <p:spPr>
            <a:xfrm>
              <a:off x="503272" y="1538801"/>
              <a:ext cx="3600000" cy="1440000"/>
            </a:xfrm>
            <a:prstGeom prst="snip2DiagRect">
              <a:avLst>
                <a:gd name="adj1" fmla="val 0"/>
                <a:gd name="adj2" fmla="val 16667"/>
              </a:avLst>
            </a:prstGeom>
            <a:solidFill>
              <a:srgbClr val="F5EFEB"/>
            </a:solidFill>
            <a:ln w="19050" cap="flat" cmpd="sng">
              <a:solidFill>
                <a:srgbClr val="B9724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cxnSp>
        <p:nvCxnSpPr>
          <p:cNvPr id="30" name="Google Shape;30;p2"/>
          <p:cNvCxnSpPr/>
          <p:nvPr/>
        </p:nvCxnSpPr>
        <p:spPr>
          <a:xfrm>
            <a:off x="8333683" y="3403329"/>
            <a:ext cx="561300" cy="0"/>
          </a:xfrm>
          <a:prstGeom prst="straightConnector1">
            <a:avLst/>
          </a:prstGeom>
          <a:noFill/>
          <a:ln w="38100" cap="flat" cmpd="sng">
            <a:solidFill>
              <a:srgbClr val="2F5496"/>
            </a:solidFill>
            <a:prstDash val="solid"/>
            <a:round/>
            <a:headEnd type="none" w="sm" len="sm"/>
            <a:tailEnd type="diamond" w="sm" len="sm"/>
          </a:ln>
        </p:spPr>
      </p:cxnSp>
      <p:sp>
        <p:nvSpPr>
          <p:cNvPr id="31" name="Google Shape;31;p2"/>
          <p:cNvSpPr/>
          <p:nvPr/>
        </p:nvSpPr>
        <p:spPr>
          <a:xfrm>
            <a:off x="3857250" y="1675250"/>
            <a:ext cx="4477500" cy="3628200"/>
          </a:xfrm>
          <a:prstGeom prst="roundRect">
            <a:avLst>
              <a:gd name="adj" fmla="val 30256"/>
            </a:avLst>
          </a:prstGeom>
          <a:solidFill>
            <a:srgbClr val="2F3941"/>
          </a:solidFill>
          <a:ln w="12700" cap="flat" cmpd="sng">
            <a:solidFill>
              <a:srgbClr val="3333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2" name="Google Shape;32;p2"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33" name="Google Shape;33;p2"/>
          <p:cNvSpPr/>
          <p:nvPr/>
        </p:nvSpPr>
        <p:spPr>
          <a:xfrm>
            <a:off x="5532120" y="2775089"/>
            <a:ext cx="1115568"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050"/>
              <a:buFont typeface="Arial"/>
              <a:buNone/>
            </a:pPr>
            <a:r>
              <a:rPr lang="en-US" sz="1050" b="1">
                <a:solidFill>
                  <a:schemeClr val="dk1"/>
                </a:solidFill>
                <a:latin typeface="Arial"/>
                <a:ea typeface="Arial"/>
                <a:cs typeface="Arial"/>
                <a:sym typeface="Arial"/>
              </a:rPr>
              <a:t>THE FUTURE</a:t>
            </a:r>
            <a:endParaRPr sz="1050">
              <a:solidFill>
                <a:schemeClr val="dk1"/>
              </a:solidFill>
              <a:latin typeface="Calibri"/>
              <a:ea typeface="Calibri"/>
              <a:cs typeface="Calibri"/>
              <a:sym typeface="Calibri"/>
            </a:endParaRPr>
          </a:p>
        </p:txBody>
      </p:sp>
      <p:sp>
        <p:nvSpPr>
          <p:cNvPr id="34" name="Google Shape;34;p2"/>
          <p:cNvSpPr/>
          <p:nvPr/>
        </p:nvSpPr>
        <p:spPr>
          <a:xfrm>
            <a:off x="566928" y="627541"/>
            <a:ext cx="95097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2030年のヒルズ ─ 人とワインが巡る街</a:t>
            </a:r>
            <a:endParaRPr sz="2300">
              <a:solidFill>
                <a:schemeClr val="dk1"/>
              </a:solidFill>
              <a:latin typeface="Calibri"/>
              <a:ea typeface="Calibri"/>
              <a:cs typeface="Calibri"/>
              <a:sym typeface="Calibri"/>
            </a:endParaRPr>
          </a:p>
        </p:txBody>
      </p:sp>
      <p:sp>
        <p:nvSpPr>
          <p:cNvPr id="35" name="Google Shape;35;p2"/>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37" name="Google Shape;37;p2"/>
          <p:cNvSpPr/>
          <p:nvPr/>
        </p:nvSpPr>
        <p:spPr>
          <a:xfrm>
            <a:off x="4450080" y="2007093"/>
            <a:ext cx="32919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68A65"/>
              </a:buClr>
              <a:buSzPts val="1400"/>
              <a:buFont typeface="Arial"/>
              <a:buNone/>
            </a:pPr>
            <a:r>
              <a:rPr lang="en-US" sz="1400" b="1">
                <a:solidFill>
                  <a:srgbClr val="C68A65"/>
                </a:solidFill>
                <a:latin typeface="Arial"/>
                <a:ea typeface="Arial"/>
                <a:cs typeface="Arial"/>
                <a:sym typeface="Arial"/>
              </a:rPr>
              <a:t>ヒルズを中心に、人・ワインが巡る</a:t>
            </a:r>
            <a:endParaRPr sz="1400">
              <a:solidFill>
                <a:schemeClr val="dk1"/>
              </a:solidFill>
              <a:latin typeface="Calibri"/>
              <a:ea typeface="Calibri"/>
              <a:cs typeface="Calibri"/>
              <a:sym typeface="Calibri"/>
            </a:endParaRPr>
          </a:p>
        </p:txBody>
      </p:sp>
      <p:sp>
        <p:nvSpPr>
          <p:cNvPr id="38" name="Google Shape;38;p2"/>
          <p:cNvSpPr/>
          <p:nvPr/>
        </p:nvSpPr>
        <p:spPr>
          <a:xfrm>
            <a:off x="8515205" y="1693161"/>
            <a:ext cx="2796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F5496"/>
              </a:buClr>
              <a:buSzPts val="1600"/>
              <a:buFont typeface="Arial"/>
              <a:buNone/>
            </a:pPr>
            <a:r>
              <a:rPr lang="en-US" sz="1600" b="1">
                <a:solidFill>
                  <a:srgbClr val="2F5496"/>
                </a:solidFill>
                <a:latin typeface="Arial"/>
                <a:ea typeface="Arial"/>
                <a:cs typeface="Arial"/>
                <a:sym typeface="Arial"/>
              </a:rPr>
              <a:t>レジデンス居住者</a:t>
            </a:r>
            <a:endParaRPr sz="1600">
              <a:solidFill>
                <a:srgbClr val="2F5496"/>
              </a:solidFill>
              <a:latin typeface="Calibri"/>
              <a:ea typeface="Calibri"/>
              <a:cs typeface="Calibri"/>
              <a:sym typeface="Calibri"/>
            </a:endParaRPr>
          </a:p>
        </p:txBody>
      </p:sp>
      <p:sp>
        <p:nvSpPr>
          <p:cNvPr id="39" name="Google Shape;39;p2"/>
          <p:cNvSpPr/>
          <p:nvPr/>
        </p:nvSpPr>
        <p:spPr>
          <a:xfrm>
            <a:off x="8642306" y="1989985"/>
            <a:ext cx="25419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自分のセラーが、街の中に</a:t>
            </a:r>
            <a:endParaRPr sz="1400" u="sng">
              <a:solidFill>
                <a:schemeClr val="dk1"/>
              </a:solidFill>
              <a:latin typeface="Calibri"/>
              <a:ea typeface="Calibri"/>
              <a:cs typeface="Calibri"/>
              <a:sym typeface="Calibri"/>
            </a:endParaRPr>
          </a:p>
        </p:txBody>
      </p:sp>
      <p:sp>
        <p:nvSpPr>
          <p:cNvPr id="40" name="Google Shape;40;p2"/>
          <p:cNvSpPr/>
          <p:nvPr/>
        </p:nvSpPr>
        <p:spPr>
          <a:xfrm>
            <a:off x="8477149" y="2367650"/>
            <a:ext cx="28713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買う・預ける・出すがスマホひとつで完結。</a:t>
            </a:r>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飲みたい夜に、飲みたい一本がすぐ届く。</a:t>
            </a:r>
            <a:endParaRPr sz="1100">
              <a:solidFill>
                <a:schemeClr val="dk1"/>
              </a:solidFill>
              <a:latin typeface="Calibri"/>
              <a:ea typeface="Calibri"/>
              <a:cs typeface="Calibri"/>
              <a:sym typeface="Calibri"/>
            </a:endParaRPr>
          </a:p>
        </p:txBody>
      </p:sp>
      <p:sp>
        <p:nvSpPr>
          <p:cNvPr id="41" name="Google Shape;41;p2"/>
          <p:cNvSpPr/>
          <p:nvPr/>
        </p:nvSpPr>
        <p:spPr>
          <a:xfrm>
            <a:off x="721396" y="1693161"/>
            <a:ext cx="3075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55A11"/>
              </a:buClr>
              <a:buSzPts val="1600"/>
              <a:buFont typeface="Arial"/>
              <a:buNone/>
            </a:pPr>
            <a:r>
              <a:rPr lang="en-US" sz="1600" b="1">
                <a:solidFill>
                  <a:srgbClr val="B97245"/>
                </a:solidFill>
                <a:latin typeface="Arial"/>
                <a:ea typeface="Arial"/>
                <a:cs typeface="Arial"/>
                <a:sym typeface="Arial"/>
              </a:rPr>
              <a:t>商業施設</a:t>
            </a:r>
            <a:endParaRPr sz="1600">
              <a:solidFill>
                <a:srgbClr val="B97245"/>
              </a:solidFill>
              <a:latin typeface="Calibri"/>
              <a:ea typeface="Calibri"/>
              <a:cs typeface="Calibri"/>
              <a:sym typeface="Calibri"/>
            </a:endParaRPr>
          </a:p>
        </p:txBody>
      </p:sp>
      <p:sp>
        <p:nvSpPr>
          <p:cNvPr id="42" name="Google Shape;42;p2"/>
          <p:cNvSpPr/>
          <p:nvPr/>
        </p:nvSpPr>
        <p:spPr>
          <a:xfrm>
            <a:off x="869799" y="1989985"/>
            <a:ext cx="2779200" cy="330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人とワインが集う、街の目的地に</a:t>
            </a:r>
            <a:endParaRPr sz="1400" u="sng">
              <a:solidFill>
                <a:schemeClr val="dk1"/>
              </a:solidFill>
              <a:latin typeface="Calibri"/>
              <a:ea typeface="Calibri"/>
              <a:cs typeface="Calibri"/>
              <a:sym typeface="Calibri"/>
            </a:endParaRPr>
          </a:p>
        </p:txBody>
      </p:sp>
      <p:sp>
        <p:nvSpPr>
          <p:cNvPr id="43" name="Google Shape;43;p2"/>
          <p:cNvSpPr/>
          <p:nvPr/>
        </p:nvSpPr>
        <p:spPr>
          <a:xfrm>
            <a:off x="741214" y="2424354"/>
            <a:ext cx="30351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数千本のウォークインセラーとミシュランシェフ。ワインを目的に人が集まる場所へ。</a:t>
            </a:r>
            <a:endParaRPr sz="1100">
              <a:solidFill>
                <a:schemeClr val="dk1"/>
              </a:solidFill>
              <a:latin typeface="Calibri"/>
              <a:ea typeface="Calibri"/>
              <a:cs typeface="Calibri"/>
              <a:sym typeface="Calibri"/>
            </a:endParaRPr>
          </a:p>
        </p:txBody>
      </p:sp>
      <p:sp>
        <p:nvSpPr>
          <p:cNvPr id="44" name="Google Shape;44;p2"/>
          <p:cNvSpPr/>
          <p:nvPr/>
        </p:nvSpPr>
        <p:spPr>
          <a:xfrm>
            <a:off x="741148" y="4071169"/>
            <a:ext cx="3075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55A11"/>
              </a:buClr>
              <a:buSzPts val="1600"/>
              <a:buFont typeface="Arial"/>
              <a:buNone/>
            </a:pPr>
            <a:r>
              <a:rPr lang="en-US" sz="1600" b="1">
                <a:solidFill>
                  <a:srgbClr val="B97245"/>
                </a:solidFill>
                <a:latin typeface="Arial"/>
                <a:ea typeface="Arial"/>
                <a:cs typeface="Arial"/>
                <a:sym typeface="Arial"/>
              </a:rPr>
              <a:t>テナント飲食店</a:t>
            </a:r>
            <a:endParaRPr sz="1600">
              <a:solidFill>
                <a:srgbClr val="B97245"/>
              </a:solidFill>
              <a:latin typeface="Calibri"/>
              <a:ea typeface="Calibri"/>
              <a:cs typeface="Calibri"/>
              <a:sym typeface="Calibri"/>
            </a:endParaRPr>
          </a:p>
        </p:txBody>
      </p:sp>
      <p:sp>
        <p:nvSpPr>
          <p:cNvPr id="45" name="Google Shape;45;p2"/>
          <p:cNvSpPr/>
          <p:nvPr/>
        </p:nvSpPr>
        <p:spPr>
          <a:xfrm>
            <a:off x="909304" y="4394293"/>
            <a:ext cx="27396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在庫ゼロで、世界水準のリストを</a:t>
            </a:r>
            <a:endParaRPr sz="1400" u="sng">
              <a:solidFill>
                <a:schemeClr val="dk1"/>
              </a:solidFill>
              <a:latin typeface="Calibri"/>
              <a:ea typeface="Calibri"/>
              <a:cs typeface="Calibri"/>
              <a:sym typeface="Calibri"/>
            </a:endParaRPr>
          </a:p>
        </p:txBody>
      </p:sp>
      <p:sp>
        <p:nvSpPr>
          <p:cNvPr id="46" name="Google Shape;46;p2"/>
          <p:cNvSpPr/>
          <p:nvPr/>
        </p:nvSpPr>
        <p:spPr>
          <a:xfrm>
            <a:off x="842904" y="4786134"/>
            <a:ext cx="28713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在庫リスク・店内セラーは最小化しつつ、</a:t>
            </a:r>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数万本の品ぞろえへ。</a:t>
            </a:r>
            <a:endParaRPr sz="1100">
              <a:solidFill>
                <a:schemeClr val="dk1"/>
              </a:solidFill>
              <a:latin typeface="Calibri"/>
              <a:ea typeface="Calibri"/>
              <a:cs typeface="Calibri"/>
              <a:sym typeface="Calibri"/>
            </a:endParaRPr>
          </a:p>
        </p:txBody>
      </p:sp>
      <p:sp>
        <p:nvSpPr>
          <p:cNvPr id="47" name="Google Shape;47;p2"/>
          <p:cNvSpPr/>
          <p:nvPr/>
        </p:nvSpPr>
        <p:spPr>
          <a:xfrm>
            <a:off x="8515205" y="4071169"/>
            <a:ext cx="2796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F5496"/>
              </a:buClr>
              <a:buSzPts val="1600"/>
              <a:buFont typeface="Arial"/>
              <a:buNone/>
            </a:pPr>
            <a:r>
              <a:rPr lang="en-US" sz="1600" b="1">
                <a:solidFill>
                  <a:srgbClr val="2F5496"/>
                </a:solidFill>
                <a:latin typeface="Arial"/>
                <a:ea typeface="Arial"/>
                <a:cs typeface="Arial"/>
                <a:sym typeface="Arial"/>
              </a:rPr>
              <a:t>ヒルズワーカー</a:t>
            </a:r>
            <a:endParaRPr sz="1600">
              <a:solidFill>
                <a:srgbClr val="2F5496"/>
              </a:solidFill>
              <a:latin typeface="Calibri"/>
              <a:ea typeface="Calibri"/>
              <a:cs typeface="Calibri"/>
              <a:sym typeface="Calibri"/>
            </a:endParaRPr>
          </a:p>
        </p:txBody>
      </p:sp>
      <p:sp>
        <p:nvSpPr>
          <p:cNvPr id="48" name="Google Shape;48;p2"/>
          <p:cNvSpPr/>
          <p:nvPr/>
        </p:nvSpPr>
        <p:spPr>
          <a:xfrm>
            <a:off x="8642306" y="4375681"/>
            <a:ext cx="25419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手ぶらで、会食へ</a:t>
            </a:r>
            <a:endParaRPr sz="1400" u="sng">
              <a:solidFill>
                <a:schemeClr val="dk1"/>
              </a:solidFill>
              <a:latin typeface="Calibri"/>
              <a:ea typeface="Calibri"/>
              <a:cs typeface="Calibri"/>
              <a:sym typeface="Calibri"/>
            </a:endParaRPr>
          </a:p>
        </p:txBody>
      </p:sp>
      <p:sp>
        <p:nvSpPr>
          <p:cNvPr id="49" name="Google Shape;49;p2"/>
          <p:cNvSpPr/>
          <p:nvPr/>
        </p:nvSpPr>
        <p:spPr>
          <a:xfrm>
            <a:off x="8477149" y="4767522"/>
            <a:ext cx="28713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レストランのワインを仕入れ価格相当で。</a:t>
            </a:r>
            <a:endParaRPr sz="1100">
              <a:solidFill>
                <a:srgbClr val="6E7378"/>
              </a:solidFill>
              <a:latin typeface="Arial"/>
              <a:ea typeface="Arial"/>
              <a:cs typeface="Arial"/>
              <a:sym typeface="Arial"/>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ワイン持込時もコルケージなし。</a:t>
            </a:r>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接待の質を上げつつ、費用削減へ。</a:t>
            </a:r>
            <a:endParaRPr sz="1100">
              <a:solidFill>
                <a:schemeClr val="dk1"/>
              </a:solidFill>
              <a:latin typeface="Calibri"/>
              <a:ea typeface="Calibri"/>
              <a:cs typeface="Calibri"/>
              <a:sym typeface="Calibri"/>
            </a:endParaRPr>
          </a:p>
        </p:txBody>
      </p:sp>
      <p:sp>
        <p:nvSpPr>
          <p:cNvPr id="50" name="Google Shape;50;p2"/>
          <p:cNvSpPr/>
          <p:nvPr/>
        </p:nvSpPr>
        <p:spPr>
          <a:xfrm>
            <a:off x="566928" y="5705856"/>
            <a:ext cx="11057839" cy="475488"/>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566928" y="5705856"/>
            <a:ext cx="11057839"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DCCE"/>
              </a:buClr>
              <a:buSzPts val="1500"/>
              <a:buFont typeface="Arial"/>
              <a:buNone/>
            </a:pPr>
            <a:r>
              <a:rPr lang="en-US" sz="1500" b="1">
                <a:solidFill>
                  <a:schemeClr val="lt1"/>
                </a:solidFill>
                <a:latin typeface="Arial"/>
                <a:ea typeface="Arial"/>
                <a:cs typeface="Arial"/>
                <a:sym typeface="Arial"/>
              </a:rPr>
              <a:t>他の街には真似できない「人とワインが巡る街」を、ヒルズに。</a:t>
            </a:r>
            <a:endParaRPr sz="1500">
              <a:solidFill>
                <a:schemeClr val="lt1"/>
              </a:solidFill>
              <a:latin typeface="Calibri"/>
              <a:ea typeface="Calibri"/>
              <a:cs typeface="Calibri"/>
              <a:sym typeface="Calibri"/>
            </a:endParaRPr>
          </a:p>
        </p:txBody>
      </p:sp>
      <p:pic>
        <p:nvPicPr>
          <p:cNvPr id="52" name="Google Shape;52;p2"/>
          <p:cNvPicPr preferRelativeResize="0"/>
          <p:nvPr/>
        </p:nvPicPr>
        <p:blipFill rotWithShape="1">
          <a:blip r:embed="rId4">
            <a:alphaModFix/>
          </a:blip>
          <a:srcRect/>
          <a:stretch/>
        </p:blipFill>
        <p:spPr>
          <a:xfrm>
            <a:off x="4893336" y="2367238"/>
            <a:ext cx="2405329" cy="1603553"/>
          </a:xfrm>
          <a:prstGeom prst="rect">
            <a:avLst/>
          </a:prstGeom>
          <a:noFill/>
          <a:ln>
            <a:noFill/>
          </a:ln>
        </p:spPr>
      </p:pic>
      <p:sp>
        <p:nvSpPr>
          <p:cNvPr id="53" name="Google Shape;53;p2"/>
          <p:cNvSpPr/>
          <p:nvPr/>
        </p:nvSpPr>
        <p:spPr>
          <a:xfrm>
            <a:off x="4423863" y="4524901"/>
            <a:ext cx="1625700" cy="590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200">
                <a:solidFill>
                  <a:srgbClr val="C68A65"/>
                </a:solidFill>
                <a:latin typeface="Arial"/>
                <a:ea typeface="Arial"/>
                <a:cs typeface="Arial"/>
                <a:sym typeface="Arial"/>
              </a:rPr>
              <a:t>街の巨大セラーとして</a:t>
            </a:r>
            <a:endParaRPr sz="1200">
              <a:solidFill>
                <a:srgbClr val="C68A65"/>
              </a:solidFill>
              <a:latin typeface="Arial"/>
              <a:ea typeface="Arial"/>
              <a:cs typeface="Arial"/>
              <a:sym typeface="Arial"/>
            </a:endParaRPr>
          </a:p>
          <a:p>
            <a:pPr marL="0" marR="0" lvl="0" indent="0" algn="ctr" rtl="0">
              <a:lnSpc>
                <a:spcPct val="100000"/>
              </a:lnSpc>
              <a:spcBef>
                <a:spcPts val="0"/>
              </a:spcBef>
              <a:spcAft>
                <a:spcPts val="0"/>
              </a:spcAft>
              <a:buNone/>
            </a:pPr>
            <a:r>
              <a:rPr lang="en-US" sz="1200">
                <a:solidFill>
                  <a:srgbClr val="C68A65"/>
                </a:solidFill>
                <a:latin typeface="Arial"/>
                <a:ea typeface="Arial"/>
                <a:cs typeface="Arial"/>
                <a:sym typeface="Arial"/>
              </a:rPr>
              <a:t>数千〜1万本を常備</a:t>
            </a:r>
            <a:endParaRPr sz="1200"/>
          </a:p>
          <a:p>
            <a:pPr marL="0" marR="0" lvl="0" indent="0" algn="ctr" rtl="0">
              <a:lnSpc>
                <a:spcPct val="100000"/>
              </a:lnSpc>
              <a:spcBef>
                <a:spcPts val="0"/>
              </a:spcBef>
              <a:spcAft>
                <a:spcPts val="0"/>
              </a:spcAft>
              <a:buClr>
                <a:schemeClr val="dk1"/>
              </a:buClr>
              <a:buSzPts val="1100"/>
              <a:buFont typeface="Calibri"/>
              <a:buNone/>
            </a:pPr>
            <a:endParaRPr sz="1200">
              <a:solidFill>
                <a:srgbClr val="C68A65"/>
              </a:solidFill>
              <a:latin typeface="Calibri"/>
              <a:ea typeface="Calibri"/>
              <a:cs typeface="Calibri"/>
              <a:sym typeface="Calibri"/>
            </a:endParaRPr>
          </a:p>
        </p:txBody>
      </p:sp>
      <p:sp>
        <p:nvSpPr>
          <p:cNvPr id="54" name="Google Shape;54;p2"/>
          <p:cNvSpPr/>
          <p:nvPr/>
        </p:nvSpPr>
        <p:spPr>
          <a:xfrm>
            <a:off x="9017146" y="3302745"/>
            <a:ext cx="24690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F5496"/>
              </a:buClr>
              <a:buSzPts val="1600"/>
              <a:buFont typeface="Arial"/>
              <a:buNone/>
            </a:pPr>
            <a:r>
              <a:rPr lang="en-US" sz="1600" b="1">
                <a:solidFill>
                  <a:srgbClr val="2F5496"/>
                </a:solidFill>
                <a:latin typeface="Arial"/>
                <a:ea typeface="Arial"/>
                <a:cs typeface="Arial"/>
                <a:sym typeface="Arial"/>
              </a:rPr>
              <a:t>ヒルズ利用者サイド</a:t>
            </a:r>
            <a:endParaRPr sz="1600">
              <a:solidFill>
                <a:srgbClr val="2F5496"/>
              </a:solidFill>
              <a:latin typeface="Calibri"/>
              <a:ea typeface="Calibri"/>
              <a:cs typeface="Calibri"/>
              <a:sym typeface="Calibri"/>
            </a:endParaRPr>
          </a:p>
        </p:txBody>
      </p:sp>
      <p:sp>
        <p:nvSpPr>
          <p:cNvPr id="55" name="Google Shape;55;p2"/>
          <p:cNvSpPr/>
          <p:nvPr/>
        </p:nvSpPr>
        <p:spPr>
          <a:xfrm>
            <a:off x="1362306" y="3302745"/>
            <a:ext cx="2098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55A11"/>
              </a:buClr>
              <a:buSzPts val="1600"/>
              <a:buFont typeface="Arial"/>
              <a:buNone/>
            </a:pPr>
            <a:r>
              <a:rPr lang="en-US" sz="1600" b="1">
                <a:solidFill>
                  <a:srgbClr val="B97245"/>
                </a:solidFill>
                <a:latin typeface="Arial"/>
                <a:ea typeface="Arial"/>
                <a:cs typeface="Arial"/>
                <a:sym typeface="Arial"/>
              </a:rPr>
              <a:t>ヒルズ商業サイド</a:t>
            </a:r>
            <a:endParaRPr sz="1600">
              <a:solidFill>
                <a:srgbClr val="B97245"/>
              </a:solidFill>
              <a:latin typeface="Calibri"/>
              <a:ea typeface="Calibri"/>
              <a:cs typeface="Calibri"/>
              <a:sym typeface="Calibri"/>
            </a:endParaRPr>
          </a:p>
        </p:txBody>
      </p:sp>
      <p:sp>
        <p:nvSpPr>
          <p:cNvPr id="56" name="Google Shape;56;p2"/>
          <p:cNvSpPr/>
          <p:nvPr/>
        </p:nvSpPr>
        <p:spPr>
          <a:xfrm>
            <a:off x="6333821" y="4524901"/>
            <a:ext cx="1843200" cy="624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C68A65"/>
              </a:buClr>
              <a:buSzPts val="1000"/>
              <a:buFont typeface="Arial"/>
              <a:buNone/>
            </a:pPr>
            <a:r>
              <a:rPr lang="en-US" sz="1200">
                <a:solidFill>
                  <a:srgbClr val="C68A65"/>
                </a:solidFill>
                <a:latin typeface="Arial"/>
                <a:ea typeface="Arial"/>
                <a:cs typeface="Arial"/>
                <a:sym typeface="Arial"/>
              </a:rPr>
              <a:t>最短5分で配送できる</a:t>
            </a:r>
            <a:endParaRPr sz="1200">
              <a:solidFill>
                <a:srgbClr val="C68A65"/>
              </a:solidFill>
              <a:latin typeface="Arial"/>
              <a:ea typeface="Arial"/>
              <a:cs typeface="Arial"/>
              <a:sym typeface="Arial"/>
            </a:endParaRPr>
          </a:p>
          <a:p>
            <a:pPr marL="0" marR="0" lvl="0" indent="0" algn="ctr" rtl="0">
              <a:lnSpc>
                <a:spcPct val="100000"/>
              </a:lnSpc>
              <a:spcBef>
                <a:spcPts val="0"/>
              </a:spcBef>
              <a:spcAft>
                <a:spcPts val="0"/>
              </a:spcAft>
              <a:buClr>
                <a:srgbClr val="C68A65"/>
              </a:buClr>
              <a:buSzPts val="1000"/>
              <a:buFont typeface="Arial"/>
              <a:buNone/>
            </a:pPr>
            <a:r>
              <a:rPr lang="en-US" sz="1200">
                <a:solidFill>
                  <a:srgbClr val="C68A65"/>
                </a:solidFill>
                <a:latin typeface="Arial"/>
                <a:ea typeface="Arial"/>
                <a:cs typeface="Arial"/>
                <a:sym typeface="Arial"/>
              </a:rPr>
              <a:t>即日配達サービス</a:t>
            </a:r>
            <a:endParaRPr sz="1200">
              <a:solidFill>
                <a:srgbClr val="C68A65"/>
              </a:solidFill>
              <a:latin typeface="Calibri"/>
              <a:ea typeface="Calibri"/>
              <a:cs typeface="Calibri"/>
              <a:sym typeface="Calibri"/>
            </a:endParaRPr>
          </a:p>
        </p:txBody>
      </p:sp>
      <p:sp>
        <p:nvSpPr>
          <p:cNvPr id="57" name="Google Shape;57;p2"/>
          <p:cNvSpPr/>
          <p:nvPr/>
        </p:nvSpPr>
        <p:spPr>
          <a:xfrm>
            <a:off x="3692123" y="3955307"/>
            <a:ext cx="4748400" cy="733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000" b="1">
                <a:solidFill>
                  <a:srgbClr val="FFFFFF"/>
                </a:solidFill>
                <a:latin typeface="Arial"/>
                <a:ea typeface="Arial"/>
                <a:cs typeface="Arial"/>
                <a:sym typeface="Arial"/>
              </a:rPr>
              <a:t>“館内ストレージ” </a:t>
            </a:r>
            <a:r>
              <a:rPr lang="en-US" sz="1500">
                <a:solidFill>
                  <a:srgbClr val="FFFFFF"/>
                </a:solidFill>
              </a:rPr>
              <a:t>＋</a:t>
            </a:r>
            <a:r>
              <a:rPr lang="en-US" sz="2000" b="1">
                <a:solidFill>
                  <a:srgbClr val="FFFFFF"/>
                </a:solidFill>
                <a:latin typeface="Arial"/>
                <a:ea typeface="Arial"/>
                <a:cs typeface="Arial"/>
                <a:sym typeface="Arial"/>
              </a:rPr>
              <a:t> “WineGO”</a:t>
            </a:r>
            <a:endParaRPr sz="2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
        <p:cNvGrpSpPr/>
        <p:nvPr/>
      </p:nvGrpSpPr>
      <p:grpSpPr>
        <a:xfrm>
          <a:off x="0" y="0"/>
          <a:ext cx="0" cy="0"/>
          <a:chOff x="0" y="0"/>
          <a:chExt cx="0" cy="0"/>
        </a:xfrm>
      </p:grpSpPr>
      <p:pic>
        <p:nvPicPr>
          <p:cNvPr id="63" name="Google Shape;63;p3"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64" name="Google Shape;64;p3"/>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300" b="1">
                <a:solidFill>
                  <a:srgbClr val="1A1A1A"/>
                </a:solidFill>
                <a:latin typeface="Arial"/>
                <a:ea typeface="Arial"/>
                <a:cs typeface="Arial"/>
                <a:sym typeface="Arial"/>
              </a:rPr>
              <a:t>ヒルズに密集する“ワインが必要な3つの層”</a:t>
            </a:r>
            <a:endParaRPr sz="2300">
              <a:solidFill>
                <a:schemeClr val="dk1"/>
              </a:solidFill>
              <a:latin typeface="Calibri"/>
              <a:ea typeface="Calibri"/>
              <a:cs typeface="Calibri"/>
              <a:sym typeface="Calibri"/>
            </a:endParaRPr>
          </a:p>
        </p:txBody>
      </p:sp>
      <p:sp>
        <p:nvSpPr>
          <p:cNvPr id="65" name="Google Shape;65;p3"/>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67" name="Google Shape;67;p3"/>
          <p:cNvSpPr/>
          <p:nvPr/>
        </p:nvSpPr>
        <p:spPr>
          <a:xfrm>
            <a:off x="566925" y="1481325"/>
            <a:ext cx="3490800" cy="2416200"/>
          </a:xfrm>
          <a:prstGeom prst="roundRect">
            <a:avLst>
              <a:gd name="adj" fmla="val 0"/>
            </a:avLst>
          </a:prstGeom>
          <a:solidFill>
            <a:srgbClr val="F5EFEB"/>
          </a:solidFill>
          <a:ln w="19050" cap="flat" cmpd="sng">
            <a:solidFill>
              <a:srgbClr val="B972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22960" y="2374175"/>
            <a:ext cx="310896" cy="32004"/>
          </a:xfrm>
          <a:prstGeom prst="rect">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822960" y="1676968"/>
            <a:ext cx="297881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700"/>
              <a:buFont typeface="Arial"/>
              <a:buNone/>
            </a:pPr>
            <a:r>
              <a:rPr lang="en-US" sz="1700" b="1">
                <a:solidFill>
                  <a:srgbClr val="B97245"/>
                </a:solidFill>
                <a:latin typeface="Arial"/>
                <a:ea typeface="Arial"/>
                <a:cs typeface="Arial"/>
                <a:sym typeface="Arial"/>
              </a:rPr>
              <a:t>テナント飲食店</a:t>
            </a:r>
            <a:endParaRPr sz="1700">
              <a:solidFill>
                <a:srgbClr val="B97245"/>
              </a:solidFill>
              <a:latin typeface="Calibri"/>
              <a:ea typeface="Calibri"/>
              <a:cs typeface="Calibri"/>
              <a:sym typeface="Calibri"/>
            </a:endParaRPr>
          </a:p>
        </p:txBody>
      </p:sp>
      <p:sp>
        <p:nvSpPr>
          <p:cNvPr id="70" name="Google Shape;70;p3"/>
          <p:cNvSpPr/>
          <p:nvPr/>
        </p:nvSpPr>
        <p:spPr>
          <a:xfrm>
            <a:off x="822960" y="2041594"/>
            <a:ext cx="297881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050"/>
              <a:buFont typeface="Arial"/>
              <a:buNone/>
            </a:pPr>
            <a:r>
              <a:rPr lang="en-US" sz="1050">
                <a:solidFill>
                  <a:srgbClr val="6E7378"/>
                </a:solidFill>
                <a:latin typeface="Arial"/>
                <a:ea typeface="Arial"/>
                <a:cs typeface="Arial"/>
                <a:sym typeface="Arial"/>
              </a:rPr>
              <a:t>ヒルズ内の高級店・グランメゾン</a:t>
            </a:r>
            <a:endParaRPr sz="1050">
              <a:solidFill>
                <a:schemeClr val="dk1"/>
              </a:solidFill>
              <a:latin typeface="Calibri"/>
              <a:ea typeface="Calibri"/>
              <a:cs typeface="Calibri"/>
              <a:sym typeface="Calibri"/>
            </a:endParaRPr>
          </a:p>
        </p:txBody>
      </p:sp>
      <p:sp>
        <p:nvSpPr>
          <p:cNvPr id="71" name="Google Shape;71;p3"/>
          <p:cNvSpPr/>
          <p:nvPr/>
        </p:nvSpPr>
        <p:spPr>
          <a:xfrm>
            <a:off x="736154" y="2669376"/>
            <a:ext cx="3405600" cy="1170300"/>
          </a:xfrm>
          <a:prstGeom prst="rect">
            <a:avLst/>
          </a:prstGeom>
          <a:noFill/>
          <a:ln>
            <a:noFill/>
          </a:ln>
        </p:spPr>
        <p:txBody>
          <a:bodyPr spcFirstLastPara="1" wrap="square" lIns="0" tIns="0" rIns="0" bIns="0" anchor="t" anchorCtr="0">
            <a:noAutofit/>
          </a:bodyPr>
          <a:lstStyle/>
          <a:p>
            <a:pPr marL="342900" marR="0" lvl="0" indent="-342900" algn="l" rtl="0">
              <a:lnSpc>
                <a:spcPct val="136363"/>
              </a:lnSpc>
              <a:spcBef>
                <a:spcPts val="0"/>
              </a:spcBef>
              <a:spcAft>
                <a:spcPts val="0"/>
              </a:spcAft>
              <a:buClr>
                <a:srgbClr val="1A1A1A"/>
              </a:buClr>
              <a:buSzPts val="1100"/>
              <a:buFont typeface="Arial"/>
              <a:buChar char="▪"/>
            </a:pPr>
            <a:r>
              <a:rPr lang="en-US" sz="1100">
                <a:solidFill>
                  <a:srgbClr val="1A1A1A"/>
                </a:solidFill>
                <a:latin typeface="Arial"/>
                <a:ea typeface="Arial"/>
                <a:cs typeface="Arial"/>
                <a:sym typeface="Arial"/>
              </a:rPr>
              <a:t>高額ワイン在庫</a:t>
            </a:r>
            <a:r>
              <a:rPr lang="en-US" sz="1100">
                <a:solidFill>
                  <a:srgbClr val="1A1A1A"/>
                </a:solidFill>
              </a:rPr>
              <a:t>の</a:t>
            </a:r>
            <a:r>
              <a:rPr lang="en-US" sz="1100">
                <a:solidFill>
                  <a:srgbClr val="1A1A1A"/>
                </a:solidFill>
                <a:latin typeface="Arial"/>
                <a:ea typeface="Arial"/>
                <a:cs typeface="Arial"/>
                <a:sym typeface="Arial"/>
              </a:rPr>
              <a:t>資金</a:t>
            </a:r>
            <a:r>
              <a:rPr lang="en-US" sz="1100">
                <a:solidFill>
                  <a:srgbClr val="1A1A1A"/>
                </a:solidFill>
              </a:rPr>
              <a:t>圧迫</a:t>
            </a:r>
            <a:endParaRPr sz="1100">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1A1A1A"/>
              </a:buClr>
              <a:buSzPts val="1100"/>
              <a:buFont typeface="Arial"/>
              <a:buChar char="▪"/>
            </a:pPr>
            <a:r>
              <a:rPr lang="en-US" sz="1100">
                <a:solidFill>
                  <a:srgbClr val="1A1A1A"/>
                </a:solidFill>
                <a:latin typeface="Arial"/>
                <a:ea typeface="Arial"/>
                <a:cs typeface="Arial"/>
                <a:sym typeface="Arial"/>
              </a:rPr>
              <a:t>セラー設備投資と保管スペースの限界</a:t>
            </a:r>
            <a:endParaRPr sz="1100">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1A1A1A"/>
              </a:buClr>
              <a:buSzPts val="1100"/>
              <a:buFont typeface="Arial"/>
              <a:buChar char="▪"/>
            </a:pPr>
            <a:r>
              <a:rPr lang="en-US" sz="1100">
                <a:solidFill>
                  <a:srgbClr val="1A1A1A"/>
                </a:solidFill>
                <a:latin typeface="Arial"/>
                <a:ea typeface="Arial"/>
                <a:cs typeface="Arial"/>
                <a:sym typeface="Arial"/>
              </a:rPr>
              <a:t>富裕層客の突発的な注文に応えられない</a:t>
            </a:r>
            <a:endParaRPr sz="1100">
              <a:solidFill>
                <a:schemeClr val="dk1"/>
              </a:solidFill>
              <a:latin typeface="Calibri"/>
              <a:ea typeface="Calibri"/>
              <a:cs typeface="Calibri"/>
              <a:sym typeface="Calibri"/>
            </a:endParaRPr>
          </a:p>
        </p:txBody>
      </p:sp>
      <p:sp>
        <p:nvSpPr>
          <p:cNvPr id="72" name="Google Shape;72;p3"/>
          <p:cNvSpPr/>
          <p:nvPr/>
        </p:nvSpPr>
        <p:spPr>
          <a:xfrm>
            <a:off x="4350564" y="1481325"/>
            <a:ext cx="3490800" cy="2416200"/>
          </a:xfrm>
          <a:prstGeom prst="roundRect">
            <a:avLst>
              <a:gd name="adj" fmla="val 0"/>
            </a:avLst>
          </a:prstGeom>
          <a:solidFill>
            <a:srgbClr val="E3E6E8"/>
          </a:solidFill>
          <a:ln w="19050" cap="flat" cmpd="sng">
            <a:solidFill>
              <a:srgbClr val="2F54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4606442" y="2374175"/>
            <a:ext cx="310896" cy="32004"/>
          </a:xfrm>
          <a:prstGeom prst="rect">
            <a:avLst/>
          </a:prstGeom>
          <a:solidFill>
            <a:srgbClr val="2F54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4606442" y="1676968"/>
            <a:ext cx="297881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700"/>
              <a:buFont typeface="Arial"/>
              <a:buNone/>
            </a:pPr>
            <a:r>
              <a:rPr lang="en-US" sz="1700" b="1">
                <a:solidFill>
                  <a:srgbClr val="2F5496"/>
                </a:solidFill>
                <a:latin typeface="Arial"/>
                <a:ea typeface="Arial"/>
                <a:cs typeface="Arial"/>
                <a:sym typeface="Arial"/>
              </a:rPr>
              <a:t>ヒルズワーカー</a:t>
            </a:r>
            <a:endParaRPr sz="1700">
              <a:solidFill>
                <a:srgbClr val="2F5496"/>
              </a:solidFill>
              <a:latin typeface="Calibri"/>
              <a:ea typeface="Calibri"/>
              <a:cs typeface="Calibri"/>
              <a:sym typeface="Calibri"/>
            </a:endParaRPr>
          </a:p>
        </p:txBody>
      </p:sp>
      <p:sp>
        <p:nvSpPr>
          <p:cNvPr id="75" name="Google Shape;75;p3"/>
          <p:cNvSpPr/>
          <p:nvPr/>
        </p:nvSpPr>
        <p:spPr>
          <a:xfrm>
            <a:off x="4606442" y="2041594"/>
            <a:ext cx="297881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050"/>
              <a:buFont typeface="Arial"/>
              <a:buNone/>
            </a:pPr>
            <a:r>
              <a:rPr lang="en-US" sz="1050">
                <a:solidFill>
                  <a:srgbClr val="6E7378"/>
                </a:solidFill>
                <a:latin typeface="Arial"/>
                <a:ea typeface="Arial"/>
                <a:cs typeface="Arial"/>
                <a:sym typeface="Arial"/>
              </a:rPr>
              <a:t>オフィス就業者・法人接待</a:t>
            </a:r>
            <a:endParaRPr sz="1050">
              <a:solidFill>
                <a:schemeClr val="dk1"/>
              </a:solidFill>
              <a:latin typeface="Calibri"/>
              <a:ea typeface="Calibri"/>
              <a:cs typeface="Calibri"/>
              <a:sym typeface="Calibri"/>
            </a:endParaRPr>
          </a:p>
        </p:txBody>
      </p:sp>
      <p:sp>
        <p:nvSpPr>
          <p:cNvPr id="76" name="Google Shape;76;p3"/>
          <p:cNvSpPr/>
          <p:nvPr/>
        </p:nvSpPr>
        <p:spPr>
          <a:xfrm>
            <a:off x="4519324" y="2669376"/>
            <a:ext cx="3405600" cy="1170300"/>
          </a:xfrm>
          <a:prstGeom prst="rect">
            <a:avLst/>
          </a:prstGeom>
          <a:noFill/>
          <a:ln>
            <a:noFill/>
          </a:ln>
        </p:spPr>
        <p:txBody>
          <a:bodyPr spcFirstLastPara="1" wrap="square" lIns="0" tIns="0" rIns="0" bIns="0" anchor="t" anchorCtr="0">
            <a:noAutofit/>
          </a:bodyPr>
          <a:lstStyle/>
          <a:p>
            <a:pPr marL="342900" marR="0" lvl="0" indent="-342900" algn="l" rtl="0">
              <a:lnSpc>
                <a:spcPct val="136363"/>
              </a:lnSpc>
              <a:spcBef>
                <a:spcPts val="0"/>
              </a:spcBef>
              <a:spcAft>
                <a:spcPts val="0"/>
              </a:spcAft>
              <a:buClr>
                <a:srgbClr val="1A1A1A"/>
              </a:buClr>
              <a:buSzPts val="1100"/>
              <a:buFont typeface="Arial"/>
              <a:buChar char="▪"/>
            </a:pPr>
            <a:r>
              <a:rPr lang="en-US" sz="1100">
                <a:solidFill>
                  <a:srgbClr val="1A1A1A"/>
                </a:solidFill>
                <a:latin typeface="Arial"/>
                <a:ea typeface="Arial"/>
                <a:cs typeface="Arial"/>
                <a:sym typeface="Arial"/>
              </a:rPr>
              <a:t>店内価格は市価の2〜3倍。接待費が膨らむ</a:t>
            </a:r>
            <a:endParaRPr sz="1100">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1A1A1A"/>
              </a:buClr>
              <a:buSzPts val="1100"/>
              <a:buFont typeface="Arial"/>
              <a:buChar char="▪"/>
            </a:pPr>
            <a:r>
              <a:rPr lang="en-US" sz="1100">
                <a:solidFill>
                  <a:srgbClr val="1A1A1A"/>
                </a:solidFill>
                <a:latin typeface="Arial"/>
                <a:ea typeface="Arial"/>
                <a:cs typeface="Arial"/>
                <a:sym typeface="Arial"/>
              </a:rPr>
              <a:t>急な会食に「格」に見合う一本が出せない</a:t>
            </a:r>
            <a:endParaRPr sz="1100">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1A1A1A"/>
              </a:buClr>
              <a:buSzPts val="1100"/>
              <a:buFont typeface="Arial"/>
              <a:buChar char="▪"/>
            </a:pPr>
            <a:r>
              <a:rPr lang="en-US" sz="1100">
                <a:solidFill>
                  <a:srgbClr val="1A1A1A"/>
                </a:solidFill>
                <a:latin typeface="Arial"/>
                <a:ea typeface="Arial"/>
                <a:cs typeface="Arial"/>
                <a:sym typeface="Arial"/>
              </a:rPr>
              <a:t>自分で選ぶ自信がなく、銘柄</a:t>
            </a:r>
            <a:r>
              <a:rPr lang="en-US" sz="1100">
                <a:solidFill>
                  <a:srgbClr val="1A1A1A"/>
                </a:solidFill>
              </a:rPr>
              <a:t>選定に悩む</a:t>
            </a:r>
            <a:endParaRPr sz="1100">
              <a:solidFill>
                <a:schemeClr val="dk1"/>
              </a:solidFill>
              <a:latin typeface="Calibri"/>
              <a:ea typeface="Calibri"/>
              <a:cs typeface="Calibri"/>
              <a:sym typeface="Calibri"/>
            </a:endParaRPr>
          </a:p>
        </p:txBody>
      </p:sp>
      <p:sp>
        <p:nvSpPr>
          <p:cNvPr id="77" name="Google Shape;77;p3"/>
          <p:cNvSpPr/>
          <p:nvPr/>
        </p:nvSpPr>
        <p:spPr>
          <a:xfrm>
            <a:off x="8133898" y="1481325"/>
            <a:ext cx="3490800" cy="2416200"/>
          </a:xfrm>
          <a:prstGeom prst="roundRect">
            <a:avLst>
              <a:gd name="adj" fmla="val 0"/>
            </a:avLst>
          </a:prstGeom>
          <a:solidFill>
            <a:srgbClr val="E3E6E8"/>
          </a:solidFill>
          <a:ln w="19050" cap="flat" cmpd="sng">
            <a:solidFill>
              <a:srgbClr val="2F54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389925" y="2374175"/>
            <a:ext cx="310896" cy="32004"/>
          </a:xfrm>
          <a:prstGeom prst="rect">
            <a:avLst/>
          </a:prstGeom>
          <a:solidFill>
            <a:srgbClr val="2F54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389925" y="1676968"/>
            <a:ext cx="297881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700"/>
              <a:buFont typeface="Arial"/>
              <a:buNone/>
            </a:pPr>
            <a:r>
              <a:rPr lang="en-US" sz="1700" b="1">
                <a:solidFill>
                  <a:srgbClr val="2F5496"/>
                </a:solidFill>
                <a:latin typeface="Arial"/>
                <a:ea typeface="Arial"/>
                <a:cs typeface="Arial"/>
                <a:sym typeface="Arial"/>
              </a:rPr>
              <a:t>レジデンス居住者</a:t>
            </a:r>
            <a:endParaRPr sz="1700">
              <a:solidFill>
                <a:srgbClr val="2F5496"/>
              </a:solidFill>
              <a:latin typeface="Calibri"/>
              <a:ea typeface="Calibri"/>
              <a:cs typeface="Calibri"/>
              <a:sym typeface="Calibri"/>
            </a:endParaRPr>
          </a:p>
        </p:txBody>
      </p:sp>
      <p:sp>
        <p:nvSpPr>
          <p:cNvPr id="80" name="Google Shape;80;p3"/>
          <p:cNvSpPr/>
          <p:nvPr/>
        </p:nvSpPr>
        <p:spPr>
          <a:xfrm>
            <a:off x="8389925" y="2041594"/>
            <a:ext cx="297881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050"/>
              <a:buFont typeface="Arial"/>
              <a:buNone/>
            </a:pPr>
            <a:r>
              <a:rPr lang="en-US" sz="1050">
                <a:solidFill>
                  <a:srgbClr val="6E7378"/>
                </a:solidFill>
                <a:latin typeface="Arial"/>
                <a:ea typeface="Arial"/>
                <a:cs typeface="Arial"/>
                <a:sym typeface="Arial"/>
              </a:rPr>
              <a:t>住宅棟・サービスアパートメント</a:t>
            </a:r>
            <a:endParaRPr sz="1050">
              <a:solidFill>
                <a:schemeClr val="dk1"/>
              </a:solidFill>
              <a:latin typeface="Calibri"/>
              <a:ea typeface="Calibri"/>
              <a:cs typeface="Calibri"/>
              <a:sym typeface="Calibri"/>
            </a:endParaRPr>
          </a:p>
        </p:txBody>
      </p:sp>
      <p:sp>
        <p:nvSpPr>
          <p:cNvPr id="81" name="Google Shape;81;p3"/>
          <p:cNvSpPr/>
          <p:nvPr/>
        </p:nvSpPr>
        <p:spPr>
          <a:xfrm>
            <a:off x="8302494" y="2669376"/>
            <a:ext cx="3405600" cy="1170300"/>
          </a:xfrm>
          <a:prstGeom prst="rect">
            <a:avLst/>
          </a:prstGeom>
          <a:noFill/>
          <a:ln>
            <a:noFill/>
          </a:ln>
        </p:spPr>
        <p:txBody>
          <a:bodyPr spcFirstLastPara="1" wrap="square" lIns="0" tIns="0" rIns="0" bIns="0" anchor="t" anchorCtr="0">
            <a:noAutofit/>
          </a:bodyPr>
          <a:lstStyle/>
          <a:p>
            <a:pPr marL="342900" marR="0" lvl="0" indent="-342900" algn="l" rtl="0">
              <a:lnSpc>
                <a:spcPct val="136363"/>
              </a:lnSpc>
              <a:spcBef>
                <a:spcPts val="0"/>
              </a:spcBef>
              <a:spcAft>
                <a:spcPts val="0"/>
              </a:spcAft>
              <a:buClr>
                <a:srgbClr val="1A1A1A"/>
              </a:buClr>
              <a:buSzPts val="1100"/>
              <a:buFont typeface="Arial"/>
              <a:buChar char="▪"/>
            </a:pPr>
            <a:r>
              <a:rPr lang="en-US" sz="1100">
                <a:solidFill>
                  <a:srgbClr val="1A1A1A"/>
                </a:solidFill>
                <a:latin typeface="Arial"/>
                <a:ea typeface="Arial"/>
                <a:cs typeface="Arial"/>
                <a:sym typeface="Arial"/>
              </a:rPr>
              <a:t>自宅セラーはすぐ満杯。保管環境も不安</a:t>
            </a:r>
            <a:endParaRPr sz="1100">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1A1A1A"/>
              </a:buClr>
              <a:buSzPts val="1100"/>
              <a:buFont typeface="Arial"/>
              <a:buChar char="▪"/>
            </a:pPr>
            <a:r>
              <a:rPr lang="en-US" sz="1100">
                <a:solidFill>
                  <a:srgbClr val="1A1A1A"/>
                </a:solidFill>
                <a:latin typeface="Arial"/>
                <a:ea typeface="Arial"/>
                <a:cs typeface="Arial"/>
                <a:sym typeface="Arial"/>
              </a:rPr>
              <a:t>どこで買えば間違いないかが分からない</a:t>
            </a:r>
            <a:endParaRPr sz="1100">
              <a:solidFill>
                <a:schemeClr val="dk1"/>
              </a:solidFill>
              <a:latin typeface="Calibri"/>
              <a:ea typeface="Calibri"/>
              <a:cs typeface="Calibri"/>
              <a:sym typeface="Calibri"/>
            </a:endParaRPr>
          </a:p>
          <a:p>
            <a:pPr marL="342900" marR="0" lvl="0" indent="-342900" algn="l" rtl="0">
              <a:lnSpc>
                <a:spcPct val="136363"/>
              </a:lnSpc>
              <a:spcBef>
                <a:spcPts val="600"/>
              </a:spcBef>
              <a:spcAft>
                <a:spcPts val="0"/>
              </a:spcAft>
              <a:buClr>
                <a:srgbClr val="1A1A1A"/>
              </a:buClr>
              <a:buSzPts val="1100"/>
              <a:buFont typeface="Arial"/>
              <a:buChar char="▪"/>
            </a:pPr>
            <a:r>
              <a:rPr lang="en-US" sz="1100">
                <a:solidFill>
                  <a:srgbClr val="1A1A1A"/>
                </a:solidFill>
                <a:latin typeface="Arial"/>
                <a:ea typeface="Arial"/>
                <a:cs typeface="Arial"/>
                <a:sym typeface="Arial"/>
              </a:rPr>
              <a:t>並行品・二次流通品の真贋と来歴が読めない</a:t>
            </a:r>
            <a:endParaRPr sz="1100">
              <a:solidFill>
                <a:schemeClr val="dk1"/>
              </a:solidFill>
              <a:latin typeface="Calibri"/>
              <a:ea typeface="Calibri"/>
              <a:cs typeface="Calibri"/>
              <a:sym typeface="Calibri"/>
            </a:endParaRPr>
          </a:p>
        </p:txBody>
      </p:sp>
      <p:sp>
        <p:nvSpPr>
          <p:cNvPr id="82" name="Google Shape;82;p3"/>
          <p:cNvSpPr/>
          <p:nvPr/>
        </p:nvSpPr>
        <p:spPr>
          <a:xfrm>
            <a:off x="3520050" y="4566825"/>
            <a:ext cx="5151900" cy="310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500" b="1">
                <a:solidFill>
                  <a:schemeClr val="dk1"/>
                </a:solidFill>
              </a:rPr>
              <a:t>ワインストレージでひとつの</a:t>
            </a:r>
            <a:r>
              <a:rPr lang="en-US" sz="1500" b="1">
                <a:solidFill>
                  <a:schemeClr val="dk1"/>
                </a:solidFill>
                <a:latin typeface="Arial"/>
                <a:ea typeface="Arial"/>
                <a:cs typeface="Arial"/>
                <a:sym typeface="Arial"/>
              </a:rPr>
              <a:t>在庫を共有す</a:t>
            </a:r>
            <a:r>
              <a:rPr lang="en-US" sz="1500" b="1">
                <a:solidFill>
                  <a:schemeClr val="dk1"/>
                </a:solidFill>
              </a:rPr>
              <a:t>ると...</a:t>
            </a:r>
            <a:endParaRPr sz="1500">
              <a:solidFill>
                <a:schemeClr val="dk1"/>
              </a:solidFill>
              <a:latin typeface="Calibri"/>
              <a:ea typeface="Calibri"/>
              <a:cs typeface="Calibri"/>
              <a:sym typeface="Calibri"/>
            </a:endParaRPr>
          </a:p>
        </p:txBody>
      </p:sp>
      <p:sp>
        <p:nvSpPr>
          <p:cNvPr id="83" name="Google Shape;83;p3"/>
          <p:cNvSpPr/>
          <p:nvPr/>
        </p:nvSpPr>
        <p:spPr>
          <a:xfrm>
            <a:off x="566925" y="5197975"/>
            <a:ext cx="3490800" cy="399000"/>
          </a:xfrm>
          <a:prstGeom prst="rect">
            <a:avLst/>
          </a:prstGeom>
          <a:solidFill>
            <a:srgbClr val="B97245"/>
          </a:solid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300"/>
              <a:buFont typeface="Arial"/>
              <a:buNone/>
            </a:pPr>
            <a:r>
              <a:rPr lang="en-US" sz="1300" b="1">
                <a:solidFill>
                  <a:schemeClr val="lt1"/>
                </a:solidFill>
                <a:latin typeface="Arial"/>
                <a:ea typeface="Arial"/>
                <a:cs typeface="Arial"/>
                <a:sym typeface="Arial"/>
              </a:rPr>
              <a:t>飲食店は在庫を持たなくて済む</a:t>
            </a:r>
            <a:endParaRPr sz="1300">
              <a:solidFill>
                <a:schemeClr val="lt1"/>
              </a:solidFill>
              <a:latin typeface="Calibri"/>
              <a:ea typeface="Calibri"/>
              <a:cs typeface="Calibri"/>
              <a:sym typeface="Calibri"/>
            </a:endParaRPr>
          </a:p>
        </p:txBody>
      </p:sp>
      <p:sp>
        <p:nvSpPr>
          <p:cNvPr id="84" name="Google Shape;84;p3"/>
          <p:cNvSpPr/>
          <p:nvPr/>
        </p:nvSpPr>
        <p:spPr>
          <a:xfrm>
            <a:off x="582648" y="5625592"/>
            <a:ext cx="34908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6E7378"/>
              </a:buClr>
              <a:buSzPts val="1000"/>
              <a:buFont typeface="Arial"/>
              <a:buNone/>
            </a:pPr>
            <a:r>
              <a:rPr lang="en-US" sz="1200">
                <a:solidFill>
                  <a:srgbClr val="6E7378"/>
                </a:solidFill>
                <a:latin typeface="Arial"/>
                <a:ea typeface="Arial"/>
                <a:cs typeface="Arial"/>
                <a:sym typeface="Arial"/>
              </a:rPr>
              <a:t>必要な分だけ卸値で引き出す。</a:t>
            </a:r>
            <a:endParaRPr sz="1200">
              <a:solidFill>
                <a:srgbClr val="6E7378"/>
              </a:solidFill>
              <a:latin typeface="Arial"/>
              <a:ea typeface="Arial"/>
              <a:cs typeface="Arial"/>
              <a:sym typeface="Arial"/>
            </a:endParaRPr>
          </a:p>
          <a:p>
            <a:pPr marL="0" marR="0" lvl="0" indent="0" algn="l" rtl="0">
              <a:lnSpc>
                <a:spcPct val="100000"/>
              </a:lnSpc>
              <a:spcBef>
                <a:spcPts val="0"/>
              </a:spcBef>
              <a:spcAft>
                <a:spcPts val="0"/>
              </a:spcAft>
              <a:buClr>
                <a:srgbClr val="6E7378"/>
              </a:buClr>
              <a:buSzPts val="1000"/>
              <a:buFont typeface="Arial"/>
              <a:buNone/>
            </a:pPr>
            <a:r>
              <a:rPr lang="en-US" sz="1200">
                <a:solidFill>
                  <a:srgbClr val="6E7378"/>
                </a:solidFill>
                <a:latin typeface="Arial"/>
                <a:ea typeface="Arial"/>
                <a:cs typeface="Arial"/>
                <a:sym typeface="Arial"/>
              </a:rPr>
              <a:t>資金は寝かせない。</a:t>
            </a:r>
            <a:endParaRPr sz="1200">
              <a:solidFill>
                <a:schemeClr val="dk1"/>
              </a:solidFill>
              <a:latin typeface="Calibri"/>
              <a:ea typeface="Calibri"/>
              <a:cs typeface="Calibri"/>
              <a:sym typeface="Calibri"/>
            </a:endParaRPr>
          </a:p>
        </p:txBody>
      </p:sp>
      <p:sp>
        <p:nvSpPr>
          <p:cNvPr id="85" name="Google Shape;85;p3"/>
          <p:cNvSpPr/>
          <p:nvPr/>
        </p:nvSpPr>
        <p:spPr>
          <a:xfrm>
            <a:off x="4350564" y="5197975"/>
            <a:ext cx="3490800" cy="399000"/>
          </a:xfrm>
          <a:prstGeom prst="rect">
            <a:avLst/>
          </a:prstGeom>
          <a:solidFill>
            <a:srgbClr val="2F5496"/>
          </a:solid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300"/>
              <a:buFont typeface="Arial"/>
              <a:buNone/>
            </a:pPr>
            <a:r>
              <a:rPr lang="en-US" sz="1300" b="1">
                <a:solidFill>
                  <a:schemeClr val="lt1"/>
                </a:solidFill>
                <a:latin typeface="Arial"/>
                <a:ea typeface="Arial"/>
                <a:cs typeface="Arial"/>
                <a:sym typeface="Arial"/>
              </a:rPr>
              <a:t>ワーカーは手ぶらで会食へ</a:t>
            </a:r>
            <a:endParaRPr sz="1300">
              <a:solidFill>
                <a:schemeClr val="lt1"/>
              </a:solidFill>
              <a:latin typeface="Calibri"/>
              <a:ea typeface="Calibri"/>
              <a:cs typeface="Calibri"/>
              <a:sym typeface="Calibri"/>
            </a:endParaRPr>
          </a:p>
        </p:txBody>
      </p:sp>
      <p:sp>
        <p:nvSpPr>
          <p:cNvPr id="86" name="Google Shape;86;p3"/>
          <p:cNvSpPr/>
          <p:nvPr/>
        </p:nvSpPr>
        <p:spPr>
          <a:xfrm>
            <a:off x="4366130" y="5625592"/>
            <a:ext cx="3490800" cy="4572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6E7378"/>
              </a:buClr>
              <a:buSzPts val="1000"/>
              <a:buFont typeface="Arial"/>
              <a:buNone/>
            </a:pPr>
            <a:r>
              <a:rPr lang="en-US" sz="1200">
                <a:solidFill>
                  <a:srgbClr val="6E7378"/>
                </a:solidFill>
                <a:latin typeface="Arial"/>
                <a:ea typeface="Arial"/>
                <a:cs typeface="Arial"/>
                <a:sym typeface="Arial"/>
              </a:rPr>
              <a:t>提携店へ事前配送、コルケージ無料。</a:t>
            </a:r>
            <a:endParaRPr sz="1200"/>
          </a:p>
          <a:p>
            <a:pPr marL="0" marR="0" lvl="0" indent="0" algn="l" rtl="0">
              <a:lnSpc>
                <a:spcPct val="140000"/>
              </a:lnSpc>
              <a:spcBef>
                <a:spcPts val="0"/>
              </a:spcBef>
              <a:spcAft>
                <a:spcPts val="0"/>
              </a:spcAft>
              <a:buClr>
                <a:srgbClr val="6E7378"/>
              </a:buClr>
              <a:buSzPts val="1000"/>
              <a:buFont typeface="Arial"/>
              <a:buNone/>
            </a:pPr>
            <a:r>
              <a:rPr lang="en-US" sz="1200">
                <a:solidFill>
                  <a:srgbClr val="6E7378"/>
                </a:solidFill>
                <a:latin typeface="Arial"/>
                <a:ea typeface="Arial"/>
                <a:cs typeface="Arial"/>
                <a:sym typeface="Arial"/>
              </a:rPr>
              <a:t>割高な店内価格から解放。</a:t>
            </a:r>
            <a:endParaRPr sz="1200">
              <a:solidFill>
                <a:schemeClr val="dk1"/>
              </a:solidFill>
              <a:latin typeface="Calibri"/>
              <a:ea typeface="Calibri"/>
              <a:cs typeface="Calibri"/>
              <a:sym typeface="Calibri"/>
            </a:endParaRPr>
          </a:p>
        </p:txBody>
      </p:sp>
      <p:sp>
        <p:nvSpPr>
          <p:cNvPr id="87" name="Google Shape;87;p3"/>
          <p:cNvSpPr/>
          <p:nvPr/>
        </p:nvSpPr>
        <p:spPr>
          <a:xfrm>
            <a:off x="8133898" y="5197975"/>
            <a:ext cx="3490800" cy="399000"/>
          </a:xfrm>
          <a:prstGeom prst="rect">
            <a:avLst/>
          </a:prstGeom>
          <a:solidFill>
            <a:srgbClr val="2F5496"/>
          </a:solid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300"/>
              <a:buFont typeface="Arial"/>
              <a:buNone/>
            </a:pPr>
            <a:r>
              <a:rPr lang="en-US" sz="1300" b="1">
                <a:solidFill>
                  <a:schemeClr val="lt1"/>
                </a:solidFill>
                <a:latin typeface="Arial"/>
                <a:ea typeface="Arial"/>
                <a:cs typeface="Arial"/>
                <a:sym typeface="Arial"/>
              </a:rPr>
              <a:t>居住者は迷わず買える</a:t>
            </a:r>
            <a:endParaRPr sz="1300">
              <a:solidFill>
                <a:schemeClr val="lt1"/>
              </a:solidFill>
              <a:latin typeface="Calibri"/>
              <a:ea typeface="Calibri"/>
              <a:cs typeface="Calibri"/>
              <a:sym typeface="Calibri"/>
            </a:endParaRPr>
          </a:p>
        </p:txBody>
      </p:sp>
      <p:sp>
        <p:nvSpPr>
          <p:cNvPr id="88" name="Google Shape;88;p3"/>
          <p:cNvSpPr/>
          <p:nvPr/>
        </p:nvSpPr>
        <p:spPr>
          <a:xfrm>
            <a:off x="8149613" y="5625592"/>
            <a:ext cx="3490800" cy="4572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6E7378"/>
              </a:buClr>
              <a:buSzPts val="1000"/>
              <a:buFont typeface="Arial"/>
              <a:buNone/>
            </a:pPr>
            <a:r>
              <a:rPr lang="en-US" sz="1200">
                <a:solidFill>
                  <a:srgbClr val="6E7378"/>
                </a:solidFill>
                <a:latin typeface="Arial"/>
                <a:ea typeface="Arial"/>
                <a:cs typeface="Arial"/>
                <a:sym typeface="Arial"/>
              </a:rPr>
              <a:t>正規ルートの一本を、</a:t>
            </a:r>
            <a:endParaRPr sz="1200">
              <a:solidFill>
                <a:srgbClr val="6E7378"/>
              </a:solidFill>
              <a:latin typeface="Arial"/>
              <a:ea typeface="Arial"/>
              <a:cs typeface="Arial"/>
              <a:sym typeface="Arial"/>
            </a:endParaRPr>
          </a:p>
          <a:p>
            <a:pPr marL="0" marR="0" lvl="0" indent="0" algn="l" rtl="0">
              <a:lnSpc>
                <a:spcPct val="140000"/>
              </a:lnSpc>
              <a:spcBef>
                <a:spcPts val="0"/>
              </a:spcBef>
              <a:spcAft>
                <a:spcPts val="0"/>
              </a:spcAft>
              <a:buClr>
                <a:srgbClr val="6E7378"/>
              </a:buClr>
              <a:buSzPts val="1000"/>
              <a:buFont typeface="Arial"/>
              <a:buNone/>
            </a:pPr>
            <a:r>
              <a:rPr lang="en-US" sz="1200">
                <a:solidFill>
                  <a:srgbClr val="6E7378"/>
                </a:solidFill>
                <a:latin typeface="Arial"/>
                <a:ea typeface="Arial"/>
                <a:cs typeface="Arial"/>
                <a:sym typeface="Arial"/>
              </a:rPr>
              <a:t>コンシェルジュ経由で自宅へ。</a:t>
            </a:r>
            <a:endParaRPr sz="1200">
              <a:solidFill>
                <a:schemeClr val="dk1"/>
              </a:solidFill>
              <a:latin typeface="Calibri"/>
              <a:ea typeface="Calibri"/>
              <a:cs typeface="Calibri"/>
              <a:sym typeface="Calibri"/>
            </a:endParaRPr>
          </a:p>
        </p:txBody>
      </p:sp>
      <p:cxnSp>
        <p:nvCxnSpPr>
          <p:cNvPr id="89" name="Google Shape;89;p3"/>
          <p:cNvCxnSpPr>
            <a:stCxn id="67" idx="2"/>
            <a:endCxn id="82" idx="0"/>
          </p:cNvCxnSpPr>
          <p:nvPr/>
        </p:nvCxnSpPr>
        <p:spPr>
          <a:xfrm rot="-5400000" flipH="1">
            <a:off x="3869475" y="2340375"/>
            <a:ext cx="669300" cy="3783600"/>
          </a:xfrm>
          <a:prstGeom prst="bentConnector3">
            <a:avLst>
              <a:gd name="adj1" fmla="val 50002"/>
            </a:avLst>
          </a:prstGeom>
          <a:noFill/>
          <a:ln w="28575" cap="flat" cmpd="sng">
            <a:solidFill>
              <a:srgbClr val="B9BEC2"/>
            </a:solidFill>
            <a:prstDash val="solid"/>
            <a:round/>
            <a:headEnd type="none" w="med" len="med"/>
            <a:tailEnd type="none" w="med" len="med"/>
          </a:ln>
        </p:spPr>
      </p:cxnSp>
      <p:cxnSp>
        <p:nvCxnSpPr>
          <p:cNvPr id="90" name="Google Shape;90;p3"/>
          <p:cNvCxnSpPr>
            <a:stCxn id="77" idx="2"/>
            <a:endCxn id="82" idx="0"/>
          </p:cNvCxnSpPr>
          <p:nvPr/>
        </p:nvCxnSpPr>
        <p:spPr>
          <a:xfrm rot="5400000">
            <a:off x="7652998" y="2340525"/>
            <a:ext cx="669300" cy="3783300"/>
          </a:xfrm>
          <a:prstGeom prst="bentConnector3">
            <a:avLst>
              <a:gd name="adj1" fmla="val 50002"/>
            </a:avLst>
          </a:prstGeom>
          <a:noFill/>
          <a:ln w="28575" cap="flat" cmpd="sng">
            <a:solidFill>
              <a:srgbClr val="B9BEC2"/>
            </a:solidFill>
            <a:prstDash val="solid"/>
            <a:round/>
            <a:headEnd type="none" w="med" len="med"/>
            <a:tailEnd type="none" w="med" len="med"/>
          </a:ln>
        </p:spPr>
      </p:cxnSp>
      <p:cxnSp>
        <p:nvCxnSpPr>
          <p:cNvPr id="91" name="Google Shape;91;p3"/>
          <p:cNvCxnSpPr>
            <a:stCxn id="72" idx="2"/>
            <a:endCxn id="82" idx="0"/>
          </p:cNvCxnSpPr>
          <p:nvPr/>
        </p:nvCxnSpPr>
        <p:spPr>
          <a:xfrm rot="-5400000" flipH="1">
            <a:off x="5761614" y="4231875"/>
            <a:ext cx="669300" cy="600"/>
          </a:xfrm>
          <a:prstGeom prst="bentConnector3">
            <a:avLst>
              <a:gd name="adj1" fmla="val 50002"/>
            </a:avLst>
          </a:prstGeom>
          <a:noFill/>
          <a:ln w="28575" cap="flat" cmpd="sng">
            <a:solidFill>
              <a:srgbClr val="B9BEC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
        <p:cNvGrpSpPr/>
        <p:nvPr/>
      </p:nvGrpSpPr>
      <p:grpSpPr>
        <a:xfrm>
          <a:off x="0" y="0"/>
          <a:ext cx="0" cy="0"/>
          <a:chOff x="0" y="0"/>
          <a:chExt cx="0" cy="0"/>
        </a:xfrm>
      </p:grpSpPr>
      <p:pic>
        <p:nvPicPr>
          <p:cNvPr id="97" name="Google Shape;97;p4"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98" name="Google Shape;98;p4"/>
          <p:cNvSpPr/>
          <p:nvPr/>
        </p:nvSpPr>
        <p:spPr>
          <a:xfrm>
            <a:off x="566928" y="292608"/>
            <a:ext cx="95097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OVERVIEW</a:t>
            </a:r>
            <a:endParaRPr sz="850">
              <a:solidFill>
                <a:schemeClr val="dk1"/>
              </a:solidFill>
              <a:latin typeface="Calibri"/>
              <a:ea typeface="Calibri"/>
              <a:cs typeface="Calibri"/>
              <a:sym typeface="Calibri"/>
            </a:endParaRPr>
          </a:p>
        </p:txBody>
      </p:sp>
      <p:sp>
        <p:nvSpPr>
          <p:cNvPr id="99" name="Google Shape;99;p4"/>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rPr>
              <a:t>ヒルズ経済圏を実現する</a:t>
            </a:r>
            <a:r>
              <a:rPr lang="en-US" sz="2300" b="1">
                <a:solidFill>
                  <a:srgbClr val="1A1A1A"/>
                </a:solidFill>
                <a:latin typeface="Arial"/>
                <a:ea typeface="Arial"/>
                <a:cs typeface="Arial"/>
                <a:sym typeface="Arial"/>
              </a:rPr>
              <a:t>6</a:t>
            </a:r>
            <a:r>
              <a:rPr lang="en-US" sz="2300" b="1">
                <a:solidFill>
                  <a:srgbClr val="1A1A1A"/>
                </a:solidFill>
              </a:rPr>
              <a:t>つの</a:t>
            </a:r>
            <a:r>
              <a:rPr lang="en-US" sz="2300" b="1">
                <a:solidFill>
                  <a:srgbClr val="1A1A1A"/>
                </a:solidFill>
                <a:latin typeface="Arial"/>
                <a:ea typeface="Arial"/>
                <a:cs typeface="Arial"/>
                <a:sym typeface="Arial"/>
              </a:rPr>
              <a:t>プログラム</a:t>
            </a:r>
            <a:endParaRPr sz="2300">
              <a:solidFill>
                <a:schemeClr val="dk1"/>
              </a:solidFill>
              <a:latin typeface="Calibri"/>
              <a:ea typeface="Calibri"/>
              <a:cs typeface="Calibri"/>
              <a:sym typeface="Calibri"/>
            </a:endParaRPr>
          </a:p>
        </p:txBody>
      </p:sp>
      <p:sp>
        <p:nvSpPr>
          <p:cNvPr id="100" name="Google Shape;100;p4"/>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4"/>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102" name="Google Shape;102;p4"/>
          <p:cNvSpPr/>
          <p:nvPr/>
        </p:nvSpPr>
        <p:spPr>
          <a:xfrm>
            <a:off x="490728" y="1539240"/>
            <a:ext cx="3503100" cy="1737300"/>
          </a:xfrm>
          <a:prstGeom prst="roundRect">
            <a:avLst>
              <a:gd name="adj" fmla="val 2632"/>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p:nvPr/>
        </p:nvSpPr>
        <p:spPr>
          <a:xfrm>
            <a:off x="1277112" y="1645920"/>
            <a:ext cx="24606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Arial"/>
              <a:buNone/>
            </a:pPr>
            <a:r>
              <a:rPr lang="en-US" b="1">
                <a:solidFill>
                  <a:srgbClr val="FFFFFF"/>
                </a:solidFill>
                <a:latin typeface="Arial"/>
                <a:ea typeface="Arial"/>
                <a:cs typeface="Arial"/>
                <a:sym typeface="Arial"/>
              </a:rPr>
              <a:t>Cloud Wine Cave</a:t>
            </a:r>
            <a:endParaRPr>
              <a:solidFill>
                <a:schemeClr val="dk1"/>
              </a:solidFill>
              <a:latin typeface="Calibri"/>
              <a:ea typeface="Calibri"/>
              <a:cs typeface="Calibri"/>
              <a:sym typeface="Calibri"/>
            </a:endParaRPr>
          </a:p>
        </p:txBody>
      </p:sp>
      <p:sp>
        <p:nvSpPr>
          <p:cNvPr id="104" name="Google Shape;104;p4"/>
          <p:cNvSpPr/>
          <p:nvPr/>
        </p:nvSpPr>
        <p:spPr>
          <a:xfrm>
            <a:off x="599439" y="2322576"/>
            <a:ext cx="3246900" cy="5487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DDE1E4"/>
              </a:buClr>
              <a:buSzPts val="1000"/>
              <a:buFont typeface="Arial"/>
              <a:buNone/>
            </a:pPr>
            <a:r>
              <a:rPr lang="en-US" sz="1000">
                <a:solidFill>
                  <a:srgbClr val="DDE1E4"/>
                </a:solidFill>
                <a:latin typeface="Arial"/>
                <a:ea typeface="Arial"/>
                <a:cs typeface="Arial"/>
                <a:sym typeface="Arial"/>
              </a:rPr>
              <a:t>当社の管理在庫を「自分のセラー」として使う。</a:t>
            </a:r>
            <a:endParaRPr/>
          </a:p>
          <a:p>
            <a:pPr marL="0" marR="0" lvl="0" indent="0" algn="l" rtl="0">
              <a:lnSpc>
                <a:spcPct val="140000"/>
              </a:lnSpc>
              <a:spcBef>
                <a:spcPts val="0"/>
              </a:spcBef>
              <a:spcAft>
                <a:spcPts val="0"/>
              </a:spcAft>
              <a:buClr>
                <a:srgbClr val="DDE1E4"/>
              </a:buClr>
              <a:buSzPts val="1000"/>
              <a:buFont typeface="Arial"/>
              <a:buNone/>
            </a:pPr>
            <a:r>
              <a:rPr lang="en-US" sz="1000">
                <a:solidFill>
                  <a:srgbClr val="DDE1E4"/>
                </a:solidFill>
                <a:latin typeface="Arial"/>
                <a:ea typeface="Arial"/>
                <a:cs typeface="Arial"/>
                <a:sym typeface="Arial"/>
              </a:rPr>
              <a:t>共有セラー型・置きワイン型・レジデンス向けの3形態。</a:t>
            </a:r>
            <a:endParaRPr sz="1000">
              <a:solidFill>
                <a:schemeClr val="dk1"/>
              </a:solidFill>
              <a:latin typeface="Calibri"/>
              <a:ea typeface="Calibri"/>
              <a:cs typeface="Calibri"/>
              <a:sym typeface="Calibri"/>
            </a:endParaRPr>
          </a:p>
        </p:txBody>
      </p:sp>
      <p:sp>
        <p:nvSpPr>
          <p:cNvPr id="105" name="Google Shape;105;p4"/>
          <p:cNvSpPr/>
          <p:nvPr/>
        </p:nvSpPr>
        <p:spPr>
          <a:xfrm>
            <a:off x="670560" y="2871216"/>
            <a:ext cx="2991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880"/>
              <a:buFont typeface="Arial"/>
              <a:buNone/>
            </a:pPr>
            <a:r>
              <a:rPr lang="en-US" sz="880" b="1">
                <a:solidFill>
                  <a:srgbClr val="EFDCCE"/>
                </a:solidFill>
                <a:latin typeface="Arial"/>
                <a:ea typeface="Arial"/>
                <a:cs typeface="Arial"/>
                <a:sym typeface="Arial"/>
              </a:rPr>
              <a:t>飲食店／レジデンス</a:t>
            </a:r>
            <a:endParaRPr sz="880">
              <a:solidFill>
                <a:schemeClr val="dk1"/>
              </a:solidFill>
              <a:latin typeface="Calibri"/>
              <a:ea typeface="Calibri"/>
              <a:cs typeface="Calibri"/>
              <a:sym typeface="Calibri"/>
            </a:endParaRPr>
          </a:p>
        </p:txBody>
      </p:sp>
      <p:sp>
        <p:nvSpPr>
          <p:cNvPr id="106" name="Google Shape;106;p4"/>
          <p:cNvSpPr/>
          <p:nvPr/>
        </p:nvSpPr>
        <p:spPr>
          <a:xfrm>
            <a:off x="4344314" y="1539240"/>
            <a:ext cx="3503100" cy="1737300"/>
          </a:xfrm>
          <a:prstGeom prst="roundRect">
            <a:avLst>
              <a:gd name="adj" fmla="val 2632"/>
            </a:avLst>
          </a:prstGeom>
          <a:solidFill>
            <a:srgbClr val="D4DB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5130698" y="1645920"/>
            <a:ext cx="24606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b="1">
                <a:solidFill>
                  <a:srgbClr val="1A1A1A"/>
                </a:solidFill>
                <a:latin typeface="Arial"/>
                <a:ea typeface="Arial"/>
                <a:cs typeface="Arial"/>
                <a:sym typeface="Arial"/>
              </a:rPr>
              <a:t>WineGO ヒルズ・デリバリー</a:t>
            </a:r>
            <a:endParaRPr>
              <a:solidFill>
                <a:schemeClr val="dk1"/>
              </a:solidFill>
              <a:latin typeface="Calibri"/>
              <a:ea typeface="Calibri"/>
              <a:cs typeface="Calibri"/>
              <a:sym typeface="Calibri"/>
            </a:endParaRPr>
          </a:p>
        </p:txBody>
      </p:sp>
      <p:sp>
        <p:nvSpPr>
          <p:cNvPr id="108" name="Google Shape;108;p4"/>
          <p:cNvSpPr/>
          <p:nvPr/>
        </p:nvSpPr>
        <p:spPr>
          <a:xfrm>
            <a:off x="4524146" y="2322576"/>
            <a:ext cx="2991000" cy="5487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館内ストレージ開設後は定温のまま最短5分で配送。</a:t>
            </a:r>
            <a:endParaRPr/>
          </a:p>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Cloud Wine Caveの価値を高める配送網。</a:t>
            </a:r>
            <a:endParaRPr sz="1000">
              <a:solidFill>
                <a:schemeClr val="dk1"/>
              </a:solidFill>
              <a:latin typeface="Calibri"/>
              <a:ea typeface="Calibri"/>
              <a:cs typeface="Calibri"/>
              <a:sym typeface="Calibri"/>
            </a:endParaRPr>
          </a:p>
        </p:txBody>
      </p:sp>
      <p:sp>
        <p:nvSpPr>
          <p:cNvPr id="109" name="Google Shape;109;p4"/>
          <p:cNvSpPr/>
          <p:nvPr/>
        </p:nvSpPr>
        <p:spPr>
          <a:xfrm>
            <a:off x="4524146" y="2871216"/>
            <a:ext cx="2991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880"/>
              <a:buFont typeface="Arial"/>
              <a:buNone/>
            </a:pPr>
            <a:r>
              <a:rPr lang="en-US" sz="880" b="1">
                <a:solidFill>
                  <a:srgbClr val="A06D4C"/>
                </a:solidFill>
                <a:latin typeface="Arial"/>
                <a:ea typeface="Arial"/>
                <a:cs typeface="Arial"/>
                <a:sym typeface="Arial"/>
              </a:rPr>
              <a:t>飲食店／ワーカー／レジデンス</a:t>
            </a:r>
            <a:endParaRPr sz="880">
              <a:solidFill>
                <a:schemeClr val="dk1"/>
              </a:solidFill>
              <a:latin typeface="Calibri"/>
              <a:ea typeface="Calibri"/>
              <a:cs typeface="Calibri"/>
              <a:sym typeface="Calibri"/>
            </a:endParaRPr>
          </a:p>
        </p:txBody>
      </p:sp>
      <p:sp>
        <p:nvSpPr>
          <p:cNvPr id="110" name="Google Shape;110;p4"/>
          <p:cNvSpPr/>
          <p:nvPr/>
        </p:nvSpPr>
        <p:spPr>
          <a:xfrm>
            <a:off x="8197901" y="1539240"/>
            <a:ext cx="3503100" cy="1737300"/>
          </a:xfrm>
          <a:prstGeom prst="roundRect">
            <a:avLst>
              <a:gd name="adj" fmla="val 2632"/>
            </a:avLst>
          </a:prstGeom>
          <a:solidFill>
            <a:srgbClr val="D4DB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4"/>
          <p:cNvSpPr/>
          <p:nvPr/>
        </p:nvSpPr>
        <p:spPr>
          <a:xfrm>
            <a:off x="8984285" y="1645920"/>
            <a:ext cx="24606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b="1">
                <a:solidFill>
                  <a:srgbClr val="1A1A1A"/>
                </a:solidFill>
                <a:latin typeface="Arial"/>
                <a:ea typeface="Arial"/>
                <a:cs typeface="Arial"/>
                <a:sym typeface="Arial"/>
              </a:rPr>
              <a:t>WineBank CLUB</a:t>
            </a:r>
            <a:endParaRPr>
              <a:solidFill>
                <a:schemeClr val="dk1"/>
              </a:solidFill>
              <a:latin typeface="Calibri"/>
              <a:ea typeface="Calibri"/>
              <a:cs typeface="Calibri"/>
              <a:sym typeface="Calibri"/>
            </a:endParaRPr>
          </a:p>
        </p:txBody>
      </p:sp>
      <p:sp>
        <p:nvSpPr>
          <p:cNvPr id="112" name="Google Shape;112;p4"/>
          <p:cNvSpPr/>
          <p:nvPr/>
        </p:nvSpPr>
        <p:spPr>
          <a:xfrm>
            <a:off x="8377733" y="2322576"/>
            <a:ext cx="2991000" cy="5487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レストランでワインが仕入れ価格相当に。</a:t>
            </a:r>
            <a:endParaRPr/>
          </a:p>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通常プランに加え、ヒルズ向けのオーダーメイド版をご提案。</a:t>
            </a:r>
            <a:endParaRPr sz="1000">
              <a:solidFill>
                <a:schemeClr val="dk1"/>
              </a:solidFill>
              <a:latin typeface="Calibri"/>
              <a:ea typeface="Calibri"/>
              <a:cs typeface="Calibri"/>
              <a:sym typeface="Calibri"/>
            </a:endParaRPr>
          </a:p>
        </p:txBody>
      </p:sp>
      <p:sp>
        <p:nvSpPr>
          <p:cNvPr id="113" name="Google Shape;113;p4"/>
          <p:cNvSpPr/>
          <p:nvPr/>
        </p:nvSpPr>
        <p:spPr>
          <a:xfrm>
            <a:off x="8377733" y="2871216"/>
            <a:ext cx="2991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880"/>
              <a:buFont typeface="Arial"/>
              <a:buNone/>
            </a:pPr>
            <a:r>
              <a:rPr lang="en-US" sz="880" b="1">
                <a:solidFill>
                  <a:srgbClr val="A06D4C"/>
                </a:solidFill>
                <a:latin typeface="Arial"/>
                <a:ea typeface="Arial"/>
                <a:cs typeface="Arial"/>
                <a:sym typeface="Arial"/>
              </a:rPr>
              <a:t>ワーカー／レジデンス</a:t>
            </a:r>
            <a:endParaRPr sz="880">
              <a:solidFill>
                <a:schemeClr val="dk1"/>
              </a:solidFill>
              <a:latin typeface="Calibri"/>
              <a:ea typeface="Calibri"/>
              <a:cs typeface="Calibri"/>
              <a:sym typeface="Calibri"/>
            </a:endParaRPr>
          </a:p>
        </p:txBody>
      </p:sp>
      <p:sp>
        <p:nvSpPr>
          <p:cNvPr id="114" name="Google Shape;114;p4"/>
          <p:cNvSpPr/>
          <p:nvPr/>
        </p:nvSpPr>
        <p:spPr>
          <a:xfrm>
            <a:off x="490728" y="3590544"/>
            <a:ext cx="3503100" cy="1737300"/>
          </a:xfrm>
          <a:prstGeom prst="roundRect">
            <a:avLst>
              <a:gd name="adj" fmla="val 2632"/>
            </a:avLst>
          </a:prstGeom>
          <a:solidFill>
            <a:srgbClr val="D4DB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
          <p:cNvSpPr/>
          <p:nvPr/>
        </p:nvSpPr>
        <p:spPr>
          <a:xfrm>
            <a:off x="1277112" y="3697224"/>
            <a:ext cx="24606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b="1">
                <a:solidFill>
                  <a:srgbClr val="1A1A1A"/>
                </a:solidFill>
                <a:latin typeface="Arial"/>
                <a:ea typeface="Arial"/>
                <a:cs typeface="Arial"/>
                <a:sym typeface="Arial"/>
              </a:rPr>
              <a:t>クラウドワインセラー出店</a:t>
            </a:r>
            <a:endParaRPr>
              <a:solidFill>
                <a:schemeClr val="dk1"/>
              </a:solidFill>
              <a:latin typeface="Calibri"/>
              <a:ea typeface="Calibri"/>
              <a:cs typeface="Calibri"/>
              <a:sym typeface="Calibri"/>
            </a:endParaRPr>
          </a:p>
        </p:txBody>
      </p:sp>
      <p:sp>
        <p:nvSpPr>
          <p:cNvPr id="116" name="Google Shape;116;p4"/>
          <p:cNvSpPr/>
          <p:nvPr/>
        </p:nvSpPr>
        <p:spPr>
          <a:xfrm>
            <a:off x="670560" y="4373880"/>
            <a:ext cx="2991000" cy="5487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数千本のウォークインセラーを核とした、</a:t>
            </a:r>
            <a:endParaRPr/>
          </a:p>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在庫共有型フードホールを商業区画に。</a:t>
            </a:r>
            <a:endParaRPr sz="1000">
              <a:solidFill>
                <a:schemeClr val="dk1"/>
              </a:solidFill>
              <a:latin typeface="Calibri"/>
              <a:ea typeface="Calibri"/>
              <a:cs typeface="Calibri"/>
              <a:sym typeface="Calibri"/>
            </a:endParaRPr>
          </a:p>
        </p:txBody>
      </p:sp>
      <p:sp>
        <p:nvSpPr>
          <p:cNvPr id="117" name="Google Shape;117;p4"/>
          <p:cNvSpPr/>
          <p:nvPr/>
        </p:nvSpPr>
        <p:spPr>
          <a:xfrm>
            <a:off x="670560" y="4922520"/>
            <a:ext cx="2991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880"/>
              <a:buFont typeface="Arial"/>
              <a:buNone/>
            </a:pPr>
            <a:r>
              <a:rPr lang="en-US" sz="880" b="1">
                <a:solidFill>
                  <a:srgbClr val="A06D4C"/>
                </a:solidFill>
                <a:latin typeface="Arial"/>
                <a:ea typeface="Arial"/>
                <a:cs typeface="Arial"/>
                <a:sym typeface="Arial"/>
              </a:rPr>
              <a:t>商業施設</a:t>
            </a:r>
            <a:endParaRPr sz="880">
              <a:solidFill>
                <a:schemeClr val="dk1"/>
              </a:solidFill>
              <a:latin typeface="Calibri"/>
              <a:ea typeface="Calibri"/>
              <a:cs typeface="Calibri"/>
              <a:sym typeface="Calibri"/>
            </a:endParaRPr>
          </a:p>
        </p:txBody>
      </p:sp>
      <p:sp>
        <p:nvSpPr>
          <p:cNvPr id="118" name="Google Shape;118;p4"/>
          <p:cNvSpPr/>
          <p:nvPr/>
        </p:nvSpPr>
        <p:spPr>
          <a:xfrm>
            <a:off x="4344314" y="3590544"/>
            <a:ext cx="3503100" cy="1737300"/>
          </a:xfrm>
          <a:prstGeom prst="roundRect">
            <a:avLst>
              <a:gd name="adj" fmla="val 2632"/>
            </a:avLst>
          </a:prstGeom>
          <a:solidFill>
            <a:srgbClr val="D4DB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5130700" y="3697225"/>
            <a:ext cx="26118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b="1">
                <a:solidFill>
                  <a:srgbClr val="1A1A1A"/>
                </a:solidFill>
                <a:latin typeface="Arial"/>
                <a:ea typeface="Arial"/>
                <a:cs typeface="Arial"/>
                <a:sym typeface="Arial"/>
              </a:rPr>
              <a:t>ティエリー・マルクス業態出店</a:t>
            </a:r>
            <a:endParaRPr>
              <a:solidFill>
                <a:schemeClr val="dk1"/>
              </a:solidFill>
              <a:latin typeface="Calibri"/>
              <a:ea typeface="Calibri"/>
              <a:cs typeface="Calibri"/>
              <a:sym typeface="Calibri"/>
            </a:endParaRPr>
          </a:p>
        </p:txBody>
      </p:sp>
      <p:sp>
        <p:nvSpPr>
          <p:cNvPr id="120" name="Google Shape;120;p4"/>
          <p:cNvSpPr/>
          <p:nvPr/>
        </p:nvSpPr>
        <p:spPr>
          <a:xfrm>
            <a:off x="4524146" y="4373880"/>
            <a:ext cx="2991000" cy="5487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ミシュラン累計7つ星シェフの日本再進出業態。</a:t>
            </a:r>
            <a:endParaRPr/>
          </a:p>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街区の格とメディア露出を創出。</a:t>
            </a:r>
            <a:endParaRPr sz="1000">
              <a:solidFill>
                <a:schemeClr val="dk1"/>
              </a:solidFill>
              <a:latin typeface="Calibri"/>
              <a:ea typeface="Calibri"/>
              <a:cs typeface="Calibri"/>
              <a:sym typeface="Calibri"/>
            </a:endParaRPr>
          </a:p>
        </p:txBody>
      </p:sp>
      <p:sp>
        <p:nvSpPr>
          <p:cNvPr id="121" name="Google Shape;121;p4"/>
          <p:cNvSpPr/>
          <p:nvPr/>
        </p:nvSpPr>
        <p:spPr>
          <a:xfrm>
            <a:off x="4524146" y="4922520"/>
            <a:ext cx="2991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880"/>
              <a:buFont typeface="Arial"/>
              <a:buNone/>
            </a:pPr>
            <a:r>
              <a:rPr lang="en-US" sz="880" b="1">
                <a:solidFill>
                  <a:srgbClr val="A06D4C"/>
                </a:solidFill>
                <a:latin typeface="Arial"/>
                <a:ea typeface="Arial"/>
                <a:cs typeface="Arial"/>
                <a:sym typeface="Arial"/>
              </a:rPr>
              <a:t>商業施設</a:t>
            </a:r>
            <a:endParaRPr sz="880">
              <a:solidFill>
                <a:schemeClr val="dk1"/>
              </a:solidFill>
              <a:latin typeface="Calibri"/>
              <a:ea typeface="Calibri"/>
              <a:cs typeface="Calibri"/>
              <a:sym typeface="Calibri"/>
            </a:endParaRPr>
          </a:p>
        </p:txBody>
      </p:sp>
      <p:sp>
        <p:nvSpPr>
          <p:cNvPr id="122" name="Google Shape;122;p4"/>
          <p:cNvSpPr/>
          <p:nvPr/>
        </p:nvSpPr>
        <p:spPr>
          <a:xfrm>
            <a:off x="8197901" y="3590544"/>
            <a:ext cx="3503100" cy="1737300"/>
          </a:xfrm>
          <a:prstGeom prst="roundRect">
            <a:avLst>
              <a:gd name="adj" fmla="val 2632"/>
            </a:avLst>
          </a:prstGeom>
          <a:solidFill>
            <a:srgbClr val="D4DB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984285" y="3697224"/>
            <a:ext cx="24606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b="1">
                <a:solidFill>
                  <a:srgbClr val="1A1A1A"/>
                </a:solidFill>
                <a:latin typeface="Arial"/>
                <a:ea typeface="Arial"/>
                <a:cs typeface="Arial"/>
                <a:sym typeface="Arial"/>
              </a:rPr>
              <a:t>ワイン預りサービス</a:t>
            </a:r>
            <a:endParaRPr>
              <a:solidFill>
                <a:schemeClr val="dk1"/>
              </a:solidFill>
              <a:latin typeface="Calibri"/>
              <a:ea typeface="Calibri"/>
              <a:cs typeface="Calibri"/>
              <a:sym typeface="Calibri"/>
            </a:endParaRPr>
          </a:p>
        </p:txBody>
      </p:sp>
      <p:sp>
        <p:nvSpPr>
          <p:cNvPr id="124" name="Google Shape;124;p4"/>
          <p:cNvSpPr/>
          <p:nvPr/>
        </p:nvSpPr>
        <p:spPr>
          <a:xfrm>
            <a:off x="8377733" y="4373880"/>
            <a:ext cx="2991000" cy="5487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居住者のご自宅ワインをお預かりし、</a:t>
            </a:r>
            <a:endParaRPr/>
          </a:p>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一覧化して定温保管。必要なときに出庫。</a:t>
            </a:r>
            <a:endParaRPr sz="1000">
              <a:solidFill>
                <a:schemeClr val="dk1"/>
              </a:solidFill>
              <a:latin typeface="Calibri"/>
              <a:ea typeface="Calibri"/>
              <a:cs typeface="Calibri"/>
              <a:sym typeface="Calibri"/>
            </a:endParaRPr>
          </a:p>
        </p:txBody>
      </p:sp>
      <p:sp>
        <p:nvSpPr>
          <p:cNvPr id="125" name="Google Shape;125;p4"/>
          <p:cNvSpPr/>
          <p:nvPr/>
        </p:nvSpPr>
        <p:spPr>
          <a:xfrm>
            <a:off x="8377733" y="4922520"/>
            <a:ext cx="29910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880"/>
              <a:buFont typeface="Arial"/>
              <a:buNone/>
            </a:pPr>
            <a:r>
              <a:rPr lang="en-US" sz="880" b="1">
                <a:solidFill>
                  <a:srgbClr val="A06D4C"/>
                </a:solidFill>
                <a:latin typeface="Arial"/>
                <a:ea typeface="Arial"/>
                <a:cs typeface="Arial"/>
                <a:sym typeface="Arial"/>
              </a:rPr>
              <a:t>レジデンス</a:t>
            </a:r>
            <a:endParaRPr sz="880">
              <a:solidFill>
                <a:schemeClr val="dk1"/>
              </a:solidFill>
              <a:latin typeface="Calibri"/>
              <a:ea typeface="Calibri"/>
              <a:cs typeface="Calibri"/>
              <a:sym typeface="Calibri"/>
            </a:endParaRPr>
          </a:p>
        </p:txBody>
      </p:sp>
      <p:sp>
        <p:nvSpPr>
          <p:cNvPr id="126" name="Google Shape;126;p4"/>
          <p:cNvSpPr/>
          <p:nvPr/>
        </p:nvSpPr>
        <p:spPr>
          <a:xfrm>
            <a:off x="604428" y="5559552"/>
            <a:ext cx="109728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100"/>
              <a:buFont typeface="Arial"/>
              <a:buNone/>
            </a:pPr>
            <a:r>
              <a:rPr lang="en-US" sz="1200" b="1">
                <a:solidFill>
                  <a:srgbClr val="A06D4C"/>
                </a:solidFill>
                <a:latin typeface="Arial"/>
                <a:ea typeface="Arial"/>
                <a:cs typeface="Arial"/>
                <a:sym typeface="Arial"/>
              </a:rPr>
              <a:t>段階導入：①②③（設備投資ほぼ不要・3〜4か月で開始可能） → 効果検証のうえ ④⑤（区画を伴う出店）。⑥は③と同時に付帯。</a:t>
            </a:r>
            <a:endParaRPr sz="1200">
              <a:solidFill>
                <a:schemeClr val="dk1"/>
              </a:solidFill>
              <a:latin typeface="Calibri"/>
              <a:ea typeface="Calibri"/>
              <a:cs typeface="Calibri"/>
              <a:sym typeface="Calibri"/>
            </a:endParaRPr>
          </a:p>
        </p:txBody>
      </p:sp>
      <p:sp>
        <p:nvSpPr>
          <p:cNvPr id="127" name="Google Shape;127;p4"/>
          <p:cNvSpPr/>
          <p:nvPr/>
        </p:nvSpPr>
        <p:spPr>
          <a:xfrm>
            <a:off x="2905054" y="1348325"/>
            <a:ext cx="1572900" cy="603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300"/>
              <a:buFont typeface="Arial"/>
              <a:buNone/>
            </a:pPr>
            <a:r>
              <a:rPr lang="en-US" sz="1200" b="1">
                <a:solidFill>
                  <a:srgbClr val="FFFFFF"/>
                </a:solidFill>
              </a:rPr>
              <a:t>main program</a:t>
            </a:r>
            <a:endParaRPr sz="1200">
              <a:solidFill>
                <a:schemeClr val="dk1"/>
              </a:solidFill>
              <a:latin typeface="Calibri"/>
              <a:ea typeface="Calibri"/>
              <a:cs typeface="Calibri"/>
              <a:sym typeface="Calibri"/>
            </a:endParaRPr>
          </a:p>
        </p:txBody>
      </p:sp>
      <p:grpSp>
        <p:nvGrpSpPr>
          <p:cNvPr id="128" name="Google Shape;128;p4"/>
          <p:cNvGrpSpPr/>
          <p:nvPr/>
        </p:nvGrpSpPr>
        <p:grpSpPr>
          <a:xfrm>
            <a:off x="389575" y="1670873"/>
            <a:ext cx="739365" cy="420609"/>
            <a:chOff x="0" y="419025"/>
            <a:chExt cx="1029900" cy="585888"/>
          </a:xfrm>
        </p:grpSpPr>
        <p:sp>
          <p:nvSpPr>
            <p:cNvPr id="129" name="Google Shape;129;p4"/>
            <p:cNvSpPr/>
            <p:nvPr/>
          </p:nvSpPr>
          <p:spPr>
            <a:xfrm>
              <a:off x="0" y="419025"/>
              <a:ext cx="1029900" cy="577200"/>
            </a:xfrm>
            <a:prstGeom prst="snip1Rect">
              <a:avLst>
                <a:gd name="adj" fmla="val 16667"/>
              </a:avLst>
            </a:prstGeom>
            <a:solidFill>
              <a:srgbClr val="B97145"/>
            </a:solidFill>
            <a:ln>
              <a:noFill/>
            </a:ln>
          </p:spPr>
          <p:txBody>
            <a:bodyPr spcFirstLastPara="1" wrap="square" lIns="65625" tIns="65625" rIns="65625" bIns="65625" anchor="ctr" anchorCtr="0">
              <a:noAutofit/>
            </a:bodyPr>
            <a:lstStyle/>
            <a:p>
              <a:pPr marL="0" lvl="0" indent="0" algn="ctr" rtl="0">
                <a:spcBef>
                  <a:spcPts val="0"/>
                </a:spcBef>
                <a:spcAft>
                  <a:spcPts val="0"/>
                </a:spcAft>
                <a:buNone/>
              </a:pPr>
              <a:endParaRPr sz="1005"/>
            </a:p>
          </p:txBody>
        </p:sp>
        <p:sp>
          <p:nvSpPr>
            <p:cNvPr id="130" name="Google Shape;130;p4"/>
            <p:cNvSpPr txBox="1"/>
            <p:nvPr/>
          </p:nvSpPr>
          <p:spPr>
            <a:xfrm>
              <a:off x="82018" y="427713"/>
              <a:ext cx="930600" cy="577200"/>
            </a:xfrm>
            <a:prstGeom prst="rect">
              <a:avLst/>
            </a:prstGeom>
            <a:noFill/>
            <a:ln>
              <a:noFill/>
            </a:ln>
          </p:spPr>
          <p:txBody>
            <a:bodyPr spcFirstLastPara="1" wrap="square" lIns="65625" tIns="32800" rIns="65625" bIns="32800" anchor="t" anchorCtr="0">
              <a:spAutoFit/>
            </a:bodyPr>
            <a:lstStyle/>
            <a:p>
              <a:pPr marL="0" marR="0" lvl="0" indent="0" algn="ctr" rtl="0">
                <a:spcBef>
                  <a:spcPts val="0"/>
                </a:spcBef>
                <a:spcAft>
                  <a:spcPts val="0"/>
                </a:spcAft>
                <a:buClr>
                  <a:srgbClr val="FFFFFF"/>
                </a:buClr>
                <a:buSzPts val="610"/>
                <a:buFont typeface="Arial"/>
                <a:buNone/>
              </a:pPr>
              <a:r>
                <a:rPr lang="en-US" sz="682" b="1">
                  <a:solidFill>
                    <a:srgbClr val="FFFFFF"/>
                  </a:solidFill>
                  <a:latin typeface="Arial"/>
                  <a:ea typeface="Arial"/>
                  <a:cs typeface="Arial"/>
                  <a:sym typeface="Arial"/>
                </a:rPr>
                <a:t>PROGRAM</a:t>
              </a:r>
              <a:endParaRPr sz="1077"/>
            </a:p>
            <a:p>
              <a:pPr marL="0" marR="0" lvl="0" indent="0" algn="ctr" rtl="0">
                <a:spcBef>
                  <a:spcPts val="0"/>
                </a:spcBef>
                <a:spcAft>
                  <a:spcPts val="0"/>
                </a:spcAft>
                <a:buClr>
                  <a:srgbClr val="FFFFFF"/>
                </a:buClr>
                <a:buSzPts val="1436"/>
                <a:buFont typeface="Arial"/>
                <a:buNone/>
              </a:pPr>
              <a:r>
                <a:rPr lang="en-US" sz="1579" b="1">
                  <a:solidFill>
                    <a:srgbClr val="FFFFFF"/>
                  </a:solidFill>
                  <a:latin typeface="Arial"/>
                  <a:ea typeface="Arial"/>
                  <a:cs typeface="Arial"/>
                  <a:sym typeface="Arial"/>
                </a:rPr>
                <a:t>01</a:t>
              </a:r>
              <a:endParaRPr sz="1579">
                <a:solidFill>
                  <a:schemeClr val="dk1"/>
                </a:solidFill>
                <a:latin typeface="Calibri"/>
                <a:ea typeface="Calibri"/>
                <a:cs typeface="Calibri"/>
                <a:sym typeface="Calibri"/>
              </a:endParaRPr>
            </a:p>
          </p:txBody>
        </p:sp>
      </p:grpSp>
      <p:grpSp>
        <p:nvGrpSpPr>
          <p:cNvPr id="131" name="Google Shape;131;p4"/>
          <p:cNvGrpSpPr/>
          <p:nvPr/>
        </p:nvGrpSpPr>
        <p:grpSpPr>
          <a:xfrm>
            <a:off x="4251579" y="1670873"/>
            <a:ext cx="739365" cy="420609"/>
            <a:chOff x="0" y="419025"/>
            <a:chExt cx="1029900" cy="585888"/>
          </a:xfrm>
        </p:grpSpPr>
        <p:sp>
          <p:nvSpPr>
            <p:cNvPr id="132" name="Google Shape;132;p4"/>
            <p:cNvSpPr/>
            <p:nvPr/>
          </p:nvSpPr>
          <p:spPr>
            <a:xfrm>
              <a:off x="0" y="419025"/>
              <a:ext cx="1029900" cy="577200"/>
            </a:xfrm>
            <a:prstGeom prst="snip1Rect">
              <a:avLst>
                <a:gd name="adj" fmla="val 16667"/>
              </a:avLst>
            </a:prstGeom>
            <a:solidFill>
              <a:srgbClr val="B97145"/>
            </a:solidFill>
            <a:ln>
              <a:noFill/>
            </a:ln>
          </p:spPr>
          <p:txBody>
            <a:bodyPr spcFirstLastPara="1" wrap="square" lIns="65625" tIns="65625" rIns="65625" bIns="65625" anchor="ctr" anchorCtr="0">
              <a:noAutofit/>
            </a:bodyPr>
            <a:lstStyle/>
            <a:p>
              <a:pPr marL="0" lvl="0" indent="0" algn="ctr" rtl="0">
                <a:spcBef>
                  <a:spcPts val="0"/>
                </a:spcBef>
                <a:spcAft>
                  <a:spcPts val="0"/>
                </a:spcAft>
                <a:buNone/>
              </a:pPr>
              <a:endParaRPr sz="1005"/>
            </a:p>
          </p:txBody>
        </p:sp>
        <p:sp>
          <p:nvSpPr>
            <p:cNvPr id="133" name="Google Shape;133;p4"/>
            <p:cNvSpPr txBox="1"/>
            <p:nvPr/>
          </p:nvSpPr>
          <p:spPr>
            <a:xfrm>
              <a:off x="82018" y="427713"/>
              <a:ext cx="930600" cy="577200"/>
            </a:xfrm>
            <a:prstGeom prst="rect">
              <a:avLst/>
            </a:prstGeom>
            <a:noFill/>
            <a:ln>
              <a:noFill/>
            </a:ln>
          </p:spPr>
          <p:txBody>
            <a:bodyPr spcFirstLastPara="1" wrap="square" lIns="65625" tIns="32800" rIns="65625" bIns="32800" anchor="t" anchorCtr="0">
              <a:spAutoFit/>
            </a:bodyPr>
            <a:lstStyle/>
            <a:p>
              <a:pPr marL="0" marR="0" lvl="0" indent="0" algn="ctr" rtl="0">
                <a:spcBef>
                  <a:spcPts val="0"/>
                </a:spcBef>
                <a:spcAft>
                  <a:spcPts val="0"/>
                </a:spcAft>
                <a:buClr>
                  <a:srgbClr val="FFFFFF"/>
                </a:buClr>
                <a:buSzPts val="610"/>
                <a:buFont typeface="Arial"/>
                <a:buNone/>
              </a:pPr>
              <a:r>
                <a:rPr lang="en-US" sz="682" b="1">
                  <a:solidFill>
                    <a:srgbClr val="FFFFFF"/>
                  </a:solidFill>
                  <a:latin typeface="Arial"/>
                  <a:ea typeface="Arial"/>
                  <a:cs typeface="Arial"/>
                  <a:sym typeface="Arial"/>
                </a:rPr>
                <a:t>PROGRAM</a:t>
              </a:r>
              <a:endParaRPr sz="1077"/>
            </a:p>
            <a:p>
              <a:pPr marL="0" marR="0" lvl="0" indent="0" algn="ctr" rtl="0">
                <a:spcBef>
                  <a:spcPts val="0"/>
                </a:spcBef>
                <a:spcAft>
                  <a:spcPts val="0"/>
                </a:spcAft>
                <a:buClr>
                  <a:srgbClr val="FFFFFF"/>
                </a:buClr>
                <a:buSzPts val="1436"/>
                <a:buFont typeface="Arial"/>
                <a:buNone/>
              </a:pPr>
              <a:r>
                <a:rPr lang="en-US" sz="1579" b="1">
                  <a:solidFill>
                    <a:srgbClr val="FFFFFF"/>
                  </a:solidFill>
                  <a:latin typeface="Arial"/>
                  <a:ea typeface="Arial"/>
                  <a:cs typeface="Arial"/>
                  <a:sym typeface="Arial"/>
                </a:rPr>
                <a:t>0</a:t>
              </a:r>
              <a:r>
                <a:rPr lang="en-US" sz="1579" b="1">
                  <a:solidFill>
                    <a:srgbClr val="FFFFFF"/>
                  </a:solidFill>
                </a:rPr>
                <a:t>2</a:t>
              </a:r>
              <a:endParaRPr sz="1579">
                <a:solidFill>
                  <a:schemeClr val="dk1"/>
                </a:solidFill>
                <a:latin typeface="Calibri"/>
                <a:ea typeface="Calibri"/>
                <a:cs typeface="Calibri"/>
                <a:sym typeface="Calibri"/>
              </a:endParaRPr>
            </a:p>
          </p:txBody>
        </p:sp>
      </p:grpSp>
      <p:grpSp>
        <p:nvGrpSpPr>
          <p:cNvPr id="134" name="Google Shape;134;p4"/>
          <p:cNvGrpSpPr/>
          <p:nvPr/>
        </p:nvGrpSpPr>
        <p:grpSpPr>
          <a:xfrm>
            <a:off x="8071775" y="1670873"/>
            <a:ext cx="739365" cy="420609"/>
            <a:chOff x="0" y="419025"/>
            <a:chExt cx="1029900" cy="585888"/>
          </a:xfrm>
        </p:grpSpPr>
        <p:sp>
          <p:nvSpPr>
            <p:cNvPr id="135" name="Google Shape;135;p4"/>
            <p:cNvSpPr/>
            <p:nvPr/>
          </p:nvSpPr>
          <p:spPr>
            <a:xfrm>
              <a:off x="0" y="419025"/>
              <a:ext cx="1029900" cy="577200"/>
            </a:xfrm>
            <a:prstGeom prst="snip1Rect">
              <a:avLst>
                <a:gd name="adj" fmla="val 16667"/>
              </a:avLst>
            </a:prstGeom>
            <a:solidFill>
              <a:srgbClr val="B97145"/>
            </a:solidFill>
            <a:ln>
              <a:noFill/>
            </a:ln>
          </p:spPr>
          <p:txBody>
            <a:bodyPr spcFirstLastPara="1" wrap="square" lIns="65625" tIns="65625" rIns="65625" bIns="65625" anchor="ctr" anchorCtr="0">
              <a:noAutofit/>
            </a:bodyPr>
            <a:lstStyle/>
            <a:p>
              <a:pPr marL="0" lvl="0" indent="0" algn="ctr" rtl="0">
                <a:spcBef>
                  <a:spcPts val="0"/>
                </a:spcBef>
                <a:spcAft>
                  <a:spcPts val="0"/>
                </a:spcAft>
                <a:buNone/>
              </a:pPr>
              <a:endParaRPr sz="1005"/>
            </a:p>
          </p:txBody>
        </p:sp>
        <p:sp>
          <p:nvSpPr>
            <p:cNvPr id="136" name="Google Shape;136;p4"/>
            <p:cNvSpPr txBox="1"/>
            <p:nvPr/>
          </p:nvSpPr>
          <p:spPr>
            <a:xfrm>
              <a:off x="82018" y="427713"/>
              <a:ext cx="930600" cy="577200"/>
            </a:xfrm>
            <a:prstGeom prst="rect">
              <a:avLst/>
            </a:prstGeom>
            <a:noFill/>
            <a:ln>
              <a:noFill/>
            </a:ln>
          </p:spPr>
          <p:txBody>
            <a:bodyPr spcFirstLastPara="1" wrap="square" lIns="65625" tIns="32800" rIns="65625" bIns="32800" anchor="t" anchorCtr="0">
              <a:spAutoFit/>
            </a:bodyPr>
            <a:lstStyle/>
            <a:p>
              <a:pPr marL="0" marR="0" lvl="0" indent="0" algn="ctr" rtl="0">
                <a:spcBef>
                  <a:spcPts val="0"/>
                </a:spcBef>
                <a:spcAft>
                  <a:spcPts val="0"/>
                </a:spcAft>
                <a:buClr>
                  <a:srgbClr val="FFFFFF"/>
                </a:buClr>
                <a:buSzPts val="610"/>
                <a:buFont typeface="Arial"/>
                <a:buNone/>
              </a:pPr>
              <a:r>
                <a:rPr lang="en-US" sz="682" b="1">
                  <a:solidFill>
                    <a:srgbClr val="FFFFFF"/>
                  </a:solidFill>
                  <a:latin typeface="Arial"/>
                  <a:ea typeface="Arial"/>
                  <a:cs typeface="Arial"/>
                  <a:sym typeface="Arial"/>
                </a:rPr>
                <a:t>PROGRAM</a:t>
              </a:r>
              <a:endParaRPr sz="1077"/>
            </a:p>
            <a:p>
              <a:pPr marL="0" marR="0" lvl="0" indent="0" algn="ctr" rtl="0">
                <a:spcBef>
                  <a:spcPts val="0"/>
                </a:spcBef>
                <a:spcAft>
                  <a:spcPts val="0"/>
                </a:spcAft>
                <a:buClr>
                  <a:srgbClr val="FFFFFF"/>
                </a:buClr>
                <a:buSzPts val="1436"/>
                <a:buFont typeface="Arial"/>
                <a:buNone/>
              </a:pPr>
              <a:r>
                <a:rPr lang="en-US" sz="1579" b="1">
                  <a:solidFill>
                    <a:srgbClr val="FFFFFF"/>
                  </a:solidFill>
                  <a:latin typeface="Arial"/>
                  <a:ea typeface="Arial"/>
                  <a:cs typeface="Arial"/>
                  <a:sym typeface="Arial"/>
                </a:rPr>
                <a:t>0</a:t>
              </a:r>
              <a:r>
                <a:rPr lang="en-US" sz="1579" b="1">
                  <a:solidFill>
                    <a:srgbClr val="FFFFFF"/>
                  </a:solidFill>
                </a:rPr>
                <a:t>3</a:t>
              </a:r>
              <a:endParaRPr sz="1579">
                <a:solidFill>
                  <a:schemeClr val="dk1"/>
                </a:solidFill>
                <a:latin typeface="Calibri"/>
                <a:ea typeface="Calibri"/>
                <a:cs typeface="Calibri"/>
                <a:sym typeface="Calibri"/>
              </a:endParaRPr>
            </a:p>
          </p:txBody>
        </p:sp>
      </p:grpSp>
      <p:grpSp>
        <p:nvGrpSpPr>
          <p:cNvPr id="137" name="Google Shape;137;p4"/>
          <p:cNvGrpSpPr/>
          <p:nvPr/>
        </p:nvGrpSpPr>
        <p:grpSpPr>
          <a:xfrm>
            <a:off x="389575" y="3731423"/>
            <a:ext cx="739365" cy="420609"/>
            <a:chOff x="0" y="419025"/>
            <a:chExt cx="1029900" cy="585888"/>
          </a:xfrm>
        </p:grpSpPr>
        <p:sp>
          <p:nvSpPr>
            <p:cNvPr id="138" name="Google Shape;138;p4"/>
            <p:cNvSpPr/>
            <p:nvPr/>
          </p:nvSpPr>
          <p:spPr>
            <a:xfrm>
              <a:off x="0" y="419025"/>
              <a:ext cx="1029900" cy="577200"/>
            </a:xfrm>
            <a:prstGeom prst="snip1Rect">
              <a:avLst>
                <a:gd name="adj" fmla="val 16667"/>
              </a:avLst>
            </a:prstGeom>
            <a:solidFill>
              <a:srgbClr val="B97145"/>
            </a:solidFill>
            <a:ln>
              <a:noFill/>
            </a:ln>
          </p:spPr>
          <p:txBody>
            <a:bodyPr spcFirstLastPara="1" wrap="square" lIns="65625" tIns="65625" rIns="65625" bIns="65625" anchor="ctr" anchorCtr="0">
              <a:noAutofit/>
            </a:bodyPr>
            <a:lstStyle/>
            <a:p>
              <a:pPr marL="0" lvl="0" indent="0" algn="ctr" rtl="0">
                <a:spcBef>
                  <a:spcPts val="0"/>
                </a:spcBef>
                <a:spcAft>
                  <a:spcPts val="0"/>
                </a:spcAft>
                <a:buNone/>
              </a:pPr>
              <a:endParaRPr sz="1005"/>
            </a:p>
          </p:txBody>
        </p:sp>
        <p:sp>
          <p:nvSpPr>
            <p:cNvPr id="139" name="Google Shape;139;p4"/>
            <p:cNvSpPr txBox="1"/>
            <p:nvPr/>
          </p:nvSpPr>
          <p:spPr>
            <a:xfrm>
              <a:off x="82018" y="427713"/>
              <a:ext cx="930600" cy="577200"/>
            </a:xfrm>
            <a:prstGeom prst="rect">
              <a:avLst/>
            </a:prstGeom>
            <a:noFill/>
            <a:ln>
              <a:noFill/>
            </a:ln>
          </p:spPr>
          <p:txBody>
            <a:bodyPr spcFirstLastPara="1" wrap="square" lIns="65625" tIns="32800" rIns="65625" bIns="32800" anchor="t" anchorCtr="0">
              <a:spAutoFit/>
            </a:bodyPr>
            <a:lstStyle/>
            <a:p>
              <a:pPr marL="0" marR="0" lvl="0" indent="0" algn="ctr" rtl="0">
                <a:spcBef>
                  <a:spcPts val="0"/>
                </a:spcBef>
                <a:spcAft>
                  <a:spcPts val="0"/>
                </a:spcAft>
                <a:buClr>
                  <a:srgbClr val="FFFFFF"/>
                </a:buClr>
                <a:buSzPts val="610"/>
                <a:buFont typeface="Arial"/>
                <a:buNone/>
              </a:pPr>
              <a:r>
                <a:rPr lang="en-US" sz="682" b="1">
                  <a:solidFill>
                    <a:srgbClr val="FFFFFF"/>
                  </a:solidFill>
                  <a:latin typeface="Arial"/>
                  <a:ea typeface="Arial"/>
                  <a:cs typeface="Arial"/>
                  <a:sym typeface="Arial"/>
                </a:rPr>
                <a:t>PROGRAM</a:t>
              </a:r>
              <a:endParaRPr sz="1077"/>
            </a:p>
            <a:p>
              <a:pPr marL="0" marR="0" lvl="0" indent="0" algn="ctr" rtl="0">
                <a:spcBef>
                  <a:spcPts val="0"/>
                </a:spcBef>
                <a:spcAft>
                  <a:spcPts val="0"/>
                </a:spcAft>
                <a:buClr>
                  <a:srgbClr val="FFFFFF"/>
                </a:buClr>
                <a:buSzPts val="1436"/>
                <a:buFont typeface="Arial"/>
                <a:buNone/>
              </a:pPr>
              <a:r>
                <a:rPr lang="en-US" sz="1579" b="1">
                  <a:solidFill>
                    <a:srgbClr val="FFFFFF"/>
                  </a:solidFill>
                  <a:latin typeface="Arial"/>
                  <a:ea typeface="Arial"/>
                  <a:cs typeface="Arial"/>
                  <a:sym typeface="Arial"/>
                </a:rPr>
                <a:t>0</a:t>
              </a:r>
              <a:r>
                <a:rPr lang="en-US" sz="1579" b="1">
                  <a:solidFill>
                    <a:srgbClr val="FFFFFF"/>
                  </a:solidFill>
                </a:rPr>
                <a:t>4</a:t>
              </a:r>
              <a:endParaRPr sz="1579">
                <a:solidFill>
                  <a:schemeClr val="dk1"/>
                </a:solidFill>
                <a:latin typeface="Calibri"/>
                <a:ea typeface="Calibri"/>
                <a:cs typeface="Calibri"/>
                <a:sym typeface="Calibri"/>
              </a:endParaRPr>
            </a:p>
          </p:txBody>
        </p:sp>
      </p:grpSp>
      <p:grpSp>
        <p:nvGrpSpPr>
          <p:cNvPr id="140" name="Google Shape;140;p4"/>
          <p:cNvGrpSpPr/>
          <p:nvPr/>
        </p:nvGrpSpPr>
        <p:grpSpPr>
          <a:xfrm>
            <a:off x="4251579" y="3731423"/>
            <a:ext cx="739365" cy="420609"/>
            <a:chOff x="0" y="419025"/>
            <a:chExt cx="1029900" cy="585888"/>
          </a:xfrm>
        </p:grpSpPr>
        <p:sp>
          <p:nvSpPr>
            <p:cNvPr id="141" name="Google Shape;141;p4"/>
            <p:cNvSpPr/>
            <p:nvPr/>
          </p:nvSpPr>
          <p:spPr>
            <a:xfrm>
              <a:off x="0" y="419025"/>
              <a:ext cx="1029900" cy="577200"/>
            </a:xfrm>
            <a:prstGeom prst="snip1Rect">
              <a:avLst>
                <a:gd name="adj" fmla="val 16667"/>
              </a:avLst>
            </a:prstGeom>
            <a:solidFill>
              <a:srgbClr val="B97145"/>
            </a:solidFill>
            <a:ln>
              <a:noFill/>
            </a:ln>
          </p:spPr>
          <p:txBody>
            <a:bodyPr spcFirstLastPara="1" wrap="square" lIns="65625" tIns="65625" rIns="65625" bIns="65625" anchor="ctr" anchorCtr="0">
              <a:noAutofit/>
            </a:bodyPr>
            <a:lstStyle/>
            <a:p>
              <a:pPr marL="0" lvl="0" indent="0" algn="ctr" rtl="0">
                <a:spcBef>
                  <a:spcPts val="0"/>
                </a:spcBef>
                <a:spcAft>
                  <a:spcPts val="0"/>
                </a:spcAft>
                <a:buNone/>
              </a:pPr>
              <a:endParaRPr sz="1005"/>
            </a:p>
          </p:txBody>
        </p:sp>
        <p:sp>
          <p:nvSpPr>
            <p:cNvPr id="142" name="Google Shape;142;p4"/>
            <p:cNvSpPr txBox="1"/>
            <p:nvPr/>
          </p:nvSpPr>
          <p:spPr>
            <a:xfrm>
              <a:off x="82018" y="427713"/>
              <a:ext cx="930600" cy="577200"/>
            </a:xfrm>
            <a:prstGeom prst="rect">
              <a:avLst/>
            </a:prstGeom>
            <a:noFill/>
            <a:ln>
              <a:noFill/>
            </a:ln>
          </p:spPr>
          <p:txBody>
            <a:bodyPr spcFirstLastPara="1" wrap="square" lIns="65625" tIns="32800" rIns="65625" bIns="32800" anchor="t" anchorCtr="0">
              <a:spAutoFit/>
            </a:bodyPr>
            <a:lstStyle/>
            <a:p>
              <a:pPr marL="0" marR="0" lvl="0" indent="0" algn="ctr" rtl="0">
                <a:spcBef>
                  <a:spcPts val="0"/>
                </a:spcBef>
                <a:spcAft>
                  <a:spcPts val="0"/>
                </a:spcAft>
                <a:buClr>
                  <a:srgbClr val="FFFFFF"/>
                </a:buClr>
                <a:buSzPts val="610"/>
                <a:buFont typeface="Arial"/>
                <a:buNone/>
              </a:pPr>
              <a:r>
                <a:rPr lang="en-US" sz="682" b="1">
                  <a:solidFill>
                    <a:srgbClr val="FFFFFF"/>
                  </a:solidFill>
                  <a:latin typeface="Arial"/>
                  <a:ea typeface="Arial"/>
                  <a:cs typeface="Arial"/>
                  <a:sym typeface="Arial"/>
                </a:rPr>
                <a:t>PROGRAM</a:t>
              </a:r>
              <a:endParaRPr sz="1077"/>
            </a:p>
            <a:p>
              <a:pPr marL="0" marR="0" lvl="0" indent="0" algn="ctr" rtl="0">
                <a:spcBef>
                  <a:spcPts val="0"/>
                </a:spcBef>
                <a:spcAft>
                  <a:spcPts val="0"/>
                </a:spcAft>
                <a:buClr>
                  <a:srgbClr val="FFFFFF"/>
                </a:buClr>
                <a:buSzPts val="1436"/>
                <a:buFont typeface="Arial"/>
                <a:buNone/>
              </a:pPr>
              <a:r>
                <a:rPr lang="en-US" sz="1579" b="1">
                  <a:solidFill>
                    <a:srgbClr val="FFFFFF"/>
                  </a:solidFill>
                  <a:latin typeface="Arial"/>
                  <a:ea typeface="Arial"/>
                  <a:cs typeface="Arial"/>
                  <a:sym typeface="Arial"/>
                </a:rPr>
                <a:t>0</a:t>
              </a:r>
              <a:r>
                <a:rPr lang="en-US" sz="1579" b="1">
                  <a:solidFill>
                    <a:srgbClr val="FFFFFF"/>
                  </a:solidFill>
                </a:rPr>
                <a:t>5</a:t>
              </a:r>
              <a:endParaRPr sz="1579">
                <a:solidFill>
                  <a:schemeClr val="dk1"/>
                </a:solidFill>
                <a:latin typeface="Calibri"/>
                <a:ea typeface="Calibri"/>
                <a:cs typeface="Calibri"/>
                <a:sym typeface="Calibri"/>
              </a:endParaRPr>
            </a:p>
          </p:txBody>
        </p:sp>
      </p:grpSp>
      <p:grpSp>
        <p:nvGrpSpPr>
          <p:cNvPr id="143" name="Google Shape;143;p4"/>
          <p:cNvGrpSpPr/>
          <p:nvPr/>
        </p:nvGrpSpPr>
        <p:grpSpPr>
          <a:xfrm>
            <a:off x="8071775" y="3731423"/>
            <a:ext cx="739365" cy="420609"/>
            <a:chOff x="0" y="419025"/>
            <a:chExt cx="1029900" cy="585888"/>
          </a:xfrm>
        </p:grpSpPr>
        <p:sp>
          <p:nvSpPr>
            <p:cNvPr id="144" name="Google Shape;144;p4"/>
            <p:cNvSpPr/>
            <p:nvPr/>
          </p:nvSpPr>
          <p:spPr>
            <a:xfrm>
              <a:off x="0" y="419025"/>
              <a:ext cx="1029900" cy="577200"/>
            </a:xfrm>
            <a:prstGeom prst="snip1Rect">
              <a:avLst>
                <a:gd name="adj" fmla="val 16667"/>
              </a:avLst>
            </a:prstGeom>
            <a:solidFill>
              <a:srgbClr val="B97145"/>
            </a:solidFill>
            <a:ln>
              <a:noFill/>
            </a:ln>
          </p:spPr>
          <p:txBody>
            <a:bodyPr spcFirstLastPara="1" wrap="square" lIns="65625" tIns="65625" rIns="65625" bIns="65625" anchor="ctr" anchorCtr="0">
              <a:noAutofit/>
            </a:bodyPr>
            <a:lstStyle/>
            <a:p>
              <a:pPr marL="0" lvl="0" indent="0" algn="ctr" rtl="0">
                <a:spcBef>
                  <a:spcPts val="0"/>
                </a:spcBef>
                <a:spcAft>
                  <a:spcPts val="0"/>
                </a:spcAft>
                <a:buNone/>
              </a:pPr>
              <a:endParaRPr sz="1005"/>
            </a:p>
          </p:txBody>
        </p:sp>
        <p:sp>
          <p:nvSpPr>
            <p:cNvPr id="145" name="Google Shape;145;p4"/>
            <p:cNvSpPr txBox="1"/>
            <p:nvPr/>
          </p:nvSpPr>
          <p:spPr>
            <a:xfrm>
              <a:off x="82018" y="427713"/>
              <a:ext cx="930600" cy="577200"/>
            </a:xfrm>
            <a:prstGeom prst="rect">
              <a:avLst/>
            </a:prstGeom>
            <a:noFill/>
            <a:ln>
              <a:noFill/>
            </a:ln>
          </p:spPr>
          <p:txBody>
            <a:bodyPr spcFirstLastPara="1" wrap="square" lIns="65625" tIns="32800" rIns="65625" bIns="32800" anchor="t" anchorCtr="0">
              <a:spAutoFit/>
            </a:bodyPr>
            <a:lstStyle/>
            <a:p>
              <a:pPr marL="0" marR="0" lvl="0" indent="0" algn="ctr" rtl="0">
                <a:spcBef>
                  <a:spcPts val="0"/>
                </a:spcBef>
                <a:spcAft>
                  <a:spcPts val="0"/>
                </a:spcAft>
                <a:buClr>
                  <a:srgbClr val="FFFFFF"/>
                </a:buClr>
                <a:buSzPts val="610"/>
                <a:buFont typeface="Arial"/>
                <a:buNone/>
              </a:pPr>
              <a:r>
                <a:rPr lang="en-US" sz="682" b="1">
                  <a:solidFill>
                    <a:srgbClr val="FFFFFF"/>
                  </a:solidFill>
                  <a:latin typeface="Arial"/>
                  <a:ea typeface="Arial"/>
                  <a:cs typeface="Arial"/>
                  <a:sym typeface="Arial"/>
                </a:rPr>
                <a:t>PROGRAM</a:t>
              </a:r>
              <a:endParaRPr sz="1077"/>
            </a:p>
            <a:p>
              <a:pPr marL="0" marR="0" lvl="0" indent="0" algn="ctr" rtl="0">
                <a:spcBef>
                  <a:spcPts val="0"/>
                </a:spcBef>
                <a:spcAft>
                  <a:spcPts val="0"/>
                </a:spcAft>
                <a:buClr>
                  <a:srgbClr val="FFFFFF"/>
                </a:buClr>
                <a:buSzPts val="1436"/>
                <a:buFont typeface="Arial"/>
                <a:buNone/>
              </a:pPr>
              <a:r>
                <a:rPr lang="en-US" sz="1579" b="1">
                  <a:solidFill>
                    <a:srgbClr val="FFFFFF"/>
                  </a:solidFill>
                  <a:latin typeface="Arial"/>
                  <a:ea typeface="Arial"/>
                  <a:cs typeface="Arial"/>
                  <a:sym typeface="Arial"/>
                </a:rPr>
                <a:t>0</a:t>
              </a:r>
              <a:r>
                <a:rPr lang="en-US" sz="1579" b="1">
                  <a:solidFill>
                    <a:srgbClr val="FFFFFF"/>
                  </a:solidFill>
                </a:rPr>
                <a:t>6</a:t>
              </a:r>
              <a:endParaRPr sz="1579">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0"/>
        <p:cNvGrpSpPr/>
        <p:nvPr/>
      </p:nvGrpSpPr>
      <p:grpSpPr>
        <a:xfrm>
          <a:off x="0" y="0"/>
          <a:ext cx="0" cy="0"/>
          <a:chOff x="0" y="0"/>
          <a:chExt cx="0" cy="0"/>
        </a:xfrm>
      </p:grpSpPr>
      <p:pic>
        <p:nvPicPr>
          <p:cNvPr id="151" name="Google Shape;151;p5"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152" name="Google Shape;152;p5"/>
          <p:cNvSpPr/>
          <p:nvPr/>
        </p:nvSpPr>
        <p:spPr>
          <a:xfrm>
            <a:off x="1178800" y="585225"/>
            <a:ext cx="88293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Cloud Wine Cave とは</a:t>
            </a:r>
            <a:endParaRPr sz="2300">
              <a:solidFill>
                <a:schemeClr val="dk1"/>
              </a:solidFill>
              <a:latin typeface="Calibri"/>
              <a:ea typeface="Calibri"/>
              <a:cs typeface="Calibri"/>
              <a:sym typeface="Calibri"/>
            </a:endParaRPr>
          </a:p>
        </p:txBody>
      </p:sp>
      <p:sp>
        <p:nvSpPr>
          <p:cNvPr id="153" name="Google Shape;153;p5"/>
          <p:cNvSpPr/>
          <p:nvPr/>
        </p:nvSpPr>
        <p:spPr>
          <a:xfrm>
            <a:off x="1176526" y="1024125"/>
            <a:ext cx="9108600" cy="310800"/>
          </a:xfrm>
          <a:prstGeom prst="rect">
            <a:avLst/>
          </a:prstGeom>
          <a:noFill/>
          <a:ln>
            <a:noFill/>
          </a:ln>
        </p:spPr>
        <p:txBody>
          <a:bodyPr spcFirstLastPara="1" wrap="square" lIns="0" tIns="0" rIns="0" bIns="0" anchor="ctr" anchorCtr="0">
            <a:noAutofit/>
          </a:bodyPr>
          <a:lstStyle/>
          <a:p>
            <a:pPr marL="0" marR="0" lvl="0" indent="0" algn="l" rtl="0">
              <a:lnSpc>
                <a:spcPct val="141666"/>
              </a:lnSpc>
              <a:spcBef>
                <a:spcPts val="0"/>
              </a:spcBef>
              <a:spcAft>
                <a:spcPts val="0"/>
              </a:spcAft>
              <a:buClr>
                <a:srgbClr val="6E7378"/>
              </a:buClr>
              <a:buSzPts val="1200"/>
              <a:buFont typeface="Arial"/>
              <a:buNone/>
            </a:pPr>
            <a:r>
              <a:rPr lang="en-US" sz="1200">
                <a:solidFill>
                  <a:srgbClr val="6E7378"/>
                </a:solidFill>
                <a:latin typeface="Arial"/>
                <a:ea typeface="Arial"/>
                <a:cs typeface="Arial"/>
                <a:sym typeface="Arial"/>
              </a:rPr>
              <a:t>当社が保有・管理する数万本のワイン在庫を、「クラウド上のマイセラー」</a:t>
            </a:r>
            <a:r>
              <a:rPr lang="en-US" sz="1200">
                <a:solidFill>
                  <a:srgbClr val="7F7F7F"/>
                </a:solidFill>
                <a:latin typeface="Arial"/>
                <a:ea typeface="Arial"/>
                <a:cs typeface="Arial"/>
                <a:sym typeface="Arial"/>
              </a:rPr>
              <a:t>として使っていただく仕組みです</a:t>
            </a:r>
            <a:r>
              <a:rPr lang="en-US" sz="1200">
                <a:solidFill>
                  <a:srgbClr val="6E7378"/>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154" name="Google Shape;154;p5"/>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156" name="Google Shape;156;p5"/>
          <p:cNvSpPr/>
          <p:nvPr/>
        </p:nvSpPr>
        <p:spPr>
          <a:xfrm>
            <a:off x="566928" y="1688592"/>
            <a:ext cx="2572436" cy="1005840"/>
          </a:xfrm>
          <a:prstGeom prst="roundRect">
            <a:avLst>
              <a:gd name="adj" fmla="val 0"/>
            </a:avLst>
          </a:prstGeom>
          <a:solidFill>
            <a:srgbClr val="2F39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786384" y="1890000"/>
            <a:ext cx="21336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68A65"/>
              </a:buClr>
              <a:buSzPts val="1600"/>
              <a:buFont typeface="Arial"/>
              <a:buNone/>
            </a:pPr>
            <a:r>
              <a:rPr lang="en-US" sz="1600" b="1">
                <a:solidFill>
                  <a:srgbClr val="C68A65"/>
                </a:solidFill>
                <a:latin typeface="Arial"/>
                <a:ea typeface="Arial"/>
                <a:cs typeface="Arial"/>
                <a:sym typeface="Arial"/>
              </a:rPr>
              <a:t>総額 </a:t>
            </a:r>
            <a:r>
              <a:rPr lang="en-US" sz="3200" b="1">
                <a:solidFill>
                  <a:srgbClr val="C68A65"/>
                </a:solidFill>
                <a:latin typeface="Arial"/>
                <a:ea typeface="Arial"/>
                <a:cs typeface="Arial"/>
                <a:sym typeface="Arial"/>
              </a:rPr>
              <a:t>30</a:t>
            </a:r>
            <a:r>
              <a:rPr lang="en-US" sz="1600" b="1">
                <a:solidFill>
                  <a:srgbClr val="C68A65"/>
                </a:solidFill>
                <a:latin typeface="Arial"/>
                <a:ea typeface="Arial"/>
                <a:cs typeface="Arial"/>
                <a:sym typeface="Arial"/>
              </a:rPr>
              <a:t>億円</a:t>
            </a:r>
            <a:endParaRPr sz="2200">
              <a:solidFill>
                <a:srgbClr val="C68A65"/>
              </a:solidFill>
              <a:latin typeface="Calibri"/>
              <a:ea typeface="Calibri"/>
              <a:cs typeface="Calibri"/>
              <a:sym typeface="Calibri"/>
            </a:endParaRPr>
          </a:p>
        </p:txBody>
      </p:sp>
      <p:sp>
        <p:nvSpPr>
          <p:cNvPr id="158" name="Google Shape;158;p5"/>
          <p:cNvSpPr/>
          <p:nvPr/>
        </p:nvSpPr>
        <p:spPr>
          <a:xfrm>
            <a:off x="786384" y="2312712"/>
            <a:ext cx="21336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EFEB"/>
              </a:buClr>
              <a:buSzPts val="1050"/>
              <a:buFont typeface="Arial"/>
              <a:buNone/>
            </a:pPr>
            <a:r>
              <a:rPr lang="en-US" sz="1050">
                <a:solidFill>
                  <a:srgbClr val="F5EFEB"/>
                </a:solidFill>
                <a:latin typeface="Arial"/>
                <a:ea typeface="Arial"/>
                <a:cs typeface="Arial"/>
                <a:sym typeface="Arial"/>
              </a:rPr>
              <a:t>当社の管理ワイン在庫</a:t>
            </a:r>
            <a:endParaRPr sz="1050">
              <a:solidFill>
                <a:srgbClr val="F5EFEB"/>
              </a:solidFill>
              <a:latin typeface="Calibri"/>
              <a:ea typeface="Calibri"/>
              <a:cs typeface="Calibri"/>
              <a:sym typeface="Calibri"/>
            </a:endParaRPr>
          </a:p>
        </p:txBody>
      </p:sp>
      <p:sp>
        <p:nvSpPr>
          <p:cNvPr id="159" name="Google Shape;159;p5"/>
          <p:cNvSpPr/>
          <p:nvPr/>
        </p:nvSpPr>
        <p:spPr>
          <a:xfrm>
            <a:off x="3395396" y="1688592"/>
            <a:ext cx="2572436" cy="1005840"/>
          </a:xfrm>
          <a:prstGeom prst="roundRect">
            <a:avLst>
              <a:gd name="adj" fmla="val 0"/>
            </a:avLst>
          </a:prstGeom>
          <a:solidFill>
            <a:srgbClr val="2F39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3614852" y="1890000"/>
            <a:ext cx="21336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68A65"/>
              </a:buClr>
              <a:buSzPts val="1800"/>
              <a:buFont typeface="Arial"/>
              <a:buNone/>
            </a:pPr>
            <a:r>
              <a:rPr lang="en-US" sz="1800" b="1">
                <a:solidFill>
                  <a:srgbClr val="C68A65"/>
                </a:solidFill>
                <a:latin typeface="Arial"/>
                <a:ea typeface="Arial"/>
                <a:cs typeface="Arial"/>
                <a:sym typeface="Arial"/>
              </a:rPr>
              <a:t>全 </a:t>
            </a:r>
            <a:r>
              <a:rPr lang="en-US" sz="3200" b="1">
                <a:solidFill>
                  <a:srgbClr val="C68A65"/>
                </a:solidFill>
                <a:latin typeface="Arial"/>
                <a:ea typeface="Arial"/>
                <a:cs typeface="Arial"/>
                <a:sym typeface="Arial"/>
              </a:rPr>
              <a:t>50</a:t>
            </a:r>
            <a:r>
              <a:rPr lang="en-US" sz="2200" b="1">
                <a:solidFill>
                  <a:srgbClr val="C68A65"/>
                </a:solidFill>
                <a:latin typeface="Arial"/>
                <a:ea typeface="Arial"/>
                <a:cs typeface="Arial"/>
                <a:sym typeface="Arial"/>
              </a:rPr>
              <a:t> </a:t>
            </a:r>
            <a:r>
              <a:rPr lang="en-US" sz="1800" b="1">
                <a:solidFill>
                  <a:srgbClr val="C68A65"/>
                </a:solidFill>
                <a:latin typeface="Arial"/>
                <a:ea typeface="Arial"/>
                <a:cs typeface="Arial"/>
                <a:sym typeface="Arial"/>
              </a:rPr>
              <a:t>万本</a:t>
            </a:r>
            <a:endParaRPr sz="2200">
              <a:solidFill>
                <a:srgbClr val="C68A65"/>
              </a:solidFill>
              <a:latin typeface="Calibri"/>
              <a:ea typeface="Calibri"/>
              <a:cs typeface="Calibri"/>
              <a:sym typeface="Calibri"/>
            </a:endParaRPr>
          </a:p>
        </p:txBody>
      </p:sp>
      <p:sp>
        <p:nvSpPr>
          <p:cNvPr id="161" name="Google Shape;161;p5"/>
          <p:cNvSpPr/>
          <p:nvPr/>
        </p:nvSpPr>
        <p:spPr>
          <a:xfrm>
            <a:off x="3614852" y="2312712"/>
            <a:ext cx="21336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EFEB"/>
              </a:buClr>
              <a:buSzPts val="1050"/>
              <a:buFont typeface="Arial"/>
              <a:buNone/>
            </a:pPr>
            <a:r>
              <a:rPr lang="en-US" sz="1050">
                <a:solidFill>
                  <a:srgbClr val="F5EFEB"/>
                </a:solidFill>
                <a:latin typeface="Arial"/>
                <a:ea typeface="Arial"/>
                <a:cs typeface="Arial"/>
                <a:sym typeface="Arial"/>
              </a:rPr>
              <a:t>アクセスできる在庫本数</a:t>
            </a:r>
            <a:endParaRPr sz="1050">
              <a:solidFill>
                <a:srgbClr val="F5EFEB"/>
              </a:solidFill>
              <a:latin typeface="Calibri"/>
              <a:ea typeface="Calibri"/>
              <a:cs typeface="Calibri"/>
              <a:sym typeface="Calibri"/>
            </a:endParaRPr>
          </a:p>
        </p:txBody>
      </p:sp>
      <p:sp>
        <p:nvSpPr>
          <p:cNvPr id="162" name="Google Shape;162;p5"/>
          <p:cNvSpPr/>
          <p:nvPr/>
        </p:nvSpPr>
        <p:spPr>
          <a:xfrm>
            <a:off x="6223864" y="1688592"/>
            <a:ext cx="2572436" cy="1005840"/>
          </a:xfrm>
          <a:prstGeom prst="roundRect">
            <a:avLst>
              <a:gd name="adj" fmla="val 0"/>
            </a:avLst>
          </a:prstGeom>
          <a:solidFill>
            <a:srgbClr val="2F39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5"/>
          <p:cNvSpPr/>
          <p:nvPr/>
        </p:nvSpPr>
        <p:spPr>
          <a:xfrm>
            <a:off x="6443320" y="1890000"/>
            <a:ext cx="21336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68A65"/>
              </a:buClr>
              <a:buSzPts val="1800"/>
              <a:buFont typeface="Arial"/>
              <a:buNone/>
            </a:pPr>
            <a:r>
              <a:rPr lang="en-US" sz="1800" b="1">
                <a:solidFill>
                  <a:srgbClr val="C68A65"/>
                </a:solidFill>
                <a:latin typeface="Arial"/>
                <a:ea typeface="Arial"/>
                <a:cs typeface="Arial"/>
                <a:sym typeface="Arial"/>
              </a:rPr>
              <a:t>最短 </a:t>
            </a:r>
            <a:r>
              <a:rPr lang="en-US" sz="2800" b="1">
                <a:solidFill>
                  <a:srgbClr val="C68A65"/>
                </a:solidFill>
                <a:latin typeface="Arial"/>
                <a:ea typeface="Arial"/>
                <a:cs typeface="Arial"/>
                <a:sym typeface="Arial"/>
              </a:rPr>
              <a:t>翌日</a:t>
            </a:r>
            <a:r>
              <a:rPr lang="en-US" sz="2200" b="1">
                <a:solidFill>
                  <a:srgbClr val="C68A65"/>
                </a:solidFill>
                <a:latin typeface="Arial"/>
                <a:ea typeface="Arial"/>
                <a:cs typeface="Arial"/>
                <a:sym typeface="Arial"/>
              </a:rPr>
              <a:t> </a:t>
            </a:r>
            <a:r>
              <a:rPr lang="en-US" sz="1800" b="1">
                <a:solidFill>
                  <a:srgbClr val="C68A65"/>
                </a:solidFill>
                <a:latin typeface="Arial"/>
                <a:ea typeface="Arial"/>
                <a:cs typeface="Arial"/>
                <a:sym typeface="Arial"/>
              </a:rPr>
              <a:t>配送</a:t>
            </a:r>
            <a:endParaRPr sz="2200">
              <a:solidFill>
                <a:srgbClr val="C68A65"/>
              </a:solidFill>
              <a:latin typeface="Calibri"/>
              <a:ea typeface="Calibri"/>
              <a:cs typeface="Calibri"/>
              <a:sym typeface="Calibri"/>
            </a:endParaRPr>
          </a:p>
        </p:txBody>
      </p:sp>
      <p:sp>
        <p:nvSpPr>
          <p:cNvPr id="164" name="Google Shape;164;p5"/>
          <p:cNvSpPr/>
          <p:nvPr/>
        </p:nvSpPr>
        <p:spPr>
          <a:xfrm>
            <a:off x="6443320" y="2312712"/>
            <a:ext cx="21336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EFEB"/>
              </a:buClr>
              <a:buSzPts val="1050"/>
              <a:buFont typeface="Arial"/>
              <a:buNone/>
            </a:pPr>
            <a:r>
              <a:rPr lang="en-US" sz="1050">
                <a:solidFill>
                  <a:srgbClr val="F5EFEB"/>
                </a:solidFill>
                <a:latin typeface="Arial"/>
                <a:ea typeface="Arial"/>
                <a:cs typeface="Arial"/>
                <a:sym typeface="Arial"/>
              </a:rPr>
              <a:t>前日午前中のご注文で翌日着</a:t>
            </a:r>
            <a:endParaRPr sz="1050">
              <a:solidFill>
                <a:srgbClr val="F5EFEB"/>
              </a:solidFill>
              <a:latin typeface="Calibri"/>
              <a:ea typeface="Calibri"/>
              <a:cs typeface="Calibri"/>
              <a:sym typeface="Calibri"/>
            </a:endParaRPr>
          </a:p>
        </p:txBody>
      </p:sp>
      <p:sp>
        <p:nvSpPr>
          <p:cNvPr id="165" name="Google Shape;165;p5"/>
          <p:cNvSpPr/>
          <p:nvPr/>
        </p:nvSpPr>
        <p:spPr>
          <a:xfrm>
            <a:off x="9052331" y="1688592"/>
            <a:ext cx="2572436" cy="1005840"/>
          </a:xfrm>
          <a:prstGeom prst="roundRect">
            <a:avLst>
              <a:gd name="adj" fmla="val 0"/>
            </a:avLst>
          </a:prstGeom>
          <a:solidFill>
            <a:srgbClr val="2F39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9271787" y="1890000"/>
            <a:ext cx="2133600" cy="402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68A65"/>
              </a:buClr>
              <a:buSzPts val="1800"/>
              <a:buFont typeface="Arial"/>
              <a:buNone/>
            </a:pPr>
            <a:r>
              <a:rPr lang="en-US" sz="1800" b="1">
                <a:solidFill>
                  <a:srgbClr val="C68A65"/>
                </a:solidFill>
                <a:latin typeface="Arial"/>
                <a:ea typeface="Arial"/>
                <a:cs typeface="Arial"/>
                <a:sym typeface="Arial"/>
              </a:rPr>
              <a:t>在庫費用 </a:t>
            </a:r>
            <a:r>
              <a:rPr lang="en-US" sz="3200" b="1">
                <a:solidFill>
                  <a:srgbClr val="C68A65"/>
                </a:solidFill>
                <a:latin typeface="Arial"/>
                <a:ea typeface="Arial"/>
                <a:cs typeface="Arial"/>
                <a:sym typeface="Arial"/>
              </a:rPr>
              <a:t>0</a:t>
            </a:r>
            <a:r>
              <a:rPr lang="en-US" sz="2200" b="1">
                <a:solidFill>
                  <a:srgbClr val="C68A65"/>
                </a:solidFill>
                <a:latin typeface="Arial"/>
                <a:ea typeface="Arial"/>
                <a:cs typeface="Arial"/>
                <a:sym typeface="Arial"/>
              </a:rPr>
              <a:t> </a:t>
            </a:r>
            <a:r>
              <a:rPr lang="en-US" sz="1800" b="1">
                <a:solidFill>
                  <a:srgbClr val="C68A65"/>
                </a:solidFill>
                <a:latin typeface="Arial"/>
                <a:ea typeface="Arial"/>
                <a:cs typeface="Arial"/>
                <a:sym typeface="Arial"/>
              </a:rPr>
              <a:t>円</a:t>
            </a:r>
            <a:endParaRPr sz="2200">
              <a:solidFill>
                <a:srgbClr val="C68A65"/>
              </a:solidFill>
              <a:latin typeface="Calibri"/>
              <a:ea typeface="Calibri"/>
              <a:cs typeface="Calibri"/>
              <a:sym typeface="Calibri"/>
            </a:endParaRPr>
          </a:p>
        </p:txBody>
      </p:sp>
      <p:sp>
        <p:nvSpPr>
          <p:cNvPr id="167" name="Google Shape;167;p5"/>
          <p:cNvSpPr/>
          <p:nvPr/>
        </p:nvSpPr>
        <p:spPr>
          <a:xfrm>
            <a:off x="9271787" y="2312712"/>
            <a:ext cx="21336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5EFEB"/>
              </a:buClr>
              <a:buSzPts val="1050"/>
              <a:buFont typeface="Arial"/>
              <a:buNone/>
            </a:pPr>
            <a:r>
              <a:rPr lang="en-US" sz="1050">
                <a:solidFill>
                  <a:srgbClr val="F5EFEB"/>
                </a:solidFill>
                <a:latin typeface="Arial"/>
                <a:ea typeface="Arial"/>
                <a:cs typeface="Arial"/>
                <a:sym typeface="Arial"/>
              </a:rPr>
              <a:t>利用者が抱える在庫金額</a:t>
            </a:r>
            <a:endParaRPr sz="1050">
              <a:solidFill>
                <a:srgbClr val="F5EFEB"/>
              </a:solidFill>
              <a:latin typeface="Calibri"/>
              <a:ea typeface="Calibri"/>
              <a:cs typeface="Calibri"/>
              <a:sym typeface="Calibri"/>
            </a:endParaRPr>
          </a:p>
        </p:txBody>
      </p:sp>
      <p:sp>
        <p:nvSpPr>
          <p:cNvPr id="168" name="Google Shape;168;p5"/>
          <p:cNvSpPr/>
          <p:nvPr/>
        </p:nvSpPr>
        <p:spPr>
          <a:xfrm>
            <a:off x="566928" y="2932176"/>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400"/>
              <a:buFont typeface="Arial"/>
              <a:buNone/>
            </a:pPr>
            <a:r>
              <a:rPr lang="en-US" sz="1400" b="1">
                <a:solidFill>
                  <a:srgbClr val="1A1A1A"/>
                </a:solidFill>
                <a:latin typeface="Arial"/>
                <a:ea typeface="Arial"/>
                <a:cs typeface="Arial"/>
                <a:sym typeface="Arial"/>
              </a:rPr>
              <a:t>仕組み</a:t>
            </a:r>
            <a:endParaRPr sz="1400">
              <a:solidFill>
                <a:schemeClr val="dk1"/>
              </a:solidFill>
              <a:latin typeface="Calibri"/>
              <a:ea typeface="Calibri"/>
              <a:cs typeface="Calibri"/>
              <a:sym typeface="Calibri"/>
            </a:endParaRPr>
          </a:p>
        </p:txBody>
      </p:sp>
      <p:sp>
        <p:nvSpPr>
          <p:cNvPr id="169" name="Google Shape;169;p5"/>
          <p:cNvSpPr/>
          <p:nvPr/>
        </p:nvSpPr>
        <p:spPr>
          <a:xfrm>
            <a:off x="566928" y="3261360"/>
            <a:ext cx="2448992" cy="1572768"/>
          </a:xfrm>
          <a:prstGeom prst="roundRect">
            <a:avLst>
              <a:gd name="adj" fmla="val 2907"/>
            </a:avLst>
          </a:prstGeom>
          <a:solidFill>
            <a:srgbClr val="F6F6F6"/>
          </a:solidFill>
          <a:ln w="12700" cap="flat" cmpd="sng">
            <a:solidFill>
              <a:srgbClr val="C7C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804672" y="3462528"/>
            <a:ext cx="402336" cy="402336"/>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5"/>
          <p:cNvSpPr/>
          <p:nvPr/>
        </p:nvSpPr>
        <p:spPr>
          <a:xfrm>
            <a:off x="804672" y="34625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01</a:t>
            </a:r>
            <a:endParaRPr sz="1100">
              <a:solidFill>
                <a:schemeClr val="dk1"/>
              </a:solidFill>
              <a:latin typeface="Calibri"/>
              <a:ea typeface="Calibri"/>
              <a:cs typeface="Calibri"/>
              <a:sym typeface="Calibri"/>
            </a:endParaRPr>
          </a:p>
        </p:txBody>
      </p:sp>
      <p:sp>
        <p:nvSpPr>
          <p:cNvPr id="172" name="Google Shape;172;p5"/>
          <p:cNvSpPr/>
          <p:nvPr/>
        </p:nvSpPr>
        <p:spPr>
          <a:xfrm>
            <a:off x="804672" y="3938016"/>
            <a:ext cx="197350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リストから選ぶ</a:t>
            </a:r>
            <a:endParaRPr sz="1300">
              <a:solidFill>
                <a:schemeClr val="dk1"/>
              </a:solidFill>
              <a:latin typeface="Calibri"/>
              <a:ea typeface="Calibri"/>
              <a:cs typeface="Calibri"/>
              <a:sym typeface="Calibri"/>
            </a:endParaRPr>
          </a:p>
        </p:txBody>
      </p:sp>
      <p:sp>
        <p:nvSpPr>
          <p:cNvPr id="173" name="Google Shape;173;p5"/>
          <p:cNvSpPr/>
          <p:nvPr/>
        </p:nvSpPr>
        <p:spPr>
          <a:xfrm>
            <a:off x="804672" y="4230624"/>
            <a:ext cx="1973504" cy="530352"/>
          </a:xfrm>
          <a:prstGeom prst="rect">
            <a:avLst/>
          </a:prstGeom>
          <a:noFill/>
          <a:ln>
            <a:noFill/>
          </a:ln>
        </p:spPr>
        <p:txBody>
          <a:bodyPr spcFirstLastPara="1" wrap="square" lIns="0" tIns="0" rIns="0" bIns="0" anchor="ctr" anchorCtr="0">
            <a:noAutofit/>
          </a:bodyPr>
          <a:lstStyle/>
          <a:p>
            <a:pPr marL="0" marR="0" lvl="0" indent="0" algn="l" rtl="0">
              <a:lnSpc>
                <a:spcPct val="140625"/>
              </a:lnSpc>
              <a:spcBef>
                <a:spcPts val="0"/>
              </a:spcBef>
              <a:spcAft>
                <a:spcPts val="0"/>
              </a:spcAft>
              <a:buClr>
                <a:srgbClr val="6E7378"/>
              </a:buClr>
              <a:buSzPts val="960"/>
              <a:buFont typeface="Arial"/>
              <a:buNone/>
            </a:pPr>
            <a:r>
              <a:rPr lang="en-US" sz="960">
                <a:solidFill>
                  <a:srgbClr val="6E7378"/>
                </a:solidFill>
                <a:latin typeface="Arial"/>
                <a:ea typeface="Arial"/>
                <a:cs typeface="Arial"/>
                <a:sym typeface="Arial"/>
              </a:rPr>
              <a:t>専用アプリ／Webから数万本の在庫を検索。銘柄・ヴィンテージ・価格が一覧で見える。</a:t>
            </a:r>
            <a:endParaRPr sz="960">
              <a:solidFill>
                <a:schemeClr val="dk1"/>
              </a:solidFill>
              <a:latin typeface="Calibri"/>
              <a:ea typeface="Calibri"/>
              <a:cs typeface="Calibri"/>
              <a:sym typeface="Calibri"/>
            </a:endParaRPr>
          </a:p>
        </p:txBody>
      </p:sp>
      <p:sp>
        <p:nvSpPr>
          <p:cNvPr id="174" name="Google Shape;174;p5"/>
          <p:cNvSpPr/>
          <p:nvPr/>
        </p:nvSpPr>
        <p:spPr>
          <a:xfrm rot="5400000">
            <a:off x="3107360" y="3956304"/>
            <a:ext cx="237744" cy="219456"/>
          </a:xfrm>
          <a:prstGeom prst="triangle">
            <a:avLst>
              <a:gd name="adj" fmla="val 50000"/>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3436544" y="3261360"/>
            <a:ext cx="2448992" cy="1572768"/>
          </a:xfrm>
          <a:prstGeom prst="roundRect">
            <a:avLst>
              <a:gd name="adj" fmla="val 2907"/>
            </a:avLst>
          </a:prstGeom>
          <a:solidFill>
            <a:srgbClr val="F6F6F6"/>
          </a:solidFill>
          <a:ln w="12700" cap="flat" cmpd="sng">
            <a:solidFill>
              <a:srgbClr val="C7C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3674288" y="3462528"/>
            <a:ext cx="402336" cy="402336"/>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5"/>
          <p:cNvSpPr/>
          <p:nvPr/>
        </p:nvSpPr>
        <p:spPr>
          <a:xfrm>
            <a:off x="3674288" y="34625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02</a:t>
            </a:r>
            <a:endParaRPr sz="1100">
              <a:solidFill>
                <a:schemeClr val="dk1"/>
              </a:solidFill>
              <a:latin typeface="Calibri"/>
              <a:ea typeface="Calibri"/>
              <a:cs typeface="Calibri"/>
              <a:sym typeface="Calibri"/>
            </a:endParaRPr>
          </a:p>
        </p:txBody>
      </p:sp>
      <p:sp>
        <p:nvSpPr>
          <p:cNvPr id="178" name="Google Shape;178;p5"/>
          <p:cNvSpPr/>
          <p:nvPr/>
        </p:nvSpPr>
        <p:spPr>
          <a:xfrm>
            <a:off x="3674288" y="3938016"/>
            <a:ext cx="197350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注文する</a:t>
            </a:r>
            <a:endParaRPr sz="1300">
              <a:solidFill>
                <a:schemeClr val="dk1"/>
              </a:solidFill>
              <a:latin typeface="Calibri"/>
              <a:ea typeface="Calibri"/>
              <a:cs typeface="Calibri"/>
              <a:sym typeface="Calibri"/>
            </a:endParaRPr>
          </a:p>
        </p:txBody>
      </p:sp>
      <p:sp>
        <p:nvSpPr>
          <p:cNvPr id="179" name="Google Shape;179;p5"/>
          <p:cNvSpPr/>
          <p:nvPr/>
        </p:nvSpPr>
        <p:spPr>
          <a:xfrm>
            <a:off x="3674288" y="4230624"/>
            <a:ext cx="1973504" cy="530352"/>
          </a:xfrm>
          <a:prstGeom prst="rect">
            <a:avLst/>
          </a:prstGeom>
          <a:noFill/>
          <a:ln>
            <a:noFill/>
          </a:ln>
        </p:spPr>
        <p:txBody>
          <a:bodyPr spcFirstLastPara="1" wrap="square" lIns="0" tIns="0" rIns="0" bIns="0" anchor="ctr" anchorCtr="0">
            <a:noAutofit/>
          </a:bodyPr>
          <a:lstStyle/>
          <a:p>
            <a:pPr marL="0" marR="0" lvl="0" indent="0" algn="l" rtl="0">
              <a:lnSpc>
                <a:spcPct val="140625"/>
              </a:lnSpc>
              <a:spcBef>
                <a:spcPts val="0"/>
              </a:spcBef>
              <a:spcAft>
                <a:spcPts val="0"/>
              </a:spcAft>
              <a:buClr>
                <a:srgbClr val="6E7378"/>
              </a:buClr>
              <a:buSzPts val="960"/>
              <a:buFont typeface="Arial"/>
              <a:buNone/>
            </a:pPr>
            <a:r>
              <a:rPr lang="en-US" sz="960">
                <a:solidFill>
                  <a:srgbClr val="6E7378"/>
                </a:solidFill>
                <a:latin typeface="Arial"/>
                <a:ea typeface="Arial"/>
                <a:cs typeface="Arial"/>
                <a:sym typeface="Arial"/>
              </a:rPr>
              <a:t>在庫は当社が保有。発注の瞬間まで、利用者側に資金負担も保管責任も発生しない。</a:t>
            </a:r>
            <a:endParaRPr sz="960">
              <a:solidFill>
                <a:schemeClr val="dk1"/>
              </a:solidFill>
              <a:latin typeface="Calibri"/>
              <a:ea typeface="Calibri"/>
              <a:cs typeface="Calibri"/>
              <a:sym typeface="Calibri"/>
            </a:endParaRPr>
          </a:p>
        </p:txBody>
      </p:sp>
      <p:sp>
        <p:nvSpPr>
          <p:cNvPr id="180" name="Google Shape;180;p5"/>
          <p:cNvSpPr/>
          <p:nvPr/>
        </p:nvSpPr>
        <p:spPr>
          <a:xfrm rot="5400000">
            <a:off x="5976976" y="3956304"/>
            <a:ext cx="237744" cy="219456"/>
          </a:xfrm>
          <a:prstGeom prst="triangle">
            <a:avLst>
              <a:gd name="adj" fmla="val 50000"/>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5"/>
          <p:cNvSpPr/>
          <p:nvPr/>
        </p:nvSpPr>
        <p:spPr>
          <a:xfrm>
            <a:off x="6306160" y="3261360"/>
            <a:ext cx="2448992" cy="1572768"/>
          </a:xfrm>
          <a:prstGeom prst="roundRect">
            <a:avLst>
              <a:gd name="adj" fmla="val 2907"/>
            </a:avLst>
          </a:prstGeom>
          <a:solidFill>
            <a:srgbClr val="F6F6F6"/>
          </a:solidFill>
          <a:ln w="12700" cap="flat" cmpd="sng">
            <a:solidFill>
              <a:srgbClr val="C7C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p:nvPr/>
        </p:nvSpPr>
        <p:spPr>
          <a:xfrm>
            <a:off x="6543904" y="3462528"/>
            <a:ext cx="402336" cy="402336"/>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6543904" y="34625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03</a:t>
            </a:r>
            <a:endParaRPr sz="1100">
              <a:solidFill>
                <a:schemeClr val="dk1"/>
              </a:solidFill>
              <a:latin typeface="Calibri"/>
              <a:ea typeface="Calibri"/>
              <a:cs typeface="Calibri"/>
              <a:sym typeface="Calibri"/>
            </a:endParaRPr>
          </a:p>
        </p:txBody>
      </p:sp>
      <p:sp>
        <p:nvSpPr>
          <p:cNvPr id="184" name="Google Shape;184;p5"/>
          <p:cNvSpPr/>
          <p:nvPr/>
        </p:nvSpPr>
        <p:spPr>
          <a:xfrm>
            <a:off x="6543904" y="3938016"/>
            <a:ext cx="197350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定温で届く</a:t>
            </a:r>
            <a:endParaRPr sz="1300">
              <a:solidFill>
                <a:schemeClr val="dk1"/>
              </a:solidFill>
              <a:latin typeface="Calibri"/>
              <a:ea typeface="Calibri"/>
              <a:cs typeface="Calibri"/>
              <a:sym typeface="Calibri"/>
            </a:endParaRPr>
          </a:p>
        </p:txBody>
      </p:sp>
      <p:sp>
        <p:nvSpPr>
          <p:cNvPr id="185" name="Google Shape;185;p5"/>
          <p:cNvSpPr/>
          <p:nvPr/>
        </p:nvSpPr>
        <p:spPr>
          <a:xfrm>
            <a:off x="6543904" y="4230624"/>
            <a:ext cx="1973504" cy="530352"/>
          </a:xfrm>
          <a:prstGeom prst="rect">
            <a:avLst/>
          </a:prstGeom>
          <a:noFill/>
          <a:ln>
            <a:noFill/>
          </a:ln>
        </p:spPr>
        <p:txBody>
          <a:bodyPr spcFirstLastPara="1" wrap="square" lIns="0" tIns="0" rIns="0" bIns="0" anchor="ctr" anchorCtr="0">
            <a:noAutofit/>
          </a:bodyPr>
          <a:lstStyle/>
          <a:p>
            <a:pPr marL="0" marR="0" lvl="0" indent="0" algn="l" rtl="0">
              <a:lnSpc>
                <a:spcPct val="140625"/>
              </a:lnSpc>
              <a:spcBef>
                <a:spcPts val="0"/>
              </a:spcBef>
              <a:spcAft>
                <a:spcPts val="0"/>
              </a:spcAft>
              <a:buClr>
                <a:srgbClr val="6E7378"/>
              </a:buClr>
              <a:buSzPts val="960"/>
              <a:buFont typeface="Arial"/>
              <a:buNone/>
            </a:pPr>
            <a:r>
              <a:rPr lang="en-US" sz="960">
                <a:solidFill>
                  <a:srgbClr val="6E7378"/>
                </a:solidFill>
                <a:latin typeface="Arial"/>
                <a:ea typeface="Arial"/>
                <a:cs typeface="Arial"/>
                <a:sym typeface="Arial"/>
              </a:rPr>
              <a:t>10〜15℃を保ったままお届け。館内ストレージ開設後は即日・最短5分。</a:t>
            </a:r>
            <a:endParaRPr sz="960">
              <a:solidFill>
                <a:schemeClr val="dk1"/>
              </a:solidFill>
              <a:latin typeface="Calibri"/>
              <a:ea typeface="Calibri"/>
              <a:cs typeface="Calibri"/>
              <a:sym typeface="Calibri"/>
            </a:endParaRPr>
          </a:p>
        </p:txBody>
      </p:sp>
      <p:sp>
        <p:nvSpPr>
          <p:cNvPr id="186" name="Google Shape;186;p5"/>
          <p:cNvSpPr/>
          <p:nvPr/>
        </p:nvSpPr>
        <p:spPr>
          <a:xfrm rot="5400000">
            <a:off x="8846591" y="3956304"/>
            <a:ext cx="237744" cy="219456"/>
          </a:xfrm>
          <a:prstGeom prst="triangle">
            <a:avLst>
              <a:gd name="adj" fmla="val 50000"/>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9175775" y="3261360"/>
            <a:ext cx="2448992" cy="1572768"/>
          </a:xfrm>
          <a:prstGeom prst="roundRect">
            <a:avLst>
              <a:gd name="adj" fmla="val 2907"/>
            </a:avLst>
          </a:prstGeom>
          <a:solidFill>
            <a:srgbClr val="F6F6F6"/>
          </a:solidFill>
          <a:ln w="12700" cap="flat" cmpd="sng">
            <a:solidFill>
              <a:srgbClr val="C7C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9413519" y="3462528"/>
            <a:ext cx="402336" cy="402336"/>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9413519" y="346252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04</a:t>
            </a:r>
            <a:endParaRPr sz="1100">
              <a:solidFill>
                <a:schemeClr val="dk1"/>
              </a:solidFill>
              <a:latin typeface="Calibri"/>
              <a:ea typeface="Calibri"/>
              <a:cs typeface="Calibri"/>
              <a:sym typeface="Calibri"/>
            </a:endParaRPr>
          </a:p>
        </p:txBody>
      </p:sp>
      <p:sp>
        <p:nvSpPr>
          <p:cNvPr id="190" name="Google Shape;190;p5"/>
          <p:cNvSpPr/>
          <p:nvPr/>
        </p:nvSpPr>
        <p:spPr>
          <a:xfrm>
            <a:off x="9413519" y="3938016"/>
            <a:ext cx="1973504"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使った分だけ支払う</a:t>
            </a:r>
            <a:endParaRPr sz="1300">
              <a:solidFill>
                <a:schemeClr val="dk1"/>
              </a:solidFill>
              <a:latin typeface="Calibri"/>
              <a:ea typeface="Calibri"/>
              <a:cs typeface="Calibri"/>
              <a:sym typeface="Calibri"/>
            </a:endParaRPr>
          </a:p>
        </p:txBody>
      </p:sp>
      <p:sp>
        <p:nvSpPr>
          <p:cNvPr id="191" name="Google Shape;191;p5"/>
          <p:cNvSpPr/>
          <p:nvPr/>
        </p:nvSpPr>
        <p:spPr>
          <a:xfrm>
            <a:off x="9413519" y="4230624"/>
            <a:ext cx="1973504" cy="530352"/>
          </a:xfrm>
          <a:prstGeom prst="rect">
            <a:avLst/>
          </a:prstGeom>
          <a:noFill/>
          <a:ln>
            <a:noFill/>
          </a:ln>
        </p:spPr>
        <p:txBody>
          <a:bodyPr spcFirstLastPara="1" wrap="square" lIns="0" tIns="0" rIns="0" bIns="0" anchor="ctr" anchorCtr="0">
            <a:noAutofit/>
          </a:bodyPr>
          <a:lstStyle/>
          <a:p>
            <a:pPr marL="0" marR="0" lvl="0" indent="0" algn="l" rtl="0">
              <a:lnSpc>
                <a:spcPct val="140625"/>
              </a:lnSpc>
              <a:spcBef>
                <a:spcPts val="0"/>
              </a:spcBef>
              <a:spcAft>
                <a:spcPts val="0"/>
              </a:spcAft>
              <a:buClr>
                <a:srgbClr val="6E7378"/>
              </a:buClr>
              <a:buSzPts val="960"/>
              <a:buFont typeface="Arial"/>
              <a:buNone/>
            </a:pPr>
            <a:r>
              <a:rPr lang="en-US" sz="960">
                <a:solidFill>
                  <a:srgbClr val="6E7378"/>
                </a:solidFill>
                <a:latin typeface="Arial"/>
                <a:ea typeface="Arial"/>
                <a:cs typeface="Arial"/>
                <a:sym typeface="Arial"/>
              </a:rPr>
              <a:t>月締め請求。売れ残りリスクも、セラー設備への投資も不要。</a:t>
            </a:r>
            <a:endParaRPr sz="960">
              <a:solidFill>
                <a:schemeClr val="dk1"/>
              </a:solidFill>
              <a:latin typeface="Calibri"/>
              <a:ea typeface="Calibri"/>
              <a:cs typeface="Calibri"/>
              <a:sym typeface="Calibri"/>
            </a:endParaRPr>
          </a:p>
        </p:txBody>
      </p:sp>
      <p:sp>
        <p:nvSpPr>
          <p:cNvPr id="192" name="Google Shape;192;p5"/>
          <p:cNvSpPr/>
          <p:nvPr/>
        </p:nvSpPr>
        <p:spPr>
          <a:xfrm>
            <a:off x="645446" y="5656106"/>
            <a:ext cx="10698600" cy="402300"/>
          </a:xfrm>
          <a:prstGeom prst="rect">
            <a:avLst/>
          </a:prstGeom>
          <a:noFill/>
          <a:ln>
            <a:noFill/>
          </a:ln>
        </p:spPr>
        <p:txBody>
          <a:bodyPr spcFirstLastPara="1" wrap="square" lIns="0" tIns="0" rIns="0" bIns="0" anchor="ctr" anchorCtr="0">
            <a:noAutofit/>
          </a:bodyPr>
          <a:lstStyle/>
          <a:p>
            <a:pPr marL="0" marR="0" lvl="0" indent="0" algn="l" rtl="0">
              <a:lnSpc>
                <a:spcPct val="137254"/>
              </a:lnSpc>
              <a:spcBef>
                <a:spcPts val="0"/>
              </a:spcBef>
              <a:spcAft>
                <a:spcPts val="0"/>
              </a:spcAft>
              <a:buClr>
                <a:srgbClr val="6E7378"/>
              </a:buClr>
              <a:buSzPts val="1020"/>
              <a:buFont typeface="Arial"/>
              <a:buNone/>
            </a:pPr>
            <a:r>
              <a:rPr lang="en-US" sz="1220">
                <a:solidFill>
                  <a:srgbClr val="6E7378"/>
                </a:solidFill>
              </a:rPr>
              <a:t>→　</a:t>
            </a:r>
            <a:r>
              <a:rPr lang="en-US" sz="1220">
                <a:solidFill>
                  <a:srgbClr val="6E7378"/>
                </a:solidFill>
                <a:latin typeface="Arial"/>
                <a:ea typeface="Arial"/>
                <a:cs typeface="Arial"/>
                <a:sym typeface="Arial"/>
              </a:rPr>
              <a:t>館内にワインストレージをご用意いただければ、</a:t>
            </a:r>
            <a:r>
              <a:rPr lang="en-US" sz="1220">
                <a:solidFill>
                  <a:srgbClr val="6E7378"/>
                </a:solidFill>
              </a:rPr>
              <a:t>配達時間を更に短縮。</a:t>
            </a:r>
            <a:r>
              <a:rPr lang="en-US" sz="1220" b="1" u="sng">
                <a:solidFill>
                  <a:srgbClr val="C68A65"/>
                </a:solidFill>
              </a:rPr>
              <a:t>即日・最短5分の配達</a:t>
            </a:r>
            <a:r>
              <a:rPr lang="en-US" sz="1220">
                <a:solidFill>
                  <a:srgbClr val="6E7378"/>
                </a:solidFill>
              </a:rPr>
              <a:t>が実現できます。</a:t>
            </a:r>
            <a:endParaRPr sz="1220">
              <a:solidFill>
                <a:schemeClr val="dk1"/>
              </a:solidFill>
              <a:latin typeface="Calibri"/>
              <a:ea typeface="Calibri"/>
              <a:cs typeface="Calibri"/>
              <a:sym typeface="Calibri"/>
            </a:endParaRPr>
          </a:p>
        </p:txBody>
      </p:sp>
      <p:grpSp>
        <p:nvGrpSpPr>
          <p:cNvPr id="193" name="Google Shape;193;p5"/>
          <p:cNvGrpSpPr/>
          <p:nvPr/>
        </p:nvGrpSpPr>
        <p:grpSpPr>
          <a:xfrm>
            <a:off x="0" y="419025"/>
            <a:ext cx="1029900" cy="585888"/>
            <a:chOff x="0" y="419025"/>
            <a:chExt cx="1029900" cy="585888"/>
          </a:xfrm>
        </p:grpSpPr>
        <p:sp>
          <p:nvSpPr>
            <p:cNvPr id="194" name="Google Shape;194;p5"/>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 name="Google Shape;195;p5"/>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01</a:t>
              </a:r>
              <a:endParaRPr sz="2200">
                <a:solidFill>
                  <a:schemeClr val="dk1"/>
                </a:solidFill>
                <a:latin typeface="Calibri"/>
                <a:ea typeface="Calibri"/>
                <a:cs typeface="Calibri"/>
                <a:sym typeface="Calibri"/>
              </a:endParaRPr>
            </a:p>
          </p:txBody>
        </p:sp>
      </p:grpSp>
      <p:sp>
        <p:nvSpPr>
          <p:cNvPr id="196" name="Google Shape;196;p5"/>
          <p:cNvSpPr/>
          <p:nvPr/>
        </p:nvSpPr>
        <p:spPr>
          <a:xfrm>
            <a:off x="566928" y="5156083"/>
            <a:ext cx="11057700" cy="47550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5"/>
          <p:cNvSpPr/>
          <p:nvPr/>
        </p:nvSpPr>
        <p:spPr>
          <a:xfrm>
            <a:off x="566928" y="5156083"/>
            <a:ext cx="110577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DCCE"/>
              </a:buClr>
              <a:buSzPts val="1500"/>
              <a:buFont typeface="Arial"/>
              <a:buNone/>
            </a:pPr>
            <a:r>
              <a:rPr lang="en-US" sz="1500" b="1">
                <a:solidFill>
                  <a:schemeClr val="lt1"/>
                </a:solidFill>
              </a:rPr>
              <a:t>豊富な在庫から、欲しいワインをすぐに届ける、新たな提供スタイル</a:t>
            </a:r>
            <a:endParaRPr sz="15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2"/>
        <p:cNvGrpSpPr/>
        <p:nvPr/>
      </p:nvGrpSpPr>
      <p:grpSpPr>
        <a:xfrm>
          <a:off x="0" y="0"/>
          <a:ext cx="0" cy="0"/>
          <a:chOff x="0" y="0"/>
          <a:chExt cx="0" cy="0"/>
        </a:xfrm>
      </p:grpSpPr>
      <p:sp>
        <p:nvSpPr>
          <p:cNvPr id="203" name="Google Shape;203;p6"/>
          <p:cNvSpPr/>
          <p:nvPr/>
        </p:nvSpPr>
        <p:spPr>
          <a:xfrm>
            <a:off x="593700" y="1745475"/>
            <a:ext cx="3351000" cy="3833100"/>
          </a:xfrm>
          <a:prstGeom prst="roundRect">
            <a:avLst>
              <a:gd name="adj" fmla="val 0"/>
            </a:avLst>
          </a:prstGeom>
          <a:solidFill>
            <a:srgbClr val="F6F6F6"/>
          </a:solidFill>
          <a:ln w="19050" cap="flat" cmpd="sng">
            <a:solidFill>
              <a:srgbClr val="C55A1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4420500" y="1745475"/>
            <a:ext cx="3351000" cy="3833100"/>
          </a:xfrm>
          <a:prstGeom prst="roundRect">
            <a:avLst>
              <a:gd name="adj" fmla="val 0"/>
            </a:avLst>
          </a:prstGeom>
          <a:solidFill>
            <a:srgbClr val="F6F6F6"/>
          </a:solidFill>
          <a:ln w="19050" cap="flat" cmpd="sng">
            <a:solidFill>
              <a:srgbClr val="B972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5" name="Google Shape;205;p6"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206" name="Google Shape;206;p6"/>
          <p:cNvSpPr/>
          <p:nvPr/>
        </p:nvSpPr>
        <p:spPr>
          <a:xfrm>
            <a:off x="1177375" y="585225"/>
            <a:ext cx="89754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Cloud Wine Cave </a:t>
            </a:r>
            <a:r>
              <a:rPr lang="en-US" sz="2300" b="1">
                <a:solidFill>
                  <a:srgbClr val="1A1A1A"/>
                </a:solidFill>
              </a:rPr>
              <a:t>とは</a:t>
            </a:r>
            <a:endParaRPr sz="2300">
              <a:solidFill>
                <a:schemeClr val="dk1"/>
              </a:solidFill>
              <a:latin typeface="Calibri"/>
              <a:ea typeface="Calibri"/>
              <a:cs typeface="Calibri"/>
              <a:sym typeface="Calibri"/>
            </a:endParaRPr>
          </a:p>
        </p:txBody>
      </p:sp>
      <p:sp>
        <p:nvSpPr>
          <p:cNvPr id="207" name="Google Shape;207;p6"/>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209" name="Google Shape;209;p6"/>
          <p:cNvSpPr/>
          <p:nvPr/>
        </p:nvSpPr>
        <p:spPr>
          <a:xfrm>
            <a:off x="593700" y="1735775"/>
            <a:ext cx="3351000" cy="420600"/>
          </a:xfrm>
          <a:prstGeom prst="rect">
            <a:avLst/>
          </a:prstGeom>
          <a:solidFill>
            <a:srgbClr val="B97245"/>
          </a:solid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2300"/>
              <a:buFont typeface="Arial"/>
              <a:buNone/>
            </a:pPr>
            <a:r>
              <a:rPr lang="en-US" sz="1600" b="1">
                <a:solidFill>
                  <a:schemeClr val="lt1"/>
                </a:solidFill>
              </a:rPr>
              <a:t>A.共有セラー型</a:t>
            </a:r>
            <a:endParaRPr sz="1600">
              <a:solidFill>
                <a:schemeClr val="lt1"/>
              </a:solidFill>
              <a:latin typeface="Calibri"/>
              <a:ea typeface="Calibri"/>
              <a:cs typeface="Calibri"/>
              <a:sym typeface="Calibri"/>
            </a:endParaRPr>
          </a:p>
        </p:txBody>
      </p:sp>
      <p:sp>
        <p:nvSpPr>
          <p:cNvPr id="210" name="Google Shape;210;p6"/>
          <p:cNvSpPr/>
          <p:nvPr/>
        </p:nvSpPr>
        <p:spPr>
          <a:xfrm>
            <a:off x="4420500" y="1735775"/>
            <a:ext cx="3351000" cy="420600"/>
          </a:xfrm>
          <a:prstGeom prst="rect">
            <a:avLst/>
          </a:prstGeom>
          <a:solidFill>
            <a:srgbClr val="B97245"/>
          </a:solid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2300"/>
              <a:buFont typeface="Arial"/>
              <a:buNone/>
            </a:pPr>
            <a:r>
              <a:rPr lang="en-US" sz="1600" b="1">
                <a:solidFill>
                  <a:schemeClr val="lt1"/>
                </a:solidFill>
              </a:rPr>
              <a:t>B.置きワイン型</a:t>
            </a:r>
            <a:endParaRPr sz="1600">
              <a:solidFill>
                <a:schemeClr val="lt1"/>
              </a:solidFill>
              <a:latin typeface="Calibri"/>
              <a:ea typeface="Calibri"/>
              <a:cs typeface="Calibri"/>
              <a:sym typeface="Calibri"/>
            </a:endParaRPr>
          </a:p>
        </p:txBody>
      </p:sp>
      <p:sp>
        <p:nvSpPr>
          <p:cNvPr id="211" name="Google Shape;211;p6"/>
          <p:cNvSpPr/>
          <p:nvPr/>
        </p:nvSpPr>
        <p:spPr>
          <a:xfrm>
            <a:off x="8625403" y="1251375"/>
            <a:ext cx="2537400" cy="546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2300"/>
              <a:buFont typeface="Arial"/>
              <a:buNone/>
            </a:pPr>
            <a:r>
              <a:rPr lang="en-US" sz="1800" b="1">
                <a:solidFill>
                  <a:srgbClr val="2F5496"/>
                </a:solidFill>
              </a:rPr>
              <a:t>レジデンス向け</a:t>
            </a:r>
            <a:endParaRPr sz="1800">
              <a:solidFill>
                <a:srgbClr val="2F5496"/>
              </a:solidFill>
              <a:latin typeface="Calibri"/>
              <a:ea typeface="Calibri"/>
              <a:cs typeface="Calibri"/>
              <a:sym typeface="Calibri"/>
            </a:endParaRPr>
          </a:p>
        </p:txBody>
      </p:sp>
      <p:sp>
        <p:nvSpPr>
          <p:cNvPr id="212" name="Google Shape;212;p6"/>
          <p:cNvSpPr/>
          <p:nvPr/>
        </p:nvSpPr>
        <p:spPr>
          <a:xfrm>
            <a:off x="8247300" y="1745475"/>
            <a:ext cx="3351000" cy="3833100"/>
          </a:xfrm>
          <a:prstGeom prst="roundRect">
            <a:avLst>
              <a:gd name="adj" fmla="val 0"/>
            </a:avLst>
          </a:prstGeom>
          <a:solidFill>
            <a:srgbClr val="F6F6F6"/>
          </a:solidFill>
          <a:ln w="19050" cap="flat" cmpd="sng">
            <a:solidFill>
              <a:srgbClr val="2F549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674625" y="2763925"/>
            <a:ext cx="3243300" cy="3471600"/>
          </a:xfrm>
          <a:prstGeom prst="rect">
            <a:avLst/>
          </a:prstGeom>
          <a:noFill/>
          <a:ln>
            <a:noFill/>
          </a:ln>
        </p:spPr>
        <p:txBody>
          <a:bodyPr spcFirstLastPara="1" wrap="square" lIns="0" tIns="0" rIns="0" bIns="0" anchor="t"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200" b="1">
                <a:solidFill>
                  <a:srgbClr val="C55A11"/>
                </a:solidFill>
              </a:rPr>
              <a:t>仕様</a:t>
            </a:r>
            <a:r>
              <a:rPr lang="en-US" sz="1200">
                <a:solidFill>
                  <a:srgbClr val="6E7378"/>
                </a:solidFill>
              </a:rPr>
              <a:t>：</a:t>
            </a:r>
            <a:r>
              <a:rPr lang="en-US" sz="1200" b="1">
                <a:solidFill>
                  <a:srgbClr val="6E7378"/>
                </a:solidFill>
              </a:rPr>
              <a:t>必要な時に都度発注</a:t>
            </a:r>
            <a:endParaRPr sz="1200" u="sng">
              <a:solidFill>
                <a:srgbClr val="C55A11"/>
              </a:solidFill>
            </a:endParaRPr>
          </a:p>
          <a:p>
            <a:pPr marL="0" lvl="0" indent="0" algn="l" rtl="0">
              <a:lnSpc>
                <a:spcPct val="147826"/>
              </a:lnSpc>
              <a:spcBef>
                <a:spcPts val="0"/>
              </a:spcBef>
              <a:spcAft>
                <a:spcPts val="0"/>
              </a:spcAft>
              <a:buClr>
                <a:srgbClr val="6E7378"/>
              </a:buClr>
              <a:buSzPts val="1150"/>
              <a:buFont typeface="Arial"/>
              <a:buNone/>
            </a:pPr>
            <a:r>
              <a:rPr lang="en-US" sz="1200">
                <a:solidFill>
                  <a:srgbClr val="6E7378"/>
                </a:solidFill>
              </a:rPr>
              <a:t>　　　</a:t>
            </a:r>
            <a:r>
              <a:rPr lang="en-US" sz="1200" u="sng">
                <a:solidFill>
                  <a:srgbClr val="C55A11"/>
                </a:solidFill>
              </a:rPr>
              <a:t>初期費用0円で開始可能</a:t>
            </a:r>
            <a:endParaRPr sz="1200" u="sng">
              <a:solidFill>
                <a:srgbClr val="C55A11"/>
              </a:solidFill>
            </a:endParaRPr>
          </a:p>
          <a:p>
            <a:pPr marL="0" lvl="0" indent="0" algn="l" rtl="0">
              <a:lnSpc>
                <a:spcPct val="147826"/>
              </a:lnSpc>
              <a:spcBef>
                <a:spcPts val="0"/>
              </a:spcBef>
              <a:spcAft>
                <a:spcPts val="0"/>
              </a:spcAft>
              <a:buClr>
                <a:srgbClr val="6E7378"/>
              </a:buClr>
              <a:buSzPts val="1150"/>
              <a:buFont typeface="Arial"/>
              <a:buNone/>
            </a:pPr>
            <a:endParaRPr sz="1200" u="sng">
              <a:solidFill>
                <a:srgbClr val="C55A11"/>
              </a:solidFill>
            </a:endParaRPr>
          </a:p>
          <a:p>
            <a:pPr marL="0" lvl="0" indent="0" algn="l" rtl="0">
              <a:lnSpc>
                <a:spcPct val="147826"/>
              </a:lnSpc>
              <a:spcBef>
                <a:spcPts val="0"/>
              </a:spcBef>
              <a:spcAft>
                <a:spcPts val="0"/>
              </a:spcAft>
              <a:buClr>
                <a:srgbClr val="6E7378"/>
              </a:buClr>
              <a:buSzPts val="1150"/>
              <a:buFont typeface="Arial"/>
              <a:buNone/>
            </a:pPr>
            <a:r>
              <a:rPr lang="en-US" sz="1200" b="1">
                <a:solidFill>
                  <a:srgbClr val="C55A11"/>
                </a:solidFill>
              </a:rPr>
              <a:t>価格</a:t>
            </a:r>
            <a:r>
              <a:rPr lang="en-US" sz="1200">
                <a:solidFill>
                  <a:srgbClr val="6E7378"/>
                </a:solidFill>
              </a:rPr>
              <a:t>：</a:t>
            </a:r>
            <a:r>
              <a:rPr lang="en-US" sz="1200" b="1">
                <a:solidFill>
                  <a:srgbClr val="6E7378"/>
                </a:solidFill>
              </a:rPr>
              <a:t>一般の酒販ルートより安い卸値</a:t>
            </a:r>
            <a:r>
              <a:rPr lang="en-US" sz="1200">
                <a:solidFill>
                  <a:srgbClr val="6E7378"/>
                </a:solidFill>
              </a:rPr>
              <a:t>で提供</a:t>
            </a:r>
            <a:endParaRPr sz="1200" u="sng">
              <a:solidFill>
                <a:srgbClr val="C55A11"/>
              </a:solidFill>
            </a:endParaRPr>
          </a:p>
          <a:p>
            <a:pPr marL="0" marR="0" lvl="0" indent="0" algn="l" rtl="0">
              <a:lnSpc>
                <a:spcPct val="147826"/>
              </a:lnSpc>
              <a:spcBef>
                <a:spcPts val="0"/>
              </a:spcBef>
              <a:spcAft>
                <a:spcPts val="0"/>
              </a:spcAft>
              <a:buClr>
                <a:srgbClr val="6E7378"/>
              </a:buClr>
              <a:buSzPts val="1150"/>
              <a:buFont typeface="Arial"/>
              <a:buNone/>
            </a:pP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b="1">
                <a:solidFill>
                  <a:srgbClr val="C55A11"/>
                </a:solidFill>
              </a:rPr>
              <a:t>精算</a:t>
            </a:r>
            <a:r>
              <a:rPr lang="en-US" sz="1200">
                <a:solidFill>
                  <a:srgbClr val="6E7378"/>
                </a:solidFill>
              </a:rPr>
              <a:t>：</a:t>
            </a:r>
            <a:r>
              <a:rPr lang="en-US" sz="1200" b="1">
                <a:solidFill>
                  <a:srgbClr val="6E7378"/>
                </a:solidFill>
              </a:rPr>
              <a:t>発注した分だけ</a:t>
            </a:r>
            <a:r>
              <a:rPr lang="en-US" sz="1200">
                <a:solidFill>
                  <a:srgbClr val="6E7378"/>
                </a:solidFill>
              </a:rPr>
              <a:t>月締めでお支払い</a:t>
            </a: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a:solidFill>
                  <a:srgbClr val="6E7378"/>
                </a:solidFill>
              </a:rPr>
              <a:t>　　　</a:t>
            </a:r>
            <a:r>
              <a:rPr lang="en-US" sz="1200" u="sng">
                <a:solidFill>
                  <a:srgbClr val="C55A11"/>
                </a:solidFill>
              </a:rPr>
              <a:t>在庫金額0円で資金拘束を解消</a:t>
            </a:r>
            <a:endParaRPr sz="1200" u="sng">
              <a:solidFill>
                <a:srgbClr val="C55A11"/>
              </a:solidFill>
            </a:endParaRPr>
          </a:p>
          <a:p>
            <a:pPr marL="0" marR="0" lvl="0" indent="0" algn="l" rtl="0">
              <a:lnSpc>
                <a:spcPct val="147826"/>
              </a:lnSpc>
              <a:spcBef>
                <a:spcPts val="0"/>
              </a:spcBef>
              <a:spcAft>
                <a:spcPts val="0"/>
              </a:spcAft>
              <a:buClr>
                <a:srgbClr val="6E7378"/>
              </a:buClr>
              <a:buSzPts val="1150"/>
              <a:buFont typeface="Arial"/>
              <a:buNone/>
            </a:pP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b="1">
                <a:solidFill>
                  <a:srgbClr val="C55A11"/>
                </a:solidFill>
              </a:rPr>
              <a:t>リスク</a:t>
            </a:r>
            <a:r>
              <a:rPr lang="en-US" sz="1200">
                <a:solidFill>
                  <a:srgbClr val="6E7378"/>
                </a:solidFill>
              </a:rPr>
              <a:t>：保管・劣化・破損リスクは</a:t>
            </a: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a:solidFill>
                  <a:srgbClr val="6E7378"/>
                </a:solidFill>
              </a:rPr>
              <a:t>　　　　当社負担</a:t>
            </a: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a:solidFill>
                  <a:srgbClr val="6E7378"/>
                </a:solidFill>
              </a:rPr>
              <a:t>　　</a:t>
            </a:r>
            <a:endParaRPr sz="1200">
              <a:solidFill>
                <a:srgbClr val="6E7378"/>
              </a:solidFill>
            </a:endParaRPr>
          </a:p>
        </p:txBody>
      </p:sp>
      <p:sp>
        <p:nvSpPr>
          <p:cNvPr id="214" name="Google Shape;214;p6"/>
          <p:cNvSpPr/>
          <p:nvPr/>
        </p:nvSpPr>
        <p:spPr>
          <a:xfrm>
            <a:off x="566928" y="5726983"/>
            <a:ext cx="11057700" cy="47550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p:nvPr/>
        </p:nvSpPr>
        <p:spPr>
          <a:xfrm>
            <a:off x="566928" y="5726983"/>
            <a:ext cx="110577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DCCE"/>
              </a:buClr>
              <a:buSzPts val="1500"/>
              <a:buFont typeface="Arial"/>
              <a:buNone/>
            </a:pPr>
            <a:r>
              <a:rPr lang="en-US" sz="1500" b="1">
                <a:solidFill>
                  <a:schemeClr val="lt1"/>
                </a:solidFill>
              </a:rPr>
              <a:t>テナント収益性の向上により、利益率・賃料負担力の向上</a:t>
            </a:r>
            <a:endParaRPr sz="1500">
              <a:solidFill>
                <a:schemeClr val="lt1"/>
              </a:solidFill>
              <a:latin typeface="Calibri"/>
              <a:ea typeface="Calibri"/>
              <a:cs typeface="Calibri"/>
              <a:sym typeface="Calibri"/>
            </a:endParaRPr>
          </a:p>
        </p:txBody>
      </p:sp>
      <p:sp>
        <p:nvSpPr>
          <p:cNvPr id="216" name="Google Shape;216;p6"/>
          <p:cNvSpPr/>
          <p:nvPr/>
        </p:nvSpPr>
        <p:spPr>
          <a:xfrm>
            <a:off x="8379225" y="2620677"/>
            <a:ext cx="3209400" cy="3526500"/>
          </a:xfrm>
          <a:prstGeom prst="rect">
            <a:avLst/>
          </a:prstGeom>
          <a:noFill/>
          <a:ln>
            <a:noFill/>
          </a:ln>
        </p:spPr>
        <p:txBody>
          <a:bodyPr spcFirstLastPara="1" wrap="square" lIns="0" tIns="0" rIns="0" bIns="0" anchor="t"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b="1">
                <a:solidFill>
                  <a:srgbClr val="2F5496"/>
                </a:solidFill>
              </a:rPr>
              <a:t>仕様</a:t>
            </a:r>
            <a:r>
              <a:rPr lang="en-US" sz="1150">
                <a:solidFill>
                  <a:srgbClr val="6E7378"/>
                </a:solidFill>
              </a:rPr>
              <a:t>：</a:t>
            </a:r>
            <a:r>
              <a:rPr lang="en-US" sz="1150" b="1">
                <a:solidFill>
                  <a:srgbClr val="6E7378"/>
                </a:solidFill>
              </a:rPr>
              <a:t>必要な時に都度購入</a:t>
            </a:r>
            <a:endParaRPr sz="1150" b="1">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b="1">
                <a:solidFill>
                  <a:srgbClr val="6E7378"/>
                </a:solidFill>
              </a:rPr>
              <a:t>　　　or</a:t>
            </a:r>
            <a:endParaRPr sz="1150" b="1">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b="1">
                <a:solidFill>
                  <a:srgbClr val="6E7378"/>
                </a:solidFill>
              </a:rPr>
              <a:t>　　　ご自宅ワイン在庫を当社預り</a:t>
            </a:r>
            <a:endParaRPr sz="1150" b="1">
              <a:solidFill>
                <a:srgbClr val="6E7378"/>
              </a:solidFill>
            </a:endParaRPr>
          </a:p>
          <a:p>
            <a:pPr marL="0" marR="0" lvl="0" indent="0" algn="l" rtl="0">
              <a:lnSpc>
                <a:spcPct val="147826"/>
              </a:lnSpc>
              <a:spcBef>
                <a:spcPts val="0"/>
              </a:spcBef>
              <a:spcAft>
                <a:spcPts val="0"/>
              </a:spcAft>
              <a:buClr>
                <a:srgbClr val="6E7378"/>
              </a:buClr>
              <a:buSzPts val="1150"/>
              <a:buFont typeface="Arial"/>
              <a:buNone/>
            </a:pPr>
            <a:endParaRPr sz="115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b="1">
                <a:solidFill>
                  <a:srgbClr val="2F5496"/>
                </a:solidFill>
              </a:rPr>
              <a:t>価格</a:t>
            </a:r>
            <a:r>
              <a:rPr lang="en-US" sz="1150">
                <a:solidFill>
                  <a:srgbClr val="6E7378"/>
                </a:solidFill>
              </a:rPr>
              <a:t>：</a:t>
            </a:r>
            <a:r>
              <a:rPr lang="en-US" sz="1150" b="1">
                <a:solidFill>
                  <a:srgbClr val="6E7378"/>
                </a:solidFill>
              </a:rPr>
              <a:t>飲食店向け卸値の1.1‐1.3倍</a:t>
            </a:r>
            <a:r>
              <a:rPr lang="en-US" sz="1150">
                <a:solidFill>
                  <a:srgbClr val="6E7378"/>
                </a:solidFill>
              </a:rPr>
              <a:t>で提供</a:t>
            </a:r>
            <a:endParaRPr sz="115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rPr>
              <a:t>　　　郵送時は月額会費でカバー</a:t>
            </a:r>
            <a:endParaRPr sz="1150">
              <a:solidFill>
                <a:srgbClr val="6E7378"/>
              </a:solidFill>
            </a:endParaRPr>
          </a:p>
          <a:p>
            <a:pPr marL="0" marR="0" lvl="0" indent="0" algn="l" rtl="0">
              <a:lnSpc>
                <a:spcPct val="147826"/>
              </a:lnSpc>
              <a:spcBef>
                <a:spcPts val="0"/>
              </a:spcBef>
              <a:spcAft>
                <a:spcPts val="0"/>
              </a:spcAft>
              <a:buClr>
                <a:srgbClr val="6E7378"/>
              </a:buClr>
              <a:buSzPts val="1150"/>
              <a:buFont typeface="Arial"/>
              <a:buNone/>
            </a:pPr>
            <a:endParaRPr sz="115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b="1">
                <a:solidFill>
                  <a:srgbClr val="2F5496"/>
                </a:solidFill>
              </a:rPr>
              <a:t>精算</a:t>
            </a:r>
            <a:r>
              <a:rPr lang="en-US" sz="1150">
                <a:solidFill>
                  <a:srgbClr val="6E7378"/>
                </a:solidFill>
              </a:rPr>
              <a:t>：</a:t>
            </a:r>
            <a:r>
              <a:rPr lang="en-US" sz="1150" b="1">
                <a:solidFill>
                  <a:srgbClr val="6E7378"/>
                </a:solidFill>
              </a:rPr>
              <a:t>購入した分だけ</a:t>
            </a:r>
            <a:r>
              <a:rPr lang="en-US" sz="1150">
                <a:solidFill>
                  <a:srgbClr val="6E7378"/>
                </a:solidFill>
              </a:rPr>
              <a:t>都度お支払い</a:t>
            </a:r>
            <a:endParaRPr sz="115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rPr>
              <a:t>　　　年間10-30万（WineBankCLUB込）</a:t>
            </a:r>
            <a:endParaRPr sz="115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rPr>
              <a:t>　　　</a:t>
            </a:r>
            <a:endParaRPr sz="115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150" b="1">
                <a:solidFill>
                  <a:srgbClr val="2F5496"/>
                </a:solidFill>
              </a:rPr>
              <a:t>リスク</a:t>
            </a:r>
            <a:r>
              <a:rPr lang="en-US" sz="1150">
                <a:solidFill>
                  <a:srgbClr val="6E7378"/>
                </a:solidFill>
              </a:rPr>
              <a:t>：保管リスクは当社負担</a:t>
            </a:r>
            <a:endParaRPr sz="1150">
              <a:solidFill>
                <a:srgbClr val="6E7378"/>
              </a:solidFill>
            </a:endParaRPr>
          </a:p>
        </p:txBody>
      </p:sp>
      <p:sp>
        <p:nvSpPr>
          <p:cNvPr id="217" name="Google Shape;217;p6"/>
          <p:cNvSpPr/>
          <p:nvPr/>
        </p:nvSpPr>
        <p:spPr>
          <a:xfrm>
            <a:off x="4417650" y="2166975"/>
            <a:ext cx="3351000" cy="420600"/>
          </a:xfrm>
          <a:prstGeom prst="rect">
            <a:avLst/>
          </a:prstGeom>
          <a:noFill/>
          <a:ln>
            <a:noFill/>
          </a:ln>
        </p:spPr>
        <p:txBody>
          <a:bodyPr spcFirstLastPara="1" wrap="square" lIns="0" tIns="0" rIns="0" bIns="0" anchor="ctr" anchorCtr="0">
            <a:noAutofit/>
          </a:bodyPr>
          <a:lstStyle/>
          <a:p>
            <a:pPr marL="0" lvl="0" indent="0" algn="ctr" rtl="0">
              <a:lnSpc>
                <a:spcPct val="137755"/>
              </a:lnSpc>
              <a:spcBef>
                <a:spcPts val="0"/>
              </a:spcBef>
              <a:spcAft>
                <a:spcPts val="0"/>
              </a:spcAft>
              <a:buClr>
                <a:srgbClr val="1A1A1A"/>
              </a:buClr>
              <a:buSzPts val="980"/>
              <a:buFont typeface="Arial"/>
              <a:buNone/>
            </a:pPr>
            <a:r>
              <a:rPr lang="en-US" sz="1200" b="1">
                <a:solidFill>
                  <a:srgbClr val="C55A11"/>
                </a:solidFill>
              </a:rPr>
              <a:t>ワインの月商が一定以上ある店にオススメ</a:t>
            </a:r>
            <a:endParaRPr sz="1200" b="1">
              <a:solidFill>
                <a:srgbClr val="C55A11"/>
              </a:solidFill>
              <a:latin typeface="Calibri"/>
              <a:ea typeface="Calibri"/>
              <a:cs typeface="Calibri"/>
              <a:sym typeface="Calibri"/>
            </a:endParaRPr>
          </a:p>
        </p:txBody>
      </p:sp>
      <p:sp>
        <p:nvSpPr>
          <p:cNvPr id="218" name="Google Shape;218;p6"/>
          <p:cNvSpPr/>
          <p:nvPr/>
        </p:nvSpPr>
        <p:spPr>
          <a:xfrm>
            <a:off x="589425" y="2166975"/>
            <a:ext cx="3351000" cy="420600"/>
          </a:xfrm>
          <a:prstGeom prst="rect">
            <a:avLst/>
          </a:prstGeom>
          <a:noFill/>
          <a:ln>
            <a:noFill/>
          </a:ln>
        </p:spPr>
        <p:txBody>
          <a:bodyPr spcFirstLastPara="1" wrap="square" lIns="0" tIns="0" rIns="0" bIns="0" anchor="ctr" anchorCtr="0">
            <a:noAutofit/>
          </a:bodyPr>
          <a:lstStyle/>
          <a:p>
            <a:pPr marL="0" lvl="0" indent="0" algn="ctr" rtl="0">
              <a:lnSpc>
                <a:spcPct val="137755"/>
              </a:lnSpc>
              <a:spcBef>
                <a:spcPts val="0"/>
              </a:spcBef>
              <a:spcAft>
                <a:spcPts val="0"/>
              </a:spcAft>
              <a:buClr>
                <a:srgbClr val="1A1A1A"/>
              </a:buClr>
              <a:buSzPts val="980"/>
              <a:buFont typeface="Arial"/>
              <a:buNone/>
            </a:pPr>
            <a:r>
              <a:rPr lang="en-US" sz="1200" b="1">
                <a:solidFill>
                  <a:srgbClr val="C55A11"/>
                </a:solidFill>
              </a:rPr>
              <a:t>資金・設備の面で在庫を抑えたい店にオススメ</a:t>
            </a:r>
            <a:endParaRPr sz="1200" b="1">
              <a:solidFill>
                <a:srgbClr val="C55A11"/>
              </a:solidFill>
              <a:latin typeface="Calibri"/>
              <a:ea typeface="Calibri"/>
              <a:cs typeface="Calibri"/>
              <a:sym typeface="Calibri"/>
            </a:endParaRPr>
          </a:p>
        </p:txBody>
      </p:sp>
      <p:sp>
        <p:nvSpPr>
          <p:cNvPr id="219" name="Google Shape;219;p6"/>
          <p:cNvSpPr/>
          <p:nvPr/>
        </p:nvSpPr>
        <p:spPr>
          <a:xfrm>
            <a:off x="2894874" y="1251375"/>
            <a:ext cx="2537400" cy="546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2300"/>
              <a:buFont typeface="Arial"/>
              <a:buNone/>
            </a:pPr>
            <a:r>
              <a:rPr lang="en-US" sz="1800" b="1">
                <a:solidFill>
                  <a:srgbClr val="B97245"/>
                </a:solidFill>
              </a:rPr>
              <a:t>テナント飲食店向け</a:t>
            </a:r>
            <a:endParaRPr sz="1800">
              <a:solidFill>
                <a:srgbClr val="B97245"/>
              </a:solidFill>
              <a:latin typeface="Calibri"/>
              <a:ea typeface="Calibri"/>
              <a:cs typeface="Calibri"/>
              <a:sym typeface="Calibri"/>
            </a:endParaRPr>
          </a:p>
        </p:txBody>
      </p:sp>
      <p:sp>
        <p:nvSpPr>
          <p:cNvPr id="220" name="Google Shape;220;p6"/>
          <p:cNvSpPr/>
          <p:nvPr/>
        </p:nvSpPr>
        <p:spPr>
          <a:xfrm>
            <a:off x="8251575" y="1735775"/>
            <a:ext cx="3351000" cy="420600"/>
          </a:xfrm>
          <a:prstGeom prst="rect">
            <a:avLst/>
          </a:prstGeom>
          <a:solidFill>
            <a:srgbClr val="2F5496"/>
          </a:solid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2300"/>
              <a:buFont typeface="Arial"/>
              <a:buNone/>
            </a:pPr>
            <a:r>
              <a:rPr lang="en-US" sz="1600" b="1">
                <a:solidFill>
                  <a:schemeClr val="lt1"/>
                </a:solidFill>
              </a:rPr>
              <a:t>C.コンシェルジュ型</a:t>
            </a:r>
            <a:endParaRPr sz="1600">
              <a:solidFill>
                <a:schemeClr val="lt1"/>
              </a:solidFill>
              <a:latin typeface="Calibri"/>
              <a:ea typeface="Calibri"/>
              <a:cs typeface="Calibri"/>
              <a:sym typeface="Calibri"/>
            </a:endParaRPr>
          </a:p>
        </p:txBody>
      </p:sp>
      <p:sp>
        <p:nvSpPr>
          <p:cNvPr id="221" name="Google Shape;221;p6"/>
          <p:cNvSpPr/>
          <p:nvPr/>
        </p:nvSpPr>
        <p:spPr>
          <a:xfrm>
            <a:off x="8247300" y="2166975"/>
            <a:ext cx="3351000" cy="420600"/>
          </a:xfrm>
          <a:prstGeom prst="rect">
            <a:avLst/>
          </a:prstGeom>
          <a:noFill/>
          <a:ln>
            <a:noFill/>
          </a:ln>
        </p:spPr>
        <p:txBody>
          <a:bodyPr spcFirstLastPara="1" wrap="square" lIns="0" tIns="0" rIns="0" bIns="0" anchor="ctr" anchorCtr="0">
            <a:noAutofit/>
          </a:bodyPr>
          <a:lstStyle/>
          <a:p>
            <a:pPr marL="0" lvl="0" indent="0" algn="ctr" rtl="0">
              <a:lnSpc>
                <a:spcPct val="137755"/>
              </a:lnSpc>
              <a:spcBef>
                <a:spcPts val="0"/>
              </a:spcBef>
              <a:spcAft>
                <a:spcPts val="0"/>
              </a:spcAft>
              <a:buClr>
                <a:srgbClr val="1A1A1A"/>
              </a:buClr>
              <a:buSzPts val="980"/>
              <a:buFont typeface="Arial"/>
              <a:buNone/>
            </a:pPr>
            <a:r>
              <a:rPr lang="en-US" sz="1200" b="1">
                <a:solidFill>
                  <a:srgbClr val="2F5496"/>
                </a:solidFill>
              </a:rPr>
              <a:t>質の高いワインを求める居住者にオススメ</a:t>
            </a:r>
            <a:endParaRPr sz="1200" b="1">
              <a:solidFill>
                <a:srgbClr val="2F5496"/>
              </a:solidFill>
              <a:latin typeface="Calibri"/>
              <a:ea typeface="Calibri"/>
              <a:cs typeface="Calibri"/>
              <a:sym typeface="Calibri"/>
            </a:endParaRPr>
          </a:p>
        </p:txBody>
      </p:sp>
      <p:sp>
        <p:nvSpPr>
          <p:cNvPr id="222" name="Google Shape;222;p6"/>
          <p:cNvSpPr/>
          <p:nvPr/>
        </p:nvSpPr>
        <p:spPr>
          <a:xfrm>
            <a:off x="4510975" y="2763925"/>
            <a:ext cx="3259200" cy="2762700"/>
          </a:xfrm>
          <a:prstGeom prst="rect">
            <a:avLst/>
          </a:prstGeom>
          <a:noFill/>
          <a:ln>
            <a:noFill/>
          </a:ln>
        </p:spPr>
        <p:txBody>
          <a:bodyPr spcFirstLastPara="1" wrap="square" lIns="0" tIns="0" rIns="0" bIns="0" anchor="t"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200" b="1">
                <a:solidFill>
                  <a:srgbClr val="C55A11"/>
                </a:solidFill>
              </a:rPr>
              <a:t>仕様</a:t>
            </a:r>
            <a:r>
              <a:rPr lang="en-US" sz="1200">
                <a:solidFill>
                  <a:srgbClr val="6E7378"/>
                </a:solidFill>
              </a:rPr>
              <a:t>：</a:t>
            </a:r>
            <a:r>
              <a:rPr lang="en-US" sz="1200" b="1">
                <a:solidFill>
                  <a:srgbClr val="6E7378"/>
                </a:solidFill>
              </a:rPr>
              <a:t>当社選定ワインを店舗に常備</a:t>
            </a:r>
            <a:endParaRPr sz="1200" u="sng">
              <a:solidFill>
                <a:srgbClr val="C55A11"/>
              </a:solidFill>
            </a:endParaRPr>
          </a:p>
          <a:p>
            <a:pPr marL="0" lvl="0" indent="0" algn="l" rtl="0">
              <a:lnSpc>
                <a:spcPct val="147826"/>
              </a:lnSpc>
              <a:spcBef>
                <a:spcPts val="0"/>
              </a:spcBef>
              <a:spcAft>
                <a:spcPts val="0"/>
              </a:spcAft>
              <a:buClr>
                <a:srgbClr val="6E7378"/>
              </a:buClr>
              <a:buSzPts val="1150"/>
              <a:buFont typeface="Arial"/>
              <a:buNone/>
            </a:pPr>
            <a:r>
              <a:rPr lang="en-US" sz="1200">
                <a:solidFill>
                  <a:srgbClr val="6E7378"/>
                </a:solidFill>
              </a:rPr>
              <a:t>　　　</a:t>
            </a:r>
            <a:r>
              <a:rPr lang="en-US" sz="1200" u="sng">
                <a:solidFill>
                  <a:srgbClr val="C55A11"/>
                </a:solidFill>
              </a:rPr>
              <a:t>初期費用0円で開始可能</a:t>
            </a: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endParaRPr sz="1200">
              <a:solidFill>
                <a:srgbClr val="6E7378"/>
              </a:solidFill>
            </a:endParaRPr>
          </a:p>
          <a:p>
            <a:pPr marL="0" lvl="0" indent="0" algn="l" rtl="0">
              <a:lnSpc>
                <a:spcPct val="147826"/>
              </a:lnSpc>
              <a:spcBef>
                <a:spcPts val="0"/>
              </a:spcBef>
              <a:spcAft>
                <a:spcPts val="0"/>
              </a:spcAft>
              <a:buClr>
                <a:srgbClr val="6E7378"/>
              </a:buClr>
              <a:buSzPts val="1150"/>
              <a:buFont typeface="Arial"/>
              <a:buNone/>
            </a:pPr>
            <a:r>
              <a:rPr lang="en-US" sz="1200" b="1">
                <a:solidFill>
                  <a:srgbClr val="C55A11"/>
                </a:solidFill>
              </a:rPr>
              <a:t>価格</a:t>
            </a:r>
            <a:r>
              <a:rPr lang="en-US" sz="1200">
                <a:solidFill>
                  <a:srgbClr val="6E7378"/>
                </a:solidFill>
              </a:rPr>
              <a:t>：</a:t>
            </a:r>
            <a:r>
              <a:rPr lang="en-US" sz="1200" b="1">
                <a:solidFill>
                  <a:srgbClr val="6E7378"/>
                </a:solidFill>
              </a:rPr>
              <a:t>一般の酒販ルートより安い卸値</a:t>
            </a:r>
            <a:r>
              <a:rPr lang="en-US" sz="1200">
                <a:solidFill>
                  <a:srgbClr val="6E7378"/>
                </a:solidFill>
              </a:rPr>
              <a:t>で提供</a:t>
            </a: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b="1">
                <a:solidFill>
                  <a:srgbClr val="C55A11"/>
                </a:solidFill>
              </a:rPr>
              <a:t>精算</a:t>
            </a:r>
            <a:r>
              <a:rPr lang="en-US" sz="1200">
                <a:solidFill>
                  <a:srgbClr val="6E7378"/>
                </a:solidFill>
              </a:rPr>
              <a:t>：</a:t>
            </a:r>
            <a:r>
              <a:rPr lang="en-US" sz="1200" b="1">
                <a:solidFill>
                  <a:srgbClr val="6E7378"/>
                </a:solidFill>
              </a:rPr>
              <a:t>販売した分だけ</a:t>
            </a:r>
            <a:r>
              <a:rPr lang="en-US" sz="1200">
                <a:solidFill>
                  <a:srgbClr val="6E7378"/>
                </a:solidFill>
              </a:rPr>
              <a:t>月締めでお支払い</a:t>
            </a: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a:solidFill>
                  <a:srgbClr val="6E7378"/>
                </a:solidFill>
              </a:rPr>
              <a:t>　　　</a:t>
            </a:r>
            <a:r>
              <a:rPr lang="en-US" sz="1200" u="sng">
                <a:solidFill>
                  <a:srgbClr val="C55A11"/>
                </a:solidFill>
              </a:rPr>
              <a:t>CFを気にせずリストを充実化</a:t>
            </a:r>
            <a:endParaRPr sz="1200" u="sng">
              <a:solidFill>
                <a:srgbClr val="C55A11"/>
              </a:solidFill>
            </a:endParaRPr>
          </a:p>
          <a:p>
            <a:pPr marL="0" marR="0" lvl="0" indent="0" algn="l" rtl="0">
              <a:lnSpc>
                <a:spcPct val="147826"/>
              </a:lnSpc>
              <a:spcBef>
                <a:spcPts val="0"/>
              </a:spcBef>
              <a:spcAft>
                <a:spcPts val="0"/>
              </a:spcAft>
              <a:buClr>
                <a:srgbClr val="6E7378"/>
              </a:buClr>
              <a:buSzPts val="1150"/>
              <a:buFont typeface="Arial"/>
              <a:buNone/>
            </a:pP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b="1">
                <a:solidFill>
                  <a:srgbClr val="C55A11"/>
                </a:solidFill>
              </a:rPr>
              <a:t>リスク</a:t>
            </a:r>
            <a:r>
              <a:rPr lang="en-US" sz="1200">
                <a:solidFill>
                  <a:srgbClr val="6E7378"/>
                </a:solidFill>
              </a:rPr>
              <a:t>：売れ残り・劣化・破損リスクは</a:t>
            </a:r>
            <a:endParaRPr sz="1200">
              <a:solidFill>
                <a:srgbClr val="6E7378"/>
              </a:solidFill>
            </a:endParaRPr>
          </a:p>
          <a:p>
            <a:pPr marL="0" marR="0" lvl="0" indent="0" algn="l" rtl="0">
              <a:lnSpc>
                <a:spcPct val="147826"/>
              </a:lnSpc>
              <a:spcBef>
                <a:spcPts val="0"/>
              </a:spcBef>
              <a:spcAft>
                <a:spcPts val="0"/>
              </a:spcAft>
              <a:buClr>
                <a:srgbClr val="6E7378"/>
              </a:buClr>
              <a:buSzPts val="1150"/>
              <a:buFont typeface="Arial"/>
              <a:buNone/>
            </a:pPr>
            <a:r>
              <a:rPr lang="en-US" sz="1200">
                <a:solidFill>
                  <a:srgbClr val="6E7378"/>
                </a:solidFill>
              </a:rPr>
              <a:t>　　　　当社負担</a:t>
            </a:r>
            <a:endParaRPr sz="1200">
              <a:solidFill>
                <a:srgbClr val="6E7378"/>
              </a:solidFill>
            </a:endParaRPr>
          </a:p>
        </p:txBody>
      </p:sp>
      <p:grpSp>
        <p:nvGrpSpPr>
          <p:cNvPr id="223" name="Google Shape;223;p6"/>
          <p:cNvGrpSpPr/>
          <p:nvPr/>
        </p:nvGrpSpPr>
        <p:grpSpPr>
          <a:xfrm>
            <a:off x="0" y="419025"/>
            <a:ext cx="1029900" cy="585888"/>
            <a:chOff x="0" y="419025"/>
            <a:chExt cx="1029900" cy="585888"/>
          </a:xfrm>
        </p:grpSpPr>
        <p:sp>
          <p:nvSpPr>
            <p:cNvPr id="224" name="Google Shape;224;p6"/>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p6"/>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01</a:t>
              </a:r>
              <a:endParaRPr sz="2200">
                <a:solidFill>
                  <a:schemeClr val="dk1"/>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0"/>
        <p:cNvGrpSpPr/>
        <p:nvPr/>
      </p:nvGrpSpPr>
      <p:grpSpPr>
        <a:xfrm>
          <a:off x="0" y="0"/>
          <a:ext cx="0" cy="0"/>
          <a:chOff x="0" y="0"/>
          <a:chExt cx="0" cy="0"/>
        </a:xfrm>
      </p:grpSpPr>
      <p:pic>
        <p:nvPicPr>
          <p:cNvPr id="231" name="Google Shape;231;p9"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232" name="Google Shape;232;p9"/>
          <p:cNvSpPr/>
          <p:nvPr/>
        </p:nvSpPr>
        <p:spPr>
          <a:xfrm>
            <a:off x="1173806" y="585216"/>
            <a:ext cx="89790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WineGO ヒルズ・デリバリー</a:t>
            </a:r>
            <a:endParaRPr sz="2300">
              <a:solidFill>
                <a:schemeClr val="dk1"/>
              </a:solidFill>
              <a:latin typeface="Calibri"/>
              <a:ea typeface="Calibri"/>
              <a:cs typeface="Calibri"/>
              <a:sym typeface="Calibri"/>
            </a:endParaRPr>
          </a:p>
        </p:txBody>
      </p:sp>
      <p:sp>
        <p:nvSpPr>
          <p:cNvPr id="233" name="Google Shape;233;p9"/>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9"/>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235" name="Google Shape;235;p9"/>
          <p:cNvSpPr/>
          <p:nvPr/>
        </p:nvSpPr>
        <p:spPr>
          <a:xfrm>
            <a:off x="8046675" y="1449689"/>
            <a:ext cx="3108900" cy="2011800"/>
          </a:xfrm>
          <a:prstGeom prst="roundRect">
            <a:avLst>
              <a:gd name="adj" fmla="val 2604"/>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9"/>
          <p:cNvSpPr/>
          <p:nvPr/>
        </p:nvSpPr>
        <p:spPr>
          <a:xfrm>
            <a:off x="8378910" y="1677544"/>
            <a:ext cx="2596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400"/>
              <a:buFont typeface="Arial"/>
              <a:buNone/>
            </a:pPr>
            <a:r>
              <a:rPr lang="en-US" sz="1500" b="1">
                <a:solidFill>
                  <a:srgbClr val="6E7378"/>
                </a:solidFill>
                <a:latin typeface="Arial"/>
                <a:ea typeface="Arial"/>
                <a:cs typeface="Arial"/>
                <a:sym typeface="Arial"/>
              </a:rPr>
              <a:t>一般的な酒類配送</a:t>
            </a:r>
            <a:endParaRPr sz="1500">
              <a:solidFill>
                <a:schemeClr val="dk1"/>
              </a:solidFill>
              <a:latin typeface="Calibri"/>
              <a:ea typeface="Calibri"/>
              <a:cs typeface="Calibri"/>
              <a:sym typeface="Calibri"/>
            </a:endParaRPr>
          </a:p>
        </p:txBody>
      </p:sp>
      <p:sp>
        <p:nvSpPr>
          <p:cNvPr id="237" name="Google Shape;237;p9"/>
          <p:cNvSpPr/>
          <p:nvPr/>
        </p:nvSpPr>
        <p:spPr>
          <a:xfrm>
            <a:off x="8378910" y="2077525"/>
            <a:ext cx="2596800" cy="1097400"/>
          </a:xfrm>
          <a:prstGeom prst="rect">
            <a:avLst/>
          </a:prstGeom>
          <a:noFill/>
          <a:ln>
            <a:noFill/>
          </a:ln>
        </p:spPr>
        <p:txBody>
          <a:bodyPr spcFirstLastPara="1" wrap="square" lIns="0" tIns="0" rIns="0" bIns="0" anchor="ctr" anchorCtr="0">
            <a:noAutofit/>
          </a:bodyPr>
          <a:lstStyle/>
          <a:p>
            <a:pPr marL="342900" marR="0" lvl="0" indent="-355600" algn="l" rtl="0">
              <a:lnSpc>
                <a:spcPct val="142156"/>
              </a:lnSpc>
              <a:spcBef>
                <a:spcPts val="0"/>
              </a:spcBef>
              <a:spcAft>
                <a:spcPts val="0"/>
              </a:spcAft>
              <a:buClr>
                <a:srgbClr val="1A1A1A"/>
              </a:buClr>
              <a:buSzPts val="1220"/>
              <a:buFont typeface="Arial"/>
              <a:buChar char="▪"/>
            </a:pPr>
            <a:r>
              <a:rPr lang="en-US" sz="1220">
                <a:solidFill>
                  <a:srgbClr val="1A1A1A"/>
                </a:solidFill>
                <a:latin typeface="Arial"/>
                <a:ea typeface="Arial"/>
                <a:cs typeface="Arial"/>
                <a:sym typeface="Arial"/>
              </a:rPr>
              <a:t>最短60分〜／常温配送</a:t>
            </a:r>
            <a:endParaRPr sz="1220">
              <a:solidFill>
                <a:schemeClr val="dk1"/>
              </a:solidFill>
              <a:latin typeface="Calibri"/>
              <a:ea typeface="Calibri"/>
              <a:cs typeface="Calibri"/>
              <a:sym typeface="Calibri"/>
            </a:endParaRPr>
          </a:p>
          <a:p>
            <a:pPr marL="342900" marR="0" lvl="0" indent="-355600" algn="l" rtl="0">
              <a:lnSpc>
                <a:spcPct val="142156"/>
              </a:lnSpc>
              <a:spcBef>
                <a:spcPts val="500"/>
              </a:spcBef>
              <a:spcAft>
                <a:spcPts val="0"/>
              </a:spcAft>
              <a:buClr>
                <a:srgbClr val="1A1A1A"/>
              </a:buClr>
              <a:buSzPts val="1220"/>
              <a:buFont typeface="Arial"/>
              <a:buChar char="▪"/>
            </a:pPr>
            <a:r>
              <a:rPr lang="en-US" sz="1220">
                <a:solidFill>
                  <a:srgbClr val="1A1A1A"/>
                </a:solidFill>
                <a:latin typeface="Arial"/>
                <a:ea typeface="Arial"/>
                <a:cs typeface="Arial"/>
                <a:sym typeface="Arial"/>
              </a:rPr>
              <a:t>希少銘柄の取扱いなし</a:t>
            </a:r>
            <a:endParaRPr sz="1220">
              <a:solidFill>
                <a:schemeClr val="dk1"/>
              </a:solidFill>
              <a:latin typeface="Calibri"/>
              <a:ea typeface="Calibri"/>
              <a:cs typeface="Calibri"/>
              <a:sym typeface="Calibri"/>
            </a:endParaRPr>
          </a:p>
          <a:p>
            <a:pPr marL="342900" marR="0" lvl="0" indent="-355600" algn="l" rtl="0">
              <a:lnSpc>
                <a:spcPct val="142156"/>
              </a:lnSpc>
              <a:spcBef>
                <a:spcPts val="500"/>
              </a:spcBef>
              <a:spcAft>
                <a:spcPts val="0"/>
              </a:spcAft>
              <a:buClr>
                <a:srgbClr val="1A1A1A"/>
              </a:buClr>
              <a:buSzPts val="1220"/>
              <a:buFont typeface="Arial"/>
              <a:buChar char="▪"/>
            </a:pPr>
            <a:r>
              <a:rPr lang="en-US" sz="1220">
                <a:solidFill>
                  <a:srgbClr val="1A1A1A"/>
                </a:solidFill>
                <a:latin typeface="Arial"/>
                <a:ea typeface="Arial"/>
                <a:cs typeface="Arial"/>
                <a:sym typeface="Arial"/>
              </a:rPr>
              <a:t>夜間・突発の依頼に弱い</a:t>
            </a:r>
            <a:endParaRPr sz="1220">
              <a:solidFill>
                <a:schemeClr val="dk1"/>
              </a:solidFill>
              <a:latin typeface="Calibri"/>
              <a:ea typeface="Calibri"/>
              <a:cs typeface="Calibri"/>
              <a:sym typeface="Calibri"/>
            </a:endParaRPr>
          </a:p>
        </p:txBody>
      </p:sp>
      <p:sp>
        <p:nvSpPr>
          <p:cNvPr id="238" name="Google Shape;238;p9"/>
          <p:cNvSpPr/>
          <p:nvPr/>
        </p:nvSpPr>
        <p:spPr>
          <a:xfrm>
            <a:off x="651375" y="1449700"/>
            <a:ext cx="6864300" cy="2011800"/>
          </a:xfrm>
          <a:prstGeom prst="roundRect">
            <a:avLst>
              <a:gd name="adj" fmla="val 2604"/>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9"/>
          <p:cNvSpPr/>
          <p:nvPr/>
        </p:nvSpPr>
        <p:spPr>
          <a:xfrm>
            <a:off x="983615" y="1677544"/>
            <a:ext cx="2596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400"/>
              <a:buFont typeface="Arial"/>
              <a:buNone/>
            </a:pPr>
            <a:r>
              <a:rPr lang="en-US" sz="1800" b="1">
                <a:solidFill>
                  <a:srgbClr val="B97245"/>
                </a:solidFill>
                <a:latin typeface="Arial"/>
                <a:ea typeface="Arial"/>
                <a:cs typeface="Arial"/>
                <a:sym typeface="Arial"/>
              </a:rPr>
              <a:t>WineGO</a:t>
            </a:r>
            <a:endParaRPr sz="1800">
              <a:solidFill>
                <a:srgbClr val="B97245"/>
              </a:solidFill>
              <a:latin typeface="Calibri"/>
              <a:ea typeface="Calibri"/>
              <a:cs typeface="Calibri"/>
              <a:sym typeface="Calibri"/>
            </a:endParaRPr>
          </a:p>
        </p:txBody>
      </p:sp>
      <p:sp>
        <p:nvSpPr>
          <p:cNvPr id="240" name="Google Shape;240;p9"/>
          <p:cNvSpPr/>
          <p:nvPr/>
        </p:nvSpPr>
        <p:spPr>
          <a:xfrm>
            <a:off x="983632" y="2077525"/>
            <a:ext cx="4329000" cy="1097400"/>
          </a:xfrm>
          <a:prstGeom prst="rect">
            <a:avLst/>
          </a:prstGeom>
          <a:noFill/>
          <a:ln>
            <a:noFill/>
          </a:ln>
        </p:spPr>
        <p:txBody>
          <a:bodyPr spcFirstLastPara="1" wrap="square" lIns="0" tIns="0" rIns="0" bIns="0" anchor="ctr" anchorCtr="0">
            <a:noAutofit/>
          </a:bodyPr>
          <a:lstStyle/>
          <a:p>
            <a:pPr marL="342900" marR="0" lvl="0" indent="-361950" algn="l" rtl="0">
              <a:lnSpc>
                <a:spcPct val="142156"/>
              </a:lnSpc>
              <a:spcBef>
                <a:spcPts val="0"/>
              </a:spcBef>
              <a:spcAft>
                <a:spcPts val="0"/>
              </a:spcAft>
              <a:buClr>
                <a:srgbClr val="E3E6E8"/>
              </a:buClr>
              <a:buSzPts val="1320"/>
              <a:buFont typeface="Arial"/>
              <a:buChar char="▪"/>
            </a:pPr>
            <a:r>
              <a:rPr lang="en-US" sz="1320">
                <a:solidFill>
                  <a:srgbClr val="E3E6E8"/>
                </a:solidFill>
                <a:latin typeface="Arial"/>
                <a:ea typeface="Arial"/>
                <a:cs typeface="Arial"/>
                <a:sym typeface="Arial"/>
              </a:rPr>
              <a:t>館内ターミナル開設後は最短5分</a:t>
            </a:r>
            <a:endParaRPr sz="1320">
              <a:solidFill>
                <a:schemeClr val="dk1"/>
              </a:solidFill>
              <a:latin typeface="Calibri"/>
              <a:ea typeface="Calibri"/>
              <a:cs typeface="Calibri"/>
              <a:sym typeface="Calibri"/>
            </a:endParaRPr>
          </a:p>
          <a:p>
            <a:pPr marL="342900" marR="0" lvl="0" indent="-361950" algn="l" rtl="0">
              <a:lnSpc>
                <a:spcPct val="142156"/>
              </a:lnSpc>
              <a:spcBef>
                <a:spcPts val="500"/>
              </a:spcBef>
              <a:spcAft>
                <a:spcPts val="0"/>
              </a:spcAft>
              <a:buClr>
                <a:srgbClr val="E3E6E8"/>
              </a:buClr>
              <a:buSzPts val="1320"/>
              <a:buFont typeface="Arial"/>
              <a:buChar char="▪"/>
            </a:pPr>
            <a:r>
              <a:rPr lang="en-US" sz="1320">
                <a:solidFill>
                  <a:srgbClr val="E3E6E8"/>
                </a:solidFill>
                <a:latin typeface="Arial"/>
                <a:ea typeface="Arial"/>
                <a:cs typeface="Arial"/>
                <a:sym typeface="Arial"/>
              </a:rPr>
              <a:t>10〜15℃の定温ラストワンマイル</a:t>
            </a:r>
            <a:endParaRPr sz="1320">
              <a:solidFill>
                <a:schemeClr val="dk1"/>
              </a:solidFill>
              <a:latin typeface="Calibri"/>
              <a:ea typeface="Calibri"/>
              <a:cs typeface="Calibri"/>
              <a:sym typeface="Calibri"/>
            </a:endParaRPr>
          </a:p>
          <a:p>
            <a:pPr marL="342900" marR="0" lvl="0" indent="-361950" algn="l" rtl="0">
              <a:lnSpc>
                <a:spcPct val="142156"/>
              </a:lnSpc>
              <a:spcBef>
                <a:spcPts val="500"/>
              </a:spcBef>
              <a:spcAft>
                <a:spcPts val="0"/>
              </a:spcAft>
              <a:buClr>
                <a:srgbClr val="E3E6E8"/>
              </a:buClr>
              <a:buSzPts val="1320"/>
              <a:buFont typeface="Arial"/>
              <a:buChar char="▪"/>
            </a:pPr>
            <a:r>
              <a:rPr lang="en-US" sz="1320">
                <a:solidFill>
                  <a:srgbClr val="E3E6E8"/>
                </a:solidFill>
                <a:latin typeface="Arial"/>
                <a:ea typeface="Arial"/>
                <a:cs typeface="Arial"/>
                <a:sym typeface="Arial"/>
              </a:rPr>
              <a:t>希少ヴィンテージ・高級シャンパンを常時</a:t>
            </a:r>
            <a:endParaRPr sz="1320">
              <a:solidFill>
                <a:schemeClr val="dk1"/>
              </a:solidFill>
              <a:latin typeface="Calibri"/>
              <a:ea typeface="Calibri"/>
              <a:cs typeface="Calibri"/>
              <a:sym typeface="Calibri"/>
            </a:endParaRPr>
          </a:p>
        </p:txBody>
      </p:sp>
      <p:sp>
        <p:nvSpPr>
          <p:cNvPr id="241" name="Google Shape;241;p9"/>
          <p:cNvSpPr/>
          <p:nvPr/>
        </p:nvSpPr>
        <p:spPr>
          <a:xfrm>
            <a:off x="438084" y="4341849"/>
            <a:ext cx="365700" cy="3657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9"/>
          <p:cNvSpPr/>
          <p:nvPr/>
        </p:nvSpPr>
        <p:spPr>
          <a:xfrm>
            <a:off x="438084" y="4341849"/>
            <a:ext cx="3657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b="1">
                <a:solidFill>
                  <a:srgbClr val="FFFFFF"/>
                </a:solidFill>
                <a:latin typeface="Calibri"/>
                <a:ea typeface="Calibri"/>
                <a:cs typeface="Calibri"/>
                <a:sym typeface="Calibri"/>
              </a:rPr>
              <a:t>1</a:t>
            </a:r>
            <a:endParaRPr>
              <a:solidFill>
                <a:schemeClr val="dk1"/>
              </a:solidFill>
              <a:latin typeface="Calibri"/>
              <a:ea typeface="Calibri"/>
              <a:cs typeface="Calibri"/>
              <a:sym typeface="Calibri"/>
            </a:endParaRPr>
          </a:p>
        </p:txBody>
      </p:sp>
      <p:sp>
        <p:nvSpPr>
          <p:cNvPr id="243" name="Google Shape;243;p9"/>
          <p:cNvSpPr/>
          <p:nvPr/>
        </p:nvSpPr>
        <p:spPr>
          <a:xfrm>
            <a:off x="907275" y="4405900"/>
            <a:ext cx="1876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450" b="1">
                <a:solidFill>
                  <a:srgbClr val="1A1A1A"/>
                </a:solidFill>
                <a:latin typeface="Arial"/>
                <a:ea typeface="Arial"/>
                <a:cs typeface="Arial"/>
                <a:sym typeface="Arial"/>
              </a:rPr>
              <a:t>店舗への即時補充</a:t>
            </a:r>
            <a:endParaRPr sz="1450">
              <a:solidFill>
                <a:schemeClr val="dk1"/>
              </a:solidFill>
              <a:latin typeface="Calibri"/>
              <a:ea typeface="Calibri"/>
              <a:cs typeface="Calibri"/>
              <a:sym typeface="Calibri"/>
            </a:endParaRPr>
          </a:p>
        </p:txBody>
      </p:sp>
      <p:sp>
        <p:nvSpPr>
          <p:cNvPr id="244" name="Google Shape;244;p9"/>
          <p:cNvSpPr/>
          <p:nvPr/>
        </p:nvSpPr>
        <p:spPr>
          <a:xfrm>
            <a:off x="632625" y="4823146"/>
            <a:ext cx="3109200" cy="585900"/>
          </a:xfrm>
          <a:prstGeom prst="rect">
            <a:avLst/>
          </a:prstGeom>
          <a:noFill/>
          <a:ln>
            <a:noFill/>
          </a:ln>
        </p:spPr>
        <p:txBody>
          <a:bodyPr spcFirstLastPara="1" wrap="square" lIns="0" tIns="0" rIns="0" bIns="0" anchor="t" anchorCtr="0">
            <a:noAutofit/>
          </a:bodyPr>
          <a:lstStyle/>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テナント飲食店が</a:t>
            </a:r>
            <a:endParaRPr sz="1160">
              <a:solidFill>
                <a:srgbClr val="6E7378"/>
              </a:solidFill>
              <a:latin typeface="Arial"/>
              <a:ea typeface="Arial"/>
              <a:cs typeface="Arial"/>
              <a:sym typeface="Arial"/>
            </a:endParaRPr>
          </a:p>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Cloud Wine Caveから発注。</a:t>
            </a:r>
            <a:endParaRPr sz="1160">
              <a:solidFill>
                <a:srgbClr val="6E7378"/>
              </a:solidFill>
              <a:latin typeface="Arial"/>
              <a:ea typeface="Arial"/>
              <a:cs typeface="Arial"/>
              <a:sym typeface="Arial"/>
            </a:endParaRPr>
          </a:p>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最短5分で厨房へ。</a:t>
            </a:r>
            <a:endParaRPr sz="1160">
              <a:solidFill>
                <a:schemeClr val="dk1"/>
              </a:solidFill>
              <a:latin typeface="Calibri"/>
              <a:ea typeface="Calibri"/>
              <a:cs typeface="Calibri"/>
              <a:sym typeface="Calibri"/>
            </a:endParaRPr>
          </a:p>
        </p:txBody>
      </p:sp>
      <p:sp>
        <p:nvSpPr>
          <p:cNvPr id="245" name="Google Shape;245;p9"/>
          <p:cNvSpPr/>
          <p:nvPr/>
        </p:nvSpPr>
        <p:spPr>
          <a:xfrm>
            <a:off x="3363984" y="4341849"/>
            <a:ext cx="365700" cy="3657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9"/>
          <p:cNvSpPr/>
          <p:nvPr/>
        </p:nvSpPr>
        <p:spPr>
          <a:xfrm>
            <a:off x="3363984" y="4341849"/>
            <a:ext cx="3657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b="1">
                <a:solidFill>
                  <a:srgbClr val="FFFFFF"/>
                </a:solidFill>
                <a:latin typeface="Calibri"/>
                <a:ea typeface="Calibri"/>
                <a:cs typeface="Calibri"/>
                <a:sym typeface="Calibri"/>
              </a:rPr>
              <a:t>2</a:t>
            </a:r>
            <a:endParaRPr>
              <a:solidFill>
                <a:schemeClr val="dk1"/>
              </a:solidFill>
              <a:latin typeface="Calibri"/>
              <a:ea typeface="Calibri"/>
              <a:cs typeface="Calibri"/>
              <a:sym typeface="Calibri"/>
            </a:endParaRPr>
          </a:p>
        </p:txBody>
      </p:sp>
      <p:sp>
        <p:nvSpPr>
          <p:cNvPr id="247" name="Google Shape;247;p9"/>
          <p:cNvSpPr/>
          <p:nvPr/>
        </p:nvSpPr>
        <p:spPr>
          <a:xfrm>
            <a:off x="3848998" y="4405900"/>
            <a:ext cx="20802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450" b="1">
                <a:solidFill>
                  <a:srgbClr val="1A1A1A"/>
                </a:solidFill>
                <a:latin typeface="Arial"/>
                <a:ea typeface="Arial"/>
                <a:cs typeface="Arial"/>
                <a:sym typeface="Arial"/>
              </a:rPr>
              <a:t>会食先への事前配送</a:t>
            </a:r>
            <a:endParaRPr sz="1450">
              <a:solidFill>
                <a:schemeClr val="dk1"/>
              </a:solidFill>
              <a:latin typeface="Calibri"/>
              <a:ea typeface="Calibri"/>
              <a:cs typeface="Calibri"/>
              <a:sym typeface="Calibri"/>
            </a:endParaRPr>
          </a:p>
        </p:txBody>
      </p:sp>
      <p:sp>
        <p:nvSpPr>
          <p:cNvPr id="248" name="Google Shape;248;p9"/>
          <p:cNvSpPr/>
          <p:nvPr/>
        </p:nvSpPr>
        <p:spPr>
          <a:xfrm>
            <a:off x="3548158" y="4823146"/>
            <a:ext cx="3109200" cy="585900"/>
          </a:xfrm>
          <a:prstGeom prst="rect">
            <a:avLst/>
          </a:prstGeom>
          <a:noFill/>
          <a:ln>
            <a:noFill/>
          </a:ln>
        </p:spPr>
        <p:txBody>
          <a:bodyPr spcFirstLastPara="1" wrap="square" lIns="0" tIns="0" rIns="0" bIns="0" anchor="t" anchorCtr="0">
            <a:noAutofit/>
          </a:bodyPr>
          <a:lstStyle/>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提携</a:t>
            </a:r>
            <a:r>
              <a:rPr lang="en-US" sz="1160">
                <a:solidFill>
                  <a:srgbClr val="6E7378"/>
                </a:solidFill>
              </a:rPr>
              <a:t>店舗</a:t>
            </a:r>
            <a:r>
              <a:rPr lang="en-US" sz="1160">
                <a:solidFill>
                  <a:srgbClr val="6E7378"/>
                </a:solidFill>
                <a:latin typeface="Arial"/>
                <a:ea typeface="Arial"/>
                <a:cs typeface="Arial"/>
                <a:sym typeface="Arial"/>
              </a:rPr>
              <a:t>へ事前に届け、</a:t>
            </a:r>
            <a:endParaRPr sz="1160">
              <a:solidFill>
                <a:srgbClr val="6E7378"/>
              </a:solidFill>
              <a:latin typeface="Arial"/>
              <a:ea typeface="Arial"/>
              <a:cs typeface="Arial"/>
              <a:sym typeface="Arial"/>
            </a:endParaRPr>
          </a:p>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手ぶらで会食へ。</a:t>
            </a:r>
            <a:endParaRPr sz="1160">
              <a:solidFill>
                <a:srgbClr val="6E7378"/>
              </a:solidFill>
              <a:latin typeface="Arial"/>
              <a:ea typeface="Arial"/>
              <a:cs typeface="Arial"/>
              <a:sym typeface="Arial"/>
            </a:endParaRPr>
          </a:p>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コルケージ無料。</a:t>
            </a:r>
            <a:endParaRPr sz="1160">
              <a:solidFill>
                <a:schemeClr val="dk1"/>
              </a:solidFill>
              <a:latin typeface="Calibri"/>
              <a:ea typeface="Calibri"/>
              <a:cs typeface="Calibri"/>
              <a:sym typeface="Calibri"/>
            </a:endParaRPr>
          </a:p>
        </p:txBody>
      </p:sp>
      <p:sp>
        <p:nvSpPr>
          <p:cNvPr id="249" name="Google Shape;249;p9"/>
          <p:cNvSpPr/>
          <p:nvPr/>
        </p:nvSpPr>
        <p:spPr>
          <a:xfrm>
            <a:off x="6272784" y="4341849"/>
            <a:ext cx="365700" cy="3657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9"/>
          <p:cNvSpPr/>
          <p:nvPr/>
        </p:nvSpPr>
        <p:spPr>
          <a:xfrm>
            <a:off x="6272784" y="4341849"/>
            <a:ext cx="3657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b="1">
                <a:solidFill>
                  <a:srgbClr val="FFFFFF"/>
                </a:solidFill>
                <a:latin typeface="Calibri"/>
                <a:ea typeface="Calibri"/>
                <a:cs typeface="Calibri"/>
                <a:sym typeface="Calibri"/>
              </a:rPr>
              <a:t>3</a:t>
            </a:r>
            <a:endParaRPr>
              <a:solidFill>
                <a:schemeClr val="dk1"/>
              </a:solidFill>
              <a:latin typeface="Calibri"/>
              <a:ea typeface="Calibri"/>
              <a:cs typeface="Calibri"/>
              <a:sym typeface="Calibri"/>
            </a:endParaRPr>
          </a:p>
        </p:txBody>
      </p:sp>
      <p:sp>
        <p:nvSpPr>
          <p:cNvPr id="251" name="Google Shape;251;p9"/>
          <p:cNvSpPr/>
          <p:nvPr/>
        </p:nvSpPr>
        <p:spPr>
          <a:xfrm>
            <a:off x="6749730" y="4405899"/>
            <a:ext cx="15588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450" b="1">
                <a:solidFill>
                  <a:srgbClr val="1A1A1A"/>
                </a:solidFill>
                <a:latin typeface="Arial"/>
                <a:ea typeface="Arial"/>
                <a:cs typeface="Arial"/>
                <a:sym typeface="Arial"/>
              </a:rPr>
              <a:t>自宅配送</a:t>
            </a:r>
            <a:endParaRPr sz="1450">
              <a:solidFill>
                <a:schemeClr val="dk1"/>
              </a:solidFill>
              <a:latin typeface="Calibri"/>
              <a:ea typeface="Calibri"/>
              <a:cs typeface="Calibri"/>
              <a:sym typeface="Calibri"/>
            </a:endParaRPr>
          </a:p>
        </p:txBody>
      </p:sp>
      <p:sp>
        <p:nvSpPr>
          <p:cNvPr id="252" name="Google Shape;252;p9"/>
          <p:cNvSpPr/>
          <p:nvPr/>
        </p:nvSpPr>
        <p:spPr>
          <a:xfrm>
            <a:off x="6540584" y="4823146"/>
            <a:ext cx="3109200" cy="585900"/>
          </a:xfrm>
          <a:prstGeom prst="rect">
            <a:avLst/>
          </a:prstGeom>
          <a:noFill/>
          <a:ln>
            <a:noFill/>
          </a:ln>
        </p:spPr>
        <p:txBody>
          <a:bodyPr spcFirstLastPara="1" wrap="square" lIns="0" tIns="0" rIns="0" bIns="0" anchor="t" anchorCtr="0">
            <a:noAutofit/>
          </a:bodyPr>
          <a:lstStyle/>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居住者がアプリで購入。</a:t>
            </a:r>
            <a:endParaRPr sz="1160">
              <a:solidFill>
                <a:srgbClr val="6E7378"/>
              </a:solidFill>
              <a:latin typeface="Arial"/>
              <a:ea typeface="Arial"/>
              <a:cs typeface="Arial"/>
              <a:sym typeface="Arial"/>
            </a:endParaRPr>
          </a:p>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定温のまま自宅セラーへ。</a:t>
            </a:r>
            <a:endParaRPr sz="1160">
              <a:solidFill>
                <a:srgbClr val="6E7378"/>
              </a:solidFill>
              <a:latin typeface="Arial"/>
              <a:ea typeface="Arial"/>
              <a:cs typeface="Arial"/>
              <a:sym typeface="Arial"/>
            </a:endParaRPr>
          </a:p>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4桁コードで受渡し。</a:t>
            </a:r>
            <a:endParaRPr sz="1160">
              <a:solidFill>
                <a:schemeClr val="dk1"/>
              </a:solidFill>
              <a:latin typeface="Calibri"/>
              <a:ea typeface="Calibri"/>
              <a:cs typeface="Calibri"/>
              <a:sym typeface="Calibri"/>
            </a:endParaRPr>
          </a:p>
        </p:txBody>
      </p:sp>
      <p:sp>
        <p:nvSpPr>
          <p:cNvPr id="253" name="Google Shape;253;p9"/>
          <p:cNvSpPr/>
          <p:nvPr/>
        </p:nvSpPr>
        <p:spPr>
          <a:xfrm>
            <a:off x="9015984" y="4341849"/>
            <a:ext cx="365700" cy="3657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54" name="Google Shape;254;p9"/>
          <p:cNvSpPr/>
          <p:nvPr/>
        </p:nvSpPr>
        <p:spPr>
          <a:xfrm>
            <a:off x="9015984" y="4341849"/>
            <a:ext cx="3657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b="1">
                <a:solidFill>
                  <a:srgbClr val="FFFFFF"/>
                </a:solidFill>
                <a:latin typeface="Calibri"/>
                <a:ea typeface="Calibri"/>
                <a:cs typeface="Calibri"/>
                <a:sym typeface="Calibri"/>
              </a:rPr>
              <a:t>4</a:t>
            </a:r>
            <a:endParaRPr>
              <a:solidFill>
                <a:schemeClr val="dk1"/>
              </a:solidFill>
              <a:latin typeface="Calibri"/>
              <a:ea typeface="Calibri"/>
              <a:cs typeface="Calibri"/>
              <a:sym typeface="Calibri"/>
            </a:endParaRPr>
          </a:p>
        </p:txBody>
      </p:sp>
      <p:sp>
        <p:nvSpPr>
          <p:cNvPr id="255" name="Google Shape;255;p9"/>
          <p:cNvSpPr/>
          <p:nvPr/>
        </p:nvSpPr>
        <p:spPr>
          <a:xfrm>
            <a:off x="9492937" y="4405899"/>
            <a:ext cx="26415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450" b="1">
                <a:solidFill>
                  <a:srgbClr val="1A1A1A"/>
                </a:solidFill>
                <a:latin typeface="Arial"/>
                <a:ea typeface="Arial"/>
                <a:cs typeface="Arial"/>
                <a:sym typeface="Arial"/>
              </a:rPr>
              <a:t>ターミナル</a:t>
            </a:r>
            <a:r>
              <a:rPr lang="en-US" sz="1450" b="1">
                <a:solidFill>
                  <a:srgbClr val="1A1A1A"/>
                </a:solidFill>
              </a:rPr>
              <a:t>※</a:t>
            </a:r>
            <a:r>
              <a:rPr lang="en-US" sz="1450" b="1">
                <a:solidFill>
                  <a:srgbClr val="1A1A1A"/>
                </a:solidFill>
                <a:latin typeface="Arial"/>
                <a:ea typeface="Arial"/>
                <a:cs typeface="Arial"/>
                <a:sym typeface="Arial"/>
              </a:rPr>
              <a:t>受取</a:t>
            </a:r>
            <a:endParaRPr sz="1450">
              <a:solidFill>
                <a:schemeClr val="dk1"/>
              </a:solidFill>
              <a:latin typeface="Calibri"/>
              <a:ea typeface="Calibri"/>
              <a:cs typeface="Calibri"/>
              <a:sym typeface="Calibri"/>
            </a:endParaRPr>
          </a:p>
        </p:txBody>
      </p:sp>
      <p:sp>
        <p:nvSpPr>
          <p:cNvPr id="256" name="Google Shape;256;p9"/>
          <p:cNvSpPr/>
          <p:nvPr/>
        </p:nvSpPr>
        <p:spPr>
          <a:xfrm>
            <a:off x="9234801" y="4823146"/>
            <a:ext cx="3109200" cy="585900"/>
          </a:xfrm>
          <a:prstGeom prst="rect">
            <a:avLst/>
          </a:prstGeom>
          <a:noFill/>
          <a:ln>
            <a:noFill/>
          </a:ln>
        </p:spPr>
        <p:txBody>
          <a:bodyPr spcFirstLastPara="1" wrap="square" lIns="0" tIns="0" rIns="0" bIns="0" anchor="t" anchorCtr="0">
            <a:noAutofit/>
          </a:bodyPr>
          <a:lstStyle/>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街区内拠点で好きな時間にピックアップ。</a:t>
            </a:r>
            <a:endParaRPr sz="1160">
              <a:solidFill>
                <a:srgbClr val="6E7378"/>
              </a:solidFill>
              <a:latin typeface="Arial"/>
              <a:ea typeface="Arial"/>
              <a:cs typeface="Arial"/>
              <a:sym typeface="Arial"/>
            </a:endParaRPr>
          </a:p>
          <a:p>
            <a:pPr marL="0" marR="0" lvl="0" indent="0" algn="l" rtl="0">
              <a:lnSpc>
                <a:spcPct val="135416"/>
              </a:lnSpc>
              <a:spcBef>
                <a:spcPts val="0"/>
              </a:spcBef>
              <a:spcAft>
                <a:spcPts val="0"/>
              </a:spcAft>
              <a:buClr>
                <a:srgbClr val="6E7378"/>
              </a:buClr>
              <a:buSzPts val="960"/>
              <a:buFont typeface="Arial"/>
              <a:buNone/>
            </a:pPr>
            <a:r>
              <a:rPr lang="en-US" sz="1160">
                <a:solidFill>
                  <a:srgbClr val="6E7378"/>
                </a:solidFill>
                <a:latin typeface="Arial"/>
                <a:ea typeface="Arial"/>
                <a:cs typeface="Arial"/>
                <a:sym typeface="Arial"/>
              </a:rPr>
              <a:t>帰宅動線で完結。</a:t>
            </a:r>
            <a:endParaRPr sz="1160">
              <a:solidFill>
                <a:schemeClr val="dk1"/>
              </a:solidFill>
              <a:latin typeface="Calibri"/>
              <a:ea typeface="Calibri"/>
              <a:cs typeface="Calibri"/>
              <a:sym typeface="Calibri"/>
            </a:endParaRPr>
          </a:p>
        </p:txBody>
      </p:sp>
      <p:sp>
        <p:nvSpPr>
          <p:cNvPr id="257" name="Google Shape;257;p9"/>
          <p:cNvSpPr/>
          <p:nvPr/>
        </p:nvSpPr>
        <p:spPr>
          <a:xfrm>
            <a:off x="7354550" y="5786063"/>
            <a:ext cx="46455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000"/>
              <a:buFont typeface="Arial"/>
              <a:buNone/>
            </a:pPr>
            <a:r>
              <a:rPr lang="en-US" sz="1300">
                <a:solidFill>
                  <a:srgbClr val="C55A11"/>
                </a:solidFill>
              </a:rPr>
              <a:t>※</a:t>
            </a:r>
            <a:r>
              <a:rPr lang="en-US" sz="1300">
                <a:solidFill>
                  <a:srgbClr val="C55A11"/>
                </a:solidFill>
                <a:latin typeface="Arial"/>
                <a:ea typeface="Arial"/>
                <a:cs typeface="Arial"/>
                <a:sym typeface="Arial"/>
              </a:rPr>
              <a:t>ターミナルは定温設備を備えた小規模スペース</a:t>
            </a:r>
            <a:r>
              <a:rPr lang="en-US" sz="1300">
                <a:solidFill>
                  <a:srgbClr val="C55A11"/>
                </a:solidFill>
              </a:rPr>
              <a:t>（2〜5坪）</a:t>
            </a:r>
            <a:endParaRPr sz="1300">
              <a:solidFill>
                <a:srgbClr val="C55A11"/>
              </a:solidFill>
            </a:endParaRPr>
          </a:p>
          <a:p>
            <a:pPr marL="0" marR="0" lvl="0" indent="0" algn="l" rtl="0">
              <a:spcBef>
                <a:spcPts val="0"/>
              </a:spcBef>
              <a:spcAft>
                <a:spcPts val="0"/>
              </a:spcAft>
              <a:buClr>
                <a:srgbClr val="6E7378"/>
              </a:buClr>
              <a:buSzPts val="1000"/>
              <a:buFont typeface="Arial"/>
              <a:buNone/>
            </a:pPr>
            <a:r>
              <a:rPr lang="en-US" sz="1300">
                <a:solidFill>
                  <a:srgbClr val="C55A11"/>
                </a:solidFill>
              </a:rPr>
              <a:t>　</a:t>
            </a:r>
            <a:r>
              <a:rPr lang="en-US" sz="1300">
                <a:solidFill>
                  <a:srgbClr val="C55A11"/>
                </a:solidFill>
                <a:latin typeface="Arial"/>
                <a:ea typeface="Arial"/>
                <a:cs typeface="Arial"/>
                <a:sym typeface="Arial"/>
              </a:rPr>
              <a:t>ヒルズ内に1拠点あれば、街区全体をカバーできます。</a:t>
            </a:r>
            <a:endParaRPr sz="1300">
              <a:solidFill>
                <a:srgbClr val="C55A11"/>
              </a:solidFill>
              <a:latin typeface="Calibri"/>
              <a:ea typeface="Calibri"/>
              <a:cs typeface="Calibri"/>
              <a:sym typeface="Calibri"/>
            </a:endParaRPr>
          </a:p>
        </p:txBody>
      </p:sp>
      <p:grpSp>
        <p:nvGrpSpPr>
          <p:cNvPr id="258" name="Google Shape;258;p9"/>
          <p:cNvGrpSpPr/>
          <p:nvPr/>
        </p:nvGrpSpPr>
        <p:grpSpPr>
          <a:xfrm>
            <a:off x="0" y="419025"/>
            <a:ext cx="1029900" cy="585888"/>
            <a:chOff x="0" y="419025"/>
            <a:chExt cx="1029900" cy="585888"/>
          </a:xfrm>
        </p:grpSpPr>
        <p:sp>
          <p:nvSpPr>
            <p:cNvPr id="259" name="Google Shape;259;p9"/>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9"/>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a:t>
              </a:r>
              <a:r>
                <a:rPr lang="en-US" sz="2200" b="1">
                  <a:solidFill>
                    <a:srgbClr val="FFFFFF"/>
                  </a:solidFill>
                </a:rPr>
                <a:t>2</a:t>
              </a:r>
              <a:endParaRPr sz="2200">
                <a:solidFill>
                  <a:schemeClr val="dk1"/>
                </a:solidFill>
                <a:latin typeface="Calibri"/>
                <a:ea typeface="Calibri"/>
                <a:cs typeface="Calibri"/>
                <a:sym typeface="Calibri"/>
              </a:endParaRPr>
            </a:p>
          </p:txBody>
        </p:sp>
      </p:grpSp>
      <p:sp>
        <p:nvSpPr>
          <p:cNvPr id="261" name="Google Shape;261;p9"/>
          <p:cNvSpPr/>
          <p:nvPr/>
        </p:nvSpPr>
        <p:spPr>
          <a:xfrm>
            <a:off x="4820950" y="1715000"/>
            <a:ext cx="2242500" cy="1546200"/>
          </a:xfrm>
          <a:prstGeom prst="ellipse">
            <a:avLst/>
          </a:prstGeom>
          <a:solidFill>
            <a:srgbClr val="B972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2" name="Google Shape;262;p9"/>
          <p:cNvSpPr/>
          <p:nvPr/>
        </p:nvSpPr>
        <p:spPr>
          <a:xfrm>
            <a:off x="4643800" y="2261600"/>
            <a:ext cx="2596800" cy="420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500"/>
              <a:buFont typeface="Arial"/>
              <a:buNone/>
            </a:pPr>
            <a:r>
              <a:rPr lang="en-US" sz="1500" b="1">
                <a:solidFill>
                  <a:schemeClr val="lt1"/>
                </a:solidFill>
              </a:rPr>
              <a:t>Cloud Wine Cave</a:t>
            </a:r>
            <a:endParaRPr sz="1500" b="1">
              <a:solidFill>
                <a:schemeClr val="lt1"/>
              </a:solidFill>
            </a:endParaRPr>
          </a:p>
          <a:p>
            <a:pPr marL="0" marR="0" lvl="0" indent="0" algn="ctr" rtl="0">
              <a:spcBef>
                <a:spcPts val="0"/>
              </a:spcBef>
              <a:spcAft>
                <a:spcPts val="0"/>
              </a:spcAft>
              <a:buClr>
                <a:srgbClr val="1A1A1A"/>
              </a:buClr>
              <a:buSzPts val="1500"/>
              <a:buFont typeface="Arial"/>
              <a:buNone/>
            </a:pPr>
            <a:r>
              <a:rPr lang="en-US" sz="1500" b="1">
                <a:solidFill>
                  <a:schemeClr val="lt1"/>
                </a:solidFill>
              </a:rPr>
              <a:t>との併用で</a:t>
            </a:r>
            <a:endParaRPr sz="1500" b="1">
              <a:solidFill>
                <a:schemeClr val="lt1"/>
              </a:solidFill>
            </a:endParaRPr>
          </a:p>
          <a:p>
            <a:pPr marL="0" marR="0" lvl="0" indent="0" algn="ctr" rtl="0">
              <a:spcBef>
                <a:spcPts val="0"/>
              </a:spcBef>
              <a:spcAft>
                <a:spcPts val="0"/>
              </a:spcAft>
              <a:buClr>
                <a:srgbClr val="1A1A1A"/>
              </a:buClr>
              <a:buSzPts val="1500"/>
              <a:buFont typeface="Arial"/>
              <a:buNone/>
            </a:pPr>
            <a:r>
              <a:rPr lang="en-US" sz="1500" b="1">
                <a:solidFill>
                  <a:schemeClr val="lt1"/>
                </a:solidFill>
              </a:rPr>
              <a:t>シナジーを発揮</a:t>
            </a:r>
            <a:endParaRPr sz="1500" b="1">
              <a:solidFill>
                <a:schemeClr val="lt1"/>
              </a:solidFill>
            </a:endParaRPr>
          </a:p>
        </p:txBody>
      </p:sp>
      <p:cxnSp>
        <p:nvCxnSpPr>
          <p:cNvPr id="263" name="Google Shape;263;p9"/>
          <p:cNvCxnSpPr/>
          <p:nvPr/>
        </p:nvCxnSpPr>
        <p:spPr>
          <a:xfrm>
            <a:off x="488700" y="3967675"/>
            <a:ext cx="11214600" cy="0"/>
          </a:xfrm>
          <a:prstGeom prst="straightConnector1">
            <a:avLst/>
          </a:prstGeom>
          <a:noFill/>
          <a:ln w="9525" cap="flat" cmpd="sng">
            <a:solidFill>
              <a:schemeClr val="dk2"/>
            </a:solidFill>
            <a:prstDash val="solid"/>
            <a:round/>
            <a:headEnd type="none" w="med" len="med"/>
            <a:tailEnd type="none" w="med" len="med"/>
          </a:ln>
        </p:spPr>
      </p:cxnSp>
      <p:sp>
        <p:nvSpPr>
          <p:cNvPr id="264" name="Google Shape;264;p9"/>
          <p:cNvSpPr/>
          <p:nvPr/>
        </p:nvSpPr>
        <p:spPr>
          <a:xfrm>
            <a:off x="4890150" y="3839087"/>
            <a:ext cx="2411700" cy="274200"/>
          </a:xfrm>
          <a:prstGeom prst="rect">
            <a:avLst/>
          </a:prstGeom>
          <a:solidFill>
            <a:schemeClr val="lt1"/>
          </a:solid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ヒルズでの4つの使い方</a:t>
            </a:r>
            <a:endParaRPr sz="15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9"/>
        <p:cNvGrpSpPr/>
        <p:nvPr/>
      </p:nvGrpSpPr>
      <p:grpSpPr>
        <a:xfrm>
          <a:off x="0" y="0"/>
          <a:ext cx="0" cy="0"/>
          <a:chOff x="0" y="0"/>
          <a:chExt cx="0" cy="0"/>
        </a:xfrm>
      </p:grpSpPr>
      <p:pic>
        <p:nvPicPr>
          <p:cNvPr id="270" name="Google Shape;270;p11"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271" name="Google Shape;271;p11"/>
          <p:cNvSpPr/>
          <p:nvPr/>
        </p:nvSpPr>
        <p:spPr>
          <a:xfrm>
            <a:off x="1173806" y="585216"/>
            <a:ext cx="89790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WineBank CLUB ─ </a:t>
            </a:r>
            <a:r>
              <a:rPr lang="en-US" sz="2300" b="1">
                <a:solidFill>
                  <a:srgbClr val="1A1A1A"/>
                </a:solidFill>
              </a:rPr>
              <a:t>Hills</a:t>
            </a:r>
            <a:r>
              <a:rPr lang="en-US" sz="2300" b="1">
                <a:solidFill>
                  <a:srgbClr val="1A1A1A"/>
                </a:solidFill>
                <a:latin typeface="Arial"/>
                <a:ea typeface="Arial"/>
                <a:cs typeface="Arial"/>
                <a:sym typeface="Arial"/>
              </a:rPr>
              <a:t>オーダーメイドプラン</a:t>
            </a:r>
            <a:endParaRPr sz="2300">
              <a:solidFill>
                <a:schemeClr val="dk1"/>
              </a:solidFill>
              <a:latin typeface="Calibri"/>
              <a:ea typeface="Calibri"/>
              <a:cs typeface="Calibri"/>
              <a:sym typeface="Calibri"/>
            </a:endParaRPr>
          </a:p>
        </p:txBody>
      </p:sp>
      <p:sp>
        <p:nvSpPr>
          <p:cNvPr id="272" name="Google Shape;272;p11"/>
          <p:cNvSpPr/>
          <p:nvPr/>
        </p:nvSpPr>
        <p:spPr>
          <a:xfrm>
            <a:off x="1176526" y="1100325"/>
            <a:ext cx="7961100" cy="310800"/>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rPr>
              <a:t>ワインを飲んで楽しむための月額制メンバーシップクラブ</a:t>
            </a:r>
            <a:endParaRPr sz="1150">
              <a:solidFill>
                <a:schemeClr val="dk1"/>
              </a:solidFill>
              <a:latin typeface="Calibri"/>
              <a:ea typeface="Calibri"/>
              <a:cs typeface="Calibri"/>
              <a:sym typeface="Calibri"/>
            </a:endParaRPr>
          </a:p>
        </p:txBody>
      </p:sp>
      <p:sp>
        <p:nvSpPr>
          <p:cNvPr id="273" name="Google Shape;273;p11"/>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1"/>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graphicFrame>
        <p:nvGraphicFramePr>
          <p:cNvPr id="275" name="Google Shape;275;p11"/>
          <p:cNvGraphicFramePr/>
          <p:nvPr/>
        </p:nvGraphicFramePr>
        <p:xfrm>
          <a:off x="561613" y="1615440"/>
          <a:ext cx="3000000" cy="3000000"/>
        </p:xfrm>
        <a:graphic>
          <a:graphicData uri="http://schemas.openxmlformats.org/drawingml/2006/table">
            <a:tbl>
              <a:tblPr>
                <a:noFill/>
                <a:tableStyleId>{6F095D70-C01B-41C2-B289-87E81EBF8A4A}</a:tableStyleId>
              </a:tblPr>
              <a:tblGrid>
                <a:gridCol w="1855275">
                  <a:extLst>
                    <a:ext uri="{9D8B030D-6E8A-4147-A177-3AD203B41FA5}">
                      <a16:colId xmlns:a16="http://schemas.microsoft.com/office/drawing/2014/main" val="20000"/>
                    </a:ext>
                  </a:extLst>
                </a:gridCol>
                <a:gridCol w="4061825">
                  <a:extLst>
                    <a:ext uri="{9D8B030D-6E8A-4147-A177-3AD203B41FA5}">
                      <a16:colId xmlns:a16="http://schemas.microsoft.com/office/drawing/2014/main" val="20001"/>
                    </a:ext>
                  </a:extLst>
                </a:gridCol>
                <a:gridCol w="4299675">
                  <a:extLst>
                    <a:ext uri="{9D8B030D-6E8A-4147-A177-3AD203B41FA5}">
                      <a16:colId xmlns:a16="http://schemas.microsoft.com/office/drawing/2014/main" val="20002"/>
                    </a:ext>
                  </a:extLst>
                </a:gridCol>
              </a:tblGrid>
              <a:tr h="452025">
                <a:tc>
                  <a:txBody>
                    <a:bodyPr/>
                    <a:lstStyle/>
                    <a:p>
                      <a:pPr marL="0" marR="0" lvl="0" indent="0" algn="ctr" rtl="0">
                        <a:spcBef>
                          <a:spcPts val="0"/>
                        </a:spcBef>
                        <a:spcAft>
                          <a:spcPts val="0"/>
                        </a:spcAft>
                        <a:buClr>
                          <a:srgbClr val="1A1A1A"/>
                        </a:buClr>
                        <a:buSzPts val="960"/>
                        <a:buFont typeface="Arial"/>
                        <a:buNone/>
                      </a:pPr>
                      <a:r>
                        <a:rPr lang="en-US" sz="1300" b="1" u="none" strike="noStrike" cap="none">
                          <a:solidFill>
                            <a:schemeClr val="lt1"/>
                          </a:solidFill>
                        </a:rPr>
                        <a:t>項目</a:t>
                      </a:r>
                      <a:endParaRPr sz="1300" b="1" u="none" strike="noStrike" cap="none">
                        <a:solidFill>
                          <a:schemeClr val="lt1"/>
                        </a:solidFil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solidFill>
                      <a:srgbClr val="2F3941"/>
                    </a:solidFill>
                  </a:tcPr>
                </a:tc>
                <a:tc>
                  <a:txBody>
                    <a:bodyPr/>
                    <a:lstStyle/>
                    <a:p>
                      <a:pPr marL="0" marR="0" lvl="0" indent="0" algn="ctr" rtl="0">
                        <a:spcBef>
                          <a:spcPts val="0"/>
                        </a:spcBef>
                        <a:spcAft>
                          <a:spcPts val="0"/>
                        </a:spcAft>
                        <a:buClr>
                          <a:srgbClr val="1A1A1A"/>
                        </a:buClr>
                        <a:buSzPts val="960"/>
                        <a:buFont typeface="Arial"/>
                        <a:buNone/>
                      </a:pPr>
                      <a:r>
                        <a:rPr lang="en-US" sz="1300" b="1" u="none" strike="noStrike" cap="none">
                          <a:solidFill>
                            <a:schemeClr val="lt1"/>
                          </a:solidFill>
                        </a:rPr>
                        <a:t>通常の WineBank CLUB</a:t>
                      </a:r>
                      <a:endParaRPr sz="1300" b="1" u="none" strike="noStrike" cap="none">
                        <a:solidFill>
                          <a:schemeClr val="lt1"/>
                        </a:solidFil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solidFill>
                      <a:srgbClr val="2F3941"/>
                    </a:solidFill>
                  </a:tcPr>
                </a:tc>
                <a:tc>
                  <a:txBody>
                    <a:bodyPr/>
                    <a:lstStyle/>
                    <a:p>
                      <a:pPr marL="0" marR="0" lvl="0" indent="0" algn="ctr" rtl="0">
                        <a:spcBef>
                          <a:spcPts val="0"/>
                        </a:spcBef>
                        <a:spcAft>
                          <a:spcPts val="0"/>
                        </a:spcAft>
                        <a:buClr>
                          <a:srgbClr val="1A1A1A"/>
                        </a:buClr>
                        <a:buSzPts val="960"/>
                        <a:buFont typeface="Arial"/>
                        <a:buNone/>
                      </a:pPr>
                      <a:r>
                        <a:rPr lang="en-US" sz="1500" b="1" u="none" strike="noStrike" cap="none">
                          <a:solidFill>
                            <a:schemeClr val="lt1"/>
                          </a:solidFill>
                        </a:rPr>
                        <a:t>Hills WineBank CLUB（ご提案）</a:t>
                      </a:r>
                      <a:endParaRPr sz="1500" b="1" u="none" strike="noStrike" cap="none">
                        <a:solidFill>
                          <a:schemeClr val="lt1"/>
                        </a:solidFil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solidFill>
                      <a:srgbClr val="B97145"/>
                    </a:solidFill>
                  </a:tcPr>
                </a:tc>
                <a:extLst>
                  <a:ext uri="{0D108BD9-81ED-4DB2-BD59-A6C34878D82A}">
                    <a16:rowId xmlns:a16="http://schemas.microsoft.com/office/drawing/2014/main" val="10000"/>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対象</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一般個人</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ヒルズのテナント法人・レジデンス居住者</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1"/>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会費</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月会費 8,800円〜</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ヒルズ枠として特別設定。法人は人数枠課金</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2"/>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レストラン</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ワインが仕入れ</a:t>
                      </a:r>
                      <a:r>
                        <a:rPr lang="en-US" sz="1100">
                          <a:solidFill>
                            <a:srgbClr val="1A1A1A"/>
                          </a:solidFill>
                        </a:rPr>
                        <a:t>価格</a:t>
                      </a:r>
                      <a:r>
                        <a:rPr lang="en-US" sz="1100" u="none" strike="noStrike" cap="none">
                          <a:solidFill>
                            <a:srgbClr val="1A1A1A"/>
                          </a:solidFill>
                          <a:latin typeface="Arial"/>
                          <a:ea typeface="Arial"/>
                          <a:cs typeface="Arial"/>
                          <a:sym typeface="Arial"/>
                        </a:rPr>
                        <a:t>相当（約半額）</a:t>
                      </a:r>
                      <a:endParaRPr sz="1100">
                        <a:solidFill>
                          <a:srgbClr val="1A1A1A"/>
                        </a:solidFill>
                      </a:endParaRPr>
                    </a:p>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提携</a:t>
                      </a:r>
                      <a:r>
                        <a:rPr lang="en-US" sz="1100">
                          <a:solidFill>
                            <a:srgbClr val="1A1A1A"/>
                          </a:solidFill>
                        </a:rPr>
                        <a:t>7店舗</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館内の対象店を追加。同伴者も同特典</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3"/>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コルケージ</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提携店</a:t>
                      </a:r>
                      <a:r>
                        <a:rPr lang="en-US" sz="1100">
                          <a:solidFill>
                            <a:srgbClr val="1A1A1A"/>
                          </a:solidFill>
                        </a:rPr>
                        <a:t>で</a:t>
                      </a:r>
                      <a:r>
                        <a:rPr lang="en-US" sz="1100" u="none" strike="noStrike" cap="none">
                          <a:solidFill>
                            <a:srgbClr val="1A1A1A"/>
                          </a:solidFill>
                          <a:latin typeface="Arial"/>
                          <a:ea typeface="Arial"/>
                          <a:cs typeface="Arial"/>
                          <a:sym typeface="Arial"/>
                        </a:rPr>
                        <a:t>のBYO無料</a:t>
                      </a:r>
                      <a:endParaRPr sz="1100" u="none" strike="noStrike" cap="none">
                        <a:solidFill>
                          <a:srgbClr val="1A1A1A"/>
                        </a:solidFill>
                        <a:latin typeface="Arial"/>
                        <a:ea typeface="Arial"/>
                        <a:cs typeface="Arial"/>
                        <a:sym typeface="Arial"/>
                      </a:endParaRPr>
                    </a:p>
                    <a:p>
                      <a:pPr marL="0" marR="0" lvl="0" indent="0" algn="l" rtl="0">
                        <a:spcBef>
                          <a:spcPts val="0"/>
                        </a:spcBef>
                        <a:spcAft>
                          <a:spcPts val="0"/>
                        </a:spcAft>
                        <a:buClr>
                          <a:srgbClr val="1A1A1A"/>
                        </a:buClr>
                        <a:buSzPts val="960"/>
                        <a:buFont typeface="Arial"/>
                        <a:buNone/>
                      </a:pPr>
                      <a:r>
                        <a:rPr lang="en-US" sz="1100">
                          <a:solidFill>
                            <a:srgbClr val="1A1A1A"/>
                          </a:solidFill>
                        </a:rPr>
                        <a:t>WineGOで購入した場合は最短5分で「手ぶらBYO」</a:t>
                      </a:r>
                      <a:endParaRPr sz="1100" b="1">
                        <a:solidFill>
                          <a:srgbClr val="1A1A1A"/>
                        </a:solidFil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館内対象店を追加。会食先への事前配送込み</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4"/>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配送</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月1〜2回無料</a:t>
                      </a:r>
                      <a:endParaRPr sz="1100" u="none" strike="noStrike" cap="none">
                        <a:solidFill>
                          <a:srgbClr val="1A1A1A"/>
                        </a:solidFill>
                        <a:latin typeface="Arial"/>
                        <a:ea typeface="Arial"/>
                        <a:cs typeface="Arial"/>
                        <a:sym typeface="Arial"/>
                      </a:endParaRPr>
                    </a:p>
                    <a:p>
                      <a:pPr marL="0" marR="0" lvl="0" indent="0" algn="l" rtl="0">
                        <a:spcBef>
                          <a:spcPts val="0"/>
                        </a:spcBef>
                        <a:spcAft>
                          <a:spcPts val="0"/>
                        </a:spcAft>
                        <a:buClr>
                          <a:srgbClr val="1A1A1A"/>
                        </a:buClr>
                        <a:buSzPts val="960"/>
                        <a:buFont typeface="Arial"/>
                        <a:buNone/>
                      </a:pPr>
                      <a:r>
                        <a:rPr lang="en-US" sz="1100">
                          <a:solidFill>
                            <a:srgbClr val="1A1A1A"/>
                          </a:solidFill>
                        </a:rPr>
                        <a:t>都心はWineGOで当日デリバリー</a:t>
                      </a:r>
                      <a:endParaRPr sz="1100">
                        <a:solidFill>
                          <a:srgbClr val="1A1A1A"/>
                        </a:solidFil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館内ストレージ開設後は即日・回数を拡大</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5"/>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ワイン購入</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ネット最安値水準</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Cloud Wine Cave を卸値×1.1〜1.3で利用</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6"/>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受渡し</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自宅・会食先へ配送</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住宅棟共用部のプライベートセラーで受渡し</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7"/>
                  </a:ext>
                </a:extLst>
              </a:tr>
              <a:tr h="452025">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入会窓口</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u="none" strike="noStrike" cap="none">
                          <a:solidFill>
                            <a:srgbClr val="1A1A1A"/>
                          </a:solidFill>
                          <a:latin typeface="Arial"/>
                          <a:ea typeface="Arial"/>
                          <a:cs typeface="Arial"/>
                          <a:sym typeface="Arial"/>
                        </a:rPr>
                        <a:t>当社EC・会員紹介</a:t>
                      </a:r>
                      <a:endParaRPr sz="110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60"/>
                        <a:buFont typeface="Arial"/>
                        <a:buNone/>
                      </a:pPr>
                      <a:r>
                        <a:rPr lang="en-US" sz="1100" b="1" u="none" strike="noStrike" cap="none">
                          <a:solidFill>
                            <a:srgbClr val="1A1A1A"/>
                          </a:solidFill>
                        </a:rPr>
                        <a:t>レジデンスコンシェルジュ／テナント総務経由</a:t>
                      </a:r>
                      <a:endParaRPr sz="1100" b="1" u="none" strike="noStrike" cap="none"/>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276" name="Google Shape;276;p11"/>
          <p:cNvSpPr/>
          <p:nvPr/>
        </p:nvSpPr>
        <p:spPr>
          <a:xfrm>
            <a:off x="10086900" y="2319098"/>
            <a:ext cx="1882800" cy="3065100"/>
          </a:xfrm>
          <a:prstGeom prst="roundRect">
            <a:avLst>
              <a:gd name="adj" fmla="val 2427"/>
            </a:avLst>
          </a:prstGeom>
          <a:solidFill>
            <a:srgbClr val="EFDC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p:nvPr/>
        </p:nvSpPr>
        <p:spPr>
          <a:xfrm>
            <a:off x="10132623" y="2442150"/>
            <a:ext cx="17886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300"/>
              <a:buFont typeface="Arial"/>
              <a:buNone/>
            </a:pPr>
            <a:r>
              <a:rPr lang="en-US" sz="1100" b="1">
                <a:solidFill>
                  <a:srgbClr val="1A1A1A"/>
                </a:solidFill>
                <a:latin typeface="Arial"/>
                <a:ea typeface="Arial"/>
                <a:cs typeface="Arial"/>
                <a:sym typeface="Arial"/>
              </a:rPr>
              <a:t>オーダーメイドの考え方</a:t>
            </a:r>
            <a:endParaRPr sz="1100">
              <a:solidFill>
                <a:schemeClr val="dk1"/>
              </a:solidFill>
              <a:latin typeface="Calibri"/>
              <a:ea typeface="Calibri"/>
              <a:cs typeface="Calibri"/>
              <a:sym typeface="Calibri"/>
            </a:endParaRPr>
          </a:p>
        </p:txBody>
      </p:sp>
      <p:sp>
        <p:nvSpPr>
          <p:cNvPr id="278" name="Google Shape;278;p11"/>
          <p:cNvSpPr/>
          <p:nvPr/>
        </p:nvSpPr>
        <p:spPr>
          <a:xfrm>
            <a:off x="10147625" y="2751014"/>
            <a:ext cx="1788600" cy="2217600"/>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None/>
            </a:pPr>
            <a:r>
              <a:rPr lang="en-US" sz="980">
                <a:solidFill>
                  <a:srgbClr val="1A1A1A"/>
                </a:solidFill>
                <a:latin typeface="Arial"/>
                <a:ea typeface="Arial"/>
                <a:cs typeface="Arial"/>
                <a:sym typeface="Arial"/>
              </a:rPr>
              <a:t>Hills Club・アカデミーヒルズ等の既存会員組織と機能が重複しない設計に</a:t>
            </a:r>
            <a:r>
              <a:rPr lang="en-US" sz="980">
                <a:solidFill>
                  <a:srgbClr val="1A1A1A"/>
                </a:solidFill>
              </a:rPr>
              <a:t>。</a:t>
            </a:r>
            <a:endParaRPr sz="980">
              <a:solidFill>
                <a:srgbClr val="1A1A1A"/>
              </a:solidFill>
            </a:endParaRPr>
          </a:p>
          <a:p>
            <a:pPr marL="0" marR="0" lvl="0" indent="0" algn="l" rtl="0">
              <a:lnSpc>
                <a:spcPct val="137755"/>
              </a:lnSpc>
              <a:spcBef>
                <a:spcPts val="0"/>
              </a:spcBef>
              <a:spcAft>
                <a:spcPts val="0"/>
              </a:spcAft>
              <a:buNone/>
            </a:pPr>
            <a:endParaRPr sz="980">
              <a:solidFill>
                <a:srgbClr val="1A1A1A"/>
              </a:solidFill>
            </a:endParaRPr>
          </a:p>
          <a:p>
            <a:pPr marL="0" marR="0" lvl="0" indent="0" algn="l" rtl="0">
              <a:lnSpc>
                <a:spcPct val="137755"/>
              </a:lnSpc>
              <a:spcBef>
                <a:spcPts val="0"/>
              </a:spcBef>
              <a:spcAft>
                <a:spcPts val="0"/>
              </a:spcAft>
              <a:buNone/>
            </a:pPr>
            <a:r>
              <a:rPr lang="en-US" sz="980">
                <a:solidFill>
                  <a:srgbClr val="1A1A1A"/>
                </a:solidFill>
                <a:latin typeface="Arial"/>
                <a:ea typeface="Arial"/>
                <a:cs typeface="Arial"/>
                <a:sym typeface="Arial"/>
              </a:rPr>
              <a:t>特典は「館内で完結するもの」を優先。</a:t>
            </a:r>
            <a:endParaRPr sz="980">
              <a:solidFill>
                <a:schemeClr val="dk1"/>
              </a:solidFill>
              <a:latin typeface="Calibri"/>
              <a:ea typeface="Calibri"/>
              <a:cs typeface="Calibri"/>
              <a:sym typeface="Calibri"/>
            </a:endParaRPr>
          </a:p>
          <a:p>
            <a:pPr marL="0" marR="0" lvl="0" indent="0" algn="l" rtl="0">
              <a:lnSpc>
                <a:spcPct val="137755"/>
              </a:lnSpc>
              <a:spcBef>
                <a:spcPts val="0"/>
              </a:spcBef>
              <a:spcAft>
                <a:spcPts val="0"/>
              </a:spcAft>
              <a:buNone/>
            </a:pPr>
            <a:endParaRPr sz="980">
              <a:solidFill>
                <a:schemeClr val="dk1"/>
              </a:solidFill>
              <a:latin typeface="Calibri"/>
              <a:ea typeface="Calibri"/>
              <a:cs typeface="Calibri"/>
              <a:sym typeface="Calibri"/>
            </a:endParaRPr>
          </a:p>
          <a:p>
            <a:pPr marL="0" marR="0" lvl="0" indent="0" algn="l" rtl="0">
              <a:lnSpc>
                <a:spcPct val="137755"/>
              </a:lnSpc>
              <a:spcBef>
                <a:spcPts val="0"/>
              </a:spcBef>
              <a:spcAft>
                <a:spcPts val="0"/>
              </a:spcAft>
              <a:buNone/>
            </a:pPr>
            <a:r>
              <a:rPr lang="en-US" sz="980">
                <a:solidFill>
                  <a:srgbClr val="1A1A1A"/>
                </a:solidFill>
                <a:latin typeface="Arial"/>
                <a:ea typeface="Arial"/>
                <a:cs typeface="Arial"/>
                <a:sym typeface="Arial"/>
              </a:rPr>
              <a:t>テナント法人は総務経由の一括契約とし、個人手続きを増やさない。</a:t>
            </a:r>
            <a:endParaRPr sz="980">
              <a:solidFill>
                <a:schemeClr val="dk1"/>
              </a:solidFill>
              <a:latin typeface="Calibri"/>
              <a:ea typeface="Calibri"/>
              <a:cs typeface="Calibri"/>
              <a:sym typeface="Calibri"/>
            </a:endParaRPr>
          </a:p>
        </p:txBody>
      </p:sp>
      <p:sp>
        <p:nvSpPr>
          <p:cNvPr id="279" name="Google Shape;279;p11"/>
          <p:cNvSpPr/>
          <p:nvPr/>
        </p:nvSpPr>
        <p:spPr>
          <a:xfrm>
            <a:off x="566928" y="5808084"/>
            <a:ext cx="10972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60"/>
              <a:buFont typeface="Arial"/>
              <a:buNone/>
            </a:pPr>
            <a:r>
              <a:rPr lang="en-US" sz="1060">
                <a:solidFill>
                  <a:srgbClr val="6E7378"/>
                </a:solidFill>
                <a:latin typeface="Arial"/>
                <a:ea typeface="Arial"/>
                <a:cs typeface="Arial"/>
                <a:sym typeface="Arial"/>
              </a:rPr>
              <a:t>会費・特典水準は、対象人数と館内対象店の範囲が決まった段階で確定させていただきます。特典の相当額の考え方は Appendix に記載しています。</a:t>
            </a:r>
            <a:endParaRPr sz="1060">
              <a:solidFill>
                <a:schemeClr val="dk1"/>
              </a:solidFill>
              <a:latin typeface="Calibri"/>
              <a:ea typeface="Calibri"/>
              <a:cs typeface="Calibri"/>
              <a:sym typeface="Calibri"/>
            </a:endParaRPr>
          </a:p>
        </p:txBody>
      </p:sp>
      <p:grpSp>
        <p:nvGrpSpPr>
          <p:cNvPr id="280" name="Google Shape;280;p11"/>
          <p:cNvGrpSpPr/>
          <p:nvPr/>
        </p:nvGrpSpPr>
        <p:grpSpPr>
          <a:xfrm>
            <a:off x="0" y="419025"/>
            <a:ext cx="1029900" cy="585888"/>
            <a:chOff x="0" y="419025"/>
            <a:chExt cx="1029900" cy="585888"/>
          </a:xfrm>
        </p:grpSpPr>
        <p:sp>
          <p:nvSpPr>
            <p:cNvPr id="281" name="Google Shape;281;p11"/>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2" name="Google Shape;282;p11"/>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a:t>
              </a:r>
              <a:r>
                <a:rPr lang="en-US" sz="2200" b="1">
                  <a:solidFill>
                    <a:srgbClr val="FFFFFF"/>
                  </a:solidFill>
                </a:rPr>
                <a:t>3</a:t>
              </a:r>
              <a:endParaRPr sz="2200">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7"/>
        <p:cNvGrpSpPr/>
        <p:nvPr/>
      </p:nvGrpSpPr>
      <p:grpSpPr>
        <a:xfrm>
          <a:off x="0" y="0"/>
          <a:ext cx="0" cy="0"/>
          <a:chOff x="0" y="0"/>
          <a:chExt cx="0" cy="0"/>
        </a:xfrm>
      </p:grpSpPr>
      <p:pic>
        <p:nvPicPr>
          <p:cNvPr id="288" name="Google Shape;288;p12"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289" name="Google Shape;289;p12"/>
          <p:cNvSpPr/>
          <p:nvPr/>
        </p:nvSpPr>
        <p:spPr>
          <a:xfrm>
            <a:off x="1173806" y="585216"/>
            <a:ext cx="89790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クラウドワインセラー出店（商業区画）</a:t>
            </a:r>
            <a:endParaRPr sz="2300">
              <a:solidFill>
                <a:schemeClr val="dk1"/>
              </a:solidFill>
              <a:latin typeface="Calibri"/>
              <a:ea typeface="Calibri"/>
              <a:cs typeface="Calibri"/>
              <a:sym typeface="Calibri"/>
            </a:endParaRPr>
          </a:p>
        </p:txBody>
      </p:sp>
      <p:sp>
        <p:nvSpPr>
          <p:cNvPr id="290" name="Google Shape;290;p12"/>
          <p:cNvSpPr/>
          <p:nvPr/>
        </p:nvSpPr>
        <p:spPr>
          <a:xfrm>
            <a:off x="1100325" y="1024125"/>
            <a:ext cx="9724800" cy="310800"/>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『大型ウォークインワインセラーを目玉とした、セラー在庫共有型フードホール』。Cloud Wine Caveを街の風景として可視化。</a:t>
            </a:r>
            <a:endParaRPr sz="1150">
              <a:solidFill>
                <a:schemeClr val="dk1"/>
              </a:solidFill>
              <a:latin typeface="Calibri"/>
              <a:ea typeface="Calibri"/>
              <a:cs typeface="Calibri"/>
              <a:sym typeface="Calibri"/>
            </a:endParaRPr>
          </a:p>
        </p:txBody>
      </p:sp>
      <p:sp>
        <p:nvSpPr>
          <p:cNvPr id="291" name="Google Shape;291;p12"/>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2"/>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293" name="Google Shape;293;p12"/>
          <p:cNvSpPr/>
          <p:nvPr/>
        </p:nvSpPr>
        <p:spPr>
          <a:xfrm>
            <a:off x="566928" y="1481328"/>
            <a:ext cx="3503066" cy="1591056"/>
          </a:xfrm>
          <a:prstGeom prst="roundRect">
            <a:avLst>
              <a:gd name="adj" fmla="val 0"/>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2"/>
          <p:cNvSpPr/>
          <p:nvPr/>
        </p:nvSpPr>
        <p:spPr>
          <a:xfrm>
            <a:off x="804672" y="1682496"/>
            <a:ext cx="402336" cy="402336"/>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2"/>
          <p:cNvSpPr/>
          <p:nvPr/>
        </p:nvSpPr>
        <p:spPr>
          <a:xfrm>
            <a:off x="804672" y="168249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01</a:t>
            </a:r>
            <a:endParaRPr sz="1100">
              <a:solidFill>
                <a:schemeClr val="dk1"/>
              </a:solidFill>
              <a:latin typeface="Calibri"/>
              <a:ea typeface="Calibri"/>
              <a:cs typeface="Calibri"/>
              <a:sym typeface="Calibri"/>
            </a:endParaRPr>
          </a:p>
        </p:txBody>
      </p:sp>
      <p:sp>
        <p:nvSpPr>
          <p:cNvPr id="296" name="Google Shape;296;p12"/>
          <p:cNvSpPr/>
          <p:nvPr/>
        </p:nvSpPr>
        <p:spPr>
          <a:xfrm>
            <a:off x="1298448" y="1645920"/>
            <a:ext cx="2533802"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350" b="1">
                <a:solidFill>
                  <a:srgbClr val="1A1A1A"/>
                </a:solidFill>
                <a:latin typeface="Arial"/>
                <a:ea typeface="Arial"/>
                <a:cs typeface="Arial"/>
                <a:sym typeface="Arial"/>
              </a:rPr>
              <a:t>360度の大型ウォークインセラー</a:t>
            </a:r>
            <a:endParaRPr sz="1350">
              <a:solidFill>
                <a:schemeClr val="dk1"/>
              </a:solidFill>
              <a:latin typeface="Calibri"/>
              <a:ea typeface="Calibri"/>
              <a:cs typeface="Calibri"/>
              <a:sym typeface="Calibri"/>
            </a:endParaRPr>
          </a:p>
        </p:txBody>
      </p:sp>
      <p:sp>
        <p:nvSpPr>
          <p:cNvPr id="297" name="Google Shape;297;p12"/>
          <p:cNvSpPr/>
          <p:nvPr/>
        </p:nvSpPr>
        <p:spPr>
          <a:xfrm>
            <a:off x="804672" y="2231136"/>
            <a:ext cx="3027578" cy="658368"/>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200">
                <a:solidFill>
                  <a:srgbClr val="1A1A1A"/>
                </a:solidFill>
                <a:latin typeface="Arial"/>
                <a:ea typeface="Arial"/>
                <a:cs typeface="Arial"/>
                <a:sym typeface="Arial"/>
              </a:rPr>
              <a:t>数千本規模のセラーが借景に。</a:t>
            </a:r>
            <a:endParaRPr sz="1200">
              <a:solidFill>
                <a:srgbClr val="1A1A1A"/>
              </a:solidFill>
              <a:latin typeface="Arial"/>
              <a:ea typeface="Arial"/>
              <a:cs typeface="Arial"/>
              <a:sym typeface="Arial"/>
            </a:endParaRPr>
          </a:p>
          <a:p>
            <a:pPr marL="0" marR="0" lvl="0" indent="0" algn="l" rtl="0">
              <a:lnSpc>
                <a:spcPct val="140000"/>
              </a:lnSpc>
              <a:spcBef>
                <a:spcPts val="0"/>
              </a:spcBef>
              <a:spcAft>
                <a:spcPts val="0"/>
              </a:spcAft>
              <a:buClr>
                <a:srgbClr val="1A1A1A"/>
              </a:buClr>
              <a:buSzPts val="1000"/>
              <a:buFont typeface="Arial"/>
              <a:buNone/>
            </a:pPr>
            <a:r>
              <a:rPr lang="en-US" sz="1200">
                <a:solidFill>
                  <a:srgbClr val="1A1A1A"/>
                </a:solidFill>
                <a:latin typeface="Arial"/>
                <a:ea typeface="Arial"/>
                <a:cs typeface="Arial"/>
                <a:sym typeface="Arial"/>
              </a:rPr>
              <a:t>他にない空間体験を生む。</a:t>
            </a:r>
            <a:endParaRPr sz="1200">
              <a:solidFill>
                <a:schemeClr val="dk1"/>
              </a:solidFill>
              <a:latin typeface="Calibri"/>
              <a:ea typeface="Calibri"/>
              <a:cs typeface="Calibri"/>
              <a:sym typeface="Calibri"/>
            </a:endParaRPr>
          </a:p>
        </p:txBody>
      </p:sp>
      <p:sp>
        <p:nvSpPr>
          <p:cNvPr id="298" name="Google Shape;298;p12"/>
          <p:cNvSpPr/>
          <p:nvPr/>
        </p:nvSpPr>
        <p:spPr>
          <a:xfrm>
            <a:off x="4344314" y="1481328"/>
            <a:ext cx="3503066" cy="1591056"/>
          </a:xfrm>
          <a:prstGeom prst="roundRect">
            <a:avLst>
              <a:gd name="adj" fmla="val 147"/>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2"/>
          <p:cNvSpPr/>
          <p:nvPr/>
        </p:nvSpPr>
        <p:spPr>
          <a:xfrm>
            <a:off x="4582058" y="1682496"/>
            <a:ext cx="402336" cy="402336"/>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2"/>
          <p:cNvSpPr/>
          <p:nvPr/>
        </p:nvSpPr>
        <p:spPr>
          <a:xfrm>
            <a:off x="4582058" y="168249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02</a:t>
            </a:r>
            <a:endParaRPr sz="1100">
              <a:solidFill>
                <a:schemeClr val="dk1"/>
              </a:solidFill>
              <a:latin typeface="Calibri"/>
              <a:ea typeface="Calibri"/>
              <a:cs typeface="Calibri"/>
              <a:sym typeface="Calibri"/>
            </a:endParaRPr>
          </a:p>
        </p:txBody>
      </p:sp>
      <p:sp>
        <p:nvSpPr>
          <p:cNvPr id="301" name="Google Shape;301;p12"/>
          <p:cNvSpPr/>
          <p:nvPr/>
        </p:nvSpPr>
        <p:spPr>
          <a:xfrm>
            <a:off x="5075834" y="1645920"/>
            <a:ext cx="2533802"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350" b="1">
                <a:solidFill>
                  <a:srgbClr val="1A1A1A"/>
                </a:solidFill>
                <a:latin typeface="Arial"/>
                <a:ea typeface="Arial"/>
                <a:cs typeface="Arial"/>
                <a:sym typeface="Arial"/>
              </a:rPr>
              <a:t>在庫はセラー</a:t>
            </a:r>
            <a:r>
              <a:rPr lang="en-US" sz="1350" b="1">
                <a:solidFill>
                  <a:srgbClr val="1A1A1A"/>
                </a:solidFill>
              </a:rPr>
              <a:t>に集約</a:t>
            </a:r>
            <a:endParaRPr sz="1350">
              <a:solidFill>
                <a:schemeClr val="dk1"/>
              </a:solidFill>
              <a:latin typeface="Calibri"/>
              <a:ea typeface="Calibri"/>
              <a:cs typeface="Calibri"/>
              <a:sym typeface="Calibri"/>
            </a:endParaRPr>
          </a:p>
        </p:txBody>
      </p:sp>
      <p:sp>
        <p:nvSpPr>
          <p:cNvPr id="302" name="Google Shape;302;p12"/>
          <p:cNvSpPr/>
          <p:nvPr/>
        </p:nvSpPr>
        <p:spPr>
          <a:xfrm>
            <a:off x="4582058" y="2231136"/>
            <a:ext cx="3027578" cy="658368"/>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200">
                <a:solidFill>
                  <a:srgbClr val="1A1A1A"/>
                </a:solidFill>
                <a:latin typeface="Arial"/>
                <a:ea typeface="Arial"/>
                <a:cs typeface="Arial"/>
                <a:sym typeface="Arial"/>
              </a:rPr>
              <a:t>各店は在庫を抱えず、必要な分を卸値〜</a:t>
            </a:r>
            <a:endParaRPr sz="1200">
              <a:solidFill>
                <a:srgbClr val="1A1A1A"/>
              </a:solidFill>
              <a:latin typeface="Arial"/>
              <a:ea typeface="Arial"/>
              <a:cs typeface="Arial"/>
              <a:sym typeface="Arial"/>
            </a:endParaRPr>
          </a:p>
          <a:p>
            <a:pPr marL="0" marR="0" lvl="0" indent="0" algn="l" rtl="0">
              <a:lnSpc>
                <a:spcPct val="140000"/>
              </a:lnSpc>
              <a:spcBef>
                <a:spcPts val="0"/>
              </a:spcBef>
              <a:spcAft>
                <a:spcPts val="0"/>
              </a:spcAft>
              <a:buClr>
                <a:srgbClr val="1A1A1A"/>
              </a:buClr>
              <a:buSzPts val="1000"/>
              <a:buFont typeface="Arial"/>
              <a:buNone/>
            </a:pPr>
            <a:r>
              <a:rPr lang="en-US" sz="1200">
                <a:solidFill>
                  <a:srgbClr val="1A1A1A"/>
                </a:solidFill>
                <a:latin typeface="Arial"/>
                <a:ea typeface="Arial"/>
                <a:cs typeface="Arial"/>
                <a:sym typeface="Arial"/>
              </a:rPr>
              <a:t>ネット最安値で即時購入。CFが劇的改善。</a:t>
            </a:r>
            <a:endParaRPr sz="1200">
              <a:solidFill>
                <a:schemeClr val="dk1"/>
              </a:solidFill>
              <a:latin typeface="Calibri"/>
              <a:ea typeface="Calibri"/>
              <a:cs typeface="Calibri"/>
              <a:sym typeface="Calibri"/>
            </a:endParaRPr>
          </a:p>
        </p:txBody>
      </p:sp>
      <p:sp>
        <p:nvSpPr>
          <p:cNvPr id="303" name="Google Shape;303;p12"/>
          <p:cNvSpPr/>
          <p:nvPr/>
        </p:nvSpPr>
        <p:spPr>
          <a:xfrm>
            <a:off x="8121701" y="1481328"/>
            <a:ext cx="3503066" cy="1591056"/>
          </a:xfrm>
          <a:prstGeom prst="roundRect">
            <a:avLst>
              <a:gd name="adj" fmla="val 0"/>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2"/>
          <p:cNvSpPr/>
          <p:nvPr/>
        </p:nvSpPr>
        <p:spPr>
          <a:xfrm>
            <a:off x="8359445" y="1682496"/>
            <a:ext cx="402336" cy="402336"/>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2"/>
          <p:cNvSpPr/>
          <p:nvPr/>
        </p:nvSpPr>
        <p:spPr>
          <a:xfrm>
            <a:off x="8359445" y="1682496"/>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03</a:t>
            </a:r>
            <a:endParaRPr sz="1100">
              <a:solidFill>
                <a:schemeClr val="dk1"/>
              </a:solidFill>
              <a:latin typeface="Calibri"/>
              <a:ea typeface="Calibri"/>
              <a:cs typeface="Calibri"/>
              <a:sym typeface="Calibri"/>
            </a:endParaRPr>
          </a:p>
        </p:txBody>
      </p:sp>
      <p:sp>
        <p:nvSpPr>
          <p:cNvPr id="306" name="Google Shape;306;p12"/>
          <p:cNvSpPr/>
          <p:nvPr/>
        </p:nvSpPr>
        <p:spPr>
          <a:xfrm>
            <a:off x="8853221" y="1645920"/>
            <a:ext cx="2533802" cy="47548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350" b="1">
                <a:solidFill>
                  <a:srgbClr val="1A1A1A"/>
                </a:solidFill>
                <a:latin typeface="Arial"/>
                <a:ea typeface="Arial"/>
                <a:cs typeface="Arial"/>
                <a:sym typeface="Arial"/>
              </a:rPr>
              <a:t>回遊通路で施設全体へ</a:t>
            </a:r>
            <a:endParaRPr sz="1350">
              <a:solidFill>
                <a:schemeClr val="dk1"/>
              </a:solidFill>
              <a:latin typeface="Calibri"/>
              <a:ea typeface="Calibri"/>
              <a:cs typeface="Calibri"/>
              <a:sym typeface="Calibri"/>
            </a:endParaRPr>
          </a:p>
        </p:txBody>
      </p:sp>
      <p:sp>
        <p:nvSpPr>
          <p:cNvPr id="307" name="Google Shape;307;p12"/>
          <p:cNvSpPr/>
          <p:nvPr/>
        </p:nvSpPr>
        <p:spPr>
          <a:xfrm>
            <a:off x="8359450" y="2231125"/>
            <a:ext cx="3180300" cy="6585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200">
                <a:solidFill>
                  <a:srgbClr val="1A1A1A"/>
                </a:solidFill>
                <a:latin typeface="Arial"/>
                <a:ea typeface="Arial"/>
                <a:cs typeface="Arial"/>
                <a:sym typeface="Arial"/>
              </a:rPr>
              <a:t>セラーを囲む回遊動線が滞在時間を延ばし、隣接区画への送客を生む。</a:t>
            </a:r>
            <a:endParaRPr sz="1200">
              <a:solidFill>
                <a:schemeClr val="dk1"/>
              </a:solidFill>
              <a:latin typeface="Calibri"/>
              <a:ea typeface="Calibri"/>
              <a:cs typeface="Calibri"/>
              <a:sym typeface="Calibri"/>
            </a:endParaRPr>
          </a:p>
        </p:txBody>
      </p:sp>
      <p:sp>
        <p:nvSpPr>
          <p:cNvPr id="308" name="Google Shape;308;p12"/>
          <p:cNvSpPr/>
          <p:nvPr/>
        </p:nvSpPr>
        <p:spPr>
          <a:xfrm>
            <a:off x="3810000" y="3407664"/>
            <a:ext cx="45720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500" b="1">
                <a:solidFill>
                  <a:srgbClr val="1A1A1A"/>
                </a:solidFill>
                <a:latin typeface="Arial"/>
                <a:ea typeface="Arial"/>
                <a:cs typeface="Arial"/>
                <a:sym typeface="Arial"/>
              </a:rPr>
              <a:t>三者にとってWin</a:t>
            </a:r>
            <a:r>
              <a:rPr lang="en-US" sz="1500" b="1">
                <a:solidFill>
                  <a:srgbClr val="1A1A1A"/>
                </a:solidFill>
              </a:rPr>
              <a:t>―Winの構造</a:t>
            </a:r>
            <a:endParaRPr sz="1500">
              <a:solidFill>
                <a:schemeClr val="dk1"/>
              </a:solidFill>
              <a:latin typeface="Calibri"/>
              <a:ea typeface="Calibri"/>
              <a:cs typeface="Calibri"/>
              <a:sym typeface="Calibri"/>
            </a:endParaRPr>
          </a:p>
        </p:txBody>
      </p:sp>
      <p:sp>
        <p:nvSpPr>
          <p:cNvPr id="309" name="Google Shape;309;p12"/>
          <p:cNvSpPr/>
          <p:nvPr/>
        </p:nvSpPr>
        <p:spPr>
          <a:xfrm>
            <a:off x="566925" y="3831324"/>
            <a:ext cx="3503100" cy="1863600"/>
          </a:xfrm>
          <a:prstGeom prst="roundRect">
            <a:avLst>
              <a:gd name="adj" fmla="val 2778"/>
            </a:avLst>
          </a:prstGeom>
          <a:solidFill>
            <a:srgbClr val="2F39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2"/>
          <p:cNvSpPr/>
          <p:nvPr/>
        </p:nvSpPr>
        <p:spPr>
          <a:xfrm>
            <a:off x="822960" y="3977640"/>
            <a:ext cx="29910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06D4C"/>
              </a:buClr>
              <a:buSzPts val="1300"/>
              <a:buFont typeface="Arial"/>
              <a:buNone/>
            </a:pPr>
            <a:r>
              <a:rPr lang="en-US" sz="1500" b="1">
                <a:solidFill>
                  <a:schemeClr val="lt1"/>
                </a:solidFill>
                <a:latin typeface="Arial"/>
                <a:ea typeface="Arial"/>
                <a:cs typeface="Arial"/>
                <a:sym typeface="Arial"/>
              </a:rPr>
              <a:t>出店者</a:t>
            </a:r>
            <a:endParaRPr sz="1500">
              <a:solidFill>
                <a:schemeClr val="lt1"/>
              </a:solidFill>
              <a:latin typeface="Calibri"/>
              <a:ea typeface="Calibri"/>
              <a:cs typeface="Calibri"/>
              <a:sym typeface="Calibri"/>
            </a:endParaRPr>
          </a:p>
        </p:txBody>
      </p:sp>
      <p:sp>
        <p:nvSpPr>
          <p:cNvPr id="311" name="Google Shape;311;p12"/>
          <p:cNvSpPr/>
          <p:nvPr/>
        </p:nvSpPr>
        <p:spPr>
          <a:xfrm>
            <a:off x="654650" y="4467654"/>
            <a:ext cx="3158400" cy="1079100"/>
          </a:xfrm>
          <a:prstGeom prst="rect">
            <a:avLst/>
          </a:prstGeom>
          <a:noFill/>
          <a:ln>
            <a:noFill/>
          </a:ln>
        </p:spPr>
        <p:txBody>
          <a:bodyPr spcFirstLastPara="1" wrap="square" lIns="0" tIns="0" rIns="0" bIns="0" anchor="t" anchorCtr="0">
            <a:noAutofit/>
          </a:bodyPr>
          <a:lstStyle/>
          <a:p>
            <a:pPr marL="342900" marR="0" lvl="0" indent="-355600" algn="l" rtl="0">
              <a:lnSpc>
                <a:spcPct val="137755"/>
              </a:lnSpc>
              <a:spcBef>
                <a:spcPts val="0"/>
              </a:spcBef>
              <a:spcAft>
                <a:spcPts val="0"/>
              </a:spcAft>
              <a:buClr>
                <a:srgbClr val="F6F6F6"/>
              </a:buClr>
              <a:buSzPts val="1180"/>
              <a:buFont typeface="Arial"/>
              <a:buChar char="▪"/>
            </a:pPr>
            <a:r>
              <a:rPr lang="en-US" sz="1180">
                <a:solidFill>
                  <a:srgbClr val="F6F6F6"/>
                </a:solidFill>
                <a:latin typeface="Arial"/>
                <a:ea typeface="Arial"/>
                <a:cs typeface="Arial"/>
                <a:sym typeface="Arial"/>
              </a:rPr>
              <a:t>卸値〜最安値で即時仕入</a:t>
            </a:r>
            <a:endParaRPr sz="1180">
              <a:solidFill>
                <a:srgbClr val="F6F6F6"/>
              </a:solidFill>
              <a:latin typeface="Calibri"/>
              <a:ea typeface="Calibri"/>
              <a:cs typeface="Calibri"/>
              <a:sym typeface="Calibri"/>
            </a:endParaRPr>
          </a:p>
          <a:p>
            <a:pPr marL="342900" marR="0" lvl="0" indent="-355600" algn="l" rtl="0">
              <a:lnSpc>
                <a:spcPct val="137755"/>
              </a:lnSpc>
              <a:spcBef>
                <a:spcPts val="300"/>
              </a:spcBef>
              <a:spcAft>
                <a:spcPts val="0"/>
              </a:spcAft>
              <a:buClr>
                <a:srgbClr val="F6F6F6"/>
              </a:buClr>
              <a:buSzPts val="1180"/>
              <a:buFont typeface="Arial"/>
              <a:buChar char="▪"/>
            </a:pPr>
            <a:r>
              <a:rPr lang="en-US" sz="1180">
                <a:solidFill>
                  <a:srgbClr val="F6F6F6"/>
                </a:solidFill>
                <a:latin typeface="Arial"/>
                <a:ea typeface="Arial"/>
                <a:cs typeface="Arial"/>
                <a:sym typeface="Arial"/>
              </a:rPr>
              <a:t>店内在庫・セラー設備が不要</a:t>
            </a:r>
            <a:endParaRPr sz="1180">
              <a:solidFill>
                <a:srgbClr val="F6F6F6"/>
              </a:solidFill>
              <a:latin typeface="Calibri"/>
              <a:ea typeface="Calibri"/>
              <a:cs typeface="Calibri"/>
              <a:sym typeface="Calibri"/>
            </a:endParaRPr>
          </a:p>
          <a:p>
            <a:pPr marL="342900" marR="0" lvl="0" indent="-355600" algn="l" rtl="0">
              <a:lnSpc>
                <a:spcPct val="137755"/>
              </a:lnSpc>
              <a:spcBef>
                <a:spcPts val="300"/>
              </a:spcBef>
              <a:spcAft>
                <a:spcPts val="0"/>
              </a:spcAft>
              <a:buClr>
                <a:srgbClr val="F6F6F6"/>
              </a:buClr>
              <a:buSzPts val="1180"/>
              <a:buFont typeface="Arial"/>
              <a:buChar char="▪"/>
            </a:pPr>
            <a:r>
              <a:rPr lang="en-US" sz="1180">
                <a:solidFill>
                  <a:srgbClr val="F6F6F6"/>
                </a:solidFill>
                <a:latin typeface="Arial"/>
                <a:ea typeface="Arial"/>
                <a:cs typeface="Arial"/>
                <a:sym typeface="Arial"/>
              </a:rPr>
              <a:t>大型セラーが自店の借景に</a:t>
            </a:r>
            <a:endParaRPr sz="1180">
              <a:solidFill>
                <a:srgbClr val="F6F6F6"/>
              </a:solidFill>
              <a:latin typeface="Calibri"/>
              <a:ea typeface="Calibri"/>
              <a:cs typeface="Calibri"/>
              <a:sym typeface="Calibri"/>
            </a:endParaRPr>
          </a:p>
        </p:txBody>
      </p:sp>
      <p:sp>
        <p:nvSpPr>
          <p:cNvPr id="312" name="Google Shape;312;p12"/>
          <p:cNvSpPr/>
          <p:nvPr/>
        </p:nvSpPr>
        <p:spPr>
          <a:xfrm>
            <a:off x="4344312" y="3831324"/>
            <a:ext cx="3503100" cy="1863600"/>
          </a:xfrm>
          <a:prstGeom prst="roundRect">
            <a:avLst>
              <a:gd name="adj" fmla="val 2778"/>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2"/>
          <p:cNvSpPr/>
          <p:nvPr/>
        </p:nvSpPr>
        <p:spPr>
          <a:xfrm>
            <a:off x="4600346" y="3977640"/>
            <a:ext cx="29910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DCCE"/>
              </a:buClr>
              <a:buSzPts val="1300"/>
              <a:buFont typeface="Arial"/>
              <a:buNone/>
            </a:pPr>
            <a:r>
              <a:rPr lang="en-US" sz="1500" b="1">
                <a:solidFill>
                  <a:schemeClr val="lt1"/>
                </a:solidFill>
                <a:latin typeface="Arial"/>
                <a:ea typeface="Arial"/>
                <a:cs typeface="Arial"/>
                <a:sym typeface="Arial"/>
              </a:rPr>
              <a:t>商業施設（森ビル様）</a:t>
            </a:r>
            <a:endParaRPr sz="1500">
              <a:solidFill>
                <a:schemeClr val="lt1"/>
              </a:solidFill>
              <a:latin typeface="Calibri"/>
              <a:ea typeface="Calibri"/>
              <a:cs typeface="Calibri"/>
              <a:sym typeface="Calibri"/>
            </a:endParaRPr>
          </a:p>
        </p:txBody>
      </p:sp>
      <p:sp>
        <p:nvSpPr>
          <p:cNvPr id="314" name="Google Shape;314;p12"/>
          <p:cNvSpPr/>
          <p:nvPr/>
        </p:nvSpPr>
        <p:spPr>
          <a:xfrm>
            <a:off x="4463483" y="4467654"/>
            <a:ext cx="3158400" cy="1079100"/>
          </a:xfrm>
          <a:prstGeom prst="rect">
            <a:avLst/>
          </a:prstGeom>
          <a:noFill/>
          <a:ln>
            <a:noFill/>
          </a:ln>
        </p:spPr>
        <p:txBody>
          <a:bodyPr spcFirstLastPara="1" wrap="square" lIns="0" tIns="0" rIns="0" bIns="0" anchor="t" anchorCtr="0">
            <a:noAutofit/>
          </a:bodyPr>
          <a:lstStyle/>
          <a:p>
            <a:pPr marL="342900" marR="0" lvl="0" indent="-355600" algn="l" rtl="0">
              <a:lnSpc>
                <a:spcPct val="137755"/>
              </a:lnSpc>
              <a:spcBef>
                <a:spcPts val="0"/>
              </a:spcBef>
              <a:spcAft>
                <a:spcPts val="0"/>
              </a:spcAft>
              <a:buClr>
                <a:srgbClr val="E3E6E8"/>
              </a:buClr>
              <a:buSzPts val="1180"/>
              <a:buFont typeface="Arial"/>
              <a:buChar char="▪"/>
            </a:pPr>
            <a:r>
              <a:rPr lang="en-US" sz="1180">
                <a:solidFill>
                  <a:srgbClr val="E3E6E8"/>
                </a:solidFill>
                <a:latin typeface="Arial"/>
                <a:ea typeface="Arial"/>
                <a:cs typeface="Arial"/>
                <a:sym typeface="Arial"/>
              </a:rPr>
              <a:t>前例のない話題性と施設イメージ向上</a:t>
            </a:r>
            <a:endParaRPr sz="1180">
              <a:solidFill>
                <a:schemeClr val="dk1"/>
              </a:solidFill>
              <a:latin typeface="Calibri"/>
              <a:ea typeface="Calibri"/>
              <a:cs typeface="Calibri"/>
              <a:sym typeface="Calibri"/>
            </a:endParaRPr>
          </a:p>
          <a:p>
            <a:pPr marL="342900" marR="0" lvl="0" indent="-355600" algn="l" rtl="0">
              <a:lnSpc>
                <a:spcPct val="137755"/>
              </a:lnSpc>
              <a:spcBef>
                <a:spcPts val="300"/>
              </a:spcBef>
              <a:spcAft>
                <a:spcPts val="0"/>
              </a:spcAft>
              <a:buClr>
                <a:srgbClr val="E3E6E8"/>
              </a:buClr>
              <a:buSzPts val="1180"/>
              <a:buFont typeface="Arial"/>
              <a:buChar char="▪"/>
            </a:pPr>
            <a:r>
              <a:rPr lang="en-US" sz="1180">
                <a:solidFill>
                  <a:srgbClr val="E3E6E8"/>
                </a:solidFill>
                <a:latin typeface="Arial"/>
                <a:ea typeface="Arial"/>
                <a:cs typeface="Arial"/>
                <a:sym typeface="Arial"/>
              </a:rPr>
              <a:t>出店誘致が容易になり、賃料・保証金の引上げ余地</a:t>
            </a:r>
            <a:endParaRPr sz="1180">
              <a:solidFill>
                <a:schemeClr val="dk1"/>
              </a:solidFill>
              <a:latin typeface="Calibri"/>
              <a:ea typeface="Calibri"/>
              <a:cs typeface="Calibri"/>
              <a:sym typeface="Calibri"/>
            </a:endParaRPr>
          </a:p>
          <a:p>
            <a:pPr marL="342900" marR="0" lvl="0" indent="-355600" algn="l" rtl="0">
              <a:lnSpc>
                <a:spcPct val="137755"/>
              </a:lnSpc>
              <a:spcBef>
                <a:spcPts val="300"/>
              </a:spcBef>
              <a:spcAft>
                <a:spcPts val="0"/>
              </a:spcAft>
              <a:buClr>
                <a:srgbClr val="E3E6E8"/>
              </a:buClr>
              <a:buSzPts val="1180"/>
              <a:buFont typeface="Arial"/>
              <a:buChar char="▪"/>
            </a:pPr>
            <a:r>
              <a:rPr lang="en-US" sz="1180">
                <a:solidFill>
                  <a:srgbClr val="E3E6E8"/>
                </a:solidFill>
                <a:latin typeface="Arial"/>
                <a:ea typeface="Arial"/>
                <a:cs typeface="Arial"/>
                <a:sym typeface="Arial"/>
              </a:rPr>
              <a:t>施設全体・レジデンスへも卸値供給</a:t>
            </a:r>
            <a:endParaRPr sz="1180">
              <a:solidFill>
                <a:schemeClr val="dk1"/>
              </a:solidFill>
              <a:latin typeface="Calibri"/>
              <a:ea typeface="Calibri"/>
              <a:cs typeface="Calibri"/>
              <a:sym typeface="Calibri"/>
            </a:endParaRPr>
          </a:p>
        </p:txBody>
      </p:sp>
      <p:sp>
        <p:nvSpPr>
          <p:cNvPr id="315" name="Google Shape;315;p12"/>
          <p:cNvSpPr/>
          <p:nvPr/>
        </p:nvSpPr>
        <p:spPr>
          <a:xfrm>
            <a:off x="8121699" y="3831324"/>
            <a:ext cx="3503100" cy="1863600"/>
          </a:xfrm>
          <a:prstGeom prst="roundRect">
            <a:avLst>
              <a:gd name="adj" fmla="val 2778"/>
            </a:avLst>
          </a:prstGeom>
          <a:solidFill>
            <a:srgbClr val="2F39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2"/>
          <p:cNvSpPr/>
          <p:nvPr/>
        </p:nvSpPr>
        <p:spPr>
          <a:xfrm>
            <a:off x="8377733" y="3977640"/>
            <a:ext cx="29910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06D4C"/>
              </a:buClr>
              <a:buSzPts val="1300"/>
              <a:buFont typeface="Arial"/>
              <a:buNone/>
            </a:pPr>
            <a:r>
              <a:rPr lang="en-US" sz="1500" b="1">
                <a:solidFill>
                  <a:schemeClr val="lt1"/>
                </a:solidFill>
                <a:latin typeface="Arial"/>
                <a:ea typeface="Arial"/>
                <a:cs typeface="Arial"/>
                <a:sym typeface="Arial"/>
              </a:rPr>
              <a:t>来館者・居住者</a:t>
            </a:r>
            <a:endParaRPr sz="1500">
              <a:solidFill>
                <a:schemeClr val="lt1"/>
              </a:solidFill>
              <a:latin typeface="Calibri"/>
              <a:ea typeface="Calibri"/>
              <a:cs typeface="Calibri"/>
              <a:sym typeface="Calibri"/>
            </a:endParaRPr>
          </a:p>
        </p:txBody>
      </p:sp>
      <p:sp>
        <p:nvSpPr>
          <p:cNvPr id="317" name="Google Shape;317;p12"/>
          <p:cNvSpPr/>
          <p:nvPr/>
        </p:nvSpPr>
        <p:spPr>
          <a:xfrm>
            <a:off x="8228924" y="4467654"/>
            <a:ext cx="3158400" cy="1079100"/>
          </a:xfrm>
          <a:prstGeom prst="rect">
            <a:avLst/>
          </a:prstGeom>
          <a:noFill/>
          <a:ln>
            <a:noFill/>
          </a:ln>
        </p:spPr>
        <p:txBody>
          <a:bodyPr spcFirstLastPara="1" wrap="square" lIns="0" tIns="0" rIns="0" bIns="0" anchor="t" anchorCtr="0">
            <a:noAutofit/>
          </a:bodyPr>
          <a:lstStyle/>
          <a:p>
            <a:pPr marL="342900" marR="0" lvl="0" indent="-355600" algn="l" rtl="0">
              <a:lnSpc>
                <a:spcPct val="137755"/>
              </a:lnSpc>
              <a:spcBef>
                <a:spcPts val="0"/>
              </a:spcBef>
              <a:spcAft>
                <a:spcPts val="0"/>
              </a:spcAft>
              <a:buClr>
                <a:srgbClr val="F6F6F6"/>
              </a:buClr>
              <a:buSzPts val="1180"/>
              <a:buFont typeface="Arial"/>
              <a:buChar char="▪"/>
            </a:pPr>
            <a:r>
              <a:rPr lang="en-US" sz="1180">
                <a:solidFill>
                  <a:srgbClr val="F6F6F6"/>
                </a:solidFill>
                <a:latin typeface="Arial"/>
                <a:ea typeface="Arial"/>
                <a:cs typeface="Arial"/>
                <a:sym typeface="Arial"/>
              </a:rPr>
              <a:t>数千本から選べる圧倒的な品揃え</a:t>
            </a:r>
            <a:endParaRPr sz="1180">
              <a:solidFill>
                <a:srgbClr val="F6F6F6"/>
              </a:solidFill>
              <a:latin typeface="Calibri"/>
              <a:ea typeface="Calibri"/>
              <a:cs typeface="Calibri"/>
              <a:sym typeface="Calibri"/>
            </a:endParaRPr>
          </a:p>
          <a:p>
            <a:pPr marL="342900" marR="0" lvl="0" indent="-355600" algn="l" rtl="0">
              <a:lnSpc>
                <a:spcPct val="137755"/>
              </a:lnSpc>
              <a:spcBef>
                <a:spcPts val="300"/>
              </a:spcBef>
              <a:spcAft>
                <a:spcPts val="0"/>
              </a:spcAft>
              <a:buClr>
                <a:srgbClr val="F6F6F6"/>
              </a:buClr>
              <a:buSzPts val="1180"/>
              <a:buFont typeface="Arial"/>
              <a:buChar char="▪"/>
            </a:pPr>
            <a:r>
              <a:rPr lang="en-US" sz="1180">
                <a:solidFill>
                  <a:srgbClr val="F6F6F6"/>
                </a:solidFill>
                <a:latin typeface="Arial"/>
                <a:ea typeface="Arial"/>
                <a:cs typeface="Arial"/>
                <a:sym typeface="Arial"/>
              </a:rPr>
              <a:t>専門店価格でグラス・ボトルを楽しめる</a:t>
            </a:r>
            <a:endParaRPr sz="1180">
              <a:solidFill>
                <a:srgbClr val="F6F6F6"/>
              </a:solidFill>
              <a:latin typeface="Calibri"/>
              <a:ea typeface="Calibri"/>
              <a:cs typeface="Calibri"/>
              <a:sym typeface="Calibri"/>
            </a:endParaRPr>
          </a:p>
          <a:p>
            <a:pPr marL="342900" marR="0" lvl="0" indent="-355600" algn="l" rtl="0">
              <a:lnSpc>
                <a:spcPct val="137755"/>
              </a:lnSpc>
              <a:spcBef>
                <a:spcPts val="300"/>
              </a:spcBef>
              <a:spcAft>
                <a:spcPts val="0"/>
              </a:spcAft>
              <a:buClr>
                <a:srgbClr val="F6F6F6"/>
              </a:buClr>
              <a:buSzPts val="1180"/>
              <a:buFont typeface="Arial"/>
              <a:buChar char="▪"/>
            </a:pPr>
            <a:r>
              <a:rPr lang="en-US" sz="1180">
                <a:solidFill>
                  <a:srgbClr val="F6F6F6"/>
                </a:solidFill>
                <a:latin typeface="Arial"/>
                <a:ea typeface="Arial"/>
                <a:cs typeface="Arial"/>
                <a:sym typeface="Arial"/>
              </a:rPr>
              <a:t>その場で購入し、自宅へ配送も可能</a:t>
            </a:r>
            <a:endParaRPr sz="1180">
              <a:solidFill>
                <a:srgbClr val="F6F6F6"/>
              </a:solidFill>
              <a:latin typeface="Calibri"/>
              <a:ea typeface="Calibri"/>
              <a:cs typeface="Calibri"/>
              <a:sym typeface="Calibri"/>
            </a:endParaRPr>
          </a:p>
        </p:txBody>
      </p:sp>
      <p:sp>
        <p:nvSpPr>
          <p:cNvPr id="318" name="Google Shape;318;p12"/>
          <p:cNvSpPr/>
          <p:nvPr/>
        </p:nvSpPr>
        <p:spPr>
          <a:xfrm>
            <a:off x="566928" y="5852160"/>
            <a:ext cx="10972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880"/>
              <a:buFont typeface="Arial"/>
              <a:buNone/>
            </a:pPr>
            <a:r>
              <a:rPr lang="en-US" sz="1080">
                <a:solidFill>
                  <a:srgbClr val="7F7F7F"/>
                </a:solidFill>
                <a:latin typeface="Arial"/>
                <a:ea typeface="Arial"/>
                <a:cs typeface="Arial"/>
                <a:sym typeface="Arial"/>
              </a:rPr>
              <a:t>想定規模：セラー約30坪 ＋ 飲食区画約100坪（日比谷ミッドタウン地下1階フードホール、虎ノ門横丁の客単価・区画割りを参照）。取扱いはワインに限らず酒類全般。</a:t>
            </a:r>
            <a:endParaRPr sz="1080">
              <a:solidFill>
                <a:srgbClr val="7F7F7F"/>
              </a:solidFill>
              <a:latin typeface="Calibri"/>
              <a:ea typeface="Calibri"/>
              <a:cs typeface="Calibri"/>
              <a:sym typeface="Calibri"/>
            </a:endParaRPr>
          </a:p>
        </p:txBody>
      </p:sp>
      <p:grpSp>
        <p:nvGrpSpPr>
          <p:cNvPr id="319" name="Google Shape;319;p12"/>
          <p:cNvGrpSpPr/>
          <p:nvPr/>
        </p:nvGrpSpPr>
        <p:grpSpPr>
          <a:xfrm>
            <a:off x="0" y="419025"/>
            <a:ext cx="1029900" cy="585888"/>
            <a:chOff x="0" y="419025"/>
            <a:chExt cx="1029900" cy="585888"/>
          </a:xfrm>
        </p:grpSpPr>
        <p:sp>
          <p:nvSpPr>
            <p:cNvPr id="320" name="Google Shape;320;p12"/>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21;p12"/>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a:t>
              </a:r>
              <a:r>
                <a:rPr lang="en-US" sz="2200" b="1">
                  <a:solidFill>
                    <a:srgbClr val="FFFFFF"/>
                  </a:solidFill>
                </a:rPr>
                <a:t>4</a:t>
              </a:r>
              <a:endParaRPr sz="2200">
                <a:solidFill>
                  <a:schemeClr val="dk1"/>
                </a:solidFill>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6"/>
        <p:cNvGrpSpPr/>
        <p:nvPr/>
      </p:nvGrpSpPr>
      <p:grpSpPr>
        <a:xfrm>
          <a:off x="0" y="0"/>
          <a:ext cx="0" cy="0"/>
          <a:chOff x="0" y="0"/>
          <a:chExt cx="0" cy="0"/>
        </a:xfrm>
      </p:grpSpPr>
      <p:pic>
        <p:nvPicPr>
          <p:cNvPr id="327" name="Google Shape;327;p13"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328" name="Google Shape;328;p13"/>
          <p:cNvSpPr/>
          <p:nvPr/>
        </p:nvSpPr>
        <p:spPr>
          <a:xfrm>
            <a:off x="1173806" y="585216"/>
            <a:ext cx="89790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ティエリー・マルクス業態の出店</a:t>
            </a:r>
            <a:endParaRPr sz="2300">
              <a:solidFill>
                <a:schemeClr val="dk1"/>
              </a:solidFill>
              <a:latin typeface="Calibri"/>
              <a:ea typeface="Calibri"/>
              <a:cs typeface="Calibri"/>
              <a:sym typeface="Calibri"/>
            </a:endParaRPr>
          </a:p>
        </p:txBody>
      </p:sp>
      <p:sp>
        <p:nvSpPr>
          <p:cNvPr id="329" name="Google Shape;329;p13"/>
          <p:cNvSpPr/>
          <p:nvPr/>
        </p:nvSpPr>
        <p:spPr>
          <a:xfrm>
            <a:off x="1176526" y="1057842"/>
            <a:ext cx="8478600" cy="310800"/>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ミシュラン累計7つ星・レジオン・ドヌール勲章受章のシェフによる日本再進出業態を、ヒルズの商業区画へ。</a:t>
            </a:r>
            <a:endParaRPr sz="1150">
              <a:solidFill>
                <a:schemeClr val="dk1"/>
              </a:solidFill>
              <a:latin typeface="Calibri"/>
              <a:ea typeface="Calibri"/>
              <a:cs typeface="Calibri"/>
              <a:sym typeface="Calibri"/>
            </a:endParaRPr>
          </a:p>
        </p:txBody>
      </p:sp>
      <p:sp>
        <p:nvSpPr>
          <p:cNvPr id="330" name="Google Shape;330;p13"/>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3"/>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332" name="Google Shape;332;p13"/>
          <p:cNvSpPr/>
          <p:nvPr/>
        </p:nvSpPr>
        <p:spPr>
          <a:xfrm>
            <a:off x="566925" y="1615451"/>
            <a:ext cx="5413200" cy="4527300"/>
          </a:xfrm>
          <a:prstGeom prst="roundRect">
            <a:avLst>
              <a:gd name="adj" fmla="val 1106"/>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3"/>
          <p:cNvSpPr/>
          <p:nvPr/>
        </p:nvSpPr>
        <p:spPr>
          <a:xfrm>
            <a:off x="2038252" y="1874525"/>
            <a:ext cx="3841500" cy="32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2000"/>
              <a:buFont typeface="Calibri"/>
              <a:buNone/>
            </a:pPr>
            <a:r>
              <a:rPr lang="en-US" sz="2000" b="1">
                <a:solidFill>
                  <a:srgbClr val="B97145"/>
                </a:solidFill>
                <a:latin typeface="Calibri"/>
                <a:ea typeface="Calibri"/>
                <a:cs typeface="Calibri"/>
                <a:sym typeface="Calibri"/>
              </a:rPr>
              <a:t>THIERRY MARX</a:t>
            </a:r>
            <a:endParaRPr sz="2000">
              <a:solidFill>
                <a:srgbClr val="B97145"/>
              </a:solidFill>
              <a:latin typeface="Calibri"/>
              <a:ea typeface="Calibri"/>
              <a:cs typeface="Calibri"/>
              <a:sym typeface="Calibri"/>
            </a:endParaRPr>
          </a:p>
        </p:txBody>
      </p:sp>
      <p:sp>
        <p:nvSpPr>
          <p:cNvPr id="334" name="Google Shape;334;p13"/>
          <p:cNvSpPr/>
          <p:nvPr/>
        </p:nvSpPr>
        <p:spPr>
          <a:xfrm>
            <a:off x="2038202" y="2301349"/>
            <a:ext cx="38415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1050"/>
              <a:buFont typeface="Arial"/>
              <a:buNone/>
            </a:pPr>
            <a:r>
              <a:rPr lang="en-US" sz="1150">
                <a:solidFill>
                  <a:srgbClr val="B9BEC2"/>
                </a:solidFill>
                <a:latin typeface="Arial"/>
                <a:ea typeface="Arial"/>
                <a:cs typeface="Arial"/>
                <a:sym typeface="Arial"/>
              </a:rPr>
              <a:t>ミシュラン星請負人。</a:t>
            </a:r>
            <a:endParaRPr sz="1150">
              <a:solidFill>
                <a:srgbClr val="B9BEC2"/>
              </a:solidFill>
              <a:latin typeface="Arial"/>
              <a:ea typeface="Arial"/>
              <a:cs typeface="Arial"/>
              <a:sym typeface="Arial"/>
            </a:endParaRPr>
          </a:p>
          <a:p>
            <a:pPr marL="0" marR="0" lvl="0" indent="0" algn="l" rtl="0">
              <a:spcBef>
                <a:spcPts val="0"/>
              </a:spcBef>
              <a:spcAft>
                <a:spcPts val="0"/>
              </a:spcAft>
              <a:buClr>
                <a:srgbClr val="B9BEC2"/>
              </a:buClr>
              <a:buSzPts val="1050"/>
              <a:buFont typeface="Arial"/>
              <a:buNone/>
            </a:pPr>
            <a:r>
              <a:rPr lang="en-US" sz="1150">
                <a:solidFill>
                  <a:srgbClr val="B9BEC2"/>
                </a:solidFill>
                <a:latin typeface="Arial"/>
                <a:ea typeface="Arial"/>
                <a:cs typeface="Arial"/>
                <a:sym typeface="Arial"/>
              </a:rPr>
              <a:t>同世代のシェフの中でも最も注目を集める一人。</a:t>
            </a:r>
            <a:endParaRPr sz="1150">
              <a:solidFill>
                <a:schemeClr val="dk1"/>
              </a:solidFill>
              <a:latin typeface="Calibri"/>
              <a:ea typeface="Calibri"/>
              <a:cs typeface="Calibri"/>
              <a:sym typeface="Calibri"/>
            </a:endParaRPr>
          </a:p>
        </p:txBody>
      </p:sp>
      <p:sp>
        <p:nvSpPr>
          <p:cNvPr id="335" name="Google Shape;335;p13"/>
          <p:cNvSpPr/>
          <p:nvPr/>
        </p:nvSpPr>
        <p:spPr>
          <a:xfrm>
            <a:off x="696808" y="2975097"/>
            <a:ext cx="5183700" cy="2304300"/>
          </a:xfrm>
          <a:prstGeom prst="rect">
            <a:avLst/>
          </a:prstGeom>
          <a:noFill/>
          <a:ln>
            <a:noFill/>
          </a:ln>
        </p:spPr>
        <p:txBody>
          <a:bodyPr spcFirstLastPara="1" wrap="square" lIns="0" tIns="0" rIns="0" bIns="0" anchor="ctr" anchorCtr="0">
            <a:noAutofit/>
          </a:bodyPr>
          <a:lstStyle/>
          <a:p>
            <a:pPr marL="342900" marR="0" lvl="0" indent="-349250" algn="l" rtl="0">
              <a:lnSpc>
                <a:spcPct val="150000"/>
              </a:lnSpc>
              <a:spcBef>
                <a:spcPts val="0"/>
              </a:spcBef>
              <a:spcAft>
                <a:spcPts val="0"/>
              </a:spcAft>
              <a:buClr>
                <a:srgbClr val="E3E6E8"/>
              </a:buClr>
              <a:buSzPts val="1120"/>
              <a:buFont typeface="Arial"/>
              <a:buChar char="▪"/>
            </a:pPr>
            <a:r>
              <a:rPr lang="en-US" sz="1120">
                <a:solidFill>
                  <a:srgbClr val="E3E6E8"/>
                </a:solidFill>
                <a:latin typeface="Arial"/>
                <a:ea typeface="Arial"/>
                <a:cs typeface="Arial"/>
                <a:sym typeface="Arial"/>
              </a:rPr>
              <a:t>1999年 ルレ・エ・シャトー「コーディヤン・バージュ」でミシュラン2つ星</a:t>
            </a:r>
            <a:endParaRPr sz="1120">
              <a:solidFill>
                <a:schemeClr val="dk1"/>
              </a:solidFill>
              <a:latin typeface="Calibri"/>
              <a:ea typeface="Calibri"/>
              <a:cs typeface="Calibri"/>
              <a:sym typeface="Calibri"/>
            </a:endParaRPr>
          </a:p>
          <a:p>
            <a:pPr marL="342900" marR="0" lvl="0" indent="-349250" algn="l" rtl="0">
              <a:lnSpc>
                <a:spcPct val="150000"/>
              </a:lnSpc>
              <a:spcBef>
                <a:spcPts val="900"/>
              </a:spcBef>
              <a:spcAft>
                <a:spcPts val="0"/>
              </a:spcAft>
              <a:buClr>
                <a:srgbClr val="E3E6E8"/>
              </a:buClr>
              <a:buSzPts val="1120"/>
              <a:buFont typeface="Arial"/>
              <a:buChar char="▪"/>
            </a:pPr>
            <a:r>
              <a:rPr lang="en-US" sz="1120">
                <a:solidFill>
                  <a:srgbClr val="E3E6E8"/>
                </a:solidFill>
                <a:latin typeface="Arial"/>
                <a:ea typeface="Arial"/>
                <a:cs typeface="Arial"/>
                <a:sym typeface="Arial"/>
              </a:rPr>
              <a:t>2010年 マンダリン オリエンタル パリでミシュラン2つ星</a:t>
            </a:r>
            <a:endParaRPr sz="1120">
              <a:solidFill>
                <a:schemeClr val="dk1"/>
              </a:solidFill>
              <a:latin typeface="Calibri"/>
              <a:ea typeface="Calibri"/>
              <a:cs typeface="Calibri"/>
              <a:sym typeface="Calibri"/>
            </a:endParaRPr>
          </a:p>
          <a:p>
            <a:pPr marL="342900" marR="0" lvl="0" indent="-349250" algn="l" rtl="0">
              <a:lnSpc>
                <a:spcPct val="150000"/>
              </a:lnSpc>
              <a:spcBef>
                <a:spcPts val="900"/>
              </a:spcBef>
              <a:spcAft>
                <a:spcPts val="0"/>
              </a:spcAft>
              <a:buClr>
                <a:srgbClr val="E3E6E8"/>
              </a:buClr>
              <a:buSzPts val="1120"/>
              <a:buFont typeface="Arial"/>
              <a:buChar char="▪"/>
            </a:pPr>
            <a:r>
              <a:rPr lang="en-US" sz="1120">
                <a:solidFill>
                  <a:srgbClr val="E3E6E8"/>
                </a:solidFill>
                <a:latin typeface="Arial"/>
                <a:ea typeface="Arial"/>
                <a:cs typeface="Arial"/>
                <a:sym typeface="Arial"/>
              </a:rPr>
              <a:t>2006年 ゴー・エ・ミヨ シェフ・オブ・ザ・イヤー</a:t>
            </a:r>
            <a:endParaRPr sz="1120">
              <a:solidFill>
                <a:schemeClr val="dk1"/>
              </a:solidFill>
              <a:latin typeface="Calibri"/>
              <a:ea typeface="Calibri"/>
              <a:cs typeface="Calibri"/>
              <a:sym typeface="Calibri"/>
            </a:endParaRPr>
          </a:p>
          <a:p>
            <a:pPr marL="342900" marR="0" lvl="0" indent="-349250" algn="l" rtl="0">
              <a:lnSpc>
                <a:spcPct val="150000"/>
              </a:lnSpc>
              <a:spcBef>
                <a:spcPts val="900"/>
              </a:spcBef>
              <a:spcAft>
                <a:spcPts val="0"/>
              </a:spcAft>
              <a:buClr>
                <a:srgbClr val="E3E6E8"/>
              </a:buClr>
              <a:buSzPts val="1120"/>
              <a:buFont typeface="Arial"/>
              <a:buChar char="▪"/>
            </a:pPr>
            <a:r>
              <a:rPr lang="en-US" sz="1120">
                <a:solidFill>
                  <a:srgbClr val="E3E6E8"/>
                </a:solidFill>
                <a:latin typeface="Arial"/>
                <a:ea typeface="Arial"/>
                <a:cs typeface="Arial"/>
                <a:sym typeface="Arial"/>
              </a:rPr>
              <a:t>2013年 フランス レジオン・ドヌール勲章 受章</a:t>
            </a:r>
            <a:endParaRPr sz="1120">
              <a:solidFill>
                <a:schemeClr val="dk1"/>
              </a:solidFill>
              <a:latin typeface="Calibri"/>
              <a:ea typeface="Calibri"/>
              <a:cs typeface="Calibri"/>
              <a:sym typeface="Calibri"/>
            </a:endParaRPr>
          </a:p>
          <a:p>
            <a:pPr marL="342900" marR="0" lvl="0" indent="-349250" algn="l" rtl="0">
              <a:lnSpc>
                <a:spcPct val="150000"/>
              </a:lnSpc>
              <a:spcBef>
                <a:spcPts val="900"/>
              </a:spcBef>
              <a:spcAft>
                <a:spcPts val="0"/>
              </a:spcAft>
              <a:buClr>
                <a:srgbClr val="E3E6E8"/>
              </a:buClr>
              <a:buSzPts val="1120"/>
              <a:buFont typeface="Arial"/>
              <a:buChar char="▪"/>
            </a:pPr>
            <a:r>
              <a:rPr lang="en-US" sz="1120">
                <a:solidFill>
                  <a:srgbClr val="E3E6E8"/>
                </a:solidFill>
                <a:latin typeface="Arial"/>
                <a:ea typeface="Arial"/>
                <a:cs typeface="Arial"/>
                <a:sym typeface="Arial"/>
              </a:rPr>
              <a:t>2022年 ミシュランガイド 年間ベストメンター</a:t>
            </a:r>
            <a:endParaRPr sz="1120">
              <a:solidFill>
                <a:schemeClr val="dk1"/>
              </a:solidFill>
              <a:latin typeface="Calibri"/>
              <a:ea typeface="Calibri"/>
              <a:cs typeface="Calibri"/>
              <a:sym typeface="Calibri"/>
            </a:endParaRPr>
          </a:p>
          <a:p>
            <a:pPr marL="342900" marR="0" lvl="0" indent="-349250" algn="l" rtl="0">
              <a:lnSpc>
                <a:spcPct val="150000"/>
              </a:lnSpc>
              <a:spcBef>
                <a:spcPts val="900"/>
              </a:spcBef>
              <a:spcAft>
                <a:spcPts val="0"/>
              </a:spcAft>
              <a:buClr>
                <a:srgbClr val="E3E6E8"/>
              </a:buClr>
              <a:buSzPts val="1120"/>
              <a:buFont typeface="Arial"/>
              <a:buChar char="▪"/>
            </a:pPr>
            <a:r>
              <a:rPr lang="en-US" sz="1120">
                <a:solidFill>
                  <a:srgbClr val="E3E6E8"/>
                </a:solidFill>
                <a:latin typeface="Arial"/>
                <a:ea typeface="Arial"/>
                <a:cs typeface="Arial"/>
                <a:sym typeface="Arial"/>
              </a:rPr>
              <a:t>2023年 パリ8区サントノーレに「オノール」オープン</a:t>
            </a:r>
            <a:endParaRPr sz="1120">
              <a:solidFill>
                <a:schemeClr val="dk1"/>
              </a:solidFill>
              <a:latin typeface="Calibri"/>
              <a:ea typeface="Calibri"/>
              <a:cs typeface="Calibri"/>
              <a:sym typeface="Calibri"/>
            </a:endParaRPr>
          </a:p>
        </p:txBody>
      </p:sp>
      <p:sp>
        <p:nvSpPr>
          <p:cNvPr id="336" name="Google Shape;336;p13"/>
          <p:cNvSpPr/>
          <p:nvPr/>
        </p:nvSpPr>
        <p:spPr>
          <a:xfrm>
            <a:off x="896112" y="5471689"/>
            <a:ext cx="4755000" cy="5121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C68A65"/>
              </a:buClr>
              <a:buSzPts val="1050"/>
              <a:buFont typeface="Arial"/>
              <a:buNone/>
            </a:pPr>
            <a:r>
              <a:rPr lang="en-US" sz="1250" b="1">
                <a:solidFill>
                  <a:srgbClr val="C68A65"/>
                </a:solidFill>
                <a:latin typeface="Arial"/>
                <a:ea typeface="Arial"/>
                <a:cs typeface="Arial"/>
                <a:sym typeface="Arial"/>
              </a:rPr>
              <a:t>大手TV局との連携により、開業時の露出を確保。</a:t>
            </a:r>
            <a:endParaRPr sz="1250" b="1">
              <a:solidFill>
                <a:srgbClr val="C68A65"/>
              </a:solidFill>
              <a:latin typeface="Arial"/>
              <a:ea typeface="Arial"/>
              <a:cs typeface="Arial"/>
              <a:sym typeface="Arial"/>
            </a:endParaRPr>
          </a:p>
          <a:p>
            <a:pPr marL="0" marR="0" lvl="0" indent="0" algn="l" rtl="0">
              <a:lnSpc>
                <a:spcPct val="115000"/>
              </a:lnSpc>
              <a:spcBef>
                <a:spcPts val="0"/>
              </a:spcBef>
              <a:spcAft>
                <a:spcPts val="0"/>
              </a:spcAft>
              <a:buClr>
                <a:srgbClr val="C68A65"/>
              </a:buClr>
              <a:buSzPts val="1050"/>
              <a:buFont typeface="Arial"/>
              <a:buNone/>
            </a:pPr>
            <a:r>
              <a:rPr lang="en-US" sz="1250" b="1">
                <a:solidFill>
                  <a:srgbClr val="C68A65"/>
                </a:solidFill>
                <a:latin typeface="Arial"/>
                <a:ea typeface="Arial"/>
                <a:cs typeface="Arial"/>
                <a:sym typeface="Arial"/>
              </a:rPr>
              <a:t>国内外の富裕層・メディアを街区に呼び込みます。</a:t>
            </a:r>
            <a:endParaRPr sz="1250">
              <a:solidFill>
                <a:schemeClr val="dk1"/>
              </a:solidFill>
              <a:latin typeface="Calibri"/>
              <a:ea typeface="Calibri"/>
              <a:cs typeface="Calibri"/>
              <a:sym typeface="Calibri"/>
            </a:endParaRPr>
          </a:p>
        </p:txBody>
      </p:sp>
      <p:sp>
        <p:nvSpPr>
          <p:cNvPr id="337" name="Google Shape;337;p13"/>
          <p:cNvSpPr/>
          <p:nvPr/>
        </p:nvSpPr>
        <p:spPr>
          <a:xfrm>
            <a:off x="6272784" y="1640728"/>
            <a:ext cx="53520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出店</a:t>
            </a:r>
            <a:r>
              <a:rPr lang="en-US" sz="1500" b="1">
                <a:solidFill>
                  <a:srgbClr val="1A1A1A"/>
                </a:solidFill>
              </a:rPr>
              <a:t>パターン</a:t>
            </a:r>
            <a:endParaRPr sz="1500">
              <a:solidFill>
                <a:schemeClr val="dk1"/>
              </a:solidFill>
              <a:latin typeface="Calibri"/>
              <a:ea typeface="Calibri"/>
              <a:cs typeface="Calibri"/>
              <a:sym typeface="Calibri"/>
            </a:endParaRPr>
          </a:p>
        </p:txBody>
      </p:sp>
      <p:sp>
        <p:nvSpPr>
          <p:cNvPr id="338" name="Google Shape;338;p13"/>
          <p:cNvSpPr/>
          <p:nvPr/>
        </p:nvSpPr>
        <p:spPr>
          <a:xfrm>
            <a:off x="6272775" y="2036075"/>
            <a:ext cx="5352000" cy="768900"/>
          </a:xfrm>
          <a:prstGeom prst="roundRect">
            <a:avLst>
              <a:gd name="adj" fmla="val 6250"/>
            </a:avLst>
          </a:prstGeom>
          <a:solidFill>
            <a:srgbClr val="F6F6F6"/>
          </a:solidFill>
          <a:ln w="12700" cap="flat" cmpd="sng">
            <a:solidFill>
              <a:srgbClr val="C7C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3"/>
          <p:cNvSpPr/>
          <p:nvPr/>
        </p:nvSpPr>
        <p:spPr>
          <a:xfrm>
            <a:off x="6528816" y="2142933"/>
            <a:ext cx="21945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250"/>
              <a:buFont typeface="Arial"/>
              <a:buNone/>
            </a:pPr>
            <a:r>
              <a:rPr lang="en-US" sz="1350" b="1">
                <a:solidFill>
                  <a:srgbClr val="A06D4C"/>
                </a:solidFill>
                <a:latin typeface="Arial"/>
                <a:ea typeface="Arial"/>
                <a:cs typeface="Arial"/>
                <a:sym typeface="Arial"/>
              </a:rPr>
              <a:t>グランメゾン</a:t>
            </a:r>
            <a:endParaRPr sz="1350">
              <a:solidFill>
                <a:schemeClr val="dk1"/>
              </a:solidFill>
              <a:latin typeface="Calibri"/>
              <a:ea typeface="Calibri"/>
              <a:cs typeface="Calibri"/>
              <a:sym typeface="Calibri"/>
            </a:endParaRPr>
          </a:p>
        </p:txBody>
      </p:sp>
      <p:sp>
        <p:nvSpPr>
          <p:cNvPr id="340" name="Google Shape;340;p13"/>
          <p:cNvSpPr/>
          <p:nvPr/>
        </p:nvSpPr>
        <p:spPr>
          <a:xfrm>
            <a:off x="6528816" y="2398965"/>
            <a:ext cx="4839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80"/>
              <a:buFont typeface="Arial"/>
              <a:buNone/>
            </a:pPr>
            <a:r>
              <a:rPr lang="en-US" sz="1180">
                <a:solidFill>
                  <a:srgbClr val="6E7378"/>
                </a:solidFill>
                <a:latin typeface="Arial"/>
                <a:ea typeface="Arial"/>
                <a:cs typeface="Arial"/>
                <a:sym typeface="Arial"/>
              </a:rPr>
              <a:t>40〜60席・客単価3〜5万円。街区のフラッグシップとして。</a:t>
            </a:r>
            <a:endParaRPr sz="1180">
              <a:solidFill>
                <a:schemeClr val="dk1"/>
              </a:solidFill>
              <a:latin typeface="Calibri"/>
              <a:ea typeface="Calibri"/>
              <a:cs typeface="Calibri"/>
              <a:sym typeface="Calibri"/>
            </a:endParaRPr>
          </a:p>
        </p:txBody>
      </p:sp>
      <p:sp>
        <p:nvSpPr>
          <p:cNvPr id="341" name="Google Shape;341;p13"/>
          <p:cNvSpPr/>
          <p:nvPr/>
        </p:nvSpPr>
        <p:spPr>
          <a:xfrm>
            <a:off x="6272775" y="2939699"/>
            <a:ext cx="5352000" cy="768900"/>
          </a:xfrm>
          <a:prstGeom prst="roundRect">
            <a:avLst>
              <a:gd name="adj" fmla="val 6250"/>
            </a:avLst>
          </a:prstGeom>
          <a:solidFill>
            <a:srgbClr val="F6F6F6"/>
          </a:solidFill>
          <a:ln w="12700" cap="flat" cmpd="sng">
            <a:solidFill>
              <a:srgbClr val="C7C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3"/>
          <p:cNvSpPr/>
          <p:nvPr/>
        </p:nvSpPr>
        <p:spPr>
          <a:xfrm>
            <a:off x="6528816" y="3053381"/>
            <a:ext cx="21945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250"/>
              <a:buFont typeface="Arial"/>
              <a:buNone/>
            </a:pPr>
            <a:r>
              <a:rPr lang="en-US" sz="1350" b="1">
                <a:solidFill>
                  <a:srgbClr val="A06D4C"/>
                </a:solidFill>
                <a:latin typeface="Arial"/>
                <a:ea typeface="Arial"/>
                <a:cs typeface="Arial"/>
                <a:sym typeface="Arial"/>
              </a:rPr>
              <a:t>ブラッスリー／ビストロ</a:t>
            </a:r>
            <a:endParaRPr sz="1350">
              <a:solidFill>
                <a:schemeClr val="dk1"/>
              </a:solidFill>
              <a:latin typeface="Calibri"/>
              <a:ea typeface="Calibri"/>
              <a:cs typeface="Calibri"/>
              <a:sym typeface="Calibri"/>
            </a:endParaRPr>
          </a:p>
        </p:txBody>
      </p:sp>
      <p:sp>
        <p:nvSpPr>
          <p:cNvPr id="343" name="Google Shape;343;p13"/>
          <p:cNvSpPr/>
          <p:nvPr/>
        </p:nvSpPr>
        <p:spPr>
          <a:xfrm>
            <a:off x="6528816" y="3309413"/>
            <a:ext cx="4839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80"/>
              <a:buFont typeface="Arial"/>
              <a:buNone/>
            </a:pPr>
            <a:r>
              <a:rPr lang="en-US" sz="1180">
                <a:solidFill>
                  <a:srgbClr val="6E7378"/>
                </a:solidFill>
                <a:latin typeface="Arial"/>
                <a:ea typeface="Arial"/>
                <a:cs typeface="Arial"/>
                <a:sym typeface="Arial"/>
              </a:rPr>
              <a:t>60〜90席・客単価1.5〜2万円。ワーカーの日常会食を取り込む。</a:t>
            </a:r>
            <a:endParaRPr sz="1180">
              <a:solidFill>
                <a:schemeClr val="dk1"/>
              </a:solidFill>
              <a:latin typeface="Calibri"/>
              <a:ea typeface="Calibri"/>
              <a:cs typeface="Calibri"/>
              <a:sym typeface="Calibri"/>
            </a:endParaRPr>
          </a:p>
        </p:txBody>
      </p:sp>
      <p:sp>
        <p:nvSpPr>
          <p:cNvPr id="344" name="Google Shape;344;p13"/>
          <p:cNvSpPr/>
          <p:nvPr/>
        </p:nvSpPr>
        <p:spPr>
          <a:xfrm>
            <a:off x="6272775" y="3843322"/>
            <a:ext cx="5352000" cy="768900"/>
          </a:xfrm>
          <a:prstGeom prst="roundRect">
            <a:avLst>
              <a:gd name="adj" fmla="val 6250"/>
            </a:avLst>
          </a:prstGeom>
          <a:solidFill>
            <a:srgbClr val="F6F6F6"/>
          </a:solidFill>
          <a:ln w="12700" cap="flat" cmpd="sng">
            <a:solidFill>
              <a:srgbClr val="C7C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3"/>
          <p:cNvSpPr/>
          <p:nvPr/>
        </p:nvSpPr>
        <p:spPr>
          <a:xfrm>
            <a:off x="6528816" y="3963830"/>
            <a:ext cx="21945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250"/>
              <a:buFont typeface="Arial"/>
              <a:buNone/>
            </a:pPr>
            <a:r>
              <a:rPr lang="en-US" sz="1350" b="1">
                <a:solidFill>
                  <a:srgbClr val="A06D4C"/>
                </a:solidFill>
                <a:latin typeface="Arial"/>
                <a:ea typeface="Arial"/>
                <a:cs typeface="Arial"/>
                <a:sym typeface="Arial"/>
              </a:rPr>
              <a:t>ベーカリー＆カフェ</a:t>
            </a:r>
            <a:endParaRPr sz="1350">
              <a:solidFill>
                <a:schemeClr val="dk1"/>
              </a:solidFill>
              <a:latin typeface="Calibri"/>
              <a:ea typeface="Calibri"/>
              <a:cs typeface="Calibri"/>
              <a:sym typeface="Calibri"/>
            </a:endParaRPr>
          </a:p>
        </p:txBody>
      </p:sp>
      <p:sp>
        <p:nvSpPr>
          <p:cNvPr id="346" name="Google Shape;346;p13"/>
          <p:cNvSpPr/>
          <p:nvPr/>
        </p:nvSpPr>
        <p:spPr>
          <a:xfrm>
            <a:off x="6528816" y="4219862"/>
            <a:ext cx="4839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80"/>
              <a:buFont typeface="Arial"/>
              <a:buNone/>
            </a:pPr>
            <a:r>
              <a:rPr lang="en-US" sz="1180">
                <a:solidFill>
                  <a:srgbClr val="6E7378"/>
                </a:solidFill>
                <a:latin typeface="Arial"/>
                <a:ea typeface="Arial"/>
                <a:cs typeface="Arial"/>
                <a:sym typeface="Arial"/>
              </a:rPr>
              <a:t>20〜40坪。朝夕の生活動線を押さえ、居住者の日常接点に。</a:t>
            </a:r>
            <a:endParaRPr sz="1180">
              <a:solidFill>
                <a:schemeClr val="dk1"/>
              </a:solidFill>
              <a:latin typeface="Calibri"/>
              <a:ea typeface="Calibri"/>
              <a:cs typeface="Calibri"/>
              <a:sym typeface="Calibri"/>
            </a:endParaRPr>
          </a:p>
        </p:txBody>
      </p:sp>
      <p:sp>
        <p:nvSpPr>
          <p:cNvPr id="347" name="Google Shape;347;p13"/>
          <p:cNvSpPr/>
          <p:nvPr/>
        </p:nvSpPr>
        <p:spPr>
          <a:xfrm>
            <a:off x="6528816" y="5007864"/>
            <a:ext cx="4839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250" b="1">
                <a:solidFill>
                  <a:srgbClr val="1A1A1A"/>
                </a:solidFill>
              </a:rPr>
              <a:t>WineBankの</a:t>
            </a:r>
            <a:r>
              <a:rPr lang="en-US" sz="1250" b="1">
                <a:solidFill>
                  <a:srgbClr val="1A1A1A"/>
                </a:solidFill>
                <a:latin typeface="Arial"/>
                <a:ea typeface="Arial"/>
                <a:cs typeface="Arial"/>
                <a:sym typeface="Arial"/>
              </a:rPr>
              <a:t>運営体制</a:t>
            </a:r>
            <a:endParaRPr sz="1250">
              <a:solidFill>
                <a:schemeClr val="dk1"/>
              </a:solidFill>
              <a:latin typeface="Calibri"/>
              <a:ea typeface="Calibri"/>
              <a:cs typeface="Calibri"/>
              <a:sym typeface="Calibri"/>
            </a:endParaRPr>
          </a:p>
        </p:txBody>
      </p:sp>
      <p:sp>
        <p:nvSpPr>
          <p:cNvPr id="348" name="Google Shape;348;p13"/>
          <p:cNvSpPr/>
          <p:nvPr/>
        </p:nvSpPr>
        <p:spPr>
          <a:xfrm>
            <a:off x="6528825" y="5282175"/>
            <a:ext cx="4839900" cy="860700"/>
          </a:xfrm>
          <a:prstGeom prst="rect">
            <a:avLst/>
          </a:prstGeom>
          <a:noFill/>
          <a:ln>
            <a:noFill/>
          </a:ln>
        </p:spPr>
        <p:txBody>
          <a:bodyPr spcFirstLastPara="1" wrap="square" lIns="0" tIns="0" rIns="0" bIns="0" anchor="ctr" anchorCtr="0">
            <a:noAutofit/>
          </a:bodyPr>
          <a:lstStyle/>
          <a:p>
            <a:pPr marL="0" marR="0" lvl="0" indent="0" algn="l" rtl="0">
              <a:lnSpc>
                <a:spcPct val="140625"/>
              </a:lnSpc>
              <a:spcBef>
                <a:spcPts val="0"/>
              </a:spcBef>
              <a:spcAft>
                <a:spcPts val="0"/>
              </a:spcAft>
              <a:buClr>
                <a:srgbClr val="1A1A1A"/>
              </a:buClr>
              <a:buSzPts val="960"/>
              <a:buFont typeface="Arial"/>
              <a:buNone/>
            </a:pPr>
            <a:r>
              <a:rPr lang="en-US" sz="1060">
                <a:solidFill>
                  <a:srgbClr val="1A1A1A"/>
                </a:solidFill>
                <a:latin typeface="Arial"/>
                <a:ea typeface="Arial"/>
                <a:cs typeface="Arial"/>
                <a:sym typeface="Arial"/>
              </a:rPr>
              <a:t>創業41年のグランメゾン「アピシウス」を2024年6月に100%株式取得。</a:t>
            </a:r>
            <a:endParaRPr sz="1060">
              <a:solidFill>
                <a:srgbClr val="1A1A1A"/>
              </a:solidFill>
              <a:latin typeface="Arial"/>
              <a:ea typeface="Arial"/>
              <a:cs typeface="Arial"/>
              <a:sym typeface="Arial"/>
            </a:endParaRPr>
          </a:p>
          <a:p>
            <a:pPr marL="0" marR="0" lvl="0" indent="0" algn="l" rtl="0">
              <a:lnSpc>
                <a:spcPct val="140625"/>
              </a:lnSpc>
              <a:spcBef>
                <a:spcPts val="0"/>
              </a:spcBef>
              <a:spcAft>
                <a:spcPts val="0"/>
              </a:spcAft>
              <a:buClr>
                <a:srgbClr val="1A1A1A"/>
              </a:buClr>
              <a:buSzPts val="960"/>
              <a:buFont typeface="Arial"/>
              <a:buNone/>
            </a:pPr>
            <a:r>
              <a:rPr lang="en-US" sz="1060">
                <a:solidFill>
                  <a:srgbClr val="1A1A1A"/>
                </a:solidFill>
                <a:latin typeface="Arial"/>
                <a:ea typeface="Arial"/>
                <a:cs typeface="Arial"/>
                <a:sym typeface="Arial"/>
              </a:rPr>
              <a:t>ミシュラン掲載、World of Fine Wine 3つ星を5年連続。</a:t>
            </a:r>
            <a:endParaRPr sz="1060">
              <a:solidFill>
                <a:srgbClr val="1A1A1A"/>
              </a:solidFill>
              <a:latin typeface="Arial"/>
              <a:ea typeface="Arial"/>
              <a:cs typeface="Arial"/>
              <a:sym typeface="Arial"/>
            </a:endParaRPr>
          </a:p>
          <a:p>
            <a:pPr marL="0" marR="0" lvl="0" indent="0" algn="l" rtl="0">
              <a:lnSpc>
                <a:spcPct val="140625"/>
              </a:lnSpc>
              <a:spcBef>
                <a:spcPts val="0"/>
              </a:spcBef>
              <a:spcAft>
                <a:spcPts val="0"/>
              </a:spcAft>
              <a:buClr>
                <a:srgbClr val="1A1A1A"/>
              </a:buClr>
              <a:buSzPts val="960"/>
              <a:buFont typeface="Arial"/>
              <a:buNone/>
            </a:pPr>
            <a:r>
              <a:rPr lang="en-US" sz="1060">
                <a:solidFill>
                  <a:srgbClr val="1A1A1A"/>
                </a:solidFill>
                <a:latin typeface="Arial"/>
                <a:ea typeface="Arial"/>
                <a:cs typeface="Arial"/>
                <a:sym typeface="Arial"/>
              </a:rPr>
              <a:t>グランメゾンを実際に運営している事業者として出店いたします。</a:t>
            </a:r>
            <a:endParaRPr sz="1060">
              <a:solidFill>
                <a:schemeClr val="dk1"/>
              </a:solidFill>
              <a:latin typeface="Calibri"/>
              <a:ea typeface="Calibri"/>
              <a:cs typeface="Calibri"/>
              <a:sym typeface="Calibri"/>
            </a:endParaRPr>
          </a:p>
        </p:txBody>
      </p:sp>
      <p:grpSp>
        <p:nvGrpSpPr>
          <p:cNvPr id="349" name="Google Shape;349;p13"/>
          <p:cNvGrpSpPr/>
          <p:nvPr/>
        </p:nvGrpSpPr>
        <p:grpSpPr>
          <a:xfrm>
            <a:off x="0" y="419025"/>
            <a:ext cx="1029900" cy="585888"/>
            <a:chOff x="0" y="419025"/>
            <a:chExt cx="1029900" cy="585888"/>
          </a:xfrm>
        </p:grpSpPr>
        <p:sp>
          <p:nvSpPr>
            <p:cNvPr id="350" name="Google Shape;350;p13"/>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 name="Google Shape;351;p13"/>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a:t>
              </a:r>
              <a:r>
                <a:rPr lang="en-US" sz="2200" b="1">
                  <a:solidFill>
                    <a:srgbClr val="FFFFFF"/>
                  </a:solidFill>
                </a:rPr>
                <a:t>5</a:t>
              </a:r>
              <a:endParaRPr sz="2200">
                <a:solidFill>
                  <a:schemeClr val="dk1"/>
                </a:solidFill>
                <a:latin typeface="Calibri"/>
                <a:ea typeface="Calibri"/>
                <a:cs typeface="Calibri"/>
                <a:sym typeface="Calibri"/>
              </a:endParaRPr>
            </a:p>
          </p:txBody>
        </p:sp>
      </p:grpSp>
      <p:pic>
        <p:nvPicPr>
          <p:cNvPr id="352" name="Google Shape;352;p13"/>
          <p:cNvPicPr preferRelativeResize="0"/>
          <p:nvPr/>
        </p:nvPicPr>
        <p:blipFill rotWithShape="1">
          <a:blip r:embed="rId4">
            <a:alphaModFix/>
          </a:blip>
          <a:srcRect l="59666" t="5993" b="20201"/>
          <a:stretch/>
        </p:blipFill>
        <p:spPr>
          <a:xfrm>
            <a:off x="309967" y="1443346"/>
            <a:ext cx="1566000" cy="1467600"/>
          </a:xfrm>
          <a:prstGeom prst="ellipse">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7"/>
        <p:cNvGrpSpPr/>
        <p:nvPr/>
      </p:nvGrpSpPr>
      <p:grpSpPr>
        <a:xfrm>
          <a:off x="0" y="0"/>
          <a:ext cx="0" cy="0"/>
          <a:chOff x="0" y="0"/>
          <a:chExt cx="0" cy="0"/>
        </a:xfrm>
      </p:grpSpPr>
      <p:pic>
        <p:nvPicPr>
          <p:cNvPr id="358" name="Google Shape;358;p14"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359" name="Google Shape;359;p14"/>
          <p:cNvSpPr/>
          <p:nvPr/>
        </p:nvSpPr>
        <p:spPr>
          <a:xfrm>
            <a:off x="1173806" y="585216"/>
            <a:ext cx="89790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居住者向け ワイン預りサービス</a:t>
            </a:r>
            <a:endParaRPr sz="2300">
              <a:solidFill>
                <a:schemeClr val="dk1"/>
              </a:solidFill>
              <a:latin typeface="Calibri"/>
              <a:ea typeface="Calibri"/>
              <a:cs typeface="Calibri"/>
              <a:sym typeface="Calibri"/>
            </a:endParaRPr>
          </a:p>
        </p:txBody>
      </p:sp>
      <p:sp>
        <p:nvSpPr>
          <p:cNvPr id="360" name="Google Shape;360;p14"/>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4"/>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362" name="Google Shape;362;p14"/>
          <p:cNvSpPr/>
          <p:nvPr/>
        </p:nvSpPr>
        <p:spPr>
          <a:xfrm>
            <a:off x="566928" y="1481328"/>
            <a:ext cx="2545004" cy="2103120"/>
          </a:xfrm>
          <a:prstGeom prst="roundRect">
            <a:avLst>
              <a:gd name="adj" fmla="val 2174"/>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4"/>
          <p:cNvSpPr/>
          <p:nvPr/>
        </p:nvSpPr>
        <p:spPr>
          <a:xfrm>
            <a:off x="822960" y="1682496"/>
            <a:ext cx="420624" cy="420624"/>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4"/>
          <p:cNvSpPr/>
          <p:nvPr/>
        </p:nvSpPr>
        <p:spPr>
          <a:xfrm>
            <a:off x="822960" y="168249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300" b="1">
                <a:solidFill>
                  <a:srgbClr val="FFFFFF"/>
                </a:solidFill>
                <a:latin typeface="Calibri"/>
                <a:ea typeface="Calibri"/>
                <a:cs typeface="Calibri"/>
                <a:sym typeface="Calibri"/>
              </a:rPr>
              <a:t>01</a:t>
            </a:r>
            <a:endParaRPr sz="1300">
              <a:solidFill>
                <a:schemeClr val="dk1"/>
              </a:solidFill>
              <a:latin typeface="Calibri"/>
              <a:ea typeface="Calibri"/>
              <a:cs typeface="Calibri"/>
              <a:sym typeface="Calibri"/>
            </a:endParaRPr>
          </a:p>
        </p:txBody>
      </p:sp>
      <p:sp>
        <p:nvSpPr>
          <p:cNvPr id="365" name="Google Shape;365;p14"/>
          <p:cNvSpPr/>
          <p:nvPr/>
        </p:nvSpPr>
        <p:spPr>
          <a:xfrm>
            <a:off x="822960" y="2212848"/>
            <a:ext cx="20329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500" b="1">
                <a:solidFill>
                  <a:srgbClr val="1A1A1A"/>
                </a:solidFill>
                <a:latin typeface="Arial"/>
                <a:ea typeface="Arial"/>
                <a:cs typeface="Arial"/>
                <a:sym typeface="Arial"/>
              </a:rPr>
              <a:t>お引き取り</a:t>
            </a:r>
            <a:endParaRPr sz="1500">
              <a:solidFill>
                <a:schemeClr val="dk1"/>
              </a:solidFill>
              <a:latin typeface="Calibri"/>
              <a:ea typeface="Calibri"/>
              <a:cs typeface="Calibri"/>
              <a:sym typeface="Calibri"/>
            </a:endParaRPr>
          </a:p>
        </p:txBody>
      </p:sp>
      <p:sp>
        <p:nvSpPr>
          <p:cNvPr id="366" name="Google Shape;366;p14"/>
          <p:cNvSpPr/>
          <p:nvPr/>
        </p:nvSpPr>
        <p:spPr>
          <a:xfrm>
            <a:off x="697150" y="2578600"/>
            <a:ext cx="2307000" cy="859500"/>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1080">
                <a:solidFill>
                  <a:srgbClr val="1A1A1A"/>
                </a:solidFill>
                <a:latin typeface="Arial"/>
                <a:ea typeface="Arial"/>
                <a:cs typeface="Arial"/>
                <a:sym typeface="Arial"/>
              </a:rPr>
              <a:t>現在の保管先・ご自宅へ伺い、全ボトルを回収。ヒルズ館内からの搬出も当社が対応。</a:t>
            </a:r>
            <a:endParaRPr sz="1080">
              <a:solidFill>
                <a:schemeClr val="dk1"/>
              </a:solidFill>
              <a:latin typeface="Calibri"/>
              <a:ea typeface="Calibri"/>
              <a:cs typeface="Calibri"/>
              <a:sym typeface="Calibri"/>
            </a:endParaRPr>
          </a:p>
        </p:txBody>
      </p:sp>
      <p:sp>
        <p:nvSpPr>
          <p:cNvPr id="367" name="Google Shape;367;p14"/>
          <p:cNvSpPr/>
          <p:nvPr/>
        </p:nvSpPr>
        <p:spPr>
          <a:xfrm>
            <a:off x="3404540" y="1481328"/>
            <a:ext cx="2545004" cy="2103120"/>
          </a:xfrm>
          <a:prstGeom prst="roundRect">
            <a:avLst>
              <a:gd name="adj" fmla="val 2174"/>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4"/>
          <p:cNvSpPr/>
          <p:nvPr/>
        </p:nvSpPr>
        <p:spPr>
          <a:xfrm>
            <a:off x="3660572" y="1682496"/>
            <a:ext cx="420624" cy="420624"/>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4"/>
          <p:cNvSpPr/>
          <p:nvPr/>
        </p:nvSpPr>
        <p:spPr>
          <a:xfrm>
            <a:off x="3660572" y="168249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300" b="1">
                <a:solidFill>
                  <a:srgbClr val="FFFFFF"/>
                </a:solidFill>
                <a:latin typeface="Calibri"/>
                <a:ea typeface="Calibri"/>
                <a:cs typeface="Calibri"/>
                <a:sym typeface="Calibri"/>
              </a:rPr>
              <a:t>02</a:t>
            </a:r>
            <a:endParaRPr sz="1300">
              <a:solidFill>
                <a:schemeClr val="dk1"/>
              </a:solidFill>
              <a:latin typeface="Calibri"/>
              <a:ea typeface="Calibri"/>
              <a:cs typeface="Calibri"/>
              <a:sym typeface="Calibri"/>
            </a:endParaRPr>
          </a:p>
        </p:txBody>
      </p:sp>
      <p:sp>
        <p:nvSpPr>
          <p:cNvPr id="370" name="Google Shape;370;p14"/>
          <p:cNvSpPr/>
          <p:nvPr/>
        </p:nvSpPr>
        <p:spPr>
          <a:xfrm>
            <a:off x="3660572" y="2212848"/>
            <a:ext cx="20329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500" b="1">
                <a:solidFill>
                  <a:srgbClr val="1A1A1A"/>
                </a:solidFill>
                <a:latin typeface="Arial"/>
                <a:ea typeface="Arial"/>
                <a:cs typeface="Arial"/>
                <a:sym typeface="Arial"/>
              </a:rPr>
              <a:t>撮影・登録・一覧化</a:t>
            </a:r>
            <a:endParaRPr sz="1500">
              <a:solidFill>
                <a:schemeClr val="dk1"/>
              </a:solidFill>
              <a:latin typeface="Calibri"/>
              <a:ea typeface="Calibri"/>
              <a:cs typeface="Calibri"/>
              <a:sym typeface="Calibri"/>
            </a:endParaRPr>
          </a:p>
        </p:txBody>
      </p:sp>
      <p:sp>
        <p:nvSpPr>
          <p:cNvPr id="371" name="Google Shape;371;p14"/>
          <p:cNvSpPr/>
          <p:nvPr/>
        </p:nvSpPr>
        <p:spPr>
          <a:xfrm>
            <a:off x="3588450" y="2578600"/>
            <a:ext cx="2190600" cy="859500"/>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1080">
                <a:solidFill>
                  <a:srgbClr val="1A1A1A"/>
                </a:solidFill>
                <a:latin typeface="Arial"/>
                <a:ea typeface="Arial"/>
                <a:cs typeface="Arial"/>
                <a:sym typeface="Arial"/>
              </a:rPr>
              <a:t>全ボトルを撮影しリスト化。何を何本持っているか、</a:t>
            </a:r>
            <a:r>
              <a:rPr lang="en-US" sz="1080">
                <a:solidFill>
                  <a:srgbClr val="1A1A1A"/>
                </a:solidFill>
              </a:rPr>
              <a:t>スマホで一元管理。</a:t>
            </a:r>
            <a:endParaRPr sz="1080">
              <a:solidFill>
                <a:schemeClr val="dk1"/>
              </a:solidFill>
              <a:latin typeface="Calibri"/>
              <a:ea typeface="Calibri"/>
              <a:cs typeface="Calibri"/>
              <a:sym typeface="Calibri"/>
            </a:endParaRPr>
          </a:p>
        </p:txBody>
      </p:sp>
      <p:sp>
        <p:nvSpPr>
          <p:cNvPr id="372" name="Google Shape;372;p14"/>
          <p:cNvSpPr/>
          <p:nvPr/>
        </p:nvSpPr>
        <p:spPr>
          <a:xfrm>
            <a:off x="6242152" y="1481328"/>
            <a:ext cx="2545004" cy="2103120"/>
          </a:xfrm>
          <a:prstGeom prst="roundRect">
            <a:avLst>
              <a:gd name="adj" fmla="val 2174"/>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4"/>
          <p:cNvSpPr/>
          <p:nvPr/>
        </p:nvSpPr>
        <p:spPr>
          <a:xfrm>
            <a:off x="6498184" y="1682496"/>
            <a:ext cx="420624" cy="420624"/>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4"/>
          <p:cNvSpPr/>
          <p:nvPr/>
        </p:nvSpPr>
        <p:spPr>
          <a:xfrm>
            <a:off x="6498184" y="168249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300" b="1">
                <a:solidFill>
                  <a:srgbClr val="FFFFFF"/>
                </a:solidFill>
                <a:latin typeface="Calibri"/>
                <a:ea typeface="Calibri"/>
                <a:cs typeface="Calibri"/>
                <a:sym typeface="Calibri"/>
              </a:rPr>
              <a:t>03</a:t>
            </a:r>
            <a:endParaRPr sz="1300">
              <a:solidFill>
                <a:schemeClr val="dk1"/>
              </a:solidFill>
              <a:latin typeface="Calibri"/>
              <a:ea typeface="Calibri"/>
              <a:cs typeface="Calibri"/>
              <a:sym typeface="Calibri"/>
            </a:endParaRPr>
          </a:p>
        </p:txBody>
      </p:sp>
      <p:sp>
        <p:nvSpPr>
          <p:cNvPr id="375" name="Google Shape;375;p14"/>
          <p:cNvSpPr/>
          <p:nvPr/>
        </p:nvSpPr>
        <p:spPr>
          <a:xfrm>
            <a:off x="6498184" y="2212848"/>
            <a:ext cx="20329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500" b="1">
                <a:solidFill>
                  <a:srgbClr val="1A1A1A"/>
                </a:solidFill>
                <a:latin typeface="Arial"/>
                <a:ea typeface="Arial"/>
                <a:cs typeface="Arial"/>
                <a:sym typeface="Arial"/>
              </a:rPr>
              <a:t>定温保管</a:t>
            </a:r>
            <a:endParaRPr sz="1500">
              <a:solidFill>
                <a:schemeClr val="dk1"/>
              </a:solidFill>
              <a:latin typeface="Calibri"/>
              <a:ea typeface="Calibri"/>
              <a:cs typeface="Calibri"/>
              <a:sym typeface="Calibri"/>
            </a:endParaRPr>
          </a:p>
        </p:txBody>
      </p:sp>
      <p:sp>
        <p:nvSpPr>
          <p:cNvPr id="376" name="Google Shape;376;p14"/>
          <p:cNvSpPr/>
          <p:nvPr/>
        </p:nvSpPr>
        <p:spPr>
          <a:xfrm>
            <a:off x="6369604" y="2578600"/>
            <a:ext cx="2244600" cy="859500"/>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1080">
                <a:solidFill>
                  <a:srgbClr val="1A1A1A"/>
                </a:solidFill>
                <a:latin typeface="Arial"/>
                <a:ea typeface="Arial"/>
                <a:cs typeface="Arial"/>
                <a:sym typeface="Arial"/>
              </a:rPr>
              <a:t>24時間365日</a:t>
            </a:r>
            <a:r>
              <a:rPr lang="en-US" sz="1080">
                <a:solidFill>
                  <a:srgbClr val="1A1A1A"/>
                </a:solidFill>
              </a:rPr>
              <a:t>、</a:t>
            </a:r>
            <a:r>
              <a:rPr lang="en-US" sz="1080">
                <a:solidFill>
                  <a:srgbClr val="1A1A1A"/>
                </a:solidFill>
                <a:latin typeface="Arial"/>
                <a:ea typeface="Arial"/>
                <a:cs typeface="Arial"/>
                <a:sym typeface="Arial"/>
              </a:rPr>
              <a:t>温度・湿度を徹底監視。東日本大震災でも破損実績ゼロの専門倉庫で保管。</a:t>
            </a:r>
            <a:endParaRPr sz="1080">
              <a:solidFill>
                <a:schemeClr val="dk1"/>
              </a:solidFill>
              <a:latin typeface="Calibri"/>
              <a:ea typeface="Calibri"/>
              <a:cs typeface="Calibri"/>
              <a:sym typeface="Calibri"/>
            </a:endParaRPr>
          </a:p>
        </p:txBody>
      </p:sp>
      <p:sp>
        <p:nvSpPr>
          <p:cNvPr id="377" name="Google Shape;377;p14"/>
          <p:cNvSpPr/>
          <p:nvPr/>
        </p:nvSpPr>
        <p:spPr>
          <a:xfrm>
            <a:off x="9079763" y="1481328"/>
            <a:ext cx="2545004" cy="2103120"/>
          </a:xfrm>
          <a:prstGeom prst="roundRect">
            <a:avLst>
              <a:gd name="adj" fmla="val 2174"/>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4"/>
          <p:cNvSpPr/>
          <p:nvPr/>
        </p:nvSpPr>
        <p:spPr>
          <a:xfrm>
            <a:off x="9335795" y="1682496"/>
            <a:ext cx="420624" cy="420624"/>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4"/>
          <p:cNvSpPr/>
          <p:nvPr/>
        </p:nvSpPr>
        <p:spPr>
          <a:xfrm>
            <a:off x="9335795" y="168249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300" b="1">
                <a:solidFill>
                  <a:srgbClr val="FFFFFF"/>
                </a:solidFill>
                <a:latin typeface="Calibri"/>
                <a:ea typeface="Calibri"/>
                <a:cs typeface="Calibri"/>
                <a:sym typeface="Calibri"/>
              </a:rPr>
              <a:t>04</a:t>
            </a:r>
            <a:endParaRPr sz="1300">
              <a:solidFill>
                <a:schemeClr val="dk1"/>
              </a:solidFill>
              <a:latin typeface="Calibri"/>
              <a:ea typeface="Calibri"/>
              <a:cs typeface="Calibri"/>
              <a:sym typeface="Calibri"/>
            </a:endParaRPr>
          </a:p>
        </p:txBody>
      </p:sp>
      <p:sp>
        <p:nvSpPr>
          <p:cNvPr id="380" name="Google Shape;380;p14"/>
          <p:cNvSpPr/>
          <p:nvPr/>
        </p:nvSpPr>
        <p:spPr>
          <a:xfrm>
            <a:off x="9335795" y="2212848"/>
            <a:ext cx="20329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500" b="1">
                <a:solidFill>
                  <a:srgbClr val="1A1A1A"/>
                </a:solidFill>
                <a:latin typeface="Arial"/>
                <a:ea typeface="Arial"/>
                <a:cs typeface="Arial"/>
                <a:sym typeface="Arial"/>
              </a:rPr>
              <a:t>出庫・ご配送</a:t>
            </a:r>
            <a:endParaRPr sz="1500">
              <a:solidFill>
                <a:schemeClr val="dk1"/>
              </a:solidFill>
              <a:latin typeface="Calibri"/>
              <a:ea typeface="Calibri"/>
              <a:cs typeface="Calibri"/>
              <a:sym typeface="Calibri"/>
            </a:endParaRPr>
          </a:p>
        </p:txBody>
      </p:sp>
      <p:sp>
        <p:nvSpPr>
          <p:cNvPr id="381" name="Google Shape;381;p14"/>
          <p:cNvSpPr/>
          <p:nvPr/>
        </p:nvSpPr>
        <p:spPr>
          <a:xfrm>
            <a:off x="9235700" y="2578600"/>
            <a:ext cx="2244600" cy="859500"/>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1080">
                <a:solidFill>
                  <a:srgbClr val="1A1A1A"/>
                </a:solidFill>
                <a:latin typeface="Arial"/>
                <a:ea typeface="Arial"/>
                <a:cs typeface="Arial"/>
                <a:sym typeface="Arial"/>
              </a:rPr>
              <a:t>回数無制限。ご自宅・会食先・贈答先へ。都心はWineGOで当日配送も可能。</a:t>
            </a:r>
            <a:endParaRPr sz="1080">
              <a:solidFill>
                <a:schemeClr val="dk1"/>
              </a:solidFill>
              <a:latin typeface="Calibri"/>
              <a:ea typeface="Calibri"/>
              <a:cs typeface="Calibri"/>
              <a:sym typeface="Calibri"/>
            </a:endParaRPr>
          </a:p>
        </p:txBody>
      </p:sp>
      <p:sp>
        <p:nvSpPr>
          <p:cNvPr id="382" name="Google Shape;382;p14"/>
          <p:cNvSpPr/>
          <p:nvPr/>
        </p:nvSpPr>
        <p:spPr>
          <a:xfrm>
            <a:off x="414528" y="4014216"/>
            <a:ext cx="5541300" cy="1481400"/>
          </a:xfrm>
          <a:prstGeom prst="roundRect">
            <a:avLst>
              <a:gd name="adj" fmla="val 308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4"/>
          <p:cNvSpPr/>
          <p:nvPr/>
        </p:nvSpPr>
        <p:spPr>
          <a:xfrm>
            <a:off x="688848" y="4160520"/>
            <a:ext cx="49377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400"/>
              <a:buFont typeface="Arial"/>
              <a:buNone/>
            </a:pPr>
            <a:r>
              <a:rPr lang="en-US" sz="1400" b="1">
                <a:solidFill>
                  <a:srgbClr val="C68965"/>
                </a:solidFill>
                <a:latin typeface="Arial"/>
                <a:ea typeface="Arial"/>
                <a:cs typeface="Arial"/>
                <a:sym typeface="Arial"/>
              </a:rPr>
              <a:t>安心の担保</a:t>
            </a:r>
            <a:endParaRPr sz="1400">
              <a:solidFill>
                <a:srgbClr val="C68965"/>
              </a:solidFill>
              <a:latin typeface="Calibri"/>
              <a:ea typeface="Calibri"/>
              <a:cs typeface="Calibri"/>
              <a:sym typeface="Calibri"/>
            </a:endParaRPr>
          </a:p>
        </p:txBody>
      </p:sp>
      <p:sp>
        <p:nvSpPr>
          <p:cNvPr id="384" name="Google Shape;384;p14"/>
          <p:cNvSpPr/>
          <p:nvPr/>
        </p:nvSpPr>
        <p:spPr>
          <a:xfrm>
            <a:off x="566925" y="4489700"/>
            <a:ext cx="5234400" cy="932700"/>
          </a:xfrm>
          <a:prstGeom prst="rect">
            <a:avLst/>
          </a:prstGeom>
          <a:noFill/>
          <a:ln>
            <a:noFill/>
          </a:ln>
        </p:spPr>
        <p:txBody>
          <a:bodyPr spcFirstLastPara="1" wrap="square" lIns="0" tIns="0" rIns="0" bIns="0" anchor="ctr" anchorCtr="0">
            <a:noAutofit/>
          </a:bodyPr>
          <a:lstStyle/>
          <a:p>
            <a:pPr marL="342900" marR="0" lvl="0" indent="-355600" algn="l" rtl="0">
              <a:lnSpc>
                <a:spcPct val="137254"/>
              </a:lnSpc>
              <a:spcBef>
                <a:spcPts val="0"/>
              </a:spcBef>
              <a:spcAft>
                <a:spcPts val="0"/>
              </a:spcAft>
              <a:buClr>
                <a:srgbClr val="1A1A1A"/>
              </a:buClr>
              <a:buSzPts val="1220"/>
              <a:buFont typeface="Arial"/>
              <a:buChar char="▪"/>
            </a:pPr>
            <a:r>
              <a:rPr lang="en-US" sz="1220">
                <a:solidFill>
                  <a:srgbClr val="1A1A1A"/>
                </a:solidFill>
                <a:latin typeface="Arial"/>
                <a:ea typeface="Arial"/>
                <a:cs typeface="Arial"/>
                <a:sym typeface="Arial"/>
              </a:rPr>
              <a:t>動産保険の付保（事業者責による破損は全額補償）</a:t>
            </a:r>
            <a:endParaRPr sz="1220">
              <a:solidFill>
                <a:schemeClr val="dk1"/>
              </a:solidFill>
              <a:latin typeface="Calibri"/>
              <a:ea typeface="Calibri"/>
              <a:cs typeface="Calibri"/>
              <a:sym typeface="Calibri"/>
            </a:endParaRPr>
          </a:p>
          <a:p>
            <a:pPr marL="342900" marR="0" lvl="0" indent="-355600" algn="l" rtl="0">
              <a:lnSpc>
                <a:spcPct val="137254"/>
              </a:lnSpc>
              <a:spcBef>
                <a:spcPts val="300"/>
              </a:spcBef>
              <a:spcAft>
                <a:spcPts val="0"/>
              </a:spcAft>
              <a:buClr>
                <a:srgbClr val="1A1A1A"/>
              </a:buClr>
              <a:buSzPts val="1220"/>
              <a:buFont typeface="Arial"/>
              <a:buChar char="▪"/>
            </a:pPr>
            <a:r>
              <a:rPr lang="en-US" sz="1220">
                <a:solidFill>
                  <a:srgbClr val="1A1A1A"/>
                </a:solidFill>
                <a:latin typeface="Arial"/>
                <a:ea typeface="Arial"/>
                <a:cs typeface="Arial"/>
                <a:sym typeface="Arial"/>
              </a:rPr>
              <a:t>正規ルート仕入と真贋保証、プロヴナンス管理</a:t>
            </a:r>
            <a:endParaRPr sz="1220">
              <a:solidFill>
                <a:schemeClr val="dk1"/>
              </a:solidFill>
              <a:latin typeface="Calibri"/>
              <a:ea typeface="Calibri"/>
              <a:cs typeface="Calibri"/>
              <a:sym typeface="Calibri"/>
            </a:endParaRPr>
          </a:p>
          <a:p>
            <a:pPr marL="342900" marR="0" lvl="0" indent="-355600" algn="l" rtl="0">
              <a:lnSpc>
                <a:spcPct val="137254"/>
              </a:lnSpc>
              <a:spcBef>
                <a:spcPts val="300"/>
              </a:spcBef>
              <a:spcAft>
                <a:spcPts val="0"/>
              </a:spcAft>
              <a:buClr>
                <a:srgbClr val="1A1A1A"/>
              </a:buClr>
              <a:buSzPts val="1220"/>
              <a:buFont typeface="Arial"/>
              <a:buChar char="▪"/>
            </a:pPr>
            <a:r>
              <a:rPr lang="en-US" sz="1220">
                <a:solidFill>
                  <a:srgbClr val="1A1A1A"/>
                </a:solidFill>
                <a:latin typeface="Arial"/>
                <a:ea typeface="Arial"/>
                <a:cs typeface="Arial"/>
                <a:sym typeface="Arial"/>
              </a:rPr>
              <a:t>セキュリティ・補助電源完備の専門倉庫（都内2か所）</a:t>
            </a:r>
            <a:endParaRPr sz="1220">
              <a:solidFill>
                <a:schemeClr val="dk1"/>
              </a:solidFill>
              <a:latin typeface="Calibri"/>
              <a:ea typeface="Calibri"/>
              <a:cs typeface="Calibri"/>
              <a:sym typeface="Calibri"/>
            </a:endParaRPr>
          </a:p>
        </p:txBody>
      </p:sp>
      <p:sp>
        <p:nvSpPr>
          <p:cNvPr id="385" name="Google Shape;385;p14"/>
          <p:cNvSpPr/>
          <p:nvPr/>
        </p:nvSpPr>
        <p:spPr>
          <a:xfrm>
            <a:off x="6284976" y="4014216"/>
            <a:ext cx="5541300" cy="1481400"/>
          </a:xfrm>
          <a:prstGeom prst="roundRect">
            <a:avLst>
              <a:gd name="adj" fmla="val 3086"/>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4"/>
          <p:cNvSpPr/>
          <p:nvPr/>
        </p:nvSpPr>
        <p:spPr>
          <a:xfrm>
            <a:off x="6559296" y="4160520"/>
            <a:ext cx="49377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400"/>
              <a:buFont typeface="Arial"/>
              <a:buNone/>
            </a:pPr>
            <a:r>
              <a:rPr lang="en-US" sz="1400" b="1">
                <a:solidFill>
                  <a:srgbClr val="C68965"/>
                </a:solidFill>
                <a:latin typeface="Arial"/>
                <a:ea typeface="Arial"/>
                <a:cs typeface="Arial"/>
                <a:sym typeface="Arial"/>
              </a:rPr>
              <a:t>レジデンス向けオプション</a:t>
            </a:r>
            <a:endParaRPr sz="1400">
              <a:solidFill>
                <a:srgbClr val="C68965"/>
              </a:solidFill>
              <a:latin typeface="Calibri"/>
              <a:ea typeface="Calibri"/>
              <a:cs typeface="Calibri"/>
              <a:sym typeface="Calibri"/>
            </a:endParaRPr>
          </a:p>
        </p:txBody>
      </p:sp>
      <p:sp>
        <p:nvSpPr>
          <p:cNvPr id="387" name="Google Shape;387;p14"/>
          <p:cNvSpPr/>
          <p:nvPr/>
        </p:nvSpPr>
        <p:spPr>
          <a:xfrm>
            <a:off x="6439467" y="4489700"/>
            <a:ext cx="5234400" cy="932700"/>
          </a:xfrm>
          <a:prstGeom prst="rect">
            <a:avLst/>
          </a:prstGeom>
          <a:noFill/>
          <a:ln>
            <a:noFill/>
          </a:ln>
        </p:spPr>
        <p:txBody>
          <a:bodyPr spcFirstLastPara="1" wrap="square" lIns="0" tIns="0" rIns="0" bIns="0" anchor="ctr" anchorCtr="0">
            <a:noAutofit/>
          </a:bodyPr>
          <a:lstStyle/>
          <a:p>
            <a:pPr marL="342900" marR="0" lvl="0" indent="-355600" algn="l" rtl="0">
              <a:lnSpc>
                <a:spcPct val="137254"/>
              </a:lnSpc>
              <a:spcBef>
                <a:spcPts val="0"/>
              </a:spcBef>
              <a:spcAft>
                <a:spcPts val="0"/>
              </a:spcAft>
              <a:buClr>
                <a:srgbClr val="E3E6E8"/>
              </a:buClr>
              <a:buSzPts val="1220"/>
              <a:buFont typeface="Arial"/>
              <a:buChar char="▪"/>
            </a:pPr>
            <a:r>
              <a:rPr lang="en-US" sz="1220">
                <a:solidFill>
                  <a:srgbClr val="E3E6E8"/>
                </a:solidFill>
                <a:latin typeface="Arial"/>
                <a:ea typeface="Arial"/>
                <a:cs typeface="Arial"/>
                <a:sym typeface="Arial"/>
              </a:rPr>
              <a:t>居住者は100本まで保管料無料枠を付帯（101本目以降 月100円／本）</a:t>
            </a:r>
            <a:endParaRPr sz="1220">
              <a:solidFill>
                <a:schemeClr val="dk1"/>
              </a:solidFill>
              <a:latin typeface="Calibri"/>
              <a:ea typeface="Calibri"/>
              <a:cs typeface="Calibri"/>
              <a:sym typeface="Calibri"/>
            </a:endParaRPr>
          </a:p>
          <a:p>
            <a:pPr marL="342900" marR="0" lvl="0" indent="-355600" algn="l" rtl="0">
              <a:lnSpc>
                <a:spcPct val="137254"/>
              </a:lnSpc>
              <a:spcBef>
                <a:spcPts val="300"/>
              </a:spcBef>
              <a:spcAft>
                <a:spcPts val="0"/>
              </a:spcAft>
              <a:buClr>
                <a:srgbClr val="E3E6E8"/>
              </a:buClr>
              <a:buSzPts val="1220"/>
              <a:buFont typeface="Arial"/>
              <a:buChar char="▪"/>
            </a:pPr>
            <a:r>
              <a:rPr lang="en-US" sz="1220">
                <a:solidFill>
                  <a:srgbClr val="E3E6E8"/>
                </a:solidFill>
                <a:latin typeface="Arial"/>
                <a:ea typeface="Arial"/>
                <a:cs typeface="Arial"/>
                <a:sym typeface="Arial"/>
              </a:rPr>
              <a:t>住宅棟共用部に「プライベートセラー」を設置し、館内で受渡し</a:t>
            </a:r>
            <a:endParaRPr sz="1220">
              <a:solidFill>
                <a:schemeClr val="dk1"/>
              </a:solidFill>
              <a:latin typeface="Calibri"/>
              <a:ea typeface="Calibri"/>
              <a:cs typeface="Calibri"/>
              <a:sym typeface="Calibri"/>
            </a:endParaRPr>
          </a:p>
          <a:p>
            <a:pPr marL="342900" marR="0" lvl="0" indent="-355600" algn="l" rtl="0">
              <a:lnSpc>
                <a:spcPct val="137254"/>
              </a:lnSpc>
              <a:spcBef>
                <a:spcPts val="300"/>
              </a:spcBef>
              <a:spcAft>
                <a:spcPts val="0"/>
              </a:spcAft>
              <a:buClr>
                <a:srgbClr val="E3E6E8"/>
              </a:buClr>
              <a:buSzPts val="1220"/>
              <a:buFont typeface="Arial"/>
              <a:buChar char="▪"/>
            </a:pPr>
            <a:r>
              <a:rPr lang="en-US" sz="1220">
                <a:solidFill>
                  <a:srgbClr val="E3E6E8"/>
                </a:solidFill>
                <a:latin typeface="Arial"/>
                <a:ea typeface="Arial"/>
                <a:cs typeface="Arial"/>
                <a:sym typeface="Arial"/>
              </a:rPr>
              <a:t>ご入居・ご退去時の一括引取／一括納品にも対応</a:t>
            </a:r>
            <a:endParaRPr sz="1220">
              <a:solidFill>
                <a:schemeClr val="dk1"/>
              </a:solidFill>
              <a:latin typeface="Calibri"/>
              <a:ea typeface="Calibri"/>
              <a:cs typeface="Calibri"/>
              <a:sym typeface="Calibri"/>
            </a:endParaRPr>
          </a:p>
        </p:txBody>
      </p:sp>
      <p:sp>
        <p:nvSpPr>
          <p:cNvPr id="388" name="Google Shape;388;p14"/>
          <p:cNvSpPr/>
          <p:nvPr/>
        </p:nvSpPr>
        <p:spPr>
          <a:xfrm>
            <a:off x="414528" y="5641848"/>
            <a:ext cx="10972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000"/>
              <a:buFont typeface="Arial"/>
              <a:buNone/>
            </a:pPr>
            <a:r>
              <a:rPr lang="en-US" sz="1200">
                <a:solidFill>
                  <a:srgbClr val="6E7378"/>
                </a:solidFill>
                <a:latin typeface="Arial"/>
                <a:ea typeface="Arial"/>
                <a:cs typeface="Arial"/>
                <a:sym typeface="Arial"/>
              </a:rPr>
              <a:t>預けたワインはCloud Wine Cave</a:t>
            </a:r>
            <a:r>
              <a:rPr lang="en-US" sz="1200">
                <a:solidFill>
                  <a:srgbClr val="6E7378"/>
                </a:solidFill>
              </a:rPr>
              <a:t>と同じ</a:t>
            </a:r>
            <a:r>
              <a:rPr lang="en-US" sz="1200">
                <a:solidFill>
                  <a:srgbClr val="6E7378"/>
                </a:solidFill>
                <a:latin typeface="Arial"/>
                <a:ea typeface="Arial"/>
                <a:cs typeface="Arial"/>
                <a:sym typeface="Arial"/>
              </a:rPr>
              <a:t>画面から一元で確認でき、当社の在庫と同じ操作で出庫できます。</a:t>
            </a:r>
            <a:endParaRPr sz="1200">
              <a:solidFill>
                <a:schemeClr val="dk1"/>
              </a:solidFill>
              <a:latin typeface="Calibri"/>
              <a:ea typeface="Calibri"/>
              <a:cs typeface="Calibri"/>
              <a:sym typeface="Calibri"/>
            </a:endParaRPr>
          </a:p>
        </p:txBody>
      </p:sp>
      <p:grpSp>
        <p:nvGrpSpPr>
          <p:cNvPr id="389" name="Google Shape;389;p14"/>
          <p:cNvGrpSpPr/>
          <p:nvPr/>
        </p:nvGrpSpPr>
        <p:grpSpPr>
          <a:xfrm>
            <a:off x="0" y="419025"/>
            <a:ext cx="1029900" cy="585888"/>
            <a:chOff x="0" y="419025"/>
            <a:chExt cx="1029900" cy="585888"/>
          </a:xfrm>
        </p:grpSpPr>
        <p:sp>
          <p:nvSpPr>
            <p:cNvPr id="390" name="Google Shape;390;p14"/>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 name="Google Shape;391;p14"/>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06</a:t>
              </a:r>
              <a:endParaRPr sz="2200">
                <a:solidFill>
                  <a:schemeClr val="dk1"/>
                </a:solidFill>
                <a:latin typeface="Calibri"/>
                <a:ea typeface="Calibri"/>
                <a:cs typeface="Calibri"/>
                <a:sym typeface="Calibri"/>
              </a:endParaRPr>
            </a:p>
          </p:txBody>
        </p:sp>
      </p:grpSp>
      <p:sp>
        <p:nvSpPr>
          <p:cNvPr id="392" name="Google Shape;392;p14"/>
          <p:cNvSpPr/>
          <p:nvPr/>
        </p:nvSpPr>
        <p:spPr>
          <a:xfrm rot="5400000">
            <a:off x="3034588" y="2401492"/>
            <a:ext cx="447300" cy="202200"/>
          </a:xfrm>
          <a:prstGeom prst="triangle">
            <a:avLst>
              <a:gd name="adj" fmla="val 50000"/>
            </a:avLst>
          </a:prstGeom>
          <a:solidFill>
            <a:srgbClr val="C6896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93;p14"/>
          <p:cNvSpPr/>
          <p:nvPr/>
        </p:nvSpPr>
        <p:spPr>
          <a:xfrm rot="5400000">
            <a:off x="5872188" y="2401492"/>
            <a:ext cx="447300" cy="202200"/>
          </a:xfrm>
          <a:prstGeom prst="triangle">
            <a:avLst>
              <a:gd name="adj" fmla="val 50000"/>
            </a:avLst>
          </a:prstGeom>
          <a:solidFill>
            <a:srgbClr val="C6896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 name="Google Shape;394;p14"/>
          <p:cNvSpPr/>
          <p:nvPr/>
        </p:nvSpPr>
        <p:spPr>
          <a:xfrm rot="5400000">
            <a:off x="8709800" y="2401492"/>
            <a:ext cx="447300" cy="202200"/>
          </a:xfrm>
          <a:prstGeom prst="triangle">
            <a:avLst>
              <a:gd name="adj" fmla="val 50000"/>
            </a:avLst>
          </a:prstGeom>
          <a:solidFill>
            <a:srgbClr val="C6896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9"/>
        <p:cNvGrpSpPr/>
        <p:nvPr/>
      </p:nvGrpSpPr>
      <p:grpSpPr>
        <a:xfrm>
          <a:off x="0" y="0"/>
          <a:ext cx="0" cy="0"/>
          <a:chOff x="0" y="0"/>
          <a:chExt cx="0" cy="0"/>
        </a:xfrm>
      </p:grpSpPr>
      <p:pic>
        <p:nvPicPr>
          <p:cNvPr id="400" name="Google Shape;400;p16"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401" name="Google Shape;401;p16"/>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森ビル様にとっての価値</a:t>
            </a:r>
            <a:endParaRPr sz="2300">
              <a:solidFill>
                <a:schemeClr val="dk1"/>
              </a:solidFill>
              <a:latin typeface="Calibri"/>
              <a:ea typeface="Calibri"/>
              <a:cs typeface="Calibri"/>
              <a:sym typeface="Calibri"/>
            </a:endParaRPr>
          </a:p>
        </p:txBody>
      </p:sp>
      <p:sp>
        <p:nvSpPr>
          <p:cNvPr id="402" name="Google Shape;402;p16"/>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単発のテナント誘致ではなく、街区の「体験の質」と「収益源」を同時に増やすご提案です。</a:t>
            </a:r>
            <a:endParaRPr sz="1150">
              <a:solidFill>
                <a:schemeClr val="dk1"/>
              </a:solidFill>
              <a:latin typeface="Calibri"/>
              <a:ea typeface="Calibri"/>
              <a:cs typeface="Calibri"/>
              <a:sym typeface="Calibri"/>
            </a:endParaRPr>
          </a:p>
        </p:txBody>
      </p:sp>
      <p:sp>
        <p:nvSpPr>
          <p:cNvPr id="403" name="Google Shape;403;p16"/>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6"/>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405" name="Google Shape;405;p16"/>
          <p:cNvSpPr/>
          <p:nvPr/>
        </p:nvSpPr>
        <p:spPr>
          <a:xfrm>
            <a:off x="566928" y="1463040"/>
            <a:ext cx="5382616" cy="1719072"/>
          </a:xfrm>
          <a:prstGeom prst="roundRect">
            <a:avLst>
              <a:gd name="adj" fmla="val 2660"/>
            </a:avLst>
          </a:prstGeom>
          <a:solidFill>
            <a:srgbClr val="DDE1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6"/>
          <p:cNvSpPr/>
          <p:nvPr/>
        </p:nvSpPr>
        <p:spPr>
          <a:xfrm>
            <a:off x="859536" y="1645920"/>
            <a:ext cx="47974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600"/>
              <a:buFont typeface="Arial"/>
              <a:buNone/>
            </a:pPr>
            <a:r>
              <a:rPr lang="en-US" sz="1600" b="1">
                <a:solidFill>
                  <a:srgbClr val="2F5496"/>
                </a:solidFill>
                <a:latin typeface="Arial"/>
                <a:ea typeface="Arial"/>
                <a:cs typeface="Arial"/>
                <a:sym typeface="Arial"/>
              </a:rPr>
              <a:t>テナント飲食店の収益性</a:t>
            </a:r>
            <a:endParaRPr sz="1600">
              <a:solidFill>
                <a:srgbClr val="2F5496"/>
              </a:solidFill>
              <a:latin typeface="Calibri"/>
              <a:ea typeface="Calibri"/>
              <a:cs typeface="Calibri"/>
              <a:sym typeface="Calibri"/>
            </a:endParaRPr>
          </a:p>
        </p:txBody>
      </p:sp>
      <p:sp>
        <p:nvSpPr>
          <p:cNvPr id="407" name="Google Shape;407;p16"/>
          <p:cNvSpPr/>
          <p:nvPr/>
        </p:nvSpPr>
        <p:spPr>
          <a:xfrm>
            <a:off x="859536" y="1993392"/>
            <a:ext cx="4797400" cy="713232"/>
          </a:xfrm>
          <a:prstGeom prst="rect">
            <a:avLst/>
          </a:prstGeom>
          <a:noFill/>
          <a:ln>
            <a:noFill/>
          </a:ln>
        </p:spPr>
        <p:txBody>
          <a:bodyPr spcFirstLastPara="1" wrap="square" lIns="0" tIns="0" rIns="0" bIns="0" anchor="ctr" anchorCtr="0">
            <a:noAutofit/>
          </a:bodyPr>
          <a:lstStyle/>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ワイン在庫の資金拘束とセラー投資が消え、原価が下がります。</a:t>
            </a:r>
            <a:endParaRPr sz="1260">
              <a:solidFill>
                <a:srgbClr val="1A1A1A"/>
              </a:solidFill>
              <a:latin typeface="Arial"/>
              <a:ea typeface="Arial"/>
              <a:cs typeface="Arial"/>
              <a:sym typeface="Arial"/>
            </a:endParaRPr>
          </a:p>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店の利益率が上がることは、賃料負担力に直結します。</a:t>
            </a:r>
            <a:endParaRPr sz="1260">
              <a:solidFill>
                <a:schemeClr val="dk1"/>
              </a:solidFill>
              <a:latin typeface="Calibri"/>
              <a:ea typeface="Calibri"/>
              <a:cs typeface="Calibri"/>
              <a:sym typeface="Calibri"/>
            </a:endParaRPr>
          </a:p>
        </p:txBody>
      </p:sp>
      <p:sp>
        <p:nvSpPr>
          <p:cNvPr id="408" name="Google Shape;408;p16"/>
          <p:cNvSpPr/>
          <p:nvPr/>
        </p:nvSpPr>
        <p:spPr>
          <a:xfrm>
            <a:off x="859536" y="2761501"/>
            <a:ext cx="47973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60"/>
              <a:buFont typeface="Arial"/>
              <a:buNone/>
            </a:pPr>
            <a:r>
              <a:rPr lang="en-US" sz="960" b="1">
                <a:solidFill>
                  <a:srgbClr val="C68965"/>
                </a:solidFill>
                <a:latin typeface="Arial"/>
                <a:ea typeface="Arial"/>
                <a:cs typeface="Arial"/>
                <a:sym typeface="Arial"/>
              </a:rPr>
              <a:t>主要KPI：テナント売上／退店率</a:t>
            </a:r>
            <a:endParaRPr sz="960">
              <a:solidFill>
                <a:srgbClr val="C68965"/>
              </a:solidFill>
              <a:latin typeface="Calibri"/>
              <a:ea typeface="Calibri"/>
              <a:cs typeface="Calibri"/>
              <a:sym typeface="Calibri"/>
            </a:endParaRPr>
          </a:p>
        </p:txBody>
      </p:sp>
      <p:sp>
        <p:nvSpPr>
          <p:cNvPr id="409" name="Google Shape;409;p16"/>
          <p:cNvSpPr/>
          <p:nvPr/>
        </p:nvSpPr>
        <p:spPr>
          <a:xfrm>
            <a:off x="6242152" y="1463040"/>
            <a:ext cx="5382616" cy="1719072"/>
          </a:xfrm>
          <a:prstGeom prst="roundRect">
            <a:avLst>
              <a:gd name="adj" fmla="val 2660"/>
            </a:avLst>
          </a:prstGeom>
          <a:solidFill>
            <a:srgbClr val="DDE1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6"/>
          <p:cNvSpPr/>
          <p:nvPr/>
        </p:nvSpPr>
        <p:spPr>
          <a:xfrm>
            <a:off x="6534760" y="1645920"/>
            <a:ext cx="47974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600"/>
              <a:buFont typeface="Arial"/>
              <a:buNone/>
            </a:pPr>
            <a:r>
              <a:rPr lang="en-US" sz="1600" b="1">
                <a:solidFill>
                  <a:srgbClr val="2F5496"/>
                </a:solidFill>
                <a:latin typeface="Arial"/>
                <a:ea typeface="Arial"/>
                <a:cs typeface="Arial"/>
                <a:sym typeface="Arial"/>
              </a:rPr>
              <a:t>ワーカー・居住者の満足</a:t>
            </a:r>
            <a:endParaRPr sz="1600">
              <a:solidFill>
                <a:srgbClr val="2F5496"/>
              </a:solidFill>
              <a:latin typeface="Calibri"/>
              <a:ea typeface="Calibri"/>
              <a:cs typeface="Calibri"/>
              <a:sym typeface="Calibri"/>
            </a:endParaRPr>
          </a:p>
        </p:txBody>
      </p:sp>
      <p:sp>
        <p:nvSpPr>
          <p:cNvPr id="411" name="Google Shape;411;p16"/>
          <p:cNvSpPr/>
          <p:nvPr/>
        </p:nvSpPr>
        <p:spPr>
          <a:xfrm>
            <a:off x="6534760" y="1993392"/>
            <a:ext cx="4797400" cy="713232"/>
          </a:xfrm>
          <a:prstGeom prst="rect">
            <a:avLst/>
          </a:prstGeom>
          <a:noFill/>
          <a:ln>
            <a:noFill/>
          </a:ln>
        </p:spPr>
        <p:txBody>
          <a:bodyPr spcFirstLastPara="1" wrap="square" lIns="0" tIns="0" rIns="0" bIns="0" anchor="ctr" anchorCtr="0">
            <a:noAutofit/>
          </a:bodyPr>
          <a:lstStyle/>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接待コストの実質削減と、居住者の生活の質。</a:t>
            </a:r>
            <a:endParaRPr sz="1260">
              <a:solidFill>
                <a:srgbClr val="1A1A1A"/>
              </a:solidFill>
              <a:latin typeface="Arial"/>
              <a:ea typeface="Arial"/>
              <a:cs typeface="Arial"/>
              <a:sym typeface="Arial"/>
            </a:endParaRPr>
          </a:p>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数字で語れる福利厚生であり、更新・定着の理由になります。</a:t>
            </a:r>
            <a:endParaRPr sz="1260">
              <a:solidFill>
                <a:schemeClr val="dk1"/>
              </a:solidFill>
              <a:latin typeface="Calibri"/>
              <a:ea typeface="Calibri"/>
              <a:cs typeface="Calibri"/>
              <a:sym typeface="Calibri"/>
            </a:endParaRPr>
          </a:p>
        </p:txBody>
      </p:sp>
      <p:sp>
        <p:nvSpPr>
          <p:cNvPr id="412" name="Google Shape;412;p16"/>
          <p:cNvSpPr/>
          <p:nvPr/>
        </p:nvSpPr>
        <p:spPr>
          <a:xfrm>
            <a:off x="6534760" y="2761501"/>
            <a:ext cx="47973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60"/>
              <a:buFont typeface="Arial"/>
              <a:buNone/>
            </a:pPr>
            <a:r>
              <a:rPr lang="en-US" sz="960" b="1">
                <a:solidFill>
                  <a:srgbClr val="C68965"/>
                </a:solidFill>
                <a:latin typeface="Arial"/>
                <a:ea typeface="Arial"/>
                <a:cs typeface="Arial"/>
                <a:sym typeface="Arial"/>
              </a:rPr>
              <a:t>主要KPI：会員加入率／契約更新率</a:t>
            </a:r>
            <a:endParaRPr sz="960">
              <a:solidFill>
                <a:srgbClr val="C68965"/>
              </a:solidFill>
              <a:latin typeface="Calibri"/>
              <a:ea typeface="Calibri"/>
              <a:cs typeface="Calibri"/>
              <a:sym typeface="Calibri"/>
            </a:endParaRPr>
          </a:p>
        </p:txBody>
      </p:sp>
      <p:sp>
        <p:nvSpPr>
          <p:cNvPr id="413" name="Google Shape;413;p16"/>
          <p:cNvSpPr/>
          <p:nvPr/>
        </p:nvSpPr>
        <p:spPr>
          <a:xfrm>
            <a:off x="566928" y="3419856"/>
            <a:ext cx="5382616" cy="1719072"/>
          </a:xfrm>
          <a:prstGeom prst="roundRect">
            <a:avLst>
              <a:gd name="adj" fmla="val 2660"/>
            </a:avLst>
          </a:prstGeom>
          <a:solidFill>
            <a:srgbClr val="DDE1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6"/>
          <p:cNvSpPr/>
          <p:nvPr/>
        </p:nvSpPr>
        <p:spPr>
          <a:xfrm>
            <a:off x="859536" y="3602736"/>
            <a:ext cx="47974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600"/>
              <a:buFont typeface="Arial"/>
              <a:buNone/>
            </a:pPr>
            <a:r>
              <a:rPr lang="en-US" sz="1600" b="1">
                <a:solidFill>
                  <a:srgbClr val="2F5496"/>
                </a:solidFill>
                <a:latin typeface="Arial"/>
                <a:ea typeface="Arial"/>
                <a:cs typeface="Arial"/>
                <a:sym typeface="Arial"/>
              </a:rPr>
              <a:t>街のブランドと話題性</a:t>
            </a:r>
            <a:endParaRPr sz="1600">
              <a:solidFill>
                <a:srgbClr val="2F5496"/>
              </a:solidFill>
              <a:latin typeface="Calibri"/>
              <a:ea typeface="Calibri"/>
              <a:cs typeface="Calibri"/>
              <a:sym typeface="Calibri"/>
            </a:endParaRPr>
          </a:p>
        </p:txBody>
      </p:sp>
      <p:sp>
        <p:nvSpPr>
          <p:cNvPr id="415" name="Google Shape;415;p16"/>
          <p:cNvSpPr/>
          <p:nvPr/>
        </p:nvSpPr>
        <p:spPr>
          <a:xfrm>
            <a:off x="859536" y="3950208"/>
            <a:ext cx="4797400" cy="713232"/>
          </a:xfrm>
          <a:prstGeom prst="rect">
            <a:avLst/>
          </a:prstGeom>
          <a:noFill/>
          <a:ln>
            <a:noFill/>
          </a:ln>
        </p:spPr>
        <p:txBody>
          <a:bodyPr spcFirstLastPara="1" wrap="square" lIns="0" tIns="0" rIns="0" bIns="0" anchor="ctr" anchorCtr="0">
            <a:noAutofit/>
          </a:bodyPr>
          <a:lstStyle/>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数千本のウォークインセラーとミシュランシェフ。</a:t>
            </a:r>
            <a:endParaRPr sz="1260">
              <a:solidFill>
                <a:srgbClr val="1A1A1A"/>
              </a:solidFill>
              <a:latin typeface="Arial"/>
              <a:ea typeface="Arial"/>
              <a:cs typeface="Arial"/>
              <a:sym typeface="Arial"/>
            </a:endParaRPr>
          </a:p>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国内外のメディア露出と、海外富裕層の来街動機をつくります。</a:t>
            </a:r>
            <a:endParaRPr sz="1260">
              <a:solidFill>
                <a:schemeClr val="dk1"/>
              </a:solidFill>
              <a:latin typeface="Calibri"/>
              <a:ea typeface="Calibri"/>
              <a:cs typeface="Calibri"/>
              <a:sym typeface="Calibri"/>
            </a:endParaRPr>
          </a:p>
        </p:txBody>
      </p:sp>
      <p:sp>
        <p:nvSpPr>
          <p:cNvPr id="416" name="Google Shape;416;p16"/>
          <p:cNvSpPr/>
          <p:nvPr/>
        </p:nvSpPr>
        <p:spPr>
          <a:xfrm>
            <a:off x="859536" y="4736592"/>
            <a:ext cx="47974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60"/>
              <a:buFont typeface="Arial"/>
              <a:buNone/>
            </a:pPr>
            <a:r>
              <a:rPr lang="en-US" sz="960" b="1">
                <a:solidFill>
                  <a:srgbClr val="C68965"/>
                </a:solidFill>
                <a:latin typeface="Arial"/>
                <a:ea typeface="Arial"/>
                <a:cs typeface="Arial"/>
                <a:sym typeface="Arial"/>
              </a:rPr>
              <a:t>主要KPI：メディア露出／来館者数</a:t>
            </a:r>
            <a:endParaRPr sz="960">
              <a:solidFill>
                <a:srgbClr val="C68965"/>
              </a:solidFill>
              <a:latin typeface="Calibri"/>
              <a:ea typeface="Calibri"/>
              <a:cs typeface="Calibri"/>
              <a:sym typeface="Calibri"/>
            </a:endParaRPr>
          </a:p>
        </p:txBody>
      </p:sp>
      <p:sp>
        <p:nvSpPr>
          <p:cNvPr id="417" name="Google Shape;417;p16"/>
          <p:cNvSpPr/>
          <p:nvPr/>
        </p:nvSpPr>
        <p:spPr>
          <a:xfrm>
            <a:off x="6242152" y="3419856"/>
            <a:ext cx="5382616" cy="1719072"/>
          </a:xfrm>
          <a:prstGeom prst="roundRect">
            <a:avLst>
              <a:gd name="adj" fmla="val 2660"/>
            </a:avLst>
          </a:prstGeom>
          <a:solidFill>
            <a:srgbClr val="DDE1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6"/>
          <p:cNvSpPr/>
          <p:nvPr/>
        </p:nvSpPr>
        <p:spPr>
          <a:xfrm>
            <a:off x="6534760" y="3602736"/>
            <a:ext cx="47974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600"/>
              <a:buFont typeface="Arial"/>
              <a:buNone/>
            </a:pPr>
            <a:r>
              <a:rPr lang="en-US" sz="1600" b="1">
                <a:solidFill>
                  <a:srgbClr val="2F5496"/>
                </a:solidFill>
                <a:latin typeface="Arial"/>
                <a:ea typeface="Arial"/>
                <a:cs typeface="Arial"/>
                <a:sym typeface="Arial"/>
              </a:rPr>
              <a:t>新規収益</a:t>
            </a:r>
            <a:endParaRPr sz="1600">
              <a:solidFill>
                <a:srgbClr val="2F5496"/>
              </a:solidFill>
              <a:latin typeface="Calibri"/>
              <a:ea typeface="Calibri"/>
              <a:cs typeface="Calibri"/>
              <a:sym typeface="Calibri"/>
            </a:endParaRPr>
          </a:p>
        </p:txBody>
      </p:sp>
      <p:sp>
        <p:nvSpPr>
          <p:cNvPr id="419" name="Google Shape;419;p16"/>
          <p:cNvSpPr/>
          <p:nvPr/>
        </p:nvSpPr>
        <p:spPr>
          <a:xfrm>
            <a:off x="6534760" y="3950208"/>
            <a:ext cx="4797400" cy="713232"/>
          </a:xfrm>
          <a:prstGeom prst="rect">
            <a:avLst/>
          </a:prstGeom>
          <a:noFill/>
          <a:ln>
            <a:noFill/>
          </a:ln>
        </p:spPr>
        <p:txBody>
          <a:bodyPr spcFirstLastPara="1" wrap="square" lIns="0" tIns="0" rIns="0" bIns="0" anchor="ctr" anchorCtr="0">
            <a:noAutofit/>
          </a:bodyPr>
          <a:lstStyle/>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会費・売上のレベニューシェア、賃料＋歩合、送客手数料。</a:t>
            </a:r>
            <a:endParaRPr sz="1260">
              <a:solidFill>
                <a:srgbClr val="1A1A1A"/>
              </a:solidFill>
              <a:latin typeface="Arial"/>
              <a:ea typeface="Arial"/>
              <a:cs typeface="Arial"/>
              <a:sym typeface="Arial"/>
            </a:endParaRPr>
          </a:p>
          <a:p>
            <a:pPr marL="0" marR="0" lvl="0" indent="0" algn="l" rtl="0">
              <a:lnSpc>
                <a:spcPct val="141509"/>
              </a:lnSpc>
              <a:spcBef>
                <a:spcPts val="0"/>
              </a:spcBef>
              <a:spcAft>
                <a:spcPts val="0"/>
              </a:spcAft>
              <a:buClr>
                <a:srgbClr val="1A1A1A"/>
              </a:buClr>
              <a:buSzPts val="1060"/>
              <a:buFont typeface="Arial"/>
              <a:buNone/>
            </a:pPr>
            <a:r>
              <a:rPr lang="en-US" sz="1260">
                <a:solidFill>
                  <a:srgbClr val="1A1A1A"/>
                </a:solidFill>
                <a:latin typeface="Arial"/>
                <a:ea typeface="Arial"/>
                <a:cs typeface="Arial"/>
                <a:sym typeface="Arial"/>
              </a:rPr>
              <a:t>森ビル様の追加投資を伴わない収益源です。</a:t>
            </a:r>
            <a:endParaRPr sz="1260">
              <a:solidFill>
                <a:schemeClr val="dk1"/>
              </a:solidFill>
              <a:latin typeface="Calibri"/>
              <a:ea typeface="Calibri"/>
              <a:cs typeface="Calibri"/>
              <a:sym typeface="Calibri"/>
            </a:endParaRPr>
          </a:p>
        </p:txBody>
      </p:sp>
      <p:sp>
        <p:nvSpPr>
          <p:cNvPr id="420" name="Google Shape;420;p16"/>
          <p:cNvSpPr/>
          <p:nvPr/>
        </p:nvSpPr>
        <p:spPr>
          <a:xfrm>
            <a:off x="6534760" y="4718317"/>
            <a:ext cx="47973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60"/>
              <a:buFont typeface="Arial"/>
              <a:buNone/>
            </a:pPr>
            <a:r>
              <a:rPr lang="en-US" sz="960" b="1">
                <a:solidFill>
                  <a:srgbClr val="C68965"/>
                </a:solidFill>
                <a:latin typeface="Arial"/>
                <a:ea typeface="Arial"/>
                <a:cs typeface="Arial"/>
                <a:sym typeface="Arial"/>
              </a:rPr>
              <a:t>主要KPI：レベニューシェア収入</a:t>
            </a:r>
            <a:endParaRPr sz="960">
              <a:solidFill>
                <a:srgbClr val="C68965"/>
              </a:solidFill>
              <a:latin typeface="Calibri"/>
              <a:ea typeface="Calibri"/>
              <a:cs typeface="Calibri"/>
              <a:sym typeface="Calibri"/>
            </a:endParaRPr>
          </a:p>
        </p:txBody>
      </p:sp>
      <p:sp>
        <p:nvSpPr>
          <p:cNvPr id="421" name="Google Shape;421;p16"/>
          <p:cNvSpPr/>
          <p:nvPr/>
        </p:nvSpPr>
        <p:spPr>
          <a:xfrm>
            <a:off x="566928" y="5498592"/>
            <a:ext cx="11057700" cy="45720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6"/>
          <p:cNvSpPr/>
          <p:nvPr/>
        </p:nvSpPr>
        <p:spPr>
          <a:xfrm>
            <a:off x="566928" y="5498592"/>
            <a:ext cx="110577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500" b="1">
                <a:solidFill>
                  <a:srgbClr val="FFFFFF"/>
                </a:solidFill>
                <a:latin typeface="Arial"/>
                <a:ea typeface="Arial"/>
                <a:cs typeface="Arial"/>
                <a:sym typeface="Arial"/>
              </a:rPr>
              <a:t>森ビル様に</a:t>
            </a:r>
            <a:r>
              <a:rPr lang="en-US" sz="1500" b="1">
                <a:solidFill>
                  <a:srgbClr val="FFFFFF"/>
                </a:solidFill>
              </a:rPr>
              <a:t>て</a:t>
            </a:r>
            <a:r>
              <a:rPr lang="en-US" sz="1500" b="1">
                <a:solidFill>
                  <a:srgbClr val="FFFFFF"/>
                </a:solidFill>
                <a:latin typeface="Arial"/>
                <a:ea typeface="Arial"/>
                <a:cs typeface="Arial"/>
                <a:sym typeface="Arial"/>
              </a:rPr>
              <a:t>新たな設備投資・人員配置</a:t>
            </a:r>
            <a:r>
              <a:rPr lang="en-US" sz="1500" b="1">
                <a:solidFill>
                  <a:srgbClr val="FFFFFF"/>
                </a:solidFill>
              </a:rPr>
              <a:t>を行うことなく導入開始できる設計</a:t>
            </a:r>
            <a:endParaRPr sz="15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7"/>
        <p:cNvGrpSpPr/>
        <p:nvPr/>
      </p:nvGrpSpPr>
      <p:grpSpPr>
        <a:xfrm>
          <a:off x="0" y="0"/>
          <a:ext cx="0" cy="0"/>
          <a:chOff x="0" y="0"/>
          <a:chExt cx="0" cy="0"/>
        </a:xfrm>
      </p:grpSpPr>
      <p:cxnSp>
        <p:nvCxnSpPr>
          <p:cNvPr id="428" name="Google Shape;428;g3f99e209501_0_52"/>
          <p:cNvCxnSpPr/>
          <p:nvPr/>
        </p:nvCxnSpPr>
        <p:spPr>
          <a:xfrm>
            <a:off x="3304730" y="3403329"/>
            <a:ext cx="561300" cy="0"/>
          </a:xfrm>
          <a:prstGeom prst="straightConnector1">
            <a:avLst/>
          </a:prstGeom>
          <a:noFill/>
          <a:ln w="38100" cap="flat" cmpd="sng">
            <a:solidFill>
              <a:srgbClr val="B97245"/>
            </a:solidFill>
            <a:prstDash val="solid"/>
            <a:round/>
            <a:headEnd type="diamond" w="sm" len="sm"/>
            <a:tailEnd type="none" w="sm" len="sm"/>
          </a:ln>
        </p:spPr>
      </p:cxnSp>
      <p:grpSp>
        <p:nvGrpSpPr>
          <p:cNvPr id="429" name="Google Shape;429;g3f99e209501_0_52"/>
          <p:cNvGrpSpPr/>
          <p:nvPr/>
        </p:nvGrpSpPr>
        <p:grpSpPr>
          <a:xfrm>
            <a:off x="469412" y="1509156"/>
            <a:ext cx="11253176" cy="3839688"/>
            <a:chOff x="503272" y="1538801"/>
            <a:chExt cx="11253176" cy="3839688"/>
          </a:xfrm>
        </p:grpSpPr>
        <p:sp>
          <p:nvSpPr>
            <p:cNvPr id="430" name="Google Shape;430;g3f99e209501_0_52"/>
            <p:cNvSpPr/>
            <p:nvPr/>
          </p:nvSpPr>
          <p:spPr>
            <a:xfrm rot="10800000">
              <a:off x="8156448" y="3938489"/>
              <a:ext cx="3600000" cy="1440000"/>
            </a:xfrm>
            <a:prstGeom prst="snip2DiagRect">
              <a:avLst>
                <a:gd name="adj1" fmla="val 0"/>
                <a:gd name="adj2" fmla="val 16667"/>
              </a:avLst>
            </a:prstGeom>
            <a:solidFill>
              <a:srgbClr val="E3E6E8"/>
            </a:solidFill>
            <a:ln w="1905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1" name="Google Shape;431;g3f99e209501_0_52"/>
            <p:cNvSpPr/>
            <p:nvPr/>
          </p:nvSpPr>
          <p:spPr>
            <a:xfrm flipH="1">
              <a:off x="8156448" y="1538801"/>
              <a:ext cx="3600000" cy="1440000"/>
            </a:xfrm>
            <a:prstGeom prst="snip2DiagRect">
              <a:avLst>
                <a:gd name="adj1" fmla="val 0"/>
                <a:gd name="adj2" fmla="val 16667"/>
              </a:avLst>
            </a:prstGeom>
            <a:solidFill>
              <a:srgbClr val="E3E6E8"/>
            </a:solidFill>
            <a:ln w="1905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2" name="Google Shape;432;g3f99e209501_0_52"/>
            <p:cNvSpPr/>
            <p:nvPr/>
          </p:nvSpPr>
          <p:spPr>
            <a:xfrm rot="10800000" flipH="1">
              <a:off x="503272" y="3938489"/>
              <a:ext cx="3600000" cy="1440000"/>
            </a:xfrm>
            <a:prstGeom prst="snip2DiagRect">
              <a:avLst>
                <a:gd name="adj1" fmla="val 0"/>
                <a:gd name="adj2" fmla="val 16667"/>
              </a:avLst>
            </a:prstGeom>
            <a:solidFill>
              <a:srgbClr val="F5EFEB"/>
            </a:solidFill>
            <a:ln w="19050" cap="flat" cmpd="sng">
              <a:solidFill>
                <a:srgbClr val="B9724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3" name="Google Shape;433;g3f99e209501_0_52"/>
            <p:cNvSpPr/>
            <p:nvPr/>
          </p:nvSpPr>
          <p:spPr>
            <a:xfrm>
              <a:off x="503272" y="1538801"/>
              <a:ext cx="3600000" cy="1440000"/>
            </a:xfrm>
            <a:prstGeom prst="snip2DiagRect">
              <a:avLst>
                <a:gd name="adj1" fmla="val 0"/>
                <a:gd name="adj2" fmla="val 16667"/>
              </a:avLst>
            </a:prstGeom>
            <a:solidFill>
              <a:srgbClr val="F5EFEB"/>
            </a:solidFill>
            <a:ln w="19050" cap="flat" cmpd="sng">
              <a:solidFill>
                <a:srgbClr val="B9724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cxnSp>
        <p:nvCxnSpPr>
          <p:cNvPr id="434" name="Google Shape;434;g3f99e209501_0_52"/>
          <p:cNvCxnSpPr/>
          <p:nvPr/>
        </p:nvCxnSpPr>
        <p:spPr>
          <a:xfrm>
            <a:off x="8333683" y="3403329"/>
            <a:ext cx="561300" cy="0"/>
          </a:xfrm>
          <a:prstGeom prst="straightConnector1">
            <a:avLst/>
          </a:prstGeom>
          <a:noFill/>
          <a:ln w="38100" cap="flat" cmpd="sng">
            <a:solidFill>
              <a:srgbClr val="2F5496"/>
            </a:solidFill>
            <a:prstDash val="solid"/>
            <a:round/>
            <a:headEnd type="none" w="sm" len="sm"/>
            <a:tailEnd type="diamond" w="sm" len="sm"/>
          </a:ln>
        </p:spPr>
      </p:cxnSp>
      <p:sp>
        <p:nvSpPr>
          <p:cNvPr id="435" name="Google Shape;435;g3f99e209501_0_52"/>
          <p:cNvSpPr/>
          <p:nvPr/>
        </p:nvSpPr>
        <p:spPr>
          <a:xfrm>
            <a:off x="3857250" y="1675250"/>
            <a:ext cx="4477500" cy="3628200"/>
          </a:xfrm>
          <a:prstGeom prst="roundRect">
            <a:avLst>
              <a:gd name="adj" fmla="val 30256"/>
            </a:avLst>
          </a:prstGeom>
          <a:solidFill>
            <a:srgbClr val="2F3941"/>
          </a:solidFill>
          <a:ln w="12700" cap="flat" cmpd="sng">
            <a:solidFill>
              <a:srgbClr val="33333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436" name="Google Shape;436;g3f99e209501_0_52" descr="preencoded.png"/>
          <p:cNvPicPr preferRelativeResize="0"/>
          <p:nvPr/>
        </p:nvPicPr>
        <p:blipFill rotWithShape="1">
          <a:blip r:embed="rId3">
            <a:alphaModFix/>
          </a:blip>
          <a:srcRect/>
          <a:stretch/>
        </p:blipFill>
        <p:spPr>
          <a:xfrm>
            <a:off x="10381183" y="292608"/>
            <a:ext cx="1243583" cy="247802"/>
          </a:xfrm>
          <a:prstGeom prst="rect">
            <a:avLst/>
          </a:prstGeom>
          <a:noFill/>
          <a:ln>
            <a:noFill/>
          </a:ln>
        </p:spPr>
      </p:pic>
      <p:sp>
        <p:nvSpPr>
          <p:cNvPr id="437" name="Google Shape;437;g3f99e209501_0_52"/>
          <p:cNvSpPr/>
          <p:nvPr/>
        </p:nvSpPr>
        <p:spPr>
          <a:xfrm>
            <a:off x="5532120" y="2775089"/>
            <a:ext cx="1115700" cy="237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050"/>
              <a:buFont typeface="Arial"/>
              <a:buNone/>
            </a:pPr>
            <a:r>
              <a:rPr lang="en-US" sz="1050" b="1">
                <a:solidFill>
                  <a:schemeClr val="dk1"/>
                </a:solidFill>
                <a:latin typeface="Arial"/>
                <a:ea typeface="Arial"/>
                <a:cs typeface="Arial"/>
                <a:sym typeface="Arial"/>
              </a:rPr>
              <a:t>THE FUTURE</a:t>
            </a:r>
            <a:endParaRPr sz="1050">
              <a:solidFill>
                <a:schemeClr val="dk1"/>
              </a:solidFill>
              <a:latin typeface="Calibri"/>
              <a:ea typeface="Calibri"/>
              <a:cs typeface="Calibri"/>
              <a:sym typeface="Calibri"/>
            </a:endParaRPr>
          </a:p>
        </p:txBody>
      </p:sp>
      <p:sp>
        <p:nvSpPr>
          <p:cNvPr id="438" name="Google Shape;438;g3f99e209501_0_52"/>
          <p:cNvSpPr/>
          <p:nvPr/>
        </p:nvSpPr>
        <p:spPr>
          <a:xfrm>
            <a:off x="566928" y="627541"/>
            <a:ext cx="95097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2030年のヒルズ ─ 人とワインが巡る街</a:t>
            </a:r>
            <a:endParaRPr sz="2300">
              <a:solidFill>
                <a:schemeClr val="dk1"/>
              </a:solidFill>
              <a:latin typeface="Calibri"/>
              <a:ea typeface="Calibri"/>
              <a:cs typeface="Calibri"/>
              <a:sym typeface="Calibri"/>
            </a:endParaRPr>
          </a:p>
        </p:txBody>
      </p:sp>
      <p:sp>
        <p:nvSpPr>
          <p:cNvPr id="439" name="Google Shape;439;g3f99e209501_0_52"/>
          <p:cNvSpPr/>
          <p:nvPr/>
        </p:nvSpPr>
        <p:spPr>
          <a:xfrm>
            <a:off x="0" y="6583680"/>
            <a:ext cx="12191700" cy="27420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g3f99e209501_0_52"/>
          <p:cNvSpPr/>
          <p:nvPr/>
        </p:nvSpPr>
        <p:spPr>
          <a:xfrm>
            <a:off x="566928" y="6272784"/>
            <a:ext cx="29262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441" name="Google Shape;441;g3f99e209501_0_52"/>
          <p:cNvSpPr/>
          <p:nvPr/>
        </p:nvSpPr>
        <p:spPr>
          <a:xfrm>
            <a:off x="4450080" y="2007093"/>
            <a:ext cx="3291900" cy="219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68A65"/>
              </a:buClr>
              <a:buSzPts val="1400"/>
              <a:buFont typeface="Arial"/>
              <a:buNone/>
            </a:pPr>
            <a:r>
              <a:rPr lang="en-US" sz="1400" b="1">
                <a:solidFill>
                  <a:srgbClr val="C68A65"/>
                </a:solidFill>
                <a:latin typeface="Arial"/>
                <a:ea typeface="Arial"/>
                <a:cs typeface="Arial"/>
                <a:sym typeface="Arial"/>
              </a:rPr>
              <a:t>ヒルズを中心に、人・ワインが巡る</a:t>
            </a:r>
            <a:endParaRPr sz="1400">
              <a:solidFill>
                <a:schemeClr val="dk1"/>
              </a:solidFill>
              <a:latin typeface="Calibri"/>
              <a:ea typeface="Calibri"/>
              <a:cs typeface="Calibri"/>
              <a:sym typeface="Calibri"/>
            </a:endParaRPr>
          </a:p>
        </p:txBody>
      </p:sp>
      <p:sp>
        <p:nvSpPr>
          <p:cNvPr id="442" name="Google Shape;442;g3f99e209501_0_52"/>
          <p:cNvSpPr/>
          <p:nvPr/>
        </p:nvSpPr>
        <p:spPr>
          <a:xfrm>
            <a:off x="8515205" y="1693161"/>
            <a:ext cx="2796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F5496"/>
              </a:buClr>
              <a:buSzPts val="1600"/>
              <a:buFont typeface="Arial"/>
              <a:buNone/>
            </a:pPr>
            <a:r>
              <a:rPr lang="en-US" sz="1600" b="1">
                <a:solidFill>
                  <a:srgbClr val="2F5496"/>
                </a:solidFill>
                <a:latin typeface="Arial"/>
                <a:ea typeface="Arial"/>
                <a:cs typeface="Arial"/>
                <a:sym typeface="Arial"/>
              </a:rPr>
              <a:t>レジデンス居住者</a:t>
            </a:r>
            <a:endParaRPr sz="1600">
              <a:solidFill>
                <a:srgbClr val="2F5496"/>
              </a:solidFill>
              <a:latin typeface="Calibri"/>
              <a:ea typeface="Calibri"/>
              <a:cs typeface="Calibri"/>
              <a:sym typeface="Calibri"/>
            </a:endParaRPr>
          </a:p>
        </p:txBody>
      </p:sp>
      <p:sp>
        <p:nvSpPr>
          <p:cNvPr id="443" name="Google Shape;443;g3f99e209501_0_52"/>
          <p:cNvSpPr/>
          <p:nvPr/>
        </p:nvSpPr>
        <p:spPr>
          <a:xfrm>
            <a:off x="8642306" y="1989985"/>
            <a:ext cx="25419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自分のセラーが、街の中に</a:t>
            </a:r>
            <a:endParaRPr sz="1400" u="sng">
              <a:solidFill>
                <a:schemeClr val="dk1"/>
              </a:solidFill>
              <a:latin typeface="Calibri"/>
              <a:ea typeface="Calibri"/>
              <a:cs typeface="Calibri"/>
              <a:sym typeface="Calibri"/>
            </a:endParaRPr>
          </a:p>
        </p:txBody>
      </p:sp>
      <p:sp>
        <p:nvSpPr>
          <p:cNvPr id="444" name="Google Shape;444;g3f99e209501_0_52"/>
          <p:cNvSpPr/>
          <p:nvPr/>
        </p:nvSpPr>
        <p:spPr>
          <a:xfrm>
            <a:off x="8477149" y="2367650"/>
            <a:ext cx="28713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買う・預ける・出すがスマホひとつで完結。</a:t>
            </a:r>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飲みたい夜に、飲みたい一本がすぐ届く。</a:t>
            </a:r>
            <a:endParaRPr sz="1100">
              <a:solidFill>
                <a:schemeClr val="dk1"/>
              </a:solidFill>
              <a:latin typeface="Calibri"/>
              <a:ea typeface="Calibri"/>
              <a:cs typeface="Calibri"/>
              <a:sym typeface="Calibri"/>
            </a:endParaRPr>
          </a:p>
        </p:txBody>
      </p:sp>
      <p:sp>
        <p:nvSpPr>
          <p:cNvPr id="445" name="Google Shape;445;g3f99e209501_0_52"/>
          <p:cNvSpPr/>
          <p:nvPr/>
        </p:nvSpPr>
        <p:spPr>
          <a:xfrm>
            <a:off x="721396" y="1693161"/>
            <a:ext cx="3075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55A11"/>
              </a:buClr>
              <a:buSzPts val="1600"/>
              <a:buFont typeface="Arial"/>
              <a:buNone/>
            </a:pPr>
            <a:r>
              <a:rPr lang="en-US" sz="1600" b="1">
                <a:solidFill>
                  <a:srgbClr val="B97245"/>
                </a:solidFill>
                <a:latin typeface="Arial"/>
                <a:ea typeface="Arial"/>
                <a:cs typeface="Arial"/>
                <a:sym typeface="Arial"/>
              </a:rPr>
              <a:t>商業施設</a:t>
            </a:r>
            <a:endParaRPr sz="1600">
              <a:solidFill>
                <a:srgbClr val="B97245"/>
              </a:solidFill>
              <a:latin typeface="Calibri"/>
              <a:ea typeface="Calibri"/>
              <a:cs typeface="Calibri"/>
              <a:sym typeface="Calibri"/>
            </a:endParaRPr>
          </a:p>
        </p:txBody>
      </p:sp>
      <p:sp>
        <p:nvSpPr>
          <p:cNvPr id="446" name="Google Shape;446;g3f99e209501_0_52"/>
          <p:cNvSpPr/>
          <p:nvPr/>
        </p:nvSpPr>
        <p:spPr>
          <a:xfrm>
            <a:off x="869799" y="1989985"/>
            <a:ext cx="2779200" cy="330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人とワインが集う、街の目的地に</a:t>
            </a:r>
            <a:endParaRPr sz="1400" u="sng">
              <a:solidFill>
                <a:schemeClr val="dk1"/>
              </a:solidFill>
              <a:latin typeface="Calibri"/>
              <a:ea typeface="Calibri"/>
              <a:cs typeface="Calibri"/>
              <a:sym typeface="Calibri"/>
            </a:endParaRPr>
          </a:p>
        </p:txBody>
      </p:sp>
      <p:sp>
        <p:nvSpPr>
          <p:cNvPr id="447" name="Google Shape;447;g3f99e209501_0_52"/>
          <p:cNvSpPr/>
          <p:nvPr/>
        </p:nvSpPr>
        <p:spPr>
          <a:xfrm>
            <a:off x="741214" y="2424354"/>
            <a:ext cx="30351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数千本のウォークインセラーとミシュランシェフ。ワインを目的に人が集まる場所へ。</a:t>
            </a:r>
            <a:endParaRPr sz="1100">
              <a:solidFill>
                <a:schemeClr val="dk1"/>
              </a:solidFill>
              <a:latin typeface="Calibri"/>
              <a:ea typeface="Calibri"/>
              <a:cs typeface="Calibri"/>
              <a:sym typeface="Calibri"/>
            </a:endParaRPr>
          </a:p>
        </p:txBody>
      </p:sp>
      <p:sp>
        <p:nvSpPr>
          <p:cNvPr id="448" name="Google Shape;448;g3f99e209501_0_52"/>
          <p:cNvSpPr/>
          <p:nvPr/>
        </p:nvSpPr>
        <p:spPr>
          <a:xfrm>
            <a:off x="741148" y="4071169"/>
            <a:ext cx="30759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C55A11"/>
              </a:buClr>
              <a:buSzPts val="1600"/>
              <a:buFont typeface="Arial"/>
              <a:buNone/>
            </a:pPr>
            <a:r>
              <a:rPr lang="en-US" sz="1600" b="1">
                <a:solidFill>
                  <a:srgbClr val="B97245"/>
                </a:solidFill>
                <a:latin typeface="Arial"/>
                <a:ea typeface="Arial"/>
                <a:cs typeface="Arial"/>
                <a:sym typeface="Arial"/>
              </a:rPr>
              <a:t>テナント飲食店</a:t>
            </a:r>
            <a:endParaRPr sz="1600">
              <a:solidFill>
                <a:srgbClr val="B97245"/>
              </a:solidFill>
              <a:latin typeface="Calibri"/>
              <a:ea typeface="Calibri"/>
              <a:cs typeface="Calibri"/>
              <a:sym typeface="Calibri"/>
            </a:endParaRPr>
          </a:p>
        </p:txBody>
      </p:sp>
      <p:sp>
        <p:nvSpPr>
          <p:cNvPr id="449" name="Google Shape;449;g3f99e209501_0_52"/>
          <p:cNvSpPr/>
          <p:nvPr/>
        </p:nvSpPr>
        <p:spPr>
          <a:xfrm>
            <a:off x="909304" y="4394293"/>
            <a:ext cx="27396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在庫ゼロで、世界水準のリストを</a:t>
            </a:r>
            <a:endParaRPr sz="1400" u="sng">
              <a:solidFill>
                <a:schemeClr val="dk1"/>
              </a:solidFill>
              <a:latin typeface="Calibri"/>
              <a:ea typeface="Calibri"/>
              <a:cs typeface="Calibri"/>
              <a:sym typeface="Calibri"/>
            </a:endParaRPr>
          </a:p>
        </p:txBody>
      </p:sp>
      <p:sp>
        <p:nvSpPr>
          <p:cNvPr id="450" name="Google Shape;450;g3f99e209501_0_52"/>
          <p:cNvSpPr/>
          <p:nvPr/>
        </p:nvSpPr>
        <p:spPr>
          <a:xfrm>
            <a:off x="842904" y="4786134"/>
            <a:ext cx="28713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在庫リスク・店内セラーは最小化しつつ、</a:t>
            </a:r>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数万本の品ぞろえへ。</a:t>
            </a:r>
            <a:endParaRPr sz="1100">
              <a:solidFill>
                <a:schemeClr val="dk1"/>
              </a:solidFill>
              <a:latin typeface="Calibri"/>
              <a:ea typeface="Calibri"/>
              <a:cs typeface="Calibri"/>
              <a:sym typeface="Calibri"/>
            </a:endParaRPr>
          </a:p>
        </p:txBody>
      </p:sp>
      <p:sp>
        <p:nvSpPr>
          <p:cNvPr id="451" name="Google Shape;451;g3f99e209501_0_52"/>
          <p:cNvSpPr/>
          <p:nvPr/>
        </p:nvSpPr>
        <p:spPr>
          <a:xfrm>
            <a:off x="8515205" y="4071169"/>
            <a:ext cx="2796300" cy="2013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F5496"/>
              </a:buClr>
              <a:buSzPts val="1600"/>
              <a:buFont typeface="Arial"/>
              <a:buNone/>
            </a:pPr>
            <a:r>
              <a:rPr lang="en-US" sz="1600" b="1">
                <a:solidFill>
                  <a:srgbClr val="2F5496"/>
                </a:solidFill>
                <a:latin typeface="Arial"/>
                <a:ea typeface="Arial"/>
                <a:cs typeface="Arial"/>
                <a:sym typeface="Arial"/>
              </a:rPr>
              <a:t>ヒルズワーカー</a:t>
            </a:r>
            <a:endParaRPr sz="1600">
              <a:solidFill>
                <a:srgbClr val="2F5496"/>
              </a:solidFill>
              <a:latin typeface="Calibri"/>
              <a:ea typeface="Calibri"/>
              <a:cs typeface="Calibri"/>
              <a:sym typeface="Calibri"/>
            </a:endParaRPr>
          </a:p>
        </p:txBody>
      </p:sp>
      <p:sp>
        <p:nvSpPr>
          <p:cNvPr id="452" name="Google Shape;452;g3f99e209501_0_52"/>
          <p:cNvSpPr/>
          <p:nvPr/>
        </p:nvSpPr>
        <p:spPr>
          <a:xfrm>
            <a:off x="8642306" y="4375681"/>
            <a:ext cx="25419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400"/>
              <a:buFont typeface="Arial"/>
              <a:buNone/>
            </a:pPr>
            <a:r>
              <a:rPr lang="en-US" sz="1400" b="1" u="sng">
                <a:solidFill>
                  <a:srgbClr val="1A1A1A"/>
                </a:solidFill>
                <a:latin typeface="Arial"/>
                <a:ea typeface="Arial"/>
                <a:cs typeface="Arial"/>
                <a:sym typeface="Arial"/>
              </a:rPr>
              <a:t>手ぶらで、会食へ</a:t>
            </a:r>
            <a:endParaRPr sz="1400" u="sng">
              <a:solidFill>
                <a:schemeClr val="dk1"/>
              </a:solidFill>
              <a:latin typeface="Calibri"/>
              <a:ea typeface="Calibri"/>
              <a:cs typeface="Calibri"/>
              <a:sym typeface="Calibri"/>
            </a:endParaRPr>
          </a:p>
        </p:txBody>
      </p:sp>
      <p:sp>
        <p:nvSpPr>
          <p:cNvPr id="453" name="Google Shape;453;g3f99e209501_0_52"/>
          <p:cNvSpPr/>
          <p:nvPr/>
        </p:nvSpPr>
        <p:spPr>
          <a:xfrm>
            <a:off x="8477149" y="4767522"/>
            <a:ext cx="2871300" cy="384000"/>
          </a:xfrm>
          <a:prstGeom prst="rect">
            <a:avLst/>
          </a:prstGeom>
          <a:noFill/>
          <a:ln>
            <a:noFill/>
          </a:ln>
        </p:spPr>
        <p:txBody>
          <a:bodyPr spcFirstLastPara="1" wrap="square" lIns="0" tIns="0" rIns="0" bIns="0" anchor="ctr" anchorCtr="0">
            <a:noAutofit/>
          </a:bodyPr>
          <a:lstStyle/>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レストランのワインを仕入れ価格相当で。</a:t>
            </a:r>
            <a:endParaRPr sz="1100">
              <a:solidFill>
                <a:srgbClr val="6E7378"/>
              </a:solidFill>
              <a:latin typeface="Arial"/>
              <a:ea typeface="Arial"/>
              <a:cs typeface="Arial"/>
              <a:sym typeface="Arial"/>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ワイン持込時もコルケージなし。</a:t>
            </a:r>
            <a:endParaRPr/>
          </a:p>
          <a:p>
            <a:pPr marL="0" marR="0" lvl="0" indent="0" algn="l" rtl="0">
              <a:lnSpc>
                <a:spcPct val="113636"/>
              </a:lnSpc>
              <a:spcBef>
                <a:spcPts val="0"/>
              </a:spcBef>
              <a:spcAft>
                <a:spcPts val="0"/>
              </a:spcAft>
              <a:buClr>
                <a:srgbClr val="6E7378"/>
              </a:buClr>
              <a:buSzPts val="1100"/>
              <a:buFont typeface="Arial"/>
              <a:buNone/>
            </a:pPr>
            <a:r>
              <a:rPr lang="en-US" sz="1100">
                <a:solidFill>
                  <a:srgbClr val="6E7378"/>
                </a:solidFill>
                <a:latin typeface="Arial"/>
                <a:ea typeface="Arial"/>
                <a:cs typeface="Arial"/>
                <a:sym typeface="Arial"/>
              </a:rPr>
              <a:t>接待の質を上げつつ、費用削減へ。</a:t>
            </a:r>
            <a:endParaRPr sz="1100">
              <a:solidFill>
                <a:schemeClr val="dk1"/>
              </a:solidFill>
              <a:latin typeface="Calibri"/>
              <a:ea typeface="Calibri"/>
              <a:cs typeface="Calibri"/>
              <a:sym typeface="Calibri"/>
            </a:endParaRPr>
          </a:p>
        </p:txBody>
      </p:sp>
      <p:sp>
        <p:nvSpPr>
          <p:cNvPr id="454" name="Google Shape;454;g3f99e209501_0_52"/>
          <p:cNvSpPr/>
          <p:nvPr/>
        </p:nvSpPr>
        <p:spPr>
          <a:xfrm>
            <a:off x="566928" y="5705856"/>
            <a:ext cx="11057700" cy="47550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g3f99e209501_0_52"/>
          <p:cNvSpPr/>
          <p:nvPr/>
        </p:nvSpPr>
        <p:spPr>
          <a:xfrm>
            <a:off x="566928" y="5705856"/>
            <a:ext cx="11057700" cy="4755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FDCCE"/>
              </a:buClr>
              <a:buSzPts val="1500"/>
              <a:buFont typeface="Arial"/>
              <a:buNone/>
            </a:pPr>
            <a:r>
              <a:rPr lang="en-US" sz="1500" b="1">
                <a:solidFill>
                  <a:schemeClr val="lt1"/>
                </a:solidFill>
                <a:latin typeface="Arial"/>
                <a:ea typeface="Arial"/>
                <a:cs typeface="Arial"/>
                <a:sym typeface="Arial"/>
              </a:rPr>
              <a:t>他の街には真似できない「人とワインが巡る街」を、ヒルズに。</a:t>
            </a:r>
            <a:endParaRPr sz="1500">
              <a:solidFill>
                <a:schemeClr val="lt1"/>
              </a:solidFill>
              <a:latin typeface="Calibri"/>
              <a:ea typeface="Calibri"/>
              <a:cs typeface="Calibri"/>
              <a:sym typeface="Calibri"/>
            </a:endParaRPr>
          </a:p>
        </p:txBody>
      </p:sp>
      <p:pic>
        <p:nvPicPr>
          <p:cNvPr id="456" name="Google Shape;456;g3f99e209501_0_52"/>
          <p:cNvPicPr preferRelativeResize="0"/>
          <p:nvPr/>
        </p:nvPicPr>
        <p:blipFill rotWithShape="1">
          <a:blip r:embed="rId4">
            <a:alphaModFix/>
          </a:blip>
          <a:srcRect/>
          <a:stretch/>
        </p:blipFill>
        <p:spPr>
          <a:xfrm>
            <a:off x="4893336" y="2367238"/>
            <a:ext cx="2405329" cy="1603553"/>
          </a:xfrm>
          <a:prstGeom prst="rect">
            <a:avLst/>
          </a:prstGeom>
          <a:noFill/>
          <a:ln>
            <a:noFill/>
          </a:ln>
        </p:spPr>
      </p:pic>
      <p:sp>
        <p:nvSpPr>
          <p:cNvPr id="457" name="Google Shape;457;g3f99e209501_0_52"/>
          <p:cNvSpPr/>
          <p:nvPr/>
        </p:nvSpPr>
        <p:spPr>
          <a:xfrm>
            <a:off x="4423863" y="4524901"/>
            <a:ext cx="1625700" cy="5904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None/>
            </a:pPr>
            <a:r>
              <a:rPr lang="en-US" sz="1200">
                <a:solidFill>
                  <a:srgbClr val="C68A65"/>
                </a:solidFill>
                <a:latin typeface="Arial"/>
                <a:ea typeface="Arial"/>
                <a:cs typeface="Arial"/>
                <a:sym typeface="Arial"/>
              </a:rPr>
              <a:t>街の巨大セラーとして</a:t>
            </a:r>
            <a:endParaRPr sz="1200">
              <a:solidFill>
                <a:srgbClr val="C68A65"/>
              </a:solidFill>
              <a:latin typeface="Arial"/>
              <a:ea typeface="Arial"/>
              <a:cs typeface="Arial"/>
              <a:sym typeface="Arial"/>
            </a:endParaRPr>
          </a:p>
          <a:p>
            <a:pPr marL="0" marR="0" lvl="0" indent="0" algn="ctr" rtl="0">
              <a:lnSpc>
                <a:spcPct val="100000"/>
              </a:lnSpc>
              <a:spcBef>
                <a:spcPts val="0"/>
              </a:spcBef>
              <a:spcAft>
                <a:spcPts val="0"/>
              </a:spcAft>
              <a:buNone/>
            </a:pPr>
            <a:r>
              <a:rPr lang="en-US" sz="1200">
                <a:solidFill>
                  <a:srgbClr val="C68A65"/>
                </a:solidFill>
                <a:latin typeface="Arial"/>
                <a:ea typeface="Arial"/>
                <a:cs typeface="Arial"/>
                <a:sym typeface="Arial"/>
              </a:rPr>
              <a:t>数千〜1万本を常備</a:t>
            </a:r>
            <a:endParaRPr sz="1200"/>
          </a:p>
          <a:p>
            <a:pPr marL="0" marR="0" lvl="0" indent="0" algn="ctr" rtl="0">
              <a:lnSpc>
                <a:spcPct val="100000"/>
              </a:lnSpc>
              <a:spcBef>
                <a:spcPts val="0"/>
              </a:spcBef>
              <a:spcAft>
                <a:spcPts val="0"/>
              </a:spcAft>
              <a:buClr>
                <a:schemeClr val="dk1"/>
              </a:buClr>
              <a:buSzPts val="1100"/>
              <a:buFont typeface="Calibri"/>
              <a:buNone/>
            </a:pPr>
            <a:endParaRPr sz="1200">
              <a:solidFill>
                <a:srgbClr val="C68A65"/>
              </a:solidFill>
              <a:latin typeface="Calibri"/>
              <a:ea typeface="Calibri"/>
              <a:cs typeface="Calibri"/>
              <a:sym typeface="Calibri"/>
            </a:endParaRPr>
          </a:p>
        </p:txBody>
      </p:sp>
      <p:sp>
        <p:nvSpPr>
          <p:cNvPr id="458" name="Google Shape;458;g3f99e209501_0_52"/>
          <p:cNvSpPr/>
          <p:nvPr/>
        </p:nvSpPr>
        <p:spPr>
          <a:xfrm>
            <a:off x="9017146" y="3302745"/>
            <a:ext cx="24690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F5496"/>
              </a:buClr>
              <a:buSzPts val="1600"/>
              <a:buFont typeface="Arial"/>
              <a:buNone/>
            </a:pPr>
            <a:r>
              <a:rPr lang="en-US" sz="1600" b="1">
                <a:solidFill>
                  <a:srgbClr val="2F5496"/>
                </a:solidFill>
                <a:latin typeface="Arial"/>
                <a:ea typeface="Arial"/>
                <a:cs typeface="Arial"/>
                <a:sym typeface="Arial"/>
              </a:rPr>
              <a:t>ヒルズ利用者サイド</a:t>
            </a:r>
            <a:endParaRPr sz="1600">
              <a:solidFill>
                <a:srgbClr val="2F5496"/>
              </a:solidFill>
              <a:latin typeface="Calibri"/>
              <a:ea typeface="Calibri"/>
              <a:cs typeface="Calibri"/>
              <a:sym typeface="Calibri"/>
            </a:endParaRPr>
          </a:p>
        </p:txBody>
      </p:sp>
      <p:sp>
        <p:nvSpPr>
          <p:cNvPr id="459" name="Google Shape;459;g3f99e209501_0_52"/>
          <p:cNvSpPr/>
          <p:nvPr/>
        </p:nvSpPr>
        <p:spPr>
          <a:xfrm>
            <a:off x="1362306" y="3302745"/>
            <a:ext cx="20988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55A11"/>
              </a:buClr>
              <a:buSzPts val="1600"/>
              <a:buFont typeface="Arial"/>
              <a:buNone/>
            </a:pPr>
            <a:r>
              <a:rPr lang="en-US" sz="1600" b="1">
                <a:solidFill>
                  <a:srgbClr val="B97245"/>
                </a:solidFill>
                <a:latin typeface="Arial"/>
                <a:ea typeface="Arial"/>
                <a:cs typeface="Arial"/>
                <a:sym typeface="Arial"/>
              </a:rPr>
              <a:t>ヒルズ商業サイド</a:t>
            </a:r>
            <a:endParaRPr sz="1600">
              <a:solidFill>
                <a:srgbClr val="B97245"/>
              </a:solidFill>
              <a:latin typeface="Calibri"/>
              <a:ea typeface="Calibri"/>
              <a:cs typeface="Calibri"/>
              <a:sym typeface="Calibri"/>
            </a:endParaRPr>
          </a:p>
        </p:txBody>
      </p:sp>
      <p:sp>
        <p:nvSpPr>
          <p:cNvPr id="460" name="Google Shape;460;g3f99e209501_0_52"/>
          <p:cNvSpPr/>
          <p:nvPr/>
        </p:nvSpPr>
        <p:spPr>
          <a:xfrm>
            <a:off x="6333821" y="4524901"/>
            <a:ext cx="1843200" cy="624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C68A65"/>
              </a:buClr>
              <a:buSzPts val="1000"/>
              <a:buFont typeface="Arial"/>
              <a:buNone/>
            </a:pPr>
            <a:r>
              <a:rPr lang="en-US" sz="1200">
                <a:solidFill>
                  <a:srgbClr val="C68A65"/>
                </a:solidFill>
                <a:latin typeface="Arial"/>
                <a:ea typeface="Arial"/>
                <a:cs typeface="Arial"/>
                <a:sym typeface="Arial"/>
              </a:rPr>
              <a:t>最短5分で配送できる</a:t>
            </a:r>
            <a:endParaRPr sz="1200">
              <a:solidFill>
                <a:srgbClr val="C68A65"/>
              </a:solidFill>
              <a:latin typeface="Arial"/>
              <a:ea typeface="Arial"/>
              <a:cs typeface="Arial"/>
              <a:sym typeface="Arial"/>
            </a:endParaRPr>
          </a:p>
          <a:p>
            <a:pPr marL="0" marR="0" lvl="0" indent="0" algn="ctr" rtl="0">
              <a:lnSpc>
                <a:spcPct val="100000"/>
              </a:lnSpc>
              <a:spcBef>
                <a:spcPts val="0"/>
              </a:spcBef>
              <a:spcAft>
                <a:spcPts val="0"/>
              </a:spcAft>
              <a:buClr>
                <a:srgbClr val="C68A65"/>
              </a:buClr>
              <a:buSzPts val="1000"/>
              <a:buFont typeface="Arial"/>
              <a:buNone/>
            </a:pPr>
            <a:r>
              <a:rPr lang="en-US" sz="1200">
                <a:solidFill>
                  <a:srgbClr val="C68A65"/>
                </a:solidFill>
                <a:latin typeface="Arial"/>
                <a:ea typeface="Arial"/>
                <a:cs typeface="Arial"/>
                <a:sym typeface="Arial"/>
              </a:rPr>
              <a:t>即日配達サービス</a:t>
            </a:r>
            <a:endParaRPr sz="1200">
              <a:solidFill>
                <a:srgbClr val="C68A65"/>
              </a:solidFill>
              <a:latin typeface="Calibri"/>
              <a:ea typeface="Calibri"/>
              <a:cs typeface="Calibri"/>
              <a:sym typeface="Calibri"/>
            </a:endParaRPr>
          </a:p>
        </p:txBody>
      </p:sp>
      <p:sp>
        <p:nvSpPr>
          <p:cNvPr id="461" name="Google Shape;461;g3f99e209501_0_52"/>
          <p:cNvSpPr/>
          <p:nvPr/>
        </p:nvSpPr>
        <p:spPr>
          <a:xfrm>
            <a:off x="3692123" y="3955307"/>
            <a:ext cx="4748400" cy="733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000" b="1">
                <a:solidFill>
                  <a:srgbClr val="FFFFFF"/>
                </a:solidFill>
                <a:latin typeface="Arial"/>
                <a:ea typeface="Arial"/>
                <a:cs typeface="Arial"/>
                <a:sym typeface="Arial"/>
              </a:rPr>
              <a:t>“館内ストレージ” </a:t>
            </a:r>
            <a:r>
              <a:rPr lang="en-US" sz="1500">
                <a:solidFill>
                  <a:srgbClr val="FFFFFF"/>
                </a:solidFill>
              </a:rPr>
              <a:t>＋</a:t>
            </a:r>
            <a:r>
              <a:rPr lang="en-US" sz="2000" b="1">
                <a:solidFill>
                  <a:srgbClr val="FFFFFF"/>
                </a:solidFill>
                <a:latin typeface="Arial"/>
                <a:ea typeface="Arial"/>
                <a:cs typeface="Arial"/>
                <a:sym typeface="Arial"/>
              </a:rPr>
              <a:t> “WineGO”</a:t>
            </a:r>
            <a:endParaRPr sz="2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6"/>
        <p:cNvGrpSpPr/>
        <p:nvPr/>
      </p:nvGrpSpPr>
      <p:grpSpPr>
        <a:xfrm>
          <a:off x="0" y="0"/>
          <a:ext cx="0" cy="0"/>
          <a:chOff x="0" y="0"/>
          <a:chExt cx="0" cy="0"/>
        </a:xfrm>
      </p:grpSpPr>
      <p:pic>
        <p:nvPicPr>
          <p:cNvPr id="467" name="Google Shape;467;p27"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468" name="Google Shape;468;p27"/>
          <p:cNvSpPr/>
          <p:nvPr/>
        </p:nvSpPr>
        <p:spPr>
          <a:xfrm>
            <a:off x="0" y="2798064"/>
            <a:ext cx="12191695"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3000"/>
              <a:buFont typeface="Calibri"/>
              <a:buNone/>
            </a:pPr>
            <a:r>
              <a:rPr lang="en-US" sz="3000" b="1">
                <a:solidFill>
                  <a:srgbClr val="1A1A1A"/>
                </a:solidFill>
                <a:latin typeface="Calibri"/>
                <a:ea typeface="Calibri"/>
                <a:cs typeface="Calibri"/>
                <a:sym typeface="Calibri"/>
              </a:rPr>
              <a:t>APPENDIX</a:t>
            </a:r>
            <a:endParaRPr sz="3000">
              <a:solidFill>
                <a:schemeClr val="dk1"/>
              </a:solidFill>
              <a:latin typeface="Calibri"/>
              <a:ea typeface="Calibri"/>
              <a:cs typeface="Calibri"/>
              <a:sym typeface="Calibri"/>
            </a:endParaRPr>
          </a:p>
        </p:txBody>
      </p:sp>
      <p:sp>
        <p:nvSpPr>
          <p:cNvPr id="469" name="Google Shape;469;p27"/>
          <p:cNvSpPr/>
          <p:nvPr/>
        </p:nvSpPr>
        <p:spPr>
          <a:xfrm>
            <a:off x="5730088" y="3438144"/>
            <a:ext cx="731520"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7"/>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7"/>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6"/>
        <p:cNvGrpSpPr/>
        <p:nvPr/>
      </p:nvGrpSpPr>
      <p:grpSpPr>
        <a:xfrm>
          <a:off x="0" y="0"/>
          <a:ext cx="0" cy="0"/>
          <a:chOff x="0" y="0"/>
          <a:chExt cx="0" cy="0"/>
        </a:xfrm>
      </p:grpSpPr>
      <p:pic>
        <p:nvPicPr>
          <p:cNvPr id="477" name="Google Shape;477;p28" descr="preencoded.png"/>
          <p:cNvPicPr preferRelativeResize="0"/>
          <p:nvPr/>
        </p:nvPicPr>
        <p:blipFill rotWithShape="1">
          <a:blip r:embed="rId3">
            <a:alphaModFix/>
          </a:blip>
          <a:srcRect/>
          <a:stretch/>
        </p:blipFill>
        <p:spPr>
          <a:xfrm>
            <a:off x="0" y="0"/>
            <a:ext cx="12191695"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2"/>
        <p:cNvGrpSpPr/>
        <p:nvPr/>
      </p:nvGrpSpPr>
      <p:grpSpPr>
        <a:xfrm>
          <a:off x="0" y="0"/>
          <a:ext cx="0" cy="0"/>
          <a:chOff x="0" y="0"/>
          <a:chExt cx="0" cy="0"/>
        </a:xfrm>
      </p:grpSpPr>
      <p:pic>
        <p:nvPicPr>
          <p:cNvPr id="483" name="Google Shape;483;p29" descr="preencoded.png"/>
          <p:cNvPicPr preferRelativeResize="0"/>
          <p:nvPr/>
        </p:nvPicPr>
        <p:blipFill rotWithShape="1">
          <a:blip r:embed="rId3">
            <a:alphaModFix/>
          </a:blip>
          <a:srcRect/>
          <a:stretch/>
        </p:blipFill>
        <p:spPr>
          <a:xfrm>
            <a:off x="0" y="0"/>
            <a:ext cx="12191695"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8"/>
        <p:cNvGrpSpPr/>
        <p:nvPr/>
      </p:nvGrpSpPr>
      <p:grpSpPr>
        <a:xfrm>
          <a:off x="0" y="0"/>
          <a:ext cx="0" cy="0"/>
          <a:chOff x="0" y="0"/>
          <a:chExt cx="0" cy="0"/>
        </a:xfrm>
      </p:grpSpPr>
      <p:pic>
        <p:nvPicPr>
          <p:cNvPr id="489" name="Google Shape;489;p30" descr="preencoded.png"/>
          <p:cNvPicPr preferRelativeResize="0"/>
          <p:nvPr/>
        </p:nvPicPr>
        <p:blipFill rotWithShape="1">
          <a:blip r:embed="rId3">
            <a:alphaModFix/>
          </a:blip>
          <a:srcRect/>
          <a:stretch/>
        </p:blipFill>
        <p:spPr>
          <a:xfrm>
            <a:off x="0" y="0"/>
            <a:ext cx="12191695"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4"/>
        <p:cNvGrpSpPr/>
        <p:nvPr/>
      </p:nvGrpSpPr>
      <p:grpSpPr>
        <a:xfrm>
          <a:off x="0" y="0"/>
          <a:ext cx="0" cy="0"/>
          <a:chOff x="0" y="0"/>
          <a:chExt cx="0" cy="0"/>
        </a:xfrm>
      </p:grpSpPr>
      <p:pic>
        <p:nvPicPr>
          <p:cNvPr id="495" name="Google Shape;495;p31" descr="preencoded.png"/>
          <p:cNvPicPr preferRelativeResize="0"/>
          <p:nvPr/>
        </p:nvPicPr>
        <p:blipFill rotWithShape="1">
          <a:blip r:embed="rId3">
            <a:alphaModFix/>
          </a:blip>
          <a:srcRect/>
          <a:stretch/>
        </p:blipFill>
        <p:spPr>
          <a:xfrm>
            <a:off x="0" y="0"/>
            <a:ext cx="12191695"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0"/>
        <p:cNvGrpSpPr/>
        <p:nvPr/>
      </p:nvGrpSpPr>
      <p:grpSpPr>
        <a:xfrm>
          <a:off x="0" y="0"/>
          <a:ext cx="0" cy="0"/>
          <a:chOff x="0" y="0"/>
          <a:chExt cx="0" cy="0"/>
        </a:xfrm>
      </p:grpSpPr>
      <p:pic>
        <p:nvPicPr>
          <p:cNvPr id="501" name="Google Shape;501;p32" descr="preencoded.png"/>
          <p:cNvPicPr preferRelativeResize="0"/>
          <p:nvPr/>
        </p:nvPicPr>
        <p:blipFill rotWithShape="1">
          <a:blip r:embed="rId3">
            <a:alphaModFix/>
          </a:blip>
          <a:srcRect/>
          <a:stretch/>
        </p:blipFill>
        <p:spPr>
          <a:xfrm>
            <a:off x="0" y="0"/>
            <a:ext cx="12191695" cy="6858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6"/>
        <p:cNvGrpSpPr/>
        <p:nvPr/>
      </p:nvGrpSpPr>
      <p:grpSpPr>
        <a:xfrm>
          <a:off x="0" y="0"/>
          <a:ext cx="0" cy="0"/>
          <a:chOff x="0" y="0"/>
          <a:chExt cx="0" cy="0"/>
        </a:xfrm>
      </p:grpSpPr>
      <p:pic>
        <p:nvPicPr>
          <p:cNvPr id="507" name="Google Shape;507;p33"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508" name="Google Shape;508;p33"/>
          <p:cNvSpPr/>
          <p:nvPr/>
        </p:nvSpPr>
        <p:spPr>
          <a:xfrm>
            <a:off x="566928" y="292608"/>
            <a:ext cx="950976"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3"/>
          <p:cNvSpPr/>
          <p:nvPr/>
        </p:nvSpPr>
        <p:spPr>
          <a:xfrm>
            <a:off x="566928" y="292608"/>
            <a:ext cx="95097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APPENDIX</a:t>
            </a:r>
            <a:endParaRPr sz="850">
              <a:solidFill>
                <a:schemeClr val="dk1"/>
              </a:solidFill>
              <a:latin typeface="Calibri"/>
              <a:ea typeface="Calibri"/>
              <a:cs typeface="Calibri"/>
              <a:sym typeface="Calibri"/>
            </a:endParaRPr>
          </a:p>
        </p:txBody>
      </p:sp>
      <p:sp>
        <p:nvSpPr>
          <p:cNvPr id="510" name="Google Shape;510;p33"/>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なぜ、Cloud Wine Cave の価格が成立するのか</a:t>
            </a:r>
            <a:endParaRPr sz="2300">
              <a:solidFill>
                <a:schemeClr val="dk1"/>
              </a:solidFill>
              <a:latin typeface="Calibri"/>
              <a:ea typeface="Calibri"/>
              <a:cs typeface="Calibri"/>
              <a:sym typeface="Calibri"/>
            </a:endParaRPr>
          </a:p>
        </p:txBody>
      </p:sp>
      <p:sp>
        <p:nvSpPr>
          <p:cNvPr id="511" name="Google Shape;511;p33"/>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ワイン流通は、生産者から消費者までに何段もの中間マージンが積み上がります。当社は最上流に立っています。</a:t>
            </a:r>
            <a:endParaRPr sz="1150">
              <a:solidFill>
                <a:schemeClr val="dk1"/>
              </a:solidFill>
              <a:latin typeface="Calibri"/>
              <a:ea typeface="Calibri"/>
              <a:cs typeface="Calibri"/>
              <a:sym typeface="Calibri"/>
            </a:endParaRPr>
          </a:p>
        </p:txBody>
      </p:sp>
      <p:sp>
        <p:nvSpPr>
          <p:cNvPr id="512" name="Google Shape;512;p33"/>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3"/>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514" name="Google Shape;514;p33"/>
          <p:cNvSpPr/>
          <p:nvPr/>
        </p:nvSpPr>
        <p:spPr>
          <a:xfrm>
            <a:off x="566928" y="1481328"/>
            <a:ext cx="6583680" cy="1170432"/>
          </a:xfrm>
          <a:prstGeom prst="roundRect">
            <a:avLst>
              <a:gd name="adj" fmla="val 390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3"/>
          <p:cNvSpPr/>
          <p:nvPr/>
        </p:nvSpPr>
        <p:spPr>
          <a:xfrm>
            <a:off x="841248" y="1609344"/>
            <a:ext cx="60350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最上流に立てる理由</a:t>
            </a:r>
            <a:endParaRPr sz="1300">
              <a:solidFill>
                <a:schemeClr val="dk1"/>
              </a:solidFill>
              <a:latin typeface="Calibri"/>
              <a:ea typeface="Calibri"/>
              <a:cs typeface="Calibri"/>
              <a:sym typeface="Calibri"/>
            </a:endParaRPr>
          </a:p>
        </p:txBody>
      </p:sp>
      <p:sp>
        <p:nvSpPr>
          <p:cNvPr id="516" name="Google Shape;516;p33"/>
          <p:cNvSpPr/>
          <p:nvPr/>
        </p:nvSpPr>
        <p:spPr>
          <a:xfrm>
            <a:off x="841248" y="1920240"/>
            <a:ext cx="6035040" cy="640080"/>
          </a:xfrm>
          <a:prstGeom prst="rect">
            <a:avLst/>
          </a:prstGeom>
          <a:noFill/>
          <a:ln>
            <a:noFill/>
          </a:ln>
        </p:spPr>
        <p:txBody>
          <a:bodyPr spcFirstLastPara="1" wrap="square" lIns="0" tIns="0" rIns="0" bIns="0" anchor="ctr" anchorCtr="0">
            <a:noAutofit/>
          </a:bodyPr>
          <a:lstStyle/>
          <a:p>
            <a:pPr marL="342900" marR="0" lvl="0" indent="-342900" algn="l" rtl="0">
              <a:lnSpc>
                <a:spcPct val="132653"/>
              </a:lnSpc>
              <a:spcBef>
                <a:spcPts val="0"/>
              </a:spcBef>
              <a:spcAft>
                <a:spcPts val="0"/>
              </a:spcAft>
              <a:buClr>
                <a:srgbClr val="1A1A1A"/>
              </a:buClr>
              <a:buSzPts val="980"/>
              <a:buFont typeface="Arial"/>
              <a:buChar char="▪"/>
            </a:pPr>
            <a:r>
              <a:rPr lang="en-US" sz="980">
                <a:solidFill>
                  <a:srgbClr val="1A1A1A"/>
                </a:solidFill>
                <a:latin typeface="Arial"/>
                <a:ea typeface="Arial"/>
                <a:cs typeface="Arial"/>
                <a:sym typeface="Arial"/>
              </a:rPr>
              <a:t>創業55年の酒販業実績による、生産者・インポーターとの信頼とパイプ</a:t>
            </a:r>
            <a:endParaRPr sz="980">
              <a:solidFill>
                <a:schemeClr val="dk1"/>
              </a:solidFill>
              <a:latin typeface="Calibri"/>
              <a:ea typeface="Calibri"/>
              <a:cs typeface="Calibri"/>
              <a:sym typeface="Calibri"/>
            </a:endParaRPr>
          </a:p>
          <a:p>
            <a:pPr marL="342900" marR="0" lvl="0" indent="-342900" algn="l" rtl="0">
              <a:lnSpc>
                <a:spcPct val="132653"/>
              </a:lnSpc>
              <a:spcBef>
                <a:spcPts val="200"/>
              </a:spcBef>
              <a:spcAft>
                <a:spcPts val="0"/>
              </a:spcAft>
              <a:buClr>
                <a:srgbClr val="1A1A1A"/>
              </a:buClr>
              <a:buSzPts val="980"/>
              <a:buFont typeface="Arial"/>
              <a:buChar char="▪"/>
            </a:pPr>
            <a:r>
              <a:rPr lang="en-US" sz="980">
                <a:solidFill>
                  <a:srgbClr val="1A1A1A"/>
                </a:solidFill>
                <a:latin typeface="Arial"/>
                <a:ea typeface="Arial"/>
                <a:cs typeface="Arial"/>
                <a:sym typeface="Arial"/>
              </a:rPr>
              <a:t>国内大手インポーターとの直接取引による特価・正規品仕入</a:t>
            </a:r>
            <a:endParaRPr sz="980">
              <a:solidFill>
                <a:schemeClr val="dk1"/>
              </a:solidFill>
              <a:latin typeface="Calibri"/>
              <a:ea typeface="Calibri"/>
              <a:cs typeface="Calibri"/>
              <a:sym typeface="Calibri"/>
            </a:endParaRPr>
          </a:p>
          <a:p>
            <a:pPr marL="342900" marR="0" lvl="0" indent="-342900" algn="l" rtl="0">
              <a:lnSpc>
                <a:spcPct val="132653"/>
              </a:lnSpc>
              <a:spcBef>
                <a:spcPts val="200"/>
              </a:spcBef>
              <a:spcAft>
                <a:spcPts val="0"/>
              </a:spcAft>
              <a:buClr>
                <a:srgbClr val="1A1A1A"/>
              </a:buClr>
              <a:buSzPts val="980"/>
              <a:buFont typeface="Arial"/>
              <a:buChar char="▪"/>
            </a:pPr>
            <a:r>
              <a:rPr lang="en-US" sz="980">
                <a:solidFill>
                  <a:srgbClr val="1A1A1A"/>
                </a:solidFill>
                <a:latin typeface="Arial"/>
                <a:ea typeface="Arial"/>
                <a:cs typeface="Arial"/>
                <a:sym typeface="Arial"/>
              </a:rPr>
              <a:t>海外輸出入ライセンスを活かした独自の仕入ネットワークと情報収集</a:t>
            </a:r>
            <a:endParaRPr sz="980">
              <a:solidFill>
                <a:schemeClr val="dk1"/>
              </a:solidFill>
              <a:latin typeface="Calibri"/>
              <a:ea typeface="Calibri"/>
              <a:cs typeface="Calibri"/>
              <a:sym typeface="Calibri"/>
            </a:endParaRPr>
          </a:p>
        </p:txBody>
      </p:sp>
      <p:cxnSp>
        <p:nvCxnSpPr>
          <p:cNvPr id="517" name="Google Shape;517;p33"/>
          <p:cNvCxnSpPr/>
          <p:nvPr/>
        </p:nvCxnSpPr>
        <p:spPr>
          <a:xfrm>
            <a:off x="984352" y="4315968"/>
            <a:ext cx="10222992" cy="0"/>
          </a:xfrm>
          <a:prstGeom prst="straightConnector1">
            <a:avLst/>
          </a:prstGeom>
          <a:noFill/>
          <a:ln w="12700" cap="flat" cmpd="sng">
            <a:solidFill>
              <a:srgbClr val="DDE0E2"/>
            </a:solidFill>
            <a:prstDash val="solid"/>
            <a:round/>
            <a:headEnd type="none" w="sm" len="sm"/>
            <a:tailEnd type="none" w="sm" len="sm"/>
          </a:ln>
        </p:spPr>
      </p:cxnSp>
      <p:sp>
        <p:nvSpPr>
          <p:cNvPr id="518" name="Google Shape;518;p33"/>
          <p:cNvSpPr/>
          <p:nvPr/>
        </p:nvSpPr>
        <p:spPr>
          <a:xfrm>
            <a:off x="1258672" y="4042867"/>
            <a:ext cx="1481328" cy="273101"/>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3"/>
          <p:cNvSpPr/>
          <p:nvPr/>
        </p:nvSpPr>
        <p:spPr>
          <a:xfrm>
            <a:off x="1258672" y="3695395"/>
            <a:ext cx="148132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06D4C"/>
              </a:buClr>
              <a:buSzPts val="1500"/>
              <a:buFont typeface="Arial"/>
              <a:buNone/>
            </a:pPr>
            <a:r>
              <a:rPr lang="en-US" sz="1500" b="1">
                <a:solidFill>
                  <a:srgbClr val="A06D4C"/>
                </a:solidFill>
                <a:latin typeface="Arial"/>
                <a:ea typeface="Arial"/>
                <a:cs typeface="Arial"/>
                <a:sym typeface="Arial"/>
              </a:rPr>
              <a:t>40</a:t>
            </a:r>
            <a:endParaRPr sz="1500">
              <a:solidFill>
                <a:schemeClr val="dk1"/>
              </a:solidFill>
              <a:latin typeface="Calibri"/>
              <a:ea typeface="Calibri"/>
              <a:cs typeface="Calibri"/>
              <a:sym typeface="Calibri"/>
            </a:endParaRPr>
          </a:p>
        </p:txBody>
      </p:sp>
      <p:sp>
        <p:nvSpPr>
          <p:cNvPr id="520" name="Google Shape;520;p33"/>
          <p:cNvSpPr/>
          <p:nvPr/>
        </p:nvSpPr>
        <p:spPr>
          <a:xfrm>
            <a:off x="1258672" y="4407408"/>
            <a:ext cx="1481328" cy="457200"/>
          </a:xfrm>
          <a:prstGeom prst="rect">
            <a:avLst/>
          </a:prstGeom>
          <a:noFill/>
          <a:ln>
            <a:noFill/>
          </a:ln>
        </p:spPr>
        <p:txBody>
          <a:bodyPr spcFirstLastPara="1" wrap="square" lIns="0" tIns="0" rIns="0" bIns="0" anchor="ctr" anchorCtr="0">
            <a:noAutofit/>
          </a:bodyPr>
          <a:lstStyle/>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インポーター</a:t>
            </a:r>
            <a:endParaRPr sz="1000">
              <a:solidFill>
                <a:schemeClr val="dk1"/>
              </a:solidFill>
              <a:latin typeface="Calibri"/>
              <a:ea typeface="Calibri"/>
              <a:cs typeface="Calibri"/>
              <a:sym typeface="Calibri"/>
            </a:endParaRPr>
          </a:p>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仕入価格</a:t>
            </a:r>
            <a:endParaRPr sz="1000">
              <a:solidFill>
                <a:schemeClr val="dk1"/>
              </a:solidFill>
              <a:latin typeface="Calibri"/>
              <a:ea typeface="Calibri"/>
              <a:cs typeface="Calibri"/>
              <a:sym typeface="Calibri"/>
            </a:endParaRPr>
          </a:p>
        </p:txBody>
      </p:sp>
      <p:sp>
        <p:nvSpPr>
          <p:cNvPr id="521" name="Google Shape;521;p33"/>
          <p:cNvSpPr/>
          <p:nvPr/>
        </p:nvSpPr>
        <p:spPr>
          <a:xfrm>
            <a:off x="1075792" y="3366211"/>
            <a:ext cx="1847088"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06D4C"/>
              </a:buClr>
              <a:buSzPts val="1100"/>
              <a:buFont typeface="Arial"/>
              <a:buNone/>
            </a:pPr>
            <a:r>
              <a:rPr lang="en-US" sz="1100" b="1">
                <a:solidFill>
                  <a:srgbClr val="A06D4C"/>
                </a:solidFill>
                <a:latin typeface="Arial"/>
                <a:ea typeface="Arial"/>
                <a:cs typeface="Arial"/>
                <a:sym typeface="Arial"/>
              </a:rPr>
              <a:t>WineBank はここ</a:t>
            </a:r>
            <a:endParaRPr sz="1100">
              <a:solidFill>
                <a:schemeClr val="dk1"/>
              </a:solidFill>
              <a:latin typeface="Calibri"/>
              <a:ea typeface="Calibri"/>
              <a:cs typeface="Calibri"/>
              <a:sym typeface="Calibri"/>
            </a:endParaRPr>
          </a:p>
        </p:txBody>
      </p:sp>
      <p:sp>
        <p:nvSpPr>
          <p:cNvPr id="522" name="Google Shape;522;p33"/>
          <p:cNvSpPr/>
          <p:nvPr/>
        </p:nvSpPr>
        <p:spPr>
          <a:xfrm>
            <a:off x="3306928" y="3906317"/>
            <a:ext cx="1481328" cy="409651"/>
          </a:xfrm>
          <a:prstGeom prst="rect">
            <a:avLst/>
          </a:prstGeom>
          <a:solidFill>
            <a:srgbClr val="9AA1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3"/>
          <p:cNvSpPr/>
          <p:nvPr/>
        </p:nvSpPr>
        <p:spPr>
          <a:xfrm>
            <a:off x="3306928" y="3558845"/>
            <a:ext cx="148132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60</a:t>
            </a:r>
            <a:endParaRPr sz="1500">
              <a:solidFill>
                <a:schemeClr val="dk1"/>
              </a:solidFill>
              <a:latin typeface="Calibri"/>
              <a:ea typeface="Calibri"/>
              <a:cs typeface="Calibri"/>
              <a:sym typeface="Calibri"/>
            </a:endParaRPr>
          </a:p>
        </p:txBody>
      </p:sp>
      <p:sp>
        <p:nvSpPr>
          <p:cNvPr id="524" name="Google Shape;524;p33"/>
          <p:cNvSpPr/>
          <p:nvPr/>
        </p:nvSpPr>
        <p:spPr>
          <a:xfrm>
            <a:off x="3306928" y="4407408"/>
            <a:ext cx="1481328" cy="457200"/>
          </a:xfrm>
          <a:prstGeom prst="rect">
            <a:avLst/>
          </a:prstGeom>
          <a:noFill/>
          <a:ln>
            <a:noFill/>
          </a:ln>
        </p:spPr>
        <p:txBody>
          <a:bodyPr spcFirstLastPara="1" wrap="square" lIns="0" tIns="0" rIns="0" bIns="0" anchor="ctr" anchorCtr="0">
            <a:noAutofit/>
          </a:bodyPr>
          <a:lstStyle/>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酒販店①</a:t>
            </a:r>
            <a:endParaRPr sz="1000">
              <a:solidFill>
                <a:schemeClr val="dk1"/>
              </a:solidFill>
              <a:latin typeface="Calibri"/>
              <a:ea typeface="Calibri"/>
              <a:cs typeface="Calibri"/>
              <a:sym typeface="Calibri"/>
            </a:endParaRPr>
          </a:p>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仕入価格</a:t>
            </a:r>
            <a:endParaRPr sz="1000">
              <a:solidFill>
                <a:schemeClr val="dk1"/>
              </a:solidFill>
              <a:latin typeface="Calibri"/>
              <a:ea typeface="Calibri"/>
              <a:cs typeface="Calibri"/>
              <a:sym typeface="Calibri"/>
            </a:endParaRPr>
          </a:p>
        </p:txBody>
      </p:sp>
      <p:sp>
        <p:nvSpPr>
          <p:cNvPr id="525" name="Google Shape;525;p33"/>
          <p:cNvSpPr/>
          <p:nvPr/>
        </p:nvSpPr>
        <p:spPr>
          <a:xfrm>
            <a:off x="5355184" y="3838042"/>
            <a:ext cx="1481328" cy="477926"/>
          </a:xfrm>
          <a:prstGeom prst="rect">
            <a:avLst/>
          </a:prstGeom>
          <a:solidFill>
            <a:srgbClr val="9AA1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3"/>
          <p:cNvSpPr/>
          <p:nvPr/>
        </p:nvSpPr>
        <p:spPr>
          <a:xfrm>
            <a:off x="5355184" y="3490570"/>
            <a:ext cx="148132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70</a:t>
            </a:r>
            <a:endParaRPr sz="1500">
              <a:solidFill>
                <a:schemeClr val="dk1"/>
              </a:solidFill>
              <a:latin typeface="Calibri"/>
              <a:ea typeface="Calibri"/>
              <a:cs typeface="Calibri"/>
              <a:sym typeface="Calibri"/>
            </a:endParaRPr>
          </a:p>
        </p:txBody>
      </p:sp>
      <p:sp>
        <p:nvSpPr>
          <p:cNvPr id="527" name="Google Shape;527;p33"/>
          <p:cNvSpPr/>
          <p:nvPr/>
        </p:nvSpPr>
        <p:spPr>
          <a:xfrm>
            <a:off x="5355184" y="4407408"/>
            <a:ext cx="1481328" cy="457200"/>
          </a:xfrm>
          <a:prstGeom prst="rect">
            <a:avLst/>
          </a:prstGeom>
          <a:noFill/>
          <a:ln>
            <a:noFill/>
          </a:ln>
        </p:spPr>
        <p:txBody>
          <a:bodyPr spcFirstLastPara="1" wrap="square" lIns="0" tIns="0" rIns="0" bIns="0" anchor="ctr" anchorCtr="0">
            <a:noAutofit/>
          </a:bodyPr>
          <a:lstStyle/>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酒販店②</a:t>
            </a:r>
            <a:endParaRPr sz="1000">
              <a:solidFill>
                <a:schemeClr val="dk1"/>
              </a:solidFill>
              <a:latin typeface="Calibri"/>
              <a:ea typeface="Calibri"/>
              <a:cs typeface="Calibri"/>
              <a:sym typeface="Calibri"/>
            </a:endParaRPr>
          </a:p>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仕入価格</a:t>
            </a:r>
            <a:endParaRPr sz="1000">
              <a:solidFill>
                <a:schemeClr val="dk1"/>
              </a:solidFill>
              <a:latin typeface="Calibri"/>
              <a:ea typeface="Calibri"/>
              <a:cs typeface="Calibri"/>
              <a:sym typeface="Calibri"/>
            </a:endParaRPr>
          </a:p>
        </p:txBody>
      </p:sp>
      <p:sp>
        <p:nvSpPr>
          <p:cNvPr id="528" name="Google Shape;528;p33"/>
          <p:cNvSpPr/>
          <p:nvPr/>
        </p:nvSpPr>
        <p:spPr>
          <a:xfrm>
            <a:off x="7403440" y="3633216"/>
            <a:ext cx="1481328" cy="682752"/>
          </a:xfrm>
          <a:prstGeom prst="rect">
            <a:avLst/>
          </a:prstGeom>
          <a:solidFill>
            <a:srgbClr val="9AA1A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7403440" y="3285744"/>
            <a:ext cx="148132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80〜100</a:t>
            </a:r>
            <a:endParaRPr sz="1500">
              <a:solidFill>
                <a:schemeClr val="dk1"/>
              </a:solidFill>
              <a:latin typeface="Calibri"/>
              <a:ea typeface="Calibri"/>
              <a:cs typeface="Calibri"/>
              <a:sym typeface="Calibri"/>
            </a:endParaRPr>
          </a:p>
        </p:txBody>
      </p:sp>
      <p:sp>
        <p:nvSpPr>
          <p:cNvPr id="530" name="Google Shape;530;p33"/>
          <p:cNvSpPr/>
          <p:nvPr/>
        </p:nvSpPr>
        <p:spPr>
          <a:xfrm>
            <a:off x="7403440" y="4407408"/>
            <a:ext cx="1481328" cy="457200"/>
          </a:xfrm>
          <a:prstGeom prst="rect">
            <a:avLst/>
          </a:prstGeom>
          <a:noFill/>
          <a:ln>
            <a:noFill/>
          </a:ln>
        </p:spPr>
        <p:txBody>
          <a:bodyPr spcFirstLastPara="1" wrap="square" lIns="0" tIns="0" rIns="0" bIns="0" anchor="ctr" anchorCtr="0">
            <a:noAutofit/>
          </a:bodyPr>
          <a:lstStyle/>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一般消費者</a:t>
            </a:r>
            <a:endParaRPr sz="1000">
              <a:solidFill>
                <a:schemeClr val="dk1"/>
              </a:solidFill>
              <a:latin typeface="Calibri"/>
              <a:ea typeface="Calibri"/>
              <a:cs typeface="Calibri"/>
              <a:sym typeface="Calibri"/>
            </a:endParaRPr>
          </a:p>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購入価格</a:t>
            </a:r>
            <a:endParaRPr sz="1000">
              <a:solidFill>
                <a:schemeClr val="dk1"/>
              </a:solidFill>
              <a:latin typeface="Calibri"/>
              <a:ea typeface="Calibri"/>
              <a:cs typeface="Calibri"/>
              <a:sym typeface="Calibri"/>
            </a:endParaRPr>
          </a:p>
        </p:txBody>
      </p:sp>
      <p:sp>
        <p:nvSpPr>
          <p:cNvPr id="531" name="Google Shape;531;p33"/>
          <p:cNvSpPr/>
          <p:nvPr/>
        </p:nvSpPr>
        <p:spPr>
          <a:xfrm>
            <a:off x="9451696" y="2267712"/>
            <a:ext cx="1481328" cy="1024128"/>
          </a:xfrm>
          <a:prstGeom prst="rect">
            <a:avLst/>
          </a:prstGeom>
          <a:solidFill>
            <a:srgbClr val="2F3941">
              <a:alpha val="45098"/>
            </a:srgbClr>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9451696" y="3291840"/>
            <a:ext cx="1481328" cy="1024128"/>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9451696" y="1920240"/>
            <a:ext cx="1481328"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150〜300</a:t>
            </a:r>
            <a:endParaRPr sz="1500">
              <a:solidFill>
                <a:schemeClr val="dk1"/>
              </a:solidFill>
              <a:latin typeface="Calibri"/>
              <a:ea typeface="Calibri"/>
              <a:cs typeface="Calibri"/>
              <a:sym typeface="Calibri"/>
            </a:endParaRPr>
          </a:p>
        </p:txBody>
      </p:sp>
      <p:sp>
        <p:nvSpPr>
          <p:cNvPr id="534" name="Google Shape;534;p33"/>
          <p:cNvSpPr/>
          <p:nvPr/>
        </p:nvSpPr>
        <p:spPr>
          <a:xfrm>
            <a:off x="9451696" y="4407408"/>
            <a:ext cx="1481328" cy="457200"/>
          </a:xfrm>
          <a:prstGeom prst="rect">
            <a:avLst/>
          </a:prstGeom>
          <a:noFill/>
          <a:ln>
            <a:noFill/>
          </a:ln>
        </p:spPr>
        <p:txBody>
          <a:bodyPr spcFirstLastPara="1" wrap="square" lIns="0" tIns="0" rIns="0" bIns="0" anchor="ctr" anchorCtr="0">
            <a:noAutofit/>
          </a:bodyPr>
          <a:lstStyle/>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レストラン</a:t>
            </a:r>
            <a:endParaRPr sz="1000">
              <a:solidFill>
                <a:schemeClr val="dk1"/>
              </a:solidFill>
              <a:latin typeface="Calibri"/>
              <a:ea typeface="Calibri"/>
              <a:cs typeface="Calibri"/>
              <a:sym typeface="Calibri"/>
            </a:endParaRPr>
          </a:p>
          <a:p>
            <a:pPr marL="0" marR="0" lvl="0" indent="0" algn="ctr" rtl="0">
              <a:lnSpc>
                <a:spcPct val="135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店頭価格</a:t>
            </a:r>
            <a:endParaRPr sz="1000">
              <a:solidFill>
                <a:schemeClr val="dk1"/>
              </a:solidFill>
              <a:latin typeface="Calibri"/>
              <a:ea typeface="Calibri"/>
              <a:cs typeface="Calibri"/>
              <a:sym typeface="Calibri"/>
            </a:endParaRPr>
          </a:p>
        </p:txBody>
      </p:sp>
      <p:sp>
        <p:nvSpPr>
          <p:cNvPr id="535" name="Google Shape;535;p33"/>
          <p:cNvSpPr/>
          <p:nvPr/>
        </p:nvSpPr>
        <p:spPr>
          <a:xfrm>
            <a:off x="566928" y="4992624"/>
            <a:ext cx="11057839" cy="932688"/>
          </a:xfrm>
          <a:prstGeom prst="roundRect">
            <a:avLst>
              <a:gd name="adj" fmla="val 4902"/>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p:cNvSpPr/>
          <p:nvPr/>
        </p:nvSpPr>
        <p:spPr>
          <a:xfrm>
            <a:off x="877824" y="4992624"/>
            <a:ext cx="4023360" cy="932688"/>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EFDCCE"/>
              </a:buClr>
              <a:buSzPts val="1500"/>
              <a:buFont typeface="Arial"/>
              <a:buNone/>
            </a:pPr>
            <a:r>
              <a:rPr lang="en-US" sz="1500" b="1">
                <a:solidFill>
                  <a:srgbClr val="EFDCCE"/>
                </a:solidFill>
                <a:latin typeface="Arial"/>
                <a:ea typeface="Arial"/>
                <a:cs typeface="Arial"/>
                <a:sym typeface="Arial"/>
              </a:rPr>
              <a:t>レストラン店頭価格の</a:t>
            </a:r>
            <a:endParaRPr sz="1500">
              <a:solidFill>
                <a:schemeClr val="dk1"/>
              </a:solidFill>
              <a:latin typeface="Calibri"/>
              <a:ea typeface="Calibri"/>
              <a:cs typeface="Calibri"/>
              <a:sym typeface="Calibri"/>
            </a:endParaRPr>
          </a:p>
          <a:p>
            <a:pPr marL="0" marR="0" lvl="0" indent="0" algn="l" rtl="0">
              <a:lnSpc>
                <a:spcPct val="140000"/>
              </a:lnSpc>
              <a:spcBef>
                <a:spcPts val="0"/>
              </a:spcBef>
              <a:spcAft>
                <a:spcPts val="0"/>
              </a:spcAft>
              <a:buClr>
                <a:srgbClr val="EFDCCE"/>
              </a:buClr>
              <a:buSzPts val="1500"/>
              <a:buFont typeface="Arial"/>
              <a:buNone/>
            </a:pPr>
            <a:r>
              <a:rPr lang="en-US" sz="1500" b="1">
                <a:solidFill>
                  <a:srgbClr val="EFDCCE"/>
                </a:solidFill>
                <a:latin typeface="Arial"/>
                <a:ea typeface="Arial"/>
                <a:cs typeface="Arial"/>
                <a:sym typeface="Arial"/>
              </a:rPr>
              <a:t>1/4〜1/7 の水準で仕入れる。</a:t>
            </a:r>
            <a:endParaRPr sz="1500">
              <a:solidFill>
                <a:schemeClr val="dk1"/>
              </a:solidFill>
              <a:latin typeface="Calibri"/>
              <a:ea typeface="Calibri"/>
              <a:cs typeface="Calibri"/>
              <a:sym typeface="Calibri"/>
            </a:endParaRPr>
          </a:p>
        </p:txBody>
      </p:sp>
      <p:sp>
        <p:nvSpPr>
          <p:cNvPr id="537" name="Google Shape;537;p33"/>
          <p:cNvSpPr/>
          <p:nvPr/>
        </p:nvSpPr>
        <p:spPr>
          <a:xfrm>
            <a:off x="5230368" y="5138928"/>
            <a:ext cx="212140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Arial"/>
              <a:buNone/>
            </a:pPr>
            <a:r>
              <a:rPr lang="en-US" sz="1050" b="1">
                <a:solidFill>
                  <a:srgbClr val="FFFFFF"/>
                </a:solidFill>
                <a:latin typeface="Arial"/>
                <a:ea typeface="Arial"/>
                <a:cs typeface="Arial"/>
                <a:sym typeface="Arial"/>
              </a:rPr>
              <a:t>飲食店は卸値で仕入れられる</a:t>
            </a:r>
            <a:endParaRPr sz="1050">
              <a:solidFill>
                <a:schemeClr val="dk1"/>
              </a:solidFill>
              <a:latin typeface="Calibri"/>
              <a:ea typeface="Calibri"/>
              <a:cs typeface="Calibri"/>
              <a:sym typeface="Calibri"/>
            </a:endParaRPr>
          </a:p>
        </p:txBody>
      </p:sp>
      <p:sp>
        <p:nvSpPr>
          <p:cNvPr id="538" name="Google Shape;538;p33"/>
          <p:cNvSpPr/>
          <p:nvPr/>
        </p:nvSpPr>
        <p:spPr>
          <a:xfrm>
            <a:off x="5230368" y="5413248"/>
            <a:ext cx="2121408" cy="438912"/>
          </a:xfrm>
          <a:prstGeom prst="rect">
            <a:avLst/>
          </a:prstGeom>
          <a:noFill/>
          <a:ln>
            <a:noFill/>
          </a:ln>
        </p:spPr>
        <p:txBody>
          <a:bodyPr spcFirstLastPara="1" wrap="square" lIns="0" tIns="0" rIns="0" bIns="0" anchor="ctr" anchorCtr="0">
            <a:noAutofit/>
          </a:bodyPr>
          <a:lstStyle/>
          <a:p>
            <a:pPr marL="0" marR="0" lvl="0" indent="0" algn="l" rtl="0">
              <a:lnSpc>
                <a:spcPct val="138888"/>
              </a:lnSpc>
              <a:spcBef>
                <a:spcPts val="0"/>
              </a:spcBef>
              <a:spcAft>
                <a:spcPts val="0"/>
              </a:spcAft>
              <a:buClr>
                <a:srgbClr val="B9BEC2"/>
              </a:buClr>
              <a:buSzPts val="900"/>
              <a:buFont typeface="Arial"/>
              <a:buNone/>
            </a:pPr>
            <a:r>
              <a:rPr lang="en-US" sz="900">
                <a:solidFill>
                  <a:srgbClr val="B9BEC2"/>
                </a:solidFill>
                <a:latin typeface="Arial"/>
                <a:ea typeface="Arial"/>
                <a:cs typeface="Arial"/>
                <a:sym typeface="Arial"/>
              </a:rPr>
              <a:t>在庫を持たずに、店内価格の</a:t>
            </a:r>
            <a:endParaRPr sz="900">
              <a:solidFill>
                <a:schemeClr val="dk1"/>
              </a:solidFill>
              <a:latin typeface="Calibri"/>
              <a:ea typeface="Calibri"/>
              <a:cs typeface="Calibri"/>
              <a:sym typeface="Calibri"/>
            </a:endParaRPr>
          </a:p>
          <a:p>
            <a:pPr marL="0" marR="0" lvl="0" indent="0" algn="l" rtl="0">
              <a:lnSpc>
                <a:spcPct val="138888"/>
              </a:lnSpc>
              <a:spcBef>
                <a:spcPts val="0"/>
              </a:spcBef>
              <a:spcAft>
                <a:spcPts val="0"/>
              </a:spcAft>
              <a:buClr>
                <a:srgbClr val="B9BEC2"/>
              </a:buClr>
              <a:buSzPts val="900"/>
              <a:buFont typeface="Arial"/>
              <a:buNone/>
            </a:pPr>
            <a:r>
              <a:rPr lang="en-US" sz="900">
                <a:solidFill>
                  <a:srgbClr val="B9BEC2"/>
                </a:solidFill>
                <a:latin typeface="Arial"/>
                <a:ea typeface="Arial"/>
                <a:cs typeface="Arial"/>
                <a:sym typeface="Arial"/>
              </a:rPr>
              <a:t>数分の一で調達できる</a:t>
            </a:r>
            <a:endParaRPr sz="900">
              <a:solidFill>
                <a:schemeClr val="dk1"/>
              </a:solidFill>
              <a:latin typeface="Calibri"/>
              <a:ea typeface="Calibri"/>
              <a:cs typeface="Calibri"/>
              <a:sym typeface="Calibri"/>
            </a:endParaRPr>
          </a:p>
        </p:txBody>
      </p:sp>
      <p:sp>
        <p:nvSpPr>
          <p:cNvPr id="539" name="Google Shape;539;p33"/>
          <p:cNvSpPr/>
          <p:nvPr/>
        </p:nvSpPr>
        <p:spPr>
          <a:xfrm>
            <a:off x="7443216" y="5138928"/>
            <a:ext cx="212140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Arial"/>
              <a:buNone/>
            </a:pPr>
            <a:r>
              <a:rPr lang="en-US" sz="1050" b="1">
                <a:solidFill>
                  <a:srgbClr val="FFFFFF"/>
                </a:solidFill>
                <a:latin typeface="Arial"/>
                <a:ea typeface="Arial"/>
                <a:cs typeface="Arial"/>
                <a:sym typeface="Arial"/>
              </a:rPr>
              <a:t>居住者にも余力を渡せる</a:t>
            </a:r>
            <a:endParaRPr sz="1050">
              <a:solidFill>
                <a:schemeClr val="dk1"/>
              </a:solidFill>
              <a:latin typeface="Calibri"/>
              <a:ea typeface="Calibri"/>
              <a:cs typeface="Calibri"/>
              <a:sym typeface="Calibri"/>
            </a:endParaRPr>
          </a:p>
        </p:txBody>
      </p:sp>
      <p:sp>
        <p:nvSpPr>
          <p:cNvPr id="540" name="Google Shape;540;p33"/>
          <p:cNvSpPr/>
          <p:nvPr/>
        </p:nvSpPr>
        <p:spPr>
          <a:xfrm>
            <a:off x="7443216" y="5413248"/>
            <a:ext cx="2121408" cy="438912"/>
          </a:xfrm>
          <a:prstGeom prst="rect">
            <a:avLst/>
          </a:prstGeom>
          <a:noFill/>
          <a:ln>
            <a:noFill/>
          </a:ln>
        </p:spPr>
        <p:txBody>
          <a:bodyPr spcFirstLastPara="1" wrap="square" lIns="0" tIns="0" rIns="0" bIns="0" anchor="ctr" anchorCtr="0">
            <a:noAutofit/>
          </a:bodyPr>
          <a:lstStyle/>
          <a:p>
            <a:pPr marL="0" marR="0" lvl="0" indent="0" algn="l" rtl="0">
              <a:lnSpc>
                <a:spcPct val="138888"/>
              </a:lnSpc>
              <a:spcBef>
                <a:spcPts val="0"/>
              </a:spcBef>
              <a:spcAft>
                <a:spcPts val="0"/>
              </a:spcAft>
              <a:buClr>
                <a:srgbClr val="B9BEC2"/>
              </a:buClr>
              <a:buSzPts val="900"/>
              <a:buFont typeface="Arial"/>
              <a:buNone/>
            </a:pPr>
            <a:r>
              <a:rPr lang="en-US" sz="900">
                <a:solidFill>
                  <a:srgbClr val="B9BEC2"/>
                </a:solidFill>
                <a:latin typeface="Arial"/>
                <a:ea typeface="Arial"/>
                <a:cs typeface="Arial"/>
                <a:sym typeface="Arial"/>
              </a:rPr>
              <a:t>卸値×1.1〜1.3でも、市中の</a:t>
            </a:r>
            <a:endParaRPr sz="900">
              <a:solidFill>
                <a:schemeClr val="dk1"/>
              </a:solidFill>
              <a:latin typeface="Calibri"/>
              <a:ea typeface="Calibri"/>
              <a:cs typeface="Calibri"/>
              <a:sym typeface="Calibri"/>
            </a:endParaRPr>
          </a:p>
          <a:p>
            <a:pPr marL="0" marR="0" lvl="0" indent="0" algn="l" rtl="0">
              <a:lnSpc>
                <a:spcPct val="138888"/>
              </a:lnSpc>
              <a:spcBef>
                <a:spcPts val="0"/>
              </a:spcBef>
              <a:spcAft>
                <a:spcPts val="0"/>
              </a:spcAft>
              <a:buClr>
                <a:srgbClr val="B9BEC2"/>
              </a:buClr>
              <a:buSzPts val="900"/>
              <a:buFont typeface="Arial"/>
              <a:buNone/>
            </a:pPr>
            <a:r>
              <a:rPr lang="en-US" sz="900">
                <a:solidFill>
                  <a:srgbClr val="B9BEC2"/>
                </a:solidFill>
                <a:latin typeface="Arial"/>
                <a:ea typeface="Arial"/>
                <a:cs typeface="Arial"/>
                <a:sym typeface="Arial"/>
              </a:rPr>
              <a:t>どの価格帯より有利</a:t>
            </a:r>
            <a:endParaRPr sz="900">
              <a:solidFill>
                <a:schemeClr val="dk1"/>
              </a:solidFill>
              <a:latin typeface="Calibri"/>
              <a:ea typeface="Calibri"/>
              <a:cs typeface="Calibri"/>
              <a:sym typeface="Calibri"/>
            </a:endParaRPr>
          </a:p>
        </p:txBody>
      </p:sp>
      <p:sp>
        <p:nvSpPr>
          <p:cNvPr id="541" name="Google Shape;541;p33"/>
          <p:cNvSpPr/>
          <p:nvPr/>
        </p:nvSpPr>
        <p:spPr>
          <a:xfrm>
            <a:off x="9656064" y="5138928"/>
            <a:ext cx="2121408"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050"/>
              <a:buFont typeface="Arial"/>
              <a:buNone/>
            </a:pPr>
            <a:r>
              <a:rPr lang="en-US" sz="1050" b="1">
                <a:solidFill>
                  <a:srgbClr val="FFFFFF"/>
                </a:solidFill>
                <a:latin typeface="Arial"/>
                <a:ea typeface="Arial"/>
                <a:cs typeface="Arial"/>
                <a:sym typeface="Arial"/>
              </a:rPr>
              <a:t>新規参入は追随できない</a:t>
            </a:r>
            <a:endParaRPr sz="1050">
              <a:solidFill>
                <a:schemeClr val="dk1"/>
              </a:solidFill>
              <a:latin typeface="Calibri"/>
              <a:ea typeface="Calibri"/>
              <a:cs typeface="Calibri"/>
              <a:sym typeface="Calibri"/>
            </a:endParaRPr>
          </a:p>
        </p:txBody>
      </p:sp>
      <p:sp>
        <p:nvSpPr>
          <p:cNvPr id="542" name="Google Shape;542;p33"/>
          <p:cNvSpPr/>
          <p:nvPr/>
        </p:nvSpPr>
        <p:spPr>
          <a:xfrm>
            <a:off x="9656064" y="5413248"/>
            <a:ext cx="2121408" cy="438912"/>
          </a:xfrm>
          <a:prstGeom prst="rect">
            <a:avLst/>
          </a:prstGeom>
          <a:noFill/>
          <a:ln>
            <a:noFill/>
          </a:ln>
        </p:spPr>
        <p:txBody>
          <a:bodyPr spcFirstLastPara="1" wrap="square" lIns="0" tIns="0" rIns="0" bIns="0" anchor="ctr" anchorCtr="0">
            <a:noAutofit/>
          </a:bodyPr>
          <a:lstStyle/>
          <a:p>
            <a:pPr marL="0" marR="0" lvl="0" indent="0" algn="l" rtl="0">
              <a:lnSpc>
                <a:spcPct val="138888"/>
              </a:lnSpc>
              <a:spcBef>
                <a:spcPts val="0"/>
              </a:spcBef>
              <a:spcAft>
                <a:spcPts val="0"/>
              </a:spcAft>
              <a:buClr>
                <a:srgbClr val="B9BEC2"/>
              </a:buClr>
              <a:buSzPts val="900"/>
              <a:buFont typeface="Arial"/>
              <a:buNone/>
            </a:pPr>
            <a:r>
              <a:rPr lang="en-US" sz="900">
                <a:solidFill>
                  <a:srgbClr val="B9BEC2"/>
                </a:solidFill>
                <a:latin typeface="Arial"/>
                <a:ea typeface="Arial"/>
                <a:cs typeface="Arial"/>
                <a:sym typeface="Arial"/>
              </a:rPr>
              <a:t>参入業者は「70」の</a:t>
            </a:r>
            <a:endParaRPr sz="900">
              <a:solidFill>
                <a:schemeClr val="dk1"/>
              </a:solidFill>
              <a:latin typeface="Calibri"/>
              <a:ea typeface="Calibri"/>
              <a:cs typeface="Calibri"/>
              <a:sym typeface="Calibri"/>
            </a:endParaRPr>
          </a:p>
          <a:p>
            <a:pPr marL="0" marR="0" lvl="0" indent="0" algn="l" rtl="0">
              <a:lnSpc>
                <a:spcPct val="138888"/>
              </a:lnSpc>
              <a:spcBef>
                <a:spcPts val="0"/>
              </a:spcBef>
              <a:spcAft>
                <a:spcPts val="0"/>
              </a:spcAft>
              <a:buClr>
                <a:srgbClr val="B9BEC2"/>
              </a:buClr>
              <a:buSzPts val="900"/>
              <a:buFont typeface="Arial"/>
              <a:buNone/>
            </a:pPr>
            <a:r>
              <a:rPr lang="en-US" sz="900">
                <a:solidFill>
                  <a:srgbClr val="B9BEC2"/>
                </a:solidFill>
                <a:latin typeface="Arial"/>
                <a:ea typeface="Arial"/>
                <a:cs typeface="Arial"/>
                <a:sym typeface="Arial"/>
              </a:rPr>
              <a:t>水準からしか始まらない</a:t>
            </a:r>
            <a:endParaRPr sz="900">
              <a:solidFill>
                <a:schemeClr val="dk1"/>
              </a:solidFill>
              <a:latin typeface="Calibri"/>
              <a:ea typeface="Calibri"/>
              <a:cs typeface="Calibri"/>
              <a:sym typeface="Calibri"/>
            </a:endParaRPr>
          </a:p>
        </p:txBody>
      </p:sp>
      <p:sp>
        <p:nvSpPr>
          <p:cNvPr id="543" name="Google Shape;543;p33"/>
          <p:cNvSpPr/>
          <p:nvPr/>
        </p:nvSpPr>
        <p:spPr>
          <a:xfrm>
            <a:off x="566928" y="6035040"/>
            <a:ext cx="10972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880"/>
              <a:buFont typeface="Arial"/>
              <a:buNone/>
            </a:pPr>
            <a:r>
              <a:rPr lang="en-US" sz="880">
                <a:solidFill>
                  <a:srgbClr val="A6ABAF"/>
                </a:solidFill>
                <a:latin typeface="Arial"/>
                <a:ea typeface="Arial"/>
                <a:cs typeface="Arial"/>
                <a:sym typeface="Arial"/>
              </a:rPr>
              <a:t>※ 希望小売価格を100とした相対指数。ネット最安値／並行輸入価格は概ね80の水準。出典：当社資料。</a:t>
            </a:r>
            <a:endParaRPr sz="88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8"/>
        <p:cNvGrpSpPr/>
        <p:nvPr/>
      </p:nvGrpSpPr>
      <p:grpSpPr>
        <a:xfrm>
          <a:off x="0" y="0"/>
          <a:ext cx="0" cy="0"/>
          <a:chOff x="0" y="0"/>
          <a:chExt cx="0" cy="0"/>
        </a:xfrm>
      </p:grpSpPr>
      <p:pic>
        <p:nvPicPr>
          <p:cNvPr id="549" name="Google Shape;549;p34"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550" name="Google Shape;550;p34"/>
          <p:cNvSpPr/>
          <p:nvPr/>
        </p:nvSpPr>
        <p:spPr>
          <a:xfrm>
            <a:off x="566928" y="292608"/>
            <a:ext cx="950976"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4"/>
          <p:cNvSpPr/>
          <p:nvPr/>
        </p:nvSpPr>
        <p:spPr>
          <a:xfrm>
            <a:off x="566928" y="292608"/>
            <a:ext cx="95097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APPENDIX</a:t>
            </a:r>
            <a:endParaRPr sz="850">
              <a:solidFill>
                <a:schemeClr val="dk1"/>
              </a:solidFill>
              <a:latin typeface="Calibri"/>
              <a:ea typeface="Calibri"/>
              <a:cs typeface="Calibri"/>
              <a:sym typeface="Calibri"/>
            </a:endParaRPr>
          </a:p>
        </p:txBody>
      </p:sp>
      <p:sp>
        <p:nvSpPr>
          <p:cNvPr id="552" name="Google Shape;552;p34"/>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リニューアル版 WineBank CLUB 会員特典の内訳（想定）</a:t>
            </a:r>
            <a:endParaRPr sz="2300">
              <a:solidFill>
                <a:schemeClr val="dk1"/>
              </a:solidFill>
              <a:latin typeface="Calibri"/>
              <a:ea typeface="Calibri"/>
              <a:cs typeface="Calibri"/>
              <a:sym typeface="Calibri"/>
            </a:endParaRPr>
          </a:p>
        </p:txBody>
      </p:sp>
      <p:sp>
        <p:nvSpPr>
          <p:cNvPr id="553" name="Google Shape;553;p34"/>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現行は月会費8,800円〜のプラン制です。下表はワイン預り100本を含む上位プランを想定した提供価値の内訳で、ヒルズ枠を設計する際の基準としてご参照ください。</a:t>
            </a:r>
            <a:endParaRPr sz="1150">
              <a:solidFill>
                <a:schemeClr val="dk1"/>
              </a:solidFill>
              <a:latin typeface="Calibri"/>
              <a:ea typeface="Calibri"/>
              <a:cs typeface="Calibri"/>
              <a:sym typeface="Calibri"/>
            </a:endParaRPr>
          </a:p>
        </p:txBody>
      </p:sp>
      <p:sp>
        <p:nvSpPr>
          <p:cNvPr id="554" name="Google Shape;554;p34"/>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4"/>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graphicFrame>
        <p:nvGraphicFramePr>
          <p:cNvPr id="556" name="Google Shape;556;p34"/>
          <p:cNvGraphicFramePr/>
          <p:nvPr/>
        </p:nvGraphicFramePr>
        <p:xfrm>
          <a:off x="566928" y="1481328"/>
          <a:ext cx="3000000" cy="3000000"/>
        </p:xfrm>
        <a:graphic>
          <a:graphicData uri="http://schemas.openxmlformats.org/drawingml/2006/table">
            <a:tbl>
              <a:tblPr>
                <a:noFill/>
                <a:tableStyleId>{6F095D70-C01B-41C2-B289-87E81EBF8A4A}</a:tableStyleId>
              </a:tblPr>
              <a:tblGrid>
                <a:gridCol w="2615175">
                  <a:extLst>
                    <a:ext uri="{9D8B030D-6E8A-4147-A177-3AD203B41FA5}">
                      <a16:colId xmlns:a16="http://schemas.microsoft.com/office/drawing/2014/main" val="20000"/>
                    </a:ext>
                  </a:extLst>
                </a:gridCol>
                <a:gridCol w="3986775">
                  <a:extLst>
                    <a:ext uri="{9D8B030D-6E8A-4147-A177-3AD203B41FA5}">
                      <a16:colId xmlns:a16="http://schemas.microsoft.com/office/drawing/2014/main" val="20001"/>
                    </a:ext>
                  </a:extLst>
                </a:gridCol>
                <a:gridCol w="1444750">
                  <a:extLst>
                    <a:ext uri="{9D8B030D-6E8A-4147-A177-3AD203B41FA5}">
                      <a16:colId xmlns:a16="http://schemas.microsoft.com/office/drawing/2014/main" val="20002"/>
                    </a:ext>
                  </a:extLst>
                </a:gridCol>
              </a:tblGrid>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サービス</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内容</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相当額</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0"/>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初回引取・入庫・撮影・登録</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現在の保管先・ご自宅へ伺い、全ボトルを撮影・登録</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100,000円</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1"/>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ワイン保管（100本まで）</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定温14℃・湿度70%の専門倉庫でお預かり</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120,000円</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2"/>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会員資格（レストラン特典）</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ワインが仕入原価相当。同伴者も同特典</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100,000円</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3"/>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出庫・ご配送</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回数無制限・無料（持込・贈答・ご自宅）</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54,000円</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4"/>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コルケージ無料</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提携店へのBYO。抜栓料・持込料ゼロ</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60,000円</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5"/>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保険・真贋保証</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動産保険の付保および真贋保証</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30,000円</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6"/>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合計</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80"/>
                        <a:buFont typeface="Calibri"/>
                        <a:buNone/>
                      </a:pP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464,000円相当</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557" name="Google Shape;557;p34"/>
          <p:cNvSpPr/>
          <p:nvPr/>
        </p:nvSpPr>
        <p:spPr>
          <a:xfrm>
            <a:off x="566928" y="1481328"/>
            <a:ext cx="8046720" cy="420624"/>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4"/>
          <p:cNvSpPr/>
          <p:nvPr/>
        </p:nvSpPr>
        <p:spPr>
          <a:xfrm>
            <a:off x="676656" y="1481328"/>
            <a:ext cx="239572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980"/>
              <a:buFont typeface="Arial"/>
              <a:buNone/>
            </a:pPr>
            <a:r>
              <a:rPr lang="en-US" sz="980" b="1">
                <a:solidFill>
                  <a:srgbClr val="EFDCCE"/>
                </a:solidFill>
                <a:latin typeface="Arial"/>
                <a:ea typeface="Arial"/>
                <a:cs typeface="Arial"/>
                <a:sym typeface="Arial"/>
              </a:rPr>
              <a:t>サービス</a:t>
            </a:r>
            <a:endParaRPr sz="980">
              <a:solidFill>
                <a:schemeClr val="dk1"/>
              </a:solidFill>
              <a:latin typeface="Calibri"/>
              <a:ea typeface="Calibri"/>
              <a:cs typeface="Calibri"/>
              <a:sym typeface="Calibri"/>
            </a:endParaRPr>
          </a:p>
        </p:txBody>
      </p:sp>
      <p:sp>
        <p:nvSpPr>
          <p:cNvPr id="559" name="Google Shape;559;p34"/>
          <p:cNvSpPr/>
          <p:nvPr/>
        </p:nvSpPr>
        <p:spPr>
          <a:xfrm>
            <a:off x="3291840" y="1481328"/>
            <a:ext cx="376732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980"/>
              <a:buFont typeface="Arial"/>
              <a:buNone/>
            </a:pPr>
            <a:r>
              <a:rPr lang="en-US" sz="980" b="1">
                <a:solidFill>
                  <a:srgbClr val="EFDCCE"/>
                </a:solidFill>
                <a:latin typeface="Arial"/>
                <a:ea typeface="Arial"/>
                <a:cs typeface="Arial"/>
                <a:sym typeface="Arial"/>
              </a:rPr>
              <a:t>内容</a:t>
            </a:r>
            <a:endParaRPr sz="980">
              <a:solidFill>
                <a:schemeClr val="dk1"/>
              </a:solidFill>
              <a:latin typeface="Calibri"/>
              <a:ea typeface="Calibri"/>
              <a:cs typeface="Calibri"/>
              <a:sym typeface="Calibri"/>
            </a:endParaRPr>
          </a:p>
        </p:txBody>
      </p:sp>
      <p:sp>
        <p:nvSpPr>
          <p:cNvPr id="560" name="Google Shape;560;p34"/>
          <p:cNvSpPr/>
          <p:nvPr/>
        </p:nvSpPr>
        <p:spPr>
          <a:xfrm>
            <a:off x="7278624" y="1481328"/>
            <a:ext cx="1225296"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980"/>
              <a:buFont typeface="Arial"/>
              <a:buNone/>
            </a:pPr>
            <a:r>
              <a:rPr lang="en-US" sz="980" b="1">
                <a:solidFill>
                  <a:srgbClr val="EFDCCE"/>
                </a:solidFill>
                <a:latin typeface="Arial"/>
                <a:ea typeface="Arial"/>
                <a:cs typeface="Arial"/>
                <a:sym typeface="Arial"/>
              </a:rPr>
              <a:t>相当額</a:t>
            </a:r>
            <a:endParaRPr sz="980">
              <a:solidFill>
                <a:schemeClr val="dk1"/>
              </a:solidFill>
              <a:latin typeface="Calibri"/>
              <a:ea typeface="Calibri"/>
              <a:cs typeface="Calibri"/>
              <a:sym typeface="Calibri"/>
            </a:endParaRPr>
          </a:p>
        </p:txBody>
      </p:sp>
      <p:sp>
        <p:nvSpPr>
          <p:cNvPr id="561" name="Google Shape;561;p34"/>
          <p:cNvSpPr/>
          <p:nvPr/>
        </p:nvSpPr>
        <p:spPr>
          <a:xfrm>
            <a:off x="566928" y="4956048"/>
            <a:ext cx="8046720" cy="457200"/>
          </a:xfrm>
          <a:prstGeom prst="rect">
            <a:avLst/>
          </a:prstGeom>
          <a:noFill/>
          <a:ln>
            <a:noFill/>
          </a:ln>
        </p:spPr>
        <p:txBody>
          <a:bodyPr spcFirstLastPara="1" wrap="square" lIns="0" tIns="0" rIns="0" bIns="0" anchor="ctr" anchorCtr="0">
            <a:noAutofit/>
          </a:bodyPr>
          <a:lstStyle/>
          <a:p>
            <a:pPr marL="0" marR="0" lvl="0" indent="0" algn="l" rtl="0">
              <a:lnSpc>
                <a:spcPct val="141304"/>
              </a:lnSpc>
              <a:spcBef>
                <a:spcPts val="0"/>
              </a:spcBef>
              <a:spcAft>
                <a:spcPts val="0"/>
              </a:spcAft>
              <a:buClr>
                <a:srgbClr val="6E7378"/>
              </a:buClr>
              <a:buSzPts val="920"/>
              <a:buFont typeface="Arial"/>
              <a:buNone/>
            </a:pPr>
            <a:r>
              <a:rPr lang="en-US" sz="920">
                <a:solidFill>
                  <a:srgbClr val="6E7378"/>
                </a:solidFill>
                <a:latin typeface="Arial"/>
                <a:ea typeface="Arial"/>
                <a:cs typeface="Arial"/>
                <a:sym typeface="Arial"/>
              </a:rPr>
              <a:t>別途申し受けるもの：相続・ご承継サポート（別途お見積り）／当日エクスプレス配送 5,000円・回／101本目以降の保管料 月100円・本</a:t>
            </a:r>
            <a:endParaRPr sz="920">
              <a:solidFill>
                <a:schemeClr val="dk1"/>
              </a:solidFill>
              <a:latin typeface="Calibri"/>
              <a:ea typeface="Calibri"/>
              <a:cs typeface="Calibri"/>
              <a:sym typeface="Calibri"/>
            </a:endParaRPr>
          </a:p>
        </p:txBody>
      </p:sp>
      <p:sp>
        <p:nvSpPr>
          <p:cNvPr id="562" name="Google Shape;562;p34"/>
          <p:cNvSpPr/>
          <p:nvPr/>
        </p:nvSpPr>
        <p:spPr>
          <a:xfrm>
            <a:off x="8924544" y="1481328"/>
            <a:ext cx="2700223" cy="3035808"/>
          </a:xfrm>
          <a:prstGeom prst="roundRect">
            <a:avLst>
              <a:gd name="adj" fmla="val 1693"/>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4"/>
          <p:cNvSpPr/>
          <p:nvPr/>
        </p:nvSpPr>
        <p:spPr>
          <a:xfrm>
            <a:off x="9180576" y="1645920"/>
            <a:ext cx="2188159"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400"/>
              <a:buFont typeface="Arial"/>
              <a:buNone/>
            </a:pPr>
            <a:r>
              <a:rPr lang="en-US" sz="1400" b="1">
                <a:solidFill>
                  <a:srgbClr val="EFDCCE"/>
                </a:solidFill>
                <a:latin typeface="Arial"/>
                <a:ea typeface="Arial"/>
                <a:cs typeface="Arial"/>
                <a:sym typeface="Arial"/>
              </a:rPr>
              <a:t>接待費の実質削減効果</a:t>
            </a:r>
            <a:endParaRPr sz="1400">
              <a:solidFill>
                <a:schemeClr val="dk1"/>
              </a:solidFill>
              <a:latin typeface="Calibri"/>
              <a:ea typeface="Calibri"/>
              <a:cs typeface="Calibri"/>
              <a:sym typeface="Calibri"/>
            </a:endParaRPr>
          </a:p>
        </p:txBody>
      </p:sp>
      <p:sp>
        <p:nvSpPr>
          <p:cNvPr id="564" name="Google Shape;564;p34"/>
          <p:cNvSpPr/>
          <p:nvPr/>
        </p:nvSpPr>
        <p:spPr>
          <a:xfrm>
            <a:off x="9180576" y="2048256"/>
            <a:ext cx="2188159" cy="969264"/>
          </a:xfrm>
          <a:prstGeom prst="rect">
            <a:avLst/>
          </a:prstGeom>
          <a:noFill/>
          <a:ln>
            <a:noFill/>
          </a:ln>
        </p:spPr>
        <p:txBody>
          <a:bodyPr spcFirstLastPara="1" wrap="square" lIns="0" tIns="0" rIns="0" bIns="0" anchor="ctr" anchorCtr="0">
            <a:noAutofit/>
          </a:bodyPr>
          <a:lstStyle/>
          <a:p>
            <a:pPr marL="0" marR="0" lvl="0" indent="0" algn="l" rtl="0">
              <a:lnSpc>
                <a:spcPct val="150000"/>
              </a:lnSpc>
              <a:spcBef>
                <a:spcPts val="0"/>
              </a:spcBef>
              <a:spcAft>
                <a:spcPts val="0"/>
              </a:spcAft>
              <a:buClr>
                <a:srgbClr val="DDE1E4"/>
              </a:buClr>
              <a:buSzPts val="1000"/>
              <a:buFont typeface="Arial"/>
              <a:buNone/>
            </a:pPr>
            <a:r>
              <a:rPr lang="en-US" sz="1000">
                <a:solidFill>
                  <a:srgbClr val="DDE1E4"/>
                </a:solidFill>
                <a:latin typeface="Arial"/>
                <a:ea typeface="Arial"/>
                <a:cs typeface="Arial"/>
                <a:sym typeface="Arial"/>
              </a:rPr>
              <a:t>一般の飲食店はワインを卸原価の2〜3倍で提供しています。仕入原価相当での提供とBYO無料により、年間接待費600万円規模のご利用で約200万円の削減余地が生まれます。</a:t>
            </a:r>
            <a:endParaRPr sz="1000">
              <a:solidFill>
                <a:schemeClr val="dk1"/>
              </a:solidFill>
              <a:latin typeface="Calibri"/>
              <a:ea typeface="Calibri"/>
              <a:cs typeface="Calibri"/>
              <a:sym typeface="Calibri"/>
            </a:endParaRPr>
          </a:p>
        </p:txBody>
      </p:sp>
      <p:sp>
        <p:nvSpPr>
          <p:cNvPr id="565" name="Google Shape;565;p34"/>
          <p:cNvSpPr/>
          <p:nvPr/>
        </p:nvSpPr>
        <p:spPr>
          <a:xfrm>
            <a:off x="9180576" y="3127248"/>
            <a:ext cx="2188159" cy="603504"/>
          </a:xfrm>
          <a:prstGeom prst="rect">
            <a:avLst/>
          </a:prstGeom>
          <a:noFill/>
          <a:ln>
            <a:noFill/>
          </a:ln>
        </p:spPr>
        <p:txBody>
          <a:bodyPr spcFirstLastPara="1" wrap="square" lIns="0" tIns="0" rIns="0" bIns="0" anchor="ctr" anchorCtr="0">
            <a:noAutofit/>
          </a:bodyPr>
          <a:lstStyle/>
          <a:p>
            <a:pPr marL="0" marR="0" lvl="0" indent="0" algn="l" rtl="0">
              <a:lnSpc>
                <a:spcPct val="152380"/>
              </a:lnSpc>
              <a:spcBef>
                <a:spcPts val="0"/>
              </a:spcBef>
              <a:spcAft>
                <a:spcPts val="0"/>
              </a:spcAft>
              <a:buClr>
                <a:srgbClr val="C68A65"/>
              </a:buClr>
              <a:buSzPts val="1050"/>
              <a:buFont typeface="Arial"/>
              <a:buNone/>
            </a:pPr>
            <a:r>
              <a:rPr lang="en-US" sz="1050" b="1">
                <a:solidFill>
                  <a:srgbClr val="C68A65"/>
                </a:solidFill>
                <a:latin typeface="Arial"/>
                <a:ea typeface="Arial"/>
                <a:cs typeface="Arial"/>
                <a:sym typeface="Arial"/>
              </a:rPr>
              <a:t>特典46.4万円相当 ＋ 接待費削減 約200万円</a:t>
            </a:r>
            <a:endParaRPr sz="1050">
              <a:solidFill>
                <a:schemeClr val="dk1"/>
              </a:solidFill>
              <a:latin typeface="Calibri"/>
              <a:ea typeface="Calibri"/>
              <a:cs typeface="Calibri"/>
              <a:sym typeface="Calibri"/>
            </a:endParaRPr>
          </a:p>
          <a:p>
            <a:pPr marL="0" marR="0" lvl="0" indent="0" algn="l" rtl="0">
              <a:lnSpc>
                <a:spcPct val="152380"/>
              </a:lnSpc>
              <a:spcBef>
                <a:spcPts val="0"/>
              </a:spcBef>
              <a:spcAft>
                <a:spcPts val="0"/>
              </a:spcAft>
              <a:buClr>
                <a:srgbClr val="C68A65"/>
              </a:buClr>
              <a:buSzPts val="1050"/>
              <a:buFont typeface="Arial"/>
              <a:buNone/>
            </a:pPr>
            <a:r>
              <a:rPr lang="en-US" sz="1050" b="1">
                <a:solidFill>
                  <a:srgbClr val="C68A65"/>
                </a:solidFill>
                <a:latin typeface="Arial"/>
                <a:ea typeface="Arial"/>
                <a:cs typeface="Arial"/>
                <a:sym typeface="Arial"/>
              </a:rPr>
              <a:t>＝ 会費を大きく上回る実利</a:t>
            </a:r>
            <a:endParaRPr sz="1050">
              <a:solidFill>
                <a:schemeClr val="dk1"/>
              </a:solidFill>
              <a:latin typeface="Calibri"/>
              <a:ea typeface="Calibri"/>
              <a:cs typeface="Calibri"/>
              <a:sym typeface="Calibri"/>
            </a:endParaRPr>
          </a:p>
        </p:txBody>
      </p:sp>
      <p:sp>
        <p:nvSpPr>
          <p:cNvPr id="566" name="Google Shape;566;p34"/>
          <p:cNvSpPr/>
          <p:nvPr/>
        </p:nvSpPr>
        <p:spPr>
          <a:xfrm>
            <a:off x="9180576" y="3840480"/>
            <a:ext cx="2188159" cy="512064"/>
          </a:xfrm>
          <a:prstGeom prst="rect">
            <a:avLst/>
          </a:prstGeom>
          <a:noFill/>
          <a:ln>
            <a:noFill/>
          </a:ln>
        </p:spPr>
        <p:txBody>
          <a:bodyPr spcFirstLastPara="1" wrap="square" lIns="0" tIns="0" rIns="0" bIns="0" anchor="ctr" anchorCtr="0">
            <a:noAutofit/>
          </a:bodyPr>
          <a:lstStyle/>
          <a:p>
            <a:pPr marL="0" marR="0" lvl="0" indent="0" algn="l" rtl="0">
              <a:lnSpc>
                <a:spcPct val="142857"/>
              </a:lnSpc>
              <a:spcBef>
                <a:spcPts val="0"/>
              </a:spcBef>
              <a:spcAft>
                <a:spcPts val="0"/>
              </a:spcAft>
              <a:buClr>
                <a:srgbClr val="B9BEC2"/>
              </a:buClr>
              <a:buSzPts val="980"/>
              <a:buFont typeface="Arial"/>
              <a:buNone/>
            </a:pPr>
            <a:r>
              <a:rPr lang="en-US" sz="980">
                <a:solidFill>
                  <a:srgbClr val="B9BEC2"/>
                </a:solidFill>
                <a:latin typeface="Arial"/>
                <a:ea typeface="Arial"/>
                <a:cs typeface="Arial"/>
                <a:sym typeface="Arial"/>
              </a:rPr>
              <a:t>「持っているだけで得」が、法人会員への最初の一言になります。</a:t>
            </a:r>
            <a:endParaRPr sz="98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1"/>
        <p:cNvGrpSpPr/>
        <p:nvPr/>
      </p:nvGrpSpPr>
      <p:grpSpPr>
        <a:xfrm>
          <a:off x="0" y="0"/>
          <a:ext cx="0" cy="0"/>
          <a:chOff x="0" y="0"/>
          <a:chExt cx="0" cy="0"/>
        </a:xfrm>
      </p:grpSpPr>
      <p:pic>
        <p:nvPicPr>
          <p:cNvPr id="572" name="Google Shape;572;p35"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573" name="Google Shape;573;p35"/>
          <p:cNvSpPr/>
          <p:nvPr/>
        </p:nvSpPr>
        <p:spPr>
          <a:xfrm>
            <a:off x="566928" y="292608"/>
            <a:ext cx="868680"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5"/>
          <p:cNvSpPr/>
          <p:nvPr/>
        </p:nvSpPr>
        <p:spPr>
          <a:xfrm>
            <a:off x="566928" y="292608"/>
            <a:ext cx="8686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SUMMARY</a:t>
            </a:r>
            <a:endParaRPr sz="850">
              <a:solidFill>
                <a:schemeClr val="dk1"/>
              </a:solidFill>
              <a:latin typeface="Calibri"/>
              <a:ea typeface="Calibri"/>
              <a:cs typeface="Calibri"/>
              <a:sym typeface="Calibri"/>
            </a:endParaRPr>
          </a:p>
        </p:txBody>
      </p:sp>
      <p:sp>
        <p:nvSpPr>
          <p:cNvPr id="575" name="Google Shape;575;p35"/>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ご提案の骨子</a:t>
            </a:r>
            <a:endParaRPr sz="2300">
              <a:solidFill>
                <a:schemeClr val="dk1"/>
              </a:solidFill>
              <a:latin typeface="Calibri"/>
              <a:ea typeface="Calibri"/>
              <a:cs typeface="Calibri"/>
              <a:sym typeface="Calibri"/>
            </a:endParaRPr>
          </a:p>
        </p:txBody>
      </p:sp>
      <p:sp>
        <p:nvSpPr>
          <p:cNvPr id="576" name="Google Shape;576;p35"/>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ヒルズには「良いワインを必要とする人」が三層で密集しています。三層の課題は、一つの在庫で同時に解けます。</a:t>
            </a:r>
            <a:endParaRPr sz="1150">
              <a:solidFill>
                <a:schemeClr val="dk1"/>
              </a:solidFill>
              <a:latin typeface="Calibri"/>
              <a:ea typeface="Calibri"/>
              <a:cs typeface="Calibri"/>
              <a:sym typeface="Calibri"/>
            </a:endParaRPr>
          </a:p>
        </p:txBody>
      </p:sp>
      <p:sp>
        <p:nvSpPr>
          <p:cNvPr id="577" name="Google Shape;577;p35"/>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5"/>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579" name="Google Shape;579;p35"/>
          <p:cNvSpPr/>
          <p:nvPr/>
        </p:nvSpPr>
        <p:spPr>
          <a:xfrm>
            <a:off x="566928" y="1463040"/>
            <a:ext cx="11057839" cy="475488"/>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5"/>
          <p:cNvSpPr/>
          <p:nvPr/>
        </p:nvSpPr>
        <p:spPr>
          <a:xfrm>
            <a:off x="566928" y="1463040"/>
            <a:ext cx="11057839"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400"/>
              <a:buFont typeface="Arial"/>
              <a:buNone/>
            </a:pPr>
            <a:r>
              <a:rPr lang="en-US" sz="1400" b="1">
                <a:solidFill>
                  <a:srgbClr val="FFFFFF"/>
                </a:solidFill>
                <a:latin typeface="Arial"/>
                <a:ea typeface="Arial"/>
                <a:cs typeface="Arial"/>
                <a:sym typeface="Arial"/>
              </a:rPr>
              <a:t>その一つの在庫が、Cloud Wine Cave（クラウド型共有セラー）です。</a:t>
            </a:r>
            <a:endParaRPr sz="1400">
              <a:solidFill>
                <a:schemeClr val="dk1"/>
              </a:solidFill>
              <a:latin typeface="Calibri"/>
              <a:ea typeface="Calibri"/>
              <a:cs typeface="Calibri"/>
              <a:sym typeface="Calibri"/>
            </a:endParaRPr>
          </a:p>
        </p:txBody>
      </p:sp>
      <p:sp>
        <p:nvSpPr>
          <p:cNvPr id="581" name="Google Shape;581;p35"/>
          <p:cNvSpPr/>
          <p:nvPr/>
        </p:nvSpPr>
        <p:spPr>
          <a:xfrm>
            <a:off x="566928" y="2157984"/>
            <a:ext cx="2558720" cy="2615184"/>
          </a:xfrm>
          <a:prstGeom prst="roundRect">
            <a:avLst>
              <a:gd name="adj" fmla="val 178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5"/>
          <p:cNvSpPr/>
          <p:nvPr/>
        </p:nvSpPr>
        <p:spPr>
          <a:xfrm>
            <a:off x="822960" y="2432304"/>
            <a:ext cx="310896"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5"/>
          <p:cNvSpPr/>
          <p:nvPr/>
        </p:nvSpPr>
        <p:spPr>
          <a:xfrm>
            <a:off x="822960" y="2615184"/>
            <a:ext cx="2046656"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何を</a:t>
            </a:r>
            <a:endParaRPr sz="1500">
              <a:solidFill>
                <a:schemeClr val="dk1"/>
              </a:solidFill>
              <a:latin typeface="Calibri"/>
              <a:ea typeface="Calibri"/>
              <a:cs typeface="Calibri"/>
              <a:sym typeface="Calibri"/>
            </a:endParaRPr>
          </a:p>
        </p:txBody>
      </p:sp>
      <p:sp>
        <p:nvSpPr>
          <p:cNvPr id="584" name="Google Shape;584;p35"/>
          <p:cNvSpPr/>
          <p:nvPr/>
        </p:nvSpPr>
        <p:spPr>
          <a:xfrm>
            <a:off x="822960" y="2999232"/>
            <a:ext cx="2046656" cy="1645920"/>
          </a:xfrm>
          <a:prstGeom prst="rect">
            <a:avLst/>
          </a:prstGeom>
          <a:noFill/>
          <a:ln>
            <a:noFill/>
          </a:ln>
        </p:spPr>
        <p:txBody>
          <a:bodyPr spcFirstLastPara="1" wrap="square" lIns="0" tIns="0" rIns="0" bIns="0" anchor="ctr" anchorCtr="0">
            <a:noAutofit/>
          </a:bodyPr>
          <a:lstStyle/>
          <a:p>
            <a:pPr marL="342900" marR="0" lvl="0" indent="-342900" algn="l" rtl="0">
              <a:lnSpc>
                <a:spcPct val="142156"/>
              </a:lnSpc>
              <a:spcBef>
                <a:spcPts val="0"/>
              </a:spcBef>
              <a:spcAft>
                <a:spcPts val="0"/>
              </a:spcAft>
              <a:buClr>
                <a:srgbClr val="1A1A1A"/>
              </a:buClr>
              <a:buSzPts val="1020"/>
              <a:buFont typeface="Arial"/>
              <a:buChar char="▪"/>
            </a:pPr>
            <a:r>
              <a:rPr lang="en-US" sz="1020">
                <a:solidFill>
                  <a:srgbClr val="1A1A1A"/>
                </a:solidFill>
                <a:latin typeface="Arial"/>
                <a:ea typeface="Arial"/>
                <a:cs typeface="Arial"/>
                <a:sym typeface="Arial"/>
              </a:rPr>
              <a:t>Cloud Wine Caveを核とした6つのプログラムを共同組成</a:t>
            </a:r>
            <a:endParaRPr sz="1020">
              <a:solidFill>
                <a:schemeClr val="dk1"/>
              </a:solidFill>
              <a:latin typeface="Calibri"/>
              <a:ea typeface="Calibri"/>
              <a:cs typeface="Calibri"/>
              <a:sym typeface="Calibri"/>
            </a:endParaRPr>
          </a:p>
          <a:p>
            <a:pPr marL="342900" marR="0" lvl="0" indent="-342900" algn="l" rtl="0">
              <a:lnSpc>
                <a:spcPct val="142156"/>
              </a:lnSpc>
              <a:spcBef>
                <a:spcPts val="600"/>
              </a:spcBef>
              <a:spcAft>
                <a:spcPts val="0"/>
              </a:spcAft>
              <a:buClr>
                <a:srgbClr val="1A1A1A"/>
              </a:buClr>
              <a:buSzPts val="1020"/>
              <a:buFont typeface="Arial"/>
              <a:buChar char="▪"/>
            </a:pPr>
            <a:r>
              <a:rPr lang="en-US" sz="1020">
                <a:solidFill>
                  <a:srgbClr val="1A1A1A"/>
                </a:solidFill>
                <a:latin typeface="Arial"/>
                <a:ea typeface="Arial"/>
                <a:cs typeface="Arial"/>
                <a:sym typeface="Arial"/>
              </a:rPr>
              <a:t>在庫は当社が保有。利用者は使った分だけ支払う</a:t>
            </a:r>
            <a:endParaRPr sz="1020">
              <a:solidFill>
                <a:schemeClr val="dk1"/>
              </a:solidFill>
              <a:latin typeface="Calibri"/>
              <a:ea typeface="Calibri"/>
              <a:cs typeface="Calibri"/>
              <a:sym typeface="Calibri"/>
            </a:endParaRPr>
          </a:p>
        </p:txBody>
      </p:sp>
      <p:sp>
        <p:nvSpPr>
          <p:cNvPr id="585" name="Google Shape;585;p35"/>
          <p:cNvSpPr/>
          <p:nvPr/>
        </p:nvSpPr>
        <p:spPr>
          <a:xfrm>
            <a:off x="3399968" y="2157984"/>
            <a:ext cx="2558720" cy="2615184"/>
          </a:xfrm>
          <a:prstGeom prst="roundRect">
            <a:avLst>
              <a:gd name="adj" fmla="val 178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5"/>
          <p:cNvSpPr/>
          <p:nvPr/>
        </p:nvSpPr>
        <p:spPr>
          <a:xfrm>
            <a:off x="3656000" y="2432304"/>
            <a:ext cx="310896"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5"/>
          <p:cNvSpPr/>
          <p:nvPr/>
        </p:nvSpPr>
        <p:spPr>
          <a:xfrm>
            <a:off x="3656000" y="2615184"/>
            <a:ext cx="2046656"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誰に</a:t>
            </a:r>
            <a:endParaRPr sz="1500">
              <a:solidFill>
                <a:schemeClr val="dk1"/>
              </a:solidFill>
              <a:latin typeface="Calibri"/>
              <a:ea typeface="Calibri"/>
              <a:cs typeface="Calibri"/>
              <a:sym typeface="Calibri"/>
            </a:endParaRPr>
          </a:p>
        </p:txBody>
      </p:sp>
      <p:sp>
        <p:nvSpPr>
          <p:cNvPr id="588" name="Google Shape;588;p35"/>
          <p:cNvSpPr/>
          <p:nvPr/>
        </p:nvSpPr>
        <p:spPr>
          <a:xfrm>
            <a:off x="3656000" y="2999232"/>
            <a:ext cx="2046656" cy="1645920"/>
          </a:xfrm>
          <a:prstGeom prst="rect">
            <a:avLst/>
          </a:prstGeom>
          <a:noFill/>
          <a:ln>
            <a:noFill/>
          </a:ln>
        </p:spPr>
        <p:txBody>
          <a:bodyPr spcFirstLastPara="1" wrap="square" lIns="0" tIns="0" rIns="0" bIns="0" anchor="ctr" anchorCtr="0">
            <a:noAutofit/>
          </a:bodyPr>
          <a:lstStyle/>
          <a:p>
            <a:pPr marL="342900" marR="0" lvl="0" indent="-342900" algn="l" rtl="0">
              <a:lnSpc>
                <a:spcPct val="142156"/>
              </a:lnSpc>
              <a:spcBef>
                <a:spcPts val="0"/>
              </a:spcBef>
              <a:spcAft>
                <a:spcPts val="0"/>
              </a:spcAft>
              <a:buClr>
                <a:srgbClr val="1A1A1A"/>
              </a:buClr>
              <a:buSzPts val="1020"/>
              <a:buFont typeface="Arial"/>
              <a:buChar char="▪"/>
            </a:pPr>
            <a:r>
              <a:rPr lang="en-US" sz="1020">
                <a:solidFill>
                  <a:srgbClr val="1A1A1A"/>
                </a:solidFill>
                <a:latin typeface="Arial"/>
                <a:ea typeface="Arial"/>
                <a:cs typeface="Arial"/>
                <a:sym typeface="Arial"/>
              </a:rPr>
              <a:t>ヒルズのテナント飲食店（在庫リスクからの解放）</a:t>
            </a:r>
            <a:endParaRPr sz="1020">
              <a:solidFill>
                <a:schemeClr val="dk1"/>
              </a:solidFill>
              <a:latin typeface="Calibri"/>
              <a:ea typeface="Calibri"/>
              <a:cs typeface="Calibri"/>
              <a:sym typeface="Calibri"/>
            </a:endParaRPr>
          </a:p>
          <a:p>
            <a:pPr marL="342900" marR="0" lvl="0" indent="-342900" algn="l" rtl="0">
              <a:lnSpc>
                <a:spcPct val="142156"/>
              </a:lnSpc>
              <a:spcBef>
                <a:spcPts val="600"/>
              </a:spcBef>
              <a:spcAft>
                <a:spcPts val="0"/>
              </a:spcAft>
              <a:buClr>
                <a:srgbClr val="1A1A1A"/>
              </a:buClr>
              <a:buSzPts val="1020"/>
              <a:buFont typeface="Arial"/>
              <a:buChar char="▪"/>
            </a:pPr>
            <a:r>
              <a:rPr lang="en-US" sz="1020">
                <a:solidFill>
                  <a:srgbClr val="1A1A1A"/>
                </a:solidFill>
                <a:latin typeface="Arial"/>
                <a:ea typeface="Arial"/>
                <a:cs typeface="Arial"/>
                <a:sym typeface="Arial"/>
              </a:rPr>
              <a:t>ヒルズワーカー（接待・会食）</a:t>
            </a:r>
            <a:endParaRPr sz="1020">
              <a:solidFill>
                <a:schemeClr val="dk1"/>
              </a:solidFill>
              <a:latin typeface="Calibri"/>
              <a:ea typeface="Calibri"/>
              <a:cs typeface="Calibri"/>
              <a:sym typeface="Calibri"/>
            </a:endParaRPr>
          </a:p>
          <a:p>
            <a:pPr marL="342900" marR="0" lvl="0" indent="-342900" algn="l" rtl="0">
              <a:lnSpc>
                <a:spcPct val="142156"/>
              </a:lnSpc>
              <a:spcBef>
                <a:spcPts val="600"/>
              </a:spcBef>
              <a:spcAft>
                <a:spcPts val="0"/>
              </a:spcAft>
              <a:buClr>
                <a:srgbClr val="1A1A1A"/>
              </a:buClr>
              <a:buSzPts val="1020"/>
              <a:buFont typeface="Arial"/>
              <a:buChar char="▪"/>
            </a:pPr>
            <a:r>
              <a:rPr lang="en-US" sz="1020">
                <a:solidFill>
                  <a:srgbClr val="1A1A1A"/>
                </a:solidFill>
                <a:latin typeface="Arial"/>
                <a:ea typeface="Arial"/>
                <a:cs typeface="Arial"/>
                <a:sym typeface="Arial"/>
              </a:rPr>
              <a:t>レジデンス居住者（自宅消費・贈答）</a:t>
            </a:r>
            <a:endParaRPr sz="1020">
              <a:solidFill>
                <a:schemeClr val="dk1"/>
              </a:solidFill>
              <a:latin typeface="Calibri"/>
              <a:ea typeface="Calibri"/>
              <a:cs typeface="Calibri"/>
              <a:sym typeface="Calibri"/>
            </a:endParaRPr>
          </a:p>
        </p:txBody>
      </p:sp>
      <p:sp>
        <p:nvSpPr>
          <p:cNvPr id="589" name="Google Shape;589;p35"/>
          <p:cNvSpPr/>
          <p:nvPr/>
        </p:nvSpPr>
        <p:spPr>
          <a:xfrm>
            <a:off x="6233008" y="2157984"/>
            <a:ext cx="2558720" cy="2615184"/>
          </a:xfrm>
          <a:prstGeom prst="roundRect">
            <a:avLst>
              <a:gd name="adj" fmla="val 178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5"/>
          <p:cNvSpPr/>
          <p:nvPr/>
        </p:nvSpPr>
        <p:spPr>
          <a:xfrm>
            <a:off x="6489040" y="2432304"/>
            <a:ext cx="310896"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5"/>
          <p:cNvSpPr/>
          <p:nvPr/>
        </p:nvSpPr>
        <p:spPr>
          <a:xfrm>
            <a:off x="6489040" y="2615184"/>
            <a:ext cx="2046656"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森ビル様の便益</a:t>
            </a:r>
            <a:endParaRPr sz="1500">
              <a:solidFill>
                <a:schemeClr val="dk1"/>
              </a:solidFill>
              <a:latin typeface="Calibri"/>
              <a:ea typeface="Calibri"/>
              <a:cs typeface="Calibri"/>
              <a:sym typeface="Calibri"/>
            </a:endParaRPr>
          </a:p>
        </p:txBody>
      </p:sp>
      <p:sp>
        <p:nvSpPr>
          <p:cNvPr id="592" name="Google Shape;592;p35"/>
          <p:cNvSpPr/>
          <p:nvPr/>
        </p:nvSpPr>
        <p:spPr>
          <a:xfrm>
            <a:off x="6489040" y="2999232"/>
            <a:ext cx="2046656" cy="1645920"/>
          </a:xfrm>
          <a:prstGeom prst="rect">
            <a:avLst/>
          </a:prstGeom>
          <a:noFill/>
          <a:ln>
            <a:noFill/>
          </a:ln>
        </p:spPr>
        <p:txBody>
          <a:bodyPr spcFirstLastPara="1" wrap="square" lIns="0" tIns="0" rIns="0" bIns="0" anchor="ctr" anchorCtr="0">
            <a:noAutofit/>
          </a:bodyPr>
          <a:lstStyle/>
          <a:p>
            <a:pPr marL="342900" marR="0" lvl="0" indent="-342900" algn="l" rtl="0">
              <a:lnSpc>
                <a:spcPct val="142156"/>
              </a:lnSpc>
              <a:spcBef>
                <a:spcPts val="0"/>
              </a:spcBef>
              <a:spcAft>
                <a:spcPts val="0"/>
              </a:spcAft>
              <a:buClr>
                <a:srgbClr val="1A1A1A"/>
              </a:buClr>
              <a:buSzPts val="1020"/>
              <a:buFont typeface="Arial"/>
              <a:buChar char="▪"/>
            </a:pPr>
            <a:r>
              <a:rPr lang="en-US" sz="1020">
                <a:solidFill>
                  <a:srgbClr val="1A1A1A"/>
                </a:solidFill>
                <a:latin typeface="Arial"/>
                <a:ea typeface="Arial"/>
                <a:cs typeface="Arial"/>
                <a:sym typeface="Arial"/>
              </a:rPr>
              <a:t>テナント飲食店の在庫負担軽減と収益性改善</a:t>
            </a:r>
            <a:endParaRPr sz="1020">
              <a:solidFill>
                <a:schemeClr val="dk1"/>
              </a:solidFill>
              <a:latin typeface="Calibri"/>
              <a:ea typeface="Calibri"/>
              <a:cs typeface="Calibri"/>
              <a:sym typeface="Calibri"/>
            </a:endParaRPr>
          </a:p>
          <a:p>
            <a:pPr marL="342900" marR="0" lvl="0" indent="-342900" algn="l" rtl="0">
              <a:lnSpc>
                <a:spcPct val="142156"/>
              </a:lnSpc>
              <a:spcBef>
                <a:spcPts val="600"/>
              </a:spcBef>
              <a:spcAft>
                <a:spcPts val="0"/>
              </a:spcAft>
              <a:buClr>
                <a:srgbClr val="1A1A1A"/>
              </a:buClr>
              <a:buSzPts val="1020"/>
              <a:buFont typeface="Arial"/>
              <a:buChar char="▪"/>
            </a:pPr>
            <a:r>
              <a:rPr lang="en-US" sz="1020">
                <a:solidFill>
                  <a:srgbClr val="1A1A1A"/>
                </a:solidFill>
                <a:latin typeface="Arial"/>
                <a:ea typeface="Arial"/>
                <a:cs typeface="Arial"/>
                <a:sym typeface="Arial"/>
              </a:rPr>
              <a:t>居住者・ワーカーの満足度と定着</a:t>
            </a:r>
            <a:endParaRPr sz="1020">
              <a:solidFill>
                <a:schemeClr val="dk1"/>
              </a:solidFill>
              <a:latin typeface="Calibri"/>
              <a:ea typeface="Calibri"/>
              <a:cs typeface="Calibri"/>
              <a:sym typeface="Calibri"/>
            </a:endParaRPr>
          </a:p>
          <a:p>
            <a:pPr marL="342900" marR="0" lvl="0" indent="-342900" algn="l" rtl="0">
              <a:lnSpc>
                <a:spcPct val="142156"/>
              </a:lnSpc>
              <a:spcBef>
                <a:spcPts val="600"/>
              </a:spcBef>
              <a:spcAft>
                <a:spcPts val="0"/>
              </a:spcAft>
              <a:buClr>
                <a:srgbClr val="1A1A1A"/>
              </a:buClr>
              <a:buSzPts val="1020"/>
              <a:buFont typeface="Arial"/>
              <a:buChar char="▪"/>
            </a:pPr>
            <a:r>
              <a:rPr lang="en-US" sz="1020">
                <a:solidFill>
                  <a:srgbClr val="1A1A1A"/>
                </a:solidFill>
                <a:latin typeface="Arial"/>
                <a:ea typeface="Arial"/>
                <a:cs typeface="Arial"/>
                <a:sym typeface="Arial"/>
              </a:rPr>
              <a:t>商業区画の話題性、レベニューシェア収入</a:t>
            </a:r>
            <a:endParaRPr sz="1020">
              <a:solidFill>
                <a:schemeClr val="dk1"/>
              </a:solidFill>
              <a:latin typeface="Calibri"/>
              <a:ea typeface="Calibri"/>
              <a:cs typeface="Calibri"/>
              <a:sym typeface="Calibri"/>
            </a:endParaRPr>
          </a:p>
        </p:txBody>
      </p:sp>
      <p:sp>
        <p:nvSpPr>
          <p:cNvPr id="593" name="Google Shape;593;p35"/>
          <p:cNvSpPr/>
          <p:nvPr/>
        </p:nvSpPr>
        <p:spPr>
          <a:xfrm>
            <a:off x="9066047" y="2157984"/>
            <a:ext cx="2558720" cy="2615184"/>
          </a:xfrm>
          <a:prstGeom prst="roundRect">
            <a:avLst>
              <a:gd name="adj" fmla="val 178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5"/>
          <p:cNvSpPr/>
          <p:nvPr/>
        </p:nvSpPr>
        <p:spPr>
          <a:xfrm>
            <a:off x="9322079" y="2432304"/>
            <a:ext cx="310896"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5"/>
          <p:cNvSpPr/>
          <p:nvPr/>
        </p:nvSpPr>
        <p:spPr>
          <a:xfrm>
            <a:off x="9322079" y="2615184"/>
            <a:ext cx="2046656"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当社が持ち込むもの</a:t>
            </a:r>
            <a:endParaRPr sz="1500">
              <a:solidFill>
                <a:schemeClr val="dk1"/>
              </a:solidFill>
              <a:latin typeface="Calibri"/>
              <a:ea typeface="Calibri"/>
              <a:cs typeface="Calibri"/>
              <a:sym typeface="Calibri"/>
            </a:endParaRPr>
          </a:p>
        </p:txBody>
      </p:sp>
      <p:sp>
        <p:nvSpPr>
          <p:cNvPr id="596" name="Google Shape;596;p35"/>
          <p:cNvSpPr/>
          <p:nvPr/>
        </p:nvSpPr>
        <p:spPr>
          <a:xfrm>
            <a:off x="9322079" y="2999232"/>
            <a:ext cx="2046656" cy="1645920"/>
          </a:xfrm>
          <a:prstGeom prst="rect">
            <a:avLst/>
          </a:prstGeom>
          <a:noFill/>
          <a:ln>
            <a:noFill/>
          </a:ln>
        </p:spPr>
        <p:txBody>
          <a:bodyPr spcFirstLastPara="1" wrap="square" lIns="0" tIns="0" rIns="0" bIns="0" anchor="ctr" anchorCtr="0">
            <a:noAutofit/>
          </a:bodyPr>
          <a:lstStyle/>
          <a:p>
            <a:pPr marL="342900" marR="0" lvl="0" indent="-342900" algn="l" rtl="0">
              <a:lnSpc>
                <a:spcPct val="142156"/>
              </a:lnSpc>
              <a:spcBef>
                <a:spcPts val="0"/>
              </a:spcBef>
              <a:spcAft>
                <a:spcPts val="0"/>
              </a:spcAft>
              <a:buClr>
                <a:srgbClr val="1A1A1A"/>
              </a:buClr>
              <a:buSzPts val="1020"/>
              <a:buFont typeface="Arial"/>
              <a:buChar char="▪"/>
            </a:pPr>
            <a:r>
              <a:rPr lang="en-US" sz="1020">
                <a:solidFill>
                  <a:srgbClr val="1A1A1A"/>
                </a:solidFill>
                <a:latin typeface="Arial"/>
                <a:ea typeface="Arial"/>
                <a:cs typeface="Arial"/>
                <a:sym typeface="Arial"/>
              </a:rPr>
              <a:t>55年の仕入網と30億円の管理在庫</a:t>
            </a:r>
            <a:endParaRPr sz="1020">
              <a:solidFill>
                <a:schemeClr val="dk1"/>
              </a:solidFill>
              <a:latin typeface="Calibri"/>
              <a:ea typeface="Calibri"/>
              <a:cs typeface="Calibri"/>
              <a:sym typeface="Calibri"/>
            </a:endParaRPr>
          </a:p>
          <a:p>
            <a:pPr marL="342900" marR="0" lvl="0" indent="-342900" algn="l" rtl="0">
              <a:lnSpc>
                <a:spcPct val="142156"/>
              </a:lnSpc>
              <a:spcBef>
                <a:spcPts val="600"/>
              </a:spcBef>
              <a:spcAft>
                <a:spcPts val="0"/>
              </a:spcAft>
              <a:buClr>
                <a:srgbClr val="1A1A1A"/>
              </a:buClr>
              <a:buSzPts val="1020"/>
              <a:buFont typeface="Arial"/>
              <a:buChar char="▪"/>
            </a:pPr>
            <a:r>
              <a:rPr lang="en-US" sz="1020">
                <a:solidFill>
                  <a:srgbClr val="1A1A1A"/>
                </a:solidFill>
                <a:latin typeface="Arial"/>
                <a:ea typeface="Arial"/>
                <a:cs typeface="Arial"/>
                <a:sym typeface="Arial"/>
              </a:rPr>
              <a:t>定温ラストワンマイル配送網 WineGO</a:t>
            </a:r>
            <a:endParaRPr sz="1020">
              <a:solidFill>
                <a:schemeClr val="dk1"/>
              </a:solidFill>
              <a:latin typeface="Calibri"/>
              <a:ea typeface="Calibri"/>
              <a:cs typeface="Calibri"/>
              <a:sym typeface="Calibri"/>
            </a:endParaRPr>
          </a:p>
          <a:p>
            <a:pPr marL="342900" marR="0" lvl="0" indent="-342900" algn="l" rtl="0">
              <a:lnSpc>
                <a:spcPct val="142156"/>
              </a:lnSpc>
              <a:spcBef>
                <a:spcPts val="600"/>
              </a:spcBef>
              <a:spcAft>
                <a:spcPts val="0"/>
              </a:spcAft>
              <a:buClr>
                <a:srgbClr val="1A1A1A"/>
              </a:buClr>
              <a:buSzPts val="1020"/>
              <a:buFont typeface="Arial"/>
              <a:buChar char="▪"/>
            </a:pPr>
            <a:r>
              <a:rPr lang="en-US" sz="1020">
                <a:solidFill>
                  <a:srgbClr val="1A1A1A"/>
                </a:solidFill>
                <a:latin typeface="Arial"/>
                <a:ea typeface="Arial"/>
                <a:cs typeface="Arial"/>
                <a:sym typeface="Arial"/>
              </a:rPr>
              <a:t>グランメゾン運営とティエリー・マルクス</a:t>
            </a:r>
            <a:endParaRPr sz="1020">
              <a:solidFill>
                <a:schemeClr val="dk1"/>
              </a:solidFill>
              <a:latin typeface="Calibri"/>
              <a:ea typeface="Calibri"/>
              <a:cs typeface="Calibri"/>
              <a:sym typeface="Calibri"/>
            </a:endParaRPr>
          </a:p>
        </p:txBody>
      </p:sp>
      <p:sp>
        <p:nvSpPr>
          <p:cNvPr id="597" name="Google Shape;597;p35"/>
          <p:cNvSpPr/>
          <p:nvPr/>
        </p:nvSpPr>
        <p:spPr>
          <a:xfrm>
            <a:off x="566928" y="4992624"/>
            <a:ext cx="109728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100"/>
              <a:buFont typeface="Arial"/>
              <a:buNone/>
            </a:pPr>
            <a:r>
              <a:rPr lang="en-US" sz="1100" b="1">
                <a:solidFill>
                  <a:srgbClr val="A06D4C"/>
                </a:solidFill>
                <a:latin typeface="Arial"/>
                <a:ea typeface="Arial"/>
                <a:cs typeface="Arial"/>
                <a:sym typeface="Arial"/>
              </a:rPr>
              <a:t>各プログラムは単独でも成立します。まずは設備投資を伴わないCloud Wine Cave／WineGO／CLUBから、3か月のPoCでご検証いただくご提案です。</a:t>
            </a:r>
            <a:endParaRPr sz="1100">
              <a:solidFill>
                <a:schemeClr val="dk1"/>
              </a:solidFill>
              <a:latin typeface="Calibri"/>
              <a:ea typeface="Calibri"/>
              <a:cs typeface="Calibri"/>
              <a:sym typeface="Calibri"/>
            </a:endParaRPr>
          </a:p>
        </p:txBody>
      </p:sp>
      <p:sp>
        <p:nvSpPr>
          <p:cNvPr id="598" name="Google Shape;598;p35"/>
          <p:cNvSpPr/>
          <p:nvPr/>
        </p:nvSpPr>
        <p:spPr>
          <a:xfrm>
            <a:off x="566928" y="5358384"/>
            <a:ext cx="10972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900"/>
              <a:buFont typeface="Arial"/>
              <a:buNone/>
            </a:pPr>
            <a:r>
              <a:rPr lang="en-US" sz="900">
                <a:solidFill>
                  <a:srgbClr val="A6ABAF"/>
                </a:solidFill>
                <a:latin typeface="Arial"/>
                <a:ea typeface="Arial"/>
                <a:cs typeface="Arial"/>
                <a:sym typeface="Arial"/>
              </a:rPr>
              <a:t>※ 本ご提案は「使えるサービス」としてのご提案であり、投資商品・利回りのご案内ではありません。</a:t>
            </a:r>
            <a:endParaRPr sz="9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3"/>
        <p:cNvGrpSpPr/>
        <p:nvPr/>
      </p:nvGrpSpPr>
      <p:grpSpPr>
        <a:xfrm>
          <a:off x="0" y="0"/>
          <a:ext cx="0" cy="0"/>
          <a:chOff x="0" y="0"/>
          <a:chExt cx="0" cy="0"/>
        </a:xfrm>
      </p:grpSpPr>
      <p:grpSp>
        <p:nvGrpSpPr>
          <p:cNvPr id="604" name="Google Shape;604;g3f6e472ef3d_0_0"/>
          <p:cNvGrpSpPr/>
          <p:nvPr/>
        </p:nvGrpSpPr>
        <p:grpSpPr>
          <a:xfrm>
            <a:off x="234418" y="178130"/>
            <a:ext cx="930600" cy="795600"/>
            <a:chOff x="3241715" y="138545"/>
            <a:chExt cx="930600" cy="795600"/>
          </a:xfrm>
        </p:grpSpPr>
        <p:sp>
          <p:nvSpPr>
            <p:cNvPr id="605" name="Google Shape;605;g3f6e472ef3d_0_0"/>
            <p:cNvSpPr/>
            <p:nvPr/>
          </p:nvSpPr>
          <p:spPr>
            <a:xfrm>
              <a:off x="3309256" y="138545"/>
              <a:ext cx="795600" cy="795600"/>
            </a:xfrm>
            <a:prstGeom prst="ellipse">
              <a:avLst/>
            </a:prstGeom>
            <a:solidFill>
              <a:srgbClr val="C68A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6" name="Google Shape;606;g3f6e472ef3d_0_0"/>
            <p:cNvSpPr txBox="1"/>
            <p:nvPr/>
          </p:nvSpPr>
          <p:spPr>
            <a:xfrm>
              <a:off x="3241715" y="289428"/>
              <a:ext cx="930600" cy="53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PROGRAM</a:t>
              </a:r>
              <a:endParaRPr/>
            </a:p>
            <a:p>
              <a:pPr marL="0" marR="0" lvl="0" indent="0" algn="ctr" rtl="0">
                <a:spcBef>
                  <a:spcPts val="0"/>
                </a:spcBef>
                <a:spcAft>
                  <a:spcPts val="0"/>
                </a:spcAft>
                <a:buClr>
                  <a:srgbClr val="FFFFFF"/>
                </a:buClr>
                <a:buSzPts val="2000"/>
                <a:buFont typeface="Arial"/>
                <a:buNone/>
              </a:pPr>
              <a:r>
                <a:rPr lang="en-US" sz="2000" b="1">
                  <a:solidFill>
                    <a:srgbClr val="FFFFFF"/>
                  </a:solidFill>
                  <a:latin typeface="Arial"/>
                  <a:ea typeface="Arial"/>
                  <a:cs typeface="Arial"/>
                  <a:sym typeface="Arial"/>
                </a:rPr>
                <a:t>01-A</a:t>
              </a:r>
              <a:endParaRPr sz="2000">
                <a:solidFill>
                  <a:schemeClr val="dk1"/>
                </a:solidFill>
                <a:latin typeface="Calibri"/>
                <a:ea typeface="Calibri"/>
                <a:cs typeface="Calibri"/>
                <a:sym typeface="Calibri"/>
              </a:endParaRPr>
            </a:p>
          </p:txBody>
        </p:sp>
      </p:grpSp>
      <p:pic>
        <p:nvPicPr>
          <p:cNvPr id="607" name="Google Shape;607;g3f6e472ef3d_0_0" descr="preencoded.png"/>
          <p:cNvPicPr preferRelativeResize="0"/>
          <p:nvPr/>
        </p:nvPicPr>
        <p:blipFill rotWithShape="1">
          <a:blip r:embed="rId3">
            <a:alphaModFix/>
          </a:blip>
          <a:srcRect/>
          <a:stretch/>
        </p:blipFill>
        <p:spPr>
          <a:xfrm>
            <a:off x="10381183" y="292608"/>
            <a:ext cx="1243583" cy="247802"/>
          </a:xfrm>
          <a:prstGeom prst="rect">
            <a:avLst/>
          </a:prstGeom>
          <a:noFill/>
          <a:ln>
            <a:noFill/>
          </a:ln>
        </p:spPr>
      </p:pic>
      <p:sp>
        <p:nvSpPr>
          <p:cNvPr id="608" name="Google Shape;608;g3f6e472ef3d_0_0"/>
          <p:cNvSpPr/>
          <p:nvPr/>
        </p:nvSpPr>
        <p:spPr>
          <a:xfrm>
            <a:off x="1165146" y="585216"/>
            <a:ext cx="89115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Cloud Wine Cave for テナント飲食店</a:t>
            </a:r>
            <a:endParaRPr sz="2300">
              <a:solidFill>
                <a:schemeClr val="dk1"/>
              </a:solidFill>
              <a:latin typeface="Calibri"/>
              <a:ea typeface="Calibri"/>
              <a:cs typeface="Calibri"/>
              <a:sym typeface="Calibri"/>
            </a:endParaRPr>
          </a:p>
        </p:txBody>
      </p:sp>
      <p:sp>
        <p:nvSpPr>
          <p:cNvPr id="609" name="Google Shape;609;g3f6e472ef3d_0_0"/>
          <p:cNvSpPr/>
          <p:nvPr/>
        </p:nvSpPr>
        <p:spPr>
          <a:xfrm>
            <a:off x="566928" y="1024128"/>
            <a:ext cx="11057700" cy="310800"/>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高級店ほど、ワイン在庫は重い。その重さを、店から街へ移します。</a:t>
            </a:r>
            <a:endParaRPr sz="1150">
              <a:solidFill>
                <a:schemeClr val="dk1"/>
              </a:solidFill>
              <a:latin typeface="Calibri"/>
              <a:ea typeface="Calibri"/>
              <a:cs typeface="Calibri"/>
              <a:sym typeface="Calibri"/>
            </a:endParaRPr>
          </a:p>
        </p:txBody>
      </p:sp>
      <p:sp>
        <p:nvSpPr>
          <p:cNvPr id="610" name="Google Shape;610;g3f6e472ef3d_0_0"/>
          <p:cNvSpPr/>
          <p:nvPr/>
        </p:nvSpPr>
        <p:spPr>
          <a:xfrm>
            <a:off x="0" y="6583680"/>
            <a:ext cx="12191700" cy="27420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g3f6e472ef3d_0_0"/>
          <p:cNvSpPr/>
          <p:nvPr/>
        </p:nvSpPr>
        <p:spPr>
          <a:xfrm>
            <a:off x="566928" y="6272784"/>
            <a:ext cx="29262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612" name="Google Shape;612;g3f6e472ef3d_0_0"/>
          <p:cNvSpPr/>
          <p:nvPr/>
        </p:nvSpPr>
        <p:spPr>
          <a:xfrm>
            <a:off x="566928" y="1463040"/>
            <a:ext cx="5373600" cy="3127200"/>
          </a:xfrm>
          <a:prstGeom prst="roundRect">
            <a:avLst>
              <a:gd name="adj" fmla="val 1462"/>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g3f6e472ef3d_0_0"/>
          <p:cNvSpPr/>
          <p:nvPr/>
        </p:nvSpPr>
        <p:spPr>
          <a:xfrm>
            <a:off x="859536" y="1627632"/>
            <a:ext cx="4788300" cy="310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500"/>
              <a:buFont typeface="Arial"/>
              <a:buNone/>
            </a:pPr>
            <a:r>
              <a:rPr lang="en-US" sz="1500" b="1">
                <a:solidFill>
                  <a:srgbClr val="6E7378"/>
                </a:solidFill>
                <a:latin typeface="Arial"/>
                <a:ea typeface="Arial"/>
                <a:cs typeface="Arial"/>
                <a:sym typeface="Arial"/>
              </a:rPr>
              <a:t>いまの高級店のワイン在庫</a:t>
            </a:r>
            <a:endParaRPr sz="1500">
              <a:solidFill>
                <a:schemeClr val="dk1"/>
              </a:solidFill>
              <a:latin typeface="Calibri"/>
              <a:ea typeface="Calibri"/>
              <a:cs typeface="Calibri"/>
              <a:sym typeface="Calibri"/>
            </a:endParaRPr>
          </a:p>
        </p:txBody>
      </p:sp>
      <p:sp>
        <p:nvSpPr>
          <p:cNvPr id="614" name="Google Shape;614;g3f6e472ef3d_0_0"/>
          <p:cNvSpPr/>
          <p:nvPr/>
        </p:nvSpPr>
        <p:spPr>
          <a:xfrm>
            <a:off x="859536" y="2084832"/>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00"/>
              <a:buFont typeface="Arial"/>
              <a:buNone/>
            </a:pPr>
            <a:r>
              <a:rPr lang="en-US" sz="1000" b="1">
                <a:solidFill>
                  <a:srgbClr val="A06D4C"/>
                </a:solidFill>
                <a:latin typeface="Arial"/>
                <a:ea typeface="Arial"/>
                <a:cs typeface="Arial"/>
                <a:sym typeface="Arial"/>
              </a:rPr>
              <a:t>資金</a:t>
            </a:r>
            <a:endParaRPr sz="1000">
              <a:solidFill>
                <a:schemeClr val="dk1"/>
              </a:solidFill>
              <a:latin typeface="Calibri"/>
              <a:ea typeface="Calibri"/>
              <a:cs typeface="Calibri"/>
              <a:sym typeface="Calibri"/>
            </a:endParaRPr>
          </a:p>
        </p:txBody>
      </p:sp>
      <p:sp>
        <p:nvSpPr>
          <p:cNvPr id="615" name="Google Shape;615;g3f6e472ef3d_0_0"/>
          <p:cNvSpPr/>
          <p:nvPr/>
        </p:nvSpPr>
        <p:spPr>
          <a:xfrm>
            <a:off x="1737360" y="2084832"/>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常時30本（平均3万円）で約90万円が寝る</a:t>
            </a:r>
            <a:endParaRPr sz="1020">
              <a:solidFill>
                <a:schemeClr val="dk1"/>
              </a:solidFill>
              <a:latin typeface="Calibri"/>
              <a:ea typeface="Calibri"/>
              <a:cs typeface="Calibri"/>
              <a:sym typeface="Calibri"/>
            </a:endParaRPr>
          </a:p>
        </p:txBody>
      </p:sp>
      <p:sp>
        <p:nvSpPr>
          <p:cNvPr id="616" name="Google Shape;616;g3f6e472ef3d_0_0"/>
          <p:cNvSpPr/>
          <p:nvPr/>
        </p:nvSpPr>
        <p:spPr>
          <a:xfrm>
            <a:off x="859536" y="2578608"/>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00"/>
              <a:buFont typeface="Arial"/>
              <a:buNone/>
            </a:pPr>
            <a:r>
              <a:rPr lang="en-US" sz="1000" b="1">
                <a:solidFill>
                  <a:srgbClr val="A06D4C"/>
                </a:solidFill>
                <a:latin typeface="Arial"/>
                <a:ea typeface="Arial"/>
                <a:cs typeface="Arial"/>
                <a:sym typeface="Arial"/>
              </a:rPr>
              <a:t>設備</a:t>
            </a:r>
            <a:endParaRPr sz="1000">
              <a:solidFill>
                <a:schemeClr val="dk1"/>
              </a:solidFill>
              <a:latin typeface="Calibri"/>
              <a:ea typeface="Calibri"/>
              <a:cs typeface="Calibri"/>
              <a:sym typeface="Calibri"/>
            </a:endParaRPr>
          </a:p>
        </p:txBody>
      </p:sp>
      <p:sp>
        <p:nvSpPr>
          <p:cNvPr id="617" name="Google Shape;617;g3f6e472ef3d_0_0"/>
          <p:cNvSpPr/>
          <p:nvPr/>
        </p:nvSpPr>
        <p:spPr>
          <a:xfrm>
            <a:off x="1737360" y="2578608"/>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セラー設備の投資と保管スペースの確保</a:t>
            </a:r>
            <a:endParaRPr sz="1020">
              <a:solidFill>
                <a:schemeClr val="dk1"/>
              </a:solidFill>
              <a:latin typeface="Calibri"/>
              <a:ea typeface="Calibri"/>
              <a:cs typeface="Calibri"/>
              <a:sym typeface="Calibri"/>
            </a:endParaRPr>
          </a:p>
        </p:txBody>
      </p:sp>
      <p:sp>
        <p:nvSpPr>
          <p:cNvPr id="618" name="Google Shape;618;g3f6e472ef3d_0_0"/>
          <p:cNvSpPr/>
          <p:nvPr/>
        </p:nvSpPr>
        <p:spPr>
          <a:xfrm>
            <a:off x="859536" y="3072384"/>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00"/>
              <a:buFont typeface="Arial"/>
              <a:buNone/>
            </a:pPr>
            <a:r>
              <a:rPr lang="en-US" sz="1000" b="1">
                <a:solidFill>
                  <a:srgbClr val="A06D4C"/>
                </a:solidFill>
                <a:latin typeface="Arial"/>
                <a:ea typeface="Arial"/>
                <a:cs typeface="Arial"/>
                <a:sym typeface="Arial"/>
              </a:rPr>
              <a:t>リスク</a:t>
            </a:r>
            <a:endParaRPr sz="1000">
              <a:solidFill>
                <a:schemeClr val="dk1"/>
              </a:solidFill>
              <a:latin typeface="Calibri"/>
              <a:ea typeface="Calibri"/>
              <a:cs typeface="Calibri"/>
              <a:sym typeface="Calibri"/>
            </a:endParaRPr>
          </a:p>
        </p:txBody>
      </p:sp>
      <p:sp>
        <p:nvSpPr>
          <p:cNvPr id="619" name="Google Shape;619;g3f6e472ef3d_0_0"/>
          <p:cNvSpPr/>
          <p:nvPr/>
        </p:nvSpPr>
        <p:spPr>
          <a:xfrm>
            <a:off x="1737360" y="3072384"/>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売れ残り・破損・劣化はすべて店の負担</a:t>
            </a:r>
            <a:endParaRPr sz="1020">
              <a:solidFill>
                <a:schemeClr val="dk1"/>
              </a:solidFill>
              <a:latin typeface="Calibri"/>
              <a:ea typeface="Calibri"/>
              <a:cs typeface="Calibri"/>
              <a:sym typeface="Calibri"/>
            </a:endParaRPr>
          </a:p>
        </p:txBody>
      </p:sp>
      <p:sp>
        <p:nvSpPr>
          <p:cNvPr id="620" name="Google Shape;620;g3f6e472ef3d_0_0"/>
          <p:cNvSpPr/>
          <p:nvPr/>
        </p:nvSpPr>
        <p:spPr>
          <a:xfrm>
            <a:off x="859536" y="3566160"/>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00"/>
              <a:buFont typeface="Arial"/>
              <a:buNone/>
            </a:pPr>
            <a:r>
              <a:rPr lang="en-US" sz="1000" b="1">
                <a:solidFill>
                  <a:srgbClr val="A06D4C"/>
                </a:solidFill>
                <a:latin typeface="Arial"/>
                <a:ea typeface="Arial"/>
                <a:cs typeface="Arial"/>
                <a:sym typeface="Arial"/>
              </a:rPr>
              <a:t>品揃え</a:t>
            </a:r>
            <a:endParaRPr sz="1000">
              <a:solidFill>
                <a:schemeClr val="dk1"/>
              </a:solidFill>
              <a:latin typeface="Calibri"/>
              <a:ea typeface="Calibri"/>
              <a:cs typeface="Calibri"/>
              <a:sym typeface="Calibri"/>
            </a:endParaRPr>
          </a:p>
        </p:txBody>
      </p:sp>
      <p:sp>
        <p:nvSpPr>
          <p:cNvPr id="621" name="Google Shape;621;g3f6e472ef3d_0_0"/>
          <p:cNvSpPr/>
          <p:nvPr/>
        </p:nvSpPr>
        <p:spPr>
          <a:xfrm>
            <a:off x="1737360" y="3566160"/>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資金の範囲でしかリストを組めない</a:t>
            </a:r>
            <a:endParaRPr sz="1020">
              <a:solidFill>
                <a:schemeClr val="dk1"/>
              </a:solidFill>
              <a:latin typeface="Calibri"/>
              <a:ea typeface="Calibri"/>
              <a:cs typeface="Calibri"/>
              <a:sym typeface="Calibri"/>
            </a:endParaRPr>
          </a:p>
        </p:txBody>
      </p:sp>
      <p:sp>
        <p:nvSpPr>
          <p:cNvPr id="622" name="Google Shape;622;g3f6e472ef3d_0_0"/>
          <p:cNvSpPr/>
          <p:nvPr/>
        </p:nvSpPr>
        <p:spPr>
          <a:xfrm>
            <a:off x="859536" y="4059936"/>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00"/>
              <a:buFont typeface="Arial"/>
              <a:buNone/>
            </a:pPr>
            <a:r>
              <a:rPr lang="en-US" sz="1000" b="1">
                <a:solidFill>
                  <a:srgbClr val="A06D4C"/>
                </a:solidFill>
                <a:latin typeface="Arial"/>
                <a:ea typeface="Arial"/>
                <a:cs typeface="Arial"/>
                <a:sym typeface="Arial"/>
              </a:rPr>
              <a:t>突発対応</a:t>
            </a:r>
            <a:endParaRPr sz="1000">
              <a:solidFill>
                <a:schemeClr val="dk1"/>
              </a:solidFill>
              <a:latin typeface="Calibri"/>
              <a:ea typeface="Calibri"/>
              <a:cs typeface="Calibri"/>
              <a:sym typeface="Calibri"/>
            </a:endParaRPr>
          </a:p>
        </p:txBody>
      </p:sp>
      <p:sp>
        <p:nvSpPr>
          <p:cNvPr id="623" name="Google Shape;623;g3f6e472ef3d_0_0"/>
          <p:cNvSpPr/>
          <p:nvPr/>
        </p:nvSpPr>
        <p:spPr>
          <a:xfrm>
            <a:off x="1737360" y="4059936"/>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在庫にない一本は、その場では出せない</a:t>
            </a:r>
            <a:endParaRPr sz="1020">
              <a:solidFill>
                <a:schemeClr val="dk1"/>
              </a:solidFill>
              <a:latin typeface="Calibri"/>
              <a:ea typeface="Calibri"/>
              <a:cs typeface="Calibri"/>
              <a:sym typeface="Calibri"/>
            </a:endParaRPr>
          </a:p>
        </p:txBody>
      </p:sp>
      <p:sp>
        <p:nvSpPr>
          <p:cNvPr id="624" name="Google Shape;624;g3f6e472ef3d_0_0"/>
          <p:cNvSpPr/>
          <p:nvPr/>
        </p:nvSpPr>
        <p:spPr>
          <a:xfrm>
            <a:off x="6251296" y="1463040"/>
            <a:ext cx="5373600" cy="3127200"/>
          </a:xfrm>
          <a:prstGeom prst="roundRect">
            <a:avLst>
              <a:gd name="adj" fmla="val 1462"/>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g3f6e472ef3d_0_0"/>
          <p:cNvSpPr/>
          <p:nvPr/>
        </p:nvSpPr>
        <p:spPr>
          <a:xfrm>
            <a:off x="6543904" y="1627632"/>
            <a:ext cx="4788300" cy="310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500"/>
              <a:buFont typeface="Arial"/>
              <a:buNone/>
            </a:pPr>
            <a:r>
              <a:rPr lang="en-US" sz="1500" b="1">
                <a:solidFill>
                  <a:srgbClr val="EFDCCE"/>
                </a:solidFill>
                <a:latin typeface="Arial"/>
                <a:ea typeface="Arial"/>
                <a:cs typeface="Arial"/>
                <a:sym typeface="Arial"/>
              </a:rPr>
              <a:t>Cloud Wine Cave 導入後</a:t>
            </a:r>
            <a:endParaRPr sz="1500">
              <a:solidFill>
                <a:schemeClr val="dk1"/>
              </a:solidFill>
              <a:latin typeface="Calibri"/>
              <a:ea typeface="Calibri"/>
              <a:cs typeface="Calibri"/>
              <a:sym typeface="Calibri"/>
            </a:endParaRPr>
          </a:p>
        </p:txBody>
      </p:sp>
      <p:sp>
        <p:nvSpPr>
          <p:cNvPr id="626" name="Google Shape;626;g3f6e472ef3d_0_0"/>
          <p:cNvSpPr/>
          <p:nvPr/>
        </p:nvSpPr>
        <p:spPr>
          <a:xfrm>
            <a:off x="6543904" y="2084832"/>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Arial"/>
              <a:buNone/>
            </a:pPr>
            <a:r>
              <a:rPr lang="en-US" sz="1000" b="1">
                <a:solidFill>
                  <a:srgbClr val="C68A65"/>
                </a:solidFill>
                <a:latin typeface="Arial"/>
                <a:ea typeface="Arial"/>
                <a:cs typeface="Arial"/>
                <a:sym typeface="Arial"/>
              </a:rPr>
              <a:t>資金</a:t>
            </a:r>
            <a:endParaRPr sz="1000">
              <a:solidFill>
                <a:schemeClr val="dk1"/>
              </a:solidFill>
              <a:latin typeface="Calibri"/>
              <a:ea typeface="Calibri"/>
              <a:cs typeface="Calibri"/>
              <a:sym typeface="Calibri"/>
            </a:endParaRPr>
          </a:p>
        </p:txBody>
      </p:sp>
      <p:sp>
        <p:nvSpPr>
          <p:cNvPr id="627" name="Google Shape;627;g3f6e472ef3d_0_0"/>
          <p:cNvSpPr/>
          <p:nvPr/>
        </p:nvSpPr>
        <p:spPr>
          <a:xfrm>
            <a:off x="7421728" y="2084832"/>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E3E6E8"/>
              </a:buClr>
              <a:buSzPts val="1020"/>
              <a:buFont typeface="Arial"/>
              <a:buNone/>
            </a:pPr>
            <a:r>
              <a:rPr lang="en-US" sz="1020">
                <a:solidFill>
                  <a:srgbClr val="E3E6E8"/>
                </a:solidFill>
                <a:latin typeface="Arial"/>
                <a:ea typeface="Arial"/>
                <a:cs typeface="Arial"/>
                <a:sym typeface="Arial"/>
              </a:rPr>
              <a:t>在庫金額 0円。使った分だけ月締めで支払う</a:t>
            </a:r>
            <a:endParaRPr sz="1020">
              <a:solidFill>
                <a:schemeClr val="dk1"/>
              </a:solidFill>
              <a:latin typeface="Calibri"/>
              <a:ea typeface="Calibri"/>
              <a:cs typeface="Calibri"/>
              <a:sym typeface="Calibri"/>
            </a:endParaRPr>
          </a:p>
        </p:txBody>
      </p:sp>
      <p:sp>
        <p:nvSpPr>
          <p:cNvPr id="628" name="Google Shape;628;g3f6e472ef3d_0_0"/>
          <p:cNvSpPr/>
          <p:nvPr/>
        </p:nvSpPr>
        <p:spPr>
          <a:xfrm>
            <a:off x="6543904" y="2578608"/>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Arial"/>
              <a:buNone/>
            </a:pPr>
            <a:r>
              <a:rPr lang="en-US" sz="1000" b="1">
                <a:solidFill>
                  <a:srgbClr val="C68A65"/>
                </a:solidFill>
                <a:latin typeface="Arial"/>
                <a:ea typeface="Arial"/>
                <a:cs typeface="Arial"/>
                <a:sym typeface="Arial"/>
              </a:rPr>
              <a:t>設備</a:t>
            </a:r>
            <a:endParaRPr sz="1000">
              <a:solidFill>
                <a:schemeClr val="dk1"/>
              </a:solidFill>
              <a:latin typeface="Calibri"/>
              <a:ea typeface="Calibri"/>
              <a:cs typeface="Calibri"/>
              <a:sym typeface="Calibri"/>
            </a:endParaRPr>
          </a:p>
        </p:txBody>
      </p:sp>
      <p:sp>
        <p:nvSpPr>
          <p:cNvPr id="629" name="Google Shape;629;g3f6e472ef3d_0_0"/>
          <p:cNvSpPr/>
          <p:nvPr/>
        </p:nvSpPr>
        <p:spPr>
          <a:xfrm>
            <a:off x="7421728" y="2578608"/>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E3E6E8"/>
              </a:buClr>
              <a:buSzPts val="1020"/>
              <a:buFont typeface="Arial"/>
              <a:buNone/>
            </a:pPr>
            <a:r>
              <a:rPr lang="en-US" sz="1020">
                <a:solidFill>
                  <a:srgbClr val="E3E6E8"/>
                </a:solidFill>
                <a:latin typeface="Arial"/>
                <a:ea typeface="Arial"/>
                <a:cs typeface="Arial"/>
                <a:sym typeface="Arial"/>
              </a:rPr>
              <a:t>セラー投資は不要。街区内ターミナルが担う</a:t>
            </a:r>
            <a:endParaRPr sz="1020">
              <a:solidFill>
                <a:schemeClr val="dk1"/>
              </a:solidFill>
              <a:latin typeface="Calibri"/>
              <a:ea typeface="Calibri"/>
              <a:cs typeface="Calibri"/>
              <a:sym typeface="Calibri"/>
            </a:endParaRPr>
          </a:p>
        </p:txBody>
      </p:sp>
      <p:sp>
        <p:nvSpPr>
          <p:cNvPr id="630" name="Google Shape;630;g3f6e472ef3d_0_0"/>
          <p:cNvSpPr/>
          <p:nvPr/>
        </p:nvSpPr>
        <p:spPr>
          <a:xfrm>
            <a:off x="6543904" y="3072384"/>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Arial"/>
              <a:buNone/>
            </a:pPr>
            <a:r>
              <a:rPr lang="en-US" sz="1000" b="1">
                <a:solidFill>
                  <a:srgbClr val="C68A65"/>
                </a:solidFill>
                <a:latin typeface="Arial"/>
                <a:ea typeface="Arial"/>
                <a:cs typeface="Arial"/>
                <a:sym typeface="Arial"/>
              </a:rPr>
              <a:t>リスク</a:t>
            </a:r>
            <a:endParaRPr sz="1000">
              <a:solidFill>
                <a:schemeClr val="dk1"/>
              </a:solidFill>
              <a:latin typeface="Calibri"/>
              <a:ea typeface="Calibri"/>
              <a:cs typeface="Calibri"/>
              <a:sym typeface="Calibri"/>
            </a:endParaRPr>
          </a:p>
        </p:txBody>
      </p:sp>
      <p:sp>
        <p:nvSpPr>
          <p:cNvPr id="631" name="Google Shape;631;g3f6e472ef3d_0_0"/>
          <p:cNvSpPr/>
          <p:nvPr/>
        </p:nvSpPr>
        <p:spPr>
          <a:xfrm>
            <a:off x="7421728" y="3072384"/>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E3E6E8"/>
              </a:buClr>
              <a:buSzPts val="1020"/>
              <a:buFont typeface="Arial"/>
              <a:buNone/>
            </a:pPr>
            <a:r>
              <a:rPr lang="en-US" sz="1020">
                <a:solidFill>
                  <a:srgbClr val="E3E6E8"/>
                </a:solidFill>
                <a:latin typeface="Arial"/>
                <a:ea typeface="Arial"/>
                <a:cs typeface="Arial"/>
                <a:sym typeface="Arial"/>
              </a:rPr>
              <a:t>保管・劣化・破損のリスクは当社が保有</a:t>
            </a:r>
            <a:endParaRPr sz="1020">
              <a:solidFill>
                <a:schemeClr val="dk1"/>
              </a:solidFill>
              <a:latin typeface="Calibri"/>
              <a:ea typeface="Calibri"/>
              <a:cs typeface="Calibri"/>
              <a:sym typeface="Calibri"/>
            </a:endParaRPr>
          </a:p>
        </p:txBody>
      </p:sp>
      <p:sp>
        <p:nvSpPr>
          <p:cNvPr id="632" name="Google Shape;632;g3f6e472ef3d_0_0"/>
          <p:cNvSpPr/>
          <p:nvPr/>
        </p:nvSpPr>
        <p:spPr>
          <a:xfrm>
            <a:off x="6543904" y="3566160"/>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Arial"/>
              <a:buNone/>
            </a:pPr>
            <a:r>
              <a:rPr lang="en-US" sz="1000" b="1">
                <a:solidFill>
                  <a:srgbClr val="C68A65"/>
                </a:solidFill>
                <a:latin typeface="Arial"/>
                <a:ea typeface="Arial"/>
                <a:cs typeface="Arial"/>
                <a:sym typeface="Arial"/>
              </a:rPr>
              <a:t>品揃え</a:t>
            </a:r>
            <a:endParaRPr sz="1000">
              <a:solidFill>
                <a:schemeClr val="dk1"/>
              </a:solidFill>
              <a:latin typeface="Calibri"/>
              <a:ea typeface="Calibri"/>
              <a:cs typeface="Calibri"/>
              <a:sym typeface="Calibri"/>
            </a:endParaRPr>
          </a:p>
        </p:txBody>
      </p:sp>
      <p:sp>
        <p:nvSpPr>
          <p:cNvPr id="633" name="Google Shape;633;g3f6e472ef3d_0_0"/>
          <p:cNvSpPr/>
          <p:nvPr/>
        </p:nvSpPr>
        <p:spPr>
          <a:xfrm>
            <a:off x="7421728" y="3566160"/>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E3E6E8"/>
              </a:buClr>
              <a:buSzPts val="1020"/>
              <a:buFont typeface="Arial"/>
              <a:buNone/>
            </a:pPr>
            <a:r>
              <a:rPr lang="en-US" sz="1020">
                <a:solidFill>
                  <a:srgbClr val="E3E6E8"/>
                </a:solidFill>
                <a:latin typeface="Arial"/>
                <a:ea typeface="Arial"/>
                <a:cs typeface="Arial"/>
                <a:sym typeface="Arial"/>
              </a:rPr>
              <a:t>数万本のリストがそのまま自店のリストに</a:t>
            </a:r>
            <a:endParaRPr sz="1020">
              <a:solidFill>
                <a:schemeClr val="dk1"/>
              </a:solidFill>
              <a:latin typeface="Calibri"/>
              <a:ea typeface="Calibri"/>
              <a:cs typeface="Calibri"/>
              <a:sym typeface="Calibri"/>
            </a:endParaRPr>
          </a:p>
        </p:txBody>
      </p:sp>
      <p:sp>
        <p:nvSpPr>
          <p:cNvPr id="634" name="Google Shape;634;g3f6e472ef3d_0_0"/>
          <p:cNvSpPr/>
          <p:nvPr/>
        </p:nvSpPr>
        <p:spPr>
          <a:xfrm>
            <a:off x="6543904" y="4059936"/>
            <a:ext cx="8229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Arial"/>
              <a:buNone/>
            </a:pPr>
            <a:r>
              <a:rPr lang="en-US" sz="1000" b="1">
                <a:solidFill>
                  <a:srgbClr val="C68A65"/>
                </a:solidFill>
                <a:latin typeface="Arial"/>
                <a:ea typeface="Arial"/>
                <a:cs typeface="Arial"/>
                <a:sym typeface="Arial"/>
              </a:rPr>
              <a:t>突発対応</a:t>
            </a:r>
            <a:endParaRPr sz="1000">
              <a:solidFill>
                <a:schemeClr val="dk1"/>
              </a:solidFill>
              <a:latin typeface="Calibri"/>
              <a:ea typeface="Calibri"/>
              <a:cs typeface="Calibri"/>
              <a:sym typeface="Calibri"/>
            </a:endParaRPr>
          </a:p>
        </p:txBody>
      </p:sp>
      <p:sp>
        <p:nvSpPr>
          <p:cNvPr id="635" name="Google Shape;635;g3f6e472ef3d_0_0"/>
          <p:cNvSpPr/>
          <p:nvPr/>
        </p:nvSpPr>
        <p:spPr>
          <a:xfrm>
            <a:off x="7421728" y="4059936"/>
            <a:ext cx="3910500" cy="310800"/>
          </a:xfrm>
          <a:prstGeom prst="rect">
            <a:avLst/>
          </a:prstGeom>
          <a:noFill/>
          <a:ln>
            <a:noFill/>
          </a:ln>
        </p:spPr>
        <p:txBody>
          <a:bodyPr spcFirstLastPara="1" wrap="square" lIns="0" tIns="0" rIns="0" bIns="0" anchor="ctr" anchorCtr="0">
            <a:noAutofit/>
          </a:bodyPr>
          <a:lstStyle/>
          <a:p>
            <a:pPr marL="0" marR="0" lvl="0" indent="0" algn="l" rtl="0">
              <a:lnSpc>
                <a:spcPct val="132352"/>
              </a:lnSpc>
              <a:spcBef>
                <a:spcPts val="0"/>
              </a:spcBef>
              <a:spcAft>
                <a:spcPts val="0"/>
              </a:spcAft>
              <a:buClr>
                <a:srgbClr val="E3E6E8"/>
              </a:buClr>
              <a:buSzPts val="1020"/>
              <a:buFont typeface="Arial"/>
              <a:buNone/>
            </a:pPr>
            <a:r>
              <a:rPr lang="en-US" sz="1020">
                <a:solidFill>
                  <a:srgbClr val="E3E6E8"/>
                </a:solidFill>
                <a:latin typeface="Arial"/>
                <a:ea typeface="Arial"/>
                <a:cs typeface="Arial"/>
                <a:sym typeface="Arial"/>
              </a:rPr>
              <a:t>前日午前中の注文で翌日着。館内ストレージ開設後は最短5分</a:t>
            </a:r>
            <a:endParaRPr sz="1020">
              <a:solidFill>
                <a:schemeClr val="dk1"/>
              </a:solidFill>
              <a:latin typeface="Calibri"/>
              <a:ea typeface="Calibri"/>
              <a:cs typeface="Calibri"/>
              <a:sym typeface="Calibri"/>
            </a:endParaRPr>
          </a:p>
        </p:txBody>
      </p:sp>
      <p:sp>
        <p:nvSpPr>
          <p:cNvPr id="636" name="Google Shape;636;g3f6e472ef3d_0_0"/>
          <p:cNvSpPr/>
          <p:nvPr/>
        </p:nvSpPr>
        <p:spPr>
          <a:xfrm>
            <a:off x="566928" y="4773168"/>
            <a:ext cx="36576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400"/>
              <a:buFont typeface="Arial"/>
              <a:buNone/>
            </a:pPr>
            <a:r>
              <a:rPr lang="en-US" sz="1400" b="1">
                <a:solidFill>
                  <a:srgbClr val="1A1A1A"/>
                </a:solidFill>
                <a:latin typeface="Arial"/>
                <a:ea typeface="Arial"/>
                <a:cs typeface="Arial"/>
                <a:sym typeface="Arial"/>
              </a:rPr>
              <a:t>価格の考え方</a:t>
            </a:r>
            <a:endParaRPr sz="1400">
              <a:solidFill>
                <a:schemeClr val="dk1"/>
              </a:solidFill>
              <a:latin typeface="Calibri"/>
              <a:ea typeface="Calibri"/>
              <a:cs typeface="Calibri"/>
              <a:sym typeface="Calibri"/>
            </a:endParaRPr>
          </a:p>
        </p:txBody>
      </p:sp>
      <p:sp>
        <p:nvSpPr>
          <p:cNvPr id="637" name="Google Shape;637;g3f6e472ef3d_0_0"/>
          <p:cNvSpPr/>
          <p:nvPr/>
        </p:nvSpPr>
        <p:spPr>
          <a:xfrm>
            <a:off x="566928" y="5102352"/>
            <a:ext cx="3503100" cy="969300"/>
          </a:xfrm>
          <a:prstGeom prst="roundRect">
            <a:avLst>
              <a:gd name="adj" fmla="val 4717"/>
            </a:avLst>
          </a:prstGeom>
          <a:solidFill>
            <a:srgbClr val="FFFFFF"/>
          </a:solidFill>
          <a:ln w="12700" cap="flat" cmpd="sng">
            <a:solidFill>
              <a:srgbClr val="DDE0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g3f6e472ef3d_0_0"/>
          <p:cNvSpPr/>
          <p:nvPr/>
        </p:nvSpPr>
        <p:spPr>
          <a:xfrm>
            <a:off x="804672" y="5193792"/>
            <a:ext cx="3027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50"/>
              <a:buFont typeface="Arial"/>
              <a:buNone/>
            </a:pPr>
            <a:r>
              <a:rPr lang="en-US" sz="950">
                <a:solidFill>
                  <a:srgbClr val="6E7378"/>
                </a:solidFill>
                <a:latin typeface="Arial"/>
                <a:ea typeface="Arial"/>
                <a:cs typeface="Arial"/>
                <a:sym typeface="Arial"/>
              </a:rPr>
              <a:t>テナント飲食店向け</a:t>
            </a:r>
            <a:endParaRPr sz="950">
              <a:solidFill>
                <a:schemeClr val="dk1"/>
              </a:solidFill>
              <a:latin typeface="Calibri"/>
              <a:ea typeface="Calibri"/>
              <a:cs typeface="Calibri"/>
              <a:sym typeface="Calibri"/>
            </a:endParaRPr>
          </a:p>
        </p:txBody>
      </p:sp>
      <p:sp>
        <p:nvSpPr>
          <p:cNvPr id="639" name="Google Shape;639;g3f6e472ef3d_0_0"/>
          <p:cNvSpPr/>
          <p:nvPr/>
        </p:nvSpPr>
        <p:spPr>
          <a:xfrm>
            <a:off x="804672" y="5413248"/>
            <a:ext cx="2011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500"/>
              <a:buFont typeface="Arial"/>
              <a:buNone/>
            </a:pPr>
            <a:r>
              <a:rPr lang="en-US" sz="1500" b="1">
                <a:solidFill>
                  <a:srgbClr val="C68A65"/>
                </a:solidFill>
                <a:latin typeface="Arial"/>
                <a:ea typeface="Arial"/>
                <a:cs typeface="Arial"/>
                <a:sym typeface="Arial"/>
              </a:rPr>
              <a:t>卸値</a:t>
            </a:r>
            <a:endParaRPr sz="1500">
              <a:solidFill>
                <a:schemeClr val="dk1"/>
              </a:solidFill>
              <a:latin typeface="Calibri"/>
              <a:ea typeface="Calibri"/>
              <a:cs typeface="Calibri"/>
              <a:sym typeface="Calibri"/>
            </a:endParaRPr>
          </a:p>
        </p:txBody>
      </p:sp>
      <p:sp>
        <p:nvSpPr>
          <p:cNvPr id="640" name="Google Shape;640;g3f6e472ef3d_0_0"/>
          <p:cNvSpPr/>
          <p:nvPr/>
        </p:nvSpPr>
        <p:spPr>
          <a:xfrm>
            <a:off x="804672" y="5687568"/>
            <a:ext cx="3027600" cy="310800"/>
          </a:xfrm>
          <a:prstGeom prst="rect">
            <a:avLst/>
          </a:prstGeom>
          <a:noFill/>
          <a:ln>
            <a:noFill/>
          </a:ln>
        </p:spPr>
        <p:txBody>
          <a:bodyPr spcFirstLastPara="1" wrap="square" lIns="0" tIns="0" rIns="0" bIns="0" anchor="ctr" anchorCtr="0">
            <a:noAutofit/>
          </a:bodyPr>
          <a:lstStyle/>
          <a:p>
            <a:pPr marL="0" marR="0" lvl="0" indent="0" algn="l" rtl="0">
              <a:lnSpc>
                <a:spcPct val="136363"/>
              </a:lnSpc>
              <a:spcBef>
                <a:spcPts val="0"/>
              </a:spcBef>
              <a:spcAft>
                <a:spcPts val="0"/>
              </a:spcAft>
              <a:buClr>
                <a:srgbClr val="6E7378"/>
              </a:buClr>
              <a:buSzPts val="880"/>
              <a:buFont typeface="Arial"/>
              <a:buNone/>
            </a:pPr>
            <a:r>
              <a:rPr lang="en-US" sz="880">
                <a:solidFill>
                  <a:srgbClr val="6E7378"/>
                </a:solidFill>
                <a:latin typeface="Arial"/>
                <a:ea typeface="Arial"/>
                <a:cs typeface="Arial"/>
                <a:sym typeface="Arial"/>
              </a:rPr>
              <a:t>インポーター直の仕入水準。一般の酒販ルートより明確に低い価格帯。</a:t>
            </a:r>
            <a:endParaRPr sz="880">
              <a:solidFill>
                <a:schemeClr val="dk1"/>
              </a:solidFill>
              <a:latin typeface="Calibri"/>
              <a:ea typeface="Calibri"/>
              <a:cs typeface="Calibri"/>
              <a:sym typeface="Calibri"/>
            </a:endParaRPr>
          </a:p>
        </p:txBody>
      </p:sp>
      <p:sp>
        <p:nvSpPr>
          <p:cNvPr id="641" name="Google Shape;641;g3f6e472ef3d_0_0"/>
          <p:cNvSpPr/>
          <p:nvPr/>
        </p:nvSpPr>
        <p:spPr>
          <a:xfrm>
            <a:off x="4344314" y="5102352"/>
            <a:ext cx="3503100" cy="969300"/>
          </a:xfrm>
          <a:prstGeom prst="roundRect">
            <a:avLst>
              <a:gd name="adj" fmla="val 4717"/>
            </a:avLst>
          </a:prstGeom>
          <a:solidFill>
            <a:srgbClr val="FFFFFF"/>
          </a:solidFill>
          <a:ln w="12700" cap="flat" cmpd="sng">
            <a:solidFill>
              <a:srgbClr val="DDE0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g3f6e472ef3d_0_0"/>
          <p:cNvSpPr/>
          <p:nvPr/>
        </p:nvSpPr>
        <p:spPr>
          <a:xfrm>
            <a:off x="4582058" y="5193792"/>
            <a:ext cx="3027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50"/>
              <a:buFont typeface="Arial"/>
              <a:buNone/>
            </a:pPr>
            <a:r>
              <a:rPr lang="en-US" sz="950">
                <a:solidFill>
                  <a:srgbClr val="6E7378"/>
                </a:solidFill>
                <a:latin typeface="Arial"/>
                <a:ea typeface="Arial"/>
                <a:cs typeface="Arial"/>
                <a:sym typeface="Arial"/>
              </a:rPr>
              <a:t>森ビル様の便益</a:t>
            </a:r>
            <a:endParaRPr sz="950">
              <a:solidFill>
                <a:schemeClr val="dk1"/>
              </a:solidFill>
              <a:latin typeface="Calibri"/>
              <a:ea typeface="Calibri"/>
              <a:cs typeface="Calibri"/>
              <a:sym typeface="Calibri"/>
            </a:endParaRPr>
          </a:p>
        </p:txBody>
      </p:sp>
      <p:sp>
        <p:nvSpPr>
          <p:cNvPr id="643" name="Google Shape;643;g3f6e472ef3d_0_0"/>
          <p:cNvSpPr/>
          <p:nvPr/>
        </p:nvSpPr>
        <p:spPr>
          <a:xfrm>
            <a:off x="4582058" y="5413248"/>
            <a:ext cx="2011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500"/>
              <a:buFont typeface="Arial"/>
              <a:buNone/>
            </a:pPr>
            <a:r>
              <a:rPr lang="en-US" sz="1500" b="1">
                <a:solidFill>
                  <a:srgbClr val="C68A65"/>
                </a:solidFill>
                <a:latin typeface="Arial"/>
                <a:ea typeface="Arial"/>
                <a:cs typeface="Arial"/>
                <a:sym typeface="Arial"/>
              </a:rPr>
              <a:t>テナント収益性</a:t>
            </a:r>
            <a:endParaRPr sz="1500">
              <a:solidFill>
                <a:schemeClr val="dk1"/>
              </a:solidFill>
              <a:latin typeface="Calibri"/>
              <a:ea typeface="Calibri"/>
              <a:cs typeface="Calibri"/>
              <a:sym typeface="Calibri"/>
            </a:endParaRPr>
          </a:p>
        </p:txBody>
      </p:sp>
      <p:sp>
        <p:nvSpPr>
          <p:cNvPr id="644" name="Google Shape;644;g3f6e472ef3d_0_0"/>
          <p:cNvSpPr/>
          <p:nvPr/>
        </p:nvSpPr>
        <p:spPr>
          <a:xfrm>
            <a:off x="4582058" y="5687568"/>
            <a:ext cx="3027600" cy="310800"/>
          </a:xfrm>
          <a:prstGeom prst="rect">
            <a:avLst/>
          </a:prstGeom>
          <a:noFill/>
          <a:ln>
            <a:noFill/>
          </a:ln>
        </p:spPr>
        <p:txBody>
          <a:bodyPr spcFirstLastPara="1" wrap="square" lIns="0" tIns="0" rIns="0" bIns="0" anchor="ctr" anchorCtr="0">
            <a:noAutofit/>
          </a:bodyPr>
          <a:lstStyle/>
          <a:p>
            <a:pPr marL="0" marR="0" lvl="0" indent="0" algn="l" rtl="0">
              <a:lnSpc>
                <a:spcPct val="136363"/>
              </a:lnSpc>
              <a:spcBef>
                <a:spcPts val="0"/>
              </a:spcBef>
              <a:spcAft>
                <a:spcPts val="0"/>
              </a:spcAft>
              <a:buClr>
                <a:srgbClr val="6E7378"/>
              </a:buClr>
              <a:buSzPts val="880"/>
              <a:buFont typeface="Arial"/>
              <a:buNone/>
            </a:pPr>
            <a:r>
              <a:rPr lang="en-US" sz="880">
                <a:solidFill>
                  <a:srgbClr val="6E7378"/>
                </a:solidFill>
                <a:latin typeface="Arial"/>
                <a:ea typeface="Arial"/>
                <a:cs typeface="Arial"/>
                <a:sym typeface="Arial"/>
              </a:rPr>
              <a:t>ワイン原価と在庫負担が下がり、店の利益率と賃料負担力が上がる。</a:t>
            </a:r>
            <a:endParaRPr sz="880">
              <a:solidFill>
                <a:schemeClr val="dk1"/>
              </a:solidFill>
              <a:latin typeface="Calibri"/>
              <a:ea typeface="Calibri"/>
              <a:cs typeface="Calibri"/>
              <a:sym typeface="Calibri"/>
            </a:endParaRPr>
          </a:p>
        </p:txBody>
      </p:sp>
      <p:sp>
        <p:nvSpPr>
          <p:cNvPr id="645" name="Google Shape;645;g3f6e472ef3d_0_0"/>
          <p:cNvSpPr/>
          <p:nvPr/>
        </p:nvSpPr>
        <p:spPr>
          <a:xfrm>
            <a:off x="8121701" y="5102352"/>
            <a:ext cx="3503100" cy="969300"/>
          </a:xfrm>
          <a:prstGeom prst="roundRect">
            <a:avLst>
              <a:gd name="adj" fmla="val 4717"/>
            </a:avLst>
          </a:prstGeom>
          <a:solidFill>
            <a:srgbClr val="FFFFFF"/>
          </a:solidFill>
          <a:ln w="12700" cap="flat" cmpd="sng">
            <a:solidFill>
              <a:srgbClr val="DDE0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g3f6e472ef3d_0_0"/>
          <p:cNvSpPr/>
          <p:nvPr/>
        </p:nvSpPr>
        <p:spPr>
          <a:xfrm>
            <a:off x="8359445" y="5193792"/>
            <a:ext cx="3027600" cy="21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50"/>
              <a:buFont typeface="Arial"/>
              <a:buNone/>
            </a:pPr>
            <a:r>
              <a:rPr lang="en-US" sz="950">
                <a:solidFill>
                  <a:srgbClr val="6E7378"/>
                </a:solidFill>
                <a:latin typeface="Arial"/>
                <a:ea typeface="Arial"/>
                <a:cs typeface="Arial"/>
                <a:sym typeface="Arial"/>
              </a:rPr>
              <a:t>導入コスト</a:t>
            </a:r>
            <a:endParaRPr sz="950">
              <a:solidFill>
                <a:schemeClr val="dk1"/>
              </a:solidFill>
              <a:latin typeface="Calibri"/>
              <a:ea typeface="Calibri"/>
              <a:cs typeface="Calibri"/>
              <a:sym typeface="Calibri"/>
            </a:endParaRPr>
          </a:p>
        </p:txBody>
      </p:sp>
      <p:sp>
        <p:nvSpPr>
          <p:cNvPr id="647" name="Google Shape;647;g3f6e472ef3d_0_0"/>
          <p:cNvSpPr/>
          <p:nvPr/>
        </p:nvSpPr>
        <p:spPr>
          <a:xfrm>
            <a:off x="8359445" y="5413248"/>
            <a:ext cx="20118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500"/>
              <a:buFont typeface="Arial"/>
              <a:buNone/>
            </a:pPr>
            <a:r>
              <a:rPr lang="en-US" sz="1500" b="1">
                <a:solidFill>
                  <a:srgbClr val="C68A65"/>
                </a:solidFill>
                <a:latin typeface="Arial"/>
                <a:ea typeface="Arial"/>
                <a:cs typeface="Arial"/>
                <a:sym typeface="Arial"/>
              </a:rPr>
              <a:t>0円</a:t>
            </a:r>
            <a:endParaRPr sz="1500">
              <a:solidFill>
                <a:schemeClr val="dk1"/>
              </a:solidFill>
              <a:latin typeface="Calibri"/>
              <a:ea typeface="Calibri"/>
              <a:cs typeface="Calibri"/>
              <a:sym typeface="Calibri"/>
            </a:endParaRPr>
          </a:p>
        </p:txBody>
      </p:sp>
      <p:sp>
        <p:nvSpPr>
          <p:cNvPr id="648" name="Google Shape;648;g3f6e472ef3d_0_0"/>
          <p:cNvSpPr/>
          <p:nvPr/>
        </p:nvSpPr>
        <p:spPr>
          <a:xfrm>
            <a:off x="8359445" y="5687568"/>
            <a:ext cx="3027600" cy="310800"/>
          </a:xfrm>
          <a:prstGeom prst="rect">
            <a:avLst/>
          </a:prstGeom>
          <a:noFill/>
          <a:ln>
            <a:noFill/>
          </a:ln>
        </p:spPr>
        <p:txBody>
          <a:bodyPr spcFirstLastPara="1" wrap="square" lIns="0" tIns="0" rIns="0" bIns="0" anchor="ctr" anchorCtr="0">
            <a:noAutofit/>
          </a:bodyPr>
          <a:lstStyle/>
          <a:p>
            <a:pPr marL="0" marR="0" lvl="0" indent="0" algn="l" rtl="0">
              <a:lnSpc>
                <a:spcPct val="136363"/>
              </a:lnSpc>
              <a:spcBef>
                <a:spcPts val="0"/>
              </a:spcBef>
              <a:spcAft>
                <a:spcPts val="0"/>
              </a:spcAft>
              <a:buClr>
                <a:srgbClr val="6E7378"/>
              </a:buClr>
              <a:buSzPts val="880"/>
              <a:buFont typeface="Arial"/>
              <a:buNone/>
            </a:pPr>
            <a:r>
              <a:rPr lang="en-US" sz="880">
                <a:solidFill>
                  <a:srgbClr val="6E7378"/>
                </a:solidFill>
                <a:latin typeface="Arial"/>
                <a:ea typeface="Arial"/>
                <a:cs typeface="Arial"/>
                <a:sym typeface="Arial"/>
              </a:rPr>
              <a:t>初期費用・月額固定費なし。使った分の商品代のみ。</a:t>
            </a:r>
            <a:endParaRPr sz="88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3"/>
        <p:cNvGrpSpPr/>
        <p:nvPr/>
      </p:nvGrpSpPr>
      <p:grpSpPr>
        <a:xfrm>
          <a:off x="0" y="0"/>
          <a:ext cx="0" cy="0"/>
          <a:chOff x="0" y="0"/>
          <a:chExt cx="0" cy="0"/>
        </a:xfrm>
      </p:grpSpPr>
      <p:pic>
        <p:nvPicPr>
          <p:cNvPr id="654" name="Google Shape;654;p7"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655" name="Google Shape;655;p7"/>
          <p:cNvSpPr/>
          <p:nvPr/>
        </p:nvSpPr>
        <p:spPr>
          <a:xfrm>
            <a:off x="1097606" y="585216"/>
            <a:ext cx="8979081"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置きワイン ─ 売れた分だけ、お支払いいただく</a:t>
            </a:r>
            <a:endParaRPr sz="2300">
              <a:solidFill>
                <a:schemeClr val="dk1"/>
              </a:solidFill>
              <a:latin typeface="Calibri"/>
              <a:ea typeface="Calibri"/>
              <a:cs typeface="Calibri"/>
              <a:sym typeface="Calibri"/>
            </a:endParaRPr>
          </a:p>
        </p:txBody>
      </p:sp>
      <p:sp>
        <p:nvSpPr>
          <p:cNvPr id="656" name="Google Shape;656;p7"/>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ワインの月商が見込める店には、在庫を店内に置きます。所有権は当社のまま、売れた本数だけを月締めでご請求します。</a:t>
            </a:r>
            <a:endParaRPr sz="1150">
              <a:solidFill>
                <a:schemeClr val="dk1"/>
              </a:solidFill>
              <a:latin typeface="Calibri"/>
              <a:ea typeface="Calibri"/>
              <a:cs typeface="Calibri"/>
              <a:sym typeface="Calibri"/>
            </a:endParaRPr>
          </a:p>
        </p:txBody>
      </p:sp>
      <p:sp>
        <p:nvSpPr>
          <p:cNvPr id="657" name="Google Shape;657;p7"/>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7"/>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659" name="Google Shape;659;p7"/>
          <p:cNvSpPr/>
          <p:nvPr/>
        </p:nvSpPr>
        <p:spPr>
          <a:xfrm>
            <a:off x="566928" y="1463040"/>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400"/>
              <a:buFont typeface="Arial"/>
              <a:buNone/>
            </a:pPr>
            <a:r>
              <a:rPr lang="en-US" sz="1400" b="1">
                <a:solidFill>
                  <a:srgbClr val="1A1A1A"/>
                </a:solidFill>
                <a:latin typeface="Arial"/>
                <a:ea typeface="Arial"/>
                <a:cs typeface="Arial"/>
                <a:sym typeface="Arial"/>
              </a:rPr>
              <a:t>仕組み</a:t>
            </a:r>
            <a:endParaRPr sz="1400">
              <a:solidFill>
                <a:schemeClr val="dk1"/>
              </a:solidFill>
              <a:latin typeface="Calibri"/>
              <a:ea typeface="Calibri"/>
              <a:cs typeface="Calibri"/>
              <a:sym typeface="Calibri"/>
            </a:endParaRPr>
          </a:p>
        </p:txBody>
      </p:sp>
      <p:sp>
        <p:nvSpPr>
          <p:cNvPr id="660" name="Google Shape;660;p7"/>
          <p:cNvSpPr/>
          <p:nvPr/>
        </p:nvSpPr>
        <p:spPr>
          <a:xfrm>
            <a:off x="566928" y="1920240"/>
            <a:ext cx="201168"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7"/>
          <p:cNvSpPr/>
          <p:nvPr/>
        </p:nvSpPr>
        <p:spPr>
          <a:xfrm>
            <a:off x="914400" y="1828800"/>
            <a:ext cx="55778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250" b="1">
                <a:solidFill>
                  <a:srgbClr val="1A1A1A"/>
                </a:solidFill>
                <a:latin typeface="Arial"/>
                <a:ea typeface="Arial"/>
                <a:cs typeface="Arial"/>
                <a:sym typeface="Arial"/>
              </a:rPr>
              <a:t>当社が銘柄を選定し、店内セラーへ預託</a:t>
            </a:r>
            <a:endParaRPr sz="1250">
              <a:solidFill>
                <a:schemeClr val="dk1"/>
              </a:solidFill>
              <a:latin typeface="Calibri"/>
              <a:ea typeface="Calibri"/>
              <a:cs typeface="Calibri"/>
              <a:sym typeface="Calibri"/>
            </a:endParaRPr>
          </a:p>
        </p:txBody>
      </p:sp>
      <p:sp>
        <p:nvSpPr>
          <p:cNvPr id="662" name="Google Shape;662;p7"/>
          <p:cNvSpPr/>
          <p:nvPr/>
        </p:nvSpPr>
        <p:spPr>
          <a:xfrm>
            <a:off x="914400" y="2103120"/>
            <a:ext cx="5577840" cy="402336"/>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所有権は当社。店は仕入計上をせず、リストに載せて販売するだけ。</a:t>
            </a:r>
            <a:endParaRPr sz="1000">
              <a:solidFill>
                <a:schemeClr val="dk1"/>
              </a:solidFill>
              <a:latin typeface="Calibri"/>
              <a:ea typeface="Calibri"/>
              <a:cs typeface="Calibri"/>
              <a:sym typeface="Calibri"/>
            </a:endParaRPr>
          </a:p>
        </p:txBody>
      </p:sp>
      <p:sp>
        <p:nvSpPr>
          <p:cNvPr id="663" name="Google Shape;663;p7"/>
          <p:cNvSpPr/>
          <p:nvPr/>
        </p:nvSpPr>
        <p:spPr>
          <a:xfrm>
            <a:off x="566928" y="2706624"/>
            <a:ext cx="201168"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7"/>
          <p:cNvSpPr/>
          <p:nvPr/>
        </p:nvSpPr>
        <p:spPr>
          <a:xfrm>
            <a:off x="914400" y="2615184"/>
            <a:ext cx="55778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250" b="1">
                <a:solidFill>
                  <a:srgbClr val="1A1A1A"/>
                </a:solidFill>
                <a:latin typeface="Arial"/>
                <a:ea typeface="Arial"/>
                <a:cs typeface="Arial"/>
                <a:sym typeface="Arial"/>
              </a:rPr>
              <a:t>売れた本数のみ、月締めでご請求</a:t>
            </a:r>
            <a:endParaRPr sz="1250">
              <a:solidFill>
                <a:schemeClr val="dk1"/>
              </a:solidFill>
              <a:latin typeface="Calibri"/>
              <a:ea typeface="Calibri"/>
              <a:cs typeface="Calibri"/>
              <a:sym typeface="Calibri"/>
            </a:endParaRPr>
          </a:p>
        </p:txBody>
      </p:sp>
      <p:sp>
        <p:nvSpPr>
          <p:cNvPr id="665" name="Google Shape;665;p7"/>
          <p:cNvSpPr/>
          <p:nvPr/>
        </p:nvSpPr>
        <p:spPr>
          <a:xfrm>
            <a:off x="914400" y="2889504"/>
            <a:ext cx="5577840" cy="402336"/>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キャッシュアウトは売れた後。仕入時点の資金拘束が発生しません。</a:t>
            </a:r>
            <a:endParaRPr sz="1000">
              <a:solidFill>
                <a:schemeClr val="dk1"/>
              </a:solidFill>
              <a:latin typeface="Calibri"/>
              <a:ea typeface="Calibri"/>
              <a:cs typeface="Calibri"/>
              <a:sym typeface="Calibri"/>
            </a:endParaRPr>
          </a:p>
        </p:txBody>
      </p:sp>
      <p:sp>
        <p:nvSpPr>
          <p:cNvPr id="666" name="Google Shape;666;p7"/>
          <p:cNvSpPr/>
          <p:nvPr/>
        </p:nvSpPr>
        <p:spPr>
          <a:xfrm>
            <a:off x="566928" y="3493008"/>
            <a:ext cx="201168"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7"/>
          <p:cNvSpPr/>
          <p:nvPr/>
        </p:nvSpPr>
        <p:spPr>
          <a:xfrm>
            <a:off x="914400" y="3401568"/>
            <a:ext cx="55778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250" b="1">
                <a:solidFill>
                  <a:srgbClr val="1A1A1A"/>
                </a:solidFill>
                <a:latin typeface="Arial"/>
                <a:ea typeface="Arial"/>
                <a:cs typeface="Arial"/>
                <a:sym typeface="Arial"/>
              </a:rPr>
              <a:t>売れ残り・劣化・破損は当社負担</a:t>
            </a:r>
            <a:endParaRPr sz="1250">
              <a:solidFill>
                <a:schemeClr val="dk1"/>
              </a:solidFill>
              <a:latin typeface="Calibri"/>
              <a:ea typeface="Calibri"/>
              <a:cs typeface="Calibri"/>
              <a:sym typeface="Calibri"/>
            </a:endParaRPr>
          </a:p>
        </p:txBody>
      </p:sp>
      <p:sp>
        <p:nvSpPr>
          <p:cNvPr id="668" name="Google Shape;668;p7"/>
          <p:cNvSpPr/>
          <p:nvPr/>
        </p:nvSpPr>
        <p:spPr>
          <a:xfrm>
            <a:off x="914400" y="3675888"/>
            <a:ext cx="5577840" cy="402336"/>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動かない銘柄は当社が回収し、入れ替えます。店に損失は残りません。</a:t>
            </a:r>
            <a:endParaRPr sz="1000">
              <a:solidFill>
                <a:schemeClr val="dk1"/>
              </a:solidFill>
              <a:latin typeface="Calibri"/>
              <a:ea typeface="Calibri"/>
              <a:cs typeface="Calibri"/>
              <a:sym typeface="Calibri"/>
            </a:endParaRPr>
          </a:p>
        </p:txBody>
      </p:sp>
      <p:sp>
        <p:nvSpPr>
          <p:cNvPr id="669" name="Google Shape;669;p7"/>
          <p:cNvSpPr/>
          <p:nvPr/>
        </p:nvSpPr>
        <p:spPr>
          <a:xfrm>
            <a:off x="566928" y="4279392"/>
            <a:ext cx="201168" cy="32004"/>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7"/>
          <p:cNvSpPr/>
          <p:nvPr/>
        </p:nvSpPr>
        <p:spPr>
          <a:xfrm>
            <a:off x="914400" y="4187952"/>
            <a:ext cx="55778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250" b="1">
                <a:solidFill>
                  <a:srgbClr val="1A1A1A"/>
                </a:solidFill>
                <a:latin typeface="Arial"/>
                <a:ea typeface="Arial"/>
                <a:cs typeface="Arial"/>
                <a:sym typeface="Arial"/>
              </a:rPr>
              <a:t>定期的に構成を見直す</a:t>
            </a:r>
            <a:endParaRPr sz="1250">
              <a:solidFill>
                <a:schemeClr val="dk1"/>
              </a:solidFill>
              <a:latin typeface="Calibri"/>
              <a:ea typeface="Calibri"/>
              <a:cs typeface="Calibri"/>
              <a:sym typeface="Calibri"/>
            </a:endParaRPr>
          </a:p>
        </p:txBody>
      </p:sp>
      <p:sp>
        <p:nvSpPr>
          <p:cNvPr id="671" name="Google Shape;671;p7"/>
          <p:cNvSpPr/>
          <p:nvPr/>
        </p:nvSpPr>
        <p:spPr>
          <a:xfrm>
            <a:off x="914400" y="4462272"/>
            <a:ext cx="5577840" cy="402336"/>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客層と販売実績を見て、価格帯と銘柄を組み替えていきます。</a:t>
            </a:r>
            <a:endParaRPr sz="1000">
              <a:solidFill>
                <a:schemeClr val="dk1"/>
              </a:solidFill>
              <a:latin typeface="Calibri"/>
              <a:ea typeface="Calibri"/>
              <a:cs typeface="Calibri"/>
              <a:sym typeface="Calibri"/>
            </a:endParaRPr>
          </a:p>
        </p:txBody>
      </p:sp>
      <p:sp>
        <p:nvSpPr>
          <p:cNvPr id="672" name="Google Shape;672;p7"/>
          <p:cNvSpPr/>
          <p:nvPr/>
        </p:nvSpPr>
        <p:spPr>
          <a:xfrm>
            <a:off x="566928" y="5029200"/>
            <a:ext cx="5925312" cy="1097280"/>
          </a:xfrm>
          <a:prstGeom prst="roundRect">
            <a:avLst>
              <a:gd name="adj" fmla="val 416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7"/>
          <p:cNvSpPr/>
          <p:nvPr/>
        </p:nvSpPr>
        <p:spPr>
          <a:xfrm>
            <a:off x="841248" y="5138928"/>
            <a:ext cx="54864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250"/>
              <a:buFont typeface="Arial"/>
              <a:buNone/>
            </a:pPr>
            <a:r>
              <a:rPr lang="en-US" sz="1250" b="1">
                <a:solidFill>
                  <a:srgbClr val="A06D4C"/>
                </a:solidFill>
                <a:latin typeface="Arial"/>
                <a:ea typeface="Arial"/>
                <a:cs typeface="Arial"/>
                <a:sym typeface="Arial"/>
              </a:rPr>
              <a:t>対象と条件</a:t>
            </a:r>
            <a:endParaRPr sz="1250">
              <a:solidFill>
                <a:schemeClr val="dk1"/>
              </a:solidFill>
              <a:latin typeface="Calibri"/>
              <a:ea typeface="Calibri"/>
              <a:cs typeface="Calibri"/>
              <a:sym typeface="Calibri"/>
            </a:endParaRPr>
          </a:p>
        </p:txBody>
      </p:sp>
      <p:sp>
        <p:nvSpPr>
          <p:cNvPr id="674" name="Google Shape;674;p7"/>
          <p:cNvSpPr/>
          <p:nvPr/>
        </p:nvSpPr>
        <p:spPr>
          <a:xfrm>
            <a:off x="841248" y="5394960"/>
            <a:ext cx="5394960" cy="621792"/>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ワインの月商が一定以上ある店を優先します。とくに海外からの富裕層が多く入る店は、高単価銘柄の回転が読めるため相性が良いと考えています。与信は売上入金を担保とする形（口座振替・売上債権譲渡等）でご相談させてください。</a:t>
            </a:r>
            <a:endParaRPr sz="980">
              <a:solidFill>
                <a:schemeClr val="dk1"/>
              </a:solidFill>
              <a:latin typeface="Calibri"/>
              <a:ea typeface="Calibri"/>
              <a:cs typeface="Calibri"/>
              <a:sym typeface="Calibri"/>
            </a:endParaRPr>
          </a:p>
        </p:txBody>
      </p:sp>
      <p:sp>
        <p:nvSpPr>
          <p:cNvPr id="675" name="Google Shape;675;p7"/>
          <p:cNvSpPr/>
          <p:nvPr/>
        </p:nvSpPr>
        <p:spPr>
          <a:xfrm>
            <a:off x="6803136" y="1463040"/>
            <a:ext cx="4821631" cy="2212848"/>
          </a:xfrm>
          <a:prstGeom prst="roundRect">
            <a:avLst>
              <a:gd name="adj" fmla="val 2066"/>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7"/>
          <p:cNvSpPr/>
          <p:nvPr/>
        </p:nvSpPr>
        <p:spPr>
          <a:xfrm>
            <a:off x="7095744" y="1627632"/>
            <a:ext cx="4236415"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500"/>
              <a:buFont typeface="Arial"/>
              <a:buNone/>
            </a:pPr>
            <a:r>
              <a:rPr lang="en-US" sz="1500" b="1">
                <a:solidFill>
                  <a:srgbClr val="EFDCCE"/>
                </a:solidFill>
                <a:latin typeface="Arial"/>
                <a:ea typeface="Arial"/>
                <a:cs typeface="Arial"/>
                <a:sym typeface="Arial"/>
              </a:rPr>
              <a:t>店にとって、何が変わるか</a:t>
            </a:r>
            <a:endParaRPr sz="1500">
              <a:solidFill>
                <a:schemeClr val="dk1"/>
              </a:solidFill>
              <a:latin typeface="Calibri"/>
              <a:ea typeface="Calibri"/>
              <a:cs typeface="Calibri"/>
              <a:sym typeface="Calibri"/>
            </a:endParaRPr>
          </a:p>
        </p:txBody>
      </p:sp>
      <p:sp>
        <p:nvSpPr>
          <p:cNvPr id="677" name="Google Shape;677;p7"/>
          <p:cNvSpPr/>
          <p:nvPr/>
        </p:nvSpPr>
        <p:spPr>
          <a:xfrm>
            <a:off x="7095744" y="1975104"/>
            <a:ext cx="4236415" cy="1554480"/>
          </a:xfrm>
          <a:prstGeom prst="rect">
            <a:avLst/>
          </a:prstGeom>
          <a:noFill/>
          <a:ln>
            <a:noFill/>
          </a:ln>
        </p:spPr>
        <p:txBody>
          <a:bodyPr spcFirstLastPara="1" wrap="square" lIns="0" tIns="0" rIns="0" bIns="0" anchor="ctr" anchorCtr="0">
            <a:noAutofit/>
          </a:bodyPr>
          <a:lstStyle/>
          <a:p>
            <a:pPr marL="342900" marR="0" lvl="0" indent="-342900" algn="l" rtl="0">
              <a:lnSpc>
                <a:spcPct val="147058"/>
              </a:lnSpc>
              <a:spcBef>
                <a:spcPts val="0"/>
              </a:spcBef>
              <a:spcAft>
                <a:spcPts val="0"/>
              </a:spcAft>
              <a:buClr>
                <a:srgbClr val="E3E6E8"/>
              </a:buClr>
              <a:buSzPts val="1020"/>
              <a:buFont typeface="Arial"/>
              <a:buChar char="▪"/>
            </a:pPr>
            <a:r>
              <a:rPr lang="en-US" sz="1020">
                <a:solidFill>
                  <a:srgbClr val="E3E6E8"/>
                </a:solidFill>
                <a:latin typeface="Arial"/>
                <a:ea typeface="Arial"/>
                <a:cs typeface="Arial"/>
                <a:sym typeface="Arial"/>
              </a:rPr>
              <a:t>自己資金では置けない価格帯を、リストに載せられる</a:t>
            </a:r>
            <a:endParaRPr sz="1020">
              <a:solidFill>
                <a:schemeClr val="dk1"/>
              </a:solidFill>
              <a:latin typeface="Calibri"/>
              <a:ea typeface="Calibri"/>
              <a:cs typeface="Calibri"/>
              <a:sym typeface="Calibri"/>
            </a:endParaRPr>
          </a:p>
          <a:p>
            <a:pPr marL="342900" marR="0" lvl="0" indent="-342900" algn="l" rtl="0">
              <a:lnSpc>
                <a:spcPct val="147058"/>
              </a:lnSpc>
              <a:spcBef>
                <a:spcPts val="600"/>
              </a:spcBef>
              <a:spcAft>
                <a:spcPts val="0"/>
              </a:spcAft>
              <a:buClr>
                <a:srgbClr val="E3E6E8"/>
              </a:buClr>
              <a:buSzPts val="1020"/>
              <a:buFont typeface="Arial"/>
              <a:buChar char="▪"/>
            </a:pPr>
            <a:r>
              <a:rPr lang="en-US" sz="1020">
                <a:solidFill>
                  <a:srgbClr val="E3E6E8"/>
                </a:solidFill>
                <a:latin typeface="Arial"/>
                <a:ea typeface="Arial"/>
                <a:cs typeface="Arial"/>
                <a:sym typeface="Arial"/>
              </a:rPr>
              <a:t>在庫を持つのは当社。店の在庫回転率は悪化しない</a:t>
            </a:r>
            <a:endParaRPr sz="1020">
              <a:solidFill>
                <a:schemeClr val="dk1"/>
              </a:solidFill>
              <a:latin typeface="Calibri"/>
              <a:ea typeface="Calibri"/>
              <a:cs typeface="Calibri"/>
              <a:sym typeface="Calibri"/>
            </a:endParaRPr>
          </a:p>
          <a:p>
            <a:pPr marL="342900" marR="0" lvl="0" indent="-342900" algn="l" rtl="0">
              <a:lnSpc>
                <a:spcPct val="147058"/>
              </a:lnSpc>
              <a:spcBef>
                <a:spcPts val="600"/>
              </a:spcBef>
              <a:spcAft>
                <a:spcPts val="0"/>
              </a:spcAft>
              <a:buClr>
                <a:srgbClr val="E3E6E8"/>
              </a:buClr>
              <a:buSzPts val="1020"/>
              <a:buFont typeface="Arial"/>
              <a:buChar char="▪"/>
            </a:pPr>
            <a:r>
              <a:rPr lang="en-US" sz="1020">
                <a:solidFill>
                  <a:srgbClr val="E3E6E8"/>
                </a:solidFill>
                <a:latin typeface="Arial"/>
                <a:ea typeface="Arial"/>
                <a:cs typeface="Arial"/>
                <a:sym typeface="Arial"/>
              </a:rPr>
              <a:t>品揃えの厚みが、そのまま客単価に効く</a:t>
            </a:r>
            <a:endParaRPr sz="1020">
              <a:solidFill>
                <a:schemeClr val="dk1"/>
              </a:solidFill>
              <a:latin typeface="Calibri"/>
              <a:ea typeface="Calibri"/>
              <a:cs typeface="Calibri"/>
              <a:sym typeface="Calibri"/>
            </a:endParaRPr>
          </a:p>
          <a:p>
            <a:pPr marL="342900" marR="0" lvl="0" indent="-342900" algn="l" rtl="0">
              <a:lnSpc>
                <a:spcPct val="147058"/>
              </a:lnSpc>
              <a:spcBef>
                <a:spcPts val="600"/>
              </a:spcBef>
              <a:spcAft>
                <a:spcPts val="0"/>
              </a:spcAft>
              <a:buClr>
                <a:srgbClr val="E3E6E8"/>
              </a:buClr>
              <a:buSzPts val="1020"/>
              <a:buFont typeface="Arial"/>
              <a:buChar char="▪"/>
            </a:pPr>
            <a:r>
              <a:rPr lang="en-US" sz="1020">
                <a:solidFill>
                  <a:srgbClr val="E3E6E8"/>
                </a:solidFill>
                <a:latin typeface="Arial"/>
                <a:ea typeface="Arial"/>
                <a:cs typeface="Arial"/>
                <a:sym typeface="Arial"/>
              </a:rPr>
              <a:t>セラーの空きスペースを当社在庫で埋められる</a:t>
            </a:r>
            <a:endParaRPr sz="1020">
              <a:solidFill>
                <a:schemeClr val="dk1"/>
              </a:solidFill>
              <a:latin typeface="Calibri"/>
              <a:ea typeface="Calibri"/>
              <a:cs typeface="Calibri"/>
              <a:sym typeface="Calibri"/>
            </a:endParaRPr>
          </a:p>
        </p:txBody>
      </p:sp>
      <p:sp>
        <p:nvSpPr>
          <p:cNvPr id="678" name="Google Shape;678;p7"/>
          <p:cNvSpPr/>
          <p:nvPr/>
        </p:nvSpPr>
        <p:spPr>
          <a:xfrm>
            <a:off x="6803136" y="3840480"/>
            <a:ext cx="4821631" cy="1207008"/>
          </a:xfrm>
          <a:prstGeom prst="roundRect">
            <a:avLst>
              <a:gd name="adj" fmla="val 3788"/>
            </a:avLst>
          </a:prstGeom>
          <a:solidFill>
            <a:srgbClr val="FFFFFF"/>
          </a:solidFill>
          <a:ln w="12700" cap="flat" cmpd="sng">
            <a:solidFill>
              <a:srgbClr val="DDE0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7"/>
          <p:cNvSpPr/>
          <p:nvPr/>
        </p:nvSpPr>
        <p:spPr>
          <a:xfrm>
            <a:off x="7077456" y="3968496"/>
            <a:ext cx="4272991"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250"/>
              <a:buFont typeface="Arial"/>
              <a:buNone/>
            </a:pPr>
            <a:r>
              <a:rPr lang="en-US" sz="1250" b="1">
                <a:solidFill>
                  <a:srgbClr val="A06D4C"/>
                </a:solidFill>
                <a:latin typeface="Arial"/>
                <a:ea typeface="Arial"/>
                <a:cs typeface="Arial"/>
                <a:sym typeface="Arial"/>
              </a:rPr>
              <a:t>森ビル様の便益</a:t>
            </a:r>
            <a:endParaRPr sz="1250">
              <a:solidFill>
                <a:schemeClr val="dk1"/>
              </a:solidFill>
              <a:latin typeface="Calibri"/>
              <a:ea typeface="Calibri"/>
              <a:cs typeface="Calibri"/>
              <a:sym typeface="Calibri"/>
            </a:endParaRPr>
          </a:p>
        </p:txBody>
      </p:sp>
      <p:sp>
        <p:nvSpPr>
          <p:cNvPr id="680" name="Google Shape;680;p7"/>
          <p:cNvSpPr/>
          <p:nvPr/>
        </p:nvSpPr>
        <p:spPr>
          <a:xfrm>
            <a:off x="7077456" y="4242816"/>
            <a:ext cx="4272991" cy="621792"/>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テナント飲食店の客単価と収益性が上がります。大きなセラーを持たない店でも高級ワインを扱えるため、区画の使い方の選択肢が広がります。</a:t>
            </a:r>
            <a:endParaRPr sz="980">
              <a:solidFill>
                <a:schemeClr val="dk1"/>
              </a:solidFill>
              <a:latin typeface="Calibri"/>
              <a:ea typeface="Calibri"/>
              <a:cs typeface="Calibri"/>
              <a:sym typeface="Calibri"/>
            </a:endParaRPr>
          </a:p>
        </p:txBody>
      </p:sp>
      <p:sp>
        <p:nvSpPr>
          <p:cNvPr id="681" name="Google Shape;681;p7"/>
          <p:cNvSpPr/>
          <p:nvPr/>
        </p:nvSpPr>
        <p:spPr>
          <a:xfrm>
            <a:off x="6803136" y="5212080"/>
            <a:ext cx="4821631" cy="914400"/>
          </a:xfrm>
          <a:prstGeom prst="roundRect">
            <a:avLst>
              <a:gd name="adj" fmla="val 5000"/>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7"/>
          <p:cNvSpPr/>
          <p:nvPr/>
        </p:nvSpPr>
        <p:spPr>
          <a:xfrm>
            <a:off x="7077456" y="5321808"/>
            <a:ext cx="4272991"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150"/>
              <a:buFont typeface="Arial"/>
              <a:buNone/>
            </a:pPr>
            <a:r>
              <a:rPr lang="en-US" sz="1150" b="1">
                <a:solidFill>
                  <a:srgbClr val="1A1A1A"/>
                </a:solidFill>
                <a:latin typeface="Arial"/>
                <a:ea typeface="Arial"/>
                <a:cs typeface="Arial"/>
                <a:sym typeface="Arial"/>
              </a:rPr>
              <a:t>共有セラー型との併用</a:t>
            </a:r>
            <a:endParaRPr sz="1150">
              <a:solidFill>
                <a:schemeClr val="dk1"/>
              </a:solidFill>
              <a:latin typeface="Calibri"/>
              <a:ea typeface="Calibri"/>
              <a:cs typeface="Calibri"/>
              <a:sym typeface="Calibri"/>
            </a:endParaRPr>
          </a:p>
        </p:txBody>
      </p:sp>
      <p:sp>
        <p:nvSpPr>
          <p:cNvPr id="683" name="Google Shape;683;p7"/>
          <p:cNvSpPr/>
          <p:nvPr/>
        </p:nvSpPr>
        <p:spPr>
          <a:xfrm>
            <a:off x="7077456" y="5559552"/>
            <a:ext cx="4272991" cy="475488"/>
          </a:xfrm>
          <a:prstGeom prst="rect">
            <a:avLst/>
          </a:prstGeom>
          <a:noFill/>
          <a:ln>
            <a:noFill/>
          </a:ln>
        </p:spPr>
        <p:txBody>
          <a:bodyPr spcFirstLastPara="1" wrap="square" lIns="0" tIns="0" rIns="0" bIns="0" anchor="ctr" anchorCtr="0">
            <a:noAutofit/>
          </a:bodyPr>
          <a:lstStyle/>
          <a:p>
            <a:pPr marL="0" marR="0" lvl="0" indent="0" algn="l" rtl="0">
              <a:lnSpc>
                <a:spcPct val="135416"/>
              </a:lnSpc>
              <a:spcBef>
                <a:spcPts val="0"/>
              </a:spcBef>
              <a:spcAft>
                <a:spcPts val="0"/>
              </a:spcAft>
              <a:buClr>
                <a:srgbClr val="6E7378"/>
              </a:buClr>
              <a:buSzPts val="960"/>
              <a:buFont typeface="Arial"/>
              <a:buNone/>
            </a:pPr>
            <a:r>
              <a:rPr lang="en-US" sz="960">
                <a:solidFill>
                  <a:srgbClr val="6E7378"/>
                </a:solidFill>
                <a:latin typeface="Arial"/>
                <a:ea typeface="Arial"/>
                <a:cs typeface="Arial"/>
                <a:sym typeface="Arial"/>
              </a:rPr>
              <a:t>定番は置きワインで店に置き、突発の一本はCloud Wine Caveから引く。この二段構えが実務上いちばん機能します。</a:t>
            </a:r>
            <a:endParaRPr sz="960">
              <a:solidFill>
                <a:schemeClr val="dk1"/>
              </a:solidFill>
              <a:latin typeface="Calibri"/>
              <a:ea typeface="Calibri"/>
              <a:cs typeface="Calibri"/>
              <a:sym typeface="Calibri"/>
            </a:endParaRPr>
          </a:p>
        </p:txBody>
      </p:sp>
      <p:grpSp>
        <p:nvGrpSpPr>
          <p:cNvPr id="684" name="Google Shape;684;p7"/>
          <p:cNvGrpSpPr/>
          <p:nvPr/>
        </p:nvGrpSpPr>
        <p:grpSpPr>
          <a:xfrm>
            <a:off x="234418" y="178130"/>
            <a:ext cx="930729" cy="795647"/>
            <a:chOff x="3241715" y="138545"/>
            <a:chExt cx="930729" cy="795647"/>
          </a:xfrm>
        </p:grpSpPr>
        <p:sp>
          <p:nvSpPr>
            <p:cNvPr id="685" name="Google Shape;685;p7"/>
            <p:cNvSpPr/>
            <p:nvPr/>
          </p:nvSpPr>
          <p:spPr>
            <a:xfrm>
              <a:off x="3309256" y="138545"/>
              <a:ext cx="795647" cy="795647"/>
            </a:xfrm>
            <a:prstGeom prst="ellipse">
              <a:avLst/>
            </a:prstGeom>
            <a:solidFill>
              <a:srgbClr val="C68A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6" name="Google Shape;686;p7"/>
            <p:cNvSpPr txBox="1"/>
            <p:nvPr/>
          </p:nvSpPr>
          <p:spPr>
            <a:xfrm>
              <a:off x="3241715" y="289428"/>
              <a:ext cx="930729" cy="53091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PROGRAM</a:t>
              </a:r>
              <a:endParaRPr/>
            </a:p>
            <a:p>
              <a:pPr marL="0" marR="0" lvl="0" indent="0" algn="ctr" rtl="0">
                <a:spcBef>
                  <a:spcPts val="0"/>
                </a:spcBef>
                <a:spcAft>
                  <a:spcPts val="0"/>
                </a:spcAft>
                <a:buClr>
                  <a:srgbClr val="FFFFFF"/>
                </a:buClr>
                <a:buSzPts val="2000"/>
                <a:buFont typeface="Arial"/>
                <a:buNone/>
              </a:pPr>
              <a:r>
                <a:rPr lang="en-US" sz="2000" b="1">
                  <a:solidFill>
                    <a:srgbClr val="FFFFFF"/>
                  </a:solidFill>
                  <a:latin typeface="Arial"/>
                  <a:ea typeface="Arial"/>
                  <a:cs typeface="Arial"/>
                  <a:sym typeface="Arial"/>
                </a:rPr>
                <a:t>01-B</a:t>
              </a:r>
              <a:endParaRPr sz="2000">
                <a:solidFill>
                  <a:schemeClr val="dk1"/>
                </a:solidFill>
                <a:latin typeface="Calibri"/>
                <a:ea typeface="Calibri"/>
                <a:cs typeface="Calibri"/>
                <a:sym typeface="Calibr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1"/>
        <p:cNvGrpSpPr/>
        <p:nvPr/>
      </p:nvGrpSpPr>
      <p:grpSpPr>
        <a:xfrm>
          <a:off x="0" y="0"/>
          <a:ext cx="0" cy="0"/>
          <a:chOff x="0" y="0"/>
          <a:chExt cx="0" cy="0"/>
        </a:xfrm>
      </p:grpSpPr>
      <p:pic>
        <p:nvPicPr>
          <p:cNvPr id="692" name="Google Shape;692;p8"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693" name="Google Shape;693;p8"/>
          <p:cNvSpPr/>
          <p:nvPr/>
        </p:nvSpPr>
        <p:spPr>
          <a:xfrm>
            <a:off x="1097606" y="585216"/>
            <a:ext cx="8979082"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Cloud Wine Cave for レジデンス居住者</a:t>
            </a:r>
            <a:endParaRPr sz="2300">
              <a:solidFill>
                <a:schemeClr val="dk1"/>
              </a:solidFill>
              <a:latin typeface="Calibri"/>
              <a:ea typeface="Calibri"/>
              <a:cs typeface="Calibri"/>
              <a:sym typeface="Calibri"/>
            </a:endParaRPr>
          </a:p>
        </p:txBody>
      </p:sp>
      <p:sp>
        <p:nvSpPr>
          <p:cNvPr id="694" name="Google Shape;694;p8"/>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同じ在庫をヒルズレジデンス居住者にも開放するご提案です。価格は飲食店向け卸値の1.1〜1.3倍を想定。開放の是非は森ビル様とご相談させてください。</a:t>
            </a:r>
            <a:endParaRPr sz="1150">
              <a:solidFill>
                <a:schemeClr val="dk1"/>
              </a:solidFill>
              <a:latin typeface="Calibri"/>
              <a:ea typeface="Calibri"/>
              <a:cs typeface="Calibri"/>
              <a:sym typeface="Calibri"/>
            </a:endParaRPr>
          </a:p>
        </p:txBody>
      </p:sp>
      <p:sp>
        <p:nvSpPr>
          <p:cNvPr id="695" name="Google Shape;695;p8"/>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8"/>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697" name="Google Shape;697;p8"/>
          <p:cNvSpPr/>
          <p:nvPr/>
        </p:nvSpPr>
        <p:spPr>
          <a:xfrm>
            <a:off x="566928" y="1463040"/>
            <a:ext cx="5577840" cy="2139696"/>
          </a:xfrm>
          <a:prstGeom prst="roundRect">
            <a:avLst>
              <a:gd name="adj" fmla="val 2137"/>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8"/>
          <p:cNvSpPr/>
          <p:nvPr/>
        </p:nvSpPr>
        <p:spPr>
          <a:xfrm>
            <a:off x="877824" y="1645920"/>
            <a:ext cx="49377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700"/>
              <a:buFont typeface="Arial"/>
              <a:buNone/>
            </a:pPr>
            <a:r>
              <a:rPr lang="en-US" sz="1700" b="1">
                <a:solidFill>
                  <a:srgbClr val="EFDCCE"/>
                </a:solidFill>
                <a:latin typeface="Arial"/>
                <a:ea typeface="Arial"/>
                <a:cs typeface="Arial"/>
                <a:sym typeface="Arial"/>
              </a:rPr>
              <a:t>価格設計：卸値 × 1.1〜1.3</a:t>
            </a:r>
            <a:endParaRPr sz="1700">
              <a:solidFill>
                <a:schemeClr val="dk1"/>
              </a:solidFill>
              <a:latin typeface="Calibri"/>
              <a:ea typeface="Calibri"/>
              <a:cs typeface="Calibri"/>
              <a:sym typeface="Calibri"/>
            </a:endParaRPr>
          </a:p>
        </p:txBody>
      </p:sp>
      <p:sp>
        <p:nvSpPr>
          <p:cNvPr id="699" name="Google Shape;699;p8"/>
          <p:cNvSpPr/>
          <p:nvPr/>
        </p:nvSpPr>
        <p:spPr>
          <a:xfrm>
            <a:off x="877824" y="2048256"/>
            <a:ext cx="4956048" cy="566928"/>
          </a:xfrm>
          <a:prstGeom prst="rect">
            <a:avLst/>
          </a:prstGeom>
          <a:noFill/>
          <a:ln>
            <a:noFill/>
          </a:ln>
        </p:spPr>
        <p:txBody>
          <a:bodyPr spcFirstLastPara="1" wrap="square" lIns="0" tIns="0" rIns="0" bIns="0" anchor="ctr" anchorCtr="0">
            <a:noAutofit/>
          </a:bodyPr>
          <a:lstStyle/>
          <a:p>
            <a:pPr marL="0" marR="0" lvl="0" indent="0" algn="l" rtl="0">
              <a:lnSpc>
                <a:spcPct val="142857"/>
              </a:lnSpc>
              <a:spcBef>
                <a:spcPts val="0"/>
              </a:spcBef>
              <a:spcAft>
                <a:spcPts val="0"/>
              </a:spcAft>
              <a:buClr>
                <a:srgbClr val="DDE1E4"/>
              </a:buClr>
              <a:buSzPts val="1050"/>
              <a:buFont typeface="Arial"/>
              <a:buNone/>
            </a:pPr>
            <a:r>
              <a:rPr lang="en-US" sz="1050">
                <a:solidFill>
                  <a:srgbClr val="DDE1E4"/>
                </a:solidFill>
                <a:latin typeface="Arial"/>
                <a:ea typeface="Arial"/>
                <a:cs typeface="Arial"/>
                <a:sym typeface="Arial"/>
              </a:rPr>
              <a:t>テナント飲食店向けの卸値に対し、居住者向けは1.1〜1.3倍。飲食店の仕入価格を必ず下回らせない設計とすることで、テナントとの価格逆転を防ぎます。</a:t>
            </a:r>
            <a:endParaRPr sz="1050">
              <a:solidFill>
                <a:schemeClr val="dk1"/>
              </a:solidFill>
              <a:latin typeface="Calibri"/>
              <a:ea typeface="Calibri"/>
              <a:cs typeface="Calibri"/>
              <a:sym typeface="Calibri"/>
            </a:endParaRPr>
          </a:p>
        </p:txBody>
      </p:sp>
      <p:sp>
        <p:nvSpPr>
          <p:cNvPr id="700" name="Google Shape;700;p8"/>
          <p:cNvSpPr/>
          <p:nvPr/>
        </p:nvSpPr>
        <p:spPr>
          <a:xfrm>
            <a:off x="877824" y="2706624"/>
            <a:ext cx="2468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960"/>
              <a:buFont typeface="Arial"/>
              <a:buNone/>
            </a:pPr>
            <a:r>
              <a:rPr lang="en-US" sz="960">
                <a:solidFill>
                  <a:srgbClr val="B9BEC2"/>
                </a:solidFill>
                <a:latin typeface="Arial"/>
                <a:ea typeface="Arial"/>
                <a:cs typeface="Arial"/>
                <a:sym typeface="Arial"/>
              </a:rPr>
              <a:t>テナント飲食店</a:t>
            </a:r>
            <a:endParaRPr sz="960">
              <a:solidFill>
                <a:schemeClr val="dk1"/>
              </a:solidFill>
              <a:latin typeface="Calibri"/>
              <a:ea typeface="Calibri"/>
              <a:cs typeface="Calibri"/>
              <a:sym typeface="Calibri"/>
            </a:endParaRPr>
          </a:p>
        </p:txBody>
      </p:sp>
      <p:sp>
        <p:nvSpPr>
          <p:cNvPr id="701" name="Google Shape;701;p8"/>
          <p:cNvSpPr/>
          <p:nvPr/>
        </p:nvSpPr>
        <p:spPr>
          <a:xfrm>
            <a:off x="3401568" y="2706624"/>
            <a:ext cx="2432304"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60"/>
              <a:buFont typeface="Arial"/>
              <a:buNone/>
            </a:pPr>
            <a:r>
              <a:rPr lang="en-US" sz="960" b="1">
                <a:solidFill>
                  <a:srgbClr val="FFFFFF"/>
                </a:solidFill>
                <a:latin typeface="Arial"/>
                <a:ea typeface="Arial"/>
                <a:cs typeface="Arial"/>
                <a:sym typeface="Arial"/>
              </a:rPr>
              <a:t>卸値</a:t>
            </a:r>
            <a:endParaRPr sz="960">
              <a:solidFill>
                <a:schemeClr val="dk1"/>
              </a:solidFill>
              <a:latin typeface="Calibri"/>
              <a:ea typeface="Calibri"/>
              <a:cs typeface="Calibri"/>
              <a:sym typeface="Calibri"/>
            </a:endParaRPr>
          </a:p>
        </p:txBody>
      </p:sp>
      <p:sp>
        <p:nvSpPr>
          <p:cNvPr id="702" name="Google Shape;702;p8"/>
          <p:cNvSpPr/>
          <p:nvPr/>
        </p:nvSpPr>
        <p:spPr>
          <a:xfrm>
            <a:off x="877824" y="2926080"/>
            <a:ext cx="2468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960"/>
              <a:buFont typeface="Arial"/>
              <a:buNone/>
            </a:pPr>
            <a:r>
              <a:rPr lang="en-US" sz="960">
                <a:solidFill>
                  <a:srgbClr val="B9BEC2"/>
                </a:solidFill>
                <a:latin typeface="Arial"/>
                <a:ea typeface="Arial"/>
                <a:cs typeface="Arial"/>
                <a:sym typeface="Arial"/>
              </a:rPr>
              <a:t>レジデンス居住者</a:t>
            </a:r>
            <a:endParaRPr sz="960">
              <a:solidFill>
                <a:schemeClr val="dk1"/>
              </a:solidFill>
              <a:latin typeface="Calibri"/>
              <a:ea typeface="Calibri"/>
              <a:cs typeface="Calibri"/>
              <a:sym typeface="Calibri"/>
            </a:endParaRPr>
          </a:p>
        </p:txBody>
      </p:sp>
      <p:sp>
        <p:nvSpPr>
          <p:cNvPr id="703" name="Google Shape;703;p8"/>
          <p:cNvSpPr/>
          <p:nvPr/>
        </p:nvSpPr>
        <p:spPr>
          <a:xfrm>
            <a:off x="3401568" y="2926080"/>
            <a:ext cx="2432304"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960"/>
              <a:buFont typeface="Arial"/>
              <a:buNone/>
            </a:pPr>
            <a:r>
              <a:rPr lang="en-US" sz="960" b="1">
                <a:solidFill>
                  <a:srgbClr val="C68A65"/>
                </a:solidFill>
                <a:latin typeface="Arial"/>
                <a:ea typeface="Arial"/>
                <a:cs typeface="Arial"/>
                <a:sym typeface="Arial"/>
              </a:rPr>
              <a:t>卸値 × 1.1〜1.3</a:t>
            </a:r>
            <a:endParaRPr sz="960">
              <a:solidFill>
                <a:schemeClr val="dk1"/>
              </a:solidFill>
              <a:latin typeface="Calibri"/>
              <a:ea typeface="Calibri"/>
              <a:cs typeface="Calibri"/>
              <a:sym typeface="Calibri"/>
            </a:endParaRPr>
          </a:p>
        </p:txBody>
      </p:sp>
      <p:sp>
        <p:nvSpPr>
          <p:cNvPr id="704" name="Google Shape;704;p8"/>
          <p:cNvSpPr/>
          <p:nvPr/>
        </p:nvSpPr>
        <p:spPr>
          <a:xfrm>
            <a:off x="877824" y="3145536"/>
            <a:ext cx="2468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960"/>
              <a:buFont typeface="Arial"/>
              <a:buNone/>
            </a:pPr>
            <a:r>
              <a:rPr lang="en-US" sz="960">
                <a:solidFill>
                  <a:srgbClr val="B9BEC2"/>
                </a:solidFill>
                <a:latin typeface="Arial"/>
                <a:ea typeface="Arial"/>
                <a:cs typeface="Arial"/>
                <a:sym typeface="Arial"/>
              </a:rPr>
              <a:t>一般のネット最安値</a:t>
            </a:r>
            <a:endParaRPr sz="960">
              <a:solidFill>
                <a:schemeClr val="dk1"/>
              </a:solidFill>
              <a:latin typeface="Calibri"/>
              <a:ea typeface="Calibri"/>
              <a:cs typeface="Calibri"/>
              <a:sym typeface="Calibri"/>
            </a:endParaRPr>
          </a:p>
        </p:txBody>
      </p:sp>
      <p:sp>
        <p:nvSpPr>
          <p:cNvPr id="705" name="Google Shape;705;p8"/>
          <p:cNvSpPr/>
          <p:nvPr/>
        </p:nvSpPr>
        <p:spPr>
          <a:xfrm>
            <a:off x="3401568" y="3145536"/>
            <a:ext cx="2432304"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60"/>
              <a:buFont typeface="Arial"/>
              <a:buNone/>
            </a:pPr>
            <a:r>
              <a:rPr lang="en-US" sz="960" b="1">
                <a:solidFill>
                  <a:srgbClr val="FFFFFF"/>
                </a:solidFill>
                <a:latin typeface="Arial"/>
                <a:ea typeface="Arial"/>
                <a:cs typeface="Arial"/>
                <a:sym typeface="Arial"/>
              </a:rPr>
              <a:t>これを下回る水準</a:t>
            </a:r>
            <a:endParaRPr sz="960">
              <a:solidFill>
                <a:schemeClr val="dk1"/>
              </a:solidFill>
              <a:latin typeface="Calibri"/>
              <a:ea typeface="Calibri"/>
              <a:cs typeface="Calibri"/>
              <a:sym typeface="Calibri"/>
            </a:endParaRPr>
          </a:p>
        </p:txBody>
      </p:sp>
      <p:sp>
        <p:nvSpPr>
          <p:cNvPr id="706" name="Google Shape;706;p8"/>
          <p:cNvSpPr/>
          <p:nvPr/>
        </p:nvSpPr>
        <p:spPr>
          <a:xfrm>
            <a:off x="877824" y="3364992"/>
            <a:ext cx="246888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960"/>
              <a:buFont typeface="Arial"/>
              <a:buNone/>
            </a:pPr>
            <a:r>
              <a:rPr lang="en-US" sz="960">
                <a:solidFill>
                  <a:srgbClr val="B9BEC2"/>
                </a:solidFill>
                <a:latin typeface="Arial"/>
                <a:ea typeface="Arial"/>
                <a:cs typeface="Arial"/>
                <a:sym typeface="Arial"/>
              </a:rPr>
              <a:t>レストラン店頭価格</a:t>
            </a:r>
            <a:endParaRPr sz="960">
              <a:solidFill>
                <a:schemeClr val="dk1"/>
              </a:solidFill>
              <a:latin typeface="Calibri"/>
              <a:ea typeface="Calibri"/>
              <a:cs typeface="Calibri"/>
              <a:sym typeface="Calibri"/>
            </a:endParaRPr>
          </a:p>
        </p:txBody>
      </p:sp>
      <p:sp>
        <p:nvSpPr>
          <p:cNvPr id="707" name="Google Shape;707;p8"/>
          <p:cNvSpPr/>
          <p:nvPr/>
        </p:nvSpPr>
        <p:spPr>
          <a:xfrm>
            <a:off x="3401568" y="3364992"/>
            <a:ext cx="2432304"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960"/>
              <a:buFont typeface="Arial"/>
              <a:buNone/>
            </a:pPr>
            <a:r>
              <a:rPr lang="en-US" sz="960" b="1">
                <a:solidFill>
                  <a:srgbClr val="FFFFFF"/>
                </a:solidFill>
                <a:latin typeface="Arial"/>
                <a:ea typeface="Arial"/>
                <a:cs typeface="Arial"/>
                <a:sym typeface="Arial"/>
              </a:rPr>
              <a:t>市価の2〜3倍</a:t>
            </a:r>
            <a:endParaRPr sz="960">
              <a:solidFill>
                <a:schemeClr val="dk1"/>
              </a:solidFill>
              <a:latin typeface="Calibri"/>
              <a:ea typeface="Calibri"/>
              <a:cs typeface="Calibri"/>
              <a:sym typeface="Calibri"/>
            </a:endParaRPr>
          </a:p>
        </p:txBody>
      </p:sp>
      <p:sp>
        <p:nvSpPr>
          <p:cNvPr id="708" name="Google Shape;708;p8"/>
          <p:cNvSpPr/>
          <p:nvPr/>
        </p:nvSpPr>
        <p:spPr>
          <a:xfrm>
            <a:off x="6455664" y="1463040"/>
            <a:ext cx="5169103" cy="1005840"/>
          </a:xfrm>
          <a:prstGeom prst="roundRect">
            <a:avLst>
              <a:gd name="adj" fmla="val 4545"/>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8"/>
          <p:cNvSpPr/>
          <p:nvPr/>
        </p:nvSpPr>
        <p:spPr>
          <a:xfrm>
            <a:off x="6729984" y="1554480"/>
            <a:ext cx="4620463"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50"/>
              <a:buFont typeface="Arial"/>
              <a:buNone/>
            </a:pPr>
            <a:r>
              <a:rPr lang="en-US" sz="1250" b="1">
                <a:solidFill>
                  <a:srgbClr val="1A1A1A"/>
                </a:solidFill>
                <a:latin typeface="Arial"/>
                <a:ea typeface="Arial"/>
                <a:cs typeface="Arial"/>
                <a:sym typeface="Arial"/>
              </a:rPr>
              <a:t>開放するメリット</a:t>
            </a:r>
            <a:endParaRPr sz="1250">
              <a:solidFill>
                <a:schemeClr val="dk1"/>
              </a:solidFill>
              <a:latin typeface="Calibri"/>
              <a:ea typeface="Calibri"/>
              <a:cs typeface="Calibri"/>
              <a:sym typeface="Calibri"/>
            </a:endParaRPr>
          </a:p>
        </p:txBody>
      </p:sp>
      <p:sp>
        <p:nvSpPr>
          <p:cNvPr id="710" name="Google Shape;710;p8"/>
          <p:cNvSpPr/>
          <p:nvPr/>
        </p:nvSpPr>
        <p:spPr>
          <a:xfrm>
            <a:off x="6729984" y="1810512"/>
            <a:ext cx="4620463" cy="566928"/>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居住者は市中よりはるかに有利な価格で正規品を購入でき、レジデンスの付加価値が明確になる。単価・頻度ともに高く、街区内の流通額を押し上げる。</a:t>
            </a:r>
            <a:endParaRPr sz="1000">
              <a:solidFill>
                <a:schemeClr val="dk1"/>
              </a:solidFill>
              <a:latin typeface="Calibri"/>
              <a:ea typeface="Calibri"/>
              <a:cs typeface="Calibri"/>
              <a:sym typeface="Calibri"/>
            </a:endParaRPr>
          </a:p>
        </p:txBody>
      </p:sp>
      <p:sp>
        <p:nvSpPr>
          <p:cNvPr id="711" name="Google Shape;711;p8"/>
          <p:cNvSpPr/>
          <p:nvPr/>
        </p:nvSpPr>
        <p:spPr>
          <a:xfrm>
            <a:off x="6455664" y="2596896"/>
            <a:ext cx="5169103" cy="1005840"/>
          </a:xfrm>
          <a:prstGeom prst="roundRect">
            <a:avLst>
              <a:gd name="adj" fmla="val 4545"/>
            </a:avLst>
          </a:prstGeom>
          <a:solidFill>
            <a:srgbClr val="FFFFFF"/>
          </a:solidFill>
          <a:ln w="12700" cap="flat" cmpd="sng">
            <a:solidFill>
              <a:srgbClr val="C68A6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8"/>
          <p:cNvSpPr/>
          <p:nvPr/>
        </p:nvSpPr>
        <p:spPr>
          <a:xfrm>
            <a:off x="6729984" y="2688336"/>
            <a:ext cx="4620463"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250"/>
              <a:buFont typeface="Arial"/>
              <a:buNone/>
            </a:pPr>
            <a:r>
              <a:rPr lang="en-US" sz="1250" b="1">
                <a:solidFill>
                  <a:srgbClr val="A06D4C"/>
                </a:solidFill>
                <a:latin typeface="Arial"/>
                <a:ea typeface="Arial"/>
                <a:cs typeface="Arial"/>
                <a:sym typeface="Arial"/>
              </a:rPr>
              <a:t>留意すべき点</a:t>
            </a:r>
            <a:endParaRPr sz="1250">
              <a:solidFill>
                <a:schemeClr val="dk1"/>
              </a:solidFill>
              <a:latin typeface="Calibri"/>
              <a:ea typeface="Calibri"/>
              <a:cs typeface="Calibri"/>
              <a:sym typeface="Calibri"/>
            </a:endParaRPr>
          </a:p>
        </p:txBody>
      </p:sp>
      <p:sp>
        <p:nvSpPr>
          <p:cNvPr id="713" name="Google Shape;713;p8"/>
          <p:cNvSpPr/>
          <p:nvPr/>
        </p:nvSpPr>
        <p:spPr>
          <a:xfrm>
            <a:off x="6729984" y="2944368"/>
            <a:ext cx="4620463" cy="566928"/>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Clr>
                <a:srgbClr val="1A1A1A"/>
              </a:buClr>
              <a:buSzPts val="1000"/>
              <a:buFont typeface="Arial"/>
              <a:buNone/>
            </a:pPr>
            <a:r>
              <a:rPr lang="en-US" sz="1000">
                <a:solidFill>
                  <a:srgbClr val="1A1A1A"/>
                </a:solidFill>
                <a:latin typeface="Arial"/>
                <a:ea typeface="Arial"/>
                <a:cs typeface="Arial"/>
                <a:sym typeface="Arial"/>
              </a:rPr>
              <a:t>テナント飲食店から見た「客が安く買えてしまう」感覚への配慮。および一般消費者向け販売としての数量・提供方法の設計。</a:t>
            </a:r>
            <a:endParaRPr sz="1000">
              <a:solidFill>
                <a:schemeClr val="dk1"/>
              </a:solidFill>
              <a:latin typeface="Calibri"/>
              <a:ea typeface="Calibri"/>
              <a:cs typeface="Calibri"/>
              <a:sym typeface="Calibri"/>
            </a:endParaRPr>
          </a:p>
        </p:txBody>
      </p:sp>
      <p:sp>
        <p:nvSpPr>
          <p:cNvPr id="714" name="Google Shape;714;p8"/>
          <p:cNvSpPr/>
          <p:nvPr/>
        </p:nvSpPr>
        <p:spPr>
          <a:xfrm>
            <a:off x="566928" y="3803904"/>
            <a:ext cx="11057839" cy="475488"/>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8"/>
          <p:cNvSpPr/>
          <p:nvPr/>
        </p:nvSpPr>
        <p:spPr>
          <a:xfrm>
            <a:off x="566928" y="3803904"/>
            <a:ext cx="11057839" cy="47548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Arial"/>
              <a:buNone/>
            </a:pPr>
            <a:r>
              <a:rPr lang="en-US" sz="1300" b="1">
                <a:solidFill>
                  <a:srgbClr val="FFFFFF"/>
                </a:solidFill>
                <a:latin typeface="Arial"/>
                <a:ea typeface="Arial"/>
                <a:cs typeface="Arial"/>
                <a:sym typeface="Arial"/>
              </a:rPr>
              <a:t>当社のご提案：まずはWineBank CLUB会員となった居住者に限定して開放し、テナントへの影響を検証したうえで拡大する。</a:t>
            </a:r>
            <a:endParaRPr sz="1300">
              <a:solidFill>
                <a:schemeClr val="dk1"/>
              </a:solidFill>
              <a:latin typeface="Calibri"/>
              <a:ea typeface="Calibri"/>
              <a:cs typeface="Calibri"/>
              <a:sym typeface="Calibri"/>
            </a:endParaRPr>
          </a:p>
        </p:txBody>
      </p:sp>
      <p:sp>
        <p:nvSpPr>
          <p:cNvPr id="716" name="Google Shape;716;p8"/>
          <p:cNvSpPr/>
          <p:nvPr/>
        </p:nvSpPr>
        <p:spPr>
          <a:xfrm>
            <a:off x="566928" y="4517136"/>
            <a:ext cx="36576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400"/>
              <a:buFont typeface="Arial"/>
              <a:buNone/>
            </a:pPr>
            <a:r>
              <a:rPr lang="en-US" sz="1400" b="1">
                <a:solidFill>
                  <a:srgbClr val="1A1A1A"/>
                </a:solidFill>
                <a:latin typeface="Arial"/>
                <a:ea typeface="Arial"/>
                <a:cs typeface="Arial"/>
                <a:sym typeface="Arial"/>
              </a:rPr>
              <a:t>段階開放の設計（案）</a:t>
            </a:r>
            <a:endParaRPr sz="1400">
              <a:solidFill>
                <a:schemeClr val="dk1"/>
              </a:solidFill>
              <a:latin typeface="Calibri"/>
              <a:ea typeface="Calibri"/>
              <a:cs typeface="Calibri"/>
              <a:sym typeface="Calibri"/>
            </a:endParaRPr>
          </a:p>
        </p:txBody>
      </p:sp>
      <p:sp>
        <p:nvSpPr>
          <p:cNvPr id="717" name="Google Shape;717;p8"/>
          <p:cNvSpPr/>
          <p:nvPr/>
        </p:nvSpPr>
        <p:spPr>
          <a:xfrm>
            <a:off x="566928" y="4846320"/>
            <a:ext cx="3503066" cy="1243584"/>
          </a:xfrm>
          <a:prstGeom prst="roundRect">
            <a:avLst>
              <a:gd name="adj" fmla="val 367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8"/>
          <p:cNvSpPr/>
          <p:nvPr/>
        </p:nvSpPr>
        <p:spPr>
          <a:xfrm>
            <a:off x="822960" y="4956048"/>
            <a:ext cx="299100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Calibri"/>
              <a:buNone/>
            </a:pPr>
            <a:r>
              <a:rPr lang="en-US" sz="1000" b="1">
                <a:solidFill>
                  <a:srgbClr val="C68A65"/>
                </a:solidFill>
                <a:latin typeface="Calibri"/>
                <a:ea typeface="Calibri"/>
                <a:cs typeface="Calibri"/>
                <a:sym typeface="Calibri"/>
              </a:rPr>
              <a:t>STEP 1</a:t>
            </a:r>
            <a:endParaRPr sz="1000">
              <a:solidFill>
                <a:schemeClr val="dk1"/>
              </a:solidFill>
              <a:latin typeface="Calibri"/>
              <a:ea typeface="Calibri"/>
              <a:cs typeface="Calibri"/>
              <a:sym typeface="Calibri"/>
            </a:endParaRPr>
          </a:p>
        </p:txBody>
      </p:sp>
      <p:sp>
        <p:nvSpPr>
          <p:cNvPr id="719" name="Google Shape;719;p8"/>
          <p:cNvSpPr/>
          <p:nvPr/>
        </p:nvSpPr>
        <p:spPr>
          <a:xfrm>
            <a:off x="822960" y="5193792"/>
            <a:ext cx="299100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CLUB会員限定</a:t>
            </a:r>
            <a:endParaRPr sz="1300">
              <a:solidFill>
                <a:schemeClr val="dk1"/>
              </a:solidFill>
              <a:latin typeface="Calibri"/>
              <a:ea typeface="Calibri"/>
              <a:cs typeface="Calibri"/>
              <a:sym typeface="Calibri"/>
            </a:endParaRPr>
          </a:p>
        </p:txBody>
      </p:sp>
      <p:sp>
        <p:nvSpPr>
          <p:cNvPr id="720" name="Google Shape;720;p8"/>
          <p:cNvSpPr/>
          <p:nvPr/>
        </p:nvSpPr>
        <p:spPr>
          <a:xfrm>
            <a:off x="822960" y="5468112"/>
            <a:ext cx="2991002" cy="512064"/>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会員となった居住者のみ。コンシェルジュ経由の注文に限定し、数量上限を設ける。</a:t>
            </a:r>
            <a:endParaRPr sz="940">
              <a:solidFill>
                <a:schemeClr val="dk1"/>
              </a:solidFill>
              <a:latin typeface="Calibri"/>
              <a:ea typeface="Calibri"/>
              <a:cs typeface="Calibri"/>
              <a:sym typeface="Calibri"/>
            </a:endParaRPr>
          </a:p>
        </p:txBody>
      </p:sp>
      <p:sp>
        <p:nvSpPr>
          <p:cNvPr id="721" name="Google Shape;721;p8"/>
          <p:cNvSpPr/>
          <p:nvPr/>
        </p:nvSpPr>
        <p:spPr>
          <a:xfrm>
            <a:off x="4344314" y="4846320"/>
            <a:ext cx="3503066" cy="1243584"/>
          </a:xfrm>
          <a:prstGeom prst="roundRect">
            <a:avLst>
              <a:gd name="adj" fmla="val 367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8"/>
          <p:cNvSpPr/>
          <p:nvPr/>
        </p:nvSpPr>
        <p:spPr>
          <a:xfrm>
            <a:off x="4600346" y="4956048"/>
            <a:ext cx="299100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Calibri"/>
              <a:buNone/>
            </a:pPr>
            <a:r>
              <a:rPr lang="en-US" sz="1000" b="1">
                <a:solidFill>
                  <a:srgbClr val="C68A65"/>
                </a:solidFill>
                <a:latin typeface="Calibri"/>
                <a:ea typeface="Calibri"/>
                <a:cs typeface="Calibri"/>
                <a:sym typeface="Calibri"/>
              </a:rPr>
              <a:t>STEP 2</a:t>
            </a:r>
            <a:endParaRPr sz="1000">
              <a:solidFill>
                <a:schemeClr val="dk1"/>
              </a:solidFill>
              <a:latin typeface="Calibri"/>
              <a:ea typeface="Calibri"/>
              <a:cs typeface="Calibri"/>
              <a:sym typeface="Calibri"/>
            </a:endParaRPr>
          </a:p>
        </p:txBody>
      </p:sp>
      <p:sp>
        <p:nvSpPr>
          <p:cNvPr id="723" name="Google Shape;723;p8"/>
          <p:cNvSpPr/>
          <p:nvPr/>
        </p:nvSpPr>
        <p:spPr>
          <a:xfrm>
            <a:off x="4600346" y="5193792"/>
            <a:ext cx="299100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全居住者へ</a:t>
            </a:r>
            <a:endParaRPr sz="1300">
              <a:solidFill>
                <a:schemeClr val="dk1"/>
              </a:solidFill>
              <a:latin typeface="Calibri"/>
              <a:ea typeface="Calibri"/>
              <a:cs typeface="Calibri"/>
              <a:sym typeface="Calibri"/>
            </a:endParaRPr>
          </a:p>
        </p:txBody>
      </p:sp>
      <p:sp>
        <p:nvSpPr>
          <p:cNvPr id="724" name="Google Shape;724;p8"/>
          <p:cNvSpPr/>
          <p:nvPr/>
        </p:nvSpPr>
        <p:spPr>
          <a:xfrm>
            <a:off x="4600346" y="5468112"/>
            <a:ext cx="2991002" cy="512064"/>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テナント飲食店への影響を検証したうえで、レジデンス全体へ案内を拡大。</a:t>
            </a:r>
            <a:endParaRPr sz="940">
              <a:solidFill>
                <a:schemeClr val="dk1"/>
              </a:solidFill>
              <a:latin typeface="Calibri"/>
              <a:ea typeface="Calibri"/>
              <a:cs typeface="Calibri"/>
              <a:sym typeface="Calibri"/>
            </a:endParaRPr>
          </a:p>
        </p:txBody>
      </p:sp>
      <p:sp>
        <p:nvSpPr>
          <p:cNvPr id="725" name="Google Shape;725;p8"/>
          <p:cNvSpPr/>
          <p:nvPr/>
        </p:nvSpPr>
        <p:spPr>
          <a:xfrm>
            <a:off x="8121701" y="4846320"/>
            <a:ext cx="3503066" cy="1243584"/>
          </a:xfrm>
          <a:prstGeom prst="roundRect">
            <a:avLst>
              <a:gd name="adj" fmla="val 367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8"/>
          <p:cNvSpPr/>
          <p:nvPr/>
        </p:nvSpPr>
        <p:spPr>
          <a:xfrm>
            <a:off x="8377733" y="4956048"/>
            <a:ext cx="2991002"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00"/>
              <a:buFont typeface="Calibri"/>
              <a:buNone/>
            </a:pPr>
            <a:r>
              <a:rPr lang="en-US" sz="1000" b="1">
                <a:solidFill>
                  <a:srgbClr val="C68A65"/>
                </a:solidFill>
                <a:latin typeface="Calibri"/>
                <a:ea typeface="Calibri"/>
                <a:cs typeface="Calibri"/>
                <a:sym typeface="Calibri"/>
              </a:rPr>
              <a:t>STEP 3</a:t>
            </a:r>
            <a:endParaRPr sz="1000">
              <a:solidFill>
                <a:schemeClr val="dk1"/>
              </a:solidFill>
              <a:latin typeface="Calibri"/>
              <a:ea typeface="Calibri"/>
              <a:cs typeface="Calibri"/>
              <a:sym typeface="Calibri"/>
            </a:endParaRPr>
          </a:p>
        </p:txBody>
      </p:sp>
      <p:sp>
        <p:nvSpPr>
          <p:cNvPr id="727" name="Google Shape;727;p8"/>
          <p:cNvSpPr/>
          <p:nvPr/>
        </p:nvSpPr>
        <p:spPr>
          <a:xfrm>
            <a:off x="8377733" y="5193792"/>
            <a:ext cx="2991002"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贈答・催事へ</a:t>
            </a:r>
            <a:endParaRPr sz="1300">
              <a:solidFill>
                <a:schemeClr val="dk1"/>
              </a:solidFill>
              <a:latin typeface="Calibri"/>
              <a:ea typeface="Calibri"/>
              <a:cs typeface="Calibri"/>
              <a:sym typeface="Calibri"/>
            </a:endParaRPr>
          </a:p>
        </p:txBody>
      </p:sp>
      <p:sp>
        <p:nvSpPr>
          <p:cNvPr id="728" name="Google Shape;728;p8"/>
          <p:cNvSpPr/>
          <p:nvPr/>
        </p:nvSpPr>
        <p:spPr>
          <a:xfrm>
            <a:off x="8377733" y="5468112"/>
            <a:ext cx="2991002" cy="512064"/>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お中元・お歳暮、ホームパーティ、館内イベント向けの一括手配まで拡張。</a:t>
            </a:r>
            <a:endParaRPr sz="940">
              <a:solidFill>
                <a:schemeClr val="dk1"/>
              </a:solidFill>
              <a:latin typeface="Calibri"/>
              <a:ea typeface="Calibri"/>
              <a:cs typeface="Calibri"/>
              <a:sym typeface="Calibri"/>
            </a:endParaRPr>
          </a:p>
        </p:txBody>
      </p:sp>
      <p:grpSp>
        <p:nvGrpSpPr>
          <p:cNvPr id="729" name="Google Shape;729;p8"/>
          <p:cNvGrpSpPr/>
          <p:nvPr/>
        </p:nvGrpSpPr>
        <p:grpSpPr>
          <a:xfrm>
            <a:off x="234418" y="178130"/>
            <a:ext cx="930729" cy="795647"/>
            <a:chOff x="3241715" y="138545"/>
            <a:chExt cx="930729" cy="795647"/>
          </a:xfrm>
        </p:grpSpPr>
        <p:sp>
          <p:nvSpPr>
            <p:cNvPr id="730" name="Google Shape;730;p8"/>
            <p:cNvSpPr/>
            <p:nvPr/>
          </p:nvSpPr>
          <p:spPr>
            <a:xfrm>
              <a:off x="3309256" y="138545"/>
              <a:ext cx="795647" cy="795647"/>
            </a:xfrm>
            <a:prstGeom prst="ellipse">
              <a:avLst/>
            </a:prstGeom>
            <a:solidFill>
              <a:srgbClr val="C68A6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1" name="Google Shape;731;p8"/>
            <p:cNvSpPr txBox="1"/>
            <p:nvPr/>
          </p:nvSpPr>
          <p:spPr>
            <a:xfrm>
              <a:off x="3241715" y="289428"/>
              <a:ext cx="930729" cy="53091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PROGRAM</a:t>
              </a:r>
              <a:endParaRPr/>
            </a:p>
            <a:p>
              <a:pPr marL="0" marR="0" lvl="0" indent="0" algn="ctr" rtl="0">
                <a:spcBef>
                  <a:spcPts val="0"/>
                </a:spcBef>
                <a:spcAft>
                  <a:spcPts val="0"/>
                </a:spcAft>
                <a:buClr>
                  <a:srgbClr val="FFFFFF"/>
                </a:buClr>
                <a:buSzPts val="2000"/>
                <a:buFont typeface="Arial"/>
                <a:buNone/>
              </a:pPr>
              <a:r>
                <a:rPr lang="en-US" sz="2000" b="1">
                  <a:solidFill>
                    <a:srgbClr val="FFFFFF"/>
                  </a:solidFill>
                  <a:latin typeface="Arial"/>
                  <a:ea typeface="Arial"/>
                  <a:cs typeface="Arial"/>
                  <a:sym typeface="Arial"/>
                </a:rPr>
                <a:t>01-C</a:t>
              </a:r>
              <a:endParaRPr sz="2000">
                <a:solidFill>
                  <a:schemeClr val="dk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36"/>
        <p:cNvGrpSpPr/>
        <p:nvPr/>
      </p:nvGrpSpPr>
      <p:grpSpPr>
        <a:xfrm>
          <a:off x="0" y="0"/>
          <a:ext cx="0" cy="0"/>
          <a:chOff x="0" y="0"/>
          <a:chExt cx="0" cy="0"/>
        </a:xfrm>
      </p:grpSpPr>
      <p:pic>
        <p:nvPicPr>
          <p:cNvPr id="737" name="Google Shape;737;p10"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738" name="Google Shape;738;p10"/>
          <p:cNvSpPr/>
          <p:nvPr/>
        </p:nvSpPr>
        <p:spPr>
          <a:xfrm>
            <a:off x="1173806" y="585216"/>
            <a:ext cx="8979000" cy="420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WineBank CLUB</a:t>
            </a:r>
            <a:endParaRPr sz="2300">
              <a:solidFill>
                <a:schemeClr val="dk1"/>
              </a:solidFill>
              <a:latin typeface="Calibri"/>
              <a:ea typeface="Calibri"/>
              <a:cs typeface="Calibri"/>
              <a:sym typeface="Calibri"/>
            </a:endParaRPr>
          </a:p>
        </p:txBody>
      </p:sp>
      <p:sp>
        <p:nvSpPr>
          <p:cNvPr id="739" name="Google Shape;739;p10"/>
          <p:cNvSpPr/>
          <p:nvPr/>
        </p:nvSpPr>
        <p:spPr>
          <a:xfrm>
            <a:off x="1176525" y="1024125"/>
            <a:ext cx="9204600" cy="310800"/>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2025年7月に開始した月額制のメンバーシップクラブです。</a:t>
            </a:r>
            <a:endParaRPr sz="1150">
              <a:solidFill>
                <a:schemeClr val="dk1"/>
              </a:solidFill>
              <a:latin typeface="Calibri"/>
              <a:ea typeface="Calibri"/>
              <a:cs typeface="Calibri"/>
              <a:sym typeface="Calibri"/>
            </a:endParaRPr>
          </a:p>
        </p:txBody>
      </p:sp>
      <p:sp>
        <p:nvSpPr>
          <p:cNvPr id="740" name="Google Shape;740;p10"/>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0"/>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742" name="Google Shape;742;p10"/>
          <p:cNvSpPr/>
          <p:nvPr/>
        </p:nvSpPr>
        <p:spPr>
          <a:xfrm>
            <a:off x="566925" y="1527500"/>
            <a:ext cx="6729900" cy="4745400"/>
          </a:xfrm>
          <a:prstGeom prst="roundRect">
            <a:avLst>
              <a:gd name="adj" fmla="val 0"/>
            </a:avLst>
          </a:prstGeom>
          <a:solidFill>
            <a:srgbClr val="F6F6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0"/>
          <p:cNvSpPr/>
          <p:nvPr/>
        </p:nvSpPr>
        <p:spPr>
          <a:xfrm>
            <a:off x="877824" y="1708320"/>
            <a:ext cx="6217800" cy="292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600"/>
              <a:buFont typeface="Arial"/>
              <a:buNone/>
            </a:pPr>
            <a:r>
              <a:rPr lang="en-US" sz="1600" b="1" u="sng">
                <a:solidFill>
                  <a:srgbClr val="1A1A1A"/>
                </a:solidFill>
                <a:latin typeface="Arial"/>
                <a:ea typeface="Arial"/>
                <a:cs typeface="Arial"/>
                <a:sym typeface="Arial"/>
              </a:rPr>
              <a:t>現行の会員特典</a:t>
            </a:r>
            <a:endParaRPr sz="1600" u="sng">
              <a:solidFill>
                <a:schemeClr val="dk1"/>
              </a:solidFill>
              <a:latin typeface="Calibri"/>
              <a:ea typeface="Calibri"/>
              <a:cs typeface="Calibri"/>
              <a:sym typeface="Calibri"/>
            </a:endParaRPr>
          </a:p>
        </p:txBody>
      </p:sp>
      <p:sp>
        <p:nvSpPr>
          <p:cNvPr id="744" name="Google Shape;744;p10"/>
          <p:cNvSpPr/>
          <p:nvPr/>
        </p:nvSpPr>
        <p:spPr>
          <a:xfrm>
            <a:off x="896112" y="2241720"/>
            <a:ext cx="274200" cy="2742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0"/>
          <p:cNvSpPr/>
          <p:nvPr/>
        </p:nvSpPr>
        <p:spPr>
          <a:xfrm>
            <a:off x="896112" y="2241720"/>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46" name="Google Shape;746;p10"/>
          <p:cNvSpPr/>
          <p:nvPr/>
        </p:nvSpPr>
        <p:spPr>
          <a:xfrm>
            <a:off x="1298448" y="2205144"/>
            <a:ext cx="58521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00"/>
              <a:buFont typeface="Arial"/>
              <a:buNone/>
            </a:pPr>
            <a:r>
              <a:rPr lang="en-US" b="1">
                <a:solidFill>
                  <a:srgbClr val="1A1A1A"/>
                </a:solidFill>
                <a:latin typeface="Arial"/>
                <a:ea typeface="Arial"/>
                <a:cs typeface="Arial"/>
                <a:sym typeface="Arial"/>
              </a:rPr>
              <a:t>レストランでワインが約半額（提携</a:t>
            </a:r>
            <a:r>
              <a:rPr lang="en-US" b="1">
                <a:solidFill>
                  <a:srgbClr val="1A1A1A"/>
                </a:solidFill>
              </a:rPr>
              <a:t>7店舗）</a:t>
            </a:r>
            <a:endParaRPr>
              <a:solidFill>
                <a:schemeClr val="dk1"/>
              </a:solidFill>
              <a:latin typeface="Calibri"/>
              <a:ea typeface="Calibri"/>
              <a:cs typeface="Calibri"/>
              <a:sym typeface="Calibri"/>
            </a:endParaRPr>
          </a:p>
        </p:txBody>
      </p:sp>
      <p:sp>
        <p:nvSpPr>
          <p:cNvPr id="747" name="Google Shape;747;p10"/>
          <p:cNvSpPr/>
          <p:nvPr/>
        </p:nvSpPr>
        <p:spPr>
          <a:xfrm>
            <a:off x="1298448" y="2442888"/>
            <a:ext cx="5852100" cy="3108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1040">
                <a:solidFill>
                  <a:srgbClr val="6E7378"/>
                </a:solidFill>
                <a:latin typeface="Arial"/>
                <a:ea typeface="Arial"/>
                <a:cs typeface="Arial"/>
                <a:sym typeface="Arial"/>
              </a:rPr>
              <a:t>飲食店の仕入れ原価相当でご提供。一般の飲食店は卸原価の2〜3倍が通例です。</a:t>
            </a:r>
            <a:endParaRPr sz="1040">
              <a:solidFill>
                <a:schemeClr val="dk1"/>
              </a:solidFill>
              <a:latin typeface="Calibri"/>
              <a:ea typeface="Calibri"/>
              <a:cs typeface="Calibri"/>
              <a:sym typeface="Calibri"/>
            </a:endParaRPr>
          </a:p>
        </p:txBody>
      </p:sp>
      <p:sp>
        <p:nvSpPr>
          <p:cNvPr id="748" name="Google Shape;748;p10"/>
          <p:cNvSpPr/>
          <p:nvPr/>
        </p:nvSpPr>
        <p:spPr>
          <a:xfrm>
            <a:off x="896112" y="2921424"/>
            <a:ext cx="274200" cy="2742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0"/>
          <p:cNvSpPr/>
          <p:nvPr/>
        </p:nvSpPr>
        <p:spPr>
          <a:xfrm>
            <a:off x="896112" y="2921424"/>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50" name="Google Shape;750;p10"/>
          <p:cNvSpPr/>
          <p:nvPr/>
        </p:nvSpPr>
        <p:spPr>
          <a:xfrm>
            <a:off x="1298448" y="2884848"/>
            <a:ext cx="58521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00"/>
              <a:buFont typeface="Arial"/>
              <a:buNone/>
            </a:pPr>
            <a:r>
              <a:rPr lang="en-US" b="1">
                <a:solidFill>
                  <a:srgbClr val="1A1A1A"/>
                </a:solidFill>
                <a:latin typeface="Arial"/>
                <a:ea typeface="Arial"/>
                <a:cs typeface="Arial"/>
                <a:sym typeface="Arial"/>
              </a:rPr>
              <a:t>コルケージ完全無料</a:t>
            </a:r>
            <a:endParaRPr>
              <a:solidFill>
                <a:schemeClr val="dk1"/>
              </a:solidFill>
              <a:latin typeface="Calibri"/>
              <a:ea typeface="Calibri"/>
              <a:cs typeface="Calibri"/>
              <a:sym typeface="Calibri"/>
            </a:endParaRPr>
          </a:p>
        </p:txBody>
      </p:sp>
      <p:sp>
        <p:nvSpPr>
          <p:cNvPr id="751" name="Google Shape;751;p10"/>
          <p:cNvSpPr/>
          <p:nvPr/>
        </p:nvSpPr>
        <p:spPr>
          <a:xfrm>
            <a:off x="1298448" y="3122592"/>
            <a:ext cx="5852100" cy="3108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1040">
                <a:solidFill>
                  <a:srgbClr val="6E7378"/>
                </a:solidFill>
                <a:latin typeface="Arial"/>
                <a:ea typeface="Arial"/>
                <a:cs typeface="Arial"/>
                <a:sym typeface="Arial"/>
              </a:rPr>
              <a:t>提携店へのBYOで抜栓料・持込料ゼロ。WineGOで購入した場合は最短5分で「手ぶらBYO」。</a:t>
            </a:r>
            <a:endParaRPr sz="1040">
              <a:solidFill>
                <a:schemeClr val="dk1"/>
              </a:solidFill>
              <a:latin typeface="Calibri"/>
              <a:ea typeface="Calibri"/>
              <a:cs typeface="Calibri"/>
              <a:sym typeface="Calibri"/>
            </a:endParaRPr>
          </a:p>
        </p:txBody>
      </p:sp>
      <p:sp>
        <p:nvSpPr>
          <p:cNvPr id="752" name="Google Shape;752;p10"/>
          <p:cNvSpPr/>
          <p:nvPr/>
        </p:nvSpPr>
        <p:spPr>
          <a:xfrm>
            <a:off x="896112" y="3601128"/>
            <a:ext cx="274200" cy="2742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0"/>
          <p:cNvSpPr/>
          <p:nvPr/>
        </p:nvSpPr>
        <p:spPr>
          <a:xfrm>
            <a:off x="896112" y="3601128"/>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54" name="Google Shape;754;p10"/>
          <p:cNvSpPr/>
          <p:nvPr/>
        </p:nvSpPr>
        <p:spPr>
          <a:xfrm>
            <a:off x="1298448" y="3564552"/>
            <a:ext cx="58521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00"/>
              <a:buFont typeface="Arial"/>
              <a:buNone/>
            </a:pPr>
            <a:r>
              <a:rPr lang="en-US" b="1">
                <a:solidFill>
                  <a:srgbClr val="1A1A1A"/>
                </a:solidFill>
                <a:latin typeface="Arial"/>
                <a:ea typeface="Arial"/>
                <a:cs typeface="Arial"/>
                <a:sym typeface="Arial"/>
              </a:rPr>
              <a:t>同伴者も同じ特典</a:t>
            </a:r>
            <a:endParaRPr>
              <a:solidFill>
                <a:schemeClr val="dk1"/>
              </a:solidFill>
              <a:latin typeface="Calibri"/>
              <a:ea typeface="Calibri"/>
              <a:cs typeface="Calibri"/>
              <a:sym typeface="Calibri"/>
            </a:endParaRPr>
          </a:p>
        </p:txBody>
      </p:sp>
      <p:sp>
        <p:nvSpPr>
          <p:cNvPr id="755" name="Google Shape;755;p10"/>
          <p:cNvSpPr/>
          <p:nvPr/>
        </p:nvSpPr>
        <p:spPr>
          <a:xfrm>
            <a:off x="1298448" y="3802296"/>
            <a:ext cx="5852100" cy="3108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1040">
                <a:solidFill>
                  <a:srgbClr val="6E7378"/>
                </a:solidFill>
                <a:latin typeface="Arial"/>
                <a:ea typeface="Arial"/>
                <a:cs typeface="Arial"/>
                <a:sym typeface="Arial"/>
              </a:rPr>
              <a:t>会員ご本人だけでなく、同席の方も同じ価格でお楽しみいただけます。</a:t>
            </a:r>
            <a:endParaRPr sz="1040">
              <a:solidFill>
                <a:schemeClr val="dk1"/>
              </a:solidFill>
              <a:latin typeface="Calibri"/>
              <a:ea typeface="Calibri"/>
              <a:cs typeface="Calibri"/>
              <a:sym typeface="Calibri"/>
            </a:endParaRPr>
          </a:p>
        </p:txBody>
      </p:sp>
      <p:sp>
        <p:nvSpPr>
          <p:cNvPr id="756" name="Google Shape;756;p10"/>
          <p:cNvSpPr/>
          <p:nvPr/>
        </p:nvSpPr>
        <p:spPr>
          <a:xfrm>
            <a:off x="896112" y="4280832"/>
            <a:ext cx="274200" cy="2742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10"/>
          <p:cNvSpPr/>
          <p:nvPr/>
        </p:nvSpPr>
        <p:spPr>
          <a:xfrm>
            <a:off x="896112" y="4280832"/>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58" name="Google Shape;758;p10"/>
          <p:cNvSpPr/>
          <p:nvPr/>
        </p:nvSpPr>
        <p:spPr>
          <a:xfrm>
            <a:off x="1298448" y="4244256"/>
            <a:ext cx="58521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00"/>
              <a:buFont typeface="Arial"/>
              <a:buNone/>
            </a:pPr>
            <a:r>
              <a:rPr lang="en-US" b="1">
                <a:solidFill>
                  <a:srgbClr val="1A1A1A"/>
                </a:solidFill>
                <a:latin typeface="Arial"/>
                <a:ea typeface="Arial"/>
                <a:cs typeface="Arial"/>
                <a:sym typeface="Arial"/>
              </a:rPr>
              <a:t>ワイン配送 月1〜2回無料</a:t>
            </a:r>
            <a:endParaRPr>
              <a:solidFill>
                <a:schemeClr val="dk1"/>
              </a:solidFill>
              <a:latin typeface="Calibri"/>
              <a:ea typeface="Calibri"/>
              <a:cs typeface="Calibri"/>
              <a:sym typeface="Calibri"/>
            </a:endParaRPr>
          </a:p>
        </p:txBody>
      </p:sp>
      <p:sp>
        <p:nvSpPr>
          <p:cNvPr id="759" name="Google Shape;759;p10"/>
          <p:cNvSpPr/>
          <p:nvPr/>
        </p:nvSpPr>
        <p:spPr>
          <a:xfrm>
            <a:off x="1298448" y="4482000"/>
            <a:ext cx="5852100" cy="3108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1040">
                <a:solidFill>
                  <a:srgbClr val="6E7378"/>
                </a:solidFill>
                <a:latin typeface="Arial"/>
                <a:ea typeface="Arial"/>
                <a:cs typeface="Arial"/>
                <a:sym typeface="Arial"/>
              </a:rPr>
              <a:t>自宅・会食先・贈答先へ。都心はWineGOで当日デリバリー。</a:t>
            </a:r>
            <a:endParaRPr sz="1040">
              <a:solidFill>
                <a:schemeClr val="dk1"/>
              </a:solidFill>
              <a:latin typeface="Calibri"/>
              <a:ea typeface="Calibri"/>
              <a:cs typeface="Calibri"/>
              <a:sym typeface="Calibri"/>
            </a:endParaRPr>
          </a:p>
        </p:txBody>
      </p:sp>
      <p:sp>
        <p:nvSpPr>
          <p:cNvPr id="760" name="Google Shape;760;p10"/>
          <p:cNvSpPr/>
          <p:nvPr/>
        </p:nvSpPr>
        <p:spPr>
          <a:xfrm>
            <a:off x="896112" y="4960536"/>
            <a:ext cx="274200" cy="2742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10"/>
          <p:cNvSpPr/>
          <p:nvPr/>
        </p:nvSpPr>
        <p:spPr>
          <a:xfrm>
            <a:off x="896112" y="4960536"/>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62" name="Google Shape;762;p10"/>
          <p:cNvSpPr/>
          <p:nvPr/>
        </p:nvSpPr>
        <p:spPr>
          <a:xfrm>
            <a:off x="1298448" y="4923960"/>
            <a:ext cx="58521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00"/>
              <a:buFont typeface="Arial"/>
              <a:buNone/>
            </a:pPr>
            <a:r>
              <a:rPr lang="en-US" b="1">
                <a:solidFill>
                  <a:srgbClr val="1A1A1A"/>
                </a:solidFill>
                <a:latin typeface="Arial"/>
                <a:ea typeface="Arial"/>
                <a:cs typeface="Arial"/>
                <a:sym typeface="Arial"/>
              </a:rPr>
              <a:t>ネット最安値水準でのワイン購入</a:t>
            </a:r>
            <a:endParaRPr>
              <a:solidFill>
                <a:schemeClr val="dk1"/>
              </a:solidFill>
              <a:latin typeface="Calibri"/>
              <a:ea typeface="Calibri"/>
              <a:cs typeface="Calibri"/>
              <a:sym typeface="Calibri"/>
            </a:endParaRPr>
          </a:p>
        </p:txBody>
      </p:sp>
      <p:sp>
        <p:nvSpPr>
          <p:cNvPr id="763" name="Google Shape;763;p10"/>
          <p:cNvSpPr/>
          <p:nvPr/>
        </p:nvSpPr>
        <p:spPr>
          <a:xfrm>
            <a:off x="1298448" y="5161704"/>
            <a:ext cx="5852100" cy="3108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1040">
                <a:solidFill>
                  <a:srgbClr val="6E7378"/>
                </a:solidFill>
                <a:latin typeface="Arial"/>
                <a:ea typeface="Arial"/>
                <a:cs typeface="Arial"/>
                <a:sym typeface="Arial"/>
              </a:rPr>
              <a:t>インポーター直の仕入力による特別価格。会員プランに応じて設定。</a:t>
            </a:r>
            <a:endParaRPr sz="1040">
              <a:solidFill>
                <a:schemeClr val="dk1"/>
              </a:solidFill>
              <a:latin typeface="Calibri"/>
              <a:ea typeface="Calibri"/>
              <a:cs typeface="Calibri"/>
              <a:sym typeface="Calibri"/>
            </a:endParaRPr>
          </a:p>
        </p:txBody>
      </p:sp>
      <p:sp>
        <p:nvSpPr>
          <p:cNvPr id="764" name="Google Shape;764;p10"/>
          <p:cNvSpPr/>
          <p:nvPr/>
        </p:nvSpPr>
        <p:spPr>
          <a:xfrm>
            <a:off x="7607800" y="1527500"/>
            <a:ext cx="4017000" cy="2976900"/>
          </a:xfrm>
          <a:prstGeom prst="roundRect">
            <a:avLst>
              <a:gd name="adj" fmla="val 0"/>
            </a:avLst>
          </a:prstGeom>
          <a:solidFill>
            <a:srgbClr val="2F39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0"/>
          <p:cNvSpPr/>
          <p:nvPr/>
        </p:nvSpPr>
        <p:spPr>
          <a:xfrm>
            <a:off x="7900416" y="1708320"/>
            <a:ext cx="34317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600" b="1" u="sng">
                <a:solidFill>
                  <a:schemeClr val="lt1"/>
                </a:solidFill>
                <a:latin typeface="Arial"/>
                <a:ea typeface="Arial"/>
                <a:cs typeface="Arial"/>
                <a:sym typeface="Arial"/>
              </a:rPr>
              <a:t>会費と運用</a:t>
            </a:r>
            <a:endParaRPr sz="1600" u="sng">
              <a:solidFill>
                <a:schemeClr val="lt1"/>
              </a:solidFill>
              <a:latin typeface="Calibri"/>
              <a:ea typeface="Calibri"/>
              <a:cs typeface="Calibri"/>
              <a:sym typeface="Calibri"/>
            </a:endParaRPr>
          </a:p>
        </p:txBody>
      </p:sp>
      <p:sp>
        <p:nvSpPr>
          <p:cNvPr id="766" name="Google Shape;766;p10"/>
          <p:cNvSpPr/>
          <p:nvPr/>
        </p:nvSpPr>
        <p:spPr>
          <a:xfrm>
            <a:off x="7900425" y="2090923"/>
            <a:ext cx="3431700" cy="1677900"/>
          </a:xfrm>
          <a:prstGeom prst="rect">
            <a:avLst/>
          </a:prstGeom>
          <a:noFill/>
          <a:ln>
            <a:noFill/>
          </a:ln>
        </p:spPr>
        <p:txBody>
          <a:bodyPr spcFirstLastPara="1" wrap="square" lIns="0" tIns="0" rIns="0" bIns="0" anchor="ctr" anchorCtr="0">
            <a:noAutofit/>
          </a:bodyPr>
          <a:lstStyle/>
          <a:p>
            <a:pPr marL="342900" marR="0" lvl="0" indent="-368300" algn="l" rtl="0">
              <a:lnSpc>
                <a:spcPct val="137254"/>
              </a:lnSpc>
              <a:spcBef>
                <a:spcPts val="0"/>
              </a:spcBef>
              <a:spcAft>
                <a:spcPts val="0"/>
              </a:spcAft>
              <a:buClr>
                <a:schemeClr val="lt1"/>
              </a:buClr>
              <a:buSzPts val="1420"/>
              <a:buChar char="▪"/>
            </a:pPr>
            <a:r>
              <a:rPr lang="en-US" sz="1420" b="1">
                <a:solidFill>
                  <a:schemeClr val="lt1"/>
                </a:solidFill>
              </a:rPr>
              <a:t>個人会員：月会費 8,800円〜</a:t>
            </a:r>
            <a:endParaRPr sz="1420" b="1">
              <a:solidFill>
                <a:schemeClr val="lt1"/>
              </a:solidFill>
            </a:endParaRPr>
          </a:p>
          <a:p>
            <a:pPr marL="457200" marR="0" lvl="0" indent="0" algn="l" rtl="0">
              <a:lnSpc>
                <a:spcPct val="137254"/>
              </a:lnSpc>
              <a:spcBef>
                <a:spcPts val="0"/>
              </a:spcBef>
              <a:spcAft>
                <a:spcPts val="0"/>
              </a:spcAft>
              <a:buNone/>
            </a:pPr>
            <a:r>
              <a:rPr lang="en-US" sz="1020">
                <a:solidFill>
                  <a:schemeClr val="lt1"/>
                </a:solidFill>
                <a:latin typeface="Arial"/>
                <a:ea typeface="Arial"/>
                <a:cs typeface="Arial"/>
                <a:sym typeface="Arial"/>
              </a:rPr>
              <a:t>（プランにより特典が異なります）</a:t>
            </a:r>
            <a:endParaRPr sz="1020">
              <a:solidFill>
                <a:schemeClr val="lt1"/>
              </a:solidFill>
              <a:latin typeface="Arial"/>
              <a:ea typeface="Arial"/>
              <a:cs typeface="Arial"/>
              <a:sym typeface="Arial"/>
            </a:endParaRPr>
          </a:p>
          <a:p>
            <a:pPr marL="457200" marR="0" lvl="0" indent="0" algn="l" rtl="0">
              <a:lnSpc>
                <a:spcPct val="137254"/>
              </a:lnSpc>
              <a:spcBef>
                <a:spcPts val="400"/>
              </a:spcBef>
              <a:spcAft>
                <a:spcPts val="0"/>
              </a:spcAft>
              <a:buNone/>
            </a:pPr>
            <a:endParaRPr sz="1020">
              <a:solidFill>
                <a:schemeClr val="lt1"/>
              </a:solidFill>
            </a:endParaRPr>
          </a:p>
          <a:p>
            <a:pPr marL="342900" marR="0" lvl="0" indent="-342900" algn="l" rtl="0">
              <a:lnSpc>
                <a:spcPct val="137254"/>
              </a:lnSpc>
              <a:spcBef>
                <a:spcPts val="400"/>
              </a:spcBef>
              <a:spcAft>
                <a:spcPts val="0"/>
              </a:spcAft>
              <a:buClr>
                <a:schemeClr val="lt1"/>
              </a:buClr>
              <a:buSzPts val="1020"/>
              <a:buFont typeface="Arial"/>
              <a:buChar char="▪"/>
            </a:pPr>
            <a:r>
              <a:rPr lang="en-US" sz="1020">
                <a:solidFill>
                  <a:schemeClr val="lt1"/>
                </a:solidFill>
                <a:latin typeface="Arial"/>
                <a:ea typeface="Arial"/>
                <a:cs typeface="Arial"/>
                <a:sym typeface="Arial"/>
              </a:rPr>
              <a:t>会員数は千人規模への拡大を計画</a:t>
            </a:r>
            <a:endParaRPr sz="1020">
              <a:solidFill>
                <a:schemeClr val="lt1"/>
              </a:solidFill>
              <a:latin typeface="Calibri"/>
              <a:ea typeface="Calibri"/>
              <a:cs typeface="Calibri"/>
              <a:sym typeface="Calibri"/>
            </a:endParaRPr>
          </a:p>
        </p:txBody>
      </p:sp>
      <p:grpSp>
        <p:nvGrpSpPr>
          <p:cNvPr id="767" name="Google Shape;767;p10"/>
          <p:cNvGrpSpPr/>
          <p:nvPr/>
        </p:nvGrpSpPr>
        <p:grpSpPr>
          <a:xfrm>
            <a:off x="0" y="419025"/>
            <a:ext cx="1029900" cy="585888"/>
            <a:chOff x="0" y="419025"/>
            <a:chExt cx="1029900" cy="585888"/>
          </a:xfrm>
        </p:grpSpPr>
        <p:sp>
          <p:nvSpPr>
            <p:cNvPr id="768" name="Google Shape;768;p10"/>
            <p:cNvSpPr/>
            <p:nvPr/>
          </p:nvSpPr>
          <p:spPr>
            <a:xfrm>
              <a:off x="0" y="419025"/>
              <a:ext cx="1029900" cy="577200"/>
            </a:xfrm>
            <a:prstGeom prst="snip1Rect">
              <a:avLst>
                <a:gd name="adj" fmla="val 16667"/>
              </a:avLst>
            </a:prstGeom>
            <a:solidFill>
              <a:srgbClr val="B9714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9" name="Google Shape;769;p10"/>
            <p:cNvSpPr txBox="1"/>
            <p:nvPr/>
          </p:nvSpPr>
          <p:spPr>
            <a:xfrm>
              <a:off x="82018" y="427713"/>
              <a:ext cx="930600" cy="57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FF"/>
                </a:buClr>
                <a:buSzPts val="850"/>
                <a:buFont typeface="Arial"/>
                <a:buNone/>
              </a:pPr>
              <a:r>
                <a:rPr lang="en-US" sz="950" b="1">
                  <a:solidFill>
                    <a:srgbClr val="FFFFFF"/>
                  </a:solidFill>
                  <a:latin typeface="Arial"/>
                  <a:ea typeface="Arial"/>
                  <a:cs typeface="Arial"/>
                  <a:sym typeface="Arial"/>
                </a:rPr>
                <a:t>PROGRAM</a:t>
              </a:r>
              <a:endParaRPr sz="1500"/>
            </a:p>
            <a:p>
              <a:pPr marL="0" marR="0" lvl="0" indent="0" algn="ctr" rtl="0">
                <a:spcBef>
                  <a:spcPts val="0"/>
                </a:spcBef>
                <a:spcAft>
                  <a:spcPts val="0"/>
                </a:spcAft>
                <a:buClr>
                  <a:srgbClr val="FFFFFF"/>
                </a:buClr>
                <a:buSzPts val="2000"/>
                <a:buFont typeface="Arial"/>
                <a:buNone/>
              </a:pPr>
              <a:r>
                <a:rPr lang="en-US" sz="2200" b="1">
                  <a:solidFill>
                    <a:srgbClr val="FFFFFF"/>
                  </a:solidFill>
                  <a:latin typeface="Arial"/>
                  <a:ea typeface="Arial"/>
                  <a:cs typeface="Arial"/>
                  <a:sym typeface="Arial"/>
                </a:rPr>
                <a:t>0</a:t>
              </a:r>
              <a:r>
                <a:rPr lang="en-US" sz="2200" b="1">
                  <a:solidFill>
                    <a:srgbClr val="FFFFFF"/>
                  </a:solidFill>
                </a:rPr>
                <a:t>3</a:t>
              </a:r>
              <a:endParaRPr sz="2200">
                <a:solidFill>
                  <a:schemeClr val="dk1"/>
                </a:solidFill>
                <a:latin typeface="Calibri"/>
                <a:ea typeface="Calibri"/>
                <a:cs typeface="Calibri"/>
                <a:sym typeface="Calibri"/>
              </a:endParaRPr>
            </a:p>
          </p:txBody>
        </p:sp>
      </p:grpSp>
      <p:sp>
        <p:nvSpPr>
          <p:cNvPr id="770" name="Google Shape;770;p10"/>
          <p:cNvSpPr/>
          <p:nvPr/>
        </p:nvSpPr>
        <p:spPr>
          <a:xfrm>
            <a:off x="904512" y="5663074"/>
            <a:ext cx="274200" cy="274200"/>
          </a:xfrm>
          <a:prstGeom prst="ellipse">
            <a:avLst/>
          </a:prstGeom>
          <a:solidFill>
            <a:srgbClr val="C68A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10"/>
          <p:cNvSpPr/>
          <p:nvPr/>
        </p:nvSpPr>
        <p:spPr>
          <a:xfrm>
            <a:off x="904512" y="5663074"/>
            <a:ext cx="2742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72" name="Google Shape;772;p10"/>
          <p:cNvSpPr/>
          <p:nvPr/>
        </p:nvSpPr>
        <p:spPr>
          <a:xfrm>
            <a:off x="1306848" y="5626498"/>
            <a:ext cx="5852100" cy="237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200"/>
              <a:buFont typeface="Arial"/>
              <a:buNone/>
            </a:pPr>
            <a:r>
              <a:rPr lang="en-US" b="1">
                <a:solidFill>
                  <a:srgbClr val="1A1A1A"/>
                </a:solidFill>
              </a:rPr>
              <a:t>限定イベントへの優先案内</a:t>
            </a:r>
            <a:endParaRPr>
              <a:solidFill>
                <a:schemeClr val="dk1"/>
              </a:solidFill>
              <a:latin typeface="Calibri"/>
              <a:ea typeface="Calibri"/>
              <a:cs typeface="Calibri"/>
              <a:sym typeface="Calibri"/>
            </a:endParaRPr>
          </a:p>
        </p:txBody>
      </p:sp>
      <p:sp>
        <p:nvSpPr>
          <p:cNvPr id="773" name="Google Shape;773;p10"/>
          <p:cNvSpPr/>
          <p:nvPr/>
        </p:nvSpPr>
        <p:spPr>
          <a:xfrm>
            <a:off x="1306848" y="5864242"/>
            <a:ext cx="5852100" cy="3108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1040">
                <a:solidFill>
                  <a:srgbClr val="6E7378"/>
                </a:solidFill>
              </a:rPr>
              <a:t>提携店舗でのペアリングワイン会やテイスティングイベントなどの参加権。</a:t>
            </a:r>
            <a:endParaRPr sz="104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8"/>
        <p:cNvGrpSpPr/>
        <p:nvPr/>
      </p:nvGrpSpPr>
      <p:grpSpPr>
        <a:xfrm>
          <a:off x="0" y="0"/>
          <a:ext cx="0" cy="0"/>
          <a:chOff x="0" y="0"/>
          <a:chExt cx="0" cy="0"/>
        </a:xfrm>
      </p:grpSpPr>
      <p:pic>
        <p:nvPicPr>
          <p:cNvPr id="779" name="Google Shape;779;p15"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780" name="Google Shape;780;p15"/>
          <p:cNvSpPr/>
          <p:nvPr/>
        </p:nvSpPr>
        <p:spPr>
          <a:xfrm>
            <a:off x="566928" y="292608"/>
            <a:ext cx="1197864"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5"/>
          <p:cNvSpPr/>
          <p:nvPr/>
        </p:nvSpPr>
        <p:spPr>
          <a:xfrm>
            <a:off x="566928" y="292608"/>
            <a:ext cx="119786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POSITIONING</a:t>
            </a:r>
            <a:endParaRPr sz="850">
              <a:solidFill>
                <a:schemeClr val="dk1"/>
              </a:solidFill>
              <a:latin typeface="Calibri"/>
              <a:ea typeface="Calibri"/>
              <a:cs typeface="Calibri"/>
              <a:sym typeface="Calibri"/>
            </a:endParaRPr>
          </a:p>
        </p:txBody>
      </p:sp>
      <p:sp>
        <p:nvSpPr>
          <p:cNvPr id="782" name="Google Shape;782;p15"/>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「日常で使える」ことが、この提案のすべてです</a:t>
            </a:r>
            <a:endParaRPr sz="2300">
              <a:solidFill>
                <a:schemeClr val="dk1"/>
              </a:solidFill>
              <a:latin typeface="Calibri"/>
              <a:ea typeface="Calibri"/>
              <a:cs typeface="Calibri"/>
              <a:sym typeface="Calibri"/>
            </a:endParaRPr>
          </a:p>
        </p:txBody>
      </p:sp>
      <p:sp>
        <p:nvSpPr>
          <p:cNvPr id="783" name="Google Shape;783;p15"/>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NOT A HOTELが別荘を「投資」と言わずに売り切ったように、私たちも会員権を「使えるもの」として提案します。</a:t>
            </a:r>
            <a:endParaRPr sz="1150">
              <a:solidFill>
                <a:schemeClr val="dk1"/>
              </a:solidFill>
              <a:latin typeface="Calibri"/>
              <a:ea typeface="Calibri"/>
              <a:cs typeface="Calibri"/>
              <a:sym typeface="Calibri"/>
            </a:endParaRPr>
          </a:p>
        </p:txBody>
      </p:sp>
      <p:sp>
        <p:nvSpPr>
          <p:cNvPr id="784" name="Google Shape;784;p15"/>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786" name="Google Shape;786;p15"/>
          <p:cNvSpPr/>
          <p:nvPr/>
        </p:nvSpPr>
        <p:spPr>
          <a:xfrm>
            <a:off x="566928" y="1517904"/>
            <a:ext cx="6035040" cy="3749040"/>
          </a:xfrm>
          <a:prstGeom prst="rect">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7" name="Google Shape;787;p15"/>
          <p:cNvCxnSpPr/>
          <p:nvPr/>
        </p:nvCxnSpPr>
        <p:spPr>
          <a:xfrm>
            <a:off x="566928" y="3392424"/>
            <a:ext cx="6035040" cy="0"/>
          </a:xfrm>
          <a:prstGeom prst="straightConnector1">
            <a:avLst/>
          </a:prstGeom>
          <a:noFill/>
          <a:ln w="12700" cap="flat" cmpd="sng">
            <a:solidFill>
              <a:srgbClr val="CDD1D4"/>
            </a:solidFill>
            <a:prstDash val="solid"/>
            <a:round/>
            <a:headEnd type="none" w="sm" len="sm"/>
            <a:tailEnd type="none" w="sm" len="sm"/>
          </a:ln>
        </p:spPr>
      </p:cxnSp>
      <p:cxnSp>
        <p:nvCxnSpPr>
          <p:cNvPr id="788" name="Google Shape;788;p15"/>
          <p:cNvCxnSpPr/>
          <p:nvPr/>
        </p:nvCxnSpPr>
        <p:spPr>
          <a:xfrm>
            <a:off x="3584448" y="1517904"/>
            <a:ext cx="0" cy="3749040"/>
          </a:xfrm>
          <a:prstGeom prst="straightConnector1">
            <a:avLst/>
          </a:prstGeom>
          <a:noFill/>
          <a:ln w="12700" cap="flat" cmpd="sng">
            <a:solidFill>
              <a:srgbClr val="CDD1D4"/>
            </a:solidFill>
            <a:prstDash val="solid"/>
            <a:round/>
            <a:headEnd type="none" w="sm" len="sm"/>
            <a:tailEnd type="none" w="sm" len="sm"/>
          </a:ln>
        </p:spPr>
      </p:cxnSp>
      <p:sp>
        <p:nvSpPr>
          <p:cNvPr id="789" name="Google Shape;789;p15"/>
          <p:cNvSpPr/>
          <p:nvPr/>
        </p:nvSpPr>
        <p:spPr>
          <a:xfrm>
            <a:off x="694944" y="1627632"/>
            <a:ext cx="25603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950"/>
              <a:buFont typeface="Arial"/>
              <a:buNone/>
            </a:pPr>
            <a:r>
              <a:rPr lang="en-US" sz="950">
                <a:solidFill>
                  <a:srgbClr val="A6ABAF"/>
                </a:solidFill>
                <a:latin typeface="Arial"/>
                <a:ea typeface="Arial"/>
                <a:cs typeface="Arial"/>
                <a:sym typeface="Arial"/>
              </a:rPr>
              <a:t>非日常（年に数回）</a:t>
            </a:r>
            <a:endParaRPr sz="950">
              <a:solidFill>
                <a:schemeClr val="dk1"/>
              </a:solidFill>
              <a:latin typeface="Calibri"/>
              <a:ea typeface="Calibri"/>
              <a:cs typeface="Calibri"/>
              <a:sym typeface="Calibri"/>
            </a:endParaRPr>
          </a:p>
        </p:txBody>
      </p:sp>
      <p:sp>
        <p:nvSpPr>
          <p:cNvPr id="790" name="Google Shape;790;p15"/>
          <p:cNvSpPr/>
          <p:nvPr/>
        </p:nvSpPr>
        <p:spPr>
          <a:xfrm>
            <a:off x="3712464" y="1627632"/>
            <a:ext cx="25603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950"/>
              <a:buFont typeface="Arial"/>
              <a:buNone/>
            </a:pPr>
            <a:r>
              <a:rPr lang="en-US" sz="950">
                <a:solidFill>
                  <a:srgbClr val="A6ABAF"/>
                </a:solidFill>
                <a:latin typeface="Arial"/>
                <a:ea typeface="Arial"/>
                <a:cs typeface="Arial"/>
                <a:sym typeface="Arial"/>
              </a:rPr>
              <a:t>日常（毎週）</a:t>
            </a:r>
            <a:endParaRPr sz="950">
              <a:solidFill>
                <a:schemeClr val="dk1"/>
              </a:solidFill>
              <a:latin typeface="Calibri"/>
              <a:ea typeface="Calibri"/>
              <a:cs typeface="Calibri"/>
              <a:sym typeface="Calibri"/>
            </a:endParaRPr>
          </a:p>
        </p:txBody>
      </p:sp>
      <p:sp>
        <p:nvSpPr>
          <p:cNvPr id="791" name="Google Shape;791;p15"/>
          <p:cNvSpPr/>
          <p:nvPr/>
        </p:nvSpPr>
        <p:spPr>
          <a:xfrm>
            <a:off x="694944" y="4956048"/>
            <a:ext cx="25603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950"/>
              <a:buFont typeface="Arial"/>
              <a:buNone/>
            </a:pPr>
            <a:r>
              <a:rPr lang="en-US" sz="950">
                <a:solidFill>
                  <a:srgbClr val="A6ABAF"/>
                </a:solidFill>
                <a:latin typeface="Arial"/>
                <a:ea typeface="Arial"/>
                <a:cs typeface="Arial"/>
                <a:sym typeface="Arial"/>
              </a:rPr>
              <a:t>使うと、消える</a:t>
            </a:r>
            <a:endParaRPr sz="950">
              <a:solidFill>
                <a:schemeClr val="dk1"/>
              </a:solidFill>
              <a:latin typeface="Calibri"/>
              <a:ea typeface="Calibri"/>
              <a:cs typeface="Calibri"/>
              <a:sym typeface="Calibri"/>
            </a:endParaRPr>
          </a:p>
        </p:txBody>
      </p:sp>
      <p:sp>
        <p:nvSpPr>
          <p:cNvPr id="792" name="Google Shape;792;p15"/>
          <p:cNvSpPr/>
          <p:nvPr/>
        </p:nvSpPr>
        <p:spPr>
          <a:xfrm>
            <a:off x="694944" y="1920240"/>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950"/>
              <a:buFont typeface="Arial"/>
              <a:buNone/>
            </a:pPr>
            <a:r>
              <a:rPr lang="en-US" sz="950">
                <a:solidFill>
                  <a:srgbClr val="A6ABAF"/>
                </a:solidFill>
                <a:latin typeface="Arial"/>
                <a:ea typeface="Arial"/>
                <a:cs typeface="Arial"/>
                <a:sym typeface="Arial"/>
              </a:rPr>
              <a:t>使わなければ、手元に残る</a:t>
            </a:r>
            <a:endParaRPr sz="950">
              <a:solidFill>
                <a:schemeClr val="dk1"/>
              </a:solidFill>
              <a:latin typeface="Calibri"/>
              <a:ea typeface="Calibri"/>
              <a:cs typeface="Calibri"/>
              <a:sym typeface="Calibri"/>
            </a:endParaRPr>
          </a:p>
        </p:txBody>
      </p:sp>
      <p:sp>
        <p:nvSpPr>
          <p:cNvPr id="793" name="Google Shape;793;p15"/>
          <p:cNvSpPr/>
          <p:nvPr/>
        </p:nvSpPr>
        <p:spPr>
          <a:xfrm>
            <a:off x="1572768" y="2450592"/>
            <a:ext cx="1155802" cy="310896"/>
          </a:xfrm>
          <a:prstGeom prst="roundRect">
            <a:avLst>
              <a:gd name="adj" fmla="val 14706"/>
            </a:avLst>
          </a:prstGeom>
          <a:solidFill>
            <a:srgbClr val="FFFFFF"/>
          </a:solidFill>
          <a:ln w="12700" cap="flat" cmpd="sng">
            <a:solidFill>
              <a:srgbClr val="CDD1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5"/>
          <p:cNvSpPr/>
          <p:nvPr/>
        </p:nvSpPr>
        <p:spPr>
          <a:xfrm>
            <a:off x="1572768" y="2450592"/>
            <a:ext cx="1155802"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950"/>
              <a:buFont typeface="Arial"/>
              <a:buNone/>
            </a:pPr>
            <a:r>
              <a:rPr lang="en-US" sz="950">
                <a:solidFill>
                  <a:srgbClr val="6E7378"/>
                </a:solidFill>
                <a:latin typeface="Arial"/>
                <a:ea typeface="Arial"/>
                <a:cs typeface="Arial"/>
                <a:sym typeface="Arial"/>
              </a:rPr>
              <a:t>高級時計・アート</a:t>
            </a:r>
            <a:endParaRPr sz="950">
              <a:solidFill>
                <a:schemeClr val="dk1"/>
              </a:solidFill>
              <a:latin typeface="Calibri"/>
              <a:ea typeface="Calibri"/>
              <a:cs typeface="Calibri"/>
              <a:sym typeface="Calibri"/>
            </a:endParaRPr>
          </a:p>
        </p:txBody>
      </p:sp>
      <p:sp>
        <p:nvSpPr>
          <p:cNvPr id="795" name="Google Shape;795;p15"/>
          <p:cNvSpPr/>
          <p:nvPr/>
        </p:nvSpPr>
        <p:spPr>
          <a:xfrm>
            <a:off x="1572768" y="2999232"/>
            <a:ext cx="875995" cy="310896"/>
          </a:xfrm>
          <a:prstGeom prst="roundRect">
            <a:avLst>
              <a:gd name="adj" fmla="val 14706"/>
            </a:avLst>
          </a:prstGeom>
          <a:solidFill>
            <a:srgbClr val="FFFFFF"/>
          </a:solidFill>
          <a:ln w="12700" cap="flat" cmpd="sng">
            <a:solidFill>
              <a:srgbClr val="CDD1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5"/>
          <p:cNvSpPr/>
          <p:nvPr/>
        </p:nvSpPr>
        <p:spPr>
          <a:xfrm>
            <a:off x="1572768" y="2999232"/>
            <a:ext cx="875995"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950"/>
              <a:buFont typeface="Arial"/>
              <a:buNone/>
            </a:pPr>
            <a:r>
              <a:rPr lang="en-US" sz="950">
                <a:solidFill>
                  <a:srgbClr val="6E7378"/>
                </a:solidFill>
                <a:latin typeface="Arial"/>
                <a:ea typeface="Arial"/>
                <a:cs typeface="Arial"/>
                <a:sym typeface="Arial"/>
              </a:rPr>
              <a:t>NOT A HOTEL</a:t>
            </a:r>
            <a:endParaRPr sz="950">
              <a:solidFill>
                <a:schemeClr val="dk1"/>
              </a:solidFill>
              <a:latin typeface="Calibri"/>
              <a:ea typeface="Calibri"/>
              <a:cs typeface="Calibri"/>
              <a:sym typeface="Calibri"/>
            </a:endParaRPr>
          </a:p>
        </p:txBody>
      </p:sp>
      <p:sp>
        <p:nvSpPr>
          <p:cNvPr id="797" name="Google Shape;797;p15"/>
          <p:cNvSpPr/>
          <p:nvPr/>
        </p:nvSpPr>
        <p:spPr>
          <a:xfrm>
            <a:off x="1389888" y="4133088"/>
            <a:ext cx="1479499" cy="310896"/>
          </a:xfrm>
          <a:prstGeom prst="roundRect">
            <a:avLst>
              <a:gd name="adj" fmla="val 14706"/>
            </a:avLst>
          </a:prstGeom>
          <a:solidFill>
            <a:srgbClr val="FFFFFF"/>
          </a:solidFill>
          <a:ln w="12700" cap="flat" cmpd="sng">
            <a:solidFill>
              <a:srgbClr val="CDD1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p:nvPr/>
        </p:nvSpPr>
        <p:spPr>
          <a:xfrm>
            <a:off x="1389888" y="4133088"/>
            <a:ext cx="1479499"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950"/>
              <a:buFont typeface="Arial"/>
              <a:buNone/>
            </a:pPr>
            <a:r>
              <a:rPr lang="en-US" sz="950">
                <a:solidFill>
                  <a:srgbClr val="6E7378"/>
                </a:solidFill>
                <a:latin typeface="Arial"/>
                <a:ea typeface="Arial"/>
                <a:cs typeface="Arial"/>
                <a:sym typeface="Arial"/>
              </a:rPr>
              <a:t>リゾート・ゴルフ会員権</a:t>
            </a:r>
            <a:endParaRPr sz="950">
              <a:solidFill>
                <a:schemeClr val="dk1"/>
              </a:solidFill>
              <a:latin typeface="Calibri"/>
              <a:ea typeface="Calibri"/>
              <a:cs typeface="Calibri"/>
              <a:sym typeface="Calibri"/>
            </a:endParaRPr>
          </a:p>
        </p:txBody>
      </p:sp>
      <p:sp>
        <p:nvSpPr>
          <p:cNvPr id="799" name="Google Shape;799;p15"/>
          <p:cNvSpPr/>
          <p:nvPr/>
        </p:nvSpPr>
        <p:spPr>
          <a:xfrm>
            <a:off x="4041648" y="4352544"/>
            <a:ext cx="1479499" cy="310896"/>
          </a:xfrm>
          <a:prstGeom prst="roundRect">
            <a:avLst>
              <a:gd name="adj" fmla="val 14706"/>
            </a:avLst>
          </a:prstGeom>
          <a:solidFill>
            <a:srgbClr val="FFFFFF"/>
          </a:solidFill>
          <a:ln w="12700" cap="flat" cmpd="sng">
            <a:solidFill>
              <a:srgbClr val="CDD1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5"/>
          <p:cNvSpPr/>
          <p:nvPr/>
        </p:nvSpPr>
        <p:spPr>
          <a:xfrm>
            <a:off x="4041648" y="4352544"/>
            <a:ext cx="1479499"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950"/>
              <a:buFont typeface="Arial"/>
              <a:buNone/>
            </a:pPr>
            <a:r>
              <a:rPr lang="en-US" sz="950">
                <a:solidFill>
                  <a:srgbClr val="6E7378"/>
                </a:solidFill>
                <a:latin typeface="Arial"/>
                <a:ea typeface="Arial"/>
                <a:cs typeface="Arial"/>
                <a:sym typeface="Arial"/>
              </a:rPr>
              <a:t>レストラン接待（現状）</a:t>
            </a:r>
            <a:endParaRPr sz="950">
              <a:solidFill>
                <a:schemeClr val="dk1"/>
              </a:solidFill>
              <a:latin typeface="Calibri"/>
              <a:ea typeface="Calibri"/>
              <a:cs typeface="Calibri"/>
              <a:sym typeface="Calibri"/>
            </a:endParaRPr>
          </a:p>
        </p:txBody>
      </p:sp>
      <p:sp>
        <p:nvSpPr>
          <p:cNvPr id="801" name="Google Shape;801;p15"/>
          <p:cNvSpPr/>
          <p:nvPr/>
        </p:nvSpPr>
        <p:spPr>
          <a:xfrm>
            <a:off x="4005072" y="2615184"/>
            <a:ext cx="2468880" cy="566928"/>
          </a:xfrm>
          <a:prstGeom prst="roundRect">
            <a:avLst>
              <a:gd name="adj" fmla="val 8065"/>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5"/>
          <p:cNvSpPr/>
          <p:nvPr/>
        </p:nvSpPr>
        <p:spPr>
          <a:xfrm>
            <a:off x="4005072" y="2615184"/>
            <a:ext cx="2468880" cy="566928"/>
          </a:xfrm>
          <a:prstGeom prst="rect">
            <a:avLst/>
          </a:prstGeom>
          <a:noFill/>
          <a:ln>
            <a:noFill/>
          </a:ln>
        </p:spPr>
        <p:txBody>
          <a:bodyPr spcFirstLastPara="1" wrap="square" lIns="0" tIns="0" rIns="0" bIns="0" anchor="ctr" anchorCtr="0">
            <a:noAutofit/>
          </a:bodyPr>
          <a:lstStyle/>
          <a:p>
            <a:pPr marL="0" marR="0" lvl="0" indent="0" algn="ctr" rtl="0">
              <a:lnSpc>
                <a:spcPct val="125000"/>
              </a:lnSpc>
              <a:spcBef>
                <a:spcPts val="0"/>
              </a:spcBef>
              <a:spcAft>
                <a:spcPts val="0"/>
              </a:spcAft>
              <a:buClr>
                <a:srgbClr val="EFDCCE"/>
              </a:buClr>
              <a:buSzPts val="1200"/>
              <a:buFont typeface="Arial"/>
              <a:buNone/>
            </a:pPr>
            <a:r>
              <a:rPr lang="en-US" sz="1200" b="1">
                <a:solidFill>
                  <a:srgbClr val="EFDCCE"/>
                </a:solidFill>
                <a:latin typeface="Arial"/>
                <a:ea typeface="Arial"/>
                <a:cs typeface="Arial"/>
                <a:sym typeface="Arial"/>
              </a:rPr>
              <a:t>WineBank</a:t>
            </a:r>
            <a:endParaRPr sz="1200">
              <a:solidFill>
                <a:schemeClr val="dk1"/>
              </a:solidFill>
              <a:latin typeface="Calibri"/>
              <a:ea typeface="Calibri"/>
              <a:cs typeface="Calibri"/>
              <a:sym typeface="Calibri"/>
            </a:endParaRPr>
          </a:p>
          <a:p>
            <a:pPr marL="0" marR="0" lvl="0" indent="0" algn="ctr" rtl="0">
              <a:lnSpc>
                <a:spcPct val="125000"/>
              </a:lnSpc>
              <a:spcBef>
                <a:spcPts val="0"/>
              </a:spcBef>
              <a:spcAft>
                <a:spcPts val="0"/>
              </a:spcAft>
              <a:buClr>
                <a:srgbClr val="EFDCCE"/>
              </a:buClr>
              <a:buSzPts val="1200"/>
              <a:buFont typeface="Arial"/>
              <a:buNone/>
            </a:pPr>
            <a:r>
              <a:rPr lang="en-US" sz="1200" b="1">
                <a:solidFill>
                  <a:srgbClr val="EFDCCE"/>
                </a:solidFill>
                <a:latin typeface="Arial"/>
                <a:ea typeface="Arial"/>
                <a:cs typeface="Arial"/>
                <a:sym typeface="Arial"/>
              </a:rPr>
              <a:t>ヒルズ会員</a:t>
            </a:r>
            <a:endParaRPr sz="1200">
              <a:solidFill>
                <a:schemeClr val="dk1"/>
              </a:solidFill>
              <a:latin typeface="Calibri"/>
              <a:ea typeface="Calibri"/>
              <a:cs typeface="Calibri"/>
              <a:sym typeface="Calibri"/>
            </a:endParaRPr>
          </a:p>
        </p:txBody>
      </p:sp>
      <p:sp>
        <p:nvSpPr>
          <p:cNvPr id="803" name="Google Shape;803;p15"/>
          <p:cNvSpPr/>
          <p:nvPr/>
        </p:nvSpPr>
        <p:spPr>
          <a:xfrm>
            <a:off x="7022592" y="1517904"/>
            <a:ext cx="4602175" cy="1152144"/>
          </a:xfrm>
          <a:prstGeom prst="roundRect">
            <a:avLst>
              <a:gd name="adj" fmla="val 3968"/>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p:nvPr/>
        </p:nvSpPr>
        <p:spPr>
          <a:xfrm>
            <a:off x="7278624" y="1719072"/>
            <a:ext cx="402336" cy="402336"/>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5"/>
          <p:cNvSpPr/>
          <p:nvPr/>
        </p:nvSpPr>
        <p:spPr>
          <a:xfrm>
            <a:off x="7278624" y="1719072"/>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01</a:t>
            </a:r>
            <a:endParaRPr sz="1100">
              <a:solidFill>
                <a:schemeClr val="dk1"/>
              </a:solidFill>
              <a:latin typeface="Calibri"/>
              <a:ea typeface="Calibri"/>
              <a:cs typeface="Calibri"/>
              <a:sym typeface="Calibri"/>
            </a:endParaRPr>
          </a:p>
        </p:txBody>
      </p:sp>
      <p:sp>
        <p:nvSpPr>
          <p:cNvPr id="806" name="Google Shape;806;p15"/>
          <p:cNvSpPr/>
          <p:nvPr/>
        </p:nvSpPr>
        <p:spPr>
          <a:xfrm>
            <a:off x="7790688" y="1700784"/>
            <a:ext cx="3578047"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300"/>
              <a:buFont typeface="Arial"/>
              <a:buNone/>
            </a:pPr>
            <a:r>
              <a:rPr lang="en-US" sz="1300" b="1">
                <a:solidFill>
                  <a:srgbClr val="EFDCCE"/>
                </a:solidFill>
                <a:latin typeface="Arial"/>
                <a:ea typeface="Arial"/>
                <a:cs typeface="Arial"/>
                <a:sym typeface="Arial"/>
              </a:rPr>
              <a:t>会食のたびに、得をする</a:t>
            </a:r>
            <a:endParaRPr sz="1300">
              <a:solidFill>
                <a:schemeClr val="dk1"/>
              </a:solidFill>
              <a:latin typeface="Calibri"/>
              <a:ea typeface="Calibri"/>
              <a:cs typeface="Calibri"/>
              <a:sym typeface="Calibri"/>
            </a:endParaRPr>
          </a:p>
        </p:txBody>
      </p:sp>
      <p:sp>
        <p:nvSpPr>
          <p:cNvPr id="807" name="Google Shape;807;p15"/>
          <p:cNvSpPr/>
          <p:nvPr/>
        </p:nvSpPr>
        <p:spPr>
          <a:xfrm>
            <a:off x="7278624" y="2176272"/>
            <a:ext cx="4090111" cy="420624"/>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E3E6E8"/>
              </a:buClr>
              <a:buSzPts val="980"/>
              <a:buFont typeface="Arial"/>
              <a:buNone/>
            </a:pPr>
            <a:r>
              <a:rPr lang="en-US" sz="980">
                <a:solidFill>
                  <a:srgbClr val="E3E6E8"/>
                </a:solidFill>
                <a:latin typeface="Arial"/>
                <a:ea typeface="Arial"/>
                <a:cs typeface="Arial"/>
                <a:sym typeface="Arial"/>
              </a:rPr>
              <a:t>コルケージ無料と仕入原価相当での提供。卸原価の2〜3倍を払う店内価格から解放されます。</a:t>
            </a:r>
            <a:endParaRPr sz="980">
              <a:solidFill>
                <a:schemeClr val="dk1"/>
              </a:solidFill>
              <a:latin typeface="Calibri"/>
              <a:ea typeface="Calibri"/>
              <a:cs typeface="Calibri"/>
              <a:sym typeface="Calibri"/>
            </a:endParaRPr>
          </a:p>
        </p:txBody>
      </p:sp>
      <p:sp>
        <p:nvSpPr>
          <p:cNvPr id="808" name="Google Shape;808;p15"/>
          <p:cNvSpPr/>
          <p:nvPr/>
        </p:nvSpPr>
        <p:spPr>
          <a:xfrm>
            <a:off x="7022592" y="2816352"/>
            <a:ext cx="4602175" cy="1152144"/>
          </a:xfrm>
          <a:prstGeom prst="roundRect">
            <a:avLst>
              <a:gd name="adj" fmla="val 3968"/>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15"/>
          <p:cNvSpPr/>
          <p:nvPr/>
        </p:nvSpPr>
        <p:spPr>
          <a:xfrm>
            <a:off x="7278624" y="3017520"/>
            <a:ext cx="402336" cy="402336"/>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p:nvPr/>
        </p:nvSpPr>
        <p:spPr>
          <a:xfrm>
            <a:off x="7278624" y="3017520"/>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02</a:t>
            </a:r>
            <a:endParaRPr sz="1100">
              <a:solidFill>
                <a:schemeClr val="dk1"/>
              </a:solidFill>
              <a:latin typeface="Calibri"/>
              <a:ea typeface="Calibri"/>
              <a:cs typeface="Calibri"/>
              <a:sym typeface="Calibri"/>
            </a:endParaRPr>
          </a:p>
        </p:txBody>
      </p:sp>
      <p:sp>
        <p:nvSpPr>
          <p:cNvPr id="811" name="Google Shape;811;p15"/>
          <p:cNvSpPr/>
          <p:nvPr/>
        </p:nvSpPr>
        <p:spPr>
          <a:xfrm>
            <a:off x="7790688" y="2999232"/>
            <a:ext cx="3578047"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飲まなければ、手元に残る</a:t>
            </a:r>
            <a:endParaRPr sz="1300">
              <a:solidFill>
                <a:schemeClr val="dk1"/>
              </a:solidFill>
              <a:latin typeface="Calibri"/>
              <a:ea typeface="Calibri"/>
              <a:cs typeface="Calibri"/>
              <a:sym typeface="Calibri"/>
            </a:endParaRPr>
          </a:p>
        </p:txBody>
      </p:sp>
      <p:sp>
        <p:nvSpPr>
          <p:cNvPr id="812" name="Google Shape;812;p15"/>
          <p:cNvSpPr/>
          <p:nvPr/>
        </p:nvSpPr>
        <p:spPr>
          <a:xfrm>
            <a:off x="7278624" y="3474720"/>
            <a:ext cx="4090111" cy="420624"/>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使わなかった分は現物のワインとして定温倉庫に残り、いつでも出庫・贈答できます。</a:t>
            </a:r>
            <a:endParaRPr sz="980">
              <a:solidFill>
                <a:schemeClr val="dk1"/>
              </a:solidFill>
              <a:latin typeface="Calibri"/>
              <a:ea typeface="Calibri"/>
              <a:cs typeface="Calibri"/>
              <a:sym typeface="Calibri"/>
            </a:endParaRPr>
          </a:p>
        </p:txBody>
      </p:sp>
      <p:sp>
        <p:nvSpPr>
          <p:cNvPr id="813" name="Google Shape;813;p15"/>
          <p:cNvSpPr/>
          <p:nvPr/>
        </p:nvSpPr>
        <p:spPr>
          <a:xfrm>
            <a:off x="7022592" y="4114800"/>
            <a:ext cx="4602175" cy="1152144"/>
          </a:xfrm>
          <a:prstGeom prst="roundRect">
            <a:avLst>
              <a:gd name="adj" fmla="val 3968"/>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5"/>
          <p:cNvSpPr/>
          <p:nvPr/>
        </p:nvSpPr>
        <p:spPr>
          <a:xfrm>
            <a:off x="7278624" y="4315968"/>
            <a:ext cx="402336" cy="402336"/>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5"/>
          <p:cNvSpPr/>
          <p:nvPr/>
        </p:nvSpPr>
        <p:spPr>
          <a:xfrm>
            <a:off x="7278624" y="4315968"/>
            <a:ext cx="402336" cy="40233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03</a:t>
            </a:r>
            <a:endParaRPr sz="1100">
              <a:solidFill>
                <a:schemeClr val="dk1"/>
              </a:solidFill>
              <a:latin typeface="Calibri"/>
              <a:ea typeface="Calibri"/>
              <a:cs typeface="Calibri"/>
              <a:sym typeface="Calibri"/>
            </a:endParaRPr>
          </a:p>
        </p:txBody>
      </p:sp>
      <p:sp>
        <p:nvSpPr>
          <p:cNvPr id="816" name="Google Shape;816;p15"/>
          <p:cNvSpPr/>
          <p:nvPr/>
        </p:nvSpPr>
        <p:spPr>
          <a:xfrm>
            <a:off x="7790688" y="4297680"/>
            <a:ext cx="3578047"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世界観が先、価格が後</a:t>
            </a:r>
            <a:endParaRPr sz="1300">
              <a:solidFill>
                <a:schemeClr val="dk1"/>
              </a:solidFill>
              <a:latin typeface="Calibri"/>
              <a:ea typeface="Calibri"/>
              <a:cs typeface="Calibri"/>
              <a:sym typeface="Calibri"/>
            </a:endParaRPr>
          </a:p>
        </p:txBody>
      </p:sp>
      <p:sp>
        <p:nvSpPr>
          <p:cNvPr id="817" name="Google Shape;817;p15"/>
          <p:cNvSpPr/>
          <p:nvPr/>
        </p:nvSpPr>
        <p:spPr>
          <a:xfrm>
            <a:off x="7278624" y="4773168"/>
            <a:ext cx="4090111" cy="420624"/>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セラーと名店の体験を先に見ていただく。会員権は、その体験への入口として提示します。</a:t>
            </a:r>
            <a:endParaRPr sz="980">
              <a:solidFill>
                <a:schemeClr val="dk1"/>
              </a:solidFill>
              <a:latin typeface="Calibri"/>
              <a:ea typeface="Calibri"/>
              <a:cs typeface="Calibri"/>
              <a:sym typeface="Calibri"/>
            </a:endParaRPr>
          </a:p>
        </p:txBody>
      </p:sp>
      <p:sp>
        <p:nvSpPr>
          <p:cNvPr id="818" name="Google Shape;818;p15"/>
          <p:cNvSpPr/>
          <p:nvPr/>
        </p:nvSpPr>
        <p:spPr>
          <a:xfrm>
            <a:off x="7022592" y="5431536"/>
            <a:ext cx="4602175"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860"/>
              <a:buFont typeface="Arial"/>
              <a:buNone/>
            </a:pPr>
            <a:r>
              <a:rPr lang="en-US" sz="860">
                <a:solidFill>
                  <a:srgbClr val="A6ABAF"/>
                </a:solidFill>
                <a:latin typeface="Arial"/>
                <a:ea typeface="Arial"/>
                <a:cs typeface="Arial"/>
                <a:sym typeface="Arial"/>
              </a:rPr>
              <a:t>※ NOT A HOTELの事例は同社公表資料に基づく当社整理です。</a:t>
            </a:r>
            <a:endParaRPr sz="86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3"/>
        <p:cNvGrpSpPr/>
        <p:nvPr/>
      </p:nvGrpSpPr>
      <p:grpSpPr>
        <a:xfrm>
          <a:off x="0" y="0"/>
          <a:ext cx="0" cy="0"/>
          <a:chOff x="0" y="0"/>
          <a:chExt cx="0" cy="0"/>
        </a:xfrm>
      </p:grpSpPr>
      <p:pic>
        <p:nvPicPr>
          <p:cNvPr id="824" name="Google Shape;824;p17"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825" name="Google Shape;825;p17"/>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森ビル様へご相談させていただきたいこと</a:t>
            </a:r>
            <a:endParaRPr sz="2300">
              <a:solidFill>
                <a:schemeClr val="dk1"/>
              </a:solidFill>
              <a:latin typeface="Calibri"/>
              <a:ea typeface="Calibri"/>
              <a:cs typeface="Calibri"/>
              <a:sym typeface="Calibri"/>
            </a:endParaRPr>
          </a:p>
        </p:txBody>
      </p:sp>
      <p:sp>
        <p:nvSpPr>
          <p:cNvPr id="826" name="Google Shape;826;p17"/>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828" name="Google Shape;828;p17"/>
          <p:cNvSpPr/>
          <p:nvPr/>
        </p:nvSpPr>
        <p:spPr>
          <a:xfrm>
            <a:off x="566928" y="1463040"/>
            <a:ext cx="5400904" cy="2048256"/>
          </a:xfrm>
          <a:prstGeom prst="roundRect">
            <a:avLst>
              <a:gd name="adj" fmla="val 2232"/>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841248" y="1645920"/>
            <a:ext cx="548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200"/>
              <a:buFont typeface="Calibri"/>
              <a:buNone/>
            </a:pPr>
            <a:r>
              <a:rPr lang="en-US" sz="1200" b="1">
                <a:solidFill>
                  <a:srgbClr val="C68A65"/>
                </a:solidFill>
                <a:latin typeface="Calibri"/>
                <a:ea typeface="Calibri"/>
                <a:cs typeface="Calibri"/>
                <a:sym typeface="Calibri"/>
              </a:rPr>
              <a:t>01</a:t>
            </a:r>
            <a:endParaRPr sz="1200">
              <a:solidFill>
                <a:schemeClr val="dk1"/>
              </a:solidFill>
              <a:latin typeface="Calibri"/>
              <a:ea typeface="Calibri"/>
              <a:cs typeface="Calibri"/>
              <a:sym typeface="Calibri"/>
            </a:endParaRPr>
          </a:p>
        </p:txBody>
      </p:sp>
      <p:sp>
        <p:nvSpPr>
          <p:cNvPr id="830" name="Google Shape;830;p17"/>
          <p:cNvSpPr/>
          <p:nvPr/>
        </p:nvSpPr>
        <p:spPr>
          <a:xfrm>
            <a:off x="1353312" y="1627632"/>
            <a:ext cx="357210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500"/>
              <a:buFont typeface="Arial"/>
              <a:buNone/>
            </a:pPr>
            <a:r>
              <a:rPr lang="en-US" sz="1500" b="1">
                <a:solidFill>
                  <a:srgbClr val="FFFFFF"/>
                </a:solidFill>
                <a:latin typeface="Arial"/>
                <a:ea typeface="Arial"/>
                <a:cs typeface="Arial"/>
                <a:sym typeface="Arial"/>
              </a:rPr>
              <a:t>館内ワインストレージのご提供</a:t>
            </a:r>
            <a:endParaRPr sz="1500">
              <a:solidFill>
                <a:schemeClr val="dk1"/>
              </a:solidFill>
              <a:latin typeface="Calibri"/>
              <a:ea typeface="Calibri"/>
              <a:cs typeface="Calibri"/>
              <a:sym typeface="Calibri"/>
            </a:endParaRPr>
          </a:p>
        </p:txBody>
      </p:sp>
      <p:sp>
        <p:nvSpPr>
          <p:cNvPr id="831" name="Google Shape;831;p17"/>
          <p:cNvSpPr/>
          <p:nvPr/>
        </p:nvSpPr>
        <p:spPr>
          <a:xfrm>
            <a:off x="4998568" y="1627632"/>
            <a:ext cx="731520" cy="256032"/>
          </a:xfrm>
          <a:prstGeom prst="roundRect">
            <a:avLst>
              <a:gd name="adj" fmla="val 10714"/>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17"/>
          <p:cNvSpPr/>
          <p:nvPr/>
        </p:nvSpPr>
        <p:spPr>
          <a:xfrm>
            <a:off x="4998568" y="1627632"/>
            <a:ext cx="7315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最重要</a:t>
            </a:r>
            <a:endParaRPr sz="850">
              <a:solidFill>
                <a:schemeClr val="dk1"/>
              </a:solidFill>
              <a:latin typeface="Calibri"/>
              <a:ea typeface="Calibri"/>
              <a:cs typeface="Calibri"/>
              <a:sym typeface="Calibri"/>
            </a:endParaRPr>
          </a:p>
        </p:txBody>
      </p:sp>
      <p:sp>
        <p:nvSpPr>
          <p:cNvPr id="833" name="Google Shape;833;p17"/>
          <p:cNvSpPr/>
          <p:nvPr/>
        </p:nvSpPr>
        <p:spPr>
          <a:xfrm>
            <a:off x="841248" y="2029968"/>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920"/>
              <a:buFont typeface="Arial"/>
              <a:buNone/>
            </a:pPr>
            <a:r>
              <a:rPr lang="en-US" sz="920" b="1">
                <a:solidFill>
                  <a:srgbClr val="C68A65"/>
                </a:solidFill>
                <a:latin typeface="Arial"/>
                <a:ea typeface="Arial"/>
                <a:cs typeface="Arial"/>
                <a:sym typeface="Arial"/>
              </a:rPr>
              <a:t>お願いしたいこと</a:t>
            </a:r>
            <a:endParaRPr sz="920">
              <a:solidFill>
                <a:schemeClr val="dk1"/>
              </a:solidFill>
              <a:latin typeface="Calibri"/>
              <a:ea typeface="Calibri"/>
              <a:cs typeface="Calibri"/>
              <a:sym typeface="Calibri"/>
            </a:endParaRPr>
          </a:p>
        </p:txBody>
      </p:sp>
      <p:sp>
        <p:nvSpPr>
          <p:cNvPr id="834" name="Google Shape;834;p17"/>
          <p:cNvSpPr/>
          <p:nvPr/>
        </p:nvSpPr>
        <p:spPr>
          <a:xfrm>
            <a:off x="841248" y="2249424"/>
            <a:ext cx="4852264" cy="438912"/>
          </a:xfrm>
          <a:prstGeom prst="rect">
            <a:avLst/>
          </a:prstGeom>
          <a:noFill/>
          <a:ln>
            <a:noFill/>
          </a:ln>
        </p:spPr>
        <p:txBody>
          <a:bodyPr spcFirstLastPara="1" wrap="square" lIns="0" tIns="0" rIns="0" bIns="0" anchor="ctr" anchorCtr="0">
            <a:noAutofit/>
          </a:bodyPr>
          <a:lstStyle/>
          <a:p>
            <a:pPr marL="0" marR="0" lvl="0" indent="0" algn="l" rtl="0">
              <a:lnSpc>
                <a:spcPct val="137254"/>
              </a:lnSpc>
              <a:spcBef>
                <a:spcPts val="0"/>
              </a:spcBef>
              <a:spcAft>
                <a:spcPts val="0"/>
              </a:spcAft>
              <a:buClr>
                <a:srgbClr val="FFFFFF"/>
              </a:buClr>
              <a:buSzPts val="1020"/>
              <a:buFont typeface="Arial"/>
              <a:buNone/>
            </a:pPr>
            <a:r>
              <a:rPr lang="en-US" sz="1020">
                <a:solidFill>
                  <a:srgbClr val="FFFFFF"/>
                </a:solidFill>
                <a:latin typeface="Arial"/>
                <a:ea typeface="Arial"/>
                <a:cs typeface="Arial"/>
                <a:sym typeface="Arial"/>
              </a:rPr>
              <a:t>街区内に定温のワイン保管スペース（15〜30坪）をご用意いただきたく存じます。</a:t>
            </a:r>
            <a:endParaRPr sz="1020">
              <a:solidFill>
                <a:schemeClr val="dk1"/>
              </a:solidFill>
              <a:latin typeface="Calibri"/>
              <a:ea typeface="Calibri"/>
              <a:cs typeface="Calibri"/>
              <a:sym typeface="Calibri"/>
            </a:endParaRPr>
          </a:p>
        </p:txBody>
      </p:sp>
      <p:sp>
        <p:nvSpPr>
          <p:cNvPr id="835" name="Google Shape;835;p17"/>
          <p:cNvSpPr/>
          <p:nvPr/>
        </p:nvSpPr>
        <p:spPr>
          <a:xfrm>
            <a:off x="841248" y="2743200"/>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920"/>
              <a:buFont typeface="Arial"/>
              <a:buNone/>
            </a:pPr>
            <a:r>
              <a:rPr lang="en-US" sz="920" b="1">
                <a:solidFill>
                  <a:srgbClr val="C68A65"/>
                </a:solidFill>
                <a:latin typeface="Arial"/>
                <a:ea typeface="Arial"/>
                <a:cs typeface="Arial"/>
                <a:sym typeface="Arial"/>
              </a:rPr>
              <a:t>当社が負担するもの</a:t>
            </a:r>
            <a:endParaRPr sz="920">
              <a:solidFill>
                <a:schemeClr val="dk1"/>
              </a:solidFill>
              <a:latin typeface="Calibri"/>
              <a:ea typeface="Calibri"/>
              <a:cs typeface="Calibri"/>
              <a:sym typeface="Calibri"/>
            </a:endParaRPr>
          </a:p>
        </p:txBody>
      </p:sp>
      <p:sp>
        <p:nvSpPr>
          <p:cNvPr id="836" name="Google Shape;836;p17"/>
          <p:cNvSpPr/>
          <p:nvPr/>
        </p:nvSpPr>
        <p:spPr>
          <a:xfrm>
            <a:off x="841248" y="2962656"/>
            <a:ext cx="4852264" cy="475488"/>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DDE1E4"/>
              </a:buClr>
              <a:buSzPts val="980"/>
              <a:buFont typeface="Arial"/>
              <a:buNone/>
            </a:pPr>
            <a:r>
              <a:rPr lang="en-US" sz="980">
                <a:solidFill>
                  <a:srgbClr val="DDE1E4"/>
                </a:solidFill>
                <a:latin typeface="Arial"/>
                <a:ea typeface="Arial"/>
                <a:cs typeface="Arial"/>
                <a:sym typeface="Arial"/>
              </a:rPr>
              <a:t>定温設備・什器・在庫（数千〜1万本）・常駐スタッフ・運営はすべて当社が負担します。在庫リスクも当社が保有します。</a:t>
            </a:r>
            <a:endParaRPr sz="980">
              <a:solidFill>
                <a:schemeClr val="dk1"/>
              </a:solidFill>
              <a:latin typeface="Calibri"/>
              <a:ea typeface="Calibri"/>
              <a:cs typeface="Calibri"/>
              <a:sym typeface="Calibri"/>
            </a:endParaRPr>
          </a:p>
        </p:txBody>
      </p:sp>
      <p:sp>
        <p:nvSpPr>
          <p:cNvPr id="837" name="Google Shape;837;p17"/>
          <p:cNvSpPr/>
          <p:nvPr/>
        </p:nvSpPr>
        <p:spPr>
          <a:xfrm>
            <a:off x="6223864" y="1463040"/>
            <a:ext cx="5400904" cy="2048256"/>
          </a:xfrm>
          <a:prstGeom prst="roundRect">
            <a:avLst>
              <a:gd name="adj" fmla="val 2232"/>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6498184" y="1645920"/>
            <a:ext cx="548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200"/>
              <a:buFont typeface="Calibri"/>
              <a:buNone/>
            </a:pPr>
            <a:r>
              <a:rPr lang="en-US" sz="1200" b="1">
                <a:solidFill>
                  <a:srgbClr val="C68A65"/>
                </a:solidFill>
                <a:latin typeface="Calibri"/>
                <a:ea typeface="Calibri"/>
                <a:cs typeface="Calibri"/>
                <a:sym typeface="Calibri"/>
              </a:rPr>
              <a:t>02</a:t>
            </a:r>
            <a:endParaRPr sz="1200">
              <a:solidFill>
                <a:schemeClr val="dk1"/>
              </a:solidFill>
              <a:latin typeface="Calibri"/>
              <a:ea typeface="Calibri"/>
              <a:cs typeface="Calibri"/>
              <a:sym typeface="Calibri"/>
            </a:endParaRPr>
          </a:p>
        </p:txBody>
      </p:sp>
      <p:sp>
        <p:nvSpPr>
          <p:cNvPr id="839" name="Google Shape;839;p17"/>
          <p:cNvSpPr/>
          <p:nvPr/>
        </p:nvSpPr>
        <p:spPr>
          <a:xfrm>
            <a:off x="7010248" y="1627632"/>
            <a:ext cx="357210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テナント飲食店へのご紹介</a:t>
            </a:r>
            <a:endParaRPr sz="1500">
              <a:solidFill>
                <a:schemeClr val="dk1"/>
              </a:solidFill>
              <a:latin typeface="Calibri"/>
              <a:ea typeface="Calibri"/>
              <a:cs typeface="Calibri"/>
              <a:sym typeface="Calibri"/>
            </a:endParaRPr>
          </a:p>
        </p:txBody>
      </p:sp>
      <p:sp>
        <p:nvSpPr>
          <p:cNvPr id="840" name="Google Shape;840;p17"/>
          <p:cNvSpPr/>
          <p:nvPr/>
        </p:nvSpPr>
        <p:spPr>
          <a:xfrm>
            <a:off x="6498184" y="2029968"/>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20"/>
              <a:buFont typeface="Arial"/>
              <a:buNone/>
            </a:pPr>
            <a:r>
              <a:rPr lang="en-US" sz="920" b="1">
                <a:solidFill>
                  <a:srgbClr val="A06D4C"/>
                </a:solidFill>
                <a:latin typeface="Arial"/>
                <a:ea typeface="Arial"/>
                <a:cs typeface="Arial"/>
                <a:sym typeface="Arial"/>
              </a:rPr>
              <a:t>お願いしたいこと</a:t>
            </a:r>
            <a:endParaRPr sz="920">
              <a:solidFill>
                <a:schemeClr val="dk1"/>
              </a:solidFill>
              <a:latin typeface="Calibri"/>
              <a:ea typeface="Calibri"/>
              <a:cs typeface="Calibri"/>
              <a:sym typeface="Calibri"/>
            </a:endParaRPr>
          </a:p>
        </p:txBody>
      </p:sp>
      <p:sp>
        <p:nvSpPr>
          <p:cNvPr id="841" name="Google Shape;841;p17"/>
          <p:cNvSpPr/>
          <p:nvPr/>
        </p:nvSpPr>
        <p:spPr>
          <a:xfrm>
            <a:off x="6498184" y="2249424"/>
            <a:ext cx="4852264" cy="438912"/>
          </a:xfrm>
          <a:prstGeom prst="rect">
            <a:avLst/>
          </a:prstGeom>
          <a:noFill/>
          <a:ln>
            <a:noFill/>
          </a:ln>
        </p:spPr>
        <p:txBody>
          <a:bodyPr spcFirstLastPara="1" wrap="square" lIns="0" tIns="0" rIns="0" bIns="0" anchor="ctr" anchorCtr="0">
            <a:noAutofit/>
          </a:bodyPr>
          <a:lstStyle/>
          <a:p>
            <a:pPr marL="0" marR="0" lvl="0" indent="0" algn="l" rtl="0">
              <a:lnSpc>
                <a:spcPct val="137254"/>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Cloud Wine Cave と置きワインの導入について、対象店へのお取り次ぎをお願いしたく存じます。</a:t>
            </a:r>
            <a:endParaRPr sz="1020">
              <a:solidFill>
                <a:schemeClr val="dk1"/>
              </a:solidFill>
              <a:latin typeface="Calibri"/>
              <a:ea typeface="Calibri"/>
              <a:cs typeface="Calibri"/>
              <a:sym typeface="Calibri"/>
            </a:endParaRPr>
          </a:p>
        </p:txBody>
      </p:sp>
      <p:sp>
        <p:nvSpPr>
          <p:cNvPr id="842" name="Google Shape;842;p17"/>
          <p:cNvSpPr/>
          <p:nvPr/>
        </p:nvSpPr>
        <p:spPr>
          <a:xfrm>
            <a:off x="6498184" y="2743200"/>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20"/>
              <a:buFont typeface="Arial"/>
              <a:buNone/>
            </a:pPr>
            <a:r>
              <a:rPr lang="en-US" sz="920" b="1">
                <a:solidFill>
                  <a:srgbClr val="A06D4C"/>
                </a:solidFill>
                <a:latin typeface="Arial"/>
                <a:ea typeface="Arial"/>
                <a:cs typeface="Arial"/>
                <a:sym typeface="Arial"/>
              </a:rPr>
              <a:t>当社が負担するもの</a:t>
            </a:r>
            <a:endParaRPr sz="920">
              <a:solidFill>
                <a:schemeClr val="dk1"/>
              </a:solidFill>
              <a:latin typeface="Calibri"/>
              <a:ea typeface="Calibri"/>
              <a:cs typeface="Calibri"/>
              <a:sym typeface="Calibri"/>
            </a:endParaRPr>
          </a:p>
        </p:txBody>
      </p:sp>
      <p:sp>
        <p:nvSpPr>
          <p:cNvPr id="843" name="Google Shape;843;p17"/>
          <p:cNvSpPr/>
          <p:nvPr/>
        </p:nvSpPr>
        <p:spPr>
          <a:xfrm>
            <a:off x="6498184" y="2962656"/>
            <a:ext cx="4852264" cy="475488"/>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提案・与信審査・導入運用・アフターは当社が行います。森ビル様に営業の実務は発生しません。</a:t>
            </a:r>
            <a:endParaRPr sz="980">
              <a:solidFill>
                <a:schemeClr val="dk1"/>
              </a:solidFill>
              <a:latin typeface="Calibri"/>
              <a:ea typeface="Calibri"/>
              <a:cs typeface="Calibri"/>
              <a:sym typeface="Calibri"/>
            </a:endParaRPr>
          </a:p>
        </p:txBody>
      </p:sp>
      <p:sp>
        <p:nvSpPr>
          <p:cNvPr id="844" name="Google Shape;844;p17"/>
          <p:cNvSpPr/>
          <p:nvPr/>
        </p:nvSpPr>
        <p:spPr>
          <a:xfrm>
            <a:off x="566928" y="3730752"/>
            <a:ext cx="5400904" cy="2048256"/>
          </a:xfrm>
          <a:prstGeom prst="roundRect">
            <a:avLst>
              <a:gd name="adj" fmla="val 2232"/>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7"/>
          <p:cNvSpPr/>
          <p:nvPr/>
        </p:nvSpPr>
        <p:spPr>
          <a:xfrm>
            <a:off x="841248" y="3913632"/>
            <a:ext cx="548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200"/>
              <a:buFont typeface="Calibri"/>
              <a:buNone/>
            </a:pPr>
            <a:r>
              <a:rPr lang="en-US" sz="1200" b="1">
                <a:solidFill>
                  <a:srgbClr val="C68A65"/>
                </a:solidFill>
                <a:latin typeface="Calibri"/>
                <a:ea typeface="Calibri"/>
                <a:cs typeface="Calibri"/>
                <a:sym typeface="Calibri"/>
              </a:rPr>
              <a:t>03</a:t>
            </a:r>
            <a:endParaRPr sz="1200">
              <a:solidFill>
                <a:schemeClr val="dk1"/>
              </a:solidFill>
              <a:latin typeface="Calibri"/>
              <a:ea typeface="Calibri"/>
              <a:cs typeface="Calibri"/>
              <a:sym typeface="Calibri"/>
            </a:endParaRPr>
          </a:p>
        </p:txBody>
      </p:sp>
      <p:sp>
        <p:nvSpPr>
          <p:cNvPr id="846" name="Google Shape;846;p17"/>
          <p:cNvSpPr/>
          <p:nvPr/>
        </p:nvSpPr>
        <p:spPr>
          <a:xfrm>
            <a:off x="1353312" y="3895344"/>
            <a:ext cx="357210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館内動線・搬入の運用ご調整</a:t>
            </a:r>
            <a:endParaRPr sz="1500">
              <a:solidFill>
                <a:schemeClr val="dk1"/>
              </a:solidFill>
              <a:latin typeface="Calibri"/>
              <a:ea typeface="Calibri"/>
              <a:cs typeface="Calibri"/>
              <a:sym typeface="Calibri"/>
            </a:endParaRPr>
          </a:p>
        </p:txBody>
      </p:sp>
      <p:sp>
        <p:nvSpPr>
          <p:cNvPr id="847" name="Google Shape;847;p17"/>
          <p:cNvSpPr/>
          <p:nvPr/>
        </p:nvSpPr>
        <p:spPr>
          <a:xfrm>
            <a:off x="841248" y="4297680"/>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20"/>
              <a:buFont typeface="Arial"/>
              <a:buNone/>
            </a:pPr>
            <a:r>
              <a:rPr lang="en-US" sz="920" b="1">
                <a:solidFill>
                  <a:srgbClr val="A06D4C"/>
                </a:solidFill>
                <a:latin typeface="Arial"/>
                <a:ea typeface="Arial"/>
                <a:cs typeface="Arial"/>
                <a:sym typeface="Arial"/>
              </a:rPr>
              <a:t>お願いしたいこと</a:t>
            </a:r>
            <a:endParaRPr sz="920">
              <a:solidFill>
                <a:schemeClr val="dk1"/>
              </a:solidFill>
              <a:latin typeface="Calibri"/>
              <a:ea typeface="Calibri"/>
              <a:cs typeface="Calibri"/>
              <a:sym typeface="Calibri"/>
            </a:endParaRPr>
          </a:p>
        </p:txBody>
      </p:sp>
      <p:sp>
        <p:nvSpPr>
          <p:cNvPr id="848" name="Google Shape;848;p17"/>
          <p:cNvSpPr/>
          <p:nvPr/>
        </p:nvSpPr>
        <p:spPr>
          <a:xfrm>
            <a:off x="841248" y="4517136"/>
            <a:ext cx="4852264" cy="438912"/>
          </a:xfrm>
          <a:prstGeom prst="rect">
            <a:avLst/>
          </a:prstGeom>
          <a:noFill/>
          <a:ln>
            <a:noFill/>
          </a:ln>
        </p:spPr>
        <p:txBody>
          <a:bodyPr spcFirstLastPara="1" wrap="square" lIns="0" tIns="0" rIns="0" bIns="0" anchor="ctr" anchorCtr="0">
            <a:noAutofit/>
          </a:bodyPr>
          <a:lstStyle/>
          <a:p>
            <a:pPr marL="0" marR="0" lvl="0" indent="0" algn="l" rtl="0">
              <a:lnSpc>
                <a:spcPct val="137254"/>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配送スタッフの館内動線、荷捌き場の使用、夜間帯の出入りについてご調整をお願いします。</a:t>
            </a:r>
            <a:endParaRPr sz="1020">
              <a:solidFill>
                <a:schemeClr val="dk1"/>
              </a:solidFill>
              <a:latin typeface="Calibri"/>
              <a:ea typeface="Calibri"/>
              <a:cs typeface="Calibri"/>
              <a:sym typeface="Calibri"/>
            </a:endParaRPr>
          </a:p>
        </p:txBody>
      </p:sp>
      <p:sp>
        <p:nvSpPr>
          <p:cNvPr id="849" name="Google Shape;849;p17"/>
          <p:cNvSpPr/>
          <p:nvPr/>
        </p:nvSpPr>
        <p:spPr>
          <a:xfrm>
            <a:off x="841248" y="5010912"/>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20"/>
              <a:buFont typeface="Arial"/>
              <a:buNone/>
            </a:pPr>
            <a:r>
              <a:rPr lang="en-US" sz="920" b="1">
                <a:solidFill>
                  <a:srgbClr val="A06D4C"/>
                </a:solidFill>
                <a:latin typeface="Arial"/>
                <a:ea typeface="Arial"/>
                <a:cs typeface="Arial"/>
                <a:sym typeface="Arial"/>
              </a:rPr>
              <a:t>当社が負担するもの</a:t>
            </a:r>
            <a:endParaRPr sz="920">
              <a:solidFill>
                <a:schemeClr val="dk1"/>
              </a:solidFill>
              <a:latin typeface="Calibri"/>
              <a:ea typeface="Calibri"/>
              <a:cs typeface="Calibri"/>
              <a:sym typeface="Calibri"/>
            </a:endParaRPr>
          </a:p>
        </p:txBody>
      </p:sp>
      <p:sp>
        <p:nvSpPr>
          <p:cNvPr id="850" name="Google Shape;850;p17"/>
          <p:cNvSpPr/>
          <p:nvPr/>
        </p:nvSpPr>
        <p:spPr>
          <a:xfrm>
            <a:off x="841248" y="5230368"/>
            <a:ext cx="4852264" cy="475488"/>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車両・スタッフ・保険・温度管理はすべて当社側で手配します。</a:t>
            </a:r>
            <a:endParaRPr sz="980">
              <a:solidFill>
                <a:schemeClr val="dk1"/>
              </a:solidFill>
              <a:latin typeface="Calibri"/>
              <a:ea typeface="Calibri"/>
              <a:cs typeface="Calibri"/>
              <a:sym typeface="Calibri"/>
            </a:endParaRPr>
          </a:p>
        </p:txBody>
      </p:sp>
      <p:sp>
        <p:nvSpPr>
          <p:cNvPr id="851" name="Google Shape;851;p17"/>
          <p:cNvSpPr/>
          <p:nvPr/>
        </p:nvSpPr>
        <p:spPr>
          <a:xfrm>
            <a:off x="6223864" y="3730752"/>
            <a:ext cx="5400904" cy="2048256"/>
          </a:xfrm>
          <a:prstGeom prst="roundRect">
            <a:avLst>
              <a:gd name="adj" fmla="val 2232"/>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7"/>
          <p:cNvSpPr/>
          <p:nvPr/>
        </p:nvSpPr>
        <p:spPr>
          <a:xfrm>
            <a:off x="6498184" y="3913632"/>
            <a:ext cx="548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200"/>
              <a:buFont typeface="Calibri"/>
              <a:buNone/>
            </a:pPr>
            <a:r>
              <a:rPr lang="en-US" sz="1200" b="1">
                <a:solidFill>
                  <a:srgbClr val="C68A65"/>
                </a:solidFill>
                <a:latin typeface="Calibri"/>
                <a:ea typeface="Calibri"/>
                <a:cs typeface="Calibri"/>
                <a:sym typeface="Calibri"/>
              </a:rPr>
              <a:t>04</a:t>
            </a:r>
            <a:endParaRPr sz="1200">
              <a:solidFill>
                <a:schemeClr val="dk1"/>
              </a:solidFill>
              <a:latin typeface="Calibri"/>
              <a:ea typeface="Calibri"/>
              <a:cs typeface="Calibri"/>
              <a:sym typeface="Calibri"/>
            </a:endParaRPr>
          </a:p>
        </p:txBody>
      </p:sp>
      <p:sp>
        <p:nvSpPr>
          <p:cNvPr id="853" name="Google Shape;853;p17"/>
          <p:cNvSpPr/>
          <p:nvPr/>
        </p:nvSpPr>
        <p:spPr>
          <a:xfrm>
            <a:off x="7010248" y="3895344"/>
            <a:ext cx="357210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居住者・テナント法人へのご案内</a:t>
            </a:r>
            <a:endParaRPr sz="1500">
              <a:solidFill>
                <a:schemeClr val="dk1"/>
              </a:solidFill>
              <a:latin typeface="Calibri"/>
              <a:ea typeface="Calibri"/>
              <a:cs typeface="Calibri"/>
              <a:sym typeface="Calibri"/>
            </a:endParaRPr>
          </a:p>
        </p:txBody>
      </p:sp>
      <p:sp>
        <p:nvSpPr>
          <p:cNvPr id="854" name="Google Shape;854;p17"/>
          <p:cNvSpPr/>
          <p:nvPr/>
        </p:nvSpPr>
        <p:spPr>
          <a:xfrm>
            <a:off x="6498184" y="4297680"/>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20"/>
              <a:buFont typeface="Arial"/>
              <a:buNone/>
            </a:pPr>
            <a:r>
              <a:rPr lang="en-US" sz="920" b="1">
                <a:solidFill>
                  <a:srgbClr val="A06D4C"/>
                </a:solidFill>
                <a:latin typeface="Arial"/>
                <a:ea typeface="Arial"/>
                <a:cs typeface="Arial"/>
                <a:sym typeface="Arial"/>
              </a:rPr>
              <a:t>お願いしたいこと</a:t>
            </a:r>
            <a:endParaRPr sz="920">
              <a:solidFill>
                <a:schemeClr val="dk1"/>
              </a:solidFill>
              <a:latin typeface="Calibri"/>
              <a:ea typeface="Calibri"/>
              <a:cs typeface="Calibri"/>
              <a:sym typeface="Calibri"/>
            </a:endParaRPr>
          </a:p>
        </p:txBody>
      </p:sp>
      <p:sp>
        <p:nvSpPr>
          <p:cNvPr id="855" name="Google Shape;855;p17"/>
          <p:cNvSpPr/>
          <p:nvPr/>
        </p:nvSpPr>
        <p:spPr>
          <a:xfrm>
            <a:off x="6498184" y="4517136"/>
            <a:ext cx="4852264" cy="438912"/>
          </a:xfrm>
          <a:prstGeom prst="rect">
            <a:avLst/>
          </a:prstGeom>
          <a:noFill/>
          <a:ln>
            <a:noFill/>
          </a:ln>
        </p:spPr>
        <p:txBody>
          <a:bodyPr spcFirstLastPara="1" wrap="square" lIns="0" tIns="0" rIns="0" bIns="0" anchor="ctr" anchorCtr="0">
            <a:noAutofit/>
          </a:bodyPr>
          <a:lstStyle/>
          <a:p>
            <a:pPr marL="0" marR="0" lvl="0" indent="0" algn="l" rtl="0">
              <a:lnSpc>
                <a:spcPct val="137254"/>
              </a:lnSpc>
              <a:spcBef>
                <a:spcPts val="0"/>
              </a:spcBef>
              <a:spcAft>
                <a:spcPts val="0"/>
              </a:spcAft>
              <a:buClr>
                <a:srgbClr val="1A1A1A"/>
              </a:buClr>
              <a:buSzPts val="1020"/>
              <a:buFont typeface="Arial"/>
              <a:buNone/>
            </a:pPr>
            <a:r>
              <a:rPr lang="en-US" sz="1020">
                <a:solidFill>
                  <a:srgbClr val="1A1A1A"/>
                </a:solidFill>
                <a:latin typeface="Arial"/>
                <a:ea typeface="Arial"/>
                <a:cs typeface="Arial"/>
                <a:sym typeface="Arial"/>
              </a:rPr>
              <a:t>レジデンスコンシェルジュおよびテナント総務経由での告知導線をお願いしたく存じます。</a:t>
            </a:r>
            <a:endParaRPr sz="1020">
              <a:solidFill>
                <a:schemeClr val="dk1"/>
              </a:solidFill>
              <a:latin typeface="Calibri"/>
              <a:ea typeface="Calibri"/>
              <a:cs typeface="Calibri"/>
              <a:sym typeface="Calibri"/>
            </a:endParaRPr>
          </a:p>
        </p:txBody>
      </p:sp>
      <p:sp>
        <p:nvSpPr>
          <p:cNvPr id="856" name="Google Shape;856;p17"/>
          <p:cNvSpPr/>
          <p:nvPr/>
        </p:nvSpPr>
        <p:spPr>
          <a:xfrm>
            <a:off x="6498184" y="5010912"/>
            <a:ext cx="4852264"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20"/>
              <a:buFont typeface="Arial"/>
              <a:buNone/>
            </a:pPr>
            <a:r>
              <a:rPr lang="en-US" sz="920" b="1">
                <a:solidFill>
                  <a:srgbClr val="A06D4C"/>
                </a:solidFill>
                <a:latin typeface="Arial"/>
                <a:ea typeface="Arial"/>
                <a:cs typeface="Arial"/>
                <a:sym typeface="Arial"/>
              </a:rPr>
              <a:t>当社が負担するもの</a:t>
            </a:r>
            <a:endParaRPr sz="920">
              <a:solidFill>
                <a:schemeClr val="dk1"/>
              </a:solidFill>
              <a:latin typeface="Calibri"/>
              <a:ea typeface="Calibri"/>
              <a:cs typeface="Calibri"/>
              <a:sym typeface="Calibri"/>
            </a:endParaRPr>
          </a:p>
        </p:txBody>
      </p:sp>
      <p:sp>
        <p:nvSpPr>
          <p:cNvPr id="857" name="Google Shape;857;p17"/>
          <p:cNvSpPr/>
          <p:nvPr/>
        </p:nvSpPr>
        <p:spPr>
          <a:xfrm>
            <a:off x="6498184" y="5230368"/>
            <a:ext cx="4852264" cy="475488"/>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入会受付・本人確認・請求・問い合わせ対応は当社が一括で運用します。</a:t>
            </a:r>
            <a:endParaRPr sz="980">
              <a:solidFill>
                <a:schemeClr val="dk1"/>
              </a:solidFill>
              <a:latin typeface="Calibri"/>
              <a:ea typeface="Calibri"/>
              <a:cs typeface="Calibri"/>
              <a:sym typeface="Calibri"/>
            </a:endParaRPr>
          </a:p>
        </p:txBody>
      </p:sp>
      <p:sp>
        <p:nvSpPr>
          <p:cNvPr id="858" name="Google Shape;858;p17"/>
          <p:cNvSpPr/>
          <p:nvPr/>
        </p:nvSpPr>
        <p:spPr>
          <a:xfrm>
            <a:off x="566928" y="5870448"/>
            <a:ext cx="10972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①以外は、既存の館内オペレーションの中でご対応いただける範囲を想定しています。①については次ページで経済性を整理しました。</a:t>
            </a:r>
            <a:endParaRPr sz="10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3"/>
        <p:cNvGrpSpPr/>
        <p:nvPr/>
      </p:nvGrpSpPr>
      <p:grpSpPr>
        <a:xfrm>
          <a:off x="0" y="0"/>
          <a:ext cx="0" cy="0"/>
          <a:chOff x="0" y="0"/>
          <a:chExt cx="0" cy="0"/>
        </a:xfrm>
      </p:grpSpPr>
      <p:pic>
        <p:nvPicPr>
          <p:cNvPr id="864" name="Google Shape;864;p18"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865" name="Google Shape;865;p18"/>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館内ワインストレージの共同開設をご相談させてください</a:t>
            </a:r>
            <a:endParaRPr sz="2300">
              <a:solidFill>
                <a:schemeClr val="dk1"/>
              </a:solidFill>
              <a:latin typeface="Calibri"/>
              <a:ea typeface="Calibri"/>
              <a:cs typeface="Calibri"/>
              <a:sym typeface="Calibri"/>
            </a:endParaRPr>
          </a:p>
        </p:txBody>
      </p:sp>
      <p:sp>
        <p:nvSpPr>
          <p:cNvPr id="866" name="Google Shape;866;p18"/>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場所を森ビル様に、在庫と運営を当社に。この分担が、館内の飲食テナントとレジデンスの体験を一段変えます。</a:t>
            </a:r>
            <a:endParaRPr sz="1150">
              <a:solidFill>
                <a:schemeClr val="dk1"/>
              </a:solidFill>
              <a:latin typeface="Calibri"/>
              <a:ea typeface="Calibri"/>
              <a:cs typeface="Calibri"/>
              <a:sym typeface="Calibri"/>
            </a:endParaRPr>
          </a:p>
        </p:txBody>
      </p:sp>
      <p:sp>
        <p:nvSpPr>
          <p:cNvPr id="867" name="Google Shape;867;p18"/>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869" name="Google Shape;869;p18"/>
          <p:cNvSpPr/>
          <p:nvPr/>
        </p:nvSpPr>
        <p:spPr>
          <a:xfrm>
            <a:off x="566928" y="1444752"/>
            <a:ext cx="2834640" cy="859536"/>
          </a:xfrm>
          <a:prstGeom prst="roundRect">
            <a:avLst>
              <a:gd name="adj" fmla="val 5319"/>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18"/>
          <p:cNvSpPr/>
          <p:nvPr/>
        </p:nvSpPr>
        <p:spPr>
          <a:xfrm>
            <a:off x="804672" y="1517904"/>
            <a:ext cx="2359152"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現状（当社倉庫からの配送）</a:t>
            </a:r>
            <a:endParaRPr sz="940">
              <a:solidFill>
                <a:schemeClr val="dk1"/>
              </a:solidFill>
              <a:latin typeface="Calibri"/>
              <a:ea typeface="Calibri"/>
              <a:cs typeface="Calibri"/>
              <a:sym typeface="Calibri"/>
            </a:endParaRPr>
          </a:p>
        </p:txBody>
      </p:sp>
      <p:sp>
        <p:nvSpPr>
          <p:cNvPr id="871" name="Google Shape;871;p18"/>
          <p:cNvSpPr/>
          <p:nvPr/>
        </p:nvSpPr>
        <p:spPr>
          <a:xfrm>
            <a:off x="804672" y="1773936"/>
            <a:ext cx="2359152"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前日午前中のご注文で 翌日着</a:t>
            </a:r>
            <a:endParaRPr sz="1300">
              <a:solidFill>
                <a:schemeClr val="dk1"/>
              </a:solidFill>
              <a:latin typeface="Calibri"/>
              <a:ea typeface="Calibri"/>
              <a:cs typeface="Calibri"/>
              <a:sym typeface="Calibri"/>
            </a:endParaRPr>
          </a:p>
        </p:txBody>
      </p:sp>
      <p:sp>
        <p:nvSpPr>
          <p:cNvPr id="872" name="Google Shape;872;p18"/>
          <p:cNvSpPr/>
          <p:nvPr/>
        </p:nvSpPr>
        <p:spPr>
          <a:xfrm>
            <a:off x="3584448" y="1444752"/>
            <a:ext cx="2834640" cy="859536"/>
          </a:xfrm>
          <a:prstGeom prst="roundRect">
            <a:avLst>
              <a:gd name="adj" fmla="val 5319"/>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3822192" y="1517904"/>
            <a:ext cx="2359152"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939"/>
              <a:buFont typeface="Arial"/>
              <a:buNone/>
            </a:pPr>
            <a:r>
              <a:rPr lang="en-US" sz="940">
                <a:solidFill>
                  <a:srgbClr val="EFDCCE"/>
                </a:solidFill>
                <a:latin typeface="Arial"/>
                <a:ea typeface="Arial"/>
                <a:cs typeface="Arial"/>
                <a:sym typeface="Arial"/>
              </a:rPr>
              <a:t>館内ストレージ開設後</a:t>
            </a:r>
            <a:endParaRPr sz="940">
              <a:solidFill>
                <a:schemeClr val="dk1"/>
              </a:solidFill>
              <a:latin typeface="Calibri"/>
              <a:ea typeface="Calibri"/>
              <a:cs typeface="Calibri"/>
              <a:sym typeface="Calibri"/>
            </a:endParaRPr>
          </a:p>
        </p:txBody>
      </p:sp>
      <p:sp>
        <p:nvSpPr>
          <p:cNvPr id="874" name="Google Shape;874;p18"/>
          <p:cNvSpPr/>
          <p:nvPr/>
        </p:nvSpPr>
        <p:spPr>
          <a:xfrm>
            <a:off x="3822192" y="1773936"/>
            <a:ext cx="2359152"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700"/>
              <a:buFont typeface="Arial"/>
              <a:buNone/>
            </a:pPr>
            <a:r>
              <a:rPr lang="en-US" sz="1700" b="1">
                <a:solidFill>
                  <a:srgbClr val="FFFFFF"/>
                </a:solidFill>
                <a:latin typeface="Arial"/>
                <a:ea typeface="Arial"/>
                <a:cs typeface="Arial"/>
                <a:sym typeface="Arial"/>
              </a:rPr>
              <a:t>即日・最短5分</a:t>
            </a:r>
            <a:endParaRPr sz="1700">
              <a:solidFill>
                <a:schemeClr val="dk1"/>
              </a:solidFill>
              <a:latin typeface="Calibri"/>
              <a:ea typeface="Calibri"/>
              <a:cs typeface="Calibri"/>
              <a:sym typeface="Calibri"/>
            </a:endParaRPr>
          </a:p>
        </p:txBody>
      </p:sp>
      <p:sp>
        <p:nvSpPr>
          <p:cNvPr id="875" name="Google Shape;875;p18"/>
          <p:cNvSpPr/>
          <p:nvPr/>
        </p:nvSpPr>
        <p:spPr>
          <a:xfrm>
            <a:off x="6876288" y="1444752"/>
            <a:ext cx="4754880" cy="85953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A06D4C"/>
              </a:buClr>
              <a:buSzPts val="1150"/>
              <a:buFont typeface="Arial"/>
              <a:buNone/>
            </a:pPr>
            <a:r>
              <a:rPr lang="en-US" sz="1150" b="1">
                <a:solidFill>
                  <a:srgbClr val="A06D4C"/>
                </a:solidFill>
                <a:latin typeface="Arial"/>
                <a:ea typeface="Arial"/>
                <a:cs typeface="Arial"/>
                <a:sym typeface="Arial"/>
              </a:rPr>
              <a:t>「今夜あと一本」に応えられるかどうかが、高級店にとっての価値の分かれ目になります。</a:t>
            </a:r>
            <a:endParaRPr sz="1150">
              <a:solidFill>
                <a:schemeClr val="dk1"/>
              </a:solidFill>
              <a:latin typeface="Calibri"/>
              <a:ea typeface="Calibri"/>
              <a:cs typeface="Calibri"/>
              <a:sym typeface="Calibri"/>
            </a:endParaRPr>
          </a:p>
        </p:txBody>
      </p:sp>
      <p:sp>
        <p:nvSpPr>
          <p:cNvPr id="876" name="Google Shape;876;p18"/>
          <p:cNvSpPr/>
          <p:nvPr/>
        </p:nvSpPr>
        <p:spPr>
          <a:xfrm>
            <a:off x="566928" y="2487168"/>
            <a:ext cx="45720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400"/>
              <a:buFont typeface="Arial"/>
              <a:buNone/>
            </a:pPr>
            <a:r>
              <a:rPr lang="en-US" sz="1400" b="1">
                <a:solidFill>
                  <a:srgbClr val="1A1A1A"/>
                </a:solidFill>
                <a:latin typeface="Arial"/>
                <a:ea typeface="Arial"/>
                <a:cs typeface="Arial"/>
                <a:sym typeface="Arial"/>
              </a:rPr>
              <a:t>投資が回収される循環</a:t>
            </a:r>
            <a:endParaRPr sz="1400">
              <a:solidFill>
                <a:schemeClr val="dk1"/>
              </a:solidFill>
              <a:latin typeface="Calibri"/>
              <a:ea typeface="Calibri"/>
              <a:cs typeface="Calibri"/>
              <a:sym typeface="Calibri"/>
            </a:endParaRPr>
          </a:p>
        </p:txBody>
      </p:sp>
      <p:sp>
        <p:nvSpPr>
          <p:cNvPr id="877" name="Google Shape;877;p18"/>
          <p:cNvSpPr/>
          <p:nvPr/>
        </p:nvSpPr>
        <p:spPr>
          <a:xfrm>
            <a:off x="566928" y="2834640"/>
            <a:ext cx="2743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50"/>
              <a:buFont typeface="Calibri"/>
              <a:buNone/>
            </a:pPr>
            <a:r>
              <a:rPr lang="en-US" sz="1050" b="1">
                <a:solidFill>
                  <a:srgbClr val="C68A65"/>
                </a:solidFill>
                <a:latin typeface="Calibri"/>
                <a:ea typeface="Calibri"/>
                <a:cs typeface="Calibri"/>
                <a:sym typeface="Calibri"/>
              </a:rPr>
              <a:t>1</a:t>
            </a:r>
            <a:endParaRPr sz="1050">
              <a:solidFill>
                <a:schemeClr val="dk1"/>
              </a:solidFill>
              <a:latin typeface="Calibri"/>
              <a:ea typeface="Calibri"/>
              <a:cs typeface="Calibri"/>
              <a:sym typeface="Calibri"/>
            </a:endParaRPr>
          </a:p>
        </p:txBody>
      </p:sp>
      <p:sp>
        <p:nvSpPr>
          <p:cNvPr id="878" name="Google Shape;878;p18"/>
          <p:cNvSpPr/>
          <p:nvPr/>
        </p:nvSpPr>
        <p:spPr>
          <a:xfrm>
            <a:off x="877824" y="2834640"/>
            <a:ext cx="148132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000"/>
              <a:buFont typeface="Arial"/>
              <a:buNone/>
            </a:pPr>
            <a:r>
              <a:rPr lang="en-US" sz="1000" b="1">
                <a:solidFill>
                  <a:srgbClr val="1A1A1A"/>
                </a:solidFill>
                <a:latin typeface="Arial"/>
                <a:ea typeface="Arial"/>
                <a:cs typeface="Arial"/>
                <a:sym typeface="Arial"/>
              </a:rPr>
              <a:t>飲食店</a:t>
            </a:r>
            <a:endParaRPr sz="1000">
              <a:solidFill>
                <a:schemeClr val="dk1"/>
              </a:solidFill>
              <a:latin typeface="Calibri"/>
              <a:ea typeface="Calibri"/>
              <a:cs typeface="Calibri"/>
              <a:sym typeface="Calibri"/>
            </a:endParaRPr>
          </a:p>
        </p:txBody>
      </p:sp>
      <p:sp>
        <p:nvSpPr>
          <p:cNvPr id="879" name="Google Shape;879;p18"/>
          <p:cNvSpPr/>
          <p:nvPr/>
        </p:nvSpPr>
        <p:spPr>
          <a:xfrm>
            <a:off x="2395728" y="2834640"/>
            <a:ext cx="4133088" cy="40233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店内のワインセラーを縮小できる。高級店では一般に3〜8坪を占めています。</a:t>
            </a:r>
            <a:endParaRPr sz="980">
              <a:solidFill>
                <a:schemeClr val="dk1"/>
              </a:solidFill>
              <a:latin typeface="Calibri"/>
              <a:ea typeface="Calibri"/>
              <a:cs typeface="Calibri"/>
              <a:sym typeface="Calibri"/>
            </a:endParaRPr>
          </a:p>
        </p:txBody>
      </p:sp>
      <p:sp>
        <p:nvSpPr>
          <p:cNvPr id="880" name="Google Shape;880;p18"/>
          <p:cNvSpPr/>
          <p:nvPr/>
        </p:nvSpPr>
        <p:spPr>
          <a:xfrm>
            <a:off x="566928" y="3319272"/>
            <a:ext cx="2743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50"/>
              <a:buFont typeface="Calibri"/>
              <a:buNone/>
            </a:pPr>
            <a:r>
              <a:rPr lang="en-US" sz="1050" b="1">
                <a:solidFill>
                  <a:srgbClr val="C68A65"/>
                </a:solidFill>
                <a:latin typeface="Calibri"/>
                <a:ea typeface="Calibri"/>
                <a:cs typeface="Calibri"/>
                <a:sym typeface="Calibri"/>
              </a:rPr>
              <a:t>2</a:t>
            </a:r>
            <a:endParaRPr sz="1050">
              <a:solidFill>
                <a:schemeClr val="dk1"/>
              </a:solidFill>
              <a:latin typeface="Calibri"/>
              <a:ea typeface="Calibri"/>
              <a:cs typeface="Calibri"/>
              <a:sym typeface="Calibri"/>
            </a:endParaRPr>
          </a:p>
        </p:txBody>
      </p:sp>
      <p:sp>
        <p:nvSpPr>
          <p:cNvPr id="881" name="Google Shape;881;p18"/>
          <p:cNvSpPr/>
          <p:nvPr/>
        </p:nvSpPr>
        <p:spPr>
          <a:xfrm>
            <a:off x="877824" y="3319272"/>
            <a:ext cx="148132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000"/>
              <a:buFont typeface="Arial"/>
              <a:buNone/>
            </a:pPr>
            <a:r>
              <a:rPr lang="en-US" sz="1000" b="1">
                <a:solidFill>
                  <a:srgbClr val="1A1A1A"/>
                </a:solidFill>
                <a:latin typeface="Arial"/>
                <a:ea typeface="Arial"/>
                <a:cs typeface="Arial"/>
                <a:sym typeface="Arial"/>
              </a:rPr>
              <a:t>飲食店</a:t>
            </a:r>
            <a:endParaRPr sz="1000">
              <a:solidFill>
                <a:schemeClr val="dk1"/>
              </a:solidFill>
              <a:latin typeface="Calibri"/>
              <a:ea typeface="Calibri"/>
              <a:cs typeface="Calibri"/>
              <a:sym typeface="Calibri"/>
            </a:endParaRPr>
          </a:p>
        </p:txBody>
      </p:sp>
      <p:sp>
        <p:nvSpPr>
          <p:cNvPr id="882" name="Google Shape;882;p18"/>
          <p:cNvSpPr/>
          <p:nvPr/>
        </p:nvSpPr>
        <p:spPr>
          <a:xfrm>
            <a:off x="2395728" y="3319272"/>
            <a:ext cx="4133088" cy="40233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空いた面積を客席や厨房に転用し、売上を伸ばせる。</a:t>
            </a:r>
            <a:endParaRPr sz="980">
              <a:solidFill>
                <a:schemeClr val="dk1"/>
              </a:solidFill>
              <a:latin typeface="Calibri"/>
              <a:ea typeface="Calibri"/>
              <a:cs typeface="Calibri"/>
              <a:sym typeface="Calibri"/>
            </a:endParaRPr>
          </a:p>
        </p:txBody>
      </p:sp>
      <p:sp>
        <p:nvSpPr>
          <p:cNvPr id="883" name="Google Shape;883;p18"/>
          <p:cNvSpPr/>
          <p:nvPr/>
        </p:nvSpPr>
        <p:spPr>
          <a:xfrm>
            <a:off x="566928" y="3803904"/>
            <a:ext cx="2743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50"/>
              <a:buFont typeface="Calibri"/>
              <a:buNone/>
            </a:pPr>
            <a:r>
              <a:rPr lang="en-US" sz="1050" b="1">
                <a:solidFill>
                  <a:srgbClr val="C68A65"/>
                </a:solidFill>
                <a:latin typeface="Calibri"/>
                <a:ea typeface="Calibri"/>
                <a:cs typeface="Calibri"/>
                <a:sym typeface="Calibri"/>
              </a:rPr>
              <a:t>3</a:t>
            </a:r>
            <a:endParaRPr sz="1050">
              <a:solidFill>
                <a:schemeClr val="dk1"/>
              </a:solidFill>
              <a:latin typeface="Calibri"/>
              <a:ea typeface="Calibri"/>
              <a:cs typeface="Calibri"/>
              <a:sym typeface="Calibri"/>
            </a:endParaRPr>
          </a:p>
        </p:txBody>
      </p:sp>
      <p:sp>
        <p:nvSpPr>
          <p:cNvPr id="884" name="Google Shape;884;p18"/>
          <p:cNvSpPr/>
          <p:nvPr/>
        </p:nvSpPr>
        <p:spPr>
          <a:xfrm>
            <a:off x="877824" y="3803904"/>
            <a:ext cx="148132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000"/>
              <a:buFont typeface="Arial"/>
              <a:buNone/>
            </a:pPr>
            <a:r>
              <a:rPr lang="en-US" sz="1000" b="1">
                <a:solidFill>
                  <a:srgbClr val="1A1A1A"/>
                </a:solidFill>
                <a:latin typeface="Arial"/>
                <a:ea typeface="Arial"/>
                <a:cs typeface="Arial"/>
                <a:sym typeface="Arial"/>
              </a:rPr>
              <a:t>飲食店 → 森ビル様</a:t>
            </a:r>
            <a:endParaRPr sz="1000">
              <a:solidFill>
                <a:schemeClr val="dk1"/>
              </a:solidFill>
              <a:latin typeface="Calibri"/>
              <a:ea typeface="Calibri"/>
              <a:cs typeface="Calibri"/>
              <a:sym typeface="Calibri"/>
            </a:endParaRPr>
          </a:p>
        </p:txBody>
      </p:sp>
      <p:sp>
        <p:nvSpPr>
          <p:cNvPr id="885" name="Google Shape;885;p18"/>
          <p:cNvSpPr/>
          <p:nvPr/>
        </p:nvSpPr>
        <p:spPr>
          <a:xfrm>
            <a:off x="2395728" y="3803904"/>
            <a:ext cx="4133088" cy="40233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その対価として、館内ストレージの利用料をお支払いいただく。</a:t>
            </a:r>
            <a:endParaRPr sz="980">
              <a:solidFill>
                <a:schemeClr val="dk1"/>
              </a:solidFill>
              <a:latin typeface="Calibri"/>
              <a:ea typeface="Calibri"/>
              <a:cs typeface="Calibri"/>
              <a:sym typeface="Calibri"/>
            </a:endParaRPr>
          </a:p>
        </p:txBody>
      </p:sp>
      <p:sp>
        <p:nvSpPr>
          <p:cNvPr id="886" name="Google Shape;886;p18"/>
          <p:cNvSpPr/>
          <p:nvPr/>
        </p:nvSpPr>
        <p:spPr>
          <a:xfrm>
            <a:off x="566928" y="4288536"/>
            <a:ext cx="2743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50"/>
              <a:buFont typeface="Calibri"/>
              <a:buNone/>
            </a:pPr>
            <a:r>
              <a:rPr lang="en-US" sz="1050" b="1">
                <a:solidFill>
                  <a:srgbClr val="C68A65"/>
                </a:solidFill>
                <a:latin typeface="Calibri"/>
                <a:ea typeface="Calibri"/>
                <a:cs typeface="Calibri"/>
                <a:sym typeface="Calibri"/>
              </a:rPr>
              <a:t>4</a:t>
            </a:r>
            <a:endParaRPr sz="1050">
              <a:solidFill>
                <a:schemeClr val="dk1"/>
              </a:solidFill>
              <a:latin typeface="Calibri"/>
              <a:ea typeface="Calibri"/>
              <a:cs typeface="Calibri"/>
              <a:sym typeface="Calibri"/>
            </a:endParaRPr>
          </a:p>
        </p:txBody>
      </p:sp>
      <p:sp>
        <p:nvSpPr>
          <p:cNvPr id="887" name="Google Shape;887;p18"/>
          <p:cNvSpPr/>
          <p:nvPr/>
        </p:nvSpPr>
        <p:spPr>
          <a:xfrm>
            <a:off x="877824" y="4288536"/>
            <a:ext cx="148132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000"/>
              <a:buFont typeface="Arial"/>
              <a:buNone/>
            </a:pPr>
            <a:r>
              <a:rPr lang="en-US" sz="1000" b="1">
                <a:solidFill>
                  <a:srgbClr val="1A1A1A"/>
                </a:solidFill>
                <a:latin typeface="Arial"/>
                <a:ea typeface="Arial"/>
                <a:cs typeface="Arial"/>
                <a:sym typeface="Arial"/>
              </a:rPr>
              <a:t>森ビル様</a:t>
            </a:r>
            <a:endParaRPr sz="1000">
              <a:solidFill>
                <a:schemeClr val="dk1"/>
              </a:solidFill>
              <a:latin typeface="Calibri"/>
              <a:ea typeface="Calibri"/>
              <a:cs typeface="Calibri"/>
              <a:sym typeface="Calibri"/>
            </a:endParaRPr>
          </a:p>
        </p:txBody>
      </p:sp>
      <p:sp>
        <p:nvSpPr>
          <p:cNvPr id="888" name="Google Shape;888;p18"/>
          <p:cNvSpPr/>
          <p:nvPr/>
        </p:nvSpPr>
        <p:spPr>
          <a:xfrm>
            <a:off x="2395728" y="4288536"/>
            <a:ext cx="4133088" cy="40233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区画から利用料収入が立ち、開設費の回収見通しが持てる。</a:t>
            </a:r>
            <a:endParaRPr sz="980">
              <a:solidFill>
                <a:schemeClr val="dk1"/>
              </a:solidFill>
              <a:latin typeface="Calibri"/>
              <a:ea typeface="Calibri"/>
              <a:cs typeface="Calibri"/>
              <a:sym typeface="Calibri"/>
            </a:endParaRPr>
          </a:p>
        </p:txBody>
      </p:sp>
      <p:sp>
        <p:nvSpPr>
          <p:cNvPr id="889" name="Google Shape;889;p18"/>
          <p:cNvSpPr/>
          <p:nvPr/>
        </p:nvSpPr>
        <p:spPr>
          <a:xfrm>
            <a:off x="566928" y="4773168"/>
            <a:ext cx="2743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50"/>
              <a:buFont typeface="Calibri"/>
              <a:buNone/>
            </a:pPr>
            <a:r>
              <a:rPr lang="en-US" sz="1050" b="1">
                <a:solidFill>
                  <a:srgbClr val="C68A65"/>
                </a:solidFill>
                <a:latin typeface="Calibri"/>
                <a:ea typeface="Calibri"/>
                <a:cs typeface="Calibri"/>
                <a:sym typeface="Calibri"/>
              </a:rPr>
              <a:t>5</a:t>
            </a:r>
            <a:endParaRPr sz="1050">
              <a:solidFill>
                <a:schemeClr val="dk1"/>
              </a:solidFill>
              <a:latin typeface="Calibri"/>
              <a:ea typeface="Calibri"/>
              <a:cs typeface="Calibri"/>
              <a:sym typeface="Calibri"/>
            </a:endParaRPr>
          </a:p>
        </p:txBody>
      </p:sp>
      <p:sp>
        <p:nvSpPr>
          <p:cNvPr id="890" name="Google Shape;890;p18"/>
          <p:cNvSpPr/>
          <p:nvPr/>
        </p:nvSpPr>
        <p:spPr>
          <a:xfrm>
            <a:off x="877824" y="4773168"/>
            <a:ext cx="148132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000"/>
              <a:buFont typeface="Arial"/>
              <a:buNone/>
            </a:pPr>
            <a:r>
              <a:rPr lang="en-US" sz="1000" b="1">
                <a:solidFill>
                  <a:srgbClr val="1A1A1A"/>
                </a:solidFill>
                <a:latin typeface="Arial"/>
                <a:ea typeface="Arial"/>
                <a:cs typeface="Arial"/>
                <a:sym typeface="Arial"/>
              </a:rPr>
              <a:t>当社</a:t>
            </a:r>
            <a:endParaRPr sz="1000">
              <a:solidFill>
                <a:schemeClr val="dk1"/>
              </a:solidFill>
              <a:latin typeface="Calibri"/>
              <a:ea typeface="Calibri"/>
              <a:cs typeface="Calibri"/>
              <a:sym typeface="Calibri"/>
            </a:endParaRPr>
          </a:p>
        </p:txBody>
      </p:sp>
      <p:sp>
        <p:nvSpPr>
          <p:cNvPr id="891" name="Google Shape;891;p18"/>
          <p:cNvSpPr/>
          <p:nvPr/>
        </p:nvSpPr>
        <p:spPr>
          <a:xfrm>
            <a:off x="2395728" y="4773168"/>
            <a:ext cx="4133088" cy="40233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在庫と配送スタッフを常駐させ、館内へ即日で届ける。</a:t>
            </a:r>
            <a:endParaRPr sz="980">
              <a:solidFill>
                <a:schemeClr val="dk1"/>
              </a:solidFill>
              <a:latin typeface="Calibri"/>
              <a:ea typeface="Calibri"/>
              <a:cs typeface="Calibri"/>
              <a:sym typeface="Calibri"/>
            </a:endParaRPr>
          </a:p>
        </p:txBody>
      </p:sp>
      <p:sp>
        <p:nvSpPr>
          <p:cNvPr id="892" name="Google Shape;892;p18"/>
          <p:cNvSpPr/>
          <p:nvPr/>
        </p:nvSpPr>
        <p:spPr>
          <a:xfrm>
            <a:off x="566928" y="5257800"/>
            <a:ext cx="2743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050"/>
              <a:buFont typeface="Calibri"/>
              <a:buNone/>
            </a:pPr>
            <a:r>
              <a:rPr lang="en-US" sz="1050" b="1">
                <a:solidFill>
                  <a:srgbClr val="C68A65"/>
                </a:solidFill>
                <a:latin typeface="Calibri"/>
                <a:ea typeface="Calibri"/>
                <a:cs typeface="Calibri"/>
                <a:sym typeface="Calibri"/>
              </a:rPr>
              <a:t>6</a:t>
            </a:r>
            <a:endParaRPr sz="1050">
              <a:solidFill>
                <a:schemeClr val="dk1"/>
              </a:solidFill>
              <a:latin typeface="Calibri"/>
              <a:ea typeface="Calibri"/>
              <a:cs typeface="Calibri"/>
              <a:sym typeface="Calibri"/>
            </a:endParaRPr>
          </a:p>
        </p:txBody>
      </p:sp>
      <p:sp>
        <p:nvSpPr>
          <p:cNvPr id="893" name="Google Shape;893;p18"/>
          <p:cNvSpPr/>
          <p:nvPr/>
        </p:nvSpPr>
        <p:spPr>
          <a:xfrm>
            <a:off x="877824" y="5257800"/>
            <a:ext cx="1481328"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000"/>
              <a:buFont typeface="Arial"/>
              <a:buNone/>
            </a:pPr>
            <a:r>
              <a:rPr lang="en-US" sz="1000" b="1">
                <a:solidFill>
                  <a:srgbClr val="1A1A1A"/>
                </a:solidFill>
                <a:latin typeface="Arial"/>
                <a:ea typeface="Arial"/>
                <a:cs typeface="Arial"/>
                <a:sym typeface="Arial"/>
              </a:rPr>
              <a:t>飲食店</a:t>
            </a:r>
            <a:endParaRPr sz="1000">
              <a:solidFill>
                <a:schemeClr val="dk1"/>
              </a:solidFill>
              <a:latin typeface="Calibri"/>
              <a:ea typeface="Calibri"/>
              <a:cs typeface="Calibri"/>
              <a:sym typeface="Calibri"/>
            </a:endParaRPr>
          </a:p>
        </p:txBody>
      </p:sp>
      <p:sp>
        <p:nvSpPr>
          <p:cNvPr id="894" name="Google Shape;894;p18"/>
          <p:cNvSpPr/>
          <p:nvPr/>
        </p:nvSpPr>
        <p:spPr>
          <a:xfrm>
            <a:off x="2395728" y="5257800"/>
            <a:ext cx="4133088" cy="40233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6E7378"/>
              </a:buClr>
              <a:buSzPts val="980"/>
              <a:buFont typeface="Arial"/>
              <a:buNone/>
            </a:pPr>
            <a:r>
              <a:rPr lang="en-US" sz="980">
                <a:solidFill>
                  <a:srgbClr val="6E7378"/>
                </a:solidFill>
                <a:latin typeface="Arial"/>
                <a:ea typeface="Arial"/>
                <a:cs typeface="Arial"/>
                <a:sym typeface="Arial"/>
              </a:rPr>
              <a:t>在庫を持たないまま品揃えが厚くなり、客単価が上がる。</a:t>
            </a:r>
            <a:endParaRPr sz="980">
              <a:solidFill>
                <a:schemeClr val="dk1"/>
              </a:solidFill>
              <a:latin typeface="Calibri"/>
              <a:ea typeface="Calibri"/>
              <a:cs typeface="Calibri"/>
              <a:sym typeface="Calibri"/>
            </a:endParaRPr>
          </a:p>
        </p:txBody>
      </p:sp>
      <p:sp>
        <p:nvSpPr>
          <p:cNvPr id="895" name="Google Shape;895;p18"/>
          <p:cNvSpPr/>
          <p:nvPr/>
        </p:nvSpPr>
        <p:spPr>
          <a:xfrm>
            <a:off x="6876288" y="2487168"/>
            <a:ext cx="4748479" cy="2084832"/>
          </a:xfrm>
          <a:prstGeom prst="roundRect">
            <a:avLst>
              <a:gd name="adj" fmla="val 2193"/>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8"/>
          <p:cNvSpPr/>
          <p:nvPr/>
        </p:nvSpPr>
        <p:spPr>
          <a:xfrm>
            <a:off x="7150608" y="2615184"/>
            <a:ext cx="4199839"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負担の切り分け</a:t>
            </a:r>
            <a:endParaRPr sz="1300">
              <a:solidFill>
                <a:schemeClr val="dk1"/>
              </a:solidFill>
              <a:latin typeface="Calibri"/>
              <a:ea typeface="Calibri"/>
              <a:cs typeface="Calibri"/>
              <a:sym typeface="Calibri"/>
            </a:endParaRPr>
          </a:p>
        </p:txBody>
      </p:sp>
      <p:sp>
        <p:nvSpPr>
          <p:cNvPr id="897" name="Google Shape;897;p18"/>
          <p:cNvSpPr/>
          <p:nvPr/>
        </p:nvSpPr>
        <p:spPr>
          <a:xfrm>
            <a:off x="7150608" y="2944368"/>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場所（15〜30坪）</a:t>
            </a:r>
            <a:endParaRPr sz="980">
              <a:solidFill>
                <a:schemeClr val="dk1"/>
              </a:solidFill>
              <a:latin typeface="Calibri"/>
              <a:ea typeface="Calibri"/>
              <a:cs typeface="Calibri"/>
              <a:sym typeface="Calibri"/>
            </a:endParaRPr>
          </a:p>
        </p:txBody>
      </p:sp>
      <p:sp>
        <p:nvSpPr>
          <p:cNvPr id="898" name="Google Shape;898;p18"/>
          <p:cNvSpPr/>
          <p:nvPr/>
        </p:nvSpPr>
        <p:spPr>
          <a:xfrm>
            <a:off x="10131552" y="2944368"/>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980"/>
              <a:buFont typeface="Arial"/>
              <a:buNone/>
            </a:pPr>
            <a:r>
              <a:rPr lang="en-US" sz="980" b="1">
                <a:solidFill>
                  <a:srgbClr val="A06D4C"/>
                </a:solidFill>
                <a:latin typeface="Arial"/>
                <a:ea typeface="Arial"/>
                <a:cs typeface="Arial"/>
                <a:sym typeface="Arial"/>
              </a:rPr>
              <a:t>森ビル様</a:t>
            </a:r>
            <a:endParaRPr sz="980">
              <a:solidFill>
                <a:schemeClr val="dk1"/>
              </a:solidFill>
              <a:latin typeface="Calibri"/>
              <a:ea typeface="Calibri"/>
              <a:cs typeface="Calibri"/>
              <a:sym typeface="Calibri"/>
            </a:endParaRPr>
          </a:p>
        </p:txBody>
      </p:sp>
      <p:cxnSp>
        <p:nvCxnSpPr>
          <p:cNvPr id="899" name="Google Shape;899;p18"/>
          <p:cNvCxnSpPr/>
          <p:nvPr/>
        </p:nvCxnSpPr>
        <p:spPr>
          <a:xfrm>
            <a:off x="7150608" y="3227832"/>
            <a:ext cx="4199839" cy="0"/>
          </a:xfrm>
          <a:prstGeom prst="straightConnector1">
            <a:avLst/>
          </a:prstGeom>
          <a:noFill/>
          <a:ln w="12700" cap="flat" cmpd="sng">
            <a:solidFill>
              <a:srgbClr val="E4E6E8"/>
            </a:solidFill>
            <a:prstDash val="solid"/>
            <a:round/>
            <a:headEnd type="none" w="sm" len="sm"/>
            <a:tailEnd type="none" w="sm" len="sm"/>
          </a:ln>
        </p:spPr>
      </p:cxnSp>
      <p:sp>
        <p:nvSpPr>
          <p:cNvPr id="900" name="Google Shape;900;p18"/>
          <p:cNvSpPr/>
          <p:nvPr/>
        </p:nvSpPr>
        <p:spPr>
          <a:xfrm>
            <a:off x="7150608" y="325526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定温設備・什器</a:t>
            </a:r>
            <a:endParaRPr sz="980">
              <a:solidFill>
                <a:schemeClr val="dk1"/>
              </a:solidFill>
              <a:latin typeface="Calibri"/>
              <a:ea typeface="Calibri"/>
              <a:cs typeface="Calibri"/>
              <a:sym typeface="Calibri"/>
            </a:endParaRPr>
          </a:p>
        </p:txBody>
      </p:sp>
      <p:sp>
        <p:nvSpPr>
          <p:cNvPr id="901" name="Google Shape;901;p18"/>
          <p:cNvSpPr/>
          <p:nvPr/>
        </p:nvSpPr>
        <p:spPr>
          <a:xfrm>
            <a:off x="10131552" y="3255264"/>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80"/>
              <a:buFont typeface="Arial"/>
              <a:buNone/>
            </a:pPr>
            <a:r>
              <a:rPr lang="en-US" sz="980" b="1">
                <a:solidFill>
                  <a:srgbClr val="6E7378"/>
                </a:solidFill>
                <a:latin typeface="Arial"/>
                <a:ea typeface="Arial"/>
                <a:cs typeface="Arial"/>
                <a:sym typeface="Arial"/>
              </a:rPr>
              <a:t>当社</a:t>
            </a:r>
            <a:endParaRPr sz="980">
              <a:solidFill>
                <a:schemeClr val="dk1"/>
              </a:solidFill>
              <a:latin typeface="Calibri"/>
              <a:ea typeface="Calibri"/>
              <a:cs typeface="Calibri"/>
              <a:sym typeface="Calibri"/>
            </a:endParaRPr>
          </a:p>
        </p:txBody>
      </p:sp>
      <p:cxnSp>
        <p:nvCxnSpPr>
          <p:cNvPr id="902" name="Google Shape;902;p18"/>
          <p:cNvCxnSpPr/>
          <p:nvPr/>
        </p:nvCxnSpPr>
        <p:spPr>
          <a:xfrm>
            <a:off x="7150608" y="3538728"/>
            <a:ext cx="4199839" cy="0"/>
          </a:xfrm>
          <a:prstGeom prst="straightConnector1">
            <a:avLst/>
          </a:prstGeom>
          <a:noFill/>
          <a:ln w="12700" cap="flat" cmpd="sng">
            <a:solidFill>
              <a:srgbClr val="E4E6E8"/>
            </a:solidFill>
            <a:prstDash val="solid"/>
            <a:round/>
            <a:headEnd type="none" w="sm" len="sm"/>
            <a:tailEnd type="none" w="sm" len="sm"/>
          </a:ln>
        </p:spPr>
      </p:cxnSp>
      <p:sp>
        <p:nvSpPr>
          <p:cNvPr id="903" name="Google Shape;903;p18"/>
          <p:cNvSpPr/>
          <p:nvPr/>
        </p:nvSpPr>
        <p:spPr>
          <a:xfrm>
            <a:off x="7150608" y="3566160"/>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ワイン在庫（数千〜1万本）</a:t>
            </a:r>
            <a:endParaRPr sz="980">
              <a:solidFill>
                <a:schemeClr val="dk1"/>
              </a:solidFill>
              <a:latin typeface="Calibri"/>
              <a:ea typeface="Calibri"/>
              <a:cs typeface="Calibri"/>
              <a:sym typeface="Calibri"/>
            </a:endParaRPr>
          </a:p>
        </p:txBody>
      </p:sp>
      <p:sp>
        <p:nvSpPr>
          <p:cNvPr id="904" name="Google Shape;904;p18"/>
          <p:cNvSpPr/>
          <p:nvPr/>
        </p:nvSpPr>
        <p:spPr>
          <a:xfrm>
            <a:off x="10131552" y="3566160"/>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80"/>
              <a:buFont typeface="Arial"/>
              <a:buNone/>
            </a:pPr>
            <a:r>
              <a:rPr lang="en-US" sz="980" b="1">
                <a:solidFill>
                  <a:srgbClr val="6E7378"/>
                </a:solidFill>
                <a:latin typeface="Arial"/>
                <a:ea typeface="Arial"/>
                <a:cs typeface="Arial"/>
                <a:sym typeface="Arial"/>
              </a:rPr>
              <a:t>当社</a:t>
            </a:r>
            <a:endParaRPr sz="980">
              <a:solidFill>
                <a:schemeClr val="dk1"/>
              </a:solidFill>
              <a:latin typeface="Calibri"/>
              <a:ea typeface="Calibri"/>
              <a:cs typeface="Calibri"/>
              <a:sym typeface="Calibri"/>
            </a:endParaRPr>
          </a:p>
        </p:txBody>
      </p:sp>
      <p:cxnSp>
        <p:nvCxnSpPr>
          <p:cNvPr id="905" name="Google Shape;905;p18"/>
          <p:cNvCxnSpPr/>
          <p:nvPr/>
        </p:nvCxnSpPr>
        <p:spPr>
          <a:xfrm>
            <a:off x="7150608" y="3849624"/>
            <a:ext cx="4199839" cy="0"/>
          </a:xfrm>
          <a:prstGeom prst="straightConnector1">
            <a:avLst/>
          </a:prstGeom>
          <a:noFill/>
          <a:ln w="12700" cap="flat" cmpd="sng">
            <a:solidFill>
              <a:srgbClr val="E4E6E8"/>
            </a:solidFill>
            <a:prstDash val="solid"/>
            <a:round/>
            <a:headEnd type="none" w="sm" len="sm"/>
            <a:tailEnd type="none" w="sm" len="sm"/>
          </a:ln>
        </p:spPr>
      </p:cxnSp>
      <p:sp>
        <p:nvSpPr>
          <p:cNvPr id="906" name="Google Shape;906;p18"/>
          <p:cNvSpPr/>
          <p:nvPr/>
        </p:nvSpPr>
        <p:spPr>
          <a:xfrm>
            <a:off x="7150608" y="3877056"/>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常駐スタッフ・配送</a:t>
            </a:r>
            <a:endParaRPr sz="980">
              <a:solidFill>
                <a:schemeClr val="dk1"/>
              </a:solidFill>
              <a:latin typeface="Calibri"/>
              <a:ea typeface="Calibri"/>
              <a:cs typeface="Calibri"/>
              <a:sym typeface="Calibri"/>
            </a:endParaRPr>
          </a:p>
        </p:txBody>
      </p:sp>
      <p:sp>
        <p:nvSpPr>
          <p:cNvPr id="907" name="Google Shape;907;p18"/>
          <p:cNvSpPr/>
          <p:nvPr/>
        </p:nvSpPr>
        <p:spPr>
          <a:xfrm>
            <a:off x="10131552" y="3877056"/>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80"/>
              <a:buFont typeface="Arial"/>
              <a:buNone/>
            </a:pPr>
            <a:r>
              <a:rPr lang="en-US" sz="980" b="1">
                <a:solidFill>
                  <a:srgbClr val="6E7378"/>
                </a:solidFill>
                <a:latin typeface="Arial"/>
                <a:ea typeface="Arial"/>
                <a:cs typeface="Arial"/>
                <a:sym typeface="Arial"/>
              </a:rPr>
              <a:t>当社</a:t>
            </a:r>
            <a:endParaRPr sz="980">
              <a:solidFill>
                <a:schemeClr val="dk1"/>
              </a:solidFill>
              <a:latin typeface="Calibri"/>
              <a:ea typeface="Calibri"/>
              <a:cs typeface="Calibri"/>
              <a:sym typeface="Calibri"/>
            </a:endParaRPr>
          </a:p>
        </p:txBody>
      </p:sp>
      <p:cxnSp>
        <p:nvCxnSpPr>
          <p:cNvPr id="908" name="Google Shape;908;p18"/>
          <p:cNvCxnSpPr/>
          <p:nvPr/>
        </p:nvCxnSpPr>
        <p:spPr>
          <a:xfrm>
            <a:off x="7150608" y="4160520"/>
            <a:ext cx="4199839" cy="0"/>
          </a:xfrm>
          <a:prstGeom prst="straightConnector1">
            <a:avLst/>
          </a:prstGeom>
          <a:noFill/>
          <a:ln w="12700" cap="flat" cmpd="sng">
            <a:solidFill>
              <a:srgbClr val="E4E6E8"/>
            </a:solidFill>
            <a:prstDash val="solid"/>
            <a:round/>
            <a:headEnd type="none" w="sm" len="sm"/>
            <a:tailEnd type="none" w="sm" len="sm"/>
          </a:ln>
        </p:spPr>
      </p:cxnSp>
      <p:sp>
        <p:nvSpPr>
          <p:cNvPr id="909" name="Google Shape;909;p18"/>
          <p:cNvSpPr/>
          <p:nvPr/>
        </p:nvSpPr>
        <p:spPr>
          <a:xfrm>
            <a:off x="7150608" y="4187952"/>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在庫リスク・劣化・破損</a:t>
            </a:r>
            <a:endParaRPr sz="980">
              <a:solidFill>
                <a:schemeClr val="dk1"/>
              </a:solidFill>
              <a:latin typeface="Calibri"/>
              <a:ea typeface="Calibri"/>
              <a:cs typeface="Calibri"/>
              <a:sym typeface="Calibri"/>
            </a:endParaRPr>
          </a:p>
        </p:txBody>
      </p:sp>
      <p:sp>
        <p:nvSpPr>
          <p:cNvPr id="910" name="Google Shape;910;p18"/>
          <p:cNvSpPr/>
          <p:nvPr/>
        </p:nvSpPr>
        <p:spPr>
          <a:xfrm>
            <a:off x="10131552" y="4187952"/>
            <a:ext cx="11887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80"/>
              <a:buFont typeface="Arial"/>
              <a:buNone/>
            </a:pPr>
            <a:r>
              <a:rPr lang="en-US" sz="980" b="1">
                <a:solidFill>
                  <a:srgbClr val="6E7378"/>
                </a:solidFill>
                <a:latin typeface="Arial"/>
                <a:ea typeface="Arial"/>
                <a:cs typeface="Arial"/>
                <a:sym typeface="Arial"/>
              </a:rPr>
              <a:t>当社</a:t>
            </a:r>
            <a:endParaRPr sz="980">
              <a:solidFill>
                <a:schemeClr val="dk1"/>
              </a:solidFill>
              <a:latin typeface="Calibri"/>
              <a:ea typeface="Calibri"/>
              <a:cs typeface="Calibri"/>
              <a:sym typeface="Calibri"/>
            </a:endParaRPr>
          </a:p>
        </p:txBody>
      </p:sp>
      <p:sp>
        <p:nvSpPr>
          <p:cNvPr id="911" name="Google Shape;911;p18"/>
          <p:cNvSpPr/>
          <p:nvPr/>
        </p:nvSpPr>
        <p:spPr>
          <a:xfrm>
            <a:off x="6876288" y="4736592"/>
            <a:ext cx="4748479" cy="1389888"/>
          </a:xfrm>
          <a:prstGeom prst="roundRect">
            <a:avLst>
              <a:gd name="adj" fmla="val 3289"/>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8"/>
          <p:cNvSpPr/>
          <p:nvPr/>
        </p:nvSpPr>
        <p:spPr>
          <a:xfrm>
            <a:off x="7150608" y="4864608"/>
            <a:ext cx="4199839"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250"/>
              <a:buFont typeface="Arial"/>
              <a:buNone/>
            </a:pPr>
            <a:r>
              <a:rPr lang="en-US" sz="1250" b="1">
                <a:solidFill>
                  <a:srgbClr val="EFDCCE"/>
                </a:solidFill>
                <a:latin typeface="Arial"/>
                <a:ea typeface="Arial"/>
                <a:cs typeface="Arial"/>
                <a:sym typeface="Arial"/>
              </a:rPr>
              <a:t>テナント利用が想定に届かない場合</a:t>
            </a:r>
            <a:endParaRPr sz="1250">
              <a:solidFill>
                <a:schemeClr val="dk1"/>
              </a:solidFill>
              <a:latin typeface="Calibri"/>
              <a:ea typeface="Calibri"/>
              <a:cs typeface="Calibri"/>
              <a:sym typeface="Calibri"/>
            </a:endParaRPr>
          </a:p>
        </p:txBody>
      </p:sp>
      <p:sp>
        <p:nvSpPr>
          <p:cNvPr id="913" name="Google Shape;913;p18"/>
          <p:cNvSpPr/>
          <p:nvPr/>
        </p:nvSpPr>
        <p:spPr>
          <a:xfrm>
            <a:off x="7150608" y="5138928"/>
            <a:ext cx="4199839" cy="859536"/>
          </a:xfrm>
          <a:prstGeom prst="rect">
            <a:avLst/>
          </a:prstGeom>
          <a:noFill/>
          <a:ln>
            <a:noFill/>
          </a:ln>
        </p:spPr>
        <p:txBody>
          <a:bodyPr spcFirstLastPara="1" wrap="square" lIns="0" tIns="0" rIns="0" bIns="0" anchor="ctr" anchorCtr="0">
            <a:noAutofit/>
          </a:bodyPr>
          <a:lstStyle/>
          <a:p>
            <a:pPr marL="0" marR="0" lvl="0" indent="0" algn="l" rtl="0">
              <a:lnSpc>
                <a:spcPct val="142857"/>
              </a:lnSpc>
              <a:spcBef>
                <a:spcPts val="0"/>
              </a:spcBef>
              <a:spcAft>
                <a:spcPts val="0"/>
              </a:spcAft>
              <a:buClr>
                <a:srgbClr val="DDE1E4"/>
              </a:buClr>
              <a:buSzPts val="980"/>
              <a:buFont typeface="Arial"/>
              <a:buNone/>
            </a:pPr>
            <a:r>
              <a:rPr lang="en-US" sz="980">
                <a:solidFill>
                  <a:srgbClr val="DDE1E4"/>
                </a:solidFill>
                <a:latin typeface="Arial"/>
                <a:ea typeface="Arial"/>
                <a:cs typeface="Arial"/>
                <a:sym typeface="Arial"/>
              </a:rPr>
              <a:t>当社が全量を活用します。レジデンス居住者向けの供給、館外への配送、EC出荷に転用できるため、稼働率のリスクは当社が引き取る形でご相談させてください。</a:t>
            </a:r>
            <a:endParaRPr sz="980">
              <a:solidFill>
                <a:schemeClr val="dk1"/>
              </a:solidFill>
              <a:latin typeface="Calibri"/>
              <a:ea typeface="Calibri"/>
              <a:cs typeface="Calibri"/>
              <a:sym typeface="Calibri"/>
            </a:endParaRPr>
          </a:p>
        </p:txBody>
      </p:sp>
      <p:sp>
        <p:nvSpPr>
          <p:cNvPr id="914" name="Google Shape;914;p18"/>
          <p:cNvSpPr/>
          <p:nvPr/>
        </p:nvSpPr>
        <p:spPr>
          <a:xfrm>
            <a:off x="566928" y="5870448"/>
            <a:ext cx="6035040" cy="402336"/>
          </a:xfrm>
          <a:prstGeom prst="rect">
            <a:avLst/>
          </a:prstGeom>
          <a:noFill/>
          <a:ln>
            <a:noFill/>
          </a:ln>
        </p:spPr>
        <p:txBody>
          <a:bodyPr spcFirstLastPara="1" wrap="square" lIns="0" tIns="0" rIns="0" bIns="0" anchor="ctr" anchorCtr="0">
            <a:noAutofit/>
          </a:bodyPr>
          <a:lstStyle/>
          <a:p>
            <a:pPr marL="0" marR="0" lvl="0" indent="0" algn="l" rtl="0">
              <a:lnSpc>
                <a:spcPct val="139534"/>
              </a:lnSpc>
              <a:spcBef>
                <a:spcPts val="0"/>
              </a:spcBef>
              <a:spcAft>
                <a:spcPts val="0"/>
              </a:spcAft>
              <a:buClr>
                <a:srgbClr val="A6ABAF"/>
              </a:buClr>
              <a:buSzPts val="860"/>
              <a:buFont typeface="Arial"/>
              <a:buNone/>
            </a:pPr>
            <a:r>
              <a:rPr lang="en-US" sz="860">
                <a:solidFill>
                  <a:srgbClr val="A6ABAF"/>
                </a:solidFill>
                <a:latin typeface="Arial"/>
                <a:ea typeface="Arial"/>
                <a:cs typeface="Arial"/>
                <a:sym typeface="Arial"/>
              </a:rPr>
              <a:t>※ セラー面積・席数の数値は一般的な高級飲食店を前提とした当社の目安です。実際の利用料水準・区画条件は個別にご相談させてください。</a:t>
            </a:r>
            <a:endParaRPr sz="86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9"/>
        <p:cNvGrpSpPr/>
        <p:nvPr/>
      </p:nvGrpSpPr>
      <p:grpSpPr>
        <a:xfrm>
          <a:off x="0" y="0"/>
          <a:ext cx="0" cy="0"/>
          <a:chOff x="0" y="0"/>
          <a:chExt cx="0" cy="0"/>
        </a:xfrm>
      </p:grpSpPr>
      <p:pic>
        <p:nvPicPr>
          <p:cNvPr id="920" name="Google Shape;920;p19"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921" name="Google Shape;921;p19"/>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ワインを供給するだけの相手なら、他にもいます</a:t>
            </a:r>
            <a:endParaRPr sz="2300">
              <a:solidFill>
                <a:schemeClr val="dk1"/>
              </a:solidFill>
              <a:latin typeface="Calibri"/>
              <a:ea typeface="Calibri"/>
              <a:cs typeface="Calibri"/>
              <a:sym typeface="Calibri"/>
            </a:endParaRPr>
          </a:p>
        </p:txBody>
      </p:sp>
      <p:sp>
        <p:nvSpPr>
          <p:cNvPr id="922" name="Google Shape;922;p19"/>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在庫を並べるだけなら専門小売でも足ります。街区の中で回すには、配送・会員・飲食・保管まで自社で持っている必要があります。</a:t>
            </a:r>
            <a:endParaRPr sz="1150">
              <a:solidFill>
                <a:schemeClr val="dk1"/>
              </a:solidFill>
              <a:latin typeface="Calibri"/>
              <a:ea typeface="Calibri"/>
              <a:cs typeface="Calibri"/>
              <a:sym typeface="Calibri"/>
            </a:endParaRPr>
          </a:p>
        </p:txBody>
      </p:sp>
      <p:sp>
        <p:nvSpPr>
          <p:cNvPr id="923" name="Google Shape;923;p19"/>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graphicFrame>
        <p:nvGraphicFramePr>
          <p:cNvPr id="925" name="Google Shape;925;p19"/>
          <p:cNvGraphicFramePr/>
          <p:nvPr/>
        </p:nvGraphicFramePr>
        <p:xfrm>
          <a:off x="566928" y="1517904"/>
          <a:ext cx="3000000" cy="3000000"/>
        </p:xfrm>
        <a:graphic>
          <a:graphicData uri="http://schemas.openxmlformats.org/drawingml/2006/table">
            <a:tbl>
              <a:tblPr>
                <a:noFill/>
                <a:tableStyleId>{6F095D70-C01B-41C2-B289-87E81EBF8A4A}</a:tableStyleId>
              </a:tblPr>
              <a:tblGrid>
                <a:gridCol w="2432300">
                  <a:extLst>
                    <a:ext uri="{9D8B030D-6E8A-4147-A177-3AD203B41FA5}">
                      <a16:colId xmlns:a16="http://schemas.microsoft.com/office/drawing/2014/main" val="20000"/>
                    </a:ext>
                  </a:extLst>
                </a:gridCol>
                <a:gridCol w="2377450">
                  <a:extLst>
                    <a:ext uri="{9D8B030D-6E8A-4147-A177-3AD203B41FA5}">
                      <a16:colId xmlns:a16="http://schemas.microsoft.com/office/drawing/2014/main" val="20001"/>
                    </a:ext>
                  </a:extLst>
                </a:gridCol>
                <a:gridCol w="3072375">
                  <a:extLst>
                    <a:ext uri="{9D8B030D-6E8A-4147-A177-3AD203B41FA5}">
                      <a16:colId xmlns:a16="http://schemas.microsoft.com/office/drawing/2014/main" val="20002"/>
                    </a:ext>
                  </a:extLst>
                </a:gridCol>
              </a:tblGrid>
              <a:tr h="420625">
                <a:tc>
                  <a:txBody>
                    <a:bodyPr/>
                    <a:lstStyle/>
                    <a:p>
                      <a:pPr marL="0" marR="0" lvl="0" indent="0" algn="l" rtl="0">
                        <a:spcBef>
                          <a:spcPts val="0"/>
                        </a:spcBef>
                        <a:spcAft>
                          <a:spcPts val="0"/>
                        </a:spcAft>
                        <a:buClr>
                          <a:schemeClr val="dk1"/>
                        </a:buClr>
                        <a:buSzPts val="980"/>
                        <a:buFont typeface="Calibri"/>
                        <a:buNone/>
                      </a:pP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ワイン専門小売・インポーター</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WineBank</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0"/>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正規品の在庫供給</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可能</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可能（管理在庫30億円・50万本）</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1"/>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街区内への即日・即時配送</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対応していない</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WineGO により自社で実施</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2"/>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在庫リスクの引受（消化仕入）</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限定的</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置きワインとして標準で提供</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3"/>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会員基盤・課金の運用</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小売の会員制度まで</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CLUB として会費・特典・請求を運用</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4"/>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レストランの運営</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行っていない</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グランメゾンを自社で運営</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5"/>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シェフの招致</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行っていない</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ティエリー・マルクス業態を出店可能</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6"/>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ワインの預り・保管</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行っていない</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都内2か所・動産保険付きで受託</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7"/>
                  </a:ext>
                </a:extLst>
              </a:tr>
              <a:tr h="420625">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商業区画の企画</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テナント出店まで</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80"/>
                        <a:buFont typeface="Arial"/>
                        <a:buNone/>
                      </a:pPr>
                      <a:r>
                        <a:rPr lang="en-US" sz="980" u="none" strike="noStrike" cap="none">
                          <a:solidFill>
                            <a:srgbClr val="1A1A1A"/>
                          </a:solidFill>
                          <a:latin typeface="Arial"/>
                          <a:ea typeface="Arial"/>
                          <a:cs typeface="Arial"/>
                          <a:sym typeface="Arial"/>
                        </a:rPr>
                        <a:t>セラー在庫共有型フードホールを企画・運営</a:t>
                      </a:r>
                      <a:endParaRPr sz="98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
        <p:nvSpPr>
          <p:cNvPr id="926" name="Google Shape;926;p19"/>
          <p:cNvSpPr/>
          <p:nvPr/>
        </p:nvSpPr>
        <p:spPr>
          <a:xfrm>
            <a:off x="566928" y="1517904"/>
            <a:ext cx="7882128" cy="420624"/>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9"/>
          <p:cNvSpPr/>
          <p:nvPr/>
        </p:nvSpPr>
        <p:spPr>
          <a:xfrm>
            <a:off x="676656" y="1517904"/>
            <a:ext cx="221284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980"/>
              <a:buFont typeface="Calibri"/>
              <a:buNone/>
            </a:pPr>
            <a:endParaRPr sz="980">
              <a:solidFill>
                <a:schemeClr val="dk1"/>
              </a:solidFill>
              <a:latin typeface="Calibri"/>
              <a:ea typeface="Calibri"/>
              <a:cs typeface="Calibri"/>
              <a:sym typeface="Calibri"/>
            </a:endParaRPr>
          </a:p>
        </p:txBody>
      </p:sp>
      <p:sp>
        <p:nvSpPr>
          <p:cNvPr id="928" name="Google Shape;928;p19"/>
          <p:cNvSpPr/>
          <p:nvPr/>
        </p:nvSpPr>
        <p:spPr>
          <a:xfrm>
            <a:off x="3108960" y="1517904"/>
            <a:ext cx="2157984"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980"/>
              <a:buFont typeface="Arial"/>
              <a:buNone/>
            </a:pPr>
            <a:r>
              <a:rPr lang="en-US" sz="980" b="1">
                <a:solidFill>
                  <a:srgbClr val="EFDCCE"/>
                </a:solidFill>
                <a:latin typeface="Arial"/>
                <a:ea typeface="Arial"/>
                <a:cs typeface="Arial"/>
                <a:sym typeface="Arial"/>
              </a:rPr>
              <a:t>ワイン専門小売・インポーター</a:t>
            </a:r>
            <a:endParaRPr sz="980">
              <a:solidFill>
                <a:schemeClr val="dk1"/>
              </a:solidFill>
              <a:latin typeface="Calibri"/>
              <a:ea typeface="Calibri"/>
              <a:cs typeface="Calibri"/>
              <a:sym typeface="Calibri"/>
            </a:endParaRPr>
          </a:p>
        </p:txBody>
      </p:sp>
      <p:sp>
        <p:nvSpPr>
          <p:cNvPr id="929" name="Google Shape;929;p19"/>
          <p:cNvSpPr/>
          <p:nvPr/>
        </p:nvSpPr>
        <p:spPr>
          <a:xfrm>
            <a:off x="5486400" y="1517904"/>
            <a:ext cx="2852928"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980"/>
              <a:buFont typeface="Arial"/>
              <a:buNone/>
            </a:pPr>
            <a:r>
              <a:rPr lang="en-US" sz="980" b="1">
                <a:solidFill>
                  <a:srgbClr val="EFDCCE"/>
                </a:solidFill>
                <a:latin typeface="Arial"/>
                <a:ea typeface="Arial"/>
                <a:cs typeface="Arial"/>
                <a:sym typeface="Arial"/>
              </a:rPr>
              <a:t>WineBank</a:t>
            </a:r>
            <a:endParaRPr sz="980">
              <a:solidFill>
                <a:schemeClr val="dk1"/>
              </a:solidFill>
              <a:latin typeface="Calibri"/>
              <a:ea typeface="Calibri"/>
              <a:cs typeface="Calibri"/>
              <a:sym typeface="Calibri"/>
            </a:endParaRPr>
          </a:p>
        </p:txBody>
      </p:sp>
      <p:sp>
        <p:nvSpPr>
          <p:cNvPr id="930" name="Google Shape;930;p19"/>
          <p:cNvSpPr/>
          <p:nvPr/>
        </p:nvSpPr>
        <p:spPr>
          <a:xfrm>
            <a:off x="8759952" y="1517904"/>
            <a:ext cx="2864815" cy="2103120"/>
          </a:xfrm>
          <a:prstGeom prst="roundRect">
            <a:avLst>
              <a:gd name="adj" fmla="val 2174"/>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19"/>
          <p:cNvSpPr/>
          <p:nvPr/>
        </p:nvSpPr>
        <p:spPr>
          <a:xfrm>
            <a:off x="9034272" y="1664208"/>
            <a:ext cx="2316175"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300"/>
              <a:buFont typeface="Arial"/>
              <a:buNone/>
            </a:pPr>
            <a:r>
              <a:rPr lang="en-US" sz="1300" b="1">
                <a:solidFill>
                  <a:srgbClr val="EFDCCE"/>
                </a:solidFill>
                <a:latin typeface="Arial"/>
                <a:ea typeface="Arial"/>
                <a:cs typeface="Arial"/>
                <a:sym typeface="Arial"/>
              </a:rPr>
              <a:t>この一枚で申し上げたいこと</a:t>
            </a:r>
            <a:endParaRPr sz="1300">
              <a:solidFill>
                <a:schemeClr val="dk1"/>
              </a:solidFill>
              <a:latin typeface="Calibri"/>
              <a:ea typeface="Calibri"/>
              <a:cs typeface="Calibri"/>
              <a:sym typeface="Calibri"/>
            </a:endParaRPr>
          </a:p>
        </p:txBody>
      </p:sp>
      <p:sp>
        <p:nvSpPr>
          <p:cNvPr id="932" name="Google Shape;932;p19"/>
          <p:cNvSpPr/>
          <p:nvPr/>
        </p:nvSpPr>
        <p:spPr>
          <a:xfrm>
            <a:off x="9034272" y="1956816"/>
            <a:ext cx="2316175" cy="1554480"/>
          </a:xfrm>
          <a:prstGeom prst="rect">
            <a:avLst/>
          </a:prstGeom>
          <a:noFill/>
          <a:ln>
            <a:noFill/>
          </a:ln>
        </p:spPr>
        <p:txBody>
          <a:bodyPr spcFirstLastPara="1" wrap="square" lIns="0" tIns="0" rIns="0" bIns="0" anchor="ctr" anchorCtr="0">
            <a:noAutofit/>
          </a:bodyPr>
          <a:lstStyle/>
          <a:p>
            <a:pPr marL="0" marR="0" lvl="0" indent="0" algn="l" rtl="0">
              <a:lnSpc>
                <a:spcPct val="145000"/>
              </a:lnSpc>
              <a:spcBef>
                <a:spcPts val="0"/>
              </a:spcBef>
              <a:spcAft>
                <a:spcPts val="0"/>
              </a:spcAft>
              <a:buClr>
                <a:srgbClr val="DDE1E4"/>
              </a:buClr>
              <a:buSzPts val="1000"/>
              <a:buFont typeface="Arial"/>
              <a:buNone/>
            </a:pPr>
            <a:r>
              <a:rPr lang="en-US" sz="1000">
                <a:solidFill>
                  <a:srgbClr val="DDE1E4"/>
                </a:solidFill>
                <a:latin typeface="Arial"/>
                <a:ea typeface="Arial"/>
                <a:cs typeface="Arial"/>
                <a:sym typeface="Arial"/>
              </a:rPr>
              <a:t>館内ストレージをご用意いただいた先で、そこに置いた在庫を「動かす」手段を持っているかどうかが差になります。当社は配送・会員・飲食・保管を自社で持っているため、置いた在庫が滞留しません。</a:t>
            </a:r>
            <a:endParaRPr sz="1000">
              <a:solidFill>
                <a:schemeClr val="dk1"/>
              </a:solidFill>
              <a:latin typeface="Calibri"/>
              <a:ea typeface="Calibri"/>
              <a:cs typeface="Calibri"/>
              <a:sym typeface="Calibri"/>
            </a:endParaRPr>
          </a:p>
        </p:txBody>
      </p:sp>
      <p:sp>
        <p:nvSpPr>
          <p:cNvPr id="933" name="Google Shape;933;p19"/>
          <p:cNvSpPr/>
          <p:nvPr/>
        </p:nvSpPr>
        <p:spPr>
          <a:xfrm>
            <a:off x="8759952" y="3749040"/>
            <a:ext cx="2864815" cy="1975104"/>
          </a:xfrm>
          <a:prstGeom prst="roundRect">
            <a:avLst>
              <a:gd name="adj" fmla="val 2315"/>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9034272" y="3877056"/>
            <a:ext cx="2316175"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自社で持っているもの</a:t>
            </a:r>
            <a:endParaRPr sz="1300">
              <a:solidFill>
                <a:schemeClr val="dk1"/>
              </a:solidFill>
              <a:latin typeface="Calibri"/>
              <a:ea typeface="Calibri"/>
              <a:cs typeface="Calibri"/>
              <a:sym typeface="Calibri"/>
            </a:endParaRPr>
          </a:p>
        </p:txBody>
      </p:sp>
      <p:sp>
        <p:nvSpPr>
          <p:cNvPr id="935" name="Google Shape;935;p19"/>
          <p:cNvSpPr/>
          <p:nvPr/>
        </p:nvSpPr>
        <p:spPr>
          <a:xfrm>
            <a:off x="9034272" y="4187952"/>
            <a:ext cx="2316175" cy="1444752"/>
          </a:xfrm>
          <a:prstGeom prst="rect">
            <a:avLst/>
          </a:prstGeom>
          <a:noFill/>
          <a:ln>
            <a:noFill/>
          </a:ln>
        </p:spPr>
        <p:txBody>
          <a:bodyPr spcFirstLastPara="1" wrap="square" lIns="0" tIns="0" rIns="0" bIns="0" anchor="ctr" anchorCtr="0">
            <a:noAutofit/>
          </a:bodyPr>
          <a:lstStyle/>
          <a:p>
            <a:pPr marL="342900" marR="0" lvl="0" indent="-342900" algn="l" rtl="0">
              <a:lnSpc>
                <a:spcPct val="138445"/>
              </a:lnSpc>
              <a:spcBef>
                <a:spcPts val="0"/>
              </a:spcBef>
              <a:spcAft>
                <a:spcPts val="0"/>
              </a:spcAft>
              <a:buClr>
                <a:srgbClr val="1A1A1A"/>
              </a:buClr>
              <a:buSzPts val="939"/>
              <a:buFont typeface="Arial"/>
              <a:buChar char="▪"/>
            </a:pPr>
            <a:r>
              <a:rPr lang="en-US" sz="940">
                <a:solidFill>
                  <a:srgbClr val="1A1A1A"/>
                </a:solidFill>
                <a:latin typeface="Arial"/>
                <a:ea typeface="Arial"/>
                <a:cs typeface="Arial"/>
                <a:sym typeface="Arial"/>
              </a:rPr>
              <a:t>仕入：55年の酒販実績と輸出入免許</a:t>
            </a:r>
            <a:endParaRPr sz="940">
              <a:solidFill>
                <a:schemeClr val="dk1"/>
              </a:solidFill>
              <a:latin typeface="Calibri"/>
              <a:ea typeface="Calibri"/>
              <a:cs typeface="Calibri"/>
              <a:sym typeface="Calibri"/>
            </a:endParaRPr>
          </a:p>
          <a:p>
            <a:pPr marL="342900" marR="0" lvl="0" indent="-342900" algn="l" rtl="0">
              <a:lnSpc>
                <a:spcPct val="138445"/>
              </a:lnSpc>
              <a:spcBef>
                <a:spcPts val="300"/>
              </a:spcBef>
              <a:spcAft>
                <a:spcPts val="0"/>
              </a:spcAft>
              <a:buClr>
                <a:srgbClr val="1A1A1A"/>
              </a:buClr>
              <a:buSzPts val="939"/>
              <a:buFont typeface="Arial"/>
              <a:buChar char="▪"/>
            </a:pPr>
            <a:r>
              <a:rPr lang="en-US" sz="940">
                <a:solidFill>
                  <a:srgbClr val="1A1A1A"/>
                </a:solidFill>
                <a:latin typeface="Arial"/>
                <a:ea typeface="Arial"/>
                <a:cs typeface="Arial"/>
                <a:sym typeface="Arial"/>
              </a:rPr>
              <a:t>保管：都内2か所の定温倉庫</a:t>
            </a:r>
            <a:endParaRPr sz="940">
              <a:solidFill>
                <a:schemeClr val="dk1"/>
              </a:solidFill>
              <a:latin typeface="Calibri"/>
              <a:ea typeface="Calibri"/>
              <a:cs typeface="Calibri"/>
              <a:sym typeface="Calibri"/>
            </a:endParaRPr>
          </a:p>
          <a:p>
            <a:pPr marL="342900" marR="0" lvl="0" indent="-342900" algn="l" rtl="0">
              <a:lnSpc>
                <a:spcPct val="138445"/>
              </a:lnSpc>
              <a:spcBef>
                <a:spcPts val="300"/>
              </a:spcBef>
              <a:spcAft>
                <a:spcPts val="0"/>
              </a:spcAft>
              <a:buClr>
                <a:srgbClr val="1A1A1A"/>
              </a:buClr>
              <a:buSzPts val="939"/>
              <a:buFont typeface="Arial"/>
              <a:buChar char="▪"/>
            </a:pPr>
            <a:r>
              <a:rPr lang="en-US" sz="940">
                <a:solidFill>
                  <a:srgbClr val="1A1A1A"/>
                </a:solidFill>
                <a:latin typeface="Arial"/>
                <a:ea typeface="Arial"/>
                <a:cs typeface="Arial"/>
                <a:sym typeface="Arial"/>
              </a:rPr>
              <a:t>配送：WineGO の定温ラストワンマイル</a:t>
            </a:r>
            <a:endParaRPr sz="940">
              <a:solidFill>
                <a:schemeClr val="dk1"/>
              </a:solidFill>
              <a:latin typeface="Calibri"/>
              <a:ea typeface="Calibri"/>
              <a:cs typeface="Calibri"/>
              <a:sym typeface="Calibri"/>
            </a:endParaRPr>
          </a:p>
          <a:p>
            <a:pPr marL="342900" marR="0" lvl="0" indent="-342900" algn="l" rtl="0">
              <a:lnSpc>
                <a:spcPct val="138445"/>
              </a:lnSpc>
              <a:spcBef>
                <a:spcPts val="300"/>
              </a:spcBef>
              <a:spcAft>
                <a:spcPts val="0"/>
              </a:spcAft>
              <a:buClr>
                <a:srgbClr val="1A1A1A"/>
              </a:buClr>
              <a:buSzPts val="939"/>
              <a:buFont typeface="Arial"/>
              <a:buChar char="▪"/>
            </a:pPr>
            <a:r>
              <a:rPr lang="en-US" sz="940">
                <a:solidFill>
                  <a:srgbClr val="1A1A1A"/>
                </a:solidFill>
                <a:latin typeface="Arial"/>
                <a:ea typeface="Arial"/>
                <a:cs typeface="Arial"/>
                <a:sym typeface="Arial"/>
              </a:rPr>
              <a:t>販売：EC・卸・会員制サロン</a:t>
            </a:r>
            <a:endParaRPr sz="940">
              <a:solidFill>
                <a:schemeClr val="dk1"/>
              </a:solidFill>
              <a:latin typeface="Calibri"/>
              <a:ea typeface="Calibri"/>
              <a:cs typeface="Calibri"/>
              <a:sym typeface="Calibri"/>
            </a:endParaRPr>
          </a:p>
          <a:p>
            <a:pPr marL="342900" marR="0" lvl="0" indent="-342900" algn="l" rtl="0">
              <a:lnSpc>
                <a:spcPct val="138445"/>
              </a:lnSpc>
              <a:spcBef>
                <a:spcPts val="300"/>
              </a:spcBef>
              <a:spcAft>
                <a:spcPts val="0"/>
              </a:spcAft>
              <a:buClr>
                <a:srgbClr val="1A1A1A"/>
              </a:buClr>
              <a:buSzPts val="939"/>
              <a:buFont typeface="Arial"/>
              <a:buChar char="▪"/>
            </a:pPr>
            <a:r>
              <a:rPr lang="en-US" sz="940">
                <a:solidFill>
                  <a:srgbClr val="1A1A1A"/>
                </a:solidFill>
                <a:latin typeface="Arial"/>
                <a:ea typeface="Arial"/>
                <a:cs typeface="Arial"/>
                <a:sym typeface="Arial"/>
              </a:rPr>
              <a:t>飲食：グランメゾンの運営</a:t>
            </a:r>
            <a:endParaRPr sz="940">
              <a:solidFill>
                <a:schemeClr val="dk1"/>
              </a:solidFill>
              <a:latin typeface="Calibri"/>
              <a:ea typeface="Calibri"/>
              <a:cs typeface="Calibri"/>
              <a:sym typeface="Calibri"/>
            </a:endParaRPr>
          </a:p>
        </p:txBody>
      </p:sp>
      <p:sp>
        <p:nvSpPr>
          <p:cNvPr id="936" name="Google Shape;936;p19"/>
          <p:cNvSpPr/>
          <p:nvPr/>
        </p:nvSpPr>
        <p:spPr>
          <a:xfrm>
            <a:off x="566928" y="5888736"/>
            <a:ext cx="7882128"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860"/>
              <a:buFont typeface="Arial"/>
              <a:buNone/>
            </a:pPr>
            <a:r>
              <a:rPr lang="en-US" sz="860">
                <a:solidFill>
                  <a:srgbClr val="A6ABAF"/>
                </a:solidFill>
                <a:latin typeface="Arial"/>
                <a:ea typeface="Arial"/>
                <a:cs typeface="Arial"/>
                <a:sym typeface="Arial"/>
              </a:rPr>
              <a:t>※ 比較欄は一般的な高級ワイン専門小売・インポーターの事業範囲についての当社の理解です。特定の企業を指すものではありません。</a:t>
            </a:r>
            <a:endParaRPr sz="86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1"/>
        <p:cNvGrpSpPr/>
        <p:nvPr/>
      </p:nvGrpSpPr>
      <p:grpSpPr>
        <a:xfrm>
          <a:off x="0" y="0"/>
          <a:ext cx="0" cy="0"/>
          <a:chOff x="0" y="0"/>
          <a:chExt cx="0" cy="0"/>
        </a:xfrm>
      </p:grpSpPr>
      <p:pic>
        <p:nvPicPr>
          <p:cNvPr id="942" name="Google Shape;942;p20"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943" name="Google Shape;943;p20"/>
          <p:cNvSpPr/>
          <p:nvPr/>
        </p:nvSpPr>
        <p:spPr>
          <a:xfrm>
            <a:off x="566928" y="292608"/>
            <a:ext cx="786384"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20"/>
          <p:cNvSpPr/>
          <p:nvPr/>
        </p:nvSpPr>
        <p:spPr>
          <a:xfrm>
            <a:off x="566928" y="292608"/>
            <a:ext cx="78638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SCHEME</a:t>
            </a:r>
            <a:endParaRPr sz="850">
              <a:solidFill>
                <a:schemeClr val="dk1"/>
              </a:solidFill>
              <a:latin typeface="Calibri"/>
              <a:ea typeface="Calibri"/>
              <a:cs typeface="Calibri"/>
              <a:sym typeface="Calibri"/>
            </a:endParaRPr>
          </a:p>
        </p:txBody>
      </p:sp>
      <p:sp>
        <p:nvSpPr>
          <p:cNvPr id="945" name="Google Shape;945;p20"/>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提携スキームと収益設計（たたき台）</a:t>
            </a:r>
            <a:endParaRPr sz="2300">
              <a:solidFill>
                <a:schemeClr val="dk1"/>
              </a:solidFill>
              <a:latin typeface="Calibri"/>
              <a:ea typeface="Calibri"/>
              <a:cs typeface="Calibri"/>
              <a:sym typeface="Calibri"/>
            </a:endParaRPr>
          </a:p>
        </p:txBody>
      </p:sp>
      <p:sp>
        <p:nvSpPr>
          <p:cNvPr id="946" name="Google Shape;946;p20"/>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プログラムごとに役割と分配を切り分け、導入しやすいものから順に着手できる構成としています。</a:t>
            </a:r>
            <a:endParaRPr sz="1150">
              <a:solidFill>
                <a:schemeClr val="dk1"/>
              </a:solidFill>
              <a:latin typeface="Calibri"/>
              <a:ea typeface="Calibri"/>
              <a:cs typeface="Calibri"/>
              <a:sym typeface="Calibri"/>
            </a:endParaRPr>
          </a:p>
        </p:txBody>
      </p:sp>
      <p:sp>
        <p:nvSpPr>
          <p:cNvPr id="947" name="Google Shape;947;p20"/>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20"/>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graphicFrame>
        <p:nvGraphicFramePr>
          <p:cNvPr id="949" name="Google Shape;949;p20"/>
          <p:cNvGraphicFramePr/>
          <p:nvPr/>
        </p:nvGraphicFramePr>
        <p:xfrm>
          <a:off x="566928" y="1463040"/>
          <a:ext cx="3000000" cy="3000000"/>
        </p:xfrm>
        <a:graphic>
          <a:graphicData uri="http://schemas.openxmlformats.org/drawingml/2006/table">
            <a:tbl>
              <a:tblPr>
                <a:noFill/>
                <a:tableStyleId>{6F095D70-C01B-41C2-B289-87E81EBF8A4A}</a:tableStyleId>
              </a:tblPr>
              <a:tblGrid>
                <a:gridCol w="2249425">
                  <a:extLst>
                    <a:ext uri="{9D8B030D-6E8A-4147-A177-3AD203B41FA5}">
                      <a16:colId xmlns:a16="http://schemas.microsoft.com/office/drawing/2014/main" val="20000"/>
                    </a:ext>
                  </a:extLst>
                </a:gridCol>
                <a:gridCol w="1920250">
                  <a:extLst>
                    <a:ext uri="{9D8B030D-6E8A-4147-A177-3AD203B41FA5}">
                      <a16:colId xmlns:a16="http://schemas.microsoft.com/office/drawing/2014/main" val="20001"/>
                    </a:ext>
                  </a:extLst>
                </a:gridCol>
                <a:gridCol w="2377450">
                  <a:extLst>
                    <a:ext uri="{9D8B030D-6E8A-4147-A177-3AD203B41FA5}">
                      <a16:colId xmlns:a16="http://schemas.microsoft.com/office/drawing/2014/main" val="20002"/>
                    </a:ext>
                  </a:extLst>
                </a:gridCol>
                <a:gridCol w="2377450">
                  <a:extLst>
                    <a:ext uri="{9D8B030D-6E8A-4147-A177-3AD203B41FA5}">
                      <a16:colId xmlns:a16="http://schemas.microsoft.com/office/drawing/2014/main" val="20003"/>
                    </a:ext>
                  </a:extLst>
                </a:gridCol>
                <a:gridCol w="2130550">
                  <a:extLst>
                    <a:ext uri="{9D8B030D-6E8A-4147-A177-3AD203B41FA5}">
                      <a16:colId xmlns:a16="http://schemas.microsoft.com/office/drawing/2014/main" val="20004"/>
                    </a:ext>
                  </a:extLst>
                </a:gridCol>
              </a:tblGrid>
              <a:tr h="493775">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プログラム</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収益源</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森ビル様の関与</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当社の関与</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分配イメージ</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0"/>
                  </a:ext>
                </a:extLst>
              </a:tr>
              <a:tr h="493775">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01 Cloud Wine Cave</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ワイン卸売上</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テナント飲食店・居住者へのご紹介</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在庫保有・与信・システム・CS</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流通額に対するレベニューシェア</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1"/>
                  </a:ext>
                </a:extLst>
              </a:tr>
              <a:tr h="493775">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02 WineGO デリバリー</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配送料・ワイン販売</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ターミナル区画（2〜5坪）</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在庫・配送員・システム一式</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区画賃料 ＋ 売上歩合</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2"/>
                  </a:ext>
                </a:extLst>
              </a:tr>
              <a:tr h="493775">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03 WineBank CLUB</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月会費・購入手数料</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テナント・居住者への告知</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会員運用・請求・特典提供</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会費のレベニューシェア</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3"/>
                  </a:ext>
                </a:extLst>
              </a:tr>
              <a:tr h="493775">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04 クラウドワインセラー</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飲食売上・卸売上</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商業区画の割当</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セラー投資・運営・出店者募集</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賃料 ＋ 売上歩合</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4"/>
                  </a:ext>
                </a:extLst>
              </a:tr>
              <a:tr h="493775">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05 ティエリー・マルクス業態</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飲食売上</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商業区画の割当・共同PR</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シェフ招聘・店舗運営一切</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賃料 ＋ 売上歩合</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5"/>
                  </a:ext>
                </a:extLst>
              </a:tr>
              <a:tr h="493775">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06 ワイン預りサービス</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保管料・出庫料</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居住者への案内・受渡し協力</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引取・撮影・保管・保険</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tc>
                  <a:txBody>
                    <a:bodyPr/>
                    <a:lstStyle/>
                    <a:p>
                      <a:pPr marL="0" marR="0" lvl="0" indent="0" algn="l" rtl="0">
                        <a:spcBef>
                          <a:spcPts val="0"/>
                        </a:spcBef>
                        <a:spcAft>
                          <a:spcPts val="0"/>
                        </a:spcAft>
                        <a:buClr>
                          <a:srgbClr val="1A1A1A"/>
                        </a:buClr>
                        <a:buSzPts val="950"/>
                        <a:buFont typeface="Arial"/>
                        <a:buNone/>
                      </a:pPr>
                      <a:r>
                        <a:rPr lang="en-US" sz="950" u="none" strike="noStrike" cap="none">
                          <a:solidFill>
                            <a:srgbClr val="1A1A1A"/>
                          </a:solidFill>
                          <a:latin typeface="Arial"/>
                          <a:ea typeface="Arial"/>
                          <a:cs typeface="Arial"/>
                          <a:sym typeface="Arial"/>
                        </a:rPr>
                        <a:t>保管料のレベニューシェア</a:t>
                      </a:r>
                      <a:endParaRPr sz="950" u="none" strike="noStrike" cap="none">
                        <a:latin typeface="Arial"/>
                        <a:ea typeface="Arial"/>
                        <a:cs typeface="Arial"/>
                        <a:sym typeface="Arial"/>
                      </a:endParaRPr>
                    </a:p>
                  </a:txBody>
                  <a:tcPr marL="91450" marR="91450" marT="45725" marB="45725" anchor="ctr">
                    <a:lnL w="9525" cap="flat" cmpd="sng">
                      <a:solidFill>
                        <a:srgbClr val="DDE0E2"/>
                      </a:solidFill>
                      <a:prstDash val="solid"/>
                      <a:round/>
                      <a:headEnd type="none" w="sm" len="sm"/>
                      <a:tailEnd type="none" w="sm" len="sm"/>
                    </a:lnL>
                    <a:lnR w="9525" cap="flat" cmpd="sng">
                      <a:solidFill>
                        <a:srgbClr val="DDE0E2"/>
                      </a:solidFill>
                      <a:prstDash val="solid"/>
                      <a:round/>
                      <a:headEnd type="none" w="sm" len="sm"/>
                      <a:tailEnd type="none" w="sm" len="sm"/>
                    </a:lnR>
                    <a:lnT w="9525" cap="flat" cmpd="sng">
                      <a:solidFill>
                        <a:srgbClr val="DDE0E2"/>
                      </a:solidFill>
                      <a:prstDash val="solid"/>
                      <a:round/>
                      <a:headEnd type="none" w="sm" len="sm"/>
                      <a:tailEnd type="none" w="sm" len="sm"/>
                    </a:lnT>
                    <a:lnB w="9525" cap="flat" cmpd="sng">
                      <a:solidFill>
                        <a:srgbClr val="DDE0E2"/>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950" name="Google Shape;950;p20"/>
          <p:cNvSpPr/>
          <p:nvPr/>
        </p:nvSpPr>
        <p:spPr>
          <a:xfrm>
            <a:off x="566928" y="1463040"/>
            <a:ext cx="11055096" cy="438912"/>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20"/>
          <p:cNvSpPr/>
          <p:nvPr/>
        </p:nvSpPr>
        <p:spPr>
          <a:xfrm>
            <a:off x="676656" y="1463040"/>
            <a:ext cx="2029968"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000"/>
              <a:buFont typeface="Arial"/>
              <a:buNone/>
            </a:pPr>
            <a:r>
              <a:rPr lang="en-US" sz="1000" b="1">
                <a:solidFill>
                  <a:srgbClr val="EFDCCE"/>
                </a:solidFill>
                <a:latin typeface="Arial"/>
                <a:ea typeface="Arial"/>
                <a:cs typeface="Arial"/>
                <a:sym typeface="Arial"/>
              </a:rPr>
              <a:t>プログラム</a:t>
            </a:r>
            <a:endParaRPr sz="1000">
              <a:solidFill>
                <a:schemeClr val="dk1"/>
              </a:solidFill>
              <a:latin typeface="Calibri"/>
              <a:ea typeface="Calibri"/>
              <a:cs typeface="Calibri"/>
              <a:sym typeface="Calibri"/>
            </a:endParaRPr>
          </a:p>
        </p:txBody>
      </p:sp>
      <p:sp>
        <p:nvSpPr>
          <p:cNvPr id="952" name="Google Shape;952;p20"/>
          <p:cNvSpPr/>
          <p:nvPr/>
        </p:nvSpPr>
        <p:spPr>
          <a:xfrm>
            <a:off x="2926080" y="1463040"/>
            <a:ext cx="1700784"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000"/>
              <a:buFont typeface="Arial"/>
              <a:buNone/>
            </a:pPr>
            <a:r>
              <a:rPr lang="en-US" sz="1000" b="1">
                <a:solidFill>
                  <a:srgbClr val="EFDCCE"/>
                </a:solidFill>
                <a:latin typeface="Arial"/>
                <a:ea typeface="Arial"/>
                <a:cs typeface="Arial"/>
                <a:sym typeface="Arial"/>
              </a:rPr>
              <a:t>収益源</a:t>
            </a:r>
            <a:endParaRPr sz="1000">
              <a:solidFill>
                <a:schemeClr val="dk1"/>
              </a:solidFill>
              <a:latin typeface="Calibri"/>
              <a:ea typeface="Calibri"/>
              <a:cs typeface="Calibri"/>
              <a:sym typeface="Calibri"/>
            </a:endParaRPr>
          </a:p>
        </p:txBody>
      </p:sp>
      <p:sp>
        <p:nvSpPr>
          <p:cNvPr id="953" name="Google Shape;953;p20"/>
          <p:cNvSpPr/>
          <p:nvPr/>
        </p:nvSpPr>
        <p:spPr>
          <a:xfrm>
            <a:off x="4846320" y="1463040"/>
            <a:ext cx="2157984"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000"/>
              <a:buFont typeface="Arial"/>
              <a:buNone/>
            </a:pPr>
            <a:r>
              <a:rPr lang="en-US" sz="1000" b="1">
                <a:solidFill>
                  <a:srgbClr val="EFDCCE"/>
                </a:solidFill>
                <a:latin typeface="Arial"/>
                <a:ea typeface="Arial"/>
                <a:cs typeface="Arial"/>
                <a:sym typeface="Arial"/>
              </a:rPr>
              <a:t>森ビル様の関与</a:t>
            </a:r>
            <a:endParaRPr sz="1000">
              <a:solidFill>
                <a:schemeClr val="dk1"/>
              </a:solidFill>
              <a:latin typeface="Calibri"/>
              <a:ea typeface="Calibri"/>
              <a:cs typeface="Calibri"/>
              <a:sym typeface="Calibri"/>
            </a:endParaRPr>
          </a:p>
        </p:txBody>
      </p:sp>
      <p:sp>
        <p:nvSpPr>
          <p:cNvPr id="954" name="Google Shape;954;p20"/>
          <p:cNvSpPr/>
          <p:nvPr/>
        </p:nvSpPr>
        <p:spPr>
          <a:xfrm>
            <a:off x="7223760" y="1463040"/>
            <a:ext cx="2157984"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000"/>
              <a:buFont typeface="Arial"/>
              <a:buNone/>
            </a:pPr>
            <a:r>
              <a:rPr lang="en-US" sz="1000" b="1">
                <a:solidFill>
                  <a:srgbClr val="EFDCCE"/>
                </a:solidFill>
                <a:latin typeface="Arial"/>
                <a:ea typeface="Arial"/>
                <a:cs typeface="Arial"/>
                <a:sym typeface="Arial"/>
              </a:rPr>
              <a:t>当社の関与</a:t>
            </a:r>
            <a:endParaRPr sz="1000">
              <a:solidFill>
                <a:schemeClr val="dk1"/>
              </a:solidFill>
              <a:latin typeface="Calibri"/>
              <a:ea typeface="Calibri"/>
              <a:cs typeface="Calibri"/>
              <a:sym typeface="Calibri"/>
            </a:endParaRPr>
          </a:p>
        </p:txBody>
      </p:sp>
      <p:sp>
        <p:nvSpPr>
          <p:cNvPr id="955" name="Google Shape;955;p20"/>
          <p:cNvSpPr/>
          <p:nvPr/>
        </p:nvSpPr>
        <p:spPr>
          <a:xfrm>
            <a:off x="9601200" y="1463040"/>
            <a:ext cx="1911096"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000"/>
              <a:buFont typeface="Arial"/>
              <a:buNone/>
            </a:pPr>
            <a:r>
              <a:rPr lang="en-US" sz="1000" b="1">
                <a:solidFill>
                  <a:srgbClr val="EFDCCE"/>
                </a:solidFill>
                <a:latin typeface="Arial"/>
                <a:ea typeface="Arial"/>
                <a:cs typeface="Arial"/>
                <a:sym typeface="Arial"/>
              </a:rPr>
              <a:t>分配イメージ</a:t>
            </a:r>
            <a:endParaRPr sz="1000">
              <a:solidFill>
                <a:schemeClr val="dk1"/>
              </a:solidFill>
              <a:latin typeface="Calibri"/>
              <a:ea typeface="Calibri"/>
              <a:cs typeface="Calibri"/>
              <a:sym typeface="Calibri"/>
            </a:endParaRPr>
          </a:p>
        </p:txBody>
      </p:sp>
      <p:sp>
        <p:nvSpPr>
          <p:cNvPr id="956" name="Google Shape;956;p20"/>
          <p:cNvSpPr/>
          <p:nvPr/>
        </p:nvSpPr>
        <p:spPr>
          <a:xfrm>
            <a:off x="566928" y="4974336"/>
            <a:ext cx="10972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939"/>
              <a:buFont typeface="Arial"/>
              <a:buNone/>
            </a:pPr>
            <a:r>
              <a:rPr lang="en-US" sz="940">
                <a:solidFill>
                  <a:srgbClr val="A6ABAF"/>
                </a:solidFill>
                <a:latin typeface="Arial"/>
                <a:ea typeface="Arial"/>
                <a:cs typeface="Arial"/>
                <a:sym typeface="Arial"/>
              </a:rPr>
              <a:t>※ 分配率・賃料条件は個別協議のうえ決定させていただきたく存じます。上表は議論の出発点としての整理です。</a:t>
            </a:r>
            <a:endParaRPr sz="940">
              <a:solidFill>
                <a:schemeClr val="dk1"/>
              </a:solidFill>
              <a:latin typeface="Calibri"/>
              <a:ea typeface="Calibri"/>
              <a:cs typeface="Calibri"/>
              <a:sym typeface="Calibri"/>
            </a:endParaRPr>
          </a:p>
        </p:txBody>
      </p:sp>
      <p:sp>
        <p:nvSpPr>
          <p:cNvPr id="957" name="Google Shape;957;p20"/>
          <p:cNvSpPr/>
          <p:nvPr/>
        </p:nvSpPr>
        <p:spPr>
          <a:xfrm>
            <a:off x="566928" y="5321808"/>
            <a:ext cx="109728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80"/>
              <a:buFont typeface="Arial"/>
              <a:buNone/>
            </a:pPr>
            <a:r>
              <a:rPr lang="en-US" sz="1080" b="1">
                <a:solidFill>
                  <a:srgbClr val="A06D4C"/>
                </a:solidFill>
                <a:latin typeface="Arial"/>
                <a:ea typeface="Arial"/>
                <a:cs typeface="Arial"/>
                <a:sym typeface="Arial"/>
              </a:rPr>
              <a:t>段階導入の考え方：まずは①②③（設備投資ほぼ不要・3〜4か月で開始可能） → 効果検証のうえ ④⑤（区画を伴う出店） → ⑥は③と同時に付帯</a:t>
            </a:r>
            <a:endParaRPr sz="108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62"/>
        <p:cNvGrpSpPr/>
        <p:nvPr/>
      </p:nvGrpSpPr>
      <p:grpSpPr>
        <a:xfrm>
          <a:off x="0" y="0"/>
          <a:ext cx="0" cy="0"/>
          <a:chOff x="0" y="0"/>
          <a:chExt cx="0" cy="0"/>
        </a:xfrm>
      </p:grpSpPr>
      <p:pic>
        <p:nvPicPr>
          <p:cNvPr id="963" name="Google Shape;963;p21"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964" name="Google Shape;964;p21"/>
          <p:cNvSpPr/>
          <p:nvPr/>
        </p:nvSpPr>
        <p:spPr>
          <a:xfrm>
            <a:off x="566928" y="292608"/>
            <a:ext cx="786384"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1"/>
          <p:cNvSpPr/>
          <p:nvPr/>
        </p:nvSpPr>
        <p:spPr>
          <a:xfrm>
            <a:off x="566928" y="292608"/>
            <a:ext cx="78638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SIZING</a:t>
            </a:r>
            <a:endParaRPr sz="850">
              <a:solidFill>
                <a:schemeClr val="dk1"/>
              </a:solidFill>
              <a:latin typeface="Calibri"/>
              <a:ea typeface="Calibri"/>
              <a:cs typeface="Calibri"/>
              <a:sym typeface="Calibri"/>
            </a:endParaRPr>
          </a:p>
        </p:txBody>
      </p:sp>
      <p:sp>
        <p:nvSpPr>
          <p:cNvPr id="966" name="Google Shape;966;p21"/>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事業規模イメージ（当社試算）</a:t>
            </a:r>
            <a:endParaRPr sz="2300">
              <a:solidFill>
                <a:schemeClr val="dk1"/>
              </a:solidFill>
              <a:latin typeface="Calibri"/>
              <a:ea typeface="Calibri"/>
              <a:cs typeface="Calibri"/>
              <a:sym typeface="Calibri"/>
            </a:endParaRPr>
          </a:p>
        </p:txBody>
      </p:sp>
      <p:sp>
        <p:nvSpPr>
          <p:cNvPr id="967" name="Google Shape;967;p21"/>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森ビル様と共有すべき前提を明示したうえでの試算です。数値は今後のすり合わせで更新させていただきます。</a:t>
            </a:r>
            <a:endParaRPr sz="1150">
              <a:solidFill>
                <a:schemeClr val="dk1"/>
              </a:solidFill>
              <a:latin typeface="Calibri"/>
              <a:ea typeface="Calibri"/>
              <a:cs typeface="Calibri"/>
              <a:sym typeface="Calibri"/>
            </a:endParaRPr>
          </a:p>
        </p:txBody>
      </p:sp>
      <p:sp>
        <p:nvSpPr>
          <p:cNvPr id="968" name="Google Shape;968;p21"/>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1"/>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970" name="Google Shape;970;p21"/>
          <p:cNvSpPr/>
          <p:nvPr/>
        </p:nvSpPr>
        <p:spPr>
          <a:xfrm>
            <a:off x="566928" y="1463040"/>
            <a:ext cx="384048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Cloud Wine Cave 導入店舗数（店）</a:t>
            </a:r>
            <a:endParaRPr sz="1300">
              <a:solidFill>
                <a:schemeClr val="dk1"/>
              </a:solidFill>
              <a:latin typeface="Calibri"/>
              <a:ea typeface="Calibri"/>
              <a:cs typeface="Calibri"/>
              <a:sym typeface="Calibri"/>
            </a:endParaRPr>
          </a:p>
        </p:txBody>
      </p:sp>
      <p:graphicFrame>
        <p:nvGraphicFramePr>
          <p:cNvPr id="971" name="Google Shape;971;p21"/>
          <p:cNvGraphicFramePr/>
          <p:nvPr/>
        </p:nvGraphicFramePr>
        <p:xfrm>
          <a:off x="475488" y="1773936"/>
          <a:ext cx="3749040" cy="2560320"/>
        </p:xfrm>
        <a:graphic>
          <a:graphicData uri="http://schemas.openxmlformats.org/drawingml/2006/chart">
            <c:chart xmlns:c="http://schemas.openxmlformats.org/drawingml/2006/chart" xmlns:r="http://schemas.openxmlformats.org/officeDocument/2006/relationships" r:id="rId4"/>
          </a:graphicData>
        </a:graphic>
      </p:graphicFrame>
      <p:sp>
        <p:nvSpPr>
          <p:cNvPr id="972" name="Google Shape;972;p21"/>
          <p:cNvSpPr/>
          <p:nvPr/>
        </p:nvSpPr>
        <p:spPr>
          <a:xfrm>
            <a:off x="4535424" y="1463040"/>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300"/>
              <a:buFont typeface="Arial"/>
              <a:buNone/>
            </a:pPr>
            <a:r>
              <a:rPr lang="en-US" sz="1300" b="1">
                <a:solidFill>
                  <a:srgbClr val="1A1A1A"/>
                </a:solidFill>
                <a:latin typeface="Arial"/>
                <a:ea typeface="Arial"/>
                <a:cs typeface="Arial"/>
                <a:sym typeface="Arial"/>
              </a:rPr>
              <a:t>年間流通総額の想定（百万円）</a:t>
            </a:r>
            <a:endParaRPr sz="1300">
              <a:solidFill>
                <a:schemeClr val="dk1"/>
              </a:solidFill>
              <a:latin typeface="Calibri"/>
              <a:ea typeface="Calibri"/>
              <a:cs typeface="Calibri"/>
              <a:sym typeface="Calibri"/>
            </a:endParaRPr>
          </a:p>
        </p:txBody>
      </p:sp>
      <p:graphicFrame>
        <p:nvGraphicFramePr>
          <p:cNvPr id="973" name="Google Shape;973;p21"/>
          <p:cNvGraphicFramePr/>
          <p:nvPr/>
        </p:nvGraphicFramePr>
        <p:xfrm>
          <a:off x="4443984" y="1773936"/>
          <a:ext cx="3931920" cy="2560320"/>
        </p:xfrm>
        <a:graphic>
          <a:graphicData uri="http://schemas.openxmlformats.org/drawingml/2006/chart">
            <c:chart xmlns:c="http://schemas.openxmlformats.org/drawingml/2006/chart" xmlns:r="http://schemas.openxmlformats.org/officeDocument/2006/relationships" r:id="rId5"/>
          </a:graphicData>
        </a:graphic>
      </p:graphicFrame>
      <p:sp>
        <p:nvSpPr>
          <p:cNvPr id="974" name="Google Shape;974;p21"/>
          <p:cNvSpPr/>
          <p:nvPr/>
        </p:nvSpPr>
        <p:spPr>
          <a:xfrm>
            <a:off x="8668512" y="1463040"/>
            <a:ext cx="2956255" cy="3749040"/>
          </a:xfrm>
          <a:prstGeom prst="roundRect">
            <a:avLst>
              <a:gd name="adj" fmla="val 154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1"/>
          <p:cNvSpPr/>
          <p:nvPr/>
        </p:nvSpPr>
        <p:spPr>
          <a:xfrm>
            <a:off x="8942832" y="1627632"/>
            <a:ext cx="2407615"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400"/>
              <a:buFont typeface="Arial"/>
              <a:buNone/>
            </a:pPr>
            <a:r>
              <a:rPr lang="en-US" sz="1400" b="1">
                <a:solidFill>
                  <a:srgbClr val="1A1A1A"/>
                </a:solidFill>
                <a:latin typeface="Arial"/>
                <a:ea typeface="Arial"/>
                <a:cs typeface="Arial"/>
                <a:sym typeface="Arial"/>
              </a:rPr>
              <a:t>試算の前提</a:t>
            </a:r>
            <a:endParaRPr sz="1400">
              <a:solidFill>
                <a:schemeClr val="dk1"/>
              </a:solidFill>
              <a:latin typeface="Calibri"/>
              <a:ea typeface="Calibri"/>
              <a:cs typeface="Calibri"/>
              <a:sym typeface="Calibri"/>
            </a:endParaRPr>
          </a:p>
        </p:txBody>
      </p:sp>
      <p:sp>
        <p:nvSpPr>
          <p:cNvPr id="976" name="Google Shape;976;p21"/>
          <p:cNvSpPr/>
          <p:nvPr/>
        </p:nvSpPr>
        <p:spPr>
          <a:xfrm>
            <a:off x="8942832" y="1975104"/>
            <a:ext cx="2407615" cy="2999232"/>
          </a:xfrm>
          <a:prstGeom prst="rect">
            <a:avLst/>
          </a:prstGeom>
          <a:noFill/>
          <a:ln>
            <a:noFill/>
          </a:ln>
        </p:spPr>
        <p:txBody>
          <a:bodyPr spcFirstLastPara="1" wrap="square" lIns="0" tIns="0" rIns="0" bIns="0" anchor="ctr" anchorCtr="0">
            <a:noAutofit/>
          </a:bodyPr>
          <a:lstStyle/>
          <a:p>
            <a:pPr marL="342900" marR="0" lvl="0" indent="-342900" algn="l" rtl="0">
              <a:lnSpc>
                <a:spcPct val="140625"/>
              </a:lnSpc>
              <a:spcBef>
                <a:spcPts val="0"/>
              </a:spcBef>
              <a:spcAft>
                <a:spcPts val="0"/>
              </a:spcAft>
              <a:buClr>
                <a:srgbClr val="1A1A1A"/>
              </a:buClr>
              <a:buSzPts val="960"/>
              <a:buFont typeface="Arial"/>
              <a:buChar char="▪"/>
            </a:pPr>
            <a:r>
              <a:rPr lang="en-US" sz="960">
                <a:solidFill>
                  <a:srgbClr val="1A1A1A"/>
                </a:solidFill>
                <a:latin typeface="Arial"/>
                <a:ea typeface="Arial"/>
                <a:cs typeface="Arial"/>
                <a:sym typeface="Arial"/>
              </a:rPr>
              <a:t>対象：主要ヒルズのテナント飲食店、オフィスワーカー、レジデンス居住者（規模は森ビル様公表値をもとに要確認）</a:t>
            </a:r>
            <a:endParaRPr sz="960">
              <a:solidFill>
                <a:schemeClr val="dk1"/>
              </a:solidFill>
              <a:latin typeface="Calibri"/>
              <a:ea typeface="Calibri"/>
              <a:cs typeface="Calibri"/>
              <a:sym typeface="Calibri"/>
            </a:endParaRPr>
          </a:p>
          <a:p>
            <a:pPr marL="342900" marR="0" lvl="0" indent="-342900" algn="l" rtl="0">
              <a:lnSpc>
                <a:spcPct val="140625"/>
              </a:lnSpc>
              <a:spcBef>
                <a:spcPts val="600"/>
              </a:spcBef>
              <a:spcAft>
                <a:spcPts val="0"/>
              </a:spcAft>
              <a:buClr>
                <a:srgbClr val="1A1A1A"/>
              </a:buClr>
              <a:buSzPts val="960"/>
              <a:buFont typeface="Arial"/>
              <a:buChar char="▪"/>
            </a:pPr>
            <a:r>
              <a:rPr lang="en-US" sz="960">
                <a:solidFill>
                  <a:srgbClr val="1A1A1A"/>
                </a:solidFill>
                <a:latin typeface="Arial"/>
                <a:ea typeface="Arial"/>
                <a:cs typeface="Arial"/>
                <a:sym typeface="Arial"/>
              </a:rPr>
              <a:t>Cloud Wine Cave：1店あたり月商 80〜120万円を想定</a:t>
            </a:r>
            <a:endParaRPr sz="960">
              <a:solidFill>
                <a:schemeClr val="dk1"/>
              </a:solidFill>
              <a:latin typeface="Calibri"/>
              <a:ea typeface="Calibri"/>
              <a:cs typeface="Calibri"/>
              <a:sym typeface="Calibri"/>
            </a:endParaRPr>
          </a:p>
          <a:p>
            <a:pPr marL="342900" marR="0" lvl="0" indent="-342900" algn="l" rtl="0">
              <a:lnSpc>
                <a:spcPct val="140625"/>
              </a:lnSpc>
              <a:spcBef>
                <a:spcPts val="600"/>
              </a:spcBef>
              <a:spcAft>
                <a:spcPts val="0"/>
              </a:spcAft>
              <a:buClr>
                <a:srgbClr val="1A1A1A"/>
              </a:buClr>
              <a:buSzPts val="960"/>
              <a:buFont typeface="Arial"/>
              <a:buChar char="▪"/>
            </a:pPr>
            <a:r>
              <a:rPr lang="en-US" sz="960">
                <a:solidFill>
                  <a:srgbClr val="1A1A1A"/>
                </a:solidFill>
                <a:latin typeface="Arial"/>
                <a:ea typeface="Arial"/>
                <a:cs typeface="Arial"/>
                <a:sym typeface="Arial"/>
              </a:rPr>
              <a:t>CLUB会員：Y1 200名 → Y3 1,000名、ARPU 年35万円（会費＋ワイン購入の合計）</a:t>
            </a:r>
            <a:endParaRPr sz="960">
              <a:solidFill>
                <a:schemeClr val="dk1"/>
              </a:solidFill>
              <a:latin typeface="Calibri"/>
              <a:ea typeface="Calibri"/>
              <a:cs typeface="Calibri"/>
              <a:sym typeface="Calibri"/>
            </a:endParaRPr>
          </a:p>
          <a:p>
            <a:pPr marL="342900" marR="0" lvl="0" indent="-342900" algn="l" rtl="0">
              <a:lnSpc>
                <a:spcPct val="140625"/>
              </a:lnSpc>
              <a:spcBef>
                <a:spcPts val="600"/>
              </a:spcBef>
              <a:spcAft>
                <a:spcPts val="0"/>
              </a:spcAft>
              <a:buClr>
                <a:srgbClr val="1A1A1A"/>
              </a:buClr>
              <a:buSzPts val="960"/>
              <a:buFont typeface="Arial"/>
              <a:buChar char="▪"/>
            </a:pPr>
            <a:r>
              <a:rPr lang="en-US" sz="960">
                <a:solidFill>
                  <a:srgbClr val="1A1A1A"/>
                </a:solidFill>
                <a:latin typeface="Arial"/>
                <a:ea typeface="Arial"/>
                <a:cs typeface="Arial"/>
                <a:sym typeface="Arial"/>
              </a:rPr>
              <a:t>クラウドワインセラー：Y2開業、年商4.0〜4.5億円</a:t>
            </a:r>
            <a:endParaRPr sz="960">
              <a:solidFill>
                <a:schemeClr val="dk1"/>
              </a:solidFill>
              <a:latin typeface="Calibri"/>
              <a:ea typeface="Calibri"/>
              <a:cs typeface="Calibri"/>
              <a:sym typeface="Calibri"/>
            </a:endParaRPr>
          </a:p>
          <a:p>
            <a:pPr marL="342900" marR="0" lvl="0" indent="-342900" algn="l" rtl="0">
              <a:lnSpc>
                <a:spcPct val="140625"/>
              </a:lnSpc>
              <a:spcBef>
                <a:spcPts val="600"/>
              </a:spcBef>
              <a:spcAft>
                <a:spcPts val="0"/>
              </a:spcAft>
              <a:buClr>
                <a:srgbClr val="1A1A1A"/>
              </a:buClr>
              <a:buSzPts val="960"/>
              <a:buFont typeface="Arial"/>
              <a:buChar char="▪"/>
            </a:pPr>
            <a:r>
              <a:rPr lang="en-US" sz="960">
                <a:solidFill>
                  <a:srgbClr val="1A1A1A"/>
                </a:solidFill>
                <a:latin typeface="Arial"/>
                <a:ea typeface="Arial"/>
                <a:cs typeface="Arial"/>
                <a:sym typeface="Arial"/>
              </a:rPr>
              <a:t>レストラン業態：Y3開業、年商6.0億円</a:t>
            </a:r>
            <a:endParaRPr sz="960">
              <a:solidFill>
                <a:schemeClr val="dk1"/>
              </a:solidFill>
              <a:latin typeface="Calibri"/>
              <a:ea typeface="Calibri"/>
              <a:cs typeface="Calibri"/>
              <a:sym typeface="Calibri"/>
            </a:endParaRPr>
          </a:p>
          <a:p>
            <a:pPr marL="342900" marR="0" lvl="0" indent="-342900" algn="l" rtl="0">
              <a:lnSpc>
                <a:spcPct val="140625"/>
              </a:lnSpc>
              <a:spcBef>
                <a:spcPts val="600"/>
              </a:spcBef>
              <a:spcAft>
                <a:spcPts val="0"/>
              </a:spcAft>
              <a:buClr>
                <a:srgbClr val="1A1A1A"/>
              </a:buClr>
              <a:buSzPts val="960"/>
              <a:buFont typeface="Arial"/>
              <a:buChar char="▪"/>
            </a:pPr>
            <a:r>
              <a:rPr lang="en-US" sz="960">
                <a:solidFill>
                  <a:srgbClr val="1A1A1A"/>
                </a:solidFill>
                <a:latin typeface="Arial"/>
                <a:ea typeface="Arial"/>
                <a:cs typeface="Arial"/>
                <a:sym typeface="Arial"/>
              </a:rPr>
              <a:t>森ビル様配分：流通総額の概ね10%前後（賃料・歩合・RS合算）</a:t>
            </a:r>
            <a:endParaRPr sz="960">
              <a:solidFill>
                <a:schemeClr val="dk1"/>
              </a:solidFill>
              <a:latin typeface="Calibri"/>
              <a:ea typeface="Calibri"/>
              <a:cs typeface="Calibri"/>
              <a:sym typeface="Calibri"/>
            </a:endParaRPr>
          </a:p>
        </p:txBody>
      </p:sp>
      <p:sp>
        <p:nvSpPr>
          <p:cNvPr id="977" name="Google Shape;977;p21"/>
          <p:cNvSpPr/>
          <p:nvPr/>
        </p:nvSpPr>
        <p:spPr>
          <a:xfrm>
            <a:off x="512064" y="4590288"/>
            <a:ext cx="2474976" cy="713232"/>
          </a:xfrm>
          <a:prstGeom prst="roundRect">
            <a:avLst>
              <a:gd name="adj" fmla="val 6410"/>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1"/>
          <p:cNvSpPr/>
          <p:nvPr/>
        </p:nvSpPr>
        <p:spPr>
          <a:xfrm>
            <a:off x="713232" y="4663440"/>
            <a:ext cx="20726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600"/>
              <a:buFont typeface="Arial"/>
              <a:buNone/>
            </a:pPr>
            <a:r>
              <a:rPr lang="en-US" sz="1600" b="1">
                <a:solidFill>
                  <a:srgbClr val="EFDCCE"/>
                </a:solidFill>
                <a:latin typeface="Arial"/>
                <a:ea typeface="Arial"/>
                <a:cs typeface="Arial"/>
                <a:sym typeface="Arial"/>
              </a:rPr>
              <a:t>35店</a:t>
            </a:r>
            <a:endParaRPr sz="1600">
              <a:solidFill>
                <a:schemeClr val="dk1"/>
              </a:solidFill>
              <a:latin typeface="Calibri"/>
              <a:ea typeface="Calibri"/>
              <a:cs typeface="Calibri"/>
              <a:sym typeface="Calibri"/>
            </a:endParaRPr>
          </a:p>
        </p:txBody>
      </p:sp>
      <p:sp>
        <p:nvSpPr>
          <p:cNvPr id="979" name="Google Shape;979;p21"/>
          <p:cNvSpPr/>
          <p:nvPr/>
        </p:nvSpPr>
        <p:spPr>
          <a:xfrm>
            <a:off x="713232" y="4992624"/>
            <a:ext cx="20726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860"/>
              <a:buFont typeface="Arial"/>
              <a:buNone/>
            </a:pPr>
            <a:r>
              <a:rPr lang="en-US" sz="860">
                <a:solidFill>
                  <a:srgbClr val="B9BEC2"/>
                </a:solidFill>
                <a:latin typeface="Arial"/>
                <a:ea typeface="Arial"/>
                <a:cs typeface="Arial"/>
                <a:sym typeface="Arial"/>
              </a:rPr>
              <a:t>Year 3 導入店舗数</a:t>
            </a:r>
            <a:endParaRPr sz="860">
              <a:solidFill>
                <a:schemeClr val="dk1"/>
              </a:solidFill>
              <a:latin typeface="Calibri"/>
              <a:ea typeface="Calibri"/>
              <a:cs typeface="Calibri"/>
              <a:sym typeface="Calibri"/>
            </a:endParaRPr>
          </a:p>
        </p:txBody>
      </p:sp>
      <p:sp>
        <p:nvSpPr>
          <p:cNvPr id="980" name="Google Shape;980;p21"/>
          <p:cNvSpPr/>
          <p:nvPr/>
        </p:nvSpPr>
        <p:spPr>
          <a:xfrm>
            <a:off x="3206496" y="4590288"/>
            <a:ext cx="2474976" cy="713232"/>
          </a:xfrm>
          <a:prstGeom prst="roundRect">
            <a:avLst>
              <a:gd name="adj" fmla="val 6410"/>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1"/>
          <p:cNvSpPr/>
          <p:nvPr/>
        </p:nvSpPr>
        <p:spPr>
          <a:xfrm>
            <a:off x="3407664" y="4663440"/>
            <a:ext cx="20726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600"/>
              <a:buFont typeface="Arial"/>
              <a:buNone/>
            </a:pPr>
            <a:r>
              <a:rPr lang="en-US" sz="1600" b="1">
                <a:solidFill>
                  <a:srgbClr val="EFDCCE"/>
                </a:solidFill>
                <a:latin typeface="Arial"/>
                <a:ea typeface="Arial"/>
                <a:cs typeface="Arial"/>
                <a:sym typeface="Arial"/>
              </a:rPr>
              <a:t>14.8億円</a:t>
            </a:r>
            <a:endParaRPr sz="1600">
              <a:solidFill>
                <a:schemeClr val="dk1"/>
              </a:solidFill>
              <a:latin typeface="Calibri"/>
              <a:ea typeface="Calibri"/>
              <a:cs typeface="Calibri"/>
              <a:sym typeface="Calibri"/>
            </a:endParaRPr>
          </a:p>
        </p:txBody>
      </p:sp>
      <p:sp>
        <p:nvSpPr>
          <p:cNvPr id="982" name="Google Shape;982;p21"/>
          <p:cNvSpPr/>
          <p:nvPr/>
        </p:nvSpPr>
        <p:spPr>
          <a:xfrm>
            <a:off x="3407664" y="4992624"/>
            <a:ext cx="20726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860"/>
              <a:buFont typeface="Arial"/>
              <a:buNone/>
            </a:pPr>
            <a:r>
              <a:rPr lang="en-US" sz="860">
                <a:solidFill>
                  <a:srgbClr val="B9BEC2"/>
                </a:solidFill>
                <a:latin typeface="Arial"/>
                <a:ea typeface="Arial"/>
                <a:cs typeface="Arial"/>
                <a:sym typeface="Arial"/>
              </a:rPr>
              <a:t>Year 3 年間流通総額</a:t>
            </a:r>
            <a:endParaRPr sz="860">
              <a:solidFill>
                <a:schemeClr val="dk1"/>
              </a:solidFill>
              <a:latin typeface="Calibri"/>
              <a:ea typeface="Calibri"/>
              <a:cs typeface="Calibri"/>
              <a:sym typeface="Calibri"/>
            </a:endParaRPr>
          </a:p>
        </p:txBody>
      </p:sp>
      <p:sp>
        <p:nvSpPr>
          <p:cNvPr id="983" name="Google Shape;983;p21"/>
          <p:cNvSpPr/>
          <p:nvPr/>
        </p:nvSpPr>
        <p:spPr>
          <a:xfrm>
            <a:off x="5900928" y="4590288"/>
            <a:ext cx="2474976" cy="713232"/>
          </a:xfrm>
          <a:prstGeom prst="roundRect">
            <a:avLst>
              <a:gd name="adj" fmla="val 6410"/>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1"/>
          <p:cNvSpPr/>
          <p:nvPr/>
        </p:nvSpPr>
        <p:spPr>
          <a:xfrm>
            <a:off x="6102096" y="4663440"/>
            <a:ext cx="207264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600"/>
              <a:buFont typeface="Arial"/>
              <a:buNone/>
            </a:pPr>
            <a:r>
              <a:rPr lang="en-US" sz="1600" b="1">
                <a:solidFill>
                  <a:srgbClr val="EFDCCE"/>
                </a:solidFill>
                <a:latin typeface="Arial"/>
                <a:ea typeface="Arial"/>
                <a:cs typeface="Arial"/>
                <a:sym typeface="Arial"/>
              </a:rPr>
              <a:t>約1.5億円</a:t>
            </a:r>
            <a:endParaRPr sz="1600">
              <a:solidFill>
                <a:schemeClr val="dk1"/>
              </a:solidFill>
              <a:latin typeface="Calibri"/>
              <a:ea typeface="Calibri"/>
              <a:cs typeface="Calibri"/>
              <a:sym typeface="Calibri"/>
            </a:endParaRPr>
          </a:p>
        </p:txBody>
      </p:sp>
      <p:sp>
        <p:nvSpPr>
          <p:cNvPr id="985" name="Google Shape;985;p21"/>
          <p:cNvSpPr/>
          <p:nvPr/>
        </p:nvSpPr>
        <p:spPr>
          <a:xfrm>
            <a:off x="6102096" y="4992624"/>
            <a:ext cx="20726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9BEC2"/>
              </a:buClr>
              <a:buSzPts val="860"/>
              <a:buFont typeface="Arial"/>
              <a:buNone/>
            </a:pPr>
            <a:r>
              <a:rPr lang="en-US" sz="860">
                <a:solidFill>
                  <a:srgbClr val="B9BEC2"/>
                </a:solidFill>
                <a:latin typeface="Arial"/>
                <a:ea typeface="Arial"/>
                <a:cs typeface="Arial"/>
                <a:sym typeface="Arial"/>
              </a:rPr>
              <a:t>うち森ビル様配分（イメージ）</a:t>
            </a:r>
            <a:endParaRPr sz="860">
              <a:solidFill>
                <a:schemeClr val="dk1"/>
              </a:solidFill>
              <a:latin typeface="Calibri"/>
              <a:ea typeface="Calibri"/>
              <a:cs typeface="Calibri"/>
              <a:sym typeface="Calibri"/>
            </a:endParaRPr>
          </a:p>
        </p:txBody>
      </p:sp>
      <p:sp>
        <p:nvSpPr>
          <p:cNvPr id="986" name="Google Shape;986;p21"/>
          <p:cNvSpPr/>
          <p:nvPr/>
        </p:nvSpPr>
        <p:spPr>
          <a:xfrm>
            <a:off x="566928" y="5431536"/>
            <a:ext cx="109728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6ABAF"/>
              </a:buClr>
              <a:buSzPts val="880"/>
              <a:buFont typeface="Arial"/>
              <a:buNone/>
            </a:pPr>
            <a:r>
              <a:rPr lang="en-US" sz="880">
                <a:solidFill>
                  <a:srgbClr val="A6ABAF"/>
                </a:solidFill>
                <a:latin typeface="Arial"/>
                <a:ea typeface="Arial"/>
                <a:cs typeface="Arial"/>
                <a:sym typeface="Arial"/>
              </a:rPr>
              <a:t>※ 上記は当社による試算であり、確定的な見通しではありません。母集団・転換率は森ビル様のデータをいただいたうえで精緻化させていただきます。</a:t>
            </a:r>
            <a:endParaRPr sz="88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1"/>
        <p:cNvGrpSpPr/>
        <p:nvPr/>
      </p:nvGrpSpPr>
      <p:grpSpPr>
        <a:xfrm>
          <a:off x="0" y="0"/>
          <a:ext cx="0" cy="0"/>
          <a:chOff x="0" y="0"/>
          <a:chExt cx="0" cy="0"/>
        </a:xfrm>
      </p:grpSpPr>
      <p:pic>
        <p:nvPicPr>
          <p:cNvPr id="992" name="Google Shape;992;p22"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993" name="Google Shape;993;p22"/>
          <p:cNvSpPr/>
          <p:nvPr/>
        </p:nvSpPr>
        <p:spPr>
          <a:xfrm>
            <a:off x="566928" y="292608"/>
            <a:ext cx="868680"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22"/>
          <p:cNvSpPr/>
          <p:nvPr/>
        </p:nvSpPr>
        <p:spPr>
          <a:xfrm>
            <a:off x="566928" y="292608"/>
            <a:ext cx="8686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ROADMAP</a:t>
            </a:r>
            <a:endParaRPr sz="850">
              <a:solidFill>
                <a:schemeClr val="dk1"/>
              </a:solidFill>
              <a:latin typeface="Calibri"/>
              <a:ea typeface="Calibri"/>
              <a:cs typeface="Calibri"/>
              <a:sym typeface="Calibri"/>
            </a:endParaRPr>
          </a:p>
        </p:txBody>
      </p:sp>
      <p:sp>
        <p:nvSpPr>
          <p:cNvPr id="995" name="Google Shape;995;p22"/>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導入ロードマップ</a:t>
            </a:r>
            <a:endParaRPr sz="2300">
              <a:solidFill>
                <a:schemeClr val="dk1"/>
              </a:solidFill>
              <a:latin typeface="Calibri"/>
              <a:ea typeface="Calibri"/>
              <a:cs typeface="Calibri"/>
              <a:sym typeface="Calibri"/>
            </a:endParaRPr>
          </a:p>
        </p:txBody>
      </p:sp>
      <p:sp>
        <p:nvSpPr>
          <p:cNvPr id="996" name="Google Shape;996;p22"/>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設備投資を伴わないプログラムから開始し、効果を確認しながら区画を伴う出店へ進みます。</a:t>
            </a:r>
            <a:endParaRPr sz="1150">
              <a:solidFill>
                <a:schemeClr val="dk1"/>
              </a:solidFill>
              <a:latin typeface="Calibri"/>
              <a:ea typeface="Calibri"/>
              <a:cs typeface="Calibri"/>
              <a:sym typeface="Calibri"/>
            </a:endParaRPr>
          </a:p>
        </p:txBody>
      </p:sp>
      <p:sp>
        <p:nvSpPr>
          <p:cNvPr id="997" name="Google Shape;997;p22"/>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2"/>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999" name="Google Shape;999;p22"/>
          <p:cNvSpPr/>
          <p:nvPr/>
        </p:nvSpPr>
        <p:spPr>
          <a:xfrm>
            <a:off x="566928" y="1536192"/>
            <a:ext cx="2558720" cy="3072384"/>
          </a:xfrm>
          <a:prstGeom prst="roundRect">
            <a:avLst>
              <a:gd name="adj" fmla="val 178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2"/>
          <p:cNvSpPr/>
          <p:nvPr/>
        </p:nvSpPr>
        <p:spPr>
          <a:xfrm>
            <a:off x="841248" y="1755648"/>
            <a:ext cx="20100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100"/>
              <a:buFont typeface="Calibri"/>
              <a:buNone/>
            </a:pPr>
            <a:r>
              <a:rPr lang="en-US" sz="1100" b="1">
                <a:solidFill>
                  <a:srgbClr val="C68A65"/>
                </a:solidFill>
                <a:latin typeface="Calibri"/>
                <a:ea typeface="Calibri"/>
                <a:cs typeface="Calibri"/>
                <a:sym typeface="Calibri"/>
              </a:rPr>
              <a:t>PHASE 0</a:t>
            </a:r>
            <a:endParaRPr sz="1100">
              <a:solidFill>
                <a:schemeClr val="dk1"/>
              </a:solidFill>
              <a:latin typeface="Calibri"/>
              <a:ea typeface="Calibri"/>
              <a:cs typeface="Calibri"/>
              <a:sym typeface="Calibri"/>
            </a:endParaRPr>
          </a:p>
        </p:txBody>
      </p:sp>
      <p:sp>
        <p:nvSpPr>
          <p:cNvPr id="1001" name="Google Shape;1001;p22"/>
          <p:cNvSpPr/>
          <p:nvPr/>
        </p:nvSpPr>
        <p:spPr>
          <a:xfrm>
            <a:off x="841248" y="2048256"/>
            <a:ext cx="2010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800"/>
              <a:buFont typeface="Arial"/>
              <a:buNone/>
            </a:pPr>
            <a:r>
              <a:rPr lang="en-US" sz="1800" b="1">
                <a:solidFill>
                  <a:srgbClr val="1A1A1A"/>
                </a:solidFill>
                <a:latin typeface="Arial"/>
                <a:ea typeface="Arial"/>
                <a:cs typeface="Arial"/>
                <a:sym typeface="Arial"/>
              </a:rPr>
              <a:t>実証</a:t>
            </a:r>
            <a:endParaRPr sz="1800">
              <a:solidFill>
                <a:schemeClr val="dk1"/>
              </a:solidFill>
              <a:latin typeface="Calibri"/>
              <a:ea typeface="Calibri"/>
              <a:cs typeface="Calibri"/>
              <a:sym typeface="Calibri"/>
            </a:endParaRPr>
          </a:p>
        </p:txBody>
      </p:sp>
      <p:sp>
        <p:nvSpPr>
          <p:cNvPr id="1002" name="Google Shape;1002;p22"/>
          <p:cNvSpPr/>
          <p:nvPr/>
        </p:nvSpPr>
        <p:spPr>
          <a:xfrm>
            <a:off x="841248" y="2615184"/>
            <a:ext cx="2010080" cy="1737360"/>
          </a:xfrm>
          <a:prstGeom prst="rect">
            <a:avLst/>
          </a:prstGeom>
          <a:noFill/>
          <a:ln>
            <a:noFill/>
          </a:ln>
        </p:spPr>
        <p:txBody>
          <a:bodyPr spcFirstLastPara="1" wrap="square" lIns="0" tIns="0" rIns="0" bIns="0" anchor="ctr" anchorCtr="0">
            <a:noAutofit/>
          </a:bodyPr>
          <a:lstStyle/>
          <a:p>
            <a:pPr marL="342900" marR="0" lvl="0" indent="-342900" algn="l" rtl="0">
              <a:lnSpc>
                <a:spcPct val="153846"/>
              </a:lnSpc>
              <a:spcBef>
                <a:spcPts val="0"/>
              </a:spcBef>
              <a:spcAft>
                <a:spcPts val="0"/>
              </a:spcAft>
              <a:buClr>
                <a:srgbClr val="1A1A1A"/>
              </a:buClr>
              <a:buSzPts val="1040"/>
              <a:buFont typeface="Arial"/>
              <a:buChar char="▪"/>
            </a:pPr>
            <a:r>
              <a:rPr lang="en-US" sz="1040">
                <a:solidFill>
                  <a:srgbClr val="1A1A1A"/>
                </a:solidFill>
                <a:latin typeface="Arial"/>
                <a:ea typeface="Arial"/>
                <a:cs typeface="Arial"/>
                <a:sym typeface="Arial"/>
              </a:rPr>
              <a:t>1棟でのPoC実施</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1A1A1A"/>
              </a:buClr>
              <a:buSzPts val="1040"/>
              <a:buFont typeface="Arial"/>
              <a:buChar char="▪"/>
            </a:pPr>
            <a:r>
              <a:rPr lang="en-US" sz="1040">
                <a:solidFill>
                  <a:srgbClr val="1A1A1A"/>
                </a:solidFill>
                <a:latin typeface="Arial"/>
                <a:ea typeface="Arial"/>
                <a:cs typeface="Arial"/>
                <a:sym typeface="Arial"/>
              </a:rPr>
              <a:t>テナント飲食店5店でCloud Wine Cave試験導入</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1A1A1A"/>
              </a:buClr>
              <a:buSzPts val="1040"/>
              <a:buFont typeface="Arial"/>
              <a:buChar char="▪"/>
            </a:pPr>
            <a:r>
              <a:rPr lang="en-US" sz="1040">
                <a:solidFill>
                  <a:srgbClr val="1A1A1A"/>
                </a:solidFill>
                <a:latin typeface="Arial"/>
                <a:ea typeface="Arial"/>
                <a:cs typeface="Arial"/>
                <a:sym typeface="Arial"/>
              </a:rPr>
              <a:t>WineGO 館内配送テスト</a:t>
            </a:r>
            <a:endParaRPr sz="1040">
              <a:solidFill>
                <a:schemeClr val="dk1"/>
              </a:solidFill>
              <a:latin typeface="Calibri"/>
              <a:ea typeface="Calibri"/>
              <a:cs typeface="Calibri"/>
              <a:sym typeface="Calibri"/>
            </a:endParaRPr>
          </a:p>
        </p:txBody>
      </p:sp>
      <p:sp>
        <p:nvSpPr>
          <p:cNvPr id="1003" name="Google Shape;1003;p22"/>
          <p:cNvSpPr/>
          <p:nvPr/>
        </p:nvSpPr>
        <p:spPr>
          <a:xfrm>
            <a:off x="3399968" y="1536192"/>
            <a:ext cx="2558720" cy="3072384"/>
          </a:xfrm>
          <a:prstGeom prst="roundRect">
            <a:avLst>
              <a:gd name="adj" fmla="val 1787"/>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2"/>
          <p:cNvSpPr/>
          <p:nvPr/>
        </p:nvSpPr>
        <p:spPr>
          <a:xfrm>
            <a:off x="3674288" y="1755648"/>
            <a:ext cx="20100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100"/>
              <a:buFont typeface="Calibri"/>
              <a:buNone/>
            </a:pPr>
            <a:r>
              <a:rPr lang="en-US" sz="1100" b="1">
                <a:solidFill>
                  <a:srgbClr val="C68A65"/>
                </a:solidFill>
                <a:latin typeface="Calibri"/>
                <a:ea typeface="Calibri"/>
                <a:cs typeface="Calibri"/>
                <a:sym typeface="Calibri"/>
              </a:rPr>
              <a:t>PHASE 1</a:t>
            </a:r>
            <a:endParaRPr sz="1100">
              <a:solidFill>
                <a:schemeClr val="dk1"/>
              </a:solidFill>
              <a:latin typeface="Calibri"/>
              <a:ea typeface="Calibri"/>
              <a:cs typeface="Calibri"/>
              <a:sym typeface="Calibri"/>
            </a:endParaRPr>
          </a:p>
        </p:txBody>
      </p:sp>
      <p:sp>
        <p:nvSpPr>
          <p:cNvPr id="1005" name="Google Shape;1005;p22"/>
          <p:cNvSpPr/>
          <p:nvPr/>
        </p:nvSpPr>
        <p:spPr>
          <a:xfrm>
            <a:off x="3674288" y="2048256"/>
            <a:ext cx="2010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800"/>
              <a:buFont typeface="Arial"/>
              <a:buNone/>
            </a:pPr>
            <a:r>
              <a:rPr lang="en-US" sz="1800" b="1">
                <a:solidFill>
                  <a:srgbClr val="1A1A1A"/>
                </a:solidFill>
                <a:latin typeface="Arial"/>
                <a:ea typeface="Arial"/>
                <a:cs typeface="Arial"/>
                <a:sym typeface="Arial"/>
              </a:rPr>
              <a:t>本格展開</a:t>
            </a:r>
            <a:endParaRPr sz="1800">
              <a:solidFill>
                <a:schemeClr val="dk1"/>
              </a:solidFill>
              <a:latin typeface="Calibri"/>
              <a:ea typeface="Calibri"/>
              <a:cs typeface="Calibri"/>
              <a:sym typeface="Calibri"/>
            </a:endParaRPr>
          </a:p>
        </p:txBody>
      </p:sp>
      <p:sp>
        <p:nvSpPr>
          <p:cNvPr id="1006" name="Google Shape;1006;p22"/>
          <p:cNvSpPr/>
          <p:nvPr/>
        </p:nvSpPr>
        <p:spPr>
          <a:xfrm>
            <a:off x="3674288" y="2615184"/>
            <a:ext cx="2010080" cy="1737360"/>
          </a:xfrm>
          <a:prstGeom prst="rect">
            <a:avLst/>
          </a:prstGeom>
          <a:noFill/>
          <a:ln>
            <a:noFill/>
          </a:ln>
        </p:spPr>
        <p:txBody>
          <a:bodyPr spcFirstLastPara="1" wrap="square" lIns="0" tIns="0" rIns="0" bIns="0" anchor="ctr" anchorCtr="0">
            <a:noAutofit/>
          </a:bodyPr>
          <a:lstStyle/>
          <a:p>
            <a:pPr marL="342900" marR="0" lvl="0" indent="-342900" algn="l" rtl="0">
              <a:lnSpc>
                <a:spcPct val="153846"/>
              </a:lnSpc>
              <a:spcBef>
                <a:spcPts val="0"/>
              </a:spcBef>
              <a:spcAft>
                <a:spcPts val="0"/>
              </a:spcAft>
              <a:buClr>
                <a:srgbClr val="1A1A1A"/>
              </a:buClr>
              <a:buSzPts val="1040"/>
              <a:buFont typeface="Arial"/>
              <a:buChar char="▪"/>
            </a:pPr>
            <a:r>
              <a:rPr lang="en-US" sz="1040">
                <a:solidFill>
                  <a:srgbClr val="1A1A1A"/>
                </a:solidFill>
                <a:latin typeface="Arial"/>
                <a:ea typeface="Arial"/>
                <a:cs typeface="Arial"/>
                <a:sym typeface="Arial"/>
              </a:rPr>
              <a:t>主要ヒルズへCloud Wine Cave展開</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1A1A1A"/>
              </a:buClr>
              <a:buSzPts val="1040"/>
              <a:buFont typeface="Arial"/>
              <a:buChar char="▪"/>
            </a:pPr>
            <a:r>
              <a:rPr lang="en-US" sz="1040">
                <a:solidFill>
                  <a:srgbClr val="1A1A1A"/>
                </a:solidFill>
                <a:latin typeface="Arial"/>
                <a:ea typeface="Arial"/>
                <a:cs typeface="Arial"/>
                <a:sym typeface="Arial"/>
              </a:rPr>
              <a:t>CLUBヒルズ枠の募集開始</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1A1A1A"/>
              </a:buClr>
              <a:buSzPts val="1040"/>
              <a:buFont typeface="Arial"/>
              <a:buChar char="▪"/>
            </a:pPr>
            <a:r>
              <a:rPr lang="en-US" sz="1040">
                <a:solidFill>
                  <a:srgbClr val="1A1A1A"/>
                </a:solidFill>
                <a:latin typeface="Arial"/>
                <a:ea typeface="Arial"/>
                <a:cs typeface="Arial"/>
                <a:sym typeface="Arial"/>
              </a:rPr>
              <a:t>レジデンス開放の是非を判断</a:t>
            </a:r>
            <a:endParaRPr sz="1040">
              <a:solidFill>
                <a:schemeClr val="dk1"/>
              </a:solidFill>
              <a:latin typeface="Calibri"/>
              <a:ea typeface="Calibri"/>
              <a:cs typeface="Calibri"/>
              <a:sym typeface="Calibri"/>
            </a:endParaRPr>
          </a:p>
        </p:txBody>
      </p:sp>
      <p:sp>
        <p:nvSpPr>
          <p:cNvPr id="1007" name="Google Shape;1007;p22"/>
          <p:cNvSpPr/>
          <p:nvPr/>
        </p:nvSpPr>
        <p:spPr>
          <a:xfrm>
            <a:off x="6233008" y="1536192"/>
            <a:ext cx="2558720" cy="3072384"/>
          </a:xfrm>
          <a:prstGeom prst="roundRect">
            <a:avLst>
              <a:gd name="adj" fmla="val 1787"/>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2"/>
          <p:cNvSpPr/>
          <p:nvPr/>
        </p:nvSpPr>
        <p:spPr>
          <a:xfrm>
            <a:off x="6507328" y="1755648"/>
            <a:ext cx="20100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100"/>
              <a:buFont typeface="Calibri"/>
              <a:buNone/>
            </a:pPr>
            <a:r>
              <a:rPr lang="en-US" sz="1100" b="1">
                <a:solidFill>
                  <a:srgbClr val="C68A65"/>
                </a:solidFill>
                <a:latin typeface="Calibri"/>
                <a:ea typeface="Calibri"/>
                <a:cs typeface="Calibri"/>
                <a:sym typeface="Calibri"/>
              </a:rPr>
              <a:t>PHASE 2</a:t>
            </a:r>
            <a:endParaRPr sz="1100">
              <a:solidFill>
                <a:schemeClr val="dk1"/>
              </a:solidFill>
              <a:latin typeface="Calibri"/>
              <a:ea typeface="Calibri"/>
              <a:cs typeface="Calibri"/>
              <a:sym typeface="Calibri"/>
            </a:endParaRPr>
          </a:p>
        </p:txBody>
      </p:sp>
      <p:sp>
        <p:nvSpPr>
          <p:cNvPr id="1009" name="Google Shape;1009;p22"/>
          <p:cNvSpPr/>
          <p:nvPr/>
        </p:nvSpPr>
        <p:spPr>
          <a:xfrm>
            <a:off x="6507328" y="2048256"/>
            <a:ext cx="2010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a:buNone/>
            </a:pPr>
            <a:r>
              <a:rPr lang="en-US" sz="1800" b="1">
                <a:solidFill>
                  <a:srgbClr val="FFFFFF"/>
                </a:solidFill>
                <a:latin typeface="Arial"/>
                <a:ea typeface="Arial"/>
                <a:cs typeface="Arial"/>
                <a:sym typeface="Arial"/>
              </a:rPr>
              <a:t>区画出店</a:t>
            </a:r>
            <a:endParaRPr sz="1800">
              <a:solidFill>
                <a:schemeClr val="dk1"/>
              </a:solidFill>
              <a:latin typeface="Calibri"/>
              <a:ea typeface="Calibri"/>
              <a:cs typeface="Calibri"/>
              <a:sym typeface="Calibri"/>
            </a:endParaRPr>
          </a:p>
        </p:txBody>
      </p:sp>
      <p:sp>
        <p:nvSpPr>
          <p:cNvPr id="1010" name="Google Shape;1010;p22"/>
          <p:cNvSpPr/>
          <p:nvPr/>
        </p:nvSpPr>
        <p:spPr>
          <a:xfrm>
            <a:off x="6507328" y="2615184"/>
            <a:ext cx="2010080" cy="1737360"/>
          </a:xfrm>
          <a:prstGeom prst="rect">
            <a:avLst/>
          </a:prstGeom>
          <a:noFill/>
          <a:ln>
            <a:noFill/>
          </a:ln>
        </p:spPr>
        <p:txBody>
          <a:bodyPr spcFirstLastPara="1" wrap="square" lIns="0" tIns="0" rIns="0" bIns="0" anchor="ctr" anchorCtr="0">
            <a:noAutofit/>
          </a:bodyPr>
          <a:lstStyle/>
          <a:p>
            <a:pPr marL="342900" marR="0" lvl="0" indent="-342900" algn="l" rtl="0">
              <a:lnSpc>
                <a:spcPct val="153846"/>
              </a:lnSpc>
              <a:spcBef>
                <a:spcPts val="0"/>
              </a:spcBef>
              <a:spcAft>
                <a:spcPts val="0"/>
              </a:spcAft>
              <a:buClr>
                <a:srgbClr val="E3E6E8"/>
              </a:buClr>
              <a:buSzPts val="1040"/>
              <a:buFont typeface="Arial"/>
              <a:buChar char="▪"/>
            </a:pPr>
            <a:r>
              <a:rPr lang="en-US" sz="1040">
                <a:solidFill>
                  <a:srgbClr val="E3E6E8"/>
                </a:solidFill>
                <a:latin typeface="Arial"/>
                <a:ea typeface="Arial"/>
                <a:cs typeface="Arial"/>
                <a:sym typeface="Arial"/>
              </a:rPr>
              <a:t>クラウドワインセラー区画の設計・工事</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E3E6E8"/>
              </a:buClr>
              <a:buSzPts val="1040"/>
              <a:buFont typeface="Arial"/>
              <a:buChar char="▪"/>
            </a:pPr>
            <a:r>
              <a:rPr lang="en-US" sz="1040">
                <a:solidFill>
                  <a:srgbClr val="E3E6E8"/>
                </a:solidFill>
                <a:latin typeface="Arial"/>
                <a:ea typeface="Arial"/>
                <a:cs typeface="Arial"/>
                <a:sym typeface="Arial"/>
              </a:rPr>
              <a:t>出店者募集とセラー在庫の構築</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E3E6E8"/>
              </a:buClr>
              <a:buSzPts val="1040"/>
              <a:buFont typeface="Arial"/>
              <a:buChar char="▪"/>
            </a:pPr>
            <a:r>
              <a:rPr lang="en-US" sz="1040">
                <a:solidFill>
                  <a:srgbClr val="E3E6E8"/>
                </a:solidFill>
                <a:latin typeface="Arial"/>
                <a:ea typeface="Arial"/>
                <a:cs typeface="Arial"/>
                <a:sym typeface="Arial"/>
              </a:rPr>
              <a:t>施設内テナントへの卸売拡大</a:t>
            </a:r>
            <a:endParaRPr sz="1040">
              <a:solidFill>
                <a:schemeClr val="dk1"/>
              </a:solidFill>
              <a:latin typeface="Calibri"/>
              <a:ea typeface="Calibri"/>
              <a:cs typeface="Calibri"/>
              <a:sym typeface="Calibri"/>
            </a:endParaRPr>
          </a:p>
        </p:txBody>
      </p:sp>
      <p:sp>
        <p:nvSpPr>
          <p:cNvPr id="1011" name="Google Shape;1011;p22"/>
          <p:cNvSpPr/>
          <p:nvPr/>
        </p:nvSpPr>
        <p:spPr>
          <a:xfrm>
            <a:off x="9066047" y="1536192"/>
            <a:ext cx="2558720" cy="3072384"/>
          </a:xfrm>
          <a:prstGeom prst="roundRect">
            <a:avLst>
              <a:gd name="adj" fmla="val 1787"/>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2"/>
          <p:cNvSpPr/>
          <p:nvPr/>
        </p:nvSpPr>
        <p:spPr>
          <a:xfrm>
            <a:off x="9340367" y="1755648"/>
            <a:ext cx="201008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1100"/>
              <a:buFont typeface="Calibri"/>
              <a:buNone/>
            </a:pPr>
            <a:r>
              <a:rPr lang="en-US" sz="1100" b="1">
                <a:solidFill>
                  <a:srgbClr val="C68A65"/>
                </a:solidFill>
                <a:latin typeface="Calibri"/>
                <a:ea typeface="Calibri"/>
                <a:cs typeface="Calibri"/>
                <a:sym typeface="Calibri"/>
              </a:rPr>
              <a:t>PHASE 3</a:t>
            </a:r>
            <a:endParaRPr sz="1100">
              <a:solidFill>
                <a:schemeClr val="dk1"/>
              </a:solidFill>
              <a:latin typeface="Calibri"/>
              <a:ea typeface="Calibri"/>
              <a:cs typeface="Calibri"/>
              <a:sym typeface="Calibri"/>
            </a:endParaRPr>
          </a:p>
        </p:txBody>
      </p:sp>
      <p:sp>
        <p:nvSpPr>
          <p:cNvPr id="1013" name="Google Shape;1013;p22"/>
          <p:cNvSpPr/>
          <p:nvPr/>
        </p:nvSpPr>
        <p:spPr>
          <a:xfrm>
            <a:off x="9340367" y="2048256"/>
            <a:ext cx="201008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Arial"/>
              <a:buNone/>
            </a:pPr>
            <a:r>
              <a:rPr lang="en-US" sz="1800" b="1">
                <a:solidFill>
                  <a:srgbClr val="FFFFFF"/>
                </a:solidFill>
                <a:latin typeface="Arial"/>
                <a:ea typeface="Arial"/>
                <a:cs typeface="Arial"/>
                <a:sym typeface="Arial"/>
              </a:rPr>
              <a:t>街区の象徴へ</a:t>
            </a:r>
            <a:endParaRPr sz="1800">
              <a:solidFill>
                <a:schemeClr val="dk1"/>
              </a:solidFill>
              <a:latin typeface="Calibri"/>
              <a:ea typeface="Calibri"/>
              <a:cs typeface="Calibri"/>
              <a:sym typeface="Calibri"/>
            </a:endParaRPr>
          </a:p>
        </p:txBody>
      </p:sp>
      <p:sp>
        <p:nvSpPr>
          <p:cNvPr id="1014" name="Google Shape;1014;p22"/>
          <p:cNvSpPr/>
          <p:nvPr/>
        </p:nvSpPr>
        <p:spPr>
          <a:xfrm>
            <a:off x="9340367" y="2615184"/>
            <a:ext cx="2010080" cy="1737360"/>
          </a:xfrm>
          <a:prstGeom prst="rect">
            <a:avLst/>
          </a:prstGeom>
          <a:noFill/>
          <a:ln>
            <a:noFill/>
          </a:ln>
        </p:spPr>
        <p:txBody>
          <a:bodyPr spcFirstLastPara="1" wrap="square" lIns="0" tIns="0" rIns="0" bIns="0" anchor="ctr" anchorCtr="0">
            <a:noAutofit/>
          </a:bodyPr>
          <a:lstStyle/>
          <a:p>
            <a:pPr marL="342900" marR="0" lvl="0" indent="-342900" algn="l" rtl="0">
              <a:lnSpc>
                <a:spcPct val="153846"/>
              </a:lnSpc>
              <a:spcBef>
                <a:spcPts val="0"/>
              </a:spcBef>
              <a:spcAft>
                <a:spcPts val="0"/>
              </a:spcAft>
              <a:buClr>
                <a:srgbClr val="E3E6E8"/>
              </a:buClr>
              <a:buSzPts val="1040"/>
              <a:buFont typeface="Arial"/>
              <a:buChar char="▪"/>
            </a:pPr>
            <a:r>
              <a:rPr lang="en-US" sz="1040">
                <a:solidFill>
                  <a:srgbClr val="E3E6E8"/>
                </a:solidFill>
                <a:latin typeface="Arial"/>
                <a:ea typeface="Arial"/>
                <a:cs typeface="Arial"/>
                <a:sym typeface="Arial"/>
              </a:rPr>
              <a:t>ティエリー・マルクス業態の出店</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E3E6E8"/>
              </a:buClr>
              <a:buSzPts val="1040"/>
              <a:buFont typeface="Arial"/>
              <a:buChar char="▪"/>
            </a:pPr>
            <a:r>
              <a:rPr lang="en-US" sz="1040">
                <a:solidFill>
                  <a:srgbClr val="E3E6E8"/>
                </a:solidFill>
                <a:latin typeface="Arial"/>
                <a:ea typeface="Arial"/>
                <a:cs typeface="Arial"/>
                <a:sym typeface="Arial"/>
              </a:rPr>
              <a:t>他ヒルズ・海外物件への横展開</a:t>
            </a:r>
            <a:endParaRPr sz="1040">
              <a:solidFill>
                <a:schemeClr val="dk1"/>
              </a:solidFill>
              <a:latin typeface="Calibri"/>
              <a:ea typeface="Calibri"/>
              <a:cs typeface="Calibri"/>
              <a:sym typeface="Calibri"/>
            </a:endParaRPr>
          </a:p>
          <a:p>
            <a:pPr marL="342900" marR="0" lvl="0" indent="-342900" algn="l" rtl="0">
              <a:lnSpc>
                <a:spcPct val="153846"/>
              </a:lnSpc>
              <a:spcBef>
                <a:spcPts val="900"/>
              </a:spcBef>
              <a:spcAft>
                <a:spcPts val="0"/>
              </a:spcAft>
              <a:buClr>
                <a:srgbClr val="E3E6E8"/>
              </a:buClr>
              <a:buSzPts val="1040"/>
              <a:buFont typeface="Arial"/>
              <a:buChar char="▪"/>
            </a:pPr>
            <a:r>
              <a:rPr lang="en-US" sz="1040">
                <a:solidFill>
                  <a:srgbClr val="E3E6E8"/>
                </a:solidFill>
                <a:latin typeface="Arial"/>
                <a:ea typeface="Arial"/>
                <a:cs typeface="Arial"/>
                <a:sym typeface="Arial"/>
              </a:rPr>
              <a:t>国内外富裕層向けプログラム化</a:t>
            </a:r>
            <a:endParaRPr sz="1040">
              <a:solidFill>
                <a:schemeClr val="dk1"/>
              </a:solidFill>
              <a:latin typeface="Calibri"/>
              <a:ea typeface="Calibri"/>
              <a:cs typeface="Calibri"/>
              <a:sym typeface="Calibri"/>
            </a:endParaRPr>
          </a:p>
        </p:txBody>
      </p:sp>
      <p:sp>
        <p:nvSpPr>
          <p:cNvPr id="1015" name="Google Shape;1015;p22"/>
          <p:cNvSpPr/>
          <p:nvPr/>
        </p:nvSpPr>
        <p:spPr>
          <a:xfrm>
            <a:off x="566928" y="4718304"/>
            <a:ext cx="25587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1000"/>
              <a:buFont typeface="Arial"/>
              <a:buNone/>
            </a:pPr>
            <a:r>
              <a:rPr lang="en-US" sz="1000" b="1">
                <a:solidFill>
                  <a:srgbClr val="6E7378"/>
                </a:solidFill>
                <a:latin typeface="Arial"/>
                <a:ea typeface="Arial"/>
                <a:cs typeface="Arial"/>
                <a:sym typeface="Arial"/>
              </a:rPr>
              <a:t>0〜3か月</a:t>
            </a:r>
            <a:endParaRPr sz="1000">
              <a:solidFill>
                <a:schemeClr val="dk1"/>
              </a:solidFill>
              <a:latin typeface="Calibri"/>
              <a:ea typeface="Calibri"/>
              <a:cs typeface="Calibri"/>
              <a:sym typeface="Calibri"/>
            </a:endParaRPr>
          </a:p>
        </p:txBody>
      </p:sp>
      <p:sp>
        <p:nvSpPr>
          <p:cNvPr id="1016" name="Google Shape;1016;p22"/>
          <p:cNvSpPr/>
          <p:nvPr/>
        </p:nvSpPr>
        <p:spPr>
          <a:xfrm>
            <a:off x="3399968" y="4718304"/>
            <a:ext cx="25587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1000"/>
              <a:buFont typeface="Arial"/>
              <a:buNone/>
            </a:pPr>
            <a:r>
              <a:rPr lang="en-US" sz="1000" b="1">
                <a:solidFill>
                  <a:srgbClr val="6E7378"/>
                </a:solidFill>
                <a:latin typeface="Arial"/>
                <a:ea typeface="Arial"/>
                <a:cs typeface="Arial"/>
                <a:sym typeface="Arial"/>
              </a:rPr>
              <a:t>3〜12か月</a:t>
            </a:r>
            <a:endParaRPr sz="1000">
              <a:solidFill>
                <a:schemeClr val="dk1"/>
              </a:solidFill>
              <a:latin typeface="Calibri"/>
              <a:ea typeface="Calibri"/>
              <a:cs typeface="Calibri"/>
              <a:sym typeface="Calibri"/>
            </a:endParaRPr>
          </a:p>
        </p:txBody>
      </p:sp>
      <p:sp>
        <p:nvSpPr>
          <p:cNvPr id="1017" name="Google Shape;1017;p22"/>
          <p:cNvSpPr/>
          <p:nvPr/>
        </p:nvSpPr>
        <p:spPr>
          <a:xfrm>
            <a:off x="6233008" y="4718304"/>
            <a:ext cx="25587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1000"/>
              <a:buFont typeface="Arial"/>
              <a:buNone/>
            </a:pPr>
            <a:r>
              <a:rPr lang="en-US" sz="1000" b="1">
                <a:solidFill>
                  <a:srgbClr val="6E7378"/>
                </a:solidFill>
                <a:latin typeface="Arial"/>
                <a:ea typeface="Arial"/>
                <a:cs typeface="Arial"/>
                <a:sym typeface="Arial"/>
              </a:rPr>
              <a:t>12〜24か月</a:t>
            </a:r>
            <a:endParaRPr sz="1000">
              <a:solidFill>
                <a:schemeClr val="dk1"/>
              </a:solidFill>
              <a:latin typeface="Calibri"/>
              <a:ea typeface="Calibri"/>
              <a:cs typeface="Calibri"/>
              <a:sym typeface="Calibri"/>
            </a:endParaRPr>
          </a:p>
        </p:txBody>
      </p:sp>
      <p:sp>
        <p:nvSpPr>
          <p:cNvPr id="1018" name="Google Shape;1018;p22"/>
          <p:cNvSpPr/>
          <p:nvPr/>
        </p:nvSpPr>
        <p:spPr>
          <a:xfrm>
            <a:off x="9066047" y="4718304"/>
            <a:ext cx="255872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E7378"/>
              </a:buClr>
              <a:buSzPts val="1000"/>
              <a:buFont typeface="Arial"/>
              <a:buNone/>
            </a:pPr>
            <a:r>
              <a:rPr lang="en-US" sz="1000" b="1">
                <a:solidFill>
                  <a:srgbClr val="6E7378"/>
                </a:solidFill>
                <a:latin typeface="Arial"/>
                <a:ea typeface="Arial"/>
                <a:cs typeface="Arial"/>
                <a:sym typeface="Arial"/>
              </a:rPr>
              <a:t>24か月〜</a:t>
            </a:r>
            <a:endParaRPr sz="1000">
              <a:solidFill>
                <a:schemeClr val="dk1"/>
              </a:solidFill>
              <a:latin typeface="Calibri"/>
              <a:ea typeface="Calibri"/>
              <a:cs typeface="Calibri"/>
              <a:sym typeface="Calibri"/>
            </a:endParaRPr>
          </a:p>
        </p:txBody>
      </p:sp>
      <p:sp>
        <p:nvSpPr>
          <p:cNvPr id="1019" name="Google Shape;1019;p22"/>
          <p:cNvSpPr/>
          <p:nvPr/>
        </p:nvSpPr>
        <p:spPr>
          <a:xfrm>
            <a:off x="566928" y="5230368"/>
            <a:ext cx="1097280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80"/>
              <a:buFont typeface="Arial"/>
              <a:buNone/>
            </a:pPr>
            <a:r>
              <a:rPr lang="en-US" sz="1080" b="1">
                <a:solidFill>
                  <a:srgbClr val="A06D4C"/>
                </a:solidFill>
                <a:latin typeface="Arial"/>
                <a:ea typeface="Arial"/>
                <a:cs typeface="Arial"/>
                <a:sym typeface="Arial"/>
              </a:rPr>
              <a:t>最短ケースでは、ご合意から約3か月でPHASE 0を開始できます（酒販免許・保管倉庫・配送体制・在庫は当社既存アセットを使用するため）。</a:t>
            </a:r>
            <a:endParaRPr sz="108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24"/>
        <p:cNvGrpSpPr/>
        <p:nvPr/>
      </p:nvGrpSpPr>
      <p:grpSpPr>
        <a:xfrm>
          <a:off x="0" y="0"/>
          <a:ext cx="0" cy="0"/>
          <a:chOff x="0" y="0"/>
          <a:chExt cx="0" cy="0"/>
        </a:xfrm>
      </p:grpSpPr>
      <p:pic>
        <p:nvPicPr>
          <p:cNvPr id="1025" name="Google Shape;1025;p23"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1026" name="Google Shape;1026;p23"/>
          <p:cNvSpPr/>
          <p:nvPr/>
        </p:nvSpPr>
        <p:spPr>
          <a:xfrm>
            <a:off x="566928" y="292608"/>
            <a:ext cx="1115568"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23"/>
          <p:cNvSpPr/>
          <p:nvPr/>
        </p:nvSpPr>
        <p:spPr>
          <a:xfrm>
            <a:off x="566928" y="292608"/>
            <a:ext cx="1115568"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FIRST STEP</a:t>
            </a:r>
            <a:endParaRPr sz="850">
              <a:solidFill>
                <a:schemeClr val="dk1"/>
              </a:solidFill>
              <a:latin typeface="Calibri"/>
              <a:ea typeface="Calibri"/>
              <a:cs typeface="Calibri"/>
              <a:sym typeface="Calibri"/>
            </a:endParaRPr>
          </a:p>
        </p:txBody>
      </p:sp>
      <p:sp>
        <p:nvSpPr>
          <p:cNvPr id="1028" name="Google Shape;1028;p23"/>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まずは1棟で。3か月のPoCをご提案します</a:t>
            </a:r>
            <a:endParaRPr sz="2300">
              <a:solidFill>
                <a:schemeClr val="dk1"/>
              </a:solidFill>
              <a:latin typeface="Calibri"/>
              <a:ea typeface="Calibri"/>
              <a:cs typeface="Calibri"/>
              <a:sym typeface="Calibri"/>
            </a:endParaRPr>
          </a:p>
        </p:txBody>
      </p:sp>
      <p:sp>
        <p:nvSpPr>
          <p:cNvPr id="1029" name="Google Shape;1029;p23"/>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大きな意思決定の前に、小さく確かめる。費用は当社が負担いたします。</a:t>
            </a:r>
            <a:endParaRPr sz="1150">
              <a:solidFill>
                <a:schemeClr val="dk1"/>
              </a:solidFill>
              <a:latin typeface="Calibri"/>
              <a:ea typeface="Calibri"/>
              <a:cs typeface="Calibri"/>
              <a:sym typeface="Calibri"/>
            </a:endParaRPr>
          </a:p>
        </p:txBody>
      </p:sp>
      <p:sp>
        <p:nvSpPr>
          <p:cNvPr id="1030" name="Google Shape;1030;p23"/>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3"/>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1032" name="Google Shape;1032;p23"/>
          <p:cNvSpPr/>
          <p:nvPr/>
        </p:nvSpPr>
        <p:spPr>
          <a:xfrm>
            <a:off x="566928" y="1481328"/>
            <a:ext cx="3273552" cy="3877056"/>
          </a:xfrm>
          <a:prstGeom prst="roundRect">
            <a:avLst>
              <a:gd name="adj" fmla="val 1397"/>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3"/>
          <p:cNvSpPr/>
          <p:nvPr/>
        </p:nvSpPr>
        <p:spPr>
          <a:xfrm>
            <a:off x="859536" y="1645920"/>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500"/>
              <a:buFont typeface="Arial"/>
              <a:buNone/>
            </a:pPr>
            <a:r>
              <a:rPr lang="en-US" sz="1500" b="1">
                <a:solidFill>
                  <a:srgbClr val="EFDCCE"/>
                </a:solidFill>
                <a:latin typeface="Arial"/>
                <a:ea typeface="Arial"/>
                <a:cs typeface="Arial"/>
                <a:sym typeface="Arial"/>
              </a:rPr>
              <a:t>PoC の概要</a:t>
            </a:r>
            <a:endParaRPr sz="1500">
              <a:solidFill>
                <a:schemeClr val="dk1"/>
              </a:solidFill>
              <a:latin typeface="Calibri"/>
              <a:ea typeface="Calibri"/>
              <a:cs typeface="Calibri"/>
              <a:sym typeface="Calibri"/>
            </a:endParaRPr>
          </a:p>
        </p:txBody>
      </p:sp>
      <p:sp>
        <p:nvSpPr>
          <p:cNvPr id="1034" name="Google Shape;1034;p23"/>
          <p:cNvSpPr/>
          <p:nvPr/>
        </p:nvSpPr>
        <p:spPr>
          <a:xfrm>
            <a:off x="859536" y="2066544"/>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960"/>
              <a:buFont typeface="Arial"/>
              <a:buNone/>
            </a:pPr>
            <a:r>
              <a:rPr lang="en-US" sz="960" b="1">
                <a:solidFill>
                  <a:srgbClr val="C68A65"/>
                </a:solidFill>
                <a:latin typeface="Arial"/>
                <a:ea typeface="Arial"/>
                <a:cs typeface="Arial"/>
                <a:sym typeface="Arial"/>
              </a:rPr>
              <a:t>対象</a:t>
            </a:r>
            <a:endParaRPr sz="960">
              <a:solidFill>
                <a:schemeClr val="dk1"/>
              </a:solidFill>
              <a:latin typeface="Calibri"/>
              <a:ea typeface="Calibri"/>
              <a:cs typeface="Calibri"/>
              <a:sym typeface="Calibri"/>
            </a:endParaRPr>
          </a:p>
        </p:txBody>
      </p:sp>
      <p:sp>
        <p:nvSpPr>
          <p:cNvPr id="1035" name="Google Shape;1035;p23"/>
          <p:cNvSpPr/>
          <p:nvPr/>
        </p:nvSpPr>
        <p:spPr>
          <a:xfrm>
            <a:off x="859536" y="2286000"/>
            <a:ext cx="2743200" cy="493776"/>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麻布台ヒルズ または 六本木ヒルズ 1棟</a:t>
            </a:r>
            <a:endParaRPr sz="1150">
              <a:solidFill>
                <a:schemeClr val="dk1"/>
              </a:solidFill>
              <a:latin typeface="Calibri"/>
              <a:ea typeface="Calibri"/>
              <a:cs typeface="Calibri"/>
              <a:sym typeface="Calibri"/>
            </a:endParaRPr>
          </a:p>
        </p:txBody>
      </p:sp>
      <p:sp>
        <p:nvSpPr>
          <p:cNvPr id="1036" name="Google Shape;1036;p23"/>
          <p:cNvSpPr/>
          <p:nvPr/>
        </p:nvSpPr>
        <p:spPr>
          <a:xfrm>
            <a:off x="859536" y="2871216"/>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960"/>
              <a:buFont typeface="Arial"/>
              <a:buNone/>
            </a:pPr>
            <a:r>
              <a:rPr lang="en-US" sz="960" b="1">
                <a:solidFill>
                  <a:srgbClr val="C68A65"/>
                </a:solidFill>
                <a:latin typeface="Arial"/>
                <a:ea typeface="Arial"/>
                <a:cs typeface="Arial"/>
                <a:sym typeface="Arial"/>
              </a:rPr>
              <a:t>期間</a:t>
            </a:r>
            <a:endParaRPr sz="960">
              <a:solidFill>
                <a:schemeClr val="dk1"/>
              </a:solidFill>
              <a:latin typeface="Calibri"/>
              <a:ea typeface="Calibri"/>
              <a:cs typeface="Calibri"/>
              <a:sym typeface="Calibri"/>
            </a:endParaRPr>
          </a:p>
        </p:txBody>
      </p:sp>
      <p:sp>
        <p:nvSpPr>
          <p:cNvPr id="1037" name="Google Shape;1037;p23"/>
          <p:cNvSpPr/>
          <p:nvPr/>
        </p:nvSpPr>
        <p:spPr>
          <a:xfrm>
            <a:off x="859536" y="3090672"/>
            <a:ext cx="2743200" cy="493776"/>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3か月</a:t>
            </a:r>
            <a:endParaRPr sz="1150">
              <a:solidFill>
                <a:schemeClr val="dk1"/>
              </a:solidFill>
              <a:latin typeface="Calibri"/>
              <a:ea typeface="Calibri"/>
              <a:cs typeface="Calibri"/>
              <a:sym typeface="Calibri"/>
            </a:endParaRPr>
          </a:p>
        </p:txBody>
      </p:sp>
      <p:sp>
        <p:nvSpPr>
          <p:cNvPr id="1038" name="Google Shape;1038;p23"/>
          <p:cNvSpPr/>
          <p:nvPr/>
        </p:nvSpPr>
        <p:spPr>
          <a:xfrm>
            <a:off x="859536" y="367588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960"/>
              <a:buFont typeface="Arial"/>
              <a:buNone/>
            </a:pPr>
            <a:r>
              <a:rPr lang="en-US" sz="960" b="1">
                <a:solidFill>
                  <a:srgbClr val="C68A65"/>
                </a:solidFill>
                <a:latin typeface="Arial"/>
                <a:ea typeface="Arial"/>
                <a:cs typeface="Arial"/>
                <a:sym typeface="Arial"/>
              </a:rPr>
              <a:t>対象者</a:t>
            </a:r>
            <a:endParaRPr sz="960">
              <a:solidFill>
                <a:schemeClr val="dk1"/>
              </a:solidFill>
              <a:latin typeface="Calibri"/>
              <a:ea typeface="Calibri"/>
              <a:cs typeface="Calibri"/>
              <a:sym typeface="Calibri"/>
            </a:endParaRPr>
          </a:p>
        </p:txBody>
      </p:sp>
      <p:sp>
        <p:nvSpPr>
          <p:cNvPr id="1039" name="Google Shape;1039;p23"/>
          <p:cNvSpPr/>
          <p:nvPr/>
        </p:nvSpPr>
        <p:spPr>
          <a:xfrm>
            <a:off x="859536" y="3895344"/>
            <a:ext cx="2743200" cy="493776"/>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テナント飲食店5店／レジデンス居住者50世帯程度</a:t>
            </a:r>
            <a:endParaRPr sz="1150">
              <a:solidFill>
                <a:schemeClr val="dk1"/>
              </a:solidFill>
              <a:latin typeface="Calibri"/>
              <a:ea typeface="Calibri"/>
              <a:cs typeface="Calibri"/>
              <a:sym typeface="Calibri"/>
            </a:endParaRPr>
          </a:p>
        </p:txBody>
      </p:sp>
      <p:sp>
        <p:nvSpPr>
          <p:cNvPr id="1040" name="Google Shape;1040;p23"/>
          <p:cNvSpPr/>
          <p:nvPr/>
        </p:nvSpPr>
        <p:spPr>
          <a:xfrm>
            <a:off x="859536" y="4480560"/>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68A65"/>
              </a:buClr>
              <a:buSzPts val="960"/>
              <a:buFont typeface="Arial"/>
              <a:buNone/>
            </a:pPr>
            <a:r>
              <a:rPr lang="en-US" sz="960" b="1">
                <a:solidFill>
                  <a:srgbClr val="C68A65"/>
                </a:solidFill>
                <a:latin typeface="Arial"/>
                <a:ea typeface="Arial"/>
                <a:cs typeface="Arial"/>
                <a:sym typeface="Arial"/>
              </a:rPr>
              <a:t>費用</a:t>
            </a:r>
            <a:endParaRPr sz="960">
              <a:solidFill>
                <a:schemeClr val="dk1"/>
              </a:solidFill>
              <a:latin typeface="Calibri"/>
              <a:ea typeface="Calibri"/>
              <a:cs typeface="Calibri"/>
              <a:sym typeface="Calibri"/>
            </a:endParaRPr>
          </a:p>
        </p:txBody>
      </p:sp>
      <p:sp>
        <p:nvSpPr>
          <p:cNvPr id="1041" name="Google Shape;1041;p23"/>
          <p:cNvSpPr/>
          <p:nvPr/>
        </p:nvSpPr>
        <p:spPr>
          <a:xfrm>
            <a:off x="859536" y="4700016"/>
            <a:ext cx="2743200" cy="493776"/>
          </a:xfrm>
          <a:prstGeom prst="rect">
            <a:avLst/>
          </a:prstGeom>
          <a:noFill/>
          <a:ln>
            <a:noFill/>
          </a:ln>
        </p:spPr>
        <p:txBody>
          <a:bodyPr spcFirstLastPara="1" wrap="square" lIns="0" tIns="0" rIns="0" bIns="0" anchor="ctr" anchorCtr="0">
            <a:noAutofit/>
          </a:bodyPr>
          <a:lstStyle/>
          <a:p>
            <a:pPr marL="0" marR="0" lvl="0" indent="0" algn="l" rtl="0">
              <a:lnSpc>
                <a:spcPct val="130434"/>
              </a:lnSpc>
              <a:spcBef>
                <a:spcPts val="0"/>
              </a:spcBef>
              <a:spcAft>
                <a:spcPts val="0"/>
              </a:spcAft>
              <a:buClr>
                <a:srgbClr val="FFFFFF"/>
              </a:buClr>
              <a:buSzPts val="1150"/>
              <a:buFont typeface="Arial"/>
              <a:buNone/>
            </a:pPr>
            <a:r>
              <a:rPr lang="en-US" sz="1150">
                <a:solidFill>
                  <a:srgbClr val="FFFFFF"/>
                </a:solidFill>
                <a:latin typeface="Arial"/>
                <a:ea typeface="Arial"/>
                <a:cs typeface="Arial"/>
                <a:sym typeface="Arial"/>
              </a:rPr>
              <a:t>当社全額負担（森ビル様のご負担なし）</a:t>
            </a:r>
            <a:endParaRPr sz="1150">
              <a:solidFill>
                <a:schemeClr val="dk1"/>
              </a:solidFill>
              <a:latin typeface="Calibri"/>
              <a:ea typeface="Calibri"/>
              <a:cs typeface="Calibri"/>
              <a:sym typeface="Calibri"/>
            </a:endParaRPr>
          </a:p>
        </p:txBody>
      </p:sp>
      <p:sp>
        <p:nvSpPr>
          <p:cNvPr id="1042" name="Google Shape;1042;p23"/>
          <p:cNvSpPr/>
          <p:nvPr/>
        </p:nvSpPr>
        <p:spPr>
          <a:xfrm>
            <a:off x="4169664" y="1481328"/>
            <a:ext cx="4023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実施内容</a:t>
            </a:r>
            <a:endParaRPr sz="1500">
              <a:solidFill>
                <a:schemeClr val="dk1"/>
              </a:solidFill>
              <a:latin typeface="Calibri"/>
              <a:ea typeface="Calibri"/>
              <a:cs typeface="Calibri"/>
              <a:sym typeface="Calibri"/>
            </a:endParaRPr>
          </a:p>
        </p:txBody>
      </p:sp>
      <p:sp>
        <p:nvSpPr>
          <p:cNvPr id="1043" name="Google Shape;1043;p23"/>
          <p:cNvSpPr/>
          <p:nvPr/>
        </p:nvSpPr>
        <p:spPr>
          <a:xfrm>
            <a:off x="4169664" y="1865376"/>
            <a:ext cx="4005072" cy="1060704"/>
          </a:xfrm>
          <a:prstGeom prst="roundRect">
            <a:avLst>
              <a:gd name="adj" fmla="val 4310"/>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3"/>
          <p:cNvSpPr/>
          <p:nvPr/>
        </p:nvSpPr>
        <p:spPr>
          <a:xfrm>
            <a:off x="4389120" y="2048256"/>
            <a:ext cx="384048" cy="384048"/>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3"/>
          <p:cNvSpPr/>
          <p:nvPr/>
        </p:nvSpPr>
        <p:spPr>
          <a:xfrm>
            <a:off x="4389120" y="2048256"/>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01</a:t>
            </a:r>
            <a:endParaRPr sz="1000">
              <a:solidFill>
                <a:schemeClr val="dk1"/>
              </a:solidFill>
              <a:latin typeface="Calibri"/>
              <a:ea typeface="Calibri"/>
              <a:cs typeface="Calibri"/>
              <a:sym typeface="Calibri"/>
            </a:endParaRPr>
          </a:p>
        </p:txBody>
      </p:sp>
      <p:sp>
        <p:nvSpPr>
          <p:cNvPr id="1046" name="Google Shape;1046;p23"/>
          <p:cNvSpPr/>
          <p:nvPr/>
        </p:nvSpPr>
        <p:spPr>
          <a:xfrm>
            <a:off x="4882896" y="2048256"/>
            <a:ext cx="314553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150"/>
              <a:buFont typeface="Arial"/>
              <a:buNone/>
            </a:pPr>
            <a:r>
              <a:rPr lang="en-US" sz="1150" b="1">
                <a:solidFill>
                  <a:srgbClr val="1A1A1A"/>
                </a:solidFill>
                <a:latin typeface="Arial"/>
                <a:ea typeface="Arial"/>
                <a:cs typeface="Arial"/>
                <a:sym typeface="Arial"/>
              </a:rPr>
              <a:t>Cloud Wine Cave の試験導入</a:t>
            </a:r>
            <a:endParaRPr sz="1150">
              <a:solidFill>
                <a:schemeClr val="dk1"/>
              </a:solidFill>
              <a:latin typeface="Calibri"/>
              <a:ea typeface="Calibri"/>
              <a:cs typeface="Calibri"/>
              <a:sym typeface="Calibri"/>
            </a:endParaRPr>
          </a:p>
        </p:txBody>
      </p:sp>
      <p:sp>
        <p:nvSpPr>
          <p:cNvPr id="1047" name="Google Shape;1047;p23"/>
          <p:cNvSpPr/>
          <p:nvPr/>
        </p:nvSpPr>
        <p:spPr>
          <a:xfrm>
            <a:off x="4425696" y="2395728"/>
            <a:ext cx="3566160" cy="4572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テナント飲食店5店にリストとアプリを提供。発注から着荷までの実運用を検証。</a:t>
            </a:r>
            <a:endParaRPr sz="940">
              <a:solidFill>
                <a:schemeClr val="dk1"/>
              </a:solidFill>
              <a:latin typeface="Calibri"/>
              <a:ea typeface="Calibri"/>
              <a:cs typeface="Calibri"/>
              <a:sym typeface="Calibri"/>
            </a:endParaRPr>
          </a:p>
        </p:txBody>
      </p:sp>
      <p:sp>
        <p:nvSpPr>
          <p:cNvPr id="1048" name="Google Shape;1048;p23"/>
          <p:cNvSpPr/>
          <p:nvPr/>
        </p:nvSpPr>
        <p:spPr>
          <a:xfrm>
            <a:off x="4169664" y="3054096"/>
            <a:ext cx="4005072" cy="1060704"/>
          </a:xfrm>
          <a:prstGeom prst="roundRect">
            <a:avLst>
              <a:gd name="adj" fmla="val 4310"/>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3"/>
          <p:cNvSpPr/>
          <p:nvPr/>
        </p:nvSpPr>
        <p:spPr>
          <a:xfrm>
            <a:off x="4389120" y="3236976"/>
            <a:ext cx="384048" cy="384048"/>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3"/>
          <p:cNvSpPr/>
          <p:nvPr/>
        </p:nvSpPr>
        <p:spPr>
          <a:xfrm>
            <a:off x="4389120" y="3236976"/>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02</a:t>
            </a:r>
            <a:endParaRPr sz="1000">
              <a:solidFill>
                <a:schemeClr val="dk1"/>
              </a:solidFill>
              <a:latin typeface="Calibri"/>
              <a:ea typeface="Calibri"/>
              <a:cs typeface="Calibri"/>
              <a:sym typeface="Calibri"/>
            </a:endParaRPr>
          </a:p>
        </p:txBody>
      </p:sp>
      <p:sp>
        <p:nvSpPr>
          <p:cNvPr id="1051" name="Google Shape;1051;p23"/>
          <p:cNvSpPr/>
          <p:nvPr/>
        </p:nvSpPr>
        <p:spPr>
          <a:xfrm>
            <a:off x="4882896" y="3236976"/>
            <a:ext cx="314553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150"/>
              <a:buFont typeface="Arial"/>
              <a:buNone/>
            </a:pPr>
            <a:r>
              <a:rPr lang="en-US" sz="1150" b="1">
                <a:solidFill>
                  <a:srgbClr val="1A1A1A"/>
                </a:solidFill>
                <a:latin typeface="Arial"/>
                <a:ea typeface="Arial"/>
                <a:cs typeface="Arial"/>
                <a:sym typeface="Arial"/>
              </a:rPr>
              <a:t>館内デリバリーの実証</a:t>
            </a:r>
            <a:endParaRPr sz="1150">
              <a:solidFill>
                <a:schemeClr val="dk1"/>
              </a:solidFill>
              <a:latin typeface="Calibri"/>
              <a:ea typeface="Calibri"/>
              <a:cs typeface="Calibri"/>
              <a:sym typeface="Calibri"/>
            </a:endParaRPr>
          </a:p>
        </p:txBody>
      </p:sp>
      <p:sp>
        <p:nvSpPr>
          <p:cNvPr id="1052" name="Google Shape;1052;p23"/>
          <p:cNvSpPr/>
          <p:nvPr/>
        </p:nvSpPr>
        <p:spPr>
          <a:xfrm>
            <a:off x="4425696" y="3584448"/>
            <a:ext cx="3566160" cy="4572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バックヤードに仮設ターミナルを設置し、定温配送のリードタイムと運用負荷を計測。</a:t>
            </a:r>
            <a:endParaRPr sz="940">
              <a:solidFill>
                <a:schemeClr val="dk1"/>
              </a:solidFill>
              <a:latin typeface="Calibri"/>
              <a:ea typeface="Calibri"/>
              <a:cs typeface="Calibri"/>
              <a:sym typeface="Calibri"/>
            </a:endParaRPr>
          </a:p>
        </p:txBody>
      </p:sp>
      <p:sp>
        <p:nvSpPr>
          <p:cNvPr id="1053" name="Google Shape;1053;p23"/>
          <p:cNvSpPr/>
          <p:nvPr/>
        </p:nvSpPr>
        <p:spPr>
          <a:xfrm>
            <a:off x="4169664" y="4242816"/>
            <a:ext cx="4005072" cy="1060704"/>
          </a:xfrm>
          <a:prstGeom prst="roundRect">
            <a:avLst>
              <a:gd name="adj" fmla="val 4310"/>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3"/>
          <p:cNvSpPr/>
          <p:nvPr/>
        </p:nvSpPr>
        <p:spPr>
          <a:xfrm>
            <a:off x="4389120" y="4425696"/>
            <a:ext cx="384048" cy="384048"/>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3"/>
          <p:cNvSpPr/>
          <p:nvPr/>
        </p:nvSpPr>
        <p:spPr>
          <a:xfrm>
            <a:off x="4389120" y="4425696"/>
            <a:ext cx="384048" cy="3840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b="1">
                <a:solidFill>
                  <a:srgbClr val="FFFFFF"/>
                </a:solidFill>
                <a:latin typeface="Calibri"/>
                <a:ea typeface="Calibri"/>
                <a:cs typeface="Calibri"/>
                <a:sym typeface="Calibri"/>
              </a:rPr>
              <a:t>03</a:t>
            </a:r>
            <a:endParaRPr sz="1000">
              <a:solidFill>
                <a:schemeClr val="dk1"/>
              </a:solidFill>
              <a:latin typeface="Calibri"/>
              <a:ea typeface="Calibri"/>
              <a:cs typeface="Calibri"/>
              <a:sym typeface="Calibri"/>
            </a:endParaRPr>
          </a:p>
        </p:txBody>
      </p:sp>
      <p:sp>
        <p:nvSpPr>
          <p:cNvPr id="1056" name="Google Shape;1056;p23"/>
          <p:cNvSpPr/>
          <p:nvPr/>
        </p:nvSpPr>
        <p:spPr>
          <a:xfrm>
            <a:off x="4882896" y="4425696"/>
            <a:ext cx="314553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150"/>
              <a:buFont typeface="Arial"/>
              <a:buNone/>
            </a:pPr>
            <a:r>
              <a:rPr lang="en-US" sz="1150" b="1">
                <a:solidFill>
                  <a:srgbClr val="1A1A1A"/>
                </a:solidFill>
                <a:latin typeface="Arial"/>
                <a:ea typeface="Arial"/>
                <a:cs typeface="Arial"/>
                <a:sym typeface="Arial"/>
              </a:rPr>
              <a:t>居住者向け先行案内</a:t>
            </a:r>
            <a:endParaRPr sz="1150">
              <a:solidFill>
                <a:schemeClr val="dk1"/>
              </a:solidFill>
              <a:latin typeface="Calibri"/>
              <a:ea typeface="Calibri"/>
              <a:cs typeface="Calibri"/>
              <a:sym typeface="Calibri"/>
            </a:endParaRPr>
          </a:p>
        </p:txBody>
      </p:sp>
      <p:sp>
        <p:nvSpPr>
          <p:cNvPr id="1057" name="Google Shape;1057;p23"/>
          <p:cNvSpPr/>
          <p:nvPr/>
        </p:nvSpPr>
        <p:spPr>
          <a:xfrm>
            <a:off x="4425696" y="4773168"/>
            <a:ext cx="3566160" cy="457200"/>
          </a:xfrm>
          <a:prstGeom prst="rect">
            <a:avLst/>
          </a:prstGeom>
          <a:noFill/>
          <a:ln>
            <a:noFill/>
          </a:ln>
        </p:spPr>
        <p:txBody>
          <a:bodyPr spcFirstLastPara="1" wrap="square" lIns="0" tIns="0" rIns="0" bIns="0" anchor="ctr" anchorCtr="0">
            <a:noAutofit/>
          </a:bodyPr>
          <a:lstStyle/>
          <a:p>
            <a:pPr marL="0" marR="0" lvl="0" indent="0" algn="l" rtl="0">
              <a:lnSpc>
                <a:spcPct val="138445"/>
              </a:lnSpc>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CLUB会員となった居住者に卸値×1.1〜1.3で開放し、需要と単価を確認。</a:t>
            </a:r>
            <a:endParaRPr sz="940">
              <a:solidFill>
                <a:schemeClr val="dk1"/>
              </a:solidFill>
              <a:latin typeface="Calibri"/>
              <a:ea typeface="Calibri"/>
              <a:cs typeface="Calibri"/>
              <a:sym typeface="Calibri"/>
            </a:endParaRPr>
          </a:p>
        </p:txBody>
      </p:sp>
      <p:sp>
        <p:nvSpPr>
          <p:cNvPr id="1058" name="Google Shape;1058;p23"/>
          <p:cNvSpPr/>
          <p:nvPr/>
        </p:nvSpPr>
        <p:spPr>
          <a:xfrm>
            <a:off x="8503920" y="1481328"/>
            <a:ext cx="3120847" cy="1865376"/>
          </a:xfrm>
          <a:prstGeom prst="roundRect">
            <a:avLst>
              <a:gd name="adj" fmla="val 2451"/>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3"/>
          <p:cNvSpPr/>
          <p:nvPr/>
        </p:nvSpPr>
        <p:spPr>
          <a:xfrm>
            <a:off x="8778240" y="1627632"/>
            <a:ext cx="2572207"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400"/>
              <a:buFont typeface="Arial"/>
              <a:buNone/>
            </a:pPr>
            <a:r>
              <a:rPr lang="en-US" sz="1400" b="1">
                <a:solidFill>
                  <a:srgbClr val="A06D4C"/>
                </a:solidFill>
                <a:latin typeface="Arial"/>
                <a:ea typeface="Arial"/>
                <a:cs typeface="Arial"/>
                <a:sym typeface="Arial"/>
              </a:rPr>
              <a:t>成功基準（案）</a:t>
            </a:r>
            <a:endParaRPr sz="1400">
              <a:solidFill>
                <a:schemeClr val="dk1"/>
              </a:solidFill>
              <a:latin typeface="Calibri"/>
              <a:ea typeface="Calibri"/>
              <a:cs typeface="Calibri"/>
              <a:sym typeface="Calibri"/>
            </a:endParaRPr>
          </a:p>
        </p:txBody>
      </p:sp>
      <p:sp>
        <p:nvSpPr>
          <p:cNvPr id="1060" name="Google Shape;1060;p23"/>
          <p:cNvSpPr/>
          <p:nvPr/>
        </p:nvSpPr>
        <p:spPr>
          <a:xfrm>
            <a:off x="8778240" y="1956816"/>
            <a:ext cx="2572207" cy="1261872"/>
          </a:xfrm>
          <a:prstGeom prst="rect">
            <a:avLst/>
          </a:prstGeom>
          <a:noFill/>
          <a:ln>
            <a:noFill/>
          </a:ln>
        </p:spPr>
        <p:txBody>
          <a:bodyPr spcFirstLastPara="1" wrap="square" lIns="0" tIns="0" rIns="0" bIns="0" anchor="ctr" anchorCtr="0">
            <a:noAutofit/>
          </a:bodyPr>
          <a:lstStyle/>
          <a:p>
            <a:pPr marL="342900" marR="0" lvl="0" indent="-342900" algn="l" rtl="0">
              <a:lnSpc>
                <a:spcPct val="140000"/>
              </a:lnSpc>
              <a:spcBef>
                <a:spcPts val="0"/>
              </a:spcBef>
              <a:spcAft>
                <a:spcPts val="0"/>
              </a:spcAft>
              <a:buClr>
                <a:srgbClr val="1A1A1A"/>
              </a:buClr>
              <a:buSzPts val="1000"/>
              <a:buFont typeface="Arial"/>
              <a:buChar char="▪"/>
            </a:pPr>
            <a:r>
              <a:rPr lang="en-US" sz="1000">
                <a:solidFill>
                  <a:srgbClr val="1A1A1A"/>
                </a:solidFill>
                <a:latin typeface="Arial"/>
                <a:ea typeface="Arial"/>
                <a:cs typeface="Arial"/>
                <a:sym typeface="Arial"/>
              </a:rPr>
              <a:t>導入店の継続利用意向 80%以上</a:t>
            </a:r>
            <a:endParaRPr sz="1000">
              <a:solidFill>
                <a:schemeClr val="dk1"/>
              </a:solidFill>
              <a:latin typeface="Calibri"/>
              <a:ea typeface="Calibri"/>
              <a:cs typeface="Calibri"/>
              <a:sym typeface="Calibri"/>
            </a:endParaRPr>
          </a:p>
          <a:p>
            <a:pPr marL="342900" marR="0" lvl="0" indent="-342900" algn="l" rtl="0">
              <a:lnSpc>
                <a:spcPct val="140000"/>
              </a:lnSpc>
              <a:spcBef>
                <a:spcPts val="400"/>
              </a:spcBef>
              <a:spcAft>
                <a:spcPts val="0"/>
              </a:spcAft>
              <a:buClr>
                <a:srgbClr val="1A1A1A"/>
              </a:buClr>
              <a:buSzPts val="1000"/>
              <a:buFont typeface="Arial"/>
              <a:buChar char="▪"/>
            </a:pPr>
            <a:r>
              <a:rPr lang="en-US" sz="1000">
                <a:solidFill>
                  <a:srgbClr val="1A1A1A"/>
                </a:solidFill>
                <a:latin typeface="Arial"/>
                <a:ea typeface="Arial"/>
                <a:cs typeface="Arial"/>
                <a:sym typeface="Arial"/>
              </a:rPr>
              <a:t>1店あたり月10本以上の発注</a:t>
            </a:r>
            <a:endParaRPr sz="1000">
              <a:solidFill>
                <a:schemeClr val="dk1"/>
              </a:solidFill>
              <a:latin typeface="Calibri"/>
              <a:ea typeface="Calibri"/>
              <a:cs typeface="Calibri"/>
              <a:sym typeface="Calibri"/>
            </a:endParaRPr>
          </a:p>
          <a:p>
            <a:pPr marL="342900" marR="0" lvl="0" indent="-342900" algn="l" rtl="0">
              <a:lnSpc>
                <a:spcPct val="140000"/>
              </a:lnSpc>
              <a:spcBef>
                <a:spcPts val="400"/>
              </a:spcBef>
              <a:spcAft>
                <a:spcPts val="0"/>
              </a:spcAft>
              <a:buClr>
                <a:srgbClr val="1A1A1A"/>
              </a:buClr>
              <a:buSzPts val="1000"/>
              <a:buFont typeface="Arial"/>
              <a:buChar char="▪"/>
            </a:pPr>
            <a:r>
              <a:rPr lang="en-US" sz="1000">
                <a:solidFill>
                  <a:srgbClr val="1A1A1A"/>
                </a:solidFill>
                <a:latin typeface="Arial"/>
                <a:ea typeface="Arial"/>
                <a:cs typeface="Arial"/>
                <a:sym typeface="Arial"/>
              </a:rPr>
              <a:t>館内配送の平均リードタイム10分以内</a:t>
            </a:r>
            <a:endParaRPr sz="1000">
              <a:solidFill>
                <a:schemeClr val="dk1"/>
              </a:solidFill>
              <a:latin typeface="Calibri"/>
              <a:ea typeface="Calibri"/>
              <a:cs typeface="Calibri"/>
              <a:sym typeface="Calibri"/>
            </a:endParaRPr>
          </a:p>
          <a:p>
            <a:pPr marL="342900" marR="0" lvl="0" indent="-342900" algn="l" rtl="0">
              <a:lnSpc>
                <a:spcPct val="140000"/>
              </a:lnSpc>
              <a:spcBef>
                <a:spcPts val="400"/>
              </a:spcBef>
              <a:spcAft>
                <a:spcPts val="0"/>
              </a:spcAft>
              <a:buClr>
                <a:srgbClr val="1A1A1A"/>
              </a:buClr>
              <a:buSzPts val="1000"/>
              <a:buFont typeface="Arial"/>
              <a:buChar char="▪"/>
            </a:pPr>
            <a:r>
              <a:rPr lang="en-US" sz="1000">
                <a:solidFill>
                  <a:srgbClr val="1A1A1A"/>
                </a:solidFill>
                <a:latin typeface="Arial"/>
                <a:ea typeface="Arial"/>
                <a:cs typeface="Arial"/>
                <a:sym typeface="Arial"/>
              </a:rPr>
              <a:t>重大な運用インシデント ゼロ</a:t>
            </a:r>
            <a:endParaRPr sz="1000">
              <a:solidFill>
                <a:schemeClr val="dk1"/>
              </a:solidFill>
              <a:latin typeface="Calibri"/>
              <a:ea typeface="Calibri"/>
              <a:cs typeface="Calibri"/>
              <a:sym typeface="Calibri"/>
            </a:endParaRPr>
          </a:p>
        </p:txBody>
      </p:sp>
      <p:sp>
        <p:nvSpPr>
          <p:cNvPr id="1061" name="Google Shape;1061;p23"/>
          <p:cNvSpPr/>
          <p:nvPr/>
        </p:nvSpPr>
        <p:spPr>
          <a:xfrm>
            <a:off x="8503920" y="3493008"/>
            <a:ext cx="3120847" cy="1865376"/>
          </a:xfrm>
          <a:prstGeom prst="roundRect">
            <a:avLst>
              <a:gd name="adj" fmla="val 2451"/>
            </a:avLst>
          </a:prstGeom>
          <a:solidFill>
            <a:srgbClr val="FFFFFF"/>
          </a:solidFill>
          <a:ln w="12700" cap="flat" cmpd="sng">
            <a:solidFill>
              <a:srgbClr val="DDE0E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23"/>
          <p:cNvSpPr/>
          <p:nvPr/>
        </p:nvSpPr>
        <p:spPr>
          <a:xfrm>
            <a:off x="8778240" y="3639312"/>
            <a:ext cx="2572207"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400"/>
              <a:buFont typeface="Arial"/>
              <a:buNone/>
            </a:pPr>
            <a:r>
              <a:rPr lang="en-US" sz="1400" b="1">
                <a:solidFill>
                  <a:srgbClr val="A06D4C"/>
                </a:solidFill>
                <a:latin typeface="Arial"/>
                <a:ea typeface="Arial"/>
                <a:cs typeface="Arial"/>
                <a:sym typeface="Arial"/>
              </a:rPr>
              <a:t>お願いしたいご協力</a:t>
            </a:r>
            <a:endParaRPr sz="1400">
              <a:solidFill>
                <a:schemeClr val="dk1"/>
              </a:solidFill>
              <a:latin typeface="Calibri"/>
              <a:ea typeface="Calibri"/>
              <a:cs typeface="Calibri"/>
              <a:sym typeface="Calibri"/>
            </a:endParaRPr>
          </a:p>
        </p:txBody>
      </p:sp>
      <p:sp>
        <p:nvSpPr>
          <p:cNvPr id="1063" name="Google Shape;1063;p23"/>
          <p:cNvSpPr/>
          <p:nvPr/>
        </p:nvSpPr>
        <p:spPr>
          <a:xfrm>
            <a:off x="8778240" y="3968496"/>
            <a:ext cx="2572207" cy="1261872"/>
          </a:xfrm>
          <a:prstGeom prst="rect">
            <a:avLst/>
          </a:prstGeom>
          <a:noFill/>
          <a:ln>
            <a:noFill/>
          </a:ln>
        </p:spPr>
        <p:txBody>
          <a:bodyPr spcFirstLastPara="1" wrap="square" lIns="0" tIns="0" rIns="0" bIns="0" anchor="ctr" anchorCtr="0">
            <a:noAutofit/>
          </a:bodyPr>
          <a:lstStyle/>
          <a:p>
            <a:pPr marL="342900" marR="0" lvl="0" indent="-342900" algn="l" rtl="0">
              <a:lnSpc>
                <a:spcPct val="140000"/>
              </a:lnSpc>
              <a:spcBef>
                <a:spcPts val="0"/>
              </a:spcBef>
              <a:spcAft>
                <a:spcPts val="0"/>
              </a:spcAft>
              <a:buClr>
                <a:srgbClr val="1A1A1A"/>
              </a:buClr>
              <a:buSzPts val="1000"/>
              <a:buFont typeface="Arial"/>
              <a:buChar char="▪"/>
            </a:pPr>
            <a:r>
              <a:rPr lang="en-US" sz="1000">
                <a:solidFill>
                  <a:srgbClr val="1A1A1A"/>
                </a:solidFill>
                <a:latin typeface="Arial"/>
                <a:ea typeface="Arial"/>
                <a:cs typeface="Arial"/>
                <a:sym typeface="Arial"/>
              </a:rPr>
              <a:t>対象テナント・居住者へのご案内</a:t>
            </a:r>
            <a:endParaRPr sz="1000">
              <a:solidFill>
                <a:schemeClr val="dk1"/>
              </a:solidFill>
              <a:latin typeface="Calibri"/>
              <a:ea typeface="Calibri"/>
              <a:cs typeface="Calibri"/>
              <a:sym typeface="Calibri"/>
            </a:endParaRPr>
          </a:p>
          <a:p>
            <a:pPr marL="342900" marR="0" lvl="0" indent="-342900" algn="l" rtl="0">
              <a:lnSpc>
                <a:spcPct val="140000"/>
              </a:lnSpc>
              <a:spcBef>
                <a:spcPts val="400"/>
              </a:spcBef>
              <a:spcAft>
                <a:spcPts val="0"/>
              </a:spcAft>
              <a:buClr>
                <a:srgbClr val="1A1A1A"/>
              </a:buClr>
              <a:buSzPts val="1000"/>
              <a:buFont typeface="Arial"/>
              <a:buChar char="▪"/>
            </a:pPr>
            <a:r>
              <a:rPr lang="en-US" sz="1000">
                <a:solidFill>
                  <a:srgbClr val="1A1A1A"/>
                </a:solidFill>
                <a:latin typeface="Arial"/>
                <a:ea typeface="Arial"/>
                <a:cs typeface="Arial"/>
                <a:sym typeface="Arial"/>
              </a:rPr>
              <a:t>仮設ターミナル用スペース（2〜3坪）</a:t>
            </a:r>
            <a:endParaRPr sz="1000">
              <a:solidFill>
                <a:schemeClr val="dk1"/>
              </a:solidFill>
              <a:latin typeface="Calibri"/>
              <a:ea typeface="Calibri"/>
              <a:cs typeface="Calibri"/>
              <a:sym typeface="Calibri"/>
            </a:endParaRPr>
          </a:p>
          <a:p>
            <a:pPr marL="342900" marR="0" lvl="0" indent="-342900" algn="l" rtl="0">
              <a:lnSpc>
                <a:spcPct val="140000"/>
              </a:lnSpc>
              <a:spcBef>
                <a:spcPts val="400"/>
              </a:spcBef>
              <a:spcAft>
                <a:spcPts val="0"/>
              </a:spcAft>
              <a:buClr>
                <a:srgbClr val="1A1A1A"/>
              </a:buClr>
              <a:buSzPts val="1000"/>
              <a:buFont typeface="Arial"/>
              <a:buChar char="▪"/>
            </a:pPr>
            <a:r>
              <a:rPr lang="en-US" sz="1000">
                <a:solidFill>
                  <a:srgbClr val="1A1A1A"/>
                </a:solidFill>
                <a:latin typeface="Arial"/>
                <a:ea typeface="Arial"/>
                <a:cs typeface="Arial"/>
                <a:sym typeface="Arial"/>
              </a:rPr>
              <a:t>館内動線・搬入に関する運用ご調整</a:t>
            </a:r>
            <a:endParaRPr sz="1000">
              <a:solidFill>
                <a:schemeClr val="dk1"/>
              </a:solidFill>
              <a:latin typeface="Calibri"/>
              <a:ea typeface="Calibri"/>
              <a:cs typeface="Calibri"/>
              <a:sym typeface="Calibri"/>
            </a:endParaRPr>
          </a:p>
          <a:p>
            <a:pPr marL="342900" marR="0" lvl="0" indent="-342900" algn="l" rtl="0">
              <a:lnSpc>
                <a:spcPct val="140000"/>
              </a:lnSpc>
              <a:spcBef>
                <a:spcPts val="400"/>
              </a:spcBef>
              <a:spcAft>
                <a:spcPts val="0"/>
              </a:spcAft>
              <a:buClr>
                <a:srgbClr val="1A1A1A"/>
              </a:buClr>
              <a:buSzPts val="1000"/>
              <a:buFont typeface="Arial"/>
              <a:buChar char="▪"/>
            </a:pPr>
            <a:r>
              <a:rPr lang="en-US" sz="1000">
                <a:solidFill>
                  <a:srgbClr val="1A1A1A"/>
                </a:solidFill>
                <a:latin typeface="Arial"/>
                <a:ea typeface="Arial"/>
                <a:cs typeface="Arial"/>
                <a:sym typeface="Arial"/>
              </a:rPr>
              <a:t>実施後の効果検証への同席</a:t>
            </a:r>
            <a:endParaRPr sz="10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8"/>
        <p:cNvGrpSpPr/>
        <p:nvPr/>
      </p:nvGrpSpPr>
      <p:grpSpPr>
        <a:xfrm>
          <a:off x="0" y="0"/>
          <a:ext cx="0" cy="0"/>
          <a:chOff x="0" y="0"/>
          <a:chExt cx="0" cy="0"/>
        </a:xfrm>
      </p:grpSpPr>
      <p:pic>
        <p:nvPicPr>
          <p:cNvPr id="1069" name="Google Shape;1069;p24"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1070" name="Google Shape;1070;p24"/>
          <p:cNvSpPr/>
          <p:nvPr/>
        </p:nvSpPr>
        <p:spPr>
          <a:xfrm>
            <a:off x="566928" y="292608"/>
            <a:ext cx="621792" cy="237744"/>
          </a:xfrm>
          <a:prstGeom prst="roundRect">
            <a:avLst>
              <a:gd name="adj" fmla="val 11538"/>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566928" y="292608"/>
            <a:ext cx="621792"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Arial"/>
              <a:buNone/>
            </a:pPr>
            <a:r>
              <a:rPr lang="en-US" sz="850" b="1">
                <a:solidFill>
                  <a:srgbClr val="FFFFFF"/>
                </a:solidFill>
                <a:latin typeface="Arial"/>
                <a:ea typeface="Arial"/>
                <a:cs typeface="Arial"/>
                <a:sym typeface="Arial"/>
              </a:rPr>
              <a:t>RISK</a:t>
            </a:r>
            <a:endParaRPr sz="850">
              <a:solidFill>
                <a:schemeClr val="dk1"/>
              </a:solidFill>
              <a:latin typeface="Calibri"/>
              <a:ea typeface="Calibri"/>
              <a:cs typeface="Calibri"/>
              <a:sym typeface="Calibri"/>
            </a:endParaRPr>
          </a:p>
        </p:txBody>
      </p:sp>
      <p:sp>
        <p:nvSpPr>
          <p:cNvPr id="1072" name="Google Shape;1072;p24"/>
          <p:cNvSpPr/>
          <p:nvPr/>
        </p:nvSpPr>
        <p:spPr>
          <a:xfrm>
            <a:off x="566928" y="585216"/>
            <a:ext cx="9509760" cy="42062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2300"/>
              <a:buFont typeface="Arial"/>
              <a:buNone/>
            </a:pPr>
            <a:r>
              <a:rPr lang="en-US" sz="2300" b="1">
                <a:solidFill>
                  <a:srgbClr val="1A1A1A"/>
                </a:solidFill>
                <a:latin typeface="Arial"/>
                <a:ea typeface="Arial"/>
                <a:cs typeface="Arial"/>
                <a:sym typeface="Arial"/>
              </a:rPr>
              <a:t>品質・リスク管理とコンプライアンス</a:t>
            </a:r>
            <a:endParaRPr sz="2300">
              <a:solidFill>
                <a:schemeClr val="dk1"/>
              </a:solidFill>
              <a:latin typeface="Calibri"/>
              <a:ea typeface="Calibri"/>
              <a:cs typeface="Calibri"/>
              <a:sym typeface="Calibri"/>
            </a:endParaRPr>
          </a:p>
        </p:txBody>
      </p:sp>
      <p:sp>
        <p:nvSpPr>
          <p:cNvPr id="1073" name="Google Shape;1073;p24"/>
          <p:cNvSpPr/>
          <p:nvPr/>
        </p:nvSpPr>
        <p:spPr>
          <a:xfrm>
            <a:off x="566928" y="1024128"/>
            <a:ext cx="11057839" cy="310896"/>
          </a:xfrm>
          <a:prstGeom prst="rect">
            <a:avLst/>
          </a:prstGeom>
          <a:noFill/>
          <a:ln>
            <a:noFill/>
          </a:ln>
        </p:spPr>
        <p:txBody>
          <a:bodyPr spcFirstLastPara="1" wrap="square" lIns="0" tIns="0" rIns="0" bIns="0" anchor="ctr" anchorCtr="0">
            <a:noAutofit/>
          </a:bodyPr>
          <a:lstStyle/>
          <a:p>
            <a:pPr marL="0" marR="0" lvl="0" indent="0" algn="l" rtl="0">
              <a:lnSpc>
                <a:spcPct val="147826"/>
              </a:lnSpc>
              <a:spcBef>
                <a:spcPts val="0"/>
              </a:spcBef>
              <a:spcAft>
                <a:spcPts val="0"/>
              </a:spcAft>
              <a:buClr>
                <a:srgbClr val="6E7378"/>
              </a:buClr>
              <a:buSzPts val="1150"/>
              <a:buFont typeface="Arial"/>
              <a:buNone/>
            </a:pPr>
            <a:r>
              <a:rPr lang="en-US" sz="1150">
                <a:solidFill>
                  <a:srgbClr val="6E7378"/>
                </a:solidFill>
                <a:latin typeface="Arial"/>
                <a:ea typeface="Arial"/>
                <a:cs typeface="Arial"/>
                <a:sym typeface="Arial"/>
              </a:rPr>
              <a:t>高額かつ繊細な商材を街区で扱うにあたり、当社が負う責任と管理体制を明確にしています。</a:t>
            </a:r>
            <a:endParaRPr sz="1150">
              <a:solidFill>
                <a:schemeClr val="dk1"/>
              </a:solidFill>
              <a:latin typeface="Calibri"/>
              <a:ea typeface="Calibri"/>
              <a:cs typeface="Calibri"/>
              <a:sym typeface="Calibri"/>
            </a:endParaRPr>
          </a:p>
        </p:txBody>
      </p:sp>
      <p:sp>
        <p:nvSpPr>
          <p:cNvPr id="1074" name="Google Shape;1074;p24"/>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
        <p:nvSpPr>
          <p:cNvPr id="1076" name="Google Shape;1076;p24"/>
          <p:cNvSpPr/>
          <p:nvPr/>
        </p:nvSpPr>
        <p:spPr>
          <a:xfrm>
            <a:off x="566928" y="1463040"/>
            <a:ext cx="5391760" cy="1170432"/>
          </a:xfrm>
          <a:prstGeom prst="roundRect">
            <a:avLst>
              <a:gd name="adj" fmla="val 390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4"/>
          <p:cNvSpPr/>
          <p:nvPr/>
        </p:nvSpPr>
        <p:spPr>
          <a:xfrm>
            <a:off x="822960" y="16093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300"/>
              <a:buFont typeface="Arial"/>
              <a:buNone/>
            </a:pPr>
            <a:r>
              <a:rPr lang="en-US" sz="1300" b="1">
                <a:solidFill>
                  <a:srgbClr val="A06D4C"/>
                </a:solidFill>
                <a:latin typeface="Arial"/>
                <a:ea typeface="Arial"/>
                <a:cs typeface="Arial"/>
                <a:sym typeface="Arial"/>
              </a:rPr>
              <a:t>偽造・真贋</a:t>
            </a:r>
            <a:endParaRPr sz="1300">
              <a:solidFill>
                <a:schemeClr val="dk1"/>
              </a:solidFill>
              <a:latin typeface="Calibri"/>
              <a:ea typeface="Calibri"/>
              <a:cs typeface="Calibri"/>
              <a:sym typeface="Calibri"/>
            </a:endParaRPr>
          </a:p>
        </p:txBody>
      </p:sp>
      <p:sp>
        <p:nvSpPr>
          <p:cNvPr id="1078" name="Google Shape;1078;p24"/>
          <p:cNvSpPr/>
          <p:nvPr/>
        </p:nvSpPr>
        <p:spPr>
          <a:xfrm>
            <a:off x="2596896" y="1627632"/>
            <a:ext cx="3105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並行品・二次流通品に潜む真贋リスク</a:t>
            </a:r>
            <a:endParaRPr sz="940">
              <a:solidFill>
                <a:schemeClr val="dk1"/>
              </a:solidFill>
              <a:latin typeface="Calibri"/>
              <a:ea typeface="Calibri"/>
              <a:cs typeface="Calibri"/>
              <a:sym typeface="Calibri"/>
            </a:endParaRPr>
          </a:p>
        </p:txBody>
      </p:sp>
      <p:sp>
        <p:nvSpPr>
          <p:cNvPr id="1079" name="Google Shape;1079;p24"/>
          <p:cNvSpPr/>
          <p:nvPr/>
        </p:nvSpPr>
        <p:spPr>
          <a:xfrm>
            <a:off x="822960" y="1938528"/>
            <a:ext cx="4879696" cy="58521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国内外の正規取扱業者からのみ仕入れ。国家ソムリエ資格保持者による選定と、全ボトルのプロヴナンス管理。</a:t>
            </a:r>
            <a:endParaRPr sz="980">
              <a:solidFill>
                <a:schemeClr val="dk1"/>
              </a:solidFill>
              <a:latin typeface="Calibri"/>
              <a:ea typeface="Calibri"/>
              <a:cs typeface="Calibri"/>
              <a:sym typeface="Calibri"/>
            </a:endParaRPr>
          </a:p>
        </p:txBody>
      </p:sp>
      <p:sp>
        <p:nvSpPr>
          <p:cNvPr id="1080" name="Google Shape;1080;p24"/>
          <p:cNvSpPr/>
          <p:nvPr/>
        </p:nvSpPr>
        <p:spPr>
          <a:xfrm>
            <a:off x="6233008" y="1463040"/>
            <a:ext cx="5391760" cy="1170432"/>
          </a:xfrm>
          <a:prstGeom prst="roundRect">
            <a:avLst>
              <a:gd name="adj" fmla="val 390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6489040" y="16093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300"/>
              <a:buFont typeface="Arial"/>
              <a:buNone/>
            </a:pPr>
            <a:r>
              <a:rPr lang="en-US" sz="1300" b="1">
                <a:solidFill>
                  <a:srgbClr val="A06D4C"/>
                </a:solidFill>
                <a:latin typeface="Arial"/>
                <a:ea typeface="Arial"/>
                <a:cs typeface="Arial"/>
                <a:sym typeface="Arial"/>
              </a:rPr>
              <a:t>品質劣化</a:t>
            </a:r>
            <a:endParaRPr sz="1300">
              <a:solidFill>
                <a:schemeClr val="dk1"/>
              </a:solidFill>
              <a:latin typeface="Calibri"/>
              <a:ea typeface="Calibri"/>
              <a:cs typeface="Calibri"/>
              <a:sym typeface="Calibri"/>
            </a:endParaRPr>
          </a:p>
        </p:txBody>
      </p:sp>
      <p:sp>
        <p:nvSpPr>
          <p:cNvPr id="1082" name="Google Shape;1082;p24"/>
          <p:cNvSpPr/>
          <p:nvPr/>
        </p:nvSpPr>
        <p:spPr>
          <a:xfrm>
            <a:off x="8262976" y="1627632"/>
            <a:ext cx="3105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輸送・保管中の温度変化による品質毀損</a:t>
            </a:r>
            <a:endParaRPr sz="940">
              <a:solidFill>
                <a:schemeClr val="dk1"/>
              </a:solidFill>
              <a:latin typeface="Calibri"/>
              <a:ea typeface="Calibri"/>
              <a:cs typeface="Calibri"/>
              <a:sym typeface="Calibri"/>
            </a:endParaRPr>
          </a:p>
        </p:txBody>
      </p:sp>
      <p:sp>
        <p:nvSpPr>
          <p:cNvPr id="1083" name="Google Shape;1083;p24"/>
          <p:cNvSpPr/>
          <p:nvPr/>
        </p:nvSpPr>
        <p:spPr>
          <a:xfrm>
            <a:off x="6489040" y="1938528"/>
            <a:ext cx="4879696" cy="58521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14℃・湿度70%での定温定湿保管、24時間365日の温度監視。配送も高級ワインに適した定温帯で実施。</a:t>
            </a:r>
            <a:endParaRPr sz="980">
              <a:solidFill>
                <a:schemeClr val="dk1"/>
              </a:solidFill>
              <a:latin typeface="Calibri"/>
              <a:ea typeface="Calibri"/>
              <a:cs typeface="Calibri"/>
              <a:sym typeface="Calibri"/>
            </a:endParaRPr>
          </a:p>
        </p:txBody>
      </p:sp>
      <p:sp>
        <p:nvSpPr>
          <p:cNvPr id="1084" name="Google Shape;1084;p24"/>
          <p:cNvSpPr/>
          <p:nvPr/>
        </p:nvSpPr>
        <p:spPr>
          <a:xfrm>
            <a:off x="566928" y="2834640"/>
            <a:ext cx="5391760" cy="1170432"/>
          </a:xfrm>
          <a:prstGeom prst="roundRect">
            <a:avLst>
              <a:gd name="adj" fmla="val 390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4"/>
          <p:cNvSpPr/>
          <p:nvPr/>
        </p:nvSpPr>
        <p:spPr>
          <a:xfrm>
            <a:off x="822960" y="29809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300"/>
              <a:buFont typeface="Arial"/>
              <a:buNone/>
            </a:pPr>
            <a:r>
              <a:rPr lang="en-US" sz="1300" b="1">
                <a:solidFill>
                  <a:srgbClr val="A06D4C"/>
                </a:solidFill>
                <a:latin typeface="Arial"/>
                <a:ea typeface="Arial"/>
                <a:cs typeface="Arial"/>
                <a:sym typeface="Arial"/>
              </a:rPr>
              <a:t>破損・紛失</a:t>
            </a:r>
            <a:endParaRPr sz="1300">
              <a:solidFill>
                <a:schemeClr val="dk1"/>
              </a:solidFill>
              <a:latin typeface="Calibri"/>
              <a:ea typeface="Calibri"/>
              <a:cs typeface="Calibri"/>
              <a:sym typeface="Calibri"/>
            </a:endParaRPr>
          </a:p>
        </p:txBody>
      </p:sp>
      <p:sp>
        <p:nvSpPr>
          <p:cNvPr id="1086" name="Google Shape;1086;p24"/>
          <p:cNvSpPr/>
          <p:nvPr/>
        </p:nvSpPr>
        <p:spPr>
          <a:xfrm>
            <a:off x="2596896" y="2999232"/>
            <a:ext cx="3105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保管中・配送中の事故</a:t>
            </a:r>
            <a:endParaRPr sz="940">
              <a:solidFill>
                <a:schemeClr val="dk1"/>
              </a:solidFill>
              <a:latin typeface="Calibri"/>
              <a:ea typeface="Calibri"/>
              <a:cs typeface="Calibri"/>
              <a:sym typeface="Calibri"/>
            </a:endParaRPr>
          </a:p>
        </p:txBody>
      </p:sp>
      <p:sp>
        <p:nvSpPr>
          <p:cNvPr id="1087" name="Google Shape;1087;p24"/>
          <p:cNvSpPr/>
          <p:nvPr/>
        </p:nvSpPr>
        <p:spPr>
          <a:xfrm>
            <a:off x="822960" y="3310128"/>
            <a:ext cx="4879696" cy="58521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動産保険を付保し、事業者責による破損は全額補償。委託倉庫は東日本大震災でも破損実績ゼロ、補助電源完備。</a:t>
            </a:r>
            <a:endParaRPr sz="980">
              <a:solidFill>
                <a:schemeClr val="dk1"/>
              </a:solidFill>
              <a:latin typeface="Calibri"/>
              <a:ea typeface="Calibri"/>
              <a:cs typeface="Calibri"/>
              <a:sym typeface="Calibri"/>
            </a:endParaRPr>
          </a:p>
        </p:txBody>
      </p:sp>
      <p:sp>
        <p:nvSpPr>
          <p:cNvPr id="1088" name="Google Shape;1088;p24"/>
          <p:cNvSpPr/>
          <p:nvPr/>
        </p:nvSpPr>
        <p:spPr>
          <a:xfrm>
            <a:off x="6233008" y="2834640"/>
            <a:ext cx="5391760" cy="1170432"/>
          </a:xfrm>
          <a:prstGeom prst="roundRect">
            <a:avLst>
              <a:gd name="adj" fmla="val 390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6489040" y="29809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300"/>
              <a:buFont typeface="Arial"/>
              <a:buNone/>
            </a:pPr>
            <a:r>
              <a:rPr lang="en-US" sz="1300" b="1">
                <a:solidFill>
                  <a:srgbClr val="A06D4C"/>
                </a:solidFill>
                <a:latin typeface="Arial"/>
                <a:ea typeface="Arial"/>
                <a:cs typeface="Arial"/>
                <a:sym typeface="Arial"/>
              </a:rPr>
              <a:t>法令遵守</a:t>
            </a:r>
            <a:endParaRPr sz="1300">
              <a:solidFill>
                <a:schemeClr val="dk1"/>
              </a:solidFill>
              <a:latin typeface="Calibri"/>
              <a:ea typeface="Calibri"/>
              <a:cs typeface="Calibri"/>
              <a:sym typeface="Calibri"/>
            </a:endParaRPr>
          </a:p>
        </p:txBody>
      </p:sp>
      <p:sp>
        <p:nvSpPr>
          <p:cNvPr id="1090" name="Google Shape;1090;p24"/>
          <p:cNvSpPr/>
          <p:nvPr/>
        </p:nvSpPr>
        <p:spPr>
          <a:xfrm>
            <a:off x="8262976" y="2999232"/>
            <a:ext cx="3105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酒類販売業免許、未成年者飲酒防止</a:t>
            </a:r>
            <a:endParaRPr sz="940">
              <a:solidFill>
                <a:schemeClr val="dk1"/>
              </a:solidFill>
              <a:latin typeface="Calibri"/>
              <a:ea typeface="Calibri"/>
              <a:cs typeface="Calibri"/>
              <a:sym typeface="Calibri"/>
            </a:endParaRPr>
          </a:p>
        </p:txBody>
      </p:sp>
      <p:sp>
        <p:nvSpPr>
          <p:cNvPr id="1091" name="Google Shape;1091;p24"/>
          <p:cNvSpPr/>
          <p:nvPr/>
        </p:nvSpPr>
        <p:spPr>
          <a:xfrm>
            <a:off x="6489040" y="3310128"/>
            <a:ext cx="4879696" cy="58521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当社が免許主体となり販売・配送を実施。年齢確認を配送時に徹底。広告表現は事前に法務レビューを実施。</a:t>
            </a:r>
            <a:endParaRPr sz="980">
              <a:solidFill>
                <a:schemeClr val="dk1"/>
              </a:solidFill>
              <a:latin typeface="Calibri"/>
              <a:ea typeface="Calibri"/>
              <a:cs typeface="Calibri"/>
              <a:sym typeface="Calibri"/>
            </a:endParaRPr>
          </a:p>
        </p:txBody>
      </p:sp>
      <p:sp>
        <p:nvSpPr>
          <p:cNvPr id="1092" name="Google Shape;1092;p24"/>
          <p:cNvSpPr/>
          <p:nvPr/>
        </p:nvSpPr>
        <p:spPr>
          <a:xfrm>
            <a:off x="566928" y="4206240"/>
            <a:ext cx="5391760" cy="1170432"/>
          </a:xfrm>
          <a:prstGeom prst="roundRect">
            <a:avLst>
              <a:gd name="adj" fmla="val 390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822960" y="43525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300"/>
              <a:buFont typeface="Arial"/>
              <a:buNone/>
            </a:pPr>
            <a:r>
              <a:rPr lang="en-US" sz="1300" b="1">
                <a:solidFill>
                  <a:srgbClr val="A06D4C"/>
                </a:solidFill>
                <a:latin typeface="Arial"/>
                <a:ea typeface="Arial"/>
                <a:cs typeface="Arial"/>
                <a:sym typeface="Arial"/>
              </a:rPr>
              <a:t>テナント配慮</a:t>
            </a:r>
            <a:endParaRPr sz="1300">
              <a:solidFill>
                <a:schemeClr val="dk1"/>
              </a:solidFill>
              <a:latin typeface="Calibri"/>
              <a:ea typeface="Calibri"/>
              <a:cs typeface="Calibri"/>
              <a:sym typeface="Calibri"/>
            </a:endParaRPr>
          </a:p>
        </p:txBody>
      </p:sp>
      <p:sp>
        <p:nvSpPr>
          <p:cNvPr id="1094" name="Google Shape;1094;p24"/>
          <p:cNvSpPr/>
          <p:nvPr/>
        </p:nvSpPr>
        <p:spPr>
          <a:xfrm>
            <a:off x="2596896" y="4370832"/>
            <a:ext cx="3105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居住者向け開放による価格関係の影響</a:t>
            </a:r>
            <a:endParaRPr sz="940">
              <a:solidFill>
                <a:schemeClr val="dk1"/>
              </a:solidFill>
              <a:latin typeface="Calibri"/>
              <a:ea typeface="Calibri"/>
              <a:cs typeface="Calibri"/>
              <a:sym typeface="Calibri"/>
            </a:endParaRPr>
          </a:p>
        </p:txBody>
      </p:sp>
      <p:sp>
        <p:nvSpPr>
          <p:cNvPr id="1095" name="Google Shape;1095;p24"/>
          <p:cNvSpPr/>
          <p:nvPr/>
        </p:nvSpPr>
        <p:spPr>
          <a:xfrm>
            <a:off x="822960" y="4681728"/>
            <a:ext cx="4879696" cy="58521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居住者価格は飲食店向け卸値を下回らせない設計。段階開放とし、影響を検証しながら拡大します。</a:t>
            </a:r>
            <a:endParaRPr sz="980">
              <a:solidFill>
                <a:schemeClr val="dk1"/>
              </a:solidFill>
              <a:latin typeface="Calibri"/>
              <a:ea typeface="Calibri"/>
              <a:cs typeface="Calibri"/>
              <a:sym typeface="Calibri"/>
            </a:endParaRPr>
          </a:p>
        </p:txBody>
      </p:sp>
      <p:sp>
        <p:nvSpPr>
          <p:cNvPr id="1096" name="Google Shape;1096;p24"/>
          <p:cNvSpPr/>
          <p:nvPr/>
        </p:nvSpPr>
        <p:spPr>
          <a:xfrm>
            <a:off x="6233008" y="4206240"/>
            <a:ext cx="5391760" cy="1170432"/>
          </a:xfrm>
          <a:prstGeom prst="roundRect">
            <a:avLst>
              <a:gd name="adj" fmla="val 3906"/>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4"/>
          <p:cNvSpPr/>
          <p:nvPr/>
        </p:nvSpPr>
        <p:spPr>
          <a:xfrm>
            <a:off x="6489040" y="4352544"/>
            <a:ext cx="173736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300"/>
              <a:buFont typeface="Arial"/>
              <a:buNone/>
            </a:pPr>
            <a:r>
              <a:rPr lang="en-US" sz="1300" b="1">
                <a:solidFill>
                  <a:srgbClr val="A06D4C"/>
                </a:solidFill>
                <a:latin typeface="Arial"/>
                <a:ea typeface="Arial"/>
                <a:cs typeface="Arial"/>
                <a:sym typeface="Arial"/>
              </a:rPr>
              <a:t>個人情報</a:t>
            </a:r>
            <a:endParaRPr sz="1300">
              <a:solidFill>
                <a:schemeClr val="dk1"/>
              </a:solidFill>
              <a:latin typeface="Calibri"/>
              <a:ea typeface="Calibri"/>
              <a:cs typeface="Calibri"/>
              <a:sym typeface="Calibri"/>
            </a:endParaRPr>
          </a:p>
        </p:txBody>
      </p:sp>
      <p:sp>
        <p:nvSpPr>
          <p:cNvPr id="1098" name="Google Shape;1098;p24"/>
          <p:cNvSpPr/>
          <p:nvPr/>
        </p:nvSpPr>
        <p:spPr>
          <a:xfrm>
            <a:off x="8262976" y="4370832"/>
            <a:ext cx="310576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939"/>
              <a:buFont typeface="Arial"/>
              <a:buNone/>
            </a:pPr>
            <a:r>
              <a:rPr lang="en-US" sz="940">
                <a:solidFill>
                  <a:srgbClr val="6E7378"/>
                </a:solidFill>
                <a:latin typeface="Arial"/>
                <a:ea typeface="Arial"/>
                <a:cs typeface="Arial"/>
                <a:sym typeface="Arial"/>
              </a:rPr>
              <a:t>テナント・居住者情報の取扱い</a:t>
            </a:r>
            <a:endParaRPr sz="940">
              <a:solidFill>
                <a:schemeClr val="dk1"/>
              </a:solidFill>
              <a:latin typeface="Calibri"/>
              <a:ea typeface="Calibri"/>
              <a:cs typeface="Calibri"/>
              <a:sym typeface="Calibri"/>
            </a:endParaRPr>
          </a:p>
        </p:txBody>
      </p:sp>
      <p:sp>
        <p:nvSpPr>
          <p:cNvPr id="1099" name="Google Shape;1099;p24"/>
          <p:cNvSpPr/>
          <p:nvPr/>
        </p:nvSpPr>
        <p:spPr>
          <a:xfrm>
            <a:off x="6489040" y="4681728"/>
            <a:ext cx="4879696" cy="585216"/>
          </a:xfrm>
          <a:prstGeom prst="rect">
            <a:avLst/>
          </a:prstGeom>
          <a:noFill/>
          <a:ln>
            <a:noFill/>
          </a:ln>
        </p:spPr>
        <p:txBody>
          <a:bodyPr spcFirstLastPara="1" wrap="square" lIns="0" tIns="0" rIns="0" bIns="0" anchor="ctr" anchorCtr="0">
            <a:noAutofit/>
          </a:bodyPr>
          <a:lstStyle/>
          <a:p>
            <a:pPr marL="0" marR="0" lvl="0" indent="0" algn="l" rtl="0">
              <a:lnSpc>
                <a:spcPct val="137755"/>
              </a:lnSpc>
              <a:spcBef>
                <a:spcPts val="0"/>
              </a:spcBef>
              <a:spcAft>
                <a:spcPts val="0"/>
              </a:spcAft>
              <a:buClr>
                <a:srgbClr val="1A1A1A"/>
              </a:buClr>
              <a:buSzPts val="980"/>
              <a:buFont typeface="Arial"/>
              <a:buNone/>
            </a:pPr>
            <a:r>
              <a:rPr lang="en-US" sz="980">
                <a:solidFill>
                  <a:srgbClr val="1A1A1A"/>
                </a:solidFill>
                <a:latin typeface="Arial"/>
                <a:ea typeface="Arial"/>
                <a:cs typeface="Arial"/>
                <a:sym typeface="Arial"/>
              </a:rPr>
              <a:t>会員情報は当社が管理主体となり、森ビル様からの個人情報のご提供を前提としない設計（申込は本人から直接）。</a:t>
            </a:r>
            <a:endParaRPr sz="980">
              <a:solidFill>
                <a:schemeClr val="dk1"/>
              </a:solidFill>
              <a:latin typeface="Calibri"/>
              <a:ea typeface="Calibri"/>
              <a:cs typeface="Calibri"/>
              <a:sym typeface="Calibri"/>
            </a:endParaRPr>
          </a:p>
        </p:txBody>
      </p:sp>
      <p:sp>
        <p:nvSpPr>
          <p:cNvPr id="1100" name="Google Shape;1100;p24"/>
          <p:cNvSpPr/>
          <p:nvPr/>
        </p:nvSpPr>
        <p:spPr>
          <a:xfrm>
            <a:off x="566928" y="5577840"/>
            <a:ext cx="109728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080"/>
              <a:buFont typeface="Arial"/>
              <a:buNone/>
            </a:pPr>
            <a:r>
              <a:rPr lang="en-US" sz="1080" b="1">
                <a:solidFill>
                  <a:srgbClr val="A06D4C"/>
                </a:solidFill>
                <a:latin typeface="Arial"/>
                <a:ea typeface="Arial"/>
                <a:cs typeface="Arial"/>
                <a:sym typeface="Arial"/>
              </a:rPr>
              <a:t>在庫・与信・配送・保管に関わるリスクは、原則としてすべて当社が保有します。</a:t>
            </a:r>
            <a:endParaRPr sz="108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5"/>
        <p:cNvGrpSpPr/>
        <p:nvPr/>
      </p:nvGrpSpPr>
      <p:grpSpPr>
        <a:xfrm>
          <a:off x="0" y="0"/>
          <a:ext cx="0" cy="0"/>
          <a:chOff x="0" y="0"/>
          <a:chExt cx="0" cy="0"/>
        </a:xfrm>
      </p:grpSpPr>
      <p:pic>
        <p:nvPicPr>
          <p:cNvPr id="1106" name="Google Shape;1106;p25" descr="preencoded.png"/>
          <p:cNvPicPr preferRelativeResize="0"/>
          <p:nvPr/>
        </p:nvPicPr>
        <p:blipFill rotWithShape="1">
          <a:blip r:embed="rId3">
            <a:alphaModFix/>
          </a:blip>
          <a:srcRect/>
          <a:stretch/>
        </p:blipFill>
        <p:spPr>
          <a:xfrm>
            <a:off x="10381183" y="292608"/>
            <a:ext cx="1243584" cy="247802"/>
          </a:xfrm>
          <a:prstGeom prst="rect">
            <a:avLst/>
          </a:prstGeom>
          <a:noFill/>
          <a:ln>
            <a:noFill/>
          </a:ln>
        </p:spPr>
      </p:pic>
      <p:sp>
        <p:nvSpPr>
          <p:cNvPr id="1107" name="Google Shape;1107;p25"/>
          <p:cNvSpPr/>
          <p:nvPr/>
        </p:nvSpPr>
        <p:spPr>
          <a:xfrm>
            <a:off x="566928" y="1097280"/>
            <a:ext cx="10058400" cy="6949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3400"/>
              <a:buFont typeface="Arial"/>
              <a:buNone/>
            </a:pPr>
            <a:r>
              <a:rPr lang="en-US" sz="3400" b="1">
                <a:solidFill>
                  <a:srgbClr val="1A1A1A"/>
                </a:solidFill>
                <a:latin typeface="Arial"/>
                <a:ea typeface="Arial"/>
                <a:cs typeface="Arial"/>
                <a:sym typeface="Arial"/>
              </a:rPr>
              <a:t>ヒルズに、街の共有セラーを。</a:t>
            </a:r>
            <a:endParaRPr sz="3400">
              <a:solidFill>
                <a:schemeClr val="dk1"/>
              </a:solidFill>
              <a:latin typeface="Calibri"/>
              <a:ea typeface="Calibri"/>
              <a:cs typeface="Calibri"/>
              <a:sym typeface="Calibri"/>
            </a:endParaRPr>
          </a:p>
        </p:txBody>
      </p:sp>
      <p:sp>
        <p:nvSpPr>
          <p:cNvPr id="1108" name="Google Shape;1108;p25"/>
          <p:cNvSpPr/>
          <p:nvPr/>
        </p:nvSpPr>
        <p:spPr>
          <a:xfrm>
            <a:off x="566928" y="1938528"/>
            <a:ext cx="1188720" cy="41148"/>
          </a:xfrm>
          <a:prstGeom prst="rect">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5"/>
          <p:cNvSpPr/>
          <p:nvPr/>
        </p:nvSpPr>
        <p:spPr>
          <a:xfrm>
            <a:off x="566928" y="2139696"/>
            <a:ext cx="8778240" cy="731520"/>
          </a:xfrm>
          <a:prstGeom prst="rect">
            <a:avLst/>
          </a:prstGeom>
          <a:noFill/>
          <a:ln>
            <a:noFill/>
          </a:ln>
        </p:spPr>
        <p:txBody>
          <a:bodyPr spcFirstLastPara="1" wrap="square" lIns="0" tIns="0" rIns="0" bIns="0" anchor="ctr" anchorCtr="0">
            <a:noAutofit/>
          </a:bodyPr>
          <a:lstStyle/>
          <a:p>
            <a:pPr marL="0" marR="0" lvl="0" indent="0" algn="l" rtl="0">
              <a:lnSpc>
                <a:spcPct val="177777"/>
              </a:lnSpc>
              <a:spcBef>
                <a:spcPts val="0"/>
              </a:spcBef>
              <a:spcAft>
                <a:spcPts val="0"/>
              </a:spcAft>
              <a:buClr>
                <a:srgbClr val="44494D"/>
              </a:buClr>
              <a:buSzPts val="1350"/>
              <a:buFont typeface="Arial"/>
              <a:buNone/>
            </a:pPr>
            <a:r>
              <a:rPr lang="en-US" sz="1350">
                <a:solidFill>
                  <a:srgbClr val="44494D"/>
                </a:solidFill>
                <a:latin typeface="Arial"/>
                <a:ea typeface="Arial"/>
                <a:cs typeface="Arial"/>
                <a:sym typeface="Arial"/>
              </a:rPr>
              <a:t>ワインを必要とする人が最も密度高く集まる街に、その在庫を置く。</a:t>
            </a:r>
            <a:endParaRPr sz="1350">
              <a:solidFill>
                <a:schemeClr val="dk1"/>
              </a:solidFill>
              <a:latin typeface="Calibri"/>
              <a:ea typeface="Calibri"/>
              <a:cs typeface="Calibri"/>
              <a:sym typeface="Calibri"/>
            </a:endParaRPr>
          </a:p>
          <a:p>
            <a:pPr marL="0" marR="0" lvl="0" indent="0" algn="l" rtl="0">
              <a:lnSpc>
                <a:spcPct val="177777"/>
              </a:lnSpc>
              <a:spcBef>
                <a:spcPts val="0"/>
              </a:spcBef>
              <a:spcAft>
                <a:spcPts val="0"/>
              </a:spcAft>
              <a:buClr>
                <a:srgbClr val="44494D"/>
              </a:buClr>
              <a:buSzPts val="1350"/>
              <a:buFont typeface="Arial"/>
              <a:buNone/>
            </a:pPr>
            <a:r>
              <a:rPr lang="en-US" sz="1350">
                <a:solidFill>
                  <a:srgbClr val="44494D"/>
                </a:solidFill>
                <a:latin typeface="Arial"/>
                <a:ea typeface="Arial"/>
                <a:cs typeface="Arial"/>
                <a:sym typeface="Arial"/>
              </a:rPr>
              <a:t>私たちは在庫も、仕入網も、シェフも、配送網も、すでに持っています。</a:t>
            </a:r>
            <a:endParaRPr sz="1350">
              <a:solidFill>
                <a:schemeClr val="dk1"/>
              </a:solidFill>
              <a:latin typeface="Calibri"/>
              <a:ea typeface="Calibri"/>
              <a:cs typeface="Calibri"/>
              <a:sym typeface="Calibri"/>
            </a:endParaRPr>
          </a:p>
        </p:txBody>
      </p:sp>
      <p:sp>
        <p:nvSpPr>
          <p:cNvPr id="1110" name="Google Shape;1110;p25"/>
          <p:cNvSpPr/>
          <p:nvPr/>
        </p:nvSpPr>
        <p:spPr>
          <a:xfrm>
            <a:off x="566928" y="3200400"/>
            <a:ext cx="3490874" cy="1700784"/>
          </a:xfrm>
          <a:prstGeom prst="roundRect">
            <a:avLst>
              <a:gd name="adj" fmla="val 2688"/>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5"/>
          <p:cNvSpPr/>
          <p:nvPr/>
        </p:nvSpPr>
        <p:spPr>
          <a:xfrm>
            <a:off x="841248" y="3419856"/>
            <a:ext cx="420624" cy="420624"/>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5"/>
          <p:cNvSpPr/>
          <p:nvPr/>
        </p:nvSpPr>
        <p:spPr>
          <a:xfrm>
            <a:off x="841248" y="341985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01</a:t>
            </a:r>
            <a:endParaRPr sz="1100">
              <a:solidFill>
                <a:schemeClr val="dk1"/>
              </a:solidFill>
              <a:latin typeface="Calibri"/>
              <a:ea typeface="Calibri"/>
              <a:cs typeface="Calibri"/>
              <a:sym typeface="Calibri"/>
            </a:endParaRPr>
          </a:p>
        </p:txBody>
      </p:sp>
      <p:sp>
        <p:nvSpPr>
          <p:cNvPr id="1113" name="Google Shape;1113;p25"/>
          <p:cNvSpPr/>
          <p:nvPr/>
        </p:nvSpPr>
        <p:spPr>
          <a:xfrm>
            <a:off x="1371600" y="3401568"/>
            <a:ext cx="243017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すぐ始められる</a:t>
            </a:r>
            <a:endParaRPr sz="1500">
              <a:solidFill>
                <a:schemeClr val="dk1"/>
              </a:solidFill>
              <a:latin typeface="Calibri"/>
              <a:ea typeface="Calibri"/>
              <a:cs typeface="Calibri"/>
              <a:sym typeface="Calibri"/>
            </a:endParaRPr>
          </a:p>
        </p:txBody>
      </p:sp>
      <p:sp>
        <p:nvSpPr>
          <p:cNvPr id="1114" name="Google Shape;1114;p25"/>
          <p:cNvSpPr/>
          <p:nvPr/>
        </p:nvSpPr>
        <p:spPr>
          <a:xfrm>
            <a:off x="841248" y="3968496"/>
            <a:ext cx="2942234" cy="786384"/>
          </a:xfrm>
          <a:prstGeom prst="rect">
            <a:avLst/>
          </a:prstGeom>
          <a:noFill/>
          <a:ln>
            <a:noFill/>
          </a:ln>
        </p:spPr>
        <p:txBody>
          <a:bodyPr spcFirstLastPara="1" wrap="square" lIns="0" tIns="0" rIns="0" bIns="0" anchor="ctr" anchorCtr="0">
            <a:noAutofit/>
          </a:bodyPr>
          <a:lstStyle/>
          <a:p>
            <a:pPr marL="0" marR="0" lvl="0" indent="0" algn="l" rtl="0">
              <a:lnSpc>
                <a:spcPct val="139423"/>
              </a:lnSpc>
              <a:spcBef>
                <a:spcPts val="0"/>
              </a:spcBef>
              <a:spcAft>
                <a:spcPts val="0"/>
              </a:spcAft>
              <a:buClr>
                <a:srgbClr val="6E7378"/>
              </a:buClr>
              <a:buSzPts val="1040"/>
              <a:buFont typeface="Arial"/>
              <a:buNone/>
            </a:pPr>
            <a:r>
              <a:rPr lang="en-US" sz="1040">
                <a:solidFill>
                  <a:srgbClr val="6E7378"/>
                </a:solidFill>
                <a:latin typeface="Arial"/>
                <a:ea typeface="Arial"/>
                <a:cs typeface="Arial"/>
                <a:sym typeface="Arial"/>
              </a:rPr>
              <a:t>酒販免許・保管倉庫・配送体制・在庫は稼働中。新設が必要なものはほとんどありません。</a:t>
            </a:r>
            <a:endParaRPr sz="1040">
              <a:solidFill>
                <a:schemeClr val="dk1"/>
              </a:solidFill>
              <a:latin typeface="Calibri"/>
              <a:ea typeface="Calibri"/>
              <a:cs typeface="Calibri"/>
              <a:sym typeface="Calibri"/>
            </a:endParaRPr>
          </a:p>
        </p:txBody>
      </p:sp>
      <p:sp>
        <p:nvSpPr>
          <p:cNvPr id="1115" name="Google Shape;1115;p25"/>
          <p:cNvSpPr/>
          <p:nvPr/>
        </p:nvSpPr>
        <p:spPr>
          <a:xfrm>
            <a:off x="4350410" y="3200400"/>
            <a:ext cx="3490874" cy="1700784"/>
          </a:xfrm>
          <a:prstGeom prst="roundRect">
            <a:avLst>
              <a:gd name="adj" fmla="val 2688"/>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5"/>
          <p:cNvSpPr/>
          <p:nvPr/>
        </p:nvSpPr>
        <p:spPr>
          <a:xfrm>
            <a:off x="4624730" y="3419856"/>
            <a:ext cx="420624" cy="420624"/>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5"/>
          <p:cNvSpPr/>
          <p:nvPr/>
        </p:nvSpPr>
        <p:spPr>
          <a:xfrm>
            <a:off x="4624730" y="341985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02</a:t>
            </a:r>
            <a:endParaRPr sz="1100">
              <a:solidFill>
                <a:schemeClr val="dk1"/>
              </a:solidFill>
              <a:latin typeface="Calibri"/>
              <a:ea typeface="Calibri"/>
              <a:cs typeface="Calibri"/>
              <a:sym typeface="Calibri"/>
            </a:endParaRPr>
          </a:p>
        </p:txBody>
      </p:sp>
      <p:sp>
        <p:nvSpPr>
          <p:cNvPr id="1118" name="Google Shape;1118;p25"/>
          <p:cNvSpPr/>
          <p:nvPr/>
        </p:nvSpPr>
        <p:spPr>
          <a:xfrm>
            <a:off x="5155082" y="3401568"/>
            <a:ext cx="243017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DCCE"/>
              </a:buClr>
              <a:buSzPts val="1500"/>
              <a:buFont typeface="Arial"/>
              <a:buNone/>
            </a:pPr>
            <a:r>
              <a:rPr lang="en-US" sz="1500" b="1">
                <a:solidFill>
                  <a:srgbClr val="EFDCCE"/>
                </a:solidFill>
                <a:latin typeface="Arial"/>
                <a:ea typeface="Arial"/>
                <a:cs typeface="Arial"/>
                <a:sym typeface="Arial"/>
              </a:rPr>
              <a:t>森ビル様の負担が小さい</a:t>
            </a:r>
            <a:endParaRPr sz="1500">
              <a:solidFill>
                <a:schemeClr val="dk1"/>
              </a:solidFill>
              <a:latin typeface="Calibri"/>
              <a:ea typeface="Calibri"/>
              <a:cs typeface="Calibri"/>
              <a:sym typeface="Calibri"/>
            </a:endParaRPr>
          </a:p>
        </p:txBody>
      </p:sp>
      <p:sp>
        <p:nvSpPr>
          <p:cNvPr id="1119" name="Google Shape;1119;p25"/>
          <p:cNvSpPr/>
          <p:nvPr/>
        </p:nvSpPr>
        <p:spPr>
          <a:xfrm>
            <a:off x="4624730" y="3968496"/>
            <a:ext cx="2942234" cy="786384"/>
          </a:xfrm>
          <a:prstGeom prst="rect">
            <a:avLst/>
          </a:prstGeom>
          <a:noFill/>
          <a:ln>
            <a:noFill/>
          </a:ln>
        </p:spPr>
        <p:txBody>
          <a:bodyPr spcFirstLastPara="1" wrap="square" lIns="0" tIns="0" rIns="0" bIns="0" anchor="ctr" anchorCtr="0">
            <a:noAutofit/>
          </a:bodyPr>
          <a:lstStyle/>
          <a:p>
            <a:pPr marL="0" marR="0" lvl="0" indent="0" algn="l" rtl="0">
              <a:lnSpc>
                <a:spcPct val="139423"/>
              </a:lnSpc>
              <a:spcBef>
                <a:spcPts val="0"/>
              </a:spcBef>
              <a:spcAft>
                <a:spcPts val="0"/>
              </a:spcAft>
              <a:buClr>
                <a:srgbClr val="E3E6E8"/>
              </a:buClr>
              <a:buSzPts val="1040"/>
              <a:buFont typeface="Arial"/>
              <a:buNone/>
            </a:pPr>
            <a:r>
              <a:rPr lang="en-US" sz="1040">
                <a:solidFill>
                  <a:srgbClr val="E3E6E8"/>
                </a:solidFill>
                <a:latin typeface="Arial"/>
                <a:ea typeface="Arial"/>
                <a:cs typeface="Arial"/>
                <a:sym typeface="Arial"/>
              </a:rPr>
              <a:t>設備投資・人員配置を前提としない設計。在庫・与信・運営リスクは当社が保有します。</a:t>
            </a:r>
            <a:endParaRPr sz="1040">
              <a:solidFill>
                <a:schemeClr val="dk1"/>
              </a:solidFill>
              <a:latin typeface="Calibri"/>
              <a:ea typeface="Calibri"/>
              <a:cs typeface="Calibri"/>
              <a:sym typeface="Calibri"/>
            </a:endParaRPr>
          </a:p>
        </p:txBody>
      </p:sp>
      <p:sp>
        <p:nvSpPr>
          <p:cNvPr id="1120" name="Google Shape;1120;p25"/>
          <p:cNvSpPr/>
          <p:nvPr/>
        </p:nvSpPr>
        <p:spPr>
          <a:xfrm>
            <a:off x="8133893" y="3200400"/>
            <a:ext cx="3490874" cy="1700784"/>
          </a:xfrm>
          <a:prstGeom prst="roundRect">
            <a:avLst>
              <a:gd name="adj" fmla="val 2688"/>
            </a:avLst>
          </a:prstGeom>
          <a:solidFill>
            <a:srgbClr val="F6F6F6"/>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25"/>
          <p:cNvSpPr/>
          <p:nvPr/>
        </p:nvSpPr>
        <p:spPr>
          <a:xfrm>
            <a:off x="8408213" y="3419856"/>
            <a:ext cx="420624" cy="420624"/>
          </a:xfrm>
          <a:prstGeom prst="ellipse">
            <a:avLst/>
          </a:prstGeom>
          <a:solidFill>
            <a:srgbClr val="C68A65"/>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5"/>
          <p:cNvSpPr/>
          <p:nvPr/>
        </p:nvSpPr>
        <p:spPr>
          <a:xfrm>
            <a:off x="8408213" y="3419856"/>
            <a:ext cx="420624" cy="42062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03</a:t>
            </a:r>
            <a:endParaRPr sz="1100">
              <a:solidFill>
                <a:schemeClr val="dk1"/>
              </a:solidFill>
              <a:latin typeface="Calibri"/>
              <a:ea typeface="Calibri"/>
              <a:cs typeface="Calibri"/>
              <a:sym typeface="Calibri"/>
            </a:endParaRPr>
          </a:p>
        </p:txBody>
      </p:sp>
      <p:sp>
        <p:nvSpPr>
          <p:cNvPr id="1123" name="Google Shape;1123;p25"/>
          <p:cNvSpPr/>
          <p:nvPr/>
        </p:nvSpPr>
        <p:spPr>
          <a:xfrm>
            <a:off x="8938565" y="3401568"/>
            <a:ext cx="2430170" cy="43891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500"/>
              <a:buFont typeface="Arial"/>
              <a:buNone/>
            </a:pPr>
            <a:r>
              <a:rPr lang="en-US" sz="1500" b="1">
                <a:solidFill>
                  <a:srgbClr val="1A1A1A"/>
                </a:solidFill>
                <a:latin typeface="Arial"/>
                <a:ea typeface="Arial"/>
                <a:cs typeface="Arial"/>
                <a:sym typeface="Arial"/>
              </a:rPr>
              <a:t>テナントの利益になる</a:t>
            </a:r>
            <a:endParaRPr sz="1500">
              <a:solidFill>
                <a:schemeClr val="dk1"/>
              </a:solidFill>
              <a:latin typeface="Calibri"/>
              <a:ea typeface="Calibri"/>
              <a:cs typeface="Calibri"/>
              <a:sym typeface="Calibri"/>
            </a:endParaRPr>
          </a:p>
        </p:txBody>
      </p:sp>
      <p:sp>
        <p:nvSpPr>
          <p:cNvPr id="1124" name="Google Shape;1124;p25"/>
          <p:cNvSpPr/>
          <p:nvPr/>
        </p:nvSpPr>
        <p:spPr>
          <a:xfrm>
            <a:off x="8408213" y="3968496"/>
            <a:ext cx="2942234" cy="786384"/>
          </a:xfrm>
          <a:prstGeom prst="rect">
            <a:avLst/>
          </a:prstGeom>
          <a:noFill/>
          <a:ln>
            <a:noFill/>
          </a:ln>
        </p:spPr>
        <p:txBody>
          <a:bodyPr spcFirstLastPara="1" wrap="square" lIns="0" tIns="0" rIns="0" bIns="0" anchor="ctr" anchorCtr="0">
            <a:noAutofit/>
          </a:bodyPr>
          <a:lstStyle/>
          <a:p>
            <a:pPr marL="0" marR="0" lvl="0" indent="0" algn="l" rtl="0">
              <a:lnSpc>
                <a:spcPct val="139423"/>
              </a:lnSpc>
              <a:spcBef>
                <a:spcPts val="0"/>
              </a:spcBef>
              <a:spcAft>
                <a:spcPts val="0"/>
              </a:spcAft>
              <a:buClr>
                <a:srgbClr val="6E7378"/>
              </a:buClr>
              <a:buSzPts val="1040"/>
              <a:buFont typeface="Arial"/>
              <a:buNone/>
            </a:pPr>
            <a:r>
              <a:rPr lang="en-US" sz="1040">
                <a:solidFill>
                  <a:srgbClr val="6E7378"/>
                </a:solidFill>
                <a:latin typeface="Arial"/>
                <a:ea typeface="Arial"/>
                <a:cs typeface="Arial"/>
                <a:sym typeface="Arial"/>
              </a:rPr>
              <a:t>在庫負担とワイン原価が下がる提案は、テナント飲食店にとって断る理由がありません。</a:t>
            </a:r>
            <a:endParaRPr sz="1040">
              <a:solidFill>
                <a:schemeClr val="dk1"/>
              </a:solidFill>
              <a:latin typeface="Calibri"/>
              <a:ea typeface="Calibri"/>
              <a:cs typeface="Calibri"/>
              <a:sym typeface="Calibri"/>
            </a:endParaRPr>
          </a:p>
        </p:txBody>
      </p:sp>
      <p:sp>
        <p:nvSpPr>
          <p:cNvPr id="1125" name="Google Shape;1125;p25"/>
          <p:cNvSpPr/>
          <p:nvPr/>
        </p:nvSpPr>
        <p:spPr>
          <a:xfrm>
            <a:off x="566928" y="5138928"/>
            <a:ext cx="27432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A06D4C"/>
              </a:buClr>
              <a:buSzPts val="1250"/>
              <a:buFont typeface="Arial"/>
              <a:buNone/>
            </a:pPr>
            <a:r>
              <a:rPr lang="en-US" sz="1250" b="1">
                <a:solidFill>
                  <a:srgbClr val="A06D4C"/>
                </a:solidFill>
                <a:latin typeface="Arial"/>
                <a:ea typeface="Arial"/>
                <a:cs typeface="Arial"/>
                <a:sym typeface="Arial"/>
              </a:rPr>
              <a:t>次のステップ</a:t>
            </a:r>
            <a:endParaRPr sz="1250">
              <a:solidFill>
                <a:schemeClr val="dk1"/>
              </a:solidFill>
              <a:latin typeface="Calibri"/>
              <a:ea typeface="Calibri"/>
              <a:cs typeface="Calibri"/>
              <a:sym typeface="Calibri"/>
            </a:endParaRPr>
          </a:p>
        </p:txBody>
      </p:sp>
      <p:sp>
        <p:nvSpPr>
          <p:cNvPr id="1126" name="Google Shape;1126;p25"/>
          <p:cNvSpPr/>
          <p:nvPr/>
        </p:nvSpPr>
        <p:spPr>
          <a:xfrm>
            <a:off x="566928" y="5431536"/>
            <a:ext cx="106070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1A1A"/>
              </a:buClr>
              <a:buSzPts val="1150"/>
              <a:buFont typeface="Arial"/>
              <a:buNone/>
            </a:pPr>
            <a:r>
              <a:rPr lang="en-US" sz="1150">
                <a:solidFill>
                  <a:srgbClr val="1A1A1A"/>
                </a:solidFill>
                <a:latin typeface="Arial"/>
                <a:ea typeface="Arial"/>
                <a:cs typeface="Arial"/>
                <a:sym typeface="Arial"/>
              </a:rPr>
              <a:t>① 本提案のご説明とディスカッション　→　② 対象街区・対象プログラムの絞り込み　→　③ PoC条件の合意（目安：ご合意から3か月で開始）</a:t>
            </a:r>
            <a:endParaRPr sz="1150">
              <a:solidFill>
                <a:schemeClr val="dk1"/>
              </a:solidFill>
              <a:latin typeface="Calibri"/>
              <a:ea typeface="Calibri"/>
              <a:cs typeface="Calibri"/>
              <a:sym typeface="Calibri"/>
            </a:endParaRPr>
          </a:p>
        </p:txBody>
      </p:sp>
      <p:sp>
        <p:nvSpPr>
          <p:cNvPr id="1127" name="Google Shape;1127;p25"/>
          <p:cNvSpPr/>
          <p:nvPr/>
        </p:nvSpPr>
        <p:spPr>
          <a:xfrm>
            <a:off x="566928" y="5961888"/>
            <a:ext cx="8229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E7378"/>
              </a:buClr>
              <a:buSzPts val="1000"/>
              <a:buFont typeface="Arial"/>
              <a:buNone/>
            </a:pPr>
            <a:r>
              <a:rPr lang="en-US" sz="1000">
                <a:solidFill>
                  <a:srgbClr val="6E7378"/>
                </a:solidFill>
                <a:latin typeface="Arial"/>
                <a:ea typeface="Arial"/>
                <a:cs typeface="Arial"/>
                <a:sym typeface="Arial"/>
              </a:rPr>
              <a:t>株式会社WineBank　東京都港区六本木4-12-8 第6DMJビル2階　TEL 03-6416-9370</a:t>
            </a:r>
            <a:endParaRPr sz="1000">
              <a:solidFill>
                <a:schemeClr val="dk1"/>
              </a:solidFill>
              <a:latin typeface="Calibri"/>
              <a:ea typeface="Calibri"/>
              <a:cs typeface="Calibri"/>
              <a:sym typeface="Calibri"/>
            </a:endParaRPr>
          </a:p>
        </p:txBody>
      </p:sp>
      <p:sp>
        <p:nvSpPr>
          <p:cNvPr id="1128" name="Google Shape;1128;p25"/>
          <p:cNvSpPr/>
          <p:nvPr/>
        </p:nvSpPr>
        <p:spPr>
          <a:xfrm>
            <a:off x="0" y="6583680"/>
            <a:ext cx="12191695" cy="274320"/>
          </a:xfrm>
          <a:prstGeom prst="rect">
            <a:avLst/>
          </a:prstGeom>
          <a:solidFill>
            <a:srgbClr val="2F3941"/>
          </a:solidFill>
          <a:ln w="12700" cap="flat" cmpd="sng">
            <a:solidFill>
              <a:srgbClr val="33333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25"/>
          <p:cNvSpPr/>
          <p:nvPr/>
        </p:nvSpPr>
        <p:spPr>
          <a:xfrm>
            <a:off x="566928" y="6272784"/>
            <a:ext cx="292608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7CACC"/>
              </a:buClr>
              <a:buSzPts val="850"/>
              <a:buFont typeface="Calibri"/>
              <a:buNone/>
            </a:pPr>
            <a:r>
              <a:rPr lang="en-US" sz="850">
                <a:solidFill>
                  <a:srgbClr val="C7CACC"/>
                </a:solidFill>
                <a:latin typeface="Calibri"/>
                <a:ea typeface="Calibri"/>
                <a:cs typeface="Calibri"/>
                <a:sym typeface="Calibri"/>
              </a:rPr>
              <a:t>CONFIDENTIAL</a:t>
            </a:r>
            <a:endParaRPr sz="8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3085</Words>
  <Application>Microsoft Office PowerPoint</Application>
  <PresentationFormat>ワイド画面</PresentationFormat>
  <Paragraphs>962</Paragraphs>
  <Slides>37</Slides>
  <Notes>37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37</vt:i4>
      </vt:variant>
    </vt:vector>
  </HeadingPairs>
  <TitlesOfParts>
    <vt:vector size="40" baseType="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株式会社WineBank</dc:creator>
  <cp:lastModifiedBy>Kunihito Nakano</cp:lastModifiedBy>
  <cp:revision>1</cp:revision>
  <dcterms:created xsi:type="dcterms:W3CDTF">2026-08-10T07:57:38Z</dcterms:created>
  <dcterms:modified xsi:type="dcterms:W3CDTF">2026-08-13T01:29:46Z</dcterms:modified>
</cp:coreProperties>
</file>