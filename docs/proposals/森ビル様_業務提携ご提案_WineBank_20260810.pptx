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導入店舗数</c:v>
                </c:pt>
              </c:strCache>
            </c:strRef>
          </c:tx>
          <c:spPr>
            <a:solidFill>
              <a:srgbClr val="C68A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20</c:v>
                </c:pt>
                <c:pt idx="2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378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EDEE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ABAF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Cloud Wine Cave・WineGO・CLUB</c:v>
                </c:pt>
              </c:strCache>
            </c:strRef>
          </c:tx>
          <c:spPr>
            <a:solidFill>
              <a:srgbClr val="C68A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Yu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240</c:v>
                </c:pt>
                <c:pt idx="2">
                  <c:v>430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クラウドワインセラー</c:v>
                </c:pt>
              </c:strCache>
            </c:strRef>
          </c:tx>
          <c:spPr>
            <a:solidFill>
              <a:srgbClr val="2F39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Yu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400</c:v>
                </c:pt>
                <c:pt idx="2">
                  <c:v>450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レストラン業態</c:v>
                </c:pt>
              </c:strCache>
            </c:strRef>
          </c:tx>
          <c:spPr>
            <a:solidFill>
              <a:srgbClr val="9AA1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Yu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Yu Gothic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378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E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ABAF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6E7378"/>
              </a:solidFill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森ビル様向け業務提携提案。Cloud Wine Cave（クラウド型共有セラー）を核に、ヒルズのテナント飲食店・ワーカー・レジデンス居住者を一つのワイン在庫で結ぶ。投資商品の訴求は行わない。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983" y="402336"/>
            <a:ext cx="1700784" cy="33924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188366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すべての人にファインワインを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224942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森ビル株式会社 御中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566928" y="2688336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ヒルズ経済圏 × ファインワイン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66928" y="3529584"/>
            <a:ext cx="1188720" cy="41148"/>
          </a:xfrm>
          <a:prstGeom prst="rect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3749040"/>
            <a:ext cx="8595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444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を核とした、ワーカー・レジデンス・テナント飲食店向け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444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ワインインフラの共同構築に関するご提案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4956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55年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66928" y="54315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酒販事業の実績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36976" y="4956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30億円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236976" y="54315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管理ワイン在庫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07024" y="4956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50万本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907024" y="54315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アクセスできる在庫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577072" y="4956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26店舗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577072" y="54315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コルケージ無料の提携店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66928" y="59984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　株式会社WineBank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881567" y="5998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868680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ご提案の骨子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ヒルズには「良いワインを必要とする人」が三層で密集しています。三層の課題は、一つの在庫で同時に解けます。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11057839" cy="475488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463040"/>
            <a:ext cx="110578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その一つの在庫が、Cloud Wine Cave（クラウド型共有セラー）です。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157984"/>
            <a:ext cx="2558720" cy="2615184"/>
          </a:xfrm>
          <a:prstGeom prst="roundRect">
            <a:avLst>
              <a:gd name="adj" fmla="val 178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" y="2377440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2907792"/>
            <a:ext cx="204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2960" y="3273552"/>
            <a:ext cx="2046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Caveを核とした6つのプログラムを共同組成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在庫は当社が保有。利用者は使った分だけ支払う</a:t>
            </a:r>
            <a:endParaRPr lang="en-US" sz="1020" dirty="0"/>
          </a:p>
        </p:txBody>
      </p:sp>
      <p:sp>
        <p:nvSpPr>
          <p:cNvPr id="17" name="Shape 14"/>
          <p:cNvSpPr/>
          <p:nvPr/>
        </p:nvSpPr>
        <p:spPr>
          <a:xfrm>
            <a:off x="3399968" y="2157984"/>
            <a:ext cx="2558720" cy="2615184"/>
          </a:xfrm>
          <a:prstGeom prst="roundRect">
            <a:avLst>
              <a:gd name="adj" fmla="val 178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6000" y="2377440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5600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6000" y="2907792"/>
            <a:ext cx="204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656000" y="3273552"/>
            <a:ext cx="2046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ヒルズのテナント飲食店（在庫リスクからの解放）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ヒルズワーカー（接待・会食）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レジデンス居住者（自宅消費・贈答）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233008" y="2157984"/>
            <a:ext cx="2558720" cy="2615184"/>
          </a:xfrm>
          <a:prstGeom prst="roundRect">
            <a:avLst>
              <a:gd name="adj" fmla="val 178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89040" y="2377440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8904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89040" y="2907792"/>
            <a:ext cx="204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森ビル様の便益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489040" y="3273552"/>
            <a:ext cx="2046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テナント飲食店の在庫負担軽減と収益性改善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居住者・ワーカーの満足度と定着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商業区画の話題性、レベニューシェア収入</a:t>
            </a:r>
            <a:endParaRPr lang="en-US" sz="1020" dirty="0"/>
          </a:p>
        </p:txBody>
      </p:sp>
      <p:sp>
        <p:nvSpPr>
          <p:cNvPr id="27" name="Shape 24"/>
          <p:cNvSpPr/>
          <p:nvPr/>
        </p:nvSpPr>
        <p:spPr>
          <a:xfrm>
            <a:off x="9066047" y="2157984"/>
            <a:ext cx="2558720" cy="2615184"/>
          </a:xfrm>
          <a:prstGeom prst="roundRect">
            <a:avLst>
              <a:gd name="adj" fmla="val 178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322079" y="2377440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22079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322079" y="2907792"/>
            <a:ext cx="204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当社が持ち込むもの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322079" y="3273552"/>
            <a:ext cx="2046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55年の仕入網と30億円の管理在庫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定温ラストワンマイル配送網 WineGO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6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グランメゾン運営とティエリー・マルクス</a:t>
            </a:r>
            <a:endParaRPr lang="en-US" sz="1020" dirty="0"/>
          </a:p>
        </p:txBody>
      </p:sp>
      <p:sp>
        <p:nvSpPr>
          <p:cNvPr id="32" name="Text 29"/>
          <p:cNvSpPr/>
          <p:nvPr/>
        </p:nvSpPr>
        <p:spPr>
          <a:xfrm>
            <a:off x="566928" y="4992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各プログラムは単独でも成立します。まずは設備投資を伴わないCloud Wine Cave／WineGO／CLUBから、3か月のPoCでご検証いただくご提案です。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535838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本ご提案は「使えるサービス」としてのご提案であり、投資商品・利回りのご案内ではありません。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033272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WHY HILLS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ヒルズには、ワインを必要とする人が三層で密集している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そしてこの三層は、互いに別々の相手ではありません。同じ街で、同じ夜に、同じ一本を必要としています。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81328"/>
            <a:ext cx="3490874" cy="2651760"/>
          </a:xfrm>
          <a:prstGeom prst="roundRect">
            <a:avLst>
              <a:gd name="adj" fmla="val 172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1700784"/>
            <a:ext cx="310896" cy="32004"/>
          </a:xfrm>
          <a:prstGeom prst="rect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847088"/>
            <a:ext cx="29788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2960" y="2176272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ヒルズ内の高級店・グランメゾン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" y="2542032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いま抱えている課題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22960" y="2816352"/>
            <a:ext cx="297881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高額ワインの在庫が資金を拘束する</a:t>
            </a:r>
            <a:endParaRPr lang="en-US" sz="103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セラー設備への投資と保管スペースの限界</a:t>
            </a:r>
            <a:endParaRPr lang="en-US" sz="103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富裕層客の突発的な注文に応えられない</a:t>
            </a:r>
            <a:endParaRPr lang="en-US" sz="1030" dirty="0"/>
          </a:p>
        </p:txBody>
      </p:sp>
      <p:sp>
        <p:nvSpPr>
          <p:cNvPr id="16" name="Shape 13"/>
          <p:cNvSpPr/>
          <p:nvPr/>
        </p:nvSpPr>
        <p:spPr>
          <a:xfrm>
            <a:off x="4350410" y="1481328"/>
            <a:ext cx="3490874" cy="2651760"/>
          </a:xfrm>
          <a:prstGeom prst="roundRect">
            <a:avLst>
              <a:gd name="adj" fmla="val 172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06442" y="1700784"/>
            <a:ext cx="310896" cy="32004"/>
          </a:xfrm>
          <a:prstGeom prst="rect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06442" y="1847088"/>
            <a:ext cx="29788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ヒルズワーカー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606442" y="2176272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オフィス就業者・法人接待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606442" y="2542032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いま抱えている課題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606442" y="2816352"/>
            <a:ext cx="297881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店内価格は市価の2〜3倍。接待費が膨らむ</a:t>
            </a:r>
            <a:endParaRPr lang="en-US" sz="103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急な会食に「格」に見合う一本が出せない</a:t>
            </a:r>
            <a:endParaRPr lang="en-US" sz="103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自分で選ぶ自信がなく、いつも同じ銘柄になる</a:t>
            </a:r>
            <a:endParaRPr lang="en-US" sz="1030" dirty="0"/>
          </a:p>
        </p:txBody>
      </p:sp>
      <p:sp>
        <p:nvSpPr>
          <p:cNvPr id="22" name="Shape 19"/>
          <p:cNvSpPr/>
          <p:nvPr/>
        </p:nvSpPr>
        <p:spPr>
          <a:xfrm>
            <a:off x="8133893" y="1481328"/>
            <a:ext cx="3490874" cy="2651760"/>
          </a:xfrm>
          <a:prstGeom prst="roundRect">
            <a:avLst>
              <a:gd name="adj" fmla="val 172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89925" y="1700784"/>
            <a:ext cx="310896" cy="32004"/>
          </a:xfrm>
          <a:prstGeom prst="rect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89925" y="1847088"/>
            <a:ext cx="29788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レジデンス居住者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389925" y="2176272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住宅棟・サービスアパートメント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89925" y="2542032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いま抱えている課題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389925" y="2816352"/>
            <a:ext cx="297881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自宅セラーはすぐ満杯。保管環境も不安</a:t>
            </a:r>
            <a:endParaRPr lang="en-US" sz="103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どこで買えば間違いないかが分からない</a:t>
            </a:r>
            <a:endParaRPr lang="en-US" sz="103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▪"/>
            </a:pPr>
            <a:r>
              <a:rPr lang="en-US" sz="103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並行品・二次流通品の真贋と来歴が読めない</a:t>
            </a:r>
            <a:endParaRPr lang="en-US" sz="1030" dirty="0"/>
          </a:p>
        </p:txBody>
      </p:sp>
      <p:sp>
        <p:nvSpPr>
          <p:cNvPr id="28" name="Shape 25"/>
          <p:cNvSpPr/>
          <p:nvPr/>
        </p:nvSpPr>
        <p:spPr>
          <a:xfrm>
            <a:off x="566928" y="4334256"/>
            <a:ext cx="11057839" cy="475488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6928" y="4334256"/>
            <a:ext cx="110578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一つの在庫を三層で共有すれば、在庫負担も、価格も、突発対応も、同時に解決できる。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66928" y="4992624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飲食店は在庫を持たない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66928" y="5285232"/>
            <a:ext cx="34908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必要な分だけ卸値で引き出す。資金は寝かせない。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350410" y="4992624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ワーカーは手ぶらで会食へ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350410" y="5285232"/>
            <a:ext cx="34908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提携店へ事前配送、コルケージ無料。店内価格から解放。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133893" y="4992624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居住者は迷わず買える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8133893" y="5285232"/>
            <a:ext cx="34908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正規ルートの一本を、コンシェルジュ経由で自宅セラーへ。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950976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OVERVIEW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提携全体像：Hills Wine Program（6プログラム）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①が土台です。②〜⑥は①の在庫と配送網の上に載ることで、それぞれ単独より強く働きます。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3503066" cy="1737360"/>
          </a:xfrm>
          <a:prstGeom prst="roundRect">
            <a:avLst>
              <a:gd name="adj" fmla="val 2632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1737360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353312" y="1645920"/>
            <a:ext cx="24606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2322576"/>
            <a:ext cx="2991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DE1E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当社の管理在庫を、テナント飲食店・居住者が「自分のセラー」として使える共有セラー。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2871216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飲食店／レジデンス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344314" y="1463040"/>
            <a:ext cx="3503066" cy="1737360"/>
          </a:xfrm>
          <a:prstGeom prst="roundRect">
            <a:avLst>
              <a:gd name="adj" fmla="val 2632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00346" y="1737360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0034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130698" y="1645920"/>
            <a:ext cx="24606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WineGO ヒルズ・デリバリー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600346" y="2322576"/>
            <a:ext cx="2991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街区内ターミナルから定温のまま最短5分。Cloud Wine Caveを成立させる配送網。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00346" y="2871216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飲食店／ワーカー／レジデンス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8121701" y="1463040"/>
            <a:ext cx="3503066" cy="1737360"/>
          </a:xfrm>
          <a:prstGeom prst="roundRect">
            <a:avLst>
              <a:gd name="adj" fmla="val 2632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77733" y="1737360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77733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908085" y="1645920"/>
            <a:ext cx="24606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WineBank CLUB ヒルズ会員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77733" y="2322576"/>
            <a:ext cx="2991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テナント法人・居住者向けの会員枠。飲食20%OFF、コルケージ無料、配送特典。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377733" y="2871216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ワーカー／レジデンス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566928" y="3438144"/>
            <a:ext cx="3503066" cy="1737360"/>
          </a:xfrm>
          <a:prstGeom prst="roundRect">
            <a:avLst>
              <a:gd name="adj" fmla="val 2632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2960" y="3712464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3712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353312" y="3621024"/>
            <a:ext cx="24606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クラウドワインセラー出店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22960" y="4297680"/>
            <a:ext cx="2991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数千本のウォークインセラーを核とした、在庫共有型フードホールを商業区画に。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22960" y="4846320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</a:t>
            </a:r>
            <a:endParaRPr lang="en-US" sz="880" dirty="0"/>
          </a:p>
        </p:txBody>
      </p:sp>
      <p:sp>
        <p:nvSpPr>
          <p:cNvPr id="34" name="Shape 31"/>
          <p:cNvSpPr/>
          <p:nvPr/>
        </p:nvSpPr>
        <p:spPr>
          <a:xfrm>
            <a:off x="4344314" y="3438144"/>
            <a:ext cx="3503066" cy="1737360"/>
          </a:xfrm>
          <a:prstGeom prst="roundRect">
            <a:avLst>
              <a:gd name="adj" fmla="val 2632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00346" y="3712464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00346" y="3712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130698" y="3621024"/>
            <a:ext cx="24606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ティエリー・マルクス業態出店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600346" y="4297680"/>
            <a:ext cx="2991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ミシュラン累計7つ星シェフの日本再進出業態。街区の格とメディア露出を創出。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600346" y="4846320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</a:t>
            </a:r>
            <a:endParaRPr lang="en-US" sz="880" dirty="0"/>
          </a:p>
        </p:txBody>
      </p:sp>
      <p:sp>
        <p:nvSpPr>
          <p:cNvPr id="40" name="Shape 37"/>
          <p:cNvSpPr/>
          <p:nvPr/>
        </p:nvSpPr>
        <p:spPr>
          <a:xfrm>
            <a:off x="8121701" y="3438144"/>
            <a:ext cx="3503066" cy="1737360"/>
          </a:xfrm>
          <a:prstGeom prst="roundRect">
            <a:avLst>
              <a:gd name="adj" fmla="val 2632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377733" y="3712464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377733" y="3712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8908085" y="3621024"/>
            <a:ext cx="24606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ワイン預りサービス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8377733" y="4297680"/>
            <a:ext cx="2991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居住者のご自宅ワインをお預かりし、一覧化して定温保管。必要なときに出庫。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8377733" y="4846320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レジデンス</a:t>
            </a:r>
            <a:endParaRPr lang="en-US" sz="880" dirty="0"/>
          </a:p>
        </p:txBody>
      </p:sp>
      <p:sp>
        <p:nvSpPr>
          <p:cNvPr id="46" name="Text 43"/>
          <p:cNvSpPr/>
          <p:nvPr/>
        </p:nvSpPr>
        <p:spPr>
          <a:xfrm>
            <a:off x="566928" y="535838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段階導入：①②③（設備投資ほぼ不要・3〜4か月で開始可能） → 効果検証のうえ ④⑤（区画を伴う出店）。⑥は③と同時に付帯。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1556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とは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当社が保有・管理する数万本のワイン在庫を、クラウド上の「自分のセラー」として使っていただく仕組みです。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44752"/>
            <a:ext cx="2572436" cy="1005840"/>
          </a:xfrm>
          <a:prstGeom prst="roundRect">
            <a:avLst>
              <a:gd name="adj" fmla="val 4545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554480"/>
            <a:ext cx="2133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30億円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86384" y="1993392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当社の管理ワイン在庫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395396" y="1444752"/>
            <a:ext cx="2572436" cy="1005840"/>
          </a:xfrm>
          <a:prstGeom prst="roundRect">
            <a:avLst>
              <a:gd name="adj" fmla="val 4545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4852" y="1554480"/>
            <a:ext cx="2133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50万本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614852" y="1993392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アクセスできる在庫本数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23864" y="1444752"/>
            <a:ext cx="2572436" cy="1005840"/>
          </a:xfrm>
          <a:prstGeom prst="roundRect">
            <a:avLst>
              <a:gd name="adj" fmla="val 4545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3320" y="1554480"/>
            <a:ext cx="2133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最短5分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43320" y="1993392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街区内ターミナルからの配送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52331" y="1444752"/>
            <a:ext cx="2572436" cy="1005840"/>
          </a:xfrm>
          <a:prstGeom prst="roundRect">
            <a:avLst>
              <a:gd name="adj" fmla="val 4545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71787" y="1554480"/>
            <a:ext cx="2133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0円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271787" y="1993392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利用者が抱える在庫金額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66928" y="2688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66928" y="3017520"/>
            <a:ext cx="2448992" cy="1572768"/>
          </a:xfrm>
          <a:prstGeom prst="roundRect">
            <a:avLst>
              <a:gd name="adj" fmla="val 290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4672" y="3218688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04672" y="3694176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リストから選ぶ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04672" y="3986784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専用アプリ／Webから数万本の在庫を検索。銘柄・ヴィンテージ・価格が一覧で見える。</a:t>
            </a:r>
            <a:endParaRPr lang="en-US" sz="960" dirty="0"/>
          </a:p>
        </p:txBody>
      </p:sp>
      <p:sp>
        <p:nvSpPr>
          <p:cNvPr id="28" name="Shape 25"/>
          <p:cNvSpPr/>
          <p:nvPr/>
        </p:nvSpPr>
        <p:spPr>
          <a:xfrm rot="5400000">
            <a:off x="3107360" y="3712464"/>
            <a:ext cx="237744" cy="219456"/>
          </a:xfrm>
          <a:prstGeom prst="triangl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36544" y="3017520"/>
            <a:ext cx="2448992" cy="1572768"/>
          </a:xfrm>
          <a:prstGeom prst="roundRect">
            <a:avLst>
              <a:gd name="adj" fmla="val 290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674288" y="3218688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674288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3674288" y="3694176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注文する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3674288" y="3986784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在庫は当社が保有。発注の瞬間まで、利用者側に資金負担も保管責任も発生しない。</a:t>
            </a:r>
            <a:endParaRPr lang="en-US" sz="960" dirty="0"/>
          </a:p>
        </p:txBody>
      </p:sp>
      <p:sp>
        <p:nvSpPr>
          <p:cNvPr id="34" name="Shape 31"/>
          <p:cNvSpPr/>
          <p:nvPr/>
        </p:nvSpPr>
        <p:spPr>
          <a:xfrm rot="5400000">
            <a:off x="5976976" y="3712464"/>
            <a:ext cx="237744" cy="219456"/>
          </a:xfrm>
          <a:prstGeom prst="triangl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06160" y="3017520"/>
            <a:ext cx="2448992" cy="1572768"/>
          </a:xfrm>
          <a:prstGeom prst="roundRect">
            <a:avLst>
              <a:gd name="adj" fmla="val 290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43904" y="3218688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543904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543904" y="3694176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定温で届く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543904" y="3986784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街区内のWineGOターミナルから、10〜15℃を保ったまま最短5分でお届け。</a:t>
            </a:r>
            <a:endParaRPr lang="en-US" sz="960" dirty="0"/>
          </a:p>
        </p:txBody>
      </p:sp>
      <p:sp>
        <p:nvSpPr>
          <p:cNvPr id="40" name="Shape 37"/>
          <p:cNvSpPr/>
          <p:nvPr/>
        </p:nvSpPr>
        <p:spPr>
          <a:xfrm rot="5400000">
            <a:off x="8846591" y="3712464"/>
            <a:ext cx="237744" cy="219456"/>
          </a:xfrm>
          <a:prstGeom prst="triangl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175775" y="3017520"/>
            <a:ext cx="2448992" cy="1572768"/>
          </a:xfrm>
          <a:prstGeom prst="roundRect">
            <a:avLst>
              <a:gd name="adj" fmla="val 290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413519" y="3218688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413519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413519" y="3694176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使った分だけ支払う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9413519" y="3986784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月締め請求。売れ残りリスクも、セラー設備への投資も不要。</a:t>
            </a:r>
            <a:endParaRPr lang="en-US" sz="960" dirty="0"/>
          </a:p>
        </p:txBody>
      </p:sp>
      <p:sp>
        <p:nvSpPr>
          <p:cNvPr id="46" name="Shape 43"/>
          <p:cNvSpPr/>
          <p:nvPr/>
        </p:nvSpPr>
        <p:spPr>
          <a:xfrm>
            <a:off x="566928" y="4791456"/>
            <a:ext cx="11057839" cy="475488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66928" y="4791456"/>
            <a:ext cx="110578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「持たずに、使う」。ワインの在庫を、街のインフラとして共有する。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566928" y="543153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当社は「5年以内に100億円相当のワインをクラウドワインリストへ」を掲げています。ヒルズはその最初の街として最適な条件が揃っています。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280160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01-A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for テナント飲食店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高級店ほど、ワイン在庫は重い。その重さを、店から街へ移します。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5373472" cy="3127248"/>
          </a:xfrm>
          <a:prstGeom prst="roundRect">
            <a:avLst>
              <a:gd name="adj" fmla="val 1462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627632"/>
            <a:ext cx="478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いまの高級店のワイン在庫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59536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737360" y="2084832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常時30本（平均3万円）で約90万円が寝る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859536" y="25786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設備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737360" y="2578608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セラー設備の投資と保管スペースの確保</a:t>
            </a:r>
            <a:endParaRPr lang="en-US" sz="1020" dirty="0"/>
          </a:p>
        </p:txBody>
      </p:sp>
      <p:sp>
        <p:nvSpPr>
          <p:cNvPr id="16" name="Text 13"/>
          <p:cNvSpPr/>
          <p:nvPr/>
        </p:nvSpPr>
        <p:spPr>
          <a:xfrm>
            <a:off x="859536" y="30723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737360" y="3072384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売れ残り・破損・劣化はすべて店の負担</a:t>
            </a:r>
            <a:endParaRPr lang="en-US" sz="1020" dirty="0"/>
          </a:p>
        </p:txBody>
      </p:sp>
      <p:sp>
        <p:nvSpPr>
          <p:cNvPr id="18" name="Text 15"/>
          <p:cNvSpPr/>
          <p:nvPr/>
        </p:nvSpPr>
        <p:spPr>
          <a:xfrm>
            <a:off x="859536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品揃え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737360" y="3566160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資金の範囲でしかリストを組めない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859536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突発対応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737360" y="4059936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在庫にない一本は、その場では出せない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251296" y="1463040"/>
            <a:ext cx="5373472" cy="3127248"/>
          </a:xfrm>
          <a:prstGeom prst="roundRect">
            <a:avLst>
              <a:gd name="adj" fmla="val 1462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43904" y="1627632"/>
            <a:ext cx="478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導入後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543904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421728" y="2084832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在庫金額 0円。使った分だけ月締めで支払う</a:t>
            </a:r>
            <a:endParaRPr lang="en-US" sz="1020" dirty="0"/>
          </a:p>
        </p:txBody>
      </p:sp>
      <p:sp>
        <p:nvSpPr>
          <p:cNvPr id="26" name="Text 23"/>
          <p:cNvSpPr/>
          <p:nvPr/>
        </p:nvSpPr>
        <p:spPr>
          <a:xfrm>
            <a:off x="6543904" y="25786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設備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421728" y="2578608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セラー投資は不要。街区内ターミナルが担う</a:t>
            </a:r>
            <a:endParaRPr lang="en-US" sz="1020" dirty="0"/>
          </a:p>
        </p:txBody>
      </p:sp>
      <p:sp>
        <p:nvSpPr>
          <p:cNvPr id="28" name="Text 25"/>
          <p:cNvSpPr/>
          <p:nvPr/>
        </p:nvSpPr>
        <p:spPr>
          <a:xfrm>
            <a:off x="6543904" y="30723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421728" y="3072384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保管・劣化・破損のリスクは当社が保有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6543904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品揃え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421728" y="3566160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数万本のリストがそのまま自店のリストに</a:t>
            </a:r>
            <a:endParaRPr lang="en-US" sz="1020" dirty="0"/>
          </a:p>
        </p:txBody>
      </p:sp>
      <p:sp>
        <p:nvSpPr>
          <p:cNvPr id="32" name="Text 29"/>
          <p:cNvSpPr/>
          <p:nvPr/>
        </p:nvSpPr>
        <p:spPr>
          <a:xfrm>
            <a:off x="6543904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突発対応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421728" y="4059936"/>
            <a:ext cx="391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注文から最短5分。席を立たずに追加できる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566928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価格の考え方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6928" y="5102352"/>
            <a:ext cx="3503066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" y="5193792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テナント飲食店向け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04672" y="5413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卸値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804672" y="5687568"/>
            <a:ext cx="3027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インポーター直の仕入水準。一般の酒販ルートより明確に低い価格帯。</a:t>
            </a:r>
            <a:endParaRPr lang="en-US" sz="880" dirty="0"/>
          </a:p>
        </p:txBody>
      </p:sp>
      <p:sp>
        <p:nvSpPr>
          <p:cNvPr id="39" name="Shape 36"/>
          <p:cNvSpPr/>
          <p:nvPr/>
        </p:nvSpPr>
        <p:spPr>
          <a:xfrm>
            <a:off x="4344314" y="5102352"/>
            <a:ext cx="3503066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82058" y="5193792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森ビル様の便益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582058" y="5413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テナント収益性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4582058" y="5687568"/>
            <a:ext cx="3027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ワイン原価と在庫負担が下がり、店の利益率と賃料負担力が上がる。</a:t>
            </a:r>
            <a:endParaRPr lang="en-US" sz="880" dirty="0"/>
          </a:p>
        </p:txBody>
      </p:sp>
      <p:sp>
        <p:nvSpPr>
          <p:cNvPr id="43" name="Shape 40"/>
          <p:cNvSpPr/>
          <p:nvPr/>
        </p:nvSpPr>
        <p:spPr>
          <a:xfrm>
            <a:off x="8121701" y="5102352"/>
            <a:ext cx="3503066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59445" y="5193792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導入コスト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8359445" y="5413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0円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8359445" y="5687568"/>
            <a:ext cx="3027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初期費用・月額固定費なし。使った分の商品代のみ。</a:t>
            </a:r>
            <a:endParaRPr lang="en-US" sz="8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280160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01-B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for レジデンス居住者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同じ在庫をヒルズレジデンス居住者にも開放するご提案です。価格は飲食店向け卸値の1.1倍を想定。開放の是非は森ビル様とご相談させてください。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5577840" cy="2139696"/>
          </a:xfrm>
          <a:prstGeom prst="roundRect">
            <a:avLst>
              <a:gd name="adj" fmla="val 2137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価格設計：卸値 × 1.1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77824" y="2048256"/>
            <a:ext cx="4956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DE1E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テナント飲食店向けの卸値に対し、居住者向けは1.1倍。飲食店の仕入価格を必ず下回らせない設計とすることで、テナントとの価格逆転を防ぎます。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77824" y="270662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</a:t>
            </a:r>
            <a:endParaRPr lang="en-US" sz="960" dirty="0"/>
          </a:p>
        </p:txBody>
      </p:sp>
      <p:sp>
        <p:nvSpPr>
          <p:cNvPr id="14" name="Text 11"/>
          <p:cNvSpPr/>
          <p:nvPr/>
        </p:nvSpPr>
        <p:spPr>
          <a:xfrm>
            <a:off x="3401568" y="2706624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卸値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877824" y="2926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レジデンス居住者</a:t>
            </a:r>
            <a:endParaRPr lang="en-US" sz="960" dirty="0"/>
          </a:p>
        </p:txBody>
      </p:sp>
      <p:sp>
        <p:nvSpPr>
          <p:cNvPr id="16" name="Text 13"/>
          <p:cNvSpPr/>
          <p:nvPr/>
        </p:nvSpPr>
        <p:spPr>
          <a:xfrm>
            <a:off x="3401568" y="292608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卸値 × 1.1</a:t>
            </a:r>
            <a:endParaRPr lang="en-US" sz="960" dirty="0"/>
          </a:p>
        </p:txBody>
      </p:sp>
      <p:sp>
        <p:nvSpPr>
          <p:cNvPr id="17" name="Text 14"/>
          <p:cNvSpPr/>
          <p:nvPr/>
        </p:nvSpPr>
        <p:spPr>
          <a:xfrm>
            <a:off x="877824" y="31455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一般のネット最安値</a:t>
            </a:r>
            <a:endParaRPr lang="en-US" sz="960" dirty="0"/>
          </a:p>
        </p:txBody>
      </p:sp>
      <p:sp>
        <p:nvSpPr>
          <p:cNvPr id="18" name="Text 15"/>
          <p:cNvSpPr/>
          <p:nvPr/>
        </p:nvSpPr>
        <p:spPr>
          <a:xfrm>
            <a:off x="3401568" y="31455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これを下回る水準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877824" y="3364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レストラン店頭価格</a:t>
            </a:r>
            <a:endParaRPr lang="en-US" sz="960" dirty="0"/>
          </a:p>
        </p:txBody>
      </p:sp>
      <p:sp>
        <p:nvSpPr>
          <p:cNvPr id="20" name="Text 17"/>
          <p:cNvSpPr/>
          <p:nvPr/>
        </p:nvSpPr>
        <p:spPr>
          <a:xfrm>
            <a:off x="3401568" y="336499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市価の2〜3倍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6455664" y="1463040"/>
            <a:ext cx="5169103" cy="1005840"/>
          </a:xfrm>
          <a:prstGeom prst="roundRect">
            <a:avLst>
              <a:gd name="adj" fmla="val 4545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9984" y="1554480"/>
            <a:ext cx="46204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開放するメリット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729984" y="1810512"/>
            <a:ext cx="46204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居住者は市中よりはるかに有利な価格で正規品を購入でき、レジデンスの付加価値が明確になる。単価・頻度ともに高く、街区内の流通額を押し上げる。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455664" y="2596896"/>
            <a:ext cx="5169103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68A6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29984" y="2688336"/>
            <a:ext cx="46204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留意すべき点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729984" y="2944368"/>
            <a:ext cx="46204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テナント飲食店から見た「客が安く買えてしまう」感覚への配慮。および一般消費者向け販売としての数量・提供方法の設計。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66928" y="3803904"/>
            <a:ext cx="11057839" cy="475488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3803904"/>
            <a:ext cx="110578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当社のご提案：まずはWineBank CLUB会員となった居住者に限定して開放し、テナントへの影響を検証したうえで拡大する。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66928" y="4517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段階開放の設計（案）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3503066" cy="1243584"/>
          </a:xfrm>
          <a:prstGeom prst="roundRect">
            <a:avLst>
              <a:gd name="adj" fmla="val 367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" y="4956048"/>
            <a:ext cx="2991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6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22960" y="5193792"/>
            <a:ext cx="2991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CLUB会員限定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822960" y="5468112"/>
            <a:ext cx="29910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会員となった居住者のみ。コンシェルジュ経由の注文に限定し、数量上限を設ける。</a:t>
            </a:r>
            <a:endParaRPr lang="en-US" sz="940" dirty="0"/>
          </a:p>
        </p:txBody>
      </p:sp>
      <p:sp>
        <p:nvSpPr>
          <p:cNvPr id="34" name="Shape 31"/>
          <p:cNvSpPr/>
          <p:nvPr/>
        </p:nvSpPr>
        <p:spPr>
          <a:xfrm>
            <a:off x="4344314" y="4846320"/>
            <a:ext cx="3503066" cy="1243584"/>
          </a:xfrm>
          <a:prstGeom prst="roundRect">
            <a:avLst>
              <a:gd name="adj" fmla="val 367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600346" y="4956048"/>
            <a:ext cx="2991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6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600346" y="5193792"/>
            <a:ext cx="2991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全居住者へ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600346" y="5468112"/>
            <a:ext cx="29910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テナント飲食店への影響を検証したうえで、レジデンス全体へ案内を拡大。</a:t>
            </a:r>
            <a:endParaRPr lang="en-US" sz="940" dirty="0"/>
          </a:p>
        </p:txBody>
      </p:sp>
      <p:sp>
        <p:nvSpPr>
          <p:cNvPr id="38" name="Shape 35"/>
          <p:cNvSpPr/>
          <p:nvPr/>
        </p:nvSpPr>
        <p:spPr>
          <a:xfrm>
            <a:off x="8121701" y="4846320"/>
            <a:ext cx="3503066" cy="1243584"/>
          </a:xfrm>
          <a:prstGeom prst="roundRect">
            <a:avLst>
              <a:gd name="adj" fmla="val 367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377733" y="4956048"/>
            <a:ext cx="2991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6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8377733" y="5193792"/>
            <a:ext cx="2991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贈答・催事へ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8377733" y="5468112"/>
            <a:ext cx="29910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お中元・お歳暮、ホームパーティ、館内イベント向けの一括手配まで拡張。</a:t>
            </a:r>
            <a:endParaRPr lang="en-US" sz="9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1556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WineGO ヒルズ・デリバリー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Caveを成立させるのは、街区内の定温ラストワンマイルです。「今すぐ」に応えられなければ、共有セラーは機能しません。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3108960" cy="1755648"/>
          </a:xfrm>
          <a:prstGeom prst="roundRect">
            <a:avLst>
              <a:gd name="adj" fmla="val 260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160934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一般的な酒類配送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1956816"/>
            <a:ext cx="2596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spcAft>
                <a:spcPts val="5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最短60分〜／常温配送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5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希少銘柄の取扱いなし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5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夜間・突発の依頼に弱い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950208" y="1463040"/>
            <a:ext cx="3108960" cy="1755648"/>
          </a:xfrm>
          <a:prstGeom prst="roundRect">
            <a:avLst>
              <a:gd name="adj" fmla="val 2604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06240" y="160934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WineGO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206240" y="1956816"/>
            <a:ext cx="2596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50"/>
              </a:lnSpc>
              <a:spcAft>
                <a:spcPts val="5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街区内ターミナルから最短5分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5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10〜15℃の定温ラストワンマイル</a:t>
            </a:r>
            <a:endParaRPr lang="en-US" sz="1020" dirty="0"/>
          </a:p>
          <a:p>
            <a:pPr marL="342900" indent="-342900">
              <a:lnSpc>
                <a:spcPts val="1450"/>
              </a:lnSpc>
              <a:spcAft>
                <a:spcPts val="5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希少ヴィンテージ・高級シャンパンを常時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7333488" y="1463040"/>
            <a:ext cx="4291279" cy="3785616"/>
          </a:xfrm>
          <a:prstGeom prst="roundRect">
            <a:avLst>
              <a:gd name="adj" fmla="val 120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6096" y="1627632"/>
            <a:ext cx="3706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ヒルズでの4つの使い方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644384" y="2066544"/>
            <a:ext cx="365760" cy="36576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44384" y="2066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119872" y="2048256"/>
            <a:ext cx="3212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店舗への即時補充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119872" y="2286000"/>
            <a:ext cx="32122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テナント飲食店がCloud Wine Caveから発注。最短5分で厨房へ。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7644384" y="2834640"/>
            <a:ext cx="365760" cy="36576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44384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119872" y="2816352"/>
            <a:ext cx="3212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会食先への事前配送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119872" y="3054096"/>
            <a:ext cx="32122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提携レストランへ事前に届けておき、手ぶらで会食へ。コルケージ無料。</a:t>
            </a:r>
            <a:endParaRPr lang="en-US" sz="960" dirty="0"/>
          </a:p>
        </p:txBody>
      </p:sp>
      <p:sp>
        <p:nvSpPr>
          <p:cNvPr id="26" name="Shape 23"/>
          <p:cNvSpPr/>
          <p:nvPr/>
        </p:nvSpPr>
        <p:spPr>
          <a:xfrm>
            <a:off x="7644384" y="3602736"/>
            <a:ext cx="365760" cy="36576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44384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119872" y="3584448"/>
            <a:ext cx="3212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自宅配送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8119872" y="3822192"/>
            <a:ext cx="32122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居住者がアプリで購入。定温のまま自宅セラーへ。4桁コードで受渡し。</a:t>
            </a:r>
            <a:endParaRPr lang="en-US" sz="960" dirty="0"/>
          </a:p>
        </p:txBody>
      </p:sp>
      <p:sp>
        <p:nvSpPr>
          <p:cNvPr id="30" name="Shape 27"/>
          <p:cNvSpPr/>
          <p:nvPr/>
        </p:nvSpPr>
        <p:spPr>
          <a:xfrm>
            <a:off x="7644384" y="4370832"/>
            <a:ext cx="365760" cy="36576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44384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119872" y="4352544"/>
            <a:ext cx="3212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ターミナル受取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8119872" y="4590288"/>
            <a:ext cx="32122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6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街区内の拠点で好きな時間にピックアップ。帰宅動線で完結。</a:t>
            </a:r>
            <a:endParaRPr lang="en-US" sz="960" dirty="0"/>
          </a:p>
        </p:txBody>
      </p:sp>
      <p:sp>
        <p:nvSpPr>
          <p:cNvPr id="34" name="Shape 31"/>
          <p:cNvSpPr/>
          <p:nvPr/>
        </p:nvSpPr>
        <p:spPr>
          <a:xfrm>
            <a:off x="566928" y="3419856"/>
            <a:ext cx="649224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41248" y="356616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森ビル様にお願いしたいこと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41248" y="3895344"/>
            <a:ext cx="6035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街区内バックヤード等に、小規模ターミナル（2〜5坪）のご提供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配送員の館内動線・荷捌きに関する運用ご調整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テナント飲食店へのご紹介（在庫リスクゼロの共有セラーとして）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5413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ターミナルは定温設備を備えた小規模スペースです。ヒルズ内に1拠点あれば、街区全体をカバーできます。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1556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WineBank CLUB ヒルズ会員プログラム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既存のWineBank CLUBに「ヒルズ枠」を新設。テナント法人の福利厚生と、レジデンス居住者特典として提供します。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6729984" cy="3785616"/>
          </a:xfrm>
          <a:prstGeom prst="roundRect">
            <a:avLst>
              <a:gd name="adj" fmla="val 120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" y="1645920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会員特典（ヒルズ枠・標準セット）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96112" y="2103120"/>
            <a:ext cx="274320" cy="27432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298448" y="206654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グループ飲食店 20%OFF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98448" y="23042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アピシウス、ティエリー・マルクス業態ほか。将来的に100店舗以上へ拡大予定。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96112" y="2706624"/>
            <a:ext cx="274320" cy="27432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112" y="2706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298448" y="267004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コルケージ完全無料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98448" y="290779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提携26店舗へのBYOで抜栓料・持込料ゼロ。重いボトルはWineGOが運ぶ「手ぶらBYO」。</a:t>
            </a:r>
            <a:endParaRPr lang="en-US" sz="940" dirty="0"/>
          </a:p>
        </p:txBody>
      </p:sp>
      <p:sp>
        <p:nvSpPr>
          <p:cNvPr id="20" name="Shape 17"/>
          <p:cNvSpPr/>
          <p:nvPr/>
        </p:nvSpPr>
        <p:spPr>
          <a:xfrm>
            <a:off x="896112" y="3310128"/>
            <a:ext cx="274320" cy="27432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298448" y="3273552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ワイン配送 月3回無料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98448" y="351129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自宅・会食先・贈答先へ。都心はWineGOで当日デリバリー。</a:t>
            </a:r>
            <a:endParaRPr lang="en-US" sz="940" dirty="0"/>
          </a:p>
        </p:txBody>
      </p:sp>
      <p:sp>
        <p:nvSpPr>
          <p:cNvPr id="24" name="Shape 21"/>
          <p:cNvSpPr/>
          <p:nvPr/>
        </p:nvSpPr>
        <p:spPr>
          <a:xfrm>
            <a:off x="896112" y="3913632"/>
            <a:ext cx="274320" cy="27432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298448" y="3877056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の利用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98448" y="4114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居住者は卸値×1.1でご購入。専属コンシェルジュが銘柄選定をお手伝い。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896112" y="4517136"/>
            <a:ext cx="274320" cy="274320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96112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298448" y="448056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ワイン100本お預かり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98448" y="47183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ご自宅に眠るワインを引き取り、撮影・登録のうえ定温保管。</a:t>
            </a:r>
            <a:endParaRPr lang="en-US" sz="940" dirty="0"/>
          </a:p>
        </p:txBody>
      </p:sp>
      <p:sp>
        <p:nvSpPr>
          <p:cNvPr id="32" name="Shape 29"/>
          <p:cNvSpPr/>
          <p:nvPr/>
        </p:nvSpPr>
        <p:spPr>
          <a:xfrm>
            <a:off x="7607808" y="1463040"/>
            <a:ext cx="4016959" cy="1700784"/>
          </a:xfrm>
          <a:prstGeom prst="roundRect">
            <a:avLst>
              <a:gd name="adj" fmla="val 2688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00416" y="1609344"/>
            <a:ext cx="3431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森ビル様の便益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900416" y="1938528"/>
            <a:ext cx="3431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テナント法人への他にない福利厚生メニュー</a:t>
            </a:r>
            <a:endParaRPr lang="en-US" sz="102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レジデンス契約時の付加価値・更新率向上</a:t>
            </a:r>
            <a:endParaRPr lang="en-US" sz="102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Hills Club／アカデミーヒルズ等 既存会員組織との相互送客</a:t>
            </a:r>
            <a:endParaRPr lang="en-US" sz="1020" dirty="0"/>
          </a:p>
        </p:txBody>
      </p:sp>
      <p:sp>
        <p:nvSpPr>
          <p:cNvPr id="35" name="Shape 32"/>
          <p:cNvSpPr/>
          <p:nvPr/>
        </p:nvSpPr>
        <p:spPr>
          <a:xfrm>
            <a:off x="7607808" y="3310128"/>
            <a:ext cx="4016959" cy="1938528"/>
          </a:xfrm>
          <a:prstGeom prst="roundRect">
            <a:avLst>
              <a:gd name="adj" fmla="val 235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00416" y="3456432"/>
            <a:ext cx="3431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提供・課金イメージ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7900416" y="3785616"/>
            <a:ext cx="343174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個人会員：年会費制（通常30万円／年、ヒルズ枠は特別設定）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法人会員：テナント企業単位の包括契約（人数枠課金）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森ビル様には会費のレベニューシェアをお支払い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入会・本人確認・請求は当社が全て運用（森ビル様の実務負荷ゼロ）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566928" y="539496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会員特典の内訳と相当額は Appendix をご参照ください。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1556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クラウドワインセラー出店（商業区画）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『大型ウォークインワインセラーを目玉とした、セラー在庫共有型フードホール』。Cloud Wine Caveを、街の風景として可視化します。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81328"/>
            <a:ext cx="3503066" cy="1591056"/>
          </a:xfrm>
          <a:prstGeom prst="roundRect">
            <a:avLst>
              <a:gd name="adj" fmla="val 287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4672" y="1682496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98448" y="1645920"/>
            <a:ext cx="2533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360度の大型ウォークインセラー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04672" y="2231136"/>
            <a:ext cx="30275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数千本規模のセラーが全区画からの借景となり、他にない空間体験を生む。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344314" y="1481328"/>
            <a:ext cx="3503066" cy="1591056"/>
          </a:xfrm>
          <a:prstGeom prst="roundRect">
            <a:avLst>
              <a:gd name="adj" fmla="val 287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82058" y="1682496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8205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75834" y="1645920"/>
            <a:ext cx="2533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在庫はセラーが持つ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82058" y="2231136"/>
            <a:ext cx="30275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各店は在庫を抱えず、必要な分を卸値〜ネット最安値で即時購入。CFが劇的に改善。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121701" y="1481328"/>
            <a:ext cx="3503066" cy="1591056"/>
          </a:xfrm>
          <a:prstGeom prst="roundRect">
            <a:avLst>
              <a:gd name="adj" fmla="val 287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59445" y="1682496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59445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853221" y="1645920"/>
            <a:ext cx="2533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回遊通路で施設全体へ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359445" y="2231136"/>
            <a:ext cx="30275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セラーを囲む回遊動線が滞在時間を延ばし、隣接区画への送客を生む。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3255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三者にとってのWin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66928" y="3602736"/>
            <a:ext cx="3503066" cy="1645920"/>
          </a:xfrm>
          <a:prstGeom prst="roundRect">
            <a:avLst>
              <a:gd name="adj" fmla="val 277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2960" y="3749040"/>
            <a:ext cx="29910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出店者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22960" y="4078224"/>
            <a:ext cx="299100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卸値〜最安値で即時仕入</a:t>
            </a:r>
            <a:endParaRPr lang="en-US" sz="980" dirty="0"/>
          </a:p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店内在庫・セラー設備が不要</a:t>
            </a:r>
            <a:endParaRPr lang="en-US" sz="980" dirty="0"/>
          </a:p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大型セラーが自店の借景に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4344314" y="3602736"/>
            <a:ext cx="3503066" cy="1645920"/>
          </a:xfrm>
          <a:prstGeom prst="roundRect">
            <a:avLst>
              <a:gd name="adj" fmla="val 2778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00346" y="3749040"/>
            <a:ext cx="29910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商業施設（森ビル様）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600346" y="4078224"/>
            <a:ext cx="299100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前例のない話題性と施設イメージ向上</a:t>
            </a:r>
            <a:endParaRPr lang="en-US" sz="980" dirty="0"/>
          </a:p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出店誘致が容易になり、賃料・保証金の引上げ余地</a:t>
            </a:r>
            <a:endParaRPr lang="en-US" sz="980" dirty="0"/>
          </a:p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施設全体・レジデンスへも卸値供給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8121701" y="3602736"/>
            <a:ext cx="3503066" cy="1645920"/>
          </a:xfrm>
          <a:prstGeom prst="roundRect">
            <a:avLst>
              <a:gd name="adj" fmla="val 277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7733" y="3749040"/>
            <a:ext cx="29910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来館者・居住者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77733" y="4078224"/>
            <a:ext cx="299100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数千本から選べる圧倒的な品揃え</a:t>
            </a:r>
            <a:endParaRPr lang="en-US" sz="980" dirty="0"/>
          </a:p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専門店価格でグラス・ボトルを楽しめる</a:t>
            </a:r>
            <a:endParaRPr lang="en-US" sz="980" dirty="0"/>
          </a:p>
          <a:p>
            <a:pPr marL="342900" indent="-342900">
              <a:lnSpc>
                <a:spcPts val="1350"/>
              </a:lnSpc>
              <a:spcAft>
                <a:spcPts val="3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その場で購入し、自宅へ配送も可能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5394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想定規模：セラー約30坪 ＋ 飲食区画約100坪（日比谷ミッドタウン地下1階フードホール、虎ノ門横丁の客単価・区画割りを参照）。取扱いはワインに限らず酒類全般。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1556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ティエリー・マルクス業態の出店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ミシュラン累計7つ星・レジオン・ドヌール勲章受章のシェフによる日本再進出業態を、ヒルズの商業区画へ。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5413248" cy="4133088"/>
          </a:xfrm>
          <a:prstGeom prst="roundRect">
            <a:avLst>
              <a:gd name="adj" fmla="val 1106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6459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80" kern="0" dirty="0">
                <a:solidFill>
                  <a:srgbClr val="EFD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THIERRY MARX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ミシュラン星請負人。同世代のシェフの中でも最も注目を集める一人。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96112" y="2395728"/>
            <a:ext cx="4754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1999年 ルレ・エ・シャトー「コーディヤン・バージュ」でミシュラン2つ星</a:t>
            </a:r>
            <a:endParaRPr lang="en-US" sz="102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2010年 マンダリン オリエンタル パリでミシュラン2つ星</a:t>
            </a:r>
            <a:endParaRPr lang="en-US" sz="102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2006年 ゴー・エ・ミヨ シェフ・オブ・ザ・イヤー</a:t>
            </a:r>
            <a:endParaRPr lang="en-US" sz="102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2013年 フランス レジオン・ドヌール勲章 受章</a:t>
            </a:r>
            <a:endParaRPr lang="en-US" sz="102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2022年 ミシュランガイド 年間ベストメンター</a:t>
            </a:r>
            <a:endParaRPr lang="en-US" sz="102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2023年 パリ8区サントノーレに「オノール」オープン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896112" y="48646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大手TV局との連携により、開業時の露出を確保。国内外の富裕層・メディアを街区に呼び込みます。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272784" y="1463040"/>
            <a:ext cx="53519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出店フォーマット（ご相談のたたき台）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72784" y="1883664"/>
            <a:ext cx="5351983" cy="731520"/>
          </a:xfrm>
          <a:prstGeom prst="roundRect">
            <a:avLst>
              <a:gd name="adj" fmla="val 625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28816" y="19568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グランメゾン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28816" y="2212848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40〜60席・客単価3〜5万円。街区のフラッグシップとして。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6272784" y="2743200"/>
            <a:ext cx="5351983" cy="731520"/>
          </a:xfrm>
          <a:prstGeom prst="roundRect">
            <a:avLst>
              <a:gd name="adj" fmla="val 625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28816" y="28163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ブラッスリー／ビストロ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528816" y="3072384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60〜90席・客単価1.5〜2万円。ワーカーの日常会食を取り込む。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6272784" y="3602736"/>
            <a:ext cx="5351983" cy="731520"/>
          </a:xfrm>
          <a:prstGeom prst="roundRect">
            <a:avLst>
              <a:gd name="adj" fmla="val 625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28816" y="36758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ベーカリー＆カフェ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528816" y="3931920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20〜40坪。朝夕の生活動線を押さえ、居住者の日常接点に。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272784" y="4498848"/>
            <a:ext cx="5351983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28816" y="4626864"/>
            <a:ext cx="4839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運営体制の裏付け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528816" y="4901184"/>
            <a:ext cx="48399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創業41年のグランメゾン「アピシウス」を2024年6月に100%株式取得。ミシュラン掲載、World of Fine Wine 3つ星を5年連続。グランメゾンを実際に運営している事業者として出店いたします。</a:t>
            </a:r>
            <a:endParaRPr lang="en-US" sz="9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1556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PROGRAM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居住者向け ワイン預りサービス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Caveの逆方向のサービスです。ご自宅のセラーは、いずれ必ず満杯になります。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81328"/>
            <a:ext cx="2545004" cy="2103120"/>
          </a:xfrm>
          <a:prstGeom prst="roundRect">
            <a:avLst>
              <a:gd name="adj" fmla="val 217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1682496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2212848"/>
            <a:ext cx="2032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お引き取り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2578608"/>
            <a:ext cx="20329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現在の保管先・ご自宅へ伺い、全ボトルを回収。ヒルズ館内からの搬出も当社が対応。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3404540" y="1481328"/>
            <a:ext cx="2545004" cy="2103120"/>
          </a:xfrm>
          <a:prstGeom prst="roundRect">
            <a:avLst>
              <a:gd name="adj" fmla="val 217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60572" y="1682496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60572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60572" y="2212848"/>
            <a:ext cx="2032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撮影・登録・一覧化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660572" y="2578608"/>
            <a:ext cx="20329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全ボトルを撮影しリスト化。何を何本持っているかが、アプリでいつでも分かる。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242152" y="1481328"/>
            <a:ext cx="2545004" cy="2103120"/>
          </a:xfrm>
          <a:prstGeom prst="roundRect">
            <a:avLst>
              <a:gd name="adj" fmla="val 217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98184" y="1682496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8184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98184" y="2212848"/>
            <a:ext cx="2032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定温保管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98184" y="2578608"/>
            <a:ext cx="20329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14℃・湿度70%、24時間365日の温度監視。東日本大震災でも破損実績ゼロの専門倉庫。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9079763" y="1481328"/>
            <a:ext cx="2545004" cy="2103120"/>
          </a:xfrm>
          <a:prstGeom prst="roundRect">
            <a:avLst>
              <a:gd name="adj" fmla="val 2174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335795" y="1682496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35795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335795" y="2212848"/>
            <a:ext cx="2032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出庫・ご配送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335795" y="2578608"/>
            <a:ext cx="20329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回数無制限。ご自宅・会食先・贈答先へ。都心はWineGOで当日配送も可能。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566928" y="3785616"/>
            <a:ext cx="5541264" cy="1481328"/>
          </a:xfrm>
          <a:prstGeom prst="roundRect">
            <a:avLst>
              <a:gd name="adj" fmla="val 308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41248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安心の担保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41248" y="4261104"/>
            <a:ext cx="49743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動産保険の付保（事業者責による破損は全額補償）</a:t>
            </a:r>
            <a:endParaRPr lang="en-US" sz="102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正規ルート仕入と真贋保証、プロヴナンス管理</a:t>
            </a:r>
            <a:endParaRPr lang="en-US" sz="102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▪"/>
            </a:pPr>
            <a:r>
              <a:rPr lang="en-US" sz="102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セキュリティ・補助電源完備の専門倉庫（都内2か所）</a:t>
            </a:r>
            <a:endParaRPr lang="en-US" sz="1020" dirty="0"/>
          </a:p>
        </p:txBody>
      </p:sp>
      <p:sp>
        <p:nvSpPr>
          <p:cNvPr id="33" name="Shape 30"/>
          <p:cNvSpPr/>
          <p:nvPr/>
        </p:nvSpPr>
        <p:spPr>
          <a:xfrm>
            <a:off x="6437376" y="3785616"/>
            <a:ext cx="5541264" cy="1481328"/>
          </a:xfrm>
          <a:prstGeom prst="roundRect">
            <a:avLst>
              <a:gd name="adj" fmla="val 3086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11696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レジデンス向けオプション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711696" y="4261104"/>
            <a:ext cx="49743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居住者は100本まで保管料無料枠を付帯（101本目以降 月100円／本）</a:t>
            </a:r>
            <a:endParaRPr lang="en-US" sz="102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住宅棟共用部に「プライベートセラー」を設置し、館内で受渡し</a:t>
            </a:r>
            <a:endParaRPr lang="en-US" sz="102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▪"/>
            </a:pPr>
            <a:r>
              <a:rPr lang="en-US" sz="102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ご入居・ご退去時の一括引取／一括納品にも対応</a:t>
            </a:r>
            <a:endParaRPr lang="en-US" sz="1020" dirty="0"/>
          </a:p>
        </p:txBody>
      </p:sp>
      <p:sp>
        <p:nvSpPr>
          <p:cNvPr id="36" name="Text 33"/>
          <p:cNvSpPr/>
          <p:nvPr/>
        </p:nvSpPr>
        <p:spPr>
          <a:xfrm>
            <a:off x="566928" y="5413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預けたワインはCloud Wine Caveの画面から一元で確認でき、当社の在庫と同じ操作で出庫できます。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97864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97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POSITIONING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「日常で使える」ことが、この提案のすべてです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A HOTELが別荘を「投資」と言わずに売り切ったように、私たちも会員権を「使えるもの」として提案します。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517904"/>
            <a:ext cx="6035040" cy="3749040"/>
          </a:xfrm>
          <a:prstGeom prst="rect">
            <a:avLst/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6928" y="3392424"/>
            <a:ext cx="6035040" cy="0"/>
          </a:xfrm>
          <a:prstGeom prst="line">
            <a:avLst/>
          </a:prstGeom>
          <a:noFill/>
          <a:ln w="12700">
            <a:solidFill>
              <a:srgbClr val="CDD1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84448" y="1517904"/>
            <a:ext cx="0" cy="3749040"/>
          </a:xfrm>
          <a:prstGeom prst="line">
            <a:avLst/>
          </a:prstGeom>
          <a:noFill/>
          <a:ln w="12700">
            <a:solidFill>
              <a:srgbClr val="CDD1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162763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非日常（年に数回）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712464" y="162763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日常（毎週）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94944" y="495604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使うと、消える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94944" y="1920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使わなければ、手元に残る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572768" y="2450592"/>
            <a:ext cx="1155802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DD1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572768" y="2450592"/>
            <a:ext cx="11558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高級時計・アート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1572768" y="2999232"/>
            <a:ext cx="875995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DD1D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72768" y="2999232"/>
            <a:ext cx="8759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A HOTEL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389888" y="4133088"/>
            <a:ext cx="1479499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DD1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89888" y="4133088"/>
            <a:ext cx="1479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リゾート・ゴルフ会員権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041648" y="4352544"/>
            <a:ext cx="1479499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DD1D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041648" y="4352544"/>
            <a:ext cx="1479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レストラン接待（現状）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005072" y="2615184"/>
            <a:ext cx="2468880" cy="566928"/>
          </a:xfrm>
          <a:prstGeom prst="roundRect">
            <a:avLst>
              <a:gd name="adj" fmla="val 8065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005072" y="26151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WineBank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ヒルズ会員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022592" y="1517904"/>
            <a:ext cx="4602175" cy="1152144"/>
          </a:xfrm>
          <a:prstGeom prst="roundRect">
            <a:avLst>
              <a:gd name="adj" fmla="val 3968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78624" y="1719072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78624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790688" y="1700784"/>
            <a:ext cx="35780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会食のたびに、得をする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7278624" y="2176272"/>
            <a:ext cx="40901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コルケージ無料と卸値仕入。市価の2〜3倍を払う店内価格から解放されます。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7022592" y="2816352"/>
            <a:ext cx="4602175" cy="1152144"/>
          </a:xfrm>
          <a:prstGeom prst="roundRect">
            <a:avLst>
              <a:gd name="adj" fmla="val 396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278624" y="3017520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278624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790688" y="2999232"/>
            <a:ext cx="35780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飲まなければ、手元に残る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7278624" y="3474720"/>
            <a:ext cx="40901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使わなかった分は現物のワインとして定温倉庫に残り、いつでも出庫・贈答できます。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7022592" y="4114800"/>
            <a:ext cx="4602175" cy="1152144"/>
          </a:xfrm>
          <a:prstGeom prst="roundRect">
            <a:avLst>
              <a:gd name="adj" fmla="val 396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78624" y="4315968"/>
            <a:ext cx="402336" cy="402336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7862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790688" y="4297680"/>
            <a:ext cx="35780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世界観が先、価格が後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78624" y="4773168"/>
            <a:ext cx="40901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セラーと名店の体験を先に見ていただく。会員権は、その体験への入口として提示します。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7022592" y="5431536"/>
            <a:ext cx="4602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NOT A HOTELの事例は同社公表資料に基づく当社整理です。</a:t>
            </a:r>
            <a:endParaRPr lang="en-US" sz="8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70408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704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VALUE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森ビル様にとっての価値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単発のテナント誘致ではなく、街区の「体験の質」と「収益源」を同時に増やすご提案です。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5382616" cy="1719072"/>
          </a:xfrm>
          <a:prstGeom prst="roundRect">
            <a:avLst>
              <a:gd name="adj" fmla="val 266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645920"/>
            <a:ext cx="479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テナント飲食店の収益性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59536" y="1993392"/>
            <a:ext cx="479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ワイン在庫の資金拘束とセラー投資が消え、原価が下がります。店の利益率が上がることは、賃料負担力に直結します。</a:t>
            </a:r>
            <a:endParaRPr lang="en-US" sz="1060" dirty="0"/>
          </a:p>
        </p:txBody>
      </p:sp>
      <p:sp>
        <p:nvSpPr>
          <p:cNvPr id="13" name="Text 10"/>
          <p:cNvSpPr/>
          <p:nvPr/>
        </p:nvSpPr>
        <p:spPr>
          <a:xfrm>
            <a:off x="859536" y="2779776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主要KPI：テナント売上／退店率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242152" y="1463040"/>
            <a:ext cx="5382616" cy="1719072"/>
          </a:xfrm>
          <a:prstGeom prst="roundRect">
            <a:avLst>
              <a:gd name="adj" fmla="val 266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34760" y="1645920"/>
            <a:ext cx="479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ワーカー・居住者の満足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34760" y="1993392"/>
            <a:ext cx="479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接待コストの実質削減と、居住者の生活の質。数字で語れる福利厚生であり、更新・定着の理由になります。</a:t>
            </a:r>
            <a:endParaRPr lang="en-US" sz="1060" dirty="0"/>
          </a:p>
        </p:txBody>
      </p:sp>
      <p:sp>
        <p:nvSpPr>
          <p:cNvPr id="17" name="Text 14"/>
          <p:cNvSpPr/>
          <p:nvPr/>
        </p:nvSpPr>
        <p:spPr>
          <a:xfrm>
            <a:off x="6534760" y="2779776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主要KPI：会員加入率／契約更新率</a:t>
            </a:r>
            <a:endParaRPr lang="en-US" sz="960" dirty="0"/>
          </a:p>
        </p:txBody>
      </p:sp>
      <p:sp>
        <p:nvSpPr>
          <p:cNvPr id="18" name="Shape 15"/>
          <p:cNvSpPr/>
          <p:nvPr/>
        </p:nvSpPr>
        <p:spPr>
          <a:xfrm>
            <a:off x="566928" y="3419856"/>
            <a:ext cx="5382616" cy="1719072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9536" y="3602736"/>
            <a:ext cx="479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街のブランドと話題性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59536" y="3950208"/>
            <a:ext cx="479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数千本のウォークインセラーとミシュランシェフ。国内外のメディア露出と、海外富裕層の来街動機をつくります。</a:t>
            </a:r>
            <a:endParaRPr lang="en-US" sz="1060" dirty="0"/>
          </a:p>
        </p:txBody>
      </p:sp>
      <p:sp>
        <p:nvSpPr>
          <p:cNvPr id="21" name="Text 18"/>
          <p:cNvSpPr/>
          <p:nvPr/>
        </p:nvSpPr>
        <p:spPr>
          <a:xfrm>
            <a:off x="859536" y="4736592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主要KPI：メディア露出／来館者数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6242152" y="3419856"/>
            <a:ext cx="5382616" cy="1719072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4760" y="3602736"/>
            <a:ext cx="479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新規収益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534760" y="3950208"/>
            <a:ext cx="479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会費・売上のレベニューシェア、賃料＋歩合、送客手数料。森ビル様の追加投資を伴わない収益源です。</a:t>
            </a:r>
            <a:endParaRPr lang="en-US" sz="1060" dirty="0"/>
          </a:p>
        </p:txBody>
      </p:sp>
      <p:sp>
        <p:nvSpPr>
          <p:cNvPr id="25" name="Text 22"/>
          <p:cNvSpPr/>
          <p:nvPr/>
        </p:nvSpPr>
        <p:spPr>
          <a:xfrm>
            <a:off x="6534760" y="4736592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主要KPI：レベニューシェア収入</a:t>
            </a:r>
            <a:endParaRPr lang="en-US" sz="960" dirty="0"/>
          </a:p>
        </p:txBody>
      </p:sp>
      <p:sp>
        <p:nvSpPr>
          <p:cNvPr id="26" name="Shape 23"/>
          <p:cNvSpPr/>
          <p:nvPr/>
        </p:nvSpPr>
        <p:spPr>
          <a:xfrm>
            <a:off x="566928" y="5193792"/>
            <a:ext cx="11057839" cy="45720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519379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森ビル様に新たな設備投資・人員配置をお願いしない設計。運営・与信・在庫リスクは当社が保有します。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786384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SCHEME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提携スキームと収益設計（たたき台）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プログラムごとに役割と分配を切り分け、導入しやすいものから順に着手できる構成としています。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1920240"/>
                <a:gridCol w="2377440"/>
                <a:gridCol w="2377440"/>
                <a:gridCol w="2130552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プログラム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収益源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森ビル様の関与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当社の関与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分配イメージ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01 Cloud Wine Cave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ワイン卸売上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テナント飲食店・居住者へのご紹介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在庫保有・与信・システム・CS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流通額に対するレベニューシェア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02 WineGO デリバリー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配送料・ワイン販売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ターミナル区画（2〜5坪）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在庫・配送員・システム一式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区画賃料 ＋ 売上歩合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03 WineBank CLUB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年会費・購入手数料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テナント・居住者への告知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会員運用・請求・特典提供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会費のレベニューシェア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04 クラウドワインセラー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飲食売上・卸売上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商業区画の割当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セラー投資・運営・出店者募集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賃料 ＋ 売上歩合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05 ティエリー・マルクス業態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飲食売上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商業区画の割当・共同PR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シェフ招聘・店舗運営一切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賃料 ＋ 売上歩合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06 ワイン預りサービス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保管料・出庫料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居住者への案内・受渡し協力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引取・撮影・保管・保険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保管料のレベニューシェア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1463040"/>
            <a:ext cx="11055096" cy="438912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" y="1463040"/>
            <a:ext cx="2029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926080" y="1463040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収益源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846320" y="1463040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森ビル様の関与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223760" y="1463040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当社の関与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9601200" y="1463040"/>
            <a:ext cx="1911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分配イメージ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66928" y="4974336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分配率・賃料条件は個別協議のうえ決定させていただきたく存じます。上表は議論の出発点としての整理です。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5321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段階導入の考え方：まずは①②③（設備投資ほぼ不要・3〜4か月で開始可能） → 効果検証のうえ ④⑤（区画を伴う出店） → ⑥は③と同時に付帯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786384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SIZING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事業規模イメージ（当社試算）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森ビル様と共有すべき前提を明示したうえでの試算です。数値は今後のすり合わせで更新させていただきます。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66928" y="1463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導入店舗数（店）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75488" y="1773936"/>
          <a:ext cx="374904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4535424" y="1463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年間流通総額の想定（百万円）</a:t>
            </a:r>
            <a:endParaRPr lang="en-US" sz="13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4443984" y="1773936"/>
          <a:ext cx="39319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8668512" y="1463040"/>
            <a:ext cx="2956255" cy="3749040"/>
          </a:xfrm>
          <a:prstGeom prst="roundRect">
            <a:avLst>
              <a:gd name="adj" fmla="val 154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942832" y="1627632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試算の前提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942832" y="1975104"/>
            <a:ext cx="240761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▪"/>
            </a:pPr>
            <a:r>
              <a:rPr lang="en-US" sz="9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対象：主要ヒルズのテナント飲食店、オフィスワーカー、レジデンス居住者（規模は森ビル様公表値をもとに要確認）</a:t>
            </a:r>
            <a:endParaRPr lang="en-US" sz="96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▪"/>
            </a:pPr>
            <a:r>
              <a:rPr lang="en-US" sz="9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Cave：1店あたり月商 80〜120万円を想定</a:t>
            </a:r>
            <a:endParaRPr lang="en-US" sz="96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▪"/>
            </a:pPr>
            <a:r>
              <a:rPr lang="en-US" sz="9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CLUB会員：Y1 200名 → Y3 1,000名、ARPU 年35万円</a:t>
            </a:r>
            <a:endParaRPr lang="en-US" sz="96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▪"/>
            </a:pPr>
            <a:r>
              <a:rPr lang="en-US" sz="9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クラウドワインセラー：Y2開業、年商4.0〜4.5億円</a:t>
            </a:r>
            <a:endParaRPr lang="en-US" sz="96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▪"/>
            </a:pPr>
            <a:r>
              <a:rPr lang="en-US" sz="9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レストラン業態：Y3開業、年商6.0億円</a:t>
            </a:r>
            <a:endParaRPr lang="en-US" sz="96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▪"/>
            </a:pPr>
            <a:r>
              <a:rPr lang="en-US" sz="96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森ビル様配分：流通総額の概ね10%前後（賃料・歩合・RS合算）</a:t>
            </a:r>
            <a:endParaRPr lang="en-US" sz="960" dirty="0"/>
          </a:p>
        </p:txBody>
      </p:sp>
      <p:sp>
        <p:nvSpPr>
          <p:cNvPr id="17" name="Shape 12"/>
          <p:cNvSpPr/>
          <p:nvPr/>
        </p:nvSpPr>
        <p:spPr>
          <a:xfrm>
            <a:off x="512064" y="4590288"/>
            <a:ext cx="2474976" cy="713232"/>
          </a:xfrm>
          <a:prstGeom prst="roundRect">
            <a:avLst>
              <a:gd name="adj" fmla="val 6410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13232" y="4663440"/>
            <a:ext cx="207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35店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713232" y="4992624"/>
            <a:ext cx="207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Year 3 導入店舗数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3206496" y="4590288"/>
            <a:ext cx="2474976" cy="713232"/>
          </a:xfrm>
          <a:prstGeom prst="roundRect">
            <a:avLst>
              <a:gd name="adj" fmla="val 6410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407664" y="4663440"/>
            <a:ext cx="207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14.8億円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3407664" y="4992624"/>
            <a:ext cx="207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Year 3 年間流通総額</a:t>
            </a:r>
            <a:endParaRPr lang="en-US" sz="860" dirty="0"/>
          </a:p>
        </p:txBody>
      </p:sp>
      <p:sp>
        <p:nvSpPr>
          <p:cNvPr id="23" name="Shape 18"/>
          <p:cNvSpPr/>
          <p:nvPr/>
        </p:nvSpPr>
        <p:spPr>
          <a:xfrm>
            <a:off x="5900928" y="4590288"/>
            <a:ext cx="2474976" cy="713232"/>
          </a:xfrm>
          <a:prstGeom prst="roundRect">
            <a:avLst>
              <a:gd name="adj" fmla="val 6410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02096" y="4663440"/>
            <a:ext cx="207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約1.5億円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6102096" y="4992624"/>
            <a:ext cx="207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うち森ビル様配分（イメージ）</a:t>
            </a:r>
            <a:endParaRPr lang="en-US" sz="860" dirty="0"/>
          </a:p>
        </p:txBody>
      </p:sp>
      <p:sp>
        <p:nvSpPr>
          <p:cNvPr id="26" name="Text 21"/>
          <p:cNvSpPr/>
          <p:nvPr/>
        </p:nvSpPr>
        <p:spPr>
          <a:xfrm>
            <a:off x="566928" y="5431536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上記は当社による試算であり、確定的な見通しではありません。母集団・転換率は森ビル様のデータをいただいたうえで精緻化させていただきます。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868680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ROADMAP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導入ロードマップ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設備投資を伴わないプログラムから開始し、効果を確認しながら区画を伴う出店へ進みます。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536192"/>
            <a:ext cx="2558720" cy="3072384"/>
          </a:xfrm>
          <a:prstGeom prst="roundRect">
            <a:avLst>
              <a:gd name="adj" fmla="val 178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248" y="1755648"/>
            <a:ext cx="201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" y="2048256"/>
            <a:ext cx="201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実証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41248" y="2615184"/>
            <a:ext cx="2010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1棟でのPoC実施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テナント飲食店5店でCloud Wine Cave試験導入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WineGO 館内配送テスト</a:t>
            </a:r>
            <a:endParaRPr lang="en-US" sz="1040" dirty="0"/>
          </a:p>
        </p:txBody>
      </p:sp>
      <p:sp>
        <p:nvSpPr>
          <p:cNvPr id="14" name="Shape 11"/>
          <p:cNvSpPr/>
          <p:nvPr/>
        </p:nvSpPr>
        <p:spPr>
          <a:xfrm>
            <a:off x="3399968" y="1536192"/>
            <a:ext cx="2558720" cy="3072384"/>
          </a:xfrm>
          <a:prstGeom prst="roundRect">
            <a:avLst>
              <a:gd name="adj" fmla="val 1787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74288" y="1755648"/>
            <a:ext cx="201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74288" y="2048256"/>
            <a:ext cx="201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本格展開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674288" y="2615184"/>
            <a:ext cx="2010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主要ヒルズへCloud Wine Cave展開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CLUBヒルズ枠の募集開始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レジデンス開放の是非を判断</a:t>
            </a:r>
            <a:endParaRPr lang="en-US" sz="1040" dirty="0"/>
          </a:p>
        </p:txBody>
      </p:sp>
      <p:sp>
        <p:nvSpPr>
          <p:cNvPr id="18" name="Shape 15"/>
          <p:cNvSpPr/>
          <p:nvPr/>
        </p:nvSpPr>
        <p:spPr>
          <a:xfrm>
            <a:off x="6233008" y="1536192"/>
            <a:ext cx="2558720" cy="3072384"/>
          </a:xfrm>
          <a:prstGeom prst="roundRect">
            <a:avLst>
              <a:gd name="adj" fmla="val 1787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07328" y="1755648"/>
            <a:ext cx="201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07328" y="2048256"/>
            <a:ext cx="201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区画出店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507328" y="2615184"/>
            <a:ext cx="2010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クラウドワインセラー区画の設計・工事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出店者募集とセラー在庫の構築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施設内テナントへの卸売拡大</a:t>
            </a:r>
            <a:endParaRPr lang="en-US" sz="1040" dirty="0"/>
          </a:p>
        </p:txBody>
      </p:sp>
      <p:sp>
        <p:nvSpPr>
          <p:cNvPr id="22" name="Shape 19"/>
          <p:cNvSpPr/>
          <p:nvPr/>
        </p:nvSpPr>
        <p:spPr>
          <a:xfrm>
            <a:off x="9066047" y="1536192"/>
            <a:ext cx="2558720" cy="3072384"/>
          </a:xfrm>
          <a:prstGeom prst="roundRect">
            <a:avLst>
              <a:gd name="adj" fmla="val 1787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40367" y="1755648"/>
            <a:ext cx="201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340367" y="2048256"/>
            <a:ext cx="201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街区の象徴へ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340367" y="2615184"/>
            <a:ext cx="2010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ティエリー・マルクス業態の出店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他ヒルズ・海外物件への横展開</a:t>
            </a:r>
            <a:endParaRPr lang="en-US" sz="104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</a:pPr>
            <a:r>
              <a:rPr lang="en-US" sz="104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国内外富裕層向けプログラム化</a:t>
            </a:r>
            <a:endParaRPr lang="en-US" sz="1040" dirty="0"/>
          </a:p>
        </p:txBody>
      </p:sp>
      <p:sp>
        <p:nvSpPr>
          <p:cNvPr id="26" name="Text 23"/>
          <p:cNvSpPr/>
          <p:nvPr/>
        </p:nvSpPr>
        <p:spPr>
          <a:xfrm>
            <a:off x="566928" y="4718304"/>
            <a:ext cx="255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399968" y="4718304"/>
            <a:ext cx="255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3〜12か月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233008" y="4718304"/>
            <a:ext cx="255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12〜24か月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066047" y="4718304"/>
            <a:ext cx="255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24か月〜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66928" y="523036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最短ケースでは、ご合意から約3か月でPHASE 0を開始できます（酒販免許・保管倉庫・配送体制・在庫は当社既存アセットを使用するため）。</a:t>
            </a:r>
            <a:endParaRPr lang="en-US" sz="10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1115568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FIRST STEP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まずは1棟で。3か月のPoCをご提案します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大きな意思決定の前に、小さく確かめる。費用は当社が負担いたします。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81328"/>
            <a:ext cx="3273552" cy="3877056"/>
          </a:xfrm>
          <a:prstGeom prst="roundRect">
            <a:avLst>
              <a:gd name="adj" fmla="val 1397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PoC の概要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59536" y="20665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</a:t>
            </a:r>
            <a:endParaRPr lang="en-US" sz="960" dirty="0"/>
          </a:p>
        </p:txBody>
      </p:sp>
      <p:sp>
        <p:nvSpPr>
          <p:cNvPr id="13" name="Text 10"/>
          <p:cNvSpPr/>
          <p:nvPr/>
        </p:nvSpPr>
        <p:spPr>
          <a:xfrm>
            <a:off x="859536" y="228600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麻布台ヒルズ または 六本木ヒルズ 1棟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59536" y="28712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859536" y="30906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59536" y="36758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対象者</a:t>
            </a:r>
            <a:endParaRPr lang="en-US" sz="960" dirty="0"/>
          </a:p>
        </p:txBody>
      </p:sp>
      <p:sp>
        <p:nvSpPr>
          <p:cNvPr id="17" name="Text 14"/>
          <p:cNvSpPr/>
          <p:nvPr/>
        </p:nvSpPr>
        <p:spPr>
          <a:xfrm>
            <a:off x="859536" y="389534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テナント飲食店5店／レジデンス居住者50世帯程度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59536" y="44805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859536" y="470001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当社全額負担（森ビル様のご負担なし）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169664" y="1481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実施内容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169664" y="1865376"/>
            <a:ext cx="4005072" cy="1060704"/>
          </a:xfrm>
          <a:prstGeom prst="roundRect">
            <a:avLst>
              <a:gd name="adj" fmla="val 431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389120" y="2048256"/>
            <a:ext cx="384048" cy="384048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891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882896" y="204825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Wine Cave の試験導入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425696" y="2395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テナント飲食店5店にリストとアプリを提供。発注から着荷までの実運用を検証。</a:t>
            </a:r>
            <a:endParaRPr lang="en-US" sz="940" dirty="0"/>
          </a:p>
        </p:txBody>
      </p:sp>
      <p:sp>
        <p:nvSpPr>
          <p:cNvPr id="26" name="Shape 23"/>
          <p:cNvSpPr/>
          <p:nvPr/>
        </p:nvSpPr>
        <p:spPr>
          <a:xfrm>
            <a:off x="4169664" y="3054096"/>
            <a:ext cx="4005072" cy="1060704"/>
          </a:xfrm>
          <a:prstGeom prst="roundRect">
            <a:avLst>
              <a:gd name="adj" fmla="val 431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89120" y="3236976"/>
            <a:ext cx="384048" cy="384048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38912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882896" y="323697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館内デリバリーの実証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4425696" y="3584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バックヤードに仮設ターミナルを設置し、定温配送のリードタイムと運用負荷を計測。</a:t>
            </a:r>
            <a:endParaRPr lang="en-US" sz="940" dirty="0"/>
          </a:p>
        </p:txBody>
      </p:sp>
      <p:sp>
        <p:nvSpPr>
          <p:cNvPr id="31" name="Shape 28"/>
          <p:cNvSpPr/>
          <p:nvPr/>
        </p:nvSpPr>
        <p:spPr>
          <a:xfrm>
            <a:off x="4169664" y="4242816"/>
            <a:ext cx="4005072" cy="1060704"/>
          </a:xfrm>
          <a:prstGeom prst="roundRect">
            <a:avLst>
              <a:gd name="adj" fmla="val 4310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89120" y="4425696"/>
            <a:ext cx="384048" cy="384048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8912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82896" y="44256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居住者向け先行案内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4425696" y="4773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CLUB会員となった居住者に卸値×1.1で開放し、需要と単価を確認。</a:t>
            </a:r>
            <a:endParaRPr lang="en-US" sz="940" dirty="0"/>
          </a:p>
        </p:txBody>
      </p:sp>
      <p:sp>
        <p:nvSpPr>
          <p:cNvPr id="36" name="Shape 33"/>
          <p:cNvSpPr/>
          <p:nvPr/>
        </p:nvSpPr>
        <p:spPr>
          <a:xfrm>
            <a:off x="8503920" y="1481328"/>
            <a:ext cx="3120847" cy="1865376"/>
          </a:xfrm>
          <a:prstGeom prst="roundRect">
            <a:avLst>
              <a:gd name="adj" fmla="val 2451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778240" y="1627632"/>
            <a:ext cx="25722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成功基準（案）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8778240" y="1956816"/>
            <a:ext cx="2572207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導入店の継続利用意向 80%以上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1店あたり月10本以上の発注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館内配送の平均リードタイム10分以内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重大な運用インシデント ゼロ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503920" y="3493008"/>
            <a:ext cx="3120847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DDE0E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778240" y="3639312"/>
            <a:ext cx="25722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お願いしたいご協力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8778240" y="3968496"/>
            <a:ext cx="2572207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対象テナント・居住者へのご案内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仮設ターミナル用スペース（2〜3坪）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館内動線・搬入に関する運用ご調整</a:t>
            </a:r>
            <a:endParaRPr lang="en-US" sz="100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実施後の効果検証への同席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621792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RISK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品質・リスク管理とコンプライアンス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高額かつ繊細な商材を街区で扱うにあたり、当社が負う責任と管理体制を明確にしています。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5391760" cy="1170432"/>
          </a:xfrm>
          <a:prstGeom prst="roundRect">
            <a:avLst>
              <a:gd name="adj" fmla="val 390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偽造・真贋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96896" y="1627632"/>
            <a:ext cx="310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並行品・二次流通品に潜む真贋リスク</a:t>
            </a:r>
            <a:endParaRPr lang="en-US" sz="940" dirty="0"/>
          </a:p>
        </p:txBody>
      </p:sp>
      <p:sp>
        <p:nvSpPr>
          <p:cNvPr id="13" name="Text 10"/>
          <p:cNvSpPr/>
          <p:nvPr/>
        </p:nvSpPr>
        <p:spPr>
          <a:xfrm>
            <a:off x="822960" y="1938528"/>
            <a:ext cx="48796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国内外の正規取扱業者からのみ仕入れ。国家ソムリエ資格保持者による選定と、全ボトルのプロヴナンス管理。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6233008" y="1463040"/>
            <a:ext cx="5391760" cy="1170432"/>
          </a:xfrm>
          <a:prstGeom prst="roundRect">
            <a:avLst>
              <a:gd name="adj" fmla="val 390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89040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品質劣化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62976" y="1627632"/>
            <a:ext cx="310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輸送・保管中の温度変化による品質毀損</a:t>
            </a:r>
            <a:endParaRPr lang="en-US" sz="940" dirty="0"/>
          </a:p>
        </p:txBody>
      </p:sp>
      <p:sp>
        <p:nvSpPr>
          <p:cNvPr id="17" name="Text 14"/>
          <p:cNvSpPr/>
          <p:nvPr/>
        </p:nvSpPr>
        <p:spPr>
          <a:xfrm>
            <a:off x="6489040" y="1938528"/>
            <a:ext cx="48796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14℃・湿度70%での定温定湿保管、24時間365日の温度監視。配送も高級ワインに適した定温帯で実施。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566928" y="2834640"/>
            <a:ext cx="5391760" cy="1170432"/>
          </a:xfrm>
          <a:prstGeom prst="roundRect">
            <a:avLst>
              <a:gd name="adj" fmla="val 390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29809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破損・紛失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596896" y="2999232"/>
            <a:ext cx="310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保管中・配送中の事故</a:t>
            </a:r>
            <a:endParaRPr lang="en-US" sz="940" dirty="0"/>
          </a:p>
        </p:txBody>
      </p:sp>
      <p:sp>
        <p:nvSpPr>
          <p:cNvPr id="21" name="Text 18"/>
          <p:cNvSpPr/>
          <p:nvPr/>
        </p:nvSpPr>
        <p:spPr>
          <a:xfrm>
            <a:off x="822960" y="3310128"/>
            <a:ext cx="48796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動産保険を付保し、事業者責による破損は全額補償。委託倉庫は東日本大震災でも破損実績ゼロ、補助電源完備。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6233008" y="2834640"/>
            <a:ext cx="5391760" cy="1170432"/>
          </a:xfrm>
          <a:prstGeom prst="roundRect">
            <a:avLst>
              <a:gd name="adj" fmla="val 390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89040" y="29809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法令遵守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62976" y="2999232"/>
            <a:ext cx="310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酒類販売業免許、未成年者飲酒防止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6489040" y="3310128"/>
            <a:ext cx="48796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当社が免許主体となり販売・配送を実施。年齢確認を配送時に徹底。広告表現は事前に法務レビューを実施。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566928" y="4206240"/>
            <a:ext cx="5391760" cy="1170432"/>
          </a:xfrm>
          <a:prstGeom prst="roundRect">
            <a:avLst>
              <a:gd name="adj" fmla="val 390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2960" y="43525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テナント配慮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2596896" y="4370832"/>
            <a:ext cx="310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居住者向け開放による価格関係の影響</a:t>
            </a:r>
            <a:endParaRPr lang="en-US" sz="940" dirty="0"/>
          </a:p>
        </p:txBody>
      </p:sp>
      <p:sp>
        <p:nvSpPr>
          <p:cNvPr id="29" name="Text 26"/>
          <p:cNvSpPr/>
          <p:nvPr/>
        </p:nvSpPr>
        <p:spPr>
          <a:xfrm>
            <a:off x="822960" y="4681728"/>
            <a:ext cx="48796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居住者価格は飲食店向け卸値を下回らせない設計。段階開放とし、影響を検証しながら拡大します。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6233008" y="4206240"/>
            <a:ext cx="5391760" cy="1170432"/>
          </a:xfrm>
          <a:prstGeom prst="roundRect">
            <a:avLst>
              <a:gd name="adj" fmla="val 390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89040" y="43525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262976" y="4370832"/>
            <a:ext cx="310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テナント・居住者情報の取扱い</a:t>
            </a:r>
            <a:endParaRPr lang="en-US" sz="940" dirty="0"/>
          </a:p>
        </p:txBody>
      </p:sp>
      <p:sp>
        <p:nvSpPr>
          <p:cNvPr id="33" name="Text 30"/>
          <p:cNvSpPr/>
          <p:nvPr/>
        </p:nvSpPr>
        <p:spPr>
          <a:xfrm>
            <a:off x="6489040" y="4681728"/>
            <a:ext cx="48796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会員情報は当社が管理主体となり、森ビル様からの個人情報のご提供を前提としない設計（申込は本人から直接）。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566928" y="5577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在庫・与信・配送・保管に関わるリスクは、原則としてすべて当社が保有します。</a:t>
            </a:r>
            <a:endParaRPr lang="en-US" sz="10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109728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ヒルズに、街の共有セラーを。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66928" y="1938528"/>
            <a:ext cx="1188720" cy="41148"/>
          </a:xfrm>
          <a:prstGeom prst="rect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2139696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4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ワインを必要とする人が最も密度高く集まる街に、その在庫を置く。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4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私たちは在庫も、仕入網も、シェフも、配送網も、すでに持っています。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66928" y="3200400"/>
            <a:ext cx="3490874" cy="1700784"/>
          </a:xfrm>
          <a:prstGeom prst="roundRect">
            <a:avLst>
              <a:gd name="adj" fmla="val 268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41248" y="3419856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3419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371600" y="3401568"/>
            <a:ext cx="24301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すぐ始められる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41248" y="3968496"/>
            <a:ext cx="294223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酒販免許・保管倉庫・配送体制・在庫は稼働中。新設が必要なものはほとんどありません。</a:t>
            </a:r>
            <a:endParaRPr lang="en-US" sz="1040" dirty="0"/>
          </a:p>
        </p:txBody>
      </p:sp>
      <p:sp>
        <p:nvSpPr>
          <p:cNvPr id="11" name="Shape 8"/>
          <p:cNvSpPr/>
          <p:nvPr/>
        </p:nvSpPr>
        <p:spPr>
          <a:xfrm>
            <a:off x="4350410" y="3200400"/>
            <a:ext cx="3490874" cy="1700784"/>
          </a:xfrm>
          <a:prstGeom prst="roundRect">
            <a:avLst>
              <a:gd name="adj" fmla="val 2688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24730" y="3419856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4730" y="3419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55082" y="3401568"/>
            <a:ext cx="24301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森ビル様の負担が小さい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24730" y="3968496"/>
            <a:ext cx="294223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40" dirty="0">
                <a:solidFill>
                  <a:srgbClr val="E3E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設備投資・人員配置を前提としない設計。在庫・与信・運営リスクは当社が保有します。</a:t>
            </a:r>
            <a:endParaRPr lang="en-US" sz="1040" dirty="0"/>
          </a:p>
        </p:txBody>
      </p:sp>
      <p:sp>
        <p:nvSpPr>
          <p:cNvPr id="16" name="Shape 13"/>
          <p:cNvSpPr/>
          <p:nvPr/>
        </p:nvSpPr>
        <p:spPr>
          <a:xfrm>
            <a:off x="8133893" y="3200400"/>
            <a:ext cx="3490874" cy="1700784"/>
          </a:xfrm>
          <a:prstGeom prst="roundRect">
            <a:avLst>
              <a:gd name="adj" fmla="val 2688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08213" y="3419856"/>
            <a:ext cx="420624" cy="420624"/>
          </a:xfrm>
          <a:prstGeom prst="ellipse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08213" y="3419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38565" y="3401568"/>
            <a:ext cx="24301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テナントの利益になる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408213" y="3968496"/>
            <a:ext cx="294223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4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在庫負担とワイン原価が下がる提案は、テナント飲食店にとって断る理由がありません。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566928" y="5138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66928" y="54315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本提案のご説明とディスカッション　→　② 対象街区・対象プログラムの絞り込み　→　③ PoC条件の合意（目安：ご合意から3か月で開始）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66928" y="59618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株式会社WineBank　東京都港区六本木4-12-8 第6DMJビル2階　TEL 03-6416-9370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98064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24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730088" y="3438144"/>
            <a:ext cx="731520" cy="32004"/>
          </a:xfrm>
          <a:prstGeom prst="rect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360273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会社紹介（2026年6月）より抜粋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950976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APPENDIX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なぜ、Cloud Wine Cave の価格が成立するのか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ワイン流通は、生産者から消費者までに何段もの中間マージンが積み上がります。当社は最上流に立っています。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6928" y="1481328"/>
            <a:ext cx="6583680" cy="1170432"/>
          </a:xfrm>
          <a:prstGeom prst="roundRect">
            <a:avLst>
              <a:gd name="adj" fmla="val 3906"/>
            </a:avLst>
          </a:prstGeom>
          <a:solidFill>
            <a:srgbClr val="F6F6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248" y="160934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最上流に立てる理由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1248" y="19202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2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創業55年の酒販業実績による、生産者・インポーターとの信頼とパイプ</a:t>
            </a:r>
            <a:endParaRPr lang="en-US" sz="980" dirty="0"/>
          </a:p>
          <a:p>
            <a:pPr marL="342900" indent="-342900">
              <a:lnSpc>
                <a:spcPts val="1300"/>
              </a:lnSpc>
              <a:spcAft>
                <a:spcPts val="2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国内大手インポーターとの直接取引による特価・正規品仕入</a:t>
            </a:r>
            <a:endParaRPr lang="en-US" sz="980" dirty="0"/>
          </a:p>
          <a:p>
            <a:pPr marL="342900" indent="-342900">
              <a:lnSpc>
                <a:spcPts val="1300"/>
              </a:lnSpc>
              <a:spcAft>
                <a:spcPts val="200"/>
              </a:spcAft>
              <a:buSzPct val="100000"/>
              <a:buChar char="▪"/>
            </a:pPr>
            <a:r>
              <a:rPr lang="en-US" sz="9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海外輸出入ライセンスを活かした独自の仕入ネットワークと情報収集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84352" y="4315968"/>
            <a:ext cx="10222992" cy="0"/>
          </a:xfrm>
          <a:prstGeom prst="line">
            <a:avLst/>
          </a:prstGeom>
          <a:noFill/>
          <a:ln w="12700">
            <a:solidFill>
              <a:srgbClr val="DDE0E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58672" y="4042867"/>
            <a:ext cx="1481328" cy="273101"/>
          </a:xfrm>
          <a:prstGeom prst="rect">
            <a:avLst/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58672" y="3695395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58672" y="44074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インポーター</a:t>
            </a:r>
            <a:endParaRPr lang="en-US" sz="10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仕入価格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75792" y="3366211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06D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WineBank はここ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06928" y="3906317"/>
            <a:ext cx="1481328" cy="409651"/>
          </a:xfrm>
          <a:prstGeom prst="rect">
            <a:avLst/>
          </a:prstGeom>
          <a:solidFill>
            <a:srgbClr val="9AA1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06928" y="3558845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306928" y="44074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酒販店①</a:t>
            </a:r>
            <a:endParaRPr lang="en-US" sz="10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仕入価格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355184" y="3838042"/>
            <a:ext cx="1481328" cy="477926"/>
          </a:xfrm>
          <a:prstGeom prst="rect">
            <a:avLst/>
          </a:prstGeom>
          <a:solidFill>
            <a:srgbClr val="9AA1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55184" y="349057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355184" y="44074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酒販店②</a:t>
            </a:r>
            <a:endParaRPr lang="en-US" sz="10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仕入価格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403440" y="3633216"/>
            <a:ext cx="1481328" cy="682752"/>
          </a:xfrm>
          <a:prstGeom prst="rect">
            <a:avLst/>
          </a:prstGeom>
          <a:solidFill>
            <a:srgbClr val="9AA1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03440" y="328574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80〜100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403440" y="44074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0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購入価格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451696" y="2267712"/>
            <a:ext cx="1481328" cy="1024128"/>
          </a:xfrm>
          <a:prstGeom prst="rect">
            <a:avLst/>
          </a:prstGeom>
          <a:solidFill>
            <a:srgbClr val="2F3941">
              <a:alpha val="4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451696" y="3291840"/>
            <a:ext cx="1481328" cy="1024128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451696" y="192024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150〜300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9451696" y="44074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レストラン</a:t>
            </a:r>
            <a:endParaRPr lang="en-US" sz="10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店頭価格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66928" y="4992624"/>
            <a:ext cx="11057839" cy="932688"/>
          </a:xfrm>
          <a:prstGeom prst="roundRect">
            <a:avLst>
              <a:gd name="adj" fmla="val 4902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77824" y="4992624"/>
            <a:ext cx="4023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レストラン店頭価格の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1/4〜1/7 の水準で仕入れる。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5230368" y="513892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飲食店は卸値で仕入れられる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30368" y="541324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在庫を持たずに、店内価格の</a:t>
            </a:r>
            <a:endParaRPr lang="en-US" sz="9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数分の一で調達できる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443216" y="513892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居住者にも余力を渡せる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443216" y="541324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卸値×1.1でも、市中の</a:t>
            </a:r>
            <a:endParaRPr lang="en-US" sz="9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どの価格帯より有利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9656064" y="513892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新規参入は追随できない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9656064" y="541324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参入業者は「70」の</a:t>
            </a:r>
            <a:endParaRPr lang="en-US" sz="9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水準からしか始まらない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6AB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希望小売価格を100とした相対指数。ネット最安値／並行輸入価格は概ね80の水準。出典：当社資料。</a:t>
            </a:r>
            <a:endParaRPr lang="en-US" sz="8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1183" y="292608"/>
            <a:ext cx="1243584" cy="2478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92608"/>
            <a:ext cx="950976" cy="237744"/>
          </a:xfrm>
          <a:prstGeom prst="roundRect">
            <a:avLst>
              <a:gd name="adj" fmla="val 11538"/>
            </a:avLst>
          </a:prstGeom>
          <a:solidFill>
            <a:srgbClr val="C68A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92608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APPENDIX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66928" y="585216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WineBank CLUB 会員特典の内訳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66928" y="10241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通常会員の年会費30万円に対し、提供サービスは46.4万円相当。ヒルズ枠ではこれを基準に条件を設計します。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893247" y="62727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272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C7C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8046720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3986784"/>
                <a:gridCol w="14447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相当額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初回引取・入庫・撮影・登録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現在の保管先・ご自宅へ伺い、全ボトルを撮影・登録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100,000円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ワイン保管（100本まで）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定温14℃・湿度70%の専門倉庫でお預かり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120,000円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WineBank Standard 会員資格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グループ飲食店20%OFF、優先割当ほか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100,000円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出庫・ご配送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回数無制限・無料（持込・贈答・ご自宅）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54,000円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コルケージ無料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提携26店舗へのBYO。抜栓料・持込料ゼロ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60,000円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保険・真贋保証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動産保険の付保および真贋保証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30,000円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464,000円相当</a:t>
                      </a:r>
                      <a:endParaRPr lang="en-US" sz="9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1481328"/>
            <a:ext cx="8046720" cy="420624"/>
          </a:xfrm>
          <a:prstGeom prst="rect">
            <a:avLst/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" y="148132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3291840" y="1481328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内容</a:t>
            </a:r>
            <a:endParaRPr lang="en-US" sz="980" dirty="0"/>
          </a:p>
        </p:txBody>
      </p:sp>
      <p:sp>
        <p:nvSpPr>
          <p:cNvPr id="14" name="Text 10"/>
          <p:cNvSpPr/>
          <p:nvPr/>
        </p:nvSpPr>
        <p:spPr>
          <a:xfrm>
            <a:off x="7278624" y="1481328"/>
            <a:ext cx="1225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相当額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566928" y="4956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20" dirty="0">
                <a:solidFill>
                  <a:srgbClr val="6E73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別途申し受けるもの：相続・ご承継サポート（別途お見積り）／当日エクスプレス配送 5,000円・回／101本目以降の保管料 月100円・本</a:t>
            </a:r>
            <a:endParaRPr lang="en-US" sz="920" dirty="0"/>
          </a:p>
        </p:txBody>
      </p:sp>
      <p:sp>
        <p:nvSpPr>
          <p:cNvPr id="16" name="Shape 12"/>
          <p:cNvSpPr/>
          <p:nvPr/>
        </p:nvSpPr>
        <p:spPr>
          <a:xfrm>
            <a:off x="8924544" y="1481328"/>
            <a:ext cx="2700223" cy="3035808"/>
          </a:xfrm>
          <a:prstGeom prst="roundRect">
            <a:avLst>
              <a:gd name="adj" fmla="val 1693"/>
            </a:avLst>
          </a:prstGeom>
          <a:solidFill>
            <a:srgbClr val="2F3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180576" y="1645920"/>
            <a:ext cx="21881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DC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接待費の実質削減効果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180576" y="2048256"/>
            <a:ext cx="218815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DDE1E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店内価格は市価の2〜3倍。BYO無料と卸値仕入により、年間接待費600万円規模の利用で約200万円の削減余地が生まれます。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9180576" y="3127248"/>
            <a:ext cx="21881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会員特典46.4万円相当 ＋ 接待費削減 約200万円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68A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年会費を大きく上回る実利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9180576" y="3840480"/>
            <a:ext cx="218815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B9BE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「持っているだけで得」が、法人会員への最初の一言になります。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株式会社WineBank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森ビル株式会社 業務提携ご提案</dc:title>
  <dc:subject>PptxGenJS Presentation</dc:subject>
  <dc:creator>株式会社WineBank</dc:creator>
  <cp:lastModifiedBy>株式会社WineBank</cp:lastModifiedBy>
  <cp:revision>1</cp:revision>
  <dcterms:created xsi:type="dcterms:W3CDTF">2026-08-10T04:07:23Z</dcterms:created>
  <dcterms:modified xsi:type="dcterms:W3CDTF">2026-08-10T04:07:23Z</dcterms:modified>
</cp:coreProperties>
</file>